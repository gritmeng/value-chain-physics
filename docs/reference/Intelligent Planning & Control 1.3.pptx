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2.xml" ContentType="application/vnd.openxmlformats-officedocument.theme+xml"/>
  <Override PartName="/ppt/tags/tag3.xml" ContentType="application/vnd.openxmlformats-officedocument.presentationml.tags+xml"/>
  <Override PartName="/ppt/tags/tag4.xml" ContentType="application/vnd.openxmlformats-officedocument.presentationml.tags+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3.xml" ContentType="application/vnd.openxmlformats-officedocument.theme+xml"/>
  <Override PartName="/ppt/tags/tag5.xml" ContentType="application/vnd.openxmlformats-officedocument.presentationml.tags+xml"/>
  <Override PartName="/ppt/tags/tag6.xml" ContentType="application/vnd.openxmlformats-officedocument.presentationml.tags+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4.xml" ContentType="application/vnd.openxmlformats-officedocument.theme+xml"/>
  <Override PartName="/ppt/tags/tag7.xml" ContentType="application/vnd.openxmlformats-officedocument.presentationml.tags+xml"/>
  <Override PartName="/ppt/tags/tag8.xml" ContentType="application/vnd.openxmlformats-officedocument.presentationml.tags+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theme/theme5.xml" ContentType="application/vnd.openxmlformats-officedocument.theme+xml"/>
  <Override PartName="/ppt/tags/tag9.xml" ContentType="application/vnd.openxmlformats-officedocument.presentationml.tags+xml"/>
  <Override PartName="/ppt/tags/tag10.xml" ContentType="application/vnd.openxmlformats-officedocument.presentationml.tags+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notesSlides/notesSlide2.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tags/tag38.xml" ContentType="application/vnd.openxmlformats-officedocument.presentationml.tags+xml"/>
  <Override PartName="/ppt/notesSlides/notesSlide3.xml" ContentType="application/vnd.openxmlformats-officedocument.presentationml.notesSlide+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notesSlides/notesSlide6.xml" ContentType="application/vnd.openxmlformats-officedocument.presentationml.notesSlide+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notesSlides/notesSlide7.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theme/themeOverride1.xml" ContentType="application/vnd.openxmlformats-officedocument.themeOverride+xml"/>
  <Override PartName="/ppt/notesSlides/notesSlide8.xml" ContentType="application/vnd.openxmlformats-officedocument.presentationml.notesSlide+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notesSlides/notesSlide9.xml" ContentType="application/vnd.openxmlformats-officedocument.presentationml.notesSlide+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notesSlides/notesSlide10.xml" ContentType="application/vnd.openxmlformats-officedocument.presentationml.notesSlide+xml"/>
  <Override PartName="/ppt/tags/tag303.xml" ContentType="application/vnd.openxmlformats-officedocument.presentationml.tags+xml"/>
  <Override PartName="/ppt/tags/tag304.xml" ContentType="application/vnd.openxmlformats-officedocument.presentationml.tags+xml"/>
  <Override PartName="/ppt/notesSlides/notesSlide11.xml" ContentType="application/vnd.openxmlformats-officedocument.presentationml.notesSlide+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12.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theme/themeOverride2.xml" ContentType="application/vnd.openxmlformats-officedocument.themeOverride+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notesSlides/notesSlide13.xml" ContentType="application/vnd.openxmlformats-officedocument.presentationml.notesSlide+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14.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notesSlides/notesSlide15.xml" ContentType="application/vnd.openxmlformats-officedocument.presentationml.notesSlide+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diagrams/data31.xml" ContentType="application/vnd.openxmlformats-officedocument.drawingml.diagramData+xml"/>
  <Override PartName="/ppt/diagrams/layout31.xml" ContentType="application/vnd.openxmlformats-officedocument.drawingml.diagramLayout+xml"/>
  <Override PartName="/ppt/diagrams/quickStyle31.xml" ContentType="application/vnd.openxmlformats-officedocument.drawingml.diagramStyle+xml"/>
  <Override PartName="/ppt/diagrams/colors31.xml" ContentType="application/vnd.openxmlformats-officedocument.drawingml.diagramColors+xml"/>
  <Override PartName="/ppt/diagrams/drawing31.xml" ContentType="application/vnd.ms-office.drawingml.diagramDrawing+xml"/>
  <Override PartName="/ppt/diagrams/data32.xml" ContentType="application/vnd.openxmlformats-officedocument.drawingml.diagramData+xml"/>
  <Override PartName="/ppt/diagrams/layout32.xml" ContentType="application/vnd.openxmlformats-officedocument.drawingml.diagramLayout+xml"/>
  <Override PartName="/ppt/diagrams/quickStyle32.xml" ContentType="application/vnd.openxmlformats-officedocument.drawingml.diagramStyle+xml"/>
  <Override PartName="/ppt/diagrams/colors32.xml" ContentType="application/vnd.openxmlformats-officedocument.drawingml.diagramColors+xml"/>
  <Override PartName="/ppt/diagrams/drawing32.xml" ContentType="application/vnd.ms-office.drawingml.diagramDrawing+xml"/>
  <Override PartName="/ppt/diagrams/data33.xml" ContentType="application/vnd.openxmlformats-officedocument.drawingml.diagramData+xml"/>
  <Override PartName="/ppt/diagrams/layout33.xml" ContentType="application/vnd.openxmlformats-officedocument.drawingml.diagramLayout+xml"/>
  <Override PartName="/ppt/diagrams/quickStyle33.xml" ContentType="application/vnd.openxmlformats-officedocument.drawingml.diagramStyle+xml"/>
  <Override PartName="/ppt/diagrams/colors33.xml" ContentType="application/vnd.openxmlformats-officedocument.drawingml.diagramColors+xml"/>
  <Override PartName="/ppt/diagrams/drawing33.xml" ContentType="application/vnd.ms-office.drawingml.diagramDrawing+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notesSlides/notesSlide18.xml" ContentType="application/vnd.openxmlformats-officedocument.presentationml.notesSlide+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notesSlides/notesSlide19.xml" ContentType="application/vnd.openxmlformats-officedocument.presentationml.notesSlide+xml"/>
  <Override PartName="/ppt/diagrams/data34.xml" ContentType="application/vnd.openxmlformats-officedocument.drawingml.diagramData+xml"/>
  <Override PartName="/ppt/diagrams/layout34.xml" ContentType="application/vnd.openxmlformats-officedocument.drawingml.diagramLayout+xml"/>
  <Override PartName="/ppt/diagrams/quickStyle34.xml" ContentType="application/vnd.openxmlformats-officedocument.drawingml.diagramStyle+xml"/>
  <Override PartName="/ppt/diagrams/colors34.xml" ContentType="application/vnd.openxmlformats-officedocument.drawingml.diagramColors+xml"/>
  <Override PartName="/ppt/diagrams/drawing34.xml" ContentType="application/vnd.ms-office.drawingml.diagramDrawing+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notesSlides/notesSlide20.xml" ContentType="application/vnd.openxmlformats-officedocument.presentationml.notesSlide+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diagrams/data35.xml" ContentType="application/vnd.openxmlformats-officedocument.drawingml.diagramData+xml"/>
  <Override PartName="/ppt/diagrams/layout35.xml" ContentType="application/vnd.openxmlformats-officedocument.drawingml.diagramLayout+xml"/>
  <Override PartName="/ppt/diagrams/quickStyle35.xml" ContentType="application/vnd.openxmlformats-officedocument.drawingml.diagramStyle+xml"/>
  <Override PartName="/ppt/diagrams/colors35.xml" ContentType="application/vnd.openxmlformats-officedocument.drawingml.diagramColors+xml"/>
  <Override PartName="/ppt/diagrams/drawing35.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154" r:id="rId1"/>
    <p:sldMasterId id="2147484079" r:id="rId2"/>
    <p:sldMasterId id="2147484190" r:id="rId3"/>
    <p:sldMasterId id="2147484220" r:id="rId4"/>
    <p:sldMasterId id="2147484245" r:id="rId5"/>
  </p:sldMasterIdLst>
  <p:notesMasterIdLst>
    <p:notesMasterId r:id="rId226"/>
  </p:notesMasterIdLst>
  <p:handoutMasterIdLst>
    <p:handoutMasterId r:id="rId227"/>
  </p:handoutMasterIdLst>
  <p:sldIdLst>
    <p:sldId id="2007578628" r:id="rId6"/>
    <p:sldId id="2007578896" r:id="rId7"/>
    <p:sldId id="2007578909" r:id="rId8"/>
    <p:sldId id="2007578918" r:id="rId9"/>
    <p:sldId id="2007578900" r:id="rId10"/>
    <p:sldId id="2007578884" r:id="rId11"/>
    <p:sldId id="2007578885" r:id="rId12"/>
    <p:sldId id="2007578808" r:id="rId13"/>
    <p:sldId id="2007578908" r:id="rId14"/>
    <p:sldId id="2007578901" r:id="rId15"/>
    <p:sldId id="2007578812" r:id="rId16"/>
    <p:sldId id="2007578893" r:id="rId17"/>
    <p:sldId id="2007578814" r:id="rId18"/>
    <p:sldId id="2007578815" r:id="rId19"/>
    <p:sldId id="2007578632" r:id="rId20"/>
    <p:sldId id="2007578827" r:id="rId21"/>
    <p:sldId id="2007578828" r:id="rId22"/>
    <p:sldId id="2007578892" r:id="rId23"/>
    <p:sldId id="2007578739" r:id="rId24"/>
    <p:sldId id="2007578770" r:id="rId25"/>
    <p:sldId id="2007578826" r:id="rId26"/>
    <p:sldId id="2007578903" r:id="rId27"/>
    <p:sldId id="2007578886" r:id="rId28"/>
    <p:sldId id="2007578813" r:id="rId29"/>
    <p:sldId id="2007578839" r:id="rId30"/>
    <p:sldId id="2007578773" r:id="rId31"/>
    <p:sldId id="2007578774" r:id="rId32"/>
    <p:sldId id="2007578817" r:id="rId33"/>
    <p:sldId id="2007578904" r:id="rId34"/>
    <p:sldId id="2007578818" r:id="rId35"/>
    <p:sldId id="2007578820" r:id="rId36"/>
    <p:sldId id="2007578821" r:id="rId37"/>
    <p:sldId id="2007578822" r:id="rId38"/>
    <p:sldId id="2007578840" r:id="rId39"/>
    <p:sldId id="2007578823" r:id="rId40"/>
    <p:sldId id="2007578891" r:id="rId41"/>
    <p:sldId id="2007578630" r:id="rId42"/>
    <p:sldId id="2007578836" r:id="rId43"/>
    <p:sldId id="2007578761" r:id="rId44"/>
    <p:sldId id="258" r:id="rId45"/>
    <p:sldId id="2007578898" r:id="rId46"/>
    <p:sldId id="2007578897" r:id="rId47"/>
    <p:sldId id="2007578805" r:id="rId48"/>
    <p:sldId id="317" r:id="rId49"/>
    <p:sldId id="2007578809" r:id="rId50"/>
    <p:sldId id="2007578811" r:id="rId51"/>
    <p:sldId id="2007578829" r:id="rId52"/>
    <p:sldId id="2007578830" r:id="rId53"/>
    <p:sldId id="2007578831" r:id="rId54"/>
    <p:sldId id="2007578832" r:id="rId55"/>
    <p:sldId id="2007578848" r:id="rId56"/>
    <p:sldId id="2007578640" r:id="rId57"/>
    <p:sldId id="2007578833" r:id="rId58"/>
    <p:sldId id="2007578637" r:id="rId59"/>
    <p:sldId id="2007578660" r:id="rId60"/>
    <p:sldId id="2007578768" r:id="rId61"/>
    <p:sldId id="2007578764" r:id="rId62"/>
    <p:sldId id="2007578858" r:id="rId63"/>
    <p:sldId id="2007578849" r:id="rId64"/>
    <p:sldId id="2007578449" r:id="rId65"/>
    <p:sldId id="2007578450" r:id="rId66"/>
    <p:sldId id="2007578451" r:id="rId67"/>
    <p:sldId id="2007578452" r:id="rId68"/>
    <p:sldId id="2007578453" r:id="rId69"/>
    <p:sldId id="2007578454" r:id="rId70"/>
    <p:sldId id="2007578856" r:id="rId71"/>
    <p:sldId id="2007578456" r:id="rId72"/>
    <p:sldId id="2007578871" r:id="rId73"/>
    <p:sldId id="2007578458" r:id="rId74"/>
    <p:sldId id="2007578459" r:id="rId75"/>
    <p:sldId id="2007578460" r:id="rId76"/>
    <p:sldId id="2007578642" r:id="rId77"/>
    <p:sldId id="2007578864" r:id="rId78"/>
    <p:sldId id="2007578912" r:id="rId79"/>
    <p:sldId id="2007578727" r:id="rId80"/>
    <p:sldId id="2007578731" r:id="rId81"/>
    <p:sldId id="2007578644" r:id="rId82"/>
    <p:sldId id="2007578732" r:id="rId83"/>
    <p:sldId id="2007578733" r:id="rId84"/>
    <p:sldId id="2007578734" r:id="rId85"/>
    <p:sldId id="2007578735" r:id="rId86"/>
    <p:sldId id="2007578692" r:id="rId87"/>
    <p:sldId id="2007578651" r:id="rId88"/>
    <p:sldId id="2007578652" r:id="rId89"/>
    <p:sldId id="2007578653" r:id="rId90"/>
    <p:sldId id="2007578654" r:id="rId91"/>
    <p:sldId id="2007578655" r:id="rId92"/>
    <p:sldId id="2007578656" r:id="rId93"/>
    <p:sldId id="2007578657" r:id="rId94"/>
    <p:sldId id="2007578705" r:id="rId95"/>
    <p:sldId id="2007578658" r:id="rId96"/>
    <p:sldId id="2007578702" r:id="rId97"/>
    <p:sldId id="2007578704" r:id="rId98"/>
    <p:sldId id="2007578641" r:id="rId99"/>
    <p:sldId id="2007578775" r:id="rId100"/>
    <p:sldId id="2007578718" r:id="rId101"/>
    <p:sldId id="2007578719" r:id="rId102"/>
    <p:sldId id="2007578720" r:id="rId103"/>
    <p:sldId id="2007578663" r:id="rId104"/>
    <p:sldId id="2007578793" r:id="rId105"/>
    <p:sldId id="2007578698" r:id="rId106"/>
    <p:sldId id="2007578664" r:id="rId107"/>
    <p:sldId id="2007578721" r:id="rId108"/>
    <p:sldId id="2007578666" r:id="rId109"/>
    <p:sldId id="2007578665" r:id="rId110"/>
    <p:sldId id="2007578899" r:id="rId111"/>
    <p:sldId id="2007578668" r:id="rId112"/>
    <p:sldId id="2007578737" r:id="rId113"/>
    <p:sldId id="2007578725" r:id="rId114"/>
    <p:sldId id="2007578728" r:id="rId115"/>
    <p:sldId id="2007578729" r:id="rId116"/>
    <p:sldId id="2007578730" r:id="rId117"/>
    <p:sldId id="2007578738" r:id="rId118"/>
    <p:sldId id="2007578726" r:id="rId119"/>
    <p:sldId id="2007578752" r:id="rId120"/>
    <p:sldId id="2007578756" r:id="rId121"/>
    <p:sldId id="2007578679" r:id="rId122"/>
    <p:sldId id="2007578743" r:id="rId123"/>
    <p:sldId id="2007578680" r:id="rId124"/>
    <p:sldId id="2007578776" r:id="rId125"/>
    <p:sldId id="2007578669" r:id="rId126"/>
    <p:sldId id="2007578687" r:id="rId127"/>
    <p:sldId id="2007578688" r:id="rId128"/>
    <p:sldId id="2007578777" r:id="rId129"/>
    <p:sldId id="2007578672" r:id="rId130"/>
    <p:sldId id="2007578710" r:id="rId131"/>
    <p:sldId id="2007578714" r:id="rId132"/>
    <p:sldId id="2007578708" r:id="rId133"/>
    <p:sldId id="2007578740" r:id="rId134"/>
    <p:sldId id="2007578709" r:id="rId135"/>
    <p:sldId id="2007578742" r:id="rId136"/>
    <p:sldId id="2007578746" r:id="rId137"/>
    <p:sldId id="2007578715" r:id="rId138"/>
    <p:sldId id="2007578716" r:id="rId139"/>
    <p:sldId id="2007578717" r:id="rId140"/>
    <p:sldId id="2007578675" r:id="rId141"/>
    <p:sldId id="2007578712" r:id="rId142"/>
    <p:sldId id="2007578676" r:id="rId143"/>
    <p:sldId id="2007578744" r:id="rId144"/>
    <p:sldId id="2007578745" r:id="rId145"/>
    <p:sldId id="2007578434" r:id="rId146"/>
    <p:sldId id="2007578747" r:id="rId147"/>
    <p:sldId id="2007578435" r:id="rId148"/>
    <p:sldId id="2007578749" r:id="rId149"/>
    <p:sldId id="2007578782" r:id="rId150"/>
    <p:sldId id="2007578778" r:id="rId151"/>
    <p:sldId id="2007578779" r:id="rId152"/>
    <p:sldId id="2007578781" r:id="rId153"/>
    <p:sldId id="2007578780" r:id="rId154"/>
    <p:sldId id="2007578924" r:id="rId155"/>
    <p:sldId id="2007578753" r:id="rId156"/>
    <p:sldId id="2007578925" r:id="rId157"/>
    <p:sldId id="2007578890" r:id="rId158"/>
    <p:sldId id="2007578699" r:id="rId159"/>
    <p:sldId id="274" r:id="rId160"/>
    <p:sldId id="2007578894" r:id="rId161"/>
    <p:sldId id="2007578681" r:id="rId162"/>
    <p:sldId id="2007578895" r:id="rId163"/>
    <p:sldId id="275" r:id="rId164"/>
    <p:sldId id="276" r:id="rId165"/>
    <p:sldId id="2007578791" r:id="rId166"/>
    <p:sldId id="325" r:id="rId167"/>
    <p:sldId id="2007578723" r:id="rId168"/>
    <p:sldId id="2007578724" r:id="rId169"/>
    <p:sldId id="2007578694" r:id="rId170"/>
    <p:sldId id="2007578834" r:id="rId171"/>
    <p:sldId id="259" r:id="rId172"/>
    <p:sldId id="2007578790" r:id="rId173"/>
    <p:sldId id="2007578686" r:id="rId174"/>
    <p:sldId id="2007578690" r:id="rId175"/>
    <p:sldId id="2007578696" r:id="rId176"/>
    <p:sldId id="2007578838" r:id="rId177"/>
    <p:sldId id="2007578707" r:id="rId178"/>
    <p:sldId id="2007578677" r:id="rId179"/>
    <p:sldId id="291" r:id="rId180"/>
    <p:sldId id="2007578667" r:id="rId181"/>
    <p:sldId id="415" r:id="rId182"/>
    <p:sldId id="2007578631" r:id="rId183"/>
    <p:sldId id="2007578684" r:id="rId184"/>
    <p:sldId id="2007578784" r:id="rId185"/>
    <p:sldId id="2007578785" r:id="rId186"/>
    <p:sldId id="2007578787" r:id="rId187"/>
    <p:sldId id="2007578788" r:id="rId188"/>
    <p:sldId id="2007578759" r:id="rId189"/>
    <p:sldId id="2007578638" r:id="rId190"/>
    <p:sldId id="2007578803" r:id="rId191"/>
    <p:sldId id="2007578755" r:id="rId192"/>
    <p:sldId id="2007578804" r:id="rId193"/>
    <p:sldId id="2007578824" r:id="rId194"/>
    <p:sldId id="2007578841" r:id="rId195"/>
    <p:sldId id="2007578842" r:id="rId196"/>
    <p:sldId id="2007578844" r:id="rId197"/>
    <p:sldId id="2007578843" r:id="rId198"/>
    <p:sldId id="2007578846" r:id="rId199"/>
    <p:sldId id="2007578847" r:id="rId200"/>
    <p:sldId id="2007578874" r:id="rId201"/>
    <p:sldId id="2007578872" r:id="rId202"/>
    <p:sldId id="2007578873" r:id="rId203"/>
    <p:sldId id="2007578875" r:id="rId204"/>
    <p:sldId id="2007578876" r:id="rId205"/>
    <p:sldId id="2007578882" r:id="rId206"/>
    <p:sldId id="2007578881" r:id="rId207"/>
    <p:sldId id="2007578878" r:id="rId208"/>
    <p:sldId id="2007578879" r:id="rId209"/>
    <p:sldId id="2007578880" r:id="rId210"/>
    <p:sldId id="2007578887" r:id="rId211"/>
    <p:sldId id="2007578888" r:id="rId212"/>
    <p:sldId id="2007578889" r:id="rId213"/>
    <p:sldId id="2007578825" r:id="rId214"/>
    <p:sldId id="2007578845" r:id="rId215"/>
    <p:sldId id="2007578907" r:id="rId216"/>
    <p:sldId id="2007578902" r:id="rId217"/>
    <p:sldId id="2007578905" r:id="rId218"/>
    <p:sldId id="2007578906" r:id="rId219"/>
    <p:sldId id="2007578920" r:id="rId220"/>
    <p:sldId id="2007578927" r:id="rId221"/>
    <p:sldId id="2007578921" r:id="rId222"/>
    <p:sldId id="2007578922" r:id="rId223"/>
    <p:sldId id="2007578923" r:id="rId224"/>
    <p:sldId id="2007578926" r:id="rId225"/>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176B3"/>
    <a:srgbClr val="FF0000"/>
    <a:srgbClr val="FF0066"/>
    <a:srgbClr val="FF6600"/>
    <a:srgbClr val="527593"/>
    <a:srgbClr val="004A7C"/>
    <a:srgbClr val="3366FF"/>
    <a:srgbClr val="0000CC"/>
    <a:srgbClr val="EB7E3B"/>
    <a:srgbClr val="66CC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DBED569-4797-4DF1-A0F4-6AAB3CD982D8}" styleName="浅色样式 3 - 强调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 styleId="{5DA37D80-6434-44D0-A028-1B22A696006F}" styleName="浅色样式 3 - 强调 2">
    <a:wholeTbl>
      <a:tcTxStyle>
        <a:fontRef idx="minor">
          <a:scrgbClr r="0" g="0" b="0"/>
        </a:fontRef>
        <a:schemeClr val="tx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w="12700" cmpd="sng">
              <a:solidFill>
                <a:schemeClr val="accent2"/>
              </a:solidFill>
            </a:ln>
          </a:insideV>
        </a:tcBdr>
        <a:fill>
          <a:noFill/>
        </a:fill>
      </a:tcStyle>
    </a:wholeTbl>
    <a:band1H>
      <a:tcStyle>
        <a:tcBdr/>
        <a:fill>
          <a:solidFill>
            <a:schemeClr val="accent2">
              <a:alpha val="20000"/>
            </a:schemeClr>
          </a:solidFill>
        </a:fill>
      </a:tcStyle>
    </a:band1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noFill/>
        </a:fill>
      </a:tcStyle>
    </a:lastRow>
    <a:firstRow>
      <a:tcTxStyle b="on"/>
      <a:tcStyle>
        <a:tcBdr>
          <a:bottom>
            <a:ln w="25400" cmpd="sng">
              <a:solidFill>
                <a:schemeClr val="accent2"/>
              </a:solidFill>
            </a:ln>
          </a:bottom>
        </a:tcBdr>
        <a:fill>
          <a:noFill/>
        </a:fill>
      </a:tcStyle>
    </a:firstRow>
  </a:tblStyle>
  <a:tblStyle styleId="{69012ECD-51FC-41F1-AA8D-1B2483CD663E}" styleName="浅色样式 2 - 强调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BC89EF96-8CEA-46FF-86C4-4CE0E7609802}" styleName="浅色样式 3 - 强调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B301B821-A1FF-4177-AEE7-76D212191A09}" styleName="中度样式 1 - 强调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3B4B98B0-60AC-42C2-AFA5-B58CD77FA1E5}" styleName="浅色样式 1 - 强调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5A111915-BE36-4E01-A7E5-04B1672EAD32}" styleName="浅色样式 2 - 强调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F2DE63D5-997A-4646-A377-4702673A728D}" styleName="浅色样式 2 - 强调 3">
    <a:wholeTbl>
      <a:tcTxStyle>
        <a:fontRef idx="minor">
          <a:scrgbClr r="0" g="0" b="0"/>
        </a:fontRef>
        <a:schemeClr val="tx1"/>
      </a:tcTxStyle>
      <a:tcStyle>
        <a:tcBdr>
          <a:left>
            <a:lnRef idx="1">
              <a:schemeClr val="accent3"/>
            </a:lnRef>
          </a:left>
          <a:right>
            <a:lnRef idx="1">
              <a:schemeClr val="accent3"/>
            </a:lnRef>
          </a:right>
          <a:top>
            <a:lnRef idx="1">
              <a:schemeClr val="accent3"/>
            </a:lnRef>
          </a:top>
          <a:bottom>
            <a:lnRef idx="1">
              <a:schemeClr val="accent3"/>
            </a:lnRef>
          </a:bottom>
          <a:insideH>
            <a:ln>
              <a:noFill/>
            </a:ln>
          </a:insideH>
          <a:insideV>
            <a:ln>
              <a:noFill/>
            </a:ln>
          </a:insideV>
        </a:tcBdr>
        <a:fill>
          <a:noFill/>
        </a:fill>
      </a:tcStyle>
    </a:wholeTbl>
    <a:band1H>
      <a:tcStyle>
        <a:tcBdr>
          <a:top>
            <a:lnRef idx="1">
              <a:schemeClr val="accent3"/>
            </a:lnRef>
          </a:top>
          <a:bottom>
            <a:lnRef idx="1">
              <a:schemeClr val="accent3"/>
            </a:lnRef>
          </a:bottom>
        </a:tcBdr>
      </a:tcStyle>
    </a:band1H>
    <a:band1V>
      <a:tcStyle>
        <a:tcBdr>
          <a:left>
            <a:lnRef idx="1">
              <a:schemeClr val="accent3"/>
            </a:lnRef>
          </a:left>
          <a:right>
            <a:lnRef idx="1">
              <a:schemeClr val="accent3"/>
            </a:lnRef>
          </a:right>
        </a:tcBdr>
      </a:tcStyle>
    </a:band1V>
    <a:band2V>
      <a:tcStyle>
        <a:tcBdr>
          <a:left>
            <a:lnRef idx="1">
              <a:schemeClr val="accent3"/>
            </a:lnRef>
          </a:left>
          <a:right>
            <a:lnRef idx="1">
              <a:schemeClr val="accent3"/>
            </a:lnRef>
          </a:right>
        </a:tcBdr>
      </a:tcStyle>
    </a:band2V>
    <a:lastCol>
      <a:tcTxStyle b="on"/>
      <a:tcStyle>
        <a:tcBdr/>
      </a:tcStyle>
    </a:lastCol>
    <a:firstCol>
      <a:tcTxStyle b="on"/>
      <a:tcStyle>
        <a:tcBdr/>
      </a:tcStyle>
    </a:firstCol>
    <a:lastRow>
      <a:tcTxStyle b="on"/>
      <a:tcStyle>
        <a:tcBdr>
          <a:top>
            <a:ln w="50800" cmpd="dbl">
              <a:solidFill>
                <a:schemeClr val="accent3"/>
              </a:solidFill>
            </a:ln>
          </a:top>
        </a:tcBdr>
      </a:tcStyle>
    </a:lastRow>
    <a:firstRow>
      <a:tcTxStyle b="on">
        <a:fontRef idx="minor">
          <a:scrgbClr r="0" g="0" b="0"/>
        </a:fontRef>
        <a:schemeClr val="bg1"/>
      </a:tcTxStyle>
      <a:tcStyle>
        <a:tcBdr/>
        <a:fillRef idx="1">
          <a:schemeClr val="accent3"/>
        </a:fillRef>
      </a:tcStyle>
    </a:firstRow>
  </a:tblStyle>
  <a:tblStyle styleId="{D113A9D2-9D6B-4929-AA2D-F23B5EE8CBE7}" styleName="主题样式 2 - 强调 1">
    <a:tblBg>
      <a:fillRef idx="3">
        <a:schemeClr val="accent1"/>
      </a:fillRef>
      <a:effectRef idx="3">
        <a:schemeClr val="accent1"/>
      </a:effectRef>
    </a:tblBg>
    <a:wholeTbl>
      <a:tcTxStyle>
        <a:fontRef idx="minor">
          <a:scrgbClr r="0" g="0" b="0"/>
        </a:fontRef>
        <a:schemeClr val="lt1"/>
      </a:tcTxStyle>
      <a:tcStyle>
        <a:tcBdr>
          <a:left>
            <a:lnRef idx="1">
              <a:schemeClr val="accent1">
                <a:tint val="50000"/>
              </a:schemeClr>
            </a:lnRef>
          </a:left>
          <a:right>
            <a:lnRef idx="1">
              <a:schemeClr val="accent1">
                <a:tint val="50000"/>
              </a:schemeClr>
            </a:lnRef>
          </a:right>
          <a:top>
            <a:lnRef idx="1">
              <a:schemeClr val="accent1">
                <a:tint val="50000"/>
              </a:schemeClr>
            </a:lnRef>
          </a:top>
          <a:bottom>
            <a:lnRef idx="1">
              <a:schemeClr val="accent1">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08FB837D-C827-4EFA-A057-4D05807E0F7C}" styleName="主题样式 1 - 强调 6">
    <a:tblBg>
      <a:fillRef idx="2">
        <a:schemeClr val="accent6"/>
      </a:fillRef>
      <a:effectRef idx="1">
        <a:schemeClr val="accent6"/>
      </a:effectRef>
    </a:tblBg>
    <a:wholeTbl>
      <a:tcTxStyle>
        <a:fontRef idx="minor">
          <a:scrgbClr r="0" g="0" b="0"/>
        </a:fontRef>
        <a:schemeClr val="dk1"/>
      </a:tcTxStyle>
      <a:tcStyle>
        <a:tcBdr>
          <a:left>
            <a:lnRef idx="1">
              <a:schemeClr val="accent6"/>
            </a:lnRef>
          </a:left>
          <a:right>
            <a:lnRef idx="1">
              <a:schemeClr val="accent6"/>
            </a:lnRef>
          </a:right>
          <a:top>
            <a:lnRef idx="1">
              <a:schemeClr val="accent6"/>
            </a:lnRef>
          </a:top>
          <a:bottom>
            <a:lnRef idx="1">
              <a:schemeClr val="accent6"/>
            </a:lnRef>
          </a:bottom>
          <a:insideH>
            <a:lnRef idx="1">
              <a:schemeClr val="accent6"/>
            </a:lnRef>
          </a:insideH>
          <a:insideV>
            <a:lnRef idx="1">
              <a:schemeClr val="accent6"/>
            </a:lnRef>
          </a:insideV>
        </a:tcBdr>
        <a:fill>
          <a:noFill/>
        </a:fill>
      </a:tcStyle>
    </a:wholeTbl>
    <a:band1H>
      <a:tcStyle>
        <a:tcBdr/>
        <a:fill>
          <a:solidFill>
            <a:schemeClr val="accent6">
              <a:alpha val="40000"/>
            </a:schemeClr>
          </a:solidFill>
        </a:fill>
      </a:tcStyle>
    </a:band1H>
    <a:band2H>
      <a:tcStyle>
        <a:tcBdr/>
      </a:tcStyle>
    </a:band2H>
    <a:band1V>
      <a:tcStyle>
        <a:tcBdr>
          <a:top>
            <a:lnRef idx="1">
              <a:schemeClr val="accent6"/>
            </a:lnRef>
          </a:top>
          <a:bottom>
            <a:lnRef idx="1">
              <a:schemeClr val="accent6"/>
            </a:lnRef>
          </a:bottom>
        </a:tcBdr>
        <a:fill>
          <a:solidFill>
            <a:schemeClr val="accent6">
              <a:alpha val="40000"/>
            </a:schemeClr>
          </a:solidFill>
        </a:fill>
      </a:tcStyle>
    </a:band1V>
    <a:band2V>
      <a:tcStyle>
        <a:tcBdr/>
      </a:tcStyle>
    </a:band2V>
    <a:lastCol>
      <a:tcTxStyle b="on"/>
      <a:tcStyle>
        <a:tcBdr>
          <a:left>
            <a:lnRef idx="2">
              <a:schemeClr val="accent6"/>
            </a:lnRef>
          </a:left>
          <a:right>
            <a:lnRef idx="1">
              <a:schemeClr val="accent6"/>
            </a:lnRef>
          </a:right>
          <a:top>
            <a:lnRef idx="1">
              <a:schemeClr val="accent6"/>
            </a:lnRef>
          </a:top>
          <a:bottom>
            <a:lnRef idx="1">
              <a:schemeClr val="accent6"/>
            </a:lnRef>
          </a:bottom>
          <a:insideH>
            <a:lnRef idx="1">
              <a:schemeClr val="accent6"/>
            </a:lnRef>
          </a:insideH>
          <a:insideV>
            <a:ln>
              <a:noFill/>
            </a:ln>
          </a:insideV>
        </a:tcBdr>
      </a:tcStyle>
    </a:lastCol>
    <a:firstCol>
      <a:tcTxStyle b="on"/>
      <a:tcStyle>
        <a:tcBdr>
          <a:left>
            <a:lnRef idx="1">
              <a:schemeClr val="accent6"/>
            </a:lnRef>
          </a:left>
          <a:right>
            <a:lnRef idx="2">
              <a:schemeClr val="accent6"/>
            </a:lnRef>
          </a:right>
          <a:top>
            <a:lnRef idx="1">
              <a:schemeClr val="accent6"/>
            </a:lnRef>
          </a:top>
          <a:bottom>
            <a:lnRef idx="1">
              <a:schemeClr val="accent6"/>
            </a:lnRef>
          </a:bottom>
          <a:insideH>
            <a:lnRef idx="1">
              <a:schemeClr val="accent6"/>
            </a:lnRef>
          </a:insideH>
          <a:insideV>
            <a:ln>
              <a:noFill/>
            </a:ln>
          </a:insideV>
        </a:tcBdr>
      </a:tcStyle>
    </a:firstCol>
    <a:lastRow>
      <a:tcTxStyle b="on"/>
      <a:tcStyle>
        <a:tcBdr>
          <a:left>
            <a:lnRef idx="1">
              <a:schemeClr val="accent6"/>
            </a:lnRef>
          </a:left>
          <a:right>
            <a:lnRef idx="1">
              <a:schemeClr val="accent6"/>
            </a:lnRef>
          </a:right>
          <a:top>
            <a:lnRef idx="2">
              <a:schemeClr val="accent6"/>
            </a:lnRef>
          </a:top>
          <a:bottom>
            <a:lnRef idx="2">
              <a:schemeClr val="accent6"/>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6"/>
            </a:lnRef>
          </a:left>
          <a:right>
            <a:lnRef idx="1">
              <a:schemeClr val="accent6"/>
            </a:lnRef>
          </a:right>
          <a:top>
            <a:lnRef idx="1">
              <a:schemeClr val="accent6"/>
            </a:lnRef>
          </a:top>
          <a:bottom>
            <a:lnRef idx="2">
              <a:schemeClr val="lt1"/>
            </a:lnRef>
          </a:bottom>
          <a:insideH>
            <a:ln>
              <a:noFill/>
            </a:ln>
          </a:insideH>
          <a:insideV>
            <a:ln>
              <a:noFill/>
            </a:ln>
          </a:insideV>
        </a:tcBdr>
        <a:fill>
          <a:solidFill>
            <a:schemeClr val="accent6"/>
          </a:solidFill>
        </a:fill>
      </a:tcStyle>
    </a:firstRow>
  </a:tblStyle>
  <a:tblStyle styleId="{3C2FFA5D-87B4-456A-9821-1D502468CF0F}" styleName="主题样式 1 - 强调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999" autoAdjust="0"/>
    <p:restoredTop sz="95858" autoAdjust="0"/>
  </p:normalViewPr>
  <p:slideViewPr>
    <p:cSldViewPr snapToGrid="0">
      <p:cViewPr varScale="1">
        <p:scale>
          <a:sx n="97" d="100"/>
          <a:sy n="97" d="100"/>
        </p:scale>
        <p:origin x="72" y="270"/>
      </p:cViewPr>
      <p:guideLst/>
    </p:cSldViewPr>
  </p:slideViewPr>
  <p:outlineViewPr>
    <p:cViewPr>
      <p:scale>
        <a:sx n="33" d="100"/>
        <a:sy n="33" d="100"/>
      </p:scale>
      <p:origin x="0" y="0"/>
    </p:cViewPr>
  </p:outlineViewPr>
  <p:notesTextViewPr>
    <p:cViewPr>
      <p:scale>
        <a:sx n="1" d="1"/>
        <a:sy n="1" d="1"/>
      </p:scale>
      <p:origin x="0" y="0"/>
    </p:cViewPr>
  </p:notesTextViewPr>
  <p:notesViewPr>
    <p:cSldViewPr snapToGrid="0">
      <p:cViewPr varScale="1">
        <p:scale>
          <a:sx n="66" d="100"/>
          <a:sy n="66" d="100"/>
        </p:scale>
        <p:origin x="2637" y="63"/>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2.xml"/><Relationship Id="rId21" Type="http://schemas.openxmlformats.org/officeDocument/2006/relationships/slide" Target="slides/slide16.xml"/><Relationship Id="rId42" Type="http://schemas.openxmlformats.org/officeDocument/2006/relationships/slide" Target="slides/slide37.xml"/><Relationship Id="rId63" Type="http://schemas.openxmlformats.org/officeDocument/2006/relationships/slide" Target="slides/slide58.xml"/><Relationship Id="rId84" Type="http://schemas.openxmlformats.org/officeDocument/2006/relationships/slide" Target="slides/slide79.xml"/><Relationship Id="rId138" Type="http://schemas.openxmlformats.org/officeDocument/2006/relationships/slide" Target="slides/slide133.xml"/><Relationship Id="rId159" Type="http://schemas.openxmlformats.org/officeDocument/2006/relationships/slide" Target="slides/slide154.xml"/><Relationship Id="rId170" Type="http://schemas.openxmlformats.org/officeDocument/2006/relationships/slide" Target="slides/slide165.xml"/><Relationship Id="rId191" Type="http://schemas.openxmlformats.org/officeDocument/2006/relationships/slide" Target="slides/slide186.xml"/><Relationship Id="rId205" Type="http://schemas.openxmlformats.org/officeDocument/2006/relationships/slide" Target="slides/slide200.xml"/><Relationship Id="rId226" Type="http://schemas.openxmlformats.org/officeDocument/2006/relationships/notesMaster" Target="notesMasters/notesMaster1.xml"/><Relationship Id="rId107" Type="http://schemas.openxmlformats.org/officeDocument/2006/relationships/slide" Target="slides/slide102.xml"/><Relationship Id="rId11" Type="http://schemas.openxmlformats.org/officeDocument/2006/relationships/slide" Target="slides/slide6.xml"/><Relationship Id="rId32" Type="http://schemas.openxmlformats.org/officeDocument/2006/relationships/slide" Target="slides/slide27.xml"/><Relationship Id="rId53" Type="http://schemas.openxmlformats.org/officeDocument/2006/relationships/slide" Target="slides/slide48.xml"/><Relationship Id="rId74" Type="http://schemas.openxmlformats.org/officeDocument/2006/relationships/slide" Target="slides/slide69.xml"/><Relationship Id="rId128" Type="http://schemas.openxmlformats.org/officeDocument/2006/relationships/slide" Target="slides/slide123.xml"/><Relationship Id="rId149" Type="http://schemas.openxmlformats.org/officeDocument/2006/relationships/slide" Target="slides/slide144.xml"/><Relationship Id="rId5" Type="http://schemas.openxmlformats.org/officeDocument/2006/relationships/slideMaster" Target="slideMasters/slideMaster5.xml"/><Relationship Id="rId95" Type="http://schemas.openxmlformats.org/officeDocument/2006/relationships/slide" Target="slides/slide90.xml"/><Relationship Id="rId160" Type="http://schemas.openxmlformats.org/officeDocument/2006/relationships/slide" Target="slides/slide155.xml"/><Relationship Id="rId181" Type="http://schemas.openxmlformats.org/officeDocument/2006/relationships/slide" Target="slides/slide176.xml"/><Relationship Id="rId216" Type="http://schemas.openxmlformats.org/officeDocument/2006/relationships/slide" Target="slides/slide211.xml"/><Relationship Id="rId22" Type="http://schemas.openxmlformats.org/officeDocument/2006/relationships/slide" Target="slides/slide17.xml"/><Relationship Id="rId43" Type="http://schemas.openxmlformats.org/officeDocument/2006/relationships/slide" Target="slides/slide38.xml"/><Relationship Id="rId64" Type="http://schemas.openxmlformats.org/officeDocument/2006/relationships/slide" Target="slides/slide59.xml"/><Relationship Id="rId118" Type="http://schemas.openxmlformats.org/officeDocument/2006/relationships/slide" Target="slides/slide113.xml"/><Relationship Id="rId139" Type="http://schemas.openxmlformats.org/officeDocument/2006/relationships/slide" Target="slides/slide134.xml"/><Relationship Id="rId85" Type="http://schemas.openxmlformats.org/officeDocument/2006/relationships/slide" Target="slides/slide80.xml"/><Relationship Id="rId150" Type="http://schemas.openxmlformats.org/officeDocument/2006/relationships/slide" Target="slides/slide145.xml"/><Relationship Id="rId171" Type="http://schemas.openxmlformats.org/officeDocument/2006/relationships/slide" Target="slides/slide166.xml"/><Relationship Id="rId192" Type="http://schemas.openxmlformats.org/officeDocument/2006/relationships/slide" Target="slides/slide187.xml"/><Relationship Id="rId206" Type="http://schemas.openxmlformats.org/officeDocument/2006/relationships/slide" Target="slides/slide201.xml"/><Relationship Id="rId227" Type="http://schemas.openxmlformats.org/officeDocument/2006/relationships/handoutMaster" Target="handoutMasters/handoutMaster1.xml"/><Relationship Id="rId12" Type="http://schemas.openxmlformats.org/officeDocument/2006/relationships/slide" Target="slides/slide7.xml"/><Relationship Id="rId33" Type="http://schemas.openxmlformats.org/officeDocument/2006/relationships/slide" Target="slides/slide28.xml"/><Relationship Id="rId108" Type="http://schemas.openxmlformats.org/officeDocument/2006/relationships/slide" Target="slides/slide103.xml"/><Relationship Id="rId129" Type="http://schemas.openxmlformats.org/officeDocument/2006/relationships/slide" Target="slides/slide124.xml"/><Relationship Id="rId54" Type="http://schemas.openxmlformats.org/officeDocument/2006/relationships/slide" Target="slides/slide49.xml"/><Relationship Id="rId75" Type="http://schemas.openxmlformats.org/officeDocument/2006/relationships/slide" Target="slides/slide70.xml"/><Relationship Id="rId96" Type="http://schemas.openxmlformats.org/officeDocument/2006/relationships/slide" Target="slides/slide91.xml"/><Relationship Id="rId140" Type="http://schemas.openxmlformats.org/officeDocument/2006/relationships/slide" Target="slides/slide135.xml"/><Relationship Id="rId161" Type="http://schemas.openxmlformats.org/officeDocument/2006/relationships/slide" Target="slides/slide156.xml"/><Relationship Id="rId182" Type="http://schemas.openxmlformats.org/officeDocument/2006/relationships/slide" Target="slides/slide177.xml"/><Relationship Id="rId217" Type="http://schemas.openxmlformats.org/officeDocument/2006/relationships/slide" Target="slides/slide212.xml"/><Relationship Id="rId6" Type="http://schemas.openxmlformats.org/officeDocument/2006/relationships/slide" Target="slides/slide1.xml"/><Relationship Id="rId23" Type="http://schemas.openxmlformats.org/officeDocument/2006/relationships/slide" Target="slides/slide18.xml"/><Relationship Id="rId119" Type="http://schemas.openxmlformats.org/officeDocument/2006/relationships/slide" Target="slides/slide114.xml"/><Relationship Id="rId44" Type="http://schemas.openxmlformats.org/officeDocument/2006/relationships/slide" Target="slides/slide39.xml"/><Relationship Id="rId65" Type="http://schemas.openxmlformats.org/officeDocument/2006/relationships/slide" Target="slides/slide60.xml"/><Relationship Id="rId86" Type="http://schemas.openxmlformats.org/officeDocument/2006/relationships/slide" Target="slides/slide81.xml"/><Relationship Id="rId130" Type="http://schemas.openxmlformats.org/officeDocument/2006/relationships/slide" Target="slides/slide125.xml"/><Relationship Id="rId151" Type="http://schemas.openxmlformats.org/officeDocument/2006/relationships/slide" Target="slides/slide146.xml"/><Relationship Id="rId172" Type="http://schemas.openxmlformats.org/officeDocument/2006/relationships/slide" Target="slides/slide167.xml"/><Relationship Id="rId193" Type="http://schemas.openxmlformats.org/officeDocument/2006/relationships/slide" Target="slides/slide188.xml"/><Relationship Id="rId207" Type="http://schemas.openxmlformats.org/officeDocument/2006/relationships/slide" Target="slides/slide202.xml"/><Relationship Id="rId228" Type="http://schemas.openxmlformats.org/officeDocument/2006/relationships/presProps" Target="presProps.xml"/><Relationship Id="rId13" Type="http://schemas.openxmlformats.org/officeDocument/2006/relationships/slide" Target="slides/slide8.xml"/><Relationship Id="rId109" Type="http://schemas.openxmlformats.org/officeDocument/2006/relationships/slide" Target="slides/slide104.xml"/><Relationship Id="rId34" Type="http://schemas.openxmlformats.org/officeDocument/2006/relationships/slide" Target="slides/slide29.xml"/><Relationship Id="rId55" Type="http://schemas.openxmlformats.org/officeDocument/2006/relationships/slide" Target="slides/slide50.xml"/><Relationship Id="rId76" Type="http://schemas.openxmlformats.org/officeDocument/2006/relationships/slide" Target="slides/slide71.xml"/><Relationship Id="rId97" Type="http://schemas.openxmlformats.org/officeDocument/2006/relationships/slide" Target="slides/slide92.xml"/><Relationship Id="rId120" Type="http://schemas.openxmlformats.org/officeDocument/2006/relationships/slide" Target="slides/slide115.xml"/><Relationship Id="rId141" Type="http://schemas.openxmlformats.org/officeDocument/2006/relationships/slide" Target="slides/slide136.xml"/><Relationship Id="rId7" Type="http://schemas.openxmlformats.org/officeDocument/2006/relationships/slide" Target="slides/slide2.xml"/><Relationship Id="rId162" Type="http://schemas.openxmlformats.org/officeDocument/2006/relationships/slide" Target="slides/slide157.xml"/><Relationship Id="rId183" Type="http://schemas.openxmlformats.org/officeDocument/2006/relationships/slide" Target="slides/slide178.xml"/><Relationship Id="rId218" Type="http://schemas.openxmlformats.org/officeDocument/2006/relationships/slide" Target="slides/slide213.xml"/><Relationship Id="rId24" Type="http://schemas.openxmlformats.org/officeDocument/2006/relationships/slide" Target="slides/slide19.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slide" Target="slides/slide82.xml"/><Relationship Id="rId110" Type="http://schemas.openxmlformats.org/officeDocument/2006/relationships/slide" Target="slides/slide105.xml"/><Relationship Id="rId131" Type="http://schemas.openxmlformats.org/officeDocument/2006/relationships/slide" Target="slides/slide126.xml"/><Relationship Id="rId152" Type="http://schemas.openxmlformats.org/officeDocument/2006/relationships/slide" Target="slides/slide147.xml"/><Relationship Id="rId173" Type="http://schemas.openxmlformats.org/officeDocument/2006/relationships/slide" Target="slides/slide168.xml"/><Relationship Id="rId194" Type="http://schemas.openxmlformats.org/officeDocument/2006/relationships/slide" Target="slides/slide189.xml"/><Relationship Id="rId208" Type="http://schemas.openxmlformats.org/officeDocument/2006/relationships/slide" Target="slides/slide203.xml"/><Relationship Id="rId229" Type="http://schemas.openxmlformats.org/officeDocument/2006/relationships/viewProps" Target="viewProps.xml"/><Relationship Id="rId14" Type="http://schemas.openxmlformats.org/officeDocument/2006/relationships/slide" Target="slides/slide9.xml"/><Relationship Id="rId35" Type="http://schemas.openxmlformats.org/officeDocument/2006/relationships/slide" Target="slides/slide30.xml"/><Relationship Id="rId56" Type="http://schemas.openxmlformats.org/officeDocument/2006/relationships/slide" Target="slides/slide51.xml"/><Relationship Id="rId77" Type="http://schemas.openxmlformats.org/officeDocument/2006/relationships/slide" Target="slides/slide72.xml"/><Relationship Id="rId100" Type="http://schemas.openxmlformats.org/officeDocument/2006/relationships/slide" Target="slides/slide95.xml"/><Relationship Id="rId8" Type="http://schemas.openxmlformats.org/officeDocument/2006/relationships/slide" Target="slides/slide3.xml"/><Relationship Id="rId98" Type="http://schemas.openxmlformats.org/officeDocument/2006/relationships/slide" Target="slides/slide93.xml"/><Relationship Id="rId121" Type="http://schemas.openxmlformats.org/officeDocument/2006/relationships/slide" Target="slides/slide116.xml"/><Relationship Id="rId142" Type="http://schemas.openxmlformats.org/officeDocument/2006/relationships/slide" Target="slides/slide137.xml"/><Relationship Id="rId163" Type="http://schemas.openxmlformats.org/officeDocument/2006/relationships/slide" Target="slides/slide158.xml"/><Relationship Id="rId184" Type="http://schemas.openxmlformats.org/officeDocument/2006/relationships/slide" Target="slides/slide179.xml"/><Relationship Id="rId219" Type="http://schemas.openxmlformats.org/officeDocument/2006/relationships/slide" Target="slides/slide214.xml"/><Relationship Id="rId230" Type="http://schemas.openxmlformats.org/officeDocument/2006/relationships/theme" Target="theme/theme1.xml"/><Relationship Id="rId25" Type="http://schemas.openxmlformats.org/officeDocument/2006/relationships/slide" Target="slides/slide20.xml"/><Relationship Id="rId46" Type="http://schemas.openxmlformats.org/officeDocument/2006/relationships/slide" Target="slides/slide41.xml"/><Relationship Id="rId67" Type="http://schemas.openxmlformats.org/officeDocument/2006/relationships/slide" Target="slides/slide62.xml"/><Relationship Id="rId116" Type="http://schemas.openxmlformats.org/officeDocument/2006/relationships/slide" Target="slides/slide111.xml"/><Relationship Id="rId137" Type="http://schemas.openxmlformats.org/officeDocument/2006/relationships/slide" Target="slides/slide132.xml"/><Relationship Id="rId158" Type="http://schemas.openxmlformats.org/officeDocument/2006/relationships/slide" Target="slides/slide153.xml"/><Relationship Id="rId20" Type="http://schemas.openxmlformats.org/officeDocument/2006/relationships/slide" Target="slides/slide15.xml"/><Relationship Id="rId41" Type="http://schemas.openxmlformats.org/officeDocument/2006/relationships/slide" Target="slides/slide36.xml"/><Relationship Id="rId62" Type="http://schemas.openxmlformats.org/officeDocument/2006/relationships/slide" Target="slides/slide57.xml"/><Relationship Id="rId83" Type="http://schemas.openxmlformats.org/officeDocument/2006/relationships/slide" Target="slides/slide78.xml"/><Relationship Id="rId88" Type="http://schemas.openxmlformats.org/officeDocument/2006/relationships/slide" Target="slides/slide83.xml"/><Relationship Id="rId111" Type="http://schemas.openxmlformats.org/officeDocument/2006/relationships/slide" Target="slides/slide106.xml"/><Relationship Id="rId132" Type="http://schemas.openxmlformats.org/officeDocument/2006/relationships/slide" Target="slides/slide127.xml"/><Relationship Id="rId153" Type="http://schemas.openxmlformats.org/officeDocument/2006/relationships/slide" Target="slides/slide148.xml"/><Relationship Id="rId174" Type="http://schemas.openxmlformats.org/officeDocument/2006/relationships/slide" Target="slides/slide169.xml"/><Relationship Id="rId179" Type="http://schemas.openxmlformats.org/officeDocument/2006/relationships/slide" Target="slides/slide174.xml"/><Relationship Id="rId195" Type="http://schemas.openxmlformats.org/officeDocument/2006/relationships/slide" Target="slides/slide190.xml"/><Relationship Id="rId209" Type="http://schemas.openxmlformats.org/officeDocument/2006/relationships/slide" Target="slides/slide204.xml"/><Relationship Id="rId190" Type="http://schemas.openxmlformats.org/officeDocument/2006/relationships/slide" Target="slides/slide185.xml"/><Relationship Id="rId204" Type="http://schemas.openxmlformats.org/officeDocument/2006/relationships/slide" Target="slides/slide199.xml"/><Relationship Id="rId220" Type="http://schemas.openxmlformats.org/officeDocument/2006/relationships/slide" Target="slides/slide215.xml"/><Relationship Id="rId225" Type="http://schemas.openxmlformats.org/officeDocument/2006/relationships/slide" Target="slides/slide220.xml"/><Relationship Id="rId15" Type="http://schemas.openxmlformats.org/officeDocument/2006/relationships/slide" Target="slides/slide10.xml"/><Relationship Id="rId36" Type="http://schemas.openxmlformats.org/officeDocument/2006/relationships/slide" Target="slides/slide31.xml"/><Relationship Id="rId57" Type="http://schemas.openxmlformats.org/officeDocument/2006/relationships/slide" Target="slides/slide52.xml"/><Relationship Id="rId106" Type="http://schemas.openxmlformats.org/officeDocument/2006/relationships/slide" Target="slides/slide101.xml"/><Relationship Id="rId127" Type="http://schemas.openxmlformats.org/officeDocument/2006/relationships/slide" Target="slides/slide122.xml"/><Relationship Id="rId10" Type="http://schemas.openxmlformats.org/officeDocument/2006/relationships/slide" Target="slides/slide5.xml"/><Relationship Id="rId31" Type="http://schemas.openxmlformats.org/officeDocument/2006/relationships/slide" Target="slides/slide26.xml"/><Relationship Id="rId52" Type="http://schemas.openxmlformats.org/officeDocument/2006/relationships/slide" Target="slides/slide47.xml"/><Relationship Id="rId73" Type="http://schemas.openxmlformats.org/officeDocument/2006/relationships/slide" Target="slides/slide68.xml"/><Relationship Id="rId78" Type="http://schemas.openxmlformats.org/officeDocument/2006/relationships/slide" Target="slides/slide73.xml"/><Relationship Id="rId94" Type="http://schemas.openxmlformats.org/officeDocument/2006/relationships/slide" Target="slides/slide89.xml"/><Relationship Id="rId99" Type="http://schemas.openxmlformats.org/officeDocument/2006/relationships/slide" Target="slides/slide94.xml"/><Relationship Id="rId101" Type="http://schemas.openxmlformats.org/officeDocument/2006/relationships/slide" Target="slides/slide96.xml"/><Relationship Id="rId122" Type="http://schemas.openxmlformats.org/officeDocument/2006/relationships/slide" Target="slides/slide117.xml"/><Relationship Id="rId143" Type="http://schemas.openxmlformats.org/officeDocument/2006/relationships/slide" Target="slides/slide138.xml"/><Relationship Id="rId148" Type="http://schemas.openxmlformats.org/officeDocument/2006/relationships/slide" Target="slides/slide143.xml"/><Relationship Id="rId164" Type="http://schemas.openxmlformats.org/officeDocument/2006/relationships/slide" Target="slides/slide159.xml"/><Relationship Id="rId169" Type="http://schemas.openxmlformats.org/officeDocument/2006/relationships/slide" Target="slides/slide164.xml"/><Relationship Id="rId185" Type="http://schemas.openxmlformats.org/officeDocument/2006/relationships/slide" Target="slides/slide180.xml"/><Relationship Id="rId4" Type="http://schemas.openxmlformats.org/officeDocument/2006/relationships/slideMaster" Target="slideMasters/slideMaster4.xml"/><Relationship Id="rId9" Type="http://schemas.openxmlformats.org/officeDocument/2006/relationships/slide" Target="slides/slide4.xml"/><Relationship Id="rId180" Type="http://schemas.openxmlformats.org/officeDocument/2006/relationships/slide" Target="slides/slide175.xml"/><Relationship Id="rId210" Type="http://schemas.openxmlformats.org/officeDocument/2006/relationships/slide" Target="slides/slide205.xml"/><Relationship Id="rId215" Type="http://schemas.openxmlformats.org/officeDocument/2006/relationships/slide" Target="slides/slide210.xml"/><Relationship Id="rId26" Type="http://schemas.openxmlformats.org/officeDocument/2006/relationships/slide" Target="slides/slide21.xml"/><Relationship Id="rId231" Type="http://schemas.openxmlformats.org/officeDocument/2006/relationships/tableStyles" Target="tableStyles.xml"/><Relationship Id="rId47" Type="http://schemas.openxmlformats.org/officeDocument/2006/relationships/slide" Target="slides/slide42.xml"/><Relationship Id="rId68" Type="http://schemas.openxmlformats.org/officeDocument/2006/relationships/slide" Target="slides/slide63.xml"/><Relationship Id="rId89" Type="http://schemas.openxmlformats.org/officeDocument/2006/relationships/slide" Target="slides/slide84.xml"/><Relationship Id="rId112" Type="http://schemas.openxmlformats.org/officeDocument/2006/relationships/slide" Target="slides/slide107.xml"/><Relationship Id="rId133" Type="http://schemas.openxmlformats.org/officeDocument/2006/relationships/slide" Target="slides/slide128.xml"/><Relationship Id="rId154" Type="http://schemas.openxmlformats.org/officeDocument/2006/relationships/slide" Target="slides/slide149.xml"/><Relationship Id="rId175" Type="http://schemas.openxmlformats.org/officeDocument/2006/relationships/slide" Target="slides/slide170.xml"/><Relationship Id="rId196" Type="http://schemas.openxmlformats.org/officeDocument/2006/relationships/slide" Target="slides/slide191.xml"/><Relationship Id="rId200" Type="http://schemas.openxmlformats.org/officeDocument/2006/relationships/slide" Target="slides/slide195.xml"/><Relationship Id="rId16" Type="http://schemas.openxmlformats.org/officeDocument/2006/relationships/slide" Target="slides/slide11.xml"/><Relationship Id="rId221" Type="http://schemas.openxmlformats.org/officeDocument/2006/relationships/slide" Target="slides/slide216.xml"/><Relationship Id="rId37" Type="http://schemas.openxmlformats.org/officeDocument/2006/relationships/slide" Target="slides/slide32.xml"/><Relationship Id="rId58" Type="http://schemas.openxmlformats.org/officeDocument/2006/relationships/slide" Target="slides/slide53.xml"/><Relationship Id="rId79" Type="http://schemas.openxmlformats.org/officeDocument/2006/relationships/slide" Target="slides/slide74.xml"/><Relationship Id="rId102" Type="http://schemas.openxmlformats.org/officeDocument/2006/relationships/slide" Target="slides/slide97.xml"/><Relationship Id="rId123" Type="http://schemas.openxmlformats.org/officeDocument/2006/relationships/slide" Target="slides/slide118.xml"/><Relationship Id="rId144" Type="http://schemas.openxmlformats.org/officeDocument/2006/relationships/slide" Target="slides/slide139.xml"/><Relationship Id="rId90" Type="http://schemas.openxmlformats.org/officeDocument/2006/relationships/slide" Target="slides/slide85.xml"/><Relationship Id="rId165" Type="http://schemas.openxmlformats.org/officeDocument/2006/relationships/slide" Target="slides/slide160.xml"/><Relationship Id="rId186" Type="http://schemas.openxmlformats.org/officeDocument/2006/relationships/slide" Target="slides/slide181.xml"/><Relationship Id="rId211" Type="http://schemas.openxmlformats.org/officeDocument/2006/relationships/slide" Target="slides/slide206.xml"/><Relationship Id="rId27" Type="http://schemas.openxmlformats.org/officeDocument/2006/relationships/slide" Target="slides/slide22.xml"/><Relationship Id="rId48" Type="http://schemas.openxmlformats.org/officeDocument/2006/relationships/slide" Target="slides/slide43.xml"/><Relationship Id="rId69" Type="http://schemas.openxmlformats.org/officeDocument/2006/relationships/slide" Target="slides/slide64.xml"/><Relationship Id="rId113" Type="http://schemas.openxmlformats.org/officeDocument/2006/relationships/slide" Target="slides/slide108.xml"/><Relationship Id="rId134" Type="http://schemas.openxmlformats.org/officeDocument/2006/relationships/slide" Target="slides/slide129.xml"/><Relationship Id="rId80" Type="http://schemas.openxmlformats.org/officeDocument/2006/relationships/slide" Target="slides/slide75.xml"/><Relationship Id="rId155" Type="http://schemas.openxmlformats.org/officeDocument/2006/relationships/slide" Target="slides/slide150.xml"/><Relationship Id="rId176" Type="http://schemas.openxmlformats.org/officeDocument/2006/relationships/slide" Target="slides/slide171.xml"/><Relationship Id="rId197" Type="http://schemas.openxmlformats.org/officeDocument/2006/relationships/slide" Target="slides/slide192.xml"/><Relationship Id="rId201" Type="http://schemas.openxmlformats.org/officeDocument/2006/relationships/slide" Target="slides/slide196.xml"/><Relationship Id="rId222" Type="http://schemas.openxmlformats.org/officeDocument/2006/relationships/slide" Target="slides/slide217.xml"/><Relationship Id="rId17" Type="http://schemas.openxmlformats.org/officeDocument/2006/relationships/slide" Target="slides/slide12.xml"/><Relationship Id="rId38" Type="http://schemas.openxmlformats.org/officeDocument/2006/relationships/slide" Target="slides/slide33.xml"/><Relationship Id="rId59" Type="http://schemas.openxmlformats.org/officeDocument/2006/relationships/slide" Target="slides/slide54.xml"/><Relationship Id="rId103" Type="http://schemas.openxmlformats.org/officeDocument/2006/relationships/slide" Target="slides/slide98.xml"/><Relationship Id="rId124" Type="http://schemas.openxmlformats.org/officeDocument/2006/relationships/slide" Target="slides/slide119.xml"/><Relationship Id="rId70" Type="http://schemas.openxmlformats.org/officeDocument/2006/relationships/slide" Target="slides/slide65.xml"/><Relationship Id="rId91" Type="http://schemas.openxmlformats.org/officeDocument/2006/relationships/slide" Target="slides/slide86.xml"/><Relationship Id="rId145" Type="http://schemas.openxmlformats.org/officeDocument/2006/relationships/slide" Target="slides/slide140.xml"/><Relationship Id="rId166" Type="http://schemas.openxmlformats.org/officeDocument/2006/relationships/slide" Target="slides/slide161.xml"/><Relationship Id="rId187" Type="http://schemas.openxmlformats.org/officeDocument/2006/relationships/slide" Target="slides/slide182.xml"/><Relationship Id="rId1" Type="http://schemas.openxmlformats.org/officeDocument/2006/relationships/slideMaster" Target="slideMasters/slideMaster1.xml"/><Relationship Id="rId212" Type="http://schemas.openxmlformats.org/officeDocument/2006/relationships/slide" Target="slides/slide207.xml"/><Relationship Id="rId28" Type="http://schemas.openxmlformats.org/officeDocument/2006/relationships/slide" Target="slides/slide23.xml"/><Relationship Id="rId49" Type="http://schemas.openxmlformats.org/officeDocument/2006/relationships/slide" Target="slides/slide44.xml"/><Relationship Id="rId114" Type="http://schemas.openxmlformats.org/officeDocument/2006/relationships/slide" Target="slides/slide109.xml"/><Relationship Id="rId60" Type="http://schemas.openxmlformats.org/officeDocument/2006/relationships/slide" Target="slides/slide55.xml"/><Relationship Id="rId81" Type="http://schemas.openxmlformats.org/officeDocument/2006/relationships/slide" Target="slides/slide76.xml"/><Relationship Id="rId135" Type="http://schemas.openxmlformats.org/officeDocument/2006/relationships/slide" Target="slides/slide130.xml"/><Relationship Id="rId156" Type="http://schemas.openxmlformats.org/officeDocument/2006/relationships/slide" Target="slides/slide151.xml"/><Relationship Id="rId177" Type="http://schemas.openxmlformats.org/officeDocument/2006/relationships/slide" Target="slides/slide172.xml"/><Relationship Id="rId198" Type="http://schemas.openxmlformats.org/officeDocument/2006/relationships/slide" Target="slides/slide193.xml"/><Relationship Id="rId202" Type="http://schemas.openxmlformats.org/officeDocument/2006/relationships/slide" Target="slides/slide197.xml"/><Relationship Id="rId223" Type="http://schemas.openxmlformats.org/officeDocument/2006/relationships/slide" Target="slides/slide218.xml"/><Relationship Id="rId18" Type="http://schemas.openxmlformats.org/officeDocument/2006/relationships/slide" Target="slides/slide13.xml"/><Relationship Id="rId39" Type="http://schemas.openxmlformats.org/officeDocument/2006/relationships/slide" Target="slides/slide34.xml"/><Relationship Id="rId50" Type="http://schemas.openxmlformats.org/officeDocument/2006/relationships/slide" Target="slides/slide45.xml"/><Relationship Id="rId104" Type="http://schemas.openxmlformats.org/officeDocument/2006/relationships/slide" Target="slides/slide99.xml"/><Relationship Id="rId125" Type="http://schemas.openxmlformats.org/officeDocument/2006/relationships/slide" Target="slides/slide120.xml"/><Relationship Id="rId146" Type="http://schemas.openxmlformats.org/officeDocument/2006/relationships/slide" Target="slides/slide141.xml"/><Relationship Id="rId167" Type="http://schemas.openxmlformats.org/officeDocument/2006/relationships/slide" Target="slides/slide162.xml"/><Relationship Id="rId188" Type="http://schemas.openxmlformats.org/officeDocument/2006/relationships/slide" Target="slides/slide183.xml"/><Relationship Id="rId71" Type="http://schemas.openxmlformats.org/officeDocument/2006/relationships/slide" Target="slides/slide66.xml"/><Relationship Id="rId92" Type="http://schemas.openxmlformats.org/officeDocument/2006/relationships/slide" Target="slides/slide87.xml"/><Relationship Id="rId213" Type="http://schemas.openxmlformats.org/officeDocument/2006/relationships/slide" Target="slides/slide208.xml"/><Relationship Id="rId2" Type="http://schemas.openxmlformats.org/officeDocument/2006/relationships/slideMaster" Target="slideMasters/slideMaster2.xml"/><Relationship Id="rId29" Type="http://schemas.openxmlformats.org/officeDocument/2006/relationships/slide" Target="slides/slide24.xml"/><Relationship Id="rId40" Type="http://schemas.openxmlformats.org/officeDocument/2006/relationships/slide" Target="slides/slide35.xml"/><Relationship Id="rId115" Type="http://schemas.openxmlformats.org/officeDocument/2006/relationships/slide" Target="slides/slide110.xml"/><Relationship Id="rId136" Type="http://schemas.openxmlformats.org/officeDocument/2006/relationships/slide" Target="slides/slide131.xml"/><Relationship Id="rId157" Type="http://schemas.openxmlformats.org/officeDocument/2006/relationships/slide" Target="slides/slide152.xml"/><Relationship Id="rId178" Type="http://schemas.openxmlformats.org/officeDocument/2006/relationships/slide" Target="slides/slide173.xml"/><Relationship Id="rId61" Type="http://schemas.openxmlformats.org/officeDocument/2006/relationships/slide" Target="slides/slide56.xml"/><Relationship Id="rId82" Type="http://schemas.openxmlformats.org/officeDocument/2006/relationships/slide" Target="slides/slide77.xml"/><Relationship Id="rId199" Type="http://schemas.openxmlformats.org/officeDocument/2006/relationships/slide" Target="slides/slide194.xml"/><Relationship Id="rId203" Type="http://schemas.openxmlformats.org/officeDocument/2006/relationships/slide" Target="slides/slide198.xml"/><Relationship Id="rId19" Type="http://schemas.openxmlformats.org/officeDocument/2006/relationships/slide" Target="slides/slide14.xml"/><Relationship Id="rId224" Type="http://schemas.openxmlformats.org/officeDocument/2006/relationships/slide" Target="slides/slide219.xml"/><Relationship Id="rId30" Type="http://schemas.openxmlformats.org/officeDocument/2006/relationships/slide" Target="slides/slide25.xml"/><Relationship Id="rId105" Type="http://schemas.openxmlformats.org/officeDocument/2006/relationships/slide" Target="slides/slide100.xml"/><Relationship Id="rId126" Type="http://schemas.openxmlformats.org/officeDocument/2006/relationships/slide" Target="slides/slide121.xml"/><Relationship Id="rId147" Type="http://schemas.openxmlformats.org/officeDocument/2006/relationships/slide" Target="slides/slide142.xml"/><Relationship Id="rId168" Type="http://schemas.openxmlformats.org/officeDocument/2006/relationships/slide" Target="slides/slide163.xml"/><Relationship Id="rId51" Type="http://schemas.openxmlformats.org/officeDocument/2006/relationships/slide" Target="slides/slide46.xml"/><Relationship Id="rId72" Type="http://schemas.openxmlformats.org/officeDocument/2006/relationships/slide" Target="slides/slide67.xml"/><Relationship Id="rId93" Type="http://schemas.openxmlformats.org/officeDocument/2006/relationships/slide" Target="slides/slide88.xml"/><Relationship Id="rId189" Type="http://schemas.openxmlformats.org/officeDocument/2006/relationships/slide" Target="slides/slide184.xml"/><Relationship Id="rId3" Type="http://schemas.openxmlformats.org/officeDocument/2006/relationships/slideMaster" Target="slideMasters/slideMaster3.xml"/><Relationship Id="rId214" Type="http://schemas.openxmlformats.org/officeDocument/2006/relationships/slide" Target="slides/slide209.xml"/></Relationships>
</file>

<file path=ppt/diagrams/colors1.xml><?xml version="1.0" encoding="utf-8"?>
<dgm:colorsDef xmlns:dgm="http://schemas.openxmlformats.org/drawingml/2006/diagram" xmlns:a="http://schemas.openxmlformats.org/drawingml/2006/main" uniqueId="urn:microsoft.com/office/officeart/2005/8/colors/accent3_2">
  <dgm:title val=""/>
  <dgm:desc val=""/>
  <dgm:catLst>
    <dgm:cat type="accent3" pri="11200"/>
  </dgm:catLst>
  <dgm:styleLbl name="node0">
    <dgm:fillClrLst meth="repeat">
      <a:schemeClr val="accent3"/>
    </dgm:fillClrLst>
    <dgm:linClrLst meth="repeat">
      <a:schemeClr val="lt1"/>
    </dgm:linClrLst>
    <dgm:effectClrLst/>
    <dgm:txLinClrLst/>
    <dgm:txFillClrLst/>
    <dgm:txEffectClrLst/>
  </dgm:styleLbl>
  <dgm:styleLbl name="node1">
    <dgm:fillClrLst meth="repeat">
      <a:schemeClr val="accent3"/>
    </dgm:fillClrLst>
    <dgm:linClrLst meth="repeat">
      <a:schemeClr val="lt1"/>
    </dgm:linClrLst>
    <dgm:effectClrLst/>
    <dgm:txLinClrLst/>
    <dgm:txFillClrLst/>
    <dgm:txEffectClrLst/>
  </dgm:styleLbl>
  <dgm:styleLbl name="alignNode1">
    <dgm:fillClrLst meth="repeat">
      <a:schemeClr val="accent3"/>
    </dgm:fillClrLst>
    <dgm:linClrLst meth="repeat">
      <a:schemeClr val="accent3"/>
    </dgm:linClrLst>
    <dgm:effectClrLst/>
    <dgm:txLinClrLst/>
    <dgm:txFillClrLst/>
    <dgm:txEffectClrLst/>
  </dgm:styleLbl>
  <dgm:styleLbl name="lnNode1">
    <dgm:fillClrLst meth="repeat">
      <a:schemeClr val="accent3"/>
    </dgm:fillClrLst>
    <dgm:linClrLst meth="repeat">
      <a:schemeClr val="lt1"/>
    </dgm:linClrLst>
    <dgm:effectClrLst/>
    <dgm:txLinClrLst/>
    <dgm:txFillClrLst/>
    <dgm:txEffectClrLst/>
  </dgm:styleLbl>
  <dgm:styleLbl name="vennNode1">
    <dgm:fillClrLst meth="repeat">
      <a:schemeClr val="accent3">
        <a:alpha val="50000"/>
      </a:schemeClr>
    </dgm:fillClrLst>
    <dgm:linClrLst meth="repeat">
      <a:schemeClr val="lt1"/>
    </dgm:linClrLst>
    <dgm:effectClrLst/>
    <dgm:txLinClrLst/>
    <dgm:txFillClrLst/>
    <dgm:txEffectClrLst/>
  </dgm:styleLbl>
  <dgm:styleLbl name="node2">
    <dgm:fillClrLst meth="repeat">
      <a:schemeClr val="accent3"/>
    </dgm:fillClrLst>
    <dgm:linClrLst meth="repeat">
      <a:schemeClr val="lt1"/>
    </dgm:linClrLst>
    <dgm:effectClrLst/>
    <dgm:txLinClrLst/>
    <dgm:txFillClrLst/>
    <dgm:txEffectClrLst/>
  </dgm:styleLbl>
  <dgm:styleLbl name="node3">
    <dgm:fillClrLst meth="repeat">
      <a:schemeClr val="accent3"/>
    </dgm:fillClrLst>
    <dgm:linClrLst meth="repeat">
      <a:schemeClr val="lt1"/>
    </dgm:linClrLst>
    <dgm:effectClrLst/>
    <dgm:txLinClrLst/>
    <dgm:txFillClrLst/>
    <dgm:txEffectClrLst/>
  </dgm:styleLbl>
  <dgm:styleLbl name="node4">
    <dgm:fillClrLst meth="repeat">
      <a:schemeClr val="accent3"/>
    </dgm:fillClrLst>
    <dgm:linClrLst meth="repeat">
      <a:schemeClr val="lt1"/>
    </dgm:linClrLst>
    <dgm:effectClrLst/>
    <dgm:txLinClrLst/>
    <dgm:txFillClrLst/>
    <dgm:txEffectClrLst/>
  </dgm:styleLbl>
  <dgm:styleLbl name="f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dgm:linClrLst>
    <dgm:effectClrLst/>
    <dgm:txLinClrLst/>
    <dgm:txFillClrLst/>
    <dgm:txEffectClrLst/>
  </dgm:styleLbl>
  <dgm:styleLbl name="asst1">
    <dgm:fillClrLst meth="repeat">
      <a:schemeClr val="accent3"/>
    </dgm:fillClrLst>
    <dgm:linClrLst meth="repeat">
      <a:schemeClr val="lt1"/>
    </dgm:linClrLst>
    <dgm:effectClrLst/>
    <dgm:txLinClrLst/>
    <dgm:txFillClrLst/>
    <dgm:txEffectClrLst/>
  </dgm:styleLbl>
  <dgm:styleLbl name="asst2">
    <dgm:fillClrLst meth="repeat">
      <a:schemeClr val="accent3"/>
    </dgm:fillClrLst>
    <dgm:linClrLst meth="repeat">
      <a:schemeClr val="lt1"/>
    </dgm:linClrLst>
    <dgm:effectClrLst/>
    <dgm:txLinClrLst/>
    <dgm:txFillClrLst/>
    <dgm:txEffectClrLst/>
  </dgm:styleLbl>
  <dgm:styleLbl name="asst3">
    <dgm:fillClrLst meth="repeat">
      <a:schemeClr val="accent3"/>
    </dgm:fillClrLst>
    <dgm:linClrLst meth="repeat">
      <a:schemeClr val="lt1"/>
    </dgm:linClrLst>
    <dgm:effectClrLst/>
    <dgm:txLinClrLst/>
    <dgm:txFillClrLst/>
    <dgm:txEffectClrLst/>
  </dgm:styleLbl>
  <dgm:styleLbl name="asst4">
    <dgm:fillClrLst meth="repeat">
      <a:schemeClr val="accent3"/>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dgm:fillClrLst>
    <dgm:linClrLst meth="repeat">
      <a:schemeClr val="accent3"/>
    </dgm:linClrLst>
    <dgm:effectClrLst/>
    <dgm:txLinClrLst/>
    <dgm:txFillClrLst meth="repeat">
      <a:schemeClr val="lt1"/>
    </dgm:txFillClrLst>
    <dgm:txEffectClrLst/>
  </dgm:styleLbl>
  <dgm:styleLbl name="parChTrans2D3">
    <dgm:fillClrLst meth="repeat">
      <a:schemeClr val="accent3"/>
    </dgm:fillClrLst>
    <dgm:linClrLst meth="repeat">
      <a:schemeClr val="accent3"/>
    </dgm:linClrLst>
    <dgm:effectClrLst/>
    <dgm:txLinClrLst/>
    <dgm:txFillClrLst meth="repeat">
      <a:schemeClr val="lt1"/>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3">
  <dgm:title val=""/>
  <dgm:desc val=""/>
  <dgm:catLst>
    <dgm:cat type="accent1" pri="11300"/>
  </dgm:catLst>
  <dgm:styleLbl name="node0">
    <dgm:fillClrLst meth="repeat">
      <a:schemeClr val="accent1">
        <a:shade val="80000"/>
      </a:schemeClr>
    </dgm:fillClrLst>
    <dgm:linClrLst meth="repeat">
      <a:schemeClr val="lt1"/>
    </dgm:linClrLst>
    <dgm:effectClrLst/>
    <dgm:txLinClrLst/>
    <dgm:txFillClrLst/>
    <dgm:txEffectClrLst/>
  </dgm:styleLbl>
  <dgm:styleLbl name="alignNode1">
    <dgm:fillClrLst>
      <a:schemeClr val="accent1">
        <a:shade val="80000"/>
      </a:schemeClr>
      <a:schemeClr val="accent1">
        <a:tint val="70000"/>
      </a:schemeClr>
    </dgm:fillClrLst>
    <dgm:linClrLst>
      <a:schemeClr val="accent1">
        <a:shade val="80000"/>
      </a:schemeClr>
      <a:schemeClr val="accent1">
        <a:tint val="70000"/>
      </a:schemeClr>
    </dgm:linClrLst>
    <dgm:effectClrLst/>
    <dgm:txLinClrLst/>
    <dgm:txFillClrLst/>
    <dgm:txEffectClrLst/>
  </dgm:styleLbl>
  <dgm:styleLbl name="node1">
    <dgm:fillClrLst>
      <a:schemeClr val="accent1">
        <a:shade val="80000"/>
      </a:schemeClr>
      <a:schemeClr val="accent1">
        <a:tint val="70000"/>
      </a:schemeClr>
    </dgm:fillClrLst>
    <dgm:linClrLst meth="repeat">
      <a:schemeClr val="lt1"/>
    </dgm:linClrLst>
    <dgm:effectClrLst/>
    <dgm:txLinClrLst/>
    <dgm:txFillClrLst/>
    <dgm:txEffectClrLst/>
  </dgm:styleLbl>
  <dgm:styleLbl name="lnNode1">
    <dgm:fillClrLst>
      <a:schemeClr val="accent1">
        <a:shade val="80000"/>
      </a:schemeClr>
      <a:schemeClr val="accent1">
        <a:tint val="70000"/>
      </a:schemeClr>
    </dgm:fillClrLst>
    <dgm:linClrLst meth="repeat">
      <a:schemeClr val="lt1"/>
    </dgm:linClrLst>
    <dgm:effectClrLst/>
    <dgm:txLinClrLst/>
    <dgm:txFillClrLst/>
    <dgm:txEffectClrLst/>
  </dgm:styleLbl>
  <dgm:styleLbl name="vennNode1">
    <dgm:fillClrLst>
      <a:schemeClr val="accent1">
        <a:shade val="80000"/>
        <a:alpha val="50000"/>
      </a:schemeClr>
      <a:schemeClr val="accent1">
        <a:tint val="70000"/>
        <a:alpha val="50000"/>
      </a:schemeClr>
    </dgm:fillClrLst>
    <dgm:linClrLst meth="repeat">
      <a:schemeClr val="lt1"/>
    </dgm:linClrLst>
    <dgm:effectClrLst/>
    <dgm:txLinClrLst/>
    <dgm:txFillClrLst/>
    <dgm:txEffectClrLst/>
  </dgm:styleLbl>
  <dgm:styleLbl name="node2">
    <dgm:fillClrLst>
      <a:schemeClr val="accent1">
        <a:tint val="99000"/>
      </a:schemeClr>
    </dgm:fillClrLst>
    <dgm:linClrLst meth="repeat">
      <a:schemeClr val="lt1"/>
    </dgm:linClrLst>
    <dgm:effectClrLst/>
    <dgm:txLinClrLst/>
    <dgm:txFillClrLst/>
    <dgm:txEffectClrLst/>
  </dgm:styleLbl>
  <dgm:styleLbl name="node3">
    <dgm:fillClrLst>
      <a:schemeClr val="accent1">
        <a:tint val="80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dgm:txEffectClrLst/>
  </dgm:styleLbl>
  <dgm:styleLbl name="f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b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sibTrans1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9000"/>
      </a:schemeClr>
    </dgm:fillClrLst>
    <dgm:linClrLst meth="repeat">
      <a:schemeClr val="lt1"/>
    </dgm:linClrLst>
    <dgm:effectClrLst/>
    <dgm:txLinClrLst/>
    <dgm:txFillClrLst/>
    <dgm:txEffectClrLst/>
  </dgm:styleLbl>
  <dgm:styleLbl name="asst3">
    <dgm:fillClrLst>
      <a:schemeClr val="accent1">
        <a:tint val="80000"/>
      </a:schemeClr>
    </dgm:fillClrLst>
    <dgm:linClrLst meth="repeat">
      <a:schemeClr val="lt1"/>
    </dgm:linClrLst>
    <dgm:effectClrLst/>
    <dgm:txLinClrLst/>
    <dgm:txFillClrLst/>
    <dgm:txEffectClrLst/>
  </dgm:styleLbl>
  <dgm:styleLbl name="asst4">
    <dgm:fillClrLst>
      <a:schemeClr val="accent1">
        <a:tint val="7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lt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9000"/>
      </a:schemeClr>
    </dgm:fillClrLst>
    <dgm:linClrLst meth="repeat">
      <a:schemeClr val="accent1">
        <a:tint val="99000"/>
      </a:schemeClr>
    </dgm:linClrLst>
    <dgm:effectClrLst/>
    <dgm:txLinClrLst/>
    <dgm:txFillClrLst meth="repeat">
      <a:schemeClr val="tx1"/>
    </dgm:txFillClrLst>
    <dgm:txEffectClrLst/>
  </dgm:styleLbl>
  <dgm:styleLbl name="parChTrans1D3">
    <dgm:fillClrLst meth="repeat">
      <a:schemeClr val="accent1">
        <a:tint val="80000"/>
      </a:schemeClr>
    </dgm:fillClrLst>
    <dgm:linClrLst meth="repeat">
      <a:schemeClr val="accent1">
        <a:tint val="80000"/>
      </a:schemeClr>
    </dgm:linClrLst>
    <dgm:effectClrLst/>
    <dgm:txLinClrLst/>
    <dgm:txFillClrLst meth="repeat">
      <a:schemeClr val="tx1"/>
    </dgm:txFillClrLst>
    <dgm:txEffectClrLst/>
  </dgm:styleLbl>
  <dgm:styleLbl name="parChTrans1D4">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2_1">
  <dgm:title val=""/>
  <dgm:desc val=""/>
  <dgm:catLst>
    <dgm:cat type="accent2" pri="11100"/>
  </dgm:catLst>
  <dgm:styleLbl name="node0">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2">
        <a:shade val="80000"/>
      </a:schemeClr>
    </dgm:linClrLst>
    <dgm:effectClrLst/>
    <dgm:txLinClrLst/>
    <dgm:txFillClrLst/>
    <dgm:txEffectClrLst/>
  </dgm:styleLbl>
  <dgm:styleLbl name="node2">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fg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align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bg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dgm:txEffectClrLst/>
  </dgm:styleLbl>
  <dgm:styleLbl name="parChTrans2D2">
    <dgm:fillClrLst meth="repeat">
      <a:schemeClr val="accent2"/>
    </dgm:fillClrLst>
    <dgm:linClrLst meth="repeat">
      <a:schemeClr val="accent2"/>
    </dgm:linClrLst>
    <dgm:effectClrLst/>
    <dgm:txLinClrLst/>
    <dgm:txFillClrLst/>
    <dgm:txEffectClrLst/>
  </dgm:styleLbl>
  <dgm:styleLbl name="parChTrans2D3">
    <dgm:fillClrLst meth="repeat">
      <a:schemeClr val="accent2"/>
    </dgm:fillClrLst>
    <dgm:linClrLst meth="repeat">
      <a:schemeClr val="accent2"/>
    </dgm:linClrLst>
    <dgm:effectClrLst/>
    <dgm:txLinClrLst/>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conF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align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trAlignAcc1">
    <dgm:fillClrLst meth="repeat">
      <a:schemeClr val="accent2">
        <a:alpha val="40000"/>
        <a:tint val="40000"/>
      </a:schemeClr>
    </dgm:fillClrLst>
    <dgm:linClrLst meth="repeat">
      <a:schemeClr val="accent2"/>
    </dgm:linClrLst>
    <dgm:effectClrLst/>
    <dgm:txLinClrLst/>
    <dgm:txFillClrLst meth="repeat">
      <a:schemeClr val="dk1"/>
    </dgm:txFillClrLst>
    <dgm:txEffectClrLst/>
  </dgm:styleLbl>
  <dgm:styleLbl name="b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fgAcc0">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2">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3">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4">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3_1">
  <dgm:title val=""/>
  <dgm:desc val=""/>
  <dgm:catLst>
    <dgm:cat type="accent3" pri="11100"/>
  </dgm:catLst>
  <dgm:styleLbl name="node0">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3">
        <a:shade val="80000"/>
      </a:schemeClr>
    </dgm:linClrLst>
    <dgm:effectClrLst/>
    <dgm:txLinClrLst/>
    <dgm:txFillClrLst/>
    <dgm:txEffectClrLst/>
  </dgm:styleLbl>
  <dgm:styleLbl name="node2">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fgImgPlace1">
    <dgm:fillClrLst meth="repeat">
      <a:schemeClr val="accent3">
        <a:tint val="40000"/>
      </a:schemeClr>
    </dgm:fillClrLst>
    <dgm:linClrLst meth="repeat">
      <a:schemeClr val="accent3">
        <a:shade val="80000"/>
      </a:schemeClr>
    </dgm:linClrLst>
    <dgm:effectClrLst/>
    <dgm:txLinClrLst/>
    <dgm:txFillClrLst meth="repeat">
      <a:schemeClr val="lt1"/>
    </dgm:txFillClrLst>
    <dgm:txEffectClrLst/>
  </dgm:styleLbl>
  <dgm:styleLbl name="alignImgPlace1">
    <dgm:fillClrLst meth="repeat">
      <a:schemeClr val="accent3">
        <a:tint val="40000"/>
      </a:schemeClr>
    </dgm:fillClrLst>
    <dgm:linClrLst meth="repeat">
      <a:schemeClr val="accent3">
        <a:shade val="80000"/>
      </a:schemeClr>
    </dgm:linClrLst>
    <dgm:effectClrLst/>
    <dgm:txLinClrLst/>
    <dgm:txFillClrLst meth="repeat">
      <a:schemeClr val="lt1"/>
    </dgm:txFillClrLst>
    <dgm:txEffectClrLst/>
  </dgm:styleLbl>
  <dgm:styleLbl name="bgImgPlace1">
    <dgm:fillClrLst meth="repeat">
      <a:schemeClr val="accent3">
        <a:tint val="40000"/>
      </a:schemeClr>
    </dgm:fillClrLst>
    <dgm:linClrLst meth="repeat">
      <a:schemeClr val="accent3">
        <a:shade val="80000"/>
      </a:schemeClr>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meth="repeat">
      <a:schemeClr val="dk1"/>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meth="repeat">
      <a:schemeClr val="dk1"/>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meth="repeat">
      <a:schemeClr val="dk1"/>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dgm:txEffectClrLst/>
  </dgm:styleLbl>
  <dgm:styleLbl name="parChTrans2D2">
    <dgm:fillClrLst meth="repeat">
      <a:schemeClr val="accent3"/>
    </dgm:fillClrLst>
    <dgm:linClrLst meth="repeat">
      <a:schemeClr val="accent3"/>
    </dgm:linClrLst>
    <dgm:effectClrLst/>
    <dgm:txLinClrLst/>
    <dgm:txFillClrLst/>
    <dgm:txEffectClrLst/>
  </dgm:styleLbl>
  <dgm:styleLbl name="parChTrans2D3">
    <dgm:fillClrLst meth="repeat">
      <a:schemeClr val="accent3"/>
    </dgm:fillClrLst>
    <dgm:linClrLst meth="repeat">
      <a:schemeClr val="accent3"/>
    </dgm:linClrLst>
    <dgm:effectClrLst/>
    <dgm:txLinClrLst/>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conFgAcc1">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alignAcc1">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trAlignAcc1">
    <dgm:fillClrLst meth="repeat">
      <a:schemeClr val="accent3">
        <a:alpha val="40000"/>
        <a:tint val="40000"/>
      </a:schemeClr>
    </dgm:fillClrLst>
    <dgm:linClrLst meth="repeat">
      <a:schemeClr val="accent3"/>
    </dgm:linClrLst>
    <dgm:effectClrLst/>
    <dgm:txLinClrLst/>
    <dgm:txFillClrLst meth="repeat">
      <a:schemeClr val="dk1"/>
    </dgm:txFillClrLst>
    <dgm:txEffectClrLst/>
  </dgm:styleLbl>
  <dgm:styleLbl name="bgAcc1">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3">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3">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3">
        <a:alpha val="90000"/>
      </a:schemeClr>
    </dgm:linClrLst>
    <dgm:effectClrLst/>
    <dgm:txLinClrLst/>
    <dgm:txFillClrLst meth="repeat">
      <a:schemeClr val="dk1"/>
    </dgm:txFillClrLst>
    <dgm:txEffectClrLst/>
  </dgm:styleLbl>
  <dgm:styleLbl name="fgAcc0">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fgAcc2">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fgAcc3">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fgAcc4">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1">
  <dgm:title val=""/>
  <dgm:desc val=""/>
  <dgm:catLst>
    <dgm:cat type="accent1" pri="11100"/>
  </dgm:catLst>
  <dgm:styleLbl name="node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1">
        <a:shade val="80000"/>
      </a:schemeClr>
    </dgm:linClrLst>
    <dgm:effectClrLst/>
    <dgm:txLinClrLst/>
    <dgm:txFillClrLst/>
    <dgm:txEffectClrLst/>
  </dgm:styleLbl>
  <dgm:styleLbl name="node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f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align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b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dgm:txEffectClrLst/>
  </dgm:styleLbl>
  <dgm:styleLbl name="parChTrans2D2">
    <dgm:fillClrLst meth="repeat">
      <a:schemeClr val="accent1"/>
    </dgm:fillClrLst>
    <dgm:linClrLst meth="repeat">
      <a:schemeClr val="accent1"/>
    </dgm:linClrLst>
    <dgm:effectClrLst/>
    <dgm:txLinClrLst/>
    <dgm:txFillClrLst/>
    <dgm:txEffectClrLst/>
  </dgm:styleLbl>
  <dgm:styleLbl name="parChTrans2D3">
    <dgm:fillClrLst meth="repeat">
      <a:schemeClr val="accent1"/>
    </dgm:fillClrLst>
    <dgm:linClrLst meth="repeat">
      <a:schemeClr val="accent1"/>
    </dgm:linClrLst>
    <dgm:effectClrLst/>
    <dgm:txLinClrLst/>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con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align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trAlignAcc1">
    <dgm:fillClrLst meth="repeat">
      <a:schemeClr val="accent1">
        <a:alpha val="40000"/>
        <a:tint val="40000"/>
      </a:schemeClr>
    </dgm:fillClrLst>
    <dgm:linClrLst meth="repeat">
      <a:schemeClr val="accent1"/>
    </dgm:linClrLst>
    <dgm:effectClrLst/>
    <dgm:txLinClrLst/>
    <dgm:txFillClrLst meth="repeat">
      <a:schemeClr val="dk1"/>
    </dgm:txFillClrLst>
    <dgm:txEffectClrLst/>
  </dgm:styleLbl>
  <dgm:styleLbl name="b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fgAcc0">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2">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3">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4">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2_1">
  <dgm:title val=""/>
  <dgm:desc val=""/>
  <dgm:catLst>
    <dgm:cat type="accent2" pri="11100"/>
  </dgm:catLst>
  <dgm:styleLbl name="node0">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2">
        <a:shade val="80000"/>
      </a:schemeClr>
    </dgm:linClrLst>
    <dgm:effectClrLst/>
    <dgm:txLinClrLst/>
    <dgm:txFillClrLst/>
    <dgm:txEffectClrLst/>
  </dgm:styleLbl>
  <dgm:styleLbl name="node2">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fg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align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bg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dgm:txEffectClrLst/>
  </dgm:styleLbl>
  <dgm:styleLbl name="parChTrans2D2">
    <dgm:fillClrLst meth="repeat">
      <a:schemeClr val="accent2"/>
    </dgm:fillClrLst>
    <dgm:linClrLst meth="repeat">
      <a:schemeClr val="accent2"/>
    </dgm:linClrLst>
    <dgm:effectClrLst/>
    <dgm:txLinClrLst/>
    <dgm:txFillClrLst/>
    <dgm:txEffectClrLst/>
  </dgm:styleLbl>
  <dgm:styleLbl name="parChTrans2D3">
    <dgm:fillClrLst meth="repeat">
      <a:schemeClr val="accent2"/>
    </dgm:fillClrLst>
    <dgm:linClrLst meth="repeat">
      <a:schemeClr val="accent2"/>
    </dgm:linClrLst>
    <dgm:effectClrLst/>
    <dgm:txLinClrLst/>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conF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align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trAlignAcc1">
    <dgm:fillClrLst meth="repeat">
      <a:schemeClr val="accent2">
        <a:alpha val="40000"/>
        <a:tint val="40000"/>
      </a:schemeClr>
    </dgm:fillClrLst>
    <dgm:linClrLst meth="repeat">
      <a:schemeClr val="accent2"/>
    </dgm:linClrLst>
    <dgm:effectClrLst/>
    <dgm:txLinClrLst/>
    <dgm:txFillClrLst meth="repeat">
      <a:schemeClr val="dk1"/>
    </dgm:txFillClrLst>
    <dgm:txEffectClrLst/>
  </dgm:styleLbl>
  <dgm:styleLbl name="b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fgAcc0">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2">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3">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4">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1_1">
  <dgm:title val=""/>
  <dgm:desc val=""/>
  <dgm:catLst>
    <dgm:cat type="accent1" pri="11100"/>
  </dgm:catLst>
  <dgm:styleLbl name="node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1">
        <a:shade val="80000"/>
      </a:schemeClr>
    </dgm:linClrLst>
    <dgm:effectClrLst/>
    <dgm:txLinClrLst/>
    <dgm:txFillClrLst/>
    <dgm:txEffectClrLst/>
  </dgm:styleLbl>
  <dgm:styleLbl name="node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f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align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b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dgm:txEffectClrLst/>
  </dgm:styleLbl>
  <dgm:styleLbl name="parChTrans2D2">
    <dgm:fillClrLst meth="repeat">
      <a:schemeClr val="accent1"/>
    </dgm:fillClrLst>
    <dgm:linClrLst meth="repeat">
      <a:schemeClr val="accent1"/>
    </dgm:linClrLst>
    <dgm:effectClrLst/>
    <dgm:txLinClrLst/>
    <dgm:txFillClrLst/>
    <dgm:txEffectClrLst/>
  </dgm:styleLbl>
  <dgm:styleLbl name="parChTrans2D3">
    <dgm:fillClrLst meth="repeat">
      <a:schemeClr val="accent1"/>
    </dgm:fillClrLst>
    <dgm:linClrLst meth="repeat">
      <a:schemeClr val="accent1"/>
    </dgm:linClrLst>
    <dgm:effectClrLst/>
    <dgm:txLinClrLst/>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con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align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trAlignAcc1">
    <dgm:fillClrLst meth="repeat">
      <a:schemeClr val="accent1">
        <a:alpha val="40000"/>
        <a:tint val="40000"/>
      </a:schemeClr>
    </dgm:fillClrLst>
    <dgm:linClrLst meth="repeat">
      <a:schemeClr val="accent1"/>
    </dgm:linClrLst>
    <dgm:effectClrLst/>
    <dgm:txLinClrLst/>
    <dgm:txFillClrLst meth="repeat">
      <a:schemeClr val="dk1"/>
    </dgm:txFillClrLst>
    <dgm:txEffectClrLst/>
  </dgm:styleLbl>
  <dgm:styleLbl name="b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fgAcc0">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2">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3">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4">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42D5EAC9-FDFC-46E9-BF4E-DD133F3A1012}" type="doc">
      <dgm:prSet loTypeId="urn:microsoft.com/office/officeart/2005/8/layout/vList2" loCatId="list" qsTypeId="urn:microsoft.com/office/officeart/2005/8/quickstyle/simple1" qsCatId="simple" csTypeId="urn:microsoft.com/office/officeart/2005/8/colors/accent3_2" csCatId="accent3"/>
      <dgm:spPr/>
      <dgm:t>
        <a:bodyPr/>
        <a:lstStyle/>
        <a:p>
          <a:endParaRPr lang="zh-CN" altLang="en-US"/>
        </a:p>
      </dgm:t>
    </dgm:pt>
    <dgm:pt modelId="{619351FB-AF73-468D-8B67-AF4EF1D0FF55}">
      <dgm:prSet/>
      <dgm:spPr/>
      <dgm:t>
        <a:bodyPr/>
        <a:lstStyle/>
        <a:p>
          <a:r>
            <a:rPr lang="en-US" b="1">
              <a:latin typeface="+mj-ea"/>
              <a:ea typeface="+mj-ea"/>
            </a:rPr>
            <a:t>N² </a:t>
          </a:r>
          <a:r>
            <a:rPr lang="zh-CN" b="1">
              <a:latin typeface="+mj-ea"/>
              <a:ea typeface="+mj-ea"/>
            </a:rPr>
            <a:t>协同复杂度 </a:t>
          </a:r>
          <a:r>
            <a:rPr lang="en-US" b="1">
              <a:latin typeface="+mj-ea"/>
              <a:ea typeface="+mj-ea"/>
            </a:rPr>
            <a:t>(Complexity)</a:t>
          </a:r>
          <a:r>
            <a:rPr lang="zh-CN" b="1">
              <a:latin typeface="+mj-ea"/>
              <a:ea typeface="+mj-ea"/>
            </a:rPr>
            <a:t>：节点指数级爆发，超越人力极限。</a:t>
          </a:r>
        </a:p>
      </dgm:t>
    </dgm:pt>
    <dgm:pt modelId="{F9871328-9541-46D2-BD16-7BF2344EC616}" type="parTrans" cxnId="{52E2637A-C99A-45D0-89F3-00ED425BD1BC}">
      <dgm:prSet/>
      <dgm:spPr/>
      <dgm:t>
        <a:bodyPr/>
        <a:lstStyle/>
        <a:p>
          <a:endParaRPr lang="zh-CN" altLang="en-US">
            <a:latin typeface="+mj-ea"/>
            <a:ea typeface="+mj-ea"/>
          </a:endParaRPr>
        </a:p>
      </dgm:t>
    </dgm:pt>
    <dgm:pt modelId="{1057BC57-24A3-4AAE-B715-69E8446AA0F0}" type="sibTrans" cxnId="{52E2637A-C99A-45D0-89F3-00ED425BD1BC}">
      <dgm:prSet/>
      <dgm:spPr/>
      <dgm:t>
        <a:bodyPr/>
        <a:lstStyle/>
        <a:p>
          <a:endParaRPr lang="zh-CN" altLang="en-US">
            <a:latin typeface="+mj-ea"/>
            <a:ea typeface="+mj-ea"/>
          </a:endParaRPr>
        </a:p>
      </dgm:t>
    </dgm:pt>
    <dgm:pt modelId="{EE7DE08B-44DA-4658-AE43-AA48FD528950}">
      <dgm:prSet/>
      <dgm:spPr/>
      <dgm:t>
        <a:bodyPr/>
        <a:lstStyle/>
        <a:p>
          <a:r>
            <a:rPr lang="zh-CN" b="1" dirty="0">
              <a:latin typeface="+mj-ea"/>
              <a:ea typeface="+mj-ea"/>
            </a:rPr>
            <a:t>底层数据治理 </a:t>
          </a:r>
          <a:r>
            <a:rPr lang="en-US" b="1" dirty="0">
              <a:latin typeface="+mj-ea"/>
              <a:ea typeface="+mj-ea"/>
            </a:rPr>
            <a:t>(Data Quality)</a:t>
          </a:r>
          <a:r>
            <a:rPr lang="zh-CN" b="1" dirty="0">
              <a:latin typeface="+mj-ea"/>
              <a:ea typeface="+mj-ea"/>
            </a:rPr>
            <a:t>：“垃圾进，垃圾出”的系统铁律。</a:t>
          </a:r>
        </a:p>
      </dgm:t>
    </dgm:pt>
    <dgm:pt modelId="{B6D7D318-705B-43A0-9A84-3E1D444F53AC}" type="parTrans" cxnId="{FE5830EE-3FE4-4357-AEE8-A68AE3A24A0E}">
      <dgm:prSet/>
      <dgm:spPr/>
      <dgm:t>
        <a:bodyPr/>
        <a:lstStyle/>
        <a:p>
          <a:endParaRPr lang="zh-CN" altLang="en-US">
            <a:latin typeface="+mj-ea"/>
            <a:ea typeface="+mj-ea"/>
          </a:endParaRPr>
        </a:p>
      </dgm:t>
    </dgm:pt>
    <dgm:pt modelId="{59DA233B-E749-437B-975A-38969D8C4E9D}" type="sibTrans" cxnId="{FE5830EE-3FE4-4357-AEE8-A68AE3A24A0E}">
      <dgm:prSet/>
      <dgm:spPr/>
      <dgm:t>
        <a:bodyPr/>
        <a:lstStyle/>
        <a:p>
          <a:endParaRPr lang="zh-CN" altLang="en-US">
            <a:latin typeface="+mj-ea"/>
            <a:ea typeface="+mj-ea"/>
          </a:endParaRPr>
        </a:p>
      </dgm:t>
    </dgm:pt>
    <dgm:pt modelId="{42A3D402-D1DD-4F82-A70B-8DD03FAF2417}">
      <dgm:prSet/>
      <dgm:spPr/>
      <dgm:t>
        <a:bodyPr/>
        <a:lstStyle/>
        <a:p>
          <a:r>
            <a:rPr lang="zh-CN" b="1">
              <a:latin typeface="+mj-ea"/>
              <a:ea typeface="+mj-ea"/>
            </a:rPr>
            <a:t>组织惯性对抗 </a:t>
          </a:r>
          <a:r>
            <a:rPr lang="en-US" b="1">
              <a:latin typeface="+mj-ea"/>
              <a:ea typeface="+mj-ea"/>
            </a:rPr>
            <a:t>(Inertia)</a:t>
          </a:r>
          <a:r>
            <a:rPr lang="zh-CN" b="1">
              <a:latin typeface="+mj-ea"/>
              <a:ea typeface="+mj-ea"/>
            </a:rPr>
            <a:t>：旧范式与新算法的剧烈冲突。</a:t>
          </a:r>
        </a:p>
      </dgm:t>
    </dgm:pt>
    <dgm:pt modelId="{0E676B42-F715-404B-934B-F616EDBBCF97}" type="parTrans" cxnId="{D7BDE996-0954-42B0-A131-2978BD0247AB}">
      <dgm:prSet/>
      <dgm:spPr/>
      <dgm:t>
        <a:bodyPr/>
        <a:lstStyle/>
        <a:p>
          <a:endParaRPr lang="zh-CN" altLang="en-US">
            <a:latin typeface="+mj-ea"/>
            <a:ea typeface="+mj-ea"/>
          </a:endParaRPr>
        </a:p>
      </dgm:t>
    </dgm:pt>
    <dgm:pt modelId="{6BCFB55E-9246-4D97-A95E-1223464F06FF}" type="sibTrans" cxnId="{D7BDE996-0954-42B0-A131-2978BD0247AB}">
      <dgm:prSet/>
      <dgm:spPr/>
      <dgm:t>
        <a:bodyPr/>
        <a:lstStyle/>
        <a:p>
          <a:endParaRPr lang="zh-CN" altLang="en-US">
            <a:latin typeface="+mj-ea"/>
            <a:ea typeface="+mj-ea"/>
          </a:endParaRPr>
        </a:p>
      </dgm:t>
    </dgm:pt>
    <dgm:pt modelId="{435EE382-D95B-4AF7-86A7-9E900551C411}" type="pres">
      <dgm:prSet presAssocID="{42D5EAC9-FDFC-46E9-BF4E-DD133F3A1012}" presName="linear" presStyleCnt="0">
        <dgm:presLayoutVars>
          <dgm:animLvl val="lvl"/>
          <dgm:resizeHandles val="exact"/>
        </dgm:presLayoutVars>
      </dgm:prSet>
      <dgm:spPr/>
    </dgm:pt>
    <dgm:pt modelId="{A3C7D211-8EEB-474C-A51A-DDB3D2468ED3}" type="pres">
      <dgm:prSet presAssocID="{619351FB-AF73-468D-8B67-AF4EF1D0FF55}" presName="parentText" presStyleLbl="node1" presStyleIdx="0" presStyleCnt="3" custLinFactNeighborX="2503" custLinFactNeighborY="-12971">
        <dgm:presLayoutVars>
          <dgm:chMax val="0"/>
          <dgm:bulletEnabled val="1"/>
        </dgm:presLayoutVars>
      </dgm:prSet>
      <dgm:spPr/>
    </dgm:pt>
    <dgm:pt modelId="{CB1D25BE-6BD0-4227-8038-29CC086A4289}" type="pres">
      <dgm:prSet presAssocID="{1057BC57-24A3-4AAE-B715-69E8446AA0F0}" presName="spacer" presStyleCnt="0"/>
      <dgm:spPr/>
    </dgm:pt>
    <dgm:pt modelId="{63954066-DAF7-4B13-B3A7-6356F70822AA}" type="pres">
      <dgm:prSet presAssocID="{EE7DE08B-44DA-4658-AE43-AA48FD528950}" presName="parentText" presStyleLbl="node1" presStyleIdx="1" presStyleCnt="3">
        <dgm:presLayoutVars>
          <dgm:chMax val="0"/>
          <dgm:bulletEnabled val="1"/>
        </dgm:presLayoutVars>
      </dgm:prSet>
      <dgm:spPr/>
    </dgm:pt>
    <dgm:pt modelId="{75ABC2EE-FE1D-4298-BAEF-81D17F339006}" type="pres">
      <dgm:prSet presAssocID="{59DA233B-E749-437B-975A-38969D8C4E9D}" presName="spacer" presStyleCnt="0"/>
      <dgm:spPr/>
    </dgm:pt>
    <dgm:pt modelId="{6E184022-EF08-4A20-A19D-9FAF037CEEC5}" type="pres">
      <dgm:prSet presAssocID="{42A3D402-D1DD-4F82-A70B-8DD03FAF2417}" presName="parentText" presStyleLbl="node1" presStyleIdx="2" presStyleCnt="3">
        <dgm:presLayoutVars>
          <dgm:chMax val="0"/>
          <dgm:bulletEnabled val="1"/>
        </dgm:presLayoutVars>
      </dgm:prSet>
      <dgm:spPr/>
    </dgm:pt>
  </dgm:ptLst>
  <dgm:cxnLst>
    <dgm:cxn modelId="{35DAF31C-6BEB-4FB9-BAEE-04BC3E9C3C8B}" type="presOf" srcId="{42A3D402-D1DD-4F82-A70B-8DD03FAF2417}" destId="{6E184022-EF08-4A20-A19D-9FAF037CEEC5}" srcOrd="0" destOrd="0" presId="urn:microsoft.com/office/officeart/2005/8/layout/vList2"/>
    <dgm:cxn modelId="{52E2637A-C99A-45D0-89F3-00ED425BD1BC}" srcId="{42D5EAC9-FDFC-46E9-BF4E-DD133F3A1012}" destId="{619351FB-AF73-468D-8B67-AF4EF1D0FF55}" srcOrd="0" destOrd="0" parTransId="{F9871328-9541-46D2-BD16-7BF2344EC616}" sibTransId="{1057BC57-24A3-4AAE-B715-69E8446AA0F0}"/>
    <dgm:cxn modelId="{3045EF7A-50C6-42D7-9FD1-FBE8DA828F80}" type="presOf" srcId="{42D5EAC9-FDFC-46E9-BF4E-DD133F3A1012}" destId="{435EE382-D95B-4AF7-86A7-9E900551C411}" srcOrd="0" destOrd="0" presId="urn:microsoft.com/office/officeart/2005/8/layout/vList2"/>
    <dgm:cxn modelId="{BED2E88C-D2FF-4BEA-B3E8-83415D242D1C}" type="presOf" srcId="{619351FB-AF73-468D-8B67-AF4EF1D0FF55}" destId="{A3C7D211-8EEB-474C-A51A-DDB3D2468ED3}" srcOrd="0" destOrd="0" presId="urn:microsoft.com/office/officeart/2005/8/layout/vList2"/>
    <dgm:cxn modelId="{D7BDE996-0954-42B0-A131-2978BD0247AB}" srcId="{42D5EAC9-FDFC-46E9-BF4E-DD133F3A1012}" destId="{42A3D402-D1DD-4F82-A70B-8DD03FAF2417}" srcOrd="2" destOrd="0" parTransId="{0E676B42-F715-404B-934B-F616EDBBCF97}" sibTransId="{6BCFB55E-9246-4D97-A95E-1223464F06FF}"/>
    <dgm:cxn modelId="{FE5830EE-3FE4-4357-AEE8-A68AE3A24A0E}" srcId="{42D5EAC9-FDFC-46E9-BF4E-DD133F3A1012}" destId="{EE7DE08B-44DA-4658-AE43-AA48FD528950}" srcOrd="1" destOrd="0" parTransId="{B6D7D318-705B-43A0-9A84-3E1D444F53AC}" sibTransId="{59DA233B-E749-437B-975A-38969D8C4E9D}"/>
    <dgm:cxn modelId="{54977BFE-3900-4DD0-BC01-26159CEBBF9A}" type="presOf" srcId="{EE7DE08B-44DA-4658-AE43-AA48FD528950}" destId="{63954066-DAF7-4B13-B3A7-6356F70822AA}" srcOrd="0" destOrd="0" presId="urn:microsoft.com/office/officeart/2005/8/layout/vList2"/>
    <dgm:cxn modelId="{D3EE5BE6-1067-49C4-9BAA-EFE3E09E8380}" type="presParOf" srcId="{435EE382-D95B-4AF7-86A7-9E900551C411}" destId="{A3C7D211-8EEB-474C-A51A-DDB3D2468ED3}" srcOrd="0" destOrd="0" presId="urn:microsoft.com/office/officeart/2005/8/layout/vList2"/>
    <dgm:cxn modelId="{2CA5F2DA-6107-4A14-8837-E52C6DCC1108}" type="presParOf" srcId="{435EE382-D95B-4AF7-86A7-9E900551C411}" destId="{CB1D25BE-6BD0-4227-8038-29CC086A4289}" srcOrd="1" destOrd="0" presId="urn:microsoft.com/office/officeart/2005/8/layout/vList2"/>
    <dgm:cxn modelId="{D08FFBE1-E032-4500-AB34-2F149BF069D7}" type="presParOf" srcId="{435EE382-D95B-4AF7-86A7-9E900551C411}" destId="{63954066-DAF7-4B13-B3A7-6356F70822AA}" srcOrd="2" destOrd="0" presId="urn:microsoft.com/office/officeart/2005/8/layout/vList2"/>
    <dgm:cxn modelId="{A648C95F-FB72-482D-90AC-E3A740E585A9}" type="presParOf" srcId="{435EE382-D95B-4AF7-86A7-9E900551C411}" destId="{75ABC2EE-FE1D-4298-BAEF-81D17F339006}" srcOrd="3" destOrd="0" presId="urn:microsoft.com/office/officeart/2005/8/layout/vList2"/>
    <dgm:cxn modelId="{29E22FA1-F6C3-419A-865C-0444035DBA5C}" type="presParOf" srcId="{435EE382-D95B-4AF7-86A7-9E900551C411}" destId="{6E184022-EF08-4A20-A19D-9FAF037CEEC5}" srcOrd="4"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FF8993E3-4809-43AB-AAA7-DF1648FD3E52}" type="doc">
      <dgm:prSet loTypeId="urn:microsoft.com/office/officeart/2005/8/layout/vList2" loCatId="list" qsTypeId="urn:microsoft.com/office/officeart/2005/8/quickstyle/simple1" qsCatId="simple" csTypeId="urn:microsoft.com/office/officeart/2005/8/colors/accent2_2" csCatId="accent2"/>
      <dgm:spPr/>
      <dgm:t>
        <a:bodyPr/>
        <a:lstStyle/>
        <a:p>
          <a:endParaRPr lang="zh-CN" altLang="en-US"/>
        </a:p>
      </dgm:t>
    </dgm:pt>
    <dgm:pt modelId="{41901179-90CA-4D81-A84B-CB64E1B1DAEE}">
      <dgm:prSet custT="1"/>
      <dgm:spPr/>
      <dgm:t>
        <a:bodyPr/>
        <a:lstStyle/>
        <a:p>
          <a:pPr algn="l"/>
          <a:r>
            <a:rPr lang="zh-CN" sz="1400" b="1" dirty="0">
              <a:latin typeface="+mj-ea"/>
              <a:ea typeface="+mj-ea"/>
            </a:rPr>
            <a:t>资本溢价 </a:t>
          </a:r>
          <a:r>
            <a:rPr lang="en-US" sz="1400" b="1" dirty="0">
              <a:latin typeface="+mj-ea"/>
              <a:ea typeface="+mj-ea"/>
            </a:rPr>
            <a:t>(Valuation Premium)</a:t>
          </a:r>
          <a:r>
            <a:rPr lang="zh-CN" sz="1400" b="1" dirty="0">
              <a:latin typeface="+mj-ea"/>
              <a:ea typeface="+mj-ea"/>
            </a:rPr>
            <a:t>：从成本中心跃迁为资产增值引擎。</a:t>
          </a:r>
        </a:p>
      </dgm:t>
    </dgm:pt>
    <dgm:pt modelId="{C34A096A-0CF0-480D-9536-DBF299737335}" type="parTrans" cxnId="{9F776285-747E-4170-8530-90FDB51547EC}">
      <dgm:prSet/>
      <dgm:spPr/>
      <dgm:t>
        <a:bodyPr/>
        <a:lstStyle/>
        <a:p>
          <a:pPr algn="l"/>
          <a:endParaRPr lang="zh-CN" altLang="en-US" sz="1400" b="1">
            <a:latin typeface="+mj-ea"/>
            <a:ea typeface="+mj-ea"/>
          </a:endParaRPr>
        </a:p>
      </dgm:t>
    </dgm:pt>
    <dgm:pt modelId="{C0AA836B-484B-4AEA-82A2-B34106440DBD}" type="sibTrans" cxnId="{9F776285-747E-4170-8530-90FDB51547EC}">
      <dgm:prSet/>
      <dgm:spPr/>
      <dgm:t>
        <a:bodyPr/>
        <a:lstStyle/>
        <a:p>
          <a:pPr algn="l"/>
          <a:endParaRPr lang="zh-CN" altLang="en-US" sz="1400" b="1">
            <a:latin typeface="+mj-ea"/>
            <a:ea typeface="+mj-ea"/>
          </a:endParaRPr>
        </a:p>
      </dgm:t>
    </dgm:pt>
    <dgm:pt modelId="{BEB17953-45EB-450B-A2C6-E2774FE8FC33}">
      <dgm:prSet custT="1"/>
      <dgm:spPr/>
      <dgm:t>
        <a:bodyPr/>
        <a:lstStyle/>
        <a:p>
          <a:pPr algn="l"/>
          <a:r>
            <a:rPr lang="zh-CN" sz="1400" b="1">
              <a:latin typeface="+mj-ea"/>
              <a:ea typeface="+mj-ea"/>
            </a:rPr>
            <a:t>市场统治力 </a:t>
          </a:r>
          <a:r>
            <a:rPr lang="en-US" sz="1400" b="1">
              <a:latin typeface="+mj-ea"/>
              <a:ea typeface="+mj-ea"/>
            </a:rPr>
            <a:t>(Market Dominance)</a:t>
          </a:r>
          <a:r>
            <a:rPr lang="zh-CN" sz="1400" b="1">
              <a:latin typeface="+mj-ea"/>
              <a:ea typeface="+mj-ea"/>
            </a:rPr>
            <a:t>：用确定性交付碾压竞争对手。</a:t>
          </a:r>
        </a:p>
      </dgm:t>
    </dgm:pt>
    <dgm:pt modelId="{BC7A792A-4296-4504-9A19-F7AF0F438C6E}" type="parTrans" cxnId="{E5BFA4C1-59FF-4EB0-B507-693018F0036B}">
      <dgm:prSet/>
      <dgm:spPr/>
      <dgm:t>
        <a:bodyPr/>
        <a:lstStyle/>
        <a:p>
          <a:pPr algn="l"/>
          <a:endParaRPr lang="zh-CN" altLang="en-US" sz="1400" b="1">
            <a:latin typeface="+mj-ea"/>
            <a:ea typeface="+mj-ea"/>
          </a:endParaRPr>
        </a:p>
      </dgm:t>
    </dgm:pt>
    <dgm:pt modelId="{F0BDC742-1571-4581-824B-5079D9872D2C}" type="sibTrans" cxnId="{E5BFA4C1-59FF-4EB0-B507-693018F0036B}">
      <dgm:prSet/>
      <dgm:spPr/>
      <dgm:t>
        <a:bodyPr/>
        <a:lstStyle/>
        <a:p>
          <a:pPr algn="l"/>
          <a:endParaRPr lang="zh-CN" altLang="en-US" sz="1400" b="1">
            <a:latin typeface="+mj-ea"/>
            <a:ea typeface="+mj-ea"/>
          </a:endParaRPr>
        </a:p>
      </dgm:t>
    </dgm:pt>
    <dgm:pt modelId="{FEDED4B2-FBA0-4BA1-8839-1465629A948E}">
      <dgm:prSet custT="1"/>
      <dgm:spPr/>
      <dgm:t>
        <a:bodyPr/>
        <a:lstStyle/>
        <a:p>
          <a:pPr algn="l"/>
          <a:r>
            <a:rPr lang="zh-CN" sz="1400" b="1">
              <a:latin typeface="+mj-ea"/>
              <a:ea typeface="+mj-ea"/>
            </a:rPr>
            <a:t>自由现金流 </a:t>
          </a:r>
          <a:r>
            <a:rPr lang="en-US" sz="1400" b="1">
              <a:latin typeface="+mj-ea"/>
              <a:ea typeface="+mj-ea"/>
            </a:rPr>
            <a:t>(Free Cash Flow)</a:t>
          </a:r>
          <a:r>
            <a:rPr lang="zh-CN" sz="1400" b="1">
              <a:latin typeface="+mj-ea"/>
              <a:ea typeface="+mj-ea"/>
            </a:rPr>
            <a:t>：库存周转与交付效率的双重飞跃。</a:t>
          </a:r>
        </a:p>
      </dgm:t>
    </dgm:pt>
    <dgm:pt modelId="{D58000C9-4445-4EED-983E-28B16EE5F266}" type="parTrans" cxnId="{22703AA8-8B28-476D-8308-08F05C5AAE7E}">
      <dgm:prSet/>
      <dgm:spPr/>
      <dgm:t>
        <a:bodyPr/>
        <a:lstStyle/>
        <a:p>
          <a:pPr algn="l"/>
          <a:endParaRPr lang="zh-CN" altLang="en-US" sz="1400" b="1">
            <a:latin typeface="+mj-ea"/>
            <a:ea typeface="+mj-ea"/>
          </a:endParaRPr>
        </a:p>
      </dgm:t>
    </dgm:pt>
    <dgm:pt modelId="{0C25141C-E370-4240-8544-372E75C78AE6}" type="sibTrans" cxnId="{22703AA8-8B28-476D-8308-08F05C5AAE7E}">
      <dgm:prSet/>
      <dgm:spPr/>
      <dgm:t>
        <a:bodyPr/>
        <a:lstStyle/>
        <a:p>
          <a:pPr algn="l"/>
          <a:endParaRPr lang="zh-CN" altLang="en-US" sz="1400" b="1">
            <a:latin typeface="+mj-ea"/>
            <a:ea typeface="+mj-ea"/>
          </a:endParaRPr>
        </a:p>
      </dgm:t>
    </dgm:pt>
    <dgm:pt modelId="{A9789822-B676-49F2-B747-E468CA44B1C6}" type="pres">
      <dgm:prSet presAssocID="{FF8993E3-4809-43AB-AAA7-DF1648FD3E52}" presName="linear" presStyleCnt="0">
        <dgm:presLayoutVars>
          <dgm:animLvl val="lvl"/>
          <dgm:resizeHandles val="exact"/>
        </dgm:presLayoutVars>
      </dgm:prSet>
      <dgm:spPr/>
    </dgm:pt>
    <dgm:pt modelId="{25AC393B-0D5F-4860-9A47-D7A0E8BCB737}" type="pres">
      <dgm:prSet presAssocID="{41901179-90CA-4D81-A84B-CB64E1B1DAEE}" presName="parentText" presStyleLbl="node1" presStyleIdx="0" presStyleCnt="3">
        <dgm:presLayoutVars>
          <dgm:chMax val="0"/>
          <dgm:bulletEnabled val="1"/>
        </dgm:presLayoutVars>
      </dgm:prSet>
      <dgm:spPr/>
    </dgm:pt>
    <dgm:pt modelId="{4AB7D188-3130-4312-B9C4-F91C78981DCF}" type="pres">
      <dgm:prSet presAssocID="{C0AA836B-484B-4AEA-82A2-B34106440DBD}" presName="spacer" presStyleCnt="0"/>
      <dgm:spPr/>
    </dgm:pt>
    <dgm:pt modelId="{1BD6CB4D-1721-4ECF-8628-7264C7AB0D61}" type="pres">
      <dgm:prSet presAssocID="{BEB17953-45EB-450B-A2C6-E2774FE8FC33}" presName="parentText" presStyleLbl="node1" presStyleIdx="1" presStyleCnt="3">
        <dgm:presLayoutVars>
          <dgm:chMax val="0"/>
          <dgm:bulletEnabled val="1"/>
        </dgm:presLayoutVars>
      </dgm:prSet>
      <dgm:spPr/>
    </dgm:pt>
    <dgm:pt modelId="{FDFE4A1F-79B7-4DF0-AF3E-B3AF5420F6F4}" type="pres">
      <dgm:prSet presAssocID="{F0BDC742-1571-4581-824B-5079D9872D2C}" presName="spacer" presStyleCnt="0"/>
      <dgm:spPr/>
    </dgm:pt>
    <dgm:pt modelId="{3F5520B7-5153-4303-A6CC-4D538582EDD3}" type="pres">
      <dgm:prSet presAssocID="{FEDED4B2-FBA0-4BA1-8839-1465629A948E}" presName="parentText" presStyleLbl="node1" presStyleIdx="2" presStyleCnt="3">
        <dgm:presLayoutVars>
          <dgm:chMax val="0"/>
          <dgm:bulletEnabled val="1"/>
        </dgm:presLayoutVars>
      </dgm:prSet>
      <dgm:spPr/>
    </dgm:pt>
  </dgm:ptLst>
  <dgm:cxnLst>
    <dgm:cxn modelId="{9AEB7C0F-5DCA-4B3B-A03E-9B5153203BB6}" type="presOf" srcId="{FEDED4B2-FBA0-4BA1-8839-1465629A948E}" destId="{3F5520B7-5153-4303-A6CC-4D538582EDD3}" srcOrd="0" destOrd="0" presId="urn:microsoft.com/office/officeart/2005/8/layout/vList2"/>
    <dgm:cxn modelId="{FD8D7A28-F0B8-4529-9AFE-1511AAC42431}" type="presOf" srcId="{41901179-90CA-4D81-A84B-CB64E1B1DAEE}" destId="{25AC393B-0D5F-4860-9A47-D7A0E8BCB737}" srcOrd="0" destOrd="0" presId="urn:microsoft.com/office/officeart/2005/8/layout/vList2"/>
    <dgm:cxn modelId="{A1AA3783-4A26-4965-B6E5-FE8DB548FBAB}" type="presOf" srcId="{FF8993E3-4809-43AB-AAA7-DF1648FD3E52}" destId="{A9789822-B676-49F2-B747-E468CA44B1C6}" srcOrd="0" destOrd="0" presId="urn:microsoft.com/office/officeart/2005/8/layout/vList2"/>
    <dgm:cxn modelId="{9F776285-747E-4170-8530-90FDB51547EC}" srcId="{FF8993E3-4809-43AB-AAA7-DF1648FD3E52}" destId="{41901179-90CA-4D81-A84B-CB64E1B1DAEE}" srcOrd="0" destOrd="0" parTransId="{C34A096A-0CF0-480D-9536-DBF299737335}" sibTransId="{C0AA836B-484B-4AEA-82A2-B34106440DBD}"/>
    <dgm:cxn modelId="{22703AA8-8B28-476D-8308-08F05C5AAE7E}" srcId="{FF8993E3-4809-43AB-AAA7-DF1648FD3E52}" destId="{FEDED4B2-FBA0-4BA1-8839-1465629A948E}" srcOrd="2" destOrd="0" parTransId="{D58000C9-4445-4EED-983E-28B16EE5F266}" sibTransId="{0C25141C-E370-4240-8544-372E75C78AE6}"/>
    <dgm:cxn modelId="{E5BFA4C1-59FF-4EB0-B507-693018F0036B}" srcId="{FF8993E3-4809-43AB-AAA7-DF1648FD3E52}" destId="{BEB17953-45EB-450B-A2C6-E2774FE8FC33}" srcOrd="1" destOrd="0" parTransId="{BC7A792A-4296-4504-9A19-F7AF0F438C6E}" sibTransId="{F0BDC742-1571-4581-824B-5079D9872D2C}"/>
    <dgm:cxn modelId="{5578DBF9-4CF9-4E65-95B9-F3A8ED532FC6}" type="presOf" srcId="{BEB17953-45EB-450B-A2C6-E2774FE8FC33}" destId="{1BD6CB4D-1721-4ECF-8628-7264C7AB0D61}" srcOrd="0" destOrd="0" presId="urn:microsoft.com/office/officeart/2005/8/layout/vList2"/>
    <dgm:cxn modelId="{C1F5E195-FDDB-470B-B7FF-384C5CA34DFE}" type="presParOf" srcId="{A9789822-B676-49F2-B747-E468CA44B1C6}" destId="{25AC393B-0D5F-4860-9A47-D7A0E8BCB737}" srcOrd="0" destOrd="0" presId="urn:microsoft.com/office/officeart/2005/8/layout/vList2"/>
    <dgm:cxn modelId="{B99D91A6-F9F9-42FA-B5E3-70285C713A98}" type="presParOf" srcId="{A9789822-B676-49F2-B747-E468CA44B1C6}" destId="{4AB7D188-3130-4312-B9C4-F91C78981DCF}" srcOrd="1" destOrd="0" presId="urn:microsoft.com/office/officeart/2005/8/layout/vList2"/>
    <dgm:cxn modelId="{6851F3CF-3F51-4DBC-97E3-F4ACC0BBFFC4}" type="presParOf" srcId="{A9789822-B676-49F2-B747-E468CA44B1C6}" destId="{1BD6CB4D-1721-4ECF-8628-7264C7AB0D61}" srcOrd="2" destOrd="0" presId="urn:microsoft.com/office/officeart/2005/8/layout/vList2"/>
    <dgm:cxn modelId="{745ECC64-7B78-4FEB-ABDD-9A509B89E24D}" type="presParOf" srcId="{A9789822-B676-49F2-B747-E468CA44B1C6}" destId="{FDFE4A1F-79B7-4DF0-AF3E-B3AF5420F6F4}" srcOrd="3" destOrd="0" presId="urn:microsoft.com/office/officeart/2005/8/layout/vList2"/>
    <dgm:cxn modelId="{80328FD1-1ACD-47EF-BE11-0B00811EDBB3}" type="presParOf" srcId="{A9789822-B676-49F2-B747-E468CA44B1C6}" destId="{3F5520B7-5153-4303-A6CC-4D538582EDD3}" srcOrd="4" destOrd="0" presId="urn:microsoft.com/office/officeart/2005/8/layout/vList2"/>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82198F98-ED8E-4DBB-90C1-4C7AD7B39D6D}" type="doc">
      <dgm:prSet loTypeId="urn:microsoft.com/office/officeart/2005/8/layout/hList1" loCatId="list" qsTypeId="urn:microsoft.com/office/officeart/2005/8/quickstyle/simple1" qsCatId="simple" csTypeId="urn:microsoft.com/office/officeart/2005/8/colors/accent1_2" csCatId="accent1" phldr="1"/>
      <dgm:spPr/>
      <dgm:t>
        <a:bodyPr/>
        <a:lstStyle/>
        <a:p>
          <a:endParaRPr lang="zh-CN" altLang="en-US"/>
        </a:p>
      </dgm:t>
    </dgm:pt>
    <dgm:pt modelId="{67541E00-8DD4-4110-A1CD-E47CFD4FBC2D}">
      <dgm:prSet custT="1"/>
      <dgm:spPr/>
      <dgm:t>
        <a:bodyPr/>
        <a:lstStyle/>
        <a:p>
          <a:r>
            <a:rPr lang="en-US" sz="1600" b="1">
              <a:latin typeface="+mj-ea"/>
              <a:ea typeface="+mj-ea"/>
            </a:rPr>
            <a:t>One Plan</a:t>
          </a:r>
          <a:r>
            <a:rPr lang="zh-CN" sz="1600" b="1">
              <a:latin typeface="+mj-ea"/>
              <a:ea typeface="+mj-ea"/>
            </a:rPr>
            <a:t>：构建了横纵协同的神经中枢</a:t>
          </a:r>
          <a:endParaRPr lang="zh-CN" sz="1600">
            <a:latin typeface="+mj-ea"/>
            <a:ea typeface="+mj-ea"/>
          </a:endParaRPr>
        </a:p>
      </dgm:t>
    </dgm:pt>
    <dgm:pt modelId="{6A787668-4C6B-4B06-841F-6CBE7B558A8C}" type="parTrans" cxnId="{F0B705B8-BDCE-431D-99E3-250596285EA6}">
      <dgm:prSet/>
      <dgm:spPr/>
      <dgm:t>
        <a:bodyPr/>
        <a:lstStyle/>
        <a:p>
          <a:endParaRPr lang="zh-CN" altLang="en-US"/>
        </a:p>
      </dgm:t>
    </dgm:pt>
    <dgm:pt modelId="{0E68DB6C-5C73-4F2A-B75C-E873093006C2}" type="sibTrans" cxnId="{F0B705B8-BDCE-431D-99E3-250596285EA6}">
      <dgm:prSet/>
      <dgm:spPr/>
      <dgm:t>
        <a:bodyPr/>
        <a:lstStyle/>
        <a:p>
          <a:endParaRPr lang="zh-CN" altLang="en-US"/>
        </a:p>
      </dgm:t>
    </dgm:pt>
    <dgm:pt modelId="{FBAB2A16-CB95-4AD5-826F-53CC1CFF9C38}">
      <dgm:prSet/>
      <dgm:spPr/>
      <dgm:t>
        <a:bodyPr/>
        <a:lstStyle/>
        <a:p>
          <a:r>
            <a:rPr lang="en-US" b="0" dirty="0">
              <a:latin typeface="+mj-ea"/>
              <a:ea typeface="+mj-ea"/>
            </a:rPr>
            <a:t>One Plan</a:t>
          </a:r>
          <a:r>
            <a:rPr lang="zh-CN" b="0" dirty="0">
              <a:latin typeface="+mj-ea"/>
              <a:ea typeface="+mj-ea"/>
            </a:rPr>
            <a:t>通过建立从战略到执行、从供应商到客户的数字孪生与因果链，赋予了企业核心的智能决策能力。这意味着企业不再依赖经验猜测，而是能够：</a:t>
          </a:r>
          <a:endParaRPr lang="zh-CN" dirty="0">
            <a:latin typeface="+mj-ea"/>
            <a:ea typeface="+mj-ea"/>
          </a:endParaRPr>
        </a:p>
      </dgm:t>
    </dgm:pt>
    <dgm:pt modelId="{75EF8626-2E9B-4F17-9E68-25074252DCFC}" type="parTrans" cxnId="{BFCB8510-DD66-4D3E-8E08-16A7FEB09D6F}">
      <dgm:prSet/>
      <dgm:spPr/>
      <dgm:t>
        <a:bodyPr/>
        <a:lstStyle/>
        <a:p>
          <a:endParaRPr lang="zh-CN" altLang="en-US"/>
        </a:p>
      </dgm:t>
    </dgm:pt>
    <dgm:pt modelId="{416F9145-7E09-42C8-8646-7D3C4DF2A093}" type="sibTrans" cxnId="{BFCB8510-DD66-4D3E-8E08-16A7FEB09D6F}">
      <dgm:prSet/>
      <dgm:spPr/>
      <dgm:t>
        <a:bodyPr/>
        <a:lstStyle/>
        <a:p>
          <a:endParaRPr lang="zh-CN" altLang="en-US"/>
        </a:p>
      </dgm:t>
    </dgm:pt>
    <dgm:pt modelId="{F15B2547-8890-4DCB-A73B-BF571D63F1BA}">
      <dgm:prSet/>
      <dgm:spPr/>
      <dgm:t>
        <a:bodyPr/>
        <a:lstStyle/>
        <a:p>
          <a:r>
            <a:rPr lang="zh-CN" b="0" i="0" dirty="0">
              <a:latin typeface="+mj-ea"/>
              <a:ea typeface="+mj-ea"/>
            </a:rPr>
            <a:t>​</a:t>
          </a:r>
          <a:r>
            <a:rPr lang="zh-CN" b="1" i="0" dirty="0">
              <a:latin typeface="+mj-ea"/>
              <a:ea typeface="+mj-ea"/>
            </a:rPr>
            <a:t>进行预测（</a:t>
          </a:r>
          <a:r>
            <a:rPr lang="en-US" b="1" i="0" dirty="0">
              <a:latin typeface="+mj-ea"/>
              <a:ea typeface="+mj-ea"/>
            </a:rPr>
            <a:t>Predict</a:t>
          </a:r>
          <a:r>
            <a:rPr lang="zh-CN" b="1" i="0" dirty="0">
              <a:latin typeface="+mj-ea"/>
              <a:ea typeface="+mj-ea"/>
            </a:rPr>
            <a:t>）​</a:t>
          </a:r>
          <a:r>
            <a:rPr lang="zh-CN" b="0" i="0" dirty="0">
              <a:latin typeface="+mj-ea"/>
              <a:ea typeface="+mj-ea"/>
            </a:rPr>
            <a:t>​：基于数据模型前瞻性地制定计划。</a:t>
          </a:r>
          <a:endParaRPr lang="zh-CN" dirty="0">
            <a:latin typeface="+mj-ea"/>
            <a:ea typeface="+mj-ea"/>
          </a:endParaRPr>
        </a:p>
      </dgm:t>
    </dgm:pt>
    <dgm:pt modelId="{44BB9B65-27C0-47C6-85BD-50CEC002830D}" type="parTrans" cxnId="{B692082C-EC08-4075-B4CE-04C8F66E7F62}">
      <dgm:prSet/>
      <dgm:spPr/>
      <dgm:t>
        <a:bodyPr/>
        <a:lstStyle/>
        <a:p>
          <a:endParaRPr lang="zh-CN" altLang="en-US"/>
        </a:p>
      </dgm:t>
    </dgm:pt>
    <dgm:pt modelId="{17CC9815-EDB8-4716-942A-4CB98C9B8350}" type="sibTrans" cxnId="{B692082C-EC08-4075-B4CE-04C8F66E7F62}">
      <dgm:prSet/>
      <dgm:spPr/>
      <dgm:t>
        <a:bodyPr/>
        <a:lstStyle/>
        <a:p>
          <a:endParaRPr lang="zh-CN" altLang="en-US"/>
        </a:p>
      </dgm:t>
    </dgm:pt>
    <dgm:pt modelId="{18688DA1-0BAB-403A-8303-57C39FFE513A}">
      <dgm:prSet/>
      <dgm:spPr/>
      <dgm:t>
        <a:bodyPr/>
        <a:lstStyle/>
        <a:p>
          <a:r>
            <a:rPr lang="zh-CN" b="0" i="0" dirty="0">
              <a:latin typeface="+mj-ea"/>
              <a:ea typeface="+mj-ea"/>
            </a:rPr>
            <a:t>​</a:t>
          </a:r>
          <a:r>
            <a:rPr lang="zh-CN" b="1" i="0" dirty="0">
              <a:latin typeface="+mj-ea"/>
              <a:ea typeface="+mj-ea"/>
            </a:rPr>
            <a:t>追溯根因（</a:t>
          </a:r>
          <a:r>
            <a:rPr lang="en-US" b="1" i="0" dirty="0">
              <a:latin typeface="+mj-ea"/>
              <a:ea typeface="+mj-ea"/>
            </a:rPr>
            <a:t>Root Cause Analysis</a:t>
          </a:r>
          <a:r>
            <a:rPr lang="zh-CN" b="1" i="0" dirty="0">
              <a:latin typeface="+mj-ea"/>
              <a:ea typeface="+mj-ea"/>
            </a:rPr>
            <a:t>）​</a:t>
          </a:r>
          <a:r>
            <a:rPr lang="zh-CN" b="0" i="0" dirty="0">
              <a:latin typeface="+mj-ea"/>
              <a:ea typeface="+mj-ea"/>
            </a:rPr>
            <a:t>​：快速定位问题的本质。</a:t>
          </a:r>
          <a:endParaRPr lang="zh-CN" dirty="0">
            <a:latin typeface="+mj-ea"/>
            <a:ea typeface="+mj-ea"/>
          </a:endParaRPr>
        </a:p>
      </dgm:t>
    </dgm:pt>
    <dgm:pt modelId="{67BE79E2-B433-4550-BF20-3EA68F4ADD1C}" type="parTrans" cxnId="{6AF5FFD9-BCF0-4F34-9A67-D01B70D5BC3C}">
      <dgm:prSet/>
      <dgm:spPr/>
      <dgm:t>
        <a:bodyPr/>
        <a:lstStyle/>
        <a:p>
          <a:endParaRPr lang="zh-CN" altLang="en-US"/>
        </a:p>
      </dgm:t>
    </dgm:pt>
    <dgm:pt modelId="{02A099E0-C7FE-4C87-92CB-1501C8F23E84}" type="sibTrans" cxnId="{6AF5FFD9-BCF0-4F34-9A67-D01B70D5BC3C}">
      <dgm:prSet/>
      <dgm:spPr/>
      <dgm:t>
        <a:bodyPr/>
        <a:lstStyle/>
        <a:p>
          <a:endParaRPr lang="zh-CN" altLang="en-US"/>
        </a:p>
      </dgm:t>
    </dgm:pt>
    <dgm:pt modelId="{02B0525B-A19F-4FDC-92EB-A5E0D4E99EE9}">
      <dgm:prSet/>
      <dgm:spPr/>
      <dgm:t>
        <a:bodyPr/>
        <a:lstStyle/>
        <a:p>
          <a:r>
            <a:rPr lang="zh-CN" b="0" i="0" dirty="0">
              <a:latin typeface="+mj-ea"/>
              <a:ea typeface="+mj-ea"/>
            </a:rPr>
            <a:t>​</a:t>
          </a:r>
          <a:r>
            <a:rPr lang="zh-CN" b="1" i="0" dirty="0">
              <a:latin typeface="+mj-ea"/>
              <a:ea typeface="+mj-ea"/>
            </a:rPr>
            <a:t>权衡优化（</a:t>
          </a:r>
          <a:r>
            <a:rPr lang="en-US" b="1" i="0" dirty="0">
              <a:latin typeface="+mj-ea"/>
              <a:ea typeface="+mj-ea"/>
            </a:rPr>
            <a:t>Trade-off</a:t>
          </a:r>
          <a:r>
            <a:rPr lang="zh-CN" b="1" i="0" dirty="0">
              <a:latin typeface="+mj-ea"/>
              <a:ea typeface="+mj-ea"/>
            </a:rPr>
            <a:t>）​</a:t>
          </a:r>
          <a:r>
            <a:rPr lang="zh-CN" b="0" i="0" dirty="0">
              <a:latin typeface="+mj-ea"/>
              <a:ea typeface="+mj-ea"/>
            </a:rPr>
            <a:t>​：在多目标冲突中找到全局最优解。</a:t>
          </a:r>
          <a:endParaRPr lang="zh-CN" dirty="0">
            <a:latin typeface="+mj-ea"/>
            <a:ea typeface="+mj-ea"/>
          </a:endParaRPr>
        </a:p>
      </dgm:t>
    </dgm:pt>
    <dgm:pt modelId="{4B2C2AD5-7B2A-4233-8259-8BB185E078C3}" type="parTrans" cxnId="{EE1C987D-BAD3-4E63-8BF4-07B6E9558442}">
      <dgm:prSet/>
      <dgm:spPr/>
      <dgm:t>
        <a:bodyPr/>
        <a:lstStyle/>
        <a:p>
          <a:endParaRPr lang="zh-CN" altLang="en-US"/>
        </a:p>
      </dgm:t>
    </dgm:pt>
    <dgm:pt modelId="{2D48E5B2-6E66-4C23-9137-53A649A62ADF}" type="sibTrans" cxnId="{EE1C987D-BAD3-4E63-8BF4-07B6E9558442}">
      <dgm:prSet/>
      <dgm:spPr/>
      <dgm:t>
        <a:bodyPr/>
        <a:lstStyle/>
        <a:p>
          <a:endParaRPr lang="zh-CN" altLang="en-US"/>
        </a:p>
      </dgm:t>
    </dgm:pt>
    <dgm:pt modelId="{B1FAF863-F666-461B-8C6A-1B58F3BF6578}">
      <dgm:prSet/>
      <dgm:spPr/>
      <dgm:t>
        <a:bodyPr/>
        <a:lstStyle/>
        <a:p>
          <a:r>
            <a:rPr lang="zh-CN" b="0" i="0" dirty="0">
              <a:latin typeface="+mj-ea"/>
              <a:ea typeface="+mj-ea"/>
            </a:rPr>
            <a:t>​</a:t>
          </a:r>
          <a:r>
            <a:rPr lang="zh-CN" b="1" i="0" dirty="0">
              <a:latin typeface="+mj-ea"/>
              <a:ea typeface="+mj-ea"/>
            </a:rPr>
            <a:t>动态学习改进</a:t>
          </a:r>
          <a:r>
            <a:rPr lang="zh-CN" b="0" i="0" dirty="0">
              <a:latin typeface="+mj-ea"/>
              <a:ea typeface="+mj-ea"/>
            </a:rPr>
            <a:t>​：持续优化运营。</a:t>
          </a:r>
          <a:endParaRPr lang="zh-CN" dirty="0">
            <a:latin typeface="+mj-ea"/>
            <a:ea typeface="+mj-ea"/>
          </a:endParaRPr>
        </a:p>
      </dgm:t>
    </dgm:pt>
    <dgm:pt modelId="{58AB1C04-1521-416B-AD98-C7E58670622B}" type="parTrans" cxnId="{3B0815FB-F07E-4A2A-BBF3-F03F2672849F}">
      <dgm:prSet/>
      <dgm:spPr/>
      <dgm:t>
        <a:bodyPr/>
        <a:lstStyle/>
        <a:p>
          <a:endParaRPr lang="zh-CN" altLang="en-US"/>
        </a:p>
      </dgm:t>
    </dgm:pt>
    <dgm:pt modelId="{D6C2F72F-BFCE-4B35-801A-962F5F3C0284}" type="sibTrans" cxnId="{3B0815FB-F07E-4A2A-BBF3-F03F2672849F}">
      <dgm:prSet/>
      <dgm:spPr/>
      <dgm:t>
        <a:bodyPr/>
        <a:lstStyle/>
        <a:p>
          <a:endParaRPr lang="zh-CN" altLang="en-US"/>
        </a:p>
      </dgm:t>
    </dgm:pt>
    <dgm:pt modelId="{FEAC1322-3F54-43D2-A5CF-E1FA874A0476}">
      <dgm:prSet/>
      <dgm:spPr/>
      <dgm:t>
        <a:bodyPr/>
        <a:lstStyle/>
        <a:p>
          <a:r>
            <a:rPr lang="zh-CN" b="1" dirty="0">
              <a:latin typeface="+mj-ea"/>
              <a:ea typeface="+mj-ea"/>
            </a:rPr>
            <a:t>（此时，</a:t>
          </a:r>
          <a:r>
            <a:rPr lang="en-US" b="1" dirty="0">
              <a:latin typeface="+mj-ea"/>
              <a:ea typeface="+mj-ea"/>
            </a:rPr>
            <a:t>One Plan</a:t>
          </a:r>
          <a:r>
            <a:rPr lang="zh-CN" b="1" dirty="0">
              <a:latin typeface="+mj-ea"/>
              <a:ea typeface="+mj-ea"/>
            </a:rPr>
            <a:t>是强大的，但其价值仍隐藏在复杂的算法和数据模型中。）​</a:t>
          </a:r>
          <a:r>
            <a:rPr lang="zh-CN" b="0" dirty="0">
              <a:latin typeface="+mj-ea"/>
              <a:ea typeface="+mj-ea"/>
            </a:rPr>
            <a:t>​</a:t>
          </a:r>
          <a:endParaRPr lang="zh-CN" dirty="0">
            <a:latin typeface="+mj-ea"/>
            <a:ea typeface="+mj-ea"/>
          </a:endParaRPr>
        </a:p>
      </dgm:t>
    </dgm:pt>
    <dgm:pt modelId="{1EDC50D7-F348-42FA-AC2F-07A1B6A1817F}" type="parTrans" cxnId="{63F863F2-4FBE-4A12-BF06-ACCBBAECE3F3}">
      <dgm:prSet/>
      <dgm:spPr/>
      <dgm:t>
        <a:bodyPr/>
        <a:lstStyle/>
        <a:p>
          <a:endParaRPr lang="zh-CN" altLang="en-US"/>
        </a:p>
      </dgm:t>
    </dgm:pt>
    <dgm:pt modelId="{08AA39DD-780D-4438-BC57-C3EA6B0027F2}" type="sibTrans" cxnId="{63F863F2-4FBE-4A12-BF06-ACCBBAECE3F3}">
      <dgm:prSet/>
      <dgm:spPr/>
      <dgm:t>
        <a:bodyPr/>
        <a:lstStyle/>
        <a:p>
          <a:endParaRPr lang="zh-CN" altLang="en-US"/>
        </a:p>
      </dgm:t>
    </dgm:pt>
    <dgm:pt modelId="{1333513F-FAC9-446F-A941-D4C2ABC93224}">
      <dgm:prSet custT="1"/>
      <dgm:spPr/>
      <dgm:t>
        <a:bodyPr/>
        <a:lstStyle/>
        <a:p>
          <a:r>
            <a:rPr lang="zh-CN" sz="1400" b="0" dirty="0">
              <a:latin typeface="+mj-ea"/>
              <a:ea typeface="+mj-ea"/>
            </a:rPr>
            <a:t>​</a:t>
          </a:r>
          <a:r>
            <a:rPr lang="en-US" sz="1400" b="1" dirty="0">
              <a:latin typeface="+mj-ea"/>
              <a:ea typeface="+mj-ea"/>
            </a:rPr>
            <a:t>Control Tower</a:t>
          </a:r>
          <a:r>
            <a:rPr lang="zh-CN" sz="1400" b="1" dirty="0">
              <a:latin typeface="+mj-ea"/>
              <a:ea typeface="+mj-ea"/>
            </a:rPr>
            <a:t>：不可或缺的“全局指挥中心”​</a:t>
          </a:r>
          <a:r>
            <a:rPr lang="zh-CN" sz="1400" b="0" dirty="0">
              <a:latin typeface="+mj-ea"/>
              <a:ea typeface="+mj-ea"/>
            </a:rPr>
            <a:t>​</a:t>
          </a:r>
          <a:endParaRPr lang="zh-CN" sz="1400" dirty="0">
            <a:latin typeface="+mj-ea"/>
            <a:ea typeface="+mj-ea"/>
          </a:endParaRPr>
        </a:p>
      </dgm:t>
    </dgm:pt>
    <dgm:pt modelId="{24BC4F85-0F6E-4E76-B700-59C0256B0298}" type="parTrans" cxnId="{5608C40F-E121-4272-92F5-90210B9D8E36}">
      <dgm:prSet/>
      <dgm:spPr/>
      <dgm:t>
        <a:bodyPr/>
        <a:lstStyle/>
        <a:p>
          <a:endParaRPr lang="zh-CN" altLang="en-US"/>
        </a:p>
      </dgm:t>
    </dgm:pt>
    <dgm:pt modelId="{4D960EF4-44D6-4B53-8FA6-B1FA30832C5A}" type="sibTrans" cxnId="{5608C40F-E121-4272-92F5-90210B9D8E36}">
      <dgm:prSet/>
      <dgm:spPr/>
      <dgm:t>
        <a:bodyPr/>
        <a:lstStyle/>
        <a:p>
          <a:endParaRPr lang="zh-CN" altLang="en-US"/>
        </a:p>
      </dgm:t>
    </dgm:pt>
    <dgm:pt modelId="{6D35C5E7-554A-4081-9EDE-DDBE6EA0BA61}">
      <dgm:prSet/>
      <dgm:spPr/>
      <dgm:t>
        <a:bodyPr/>
        <a:lstStyle/>
        <a:p>
          <a:r>
            <a:rPr lang="zh-CN" b="0" dirty="0">
              <a:latin typeface="+mj-ea"/>
              <a:ea typeface="+mj-ea"/>
            </a:rPr>
            <a:t>然而，一个再强大的“大脑”也需要与“躯干”和“四肢”高效协同。</a:t>
          </a:r>
          <a:r>
            <a:rPr lang="en-US" b="0" dirty="0">
              <a:latin typeface="+mj-ea"/>
              <a:ea typeface="+mj-ea"/>
            </a:rPr>
            <a:t>Control Tower</a:t>
          </a:r>
          <a:r>
            <a:rPr lang="zh-CN" b="0" dirty="0">
              <a:latin typeface="+mj-ea"/>
              <a:ea typeface="+mj-ea"/>
            </a:rPr>
            <a:t>正是将这个“智能大脑”的输出，转化为整个组织可理解、可执行的统一语言和指挥指令。它的关键价值在于：</a:t>
          </a:r>
          <a:endParaRPr lang="zh-CN" dirty="0">
            <a:latin typeface="+mj-ea"/>
            <a:ea typeface="+mj-ea"/>
          </a:endParaRPr>
        </a:p>
      </dgm:t>
    </dgm:pt>
    <dgm:pt modelId="{33331E02-AD6E-48C9-8329-C1DA7D8C8DCB}" type="parTrans" cxnId="{818C6DB7-C16E-4BF1-800D-7B8FF2116BDD}">
      <dgm:prSet/>
      <dgm:spPr/>
      <dgm:t>
        <a:bodyPr/>
        <a:lstStyle/>
        <a:p>
          <a:endParaRPr lang="zh-CN" altLang="en-US"/>
        </a:p>
      </dgm:t>
    </dgm:pt>
    <dgm:pt modelId="{463CF65D-24ED-49A7-9512-B6C27C3BEE1D}" type="sibTrans" cxnId="{818C6DB7-C16E-4BF1-800D-7B8FF2116BDD}">
      <dgm:prSet/>
      <dgm:spPr/>
      <dgm:t>
        <a:bodyPr/>
        <a:lstStyle/>
        <a:p>
          <a:endParaRPr lang="zh-CN" altLang="en-US"/>
        </a:p>
      </dgm:t>
    </dgm:pt>
    <dgm:pt modelId="{81415B03-02E3-4041-A0DB-1732E83FD359}">
      <dgm:prSet/>
      <dgm:spPr/>
      <dgm:t>
        <a:bodyPr/>
        <a:lstStyle/>
        <a:p>
          <a:r>
            <a:rPr lang="zh-CN" b="0" i="0" dirty="0">
              <a:latin typeface="+mj-ea"/>
              <a:ea typeface="+mj-ea"/>
            </a:rPr>
            <a:t>​</a:t>
          </a:r>
          <a:r>
            <a:rPr lang="zh-CN" b="1" i="0" dirty="0">
              <a:latin typeface="+mj-ea"/>
              <a:ea typeface="+mj-ea"/>
            </a:rPr>
            <a:t>​</a:t>
          </a:r>
          <a:r>
            <a:rPr lang="en-US" b="1" i="0" dirty="0">
              <a:latin typeface="+mj-ea"/>
              <a:ea typeface="+mj-ea"/>
            </a:rPr>
            <a:t>【</a:t>
          </a:r>
          <a:r>
            <a:rPr lang="zh-CN" b="1" i="0" dirty="0">
              <a:latin typeface="+mj-ea"/>
              <a:ea typeface="+mj-ea"/>
            </a:rPr>
            <a:t>简化复杂</a:t>
          </a:r>
          <a:r>
            <a:rPr lang="en-US" b="1" i="0" dirty="0">
              <a:latin typeface="+mj-ea"/>
              <a:ea typeface="+mj-ea"/>
            </a:rPr>
            <a:t>】​</a:t>
          </a:r>
          <a:r>
            <a:rPr lang="zh-CN" b="0" i="0" dirty="0">
              <a:latin typeface="+mj-ea"/>
              <a:ea typeface="+mj-ea"/>
            </a:rPr>
            <a:t>​：将</a:t>
          </a:r>
          <a:r>
            <a:rPr lang="en-US" b="0" i="0" dirty="0">
              <a:latin typeface="+mj-ea"/>
              <a:ea typeface="+mj-ea"/>
            </a:rPr>
            <a:t>One Plan</a:t>
          </a:r>
          <a:r>
            <a:rPr lang="zh-CN" b="0" i="0" dirty="0">
              <a:latin typeface="+mj-ea"/>
              <a:ea typeface="+mj-ea"/>
            </a:rPr>
            <a:t>产生的复杂算法结果，转化为直观的仪表盘和可视化报告，让每位决策者都能在</a:t>
          </a:r>
          <a:r>
            <a:rPr lang="en-US" b="0" i="0" dirty="0">
              <a:latin typeface="+mj-ea"/>
              <a:ea typeface="+mj-ea"/>
            </a:rPr>
            <a:t>5</a:t>
          </a:r>
          <a:r>
            <a:rPr lang="zh-CN" b="0" i="0" dirty="0">
              <a:latin typeface="+mj-ea"/>
              <a:ea typeface="+mj-ea"/>
            </a:rPr>
            <a:t>秒内掌握全局态势，从而</a:t>
          </a:r>
          <a:r>
            <a:rPr lang="zh-CN" b="1" i="0" dirty="0">
              <a:latin typeface="+mj-ea"/>
              <a:ea typeface="+mj-ea"/>
            </a:rPr>
            <a:t>将智能</a:t>
          </a:r>
          <a:r>
            <a:rPr lang="en-US" b="1" i="0" dirty="0">
              <a:latin typeface="+mj-ea"/>
              <a:ea typeface="+mj-ea"/>
            </a:rPr>
            <a:t>BI</a:t>
          </a:r>
          <a:r>
            <a:rPr lang="zh-CN" b="1" i="0" dirty="0">
              <a:latin typeface="+mj-ea"/>
              <a:ea typeface="+mj-ea"/>
            </a:rPr>
            <a:t>分析的价值真正释放给业务人员</a:t>
          </a:r>
          <a:r>
            <a:rPr lang="zh-CN" b="0" i="0" dirty="0">
              <a:latin typeface="+mj-ea"/>
              <a:ea typeface="+mj-ea"/>
            </a:rPr>
            <a:t>。</a:t>
          </a:r>
          <a:endParaRPr lang="zh-CN" dirty="0">
            <a:latin typeface="+mj-ea"/>
            <a:ea typeface="+mj-ea"/>
          </a:endParaRPr>
        </a:p>
      </dgm:t>
    </dgm:pt>
    <dgm:pt modelId="{9C1A84C5-D9FD-40B9-B412-87894EFC5B3F}" type="parTrans" cxnId="{72A85760-4D3A-4F45-8943-43ADFE432440}">
      <dgm:prSet/>
      <dgm:spPr/>
      <dgm:t>
        <a:bodyPr/>
        <a:lstStyle/>
        <a:p>
          <a:endParaRPr lang="zh-CN" altLang="en-US"/>
        </a:p>
      </dgm:t>
    </dgm:pt>
    <dgm:pt modelId="{83EBD0D5-4AD0-450B-B50C-F4063048B045}" type="sibTrans" cxnId="{72A85760-4D3A-4F45-8943-43ADFE432440}">
      <dgm:prSet/>
      <dgm:spPr/>
      <dgm:t>
        <a:bodyPr/>
        <a:lstStyle/>
        <a:p>
          <a:endParaRPr lang="zh-CN" altLang="en-US"/>
        </a:p>
      </dgm:t>
    </dgm:pt>
    <dgm:pt modelId="{C4746959-5A53-4B81-B6FA-9A52324DE52E}">
      <dgm:prSet/>
      <dgm:spPr/>
      <dgm:t>
        <a:bodyPr/>
        <a:lstStyle/>
        <a:p>
          <a:r>
            <a:rPr lang="zh-CN" b="0" i="0" dirty="0">
              <a:latin typeface="+mj-ea"/>
              <a:ea typeface="+mj-ea"/>
            </a:rPr>
            <a:t>​</a:t>
          </a:r>
          <a:r>
            <a:rPr lang="zh-CN" b="1" i="0" dirty="0">
              <a:latin typeface="+mj-ea"/>
              <a:ea typeface="+mj-ea"/>
            </a:rPr>
            <a:t>​</a:t>
          </a:r>
          <a:r>
            <a:rPr lang="en-US" b="1" i="0" dirty="0">
              <a:latin typeface="+mj-ea"/>
              <a:ea typeface="+mj-ea"/>
            </a:rPr>
            <a:t>【</a:t>
          </a:r>
          <a:r>
            <a:rPr lang="zh-CN" b="1" i="0" dirty="0">
              <a:latin typeface="+mj-ea"/>
              <a:ea typeface="+mj-ea"/>
            </a:rPr>
            <a:t>实时监控与预警</a:t>
          </a:r>
          <a:r>
            <a:rPr lang="en-US" b="1" i="0" dirty="0">
              <a:latin typeface="+mj-ea"/>
              <a:ea typeface="+mj-ea"/>
            </a:rPr>
            <a:t>】​</a:t>
          </a:r>
          <a:r>
            <a:rPr lang="zh-CN" b="0" i="0" dirty="0">
              <a:latin typeface="+mj-ea"/>
              <a:ea typeface="+mj-ea"/>
            </a:rPr>
            <a:t>​：充当组织的“神经中枢”，</a:t>
          </a:r>
          <a:r>
            <a:rPr lang="en-US" b="0" i="0" dirty="0">
              <a:latin typeface="+mj-ea"/>
              <a:ea typeface="+mj-ea"/>
            </a:rPr>
            <a:t>7x24</a:t>
          </a:r>
          <a:r>
            <a:rPr lang="zh-CN" b="0" i="0" dirty="0">
              <a:latin typeface="+mj-ea"/>
              <a:ea typeface="+mj-ea"/>
            </a:rPr>
            <a:t>小时监控运营状态，在偏差发生的瞬间发出预警，确保</a:t>
          </a:r>
          <a:r>
            <a:rPr lang="en-US" b="0" i="0" dirty="0">
              <a:latin typeface="+mj-ea"/>
              <a:ea typeface="+mj-ea"/>
            </a:rPr>
            <a:t>One Plan</a:t>
          </a:r>
          <a:r>
            <a:rPr lang="zh-CN" b="0" i="0" dirty="0">
              <a:latin typeface="+mj-ea"/>
              <a:ea typeface="+mj-ea"/>
            </a:rPr>
            <a:t>的规划不会在执行中失控。</a:t>
          </a:r>
          <a:endParaRPr lang="zh-CN" dirty="0">
            <a:latin typeface="+mj-ea"/>
            <a:ea typeface="+mj-ea"/>
          </a:endParaRPr>
        </a:p>
      </dgm:t>
    </dgm:pt>
    <dgm:pt modelId="{00D5A28C-3CA6-4BC7-8F9A-F1CC6139C486}" type="parTrans" cxnId="{A0D4C993-63CC-4CE4-9006-FF08C3CD286D}">
      <dgm:prSet/>
      <dgm:spPr/>
      <dgm:t>
        <a:bodyPr/>
        <a:lstStyle/>
        <a:p>
          <a:endParaRPr lang="zh-CN" altLang="en-US"/>
        </a:p>
      </dgm:t>
    </dgm:pt>
    <dgm:pt modelId="{802309CB-2236-468C-AB10-1A5A4CA90521}" type="sibTrans" cxnId="{A0D4C993-63CC-4CE4-9006-FF08C3CD286D}">
      <dgm:prSet/>
      <dgm:spPr/>
      <dgm:t>
        <a:bodyPr/>
        <a:lstStyle/>
        <a:p>
          <a:endParaRPr lang="zh-CN" altLang="en-US"/>
        </a:p>
      </dgm:t>
    </dgm:pt>
    <dgm:pt modelId="{E33A397B-1638-4151-AC88-B5F12FADF134}">
      <dgm:prSet/>
      <dgm:spPr/>
      <dgm:t>
        <a:bodyPr/>
        <a:lstStyle/>
        <a:p>
          <a:r>
            <a:rPr lang="zh-CN" b="0" i="0" dirty="0">
              <a:latin typeface="+mj-ea"/>
              <a:ea typeface="+mj-ea"/>
            </a:rPr>
            <a:t>​</a:t>
          </a:r>
          <a:r>
            <a:rPr lang="zh-CN" b="1" i="0" dirty="0">
              <a:latin typeface="+mj-ea"/>
              <a:ea typeface="+mj-ea"/>
            </a:rPr>
            <a:t>​</a:t>
          </a:r>
          <a:r>
            <a:rPr lang="en-US" b="1" i="0" dirty="0">
              <a:latin typeface="+mj-ea"/>
              <a:ea typeface="+mj-ea"/>
            </a:rPr>
            <a:t>【</a:t>
          </a:r>
          <a:r>
            <a:rPr lang="zh-CN" b="1" i="0" dirty="0">
              <a:latin typeface="+mj-ea"/>
              <a:ea typeface="+mj-ea"/>
            </a:rPr>
            <a:t>支持模拟决策</a:t>
          </a:r>
          <a:r>
            <a:rPr lang="en-US" b="1" i="0" dirty="0">
              <a:latin typeface="+mj-ea"/>
              <a:ea typeface="+mj-ea"/>
            </a:rPr>
            <a:t>】​</a:t>
          </a:r>
          <a:r>
            <a:rPr lang="zh-CN" b="0" i="0" dirty="0">
              <a:latin typeface="+mj-ea"/>
              <a:ea typeface="+mj-ea"/>
            </a:rPr>
            <a:t>​：提供“</a:t>
          </a:r>
          <a:r>
            <a:rPr lang="en-US" b="0" i="0" dirty="0">
              <a:latin typeface="+mj-ea"/>
              <a:ea typeface="+mj-ea"/>
            </a:rPr>
            <a:t>What-if”</a:t>
          </a:r>
          <a:r>
            <a:rPr lang="zh-CN" b="0" i="0" dirty="0">
              <a:latin typeface="+mj-ea"/>
              <a:ea typeface="+mj-ea"/>
            </a:rPr>
            <a:t>沙盘推演界面，让管理者能够直观地测试不同决策方案的结果，​</a:t>
          </a:r>
          <a:r>
            <a:rPr lang="zh-CN" b="1" i="0" dirty="0">
              <a:latin typeface="+mj-ea"/>
              <a:ea typeface="+mj-ea"/>
            </a:rPr>
            <a:t>将</a:t>
          </a:r>
          <a:r>
            <a:rPr lang="en-US" b="1" i="0" dirty="0">
              <a:latin typeface="+mj-ea"/>
              <a:ea typeface="+mj-ea"/>
            </a:rPr>
            <a:t>One Plan</a:t>
          </a:r>
          <a:r>
            <a:rPr lang="zh-CN" b="1" i="0" dirty="0">
              <a:latin typeface="+mj-ea"/>
              <a:ea typeface="+mj-ea"/>
            </a:rPr>
            <a:t>的权衡分析能力（</a:t>
          </a:r>
          <a:r>
            <a:rPr lang="en-US" b="1" i="0" dirty="0">
              <a:latin typeface="+mj-ea"/>
              <a:ea typeface="+mj-ea"/>
            </a:rPr>
            <a:t>Trade-off</a:t>
          </a:r>
          <a:r>
            <a:rPr lang="zh-CN" b="1" i="0" dirty="0">
              <a:latin typeface="+mj-ea"/>
              <a:ea typeface="+mj-ea"/>
            </a:rPr>
            <a:t>）转化为具象的、可信的业务对话</a:t>
          </a:r>
          <a:r>
            <a:rPr lang="zh-CN" b="0" i="0" dirty="0">
              <a:latin typeface="+mj-ea"/>
              <a:ea typeface="+mj-ea"/>
            </a:rPr>
            <a:t>。</a:t>
          </a:r>
          <a:endParaRPr lang="zh-CN" dirty="0">
            <a:latin typeface="+mj-ea"/>
            <a:ea typeface="+mj-ea"/>
          </a:endParaRPr>
        </a:p>
      </dgm:t>
    </dgm:pt>
    <dgm:pt modelId="{BA49EBBC-FFDD-46B5-AAE1-9582D564D348}" type="parTrans" cxnId="{1138A739-0997-4CA9-B4F0-FD07AA9392EA}">
      <dgm:prSet/>
      <dgm:spPr/>
      <dgm:t>
        <a:bodyPr/>
        <a:lstStyle/>
        <a:p>
          <a:endParaRPr lang="zh-CN" altLang="en-US"/>
        </a:p>
      </dgm:t>
    </dgm:pt>
    <dgm:pt modelId="{C9E0E6BD-5D9F-4009-A831-BF0D99FA2FD1}" type="sibTrans" cxnId="{1138A739-0997-4CA9-B4F0-FD07AA9392EA}">
      <dgm:prSet/>
      <dgm:spPr/>
      <dgm:t>
        <a:bodyPr/>
        <a:lstStyle/>
        <a:p>
          <a:endParaRPr lang="zh-CN" altLang="en-US"/>
        </a:p>
      </dgm:t>
    </dgm:pt>
    <dgm:pt modelId="{D5D9CB2C-C974-49AE-A099-1532502785DF}">
      <dgm:prSet/>
      <dgm:spPr/>
      <dgm:t>
        <a:bodyPr/>
        <a:lstStyle/>
        <a:p>
          <a:r>
            <a:rPr lang="zh-CN" b="0" i="0" dirty="0">
              <a:latin typeface="+mj-ea"/>
              <a:ea typeface="+mj-ea"/>
            </a:rPr>
            <a:t>​</a:t>
          </a:r>
          <a:r>
            <a:rPr lang="zh-CN" b="1" i="0" dirty="0">
              <a:latin typeface="+mj-ea"/>
              <a:ea typeface="+mj-ea"/>
            </a:rPr>
            <a:t>​</a:t>
          </a:r>
          <a:r>
            <a:rPr lang="en-US" b="1" i="0" dirty="0">
              <a:latin typeface="+mj-ea"/>
              <a:ea typeface="+mj-ea"/>
            </a:rPr>
            <a:t>【</a:t>
          </a:r>
          <a:r>
            <a:rPr lang="zh-CN" b="1" i="0" dirty="0">
              <a:latin typeface="+mj-ea"/>
              <a:ea typeface="+mj-ea"/>
            </a:rPr>
            <a:t>促进跨职能协同</a:t>
          </a:r>
          <a:r>
            <a:rPr lang="en-US" b="1" i="0" dirty="0">
              <a:latin typeface="+mj-ea"/>
              <a:ea typeface="+mj-ea"/>
            </a:rPr>
            <a:t>】​</a:t>
          </a:r>
          <a:r>
            <a:rPr lang="zh-CN" b="0" i="0" dirty="0">
              <a:latin typeface="+mj-ea"/>
              <a:ea typeface="+mj-ea"/>
            </a:rPr>
            <a:t>​：作为“单一事实来源”，为销售、生产、采购、财务等所有部门提供同一套数据和视图，​</a:t>
          </a:r>
          <a:r>
            <a:rPr lang="zh-CN" b="1" i="0" dirty="0">
              <a:latin typeface="+mj-ea"/>
              <a:ea typeface="+mj-ea"/>
            </a:rPr>
            <a:t>彻底打破竖井，让协同建立在事实而非争论之上</a:t>
          </a:r>
          <a:r>
            <a:rPr lang="zh-CN" b="0" i="0" dirty="0">
              <a:latin typeface="+mj-ea"/>
              <a:ea typeface="+mj-ea"/>
            </a:rPr>
            <a:t>。</a:t>
          </a:r>
          <a:endParaRPr lang="zh-CN" dirty="0">
            <a:latin typeface="+mj-ea"/>
            <a:ea typeface="+mj-ea"/>
          </a:endParaRPr>
        </a:p>
      </dgm:t>
    </dgm:pt>
    <dgm:pt modelId="{1A1AADA8-87C3-40B5-B5C0-FC482124FDF3}" type="parTrans" cxnId="{2AE73C50-6158-4D88-8A5C-5EBF0A86E07B}">
      <dgm:prSet/>
      <dgm:spPr/>
      <dgm:t>
        <a:bodyPr/>
        <a:lstStyle/>
        <a:p>
          <a:endParaRPr lang="zh-CN" altLang="en-US"/>
        </a:p>
      </dgm:t>
    </dgm:pt>
    <dgm:pt modelId="{C1644AA8-30F6-4684-99EA-94B489511224}" type="sibTrans" cxnId="{2AE73C50-6158-4D88-8A5C-5EBF0A86E07B}">
      <dgm:prSet/>
      <dgm:spPr/>
      <dgm:t>
        <a:bodyPr/>
        <a:lstStyle/>
        <a:p>
          <a:endParaRPr lang="zh-CN" altLang="en-US"/>
        </a:p>
      </dgm:t>
    </dgm:pt>
    <dgm:pt modelId="{F1322A1E-93C5-43A2-B319-C2C6565ADB17}" type="pres">
      <dgm:prSet presAssocID="{82198F98-ED8E-4DBB-90C1-4C7AD7B39D6D}" presName="Name0" presStyleCnt="0">
        <dgm:presLayoutVars>
          <dgm:dir/>
          <dgm:animLvl val="lvl"/>
          <dgm:resizeHandles val="exact"/>
        </dgm:presLayoutVars>
      </dgm:prSet>
      <dgm:spPr/>
    </dgm:pt>
    <dgm:pt modelId="{F1A41643-23BC-4B0C-B7CB-E3A7CF618FDE}" type="pres">
      <dgm:prSet presAssocID="{67541E00-8DD4-4110-A1CD-E47CFD4FBC2D}" presName="composite" presStyleCnt="0"/>
      <dgm:spPr/>
    </dgm:pt>
    <dgm:pt modelId="{E0A75D45-B29A-43E6-A5A9-0EA68FE017DF}" type="pres">
      <dgm:prSet presAssocID="{67541E00-8DD4-4110-A1CD-E47CFD4FBC2D}" presName="parTx" presStyleLbl="alignNode1" presStyleIdx="0" presStyleCnt="2">
        <dgm:presLayoutVars>
          <dgm:chMax val="0"/>
          <dgm:chPref val="0"/>
          <dgm:bulletEnabled val="1"/>
        </dgm:presLayoutVars>
      </dgm:prSet>
      <dgm:spPr/>
    </dgm:pt>
    <dgm:pt modelId="{2E7C871B-0DF9-4CF1-9DDB-0361200040F7}" type="pres">
      <dgm:prSet presAssocID="{67541E00-8DD4-4110-A1CD-E47CFD4FBC2D}" presName="desTx" presStyleLbl="alignAccFollowNode1" presStyleIdx="0" presStyleCnt="2">
        <dgm:presLayoutVars>
          <dgm:bulletEnabled val="1"/>
        </dgm:presLayoutVars>
      </dgm:prSet>
      <dgm:spPr/>
    </dgm:pt>
    <dgm:pt modelId="{26A5E49B-077F-4E4C-A47E-D85883753C68}" type="pres">
      <dgm:prSet presAssocID="{0E68DB6C-5C73-4F2A-B75C-E873093006C2}" presName="space" presStyleCnt="0"/>
      <dgm:spPr/>
    </dgm:pt>
    <dgm:pt modelId="{15EA545A-1CCC-4426-BD2A-C84F9E7E4DBE}" type="pres">
      <dgm:prSet presAssocID="{1333513F-FAC9-446F-A941-D4C2ABC93224}" presName="composite" presStyleCnt="0"/>
      <dgm:spPr/>
    </dgm:pt>
    <dgm:pt modelId="{B18CC9F5-43CA-42C3-BB72-8C6F94CDBEB1}" type="pres">
      <dgm:prSet presAssocID="{1333513F-FAC9-446F-A941-D4C2ABC93224}" presName="parTx" presStyleLbl="alignNode1" presStyleIdx="1" presStyleCnt="2">
        <dgm:presLayoutVars>
          <dgm:chMax val="0"/>
          <dgm:chPref val="0"/>
          <dgm:bulletEnabled val="1"/>
        </dgm:presLayoutVars>
      </dgm:prSet>
      <dgm:spPr/>
    </dgm:pt>
    <dgm:pt modelId="{DA19CCDA-25CA-4FB5-AA04-86AB58B06865}" type="pres">
      <dgm:prSet presAssocID="{1333513F-FAC9-446F-A941-D4C2ABC93224}" presName="desTx" presStyleLbl="alignAccFollowNode1" presStyleIdx="1" presStyleCnt="2">
        <dgm:presLayoutVars>
          <dgm:bulletEnabled val="1"/>
        </dgm:presLayoutVars>
      </dgm:prSet>
      <dgm:spPr/>
    </dgm:pt>
  </dgm:ptLst>
  <dgm:cxnLst>
    <dgm:cxn modelId="{68144B0D-7172-4AE6-9BDD-CF15E21EBA9D}" type="presOf" srcId="{E33A397B-1638-4151-AC88-B5F12FADF134}" destId="{DA19CCDA-25CA-4FB5-AA04-86AB58B06865}" srcOrd="0" destOrd="3" presId="urn:microsoft.com/office/officeart/2005/8/layout/hList1"/>
    <dgm:cxn modelId="{5608C40F-E121-4272-92F5-90210B9D8E36}" srcId="{82198F98-ED8E-4DBB-90C1-4C7AD7B39D6D}" destId="{1333513F-FAC9-446F-A941-D4C2ABC93224}" srcOrd="1" destOrd="0" parTransId="{24BC4F85-0F6E-4E76-B700-59C0256B0298}" sibTransId="{4D960EF4-44D6-4B53-8FA6-B1FA30832C5A}"/>
    <dgm:cxn modelId="{BFCB8510-DD66-4D3E-8E08-16A7FEB09D6F}" srcId="{67541E00-8DD4-4110-A1CD-E47CFD4FBC2D}" destId="{FBAB2A16-CB95-4AD5-826F-53CC1CFF9C38}" srcOrd="0" destOrd="0" parTransId="{75EF8626-2E9B-4F17-9E68-25074252DCFC}" sibTransId="{416F9145-7E09-42C8-8646-7D3C4DF2A093}"/>
    <dgm:cxn modelId="{AB4DF016-76A2-45E3-B541-2B79D017A835}" type="presOf" srcId="{D5D9CB2C-C974-49AE-A099-1532502785DF}" destId="{DA19CCDA-25CA-4FB5-AA04-86AB58B06865}" srcOrd="0" destOrd="4" presId="urn:microsoft.com/office/officeart/2005/8/layout/hList1"/>
    <dgm:cxn modelId="{201B2B17-7D53-4E62-969B-88361C0761D8}" type="presOf" srcId="{18688DA1-0BAB-403A-8303-57C39FFE513A}" destId="{2E7C871B-0DF9-4CF1-9DDB-0361200040F7}" srcOrd="0" destOrd="2" presId="urn:microsoft.com/office/officeart/2005/8/layout/hList1"/>
    <dgm:cxn modelId="{30C07318-522B-4211-A09C-B9B86948268E}" type="presOf" srcId="{6D35C5E7-554A-4081-9EDE-DDBE6EA0BA61}" destId="{DA19CCDA-25CA-4FB5-AA04-86AB58B06865}" srcOrd="0" destOrd="0" presId="urn:microsoft.com/office/officeart/2005/8/layout/hList1"/>
    <dgm:cxn modelId="{72E9FD18-E52C-4822-9AEB-59537AC7171A}" type="presOf" srcId="{1333513F-FAC9-446F-A941-D4C2ABC93224}" destId="{B18CC9F5-43CA-42C3-BB72-8C6F94CDBEB1}" srcOrd="0" destOrd="0" presId="urn:microsoft.com/office/officeart/2005/8/layout/hList1"/>
    <dgm:cxn modelId="{1E43B91B-0E47-4723-9AB3-6D76EC9F800F}" type="presOf" srcId="{FBAB2A16-CB95-4AD5-826F-53CC1CFF9C38}" destId="{2E7C871B-0DF9-4CF1-9DDB-0361200040F7}" srcOrd="0" destOrd="0" presId="urn:microsoft.com/office/officeart/2005/8/layout/hList1"/>
    <dgm:cxn modelId="{B692082C-EC08-4075-B4CE-04C8F66E7F62}" srcId="{FBAB2A16-CB95-4AD5-826F-53CC1CFF9C38}" destId="{F15B2547-8890-4DCB-A73B-BF571D63F1BA}" srcOrd="0" destOrd="0" parTransId="{44BB9B65-27C0-47C6-85BD-50CEC002830D}" sibTransId="{17CC9815-EDB8-4716-942A-4CB98C9B8350}"/>
    <dgm:cxn modelId="{1138A739-0997-4CA9-B4F0-FD07AA9392EA}" srcId="{6D35C5E7-554A-4081-9EDE-DDBE6EA0BA61}" destId="{E33A397B-1638-4151-AC88-B5F12FADF134}" srcOrd="2" destOrd="0" parTransId="{BA49EBBC-FFDD-46B5-AAE1-9582D564D348}" sibTransId="{C9E0E6BD-5D9F-4009-A831-BF0D99FA2FD1}"/>
    <dgm:cxn modelId="{72A85760-4D3A-4F45-8943-43ADFE432440}" srcId="{6D35C5E7-554A-4081-9EDE-DDBE6EA0BA61}" destId="{81415B03-02E3-4041-A0DB-1732E83FD359}" srcOrd="0" destOrd="0" parTransId="{9C1A84C5-D9FD-40B9-B412-87894EFC5B3F}" sibTransId="{83EBD0D5-4AD0-450B-B50C-F4063048B045}"/>
    <dgm:cxn modelId="{2AE73C50-6158-4D88-8A5C-5EBF0A86E07B}" srcId="{6D35C5E7-554A-4081-9EDE-DDBE6EA0BA61}" destId="{D5D9CB2C-C974-49AE-A099-1532502785DF}" srcOrd="3" destOrd="0" parTransId="{1A1AADA8-87C3-40B5-B5C0-FC482124FDF3}" sibTransId="{C1644AA8-30F6-4684-99EA-94B489511224}"/>
    <dgm:cxn modelId="{EE1C987D-BAD3-4E63-8BF4-07B6E9558442}" srcId="{FBAB2A16-CB95-4AD5-826F-53CC1CFF9C38}" destId="{02B0525B-A19F-4FDC-92EB-A5E0D4E99EE9}" srcOrd="2" destOrd="0" parTransId="{4B2C2AD5-7B2A-4233-8259-8BB185E078C3}" sibTransId="{2D48E5B2-6E66-4C23-9137-53A649A62ADF}"/>
    <dgm:cxn modelId="{1B549293-8143-486F-B0F8-BF2C15343469}" type="presOf" srcId="{82198F98-ED8E-4DBB-90C1-4C7AD7B39D6D}" destId="{F1322A1E-93C5-43A2-B319-C2C6565ADB17}" srcOrd="0" destOrd="0" presId="urn:microsoft.com/office/officeart/2005/8/layout/hList1"/>
    <dgm:cxn modelId="{A0D4C993-63CC-4CE4-9006-FF08C3CD286D}" srcId="{6D35C5E7-554A-4081-9EDE-DDBE6EA0BA61}" destId="{C4746959-5A53-4B81-B6FA-9A52324DE52E}" srcOrd="1" destOrd="0" parTransId="{00D5A28C-3CA6-4BC7-8F9A-F1CC6139C486}" sibTransId="{802309CB-2236-468C-AB10-1A5A4CA90521}"/>
    <dgm:cxn modelId="{38D0A7A2-90F2-43EE-B49B-1FBFF111F5E8}" type="presOf" srcId="{81415B03-02E3-4041-A0DB-1732E83FD359}" destId="{DA19CCDA-25CA-4FB5-AA04-86AB58B06865}" srcOrd="0" destOrd="1" presId="urn:microsoft.com/office/officeart/2005/8/layout/hList1"/>
    <dgm:cxn modelId="{289E06A3-C978-4354-956C-80AD66E6ED13}" type="presOf" srcId="{FEAC1322-3F54-43D2-A5CF-E1FA874A0476}" destId="{2E7C871B-0DF9-4CF1-9DDB-0361200040F7}" srcOrd="0" destOrd="5" presId="urn:microsoft.com/office/officeart/2005/8/layout/hList1"/>
    <dgm:cxn modelId="{DA4D90AA-BE4B-4DA1-A635-1BE5031FCDE1}" type="presOf" srcId="{67541E00-8DD4-4110-A1CD-E47CFD4FBC2D}" destId="{E0A75D45-B29A-43E6-A5A9-0EA68FE017DF}" srcOrd="0" destOrd="0" presId="urn:microsoft.com/office/officeart/2005/8/layout/hList1"/>
    <dgm:cxn modelId="{B4BD78B5-C160-475D-AED0-3D2B10504ABA}" type="presOf" srcId="{C4746959-5A53-4B81-B6FA-9A52324DE52E}" destId="{DA19CCDA-25CA-4FB5-AA04-86AB58B06865}" srcOrd="0" destOrd="2" presId="urn:microsoft.com/office/officeart/2005/8/layout/hList1"/>
    <dgm:cxn modelId="{818C6DB7-C16E-4BF1-800D-7B8FF2116BDD}" srcId="{1333513F-FAC9-446F-A941-D4C2ABC93224}" destId="{6D35C5E7-554A-4081-9EDE-DDBE6EA0BA61}" srcOrd="0" destOrd="0" parTransId="{33331E02-AD6E-48C9-8329-C1DA7D8C8DCB}" sibTransId="{463CF65D-24ED-49A7-9512-B6C27C3BEE1D}"/>
    <dgm:cxn modelId="{F0B705B8-BDCE-431D-99E3-250596285EA6}" srcId="{82198F98-ED8E-4DBB-90C1-4C7AD7B39D6D}" destId="{67541E00-8DD4-4110-A1CD-E47CFD4FBC2D}" srcOrd="0" destOrd="0" parTransId="{6A787668-4C6B-4B06-841F-6CBE7B558A8C}" sibTransId="{0E68DB6C-5C73-4F2A-B75C-E873093006C2}"/>
    <dgm:cxn modelId="{ABAEDDB8-0993-4284-9F43-E39BDC728FC5}" type="presOf" srcId="{B1FAF863-F666-461B-8C6A-1B58F3BF6578}" destId="{2E7C871B-0DF9-4CF1-9DDB-0361200040F7}" srcOrd="0" destOrd="4" presId="urn:microsoft.com/office/officeart/2005/8/layout/hList1"/>
    <dgm:cxn modelId="{6AF5FFD9-BCF0-4F34-9A67-D01B70D5BC3C}" srcId="{FBAB2A16-CB95-4AD5-826F-53CC1CFF9C38}" destId="{18688DA1-0BAB-403A-8303-57C39FFE513A}" srcOrd="1" destOrd="0" parTransId="{67BE79E2-B433-4550-BF20-3EA68F4ADD1C}" sibTransId="{02A099E0-C7FE-4C87-92CB-1501C8F23E84}"/>
    <dgm:cxn modelId="{E44391EA-D6E2-43D1-952A-3A253FFD9451}" type="presOf" srcId="{02B0525B-A19F-4FDC-92EB-A5E0D4E99EE9}" destId="{2E7C871B-0DF9-4CF1-9DDB-0361200040F7}" srcOrd="0" destOrd="3" presId="urn:microsoft.com/office/officeart/2005/8/layout/hList1"/>
    <dgm:cxn modelId="{7BE23FEE-E9F8-41CE-B43C-B6629584C833}" type="presOf" srcId="{F15B2547-8890-4DCB-A73B-BF571D63F1BA}" destId="{2E7C871B-0DF9-4CF1-9DDB-0361200040F7}" srcOrd="0" destOrd="1" presId="urn:microsoft.com/office/officeart/2005/8/layout/hList1"/>
    <dgm:cxn modelId="{63F863F2-4FBE-4A12-BF06-ACCBBAECE3F3}" srcId="{67541E00-8DD4-4110-A1CD-E47CFD4FBC2D}" destId="{FEAC1322-3F54-43D2-A5CF-E1FA874A0476}" srcOrd="1" destOrd="0" parTransId="{1EDC50D7-F348-42FA-AC2F-07A1B6A1817F}" sibTransId="{08AA39DD-780D-4438-BC57-C3EA6B0027F2}"/>
    <dgm:cxn modelId="{3B0815FB-F07E-4A2A-BBF3-F03F2672849F}" srcId="{FBAB2A16-CB95-4AD5-826F-53CC1CFF9C38}" destId="{B1FAF863-F666-461B-8C6A-1B58F3BF6578}" srcOrd="3" destOrd="0" parTransId="{58AB1C04-1521-416B-AD98-C7E58670622B}" sibTransId="{D6C2F72F-BFCE-4B35-801A-962F5F3C0284}"/>
    <dgm:cxn modelId="{6F350063-D492-4CAF-9479-AECE88A43BFD}" type="presParOf" srcId="{F1322A1E-93C5-43A2-B319-C2C6565ADB17}" destId="{F1A41643-23BC-4B0C-B7CB-E3A7CF618FDE}" srcOrd="0" destOrd="0" presId="urn:microsoft.com/office/officeart/2005/8/layout/hList1"/>
    <dgm:cxn modelId="{B90DF030-7F8E-495E-8E19-514D1F8854F7}" type="presParOf" srcId="{F1A41643-23BC-4B0C-B7CB-E3A7CF618FDE}" destId="{E0A75D45-B29A-43E6-A5A9-0EA68FE017DF}" srcOrd="0" destOrd="0" presId="urn:microsoft.com/office/officeart/2005/8/layout/hList1"/>
    <dgm:cxn modelId="{83038437-178C-4AB0-A00A-CFA4D192C03D}" type="presParOf" srcId="{F1A41643-23BC-4B0C-B7CB-E3A7CF618FDE}" destId="{2E7C871B-0DF9-4CF1-9DDB-0361200040F7}" srcOrd="1" destOrd="0" presId="urn:microsoft.com/office/officeart/2005/8/layout/hList1"/>
    <dgm:cxn modelId="{215AFA63-3877-4D1D-A852-5815C136F186}" type="presParOf" srcId="{F1322A1E-93C5-43A2-B319-C2C6565ADB17}" destId="{26A5E49B-077F-4E4C-A47E-D85883753C68}" srcOrd="1" destOrd="0" presId="urn:microsoft.com/office/officeart/2005/8/layout/hList1"/>
    <dgm:cxn modelId="{602AC8B1-0DFC-4B1D-98A9-160E5AE42200}" type="presParOf" srcId="{F1322A1E-93C5-43A2-B319-C2C6565ADB17}" destId="{15EA545A-1CCC-4426-BD2A-C84F9E7E4DBE}" srcOrd="2" destOrd="0" presId="urn:microsoft.com/office/officeart/2005/8/layout/hList1"/>
    <dgm:cxn modelId="{3811964E-22B2-498F-A074-0AD48A2D8B6E}" type="presParOf" srcId="{15EA545A-1CCC-4426-BD2A-C84F9E7E4DBE}" destId="{B18CC9F5-43CA-42C3-BB72-8C6F94CDBEB1}" srcOrd="0" destOrd="0" presId="urn:microsoft.com/office/officeart/2005/8/layout/hList1"/>
    <dgm:cxn modelId="{4E675749-A5B6-45A7-B069-91697574173C}" type="presParOf" srcId="{15EA545A-1CCC-4426-BD2A-C84F9E7E4DBE}" destId="{DA19CCDA-25CA-4FB5-AA04-86AB58B06865}"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3B4C197A-40DF-44FF-8DE5-1A1477018A0D}" type="doc">
      <dgm:prSet loTypeId="urn:microsoft.com/office/officeart/2005/8/layout/pyramid3" loCatId="pyramid" qsTypeId="urn:microsoft.com/office/officeart/2005/8/quickstyle/simple1" qsCatId="simple" csTypeId="urn:microsoft.com/office/officeart/2005/8/colors/accent1_2" csCatId="accent1" phldr="1"/>
      <dgm:spPr/>
      <dgm:t>
        <a:bodyPr/>
        <a:lstStyle/>
        <a:p>
          <a:endParaRPr lang="zh-CN" altLang="en-US"/>
        </a:p>
      </dgm:t>
    </dgm:pt>
    <dgm:pt modelId="{26D32CAE-27E6-43E3-B44F-94C709D74FC5}">
      <dgm:prSet custT="1"/>
      <dgm:spPr>
        <a:noFill/>
        <a:ln>
          <a:solidFill>
            <a:schemeClr val="tx1"/>
          </a:solidFill>
        </a:ln>
      </dgm:spPr>
      <dgm:t>
        <a:bodyPr/>
        <a:lstStyle/>
        <a:p>
          <a:r>
            <a:rPr lang="zh-CN" altLang="en-US" sz="1600" b="1" i="0" dirty="0">
              <a:latin typeface="+mj-ea"/>
              <a:ea typeface="+mj-ea"/>
            </a:rPr>
            <a:t>​供应链战略（战略导向）</a:t>
          </a:r>
          <a:endParaRPr lang="zh-CN" altLang="en-US" sz="1050" b="1" i="1" dirty="0">
            <a:latin typeface="+mj-ea"/>
            <a:ea typeface="+mj-ea"/>
          </a:endParaRPr>
        </a:p>
      </dgm:t>
    </dgm:pt>
    <dgm:pt modelId="{9631C493-A7BE-4CEF-A5FB-9CF13DBFE769}" type="parTrans" cxnId="{2E225981-C9EB-475D-A644-A394BAA12AD8}">
      <dgm:prSet/>
      <dgm:spPr/>
      <dgm:t>
        <a:bodyPr/>
        <a:lstStyle/>
        <a:p>
          <a:endParaRPr lang="zh-CN" altLang="en-US" sz="1600" b="1">
            <a:latin typeface="+mj-ea"/>
            <a:ea typeface="+mj-ea"/>
          </a:endParaRPr>
        </a:p>
      </dgm:t>
    </dgm:pt>
    <dgm:pt modelId="{6B439A87-C68F-4DAC-892A-D750A9557843}" type="sibTrans" cxnId="{2E225981-C9EB-475D-A644-A394BAA12AD8}">
      <dgm:prSet/>
      <dgm:spPr/>
      <dgm:t>
        <a:bodyPr/>
        <a:lstStyle/>
        <a:p>
          <a:endParaRPr lang="zh-CN" altLang="en-US" sz="1600" b="1">
            <a:latin typeface="+mj-ea"/>
            <a:ea typeface="+mj-ea"/>
          </a:endParaRPr>
        </a:p>
      </dgm:t>
    </dgm:pt>
    <dgm:pt modelId="{C51D4C69-A2F4-4AC8-8C38-B5F7FDD49463}">
      <dgm:prSet custT="1"/>
      <dgm:spPr>
        <a:noFill/>
        <a:ln>
          <a:solidFill>
            <a:schemeClr val="tx1"/>
          </a:solidFill>
        </a:ln>
      </dgm:spPr>
      <dgm:t>
        <a:bodyPr/>
        <a:lstStyle/>
        <a:p>
          <a:r>
            <a:rPr lang="zh-CN" altLang="en-US" sz="1600" b="1" i="0" dirty="0">
              <a:latin typeface="+mj-ea"/>
              <a:ea typeface="+mj-ea"/>
            </a:rPr>
            <a:t>计划能力框架（外壳）</a:t>
          </a:r>
          <a:endParaRPr lang="zh-CN" altLang="en-US" sz="1600" b="1" i="0" dirty="0">
            <a:solidFill>
              <a:schemeClr val="tx1"/>
            </a:solidFill>
            <a:latin typeface="+mj-ea"/>
            <a:ea typeface="+mj-ea"/>
          </a:endParaRPr>
        </a:p>
      </dgm:t>
    </dgm:pt>
    <dgm:pt modelId="{61A1958B-437B-4A44-A0CC-A950B41ECA87}" type="parTrans" cxnId="{07F93A64-03A6-4A94-98BC-E1D1B7D1ADA9}">
      <dgm:prSet/>
      <dgm:spPr/>
      <dgm:t>
        <a:bodyPr/>
        <a:lstStyle/>
        <a:p>
          <a:endParaRPr lang="zh-CN" altLang="en-US" sz="1600" b="1">
            <a:latin typeface="+mj-ea"/>
            <a:ea typeface="+mj-ea"/>
          </a:endParaRPr>
        </a:p>
      </dgm:t>
    </dgm:pt>
    <dgm:pt modelId="{668174EB-92B3-48E2-844F-18354FCCAFC8}" type="sibTrans" cxnId="{07F93A64-03A6-4A94-98BC-E1D1B7D1ADA9}">
      <dgm:prSet/>
      <dgm:spPr/>
      <dgm:t>
        <a:bodyPr/>
        <a:lstStyle/>
        <a:p>
          <a:endParaRPr lang="zh-CN" altLang="en-US" sz="1600" b="1">
            <a:latin typeface="+mj-ea"/>
            <a:ea typeface="+mj-ea"/>
          </a:endParaRPr>
        </a:p>
      </dgm:t>
    </dgm:pt>
    <dgm:pt modelId="{94F5DA9B-C47F-42D9-85AF-F2CE41CAE9AC}">
      <dgm:prSet custT="1"/>
      <dgm:spPr>
        <a:solidFill>
          <a:srgbClr val="7030A0"/>
        </a:solidFill>
        <a:ln>
          <a:solidFill>
            <a:schemeClr val="tx1"/>
          </a:solidFill>
        </a:ln>
      </dgm:spPr>
      <dgm:t>
        <a:bodyPr/>
        <a:lstStyle/>
        <a:p>
          <a:r>
            <a:rPr lang="zh-CN" altLang="en-US" sz="1600" b="1" i="0" dirty="0">
              <a:latin typeface="+mj-ea"/>
              <a:ea typeface="+mj-ea"/>
            </a:rPr>
            <a:t>​数据模型与业务算法</a:t>
          </a:r>
          <a:endParaRPr lang="en-US" altLang="zh-CN" sz="1600" b="1" i="0" dirty="0">
            <a:latin typeface="+mj-ea"/>
            <a:ea typeface="+mj-ea"/>
          </a:endParaRPr>
        </a:p>
        <a:p>
          <a:r>
            <a:rPr lang="zh-CN" altLang="en-US" sz="1600" b="1" i="0" dirty="0">
              <a:latin typeface="+mj-ea"/>
              <a:ea typeface="+mj-ea"/>
            </a:rPr>
            <a:t>（业务方案的本质）</a:t>
          </a:r>
          <a:endParaRPr lang="zh-CN" altLang="en-US" sz="1100" b="1" i="1" dirty="0">
            <a:latin typeface="+mj-ea"/>
            <a:ea typeface="+mj-ea"/>
          </a:endParaRPr>
        </a:p>
      </dgm:t>
    </dgm:pt>
    <dgm:pt modelId="{F0CE2CF1-5C39-440D-9EBD-6F92549B293D}" type="parTrans" cxnId="{70A73872-66E4-48E4-9820-E1EE4D209DE2}">
      <dgm:prSet/>
      <dgm:spPr/>
      <dgm:t>
        <a:bodyPr/>
        <a:lstStyle/>
        <a:p>
          <a:endParaRPr lang="zh-CN" altLang="en-US" sz="1600" b="1">
            <a:latin typeface="+mj-ea"/>
            <a:ea typeface="+mj-ea"/>
          </a:endParaRPr>
        </a:p>
      </dgm:t>
    </dgm:pt>
    <dgm:pt modelId="{46AF5161-554F-43CC-AC40-2154A746CD48}" type="sibTrans" cxnId="{70A73872-66E4-48E4-9820-E1EE4D209DE2}">
      <dgm:prSet/>
      <dgm:spPr/>
      <dgm:t>
        <a:bodyPr/>
        <a:lstStyle/>
        <a:p>
          <a:endParaRPr lang="zh-CN" altLang="en-US" sz="1600" b="1">
            <a:latin typeface="+mj-ea"/>
            <a:ea typeface="+mj-ea"/>
          </a:endParaRPr>
        </a:p>
      </dgm:t>
    </dgm:pt>
    <dgm:pt modelId="{D60BB997-B013-4537-AB63-4BB31E44A270}">
      <dgm:prSet custT="1"/>
      <dgm:spPr>
        <a:solidFill>
          <a:srgbClr val="7030A0"/>
        </a:solidFill>
        <a:ln>
          <a:solidFill>
            <a:schemeClr val="tx1"/>
          </a:solidFill>
        </a:ln>
      </dgm:spPr>
      <dgm:t>
        <a:bodyPr/>
        <a:lstStyle/>
        <a:p>
          <a:r>
            <a:rPr lang="zh-CN" altLang="en-US" sz="1600" b="1" i="0" dirty="0">
              <a:latin typeface="+mj-ea"/>
              <a:ea typeface="+mj-ea"/>
            </a:rPr>
            <a:t>数据结构算法</a:t>
          </a:r>
          <a:endParaRPr lang="en-US" altLang="zh-CN" sz="1600" b="1" i="0" dirty="0">
            <a:latin typeface="+mj-ea"/>
            <a:ea typeface="+mj-ea"/>
          </a:endParaRPr>
        </a:p>
        <a:p>
          <a:r>
            <a:rPr lang="zh-CN" altLang="en-US" sz="1600" b="1" i="0" dirty="0">
              <a:latin typeface="+mj-ea"/>
              <a:ea typeface="+mj-ea"/>
            </a:rPr>
            <a:t>（基石）</a:t>
          </a:r>
          <a:endParaRPr lang="zh-CN" altLang="en-US" sz="1100" b="1" i="1" dirty="0">
            <a:latin typeface="+mj-ea"/>
            <a:ea typeface="+mj-ea"/>
          </a:endParaRPr>
        </a:p>
      </dgm:t>
    </dgm:pt>
    <dgm:pt modelId="{0E0ED361-F109-4470-8A7F-C0801B96E70B}" type="parTrans" cxnId="{D78B8711-3C3B-4770-8F20-A2498ABF1D1F}">
      <dgm:prSet/>
      <dgm:spPr/>
      <dgm:t>
        <a:bodyPr/>
        <a:lstStyle/>
        <a:p>
          <a:endParaRPr lang="zh-CN" altLang="en-US" sz="1600" b="1">
            <a:latin typeface="+mj-ea"/>
            <a:ea typeface="+mj-ea"/>
          </a:endParaRPr>
        </a:p>
      </dgm:t>
    </dgm:pt>
    <dgm:pt modelId="{A013E96B-FFBA-4E09-A08D-4F942079FC8B}" type="sibTrans" cxnId="{D78B8711-3C3B-4770-8F20-A2498ABF1D1F}">
      <dgm:prSet/>
      <dgm:spPr/>
      <dgm:t>
        <a:bodyPr/>
        <a:lstStyle/>
        <a:p>
          <a:endParaRPr lang="zh-CN" altLang="en-US" sz="1600" b="1">
            <a:latin typeface="+mj-ea"/>
            <a:ea typeface="+mj-ea"/>
          </a:endParaRPr>
        </a:p>
      </dgm:t>
    </dgm:pt>
    <dgm:pt modelId="{C5373EC4-6628-4978-A3F1-7C90ED1706A5}" type="pres">
      <dgm:prSet presAssocID="{3B4C197A-40DF-44FF-8DE5-1A1477018A0D}" presName="Name0" presStyleCnt="0">
        <dgm:presLayoutVars>
          <dgm:dir/>
          <dgm:animLvl val="lvl"/>
          <dgm:resizeHandles val="exact"/>
        </dgm:presLayoutVars>
      </dgm:prSet>
      <dgm:spPr/>
    </dgm:pt>
    <dgm:pt modelId="{4643999D-FAA0-4BFA-A79B-97576DDE08BA}" type="pres">
      <dgm:prSet presAssocID="{26D32CAE-27E6-43E3-B44F-94C709D74FC5}" presName="Name8" presStyleCnt="0"/>
      <dgm:spPr/>
    </dgm:pt>
    <dgm:pt modelId="{7334EA3C-9BFE-4623-805B-9200ACE1C5D3}" type="pres">
      <dgm:prSet presAssocID="{26D32CAE-27E6-43E3-B44F-94C709D74FC5}" presName="level" presStyleLbl="node1" presStyleIdx="0" presStyleCnt="4" custScaleY="56786">
        <dgm:presLayoutVars>
          <dgm:chMax val="1"/>
          <dgm:bulletEnabled val="1"/>
        </dgm:presLayoutVars>
      </dgm:prSet>
      <dgm:spPr/>
    </dgm:pt>
    <dgm:pt modelId="{98B5E323-2D5C-406E-A504-8BBB4454386F}" type="pres">
      <dgm:prSet presAssocID="{26D32CAE-27E6-43E3-B44F-94C709D74FC5}" presName="levelTx" presStyleLbl="revTx" presStyleIdx="0" presStyleCnt="0">
        <dgm:presLayoutVars>
          <dgm:chMax val="1"/>
          <dgm:bulletEnabled val="1"/>
        </dgm:presLayoutVars>
      </dgm:prSet>
      <dgm:spPr/>
    </dgm:pt>
    <dgm:pt modelId="{B3BDD4ED-A98E-4898-878B-32EFDCB28A0C}" type="pres">
      <dgm:prSet presAssocID="{C51D4C69-A2F4-4AC8-8C38-B5F7FDD49463}" presName="Name8" presStyleCnt="0"/>
      <dgm:spPr/>
    </dgm:pt>
    <dgm:pt modelId="{F7A5BCF7-C215-4D38-BAFC-34826E4FCF13}" type="pres">
      <dgm:prSet presAssocID="{C51D4C69-A2F4-4AC8-8C38-B5F7FDD49463}" presName="level" presStyleLbl="node1" presStyleIdx="1" presStyleCnt="4" custScaleY="53426">
        <dgm:presLayoutVars>
          <dgm:chMax val="1"/>
          <dgm:bulletEnabled val="1"/>
        </dgm:presLayoutVars>
      </dgm:prSet>
      <dgm:spPr/>
    </dgm:pt>
    <dgm:pt modelId="{A5D3F228-FCC0-4F0D-A6D2-D9E17ACB9BF6}" type="pres">
      <dgm:prSet presAssocID="{C51D4C69-A2F4-4AC8-8C38-B5F7FDD49463}" presName="levelTx" presStyleLbl="revTx" presStyleIdx="0" presStyleCnt="0">
        <dgm:presLayoutVars>
          <dgm:chMax val="1"/>
          <dgm:bulletEnabled val="1"/>
        </dgm:presLayoutVars>
      </dgm:prSet>
      <dgm:spPr/>
    </dgm:pt>
    <dgm:pt modelId="{3174D4B1-A739-43DB-BC63-943E4B5CEE36}" type="pres">
      <dgm:prSet presAssocID="{94F5DA9B-C47F-42D9-85AF-F2CE41CAE9AC}" presName="Name8" presStyleCnt="0"/>
      <dgm:spPr/>
    </dgm:pt>
    <dgm:pt modelId="{416A8C35-4983-4523-9744-B49062F42318}" type="pres">
      <dgm:prSet presAssocID="{94F5DA9B-C47F-42D9-85AF-F2CE41CAE9AC}" presName="level" presStyleLbl="node1" presStyleIdx="2" presStyleCnt="4" custScaleY="80359">
        <dgm:presLayoutVars>
          <dgm:chMax val="1"/>
          <dgm:bulletEnabled val="1"/>
        </dgm:presLayoutVars>
      </dgm:prSet>
      <dgm:spPr/>
    </dgm:pt>
    <dgm:pt modelId="{56F2392B-73B8-4388-898D-1C379ADDADAF}" type="pres">
      <dgm:prSet presAssocID="{94F5DA9B-C47F-42D9-85AF-F2CE41CAE9AC}" presName="levelTx" presStyleLbl="revTx" presStyleIdx="0" presStyleCnt="0">
        <dgm:presLayoutVars>
          <dgm:chMax val="1"/>
          <dgm:bulletEnabled val="1"/>
        </dgm:presLayoutVars>
      </dgm:prSet>
      <dgm:spPr/>
    </dgm:pt>
    <dgm:pt modelId="{652AA80C-C231-4F93-84AF-C457CE0F9682}" type="pres">
      <dgm:prSet presAssocID="{D60BB997-B013-4537-AB63-4BB31E44A270}" presName="Name8" presStyleCnt="0"/>
      <dgm:spPr/>
    </dgm:pt>
    <dgm:pt modelId="{F5355ED1-C96C-4C18-BBB7-7E429619FD18}" type="pres">
      <dgm:prSet presAssocID="{D60BB997-B013-4537-AB63-4BB31E44A270}" presName="level" presStyleLbl="node1" presStyleIdx="3" presStyleCnt="4">
        <dgm:presLayoutVars>
          <dgm:chMax val="1"/>
          <dgm:bulletEnabled val="1"/>
        </dgm:presLayoutVars>
      </dgm:prSet>
      <dgm:spPr/>
    </dgm:pt>
    <dgm:pt modelId="{A5C5FA9D-A482-4E79-B177-0A6C1F6B8225}" type="pres">
      <dgm:prSet presAssocID="{D60BB997-B013-4537-AB63-4BB31E44A270}" presName="levelTx" presStyleLbl="revTx" presStyleIdx="0" presStyleCnt="0">
        <dgm:presLayoutVars>
          <dgm:chMax val="1"/>
          <dgm:bulletEnabled val="1"/>
        </dgm:presLayoutVars>
      </dgm:prSet>
      <dgm:spPr/>
    </dgm:pt>
  </dgm:ptLst>
  <dgm:cxnLst>
    <dgm:cxn modelId="{D78B8711-3C3B-4770-8F20-A2498ABF1D1F}" srcId="{3B4C197A-40DF-44FF-8DE5-1A1477018A0D}" destId="{D60BB997-B013-4537-AB63-4BB31E44A270}" srcOrd="3" destOrd="0" parTransId="{0E0ED361-F109-4470-8A7F-C0801B96E70B}" sibTransId="{A013E96B-FFBA-4E09-A08D-4F942079FC8B}"/>
    <dgm:cxn modelId="{23C4EA1E-9894-4877-A730-F31B72D6E31D}" type="presOf" srcId="{94F5DA9B-C47F-42D9-85AF-F2CE41CAE9AC}" destId="{416A8C35-4983-4523-9744-B49062F42318}" srcOrd="0" destOrd="0" presId="urn:microsoft.com/office/officeart/2005/8/layout/pyramid3"/>
    <dgm:cxn modelId="{BED29323-F2E9-45CF-B5B0-8CFDE8E03665}" type="presOf" srcId="{26D32CAE-27E6-43E3-B44F-94C709D74FC5}" destId="{98B5E323-2D5C-406E-A504-8BBB4454386F}" srcOrd="1" destOrd="0" presId="urn:microsoft.com/office/officeart/2005/8/layout/pyramid3"/>
    <dgm:cxn modelId="{07F93A64-03A6-4A94-98BC-E1D1B7D1ADA9}" srcId="{3B4C197A-40DF-44FF-8DE5-1A1477018A0D}" destId="{C51D4C69-A2F4-4AC8-8C38-B5F7FDD49463}" srcOrd="1" destOrd="0" parTransId="{61A1958B-437B-4A44-A0CC-A950B41ECA87}" sibTransId="{668174EB-92B3-48E2-844F-18354FCCAFC8}"/>
    <dgm:cxn modelId="{36DC5E51-92EC-4E6D-A500-6A57F1290500}" type="presOf" srcId="{D60BB997-B013-4537-AB63-4BB31E44A270}" destId="{F5355ED1-C96C-4C18-BBB7-7E429619FD18}" srcOrd="0" destOrd="0" presId="urn:microsoft.com/office/officeart/2005/8/layout/pyramid3"/>
    <dgm:cxn modelId="{70A73872-66E4-48E4-9820-E1EE4D209DE2}" srcId="{3B4C197A-40DF-44FF-8DE5-1A1477018A0D}" destId="{94F5DA9B-C47F-42D9-85AF-F2CE41CAE9AC}" srcOrd="2" destOrd="0" parTransId="{F0CE2CF1-5C39-440D-9EBD-6F92549B293D}" sibTransId="{46AF5161-554F-43CC-AC40-2154A746CD48}"/>
    <dgm:cxn modelId="{2CF41079-D38D-4F2C-99B5-3AAF2B90546D}" type="presOf" srcId="{26D32CAE-27E6-43E3-B44F-94C709D74FC5}" destId="{7334EA3C-9BFE-4623-805B-9200ACE1C5D3}" srcOrd="0" destOrd="0" presId="urn:microsoft.com/office/officeart/2005/8/layout/pyramid3"/>
    <dgm:cxn modelId="{93964081-EC9E-4B57-9029-9EDAB30B4529}" type="presOf" srcId="{C51D4C69-A2F4-4AC8-8C38-B5F7FDD49463}" destId="{A5D3F228-FCC0-4F0D-A6D2-D9E17ACB9BF6}" srcOrd="1" destOrd="0" presId="urn:microsoft.com/office/officeart/2005/8/layout/pyramid3"/>
    <dgm:cxn modelId="{2E225981-C9EB-475D-A644-A394BAA12AD8}" srcId="{3B4C197A-40DF-44FF-8DE5-1A1477018A0D}" destId="{26D32CAE-27E6-43E3-B44F-94C709D74FC5}" srcOrd="0" destOrd="0" parTransId="{9631C493-A7BE-4CEF-A5FB-9CF13DBFE769}" sibTransId="{6B439A87-C68F-4DAC-892A-D750A9557843}"/>
    <dgm:cxn modelId="{730A078B-61FD-4596-ADAE-96F4F4E58B0E}" type="presOf" srcId="{94F5DA9B-C47F-42D9-85AF-F2CE41CAE9AC}" destId="{56F2392B-73B8-4388-898D-1C379ADDADAF}" srcOrd="1" destOrd="0" presId="urn:microsoft.com/office/officeart/2005/8/layout/pyramid3"/>
    <dgm:cxn modelId="{2A0F2F90-12A3-4FAC-83FD-2AF9E725E473}" type="presOf" srcId="{3B4C197A-40DF-44FF-8DE5-1A1477018A0D}" destId="{C5373EC4-6628-4978-A3F1-7C90ED1706A5}" srcOrd="0" destOrd="0" presId="urn:microsoft.com/office/officeart/2005/8/layout/pyramid3"/>
    <dgm:cxn modelId="{D4D0CA9C-CCAB-4376-A960-E3AE9AE83D38}" type="presOf" srcId="{C51D4C69-A2F4-4AC8-8C38-B5F7FDD49463}" destId="{F7A5BCF7-C215-4D38-BAFC-34826E4FCF13}" srcOrd="0" destOrd="0" presId="urn:microsoft.com/office/officeart/2005/8/layout/pyramid3"/>
    <dgm:cxn modelId="{C9C0A3A1-B991-47C9-BBC2-E096B702E03E}" type="presOf" srcId="{D60BB997-B013-4537-AB63-4BB31E44A270}" destId="{A5C5FA9D-A482-4E79-B177-0A6C1F6B8225}" srcOrd="1" destOrd="0" presId="urn:microsoft.com/office/officeart/2005/8/layout/pyramid3"/>
    <dgm:cxn modelId="{9D6BDD29-2AD1-4FC3-9E92-17AE305799C1}" type="presParOf" srcId="{C5373EC4-6628-4978-A3F1-7C90ED1706A5}" destId="{4643999D-FAA0-4BFA-A79B-97576DDE08BA}" srcOrd="0" destOrd="0" presId="urn:microsoft.com/office/officeart/2005/8/layout/pyramid3"/>
    <dgm:cxn modelId="{073706A1-2EF5-47E2-9EC9-5DE211F486CF}" type="presParOf" srcId="{4643999D-FAA0-4BFA-A79B-97576DDE08BA}" destId="{7334EA3C-9BFE-4623-805B-9200ACE1C5D3}" srcOrd="0" destOrd="0" presId="urn:microsoft.com/office/officeart/2005/8/layout/pyramid3"/>
    <dgm:cxn modelId="{91DF37D1-0437-43E7-9A95-8D43BE67F953}" type="presParOf" srcId="{4643999D-FAA0-4BFA-A79B-97576DDE08BA}" destId="{98B5E323-2D5C-406E-A504-8BBB4454386F}" srcOrd="1" destOrd="0" presId="urn:microsoft.com/office/officeart/2005/8/layout/pyramid3"/>
    <dgm:cxn modelId="{4CA184CC-ECDE-4C34-88A4-9285468AB1E6}" type="presParOf" srcId="{C5373EC4-6628-4978-A3F1-7C90ED1706A5}" destId="{B3BDD4ED-A98E-4898-878B-32EFDCB28A0C}" srcOrd="1" destOrd="0" presId="urn:microsoft.com/office/officeart/2005/8/layout/pyramid3"/>
    <dgm:cxn modelId="{18A90202-F0D5-4DF0-9E9F-F58858904F00}" type="presParOf" srcId="{B3BDD4ED-A98E-4898-878B-32EFDCB28A0C}" destId="{F7A5BCF7-C215-4D38-BAFC-34826E4FCF13}" srcOrd="0" destOrd="0" presId="urn:microsoft.com/office/officeart/2005/8/layout/pyramid3"/>
    <dgm:cxn modelId="{C45B67AD-F23F-43DC-8A8F-D2B7122C8C34}" type="presParOf" srcId="{B3BDD4ED-A98E-4898-878B-32EFDCB28A0C}" destId="{A5D3F228-FCC0-4F0D-A6D2-D9E17ACB9BF6}" srcOrd="1" destOrd="0" presId="urn:microsoft.com/office/officeart/2005/8/layout/pyramid3"/>
    <dgm:cxn modelId="{287BB2BC-6969-4EA6-8391-B719CE2D82BA}" type="presParOf" srcId="{C5373EC4-6628-4978-A3F1-7C90ED1706A5}" destId="{3174D4B1-A739-43DB-BC63-943E4B5CEE36}" srcOrd="2" destOrd="0" presId="urn:microsoft.com/office/officeart/2005/8/layout/pyramid3"/>
    <dgm:cxn modelId="{F76ADFC0-E694-452E-A2ED-6DC920562DFA}" type="presParOf" srcId="{3174D4B1-A739-43DB-BC63-943E4B5CEE36}" destId="{416A8C35-4983-4523-9744-B49062F42318}" srcOrd="0" destOrd="0" presId="urn:microsoft.com/office/officeart/2005/8/layout/pyramid3"/>
    <dgm:cxn modelId="{A73A3C63-FA0A-4055-9D6F-7DBEE900D497}" type="presParOf" srcId="{3174D4B1-A739-43DB-BC63-943E4B5CEE36}" destId="{56F2392B-73B8-4388-898D-1C379ADDADAF}" srcOrd="1" destOrd="0" presId="urn:microsoft.com/office/officeart/2005/8/layout/pyramid3"/>
    <dgm:cxn modelId="{E63F1938-3CEE-4956-815A-0C7641799D21}" type="presParOf" srcId="{C5373EC4-6628-4978-A3F1-7C90ED1706A5}" destId="{652AA80C-C231-4F93-84AF-C457CE0F9682}" srcOrd="3" destOrd="0" presId="urn:microsoft.com/office/officeart/2005/8/layout/pyramid3"/>
    <dgm:cxn modelId="{526B1C76-F0AE-400D-8D66-ADF7A8EF1AFC}" type="presParOf" srcId="{652AA80C-C231-4F93-84AF-C457CE0F9682}" destId="{F5355ED1-C96C-4C18-BBB7-7E429619FD18}" srcOrd="0" destOrd="0" presId="urn:microsoft.com/office/officeart/2005/8/layout/pyramid3"/>
    <dgm:cxn modelId="{D87D5CAE-3D74-48AA-9CDE-C40D55757399}" type="presParOf" srcId="{652AA80C-C231-4F93-84AF-C457CE0F9682}" destId="{A5C5FA9D-A482-4E79-B177-0A6C1F6B8225}" srcOrd="1" destOrd="0" presId="urn:microsoft.com/office/officeart/2005/8/layout/pyramid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21150E04-20B0-44D5-A25B-32976FFCEFEE}" type="doc">
      <dgm:prSet loTypeId="urn:microsoft.com/office/officeart/2005/8/layout/hProcess11" loCatId="process" qsTypeId="urn:microsoft.com/office/officeart/2005/8/quickstyle/simple1" qsCatId="simple" csTypeId="urn:microsoft.com/office/officeart/2005/8/colors/colorful1" csCatId="colorful" phldr="1"/>
      <dgm:spPr/>
      <dgm:t>
        <a:bodyPr/>
        <a:lstStyle/>
        <a:p>
          <a:endParaRPr lang="zh-CN" altLang="en-US"/>
        </a:p>
      </dgm:t>
    </dgm:pt>
    <dgm:pt modelId="{05F1077E-5059-444E-B236-B76210C55B99}">
      <dgm:prSet custT="1"/>
      <dgm:spPr>
        <a:xfrm>
          <a:off x="2847" y="0"/>
          <a:ext cx="1658167" cy="1436732"/>
        </a:xfrm>
        <a:noFill/>
        <a:ln>
          <a:noFill/>
        </a:ln>
        <a:effectLst/>
      </dgm:spPr>
      <dgm:t>
        <a:bodyPr/>
        <a:lstStyle/>
        <a:p>
          <a:pPr>
            <a:buNone/>
          </a:pPr>
          <a:r>
            <a:rPr lang="en-US" sz="1100" b="1" dirty="0">
              <a:solidFill>
                <a:schemeClr val="tx1"/>
              </a:solidFill>
              <a:latin typeface="Verdana"/>
              <a:ea typeface="+mn-ea"/>
              <a:cs typeface="+mn-cs"/>
            </a:rPr>
            <a:t>MRP</a:t>
          </a:r>
          <a:r>
            <a:rPr lang="zh-CN" altLang="en-US" sz="1100" b="1" dirty="0">
              <a:solidFill>
                <a:schemeClr val="tx1"/>
              </a:solidFill>
              <a:latin typeface="Verdana"/>
              <a:ea typeface="微软雅黑" panose="020B0503020204020204" pitchFamily="34" charset="-122"/>
              <a:cs typeface="+mn-cs"/>
            </a:rPr>
            <a:t>和排程的理论（</a:t>
          </a:r>
          <a:r>
            <a:rPr lang="en-US" sz="1100" b="1" dirty="0">
              <a:solidFill>
                <a:schemeClr val="tx1"/>
              </a:solidFill>
              <a:latin typeface="Verdana"/>
              <a:ea typeface="+mn-ea"/>
              <a:cs typeface="+mn-cs"/>
            </a:rPr>
            <a:t>1960s)</a:t>
          </a:r>
          <a:endParaRPr lang="zh-CN" altLang="en-US" sz="1100" b="1" dirty="0">
            <a:solidFill>
              <a:schemeClr val="tx1"/>
            </a:solidFill>
            <a:latin typeface="Verdana"/>
            <a:ea typeface="微软雅黑" panose="020B0503020204020204" pitchFamily="34" charset="-122"/>
            <a:cs typeface="+mn-cs"/>
          </a:endParaRPr>
        </a:p>
      </dgm:t>
    </dgm:pt>
    <dgm:pt modelId="{78E09019-C6FF-4159-A634-174134BAAF1F}" type="parTrans" cxnId="{BB841DB1-1743-4A4F-8557-3C4E0F6BE078}">
      <dgm:prSet/>
      <dgm:spPr/>
      <dgm:t>
        <a:bodyPr/>
        <a:lstStyle/>
        <a:p>
          <a:endParaRPr lang="zh-CN" altLang="en-US" sz="900" b="1"/>
        </a:p>
      </dgm:t>
    </dgm:pt>
    <dgm:pt modelId="{463BC1EA-2D57-4943-B726-D977E6D37CC9}" type="sibTrans" cxnId="{BB841DB1-1743-4A4F-8557-3C4E0F6BE078}">
      <dgm:prSet/>
      <dgm:spPr/>
      <dgm:t>
        <a:bodyPr/>
        <a:lstStyle/>
        <a:p>
          <a:endParaRPr lang="zh-CN" altLang="en-US" sz="900" b="1"/>
        </a:p>
      </dgm:t>
    </dgm:pt>
    <dgm:pt modelId="{74BD54BB-B575-4331-9A64-9A801F2DAA79}">
      <dgm:prSet custT="1"/>
      <dgm:spPr>
        <a:xfrm>
          <a:off x="2847" y="0"/>
          <a:ext cx="1658167" cy="1436732"/>
        </a:xfrm>
        <a:noFill/>
        <a:ln>
          <a:noFill/>
        </a:ln>
        <a:effectLst/>
      </dgm:spPr>
      <dgm:t>
        <a:bodyPr/>
        <a:lstStyle/>
        <a:p>
          <a:pPr>
            <a:buChar char="•"/>
          </a:pPr>
          <a:r>
            <a:rPr lang="en-US" sz="1000" b="0" dirty="0">
              <a:solidFill>
                <a:schemeClr val="tx1"/>
              </a:solidFill>
              <a:latin typeface="Verdana"/>
              <a:ea typeface="+mn-ea"/>
              <a:cs typeface="+mn-cs"/>
            </a:rPr>
            <a:t>MRP I: </a:t>
          </a:r>
          <a:r>
            <a:rPr lang="zh-CN" altLang="en-US" sz="1000" b="0" dirty="0">
              <a:solidFill>
                <a:schemeClr val="tx1"/>
              </a:solidFill>
              <a:latin typeface="Verdana"/>
              <a:ea typeface="微软雅黑" panose="020B0503020204020204" pitchFamily="34" charset="-122"/>
              <a:cs typeface="+mn-cs"/>
            </a:rPr>
            <a:t>考虑</a:t>
          </a:r>
          <a:r>
            <a:rPr lang="en-US" sz="1000" b="0" dirty="0">
              <a:solidFill>
                <a:schemeClr val="tx1"/>
              </a:solidFill>
              <a:latin typeface="Verdana"/>
              <a:ea typeface="+mn-ea"/>
              <a:cs typeface="+mn-cs"/>
            </a:rPr>
            <a:t>BOM</a:t>
          </a:r>
          <a:r>
            <a:rPr lang="zh-CN" altLang="en-US" sz="1000" b="0" dirty="0">
              <a:solidFill>
                <a:schemeClr val="tx1"/>
              </a:solidFill>
              <a:latin typeface="Verdana"/>
              <a:ea typeface="微软雅黑" panose="020B0503020204020204" pitchFamily="34" charset="-122"/>
              <a:cs typeface="+mn-cs"/>
            </a:rPr>
            <a:t>和提前期，无法考虑产能约束</a:t>
          </a:r>
        </a:p>
      </dgm:t>
    </dgm:pt>
    <dgm:pt modelId="{2098BB99-91F9-445C-9CA1-2516E89FBA0A}" type="parTrans" cxnId="{C6296E5B-B6E4-4D41-841C-C6D6706FEA5E}">
      <dgm:prSet/>
      <dgm:spPr/>
      <dgm:t>
        <a:bodyPr/>
        <a:lstStyle/>
        <a:p>
          <a:endParaRPr lang="zh-CN" altLang="en-US" sz="900" b="1"/>
        </a:p>
      </dgm:t>
    </dgm:pt>
    <dgm:pt modelId="{27D94D71-B7E8-4557-9D55-E053A196035B}" type="sibTrans" cxnId="{C6296E5B-B6E4-4D41-841C-C6D6706FEA5E}">
      <dgm:prSet/>
      <dgm:spPr/>
      <dgm:t>
        <a:bodyPr/>
        <a:lstStyle/>
        <a:p>
          <a:endParaRPr lang="zh-CN" altLang="en-US" sz="900" b="1"/>
        </a:p>
      </dgm:t>
    </dgm:pt>
    <dgm:pt modelId="{E3993EDD-9143-4056-B4AF-E7800620DA17}">
      <dgm:prSet custT="1"/>
      <dgm:spPr>
        <a:xfrm>
          <a:off x="2847" y="0"/>
          <a:ext cx="1658167" cy="1436732"/>
        </a:xfrm>
        <a:noFill/>
        <a:ln>
          <a:noFill/>
        </a:ln>
        <a:effectLst/>
      </dgm:spPr>
      <dgm:t>
        <a:bodyPr/>
        <a:lstStyle/>
        <a:p>
          <a:pPr>
            <a:buChar char="•"/>
          </a:pPr>
          <a:r>
            <a:rPr lang="en-US" sz="1000" b="0" dirty="0">
              <a:solidFill>
                <a:schemeClr val="tx1"/>
              </a:solidFill>
              <a:latin typeface="Verdana"/>
              <a:ea typeface="+mn-ea"/>
              <a:cs typeface="+mn-cs"/>
            </a:rPr>
            <a:t>Scheduling: </a:t>
          </a:r>
          <a:r>
            <a:rPr lang="zh-CN" altLang="en-US" sz="1000" b="0" dirty="0">
              <a:solidFill>
                <a:schemeClr val="tx1"/>
              </a:solidFill>
              <a:latin typeface="Verdana"/>
              <a:ea typeface="微软雅黑" panose="020B0503020204020204" pitchFamily="34" charset="-122"/>
              <a:cs typeface="+mn-cs"/>
            </a:rPr>
            <a:t>排程的学术研究开始出现</a:t>
          </a:r>
        </a:p>
      </dgm:t>
    </dgm:pt>
    <dgm:pt modelId="{4EC42D25-5FB9-40EA-91A4-F8B6A4B10DBD}" type="parTrans" cxnId="{0BAD1762-7A8E-4EAE-8405-23EB1C30AA27}">
      <dgm:prSet/>
      <dgm:spPr/>
      <dgm:t>
        <a:bodyPr/>
        <a:lstStyle/>
        <a:p>
          <a:endParaRPr lang="zh-CN" altLang="en-US" sz="900" b="1"/>
        </a:p>
      </dgm:t>
    </dgm:pt>
    <dgm:pt modelId="{D434E8B8-5392-48F6-B163-EF7A9D514EEF}" type="sibTrans" cxnId="{0BAD1762-7A8E-4EAE-8405-23EB1C30AA27}">
      <dgm:prSet/>
      <dgm:spPr/>
      <dgm:t>
        <a:bodyPr/>
        <a:lstStyle/>
        <a:p>
          <a:endParaRPr lang="zh-CN" altLang="en-US" sz="900" b="1"/>
        </a:p>
      </dgm:t>
    </dgm:pt>
    <dgm:pt modelId="{A1B160FC-3F8C-4D4A-B1BA-157CBE3E2EB1}">
      <dgm:prSet custT="1"/>
      <dgm:spPr>
        <a:xfrm>
          <a:off x="1743924" y="2155099"/>
          <a:ext cx="1658167" cy="1436732"/>
        </a:xfrm>
        <a:noFill/>
        <a:ln>
          <a:noFill/>
        </a:ln>
        <a:effectLst/>
      </dgm:spPr>
      <dgm:t>
        <a:bodyPr/>
        <a:lstStyle/>
        <a:p>
          <a:pPr>
            <a:buNone/>
          </a:pPr>
          <a:r>
            <a:rPr lang="en-US" sz="1200" b="1" dirty="0">
              <a:solidFill>
                <a:schemeClr val="tx1"/>
              </a:solidFill>
              <a:latin typeface="Verdana"/>
              <a:ea typeface="+mn-ea"/>
              <a:cs typeface="+mn-cs"/>
            </a:rPr>
            <a:t>Closed-Loop MRP </a:t>
          </a:r>
          <a:r>
            <a:rPr lang="zh-CN" altLang="en-US" sz="1200" b="1" dirty="0">
              <a:solidFill>
                <a:schemeClr val="tx1"/>
              </a:solidFill>
              <a:latin typeface="Verdana"/>
              <a:ea typeface="微软雅黑" panose="020B0503020204020204" pitchFamily="34" charset="-122"/>
              <a:cs typeface="+mn-cs"/>
            </a:rPr>
            <a:t>和</a:t>
          </a:r>
          <a:r>
            <a:rPr lang="en-US" sz="1200" b="1" dirty="0">
              <a:solidFill>
                <a:schemeClr val="tx1"/>
              </a:solidFill>
              <a:latin typeface="Verdana"/>
              <a:ea typeface="+mn-ea"/>
              <a:cs typeface="+mn-cs"/>
            </a:rPr>
            <a:t>FCP(1970s)</a:t>
          </a:r>
          <a:endParaRPr lang="zh-CN" altLang="en-US" sz="1200" b="1" dirty="0">
            <a:solidFill>
              <a:schemeClr val="tx1"/>
            </a:solidFill>
            <a:latin typeface="Verdana"/>
            <a:ea typeface="微软雅黑" panose="020B0503020204020204" pitchFamily="34" charset="-122"/>
            <a:cs typeface="+mn-cs"/>
          </a:endParaRPr>
        </a:p>
      </dgm:t>
    </dgm:pt>
    <dgm:pt modelId="{366CBF4D-5A46-4C0F-9966-0F8E93C8E615}" type="parTrans" cxnId="{86C633BE-B672-4CB2-8240-806BA3517899}">
      <dgm:prSet/>
      <dgm:spPr/>
      <dgm:t>
        <a:bodyPr/>
        <a:lstStyle/>
        <a:p>
          <a:endParaRPr lang="zh-CN" altLang="en-US" sz="900" b="1"/>
        </a:p>
      </dgm:t>
    </dgm:pt>
    <dgm:pt modelId="{F8B5861D-7676-4536-BC40-FABDAEF398EE}" type="sibTrans" cxnId="{86C633BE-B672-4CB2-8240-806BA3517899}">
      <dgm:prSet/>
      <dgm:spPr/>
      <dgm:t>
        <a:bodyPr/>
        <a:lstStyle/>
        <a:p>
          <a:endParaRPr lang="zh-CN" altLang="en-US" sz="900" b="1"/>
        </a:p>
      </dgm:t>
    </dgm:pt>
    <dgm:pt modelId="{4B5237BF-33DE-4334-B308-22821013AEC8}">
      <dgm:prSet custT="1"/>
      <dgm:spPr>
        <a:xfrm>
          <a:off x="1743924" y="2155099"/>
          <a:ext cx="1658167" cy="1436732"/>
        </a:xfrm>
        <a:noFill/>
        <a:ln>
          <a:noFill/>
        </a:ln>
        <a:effectLst/>
      </dgm:spPr>
      <dgm:t>
        <a:bodyPr spcFirstLastPara="0" vert="horz" wrap="square" lIns="45720" tIns="45720" rIns="45720" bIns="45720" numCol="1" spcCol="1270" anchor="ctr" anchorCtr="0"/>
        <a:lstStyle/>
        <a:p>
          <a:pPr>
            <a:buChar char="•"/>
          </a:pPr>
          <a:r>
            <a:rPr lang="zh-CN" altLang="en-US" sz="1000" b="0" kern="1200" dirty="0">
              <a:solidFill>
                <a:schemeClr val="tx1"/>
              </a:solidFill>
              <a:latin typeface="Verdana"/>
              <a:ea typeface="微软雅黑" panose="020B0503020204020204" pitchFamily="34" charset="-122"/>
              <a:cs typeface="+mn-cs"/>
            </a:rPr>
            <a:t>闭环</a:t>
          </a:r>
          <a:r>
            <a:rPr lang="en-US" sz="1000" b="0" kern="1200" dirty="0">
              <a:solidFill>
                <a:schemeClr val="tx1"/>
              </a:solidFill>
              <a:latin typeface="Calibri"/>
              <a:ea typeface="+mn-ea"/>
              <a:cs typeface="+mn-cs"/>
            </a:rPr>
            <a:t>MRP</a:t>
          </a:r>
          <a:endParaRPr lang="zh-CN" altLang="en-US" sz="1000" b="0" kern="1200" dirty="0">
            <a:solidFill>
              <a:schemeClr val="tx1"/>
            </a:solidFill>
            <a:latin typeface="Calibri"/>
            <a:ea typeface="微软雅黑" panose="020B0503020204020204" pitchFamily="34" charset="-122"/>
            <a:cs typeface="+mn-cs"/>
          </a:endParaRPr>
        </a:p>
      </dgm:t>
    </dgm:pt>
    <dgm:pt modelId="{718DBF32-20CE-4FB7-92FD-E1C1D1F85500}" type="parTrans" cxnId="{9339A537-754D-42C1-8A02-41027C00C749}">
      <dgm:prSet/>
      <dgm:spPr/>
      <dgm:t>
        <a:bodyPr/>
        <a:lstStyle/>
        <a:p>
          <a:endParaRPr lang="zh-CN" altLang="en-US" sz="900" b="1"/>
        </a:p>
      </dgm:t>
    </dgm:pt>
    <dgm:pt modelId="{B6C63822-3E83-469F-BC47-06893E447405}" type="sibTrans" cxnId="{9339A537-754D-42C1-8A02-41027C00C749}">
      <dgm:prSet/>
      <dgm:spPr/>
      <dgm:t>
        <a:bodyPr/>
        <a:lstStyle/>
        <a:p>
          <a:endParaRPr lang="zh-CN" altLang="en-US" sz="900" b="1"/>
        </a:p>
      </dgm:t>
    </dgm:pt>
    <dgm:pt modelId="{956DE809-8762-4581-8ADA-98260167741D}">
      <dgm:prSet custT="1"/>
      <dgm:spPr>
        <a:xfrm>
          <a:off x="1743924" y="2155099"/>
          <a:ext cx="1658167" cy="1436732"/>
        </a:xfrm>
        <a:noFill/>
        <a:ln>
          <a:noFill/>
        </a:ln>
        <a:effectLst/>
      </dgm:spPr>
      <dgm:t>
        <a:bodyPr spcFirstLastPara="0" vert="horz" wrap="square" lIns="45720" tIns="45720" rIns="45720" bIns="45720" numCol="1" spcCol="1270" anchor="ctr" anchorCtr="0"/>
        <a:lstStyle/>
        <a:p>
          <a:pPr>
            <a:buChar char="•"/>
          </a:pPr>
          <a:r>
            <a:rPr lang="en-US" sz="1000" b="0" kern="1200" dirty="0">
              <a:solidFill>
                <a:schemeClr val="tx1"/>
              </a:solidFill>
              <a:latin typeface="Verdana"/>
              <a:ea typeface="+mn-ea"/>
              <a:cs typeface="+mn-cs"/>
            </a:rPr>
            <a:t>FCP: </a:t>
          </a:r>
          <a:r>
            <a:rPr lang="zh-CN" altLang="en-US" sz="1000" b="0" kern="1200" dirty="0">
              <a:solidFill>
                <a:schemeClr val="tx1"/>
              </a:solidFill>
              <a:latin typeface="Verdana"/>
              <a:ea typeface="微软雅黑" panose="020B0503020204020204" pitchFamily="34" charset="-122"/>
              <a:cs typeface="+mn-cs"/>
            </a:rPr>
            <a:t>开始考量能力规划</a:t>
          </a:r>
        </a:p>
      </dgm:t>
    </dgm:pt>
    <dgm:pt modelId="{BACC4AB2-E869-42B7-BE2E-2E292FBD05E3}" type="parTrans" cxnId="{84DAA852-02BA-4516-8643-F4E9AB27AFA9}">
      <dgm:prSet/>
      <dgm:spPr/>
      <dgm:t>
        <a:bodyPr/>
        <a:lstStyle/>
        <a:p>
          <a:endParaRPr lang="zh-CN" altLang="en-US" sz="900" b="1"/>
        </a:p>
      </dgm:t>
    </dgm:pt>
    <dgm:pt modelId="{5549B74E-1AFE-47B0-BEE0-08870C6CBFD2}" type="sibTrans" cxnId="{84DAA852-02BA-4516-8643-F4E9AB27AFA9}">
      <dgm:prSet/>
      <dgm:spPr/>
      <dgm:t>
        <a:bodyPr/>
        <a:lstStyle/>
        <a:p>
          <a:endParaRPr lang="zh-CN" altLang="en-US" sz="900" b="1"/>
        </a:p>
      </dgm:t>
    </dgm:pt>
    <dgm:pt modelId="{6164DEAF-6E2F-4171-8471-27DF1C932110}">
      <dgm:prSet custT="1"/>
      <dgm:spPr>
        <a:xfrm>
          <a:off x="3485000" y="0"/>
          <a:ext cx="1658167" cy="1436732"/>
        </a:xfrm>
        <a:noFill/>
        <a:ln>
          <a:noFill/>
        </a:ln>
        <a:effectLst/>
      </dgm:spPr>
      <dgm:t>
        <a:bodyPr/>
        <a:lstStyle/>
        <a:p>
          <a:pPr>
            <a:buNone/>
          </a:pPr>
          <a:r>
            <a:rPr lang="en-US" sz="1200" b="1" dirty="0">
              <a:solidFill>
                <a:schemeClr val="tx1"/>
              </a:solidFill>
              <a:latin typeface="Verdana"/>
              <a:ea typeface="+mn-ea"/>
              <a:cs typeface="+mn-cs"/>
            </a:rPr>
            <a:t>MRPII (1980s)</a:t>
          </a:r>
          <a:endParaRPr lang="zh-CN" altLang="en-US" sz="1200" b="1" dirty="0">
            <a:solidFill>
              <a:schemeClr val="tx1"/>
            </a:solidFill>
            <a:latin typeface="Verdana"/>
            <a:ea typeface="微软雅黑" panose="020B0503020204020204" pitchFamily="34" charset="-122"/>
            <a:cs typeface="+mn-cs"/>
          </a:endParaRPr>
        </a:p>
      </dgm:t>
    </dgm:pt>
    <dgm:pt modelId="{3661F725-5988-4C4E-B5FD-666F3FFA9ADA}" type="parTrans" cxnId="{D95CCE3C-A8C6-4BBA-B297-01BEE0FFA87E}">
      <dgm:prSet/>
      <dgm:spPr/>
      <dgm:t>
        <a:bodyPr/>
        <a:lstStyle/>
        <a:p>
          <a:endParaRPr lang="zh-CN" altLang="en-US" sz="900" b="1"/>
        </a:p>
      </dgm:t>
    </dgm:pt>
    <dgm:pt modelId="{654FB6CA-3905-449B-9815-25E0DC3AE207}" type="sibTrans" cxnId="{D95CCE3C-A8C6-4BBA-B297-01BEE0FFA87E}">
      <dgm:prSet/>
      <dgm:spPr/>
      <dgm:t>
        <a:bodyPr/>
        <a:lstStyle/>
        <a:p>
          <a:endParaRPr lang="zh-CN" altLang="en-US" sz="900" b="1"/>
        </a:p>
      </dgm:t>
    </dgm:pt>
    <dgm:pt modelId="{590C9677-8576-4586-BF56-18C4C19A4762}">
      <dgm:prSet custT="1"/>
      <dgm:spPr>
        <a:xfrm>
          <a:off x="3485000" y="0"/>
          <a:ext cx="1658167" cy="1436732"/>
        </a:xfrm>
        <a:noFill/>
        <a:ln>
          <a:noFill/>
        </a:ln>
        <a:effectLst/>
      </dgm:spPr>
      <dgm:t>
        <a:bodyPr/>
        <a:lstStyle/>
        <a:p>
          <a:pPr>
            <a:buChar char="•"/>
          </a:pPr>
          <a:r>
            <a:rPr lang="zh-CN" altLang="en-US" sz="1000" b="0" dirty="0">
              <a:solidFill>
                <a:schemeClr val="tx1"/>
              </a:solidFill>
              <a:latin typeface="Verdana"/>
              <a:ea typeface="微软雅黑" panose="020B0503020204020204" pitchFamily="34" charset="-122"/>
              <a:cs typeface="+mn-cs"/>
            </a:rPr>
            <a:t>财务与</a:t>
          </a:r>
          <a:r>
            <a:rPr lang="en-US" sz="1000" b="0" dirty="0">
              <a:solidFill>
                <a:schemeClr val="tx1"/>
              </a:solidFill>
              <a:latin typeface="Verdana"/>
              <a:ea typeface="+mn-ea"/>
              <a:cs typeface="+mn-cs"/>
            </a:rPr>
            <a:t>RCCP,CRP</a:t>
          </a:r>
          <a:endParaRPr lang="zh-CN" altLang="en-US" sz="1000" b="0" dirty="0">
            <a:solidFill>
              <a:schemeClr val="tx1"/>
            </a:solidFill>
            <a:latin typeface="Verdana"/>
            <a:ea typeface="微软雅黑" panose="020B0503020204020204" pitchFamily="34" charset="-122"/>
            <a:cs typeface="+mn-cs"/>
          </a:endParaRPr>
        </a:p>
      </dgm:t>
    </dgm:pt>
    <dgm:pt modelId="{FBFA7F2D-8A07-47EA-936D-499A76022306}" type="parTrans" cxnId="{83BEE874-CACE-4C65-818F-FA4C9F553B58}">
      <dgm:prSet/>
      <dgm:spPr/>
      <dgm:t>
        <a:bodyPr/>
        <a:lstStyle/>
        <a:p>
          <a:endParaRPr lang="zh-CN" altLang="en-US" sz="900" b="1"/>
        </a:p>
      </dgm:t>
    </dgm:pt>
    <dgm:pt modelId="{49D58656-B400-49F3-BBC1-1897E2E923FA}" type="sibTrans" cxnId="{83BEE874-CACE-4C65-818F-FA4C9F553B58}">
      <dgm:prSet/>
      <dgm:spPr/>
      <dgm:t>
        <a:bodyPr/>
        <a:lstStyle/>
        <a:p>
          <a:endParaRPr lang="zh-CN" altLang="en-US" sz="900" b="1"/>
        </a:p>
      </dgm:t>
    </dgm:pt>
    <dgm:pt modelId="{3CF5A725-7A9C-4231-81C8-906BFFB92916}">
      <dgm:prSet custT="1"/>
      <dgm:spPr>
        <a:xfrm>
          <a:off x="5226076" y="2155099"/>
          <a:ext cx="1658167" cy="1436732"/>
        </a:xfrm>
        <a:noFill/>
        <a:ln>
          <a:noFill/>
        </a:ln>
        <a:effectLst/>
      </dgm:spPr>
      <dgm:t>
        <a:bodyPr/>
        <a:lstStyle/>
        <a:p>
          <a:pPr>
            <a:buNone/>
          </a:pPr>
          <a:r>
            <a:rPr lang="en-US" sz="1200" b="1" dirty="0">
              <a:solidFill>
                <a:schemeClr val="tx1"/>
              </a:solidFill>
              <a:latin typeface="Verdana"/>
              <a:ea typeface="+mn-ea"/>
              <a:cs typeface="+mn-cs"/>
            </a:rPr>
            <a:t>ERP (1990s)</a:t>
          </a:r>
          <a:endParaRPr lang="zh-CN" altLang="en-US" sz="1200" b="1" dirty="0">
            <a:solidFill>
              <a:schemeClr val="tx1"/>
            </a:solidFill>
            <a:latin typeface="Verdana"/>
            <a:ea typeface="微软雅黑" panose="020B0503020204020204" pitchFamily="34" charset="-122"/>
            <a:cs typeface="+mn-cs"/>
          </a:endParaRPr>
        </a:p>
      </dgm:t>
    </dgm:pt>
    <dgm:pt modelId="{A0F231F4-4EF2-4872-B42D-451855EB0DC1}" type="parTrans" cxnId="{F2C52985-2B52-4F9E-B133-1C338015A50D}">
      <dgm:prSet/>
      <dgm:spPr/>
      <dgm:t>
        <a:bodyPr/>
        <a:lstStyle/>
        <a:p>
          <a:endParaRPr lang="zh-CN" altLang="en-US" sz="900" b="1"/>
        </a:p>
      </dgm:t>
    </dgm:pt>
    <dgm:pt modelId="{09AF7CB1-893F-46FF-8A9D-801B3486E735}" type="sibTrans" cxnId="{F2C52985-2B52-4F9E-B133-1C338015A50D}">
      <dgm:prSet/>
      <dgm:spPr/>
      <dgm:t>
        <a:bodyPr/>
        <a:lstStyle/>
        <a:p>
          <a:endParaRPr lang="zh-CN" altLang="en-US" sz="900" b="1"/>
        </a:p>
      </dgm:t>
    </dgm:pt>
    <dgm:pt modelId="{3B840E21-1EA0-4FB7-97A5-A3B2F88D992C}">
      <dgm:prSet custT="1"/>
      <dgm:spPr>
        <a:xfrm>
          <a:off x="5226076" y="2155099"/>
          <a:ext cx="1658167" cy="1436732"/>
        </a:xfrm>
        <a:noFill/>
        <a:ln>
          <a:noFill/>
        </a:ln>
        <a:effectLst/>
      </dgm:spPr>
      <dgm:t>
        <a:bodyPr/>
        <a:lstStyle/>
        <a:p>
          <a:pPr>
            <a:buChar char="•"/>
          </a:pPr>
          <a:r>
            <a:rPr lang="zh-CN" altLang="en-US" sz="1000" b="0" dirty="0">
              <a:solidFill>
                <a:schemeClr val="tx1"/>
              </a:solidFill>
              <a:latin typeface="Verdana"/>
              <a:ea typeface="微软雅黑" panose="020B0503020204020204" pitchFamily="34" charset="-122"/>
              <a:cs typeface="+mn-cs"/>
            </a:rPr>
            <a:t>基于</a:t>
          </a:r>
          <a:r>
            <a:rPr lang="en-US" sz="1000" b="0" dirty="0">
              <a:solidFill>
                <a:schemeClr val="tx1"/>
              </a:solidFill>
              <a:latin typeface="Verdana"/>
              <a:ea typeface="+mn-ea"/>
              <a:cs typeface="+mn-cs"/>
            </a:rPr>
            <a:t>MRPII</a:t>
          </a:r>
          <a:r>
            <a:rPr lang="zh-CN" altLang="en-US" sz="1000" b="0" dirty="0">
              <a:solidFill>
                <a:schemeClr val="tx1"/>
              </a:solidFill>
              <a:latin typeface="Verdana"/>
              <a:ea typeface="微软雅黑" panose="020B0503020204020204" pitchFamily="34" charset="-122"/>
              <a:cs typeface="+mn-cs"/>
            </a:rPr>
            <a:t>扩展到整个供应链</a:t>
          </a:r>
        </a:p>
      </dgm:t>
    </dgm:pt>
    <dgm:pt modelId="{7A454623-00DC-4BD1-A711-70B9013D1D8E}" type="parTrans" cxnId="{D4FEDA2B-ABD7-4C90-848E-0B276D44D770}">
      <dgm:prSet/>
      <dgm:spPr/>
      <dgm:t>
        <a:bodyPr/>
        <a:lstStyle/>
        <a:p>
          <a:endParaRPr lang="zh-CN" altLang="en-US" sz="900" b="1"/>
        </a:p>
      </dgm:t>
    </dgm:pt>
    <dgm:pt modelId="{A89AA6CC-C741-4DCA-868A-DC16FE53A65F}" type="sibTrans" cxnId="{D4FEDA2B-ABD7-4C90-848E-0B276D44D770}">
      <dgm:prSet/>
      <dgm:spPr/>
      <dgm:t>
        <a:bodyPr/>
        <a:lstStyle/>
        <a:p>
          <a:endParaRPr lang="zh-CN" altLang="en-US" sz="900" b="1"/>
        </a:p>
      </dgm:t>
    </dgm:pt>
    <dgm:pt modelId="{21C89396-8FB6-472F-8EC9-13BC7788B742}">
      <dgm:prSet custT="1"/>
      <dgm:spPr>
        <a:xfrm>
          <a:off x="5226076" y="2155099"/>
          <a:ext cx="1658167" cy="1436732"/>
        </a:xfrm>
        <a:noFill/>
        <a:ln>
          <a:noFill/>
        </a:ln>
        <a:effectLst/>
      </dgm:spPr>
      <dgm:t>
        <a:bodyPr/>
        <a:lstStyle/>
        <a:p>
          <a:pPr>
            <a:buChar char="•"/>
          </a:pPr>
          <a:r>
            <a:rPr lang="en-US" sz="1000" b="0" dirty="0">
              <a:solidFill>
                <a:schemeClr val="tx1"/>
              </a:solidFill>
              <a:latin typeface="Verdana"/>
              <a:ea typeface="+mn-ea"/>
              <a:cs typeface="+mn-cs"/>
            </a:rPr>
            <a:t>APS</a:t>
          </a:r>
          <a:r>
            <a:rPr lang="zh-CN" altLang="en-US" sz="1000" b="0" dirty="0">
              <a:solidFill>
                <a:schemeClr val="tx1"/>
              </a:solidFill>
              <a:latin typeface="Verdana"/>
              <a:ea typeface="微软雅黑" panose="020B0503020204020204" pitchFamily="34" charset="-122"/>
              <a:cs typeface="+mn-cs"/>
            </a:rPr>
            <a:t>作为术语开始出现</a:t>
          </a:r>
        </a:p>
      </dgm:t>
    </dgm:pt>
    <dgm:pt modelId="{F80ECCDE-A09F-487A-B77D-0FD97FE9B0EF}" type="parTrans" cxnId="{1D5DB5DF-6AF5-4D64-AFE0-36775C16E08A}">
      <dgm:prSet/>
      <dgm:spPr/>
      <dgm:t>
        <a:bodyPr/>
        <a:lstStyle/>
        <a:p>
          <a:endParaRPr lang="zh-CN" altLang="en-US" sz="900" b="1"/>
        </a:p>
      </dgm:t>
    </dgm:pt>
    <dgm:pt modelId="{6778E9D8-5735-4FC3-969A-58064323BB44}" type="sibTrans" cxnId="{1D5DB5DF-6AF5-4D64-AFE0-36775C16E08A}">
      <dgm:prSet/>
      <dgm:spPr/>
      <dgm:t>
        <a:bodyPr/>
        <a:lstStyle/>
        <a:p>
          <a:endParaRPr lang="zh-CN" altLang="en-US" sz="900" b="1"/>
        </a:p>
      </dgm:t>
    </dgm:pt>
    <dgm:pt modelId="{3B1D7BD6-4BA8-49F9-99F4-BFF62FDD31F9}">
      <dgm:prSet custT="1"/>
      <dgm:spPr>
        <a:xfrm>
          <a:off x="6967152" y="0"/>
          <a:ext cx="1658167" cy="1436732"/>
        </a:xfrm>
        <a:noFill/>
        <a:ln>
          <a:noFill/>
        </a:ln>
        <a:effectLst/>
      </dgm:spPr>
      <dgm:t>
        <a:bodyPr/>
        <a:lstStyle/>
        <a:p>
          <a:pPr>
            <a:buNone/>
          </a:pPr>
          <a:r>
            <a:rPr lang="en-US" sz="1200" b="1" dirty="0">
              <a:solidFill>
                <a:schemeClr val="tx1"/>
              </a:solidFill>
              <a:latin typeface="Verdana"/>
              <a:ea typeface="+mn-ea"/>
              <a:cs typeface="+mn-cs"/>
            </a:rPr>
            <a:t>IBP(2000s,</a:t>
          </a:r>
          <a:r>
            <a:rPr lang="zh-CN" altLang="en-US" sz="1200" b="1" dirty="0">
              <a:solidFill>
                <a:schemeClr val="tx1"/>
              </a:solidFill>
              <a:latin typeface="Verdana"/>
              <a:ea typeface="+mn-ea"/>
              <a:cs typeface="+mn-cs"/>
            </a:rPr>
            <a:t>从</a:t>
          </a:r>
          <a:r>
            <a:rPr lang="en-US" altLang="zh-CN" sz="1200" b="1" dirty="0">
              <a:solidFill>
                <a:schemeClr val="tx1"/>
              </a:solidFill>
              <a:latin typeface="Verdana"/>
              <a:ea typeface="+mn-ea"/>
              <a:cs typeface="+mn-cs"/>
            </a:rPr>
            <a:t>S&amp;OP</a:t>
          </a:r>
          <a:r>
            <a:rPr lang="zh-CN" altLang="en-US" sz="1200" b="1" dirty="0">
              <a:solidFill>
                <a:schemeClr val="tx1"/>
              </a:solidFill>
              <a:latin typeface="Verdana"/>
              <a:ea typeface="+mn-ea"/>
              <a:cs typeface="+mn-cs"/>
            </a:rPr>
            <a:t>升级而来</a:t>
          </a:r>
          <a:r>
            <a:rPr lang="en-US" sz="1200" b="1" dirty="0">
              <a:solidFill>
                <a:schemeClr val="tx1"/>
              </a:solidFill>
              <a:latin typeface="Verdana"/>
              <a:ea typeface="+mn-ea"/>
              <a:cs typeface="+mn-cs"/>
            </a:rPr>
            <a:t>)</a:t>
          </a:r>
          <a:endParaRPr lang="zh-CN" altLang="en-US" sz="1200" b="1" dirty="0">
            <a:solidFill>
              <a:schemeClr val="tx1"/>
            </a:solidFill>
            <a:latin typeface="Verdana"/>
            <a:ea typeface="微软雅黑" panose="020B0503020204020204" pitchFamily="34" charset="-122"/>
            <a:cs typeface="+mn-cs"/>
          </a:endParaRPr>
        </a:p>
      </dgm:t>
    </dgm:pt>
    <dgm:pt modelId="{85D39276-7F67-4289-8FD1-32BBAE23D63F}" type="parTrans" cxnId="{D93A0893-67FC-43B8-95E2-767741A0313B}">
      <dgm:prSet/>
      <dgm:spPr/>
      <dgm:t>
        <a:bodyPr/>
        <a:lstStyle/>
        <a:p>
          <a:endParaRPr lang="zh-CN" altLang="en-US" sz="900" b="1"/>
        </a:p>
      </dgm:t>
    </dgm:pt>
    <dgm:pt modelId="{DEB06B8F-90FB-4A22-92FA-1A11CA185605}" type="sibTrans" cxnId="{D93A0893-67FC-43B8-95E2-767741A0313B}">
      <dgm:prSet/>
      <dgm:spPr/>
      <dgm:t>
        <a:bodyPr/>
        <a:lstStyle/>
        <a:p>
          <a:endParaRPr lang="zh-CN" altLang="en-US" sz="900" b="1"/>
        </a:p>
      </dgm:t>
    </dgm:pt>
    <dgm:pt modelId="{41D2E2A2-BE43-4F53-977F-ADFA46B80D67}">
      <dgm:prSet custT="1"/>
      <dgm:spPr>
        <a:xfrm>
          <a:off x="6967152" y="0"/>
          <a:ext cx="1658167" cy="1436732"/>
        </a:xfrm>
        <a:noFill/>
        <a:ln>
          <a:noFill/>
        </a:ln>
        <a:effectLst/>
      </dgm:spPr>
      <dgm:t>
        <a:bodyPr/>
        <a:lstStyle/>
        <a:p>
          <a:pPr>
            <a:buChar char="•"/>
          </a:pPr>
          <a:r>
            <a:rPr lang="zh-CN" altLang="en-US" sz="1000" b="0" dirty="0">
              <a:solidFill>
                <a:schemeClr val="tx1"/>
              </a:solidFill>
              <a:latin typeface="Verdana"/>
              <a:ea typeface="微软雅黑" panose="020B0503020204020204" pitchFamily="34" charset="-122"/>
              <a:cs typeface="+mn-cs"/>
            </a:rPr>
            <a:t>产销协同</a:t>
          </a:r>
        </a:p>
      </dgm:t>
    </dgm:pt>
    <dgm:pt modelId="{0E00B183-4D1D-4FC0-B3E8-C4A23B0B540A}" type="parTrans" cxnId="{3F0F6E15-91AB-40DA-BB21-2BC350AE4EB5}">
      <dgm:prSet/>
      <dgm:spPr/>
      <dgm:t>
        <a:bodyPr/>
        <a:lstStyle/>
        <a:p>
          <a:endParaRPr lang="zh-CN" altLang="en-US" sz="900" b="1"/>
        </a:p>
      </dgm:t>
    </dgm:pt>
    <dgm:pt modelId="{C000463F-7803-4057-8FC0-7302F00E2C62}" type="sibTrans" cxnId="{3F0F6E15-91AB-40DA-BB21-2BC350AE4EB5}">
      <dgm:prSet/>
      <dgm:spPr/>
      <dgm:t>
        <a:bodyPr/>
        <a:lstStyle/>
        <a:p>
          <a:endParaRPr lang="zh-CN" altLang="en-US" sz="900" b="1"/>
        </a:p>
      </dgm:t>
    </dgm:pt>
    <dgm:pt modelId="{EF3CBFAA-65B7-4D20-B3E2-5E6EA3786433}">
      <dgm:prSet custT="1"/>
      <dgm:spPr>
        <a:xfrm>
          <a:off x="6967152" y="0"/>
          <a:ext cx="1658167" cy="1436732"/>
        </a:xfrm>
        <a:noFill/>
        <a:ln>
          <a:noFill/>
        </a:ln>
        <a:effectLst/>
      </dgm:spPr>
      <dgm:t>
        <a:bodyPr/>
        <a:lstStyle/>
        <a:p>
          <a:pPr>
            <a:buChar char="•"/>
          </a:pPr>
          <a:r>
            <a:rPr lang="zh-CN" altLang="en-US" sz="1000" b="0" dirty="0">
              <a:solidFill>
                <a:schemeClr val="tx1"/>
              </a:solidFill>
              <a:latin typeface="Verdana"/>
              <a:ea typeface="微软雅黑" panose="020B0503020204020204" pitchFamily="34" charset="-122"/>
              <a:cs typeface="+mn-cs"/>
            </a:rPr>
            <a:t>大量</a:t>
          </a:r>
          <a:r>
            <a:rPr lang="en-US" sz="1000" b="0" dirty="0">
              <a:solidFill>
                <a:schemeClr val="tx1"/>
              </a:solidFill>
              <a:latin typeface="Verdana"/>
              <a:ea typeface="+mn-ea"/>
              <a:cs typeface="+mn-cs"/>
            </a:rPr>
            <a:t>APS</a:t>
          </a:r>
          <a:r>
            <a:rPr lang="zh-CN" altLang="en-US" sz="1000" b="0" dirty="0">
              <a:solidFill>
                <a:schemeClr val="tx1"/>
              </a:solidFill>
              <a:latin typeface="Verdana"/>
              <a:ea typeface="微软雅黑" panose="020B0503020204020204" pitchFamily="34" charset="-122"/>
              <a:cs typeface="+mn-cs"/>
            </a:rPr>
            <a:t>公司进入和退出</a:t>
          </a:r>
        </a:p>
      </dgm:t>
    </dgm:pt>
    <dgm:pt modelId="{E6DFA98A-D287-4B8E-B8FE-21E66F32A3FB}" type="parTrans" cxnId="{72AEFF5B-D725-4DC3-9218-5B40A6808809}">
      <dgm:prSet/>
      <dgm:spPr/>
      <dgm:t>
        <a:bodyPr/>
        <a:lstStyle/>
        <a:p>
          <a:endParaRPr lang="zh-CN" altLang="en-US" sz="900" b="1"/>
        </a:p>
      </dgm:t>
    </dgm:pt>
    <dgm:pt modelId="{0E6156EC-6920-4F19-B65F-B20DAFAAA010}" type="sibTrans" cxnId="{72AEFF5B-D725-4DC3-9218-5B40A6808809}">
      <dgm:prSet/>
      <dgm:spPr/>
      <dgm:t>
        <a:bodyPr/>
        <a:lstStyle/>
        <a:p>
          <a:endParaRPr lang="zh-CN" altLang="en-US" sz="900" b="1"/>
        </a:p>
      </dgm:t>
    </dgm:pt>
    <dgm:pt modelId="{4C34961F-D750-456E-AEAE-7406F9DE1CDA}">
      <dgm:prSet custT="1"/>
      <dgm:spPr>
        <a:xfrm>
          <a:off x="6967152" y="0"/>
          <a:ext cx="1658167" cy="1436732"/>
        </a:xfrm>
        <a:noFill/>
        <a:ln>
          <a:noFill/>
        </a:ln>
        <a:effectLst/>
      </dgm:spPr>
      <dgm:t>
        <a:bodyPr/>
        <a:lstStyle/>
        <a:p>
          <a:pPr>
            <a:buChar char="•"/>
          </a:pPr>
          <a:r>
            <a:rPr lang="en-US" sz="1000" b="0" dirty="0">
              <a:solidFill>
                <a:schemeClr val="tx1"/>
              </a:solidFill>
              <a:latin typeface="Verdana"/>
              <a:ea typeface="+mn-ea"/>
              <a:cs typeface="+mn-cs"/>
            </a:rPr>
            <a:t>ERP</a:t>
          </a:r>
          <a:r>
            <a:rPr lang="zh-CN" altLang="en-US" sz="1000" b="0" dirty="0">
              <a:solidFill>
                <a:schemeClr val="tx1"/>
              </a:solidFill>
              <a:latin typeface="Verdana"/>
              <a:ea typeface="微软雅黑" panose="020B0503020204020204" pitchFamily="34" charset="-122"/>
              <a:cs typeface="+mn-cs"/>
            </a:rPr>
            <a:t>开始出现</a:t>
          </a:r>
          <a:r>
            <a:rPr lang="en-US" sz="1000" b="0" dirty="0">
              <a:solidFill>
                <a:schemeClr val="tx1"/>
              </a:solidFill>
              <a:latin typeface="Verdana"/>
              <a:ea typeface="+mn-ea"/>
              <a:cs typeface="+mn-cs"/>
            </a:rPr>
            <a:t>MRPI</a:t>
          </a:r>
          <a:r>
            <a:rPr lang="zh-CN" altLang="en-US" sz="1000" b="0" dirty="0">
              <a:solidFill>
                <a:schemeClr val="tx1"/>
              </a:solidFill>
              <a:latin typeface="Verdana"/>
              <a:ea typeface="微软雅黑" panose="020B0503020204020204" pitchFamily="34" charset="-122"/>
              <a:cs typeface="+mn-cs"/>
            </a:rPr>
            <a:t>功能</a:t>
          </a:r>
        </a:p>
      </dgm:t>
    </dgm:pt>
    <dgm:pt modelId="{D02034FE-F948-4F2C-A346-A8EFF8298E18}" type="parTrans" cxnId="{3506ABD3-73A2-412C-82AD-825D9E5642AD}">
      <dgm:prSet/>
      <dgm:spPr/>
      <dgm:t>
        <a:bodyPr/>
        <a:lstStyle/>
        <a:p>
          <a:endParaRPr lang="zh-CN" altLang="en-US" sz="900" b="1"/>
        </a:p>
      </dgm:t>
    </dgm:pt>
    <dgm:pt modelId="{00BE329D-6F11-479A-8CA1-535BDD119E59}" type="sibTrans" cxnId="{3506ABD3-73A2-412C-82AD-825D9E5642AD}">
      <dgm:prSet/>
      <dgm:spPr/>
      <dgm:t>
        <a:bodyPr/>
        <a:lstStyle/>
        <a:p>
          <a:endParaRPr lang="zh-CN" altLang="en-US" sz="900" b="1"/>
        </a:p>
      </dgm:t>
    </dgm:pt>
    <dgm:pt modelId="{242D5A2B-7B8B-450A-9FAC-6E5479CB9FBF}">
      <dgm:prSet custT="1"/>
      <dgm:spPr>
        <a:xfrm>
          <a:off x="8708228" y="2155099"/>
          <a:ext cx="1658167" cy="1436732"/>
        </a:xfrm>
        <a:noFill/>
        <a:ln>
          <a:noFill/>
        </a:ln>
        <a:effectLst/>
      </dgm:spPr>
      <dgm:t>
        <a:bodyPr/>
        <a:lstStyle/>
        <a:p>
          <a:pPr>
            <a:buNone/>
          </a:pPr>
          <a:r>
            <a:rPr lang="en-US" sz="1200" b="1" dirty="0">
              <a:solidFill>
                <a:schemeClr val="accent1">
                  <a:lumMod val="60000"/>
                  <a:lumOff val="40000"/>
                </a:schemeClr>
              </a:solidFill>
              <a:latin typeface="Verdana"/>
              <a:ea typeface="+mn-ea"/>
              <a:cs typeface="+mn-cs"/>
            </a:rPr>
            <a:t>Control Tower</a:t>
          </a:r>
          <a:r>
            <a:rPr lang="zh-CN" altLang="en-US" sz="1200" b="1" dirty="0">
              <a:solidFill>
                <a:schemeClr val="accent1">
                  <a:lumMod val="60000"/>
                  <a:lumOff val="40000"/>
                </a:schemeClr>
              </a:solidFill>
              <a:latin typeface="Verdana"/>
              <a:ea typeface="微软雅黑" panose="020B0503020204020204" pitchFamily="34" charset="-122"/>
              <a:cs typeface="+mn-cs"/>
            </a:rPr>
            <a:t>（向未来</a:t>
          </a:r>
          <a:r>
            <a:rPr lang="en-US" altLang="zh-CN" sz="1200" b="1" dirty="0">
              <a:solidFill>
                <a:schemeClr val="accent1">
                  <a:lumMod val="60000"/>
                  <a:lumOff val="40000"/>
                </a:schemeClr>
              </a:solidFill>
              <a:latin typeface="Verdana"/>
              <a:ea typeface="微软雅黑" panose="020B0503020204020204" pitchFamily="34" charset="-122"/>
              <a:cs typeface="+mn-cs"/>
            </a:rPr>
            <a:t>,</a:t>
          </a:r>
          <a:r>
            <a:rPr lang="zh-CN" altLang="en-US" sz="1200" b="1" dirty="0">
              <a:solidFill>
                <a:schemeClr val="accent1">
                  <a:lumMod val="60000"/>
                  <a:lumOff val="40000"/>
                </a:schemeClr>
              </a:solidFill>
              <a:latin typeface="Verdana"/>
              <a:ea typeface="微软雅黑" panose="020B0503020204020204" pitchFamily="34" charset="-122"/>
              <a:cs typeface="+mn-cs"/>
            </a:rPr>
            <a:t>未来以来）</a:t>
          </a:r>
        </a:p>
      </dgm:t>
    </dgm:pt>
    <dgm:pt modelId="{2AFD64A5-CFF3-46FB-8396-816ADDAA936C}" type="sibTrans" cxnId="{D52562EB-2EBC-45D7-A488-CC12AFD96E23}">
      <dgm:prSet/>
      <dgm:spPr/>
      <dgm:t>
        <a:bodyPr/>
        <a:lstStyle/>
        <a:p>
          <a:endParaRPr lang="zh-CN" altLang="en-US" sz="900" b="1"/>
        </a:p>
      </dgm:t>
    </dgm:pt>
    <dgm:pt modelId="{E654BE28-D538-429C-BB6D-143937DACD53}" type="parTrans" cxnId="{D52562EB-2EBC-45D7-A488-CC12AFD96E23}">
      <dgm:prSet/>
      <dgm:spPr/>
      <dgm:t>
        <a:bodyPr/>
        <a:lstStyle/>
        <a:p>
          <a:endParaRPr lang="zh-CN" altLang="en-US" sz="900" b="1"/>
        </a:p>
      </dgm:t>
    </dgm:pt>
    <dgm:pt modelId="{243C2BF3-7B4D-4018-A333-BAAC39D69FC5}">
      <dgm:prSet custT="1"/>
      <dgm:spPr>
        <a:xfrm>
          <a:off x="8708228" y="2155099"/>
          <a:ext cx="1658167" cy="1436732"/>
        </a:xfrm>
        <a:noFill/>
        <a:ln>
          <a:noFill/>
        </a:ln>
        <a:effectLst/>
      </dgm:spPr>
      <dgm:t>
        <a:bodyPr/>
        <a:lstStyle/>
        <a:p>
          <a:pPr>
            <a:buChar char="•"/>
          </a:pPr>
          <a:r>
            <a:rPr lang="zh-CN" altLang="en-US" sz="1000" b="0" dirty="0">
              <a:solidFill>
                <a:schemeClr val="tx1"/>
              </a:solidFill>
              <a:latin typeface="Verdana"/>
              <a:ea typeface="微软雅黑" panose="020B0503020204020204" pitchFamily="34" charset="-122"/>
              <a:cs typeface="+mn-cs"/>
            </a:rPr>
            <a:t>控制塔，</a:t>
          </a:r>
          <a:r>
            <a:rPr lang="en-US" sz="1000" b="0" dirty="0">
              <a:solidFill>
                <a:schemeClr val="tx1"/>
              </a:solidFill>
              <a:latin typeface="Verdana"/>
              <a:ea typeface="+mn-ea"/>
              <a:cs typeface="+mn-cs"/>
            </a:rPr>
            <a:t>ML&amp;AI etc.</a:t>
          </a:r>
          <a:endParaRPr lang="zh-CN" altLang="en-US" sz="1000" b="0" dirty="0">
            <a:solidFill>
              <a:schemeClr val="tx1"/>
            </a:solidFill>
            <a:latin typeface="Verdana"/>
            <a:ea typeface="微软雅黑" panose="020B0503020204020204" pitchFamily="34" charset="-122"/>
            <a:cs typeface="+mn-cs"/>
          </a:endParaRPr>
        </a:p>
      </dgm:t>
    </dgm:pt>
    <dgm:pt modelId="{6656D40D-365A-4170-9911-354FD1F9B7C6}" type="sibTrans" cxnId="{F87D42DC-0083-43DE-91B4-BB4064165E7E}">
      <dgm:prSet/>
      <dgm:spPr/>
      <dgm:t>
        <a:bodyPr/>
        <a:lstStyle/>
        <a:p>
          <a:endParaRPr lang="zh-CN" altLang="en-US" sz="900" b="1"/>
        </a:p>
      </dgm:t>
    </dgm:pt>
    <dgm:pt modelId="{6FAB9106-BE43-476B-BBF5-146B80CA46EA}" type="parTrans" cxnId="{F87D42DC-0083-43DE-91B4-BB4064165E7E}">
      <dgm:prSet/>
      <dgm:spPr/>
      <dgm:t>
        <a:bodyPr/>
        <a:lstStyle/>
        <a:p>
          <a:endParaRPr lang="zh-CN" altLang="en-US" sz="900" b="1"/>
        </a:p>
      </dgm:t>
    </dgm:pt>
    <dgm:pt modelId="{B114F287-7F41-46AB-B6BF-093F2D5BDBD1}" type="pres">
      <dgm:prSet presAssocID="{21150E04-20B0-44D5-A25B-32976FFCEFEE}" presName="Name0" presStyleCnt="0">
        <dgm:presLayoutVars>
          <dgm:dir/>
          <dgm:resizeHandles val="exact"/>
        </dgm:presLayoutVars>
      </dgm:prSet>
      <dgm:spPr/>
    </dgm:pt>
    <dgm:pt modelId="{16A39D2B-87B8-4E05-94BF-AC601247C8D8}" type="pres">
      <dgm:prSet presAssocID="{21150E04-20B0-44D5-A25B-32976FFCEFEE}" presName="arrow" presStyleLbl="bgShp" presStyleIdx="0" presStyleCnt="1"/>
      <dgm:spPr/>
    </dgm:pt>
    <dgm:pt modelId="{B856FBA3-4632-4B9C-A797-AB87B1BE2F92}" type="pres">
      <dgm:prSet presAssocID="{21150E04-20B0-44D5-A25B-32976FFCEFEE}" presName="points" presStyleCnt="0"/>
      <dgm:spPr/>
    </dgm:pt>
    <dgm:pt modelId="{BEB813D8-652F-4FD8-B53F-997819A36ECB}" type="pres">
      <dgm:prSet presAssocID="{05F1077E-5059-444E-B236-B76210C55B99}" presName="compositeA" presStyleCnt="0"/>
      <dgm:spPr/>
    </dgm:pt>
    <dgm:pt modelId="{66E70FB7-249B-430C-B785-AE9EF55B69B1}" type="pres">
      <dgm:prSet presAssocID="{05F1077E-5059-444E-B236-B76210C55B99}" presName="textA" presStyleLbl="revTx" presStyleIdx="0" presStyleCnt="6">
        <dgm:presLayoutVars>
          <dgm:bulletEnabled val="1"/>
        </dgm:presLayoutVars>
      </dgm:prSet>
      <dgm:spPr/>
    </dgm:pt>
    <dgm:pt modelId="{E0709588-20B4-4DA3-B4A6-66A30C79DAA7}" type="pres">
      <dgm:prSet presAssocID="{05F1077E-5059-444E-B236-B76210C55B99}" presName="circleA" presStyleLbl="node1" presStyleIdx="0" presStyleCnt="6"/>
      <dgm:spPr/>
    </dgm:pt>
    <dgm:pt modelId="{416D0CE5-1C6E-4EEC-B890-1AC26EFB2D99}" type="pres">
      <dgm:prSet presAssocID="{05F1077E-5059-444E-B236-B76210C55B99}" presName="spaceA" presStyleCnt="0"/>
      <dgm:spPr/>
    </dgm:pt>
    <dgm:pt modelId="{9DEA3F64-80F2-4B60-8100-4BED511CAC73}" type="pres">
      <dgm:prSet presAssocID="{463BC1EA-2D57-4943-B726-D977E6D37CC9}" presName="space" presStyleCnt="0"/>
      <dgm:spPr/>
    </dgm:pt>
    <dgm:pt modelId="{3FFE5F24-885A-475A-BB8F-0061E24037FC}" type="pres">
      <dgm:prSet presAssocID="{A1B160FC-3F8C-4D4A-B1BA-157CBE3E2EB1}" presName="compositeB" presStyleCnt="0"/>
      <dgm:spPr/>
    </dgm:pt>
    <dgm:pt modelId="{C02DC4FD-F31F-44AC-B3A4-2E164D1DA63C}" type="pres">
      <dgm:prSet presAssocID="{A1B160FC-3F8C-4D4A-B1BA-157CBE3E2EB1}" presName="textB" presStyleLbl="revTx" presStyleIdx="1" presStyleCnt="6">
        <dgm:presLayoutVars>
          <dgm:bulletEnabled val="1"/>
        </dgm:presLayoutVars>
      </dgm:prSet>
      <dgm:spPr/>
    </dgm:pt>
    <dgm:pt modelId="{8C35D34E-4667-4AF4-8A15-7A980D3B5A96}" type="pres">
      <dgm:prSet presAssocID="{A1B160FC-3F8C-4D4A-B1BA-157CBE3E2EB1}" presName="circleB" presStyleLbl="node1" presStyleIdx="1" presStyleCnt="6"/>
      <dgm:spPr/>
    </dgm:pt>
    <dgm:pt modelId="{2AB0D94C-F180-46BD-8688-90052E7A3C14}" type="pres">
      <dgm:prSet presAssocID="{A1B160FC-3F8C-4D4A-B1BA-157CBE3E2EB1}" presName="spaceB" presStyleCnt="0"/>
      <dgm:spPr/>
    </dgm:pt>
    <dgm:pt modelId="{FF50986C-295A-4EFC-B793-D9FD82F0A3D5}" type="pres">
      <dgm:prSet presAssocID="{F8B5861D-7676-4536-BC40-FABDAEF398EE}" presName="space" presStyleCnt="0"/>
      <dgm:spPr/>
    </dgm:pt>
    <dgm:pt modelId="{7E6378DF-08F4-4760-BB52-6295C0EB7C75}" type="pres">
      <dgm:prSet presAssocID="{6164DEAF-6E2F-4171-8471-27DF1C932110}" presName="compositeA" presStyleCnt="0"/>
      <dgm:spPr/>
    </dgm:pt>
    <dgm:pt modelId="{13C2F964-43DD-40A7-9757-1CBDBB46F4EB}" type="pres">
      <dgm:prSet presAssocID="{6164DEAF-6E2F-4171-8471-27DF1C932110}" presName="textA" presStyleLbl="revTx" presStyleIdx="2" presStyleCnt="6">
        <dgm:presLayoutVars>
          <dgm:bulletEnabled val="1"/>
        </dgm:presLayoutVars>
      </dgm:prSet>
      <dgm:spPr/>
    </dgm:pt>
    <dgm:pt modelId="{D6F092BD-1812-48D8-8BEF-4095A3B80B35}" type="pres">
      <dgm:prSet presAssocID="{6164DEAF-6E2F-4171-8471-27DF1C932110}" presName="circleA" presStyleLbl="node1" presStyleIdx="2" presStyleCnt="6"/>
      <dgm:spPr/>
    </dgm:pt>
    <dgm:pt modelId="{DA071E99-4721-43DB-A489-501BFC586897}" type="pres">
      <dgm:prSet presAssocID="{6164DEAF-6E2F-4171-8471-27DF1C932110}" presName="spaceA" presStyleCnt="0"/>
      <dgm:spPr/>
    </dgm:pt>
    <dgm:pt modelId="{AB3E003B-8A8A-48E1-8F61-5D1E408BBD13}" type="pres">
      <dgm:prSet presAssocID="{654FB6CA-3905-449B-9815-25E0DC3AE207}" presName="space" presStyleCnt="0"/>
      <dgm:spPr/>
    </dgm:pt>
    <dgm:pt modelId="{7406DC36-0034-4EC9-9E8D-DFB6467069EA}" type="pres">
      <dgm:prSet presAssocID="{3CF5A725-7A9C-4231-81C8-906BFFB92916}" presName="compositeB" presStyleCnt="0"/>
      <dgm:spPr/>
    </dgm:pt>
    <dgm:pt modelId="{6E8E79FC-702B-4633-AAD8-50FBE9D7CBF5}" type="pres">
      <dgm:prSet presAssocID="{3CF5A725-7A9C-4231-81C8-906BFFB92916}" presName="textB" presStyleLbl="revTx" presStyleIdx="3" presStyleCnt="6">
        <dgm:presLayoutVars>
          <dgm:bulletEnabled val="1"/>
        </dgm:presLayoutVars>
      </dgm:prSet>
      <dgm:spPr/>
    </dgm:pt>
    <dgm:pt modelId="{051517A0-227F-421F-AD31-AA840B3A19D6}" type="pres">
      <dgm:prSet presAssocID="{3CF5A725-7A9C-4231-81C8-906BFFB92916}" presName="circleB" presStyleLbl="node1" presStyleIdx="3" presStyleCnt="6"/>
      <dgm:spPr/>
    </dgm:pt>
    <dgm:pt modelId="{17B9CC94-7CE6-425F-A4C3-41FC7621B529}" type="pres">
      <dgm:prSet presAssocID="{3CF5A725-7A9C-4231-81C8-906BFFB92916}" presName="spaceB" presStyleCnt="0"/>
      <dgm:spPr/>
    </dgm:pt>
    <dgm:pt modelId="{67AE162A-0BA4-49E4-8871-AC10334446A6}" type="pres">
      <dgm:prSet presAssocID="{09AF7CB1-893F-46FF-8A9D-801B3486E735}" presName="space" presStyleCnt="0"/>
      <dgm:spPr/>
    </dgm:pt>
    <dgm:pt modelId="{F1CA2144-F23D-4411-B820-7FD4504B0B0A}" type="pres">
      <dgm:prSet presAssocID="{3B1D7BD6-4BA8-49F9-99F4-BFF62FDD31F9}" presName="compositeA" presStyleCnt="0"/>
      <dgm:spPr/>
    </dgm:pt>
    <dgm:pt modelId="{2AF7793E-C75D-4820-B0B0-F2F4553AFEF3}" type="pres">
      <dgm:prSet presAssocID="{3B1D7BD6-4BA8-49F9-99F4-BFF62FDD31F9}" presName="textA" presStyleLbl="revTx" presStyleIdx="4" presStyleCnt="6">
        <dgm:presLayoutVars>
          <dgm:bulletEnabled val="1"/>
        </dgm:presLayoutVars>
      </dgm:prSet>
      <dgm:spPr/>
    </dgm:pt>
    <dgm:pt modelId="{C53AA3FE-2AE3-404C-8F23-965296B10C49}" type="pres">
      <dgm:prSet presAssocID="{3B1D7BD6-4BA8-49F9-99F4-BFF62FDD31F9}" presName="circleA" presStyleLbl="node1" presStyleIdx="4" presStyleCnt="6"/>
      <dgm:spPr/>
    </dgm:pt>
    <dgm:pt modelId="{C0938222-A511-40EC-8D8B-0C25456A5908}" type="pres">
      <dgm:prSet presAssocID="{3B1D7BD6-4BA8-49F9-99F4-BFF62FDD31F9}" presName="spaceA" presStyleCnt="0"/>
      <dgm:spPr/>
    </dgm:pt>
    <dgm:pt modelId="{3C2B3CF4-ABD8-4A48-83E4-79BC8B5CC696}" type="pres">
      <dgm:prSet presAssocID="{DEB06B8F-90FB-4A22-92FA-1A11CA185605}" presName="space" presStyleCnt="0"/>
      <dgm:spPr/>
    </dgm:pt>
    <dgm:pt modelId="{31BF4AEB-A44E-4D82-AB3E-FC0D2263F004}" type="pres">
      <dgm:prSet presAssocID="{242D5A2B-7B8B-450A-9FAC-6E5479CB9FBF}" presName="compositeB" presStyleCnt="0"/>
      <dgm:spPr/>
    </dgm:pt>
    <dgm:pt modelId="{42639C05-850D-419E-A56A-82E1CD6178CD}" type="pres">
      <dgm:prSet presAssocID="{242D5A2B-7B8B-450A-9FAC-6E5479CB9FBF}" presName="textB" presStyleLbl="revTx" presStyleIdx="5" presStyleCnt="6">
        <dgm:presLayoutVars>
          <dgm:bulletEnabled val="1"/>
        </dgm:presLayoutVars>
      </dgm:prSet>
      <dgm:spPr/>
    </dgm:pt>
    <dgm:pt modelId="{4AEBD6FA-FC60-46D8-AC3D-BB4BA14A8539}" type="pres">
      <dgm:prSet presAssocID="{242D5A2B-7B8B-450A-9FAC-6E5479CB9FBF}" presName="circleB" presStyleLbl="node1" presStyleIdx="5" presStyleCnt="6"/>
      <dgm:spPr/>
    </dgm:pt>
    <dgm:pt modelId="{F2D34444-0406-4BC3-9FF6-871BF8305D32}" type="pres">
      <dgm:prSet presAssocID="{242D5A2B-7B8B-450A-9FAC-6E5479CB9FBF}" presName="spaceB" presStyleCnt="0"/>
      <dgm:spPr/>
    </dgm:pt>
  </dgm:ptLst>
  <dgm:cxnLst>
    <dgm:cxn modelId="{4452CE06-3410-44A4-BB1B-45E04C308FC0}" type="presOf" srcId="{74BD54BB-B575-4331-9A64-9A801F2DAA79}" destId="{66E70FB7-249B-430C-B785-AE9EF55B69B1}" srcOrd="0" destOrd="1" presId="urn:microsoft.com/office/officeart/2005/8/layout/hProcess11"/>
    <dgm:cxn modelId="{F7D3F709-618E-46B7-8325-465F24AEEF4E}" type="presOf" srcId="{EF3CBFAA-65B7-4D20-B3E2-5E6EA3786433}" destId="{2AF7793E-C75D-4820-B0B0-F2F4553AFEF3}" srcOrd="0" destOrd="2" presId="urn:microsoft.com/office/officeart/2005/8/layout/hProcess11"/>
    <dgm:cxn modelId="{EBA44A0C-63EF-4FD6-A728-56D040453200}" type="presOf" srcId="{3B840E21-1EA0-4FB7-97A5-A3B2F88D992C}" destId="{6E8E79FC-702B-4633-AAD8-50FBE9D7CBF5}" srcOrd="0" destOrd="1" presId="urn:microsoft.com/office/officeart/2005/8/layout/hProcess11"/>
    <dgm:cxn modelId="{3F0F6E15-91AB-40DA-BB21-2BC350AE4EB5}" srcId="{3B1D7BD6-4BA8-49F9-99F4-BFF62FDD31F9}" destId="{41D2E2A2-BE43-4F53-977F-ADFA46B80D67}" srcOrd="0" destOrd="0" parTransId="{0E00B183-4D1D-4FC0-B3E8-C4A23B0B540A}" sibTransId="{C000463F-7803-4057-8FC0-7302F00E2C62}"/>
    <dgm:cxn modelId="{35BC6A2B-B17C-442E-83E9-150779194EEA}" type="presOf" srcId="{05F1077E-5059-444E-B236-B76210C55B99}" destId="{66E70FB7-249B-430C-B785-AE9EF55B69B1}" srcOrd="0" destOrd="0" presId="urn:microsoft.com/office/officeart/2005/8/layout/hProcess11"/>
    <dgm:cxn modelId="{D4FEDA2B-ABD7-4C90-848E-0B276D44D770}" srcId="{3CF5A725-7A9C-4231-81C8-906BFFB92916}" destId="{3B840E21-1EA0-4FB7-97A5-A3B2F88D992C}" srcOrd="0" destOrd="0" parTransId="{7A454623-00DC-4BD1-A711-70B9013D1D8E}" sibTransId="{A89AA6CC-C741-4DCA-868A-DC16FE53A65F}"/>
    <dgm:cxn modelId="{9339A537-754D-42C1-8A02-41027C00C749}" srcId="{A1B160FC-3F8C-4D4A-B1BA-157CBE3E2EB1}" destId="{4B5237BF-33DE-4334-B308-22821013AEC8}" srcOrd="0" destOrd="0" parTransId="{718DBF32-20CE-4FB7-92FD-E1C1D1F85500}" sibTransId="{B6C63822-3E83-469F-BC47-06893E447405}"/>
    <dgm:cxn modelId="{D95CCE3C-A8C6-4BBA-B297-01BEE0FFA87E}" srcId="{21150E04-20B0-44D5-A25B-32976FFCEFEE}" destId="{6164DEAF-6E2F-4171-8471-27DF1C932110}" srcOrd="2" destOrd="0" parTransId="{3661F725-5988-4C4E-B5FD-666F3FFA9ADA}" sibTransId="{654FB6CA-3905-449B-9815-25E0DC3AE207}"/>
    <dgm:cxn modelId="{C6296E5B-B6E4-4D41-841C-C6D6706FEA5E}" srcId="{05F1077E-5059-444E-B236-B76210C55B99}" destId="{74BD54BB-B575-4331-9A64-9A801F2DAA79}" srcOrd="0" destOrd="0" parTransId="{2098BB99-91F9-445C-9CA1-2516E89FBA0A}" sibTransId="{27D94D71-B7E8-4557-9D55-E053A196035B}"/>
    <dgm:cxn modelId="{72AEFF5B-D725-4DC3-9218-5B40A6808809}" srcId="{3B1D7BD6-4BA8-49F9-99F4-BFF62FDD31F9}" destId="{EF3CBFAA-65B7-4D20-B3E2-5E6EA3786433}" srcOrd="1" destOrd="0" parTransId="{E6DFA98A-D287-4B8E-B8FE-21E66F32A3FB}" sibTransId="{0E6156EC-6920-4F19-B65F-B20DAFAAA010}"/>
    <dgm:cxn modelId="{15D7F55D-E3ED-4C3C-990C-A1F089BEB1F6}" type="presOf" srcId="{41D2E2A2-BE43-4F53-977F-ADFA46B80D67}" destId="{2AF7793E-C75D-4820-B0B0-F2F4553AFEF3}" srcOrd="0" destOrd="1" presId="urn:microsoft.com/office/officeart/2005/8/layout/hProcess11"/>
    <dgm:cxn modelId="{0BAD1762-7A8E-4EAE-8405-23EB1C30AA27}" srcId="{05F1077E-5059-444E-B236-B76210C55B99}" destId="{E3993EDD-9143-4056-B4AF-E7800620DA17}" srcOrd="1" destOrd="0" parTransId="{4EC42D25-5FB9-40EA-91A4-F8B6A4B10DBD}" sibTransId="{D434E8B8-5392-48F6-B163-EF7A9D514EEF}"/>
    <dgm:cxn modelId="{E2294366-F1DF-4231-8B02-78D7439A6CA7}" type="presOf" srcId="{21C89396-8FB6-472F-8EC9-13BC7788B742}" destId="{6E8E79FC-702B-4633-AAD8-50FBE9D7CBF5}" srcOrd="0" destOrd="2" presId="urn:microsoft.com/office/officeart/2005/8/layout/hProcess11"/>
    <dgm:cxn modelId="{3B1DDE66-4C3E-4DDD-9712-E534A516CDFF}" type="presOf" srcId="{956DE809-8762-4581-8ADA-98260167741D}" destId="{C02DC4FD-F31F-44AC-B3A4-2E164D1DA63C}" srcOrd="0" destOrd="2" presId="urn:microsoft.com/office/officeart/2005/8/layout/hProcess11"/>
    <dgm:cxn modelId="{D072C34E-32D4-41D4-81B9-FB42C7F664E6}" type="presOf" srcId="{3CF5A725-7A9C-4231-81C8-906BFFB92916}" destId="{6E8E79FC-702B-4633-AAD8-50FBE9D7CBF5}" srcOrd="0" destOrd="0" presId="urn:microsoft.com/office/officeart/2005/8/layout/hProcess11"/>
    <dgm:cxn modelId="{84DAA852-02BA-4516-8643-F4E9AB27AFA9}" srcId="{A1B160FC-3F8C-4D4A-B1BA-157CBE3E2EB1}" destId="{956DE809-8762-4581-8ADA-98260167741D}" srcOrd="1" destOrd="0" parTransId="{BACC4AB2-E869-42B7-BE2E-2E292FBD05E3}" sibTransId="{5549B74E-1AFE-47B0-BEE0-08870C6CBFD2}"/>
    <dgm:cxn modelId="{83BEE874-CACE-4C65-818F-FA4C9F553B58}" srcId="{6164DEAF-6E2F-4171-8471-27DF1C932110}" destId="{590C9677-8576-4586-BF56-18C4C19A4762}" srcOrd="0" destOrd="0" parTransId="{FBFA7F2D-8A07-47EA-936D-499A76022306}" sibTransId="{49D58656-B400-49F3-BBC1-1897E2E923FA}"/>
    <dgm:cxn modelId="{83E62857-4D12-4347-ADFB-5014D1063BCD}" type="presOf" srcId="{A1B160FC-3F8C-4D4A-B1BA-157CBE3E2EB1}" destId="{C02DC4FD-F31F-44AC-B3A4-2E164D1DA63C}" srcOrd="0" destOrd="0" presId="urn:microsoft.com/office/officeart/2005/8/layout/hProcess11"/>
    <dgm:cxn modelId="{F2C52985-2B52-4F9E-B133-1C338015A50D}" srcId="{21150E04-20B0-44D5-A25B-32976FFCEFEE}" destId="{3CF5A725-7A9C-4231-81C8-906BFFB92916}" srcOrd="3" destOrd="0" parTransId="{A0F231F4-4EF2-4872-B42D-451855EB0DC1}" sibTransId="{09AF7CB1-893F-46FF-8A9D-801B3486E735}"/>
    <dgm:cxn modelId="{D93A0893-67FC-43B8-95E2-767741A0313B}" srcId="{21150E04-20B0-44D5-A25B-32976FFCEFEE}" destId="{3B1D7BD6-4BA8-49F9-99F4-BFF62FDD31F9}" srcOrd="4" destOrd="0" parTransId="{85D39276-7F67-4289-8FD1-32BBAE23D63F}" sibTransId="{DEB06B8F-90FB-4A22-92FA-1A11CA185605}"/>
    <dgm:cxn modelId="{35E92298-3D60-4F8D-9ABE-65BB914045DD}" type="presOf" srcId="{242D5A2B-7B8B-450A-9FAC-6E5479CB9FBF}" destId="{42639C05-850D-419E-A56A-82E1CD6178CD}" srcOrd="0" destOrd="0" presId="urn:microsoft.com/office/officeart/2005/8/layout/hProcess11"/>
    <dgm:cxn modelId="{A838679C-360C-4553-A0D0-E6D51B8D5650}" type="presOf" srcId="{4B5237BF-33DE-4334-B308-22821013AEC8}" destId="{C02DC4FD-F31F-44AC-B3A4-2E164D1DA63C}" srcOrd="0" destOrd="1" presId="urn:microsoft.com/office/officeart/2005/8/layout/hProcess11"/>
    <dgm:cxn modelId="{BB841DB1-1743-4A4F-8557-3C4E0F6BE078}" srcId="{21150E04-20B0-44D5-A25B-32976FFCEFEE}" destId="{05F1077E-5059-444E-B236-B76210C55B99}" srcOrd="0" destOrd="0" parTransId="{78E09019-C6FF-4159-A634-174134BAAF1F}" sibTransId="{463BC1EA-2D57-4943-B726-D977E6D37CC9}"/>
    <dgm:cxn modelId="{FEEAABB6-39B0-4E54-9EA9-3182FDACC014}" type="presOf" srcId="{3B1D7BD6-4BA8-49F9-99F4-BFF62FDD31F9}" destId="{2AF7793E-C75D-4820-B0B0-F2F4553AFEF3}" srcOrd="0" destOrd="0" presId="urn:microsoft.com/office/officeart/2005/8/layout/hProcess11"/>
    <dgm:cxn modelId="{3F0CEEBB-8C76-473D-8EEA-A78818185BA3}" type="presOf" srcId="{E3993EDD-9143-4056-B4AF-E7800620DA17}" destId="{66E70FB7-249B-430C-B785-AE9EF55B69B1}" srcOrd="0" destOrd="2" presId="urn:microsoft.com/office/officeart/2005/8/layout/hProcess11"/>
    <dgm:cxn modelId="{2292ACBC-C0F0-4735-A149-F8E0DBEA547F}" type="presOf" srcId="{6164DEAF-6E2F-4171-8471-27DF1C932110}" destId="{13C2F964-43DD-40A7-9757-1CBDBB46F4EB}" srcOrd="0" destOrd="0" presId="urn:microsoft.com/office/officeart/2005/8/layout/hProcess11"/>
    <dgm:cxn modelId="{86C633BE-B672-4CB2-8240-806BA3517899}" srcId="{21150E04-20B0-44D5-A25B-32976FFCEFEE}" destId="{A1B160FC-3F8C-4D4A-B1BA-157CBE3E2EB1}" srcOrd="1" destOrd="0" parTransId="{366CBF4D-5A46-4C0F-9966-0F8E93C8E615}" sibTransId="{F8B5861D-7676-4536-BC40-FABDAEF398EE}"/>
    <dgm:cxn modelId="{E64B90C8-8EC8-411C-8C4B-C09C9CF4A2D6}" type="presOf" srcId="{21150E04-20B0-44D5-A25B-32976FFCEFEE}" destId="{B114F287-7F41-46AB-B6BF-093F2D5BDBD1}" srcOrd="0" destOrd="0" presId="urn:microsoft.com/office/officeart/2005/8/layout/hProcess11"/>
    <dgm:cxn modelId="{3506ABD3-73A2-412C-82AD-825D9E5642AD}" srcId="{3B1D7BD6-4BA8-49F9-99F4-BFF62FDD31F9}" destId="{4C34961F-D750-456E-AEAE-7406F9DE1CDA}" srcOrd="2" destOrd="0" parTransId="{D02034FE-F948-4F2C-A346-A8EFF8298E18}" sibTransId="{00BE329D-6F11-479A-8CA1-535BDD119E59}"/>
    <dgm:cxn modelId="{B8F4C9D4-AFDF-4BF5-A252-3048E8399BDB}" type="presOf" srcId="{4C34961F-D750-456E-AEAE-7406F9DE1CDA}" destId="{2AF7793E-C75D-4820-B0B0-F2F4553AFEF3}" srcOrd="0" destOrd="3" presId="urn:microsoft.com/office/officeart/2005/8/layout/hProcess11"/>
    <dgm:cxn modelId="{F87D42DC-0083-43DE-91B4-BB4064165E7E}" srcId="{242D5A2B-7B8B-450A-9FAC-6E5479CB9FBF}" destId="{243C2BF3-7B4D-4018-A333-BAAC39D69FC5}" srcOrd="0" destOrd="0" parTransId="{6FAB9106-BE43-476B-BBF5-146B80CA46EA}" sibTransId="{6656D40D-365A-4170-9911-354FD1F9B7C6}"/>
    <dgm:cxn modelId="{1D5DB5DF-6AF5-4D64-AFE0-36775C16E08A}" srcId="{3CF5A725-7A9C-4231-81C8-906BFFB92916}" destId="{21C89396-8FB6-472F-8EC9-13BC7788B742}" srcOrd="1" destOrd="0" parTransId="{F80ECCDE-A09F-487A-B77D-0FD97FE9B0EF}" sibTransId="{6778E9D8-5735-4FC3-969A-58064323BB44}"/>
    <dgm:cxn modelId="{A37DF7E0-3C45-4E82-A7FC-D148A668A7D9}" type="presOf" srcId="{243C2BF3-7B4D-4018-A333-BAAC39D69FC5}" destId="{42639C05-850D-419E-A56A-82E1CD6178CD}" srcOrd="0" destOrd="1" presId="urn:microsoft.com/office/officeart/2005/8/layout/hProcess11"/>
    <dgm:cxn modelId="{AA02E1E4-3770-45C3-ABA0-46948E2E8DA0}" type="presOf" srcId="{590C9677-8576-4586-BF56-18C4C19A4762}" destId="{13C2F964-43DD-40A7-9757-1CBDBB46F4EB}" srcOrd="0" destOrd="1" presId="urn:microsoft.com/office/officeart/2005/8/layout/hProcess11"/>
    <dgm:cxn modelId="{D52562EB-2EBC-45D7-A488-CC12AFD96E23}" srcId="{21150E04-20B0-44D5-A25B-32976FFCEFEE}" destId="{242D5A2B-7B8B-450A-9FAC-6E5479CB9FBF}" srcOrd="5" destOrd="0" parTransId="{E654BE28-D538-429C-BB6D-143937DACD53}" sibTransId="{2AFD64A5-CFF3-46FB-8396-816ADDAA936C}"/>
    <dgm:cxn modelId="{38768244-B3F8-45F2-9664-33BACB50BA4C}" type="presParOf" srcId="{B114F287-7F41-46AB-B6BF-093F2D5BDBD1}" destId="{16A39D2B-87B8-4E05-94BF-AC601247C8D8}" srcOrd="0" destOrd="0" presId="urn:microsoft.com/office/officeart/2005/8/layout/hProcess11"/>
    <dgm:cxn modelId="{DB97A08D-0381-46C0-B2F0-331302346A75}" type="presParOf" srcId="{B114F287-7F41-46AB-B6BF-093F2D5BDBD1}" destId="{B856FBA3-4632-4B9C-A797-AB87B1BE2F92}" srcOrd="1" destOrd="0" presId="urn:microsoft.com/office/officeart/2005/8/layout/hProcess11"/>
    <dgm:cxn modelId="{C72F1265-DB69-4C8D-8816-D1FA6068E6FB}" type="presParOf" srcId="{B856FBA3-4632-4B9C-A797-AB87B1BE2F92}" destId="{BEB813D8-652F-4FD8-B53F-997819A36ECB}" srcOrd="0" destOrd="0" presId="urn:microsoft.com/office/officeart/2005/8/layout/hProcess11"/>
    <dgm:cxn modelId="{0FBE6401-6CEA-4BAF-B0AB-7A464B3DE0CF}" type="presParOf" srcId="{BEB813D8-652F-4FD8-B53F-997819A36ECB}" destId="{66E70FB7-249B-430C-B785-AE9EF55B69B1}" srcOrd="0" destOrd="0" presId="urn:microsoft.com/office/officeart/2005/8/layout/hProcess11"/>
    <dgm:cxn modelId="{AB4D2511-5615-4858-BD7B-81E478C748B0}" type="presParOf" srcId="{BEB813D8-652F-4FD8-B53F-997819A36ECB}" destId="{E0709588-20B4-4DA3-B4A6-66A30C79DAA7}" srcOrd="1" destOrd="0" presId="urn:microsoft.com/office/officeart/2005/8/layout/hProcess11"/>
    <dgm:cxn modelId="{1BA300EC-DF77-4164-AD2A-DA7F308A7B53}" type="presParOf" srcId="{BEB813D8-652F-4FD8-B53F-997819A36ECB}" destId="{416D0CE5-1C6E-4EEC-B890-1AC26EFB2D99}" srcOrd="2" destOrd="0" presId="urn:microsoft.com/office/officeart/2005/8/layout/hProcess11"/>
    <dgm:cxn modelId="{E44599A9-69DF-4AD1-8F73-D4C79D880EB3}" type="presParOf" srcId="{B856FBA3-4632-4B9C-A797-AB87B1BE2F92}" destId="{9DEA3F64-80F2-4B60-8100-4BED511CAC73}" srcOrd="1" destOrd="0" presId="urn:microsoft.com/office/officeart/2005/8/layout/hProcess11"/>
    <dgm:cxn modelId="{D83FE5B7-F7C3-4224-B924-77C335DF16A3}" type="presParOf" srcId="{B856FBA3-4632-4B9C-A797-AB87B1BE2F92}" destId="{3FFE5F24-885A-475A-BB8F-0061E24037FC}" srcOrd="2" destOrd="0" presId="urn:microsoft.com/office/officeart/2005/8/layout/hProcess11"/>
    <dgm:cxn modelId="{5A8584EB-FBD4-4C7C-997F-8ECDDAE2E47B}" type="presParOf" srcId="{3FFE5F24-885A-475A-BB8F-0061E24037FC}" destId="{C02DC4FD-F31F-44AC-B3A4-2E164D1DA63C}" srcOrd="0" destOrd="0" presId="urn:microsoft.com/office/officeart/2005/8/layout/hProcess11"/>
    <dgm:cxn modelId="{F90F1819-7E3F-4DB9-9673-45C4A70FE1F4}" type="presParOf" srcId="{3FFE5F24-885A-475A-BB8F-0061E24037FC}" destId="{8C35D34E-4667-4AF4-8A15-7A980D3B5A96}" srcOrd="1" destOrd="0" presId="urn:microsoft.com/office/officeart/2005/8/layout/hProcess11"/>
    <dgm:cxn modelId="{FF5AB552-3D40-4F28-A066-92F17484C534}" type="presParOf" srcId="{3FFE5F24-885A-475A-BB8F-0061E24037FC}" destId="{2AB0D94C-F180-46BD-8688-90052E7A3C14}" srcOrd="2" destOrd="0" presId="urn:microsoft.com/office/officeart/2005/8/layout/hProcess11"/>
    <dgm:cxn modelId="{82628D47-35B1-4EE6-BE7D-D1BF7D3CAF4A}" type="presParOf" srcId="{B856FBA3-4632-4B9C-A797-AB87B1BE2F92}" destId="{FF50986C-295A-4EFC-B793-D9FD82F0A3D5}" srcOrd="3" destOrd="0" presId="urn:microsoft.com/office/officeart/2005/8/layout/hProcess11"/>
    <dgm:cxn modelId="{FF9FAD01-754F-493A-BB48-24A53E0C261B}" type="presParOf" srcId="{B856FBA3-4632-4B9C-A797-AB87B1BE2F92}" destId="{7E6378DF-08F4-4760-BB52-6295C0EB7C75}" srcOrd="4" destOrd="0" presId="urn:microsoft.com/office/officeart/2005/8/layout/hProcess11"/>
    <dgm:cxn modelId="{24BB0AF5-68C3-475C-B6B3-6B70203B1CA6}" type="presParOf" srcId="{7E6378DF-08F4-4760-BB52-6295C0EB7C75}" destId="{13C2F964-43DD-40A7-9757-1CBDBB46F4EB}" srcOrd="0" destOrd="0" presId="urn:microsoft.com/office/officeart/2005/8/layout/hProcess11"/>
    <dgm:cxn modelId="{31741072-3308-413F-BB12-7D9458396160}" type="presParOf" srcId="{7E6378DF-08F4-4760-BB52-6295C0EB7C75}" destId="{D6F092BD-1812-48D8-8BEF-4095A3B80B35}" srcOrd="1" destOrd="0" presId="urn:microsoft.com/office/officeart/2005/8/layout/hProcess11"/>
    <dgm:cxn modelId="{248B38F6-EF9B-46CC-8E11-52FF8D6C3E02}" type="presParOf" srcId="{7E6378DF-08F4-4760-BB52-6295C0EB7C75}" destId="{DA071E99-4721-43DB-A489-501BFC586897}" srcOrd="2" destOrd="0" presId="urn:microsoft.com/office/officeart/2005/8/layout/hProcess11"/>
    <dgm:cxn modelId="{56C37902-A218-4E89-ADDD-EFAFD0BCACE9}" type="presParOf" srcId="{B856FBA3-4632-4B9C-A797-AB87B1BE2F92}" destId="{AB3E003B-8A8A-48E1-8F61-5D1E408BBD13}" srcOrd="5" destOrd="0" presId="urn:microsoft.com/office/officeart/2005/8/layout/hProcess11"/>
    <dgm:cxn modelId="{568DA12C-12A7-4656-8494-AF2491B76BB3}" type="presParOf" srcId="{B856FBA3-4632-4B9C-A797-AB87B1BE2F92}" destId="{7406DC36-0034-4EC9-9E8D-DFB6467069EA}" srcOrd="6" destOrd="0" presId="urn:microsoft.com/office/officeart/2005/8/layout/hProcess11"/>
    <dgm:cxn modelId="{FDBAAEDF-77A7-4BE6-95ED-643EAA6B4B3E}" type="presParOf" srcId="{7406DC36-0034-4EC9-9E8D-DFB6467069EA}" destId="{6E8E79FC-702B-4633-AAD8-50FBE9D7CBF5}" srcOrd="0" destOrd="0" presId="urn:microsoft.com/office/officeart/2005/8/layout/hProcess11"/>
    <dgm:cxn modelId="{FBDC1185-6E24-4219-9BDC-C66E33377629}" type="presParOf" srcId="{7406DC36-0034-4EC9-9E8D-DFB6467069EA}" destId="{051517A0-227F-421F-AD31-AA840B3A19D6}" srcOrd="1" destOrd="0" presId="urn:microsoft.com/office/officeart/2005/8/layout/hProcess11"/>
    <dgm:cxn modelId="{081FC399-5CDD-4226-BF1D-D1CC8D5D77AB}" type="presParOf" srcId="{7406DC36-0034-4EC9-9E8D-DFB6467069EA}" destId="{17B9CC94-7CE6-425F-A4C3-41FC7621B529}" srcOrd="2" destOrd="0" presId="urn:microsoft.com/office/officeart/2005/8/layout/hProcess11"/>
    <dgm:cxn modelId="{21479706-77D1-4134-9782-0C6D9619D749}" type="presParOf" srcId="{B856FBA3-4632-4B9C-A797-AB87B1BE2F92}" destId="{67AE162A-0BA4-49E4-8871-AC10334446A6}" srcOrd="7" destOrd="0" presId="urn:microsoft.com/office/officeart/2005/8/layout/hProcess11"/>
    <dgm:cxn modelId="{2FE2CBAA-5094-4C65-BB35-2574ABDD6CFD}" type="presParOf" srcId="{B856FBA3-4632-4B9C-A797-AB87B1BE2F92}" destId="{F1CA2144-F23D-4411-B820-7FD4504B0B0A}" srcOrd="8" destOrd="0" presId="urn:microsoft.com/office/officeart/2005/8/layout/hProcess11"/>
    <dgm:cxn modelId="{132F7BA6-B1C7-4A3B-88F8-BE0E255B8FCC}" type="presParOf" srcId="{F1CA2144-F23D-4411-B820-7FD4504B0B0A}" destId="{2AF7793E-C75D-4820-B0B0-F2F4553AFEF3}" srcOrd="0" destOrd="0" presId="urn:microsoft.com/office/officeart/2005/8/layout/hProcess11"/>
    <dgm:cxn modelId="{AE14B0D8-97F6-49F6-A12A-5EBA45FC6BAA}" type="presParOf" srcId="{F1CA2144-F23D-4411-B820-7FD4504B0B0A}" destId="{C53AA3FE-2AE3-404C-8F23-965296B10C49}" srcOrd="1" destOrd="0" presId="urn:microsoft.com/office/officeart/2005/8/layout/hProcess11"/>
    <dgm:cxn modelId="{6895BE92-7050-433B-8B21-EB64E23C56BC}" type="presParOf" srcId="{F1CA2144-F23D-4411-B820-7FD4504B0B0A}" destId="{C0938222-A511-40EC-8D8B-0C25456A5908}" srcOrd="2" destOrd="0" presId="urn:microsoft.com/office/officeart/2005/8/layout/hProcess11"/>
    <dgm:cxn modelId="{83B9FC08-B0FC-4C66-AD6E-6FD3DB680603}" type="presParOf" srcId="{B856FBA3-4632-4B9C-A797-AB87B1BE2F92}" destId="{3C2B3CF4-ABD8-4A48-83E4-79BC8B5CC696}" srcOrd="9" destOrd="0" presId="urn:microsoft.com/office/officeart/2005/8/layout/hProcess11"/>
    <dgm:cxn modelId="{FED49910-1505-40E4-B49B-D416ED4CD0FB}" type="presParOf" srcId="{B856FBA3-4632-4B9C-A797-AB87B1BE2F92}" destId="{31BF4AEB-A44E-4D82-AB3E-FC0D2263F004}" srcOrd="10" destOrd="0" presId="urn:microsoft.com/office/officeart/2005/8/layout/hProcess11"/>
    <dgm:cxn modelId="{38045AC5-E942-45F9-9DA5-2E841116E16A}" type="presParOf" srcId="{31BF4AEB-A44E-4D82-AB3E-FC0D2263F004}" destId="{42639C05-850D-419E-A56A-82E1CD6178CD}" srcOrd="0" destOrd="0" presId="urn:microsoft.com/office/officeart/2005/8/layout/hProcess11"/>
    <dgm:cxn modelId="{E8520764-84BB-4433-9D80-C15B061054F6}" type="presParOf" srcId="{31BF4AEB-A44E-4D82-AB3E-FC0D2263F004}" destId="{4AEBD6FA-FC60-46D8-AC3D-BB4BA14A8539}" srcOrd="1" destOrd="0" presId="urn:microsoft.com/office/officeart/2005/8/layout/hProcess11"/>
    <dgm:cxn modelId="{86B38F5C-278B-4152-831B-DAD11E3389FE}" type="presParOf" srcId="{31BF4AEB-A44E-4D82-AB3E-FC0D2263F004}" destId="{F2D34444-0406-4BC3-9FF6-871BF8305D32}" srcOrd="2" destOrd="0" presId="urn:microsoft.com/office/officeart/2005/8/layout/hProcess1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920D6E0F-251C-4088-912C-5B77B428FEC1}"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zh-CN" altLang="en-US"/>
        </a:p>
      </dgm:t>
    </dgm:pt>
    <dgm:pt modelId="{B9BF007C-A333-4455-9F4E-6977F84ECAD3}">
      <dgm:prSet custT="1"/>
      <dgm:spPr/>
      <dgm:t>
        <a:bodyPr/>
        <a:lstStyle/>
        <a:p>
          <a:r>
            <a:rPr lang="zh-CN" sz="1400" b="1" kern="1200" dirty="0">
              <a:solidFill>
                <a:schemeClr val="tx1"/>
              </a:solidFill>
            </a:rPr>
            <a:t>技术</a:t>
          </a:r>
          <a:r>
            <a:rPr lang="zh-CN" sz="1400" b="0" kern="1200" dirty="0">
              <a:solidFill>
                <a:schemeClr val="tx1"/>
              </a:solidFill>
            </a:rPr>
            <a:t>的发展在不断地</a:t>
          </a:r>
          <a:r>
            <a:rPr lang="zh-CN" sz="1400" b="1" kern="1200" dirty="0">
              <a:solidFill>
                <a:schemeClr val="tx1"/>
              </a:solidFill>
              <a:latin typeface="Verdana"/>
              <a:ea typeface="微软雅黑" panose="020B0503020204020204" pitchFamily="34" charset="-122"/>
              <a:cs typeface="+mn-cs"/>
            </a:rPr>
            <a:t>驱动管理理论</a:t>
          </a:r>
          <a:r>
            <a:rPr lang="zh-CN" sz="1400" b="1" kern="1200" dirty="0">
              <a:solidFill>
                <a:schemeClr val="tx1"/>
              </a:solidFill>
            </a:rPr>
            <a:t>和实践</a:t>
          </a:r>
          <a:r>
            <a:rPr lang="zh-CN" sz="1400" b="0" kern="1200" dirty="0">
              <a:solidFill>
                <a:schemeClr val="tx1"/>
              </a:solidFill>
            </a:rPr>
            <a:t>的</a:t>
          </a:r>
          <a:r>
            <a:rPr lang="zh-CN" altLang="en-US" sz="1400" b="1" kern="1200" dirty="0">
              <a:solidFill>
                <a:schemeClr val="tx1"/>
              </a:solidFill>
            </a:rPr>
            <a:t>发展</a:t>
          </a:r>
          <a:r>
            <a:rPr lang="zh-CN" sz="1400" b="0" kern="1200" dirty="0">
              <a:solidFill>
                <a:schemeClr val="tx1"/>
              </a:solidFill>
            </a:rPr>
            <a:t>。</a:t>
          </a:r>
          <a:r>
            <a:rPr lang="en-US" sz="1400" b="0" kern="1200" dirty="0">
              <a:solidFill>
                <a:schemeClr val="tx1"/>
              </a:solidFill>
            </a:rPr>
            <a:t>- APICS CPIM</a:t>
          </a:r>
          <a:endParaRPr lang="zh-CN" sz="1400" b="0" kern="1200" dirty="0">
            <a:solidFill>
              <a:schemeClr val="tx1"/>
            </a:solidFill>
          </a:endParaRPr>
        </a:p>
      </dgm:t>
    </dgm:pt>
    <dgm:pt modelId="{A7F4E477-288D-4D66-A222-FE2A25C5BB33}" type="parTrans" cxnId="{2F3AB3C9-DD39-4397-8B5D-8A49659B3025}">
      <dgm:prSet/>
      <dgm:spPr/>
      <dgm:t>
        <a:bodyPr/>
        <a:lstStyle/>
        <a:p>
          <a:endParaRPr lang="zh-CN" altLang="en-US"/>
        </a:p>
      </dgm:t>
    </dgm:pt>
    <dgm:pt modelId="{D25D98F2-A805-49F2-BE11-1AA7DCC891E6}" type="sibTrans" cxnId="{2F3AB3C9-DD39-4397-8B5D-8A49659B3025}">
      <dgm:prSet/>
      <dgm:spPr/>
      <dgm:t>
        <a:bodyPr/>
        <a:lstStyle/>
        <a:p>
          <a:endParaRPr lang="zh-CN" altLang="en-US"/>
        </a:p>
      </dgm:t>
    </dgm:pt>
    <dgm:pt modelId="{E254093B-0A98-4150-9CEB-B764D6B986BB}">
      <dgm:prSet/>
      <dgm:spPr/>
      <dgm:t>
        <a:bodyPr/>
        <a:lstStyle/>
        <a:p>
          <a:r>
            <a:rPr lang="zh-CN" b="0" dirty="0">
              <a:solidFill>
                <a:schemeClr val="tx1"/>
              </a:solidFill>
            </a:rPr>
            <a:t>通过技术革新，</a:t>
          </a:r>
          <a:r>
            <a:rPr lang="zh-CN" b="1" dirty="0">
              <a:solidFill>
                <a:schemeClr val="tx1"/>
              </a:solidFill>
            </a:rPr>
            <a:t>创造性改变计划模式</a:t>
          </a:r>
          <a:r>
            <a:rPr lang="zh-CN" b="0" dirty="0">
              <a:solidFill>
                <a:schemeClr val="tx1"/>
              </a:solidFill>
            </a:rPr>
            <a:t>，显著提高运营</a:t>
          </a:r>
          <a:r>
            <a:rPr lang="zh-CN" b="1" dirty="0">
              <a:solidFill>
                <a:schemeClr val="tx1"/>
              </a:solidFill>
            </a:rPr>
            <a:t>决策质量</a:t>
          </a:r>
          <a:r>
            <a:rPr lang="zh-CN" b="0" dirty="0">
              <a:solidFill>
                <a:schemeClr val="tx1"/>
              </a:solidFill>
            </a:rPr>
            <a:t>，从而提供</a:t>
          </a:r>
          <a:r>
            <a:rPr lang="zh-CN" b="1" dirty="0">
              <a:solidFill>
                <a:schemeClr val="tx1"/>
              </a:solidFill>
            </a:rPr>
            <a:t>更多商业可能</a:t>
          </a:r>
          <a:r>
            <a:rPr lang="zh-CN" b="0" dirty="0">
              <a:solidFill>
                <a:schemeClr val="tx1"/>
              </a:solidFill>
            </a:rPr>
            <a:t>。</a:t>
          </a:r>
          <a:r>
            <a:rPr lang="en-US" b="0" dirty="0">
              <a:solidFill>
                <a:schemeClr val="tx1"/>
              </a:solidFill>
            </a:rPr>
            <a:t>-Gartner Maturity Module</a:t>
          </a:r>
          <a:endParaRPr lang="zh-CN" b="0" dirty="0">
            <a:solidFill>
              <a:schemeClr val="tx1"/>
            </a:solidFill>
          </a:endParaRPr>
        </a:p>
      </dgm:t>
    </dgm:pt>
    <dgm:pt modelId="{5FB34A89-1D4E-47D1-89CE-9ADFEAE68B1C}" type="parTrans" cxnId="{EC3B2E67-0617-4822-9C32-0F8753BE0E38}">
      <dgm:prSet/>
      <dgm:spPr/>
      <dgm:t>
        <a:bodyPr/>
        <a:lstStyle/>
        <a:p>
          <a:endParaRPr lang="zh-CN" altLang="en-US"/>
        </a:p>
      </dgm:t>
    </dgm:pt>
    <dgm:pt modelId="{483264A3-23A9-43A1-A86E-8D49B8F88647}" type="sibTrans" cxnId="{EC3B2E67-0617-4822-9C32-0F8753BE0E38}">
      <dgm:prSet/>
      <dgm:spPr/>
      <dgm:t>
        <a:bodyPr/>
        <a:lstStyle/>
        <a:p>
          <a:endParaRPr lang="zh-CN" altLang="en-US"/>
        </a:p>
      </dgm:t>
    </dgm:pt>
    <dgm:pt modelId="{158D788D-2764-47E6-B072-186E6BC465A2}">
      <dgm:prSet/>
      <dgm:spPr/>
      <dgm:t>
        <a:bodyPr/>
        <a:lstStyle/>
        <a:p>
          <a:r>
            <a:rPr lang="zh-CN" altLang="en-US" b="1" dirty="0">
              <a:solidFill>
                <a:schemeClr val="tx1"/>
              </a:solidFill>
            </a:rPr>
            <a:t>数字化</a:t>
          </a:r>
          <a:r>
            <a:rPr lang="en-US" altLang="zh-CN" b="1" dirty="0">
              <a:solidFill>
                <a:schemeClr val="tx1"/>
              </a:solidFill>
            </a:rPr>
            <a:t>Planning &amp; Control Tower</a:t>
          </a:r>
          <a:r>
            <a:rPr lang="zh-CN" altLang="en-US" dirty="0">
              <a:solidFill>
                <a:schemeClr val="tx1"/>
              </a:solidFill>
            </a:rPr>
            <a:t>投入占企业数字化转型的</a:t>
          </a:r>
          <a:r>
            <a:rPr lang="en-US" altLang="zh-CN" b="1" dirty="0">
              <a:solidFill>
                <a:schemeClr val="tx1"/>
              </a:solidFill>
            </a:rPr>
            <a:t>15%-20% </a:t>
          </a:r>
          <a:r>
            <a:rPr lang="en-US" altLang="zh-CN" dirty="0">
              <a:solidFill>
                <a:schemeClr val="tx1"/>
              </a:solidFill>
            </a:rPr>
            <a:t>- IDC </a:t>
          </a:r>
          <a:endParaRPr lang="zh-CN" dirty="0">
            <a:solidFill>
              <a:schemeClr val="tx1"/>
            </a:solidFill>
          </a:endParaRPr>
        </a:p>
      </dgm:t>
    </dgm:pt>
    <dgm:pt modelId="{0323686D-7B13-4DDE-9788-838BC69765AF}" type="parTrans" cxnId="{A8DA91EA-DA57-4DE5-BB8E-05C102BC8343}">
      <dgm:prSet/>
      <dgm:spPr/>
      <dgm:t>
        <a:bodyPr/>
        <a:lstStyle/>
        <a:p>
          <a:endParaRPr lang="zh-CN" altLang="en-US"/>
        </a:p>
      </dgm:t>
    </dgm:pt>
    <dgm:pt modelId="{37F62790-D540-4398-98FA-B65CD4DB1AD5}" type="sibTrans" cxnId="{A8DA91EA-DA57-4DE5-BB8E-05C102BC8343}">
      <dgm:prSet/>
      <dgm:spPr/>
      <dgm:t>
        <a:bodyPr/>
        <a:lstStyle/>
        <a:p>
          <a:endParaRPr lang="zh-CN" altLang="en-US"/>
        </a:p>
      </dgm:t>
    </dgm:pt>
    <dgm:pt modelId="{950F91B3-C30F-4962-9395-7909BA7730D5}" type="pres">
      <dgm:prSet presAssocID="{920D6E0F-251C-4088-912C-5B77B428FEC1}" presName="linear" presStyleCnt="0">
        <dgm:presLayoutVars>
          <dgm:animLvl val="lvl"/>
          <dgm:resizeHandles val="exact"/>
        </dgm:presLayoutVars>
      </dgm:prSet>
      <dgm:spPr/>
    </dgm:pt>
    <dgm:pt modelId="{66CE83E3-510F-490C-9F7F-4096296FB3BA}" type="pres">
      <dgm:prSet presAssocID="{B9BF007C-A333-4455-9F4E-6977F84ECAD3}" presName="parentText" presStyleLbl="node1" presStyleIdx="0" presStyleCnt="3">
        <dgm:presLayoutVars>
          <dgm:chMax val="0"/>
          <dgm:bulletEnabled val="1"/>
        </dgm:presLayoutVars>
      </dgm:prSet>
      <dgm:spPr/>
    </dgm:pt>
    <dgm:pt modelId="{7AB55C72-C2BE-41D2-A69B-0A10D004F9F8}" type="pres">
      <dgm:prSet presAssocID="{D25D98F2-A805-49F2-BE11-1AA7DCC891E6}" presName="spacer" presStyleCnt="0"/>
      <dgm:spPr/>
    </dgm:pt>
    <dgm:pt modelId="{D83B52ED-BA55-4FDB-A3F6-E89F0EA99AB9}" type="pres">
      <dgm:prSet presAssocID="{E254093B-0A98-4150-9CEB-B764D6B986BB}" presName="parentText" presStyleLbl="node1" presStyleIdx="1" presStyleCnt="3">
        <dgm:presLayoutVars>
          <dgm:chMax val="0"/>
          <dgm:bulletEnabled val="1"/>
        </dgm:presLayoutVars>
      </dgm:prSet>
      <dgm:spPr/>
    </dgm:pt>
    <dgm:pt modelId="{A6D837EF-346E-4F85-8D1C-92E0BAB9184F}" type="pres">
      <dgm:prSet presAssocID="{483264A3-23A9-43A1-A86E-8D49B8F88647}" presName="spacer" presStyleCnt="0"/>
      <dgm:spPr/>
    </dgm:pt>
    <dgm:pt modelId="{1828D8E1-C219-4B7E-8590-076F20971C54}" type="pres">
      <dgm:prSet presAssocID="{158D788D-2764-47E6-B072-186E6BC465A2}" presName="parentText" presStyleLbl="node1" presStyleIdx="2" presStyleCnt="3">
        <dgm:presLayoutVars>
          <dgm:chMax val="0"/>
          <dgm:bulletEnabled val="1"/>
        </dgm:presLayoutVars>
      </dgm:prSet>
      <dgm:spPr/>
    </dgm:pt>
  </dgm:ptLst>
  <dgm:cxnLst>
    <dgm:cxn modelId="{F6567435-11A0-4BB4-863B-400EF6CD2320}" type="presOf" srcId="{158D788D-2764-47E6-B072-186E6BC465A2}" destId="{1828D8E1-C219-4B7E-8590-076F20971C54}" srcOrd="0" destOrd="0" presId="urn:microsoft.com/office/officeart/2005/8/layout/vList2"/>
    <dgm:cxn modelId="{EC3B2E67-0617-4822-9C32-0F8753BE0E38}" srcId="{920D6E0F-251C-4088-912C-5B77B428FEC1}" destId="{E254093B-0A98-4150-9CEB-B764D6B986BB}" srcOrd="1" destOrd="0" parTransId="{5FB34A89-1D4E-47D1-89CE-9ADFEAE68B1C}" sibTransId="{483264A3-23A9-43A1-A86E-8D49B8F88647}"/>
    <dgm:cxn modelId="{718C406C-EC7D-4483-B681-A8445219DE87}" type="presOf" srcId="{920D6E0F-251C-4088-912C-5B77B428FEC1}" destId="{950F91B3-C30F-4962-9395-7909BA7730D5}" srcOrd="0" destOrd="0" presId="urn:microsoft.com/office/officeart/2005/8/layout/vList2"/>
    <dgm:cxn modelId="{F9AC5CAD-6F06-462B-9725-CD91C977F15C}" type="presOf" srcId="{E254093B-0A98-4150-9CEB-B764D6B986BB}" destId="{D83B52ED-BA55-4FDB-A3F6-E89F0EA99AB9}" srcOrd="0" destOrd="0" presId="urn:microsoft.com/office/officeart/2005/8/layout/vList2"/>
    <dgm:cxn modelId="{2F3AB3C9-DD39-4397-8B5D-8A49659B3025}" srcId="{920D6E0F-251C-4088-912C-5B77B428FEC1}" destId="{B9BF007C-A333-4455-9F4E-6977F84ECAD3}" srcOrd="0" destOrd="0" parTransId="{A7F4E477-288D-4D66-A222-FE2A25C5BB33}" sibTransId="{D25D98F2-A805-49F2-BE11-1AA7DCC891E6}"/>
    <dgm:cxn modelId="{A8DA91EA-DA57-4DE5-BB8E-05C102BC8343}" srcId="{920D6E0F-251C-4088-912C-5B77B428FEC1}" destId="{158D788D-2764-47E6-B072-186E6BC465A2}" srcOrd="2" destOrd="0" parTransId="{0323686D-7B13-4DDE-9788-838BC69765AF}" sibTransId="{37F62790-D540-4398-98FA-B65CD4DB1AD5}"/>
    <dgm:cxn modelId="{597D23ED-3ADB-4A00-B6AF-6898370CBB1B}" type="presOf" srcId="{B9BF007C-A333-4455-9F4E-6977F84ECAD3}" destId="{66CE83E3-510F-490C-9F7F-4096296FB3BA}" srcOrd="0" destOrd="0" presId="urn:microsoft.com/office/officeart/2005/8/layout/vList2"/>
    <dgm:cxn modelId="{F7745136-A633-4068-8617-F2B383447DC0}" type="presParOf" srcId="{950F91B3-C30F-4962-9395-7909BA7730D5}" destId="{66CE83E3-510F-490C-9F7F-4096296FB3BA}" srcOrd="0" destOrd="0" presId="urn:microsoft.com/office/officeart/2005/8/layout/vList2"/>
    <dgm:cxn modelId="{C8F3EA65-69ED-4A63-8EA6-054AD7A579D0}" type="presParOf" srcId="{950F91B3-C30F-4962-9395-7909BA7730D5}" destId="{7AB55C72-C2BE-41D2-A69B-0A10D004F9F8}" srcOrd="1" destOrd="0" presId="urn:microsoft.com/office/officeart/2005/8/layout/vList2"/>
    <dgm:cxn modelId="{D3891BA3-FF3C-4CCE-B199-CC8D10B354C7}" type="presParOf" srcId="{950F91B3-C30F-4962-9395-7909BA7730D5}" destId="{D83B52ED-BA55-4FDB-A3F6-E89F0EA99AB9}" srcOrd="2" destOrd="0" presId="urn:microsoft.com/office/officeart/2005/8/layout/vList2"/>
    <dgm:cxn modelId="{9EA541FD-1C20-445F-BB0A-6B0A8D20DF65}" type="presParOf" srcId="{950F91B3-C30F-4962-9395-7909BA7730D5}" destId="{A6D837EF-346E-4F85-8D1C-92E0BAB9184F}" srcOrd="3" destOrd="0" presId="urn:microsoft.com/office/officeart/2005/8/layout/vList2"/>
    <dgm:cxn modelId="{61F07626-3628-4142-857C-B4115E27A0D9}" type="presParOf" srcId="{950F91B3-C30F-4962-9395-7909BA7730D5}" destId="{1828D8E1-C219-4B7E-8590-076F20971C54}" srcOrd="4" destOrd="0" presId="urn:microsoft.com/office/officeart/2005/8/layout/vList2"/>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0201D97B-539B-44EB-B92C-D8C0765020EC}" type="doc">
      <dgm:prSet loTypeId="urn:microsoft.com/office/officeart/2005/8/layout/list1" loCatId="list" qsTypeId="urn:microsoft.com/office/officeart/2005/8/quickstyle/simple1" qsCatId="simple" csTypeId="urn:microsoft.com/office/officeart/2005/8/colors/accent1_3" csCatId="accent1" phldr="1"/>
      <dgm:spPr/>
      <dgm:t>
        <a:bodyPr/>
        <a:lstStyle/>
        <a:p>
          <a:endParaRPr lang="zh-CN" altLang="en-US"/>
        </a:p>
      </dgm:t>
    </dgm:pt>
    <dgm:pt modelId="{51356AC0-1C58-408E-9D17-EECEF225B011}">
      <dgm:prSet custT="1"/>
      <dgm:spPr>
        <a:xfrm>
          <a:off x="548460" y="3748596"/>
          <a:ext cx="7678440" cy="354240"/>
        </a:xfrm>
        <a:prstGeom prst="roundRect">
          <a:avLst/>
        </a:prstGeom>
      </dgm:spPr>
      <dgm:t>
        <a:bodyPr spcFirstLastPara="0" vert="horz" wrap="square" lIns="270527" tIns="0" rIns="270527" bIns="0" numCol="1" spcCol="1270" anchor="ctr" anchorCtr="0"/>
        <a:lstStyle/>
        <a:p>
          <a:pPr marL="0" lvl="0" indent="0" algn="l" defTabSz="533400">
            <a:lnSpc>
              <a:spcPct val="90000"/>
            </a:lnSpc>
            <a:spcBef>
              <a:spcPct val="0"/>
            </a:spcBef>
            <a:spcAft>
              <a:spcPct val="35000"/>
            </a:spcAft>
            <a:buNone/>
          </a:pPr>
          <a:r>
            <a:rPr lang="zh-CN" altLang="en-US" sz="1400" b="1" kern="1200">
              <a:solidFill>
                <a:schemeClr val="bg1"/>
              </a:solidFill>
              <a:latin typeface="+mj-ea"/>
              <a:ea typeface="+mj-ea"/>
              <a:cs typeface="+mn-cs"/>
            </a:rPr>
            <a:t>替换料： </a:t>
          </a:r>
          <a:endParaRPr lang="zh-CN" altLang="en-US" sz="1400" b="1" kern="1200" dirty="0">
            <a:solidFill>
              <a:schemeClr val="bg1"/>
            </a:solidFill>
            <a:latin typeface="+mj-ea"/>
            <a:ea typeface="+mj-ea"/>
            <a:cs typeface="+mn-cs"/>
          </a:endParaRPr>
        </a:p>
      </dgm:t>
    </dgm:pt>
    <dgm:pt modelId="{8D641BA6-E587-45A5-BD6E-60C0AC92C642}" type="parTrans" cxnId="{3322B363-E25D-4FA2-B4B1-223F3A02D28B}">
      <dgm:prSet/>
      <dgm:spPr/>
      <dgm:t>
        <a:bodyPr/>
        <a:lstStyle/>
        <a:p>
          <a:endParaRPr lang="zh-CN" altLang="en-US" b="1">
            <a:solidFill>
              <a:schemeClr val="bg1"/>
            </a:solidFill>
            <a:latin typeface="+mj-ea"/>
            <a:ea typeface="+mj-ea"/>
          </a:endParaRPr>
        </a:p>
      </dgm:t>
    </dgm:pt>
    <dgm:pt modelId="{8C45A899-FA69-4074-8E00-44FE98CD698B}" type="sibTrans" cxnId="{3322B363-E25D-4FA2-B4B1-223F3A02D28B}">
      <dgm:prSet/>
      <dgm:spPr/>
      <dgm:t>
        <a:bodyPr/>
        <a:lstStyle/>
        <a:p>
          <a:endParaRPr lang="zh-CN" altLang="en-US" b="1">
            <a:solidFill>
              <a:schemeClr val="bg1"/>
            </a:solidFill>
            <a:latin typeface="+mj-ea"/>
            <a:ea typeface="+mj-ea"/>
          </a:endParaRPr>
        </a:p>
      </dgm:t>
    </dgm:pt>
    <dgm:pt modelId="{07E199D5-3C1A-476E-A544-BA034990E8F2}">
      <dgm:prSet custT="1"/>
      <dgm:spPr>
        <a:xfrm>
          <a:off x="0" y="3925716"/>
          <a:ext cx="10969200" cy="585900"/>
        </a:xfrm>
        <a:prstGeom prst="rect">
          <a:avLst/>
        </a:prstGeom>
      </dgm:spPr>
      <dgm:t>
        <a:bodyPr/>
        <a:lstStyle/>
        <a:p>
          <a:pPr>
            <a:buChar char="•"/>
          </a:pPr>
          <a:r>
            <a:rPr lang="zh-CN" altLang="en-US" sz="1000" b="1">
              <a:solidFill>
                <a:schemeClr val="bg1"/>
              </a:solidFill>
              <a:latin typeface="+mj-ea"/>
              <a:ea typeface="+mj-ea"/>
              <a:cs typeface="+mn-cs"/>
            </a:rPr>
            <a:t>不完全替代，组替代，冲突依赖这些复杂的替换场景导致采购 买不对，</a:t>
          </a:r>
          <a:r>
            <a:rPr lang="en-US" sz="1000" b="1">
              <a:solidFill>
                <a:schemeClr val="bg1"/>
              </a:solidFill>
              <a:latin typeface="+mj-ea"/>
              <a:ea typeface="+mj-ea"/>
              <a:cs typeface="+mn-cs"/>
            </a:rPr>
            <a:t>MP/CTP/ATP</a:t>
          </a:r>
          <a:r>
            <a:rPr lang="zh-CN" altLang="en-US" sz="1000" b="1">
              <a:solidFill>
                <a:schemeClr val="bg1"/>
              </a:solidFill>
              <a:latin typeface="+mj-ea"/>
              <a:ea typeface="+mj-ea"/>
              <a:cs typeface="+mn-cs"/>
            </a:rPr>
            <a:t>用不对造成呆滞和短缺。</a:t>
          </a:r>
          <a:endParaRPr lang="zh-CN" altLang="en-US" sz="1000" b="1" dirty="0">
            <a:solidFill>
              <a:schemeClr val="bg1"/>
            </a:solidFill>
            <a:latin typeface="+mj-ea"/>
            <a:ea typeface="+mj-ea"/>
            <a:cs typeface="+mn-cs"/>
          </a:endParaRPr>
        </a:p>
      </dgm:t>
    </dgm:pt>
    <dgm:pt modelId="{5B269AEA-FB7F-4D37-8687-89B2B06BD1F3}" type="parTrans" cxnId="{2EEFA4F6-7F87-4A51-833E-455161360E46}">
      <dgm:prSet/>
      <dgm:spPr/>
      <dgm:t>
        <a:bodyPr/>
        <a:lstStyle/>
        <a:p>
          <a:endParaRPr lang="zh-CN" altLang="en-US" b="1">
            <a:solidFill>
              <a:schemeClr val="bg1"/>
            </a:solidFill>
            <a:latin typeface="+mj-ea"/>
            <a:ea typeface="+mj-ea"/>
          </a:endParaRPr>
        </a:p>
      </dgm:t>
    </dgm:pt>
    <dgm:pt modelId="{640B2A71-A989-4F09-9004-636715524112}" type="sibTrans" cxnId="{2EEFA4F6-7F87-4A51-833E-455161360E46}">
      <dgm:prSet/>
      <dgm:spPr/>
      <dgm:t>
        <a:bodyPr/>
        <a:lstStyle/>
        <a:p>
          <a:endParaRPr lang="zh-CN" altLang="en-US" b="1">
            <a:solidFill>
              <a:schemeClr val="bg1"/>
            </a:solidFill>
            <a:latin typeface="+mj-ea"/>
            <a:ea typeface="+mj-ea"/>
          </a:endParaRPr>
        </a:p>
      </dgm:t>
    </dgm:pt>
    <dgm:pt modelId="{986E9A5B-6028-4CEE-A87A-00012E784FA5}">
      <dgm:prSet custT="1"/>
      <dgm:spPr>
        <a:xfrm>
          <a:off x="548460" y="2769576"/>
          <a:ext cx="7678440" cy="354240"/>
        </a:xfrm>
        <a:prstGeom prst="roundRect">
          <a:avLst/>
        </a:prstGeom>
      </dgm:spPr>
      <dgm:t>
        <a:bodyPr/>
        <a:lstStyle/>
        <a:p>
          <a:pPr>
            <a:buNone/>
          </a:pPr>
          <a:r>
            <a:rPr lang="zh-CN" altLang="en-US" sz="1400" b="1">
              <a:solidFill>
                <a:schemeClr val="bg1"/>
              </a:solidFill>
              <a:latin typeface="+mj-ea"/>
              <a:ea typeface="+mj-ea"/>
              <a:cs typeface="+mn-cs"/>
            </a:rPr>
            <a:t>高性能实现‘</a:t>
          </a:r>
          <a:r>
            <a:rPr lang="en-US" altLang="zh-CN" sz="1400" b="1">
              <a:solidFill>
                <a:schemeClr val="bg1"/>
              </a:solidFill>
              <a:latin typeface="+mj-ea"/>
              <a:ea typeface="+mj-ea"/>
              <a:cs typeface="+mn-cs"/>
            </a:rPr>
            <a:t>Concurrent Planning </a:t>
          </a:r>
          <a:r>
            <a:rPr lang="zh-CN" altLang="en-US" sz="1400" b="1">
              <a:solidFill>
                <a:schemeClr val="bg1"/>
              </a:solidFill>
              <a:latin typeface="+mj-ea"/>
              <a:ea typeface="+mj-ea"/>
              <a:cs typeface="+mn-cs"/>
            </a:rPr>
            <a:t>’：</a:t>
          </a:r>
          <a:endParaRPr lang="zh-CN" altLang="en-US" sz="1400" b="1" dirty="0">
            <a:solidFill>
              <a:schemeClr val="bg1"/>
            </a:solidFill>
            <a:latin typeface="+mj-ea"/>
            <a:ea typeface="+mj-ea"/>
            <a:cs typeface="+mn-cs"/>
          </a:endParaRPr>
        </a:p>
      </dgm:t>
    </dgm:pt>
    <dgm:pt modelId="{AD6C4B5A-E704-4085-875C-29DEC7501E61}" type="parTrans" cxnId="{69781412-828A-4946-BEFD-55084DC2F530}">
      <dgm:prSet/>
      <dgm:spPr/>
      <dgm:t>
        <a:bodyPr/>
        <a:lstStyle/>
        <a:p>
          <a:endParaRPr lang="zh-CN" altLang="en-US" b="1">
            <a:solidFill>
              <a:schemeClr val="bg1"/>
            </a:solidFill>
            <a:latin typeface="+mj-ea"/>
            <a:ea typeface="+mj-ea"/>
          </a:endParaRPr>
        </a:p>
      </dgm:t>
    </dgm:pt>
    <dgm:pt modelId="{9ED1E4F6-8A9D-4E62-9377-91022014D58C}" type="sibTrans" cxnId="{69781412-828A-4946-BEFD-55084DC2F530}">
      <dgm:prSet/>
      <dgm:spPr/>
      <dgm:t>
        <a:bodyPr/>
        <a:lstStyle/>
        <a:p>
          <a:endParaRPr lang="zh-CN" altLang="en-US" b="1">
            <a:solidFill>
              <a:schemeClr val="bg1"/>
            </a:solidFill>
            <a:latin typeface="+mj-ea"/>
            <a:ea typeface="+mj-ea"/>
          </a:endParaRPr>
        </a:p>
      </dgm:t>
    </dgm:pt>
    <dgm:pt modelId="{9305C0DD-2087-4D72-B047-B49A7D045B43}">
      <dgm:prSet custT="1"/>
      <dgm:spPr>
        <a:xfrm>
          <a:off x="548460" y="1113936"/>
          <a:ext cx="7678440" cy="354240"/>
        </a:xfrm>
        <a:prstGeom prst="roundRect">
          <a:avLst/>
        </a:prstGeom>
      </dgm:spPr>
      <dgm:t>
        <a:bodyPr/>
        <a:lstStyle/>
        <a:p>
          <a:pPr>
            <a:buNone/>
          </a:pPr>
          <a:r>
            <a:rPr lang="zh-CN" altLang="en-US" sz="1400" b="1">
              <a:solidFill>
                <a:schemeClr val="bg1"/>
              </a:solidFill>
              <a:latin typeface="+mj-ea"/>
              <a:ea typeface="+mj-ea"/>
              <a:cs typeface="+mn-cs"/>
            </a:rPr>
            <a:t>执行计划如何保障交付又准又快：</a:t>
          </a:r>
          <a:endParaRPr lang="zh-CN" altLang="en-US" sz="1400" b="1" dirty="0">
            <a:solidFill>
              <a:schemeClr val="bg1"/>
            </a:solidFill>
            <a:latin typeface="+mj-ea"/>
            <a:ea typeface="+mj-ea"/>
            <a:cs typeface="+mn-cs"/>
          </a:endParaRPr>
        </a:p>
      </dgm:t>
    </dgm:pt>
    <dgm:pt modelId="{FE5D1290-C3CC-4915-9FDB-DC4C75FC776D}" type="parTrans" cxnId="{F00EFC27-0255-42F1-936B-96A080BA7109}">
      <dgm:prSet/>
      <dgm:spPr/>
      <dgm:t>
        <a:bodyPr/>
        <a:lstStyle/>
        <a:p>
          <a:endParaRPr lang="zh-CN" altLang="en-US" b="1">
            <a:solidFill>
              <a:schemeClr val="bg1"/>
            </a:solidFill>
            <a:latin typeface="+mj-ea"/>
            <a:ea typeface="+mj-ea"/>
          </a:endParaRPr>
        </a:p>
      </dgm:t>
    </dgm:pt>
    <dgm:pt modelId="{85663E5D-333A-41BE-B6B6-812B3CD08AD0}" type="sibTrans" cxnId="{F00EFC27-0255-42F1-936B-96A080BA7109}">
      <dgm:prSet/>
      <dgm:spPr/>
      <dgm:t>
        <a:bodyPr/>
        <a:lstStyle/>
        <a:p>
          <a:endParaRPr lang="zh-CN" altLang="en-US" b="1">
            <a:solidFill>
              <a:schemeClr val="bg1"/>
            </a:solidFill>
            <a:latin typeface="+mj-ea"/>
            <a:ea typeface="+mj-ea"/>
          </a:endParaRPr>
        </a:p>
      </dgm:t>
    </dgm:pt>
    <dgm:pt modelId="{DF15C94A-C4A1-4868-A50D-34875C8E2797}">
      <dgm:prSet custT="1"/>
      <dgm:spPr>
        <a:xfrm>
          <a:off x="0" y="1291056"/>
          <a:ext cx="10969200" cy="585900"/>
        </a:xfrm>
        <a:prstGeom prst="rect">
          <a:avLst/>
        </a:prstGeom>
      </dgm:spPr>
      <dgm:t>
        <a:bodyPr/>
        <a:lstStyle/>
        <a:p>
          <a:pPr>
            <a:buChar char="•"/>
          </a:pPr>
          <a:r>
            <a:rPr lang="zh-CN" altLang="en-US" sz="1000" b="1">
              <a:solidFill>
                <a:schemeClr val="bg1"/>
              </a:solidFill>
              <a:latin typeface="+mj-ea"/>
              <a:ea typeface="+mj-ea"/>
              <a:cs typeface="+mn-cs"/>
            </a:rPr>
            <a:t>在保障交期的前提下让资源最大化利用的</a:t>
          </a:r>
          <a:r>
            <a:rPr lang="en-US" altLang="zh-CN" sz="1000" b="1">
              <a:solidFill>
                <a:schemeClr val="bg1"/>
              </a:solidFill>
              <a:latin typeface="+mj-ea"/>
              <a:ea typeface="+mj-ea"/>
              <a:cs typeface="+mn-cs"/>
            </a:rPr>
            <a:t>One Plan</a:t>
          </a:r>
          <a:r>
            <a:rPr lang="zh-CN" altLang="en-US" sz="1000" b="1">
              <a:solidFill>
                <a:schemeClr val="bg1"/>
              </a:solidFill>
              <a:latin typeface="+mj-ea"/>
              <a:ea typeface="+mj-ea"/>
              <a:cs typeface="+mn-cs"/>
            </a:rPr>
            <a:t>。专，共线问题，连续生产问题等。</a:t>
          </a:r>
          <a:endParaRPr lang="zh-CN" altLang="en-US" sz="1000" b="1" dirty="0">
            <a:solidFill>
              <a:schemeClr val="bg1"/>
            </a:solidFill>
            <a:latin typeface="+mj-ea"/>
            <a:ea typeface="+mj-ea"/>
            <a:cs typeface="+mn-cs"/>
          </a:endParaRPr>
        </a:p>
      </dgm:t>
    </dgm:pt>
    <dgm:pt modelId="{B0FEF28A-CF38-4F00-8633-1048FAD07ABF}" type="parTrans" cxnId="{02EA60AD-8D11-4298-9FEF-20207BBC256B}">
      <dgm:prSet/>
      <dgm:spPr/>
      <dgm:t>
        <a:bodyPr/>
        <a:lstStyle/>
        <a:p>
          <a:endParaRPr lang="zh-CN" altLang="en-US" b="1">
            <a:solidFill>
              <a:schemeClr val="bg1"/>
            </a:solidFill>
            <a:latin typeface="+mj-ea"/>
            <a:ea typeface="+mj-ea"/>
          </a:endParaRPr>
        </a:p>
      </dgm:t>
    </dgm:pt>
    <dgm:pt modelId="{E0422538-74F5-4F5E-A11F-D91E690E67E6}" type="sibTrans" cxnId="{02EA60AD-8D11-4298-9FEF-20207BBC256B}">
      <dgm:prSet/>
      <dgm:spPr/>
      <dgm:t>
        <a:bodyPr/>
        <a:lstStyle/>
        <a:p>
          <a:endParaRPr lang="zh-CN" altLang="en-US" b="1">
            <a:solidFill>
              <a:schemeClr val="bg1"/>
            </a:solidFill>
            <a:latin typeface="+mj-ea"/>
            <a:ea typeface="+mj-ea"/>
          </a:endParaRPr>
        </a:p>
      </dgm:t>
    </dgm:pt>
    <dgm:pt modelId="{0FEB0835-E213-45E2-B30D-734199CEAC38}">
      <dgm:prSet custT="1"/>
      <dgm:spPr>
        <a:xfrm>
          <a:off x="548460" y="1941756"/>
          <a:ext cx="7678440" cy="354240"/>
        </a:xfrm>
        <a:prstGeom prst="roundRect">
          <a:avLst/>
        </a:prstGeom>
      </dgm:spPr>
      <dgm:t>
        <a:bodyPr/>
        <a:lstStyle/>
        <a:p>
          <a:pPr>
            <a:buNone/>
          </a:pPr>
          <a:r>
            <a:rPr lang="zh-CN" altLang="en-US" sz="1400" b="1" dirty="0">
              <a:solidFill>
                <a:schemeClr val="bg1"/>
              </a:solidFill>
              <a:latin typeface="+mj-ea"/>
              <a:ea typeface="+mj-ea"/>
              <a:cs typeface="+mn-cs"/>
            </a:rPr>
            <a:t>维度规划： </a:t>
          </a:r>
        </a:p>
      </dgm:t>
    </dgm:pt>
    <dgm:pt modelId="{3C222096-72BC-4BC1-AF3B-92995F6A222F}" type="parTrans" cxnId="{DD4CD622-A4CE-4A76-A5A8-46416E890955}">
      <dgm:prSet/>
      <dgm:spPr/>
      <dgm:t>
        <a:bodyPr/>
        <a:lstStyle/>
        <a:p>
          <a:endParaRPr lang="zh-CN" altLang="en-US" b="1">
            <a:solidFill>
              <a:schemeClr val="bg1"/>
            </a:solidFill>
            <a:latin typeface="+mj-ea"/>
            <a:ea typeface="+mj-ea"/>
          </a:endParaRPr>
        </a:p>
      </dgm:t>
    </dgm:pt>
    <dgm:pt modelId="{CC0DAD77-8536-44E1-A148-2117C9C271EB}" type="sibTrans" cxnId="{DD4CD622-A4CE-4A76-A5A8-46416E890955}">
      <dgm:prSet/>
      <dgm:spPr/>
      <dgm:t>
        <a:bodyPr/>
        <a:lstStyle/>
        <a:p>
          <a:endParaRPr lang="zh-CN" altLang="en-US" b="1">
            <a:solidFill>
              <a:schemeClr val="bg1"/>
            </a:solidFill>
            <a:latin typeface="+mj-ea"/>
            <a:ea typeface="+mj-ea"/>
          </a:endParaRPr>
        </a:p>
      </dgm:t>
    </dgm:pt>
    <dgm:pt modelId="{B111A9FC-58E6-40EF-939B-61684086BEB8}">
      <dgm:prSet custT="1"/>
      <dgm:spPr>
        <a:xfrm>
          <a:off x="0" y="2118876"/>
          <a:ext cx="10969200" cy="585900"/>
        </a:xfrm>
        <a:prstGeom prst="rect">
          <a:avLst/>
        </a:prstGeom>
      </dgm:spPr>
      <dgm:t>
        <a:bodyPr/>
        <a:lstStyle/>
        <a:p>
          <a:pPr>
            <a:buChar char="•"/>
          </a:pPr>
          <a:r>
            <a:rPr lang="zh-CN" altLang="en-US" sz="1000" b="1" dirty="0">
              <a:solidFill>
                <a:schemeClr val="bg1"/>
              </a:solidFill>
              <a:latin typeface="+mj-ea"/>
              <a:ea typeface="+mj-ea"/>
              <a:cs typeface="+mn-cs"/>
            </a:rPr>
            <a:t>对产品结构、供应、资源、配置、配方、地域、产品层级、客户层级的个性化需求</a:t>
          </a:r>
        </a:p>
      </dgm:t>
    </dgm:pt>
    <dgm:pt modelId="{3AAEED1E-D786-44A1-A193-8A0FB619155E}" type="parTrans" cxnId="{1A8DB115-C9BF-4B3E-9FC9-A90DFA968D35}">
      <dgm:prSet/>
      <dgm:spPr/>
      <dgm:t>
        <a:bodyPr/>
        <a:lstStyle/>
        <a:p>
          <a:endParaRPr lang="zh-CN" altLang="en-US" b="1">
            <a:solidFill>
              <a:schemeClr val="bg1"/>
            </a:solidFill>
            <a:latin typeface="+mj-ea"/>
            <a:ea typeface="+mj-ea"/>
          </a:endParaRPr>
        </a:p>
      </dgm:t>
    </dgm:pt>
    <dgm:pt modelId="{6EB58809-CA51-4CC9-919A-B8659EE6FB4F}" type="sibTrans" cxnId="{1A8DB115-C9BF-4B3E-9FC9-A90DFA968D35}">
      <dgm:prSet/>
      <dgm:spPr/>
      <dgm:t>
        <a:bodyPr/>
        <a:lstStyle/>
        <a:p>
          <a:endParaRPr lang="zh-CN" altLang="en-US" b="1">
            <a:solidFill>
              <a:schemeClr val="bg1"/>
            </a:solidFill>
            <a:latin typeface="+mj-ea"/>
            <a:ea typeface="+mj-ea"/>
          </a:endParaRPr>
        </a:p>
      </dgm:t>
    </dgm:pt>
    <dgm:pt modelId="{871C8880-5C9F-447D-A5F6-79AA9BE825E8}">
      <dgm:prSet custT="1"/>
      <dgm:spPr>
        <a:xfrm>
          <a:off x="0" y="2946696"/>
          <a:ext cx="10969200" cy="737100"/>
        </a:xfrm>
        <a:prstGeom prst="rect">
          <a:avLst/>
        </a:prstGeom>
      </dgm:spPr>
      <dgm:t>
        <a:bodyPr/>
        <a:lstStyle/>
        <a:p>
          <a:pPr>
            <a:buChar char="•"/>
          </a:pPr>
          <a:r>
            <a:rPr lang="zh-CN" altLang="en-US" sz="1000" b="1" i="0" dirty="0">
              <a:solidFill>
                <a:schemeClr val="bg1"/>
              </a:solidFill>
              <a:latin typeface="+mj-ea"/>
              <a:ea typeface="+mj-ea"/>
              <a:cs typeface="+mn-cs"/>
            </a:rPr>
            <a:t>以颠覆的模型算法智能决策，快速响应市场和供应侧变化。多层</a:t>
          </a:r>
          <a:r>
            <a:rPr lang="en-US" sz="1000" b="1" i="0" dirty="0">
              <a:solidFill>
                <a:schemeClr val="bg1"/>
              </a:solidFill>
              <a:latin typeface="+mj-ea"/>
              <a:ea typeface="+mj-ea"/>
              <a:cs typeface="+mn-cs"/>
            </a:rPr>
            <a:t>BOM, </a:t>
          </a:r>
          <a:r>
            <a:rPr lang="zh-CN" altLang="en-US" sz="1000" b="1" i="0" dirty="0">
              <a:solidFill>
                <a:schemeClr val="bg1"/>
              </a:solidFill>
              <a:latin typeface="+mj-ea"/>
              <a:ea typeface="+mj-ea"/>
              <a:cs typeface="+mn-cs"/>
            </a:rPr>
            <a:t>跨工厂寻源，多供应链网络节点和层级，众多规则，约束等复杂场景导致计划决策长达数小时甚至十几个小时才能抛出结果。</a:t>
          </a:r>
        </a:p>
      </dgm:t>
    </dgm:pt>
    <dgm:pt modelId="{FD0FE411-F823-40CB-8CD5-31B1D3E93652}" type="parTrans" cxnId="{7C3C57B4-6537-4A78-B20C-8573D95772EB}">
      <dgm:prSet/>
      <dgm:spPr/>
      <dgm:t>
        <a:bodyPr/>
        <a:lstStyle/>
        <a:p>
          <a:endParaRPr lang="zh-CN" altLang="en-US" b="1">
            <a:solidFill>
              <a:schemeClr val="bg1"/>
            </a:solidFill>
            <a:latin typeface="+mj-ea"/>
            <a:ea typeface="+mj-ea"/>
          </a:endParaRPr>
        </a:p>
      </dgm:t>
    </dgm:pt>
    <dgm:pt modelId="{98AD9CD3-97BB-4A29-B30B-EE6ADC5E398F}" type="sibTrans" cxnId="{7C3C57B4-6537-4A78-B20C-8573D95772EB}">
      <dgm:prSet/>
      <dgm:spPr/>
      <dgm:t>
        <a:bodyPr/>
        <a:lstStyle/>
        <a:p>
          <a:endParaRPr lang="zh-CN" altLang="en-US" b="1">
            <a:solidFill>
              <a:schemeClr val="bg1"/>
            </a:solidFill>
            <a:latin typeface="+mj-ea"/>
            <a:ea typeface="+mj-ea"/>
          </a:endParaRPr>
        </a:p>
      </dgm:t>
    </dgm:pt>
    <dgm:pt modelId="{19D3E36B-AB86-4D8F-B408-AFCE18B2F968}">
      <dgm:prSet custT="1"/>
      <dgm:spPr>
        <a:xfrm>
          <a:off x="548460" y="286116"/>
          <a:ext cx="7678440" cy="354240"/>
        </a:xfrm>
        <a:prstGeom prst="roundRect">
          <a:avLst/>
        </a:prstGeom>
      </dgm:spPr>
      <dgm:t>
        <a:bodyPr spcFirstLastPara="0" vert="horz" wrap="square" lIns="270527" tIns="0" rIns="270527" bIns="0" numCol="1" spcCol="1270" anchor="ctr" anchorCtr="0"/>
        <a:lstStyle/>
        <a:p>
          <a:pPr marL="0" lvl="0" indent="0" algn="l" defTabSz="533400">
            <a:lnSpc>
              <a:spcPct val="90000"/>
            </a:lnSpc>
            <a:spcBef>
              <a:spcPct val="0"/>
            </a:spcBef>
            <a:spcAft>
              <a:spcPct val="35000"/>
            </a:spcAft>
            <a:buNone/>
          </a:pPr>
          <a:r>
            <a:rPr lang="zh-CN" altLang="en-US" sz="1400" b="1" kern="1200">
              <a:solidFill>
                <a:schemeClr val="bg1"/>
              </a:solidFill>
              <a:latin typeface="+mj-ea"/>
              <a:ea typeface="+mj-ea"/>
              <a:cs typeface="+mn-cs"/>
            </a:rPr>
            <a:t>智能计划与排程</a:t>
          </a:r>
          <a:r>
            <a:rPr lang="en-US" altLang="zh-CN" sz="1400" b="1" kern="1200">
              <a:solidFill>
                <a:schemeClr val="bg1"/>
              </a:solidFill>
              <a:latin typeface="+mj-ea"/>
              <a:ea typeface="+mj-ea"/>
              <a:cs typeface="+mn-cs"/>
            </a:rPr>
            <a:t>IPS</a:t>
          </a:r>
          <a:r>
            <a:rPr lang="zh-CN" altLang="en-US" sz="1400" b="1" kern="1200">
              <a:solidFill>
                <a:schemeClr val="bg1"/>
              </a:solidFill>
              <a:latin typeface="+mj-ea"/>
              <a:ea typeface="+mj-ea"/>
              <a:cs typeface="+mn-cs"/>
            </a:rPr>
            <a:t>（</a:t>
          </a:r>
          <a:r>
            <a:rPr lang="en-US" altLang="zh-CN" sz="1400" b="1" kern="1200">
              <a:solidFill>
                <a:schemeClr val="bg1"/>
              </a:solidFill>
              <a:latin typeface="+mj-ea"/>
              <a:ea typeface="+mj-ea"/>
              <a:cs typeface="+mn-cs"/>
            </a:rPr>
            <a:t>Intelligent Planning &amp; Scheduling</a:t>
          </a:r>
          <a:r>
            <a:rPr lang="zh-CN" altLang="en-US" sz="1400" b="1" kern="1200">
              <a:solidFill>
                <a:schemeClr val="bg1"/>
              </a:solidFill>
              <a:latin typeface="+mj-ea"/>
              <a:ea typeface="+mj-ea"/>
              <a:cs typeface="+mn-cs"/>
            </a:rPr>
            <a:t>）</a:t>
          </a:r>
          <a:endParaRPr lang="zh-CN" altLang="en-US" sz="1400" b="1" kern="1200" dirty="0">
            <a:solidFill>
              <a:schemeClr val="bg1"/>
            </a:solidFill>
            <a:latin typeface="+mj-ea"/>
            <a:ea typeface="+mj-ea"/>
            <a:cs typeface="+mn-cs"/>
          </a:endParaRPr>
        </a:p>
      </dgm:t>
    </dgm:pt>
    <dgm:pt modelId="{6E20D4CF-83C3-4DAD-8809-32C44B227CB7}" type="sibTrans" cxnId="{0A003E60-D2DD-4BA6-AD45-059019741C8E}">
      <dgm:prSet/>
      <dgm:spPr/>
      <dgm:t>
        <a:bodyPr/>
        <a:lstStyle/>
        <a:p>
          <a:endParaRPr lang="zh-CN" altLang="en-US" b="1">
            <a:solidFill>
              <a:schemeClr val="bg1"/>
            </a:solidFill>
            <a:latin typeface="+mj-ea"/>
            <a:ea typeface="+mj-ea"/>
          </a:endParaRPr>
        </a:p>
      </dgm:t>
    </dgm:pt>
    <dgm:pt modelId="{519A0E9B-97F1-4A05-BD7C-96C078019197}" type="parTrans" cxnId="{0A003E60-D2DD-4BA6-AD45-059019741C8E}">
      <dgm:prSet/>
      <dgm:spPr/>
      <dgm:t>
        <a:bodyPr/>
        <a:lstStyle/>
        <a:p>
          <a:endParaRPr lang="zh-CN" altLang="en-US" b="1">
            <a:solidFill>
              <a:schemeClr val="bg1"/>
            </a:solidFill>
            <a:latin typeface="+mj-ea"/>
            <a:ea typeface="+mj-ea"/>
          </a:endParaRPr>
        </a:p>
      </dgm:t>
    </dgm:pt>
    <dgm:pt modelId="{64ECB345-AF22-4AD0-86BA-85D2395C7D19}">
      <dgm:prSet custT="1"/>
      <dgm:spPr>
        <a:xfrm>
          <a:off x="0" y="463236"/>
          <a:ext cx="10969200" cy="585900"/>
        </a:xfrm>
        <a:prstGeom prst="rect">
          <a:avLst/>
        </a:prstGeom>
      </dgm:spPr>
      <dgm:t>
        <a:bodyPr/>
        <a:lstStyle/>
        <a:p>
          <a:pPr>
            <a:buChar char="•"/>
          </a:pPr>
          <a:r>
            <a:rPr lang="zh-CN" altLang="en-US" sz="1000" b="1">
              <a:solidFill>
                <a:schemeClr val="bg1"/>
              </a:solidFill>
              <a:latin typeface="+mj-ea"/>
              <a:ea typeface="+mj-ea"/>
              <a:cs typeface="+mn-cs"/>
            </a:rPr>
            <a:t>主计划，欠料，发货通知，生产计划，交期承诺，工单，排程，拉料一体化智能协奏让工厂运作丝滑进行。</a:t>
          </a:r>
          <a:endParaRPr lang="zh-CN" altLang="en-US" sz="1000" b="1" dirty="0">
            <a:solidFill>
              <a:schemeClr val="bg1"/>
            </a:solidFill>
            <a:latin typeface="+mj-ea"/>
            <a:ea typeface="+mj-ea"/>
            <a:cs typeface="+mn-cs"/>
          </a:endParaRPr>
        </a:p>
      </dgm:t>
    </dgm:pt>
    <dgm:pt modelId="{53EEA7F2-B2BE-467C-9030-3DE9CF49A7E6}" type="parTrans" cxnId="{8A65A604-E5E4-4539-A857-DB66421C35AA}">
      <dgm:prSet/>
      <dgm:spPr/>
      <dgm:t>
        <a:bodyPr/>
        <a:lstStyle/>
        <a:p>
          <a:endParaRPr lang="zh-CN" altLang="en-US" b="1">
            <a:solidFill>
              <a:schemeClr val="bg1"/>
            </a:solidFill>
            <a:latin typeface="+mj-ea"/>
            <a:ea typeface="+mj-ea"/>
          </a:endParaRPr>
        </a:p>
      </dgm:t>
    </dgm:pt>
    <dgm:pt modelId="{83285572-7513-423E-8D1A-A10EB28B1AA5}" type="sibTrans" cxnId="{8A65A604-E5E4-4539-A857-DB66421C35AA}">
      <dgm:prSet/>
      <dgm:spPr/>
      <dgm:t>
        <a:bodyPr/>
        <a:lstStyle/>
        <a:p>
          <a:endParaRPr lang="zh-CN" altLang="en-US" b="1">
            <a:solidFill>
              <a:schemeClr val="bg1"/>
            </a:solidFill>
            <a:latin typeface="+mj-ea"/>
            <a:ea typeface="+mj-ea"/>
          </a:endParaRPr>
        </a:p>
      </dgm:t>
    </dgm:pt>
    <dgm:pt modelId="{A0900D4E-F7C3-47E3-B618-0170FF445315}">
      <dgm:prSet custT="1"/>
      <dgm:spPr>
        <a:xfrm>
          <a:off x="548460" y="4576416"/>
          <a:ext cx="7678440" cy="354240"/>
        </a:xfrm>
        <a:prstGeom prst="roundRect">
          <a:avLst/>
        </a:prstGeom>
      </dgm:spPr>
      <dgm:t>
        <a:bodyPr/>
        <a:lstStyle/>
        <a:p>
          <a:pPr>
            <a:buNone/>
          </a:pPr>
          <a:r>
            <a:rPr lang="zh-CN" altLang="en-US" sz="1400" b="1">
              <a:solidFill>
                <a:schemeClr val="bg1"/>
              </a:solidFill>
              <a:latin typeface="+mj-ea"/>
              <a:ea typeface="+mj-ea"/>
              <a:cs typeface="+mn-cs"/>
            </a:rPr>
            <a:t>供应商深度协同</a:t>
          </a:r>
          <a:endParaRPr lang="zh-CN" altLang="en-US" sz="1400" b="1" dirty="0">
            <a:solidFill>
              <a:schemeClr val="bg1"/>
            </a:solidFill>
            <a:latin typeface="+mj-ea"/>
            <a:ea typeface="+mj-ea"/>
            <a:cs typeface="+mn-cs"/>
          </a:endParaRPr>
        </a:p>
      </dgm:t>
    </dgm:pt>
    <dgm:pt modelId="{246A0D4D-2A56-42CD-AB9D-B60CAB0F04D9}" type="parTrans" cxnId="{58133D2E-2EEA-43DB-B62C-0BF391D53F4A}">
      <dgm:prSet/>
      <dgm:spPr/>
      <dgm:t>
        <a:bodyPr/>
        <a:lstStyle/>
        <a:p>
          <a:endParaRPr lang="zh-CN" altLang="en-US" b="1">
            <a:solidFill>
              <a:schemeClr val="bg1"/>
            </a:solidFill>
            <a:latin typeface="+mj-ea"/>
            <a:ea typeface="+mj-ea"/>
          </a:endParaRPr>
        </a:p>
      </dgm:t>
    </dgm:pt>
    <dgm:pt modelId="{251B4F85-6E48-4F95-B759-D8D83F1B2D21}" type="sibTrans" cxnId="{58133D2E-2EEA-43DB-B62C-0BF391D53F4A}">
      <dgm:prSet/>
      <dgm:spPr/>
      <dgm:t>
        <a:bodyPr/>
        <a:lstStyle/>
        <a:p>
          <a:endParaRPr lang="zh-CN" altLang="en-US" b="1">
            <a:solidFill>
              <a:schemeClr val="bg1"/>
            </a:solidFill>
            <a:latin typeface="+mj-ea"/>
            <a:ea typeface="+mj-ea"/>
          </a:endParaRPr>
        </a:p>
      </dgm:t>
    </dgm:pt>
    <dgm:pt modelId="{83FA59C7-4FD6-42B6-8AB2-769656C2C85A}">
      <dgm:prSet custT="1"/>
      <dgm:spPr>
        <a:xfrm>
          <a:off x="0" y="4753536"/>
          <a:ext cx="10969200" cy="585900"/>
        </a:xfrm>
        <a:prstGeom prst="rect">
          <a:avLst/>
        </a:prstGeom>
      </dgm:spPr>
      <dgm:t>
        <a:bodyPr/>
        <a:lstStyle/>
        <a:p>
          <a:pPr>
            <a:buChar char="•"/>
          </a:pPr>
          <a:r>
            <a:rPr lang="en-US" altLang="zh-CN" sz="1000" b="1">
              <a:solidFill>
                <a:schemeClr val="bg1"/>
              </a:solidFill>
              <a:latin typeface="+mj-ea"/>
              <a:ea typeface="+mj-ea"/>
              <a:cs typeface="+mn-cs"/>
            </a:rPr>
            <a:t>Parts forecast</a:t>
          </a:r>
          <a:r>
            <a:rPr lang="zh-CN" altLang="en-US" sz="1000" b="1">
              <a:solidFill>
                <a:schemeClr val="bg1"/>
              </a:solidFill>
              <a:latin typeface="+mj-ea"/>
              <a:ea typeface="+mj-ea"/>
              <a:cs typeface="+mn-cs"/>
            </a:rPr>
            <a:t>，</a:t>
          </a:r>
          <a:r>
            <a:rPr lang="en-US" altLang="zh-CN" sz="1000" b="1">
              <a:solidFill>
                <a:schemeClr val="bg1"/>
              </a:solidFill>
              <a:latin typeface="+mj-ea"/>
              <a:ea typeface="+mj-ea"/>
              <a:cs typeface="+mn-cs"/>
            </a:rPr>
            <a:t>Commit, ETA, ASN</a:t>
          </a:r>
          <a:r>
            <a:rPr lang="zh-CN" altLang="en-US" sz="1000" b="1">
              <a:solidFill>
                <a:schemeClr val="bg1"/>
              </a:solidFill>
              <a:latin typeface="+mj-ea"/>
              <a:ea typeface="+mj-ea"/>
              <a:cs typeface="+mn-cs"/>
            </a:rPr>
            <a:t>和</a:t>
          </a:r>
          <a:r>
            <a:rPr lang="en-US" altLang="zh-CN" sz="1000" b="1">
              <a:solidFill>
                <a:schemeClr val="bg1"/>
              </a:solidFill>
              <a:latin typeface="+mj-ea"/>
              <a:ea typeface="+mj-ea"/>
              <a:cs typeface="+mn-cs"/>
            </a:rPr>
            <a:t>GR</a:t>
          </a:r>
          <a:r>
            <a:rPr lang="zh-CN" altLang="en-US" sz="1000" b="1">
              <a:solidFill>
                <a:schemeClr val="bg1"/>
              </a:solidFill>
              <a:latin typeface="+mj-ea"/>
              <a:ea typeface="+mj-ea"/>
              <a:cs typeface="+mn-cs"/>
            </a:rPr>
            <a:t>之间没有</a:t>
          </a:r>
          <a:r>
            <a:rPr lang="en-US" altLang="zh-CN" sz="1000" b="1">
              <a:solidFill>
                <a:schemeClr val="bg1"/>
              </a:solidFill>
              <a:latin typeface="+mj-ea"/>
              <a:ea typeface="+mj-ea"/>
              <a:cs typeface="+mn-cs"/>
            </a:rPr>
            <a:t>pegging. </a:t>
          </a:r>
          <a:r>
            <a:rPr lang="zh-CN" altLang="en-US" sz="1000" b="1">
              <a:solidFill>
                <a:schemeClr val="bg1"/>
              </a:solidFill>
              <a:latin typeface="+mj-ea"/>
              <a:ea typeface="+mj-ea"/>
              <a:cs typeface="+mn-cs"/>
            </a:rPr>
            <a:t>导致双方</a:t>
          </a:r>
          <a:r>
            <a:rPr lang="en-US" altLang="zh-CN" sz="1000" b="1">
              <a:solidFill>
                <a:schemeClr val="bg1"/>
              </a:solidFill>
              <a:latin typeface="+mj-ea"/>
              <a:ea typeface="+mj-ea"/>
              <a:cs typeface="+mn-cs"/>
            </a:rPr>
            <a:t>workload</a:t>
          </a:r>
          <a:r>
            <a:rPr lang="zh-CN" altLang="en-US" sz="1000" b="1">
              <a:solidFill>
                <a:schemeClr val="bg1"/>
              </a:solidFill>
              <a:latin typeface="+mj-ea"/>
              <a:ea typeface="+mj-ea"/>
              <a:cs typeface="+mn-cs"/>
            </a:rPr>
            <a:t>都很大，而且数据错误频发，供应商</a:t>
          </a:r>
          <a:r>
            <a:rPr lang="en-US" altLang="zh-CN" sz="1000" b="1">
              <a:solidFill>
                <a:schemeClr val="bg1"/>
              </a:solidFill>
              <a:latin typeface="+mj-ea"/>
              <a:ea typeface="+mj-ea"/>
              <a:cs typeface="+mn-cs"/>
            </a:rPr>
            <a:t>OTD</a:t>
          </a:r>
          <a:r>
            <a:rPr lang="zh-CN" altLang="en-US" sz="1000" b="1">
              <a:solidFill>
                <a:schemeClr val="bg1"/>
              </a:solidFill>
              <a:latin typeface="+mj-ea"/>
              <a:ea typeface="+mj-ea"/>
              <a:cs typeface="+mn-cs"/>
            </a:rPr>
            <a:t>很难提高</a:t>
          </a:r>
          <a:endParaRPr lang="zh-CN" altLang="en-US" sz="1000" b="1" dirty="0">
            <a:solidFill>
              <a:schemeClr val="bg1"/>
            </a:solidFill>
            <a:latin typeface="+mj-ea"/>
            <a:ea typeface="+mj-ea"/>
            <a:cs typeface="+mn-cs"/>
          </a:endParaRPr>
        </a:p>
      </dgm:t>
    </dgm:pt>
    <dgm:pt modelId="{8806727A-183F-4609-ABA9-09D1774F22F6}" type="parTrans" cxnId="{8E264784-0580-4C7E-A293-BF5D534ED5C3}">
      <dgm:prSet/>
      <dgm:spPr/>
      <dgm:t>
        <a:bodyPr/>
        <a:lstStyle/>
        <a:p>
          <a:endParaRPr lang="zh-CN" altLang="en-US" b="1">
            <a:solidFill>
              <a:schemeClr val="bg1"/>
            </a:solidFill>
            <a:latin typeface="+mj-ea"/>
            <a:ea typeface="+mj-ea"/>
          </a:endParaRPr>
        </a:p>
      </dgm:t>
    </dgm:pt>
    <dgm:pt modelId="{E6FBBD19-0EBD-45D7-9191-A4544D69F0A6}" type="sibTrans" cxnId="{8E264784-0580-4C7E-A293-BF5D534ED5C3}">
      <dgm:prSet/>
      <dgm:spPr/>
      <dgm:t>
        <a:bodyPr/>
        <a:lstStyle/>
        <a:p>
          <a:endParaRPr lang="zh-CN" altLang="en-US" b="1">
            <a:solidFill>
              <a:schemeClr val="bg1"/>
            </a:solidFill>
            <a:latin typeface="+mj-ea"/>
            <a:ea typeface="+mj-ea"/>
          </a:endParaRPr>
        </a:p>
      </dgm:t>
    </dgm:pt>
    <dgm:pt modelId="{CB87BD8A-86C2-4E22-A013-9432EF0434AB}">
      <dgm:prSet custT="1"/>
      <dgm:spPr/>
      <dgm:t>
        <a:bodyPr spcFirstLastPara="0" vert="horz" wrap="square" lIns="290227" tIns="0" rIns="290227" bIns="0" numCol="1" spcCol="1270" anchor="ctr" anchorCtr="0"/>
        <a:lstStyle/>
        <a:p>
          <a:pPr marL="0" lvl="0" indent="0" algn="l" defTabSz="488950">
            <a:lnSpc>
              <a:spcPct val="90000"/>
            </a:lnSpc>
            <a:spcBef>
              <a:spcPct val="0"/>
            </a:spcBef>
            <a:spcAft>
              <a:spcPct val="35000"/>
            </a:spcAft>
            <a:buNone/>
          </a:pPr>
          <a:r>
            <a:rPr lang="en-US" altLang="zh-CN" sz="1400" b="1" kern="1200">
              <a:solidFill>
                <a:schemeClr val="bg1"/>
              </a:solidFill>
              <a:latin typeface="+mj-ea"/>
              <a:ea typeface="+mj-ea"/>
              <a:cs typeface="+mn-cs"/>
            </a:rPr>
            <a:t>Control Tower &amp; What-if</a:t>
          </a:r>
          <a:endParaRPr lang="zh-CN" altLang="en-US" sz="1400" b="1" kern="1200" dirty="0">
            <a:solidFill>
              <a:schemeClr val="bg1"/>
            </a:solidFill>
            <a:latin typeface="+mj-ea"/>
            <a:ea typeface="+mj-ea"/>
            <a:cs typeface="+mn-cs"/>
          </a:endParaRPr>
        </a:p>
      </dgm:t>
    </dgm:pt>
    <dgm:pt modelId="{52641F3E-F9CB-4841-AEEB-62C413F9C877}" type="parTrans" cxnId="{C1124887-9BDF-4E5B-9F8D-16D7F96294C0}">
      <dgm:prSet/>
      <dgm:spPr/>
      <dgm:t>
        <a:bodyPr/>
        <a:lstStyle/>
        <a:p>
          <a:endParaRPr lang="zh-CN" altLang="en-US" b="1">
            <a:solidFill>
              <a:schemeClr val="bg1"/>
            </a:solidFill>
            <a:latin typeface="+mj-ea"/>
            <a:ea typeface="+mj-ea"/>
          </a:endParaRPr>
        </a:p>
      </dgm:t>
    </dgm:pt>
    <dgm:pt modelId="{573D417A-EDAF-4DF9-81AC-6BA5B0E12ACD}" type="sibTrans" cxnId="{C1124887-9BDF-4E5B-9F8D-16D7F96294C0}">
      <dgm:prSet/>
      <dgm:spPr/>
      <dgm:t>
        <a:bodyPr/>
        <a:lstStyle/>
        <a:p>
          <a:endParaRPr lang="zh-CN" altLang="en-US" b="1">
            <a:solidFill>
              <a:schemeClr val="bg1"/>
            </a:solidFill>
            <a:latin typeface="+mj-ea"/>
            <a:ea typeface="+mj-ea"/>
          </a:endParaRPr>
        </a:p>
      </dgm:t>
    </dgm:pt>
    <dgm:pt modelId="{FCAA03AB-19E3-4970-A112-7E49AFB534B1}">
      <dgm:prSet custT="1"/>
      <dgm:spPr>
        <a:xfrm>
          <a:off x="0" y="4753536"/>
          <a:ext cx="10969200" cy="585900"/>
        </a:xfrm>
      </dgm:spPr>
      <dgm:t>
        <a:bodyPr/>
        <a:lstStyle/>
        <a:p>
          <a:pPr>
            <a:buChar char="•"/>
          </a:pPr>
          <a:r>
            <a:rPr lang="zh-CN" altLang="en-US" sz="1000" b="1">
              <a:solidFill>
                <a:schemeClr val="bg1"/>
              </a:solidFill>
              <a:latin typeface="+mj-ea"/>
              <a:ea typeface="+mj-ea"/>
              <a:cs typeface="+mn-cs"/>
            </a:rPr>
            <a:t>国际领导厂商的</a:t>
          </a:r>
          <a:r>
            <a:rPr lang="en-US" altLang="zh-CN" sz="1000" b="1">
              <a:solidFill>
                <a:schemeClr val="bg1"/>
              </a:solidFill>
              <a:latin typeface="+mj-ea"/>
              <a:ea typeface="+mj-ea"/>
              <a:cs typeface="+mn-cs"/>
            </a:rPr>
            <a:t>Package</a:t>
          </a:r>
          <a:r>
            <a:rPr lang="zh-CN" altLang="en-US" sz="1000" b="1">
              <a:solidFill>
                <a:schemeClr val="bg1"/>
              </a:solidFill>
              <a:latin typeface="+mj-ea"/>
              <a:ea typeface="+mj-ea"/>
              <a:cs typeface="+mn-cs"/>
            </a:rPr>
            <a:t>软件由于架构以及二开问题造成性能以及数据问题导致</a:t>
          </a:r>
          <a:r>
            <a:rPr lang="en-US" altLang="zh-CN" sz="1000" b="1">
              <a:solidFill>
                <a:schemeClr val="bg1"/>
              </a:solidFill>
              <a:latin typeface="+mj-ea"/>
              <a:ea typeface="+mj-ea"/>
              <a:cs typeface="+mn-cs"/>
            </a:rPr>
            <a:t>Control Tower &amp; What-if</a:t>
          </a:r>
          <a:r>
            <a:rPr lang="zh-CN" altLang="en-US" sz="1000" b="1">
              <a:solidFill>
                <a:schemeClr val="bg1"/>
              </a:solidFill>
              <a:latin typeface="+mj-ea"/>
              <a:ea typeface="+mj-ea"/>
              <a:cs typeface="+mn-cs"/>
            </a:rPr>
            <a:t>成为摆设</a:t>
          </a:r>
          <a:endParaRPr lang="zh-CN" altLang="en-US" sz="1000" b="1" dirty="0">
            <a:solidFill>
              <a:schemeClr val="bg1"/>
            </a:solidFill>
            <a:latin typeface="+mj-ea"/>
            <a:ea typeface="+mj-ea"/>
            <a:cs typeface="+mn-cs"/>
          </a:endParaRPr>
        </a:p>
      </dgm:t>
    </dgm:pt>
    <dgm:pt modelId="{29095B94-E8C8-4862-89BA-7C3072A259FD}" type="parTrans" cxnId="{5299B76E-BEBD-4304-B1F2-76BE6A2C45C6}">
      <dgm:prSet/>
      <dgm:spPr/>
      <dgm:t>
        <a:bodyPr/>
        <a:lstStyle/>
        <a:p>
          <a:endParaRPr lang="zh-CN" altLang="en-US" b="1">
            <a:solidFill>
              <a:schemeClr val="bg1"/>
            </a:solidFill>
            <a:latin typeface="+mj-ea"/>
            <a:ea typeface="+mj-ea"/>
          </a:endParaRPr>
        </a:p>
      </dgm:t>
    </dgm:pt>
    <dgm:pt modelId="{98A06525-2221-456B-9398-127530FF9A08}" type="sibTrans" cxnId="{5299B76E-BEBD-4304-B1F2-76BE6A2C45C6}">
      <dgm:prSet/>
      <dgm:spPr/>
      <dgm:t>
        <a:bodyPr/>
        <a:lstStyle/>
        <a:p>
          <a:endParaRPr lang="zh-CN" altLang="en-US" b="1">
            <a:solidFill>
              <a:schemeClr val="bg1"/>
            </a:solidFill>
            <a:latin typeface="+mj-ea"/>
            <a:ea typeface="+mj-ea"/>
          </a:endParaRPr>
        </a:p>
      </dgm:t>
    </dgm:pt>
    <dgm:pt modelId="{FD55F7F7-2C83-453A-9072-6CFAEAAB00F2}">
      <dgm:prSet custT="1"/>
      <dgm:spPr/>
      <dgm:t>
        <a:bodyPr spcFirstLastPara="0" vert="horz" wrap="square" lIns="290227" tIns="0" rIns="290227" bIns="0" numCol="1" spcCol="1270" anchor="ctr" anchorCtr="0"/>
        <a:lstStyle/>
        <a:p>
          <a:pPr marL="0" lvl="0" indent="0" algn="l" defTabSz="533400">
            <a:lnSpc>
              <a:spcPct val="90000"/>
            </a:lnSpc>
            <a:spcBef>
              <a:spcPct val="0"/>
            </a:spcBef>
            <a:spcAft>
              <a:spcPct val="35000"/>
            </a:spcAft>
            <a:buNone/>
          </a:pPr>
          <a:r>
            <a:rPr lang="en-US" altLang="zh-CN" sz="1400" b="1" kern="1200">
              <a:solidFill>
                <a:schemeClr val="bg1"/>
              </a:solidFill>
              <a:latin typeface="+mj-ea"/>
              <a:ea typeface="+mj-ea"/>
              <a:cs typeface="+mn-cs"/>
            </a:rPr>
            <a:t>E2E </a:t>
          </a:r>
          <a:r>
            <a:rPr lang="zh-CN" altLang="en-US" sz="1400" b="1" kern="1200">
              <a:solidFill>
                <a:schemeClr val="bg1"/>
              </a:solidFill>
              <a:latin typeface="+mj-ea"/>
              <a:ea typeface="+mj-ea"/>
              <a:cs typeface="+mn-cs"/>
            </a:rPr>
            <a:t>优先级管理</a:t>
          </a:r>
          <a:endParaRPr lang="zh-CN" altLang="en-US" sz="1400" b="1" kern="1200" dirty="0">
            <a:solidFill>
              <a:schemeClr val="bg1"/>
            </a:solidFill>
            <a:latin typeface="+mj-ea"/>
            <a:ea typeface="+mj-ea"/>
            <a:cs typeface="+mn-cs"/>
          </a:endParaRPr>
        </a:p>
      </dgm:t>
    </dgm:pt>
    <dgm:pt modelId="{1F3782C1-03E4-46B3-8453-D18E6EE09D1D}" type="parTrans" cxnId="{4A23C011-778D-4D4B-A9CF-7856105C4403}">
      <dgm:prSet/>
      <dgm:spPr/>
      <dgm:t>
        <a:bodyPr/>
        <a:lstStyle/>
        <a:p>
          <a:endParaRPr lang="zh-CN" altLang="en-US" b="1">
            <a:solidFill>
              <a:schemeClr val="bg1"/>
            </a:solidFill>
            <a:latin typeface="+mj-ea"/>
            <a:ea typeface="+mj-ea"/>
          </a:endParaRPr>
        </a:p>
      </dgm:t>
    </dgm:pt>
    <dgm:pt modelId="{0B7A0C85-C65D-421F-869D-5E7584D7F91D}" type="sibTrans" cxnId="{4A23C011-778D-4D4B-A9CF-7856105C4403}">
      <dgm:prSet/>
      <dgm:spPr/>
      <dgm:t>
        <a:bodyPr/>
        <a:lstStyle/>
        <a:p>
          <a:endParaRPr lang="zh-CN" altLang="en-US" b="1">
            <a:solidFill>
              <a:schemeClr val="bg1"/>
            </a:solidFill>
            <a:latin typeface="+mj-ea"/>
            <a:ea typeface="+mj-ea"/>
          </a:endParaRPr>
        </a:p>
      </dgm:t>
    </dgm:pt>
    <dgm:pt modelId="{3701B573-09FA-4031-9E04-7407B7AC6546}">
      <dgm:prSet custT="1"/>
      <dgm:spPr/>
      <dgm:t>
        <a:bodyPr spcFirstLastPara="0" vert="horz" wrap="square" lIns="851332" tIns="187452" rIns="851332" bIns="64008" numCol="1" spcCol="1270" anchor="t" anchorCtr="0"/>
        <a:lstStyle/>
        <a:p>
          <a:pPr marL="57150" lvl="1" indent="-57150" algn="l" defTabSz="400050">
            <a:lnSpc>
              <a:spcPct val="90000"/>
            </a:lnSpc>
            <a:spcBef>
              <a:spcPct val="0"/>
            </a:spcBef>
            <a:spcAft>
              <a:spcPct val="15000"/>
            </a:spcAft>
            <a:buChar char="•"/>
          </a:pPr>
          <a:r>
            <a:rPr lang="zh-CN" altLang="en-US" sz="1000" b="1" kern="1200">
              <a:solidFill>
                <a:schemeClr val="bg1"/>
              </a:solidFill>
              <a:latin typeface="+mj-ea"/>
              <a:ea typeface="+mj-ea"/>
              <a:cs typeface="+mn-cs"/>
            </a:rPr>
            <a:t>优先级管理需要从战略到执行的管理。重要客户，区域，产品组的订单优先级高也不能保障其可得性。我们需要在预测中考量，并在主计划中做资源分配相当于预留（刚柔并进）。</a:t>
          </a:r>
          <a:endParaRPr lang="zh-CN" altLang="en-US" sz="1000" b="1" kern="1200" dirty="0">
            <a:solidFill>
              <a:schemeClr val="bg1"/>
            </a:solidFill>
            <a:latin typeface="+mj-ea"/>
            <a:ea typeface="+mj-ea"/>
            <a:cs typeface="+mn-cs"/>
          </a:endParaRPr>
        </a:p>
      </dgm:t>
    </dgm:pt>
    <dgm:pt modelId="{136DAE8B-EAEC-4A41-82C2-0DECF26F3287}" type="parTrans" cxnId="{1C7DC103-F19A-41FC-9CFC-5A1B996ECDDB}">
      <dgm:prSet/>
      <dgm:spPr/>
      <dgm:t>
        <a:bodyPr/>
        <a:lstStyle/>
        <a:p>
          <a:endParaRPr lang="zh-CN" altLang="en-US" b="1">
            <a:solidFill>
              <a:schemeClr val="bg1"/>
            </a:solidFill>
            <a:latin typeface="+mj-ea"/>
            <a:ea typeface="+mj-ea"/>
          </a:endParaRPr>
        </a:p>
      </dgm:t>
    </dgm:pt>
    <dgm:pt modelId="{8D396A3D-00C9-47AC-BF4A-B80E52A4D906}" type="sibTrans" cxnId="{1C7DC103-F19A-41FC-9CFC-5A1B996ECDDB}">
      <dgm:prSet/>
      <dgm:spPr/>
      <dgm:t>
        <a:bodyPr/>
        <a:lstStyle/>
        <a:p>
          <a:endParaRPr lang="zh-CN" altLang="en-US" b="1">
            <a:solidFill>
              <a:schemeClr val="bg1"/>
            </a:solidFill>
            <a:latin typeface="+mj-ea"/>
            <a:ea typeface="+mj-ea"/>
          </a:endParaRPr>
        </a:p>
      </dgm:t>
    </dgm:pt>
    <dgm:pt modelId="{6AF08070-6440-4439-96C1-830F5DB869E8}">
      <dgm:prSet custT="1"/>
      <dgm:spPr/>
      <dgm:t>
        <a:bodyPr spcFirstLastPara="0" vert="horz" wrap="square" lIns="851332" tIns="187452" rIns="851332" bIns="64008" numCol="1" spcCol="1270" anchor="t" anchorCtr="0"/>
        <a:lstStyle/>
        <a:p>
          <a:pPr marL="57150" lvl="1" indent="-57150" algn="l" defTabSz="400050">
            <a:lnSpc>
              <a:spcPct val="90000"/>
            </a:lnSpc>
            <a:spcBef>
              <a:spcPct val="0"/>
            </a:spcBef>
            <a:spcAft>
              <a:spcPct val="15000"/>
            </a:spcAft>
            <a:buChar char="•"/>
          </a:pPr>
          <a:r>
            <a:rPr lang="zh-CN" altLang="en-US" sz="1000" b="1" kern="1200">
              <a:solidFill>
                <a:schemeClr val="bg1"/>
              </a:solidFill>
              <a:latin typeface="+mj-ea"/>
              <a:ea typeface="+mj-ea"/>
              <a:cs typeface="+mn-cs"/>
            </a:rPr>
            <a:t>在执行过程中即要交付又准又快有要符合战术的约束指导</a:t>
          </a:r>
          <a:endParaRPr lang="zh-CN" altLang="en-US" sz="1000" b="1" kern="1200" dirty="0">
            <a:solidFill>
              <a:schemeClr val="bg1"/>
            </a:solidFill>
            <a:latin typeface="+mj-ea"/>
            <a:ea typeface="+mj-ea"/>
            <a:cs typeface="+mn-cs"/>
          </a:endParaRPr>
        </a:p>
      </dgm:t>
    </dgm:pt>
    <dgm:pt modelId="{336F5488-70BA-42E7-9AD7-21D494846C5E}" type="parTrans" cxnId="{223C983A-5B48-47AA-9389-7893BD6E2731}">
      <dgm:prSet/>
      <dgm:spPr/>
      <dgm:t>
        <a:bodyPr/>
        <a:lstStyle/>
        <a:p>
          <a:endParaRPr lang="zh-CN" altLang="en-US" b="1">
            <a:solidFill>
              <a:schemeClr val="bg1"/>
            </a:solidFill>
            <a:latin typeface="+mj-ea"/>
            <a:ea typeface="+mj-ea"/>
          </a:endParaRPr>
        </a:p>
      </dgm:t>
    </dgm:pt>
    <dgm:pt modelId="{7C9D71EC-578F-4DA6-9DD7-9AA5F2E4CEE4}" type="sibTrans" cxnId="{223C983A-5B48-47AA-9389-7893BD6E2731}">
      <dgm:prSet/>
      <dgm:spPr/>
      <dgm:t>
        <a:bodyPr/>
        <a:lstStyle/>
        <a:p>
          <a:endParaRPr lang="zh-CN" altLang="en-US" b="1">
            <a:solidFill>
              <a:schemeClr val="bg1"/>
            </a:solidFill>
            <a:latin typeface="+mj-ea"/>
            <a:ea typeface="+mj-ea"/>
          </a:endParaRPr>
        </a:p>
      </dgm:t>
    </dgm:pt>
    <dgm:pt modelId="{4A3A17A6-FCE5-426F-A517-9A3882826947}" type="pres">
      <dgm:prSet presAssocID="{0201D97B-539B-44EB-B92C-D8C0765020EC}" presName="linear" presStyleCnt="0">
        <dgm:presLayoutVars>
          <dgm:dir/>
          <dgm:animLvl val="lvl"/>
          <dgm:resizeHandles val="exact"/>
        </dgm:presLayoutVars>
      </dgm:prSet>
      <dgm:spPr/>
    </dgm:pt>
    <dgm:pt modelId="{8E506A34-5876-4EE8-AAFE-02FBBA4280FB}" type="pres">
      <dgm:prSet presAssocID="{19D3E36B-AB86-4D8F-B408-AFCE18B2F968}" presName="parentLin" presStyleCnt="0"/>
      <dgm:spPr/>
    </dgm:pt>
    <dgm:pt modelId="{829EAAFE-AE5B-4819-96B9-F9EA0D6518A3}" type="pres">
      <dgm:prSet presAssocID="{19D3E36B-AB86-4D8F-B408-AFCE18B2F968}" presName="parentLeftMargin" presStyleLbl="node1" presStyleIdx="0" presStyleCnt="8"/>
      <dgm:spPr/>
    </dgm:pt>
    <dgm:pt modelId="{DB270920-EFCA-4C63-B7F7-9DFDA007D9C9}" type="pres">
      <dgm:prSet presAssocID="{19D3E36B-AB86-4D8F-B408-AFCE18B2F968}" presName="parentText" presStyleLbl="node1" presStyleIdx="0" presStyleCnt="8">
        <dgm:presLayoutVars>
          <dgm:chMax val="0"/>
          <dgm:bulletEnabled val="1"/>
        </dgm:presLayoutVars>
      </dgm:prSet>
      <dgm:spPr/>
    </dgm:pt>
    <dgm:pt modelId="{7161EFFB-DB0A-461A-9B85-02953D152DE2}" type="pres">
      <dgm:prSet presAssocID="{19D3E36B-AB86-4D8F-B408-AFCE18B2F968}" presName="negativeSpace" presStyleCnt="0"/>
      <dgm:spPr/>
    </dgm:pt>
    <dgm:pt modelId="{16539D17-2819-4CB5-B082-85AB37D5B4D8}" type="pres">
      <dgm:prSet presAssocID="{19D3E36B-AB86-4D8F-B408-AFCE18B2F968}" presName="childText" presStyleLbl="conFgAcc1" presStyleIdx="0" presStyleCnt="8">
        <dgm:presLayoutVars>
          <dgm:bulletEnabled val="1"/>
        </dgm:presLayoutVars>
      </dgm:prSet>
      <dgm:spPr/>
    </dgm:pt>
    <dgm:pt modelId="{4B46B386-3D2B-4C30-BE05-57643FEA6087}" type="pres">
      <dgm:prSet presAssocID="{6E20D4CF-83C3-4DAD-8809-32C44B227CB7}" presName="spaceBetweenRectangles" presStyleCnt="0"/>
      <dgm:spPr/>
    </dgm:pt>
    <dgm:pt modelId="{BD0FD16D-4C95-4CD0-9C4C-6A0DF8E328F6}" type="pres">
      <dgm:prSet presAssocID="{9305C0DD-2087-4D72-B047-B49A7D045B43}" presName="parentLin" presStyleCnt="0"/>
      <dgm:spPr/>
    </dgm:pt>
    <dgm:pt modelId="{069613FF-F1CC-4832-B9DA-9C62540E6684}" type="pres">
      <dgm:prSet presAssocID="{9305C0DD-2087-4D72-B047-B49A7D045B43}" presName="parentLeftMargin" presStyleLbl="node1" presStyleIdx="0" presStyleCnt="8"/>
      <dgm:spPr/>
    </dgm:pt>
    <dgm:pt modelId="{46A14081-D766-4E36-978C-5E0288CC9745}" type="pres">
      <dgm:prSet presAssocID="{9305C0DD-2087-4D72-B047-B49A7D045B43}" presName="parentText" presStyleLbl="node1" presStyleIdx="1" presStyleCnt="8">
        <dgm:presLayoutVars>
          <dgm:chMax val="0"/>
          <dgm:bulletEnabled val="1"/>
        </dgm:presLayoutVars>
      </dgm:prSet>
      <dgm:spPr/>
    </dgm:pt>
    <dgm:pt modelId="{9B8C9ADF-37EB-4A02-8134-D3402A202399}" type="pres">
      <dgm:prSet presAssocID="{9305C0DD-2087-4D72-B047-B49A7D045B43}" presName="negativeSpace" presStyleCnt="0"/>
      <dgm:spPr/>
    </dgm:pt>
    <dgm:pt modelId="{81B11068-E115-4A70-9CB8-E98C56CDFCC9}" type="pres">
      <dgm:prSet presAssocID="{9305C0DD-2087-4D72-B047-B49A7D045B43}" presName="childText" presStyleLbl="conFgAcc1" presStyleIdx="1" presStyleCnt="8">
        <dgm:presLayoutVars>
          <dgm:bulletEnabled val="1"/>
        </dgm:presLayoutVars>
      </dgm:prSet>
      <dgm:spPr>
        <a:prstGeom prst="rect">
          <a:avLst/>
        </a:prstGeom>
      </dgm:spPr>
    </dgm:pt>
    <dgm:pt modelId="{0A2D5D3B-0811-4A89-9E04-4CE00237B3B2}" type="pres">
      <dgm:prSet presAssocID="{85663E5D-333A-41BE-B6B6-812B3CD08AD0}" presName="spaceBetweenRectangles" presStyleCnt="0"/>
      <dgm:spPr/>
    </dgm:pt>
    <dgm:pt modelId="{52FF6A7C-2E7B-458A-B488-5808DAD7B191}" type="pres">
      <dgm:prSet presAssocID="{FD55F7F7-2C83-453A-9072-6CFAEAAB00F2}" presName="parentLin" presStyleCnt="0"/>
      <dgm:spPr/>
    </dgm:pt>
    <dgm:pt modelId="{29E63D2C-B877-4014-A38D-FC0095DA02C8}" type="pres">
      <dgm:prSet presAssocID="{FD55F7F7-2C83-453A-9072-6CFAEAAB00F2}" presName="parentLeftMargin" presStyleLbl="node1" presStyleIdx="1" presStyleCnt="8"/>
      <dgm:spPr/>
    </dgm:pt>
    <dgm:pt modelId="{77CF62F0-0F67-40DC-8542-461263097C38}" type="pres">
      <dgm:prSet presAssocID="{FD55F7F7-2C83-453A-9072-6CFAEAAB00F2}" presName="parentText" presStyleLbl="node1" presStyleIdx="2" presStyleCnt="8">
        <dgm:presLayoutVars>
          <dgm:chMax val="0"/>
          <dgm:bulletEnabled val="1"/>
        </dgm:presLayoutVars>
      </dgm:prSet>
      <dgm:spPr>
        <a:xfrm>
          <a:off x="548460" y="1375633"/>
          <a:ext cx="7678440" cy="265680"/>
        </a:xfrm>
        <a:prstGeom prst="roundRect">
          <a:avLst/>
        </a:prstGeom>
      </dgm:spPr>
    </dgm:pt>
    <dgm:pt modelId="{49F37595-5DAC-4BE7-A14F-5B96A5FED25E}" type="pres">
      <dgm:prSet presAssocID="{FD55F7F7-2C83-453A-9072-6CFAEAAB00F2}" presName="negativeSpace" presStyleCnt="0"/>
      <dgm:spPr/>
    </dgm:pt>
    <dgm:pt modelId="{896089C3-56E3-48B7-9CB7-BE11962F3131}" type="pres">
      <dgm:prSet presAssocID="{FD55F7F7-2C83-453A-9072-6CFAEAAB00F2}" presName="childText" presStyleLbl="conFgAcc1" presStyleIdx="2" presStyleCnt="8">
        <dgm:presLayoutVars>
          <dgm:bulletEnabled val="1"/>
        </dgm:presLayoutVars>
      </dgm:prSet>
      <dgm:spPr>
        <a:xfrm>
          <a:off x="0" y="1508473"/>
          <a:ext cx="10969200" cy="652050"/>
        </a:xfrm>
        <a:prstGeom prst="rect">
          <a:avLst/>
        </a:prstGeom>
      </dgm:spPr>
    </dgm:pt>
    <dgm:pt modelId="{622FCAF0-0B18-43F8-A72D-D9853F063490}" type="pres">
      <dgm:prSet presAssocID="{0B7A0C85-C65D-421F-869D-5E7584D7F91D}" presName="spaceBetweenRectangles" presStyleCnt="0"/>
      <dgm:spPr/>
    </dgm:pt>
    <dgm:pt modelId="{27DF0DAC-CBD2-43D4-A471-FDCC36AF870B}" type="pres">
      <dgm:prSet presAssocID="{0FEB0835-E213-45E2-B30D-734199CEAC38}" presName="parentLin" presStyleCnt="0"/>
      <dgm:spPr/>
    </dgm:pt>
    <dgm:pt modelId="{320DDBDB-403F-48CF-B7E5-B08670E2B32F}" type="pres">
      <dgm:prSet presAssocID="{0FEB0835-E213-45E2-B30D-734199CEAC38}" presName="parentLeftMargin" presStyleLbl="node1" presStyleIdx="2" presStyleCnt="8"/>
      <dgm:spPr/>
    </dgm:pt>
    <dgm:pt modelId="{8B737F45-C7AA-4B15-BF57-C3BDDF01C565}" type="pres">
      <dgm:prSet presAssocID="{0FEB0835-E213-45E2-B30D-734199CEAC38}" presName="parentText" presStyleLbl="node1" presStyleIdx="3" presStyleCnt="8">
        <dgm:presLayoutVars>
          <dgm:chMax val="0"/>
          <dgm:bulletEnabled val="1"/>
        </dgm:presLayoutVars>
      </dgm:prSet>
      <dgm:spPr/>
    </dgm:pt>
    <dgm:pt modelId="{837BFE58-6FC4-4174-A502-DC7E1585A9EE}" type="pres">
      <dgm:prSet presAssocID="{0FEB0835-E213-45E2-B30D-734199CEAC38}" presName="negativeSpace" presStyleCnt="0"/>
      <dgm:spPr/>
    </dgm:pt>
    <dgm:pt modelId="{1080CE5F-0C34-40B1-B1BF-1963AF1DBE91}" type="pres">
      <dgm:prSet presAssocID="{0FEB0835-E213-45E2-B30D-734199CEAC38}" presName="childText" presStyleLbl="conFgAcc1" presStyleIdx="3" presStyleCnt="8">
        <dgm:presLayoutVars>
          <dgm:bulletEnabled val="1"/>
        </dgm:presLayoutVars>
      </dgm:prSet>
      <dgm:spPr/>
    </dgm:pt>
    <dgm:pt modelId="{E26A3660-A7B5-4115-A5DB-9C68DADE2CAB}" type="pres">
      <dgm:prSet presAssocID="{CC0DAD77-8536-44E1-A148-2117C9C271EB}" presName="spaceBetweenRectangles" presStyleCnt="0"/>
      <dgm:spPr/>
    </dgm:pt>
    <dgm:pt modelId="{6AF99173-E160-45CF-B575-2C04170966C6}" type="pres">
      <dgm:prSet presAssocID="{986E9A5B-6028-4CEE-A87A-00012E784FA5}" presName="parentLin" presStyleCnt="0"/>
      <dgm:spPr/>
    </dgm:pt>
    <dgm:pt modelId="{E489D11D-47C3-4C13-AB70-A45803A32CA4}" type="pres">
      <dgm:prSet presAssocID="{986E9A5B-6028-4CEE-A87A-00012E784FA5}" presName="parentLeftMargin" presStyleLbl="node1" presStyleIdx="3" presStyleCnt="8"/>
      <dgm:spPr/>
    </dgm:pt>
    <dgm:pt modelId="{7B371590-38D0-4EA2-A0EF-7AEAFA73CFD4}" type="pres">
      <dgm:prSet presAssocID="{986E9A5B-6028-4CEE-A87A-00012E784FA5}" presName="parentText" presStyleLbl="node1" presStyleIdx="4" presStyleCnt="8">
        <dgm:presLayoutVars>
          <dgm:chMax val="0"/>
          <dgm:bulletEnabled val="1"/>
        </dgm:presLayoutVars>
      </dgm:prSet>
      <dgm:spPr/>
    </dgm:pt>
    <dgm:pt modelId="{1DA23BE0-03B6-4902-9DDA-CBF785DF3748}" type="pres">
      <dgm:prSet presAssocID="{986E9A5B-6028-4CEE-A87A-00012E784FA5}" presName="negativeSpace" presStyleCnt="0"/>
      <dgm:spPr/>
    </dgm:pt>
    <dgm:pt modelId="{52416394-0E07-4B5C-8E03-7A7A47BAF4A6}" type="pres">
      <dgm:prSet presAssocID="{986E9A5B-6028-4CEE-A87A-00012E784FA5}" presName="childText" presStyleLbl="conFgAcc1" presStyleIdx="4" presStyleCnt="8">
        <dgm:presLayoutVars>
          <dgm:bulletEnabled val="1"/>
        </dgm:presLayoutVars>
      </dgm:prSet>
      <dgm:spPr/>
    </dgm:pt>
    <dgm:pt modelId="{C9207604-196C-45F4-AA35-62A91FFA00E9}" type="pres">
      <dgm:prSet presAssocID="{9ED1E4F6-8A9D-4E62-9377-91022014D58C}" presName="spaceBetweenRectangles" presStyleCnt="0"/>
      <dgm:spPr/>
    </dgm:pt>
    <dgm:pt modelId="{6FF555E5-9F0F-4725-B302-B145DDF695B7}" type="pres">
      <dgm:prSet presAssocID="{51356AC0-1C58-408E-9D17-EECEF225B011}" presName="parentLin" presStyleCnt="0"/>
      <dgm:spPr/>
    </dgm:pt>
    <dgm:pt modelId="{EA480AA7-CD55-4031-B899-735E84A9BDF4}" type="pres">
      <dgm:prSet presAssocID="{51356AC0-1C58-408E-9D17-EECEF225B011}" presName="parentLeftMargin" presStyleLbl="node1" presStyleIdx="4" presStyleCnt="8"/>
      <dgm:spPr/>
    </dgm:pt>
    <dgm:pt modelId="{DB4A4D0C-6E9E-46D9-826C-775DDF92A306}" type="pres">
      <dgm:prSet presAssocID="{51356AC0-1C58-408E-9D17-EECEF225B011}" presName="parentText" presStyleLbl="node1" presStyleIdx="5" presStyleCnt="8">
        <dgm:presLayoutVars>
          <dgm:chMax val="0"/>
          <dgm:bulletEnabled val="1"/>
        </dgm:presLayoutVars>
      </dgm:prSet>
      <dgm:spPr/>
    </dgm:pt>
    <dgm:pt modelId="{47E48F03-7207-4D53-BAE0-B560EAA1E6D2}" type="pres">
      <dgm:prSet presAssocID="{51356AC0-1C58-408E-9D17-EECEF225B011}" presName="negativeSpace" presStyleCnt="0"/>
      <dgm:spPr/>
    </dgm:pt>
    <dgm:pt modelId="{9494A0A1-E57B-4B55-927A-7FD06E3FEA49}" type="pres">
      <dgm:prSet presAssocID="{51356AC0-1C58-408E-9D17-EECEF225B011}" presName="childText" presStyleLbl="conFgAcc1" presStyleIdx="5" presStyleCnt="8">
        <dgm:presLayoutVars>
          <dgm:bulletEnabled val="1"/>
        </dgm:presLayoutVars>
      </dgm:prSet>
      <dgm:spPr/>
    </dgm:pt>
    <dgm:pt modelId="{596E1E4B-30BC-443A-8C15-D7AC955A5ED8}" type="pres">
      <dgm:prSet presAssocID="{8C45A899-FA69-4074-8E00-44FE98CD698B}" presName="spaceBetweenRectangles" presStyleCnt="0"/>
      <dgm:spPr/>
    </dgm:pt>
    <dgm:pt modelId="{F338E5A6-D9A4-4FBB-925C-5E70E05B882A}" type="pres">
      <dgm:prSet presAssocID="{A0900D4E-F7C3-47E3-B618-0170FF445315}" presName="parentLin" presStyleCnt="0"/>
      <dgm:spPr/>
    </dgm:pt>
    <dgm:pt modelId="{62E797A4-2A47-461C-9567-2A0B329F61BD}" type="pres">
      <dgm:prSet presAssocID="{A0900D4E-F7C3-47E3-B618-0170FF445315}" presName="parentLeftMargin" presStyleLbl="node1" presStyleIdx="5" presStyleCnt="8"/>
      <dgm:spPr/>
    </dgm:pt>
    <dgm:pt modelId="{4CC365B4-FBAC-4FD2-834D-F2E925EE6E43}" type="pres">
      <dgm:prSet presAssocID="{A0900D4E-F7C3-47E3-B618-0170FF445315}" presName="parentText" presStyleLbl="node1" presStyleIdx="6" presStyleCnt="8">
        <dgm:presLayoutVars>
          <dgm:chMax val="0"/>
          <dgm:bulletEnabled val="1"/>
        </dgm:presLayoutVars>
      </dgm:prSet>
      <dgm:spPr/>
    </dgm:pt>
    <dgm:pt modelId="{3C4088BE-1C33-4179-8D64-436B408AC8D6}" type="pres">
      <dgm:prSet presAssocID="{A0900D4E-F7C3-47E3-B618-0170FF445315}" presName="negativeSpace" presStyleCnt="0"/>
      <dgm:spPr/>
    </dgm:pt>
    <dgm:pt modelId="{40C8B5E6-32BC-4949-BCCB-FE92E9EAC757}" type="pres">
      <dgm:prSet presAssocID="{A0900D4E-F7C3-47E3-B618-0170FF445315}" presName="childText" presStyleLbl="conFgAcc1" presStyleIdx="6" presStyleCnt="8">
        <dgm:presLayoutVars>
          <dgm:bulletEnabled val="1"/>
        </dgm:presLayoutVars>
      </dgm:prSet>
      <dgm:spPr>
        <a:prstGeom prst="rect">
          <a:avLst/>
        </a:prstGeom>
      </dgm:spPr>
    </dgm:pt>
    <dgm:pt modelId="{5376C23D-8EAD-46A3-9E98-21A97CEEC546}" type="pres">
      <dgm:prSet presAssocID="{251B4F85-6E48-4F95-B759-D8D83F1B2D21}" presName="spaceBetweenRectangles" presStyleCnt="0"/>
      <dgm:spPr/>
    </dgm:pt>
    <dgm:pt modelId="{6D5BF531-CABB-4187-AE60-2C3A3B8D1BEF}" type="pres">
      <dgm:prSet presAssocID="{CB87BD8A-86C2-4E22-A013-9432EF0434AB}" presName="parentLin" presStyleCnt="0"/>
      <dgm:spPr/>
    </dgm:pt>
    <dgm:pt modelId="{F57F7D1B-0689-40D1-B2AE-3929F3651644}" type="pres">
      <dgm:prSet presAssocID="{CB87BD8A-86C2-4E22-A013-9432EF0434AB}" presName="parentLeftMargin" presStyleLbl="node1" presStyleIdx="6" presStyleCnt="8"/>
      <dgm:spPr/>
    </dgm:pt>
    <dgm:pt modelId="{1DF51D1D-9D11-422C-B2ED-4397770A2EA6}" type="pres">
      <dgm:prSet presAssocID="{CB87BD8A-86C2-4E22-A013-9432EF0434AB}" presName="parentText" presStyleLbl="node1" presStyleIdx="7" presStyleCnt="8">
        <dgm:presLayoutVars>
          <dgm:chMax val="0"/>
          <dgm:bulletEnabled val="1"/>
        </dgm:presLayoutVars>
      </dgm:prSet>
      <dgm:spPr>
        <a:xfrm>
          <a:off x="548460" y="4826188"/>
          <a:ext cx="7678440" cy="324720"/>
        </a:xfrm>
        <a:prstGeom prst="roundRect">
          <a:avLst/>
        </a:prstGeom>
      </dgm:spPr>
    </dgm:pt>
    <dgm:pt modelId="{31B2326A-F313-4400-BC9C-A770DB5DA315}" type="pres">
      <dgm:prSet presAssocID="{CB87BD8A-86C2-4E22-A013-9432EF0434AB}" presName="negativeSpace" presStyleCnt="0"/>
      <dgm:spPr/>
    </dgm:pt>
    <dgm:pt modelId="{4D359B5E-47CB-4066-ABAE-EFC0897B592D}" type="pres">
      <dgm:prSet presAssocID="{CB87BD8A-86C2-4E22-A013-9432EF0434AB}" presName="childText" presStyleLbl="conFgAcc1" presStyleIdx="7" presStyleCnt="8">
        <dgm:presLayoutVars>
          <dgm:bulletEnabled val="1"/>
        </dgm:presLayoutVars>
      </dgm:prSet>
      <dgm:spPr/>
    </dgm:pt>
  </dgm:ptLst>
  <dgm:cxnLst>
    <dgm:cxn modelId="{7C53E401-FAD8-4D6B-AEBC-D7B5F474C6C1}" type="presOf" srcId="{986E9A5B-6028-4CEE-A87A-00012E784FA5}" destId="{E489D11D-47C3-4C13-AB70-A45803A32CA4}" srcOrd="0" destOrd="0" presId="urn:microsoft.com/office/officeart/2005/8/layout/list1"/>
    <dgm:cxn modelId="{1C7DC103-F19A-41FC-9CFC-5A1B996ECDDB}" srcId="{FD55F7F7-2C83-453A-9072-6CFAEAAB00F2}" destId="{3701B573-09FA-4031-9E04-7407B7AC6546}" srcOrd="0" destOrd="0" parTransId="{136DAE8B-EAEC-4A41-82C2-0DECF26F3287}" sibTransId="{8D396A3D-00C9-47AC-BF4A-B80E52A4D906}"/>
    <dgm:cxn modelId="{8A65A604-E5E4-4539-A857-DB66421C35AA}" srcId="{19D3E36B-AB86-4D8F-B408-AFCE18B2F968}" destId="{64ECB345-AF22-4AD0-86BA-85D2395C7D19}" srcOrd="0" destOrd="0" parTransId="{53EEA7F2-B2BE-467C-9030-3DE9CF49A7E6}" sibTransId="{83285572-7513-423E-8D1A-A10EB28B1AA5}"/>
    <dgm:cxn modelId="{9FDC6D05-1400-44D8-A6E3-DE30C49D29C1}" type="presOf" srcId="{0FEB0835-E213-45E2-B30D-734199CEAC38}" destId="{320DDBDB-403F-48CF-B7E5-B08670E2B32F}" srcOrd="0" destOrd="0" presId="urn:microsoft.com/office/officeart/2005/8/layout/list1"/>
    <dgm:cxn modelId="{17B24D07-EFDD-4A0A-8CF6-A8BFB28985DF}" type="presOf" srcId="{19D3E36B-AB86-4D8F-B408-AFCE18B2F968}" destId="{DB270920-EFCA-4C63-B7F7-9DFDA007D9C9}" srcOrd="1" destOrd="0" presId="urn:microsoft.com/office/officeart/2005/8/layout/list1"/>
    <dgm:cxn modelId="{4A23C011-778D-4D4B-A9CF-7856105C4403}" srcId="{0201D97B-539B-44EB-B92C-D8C0765020EC}" destId="{FD55F7F7-2C83-453A-9072-6CFAEAAB00F2}" srcOrd="2" destOrd="0" parTransId="{1F3782C1-03E4-46B3-8453-D18E6EE09D1D}" sibTransId="{0B7A0C85-C65D-421F-869D-5E7584D7F91D}"/>
    <dgm:cxn modelId="{69781412-828A-4946-BEFD-55084DC2F530}" srcId="{0201D97B-539B-44EB-B92C-D8C0765020EC}" destId="{986E9A5B-6028-4CEE-A87A-00012E784FA5}" srcOrd="4" destOrd="0" parTransId="{AD6C4B5A-E704-4085-875C-29DEC7501E61}" sibTransId="{9ED1E4F6-8A9D-4E62-9377-91022014D58C}"/>
    <dgm:cxn modelId="{1A8DB115-C9BF-4B3E-9FC9-A90DFA968D35}" srcId="{0FEB0835-E213-45E2-B30D-734199CEAC38}" destId="{B111A9FC-58E6-40EF-939B-61684086BEB8}" srcOrd="0" destOrd="0" parTransId="{3AAEED1E-D786-44A1-A193-8A0FB619155E}" sibTransId="{6EB58809-CA51-4CC9-919A-B8659EE6FB4F}"/>
    <dgm:cxn modelId="{F3CCA717-12A8-475C-903A-FC053C3AB157}" type="presOf" srcId="{DF15C94A-C4A1-4868-A50D-34875C8E2797}" destId="{81B11068-E115-4A70-9CB8-E98C56CDFCC9}" srcOrd="0" destOrd="0" presId="urn:microsoft.com/office/officeart/2005/8/layout/list1"/>
    <dgm:cxn modelId="{DD4CD622-A4CE-4A76-A5A8-46416E890955}" srcId="{0201D97B-539B-44EB-B92C-D8C0765020EC}" destId="{0FEB0835-E213-45E2-B30D-734199CEAC38}" srcOrd="3" destOrd="0" parTransId="{3C222096-72BC-4BC1-AF3B-92995F6A222F}" sibTransId="{CC0DAD77-8536-44E1-A148-2117C9C271EB}"/>
    <dgm:cxn modelId="{4DE6F322-FA98-45C1-9B98-CDD2DF34F653}" type="presOf" srcId="{B111A9FC-58E6-40EF-939B-61684086BEB8}" destId="{1080CE5F-0C34-40B1-B1BF-1963AF1DBE91}" srcOrd="0" destOrd="0" presId="urn:microsoft.com/office/officeart/2005/8/layout/list1"/>
    <dgm:cxn modelId="{889D3523-CE1B-4F87-809D-5748ECE671DE}" type="presOf" srcId="{FD55F7F7-2C83-453A-9072-6CFAEAAB00F2}" destId="{29E63D2C-B877-4014-A38D-FC0095DA02C8}" srcOrd="0" destOrd="0" presId="urn:microsoft.com/office/officeart/2005/8/layout/list1"/>
    <dgm:cxn modelId="{F00EFC27-0255-42F1-936B-96A080BA7109}" srcId="{0201D97B-539B-44EB-B92C-D8C0765020EC}" destId="{9305C0DD-2087-4D72-B047-B49A7D045B43}" srcOrd="1" destOrd="0" parTransId="{FE5D1290-C3CC-4915-9FDB-DC4C75FC776D}" sibTransId="{85663E5D-333A-41BE-B6B6-812B3CD08AD0}"/>
    <dgm:cxn modelId="{0DA8B228-CB9E-4BCA-BF22-73E2E281361A}" type="presOf" srcId="{6AF08070-6440-4439-96C1-830F5DB869E8}" destId="{896089C3-56E3-48B7-9CB7-BE11962F3131}" srcOrd="0" destOrd="1" presId="urn:microsoft.com/office/officeart/2005/8/layout/list1"/>
    <dgm:cxn modelId="{58133D2E-2EEA-43DB-B62C-0BF391D53F4A}" srcId="{0201D97B-539B-44EB-B92C-D8C0765020EC}" destId="{A0900D4E-F7C3-47E3-B618-0170FF445315}" srcOrd="6" destOrd="0" parTransId="{246A0D4D-2A56-42CD-AB9D-B60CAB0F04D9}" sibTransId="{251B4F85-6E48-4F95-B759-D8D83F1B2D21}"/>
    <dgm:cxn modelId="{223C983A-5B48-47AA-9389-7893BD6E2731}" srcId="{FD55F7F7-2C83-453A-9072-6CFAEAAB00F2}" destId="{6AF08070-6440-4439-96C1-830F5DB869E8}" srcOrd="1" destOrd="0" parTransId="{336F5488-70BA-42E7-9AD7-21D494846C5E}" sibTransId="{7C9D71EC-578F-4DA6-9DD7-9AA5F2E4CEE4}"/>
    <dgm:cxn modelId="{0A003E60-D2DD-4BA6-AD45-059019741C8E}" srcId="{0201D97B-539B-44EB-B92C-D8C0765020EC}" destId="{19D3E36B-AB86-4D8F-B408-AFCE18B2F968}" srcOrd="0" destOrd="0" parTransId="{519A0E9B-97F1-4A05-BD7C-96C078019197}" sibTransId="{6E20D4CF-83C3-4DAD-8809-32C44B227CB7}"/>
    <dgm:cxn modelId="{782E5862-E834-432C-A7F3-0A209B715790}" type="presOf" srcId="{19D3E36B-AB86-4D8F-B408-AFCE18B2F968}" destId="{829EAAFE-AE5B-4819-96B9-F9EA0D6518A3}" srcOrd="0" destOrd="0" presId="urn:microsoft.com/office/officeart/2005/8/layout/list1"/>
    <dgm:cxn modelId="{3322B363-E25D-4FA2-B4B1-223F3A02D28B}" srcId="{0201D97B-539B-44EB-B92C-D8C0765020EC}" destId="{51356AC0-1C58-408E-9D17-EECEF225B011}" srcOrd="5" destOrd="0" parTransId="{8D641BA6-E587-45A5-BD6E-60C0AC92C642}" sibTransId="{8C45A899-FA69-4074-8E00-44FE98CD698B}"/>
    <dgm:cxn modelId="{12C3E143-5424-4741-9F16-AC4DB74D3B45}" type="presOf" srcId="{0FEB0835-E213-45E2-B30D-734199CEAC38}" destId="{8B737F45-C7AA-4B15-BF57-C3BDDF01C565}" srcOrd="1" destOrd="0" presId="urn:microsoft.com/office/officeart/2005/8/layout/list1"/>
    <dgm:cxn modelId="{09C5D749-3E0F-4EB6-8EFE-2D5C80991FC3}" type="presOf" srcId="{986E9A5B-6028-4CEE-A87A-00012E784FA5}" destId="{7B371590-38D0-4EA2-A0EF-7AEAFA73CFD4}" srcOrd="1" destOrd="0" presId="urn:microsoft.com/office/officeart/2005/8/layout/list1"/>
    <dgm:cxn modelId="{5299B76E-BEBD-4304-B1F2-76BE6A2C45C6}" srcId="{CB87BD8A-86C2-4E22-A013-9432EF0434AB}" destId="{FCAA03AB-19E3-4970-A112-7E49AFB534B1}" srcOrd="0" destOrd="0" parTransId="{29095B94-E8C8-4862-89BA-7C3072A259FD}" sibTransId="{98A06525-2221-456B-9398-127530FF9A08}"/>
    <dgm:cxn modelId="{8E264784-0580-4C7E-A293-BF5D534ED5C3}" srcId="{A0900D4E-F7C3-47E3-B618-0170FF445315}" destId="{83FA59C7-4FD6-42B6-8AB2-769656C2C85A}" srcOrd="0" destOrd="0" parTransId="{8806727A-183F-4609-ABA9-09D1774F22F6}" sibTransId="{E6FBBD19-0EBD-45D7-9191-A4544D69F0A6}"/>
    <dgm:cxn modelId="{C1124887-9BDF-4E5B-9F8D-16D7F96294C0}" srcId="{0201D97B-539B-44EB-B92C-D8C0765020EC}" destId="{CB87BD8A-86C2-4E22-A013-9432EF0434AB}" srcOrd="7" destOrd="0" parTransId="{52641F3E-F9CB-4841-AEEB-62C413F9C877}" sibTransId="{573D417A-EDAF-4DF9-81AC-6BA5B0E12ACD}"/>
    <dgm:cxn modelId="{1A127A9B-88DD-4CA0-A29A-FAD69C6A0A19}" type="presOf" srcId="{51356AC0-1C58-408E-9D17-EECEF225B011}" destId="{EA480AA7-CD55-4031-B899-735E84A9BDF4}" srcOrd="0" destOrd="0" presId="urn:microsoft.com/office/officeart/2005/8/layout/list1"/>
    <dgm:cxn modelId="{BE7161A9-294F-43AB-B9CC-D8543D5FCA2B}" type="presOf" srcId="{07E199D5-3C1A-476E-A544-BA034990E8F2}" destId="{9494A0A1-E57B-4B55-927A-7FD06E3FEA49}" srcOrd="0" destOrd="0" presId="urn:microsoft.com/office/officeart/2005/8/layout/list1"/>
    <dgm:cxn modelId="{2D4E38AC-FD9C-4066-9513-E361C05012CE}" type="presOf" srcId="{A0900D4E-F7C3-47E3-B618-0170FF445315}" destId="{62E797A4-2A47-461C-9567-2A0B329F61BD}" srcOrd="0" destOrd="0" presId="urn:microsoft.com/office/officeart/2005/8/layout/list1"/>
    <dgm:cxn modelId="{02EA60AD-8D11-4298-9FEF-20207BBC256B}" srcId="{9305C0DD-2087-4D72-B047-B49A7D045B43}" destId="{DF15C94A-C4A1-4868-A50D-34875C8E2797}" srcOrd="0" destOrd="0" parTransId="{B0FEF28A-CF38-4F00-8633-1048FAD07ABF}" sibTransId="{E0422538-74F5-4F5E-A11F-D91E690E67E6}"/>
    <dgm:cxn modelId="{7C3C57B4-6537-4A78-B20C-8573D95772EB}" srcId="{986E9A5B-6028-4CEE-A87A-00012E784FA5}" destId="{871C8880-5C9F-447D-A5F6-79AA9BE825E8}" srcOrd="0" destOrd="0" parTransId="{FD0FE411-F823-40CB-8CD5-31B1D3E93652}" sibTransId="{98AD9CD3-97BB-4A29-B30B-EE6ADC5E398F}"/>
    <dgm:cxn modelId="{A889EEB4-E009-4CA6-A4DD-F6DF7A102727}" type="presOf" srcId="{CB87BD8A-86C2-4E22-A013-9432EF0434AB}" destId="{1DF51D1D-9D11-422C-B2ED-4397770A2EA6}" srcOrd="1" destOrd="0" presId="urn:microsoft.com/office/officeart/2005/8/layout/list1"/>
    <dgm:cxn modelId="{6D0C84B6-7BFE-481A-992C-E988D4F2C8F4}" type="presOf" srcId="{9305C0DD-2087-4D72-B047-B49A7D045B43}" destId="{46A14081-D766-4E36-978C-5E0288CC9745}" srcOrd="1" destOrd="0" presId="urn:microsoft.com/office/officeart/2005/8/layout/list1"/>
    <dgm:cxn modelId="{E1076FBB-D52C-4BA0-8F6D-DBD4F3987768}" type="presOf" srcId="{3701B573-09FA-4031-9E04-7407B7AC6546}" destId="{896089C3-56E3-48B7-9CB7-BE11962F3131}" srcOrd="0" destOrd="0" presId="urn:microsoft.com/office/officeart/2005/8/layout/list1"/>
    <dgm:cxn modelId="{3D78F1C0-D15B-4CF2-AC71-4ACA47511821}" type="presOf" srcId="{FCAA03AB-19E3-4970-A112-7E49AFB534B1}" destId="{4D359B5E-47CB-4066-ABAE-EFC0897B592D}" srcOrd="0" destOrd="0" presId="urn:microsoft.com/office/officeart/2005/8/layout/list1"/>
    <dgm:cxn modelId="{2310DAC8-5C97-46A6-890F-84F51F019950}" type="presOf" srcId="{51356AC0-1C58-408E-9D17-EECEF225B011}" destId="{DB4A4D0C-6E9E-46D9-826C-775DDF92A306}" srcOrd="1" destOrd="0" presId="urn:microsoft.com/office/officeart/2005/8/layout/list1"/>
    <dgm:cxn modelId="{BF5066D3-A19F-42B7-93F4-6E9BCFA1E2C8}" type="presOf" srcId="{CB87BD8A-86C2-4E22-A013-9432EF0434AB}" destId="{F57F7D1B-0689-40D1-B2AE-3929F3651644}" srcOrd="0" destOrd="0" presId="urn:microsoft.com/office/officeart/2005/8/layout/list1"/>
    <dgm:cxn modelId="{6886CEE0-8337-46E2-8568-35790DAC7A63}" type="presOf" srcId="{83FA59C7-4FD6-42B6-8AB2-769656C2C85A}" destId="{40C8B5E6-32BC-4949-BCCB-FE92E9EAC757}" srcOrd="0" destOrd="0" presId="urn:microsoft.com/office/officeart/2005/8/layout/list1"/>
    <dgm:cxn modelId="{760049E1-83E7-4DEE-87B5-A1E70AA7DB49}" type="presOf" srcId="{FD55F7F7-2C83-453A-9072-6CFAEAAB00F2}" destId="{77CF62F0-0F67-40DC-8542-461263097C38}" srcOrd="1" destOrd="0" presId="urn:microsoft.com/office/officeart/2005/8/layout/list1"/>
    <dgm:cxn modelId="{CF9AEEE2-23A7-47C4-BF06-E8EF5F6B22F0}" type="presOf" srcId="{0201D97B-539B-44EB-B92C-D8C0765020EC}" destId="{4A3A17A6-FCE5-426F-A517-9A3882826947}" srcOrd="0" destOrd="0" presId="urn:microsoft.com/office/officeart/2005/8/layout/list1"/>
    <dgm:cxn modelId="{0AFDE3E6-BBC1-4354-9291-E0FB135F02A0}" type="presOf" srcId="{9305C0DD-2087-4D72-B047-B49A7D045B43}" destId="{069613FF-F1CC-4832-B9DA-9C62540E6684}" srcOrd="0" destOrd="0" presId="urn:microsoft.com/office/officeart/2005/8/layout/list1"/>
    <dgm:cxn modelId="{7D9997EA-0B36-47B6-804E-D5728190EF70}" type="presOf" srcId="{64ECB345-AF22-4AD0-86BA-85D2395C7D19}" destId="{16539D17-2819-4CB5-B082-85AB37D5B4D8}" srcOrd="0" destOrd="0" presId="urn:microsoft.com/office/officeart/2005/8/layout/list1"/>
    <dgm:cxn modelId="{0E4B0FF5-7497-459B-BC39-569A5FF9C82B}" type="presOf" srcId="{871C8880-5C9F-447D-A5F6-79AA9BE825E8}" destId="{52416394-0E07-4B5C-8E03-7A7A47BAF4A6}" srcOrd="0" destOrd="0" presId="urn:microsoft.com/office/officeart/2005/8/layout/list1"/>
    <dgm:cxn modelId="{803E85F6-2729-4B64-A4BE-DE351071B2FC}" type="presOf" srcId="{A0900D4E-F7C3-47E3-B618-0170FF445315}" destId="{4CC365B4-FBAC-4FD2-834D-F2E925EE6E43}" srcOrd="1" destOrd="0" presId="urn:microsoft.com/office/officeart/2005/8/layout/list1"/>
    <dgm:cxn modelId="{2EEFA4F6-7F87-4A51-833E-455161360E46}" srcId="{51356AC0-1C58-408E-9D17-EECEF225B011}" destId="{07E199D5-3C1A-476E-A544-BA034990E8F2}" srcOrd="0" destOrd="0" parTransId="{5B269AEA-FB7F-4D37-8687-89B2B06BD1F3}" sibTransId="{640B2A71-A989-4F09-9004-636715524112}"/>
    <dgm:cxn modelId="{E73DC0AA-51EC-4E70-A409-C4DC6A06E6C4}" type="presParOf" srcId="{4A3A17A6-FCE5-426F-A517-9A3882826947}" destId="{8E506A34-5876-4EE8-AAFE-02FBBA4280FB}" srcOrd="0" destOrd="0" presId="urn:microsoft.com/office/officeart/2005/8/layout/list1"/>
    <dgm:cxn modelId="{55E8B8E1-99B9-4B9B-8B11-37FD322D2571}" type="presParOf" srcId="{8E506A34-5876-4EE8-AAFE-02FBBA4280FB}" destId="{829EAAFE-AE5B-4819-96B9-F9EA0D6518A3}" srcOrd="0" destOrd="0" presId="urn:microsoft.com/office/officeart/2005/8/layout/list1"/>
    <dgm:cxn modelId="{97B79DE3-9C55-4A41-891A-7938671F0923}" type="presParOf" srcId="{8E506A34-5876-4EE8-AAFE-02FBBA4280FB}" destId="{DB270920-EFCA-4C63-B7F7-9DFDA007D9C9}" srcOrd="1" destOrd="0" presId="urn:microsoft.com/office/officeart/2005/8/layout/list1"/>
    <dgm:cxn modelId="{169FFF0A-8176-4E70-86F4-951497F38154}" type="presParOf" srcId="{4A3A17A6-FCE5-426F-A517-9A3882826947}" destId="{7161EFFB-DB0A-461A-9B85-02953D152DE2}" srcOrd="1" destOrd="0" presId="urn:microsoft.com/office/officeart/2005/8/layout/list1"/>
    <dgm:cxn modelId="{C1AADF37-F760-4403-A142-BB717AD8E742}" type="presParOf" srcId="{4A3A17A6-FCE5-426F-A517-9A3882826947}" destId="{16539D17-2819-4CB5-B082-85AB37D5B4D8}" srcOrd="2" destOrd="0" presId="urn:microsoft.com/office/officeart/2005/8/layout/list1"/>
    <dgm:cxn modelId="{C5D2E75C-CF80-4D36-991E-6ABA5A14C5DC}" type="presParOf" srcId="{4A3A17A6-FCE5-426F-A517-9A3882826947}" destId="{4B46B386-3D2B-4C30-BE05-57643FEA6087}" srcOrd="3" destOrd="0" presId="urn:microsoft.com/office/officeart/2005/8/layout/list1"/>
    <dgm:cxn modelId="{5C64F1E6-8B9B-4047-8F60-71EA0A56AB32}" type="presParOf" srcId="{4A3A17A6-FCE5-426F-A517-9A3882826947}" destId="{BD0FD16D-4C95-4CD0-9C4C-6A0DF8E328F6}" srcOrd="4" destOrd="0" presId="urn:microsoft.com/office/officeart/2005/8/layout/list1"/>
    <dgm:cxn modelId="{E8B46385-C7E1-4708-8127-EE6690C61224}" type="presParOf" srcId="{BD0FD16D-4C95-4CD0-9C4C-6A0DF8E328F6}" destId="{069613FF-F1CC-4832-B9DA-9C62540E6684}" srcOrd="0" destOrd="0" presId="urn:microsoft.com/office/officeart/2005/8/layout/list1"/>
    <dgm:cxn modelId="{C7023411-70E6-45E9-A864-49B140907D57}" type="presParOf" srcId="{BD0FD16D-4C95-4CD0-9C4C-6A0DF8E328F6}" destId="{46A14081-D766-4E36-978C-5E0288CC9745}" srcOrd="1" destOrd="0" presId="urn:microsoft.com/office/officeart/2005/8/layout/list1"/>
    <dgm:cxn modelId="{AB8022FF-F518-4546-A9B1-FE01F880CCBF}" type="presParOf" srcId="{4A3A17A6-FCE5-426F-A517-9A3882826947}" destId="{9B8C9ADF-37EB-4A02-8134-D3402A202399}" srcOrd="5" destOrd="0" presId="urn:microsoft.com/office/officeart/2005/8/layout/list1"/>
    <dgm:cxn modelId="{6F01D6DC-E204-4E96-A565-781C837219B9}" type="presParOf" srcId="{4A3A17A6-FCE5-426F-A517-9A3882826947}" destId="{81B11068-E115-4A70-9CB8-E98C56CDFCC9}" srcOrd="6" destOrd="0" presId="urn:microsoft.com/office/officeart/2005/8/layout/list1"/>
    <dgm:cxn modelId="{4B7A4355-5624-4B48-9755-D945FD0F6163}" type="presParOf" srcId="{4A3A17A6-FCE5-426F-A517-9A3882826947}" destId="{0A2D5D3B-0811-4A89-9E04-4CE00237B3B2}" srcOrd="7" destOrd="0" presId="urn:microsoft.com/office/officeart/2005/8/layout/list1"/>
    <dgm:cxn modelId="{6245AE7A-39A6-492F-8C6A-E4A2D08B89C7}" type="presParOf" srcId="{4A3A17A6-FCE5-426F-A517-9A3882826947}" destId="{52FF6A7C-2E7B-458A-B488-5808DAD7B191}" srcOrd="8" destOrd="0" presId="urn:microsoft.com/office/officeart/2005/8/layout/list1"/>
    <dgm:cxn modelId="{9503FA08-A88A-48C7-8DF3-934BA4D19163}" type="presParOf" srcId="{52FF6A7C-2E7B-458A-B488-5808DAD7B191}" destId="{29E63D2C-B877-4014-A38D-FC0095DA02C8}" srcOrd="0" destOrd="0" presId="urn:microsoft.com/office/officeart/2005/8/layout/list1"/>
    <dgm:cxn modelId="{625509C2-92A0-4EAC-94A5-5E69D4C5F5C1}" type="presParOf" srcId="{52FF6A7C-2E7B-458A-B488-5808DAD7B191}" destId="{77CF62F0-0F67-40DC-8542-461263097C38}" srcOrd="1" destOrd="0" presId="urn:microsoft.com/office/officeart/2005/8/layout/list1"/>
    <dgm:cxn modelId="{8EDC090B-794C-4728-9B43-162B8997FFEB}" type="presParOf" srcId="{4A3A17A6-FCE5-426F-A517-9A3882826947}" destId="{49F37595-5DAC-4BE7-A14F-5B96A5FED25E}" srcOrd="9" destOrd="0" presId="urn:microsoft.com/office/officeart/2005/8/layout/list1"/>
    <dgm:cxn modelId="{636066A6-605A-4E8A-B6B0-DC3F496F2340}" type="presParOf" srcId="{4A3A17A6-FCE5-426F-A517-9A3882826947}" destId="{896089C3-56E3-48B7-9CB7-BE11962F3131}" srcOrd="10" destOrd="0" presId="urn:microsoft.com/office/officeart/2005/8/layout/list1"/>
    <dgm:cxn modelId="{7E53DB8D-B187-41FA-8B18-56DC9F10DD71}" type="presParOf" srcId="{4A3A17A6-FCE5-426F-A517-9A3882826947}" destId="{622FCAF0-0B18-43F8-A72D-D9853F063490}" srcOrd="11" destOrd="0" presId="urn:microsoft.com/office/officeart/2005/8/layout/list1"/>
    <dgm:cxn modelId="{ECDA64AE-EA4C-4960-9306-12A5E59E4D51}" type="presParOf" srcId="{4A3A17A6-FCE5-426F-A517-9A3882826947}" destId="{27DF0DAC-CBD2-43D4-A471-FDCC36AF870B}" srcOrd="12" destOrd="0" presId="urn:microsoft.com/office/officeart/2005/8/layout/list1"/>
    <dgm:cxn modelId="{A8C276AD-3A3A-45E8-A7F1-171736E1D414}" type="presParOf" srcId="{27DF0DAC-CBD2-43D4-A471-FDCC36AF870B}" destId="{320DDBDB-403F-48CF-B7E5-B08670E2B32F}" srcOrd="0" destOrd="0" presId="urn:microsoft.com/office/officeart/2005/8/layout/list1"/>
    <dgm:cxn modelId="{401D6650-0A8F-438C-835D-A124E7D25872}" type="presParOf" srcId="{27DF0DAC-CBD2-43D4-A471-FDCC36AF870B}" destId="{8B737F45-C7AA-4B15-BF57-C3BDDF01C565}" srcOrd="1" destOrd="0" presId="urn:microsoft.com/office/officeart/2005/8/layout/list1"/>
    <dgm:cxn modelId="{1DECF6F1-BA21-49DA-8B57-4DA4FEBC8ECB}" type="presParOf" srcId="{4A3A17A6-FCE5-426F-A517-9A3882826947}" destId="{837BFE58-6FC4-4174-A502-DC7E1585A9EE}" srcOrd="13" destOrd="0" presId="urn:microsoft.com/office/officeart/2005/8/layout/list1"/>
    <dgm:cxn modelId="{14224D4D-ED0E-4866-ACFF-8EB7C1246E30}" type="presParOf" srcId="{4A3A17A6-FCE5-426F-A517-9A3882826947}" destId="{1080CE5F-0C34-40B1-B1BF-1963AF1DBE91}" srcOrd="14" destOrd="0" presId="urn:microsoft.com/office/officeart/2005/8/layout/list1"/>
    <dgm:cxn modelId="{705E6262-A321-4A25-814F-014A325E657F}" type="presParOf" srcId="{4A3A17A6-FCE5-426F-A517-9A3882826947}" destId="{E26A3660-A7B5-4115-A5DB-9C68DADE2CAB}" srcOrd="15" destOrd="0" presId="urn:microsoft.com/office/officeart/2005/8/layout/list1"/>
    <dgm:cxn modelId="{35BB7334-8F64-42ED-85AD-207A3048E1AB}" type="presParOf" srcId="{4A3A17A6-FCE5-426F-A517-9A3882826947}" destId="{6AF99173-E160-45CF-B575-2C04170966C6}" srcOrd="16" destOrd="0" presId="urn:microsoft.com/office/officeart/2005/8/layout/list1"/>
    <dgm:cxn modelId="{498E5521-ED0B-4BB5-8A73-2CEF18D073E1}" type="presParOf" srcId="{6AF99173-E160-45CF-B575-2C04170966C6}" destId="{E489D11D-47C3-4C13-AB70-A45803A32CA4}" srcOrd="0" destOrd="0" presId="urn:microsoft.com/office/officeart/2005/8/layout/list1"/>
    <dgm:cxn modelId="{25494790-276D-464B-AA55-2AD16E9273B4}" type="presParOf" srcId="{6AF99173-E160-45CF-B575-2C04170966C6}" destId="{7B371590-38D0-4EA2-A0EF-7AEAFA73CFD4}" srcOrd="1" destOrd="0" presId="urn:microsoft.com/office/officeart/2005/8/layout/list1"/>
    <dgm:cxn modelId="{93C0B4C2-A370-4433-A4F7-99CD0A1181AF}" type="presParOf" srcId="{4A3A17A6-FCE5-426F-A517-9A3882826947}" destId="{1DA23BE0-03B6-4902-9DDA-CBF785DF3748}" srcOrd="17" destOrd="0" presId="urn:microsoft.com/office/officeart/2005/8/layout/list1"/>
    <dgm:cxn modelId="{2F184494-5598-4A88-9DAB-3A32D6F29DA7}" type="presParOf" srcId="{4A3A17A6-FCE5-426F-A517-9A3882826947}" destId="{52416394-0E07-4B5C-8E03-7A7A47BAF4A6}" srcOrd="18" destOrd="0" presId="urn:microsoft.com/office/officeart/2005/8/layout/list1"/>
    <dgm:cxn modelId="{8D8A2C16-C53C-4F1B-8EC3-07CFB888BB46}" type="presParOf" srcId="{4A3A17A6-FCE5-426F-A517-9A3882826947}" destId="{C9207604-196C-45F4-AA35-62A91FFA00E9}" srcOrd="19" destOrd="0" presId="urn:microsoft.com/office/officeart/2005/8/layout/list1"/>
    <dgm:cxn modelId="{73491772-83B5-40CE-8E2F-5A48E9D68DBE}" type="presParOf" srcId="{4A3A17A6-FCE5-426F-A517-9A3882826947}" destId="{6FF555E5-9F0F-4725-B302-B145DDF695B7}" srcOrd="20" destOrd="0" presId="urn:microsoft.com/office/officeart/2005/8/layout/list1"/>
    <dgm:cxn modelId="{1B855388-63C4-446D-884F-951F40E77BAA}" type="presParOf" srcId="{6FF555E5-9F0F-4725-B302-B145DDF695B7}" destId="{EA480AA7-CD55-4031-B899-735E84A9BDF4}" srcOrd="0" destOrd="0" presId="urn:microsoft.com/office/officeart/2005/8/layout/list1"/>
    <dgm:cxn modelId="{CA03F1D2-1B0D-4EEA-9676-12D4A0EF616A}" type="presParOf" srcId="{6FF555E5-9F0F-4725-B302-B145DDF695B7}" destId="{DB4A4D0C-6E9E-46D9-826C-775DDF92A306}" srcOrd="1" destOrd="0" presId="urn:microsoft.com/office/officeart/2005/8/layout/list1"/>
    <dgm:cxn modelId="{A90D9F58-179D-493C-A534-49840FE94660}" type="presParOf" srcId="{4A3A17A6-FCE5-426F-A517-9A3882826947}" destId="{47E48F03-7207-4D53-BAE0-B560EAA1E6D2}" srcOrd="21" destOrd="0" presId="urn:microsoft.com/office/officeart/2005/8/layout/list1"/>
    <dgm:cxn modelId="{F0CB799F-A99F-43B2-8265-3EA5A1B0AD44}" type="presParOf" srcId="{4A3A17A6-FCE5-426F-A517-9A3882826947}" destId="{9494A0A1-E57B-4B55-927A-7FD06E3FEA49}" srcOrd="22" destOrd="0" presId="urn:microsoft.com/office/officeart/2005/8/layout/list1"/>
    <dgm:cxn modelId="{0531F46F-5942-480B-BAB7-56DF1F9E4AD6}" type="presParOf" srcId="{4A3A17A6-FCE5-426F-A517-9A3882826947}" destId="{596E1E4B-30BC-443A-8C15-D7AC955A5ED8}" srcOrd="23" destOrd="0" presId="urn:microsoft.com/office/officeart/2005/8/layout/list1"/>
    <dgm:cxn modelId="{C3CABA0A-03CA-4C28-ACCE-2A7FF8C348F9}" type="presParOf" srcId="{4A3A17A6-FCE5-426F-A517-9A3882826947}" destId="{F338E5A6-D9A4-4FBB-925C-5E70E05B882A}" srcOrd="24" destOrd="0" presId="urn:microsoft.com/office/officeart/2005/8/layout/list1"/>
    <dgm:cxn modelId="{50406D8C-0E9C-44F2-A996-A0D219DF05F6}" type="presParOf" srcId="{F338E5A6-D9A4-4FBB-925C-5E70E05B882A}" destId="{62E797A4-2A47-461C-9567-2A0B329F61BD}" srcOrd="0" destOrd="0" presId="urn:microsoft.com/office/officeart/2005/8/layout/list1"/>
    <dgm:cxn modelId="{7DB3AE52-E23B-49B3-A611-C51ED2E6F606}" type="presParOf" srcId="{F338E5A6-D9A4-4FBB-925C-5E70E05B882A}" destId="{4CC365B4-FBAC-4FD2-834D-F2E925EE6E43}" srcOrd="1" destOrd="0" presId="urn:microsoft.com/office/officeart/2005/8/layout/list1"/>
    <dgm:cxn modelId="{3E2AABF5-82DD-4442-A362-901E9762EB66}" type="presParOf" srcId="{4A3A17A6-FCE5-426F-A517-9A3882826947}" destId="{3C4088BE-1C33-4179-8D64-436B408AC8D6}" srcOrd="25" destOrd="0" presId="urn:microsoft.com/office/officeart/2005/8/layout/list1"/>
    <dgm:cxn modelId="{ED53430E-CFBA-4FB3-83A3-65FD3378B5E3}" type="presParOf" srcId="{4A3A17A6-FCE5-426F-A517-9A3882826947}" destId="{40C8B5E6-32BC-4949-BCCB-FE92E9EAC757}" srcOrd="26" destOrd="0" presId="urn:microsoft.com/office/officeart/2005/8/layout/list1"/>
    <dgm:cxn modelId="{A723B32A-4221-4FE0-9F75-F464790753B7}" type="presParOf" srcId="{4A3A17A6-FCE5-426F-A517-9A3882826947}" destId="{5376C23D-8EAD-46A3-9E98-21A97CEEC546}" srcOrd="27" destOrd="0" presId="urn:microsoft.com/office/officeart/2005/8/layout/list1"/>
    <dgm:cxn modelId="{111F7293-5260-4D02-A75E-AEFD10DA0DD6}" type="presParOf" srcId="{4A3A17A6-FCE5-426F-A517-9A3882826947}" destId="{6D5BF531-CABB-4187-AE60-2C3A3B8D1BEF}" srcOrd="28" destOrd="0" presId="urn:microsoft.com/office/officeart/2005/8/layout/list1"/>
    <dgm:cxn modelId="{38C93AEB-F4BD-4B92-B22C-A1DC3BC9CE3C}" type="presParOf" srcId="{6D5BF531-CABB-4187-AE60-2C3A3B8D1BEF}" destId="{F57F7D1B-0689-40D1-B2AE-3929F3651644}" srcOrd="0" destOrd="0" presId="urn:microsoft.com/office/officeart/2005/8/layout/list1"/>
    <dgm:cxn modelId="{C795421E-0331-43C6-BC46-5D3AEECD77EF}" type="presParOf" srcId="{6D5BF531-CABB-4187-AE60-2C3A3B8D1BEF}" destId="{1DF51D1D-9D11-422C-B2ED-4397770A2EA6}" srcOrd="1" destOrd="0" presId="urn:microsoft.com/office/officeart/2005/8/layout/list1"/>
    <dgm:cxn modelId="{E7A8578A-CD64-4718-8653-E361FEE48D79}" type="presParOf" srcId="{4A3A17A6-FCE5-426F-A517-9A3882826947}" destId="{31B2326A-F313-4400-BC9C-A770DB5DA315}" srcOrd="29" destOrd="0" presId="urn:microsoft.com/office/officeart/2005/8/layout/list1"/>
    <dgm:cxn modelId="{66486581-064D-49B9-A2ED-D4A0D878D10C}" type="presParOf" srcId="{4A3A17A6-FCE5-426F-A517-9A3882826947}" destId="{4D359B5E-47CB-4066-ABAE-EFC0897B592D}" srcOrd="30"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a:ext uri="{C62137D5-CB1D-491B-B009-E17868A290BF}">
      <dgm14:recolorImg xmlns:dgm14="http://schemas.microsoft.com/office/drawing/2010/diagram" val="1"/>
    </a:ext>
  </dgm:extLst>
</dgm:dataModel>
</file>

<file path=ppt/diagrams/data8.xml><?xml version="1.0" encoding="utf-8"?>
<dgm:dataModel xmlns:dgm="http://schemas.openxmlformats.org/drawingml/2006/diagram" xmlns:a="http://schemas.openxmlformats.org/drawingml/2006/main">
  <dgm:ptLst>
    <dgm:pt modelId="{7C9E4850-C804-4E1B-BE0F-8BD573389C4F}" type="doc">
      <dgm:prSet loTypeId="urn:microsoft.com/office/officeart/2005/8/layout/vList2" loCatId="list" qsTypeId="urn:microsoft.com/office/officeart/2005/8/quickstyle/simple1" qsCatId="simple" csTypeId="urn:microsoft.com/office/officeart/2005/8/colors/colorful1" csCatId="colorful" phldr="1"/>
      <dgm:spPr/>
      <dgm:t>
        <a:bodyPr/>
        <a:lstStyle/>
        <a:p>
          <a:endParaRPr lang="zh-CN" altLang="en-US"/>
        </a:p>
      </dgm:t>
    </dgm:pt>
    <dgm:pt modelId="{1152A2C3-18AE-4414-A52A-153EDE7AE700}">
      <dgm:prSet custT="1"/>
      <dgm:spPr/>
      <dgm:t>
        <a:bodyPr/>
        <a:lstStyle/>
        <a:p>
          <a:r>
            <a:rPr lang="zh-CN" altLang="en-US" sz="1400" b="1"/>
            <a:t>齐套计算</a:t>
          </a:r>
        </a:p>
      </dgm:t>
    </dgm:pt>
    <dgm:pt modelId="{15E12AD2-84AD-4FA2-B1DA-159212928B39}" type="parTrans" cxnId="{6559D1CA-B6FE-4D5C-B12A-7506E906984B}">
      <dgm:prSet/>
      <dgm:spPr/>
      <dgm:t>
        <a:bodyPr/>
        <a:lstStyle/>
        <a:p>
          <a:endParaRPr lang="zh-CN" altLang="en-US" sz="1400" b="1"/>
        </a:p>
      </dgm:t>
    </dgm:pt>
    <dgm:pt modelId="{DB62DA30-6B09-42A2-A538-D35E0D30449A}" type="sibTrans" cxnId="{6559D1CA-B6FE-4D5C-B12A-7506E906984B}">
      <dgm:prSet/>
      <dgm:spPr/>
      <dgm:t>
        <a:bodyPr/>
        <a:lstStyle/>
        <a:p>
          <a:endParaRPr lang="zh-CN" altLang="en-US" sz="1400" b="1"/>
        </a:p>
      </dgm:t>
    </dgm:pt>
    <dgm:pt modelId="{72E87AF2-3723-441E-AE5F-544405812B5F}">
      <dgm:prSet custT="1"/>
      <dgm:spPr/>
      <dgm:t>
        <a:bodyPr/>
        <a:lstStyle/>
        <a:p>
          <a:r>
            <a:rPr lang="zh-CN" altLang="en-US" sz="1400" b="1" dirty="0"/>
            <a:t>工单用到的供应是什么？产生拉动计划。</a:t>
          </a:r>
        </a:p>
      </dgm:t>
    </dgm:pt>
    <dgm:pt modelId="{266513C6-C56A-41C2-93F8-6B29C269C6A6}" type="parTrans" cxnId="{25375B72-5AA8-4CE7-BD5F-3E3280003AA0}">
      <dgm:prSet/>
      <dgm:spPr/>
      <dgm:t>
        <a:bodyPr/>
        <a:lstStyle/>
        <a:p>
          <a:endParaRPr lang="zh-CN" altLang="en-US" sz="1400" b="1"/>
        </a:p>
      </dgm:t>
    </dgm:pt>
    <dgm:pt modelId="{E455A315-8A1B-4AFF-A92C-4F958D2FBAEE}" type="sibTrans" cxnId="{25375B72-5AA8-4CE7-BD5F-3E3280003AA0}">
      <dgm:prSet/>
      <dgm:spPr/>
      <dgm:t>
        <a:bodyPr/>
        <a:lstStyle/>
        <a:p>
          <a:endParaRPr lang="zh-CN" altLang="en-US" sz="1400" b="1"/>
        </a:p>
      </dgm:t>
    </dgm:pt>
    <dgm:pt modelId="{7DDC4EF3-EDC7-4BC2-AFC9-C8DC56CD3EA3}">
      <dgm:prSet custT="1"/>
      <dgm:spPr/>
      <dgm:t>
        <a:bodyPr/>
        <a:lstStyle/>
        <a:p>
          <a:r>
            <a:rPr lang="zh-CN" sz="1400" b="1"/>
            <a:t>交期发生变化，比对</a:t>
          </a:r>
          <a:r>
            <a:rPr lang="en-US" sz="1400" b="1"/>
            <a:t>Pegging</a:t>
          </a:r>
          <a:r>
            <a:rPr lang="zh-CN" sz="1400" b="1"/>
            <a:t>找到具体供应变化。</a:t>
          </a:r>
        </a:p>
      </dgm:t>
    </dgm:pt>
    <dgm:pt modelId="{4F910F48-669C-4409-9476-A86E54CC199C}" type="parTrans" cxnId="{45B0532E-4345-4A5F-BFCD-B958868F2FD4}">
      <dgm:prSet/>
      <dgm:spPr/>
      <dgm:t>
        <a:bodyPr/>
        <a:lstStyle/>
        <a:p>
          <a:endParaRPr lang="zh-CN" altLang="en-US" sz="1400" b="1"/>
        </a:p>
      </dgm:t>
    </dgm:pt>
    <dgm:pt modelId="{58D55136-B99A-4030-AFB3-051987906BE4}" type="sibTrans" cxnId="{45B0532E-4345-4A5F-BFCD-B958868F2FD4}">
      <dgm:prSet/>
      <dgm:spPr/>
      <dgm:t>
        <a:bodyPr/>
        <a:lstStyle/>
        <a:p>
          <a:endParaRPr lang="zh-CN" altLang="en-US" sz="1400" b="1"/>
        </a:p>
      </dgm:t>
    </dgm:pt>
    <dgm:pt modelId="{A02F96CA-589E-4F83-8120-74D0346AA624}">
      <dgm:prSet custT="1"/>
      <dgm:spPr/>
      <dgm:t>
        <a:bodyPr/>
        <a:lstStyle/>
        <a:p>
          <a:r>
            <a:rPr lang="zh-CN" altLang="en-US" sz="1400" b="1"/>
            <a:t>反之，供应发生变化时，可能影响到的需求是哪些？</a:t>
          </a:r>
        </a:p>
      </dgm:t>
    </dgm:pt>
    <dgm:pt modelId="{16B69F76-340A-4611-B0BB-45E95E6DB303}" type="parTrans" cxnId="{6CACDD99-7C97-471D-BB87-DB8511BDC994}">
      <dgm:prSet/>
      <dgm:spPr/>
      <dgm:t>
        <a:bodyPr/>
        <a:lstStyle/>
        <a:p>
          <a:endParaRPr lang="zh-CN" altLang="en-US" sz="1400" b="1"/>
        </a:p>
      </dgm:t>
    </dgm:pt>
    <dgm:pt modelId="{7F269F46-D17E-4DA9-A8A2-D893EA6F3252}" type="sibTrans" cxnId="{6CACDD99-7C97-471D-BB87-DB8511BDC994}">
      <dgm:prSet/>
      <dgm:spPr/>
      <dgm:t>
        <a:bodyPr/>
        <a:lstStyle/>
        <a:p>
          <a:endParaRPr lang="zh-CN" altLang="en-US" sz="1400" b="1"/>
        </a:p>
      </dgm:t>
    </dgm:pt>
    <dgm:pt modelId="{2028F4C0-263D-406D-97B5-9E3358FAD771}">
      <dgm:prSet custT="1"/>
      <dgm:spPr/>
      <dgm:t>
        <a:bodyPr/>
        <a:lstStyle/>
        <a:p>
          <a:r>
            <a:rPr lang="zh-CN" altLang="en-US" sz="1400" b="1"/>
            <a:t>预分配的供应谁可以用？</a:t>
          </a:r>
        </a:p>
      </dgm:t>
    </dgm:pt>
    <dgm:pt modelId="{F98F7776-785E-4A1D-A300-3A5D94A0FFFE}" type="parTrans" cxnId="{FC96A24C-C454-4ECC-8751-C35436E0B878}">
      <dgm:prSet/>
      <dgm:spPr/>
      <dgm:t>
        <a:bodyPr/>
        <a:lstStyle/>
        <a:p>
          <a:endParaRPr lang="zh-CN" altLang="en-US" sz="1400" b="1"/>
        </a:p>
      </dgm:t>
    </dgm:pt>
    <dgm:pt modelId="{666AFA2E-3205-40E6-96E6-3FEF6F119659}" type="sibTrans" cxnId="{FC96A24C-C454-4ECC-8751-C35436E0B878}">
      <dgm:prSet/>
      <dgm:spPr/>
      <dgm:t>
        <a:bodyPr/>
        <a:lstStyle/>
        <a:p>
          <a:endParaRPr lang="zh-CN" altLang="en-US" sz="1400" b="1"/>
        </a:p>
      </dgm:t>
    </dgm:pt>
    <dgm:pt modelId="{920E0451-C3E5-4937-B5A6-EA901D50D024}">
      <dgm:prSet custT="1"/>
      <dgm:spPr/>
      <dgm:t>
        <a:bodyPr/>
        <a:lstStyle/>
        <a:p>
          <a:r>
            <a:rPr lang="en-US" sz="1400" b="1"/>
            <a:t>………..</a:t>
          </a:r>
          <a:endParaRPr lang="zh-CN" sz="1400" b="1"/>
        </a:p>
      </dgm:t>
    </dgm:pt>
    <dgm:pt modelId="{59855EDC-0CA4-4974-BF85-C040732D3AE9}" type="parTrans" cxnId="{DF9CB719-C347-42A5-89E2-1979A4563A59}">
      <dgm:prSet/>
      <dgm:spPr/>
      <dgm:t>
        <a:bodyPr/>
        <a:lstStyle/>
        <a:p>
          <a:endParaRPr lang="zh-CN" altLang="en-US" sz="1400" b="1"/>
        </a:p>
      </dgm:t>
    </dgm:pt>
    <dgm:pt modelId="{C8A8C05B-9B95-4DAA-9905-D147EC211ED1}" type="sibTrans" cxnId="{DF9CB719-C347-42A5-89E2-1979A4563A59}">
      <dgm:prSet/>
      <dgm:spPr/>
      <dgm:t>
        <a:bodyPr/>
        <a:lstStyle/>
        <a:p>
          <a:endParaRPr lang="zh-CN" altLang="en-US" sz="1400" b="1"/>
        </a:p>
      </dgm:t>
    </dgm:pt>
    <dgm:pt modelId="{1BFBCE7E-5E54-40B9-AC97-1F1EA53606E9}" type="pres">
      <dgm:prSet presAssocID="{7C9E4850-C804-4E1B-BE0F-8BD573389C4F}" presName="linear" presStyleCnt="0">
        <dgm:presLayoutVars>
          <dgm:animLvl val="lvl"/>
          <dgm:resizeHandles val="exact"/>
        </dgm:presLayoutVars>
      </dgm:prSet>
      <dgm:spPr/>
    </dgm:pt>
    <dgm:pt modelId="{8D006FB5-A283-4556-8F1B-9FFF64CE4AF3}" type="pres">
      <dgm:prSet presAssocID="{1152A2C3-18AE-4414-A52A-153EDE7AE700}" presName="parentText" presStyleLbl="node1" presStyleIdx="0" presStyleCnt="6">
        <dgm:presLayoutVars>
          <dgm:chMax val="0"/>
          <dgm:bulletEnabled val="1"/>
        </dgm:presLayoutVars>
      </dgm:prSet>
      <dgm:spPr/>
    </dgm:pt>
    <dgm:pt modelId="{129E8C83-1580-4A52-A4F0-D01DE4D56DA4}" type="pres">
      <dgm:prSet presAssocID="{DB62DA30-6B09-42A2-A538-D35E0D30449A}" presName="spacer" presStyleCnt="0"/>
      <dgm:spPr/>
    </dgm:pt>
    <dgm:pt modelId="{3FDD1272-7235-47EA-B7FD-880BFA7A13EF}" type="pres">
      <dgm:prSet presAssocID="{72E87AF2-3723-441E-AE5F-544405812B5F}" presName="parentText" presStyleLbl="node1" presStyleIdx="1" presStyleCnt="6">
        <dgm:presLayoutVars>
          <dgm:chMax val="0"/>
          <dgm:bulletEnabled val="1"/>
        </dgm:presLayoutVars>
      </dgm:prSet>
      <dgm:spPr/>
    </dgm:pt>
    <dgm:pt modelId="{F0CFAB51-3C16-4DFB-ACE5-6DE8DF0AD006}" type="pres">
      <dgm:prSet presAssocID="{E455A315-8A1B-4AFF-A92C-4F958D2FBAEE}" presName="spacer" presStyleCnt="0"/>
      <dgm:spPr/>
    </dgm:pt>
    <dgm:pt modelId="{F7653806-2045-471C-9DAC-163A4F759D61}" type="pres">
      <dgm:prSet presAssocID="{7DDC4EF3-EDC7-4BC2-AFC9-C8DC56CD3EA3}" presName="parentText" presStyleLbl="node1" presStyleIdx="2" presStyleCnt="6">
        <dgm:presLayoutVars>
          <dgm:chMax val="0"/>
          <dgm:bulletEnabled val="1"/>
        </dgm:presLayoutVars>
      </dgm:prSet>
      <dgm:spPr/>
    </dgm:pt>
    <dgm:pt modelId="{B72A54A5-F2C9-410E-836D-9F3858F6876E}" type="pres">
      <dgm:prSet presAssocID="{58D55136-B99A-4030-AFB3-051987906BE4}" presName="spacer" presStyleCnt="0"/>
      <dgm:spPr/>
    </dgm:pt>
    <dgm:pt modelId="{7B3ACCA2-A27D-4C41-BD70-F09A13156137}" type="pres">
      <dgm:prSet presAssocID="{A02F96CA-589E-4F83-8120-74D0346AA624}" presName="parentText" presStyleLbl="node1" presStyleIdx="3" presStyleCnt="6">
        <dgm:presLayoutVars>
          <dgm:chMax val="0"/>
          <dgm:bulletEnabled val="1"/>
        </dgm:presLayoutVars>
      </dgm:prSet>
      <dgm:spPr/>
    </dgm:pt>
    <dgm:pt modelId="{3FAEABF3-3BBA-435E-8F41-4019DB2FFB04}" type="pres">
      <dgm:prSet presAssocID="{7F269F46-D17E-4DA9-A8A2-D893EA6F3252}" presName="spacer" presStyleCnt="0"/>
      <dgm:spPr/>
    </dgm:pt>
    <dgm:pt modelId="{1C29FB8A-4715-442A-800A-F267493B6E08}" type="pres">
      <dgm:prSet presAssocID="{2028F4C0-263D-406D-97B5-9E3358FAD771}" presName="parentText" presStyleLbl="node1" presStyleIdx="4" presStyleCnt="6">
        <dgm:presLayoutVars>
          <dgm:chMax val="0"/>
          <dgm:bulletEnabled val="1"/>
        </dgm:presLayoutVars>
      </dgm:prSet>
      <dgm:spPr/>
    </dgm:pt>
    <dgm:pt modelId="{74422C09-DCB4-4D29-81F8-D85FE67F619E}" type="pres">
      <dgm:prSet presAssocID="{666AFA2E-3205-40E6-96E6-3FEF6F119659}" presName="spacer" presStyleCnt="0"/>
      <dgm:spPr/>
    </dgm:pt>
    <dgm:pt modelId="{4BC0DCC1-0098-42F7-BED6-8807A22CE793}" type="pres">
      <dgm:prSet presAssocID="{920E0451-C3E5-4937-B5A6-EA901D50D024}" presName="parentText" presStyleLbl="node1" presStyleIdx="5" presStyleCnt="6">
        <dgm:presLayoutVars>
          <dgm:chMax val="0"/>
          <dgm:bulletEnabled val="1"/>
        </dgm:presLayoutVars>
      </dgm:prSet>
      <dgm:spPr/>
    </dgm:pt>
  </dgm:ptLst>
  <dgm:cxnLst>
    <dgm:cxn modelId="{DF9CB719-C347-42A5-89E2-1979A4563A59}" srcId="{7C9E4850-C804-4E1B-BE0F-8BD573389C4F}" destId="{920E0451-C3E5-4937-B5A6-EA901D50D024}" srcOrd="5" destOrd="0" parTransId="{59855EDC-0CA4-4974-BF85-C040732D3AE9}" sibTransId="{C8A8C05B-9B95-4DAA-9905-D147EC211ED1}"/>
    <dgm:cxn modelId="{1607E123-D086-4A46-BA18-CF01E97396E0}" type="presOf" srcId="{920E0451-C3E5-4937-B5A6-EA901D50D024}" destId="{4BC0DCC1-0098-42F7-BED6-8807A22CE793}" srcOrd="0" destOrd="0" presId="urn:microsoft.com/office/officeart/2005/8/layout/vList2"/>
    <dgm:cxn modelId="{45B0532E-4345-4A5F-BFCD-B958868F2FD4}" srcId="{7C9E4850-C804-4E1B-BE0F-8BD573389C4F}" destId="{7DDC4EF3-EDC7-4BC2-AFC9-C8DC56CD3EA3}" srcOrd="2" destOrd="0" parTransId="{4F910F48-669C-4409-9476-A86E54CC199C}" sibTransId="{58D55136-B99A-4030-AFB3-051987906BE4}"/>
    <dgm:cxn modelId="{26291440-FA9A-43C9-A9FA-87B0A5697C93}" type="presOf" srcId="{2028F4C0-263D-406D-97B5-9E3358FAD771}" destId="{1C29FB8A-4715-442A-800A-F267493B6E08}" srcOrd="0" destOrd="0" presId="urn:microsoft.com/office/officeart/2005/8/layout/vList2"/>
    <dgm:cxn modelId="{FC96A24C-C454-4ECC-8751-C35436E0B878}" srcId="{7C9E4850-C804-4E1B-BE0F-8BD573389C4F}" destId="{2028F4C0-263D-406D-97B5-9E3358FAD771}" srcOrd="4" destOrd="0" parTransId="{F98F7776-785E-4A1D-A300-3A5D94A0FFFE}" sibTransId="{666AFA2E-3205-40E6-96E6-3FEF6F119659}"/>
    <dgm:cxn modelId="{4685364D-F8E4-457F-B303-E1E1345B88EE}" type="presOf" srcId="{7DDC4EF3-EDC7-4BC2-AFC9-C8DC56CD3EA3}" destId="{F7653806-2045-471C-9DAC-163A4F759D61}" srcOrd="0" destOrd="0" presId="urn:microsoft.com/office/officeart/2005/8/layout/vList2"/>
    <dgm:cxn modelId="{25375B72-5AA8-4CE7-BD5F-3E3280003AA0}" srcId="{7C9E4850-C804-4E1B-BE0F-8BD573389C4F}" destId="{72E87AF2-3723-441E-AE5F-544405812B5F}" srcOrd="1" destOrd="0" parTransId="{266513C6-C56A-41C2-93F8-6B29C269C6A6}" sibTransId="{E455A315-8A1B-4AFF-A92C-4F958D2FBAEE}"/>
    <dgm:cxn modelId="{ACE49978-8569-4202-8DEB-15AF29571928}" type="presOf" srcId="{7C9E4850-C804-4E1B-BE0F-8BD573389C4F}" destId="{1BFBCE7E-5E54-40B9-AC97-1F1EA53606E9}" srcOrd="0" destOrd="0" presId="urn:microsoft.com/office/officeart/2005/8/layout/vList2"/>
    <dgm:cxn modelId="{A64B4E86-2CE9-447B-A5BA-B8C76D1E2FED}" type="presOf" srcId="{72E87AF2-3723-441E-AE5F-544405812B5F}" destId="{3FDD1272-7235-47EA-B7FD-880BFA7A13EF}" srcOrd="0" destOrd="0" presId="urn:microsoft.com/office/officeart/2005/8/layout/vList2"/>
    <dgm:cxn modelId="{6CACDD99-7C97-471D-BB87-DB8511BDC994}" srcId="{7C9E4850-C804-4E1B-BE0F-8BD573389C4F}" destId="{A02F96CA-589E-4F83-8120-74D0346AA624}" srcOrd="3" destOrd="0" parTransId="{16B69F76-340A-4611-B0BB-45E95E6DB303}" sibTransId="{7F269F46-D17E-4DA9-A8A2-D893EA6F3252}"/>
    <dgm:cxn modelId="{6D5EF19F-C4FC-4951-B772-FD09A348F65C}" type="presOf" srcId="{1152A2C3-18AE-4414-A52A-153EDE7AE700}" destId="{8D006FB5-A283-4556-8F1B-9FFF64CE4AF3}" srcOrd="0" destOrd="0" presId="urn:microsoft.com/office/officeart/2005/8/layout/vList2"/>
    <dgm:cxn modelId="{FC9DD6AE-3713-4277-BD64-5ECB49F6E042}" type="presOf" srcId="{A02F96CA-589E-4F83-8120-74D0346AA624}" destId="{7B3ACCA2-A27D-4C41-BD70-F09A13156137}" srcOrd="0" destOrd="0" presId="urn:microsoft.com/office/officeart/2005/8/layout/vList2"/>
    <dgm:cxn modelId="{6559D1CA-B6FE-4D5C-B12A-7506E906984B}" srcId="{7C9E4850-C804-4E1B-BE0F-8BD573389C4F}" destId="{1152A2C3-18AE-4414-A52A-153EDE7AE700}" srcOrd="0" destOrd="0" parTransId="{15E12AD2-84AD-4FA2-B1DA-159212928B39}" sibTransId="{DB62DA30-6B09-42A2-A538-D35E0D30449A}"/>
    <dgm:cxn modelId="{0AB78530-2B8A-423A-B57A-00D9FB2EBA85}" type="presParOf" srcId="{1BFBCE7E-5E54-40B9-AC97-1F1EA53606E9}" destId="{8D006FB5-A283-4556-8F1B-9FFF64CE4AF3}" srcOrd="0" destOrd="0" presId="urn:microsoft.com/office/officeart/2005/8/layout/vList2"/>
    <dgm:cxn modelId="{9DC2FFF7-C0AA-475B-B083-AEDF5FE62327}" type="presParOf" srcId="{1BFBCE7E-5E54-40B9-AC97-1F1EA53606E9}" destId="{129E8C83-1580-4A52-A4F0-D01DE4D56DA4}" srcOrd="1" destOrd="0" presId="urn:microsoft.com/office/officeart/2005/8/layout/vList2"/>
    <dgm:cxn modelId="{DDB86483-19D0-41B4-9082-B62A4113B5AE}" type="presParOf" srcId="{1BFBCE7E-5E54-40B9-AC97-1F1EA53606E9}" destId="{3FDD1272-7235-47EA-B7FD-880BFA7A13EF}" srcOrd="2" destOrd="0" presId="urn:microsoft.com/office/officeart/2005/8/layout/vList2"/>
    <dgm:cxn modelId="{4747EC0B-6F8B-49B9-8499-2C7990C9B8BF}" type="presParOf" srcId="{1BFBCE7E-5E54-40B9-AC97-1F1EA53606E9}" destId="{F0CFAB51-3C16-4DFB-ACE5-6DE8DF0AD006}" srcOrd="3" destOrd="0" presId="urn:microsoft.com/office/officeart/2005/8/layout/vList2"/>
    <dgm:cxn modelId="{8F891AA6-C61E-4CAF-8E20-EA2744983142}" type="presParOf" srcId="{1BFBCE7E-5E54-40B9-AC97-1F1EA53606E9}" destId="{F7653806-2045-471C-9DAC-163A4F759D61}" srcOrd="4" destOrd="0" presId="urn:microsoft.com/office/officeart/2005/8/layout/vList2"/>
    <dgm:cxn modelId="{5598EDBC-5FF2-40CB-8CE2-9B71A2F3D9CB}" type="presParOf" srcId="{1BFBCE7E-5E54-40B9-AC97-1F1EA53606E9}" destId="{B72A54A5-F2C9-410E-836D-9F3858F6876E}" srcOrd="5" destOrd="0" presId="urn:microsoft.com/office/officeart/2005/8/layout/vList2"/>
    <dgm:cxn modelId="{3843ECB6-5A8B-4035-B4A1-CE6A17D29499}" type="presParOf" srcId="{1BFBCE7E-5E54-40B9-AC97-1F1EA53606E9}" destId="{7B3ACCA2-A27D-4C41-BD70-F09A13156137}" srcOrd="6" destOrd="0" presId="urn:microsoft.com/office/officeart/2005/8/layout/vList2"/>
    <dgm:cxn modelId="{60307013-9753-4DE1-B958-3B4478AF9431}" type="presParOf" srcId="{1BFBCE7E-5E54-40B9-AC97-1F1EA53606E9}" destId="{3FAEABF3-3BBA-435E-8F41-4019DB2FFB04}" srcOrd="7" destOrd="0" presId="urn:microsoft.com/office/officeart/2005/8/layout/vList2"/>
    <dgm:cxn modelId="{A04FBCDD-75B0-4FF2-ABE5-C53152644D27}" type="presParOf" srcId="{1BFBCE7E-5E54-40B9-AC97-1F1EA53606E9}" destId="{1C29FB8A-4715-442A-800A-F267493B6E08}" srcOrd="8" destOrd="0" presId="urn:microsoft.com/office/officeart/2005/8/layout/vList2"/>
    <dgm:cxn modelId="{13E7E7AE-6D38-4C8C-BFD7-63BA4D5286AD}" type="presParOf" srcId="{1BFBCE7E-5E54-40B9-AC97-1F1EA53606E9}" destId="{74422C09-DCB4-4D29-81F8-D85FE67F619E}" srcOrd="9" destOrd="0" presId="urn:microsoft.com/office/officeart/2005/8/layout/vList2"/>
    <dgm:cxn modelId="{A1315493-593E-487C-B4AF-A958E40E49C2}" type="presParOf" srcId="{1BFBCE7E-5E54-40B9-AC97-1F1EA53606E9}" destId="{4BC0DCC1-0098-42F7-BED6-8807A22CE793}" srcOrd="1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4134259E-89DB-494A-85BE-63AC9F38BE5D}" type="doc">
      <dgm:prSet loTypeId="urn:microsoft.com/office/officeart/2008/layout/LinedList" loCatId="list" qsTypeId="urn:microsoft.com/office/officeart/2005/8/quickstyle/simple1" qsCatId="simple" csTypeId="urn:microsoft.com/office/officeart/2005/8/colors/accent2_1" csCatId="accent2" phldr="1"/>
      <dgm:spPr/>
      <dgm:t>
        <a:bodyPr/>
        <a:lstStyle/>
        <a:p>
          <a:endParaRPr lang="zh-CN" altLang="en-US"/>
        </a:p>
      </dgm:t>
    </dgm:pt>
    <dgm:pt modelId="{38ED8CBA-21A2-4348-832E-247160617FD2}">
      <dgm:prSet/>
      <dgm:spPr>
        <a:xfrm>
          <a:off x="0" y="422"/>
          <a:ext cx="4082611" cy="288247"/>
        </a:xfrm>
        <a:prstGeom prst="rect">
          <a:avLst/>
        </a:prstGeom>
      </dgm:spPr>
      <dgm:t>
        <a:bodyPr/>
        <a:lstStyle/>
        <a:p>
          <a:pPr>
            <a:buNone/>
          </a:pPr>
          <a:r>
            <a:rPr lang="en-US" altLang="zh-CN">
              <a:latin typeface="Arial"/>
              <a:ea typeface="微软雅黑"/>
              <a:cs typeface="+mn-cs"/>
            </a:rPr>
            <a:t>FG11</a:t>
          </a:r>
          <a:r>
            <a:rPr lang="en-US" altLang="zh-CN" dirty="0">
              <a:latin typeface="Arial"/>
              <a:ea typeface="微软雅黑"/>
              <a:cs typeface="+mn-cs"/>
            </a:rPr>
            <a:t>….n</a:t>
          </a:r>
          <a:r>
            <a:rPr lang="zh-CN" altLang="en-US" dirty="0">
              <a:latin typeface="Arial"/>
              <a:ea typeface="微软雅黑"/>
              <a:cs typeface="+mn-cs"/>
            </a:rPr>
            <a:t>即可以在</a:t>
          </a:r>
          <a:r>
            <a:rPr lang="en-US" altLang="zh-CN" dirty="0">
              <a:latin typeface="Arial"/>
              <a:ea typeface="微软雅黑"/>
              <a:cs typeface="+mn-cs"/>
            </a:rPr>
            <a:t>Line1, </a:t>
          </a:r>
          <a:r>
            <a:rPr lang="zh-CN" altLang="en-US" dirty="0">
              <a:latin typeface="Arial"/>
              <a:ea typeface="微软雅黑"/>
              <a:cs typeface="+mn-cs"/>
            </a:rPr>
            <a:t>也可以在</a:t>
          </a:r>
          <a:r>
            <a:rPr lang="en-US" altLang="zh-CN" dirty="0">
              <a:latin typeface="Arial"/>
              <a:ea typeface="微软雅黑"/>
              <a:cs typeface="+mn-cs"/>
            </a:rPr>
            <a:t>Line2</a:t>
          </a:r>
          <a:r>
            <a:rPr lang="zh-CN" altLang="en-US" dirty="0">
              <a:latin typeface="Arial"/>
              <a:ea typeface="微软雅黑"/>
              <a:cs typeface="+mn-cs"/>
            </a:rPr>
            <a:t>，还可以在</a:t>
          </a:r>
          <a:r>
            <a:rPr lang="en-US" altLang="zh-CN" dirty="0">
              <a:latin typeface="Arial"/>
              <a:ea typeface="微软雅黑"/>
              <a:cs typeface="+mn-cs"/>
            </a:rPr>
            <a:t>Line3</a:t>
          </a:r>
          <a:r>
            <a:rPr lang="zh-CN" altLang="en-US" dirty="0">
              <a:latin typeface="Arial"/>
              <a:ea typeface="微软雅黑"/>
              <a:cs typeface="+mn-cs"/>
            </a:rPr>
            <a:t>生产</a:t>
          </a:r>
        </a:p>
      </dgm:t>
    </dgm:pt>
    <dgm:pt modelId="{62EC1465-3A73-4E76-BDE5-B65078885D58}" type="parTrans" cxnId="{3DB0F017-AFFB-4F6E-9C5B-9193C134A3DD}">
      <dgm:prSet/>
      <dgm:spPr/>
      <dgm:t>
        <a:bodyPr/>
        <a:lstStyle/>
        <a:p>
          <a:endParaRPr lang="zh-CN" altLang="en-US">
            <a:solidFill>
              <a:schemeClr val="tx1"/>
            </a:solidFill>
          </a:endParaRPr>
        </a:p>
      </dgm:t>
    </dgm:pt>
    <dgm:pt modelId="{42C622E4-7007-44B3-9EF7-7835CCD7BAE1}" type="sibTrans" cxnId="{3DB0F017-AFFB-4F6E-9C5B-9193C134A3DD}">
      <dgm:prSet/>
      <dgm:spPr/>
      <dgm:t>
        <a:bodyPr/>
        <a:lstStyle/>
        <a:p>
          <a:endParaRPr lang="zh-CN" altLang="en-US">
            <a:solidFill>
              <a:schemeClr val="tx1"/>
            </a:solidFill>
          </a:endParaRPr>
        </a:p>
      </dgm:t>
    </dgm:pt>
    <dgm:pt modelId="{471356A9-A82A-4C3B-9EE0-ADA113BB05A0}">
      <dgm:prSet/>
      <dgm:spPr>
        <a:xfrm>
          <a:off x="0" y="288669"/>
          <a:ext cx="4082611" cy="288247"/>
        </a:xfrm>
        <a:prstGeom prst="rect">
          <a:avLst/>
        </a:prstGeom>
      </dgm:spPr>
      <dgm:t>
        <a:bodyPr/>
        <a:lstStyle/>
        <a:p>
          <a:pPr>
            <a:buNone/>
          </a:pPr>
          <a:r>
            <a:rPr lang="en-US" altLang="zh-CN">
              <a:latin typeface="Arial"/>
              <a:ea typeface="微软雅黑"/>
              <a:cs typeface="+mn-cs"/>
            </a:rPr>
            <a:t>FG21….m</a:t>
          </a:r>
          <a:r>
            <a:rPr lang="zh-CN" altLang="en-US">
              <a:latin typeface="Arial"/>
              <a:ea typeface="微软雅黑"/>
              <a:cs typeface="+mn-cs"/>
            </a:rPr>
            <a:t>找只能在</a:t>
          </a:r>
          <a:r>
            <a:rPr lang="en-US" altLang="zh-CN">
              <a:latin typeface="Arial"/>
              <a:ea typeface="微软雅黑"/>
              <a:cs typeface="+mn-cs"/>
            </a:rPr>
            <a:t>Line1</a:t>
          </a:r>
          <a:r>
            <a:rPr lang="zh-CN" altLang="en-US">
              <a:latin typeface="Arial"/>
              <a:ea typeface="微软雅黑"/>
              <a:cs typeface="+mn-cs"/>
            </a:rPr>
            <a:t>生产</a:t>
          </a:r>
          <a:endParaRPr lang="zh-CN" altLang="en-US" dirty="0">
            <a:latin typeface="Arial"/>
            <a:ea typeface="微软雅黑"/>
            <a:cs typeface="+mn-cs"/>
          </a:endParaRPr>
        </a:p>
      </dgm:t>
    </dgm:pt>
    <dgm:pt modelId="{1F2241CE-6B08-42AF-A125-0C75EF83F5CD}" type="parTrans" cxnId="{7F249374-8216-4248-A896-559AC0D3B6C5}">
      <dgm:prSet/>
      <dgm:spPr/>
      <dgm:t>
        <a:bodyPr/>
        <a:lstStyle/>
        <a:p>
          <a:endParaRPr lang="zh-CN" altLang="en-US">
            <a:solidFill>
              <a:schemeClr val="tx1"/>
            </a:solidFill>
          </a:endParaRPr>
        </a:p>
      </dgm:t>
    </dgm:pt>
    <dgm:pt modelId="{A0DBCEF5-A267-4BD0-ADBC-58C4548AFB61}" type="sibTrans" cxnId="{7F249374-8216-4248-A896-559AC0D3B6C5}">
      <dgm:prSet/>
      <dgm:spPr/>
      <dgm:t>
        <a:bodyPr/>
        <a:lstStyle/>
        <a:p>
          <a:endParaRPr lang="zh-CN" altLang="en-US">
            <a:solidFill>
              <a:schemeClr val="tx1"/>
            </a:solidFill>
          </a:endParaRPr>
        </a:p>
      </dgm:t>
    </dgm:pt>
    <dgm:pt modelId="{B8BC41BE-E4AA-4B6B-A407-CBE1C4270251}">
      <dgm:prSet/>
      <dgm:spPr>
        <a:xfrm>
          <a:off x="0" y="576917"/>
          <a:ext cx="4082611" cy="288247"/>
        </a:xfrm>
        <a:prstGeom prst="rect">
          <a:avLst/>
        </a:prstGeom>
      </dgm:spPr>
      <dgm:t>
        <a:bodyPr/>
        <a:lstStyle/>
        <a:p>
          <a:pPr>
            <a:buNone/>
          </a:pPr>
          <a:r>
            <a:rPr lang="zh-CN" altLang="en-US">
              <a:latin typeface="Arial"/>
              <a:ea typeface="微软雅黑"/>
              <a:cs typeface="+mn-cs"/>
            </a:rPr>
            <a:t>意味着</a:t>
          </a:r>
          <a:r>
            <a:rPr lang="en-US" altLang="zh-CN">
              <a:latin typeface="Arial"/>
              <a:ea typeface="微软雅黑"/>
              <a:cs typeface="+mn-cs"/>
            </a:rPr>
            <a:t>Line1</a:t>
          </a:r>
          <a:r>
            <a:rPr lang="zh-CN" altLang="en-US">
              <a:latin typeface="Arial"/>
              <a:ea typeface="微软雅黑"/>
              <a:cs typeface="+mn-cs"/>
            </a:rPr>
            <a:t>为</a:t>
          </a:r>
          <a:r>
            <a:rPr lang="en-US" altLang="zh-CN">
              <a:latin typeface="Arial"/>
              <a:ea typeface="微软雅黑"/>
              <a:cs typeface="+mn-cs"/>
            </a:rPr>
            <a:t>FG21…..m</a:t>
          </a:r>
          <a:r>
            <a:rPr lang="zh-CN" altLang="en-US">
              <a:latin typeface="Arial"/>
              <a:ea typeface="微软雅黑"/>
              <a:cs typeface="+mn-cs"/>
            </a:rPr>
            <a:t>的主产线</a:t>
          </a:r>
          <a:endParaRPr lang="zh-CN" altLang="en-US" dirty="0">
            <a:latin typeface="Arial"/>
            <a:ea typeface="微软雅黑"/>
            <a:cs typeface="+mn-cs"/>
          </a:endParaRPr>
        </a:p>
      </dgm:t>
    </dgm:pt>
    <dgm:pt modelId="{BC8473F8-0773-4446-A185-2FE1367DA45B}" type="parTrans" cxnId="{BAC0C39F-96A8-4021-970F-E4053263A03C}">
      <dgm:prSet/>
      <dgm:spPr/>
      <dgm:t>
        <a:bodyPr/>
        <a:lstStyle/>
        <a:p>
          <a:endParaRPr lang="zh-CN" altLang="en-US">
            <a:solidFill>
              <a:schemeClr val="tx1"/>
            </a:solidFill>
          </a:endParaRPr>
        </a:p>
      </dgm:t>
    </dgm:pt>
    <dgm:pt modelId="{2D713531-D438-429B-91F9-6821A39F17F2}" type="sibTrans" cxnId="{BAC0C39F-96A8-4021-970F-E4053263A03C}">
      <dgm:prSet/>
      <dgm:spPr/>
      <dgm:t>
        <a:bodyPr/>
        <a:lstStyle/>
        <a:p>
          <a:endParaRPr lang="zh-CN" altLang="en-US">
            <a:solidFill>
              <a:schemeClr val="tx1"/>
            </a:solidFill>
          </a:endParaRPr>
        </a:p>
      </dgm:t>
    </dgm:pt>
    <dgm:pt modelId="{A98D92AE-A481-4F04-BB15-A2FB1AB87E03}">
      <dgm:prSet/>
      <dgm:spPr>
        <a:xfrm>
          <a:off x="0" y="576917"/>
          <a:ext cx="4082611" cy="288247"/>
        </a:xfrm>
      </dgm:spPr>
      <dgm:t>
        <a:bodyPr/>
        <a:lstStyle/>
        <a:p>
          <a:pPr>
            <a:buNone/>
          </a:pPr>
          <a:r>
            <a:rPr lang="en-US" altLang="zh-CN">
              <a:latin typeface="Arial"/>
              <a:ea typeface="微软雅黑"/>
              <a:cs typeface="+mn-cs"/>
            </a:rPr>
            <a:t>Pn</a:t>
          </a:r>
          <a:r>
            <a:rPr lang="zh-CN" altLang="en-US">
              <a:latin typeface="Arial"/>
              <a:ea typeface="微软雅黑"/>
              <a:cs typeface="+mn-cs"/>
            </a:rPr>
            <a:t>代表优先顺序，数字越小，优先级越高</a:t>
          </a:r>
          <a:endParaRPr lang="zh-CN" altLang="en-US" dirty="0">
            <a:latin typeface="Arial"/>
            <a:ea typeface="微软雅黑"/>
            <a:cs typeface="+mn-cs"/>
          </a:endParaRPr>
        </a:p>
      </dgm:t>
    </dgm:pt>
    <dgm:pt modelId="{0C887A9A-3801-4857-AFB4-6CBC709019A5}" type="parTrans" cxnId="{9747AFB0-3C68-40BE-8656-1A9C73E01B11}">
      <dgm:prSet/>
      <dgm:spPr/>
      <dgm:t>
        <a:bodyPr/>
        <a:lstStyle/>
        <a:p>
          <a:endParaRPr lang="zh-CN" altLang="en-US"/>
        </a:p>
      </dgm:t>
    </dgm:pt>
    <dgm:pt modelId="{C6CF18B7-F9B0-42C6-AB89-1CF1FDC5185D}" type="sibTrans" cxnId="{9747AFB0-3C68-40BE-8656-1A9C73E01B11}">
      <dgm:prSet/>
      <dgm:spPr/>
      <dgm:t>
        <a:bodyPr/>
        <a:lstStyle/>
        <a:p>
          <a:endParaRPr lang="zh-CN" altLang="en-US"/>
        </a:p>
      </dgm:t>
    </dgm:pt>
    <dgm:pt modelId="{78782E71-7D90-4B3D-9297-C9DB88D340BE}" type="pres">
      <dgm:prSet presAssocID="{4134259E-89DB-494A-85BE-63AC9F38BE5D}" presName="vert0" presStyleCnt="0">
        <dgm:presLayoutVars>
          <dgm:dir/>
          <dgm:animOne val="branch"/>
          <dgm:animLvl val="lvl"/>
        </dgm:presLayoutVars>
      </dgm:prSet>
      <dgm:spPr/>
    </dgm:pt>
    <dgm:pt modelId="{A3D9363C-27C5-4F06-9926-95BB477A85A7}" type="pres">
      <dgm:prSet presAssocID="{38ED8CBA-21A2-4348-832E-247160617FD2}" presName="thickLine" presStyleLbl="alignNode1" presStyleIdx="0" presStyleCnt="4"/>
      <dgm:spPr>
        <a:xfrm>
          <a:off x="0" y="422"/>
          <a:ext cx="4082611" cy="0"/>
        </a:xfrm>
        <a:prstGeom prst="line">
          <a:avLst/>
        </a:prstGeom>
      </dgm:spPr>
    </dgm:pt>
    <dgm:pt modelId="{2559B995-AD3C-4BF2-9D21-012A362703E4}" type="pres">
      <dgm:prSet presAssocID="{38ED8CBA-21A2-4348-832E-247160617FD2}" presName="horz1" presStyleCnt="0"/>
      <dgm:spPr/>
    </dgm:pt>
    <dgm:pt modelId="{3B7C9910-F238-4A5B-8037-91E02C36563F}" type="pres">
      <dgm:prSet presAssocID="{38ED8CBA-21A2-4348-832E-247160617FD2}" presName="tx1" presStyleLbl="revTx" presStyleIdx="0" presStyleCnt="4"/>
      <dgm:spPr/>
    </dgm:pt>
    <dgm:pt modelId="{FC77A93E-DC4B-4287-8400-E17E1D8A0B9F}" type="pres">
      <dgm:prSet presAssocID="{38ED8CBA-21A2-4348-832E-247160617FD2}" presName="vert1" presStyleCnt="0"/>
      <dgm:spPr/>
    </dgm:pt>
    <dgm:pt modelId="{57125BE3-8BFD-4150-8807-F439B2B52AA0}" type="pres">
      <dgm:prSet presAssocID="{471356A9-A82A-4C3B-9EE0-ADA113BB05A0}" presName="thickLine" presStyleLbl="alignNode1" presStyleIdx="1" presStyleCnt="4"/>
      <dgm:spPr>
        <a:xfrm>
          <a:off x="0" y="288669"/>
          <a:ext cx="4082611" cy="0"/>
        </a:xfrm>
        <a:prstGeom prst="line">
          <a:avLst/>
        </a:prstGeom>
      </dgm:spPr>
    </dgm:pt>
    <dgm:pt modelId="{A1B8848A-5F05-404A-A5CA-D6A7A61BA988}" type="pres">
      <dgm:prSet presAssocID="{471356A9-A82A-4C3B-9EE0-ADA113BB05A0}" presName="horz1" presStyleCnt="0"/>
      <dgm:spPr/>
    </dgm:pt>
    <dgm:pt modelId="{0FD9CB95-E1CF-4A68-887B-4BB10D1B42AA}" type="pres">
      <dgm:prSet presAssocID="{471356A9-A82A-4C3B-9EE0-ADA113BB05A0}" presName="tx1" presStyleLbl="revTx" presStyleIdx="1" presStyleCnt="4"/>
      <dgm:spPr/>
    </dgm:pt>
    <dgm:pt modelId="{B6CA7586-B569-4346-83C5-ADCA17FD9394}" type="pres">
      <dgm:prSet presAssocID="{471356A9-A82A-4C3B-9EE0-ADA113BB05A0}" presName="vert1" presStyleCnt="0"/>
      <dgm:spPr/>
    </dgm:pt>
    <dgm:pt modelId="{0D2A5AC6-AE33-41B5-9422-275B7FF4D67A}" type="pres">
      <dgm:prSet presAssocID="{B8BC41BE-E4AA-4B6B-A407-CBE1C4270251}" presName="thickLine" presStyleLbl="alignNode1" presStyleIdx="2" presStyleCnt="4"/>
      <dgm:spPr>
        <a:xfrm>
          <a:off x="0" y="576917"/>
          <a:ext cx="4082611" cy="0"/>
        </a:xfrm>
        <a:prstGeom prst="line">
          <a:avLst/>
        </a:prstGeom>
      </dgm:spPr>
    </dgm:pt>
    <dgm:pt modelId="{F621571C-2A9E-4C50-8313-835BF74AAC07}" type="pres">
      <dgm:prSet presAssocID="{B8BC41BE-E4AA-4B6B-A407-CBE1C4270251}" presName="horz1" presStyleCnt="0"/>
      <dgm:spPr/>
    </dgm:pt>
    <dgm:pt modelId="{3C4592BE-28FA-4A71-A9C0-EA0D68F45276}" type="pres">
      <dgm:prSet presAssocID="{B8BC41BE-E4AA-4B6B-A407-CBE1C4270251}" presName="tx1" presStyleLbl="revTx" presStyleIdx="2" presStyleCnt="4"/>
      <dgm:spPr/>
    </dgm:pt>
    <dgm:pt modelId="{B5137BE6-2ED5-4192-8F47-4498B5AC2D0E}" type="pres">
      <dgm:prSet presAssocID="{B8BC41BE-E4AA-4B6B-A407-CBE1C4270251}" presName="vert1" presStyleCnt="0"/>
      <dgm:spPr/>
    </dgm:pt>
    <dgm:pt modelId="{97B3A9C3-C62D-40D3-9006-03163B81249A}" type="pres">
      <dgm:prSet presAssocID="{A98D92AE-A481-4F04-BB15-A2FB1AB87E03}" presName="thickLine" presStyleLbl="alignNode1" presStyleIdx="3" presStyleCnt="4"/>
      <dgm:spPr/>
    </dgm:pt>
    <dgm:pt modelId="{BF00183A-2F11-48C8-BF40-6E99352C5205}" type="pres">
      <dgm:prSet presAssocID="{A98D92AE-A481-4F04-BB15-A2FB1AB87E03}" presName="horz1" presStyleCnt="0"/>
      <dgm:spPr/>
    </dgm:pt>
    <dgm:pt modelId="{59BEA5E4-7068-45C9-AE1D-49DCE127E788}" type="pres">
      <dgm:prSet presAssocID="{A98D92AE-A481-4F04-BB15-A2FB1AB87E03}" presName="tx1" presStyleLbl="revTx" presStyleIdx="3" presStyleCnt="4"/>
      <dgm:spPr>
        <a:prstGeom prst="rect">
          <a:avLst/>
        </a:prstGeom>
      </dgm:spPr>
    </dgm:pt>
    <dgm:pt modelId="{D793F158-CDF4-4CF0-8112-8FF234A3BC4E}" type="pres">
      <dgm:prSet presAssocID="{A98D92AE-A481-4F04-BB15-A2FB1AB87E03}" presName="vert1" presStyleCnt="0"/>
      <dgm:spPr/>
    </dgm:pt>
  </dgm:ptLst>
  <dgm:cxnLst>
    <dgm:cxn modelId="{CFE4D70C-E584-4072-B91B-379BE01CEFB7}" type="presOf" srcId="{4134259E-89DB-494A-85BE-63AC9F38BE5D}" destId="{78782E71-7D90-4B3D-9297-C9DB88D340BE}" srcOrd="0" destOrd="0" presId="urn:microsoft.com/office/officeart/2008/layout/LinedList"/>
    <dgm:cxn modelId="{BEAFFC15-4D83-4759-937C-9678253F2241}" type="presOf" srcId="{471356A9-A82A-4C3B-9EE0-ADA113BB05A0}" destId="{0FD9CB95-E1CF-4A68-887B-4BB10D1B42AA}" srcOrd="0" destOrd="0" presId="urn:microsoft.com/office/officeart/2008/layout/LinedList"/>
    <dgm:cxn modelId="{3DB0F017-AFFB-4F6E-9C5B-9193C134A3DD}" srcId="{4134259E-89DB-494A-85BE-63AC9F38BE5D}" destId="{38ED8CBA-21A2-4348-832E-247160617FD2}" srcOrd="0" destOrd="0" parTransId="{62EC1465-3A73-4E76-BDE5-B65078885D58}" sibTransId="{42C622E4-7007-44B3-9EF7-7835CCD7BAE1}"/>
    <dgm:cxn modelId="{8E30E45E-686A-4E6A-B66E-767B62039838}" type="presOf" srcId="{B8BC41BE-E4AA-4B6B-A407-CBE1C4270251}" destId="{3C4592BE-28FA-4A71-A9C0-EA0D68F45276}" srcOrd="0" destOrd="0" presId="urn:microsoft.com/office/officeart/2008/layout/LinedList"/>
    <dgm:cxn modelId="{1C83EF6A-C675-4927-98B0-CC98674AB630}" type="presOf" srcId="{A98D92AE-A481-4F04-BB15-A2FB1AB87E03}" destId="{59BEA5E4-7068-45C9-AE1D-49DCE127E788}" srcOrd="0" destOrd="0" presId="urn:microsoft.com/office/officeart/2008/layout/LinedList"/>
    <dgm:cxn modelId="{7F249374-8216-4248-A896-559AC0D3B6C5}" srcId="{4134259E-89DB-494A-85BE-63AC9F38BE5D}" destId="{471356A9-A82A-4C3B-9EE0-ADA113BB05A0}" srcOrd="1" destOrd="0" parTransId="{1F2241CE-6B08-42AF-A125-0C75EF83F5CD}" sibTransId="{A0DBCEF5-A267-4BD0-ADBC-58C4548AFB61}"/>
    <dgm:cxn modelId="{4C1D978A-E2F1-4338-9D8E-9E656CD54188}" type="presOf" srcId="{38ED8CBA-21A2-4348-832E-247160617FD2}" destId="{3B7C9910-F238-4A5B-8037-91E02C36563F}" srcOrd="0" destOrd="0" presId="urn:microsoft.com/office/officeart/2008/layout/LinedList"/>
    <dgm:cxn modelId="{BAC0C39F-96A8-4021-970F-E4053263A03C}" srcId="{4134259E-89DB-494A-85BE-63AC9F38BE5D}" destId="{B8BC41BE-E4AA-4B6B-A407-CBE1C4270251}" srcOrd="2" destOrd="0" parTransId="{BC8473F8-0773-4446-A185-2FE1367DA45B}" sibTransId="{2D713531-D438-429B-91F9-6821A39F17F2}"/>
    <dgm:cxn modelId="{9747AFB0-3C68-40BE-8656-1A9C73E01B11}" srcId="{4134259E-89DB-494A-85BE-63AC9F38BE5D}" destId="{A98D92AE-A481-4F04-BB15-A2FB1AB87E03}" srcOrd="3" destOrd="0" parTransId="{0C887A9A-3801-4857-AFB4-6CBC709019A5}" sibTransId="{C6CF18B7-F9B0-42C6-AB89-1CF1FDC5185D}"/>
    <dgm:cxn modelId="{202D3F35-B713-4689-AE1D-5C1653DB77C2}" type="presParOf" srcId="{78782E71-7D90-4B3D-9297-C9DB88D340BE}" destId="{A3D9363C-27C5-4F06-9926-95BB477A85A7}" srcOrd="0" destOrd="0" presId="urn:microsoft.com/office/officeart/2008/layout/LinedList"/>
    <dgm:cxn modelId="{83CFB3FB-3067-4888-9EB7-E11E5C20838E}" type="presParOf" srcId="{78782E71-7D90-4B3D-9297-C9DB88D340BE}" destId="{2559B995-AD3C-4BF2-9D21-012A362703E4}" srcOrd="1" destOrd="0" presId="urn:microsoft.com/office/officeart/2008/layout/LinedList"/>
    <dgm:cxn modelId="{0FDE528F-E812-47CA-B8D9-780767FDF776}" type="presParOf" srcId="{2559B995-AD3C-4BF2-9D21-012A362703E4}" destId="{3B7C9910-F238-4A5B-8037-91E02C36563F}" srcOrd="0" destOrd="0" presId="urn:microsoft.com/office/officeart/2008/layout/LinedList"/>
    <dgm:cxn modelId="{BF91CB22-AAE0-486E-AB9F-BB30CFD85E87}" type="presParOf" srcId="{2559B995-AD3C-4BF2-9D21-012A362703E4}" destId="{FC77A93E-DC4B-4287-8400-E17E1D8A0B9F}" srcOrd="1" destOrd="0" presId="urn:microsoft.com/office/officeart/2008/layout/LinedList"/>
    <dgm:cxn modelId="{4EE5C293-84DF-4059-BF17-46BA7BF923CA}" type="presParOf" srcId="{78782E71-7D90-4B3D-9297-C9DB88D340BE}" destId="{57125BE3-8BFD-4150-8807-F439B2B52AA0}" srcOrd="2" destOrd="0" presId="urn:microsoft.com/office/officeart/2008/layout/LinedList"/>
    <dgm:cxn modelId="{FD498EE5-8E5C-4D69-B1CE-6D408C87640E}" type="presParOf" srcId="{78782E71-7D90-4B3D-9297-C9DB88D340BE}" destId="{A1B8848A-5F05-404A-A5CA-D6A7A61BA988}" srcOrd="3" destOrd="0" presId="urn:microsoft.com/office/officeart/2008/layout/LinedList"/>
    <dgm:cxn modelId="{FBF907D6-2AE6-46EA-BA4A-20A5E09F87C0}" type="presParOf" srcId="{A1B8848A-5F05-404A-A5CA-D6A7A61BA988}" destId="{0FD9CB95-E1CF-4A68-887B-4BB10D1B42AA}" srcOrd="0" destOrd="0" presId="urn:microsoft.com/office/officeart/2008/layout/LinedList"/>
    <dgm:cxn modelId="{811C8A20-D041-44F2-86D2-998CD6F0DA90}" type="presParOf" srcId="{A1B8848A-5F05-404A-A5CA-D6A7A61BA988}" destId="{B6CA7586-B569-4346-83C5-ADCA17FD9394}" srcOrd="1" destOrd="0" presId="urn:microsoft.com/office/officeart/2008/layout/LinedList"/>
    <dgm:cxn modelId="{64AD0155-F019-40A2-95F5-ED593BE195FE}" type="presParOf" srcId="{78782E71-7D90-4B3D-9297-C9DB88D340BE}" destId="{0D2A5AC6-AE33-41B5-9422-275B7FF4D67A}" srcOrd="4" destOrd="0" presId="urn:microsoft.com/office/officeart/2008/layout/LinedList"/>
    <dgm:cxn modelId="{88F307C1-EB47-42AA-83FF-E747F1F97B48}" type="presParOf" srcId="{78782E71-7D90-4B3D-9297-C9DB88D340BE}" destId="{F621571C-2A9E-4C50-8313-835BF74AAC07}" srcOrd="5" destOrd="0" presId="urn:microsoft.com/office/officeart/2008/layout/LinedList"/>
    <dgm:cxn modelId="{709EA9D2-D8E3-46A6-AA4D-CB8FFA2D16AB}" type="presParOf" srcId="{F621571C-2A9E-4C50-8313-835BF74AAC07}" destId="{3C4592BE-28FA-4A71-A9C0-EA0D68F45276}" srcOrd="0" destOrd="0" presId="urn:microsoft.com/office/officeart/2008/layout/LinedList"/>
    <dgm:cxn modelId="{8F9DBBA3-4AFB-4730-BD60-854227CADDE0}" type="presParOf" srcId="{F621571C-2A9E-4C50-8313-835BF74AAC07}" destId="{B5137BE6-2ED5-4192-8F47-4498B5AC2D0E}" srcOrd="1" destOrd="0" presId="urn:microsoft.com/office/officeart/2008/layout/LinedList"/>
    <dgm:cxn modelId="{B2BB21B9-1C54-4515-A043-E7CC18A1B432}" type="presParOf" srcId="{78782E71-7D90-4B3D-9297-C9DB88D340BE}" destId="{97B3A9C3-C62D-40D3-9006-03163B81249A}" srcOrd="6" destOrd="0" presId="urn:microsoft.com/office/officeart/2008/layout/LinedList"/>
    <dgm:cxn modelId="{5E56096D-1A96-4951-B7A3-B34527F94A5C}" type="presParOf" srcId="{78782E71-7D90-4B3D-9297-C9DB88D340BE}" destId="{BF00183A-2F11-48C8-BF40-6E99352C5205}" srcOrd="7" destOrd="0" presId="urn:microsoft.com/office/officeart/2008/layout/LinedList"/>
    <dgm:cxn modelId="{3A70D9F5-DFAB-4736-8C17-0CB5184AD8ED}" type="presParOf" srcId="{BF00183A-2F11-48C8-BF40-6E99352C5205}" destId="{59BEA5E4-7068-45C9-AE1D-49DCE127E788}" srcOrd="0" destOrd="0" presId="urn:microsoft.com/office/officeart/2008/layout/LinedList"/>
    <dgm:cxn modelId="{7158C08A-3F9D-4733-8C0D-4509D3D0C413}" type="presParOf" srcId="{BF00183A-2F11-48C8-BF40-6E99352C5205}" destId="{D793F158-CDF4-4CF0-8112-8FF234A3BC4E}" srcOrd="1" destOrd="0" presId="urn:microsoft.com/office/officeart/2008/layout/LinedList"/>
  </dgm:cxnLst>
  <dgm:bg>
    <a:noFill/>
  </dgm:bg>
  <dgm:whole>
    <a:ln w="9525" cap="flat" cmpd="sng" algn="ctr">
      <a:noFill/>
      <a:prstDash val="solid"/>
      <a:round/>
      <a:headEnd type="none" w="med" len="med"/>
      <a:tailEnd type="none" w="med" len="med"/>
    </a:ln>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6B16D91D-5A9D-47E4-9449-F24C3DCCAC36}" type="doc">
      <dgm:prSet loTypeId="urn:microsoft.com/office/officeart/2005/8/layout/hierarchy6" loCatId="hierarchy" qsTypeId="urn:microsoft.com/office/officeart/2005/8/quickstyle/simple1" qsCatId="simple" csTypeId="urn:microsoft.com/office/officeart/2005/8/colors/accent1_2" csCatId="accent1" phldr="1"/>
      <dgm:spPr/>
      <dgm:t>
        <a:bodyPr/>
        <a:lstStyle/>
        <a:p>
          <a:endParaRPr lang="zh-CN" altLang="en-US"/>
        </a:p>
      </dgm:t>
    </dgm:pt>
    <dgm:pt modelId="{4D49098C-7B46-4301-BB16-EBBB73599719}">
      <dgm:prSet phldrT="[文本]" custT="1"/>
      <dgm:spPr>
        <a:solidFill>
          <a:srgbClr val="92D050"/>
        </a:solidFill>
      </dgm:spPr>
      <dgm:t>
        <a:bodyPr/>
        <a:lstStyle/>
        <a:p>
          <a:r>
            <a:rPr lang="en-US" altLang="zh-CN" sz="1400" b="1" dirty="0"/>
            <a:t>B</a:t>
          </a:r>
        </a:p>
        <a:p>
          <a:r>
            <a:rPr lang="en-US" altLang="zh-CN" sz="1400" dirty="0"/>
            <a:t>1700</a:t>
          </a:r>
        </a:p>
        <a:p>
          <a:endParaRPr lang="zh-CN" altLang="en-US" sz="1400" dirty="0"/>
        </a:p>
      </dgm:t>
    </dgm:pt>
    <dgm:pt modelId="{7035CB60-DCAC-4111-BA86-E1F54251BA10}" type="parTrans" cxnId="{DF63EFF4-4E3B-4ED8-AEC5-1516DDF30020}">
      <dgm:prSet/>
      <dgm:spPr/>
      <dgm:t>
        <a:bodyPr/>
        <a:lstStyle/>
        <a:p>
          <a:endParaRPr lang="zh-CN" altLang="en-US" sz="1400"/>
        </a:p>
      </dgm:t>
    </dgm:pt>
    <dgm:pt modelId="{6A727051-8213-4E12-9D0F-CDBBC551DD0E}" type="sibTrans" cxnId="{DF63EFF4-4E3B-4ED8-AEC5-1516DDF30020}">
      <dgm:prSet/>
      <dgm:spPr/>
      <dgm:t>
        <a:bodyPr/>
        <a:lstStyle/>
        <a:p>
          <a:endParaRPr lang="zh-CN" altLang="en-US" sz="1400"/>
        </a:p>
      </dgm:t>
    </dgm:pt>
    <dgm:pt modelId="{573D957E-C723-4C6E-B386-41163B3D9312}">
      <dgm:prSet phldrT="[文本]" custT="1"/>
      <dgm:spPr>
        <a:solidFill>
          <a:srgbClr val="4D88C3"/>
        </a:solidFill>
      </dgm:spPr>
      <dgm:t>
        <a:bodyPr/>
        <a:lstStyle/>
        <a:p>
          <a:endParaRPr lang="en-US" altLang="zh-CN" sz="900" dirty="0"/>
        </a:p>
      </dgm:t>
    </dgm:pt>
    <dgm:pt modelId="{13749AE1-1668-422E-BC4E-20B71367AC33}" type="parTrans" cxnId="{22DD0244-9C53-4FF7-9062-80DDCB974E5A}">
      <dgm:prSet/>
      <dgm:spPr/>
      <dgm:t>
        <a:bodyPr/>
        <a:lstStyle/>
        <a:p>
          <a:endParaRPr lang="zh-CN" altLang="en-US" sz="1400"/>
        </a:p>
      </dgm:t>
    </dgm:pt>
    <dgm:pt modelId="{34CEC364-2822-41C5-B09C-94E8E743A4B9}" type="sibTrans" cxnId="{22DD0244-9C53-4FF7-9062-80DDCB974E5A}">
      <dgm:prSet/>
      <dgm:spPr/>
      <dgm:t>
        <a:bodyPr/>
        <a:lstStyle/>
        <a:p>
          <a:endParaRPr lang="zh-CN" altLang="en-US" sz="1400"/>
        </a:p>
      </dgm:t>
    </dgm:pt>
    <dgm:pt modelId="{A758EEB3-AED6-4A06-AC6F-8B6BCFD898D8}">
      <dgm:prSet phldrT="[文本]" custT="1"/>
      <dgm:spPr>
        <a:solidFill>
          <a:srgbClr val="4D88C3"/>
        </a:solidFill>
      </dgm:spPr>
      <dgm:t>
        <a:bodyPr/>
        <a:lstStyle/>
        <a:p>
          <a:endParaRPr lang="en-US" altLang="zh-CN" sz="1200" dirty="0"/>
        </a:p>
      </dgm:t>
    </dgm:pt>
    <dgm:pt modelId="{85E643FE-3FF6-4463-A7E0-D8C61C493F3D}" type="parTrans" cxnId="{E3A8905B-370E-4FF9-89FB-C989E1F6022C}">
      <dgm:prSet/>
      <dgm:spPr/>
      <dgm:t>
        <a:bodyPr/>
        <a:lstStyle/>
        <a:p>
          <a:endParaRPr lang="zh-CN" altLang="en-US" sz="1400"/>
        </a:p>
      </dgm:t>
    </dgm:pt>
    <dgm:pt modelId="{9F2E7E66-7ED3-41BB-A54B-4F4CDE2D19C6}" type="sibTrans" cxnId="{E3A8905B-370E-4FF9-89FB-C989E1F6022C}">
      <dgm:prSet/>
      <dgm:spPr/>
      <dgm:t>
        <a:bodyPr/>
        <a:lstStyle/>
        <a:p>
          <a:endParaRPr lang="zh-CN" altLang="en-US" sz="1400"/>
        </a:p>
      </dgm:t>
    </dgm:pt>
    <dgm:pt modelId="{9C4F4D01-18DB-4A87-AD5C-DB3A79FEE13B}">
      <dgm:prSet phldrT="[文本]" custT="1"/>
      <dgm:spPr>
        <a:solidFill>
          <a:srgbClr val="4D88C3"/>
        </a:solidFill>
      </dgm:spPr>
      <dgm:t>
        <a:bodyPr/>
        <a:lstStyle/>
        <a:p>
          <a:endParaRPr lang="zh-CN" altLang="en-US" sz="1200" dirty="0"/>
        </a:p>
      </dgm:t>
    </dgm:pt>
    <dgm:pt modelId="{06ABAA81-00E4-4969-9DE1-BA696BE77F37}" type="parTrans" cxnId="{A71AFFCC-21EB-423F-A20D-672810BBFFB3}">
      <dgm:prSet/>
      <dgm:spPr/>
      <dgm:t>
        <a:bodyPr/>
        <a:lstStyle/>
        <a:p>
          <a:endParaRPr lang="zh-CN" altLang="en-US" sz="1400"/>
        </a:p>
      </dgm:t>
    </dgm:pt>
    <dgm:pt modelId="{09EB02A9-4E24-471E-ABEE-D9D3E5F9E52A}" type="sibTrans" cxnId="{A71AFFCC-21EB-423F-A20D-672810BBFFB3}">
      <dgm:prSet/>
      <dgm:spPr/>
      <dgm:t>
        <a:bodyPr/>
        <a:lstStyle/>
        <a:p>
          <a:endParaRPr lang="zh-CN" altLang="en-US" sz="1400"/>
        </a:p>
      </dgm:t>
    </dgm:pt>
    <dgm:pt modelId="{478E851B-478E-4FBB-A237-B5C0D1096157}">
      <dgm:prSet phldrT="[文本]" custT="1"/>
      <dgm:spPr>
        <a:solidFill>
          <a:srgbClr val="92D050">
            <a:alpha val="40000"/>
          </a:srgbClr>
        </a:solidFill>
        <a:ln>
          <a:solidFill>
            <a:schemeClr val="tx1"/>
          </a:solidFill>
        </a:ln>
      </dgm:spPr>
      <dgm:t>
        <a:bodyPr/>
        <a:lstStyle/>
        <a:p>
          <a:r>
            <a:rPr lang="en-US" altLang="zh-CN" sz="1400" dirty="0">
              <a:solidFill>
                <a:schemeClr val="tx1"/>
              </a:solidFill>
            </a:rPr>
            <a:t>Supply</a:t>
          </a:r>
          <a:r>
            <a:rPr lang="en-US" altLang="zh-CN" sz="1400" dirty="0"/>
            <a:t> </a:t>
          </a:r>
          <a:endParaRPr lang="zh-CN" altLang="en-US" sz="1400" dirty="0"/>
        </a:p>
      </dgm:t>
    </dgm:pt>
    <dgm:pt modelId="{D374E2D6-091C-4515-961D-BB528F6681B5}" type="parTrans" cxnId="{FFEC3ECF-D400-415B-9289-503AFD85EEB5}">
      <dgm:prSet/>
      <dgm:spPr/>
      <dgm:t>
        <a:bodyPr/>
        <a:lstStyle/>
        <a:p>
          <a:endParaRPr lang="zh-CN" altLang="en-US" sz="1400"/>
        </a:p>
      </dgm:t>
    </dgm:pt>
    <dgm:pt modelId="{B28F1CF7-DEBC-4F78-8D42-A90229089F79}" type="sibTrans" cxnId="{FFEC3ECF-D400-415B-9289-503AFD85EEB5}">
      <dgm:prSet/>
      <dgm:spPr/>
      <dgm:t>
        <a:bodyPr/>
        <a:lstStyle/>
        <a:p>
          <a:endParaRPr lang="zh-CN" altLang="en-US" sz="1400"/>
        </a:p>
      </dgm:t>
    </dgm:pt>
    <dgm:pt modelId="{AF6DA357-B7FF-440F-8D3B-047E402F8AAC}">
      <dgm:prSet phldrT="[文本]" custT="1"/>
      <dgm:spPr>
        <a:solidFill>
          <a:srgbClr val="66CCFF">
            <a:alpha val="47000"/>
          </a:srgbClr>
        </a:solidFill>
        <a:ln>
          <a:solidFill>
            <a:schemeClr val="tx1"/>
          </a:solidFill>
        </a:ln>
      </dgm:spPr>
      <dgm:t>
        <a:bodyPr/>
        <a:lstStyle/>
        <a:p>
          <a:r>
            <a:rPr lang="en-US" altLang="zh-CN" sz="1400" dirty="0">
              <a:solidFill>
                <a:schemeClr val="tx1"/>
              </a:solidFill>
            </a:rPr>
            <a:t>GEO</a:t>
          </a:r>
          <a:endParaRPr lang="zh-CN" altLang="en-US" sz="1400" dirty="0">
            <a:solidFill>
              <a:schemeClr val="tx1"/>
            </a:solidFill>
          </a:endParaRPr>
        </a:p>
      </dgm:t>
    </dgm:pt>
    <dgm:pt modelId="{5059AB50-4624-4092-BEFA-21DA1C5EE4BA}" type="parTrans" cxnId="{17F3704F-7D65-42A2-A1DF-23DB207BBC13}">
      <dgm:prSet/>
      <dgm:spPr/>
      <dgm:t>
        <a:bodyPr/>
        <a:lstStyle/>
        <a:p>
          <a:endParaRPr lang="zh-CN" altLang="en-US" sz="1400"/>
        </a:p>
      </dgm:t>
    </dgm:pt>
    <dgm:pt modelId="{7339A591-363F-4499-BB2F-C69B33E8CDDF}" type="sibTrans" cxnId="{17F3704F-7D65-42A2-A1DF-23DB207BBC13}">
      <dgm:prSet/>
      <dgm:spPr/>
      <dgm:t>
        <a:bodyPr/>
        <a:lstStyle/>
        <a:p>
          <a:endParaRPr lang="zh-CN" altLang="en-US" sz="1400"/>
        </a:p>
      </dgm:t>
    </dgm:pt>
    <dgm:pt modelId="{84C75553-4E46-4E01-9254-B2C4E8C0E36A}">
      <dgm:prSet phldrT="[文本]" custT="1"/>
      <dgm:spPr>
        <a:solidFill>
          <a:srgbClr val="66CCFF">
            <a:alpha val="36000"/>
          </a:srgbClr>
        </a:solidFill>
        <a:ln>
          <a:solidFill>
            <a:srgbClr val="66CCFF"/>
          </a:solidFill>
        </a:ln>
      </dgm:spPr>
      <dgm:t>
        <a:bodyPr/>
        <a:lstStyle/>
        <a:p>
          <a:r>
            <a:rPr lang="en-US" altLang="zh-CN" sz="1400" dirty="0">
              <a:solidFill>
                <a:schemeClr val="tx1"/>
              </a:solidFill>
            </a:rPr>
            <a:t>Sub Geo</a:t>
          </a:r>
          <a:endParaRPr lang="zh-CN" altLang="en-US" sz="1400" dirty="0">
            <a:solidFill>
              <a:schemeClr val="tx1"/>
            </a:solidFill>
          </a:endParaRPr>
        </a:p>
      </dgm:t>
    </dgm:pt>
    <dgm:pt modelId="{88613FEA-315B-430D-A8FD-2E09A66E0E8E}" type="parTrans" cxnId="{5789A398-74B2-4B17-96A8-B69FF7D0B9DD}">
      <dgm:prSet/>
      <dgm:spPr/>
      <dgm:t>
        <a:bodyPr/>
        <a:lstStyle/>
        <a:p>
          <a:endParaRPr lang="zh-CN" altLang="en-US" sz="1400"/>
        </a:p>
      </dgm:t>
    </dgm:pt>
    <dgm:pt modelId="{E5551F7A-40B0-47CA-902C-33223FFFC7F8}" type="sibTrans" cxnId="{5789A398-74B2-4B17-96A8-B69FF7D0B9DD}">
      <dgm:prSet/>
      <dgm:spPr/>
      <dgm:t>
        <a:bodyPr/>
        <a:lstStyle/>
        <a:p>
          <a:endParaRPr lang="zh-CN" altLang="en-US" sz="1400"/>
        </a:p>
      </dgm:t>
    </dgm:pt>
    <dgm:pt modelId="{61ADB6B1-300E-476A-8937-1FC1206B9AE5}">
      <dgm:prSet phldrT="[文本]" custT="1"/>
      <dgm:spPr>
        <a:solidFill>
          <a:srgbClr val="4D88C3"/>
        </a:solidFill>
      </dgm:spPr>
      <dgm:t>
        <a:bodyPr/>
        <a:lstStyle/>
        <a:p>
          <a:endParaRPr lang="zh-CN" altLang="en-US" sz="1200" dirty="0"/>
        </a:p>
      </dgm:t>
    </dgm:pt>
    <dgm:pt modelId="{704BAA58-A68D-4B40-A80E-526CCCFA00CA}" type="parTrans" cxnId="{F5391508-690D-4E4D-86F0-0672A3ADAD20}">
      <dgm:prSet/>
      <dgm:spPr/>
      <dgm:t>
        <a:bodyPr/>
        <a:lstStyle/>
        <a:p>
          <a:endParaRPr lang="zh-CN" altLang="en-US" sz="1400"/>
        </a:p>
      </dgm:t>
    </dgm:pt>
    <dgm:pt modelId="{FDCDBEE0-1145-48AD-BC49-D72271829B96}" type="sibTrans" cxnId="{F5391508-690D-4E4D-86F0-0672A3ADAD20}">
      <dgm:prSet/>
      <dgm:spPr/>
      <dgm:t>
        <a:bodyPr/>
        <a:lstStyle/>
        <a:p>
          <a:endParaRPr lang="zh-CN" altLang="en-US" sz="1400"/>
        </a:p>
      </dgm:t>
    </dgm:pt>
    <dgm:pt modelId="{BDD5F1F2-580F-4FEE-86C0-7547E8E64DB6}">
      <dgm:prSet phldrT="[文本]" custT="1"/>
      <dgm:spPr>
        <a:solidFill>
          <a:srgbClr val="4D88C3"/>
        </a:solidFill>
      </dgm:spPr>
      <dgm:t>
        <a:bodyPr/>
        <a:lstStyle/>
        <a:p>
          <a:endParaRPr lang="zh-CN" altLang="en-US" sz="1200" dirty="0"/>
        </a:p>
      </dgm:t>
    </dgm:pt>
    <dgm:pt modelId="{13EE0A20-44BD-4095-AE19-E4CB91971F1B}" type="parTrans" cxnId="{003D8983-D075-4619-8CFF-C2A801C1C13C}">
      <dgm:prSet/>
      <dgm:spPr/>
      <dgm:t>
        <a:bodyPr/>
        <a:lstStyle/>
        <a:p>
          <a:endParaRPr lang="zh-CN" altLang="en-US" sz="1400"/>
        </a:p>
      </dgm:t>
    </dgm:pt>
    <dgm:pt modelId="{6257C491-2767-4DAA-9853-038621CAF249}" type="sibTrans" cxnId="{003D8983-D075-4619-8CFF-C2A801C1C13C}">
      <dgm:prSet/>
      <dgm:spPr/>
      <dgm:t>
        <a:bodyPr/>
        <a:lstStyle/>
        <a:p>
          <a:endParaRPr lang="zh-CN" altLang="en-US" sz="1400"/>
        </a:p>
      </dgm:t>
    </dgm:pt>
    <dgm:pt modelId="{67202CA5-C46D-4F31-B6CE-4C9BA18CB32C}">
      <dgm:prSet phldrT="[文本]" custT="1"/>
      <dgm:spPr>
        <a:solidFill>
          <a:srgbClr val="4D88C3"/>
        </a:solidFill>
      </dgm:spPr>
      <dgm:t>
        <a:bodyPr/>
        <a:lstStyle/>
        <a:p>
          <a:endParaRPr lang="zh-CN" altLang="en-US" sz="1200" dirty="0"/>
        </a:p>
      </dgm:t>
    </dgm:pt>
    <dgm:pt modelId="{F35961D9-9E5C-42ED-87E3-E1E42B97AE13}" type="parTrans" cxnId="{88E51110-FEC4-4108-AE67-977D495AFA20}">
      <dgm:prSet/>
      <dgm:spPr/>
      <dgm:t>
        <a:bodyPr/>
        <a:lstStyle/>
        <a:p>
          <a:endParaRPr lang="zh-CN" altLang="en-US" sz="1400"/>
        </a:p>
      </dgm:t>
    </dgm:pt>
    <dgm:pt modelId="{67BBD8A3-4B27-49EB-B403-CBF8016C3CBB}" type="sibTrans" cxnId="{88E51110-FEC4-4108-AE67-977D495AFA20}">
      <dgm:prSet/>
      <dgm:spPr/>
      <dgm:t>
        <a:bodyPr/>
        <a:lstStyle/>
        <a:p>
          <a:endParaRPr lang="zh-CN" altLang="en-US" sz="1400"/>
        </a:p>
      </dgm:t>
    </dgm:pt>
    <dgm:pt modelId="{8B35E2BA-4E78-4B04-BC05-3A17AF832001}">
      <dgm:prSet phldrT="[文本]" custT="1"/>
      <dgm:spPr>
        <a:solidFill>
          <a:srgbClr val="66CCFF">
            <a:alpha val="49000"/>
          </a:srgbClr>
        </a:solidFill>
        <a:ln>
          <a:solidFill>
            <a:srgbClr val="66CCFF"/>
          </a:solidFill>
        </a:ln>
      </dgm:spPr>
      <dgm:t>
        <a:bodyPr/>
        <a:lstStyle/>
        <a:p>
          <a:r>
            <a:rPr lang="en-US" altLang="zh-CN" sz="1400" dirty="0">
              <a:solidFill>
                <a:schemeClr val="tx1"/>
              </a:solidFill>
            </a:rPr>
            <a:t>Country</a:t>
          </a:r>
          <a:endParaRPr lang="zh-CN" altLang="en-US" sz="1400" dirty="0">
            <a:solidFill>
              <a:schemeClr val="tx1"/>
            </a:solidFill>
          </a:endParaRPr>
        </a:p>
      </dgm:t>
    </dgm:pt>
    <dgm:pt modelId="{D89D64FE-A1F2-4D17-AB18-1B571FACC225}" type="parTrans" cxnId="{010E088F-99C0-4CAF-8112-37D44F557231}">
      <dgm:prSet/>
      <dgm:spPr/>
      <dgm:t>
        <a:bodyPr/>
        <a:lstStyle/>
        <a:p>
          <a:endParaRPr lang="zh-CN" altLang="en-US"/>
        </a:p>
      </dgm:t>
    </dgm:pt>
    <dgm:pt modelId="{DE97FBE3-80D3-4511-8265-1847BB9A7BA0}" type="sibTrans" cxnId="{010E088F-99C0-4CAF-8112-37D44F557231}">
      <dgm:prSet/>
      <dgm:spPr/>
      <dgm:t>
        <a:bodyPr/>
        <a:lstStyle/>
        <a:p>
          <a:endParaRPr lang="zh-CN" altLang="en-US"/>
        </a:p>
      </dgm:t>
    </dgm:pt>
    <dgm:pt modelId="{92B9DE64-6AE9-4D63-9475-485B9ED897F3}" type="pres">
      <dgm:prSet presAssocID="{6B16D91D-5A9D-47E4-9449-F24C3DCCAC36}" presName="mainComposite" presStyleCnt="0">
        <dgm:presLayoutVars>
          <dgm:chPref val="1"/>
          <dgm:dir/>
          <dgm:animOne val="branch"/>
          <dgm:animLvl val="lvl"/>
          <dgm:resizeHandles val="exact"/>
        </dgm:presLayoutVars>
      </dgm:prSet>
      <dgm:spPr/>
    </dgm:pt>
    <dgm:pt modelId="{1B4F655A-1111-4022-AFE3-C5BDD0CDD5D6}" type="pres">
      <dgm:prSet presAssocID="{6B16D91D-5A9D-47E4-9449-F24C3DCCAC36}" presName="hierFlow" presStyleCnt="0"/>
      <dgm:spPr/>
    </dgm:pt>
    <dgm:pt modelId="{6A080825-C4E8-47F1-BA2D-2BEC81C52EBB}" type="pres">
      <dgm:prSet presAssocID="{6B16D91D-5A9D-47E4-9449-F24C3DCCAC36}" presName="firstBuf" presStyleCnt="0"/>
      <dgm:spPr/>
    </dgm:pt>
    <dgm:pt modelId="{72490C63-95DA-47DC-B4DD-708CE859FD1E}" type="pres">
      <dgm:prSet presAssocID="{6B16D91D-5A9D-47E4-9449-F24C3DCCAC36}" presName="hierChild1" presStyleCnt="0">
        <dgm:presLayoutVars>
          <dgm:chPref val="1"/>
          <dgm:animOne val="branch"/>
          <dgm:animLvl val="lvl"/>
        </dgm:presLayoutVars>
      </dgm:prSet>
      <dgm:spPr/>
    </dgm:pt>
    <dgm:pt modelId="{371B4341-C79E-4216-A4DA-BDA94F363F62}" type="pres">
      <dgm:prSet presAssocID="{4D49098C-7B46-4301-BB16-EBBB73599719}" presName="Name14" presStyleCnt="0"/>
      <dgm:spPr/>
    </dgm:pt>
    <dgm:pt modelId="{C6491B2D-18D5-4987-AC42-F1A925C67CEF}" type="pres">
      <dgm:prSet presAssocID="{4D49098C-7B46-4301-BB16-EBBB73599719}" presName="level1Shape" presStyleLbl="node0" presStyleIdx="0" presStyleCnt="1">
        <dgm:presLayoutVars>
          <dgm:chPref val="3"/>
        </dgm:presLayoutVars>
      </dgm:prSet>
      <dgm:spPr/>
    </dgm:pt>
    <dgm:pt modelId="{45D42365-2F58-41CF-A833-46D58A09D199}" type="pres">
      <dgm:prSet presAssocID="{4D49098C-7B46-4301-BB16-EBBB73599719}" presName="hierChild2" presStyleCnt="0"/>
      <dgm:spPr/>
    </dgm:pt>
    <dgm:pt modelId="{785074C2-7E9E-4DDC-BC73-57D9F69DD483}" type="pres">
      <dgm:prSet presAssocID="{13749AE1-1668-422E-BC4E-20B71367AC33}" presName="Name19" presStyleLbl="parChTrans1D2" presStyleIdx="0" presStyleCnt="2"/>
      <dgm:spPr/>
    </dgm:pt>
    <dgm:pt modelId="{7967923F-D279-4291-B59D-5BD10DA8556E}" type="pres">
      <dgm:prSet presAssocID="{573D957E-C723-4C6E-B386-41163B3D9312}" presName="Name21" presStyleCnt="0"/>
      <dgm:spPr/>
    </dgm:pt>
    <dgm:pt modelId="{F8EB33F5-047A-41C9-9799-4A393326DF47}" type="pres">
      <dgm:prSet presAssocID="{573D957E-C723-4C6E-B386-41163B3D9312}" presName="level2Shape" presStyleLbl="node2" presStyleIdx="0" presStyleCnt="2"/>
      <dgm:spPr/>
    </dgm:pt>
    <dgm:pt modelId="{D854AA46-3F1D-4D1A-A782-5A614454893D}" type="pres">
      <dgm:prSet presAssocID="{573D957E-C723-4C6E-B386-41163B3D9312}" presName="hierChild3" presStyleCnt="0"/>
      <dgm:spPr/>
    </dgm:pt>
    <dgm:pt modelId="{BD697B42-0F82-488C-969E-26DE5618A213}" type="pres">
      <dgm:prSet presAssocID="{85E643FE-3FF6-4463-A7E0-D8C61C493F3D}" presName="Name19" presStyleLbl="parChTrans1D2" presStyleIdx="1" presStyleCnt="2"/>
      <dgm:spPr/>
    </dgm:pt>
    <dgm:pt modelId="{C93E5BCA-07BF-4C8A-8BEA-6EB57E214FB2}" type="pres">
      <dgm:prSet presAssocID="{A758EEB3-AED6-4A06-AC6F-8B6BCFD898D8}" presName="Name21" presStyleCnt="0"/>
      <dgm:spPr/>
    </dgm:pt>
    <dgm:pt modelId="{25F1AD1B-5FF7-408C-AA4A-D07FBA0A505B}" type="pres">
      <dgm:prSet presAssocID="{A758EEB3-AED6-4A06-AC6F-8B6BCFD898D8}" presName="level2Shape" presStyleLbl="node2" presStyleIdx="1" presStyleCnt="2" custScaleX="120695"/>
      <dgm:spPr/>
    </dgm:pt>
    <dgm:pt modelId="{785A9FBD-284F-434F-9147-1F652B30C3F9}" type="pres">
      <dgm:prSet presAssocID="{A758EEB3-AED6-4A06-AC6F-8B6BCFD898D8}" presName="hierChild3" presStyleCnt="0"/>
      <dgm:spPr/>
    </dgm:pt>
    <dgm:pt modelId="{275EA44C-144E-4EE9-A87E-6256071EA0D0}" type="pres">
      <dgm:prSet presAssocID="{F35961D9-9E5C-42ED-87E3-E1E42B97AE13}" presName="Name19" presStyleLbl="parChTrans1D3" presStyleIdx="0" presStyleCnt="2"/>
      <dgm:spPr/>
    </dgm:pt>
    <dgm:pt modelId="{6E690D7F-00DE-4B79-B932-EC5A2DD6B8FD}" type="pres">
      <dgm:prSet presAssocID="{67202CA5-C46D-4F31-B6CE-4C9BA18CB32C}" presName="Name21" presStyleCnt="0"/>
      <dgm:spPr/>
    </dgm:pt>
    <dgm:pt modelId="{9BCCD814-F660-484A-B42B-A72A7B6108DB}" type="pres">
      <dgm:prSet presAssocID="{67202CA5-C46D-4F31-B6CE-4C9BA18CB32C}" presName="level2Shape" presStyleLbl="node3" presStyleIdx="0" presStyleCnt="2" custScaleX="133283"/>
      <dgm:spPr/>
    </dgm:pt>
    <dgm:pt modelId="{10469FDE-9FE1-460C-AC16-1E1C44B283D4}" type="pres">
      <dgm:prSet presAssocID="{67202CA5-C46D-4F31-B6CE-4C9BA18CB32C}" presName="hierChild3" presStyleCnt="0"/>
      <dgm:spPr/>
    </dgm:pt>
    <dgm:pt modelId="{E5D4E8C9-A646-4863-91C0-06A1F1E7ADB8}" type="pres">
      <dgm:prSet presAssocID="{06ABAA81-00E4-4969-9DE1-BA696BE77F37}" presName="Name19" presStyleLbl="parChTrans1D4" presStyleIdx="0" presStyleCnt="2"/>
      <dgm:spPr/>
    </dgm:pt>
    <dgm:pt modelId="{5E5F6179-A2DC-4ECA-89C0-666E05EAADA9}" type="pres">
      <dgm:prSet presAssocID="{9C4F4D01-18DB-4A87-AD5C-DB3A79FEE13B}" presName="Name21" presStyleCnt="0"/>
      <dgm:spPr/>
    </dgm:pt>
    <dgm:pt modelId="{912674DA-7E17-4192-A26D-0EDCA57C9CAD}" type="pres">
      <dgm:prSet presAssocID="{9C4F4D01-18DB-4A87-AD5C-DB3A79FEE13B}" presName="level2Shape" presStyleLbl="node4" presStyleIdx="0" presStyleCnt="2"/>
      <dgm:spPr/>
    </dgm:pt>
    <dgm:pt modelId="{F06A00C7-C558-47F1-A7AC-69D7FF6CAD21}" type="pres">
      <dgm:prSet presAssocID="{9C4F4D01-18DB-4A87-AD5C-DB3A79FEE13B}" presName="hierChild3" presStyleCnt="0"/>
      <dgm:spPr/>
    </dgm:pt>
    <dgm:pt modelId="{EF960BC0-805C-4333-B930-34B153C16B3E}" type="pres">
      <dgm:prSet presAssocID="{704BAA58-A68D-4B40-A80E-526CCCFA00CA}" presName="Name19" presStyleLbl="parChTrans1D4" presStyleIdx="1" presStyleCnt="2"/>
      <dgm:spPr/>
    </dgm:pt>
    <dgm:pt modelId="{75B2FCB0-E7FB-46E6-9BB7-529E63BA8428}" type="pres">
      <dgm:prSet presAssocID="{61ADB6B1-300E-476A-8937-1FC1206B9AE5}" presName="Name21" presStyleCnt="0"/>
      <dgm:spPr/>
    </dgm:pt>
    <dgm:pt modelId="{AADC5DB2-4563-4534-96E0-0BEAAEFAD264}" type="pres">
      <dgm:prSet presAssocID="{61ADB6B1-300E-476A-8937-1FC1206B9AE5}" presName="level2Shape" presStyleLbl="node4" presStyleIdx="1" presStyleCnt="2"/>
      <dgm:spPr/>
    </dgm:pt>
    <dgm:pt modelId="{0F49DBC3-3675-40F9-A118-2FC8F34BA3A6}" type="pres">
      <dgm:prSet presAssocID="{61ADB6B1-300E-476A-8937-1FC1206B9AE5}" presName="hierChild3" presStyleCnt="0"/>
      <dgm:spPr/>
    </dgm:pt>
    <dgm:pt modelId="{FC833476-0A14-40A1-864B-51496970A322}" type="pres">
      <dgm:prSet presAssocID="{13EE0A20-44BD-4095-AE19-E4CB91971F1B}" presName="Name19" presStyleLbl="parChTrans1D3" presStyleIdx="1" presStyleCnt="2"/>
      <dgm:spPr/>
    </dgm:pt>
    <dgm:pt modelId="{B9C28232-3F71-4CD8-A72F-833B7B6075C6}" type="pres">
      <dgm:prSet presAssocID="{BDD5F1F2-580F-4FEE-86C0-7547E8E64DB6}" presName="Name21" presStyleCnt="0"/>
      <dgm:spPr/>
    </dgm:pt>
    <dgm:pt modelId="{DDCC15E8-B0D0-4E14-A0EF-D2A4277916A8}" type="pres">
      <dgm:prSet presAssocID="{BDD5F1F2-580F-4FEE-86C0-7547E8E64DB6}" presName="level2Shape" presStyleLbl="node3" presStyleIdx="1" presStyleCnt="2"/>
      <dgm:spPr/>
    </dgm:pt>
    <dgm:pt modelId="{46D2559C-5545-4522-B48B-BBB32775891D}" type="pres">
      <dgm:prSet presAssocID="{BDD5F1F2-580F-4FEE-86C0-7547E8E64DB6}" presName="hierChild3" presStyleCnt="0"/>
      <dgm:spPr/>
    </dgm:pt>
    <dgm:pt modelId="{2D9A8F98-5D75-4A30-B6F1-3F4BE180650C}" type="pres">
      <dgm:prSet presAssocID="{6B16D91D-5A9D-47E4-9449-F24C3DCCAC36}" presName="bgShapesFlow" presStyleCnt="0"/>
      <dgm:spPr/>
    </dgm:pt>
    <dgm:pt modelId="{8707A9F6-72B6-42F6-B7F6-558F67C221F2}" type="pres">
      <dgm:prSet presAssocID="{478E851B-478E-4FBB-A237-B5C0D1096157}" presName="rectComp" presStyleCnt="0"/>
      <dgm:spPr/>
    </dgm:pt>
    <dgm:pt modelId="{3D18F286-2C89-4245-B18B-6606506E31C3}" type="pres">
      <dgm:prSet presAssocID="{478E851B-478E-4FBB-A237-B5C0D1096157}" presName="bgRect" presStyleLbl="bgShp" presStyleIdx="0" presStyleCnt="4" custLinFactNeighborX="947" custLinFactNeighborY="-1784"/>
      <dgm:spPr/>
    </dgm:pt>
    <dgm:pt modelId="{3FB97BA1-816C-4772-BA29-7EDEA8AFB29C}" type="pres">
      <dgm:prSet presAssocID="{478E851B-478E-4FBB-A237-B5C0D1096157}" presName="bgRectTx" presStyleLbl="bgShp" presStyleIdx="0" presStyleCnt="4">
        <dgm:presLayoutVars>
          <dgm:bulletEnabled val="1"/>
        </dgm:presLayoutVars>
      </dgm:prSet>
      <dgm:spPr/>
    </dgm:pt>
    <dgm:pt modelId="{07C7AFB6-6E70-416C-A10A-A94AD5EACA49}" type="pres">
      <dgm:prSet presAssocID="{478E851B-478E-4FBB-A237-B5C0D1096157}" presName="spComp" presStyleCnt="0"/>
      <dgm:spPr/>
    </dgm:pt>
    <dgm:pt modelId="{926E901D-4F47-4AF2-B716-AA2A613E7C0F}" type="pres">
      <dgm:prSet presAssocID="{478E851B-478E-4FBB-A237-B5C0D1096157}" presName="vSp" presStyleCnt="0"/>
      <dgm:spPr/>
    </dgm:pt>
    <dgm:pt modelId="{779F8C65-DB34-4476-BB29-70BA161349D6}" type="pres">
      <dgm:prSet presAssocID="{AF6DA357-B7FF-440F-8D3B-047E402F8AAC}" presName="rectComp" presStyleCnt="0"/>
      <dgm:spPr/>
    </dgm:pt>
    <dgm:pt modelId="{AF84D346-2E9E-4D67-8C0D-E4590100997F}" type="pres">
      <dgm:prSet presAssocID="{AF6DA357-B7FF-440F-8D3B-047E402F8AAC}" presName="bgRect" presStyleLbl="bgShp" presStyleIdx="1" presStyleCnt="4" custLinFactNeighborY="-79"/>
      <dgm:spPr/>
    </dgm:pt>
    <dgm:pt modelId="{15E9E603-8191-412F-AE5D-D652E0713065}" type="pres">
      <dgm:prSet presAssocID="{AF6DA357-B7FF-440F-8D3B-047E402F8AAC}" presName="bgRectTx" presStyleLbl="bgShp" presStyleIdx="1" presStyleCnt="4">
        <dgm:presLayoutVars>
          <dgm:bulletEnabled val="1"/>
        </dgm:presLayoutVars>
      </dgm:prSet>
      <dgm:spPr/>
    </dgm:pt>
    <dgm:pt modelId="{3EC8070C-8002-4CC2-A8B1-4E2DE3D01C60}" type="pres">
      <dgm:prSet presAssocID="{AF6DA357-B7FF-440F-8D3B-047E402F8AAC}" presName="spComp" presStyleCnt="0"/>
      <dgm:spPr/>
    </dgm:pt>
    <dgm:pt modelId="{01297D10-0468-4C95-A9A7-79071066D551}" type="pres">
      <dgm:prSet presAssocID="{AF6DA357-B7FF-440F-8D3B-047E402F8AAC}" presName="vSp" presStyleCnt="0"/>
      <dgm:spPr/>
    </dgm:pt>
    <dgm:pt modelId="{731E3761-7439-4457-A56E-9FCA900AC09B}" type="pres">
      <dgm:prSet presAssocID="{84C75553-4E46-4E01-9254-B2C4E8C0E36A}" presName="rectComp" presStyleCnt="0"/>
      <dgm:spPr/>
    </dgm:pt>
    <dgm:pt modelId="{8FF6418E-442C-4DAD-B00A-58663C4E9585}" type="pres">
      <dgm:prSet presAssocID="{84C75553-4E46-4E01-9254-B2C4E8C0E36A}" presName="bgRect" presStyleLbl="bgShp" presStyleIdx="2" presStyleCnt="4"/>
      <dgm:spPr/>
    </dgm:pt>
    <dgm:pt modelId="{24A6C7F6-E385-4E34-98FE-66B967070A30}" type="pres">
      <dgm:prSet presAssocID="{84C75553-4E46-4E01-9254-B2C4E8C0E36A}" presName="bgRectTx" presStyleLbl="bgShp" presStyleIdx="2" presStyleCnt="4">
        <dgm:presLayoutVars>
          <dgm:bulletEnabled val="1"/>
        </dgm:presLayoutVars>
      </dgm:prSet>
      <dgm:spPr/>
    </dgm:pt>
    <dgm:pt modelId="{8DFA826E-DB13-4884-9BC8-8F62E7A3B7D6}" type="pres">
      <dgm:prSet presAssocID="{84C75553-4E46-4E01-9254-B2C4E8C0E36A}" presName="spComp" presStyleCnt="0"/>
      <dgm:spPr/>
    </dgm:pt>
    <dgm:pt modelId="{32F9C630-F062-4C11-B722-35D5F9DE3424}" type="pres">
      <dgm:prSet presAssocID="{84C75553-4E46-4E01-9254-B2C4E8C0E36A}" presName="vSp" presStyleCnt="0"/>
      <dgm:spPr/>
    </dgm:pt>
    <dgm:pt modelId="{DFE6AA46-2F74-488E-9BC2-874E4048B6F9}" type="pres">
      <dgm:prSet presAssocID="{8B35E2BA-4E78-4B04-BC05-3A17AF832001}" presName="rectComp" presStyleCnt="0"/>
      <dgm:spPr/>
    </dgm:pt>
    <dgm:pt modelId="{1AFA9D16-A37F-412B-8848-2BA8C8620B8D}" type="pres">
      <dgm:prSet presAssocID="{8B35E2BA-4E78-4B04-BC05-3A17AF832001}" presName="bgRect" presStyleLbl="bgShp" presStyleIdx="3" presStyleCnt="4"/>
      <dgm:spPr/>
    </dgm:pt>
    <dgm:pt modelId="{04D94323-189D-4EED-9E04-906ABB47A5FB}" type="pres">
      <dgm:prSet presAssocID="{8B35E2BA-4E78-4B04-BC05-3A17AF832001}" presName="bgRectTx" presStyleLbl="bgShp" presStyleIdx="3" presStyleCnt="4">
        <dgm:presLayoutVars>
          <dgm:bulletEnabled val="1"/>
        </dgm:presLayoutVars>
      </dgm:prSet>
      <dgm:spPr/>
    </dgm:pt>
  </dgm:ptLst>
  <dgm:cxnLst>
    <dgm:cxn modelId="{48CB4F04-A653-457A-B5D0-07E0F18C73D7}" type="presOf" srcId="{BDD5F1F2-580F-4FEE-86C0-7547E8E64DB6}" destId="{DDCC15E8-B0D0-4E14-A0EF-D2A4277916A8}" srcOrd="0" destOrd="0" presId="urn:microsoft.com/office/officeart/2005/8/layout/hierarchy6"/>
    <dgm:cxn modelId="{F5391508-690D-4E4D-86F0-0672A3ADAD20}" srcId="{67202CA5-C46D-4F31-B6CE-4C9BA18CB32C}" destId="{61ADB6B1-300E-476A-8937-1FC1206B9AE5}" srcOrd="1" destOrd="0" parTransId="{704BAA58-A68D-4B40-A80E-526CCCFA00CA}" sibTransId="{FDCDBEE0-1145-48AD-BC49-D72271829B96}"/>
    <dgm:cxn modelId="{88E51110-FEC4-4108-AE67-977D495AFA20}" srcId="{A758EEB3-AED6-4A06-AC6F-8B6BCFD898D8}" destId="{67202CA5-C46D-4F31-B6CE-4C9BA18CB32C}" srcOrd="0" destOrd="0" parTransId="{F35961D9-9E5C-42ED-87E3-E1E42B97AE13}" sibTransId="{67BBD8A3-4B27-49EB-B403-CBF8016C3CBB}"/>
    <dgm:cxn modelId="{F01EF72E-0D7D-485B-8012-8D57B656A427}" type="presOf" srcId="{AF6DA357-B7FF-440F-8D3B-047E402F8AAC}" destId="{AF84D346-2E9E-4D67-8C0D-E4590100997F}" srcOrd="0" destOrd="0" presId="urn:microsoft.com/office/officeart/2005/8/layout/hierarchy6"/>
    <dgm:cxn modelId="{0B102E34-411E-4A97-AFE5-211C8F1D1ADF}" type="presOf" srcId="{67202CA5-C46D-4F31-B6CE-4C9BA18CB32C}" destId="{9BCCD814-F660-484A-B42B-A72A7B6108DB}" srcOrd="0" destOrd="0" presId="urn:microsoft.com/office/officeart/2005/8/layout/hierarchy6"/>
    <dgm:cxn modelId="{15C4E139-52BE-44F9-8A9A-700ED9B9046F}" type="presOf" srcId="{9C4F4D01-18DB-4A87-AD5C-DB3A79FEE13B}" destId="{912674DA-7E17-4192-A26D-0EDCA57C9CAD}" srcOrd="0" destOrd="0" presId="urn:microsoft.com/office/officeart/2005/8/layout/hierarchy6"/>
    <dgm:cxn modelId="{3284483E-1B5F-4EAB-9CC6-97954999C226}" type="presOf" srcId="{61ADB6B1-300E-476A-8937-1FC1206B9AE5}" destId="{AADC5DB2-4563-4534-96E0-0BEAAEFAD264}" srcOrd="0" destOrd="0" presId="urn:microsoft.com/office/officeart/2005/8/layout/hierarchy6"/>
    <dgm:cxn modelId="{E3A8905B-370E-4FF9-89FB-C989E1F6022C}" srcId="{4D49098C-7B46-4301-BB16-EBBB73599719}" destId="{A758EEB3-AED6-4A06-AC6F-8B6BCFD898D8}" srcOrd="1" destOrd="0" parTransId="{85E643FE-3FF6-4463-A7E0-D8C61C493F3D}" sibTransId="{9F2E7E66-7ED3-41BB-A54B-4F4CDE2D19C6}"/>
    <dgm:cxn modelId="{9EDCB75B-CC34-475E-B9B1-011E0A6FF79E}" type="presOf" srcId="{84C75553-4E46-4E01-9254-B2C4E8C0E36A}" destId="{8FF6418E-442C-4DAD-B00A-58663C4E9585}" srcOrd="0" destOrd="0" presId="urn:microsoft.com/office/officeart/2005/8/layout/hierarchy6"/>
    <dgm:cxn modelId="{D5299562-0DD6-447D-AE25-092D3D34120F}" type="presOf" srcId="{478E851B-478E-4FBB-A237-B5C0D1096157}" destId="{3FB97BA1-816C-4772-BA29-7EDEA8AFB29C}" srcOrd="1" destOrd="0" presId="urn:microsoft.com/office/officeart/2005/8/layout/hierarchy6"/>
    <dgm:cxn modelId="{22DD0244-9C53-4FF7-9062-80DDCB974E5A}" srcId="{4D49098C-7B46-4301-BB16-EBBB73599719}" destId="{573D957E-C723-4C6E-B386-41163B3D9312}" srcOrd="0" destOrd="0" parTransId="{13749AE1-1668-422E-BC4E-20B71367AC33}" sibTransId="{34CEC364-2822-41C5-B09C-94E8E743A4B9}"/>
    <dgm:cxn modelId="{17F3704F-7D65-42A2-A1DF-23DB207BBC13}" srcId="{6B16D91D-5A9D-47E4-9449-F24C3DCCAC36}" destId="{AF6DA357-B7FF-440F-8D3B-047E402F8AAC}" srcOrd="2" destOrd="0" parTransId="{5059AB50-4624-4092-BEFA-21DA1C5EE4BA}" sibTransId="{7339A591-363F-4499-BB2F-C69B33E8CDDF}"/>
    <dgm:cxn modelId="{F9208674-C8EE-40F5-8BE3-35765781FFA6}" type="presOf" srcId="{478E851B-478E-4FBB-A237-B5C0D1096157}" destId="{3D18F286-2C89-4245-B18B-6606506E31C3}" srcOrd="0" destOrd="0" presId="urn:microsoft.com/office/officeart/2005/8/layout/hierarchy6"/>
    <dgm:cxn modelId="{FEBCD855-2D94-4F21-BDB6-349D51BD2C75}" type="presOf" srcId="{13749AE1-1668-422E-BC4E-20B71367AC33}" destId="{785074C2-7E9E-4DDC-BC73-57D9F69DD483}" srcOrd="0" destOrd="0" presId="urn:microsoft.com/office/officeart/2005/8/layout/hierarchy6"/>
    <dgm:cxn modelId="{9F76E680-D00E-4D9B-B9ED-22EEB0DAB10C}" type="presOf" srcId="{85E643FE-3FF6-4463-A7E0-D8C61C493F3D}" destId="{BD697B42-0F82-488C-969E-26DE5618A213}" srcOrd="0" destOrd="0" presId="urn:microsoft.com/office/officeart/2005/8/layout/hierarchy6"/>
    <dgm:cxn modelId="{003D8983-D075-4619-8CFF-C2A801C1C13C}" srcId="{A758EEB3-AED6-4A06-AC6F-8B6BCFD898D8}" destId="{BDD5F1F2-580F-4FEE-86C0-7547E8E64DB6}" srcOrd="1" destOrd="0" parTransId="{13EE0A20-44BD-4095-AE19-E4CB91971F1B}" sibTransId="{6257C491-2767-4DAA-9853-038621CAF249}"/>
    <dgm:cxn modelId="{7E473C84-2D5B-42E8-9A3E-7A42656399FE}" type="presOf" srcId="{13EE0A20-44BD-4095-AE19-E4CB91971F1B}" destId="{FC833476-0A14-40A1-864B-51496970A322}" srcOrd="0" destOrd="0" presId="urn:microsoft.com/office/officeart/2005/8/layout/hierarchy6"/>
    <dgm:cxn modelId="{21E4978C-A73A-4B43-AAA6-9A862CFC037F}" type="presOf" srcId="{6B16D91D-5A9D-47E4-9449-F24C3DCCAC36}" destId="{92B9DE64-6AE9-4D63-9475-485B9ED897F3}" srcOrd="0" destOrd="0" presId="urn:microsoft.com/office/officeart/2005/8/layout/hierarchy6"/>
    <dgm:cxn modelId="{010E088F-99C0-4CAF-8112-37D44F557231}" srcId="{6B16D91D-5A9D-47E4-9449-F24C3DCCAC36}" destId="{8B35E2BA-4E78-4B04-BC05-3A17AF832001}" srcOrd="4" destOrd="0" parTransId="{D89D64FE-A1F2-4D17-AB18-1B571FACC225}" sibTransId="{DE97FBE3-80D3-4511-8265-1847BB9A7BA0}"/>
    <dgm:cxn modelId="{5789A398-74B2-4B17-96A8-B69FF7D0B9DD}" srcId="{6B16D91D-5A9D-47E4-9449-F24C3DCCAC36}" destId="{84C75553-4E46-4E01-9254-B2C4E8C0E36A}" srcOrd="3" destOrd="0" parTransId="{88613FEA-315B-430D-A8FD-2E09A66E0E8E}" sibTransId="{E5551F7A-40B0-47CA-902C-33223FFFC7F8}"/>
    <dgm:cxn modelId="{7393169D-BFF0-4D9C-8FE8-F3EBFF74545C}" type="presOf" srcId="{84C75553-4E46-4E01-9254-B2C4E8C0E36A}" destId="{24A6C7F6-E385-4E34-98FE-66B967070A30}" srcOrd="1" destOrd="0" presId="urn:microsoft.com/office/officeart/2005/8/layout/hierarchy6"/>
    <dgm:cxn modelId="{283057A6-BD59-41D4-9018-24F4ADA88AC0}" type="presOf" srcId="{F35961D9-9E5C-42ED-87E3-E1E42B97AE13}" destId="{275EA44C-144E-4EE9-A87E-6256071EA0D0}" srcOrd="0" destOrd="0" presId="urn:microsoft.com/office/officeart/2005/8/layout/hierarchy6"/>
    <dgm:cxn modelId="{530AE1B0-2589-4809-91E3-AF744022219A}" type="presOf" srcId="{704BAA58-A68D-4B40-A80E-526CCCFA00CA}" destId="{EF960BC0-805C-4333-B930-34B153C16B3E}" srcOrd="0" destOrd="0" presId="urn:microsoft.com/office/officeart/2005/8/layout/hierarchy6"/>
    <dgm:cxn modelId="{FCC199BF-999C-4DBB-B179-7674F91B21E3}" type="presOf" srcId="{AF6DA357-B7FF-440F-8D3B-047E402F8AAC}" destId="{15E9E603-8191-412F-AE5D-D652E0713065}" srcOrd="1" destOrd="0" presId="urn:microsoft.com/office/officeart/2005/8/layout/hierarchy6"/>
    <dgm:cxn modelId="{0F9037C1-67AF-4DC1-82AE-25534ADA7F49}" type="presOf" srcId="{06ABAA81-00E4-4969-9DE1-BA696BE77F37}" destId="{E5D4E8C9-A646-4863-91C0-06A1F1E7ADB8}" srcOrd="0" destOrd="0" presId="urn:microsoft.com/office/officeart/2005/8/layout/hierarchy6"/>
    <dgm:cxn modelId="{A71AFFCC-21EB-423F-A20D-672810BBFFB3}" srcId="{67202CA5-C46D-4F31-B6CE-4C9BA18CB32C}" destId="{9C4F4D01-18DB-4A87-AD5C-DB3A79FEE13B}" srcOrd="0" destOrd="0" parTransId="{06ABAA81-00E4-4969-9DE1-BA696BE77F37}" sibTransId="{09EB02A9-4E24-471E-ABEE-D9D3E5F9E52A}"/>
    <dgm:cxn modelId="{FFEC3ECF-D400-415B-9289-503AFD85EEB5}" srcId="{6B16D91D-5A9D-47E4-9449-F24C3DCCAC36}" destId="{478E851B-478E-4FBB-A237-B5C0D1096157}" srcOrd="1" destOrd="0" parTransId="{D374E2D6-091C-4515-961D-BB528F6681B5}" sibTransId="{B28F1CF7-DEBC-4F78-8D42-A90229089F79}"/>
    <dgm:cxn modelId="{B1C02ED6-13B0-4EB4-9DBB-56CC5994A240}" type="presOf" srcId="{A758EEB3-AED6-4A06-AC6F-8B6BCFD898D8}" destId="{25F1AD1B-5FF7-408C-AA4A-D07FBA0A505B}" srcOrd="0" destOrd="0" presId="urn:microsoft.com/office/officeart/2005/8/layout/hierarchy6"/>
    <dgm:cxn modelId="{B50511DA-EF29-4EF2-8EE1-E316B331E192}" type="presOf" srcId="{4D49098C-7B46-4301-BB16-EBBB73599719}" destId="{C6491B2D-18D5-4987-AC42-F1A925C67CEF}" srcOrd="0" destOrd="0" presId="urn:microsoft.com/office/officeart/2005/8/layout/hierarchy6"/>
    <dgm:cxn modelId="{26738EDF-8D74-44C3-9DA4-174DF27D3455}" type="presOf" srcId="{573D957E-C723-4C6E-B386-41163B3D9312}" destId="{F8EB33F5-047A-41C9-9799-4A393326DF47}" srcOrd="0" destOrd="0" presId="urn:microsoft.com/office/officeart/2005/8/layout/hierarchy6"/>
    <dgm:cxn modelId="{130B48E6-1197-486C-88BE-AC32C288668E}" type="presOf" srcId="{8B35E2BA-4E78-4B04-BC05-3A17AF832001}" destId="{04D94323-189D-4EED-9E04-906ABB47A5FB}" srcOrd="1" destOrd="0" presId="urn:microsoft.com/office/officeart/2005/8/layout/hierarchy6"/>
    <dgm:cxn modelId="{2A39FEF0-E708-437A-B539-BAC5F5CE1C42}" type="presOf" srcId="{8B35E2BA-4E78-4B04-BC05-3A17AF832001}" destId="{1AFA9D16-A37F-412B-8848-2BA8C8620B8D}" srcOrd="0" destOrd="0" presId="urn:microsoft.com/office/officeart/2005/8/layout/hierarchy6"/>
    <dgm:cxn modelId="{DF63EFF4-4E3B-4ED8-AEC5-1516DDF30020}" srcId="{6B16D91D-5A9D-47E4-9449-F24C3DCCAC36}" destId="{4D49098C-7B46-4301-BB16-EBBB73599719}" srcOrd="0" destOrd="0" parTransId="{7035CB60-DCAC-4111-BA86-E1F54251BA10}" sibTransId="{6A727051-8213-4E12-9D0F-CDBBC551DD0E}"/>
    <dgm:cxn modelId="{74C44746-5778-4B16-96FF-1D8C2EBB640B}" type="presParOf" srcId="{92B9DE64-6AE9-4D63-9475-485B9ED897F3}" destId="{1B4F655A-1111-4022-AFE3-C5BDD0CDD5D6}" srcOrd="0" destOrd="0" presId="urn:microsoft.com/office/officeart/2005/8/layout/hierarchy6"/>
    <dgm:cxn modelId="{43D53AB9-4F9F-4B4E-96B5-C1427986FBA1}" type="presParOf" srcId="{1B4F655A-1111-4022-AFE3-C5BDD0CDD5D6}" destId="{6A080825-C4E8-47F1-BA2D-2BEC81C52EBB}" srcOrd="0" destOrd="0" presId="urn:microsoft.com/office/officeart/2005/8/layout/hierarchy6"/>
    <dgm:cxn modelId="{E8793858-B598-4169-BD88-C195C9048C70}" type="presParOf" srcId="{1B4F655A-1111-4022-AFE3-C5BDD0CDD5D6}" destId="{72490C63-95DA-47DC-B4DD-708CE859FD1E}" srcOrd="1" destOrd="0" presId="urn:microsoft.com/office/officeart/2005/8/layout/hierarchy6"/>
    <dgm:cxn modelId="{4FEBEA23-9BE6-462A-81EE-011B93204EC3}" type="presParOf" srcId="{72490C63-95DA-47DC-B4DD-708CE859FD1E}" destId="{371B4341-C79E-4216-A4DA-BDA94F363F62}" srcOrd="0" destOrd="0" presId="urn:microsoft.com/office/officeart/2005/8/layout/hierarchy6"/>
    <dgm:cxn modelId="{A0D37DE6-0C58-4B60-BC24-9F00CCF4079D}" type="presParOf" srcId="{371B4341-C79E-4216-A4DA-BDA94F363F62}" destId="{C6491B2D-18D5-4987-AC42-F1A925C67CEF}" srcOrd="0" destOrd="0" presId="urn:microsoft.com/office/officeart/2005/8/layout/hierarchy6"/>
    <dgm:cxn modelId="{D7AAB387-748C-4B2F-81CE-3B55CDD39882}" type="presParOf" srcId="{371B4341-C79E-4216-A4DA-BDA94F363F62}" destId="{45D42365-2F58-41CF-A833-46D58A09D199}" srcOrd="1" destOrd="0" presId="urn:microsoft.com/office/officeart/2005/8/layout/hierarchy6"/>
    <dgm:cxn modelId="{9141C101-28E0-4848-B065-A3C8C977D6A8}" type="presParOf" srcId="{45D42365-2F58-41CF-A833-46D58A09D199}" destId="{785074C2-7E9E-4DDC-BC73-57D9F69DD483}" srcOrd="0" destOrd="0" presId="urn:microsoft.com/office/officeart/2005/8/layout/hierarchy6"/>
    <dgm:cxn modelId="{D65DC8FA-622B-4945-B213-7D5D3D5BAF34}" type="presParOf" srcId="{45D42365-2F58-41CF-A833-46D58A09D199}" destId="{7967923F-D279-4291-B59D-5BD10DA8556E}" srcOrd="1" destOrd="0" presId="urn:microsoft.com/office/officeart/2005/8/layout/hierarchy6"/>
    <dgm:cxn modelId="{1A0B91F3-57EA-4918-99FE-016AFCBA7860}" type="presParOf" srcId="{7967923F-D279-4291-B59D-5BD10DA8556E}" destId="{F8EB33F5-047A-41C9-9799-4A393326DF47}" srcOrd="0" destOrd="0" presId="urn:microsoft.com/office/officeart/2005/8/layout/hierarchy6"/>
    <dgm:cxn modelId="{9C300950-ADD3-4968-BB7B-EDE3C2DEBD71}" type="presParOf" srcId="{7967923F-D279-4291-B59D-5BD10DA8556E}" destId="{D854AA46-3F1D-4D1A-A782-5A614454893D}" srcOrd="1" destOrd="0" presId="urn:microsoft.com/office/officeart/2005/8/layout/hierarchy6"/>
    <dgm:cxn modelId="{F9EC8205-DE7F-48F4-90FE-07084CDB209A}" type="presParOf" srcId="{45D42365-2F58-41CF-A833-46D58A09D199}" destId="{BD697B42-0F82-488C-969E-26DE5618A213}" srcOrd="2" destOrd="0" presId="urn:microsoft.com/office/officeart/2005/8/layout/hierarchy6"/>
    <dgm:cxn modelId="{F55A18EE-33A4-4ACD-A8D2-0CEB15876F6D}" type="presParOf" srcId="{45D42365-2F58-41CF-A833-46D58A09D199}" destId="{C93E5BCA-07BF-4C8A-8BEA-6EB57E214FB2}" srcOrd="3" destOrd="0" presId="urn:microsoft.com/office/officeart/2005/8/layout/hierarchy6"/>
    <dgm:cxn modelId="{520A359B-94EE-422F-84DD-3154096E8397}" type="presParOf" srcId="{C93E5BCA-07BF-4C8A-8BEA-6EB57E214FB2}" destId="{25F1AD1B-5FF7-408C-AA4A-D07FBA0A505B}" srcOrd="0" destOrd="0" presId="urn:microsoft.com/office/officeart/2005/8/layout/hierarchy6"/>
    <dgm:cxn modelId="{A9E27185-83CC-455F-A86F-54FAF09F40E9}" type="presParOf" srcId="{C93E5BCA-07BF-4C8A-8BEA-6EB57E214FB2}" destId="{785A9FBD-284F-434F-9147-1F652B30C3F9}" srcOrd="1" destOrd="0" presId="urn:microsoft.com/office/officeart/2005/8/layout/hierarchy6"/>
    <dgm:cxn modelId="{D263B80C-9252-4138-8B39-DC18801F5543}" type="presParOf" srcId="{785A9FBD-284F-434F-9147-1F652B30C3F9}" destId="{275EA44C-144E-4EE9-A87E-6256071EA0D0}" srcOrd="0" destOrd="0" presId="urn:microsoft.com/office/officeart/2005/8/layout/hierarchy6"/>
    <dgm:cxn modelId="{3FE412E2-E50E-4D6C-AD8A-7BB9D17FA9AF}" type="presParOf" srcId="{785A9FBD-284F-434F-9147-1F652B30C3F9}" destId="{6E690D7F-00DE-4B79-B932-EC5A2DD6B8FD}" srcOrd="1" destOrd="0" presId="urn:microsoft.com/office/officeart/2005/8/layout/hierarchy6"/>
    <dgm:cxn modelId="{6B37A55C-76B0-49C9-A9F3-2BC1D728E606}" type="presParOf" srcId="{6E690D7F-00DE-4B79-B932-EC5A2DD6B8FD}" destId="{9BCCD814-F660-484A-B42B-A72A7B6108DB}" srcOrd="0" destOrd="0" presId="urn:microsoft.com/office/officeart/2005/8/layout/hierarchy6"/>
    <dgm:cxn modelId="{500C3F1F-CB90-4CB2-A49B-FC1B85660B21}" type="presParOf" srcId="{6E690D7F-00DE-4B79-B932-EC5A2DD6B8FD}" destId="{10469FDE-9FE1-460C-AC16-1E1C44B283D4}" srcOrd="1" destOrd="0" presId="urn:microsoft.com/office/officeart/2005/8/layout/hierarchy6"/>
    <dgm:cxn modelId="{3A8A23CF-EC7D-4B4A-98D0-AE12BD09D5C8}" type="presParOf" srcId="{10469FDE-9FE1-460C-AC16-1E1C44B283D4}" destId="{E5D4E8C9-A646-4863-91C0-06A1F1E7ADB8}" srcOrd="0" destOrd="0" presId="urn:microsoft.com/office/officeart/2005/8/layout/hierarchy6"/>
    <dgm:cxn modelId="{B39A5B2E-ABB8-4B2E-9D52-0FEF4DC9FAEE}" type="presParOf" srcId="{10469FDE-9FE1-460C-AC16-1E1C44B283D4}" destId="{5E5F6179-A2DC-4ECA-89C0-666E05EAADA9}" srcOrd="1" destOrd="0" presId="urn:microsoft.com/office/officeart/2005/8/layout/hierarchy6"/>
    <dgm:cxn modelId="{59212A66-9297-4D0B-B166-64E5CC182EAF}" type="presParOf" srcId="{5E5F6179-A2DC-4ECA-89C0-666E05EAADA9}" destId="{912674DA-7E17-4192-A26D-0EDCA57C9CAD}" srcOrd="0" destOrd="0" presId="urn:microsoft.com/office/officeart/2005/8/layout/hierarchy6"/>
    <dgm:cxn modelId="{9AAE0840-A419-41FD-AB77-A44929607561}" type="presParOf" srcId="{5E5F6179-A2DC-4ECA-89C0-666E05EAADA9}" destId="{F06A00C7-C558-47F1-A7AC-69D7FF6CAD21}" srcOrd="1" destOrd="0" presId="urn:microsoft.com/office/officeart/2005/8/layout/hierarchy6"/>
    <dgm:cxn modelId="{2EE68956-4933-4FA2-AD62-A05B045C7B31}" type="presParOf" srcId="{10469FDE-9FE1-460C-AC16-1E1C44B283D4}" destId="{EF960BC0-805C-4333-B930-34B153C16B3E}" srcOrd="2" destOrd="0" presId="urn:microsoft.com/office/officeart/2005/8/layout/hierarchy6"/>
    <dgm:cxn modelId="{8B63C29A-1B72-4152-B443-4BC6E54D5439}" type="presParOf" srcId="{10469FDE-9FE1-460C-AC16-1E1C44B283D4}" destId="{75B2FCB0-E7FB-46E6-9BB7-529E63BA8428}" srcOrd="3" destOrd="0" presId="urn:microsoft.com/office/officeart/2005/8/layout/hierarchy6"/>
    <dgm:cxn modelId="{253F4059-16CA-4023-A3AA-BBE3BB760DDE}" type="presParOf" srcId="{75B2FCB0-E7FB-46E6-9BB7-529E63BA8428}" destId="{AADC5DB2-4563-4534-96E0-0BEAAEFAD264}" srcOrd="0" destOrd="0" presId="urn:microsoft.com/office/officeart/2005/8/layout/hierarchy6"/>
    <dgm:cxn modelId="{212356B0-BE4F-478F-B145-7237F1BE4171}" type="presParOf" srcId="{75B2FCB0-E7FB-46E6-9BB7-529E63BA8428}" destId="{0F49DBC3-3675-40F9-A118-2FC8F34BA3A6}" srcOrd="1" destOrd="0" presId="urn:microsoft.com/office/officeart/2005/8/layout/hierarchy6"/>
    <dgm:cxn modelId="{CB9F426C-F6B6-4628-B45E-E2F3C9A4EBC0}" type="presParOf" srcId="{785A9FBD-284F-434F-9147-1F652B30C3F9}" destId="{FC833476-0A14-40A1-864B-51496970A322}" srcOrd="2" destOrd="0" presId="urn:microsoft.com/office/officeart/2005/8/layout/hierarchy6"/>
    <dgm:cxn modelId="{D5D9552B-19C5-4F35-9EFC-16D308C42CD0}" type="presParOf" srcId="{785A9FBD-284F-434F-9147-1F652B30C3F9}" destId="{B9C28232-3F71-4CD8-A72F-833B7B6075C6}" srcOrd="3" destOrd="0" presId="urn:microsoft.com/office/officeart/2005/8/layout/hierarchy6"/>
    <dgm:cxn modelId="{F9744D06-DAD1-49A5-8FF2-6B28F58ECCB6}" type="presParOf" srcId="{B9C28232-3F71-4CD8-A72F-833B7B6075C6}" destId="{DDCC15E8-B0D0-4E14-A0EF-D2A4277916A8}" srcOrd="0" destOrd="0" presId="urn:microsoft.com/office/officeart/2005/8/layout/hierarchy6"/>
    <dgm:cxn modelId="{311EB9CB-AC48-4F6A-9616-80020AAC3018}" type="presParOf" srcId="{B9C28232-3F71-4CD8-A72F-833B7B6075C6}" destId="{46D2559C-5545-4522-B48B-BBB32775891D}" srcOrd="1" destOrd="0" presId="urn:microsoft.com/office/officeart/2005/8/layout/hierarchy6"/>
    <dgm:cxn modelId="{DAF50BB9-16AF-4909-9EBB-1BA9D23A3860}" type="presParOf" srcId="{92B9DE64-6AE9-4D63-9475-485B9ED897F3}" destId="{2D9A8F98-5D75-4A30-B6F1-3F4BE180650C}" srcOrd="1" destOrd="0" presId="urn:microsoft.com/office/officeart/2005/8/layout/hierarchy6"/>
    <dgm:cxn modelId="{A65C2747-EE19-4038-9439-897F762DEF23}" type="presParOf" srcId="{2D9A8F98-5D75-4A30-B6F1-3F4BE180650C}" destId="{8707A9F6-72B6-42F6-B7F6-558F67C221F2}" srcOrd="0" destOrd="0" presId="urn:microsoft.com/office/officeart/2005/8/layout/hierarchy6"/>
    <dgm:cxn modelId="{A95FEB71-4DF2-4A36-ADDE-859770B3AAA0}" type="presParOf" srcId="{8707A9F6-72B6-42F6-B7F6-558F67C221F2}" destId="{3D18F286-2C89-4245-B18B-6606506E31C3}" srcOrd="0" destOrd="0" presId="urn:microsoft.com/office/officeart/2005/8/layout/hierarchy6"/>
    <dgm:cxn modelId="{C29EBD98-2822-47D6-9B27-F5A41ECB7B2E}" type="presParOf" srcId="{8707A9F6-72B6-42F6-B7F6-558F67C221F2}" destId="{3FB97BA1-816C-4772-BA29-7EDEA8AFB29C}" srcOrd="1" destOrd="0" presId="urn:microsoft.com/office/officeart/2005/8/layout/hierarchy6"/>
    <dgm:cxn modelId="{94FA4AD9-D285-4052-9253-32E8163882E4}" type="presParOf" srcId="{2D9A8F98-5D75-4A30-B6F1-3F4BE180650C}" destId="{07C7AFB6-6E70-416C-A10A-A94AD5EACA49}" srcOrd="1" destOrd="0" presId="urn:microsoft.com/office/officeart/2005/8/layout/hierarchy6"/>
    <dgm:cxn modelId="{EA7F1345-D3DE-4889-B6F6-90E2597FBB67}" type="presParOf" srcId="{07C7AFB6-6E70-416C-A10A-A94AD5EACA49}" destId="{926E901D-4F47-4AF2-B716-AA2A613E7C0F}" srcOrd="0" destOrd="0" presId="urn:microsoft.com/office/officeart/2005/8/layout/hierarchy6"/>
    <dgm:cxn modelId="{D39E3027-88DB-4871-88A1-B9797D419567}" type="presParOf" srcId="{2D9A8F98-5D75-4A30-B6F1-3F4BE180650C}" destId="{779F8C65-DB34-4476-BB29-70BA161349D6}" srcOrd="2" destOrd="0" presId="urn:microsoft.com/office/officeart/2005/8/layout/hierarchy6"/>
    <dgm:cxn modelId="{6E7D9EBB-6856-476A-8BA6-AA64FB396FCB}" type="presParOf" srcId="{779F8C65-DB34-4476-BB29-70BA161349D6}" destId="{AF84D346-2E9E-4D67-8C0D-E4590100997F}" srcOrd="0" destOrd="0" presId="urn:microsoft.com/office/officeart/2005/8/layout/hierarchy6"/>
    <dgm:cxn modelId="{20A91524-157F-4C62-8EEB-1AD203A9F7D9}" type="presParOf" srcId="{779F8C65-DB34-4476-BB29-70BA161349D6}" destId="{15E9E603-8191-412F-AE5D-D652E0713065}" srcOrd="1" destOrd="0" presId="urn:microsoft.com/office/officeart/2005/8/layout/hierarchy6"/>
    <dgm:cxn modelId="{41266788-6BFC-4B2C-98AE-F662F02EA25D}" type="presParOf" srcId="{2D9A8F98-5D75-4A30-B6F1-3F4BE180650C}" destId="{3EC8070C-8002-4CC2-A8B1-4E2DE3D01C60}" srcOrd="3" destOrd="0" presId="urn:microsoft.com/office/officeart/2005/8/layout/hierarchy6"/>
    <dgm:cxn modelId="{4133B740-10DB-4338-9666-C236C59EFEE8}" type="presParOf" srcId="{3EC8070C-8002-4CC2-A8B1-4E2DE3D01C60}" destId="{01297D10-0468-4C95-A9A7-79071066D551}" srcOrd="0" destOrd="0" presId="urn:microsoft.com/office/officeart/2005/8/layout/hierarchy6"/>
    <dgm:cxn modelId="{5BAA83A3-7C92-4988-A0CD-BCC0742795F5}" type="presParOf" srcId="{2D9A8F98-5D75-4A30-B6F1-3F4BE180650C}" destId="{731E3761-7439-4457-A56E-9FCA900AC09B}" srcOrd="4" destOrd="0" presId="urn:microsoft.com/office/officeart/2005/8/layout/hierarchy6"/>
    <dgm:cxn modelId="{B85A485F-6B92-4B2D-A73F-B621791FF6E6}" type="presParOf" srcId="{731E3761-7439-4457-A56E-9FCA900AC09B}" destId="{8FF6418E-442C-4DAD-B00A-58663C4E9585}" srcOrd="0" destOrd="0" presId="urn:microsoft.com/office/officeart/2005/8/layout/hierarchy6"/>
    <dgm:cxn modelId="{77A4A747-FB3D-4B05-9C8D-16ECEDF03850}" type="presParOf" srcId="{731E3761-7439-4457-A56E-9FCA900AC09B}" destId="{24A6C7F6-E385-4E34-98FE-66B967070A30}" srcOrd="1" destOrd="0" presId="urn:microsoft.com/office/officeart/2005/8/layout/hierarchy6"/>
    <dgm:cxn modelId="{CFAE58B6-51C3-47DA-8A70-A9A6FF06F6AE}" type="presParOf" srcId="{2D9A8F98-5D75-4A30-B6F1-3F4BE180650C}" destId="{8DFA826E-DB13-4884-9BC8-8F62E7A3B7D6}" srcOrd="5" destOrd="0" presId="urn:microsoft.com/office/officeart/2005/8/layout/hierarchy6"/>
    <dgm:cxn modelId="{5180D809-0DFC-4FAE-92FE-9101AE9F5313}" type="presParOf" srcId="{8DFA826E-DB13-4884-9BC8-8F62E7A3B7D6}" destId="{32F9C630-F062-4C11-B722-35D5F9DE3424}" srcOrd="0" destOrd="0" presId="urn:microsoft.com/office/officeart/2005/8/layout/hierarchy6"/>
    <dgm:cxn modelId="{540993C6-B32D-4022-9075-D22518275FA3}" type="presParOf" srcId="{2D9A8F98-5D75-4A30-B6F1-3F4BE180650C}" destId="{DFE6AA46-2F74-488E-9BC2-874E4048B6F9}" srcOrd="6" destOrd="0" presId="urn:microsoft.com/office/officeart/2005/8/layout/hierarchy6"/>
    <dgm:cxn modelId="{C00B1B0B-5820-44F0-9402-5A220A9CDB42}" type="presParOf" srcId="{DFE6AA46-2F74-488E-9BC2-874E4048B6F9}" destId="{1AFA9D16-A37F-412B-8848-2BA8C8620B8D}" srcOrd="0" destOrd="0" presId="urn:microsoft.com/office/officeart/2005/8/layout/hierarchy6"/>
    <dgm:cxn modelId="{359CCF59-F928-4F6A-9A6C-1ABFE1F3407B}" type="presParOf" srcId="{DFE6AA46-2F74-488E-9BC2-874E4048B6F9}" destId="{04D94323-189D-4EED-9E04-906ABB47A5FB}" srcOrd="1" destOrd="0" presId="urn:microsoft.com/office/officeart/2005/8/layout/hierarchy6"/>
  </dgm:cxnLst>
  <dgm:bg>
    <a:solidFill>
      <a:schemeClr val="bg1"/>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DAE47C92-A70E-4865-852C-6B372FAFBFD7}" type="doc">
      <dgm:prSet loTypeId="urn:microsoft.com/office/officeart/2005/8/layout/hList9" loCatId="list" qsTypeId="urn:microsoft.com/office/officeart/2005/8/quickstyle/simple1" qsCatId="simple" csTypeId="urn:microsoft.com/office/officeart/2005/8/colors/accent3_1" csCatId="accent3" phldr="1"/>
      <dgm:spPr/>
      <dgm:t>
        <a:bodyPr/>
        <a:lstStyle/>
        <a:p>
          <a:endParaRPr lang="zh-CN" altLang="en-US"/>
        </a:p>
      </dgm:t>
    </dgm:pt>
    <dgm:pt modelId="{F4F0B188-EBE8-4B5E-A5B2-68F75C323C3D}">
      <dgm:prSet custT="1"/>
      <dgm:spPr>
        <a:solidFill>
          <a:srgbClr val="2B11AF"/>
        </a:solidFill>
        <a:ln>
          <a:noFill/>
        </a:ln>
      </dgm:spPr>
      <dgm:t>
        <a:bodyPr/>
        <a:lstStyle/>
        <a:p>
          <a:r>
            <a:rPr lang="en-US" sz="1600" b="1" baseline="0">
              <a:solidFill>
                <a:schemeClr val="tx1"/>
              </a:solidFill>
              <a:latin typeface="+mn-ea"/>
              <a:ea typeface="+mn-ea"/>
            </a:rPr>
            <a:t>Supply-Demand Strategies</a:t>
          </a:r>
          <a:endParaRPr lang="zh-CN" sz="1600" b="1">
            <a:solidFill>
              <a:schemeClr val="tx1"/>
            </a:solidFill>
            <a:latin typeface="+mn-ea"/>
            <a:ea typeface="+mn-ea"/>
          </a:endParaRPr>
        </a:p>
      </dgm:t>
    </dgm:pt>
    <dgm:pt modelId="{7CA6A0BF-539F-4F9E-A55F-99240463AA60}" type="parTrans" cxnId="{78EE59E6-8CE6-4985-8F66-7DB091FF3A46}">
      <dgm:prSet/>
      <dgm:spPr/>
      <dgm:t>
        <a:bodyPr/>
        <a:lstStyle/>
        <a:p>
          <a:endParaRPr lang="zh-CN" altLang="en-US">
            <a:latin typeface="+mn-ea"/>
            <a:ea typeface="+mn-ea"/>
          </a:endParaRPr>
        </a:p>
      </dgm:t>
    </dgm:pt>
    <dgm:pt modelId="{EDD448C5-79BC-4BA9-BD16-84596EBDF7FC}" type="sibTrans" cxnId="{78EE59E6-8CE6-4985-8F66-7DB091FF3A46}">
      <dgm:prSet/>
      <dgm:spPr/>
      <dgm:t>
        <a:bodyPr/>
        <a:lstStyle/>
        <a:p>
          <a:endParaRPr lang="zh-CN" altLang="en-US">
            <a:latin typeface="+mn-ea"/>
            <a:ea typeface="+mn-ea"/>
          </a:endParaRPr>
        </a:p>
      </dgm:t>
    </dgm:pt>
    <dgm:pt modelId="{3100CA96-ABC1-4415-8AC7-0BC47B56C94A}">
      <dgm:prSet/>
      <dgm:spPr>
        <a:ln>
          <a:noFill/>
        </a:ln>
      </dgm:spPr>
      <dgm:t>
        <a:bodyPr/>
        <a:lstStyle/>
        <a:p>
          <a:r>
            <a:rPr lang="en-US" b="1" baseline="0" dirty="0">
              <a:latin typeface="+mn-ea"/>
              <a:ea typeface="+mn-ea"/>
            </a:rPr>
            <a:t>Allocation:</a:t>
          </a:r>
          <a:endParaRPr lang="zh-CN" b="1" dirty="0">
            <a:latin typeface="+mn-ea"/>
            <a:ea typeface="+mn-ea"/>
          </a:endParaRPr>
        </a:p>
      </dgm:t>
    </dgm:pt>
    <dgm:pt modelId="{29D0257F-286E-4BC2-844E-89843395ED53}" type="parTrans" cxnId="{744F15EC-BA5C-4627-97B9-E76E0ADFA45C}">
      <dgm:prSet/>
      <dgm:spPr/>
      <dgm:t>
        <a:bodyPr/>
        <a:lstStyle/>
        <a:p>
          <a:endParaRPr lang="zh-CN" altLang="en-US">
            <a:latin typeface="+mn-ea"/>
            <a:ea typeface="+mn-ea"/>
          </a:endParaRPr>
        </a:p>
      </dgm:t>
    </dgm:pt>
    <dgm:pt modelId="{5B9AFE33-EFA4-4F4A-AB22-B50B1CA4356A}" type="sibTrans" cxnId="{744F15EC-BA5C-4627-97B9-E76E0ADFA45C}">
      <dgm:prSet/>
      <dgm:spPr/>
      <dgm:t>
        <a:bodyPr/>
        <a:lstStyle/>
        <a:p>
          <a:endParaRPr lang="zh-CN" altLang="en-US">
            <a:latin typeface="+mn-ea"/>
            <a:ea typeface="+mn-ea"/>
          </a:endParaRPr>
        </a:p>
      </dgm:t>
    </dgm:pt>
    <dgm:pt modelId="{8B311499-BBE0-49FB-918D-9BEBAC38C38A}">
      <dgm:prSet/>
      <dgm:spPr>
        <a:ln>
          <a:noFill/>
        </a:ln>
      </dgm:spPr>
      <dgm:t>
        <a:bodyPr/>
        <a:lstStyle/>
        <a:p>
          <a:r>
            <a:rPr lang="en-US" b="1" baseline="0" dirty="0">
              <a:latin typeface="+mn-ea"/>
              <a:ea typeface="+mn-ea"/>
            </a:rPr>
            <a:t>Assign items to specific orders but still in inventory </a:t>
          </a:r>
          <a:endParaRPr lang="zh-CN" b="1" dirty="0">
            <a:latin typeface="+mn-ea"/>
            <a:ea typeface="+mn-ea"/>
          </a:endParaRPr>
        </a:p>
      </dgm:t>
    </dgm:pt>
    <dgm:pt modelId="{1BE86FCE-2756-4E76-92DF-22329D66DC1D}" type="parTrans" cxnId="{2DB77498-5487-44CA-ACFD-1DECE58BE7E9}">
      <dgm:prSet/>
      <dgm:spPr/>
      <dgm:t>
        <a:bodyPr/>
        <a:lstStyle/>
        <a:p>
          <a:endParaRPr lang="zh-CN" altLang="en-US">
            <a:latin typeface="+mn-ea"/>
            <a:ea typeface="+mn-ea"/>
          </a:endParaRPr>
        </a:p>
      </dgm:t>
    </dgm:pt>
    <dgm:pt modelId="{FCCF74BD-3F9B-4A51-A3B1-DE362745188E}" type="sibTrans" cxnId="{2DB77498-5487-44CA-ACFD-1DECE58BE7E9}">
      <dgm:prSet/>
      <dgm:spPr/>
      <dgm:t>
        <a:bodyPr/>
        <a:lstStyle/>
        <a:p>
          <a:endParaRPr lang="zh-CN" altLang="en-US">
            <a:latin typeface="+mn-ea"/>
            <a:ea typeface="+mn-ea"/>
          </a:endParaRPr>
        </a:p>
      </dgm:t>
    </dgm:pt>
    <dgm:pt modelId="{7600FA27-30E6-4071-850E-0A3E8A696F67}">
      <dgm:prSet/>
      <dgm:spPr>
        <a:ln>
          <a:noFill/>
        </a:ln>
      </dgm:spPr>
      <dgm:t>
        <a:bodyPr/>
        <a:lstStyle/>
        <a:p>
          <a:r>
            <a:rPr lang="en-US" b="1" baseline="0" dirty="0">
              <a:latin typeface="+mn-ea"/>
              <a:ea typeface="+mn-ea"/>
            </a:rPr>
            <a:t>Process to distribute materials in short supply </a:t>
          </a:r>
          <a:endParaRPr lang="zh-CN" b="1" dirty="0">
            <a:latin typeface="+mn-ea"/>
            <a:ea typeface="+mn-ea"/>
          </a:endParaRPr>
        </a:p>
      </dgm:t>
    </dgm:pt>
    <dgm:pt modelId="{1FBA42BA-0529-4E00-A810-EF4E643A228F}" type="parTrans" cxnId="{7E58B6A7-FF7A-4648-BBDE-CC596BE2A0EF}">
      <dgm:prSet/>
      <dgm:spPr/>
      <dgm:t>
        <a:bodyPr/>
        <a:lstStyle/>
        <a:p>
          <a:endParaRPr lang="zh-CN" altLang="en-US">
            <a:latin typeface="+mn-ea"/>
            <a:ea typeface="+mn-ea"/>
          </a:endParaRPr>
        </a:p>
      </dgm:t>
    </dgm:pt>
    <dgm:pt modelId="{105F194D-C946-4665-A172-B8B4D74F2E83}" type="sibTrans" cxnId="{7E58B6A7-FF7A-4648-BBDE-CC596BE2A0EF}">
      <dgm:prSet/>
      <dgm:spPr/>
      <dgm:t>
        <a:bodyPr/>
        <a:lstStyle/>
        <a:p>
          <a:endParaRPr lang="zh-CN" altLang="en-US">
            <a:latin typeface="+mn-ea"/>
            <a:ea typeface="+mn-ea"/>
          </a:endParaRPr>
        </a:p>
      </dgm:t>
    </dgm:pt>
    <dgm:pt modelId="{6F2C056D-264C-4385-B50E-21AD129DA748}" type="pres">
      <dgm:prSet presAssocID="{DAE47C92-A70E-4865-852C-6B372FAFBFD7}" presName="list" presStyleCnt="0">
        <dgm:presLayoutVars>
          <dgm:dir/>
          <dgm:animLvl val="lvl"/>
        </dgm:presLayoutVars>
      </dgm:prSet>
      <dgm:spPr/>
    </dgm:pt>
    <dgm:pt modelId="{B2DADAC1-4DB5-4A30-A8EA-9759F94DF766}" type="pres">
      <dgm:prSet presAssocID="{F4F0B188-EBE8-4B5E-A5B2-68F75C323C3D}" presName="posSpace" presStyleCnt="0"/>
      <dgm:spPr/>
    </dgm:pt>
    <dgm:pt modelId="{487D9FF7-4A4E-4860-9129-F4978EF35467}" type="pres">
      <dgm:prSet presAssocID="{F4F0B188-EBE8-4B5E-A5B2-68F75C323C3D}" presName="vertFlow" presStyleCnt="0"/>
      <dgm:spPr/>
    </dgm:pt>
    <dgm:pt modelId="{E5392FA5-B016-4EE8-A8BB-235E87F0F5B9}" type="pres">
      <dgm:prSet presAssocID="{F4F0B188-EBE8-4B5E-A5B2-68F75C323C3D}" presName="topSpace" presStyleCnt="0"/>
      <dgm:spPr/>
    </dgm:pt>
    <dgm:pt modelId="{B7907D92-7E44-40D2-B263-162D93680976}" type="pres">
      <dgm:prSet presAssocID="{F4F0B188-EBE8-4B5E-A5B2-68F75C323C3D}" presName="firstComp" presStyleCnt="0"/>
      <dgm:spPr/>
    </dgm:pt>
    <dgm:pt modelId="{7A769150-6793-4F90-A470-23873677C186}" type="pres">
      <dgm:prSet presAssocID="{F4F0B188-EBE8-4B5E-A5B2-68F75C323C3D}" presName="firstChild" presStyleLbl="bgAccFollowNode1" presStyleIdx="0" presStyleCnt="1"/>
      <dgm:spPr/>
    </dgm:pt>
    <dgm:pt modelId="{C4E43B35-5C35-401D-A9E7-B5049FF7FB87}" type="pres">
      <dgm:prSet presAssocID="{F4F0B188-EBE8-4B5E-A5B2-68F75C323C3D}" presName="firstChildTx" presStyleLbl="bgAccFollowNode1" presStyleIdx="0" presStyleCnt="1">
        <dgm:presLayoutVars>
          <dgm:bulletEnabled val="1"/>
        </dgm:presLayoutVars>
      </dgm:prSet>
      <dgm:spPr/>
    </dgm:pt>
    <dgm:pt modelId="{161F74BF-8644-40D6-9FA1-7359D0B1AC15}" type="pres">
      <dgm:prSet presAssocID="{F4F0B188-EBE8-4B5E-A5B2-68F75C323C3D}" presName="negSpace" presStyleCnt="0"/>
      <dgm:spPr/>
    </dgm:pt>
    <dgm:pt modelId="{582FC5B0-ABC0-497D-B4D4-E37459034AEA}" type="pres">
      <dgm:prSet presAssocID="{F4F0B188-EBE8-4B5E-A5B2-68F75C323C3D}" presName="circle" presStyleLbl="node1" presStyleIdx="0" presStyleCnt="1"/>
      <dgm:spPr/>
    </dgm:pt>
  </dgm:ptLst>
  <dgm:cxnLst>
    <dgm:cxn modelId="{9482FD15-9055-4CDF-94B0-6167D21414BC}" type="presOf" srcId="{8B311499-BBE0-49FB-918D-9BEBAC38C38A}" destId="{C4E43B35-5C35-401D-A9E7-B5049FF7FB87}" srcOrd="1" destOrd="1" presId="urn:microsoft.com/office/officeart/2005/8/layout/hList9"/>
    <dgm:cxn modelId="{D825BF1B-7C12-4E2D-933D-DA081078B82C}" type="presOf" srcId="{DAE47C92-A70E-4865-852C-6B372FAFBFD7}" destId="{6F2C056D-264C-4385-B50E-21AD129DA748}" srcOrd="0" destOrd="0" presId="urn:microsoft.com/office/officeart/2005/8/layout/hList9"/>
    <dgm:cxn modelId="{E636EC3C-6B7C-4186-B2DB-F31E556FDCC2}" type="presOf" srcId="{8B311499-BBE0-49FB-918D-9BEBAC38C38A}" destId="{7A769150-6793-4F90-A470-23873677C186}" srcOrd="0" destOrd="1" presId="urn:microsoft.com/office/officeart/2005/8/layout/hList9"/>
    <dgm:cxn modelId="{554C8272-16B7-41CF-B3DF-3C538A530774}" type="presOf" srcId="{7600FA27-30E6-4071-850E-0A3E8A696F67}" destId="{7A769150-6793-4F90-A470-23873677C186}" srcOrd="0" destOrd="2" presId="urn:microsoft.com/office/officeart/2005/8/layout/hList9"/>
    <dgm:cxn modelId="{083BD875-2FDA-42F1-8EB1-F4E670A212FB}" type="presOf" srcId="{7600FA27-30E6-4071-850E-0A3E8A696F67}" destId="{C4E43B35-5C35-401D-A9E7-B5049FF7FB87}" srcOrd="1" destOrd="2" presId="urn:microsoft.com/office/officeart/2005/8/layout/hList9"/>
    <dgm:cxn modelId="{57AE4296-74B0-4586-98BF-624D53128D16}" type="presOf" srcId="{3100CA96-ABC1-4415-8AC7-0BC47B56C94A}" destId="{C4E43B35-5C35-401D-A9E7-B5049FF7FB87}" srcOrd="1" destOrd="0" presId="urn:microsoft.com/office/officeart/2005/8/layout/hList9"/>
    <dgm:cxn modelId="{2DB77498-5487-44CA-ACFD-1DECE58BE7E9}" srcId="{3100CA96-ABC1-4415-8AC7-0BC47B56C94A}" destId="{8B311499-BBE0-49FB-918D-9BEBAC38C38A}" srcOrd="0" destOrd="0" parTransId="{1BE86FCE-2756-4E76-92DF-22329D66DC1D}" sibTransId="{FCCF74BD-3F9B-4A51-A3B1-DE362745188E}"/>
    <dgm:cxn modelId="{7E58B6A7-FF7A-4648-BBDE-CC596BE2A0EF}" srcId="{3100CA96-ABC1-4415-8AC7-0BC47B56C94A}" destId="{7600FA27-30E6-4071-850E-0A3E8A696F67}" srcOrd="1" destOrd="0" parTransId="{1FBA42BA-0529-4E00-A810-EF4E643A228F}" sibTransId="{105F194D-C946-4665-A172-B8B4D74F2E83}"/>
    <dgm:cxn modelId="{A0FCF0D6-2033-40E6-B510-FC4BCCE6836E}" type="presOf" srcId="{3100CA96-ABC1-4415-8AC7-0BC47B56C94A}" destId="{7A769150-6793-4F90-A470-23873677C186}" srcOrd="0" destOrd="0" presId="urn:microsoft.com/office/officeart/2005/8/layout/hList9"/>
    <dgm:cxn modelId="{22C616D8-D3E2-4C13-B449-65DFDA81579C}" type="presOf" srcId="{F4F0B188-EBE8-4B5E-A5B2-68F75C323C3D}" destId="{582FC5B0-ABC0-497D-B4D4-E37459034AEA}" srcOrd="0" destOrd="0" presId="urn:microsoft.com/office/officeart/2005/8/layout/hList9"/>
    <dgm:cxn modelId="{78EE59E6-8CE6-4985-8F66-7DB091FF3A46}" srcId="{DAE47C92-A70E-4865-852C-6B372FAFBFD7}" destId="{F4F0B188-EBE8-4B5E-A5B2-68F75C323C3D}" srcOrd="0" destOrd="0" parTransId="{7CA6A0BF-539F-4F9E-A55F-99240463AA60}" sibTransId="{EDD448C5-79BC-4BA9-BD16-84596EBDF7FC}"/>
    <dgm:cxn modelId="{744F15EC-BA5C-4627-97B9-E76E0ADFA45C}" srcId="{F4F0B188-EBE8-4B5E-A5B2-68F75C323C3D}" destId="{3100CA96-ABC1-4415-8AC7-0BC47B56C94A}" srcOrd="0" destOrd="0" parTransId="{29D0257F-286E-4BC2-844E-89843395ED53}" sibTransId="{5B9AFE33-EFA4-4F4A-AB22-B50B1CA4356A}"/>
    <dgm:cxn modelId="{4BF93612-A90F-443D-9D97-ED83B09FD1D9}" type="presParOf" srcId="{6F2C056D-264C-4385-B50E-21AD129DA748}" destId="{B2DADAC1-4DB5-4A30-A8EA-9759F94DF766}" srcOrd="0" destOrd="0" presId="urn:microsoft.com/office/officeart/2005/8/layout/hList9"/>
    <dgm:cxn modelId="{85C2B952-188A-4C6C-9AD3-B07B2CBDF64C}" type="presParOf" srcId="{6F2C056D-264C-4385-B50E-21AD129DA748}" destId="{487D9FF7-4A4E-4860-9129-F4978EF35467}" srcOrd="1" destOrd="0" presId="urn:microsoft.com/office/officeart/2005/8/layout/hList9"/>
    <dgm:cxn modelId="{C77295B0-4F55-45FD-B572-12DB23678A5A}" type="presParOf" srcId="{487D9FF7-4A4E-4860-9129-F4978EF35467}" destId="{E5392FA5-B016-4EE8-A8BB-235E87F0F5B9}" srcOrd="0" destOrd="0" presId="urn:microsoft.com/office/officeart/2005/8/layout/hList9"/>
    <dgm:cxn modelId="{4ED7728A-802F-455F-8452-D740CC696B2C}" type="presParOf" srcId="{487D9FF7-4A4E-4860-9129-F4978EF35467}" destId="{B7907D92-7E44-40D2-B263-162D93680976}" srcOrd="1" destOrd="0" presId="urn:microsoft.com/office/officeart/2005/8/layout/hList9"/>
    <dgm:cxn modelId="{7B26C7F1-892B-4068-B595-BDCE54A3A4B9}" type="presParOf" srcId="{B7907D92-7E44-40D2-B263-162D93680976}" destId="{7A769150-6793-4F90-A470-23873677C186}" srcOrd="0" destOrd="0" presId="urn:microsoft.com/office/officeart/2005/8/layout/hList9"/>
    <dgm:cxn modelId="{2D947366-7A6C-40CA-B944-7D8BF3933327}" type="presParOf" srcId="{B7907D92-7E44-40D2-B263-162D93680976}" destId="{C4E43B35-5C35-401D-A9E7-B5049FF7FB87}" srcOrd="1" destOrd="0" presId="urn:microsoft.com/office/officeart/2005/8/layout/hList9"/>
    <dgm:cxn modelId="{3DDA7F27-6BC5-4592-AA7F-E10709B65CA7}" type="presParOf" srcId="{6F2C056D-264C-4385-B50E-21AD129DA748}" destId="{161F74BF-8644-40D6-9FA1-7359D0B1AC15}" srcOrd="2" destOrd="0" presId="urn:microsoft.com/office/officeart/2005/8/layout/hList9"/>
    <dgm:cxn modelId="{E2326DAB-F826-4D1B-8E80-1E98CCFA0041}" type="presParOf" srcId="{6F2C056D-264C-4385-B50E-21AD129DA748}" destId="{582FC5B0-ABC0-497D-B4D4-E37459034AEA}" srcOrd="3" destOrd="0" presId="urn:microsoft.com/office/officeart/2005/8/layout/hList9"/>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67A6A8B2-CCF0-4339-A8DF-1CF78CBDE48D}" type="doc">
      <dgm:prSet loTypeId="urn:microsoft.com/office/officeart/2005/8/layout/vList2" loCatId="list" qsTypeId="urn:microsoft.com/office/officeart/2005/8/quickstyle/simple1" qsCatId="simple" csTypeId="urn:microsoft.com/office/officeart/2005/8/colors/accent1_1" csCatId="accent1" phldr="1"/>
      <dgm:spPr/>
      <dgm:t>
        <a:bodyPr/>
        <a:lstStyle/>
        <a:p>
          <a:endParaRPr lang="zh-CN" altLang="en-US"/>
        </a:p>
      </dgm:t>
    </dgm:pt>
    <dgm:pt modelId="{882E87D8-60C0-4AA4-8413-D092EEB55919}">
      <dgm:prSet>
        <dgm:style>
          <a:lnRef idx="2">
            <a:schemeClr val="accent5"/>
          </a:lnRef>
          <a:fillRef idx="1">
            <a:schemeClr val="lt1"/>
          </a:fillRef>
          <a:effectRef idx="0">
            <a:schemeClr val="accent5"/>
          </a:effectRef>
          <a:fontRef idx="minor">
            <a:schemeClr val="dk1"/>
          </a:fontRef>
        </dgm:style>
      </dgm:prSet>
      <dgm:spPr/>
      <dgm:t>
        <a:bodyPr/>
        <a:lstStyle/>
        <a:p>
          <a:r>
            <a:rPr lang="zh-CN" b="1" dirty="0"/>
            <a:t>多层</a:t>
          </a:r>
          <a:r>
            <a:rPr lang="en-US" b="1" dirty="0"/>
            <a:t>BOM/</a:t>
          </a:r>
          <a:r>
            <a:rPr lang="zh-CN" b="1" dirty="0"/>
            <a:t>供应链网络模型</a:t>
          </a:r>
          <a:endParaRPr lang="zh-CN" dirty="0"/>
        </a:p>
      </dgm:t>
    </dgm:pt>
    <dgm:pt modelId="{436C2F10-7F3F-463A-9844-A054FBC8E7E2}" type="parTrans" cxnId="{A3145416-6862-4CFD-AAA1-56EEEFD53993}">
      <dgm:prSet/>
      <dgm:spPr/>
      <dgm:t>
        <a:bodyPr/>
        <a:lstStyle/>
        <a:p>
          <a:endParaRPr lang="zh-CN" altLang="en-US"/>
        </a:p>
      </dgm:t>
    </dgm:pt>
    <dgm:pt modelId="{46AA4D38-70C2-47A9-AD95-DB42647E66CA}" type="sibTrans" cxnId="{A3145416-6862-4CFD-AAA1-56EEEFD53993}">
      <dgm:prSet/>
      <dgm:spPr/>
      <dgm:t>
        <a:bodyPr/>
        <a:lstStyle/>
        <a:p>
          <a:endParaRPr lang="zh-CN" altLang="en-US"/>
        </a:p>
      </dgm:t>
    </dgm:pt>
    <dgm:pt modelId="{1F019CB7-71F8-4B7C-9CE4-C5E2F9612687}">
      <dgm:prSet/>
      <dgm:spPr/>
      <dgm:t>
        <a:bodyPr/>
        <a:lstStyle/>
        <a:p>
          <a:r>
            <a:rPr lang="zh-CN" b="1"/>
            <a:t>约束规划模型</a:t>
          </a:r>
          <a:endParaRPr lang="zh-CN"/>
        </a:p>
      </dgm:t>
    </dgm:pt>
    <dgm:pt modelId="{5AB3FB35-7C52-4B76-A2FF-B9F3DD7B0838}" type="parTrans" cxnId="{1FB6345D-49CE-4813-B4CE-E82F867D7FA1}">
      <dgm:prSet/>
      <dgm:spPr/>
      <dgm:t>
        <a:bodyPr/>
        <a:lstStyle/>
        <a:p>
          <a:endParaRPr lang="zh-CN" altLang="en-US"/>
        </a:p>
      </dgm:t>
    </dgm:pt>
    <dgm:pt modelId="{B4114E95-BCAF-426C-989C-6D6ECD4A3220}" type="sibTrans" cxnId="{1FB6345D-49CE-4813-B4CE-E82F867D7FA1}">
      <dgm:prSet/>
      <dgm:spPr/>
      <dgm:t>
        <a:bodyPr/>
        <a:lstStyle/>
        <a:p>
          <a:endParaRPr lang="zh-CN" altLang="en-US"/>
        </a:p>
      </dgm:t>
    </dgm:pt>
    <dgm:pt modelId="{A417785F-8FDF-468E-BB01-443535D18D23}">
      <dgm:prSet/>
      <dgm:spPr/>
      <dgm:t>
        <a:bodyPr/>
        <a:lstStyle/>
        <a:p>
          <a:r>
            <a:rPr lang="zh-CN" b="1" dirty="0"/>
            <a:t>资源优化（交付又准又快）</a:t>
          </a:r>
          <a:endParaRPr lang="zh-CN" dirty="0"/>
        </a:p>
      </dgm:t>
    </dgm:pt>
    <dgm:pt modelId="{3B1C8CE9-9034-49EB-AB75-5584ED84898A}" type="parTrans" cxnId="{23726D7F-DBFC-4825-A086-F807106C12F2}">
      <dgm:prSet/>
      <dgm:spPr/>
      <dgm:t>
        <a:bodyPr/>
        <a:lstStyle/>
        <a:p>
          <a:endParaRPr lang="zh-CN" altLang="en-US"/>
        </a:p>
      </dgm:t>
    </dgm:pt>
    <dgm:pt modelId="{16C00073-17A6-45CE-843F-36169E8B1246}" type="sibTrans" cxnId="{23726D7F-DBFC-4825-A086-F807106C12F2}">
      <dgm:prSet/>
      <dgm:spPr/>
      <dgm:t>
        <a:bodyPr/>
        <a:lstStyle/>
        <a:p>
          <a:endParaRPr lang="zh-CN" altLang="en-US"/>
        </a:p>
      </dgm:t>
    </dgm:pt>
    <dgm:pt modelId="{CFF755EE-40FB-4EB9-9132-CAA3B7E241C0}">
      <dgm:prSet/>
      <dgm:spPr/>
      <dgm:t>
        <a:bodyPr/>
        <a:lstStyle/>
        <a:p>
          <a:r>
            <a:rPr lang="zh-CN" b="1"/>
            <a:t>并行规划</a:t>
          </a:r>
          <a:endParaRPr lang="zh-CN"/>
        </a:p>
      </dgm:t>
    </dgm:pt>
    <dgm:pt modelId="{AD71332D-2FF9-4896-A006-5A4734A1253E}" type="parTrans" cxnId="{C7D9F45B-EE9F-4320-8646-2C37B7A2A195}">
      <dgm:prSet/>
      <dgm:spPr/>
      <dgm:t>
        <a:bodyPr/>
        <a:lstStyle/>
        <a:p>
          <a:endParaRPr lang="zh-CN" altLang="en-US"/>
        </a:p>
      </dgm:t>
    </dgm:pt>
    <dgm:pt modelId="{51DAE7FA-7A8F-443C-8682-C7C2675EEF8F}" type="sibTrans" cxnId="{C7D9F45B-EE9F-4320-8646-2C37B7A2A195}">
      <dgm:prSet/>
      <dgm:spPr/>
      <dgm:t>
        <a:bodyPr/>
        <a:lstStyle/>
        <a:p>
          <a:endParaRPr lang="zh-CN" altLang="en-US"/>
        </a:p>
      </dgm:t>
    </dgm:pt>
    <dgm:pt modelId="{9F0112D4-F655-40E8-A2E2-9CB96AF334B4}">
      <dgm:prSet/>
      <dgm:spPr/>
      <dgm:t>
        <a:bodyPr/>
        <a:lstStyle/>
        <a:p>
          <a:r>
            <a:rPr lang="zh-CN" b="1"/>
            <a:t>维度规划（特配）</a:t>
          </a:r>
          <a:endParaRPr lang="zh-CN"/>
        </a:p>
      </dgm:t>
    </dgm:pt>
    <dgm:pt modelId="{37035F6E-0A81-4226-B2D7-5E53E9FCD64D}" type="parTrans" cxnId="{6D071919-A560-4245-BA46-42541297CCE2}">
      <dgm:prSet/>
      <dgm:spPr/>
      <dgm:t>
        <a:bodyPr/>
        <a:lstStyle/>
        <a:p>
          <a:endParaRPr lang="zh-CN" altLang="en-US"/>
        </a:p>
      </dgm:t>
    </dgm:pt>
    <dgm:pt modelId="{C02327E4-1B05-4B84-9EAA-BC3DE3072452}" type="sibTrans" cxnId="{6D071919-A560-4245-BA46-42541297CCE2}">
      <dgm:prSet/>
      <dgm:spPr/>
      <dgm:t>
        <a:bodyPr/>
        <a:lstStyle/>
        <a:p>
          <a:endParaRPr lang="zh-CN" altLang="en-US"/>
        </a:p>
      </dgm:t>
    </dgm:pt>
    <dgm:pt modelId="{9D9EBDD7-214D-4E20-A3AB-62D1BF921C1A}">
      <dgm:prSet/>
      <dgm:spPr/>
      <dgm:t>
        <a:bodyPr/>
        <a:lstStyle/>
        <a:p>
          <a:r>
            <a:rPr lang="en-US" b="1"/>
            <a:t>Netting</a:t>
          </a:r>
          <a:r>
            <a:rPr lang="zh-CN" b="1"/>
            <a:t> 不受层级影响</a:t>
          </a:r>
          <a:endParaRPr lang="zh-CN"/>
        </a:p>
      </dgm:t>
    </dgm:pt>
    <dgm:pt modelId="{33CB6682-84E3-4886-8C02-BB0B6560354A}" type="parTrans" cxnId="{5F2BCE55-1963-41D3-B090-9B0BBFAB1104}">
      <dgm:prSet/>
      <dgm:spPr/>
      <dgm:t>
        <a:bodyPr/>
        <a:lstStyle/>
        <a:p>
          <a:endParaRPr lang="zh-CN" altLang="en-US"/>
        </a:p>
      </dgm:t>
    </dgm:pt>
    <dgm:pt modelId="{17CA9656-9ADF-4779-8666-E415033B69FD}" type="sibTrans" cxnId="{5F2BCE55-1963-41D3-B090-9B0BBFAB1104}">
      <dgm:prSet/>
      <dgm:spPr/>
      <dgm:t>
        <a:bodyPr/>
        <a:lstStyle/>
        <a:p>
          <a:endParaRPr lang="zh-CN" altLang="en-US"/>
        </a:p>
      </dgm:t>
    </dgm:pt>
    <dgm:pt modelId="{94FDEC69-500A-4985-82F1-0655827288A9}">
      <dgm:prSet/>
      <dgm:spPr/>
      <dgm:t>
        <a:bodyPr/>
        <a:lstStyle/>
        <a:p>
          <a:r>
            <a:rPr lang="zh-CN" b="1"/>
            <a:t>替代</a:t>
          </a:r>
          <a:endParaRPr lang="zh-CN"/>
        </a:p>
      </dgm:t>
    </dgm:pt>
    <dgm:pt modelId="{3B8CD2B1-1B0D-4C3A-8237-AAD44C0E0400}" type="parTrans" cxnId="{B43C8466-1A15-430F-BE8C-7A9B39F4A0E7}">
      <dgm:prSet/>
      <dgm:spPr/>
      <dgm:t>
        <a:bodyPr/>
        <a:lstStyle/>
        <a:p>
          <a:endParaRPr lang="zh-CN" altLang="en-US"/>
        </a:p>
      </dgm:t>
    </dgm:pt>
    <dgm:pt modelId="{789C8F1F-BAEB-48A3-BFDE-6CCC37C6751F}" type="sibTrans" cxnId="{B43C8466-1A15-430F-BE8C-7A9B39F4A0E7}">
      <dgm:prSet/>
      <dgm:spPr/>
      <dgm:t>
        <a:bodyPr/>
        <a:lstStyle/>
        <a:p>
          <a:endParaRPr lang="zh-CN" altLang="en-US"/>
        </a:p>
      </dgm:t>
    </dgm:pt>
    <dgm:pt modelId="{8F26177B-4EE8-43D2-A7D4-4BD74DD5122F}">
      <dgm:prSet/>
      <dgm:spPr/>
      <dgm:t>
        <a:bodyPr/>
        <a:lstStyle/>
        <a:p>
          <a:r>
            <a:rPr lang="zh-CN" b="1"/>
            <a:t>替换</a:t>
          </a:r>
          <a:endParaRPr lang="zh-CN"/>
        </a:p>
      </dgm:t>
    </dgm:pt>
    <dgm:pt modelId="{A248514F-E8CD-4EFB-A182-90F85400A5D7}" type="parTrans" cxnId="{9C7598FF-021F-41E1-92A9-A9129A941BBF}">
      <dgm:prSet/>
      <dgm:spPr/>
      <dgm:t>
        <a:bodyPr/>
        <a:lstStyle/>
        <a:p>
          <a:endParaRPr lang="zh-CN" altLang="en-US"/>
        </a:p>
      </dgm:t>
    </dgm:pt>
    <dgm:pt modelId="{92C15EAC-B31B-40D0-B8D3-4EE5F8EAFBCE}" type="sibTrans" cxnId="{9C7598FF-021F-41E1-92A9-A9129A941BBF}">
      <dgm:prSet/>
      <dgm:spPr/>
      <dgm:t>
        <a:bodyPr/>
        <a:lstStyle/>
        <a:p>
          <a:endParaRPr lang="zh-CN" altLang="en-US"/>
        </a:p>
      </dgm:t>
    </dgm:pt>
    <dgm:pt modelId="{DD69224D-73F1-49EA-8EDC-286078F7371E}">
      <dgm:prSet/>
      <dgm:spPr/>
      <dgm:t>
        <a:bodyPr/>
        <a:lstStyle/>
        <a:p>
          <a:r>
            <a:rPr lang="zh-CN" b="1"/>
            <a:t>轮式生产</a:t>
          </a:r>
          <a:endParaRPr lang="zh-CN"/>
        </a:p>
      </dgm:t>
    </dgm:pt>
    <dgm:pt modelId="{D99F4D8D-B307-4517-B5B1-A39BF4264A9B}" type="parTrans" cxnId="{07DD1881-3A36-4625-BAD8-9BDE8EE4D1D8}">
      <dgm:prSet/>
      <dgm:spPr/>
      <dgm:t>
        <a:bodyPr/>
        <a:lstStyle/>
        <a:p>
          <a:endParaRPr lang="zh-CN" altLang="en-US"/>
        </a:p>
      </dgm:t>
    </dgm:pt>
    <dgm:pt modelId="{FB6893B2-9378-40CF-BCEC-C3A12E19EC7A}" type="sibTrans" cxnId="{07DD1881-3A36-4625-BAD8-9BDE8EE4D1D8}">
      <dgm:prSet/>
      <dgm:spPr/>
      <dgm:t>
        <a:bodyPr/>
        <a:lstStyle/>
        <a:p>
          <a:endParaRPr lang="zh-CN" altLang="en-US"/>
        </a:p>
      </dgm:t>
    </dgm:pt>
    <dgm:pt modelId="{A99D32A6-0C76-49A1-9E42-BA3990128AC9}">
      <dgm:prSet/>
      <dgm:spPr/>
      <dgm:t>
        <a:bodyPr/>
        <a:lstStyle/>
        <a:p>
          <a:r>
            <a:rPr lang="zh-CN" b="1"/>
            <a:t>活动规划</a:t>
          </a:r>
          <a:endParaRPr lang="zh-CN"/>
        </a:p>
      </dgm:t>
    </dgm:pt>
    <dgm:pt modelId="{F6645403-44A9-4495-938E-D7B52482DE33}" type="parTrans" cxnId="{68BB94DA-77E7-4D24-8026-A4AF51AD2C42}">
      <dgm:prSet/>
      <dgm:spPr/>
      <dgm:t>
        <a:bodyPr/>
        <a:lstStyle/>
        <a:p>
          <a:endParaRPr lang="zh-CN" altLang="en-US"/>
        </a:p>
      </dgm:t>
    </dgm:pt>
    <dgm:pt modelId="{93DE3B02-2A4B-4C42-A0A9-27F0522775A9}" type="sibTrans" cxnId="{68BB94DA-77E7-4D24-8026-A4AF51AD2C42}">
      <dgm:prSet/>
      <dgm:spPr/>
      <dgm:t>
        <a:bodyPr/>
        <a:lstStyle/>
        <a:p>
          <a:endParaRPr lang="zh-CN" altLang="en-US"/>
        </a:p>
      </dgm:t>
    </dgm:pt>
    <dgm:pt modelId="{B589AA41-901A-43A9-8924-FFC797AFC4C7}">
      <dgm:prSet/>
      <dgm:spPr/>
      <dgm:t>
        <a:bodyPr/>
        <a:lstStyle/>
        <a:p>
          <a:r>
            <a:rPr lang="zh-CN" b="1"/>
            <a:t>统计预测</a:t>
          </a:r>
          <a:endParaRPr lang="zh-CN"/>
        </a:p>
      </dgm:t>
    </dgm:pt>
    <dgm:pt modelId="{6A952CCE-4B13-415B-BB17-5CA6F993F70C}" type="parTrans" cxnId="{B27897F8-87CE-42EF-B565-97E4A76CF728}">
      <dgm:prSet/>
      <dgm:spPr/>
      <dgm:t>
        <a:bodyPr/>
        <a:lstStyle/>
        <a:p>
          <a:endParaRPr lang="zh-CN" altLang="en-US"/>
        </a:p>
      </dgm:t>
    </dgm:pt>
    <dgm:pt modelId="{72677661-4C4E-4C0B-BCE7-3F1A5BF62401}" type="sibTrans" cxnId="{B27897F8-87CE-42EF-B565-97E4A76CF728}">
      <dgm:prSet/>
      <dgm:spPr/>
      <dgm:t>
        <a:bodyPr/>
        <a:lstStyle/>
        <a:p>
          <a:endParaRPr lang="zh-CN" altLang="en-US"/>
        </a:p>
      </dgm:t>
    </dgm:pt>
    <dgm:pt modelId="{5F377136-F7BD-4231-84A5-2644E14B801A}">
      <dgm:prSet/>
      <dgm:spPr/>
      <dgm:t>
        <a:bodyPr/>
        <a:lstStyle/>
        <a:p>
          <a:r>
            <a:rPr lang="zh-CN" b="1"/>
            <a:t>事件管理</a:t>
          </a:r>
          <a:endParaRPr lang="zh-CN"/>
        </a:p>
      </dgm:t>
    </dgm:pt>
    <dgm:pt modelId="{C1688560-F58F-4E6D-AEC2-4E9DE2F38865}" type="parTrans" cxnId="{C25E56E2-9DF9-4514-BAAF-7D599B3D7FD0}">
      <dgm:prSet/>
      <dgm:spPr/>
      <dgm:t>
        <a:bodyPr/>
        <a:lstStyle/>
        <a:p>
          <a:endParaRPr lang="zh-CN" altLang="en-US"/>
        </a:p>
      </dgm:t>
    </dgm:pt>
    <dgm:pt modelId="{DE814FC7-3FE8-4AFB-BD5D-798CFF577BA6}" type="sibTrans" cxnId="{C25E56E2-9DF9-4514-BAAF-7D599B3D7FD0}">
      <dgm:prSet/>
      <dgm:spPr/>
      <dgm:t>
        <a:bodyPr/>
        <a:lstStyle/>
        <a:p>
          <a:endParaRPr lang="zh-CN" altLang="en-US"/>
        </a:p>
      </dgm:t>
    </dgm:pt>
    <dgm:pt modelId="{FE5435FF-171D-4BC5-888B-E5173FC7C131}">
      <dgm:prSet/>
      <dgm:spPr/>
      <dgm:t>
        <a:bodyPr/>
        <a:lstStyle/>
        <a:p>
          <a:r>
            <a:rPr lang="en-US" b="1"/>
            <a:t>IPO</a:t>
          </a:r>
          <a:endParaRPr lang="zh-CN"/>
        </a:p>
      </dgm:t>
    </dgm:pt>
    <dgm:pt modelId="{2CE77EF4-0A95-466D-9338-F5234DF3674F}" type="parTrans" cxnId="{16417308-C7F8-49C7-920B-5863292490CA}">
      <dgm:prSet/>
      <dgm:spPr/>
      <dgm:t>
        <a:bodyPr/>
        <a:lstStyle/>
        <a:p>
          <a:endParaRPr lang="zh-CN" altLang="en-US"/>
        </a:p>
      </dgm:t>
    </dgm:pt>
    <dgm:pt modelId="{CAA8D94A-5357-4CA6-ACFF-559ABAB31C15}" type="sibTrans" cxnId="{16417308-C7F8-49C7-920B-5863292490CA}">
      <dgm:prSet/>
      <dgm:spPr/>
      <dgm:t>
        <a:bodyPr/>
        <a:lstStyle/>
        <a:p>
          <a:endParaRPr lang="zh-CN" altLang="en-US"/>
        </a:p>
      </dgm:t>
    </dgm:pt>
    <dgm:pt modelId="{6FF006D1-C39C-4717-B06B-574725306585}">
      <dgm:prSet/>
      <dgm:spPr/>
      <dgm:t>
        <a:bodyPr/>
        <a:lstStyle/>
        <a:p>
          <a:r>
            <a:rPr lang="en-US" b="1"/>
            <a:t>……..</a:t>
          </a:r>
          <a:endParaRPr lang="zh-CN"/>
        </a:p>
      </dgm:t>
    </dgm:pt>
    <dgm:pt modelId="{E21813B0-8989-4E6B-B7D0-8FAA373DFA71}" type="parTrans" cxnId="{7938B6DF-6BF2-4B8B-819F-BAC0083AAF56}">
      <dgm:prSet/>
      <dgm:spPr/>
      <dgm:t>
        <a:bodyPr/>
        <a:lstStyle/>
        <a:p>
          <a:endParaRPr lang="zh-CN" altLang="en-US"/>
        </a:p>
      </dgm:t>
    </dgm:pt>
    <dgm:pt modelId="{99B92FB9-9A59-4CDD-B6DE-E40B38205787}" type="sibTrans" cxnId="{7938B6DF-6BF2-4B8B-819F-BAC0083AAF56}">
      <dgm:prSet/>
      <dgm:spPr/>
      <dgm:t>
        <a:bodyPr/>
        <a:lstStyle/>
        <a:p>
          <a:endParaRPr lang="zh-CN" altLang="en-US"/>
        </a:p>
      </dgm:t>
    </dgm:pt>
    <dgm:pt modelId="{9A6AF0DD-0527-424F-8961-BFCB153E477C}" type="pres">
      <dgm:prSet presAssocID="{67A6A8B2-CCF0-4339-A8DF-1CF78CBDE48D}" presName="linear" presStyleCnt="0">
        <dgm:presLayoutVars>
          <dgm:animLvl val="lvl"/>
          <dgm:resizeHandles val="exact"/>
        </dgm:presLayoutVars>
      </dgm:prSet>
      <dgm:spPr/>
    </dgm:pt>
    <dgm:pt modelId="{550F70C3-D30C-4C35-AF64-F9673D200FC0}" type="pres">
      <dgm:prSet presAssocID="{882E87D8-60C0-4AA4-8413-D092EEB55919}" presName="parentText" presStyleLbl="node1" presStyleIdx="0" presStyleCnt="14">
        <dgm:presLayoutVars>
          <dgm:chMax val="0"/>
          <dgm:bulletEnabled val="1"/>
        </dgm:presLayoutVars>
      </dgm:prSet>
      <dgm:spPr/>
    </dgm:pt>
    <dgm:pt modelId="{996A9508-8537-4D1F-8E20-B72D9BDC7046}" type="pres">
      <dgm:prSet presAssocID="{46AA4D38-70C2-47A9-AD95-DB42647E66CA}" presName="spacer" presStyleCnt="0"/>
      <dgm:spPr/>
    </dgm:pt>
    <dgm:pt modelId="{CD247634-9554-498C-BE37-91212D2A3B0F}" type="pres">
      <dgm:prSet presAssocID="{1F019CB7-71F8-4B7C-9CE4-C5E2F9612687}" presName="parentText" presStyleLbl="node1" presStyleIdx="1" presStyleCnt="14">
        <dgm:presLayoutVars>
          <dgm:chMax val="0"/>
          <dgm:bulletEnabled val="1"/>
        </dgm:presLayoutVars>
      </dgm:prSet>
      <dgm:spPr/>
    </dgm:pt>
    <dgm:pt modelId="{7E4730D6-D878-4C33-AEC7-A40DEF5C10CC}" type="pres">
      <dgm:prSet presAssocID="{B4114E95-BCAF-426C-989C-6D6ECD4A3220}" presName="spacer" presStyleCnt="0"/>
      <dgm:spPr/>
    </dgm:pt>
    <dgm:pt modelId="{A038F8F5-77A0-47AD-A897-0B0CD8D289E4}" type="pres">
      <dgm:prSet presAssocID="{A417785F-8FDF-468E-BB01-443535D18D23}" presName="parentText" presStyleLbl="node1" presStyleIdx="2" presStyleCnt="14">
        <dgm:presLayoutVars>
          <dgm:chMax val="0"/>
          <dgm:bulletEnabled val="1"/>
        </dgm:presLayoutVars>
      </dgm:prSet>
      <dgm:spPr/>
    </dgm:pt>
    <dgm:pt modelId="{FE2567A0-72F0-43C0-9A6B-423E0BBC4CE4}" type="pres">
      <dgm:prSet presAssocID="{16C00073-17A6-45CE-843F-36169E8B1246}" presName="spacer" presStyleCnt="0"/>
      <dgm:spPr/>
    </dgm:pt>
    <dgm:pt modelId="{BE7D2233-A841-42D2-8E7C-77114253376E}" type="pres">
      <dgm:prSet presAssocID="{CFF755EE-40FB-4EB9-9132-CAA3B7E241C0}" presName="parentText" presStyleLbl="node1" presStyleIdx="3" presStyleCnt="14">
        <dgm:presLayoutVars>
          <dgm:chMax val="0"/>
          <dgm:bulletEnabled val="1"/>
        </dgm:presLayoutVars>
      </dgm:prSet>
      <dgm:spPr/>
    </dgm:pt>
    <dgm:pt modelId="{494EF973-C631-4D9C-9897-34BFF72A3B15}" type="pres">
      <dgm:prSet presAssocID="{51DAE7FA-7A8F-443C-8682-C7C2675EEF8F}" presName="spacer" presStyleCnt="0"/>
      <dgm:spPr/>
    </dgm:pt>
    <dgm:pt modelId="{9872B357-9E6A-4568-8B9A-296932A2DF5E}" type="pres">
      <dgm:prSet presAssocID="{9F0112D4-F655-40E8-A2E2-9CB96AF334B4}" presName="parentText" presStyleLbl="node1" presStyleIdx="4" presStyleCnt="14">
        <dgm:presLayoutVars>
          <dgm:chMax val="0"/>
          <dgm:bulletEnabled val="1"/>
        </dgm:presLayoutVars>
      </dgm:prSet>
      <dgm:spPr/>
    </dgm:pt>
    <dgm:pt modelId="{2661E5CE-A569-4358-BA47-B9C43F75AAE3}" type="pres">
      <dgm:prSet presAssocID="{C02327E4-1B05-4B84-9EAA-BC3DE3072452}" presName="spacer" presStyleCnt="0"/>
      <dgm:spPr/>
    </dgm:pt>
    <dgm:pt modelId="{D7CAAEFE-D108-4985-ABF9-F1F4464C8C49}" type="pres">
      <dgm:prSet presAssocID="{9D9EBDD7-214D-4E20-A3AB-62D1BF921C1A}" presName="parentText" presStyleLbl="node1" presStyleIdx="5" presStyleCnt="14">
        <dgm:presLayoutVars>
          <dgm:chMax val="0"/>
          <dgm:bulletEnabled val="1"/>
        </dgm:presLayoutVars>
      </dgm:prSet>
      <dgm:spPr/>
    </dgm:pt>
    <dgm:pt modelId="{9C7D084E-A281-4D4F-8B3C-BA96DC2296B7}" type="pres">
      <dgm:prSet presAssocID="{17CA9656-9ADF-4779-8666-E415033B69FD}" presName="spacer" presStyleCnt="0"/>
      <dgm:spPr/>
    </dgm:pt>
    <dgm:pt modelId="{FA03B592-C149-463E-B120-D7C8486E4AD3}" type="pres">
      <dgm:prSet presAssocID="{94FDEC69-500A-4985-82F1-0655827288A9}" presName="parentText" presStyleLbl="node1" presStyleIdx="6" presStyleCnt="14">
        <dgm:presLayoutVars>
          <dgm:chMax val="0"/>
          <dgm:bulletEnabled val="1"/>
        </dgm:presLayoutVars>
      </dgm:prSet>
      <dgm:spPr/>
    </dgm:pt>
    <dgm:pt modelId="{51790291-E3CD-4638-AB4D-2964D8FF15FD}" type="pres">
      <dgm:prSet presAssocID="{789C8F1F-BAEB-48A3-BFDE-6CCC37C6751F}" presName="spacer" presStyleCnt="0"/>
      <dgm:spPr/>
    </dgm:pt>
    <dgm:pt modelId="{B9F99895-A011-4114-BC43-30F9E3794FF1}" type="pres">
      <dgm:prSet presAssocID="{8F26177B-4EE8-43D2-A7D4-4BD74DD5122F}" presName="parentText" presStyleLbl="node1" presStyleIdx="7" presStyleCnt="14">
        <dgm:presLayoutVars>
          <dgm:chMax val="0"/>
          <dgm:bulletEnabled val="1"/>
        </dgm:presLayoutVars>
      </dgm:prSet>
      <dgm:spPr/>
    </dgm:pt>
    <dgm:pt modelId="{E4DDD135-9466-40D6-87D2-480098E21146}" type="pres">
      <dgm:prSet presAssocID="{92C15EAC-B31B-40D0-B8D3-4EE5F8EAFBCE}" presName="spacer" presStyleCnt="0"/>
      <dgm:spPr/>
    </dgm:pt>
    <dgm:pt modelId="{FFC7B5E4-9DAC-4261-9693-C89053EE518C}" type="pres">
      <dgm:prSet presAssocID="{DD69224D-73F1-49EA-8EDC-286078F7371E}" presName="parentText" presStyleLbl="node1" presStyleIdx="8" presStyleCnt="14">
        <dgm:presLayoutVars>
          <dgm:chMax val="0"/>
          <dgm:bulletEnabled val="1"/>
        </dgm:presLayoutVars>
      </dgm:prSet>
      <dgm:spPr/>
    </dgm:pt>
    <dgm:pt modelId="{5EE5942F-0E28-4279-BF88-161B2C359F4D}" type="pres">
      <dgm:prSet presAssocID="{FB6893B2-9378-40CF-BCEC-C3A12E19EC7A}" presName="spacer" presStyleCnt="0"/>
      <dgm:spPr/>
    </dgm:pt>
    <dgm:pt modelId="{D0A147BF-A3B2-45D4-AF88-EC6C04DC3738}" type="pres">
      <dgm:prSet presAssocID="{A99D32A6-0C76-49A1-9E42-BA3990128AC9}" presName="parentText" presStyleLbl="node1" presStyleIdx="9" presStyleCnt="14">
        <dgm:presLayoutVars>
          <dgm:chMax val="0"/>
          <dgm:bulletEnabled val="1"/>
        </dgm:presLayoutVars>
      </dgm:prSet>
      <dgm:spPr/>
    </dgm:pt>
    <dgm:pt modelId="{75967E46-2E43-4BF5-9895-287EFCB461C1}" type="pres">
      <dgm:prSet presAssocID="{93DE3B02-2A4B-4C42-A0A9-27F0522775A9}" presName="spacer" presStyleCnt="0"/>
      <dgm:spPr/>
    </dgm:pt>
    <dgm:pt modelId="{1F3D5E55-9788-49DA-8B3D-5E0B7C0EE016}" type="pres">
      <dgm:prSet presAssocID="{B589AA41-901A-43A9-8924-FFC797AFC4C7}" presName="parentText" presStyleLbl="node1" presStyleIdx="10" presStyleCnt="14">
        <dgm:presLayoutVars>
          <dgm:chMax val="0"/>
          <dgm:bulletEnabled val="1"/>
        </dgm:presLayoutVars>
      </dgm:prSet>
      <dgm:spPr/>
    </dgm:pt>
    <dgm:pt modelId="{23687DE5-1A3D-476B-B1AD-B373FCD10DA1}" type="pres">
      <dgm:prSet presAssocID="{72677661-4C4E-4C0B-BCE7-3F1A5BF62401}" presName="spacer" presStyleCnt="0"/>
      <dgm:spPr/>
    </dgm:pt>
    <dgm:pt modelId="{B3B84285-1A83-481E-AB88-DA5E7C4CA469}" type="pres">
      <dgm:prSet presAssocID="{5F377136-F7BD-4231-84A5-2644E14B801A}" presName="parentText" presStyleLbl="node1" presStyleIdx="11" presStyleCnt="14">
        <dgm:presLayoutVars>
          <dgm:chMax val="0"/>
          <dgm:bulletEnabled val="1"/>
        </dgm:presLayoutVars>
      </dgm:prSet>
      <dgm:spPr/>
    </dgm:pt>
    <dgm:pt modelId="{47DCBF58-260D-4F29-86B3-21872B8D5200}" type="pres">
      <dgm:prSet presAssocID="{DE814FC7-3FE8-4AFB-BD5D-798CFF577BA6}" presName="spacer" presStyleCnt="0"/>
      <dgm:spPr/>
    </dgm:pt>
    <dgm:pt modelId="{190919D8-2780-4432-80EA-D95112C44AD1}" type="pres">
      <dgm:prSet presAssocID="{FE5435FF-171D-4BC5-888B-E5173FC7C131}" presName="parentText" presStyleLbl="node1" presStyleIdx="12" presStyleCnt="14">
        <dgm:presLayoutVars>
          <dgm:chMax val="0"/>
          <dgm:bulletEnabled val="1"/>
        </dgm:presLayoutVars>
      </dgm:prSet>
      <dgm:spPr/>
    </dgm:pt>
    <dgm:pt modelId="{CD83A21F-B3A1-4F22-8FDB-ECEE8B1D9B35}" type="pres">
      <dgm:prSet presAssocID="{CAA8D94A-5357-4CA6-ACFF-559ABAB31C15}" presName="spacer" presStyleCnt="0"/>
      <dgm:spPr/>
    </dgm:pt>
    <dgm:pt modelId="{C9B91EF6-1B4F-4951-BBF5-73A5E9CCCB99}" type="pres">
      <dgm:prSet presAssocID="{6FF006D1-C39C-4717-B06B-574725306585}" presName="parentText" presStyleLbl="node1" presStyleIdx="13" presStyleCnt="14">
        <dgm:presLayoutVars>
          <dgm:chMax val="0"/>
          <dgm:bulletEnabled val="1"/>
        </dgm:presLayoutVars>
      </dgm:prSet>
      <dgm:spPr/>
    </dgm:pt>
  </dgm:ptLst>
  <dgm:cxnLst>
    <dgm:cxn modelId="{16417308-C7F8-49C7-920B-5863292490CA}" srcId="{67A6A8B2-CCF0-4339-A8DF-1CF78CBDE48D}" destId="{FE5435FF-171D-4BC5-888B-E5173FC7C131}" srcOrd="12" destOrd="0" parTransId="{2CE77EF4-0A95-466D-9338-F5234DF3674F}" sibTransId="{CAA8D94A-5357-4CA6-ACFF-559ABAB31C15}"/>
    <dgm:cxn modelId="{6C04D012-A3EC-4CAF-AABD-5E0C9A3BDF28}" type="presOf" srcId="{94FDEC69-500A-4985-82F1-0655827288A9}" destId="{FA03B592-C149-463E-B120-D7C8486E4AD3}" srcOrd="0" destOrd="0" presId="urn:microsoft.com/office/officeart/2005/8/layout/vList2"/>
    <dgm:cxn modelId="{7D38FE12-DE65-4D73-A833-127528635DD3}" type="presOf" srcId="{A99D32A6-0C76-49A1-9E42-BA3990128AC9}" destId="{D0A147BF-A3B2-45D4-AF88-EC6C04DC3738}" srcOrd="0" destOrd="0" presId="urn:microsoft.com/office/officeart/2005/8/layout/vList2"/>
    <dgm:cxn modelId="{A3145416-6862-4CFD-AAA1-56EEEFD53993}" srcId="{67A6A8B2-CCF0-4339-A8DF-1CF78CBDE48D}" destId="{882E87D8-60C0-4AA4-8413-D092EEB55919}" srcOrd="0" destOrd="0" parTransId="{436C2F10-7F3F-463A-9844-A054FBC8E7E2}" sibTransId="{46AA4D38-70C2-47A9-AD95-DB42647E66CA}"/>
    <dgm:cxn modelId="{6D071919-A560-4245-BA46-42541297CCE2}" srcId="{67A6A8B2-CCF0-4339-A8DF-1CF78CBDE48D}" destId="{9F0112D4-F655-40E8-A2E2-9CB96AF334B4}" srcOrd="4" destOrd="0" parTransId="{37035F6E-0A81-4226-B2D7-5E53E9FCD64D}" sibTransId="{C02327E4-1B05-4B84-9EAA-BC3DE3072452}"/>
    <dgm:cxn modelId="{32CB0824-A415-48EC-9EE7-1D574276FBA4}" type="presOf" srcId="{B589AA41-901A-43A9-8924-FFC797AFC4C7}" destId="{1F3D5E55-9788-49DA-8B3D-5E0B7C0EE016}" srcOrd="0" destOrd="0" presId="urn:microsoft.com/office/officeart/2005/8/layout/vList2"/>
    <dgm:cxn modelId="{BE6CCD2C-E9DD-4108-8A66-2A97F1154DB1}" type="presOf" srcId="{67A6A8B2-CCF0-4339-A8DF-1CF78CBDE48D}" destId="{9A6AF0DD-0527-424F-8961-BFCB153E477C}" srcOrd="0" destOrd="0" presId="urn:microsoft.com/office/officeart/2005/8/layout/vList2"/>
    <dgm:cxn modelId="{6182E733-60E7-4796-83EF-0332794CF42B}" type="presOf" srcId="{DD69224D-73F1-49EA-8EDC-286078F7371E}" destId="{FFC7B5E4-9DAC-4261-9693-C89053EE518C}" srcOrd="0" destOrd="0" presId="urn:microsoft.com/office/officeart/2005/8/layout/vList2"/>
    <dgm:cxn modelId="{9885BD39-E051-453C-8142-D1B140414C07}" type="presOf" srcId="{1F019CB7-71F8-4B7C-9CE4-C5E2F9612687}" destId="{CD247634-9554-498C-BE37-91212D2A3B0F}" srcOrd="0" destOrd="0" presId="urn:microsoft.com/office/officeart/2005/8/layout/vList2"/>
    <dgm:cxn modelId="{C7D9F45B-EE9F-4320-8646-2C37B7A2A195}" srcId="{67A6A8B2-CCF0-4339-A8DF-1CF78CBDE48D}" destId="{CFF755EE-40FB-4EB9-9132-CAA3B7E241C0}" srcOrd="3" destOrd="0" parTransId="{AD71332D-2FF9-4896-A006-5A4734A1253E}" sibTransId="{51DAE7FA-7A8F-443C-8682-C7C2675EEF8F}"/>
    <dgm:cxn modelId="{1FB6345D-49CE-4813-B4CE-E82F867D7FA1}" srcId="{67A6A8B2-CCF0-4339-A8DF-1CF78CBDE48D}" destId="{1F019CB7-71F8-4B7C-9CE4-C5E2F9612687}" srcOrd="1" destOrd="0" parTransId="{5AB3FB35-7C52-4B76-A2FF-B9F3DD7B0838}" sibTransId="{B4114E95-BCAF-426C-989C-6D6ECD4A3220}"/>
    <dgm:cxn modelId="{B43C8466-1A15-430F-BE8C-7A9B39F4A0E7}" srcId="{67A6A8B2-CCF0-4339-A8DF-1CF78CBDE48D}" destId="{94FDEC69-500A-4985-82F1-0655827288A9}" srcOrd="6" destOrd="0" parTransId="{3B8CD2B1-1B0D-4C3A-8237-AAD44C0E0400}" sibTransId="{789C8F1F-BAEB-48A3-BFDE-6CCC37C6751F}"/>
    <dgm:cxn modelId="{02ED4E6A-1561-4D96-92B0-4D6F514D240B}" type="presOf" srcId="{5F377136-F7BD-4231-84A5-2644E14B801A}" destId="{B3B84285-1A83-481E-AB88-DA5E7C4CA469}" srcOrd="0" destOrd="0" presId="urn:microsoft.com/office/officeart/2005/8/layout/vList2"/>
    <dgm:cxn modelId="{F0BBA370-4946-42B0-A9D2-2CF178CD3743}" type="presOf" srcId="{9F0112D4-F655-40E8-A2E2-9CB96AF334B4}" destId="{9872B357-9E6A-4568-8B9A-296932A2DF5E}" srcOrd="0" destOrd="0" presId="urn:microsoft.com/office/officeart/2005/8/layout/vList2"/>
    <dgm:cxn modelId="{0D1D3954-3EA4-4A5C-A80A-5C33701A90D6}" type="presOf" srcId="{882E87D8-60C0-4AA4-8413-D092EEB55919}" destId="{550F70C3-D30C-4C35-AF64-F9673D200FC0}" srcOrd="0" destOrd="0" presId="urn:microsoft.com/office/officeart/2005/8/layout/vList2"/>
    <dgm:cxn modelId="{5F2BCE55-1963-41D3-B090-9B0BBFAB1104}" srcId="{67A6A8B2-CCF0-4339-A8DF-1CF78CBDE48D}" destId="{9D9EBDD7-214D-4E20-A3AB-62D1BF921C1A}" srcOrd="5" destOrd="0" parTransId="{33CB6682-84E3-4886-8C02-BB0B6560354A}" sibTransId="{17CA9656-9ADF-4779-8666-E415033B69FD}"/>
    <dgm:cxn modelId="{E8A6427C-6E20-4B0E-A0B9-6E0114344F39}" type="presOf" srcId="{FE5435FF-171D-4BC5-888B-E5173FC7C131}" destId="{190919D8-2780-4432-80EA-D95112C44AD1}" srcOrd="0" destOrd="0" presId="urn:microsoft.com/office/officeart/2005/8/layout/vList2"/>
    <dgm:cxn modelId="{23726D7F-DBFC-4825-A086-F807106C12F2}" srcId="{67A6A8B2-CCF0-4339-A8DF-1CF78CBDE48D}" destId="{A417785F-8FDF-468E-BB01-443535D18D23}" srcOrd="2" destOrd="0" parTransId="{3B1C8CE9-9034-49EB-AB75-5584ED84898A}" sibTransId="{16C00073-17A6-45CE-843F-36169E8B1246}"/>
    <dgm:cxn modelId="{07DD1881-3A36-4625-BAD8-9BDE8EE4D1D8}" srcId="{67A6A8B2-CCF0-4339-A8DF-1CF78CBDE48D}" destId="{DD69224D-73F1-49EA-8EDC-286078F7371E}" srcOrd="8" destOrd="0" parTransId="{D99F4D8D-B307-4517-B5B1-A39BF4264A9B}" sibTransId="{FB6893B2-9378-40CF-BCEC-C3A12E19EC7A}"/>
    <dgm:cxn modelId="{B8A2129A-8D1E-4F25-BF45-D518080CB0EB}" type="presOf" srcId="{9D9EBDD7-214D-4E20-A3AB-62D1BF921C1A}" destId="{D7CAAEFE-D108-4985-ABF9-F1F4464C8C49}" srcOrd="0" destOrd="0" presId="urn:microsoft.com/office/officeart/2005/8/layout/vList2"/>
    <dgm:cxn modelId="{2BD343C0-CC96-479F-BF2B-CBB99BFB3B43}" type="presOf" srcId="{CFF755EE-40FB-4EB9-9132-CAA3B7E241C0}" destId="{BE7D2233-A841-42D2-8E7C-77114253376E}" srcOrd="0" destOrd="0" presId="urn:microsoft.com/office/officeart/2005/8/layout/vList2"/>
    <dgm:cxn modelId="{3D04C0D4-2F52-4315-A825-7CEF29887C90}" type="presOf" srcId="{6FF006D1-C39C-4717-B06B-574725306585}" destId="{C9B91EF6-1B4F-4951-BBF5-73A5E9CCCB99}" srcOrd="0" destOrd="0" presId="urn:microsoft.com/office/officeart/2005/8/layout/vList2"/>
    <dgm:cxn modelId="{68BB94DA-77E7-4D24-8026-A4AF51AD2C42}" srcId="{67A6A8B2-CCF0-4339-A8DF-1CF78CBDE48D}" destId="{A99D32A6-0C76-49A1-9E42-BA3990128AC9}" srcOrd="9" destOrd="0" parTransId="{F6645403-44A9-4495-938E-D7B52482DE33}" sibTransId="{93DE3B02-2A4B-4C42-A0A9-27F0522775A9}"/>
    <dgm:cxn modelId="{7938B6DF-6BF2-4B8B-819F-BAC0083AAF56}" srcId="{67A6A8B2-CCF0-4339-A8DF-1CF78CBDE48D}" destId="{6FF006D1-C39C-4717-B06B-574725306585}" srcOrd="13" destOrd="0" parTransId="{E21813B0-8989-4E6B-B7D0-8FAA373DFA71}" sibTransId="{99B92FB9-9A59-4CDD-B6DE-E40B38205787}"/>
    <dgm:cxn modelId="{ECC4BAE0-C02F-4006-B890-7897CF38F536}" type="presOf" srcId="{A417785F-8FDF-468E-BB01-443535D18D23}" destId="{A038F8F5-77A0-47AD-A897-0B0CD8D289E4}" srcOrd="0" destOrd="0" presId="urn:microsoft.com/office/officeart/2005/8/layout/vList2"/>
    <dgm:cxn modelId="{C25E56E2-9DF9-4514-BAAF-7D599B3D7FD0}" srcId="{67A6A8B2-CCF0-4339-A8DF-1CF78CBDE48D}" destId="{5F377136-F7BD-4231-84A5-2644E14B801A}" srcOrd="11" destOrd="0" parTransId="{C1688560-F58F-4E6D-AEC2-4E9DE2F38865}" sibTransId="{DE814FC7-3FE8-4AFB-BD5D-798CFF577BA6}"/>
    <dgm:cxn modelId="{03922CEC-744B-4102-A1CF-5A629AFF9FF9}" type="presOf" srcId="{8F26177B-4EE8-43D2-A7D4-4BD74DD5122F}" destId="{B9F99895-A011-4114-BC43-30F9E3794FF1}" srcOrd="0" destOrd="0" presId="urn:microsoft.com/office/officeart/2005/8/layout/vList2"/>
    <dgm:cxn modelId="{B27897F8-87CE-42EF-B565-97E4A76CF728}" srcId="{67A6A8B2-CCF0-4339-A8DF-1CF78CBDE48D}" destId="{B589AA41-901A-43A9-8924-FFC797AFC4C7}" srcOrd="10" destOrd="0" parTransId="{6A952CCE-4B13-415B-BB17-5CA6F993F70C}" sibTransId="{72677661-4C4E-4C0B-BCE7-3F1A5BF62401}"/>
    <dgm:cxn modelId="{9C7598FF-021F-41E1-92A9-A9129A941BBF}" srcId="{67A6A8B2-CCF0-4339-A8DF-1CF78CBDE48D}" destId="{8F26177B-4EE8-43D2-A7D4-4BD74DD5122F}" srcOrd="7" destOrd="0" parTransId="{A248514F-E8CD-4EFB-A182-90F85400A5D7}" sibTransId="{92C15EAC-B31B-40D0-B8D3-4EE5F8EAFBCE}"/>
    <dgm:cxn modelId="{F1A198A1-D500-4683-91D0-88E52CCB87E8}" type="presParOf" srcId="{9A6AF0DD-0527-424F-8961-BFCB153E477C}" destId="{550F70C3-D30C-4C35-AF64-F9673D200FC0}" srcOrd="0" destOrd="0" presId="urn:microsoft.com/office/officeart/2005/8/layout/vList2"/>
    <dgm:cxn modelId="{D28A59C4-1869-40DD-A6EB-68A648D39A36}" type="presParOf" srcId="{9A6AF0DD-0527-424F-8961-BFCB153E477C}" destId="{996A9508-8537-4D1F-8E20-B72D9BDC7046}" srcOrd="1" destOrd="0" presId="urn:microsoft.com/office/officeart/2005/8/layout/vList2"/>
    <dgm:cxn modelId="{BF037A19-53A4-4465-A751-4F07AAD929C3}" type="presParOf" srcId="{9A6AF0DD-0527-424F-8961-BFCB153E477C}" destId="{CD247634-9554-498C-BE37-91212D2A3B0F}" srcOrd="2" destOrd="0" presId="urn:microsoft.com/office/officeart/2005/8/layout/vList2"/>
    <dgm:cxn modelId="{DFA6DD9A-C39A-4259-B20B-BADC3EB269A6}" type="presParOf" srcId="{9A6AF0DD-0527-424F-8961-BFCB153E477C}" destId="{7E4730D6-D878-4C33-AEC7-A40DEF5C10CC}" srcOrd="3" destOrd="0" presId="urn:microsoft.com/office/officeart/2005/8/layout/vList2"/>
    <dgm:cxn modelId="{DD85BD47-DA3F-42A0-A840-1B0E6C498562}" type="presParOf" srcId="{9A6AF0DD-0527-424F-8961-BFCB153E477C}" destId="{A038F8F5-77A0-47AD-A897-0B0CD8D289E4}" srcOrd="4" destOrd="0" presId="urn:microsoft.com/office/officeart/2005/8/layout/vList2"/>
    <dgm:cxn modelId="{475EDD2D-6757-41AE-8082-D7783E69D1C5}" type="presParOf" srcId="{9A6AF0DD-0527-424F-8961-BFCB153E477C}" destId="{FE2567A0-72F0-43C0-9A6B-423E0BBC4CE4}" srcOrd="5" destOrd="0" presId="urn:microsoft.com/office/officeart/2005/8/layout/vList2"/>
    <dgm:cxn modelId="{06D69C2B-FB31-4B92-8F56-570CE0F65803}" type="presParOf" srcId="{9A6AF0DD-0527-424F-8961-BFCB153E477C}" destId="{BE7D2233-A841-42D2-8E7C-77114253376E}" srcOrd="6" destOrd="0" presId="urn:microsoft.com/office/officeart/2005/8/layout/vList2"/>
    <dgm:cxn modelId="{42725B67-96C3-4786-A76D-B0748ADC5FD4}" type="presParOf" srcId="{9A6AF0DD-0527-424F-8961-BFCB153E477C}" destId="{494EF973-C631-4D9C-9897-34BFF72A3B15}" srcOrd="7" destOrd="0" presId="urn:microsoft.com/office/officeart/2005/8/layout/vList2"/>
    <dgm:cxn modelId="{EA351045-AC35-4B0C-9DC1-818AB857409E}" type="presParOf" srcId="{9A6AF0DD-0527-424F-8961-BFCB153E477C}" destId="{9872B357-9E6A-4568-8B9A-296932A2DF5E}" srcOrd="8" destOrd="0" presId="urn:microsoft.com/office/officeart/2005/8/layout/vList2"/>
    <dgm:cxn modelId="{5311E2FC-E147-48DF-970E-9C58492D382C}" type="presParOf" srcId="{9A6AF0DD-0527-424F-8961-BFCB153E477C}" destId="{2661E5CE-A569-4358-BA47-B9C43F75AAE3}" srcOrd="9" destOrd="0" presId="urn:microsoft.com/office/officeart/2005/8/layout/vList2"/>
    <dgm:cxn modelId="{50F01114-01C9-4028-B3F0-BBDE63237431}" type="presParOf" srcId="{9A6AF0DD-0527-424F-8961-BFCB153E477C}" destId="{D7CAAEFE-D108-4985-ABF9-F1F4464C8C49}" srcOrd="10" destOrd="0" presId="urn:microsoft.com/office/officeart/2005/8/layout/vList2"/>
    <dgm:cxn modelId="{C7E6D3F4-81C2-42FA-99CB-B1E9C8CDAA0A}" type="presParOf" srcId="{9A6AF0DD-0527-424F-8961-BFCB153E477C}" destId="{9C7D084E-A281-4D4F-8B3C-BA96DC2296B7}" srcOrd="11" destOrd="0" presId="urn:microsoft.com/office/officeart/2005/8/layout/vList2"/>
    <dgm:cxn modelId="{9B8202F7-7A5C-4C32-B3AB-97AADC89DCE7}" type="presParOf" srcId="{9A6AF0DD-0527-424F-8961-BFCB153E477C}" destId="{FA03B592-C149-463E-B120-D7C8486E4AD3}" srcOrd="12" destOrd="0" presId="urn:microsoft.com/office/officeart/2005/8/layout/vList2"/>
    <dgm:cxn modelId="{4D0D1E3B-5834-4815-94BB-8C88F77B332E}" type="presParOf" srcId="{9A6AF0DD-0527-424F-8961-BFCB153E477C}" destId="{51790291-E3CD-4638-AB4D-2964D8FF15FD}" srcOrd="13" destOrd="0" presId="urn:microsoft.com/office/officeart/2005/8/layout/vList2"/>
    <dgm:cxn modelId="{CA545770-7CAD-416A-8ED9-2419D0191E27}" type="presParOf" srcId="{9A6AF0DD-0527-424F-8961-BFCB153E477C}" destId="{B9F99895-A011-4114-BC43-30F9E3794FF1}" srcOrd="14" destOrd="0" presId="urn:microsoft.com/office/officeart/2005/8/layout/vList2"/>
    <dgm:cxn modelId="{05E82805-3151-4AF0-ADFC-E15AF43F9D34}" type="presParOf" srcId="{9A6AF0DD-0527-424F-8961-BFCB153E477C}" destId="{E4DDD135-9466-40D6-87D2-480098E21146}" srcOrd="15" destOrd="0" presId="urn:microsoft.com/office/officeart/2005/8/layout/vList2"/>
    <dgm:cxn modelId="{C777A40B-9938-4B81-A4F6-9EF19E2A4F07}" type="presParOf" srcId="{9A6AF0DD-0527-424F-8961-BFCB153E477C}" destId="{FFC7B5E4-9DAC-4261-9693-C89053EE518C}" srcOrd="16" destOrd="0" presId="urn:microsoft.com/office/officeart/2005/8/layout/vList2"/>
    <dgm:cxn modelId="{D7D74FFE-ADD3-4057-8CF7-C05691E6D6D2}" type="presParOf" srcId="{9A6AF0DD-0527-424F-8961-BFCB153E477C}" destId="{5EE5942F-0E28-4279-BF88-161B2C359F4D}" srcOrd="17" destOrd="0" presId="urn:microsoft.com/office/officeart/2005/8/layout/vList2"/>
    <dgm:cxn modelId="{4E140D06-D3AA-4577-ACA1-162285B56B89}" type="presParOf" srcId="{9A6AF0DD-0527-424F-8961-BFCB153E477C}" destId="{D0A147BF-A3B2-45D4-AF88-EC6C04DC3738}" srcOrd="18" destOrd="0" presId="urn:microsoft.com/office/officeart/2005/8/layout/vList2"/>
    <dgm:cxn modelId="{25050376-6A92-4D1B-B287-E91D4E0AC480}" type="presParOf" srcId="{9A6AF0DD-0527-424F-8961-BFCB153E477C}" destId="{75967E46-2E43-4BF5-9895-287EFCB461C1}" srcOrd="19" destOrd="0" presId="urn:microsoft.com/office/officeart/2005/8/layout/vList2"/>
    <dgm:cxn modelId="{8D8B67CA-A77E-491A-A16F-78CC8C374760}" type="presParOf" srcId="{9A6AF0DD-0527-424F-8961-BFCB153E477C}" destId="{1F3D5E55-9788-49DA-8B3D-5E0B7C0EE016}" srcOrd="20" destOrd="0" presId="urn:microsoft.com/office/officeart/2005/8/layout/vList2"/>
    <dgm:cxn modelId="{FDE076CC-1DCE-451A-8A4B-1CB5F1219379}" type="presParOf" srcId="{9A6AF0DD-0527-424F-8961-BFCB153E477C}" destId="{23687DE5-1A3D-476B-B1AD-B373FCD10DA1}" srcOrd="21" destOrd="0" presId="urn:microsoft.com/office/officeart/2005/8/layout/vList2"/>
    <dgm:cxn modelId="{D567B503-C990-4EE1-B296-074ED823B2D2}" type="presParOf" srcId="{9A6AF0DD-0527-424F-8961-BFCB153E477C}" destId="{B3B84285-1A83-481E-AB88-DA5E7C4CA469}" srcOrd="22" destOrd="0" presId="urn:microsoft.com/office/officeart/2005/8/layout/vList2"/>
    <dgm:cxn modelId="{A34D3F0A-B01C-48A9-BA15-113A074F8573}" type="presParOf" srcId="{9A6AF0DD-0527-424F-8961-BFCB153E477C}" destId="{47DCBF58-260D-4F29-86B3-21872B8D5200}" srcOrd="23" destOrd="0" presId="urn:microsoft.com/office/officeart/2005/8/layout/vList2"/>
    <dgm:cxn modelId="{257C60B4-4E6F-4100-BD21-3C98FB1126C6}" type="presParOf" srcId="{9A6AF0DD-0527-424F-8961-BFCB153E477C}" destId="{190919D8-2780-4432-80EA-D95112C44AD1}" srcOrd="24" destOrd="0" presId="urn:microsoft.com/office/officeart/2005/8/layout/vList2"/>
    <dgm:cxn modelId="{3D9B46F9-D843-4C4F-A772-75754D1DC6AA}" type="presParOf" srcId="{9A6AF0DD-0527-424F-8961-BFCB153E477C}" destId="{CD83A21F-B3A1-4F22-8FDB-ECEE8B1D9B35}" srcOrd="25" destOrd="0" presId="urn:microsoft.com/office/officeart/2005/8/layout/vList2"/>
    <dgm:cxn modelId="{1944A3CE-EBF5-4065-9039-CD43B62870CE}" type="presParOf" srcId="{9A6AF0DD-0527-424F-8961-BFCB153E477C}" destId="{C9B91EF6-1B4F-4951-BBF5-73A5E9CCCB99}" srcOrd="26" destOrd="0" presId="urn:microsoft.com/office/officeart/2005/8/layout/vList2"/>
  </dgm:cxnLst>
  <dgm:bg>
    <a:noFill/>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099DEB38-43E2-413F-B4D0-FB9114E4EC32}" type="doc">
      <dgm:prSet loTypeId="urn:microsoft.com/office/officeart/2005/8/layout/vList2" loCatId="list" qsTypeId="urn:microsoft.com/office/officeart/2005/8/quickstyle/simple1" qsCatId="simple" csTypeId="urn:microsoft.com/office/officeart/2005/8/colors/colorful4" csCatId="colorful" phldr="1"/>
      <dgm:spPr/>
      <dgm:t>
        <a:bodyPr/>
        <a:lstStyle/>
        <a:p>
          <a:endParaRPr lang="zh-CN" altLang="en-US"/>
        </a:p>
      </dgm:t>
    </dgm:pt>
    <dgm:pt modelId="{99CDD501-FD71-4475-8116-17250A667A19}">
      <dgm:prSet custT="1"/>
      <dgm:spPr/>
      <dgm:t>
        <a:bodyPr/>
        <a:lstStyle/>
        <a:p>
          <a:r>
            <a:rPr lang="zh-CN" altLang="en-US" sz="1200" b="1" dirty="0">
              <a:latin typeface="+mn-ea"/>
              <a:ea typeface="+mn-ea"/>
            </a:rPr>
            <a:t>步骤一</a:t>
          </a:r>
          <a:r>
            <a:rPr lang="zh-CN" sz="1200" b="1" dirty="0">
              <a:latin typeface="+mn-ea"/>
              <a:ea typeface="+mn-ea"/>
            </a:rPr>
            <a:t>：</a:t>
          </a:r>
          <a:r>
            <a:rPr lang="en-US" sz="1200" b="1" dirty="0">
              <a:latin typeface="+mn-ea"/>
              <a:ea typeface="+mn-ea"/>
            </a:rPr>
            <a:t>Allotment Qty</a:t>
          </a:r>
          <a:r>
            <a:rPr lang="zh-CN" sz="1200" b="1" dirty="0">
              <a:latin typeface="+mn-ea"/>
              <a:ea typeface="+mn-ea"/>
            </a:rPr>
            <a:t>为配额，</a:t>
          </a:r>
          <a:r>
            <a:rPr lang="en-US" sz="1200" b="1" dirty="0">
              <a:latin typeface="+mn-ea"/>
              <a:ea typeface="+mn-ea"/>
            </a:rPr>
            <a:t>MRP Netting</a:t>
          </a:r>
          <a:r>
            <a:rPr lang="zh-CN" sz="1200" b="1" dirty="0">
              <a:latin typeface="+mn-ea"/>
              <a:ea typeface="+mn-ea"/>
            </a:rPr>
            <a:t>不能超配额，产生</a:t>
          </a:r>
          <a:r>
            <a:rPr lang="en-US" sz="1200" b="1" dirty="0">
              <a:latin typeface="+mn-ea"/>
              <a:ea typeface="+mn-ea"/>
            </a:rPr>
            <a:t>Short</a:t>
          </a:r>
          <a:r>
            <a:rPr lang="zh-CN" sz="1200" b="1" dirty="0">
              <a:latin typeface="+mn-ea"/>
              <a:ea typeface="+mn-ea"/>
            </a:rPr>
            <a:t>和</a:t>
          </a:r>
          <a:r>
            <a:rPr lang="en-US" sz="1200" b="1" dirty="0">
              <a:latin typeface="+mn-ea"/>
              <a:ea typeface="+mn-ea"/>
            </a:rPr>
            <a:t>Surplus</a:t>
          </a:r>
          <a:endParaRPr lang="zh-CN" sz="1200" b="1" dirty="0">
            <a:latin typeface="+mn-ea"/>
            <a:ea typeface="+mn-ea"/>
          </a:endParaRPr>
        </a:p>
      </dgm:t>
    </dgm:pt>
    <dgm:pt modelId="{B46D2A1A-DA59-4FBC-BAE0-FE5FCBC7B7D5}" type="parTrans" cxnId="{61AA8D33-626D-4498-98FF-C319468EC738}">
      <dgm:prSet/>
      <dgm:spPr/>
      <dgm:t>
        <a:bodyPr/>
        <a:lstStyle/>
        <a:p>
          <a:endParaRPr lang="zh-CN" altLang="en-US" sz="1200" b="1">
            <a:latin typeface="+mn-ea"/>
            <a:ea typeface="+mn-ea"/>
          </a:endParaRPr>
        </a:p>
      </dgm:t>
    </dgm:pt>
    <dgm:pt modelId="{974593F4-9B91-433F-A149-5736CA9AE1E0}" type="sibTrans" cxnId="{61AA8D33-626D-4498-98FF-C319468EC738}">
      <dgm:prSet/>
      <dgm:spPr/>
      <dgm:t>
        <a:bodyPr/>
        <a:lstStyle/>
        <a:p>
          <a:endParaRPr lang="zh-CN" altLang="en-US" sz="1200" b="1">
            <a:latin typeface="+mn-ea"/>
            <a:ea typeface="+mn-ea"/>
          </a:endParaRPr>
        </a:p>
      </dgm:t>
    </dgm:pt>
    <dgm:pt modelId="{247A1B1C-A34B-41B4-8E42-1165E20FA196}" type="pres">
      <dgm:prSet presAssocID="{099DEB38-43E2-413F-B4D0-FB9114E4EC32}" presName="linear" presStyleCnt="0">
        <dgm:presLayoutVars>
          <dgm:animLvl val="lvl"/>
          <dgm:resizeHandles val="exact"/>
        </dgm:presLayoutVars>
      </dgm:prSet>
      <dgm:spPr/>
    </dgm:pt>
    <dgm:pt modelId="{C78D0FD7-D5EF-40AF-BAEF-171B21B562C8}" type="pres">
      <dgm:prSet presAssocID="{99CDD501-FD71-4475-8116-17250A667A19}" presName="parentText" presStyleLbl="node1" presStyleIdx="0" presStyleCnt="1" custScaleX="97828" custScaleY="70241">
        <dgm:presLayoutVars>
          <dgm:chMax val="0"/>
          <dgm:bulletEnabled val="1"/>
        </dgm:presLayoutVars>
      </dgm:prSet>
      <dgm:spPr/>
    </dgm:pt>
  </dgm:ptLst>
  <dgm:cxnLst>
    <dgm:cxn modelId="{61AA8D33-626D-4498-98FF-C319468EC738}" srcId="{099DEB38-43E2-413F-B4D0-FB9114E4EC32}" destId="{99CDD501-FD71-4475-8116-17250A667A19}" srcOrd="0" destOrd="0" parTransId="{B46D2A1A-DA59-4FBC-BAE0-FE5FCBC7B7D5}" sibTransId="{974593F4-9B91-433F-A149-5736CA9AE1E0}"/>
    <dgm:cxn modelId="{61873172-7005-4341-B175-051EABB35EF1}" type="presOf" srcId="{099DEB38-43E2-413F-B4D0-FB9114E4EC32}" destId="{247A1B1C-A34B-41B4-8E42-1165E20FA196}" srcOrd="0" destOrd="0" presId="urn:microsoft.com/office/officeart/2005/8/layout/vList2"/>
    <dgm:cxn modelId="{5951599B-08F3-41D3-9FCA-FB525AAFCD37}" type="presOf" srcId="{99CDD501-FD71-4475-8116-17250A667A19}" destId="{C78D0FD7-D5EF-40AF-BAEF-171B21B562C8}" srcOrd="0" destOrd="0" presId="urn:microsoft.com/office/officeart/2005/8/layout/vList2"/>
    <dgm:cxn modelId="{B726D0D1-B525-4D06-B711-6F4F4F6EE8EF}" type="presParOf" srcId="{247A1B1C-A34B-41B4-8E42-1165E20FA196}" destId="{C78D0FD7-D5EF-40AF-BAEF-171B21B562C8}"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099DEB38-43E2-413F-B4D0-FB9114E4EC32}" type="doc">
      <dgm:prSet loTypeId="urn:microsoft.com/office/officeart/2005/8/layout/vList2" loCatId="list" qsTypeId="urn:microsoft.com/office/officeart/2005/8/quickstyle/simple1" qsCatId="simple" csTypeId="urn:microsoft.com/office/officeart/2005/8/colors/colorful4" csCatId="colorful" phldr="1"/>
      <dgm:spPr/>
      <dgm:t>
        <a:bodyPr/>
        <a:lstStyle/>
        <a:p>
          <a:endParaRPr lang="zh-CN" altLang="en-US"/>
        </a:p>
      </dgm:t>
    </dgm:pt>
    <dgm:pt modelId="{976A2CD6-9038-4AB0-B76A-952EB410B6D7}">
      <dgm:prSet custT="1"/>
      <dgm:spPr/>
      <dgm:t>
        <a:bodyPr/>
        <a:lstStyle/>
        <a:p>
          <a:r>
            <a:rPr lang="zh-CN" altLang="en-US" sz="1200" b="1" dirty="0">
              <a:latin typeface="+mn-ea"/>
              <a:ea typeface="+mn-ea"/>
            </a:rPr>
            <a:t>步骤二</a:t>
          </a:r>
          <a:r>
            <a:rPr lang="zh-CN" sz="1200" b="1" dirty="0">
              <a:latin typeface="+mn-ea"/>
              <a:ea typeface="+mn-ea"/>
            </a:rPr>
            <a:t>：按照需求</a:t>
          </a:r>
          <a:r>
            <a:rPr lang="en-US" sz="1200" b="1" dirty="0">
              <a:latin typeface="+mn-ea"/>
              <a:ea typeface="+mn-ea"/>
            </a:rPr>
            <a:t>Sequence/Priority </a:t>
          </a:r>
          <a:r>
            <a:rPr lang="zh-CN" sz="1200" b="1" dirty="0">
              <a:latin typeface="+mn-ea"/>
              <a:ea typeface="+mn-ea"/>
            </a:rPr>
            <a:t>分配</a:t>
          </a:r>
        </a:p>
      </dgm:t>
    </dgm:pt>
    <dgm:pt modelId="{208F5F81-1363-433F-828C-83608CA4714F}" type="parTrans" cxnId="{2079BA24-6C2E-475F-AEAB-01C3A3DE79C3}">
      <dgm:prSet/>
      <dgm:spPr/>
      <dgm:t>
        <a:bodyPr/>
        <a:lstStyle/>
        <a:p>
          <a:endParaRPr lang="zh-CN" altLang="en-US" sz="1200" b="1">
            <a:latin typeface="+mn-ea"/>
            <a:ea typeface="+mn-ea"/>
          </a:endParaRPr>
        </a:p>
      </dgm:t>
    </dgm:pt>
    <dgm:pt modelId="{05A782C2-AA05-4870-81A1-7E9934B1E39E}" type="sibTrans" cxnId="{2079BA24-6C2E-475F-AEAB-01C3A3DE79C3}">
      <dgm:prSet/>
      <dgm:spPr/>
      <dgm:t>
        <a:bodyPr/>
        <a:lstStyle/>
        <a:p>
          <a:endParaRPr lang="zh-CN" altLang="en-US" sz="1200" b="1">
            <a:latin typeface="+mn-ea"/>
            <a:ea typeface="+mn-ea"/>
          </a:endParaRPr>
        </a:p>
      </dgm:t>
    </dgm:pt>
    <dgm:pt modelId="{247A1B1C-A34B-41B4-8E42-1165E20FA196}" type="pres">
      <dgm:prSet presAssocID="{099DEB38-43E2-413F-B4D0-FB9114E4EC32}" presName="linear" presStyleCnt="0">
        <dgm:presLayoutVars>
          <dgm:animLvl val="lvl"/>
          <dgm:resizeHandles val="exact"/>
        </dgm:presLayoutVars>
      </dgm:prSet>
      <dgm:spPr/>
    </dgm:pt>
    <dgm:pt modelId="{172D40C9-9E54-40F0-83F4-2F103774E08E}" type="pres">
      <dgm:prSet presAssocID="{976A2CD6-9038-4AB0-B76A-952EB410B6D7}" presName="parentText" presStyleLbl="node1" presStyleIdx="0" presStyleCnt="1" custScaleY="76140">
        <dgm:presLayoutVars>
          <dgm:chMax val="0"/>
          <dgm:bulletEnabled val="1"/>
        </dgm:presLayoutVars>
      </dgm:prSet>
      <dgm:spPr/>
    </dgm:pt>
  </dgm:ptLst>
  <dgm:cxnLst>
    <dgm:cxn modelId="{2079BA24-6C2E-475F-AEAB-01C3A3DE79C3}" srcId="{099DEB38-43E2-413F-B4D0-FB9114E4EC32}" destId="{976A2CD6-9038-4AB0-B76A-952EB410B6D7}" srcOrd="0" destOrd="0" parTransId="{208F5F81-1363-433F-828C-83608CA4714F}" sibTransId="{05A782C2-AA05-4870-81A1-7E9934B1E39E}"/>
    <dgm:cxn modelId="{61873172-7005-4341-B175-051EABB35EF1}" type="presOf" srcId="{099DEB38-43E2-413F-B4D0-FB9114E4EC32}" destId="{247A1B1C-A34B-41B4-8E42-1165E20FA196}" srcOrd="0" destOrd="0" presId="urn:microsoft.com/office/officeart/2005/8/layout/vList2"/>
    <dgm:cxn modelId="{6F4CB774-16B0-4F13-881F-2E595880C7FF}" type="presOf" srcId="{976A2CD6-9038-4AB0-B76A-952EB410B6D7}" destId="{172D40C9-9E54-40F0-83F4-2F103774E08E}" srcOrd="0" destOrd="0" presId="urn:microsoft.com/office/officeart/2005/8/layout/vList2"/>
    <dgm:cxn modelId="{01E255F2-FE11-4D5D-8641-8B6E035AD289}" type="presParOf" srcId="{247A1B1C-A34B-41B4-8E42-1165E20FA196}" destId="{172D40C9-9E54-40F0-83F4-2F103774E08E}"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34E9E3F7-F17B-4340-83E8-092ECE1BA6A7}" type="doc">
      <dgm:prSet loTypeId="urn:microsoft.com/office/officeart/2008/layout/LinedList" loCatId="list" qsTypeId="urn:microsoft.com/office/officeart/2005/8/quickstyle/simple1" qsCatId="simple" csTypeId="urn:microsoft.com/office/officeart/2005/8/colors/accent2_1" csCatId="accent2" phldr="1"/>
      <dgm:spPr/>
      <dgm:t>
        <a:bodyPr/>
        <a:lstStyle/>
        <a:p>
          <a:endParaRPr lang="zh-CN" altLang="en-US"/>
        </a:p>
      </dgm:t>
    </dgm:pt>
    <dgm:pt modelId="{155975C7-EE2F-4490-B653-1CBCACEB44E2}">
      <dgm:prSet/>
      <dgm:spPr/>
      <dgm:t>
        <a:bodyPr/>
        <a:lstStyle/>
        <a:p>
          <a:r>
            <a:rPr lang="zh-CN" b="1">
              <a:latin typeface="+mj-ea"/>
              <a:ea typeface="+mj-ea"/>
            </a:rPr>
            <a:t>预测调整 </a:t>
          </a:r>
          <a:endParaRPr lang="zh-CN">
            <a:latin typeface="+mj-ea"/>
            <a:ea typeface="+mj-ea"/>
          </a:endParaRPr>
        </a:p>
      </dgm:t>
    </dgm:pt>
    <dgm:pt modelId="{8743E79D-3313-434F-8E4F-4C3A6ABA44C2}" type="parTrans" cxnId="{F0C3851F-4DFB-4B63-9058-DCD9CE4E293E}">
      <dgm:prSet/>
      <dgm:spPr/>
      <dgm:t>
        <a:bodyPr/>
        <a:lstStyle/>
        <a:p>
          <a:endParaRPr lang="zh-CN" altLang="en-US">
            <a:latin typeface="+mj-ea"/>
            <a:ea typeface="+mj-ea"/>
          </a:endParaRPr>
        </a:p>
      </dgm:t>
    </dgm:pt>
    <dgm:pt modelId="{BE0709DB-9E2D-4C93-83BE-B5CFF4BE7955}" type="sibTrans" cxnId="{F0C3851F-4DFB-4B63-9058-DCD9CE4E293E}">
      <dgm:prSet/>
      <dgm:spPr/>
      <dgm:t>
        <a:bodyPr/>
        <a:lstStyle/>
        <a:p>
          <a:endParaRPr lang="zh-CN" altLang="en-US">
            <a:latin typeface="+mj-ea"/>
            <a:ea typeface="+mj-ea"/>
          </a:endParaRPr>
        </a:p>
      </dgm:t>
    </dgm:pt>
    <dgm:pt modelId="{C1558CA7-07E0-467C-99EA-F842C016D964}">
      <dgm:prSet/>
      <dgm:spPr/>
      <dgm:t>
        <a:bodyPr/>
        <a:lstStyle/>
        <a:p>
          <a:r>
            <a:rPr lang="zh-CN" b="1">
              <a:latin typeface="+mj-ea"/>
              <a:ea typeface="+mj-ea"/>
            </a:rPr>
            <a:t>当要调整某产品系列预测时，针对某一个</a:t>
          </a:r>
          <a:r>
            <a:rPr lang="en-US" b="1">
              <a:latin typeface="+mj-ea"/>
              <a:ea typeface="+mj-ea"/>
            </a:rPr>
            <a:t>stream</a:t>
          </a:r>
          <a:r>
            <a:rPr lang="zh-CN" b="1">
              <a:latin typeface="+mj-ea"/>
              <a:ea typeface="+mj-ea"/>
            </a:rPr>
            <a:t>的预测，例如市场预测（一般来讲，有统计预测，财务预测，市场预测等）</a:t>
          </a:r>
          <a:endParaRPr lang="zh-CN">
            <a:latin typeface="+mj-ea"/>
            <a:ea typeface="+mj-ea"/>
          </a:endParaRPr>
        </a:p>
      </dgm:t>
    </dgm:pt>
    <dgm:pt modelId="{E5CAC947-29E1-43FB-8678-0F94E976B882}" type="parTrans" cxnId="{3AEAADD8-4AF6-43BC-8F05-78BE08BD50DC}">
      <dgm:prSet/>
      <dgm:spPr/>
      <dgm:t>
        <a:bodyPr/>
        <a:lstStyle/>
        <a:p>
          <a:endParaRPr lang="zh-CN" altLang="en-US">
            <a:latin typeface="+mj-ea"/>
            <a:ea typeface="+mj-ea"/>
          </a:endParaRPr>
        </a:p>
      </dgm:t>
    </dgm:pt>
    <dgm:pt modelId="{D4000958-FE5D-48AA-97E5-C1B6E7B71BC8}" type="sibTrans" cxnId="{3AEAADD8-4AF6-43BC-8F05-78BE08BD50DC}">
      <dgm:prSet/>
      <dgm:spPr/>
      <dgm:t>
        <a:bodyPr/>
        <a:lstStyle/>
        <a:p>
          <a:endParaRPr lang="zh-CN" altLang="en-US">
            <a:latin typeface="+mj-ea"/>
            <a:ea typeface="+mj-ea"/>
          </a:endParaRPr>
        </a:p>
      </dgm:t>
    </dgm:pt>
    <dgm:pt modelId="{BDF52988-7751-4127-98AB-EDA42B54493D}">
      <dgm:prSet/>
      <dgm:spPr/>
      <dgm:t>
        <a:bodyPr/>
        <a:lstStyle/>
        <a:p>
          <a:r>
            <a:rPr lang="zh-CN" b="1">
              <a:latin typeface="+mj-ea"/>
              <a:ea typeface="+mj-ea"/>
            </a:rPr>
            <a:t>预测冲减 </a:t>
          </a:r>
          <a:endParaRPr lang="zh-CN">
            <a:latin typeface="+mj-ea"/>
            <a:ea typeface="+mj-ea"/>
          </a:endParaRPr>
        </a:p>
      </dgm:t>
    </dgm:pt>
    <dgm:pt modelId="{51E45D78-8CD0-410E-801E-D8A8404A8632}" type="parTrans" cxnId="{1DF57EFD-C843-4718-ACAE-F6710124919C}">
      <dgm:prSet/>
      <dgm:spPr/>
      <dgm:t>
        <a:bodyPr/>
        <a:lstStyle/>
        <a:p>
          <a:endParaRPr lang="zh-CN" altLang="en-US">
            <a:latin typeface="+mj-ea"/>
            <a:ea typeface="+mj-ea"/>
          </a:endParaRPr>
        </a:p>
      </dgm:t>
    </dgm:pt>
    <dgm:pt modelId="{BE25C9B9-FD0D-4ED3-A698-E882BFF264F8}" type="sibTrans" cxnId="{1DF57EFD-C843-4718-ACAE-F6710124919C}">
      <dgm:prSet/>
      <dgm:spPr/>
      <dgm:t>
        <a:bodyPr/>
        <a:lstStyle/>
        <a:p>
          <a:endParaRPr lang="zh-CN" altLang="en-US">
            <a:latin typeface="+mj-ea"/>
            <a:ea typeface="+mj-ea"/>
          </a:endParaRPr>
        </a:p>
      </dgm:t>
    </dgm:pt>
    <dgm:pt modelId="{C00B0A5B-553E-4FBF-A641-8D79A28BFA4B}">
      <dgm:prSet/>
      <dgm:spPr/>
      <dgm:t>
        <a:bodyPr/>
        <a:lstStyle/>
        <a:p>
          <a:r>
            <a:rPr lang="zh-CN" b="1" dirty="0">
              <a:latin typeface="+mj-ea"/>
              <a:ea typeface="+mj-ea"/>
            </a:rPr>
            <a:t>当针对某产品系列，成品或者组件做预测和实际订单冲减时，要匹配相同的客户或者相同地区等</a:t>
          </a:r>
          <a:endParaRPr lang="zh-CN" dirty="0">
            <a:latin typeface="+mj-ea"/>
            <a:ea typeface="+mj-ea"/>
          </a:endParaRPr>
        </a:p>
      </dgm:t>
    </dgm:pt>
    <dgm:pt modelId="{C0B93D78-C1DC-4026-A950-D4BFA1F322BF}" type="parTrans" cxnId="{D4B1E923-69C3-4930-90B3-CF5DD6C0E7B1}">
      <dgm:prSet/>
      <dgm:spPr/>
      <dgm:t>
        <a:bodyPr/>
        <a:lstStyle/>
        <a:p>
          <a:endParaRPr lang="zh-CN" altLang="en-US">
            <a:latin typeface="+mj-ea"/>
            <a:ea typeface="+mj-ea"/>
          </a:endParaRPr>
        </a:p>
      </dgm:t>
    </dgm:pt>
    <dgm:pt modelId="{1B6579C4-C121-42C8-BC06-10A14966359A}" type="sibTrans" cxnId="{D4B1E923-69C3-4930-90B3-CF5DD6C0E7B1}">
      <dgm:prSet/>
      <dgm:spPr/>
      <dgm:t>
        <a:bodyPr/>
        <a:lstStyle/>
        <a:p>
          <a:endParaRPr lang="zh-CN" altLang="en-US">
            <a:latin typeface="+mj-ea"/>
            <a:ea typeface="+mj-ea"/>
          </a:endParaRPr>
        </a:p>
      </dgm:t>
    </dgm:pt>
    <dgm:pt modelId="{6E083C27-59AE-469D-B27E-79BED80FD3AF}">
      <dgm:prSet/>
      <dgm:spPr/>
      <dgm:t>
        <a:bodyPr/>
        <a:lstStyle/>
        <a:p>
          <a:r>
            <a:rPr lang="zh-CN" b="1">
              <a:latin typeface="+mj-ea"/>
              <a:ea typeface="+mj-ea"/>
            </a:rPr>
            <a:t>供应选择 </a:t>
          </a:r>
          <a:endParaRPr lang="zh-CN">
            <a:latin typeface="+mj-ea"/>
            <a:ea typeface="+mj-ea"/>
          </a:endParaRPr>
        </a:p>
      </dgm:t>
    </dgm:pt>
    <dgm:pt modelId="{47DE3305-3158-4058-8199-EC7459ED9075}" type="parTrans" cxnId="{E33FDDF9-7D66-46B0-8638-440CCBF859AF}">
      <dgm:prSet/>
      <dgm:spPr/>
      <dgm:t>
        <a:bodyPr/>
        <a:lstStyle/>
        <a:p>
          <a:endParaRPr lang="zh-CN" altLang="en-US">
            <a:latin typeface="+mj-ea"/>
            <a:ea typeface="+mj-ea"/>
          </a:endParaRPr>
        </a:p>
      </dgm:t>
    </dgm:pt>
    <dgm:pt modelId="{B49FFA43-9FC8-4195-A374-35D0925AC587}" type="sibTrans" cxnId="{E33FDDF9-7D66-46B0-8638-440CCBF859AF}">
      <dgm:prSet/>
      <dgm:spPr/>
      <dgm:t>
        <a:bodyPr/>
        <a:lstStyle/>
        <a:p>
          <a:endParaRPr lang="zh-CN" altLang="en-US">
            <a:latin typeface="+mj-ea"/>
            <a:ea typeface="+mj-ea"/>
          </a:endParaRPr>
        </a:p>
      </dgm:t>
    </dgm:pt>
    <dgm:pt modelId="{5F2EB5F8-F41F-4033-9D91-4A4BFDD3098C}">
      <dgm:prSet/>
      <dgm:spPr/>
      <dgm:t>
        <a:bodyPr/>
        <a:lstStyle/>
        <a:p>
          <a:pPr algn="l"/>
          <a:r>
            <a:rPr lang="zh-CN" b="1">
              <a:latin typeface="+mj-ea"/>
              <a:ea typeface="+mj-ea"/>
            </a:rPr>
            <a:t>某些客户只接受某些工厂的产成品；某些客户只接受某些供应商的原材或者组件；某些客户只接受指定产地的原材，组件等等</a:t>
          </a:r>
          <a:endParaRPr lang="zh-CN">
            <a:latin typeface="+mj-ea"/>
            <a:ea typeface="+mj-ea"/>
          </a:endParaRPr>
        </a:p>
      </dgm:t>
    </dgm:pt>
    <dgm:pt modelId="{A5FE3502-978B-43AC-9C5F-78D84B23AE46}" type="parTrans" cxnId="{D56A34B0-A3B7-40D1-8083-45EEC22CF7AC}">
      <dgm:prSet/>
      <dgm:spPr/>
      <dgm:t>
        <a:bodyPr/>
        <a:lstStyle/>
        <a:p>
          <a:endParaRPr lang="zh-CN" altLang="en-US">
            <a:latin typeface="+mj-ea"/>
            <a:ea typeface="+mj-ea"/>
          </a:endParaRPr>
        </a:p>
      </dgm:t>
    </dgm:pt>
    <dgm:pt modelId="{B231385F-E41A-425D-97C7-6BBD1341DD2B}" type="sibTrans" cxnId="{D56A34B0-A3B7-40D1-8083-45EEC22CF7AC}">
      <dgm:prSet/>
      <dgm:spPr/>
      <dgm:t>
        <a:bodyPr/>
        <a:lstStyle/>
        <a:p>
          <a:endParaRPr lang="zh-CN" altLang="en-US">
            <a:latin typeface="+mj-ea"/>
            <a:ea typeface="+mj-ea"/>
          </a:endParaRPr>
        </a:p>
      </dgm:t>
    </dgm:pt>
    <dgm:pt modelId="{FBB53AC4-CC13-4606-B503-327179B8D714}">
      <dgm:prSet/>
      <dgm:spPr/>
      <dgm:t>
        <a:bodyPr/>
        <a:lstStyle/>
        <a:p>
          <a:r>
            <a:rPr lang="en-US" b="1">
              <a:latin typeface="+mj-ea"/>
              <a:ea typeface="+mj-ea"/>
            </a:rPr>
            <a:t>BOM</a:t>
          </a:r>
          <a:r>
            <a:rPr lang="zh-CN" b="1">
              <a:latin typeface="+mj-ea"/>
              <a:ea typeface="+mj-ea"/>
            </a:rPr>
            <a:t>和</a:t>
          </a:r>
          <a:r>
            <a:rPr lang="en-US" b="1">
              <a:latin typeface="+mj-ea"/>
              <a:ea typeface="+mj-ea"/>
            </a:rPr>
            <a:t>Routing</a:t>
          </a:r>
          <a:r>
            <a:rPr lang="zh-CN" b="1">
              <a:latin typeface="+mj-ea"/>
              <a:ea typeface="+mj-ea"/>
            </a:rPr>
            <a:t>的选择 </a:t>
          </a:r>
          <a:endParaRPr lang="zh-CN">
            <a:latin typeface="+mj-ea"/>
            <a:ea typeface="+mj-ea"/>
          </a:endParaRPr>
        </a:p>
      </dgm:t>
    </dgm:pt>
    <dgm:pt modelId="{431B0E3F-9C3D-4A42-9101-236F7EC5B831}" type="parTrans" cxnId="{CFB87168-6475-4580-958A-BED7C887A0E0}">
      <dgm:prSet/>
      <dgm:spPr/>
      <dgm:t>
        <a:bodyPr/>
        <a:lstStyle/>
        <a:p>
          <a:endParaRPr lang="zh-CN" altLang="en-US">
            <a:latin typeface="+mj-ea"/>
            <a:ea typeface="+mj-ea"/>
          </a:endParaRPr>
        </a:p>
      </dgm:t>
    </dgm:pt>
    <dgm:pt modelId="{BBE739CA-5CF2-4228-B819-8F3070A49FDF}" type="sibTrans" cxnId="{CFB87168-6475-4580-958A-BED7C887A0E0}">
      <dgm:prSet/>
      <dgm:spPr/>
      <dgm:t>
        <a:bodyPr/>
        <a:lstStyle/>
        <a:p>
          <a:endParaRPr lang="zh-CN" altLang="en-US">
            <a:latin typeface="+mj-ea"/>
            <a:ea typeface="+mj-ea"/>
          </a:endParaRPr>
        </a:p>
      </dgm:t>
    </dgm:pt>
    <dgm:pt modelId="{392BA46D-A8F9-4E27-BD4D-94CB84054E02}">
      <dgm:prSet/>
      <dgm:spPr/>
      <dgm:t>
        <a:bodyPr/>
        <a:lstStyle/>
        <a:p>
          <a:r>
            <a:rPr lang="zh-CN" b="1">
              <a:latin typeface="+mj-ea"/>
              <a:ea typeface="+mj-ea"/>
            </a:rPr>
            <a:t>某些客户只接受产品系列中的某些选项，某些替换料，某条产线</a:t>
          </a:r>
          <a:endParaRPr lang="zh-CN">
            <a:latin typeface="+mj-ea"/>
            <a:ea typeface="+mj-ea"/>
          </a:endParaRPr>
        </a:p>
      </dgm:t>
    </dgm:pt>
    <dgm:pt modelId="{73F179CB-1A58-4D79-AB29-1F9EB3EB6098}" type="parTrans" cxnId="{0CD867A7-2233-4653-A89F-621F96DA07CA}">
      <dgm:prSet/>
      <dgm:spPr/>
      <dgm:t>
        <a:bodyPr/>
        <a:lstStyle/>
        <a:p>
          <a:endParaRPr lang="zh-CN" altLang="en-US">
            <a:latin typeface="+mj-ea"/>
            <a:ea typeface="+mj-ea"/>
          </a:endParaRPr>
        </a:p>
      </dgm:t>
    </dgm:pt>
    <dgm:pt modelId="{75111269-FEDD-4749-809E-2842B28A9069}" type="sibTrans" cxnId="{0CD867A7-2233-4653-A89F-621F96DA07CA}">
      <dgm:prSet/>
      <dgm:spPr/>
      <dgm:t>
        <a:bodyPr/>
        <a:lstStyle/>
        <a:p>
          <a:endParaRPr lang="zh-CN" altLang="en-US">
            <a:latin typeface="+mj-ea"/>
            <a:ea typeface="+mj-ea"/>
          </a:endParaRPr>
        </a:p>
      </dgm:t>
    </dgm:pt>
    <dgm:pt modelId="{0763835F-4F05-4025-B0C3-C34658CB138E}">
      <dgm:prSet/>
      <dgm:spPr/>
      <dgm:t>
        <a:bodyPr/>
        <a:lstStyle/>
        <a:p>
          <a:r>
            <a:rPr lang="zh-CN" b="1">
              <a:latin typeface="+mj-ea"/>
              <a:ea typeface="+mj-ea"/>
            </a:rPr>
            <a:t>分档分类 </a:t>
          </a:r>
          <a:endParaRPr lang="zh-CN">
            <a:latin typeface="+mj-ea"/>
            <a:ea typeface="+mj-ea"/>
          </a:endParaRPr>
        </a:p>
      </dgm:t>
    </dgm:pt>
    <dgm:pt modelId="{E2119266-487F-4CE9-A311-76DC21BAA3F1}" type="parTrans" cxnId="{D2ECAE1A-5BA7-433B-8F59-B0275D9450F4}">
      <dgm:prSet/>
      <dgm:spPr/>
      <dgm:t>
        <a:bodyPr/>
        <a:lstStyle/>
        <a:p>
          <a:endParaRPr lang="zh-CN" altLang="en-US">
            <a:latin typeface="+mj-ea"/>
            <a:ea typeface="+mj-ea"/>
          </a:endParaRPr>
        </a:p>
      </dgm:t>
    </dgm:pt>
    <dgm:pt modelId="{81A49094-C2ED-4C45-A219-02EF9E261DDC}" type="sibTrans" cxnId="{D2ECAE1A-5BA7-433B-8F59-B0275D9450F4}">
      <dgm:prSet/>
      <dgm:spPr/>
      <dgm:t>
        <a:bodyPr/>
        <a:lstStyle/>
        <a:p>
          <a:endParaRPr lang="zh-CN" altLang="en-US">
            <a:latin typeface="+mj-ea"/>
            <a:ea typeface="+mj-ea"/>
          </a:endParaRPr>
        </a:p>
      </dgm:t>
    </dgm:pt>
    <dgm:pt modelId="{C65D6D9B-1FFC-44F3-AB66-DB0AD4B23AD7}">
      <dgm:prSet/>
      <dgm:spPr/>
      <dgm:t>
        <a:bodyPr/>
        <a:lstStyle/>
        <a:p>
          <a:r>
            <a:rPr lang="zh-CN" b="1" dirty="0">
              <a:latin typeface="+mj-ea"/>
              <a:ea typeface="+mj-ea"/>
            </a:rPr>
            <a:t>一个工艺路线可以产生多个等级的产品，如原油可以加工出汽油，煤油和凡士林；如芯片可以同时加工出不同功率；食品加工出深蓝和浅蓝的蛋糕；用户可接受某一等级范围，例如芯片大于等于</a:t>
          </a:r>
          <a:r>
            <a:rPr lang="en-US" b="1" dirty="0">
              <a:latin typeface="+mj-ea"/>
              <a:ea typeface="+mj-ea"/>
            </a:rPr>
            <a:t>166Mhz.</a:t>
          </a:r>
          <a:endParaRPr lang="zh-CN" dirty="0">
            <a:latin typeface="+mj-ea"/>
            <a:ea typeface="+mj-ea"/>
          </a:endParaRPr>
        </a:p>
      </dgm:t>
    </dgm:pt>
    <dgm:pt modelId="{5C104F88-CC15-427A-B9E0-1E420C4933A5}" type="parTrans" cxnId="{758D1FD4-FDFA-4CCD-8372-69834A9C6B23}">
      <dgm:prSet/>
      <dgm:spPr/>
      <dgm:t>
        <a:bodyPr/>
        <a:lstStyle/>
        <a:p>
          <a:endParaRPr lang="zh-CN" altLang="en-US">
            <a:latin typeface="+mj-ea"/>
            <a:ea typeface="+mj-ea"/>
          </a:endParaRPr>
        </a:p>
      </dgm:t>
    </dgm:pt>
    <dgm:pt modelId="{F5F2EF74-4D5F-4D74-897D-1536198E391B}" type="sibTrans" cxnId="{758D1FD4-FDFA-4CCD-8372-69834A9C6B23}">
      <dgm:prSet/>
      <dgm:spPr/>
      <dgm:t>
        <a:bodyPr/>
        <a:lstStyle/>
        <a:p>
          <a:endParaRPr lang="zh-CN" altLang="en-US">
            <a:latin typeface="+mj-ea"/>
            <a:ea typeface="+mj-ea"/>
          </a:endParaRPr>
        </a:p>
      </dgm:t>
    </dgm:pt>
    <dgm:pt modelId="{4BCA9CE4-8427-48EA-ABEF-70657C56FF5D}">
      <dgm:prSet/>
      <dgm:spPr/>
      <dgm:t>
        <a:bodyPr/>
        <a:lstStyle/>
        <a:p>
          <a:r>
            <a:rPr lang="zh-CN" b="1">
              <a:latin typeface="+mj-ea"/>
              <a:ea typeface="+mj-ea"/>
            </a:rPr>
            <a:t>价值流 </a:t>
          </a:r>
          <a:endParaRPr lang="zh-CN">
            <a:latin typeface="+mj-ea"/>
            <a:ea typeface="+mj-ea"/>
          </a:endParaRPr>
        </a:p>
      </dgm:t>
    </dgm:pt>
    <dgm:pt modelId="{6006803F-EBB3-4960-9A2A-CA85DA91B02B}" type="parTrans" cxnId="{4716C294-D87B-4146-AF55-21F1D9CCB6A6}">
      <dgm:prSet/>
      <dgm:spPr/>
      <dgm:t>
        <a:bodyPr/>
        <a:lstStyle/>
        <a:p>
          <a:endParaRPr lang="zh-CN" altLang="en-US">
            <a:latin typeface="+mj-ea"/>
            <a:ea typeface="+mj-ea"/>
          </a:endParaRPr>
        </a:p>
      </dgm:t>
    </dgm:pt>
    <dgm:pt modelId="{28C07AB1-1776-4A19-B6A3-8BC6BBD8095D}" type="sibTrans" cxnId="{4716C294-D87B-4146-AF55-21F1D9CCB6A6}">
      <dgm:prSet/>
      <dgm:spPr/>
      <dgm:t>
        <a:bodyPr/>
        <a:lstStyle/>
        <a:p>
          <a:endParaRPr lang="zh-CN" altLang="en-US">
            <a:latin typeface="+mj-ea"/>
            <a:ea typeface="+mj-ea"/>
          </a:endParaRPr>
        </a:p>
      </dgm:t>
    </dgm:pt>
    <dgm:pt modelId="{F47A7546-3E99-49C6-B6BE-5004AFE6EC52}">
      <dgm:prSet/>
      <dgm:spPr/>
      <dgm:t>
        <a:bodyPr/>
        <a:lstStyle/>
        <a:p>
          <a:r>
            <a:rPr lang="zh-CN" b="1">
              <a:latin typeface="+mj-ea"/>
              <a:ea typeface="+mj-ea"/>
            </a:rPr>
            <a:t>有一些组件，半成品可以继续生产出产生品也可以直接销售，如何区分出不同的价值流；在新品测试阶段，某些半成品生产之后只能流向制定线体，而在可发货阶段，半成品直接流入其对应的总装；</a:t>
          </a:r>
          <a:endParaRPr lang="zh-CN">
            <a:latin typeface="+mj-ea"/>
            <a:ea typeface="+mj-ea"/>
          </a:endParaRPr>
        </a:p>
      </dgm:t>
    </dgm:pt>
    <dgm:pt modelId="{2F979DD3-4E20-4DB4-AF74-341D2F7E920F}" type="parTrans" cxnId="{030BF3F7-9CA2-4FE5-8A4D-A15D57B4A6C7}">
      <dgm:prSet/>
      <dgm:spPr/>
      <dgm:t>
        <a:bodyPr/>
        <a:lstStyle/>
        <a:p>
          <a:endParaRPr lang="zh-CN" altLang="en-US">
            <a:latin typeface="+mj-ea"/>
            <a:ea typeface="+mj-ea"/>
          </a:endParaRPr>
        </a:p>
      </dgm:t>
    </dgm:pt>
    <dgm:pt modelId="{79200F3E-625B-41E5-907E-26BF72C038E0}" type="sibTrans" cxnId="{030BF3F7-9CA2-4FE5-8A4D-A15D57B4A6C7}">
      <dgm:prSet/>
      <dgm:spPr/>
      <dgm:t>
        <a:bodyPr/>
        <a:lstStyle/>
        <a:p>
          <a:endParaRPr lang="zh-CN" altLang="en-US">
            <a:latin typeface="+mj-ea"/>
            <a:ea typeface="+mj-ea"/>
          </a:endParaRPr>
        </a:p>
      </dgm:t>
    </dgm:pt>
    <dgm:pt modelId="{B9FEC37D-25EA-485B-B862-B91782C9DD37}">
      <dgm:prSet/>
      <dgm:spPr/>
      <dgm:t>
        <a:bodyPr/>
        <a:lstStyle/>
        <a:p>
          <a:r>
            <a:rPr lang="en-US" b="1" dirty="0">
              <a:latin typeface="+mj-ea"/>
              <a:ea typeface="+mj-ea"/>
            </a:rPr>
            <a:t>ATO/MTO</a:t>
          </a:r>
          <a:r>
            <a:rPr lang="zh-CN" dirty="0">
              <a:latin typeface="+mj-ea"/>
              <a:ea typeface="+mj-ea"/>
            </a:rPr>
            <a:t> </a:t>
          </a:r>
        </a:p>
      </dgm:t>
    </dgm:pt>
    <dgm:pt modelId="{60B556EC-6D3D-48BF-AD3C-A586A87FAF4C}" type="parTrans" cxnId="{F4A3F966-8A7D-4C24-BA33-1335DC422E0B}">
      <dgm:prSet/>
      <dgm:spPr/>
      <dgm:t>
        <a:bodyPr/>
        <a:lstStyle/>
        <a:p>
          <a:endParaRPr lang="zh-CN" altLang="en-US">
            <a:latin typeface="+mj-ea"/>
            <a:ea typeface="+mj-ea"/>
          </a:endParaRPr>
        </a:p>
      </dgm:t>
    </dgm:pt>
    <dgm:pt modelId="{26C67A30-1F4B-4C23-8DBE-94CD1D218F81}" type="sibTrans" cxnId="{F4A3F966-8A7D-4C24-BA33-1335DC422E0B}">
      <dgm:prSet/>
      <dgm:spPr/>
      <dgm:t>
        <a:bodyPr/>
        <a:lstStyle/>
        <a:p>
          <a:endParaRPr lang="zh-CN" altLang="en-US">
            <a:latin typeface="+mj-ea"/>
            <a:ea typeface="+mj-ea"/>
          </a:endParaRPr>
        </a:p>
      </dgm:t>
    </dgm:pt>
    <dgm:pt modelId="{43BBC6FA-5A81-4BD6-BB79-FC421416D794}">
      <dgm:prSet/>
      <dgm:spPr/>
      <dgm:t>
        <a:bodyPr/>
        <a:lstStyle/>
        <a:p>
          <a:r>
            <a:rPr lang="zh-CN">
              <a:latin typeface="+mj-ea"/>
              <a:ea typeface="+mj-ea"/>
            </a:rPr>
            <a:t>为响应市场，企业在不断地扩展产品线，往往制造策略会从</a:t>
          </a:r>
          <a:r>
            <a:rPr lang="en-US">
              <a:latin typeface="+mj-ea"/>
              <a:ea typeface="+mj-ea"/>
            </a:rPr>
            <a:t>MTS</a:t>
          </a:r>
          <a:r>
            <a:rPr lang="zh-CN">
              <a:latin typeface="+mj-ea"/>
              <a:ea typeface="+mj-ea"/>
            </a:rPr>
            <a:t>转向</a:t>
          </a:r>
          <a:r>
            <a:rPr lang="en-US">
              <a:latin typeface="+mj-ea"/>
              <a:ea typeface="+mj-ea"/>
            </a:rPr>
            <a:t>ATO/MTO. </a:t>
          </a:r>
          <a:r>
            <a:rPr lang="zh-CN">
              <a:latin typeface="+mj-ea"/>
              <a:ea typeface="+mj-ea"/>
            </a:rPr>
            <a:t>如何方便的做预测，如何方便订单执行与计划匹配成为挑战（如果针对成品</a:t>
          </a:r>
          <a:r>
            <a:rPr lang="en-US">
              <a:latin typeface="+mj-ea"/>
              <a:ea typeface="+mj-ea"/>
            </a:rPr>
            <a:t>SKU</a:t>
          </a:r>
          <a:r>
            <a:rPr lang="zh-CN">
              <a:latin typeface="+mj-ea"/>
              <a:ea typeface="+mj-ea"/>
            </a:rPr>
            <a:t>创建</a:t>
          </a:r>
          <a:r>
            <a:rPr lang="en-US">
              <a:latin typeface="+mj-ea"/>
              <a:ea typeface="+mj-ea"/>
            </a:rPr>
            <a:t>BOM</a:t>
          </a:r>
          <a:r>
            <a:rPr lang="zh-CN">
              <a:latin typeface="+mj-ea"/>
              <a:ea typeface="+mj-ea"/>
            </a:rPr>
            <a:t>那将是可选项累成的数量级）</a:t>
          </a:r>
        </a:p>
      </dgm:t>
    </dgm:pt>
    <dgm:pt modelId="{CE7BC3B1-86F7-4BA9-A5A4-3FD0812A095F}" type="parTrans" cxnId="{0BE4C4E0-E8FB-4117-89E5-8B808C9BDE38}">
      <dgm:prSet/>
      <dgm:spPr/>
      <dgm:t>
        <a:bodyPr/>
        <a:lstStyle/>
        <a:p>
          <a:endParaRPr lang="zh-CN" altLang="en-US">
            <a:latin typeface="+mj-ea"/>
            <a:ea typeface="+mj-ea"/>
          </a:endParaRPr>
        </a:p>
      </dgm:t>
    </dgm:pt>
    <dgm:pt modelId="{EAA4F532-8D39-470D-94DB-FE7A6C7A1A1F}" type="sibTrans" cxnId="{0BE4C4E0-E8FB-4117-89E5-8B808C9BDE38}">
      <dgm:prSet/>
      <dgm:spPr/>
      <dgm:t>
        <a:bodyPr/>
        <a:lstStyle/>
        <a:p>
          <a:endParaRPr lang="zh-CN" altLang="en-US">
            <a:latin typeface="+mj-ea"/>
            <a:ea typeface="+mj-ea"/>
          </a:endParaRPr>
        </a:p>
      </dgm:t>
    </dgm:pt>
    <dgm:pt modelId="{C499E392-3BFF-4786-8B99-18430E25181D}">
      <dgm:prSet/>
      <dgm:spPr/>
      <dgm:t>
        <a:bodyPr/>
        <a:lstStyle/>
        <a:p>
          <a:r>
            <a:rPr lang="zh-CN" b="1" dirty="0">
              <a:latin typeface="+mj-ea"/>
              <a:ea typeface="+mj-ea"/>
            </a:rPr>
            <a:t>降级选用</a:t>
          </a:r>
          <a:endParaRPr lang="zh-CN" dirty="0">
            <a:latin typeface="+mj-ea"/>
            <a:ea typeface="+mj-ea"/>
          </a:endParaRPr>
        </a:p>
      </dgm:t>
    </dgm:pt>
    <dgm:pt modelId="{C05CA4A6-EFC8-4501-A1E8-90A7D133B97B}" type="parTrans" cxnId="{260FABD6-CA0F-401C-B92E-D5FF912F3B5A}">
      <dgm:prSet/>
      <dgm:spPr/>
      <dgm:t>
        <a:bodyPr/>
        <a:lstStyle/>
        <a:p>
          <a:endParaRPr lang="zh-CN" altLang="en-US">
            <a:latin typeface="+mj-ea"/>
            <a:ea typeface="+mj-ea"/>
          </a:endParaRPr>
        </a:p>
      </dgm:t>
    </dgm:pt>
    <dgm:pt modelId="{0E7985AA-DDC2-419B-9389-3642F8B386BF}" type="sibTrans" cxnId="{260FABD6-CA0F-401C-B92E-D5FF912F3B5A}">
      <dgm:prSet/>
      <dgm:spPr/>
      <dgm:t>
        <a:bodyPr/>
        <a:lstStyle/>
        <a:p>
          <a:endParaRPr lang="zh-CN" altLang="en-US">
            <a:latin typeface="+mj-ea"/>
            <a:ea typeface="+mj-ea"/>
          </a:endParaRPr>
        </a:p>
      </dgm:t>
    </dgm:pt>
    <dgm:pt modelId="{832E7D9B-E9F4-4AD5-9CC4-82ECA718A70D}">
      <dgm:prSet/>
      <dgm:spPr/>
      <dgm:t>
        <a:bodyPr/>
        <a:lstStyle/>
        <a:p>
          <a:r>
            <a:rPr lang="zh-CN">
              <a:latin typeface="+mj-ea"/>
              <a:ea typeface="+mj-ea"/>
            </a:rPr>
            <a:t>降级使用允许在需要时，使用更高等级的零件来满足对较低等级零件的需求。</a:t>
          </a:r>
        </a:p>
      </dgm:t>
    </dgm:pt>
    <dgm:pt modelId="{A0EFD748-3E05-495E-B630-95ED0BD1B2AF}" type="parTrans" cxnId="{9BEFB96C-3E42-42CD-8B4F-7D2264BDA98D}">
      <dgm:prSet/>
      <dgm:spPr/>
      <dgm:t>
        <a:bodyPr/>
        <a:lstStyle/>
        <a:p>
          <a:endParaRPr lang="zh-CN" altLang="en-US">
            <a:latin typeface="+mj-ea"/>
            <a:ea typeface="+mj-ea"/>
          </a:endParaRPr>
        </a:p>
      </dgm:t>
    </dgm:pt>
    <dgm:pt modelId="{638CF464-E4A3-42FF-914D-3FDC8AA27F49}" type="sibTrans" cxnId="{9BEFB96C-3E42-42CD-8B4F-7D2264BDA98D}">
      <dgm:prSet/>
      <dgm:spPr/>
      <dgm:t>
        <a:bodyPr/>
        <a:lstStyle/>
        <a:p>
          <a:endParaRPr lang="zh-CN" altLang="en-US">
            <a:latin typeface="+mj-ea"/>
            <a:ea typeface="+mj-ea"/>
          </a:endParaRPr>
        </a:p>
      </dgm:t>
    </dgm:pt>
    <dgm:pt modelId="{4CDB5D44-4728-4DB0-ACC5-AEAA94DD52D8}" type="pres">
      <dgm:prSet presAssocID="{34E9E3F7-F17B-4340-83E8-092ECE1BA6A7}" presName="vert0" presStyleCnt="0">
        <dgm:presLayoutVars>
          <dgm:dir/>
          <dgm:animOne val="branch"/>
          <dgm:animLvl val="lvl"/>
        </dgm:presLayoutVars>
      </dgm:prSet>
      <dgm:spPr/>
    </dgm:pt>
    <dgm:pt modelId="{E69B6CA2-BA2B-4B6D-88EF-2E79554CCF64}" type="pres">
      <dgm:prSet presAssocID="{155975C7-EE2F-4490-B653-1CBCACEB44E2}" presName="thickLine" presStyleLbl="alignNode1" presStyleIdx="0" presStyleCnt="8"/>
      <dgm:spPr/>
    </dgm:pt>
    <dgm:pt modelId="{D9AA903C-E4F5-49D9-9862-F68301B9DF5F}" type="pres">
      <dgm:prSet presAssocID="{155975C7-EE2F-4490-B653-1CBCACEB44E2}" presName="horz1" presStyleCnt="0"/>
      <dgm:spPr/>
    </dgm:pt>
    <dgm:pt modelId="{4D8CA52D-F5E2-49FE-8DAD-D65E24D20B4F}" type="pres">
      <dgm:prSet presAssocID="{155975C7-EE2F-4490-B653-1CBCACEB44E2}" presName="tx1" presStyleLbl="revTx" presStyleIdx="0" presStyleCnt="16"/>
      <dgm:spPr/>
    </dgm:pt>
    <dgm:pt modelId="{4596CA93-2B56-4767-932F-9F36D308483A}" type="pres">
      <dgm:prSet presAssocID="{155975C7-EE2F-4490-B653-1CBCACEB44E2}" presName="vert1" presStyleCnt="0"/>
      <dgm:spPr/>
    </dgm:pt>
    <dgm:pt modelId="{974E2B9E-1BEF-4C56-AF6C-5E39FD7DBB0C}" type="pres">
      <dgm:prSet presAssocID="{C1558CA7-07E0-467C-99EA-F842C016D964}" presName="vertSpace2a" presStyleCnt="0"/>
      <dgm:spPr/>
    </dgm:pt>
    <dgm:pt modelId="{F08D1E11-0974-4D50-980B-22D1588B3D70}" type="pres">
      <dgm:prSet presAssocID="{C1558CA7-07E0-467C-99EA-F842C016D964}" presName="horz2" presStyleCnt="0"/>
      <dgm:spPr/>
    </dgm:pt>
    <dgm:pt modelId="{59E84954-B63C-41D8-9386-8511BD864726}" type="pres">
      <dgm:prSet presAssocID="{C1558CA7-07E0-467C-99EA-F842C016D964}" presName="horzSpace2" presStyleCnt="0"/>
      <dgm:spPr/>
    </dgm:pt>
    <dgm:pt modelId="{D782E8DF-0FD3-427C-9736-F0C7F474C7E3}" type="pres">
      <dgm:prSet presAssocID="{C1558CA7-07E0-467C-99EA-F842C016D964}" presName="tx2" presStyleLbl="revTx" presStyleIdx="1" presStyleCnt="16"/>
      <dgm:spPr/>
    </dgm:pt>
    <dgm:pt modelId="{A099E37D-0674-45B7-8680-718A42D1BFE6}" type="pres">
      <dgm:prSet presAssocID="{C1558CA7-07E0-467C-99EA-F842C016D964}" presName="vert2" presStyleCnt="0"/>
      <dgm:spPr/>
    </dgm:pt>
    <dgm:pt modelId="{B49AD372-8C98-46F0-9757-83E304BAB9F0}" type="pres">
      <dgm:prSet presAssocID="{C1558CA7-07E0-467C-99EA-F842C016D964}" presName="thinLine2b" presStyleLbl="callout" presStyleIdx="0" presStyleCnt="8"/>
      <dgm:spPr/>
    </dgm:pt>
    <dgm:pt modelId="{82829B75-789D-4938-B669-1D8D16005787}" type="pres">
      <dgm:prSet presAssocID="{C1558CA7-07E0-467C-99EA-F842C016D964}" presName="vertSpace2b" presStyleCnt="0"/>
      <dgm:spPr/>
    </dgm:pt>
    <dgm:pt modelId="{BC8E9086-57FB-4995-97EE-9D795EA22599}" type="pres">
      <dgm:prSet presAssocID="{BDF52988-7751-4127-98AB-EDA42B54493D}" presName="thickLine" presStyleLbl="alignNode1" presStyleIdx="1" presStyleCnt="8"/>
      <dgm:spPr/>
    </dgm:pt>
    <dgm:pt modelId="{B1540BD8-D6EB-471E-87FC-24478A3F24A6}" type="pres">
      <dgm:prSet presAssocID="{BDF52988-7751-4127-98AB-EDA42B54493D}" presName="horz1" presStyleCnt="0"/>
      <dgm:spPr/>
    </dgm:pt>
    <dgm:pt modelId="{0B4BE777-73BF-4E3D-AC5D-53DB54B9318C}" type="pres">
      <dgm:prSet presAssocID="{BDF52988-7751-4127-98AB-EDA42B54493D}" presName="tx1" presStyleLbl="revTx" presStyleIdx="2" presStyleCnt="16"/>
      <dgm:spPr/>
    </dgm:pt>
    <dgm:pt modelId="{18A65EFC-BF39-4EB4-9A8B-0E7DE59D3C14}" type="pres">
      <dgm:prSet presAssocID="{BDF52988-7751-4127-98AB-EDA42B54493D}" presName="vert1" presStyleCnt="0"/>
      <dgm:spPr/>
    </dgm:pt>
    <dgm:pt modelId="{C1F50F08-61DF-4BF4-911B-63F1950EC2AC}" type="pres">
      <dgm:prSet presAssocID="{C00B0A5B-553E-4FBF-A641-8D79A28BFA4B}" presName="vertSpace2a" presStyleCnt="0"/>
      <dgm:spPr/>
    </dgm:pt>
    <dgm:pt modelId="{9963243F-09C3-4DF9-80B8-13C70F70D867}" type="pres">
      <dgm:prSet presAssocID="{C00B0A5B-553E-4FBF-A641-8D79A28BFA4B}" presName="horz2" presStyleCnt="0"/>
      <dgm:spPr/>
    </dgm:pt>
    <dgm:pt modelId="{F0C6AEC6-D66E-4015-8A05-1183C3AEFD1E}" type="pres">
      <dgm:prSet presAssocID="{C00B0A5B-553E-4FBF-A641-8D79A28BFA4B}" presName="horzSpace2" presStyleCnt="0"/>
      <dgm:spPr/>
    </dgm:pt>
    <dgm:pt modelId="{6C6C5878-1A13-4799-A9E1-C78372BF709B}" type="pres">
      <dgm:prSet presAssocID="{C00B0A5B-553E-4FBF-A641-8D79A28BFA4B}" presName="tx2" presStyleLbl="revTx" presStyleIdx="3" presStyleCnt="16"/>
      <dgm:spPr/>
    </dgm:pt>
    <dgm:pt modelId="{8265944D-8398-4872-B299-9712C32B77D1}" type="pres">
      <dgm:prSet presAssocID="{C00B0A5B-553E-4FBF-A641-8D79A28BFA4B}" presName="vert2" presStyleCnt="0"/>
      <dgm:spPr/>
    </dgm:pt>
    <dgm:pt modelId="{450FB1D1-621B-4915-9813-537811FD7D58}" type="pres">
      <dgm:prSet presAssocID="{C00B0A5B-553E-4FBF-A641-8D79A28BFA4B}" presName="thinLine2b" presStyleLbl="callout" presStyleIdx="1" presStyleCnt="8"/>
      <dgm:spPr/>
    </dgm:pt>
    <dgm:pt modelId="{E3AD0373-AE6E-419E-9675-5007B6456EB0}" type="pres">
      <dgm:prSet presAssocID="{C00B0A5B-553E-4FBF-A641-8D79A28BFA4B}" presName="vertSpace2b" presStyleCnt="0"/>
      <dgm:spPr/>
    </dgm:pt>
    <dgm:pt modelId="{19FA8657-B158-4A0E-98E2-869168ED0F7C}" type="pres">
      <dgm:prSet presAssocID="{6E083C27-59AE-469D-B27E-79BED80FD3AF}" presName="thickLine" presStyleLbl="alignNode1" presStyleIdx="2" presStyleCnt="8"/>
      <dgm:spPr/>
    </dgm:pt>
    <dgm:pt modelId="{0A65616F-62B7-43CE-ABD1-3374E2265084}" type="pres">
      <dgm:prSet presAssocID="{6E083C27-59AE-469D-B27E-79BED80FD3AF}" presName="horz1" presStyleCnt="0"/>
      <dgm:spPr/>
    </dgm:pt>
    <dgm:pt modelId="{BDEC50A2-48B9-4E6B-AC12-D5AE68E2478B}" type="pres">
      <dgm:prSet presAssocID="{6E083C27-59AE-469D-B27E-79BED80FD3AF}" presName="tx1" presStyleLbl="revTx" presStyleIdx="4" presStyleCnt="16"/>
      <dgm:spPr/>
    </dgm:pt>
    <dgm:pt modelId="{7ACFA639-3D95-4939-B39D-2B4817874FFF}" type="pres">
      <dgm:prSet presAssocID="{6E083C27-59AE-469D-B27E-79BED80FD3AF}" presName="vert1" presStyleCnt="0"/>
      <dgm:spPr/>
    </dgm:pt>
    <dgm:pt modelId="{6DAA7E97-323E-445F-8F44-39F0A74548ED}" type="pres">
      <dgm:prSet presAssocID="{5F2EB5F8-F41F-4033-9D91-4A4BFDD3098C}" presName="vertSpace2a" presStyleCnt="0"/>
      <dgm:spPr/>
    </dgm:pt>
    <dgm:pt modelId="{130282E5-B8AD-4DDB-9C86-62441B6F294D}" type="pres">
      <dgm:prSet presAssocID="{5F2EB5F8-F41F-4033-9D91-4A4BFDD3098C}" presName="horz2" presStyleCnt="0"/>
      <dgm:spPr/>
    </dgm:pt>
    <dgm:pt modelId="{0AFB39AE-9BDF-4688-B6B9-6B16B8E587AE}" type="pres">
      <dgm:prSet presAssocID="{5F2EB5F8-F41F-4033-9D91-4A4BFDD3098C}" presName="horzSpace2" presStyleCnt="0"/>
      <dgm:spPr/>
    </dgm:pt>
    <dgm:pt modelId="{58EE20D3-B120-4A5D-A446-7E9433950A0A}" type="pres">
      <dgm:prSet presAssocID="{5F2EB5F8-F41F-4033-9D91-4A4BFDD3098C}" presName="tx2" presStyleLbl="revTx" presStyleIdx="5" presStyleCnt="16"/>
      <dgm:spPr/>
    </dgm:pt>
    <dgm:pt modelId="{B16F0D65-4892-4656-BCFA-58E669EB0CEE}" type="pres">
      <dgm:prSet presAssocID="{5F2EB5F8-F41F-4033-9D91-4A4BFDD3098C}" presName="vert2" presStyleCnt="0"/>
      <dgm:spPr/>
    </dgm:pt>
    <dgm:pt modelId="{24ADEFB8-AA02-49FD-A1A8-987A9246E9C6}" type="pres">
      <dgm:prSet presAssocID="{5F2EB5F8-F41F-4033-9D91-4A4BFDD3098C}" presName="thinLine2b" presStyleLbl="callout" presStyleIdx="2" presStyleCnt="8"/>
      <dgm:spPr/>
    </dgm:pt>
    <dgm:pt modelId="{33B99FFB-13D1-48F1-BAB8-5B26FBA8A4B6}" type="pres">
      <dgm:prSet presAssocID="{5F2EB5F8-F41F-4033-9D91-4A4BFDD3098C}" presName="vertSpace2b" presStyleCnt="0"/>
      <dgm:spPr/>
    </dgm:pt>
    <dgm:pt modelId="{26081DA2-14FB-47AD-BDAF-2AF5C15A72BA}" type="pres">
      <dgm:prSet presAssocID="{FBB53AC4-CC13-4606-B503-327179B8D714}" presName="thickLine" presStyleLbl="alignNode1" presStyleIdx="3" presStyleCnt="8"/>
      <dgm:spPr/>
    </dgm:pt>
    <dgm:pt modelId="{744ADFC5-F739-4E06-8791-84E142FCD4E4}" type="pres">
      <dgm:prSet presAssocID="{FBB53AC4-CC13-4606-B503-327179B8D714}" presName="horz1" presStyleCnt="0"/>
      <dgm:spPr/>
    </dgm:pt>
    <dgm:pt modelId="{077AF4B7-503D-4949-8A66-5D2DBBDAB90A}" type="pres">
      <dgm:prSet presAssocID="{FBB53AC4-CC13-4606-B503-327179B8D714}" presName="tx1" presStyleLbl="revTx" presStyleIdx="6" presStyleCnt="16"/>
      <dgm:spPr/>
    </dgm:pt>
    <dgm:pt modelId="{B13198E5-37AB-4183-9D42-8699B736DE8B}" type="pres">
      <dgm:prSet presAssocID="{FBB53AC4-CC13-4606-B503-327179B8D714}" presName="vert1" presStyleCnt="0"/>
      <dgm:spPr/>
    </dgm:pt>
    <dgm:pt modelId="{093B9DD2-BCFF-4DDD-B90B-183B650AB1C5}" type="pres">
      <dgm:prSet presAssocID="{392BA46D-A8F9-4E27-BD4D-94CB84054E02}" presName="vertSpace2a" presStyleCnt="0"/>
      <dgm:spPr/>
    </dgm:pt>
    <dgm:pt modelId="{8E7AC7BE-9FD6-4FA5-97A3-9711816C23AD}" type="pres">
      <dgm:prSet presAssocID="{392BA46D-A8F9-4E27-BD4D-94CB84054E02}" presName="horz2" presStyleCnt="0"/>
      <dgm:spPr/>
    </dgm:pt>
    <dgm:pt modelId="{939BB2AD-F817-484D-B10B-9F5FC541AC34}" type="pres">
      <dgm:prSet presAssocID="{392BA46D-A8F9-4E27-BD4D-94CB84054E02}" presName="horzSpace2" presStyleCnt="0"/>
      <dgm:spPr/>
    </dgm:pt>
    <dgm:pt modelId="{16863E8E-48E5-4355-A297-CC3DBF7236D0}" type="pres">
      <dgm:prSet presAssocID="{392BA46D-A8F9-4E27-BD4D-94CB84054E02}" presName="tx2" presStyleLbl="revTx" presStyleIdx="7" presStyleCnt="16"/>
      <dgm:spPr/>
    </dgm:pt>
    <dgm:pt modelId="{33FD19AF-C2AE-4F3D-84EA-819807E284BF}" type="pres">
      <dgm:prSet presAssocID="{392BA46D-A8F9-4E27-BD4D-94CB84054E02}" presName="vert2" presStyleCnt="0"/>
      <dgm:spPr/>
    </dgm:pt>
    <dgm:pt modelId="{2E9566D3-9CE5-4942-B644-45282859829C}" type="pres">
      <dgm:prSet presAssocID="{392BA46D-A8F9-4E27-BD4D-94CB84054E02}" presName="thinLine2b" presStyleLbl="callout" presStyleIdx="3" presStyleCnt="8"/>
      <dgm:spPr/>
    </dgm:pt>
    <dgm:pt modelId="{55FA5738-A552-470A-BFCC-131FBF739EA4}" type="pres">
      <dgm:prSet presAssocID="{392BA46D-A8F9-4E27-BD4D-94CB84054E02}" presName="vertSpace2b" presStyleCnt="0"/>
      <dgm:spPr/>
    </dgm:pt>
    <dgm:pt modelId="{FBED7EAE-A363-4123-856A-38C12343775C}" type="pres">
      <dgm:prSet presAssocID="{0763835F-4F05-4025-B0C3-C34658CB138E}" presName="thickLine" presStyleLbl="alignNode1" presStyleIdx="4" presStyleCnt="8"/>
      <dgm:spPr/>
    </dgm:pt>
    <dgm:pt modelId="{146DA6B9-FCC3-48E2-981C-7D49EC97174E}" type="pres">
      <dgm:prSet presAssocID="{0763835F-4F05-4025-B0C3-C34658CB138E}" presName="horz1" presStyleCnt="0"/>
      <dgm:spPr/>
    </dgm:pt>
    <dgm:pt modelId="{EC2B9BBC-75B6-422C-A6E6-5ECC0BDD1D2E}" type="pres">
      <dgm:prSet presAssocID="{0763835F-4F05-4025-B0C3-C34658CB138E}" presName="tx1" presStyleLbl="revTx" presStyleIdx="8" presStyleCnt="16"/>
      <dgm:spPr/>
    </dgm:pt>
    <dgm:pt modelId="{CA40E28A-8DE7-4530-AFB3-96DA98A34C48}" type="pres">
      <dgm:prSet presAssocID="{0763835F-4F05-4025-B0C3-C34658CB138E}" presName="vert1" presStyleCnt="0"/>
      <dgm:spPr/>
    </dgm:pt>
    <dgm:pt modelId="{217A586A-A74E-4280-BEB7-84E0E700F0D8}" type="pres">
      <dgm:prSet presAssocID="{C65D6D9B-1FFC-44F3-AB66-DB0AD4B23AD7}" presName="vertSpace2a" presStyleCnt="0"/>
      <dgm:spPr/>
    </dgm:pt>
    <dgm:pt modelId="{931457E2-9347-4306-925D-7B3FA0F43A48}" type="pres">
      <dgm:prSet presAssocID="{C65D6D9B-1FFC-44F3-AB66-DB0AD4B23AD7}" presName="horz2" presStyleCnt="0"/>
      <dgm:spPr/>
    </dgm:pt>
    <dgm:pt modelId="{AE8C2E1C-676D-46F2-BDDF-53B6A2E0F926}" type="pres">
      <dgm:prSet presAssocID="{C65D6D9B-1FFC-44F3-AB66-DB0AD4B23AD7}" presName="horzSpace2" presStyleCnt="0"/>
      <dgm:spPr/>
    </dgm:pt>
    <dgm:pt modelId="{3B98E71A-3531-406E-9F2F-FB57B1F67B24}" type="pres">
      <dgm:prSet presAssocID="{C65D6D9B-1FFC-44F3-AB66-DB0AD4B23AD7}" presName="tx2" presStyleLbl="revTx" presStyleIdx="9" presStyleCnt="16"/>
      <dgm:spPr/>
    </dgm:pt>
    <dgm:pt modelId="{AAB65AE6-E1C2-4E06-B373-F12E4E6FC434}" type="pres">
      <dgm:prSet presAssocID="{C65D6D9B-1FFC-44F3-AB66-DB0AD4B23AD7}" presName="vert2" presStyleCnt="0"/>
      <dgm:spPr/>
    </dgm:pt>
    <dgm:pt modelId="{3282E641-D5BC-4FF3-B8A7-8890614B2323}" type="pres">
      <dgm:prSet presAssocID="{C65D6D9B-1FFC-44F3-AB66-DB0AD4B23AD7}" presName="thinLine2b" presStyleLbl="callout" presStyleIdx="4" presStyleCnt="8"/>
      <dgm:spPr/>
    </dgm:pt>
    <dgm:pt modelId="{7426EF2A-CEDD-4E3C-9B35-31EB73EE8AEA}" type="pres">
      <dgm:prSet presAssocID="{C65D6D9B-1FFC-44F3-AB66-DB0AD4B23AD7}" presName="vertSpace2b" presStyleCnt="0"/>
      <dgm:spPr/>
    </dgm:pt>
    <dgm:pt modelId="{6F972F5A-DA25-4EBC-B613-C100530CD689}" type="pres">
      <dgm:prSet presAssocID="{4BCA9CE4-8427-48EA-ABEF-70657C56FF5D}" presName="thickLine" presStyleLbl="alignNode1" presStyleIdx="5" presStyleCnt="8"/>
      <dgm:spPr/>
    </dgm:pt>
    <dgm:pt modelId="{BE099E57-3F48-4014-8B1C-EFF73D4B977B}" type="pres">
      <dgm:prSet presAssocID="{4BCA9CE4-8427-48EA-ABEF-70657C56FF5D}" presName="horz1" presStyleCnt="0"/>
      <dgm:spPr/>
    </dgm:pt>
    <dgm:pt modelId="{4979D6A3-4CF8-4C1F-9F2D-F3402B875667}" type="pres">
      <dgm:prSet presAssocID="{4BCA9CE4-8427-48EA-ABEF-70657C56FF5D}" presName="tx1" presStyleLbl="revTx" presStyleIdx="10" presStyleCnt="16"/>
      <dgm:spPr/>
    </dgm:pt>
    <dgm:pt modelId="{2766844A-7591-4FED-89EA-BD1BB918A0A9}" type="pres">
      <dgm:prSet presAssocID="{4BCA9CE4-8427-48EA-ABEF-70657C56FF5D}" presName="vert1" presStyleCnt="0"/>
      <dgm:spPr/>
    </dgm:pt>
    <dgm:pt modelId="{D4790072-CDA2-4309-AA54-BA380C5D2F28}" type="pres">
      <dgm:prSet presAssocID="{F47A7546-3E99-49C6-B6BE-5004AFE6EC52}" presName="vertSpace2a" presStyleCnt="0"/>
      <dgm:spPr/>
    </dgm:pt>
    <dgm:pt modelId="{E5531A98-355E-468A-AA62-5414EE703059}" type="pres">
      <dgm:prSet presAssocID="{F47A7546-3E99-49C6-B6BE-5004AFE6EC52}" presName="horz2" presStyleCnt="0"/>
      <dgm:spPr/>
    </dgm:pt>
    <dgm:pt modelId="{0AEF3058-0158-4BA6-8B20-FEBDD8DD76C7}" type="pres">
      <dgm:prSet presAssocID="{F47A7546-3E99-49C6-B6BE-5004AFE6EC52}" presName="horzSpace2" presStyleCnt="0"/>
      <dgm:spPr/>
    </dgm:pt>
    <dgm:pt modelId="{DEAB29E3-DE93-4BFF-BF38-1D9B406241E3}" type="pres">
      <dgm:prSet presAssocID="{F47A7546-3E99-49C6-B6BE-5004AFE6EC52}" presName="tx2" presStyleLbl="revTx" presStyleIdx="11" presStyleCnt="16"/>
      <dgm:spPr/>
    </dgm:pt>
    <dgm:pt modelId="{8F81AE71-DCD0-4926-8B2E-84308F7EADAE}" type="pres">
      <dgm:prSet presAssocID="{F47A7546-3E99-49C6-B6BE-5004AFE6EC52}" presName="vert2" presStyleCnt="0"/>
      <dgm:spPr/>
    </dgm:pt>
    <dgm:pt modelId="{A9397846-AF93-40B7-BEAC-6B66225BC582}" type="pres">
      <dgm:prSet presAssocID="{F47A7546-3E99-49C6-B6BE-5004AFE6EC52}" presName="thinLine2b" presStyleLbl="callout" presStyleIdx="5" presStyleCnt="8"/>
      <dgm:spPr/>
    </dgm:pt>
    <dgm:pt modelId="{EA2B77CA-4D94-4019-A41C-E7DDAF3347D0}" type="pres">
      <dgm:prSet presAssocID="{F47A7546-3E99-49C6-B6BE-5004AFE6EC52}" presName="vertSpace2b" presStyleCnt="0"/>
      <dgm:spPr/>
    </dgm:pt>
    <dgm:pt modelId="{3522C743-4C99-48F2-BADA-DDD2859CDACA}" type="pres">
      <dgm:prSet presAssocID="{B9FEC37D-25EA-485B-B862-B91782C9DD37}" presName="thickLine" presStyleLbl="alignNode1" presStyleIdx="6" presStyleCnt="8"/>
      <dgm:spPr/>
    </dgm:pt>
    <dgm:pt modelId="{07D336DA-FE6B-4502-8930-42CE9618CD17}" type="pres">
      <dgm:prSet presAssocID="{B9FEC37D-25EA-485B-B862-B91782C9DD37}" presName="horz1" presStyleCnt="0"/>
      <dgm:spPr/>
    </dgm:pt>
    <dgm:pt modelId="{0D8727DE-E62F-46F4-B4B2-45D45B652DAC}" type="pres">
      <dgm:prSet presAssocID="{B9FEC37D-25EA-485B-B862-B91782C9DD37}" presName="tx1" presStyleLbl="revTx" presStyleIdx="12" presStyleCnt="16"/>
      <dgm:spPr/>
    </dgm:pt>
    <dgm:pt modelId="{9409E63C-264E-456A-85B1-E8A0BE5B8183}" type="pres">
      <dgm:prSet presAssocID="{B9FEC37D-25EA-485B-B862-B91782C9DD37}" presName="vert1" presStyleCnt="0"/>
      <dgm:spPr/>
    </dgm:pt>
    <dgm:pt modelId="{1BBFA6D8-7001-42EE-B95F-B9F6BFC4AA91}" type="pres">
      <dgm:prSet presAssocID="{43BBC6FA-5A81-4BD6-BB79-FC421416D794}" presName="vertSpace2a" presStyleCnt="0"/>
      <dgm:spPr/>
    </dgm:pt>
    <dgm:pt modelId="{2DA28750-EEAF-4197-AD60-99F3F963823F}" type="pres">
      <dgm:prSet presAssocID="{43BBC6FA-5A81-4BD6-BB79-FC421416D794}" presName="horz2" presStyleCnt="0"/>
      <dgm:spPr/>
    </dgm:pt>
    <dgm:pt modelId="{7C1E526C-EBD5-4CD1-AE31-C78FA3416136}" type="pres">
      <dgm:prSet presAssocID="{43BBC6FA-5A81-4BD6-BB79-FC421416D794}" presName="horzSpace2" presStyleCnt="0"/>
      <dgm:spPr/>
    </dgm:pt>
    <dgm:pt modelId="{6368106C-2B2A-47DD-B3E2-8EE48BF99B00}" type="pres">
      <dgm:prSet presAssocID="{43BBC6FA-5A81-4BD6-BB79-FC421416D794}" presName="tx2" presStyleLbl="revTx" presStyleIdx="13" presStyleCnt="16"/>
      <dgm:spPr/>
    </dgm:pt>
    <dgm:pt modelId="{2C54B499-57A8-4F5F-A880-8D6C8FDBC0F1}" type="pres">
      <dgm:prSet presAssocID="{43BBC6FA-5A81-4BD6-BB79-FC421416D794}" presName="vert2" presStyleCnt="0"/>
      <dgm:spPr/>
    </dgm:pt>
    <dgm:pt modelId="{FEE0D8E4-7F68-4FF3-A4D4-3E9C75EC6863}" type="pres">
      <dgm:prSet presAssocID="{43BBC6FA-5A81-4BD6-BB79-FC421416D794}" presName="thinLine2b" presStyleLbl="callout" presStyleIdx="6" presStyleCnt="8"/>
      <dgm:spPr/>
    </dgm:pt>
    <dgm:pt modelId="{E2F1D25C-26E3-4E53-BADE-C20538C851D1}" type="pres">
      <dgm:prSet presAssocID="{43BBC6FA-5A81-4BD6-BB79-FC421416D794}" presName="vertSpace2b" presStyleCnt="0"/>
      <dgm:spPr/>
    </dgm:pt>
    <dgm:pt modelId="{C3AB5F92-6D8E-4988-8393-03262CF21A86}" type="pres">
      <dgm:prSet presAssocID="{C499E392-3BFF-4786-8B99-18430E25181D}" presName="thickLine" presStyleLbl="alignNode1" presStyleIdx="7" presStyleCnt="8"/>
      <dgm:spPr/>
    </dgm:pt>
    <dgm:pt modelId="{15B8557A-B3B0-4A64-9DEF-1F8D77F5E5DE}" type="pres">
      <dgm:prSet presAssocID="{C499E392-3BFF-4786-8B99-18430E25181D}" presName="horz1" presStyleCnt="0"/>
      <dgm:spPr/>
    </dgm:pt>
    <dgm:pt modelId="{55489179-6D82-4B00-9C0E-FDDFC493C5AA}" type="pres">
      <dgm:prSet presAssocID="{C499E392-3BFF-4786-8B99-18430E25181D}" presName="tx1" presStyleLbl="revTx" presStyleIdx="14" presStyleCnt="16"/>
      <dgm:spPr/>
    </dgm:pt>
    <dgm:pt modelId="{4065AC1C-6A68-4C3B-97B0-4C57468CE6E6}" type="pres">
      <dgm:prSet presAssocID="{C499E392-3BFF-4786-8B99-18430E25181D}" presName="vert1" presStyleCnt="0"/>
      <dgm:spPr/>
    </dgm:pt>
    <dgm:pt modelId="{DAC5BB69-CE0F-4160-9169-B5C73AB10C83}" type="pres">
      <dgm:prSet presAssocID="{832E7D9B-E9F4-4AD5-9CC4-82ECA718A70D}" presName="vertSpace2a" presStyleCnt="0"/>
      <dgm:spPr/>
    </dgm:pt>
    <dgm:pt modelId="{AB0034FF-6F54-409F-A212-8FC49C889161}" type="pres">
      <dgm:prSet presAssocID="{832E7D9B-E9F4-4AD5-9CC4-82ECA718A70D}" presName="horz2" presStyleCnt="0"/>
      <dgm:spPr/>
    </dgm:pt>
    <dgm:pt modelId="{290FD9D3-E2F9-49A9-BFA5-76D7B68A3B6D}" type="pres">
      <dgm:prSet presAssocID="{832E7D9B-E9F4-4AD5-9CC4-82ECA718A70D}" presName="horzSpace2" presStyleCnt="0"/>
      <dgm:spPr/>
    </dgm:pt>
    <dgm:pt modelId="{D619E146-7A48-4CB2-B48E-B8E80FC4D63C}" type="pres">
      <dgm:prSet presAssocID="{832E7D9B-E9F4-4AD5-9CC4-82ECA718A70D}" presName="tx2" presStyleLbl="revTx" presStyleIdx="15" presStyleCnt="16"/>
      <dgm:spPr/>
    </dgm:pt>
    <dgm:pt modelId="{28791CC4-D48F-401B-822E-DE3441B32E4D}" type="pres">
      <dgm:prSet presAssocID="{832E7D9B-E9F4-4AD5-9CC4-82ECA718A70D}" presName="vert2" presStyleCnt="0"/>
      <dgm:spPr/>
    </dgm:pt>
    <dgm:pt modelId="{955033DF-A638-4CFA-AC7D-DA1186A11CC4}" type="pres">
      <dgm:prSet presAssocID="{832E7D9B-E9F4-4AD5-9CC4-82ECA718A70D}" presName="thinLine2b" presStyleLbl="callout" presStyleIdx="7" presStyleCnt="8"/>
      <dgm:spPr/>
    </dgm:pt>
    <dgm:pt modelId="{70D9EE9D-98FF-41CA-984A-519DE253C3BC}" type="pres">
      <dgm:prSet presAssocID="{832E7D9B-E9F4-4AD5-9CC4-82ECA718A70D}" presName="vertSpace2b" presStyleCnt="0"/>
      <dgm:spPr/>
    </dgm:pt>
  </dgm:ptLst>
  <dgm:cxnLst>
    <dgm:cxn modelId="{19C38508-AA4B-447D-80DB-42BAF2CFF84F}" type="presOf" srcId="{C65D6D9B-1FFC-44F3-AB66-DB0AD4B23AD7}" destId="{3B98E71A-3531-406E-9F2F-FB57B1F67B24}" srcOrd="0" destOrd="0" presId="urn:microsoft.com/office/officeart/2008/layout/LinedList"/>
    <dgm:cxn modelId="{D2ECAE1A-5BA7-433B-8F59-B0275D9450F4}" srcId="{34E9E3F7-F17B-4340-83E8-092ECE1BA6A7}" destId="{0763835F-4F05-4025-B0C3-C34658CB138E}" srcOrd="4" destOrd="0" parTransId="{E2119266-487F-4CE9-A311-76DC21BAA3F1}" sibTransId="{81A49094-C2ED-4C45-A219-02EF9E261DDC}"/>
    <dgm:cxn modelId="{B6F6F61A-F2CB-42E9-8059-A1542FA02E6B}" type="presOf" srcId="{C1558CA7-07E0-467C-99EA-F842C016D964}" destId="{D782E8DF-0FD3-427C-9736-F0C7F474C7E3}" srcOrd="0" destOrd="0" presId="urn:microsoft.com/office/officeart/2008/layout/LinedList"/>
    <dgm:cxn modelId="{F0C3851F-4DFB-4B63-9058-DCD9CE4E293E}" srcId="{34E9E3F7-F17B-4340-83E8-092ECE1BA6A7}" destId="{155975C7-EE2F-4490-B653-1CBCACEB44E2}" srcOrd="0" destOrd="0" parTransId="{8743E79D-3313-434F-8E4F-4C3A6ABA44C2}" sibTransId="{BE0709DB-9E2D-4C93-83BE-B5CFF4BE7955}"/>
    <dgm:cxn modelId="{D4B1E923-69C3-4930-90B3-CF5DD6C0E7B1}" srcId="{BDF52988-7751-4127-98AB-EDA42B54493D}" destId="{C00B0A5B-553E-4FBF-A641-8D79A28BFA4B}" srcOrd="0" destOrd="0" parTransId="{C0B93D78-C1DC-4026-A950-D4BFA1F322BF}" sibTransId="{1B6579C4-C121-42C8-BC06-10A14966359A}"/>
    <dgm:cxn modelId="{58AED328-8F9C-447C-A7D4-D56A4ADAD007}" type="presOf" srcId="{5F2EB5F8-F41F-4033-9D91-4A4BFDD3098C}" destId="{58EE20D3-B120-4A5D-A446-7E9433950A0A}" srcOrd="0" destOrd="0" presId="urn:microsoft.com/office/officeart/2008/layout/LinedList"/>
    <dgm:cxn modelId="{06D57235-EF4F-4AFE-9508-F3D6328381A8}" type="presOf" srcId="{0763835F-4F05-4025-B0C3-C34658CB138E}" destId="{EC2B9BBC-75B6-422C-A6E6-5ECC0BDD1D2E}" srcOrd="0" destOrd="0" presId="urn:microsoft.com/office/officeart/2008/layout/LinedList"/>
    <dgm:cxn modelId="{EF6A4B37-9EA5-4C83-A3E9-B6F37FC6AE1D}" type="presOf" srcId="{43BBC6FA-5A81-4BD6-BB79-FC421416D794}" destId="{6368106C-2B2A-47DD-B3E2-8EE48BF99B00}" srcOrd="0" destOrd="0" presId="urn:microsoft.com/office/officeart/2008/layout/LinedList"/>
    <dgm:cxn modelId="{3422335C-0607-476A-BDFC-800DA6E6234F}" type="presOf" srcId="{832E7D9B-E9F4-4AD5-9CC4-82ECA718A70D}" destId="{D619E146-7A48-4CB2-B48E-B8E80FC4D63C}" srcOrd="0" destOrd="0" presId="urn:microsoft.com/office/officeart/2008/layout/LinedList"/>
    <dgm:cxn modelId="{6BAEA75F-2E88-43D7-9A0B-4E7074F2D6B3}" type="presOf" srcId="{B9FEC37D-25EA-485B-B862-B91782C9DD37}" destId="{0D8727DE-E62F-46F4-B4B2-45D45B652DAC}" srcOrd="0" destOrd="0" presId="urn:microsoft.com/office/officeart/2008/layout/LinedList"/>
    <dgm:cxn modelId="{F4A3F966-8A7D-4C24-BA33-1335DC422E0B}" srcId="{34E9E3F7-F17B-4340-83E8-092ECE1BA6A7}" destId="{B9FEC37D-25EA-485B-B862-B91782C9DD37}" srcOrd="6" destOrd="0" parTransId="{60B556EC-6D3D-48BF-AD3C-A586A87FAF4C}" sibTransId="{26C67A30-1F4B-4C23-8DBE-94CD1D218F81}"/>
    <dgm:cxn modelId="{CFB87168-6475-4580-958A-BED7C887A0E0}" srcId="{34E9E3F7-F17B-4340-83E8-092ECE1BA6A7}" destId="{FBB53AC4-CC13-4606-B503-327179B8D714}" srcOrd="3" destOrd="0" parTransId="{431B0E3F-9C3D-4A42-9101-236F7EC5B831}" sibTransId="{BBE739CA-5CF2-4228-B819-8F3070A49FDF}"/>
    <dgm:cxn modelId="{371A5948-5278-435A-B113-CA228AA9533F}" type="presOf" srcId="{FBB53AC4-CC13-4606-B503-327179B8D714}" destId="{077AF4B7-503D-4949-8A66-5D2DBBDAB90A}" srcOrd="0" destOrd="0" presId="urn:microsoft.com/office/officeart/2008/layout/LinedList"/>
    <dgm:cxn modelId="{FAA64F6C-BEEB-4B0C-9D0E-D16024DD90B5}" type="presOf" srcId="{392BA46D-A8F9-4E27-BD4D-94CB84054E02}" destId="{16863E8E-48E5-4355-A297-CC3DBF7236D0}" srcOrd="0" destOrd="0" presId="urn:microsoft.com/office/officeart/2008/layout/LinedList"/>
    <dgm:cxn modelId="{9BEFB96C-3E42-42CD-8B4F-7D2264BDA98D}" srcId="{C499E392-3BFF-4786-8B99-18430E25181D}" destId="{832E7D9B-E9F4-4AD5-9CC4-82ECA718A70D}" srcOrd="0" destOrd="0" parTransId="{A0EFD748-3E05-495E-B630-95ED0BD1B2AF}" sibTransId="{638CF464-E4A3-42FF-914D-3FDC8AA27F49}"/>
    <dgm:cxn modelId="{42EAFF6C-43CD-47C1-8B4A-CD0FBFA977D4}" type="presOf" srcId="{155975C7-EE2F-4490-B653-1CBCACEB44E2}" destId="{4D8CA52D-F5E2-49FE-8DAD-D65E24D20B4F}" srcOrd="0" destOrd="0" presId="urn:microsoft.com/office/officeart/2008/layout/LinedList"/>
    <dgm:cxn modelId="{A4D3C474-83AC-4DC5-8D97-2242926AA860}" type="presOf" srcId="{4BCA9CE4-8427-48EA-ABEF-70657C56FF5D}" destId="{4979D6A3-4CF8-4C1F-9F2D-F3402B875667}" srcOrd="0" destOrd="0" presId="urn:microsoft.com/office/officeart/2008/layout/LinedList"/>
    <dgm:cxn modelId="{C50C2D75-4C6A-4189-8961-18D4E3C6AC7E}" type="presOf" srcId="{BDF52988-7751-4127-98AB-EDA42B54493D}" destId="{0B4BE777-73BF-4E3D-AC5D-53DB54B9318C}" srcOrd="0" destOrd="0" presId="urn:microsoft.com/office/officeart/2008/layout/LinedList"/>
    <dgm:cxn modelId="{9141DB86-9A38-4963-9F5A-6707A338E2B2}" type="presOf" srcId="{F47A7546-3E99-49C6-B6BE-5004AFE6EC52}" destId="{DEAB29E3-DE93-4BFF-BF38-1D9B406241E3}" srcOrd="0" destOrd="0" presId="urn:microsoft.com/office/officeart/2008/layout/LinedList"/>
    <dgm:cxn modelId="{4716C294-D87B-4146-AF55-21F1D9CCB6A6}" srcId="{34E9E3F7-F17B-4340-83E8-092ECE1BA6A7}" destId="{4BCA9CE4-8427-48EA-ABEF-70657C56FF5D}" srcOrd="5" destOrd="0" parTransId="{6006803F-EBB3-4960-9A2A-CA85DA91B02B}" sibTransId="{28C07AB1-1776-4A19-B6A3-8BC6BBD8095D}"/>
    <dgm:cxn modelId="{0CD867A7-2233-4653-A89F-621F96DA07CA}" srcId="{FBB53AC4-CC13-4606-B503-327179B8D714}" destId="{392BA46D-A8F9-4E27-BD4D-94CB84054E02}" srcOrd="0" destOrd="0" parTransId="{73F179CB-1A58-4D79-AB29-1F9EB3EB6098}" sibTransId="{75111269-FEDD-4749-809E-2842B28A9069}"/>
    <dgm:cxn modelId="{D56A34B0-A3B7-40D1-8083-45EEC22CF7AC}" srcId="{6E083C27-59AE-469D-B27E-79BED80FD3AF}" destId="{5F2EB5F8-F41F-4033-9D91-4A4BFDD3098C}" srcOrd="0" destOrd="0" parTransId="{A5FE3502-978B-43AC-9C5F-78D84B23AE46}" sibTransId="{B231385F-E41A-425D-97C7-6BBD1341DD2B}"/>
    <dgm:cxn modelId="{A043A3B1-604D-40AB-B3E4-74269FDF6907}" type="presOf" srcId="{34E9E3F7-F17B-4340-83E8-092ECE1BA6A7}" destId="{4CDB5D44-4728-4DB0-ACC5-AEAA94DD52D8}" srcOrd="0" destOrd="0" presId="urn:microsoft.com/office/officeart/2008/layout/LinedList"/>
    <dgm:cxn modelId="{DF90E5C5-BCF5-437C-8B7F-DFDC1D8A4B22}" type="presOf" srcId="{6E083C27-59AE-469D-B27E-79BED80FD3AF}" destId="{BDEC50A2-48B9-4E6B-AC12-D5AE68E2478B}" srcOrd="0" destOrd="0" presId="urn:microsoft.com/office/officeart/2008/layout/LinedList"/>
    <dgm:cxn modelId="{BAB2F0D0-457B-45FE-A4D9-08872BFCF86F}" type="presOf" srcId="{C499E392-3BFF-4786-8B99-18430E25181D}" destId="{55489179-6D82-4B00-9C0E-FDDFC493C5AA}" srcOrd="0" destOrd="0" presId="urn:microsoft.com/office/officeart/2008/layout/LinedList"/>
    <dgm:cxn modelId="{758D1FD4-FDFA-4CCD-8372-69834A9C6B23}" srcId="{0763835F-4F05-4025-B0C3-C34658CB138E}" destId="{C65D6D9B-1FFC-44F3-AB66-DB0AD4B23AD7}" srcOrd="0" destOrd="0" parTransId="{5C104F88-CC15-427A-B9E0-1E420C4933A5}" sibTransId="{F5F2EF74-4D5F-4D74-897D-1536198E391B}"/>
    <dgm:cxn modelId="{260FABD6-CA0F-401C-B92E-D5FF912F3B5A}" srcId="{34E9E3F7-F17B-4340-83E8-092ECE1BA6A7}" destId="{C499E392-3BFF-4786-8B99-18430E25181D}" srcOrd="7" destOrd="0" parTransId="{C05CA4A6-EFC8-4501-A1E8-90A7D133B97B}" sibTransId="{0E7985AA-DDC2-419B-9389-3642F8B386BF}"/>
    <dgm:cxn modelId="{3AEAADD8-4AF6-43BC-8F05-78BE08BD50DC}" srcId="{155975C7-EE2F-4490-B653-1CBCACEB44E2}" destId="{C1558CA7-07E0-467C-99EA-F842C016D964}" srcOrd="0" destOrd="0" parTransId="{E5CAC947-29E1-43FB-8678-0F94E976B882}" sibTransId="{D4000958-FE5D-48AA-97E5-C1B6E7B71BC8}"/>
    <dgm:cxn modelId="{0BE4C4E0-E8FB-4117-89E5-8B808C9BDE38}" srcId="{B9FEC37D-25EA-485B-B862-B91782C9DD37}" destId="{43BBC6FA-5A81-4BD6-BB79-FC421416D794}" srcOrd="0" destOrd="0" parTransId="{CE7BC3B1-86F7-4BA9-A5A4-3FD0812A095F}" sibTransId="{EAA4F532-8D39-470D-94DB-FE7A6C7A1A1F}"/>
    <dgm:cxn modelId="{E6B4DFEB-C391-408A-8FF5-A9ED2DC8198B}" type="presOf" srcId="{C00B0A5B-553E-4FBF-A641-8D79A28BFA4B}" destId="{6C6C5878-1A13-4799-A9E1-C78372BF709B}" srcOrd="0" destOrd="0" presId="urn:microsoft.com/office/officeart/2008/layout/LinedList"/>
    <dgm:cxn modelId="{030BF3F7-9CA2-4FE5-8A4D-A15D57B4A6C7}" srcId="{4BCA9CE4-8427-48EA-ABEF-70657C56FF5D}" destId="{F47A7546-3E99-49C6-B6BE-5004AFE6EC52}" srcOrd="0" destOrd="0" parTransId="{2F979DD3-4E20-4DB4-AF74-341D2F7E920F}" sibTransId="{79200F3E-625B-41E5-907E-26BF72C038E0}"/>
    <dgm:cxn modelId="{E33FDDF9-7D66-46B0-8638-440CCBF859AF}" srcId="{34E9E3F7-F17B-4340-83E8-092ECE1BA6A7}" destId="{6E083C27-59AE-469D-B27E-79BED80FD3AF}" srcOrd="2" destOrd="0" parTransId="{47DE3305-3158-4058-8199-EC7459ED9075}" sibTransId="{B49FFA43-9FC8-4195-A374-35D0925AC587}"/>
    <dgm:cxn modelId="{1DF57EFD-C843-4718-ACAE-F6710124919C}" srcId="{34E9E3F7-F17B-4340-83E8-092ECE1BA6A7}" destId="{BDF52988-7751-4127-98AB-EDA42B54493D}" srcOrd="1" destOrd="0" parTransId="{51E45D78-8CD0-410E-801E-D8A8404A8632}" sibTransId="{BE25C9B9-FD0D-4ED3-A698-E882BFF264F8}"/>
    <dgm:cxn modelId="{AA7ED4A4-F99D-4DC7-9442-5C0B6A79D512}" type="presParOf" srcId="{4CDB5D44-4728-4DB0-ACC5-AEAA94DD52D8}" destId="{E69B6CA2-BA2B-4B6D-88EF-2E79554CCF64}" srcOrd="0" destOrd="0" presId="urn:microsoft.com/office/officeart/2008/layout/LinedList"/>
    <dgm:cxn modelId="{A0DB581D-64A9-4CD9-A815-8C8B300725A0}" type="presParOf" srcId="{4CDB5D44-4728-4DB0-ACC5-AEAA94DD52D8}" destId="{D9AA903C-E4F5-49D9-9862-F68301B9DF5F}" srcOrd="1" destOrd="0" presId="urn:microsoft.com/office/officeart/2008/layout/LinedList"/>
    <dgm:cxn modelId="{ED6DAE30-96B0-4D0D-AC15-E22B3BC8AFD1}" type="presParOf" srcId="{D9AA903C-E4F5-49D9-9862-F68301B9DF5F}" destId="{4D8CA52D-F5E2-49FE-8DAD-D65E24D20B4F}" srcOrd="0" destOrd="0" presId="urn:microsoft.com/office/officeart/2008/layout/LinedList"/>
    <dgm:cxn modelId="{509E839B-005C-4B64-94B8-7166B6726BF8}" type="presParOf" srcId="{D9AA903C-E4F5-49D9-9862-F68301B9DF5F}" destId="{4596CA93-2B56-4767-932F-9F36D308483A}" srcOrd="1" destOrd="0" presId="urn:microsoft.com/office/officeart/2008/layout/LinedList"/>
    <dgm:cxn modelId="{09E522C5-2F96-49BF-8525-57416E4B4934}" type="presParOf" srcId="{4596CA93-2B56-4767-932F-9F36D308483A}" destId="{974E2B9E-1BEF-4C56-AF6C-5E39FD7DBB0C}" srcOrd="0" destOrd="0" presId="urn:microsoft.com/office/officeart/2008/layout/LinedList"/>
    <dgm:cxn modelId="{72E51A1E-241B-4484-83F1-215BB4E06C59}" type="presParOf" srcId="{4596CA93-2B56-4767-932F-9F36D308483A}" destId="{F08D1E11-0974-4D50-980B-22D1588B3D70}" srcOrd="1" destOrd="0" presId="urn:microsoft.com/office/officeart/2008/layout/LinedList"/>
    <dgm:cxn modelId="{78FCEA89-82C0-4082-8ADC-78C3F1797420}" type="presParOf" srcId="{F08D1E11-0974-4D50-980B-22D1588B3D70}" destId="{59E84954-B63C-41D8-9386-8511BD864726}" srcOrd="0" destOrd="0" presId="urn:microsoft.com/office/officeart/2008/layout/LinedList"/>
    <dgm:cxn modelId="{6BAA267F-A0B8-4E59-9044-DF1DA4F6C2B3}" type="presParOf" srcId="{F08D1E11-0974-4D50-980B-22D1588B3D70}" destId="{D782E8DF-0FD3-427C-9736-F0C7F474C7E3}" srcOrd="1" destOrd="0" presId="urn:microsoft.com/office/officeart/2008/layout/LinedList"/>
    <dgm:cxn modelId="{0AE50340-FF98-44CB-97CB-95BB49565CE3}" type="presParOf" srcId="{F08D1E11-0974-4D50-980B-22D1588B3D70}" destId="{A099E37D-0674-45B7-8680-718A42D1BFE6}" srcOrd="2" destOrd="0" presId="urn:microsoft.com/office/officeart/2008/layout/LinedList"/>
    <dgm:cxn modelId="{0932F19B-A6AF-4DBC-B059-43560C1B750A}" type="presParOf" srcId="{4596CA93-2B56-4767-932F-9F36D308483A}" destId="{B49AD372-8C98-46F0-9757-83E304BAB9F0}" srcOrd="2" destOrd="0" presId="urn:microsoft.com/office/officeart/2008/layout/LinedList"/>
    <dgm:cxn modelId="{74324835-9D2F-48FB-A9A4-2A11E0F24101}" type="presParOf" srcId="{4596CA93-2B56-4767-932F-9F36D308483A}" destId="{82829B75-789D-4938-B669-1D8D16005787}" srcOrd="3" destOrd="0" presId="urn:microsoft.com/office/officeart/2008/layout/LinedList"/>
    <dgm:cxn modelId="{42514520-8AFA-4692-A71B-D12DCF5277AD}" type="presParOf" srcId="{4CDB5D44-4728-4DB0-ACC5-AEAA94DD52D8}" destId="{BC8E9086-57FB-4995-97EE-9D795EA22599}" srcOrd="2" destOrd="0" presId="urn:microsoft.com/office/officeart/2008/layout/LinedList"/>
    <dgm:cxn modelId="{395D3E58-4E3A-4ACA-863E-DFB2F01662D6}" type="presParOf" srcId="{4CDB5D44-4728-4DB0-ACC5-AEAA94DD52D8}" destId="{B1540BD8-D6EB-471E-87FC-24478A3F24A6}" srcOrd="3" destOrd="0" presId="urn:microsoft.com/office/officeart/2008/layout/LinedList"/>
    <dgm:cxn modelId="{3C017BAA-FE8D-4179-B835-09A33242279B}" type="presParOf" srcId="{B1540BD8-D6EB-471E-87FC-24478A3F24A6}" destId="{0B4BE777-73BF-4E3D-AC5D-53DB54B9318C}" srcOrd="0" destOrd="0" presId="urn:microsoft.com/office/officeart/2008/layout/LinedList"/>
    <dgm:cxn modelId="{81AC954A-E2B7-4C54-B8CD-01EDEC6D13B3}" type="presParOf" srcId="{B1540BD8-D6EB-471E-87FC-24478A3F24A6}" destId="{18A65EFC-BF39-4EB4-9A8B-0E7DE59D3C14}" srcOrd="1" destOrd="0" presId="urn:microsoft.com/office/officeart/2008/layout/LinedList"/>
    <dgm:cxn modelId="{5F473A17-C431-4D61-AC1B-9898CA1FB1CE}" type="presParOf" srcId="{18A65EFC-BF39-4EB4-9A8B-0E7DE59D3C14}" destId="{C1F50F08-61DF-4BF4-911B-63F1950EC2AC}" srcOrd="0" destOrd="0" presId="urn:microsoft.com/office/officeart/2008/layout/LinedList"/>
    <dgm:cxn modelId="{07E0A3FA-4823-41D7-AAAA-20A1407392EC}" type="presParOf" srcId="{18A65EFC-BF39-4EB4-9A8B-0E7DE59D3C14}" destId="{9963243F-09C3-4DF9-80B8-13C70F70D867}" srcOrd="1" destOrd="0" presId="urn:microsoft.com/office/officeart/2008/layout/LinedList"/>
    <dgm:cxn modelId="{A2BDD0A1-672E-420E-B181-9D571A30606D}" type="presParOf" srcId="{9963243F-09C3-4DF9-80B8-13C70F70D867}" destId="{F0C6AEC6-D66E-4015-8A05-1183C3AEFD1E}" srcOrd="0" destOrd="0" presId="urn:microsoft.com/office/officeart/2008/layout/LinedList"/>
    <dgm:cxn modelId="{543BD2DE-326A-4001-BF9D-8D5EA8ADC904}" type="presParOf" srcId="{9963243F-09C3-4DF9-80B8-13C70F70D867}" destId="{6C6C5878-1A13-4799-A9E1-C78372BF709B}" srcOrd="1" destOrd="0" presId="urn:microsoft.com/office/officeart/2008/layout/LinedList"/>
    <dgm:cxn modelId="{6A715086-1011-45BA-A1CA-8D5D5660DB11}" type="presParOf" srcId="{9963243F-09C3-4DF9-80B8-13C70F70D867}" destId="{8265944D-8398-4872-B299-9712C32B77D1}" srcOrd="2" destOrd="0" presId="urn:microsoft.com/office/officeart/2008/layout/LinedList"/>
    <dgm:cxn modelId="{1713EFA1-E05E-41AE-9527-CA31AA54E67C}" type="presParOf" srcId="{18A65EFC-BF39-4EB4-9A8B-0E7DE59D3C14}" destId="{450FB1D1-621B-4915-9813-537811FD7D58}" srcOrd="2" destOrd="0" presId="urn:microsoft.com/office/officeart/2008/layout/LinedList"/>
    <dgm:cxn modelId="{2BD92866-392B-43B7-85D0-E2997C2DB042}" type="presParOf" srcId="{18A65EFC-BF39-4EB4-9A8B-0E7DE59D3C14}" destId="{E3AD0373-AE6E-419E-9675-5007B6456EB0}" srcOrd="3" destOrd="0" presId="urn:microsoft.com/office/officeart/2008/layout/LinedList"/>
    <dgm:cxn modelId="{724CA793-E299-49A9-B27C-97F56528C0CE}" type="presParOf" srcId="{4CDB5D44-4728-4DB0-ACC5-AEAA94DD52D8}" destId="{19FA8657-B158-4A0E-98E2-869168ED0F7C}" srcOrd="4" destOrd="0" presId="urn:microsoft.com/office/officeart/2008/layout/LinedList"/>
    <dgm:cxn modelId="{6A833AA5-7B74-42F5-822E-699821CD2909}" type="presParOf" srcId="{4CDB5D44-4728-4DB0-ACC5-AEAA94DD52D8}" destId="{0A65616F-62B7-43CE-ABD1-3374E2265084}" srcOrd="5" destOrd="0" presId="urn:microsoft.com/office/officeart/2008/layout/LinedList"/>
    <dgm:cxn modelId="{8C6A0D40-0FFF-4602-9513-7AD238DA67CD}" type="presParOf" srcId="{0A65616F-62B7-43CE-ABD1-3374E2265084}" destId="{BDEC50A2-48B9-4E6B-AC12-D5AE68E2478B}" srcOrd="0" destOrd="0" presId="urn:microsoft.com/office/officeart/2008/layout/LinedList"/>
    <dgm:cxn modelId="{8665095F-ED2A-4DC8-A59F-8EE11042D871}" type="presParOf" srcId="{0A65616F-62B7-43CE-ABD1-3374E2265084}" destId="{7ACFA639-3D95-4939-B39D-2B4817874FFF}" srcOrd="1" destOrd="0" presId="urn:microsoft.com/office/officeart/2008/layout/LinedList"/>
    <dgm:cxn modelId="{3F20B254-C94C-4241-9B93-036593317675}" type="presParOf" srcId="{7ACFA639-3D95-4939-B39D-2B4817874FFF}" destId="{6DAA7E97-323E-445F-8F44-39F0A74548ED}" srcOrd="0" destOrd="0" presId="urn:microsoft.com/office/officeart/2008/layout/LinedList"/>
    <dgm:cxn modelId="{B35452C2-F721-4749-B46E-1631CC4CE437}" type="presParOf" srcId="{7ACFA639-3D95-4939-B39D-2B4817874FFF}" destId="{130282E5-B8AD-4DDB-9C86-62441B6F294D}" srcOrd="1" destOrd="0" presId="urn:microsoft.com/office/officeart/2008/layout/LinedList"/>
    <dgm:cxn modelId="{EF9296FD-FEAD-4E26-873F-0967BB8E4041}" type="presParOf" srcId="{130282E5-B8AD-4DDB-9C86-62441B6F294D}" destId="{0AFB39AE-9BDF-4688-B6B9-6B16B8E587AE}" srcOrd="0" destOrd="0" presId="urn:microsoft.com/office/officeart/2008/layout/LinedList"/>
    <dgm:cxn modelId="{050A0B07-4341-4074-9B28-2F8DC26B6DE8}" type="presParOf" srcId="{130282E5-B8AD-4DDB-9C86-62441B6F294D}" destId="{58EE20D3-B120-4A5D-A446-7E9433950A0A}" srcOrd="1" destOrd="0" presId="urn:microsoft.com/office/officeart/2008/layout/LinedList"/>
    <dgm:cxn modelId="{5E9706D1-6909-452A-83F0-F14881486250}" type="presParOf" srcId="{130282E5-B8AD-4DDB-9C86-62441B6F294D}" destId="{B16F0D65-4892-4656-BCFA-58E669EB0CEE}" srcOrd="2" destOrd="0" presId="urn:microsoft.com/office/officeart/2008/layout/LinedList"/>
    <dgm:cxn modelId="{0D01F4A4-1B3A-4D0D-AE49-9429C637993E}" type="presParOf" srcId="{7ACFA639-3D95-4939-B39D-2B4817874FFF}" destId="{24ADEFB8-AA02-49FD-A1A8-987A9246E9C6}" srcOrd="2" destOrd="0" presId="urn:microsoft.com/office/officeart/2008/layout/LinedList"/>
    <dgm:cxn modelId="{97E8B2A8-A969-4108-9991-1C7A1973E726}" type="presParOf" srcId="{7ACFA639-3D95-4939-B39D-2B4817874FFF}" destId="{33B99FFB-13D1-48F1-BAB8-5B26FBA8A4B6}" srcOrd="3" destOrd="0" presId="urn:microsoft.com/office/officeart/2008/layout/LinedList"/>
    <dgm:cxn modelId="{43567DA9-B2A0-4890-ABC4-2A751F8B07C0}" type="presParOf" srcId="{4CDB5D44-4728-4DB0-ACC5-AEAA94DD52D8}" destId="{26081DA2-14FB-47AD-BDAF-2AF5C15A72BA}" srcOrd="6" destOrd="0" presId="urn:microsoft.com/office/officeart/2008/layout/LinedList"/>
    <dgm:cxn modelId="{87D0B84E-58B9-440B-94A2-5DF4B3593E44}" type="presParOf" srcId="{4CDB5D44-4728-4DB0-ACC5-AEAA94DD52D8}" destId="{744ADFC5-F739-4E06-8791-84E142FCD4E4}" srcOrd="7" destOrd="0" presId="urn:microsoft.com/office/officeart/2008/layout/LinedList"/>
    <dgm:cxn modelId="{35A156ED-6CDC-415A-B727-71592A06E693}" type="presParOf" srcId="{744ADFC5-F739-4E06-8791-84E142FCD4E4}" destId="{077AF4B7-503D-4949-8A66-5D2DBBDAB90A}" srcOrd="0" destOrd="0" presId="urn:microsoft.com/office/officeart/2008/layout/LinedList"/>
    <dgm:cxn modelId="{847B1C1F-3BA8-493D-9DBC-36D160D03F05}" type="presParOf" srcId="{744ADFC5-F739-4E06-8791-84E142FCD4E4}" destId="{B13198E5-37AB-4183-9D42-8699B736DE8B}" srcOrd="1" destOrd="0" presId="urn:microsoft.com/office/officeart/2008/layout/LinedList"/>
    <dgm:cxn modelId="{4C91025A-58B4-4AD6-B231-9E7EA7C95244}" type="presParOf" srcId="{B13198E5-37AB-4183-9D42-8699B736DE8B}" destId="{093B9DD2-BCFF-4DDD-B90B-183B650AB1C5}" srcOrd="0" destOrd="0" presId="urn:microsoft.com/office/officeart/2008/layout/LinedList"/>
    <dgm:cxn modelId="{12BEA930-AE00-49AF-A92D-96560EB93CBE}" type="presParOf" srcId="{B13198E5-37AB-4183-9D42-8699B736DE8B}" destId="{8E7AC7BE-9FD6-4FA5-97A3-9711816C23AD}" srcOrd="1" destOrd="0" presId="urn:microsoft.com/office/officeart/2008/layout/LinedList"/>
    <dgm:cxn modelId="{55609F4C-8269-420B-A9E9-DA217CCA9903}" type="presParOf" srcId="{8E7AC7BE-9FD6-4FA5-97A3-9711816C23AD}" destId="{939BB2AD-F817-484D-B10B-9F5FC541AC34}" srcOrd="0" destOrd="0" presId="urn:microsoft.com/office/officeart/2008/layout/LinedList"/>
    <dgm:cxn modelId="{20B4C6C4-8248-48B9-843C-8C72CAA2C80B}" type="presParOf" srcId="{8E7AC7BE-9FD6-4FA5-97A3-9711816C23AD}" destId="{16863E8E-48E5-4355-A297-CC3DBF7236D0}" srcOrd="1" destOrd="0" presId="urn:microsoft.com/office/officeart/2008/layout/LinedList"/>
    <dgm:cxn modelId="{8C752510-1C98-4872-B6E3-A9C23B9C22F5}" type="presParOf" srcId="{8E7AC7BE-9FD6-4FA5-97A3-9711816C23AD}" destId="{33FD19AF-C2AE-4F3D-84EA-819807E284BF}" srcOrd="2" destOrd="0" presId="urn:microsoft.com/office/officeart/2008/layout/LinedList"/>
    <dgm:cxn modelId="{E738E41F-96D6-4834-8ECD-29428868B943}" type="presParOf" srcId="{B13198E5-37AB-4183-9D42-8699B736DE8B}" destId="{2E9566D3-9CE5-4942-B644-45282859829C}" srcOrd="2" destOrd="0" presId="urn:microsoft.com/office/officeart/2008/layout/LinedList"/>
    <dgm:cxn modelId="{7895EF89-4916-4BCF-BA08-C6BB5367A461}" type="presParOf" srcId="{B13198E5-37AB-4183-9D42-8699B736DE8B}" destId="{55FA5738-A552-470A-BFCC-131FBF739EA4}" srcOrd="3" destOrd="0" presId="urn:microsoft.com/office/officeart/2008/layout/LinedList"/>
    <dgm:cxn modelId="{8DA5E0BB-F993-4E33-96A0-EB572C937E9C}" type="presParOf" srcId="{4CDB5D44-4728-4DB0-ACC5-AEAA94DD52D8}" destId="{FBED7EAE-A363-4123-856A-38C12343775C}" srcOrd="8" destOrd="0" presId="urn:microsoft.com/office/officeart/2008/layout/LinedList"/>
    <dgm:cxn modelId="{3680F292-B9BB-4878-A09D-9089E2757F65}" type="presParOf" srcId="{4CDB5D44-4728-4DB0-ACC5-AEAA94DD52D8}" destId="{146DA6B9-FCC3-48E2-981C-7D49EC97174E}" srcOrd="9" destOrd="0" presId="urn:microsoft.com/office/officeart/2008/layout/LinedList"/>
    <dgm:cxn modelId="{64F7A45D-B8AF-47AE-889D-7FCB6E45E01E}" type="presParOf" srcId="{146DA6B9-FCC3-48E2-981C-7D49EC97174E}" destId="{EC2B9BBC-75B6-422C-A6E6-5ECC0BDD1D2E}" srcOrd="0" destOrd="0" presId="urn:microsoft.com/office/officeart/2008/layout/LinedList"/>
    <dgm:cxn modelId="{2CE15044-AA0A-4503-ACAE-4F74684D1EB9}" type="presParOf" srcId="{146DA6B9-FCC3-48E2-981C-7D49EC97174E}" destId="{CA40E28A-8DE7-4530-AFB3-96DA98A34C48}" srcOrd="1" destOrd="0" presId="urn:microsoft.com/office/officeart/2008/layout/LinedList"/>
    <dgm:cxn modelId="{715BC964-C688-4133-9B4D-74B6863790FB}" type="presParOf" srcId="{CA40E28A-8DE7-4530-AFB3-96DA98A34C48}" destId="{217A586A-A74E-4280-BEB7-84E0E700F0D8}" srcOrd="0" destOrd="0" presId="urn:microsoft.com/office/officeart/2008/layout/LinedList"/>
    <dgm:cxn modelId="{7B1128C7-5EC9-401F-9E68-BEDADAD32DDD}" type="presParOf" srcId="{CA40E28A-8DE7-4530-AFB3-96DA98A34C48}" destId="{931457E2-9347-4306-925D-7B3FA0F43A48}" srcOrd="1" destOrd="0" presId="urn:microsoft.com/office/officeart/2008/layout/LinedList"/>
    <dgm:cxn modelId="{6232F323-F956-4F14-A750-A566EEA3FD35}" type="presParOf" srcId="{931457E2-9347-4306-925D-7B3FA0F43A48}" destId="{AE8C2E1C-676D-46F2-BDDF-53B6A2E0F926}" srcOrd="0" destOrd="0" presId="urn:microsoft.com/office/officeart/2008/layout/LinedList"/>
    <dgm:cxn modelId="{C333F373-106F-4C54-B27D-236E899D4404}" type="presParOf" srcId="{931457E2-9347-4306-925D-7B3FA0F43A48}" destId="{3B98E71A-3531-406E-9F2F-FB57B1F67B24}" srcOrd="1" destOrd="0" presId="urn:microsoft.com/office/officeart/2008/layout/LinedList"/>
    <dgm:cxn modelId="{4C020CE2-A7DA-4125-A47F-DD0FB2F7027E}" type="presParOf" srcId="{931457E2-9347-4306-925D-7B3FA0F43A48}" destId="{AAB65AE6-E1C2-4E06-B373-F12E4E6FC434}" srcOrd="2" destOrd="0" presId="urn:microsoft.com/office/officeart/2008/layout/LinedList"/>
    <dgm:cxn modelId="{4B409ADD-7009-4DC9-B90A-35055CF4EF83}" type="presParOf" srcId="{CA40E28A-8DE7-4530-AFB3-96DA98A34C48}" destId="{3282E641-D5BC-4FF3-B8A7-8890614B2323}" srcOrd="2" destOrd="0" presId="urn:microsoft.com/office/officeart/2008/layout/LinedList"/>
    <dgm:cxn modelId="{C6129805-1D91-4F23-8BCD-AC3DBD8A7621}" type="presParOf" srcId="{CA40E28A-8DE7-4530-AFB3-96DA98A34C48}" destId="{7426EF2A-CEDD-4E3C-9B35-31EB73EE8AEA}" srcOrd="3" destOrd="0" presId="urn:microsoft.com/office/officeart/2008/layout/LinedList"/>
    <dgm:cxn modelId="{B1AB86D0-18AB-4B58-9701-52638C090156}" type="presParOf" srcId="{4CDB5D44-4728-4DB0-ACC5-AEAA94DD52D8}" destId="{6F972F5A-DA25-4EBC-B613-C100530CD689}" srcOrd="10" destOrd="0" presId="urn:microsoft.com/office/officeart/2008/layout/LinedList"/>
    <dgm:cxn modelId="{7C2A8471-9241-4324-8F8D-7C5AA969E733}" type="presParOf" srcId="{4CDB5D44-4728-4DB0-ACC5-AEAA94DD52D8}" destId="{BE099E57-3F48-4014-8B1C-EFF73D4B977B}" srcOrd="11" destOrd="0" presId="urn:microsoft.com/office/officeart/2008/layout/LinedList"/>
    <dgm:cxn modelId="{062F40AC-6399-43CB-89D2-9545B09D2A7F}" type="presParOf" srcId="{BE099E57-3F48-4014-8B1C-EFF73D4B977B}" destId="{4979D6A3-4CF8-4C1F-9F2D-F3402B875667}" srcOrd="0" destOrd="0" presId="urn:microsoft.com/office/officeart/2008/layout/LinedList"/>
    <dgm:cxn modelId="{39C0602D-7356-4F93-A3B0-26736FAA72FE}" type="presParOf" srcId="{BE099E57-3F48-4014-8B1C-EFF73D4B977B}" destId="{2766844A-7591-4FED-89EA-BD1BB918A0A9}" srcOrd="1" destOrd="0" presId="urn:microsoft.com/office/officeart/2008/layout/LinedList"/>
    <dgm:cxn modelId="{CC4C4644-8711-459B-96D3-133061B98D23}" type="presParOf" srcId="{2766844A-7591-4FED-89EA-BD1BB918A0A9}" destId="{D4790072-CDA2-4309-AA54-BA380C5D2F28}" srcOrd="0" destOrd="0" presId="urn:microsoft.com/office/officeart/2008/layout/LinedList"/>
    <dgm:cxn modelId="{E4D83D04-71AB-4039-8780-9DCA2C56B20F}" type="presParOf" srcId="{2766844A-7591-4FED-89EA-BD1BB918A0A9}" destId="{E5531A98-355E-468A-AA62-5414EE703059}" srcOrd="1" destOrd="0" presId="urn:microsoft.com/office/officeart/2008/layout/LinedList"/>
    <dgm:cxn modelId="{0AAF87B7-7F40-404A-A399-4F233B1297FF}" type="presParOf" srcId="{E5531A98-355E-468A-AA62-5414EE703059}" destId="{0AEF3058-0158-4BA6-8B20-FEBDD8DD76C7}" srcOrd="0" destOrd="0" presId="urn:microsoft.com/office/officeart/2008/layout/LinedList"/>
    <dgm:cxn modelId="{0740DEAE-ECB5-4CD7-A308-9314350FE220}" type="presParOf" srcId="{E5531A98-355E-468A-AA62-5414EE703059}" destId="{DEAB29E3-DE93-4BFF-BF38-1D9B406241E3}" srcOrd="1" destOrd="0" presId="urn:microsoft.com/office/officeart/2008/layout/LinedList"/>
    <dgm:cxn modelId="{C843A7BE-F3EF-4176-99E4-C1487C975676}" type="presParOf" srcId="{E5531A98-355E-468A-AA62-5414EE703059}" destId="{8F81AE71-DCD0-4926-8B2E-84308F7EADAE}" srcOrd="2" destOrd="0" presId="urn:microsoft.com/office/officeart/2008/layout/LinedList"/>
    <dgm:cxn modelId="{EA4FBA21-C599-42B4-853E-9EA4AD816A99}" type="presParOf" srcId="{2766844A-7591-4FED-89EA-BD1BB918A0A9}" destId="{A9397846-AF93-40B7-BEAC-6B66225BC582}" srcOrd="2" destOrd="0" presId="urn:microsoft.com/office/officeart/2008/layout/LinedList"/>
    <dgm:cxn modelId="{E20D3E07-505D-42CF-85BA-30731C20258B}" type="presParOf" srcId="{2766844A-7591-4FED-89EA-BD1BB918A0A9}" destId="{EA2B77CA-4D94-4019-A41C-E7DDAF3347D0}" srcOrd="3" destOrd="0" presId="urn:microsoft.com/office/officeart/2008/layout/LinedList"/>
    <dgm:cxn modelId="{D9E81622-9ED4-4FF3-A62C-FB0BE524C1F6}" type="presParOf" srcId="{4CDB5D44-4728-4DB0-ACC5-AEAA94DD52D8}" destId="{3522C743-4C99-48F2-BADA-DDD2859CDACA}" srcOrd="12" destOrd="0" presId="urn:microsoft.com/office/officeart/2008/layout/LinedList"/>
    <dgm:cxn modelId="{CEBA7A5F-E721-4E66-BE32-0A7CCB6CB393}" type="presParOf" srcId="{4CDB5D44-4728-4DB0-ACC5-AEAA94DD52D8}" destId="{07D336DA-FE6B-4502-8930-42CE9618CD17}" srcOrd="13" destOrd="0" presId="urn:microsoft.com/office/officeart/2008/layout/LinedList"/>
    <dgm:cxn modelId="{A8541D60-7A9E-4DF9-A485-6E035160C9B5}" type="presParOf" srcId="{07D336DA-FE6B-4502-8930-42CE9618CD17}" destId="{0D8727DE-E62F-46F4-B4B2-45D45B652DAC}" srcOrd="0" destOrd="0" presId="urn:microsoft.com/office/officeart/2008/layout/LinedList"/>
    <dgm:cxn modelId="{AF83D1B4-516B-48E1-80A2-1C9F4DD1C64B}" type="presParOf" srcId="{07D336DA-FE6B-4502-8930-42CE9618CD17}" destId="{9409E63C-264E-456A-85B1-E8A0BE5B8183}" srcOrd="1" destOrd="0" presId="urn:microsoft.com/office/officeart/2008/layout/LinedList"/>
    <dgm:cxn modelId="{AE79E036-F2C8-4CD2-971E-1E735865673F}" type="presParOf" srcId="{9409E63C-264E-456A-85B1-E8A0BE5B8183}" destId="{1BBFA6D8-7001-42EE-B95F-B9F6BFC4AA91}" srcOrd="0" destOrd="0" presId="urn:microsoft.com/office/officeart/2008/layout/LinedList"/>
    <dgm:cxn modelId="{E458C2FF-9AB8-40D1-941E-499DE57D5B4D}" type="presParOf" srcId="{9409E63C-264E-456A-85B1-E8A0BE5B8183}" destId="{2DA28750-EEAF-4197-AD60-99F3F963823F}" srcOrd="1" destOrd="0" presId="urn:microsoft.com/office/officeart/2008/layout/LinedList"/>
    <dgm:cxn modelId="{D28D8303-C06A-4C81-82BE-AA6119EB3A0C}" type="presParOf" srcId="{2DA28750-EEAF-4197-AD60-99F3F963823F}" destId="{7C1E526C-EBD5-4CD1-AE31-C78FA3416136}" srcOrd="0" destOrd="0" presId="urn:microsoft.com/office/officeart/2008/layout/LinedList"/>
    <dgm:cxn modelId="{9377005F-84A4-4836-8902-FB149AC862C6}" type="presParOf" srcId="{2DA28750-EEAF-4197-AD60-99F3F963823F}" destId="{6368106C-2B2A-47DD-B3E2-8EE48BF99B00}" srcOrd="1" destOrd="0" presId="urn:microsoft.com/office/officeart/2008/layout/LinedList"/>
    <dgm:cxn modelId="{E83A6A8D-6C19-4312-A6E4-609B8E546D5E}" type="presParOf" srcId="{2DA28750-EEAF-4197-AD60-99F3F963823F}" destId="{2C54B499-57A8-4F5F-A880-8D6C8FDBC0F1}" srcOrd="2" destOrd="0" presId="urn:microsoft.com/office/officeart/2008/layout/LinedList"/>
    <dgm:cxn modelId="{57EC33E8-3D33-4208-9E2B-ACE6A71BEB0B}" type="presParOf" srcId="{9409E63C-264E-456A-85B1-E8A0BE5B8183}" destId="{FEE0D8E4-7F68-4FF3-A4D4-3E9C75EC6863}" srcOrd="2" destOrd="0" presId="urn:microsoft.com/office/officeart/2008/layout/LinedList"/>
    <dgm:cxn modelId="{DE3392BA-A3D9-4671-A051-65D0DC60A28D}" type="presParOf" srcId="{9409E63C-264E-456A-85B1-E8A0BE5B8183}" destId="{E2F1D25C-26E3-4E53-BADE-C20538C851D1}" srcOrd="3" destOrd="0" presId="urn:microsoft.com/office/officeart/2008/layout/LinedList"/>
    <dgm:cxn modelId="{5C00A405-7C99-4E35-A0C7-B1977D188BC5}" type="presParOf" srcId="{4CDB5D44-4728-4DB0-ACC5-AEAA94DD52D8}" destId="{C3AB5F92-6D8E-4988-8393-03262CF21A86}" srcOrd="14" destOrd="0" presId="urn:microsoft.com/office/officeart/2008/layout/LinedList"/>
    <dgm:cxn modelId="{FD1A88AC-4E41-4596-9BC3-507E03B17B7A}" type="presParOf" srcId="{4CDB5D44-4728-4DB0-ACC5-AEAA94DD52D8}" destId="{15B8557A-B3B0-4A64-9DEF-1F8D77F5E5DE}" srcOrd="15" destOrd="0" presId="urn:microsoft.com/office/officeart/2008/layout/LinedList"/>
    <dgm:cxn modelId="{C8E09EBD-6EF6-4C00-BC9C-E47E16F72204}" type="presParOf" srcId="{15B8557A-B3B0-4A64-9DEF-1F8D77F5E5DE}" destId="{55489179-6D82-4B00-9C0E-FDDFC493C5AA}" srcOrd="0" destOrd="0" presId="urn:microsoft.com/office/officeart/2008/layout/LinedList"/>
    <dgm:cxn modelId="{DDD63CC5-666F-49D3-9C91-345647B981BE}" type="presParOf" srcId="{15B8557A-B3B0-4A64-9DEF-1F8D77F5E5DE}" destId="{4065AC1C-6A68-4C3B-97B0-4C57468CE6E6}" srcOrd="1" destOrd="0" presId="urn:microsoft.com/office/officeart/2008/layout/LinedList"/>
    <dgm:cxn modelId="{02EBA6EB-8CC2-42A8-B8E8-86201D79D339}" type="presParOf" srcId="{4065AC1C-6A68-4C3B-97B0-4C57468CE6E6}" destId="{DAC5BB69-CE0F-4160-9169-B5C73AB10C83}" srcOrd="0" destOrd="0" presId="urn:microsoft.com/office/officeart/2008/layout/LinedList"/>
    <dgm:cxn modelId="{86A95C3B-BF6F-47CB-A92D-816FF1B60F1B}" type="presParOf" srcId="{4065AC1C-6A68-4C3B-97B0-4C57468CE6E6}" destId="{AB0034FF-6F54-409F-A212-8FC49C889161}" srcOrd="1" destOrd="0" presId="urn:microsoft.com/office/officeart/2008/layout/LinedList"/>
    <dgm:cxn modelId="{E7ED9DD3-95FE-4500-BBC2-3FC24574F535}" type="presParOf" srcId="{AB0034FF-6F54-409F-A212-8FC49C889161}" destId="{290FD9D3-E2F9-49A9-BFA5-76D7B68A3B6D}" srcOrd="0" destOrd="0" presId="urn:microsoft.com/office/officeart/2008/layout/LinedList"/>
    <dgm:cxn modelId="{3B0E9375-CF77-4C80-8E72-E292DB61EA22}" type="presParOf" srcId="{AB0034FF-6F54-409F-A212-8FC49C889161}" destId="{D619E146-7A48-4CB2-B48E-B8E80FC4D63C}" srcOrd="1" destOrd="0" presId="urn:microsoft.com/office/officeart/2008/layout/LinedList"/>
    <dgm:cxn modelId="{B397F303-98F6-4467-966B-8DD7EF5D7EED}" type="presParOf" srcId="{AB0034FF-6F54-409F-A212-8FC49C889161}" destId="{28791CC4-D48F-401B-822E-DE3441B32E4D}" srcOrd="2" destOrd="0" presId="urn:microsoft.com/office/officeart/2008/layout/LinedList"/>
    <dgm:cxn modelId="{BF6F195E-3552-4697-90D9-A2BDA71BB24E}" type="presParOf" srcId="{4065AC1C-6A68-4C3B-97B0-4C57468CE6E6}" destId="{955033DF-A638-4CFA-AC7D-DA1186A11CC4}" srcOrd="2" destOrd="0" presId="urn:microsoft.com/office/officeart/2008/layout/LinedList"/>
    <dgm:cxn modelId="{95962E14-78FE-479C-8708-55C26163448F}" type="presParOf" srcId="{4065AC1C-6A68-4C3B-97B0-4C57468CE6E6}" destId="{70D9EE9D-98FF-41CA-984A-519DE253C3BC}" srcOrd="3" destOrd="0" presId="urn:microsoft.com/office/officeart/2008/layout/Lin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BC1EAC1D-FBF5-422C-83AE-02E5E7BC735B}" type="doc">
      <dgm:prSet loTypeId="urn:microsoft.com/office/officeart/2008/layout/HorizontalMultiLevelHierarchy" loCatId="hierarchy" qsTypeId="urn:microsoft.com/office/officeart/2005/8/quickstyle/simple1" qsCatId="simple" csTypeId="urn:microsoft.com/office/officeart/2005/8/colors/accent1_2" csCatId="accent1"/>
      <dgm:spPr/>
      <dgm:t>
        <a:bodyPr/>
        <a:lstStyle/>
        <a:p>
          <a:endParaRPr lang="zh-CN" altLang="en-US"/>
        </a:p>
      </dgm:t>
    </dgm:pt>
    <dgm:pt modelId="{4D0E73C8-016F-46AE-A343-A4B4007B0EC3}">
      <dgm:prSet/>
      <dgm:spPr/>
      <dgm:t>
        <a:bodyPr/>
        <a:lstStyle/>
        <a:p>
          <a:r>
            <a:rPr lang="zh-CN"/>
            <a:t>维度组</a:t>
          </a:r>
        </a:p>
      </dgm:t>
    </dgm:pt>
    <dgm:pt modelId="{D59E36EF-1B51-4655-87BB-EDD418BC73D8}" type="parTrans" cxnId="{6ACDD230-B6C2-4C78-B91E-1A0C2E8680E1}">
      <dgm:prSet/>
      <dgm:spPr/>
      <dgm:t>
        <a:bodyPr/>
        <a:lstStyle/>
        <a:p>
          <a:endParaRPr lang="zh-CN" altLang="en-US"/>
        </a:p>
      </dgm:t>
    </dgm:pt>
    <dgm:pt modelId="{E4BF4CFC-BEB5-466E-8A79-19761F3F1A05}" type="sibTrans" cxnId="{6ACDD230-B6C2-4C78-B91E-1A0C2E8680E1}">
      <dgm:prSet/>
      <dgm:spPr/>
      <dgm:t>
        <a:bodyPr/>
        <a:lstStyle/>
        <a:p>
          <a:endParaRPr lang="zh-CN" altLang="en-US"/>
        </a:p>
      </dgm:t>
    </dgm:pt>
    <dgm:pt modelId="{8C2A3439-D190-48EE-BF9B-57A1589134E8}">
      <dgm:prSet/>
      <dgm:spPr/>
      <dgm:t>
        <a:bodyPr/>
        <a:lstStyle/>
        <a:p>
          <a:r>
            <a:rPr lang="zh-CN"/>
            <a:t>维度</a:t>
          </a:r>
          <a:r>
            <a:rPr lang="en-US"/>
            <a:t>1</a:t>
          </a:r>
          <a:endParaRPr lang="zh-CN"/>
        </a:p>
      </dgm:t>
    </dgm:pt>
    <dgm:pt modelId="{A9F4C3D9-3557-4CAB-AAAF-AAED4E44A2B5}" type="parTrans" cxnId="{8B72DF7A-BB5A-43CC-BB0A-9EE4B08EBCD4}">
      <dgm:prSet/>
      <dgm:spPr/>
      <dgm:t>
        <a:bodyPr/>
        <a:lstStyle/>
        <a:p>
          <a:endParaRPr lang="zh-CN" altLang="en-US"/>
        </a:p>
      </dgm:t>
    </dgm:pt>
    <dgm:pt modelId="{3BCD7D25-2F28-492A-904D-F55660FCCCC5}" type="sibTrans" cxnId="{8B72DF7A-BB5A-43CC-BB0A-9EE4B08EBCD4}">
      <dgm:prSet/>
      <dgm:spPr/>
      <dgm:t>
        <a:bodyPr/>
        <a:lstStyle/>
        <a:p>
          <a:endParaRPr lang="zh-CN" altLang="en-US"/>
        </a:p>
      </dgm:t>
    </dgm:pt>
    <dgm:pt modelId="{33D7E657-5381-4B86-AC8F-D1233F63B0E0}">
      <dgm:prSet/>
      <dgm:spPr/>
      <dgm:t>
        <a:bodyPr/>
        <a:lstStyle/>
        <a:p>
          <a:r>
            <a:rPr lang="zh-CN"/>
            <a:t>维度</a:t>
          </a:r>
          <a:r>
            <a:rPr lang="en-US"/>
            <a:t>2</a:t>
          </a:r>
          <a:endParaRPr lang="zh-CN"/>
        </a:p>
      </dgm:t>
    </dgm:pt>
    <dgm:pt modelId="{9EB5C41A-FBC1-4D16-9554-ABDBED493D58}" type="parTrans" cxnId="{97620E2F-4DB4-43F1-AFFF-2B80223454D7}">
      <dgm:prSet/>
      <dgm:spPr/>
      <dgm:t>
        <a:bodyPr/>
        <a:lstStyle/>
        <a:p>
          <a:endParaRPr lang="zh-CN" altLang="en-US"/>
        </a:p>
      </dgm:t>
    </dgm:pt>
    <dgm:pt modelId="{274C15D3-7322-4136-B3A1-56F4AC850375}" type="sibTrans" cxnId="{97620E2F-4DB4-43F1-AFFF-2B80223454D7}">
      <dgm:prSet/>
      <dgm:spPr/>
      <dgm:t>
        <a:bodyPr/>
        <a:lstStyle/>
        <a:p>
          <a:endParaRPr lang="zh-CN" altLang="en-US"/>
        </a:p>
      </dgm:t>
    </dgm:pt>
    <dgm:pt modelId="{E6D7F503-79EA-4677-9BFD-D12A92F7A31C}">
      <dgm:prSet/>
      <dgm:spPr/>
      <dgm:t>
        <a:bodyPr/>
        <a:lstStyle/>
        <a:p>
          <a:r>
            <a:rPr lang="zh-CN"/>
            <a:t>维度</a:t>
          </a:r>
          <a:r>
            <a:rPr lang="en-US"/>
            <a:t>3</a:t>
          </a:r>
          <a:endParaRPr lang="zh-CN"/>
        </a:p>
      </dgm:t>
    </dgm:pt>
    <dgm:pt modelId="{BB95CAC0-F8EE-4344-99E6-235EA59F03BB}" type="parTrans" cxnId="{7650666C-5725-4202-8DC8-8154E00197F3}">
      <dgm:prSet/>
      <dgm:spPr/>
      <dgm:t>
        <a:bodyPr/>
        <a:lstStyle/>
        <a:p>
          <a:endParaRPr lang="zh-CN" altLang="en-US"/>
        </a:p>
      </dgm:t>
    </dgm:pt>
    <dgm:pt modelId="{62C6CF20-1C13-4066-B393-046EED92FBC9}" type="sibTrans" cxnId="{7650666C-5725-4202-8DC8-8154E00197F3}">
      <dgm:prSet/>
      <dgm:spPr/>
      <dgm:t>
        <a:bodyPr/>
        <a:lstStyle/>
        <a:p>
          <a:endParaRPr lang="zh-CN" altLang="en-US"/>
        </a:p>
      </dgm:t>
    </dgm:pt>
    <dgm:pt modelId="{9316E17B-4809-44C8-9466-217214F3808D}" type="pres">
      <dgm:prSet presAssocID="{BC1EAC1D-FBF5-422C-83AE-02E5E7BC735B}" presName="Name0" presStyleCnt="0">
        <dgm:presLayoutVars>
          <dgm:chPref val="1"/>
          <dgm:dir val="rev"/>
          <dgm:animOne val="branch"/>
          <dgm:animLvl val="lvl"/>
          <dgm:resizeHandles val="exact"/>
        </dgm:presLayoutVars>
      </dgm:prSet>
      <dgm:spPr/>
    </dgm:pt>
    <dgm:pt modelId="{21C4873A-8667-43E2-9485-A3ACFD1D62B9}" type="pres">
      <dgm:prSet presAssocID="{4D0E73C8-016F-46AE-A343-A4B4007B0EC3}" presName="root1" presStyleCnt="0"/>
      <dgm:spPr/>
    </dgm:pt>
    <dgm:pt modelId="{8A084EB8-76C1-479D-ABBB-821AC3A0C1D3}" type="pres">
      <dgm:prSet presAssocID="{4D0E73C8-016F-46AE-A343-A4B4007B0EC3}" presName="LevelOneTextNode" presStyleLbl="node0" presStyleIdx="0" presStyleCnt="1">
        <dgm:presLayoutVars>
          <dgm:chPref val="3"/>
        </dgm:presLayoutVars>
      </dgm:prSet>
      <dgm:spPr/>
    </dgm:pt>
    <dgm:pt modelId="{EFCE2038-7E88-40F9-8618-E74E9EC204F3}" type="pres">
      <dgm:prSet presAssocID="{4D0E73C8-016F-46AE-A343-A4B4007B0EC3}" presName="level2hierChild" presStyleCnt="0"/>
      <dgm:spPr/>
    </dgm:pt>
    <dgm:pt modelId="{02182DB4-8CE3-459C-B6C0-9CB5DC71479B}" type="pres">
      <dgm:prSet presAssocID="{A9F4C3D9-3557-4CAB-AAAF-AAED4E44A2B5}" presName="conn2-1" presStyleLbl="parChTrans1D2" presStyleIdx="0" presStyleCnt="3"/>
      <dgm:spPr/>
    </dgm:pt>
    <dgm:pt modelId="{66DE2959-D9B6-4E79-9746-0EFC3BCBC19D}" type="pres">
      <dgm:prSet presAssocID="{A9F4C3D9-3557-4CAB-AAAF-AAED4E44A2B5}" presName="connTx" presStyleLbl="parChTrans1D2" presStyleIdx="0" presStyleCnt="3"/>
      <dgm:spPr/>
    </dgm:pt>
    <dgm:pt modelId="{1A7E0058-4A52-402C-A4B4-57756FAF6743}" type="pres">
      <dgm:prSet presAssocID="{8C2A3439-D190-48EE-BF9B-57A1589134E8}" presName="root2" presStyleCnt="0"/>
      <dgm:spPr/>
    </dgm:pt>
    <dgm:pt modelId="{D327265F-B942-4B43-A502-D10FFEA12F73}" type="pres">
      <dgm:prSet presAssocID="{8C2A3439-D190-48EE-BF9B-57A1589134E8}" presName="LevelTwoTextNode" presStyleLbl="node2" presStyleIdx="0" presStyleCnt="3">
        <dgm:presLayoutVars>
          <dgm:chPref val="3"/>
        </dgm:presLayoutVars>
      </dgm:prSet>
      <dgm:spPr/>
    </dgm:pt>
    <dgm:pt modelId="{E8E36F7C-37E1-4069-8883-49CD86D62220}" type="pres">
      <dgm:prSet presAssocID="{8C2A3439-D190-48EE-BF9B-57A1589134E8}" presName="level3hierChild" presStyleCnt="0"/>
      <dgm:spPr/>
    </dgm:pt>
    <dgm:pt modelId="{8693A490-7F8B-45EB-8ABA-62C345D97B2B}" type="pres">
      <dgm:prSet presAssocID="{9EB5C41A-FBC1-4D16-9554-ABDBED493D58}" presName="conn2-1" presStyleLbl="parChTrans1D2" presStyleIdx="1" presStyleCnt="3"/>
      <dgm:spPr/>
    </dgm:pt>
    <dgm:pt modelId="{DA3757F0-C76A-43BF-BB36-78A804971A2D}" type="pres">
      <dgm:prSet presAssocID="{9EB5C41A-FBC1-4D16-9554-ABDBED493D58}" presName="connTx" presStyleLbl="parChTrans1D2" presStyleIdx="1" presStyleCnt="3"/>
      <dgm:spPr/>
    </dgm:pt>
    <dgm:pt modelId="{4E70CE55-4684-45EC-9BB4-114C45567522}" type="pres">
      <dgm:prSet presAssocID="{33D7E657-5381-4B86-AC8F-D1233F63B0E0}" presName="root2" presStyleCnt="0"/>
      <dgm:spPr/>
    </dgm:pt>
    <dgm:pt modelId="{CDD08F04-9859-46B0-AD62-E025CBE48998}" type="pres">
      <dgm:prSet presAssocID="{33D7E657-5381-4B86-AC8F-D1233F63B0E0}" presName="LevelTwoTextNode" presStyleLbl="node2" presStyleIdx="1" presStyleCnt="3">
        <dgm:presLayoutVars>
          <dgm:chPref val="3"/>
        </dgm:presLayoutVars>
      </dgm:prSet>
      <dgm:spPr/>
    </dgm:pt>
    <dgm:pt modelId="{F07EB07B-6EC3-4AAA-AD7E-F139A1F1B1EF}" type="pres">
      <dgm:prSet presAssocID="{33D7E657-5381-4B86-AC8F-D1233F63B0E0}" presName="level3hierChild" presStyleCnt="0"/>
      <dgm:spPr/>
    </dgm:pt>
    <dgm:pt modelId="{CD1E3767-A381-4B03-AC88-F10F736702EF}" type="pres">
      <dgm:prSet presAssocID="{BB95CAC0-F8EE-4344-99E6-235EA59F03BB}" presName="conn2-1" presStyleLbl="parChTrans1D2" presStyleIdx="2" presStyleCnt="3"/>
      <dgm:spPr/>
    </dgm:pt>
    <dgm:pt modelId="{1ACF5E9D-0FAA-4B59-B8B1-16B02EE6F726}" type="pres">
      <dgm:prSet presAssocID="{BB95CAC0-F8EE-4344-99E6-235EA59F03BB}" presName="connTx" presStyleLbl="parChTrans1D2" presStyleIdx="2" presStyleCnt="3"/>
      <dgm:spPr/>
    </dgm:pt>
    <dgm:pt modelId="{BCCA3DFD-0047-4AAE-8EB7-1560B537DDA4}" type="pres">
      <dgm:prSet presAssocID="{E6D7F503-79EA-4677-9BFD-D12A92F7A31C}" presName="root2" presStyleCnt="0"/>
      <dgm:spPr/>
    </dgm:pt>
    <dgm:pt modelId="{3EB37757-FBE5-45BC-AFB0-99E6600D6278}" type="pres">
      <dgm:prSet presAssocID="{E6D7F503-79EA-4677-9BFD-D12A92F7A31C}" presName="LevelTwoTextNode" presStyleLbl="node2" presStyleIdx="2" presStyleCnt="3">
        <dgm:presLayoutVars>
          <dgm:chPref val="3"/>
        </dgm:presLayoutVars>
      </dgm:prSet>
      <dgm:spPr/>
    </dgm:pt>
    <dgm:pt modelId="{97CB6D7B-B43C-42BD-ADC7-2C7691BE2D46}" type="pres">
      <dgm:prSet presAssocID="{E6D7F503-79EA-4677-9BFD-D12A92F7A31C}" presName="level3hierChild" presStyleCnt="0"/>
      <dgm:spPr/>
    </dgm:pt>
  </dgm:ptLst>
  <dgm:cxnLst>
    <dgm:cxn modelId="{04D96209-EFEA-4716-A35B-39780C60C42B}" type="presOf" srcId="{BB95CAC0-F8EE-4344-99E6-235EA59F03BB}" destId="{1ACF5E9D-0FAA-4B59-B8B1-16B02EE6F726}" srcOrd="1" destOrd="0" presId="urn:microsoft.com/office/officeart/2008/layout/HorizontalMultiLevelHierarchy"/>
    <dgm:cxn modelId="{97620E2F-4DB4-43F1-AFFF-2B80223454D7}" srcId="{4D0E73C8-016F-46AE-A343-A4B4007B0EC3}" destId="{33D7E657-5381-4B86-AC8F-D1233F63B0E0}" srcOrd="1" destOrd="0" parTransId="{9EB5C41A-FBC1-4D16-9554-ABDBED493D58}" sibTransId="{274C15D3-7322-4136-B3A1-56F4AC850375}"/>
    <dgm:cxn modelId="{6ACDD230-B6C2-4C78-B91E-1A0C2E8680E1}" srcId="{BC1EAC1D-FBF5-422C-83AE-02E5E7BC735B}" destId="{4D0E73C8-016F-46AE-A343-A4B4007B0EC3}" srcOrd="0" destOrd="0" parTransId="{D59E36EF-1B51-4655-87BB-EDD418BC73D8}" sibTransId="{E4BF4CFC-BEB5-466E-8A79-19761F3F1A05}"/>
    <dgm:cxn modelId="{7CECBC36-4398-4A99-9E04-91ACB4618D09}" type="presOf" srcId="{BC1EAC1D-FBF5-422C-83AE-02E5E7BC735B}" destId="{9316E17B-4809-44C8-9466-217214F3808D}" srcOrd="0" destOrd="0" presId="urn:microsoft.com/office/officeart/2008/layout/HorizontalMultiLevelHierarchy"/>
    <dgm:cxn modelId="{98B4463F-4903-4F21-A460-ACA8672D9322}" type="presOf" srcId="{A9F4C3D9-3557-4CAB-AAAF-AAED4E44A2B5}" destId="{02182DB4-8CE3-459C-B6C0-9CB5DC71479B}" srcOrd="0" destOrd="0" presId="urn:microsoft.com/office/officeart/2008/layout/HorizontalMultiLevelHierarchy"/>
    <dgm:cxn modelId="{C4348A45-EB10-4933-A4FC-4E833B7DFD1B}" type="presOf" srcId="{E6D7F503-79EA-4677-9BFD-D12A92F7A31C}" destId="{3EB37757-FBE5-45BC-AFB0-99E6600D6278}" srcOrd="0" destOrd="0" presId="urn:microsoft.com/office/officeart/2008/layout/HorizontalMultiLevelHierarchy"/>
    <dgm:cxn modelId="{7650666C-5725-4202-8DC8-8154E00197F3}" srcId="{4D0E73C8-016F-46AE-A343-A4B4007B0EC3}" destId="{E6D7F503-79EA-4677-9BFD-D12A92F7A31C}" srcOrd="2" destOrd="0" parTransId="{BB95CAC0-F8EE-4344-99E6-235EA59F03BB}" sibTransId="{62C6CF20-1C13-4066-B393-046EED92FBC9}"/>
    <dgm:cxn modelId="{704F505A-F516-426A-AD3B-06A3F33199E0}" type="presOf" srcId="{33D7E657-5381-4B86-AC8F-D1233F63B0E0}" destId="{CDD08F04-9859-46B0-AD62-E025CBE48998}" srcOrd="0" destOrd="0" presId="urn:microsoft.com/office/officeart/2008/layout/HorizontalMultiLevelHierarchy"/>
    <dgm:cxn modelId="{8B72DF7A-BB5A-43CC-BB0A-9EE4B08EBCD4}" srcId="{4D0E73C8-016F-46AE-A343-A4B4007B0EC3}" destId="{8C2A3439-D190-48EE-BF9B-57A1589134E8}" srcOrd="0" destOrd="0" parTransId="{A9F4C3D9-3557-4CAB-AAAF-AAED4E44A2B5}" sibTransId="{3BCD7D25-2F28-492A-904D-F55660FCCCC5}"/>
    <dgm:cxn modelId="{9A0F8689-245B-474F-A7C5-A85F29F49A16}" type="presOf" srcId="{8C2A3439-D190-48EE-BF9B-57A1589134E8}" destId="{D327265F-B942-4B43-A502-D10FFEA12F73}" srcOrd="0" destOrd="0" presId="urn:microsoft.com/office/officeart/2008/layout/HorizontalMultiLevelHierarchy"/>
    <dgm:cxn modelId="{7F1FD491-888B-4A2B-B629-4C2BC19D3EAE}" type="presOf" srcId="{4D0E73C8-016F-46AE-A343-A4B4007B0EC3}" destId="{8A084EB8-76C1-479D-ABBB-821AC3A0C1D3}" srcOrd="0" destOrd="0" presId="urn:microsoft.com/office/officeart/2008/layout/HorizontalMultiLevelHierarchy"/>
    <dgm:cxn modelId="{24189F97-8CDE-4C1B-8BB9-D9CDFE024A22}" type="presOf" srcId="{A9F4C3D9-3557-4CAB-AAAF-AAED4E44A2B5}" destId="{66DE2959-D9B6-4E79-9746-0EFC3BCBC19D}" srcOrd="1" destOrd="0" presId="urn:microsoft.com/office/officeart/2008/layout/HorizontalMultiLevelHierarchy"/>
    <dgm:cxn modelId="{DD755AB2-7FAC-4D0D-87D4-8A99F338F6D6}" type="presOf" srcId="{BB95CAC0-F8EE-4344-99E6-235EA59F03BB}" destId="{CD1E3767-A381-4B03-AC88-F10F736702EF}" srcOrd="0" destOrd="0" presId="urn:microsoft.com/office/officeart/2008/layout/HorizontalMultiLevelHierarchy"/>
    <dgm:cxn modelId="{938B57C3-60E3-4B9E-9736-AE344E6D84DA}" type="presOf" srcId="{9EB5C41A-FBC1-4D16-9554-ABDBED493D58}" destId="{8693A490-7F8B-45EB-8ABA-62C345D97B2B}" srcOrd="0" destOrd="0" presId="urn:microsoft.com/office/officeart/2008/layout/HorizontalMultiLevelHierarchy"/>
    <dgm:cxn modelId="{60B1F8C8-A4CD-4389-97C5-82E8EFE84ECB}" type="presOf" srcId="{9EB5C41A-FBC1-4D16-9554-ABDBED493D58}" destId="{DA3757F0-C76A-43BF-BB36-78A804971A2D}" srcOrd="1" destOrd="0" presId="urn:microsoft.com/office/officeart/2008/layout/HorizontalMultiLevelHierarchy"/>
    <dgm:cxn modelId="{69A07687-6CD0-4AB7-8FFD-814009EC175E}" type="presParOf" srcId="{9316E17B-4809-44C8-9466-217214F3808D}" destId="{21C4873A-8667-43E2-9485-A3ACFD1D62B9}" srcOrd="0" destOrd="0" presId="urn:microsoft.com/office/officeart/2008/layout/HorizontalMultiLevelHierarchy"/>
    <dgm:cxn modelId="{7983ED05-CCEE-45C6-8830-DD847419F7AE}" type="presParOf" srcId="{21C4873A-8667-43E2-9485-A3ACFD1D62B9}" destId="{8A084EB8-76C1-479D-ABBB-821AC3A0C1D3}" srcOrd="0" destOrd="0" presId="urn:microsoft.com/office/officeart/2008/layout/HorizontalMultiLevelHierarchy"/>
    <dgm:cxn modelId="{36816416-D8FA-4817-AD99-017031BB5611}" type="presParOf" srcId="{21C4873A-8667-43E2-9485-A3ACFD1D62B9}" destId="{EFCE2038-7E88-40F9-8618-E74E9EC204F3}" srcOrd="1" destOrd="0" presId="urn:microsoft.com/office/officeart/2008/layout/HorizontalMultiLevelHierarchy"/>
    <dgm:cxn modelId="{32D854F4-2849-4E63-AE0C-C1454BDEB591}" type="presParOf" srcId="{EFCE2038-7E88-40F9-8618-E74E9EC204F3}" destId="{02182DB4-8CE3-459C-B6C0-9CB5DC71479B}" srcOrd="0" destOrd="0" presId="urn:microsoft.com/office/officeart/2008/layout/HorizontalMultiLevelHierarchy"/>
    <dgm:cxn modelId="{31F15300-E4D1-4CD5-B2FE-B2A5874E60E0}" type="presParOf" srcId="{02182DB4-8CE3-459C-B6C0-9CB5DC71479B}" destId="{66DE2959-D9B6-4E79-9746-0EFC3BCBC19D}" srcOrd="0" destOrd="0" presId="urn:microsoft.com/office/officeart/2008/layout/HorizontalMultiLevelHierarchy"/>
    <dgm:cxn modelId="{D208194C-7393-41E1-BB91-BFFB60ED29DE}" type="presParOf" srcId="{EFCE2038-7E88-40F9-8618-E74E9EC204F3}" destId="{1A7E0058-4A52-402C-A4B4-57756FAF6743}" srcOrd="1" destOrd="0" presId="urn:microsoft.com/office/officeart/2008/layout/HorizontalMultiLevelHierarchy"/>
    <dgm:cxn modelId="{FA8874C5-D00B-4948-86D6-F9E3E4AD68F5}" type="presParOf" srcId="{1A7E0058-4A52-402C-A4B4-57756FAF6743}" destId="{D327265F-B942-4B43-A502-D10FFEA12F73}" srcOrd="0" destOrd="0" presId="urn:microsoft.com/office/officeart/2008/layout/HorizontalMultiLevelHierarchy"/>
    <dgm:cxn modelId="{55A43E06-9121-40A6-A484-6943A4418105}" type="presParOf" srcId="{1A7E0058-4A52-402C-A4B4-57756FAF6743}" destId="{E8E36F7C-37E1-4069-8883-49CD86D62220}" srcOrd="1" destOrd="0" presId="urn:microsoft.com/office/officeart/2008/layout/HorizontalMultiLevelHierarchy"/>
    <dgm:cxn modelId="{41F8D3F7-62E7-4480-AB24-6C7D3B25449B}" type="presParOf" srcId="{EFCE2038-7E88-40F9-8618-E74E9EC204F3}" destId="{8693A490-7F8B-45EB-8ABA-62C345D97B2B}" srcOrd="2" destOrd="0" presId="urn:microsoft.com/office/officeart/2008/layout/HorizontalMultiLevelHierarchy"/>
    <dgm:cxn modelId="{F8DF1AAD-10F8-4FC1-8183-AA95D9A8CA17}" type="presParOf" srcId="{8693A490-7F8B-45EB-8ABA-62C345D97B2B}" destId="{DA3757F0-C76A-43BF-BB36-78A804971A2D}" srcOrd="0" destOrd="0" presId="urn:microsoft.com/office/officeart/2008/layout/HorizontalMultiLevelHierarchy"/>
    <dgm:cxn modelId="{4D5BA402-829B-463D-BCE9-D809DA356FAC}" type="presParOf" srcId="{EFCE2038-7E88-40F9-8618-E74E9EC204F3}" destId="{4E70CE55-4684-45EC-9BB4-114C45567522}" srcOrd="3" destOrd="0" presId="urn:microsoft.com/office/officeart/2008/layout/HorizontalMultiLevelHierarchy"/>
    <dgm:cxn modelId="{1E59C036-D4C1-4B1C-A347-DAB8235A57EF}" type="presParOf" srcId="{4E70CE55-4684-45EC-9BB4-114C45567522}" destId="{CDD08F04-9859-46B0-AD62-E025CBE48998}" srcOrd="0" destOrd="0" presId="urn:microsoft.com/office/officeart/2008/layout/HorizontalMultiLevelHierarchy"/>
    <dgm:cxn modelId="{9391948E-F9F8-4AD1-852B-C0E21515746D}" type="presParOf" srcId="{4E70CE55-4684-45EC-9BB4-114C45567522}" destId="{F07EB07B-6EC3-4AAA-AD7E-F139A1F1B1EF}" srcOrd="1" destOrd="0" presId="urn:microsoft.com/office/officeart/2008/layout/HorizontalMultiLevelHierarchy"/>
    <dgm:cxn modelId="{D4DB7DAC-14B6-4186-A484-1A2626B74CAB}" type="presParOf" srcId="{EFCE2038-7E88-40F9-8618-E74E9EC204F3}" destId="{CD1E3767-A381-4B03-AC88-F10F736702EF}" srcOrd="4" destOrd="0" presId="urn:microsoft.com/office/officeart/2008/layout/HorizontalMultiLevelHierarchy"/>
    <dgm:cxn modelId="{D1F267CC-1CE5-4F3B-A3A8-6B0E846166C7}" type="presParOf" srcId="{CD1E3767-A381-4B03-AC88-F10F736702EF}" destId="{1ACF5E9D-0FAA-4B59-B8B1-16B02EE6F726}" srcOrd="0" destOrd="0" presId="urn:microsoft.com/office/officeart/2008/layout/HorizontalMultiLevelHierarchy"/>
    <dgm:cxn modelId="{E5B0F634-6CB0-48A9-9D22-3CDD12E53C42}" type="presParOf" srcId="{EFCE2038-7E88-40F9-8618-E74E9EC204F3}" destId="{BCCA3DFD-0047-4AAE-8EB7-1560B537DDA4}" srcOrd="5" destOrd="0" presId="urn:microsoft.com/office/officeart/2008/layout/HorizontalMultiLevelHierarchy"/>
    <dgm:cxn modelId="{3C66CF4E-7BF5-45FD-B9B3-904ADC8CFF7E}" type="presParOf" srcId="{BCCA3DFD-0047-4AAE-8EB7-1560B537DDA4}" destId="{3EB37757-FBE5-45BC-AFB0-99E6600D6278}" srcOrd="0" destOrd="0" presId="urn:microsoft.com/office/officeart/2008/layout/HorizontalMultiLevelHierarchy"/>
    <dgm:cxn modelId="{8B5377AD-7FEB-48A7-A549-E31D5DE26C4A}" type="presParOf" srcId="{BCCA3DFD-0047-4AAE-8EB7-1560B537DDA4}" destId="{97CB6D7B-B43C-42BD-ADC7-2C7691BE2D46}" srcOrd="1" destOrd="0" presId="urn:microsoft.com/office/officeart/2008/layout/HorizontalMultiLevelHierarchy"/>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BC1EAC1D-FBF5-422C-83AE-02E5E7BC735B}"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zh-CN" altLang="en-US"/>
        </a:p>
      </dgm:t>
    </dgm:pt>
    <dgm:pt modelId="{4D0E73C8-016F-46AE-A343-A4B4007B0EC3}">
      <dgm:prSet/>
      <dgm:spPr/>
      <dgm:t>
        <a:bodyPr/>
        <a:lstStyle/>
        <a:p>
          <a:r>
            <a:rPr lang="zh-CN" dirty="0"/>
            <a:t>维度</a:t>
          </a:r>
          <a:r>
            <a:rPr lang="zh-CN" altLang="en-US" dirty="0"/>
            <a:t>集</a:t>
          </a:r>
          <a:endParaRPr lang="zh-CN" dirty="0"/>
        </a:p>
      </dgm:t>
    </dgm:pt>
    <dgm:pt modelId="{D59E36EF-1B51-4655-87BB-EDD418BC73D8}" type="parTrans" cxnId="{6ACDD230-B6C2-4C78-B91E-1A0C2E8680E1}">
      <dgm:prSet/>
      <dgm:spPr/>
      <dgm:t>
        <a:bodyPr/>
        <a:lstStyle/>
        <a:p>
          <a:endParaRPr lang="zh-CN" altLang="en-US"/>
        </a:p>
      </dgm:t>
    </dgm:pt>
    <dgm:pt modelId="{E4BF4CFC-BEB5-466E-8A79-19761F3F1A05}" type="sibTrans" cxnId="{6ACDD230-B6C2-4C78-B91E-1A0C2E8680E1}">
      <dgm:prSet/>
      <dgm:spPr/>
      <dgm:t>
        <a:bodyPr/>
        <a:lstStyle/>
        <a:p>
          <a:endParaRPr lang="zh-CN" altLang="en-US"/>
        </a:p>
      </dgm:t>
    </dgm:pt>
    <dgm:pt modelId="{8C2A3439-D190-48EE-BF9B-57A1589134E8}">
      <dgm:prSet/>
      <dgm:spPr/>
      <dgm:t>
        <a:bodyPr/>
        <a:lstStyle/>
        <a:p>
          <a:r>
            <a:rPr lang="zh-CN"/>
            <a:t>维度</a:t>
          </a:r>
          <a:r>
            <a:rPr lang="en-US"/>
            <a:t>1</a:t>
          </a:r>
          <a:endParaRPr lang="zh-CN"/>
        </a:p>
      </dgm:t>
    </dgm:pt>
    <dgm:pt modelId="{A9F4C3D9-3557-4CAB-AAAF-AAED4E44A2B5}" type="parTrans" cxnId="{8B72DF7A-BB5A-43CC-BB0A-9EE4B08EBCD4}">
      <dgm:prSet/>
      <dgm:spPr/>
      <dgm:t>
        <a:bodyPr/>
        <a:lstStyle/>
        <a:p>
          <a:endParaRPr lang="zh-CN" altLang="en-US"/>
        </a:p>
      </dgm:t>
    </dgm:pt>
    <dgm:pt modelId="{3BCD7D25-2F28-492A-904D-F55660FCCCC5}" type="sibTrans" cxnId="{8B72DF7A-BB5A-43CC-BB0A-9EE4B08EBCD4}">
      <dgm:prSet/>
      <dgm:spPr/>
      <dgm:t>
        <a:bodyPr/>
        <a:lstStyle/>
        <a:p>
          <a:endParaRPr lang="zh-CN" altLang="en-US"/>
        </a:p>
      </dgm:t>
    </dgm:pt>
    <dgm:pt modelId="{33D7E657-5381-4B86-AC8F-D1233F63B0E0}">
      <dgm:prSet/>
      <dgm:spPr/>
      <dgm:t>
        <a:bodyPr/>
        <a:lstStyle/>
        <a:p>
          <a:r>
            <a:rPr lang="zh-CN"/>
            <a:t>维度</a:t>
          </a:r>
          <a:r>
            <a:rPr lang="en-US"/>
            <a:t>2</a:t>
          </a:r>
          <a:endParaRPr lang="zh-CN"/>
        </a:p>
      </dgm:t>
    </dgm:pt>
    <dgm:pt modelId="{9EB5C41A-FBC1-4D16-9554-ABDBED493D58}" type="parTrans" cxnId="{97620E2F-4DB4-43F1-AFFF-2B80223454D7}">
      <dgm:prSet/>
      <dgm:spPr/>
      <dgm:t>
        <a:bodyPr/>
        <a:lstStyle/>
        <a:p>
          <a:endParaRPr lang="zh-CN" altLang="en-US"/>
        </a:p>
      </dgm:t>
    </dgm:pt>
    <dgm:pt modelId="{274C15D3-7322-4136-B3A1-56F4AC850375}" type="sibTrans" cxnId="{97620E2F-4DB4-43F1-AFFF-2B80223454D7}">
      <dgm:prSet/>
      <dgm:spPr/>
      <dgm:t>
        <a:bodyPr/>
        <a:lstStyle/>
        <a:p>
          <a:endParaRPr lang="zh-CN" altLang="en-US"/>
        </a:p>
      </dgm:t>
    </dgm:pt>
    <dgm:pt modelId="{E6D7F503-79EA-4677-9BFD-D12A92F7A31C}">
      <dgm:prSet/>
      <dgm:spPr/>
      <dgm:t>
        <a:bodyPr/>
        <a:lstStyle/>
        <a:p>
          <a:r>
            <a:rPr lang="zh-CN" dirty="0"/>
            <a:t>维度</a:t>
          </a:r>
          <a:r>
            <a:rPr lang="en-US" dirty="0"/>
            <a:t>3</a:t>
          </a:r>
          <a:endParaRPr lang="zh-CN" dirty="0"/>
        </a:p>
      </dgm:t>
    </dgm:pt>
    <dgm:pt modelId="{BB95CAC0-F8EE-4344-99E6-235EA59F03BB}" type="parTrans" cxnId="{7650666C-5725-4202-8DC8-8154E00197F3}">
      <dgm:prSet/>
      <dgm:spPr/>
      <dgm:t>
        <a:bodyPr/>
        <a:lstStyle/>
        <a:p>
          <a:endParaRPr lang="zh-CN" altLang="en-US"/>
        </a:p>
      </dgm:t>
    </dgm:pt>
    <dgm:pt modelId="{62C6CF20-1C13-4066-B393-046EED92FBC9}" type="sibTrans" cxnId="{7650666C-5725-4202-8DC8-8154E00197F3}">
      <dgm:prSet/>
      <dgm:spPr/>
      <dgm:t>
        <a:bodyPr/>
        <a:lstStyle/>
        <a:p>
          <a:endParaRPr lang="zh-CN" altLang="en-US"/>
        </a:p>
      </dgm:t>
    </dgm:pt>
    <dgm:pt modelId="{9FF59FCF-A083-4ADD-A79C-7835B76CADB9}">
      <dgm:prSet/>
      <dgm:spPr/>
      <dgm:t>
        <a:bodyPr/>
        <a:lstStyle/>
        <a:p>
          <a:r>
            <a:rPr lang="zh-CN" altLang="en-US" dirty="0"/>
            <a:t>维度</a:t>
          </a:r>
          <a:r>
            <a:rPr lang="en-US" altLang="zh-CN" dirty="0"/>
            <a:t>…..n</a:t>
          </a:r>
          <a:endParaRPr lang="zh-CN" dirty="0"/>
        </a:p>
      </dgm:t>
    </dgm:pt>
    <dgm:pt modelId="{080FB9FE-CD8C-498C-9CB8-0FE07EC03F3F}" type="parTrans" cxnId="{8C1E9521-07CA-4756-8D48-80B3EE92567F}">
      <dgm:prSet/>
      <dgm:spPr/>
      <dgm:t>
        <a:bodyPr/>
        <a:lstStyle/>
        <a:p>
          <a:endParaRPr lang="zh-CN" altLang="en-US"/>
        </a:p>
      </dgm:t>
    </dgm:pt>
    <dgm:pt modelId="{FA6BC42D-C388-4E1D-B05C-E49A47E34DBD}" type="sibTrans" cxnId="{8C1E9521-07CA-4756-8D48-80B3EE92567F}">
      <dgm:prSet/>
      <dgm:spPr/>
      <dgm:t>
        <a:bodyPr/>
        <a:lstStyle/>
        <a:p>
          <a:endParaRPr lang="zh-CN" altLang="en-US"/>
        </a:p>
      </dgm:t>
    </dgm:pt>
    <dgm:pt modelId="{9316E17B-4809-44C8-9466-217214F3808D}" type="pres">
      <dgm:prSet presAssocID="{BC1EAC1D-FBF5-422C-83AE-02E5E7BC735B}" presName="Name0" presStyleCnt="0">
        <dgm:presLayoutVars>
          <dgm:chPref val="1"/>
          <dgm:dir/>
          <dgm:animOne val="branch"/>
          <dgm:animLvl val="lvl"/>
          <dgm:resizeHandles val="exact"/>
        </dgm:presLayoutVars>
      </dgm:prSet>
      <dgm:spPr/>
    </dgm:pt>
    <dgm:pt modelId="{21C4873A-8667-43E2-9485-A3ACFD1D62B9}" type="pres">
      <dgm:prSet presAssocID="{4D0E73C8-016F-46AE-A343-A4B4007B0EC3}" presName="root1" presStyleCnt="0"/>
      <dgm:spPr/>
    </dgm:pt>
    <dgm:pt modelId="{8A084EB8-76C1-479D-ABBB-821AC3A0C1D3}" type="pres">
      <dgm:prSet presAssocID="{4D0E73C8-016F-46AE-A343-A4B4007B0EC3}" presName="LevelOneTextNode" presStyleLbl="node0" presStyleIdx="0" presStyleCnt="1">
        <dgm:presLayoutVars>
          <dgm:chPref val="3"/>
        </dgm:presLayoutVars>
      </dgm:prSet>
      <dgm:spPr/>
    </dgm:pt>
    <dgm:pt modelId="{EFCE2038-7E88-40F9-8618-E74E9EC204F3}" type="pres">
      <dgm:prSet presAssocID="{4D0E73C8-016F-46AE-A343-A4B4007B0EC3}" presName="level2hierChild" presStyleCnt="0"/>
      <dgm:spPr/>
    </dgm:pt>
    <dgm:pt modelId="{02182DB4-8CE3-459C-B6C0-9CB5DC71479B}" type="pres">
      <dgm:prSet presAssocID="{A9F4C3D9-3557-4CAB-AAAF-AAED4E44A2B5}" presName="conn2-1" presStyleLbl="parChTrans1D2" presStyleIdx="0" presStyleCnt="4"/>
      <dgm:spPr/>
    </dgm:pt>
    <dgm:pt modelId="{66DE2959-D9B6-4E79-9746-0EFC3BCBC19D}" type="pres">
      <dgm:prSet presAssocID="{A9F4C3D9-3557-4CAB-AAAF-AAED4E44A2B5}" presName="connTx" presStyleLbl="parChTrans1D2" presStyleIdx="0" presStyleCnt="4"/>
      <dgm:spPr/>
    </dgm:pt>
    <dgm:pt modelId="{1A7E0058-4A52-402C-A4B4-57756FAF6743}" type="pres">
      <dgm:prSet presAssocID="{8C2A3439-D190-48EE-BF9B-57A1589134E8}" presName="root2" presStyleCnt="0"/>
      <dgm:spPr/>
    </dgm:pt>
    <dgm:pt modelId="{D327265F-B942-4B43-A502-D10FFEA12F73}" type="pres">
      <dgm:prSet presAssocID="{8C2A3439-D190-48EE-BF9B-57A1589134E8}" presName="LevelTwoTextNode" presStyleLbl="node2" presStyleIdx="0" presStyleCnt="4">
        <dgm:presLayoutVars>
          <dgm:chPref val="3"/>
        </dgm:presLayoutVars>
      </dgm:prSet>
      <dgm:spPr/>
    </dgm:pt>
    <dgm:pt modelId="{E8E36F7C-37E1-4069-8883-49CD86D62220}" type="pres">
      <dgm:prSet presAssocID="{8C2A3439-D190-48EE-BF9B-57A1589134E8}" presName="level3hierChild" presStyleCnt="0"/>
      <dgm:spPr/>
    </dgm:pt>
    <dgm:pt modelId="{8693A490-7F8B-45EB-8ABA-62C345D97B2B}" type="pres">
      <dgm:prSet presAssocID="{9EB5C41A-FBC1-4D16-9554-ABDBED493D58}" presName="conn2-1" presStyleLbl="parChTrans1D2" presStyleIdx="1" presStyleCnt="4"/>
      <dgm:spPr/>
    </dgm:pt>
    <dgm:pt modelId="{DA3757F0-C76A-43BF-BB36-78A804971A2D}" type="pres">
      <dgm:prSet presAssocID="{9EB5C41A-FBC1-4D16-9554-ABDBED493D58}" presName="connTx" presStyleLbl="parChTrans1D2" presStyleIdx="1" presStyleCnt="4"/>
      <dgm:spPr/>
    </dgm:pt>
    <dgm:pt modelId="{4E70CE55-4684-45EC-9BB4-114C45567522}" type="pres">
      <dgm:prSet presAssocID="{33D7E657-5381-4B86-AC8F-D1233F63B0E0}" presName="root2" presStyleCnt="0"/>
      <dgm:spPr/>
    </dgm:pt>
    <dgm:pt modelId="{CDD08F04-9859-46B0-AD62-E025CBE48998}" type="pres">
      <dgm:prSet presAssocID="{33D7E657-5381-4B86-AC8F-D1233F63B0E0}" presName="LevelTwoTextNode" presStyleLbl="node2" presStyleIdx="1" presStyleCnt="4">
        <dgm:presLayoutVars>
          <dgm:chPref val="3"/>
        </dgm:presLayoutVars>
      </dgm:prSet>
      <dgm:spPr/>
    </dgm:pt>
    <dgm:pt modelId="{F07EB07B-6EC3-4AAA-AD7E-F139A1F1B1EF}" type="pres">
      <dgm:prSet presAssocID="{33D7E657-5381-4B86-AC8F-D1233F63B0E0}" presName="level3hierChild" presStyleCnt="0"/>
      <dgm:spPr/>
    </dgm:pt>
    <dgm:pt modelId="{CD1E3767-A381-4B03-AC88-F10F736702EF}" type="pres">
      <dgm:prSet presAssocID="{BB95CAC0-F8EE-4344-99E6-235EA59F03BB}" presName="conn2-1" presStyleLbl="parChTrans1D2" presStyleIdx="2" presStyleCnt="4"/>
      <dgm:spPr/>
    </dgm:pt>
    <dgm:pt modelId="{1ACF5E9D-0FAA-4B59-B8B1-16B02EE6F726}" type="pres">
      <dgm:prSet presAssocID="{BB95CAC0-F8EE-4344-99E6-235EA59F03BB}" presName="connTx" presStyleLbl="parChTrans1D2" presStyleIdx="2" presStyleCnt="4"/>
      <dgm:spPr/>
    </dgm:pt>
    <dgm:pt modelId="{BCCA3DFD-0047-4AAE-8EB7-1560B537DDA4}" type="pres">
      <dgm:prSet presAssocID="{E6D7F503-79EA-4677-9BFD-D12A92F7A31C}" presName="root2" presStyleCnt="0"/>
      <dgm:spPr/>
    </dgm:pt>
    <dgm:pt modelId="{3EB37757-FBE5-45BC-AFB0-99E6600D6278}" type="pres">
      <dgm:prSet presAssocID="{E6D7F503-79EA-4677-9BFD-D12A92F7A31C}" presName="LevelTwoTextNode" presStyleLbl="node2" presStyleIdx="2" presStyleCnt="4">
        <dgm:presLayoutVars>
          <dgm:chPref val="3"/>
        </dgm:presLayoutVars>
      </dgm:prSet>
      <dgm:spPr/>
    </dgm:pt>
    <dgm:pt modelId="{97CB6D7B-B43C-42BD-ADC7-2C7691BE2D46}" type="pres">
      <dgm:prSet presAssocID="{E6D7F503-79EA-4677-9BFD-D12A92F7A31C}" presName="level3hierChild" presStyleCnt="0"/>
      <dgm:spPr/>
    </dgm:pt>
    <dgm:pt modelId="{9790859D-8C61-4AF6-B203-2D322A6E5352}" type="pres">
      <dgm:prSet presAssocID="{080FB9FE-CD8C-498C-9CB8-0FE07EC03F3F}" presName="conn2-1" presStyleLbl="parChTrans1D2" presStyleIdx="3" presStyleCnt="4"/>
      <dgm:spPr/>
    </dgm:pt>
    <dgm:pt modelId="{5EFECBB7-6398-44D6-A5EB-025DBB843910}" type="pres">
      <dgm:prSet presAssocID="{080FB9FE-CD8C-498C-9CB8-0FE07EC03F3F}" presName="connTx" presStyleLbl="parChTrans1D2" presStyleIdx="3" presStyleCnt="4"/>
      <dgm:spPr/>
    </dgm:pt>
    <dgm:pt modelId="{25BC1211-4860-4022-8197-C9D89C0B1A69}" type="pres">
      <dgm:prSet presAssocID="{9FF59FCF-A083-4ADD-A79C-7835B76CADB9}" presName="root2" presStyleCnt="0"/>
      <dgm:spPr/>
    </dgm:pt>
    <dgm:pt modelId="{14991D58-8D8C-4EA2-B08C-6DDC48E96B6F}" type="pres">
      <dgm:prSet presAssocID="{9FF59FCF-A083-4ADD-A79C-7835B76CADB9}" presName="LevelTwoTextNode" presStyleLbl="node2" presStyleIdx="3" presStyleCnt="4">
        <dgm:presLayoutVars>
          <dgm:chPref val="3"/>
        </dgm:presLayoutVars>
      </dgm:prSet>
      <dgm:spPr/>
    </dgm:pt>
    <dgm:pt modelId="{C9C45E51-61F2-4745-B372-0B4F420CE5DE}" type="pres">
      <dgm:prSet presAssocID="{9FF59FCF-A083-4ADD-A79C-7835B76CADB9}" presName="level3hierChild" presStyleCnt="0"/>
      <dgm:spPr/>
    </dgm:pt>
  </dgm:ptLst>
  <dgm:cxnLst>
    <dgm:cxn modelId="{04D96209-EFEA-4716-A35B-39780C60C42B}" type="presOf" srcId="{BB95CAC0-F8EE-4344-99E6-235EA59F03BB}" destId="{1ACF5E9D-0FAA-4B59-B8B1-16B02EE6F726}" srcOrd="1" destOrd="0" presId="urn:microsoft.com/office/officeart/2008/layout/HorizontalMultiLevelHierarchy"/>
    <dgm:cxn modelId="{8C1E9521-07CA-4756-8D48-80B3EE92567F}" srcId="{4D0E73C8-016F-46AE-A343-A4B4007B0EC3}" destId="{9FF59FCF-A083-4ADD-A79C-7835B76CADB9}" srcOrd="3" destOrd="0" parTransId="{080FB9FE-CD8C-498C-9CB8-0FE07EC03F3F}" sibTransId="{FA6BC42D-C388-4E1D-B05C-E49A47E34DBD}"/>
    <dgm:cxn modelId="{97620E2F-4DB4-43F1-AFFF-2B80223454D7}" srcId="{4D0E73C8-016F-46AE-A343-A4B4007B0EC3}" destId="{33D7E657-5381-4B86-AC8F-D1233F63B0E0}" srcOrd="1" destOrd="0" parTransId="{9EB5C41A-FBC1-4D16-9554-ABDBED493D58}" sibTransId="{274C15D3-7322-4136-B3A1-56F4AC850375}"/>
    <dgm:cxn modelId="{6ACDD230-B6C2-4C78-B91E-1A0C2E8680E1}" srcId="{BC1EAC1D-FBF5-422C-83AE-02E5E7BC735B}" destId="{4D0E73C8-016F-46AE-A343-A4B4007B0EC3}" srcOrd="0" destOrd="0" parTransId="{D59E36EF-1B51-4655-87BB-EDD418BC73D8}" sibTransId="{E4BF4CFC-BEB5-466E-8A79-19761F3F1A05}"/>
    <dgm:cxn modelId="{7CECBC36-4398-4A99-9E04-91ACB4618D09}" type="presOf" srcId="{BC1EAC1D-FBF5-422C-83AE-02E5E7BC735B}" destId="{9316E17B-4809-44C8-9466-217214F3808D}" srcOrd="0" destOrd="0" presId="urn:microsoft.com/office/officeart/2008/layout/HorizontalMultiLevelHierarchy"/>
    <dgm:cxn modelId="{98B4463F-4903-4F21-A460-ACA8672D9322}" type="presOf" srcId="{A9F4C3D9-3557-4CAB-AAAF-AAED4E44A2B5}" destId="{02182DB4-8CE3-459C-B6C0-9CB5DC71479B}" srcOrd="0" destOrd="0" presId="urn:microsoft.com/office/officeart/2008/layout/HorizontalMultiLevelHierarchy"/>
    <dgm:cxn modelId="{C4348A45-EB10-4933-A4FC-4E833B7DFD1B}" type="presOf" srcId="{E6D7F503-79EA-4677-9BFD-D12A92F7A31C}" destId="{3EB37757-FBE5-45BC-AFB0-99E6600D6278}" srcOrd="0" destOrd="0" presId="urn:microsoft.com/office/officeart/2008/layout/HorizontalMultiLevelHierarchy"/>
    <dgm:cxn modelId="{7650666C-5725-4202-8DC8-8154E00197F3}" srcId="{4D0E73C8-016F-46AE-A343-A4B4007B0EC3}" destId="{E6D7F503-79EA-4677-9BFD-D12A92F7A31C}" srcOrd="2" destOrd="0" parTransId="{BB95CAC0-F8EE-4344-99E6-235EA59F03BB}" sibTransId="{62C6CF20-1C13-4066-B393-046EED92FBC9}"/>
    <dgm:cxn modelId="{704F505A-F516-426A-AD3B-06A3F33199E0}" type="presOf" srcId="{33D7E657-5381-4B86-AC8F-D1233F63B0E0}" destId="{CDD08F04-9859-46B0-AD62-E025CBE48998}" srcOrd="0" destOrd="0" presId="urn:microsoft.com/office/officeart/2008/layout/HorizontalMultiLevelHierarchy"/>
    <dgm:cxn modelId="{8B72DF7A-BB5A-43CC-BB0A-9EE4B08EBCD4}" srcId="{4D0E73C8-016F-46AE-A343-A4B4007B0EC3}" destId="{8C2A3439-D190-48EE-BF9B-57A1589134E8}" srcOrd="0" destOrd="0" parTransId="{A9F4C3D9-3557-4CAB-AAAF-AAED4E44A2B5}" sibTransId="{3BCD7D25-2F28-492A-904D-F55660FCCCC5}"/>
    <dgm:cxn modelId="{9A0F8689-245B-474F-A7C5-A85F29F49A16}" type="presOf" srcId="{8C2A3439-D190-48EE-BF9B-57A1589134E8}" destId="{D327265F-B942-4B43-A502-D10FFEA12F73}" srcOrd="0" destOrd="0" presId="urn:microsoft.com/office/officeart/2008/layout/HorizontalMultiLevelHierarchy"/>
    <dgm:cxn modelId="{7F1FD491-888B-4A2B-B629-4C2BC19D3EAE}" type="presOf" srcId="{4D0E73C8-016F-46AE-A343-A4B4007B0EC3}" destId="{8A084EB8-76C1-479D-ABBB-821AC3A0C1D3}" srcOrd="0" destOrd="0" presId="urn:microsoft.com/office/officeart/2008/layout/HorizontalMultiLevelHierarchy"/>
    <dgm:cxn modelId="{24189F97-8CDE-4C1B-8BB9-D9CDFE024A22}" type="presOf" srcId="{A9F4C3D9-3557-4CAB-AAAF-AAED4E44A2B5}" destId="{66DE2959-D9B6-4E79-9746-0EFC3BCBC19D}" srcOrd="1" destOrd="0" presId="urn:microsoft.com/office/officeart/2008/layout/HorizontalMultiLevelHierarchy"/>
    <dgm:cxn modelId="{DD755AB2-7FAC-4D0D-87D4-8A99F338F6D6}" type="presOf" srcId="{BB95CAC0-F8EE-4344-99E6-235EA59F03BB}" destId="{CD1E3767-A381-4B03-AC88-F10F736702EF}" srcOrd="0" destOrd="0" presId="urn:microsoft.com/office/officeart/2008/layout/HorizontalMultiLevelHierarchy"/>
    <dgm:cxn modelId="{778894B4-9D50-4858-B665-5AAD644C33D7}" type="presOf" srcId="{9FF59FCF-A083-4ADD-A79C-7835B76CADB9}" destId="{14991D58-8D8C-4EA2-B08C-6DDC48E96B6F}" srcOrd="0" destOrd="0" presId="urn:microsoft.com/office/officeart/2008/layout/HorizontalMultiLevelHierarchy"/>
    <dgm:cxn modelId="{938B57C3-60E3-4B9E-9736-AE344E6D84DA}" type="presOf" srcId="{9EB5C41A-FBC1-4D16-9554-ABDBED493D58}" destId="{8693A490-7F8B-45EB-8ABA-62C345D97B2B}" srcOrd="0" destOrd="0" presId="urn:microsoft.com/office/officeart/2008/layout/HorizontalMultiLevelHierarchy"/>
    <dgm:cxn modelId="{60B1F8C8-A4CD-4389-97C5-82E8EFE84ECB}" type="presOf" srcId="{9EB5C41A-FBC1-4D16-9554-ABDBED493D58}" destId="{DA3757F0-C76A-43BF-BB36-78A804971A2D}" srcOrd="1" destOrd="0" presId="urn:microsoft.com/office/officeart/2008/layout/HorizontalMultiLevelHierarchy"/>
    <dgm:cxn modelId="{1D28EBDA-FE60-4185-B8AB-65EEEF7F33B3}" type="presOf" srcId="{080FB9FE-CD8C-498C-9CB8-0FE07EC03F3F}" destId="{5EFECBB7-6398-44D6-A5EB-025DBB843910}" srcOrd="1" destOrd="0" presId="urn:microsoft.com/office/officeart/2008/layout/HorizontalMultiLevelHierarchy"/>
    <dgm:cxn modelId="{7EDF66F6-2B63-4A89-93AE-96CBFCAF5107}" type="presOf" srcId="{080FB9FE-CD8C-498C-9CB8-0FE07EC03F3F}" destId="{9790859D-8C61-4AF6-B203-2D322A6E5352}" srcOrd="0" destOrd="0" presId="urn:microsoft.com/office/officeart/2008/layout/HorizontalMultiLevelHierarchy"/>
    <dgm:cxn modelId="{69A07687-6CD0-4AB7-8FFD-814009EC175E}" type="presParOf" srcId="{9316E17B-4809-44C8-9466-217214F3808D}" destId="{21C4873A-8667-43E2-9485-A3ACFD1D62B9}" srcOrd="0" destOrd="0" presId="urn:microsoft.com/office/officeart/2008/layout/HorizontalMultiLevelHierarchy"/>
    <dgm:cxn modelId="{7983ED05-CCEE-45C6-8830-DD847419F7AE}" type="presParOf" srcId="{21C4873A-8667-43E2-9485-A3ACFD1D62B9}" destId="{8A084EB8-76C1-479D-ABBB-821AC3A0C1D3}" srcOrd="0" destOrd="0" presId="urn:microsoft.com/office/officeart/2008/layout/HorizontalMultiLevelHierarchy"/>
    <dgm:cxn modelId="{36816416-D8FA-4817-AD99-017031BB5611}" type="presParOf" srcId="{21C4873A-8667-43E2-9485-A3ACFD1D62B9}" destId="{EFCE2038-7E88-40F9-8618-E74E9EC204F3}" srcOrd="1" destOrd="0" presId="urn:microsoft.com/office/officeart/2008/layout/HorizontalMultiLevelHierarchy"/>
    <dgm:cxn modelId="{32D854F4-2849-4E63-AE0C-C1454BDEB591}" type="presParOf" srcId="{EFCE2038-7E88-40F9-8618-E74E9EC204F3}" destId="{02182DB4-8CE3-459C-B6C0-9CB5DC71479B}" srcOrd="0" destOrd="0" presId="urn:microsoft.com/office/officeart/2008/layout/HorizontalMultiLevelHierarchy"/>
    <dgm:cxn modelId="{31F15300-E4D1-4CD5-B2FE-B2A5874E60E0}" type="presParOf" srcId="{02182DB4-8CE3-459C-B6C0-9CB5DC71479B}" destId="{66DE2959-D9B6-4E79-9746-0EFC3BCBC19D}" srcOrd="0" destOrd="0" presId="urn:microsoft.com/office/officeart/2008/layout/HorizontalMultiLevelHierarchy"/>
    <dgm:cxn modelId="{D208194C-7393-41E1-BB91-BFFB60ED29DE}" type="presParOf" srcId="{EFCE2038-7E88-40F9-8618-E74E9EC204F3}" destId="{1A7E0058-4A52-402C-A4B4-57756FAF6743}" srcOrd="1" destOrd="0" presId="urn:microsoft.com/office/officeart/2008/layout/HorizontalMultiLevelHierarchy"/>
    <dgm:cxn modelId="{FA8874C5-D00B-4948-86D6-F9E3E4AD68F5}" type="presParOf" srcId="{1A7E0058-4A52-402C-A4B4-57756FAF6743}" destId="{D327265F-B942-4B43-A502-D10FFEA12F73}" srcOrd="0" destOrd="0" presId="urn:microsoft.com/office/officeart/2008/layout/HorizontalMultiLevelHierarchy"/>
    <dgm:cxn modelId="{55A43E06-9121-40A6-A484-6943A4418105}" type="presParOf" srcId="{1A7E0058-4A52-402C-A4B4-57756FAF6743}" destId="{E8E36F7C-37E1-4069-8883-49CD86D62220}" srcOrd="1" destOrd="0" presId="urn:microsoft.com/office/officeart/2008/layout/HorizontalMultiLevelHierarchy"/>
    <dgm:cxn modelId="{41F8D3F7-62E7-4480-AB24-6C7D3B25449B}" type="presParOf" srcId="{EFCE2038-7E88-40F9-8618-E74E9EC204F3}" destId="{8693A490-7F8B-45EB-8ABA-62C345D97B2B}" srcOrd="2" destOrd="0" presId="urn:microsoft.com/office/officeart/2008/layout/HorizontalMultiLevelHierarchy"/>
    <dgm:cxn modelId="{F8DF1AAD-10F8-4FC1-8183-AA95D9A8CA17}" type="presParOf" srcId="{8693A490-7F8B-45EB-8ABA-62C345D97B2B}" destId="{DA3757F0-C76A-43BF-BB36-78A804971A2D}" srcOrd="0" destOrd="0" presId="urn:microsoft.com/office/officeart/2008/layout/HorizontalMultiLevelHierarchy"/>
    <dgm:cxn modelId="{4D5BA402-829B-463D-BCE9-D809DA356FAC}" type="presParOf" srcId="{EFCE2038-7E88-40F9-8618-E74E9EC204F3}" destId="{4E70CE55-4684-45EC-9BB4-114C45567522}" srcOrd="3" destOrd="0" presId="urn:microsoft.com/office/officeart/2008/layout/HorizontalMultiLevelHierarchy"/>
    <dgm:cxn modelId="{1E59C036-D4C1-4B1C-A347-DAB8235A57EF}" type="presParOf" srcId="{4E70CE55-4684-45EC-9BB4-114C45567522}" destId="{CDD08F04-9859-46B0-AD62-E025CBE48998}" srcOrd="0" destOrd="0" presId="urn:microsoft.com/office/officeart/2008/layout/HorizontalMultiLevelHierarchy"/>
    <dgm:cxn modelId="{9391948E-F9F8-4AD1-852B-C0E21515746D}" type="presParOf" srcId="{4E70CE55-4684-45EC-9BB4-114C45567522}" destId="{F07EB07B-6EC3-4AAA-AD7E-F139A1F1B1EF}" srcOrd="1" destOrd="0" presId="urn:microsoft.com/office/officeart/2008/layout/HorizontalMultiLevelHierarchy"/>
    <dgm:cxn modelId="{D4DB7DAC-14B6-4186-A484-1A2626B74CAB}" type="presParOf" srcId="{EFCE2038-7E88-40F9-8618-E74E9EC204F3}" destId="{CD1E3767-A381-4B03-AC88-F10F736702EF}" srcOrd="4" destOrd="0" presId="urn:microsoft.com/office/officeart/2008/layout/HorizontalMultiLevelHierarchy"/>
    <dgm:cxn modelId="{D1F267CC-1CE5-4F3B-A3A8-6B0E846166C7}" type="presParOf" srcId="{CD1E3767-A381-4B03-AC88-F10F736702EF}" destId="{1ACF5E9D-0FAA-4B59-B8B1-16B02EE6F726}" srcOrd="0" destOrd="0" presId="urn:microsoft.com/office/officeart/2008/layout/HorizontalMultiLevelHierarchy"/>
    <dgm:cxn modelId="{E5B0F634-6CB0-48A9-9D22-3CDD12E53C42}" type="presParOf" srcId="{EFCE2038-7E88-40F9-8618-E74E9EC204F3}" destId="{BCCA3DFD-0047-4AAE-8EB7-1560B537DDA4}" srcOrd="5" destOrd="0" presId="urn:microsoft.com/office/officeart/2008/layout/HorizontalMultiLevelHierarchy"/>
    <dgm:cxn modelId="{3C66CF4E-7BF5-45FD-B9B3-904ADC8CFF7E}" type="presParOf" srcId="{BCCA3DFD-0047-4AAE-8EB7-1560B537DDA4}" destId="{3EB37757-FBE5-45BC-AFB0-99E6600D6278}" srcOrd="0" destOrd="0" presId="urn:microsoft.com/office/officeart/2008/layout/HorizontalMultiLevelHierarchy"/>
    <dgm:cxn modelId="{8B5377AD-7FEB-48A7-A549-E31D5DE26C4A}" type="presParOf" srcId="{BCCA3DFD-0047-4AAE-8EB7-1560B537DDA4}" destId="{97CB6D7B-B43C-42BD-ADC7-2C7691BE2D46}" srcOrd="1" destOrd="0" presId="urn:microsoft.com/office/officeart/2008/layout/HorizontalMultiLevelHierarchy"/>
    <dgm:cxn modelId="{76EFB8A5-0486-4691-8D66-E110B05CE8AC}" type="presParOf" srcId="{EFCE2038-7E88-40F9-8618-E74E9EC204F3}" destId="{9790859D-8C61-4AF6-B203-2D322A6E5352}" srcOrd="6" destOrd="0" presId="urn:microsoft.com/office/officeart/2008/layout/HorizontalMultiLevelHierarchy"/>
    <dgm:cxn modelId="{D501F0B0-65CD-4768-BE0B-FD3C8E352E45}" type="presParOf" srcId="{9790859D-8C61-4AF6-B203-2D322A6E5352}" destId="{5EFECBB7-6398-44D6-A5EB-025DBB843910}" srcOrd="0" destOrd="0" presId="urn:microsoft.com/office/officeart/2008/layout/HorizontalMultiLevelHierarchy"/>
    <dgm:cxn modelId="{7F2030F1-3FC3-4683-A9AB-9E1E78978CBE}" type="presParOf" srcId="{EFCE2038-7E88-40F9-8618-E74E9EC204F3}" destId="{25BC1211-4860-4022-8197-C9D89C0B1A69}" srcOrd="7" destOrd="0" presId="urn:microsoft.com/office/officeart/2008/layout/HorizontalMultiLevelHierarchy"/>
    <dgm:cxn modelId="{21C49179-4AE6-41DB-BD85-DC93D775F9D2}" type="presParOf" srcId="{25BC1211-4860-4022-8197-C9D89C0B1A69}" destId="{14991D58-8D8C-4EA2-B08C-6DDC48E96B6F}" srcOrd="0" destOrd="0" presId="urn:microsoft.com/office/officeart/2008/layout/HorizontalMultiLevelHierarchy"/>
    <dgm:cxn modelId="{CC6CBD06-25DA-4294-8FBE-966431E8DFA3}" type="presParOf" srcId="{25BC1211-4860-4022-8197-C9D89C0B1A69}" destId="{C9C45E51-61F2-4745-B372-0B4F420CE5DE}" srcOrd="1" destOrd="0" presId="urn:microsoft.com/office/officeart/2008/layout/HorizontalMultiLevelHierarchy"/>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BC1EAC1D-FBF5-422C-83AE-02E5E7BC735B}" type="doc">
      <dgm:prSet loTypeId="urn:microsoft.com/office/officeart/2008/layout/HorizontalMultiLevelHierarchy" loCatId="hierarchy" qsTypeId="urn:microsoft.com/office/officeart/2005/8/quickstyle/simple1" qsCatId="simple" csTypeId="urn:microsoft.com/office/officeart/2005/8/colors/accent1_2" csCatId="accent1"/>
      <dgm:spPr/>
      <dgm:t>
        <a:bodyPr/>
        <a:lstStyle/>
        <a:p>
          <a:endParaRPr lang="zh-CN" altLang="en-US"/>
        </a:p>
      </dgm:t>
    </dgm:pt>
    <dgm:pt modelId="{4D0E73C8-016F-46AE-A343-A4B4007B0EC3}">
      <dgm:prSet/>
      <dgm:spPr/>
      <dgm:t>
        <a:bodyPr/>
        <a:lstStyle/>
        <a:p>
          <a:r>
            <a:rPr lang="zh-CN"/>
            <a:t>维度组</a:t>
          </a:r>
        </a:p>
      </dgm:t>
    </dgm:pt>
    <dgm:pt modelId="{D59E36EF-1B51-4655-87BB-EDD418BC73D8}" type="parTrans" cxnId="{6ACDD230-B6C2-4C78-B91E-1A0C2E8680E1}">
      <dgm:prSet/>
      <dgm:spPr/>
      <dgm:t>
        <a:bodyPr/>
        <a:lstStyle/>
        <a:p>
          <a:endParaRPr lang="zh-CN" altLang="en-US"/>
        </a:p>
      </dgm:t>
    </dgm:pt>
    <dgm:pt modelId="{E4BF4CFC-BEB5-466E-8A79-19761F3F1A05}" type="sibTrans" cxnId="{6ACDD230-B6C2-4C78-B91E-1A0C2E8680E1}">
      <dgm:prSet/>
      <dgm:spPr/>
      <dgm:t>
        <a:bodyPr/>
        <a:lstStyle/>
        <a:p>
          <a:endParaRPr lang="zh-CN" altLang="en-US"/>
        </a:p>
      </dgm:t>
    </dgm:pt>
    <dgm:pt modelId="{8C2A3439-D190-48EE-BF9B-57A1589134E8}">
      <dgm:prSet/>
      <dgm:spPr/>
      <dgm:t>
        <a:bodyPr/>
        <a:lstStyle/>
        <a:p>
          <a:r>
            <a:rPr lang="zh-CN"/>
            <a:t>维度</a:t>
          </a:r>
          <a:r>
            <a:rPr lang="en-US"/>
            <a:t>1</a:t>
          </a:r>
          <a:endParaRPr lang="zh-CN"/>
        </a:p>
      </dgm:t>
    </dgm:pt>
    <dgm:pt modelId="{A9F4C3D9-3557-4CAB-AAAF-AAED4E44A2B5}" type="parTrans" cxnId="{8B72DF7A-BB5A-43CC-BB0A-9EE4B08EBCD4}">
      <dgm:prSet/>
      <dgm:spPr/>
      <dgm:t>
        <a:bodyPr/>
        <a:lstStyle/>
        <a:p>
          <a:endParaRPr lang="zh-CN" altLang="en-US"/>
        </a:p>
      </dgm:t>
    </dgm:pt>
    <dgm:pt modelId="{3BCD7D25-2F28-492A-904D-F55660FCCCC5}" type="sibTrans" cxnId="{8B72DF7A-BB5A-43CC-BB0A-9EE4B08EBCD4}">
      <dgm:prSet/>
      <dgm:spPr/>
      <dgm:t>
        <a:bodyPr/>
        <a:lstStyle/>
        <a:p>
          <a:endParaRPr lang="zh-CN" altLang="en-US"/>
        </a:p>
      </dgm:t>
    </dgm:pt>
    <dgm:pt modelId="{33D7E657-5381-4B86-AC8F-D1233F63B0E0}">
      <dgm:prSet/>
      <dgm:spPr/>
      <dgm:t>
        <a:bodyPr/>
        <a:lstStyle/>
        <a:p>
          <a:r>
            <a:rPr lang="zh-CN"/>
            <a:t>维度</a:t>
          </a:r>
          <a:r>
            <a:rPr lang="en-US"/>
            <a:t>2</a:t>
          </a:r>
          <a:endParaRPr lang="zh-CN"/>
        </a:p>
      </dgm:t>
    </dgm:pt>
    <dgm:pt modelId="{9EB5C41A-FBC1-4D16-9554-ABDBED493D58}" type="parTrans" cxnId="{97620E2F-4DB4-43F1-AFFF-2B80223454D7}">
      <dgm:prSet/>
      <dgm:spPr/>
      <dgm:t>
        <a:bodyPr/>
        <a:lstStyle/>
        <a:p>
          <a:endParaRPr lang="zh-CN" altLang="en-US"/>
        </a:p>
      </dgm:t>
    </dgm:pt>
    <dgm:pt modelId="{274C15D3-7322-4136-B3A1-56F4AC850375}" type="sibTrans" cxnId="{97620E2F-4DB4-43F1-AFFF-2B80223454D7}">
      <dgm:prSet/>
      <dgm:spPr/>
      <dgm:t>
        <a:bodyPr/>
        <a:lstStyle/>
        <a:p>
          <a:endParaRPr lang="zh-CN" altLang="en-US"/>
        </a:p>
      </dgm:t>
    </dgm:pt>
    <dgm:pt modelId="{E6D7F503-79EA-4677-9BFD-D12A92F7A31C}">
      <dgm:prSet/>
      <dgm:spPr/>
      <dgm:t>
        <a:bodyPr/>
        <a:lstStyle/>
        <a:p>
          <a:r>
            <a:rPr lang="zh-CN"/>
            <a:t>维度</a:t>
          </a:r>
          <a:r>
            <a:rPr lang="en-US"/>
            <a:t>3</a:t>
          </a:r>
          <a:endParaRPr lang="zh-CN"/>
        </a:p>
      </dgm:t>
    </dgm:pt>
    <dgm:pt modelId="{BB95CAC0-F8EE-4344-99E6-235EA59F03BB}" type="parTrans" cxnId="{7650666C-5725-4202-8DC8-8154E00197F3}">
      <dgm:prSet/>
      <dgm:spPr/>
      <dgm:t>
        <a:bodyPr/>
        <a:lstStyle/>
        <a:p>
          <a:endParaRPr lang="zh-CN" altLang="en-US"/>
        </a:p>
      </dgm:t>
    </dgm:pt>
    <dgm:pt modelId="{62C6CF20-1C13-4066-B393-046EED92FBC9}" type="sibTrans" cxnId="{7650666C-5725-4202-8DC8-8154E00197F3}">
      <dgm:prSet/>
      <dgm:spPr/>
      <dgm:t>
        <a:bodyPr/>
        <a:lstStyle/>
        <a:p>
          <a:endParaRPr lang="zh-CN" altLang="en-US"/>
        </a:p>
      </dgm:t>
    </dgm:pt>
    <dgm:pt modelId="{9316E17B-4809-44C8-9466-217214F3808D}" type="pres">
      <dgm:prSet presAssocID="{BC1EAC1D-FBF5-422C-83AE-02E5E7BC735B}" presName="Name0" presStyleCnt="0">
        <dgm:presLayoutVars>
          <dgm:chPref val="1"/>
          <dgm:dir val="rev"/>
          <dgm:animOne val="branch"/>
          <dgm:animLvl val="lvl"/>
          <dgm:resizeHandles val="exact"/>
        </dgm:presLayoutVars>
      </dgm:prSet>
      <dgm:spPr/>
    </dgm:pt>
    <dgm:pt modelId="{21C4873A-8667-43E2-9485-A3ACFD1D62B9}" type="pres">
      <dgm:prSet presAssocID="{4D0E73C8-016F-46AE-A343-A4B4007B0EC3}" presName="root1" presStyleCnt="0"/>
      <dgm:spPr/>
    </dgm:pt>
    <dgm:pt modelId="{8A084EB8-76C1-479D-ABBB-821AC3A0C1D3}" type="pres">
      <dgm:prSet presAssocID="{4D0E73C8-016F-46AE-A343-A4B4007B0EC3}" presName="LevelOneTextNode" presStyleLbl="node0" presStyleIdx="0" presStyleCnt="1">
        <dgm:presLayoutVars>
          <dgm:chPref val="3"/>
        </dgm:presLayoutVars>
      </dgm:prSet>
      <dgm:spPr/>
    </dgm:pt>
    <dgm:pt modelId="{EFCE2038-7E88-40F9-8618-E74E9EC204F3}" type="pres">
      <dgm:prSet presAssocID="{4D0E73C8-016F-46AE-A343-A4B4007B0EC3}" presName="level2hierChild" presStyleCnt="0"/>
      <dgm:spPr/>
    </dgm:pt>
    <dgm:pt modelId="{02182DB4-8CE3-459C-B6C0-9CB5DC71479B}" type="pres">
      <dgm:prSet presAssocID="{A9F4C3D9-3557-4CAB-AAAF-AAED4E44A2B5}" presName="conn2-1" presStyleLbl="parChTrans1D2" presStyleIdx="0" presStyleCnt="3"/>
      <dgm:spPr/>
    </dgm:pt>
    <dgm:pt modelId="{66DE2959-D9B6-4E79-9746-0EFC3BCBC19D}" type="pres">
      <dgm:prSet presAssocID="{A9F4C3D9-3557-4CAB-AAAF-AAED4E44A2B5}" presName="connTx" presStyleLbl="parChTrans1D2" presStyleIdx="0" presStyleCnt="3"/>
      <dgm:spPr/>
    </dgm:pt>
    <dgm:pt modelId="{1A7E0058-4A52-402C-A4B4-57756FAF6743}" type="pres">
      <dgm:prSet presAssocID="{8C2A3439-D190-48EE-BF9B-57A1589134E8}" presName="root2" presStyleCnt="0"/>
      <dgm:spPr/>
    </dgm:pt>
    <dgm:pt modelId="{D327265F-B942-4B43-A502-D10FFEA12F73}" type="pres">
      <dgm:prSet presAssocID="{8C2A3439-D190-48EE-BF9B-57A1589134E8}" presName="LevelTwoTextNode" presStyleLbl="node2" presStyleIdx="0" presStyleCnt="3">
        <dgm:presLayoutVars>
          <dgm:chPref val="3"/>
        </dgm:presLayoutVars>
      </dgm:prSet>
      <dgm:spPr/>
    </dgm:pt>
    <dgm:pt modelId="{E8E36F7C-37E1-4069-8883-49CD86D62220}" type="pres">
      <dgm:prSet presAssocID="{8C2A3439-D190-48EE-BF9B-57A1589134E8}" presName="level3hierChild" presStyleCnt="0"/>
      <dgm:spPr/>
    </dgm:pt>
    <dgm:pt modelId="{8693A490-7F8B-45EB-8ABA-62C345D97B2B}" type="pres">
      <dgm:prSet presAssocID="{9EB5C41A-FBC1-4D16-9554-ABDBED493D58}" presName="conn2-1" presStyleLbl="parChTrans1D2" presStyleIdx="1" presStyleCnt="3"/>
      <dgm:spPr/>
    </dgm:pt>
    <dgm:pt modelId="{DA3757F0-C76A-43BF-BB36-78A804971A2D}" type="pres">
      <dgm:prSet presAssocID="{9EB5C41A-FBC1-4D16-9554-ABDBED493D58}" presName="connTx" presStyleLbl="parChTrans1D2" presStyleIdx="1" presStyleCnt="3"/>
      <dgm:spPr/>
    </dgm:pt>
    <dgm:pt modelId="{4E70CE55-4684-45EC-9BB4-114C45567522}" type="pres">
      <dgm:prSet presAssocID="{33D7E657-5381-4B86-AC8F-D1233F63B0E0}" presName="root2" presStyleCnt="0"/>
      <dgm:spPr/>
    </dgm:pt>
    <dgm:pt modelId="{CDD08F04-9859-46B0-AD62-E025CBE48998}" type="pres">
      <dgm:prSet presAssocID="{33D7E657-5381-4B86-AC8F-D1233F63B0E0}" presName="LevelTwoTextNode" presStyleLbl="node2" presStyleIdx="1" presStyleCnt="3">
        <dgm:presLayoutVars>
          <dgm:chPref val="3"/>
        </dgm:presLayoutVars>
      </dgm:prSet>
      <dgm:spPr/>
    </dgm:pt>
    <dgm:pt modelId="{F07EB07B-6EC3-4AAA-AD7E-F139A1F1B1EF}" type="pres">
      <dgm:prSet presAssocID="{33D7E657-5381-4B86-AC8F-D1233F63B0E0}" presName="level3hierChild" presStyleCnt="0"/>
      <dgm:spPr/>
    </dgm:pt>
    <dgm:pt modelId="{CD1E3767-A381-4B03-AC88-F10F736702EF}" type="pres">
      <dgm:prSet presAssocID="{BB95CAC0-F8EE-4344-99E6-235EA59F03BB}" presName="conn2-1" presStyleLbl="parChTrans1D2" presStyleIdx="2" presStyleCnt="3"/>
      <dgm:spPr/>
    </dgm:pt>
    <dgm:pt modelId="{1ACF5E9D-0FAA-4B59-B8B1-16B02EE6F726}" type="pres">
      <dgm:prSet presAssocID="{BB95CAC0-F8EE-4344-99E6-235EA59F03BB}" presName="connTx" presStyleLbl="parChTrans1D2" presStyleIdx="2" presStyleCnt="3"/>
      <dgm:spPr/>
    </dgm:pt>
    <dgm:pt modelId="{BCCA3DFD-0047-4AAE-8EB7-1560B537DDA4}" type="pres">
      <dgm:prSet presAssocID="{E6D7F503-79EA-4677-9BFD-D12A92F7A31C}" presName="root2" presStyleCnt="0"/>
      <dgm:spPr/>
    </dgm:pt>
    <dgm:pt modelId="{3EB37757-FBE5-45BC-AFB0-99E6600D6278}" type="pres">
      <dgm:prSet presAssocID="{E6D7F503-79EA-4677-9BFD-D12A92F7A31C}" presName="LevelTwoTextNode" presStyleLbl="node2" presStyleIdx="2" presStyleCnt="3">
        <dgm:presLayoutVars>
          <dgm:chPref val="3"/>
        </dgm:presLayoutVars>
      </dgm:prSet>
      <dgm:spPr/>
    </dgm:pt>
    <dgm:pt modelId="{97CB6D7B-B43C-42BD-ADC7-2C7691BE2D46}" type="pres">
      <dgm:prSet presAssocID="{E6D7F503-79EA-4677-9BFD-D12A92F7A31C}" presName="level3hierChild" presStyleCnt="0"/>
      <dgm:spPr/>
    </dgm:pt>
  </dgm:ptLst>
  <dgm:cxnLst>
    <dgm:cxn modelId="{04D96209-EFEA-4716-A35B-39780C60C42B}" type="presOf" srcId="{BB95CAC0-F8EE-4344-99E6-235EA59F03BB}" destId="{1ACF5E9D-0FAA-4B59-B8B1-16B02EE6F726}" srcOrd="1" destOrd="0" presId="urn:microsoft.com/office/officeart/2008/layout/HorizontalMultiLevelHierarchy"/>
    <dgm:cxn modelId="{97620E2F-4DB4-43F1-AFFF-2B80223454D7}" srcId="{4D0E73C8-016F-46AE-A343-A4B4007B0EC3}" destId="{33D7E657-5381-4B86-AC8F-D1233F63B0E0}" srcOrd="1" destOrd="0" parTransId="{9EB5C41A-FBC1-4D16-9554-ABDBED493D58}" sibTransId="{274C15D3-7322-4136-B3A1-56F4AC850375}"/>
    <dgm:cxn modelId="{6ACDD230-B6C2-4C78-B91E-1A0C2E8680E1}" srcId="{BC1EAC1D-FBF5-422C-83AE-02E5E7BC735B}" destId="{4D0E73C8-016F-46AE-A343-A4B4007B0EC3}" srcOrd="0" destOrd="0" parTransId="{D59E36EF-1B51-4655-87BB-EDD418BC73D8}" sibTransId="{E4BF4CFC-BEB5-466E-8A79-19761F3F1A05}"/>
    <dgm:cxn modelId="{7CECBC36-4398-4A99-9E04-91ACB4618D09}" type="presOf" srcId="{BC1EAC1D-FBF5-422C-83AE-02E5E7BC735B}" destId="{9316E17B-4809-44C8-9466-217214F3808D}" srcOrd="0" destOrd="0" presId="urn:microsoft.com/office/officeart/2008/layout/HorizontalMultiLevelHierarchy"/>
    <dgm:cxn modelId="{98B4463F-4903-4F21-A460-ACA8672D9322}" type="presOf" srcId="{A9F4C3D9-3557-4CAB-AAAF-AAED4E44A2B5}" destId="{02182DB4-8CE3-459C-B6C0-9CB5DC71479B}" srcOrd="0" destOrd="0" presId="urn:microsoft.com/office/officeart/2008/layout/HorizontalMultiLevelHierarchy"/>
    <dgm:cxn modelId="{C4348A45-EB10-4933-A4FC-4E833B7DFD1B}" type="presOf" srcId="{E6D7F503-79EA-4677-9BFD-D12A92F7A31C}" destId="{3EB37757-FBE5-45BC-AFB0-99E6600D6278}" srcOrd="0" destOrd="0" presId="urn:microsoft.com/office/officeart/2008/layout/HorizontalMultiLevelHierarchy"/>
    <dgm:cxn modelId="{7650666C-5725-4202-8DC8-8154E00197F3}" srcId="{4D0E73C8-016F-46AE-A343-A4B4007B0EC3}" destId="{E6D7F503-79EA-4677-9BFD-D12A92F7A31C}" srcOrd="2" destOrd="0" parTransId="{BB95CAC0-F8EE-4344-99E6-235EA59F03BB}" sibTransId="{62C6CF20-1C13-4066-B393-046EED92FBC9}"/>
    <dgm:cxn modelId="{704F505A-F516-426A-AD3B-06A3F33199E0}" type="presOf" srcId="{33D7E657-5381-4B86-AC8F-D1233F63B0E0}" destId="{CDD08F04-9859-46B0-AD62-E025CBE48998}" srcOrd="0" destOrd="0" presId="urn:microsoft.com/office/officeart/2008/layout/HorizontalMultiLevelHierarchy"/>
    <dgm:cxn modelId="{8B72DF7A-BB5A-43CC-BB0A-9EE4B08EBCD4}" srcId="{4D0E73C8-016F-46AE-A343-A4B4007B0EC3}" destId="{8C2A3439-D190-48EE-BF9B-57A1589134E8}" srcOrd="0" destOrd="0" parTransId="{A9F4C3D9-3557-4CAB-AAAF-AAED4E44A2B5}" sibTransId="{3BCD7D25-2F28-492A-904D-F55660FCCCC5}"/>
    <dgm:cxn modelId="{9A0F8689-245B-474F-A7C5-A85F29F49A16}" type="presOf" srcId="{8C2A3439-D190-48EE-BF9B-57A1589134E8}" destId="{D327265F-B942-4B43-A502-D10FFEA12F73}" srcOrd="0" destOrd="0" presId="urn:microsoft.com/office/officeart/2008/layout/HorizontalMultiLevelHierarchy"/>
    <dgm:cxn modelId="{7F1FD491-888B-4A2B-B629-4C2BC19D3EAE}" type="presOf" srcId="{4D0E73C8-016F-46AE-A343-A4B4007B0EC3}" destId="{8A084EB8-76C1-479D-ABBB-821AC3A0C1D3}" srcOrd="0" destOrd="0" presId="urn:microsoft.com/office/officeart/2008/layout/HorizontalMultiLevelHierarchy"/>
    <dgm:cxn modelId="{24189F97-8CDE-4C1B-8BB9-D9CDFE024A22}" type="presOf" srcId="{A9F4C3D9-3557-4CAB-AAAF-AAED4E44A2B5}" destId="{66DE2959-D9B6-4E79-9746-0EFC3BCBC19D}" srcOrd="1" destOrd="0" presId="urn:microsoft.com/office/officeart/2008/layout/HorizontalMultiLevelHierarchy"/>
    <dgm:cxn modelId="{DD755AB2-7FAC-4D0D-87D4-8A99F338F6D6}" type="presOf" srcId="{BB95CAC0-F8EE-4344-99E6-235EA59F03BB}" destId="{CD1E3767-A381-4B03-AC88-F10F736702EF}" srcOrd="0" destOrd="0" presId="urn:microsoft.com/office/officeart/2008/layout/HorizontalMultiLevelHierarchy"/>
    <dgm:cxn modelId="{938B57C3-60E3-4B9E-9736-AE344E6D84DA}" type="presOf" srcId="{9EB5C41A-FBC1-4D16-9554-ABDBED493D58}" destId="{8693A490-7F8B-45EB-8ABA-62C345D97B2B}" srcOrd="0" destOrd="0" presId="urn:microsoft.com/office/officeart/2008/layout/HorizontalMultiLevelHierarchy"/>
    <dgm:cxn modelId="{60B1F8C8-A4CD-4389-97C5-82E8EFE84ECB}" type="presOf" srcId="{9EB5C41A-FBC1-4D16-9554-ABDBED493D58}" destId="{DA3757F0-C76A-43BF-BB36-78A804971A2D}" srcOrd="1" destOrd="0" presId="urn:microsoft.com/office/officeart/2008/layout/HorizontalMultiLevelHierarchy"/>
    <dgm:cxn modelId="{69A07687-6CD0-4AB7-8FFD-814009EC175E}" type="presParOf" srcId="{9316E17B-4809-44C8-9466-217214F3808D}" destId="{21C4873A-8667-43E2-9485-A3ACFD1D62B9}" srcOrd="0" destOrd="0" presId="urn:microsoft.com/office/officeart/2008/layout/HorizontalMultiLevelHierarchy"/>
    <dgm:cxn modelId="{7983ED05-CCEE-45C6-8830-DD847419F7AE}" type="presParOf" srcId="{21C4873A-8667-43E2-9485-A3ACFD1D62B9}" destId="{8A084EB8-76C1-479D-ABBB-821AC3A0C1D3}" srcOrd="0" destOrd="0" presId="urn:microsoft.com/office/officeart/2008/layout/HorizontalMultiLevelHierarchy"/>
    <dgm:cxn modelId="{36816416-D8FA-4817-AD99-017031BB5611}" type="presParOf" srcId="{21C4873A-8667-43E2-9485-A3ACFD1D62B9}" destId="{EFCE2038-7E88-40F9-8618-E74E9EC204F3}" srcOrd="1" destOrd="0" presId="urn:microsoft.com/office/officeart/2008/layout/HorizontalMultiLevelHierarchy"/>
    <dgm:cxn modelId="{32D854F4-2849-4E63-AE0C-C1454BDEB591}" type="presParOf" srcId="{EFCE2038-7E88-40F9-8618-E74E9EC204F3}" destId="{02182DB4-8CE3-459C-B6C0-9CB5DC71479B}" srcOrd="0" destOrd="0" presId="urn:microsoft.com/office/officeart/2008/layout/HorizontalMultiLevelHierarchy"/>
    <dgm:cxn modelId="{31F15300-E4D1-4CD5-B2FE-B2A5874E60E0}" type="presParOf" srcId="{02182DB4-8CE3-459C-B6C0-9CB5DC71479B}" destId="{66DE2959-D9B6-4E79-9746-0EFC3BCBC19D}" srcOrd="0" destOrd="0" presId="urn:microsoft.com/office/officeart/2008/layout/HorizontalMultiLevelHierarchy"/>
    <dgm:cxn modelId="{D208194C-7393-41E1-BB91-BFFB60ED29DE}" type="presParOf" srcId="{EFCE2038-7E88-40F9-8618-E74E9EC204F3}" destId="{1A7E0058-4A52-402C-A4B4-57756FAF6743}" srcOrd="1" destOrd="0" presId="urn:microsoft.com/office/officeart/2008/layout/HorizontalMultiLevelHierarchy"/>
    <dgm:cxn modelId="{FA8874C5-D00B-4948-86D6-F9E3E4AD68F5}" type="presParOf" srcId="{1A7E0058-4A52-402C-A4B4-57756FAF6743}" destId="{D327265F-B942-4B43-A502-D10FFEA12F73}" srcOrd="0" destOrd="0" presId="urn:microsoft.com/office/officeart/2008/layout/HorizontalMultiLevelHierarchy"/>
    <dgm:cxn modelId="{55A43E06-9121-40A6-A484-6943A4418105}" type="presParOf" srcId="{1A7E0058-4A52-402C-A4B4-57756FAF6743}" destId="{E8E36F7C-37E1-4069-8883-49CD86D62220}" srcOrd="1" destOrd="0" presId="urn:microsoft.com/office/officeart/2008/layout/HorizontalMultiLevelHierarchy"/>
    <dgm:cxn modelId="{41F8D3F7-62E7-4480-AB24-6C7D3B25449B}" type="presParOf" srcId="{EFCE2038-7E88-40F9-8618-E74E9EC204F3}" destId="{8693A490-7F8B-45EB-8ABA-62C345D97B2B}" srcOrd="2" destOrd="0" presId="urn:microsoft.com/office/officeart/2008/layout/HorizontalMultiLevelHierarchy"/>
    <dgm:cxn modelId="{F8DF1AAD-10F8-4FC1-8183-AA95D9A8CA17}" type="presParOf" srcId="{8693A490-7F8B-45EB-8ABA-62C345D97B2B}" destId="{DA3757F0-C76A-43BF-BB36-78A804971A2D}" srcOrd="0" destOrd="0" presId="urn:microsoft.com/office/officeart/2008/layout/HorizontalMultiLevelHierarchy"/>
    <dgm:cxn modelId="{4D5BA402-829B-463D-BCE9-D809DA356FAC}" type="presParOf" srcId="{EFCE2038-7E88-40F9-8618-E74E9EC204F3}" destId="{4E70CE55-4684-45EC-9BB4-114C45567522}" srcOrd="3" destOrd="0" presId="urn:microsoft.com/office/officeart/2008/layout/HorizontalMultiLevelHierarchy"/>
    <dgm:cxn modelId="{1E59C036-D4C1-4B1C-A347-DAB8235A57EF}" type="presParOf" srcId="{4E70CE55-4684-45EC-9BB4-114C45567522}" destId="{CDD08F04-9859-46B0-AD62-E025CBE48998}" srcOrd="0" destOrd="0" presId="urn:microsoft.com/office/officeart/2008/layout/HorizontalMultiLevelHierarchy"/>
    <dgm:cxn modelId="{9391948E-F9F8-4AD1-852B-C0E21515746D}" type="presParOf" srcId="{4E70CE55-4684-45EC-9BB4-114C45567522}" destId="{F07EB07B-6EC3-4AAA-AD7E-F139A1F1B1EF}" srcOrd="1" destOrd="0" presId="urn:microsoft.com/office/officeart/2008/layout/HorizontalMultiLevelHierarchy"/>
    <dgm:cxn modelId="{D4DB7DAC-14B6-4186-A484-1A2626B74CAB}" type="presParOf" srcId="{EFCE2038-7E88-40F9-8618-E74E9EC204F3}" destId="{CD1E3767-A381-4B03-AC88-F10F736702EF}" srcOrd="4" destOrd="0" presId="urn:microsoft.com/office/officeart/2008/layout/HorizontalMultiLevelHierarchy"/>
    <dgm:cxn modelId="{D1F267CC-1CE5-4F3B-A3A8-6B0E846166C7}" type="presParOf" srcId="{CD1E3767-A381-4B03-AC88-F10F736702EF}" destId="{1ACF5E9D-0FAA-4B59-B8B1-16B02EE6F726}" srcOrd="0" destOrd="0" presId="urn:microsoft.com/office/officeart/2008/layout/HorizontalMultiLevelHierarchy"/>
    <dgm:cxn modelId="{E5B0F634-6CB0-48A9-9D22-3CDD12E53C42}" type="presParOf" srcId="{EFCE2038-7E88-40F9-8618-E74E9EC204F3}" destId="{BCCA3DFD-0047-4AAE-8EB7-1560B537DDA4}" srcOrd="5" destOrd="0" presId="urn:microsoft.com/office/officeart/2008/layout/HorizontalMultiLevelHierarchy"/>
    <dgm:cxn modelId="{3C66CF4E-7BF5-45FD-B9B3-904ADC8CFF7E}" type="presParOf" srcId="{BCCA3DFD-0047-4AAE-8EB7-1560B537DDA4}" destId="{3EB37757-FBE5-45BC-AFB0-99E6600D6278}" srcOrd="0" destOrd="0" presId="urn:microsoft.com/office/officeart/2008/layout/HorizontalMultiLevelHierarchy"/>
    <dgm:cxn modelId="{8B5377AD-7FEB-48A7-A549-E31D5DE26C4A}" type="presParOf" srcId="{BCCA3DFD-0047-4AAE-8EB7-1560B537DDA4}" destId="{97CB6D7B-B43C-42BD-ADC7-2C7691BE2D46}" srcOrd="1" destOrd="0" presId="urn:microsoft.com/office/officeart/2008/layout/HorizontalMultiLevelHierarchy"/>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BC1EAC1D-FBF5-422C-83AE-02E5E7BC735B}"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zh-CN" altLang="en-US"/>
        </a:p>
      </dgm:t>
    </dgm:pt>
    <dgm:pt modelId="{4D0E73C8-016F-46AE-A343-A4B4007B0EC3}">
      <dgm:prSet/>
      <dgm:spPr/>
      <dgm:t>
        <a:bodyPr/>
        <a:lstStyle/>
        <a:p>
          <a:r>
            <a:rPr lang="zh-CN" dirty="0"/>
            <a:t>维度</a:t>
          </a:r>
          <a:r>
            <a:rPr lang="zh-CN" altLang="en-US" dirty="0"/>
            <a:t>集</a:t>
          </a:r>
          <a:endParaRPr lang="zh-CN" dirty="0"/>
        </a:p>
      </dgm:t>
    </dgm:pt>
    <dgm:pt modelId="{D59E36EF-1B51-4655-87BB-EDD418BC73D8}" type="parTrans" cxnId="{6ACDD230-B6C2-4C78-B91E-1A0C2E8680E1}">
      <dgm:prSet/>
      <dgm:spPr/>
      <dgm:t>
        <a:bodyPr/>
        <a:lstStyle/>
        <a:p>
          <a:endParaRPr lang="zh-CN" altLang="en-US"/>
        </a:p>
      </dgm:t>
    </dgm:pt>
    <dgm:pt modelId="{E4BF4CFC-BEB5-466E-8A79-19761F3F1A05}" type="sibTrans" cxnId="{6ACDD230-B6C2-4C78-B91E-1A0C2E8680E1}">
      <dgm:prSet/>
      <dgm:spPr/>
      <dgm:t>
        <a:bodyPr/>
        <a:lstStyle/>
        <a:p>
          <a:endParaRPr lang="zh-CN" altLang="en-US"/>
        </a:p>
      </dgm:t>
    </dgm:pt>
    <dgm:pt modelId="{8C2A3439-D190-48EE-BF9B-57A1589134E8}">
      <dgm:prSet/>
      <dgm:spPr/>
      <dgm:t>
        <a:bodyPr/>
        <a:lstStyle/>
        <a:p>
          <a:r>
            <a:rPr lang="zh-CN"/>
            <a:t>维度</a:t>
          </a:r>
          <a:r>
            <a:rPr lang="en-US"/>
            <a:t>1</a:t>
          </a:r>
          <a:endParaRPr lang="zh-CN"/>
        </a:p>
      </dgm:t>
    </dgm:pt>
    <dgm:pt modelId="{A9F4C3D9-3557-4CAB-AAAF-AAED4E44A2B5}" type="parTrans" cxnId="{8B72DF7A-BB5A-43CC-BB0A-9EE4B08EBCD4}">
      <dgm:prSet/>
      <dgm:spPr/>
      <dgm:t>
        <a:bodyPr/>
        <a:lstStyle/>
        <a:p>
          <a:endParaRPr lang="zh-CN" altLang="en-US"/>
        </a:p>
      </dgm:t>
    </dgm:pt>
    <dgm:pt modelId="{3BCD7D25-2F28-492A-904D-F55660FCCCC5}" type="sibTrans" cxnId="{8B72DF7A-BB5A-43CC-BB0A-9EE4B08EBCD4}">
      <dgm:prSet/>
      <dgm:spPr/>
      <dgm:t>
        <a:bodyPr/>
        <a:lstStyle/>
        <a:p>
          <a:endParaRPr lang="zh-CN" altLang="en-US"/>
        </a:p>
      </dgm:t>
    </dgm:pt>
    <dgm:pt modelId="{33D7E657-5381-4B86-AC8F-D1233F63B0E0}">
      <dgm:prSet/>
      <dgm:spPr/>
      <dgm:t>
        <a:bodyPr/>
        <a:lstStyle/>
        <a:p>
          <a:r>
            <a:rPr lang="zh-CN"/>
            <a:t>维度</a:t>
          </a:r>
          <a:r>
            <a:rPr lang="en-US"/>
            <a:t>2</a:t>
          </a:r>
          <a:endParaRPr lang="zh-CN"/>
        </a:p>
      </dgm:t>
    </dgm:pt>
    <dgm:pt modelId="{9EB5C41A-FBC1-4D16-9554-ABDBED493D58}" type="parTrans" cxnId="{97620E2F-4DB4-43F1-AFFF-2B80223454D7}">
      <dgm:prSet/>
      <dgm:spPr/>
      <dgm:t>
        <a:bodyPr/>
        <a:lstStyle/>
        <a:p>
          <a:endParaRPr lang="zh-CN" altLang="en-US"/>
        </a:p>
      </dgm:t>
    </dgm:pt>
    <dgm:pt modelId="{274C15D3-7322-4136-B3A1-56F4AC850375}" type="sibTrans" cxnId="{97620E2F-4DB4-43F1-AFFF-2B80223454D7}">
      <dgm:prSet/>
      <dgm:spPr/>
      <dgm:t>
        <a:bodyPr/>
        <a:lstStyle/>
        <a:p>
          <a:endParaRPr lang="zh-CN" altLang="en-US"/>
        </a:p>
      </dgm:t>
    </dgm:pt>
    <dgm:pt modelId="{E6D7F503-79EA-4677-9BFD-D12A92F7A31C}">
      <dgm:prSet/>
      <dgm:spPr/>
      <dgm:t>
        <a:bodyPr/>
        <a:lstStyle/>
        <a:p>
          <a:r>
            <a:rPr lang="zh-CN" dirty="0"/>
            <a:t>维度</a:t>
          </a:r>
          <a:r>
            <a:rPr lang="en-US" dirty="0"/>
            <a:t>3</a:t>
          </a:r>
          <a:endParaRPr lang="zh-CN" dirty="0"/>
        </a:p>
      </dgm:t>
    </dgm:pt>
    <dgm:pt modelId="{BB95CAC0-F8EE-4344-99E6-235EA59F03BB}" type="parTrans" cxnId="{7650666C-5725-4202-8DC8-8154E00197F3}">
      <dgm:prSet/>
      <dgm:spPr/>
      <dgm:t>
        <a:bodyPr/>
        <a:lstStyle/>
        <a:p>
          <a:endParaRPr lang="zh-CN" altLang="en-US"/>
        </a:p>
      </dgm:t>
    </dgm:pt>
    <dgm:pt modelId="{62C6CF20-1C13-4066-B393-046EED92FBC9}" type="sibTrans" cxnId="{7650666C-5725-4202-8DC8-8154E00197F3}">
      <dgm:prSet/>
      <dgm:spPr/>
      <dgm:t>
        <a:bodyPr/>
        <a:lstStyle/>
        <a:p>
          <a:endParaRPr lang="zh-CN" altLang="en-US"/>
        </a:p>
      </dgm:t>
    </dgm:pt>
    <dgm:pt modelId="{9FF59FCF-A083-4ADD-A79C-7835B76CADB9}">
      <dgm:prSet/>
      <dgm:spPr/>
      <dgm:t>
        <a:bodyPr/>
        <a:lstStyle/>
        <a:p>
          <a:r>
            <a:rPr lang="zh-CN" altLang="en-US" dirty="0"/>
            <a:t>维度</a:t>
          </a:r>
          <a:r>
            <a:rPr lang="en-US" altLang="zh-CN" dirty="0"/>
            <a:t>…..n</a:t>
          </a:r>
          <a:endParaRPr lang="zh-CN" dirty="0"/>
        </a:p>
      </dgm:t>
    </dgm:pt>
    <dgm:pt modelId="{080FB9FE-CD8C-498C-9CB8-0FE07EC03F3F}" type="parTrans" cxnId="{8C1E9521-07CA-4756-8D48-80B3EE92567F}">
      <dgm:prSet/>
      <dgm:spPr/>
      <dgm:t>
        <a:bodyPr/>
        <a:lstStyle/>
        <a:p>
          <a:endParaRPr lang="zh-CN" altLang="en-US"/>
        </a:p>
      </dgm:t>
    </dgm:pt>
    <dgm:pt modelId="{FA6BC42D-C388-4E1D-B05C-E49A47E34DBD}" type="sibTrans" cxnId="{8C1E9521-07CA-4756-8D48-80B3EE92567F}">
      <dgm:prSet/>
      <dgm:spPr/>
      <dgm:t>
        <a:bodyPr/>
        <a:lstStyle/>
        <a:p>
          <a:endParaRPr lang="zh-CN" altLang="en-US"/>
        </a:p>
      </dgm:t>
    </dgm:pt>
    <dgm:pt modelId="{9316E17B-4809-44C8-9466-217214F3808D}" type="pres">
      <dgm:prSet presAssocID="{BC1EAC1D-FBF5-422C-83AE-02E5E7BC735B}" presName="Name0" presStyleCnt="0">
        <dgm:presLayoutVars>
          <dgm:chPref val="1"/>
          <dgm:dir/>
          <dgm:animOne val="branch"/>
          <dgm:animLvl val="lvl"/>
          <dgm:resizeHandles val="exact"/>
        </dgm:presLayoutVars>
      </dgm:prSet>
      <dgm:spPr/>
    </dgm:pt>
    <dgm:pt modelId="{21C4873A-8667-43E2-9485-A3ACFD1D62B9}" type="pres">
      <dgm:prSet presAssocID="{4D0E73C8-016F-46AE-A343-A4B4007B0EC3}" presName="root1" presStyleCnt="0"/>
      <dgm:spPr/>
    </dgm:pt>
    <dgm:pt modelId="{8A084EB8-76C1-479D-ABBB-821AC3A0C1D3}" type="pres">
      <dgm:prSet presAssocID="{4D0E73C8-016F-46AE-A343-A4B4007B0EC3}" presName="LevelOneTextNode" presStyleLbl="node0" presStyleIdx="0" presStyleCnt="1">
        <dgm:presLayoutVars>
          <dgm:chPref val="3"/>
        </dgm:presLayoutVars>
      </dgm:prSet>
      <dgm:spPr/>
    </dgm:pt>
    <dgm:pt modelId="{EFCE2038-7E88-40F9-8618-E74E9EC204F3}" type="pres">
      <dgm:prSet presAssocID="{4D0E73C8-016F-46AE-A343-A4B4007B0EC3}" presName="level2hierChild" presStyleCnt="0"/>
      <dgm:spPr/>
    </dgm:pt>
    <dgm:pt modelId="{02182DB4-8CE3-459C-B6C0-9CB5DC71479B}" type="pres">
      <dgm:prSet presAssocID="{A9F4C3D9-3557-4CAB-AAAF-AAED4E44A2B5}" presName="conn2-1" presStyleLbl="parChTrans1D2" presStyleIdx="0" presStyleCnt="4"/>
      <dgm:spPr/>
    </dgm:pt>
    <dgm:pt modelId="{66DE2959-D9B6-4E79-9746-0EFC3BCBC19D}" type="pres">
      <dgm:prSet presAssocID="{A9F4C3D9-3557-4CAB-AAAF-AAED4E44A2B5}" presName="connTx" presStyleLbl="parChTrans1D2" presStyleIdx="0" presStyleCnt="4"/>
      <dgm:spPr/>
    </dgm:pt>
    <dgm:pt modelId="{1A7E0058-4A52-402C-A4B4-57756FAF6743}" type="pres">
      <dgm:prSet presAssocID="{8C2A3439-D190-48EE-BF9B-57A1589134E8}" presName="root2" presStyleCnt="0"/>
      <dgm:spPr/>
    </dgm:pt>
    <dgm:pt modelId="{D327265F-B942-4B43-A502-D10FFEA12F73}" type="pres">
      <dgm:prSet presAssocID="{8C2A3439-D190-48EE-BF9B-57A1589134E8}" presName="LevelTwoTextNode" presStyleLbl="node2" presStyleIdx="0" presStyleCnt="4">
        <dgm:presLayoutVars>
          <dgm:chPref val="3"/>
        </dgm:presLayoutVars>
      </dgm:prSet>
      <dgm:spPr/>
    </dgm:pt>
    <dgm:pt modelId="{E8E36F7C-37E1-4069-8883-49CD86D62220}" type="pres">
      <dgm:prSet presAssocID="{8C2A3439-D190-48EE-BF9B-57A1589134E8}" presName="level3hierChild" presStyleCnt="0"/>
      <dgm:spPr/>
    </dgm:pt>
    <dgm:pt modelId="{8693A490-7F8B-45EB-8ABA-62C345D97B2B}" type="pres">
      <dgm:prSet presAssocID="{9EB5C41A-FBC1-4D16-9554-ABDBED493D58}" presName="conn2-1" presStyleLbl="parChTrans1D2" presStyleIdx="1" presStyleCnt="4"/>
      <dgm:spPr/>
    </dgm:pt>
    <dgm:pt modelId="{DA3757F0-C76A-43BF-BB36-78A804971A2D}" type="pres">
      <dgm:prSet presAssocID="{9EB5C41A-FBC1-4D16-9554-ABDBED493D58}" presName="connTx" presStyleLbl="parChTrans1D2" presStyleIdx="1" presStyleCnt="4"/>
      <dgm:spPr/>
    </dgm:pt>
    <dgm:pt modelId="{4E70CE55-4684-45EC-9BB4-114C45567522}" type="pres">
      <dgm:prSet presAssocID="{33D7E657-5381-4B86-AC8F-D1233F63B0E0}" presName="root2" presStyleCnt="0"/>
      <dgm:spPr/>
    </dgm:pt>
    <dgm:pt modelId="{CDD08F04-9859-46B0-AD62-E025CBE48998}" type="pres">
      <dgm:prSet presAssocID="{33D7E657-5381-4B86-AC8F-D1233F63B0E0}" presName="LevelTwoTextNode" presStyleLbl="node2" presStyleIdx="1" presStyleCnt="4">
        <dgm:presLayoutVars>
          <dgm:chPref val="3"/>
        </dgm:presLayoutVars>
      </dgm:prSet>
      <dgm:spPr/>
    </dgm:pt>
    <dgm:pt modelId="{F07EB07B-6EC3-4AAA-AD7E-F139A1F1B1EF}" type="pres">
      <dgm:prSet presAssocID="{33D7E657-5381-4B86-AC8F-D1233F63B0E0}" presName="level3hierChild" presStyleCnt="0"/>
      <dgm:spPr/>
    </dgm:pt>
    <dgm:pt modelId="{CD1E3767-A381-4B03-AC88-F10F736702EF}" type="pres">
      <dgm:prSet presAssocID="{BB95CAC0-F8EE-4344-99E6-235EA59F03BB}" presName="conn2-1" presStyleLbl="parChTrans1D2" presStyleIdx="2" presStyleCnt="4"/>
      <dgm:spPr/>
    </dgm:pt>
    <dgm:pt modelId="{1ACF5E9D-0FAA-4B59-B8B1-16B02EE6F726}" type="pres">
      <dgm:prSet presAssocID="{BB95CAC0-F8EE-4344-99E6-235EA59F03BB}" presName="connTx" presStyleLbl="parChTrans1D2" presStyleIdx="2" presStyleCnt="4"/>
      <dgm:spPr/>
    </dgm:pt>
    <dgm:pt modelId="{BCCA3DFD-0047-4AAE-8EB7-1560B537DDA4}" type="pres">
      <dgm:prSet presAssocID="{E6D7F503-79EA-4677-9BFD-D12A92F7A31C}" presName="root2" presStyleCnt="0"/>
      <dgm:spPr/>
    </dgm:pt>
    <dgm:pt modelId="{3EB37757-FBE5-45BC-AFB0-99E6600D6278}" type="pres">
      <dgm:prSet presAssocID="{E6D7F503-79EA-4677-9BFD-D12A92F7A31C}" presName="LevelTwoTextNode" presStyleLbl="node2" presStyleIdx="2" presStyleCnt="4">
        <dgm:presLayoutVars>
          <dgm:chPref val="3"/>
        </dgm:presLayoutVars>
      </dgm:prSet>
      <dgm:spPr/>
    </dgm:pt>
    <dgm:pt modelId="{97CB6D7B-B43C-42BD-ADC7-2C7691BE2D46}" type="pres">
      <dgm:prSet presAssocID="{E6D7F503-79EA-4677-9BFD-D12A92F7A31C}" presName="level3hierChild" presStyleCnt="0"/>
      <dgm:spPr/>
    </dgm:pt>
    <dgm:pt modelId="{9790859D-8C61-4AF6-B203-2D322A6E5352}" type="pres">
      <dgm:prSet presAssocID="{080FB9FE-CD8C-498C-9CB8-0FE07EC03F3F}" presName="conn2-1" presStyleLbl="parChTrans1D2" presStyleIdx="3" presStyleCnt="4"/>
      <dgm:spPr/>
    </dgm:pt>
    <dgm:pt modelId="{5EFECBB7-6398-44D6-A5EB-025DBB843910}" type="pres">
      <dgm:prSet presAssocID="{080FB9FE-CD8C-498C-9CB8-0FE07EC03F3F}" presName="connTx" presStyleLbl="parChTrans1D2" presStyleIdx="3" presStyleCnt="4"/>
      <dgm:spPr/>
    </dgm:pt>
    <dgm:pt modelId="{25BC1211-4860-4022-8197-C9D89C0B1A69}" type="pres">
      <dgm:prSet presAssocID="{9FF59FCF-A083-4ADD-A79C-7835B76CADB9}" presName="root2" presStyleCnt="0"/>
      <dgm:spPr/>
    </dgm:pt>
    <dgm:pt modelId="{14991D58-8D8C-4EA2-B08C-6DDC48E96B6F}" type="pres">
      <dgm:prSet presAssocID="{9FF59FCF-A083-4ADD-A79C-7835B76CADB9}" presName="LevelTwoTextNode" presStyleLbl="node2" presStyleIdx="3" presStyleCnt="4">
        <dgm:presLayoutVars>
          <dgm:chPref val="3"/>
        </dgm:presLayoutVars>
      </dgm:prSet>
      <dgm:spPr/>
    </dgm:pt>
    <dgm:pt modelId="{C9C45E51-61F2-4745-B372-0B4F420CE5DE}" type="pres">
      <dgm:prSet presAssocID="{9FF59FCF-A083-4ADD-A79C-7835B76CADB9}" presName="level3hierChild" presStyleCnt="0"/>
      <dgm:spPr/>
    </dgm:pt>
  </dgm:ptLst>
  <dgm:cxnLst>
    <dgm:cxn modelId="{04D96209-EFEA-4716-A35B-39780C60C42B}" type="presOf" srcId="{BB95CAC0-F8EE-4344-99E6-235EA59F03BB}" destId="{1ACF5E9D-0FAA-4B59-B8B1-16B02EE6F726}" srcOrd="1" destOrd="0" presId="urn:microsoft.com/office/officeart/2008/layout/HorizontalMultiLevelHierarchy"/>
    <dgm:cxn modelId="{8C1E9521-07CA-4756-8D48-80B3EE92567F}" srcId="{4D0E73C8-016F-46AE-A343-A4B4007B0EC3}" destId="{9FF59FCF-A083-4ADD-A79C-7835B76CADB9}" srcOrd="3" destOrd="0" parTransId="{080FB9FE-CD8C-498C-9CB8-0FE07EC03F3F}" sibTransId="{FA6BC42D-C388-4E1D-B05C-E49A47E34DBD}"/>
    <dgm:cxn modelId="{97620E2F-4DB4-43F1-AFFF-2B80223454D7}" srcId="{4D0E73C8-016F-46AE-A343-A4B4007B0EC3}" destId="{33D7E657-5381-4B86-AC8F-D1233F63B0E0}" srcOrd="1" destOrd="0" parTransId="{9EB5C41A-FBC1-4D16-9554-ABDBED493D58}" sibTransId="{274C15D3-7322-4136-B3A1-56F4AC850375}"/>
    <dgm:cxn modelId="{6ACDD230-B6C2-4C78-B91E-1A0C2E8680E1}" srcId="{BC1EAC1D-FBF5-422C-83AE-02E5E7BC735B}" destId="{4D0E73C8-016F-46AE-A343-A4B4007B0EC3}" srcOrd="0" destOrd="0" parTransId="{D59E36EF-1B51-4655-87BB-EDD418BC73D8}" sibTransId="{E4BF4CFC-BEB5-466E-8A79-19761F3F1A05}"/>
    <dgm:cxn modelId="{7CECBC36-4398-4A99-9E04-91ACB4618D09}" type="presOf" srcId="{BC1EAC1D-FBF5-422C-83AE-02E5E7BC735B}" destId="{9316E17B-4809-44C8-9466-217214F3808D}" srcOrd="0" destOrd="0" presId="urn:microsoft.com/office/officeart/2008/layout/HorizontalMultiLevelHierarchy"/>
    <dgm:cxn modelId="{98B4463F-4903-4F21-A460-ACA8672D9322}" type="presOf" srcId="{A9F4C3D9-3557-4CAB-AAAF-AAED4E44A2B5}" destId="{02182DB4-8CE3-459C-B6C0-9CB5DC71479B}" srcOrd="0" destOrd="0" presId="urn:microsoft.com/office/officeart/2008/layout/HorizontalMultiLevelHierarchy"/>
    <dgm:cxn modelId="{C4348A45-EB10-4933-A4FC-4E833B7DFD1B}" type="presOf" srcId="{E6D7F503-79EA-4677-9BFD-D12A92F7A31C}" destId="{3EB37757-FBE5-45BC-AFB0-99E6600D6278}" srcOrd="0" destOrd="0" presId="urn:microsoft.com/office/officeart/2008/layout/HorizontalMultiLevelHierarchy"/>
    <dgm:cxn modelId="{7650666C-5725-4202-8DC8-8154E00197F3}" srcId="{4D0E73C8-016F-46AE-A343-A4B4007B0EC3}" destId="{E6D7F503-79EA-4677-9BFD-D12A92F7A31C}" srcOrd="2" destOrd="0" parTransId="{BB95CAC0-F8EE-4344-99E6-235EA59F03BB}" sibTransId="{62C6CF20-1C13-4066-B393-046EED92FBC9}"/>
    <dgm:cxn modelId="{704F505A-F516-426A-AD3B-06A3F33199E0}" type="presOf" srcId="{33D7E657-5381-4B86-AC8F-D1233F63B0E0}" destId="{CDD08F04-9859-46B0-AD62-E025CBE48998}" srcOrd="0" destOrd="0" presId="urn:microsoft.com/office/officeart/2008/layout/HorizontalMultiLevelHierarchy"/>
    <dgm:cxn modelId="{8B72DF7A-BB5A-43CC-BB0A-9EE4B08EBCD4}" srcId="{4D0E73C8-016F-46AE-A343-A4B4007B0EC3}" destId="{8C2A3439-D190-48EE-BF9B-57A1589134E8}" srcOrd="0" destOrd="0" parTransId="{A9F4C3D9-3557-4CAB-AAAF-AAED4E44A2B5}" sibTransId="{3BCD7D25-2F28-492A-904D-F55660FCCCC5}"/>
    <dgm:cxn modelId="{9A0F8689-245B-474F-A7C5-A85F29F49A16}" type="presOf" srcId="{8C2A3439-D190-48EE-BF9B-57A1589134E8}" destId="{D327265F-B942-4B43-A502-D10FFEA12F73}" srcOrd="0" destOrd="0" presId="urn:microsoft.com/office/officeart/2008/layout/HorizontalMultiLevelHierarchy"/>
    <dgm:cxn modelId="{7F1FD491-888B-4A2B-B629-4C2BC19D3EAE}" type="presOf" srcId="{4D0E73C8-016F-46AE-A343-A4B4007B0EC3}" destId="{8A084EB8-76C1-479D-ABBB-821AC3A0C1D3}" srcOrd="0" destOrd="0" presId="urn:microsoft.com/office/officeart/2008/layout/HorizontalMultiLevelHierarchy"/>
    <dgm:cxn modelId="{24189F97-8CDE-4C1B-8BB9-D9CDFE024A22}" type="presOf" srcId="{A9F4C3D9-3557-4CAB-AAAF-AAED4E44A2B5}" destId="{66DE2959-D9B6-4E79-9746-0EFC3BCBC19D}" srcOrd="1" destOrd="0" presId="urn:microsoft.com/office/officeart/2008/layout/HorizontalMultiLevelHierarchy"/>
    <dgm:cxn modelId="{DD755AB2-7FAC-4D0D-87D4-8A99F338F6D6}" type="presOf" srcId="{BB95CAC0-F8EE-4344-99E6-235EA59F03BB}" destId="{CD1E3767-A381-4B03-AC88-F10F736702EF}" srcOrd="0" destOrd="0" presId="urn:microsoft.com/office/officeart/2008/layout/HorizontalMultiLevelHierarchy"/>
    <dgm:cxn modelId="{778894B4-9D50-4858-B665-5AAD644C33D7}" type="presOf" srcId="{9FF59FCF-A083-4ADD-A79C-7835B76CADB9}" destId="{14991D58-8D8C-4EA2-B08C-6DDC48E96B6F}" srcOrd="0" destOrd="0" presId="urn:microsoft.com/office/officeart/2008/layout/HorizontalMultiLevelHierarchy"/>
    <dgm:cxn modelId="{938B57C3-60E3-4B9E-9736-AE344E6D84DA}" type="presOf" srcId="{9EB5C41A-FBC1-4D16-9554-ABDBED493D58}" destId="{8693A490-7F8B-45EB-8ABA-62C345D97B2B}" srcOrd="0" destOrd="0" presId="urn:microsoft.com/office/officeart/2008/layout/HorizontalMultiLevelHierarchy"/>
    <dgm:cxn modelId="{60B1F8C8-A4CD-4389-97C5-82E8EFE84ECB}" type="presOf" srcId="{9EB5C41A-FBC1-4D16-9554-ABDBED493D58}" destId="{DA3757F0-C76A-43BF-BB36-78A804971A2D}" srcOrd="1" destOrd="0" presId="urn:microsoft.com/office/officeart/2008/layout/HorizontalMultiLevelHierarchy"/>
    <dgm:cxn modelId="{1D28EBDA-FE60-4185-B8AB-65EEEF7F33B3}" type="presOf" srcId="{080FB9FE-CD8C-498C-9CB8-0FE07EC03F3F}" destId="{5EFECBB7-6398-44D6-A5EB-025DBB843910}" srcOrd="1" destOrd="0" presId="urn:microsoft.com/office/officeart/2008/layout/HorizontalMultiLevelHierarchy"/>
    <dgm:cxn modelId="{7EDF66F6-2B63-4A89-93AE-96CBFCAF5107}" type="presOf" srcId="{080FB9FE-CD8C-498C-9CB8-0FE07EC03F3F}" destId="{9790859D-8C61-4AF6-B203-2D322A6E5352}" srcOrd="0" destOrd="0" presId="urn:microsoft.com/office/officeart/2008/layout/HorizontalMultiLevelHierarchy"/>
    <dgm:cxn modelId="{69A07687-6CD0-4AB7-8FFD-814009EC175E}" type="presParOf" srcId="{9316E17B-4809-44C8-9466-217214F3808D}" destId="{21C4873A-8667-43E2-9485-A3ACFD1D62B9}" srcOrd="0" destOrd="0" presId="urn:microsoft.com/office/officeart/2008/layout/HorizontalMultiLevelHierarchy"/>
    <dgm:cxn modelId="{7983ED05-CCEE-45C6-8830-DD847419F7AE}" type="presParOf" srcId="{21C4873A-8667-43E2-9485-A3ACFD1D62B9}" destId="{8A084EB8-76C1-479D-ABBB-821AC3A0C1D3}" srcOrd="0" destOrd="0" presId="urn:microsoft.com/office/officeart/2008/layout/HorizontalMultiLevelHierarchy"/>
    <dgm:cxn modelId="{36816416-D8FA-4817-AD99-017031BB5611}" type="presParOf" srcId="{21C4873A-8667-43E2-9485-A3ACFD1D62B9}" destId="{EFCE2038-7E88-40F9-8618-E74E9EC204F3}" srcOrd="1" destOrd="0" presId="urn:microsoft.com/office/officeart/2008/layout/HorizontalMultiLevelHierarchy"/>
    <dgm:cxn modelId="{32D854F4-2849-4E63-AE0C-C1454BDEB591}" type="presParOf" srcId="{EFCE2038-7E88-40F9-8618-E74E9EC204F3}" destId="{02182DB4-8CE3-459C-B6C0-9CB5DC71479B}" srcOrd="0" destOrd="0" presId="urn:microsoft.com/office/officeart/2008/layout/HorizontalMultiLevelHierarchy"/>
    <dgm:cxn modelId="{31F15300-E4D1-4CD5-B2FE-B2A5874E60E0}" type="presParOf" srcId="{02182DB4-8CE3-459C-B6C0-9CB5DC71479B}" destId="{66DE2959-D9B6-4E79-9746-0EFC3BCBC19D}" srcOrd="0" destOrd="0" presId="urn:microsoft.com/office/officeart/2008/layout/HorizontalMultiLevelHierarchy"/>
    <dgm:cxn modelId="{D208194C-7393-41E1-BB91-BFFB60ED29DE}" type="presParOf" srcId="{EFCE2038-7E88-40F9-8618-E74E9EC204F3}" destId="{1A7E0058-4A52-402C-A4B4-57756FAF6743}" srcOrd="1" destOrd="0" presId="urn:microsoft.com/office/officeart/2008/layout/HorizontalMultiLevelHierarchy"/>
    <dgm:cxn modelId="{FA8874C5-D00B-4948-86D6-F9E3E4AD68F5}" type="presParOf" srcId="{1A7E0058-4A52-402C-A4B4-57756FAF6743}" destId="{D327265F-B942-4B43-A502-D10FFEA12F73}" srcOrd="0" destOrd="0" presId="urn:microsoft.com/office/officeart/2008/layout/HorizontalMultiLevelHierarchy"/>
    <dgm:cxn modelId="{55A43E06-9121-40A6-A484-6943A4418105}" type="presParOf" srcId="{1A7E0058-4A52-402C-A4B4-57756FAF6743}" destId="{E8E36F7C-37E1-4069-8883-49CD86D62220}" srcOrd="1" destOrd="0" presId="urn:microsoft.com/office/officeart/2008/layout/HorizontalMultiLevelHierarchy"/>
    <dgm:cxn modelId="{41F8D3F7-62E7-4480-AB24-6C7D3B25449B}" type="presParOf" srcId="{EFCE2038-7E88-40F9-8618-E74E9EC204F3}" destId="{8693A490-7F8B-45EB-8ABA-62C345D97B2B}" srcOrd="2" destOrd="0" presId="urn:microsoft.com/office/officeart/2008/layout/HorizontalMultiLevelHierarchy"/>
    <dgm:cxn modelId="{F8DF1AAD-10F8-4FC1-8183-AA95D9A8CA17}" type="presParOf" srcId="{8693A490-7F8B-45EB-8ABA-62C345D97B2B}" destId="{DA3757F0-C76A-43BF-BB36-78A804971A2D}" srcOrd="0" destOrd="0" presId="urn:microsoft.com/office/officeart/2008/layout/HorizontalMultiLevelHierarchy"/>
    <dgm:cxn modelId="{4D5BA402-829B-463D-BCE9-D809DA356FAC}" type="presParOf" srcId="{EFCE2038-7E88-40F9-8618-E74E9EC204F3}" destId="{4E70CE55-4684-45EC-9BB4-114C45567522}" srcOrd="3" destOrd="0" presId="urn:microsoft.com/office/officeart/2008/layout/HorizontalMultiLevelHierarchy"/>
    <dgm:cxn modelId="{1E59C036-D4C1-4B1C-A347-DAB8235A57EF}" type="presParOf" srcId="{4E70CE55-4684-45EC-9BB4-114C45567522}" destId="{CDD08F04-9859-46B0-AD62-E025CBE48998}" srcOrd="0" destOrd="0" presId="urn:microsoft.com/office/officeart/2008/layout/HorizontalMultiLevelHierarchy"/>
    <dgm:cxn modelId="{9391948E-F9F8-4AD1-852B-C0E21515746D}" type="presParOf" srcId="{4E70CE55-4684-45EC-9BB4-114C45567522}" destId="{F07EB07B-6EC3-4AAA-AD7E-F139A1F1B1EF}" srcOrd="1" destOrd="0" presId="urn:microsoft.com/office/officeart/2008/layout/HorizontalMultiLevelHierarchy"/>
    <dgm:cxn modelId="{D4DB7DAC-14B6-4186-A484-1A2626B74CAB}" type="presParOf" srcId="{EFCE2038-7E88-40F9-8618-E74E9EC204F3}" destId="{CD1E3767-A381-4B03-AC88-F10F736702EF}" srcOrd="4" destOrd="0" presId="urn:microsoft.com/office/officeart/2008/layout/HorizontalMultiLevelHierarchy"/>
    <dgm:cxn modelId="{D1F267CC-1CE5-4F3B-A3A8-6B0E846166C7}" type="presParOf" srcId="{CD1E3767-A381-4B03-AC88-F10F736702EF}" destId="{1ACF5E9D-0FAA-4B59-B8B1-16B02EE6F726}" srcOrd="0" destOrd="0" presId="urn:microsoft.com/office/officeart/2008/layout/HorizontalMultiLevelHierarchy"/>
    <dgm:cxn modelId="{E5B0F634-6CB0-48A9-9D22-3CDD12E53C42}" type="presParOf" srcId="{EFCE2038-7E88-40F9-8618-E74E9EC204F3}" destId="{BCCA3DFD-0047-4AAE-8EB7-1560B537DDA4}" srcOrd="5" destOrd="0" presId="urn:microsoft.com/office/officeart/2008/layout/HorizontalMultiLevelHierarchy"/>
    <dgm:cxn modelId="{3C66CF4E-7BF5-45FD-B9B3-904ADC8CFF7E}" type="presParOf" srcId="{BCCA3DFD-0047-4AAE-8EB7-1560B537DDA4}" destId="{3EB37757-FBE5-45BC-AFB0-99E6600D6278}" srcOrd="0" destOrd="0" presId="urn:microsoft.com/office/officeart/2008/layout/HorizontalMultiLevelHierarchy"/>
    <dgm:cxn modelId="{8B5377AD-7FEB-48A7-A549-E31D5DE26C4A}" type="presParOf" srcId="{BCCA3DFD-0047-4AAE-8EB7-1560B537DDA4}" destId="{97CB6D7B-B43C-42BD-ADC7-2C7691BE2D46}" srcOrd="1" destOrd="0" presId="urn:microsoft.com/office/officeart/2008/layout/HorizontalMultiLevelHierarchy"/>
    <dgm:cxn modelId="{76EFB8A5-0486-4691-8D66-E110B05CE8AC}" type="presParOf" srcId="{EFCE2038-7E88-40F9-8618-E74E9EC204F3}" destId="{9790859D-8C61-4AF6-B203-2D322A6E5352}" srcOrd="6" destOrd="0" presId="urn:microsoft.com/office/officeart/2008/layout/HorizontalMultiLevelHierarchy"/>
    <dgm:cxn modelId="{D501F0B0-65CD-4768-BE0B-FD3C8E352E45}" type="presParOf" srcId="{9790859D-8C61-4AF6-B203-2D322A6E5352}" destId="{5EFECBB7-6398-44D6-A5EB-025DBB843910}" srcOrd="0" destOrd="0" presId="urn:microsoft.com/office/officeart/2008/layout/HorizontalMultiLevelHierarchy"/>
    <dgm:cxn modelId="{7F2030F1-3FC3-4683-A9AB-9E1E78978CBE}" type="presParOf" srcId="{EFCE2038-7E88-40F9-8618-E74E9EC204F3}" destId="{25BC1211-4860-4022-8197-C9D89C0B1A69}" srcOrd="7" destOrd="0" presId="urn:microsoft.com/office/officeart/2008/layout/HorizontalMultiLevelHierarchy"/>
    <dgm:cxn modelId="{21C49179-4AE6-41DB-BD85-DC93D775F9D2}" type="presParOf" srcId="{25BC1211-4860-4022-8197-C9D89C0B1A69}" destId="{14991D58-8D8C-4EA2-B08C-6DDC48E96B6F}" srcOrd="0" destOrd="0" presId="urn:microsoft.com/office/officeart/2008/layout/HorizontalMultiLevelHierarchy"/>
    <dgm:cxn modelId="{CC6CBD06-25DA-4294-8FBE-966431E8DFA3}" type="presParOf" srcId="{25BC1211-4860-4022-8197-C9D89C0B1A69}" destId="{C9C45E51-61F2-4745-B372-0B4F420CE5DE}" srcOrd="1" destOrd="0" presId="urn:microsoft.com/office/officeart/2008/layout/HorizontalMultiLevelHierarchy"/>
  </dgm:cxnLst>
  <dgm:bg/>
  <dgm:whole/>
  <dgm:extLst>
    <a:ext uri="http://schemas.microsoft.com/office/drawing/2008/diagram">
      <dsp:dataModelExt xmlns:dsp="http://schemas.microsoft.com/office/drawing/2008/diagram" relId="rId21"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BC1EAC1D-FBF5-422C-83AE-02E5E7BC735B}" type="doc">
      <dgm:prSet loTypeId="urn:microsoft.com/office/officeart/2008/layout/HorizontalMultiLevelHierarchy" loCatId="hierarchy" qsTypeId="urn:microsoft.com/office/officeart/2005/8/quickstyle/simple1" qsCatId="simple" csTypeId="urn:microsoft.com/office/officeart/2005/8/colors/accent1_2" csCatId="accent1"/>
      <dgm:spPr/>
      <dgm:t>
        <a:bodyPr/>
        <a:lstStyle/>
        <a:p>
          <a:endParaRPr lang="zh-CN" altLang="en-US"/>
        </a:p>
      </dgm:t>
    </dgm:pt>
    <dgm:pt modelId="{4D0E73C8-016F-46AE-A343-A4B4007B0EC3}">
      <dgm:prSet/>
      <dgm:spPr/>
      <dgm:t>
        <a:bodyPr/>
        <a:lstStyle/>
        <a:p>
          <a:r>
            <a:rPr lang="zh-CN"/>
            <a:t>维度组</a:t>
          </a:r>
        </a:p>
      </dgm:t>
    </dgm:pt>
    <dgm:pt modelId="{D59E36EF-1B51-4655-87BB-EDD418BC73D8}" type="parTrans" cxnId="{6ACDD230-B6C2-4C78-B91E-1A0C2E8680E1}">
      <dgm:prSet/>
      <dgm:spPr/>
      <dgm:t>
        <a:bodyPr/>
        <a:lstStyle/>
        <a:p>
          <a:endParaRPr lang="zh-CN" altLang="en-US"/>
        </a:p>
      </dgm:t>
    </dgm:pt>
    <dgm:pt modelId="{E4BF4CFC-BEB5-466E-8A79-19761F3F1A05}" type="sibTrans" cxnId="{6ACDD230-B6C2-4C78-B91E-1A0C2E8680E1}">
      <dgm:prSet/>
      <dgm:spPr/>
      <dgm:t>
        <a:bodyPr/>
        <a:lstStyle/>
        <a:p>
          <a:endParaRPr lang="zh-CN" altLang="en-US"/>
        </a:p>
      </dgm:t>
    </dgm:pt>
    <dgm:pt modelId="{8C2A3439-D190-48EE-BF9B-57A1589134E8}">
      <dgm:prSet/>
      <dgm:spPr/>
      <dgm:t>
        <a:bodyPr/>
        <a:lstStyle/>
        <a:p>
          <a:r>
            <a:rPr lang="zh-CN"/>
            <a:t>维度</a:t>
          </a:r>
          <a:r>
            <a:rPr lang="en-US"/>
            <a:t>1</a:t>
          </a:r>
          <a:endParaRPr lang="zh-CN"/>
        </a:p>
      </dgm:t>
    </dgm:pt>
    <dgm:pt modelId="{A9F4C3D9-3557-4CAB-AAAF-AAED4E44A2B5}" type="parTrans" cxnId="{8B72DF7A-BB5A-43CC-BB0A-9EE4B08EBCD4}">
      <dgm:prSet/>
      <dgm:spPr/>
      <dgm:t>
        <a:bodyPr/>
        <a:lstStyle/>
        <a:p>
          <a:endParaRPr lang="zh-CN" altLang="en-US"/>
        </a:p>
      </dgm:t>
    </dgm:pt>
    <dgm:pt modelId="{3BCD7D25-2F28-492A-904D-F55660FCCCC5}" type="sibTrans" cxnId="{8B72DF7A-BB5A-43CC-BB0A-9EE4B08EBCD4}">
      <dgm:prSet/>
      <dgm:spPr/>
      <dgm:t>
        <a:bodyPr/>
        <a:lstStyle/>
        <a:p>
          <a:endParaRPr lang="zh-CN" altLang="en-US"/>
        </a:p>
      </dgm:t>
    </dgm:pt>
    <dgm:pt modelId="{33D7E657-5381-4B86-AC8F-D1233F63B0E0}">
      <dgm:prSet/>
      <dgm:spPr/>
      <dgm:t>
        <a:bodyPr/>
        <a:lstStyle/>
        <a:p>
          <a:r>
            <a:rPr lang="zh-CN"/>
            <a:t>维度</a:t>
          </a:r>
          <a:r>
            <a:rPr lang="en-US"/>
            <a:t>2</a:t>
          </a:r>
          <a:endParaRPr lang="zh-CN"/>
        </a:p>
      </dgm:t>
    </dgm:pt>
    <dgm:pt modelId="{9EB5C41A-FBC1-4D16-9554-ABDBED493D58}" type="parTrans" cxnId="{97620E2F-4DB4-43F1-AFFF-2B80223454D7}">
      <dgm:prSet/>
      <dgm:spPr/>
      <dgm:t>
        <a:bodyPr/>
        <a:lstStyle/>
        <a:p>
          <a:endParaRPr lang="zh-CN" altLang="en-US"/>
        </a:p>
      </dgm:t>
    </dgm:pt>
    <dgm:pt modelId="{274C15D3-7322-4136-B3A1-56F4AC850375}" type="sibTrans" cxnId="{97620E2F-4DB4-43F1-AFFF-2B80223454D7}">
      <dgm:prSet/>
      <dgm:spPr/>
      <dgm:t>
        <a:bodyPr/>
        <a:lstStyle/>
        <a:p>
          <a:endParaRPr lang="zh-CN" altLang="en-US"/>
        </a:p>
      </dgm:t>
    </dgm:pt>
    <dgm:pt modelId="{E6D7F503-79EA-4677-9BFD-D12A92F7A31C}">
      <dgm:prSet/>
      <dgm:spPr/>
      <dgm:t>
        <a:bodyPr/>
        <a:lstStyle/>
        <a:p>
          <a:r>
            <a:rPr lang="zh-CN"/>
            <a:t>维度</a:t>
          </a:r>
          <a:r>
            <a:rPr lang="en-US"/>
            <a:t>3</a:t>
          </a:r>
          <a:endParaRPr lang="zh-CN"/>
        </a:p>
      </dgm:t>
    </dgm:pt>
    <dgm:pt modelId="{BB95CAC0-F8EE-4344-99E6-235EA59F03BB}" type="parTrans" cxnId="{7650666C-5725-4202-8DC8-8154E00197F3}">
      <dgm:prSet/>
      <dgm:spPr/>
      <dgm:t>
        <a:bodyPr/>
        <a:lstStyle/>
        <a:p>
          <a:endParaRPr lang="zh-CN" altLang="en-US"/>
        </a:p>
      </dgm:t>
    </dgm:pt>
    <dgm:pt modelId="{62C6CF20-1C13-4066-B393-046EED92FBC9}" type="sibTrans" cxnId="{7650666C-5725-4202-8DC8-8154E00197F3}">
      <dgm:prSet/>
      <dgm:spPr/>
      <dgm:t>
        <a:bodyPr/>
        <a:lstStyle/>
        <a:p>
          <a:endParaRPr lang="zh-CN" altLang="en-US"/>
        </a:p>
      </dgm:t>
    </dgm:pt>
    <dgm:pt modelId="{9316E17B-4809-44C8-9466-217214F3808D}" type="pres">
      <dgm:prSet presAssocID="{BC1EAC1D-FBF5-422C-83AE-02E5E7BC735B}" presName="Name0" presStyleCnt="0">
        <dgm:presLayoutVars>
          <dgm:chPref val="1"/>
          <dgm:dir val="rev"/>
          <dgm:animOne val="branch"/>
          <dgm:animLvl val="lvl"/>
          <dgm:resizeHandles val="exact"/>
        </dgm:presLayoutVars>
      </dgm:prSet>
      <dgm:spPr/>
    </dgm:pt>
    <dgm:pt modelId="{21C4873A-8667-43E2-9485-A3ACFD1D62B9}" type="pres">
      <dgm:prSet presAssocID="{4D0E73C8-016F-46AE-A343-A4B4007B0EC3}" presName="root1" presStyleCnt="0"/>
      <dgm:spPr/>
    </dgm:pt>
    <dgm:pt modelId="{8A084EB8-76C1-479D-ABBB-821AC3A0C1D3}" type="pres">
      <dgm:prSet presAssocID="{4D0E73C8-016F-46AE-A343-A4B4007B0EC3}" presName="LevelOneTextNode" presStyleLbl="node0" presStyleIdx="0" presStyleCnt="1">
        <dgm:presLayoutVars>
          <dgm:chPref val="3"/>
        </dgm:presLayoutVars>
      </dgm:prSet>
      <dgm:spPr/>
    </dgm:pt>
    <dgm:pt modelId="{EFCE2038-7E88-40F9-8618-E74E9EC204F3}" type="pres">
      <dgm:prSet presAssocID="{4D0E73C8-016F-46AE-A343-A4B4007B0EC3}" presName="level2hierChild" presStyleCnt="0"/>
      <dgm:spPr/>
    </dgm:pt>
    <dgm:pt modelId="{02182DB4-8CE3-459C-B6C0-9CB5DC71479B}" type="pres">
      <dgm:prSet presAssocID="{A9F4C3D9-3557-4CAB-AAAF-AAED4E44A2B5}" presName="conn2-1" presStyleLbl="parChTrans1D2" presStyleIdx="0" presStyleCnt="3"/>
      <dgm:spPr/>
    </dgm:pt>
    <dgm:pt modelId="{66DE2959-D9B6-4E79-9746-0EFC3BCBC19D}" type="pres">
      <dgm:prSet presAssocID="{A9F4C3D9-3557-4CAB-AAAF-AAED4E44A2B5}" presName="connTx" presStyleLbl="parChTrans1D2" presStyleIdx="0" presStyleCnt="3"/>
      <dgm:spPr/>
    </dgm:pt>
    <dgm:pt modelId="{1A7E0058-4A52-402C-A4B4-57756FAF6743}" type="pres">
      <dgm:prSet presAssocID="{8C2A3439-D190-48EE-BF9B-57A1589134E8}" presName="root2" presStyleCnt="0"/>
      <dgm:spPr/>
    </dgm:pt>
    <dgm:pt modelId="{D327265F-B942-4B43-A502-D10FFEA12F73}" type="pres">
      <dgm:prSet presAssocID="{8C2A3439-D190-48EE-BF9B-57A1589134E8}" presName="LevelTwoTextNode" presStyleLbl="node2" presStyleIdx="0" presStyleCnt="3">
        <dgm:presLayoutVars>
          <dgm:chPref val="3"/>
        </dgm:presLayoutVars>
      </dgm:prSet>
      <dgm:spPr/>
    </dgm:pt>
    <dgm:pt modelId="{E8E36F7C-37E1-4069-8883-49CD86D62220}" type="pres">
      <dgm:prSet presAssocID="{8C2A3439-D190-48EE-BF9B-57A1589134E8}" presName="level3hierChild" presStyleCnt="0"/>
      <dgm:spPr/>
    </dgm:pt>
    <dgm:pt modelId="{8693A490-7F8B-45EB-8ABA-62C345D97B2B}" type="pres">
      <dgm:prSet presAssocID="{9EB5C41A-FBC1-4D16-9554-ABDBED493D58}" presName="conn2-1" presStyleLbl="parChTrans1D2" presStyleIdx="1" presStyleCnt="3"/>
      <dgm:spPr/>
    </dgm:pt>
    <dgm:pt modelId="{DA3757F0-C76A-43BF-BB36-78A804971A2D}" type="pres">
      <dgm:prSet presAssocID="{9EB5C41A-FBC1-4D16-9554-ABDBED493D58}" presName="connTx" presStyleLbl="parChTrans1D2" presStyleIdx="1" presStyleCnt="3"/>
      <dgm:spPr/>
    </dgm:pt>
    <dgm:pt modelId="{4E70CE55-4684-45EC-9BB4-114C45567522}" type="pres">
      <dgm:prSet presAssocID="{33D7E657-5381-4B86-AC8F-D1233F63B0E0}" presName="root2" presStyleCnt="0"/>
      <dgm:spPr/>
    </dgm:pt>
    <dgm:pt modelId="{CDD08F04-9859-46B0-AD62-E025CBE48998}" type="pres">
      <dgm:prSet presAssocID="{33D7E657-5381-4B86-AC8F-D1233F63B0E0}" presName="LevelTwoTextNode" presStyleLbl="node2" presStyleIdx="1" presStyleCnt="3">
        <dgm:presLayoutVars>
          <dgm:chPref val="3"/>
        </dgm:presLayoutVars>
      </dgm:prSet>
      <dgm:spPr/>
    </dgm:pt>
    <dgm:pt modelId="{F07EB07B-6EC3-4AAA-AD7E-F139A1F1B1EF}" type="pres">
      <dgm:prSet presAssocID="{33D7E657-5381-4B86-AC8F-D1233F63B0E0}" presName="level3hierChild" presStyleCnt="0"/>
      <dgm:spPr/>
    </dgm:pt>
    <dgm:pt modelId="{CD1E3767-A381-4B03-AC88-F10F736702EF}" type="pres">
      <dgm:prSet presAssocID="{BB95CAC0-F8EE-4344-99E6-235EA59F03BB}" presName="conn2-1" presStyleLbl="parChTrans1D2" presStyleIdx="2" presStyleCnt="3"/>
      <dgm:spPr/>
    </dgm:pt>
    <dgm:pt modelId="{1ACF5E9D-0FAA-4B59-B8B1-16B02EE6F726}" type="pres">
      <dgm:prSet presAssocID="{BB95CAC0-F8EE-4344-99E6-235EA59F03BB}" presName="connTx" presStyleLbl="parChTrans1D2" presStyleIdx="2" presStyleCnt="3"/>
      <dgm:spPr/>
    </dgm:pt>
    <dgm:pt modelId="{BCCA3DFD-0047-4AAE-8EB7-1560B537DDA4}" type="pres">
      <dgm:prSet presAssocID="{E6D7F503-79EA-4677-9BFD-D12A92F7A31C}" presName="root2" presStyleCnt="0"/>
      <dgm:spPr/>
    </dgm:pt>
    <dgm:pt modelId="{3EB37757-FBE5-45BC-AFB0-99E6600D6278}" type="pres">
      <dgm:prSet presAssocID="{E6D7F503-79EA-4677-9BFD-D12A92F7A31C}" presName="LevelTwoTextNode" presStyleLbl="node2" presStyleIdx="2" presStyleCnt="3">
        <dgm:presLayoutVars>
          <dgm:chPref val="3"/>
        </dgm:presLayoutVars>
      </dgm:prSet>
      <dgm:spPr/>
    </dgm:pt>
    <dgm:pt modelId="{97CB6D7B-B43C-42BD-ADC7-2C7691BE2D46}" type="pres">
      <dgm:prSet presAssocID="{E6D7F503-79EA-4677-9BFD-D12A92F7A31C}" presName="level3hierChild" presStyleCnt="0"/>
      <dgm:spPr/>
    </dgm:pt>
  </dgm:ptLst>
  <dgm:cxnLst>
    <dgm:cxn modelId="{04D96209-EFEA-4716-A35B-39780C60C42B}" type="presOf" srcId="{BB95CAC0-F8EE-4344-99E6-235EA59F03BB}" destId="{1ACF5E9D-0FAA-4B59-B8B1-16B02EE6F726}" srcOrd="1" destOrd="0" presId="urn:microsoft.com/office/officeart/2008/layout/HorizontalMultiLevelHierarchy"/>
    <dgm:cxn modelId="{97620E2F-4DB4-43F1-AFFF-2B80223454D7}" srcId="{4D0E73C8-016F-46AE-A343-A4B4007B0EC3}" destId="{33D7E657-5381-4B86-AC8F-D1233F63B0E0}" srcOrd="1" destOrd="0" parTransId="{9EB5C41A-FBC1-4D16-9554-ABDBED493D58}" sibTransId="{274C15D3-7322-4136-B3A1-56F4AC850375}"/>
    <dgm:cxn modelId="{6ACDD230-B6C2-4C78-B91E-1A0C2E8680E1}" srcId="{BC1EAC1D-FBF5-422C-83AE-02E5E7BC735B}" destId="{4D0E73C8-016F-46AE-A343-A4B4007B0EC3}" srcOrd="0" destOrd="0" parTransId="{D59E36EF-1B51-4655-87BB-EDD418BC73D8}" sibTransId="{E4BF4CFC-BEB5-466E-8A79-19761F3F1A05}"/>
    <dgm:cxn modelId="{7CECBC36-4398-4A99-9E04-91ACB4618D09}" type="presOf" srcId="{BC1EAC1D-FBF5-422C-83AE-02E5E7BC735B}" destId="{9316E17B-4809-44C8-9466-217214F3808D}" srcOrd="0" destOrd="0" presId="urn:microsoft.com/office/officeart/2008/layout/HorizontalMultiLevelHierarchy"/>
    <dgm:cxn modelId="{98B4463F-4903-4F21-A460-ACA8672D9322}" type="presOf" srcId="{A9F4C3D9-3557-4CAB-AAAF-AAED4E44A2B5}" destId="{02182DB4-8CE3-459C-B6C0-9CB5DC71479B}" srcOrd="0" destOrd="0" presId="urn:microsoft.com/office/officeart/2008/layout/HorizontalMultiLevelHierarchy"/>
    <dgm:cxn modelId="{C4348A45-EB10-4933-A4FC-4E833B7DFD1B}" type="presOf" srcId="{E6D7F503-79EA-4677-9BFD-D12A92F7A31C}" destId="{3EB37757-FBE5-45BC-AFB0-99E6600D6278}" srcOrd="0" destOrd="0" presId="urn:microsoft.com/office/officeart/2008/layout/HorizontalMultiLevelHierarchy"/>
    <dgm:cxn modelId="{7650666C-5725-4202-8DC8-8154E00197F3}" srcId="{4D0E73C8-016F-46AE-A343-A4B4007B0EC3}" destId="{E6D7F503-79EA-4677-9BFD-D12A92F7A31C}" srcOrd="2" destOrd="0" parTransId="{BB95CAC0-F8EE-4344-99E6-235EA59F03BB}" sibTransId="{62C6CF20-1C13-4066-B393-046EED92FBC9}"/>
    <dgm:cxn modelId="{704F505A-F516-426A-AD3B-06A3F33199E0}" type="presOf" srcId="{33D7E657-5381-4B86-AC8F-D1233F63B0E0}" destId="{CDD08F04-9859-46B0-AD62-E025CBE48998}" srcOrd="0" destOrd="0" presId="urn:microsoft.com/office/officeart/2008/layout/HorizontalMultiLevelHierarchy"/>
    <dgm:cxn modelId="{8B72DF7A-BB5A-43CC-BB0A-9EE4B08EBCD4}" srcId="{4D0E73C8-016F-46AE-A343-A4B4007B0EC3}" destId="{8C2A3439-D190-48EE-BF9B-57A1589134E8}" srcOrd="0" destOrd="0" parTransId="{A9F4C3D9-3557-4CAB-AAAF-AAED4E44A2B5}" sibTransId="{3BCD7D25-2F28-492A-904D-F55660FCCCC5}"/>
    <dgm:cxn modelId="{9A0F8689-245B-474F-A7C5-A85F29F49A16}" type="presOf" srcId="{8C2A3439-D190-48EE-BF9B-57A1589134E8}" destId="{D327265F-B942-4B43-A502-D10FFEA12F73}" srcOrd="0" destOrd="0" presId="urn:microsoft.com/office/officeart/2008/layout/HorizontalMultiLevelHierarchy"/>
    <dgm:cxn modelId="{7F1FD491-888B-4A2B-B629-4C2BC19D3EAE}" type="presOf" srcId="{4D0E73C8-016F-46AE-A343-A4B4007B0EC3}" destId="{8A084EB8-76C1-479D-ABBB-821AC3A0C1D3}" srcOrd="0" destOrd="0" presId="urn:microsoft.com/office/officeart/2008/layout/HorizontalMultiLevelHierarchy"/>
    <dgm:cxn modelId="{24189F97-8CDE-4C1B-8BB9-D9CDFE024A22}" type="presOf" srcId="{A9F4C3D9-3557-4CAB-AAAF-AAED4E44A2B5}" destId="{66DE2959-D9B6-4E79-9746-0EFC3BCBC19D}" srcOrd="1" destOrd="0" presId="urn:microsoft.com/office/officeart/2008/layout/HorizontalMultiLevelHierarchy"/>
    <dgm:cxn modelId="{DD755AB2-7FAC-4D0D-87D4-8A99F338F6D6}" type="presOf" srcId="{BB95CAC0-F8EE-4344-99E6-235EA59F03BB}" destId="{CD1E3767-A381-4B03-AC88-F10F736702EF}" srcOrd="0" destOrd="0" presId="urn:microsoft.com/office/officeart/2008/layout/HorizontalMultiLevelHierarchy"/>
    <dgm:cxn modelId="{938B57C3-60E3-4B9E-9736-AE344E6D84DA}" type="presOf" srcId="{9EB5C41A-FBC1-4D16-9554-ABDBED493D58}" destId="{8693A490-7F8B-45EB-8ABA-62C345D97B2B}" srcOrd="0" destOrd="0" presId="urn:microsoft.com/office/officeart/2008/layout/HorizontalMultiLevelHierarchy"/>
    <dgm:cxn modelId="{60B1F8C8-A4CD-4389-97C5-82E8EFE84ECB}" type="presOf" srcId="{9EB5C41A-FBC1-4D16-9554-ABDBED493D58}" destId="{DA3757F0-C76A-43BF-BB36-78A804971A2D}" srcOrd="1" destOrd="0" presId="urn:microsoft.com/office/officeart/2008/layout/HorizontalMultiLevelHierarchy"/>
    <dgm:cxn modelId="{69A07687-6CD0-4AB7-8FFD-814009EC175E}" type="presParOf" srcId="{9316E17B-4809-44C8-9466-217214F3808D}" destId="{21C4873A-8667-43E2-9485-A3ACFD1D62B9}" srcOrd="0" destOrd="0" presId="urn:microsoft.com/office/officeart/2008/layout/HorizontalMultiLevelHierarchy"/>
    <dgm:cxn modelId="{7983ED05-CCEE-45C6-8830-DD847419F7AE}" type="presParOf" srcId="{21C4873A-8667-43E2-9485-A3ACFD1D62B9}" destId="{8A084EB8-76C1-479D-ABBB-821AC3A0C1D3}" srcOrd="0" destOrd="0" presId="urn:microsoft.com/office/officeart/2008/layout/HorizontalMultiLevelHierarchy"/>
    <dgm:cxn modelId="{36816416-D8FA-4817-AD99-017031BB5611}" type="presParOf" srcId="{21C4873A-8667-43E2-9485-A3ACFD1D62B9}" destId="{EFCE2038-7E88-40F9-8618-E74E9EC204F3}" srcOrd="1" destOrd="0" presId="urn:microsoft.com/office/officeart/2008/layout/HorizontalMultiLevelHierarchy"/>
    <dgm:cxn modelId="{32D854F4-2849-4E63-AE0C-C1454BDEB591}" type="presParOf" srcId="{EFCE2038-7E88-40F9-8618-E74E9EC204F3}" destId="{02182DB4-8CE3-459C-B6C0-9CB5DC71479B}" srcOrd="0" destOrd="0" presId="urn:microsoft.com/office/officeart/2008/layout/HorizontalMultiLevelHierarchy"/>
    <dgm:cxn modelId="{31F15300-E4D1-4CD5-B2FE-B2A5874E60E0}" type="presParOf" srcId="{02182DB4-8CE3-459C-B6C0-9CB5DC71479B}" destId="{66DE2959-D9B6-4E79-9746-0EFC3BCBC19D}" srcOrd="0" destOrd="0" presId="urn:microsoft.com/office/officeart/2008/layout/HorizontalMultiLevelHierarchy"/>
    <dgm:cxn modelId="{D208194C-7393-41E1-BB91-BFFB60ED29DE}" type="presParOf" srcId="{EFCE2038-7E88-40F9-8618-E74E9EC204F3}" destId="{1A7E0058-4A52-402C-A4B4-57756FAF6743}" srcOrd="1" destOrd="0" presId="urn:microsoft.com/office/officeart/2008/layout/HorizontalMultiLevelHierarchy"/>
    <dgm:cxn modelId="{FA8874C5-D00B-4948-86D6-F9E3E4AD68F5}" type="presParOf" srcId="{1A7E0058-4A52-402C-A4B4-57756FAF6743}" destId="{D327265F-B942-4B43-A502-D10FFEA12F73}" srcOrd="0" destOrd="0" presId="urn:microsoft.com/office/officeart/2008/layout/HorizontalMultiLevelHierarchy"/>
    <dgm:cxn modelId="{55A43E06-9121-40A6-A484-6943A4418105}" type="presParOf" srcId="{1A7E0058-4A52-402C-A4B4-57756FAF6743}" destId="{E8E36F7C-37E1-4069-8883-49CD86D62220}" srcOrd="1" destOrd="0" presId="urn:microsoft.com/office/officeart/2008/layout/HorizontalMultiLevelHierarchy"/>
    <dgm:cxn modelId="{41F8D3F7-62E7-4480-AB24-6C7D3B25449B}" type="presParOf" srcId="{EFCE2038-7E88-40F9-8618-E74E9EC204F3}" destId="{8693A490-7F8B-45EB-8ABA-62C345D97B2B}" srcOrd="2" destOrd="0" presId="urn:microsoft.com/office/officeart/2008/layout/HorizontalMultiLevelHierarchy"/>
    <dgm:cxn modelId="{F8DF1AAD-10F8-4FC1-8183-AA95D9A8CA17}" type="presParOf" srcId="{8693A490-7F8B-45EB-8ABA-62C345D97B2B}" destId="{DA3757F0-C76A-43BF-BB36-78A804971A2D}" srcOrd="0" destOrd="0" presId="urn:microsoft.com/office/officeart/2008/layout/HorizontalMultiLevelHierarchy"/>
    <dgm:cxn modelId="{4D5BA402-829B-463D-BCE9-D809DA356FAC}" type="presParOf" srcId="{EFCE2038-7E88-40F9-8618-E74E9EC204F3}" destId="{4E70CE55-4684-45EC-9BB4-114C45567522}" srcOrd="3" destOrd="0" presId="urn:microsoft.com/office/officeart/2008/layout/HorizontalMultiLevelHierarchy"/>
    <dgm:cxn modelId="{1E59C036-D4C1-4B1C-A347-DAB8235A57EF}" type="presParOf" srcId="{4E70CE55-4684-45EC-9BB4-114C45567522}" destId="{CDD08F04-9859-46B0-AD62-E025CBE48998}" srcOrd="0" destOrd="0" presId="urn:microsoft.com/office/officeart/2008/layout/HorizontalMultiLevelHierarchy"/>
    <dgm:cxn modelId="{9391948E-F9F8-4AD1-852B-C0E21515746D}" type="presParOf" srcId="{4E70CE55-4684-45EC-9BB4-114C45567522}" destId="{F07EB07B-6EC3-4AAA-AD7E-F139A1F1B1EF}" srcOrd="1" destOrd="0" presId="urn:microsoft.com/office/officeart/2008/layout/HorizontalMultiLevelHierarchy"/>
    <dgm:cxn modelId="{D4DB7DAC-14B6-4186-A484-1A2626B74CAB}" type="presParOf" srcId="{EFCE2038-7E88-40F9-8618-E74E9EC204F3}" destId="{CD1E3767-A381-4B03-AC88-F10F736702EF}" srcOrd="4" destOrd="0" presId="urn:microsoft.com/office/officeart/2008/layout/HorizontalMultiLevelHierarchy"/>
    <dgm:cxn modelId="{D1F267CC-1CE5-4F3B-A3A8-6B0E846166C7}" type="presParOf" srcId="{CD1E3767-A381-4B03-AC88-F10F736702EF}" destId="{1ACF5E9D-0FAA-4B59-B8B1-16B02EE6F726}" srcOrd="0" destOrd="0" presId="urn:microsoft.com/office/officeart/2008/layout/HorizontalMultiLevelHierarchy"/>
    <dgm:cxn modelId="{E5B0F634-6CB0-48A9-9D22-3CDD12E53C42}" type="presParOf" srcId="{EFCE2038-7E88-40F9-8618-E74E9EC204F3}" destId="{BCCA3DFD-0047-4AAE-8EB7-1560B537DDA4}" srcOrd="5" destOrd="0" presId="urn:microsoft.com/office/officeart/2008/layout/HorizontalMultiLevelHierarchy"/>
    <dgm:cxn modelId="{3C66CF4E-7BF5-45FD-B9B3-904ADC8CFF7E}" type="presParOf" srcId="{BCCA3DFD-0047-4AAE-8EB7-1560B537DDA4}" destId="{3EB37757-FBE5-45BC-AFB0-99E6600D6278}" srcOrd="0" destOrd="0" presId="urn:microsoft.com/office/officeart/2008/layout/HorizontalMultiLevelHierarchy"/>
    <dgm:cxn modelId="{8B5377AD-7FEB-48A7-A549-E31D5DE26C4A}" type="presParOf" srcId="{BCCA3DFD-0047-4AAE-8EB7-1560B537DDA4}" destId="{97CB6D7B-B43C-42BD-ADC7-2C7691BE2D46}" srcOrd="1" destOrd="0" presId="urn:microsoft.com/office/officeart/2008/layout/HorizontalMultiLevelHierarchy"/>
  </dgm:cxnLst>
  <dgm:bg/>
  <dgm:whole/>
  <dgm:extLst>
    <a:ext uri="http://schemas.microsoft.com/office/drawing/2008/diagram">
      <dsp:dataModelExt xmlns:dsp="http://schemas.microsoft.com/office/drawing/2008/diagram" relId="rId26"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BC1EAC1D-FBF5-422C-83AE-02E5E7BC735B}"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zh-CN" altLang="en-US"/>
        </a:p>
      </dgm:t>
    </dgm:pt>
    <dgm:pt modelId="{4D0E73C8-016F-46AE-A343-A4B4007B0EC3}">
      <dgm:prSet/>
      <dgm:spPr/>
      <dgm:t>
        <a:bodyPr/>
        <a:lstStyle/>
        <a:p>
          <a:r>
            <a:rPr lang="zh-CN" dirty="0"/>
            <a:t>维度</a:t>
          </a:r>
          <a:r>
            <a:rPr lang="zh-CN" altLang="en-US" dirty="0"/>
            <a:t>集</a:t>
          </a:r>
          <a:endParaRPr lang="zh-CN" dirty="0"/>
        </a:p>
      </dgm:t>
    </dgm:pt>
    <dgm:pt modelId="{D59E36EF-1B51-4655-87BB-EDD418BC73D8}" type="parTrans" cxnId="{6ACDD230-B6C2-4C78-B91E-1A0C2E8680E1}">
      <dgm:prSet/>
      <dgm:spPr/>
      <dgm:t>
        <a:bodyPr/>
        <a:lstStyle/>
        <a:p>
          <a:endParaRPr lang="zh-CN" altLang="en-US"/>
        </a:p>
      </dgm:t>
    </dgm:pt>
    <dgm:pt modelId="{E4BF4CFC-BEB5-466E-8A79-19761F3F1A05}" type="sibTrans" cxnId="{6ACDD230-B6C2-4C78-B91E-1A0C2E8680E1}">
      <dgm:prSet/>
      <dgm:spPr/>
      <dgm:t>
        <a:bodyPr/>
        <a:lstStyle/>
        <a:p>
          <a:endParaRPr lang="zh-CN" altLang="en-US"/>
        </a:p>
      </dgm:t>
    </dgm:pt>
    <dgm:pt modelId="{8C2A3439-D190-48EE-BF9B-57A1589134E8}">
      <dgm:prSet/>
      <dgm:spPr/>
      <dgm:t>
        <a:bodyPr/>
        <a:lstStyle/>
        <a:p>
          <a:r>
            <a:rPr lang="zh-CN"/>
            <a:t>维度</a:t>
          </a:r>
          <a:r>
            <a:rPr lang="en-US"/>
            <a:t>1</a:t>
          </a:r>
          <a:endParaRPr lang="zh-CN"/>
        </a:p>
      </dgm:t>
    </dgm:pt>
    <dgm:pt modelId="{A9F4C3D9-3557-4CAB-AAAF-AAED4E44A2B5}" type="parTrans" cxnId="{8B72DF7A-BB5A-43CC-BB0A-9EE4B08EBCD4}">
      <dgm:prSet/>
      <dgm:spPr/>
      <dgm:t>
        <a:bodyPr/>
        <a:lstStyle/>
        <a:p>
          <a:endParaRPr lang="zh-CN" altLang="en-US"/>
        </a:p>
      </dgm:t>
    </dgm:pt>
    <dgm:pt modelId="{3BCD7D25-2F28-492A-904D-F55660FCCCC5}" type="sibTrans" cxnId="{8B72DF7A-BB5A-43CC-BB0A-9EE4B08EBCD4}">
      <dgm:prSet/>
      <dgm:spPr/>
      <dgm:t>
        <a:bodyPr/>
        <a:lstStyle/>
        <a:p>
          <a:endParaRPr lang="zh-CN" altLang="en-US"/>
        </a:p>
      </dgm:t>
    </dgm:pt>
    <dgm:pt modelId="{33D7E657-5381-4B86-AC8F-D1233F63B0E0}">
      <dgm:prSet/>
      <dgm:spPr/>
      <dgm:t>
        <a:bodyPr/>
        <a:lstStyle/>
        <a:p>
          <a:r>
            <a:rPr lang="zh-CN"/>
            <a:t>维度</a:t>
          </a:r>
          <a:r>
            <a:rPr lang="en-US"/>
            <a:t>2</a:t>
          </a:r>
          <a:endParaRPr lang="zh-CN"/>
        </a:p>
      </dgm:t>
    </dgm:pt>
    <dgm:pt modelId="{9EB5C41A-FBC1-4D16-9554-ABDBED493D58}" type="parTrans" cxnId="{97620E2F-4DB4-43F1-AFFF-2B80223454D7}">
      <dgm:prSet/>
      <dgm:spPr/>
      <dgm:t>
        <a:bodyPr/>
        <a:lstStyle/>
        <a:p>
          <a:endParaRPr lang="zh-CN" altLang="en-US"/>
        </a:p>
      </dgm:t>
    </dgm:pt>
    <dgm:pt modelId="{274C15D3-7322-4136-B3A1-56F4AC850375}" type="sibTrans" cxnId="{97620E2F-4DB4-43F1-AFFF-2B80223454D7}">
      <dgm:prSet/>
      <dgm:spPr/>
      <dgm:t>
        <a:bodyPr/>
        <a:lstStyle/>
        <a:p>
          <a:endParaRPr lang="zh-CN" altLang="en-US"/>
        </a:p>
      </dgm:t>
    </dgm:pt>
    <dgm:pt modelId="{E6D7F503-79EA-4677-9BFD-D12A92F7A31C}">
      <dgm:prSet/>
      <dgm:spPr/>
      <dgm:t>
        <a:bodyPr/>
        <a:lstStyle/>
        <a:p>
          <a:r>
            <a:rPr lang="zh-CN" dirty="0"/>
            <a:t>维度</a:t>
          </a:r>
          <a:r>
            <a:rPr lang="en-US" dirty="0"/>
            <a:t>3</a:t>
          </a:r>
          <a:endParaRPr lang="zh-CN" dirty="0"/>
        </a:p>
      </dgm:t>
    </dgm:pt>
    <dgm:pt modelId="{BB95CAC0-F8EE-4344-99E6-235EA59F03BB}" type="parTrans" cxnId="{7650666C-5725-4202-8DC8-8154E00197F3}">
      <dgm:prSet/>
      <dgm:spPr/>
      <dgm:t>
        <a:bodyPr/>
        <a:lstStyle/>
        <a:p>
          <a:endParaRPr lang="zh-CN" altLang="en-US"/>
        </a:p>
      </dgm:t>
    </dgm:pt>
    <dgm:pt modelId="{62C6CF20-1C13-4066-B393-046EED92FBC9}" type="sibTrans" cxnId="{7650666C-5725-4202-8DC8-8154E00197F3}">
      <dgm:prSet/>
      <dgm:spPr/>
      <dgm:t>
        <a:bodyPr/>
        <a:lstStyle/>
        <a:p>
          <a:endParaRPr lang="zh-CN" altLang="en-US"/>
        </a:p>
      </dgm:t>
    </dgm:pt>
    <dgm:pt modelId="{9FF59FCF-A083-4ADD-A79C-7835B76CADB9}">
      <dgm:prSet/>
      <dgm:spPr/>
      <dgm:t>
        <a:bodyPr/>
        <a:lstStyle/>
        <a:p>
          <a:r>
            <a:rPr lang="zh-CN" altLang="en-US" dirty="0"/>
            <a:t>维度</a:t>
          </a:r>
          <a:r>
            <a:rPr lang="en-US" altLang="zh-CN" dirty="0"/>
            <a:t>…..n</a:t>
          </a:r>
          <a:endParaRPr lang="zh-CN" dirty="0"/>
        </a:p>
      </dgm:t>
    </dgm:pt>
    <dgm:pt modelId="{080FB9FE-CD8C-498C-9CB8-0FE07EC03F3F}" type="parTrans" cxnId="{8C1E9521-07CA-4756-8D48-80B3EE92567F}">
      <dgm:prSet/>
      <dgm:spPr/>
      <dgm:t>
        <a:bodyPr/>
        <a:lstStyle/>
        <a:p>
          <a:endParaRPr lang="zh-CN" altLang="en-US"/>
        </a:p>
      </dgm:t>
    </dgm:pt>
    <dgm:pt modelId="{FA6BC42D-C388-4E1D-B05C-E49A47E34DBD}" type="sibTrans" cxnId="{8C1E9521-07CA-4756-8D48-80B3EE92567F}">
      <dgm:prSet/>
      <dgm:spPr/>
      <dgm:t>
        <a:bodyPr/>
        <a:lstStyle/>
        <a:p>
          <a:endParaRPr lang="zh-CN" altLang="en-US"/>
        </a:p>
      </dgm:t>
    </dgm:pt>
    <dgm:pt modelId="{9316E17B-4809-44C8-9466-217214F3808D}" type="pres">
      <dgm:prSet presAssocID="{BC1EAC1D-FBF5-422C-83AE-02E5E7BC735B}" presName="Name0" presStyleCnt="0">
        <dgm:presLayoutVars>
          <dgm:chPref val="1"/>
          <dgm:dir/>
          <dgm:animOne val="branch"/>
          <dgm:animLvl val="lvl"/>
          <dgm:resizeHandles val="exact"/>
        </dgm:presLayoutVars>
      </dgm:prSet>
      <dgm:spPr/>
    </dgm:pt>
    <dgm:pt modelId="{21C4873A-8667-43E2-9485-A3ACFD1D62B9}" type="pres">
      <dgm:prSet presAssocID="{4D0E73C8-016F-46AE-A343-A4B4007B0EC3}" presName="root1" presStyleCnt="0"/>
      <dgm:spPr/>
    </dgm:pt>
    <dgm:pt modelId="{8A084EB8-76C1-479D-ABBB-821AC3A0C1D3}" type="pres">
      <dgm:prSet presAssocID="{4D0E73C8-016F-46AE-A343-A4B4007B0EC3}" presName="LevelOneTextNode" presStyleLbl="node0" presStyleIdx="0" presStyleCnt="1">
        <dgm:presLayoutVars>
          <dgm:chPref val="3"/>
        </dgm:presLayoutVars>
      </dgm:prSet>
      <dgm:spPr/>
    </dgm:pt>
    <dgm:pt modelId="{EFCE2038-7E88-40F9-8618-E74E9EC204F3}" type="pres">
      <dgm:prSet presAssocID="{4D0E73C8-016F-46AE-A343-A4B4007B0EC3}" presName="level2hierChild" presStyleCnt="0"/>
      <dgm:spPr/>
    </dgm:pt>
    <dgm:pt modelId="{02182DB4-8CE3-459C-B6C0-9CB5DC71479B}" type="pres">
      <dgm:prSet presAssocID="{A9F4C3D9-3557-4CAB-AAAF-AAED4E44A2B5}" presName="conn2-1" presStyleLbl="parChTrans1D2" presStyleIdx="0" presStyleCnt="4"/>
      <dgm:spPr/>
    </dgm:pt>
    <dgm:pt modelId="{66DE2959-D9B6-4E79-9746-0EFC3BCBC19D}" type="pres">
      <dgm:prSet presAssocID="{A9F4C3D9-3557-4CAB-AAAF-AAED4E44A2B5}" presName="connTx" presStyleLbl="parChTrans1D2" presStyleIdx="0" presStyleCnt="4"/>
      <dgm:spPr/>
    </dgm:pt>
    <dgm:pt modelId="{1A7E0058-4A52-402C-A4B4-57756FAF6743}" type="pres">
      <dgm:prSet presAssocID="{8C2A3439-D190-48EE-BF9B-57A1589134E8}" presName="root2" presStyleCnt="0"/>
      <dgm:spPr/>
    </dgm:pt>
    <dgm:pt modelId="{D327265F-B942-4B43-A502-D10FFEA12F73}" type="pres">
      <dgm:prSet presAssocID="{8C2A3439-D190-48EE-BF9B-57A1589134E8}" presName="LevelTwoTextNode" presStyleLbl="node2" presStyleIdx="0" presStyleCnt="4">
        <dgm:presLayoutVars>
          <dgm:chPref val="3"/>
        </dgm:presLayoutVars>
      </dgm:prSet>
      <dgm:spPr/>
    </dgm:pt>
    <dgm:pt modelId="{E8E36F7C-37E1-4069-8883-49CD86D62220}" type="pres">
      <dgm:prSet presAssocID="{8C2A3439-D190-48EE-BF9B-57A1589134E8}" presName="level3hierChild" presStyleCnt="0"/>
      <dgm:spPr/>
    </dgm:pt>
    <dgm:pt modelId="{8693A490-7F8B-45EB-8ABA-62C345D97B2B}" type="pres">
      <dgm:prSet presAssocID="{9EB5C41A-FBC1-4D16-9554-ABDBED493D58}" presName="conn2-1" presStyleLbl="parChTrans1D2" presStyleIdx="1" presStyleCnt="4"/>
      <dgm:spPr/>
    </dgm:pt>
    <dgm:pt modelId="{DA3757F0-C76A-43BF-BB36-78A804971A2D}" type="pres">
      <dgm:prSet presAssocID="{9EB5C41A-FBC1-4D16-9554-ABDBED493D58}" presName="connTx" presStyleLbl="parChTrans1D2" presStyleIdx="1" presStyleCnt="4"/>
      <dgm:spPr/>
    </dgm:pt>
    <dgm:pt modelId="{4E70CE55-4684-45EC-9BB4-114C45567522}" type="pres">
      <dgm:prSet presAssocID="{33D7E657-5381-4B86-AC8F-D1233F63B0E0}" presName="root2" presStyleCnt="0"/>
      <dgm:spPr/>
    </dgm:pt>
    <dgm:pt modelId="{CDD08F04-9859-46B0-AD62-E025CBE48998}" type="pres">
      <dgm:prSet presAssocID="{33D7E657-5381-4B86-AC8F-D1233F63B0E0}" presName="LevelTwoTextNode" presStyleLbl="node2" presStyleIdx="1" presStyleCnt="4">
        <dgm:presLayoutVars>
          <dgm:chPref val="3"/>
        </dgm:presLayoutVars>
      </dgm:prSet>
      <dgm:spPr/>
    </dgm:pt>
    <dgm:pt modelId="{F07EB07B-6EC3-4AAA-AD7E-F139A1F1B1EF}" type="pres">
      <dgm:prSet presAssocID="{33D7E657-5381-4B86-AC8F-D1233F63B0E0}" presName="level3hierChild" presStyleCnt="0"/>
      <dgm:spPr/>
    </dgm:pt>
    <dgm:pt modelId="{CD1E3767-A381-4B03-AC88-F10F736702EF}" type="pres">
      <dgm:prSet presAssocID="{BB95CAC0-F8EE-4344-99E6-235EA59F03BB}" presName="conn2-1" presStyleLbl="parChTrans1D2" presStyleIdx="2" presStyleCnt="4"/>
      <dgm:spPr/>
    </dgm:pt>
    <dgm:pt modelId="{1ACF5E9D-0FAA-4B59-B8B1-16B02EE6F726}" type="pres">
      <dgm:prSet presAssocID="{BB95CAC0-F8EE-4344-99E6-235EA59F03BB}" presName="connTx" presStyleLbl="parChTrans1D2" presStyleIdx="2" presStyleCnt="4"/>
      <dgm:spPr/>
    </dgm:pt>
    <dgm:pt modelId="{BCCA3DFD-0047-4AAE-8EB7-1560B537DDA4}" type="pres">
      <dgm:prSet presAssocID="{E6D7F503-79EA-4677-9BFD-D12A92F7A31C}" presName="root2" presStyleCnt="0"/>
      <dgm:spPr/>
    </dgm:pt>
    <dgm:pt modelId="{3EB37757-FBE5-45BC-AFB0-99E6600D6278}" type="pres">
      <dgm:prSet presAssocID="{E6D7F503-79EA-4677-9BFD-D12A92F7A31C}" presName="LevelTwoTextNode" presStyleLbl="node2" presStyleIdx="2" presStyleCnt="4">
        <dgm:presLayoutVars>
          <dgm:chPref val="3"/>
        </dgm:presLayoutVars>
      </dgm:prSet>
      <dgm:spPr/>
    </dgm:pt>
    <dgm:pt modelId="{97CB6D7B-B43C-42BD-ADC7-2C7691BE2D46}" type="pres">
      <dgm:prSet presAssocID="{E6D7F503-79EA-4677-9BFD-D12A92F7A31C}" presName="level3hierChild" presStyleCnt="0"/>
      <dgm:spPr/>
    </dgm:pt>
    <dgm:pt modelId="{9790859D-8C61-4AF6-B203-2D322A6E5352}" type="pres">
      <dgm:prSet presAssocID="{080FB9FE-CD8C-498C-9CB8-0FE07EC03F3F}" presName="conn2-1" presStyleLbl="parChTrans1D2" presStyleIdx="3" presStyleCnt="4"/>
      <dgm:spPr/>
    </dgm:pt>
    <dgm:pt modelId="{5EFECBB7-6398-44D6-A5EB-025DBB843910}" type="pres">
      <dgm:prSet presAssocID="{080FB9FE-CD8C-498C-9CB8-0FE07EC03F3F}" presName="connTx" presStyleLbl="parChTrans1D2" presStyleIdx="3" presStyleCnt="4"/>
      <dgm:spPr/>
    </dgm:pt>
    <dgm:pt modelId="{25BC1211-4860-4022-8197-C9D89C0B1A69}" type="pres">
      <dgm:prSet presAssocID="{9FF59FCF-A083-4ADD-A79C-7835B76CADB9}" presName="root2" presStyleCnt="0"/>
      <dgm:spPr/>
    </dgm:pt>
    <dgm:pt modelId="{14991D58-8D8C-4EA2-B08C-6DDC48E96B6F}" type="pres">
      <dgm:prSet presAssocID="{9FF59FCF-A083-4ADD-A79C-7835B76CADB9}" presName="LevelTwoTextNode" presStyleLbl="node2" presStyleIdx="3" presStyleCnt="4">
        <dgm:presLayoutVars>
          <dgm:chPref val="3"/>
        </dgm:presLayoutVars>
      </dgm:prSet>
      <dgm:spPr/>
    </dgm:pt>
    <dgm:pt modelId="{C9C45E51-61F2-4745-B372-0B4F420CE5DE}" type="pres">
      <dgm:prSet presAssocID="{9FF59FCF-A083-4ADD-A79C-7835B76CADB9}" presName="level3hierChild" presStyleCnt="0"/>
      <dgm:spPr/>
    </dgm:pt>
  </dgm:ptLst>
  <dgm:cxnLst>
    <dgm:cxn modelId="{04D96209-EFEA-4716-A35B-39780C60C42B}" type="presOf" srcId="{BB95CAC0-F8EE-4344-99E6-235EA59F03BB}" destId="{1ACF5E9D-0FAA-4B59-B8B1-16B02EE6F726}" srcOrd="1" destOrd="0" presId="urn:microsoft.com/office/officeart/2008/layout/HorizontalMultiLevelHierarchy"/>
    <dgm:cxn modelId="{8C1E9521-07CA-4756-8D48-80B3EE92567F}" srcId="{4D0E73C8-016F-46AE-A343-A4B4007B0EC3}" destId="{9FF59FCF-A083-4ADD-A79C-7835B76CADB9}" srcOrd="3" destOrd="0" parTransId="{080FB9FE-CD8C-498C-9CB8-0FE07EC03F3F}" sibTransId="{FA6BC42D-C388-4E1D-B05C-E49A47E34DBD}"/>
    <dgm:cxn modelId="{97620E2F-4DB4-43F1-AFFF-2B80223454D7}" srcId="{4D0E73C8-016F-46AE-A343-A4B4007B0EC3}" destId="{33D7E657-5381-4B86-AC8F-D1233F63B0E0}" srcOrd="1" destOrd="0" parTransId="{9EB5C41A-FBC1-4D16-9554-ABDBED493D58}" sibTransId="{274C15D3-7322-4136-B3A1-56F4AC850375}"/>
    <dgm:cxn modelId="{6ACDD230-B6C2-4C78-B91E-1A0C2E8680E1}" srcId="{BC1EAC1D-FBF5-422C-83AE-02E5E7BC735B}" destId="{4D0E73C8-016F-46AE-A343-A4B4007B0EC3}" srcOrd="0" destOrd="0" parTransId="{D59E36EF-1B51-4655-87BB-EDD418BC73D8}" sibTransId="{E4BF4CFC-BEB5-466E-8A79-19761F3F1A05}"/>
    <dgm:cxn modelId="{7CECBC36-4398-4A99-9E04-91ACB4618D09}" type="presOf" srcId="{BC1EAC1D-FBF5-422C-83AE-02E5E7BC735B}" destId="{9316E17B-4809-44C8-9466-217214F3808D}" srcOrd="0" destOrd="0" presId="urn:microsoft.com/office/officeart/2008/layout/HorizontalMultiLevelHierarchy"/>
    <dgm:cxn modelId="{98B4463F-4903-4F21-A460-ACA8672D9322}" type="presOf" srcId="{A9F4C3D9-3557-4CAB-AAAF-AAED4E44A2B5}" destId="{02182DB4-8CE3-459C-B6C0-9CB5DC71479B}" srcOrd="0" destOrd="0" presId="urn:microsoft.com/office/officeart/2008/layout/HorizontalMultiLevelHierarchy"/>
    <dgm:cxn modelId="{C4348A45-EB10-4933-A4FC-4E833B7DFD1B}" type="presOf" srcId="{E6D7F503-79EA-4677-9BFD-D12A92F7A31C}" destId="{3EB37757-FBE5-45BC-AFB0-99E6600D6278}" srcOrd="0" destOrd="0" presId="urn:microsoft.com/office/officeart/2008/layout/HorizontalMultiLevelHierarchy"/>
    <dgm:cxn modelId="{7650666C-5725-4202-8DC8-8154E00197F3}" srcId="{4D0E73C8-016F-46AE-A343-A4B4007B0EC3}" destId="{E6D7F503-79EA-4677-9BFD-D12A92F7A31C}" srcOrd="2" destOrd="0" parTransId="{BB95CAC0-F8EE-4344-99E6-235EA59F03BB}" sibTransId="{62C6CF20-1C13-4066-B393-046EED92FBC9}"/>
    <dgm:cxn modelId="{704F505A-F516-426A-AD3B-06A3F33199E0}" type="presOf" srcId="{33D7E657-5381-4B86-AC8F-D1233F63B0E0}" destId="{CDD08F04-9859-46B0-AD62-E025CBE48998}" srcOrd="0" destOrd="0" presId="urn:microsoft.com/office/officeart/2008/layout/HorizontalMultiLevelHierarchy"/>
    <dgm:cxn modelId="{8B72DF7A-BB5A-43CC-BB0A-9EE4B08EBCD4}" srcId="{4D0E73C8-016F-46AE-A343-A4B4007B0EC3}" destId="{8C2A3439-D190-48EE-BF9B-57A1589134E8}" srcOrd="0" destOrd="0" parTransId="{A9F4C3D9-3557-4CAB-AAAF-AAED4E44A2B5}" sibTransId="{3BCD7D25-2F28-492A-904D-F55660FCCCC5}"/>
    <dgm:cxn modelId="{9A0F8689-245B-474F-A7C5-A85F29F49A16}" type="presOf" srcId="{8C2A3439-D190-48EE-BF9B-57A1589134E8}" destId="{D327265F-B942-4B43-A502-D10FFEA12F73}" srcOrd="0" destOrd="0" presId="urn:microsoft.com/office/officeart/2008/layout/HorizontalMultiLevelHierarchy"/>
    <dgm:cxn modelId="{7F1FD491-888B-4A2B-B629-4C2BC19D3EAE}" type="presOf" srcId="{4D0E73C8-016F-46AE-A343-A4B4007B0EC3}" destId="{8A084EB8-76C1-479D-ABBB-821AC3A0C1D3}" srcOrd="0" destOrd="0" presId="urn:microsoft.com/office/officeart/2008/layout/HorizontalMultiLevelHierarchy"/>
    <dgm:cxn modelId="{24189F97-8CDE-4C1B-8BB9-D9CDFE024A22}" type="presOf" srcId="{A9F4C3D9-3557-4CAB-AAAF-AAED4E44A2B5}" destId="{66DE2959-D9B6-4E79-9746-0EFC3BCBC19D}" srcOrd="1" destOrd="0" presId="urn:microsoft.com/office/officeart/2008/layout/HorizontalMultiLevelHierarchy"/>
    <dgm:cxn modelId="{DD755AB2-7FAC-4D0D-87D4-8A99F338F6D6}" type="presOf" srcId="{BB95CAC0-F8EE-4344-99E6-235EA59F03BB}" destId="{CD1E3767-A381-4B03-AC88-F10F736702EF}" srcOrd="0" destOrd="0" presId="urn:microsoft.com/office/officeart/2008/layout/HorizontalMultiLevelHierarchy"/>
    <dgm:cxn modelId="{778894B4-9D50-4858-B665-5AAD644C33D7}" type="presOf" srcId="{9FF59FCF-A083-4ADD-A79C-7835B76CADB9}" destId="{14991D58-8D8C-4EA2-B08C-6DDC48E96B6F}" srcOrd="0" destOrd="0" presId="urn:microsoft.com/office/officeart/2008/layout/HorizontalMultiLevelHierarchy"/>
    <dgm:cxn modelId="{938B57C3-60E3-4B9E-9736-AE344E6D84DA}" type="presOf" srcId="{9EB5C41A-FBC1-4D16-9554-ABDBED493D58}" destId="{8693A490-7F8B-45EB-8ABA-62C345D97B2B}" srcOrd="0" destOrd="0" presId="urn:microsoft.com/office/officeart/2008/layout/HorizontalMultiLevelHierarchy"/>
    <dgm:cxn modelId="{60B1F8C8-A4CD-4389-97C5-82E8EFE84ECB}" type="presOf" srcId="{9EB5C41A-FBC1-4D16-9554-ABDBED493D58}" destId="{DA3757F0-C76A-43BF-BB36-78A804971A2D}" srcOrd="1" destOrd="0" presId="urn:microsoft.com/office/officeart/2008/layout/HorizontalMultiLevelHierarchy"/>
    <dgm:cxn modelId="{1D28EBDA-FE60-4185-B8AB-65EEEF7F33B3}" type="presOf" srcId="{080FB9FE-CD8C-498C-9CB8-0FE07EC03F3F}" destId="{5EFECBB7-6398-44D6-A5EB-025DBB843910}" srcOrd="1" destOrd="0" presId="urn:microsoft.com/office/officeart/2008/layout/HorizontalMultiLevelHierarchy"/>
    <dgm:cxn modelId="{7EDF66F6-2B63-4A89-93AE-96CBFCAF5107}" type="presOf" srcId="{080FB9FE-CD8C-498C-9CB8-0FE07EC03F3F}" destId="{9790859D-8C61-4AF6-B203-2D322A6E5352}" srcOrd="0" destOrd="0" presId="urn:microsoft.com/office/officeart/2008/layout/HorizontalMultiLevelHierarchy"/>
    <dgm:cxn modelId="{69A07687-6CD0-4AB7-8FFD-814009EC175E}" type="presParOf" srcId="{9316E17B-4809-44C8-9466-217214F3808D}" destId="{21C4873A-8667-43E2-9485-A3ACFD1D62B9}" srcOrd="0" destOrd="0" presId="urn:microsoft.com/office/officeart/2008/layout/HorizontalMultiLevelHierarchy"/>
    <dgm:cxn modelId="{7983ED05-CCEE-45C6-8830-DD847419F7AE}" type="presParOf" srcId="{21C4873A-8667-43E2-9485-A3ACFD1D62B9}" destId="{8A084EB8-76C1-479D-ABBB-821AC3A0C1D3}" srcOrd="0" destOrd="0" presId="urn:microsoft.com/office/officeart/2008/layout/HorizontalMultiLevelHierarchy"/>
    <dgm:cxn modelId="{36816416-D8FA-4817-AD99-017031BB5611}" type="presParOf" srcId="{21C4873A-8667-43E2-9485-A3ACFD1D62B9}" destId="{EFCE2038-7E88-40F9-8618-E74E9EC204F3}" srcOrd="1" destOrd="0" presId="urn:microsoft.com/office/officeart/2008/layout/HorizontalMultiLevelHierarchy"/>
    <dgm:cxn modelId="{32D854F4-2849-4E63-AE0C-C1454BDEB591}" type="presParOf" srcId="{EFCE2038-7E88-40F9-8618-E74E9EC204F3}" destId="{02182DB4-8CE3-459C-B6C0-9CB5DC71479B}" srcOrd="0" destOrd="0" presId="urn:microsoft.com/office/officeart/2008/layout/HorizontalMultiLevelHierarchy"/>
    <dgm:cxn modelId="{31F15300-E4D1-4CD5-B2FE-B2A5874E60E0}" type="presParOf" srcId="{02182DB4-8CE3-459C-B6C0-9CB5DC71479B}" destId="{66DE2959-D9B6-4E79-9746-0EFC3BCBC19D}" srcOrd="0" destOrd="0" presId="urn:microsoft.com/office/officeart/2008/layout/HorizontalMultiLevelHierarchy"/>
    <dgm:cxn modelId="{D208194C-7393-41E1-BB91-BFFB60ED29DE}" type="presParOf" srcId="{EFCE2038-7E88-40F9-8618-E74E9EC204F3}" destId="{1A7E0058-4A52-402C-A4B4-57756FAF6743}" srcOrd="1" destOrd="0" presId="urn:microsoft.com/office/officeart/2008/layout/HorizontalMultiLevelHierarchy"/>
    <dgm:cxn modelId="{FA8874C5-D00B-4948-86D6-F9E3E4AD68F5}" type="presParOf" srcId="{1A7E0058-4A52-402C-A4B4-57756FAF6743}" destId="{D327265F-B942-4B43-A502-D10FFEA12F73}" srcOrd="0" destOrd="0" presId="urn:microsoft.com/office/officeart/2008/layout/HorizontalMultiLevelHierarchy"/>
    <dgm:cxn modelId="{55A43E06-9121-40A6-A484-6943A4418105}" type="presParOf" srcId="{1A7E0058-4A52-402C-A4B4-57756FAF6743}" destId="{E8E36F7C-37E1-4069-8883-49CD86D62220}" srcOrd="1" destOrd="0" presId="urn:microsoft.com/office/officeart/2008/layout/HorizontalMultiLevelHierarchy"/>
    <dgm:cxn modelId="{41F8D3F7-62E7-4480-AB24-6C7D3B25449B}" type="presParOf" srcId="{EFCE2038-7E88-40F9-8618-E74E9EC204F3}" destId="{8693A490-7F8B-45EB-8ABA-62C345D97B2B}" srcOrd="2" destOrd="0" presId="urn:microsoft.com/office/officeart/2008/layout/HorizontalMultiLevelHierarchy"/>
    <dgm:cxn modelId="{F8DF1AAD-10F8-4FC1-8183-AA95D9A8CA17}" type="presParOf" srcId="{8693A490-7F8B-45EB-8ABA-62C345D97B2B}" destId="{DA3757F0-C76A-43BF-BB36-78A804971A2D}" srcOrd="0" destOrd="0" presId="urn:microsoft.com/office/officeart/2008/layout/HorizontalMultiLevelHierarchy"/>
    <dgm:cxn modelId="{4D5BA402-829B-463D-BCE9-D809DA356FAC}" type="presParOf" srcId="{EFCE2038-7E88-40F9-8618-E74E9EC204F3}" destId="{4E70CE55-4684-45EC-9BB4-114C45567522}" srcOrd="3" destOrd="0" presId="urn:microsoft.com/office/officeart/2008/layout/HorizontalMultiLevelHierarchy"/>
    <dgm:cxn modelId="{1E59C036-D4C1-4B1C-A347-DAB8235A57EF}" type="presParOf" srcId="{4E70CE55-4684-45EC-9BB4-114C45567522}" destId="{CDD08F04-9859-46B0-AD62-E025CBE48998}" srcOrd="0" destOrd="0" presId="urn:microsoft.com/office/officeart/2008/layout/HorizontalMultiLevelHierarchy"/>
    <dgm:cxn modelId="{9391948E-F9F8-4AD1-852B-C0E21515746D}" type="presParOf" srcId="{4E70CE55-4684-45EC-9BB4-114C45567522}" destId="{F07EB07B-6EC3-4AAA-AD7E-F139A1F1B1EF}" srcOrd="1" destOrd="0" presId="urn:microsoft.com/office/officeart/2008/layout/HorizontalMultiLevelHierarchy"/>
    <dgm:cxn modelId="{D4DB7DAC-14B6-4186-A484-1A2626B74CAB}" type="presParOf" srcId="{EFCE2038-7E88-40F9-8618-E74E9EC204F3}" destId="{CD1E3767-A381-4B03-AC88-F10F736702EF}" srcOrd="4" destOrd="0" presId="urn:microsoft.com/office/officeart/2008/layout/HorizontalMultiLevelHierarchy"/>
    <dgm:cxn modelId="{D1F267CC-1CE5-4F3B-A3A8-6B0E846166C7}" type="presParOf" srcId="{CD1E3767-A381-4B03-AC88-F10F736702EF}" destId="{1ACF5E9D-0FAA-4B59-B8B1-16B02EE6F726}" srcOrd="0" destOrd="0" presId="urn:microsoft.com/office/officeart/2008/layout/HorizontalMultiLevelHierarchy"/>
    <dgm:cxn modelId="{E5B0F634-6CB0-48A9-9D22-3CDD12E53C42}" type="presParOf" srcId="{EFCE2038-7E88-40F9-8618-E74E9EC204F3}" destId="{BCCA3DFD-0047-4AAE-8EB7-1560B537DDA4}" srcOrd="5" destOrd="0" presId="urn:microsoft.com/office/officeart/2008/layout/HorizontalMultiLevelHierarchy"/>
    <dgm:cxn modelId="{3C66CF4E-7BF5-45FD-B9B3-904ADC8CFF7E}" type="presParOf" srcId="{BCCA3DFD-0047-4AAE-8EB7-1560B537DDA4}" destId="{3EB37757-FBE5-45BC-AFB0-99E6600D6278}" srcOrd="0" destOrd="0" presId="urn:microsoft.com/office/officeart/2008/layout/HorizontalMultiLevelHierarchy"/>
    <dgm:cxn modelId="{8B5377AD-7FEB-48A7-A549-E31D5DE26C4A}" type="presParOf" srcId="{BCCA3DFD-0047-4AAE-8EB7-1560B537DDA4}" destId="{97CB6D7B-B43C-42BD-ADC7-2C7691BE2D46}" srcOrd="1" destOrd="0" presId="urn:microsoft.com/office/officeart/2008/layout/HorizontalMultiLevelHierarchy"/>
    <dgm:cxn modelId="{76EFB8A5-0486-4691-8D66-E110B05CE8AC}" type="presParOf" srcId="{EFCE2038-7E88-40F9-8618-E74E9EC204F3}" destId="{9790859D-8C61-4AF6-B203-2D322A6E5352}" srcOrd="6" destOrd="0" presId="urn:microsoft.com/office/officeart/2008/layout/HorizontalMultiLevelHierarchy"/>
    <dgm:cxn modelId="{D501F0B0-65CD-4768-BE0B-FD3C8E352E45}" type="presParOf" srcId="{9790859D-8C61-4AF6-B203-2D322A6E5352}" destId="{5EFECBB7-6398-44D6-A5EB-025DBB843910}" srcOrd="0" destOrd="0" presId="urn:microsoft.com/office/officeart/2008/layout/HorizontalMultiLevelHierarchy"/>
    <dgm:cxn modelId="{7F2030F1-3FC3-4683-A9AB-9E1E78978CBE}" type="presParOf" srcId="{EFCE2038-7E88-40F9-8618-E74E9EC204F3}" destId="{25BC1211-4860-4022-8197-C9D89C0B1A69}" srcOrd="7" destOrd="0" presId="urn:microsoft.com/office/officeart/2008/layout/HorizontalMultiLevelHierarchy"/>
    <dgm:cxn modelId="{21C49179-4AE6-41DB-BD85-DC93D775F9D2}" type="presParOf" srcId="{25BC1211-4860-4022-8197-C9D89C0B1A69}" destId="{14991D58-8D8C-4EA2-B08C-6DDC48E96B6F}" srcOrd="0" destOrd="0" presId="urn:microsoft.com/office/officeart/2008/layout/HorizontalMultiLevelHierarchy"/>
    <dgm:cxn modelId="{CC6CBD06-25DA-4294-8FBE-966431E8DFA3}" type="presParOf" srcId="{25BC1211-4860-4022-8197-C9D89C0B1A69}" destId="{C9C45E51-61F2-4745-B372-0B4F420CE5DE}" srcOrd="1" destOrd="0" presId="urn:microsoft.com/office/officeart/2008/layout/HorizontalMultiLevelHierarchy"/>
  </dgm:cxnLst>
  <dgm:bg/>
  <dgm:whole/>
  <dgm:extLst>
    <a:ext uri="http://schemas.microsoft.com/office/drawing/2008/diagram">
      <dsp:dataModelExt xmlns:dsp="http://schemas.microsoft.com/office/drawing/2008/diagram" relId="rId31"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BC1EAC1D-FBF5-422C-83AE-02E5E7BC735B}" type="doc">
      <dgm:prSet loTypeId="urn:microsoft.com/office/officeart/2008/layout/HorizontalMultiLevelHierarchy" loCatId="hierarchy" qsTypeId="urn:microsoft.com/office/officeart/2005/8/quickstyle/simple1" qsCatId="simple" csTypeId="urn:microsoft.com/office/officeart/2005/8/colors/accent1_2" csCatId="accent1"/>
      <dgm:spPr/>
      <dgm:t>
        <a:bodyPr/>
        <a:lstStyle/>
        <a:p>
          <a:endParaRPr lang="zh-CN" altLang="en-US"/>
        </a:p>
      </dgm:t>
    </dgm:pt>
    <dgm:pt modelId="{4D0E73C8-016F-46AE-A343-A4B4007B0EC3}">
      <dgm:prSet/>
      <dgm:spPr/>
      <dgm:t>
        <a:bodyPr/>
        <a:lstStyle/>
        <a:p>
          <a:r>
            <a:rPr lang="zh-CN"/>
            <a:t>维度组</a:t>
          </a:r>
        </a:p>
      </dgm:t>
    </dgm:pt>
    <dgm:pt modelId="{D59E36EF-1B51-4655-87BB-EDD418BC73D8}" type="parTrans" cxnId="{6ACDD230-B6C2-4C78-B91E-1A0C2E8680E1}">
      <dgm:prSet/>
      <dgm:spPr/>
      <dgm:t>
        <a:bodyPr/>
        <a:lstStyle/>
        <a:p>
          <a:endParaRPr lang="zh-CN" altLang="en-US"/>
        </a:p>
      </dgm:t>
    </dgm:pt>
    <dgm:pt modelId="{E4BF4CFC-BEB5-466E-8A79-19761F3F1A05}" type="sibTrans" cxnId="{6ACDD230-B6C2-4C78-B91E-1A0C2E8680E1}">
      <dgm:prSet/>
      <dgm:spPr/>
      <dgm:t>
        <a:bodyPr/>
        <a:lstStyle/>
        <a:p>
          <a:endParaRPr lang="zh-CN" altLang="en-US"/>
        </a:p>
      </dgm:t>
    </dgm:pt>
    <dgm:pt modelId="{8C2A3439-D190-48EE-BF9B-57A1589134E8}">
      <dgm:prSet/>
      <dgm:spPr/>
      <dgm:t>
        <a:bodyPr/>
        <a:lstStyle/>
        <a:p>
          <a:r>
            <a:rPr lang="zh-CN"/>
            <a:t>维度</a:t>
          </a:r>
          <a:r>
            <a:rPr lang="en-US"/>
            <a:t>1</a:t>
          </a:r>
          <a:endParaRPr lang="zh-CN"/>
        </a:p>
      </dgm:t>
    </dgm:pt>
    <dgm:pt modelId="{A9F4C3D9-3557-4CAB-AAAF-AAED4E44A2B5}" type="parTrans" cxnId="{8B72DF7A-BB5A-43CC-BB0A-9EE4B08EBCD4}">
      <dgm:prSet/>
      <dgm:spPr/>
      <dgm:t>
        <a:bodyPr/>
        <a:lstStyle/>
        <a:p>
          <a:endParaRPr lang="zh-CN" altLang="en-US"/>
        </a:p>
      </dgm:t>
    </dgm:pt>
    <dgm:pt modelId="{3BCD7D25-2F28-492A-904D-F55660FCCCC5}" type="sibTrans" cxnId="{8B72DF7A-BB5A-43CC-BB0A-9EE4B08EBCD4}">
      <dgm:prSet/>
      <dgm:spPr/>
      <dgm:t>
        <a:bodyPr/>
        <a:lstStyle/>
        <a:p>
          <a:endParaRPr lang="zh-CN" altLang="en-US"/>
        </a:p>
      </dgm:t>
    </dgm:pt>
    <dgm:pt modelId="{33D7E657-5381-4B86-AC8F-D1233F63B0E0}">
      <dgm:prSet/>
      <dgm:spPr/>
      <dgm:t>
        <a:bodyPr/>
        <a:lstStyle/>
        <a:p>
          <a:r>
            <a:rPr lang="zh-CN"/>
            <a:t>维度</a:t>
          </a:r>
          <a:r>
            <a:rPr lang="en-US"/>
            <a:t>2</a:t>
          </a:r>
          <a:endParaRPr lang="zh-CN"/>
        </a:p>
      </dgm:t>
    </dgm:pt>
    <dgm:pt modelId="{9EB5C41A-FBC1-4D16-9554-ABDBED493D58}" type="parTrans" cxnId="{97620E2F-4DB4-43F1-AFFF-2B80223454D7}">
      <dgm:prSet/>
      <dgm:spPr/>
      <dgm:t>
        <a:bodyPr/>
        <a:lstStyle/>
        <a:p>
          <a:endParaRPr lang="zh-CN" altLang="en-US"/>
        </a:p>
      </dgm:t>
    </dgm:pt>
    <dgm:pt modelId="{274C15D3-7322-4136-B3A1-56F4AC850375}" type="sibTrans" cxnId="{97620E2F-4DB4-43F1-AFFF-2B80223454D7}">
      <dgm:prSet/>
      <dgm:spPr/>
      <dgm:t>
        <a:bodyPr/>
        <a:lstStyle/>
        <a:p>
          <a:endParaRPr lang="zh-CN" altLang="en-US"/>
        </a:p>
      </dgm:t>
    </dgm:pt>
    <dgm:pt modelId="{E6D7F503-79EA-4677-9BFD-D12A92F7A31C}">
      <dgm:prSet/>
      <dgm:spPr/>
      <dgm:t>
        <a:bodyPr/>
        <a:lstStyle/>
        <a:p>
          <a:r>
            <a:rPr lang="zh-CN"/>
            <a:t>维度</a:t>
          </a:r>
          <a:r>
            <a:rPr lang="en-US"/>
            <a:t>3</a:t>
          </a:r>
          <a:endParaRPr lang="zh-CN"/>
        </a:p>
      </dgm:t>
    </dgm:pt>
    <dgm:pt modelId="{BB95CAC0-F8EE-4344-99E6-235EA59F03BB}" type="parTrans" cxnId="{7650666C-5725-4202-8DC8-8154E00197F3}">
      <dgm:prSet/>
      <dgm:spPr/>
      <dgm:t>
        <a:bodyPr/>
        <a:lstStyle/>
        <a:p>
          <a:endParaRPr lang="zh-CN" altLang="en-US"/>
        </a:p>
      </dgm:t>
    </dgm:pt>
    <dgm:pt modelId="{62C6CF20-1C13-4066-B393-046EED92FBC9}" type="sibTrans" cxnId="{7650666C-5725-4202-8DC8-8154E00197F3}">
      <dgm:prSet/>
      <dgm:spPr/>
      <dgm:t>
        <a:bodyPr/>
        <a:lstStyle/>
        <a:p>
          <a:endParaRPr lang="zh-CN" altLang="en-US"/>
        </a:p>
      </dgm:t>
    </dgm:pt>
    <dgm:pt modelId="{9316E17B-4809-44C8-9466-217214F3808D}" type="pres">
      <dgm:prSet presAssocID="{BC1EAC1D-FBF5-422C-83AE-02E5E7BC735B}" presName="Name0" presStyleCnt="0">
        <dgm:presLayoutVars>
          <dgm:chPref val="1"/>
          <dgm:dir val="rev"/>
          <dgm:animOne val="branch"/>
          <dgm:animLvl val="lvl"/>
          <dgm:resizeHandles val="exact"/>
        </dgm:presLayoutVars>
      </dgm:prSet>
      <dgm:spPr/>
    </dgm:pt>
    <dgm:pt modelId="{21C4873A-8667-43E2-9485-A3ACFD1D62B9}" type="pres">
      <dgm:prSet presAssocID="{4D0E73C8-016F-46AE-A343-A4B4007B0EC3}" presName="root1" presStyleCnt="0"/>
      <dgm:spPr/>
    </dgm:pt>
    <dgm:pt modelId="{8A084EB8-76C1-479D-ABBB-821AC3A0C1D3}" type="pres">
      <dgm:prSet presAssocID="{4D0E73C8-016F-46AE-A343-A4B4007B0EC3}" presName="LevelOneTextNode" presStyleLbl="node0" presStyleIdx="0" presStyleCnt="1">
        <dgm:presLayoutVars>
          <dgm:chPref val="3"/>
        </dgm:presLayoutVars>
      </dgm:prSet>
      <dgm:spPr/>
    </dgm:pt>
    <dgm:pt modelId="{EFCE2038-7E88-40F9-8618-E74E9EC204F3}" type="pres">
      <dgm:prSet presAssocID="{4D0E73C8-016F-46AE-A343-A4B4007B0EC3}" presName="level2hierChild" presStyleCnt="0"/>
      <dgm:spPr/>
    </dgm:pt>
    <dgm:pt modelId="{02182DB4-8CE3-459C-B6C0-9CB5DC71479B}" type="pres">
      <dgm:prSet presAssocID="{A9F4C3D9-3557-4CAB-AAAF-AAED4E44A2B5}" presName="conn2-1" presStyleLbl="parChTrans1D2" presStyleIdx="0" presStyleCnt="3"/>
      <dgm:spPr/>
    </dgm:pt>
    <dgm:pt modelId="{66DE2959-D9B6-4E79-9746-0EFC3BCBC19D}" type="pres">
      <dgm:prSet presAssocID="{A9F4C3D9-3557-4CAB-AAAF-AAED4E44A2B5}" presName="connTx" presStyleLbl="parChTrans1D2" presStyleIdx="0" presStyleCnt="3"/>
      <dgm:spPr/>
    </dgm:pt>
    <dgm:pt modelId="{1A7E0058-4A52-402C-A4B4-57756FAF6743}" type="pres">
      <dgm:prSet presAssocID="{8C2A3439-D190-48EE-BF9B-57A1589134E8}" presName="root2" presStyleCnt="0"/>
      <dgm:spPr/>
    </dgm:pt>
    <dgm:pt modelId="{D327265F-B942-4B43-A502-D10FFEA12F73}" type="pres">
      <dgm:prSet presAssocID="{8C2A3439-D190-48EE-BF9B-57A1589134E8}" presName="LevelTwoTextNode" presStyleLbl="node2" presStyleIdx="0" presStyleCnt="3">
        <dgm:presLayoutVars>
          <dgm:chPref val="3"/>
        </dgm:presLayoutVars>
      </dgm:prSet>
      <dgm:spPr/>
    </dgm:pt>
    <dgm:pt modelId="{E8E36F7C-37E1-4069-8883-49CD86D62220}" type="pres">
      <dgm:prSet presAssocID="{8C2A3439-D190-48EE-BF9B-57A1589134E8}" presName="level3hierChild" presStyleCnt="0"/>
      <dgm:spPr/>
    </dgm:pt>
    <dgm:pt modelId="{8693A490-7F8B-45EB-8ABA-62C345D97B2B}" type="pres">
      <dgm:prSet presAssocID="{9EB5C41A-FBC1-4D16-9554-ABDBED493D58}" presName="conn2-1" presStyleLbl="parChTrans1D2" presStyleIdx="1" presStyleCnt="3"/>
      <dgm:spPr/>
    </dgm:pt>
    <dgm:pt modelId="{DA3757F0-C76A-43BF-BB36-78A804971A2D}" type="pres">
      <dgm:prSet presAssocID="{9EB5C41A-FBC1-4D16-9554-ABDBED493D58}" presName="connTx" presStyleLbl="parChTrans1D2" presStyleIdx="1" presStyleCnt="3"/>
      <dgm:spPr/>
    </dgm:pt>
    <dgm:pt modelId="{4E70CE55-4684-45EC-9BB4-114C45567522}" type="pres">
      <dgm:prSet presAssocID="{33D7E657-5381-4B86-AC8F-D1233F63B0E0}" presName="root2" presStyleCnt="0"/>
      <dgm:spPr/>
    </dgm:pt>
    <dgm:pt modelId="{CDD08F04-9859-46B0-AD62-E025CBE48998}" type="pres">
      <dgm:prSet presAssocID="{33D7E657-5381-4B86-AC8F-D1233F63B0E0}" presName="LevelTwoTextNode" presStyleLbl="node2" presStyleIdx="1" presStyleCnt="3">
        <dgm:presLayoutVars>
          <dgm:chPref val="3"/>
        </dgm:presLayoutVars>
      </dgm:prSet>
      <dgm:spPr/>
    </dgm:pt>
    <dgm:pt modelId="{F07EB07B-6EC3-4AAA-AD7E-F139A1F1B1EF}" type="pres">
      <dgm:prSet presAssocID="{33D7E657-5381-4B86-AC8F-D1233F63B0E0}" presName="level3hierChild" presStyleCnt="0"/>
      <dgm:spPr/>
    </dgm:pt>
    <dgm:pt modelId="{CD1E3767-A381-4B03-AC88-F10F736702EF}" type="pres">
      <dgm:prSet presAssocID="{BB95CAC0-F8EE-4344-99E6-235EA59F03BB}" presName="conn2-1" presStyleLbl="parChTrans1D2" presStyleIdx="2" presStyleCnt="3"/>
      <dgm:spPr/>
    </dgm:pt>
    <dgm:pt modelId="{1ACF5E9D-0FAA-4B59-B8B1-16B02EE6F726}" type="pres">
      <dgm:prSet presAssocID="{BB95CAC0-F8EE-4344-99E6-235EA59F03BB}" presName="connTx" presStyleLbl="parChTrans1D2" presStyleIdx="2" presStyleCnt="3"/>
      <dgm:spPr/>
    </dgm:pt>
    <dgm:pt modelId="{BCCA3DFD-0047-4AAE-8EB7-1560B537DDA4}" type="pres">
      <dgm:prSet presAssocID="{E6D7F503-79EA-4677-9BFD-D12A92F7A31C}" presName="root2" presStyleCnt="0"/>
      <dgm:spPr/>
    </dgm:pt>
    <dgm:pt modelId="{3EB37757-FBE5-45BC-AFB0-99E6600D6278}" type="pres">
      <dgm:prSet presAssocID="{E6D7F503-79EA-4677-9BFD-D12A92F7A31C}" presName="LevelTwoTextNode" presStyleLbl="node2" presStyleIdx="2" presStyleCnt="3">
        <dgm:presLayoutVars>
          <dgm:chPref val="3"/>
        </dgm:presLayoutVars>
      </dgm:prSet>
      <dgm:spPr/>
    </dgm:pt>
    <dgm:pt modelId="{97CB6D7B-B43C-42BD-ADC7-2C7691BE2D46}" type="pres">
      <dgm:prSet presAssocID="{E6D7F503-79EA-4677-9BFD-D12A92F7A31C}" presName="level3hierChild" presStyleCnt="0"/>
      <dgm:spPr/>
    </dgm:pt>
  </dgm:ptLst>
  <dgm:cxnLst>
    <dgm:cxn modelId="{04D96209-EFEA-4716-A35B-39780C60C42B}" type="presOf" srcId="{BB95CAC0-F8EE-4344-99E6-235EA59F03BB}" destId="{1ACF5E9D-0FAA-4B59-B8B1-16B02EE6F726}" srcOrd="1" destOrd="0" presId="urn:microsoft.com/office/officeart/2008/layout/HorizontalMultiLevelHierarchy"/>
    <dgm:cxn modelId="{97620E2F-4DB4-43F1-AFFF-2B80223454D7}" srcId="{4D0E73C8-016F-46AE-A343-A4B4007B0EC3}" destId="{33D7E657-5381-4B86-AC8F-D1233F63B0E0}" srcOrd="1" destOrd="0" parTransId="{9EB5C41A-FBC1-4D16-9554-ABDBED493D58}" sibTransId="{274C15D3-7322-4136-B3A1-56F4AC850375}"/>
    <dgm:cxn modelId="{6ACDD230-B6C2-4C78-B91E-1A0C2E8680E1}" srcId="{BC1EAC1D-FBF5-422C-83AE-02E5E7BC735B}" destId="{4D0E73C8-016F-46AE-A343-A4B4007B0EC3}" srcOrd="0" destOrd="0" parTransId="{D59E36EF-1B51-4655-87BB-EDD418BC73D8}" sibTransId="{E4BF4CFC-BEB5-466E-8A79-19761F3F1A05}"/>
    <dgm:cxn modelId="{7CECBC36-4398-4A99-9E04-91ACB4618D09}" type="presOf" srcId="{BC1EAC1D-FBF5-422C-83AE-02E5E7BC735B}" destId="{9316E17B-4809-44C8-9466-217214F3808D}" srcOrd="0" destOrd="0" presId="urn:microsoft.com/office/officeart/2008/layout/HorizontalMultiLevelHierarchy"/>
    <dgm:cxn modelId="{98B4463F-4903-4F21-A460-ACA8672D9322}" type="presOf" srcId="{A9F4C3D9-3557-4CAB-AAAF-AAED4E44A2B5}" destId="{02182DB4-8CE3-459C-B6C0-9CB5DC71479B}" srcOrd="0" destOrd="0" presId="urn:microsoft.com/office/officeart/2008/layout/HorizontalMultiLevelHierarchy"/>
    <dgm:cxn modelId="{C4348A45-EB10-4933-A4FC-4E833B7DFD1B}" type="presOf" srcId="{E6D7F503-79EA-4677-9BFD-D12A92F7A31C}" destId="{3EB37757-FBE5-45BC-AFB0-99E6600D6278}" srcOrd="0" destOrd="0" presId="urn:microsoft.com/office/officeart/2008/layout/HorizontalMultiLevelHierarchy"/>
    <dgm:cxn modelId="{7650666C-5725-4202-8DC8-8154E00197F3}" srcId="{4D0E73C8-016F-46AE-A343-A4B4007B0EC3}" destId="{E6D7F503-79EA-4677-9BFD-D12A92F7A31C}" srcOrd="2" destOrd="0" parTransId="{BB95CAC0-F8EE-4344-99E6-235EA59F03BB}" sibTransId="{62C6CF20-1C13-4066-B393-046EED92FBC9}"/>
    <dgm:cxn modelId="{704F505A-F516-426A-AD3B-06A3F33199E0}" type="presOf" srcId="{33D7E657-5381-4B86-AC8F-D1233F63B0E0}" destId="{CDD08F04-9859-46B0-AD62-E025CBE48998}" srcOrd="0" destOrd="0" presId="urn:microsoft.com/office/officeart/2008/layout/HorizontalMultiLevelHierarchy"/>
    <dgm:cxn modelId="{8B72DF7A-BB5A-43CC-BB0A-9EE4B08EBCD4}" srcId="{4D0E73C8-016F-46AE-A343-A4B4007B0EC3}" destId="{8C2A3439-D190-48EE-BF9B-57A1589134E8}" srcOrd="0" destOrd="0" parTransId="{A9F4C3D9-3557-4CAB-AAAF-AAED4E44A2B5}" sibTransId="{3BCD7D25-2F28-492A-904D-F55660FCCCC5}"/>
    <dgm:cxn modelId="{9A0F8689-245B-474F-A7C5-A85F29F49A16}" type="presOf" srcId="{8C2A3439-D190-48EE-BF9B-57A1589134E8}" destId="{D327265F-B942-4B43-A502-D10FFEA12F73}" srcOrd="0" destOrd="0" presId="urn:microsoft.com/office/officeart/2008/layout/HorizontalMultiLevelHierarchy"/>
    <dgm:cxn modelId="{7F1FD491-888B-4A2B-B629-4C2BC19D3EAE}" type="presOf" srcId="{4D0E73C8-016F-46AE-A343-A4B4007B0EC3}" destId="{8A084EB8-76C1-479D-ABBB-821AC3A0C1D3}" srcOrd="0" destOrd="0" presId="urn:microsoft.com/office/officeart/2008/layout/HorizontalMultiLevelHierarchy"/>
    <dgm:cxn modelId="{24189F97-8CDE-4C1B-8BB9-D9CDFE024A22}" type="presOf" srcId="{A9F4C3D9-3557-4CAB-AAAF-AAED4E44A2B5}" destId="{66DE2959-D9B6-4E79-9746-0EFC3BCBC19D}" srcOrd="1" destOrd="0" presId="urn:microsoft.com/office/officeart/2008/layout/HorizontalMultiLevelHierarchy"/>
    <dgm:cxn modelId="{DD755AB2-7FAC-4D0D-87D4-8A99F338F6D6}" type="presOf" srcId="{BB95CAC0-F8EE-4344-99E6-235EA59F03BB}" destId="{CD1E3767-A381-4B03-AC88-F10F736702EF}" srcOrd="0" destOrd="0" presId="urn:microsoft.com/office/officeart/2008/layout/HorizontalMultiLevelHierarchy"/>
    <dgm:cxn modelId="{938B57C3-60E3-4B9E-9736-AE344E6D84DA}" type="presOf" srcId="{9EB5C41A-FBC1-4D16-9554-ABDBED493D58}" destId="{8693A490-7F8B-45EB-8ABA-62C345D97B2B}" srcOrd="0" destOrd="0" presId="urn:microsoft.com/office/officeart/2008/layout/HorizontalMultiLevelHierarchy"/>
    <dgm:cxn modelId="{60B1F8C8-A4CD-4389-97C5-82E8EFE84ECB}" type="presOf" srcId="{9EB5C41A-FBC1-4D16-9554-ABDBED493D58}" destId="{DA3757F0-C76A-43BF-BB36-78A804971A2D}" srcOrd="1" destOrd="0" presId="urn:microsoft.com/office/officeart/2008/layout/HorizontalMultiLevelHierarchy"/>
    <dgm:cxn modelId="{69A07687-6CD0-4AB7-8FFD-814009EC175E}" type="presParOf" srcId="{9316E17B-4809-44C8-9466-217214F3808D}" destId="{21C4873A-8667-43E2-9485-A3ACFD1D62B9}" srcOrd="0" destOrd="0" presId="urn:microsoft.com/office/officeart/2008/layout/HorizontalMultiLevelHierarchy"/>
    <dgm:cxn modelId="{7983ED05-CCEE-45C6-8830-DD847419F7AE}" type="presParOf" srcId="{21C4873A-8667-43E2-9485-A3ACFD1D62B9}" destId="{8A084EB8-76C1-479D-ABBB-821AC3A0C1D3}" srcOrd="0" destOrd="0" presId="urn:microsoft.com/office/officeart/2008/layout/HorizontalMultiLevelHierarchy"/>
    <dgm:cxn modelId="{36816416-D8FA-4817-AD99-017031BB5611}" type="presParOf" srcId="{21C4873A-8667-43E2-9485-A3ACFD1D62B9}" destId="{EFCE2038-7E88-40F9-8618-E74E9EC204F3}" srcOrd="1" destOrd="0" presId="urn:microsoft.com/office/officeart/2008/layout/HorizontalMultiLevelHierarchy"/>
    <dgm:cxn modelId="{32D854F4-2849-4E63-AE0C-C1454BDEB591}" type="presParOf" srcId="{EFCE2038-7E88-40F9-8618-E74E9EC204F3}" destId="{02182DB4-8CE3-459C-B6C0-9CB5DC71479B}" srcOrd="0" destOrd="0" presId="urn:microsoft.com/office/officeart/2008/layout/HorizontalMultiLevelHierarchy"/>
    <dgm:cxn modelId="{31F15300-E4D1-4CD5-B2FE-B2A5874E60E0}" type="presParOf" srcId="{02182DB4-8CE3-459C-B6C0-9CB5DC71479B}" destId="{66DE2959-D9B6-4E79-9746-0EFC3BCBC19D}" srcOrd="0" destOrd="0" presId="urn:microsoft.com/office/officeart/2008/layout/HorizontalMultiLevelHierarchy"/>
    <dgm:cxn modelId="{D208194C-7393-41E1-BB91-BFFB60ED29DE}" type="presParOf" srcId="{EFCE2038-7E88-40F9-8618-E74E9EC204F3}" destId="{1A7E0058-4A52-402C-A4B4-57756FAF6743}" srcOrd="1" destOrd="0" presId="urn:microsoft.com/office/officeart/2008/layout/HorizontalMultiLevelHierarchy"/>
    <dgm:cxn modelId="{FA8874C5-D00B-4948-86D6-F9E3E4AD68F5}" type="presParOf" srcId="{1A7E0058-4A52-402C-A4B4-57756FAF6743}" destId="{D327265F-B942-4B43-A502-D10FFEA12F73}" srcOrd="0" destOrd="0" presId="urn:microsoft.com/office/officeart/2008/layout/HorizontalMultiLevelHierarchy"/>
    <dgm:cxn modelId="{55A43E06-9121-40A6-A484-6943A4418105}" type="presParOf" srcId="{1A7E0058-4A52-402C-A4B4-57756FAF6743}" destId="{E8E36F7C-37E1-4069-8883-49CD86D62220}" srcOrd="1" destOrd="0" presId="urn:microsoft.com/office/officeart/2008/layout/HorizontalMultiLevelHierarchy"/>
    <dgm:cxn modelId="{41F8D3F7-62E7-4480-AB24-6C7D3B25449B}" type="presParOf" srcId="{EFCE2038-7E88-40F9-8618-E74E9EC204F3}" destId="{8693A490-7F8B-45EB-8ABA-62C345D97B2B}" srcOrd="2" destOrd="0" presId="urn:microsoft.com/office/officeart/2008/layout/HorizontalMultiLevelHierarchy"/>
    <dgm:cxn modelId="{F8DF1AAD-10F8-4FC1-8183-AA95D9A8CA17}" type="presParOf" srcId="{8693A490-7F8B-45EB-8ABA-62C345D97B2B}" destId="{DA3757F0-C76A-43BF-BB36-78A804971A2D}" srcOrd="0" destOrd="0" presId="urn:microsoft.com/office/officeart/2008/layout/HorizontalMultiLevelHierarchy"/>
    <dgm:cxn modelId="{4D5BA402-829B-463D-BCE9-D809DA356FAC}" type="presParOf" srcId="{EFCE2038-7E88-40F9-8618-E74E9EC204F3}" destId="{4E70CE55-4684-45EC-9BB4-114C45567522}" srcOrd="3" destOrd="0" presId="urn:microsoft.com/office/officeart/2008/layout/HorizontalMultiLevelHierarchy"/>
    <dgm:cxn modelId="{1E59C036-D4C1-4B1C-A347-DAB8235A57EF}" type="presParOf" srcId="{4E70CE55-4684-45EC-9BB4-114C45567522}" destId="{CDD08F04-9859-46B0-AD62-E025CBE48998}" srcOrd="0" destOrd="0" presId="urn:microsoft.com/office/officeart/2008/layout/HorizontalMultiLevelHierarchy"/>
    <dgm:cxn modelId="{9391948E-F9F8-4AD1-852B-C0E21515746D}" type="presParOf" srcId="{4E70CE55-4684-45EC-9BB4-114C45567522}" destId="{F07EB07B-6EC3-4AAA-AD7E-F139A1F1B1EF}" srcOrd="1" destOrd="0" presId="urn:microsoft.com/office/officeart/2008/layout/HorizontalMultiLevelHierarchy"/>
    <dgm:cxn modelId="{D4DB7DAC-14B6-4186-A484-1A2626B74CAB}" type="presParOf" srcId="{EFCE2038-7E88-40F9-8618-E74E9EC204F3}" destId="{CD1E3767-A381-4B03-AC88-F10F736702EF}" srcOrd="4" destOrd="0" presId="urn:microsoft.com/office/officeart/2008/layout/HorizontalMultiLevelHierarchy"/>
    <dgm:cxn modelId="{D1F267CC-1CE5-4F3B-A3A8-6B0E846166C7}" type="presParOf" srcId="{CD1E3767-A381-4B03-AC88-F10F736702EF}" destId="{1ACF5E9D-0FAA-4B59-B8B1-16B02EE6F726}" srcOrd="0" destOrd="0" presId="urn:microsoft.com/office/officeart/2008/layout/HorizontalMultiLevelHierarchy"/>
    <dgm:cxn modelId="{E5B0F634-6CB0-48A9-9D22-3CDD12E53C42}" type="presParOf" srcId="{EFCE2038-7E88-40F9-8618-E74E9EC204F3}" destId="{BCCA3DFD-0047-4AAE-8EB7-1560B537DDA4}" srcOrd="5" destOrd="0" presId="urn:microsoft.com/office/officeart/2008/layout/HorizontalMultiLevelHierarchy"/>
    <dgm:cxn modelId="{3C66CF4E-7BF5-45FD-B9B3-904ADC8CFF7E}" type="presParOf" srcId="{BCCA3DFD-0047-4AAE-8EB7-1560B537DDA4}" destId="{3EB37757-FBE5-45BC-AFB0-99E6600D6278}" srcOrd="0" destOrd="0" presId="urn:microsoft.com/office/officeart/2008/layout/HorizontalMultiLevelHierarchy"/>
    <dgm:cxn modelId="{8B5377AD-7FEB-48A7-A549-E31D5DE26C4A}" type="presParOf" srcId="{BCCA3DFD-0047-4AAE-8EB7-1560B537DDA4}" destId="{97CB6D7B-B43C-42BD-ADC7-2C7691BE2D46}" srcOrd="1" destOrd="0" presId="urn:microsoft.com/office/officeart/2008/layout/HorizontalMultiLevelHierarchy"/>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BC1EAC1D-FBF5-422C-83AE-02E5E7BC735B}"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zh-CN" altLang="en-US"/>
        </a:p>
      </dgm:t>
    </dgm:pt>
    <dgm:pt modelId="{4D0E73C8-016F-46AE-A343-A4B4007B0EC3}">
      <dgm:prSet/>
      <dgm:spPr/>
      <dgm:t>
        <a:bodyPr/>
        <a:lstStyle/>
        <a:p>
          <a:r>
            <a:rPr lang="zh-CN" dirty="0"/>
            <a:t>维度</a:t>
          </a:r>
          <a:r>
            <a:rPr lang="zh-CN" altLang="en-US" dirty="0"/>
            <a:t>集</a:t>
          </a:r>
          <a:endParaRPr lang="zh-CN" dirty="0"/>
        </a:p>
      </dgm:t>
    </dgm:pt>
    <dgm:pt modelId="{D59E36EF-1B51-4655-87BB-EDD418BC73D8}" type="parTrans" cxnId="{6ACDD230-B6C2-4C78-B91E-1A0C2E8680E1}">
      <dgm:prSet/>
      <dgm:spPr/>
      <dgm:t>
        <a:bodyPr/>
        <a:lstStyle/>
        <a:p>
          <a:endParaRPr lang="zh-CN" altLang="en-US"/>
        </a:p>
      </dgm:t>
    </dgm:pt>
    <dgm:pt modelId="{E4BF4CFC-BEB5-466E-8A79-19761F3F1A05}" type="sibTrans" cxnId="{6ACDD230-B6C2-4C78-B91E-1A0C2E8680E1}">
      <dgm:prSet/>
      <dgm:spPr/>
      <dgm:t>
        <a:bodyPr/>
        <a:lstStyle/>
        <a:p>
          <a:endParaRPr lang="zh-CN" altLang="en-US"/>
        </a:p>
      </dgm:t>
    </dgm:pt>
    <dgm:pt modelId="{8C2A3439-D190-48EE-BF9B-57A1589134E8}">
      <dgm:prSet/>
      <dgm:spPr/>
      <dgm:t>
        <a:bodyPr/>
        <a:lstStyle/>
        <a:p>
          <a:r>
            <a:rPr lang="zh-CN"/>
            <a:t>维度</a:t>
          </a:r>
          <a:r>
            <a:rPr lang="en-US"/>
            <a:t>1</a:t>
          </a:r>
          <a:endParaRPr lang="zh-CN"/>
        </a:p>
      </dgm:t>
    </dgm:pt>
    <dgm:pt modelId="{A9F4C3D9-3557-4CAB-AAAF-AAED4E44A2B5}" type="parTrans" cxnId="{8B72DF7A-BB5A-43CC-BB0A-9EE4B08EBCD4}">
      <dgm:prSet/>
      <dgm:spPr/>
      <dgm:t>
        <a:bodyPr/>
        <a:lstStyle/>
        <a:p>
          <a:endParaRPr lang="zh-CN" altLang="en-US"/>
        </a:p>
      </dgm:t>
    </dgm:pt>
    <dgm:pt modelId="{3BCD7D25-2F28-492A-904D-F55660FCCCC5}" type="sibTrans" cxnId="{8B72DF7A-BB5A-43CC-BB0A-9EE4B08EBCD4}">
      <dgm:prSet/>
      <dgm:spPr/>
      <dgm:t>
        <a:bodyPr/>
        <a:lstStyle/>
        <a:p>
          <a:endParaRPr lang="zh-CN" altLang="en-US"/>
        </a:p>
      </dgm:t>
    </dgm:pt>
    <dgm:pt modelId="{33D7E657-5381-4B86-AC8F-D1233F63B0E0}">
      <dgm:prSet/>
      <dgm:spPr/>
      <dgm:t>
        <a:bodyPr/>
        <a:lstStyle/>
        <a:p>
          <a:r>
            <a:rPr lang="zh-CN"/>
            <a:t>维度</a:t>
          </a:r>
          <a:r>
            <a:rPr lang="en-US"/>
            <a:t>2</a:t>
          </a:r>
          <a:endParaRPr lang="zh-CN"/>
        </a:p>
      </dgm:t>
    </dgm:pt>
    <dgm:pt modelId="{9EB5C41A-FBC1-4D16-9554-ABDBED493D58}" type="parTrans" cxnId="{97620E2F-4DB4-43F1-AFFF-2B80223454D7}">
      <dgm:prSet/>
      <dgm:spPr/>
      <dgm:t>
        <a:bodyPr/>
        <a:lstStyle/>
        <a:p>
          <a:endParaRPr lang="zh-CN" altLang="en-US"/>
        </a:p>
      </dgm:t>
    </dgm:pt>
    <dgm:pt modelId="{274C15D3-7322-4136-B3A1-56F4AC850375}" type="sibTrans" cxnId="{97620E2F-4DB4-43F1-AFFF-2B80223454D7}">
      <dgm:prSet/>
      <dgm:spPr/>
      <dgm:t>
        <a:bodyPr/>
        <a:lstStyle/>
        <a:p>
          <a:endParaRPr lang="zh-CN" altLang="en-US"/>
        </a:p>
      </dgm:t>
    </dgm:pt>
    <dgm:pt modelId="{E6D7F503-79EA-4677-9BFD-D12A92F7A31C}">
      <dgm:prSet/>
      <dgm:spPr/>
      <dgm:t>
        <a:bodyPr/>
        <a:lstStyle/>
        <a:p>
          <a:r>
            <a:rPr lang="zh-CN" dirty="0"/>
            <a:t>维度</a:t>
          </a:r>
          <a:r>
            <a:rPr lang="en-US" dirty="0"/>
            <a:t>3</a:t>
          </a:r>
          <a:endParaRPr lang="zh-CN" dirty="0"/>
        </a:p>
      </dgm:t>
    </dgm:pt>
    <dgm:pt modelId="{BB95CAC0-F8EE-4344-99E6-235EA59F03BB}" type="parTrans" cxnId="{7650666C-5725-4202-8DC8-8154E00197F3}">
      <dgm:prSet/>
      <dgm:spPr/>
      <dgm:t>
        <a:bodyPr/>
        <a:lstStyle/>
        <a:p>
          <a:endParaRPr lang="zh-CN" altLang="en-US"/>
        </a:p>
      </dgm:t>
    </dgm:pt>
    <dgm:pt modelId="{62C6CF20-1C13-4066-B393-046EED92FBC9}" type="sibTrans" cxnId="{7650666C-5725-4202-8DC8-8154E00197F3}">
      <dgm:prSet/>
      <dgm:spPr/>
      <dgm:t>
        <a:bodyPr/>
        <a:lstStyle/>
        <a:p>
          <a:endParaRPr lang="zh-CN" altLang="en-US"/>
        </a:p>
      </dgm:t>
    </dgm:pt>
    <dgm:pt modelId="{9FF59FCF-A083-4ADD-A79C-7835B76CADB9}">
      <dgm:prSet/>
      <dgm:spPr/>
      <dgm:t>
        <a:bodyPr/>
        <a:lstStyle/>
        <a:p>
          <a:r>
            <a:rPr lang="zh-CN" altLang="en-US" dirty="0"/>
            <a:t>维度</a:t>
          </a:r>
          <a:r>
            <a:rPr lang="en-US" altLang="zh-CN" dirty="0"/>
            <a:t>…..n</a:t>
          </a:r>
          <a:endParaRPr lang="zh-CN" dirty="0"/>
        </a:p>
      </dgm:t>
    </dgm:pt>
    <dgm:pt modelId="{080FB9FE-CD8C-498C-9CB8-0FE07EC03F3F}" type="parTrans" cxnId="{8C1E9521-07CA-4756-8D48-80B3EE92567F}">
      <dgm:prSet/>
      <dgm:spPr/>
      <dgm:t>
        <a:bodyPr/>
        <a:lstStyle/>
        <a:p>
          <a:endParaRPr lang="zh-CN" altLang="en-US"/>
        </a:p>
      </dgm:t>
    </dgm:pt>
    <dgm:pt modelId="{FA6BC42D-C388-4E1D-B05C-E49A47E34DBD}" type="sibTrans" cxnId="{8C1E9521-07CA-4756-8D48-80B3EE92567F}">
      <dgm:prSet/>
      <dgm:spPr/>
      <dgm:t>
        <a:bodyPr/>
        <a:lstStyle/>
        <a:p>
          <a:endParaRPr lang="zh-CN" altLang="en-US"/>
        </a:p>
      </dgm:t>
    </dgm:pt>
    <dgm:pt modelId="{9316E17B-4809-44C8-9466-217214F3808D}" type="pres">
      <dgm:prSet presAssocID="{BC1EAC1D-FBF5-422C-83AE-02E5E7BC735B}" presName="Name0" presStyleCnt="0">
        <dgm:presLayoutVars>
          <dgm:chPref val="1"/>
          <dgm:dir/>
          <dgm:animOne val="branch"/>
          <dgm:animLvl val="lvl"/>
          <dgm:resizeHandles val="exact"/>
        </dgm:presLayoutVars>
      </dgm:prSet>
      <dgm:spPr/>
    </dgm:pt>
    <dgm:pt modelId="{21C4873A-8667-43E2-9485-A3ACFD1D62B9}" type="pres">
      <dgm:prSet presAssocID="{4D0E73C8-016F-46AE-A343-A4B4007B0EC3}" presName="root1" presStyleCnt="0"/>
      <dgm:spPr/>
    </dgm:pt>
    <dgm:pt modelId="{8A084EB8-76C1-479D-ABBB-821AC3A0C1D3}" type="pres">
      <dgm:prSet presAssocID="{4D0E73C8-016F-46AE-A343-A4B4007B0EC3}" presName="LevelOneTextNode" presStyleLbl="node0" presStyleIdx="0" presStyleCnt="1">
        <dgm:presLayoutVars>
          <dgm:chPref val="3"/>
        </dgm:presLayoutVars>
      </dgm:prSet>
      <dgm:spPr/>
    </dgm:pt>
    <dgm:pt modelId="{EFCE2038-7E88-40F9-8618-E74E9EC204F3}" type="pres">
      <dgm:prSet presAssocID="{4D0E73C8-016F-46AE-A343-A4B4007B0EC3}" presName="level2hierChild" presStyleCnt="0"/>
      <dgm:spPr/>
    </dgm:pt>
    <dgm:pt modelId="{02182DB4-8CE3-459C-B6C0-9CB5DC71479B}" type="pres">
      <dgm:prSet presAssocID="{A9F4C3D9-3557-4CAB-AAAF-AAED4E44A2B5}" presName="conn2-1" presStyleLbl="parChTrans1D2" presStyleIdx="0" presStyleCnt="4"/>
      <dgm:spPr/>
    </dgm:pt>
    <dgm:pt modelId="{66DE2959-D9B6-4E79-9746-0EFC3BCBC19D}" type="pres">
      <dgm:prSet presAssocID="{A9F4C3D9-3557-4CAB-AAAF-AAED4E44A2B5}" presName="connTx" presStyleLbl="parChTrans1D2" presStyleIdx="0" presStyleCnt="4"/>
      <dgm:spPr/>
    </dgm:pt>
    <dgm:pt modelId="{1A7E0058-4A52-402C-A4B4-57756FAF6743}" type="pres">
      <dgm:prSet presAssocID="{8C2A3439-D190-48EE-BF9B-57A1589134E8}" presName="root2" presStyleCnt="0"/>
      <dgm:spPr/>
    </dgm:pt>
    <dgm:pt modelId="{D327265F-B942-4B43-A502-D10FFEA12F73}" type="pres">
      <dgm:prSet presAssocID="{8C2A3439-D190-48EE-BF9B-57A1589134E8}" presName="LevelTwoTextNode" presStyleLbl="node2" presStyleIdx="0" presStyleCnt="4">
        <dgm:presLayoutVars>
          <dgm:chPref val="3"/>
        </dgm:presLayoutVars>
      </dgm:prSet>
      <dgm:spPr/>
    </dgm:pt>
    <dgm:pt modelId="{E8E36F7C-37E1-4069-8883-49CD86D62220}" type="pres">
      <dgm:prSet presAssocID="{8C2A3439-D190-48EE-BF9B-57A1589134E8}" presName="level3hierChild" presStyleCnt="0"/>
      <dgm:spPr/>
    </dgm:pt>
    <dgm:pt modelId="{8693A490-7F8B-45EB-8ABA-62C345D97B2B}" type="pres">
      <dgm:prSet presAssocID="{9EB5C41A-FBC1-4D16-9554-ABDBED493D58}" presName="conn2-1" presStyleLbl="parChTrans1D2" presStyleIdx="1" presStyleCnt="4"/>
      <dgm:spPr/>
    </dgm:pt>
    <dgm:pt modelId="{DA3757F0-C76A-43BF-BB36-78A804971A2D}" type="pres">
      <dgm:prSet presAssocID="{9EB5C41A-FBC1-4D16-9554-ABDBED493D58}" presName="connTx" presStyleLbl="parChTrans1D2" presStyleIdx="1" presStyleCnt="4"/>
      <dgm:spPr/>
    </dgm:pt>
    <dgm:pt modelId="{4E70CE55-4684-45EC-9BB4-114C45567522}" type="pres">
      <dgm:prSet presAssocID="{33D7E657-5381-4B86-AC8F-D1233F63B0E0}" presName="root2" presStyleCnt="0"/>
      <dgm:spPr/>
    </dgm:pt>
    <dgm:pt modelId="{CDD08F04-9859-46B0-AD62-E025CBE48998}" type="pres">
      <dgm:prSet presAssocID="{33D7E657-5381-4B86-AC8F-D1233F63B0E0}" presName="LevelTwoTextNode" presStyleLbl="node2" presStyleIdx="1" presStyleCnt="4">
        <dgm:presLayoutVars>
          <dgm:chPref val="3"/>
        </dgm:presLayoutVars>
      </dgm:prSet>
      <dgm:spPr/>
    </dgm:pt>
    <dgm:pt modelId="{F07EB07B-6EC3-4AAA-AD7E-F139A1F1B1EF}" type="pres">
      <dgm:prSet presAssocID="{33D7E657-5381-4B86-AC8F-D1233F63B0E0}" presName="level3hierChild" presStyleCnt="0"/>
      <dgm:spPr/>
    </dgm:pt>
    <dgm:pt modelId="{CD1E3767-A381-4B03-AC88-F10F736702EF}" type="pres">
      <dgm:prSet presAssocID="{BB95CAC0-F8EE-4344-99E6-235EA59F03BB}" presName="conn2-1" presStyleLbl="parChTrans1D2" presStyleIdx="2" presStyleCnt="4"/>
      <dgm:spPr/>
    </dgm:pt>
    <dgm:pt modelId="{1ACF5E9D-0FAA-4B59-B8B1-16B02EE6F726}" type="pres">
      <dgm:prSet presAssocID="{BB95CAC0-F8EE-4344-99E6-235EA59F03BB}" presName="connTx" presStyleLbl="parChTrans1D2" presStyleIdx="2" presStyleCnt="4"/>
      <dgm:spPr/>
    </dgm:pt>
    <dgm:pt modelId="{BCCA3DFD-0047-4AAE-8EB7-1560B537DDA4}" type="pres">
      <dgm:prSet presAssocID="{E6D7F503-79EA-4677-9BFD-D12A92F7A31C}" presName="root2" presStyleCnt="0"/>
      <dgm:spPr/>
    </dgm:pt>
    <dgm:pt modelId="{3EB37757-FBE5-45BC-AFB0-99E6600D6278}" type="pres">
      <dgm:prSet presAssocID="{E6D7F503-79EA-4677-9BFD-D12A92F7A31C}" presName="LevelTwoTextNode" presStyleLbl="node2" presStyleIdx="2" presStyleCnt="4">
        <dgm:presLayoutVars>
          <dgm:chPref val="3"/>
        </dgm:presLayoutVars>
      </dgm:prSet>
      <dgm:spPr/>
    </dgm:pt>
    <dgm:pt modelId="{97CB6D7B-B43C-42BD-ADC7-2C7691BE2D46}" type="pres">
      <dgm:prSet presAssocID="{E6D7F503-79EA-4677-9BFD-D12A92F7A31C}" presName="level3hierChild" presStyleCnt="0"/>
      <dgm:spPr/>
    </dgm:pt>
    <dgm:pt modelId="{9790859D-8C61-4AF6-B203-2D322A6E5352}" type="pres">
      <dgm:prSet presAssocID="{080FB9FE-CD8C-498C-9CB8-0FE07EC03F3F}" presName="conn2-1" presStyleLbl="parChTrans1D2" presStyleIdx="3" presStyleCnt="4"/>
      <dgm:spPr/>
    </dgm:pt>
    <dgm:pt modelId="{5EFECBB7-6398-44D6-A5EB-025DBB843910}" type="pres">
      <dgm:prSet presAssocID="{080FB9FE-CD8C-498C-9CB8-0FE07EC03F3F}" presName="connTx" presStyleLbl="parChTrans1D2" presStyleIdx="3" presStyleCnt="4"/>
      <dgm:spPr/>
    </dgm:pt>
    <dgm:pt modelId="{25BC1211-4860-4022-8197-C9D89C0B1A69}" type="pres">
      <dgm:prSet presAssocID="{9FF59FCF-A083-4ADD-A79C-7835B76CADB9}" presName="root2" presStyleCnt="0"/>
      <dgm:spPr/>
    </dgm:pt>
    <dgm:pt modelId="{14991D58-8D8C-4EA2-B08C-6DDC48E96B6F}" type="pres">
      <dgm:prSet presAssocID="{9FF59FCF-A083-4ADD-A79C-7835B76CADB9}" presName="LevelTwoTextNode" presStyleLbl="node2" presStyleIdx="3" presStyleCnt="4">
        <dgm:presLayoutVars>
          <dgm:chPref val="3"/>
        </dgm:presLayoutVars>
      </dgm:prSet>
      <dgm:spPr/>
    </dgm:pt>
    <dgm:pt modelId="{C9C45E51-61F2-4745-B372-0B4F420CE5DE}" type="pres">
      <dgm:prSet presAssocID="{9FF59FCF-A083-4ADD-A79C-7835B76CADB9}" presName="level3hierChild" presStyleCnt="0"/>
      <dgm:spPr/>
    </dgm:pt>
  </dgm:ptLst>
  <dgm:cxnLst>
    <dgm:cxn modelId="{04D96209-EFEA-4716-A35B-39780C60C42B}" type="presOf" srcId="{BB95CAC0-F8EE-4344-99E6-235EA59F03BB}" destId="{1ACF5E9D-0FAA-4B59-B8B1-16B02EE6F726}" srcOrd="1" destOrd="0" presId="urn:microsoft.com/office/officeart/2008/layout/HorizontalMultiLevelHierarchy"/>
    <dgm:cxn modelId="{8C1E9521-07CA-4756-8D48-80B3EE92567F}" srcId="{4D0E73C8-016F-46AE-A343-A4B4007B0EC3}" destId="{9FF59FCF-A083-4ADD-A79C-7835B76CADB9}" srcOrd="3" destOrd="0" parTransId="{080FB9FE-CD8C-498C-9CB8-0FE07EC03F3F}" sibTransId="{FA6BC42D-C388-4E1D-B05C-E49A47E34DBD}"/>
    <dgm:cxn modelId="{97620E2F-4DB4-43F1-AFFF-2B80223454D7}" srcId="{4D0E73C8-016F-46AE-A343-A4B4007B0EC3}" destId="{33D7E657-5381-4B86-AC8F-D1233F63B0E0}" srcOrd="1" destOrd="0" parTransId="{9EB5C41A-FBC1-4D16-9554-ABDBED493D58}" sibTransId="{274C15D3-7322-4136-B3A1-56F4AC850375}"/>
    <dgm:cxn modelId="{6ACDD230-B6C2-4C78-B91E-1A0C2E8680E1}" srcId="{BC1EAC1D-FBF5-422C-83AE-02E5E7BC735B}" destId="{4D0E73C8-016F-46AE-A343-A4B4007B0EC3}" srcOrd="0" destOrd="0" parTransId="{D59E36EF-1B51-4655-87BB-EDD418BC73D8}" sibTransId="{E4BF4CFC-BEB5-466E-8A79-19761F3F1A05}"/>
    <dgm:cxn modelId="{7CECBC36-4398-4A99-9E04-91ACB4618D09}" type="presOf" srcId="{BC1EAC1D-FBF5-422C-83AE-02E5E7BC735B}" destId="{9316E17B-4809-44C8-9466-217214F3808D}" srcOrd="0" destOrd="0" presId="urn:microsoft.com/office/officeart/2008/layout/HorizontalMultiLevelHierarchy"/>
    <dgm:cxn modelId="{98B4463F-4903-4F21-A460-ACA8672D9322}" type="presOf" srcId="{A9F4C3D9-3557-4CAB-AAAF-AAED4E44A2B5}" destId="{02182DB4-8CE3-459C-B6C0-9CB5DC71479B}" srcOrd="0" destOrd="0" presId="urn:microsoft.com/office/officeart/2008/layout/HorizontalMultiLevelHierarchy"/>
    <dgm:cxn modelId="{C4348A45-EB10-4933-A4FC-4E833B7DFD1B}" type="presOf" srcId="{E6D7F503-79EA-4677-9BFD-D12A92F7A31C}" destId="{3EB37757-FBE5-45BC-AFB0-99E6600D6278}" srcOrd="0" destOrd="0" presId="urn:microsoft.com/office/officeart/2008/layout/HorizontalMultiLevelHierarchy"/>
    <dgm:cxn modelId="{7650666C-5725-4202-8DC8-8154E00197F3}" srcId="{4D0E73C8-016F-46AE-A343-A4B4007B0EC3}" destId="{E6D7F503-79EA-4677-9BFD-D12A92F7A31C}" srcOrd="2" destOrd="0" parTransId="{BB95CAC0-F8EE-4344-99E6-235EA59F03BB}" sibTransId="{62C6CF20-1C13-4066-B393-046EED92FBC9}"/>
    <dgm:cxn modelId="{704F505A-F516-426A-AD3B-06A3F33199E0}" type="presOf" srcId="{33D7E657-5381-4B86-AC8F-D1233F63B0E0}" destId="{CDD08F04-9859-46B0-AD62-E025CBE48998}" srcOrd="0" destOrd="0" presId="urn:microsoft.com/office/officeart/2008/layout/HorizontalMultiLevelHierarchy"/>
    <dgm:cxn modelId="{8B72DF7A-BB5A-43CC-BB0A-9EE4B08EBCD4}" srcId="{4D0E73C8-016F-46AE-A343-A4B4007B0EC3}" destId="{8C2A3439-D190-48EE-BF9B-57A1589134E8}" srcOrd="0" destOrd="0" parTransId="{A9F4C3D9-3557-4CAB-AAAF-AAED4E44A2B5}" sibTransId="{3BCD7D25-2F28-492A-904D-F55660FCCCC5}"/>
    <dgm:cxn modelId="{9A0F8689-245B-474F-A7C5-A85F29F49A16}" type="presOf" srcId="{8C2A3439-D190-48EE-BF9B-57A1589134E8}" destId="{D327265F-B942-4B43-A502-D10FFEA12F73}" srcOrd="0" destOrd="0" presId="urn:microsoft.com/office/officeart/2008/layout/HorizontalMultiLevelHierarchy"/>
    <dgm:cxn modelId="{7F1FD491-888B-4A2B-B629-4C2BC19D3EAE}" type="presOf" srcId="{4D0E73C8-016F-46AE-A343-A4B4007B0EC3}" destId="{8A084EB8-76C1-479D-ABBB-821AC3A0C1D3}" srcOrd="0" destOrd="0" presId="urn:microsoft.com/office/officeart/2008/layout/HorizontalMultiLevelHierarchy"/>
    <dgm:cxn modelId="{24189F97-8CDE-4C1B-8BB9-D9CDFE024A22}" type="presOf" srcId="{A9F4C3D9-3557-4CAB-AAAF-AAED4E44A2B5}" destId="{66DE2959-D9B6-4E79-9746-0EFC3BCBC19D}" srcOrd="1" destOrd="0" presId="urn:microsoft.com/office/officeart/2008/layout/HorizontalMultiLevelHierarchy"/>
    <dgm:cxn modelId="{DD755AB2-7FAC-4D0D-87D4-8A99F338F6D6}" type="presOf" srcId="{BB95CAC0-F8EE-4344-99E6-235EA59F03BB}" destId="{CD1E3767-A381-4B03-AC88-F10F736702EF}" srcOrd="0" destOrd="0" presId="urn:microsoft.com/office/officeart/2008/layout/HorizontalMultiLevelHierarchy"/>
    <dgm:cxn modelId="{778894B4-9D50-4858-B665-5AAD644C33D7}" type="presOf" srcId="{9FF59FCF-A083-4ADD-A79C-7835B76CADB9}" destId="{14991D58-8D8C-4EA2-B08C-6DDC48E96B6F}" srcOrd="0" destOrd="0" presId="urn:microsoft.com/office/officeart/2008/layout/HorizontalMultiLevelHierarchy"/>
    <dgm:cxn modelId="{938B57C3-60E3-4B9E-9736-AE344E6D84DA}" type="presOf" srcId="{9EB5C41A-FBC1-4D16-9554-ABDBED493D58}" destId="{8693A490-7F8B-45EB-8ABA-62C345D97B2B}" srcOrd="0" destOrd="0" presId="urn:microsoft.com/office/officeart/2008/layout/HorizontalMultiLevelHierarchy"/>
    <dgm:cxn modelId="{60B1F8C8-A4CD-4389-97C5-82E8EFE84ECB}" type="presOf" srcId="{9EB5C41A-FBC1-4D16-9554-ABDBED493D58}" destId="{DA3757F0-C76A-43BF-BB36-78A804971A2D}" srcOrd="1" destOrd="0" presId="urn:microsoft.com/office/officeart/2008/layout/HorizontalMultiLevelHierarchy"/>
    <dgm:cxn modelId="{1D28EBDA-FE60-4185-B8AB-65EEEF7F33B3}" type="presOf" srcId="{080FB9FE-CD8C-498C-9CB8-0FE07EC03F3F}" destId="{5EFECBB7-6398-44D6-A5EB-025DBB843910}" srcOrd="1" destOrd="0" presId="urn:microsoft.com/office/officeart/2008/layout/HorizontalMultiLevelHierarchy"/>
    <dgm:cxn modelId="{7EDF66F6-2B63-4A89-93AE-96CBFCAF5107}" type="presOf" srcId="{080FB9FE-CD8C-498C-9CB8-0FE07EC03F3F}" destId="{9790859D-8C61-4AF6-B203-2D322A6E5352}" srcOrd="0" destOrd="0" presId="urn:microsoft.com/office/officeart/2008/layout/HorizontalMultiLevelHierarchy"/>
    <dgm:cxn modelId="{69A07687-6CD0-4AB7-8FFD-814009EC175E}" type="presParOf" srcId="{9316E17B-4809-44C8-9466-217214F3808D}" destId="{21C4873A-8667-43E2-9485-A3ACFD1D62B9}" srcOrd="0" destOrd="0" presId="urn:microsoft.com/office/officeart/2008/layout/HorizontalMultiLevelHierarchy"/>
    <dgm:cxn modelId="{7983ED05-CCEE-45C6-8830-DD847419F7AE}" type="presParOf" srcId="{21C4873A-8667-43E2-9485-A3ACFD1D62B9}" destId="{8A084EB8-76C1-479D-ABBB-821AC3A0C1D3}" srcOrd="0" destOrd="0" presId="urn:microsoft.com/office/officeart/2008/layout/HorizontalMultiLevelHierarchy"/>
    <dgm:cxn modelId="{36816416-D8FA-4817-AD99-017031BB5611}" type="presParOf" srcId="{21C4873A-8667-43E2-9485-A3ACFD1D62B9}" destId="{EFCE2038-7E88-40F9-8618-E74E9EC204F3}" srcOrd="1" destOrd="0" presId="urn:microsoft.com/office/officeart/2008/layout/HorizontalMultiLevelHierarchy"/>
    <dgm:cxn modelId="{32D854F4-2849-4E63-AE0C-C1454BDEB591}" type="presParOf" srcId="{EFCE2038-7E88-40F9-8618-E74E9EC204F3}" destId="{02182DB4-8CE3-459C-B6C0-9CB5DC71479B}" srcOrd="0" destOrd="0" presId="urn:microsoft.com/office/officeart/2008/layout/HorizontalMultiLevelHierarchy"/>
    <dgm:cxn modelId="{31F15300-E4D1-4CD5-B2FE-B2A5874E60E0}" type="presParOf" srcId="{02182DB4-8CE3-459C-B6C0-9CB5DC71479B}" destId="{66DE2959-D9B6-4E79-9746-0EFC3BCBC19D}" srcOrd="0" destOrd="0" presId="urn:microsoft.com/office/officeart/2008/layout/HorizontalMultiLevelHierarchy"/>
    <dgm:cxn modelId="{D208194C-7393-41E1-BB91-BFFB60ED29DE}" type="presParOf" srcId="{EFCE2038-7E88-40F9-8618-E74E9EC204F3}" destId="{1A7E0058-4A52-402C-A4B4-57756FAF6743}" srcOrd="1" destOrd="0" presId="urn:microsoft.com/office/officeart/2008/layout/HorizontalMultiLevelHierarchy"/>
    <dgm:cxn modelId="{FA8874C5-D00B-4948-86D6-F9E3E4AD68F5}" type="presParOf" srcId="{1A7E0058-4A52-402C-A4B4-57756FAF6743}" destId="{D327265F-B942-4B43-A502-D10FFEA12F73}" srcOrd="0" destOrd="0" presId="urn:microsoft.com/office/officeart/2008/layout/HorizontalMultiLevelHierarchy"/>
    <dgm:cxn modelId="{55A43E06-9121-40A6-A484-6943A4418105}" type="presParOf" srcId="{1A7E0058-4A52-402C-A4B4-57756FAF6743}" destId="{E8E36F7C-37E1-4069-8883-49CD86D62220}" srcOrd="1" destOrd="0" presId="urn:microsoft.com/office/officeart/2008/layout/HorizontalMultiLevelHierarchy"/>
    <dgm:cxn modelId="{41F8D3F7-62E7-4480-AB24-6C7D3B25449B}" type="presParOf" srcId="{EFCE2038-7E88-40F9-8618-E74E9EC204F3}" destId="{8693A490-7F8B-45EB-8ABA-62C345D97B2B}" srcOrd="2" destOrd="0" presId="urn:microsoft.com/office/officeart/2008/layout/HorizontalMultiLevelHierarchy"/>
    <dgm:cxn modelId="{F8DF1AAD-10F8-4FC1-8183-AA95D9A8CA17}" type="presParOf" srcId="{8693A490-7F8B-45EB-8ABA-62C345D97B2B}" destId="{DA3757F0-C76A-43BF-BB36-78A804971A2D}" srcOrd="0" destOrd="0" presId="urn:microsoft.com/office/officeart/2008/layout/HorizontalMultiLevelHierarchy"/>
    <dgm:cxn modelId="{4D5BA402-829B-463D-BCE9-D809DA356FAC}" type="presParOf" srcId="{EFCE2038-7E88-40F9-8618-E74E9EC204F3}" destId="{4E70CE55-4684-45EC-9BB4-114C45567522}" srcOrd="3" destOrd="0" presId="urn:microsoft.com/office/officeart/2008/layout/HorizontalMultiLevelHierarchy"/>
    <dgm:cxn modelId="{1E59C036-D4C1-4B1C-A347-DAB8235A57EF}" type="presParOf" srcId="{4E70CE55-4684-45EC-9BB4-114C45567522}" destId="{CDD08F04-9859-46B0-AD62-E025CBE48998}" srcOrd="0" destOrd="0" presId="urn:microsoft.com/office/officeart/2008/layout/HorizontalMultiLevelHierarchy"/>
    <dgm:cxn modelId="{9391948E-F9F8-4AD1-852B-C0E21515746D}" type="presParOf" srcId="{4E70CE55-4684-45EC-9BB4-114C45567522}" destId="{F07EB07B-6EC3-4AAA-AD7E-F139A1F1B1EF}" srcOrd="1" destOrd="0" presId="urn:microsoft.com/office/officeart/2008/layout/HorizontalMultiLevelHierarchy"/>
    <dgm:cxn modelId="{D4DB7DAC-14B6-4186-A484-1A2626B74CAB}" type="presParOf" srcId="{EFCE2038-7E88-40F9-8618-E74E9EC204F3}" destId="{CD1E3767-A381-4B03-AC88-F10F736702EF}" srcOrd="4" destOrd="0" presId="urn:microsoft.com/office/officeart/2008/layout/HorizontalMultiLevelHierarchy"/>
    <dgm:cxn modelId="{D1F267CC-1CE5-4F3B-A3A8-6B0E846166C7}" type="presParOf" srcId="{CD1E3767-A381-4B03-AC88-F10F736702EF}" destId="{1ACF5E9D-0FAA-4B59-B8B1-16B02EE6F726}" srcOrd="0" destOrd="0" presId="urn:microsoft.com/office/officeart/2008/layout/HorizontalMultiLevelHierarchy"/>
    <dgm:cxn modelId="{E5B0F634-6CB0-48A9-9D22-3CDD12E53C42}" type="presParOf" srcId="{EFCE2038-7E88-40F9-8618-E74E9EC204F3}" destId="{BCCA3DFD-0047-4AAE-8EB7-1560B537DDA4}" srcOrd="5" destOrd="0" presId="urn:microsoft.com/office/officeart/2008/layout/HorizontalMultiLevelHierarchy"/>
    <dgm:cxn modelId="{3C66CF4E-7BF5-45FD-B9B3-904ADC8CFF7E}" type="presParOf" srcId="{BCCA3DFD-0047-4AAE-8EB7-1560B537DDA4}" destId="{3EB37757-FBE5-45BC-AFB0-99E6600D6278}" srcOrd="0" destOrd="0" presId="urn:microsoft.com/office/officeart/2008/layout/HorizontalMultiLevelHierarchy"/>
    <dgm:cxn modelId="{8B5377AD-7FEB-48A7-A549-E31D5DE26C4A}" type="presParOf" srcId="{BCCA3DFD-0047-4AAE-8EB7-1560B537DDA4}" destId="{97CB6D7B-B43C-42BD-ADC7-2C7691BE2D46}" srcOrd="1" destOrd="0" presId="urn:microsoft.com/office/officeart/2008/layout/HorizontalMultiLevelHierarchy"/>
    <dgm:cxn modelId="{76EFB8A5-0486-4691-8D66-E110B05CE8AC}" type="presParOf" srcId="{EFCE2038-7E88-40F9-8618-E74E9EC204F3}" destId="{9790859D-8C61-4AF6-B203-2D322A6E5352}" srcOrd="6" destOrd="0" presId="urn:microsoft.com/office/officeart/2008/layout/HorizontalMultiLevelHierarchy"/>
    <dgm:cxn modelId="{D501F0B0-65CD-4768-BE0B-FD3C8E352E45}" type="presParOf" srcId="{9790859D-8C61-4AF6-B203-2D322A6E5352}" destId="{5EFECBB7-6398-44D6-A5EB-025DBB843910}" srcOrd="0" destOrd="0" presId="urn:microsoft.com/office/officeart/2008/layout/HorizontalMultiLevelHierarchy"/>
    <dgm:cxn modelId="{7F2030F1-3FC3-4683-A9AB-9E1E78978CBE}" type="presParOf" srcId="{EFCE2038-7E88-40F9-8618-E74E9EC204F3}" destId="{25BC1211-4860-4022-8197-C9D89C0B1A69}" srcOrd="7" destOrd="0" presId="urn:microsoft.com/office/officeart/2008/layout/HorizontalMultiLevelHierarchy"/>
    <dgm:cxn modelId="{21C49179-4AE6-41DB-BD85-DC93D775F9D2}" type="presParOf" srcId="{25BC1211-4860-4022-8197-C9D89C0B1A69}" destId="{14991D58-8D8C-4EA2-B08C-6DDC48E96B6F}" srcOrd="0" destOrd="0" presId="urn:microsoft.com/office/officeart/2008/layout/HorizontalMultiLevelHierarchy"/>
    <dgm:cxn modelId="{CC6CBD06-25DA-4294-8FBE-966431E8DFA3}" type="presParOf" srcId="{25BC1211-4860-4022-8197-C9D89C0B1A69}" destId="{C9C45E51-61F2-4745-B372-0B4F420CE5DE}" srcOrd="1" destOrd="0" presId="urn:microsoft.com/office/officeart/2008/layout/HorizontalMultiLevelHierarchy"/>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88F8849F-6985-4982-8428-C6D7867A0033}" type="doc">
      <dgm:prSet loTypeId="urn:microsoft.com/office/officeart/2005/8/layout/radial1" loCatId="cycle" qsTypeId="urn:microsoft.com/office/officeart/2005/8/quickstyle/simple1" qsCatId="simple" csTypeId="urn:microsoft.com/office/officeart/2005/8/colors/accent1_2" csCatId="accent1" phldr="1"/>
      <dgm:spPr/>
      <dgm:t>
        <a:bodyPr/>
        <a:lstStyle/>
        <a:p>
          <a:endParaRPr lang="zh-CN" altLang="en-US"/>
        </a:p>
      </dgm:t>
    </dgm:pt>
    <dgm:pt modelId="{D1DCCCD1-4E27-4929-ADDB-02ABAF52977E}">
      <dgm:prSet phldrT="[文本]" custT="1"/>
      <dgm:spPr>
        <a:solidFill>
          <a:srgbClr val="002060">
            <a:alpha val="75000"/>
          </a:srgbClr>
        </a:solidFill>
        <a:ln>
          <a:noFill/>
        </a:ln>
        <a:scene3d>
          <a:camera prst="orthographicFront"/>
          <a:lightRig rig="threePt" dir="t"/>
        </a:scene3d>
        <a:sp3d>
          <a:bevelT prst="angle"/>
        </a:sp3d>
      </dgm:spPr>
      <dgm:t>
        <a:bodyPr/>
        <a:lstStyle/>
        <a:p>
          <a:r>
            <a:rPr lang="zh-CN" altLang="en-US" sz="1400" b="1" dirty="0">
              <a:solidFill>
                <a:schemeClr val="bg1"/>
              </a:solidFill>
            </a:rPr>
            <a:t>智能计划与控制</a:t>
          </a:r>
        </a:p>
      </dgm:t>
    </dgm:pt>
    <dgm:pt modelId="{8113AC7B-E38B-419C-ACE9-CE8F542A8FB7}" type="parTrans" cxnId="{BE4111FA-CDF5-4443-BDEC-4027DCFB4056}">
      <dgm:prSet/>
      <dgm:spPr/>
      <dgm:t>
        <a:bodyPr/>
        <a:lstStyle/>
        <a:p>
          <a:endParaRPr lang="zh-CN" altLang="en-US">
            <a:solidFill>
              <a:schemeClr val="bg1"/>
            </a:solidFill>
          </a:endParaRPr>
        </a:p>
      </dgm:t>
    </dgm:pt>
    <dgm:pt modelId="{DD585A42-4E8C-49CC-8AA7-83F3FC730A23}" type="sibTrans" cxnId="{BE4111FA-CDF5-4443-BDEC-4027DCFB4056}">
      <dgm:prSet/>
      <dgm:spPr/>
      <dgm:t>
        <a:bodyPr/>
        <a:lstStyle/>
        <a:p>
          <a:endParaRPr lang="zh-CN" altLang="en-US">
            <a:solidFill>
              <a:schemeClr val="bg1"/>
            </a:solidFill>
          </a:endParaRPr>
        </a:p>
      </dgm:t>
    </dgm:pt>
    <dgm:pt modelId="{F56368E7-7D70-4179-828A-72B9C69B4DBB}">
      <dgm:prSet phldrT="[文本]"/>
      <dgm:spPr/>
      <dgm:t>
        <a:bodyPr/>
        <a:lstStyle/>
        <a:p>
          <a:r>
            <a:rPr lang="zh-CN" altLang="en-US" dirty="0">
              <a:solidFill>
                <a:schemeClr val="bg1"/>
              </a:solidFill>
            </a:rPr>
            <a:t>横向协同</a:t>
          </a:r>
        </a:p>
      </dgm:t>
    </dgm:pt>
    <dgm:pt modelId="{ACD66AAE-437F-4A7C-AF0E-ED0E09C9FBFD}" type="parTrans" cxnId="{90E3C1CE-5C3D-4FD5-8F5A-3CDB7760B116}">
      <dgm:prSet/>
      <dgm:spPr/>
      <dgm:t>
        <a:bodyPr/>
        <a:lstStyle/>
        <a:p>
          <a:endParaRPr lang="zh-CN" altLang="en-US">
            <a:solidFill>
              <a:schemeClr val="bg1"/>
            </a:solidFill>
          </a:endParaRPr>
        </a:p>
      </dgm:t>
    </dgm:pt>
    <dgm:pt modelId="{233A7C43-A600-4618-8B72-6E03158BF12B}" type="sibTrans" cxnId="{90E3C1CE-5C3D-4FD5-8F5A-3CDB7760B116}">
      <dgm:prSet/>
      <dgm:spPr/>
      <dgm:t>
        <a:bodyPr/>
        <a:lstStyle/>
        <a:p>
          <a:endParaRPr lang="zh-CN" altLang="en-US">
            <a:solidFill>
              <a:schemeClr val="bg1"/>
            </a:solidFill>
          </a:endParaRPr>
        </a:p>
      </dgm:t>
    </dgm:pt>
    <dgm:pt modelId="{991ECA65-5A91-40E6-9F8E-F0C9F03D9C9C}">
      <dgm:prSet phldrT="[文本]"/>
      <dgm:spPr/>
      <dgm:t>
        <a:bodyPr/>
        <a:lstStyle/>
        <a:p>
          <a:r>
            <a:rPr lang="zh-CN" altLang="en-US" dirty="0">
              <a:solidFill>
                <a:schemeClr val="bg1"/>
              </a:solidFill>
            </a:rPr>
            <a:t>纵向协同</a:t>
          </a:r>
        </a:p>
      </dgm:t>
    </dgm:pt>
    <dgm:pt modelId="{2B5EB66F-5921-467D-BA43-3A2FC9E6DF52}" type="parTrans" cxnId="{74A90562-3421-4329-86B2-3B9812737E1D}">
      <dgm:prSet/>
      <dgm:spPr/>
      <dgm:t>
        <a:bodyPr/>
        <a:lstStyle/>
        <a:p>
          <a:endParaRPr lang="zh-CN" altLang="en-US">
            <a:solidFill>
              <a:schemeClr val="bg1"/>
            </a:solidFill>
          </a:endParaRPr>
        </a:p>
      </dgm:t>
    </dgm:pt>
    <dgm:pt modelId="{3A7374A8-1B89-40E9-AF5D-6C3C32762B73}" type="sibTrans" cxnId="{74A90562-3421-4329-86B2-3B9812737E1D}">
      <dgm:prSet/>
      <dgm:spPr/>
      <dgm:t>
        <a:bodyPr/>
        <a:lstStyle/>
        <a:p>
          <a:endParaRPr lang="zh-CN" altLang="en-US">
            <a:solidFill>
              <a:schemeClr val="bg1"/>
            </a:solidFill>
          </a:endParaRPr>
        </a:p>
      </dgm:t>
    </dgm:pt>
    <dgm:pt modelId="{42653BB5-19E2-414E-A79D-DF4028FDBFCF}">
      <dgm:prSet phldrT="[文本]"/>
      <dgm:spPr/>
      <dgm:t>
        <a:bodyPr/>
        <a:lstStyle/>
        <a:p>
          <a:r>
            <a:rPr lang="zh-CN" altLang="en-US" dirty="0">
              <a:solidFill>
                <a:schemeClr val="bg1"/>
              </a:solidFill>
            </a:rPr>
            <a:t>决策自动化</a:t>
          </a:r>
        </a:p>
      </dgm:t>
    </dgm:pt>
    <dgm:pt modelId="{8D042B18-144D-49B0-8EBE-2E543A9370B0}" type="parTrans" cxnId="{B9AD99D6-4FF7-4A3C-BC11-C31F3487EFF4}">
      <dgm:prSet/>
      <dgm:spPr/>
      <dgm:t>
        <a:bodyPr/>
        <a:lstStyle/>
        <a:p>
          <a:endParaRPr lang="zh-CN" altLang="en-US">
            <a:solidFill>
              <a:schemeClr val="bg1"/>
            </a:solidFill>
          </a:endParaRPr>
        </a:p>
      </dgm:t>
    </dgm:pt>
    <dgm:pt modelId="{927554D8-F405-4911-B9CE-F2DE00C1B0F6}" type="sibTrans" cxnId="{B9AD99D6-4FF7-4A3C-BC11-C31F3487EFF4}">
      <dgm:prSet/>
      <dgm:spPr/>
      <dgm:t>
        <a:bodyPr/>
        <a:lstStyle/>
        <a:p>
          <a:endParaRPr lang="zh-CN" altLang="en-US">
            <a:solidFill>
              <a:schemeClr val="bg1"/>
            </a:solidFill>
          </a:endParaRPr>
        </a:p>
      </dgm:t>
    </dgm:pt>
    <dgm:pt modelId="{541FFC3A-1286-4BE7-8A0F-75A76E7D168A}">
      <dgm:prSet phldrT="[文本]"/>
      <dgm:spPr/>
      <dgm:t>
        <a:bodyPr/>
        <a:lstStyle/>
        <a:p>
          <a:r>
            <a:rPr lang="zh-CN" altLang="en-US" dirty="0">
              <a:solidFill>
                <a:schemeClr val="bg1"/>
              </a:solidFill>
            </a:rPr>
            <a:t>统筹计划</a:t>
          </a:r>
        </a:p>
      </dgm:t>
    </dgm:pt>
    <dgm:pt modelId="{8FB14D63-2571-471A-8CBA-70CCC6F02195}" type="parTrans" cxnId="{2C48E377-6564-4380-9971-482ED4815454}">
      <dgm:prSet/>
      <dgm:spPr/>
      <dgm:t>
        <a:bodyPr/>
        <a:lstStyle/>
        <a:p>
          <a:endParaRPr lang="zh-CN" altLang="en-US">
            <a:solidFill>
              <a:schemeClr val="bg1"/>
            </a:solidFill>
          </a:endParaRPr>
        </a:p>
      </dgm:t>
    </dgm:pt>
    <dgm:pt modelId="{C1E86D2D-617B-4519-B27C-1339DE3ADDC5}" type="sibTrans" cxnId="{2C48E377-6564-4380-9971-482ED4815454}">
      <dgm:prSet/>
      <dgm:spPr/>
      <dgm:t>
        <a:bodyPr/>
        <a:lstStyle/>
        <a:p>
          <a:endParaRPr lang="zh-CN" altLang="en-US">
            <a:solidFill>
              <a:schemeClr val="bg1"/>
            </a:solidFill>
          </a:endParaRPr>
        </a:p>
      </dgm:t>
    </dgm:pt>
    <dgm:pt modelId="{85B67F4C-CCF1-4E97-90C5-6477BD9EE8A3}">
      <dgm:prSet phldrT="[文本]"/>
      <dgm:spPr/>
      <dgm:t>
        <a:bodyPr/>
        <a:lstStyle/>
        <a:p>
          <a:r>
            <a:rPr lang="zh-CN" altLang="en-US" dirty="0">
              <a:solidFill>
                <a:schemeClr val="bg1"/>
              </a:solidFill>
            </a:rPr>
            <a:t>多策略协同模拟</a:t>
          </a:r>
        </a:p>
      </dgm:t>
    </dgm:pt>
    <dgm:pt modelId="{2E9C68FD-13A6-4CB8-B0BD-A7F9A1582D68}" type="parTrans" cxnId="{9D29E8C0-AB02-45CD-844D-5C4CF2192B45}">
      <dgm:prSet/>
      <dgm:spPr/>
      <dgm:t>
        <a:bodyPr/>
        <a:lstStyle/>
        <a:p>
          <a:endParaRPr lang="zh-CN" altLang="en-US">
            <a:solidFill>
              <a:schemeClr val="bg1"/>
            </a:solidFill>
          </a:endParaRPr>
        </a:p>
      </dgm:t>
    </dgm:pt>
    <dgm:pt modelId="{27C8CFC0-6C28-4C15-B7CC-DD34D36090DE}" type="sibTrans" cxnId="{9D29E8C0-AB02-45CD-844D-5C4CF2192B45}">
      <dgm:prSet/>
      <dgm:spPr/>
      <dgm:t>
        <a:bodyPr/>
        <a:lstStyle/>
        <a:p>
          <a:endParaRPr lang="zh-CN" altLang="en-US">
            <a:solidFill>
              <a:schemeClr val="bg1"/>
            </a:solidFill>
          </a:endParaRPr>
        </a:p>
      </dgm:t>
    </dgm:pt>
    <dgm:pt modelId="{07ED80A4-AAD3-45DC-A7E2-414B34DFB8A8}">
      <dgm:prSet phldrT="[文本]"/>
      <dgm:spPr/>
      <dgm:t>
        <a:bodyPr/>
        <a:lstStyle/>
        <a:p>
          <a:r>
            <a:rPr lang="zh-CN" altLang="en-US" dirty="0">
              <a:solidFill>
                <a:schemeClr val="bg1"/>
              </a:solidFill>
            </a:rPr>
            <a:t>响应性</a:t>
          </a:r>
        </a:p>
      </dgm:t>
    </dgm:pt>
    <dgm:pt modelId="{5BEF8AFF-CC1F-46FB-82B4-12D82A5952AF}" type="parTrans" cxnId="{9EA402EE-AADB-4133-931C-AD3AFC14A361}">
      <dgm:prSet/>
      <dgm:spPr/>
      <dgm:t>
        <a:bodyPr/>
        <a:lstStyle/>
        <a:p>
          <a:endParaRPr lang="zh-CN" altLang="en-US">
            <a:solidFill>
              <a:schemeClr val="bg1"/>
            </a:solidFill>
          </a:endParaRPr>
        </a:p>
      </dgm:t>
    </dgm:pt>
    <dgm:pt modelId="{67EC6E10-447C-46AE-AF3B-6C39A0B573DF}" type="sibTrans" cxnId="{9EA402EE-AADB-4133-931C-AD3AFC14A361}">
      <dgm:prSet/>
      <dgm:spPr/>
      <dgm:t>
        <a:bodyPr/>
        <a:lstStyle/>
        <a:p>
          <a:endParaRPr lang="zh-CN" altLang="en-US">
            <a:solidFill>
              <a:schemeClr val="bg1"/>
            </a:solidFill>
          </a:endParaRPr>
        </a:p>
      </dgm:t>
    </dgm:pt>
    <dgm:pt modelId="{A9C0F0BA-A5F4-4B3C-AFE5-D569FB17F12E}">
      <dgm:prSet phldrT="[文本]"/>
      <dgm:spPr/>
      <dgm:t>
        <a:bodyPr/>
        <a:lstStyle/>
        <a:p>
          <a:r>
            <a:rPr lang="zh-CN" altLang="en-US" dirty="0">
              <a:solidFill>
                <a:schemeClr val="bg1"/>
              </a:solidFill>
            </a:rPr>
            <a:t>决策颗粒度</a:t>
          </a:r>
        </a:p>
      </dgm:t>
    </dgm:pt>
    <dgm:pt modelId="{62BF44BE-68BA-463F-92C1-DF7A06F7F555}" type="parTrans" cxnId="{FC1F3F11-4EE5-407C-BECD-16B54F5B8E9A}">
      <dgm:prSet/>
      <dgm:spPr/>
      <dgm:t>
        <a:bodyPr/>
        <a:lstStyle/>
        <a:p>
          <a:endParaRPr lang="zh-CN" altLang="en-US">
            <a:solidFill>
              <a:schemeClr val="bg1"/>
            </a:solidFill>
          </a:endParaRPr>
        </a:p>
      </dgm:t>
    </dgm:pt>
    <dgm:pt modelId="{205926DE-4D19-4692-AADF-8C603B070041}" type="sibTrans" cxnId="{FC1F3F11-4EE5-407C-BECD-16B54F5B8E9A}">
      <dgm:prSet/>
      <dgm:spPr/>
      <dgm:t>
        <a:bodyPr/>
        <a:lstStyle/>
        <a:p>
          <a:endParaRPr lang="zh-CN" altLang="en-US">
            <a:solidFill>
              <a:schemeClr val="bg1"/>
            </a:solidFill>
          </a:endParaRPr>
        </a:p>
      </dgm:t>
    </dgm:pt>
    <dgm:pt modelId="{1F08C8CF-D764-4AF9-860F-3BF9C665BFFF}" type="pres">
      <dgm:prSet presAssocID="{88F8849F-6985-4982-8428-C6D7867A0033}" presName="cycle" presStyleCnt="0">
        <dgm:presLayoutVars>
          <dgm:chMax val="1"/>
          <dgm:dir/>
          <dgm:animLvl val="ctr"/>
          <dgm:resizeHandles val="exact"/>
        </dgm:presLayoutVars>
      </dgm:prSet>
      <dgm:spPr/>
    </dgm:pt>
    <dgm:pt modelId="{1561BDBF-FDE4-439A-8608-46FEE5C3DCC3}" type="pres">
      <dgm:prSet presAssocID="{D1DCCCD1-4E27-4929-ADDB-02ABAF52977E}" presName="centerShape" presStyleLbl="node0" presStyleIdx="0" presStyleCnt="1" custScaleX="121119" custScaleY="110123"/>
      <dgm:spPr/>
    </dgm:pt>
    <dgm:pt modelId="{09DCF032-3EBC-4C21-9524-F079EE86355E}" type="pres">
      <dgm:prSet presAssocID="{ACD66AAE-437F-4A7C-AF0E-ED0E09C9FBFD}" presName="Name9" presStyleLbl="parChTrans1D2" presStyleIdx="0" presStyleCnt="7"/>
      <dgm:spPr/>
    </dgm:pt>
    <dgm:pt modelId="{A204D287-5EE5-458D-A72E-E9F5FF3725B0}" type="pres">
      <dgm:prSet presAssocID="{ACD66AAE-437F-4A7C-AF0E-ED0E09C9FBFD}" presName="connTx" presStyleLbl="parChTrans1D2" presStyleIdx="0" presStyleCnt="7"/>
      <dgm:spPr/>
    </dgm:pt>
    <dgm:pt modelId="{B1F622CB-4C9C-4EE5-B440-6362181B73DF}" type="pres">
      <dgm:prSet presAssocID="{F56368E7-7D70-4179-828A-72B9C69B4DBB}" presName="node" presStyleLbl="node1" presStyleIdx="0" presStyleCnt="7">
        <dgm:presLayoutVars>
          <dgm:bulletEnabled val="1"/>
        </dgm:presLayoutVars>
      </dgm:prSet>
      <dgm:spPr/>
    </dgm:pt>
    <dgm:pt modelId="{42AC6DCB-8EB6-48E6-9E0C-4EFBF924C51D}" type="pres">
      <dgm:prSet presAssocID="{2B5EB66F-5921-467D-BA43-3A2FC9E6DF52}" presName="Name9" presStyleLbl="parChTrans1D2" presStyleIdx="1" presStyleCnt="7"/>
      <dgm:spPr/>
    </dgm:pt>
    <dgm:pt modelId="{571DD6DA-707C-44AB-A51F-BEE094A45181}" type="pres">
      <dgm:prSet presAssocID="{2B5EB66F-5921-467D-BA43-3A2FC9E6DF52}" presName="connTx" presStyleLbl="parChTrans1D2" presStyleIdx="1" presStyleCnt="7"/>
      <dgm:spPr/>
    </dgm:pt>
    <dgm:pt modelId="{E4FDA471-FB70-4419-9A19-DC163B7E2F1B}" type="pres">
      <dgm:prSet presAssocID="{991ECA65-5A91-40E6-9F8E-F0C9F03D9C9C}" presName="node" presStyleLbl="node1" presStyleIdx="1" presStyleCnt="7">
        <dgm:presLayoutVars>
          <dgm:bulletEnabled val="1"/>
        </dgm:presLayoutVars>
      </dgm:prSet>
      <dgm:spPr/>
    </dgm:pt>
    <dgm:pt modelId="{0632A3CC-0081-4D9F-AF42-AB5E5F52C1B4}" type="pres">
      <dgm:prSet presAssocID="{8D042B18-144D-49B0-8EBE-2E543A9370B0}" presName="Name9" presStyleLbl="parChTrans1D2" presStyleIdx="2" presStyleCnt="7"/>
      <dgm:spPr/>
    </dgm:pt>
    <dgm:pt modelId="{BD91C551-7467-4061-B51A-BA1FE6EEF28E}" type="pres">
      <dgm:prSet presAssocID="{8D042B18-144D-49B0-8EBE-2E543A9370B0}" presName="connTx" presStyleLbl="parChTrans1D2" presStyleIdx="2" presStyleCnt="7"/>
      <dgm:spPr/>
    </dgm:pt>
    <dgm:pt modelId="{1F4021B4-9E09-4B1C-ACAF-ADFD7D16DA39}" type="pres">
      <dgm:prSet presAssocID="{42653BB5-19E2-414E-A79D-DF4028FDBFCF}" presName="node" presStyleLbl="node1" presStyleIdx="2" presStyleCnt="7">
        <dgm:presLayoutVars>
          <dgm:bulletEnabled val="1"/>
        </dgm:presLayoutVars>
      </dgm:prSet>
      <dgm:spPr/>
    </dgm:pt>
    <dgm:pt modelId="{02830DCF-6A7E-42A5-B428-E3385EFE727A}" type="pres">
      <dgm:prSet presAssocID="{8FB14D63-2571-471A-8CBA-70CCC6F02195}" presName="Name9" presStyleLbl="parChTrans1D2" presStyleIdx="3" presStyleCnt="7"/>
      <dgm:spPr/>
    </dgm:pt>
    <dgm:pt modelId="{5F8336A7-F44A-4FCC-B4F7-CF7DA6495924}" type="pres">
      <dgm:prSet presAssocID="{8FB14D63-2571-471A-8CBA-70CCC6F02195}" presName="connTx" presStyleLbl="parChTrans1D2" presStyleIdx="3" presStyleCnt="7"/>
      <dgm:spPr/>
    </dgm:pt>
    <dgm:pt modelId="{0C21D522-437E-4C52-8065-AE374815CD73}" type="pres">
      <dgm:prSet presAssocID="{541FFC3A-1286-4BE7-8A0F-75A76E7D168A}" presName="node" presStyleLbl="node1" presStyleIdx="3" presStyleCnt="7">
        <dgm:presLayoutVars>
          <dgm:bulletEnabled val="1"/>
        </dgm:presLayoutVars>
      </dgm:prSet>
      <dgm:spPr/>
    </dgm:pt>
    <dgm:pt modelId="{67C58608-574E-4243-A048-F4D6657074F1}" type="pres">
      <dgm:prSet presAssocID="{5BEF8AFF-CC1F-46FB-82B4-12D82A5952AF}" presName="Name9" presStyleLbl="parChTrans1D2" presStyleIdx="4" presStyleCnt="7"/>
      <dgm:spPr/>
    </dgm:pt>
    <dgm:pt modelId="{E23A9AA4-B43B-4391-8A25-34BE0D479F3D}" type="pres">
      <dgm:prSet presAssocID="{5BEF8AFF-CC1F-46FB-82B4-12D82A5952AF}" presName="connTx" presStyleLbl="parChTrans1D2" presStyleIdx="4" presStyleCnt="7"/>
      <dgm:spPr/>
    </dgm:pt>
    <dgm:pt modelId="{94B548D6-2B74-43C0-B1E4-40474EAD8982}" type="pres">
      <dgm:prSet presAssocID="{07ED80A4-AAD3-45DC-A7E2-414B34DFB8A8}" presName="node" presStyleLbl="node1" presStyleIdx="4" presStyleCnt="7">
        <dgm:presLayoutVars>
          <dgm:bulletEnabled val="1"/>
        </dgm:presLayoutVars>
      </dgm:prSet>
      <dgm:spPr/>
    </dgm:pt>
    <dgm:pt modelId="{6F19BF0F-9E3C-4599-82D4-2A4D43496823}" type="pres">
      <dgm:prSet presAssocID="{62BF44BE-68BA-463F-92C1-DF7A06F7F555}" presName="Name9" presStyleLbl="parChTrans1D2" presStyleIdx="5" presStyleCnt="7"/>
      <dgm:spPr/>
    </dgm:pt>
    <dgm:pt modelId="{ADB12C69-7B33-4609-B68D-44F8CD7E3201}" type="pres">
      <dgm:prSet presAssocID="{62BF44BE-68BA-463F-92C1-DF7A06F7F555}" presName="connTx" presStyleLbl="parChTrans1D2" presStyleIdx="5" presStyleCnt="7"/>
      <dgm:spPr/>
    </dgm:pt>
    <dgm:pt modelId="{F5C38163-8857-4573-9192-571FA1E7A745}" type="pres">
      <dgm:prSet presAssocID="{A9C0F0BA-A5F4-4B3C-AFE5-D569FB17F12E}" presName="node" presStyleLbl="node1" presStyleIdx="5" presStyleCnt="7">
        <dgm:presLayoutVars>
          <dgm:bulletEnabled val="1"/>
        </dgm:presLayoutVars>
      </dgm:prSet>
      <dgm:spPr/>
    </dgm:pt>
    <dgm:pt modelId="{B4C97A79-5B10-4AA4-974C-721997536506}" type="pres">
      <dgm:prSet presAssocID="{2E9C68FD-13A6-4CB8-B0BD-A7F9A1582D68}" presName="Name9" presStyleLbl="parChTrans1D2" presStyleIdx="6" presStyleCnt="7"/>
      <dgm:spPr/>
    </dgm:pt>
    <dgm:pt modelId="{767D7496-04A6-4093-8C66-96FA6F457825}" type="pres">
      <dgm:prSet presAssocID="{2E9C68FD-13A6-4CB8-B0BD-A7F9A1582D68}" presName="connTx" presStyleLbl="parChTrans1D2" presStyleIdx="6" presStyleCnt="7"/>
      <dgm:spPr/>
    </dgm:pt>
    <dgm:pt modelId="{F33E206D-63EF-4334-8468-2B455DBAA768}" type="pres">
      <dgm:prSet presAssocID="{85B67F4C-CCF1-4E97-90C5-6477BD9EE8A3}" presName="node" presStyleLbl="node1" presStyleIdx="6" presStyleCnt="7">
        <dgm:presLayoutVars>
          <dgm:bulletEnabled val="1"/>
        </dgm:presLayoutVars>
      </dgm:prSet>
      <dgm:spPr/>
    </dgm:pt>
  </dgm:ptLst>
  <dgm:cxnLst>
    <dgm:cxn modelId="{FC1F3F11-4EE5-407C-BECD-16B54F5B8E9A}" srcId="{D1DCCCD1-4E27-4929-ADDB-02ABAF52977E}" destId="{A9C0F0BA-A5F4-4B3C-AFE5-D569FB17F12E}" srcOrd="5" destOrd="0" parTransId="{62BF44BE-68BA-463F-92C1-DF7A06F7F555}" sibTransId="{205926DE-4D19-4692-AADF-8C603B070041}"/>
    <dgm:cxn modelId="{1987C01F-0E7A-409E-BF73-954659C55F9D}" type="presOf" srcId="{ACD66AAE-437F-4A7C-AF0E-ED0E09C9FBFD}" destId="{A204D287-5EE5-458D-A72E-E9F5FF3725B0}" srcOrd="1" destOrd="0" presId="urn:microsoft.com/office/officeart/2005/8/layout/radial1"/>
    <dgm:cxn modelId="{F326CA21-0D7A-407D-B3A3-9C8D060EE91C}" type="presOf" srcId="{D1DCCCD1-4E27-4929-ADDB-02ABAF52977E}" destId="{1561BDBF-FDE4-439A-8608-46FEE5C3DCC3}" srcOrd="0" destOrd="0" presId="urn:microsoft.com/office/officeart/2005/8/layout/radial1"/>
    <dgm:cxn modelId="{ABC4CF24-31A4-4E8F-9DAA-DD790CC3D1B6}" type="presOf" srcId="{2B5EB66F-5921-467D-BA43-3A2FC9E6DF52}" destId="{42AC6DCB-8EB6-48E6-9E0C-4EFBF924C51D}" srcOrd="0" destOrd="0" presId="urn:microsoft.com/office/officeart/2005/8/layout/radial1"/>
    <dgm:cxn modelId="{EB44112D-5C0E-4126-BF25-44898DD4AB3E}" type="presOf" srcId="{ACD66AAE-437F-4A7C-AF0E-ED0E09C9FBFD}" destId="{09DCF032-3EBC-4C21-9524-F079EE86355E}" srcOrd="0" destOrd="0" presId="urn:microsoft.com/office/officeart/2005/8/layout/radial1"/>
    <dgm:cxn modelId="{88A80435-9CB4-4FBD-9FAC-3CA9D388654D}" type="presOf" srcId="{2E9C68FD-13A6-4CB8-B0BD-A7F9A1582D68}" destId="{767D7496-04A6-4093-8C66-96FA6F457825}" srcOrd="1" destOrd="0" presId="urn:microsoft.com/office/officeart/2005/8/layout/radial1"/>
    <dgm:cxn modelId="{6F5AC135-E9C2-40B3-86C1-FB9B32CA1D46}" type="presOf" srcId="{A9C0F0BA-A5F4-4B3C-AFE5-D569FB17F12E}" destId="{F5C38163-8857-4573-9192-571FA1E7A745}" srcOrd="0" destOrd="0" presId="urn:microsoft.com/office/officeart/2005/8/layout/radial1"/>
    <dgm:cxn modelId="{D98EF05B-B340-4FCF-818D-2C2967AA780B}" type="presOf" srcId="{8D042B18-144D-49B0-8EBE-2E543A9370B0}" destId="{BD91C551-7467-4061-B51A-BA1FE6EEF28E}" srcOrd="1" destOrd="0" presId="urn:microsoft.com/office/officeart/2005/8/layout/radial1"/>
    <dgm:cxn modelId="{74A90562-3421-4329-86B2-3B9812737E1D}" srcId="{D1DCCCD1-4E27-4929-ADDB-02ABAF52977E}" destId="{991ECA65-5A91-40E6-9F8E-F0C9F03D9C9C}" srcOrd="1" destOrd="0" parTransId="{2B5EB66F-5921-467D-BA43-3A2FC9E6DF52}" sibTransId="{3A7374A8-1B89-40E9-AF5D-6C3C32762B73}"/>
    <dgm:cxn modelId="{52E18B42-9F3A-4ED0-8540-E478DEDECCBB}" type="presOf" srcId="{8FB14D63-2571-471A-8CBA-70CCC6F02195}" destId="{02830DCF-6A7E-42A5-B428-E3385EFE727A}" srcOrd="0" destOrd="0" presId="urn:microsoft.com/office/officeart/2005/8/layout/radial1"/>
    <dgm:cxn modelId="{0B646F6E-75AB-4438-A26A-30BF391CD71A}" type="presOf" srcId="{85B67F4C-CCF1-4E97-90C5-6477BD9EE8A3}" destId="{F33E206D-63EF-4334-8468-2B455DBAA768}" srcOrd="0" destOrd="0" presId="urn:microsoft.com/office/officeart/2005/8/layout/radial1"/>
    <dgm:cxn modelId="{F7610756-B41D-4C84-AF68-83E0BD6B56CF}" type="presOf" srcId="{541FFC3A-1286-4BE7-8A0F-75A76E7D168A}" destId="{0C21D522-437E-4C52-8065-AE374815CD73}" srcOrd="0" destOrd="0" presId="urn:microsoft.com/office/officeart/2005/8/layout/radial1"/>
    <dgm:cxn modelId="{86B61F77-13F4-41D7-835E-1CB2723B7EF3}" type="presOf" srcId="{991ECA65-5A91-40E6-9F8E-F0C9F03D9C9C}" destId="{E4FDA471-FB70-4419-9A19-DC163B7E2F1B}" srcOrd="0" destOrd="0" presId="urn:microsoft.com/office/officeart/2005/8/layout/radial1"/>
    <dgm:cxn modelId="{2C48E377-6564-4380-9971-482ED4815454}" srcId="{D1DCCCD1-4E27-4929-ADDB-02ABAF52977E}" destId="{541FFC3A-1286-4BE7-8A0F-75A76E7D168A}" srcOrd="3" destOrd="0" parTransId="{8FB14D63-2571-471A-8CBA-70CCC6F02195}" sibTransId="{C1E86D2D-617B-4519-B27C-1339DE3ADDC5}"/>
    <dgm:cxn modelId="{820BBC9A-DB2C-4535-9E8B-685A5909D823}" type="presOf" srcId="{62BF44BE-68BA-463F-92C1-DF7A06F7F555}" destId="{6F19BF0F-9E3C-4599-82D4-2A4D43496823}" srcOrd="0" destOrd="0" presId="urn:microsoft.com/office/officeart/2005/8/layout/radial1"/>
    <dgm:cxn modelId="{46C50F9C-2035-4A88-AA83-176A5530512A}" type="presOf" srcId="{88F8849F-6985-4982-8428-C6D7867A0033}" destId="{1F08C8CF-D764-4AF9-860F-3BF9C665BFFF}" srcOrd="0" destOrd="0" presId="urn:microsoft.com/office/officeart/2005/8/layout/radial1"/>
    <dgm:cxn modelId="{492DD1B7-DB42-4B11-8AE7-77F397531A09}" type="presOf" srcId="{42653BB5-19E2-414E-A79D-DF4028FDBFCF}" destId="{1F4021B4-9E09-4B1C-ACAF-ADFD7D16DA39}" srcOrd="0" destOrd="0" presId="urn:microsoft.com/office/officeart/2005/8/layout/radial1"/>
    <dgm:cxn modelId="{2CB6C4BC-BC0D-432B-A370-9F0A22D04839}" type="presOf" srcId="{F56368E7-7D70-4179-828A-72B9C69B4DBB}" destId="{B1F622CB-4C9C-4EE5-B440-6362181B73DF}" srcOrd="0" destOrd="0" presId="urn:microsoft.com/office/officeart/2005/8/layout/radial1"/>
    <dgm:cxn modelId="{695067BE-302D-44E2-A1D4-F8497DE94ABE}" type="presOf" srcId="{62BF44BE-68BA-463F-92C1-DF7A06F7F555}" destId="{ADB12C69-7B33-4609-B68D-44F8CD7E3201}" srcOrd="1" destOrd="0" presId="urn:microsoft.com/office/officeart/2005/8/layout/radial1"/>
    <dgm:cxn modelId="{9D29E8C0-AB02-45CD-844D-5C4CF2192B45}" srcId="{D1DCCCD1-4E27-4929-ADDB-02ABAF52977E}" destId="{85B67F4C-CCF1-4E97-90C5-6477BD9EE8A3}" srcOrd="6" destOrd="0" parTransId="{2E9C68FD-13A6-4CB8-B0BD-A7F9A1582D68}" sibTransId="{27C8CFC0-6C28-4C15-B7CC-DD34D36090DE}"/>
    <dgm:cxn modelId="{01EED4CA-F380-41D6-AE3A-321E1BDEF336}" type="presOf" srcId="{5BEF8AFF-CC1F-46FB-82B4-12D82A5952AF}" destId="{67C58608-574E-4243-A048-F4D6657074F1}" srcOrd="0" destOrd="0" presId="urn:microsoft.com/office/officeart/2005/8/layout/radial1"/>
    <dgm:cxn modelId="{5F4C0BCB-A5B1-47D8-9241-29AC18FE1B78}" type="presOf" srcId="{2E9C68FD-13A6-4CB8-B0BD-A7F9A1582D68}" destId="{B4C97A79-5B10-4AA4-974C-721997536506}" srcOrd="0" destOrd="0" presId="urn:microsoft.com/office/officeart/2005/8/layout/radial1"/>
    <dgm:cxn modelId="{EF4529CD-E339-41A3-9EFF-EDB60B052C9B}" type="presOf" srcId="{07ED80A4-AAD3-45DC-A7E2-414B34DFB8A8}" destId="{94B548D6-2B74-43C0-B1E4-40474EAD8982}" srcOrd="0" destOrd="0" presId="urn:microsoft.com/office/officeart/2005/8/layout/radial1"/>
    <dgm:cxn modelId="{0D5A91CD-CC9C-48CC-AE4B-1D005EA687D6}" type="presOf" srcId="{8FB14D63-2571-471A-8CBA-70CCC6F02195}" destId="{5F8336A7-F44A-4FCC-B4F7-CF7DA6495924}" srcOrd="1" destOrd="0" presId="urn:microsoft.com/office/officeart/2005/8/layout/radial1"/>
    <dgm:cxn modelId="{90E3C1CE-5C3D-4FD5-8F5A-3CDB7760B116}" srcId="{D1DCCCD1-4E27-4929-ADDB-02ABAF52977E}" destId="{F56368E7-7D70-4179-828A-72B9C69B4DBB}" srcOrd="0" destOrd="0" parTransId="{ACD66AAE-437F-4A7C-AF0E-ED0E09C9FBFD}" sibTransId="{233A7C43-A600-4618-8B72-6E03158BF12B}"/>
    <dgm:cxn modelId="{1173E8D3-B94F-4DA7-9AEF-1A67BD6A178B}" type="presOf" srcId="{8D042B18-144D-49B0-8EBE-2E543A9370B0}" destId="{0632A3CC-0081-4D9F-AF42-AB5E5F52C1B4}" srcOrd="0" destOrd="0" presId="urn:microsoft.com/office/officeart/2005/8/layout/radial1"/>
    <dgm:cxn modelId="{86BBC7D4-35A8-420A-9B2F-92B6F053F463}" type="presOf" srcId="{5BEF8AFF-CC1F-46FB-82B4-12D82A5952AF}" destId="{E23A9AA4-B43B-4391-8A25-34BE0D479F3D}" srcOrd="1" destOrd="0" presId="urn:microsoft.com/office/officeart/2005/8/layout/radial1"/>
    <dgm:cxn modelId="{B9AD99D6-4FF7-4A3C-BC11-C31F3487EFF4}" srcId="{D1DCCCD1-4E27-4929-ADDB-02ABAF52977E}" destId="{42653BB5-19E2-414E-A79D-DF4028FDBFCF}" srcOrd="2" destOrd="0" parTransId="{8D042B18-144D-49B0-8EBE-2E543A9370B0}" sibTransId="{927554D8-F405-4911-B9CE-F2DE00C1B0F6}"/>
    <dgm:cxn modelId="{B7BE7BDD-073B-4B4D-878E-6F90C8164777}" type="presOf" srcId="{2B5EB66F-5921-467D-BA43-3A2FC9E6DF52}" destId="{571DD6DA-707C-44AB-A51F-BEE094A45181}" srcOrd="1" destOrd="0" presId="urn:microsoft.com/office/officeart/2005/8/layout/radial1"/>
    <dgm:cxn modelId="{9EA402EE-AADB-4133-931C-AD3AFC14A361}" srcId="{D1DCCCD1-4E27-4929-ADDB-02ABAF52977E}" destId="{07ED80A4-AAD3-45DC-A7E2-414B34DFB8A8}" srcOrd="4" destOrd="0" parTransId="{5BEF8AFF-CC1F-46FB-82B4-12D82A5952AF}" sibTransId="{67EC6E10-447C-46AE-AF3B-6C39A0B573DF}"/>
    <dgm:cxn modelId="{BE4111FA-CDF5-4443-BDEC-4027DCFB4056}" srcId="{88F8849F-6985-4982-8428-C6D7867A0033}" destId="{D1DCCCD1-4E27-4929-ADDB-02ABAF52977E}" srcOrd="0" destOrd="0" parTransId="{8113AC7B-E38B-419C-ACE9-CE8F542A8FB7}" sibTransId="{DD585A42-4E8C-49CC-8AA7-83F3FC730A23}"/>
    <dgm:cxn modelId="{7CF383F6-6C06-4793-9AEC-3055A79547C8}" type="presParOf" srcId="{1F08C8CF-D764-4AF9-860F-3BF9C665BFFF}" destId="{1561BDBF-FDE4-439A-8608-46FEE5C3DCC3}" srcOrd="0" destOrd="0" presId="urn:microsoft.com/office/officeart/2005/8/layout/radial1"/>
    <dgm:cxn modelId="{B5EE3C8F-6F58-4B23-A848-27B25980D44F}" type="presParOf" srcId="{1F08C8CF-D764-4AF9-860F-3BF9C665BFFF}" destId="{09DCF032-3EBC-4C21-9524-F079EE86355E}" srcOrd="1" destOrd="0" presId="urn:microsoft.com/office/officeart/2005/8/layout/radial1"/>
    <dgm:cxn modelId="{BDFA4975-2931-477E-BD8F-EC7067DA7957}" type="presParOf" srcId="{09DCF032-3EBC-4C21-9524-F079EE86355E}" destId="{A204D287-5EE5-458D-A72E-E9F5FF3725B0}" srcOrd="0" destOrd="0" presId="urn:microsoft.com/office/officeart/2005/8/layout/radial1"/>
    <dgm:cxn modelId="{06FF34EF-0A16-4E95-AE38-62EC7E9F1B84}" type="presParOf" srcId="{1F08C8CF-D764-4AF9-860F-3BF9C665BFFF}" destId="{B1F622CB-4C9C-4EE5-B440-6362181B73DF}" srcOrd="2" destOrd="0" presId="urn:microsoft.com/office/officeart/2005/8/layout/radial1"/>
    <dgm:cxn modelId="{FADCFD68-2523-4F2F-8725-7F683D246CB3}" type="presParOf" srcId="{1F08C8CF-D764-4AF9-860F-3BF9C665BFFF}" destId="{42AC6DCB-8EB6-48E6-9E0C-4EFBF924C51D}" srcOrd="3" destOrd="0" presId="urn:microsoft.com/office/officeart/2005/8/layout/radial1"/>
    <dgm:cxn modelId="{75C27055-AD46-46B9-ABF8-700A5D5AADB3}" type="presParOf" srcId="{42AC6DCB-8EB6-48E6-9E0C-4EFBF924C51D}" destId="{571DD6DA-707C-44AB-A51F-BEE094A45181}" srcOrd="0" destOrd="0" presId="urn:microsoft.com/office/officeart/2005/8/layout/radial1"/>
    <dgm:cxn modelId="{9CD59E20-5296-43FD-B4C3-7C58DFFC12A2}" type="presParOf" srcId="{1F08C8CF-D764-4AF9-860F-3BF9C665BFFF}" destId="{E4FDA471-FB70-4419-9A19-DC163B7E2F1B}" srcOrd="4" destOrd="0" presId="urn:microsoft.com/office/officeart/2005/8/layout/radial1"/>
    <dgm:cxn modelId="{9D436648-7F5A-4EC9-871F-F76647AC5911}" type="presParOf" srcId="{1F08C8CF-D764-4AF9-860F-3BF9C665BFFF}" destId="{0632A3CC-0081-4D9F-AF42-AB5E5F52C1B4}" srcOrd="5" destOrd="0" presId="urn:microsoft.com/office/officeart/2005/8/layout/radial1"/>
    <dgm:cxn modelId="{9B4BAE91-A2F8-44C6-9E96-3EB0D7B65A92}" type="presParOf" srcId="{0632A3CC-0081-4D9F-AF42-AB5E5F52C1B4}" destId="{BD91C551-7467-4061-B51A-BA1FE6EEF28E}" srcOrd="0" destOrd="0" presId="urn:microsoft.com/office/officeart/2005/8/layout/radial1"/>
    <dgm:cxn modelId="{846712E2-1C7D-4238-922A-9DAADE269C1A}" type="presParOf" srcId="{1F08C8CF-D764-4AF9-860F-3BF9C665BFFF}" destId="{1F4021B4-9E09-4B1C-ACAF-ADFD7D16DA39}" srcOrd="6" destOrd="0" presId="urn:microsoft.com/office/officeart/2005/8/layout/radial1"/>
    <dgm:cxn modelId="{9D75B153-9BB2-4AA0-A375-9B0B32D7AAF3}" type="presParOf" srcId="{1F08C8CF-D764-4AF9-860F-3BF9C665BFFF}" destId="{02830DCF-6A7E-42A5-B428-E3385EFE727A}" srcOrd="7" destOrd="0" presId="urn:microsoft.com/office/officeart/2005/8/layout/radial1"/>
    <dgm:cxn modelId="{4DE7BB0B-45C9-4937-837B-9FC9C15B88F1}" type="presParOf" srcId="{02830DCF-6A7E-42A5-B428-E3385EFE727A}" destId="{5F8336A7-F44A-4FCC-B4F7-CF7DA6495924}" srcOrd="0" destOrd="0" presId="urn:microsoft.com/office/officeart/2005/8/layout/radial1"/>
    <dgm:cxn modelId="{C9C5F13A-F3A2-4813-9744-22A947903CF7}" type="presParOf" srcId="{1F08C8CF-D764-4AF9-860F-3BF9C665BFFF}" destId="{0C21D522-437E-4C52-8065-AE374815CD73}" srcOrd="8" destOrd="0" presId="urn:microsoft.com/office/officeart/2005/8/layout/radial1"/>
    <dgm:cxn modelId="{8DDCB4F1-C574-4AB9-B190-967D16853090}" type="presParOf" srcId="{1F08C8CF-D764-4AF9-860F-3BF9C665BFFF}" destId="{67C58608-574E-4243-A048-F4D6657074F1}" srcOrd="9" destOrd="0" presId="urn:microsoft.com/office/officeart/2005/8/layout/radial1"/>
    <dgm:cxn modelId="{5BAC5F35-8302-4432-BFA1-9F9F7A45ECDC}" type="presParOf" srcId="{67C58608-574E-4243-A048-F4D6657074F1}" destId="{E23A9AA4-B43B-4391-8A25-34BE0D479F3D}" srcOrd="0" destOrd="0" presId="urn:microsoft.com/office/officeart/2005/8/layout/radial1"/>
    <dgm:cxn modelId="{9A00CE6A-E534-4753-9314-3ED1BA1B057C}" type="presParOf" srcId="{1F08C8CF-D764-4AF9-860F-3BF9C665BFFF}" destId="{94B548D6-2B74-43C0-B1E4-40474EAD8982}" srcOrd="10" destOrd="0" presId="urn:microsoft.com/office/officeart/2005/8/layout/radial1"/>
    <dgm:cxn modelId="{A86D417A-C531-44FF-BDCD-AFCA92321676}" type="presParOf" srcId="{1F08C8CF-D764-4AF9-860F-3BF9C665BFFF}" destId="{6F19BF0F-9E3C-4599-82D4-2A4D43496823}" srcOrd="11" destOrd="0" presId="urn:microsoft.com/office/officeart/2005/8/layout/radial1"/>
    <dgm:cxn modelId="{D8737CAB-4577-4F4D-8CFE-340ECF320723}" type="presParOf" srcId="{6F19BF0F-9E3C-4599-82D4-2A4D43496823}" destId="{ADB12C69-7B33-4609-B68D-44F8CD7E3201}" srcOrd="0" destOrd="0" presId="urn:microsoft.com/office/officeart/2005/8/layout/radial1"/>
    <dgm:cxn modelId="{370C33A3-C016-4A82-9F8C-AC3389C00B1C}" type="presParOf" srcId="{1F08C8CF-D764-4AF9-860F-3BF9C665BFFF}" destId="{F5C38163-8857-4573-9192-571FA1E7A745}" srcOrd="12" destOrd="0" presId="urn:microsoft.com/office/officeart/2005/8/layout/radial1"/>
    <dgm:cxn modelId="{F13FED39-49E3-4571-B57C-857EE43D47B1}" type="presParOf" srcId="{1F08C8CF-D764-4AF9-860F-3BF9C665BFFF}" destId="{B4C97A79-5B10-4AA4-974C-721997536506}" srcOrd="13" destOrd="0" presId="urn:microsoft.com/office/officeart/2005/8/layout/radial1"/>
    <dgm:cxn modelId="{E504E44B-137D-46E7-95ED-14F6DBA3761A}" type="presParOf" srcId="{B4C97A79-5B10-4AA4-974C-721997536506}" destId="{767D7496-04A6-4093-8C66-96FA6F457825}" srcOrd="0" destOrd="0" presId="urn:microsoft.com/office/officeart/2005/8/layout/radial1"/>
    <dgm:cxn modelId="{A8119DF3-BF02-486F-A3C9-18DD63417B09}" type="presParOf" srcId="{1F08C8CF-D764-4AF9-860F-3BF9C665BFFF}" destId="{F33E206D-63EF-4334-8468-2B455DBAA768}" srcOrd="14" destOrd="0" presId="urn:microsoft.com/office/officeart/2005/8/layout/radial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A364D86C-7B36-4F31-9D08-103D7DAFB5A6}"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zh-CN" altLang="en-US"/>
        </a:p>
      </dgm:t>
    </dgm:pt>
    <dgm:pt modelId="{F087409E-996E-4447-93FF-3FC49DFBE593}">
      <dgm:prSet/>
      <dgm:spPr/>
      <dgm:t>
        <a:bodyPr/>
        <a:lstStyle/>
        <a:p>
          <a:r>
            <a:rPr lang="zh-CN" b="1" dirty="0">
              <a:solidFill>
                <a:schemeClr val="bg1"/>
              </a:solidFill>
            </a:rPr>
            <a:t>横向协同 </a:t>
          </a:r>
          <a:r>
            <a:rPr lang="en-US" dirty="0">
              <a:solidFill>
                <a:schemeClr val="bg1"/>
              </a:solidFill>
            </a:rPr>
            <a:t>– </a:t>
          </a:r>
          <a:r>
            <a:rPr lang="zh-CN" dirty="0">
              <a:solidFill>
                <a:schemeClr val="bg1"/>
              </a:solidFill>
            </a:rPr>
            <a:t>物料转换上的协同，从原材到交付</a:t>
          </a:r>
          <a:r>
            <a:rPr lang="zh-CN" altLang="en-US" dirty="0">
              <a:solidFill>
                <a:schemeClr val="bg1"/>
              </a:solidFill>
            </a:rPr>
            <a:t>至</a:t>
          </a:r>
          <a:r>
            <a:rPr lang="zh-CN" dirty="0">
              <a:solidFill>
                <a:schemeClr val="bg1"/>
              </a:solidFill>
            </a:rPr>
            <a:t>客户</a:t>
          </a:r>
        </a:p>
      </dgm:t>
    </dgm:pt>
    <dgm:pt modelId="{F70F1EBF-4E35-4151-9BAA-A3FC13A51439}" type="parTrans" cxnId="{766D563F-956B-4715-B8FE-9C92D8F2253A}">
      <dgm:prSet/>
      <dgm:spPr/>
      <dgm:t>
        <a:bodyPr/>
        <a:lstStyle/>
        <a:p>
          <a:endParaRPr lang="zh-CN" altLang="en-US"/>
        </a:p>
      </dgm:t>
    </dgm:pt>
    <dgm:pt modelId="{81E4B9BA-018A-4642-9BB7-D90C0776F665}" type="sibTrans" cxnId="{766D563F-956B-4715-B8FE-9C92D8F2253A}">
      <dgm:prSet/>
      <dgm:spPr/>
      <dgm:t>
        <a:bodyPr/>
        <a:lstStyle/>
        <a:p>
          <a:endParaRPr lang="zh-CN" altLang="en-US"/>
        </a:p>
      </dgm:t>
    </dgm:pt>
    <dgm:pt modelId="{8C44D0EC-7BBE-4671-A754-5D7BFB8BB118}">
      <dgm:prSet/>
      <dgm:spPr/>
      <dgm:t>
        <a:bodyPr/>
        <a:lstStyle/>
        <a:p>
          <a:r>
            <a:rPr lang="zh-CN" b="1" dirty="0">
              <a:solidFill>
                <a:schemeClr val="bg1"/>
              </a:solidFill>
            </a:rPr>
            <a:t>纵向协同 </a:t>
          </a:r>
          <a:r>
            <a:rPr lang="en-US" dirty="0">
              <a:solidFill>
                <a:schemeClr val="bg1"/>
              </a:solidFill>
            </a:rPr>
            <a:t>- </a:t>
          </a:r>
          <a:r>
            <a:rPr lang="zh-CN" dirty="0">
              <a:solidFill>
                <a:schemeClr val="bg1"/>
              </a:solidFill>
            </a:rPr>
            <a:t>从战略到执行的</a:t>
          </a:r>
          <a:r>
            <a:rPr lang="zh-CN" altLang="en-US" dirty="0">
              <a:solidFill>
                <a:schemeClr val="bg1"/>
              </a:solidFill>
            </a:rPr>
            <a:t>各层计划的一致性</a:t>
          </a:r>
          <a:r>
            <a:rPr lang="zh-CN" dirty="0">
              <a:solidFill>
                <a:schemeClr val="bg1"/>
              </a:solidFill>
            </a:rPr>
            <a:t>协同</a:t>
          </a:r>
        </a:p>
      </dgm:t>
    </dgm:pt>
    <dgm:pt modelId="{6A8B06F7-9548-4494-9B86-059D6C567FED}" type="parTrans" cxnId="{195FAF23-07B3-435C-B9F9-1346F41FA3A3}">
      <dgm:prSet/>
      <dgm:spPr/>
      <dgm:t>
        <a:bodyPr/>
        <a:lstStyle/>
        <a:p>
          <a:endParaRPr lang="zh-CN" altLang="en-US"/>
        </a:p>
      </dgm:t>
    </dgm:pt>
    <dgm:pt modelId="{3C1264FD-1AD6-4AFB-975C-3F738F2FE9DA}" type="sibTrans" cxnId="{195FAF23-07B3-435C-B9F9-1346F41FA3A3}">
      <dgm:prSet/>
      <dgm:spPr/>
      <dgm:t>
        <a:bodyPr/>
        <a:lstStyle/>
        <a:p>
          <a:endParaRPr lang="zh-CN" altLang="en-US"/>
        </a:p>
      </dgm:t>
    </dgm:pt>
    <dgm:pt modelId="{A755B500-E923-4937-BF7A-1EA4B4774692}">
      <dgm:prSet/>
      <dgm:spPr/>
      <dgm:t>
        <a:bodyPr/>
        <a:lstStyle/>
        <a:p>
          <a:r>
            <a:rPr lang="zh-CN" altLang="en-US" b="1" dirty="0">
              <a:solidFill>
                <a:schemeClr val="bg1"/>
              </a:solidFill>
            </a:rPr>
            <a:t>决策</a:t>
          </a:r>
          <a:r>
            <a:rPr lang="zh-CN" b="1" dirty="0">
              <a:solidFill>
                <a:schemeClr val="bg1"/>
              </a:solidFill>
            </a:rPr>
            <a:t>自动</a:t>
          </a:r>
          <a:r>
            <a:rPr lang="zh-CN" altLang="en-US" b="1" dirty="0">
              <a:solidFill>
                <a:schemeClr val="bg1"/>
              </a:solidFill>
            </a:rPr>
            <a:t>化程度</a:t>
          </a:r>
          <a:r>
            <a:rPr lang="zh-CN" b="1" dirty="0">
              <a:solidFill>
                <a:schemeClr val="bg1"/>
              </a:solidFill>
            </a:rPr>
            <a:t> </a:t>
          </a:r>
          <a:r>
            <a:rPr lang="en-US" dirty="0">
              <a:solidFill>
                <a:schemeClr val="bg1"/>
              </a:solidFill>
            </a:rPr>
            <a:t>– </a:t>
          </a:r>
          <a:r>
            <a:rPr lang="zh-CN" altLang="en-US" dirty="0">
              <a:solidFill>
                <a:schemeClr val="bg1"/>
              </a:solidFill>
            </a:rPr>
            <a:t>数据的可视性，决策的方法和决策的结果的自动化程度</a:t>
          </a:r>
          <a:endParaRPr lang="en-US" altLang="zh-CN" dirty="0">
            <a:solidFill>
              <a:schemeClr val="bg1"/>
            </a:solidFill>
          </a:endParaRPr>
        </a:p>
        <a:p>
          <a:endParaRPr lang="zh-CN" dirty="0">
            <a:solidFill>
              <a:schemeClr val="bg1"/>
            </a:solidFill>
          </a:endParaRPr>
        </a:p>
      </dgm:t>
    </dgm:pt>
    <dgm:pt modelId="{1FE9213A-A506-4B41-B044-1509B09805AE}" type="parTrans" cxnId="{5E65336B-D29B-41EF-AACA-784904AEE4A8}">
      <dgm:prSet/>
      <dgm:spPr/>
      <dgm:t>
        <a:bodyPr/>
        <a:lstStyle/>
        <a:p>
          <a:endParaRPr lang="zh-CN" altLang="en-US"/>
        </a:p>
      </dgm:t>
    </dgm:pt>
    <dgm:pt modelId="{C034C4B9-9747-4497-AED3-F3E02EF4D3E2}" type="sibTrans" cxnId="{5E65336B-D29B-41EF-AACA-784904AEE4A8}">
      <dgm:prSet/>
      <dgm:spPr/>
      <dgm:t>
        <a:bodyPr/>
        <a:lstStyle/>
        <a:p>
          <a:endParaRPr lang="zh-CN" altLang="en-US"/>
        </a:p>
      </dgm:t>
    </dgm:pt>
    <dgm:pt modelId="{21C890FB-B0B1-4367-8B56-0D0D3788CB05}">
      <dgm:prSet/>
      <dgm:spPr/>
      <dgm:t>
        <a:bodyPr/>
        <a:lstStyle/>
        <a:p>
          <a:r>
            <a:rPr lang="zh-CN" altLang="en-US" b="1" dirty="0">
              <a:solidFill>
                <a:schemeClr val="bg1"/>
              </a:solidFill>
            </a:rPr>
            <a:t>混合决策类型</a:t>
          </a:r>
          <a:r>
            <a:rPr lang="zh-CN" b="1" dirty="0">
              <a:solidFill>
                <a:schemeClr val="bg1"/>
              </a:solidFill>
            </a:rPr>
            <a:t> </a:t>
          </a:r>
          <a:r>
            <a:rPr lang="en-US" dirty="0">
              <a:solidFill>
                <a:schemeClr val="bg1"/>
              </a:solidFill>
            </a:rPr>
            <a:t>– </a:t>
          </a:r>
          <a:r>
            <a:rPr lang="zh-CN" altLang="en-US" dirty="0">
              <a:solidFill>
                <a:schemeClr val="bg1"/>
              </a:solidFill>
            </a:rPr>
            <a:t>从混乱又简单的决策向最佳实践的</a:t>
          </a:r>
          <a:r>
            <a:rPr lang="en-US" altLang="zh-CN" dirty="0">
              <a:solidFill>
                <a:schemeClr val="bg1"/>
              </a:solidFill>
            </a:rPr>
            <a:t>E2E</a:t>
          </a:r>
          <a:r>
            <a:rPr lang="zh-CN" altLang="en-US" dirty="0">
              <a:solidFill>
                <a:schemeClr val="bg1"/>
              </a:solidFill>
            </a:rPr>
            <a:t>决策，所有相关人都知道其因果关系</a:t>
          </a:r>
          <a:r>
            <a:rPr lang="en-US" altLang="zh-CN" dirty="0">
              <a:solidFill>
                <a:schemeClr val="bg1"/>
              </a:solidFill>
            </a:rPr>
            <a:t>.</a:t>
          </a:r>
          <a:r>
            <a:rPr lang="en-US" dirty="0">
              <a:solidFill>
                <a:schemeClr val="bg1"/>
              </a:solidFill>
            </a:rPr>
            <a:t> </a:t>
          </a:r>
          <a:endParaRPr lang="zh-CN" dirty="0">
            <a:solidFill>
              <a:schemeClr val="bg1"/>
            </a:solidFill>
          </a:endParaRPr>
        </a:p>
      </dgm:t>
    </dgm:pt>
    <dgm:pt modelId="{ADEC2094-9DC0-4765-B0DB-E202C774F5F0}" type="parTrans" cxnId="{9647F948-441B-4582-83B2-4732629B646E}">
      <dgm:prSet/>
      <dgm:spPr/>
      <dgm:t>
        <a:bodyPr/>
        <a:lstStyle/>
        <a:p>
          <a:endParaRPr lang="zh-CN" altLang="en-US"/>
        </a:p>
      </dgm:t>
    </dgm:pt>
    <dgm:pt modelId="{9DF78064-EB71-4366-B1EA-5EDFDE449CD0}" type="sibTrans" cxnId="{9647F948-441B-4582-83B2-4732629B646E}">
      <dgm:prSet/>
      <dgm:spPr/>
      <dgm:t>
        <a:bodyPr/>
        <a:lstStyle/>
        <a:p>
          <a:endParaRPr lang="zh-CN" altLang="en-US"/>
        </a:p>
      </dgm:t>
    </dgm:pt>
    <dgm:pt modelId="{7F003F62-64BD-47C1-A73E-7B555EEF02EB}">
      <dgm:prSet/>
      <dgm:spPr/>
      <dgm:t>
        <a:bodyPr/>
        <a:lstStyle/>
        <a:p>
          <a:r>
            <a:rPr lang="zh-CN" altLang="en-US" b="1" dirty="0">
              <a:solidFill>
                <a:schemeClr val="bg1"/>
              </a:solidFill>
            </a:rPr>
            <a:t>响应性</a:t>
          </a:r>
          <a:r>
            <a:rPr lang="zh-CN" b="1" dirty="0">
              <a:solidFill>
                <a:schemeClr val="bg1"/>
              </a:solidFill>
            </a:rPr>
            <a:t> </a:t>
          </a:r>
          <a:r>
            <a:rPr lang="en-US" dirty="0">
              <a:solidFill>
                <a:schemeClr val="bg1"/>
              </a:solidFill>
            </a:rPr>
            <a:t>– </a:t>
          </a:r>
          <a:r>
            <a:rPr lang="zh-CN" altLang="en-US" dirty="0">
              <a:solidFill>
                <a:schemeClr val="bg1"/>
              </a:solidFill>
            </a:rPr>
            <a:t>收集数据，决策方法和做决策的速度，追求近实时</a:t>
          </a:r>
          <a:endParaRPr lang="zh-CN" dirty="0">
            <a:solidFill>
              <a:schemeClr val="bg1"/>
            </a:solidFill>
          </a:endParaRPr>
        </a:p>
      </dgm:t>
    </dgm:pt>
    <dgm:pt modelId="{68092309-F615-4993-AF64-DC31647DF590}" type="parTrans" cxnId="{96479740-7C1D-4CAD-93FD-83C56C96F954}">
      <dgm:prSet/>
      <dgm:spPr/>
      <dgm:t>
        <a:bodyPr/>
        <a:lstStyle/>
        <a:p>
          <a:endParaRPr lang="zh-CN" altLang="en-US"/>
        </a:p>
      </dgm:t>
    </dgm:pt>
    <dgm:pt modelId="{7EEC78ED-6AC3-4B68-ADB3-2FF7E26B36C5}" type="sibTrans" cxnId="{96479740-7C1D-4CAD-93FD-83C56C96F954}">
      <dgm:prSet/>
      <dgm:spPr/>
      <dgm:t>
        <a:bodyPr/>
        <a:lstStyle/>
        <a:p>
          <a:endParaRPr lang="zh-CN" altLang="en-US"/>
        </a:p>
      </dgm:t>
    </dgm:pt>
    <dgm:pt modelId="{911BBC78-0E88-4D7B-A211-9A0871E986ED}">
      <dgm:prSet/>
      <dgm:spPr/>
      <dgm:t>
        <a:bodyPr/>
        <a:lstStyle/>
        <a:p>
          <a:r>
            <a:rPr lang="zh-CN" b="1" dirty="0">
              <a:solidFill>
                <a:schemeClr val="bg1"/>
              </a:solidFill>
            </a:rPr>
            <a:t>决策数据颗粒度 </a:t>
          </a:r>
          <a:r>
            <a:rPr lang="en-US" dirty="0">
              <a:solidFill>
                <a:schemeClr val="bg1"/>
              </a:solidFill>
            </a:rPr>
            <a:t>– </a:t>
          </a:r>
          <a:r>
            <a:rPr lang="zh-CN" altLang="en-US" dirty="0">
              <a:solidFill>
                <a:schemeClr val="bg1"/>
              </a:solidFill>
            </a:rPr>
            <a:t>对齐</a:t>
          </a:r>
          <a:r>
            <a:rPr lang="zh-CN" dirty="0">
              <a:solidFill>
                <a:schemeClr val="bg1"/>
              </a:solidFill>
            </a:rPr>
            <a:t>数据刻度</a:t>
          </a:r>
          <a:r>
            <a:rPr lang="zh-CN" altLang="en-US" dirty="0">
              <a:solidFill>
                <a:schemeClr val="bg1"/>
              </a:solidFill>
            </a:rPr>
            <a:t>，并且越细越好</a:t>
          </a:r>
          <a:endParaRPr lang="zh-CN" dirty="0">
            <a:solidFill>
              <a:schemeClr val="bg1"/>
            </a:solidFill>
          </a:endParaRPr>
        </a:p>
      </dgm:t>
    </dgm:pt>
    <dgm:pt modelId="{22792F82-E21C-41D1-94B0-700C828ACCE0}" type="parTrans" cxnId="{4E4F0926-EC10-4DA9-8B12-511C63B00FD3}">
      <dgm:prSet/>
      <dgm:spPr/>
      <dgm:t>
        <a:bodyPr/>
        <a:lstStyle/>
        <a:p>
          <a:endParaRPr lang="zh-CN" altLang="en-US"/>
        </a:p>
      </dgm:t>
    </dgm:pt>
    <dgm:pt modelId="{3D5087AB-19B5-4D09-8E2C-3DE81BD913CB}" type="sibTrans" cxnId="{4E4F0926-EC10-4DA9-8B12-511C63B00FD3}">
      <dgm:prSet/>
      <dgm:spPr/>
      <dgm:t>
        <a:bodyPr/>
        <a:lstStyle/>
        <a:p>
          <a:endParaRPr lang="zh-CN" altLang="en-US"/>
        </a:p>
      </dgm:t>
    </dgm:pt>
    <dgm:pt modelId="{2761E31D-B5B6-45F2-89D3-853D80367649}">
      <dgm:prSet/>
      <dgm:spPr/>
      <dgm:t>
        <a:bodyPr/>
        <a:lstStyle/>
        <a:p>
          <a:r>
            <a:rPr lang="zh-CN" b="1" dirty="0">
              <a:solidFill>
                <a:schemeClr val="bg1"/>
              </a:solidFill>
            </a:rPr>
            <a:t>多</a:t>
          </a:r>
          <a:r>
            <a:rPr lang="zh-CN" altLang="en-US" b="1" dirty="0">
              <a:solidFill>
                <a:schemeClr val="bg1"/>
              </a:solidFill>
            </a:rPr>
            <a:t>模态规划</a:t>
          </a:r>
          <a:r>
            <a:rPr lang="zh-CN" b="1" dirty="0">
              <a:solidFill>
                <a:schemeClr val="bg1"/>
              </a:solidFill>
            </a:rPr>
            <a:t> </a:t>
          </a:r>
          <a:r>
            <a:rPr lang="en-US" dirty="0">
              <a:solidFill>
                <a:schemeClr val="bg1"/>
              </a:solidFill>
            </a:rPr>
            <a:t>– Plan A …Plan B …</a:t>
          </a:r>
          <a:r>
            <a:rPr lang="zh-CN" altLang="en-US" dirty="0">
              <a:solidFill>
                <a:schemeClr val="bg1"/>
              </a:solidFill>
            </a:rPr>
            <a:t>即</a:t>
          </a:r>
          <a:r>
            <a:rPr lang="en-US" altLang="zh-CN" dirty="0">
              <a:solidFill>
                <a:schemeClr val="bg1"/>
              </a:solidFill>
            </a:rPr>
            <a:t>What-if, Best Fit</a:t>
          </a:r>
          <a:r>
            <a:rPr lang="zh-CN" altLang="en-US" dirty="0">
              <a:solidFill>
                <a:schemeClr val="bg1"/>
              </a:solidFill>
            </a:rPr>
            <a:t>。</a:t>
          </a:r>
          <a:r>
            <a:rPr lang="en-US" dirty="0">
              <a:solidFill>
                <a:schemeClr val="bg1"/>
              </a:solidFill>
            </a:rPr>
            <a:t> </a:t>
          </a:r>
          <a:endParaRPr lang="zh-CN" dirty="0">
            <a:solidFill>
              <a:schemeClr val="bg1"/>
            </a:solidFill>
          </a:endParaRPr>
        </a:p>
      </dgm:t>
    </dgm:pt>
    <dgm:pt modelId="{069B9B16-FE0D-481B-B5DB-02C72B625C08}" type="parTrans" cxnId="{545B4A46-8146-4A74-B086-191788021890}">
      <dgm:prSet/>
      <dgm:spPr/>
      <dgm:t>
        <a:bodyPr/>
        <a:lstStyle/>
        <a:p>
          <a:endParaRPr lang="zh-CN" altLang="en-US"/>
        </a:p>
      </dgm:t>
    </dgm:pt>
    <dgm:pt modelId="{607859CA-A7CC-4A81-9F27-6B72B8E9AB38}" type="sibTrans" cxnId="{545B4A46-8146-4A74-B086-191788021890}">
      <dgm:prSet/>
      <dgm:spPr/>
      <dgm:t>
        <a:bodyPr/>
        <a:lstStyle/>
        <a:p>
          <a:endParaRPr lang="zh-CN" altLang="en-US"/>
        </a:p>
      </dgm:t>
    </dgm:pt>
    <dgm:pt modelId="{0D31A8D1-232B-4191-9D6D-738582A2F749}" type="pres">
      <dgm:prSet presAssocID="{A364D86C-7B36-4F31-9D08-103D7DAFB5A6}" presName="vert0" presStyleCnt="0">
        <dgm:presLayoutVars>
          <dgm:dir/>
          <dgm:animOne val="branch"/>
          <dgm:animLvl val="lvl"/>
        </dgm:presLayoutVars>
      </dgm:prSet>
      <dgm:spPr/>
    </dgm:pt>
    <dgm:pt modelId="{BCEDFF5A-B575-4631-A44F-ED4EB2F37A5C}" type="pres">
      <dgm:prSet presAssocID="{F087409E-996E-4447-93FF-3FC49DFBE593}" presName="thickLine" presStyleLbl="alignNode1" presStyleIdx="0" presStyleCnt="7"/>
      <dgm:spPr/>
    </dgm:pt>
    <dgm:pt modelId="{3ACED858-BC24-414F-B37D-BFFE14CD0B18}" type="pres">
      <dgm:prSet presAssocID="{F087409E-996E-4447-93FF-3FC49DFBE593}" presName="horz1" presStyleCnt="0"/>
      <dgm:spPr/>
    </dgm:pt>
    <dgm:pt modelId="{27A0C089-6DEF-4207-9834-33080C906A94}" type="pres">
      <dgm:prSet presAssocID="{F087409E-996E-4447-93FF-3FC49DFBE593}" presName="tx1" presStyleLbl="revTx" presStyleIdx="0" presStyleCnt="7"/>
      <dgm:spPr/>
    </dgm:pt>
    <dgm:pt modelId="{36952DEC-9B96-4529-92F6-06A51DFC3977}" type="pres">
      <dgm:prSet presAssocID="{F087409E-996E-4447-93FF-3FC49DFBE593}" presName="vert1" presStyleCnt="0"/>
      <dgm:spPr/>
    </dgm:pt>
    <dgm:pt modelId="{57F97512-30EA-45C3-804E-8A12F6A6585D}" type="pres">
      <dgm:prSet presAssocID="{8C44D0EC-7BBE-4671-A754-5D7BFB8BB118}" presName="thickLine" presStyleLbl="alignNode1" presStyleIdx="1" presStyleCnt="7"/>
      <dgm:spPr/>
    </dgm:pt>
    <dgm:pt modelId="{164EC8A8-FE48-4AA0-A90E-9860DD6C477E}" type="pres">
      <dgm:prSet presAssocID="{8C44D0EC-7BBE-4671-A754-5D7BFB8BB118}" presName="horz1" presStyleCnt="0"/>
      <dgm:spPr/>
    </dgm:pt>
    <dgm:pt modelId="{0C8AA46D-9639-4104-922A-3E23518AC207}" type="pres">
      <dgm:prSet presAssocID="{8C44D0EC-7BBE-4671-A754-5D7BFB8BB118}" presName="tx1" presStyleLbl="revTx" presStyleIdx="1" presStyleCnt="7"/>
      <dgm:spPr/>
    </dgm:pt>
    <dgm:pt modelId="{03367AB5-3031-401A-8DC5-99889DC011A4}" type="pres">
      <dgm:prSet presAssocID="{8C44D0EC-7BBE-4671-A754-5D7BFB8BB118}" presName="vert1" presStyleCnt="0"/>
      <dgm:spPr/>
    </dgm:pt>
    <dgm:pt modelId="{B0DB0438-BDC2-4065-A7D5-AF3B487A70C9}" type="pres">
      <dgm:prSet presAssocID="{A755B500-E923-4937-BF7A-1EA4B4774692}" presName="thickLine" presStyleLbl="alignNode1" presStyleIdx="2" presStyleCnt="7"/>
      <dgm:spPr/>
    </dgm:pt>
    <dgm:pt modelId="{53D25FE2-C8C1-4AB3-A335-7BF460F0FE34}" type="pres">
      <dgm:prSet presAssocID="{A755B500-E923-4937-BF7A-1EA4B4774692}" presName="horz1" presStyleCnt="0"/>
      <dgm:spPr/>
    </dgm:pt>
    <dgm:pt modelId="{81B663F2-5708-4D14-B93D-958B6D045045}" type="pres">
      <dgm:prSet presAssocID="{A755B500-E923-4937-BF7A-1EA4B4774692}" presName="tx1" presStyleLbl="revTx" presStyleIdx="2" presStyleCnt="7"/>
      <dgm:spPr/>
    </dgm:pt>
    <dgm:pt modelId="{923C7D74-1A28-4EFD-9629-0E5D42F32045}" type="pres">
      <dgm:prSet presAssocID="{A755B500-E923-4937-BF7A-1EA4B4774692}" presName="vert1" presStyleCnt="0"/>
      <dgm:spPr/>
    </dgm:pt>
    <dgm:pt modelId="{DED42BA7-B530-467C-BE15-AA38EE679AF3}" type="pres">
      <dgm:prSet presAssocID="{21C890FB-B0B1-4367-8B56-0D0D3788CB05}" presName="thickLine" presStyleLbl="alignNode1" presStyleIdx="3" presStyleCnt="7"/>
      <dgm:spPr/>
    </dgm:pt>
    <dgm:pt modelId="{C97E8557-5752-4E17-B06F-707509E21DE6}" type="pres">
      <dgm:prSet presAssocID="{21C890FB-B0B1-4367-8B56-0D0D3788CB05}" presName="horz1" presStyleCnt="0"/>
      <dgm:spPr/>
    </dgm:pt>
    <dgm:pt modelId="{831843C2-EE6E-4CC5-8490-7C2749A7B769}" type="pres">
      <dgm:prSet presAssocID="{21C890FB-B0B1-4367-8B56-0D0D3788CB05}" presName="tx1" presStyleLbl="revTx" presStyleIdx="3" presStyleCnt="7"/>
      <dgm:spPr/>
    </dgm:pt>
    <dgm:pt modelId="{5CFB9CC8-51BC-406C-B1AA-F74DD284C95B}" type="pres">
      <dgm:prSet presAssocID="{21C890FB-B0B1-4367-8B56-0D0D3788CB05}" presName="vert1" presStyleCnt="0"/>
      <dgm:spPr/>
    </dgm:pt>
    <dgm:pt modelId="{6D12EB34-3322-4202-9662-34527A0F7C44}" type="pres">
      <dgm:prSet presAssocID="{7F003F62-64BD-47C1-A73E-7B555EEF02EB}" presName="thickLine" presStyleLbl="alignNode1" presStyleIdx="4" presStyleCnt="7"/>
      <dgm:spPr/>
    </dgm:pt>
    <dgm:pt modelId="{867F92E8-450F-4204-8559-C06822F59D5D}" type="pres">
      <dgm:prSet presAssocID="{7F003F62-64BD-47C1-A73E-7B555EEF02EB}" presName="horz1" presStyleCnt="0"/>
      <dgm:spPr/>
    </dgm:pt>
    <dgm:pt modelId="{CC9E68D6-CC6E-4065-9997-E7A34167804C}" type="pres">
      <dgm:prSet presAssocID="{7F003F62-64BD-47C1-A73E-7B555EEF02EB}" presName="tx1" presStyleLbl="revTx" presStyleIdx="4" presStyleCnt="7"/>
      <dgm:spPr/>
    </dgm:pt>
    <dgm:pt modelId="{3F17A762-4D8B-41B3-A56B-BFBA30A12608}" type="pres">
      <dgm:prSet presAssocID="{7F003F62-64BD-47C1-A73E-7B555EEF02EB}" presName="vert1" presStyleCnt="0"/>
      <dgm:spPr/>
    </dgm:pt>
    <dgm:pt modelId="{01F9AEE5-F5DD-49F5-8A22-EC584439D955}" type="pres">
      <dgm:prSet presAssocID="{911BBC78-0E88-4D7B-A211-9A0871E986ED}" presName="thickLine" presStyleLbl="alignNode1" presStyleIdx="5" presStyleCnt="7"/>
      <dgm:spPr/>
    </dgm:pt>
    <dgm:pt modelId="{C976954C-33B3-4F61-A1A8-D60729682D60}" type="pres">
      <dgm:prSet presAssocID="{911BBC78-0E88-4D7B-A211-9A0871E986ED}" presName="horz1" presStyleCnt="0"/>
      <dgm:spPr/>
    </dgm:pt>
    <dgm:pt modelId="{E4D8068B-ACC4-4BFB-8007-056B5F5B7906}" type="pres">
      <dgm:prSet presAssocID="{911BBC78-0E88-4D7B-A211-9A0871E986ED}" presName="tx1" presStyleLbl="revTx" presStyleIdx="5" presStyleCnt="7"/>
      <dgm:spPr/>
    </dgm:pt>
    <dgm:pt modelId="{5EE9B1C2-9557-4B75-B587-A50C5F0C002E}" type="pres">
      <dgm:prSet presAssocID="{911BBC78-0E88-4D7B-A211-9A0871E986ED}" presName="vert1" presStyleCnt="0"/>
      <dgm:spPr/>
    </dgm:pt>
    <dgm:pt modelId="{CA4DFF90-785B-4CA6-9800-13EA396418B0}" type="pres">
      <dgm:prSet presAssocID="{2761E31D-B5B6-45F2-89D3-853D80367649}" presName="thickLine" presStyleLbl="alignNode1" presStyleIdx="6" presStyleCnt="7"/>
      <dgm:spPr/>
    </dgm:pt>
    <dgm:pt modelId="{4BD3BC30-DB2D-4C67-A965-04A718DCAEA4}" type="pres">
      <dgm:prSet presAssocID="{2761E31D-B5B6-45F2-89D3-853D80367649}" presName="horz1" presStyleCnt="0"/>
      <dgm:spPr/>
    </dgm:pt>
    <dgm:pt modelId="{88292A59-068E-4FDF-8BD8-A656379CECC9}" type="pres">
      <dgm:prSet presAssocID="{2761E31D-B5B6-45F2-89D3-853D80367649}" presName="tx1" presStyleLbl="revTx" presStyleIdx="6" presStyleCnt="7"/>
      <dgm:spPr/>
    </dgm:pt>
    <dgm:pt modelId="{49A53EF6-5EF0-4AAD-9B7C-19589BA4CC62}" type="pres">
      <dgm:prSet presAssocID="{2761E31D-B5B6-45F2-89D3-853D80367649}" presName="vert1" presStyleCnt="0"/>
      <dgm:spPr/>
    </dgm:pt>
  </dgm:ptLst>
  <dgm:cxnLst>
    <dgm:cxn modelId="{195FAF23-07B3-435C-B9F9-1346F41FA3A3}" srcId="{A364D86C-7B36-4F31-9D08-103D7DAFB5A6}" destId="{8C44D0EC-7BBE-4671-A754-5D7BFB8BB118}" srcOrd="1" destOrd="0" parTransId="{6A8B06F7-9548-4494-9B86-059D6C567FED}" sibTransId="{3C1264FD-1AD6-4AFB-975C-3F738F2FE9DA}"/>
    <dgm:cxn modelId="{4E4F0926-EC10-4DA9-8B12-511C63B00FD3}" srcId="{A364D86C-7B36-4F31-9D08-103D7DAFB5A6}" destId="{911BBC78-0E88-4D7B-A211-9A0871E986ED}" srcOrd="5" destOrd="0" parTransId="{22792F82-E21C-41D1-94B0-700C828ACCE0}" sibTransId="{3D5087AB-19B5-4D09-8E2C-3DE81BD913CB}"/>
    <dgm:cxn modelId="{1FFF3226-6E76-4608-8A5B-4F1DA698A2AF}" type="presOf" srcId="{F087409E-996E-4447-93FF-3FC49DFBE593}" destId="{27A0C089-6DEF-4207-9834-33080C906A94}" srcOrd="0" destOrd="0" presId="urn:microsoft.com/office/officeart/2008/layout/LinedList"/>
    <dgm:cxn modelId="{F3206B30-E3DD-43D1-9DD5-790D2A086DBA}" type="presOf" srcId="{7F003F62-64BD-47C1-A73E-7B555EEF02EB}" destId="{CC9E68D6-CC6E-4065-9997-E7A34167804C}" srcOrd="0" destOrd="0" presId="urn:microsoft.com/office/officeart/2008/layout/LinedList"/>
    <dgm:cxn modelId="{766D563F-956B-4715-B8FE-9C92D8F2253A}" srcId="{A364D86C-7B36-4F31-9D08-103D7DAFB5A6}" destId="{F087409E-996E-4447-93FF-3FC49DFBE593}" srcOrd="0" destOrd="0" parTransId="{F70F1EBF-4E35-4151-9BAA-A3FC13A51439}" sibTransId="{81E4B9BA-018A-4642-9BB7-D90C0776F665}"/>
    <dgm:cxn modelId="{96479740-7C1D-4CAD-93FD-83C56C96F954}" srcId="{A364D86C-7B36-4F31-9D08-103D7DAFB5A6}" destId="{7F003F62-64BD-47C1-A73E-7B555EEF02EB}" srcOrd="4" destOrd="0" parTransId="{68092309-F615-4993-AF64-DC31647DF590}" sibTransId="{7EEC78ED-6AC3-4B68-ADB3-2FF7E26B36C5}"/>
    <dgm:cxn modelId="{545B4A46-8146-4A74-B086-191788021890}" srcId="{A364D86C-7B36-4F31-9D08-103D7DAFB5A6}" destId="{2761E31D-B5B6-45F2-89D3-853D80367649}" srcOrd="6" destOrd="0" parTransId="{069B9B16-FE0D-481B-B5DB-02C72B625C08}" sibTransId="{607859CA-A7CC-4A81-9F27-6B72B8E9AB38}"/>
    <dgm:cxn modelId="{9647F948-441B-4582-83B2-4732629B646E}" srcId="{A364D86C-7B36-4F31-9D08-103D7DAFB5A6}" destId="{21C890FB-B0B1-4367-8B56-0D0D3788CB05}" srcOrd="3" destOrd="0" parTransId="{ADEC2094-9DC0-4765-B0DB-E202C774F5F0}" sibTransId="{9DF78064-EB71-4366-B1EA-5EDFDE449CD0}"/>
    <dgm:cxn modelId="{5E65336B-D29B-41EF-AACA-784904AEE4A8}" srcId="{A364D86C-7B36-4F31-9D08-103D7DAFB5A6}" destId="{A755B500-E923-4937-BF7A-1EA4B4774692}" srcOrd="2" destOrd="0" parTransId="{1FE9213A-A506-4B41-B044-1509B09805AE}" sibTransId="{C034C4B9-9747-4497-AED3-F3E02EF4D3E2}"/>
    <dgm:cxn modelId="{CDF52378-FB17-42D8-93EA-12C53FB12D16}" type="presOf" srcId="{A364D86C-7B36-4F31-9D08-103D7DAFB5A6}" destId="{0D31A8D1-232B-4191-9D6D-738582A2F749}" srcOrd="0" destOrd="0" presId="urn:microsoft.com/office/officeart/2008/layout/LinedList"/>
    <dgm:cxn modelId="{90572EA3-B08A-4150-8FEC-9D5D5796B53D}" type="presOf" srcId="{21C890FB-B0B1-4367-8B56-0D0D3788CB05}" destId="{831843C2-EE6E-4CC5-8490-7C2749A7B769}" srcOrd="0" destOrd="0" presId="urn:microsoft.com/office/officeart/2008/layout/LinedList"/>
    <dgm:cxn modelId="{5BC6E0B1-E9E6-4CC7-A81E-8BF386E4C6CD}" type="presOf" srcId="{911BBC78-0E88-4D7B-A211-9A0871E986ED}" destId="{E4D8068B-ACC4-4BFB-8007-056B5F5B7906}" srcOrd="0" destOrd="0" presId="urn:microsoft.com/office/officeart/2008/layout/LinedList"/>
    <dgm:cxn modelId="{0F4CCACF-DD03-4A91-86C8-793093929F61}" type="presOf" srcId="{2761E31D-B5B6-45F2-89D3-853D80367649}" destId="{88292A59-068E-4FDF-8BD8-A656379CECC9}" srcOrd="0" destOrd="0" presId="urn:microsoft.com/office/officeart/2008/layout/LinedList"/>
    <dgm:cxn modelId="{75367ED0-1F03-492B-89C6-5FE384E35781}" type="presOf" srcId="{8C44D0EC-7BBE-4671-A754-5D7BFB8BB118}" destId="{0C8AA46D-9639-4104-922A-3E23518AC207}" srcOrd="0" destOrd="0" presId="urn:microsoft.com/office/officeart/2008/layout/LinedList"/>
    <dgm:cxn modelId="{63F4F9F8-7638-4C09-BE15-C9D7E65025B9}" type="presOf" srcId="{A755B500-E923-4937-BF7A-1EA4B4774692}" destId="{81B663F2-5708-4D14-B93D-958B6D045045}" srcOrd="0" destOrd="0" presId="urn:microsoft.com/office/officeart/2008/layout/LinedList"/>
    <dgm:cxn modelId="{A0A678DD-5FB6-4F80-B132-4B234189CBF2}" type="presParOf" srcId="{0D31A8D1-232B-4191-9D6D-738582A2F749}" destId="{BCEDFF5A-B575-4631-A44F-ED4EB2F37A5C}" srcOrd="0" destOrd="0" presId="urn:microsoft.com/office/officeart/2008/layout/LinedList"/>
    <dgm:cxn modelId="{DBB69937-9D67-4DD8-8C95-EB270554F559}" type="presParOf" srcId="{0D31A8D1-232B-4191-9D6D-738582A2F749}" destId="{3ACED858-BC24-414F-B37D-BFFE14CD0B18}" srcOrd="1" destOrd="0" presId="urn:microsoft.com/office/officeart/2008/layout/LinedList"/>
    <dgm:cxn modelId="{2460BB3F-FE4F-41FF-9B7E-D2B63EF1A92F}" type="presParOf" srcId="{3ACED858-BC24-414F-B37D-BFFE14CD0B18}" destId="{27A0C089-6DEF-4207-9834-33080C906A94}" srcOrd="0" destOrd="0" presId="urn:microsoft.com/office/officeart/2008/layout/LinedList"/>
    <dgm:cxn modelId="{6DF398E9-BDFF-4CCC-BA46-81F418B16989}" type="presParOf" srcId="{3ACED858-BC24-414F-B37D-BFFE14CD0B18}" destId="{36952DEC-9B96-4529-92F6-06A51DFC3977}" srcOrd="1" destOrd="0" presId="urn:microsoft.com/office/officeart/2008/layout/LinedList"/>
    <dgm:cxn modelId="{11C6E0E3-AC98-405D-93E9-9D50853DE6BB}" type="presParOf" srcId="{0D31A8D1-232B-4191-9D6D-738582A2F749}" destId="{57F97512-30EA-45C3-804E-8A12F6A6585D}" srcOrd="2" destOrd="0" presId="urn:microsoft.com/office/officeart/2008/layout/LinedList"/>
    <dgm:cxn modelId="{C33A821F-28D6-413E-9C99-297865F96BF4}" type="presParOf" srcId="{0D31A8D1-232B-4191-9D6D-738582A2F749}" destId="{164EC8A8-FE48-4AA0-A90E-9860DD6C477E}" srcOrd="3" destOrd="0" presId="urn:microsoft.com/office/officeart/2008/layout/LinedList"/>
    <dgm:cxn modelId="{030B3E53-7E6B-48E4-B0DD-3C2EEFA99DC4}" type="presParOf" srcId="{164EC8A8-FE48-4AA0-A90E-9860DD6C477E}" destId="{0C8AA46D-9639-4104-922A-3E23518AC207}" srcOrd="0" destOrd="0" presId="urn:microsoft.com/office/officeart/2008/layout/LinedList"/>
    <dgm:cxn modelId="{7D6E3793-9EF5-4CFB-B5D6-B6077D48332A}" type="presParOf" srcId="{164EC8A8-FE48-4AA0-A90E-9860DD6C477E}" destId="{03367AB5-3031-401A-8DC5-99889DC011A4}" srcOrd="1" destOrd="0" presId="urn:microsoft.com/office/officeart/2008/layout/LinedList"/>
    <dgm:cxn modelId="{87876527-E86F-4702-B4CE-9A476B5666DB}" type="presParOf" srcId="{0D31A8D1-232B-4191-9D6D-738582A2F749}" destId="{B0DB0438-BDC2-4065-A7D5-AF3B487A70C9}" srcOrd="4" destOrd="0" presId="urn:microsoft.com/office/officeart/2008/layout/LinedList"/>
    <dgm:cxn modelId="{5D89968A-68CC-4668-900B-55C1C199C309}" type="presParOf" srcId="{0D31A8D1-232B-4191-9D6D-738582A2F749}" destId="{53D25FE2-C8C1-4AB3-A335-7BF460F0FE34}" srcOrd="5" destOrd="0" presId="urn:microsoft.com/office/officeart/2008/layout/LinedList"/>
    <dgm:cxn modelId="{946C4405-0CD1-4EF7-806B-022212D42DC7}" type="presParOf" srcId="{53D25FE2-C8C1-4AB3-A335-7BF460F0FE34}" destId="{81B663F2-5708-4D14-B93D-958B6D045045}" srcOrd="0" destOrd="0" presId="urn:microsoft.com/office/officeart/2008/layout/LinedList"/>
    <dgm:cxn modelId="{C2094628-2CB8-4A5E-9A7F-83677BF02FF1}" type="presParOf" srcId="{53D25FE2-C8C1-4AB3-A335-7BF460F0FE34}" destId="{923C7D74-1A28-4EFD-9629-0E5D42F32045}" srcOrd="1" destOrd="0" presId="urn:microsoft.com/office/officeart/2008/layout/LinedList"/>
    <dgm:cxn modelId="{F68194A4-F6CD-47DB-ABAE-CA4F02F8C100}" type="presParOf" srcId="{0D31A8D1-232B-4191-9D6D-738582A2F749}" destId="{DED42BA7-B530-467C-BE15-AA38EE679AF3}" srcOrd="6" destOrd="0" presId="urn:microsoft.com/office/officeart/2008/layout/LinedList"/>
    <dgm:cxn modelId="{6EF87752-C2B9-493B-8D78-DDDE5B0AC9A6}" type="presParOf" srcId="{0D31A8D1-232B-4191-9D6D-738582A2F749}" destId="{C97E8557-5752-4E17-B06F-707509E21DE6}" srcOrd="7" destOrd="0" presId="urn:microsoft.com/office/officeart/2008/layout/LinedList"/>
    <dgm:cxn modelId="{F16ACC25-40B1-419F-90F7-4B5FAC13E2EB}" type="presParOf" srcId="{C97E8557-5752-4E17-B06F-707509E21DE6}" destId="{831843C2-EE6E-4CC5-8490-7C2749A7B769}" srcOrd="0" destOrd="0" presId="urn:microsoft.com/office/officeart/2008/layout/LinedList"/>
    <dgm:cxn modelId="{3BAF4267-4E09-47FA-9291-AE836D472043}" type="presParOf" srcId="{C97E8557-5752-4E17-B06F-707509E21DE6}" destId="{5CFB9CC8-51BC-406C-B1AA-F74DD284C95B}" srcOrd="1" destOrd="0" presId="urn:microsoft.com/office/officeart/2008/layout/LinedList"/>
    <dgm:cxn modelId="{D25C02A7-F258-4069-B8C0-E8D8FABC3EE6}" type="presParOf" srcId="{0D31A8D1-232B-4191-9D6D-738582A2F749}" destId="{6D12EB34-3322-4202-9662-34527A0F7C44}" srcOrd="8" destOrd="0" presId="urn:microsoft.com/office/officeart/2008/layout/LinedList"/>
    <dgm:cxn modelId="{6C55A894-879A-4244-8AA4-0330FB7E3CCB}" type="presParOf" srcId="{0D31A8D1-232B-4191-9D6D-738582A2F749}" destId="{867F92E8-450F-4204-8559-C06822F59D5D}" srcOrd="9" destOrd="0" presId="urn:microsoft.com/office/officeart/2008/layout/LinedList"/>
    <dgm:cxn modelId="{2455DF72-F603-4968-8DD4-5F8944EB5327}" type="presParOf" srcId="{867F92E8-450F-4204-8559-C06822F59D5D}" destId="{CC9E68D6-CC6E-4065-9997-E7A34167804C}" srcOrd="0" destOrd="0" presId="urn:microsoft.com/office/officeart/2008/layout/LinedList"/>
    <dgm:cxn modelId="{BDDBE22C-FCEB-48F0-8DB5-AD5609D2891D}" type="presParOf" srcId="{867F92E8-450F-4204-8559-C06822F59D5D}" destId="{3F17A762-4D8B-41B3-A56B-BFBA30A12608}" srcOrd="1" destOrd="0" presId="urn:microsoft.com/office/officeart/2008/layout/LinedList"/>
    <dgm:cxn modelId="{E6C03E09-79A1-4010-ABD9-6AA7D2974520}" type="presParOf" srcId="{0D31A8D1-232B-4191-9D6D-738582A2F749}" destId="{01F9AEE5-F5DD-49F5-8A22-EC584439D955}" srcOrd="10" destOrd="0" presId="urn:microsoft.com/office/officeart/2008/layout/LinedList"/>
    <dgm:cxn modelId="{715A6F32-98CE-497F-ADD3-3C60EDE2426C}" type="presParOf" srcId="{0D31A8D1-232B-4191-9D6D-738582A2F749}" destId="{C976954C-33B3-4F61-A1A8-D60729682D60}" srcOrd="11" destOrd="0" presId="urn:microsoft.com/office/officeart/2008/layout/LinedList"/>
    <dgm:cxn modelId="{8308E67C-42CF-491C-B7D9-40DB3ABDCF2D}" type="presParOf" srcId="{C976954C-33B3-4F61-A1A8-D60729682D60}" destId="{E4D8068B-ACC4-4BFB-8007-056B5F5B7906}" srcOrd="0" destOrd="0" presId="urn:microsoft.com/office/officeart/2008/layout/LinedList"/>
    <dgm:cxn modelId="{A3CBF046-1D43-48ED-A455-3CF5677BFE57}" type="presParOf" srcId="{C976954C-33B3-4F61-A1A8-D60729682D60}" destId="{5EE9B1C2-9557-4B75-B587-A50C5F0C002E}" srcOrd="1" destOrd="0" presId="urn:microsoft.com/office/officeart/2008/layout/LinedList"/>
    <dgm:cxn modelId="{2B83E7F3-4FE0-4AC9-A738-BB8B268E33FF}" type="presParOf" srcId="{0D31A8D1-232B-4191-9D6D-738582A2F749}" destId="{CA4DFF90-785B-4CA6-9800-13EA396418B0}" srcOrd="12" destOrd="0" presId="urn:microsoft.com/office/officeart/2008/layout/LinedList"/>
    <dgm:cxn modelId="{F90E88DE-DB97-46AF-B638-B4753ED2D88B}" type="presParOf" srcId="{0D31A8D1-232B-4191-9D6D-738582A2F749}" destId="{4BD3BC30-DB2D-4C67-A965-04A718DCAEA4}" srcOrd="13" destOrd="0" presId="urn:microsoft.com/office/officeart/2008/layout/LinedList"/>
    <dgm:cxn modelId="{C4C4EAB4-A1B5-40FE-9CEF-CAF1C6E092B2}" type="presParOf" srcId="{4BD3BC30-DB2D-4C67-A965-04A718DCAEA4}" destId="{88292A59-068E-4FDF-8BD8-A656379CECC9}" srcOrd="0" destOrd="0" presId="urn:microsoft.com/office/officeart/2008/layout/LinedList"/>
    <dgm:cxn modelId="{9CC974D0-0AFE-4B08-8B9D-FCC6696FD3D4}" type="presParOf" srcId="{4BD3BC30-DB2D-4C67-A965-04A718DCAEA4}" destId="{49A53EF6-5EF0-4AAD-9B7C-19589BA4CC62}" srcOrd="1" destOrd="0" presId="urn:microsoft.com/office/officeart/2008/layout/LinedList"/>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8B6D60EC-482E-42A6-8C57-486FE839F09C}" type="doc">
      <dgm:prSet loTypeId="urn:microsoft.com/office/officeart/2005/8/layout/arrow2" loCatId="process" qsTypeId="urn:microsoft.com/office/officeart/2005/8/quickstyle/simple1" qsCatId="simple" csTypeId="urn:microsoft.com/office/officeart/2005/8/colors/accent1_1" csCatId="accent1" phldr="1"/>
      <dgm:spPr/>
    </dgm:pt>
    <dgm:pt modelId="{5E8E0DA0-6C82-40ED-A207-3BA5AE74A168}">
      <dgm:prSet phldrT="[文本]" custT="1"/>
      <dgm:spPr>
        <a:xfrm>
          <a:off x="707605" y="1712695"/>
          <a:ext cx="2118225" cy="696159"/>
        </a:xfrm>
        <a:prstGeom prst="rect">
          <a:avLst/>
        </a:prstGeom>
      </dgm:spPr>
      <dgm:t>
        <a:bodyPr/>
        <a:lstStyle/>
        <a:p>
          <a:pPr>
            <a:buNone/>
          </a:pPr>
          <a:r>
            <a:rPr lang="zh-CN" altLang="en-US" sz="2000" b="1">
              <a:latin typeface="Arial"/>
              <a:ea typeface="微软雅黑"/>
              <a:cs typeface="+mn-cs"/>
            </a:rPr>
            <a:t>模拟</a:t>
          </a:r>
          <a:r>
            <a:rPr lang="en-US" altLang="zh-CN" sz="2000" b="1">
              <a:latin typeface="Arial"/>
              <a:ea typeface="微软雅黑"/>
              <a:cs typeface="+mn-cs"/>
            </a:rPr>
            <a:t>Planning</a:t>
          </a:r>
          <a:endParaRPr lang="zh-CN" altLang="en-US" sz="2000" b="1" dirty="0">
            <a:latin typeface="Arial"/>
            <a:ea typeface="微软雅黑"/>
            <a:cs typeface="+mn-cs"/>
          </a:endParaRPr>
        </a:p>
      </dgm:t>
    </dgm:pt>
    <dgm:pt modelId="{5956ED0E-3872-4CA2-B306-A210DA7B60DB}" type="parTrans" cxnId="{590E976A-1CCC-48F7-8048-B94C5E303621}">
      <dgm:prSet/>
      <dgm:spPr/>
      <dgm:t>
        <a:bodyPr/>
        <a:lstStyle/>
        <a:p>
          <a:endParaRPr lang="zh-CN" altLang="en-US">
            <a:solidFill>
              <a:schemeClr val="tx1"/>
            </a:solidFill>
          </a:endParaRPr>
        </a:p>
      </dgm:t>
    </dgm:pt>
    <dgm:pt modelId="{C1432D0E-8B38-4ED5-B722-276CE5CCF745}" type="sibTrans" cxnId="{590E976A-1CCC-48F7-8048-B94C5E303621}">
      <dgm:prSet/>
      <dgm:spPr/>
      <dgm:t>
        <a:bodyPr/>
        <a:lstStyle/>
        <a:p>
          <a:endParaRPr lang="zh-CN" altLang="en-US">
            <a:solidFill>
              <a:schemeClr val="tx1"/>
            </a:solidFill>
          </a:endParaRPr>
        </a:p>
      </dgm:t>
    </dgm:pt>
    <dgm:pt modelId="{9FF93D6F-3699-461F-A609-3FC75C5AD729}">
      <dgm:prSet phldrT="[文本]" custT="1"/>
      <dgm:spPr>
        <a:xfrm>
          <a:off x="3340983" y="627935"/>
          <a:ext cx="2295897" cy="1937753"/>
        </a:xfrm>
        <a:prstGeom prst="rect">
          <a:avLst/>
        </a:prstGeom>
      </dgm:spPr>
      <dgm:t>
        <a:bodyPr spcFirstLastPara="0" vert="horz" wrap="square" lIns="53098" tIns="0" rIns="0" bIns="0" numCol="1" spcCol="1270" anchor="t" anchorCtr="0"/>
        <a:lstStyle/>
        <a:p>
          <a:pPr marL="0" lvl="0" indent="0" algn="l" defTabSz="889000">
            <a:lnSpc>
              <a:spcPct val="90000"/>
            </a:lnSpc>
            <a:spcBef>
              <a:spcPct val="0"/>
            </a:spcBef>
            <a:spcAft>
              <a:spcPct val="35000"/>
            </a:spcAft>
            <a:buNone/>
          </a:pPr>
          <a:r>
            <a:rPr lang="en-US" altLang="zh-CN" sz="2400" b="1" kern="1200">
              <a:latin typeface="Calibri"/>
              <a:ea typeface="宋体" panose="02010600030101010101" pitchFamily="2" charset="-122"/>
              <a:cs typeface="+mn-cs"/>
            </a:rPr>
            <a:t>IPC</a:t>
          </a:r>
          <a:r>
            <a:rPr lang="zh-CN" altLang="en-US" sz="2400" b="1" kern="1200">
              <a:latin typeface="Calibri"/>
              <a:ea typeface="宋体" panose="02010600030101010101" pitchFamily="2" charset="-122"/>
              <a:cs typeface="+mn-cs"/>
            </a:rPr>
            <a:t>优化</a:t>
          </a:r>
          <a:endParaRPr lang="zh-CN" altLang="en-US" sz="2400" b="1" kern="1200" dirty="0">
            <a:latin typeface="Calibri"/>
            <a:ea typeface="宋体" panose="02010600030101010101" pitchFamily="2" charset="-122"/>
            <a:cs typeface="+mn-cs"/>
          </a:endParaRPr>
        </a:p>
      </dgm:t>
    </dgm:pt>
    <dgm:pt modelId="{B95F8CAF-BA3A-4E06-9C8F-EB34B7C4124D}" type="parTrans" cxnId="{345C50B8-FBF6-4A34-BB2A-DB7EEEE89E12}">
      <dgm:prSet/>
      <dgm:spPr/>
      <dgm:t>
        <a:bodyPr/>
        <a:lstStyle/>
        <a:p>
          <a:endParaRPr lang="zh-CN" altLang="en-US">
            <a:solidFill>
              <a:schemeClr val="tx1"/>
            </a:solidFill>
          </a:endParaRPr>
        </a:p>
      </dgm:t>
    </dgm:pt>
    <dgm:pt modelId="{5217BF5C-542C-4FCF-B9B6-C529B3371E05}" type="sibTrans" cxnId="{345C50B8-FBF6-4A34-BB2A-DB7EEEE89E12}">
      <dgm:prSet/>
      <dgm:spPr/>
      <dgm:t>
        <a:bodyPr/>
        <a:lstStyle/>
        <a:p>
          <a:endParaRPr lang="zh-CN" altLang="en-US">
            <a:solidFill>
              <a:schemeClr val="tx1"/>
            </a:solidFill>
          </a:endParaRPr>
        </a:p>
      </dgm:t>
    </dgm:pt>
    <dgm:pt modelId="{8DE61FC9-0371-41E8-B99F-5AE6BED43227}">
      <dgm:prSet phldrT="[文本]" custT="1"/>
      <dgm:spPr>
        <a:xfrm>
          <a:off x="5699930" y="215964"/>
          <a:ext cx="2758027" cy="1674154"/>
        </a:xfrm>
        <a:prstGeom prst="rect">
          <a:avLst/>
        </a:prstGeom>
      </dgm:spPr>
      <dgm:t>
        <a:bodyPr/>
        <a:lstStyle/>
        <a:p>
          <a:pPr>
            <a:buNone/>
          </a:pPr>
          <a:r>
            <a:rPr lang="en-US" altLang="zh-CN" sz="2000" b="1" dirty="0">
              <a:latin typeface="Arial"/>
              <a:ea typeface="微软雅黑"/>
              <a:cs typeface="+mn-cs"/>
            </a:rPr>
            <a:t>IPC</a:t>
          </a:r>
          <a:r>
            <a:rPr lang="zh-CN" altLang="en-US" sz="2000" b="1" dirty="0">
              <a:latin typeface="Arial"/>
              <a:ea typeface="微软雅黑"/>
              <a:cs typeface="+mn-cs"/>
            </a:rPr>
            <a:t>转型</a:t>
          </a:r>
        </a:p>
      </dgm:t>
    </dgm:pt>
    <dgm:pt modelId="{B86474D6-CBFC-40C5-962A-F80922EF2C12}" type="parTrans" cxnId="{79761BEB-0958-4244-8A6E-DFAAC4F56406}">
      <dgm:prSet/>
      <dgm:spPr/>
      <dgm:t>
        <a:bodyPr/>
        <a:lstStyle/>
        <a:p>
          <a:endParaRPr lang="zh-CN" altLang="en-US">
            <a:solidFill>
              <a:schemeClr val="tx1"/>
            </a:solidFill>
          </a:endParaRPr>
        </a:p>
      </dgm:t>
    </dgm:pt>
    <dgm:pt modelId="{BF0604C7-A086-4B3F-961C-87FC7F49801C}" type="sibTrans" cxnId="{79761BEB-0958-4244-8A6E-DFAAC4F56406}">
      <dgm:prSet/>
      <dgm:spPr/>
      <dgm:t>
        <a:bodyPr/>
        <a:lstStyle/>
        <a:p>
          <a:endParaRPr lang="zh-CN" altLang="en-US">
            <a:solidFill>
              <a:schemeClr val="tx1"/>
            </a:solidFill>
          </a:endParaRPr>
        </a:p>
      </dgm:t>
    </dgm:pt>
    <dgm:pt modelId="{48C2E902-9E1C-4547-B109-25C0B533FC45}">
      <dgm:prSet phldrT="[文本]" custT="1"/>
      <dgm:spPr>
        <a:xfrm>
          <a:off x="707605" y="1712695"/>
          <a:ext cx="2118225" cy="696159"/>
        </a:xfrm>
        <a:prstGeom prst="rect">
          <a:avLst/>
        </a:prstGeom>
      </dgm:spPr>
      <dgm:t>
        <a:bodyPr/>
        <a:lstStyle/>
        <a:p>
          <a:pPr>
            <a:buChar char="•"/>
          </a:pPr>
          <a:r>
            <a:rPr lang="zh-CN" altLang="en-US" sz="1200" b="1">
              <a:latin typeface="Arial"/>
              <a:ea typeface="微软雅黑"/>
              <a:cs typeface="+mn-cs"/>
            </a:rPr>
            <a:t>手工程度高</a:t>
          </a:r>
          <a:endParaRPr lang="zh-CN" altLang="en-US" sz="1200" b="1" dirty="0">
            <a:latin typeface="Arial"/>
            <a:ea typeface="微软雅黑"/>
            <a:cs typeface="+mn-cs"/>
          </a:endParaRPr>
        </a:p>
      </dgm:t>
    </dgm:pt>
    <dgm:pt modelId="{1AE23EFC-7918-4420-BD95-682091B2170A}" type="parTrans" cxnId="{0C1837A5-DDC2-4A0C-8770-853E89BF07F6}">
      <dgm:prSet/>
      <dgm:spPr/>
      <dgm:t>
        <a:bodyPr/>
        <a:lstStyle/>
        <a:p>
          <a:endParaRPr lang="zh-CN" altLang="en-US">
            <a:solidFill>
              <a:schemeClr val="tx1"/>
            </a:solidFill>
          </a:endParaRPr>
        </a:p>
      </dgm:t>
    </dgm:pt>
    <dgm:pt modelId="{BD7D1982-EFF0-4D54-A58D-FB4F053F455D}" type="sibTrans" cxnId="{0C1837A5-DDC2-4A0C-8770-853E89BF07F6}">
      <dgm:prSet/>
      <dgm:spPr/>
      <dgm:t>
        <a:bodyPr/>
        <a:lstStyle/>
        <a:p>
          <a:endParaRPr lang="zh-CN" altLang="en-US">
            <a:solidFill>
              <a:schemeClr val="tx1"/>
            </a:solidFill>
          </a:endParaRPr>
        </a:p>
      </dgm:t>
    </dgm:pt>
    <dgm:pt modelId="{0856E77C-E86F-492D-86B1-56BD746F51C2}">
      <dgm:prSet custT="1"/>
      <dgm:spPr>
        <a:xfrm>
          <a:off x="3340983" y="627935"/>
          <a:ext cx="2295897" cy="1937753"/>
        </a:xfrm>
        <a:prstGeom prst="rect">
          <a:avLst/>
        </a:prstGeom>
      </dgm:spPr>
      <dgm:t>
        <a:bodyPr/>
        <a:lstStyle/>
        <a:p>
          <a:pPr marL="114300" lvl="1" indent="0" algn="l" defTabSz="533400">
            <a:lnSpc>
              <a:spcPct val="90000"/>
            </a:lnSpc>
            <a:spcBef>
              <a:spcPct val="0"/>
            </a:spcBef>
            <a:spcAft>
              <a:spcPct val="15000"/>
            </a:spcAft>
            <a:buChar char="•"/>
          </a:pPr>
          <a:r>
            <a:rPr lang="zh-CN" altLang="en-US" sz="1200" b="0" kern="1200">
              <a:latin typeface="微软雅黑"/>
              <a:ea typeface="微软雅黑"/>
              <a:cs typeface="+mn-cs"/>
            </a:rPr>
            <a:t>利用数字化技术逐步</a:t>
          </a:r>
          <a:r>
            <a:rPr lang="zh-CN" altLang="en-US" sz="1200" b="1" kern="1200">
              <a:latin typeface="微软雅黑"/>
              <a:ea typeface="微软雅黑"/>
              <a:cs typeface="+mn-cs"/>
            </a:rPr>
            <a:t>实现各层各段自动化</a:t>
          </a:r>
          <a:endParaRPr lang="zh-CN" altLang="en-US" sz="1200" b="1" kern="1200" dirty="0">
            <a:latin typeface="微软雅黑"/>
            <a:ea typeface="微软雅黑"/>
            <a:cs typeface="+mn-cs"/>
          </a:endParaRPr>
        </a:p>
      </dgm:t>
    </dgm:pt>
    <dgm:pt modelId="{5D6614B3-AADF-498C-8CE2-21D7455B3CD0}" type="parTrans" cxnId="{ED08C1F2-6D15-4EA1-98C2-101BC3E1211E}">
      <dgm:prSet/>
      <dgm:spPr/>
      <dgm:t>
        <a:bodyPr/>
        <a:lstStyle/>
        <a:p>
          <a:endParaRPr lang="zh-CN" altLang="en-US">
            <a:solidFill>
              <a:schemeClr val="tx1"/>
            </a:solidFill>
          </a:endParaRPr>
        </a:p>
      </dgm:t>
    </dgm:pt>
    <dgm:pt modelId="{A7C3469E-DFD6-4230-B6BB-8B10AB1FC993}" type="sibTrans" cxnId="{ED08C1F2-6D15-4EA1-98C2-101BC3E1211E}">
      <dgm:prSet/>
      <dgm:spPr/>
      <dgm:t>
        <a:bodyPr/>
        <a:lstStyle/>
        <a:p>
          <a:endParaRPr lang="zh-CN" altLang="en-US">
            <a:solidFill>
              <a:schemeClr val="tx1"/>
            </a:solidFill>
          </a:endParaRPr>
        </a:p>
      </dgm:t>
    </dgm:pt>
    <dgm:pt modelId="{73153351-293C-43B9-AE12-634757D04EDF}">
      <dgm:prSet custT="1"/>
      <dgm:spPr>
        <a:xfrm>
          <a:off x="5699930" y="215964"/>
          <a:ext cx="2758027" cy="1674154"/>
        </a:xfrm>
        <a:prstGeom prst="rect">
          <a:avLst/>
        </a:prstGeom>
      </dgm:spPr>
      <dgm:t>
        <a:bodyPr/>
        <a:lstStyle/>
        <a:p>
          <a:pPr>
            <a:buChar char="•"/>
          </a:pPr>
          <a:r>
            <a:rPr lang="zh-CN" altLang="en-US" sz="1200" b="0">
              <a:latin typeface="Arial"/>
              <a:ea typeface="微软雅黑"/>
              <a:cs typeface="+mn-cs"/>
            </a:rPr>
            <a:t>计划方式</a:t>
          </a:r>
          <a:r>
            <a:rPr lang="zh-CN" altLang="en-US" sz="1200" b="1">
              <a:latin typeface="Arial"/>
              <a:ea typeface="微软雅黑"/>
              <a:cs typeface="+mn-cs"/>
            </a:rPr>
            <a:t>创新式改变，显著提高计划质量</a:t>
          </a:r>
          <a:endParaRPr lang="zh-CN" altLang="en-US" sz="1200" b="1" dirty="0">
            <a:latin typeface="Arial"/>
            <a:ea typeface="微软雅黑"/>
            <a:cs typeface="+mn-cs"/>
          </a:endParaRPr>
        </a:p>
      </dgm:t>
    </dgm:pt>
    <dgm:pt modelId="{5353B094-2664-4C3A-A820-AAAF58506127}" type="parTrans" cxnId="{7D4E84CE-B436-48AE-AB84-C15724253375}">
      <dgm:prSet/>
      <dgm:spPr/>
      <dgm:t>
        <a:bodyPr/>
        <a:lstStyle/>
        <a:p>
          <a:endParaRPr lang="zh-CN" altLang="en-US">
            <a:solidFill>
              <a:schemeClr val="tx1"/>
            </a:solidFill>
          </a:endParaRPr>
        </a:p>
      </dgm:t>
    </dgm:pt>
    <dgm:pt modelId="{2641586B-B98C-4374-84BB-75D47B3BEBAA}" type="sibTrans" cxnId="{7D4E84CE-B436-48AE-AB84-C15724253375}">
      <dgm:prSet/>
      <dgm:spPr/>
      <dgm:t>
        <a:bodyPr/>
        <a:lstStyle/>
        <a:p>
          <a:endParaRPr lang="zh-CN" altLang="en-US">
            <a:solidFill>
              <a:schemeClr val="tx1"/>
            </a:solidFill>
          </a:endParaRPr>
        </a:p>
      </dgm:t>
    </dgm:pt>
    <dgm:pt modelId="{DE1BC969-E454-47A9-BAA5-AC2392540A29}">
      <dgm:prSet custT="1"/>
      <dgm:spPr>
        <a:xfrm>
          <a:off x="3340983" y="627935"/>
          <a:ext cx="2295897" cy="1937753"/>
        </a:xfrm>
        <a:prstGeom prst="rect">
          <a:avLst/>
        </a:prstGeom>
      </dgm:spPr>
      <dgm:t>
        <a:bodyPr/>
        <a:lstStyle/>
        <a:p>
          <a:pPr marL="114300" lvl="1" indent="0" algn="l" defTabSz="533400">
            <a:lnSpc>
              <a:spcPct val="90000"/>
            </a:lnSpc>
            <a:spcBef>
              <a:spcPct val="0"/>
            </a:spcBef>
            <a:spcAft>
              <a:spcPct val="15000"/>
            </a:spcAft>
            <a:buChar char="•"/>
          </a:pPr>
          <a:r>
            <a:rPr lang="zh-CN" altLang="en-US" sz="1200" b="0" kern="1200">
              <a:latin typeface="微软雅黑"/>
              <a:ea typeface="微软雅黑"/>
              <a:cs typeface="+mn-cs"/>
            </a:rPr>
            <a:t>始于阶段</a:t>
          </a:r>
          <a:r>
            <a:rPr lang="en-US" altLang="zh-CN" sz="1200" b="0" kern="1200">
              <a:latin typeface="微软雅黑"/>
              <a:ea typeface="微软雅黑"/>
              <a:cs typeface="+mn-cs"/>
            </a:rPr>
            <a:t>2</a:t>
          </a:r>
          <a:r>
            <a:rPr lang="zh-CN" altLang="en-US" sz="1200" b="0" kern="1200">
              <a:latin typeface="微软雅黑"/>
              <a:ea typeface="微软雅黑"/>
              <a:cs typeface="+mn-cs"/>
            </a:rPr>
            <a:t>末期</a:t>
          </a:r>
          <a:endParaRPr lang="zh-CN" altLang="en-US" sz="1200" b="0" kern="1200" dirty="0">
            <a:latin typeface="微软雅黑"/>
            <a:ea typeface="微软雅黑"/>
            <a:cs typeface="+mn-cs"/>
          </a:endParaRPr>
        </a:p>
      </dgm:t>
    </dgm:pt>
    <dgm:pt modelId="{F21ADA88-14F8-499D-AABC-DB945FFEAFEE}" type="parTrans" cxnId="{5F5D8E26-3948-4DD7-B2BC-04AB5A1C97FD}">
      <dgm:prSet/>
      <dgm:spPr/>
      <dgm:t>
        <a:bodyPr/>
        <a:lstStyle/>
        <a:p>
          <a:endParaRPr lang="zh-CN" altLang="en-US">
            <a:solidFill>
              <a:schemeClr val="tx1"/>
            </a:solidFill>
          </a:endParaRPr>
        </a:p>
      </dgm:t>
    </dgm:pt>
    <dgm:pt modelId="{955A13AB-6061-40AD-8793-EF188FCB6A82}" type="sibTrans" cxnId="{5F5D8E26-3948-4DD7-B2BC-04AB5A1C97FD}">
      <dgm:prSet/>
      <dgm:spPr/>
      <dgm:t>
        <a:bodyPr/>
        <a:lstStyle/>
        <a:p>
          <a:endParaRPr lang="zh-CN" altLang="en-US">
            <a:solidFill>
              <a:schemeClr val="tx1"/>
            </a:solidFill>
          </a:endParaRPr>
        </a:p>
      </dgm:t>
    </dgm:pt>
    <dgm:pt modelId="{7B9CACF4-F092-4B60-9A80-81E51070FA8B}">
      <dgm:prSet custT="1"/>
      <dgm:spPr>
        <a:xfrm>
          <a:off x="3340983" y="627935"/>
          <a:ext cx="2295897" cy="1937753"/>
        </a:xfrm>
        <a:prstGeom prst="rect">
          <a:avLst/>
        </a:prstGeom>
      </dgm:spPr>
      <dgm:t>
        <a:bodyPr/>
        <a:lstStyle/>
        <a:p>
          <a:pPr marL="114300" lvl="1" indent="0" algn="l" defTabSz="533400">
            <a:lnSpc>
              <a:spcPct val="90000"/>
            </a:lnSpc>
            <a:spcBef>
              <a:spcPct val="0"/>
            </a:spcBef>
            <a:spcAft>
              <a:spcPct val="15000"/>
            </a:spcAft>
            <a:buChar char="•"/>
          </a:pPr>
          <a:r>
            <a:rPr lang="zh-CN" altLang="en-US" sz="1200" b="1" kern="1200">
              <a:latin typeface="微软雅黑"/>
              <a:ea typeface="微软雅黑"/>
              <a:cs typeface="+mn-cs"/>
            </a:rPr>
            <a:t>改变计划方式提高质量</a:t>
          </a:r>
          <a:endParaRPr lang="zh-CN" altLang="en-US" sz="1200" b="1" kern="1200" dirty="0">
            <a:latin typeface="微软雅黑"/>
            <a:ea typeface="微软雅黑"/>
            <a:cs typeface="+mn-cs"/>
          </a:endParaRPr>
        </a:p>
      </dgm:t>
    </dgm:pt>
    <dgm:pt modelId="{B821380A-1DBB-429C-92A5-9418ABE21F88}" type="parTrans" cxnId="{8CA5AF4A-2D75-47FF-BA4F-57242E5DC689}">
      <dgm:prSet/>
      <dgm:spPr/>
      <dgm:t>
        <a:bodyPr/>
        <a:lstStyle/>
        <a:p>
          <a:endParaRPr lang="zh-CN" altLang="en-US">
            <a:solidFill>
              <a:schemeClr val="tx1"/>
            </a:solidFill>
          </a:endParaRPr>
        </a:p>
      </dgm:t>
    </dgm:pt>
    <dgm:pt modelId="{F9E63ABD-68F4-4150-B29F-A5E3630F05C3}" type="sibTrans" cxnId="{8CA5AF4A-2D75-47FF-BA4F-57242E5DC689}">
      <dgm:prSet/>
      <dgm:spPr/>
      <dgm:t>
        <a:bodyPr/>
        <a:lstStyle/>
        <a:p>
          <a:endParaRPr lang="zh-CN" altLang="en-US">
            <a:solidFill>
              <a:schemeClr val="tx1"/>
            </a:solidFill>
          </a:endParaRPr>
        </a:p>
      </dgm:t>
    </dgm:pt>
    <dgm:pt modelId="{9D7C48E0-4330-47BF-A22A-A7A1509FAD6B}">
      <dgm:prSet custT="1"/>
      <dgm:spPr>
        <a:xfrm>
          <a:off x="5699930" y="215964"/>
          <a:ext cx="2758027" cy="1674154"/>
        </a:xfrm>
        <a:prstGeom prst="rect">
          <a:avLst/>
        </a:prstGeom>
      </dgm:spPr>
      <dgm:t>
        <a:bodyPr/>
        <a:lstStyle/>
        <a:p>
          <a:pPr>
            <a:buChar char="•"/>
          </a:pPr>
          <a:r>
            <a:rPr lang="zh-CN" altLang="en-US" sz="1200" b="1">
              <a:latin typeface="Arial"/>
              <a:ea typeface="微软雅黑"/>
              <a:cs typeface="+mn-cs"/>
            </a:rPr>
            <a:t>横纵协奏</a:t>
          </a:r>
          <a:endParaRPr lang="zh-CN" altLang="en-US" sz="1200" b="1" dirty="0">
            <a:latin typeface="Arial"/>
            <a:ea typeface="微软雅黑"/>
            <a:cs typeface="+mn-cs"/>
          </a:endParaRPr>
        </a:p>
      </dgm:t>
    </dgm:pt>
    <dgm:pt modelId="{EA4B47D9-CDB2-429C-B738-CD2AA35365BA}" type="parTrans" cxnId="{E2BFDC62-4CDE-4463-95F1-51E0B53B4149}">
      <dgm:prSet/>
      <dgm:spPr/>
      <dgm:t>
        <a:bodyPr/>
        <a:lstStyle/>
        <a:p>
          <a:endParaRPr lang="zh-CN" altLang="en-US">
            <a:solidFill>
              <a:schemeClr val="tx1"/>
            </a:solidFill>
          </a:endParaRPr>
        </a:p>
      </dgm:t>
    </dgm:pt>
    <dgm:pt modelId="{8DFEB1E8-023B-4402-8AFC-DCD9C69DA543}" type="sibTrans" cxnId="{E2BFDC62-4CDE-4463-95F1-51E0B53B4149}">
      <dgm:prSet/>
      <dgm:spPr/>
      <dgm:t>
        <a:bodyPr/>
        <a:lstStyle/>
        <a:p>
          <a:endParaRPr lang="zh-CN" altLang="en-US">
            <a:solidFill>
              <a:schemeClr val="tx1"/>
            </a:solidFill>
          </a:endParaRPr>
        </a:p>
      </dgm:t>
    </dgm:pt>
    <dgm:pt modelId="{3D154338-7BEB-444F-86BC-4DC1610E67DF}">
      <dgm:prSet custT="1"/>
      <dgm:spPr>
        <a:xfrm>
          <a:off x="5699930" y="215964"/>
          <a:ext cx="2758027" cy="1674154"/>
        </a:xfrm>
      </dgm:spPr>
      <dgm:t>
        <a:bodyPr/>
        <a:lstStyle/>
        <a:p>
          <a:pPr>
            <a:buChar char="•"/>
          </a:pPr>
          <a:endParaRPr lang="zh-CN" altLang="en-US" sz="1200" b="1" dirty="0">
            <a:solidFill>
              <a:schemeClr val="tx1"/>
            </a:solidFill>
            <a:latin typeface="Arial"/>
            <a:ea typeface="微软雅黑"/>
            <a:cs typeface="+mn-cs"/>
          </a:endParaRPr>
        </a:p>
      </dgm:t>
    </dgm:pt>
    <dgm:pt modelId="{B27D8F85-4899-4CB9-B187-E9FC971934F0}" type="parTrans" cxnId="{6E7852B8-CCF7-4CB8-9CE1-E3E79DE677FC}">
      <dgm:prSet/>
      <dgm:spPr/>
      <dgm:t>
        <a:bodyPr/>
        <a:lstStyle/>
        <a:p>
          <a:endParaRPr lang="zh-CN" altLang="en-US">
            <a:solidFill>
              <a:schemeClr val="tx1"/>
            </a:solidFill>
          </a:endParaRPr>
        </a:p>
      </dgm:t>
    </dgm:pt>
    <dgm:pt modelId="{9E74C448-58E3-4F0D-9848-F48C94B6C9ED}" type="sibTrans" cxnId="{6E7852B8-CCF7-4CB8-9CE1-E3E79DE677FC}">
      <dgm:prSet/>
      <dgm:spPr/>
      <dgm:t>
        <a:bodyPr/>
        <a:lstStyle/>
        <a:p>
          <a:endParaRPr lang="zh-CN" altLang="en-US">
            <a:solidFill>
              <a:schemeClr val="tx1"/>
            </a:solidFill>
          </a:endParaRPr>
        </a:p>
      </dgm:t>
    </dgm:pt>
    <dgm:pt modelId="{81E3A00D-9E81-4D85-A6CB-FAFC1DB27A6A}">
      <dgm:prSet custT="1"/>
      <dgm:spPr>
        <a:xfrm>
          <a:off x="5699930" y="215964"/>
          <a:ext cx="2758027" cy="1674154"/>
        </a:xfrm>
      </dgm:spPr>
      <dgm:t>
        <a:bodyPr/>
        <a:lstStyle/>
        <a:p>
          <a:pPr>
            <a:buChar char="•"/>
          </a:pPr>
          <a:r>
            <a:rPr lang="en-US" altLang="zh-CN" sz="1200" b="1" dirty="0">
              <a:latin typeface="Arial"/>
              <a:ea typeface="微软雅黑"/>
              <a:cs typeface="+mn-cs"/>
            </a:rPr>
            <a:t>95%+</a:t>
          </a:r>
          <a:r>
            <a:rPr lang="zh-CN" altLang="en-US" sz="1200" b="1" dirty="0">
              <a:latin typeface="Arial"/>
              <a:ea typeface="微软雅黑"/>
              <a:cs typeface="+mn-cs"/>
            </a:rPr>
            <a:t>自动化</a:t>
          </a:r>
        </a:p>
      </dgm:t>
    </dgm:pt>
    <dgm:pt modelId="{96BD1C58-8299-42FA-9077-1D2BB386B58E}" type="parTrans" cxnId="{8D210129-26F0-4A5A-A22F-327D500C1164}">
      <dgm:prSet/>
      <dgm:spPr/>
      <dgm:t>
        <a:bodyPr/>
        <a:lstStyle/>
        <a:p>
          <a:endParaRPr lang="zh-CN" altLang="en-US">
            <a:solidFill>
              <a:schemeClr val="tx1"/>
            </a:solidFill>
          </a:endParaRPr>
        </a:p>
      </dgm:t>
    </dgm:pt>
    <dgm:pt modelId="{89BFB9BC-CE04-4F45-834B-386D51FC45E5}" type="sibTrans" cxnId="{8D210129-26F0-4A5A-A22F-327D500C1164}">
      <dgm:prSet/>
      <dgm:spPr/>
      <dgm:t>
        <a:bodyPr/>
        <a:lstStyle/>
        <a:p>
          <a:endParaRPr lang="zh-CN" altLang="en-US">
            <a:solidFill>
              <a:schemeClr val="tx1"/>
            </a:solidFill>
          </a:endParaRPr>
        </a:p>
      </dgm:t>
    </dgm:pt>
    <dgm:pt modelId="{4B97C0D9-7AC3-4794-BF91-A1DFC08F512B}" type="pres">
      <dgm:prSet presAssocID="{8B6D60EC-482E-42A6-8C57-486FE839F09C}" presName="arrowDiagram" presStyleCnt="0">
        <dgm:presLayoutVars>
          <dgm:chMax val="5"/>
          <dgm:dir/>
          <dgm:resizeHandles val="exact"/>
        </dgm:presLayoutVars>
      </dgm:prSet>
      <dgm:spPr/>
    </dgm:pt>
    <dgm:pt modelId="{3A766D9B-285E-4FED-907A-1DE751E12E64}" type="pres">
      <dgm:prSet presAssocID="{8B6D60EC-482E-42A6-8C57-486FE839F09C}" presName="arrow" presStyleLbl="bgShp" presStyleIdx="0" presStyleCnt="1" custScaleX="219450" custLinFactNeighborX="-12865" custLinFactNeighborY="-19782"/>
      <dgm:spPr>
        <a:xfrm>
          <a:off x="-6" y="-156833"/>
          <a:ext cx="8457971" cy="2408855"/>
        </a:xfrm>
        <a:prstGeom prst="swooshArrow">
          <a:avLst>
            <a:gd name="adj1" fmla="val 25000"/>
            <a:gd name="adj2" fmla="val 25000"/>
          </a:avLst>
        </a:prstGeom>
      </dgm:spPr>
    </dgm:pt>
    <dgm:pt modelId="{CB20F115-691B-401B-96F3-01BFCCB28EE5}" type="pres">
      <dgm:prSet presAssocID="{8B6D60EC-482E-42A6-8C57-486FE839F09C}" presName="arrowDiagram3" presStyleCnt="0"/>
      <dgm:spPr/>
    </dgm:pt>
    <dgm:pt modelId="{D9DA3A28-7C2C-46F9-8DF3-BF9B73F877A3}" type="pres">
      <dgm:prSet presAssocID="{5E8E0DA0-6C82-40ED-A207-3BA5AE74A168}" presName="bullet3a" presStyleLbl="node1" presStyleIdx="0" presStyleCnt="3" custLinFactX="-900000" custLinFactNeighborX="-931417" custLinFactNeighborY="71756"/>
      <dgm:spPr>
        <a:xfrm>
          <a:off x="956141" y="1577663"/>
          <a:ext cx="100208" cy="100208"/>
        </a:xfrm>
        <a:prstGeom prst="ellipse">
          <a:avLst/>
        </a:prstGeom>
      </dgm:spPr>
    </dgm:pt>
    <dgm:pt modelId="{CFA0D39E-E2AA-48BF-B4B2-D646DE0FC19E}" type="pres">
      <dgm:prSet presAssocID="{5E8E0DA0-6C82-40ED-A207-3BA5AE74A168}" presName="textBox3a" presStyleLbl="revTx" presStyleIdx="0" presStyleCnt="3" custScaleX="235877" custLinFactX="-69681" custLinFactNeighborX="-100000" custLinFactNeighborY="34615">
        <dgm:presLayoutVars>
          <dgm:bulletEnabled val="1"/>
        </dgm:presLayoutVars>
      </dgm:prSet>
      <dgm:spPr/>
    </dgm:pt>
    <dgm:pt modelId="{F45DD9D2-E838-4E7D-A963-F32B2C83FE25}" type="pres">
      <dgm:prSet presAssocID="{9FF93D6F-3699-461F-A609-3FC75C5AD729}" presName="bullet3b" presStyleLbl="node1" presStyleIdx="1" presStyleCnt="3" custLinFactX="-102200" custLinFactNeighborX="-200000" custLinFactNeighborY="-45356"/>
      <dgm:spPr>
        <a:xfrm>
          <a:off x="3128482" y="768870"/>
          <a:ext cx="181145" cy="181145"/>
        </a:xfrm>
        <a:prstGeom prst="ellipse">
          <a:avLst/>
        </a:prstGeom>
      </dgm:spPr>
    </dgm:pt>
    <dgm:pt modelId="{C78293D8-B9DC-4512-8CE5-A93D6E995346}" type="pres">
      <dgm:prSet presAssocID="{9FF93D6F-3699-461F-A609-3FC75C5AD729}" presName="textBox3b" presStyleLbl="revTx" presStyleIdx="1" presStyleCnt="3" custScaleX="248205" custScaleY="147873" custLinFactNeighborX="28103" custLinFactNeighborY="491">
        <dgm:presLayoutVars>
          <dgm:bulletEnabled val="1"/>
        </dgm:presLayoutVars>
      </dgm:prSet>
      <dgm:spPr/>
    </dgm:pt>
    <dgm:pt modelId="{F780E1C7-A0A9-4FF0-9967-E6F39574CB0D}" type="pres">
      <dgm:prSet presAssocID="{8DE61FC9-0371-41E8-B99F-5AE6BED43227}" presName="bullet3c" presStyleLbl="node1" presStyleIdx="2" presStyleCnt="3" custLinFactX="100000" custLinFactNeighborX="178742" custLinFactNeighborY="-32882"/>
      <dgm:spPr>
        <a:xfrm>
          <a:off x="5280565" y="347743"/>
          <a:ext cx="250520" cy="250520"/>
        </a:xfrm>
        <a:prstGeom prst="ellipse">
          <a:avLst/>
        </a:prstGeom>
      </dgm:spPr>
    </dgm:pt>
    <dgm:pt modelId="{AA18DA83-DAE5-40FC-8F23-D526AC8A93B9}" type="pres">
      <dgm:prSet presAssocID="{8DE61FC9-0371-41E8-B99F-5AE6BED43227}" presName="textBox3c" presStyleLbl="revTx" presStyleIdx="2" presStyleCnt="3" custScaleX="298165" custLinFactX="100000" custLinFactNeighborX="122576" custLinFactNeighborY="-22688">
        <dgm:presLayoutVars>
          <dgm:bulletEnabled val="1"/>
        </dgm:presLayoutVars>
      </dgm:prSet>
      <dgm:spPr>
        <a:prstGeom prst="rect">
          <a:avLst/>
        </a:prstGeom>
      </dgm:spPr>
    </dgm:pt>
  </dgm:ptLst>
  <dgm:cxnLst>
    <dgm:cxn modelId="{8B501604-AB81-40F3-832C-B3567747ABA3}" type="presOf" srcId="{5E8E0DA0-6C82-40ED-A207-3BA5AE74A168}" destId="{CFA0D39E-E2AA-48BF-B4B2-D646DE0FC19E}" srcOrd="0" destOrd="0" presId="urn:microsoft.com/office/officeart/2005/8/layout/arrow2"/>
    <dgm:cxn modelId="{5FFD0117-CD32-4F05-83E5-299FE30DB6F7}" type="presOf" srcId="{8B6D60EC-482E-42A6-8C57-486FE839F09C}" destId="{4B97C0D9-7AC3-4794-BF91-A1DFC08F512B}" srcOrd="0" destOrd="0" presId="urn:microsoft.com/office/officeart/2005/8/layout/arrow2"/>
    <dgm:cxn modelId="{5F5D8E26-3948-4DD7-B2BC-04AB5A1C97FD}" srcId="{9FF93D6F-3699-461F-A609-3FC75C5AD729}" destId="{DE1BC969-E454-47A9-BAA5-AC2392540A29}" srcOrd="0" destOrd="0" parTransId="{F21ADA88-14F8-499D-AABC-DB945FFEAFEE}" sibTransId="{955A13AB-6061-40AD-8793-EF188FCB6A82}"/>
    <dgm:cxn modelId="{8D210129-26F0-4A5A-A22F-327D500C1164}" srcId="{8DE61FC9-0371-41E8-B99F-5AE6BED43227}" destId="{81E3A00D-9E81-4D85-A6CB-FAFC1DB27A6A}" srcOrd="3" destOrd="0" parTransId="{96BD1C58-8299-42FA-9077-1D2BB386B58E}" sibTransId="{89BFB9BC-CE04-4F45-834B-386D51FC45E5}"/>
    <dgm:cxn modelId="{78DE7A29-7D0B-407A-8421-5700C8C7658D}" type="presOf" srcId="{0856E77C-E86F-492D-86B1-56BD746F51C2}" destId="{C78293D8-B9DC-4512-8CE5-A93D6E995346}" srcOrd="0" destOrd="2" presId="urn:microsoft.com/office/officeart/2005/8/layout/arrow2"/>
    <dgm:cxn modelId="{B76EC135-9840-4A26-B65D-1E97A197F792}" type="presOf" srcId="{73153351-293C-43B9-AE12-634757D04EDF}" destId="{AA18DA83-DAE5-40FC-8F23-D526AC8A93B9}" srcOrd="0" destOrd="3" presId="urn:microsoft.com/office/officeart/2005/8/layout/arrow2"/>
    <dgm:cxn modelId="{E2BFDC62-4CDE-4463-95F1-51E0B53B4149}" srcId="{8DE61FC9-0371-41E8-B99F-5AE6BED43227}" destId="{9D7C48E0-4330-47BF-A22A-A7A1509FAD6B}" srcOrd="1" destOrd="0" parTransId="{EA4B47D9-CDB2-429C-B738-CD2AA35365BA}" sibTransId="{8DFEB1E8-023B-4402-8AFC-DCD9C69DA543}"/>
    <dgm:cxn modelId="{590E976A-1CCC-48F7-8048-B94C5E303621}" srcId="{8B6D60EC-482E-42A6-8C57-486FE839F09C}" destId="{5E8E0DA0-6C82-40ED-A207-3BA5AE74A168}" srcOrd="0" destOrd="0" parTransId="{5956ED0E-3872-4CA2-B306-A210DA7B60DB}" sibTransId="{C1432D0E-8B38-4ED5-B722-276CE5CCF745}"/>
    <dgm:cxn modelId="{8CA5AF4A-2D75-47FF-BA4F-57242E5DC689}" srcId="{9FF93D6F-3699-461F-A609-3FC75C5AD729}" destId="{7B9CACF4-F092-4B60-9A80-81E51070FA8B}" srcOrd="2" destOrd="0" parTransId="{B821380A-1DBB-429C-92A5-9418ABE21F88}" sibTransId="{F9E63ABD-68F4-4150-B29F-A5E3630F05C3}"/>
    <dgm:cxn modelId="{C6314B51-7A47-4DD5-8DF2-F2B0B269D5A4}" type="presOf" srcId="{81E3A00D-9E81-4D85-A6CB-FAFC1DB27A6A}" destId="{AA18DA83-DAE5-40FC-8F23-D526AC8A93B9}" srcOrd="0" destOrd="4" presId="urn:microsoft.com/office/officeart/2005/8/layout/arrow2"/>
    <dgm:cxn modelId="{BB65D075-462E-4187-B150-E49FF8973FB4}" type="presOf" srcId="{9D7C48E0-4330-47BF-A22A-A7A1509FAD6B}" destId="{AA18DA83-DAE5-40FC-8F23-D526AC8A93B9}" srcOrd="0" destOrd="2" presId="urn:microsoft.com/office/officeart/2005/8/layout/arrow2"/>
    <dgm:cxn modelId="{E08BCD8B-8AEE-4411-8DBA-9B4D901A9805}" type="presOf" srcId="{9FF93D6F-3699-461F-A609-3FC75C5AD729}" destId="{C78293D8-B9DC-4512-8CE5-A93D6E995346}" srcOrd="0" destOrd="0" presId="urn:microsoft.com/office/officeart/2005/8/layout/arrow2"/>
    <dgm:cxn modelId="{C2C6CE9C-68C0-4E65-A765-F3E6745611C5}" type="presOf" srcId="{3D154338-7BEB-444F-86BC-4DC1610E67DF}" destId="{AA18DA83-DAE5-40FC-8F23-D526AC8A93B9}" srcOrd="0" destOrd="1" presId="urn:microsoft.com/office/officeart/2005/8/layout/arrow2"/>
    <dgm:cxn modelId="{0C1837A5-DDC2-4A0C-8770-853E89BF07F6}" srcId="{5E8E0DA0-6C82-40ED-A207-3BA5AE74A168}" destId="{48C2E902-9E1C-4547-B109-25C0B533FC45}" srcOrd="0" destOrd="0" parTransId="{1AE23EFC-7918-4420-BD95-682091B2170A}" sibTransId="{BD7D1982-EFF0-4D54-A58D-FB4F053F455D}"/>
    <dgm:cxn modelId="{345C50B8-FBF6-4A34-BB2A-DB7EEEE89E12}" srcId="{8B6D60EC-482E-42A6-8C57-486FE839F09C}" destId="{9FF93D6F-3699-461F-A609-3FC75C5AD729}" srcOrd="1" destOrd="0" parTransId="{B95F8CAF-BA3A-4E06-9C8F-EB34B7C4124D}" sibTransId="{5217BF5C-542C-4FCF-B9B6-C529B3371E05}"/>
    <dgm:cxn modelId="{6E7852B8-CCF7-4CB8-9CE1-E3E79DE677FC}" srcId="{8DE61FC9-0371-41E8-B99F-5AE6BED43227}" destId="{3D154338-7BEB-444F-86BC-4DC1610E67DF}" srcOrd="0" destOrd="0" parTransId="{B27D8F85-4899-4CB9-B187-E9FC971934F0}" sibTransId="{9E74C448-58E3-4F0D-9848-F48C94B6C9ED}"/>
    <dgm:cxn modelId="{409216BA-CB32-4D0E-A95C-F6F38347C483}" type="presOf" srcId="{48C2E902-9E1C-4547-B109-25C0B533FC45}" destId="{CFA0D39E-E2AA-48BF-B4B2-D646DE0FC19E}" srcOrd="0" destOrd="1" presId="urn:microsoft.com/office/officeart/2005/8/layout/arrow2"/>
    <dgm:cxn modelId="{7D4E84CE-B436-48AE-AB84-C15724253375}" srcId="{8DE61FC9-0371-41E8-B99F-5AE6BED43227}" destId="{73153351-293C-43B9-AE12-634757D04EDF}" srcOrd="2" destOrd="0" parTransId="{5353B094-2664-4C3A-A820-AAAF58506127}" sibTransId="{2641586B-B98C-4374-84BB-75D47B3BEBAA}"/>
    <dgm:cxn modelId="{BDCBDED6-95A4-4FE0-99FB-60A08850C9C8}" type="presOf" srcId="{8DE61FC9-0371-41E8-B99F-5AE6BED43227}" destId="{AA18DA83-DAE5-40FC-8F23-D526AC8A93B9}" srcOrd="0" destOrd="0" presId="urn:microsoft.com/office/officeart/2005/8/layout/arrow2"/>
    <dgm:cxn modelId="{A6E3ADDD-3878-403E-88F7-F397073FACA3}" type="presOf" srcId="{DE1BC969-E454-47A9-BAA5-AC2392540A29}" destId="{C78293D8-B9DC-4512-8CE5-A93D6E995346}" srcOrd="0" destOrd="1" presId="urn:microsoft.com/office/officeart/2005/8/layout/arrow2"/>
    <dgm:cxn modelId="{03823DDE-0970-45E2-A06B-8A3CD5B8DFBD}" type="presOf" srcId="{7B9CACF4-F092-4B60-9A80-81E51070FA8B}" destId="{C78293D8-B9DC-4512-8CE5-A93D6E995346}" srcOrd="0" destOrd="3" presId="urn:microsoft.com/office/officeart/2005/8/layout/arrow2"/>
    <dgm:cxn modelId="{79761BEB-0958-4244-8A6E-DFAAC4F56406}" srcId="{8B6D60EC-482E-42A6-8C57-486FE839F09C}" destId="{8DE61FC9-0371-41E8-B99F-5AE6BED43227}" srcOrd="2" destOrd="0" parTransId="{B86474D6-CBFC-40C5-962A-F80922EF2C12}" sibTransId="{BF0604C7-A086-4B3F-961C-87FC7F49801C}"/>
    <dgm:cxn modelId="{ED08C1F2-6D15-4EA1-98C2-101BC3E1211E}" srcId="{9FF93D6F-3699-461F-A609-3FC75C5AD729}" destId="{0856E77C-E86F-492D-86B1-56BD746F51C2}" srcOrd="1" destOrd="0" parTransId="{5D6614B3-AADF-498C-8CE2-21D7455B3CD0}" sibTransId="{A7C3469E-DFD6-4230-B6BB-8B10AB1FC993}"/>
    <dgm:cxn modelId="{72FDBC3C-F367-4CE8-9F93-15AF4F9D5C8C}" type="presParOf" srcId="{4B97C0D9-7AC3-4794-BF91-A1DFC08F512B}" destId="{3A766D9B-285E-4FED-907A-1DE751E12E64}" srcOrd="0" destOrd="0" presId="urn:microsoft.com/office/officeart/2005/8/layout/arrow2"/>
    <dgm:cxn modelId="{9F38C9DF-89E7-479C-86D4-82824504ED29}" type="presParOf" srcId="{4B97C0D9-7AC3-4794-BF91-A1DFC08F512B}" destId="{CB20F115-691B-401B-96F3-01BFCCB28EE5}" srcOrd="1" destOrd="0" presId="urn:microsoft.com/office/officeart/2005/8/layout/arrow2"/>
    <dgm:cxn modelId="{AC8A4543-D90B-4D49-B3CC-7DE0D4F12AD9}" type="presParOf" srcId="{CB20F115-691B-401B-96F3-01BFCCB28EE5}" destId="{D9DA3A28-7C2C-46F9-8DF3-BF9B73F877A3}" srcOrd="0" destOrd="0" presId="urn:microsoft.com/office/officeart/2005/8/layout/arrow2"/>
    <dgm:cxn modelId="{ED3044DD-1C4B-4BFD-BB0A-544C52858BF5}" type="presParOf" srcId="{CB20F115-691B-401B-96F3-01BFCCB28EE5}" destId="{CFA0D39E-E2AA-48BF-B4B2-D646DE0FC19E}" srcOrd="1" destOrd="0" presId="urn:microsoft.com/office/officeart/2005/8/layout/arrow2"/>
    <dgm:cxn modelId="{7FDF4AE5-B6E2-47CF-B007-D6BD54923BFC}" type="presParOf" srcId="{CB20F115-691B-401B-96F3-01BFCCB28EE5}" destId="{F45DD9D2-E838-4E7D-A963-F32B2C83FE25}" srcOrd="2" destOrd="0" presId="urn:microsoft.com/office/officeart/2005/8/layout/arrow2"/>
    <dgm:cxn modelId="{8C446B9B-1459-4FF4-9DE6-592A951C0BBB}" type="presParOf" srcId="{CB20F115-691B-401B-96F3-01BFCCB28EE5}" destId="{C78293D8-B9DC-4512-8CE5-A93D6E995346}" srcOrd="3" destOrd="0" presId="urn:microsoft.com/office/officeart/2005/8/layout/arrow2"/>
    <dgm:cxn modelId="{00951AC8-A1C2-4E8A-A112-0B01DEE8BD8F}" type="presParOf" srcId="{CB20F115-691B-401B-96F3-01BFCCB28EE5}" destId="{F780E1C7-A0A9-4FF0-9967-E6F39574CB0D}" srcOrd="4" destOrd="0" presId="urn:microsoft.com/office/officeart/2005/8/layout/arrow2"/>
    <dgm:cxn modelId="{995964C1-0E0A-4984-BB3B-3BC8C0B03C6C}" type="presParOf" srcId="{CB20F115-691B-401B-96F3-01BFCCB28EE5}" destId="{AA18DA83-DAE5-40FC-8F23-D526AC8A93B9}" srcOrd="5" destOrd="0" presId="urn:microsoft.com/office/officeart/2005/8/layout/arrow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4134259E-89DB-494A-85BE-63AC9F38BE5D}"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zh-CN" altLang="en-US"/>
        </a:p>
      </dgm:t>
    </dgm:pt>
    <dgm:pt modelId="{38ED8CBA-21A2-4348-832E-247160617FD2}">
      <dgm:prSet/>
      <dgm:spPr>
        <a:xfrm>
          <a:off x="0" y="422"/>
          <a:ext cx="4082611" cy="288247"/>
        </a:xfrm>
        <a:prstGeom prst="rect">
          <a:avLst/>
        </a:prstGeom>
        <a:noFill/>
        <a:ln>
          <a:noFill/>
        </a:ln>
        <a:effectLst/>
      </dgm:spPr>
      <dgm:t>
        <a:bodyPr/>
        <a:lstStyle/>
        <a:p>
          <a:pPr>
            <a:buNone/>
          </a:pPr>
          <a:r>
            <a:rPr lang="en-US" b="1" dirty="0">
              <a:solidFill>
                <a:schemeClr val="bg1"/>
              </a:solidFill>
              <a:latin typeface="Arial"/>
              <a:ea typeface="微软雅黑"/>
              <a:cs typeface="+mn-cs"/>
            </a:rPr>
            <a:t>P1,P2,P3</a:t>
          </a:r>
          <a:r>
            <a:rPr lang="zh-CN" altLang="en-US" b="1" dirty="0">
              <a:solidFill>
                <a:schemeClr val="bg1"/>
              </a:solidFill>
              <a:latin typeface="Arial"/>
              <a:ea typeface="微软雅黑"/>
              <a:cs typeface="+mn-cs"/>
            </a:rPr>
            <a:t> 为优先级由高到低排序</a:t>
          </a:r>
          <a:r>
            <a:rPr lang="en-US" b="1" dirty="0">
              <a:solidFill>
                <a:schemeClr val="bg1"/>
              </a:solidFill>
              <a:latin typeface="Arial"/>
              <a:ea typeface="微软雅黑"/>
              <a:cs typeface="+mn-cs"/>
            </a:rPr>
            <a:t>FG11</a:t>
          </a:r>
          <a:r>
            <a:rPr lang="zh-CN" altLang="en-US" b="1" dirty="0">
              <a:solidFill>
                <a:schemeClr val="bg1"/>
              </a:solidFill>
              <a:latin typeface="Arial"/>
              <a:ea typeface="微软雅黑"/>
              <a:cs typeface="+mn-cs"/>
            </a:rPr>
            <a:t>到</a:t>
          </a:r>
          <a:r>
            <a:rPr lang="en-US" b="1" dirty="0">
              <a:solidFill>
                <a:schemeClr val="bg1"/>
              </a:solidFill>
              <a:latin typeface="Arial"/>
              <a:ea typeface="微软雅黑"/>
              <a:cs typeface="+mn-cs"/>
            </a:rPr>
            <a:t>FG1n</a:t>
          </a:r>
          <a:r>
            <a:rPr lang="zh-CN" altLang="en-US" b="1" dirty="0">
              <a:solidFill>
                <a:schemeClr val="bg1"/>
              </a:solidFill>
              <a:latin typeface="Arial"/>
              <a:ea typeface="微软雅黑"/>
              <a:cs typeface="+mn-cs"/>
            </a:rPr>
            <a:t>的可替代原材料</a:t>
          </a:r>
          <a:endParaRPr lang="zh-CN" altLang="en-US" dirty="0">
            <a:solidFill>
              <a:schemeClr val="bg1"/>
            </a:solidFill>
            <a:latin typeface="Arial"/>
            <a:ea typeface="微软雅黑"/>
            <a:cs typeface="+mn-cs"/>
          </a:endParaRPr>
        </a:p>
      </dgm:t>
    </dgm:pt>
    <dgm:pt modelId="{62EC1465-3A73-4E76-BDE5-B65078885D58}" type="parTrans" cxnId="{3DB0F017-AFFB-4F6E-9C5B-9193C134A3DD}">
      <dgm:prSet/>
      <dgm:spPr/>
      <dgm:t>
        <a:bodyPr/>
        <a:lstStyle/>
        <a:p>
          <a:endParaRPr lang="zh-CN" altLang="en-US">
            <a:solidFill>
              <a:schemeClr val="bg1"/>
            </a:solidFill>
          </a:endParaRPr>
        </a:p>
      </dgm:t>
    </dgm:pt>
    <dgm:pt modelId="{42C622E4-7007-44B3-9EF7-7835CCD7BAE1}" type="sibTrans" cxnId="{3DB0F017-AFFB-4F6E-9C5B-9193C134A3DD}">
      <dgm:prSet/>
      <dgm:spPr/>
      <dgm:t>
        <a:bodyPr/>
        <a:lstStyle/>
        <a:p>
          <a:endParaRPr lang="zh-CN" altLang="en-US">
            <a:solidFill>
              <a:schemeClr val="bg1"/>
            </a:solidFill>
          </a:endParaRPr>
        </a:p>
      </dgm:t>
    </dgm:pt>
    <dgm:pt modelId="{471356A9-A82A-4C3B-9EE0-ADA113BB05A0}">
      <dgm:prSet/>
      <dgm:spPr>
        <a:xfrm>
          <a:off x="0" y="288669"/>
          <a:ext cx="4082611" cy="288247"/>
        </a:xfrm>
        <a:prstGeom prst="rect">
          <a:avLst/>
        </a:prstGeom>
        <a:noFill/>
        <a:ln>
          <a:noFill/>
        </a:ln>
        <a:effectLst/>
      </dgm:spPr>
      <dgm:t>
        <a:bodyPr/>
        <a:lstStyle/>
        <a:p>
          <a:pPr>
            <a:buNone/>
          </a:pPr>
          <a:r>
            <a:rPr lang="en-US" b="1" dirty="0">
              <a:solidFill>
                <a:schemeClr val="bg1"/>
              </a:solidFill>
              <a:latin typeface="Arial"/>
              <a:ea typeface="微软雅黑"/>
              <a:cs typeface="+mn-cs"/>
            </a:rPr>
            <a:t>P3 </a:t>
          </a:r>
          <a:r>
            <a:rPr lang="zh-CN" altLang="en-US" b="1" dirty="0">
              <a:solidFill>
                <a:schemeClr val="bg1"/>
              </a:solidFill>
              <a:latin typeface="Arial"/>
              <a:ea typeface="微软雅黑"/>
              <a:cs typeface="+mn-cs"/>
            </a:rPr>
            <a:t>为</a:t>
          </a:r>
          <a:r>
            <a:rPr lang="en-US" b="1" dirty="0">
              <a:solidFill>
                <a:schemeClr val="bg1"/>
              </a:solidFill>
              <a:latin typeface="Arial"/>
              <a:ea typeface="微软雅黑"/>
              <a:cs typeface="+mn-cs"/>
            </a:rPr>
            <a:t>FG21</a:t>
          </a:r>
          <a:r>
            <a:rPr lang="zh-CN" altLang="en-US" b="1" dirty="0">
              <a:solidFill>
                <a:schemeClr val="bg1"/>
              </a:solidFill>
              <a:latin typeface="Arial"/>
              <a:ea typeface="微软雅黑"/>
              <a:cs typeface="+mn-cs"/>
            </a:rPr>
            <a:t>到</a:t>
          </a:r>
          <a:r>
            <a:rPr lang="en-US" b="1" dirty="0">
              <a:solidFill>
                <a:schemeClr val="bg1"/>
              </a:solidFill>
              <a:latin typeface="Arial"/>
              <a:ea typeface="微软雅黑"/>
              <a:cs typeface="+mn-cs"/>
            </a:rPr>
            <a:t>FG2</a:t>
          </a:r>
          <a:r>
            <a:rPr lang="en-US" altLang="zh-CN" b="1" dirty="0">
              <a:solidFill>
                <a:schemeClr val="bg1"/>
              </a:solidFill>
              <a:latin typeface="Arial"/>
              <a:ea typeface="微软雅黑"/>
              <a:cs typeface="+mn-cs"/>
            </a:rPr>
            <a:t>m</a:t>
          </a:r>
          <a:r>
            <a:rPr lang="zh-CN" altLang="en-US" b="1" dirty="0">
              <a:solidFill>
                <a:schemeClr val="bg1"/>
              </a:solidFill>
              <a:latin typeface="Arial"/>
              <a:ea typeface="微软雅黑"/>
              <a:cs typeface="+mn-cs"/>
            </a:rPr>
            <a:t>的原材料主料</a:t>
          </a:r>
          <a:endParaRPr lang="zh-CN" altLang="en-US" dirty="0">
            <a:solidFill>
              <a:schemeClr val="bg1"/>
            </a:solidFill>
            <a:latin typeface="Arial"/>
            <a:ea typeface="微软雅黑"/>
            <a:cs typeface="+mn-cs"/>
          </a:endParaRPr>
        </a:p>
      </dgm:t>
    </dgm:pt>
    <dgm:pt modelId="{1F2241CE-6B08-42AF-A125-0C75EF83F5CD}" type="parTrans" cxnId="{7F249374-8216-4248-A896-559AC0D3B6C5}">
      <dgm:prSet/>
      <dgm:spPr/>
      <dgm:t>
        <a:bodyPr/>
        <a:lstStyle/>
        <a:p>
          <a:endParaRPr lang="zh-CN" altLang="en-US">
            <a:solidFill>
              <a:schemeClr val="bg1"/>
            </a:solidFill>
          </a:endParaRPr>
        </a:p>
      </dgm:t>
    </dgm:pt>
    <dgm:pt modelId="{A0DBCEF5-A267-4BD0-ADBC-58C4548AFB61}" type="sibTrans" cxnId="{7F249374-8216-4248-A896-559AC0D3B6C5}">
      <dgm:prSet/>
      <dgm:spPr/>
      <dgm:t>
        <a:bodyPr/>
        <a:lstStyle/>
        <a:p>
          <a:endParaRPr lang="zh-CN" altLang="en-US">
            <a:solidFill>
              <a:schemeClr val="bg1"/>
            </a:solidFill>
          </a:endParaRPr>
        </a:p>
      </dgm:t>
    </dgm:pt>
    <dgm:pt modelId="{B8BC41BE-E4AA-4B6B-A407-CBE1C4270251}">
      <dgm:prSet/>
      <dgm:spPr>
        <a:xfrm>
          <a:off x="0" y="576917"/>
          <a:ext cx="4082611" cy="288247"/>
        </a:xfrm>
        <a:prstGeom prst="rect">
          <a:avLst/>
        </a:prstGeom>
        <a:noFill/>
        <a:ln>
          <a:noFill/>
        </a:ln>
        <a:effectLst/>
      </dgm:spPr>
      <dgm:t>
        <a:bodyPr/>
        <a:lstStyle/>
        <a:p>
          <a:pPr>
            <a:buNone/>
          </a:pPr>
          <a:endParaRPr lang="zh-CN" altLang="en-US" dirty="0">
            <a:solidFill>
              <a:schemeClr val="bg1"/>
            </a:solidFill>
            <a:latin typeface="Arial"/>
            <a:ea typeface="微软雅黑"/>
            <a:cs typeface="+mn-cs"/>
          </a:endParaRPr>
        </a:p>
      </dgm:t>
    </dgm:pt>
    <dgm:pt modelId="{BC8473F8-0773-4446-A185-2FE1367DA45B}" type="parTrans" cxnId="{BAC0C39F-96A8-4021-970F-E4053263A03C}">
      <dgm:prSet/>
      <dgm:spPr/>
      <dgm:t>
        <a:bodyPr/>
        <a:lstStyle/>
        <a:p>
          <a:endParaRPr lang="zh-CN" altLang="en-US">
            <a:solidFill>
              <a:schemeClr val="bg1"/>
            </a:solidFill>
          </a:endParaRPr>
        </a:p>
      </dgm:t>
    </dgm:pt>
    <dgm:pt modelId="{2D713531-D438-429B-91F9-6821A39F17F2}" type="sibTrans" cxnId="{BAC0C39F-96A8-4021-970F-E4053263A03C}">
      <dgm:prSet/>
      <dgm:spPr/>
      <dgm:t>
        <a:bodyPr/>
        <a:lstStyle/>
        <a:p>
          <a:endParaRPr lang="zh-CN" altLang="en-US">
            <a:solidFill>
              <a:schemeClr val="bg1"/>
            </a:solidFill>
          </a:endParaRPr>
        </a:p>
      </dgm:t>
    </dgm:pt>
    <dgm:pt modelId="{78782E71-7D90-4B3D-9297-C9DB88D340BE}" type="pres">
      <dgm:prSet presAssocID="{4134259E-89DB-494A-85BE-63AC9F38BE5D}" presName="vert0" presStyleCnt="0">
        <dgm:presLayoutVars>
          <dgm:dir/>
          <dgm:animOne val="branch"/>
          <dgm:animLvl val="lvl"/>
        </dgm:presLayoutVars>
      </dgm:prSet>
      <dgm:spPr/>
    </dgm:pt>
    <dgm:pt modelId="{A3D9363C-27C5-4F06-9926-95BB477A85A7}" type="pres">
      <dgm:prSet presAssocID="{38ED8CBA-21A2-4348-832E-247160617FD2}" presName="thickLine" presStyleLbl="alignNode1" presStyleIdx="0" presStyleCnt="3"/>
      <dgm:spPr>
        <a:xfrm>
          <a:off x="0" y="422"/>
          <a:ext cx="4082611" cy="0"/>
        </a:xfrm>
        <a:prstGeom prst="line">
          <a:avLst/>
        </a:prstGeom>
        <a:solidFill>
          <a:srgbClr val="093091">
            <a:hueOff val="0"/>
            <a:satOff val="0"/>
            <a:lumOff val="0"/>
            <a:alphaOff val="0"/>
          </a:srgbClr>
        </a:solidFill>
        <a:ln w="12700" cap="flat" cmpd="sng" algn="ctr">
          <a:solidFill>
            <a:srgbClr val="093091">
              <a:hueOff val="0"/>
              <a:satOff val="0"/>
              <a:lumOff val="0"/>
              <a:alphaOff val="0"/>
            </a:srgbClr>
          </a:solidFill>
          <a:prstDash val="solid"/>
          <a:miter lim="800000"/>
        </a:ln>
        <a:effectLst/>
      </dgm:spPr>
    </dgm:pt>
    <dgm:pt modelId="{2559B995-AD3C-4BF2-9D21-012A362703E4}" type="pres">
      <dgm:prSet presAssocID="{38ED8CBA-21A2-4348-832E-247160617FD2}" presName="horz1" presStyleCnt="0"/>
      <dgm:spPr/>
    </dgm:pt>
    <dgm:pt modelId="{3B7C9910-F238-4A5B-8037-91E02C36563F}" type="pres">
      <dgm:prSet presAssocID="{38ED8CBA-21A2-4348-832E-247160617FD2}" presName="tx1" presStyleLbl="revTx" presStyleIdx="0" presStyleCnt="3"/>
      <dgm:spPr/>
    </dgm:pt>
    <dgm:pt modelId="{FC77A93E-DC4B-4287-8400-E17E1D8A0B9F}" type="pres">
      <dgm:prSet presAssocID="{38ED8CBA-21A2-4348-832E-247160617FD2}" presName="vert1" presStyleCnt="0"/>
      <dgm:spPr/>
    </dgm:pt>
    <dgm:pt modelId="{57125BE3-8BFD-4150-8807-F439B2B52AA0}" type="pres">
      <dgm:prSet presAssocID="{471356A9-A82A-4C3B-9EE0-ADA113BB05A0}" presName="thickLine" presStyleLbl="alignNode1" presStyleIdx="1" presStyleCnt="3"/>
      <dgm:spPr>
        <a:xfrm>
          <a:off x="0" y="288669"/>
          <a:ext cx="4082611" cy="0"/>
        </a:xfrm>
        <a:prstGeom prst="line">
          <a:avLst/>
        </a:prstGeom>
        <a:solidFill>
          <a:srgbClr val="093091">
            <a:hueOff val="0"/>
            <a:satOff val="0"/>
            <a:lumOff val="0"/>
            <a:alphaOff val="0"/>
          </a:srgbClr>
        </a:solidFill>
        <a:ln w="12700" cap="flat" cmpd="sng" algn="ctr">
          <a:solidFill>
            <a:srgbClr val="093091">
              <a:hueOff val="0"/>
              <a:satOff val="0"/>
              <a:lumOff val="0"/>
              <a:alphaOff val="0"/>
            </a:srgbClr>
          </a:solidFill>
          <a:prstDash val="solid"/>
          <a:miter lim="800000"/>
        </a:ln>
        <a:effectLst/>
      </dgm:spPr>
    </dgm:pt>
    <dgm:pt modelId="{A1B8848A-5F05-404A-A5CA-D6A7A61BA988}" type="pres">
      <dgm:prSet presAssocID="{471356A9-A82A-4C3B-9EE0-ADA113BB05A0}" presName="horz1" presStyleCnt="0"/>
      <dgm:spPr/>
    </dgm:pt>
    <dgm:pt modelId="{0FD9CB95-E1CF-4A68-887B-4BB10D1B42AA}" type="pres">
      <dgm:prSet presAssocID="{471356A9-A82A-4C3B-9EE0-ADA113BB05A0}" presName="tx1" presStyleLbl="revTx" presStyleIdx="1" presStyleCnt="3"/>
      <dgm:spPr/>
    </dgm:pt>
    <dgm:pt modelId="{B6CA7586-B569-4346-83C5-ADCA17FD9394}" type="pres">
      <dgm:prSet presAssocID="{471356A9-A82A-4C3B-9EE0-ADA113BB05A0}" presName="vert1" presStyleCnt="0"/>
      <dgm:spPr/>
    </dgm:pt>
    <dgm:pt modelId="{0D2A5AC6-AE33-41B5-9422-275B7FF4D67A}" type="pres">
      <dgm:prSet presAssocID="{B8BC41BE-E4AA-4B6B-A407-CBE1C4270251}" presName="thickLine" presStyleLbl="alignNode1" presStyleIdx="2" presStyleCnt="3"/>
      <dgm:spPr>
        <a:xfrm>
          <a:off x="0" y="576917"/>
          <a:ext cx="4082611" cy="0"/>
        </a:xfrm>
        <a:prstGeom prst="line">
          <a:avLst/>
        </a:prstGeom>
        <a:solidFill>
          <a:srgbClr val="093091">
            <a:hueOff val="0"/>
            <a:satOff val="0"/>
            <a:lumOff val="0"/>
            <a:alphaOff val="0"/>
          </a:srgbClr>
        </a:solidFill>
        <a:ln w="12700" cap="flat" cmpd="sng" algn="ctr">
          <a:solidFill>
            <a:srgbClr val="093091">
              <a:hueOff val="0"/>
              <a:satOff val="0"/>
              <a:lumOff val="0"/>
              <a:alphaOff val="0"/>
            </a:srgbClr>
          </a:solidFill>
          <a:prstDash val="solid"/>
          <a:miter lim="800000"/>
        </a:ln>
        <a:effectLst/>
      </dgm:spPr>
    </dgm:pt>
    <dgm:pt modelId="{F621571C-2A9E-4C50-8313-835BF74AAC07}" type="pres">
      <dgm:prSet presAssocID="{B8BC41BE-E4AA-4B6B-A407-CBE1C4270251}" presName="horz1" presStyleCnt="0"/>
      <dgm:spPr/>
    </dgm:pt>
    <dgm:pt modelId="{3C4592BE-28FA-4A71-A9C0-EA0D68F45276}" type="pres">
      <dgm:prSet presAssocID="{B8BC41BE-E4AA-4B6B-A407-CBE1C4270251}" presName="tx1" presStyleLbl="revTx" presStyleIdx="2" presStyleCnt="3"/>
      <dgm:spPr/>
    </dgm:pt>
    <dgm:pt modelId="{B5137BE6-2ED5-4192-8F47-4498B5AC2D0E}" type="pres">
      <dgm:prSet presAssocID="{B8BC41BE-E4AA-4B6B-A407-CBE1C4270251}" presName="vert1" presStyleCnt="0"/>
      <dgm:spPr/>
    </dgm:pt>
  </dgm:ptLst>
  <dgm:cxnLst>
    <dgm:cxn modelId="{CFE4D70C-E584-4072-B91B-379BE01CEFB7}" type="presOf" srcId="{4134259E-89DB-494A-85BE-63AC9F38BE5D}" destId="{78782E71-7D90-4B3D-9297-C9DB88D340BE}" srcOrd="0" destOrd="0" presId="urn:microsoft.com/office/officeart/2008/layout/LinedList"/>
    <dgm:cxn modelId="{BEAFFC15-4D83-4759-937C-9678253F2241}" type="presOf" srcId="{471356A9-A82A-4C3B-9EE0-ADA113BB05A0}" destId="{0FD9CB95-E1CF-4A68-887B-4BB10D1B42AA}" srcOrd="0" destOrd="0" presId="urn:microsoft.com/office/officeart/2008/layout/LinedList"/>
    <dgm:cxn modelId="{3DB0F017-AFFB-4F6E-9C5B-9193C134A3DD}" srcId="{4134259E-89DB-494A-85BE-63AC9F38BE5D}" destId="{38ED8CBA-21A2-4348-832E-247160617FD2}" srcOrd="0" destOrd="0" parTransId="{62EC1465-3A73-4E76-BDE5-B65078885D58}" sibTransId="{42C622E4-7007-44B3-9EF7-7835CCD7BAE1}"/>
    <dgm:cxn modelId="{8E30E45E-686A-4E6A-B66E-767B62039838}" type="presOf" srcId="{B8BC41BE-E4AA-4B6B-A407-CBE1C4270251}" destId="{3C4592BE-28FA-4A71-A9C0-EA0D68F45276}" srcOrd="0" destOrd="0" presId="urn:microsoft.com/office/officeart/2008/layout/LinedList"/>
    <dgm:cxn modelId="{7F249374-8216-4248-A896-559AC0D3B6C5}" srcId="{4134259E-89DB-494A-85BE-63AC9F38BE5D}" destId="{471356A9-A82A-4C3B-9EE0-ADA113BB05A0}" srcOrd="1" destOrd="0" parTransId="{1F2241CE-6B08-42AF-A125-0C75EF83F5CD}" sibTransId="{A0DBCEF5-A267-4BD0-ADBC-58C4548AFB61}"/>
    <dgm:cxn modelId="{4C1D978A-E2F1-4338-9D8E-9E656CD54188}" type="presOf" srcId="{38ED8CBA-21A2-4348-832E-247160617FD2}" destId="{3B7C9910-F238-4A5B-8037-91E02C36563F}" srcOrd="0" destOrd="0" presId="urn:microsoft.com/office/officeart/2008/layout/LinedList"/>
    <dgm:cxn modelId="{BAC0C39F-96A8-4021-970F-E4053263A03C}" srcId="{4134259E-89DB-494A-85BE-63AC9F38BE5D}" destId="{B8BC41BE-E4AA-4B6B-A407-CBE1C4270251}" srcOrd="2" destOrd="0" parTransId="{BC8473F8-0773-4446-A185-2FE1367DA45B}" sibTransId="{2D713531-D438-429B-91F9-6821A39F17F2}"/>
    <dgm:cxn modelId="{202D3F35-B713-4689-AE1D-5C1653DB77C2}" type="presParOf" srcId="{78782E71-7D90-4B3D-9297-C9DB88D340BE}" destId="{A3D9363C-27C5-4F06-9926-95BB477A85A7}" srcOrd="0" destOrd="0" presId="urn:microsoft.com/office/officeart/2008/layout/LinedList"/>
    <dgm:cxn modelId="{83CFB3FB-3067-4888-9EB7-E11E5C20838E}" type="presParOf" srcId="{78782E71-7D90-4B3D-9297-C9DB88D340BE}" destId="{2559B995-AD3C-4BF2-9D21-012A362703E4}" srcOrd="1" destOrd="0" presId="urn:microsoft.com/office/officeart/2008/layout/LinedList"/>
    <dgm:cxn modelId="{0FDE528F-E812-47CA-B8D9-780767FDF776}" type="presParOf" srcId="{2559B995-AD3C-4BF2-9D21-012A362703E4}" destId="{3B7C9910-F238-4A5B-8037-91E02C36563F}" srcOrd="0" destOrd="0" presId="urn:microsoft.com/office/officeart/2008/layout/LinedList"/>
    <dgm:cxn modelId="{BF91CB22-AAE0-486E-AB9F-BB30CFD85E87}" type="presParOf" srcId="{2559B995-AD3C-4BF2-9D21-012A362703E4}" destId="{FC77A93E-DC4B-4287-8400-E17E1D8A0B9F}" srcOrd="1" destOrd="0" presId="urn:microsoft.com/office/officeart/2008/layout/LinedList"/>
    <dgm:cxn modelId="{4EE5C293-84DF-4059-BF17-46BA7BF923CA}" type="presParOf" srcId="{78782E71-7D90-4B3D-9297-C9DB88D340BE}" destId="{57125BE3-8BFD-4150-8807-F439B2B52AA0}" srcOrd="2" destOrd="0" presId="urn:microsoft.com/office/officeart/2008/layout/LinedList"/>
    <dgm:cxn modelId="{FD498EE5-8E5C-4D69-B1CE-6D408C87640E}" type="presParOf" srcId="{78782E71-7D90-4B3D-9297-C9DB88D340BE}" destId="{A1B8848A-5F05-404A-A5CA-D6A7A61BA988}" srcOrd="3" destOrd="0" presId="urn:microsoft.com/office/officeart/2008/layout/LinedList"/>
    <dgm:cxn modelId="{FBF907D6-2AE6-46EA-BA4A-20A5E09F87C0}" type="presParOf" srcId="{A1B8848A-5F05-404A-A5CA-D6A7A61BA988}" destId="{0FD9CB95-E1CF-4A68-887B-4BB10D1B42AA}" srcOrd="0" destOrd="0" presId="urn:microsoft.com/office/officeart/2008/layout/LinedList"/>
    <dgm:cxn modelId="{811C8A20-D041-44F2-86D2-998CD6F0DA90}" type="presParOf" srcId="{A1B8848A-5F05-404A-A5CA-D6A7A61BA988}" destId="{B6CA7586-B569-4346-83C5-ADCA17FD9394}" srcOrd="1" destOrd="0" presId="urn:microsoft.com/office/officeart/2008/layout/LinedList"/>
    <dgm:cxn modelId="{64AD0155-F019-40A2-95F5-ED593BE195FE}" type="presParOf" srcId="{78782E71-7D90-4B3D-9297-C9DB88D340BE}" destId="{0D2A5AC6-AE33-41B5-9422-275B7FF4D67A}" srcOrd="4" destOrd="0" presId="urn:microsoft.com/office/officeart/2008/layout/LinedList"/>
    <dgm:cxn modelId="{88F307C1-EB47-42AA-83FF-E747F1F97B48}" type="presParOf" srcId="{78782E71-7D90-4B3D-9297-C9DB88D340BE}" destId="{F621571C-2A9E-4C50-8313-835BF74AAC07}" srcOrd="5" destOrd="0" presId="urn:microsoft.com/office/officeart/2008/layout/LinedList"/>
    <dgm:cxn modelId="{709EA9D2-D8E3-46A6-AA4D-CB8FFA2D16AB}" type="presParOf" srcId="{F621571C-2A9E-4C50-8313-835BF74AAC07}" destId="{3C4592BE-28FA-4A71-A9C0-EA0D68F45276}" srcOrd="0" destOrd="0" presId="urn:microsoft.com/office/officeart/2008/layout/LinedList"/>
    <dgm:cxn modelId="{8F9DBBA3-4AFB-4730-BD60-854227CADDE0}" type="presParOf" srcId="{F621571C-2A9E-4C50-8313-835BF74AAC07}" destId="{B5137BE6-2ED5-4192-8F47-4498B5AC2D0E}" srcOrd="1" destOrd="0" presId="urn:microsoft.com/office/officeart/2008/layout/Lin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353218C0-AFA5-4B0C-9081-4CB971A9A424}" type="doc">
      <dgm:prSet loTypeId="urn:microsoft.com/office/officeart/2005/8/layout/list1" loCatId="list" qsTypeId="urn:microsoft.com/office/officeart/2005/8/quickstyle/simple1" qsCatId="simple" csTypeId="urn:microsoft.com/office/officeart/2005/8/colors/accent1_2" csCatId="accent1" phldr="1"/>
      <dgm:spPr/>
      <dgm:t>
        <a:bodyPr/>
        <a:lstStyle/>
        <a:p>
          <a:endParaRPr lang="zh-CN" altLang="en-US"/>
        </a:p>
      </dgm:t>
    </dgm:pt>
    <dgm:pt modelId="{94718A50-D0D9-4EC6-B02F-F1EFE343A6C7}">
      <dgm:prSet/>
      <dgm:spPr/>
      <dgm:t>
        <a:bodyPr/>
        <a:lstStyle/>
        <a:p>
          <a:r>
            <a:rPr lang="en-US" b="1"/>
            <a:t>Background</a:t>
          </a:r>
          <a:endParaRPr lang="zh-CN"/>
        </a:p>
      </dgm:t>
    </dgm:pt>
    <dgm:pt modelId="{CF358DF4-7551-4EAE-B81D-414F812C02F8}" type="parTrans" cxnId="{5A102750-7B13-4EBF-A675-88A4F9E4E527}">
      <dgm:prSet/>
      <dgm:spPr/>
      <dgm:t>
        <a:bodyPr/>
        <a:lstStyle/>
        <a:p>
          <a:endParaRPr lang="zh-CN" altLang="en-US"/>
        </a:p>
      </dgm:t>
    </dgm:pt>
    <dgm:pt modelId="{EC4C954F-0996-4F73-837A-94744FDFE271}" type="sibTrans" cxnId="{5A102750-7B13-4EBF-A675-88A4F9E4E527}">
      <dgm:prSet/>
      <dgm:spPr/>
      <dgm:t>
        <a:bodyPr/>
        <a:lstStyle/>
        <a:p>
          <a:endParaRPr lang="zh-CN" altLang="en-US"/>
        </a:p>
      </dgm:t>
    </dgm:pt>
    <dgm:pt modelId="{46F95F89-7A69-4EB0-8D24-D9C0E70E2CBF}">
      <dgm:prSet/>
      <dgm:spPr/>
      <dgm:t>
        <a:bodyPr/>
        <a:lstStyle/>
        <a:p>
          <a:r>
            <a:rPr lang="en-US"/>
            <a:t>Strategy</a:t>
          </a:r>
          <a:r>
            <a:rPr lang="zh-CN"/>
            <a:t>：</a:t>
          </a:r>
          <a:r>
            <a:rPr lang="en-US" b="1"/>
            <a:t>INTELLIGENCE</a:t>
          </a:r>
          <a:r>
            <a:rPr lang="en-US"/>
            <a:t> </a:t>
          </a:r>
          <a:endParaRPr lang="zh-CN"/>
        </a:p>
      </dgm:t>
    </dgm:pt>
    <dgm:pt modelId="{94E547FC-026D-4E48-8CB0-4AC082B415F6}" type="parTrans" cxnId="{DCFC79D5-F894-4627-801C-E1F62A5CE922}">
      <dgm:prSet/>
      <dgm:spPr/>
      <dgm:t>
        <a:bodyPr/>
        <a:lstStyle/>
        <a:p>
          <a:endParaRPr lang="zh-CN" altLang="en-US"/>
        </a:p>
      </dgm:t>
    </dgm:pt>
    <dgm:pt modelId="{82D6E3BB-D728-4D13-8EA6-1D1C5B3258E1}" type="sibTrans" cxnId="{DCFC79D5-F894-4627-801C-E1F62A5CE922}">
      <dgm:prSet/>
      <dgm:spPr/>
      <dgm:t>
        <a:bodyPr/>
        <a:lstStyle/>
        <a:p>
          <a:endParaRPr lang="zh-CN" altLang="en-US"/>
        </a:p>
      </dgm:t>
    </dgm:pt>
    <dgm:pt modelId="{7FCA0070-EED5-4034-A519-CA3D517046F8}">
      <dgm:prSet/>
      <dgm:spPr/>
      <dgm:t>
        <a:bodyPr/>
        <a:lstStyle/>
        <a:p>
          <a:r>
            <a:rPr lang="en-US"/>
            <a:t>Build a </a:t>
          </a:r>
          <a:r>
            <a:rPr lang="en-US" b="1"/>
            <a:t>Global leading </a:t>
          </a:r>
          <a:r>
            <a:rPr lang="en-US"/>
            <a:t>IPC(</a:t>
          </a:r>
          <a:r>
            <a:rPr lang="en-US" b="1"/>
            <a:t>Intelligent</a:t>
          </a:r>
          <a:r>
            <a:rPr lang="en-US"/>
            <a:t> </a:t>
          </a:r>
          <a:r>
            <a:rPr lang="en-US" b="1"/>
            <a:t>Planning</a:t>
          </a:r>
          <a:r>
            <a:rPr lang="en-US"/>
            <a:t> &amp; </a:t>
          </a:r>
          <a:r>
            <a:rPr lang="en-US" b="1"/>
            <a:t>Control</a:t>
          </a:r>
          <a:r>
            <a:rPr lang="en-US"/>
            <a:t> </a:t>
          </a:r>
          <a:r>
            <a:rPr lang="en-US" b="1"/>
            <a:t>Tower</a:t>
          </a:r>
          <a:r>
            <a:rPr lang="en-US"/>
            <a:t>) </a:t>
          </a:r>
          <a:r>
            <a:rPr lang="en-US" b="1"/>
            <a:t>platform</a:t>
          </a:r>
          <a:r>
            <a:rPr lang="en-US"/>
            <a:t> to support </a:t>
          </a:r>
          <a:r>
            <a:rPr lang="en-US" b="1"/>
            <a:t>all the business</a:t>
          </a:r>
          <a:r>
            <a:rPr lang="en-US"/>
            <a:t>.</a:t>
          </a:r>
          <a:endParaRPr lang="zh-CN"/>
        </a:p>
      </dgm:t>
    </dgm:pt>
    <dgm:pt modelId="{C8E8FC8E-A686-4A2D-8FFA-D835F53C4EA3}" type="parTrans" cxnId="{DBC7C46F-68A5-4758-9A73-0A57973873CA}">
      <dgm:prSet/>
      <dgm:spPr/>
      <dgm:t>
        <a:bodyPr/>
        <a:lstStyle/>
        <a:p>
          <a:endParaRPr lang="zh-CN" altLang="en-US"/>
        </a:p>
      </dgm:t>
    </dgm:pt>
    <dgm:pt modelId="{AE1D7E36-08AC-4C33-9A67-A7CE778FFEEC}" type="sibTrans" cxnId="{DBC7C46F-68A5-4758-9A73-0A57973873CA}">
      <dgm:prSet/>
      <dgm:spPr/>
      <dgm:t>
        <a:bodyPr/>
        <a:lstStyle/>
        <a:p>
          <a:endParaRPr lang="zh-CN" altLang="en-US"/>
        </a:p>
      </dgm:t>
    </dgm:pt>
    <dgm:pt modelId="{B6949375-C798-495C-834C-4B20ACFFAF8D}">
      <dgm:prSet/>
      <dgm:spPr/>
      <dgm:t>
        <a:bodyPr/>
        <a:lstStyle/>
        <a:p>
          <a:r>
            <a:rPr lang="en-US" b="1" dirty="0"/>
            <a:t>Strategy Benefits</a:t>
          </a:r>
          <a:endParaRPr lang="zh-CN" dirty="0"/>
        </a:p>
      </dgm:t>
    </dgm:pt>
    <dgm:pt modelId="{7E9124FE-9E3F-4A47-89EF-81C9296C9381}" type="parTrans" cxnId="{4C145D1C-7202-404D-AE64-C9AABFA74090}">
      <dgm:prSet/>
      <dgm:spPr/>
      <dgm:t>
        <a:bodyPr/>
        <a:lstStyle/>
        <a:p>
          <a:endParaRPr lang="zh-CN" altLang="en-US"/>
        </a:p>
      </dgm:t>
    </dgm:pt>
    <dgm:pt modelId="{1B1FB2F8-FE26-4CB1-8253-21B55E7A11BC}" type="sibTrans" cxnId="{4C145D1C-7202-404D-AE64-C9AABFA74090}">
      <dgm:prSet/>
      <dgm:spPr/>
      <dgm:t>
        <a:bodyPr/>
        <a:lstStyle/>
        <a:p>
          <a:endParaRPr lang="zh-CN" altLang="en-US"/>
        </a:p>
      </dgm:t>
    </dgm:pt>
    <dgm:pt modelId="{B5C88715-D140-4C8B-A841-8CC954D7106A}">
      <dgm:prSet/>
      <dgm:spPr/>
      <dgm:t>
        <a:bodyPr/>
        <a:lstStyle/>
        <a:p>
          <a:r>
            <a:rPr lang="en-US" b="1" dirty="0"/>
            <a:t>Improvement</a:t>
          </a:r>
          <a:r>
            <a:rPr lang="en-US" dirty="0"/>
            <a:t> of </a:t>
          </a:r>
          <a:r>
            <a:rPr lang="en-US" b="1" dirty="0"/>
            <a:t>Delivery Accuracy </a:t>
          </a:r>
          <a:endParaRPr lang="zh-CN" dirty="0"/>
        </a:p>
      </dgm:t>
    </dgm:pt>
    <dgm:pt modelId="{EB043B70-76CC-49FC-8C35-25C658049E43}" type="parTrans" cxnId="{38E1AAF4-1A0B-452E-BE55-8EC5C496EEA7}">
      <dgm:prSet/>
      <dgm:spPr/>
      <dgm:t>
        <a:bodyPr/>
        <a:lstStyle/>
        <a:p>
          <a:endParaRPr lang="zh-CN" altLang="en-US"/>
        </a:p>
      </dgm:t>
    </dgm:pt>
    <dgm:pt modelId="{270DD6CD-199B-4C19-80E5-EBB3792FD10D}" type="sibTrans" cxnId="{38E1AAF4-1A0B-452E-BE55-8EC5C496EEA7}">
      <dgm:prSet/>
      <dgm:spPr/>
      <dgm:t>
        <a:bodyPr/>
        <a:lstStyle/>
        <a:p>
          <a:endParaRPr lang="zh-CN" altLang="en-US"/>
        </a:p>
      </dgm:t>
    </dgm:pt>
    <dgm:pt modelId="{C1F29684-8A4E-47DC-9791-6C5678C80E63}">
      <dgm:prSet/>
      <dgm:spPr/>
      <dgm:t>
        <a:bodyPr/>
        <a:lstStyle/>
        <a:p>
          <a:r>
            <a:rPr lang="en-US" b="1" dirty="0"/>
            <a:t>Improvement</a:t>
          </a:r>
          <a:r>
            <a:rPr lang="en-US" dirty="0"/>
            <a:t> of </a:t>
          </a:r>
          <a:r>
            <a:rPr lang="en-US" b="1" dirty="0"/>
            <a:t>Delivery Speed</a:t>
          </a:r>
          <a:endParaRPr lang="zh-CN" dirty="0"/>
        </a:p>
      </dgm:t>
    </dgm:pt>
    <dgm:pt modelId="{BB562E50-F3F4-41A3-935A-A0025DC1A9FA}" type="parTrans" cxnId="{B2898934-A2FB-4FAA-8693-DDA4B17820DD}">
      <dgm:prSet/>
      <dgm:spPr/>
      <dgm:t>
        <a:bodyPr/>
        <a:lstStyle/>
        <a:p>
          <a:endParaRPr lang="zh-CN" altLang="en-US"/>
        </a:p>
      </dgm:t>
    </dgm:pt>
    <dgm:pt modelId="{550C8E2D-11F4-4690-95BF-256B57AC7AFD}" type="sibTrans" cxnId="{B2898934-A2FB-4FAA-8693-DDA4B17820DD}">
      <dgm:prSet/>
      <dgm:spPr/>
      <dgm:t>
        <a:bodyPr/>
        <a:lstStyle/>
        <a:p>
          <a:endParaRPr lang="zh-CN" altLang="en-US"/>
        </a:p>
      </dgm:t>
    </dgm:pt>
    <dgm:pt modelId="{8B8D0476-FC97-4FEE-93B5-344F9ED77F79}">
      <dgm:prSet/>
      <dgm:spPr/>
      <dgm:t>
        <a:bodyPr/>
        <a:lstStyle/>
        <a:p>
          <a:r>
            <a:rPr lang="en-US" b="1" dirty="0"/>
            <a:t>Improvement</a:t>
          </a:r>
          <a:r>
            <a:rPr lang="en-US" dirty="0"/>
            <a:t> of </a:t>
          </a:r>
          <a:r>
            <a:rPr lang="en-US" b="1" dirty="0"/>
            <a:t>Flexibility</a:t>
          </a:r>
          <a:endParaRPr lang="zh-CN" dirty="0"/>
        </a:p>
      </dgm:t>
    </dgm:pt>
    <dgm:pt modelId="{A376145B-0988-4684-8070-20C023C61BBD}" type="parTrans" cxnId="{9D37562D-DFED-4BAD-B096-08F7B704DB91}">
      <dgm:prSet/>
      <dgm:spPr/>
      <dgm:t>
        <a:bodyPr/>
        <a:lstStyle/>
        <a:p>
          <a:endParaRPr lang="zh-CN" altLang="en-US"/>
        </a:p>
      </dgm:t>
    </dgm:pt>
    <dgm:pt modelId="{A0F4D763-96D5-42BE-A806-87F56CB3A24B}" type="sibTrans" cxnId="{9D37562D-DFED-4BAD-B096-08F7B704DB91}">
      <dgm:prSet/>
      <dgm:spPr/>
      <dgm:t>
        <a:bodyPr/>
        <a:lstStyle/>
        <a:p>
          <a:endParaRPr lang="zh-CN" altLang="en-US"/>
        </a:p>
      </dgm:t>
    </dgm:pt>
    <dgm:pt modelId="{E15F3CDF-659D-4865-B1EA-7EEC412132F9}">
      <dgm:prSet/>
      <dgm:spPr/>
      <dgm:t>
        <a:bodyPr/>
        <a:lstStyle/>
        <a:p>
          <a:r>
            <a:rPr lang="en-US" b="1" dirty="0"/>
            <a:t>Improvement</a:t>
          </a:r>
          <a:r>
            <a:rPr lang="en-US" dirty="0"/>
            <a:t> of </a:t>
          </a:r>
          <a:r>
            <a:rPr lang="en-US" b="1" dirty="0"/>
            <a:t>Cost control </a:t>
          </a:r>
          <a:endParaRPr lang="zh-CN" dirty="0"/>
        </a:p>
      </dgm:t>
    </dgm:pt>
    <dgm:pt modelId="{6EFE6CF1-B400-4D9D-98E1-C53F220A9BA1}" type="parTrans" cxnId="{E003D507-F4A5-4FDE-8A00-6AC3F407ABD1}">
      <dgm:prSet/>
      <dgm:spPr/>
      <dgm:t>
        <a:bodyPr/>
        <a:lstStyle/>
        <a:p>
          <a:endParaRPr lang="zh-CN" altLang="en-US"/>
        </a:p>
      </dgm:t>
    </dgm:pt>
    <dgm:pt modelId="{3E2A29EA-4A46-4A5F-A751-3222E71BF5E5}" type="sibTrans" cxnId="{E003D507-F4A5-4FDE-8A00-6AC3F407ABD1}">
      <dgm:prSet/>
      <dgm:spPr/>
      <dgm:t>
        <a:bodyPr/>
        <a:lstStyle/>
        <a:p>
          <a:endParaRPr lang="zh-CN" altLang="en-US"/>
        </a:p>
      </dgm:t>
    </dgm:pt>
    <dgm:pt modelId="{1BCEA4A6-840A-401F-B43F-162A6E7FCBAB}">
      <dgm:prSet/>
      <dgm:spPr/>
      <dgm:t>
        <a:bodyPr/>
        <a:lstStyle/>
        <a:p>
          <a:r>
            <a:rPr lang="en-US" b="1" dirty="0"/>
            <a:t>Improvement</a:t>
          </a:r>
          <a:r>
            <a:rPr lang="en-US" dirty="0"/>
            <a:t> of </a:t>
          </a:r>
          <a:r>
            <a:rPr lang="en-US" b="1" dirty="0"/>
            <a:t>Efficiency</a:t>
          </a:r>
          <a:endParaRPr lang="zh-CN" dirty="0"/>
        </a:p>
      </dgm:t>
    </dgm:pt>
    <dgm:pt modelId="{BC318EC7-DB8E-4554-A59D-2C6DE118077A}" type="parTrans" cxnId="{D24AE9F3-7424-40C5-84BB-7DD3097D21BD}">
      <dgm:prSet/>
      <dgm:spPr/>
      <dgm:t>
        <a:bodyPr/>
        <a:lstStyle/>
        <a:p>
          <a:endParaRPr lang="zh-CN" altLang="en-US"/>
        </a:p>
      </dgm:t>
    </dgm:pt>
    <dgm:pt modelId="{F879FE62-7FD9-4A92-8E24-CC7C38D65E7E}" type="sibTrans" cxnId="{D24AE9F3-7424-40C5-84BB-7DD3097D21BD}">
      <dgm:prSet/>
      <dgm:spPr/>
      <dgm:t>
        <a:bodyPr/>
        <a:lstStyle/>
        <a:p>
          <a:endParaRPr lang="zh-CN" altLang="en-US"/>
        </a:p>
      </dgm:t>
    </dgm:pt>
    <dgm:pt modelId="{D2223FF1-0641-4148-8345-4D4E9373BF25}">
      <dgm:prSet/>
      <dgm:spPr/>
      <dgm:t>
        <a:bodyPr/>
        <a:lstStyle/>
        <a:p>
          <a:r>
            <a:rPr lang="en-US" b="1"/>
            <a:t>Organization upgrade from execution to strategy</a:t>
          </a:r>
          <a:endParaRPr lang="zh-CN"/>
        </a:p>
      </dgm:t>
    </dgm:pt>
    <dgm:pt modelId="{7DC640DC-00B2-453E-BDCF-864DA9132567}" type="parTrans" cxnId="{754660DA-C08B-45C5-9773-3735B784CE16}">
      <dgm:prSet/>
      <dgm:spPr/>
      <dgm:t>
        <a:bodyPr/>
        <a:lstStyle/>
        <a:p>
          <a:endParaRPr lang="zh-CN" altLang="en-US"/>
        </a:p>
      </dgm:t>
    </dgm:pt>
    <dgm:pt modelId="{D0458267-E9EA-4C46-8703-EA39C0A5CB4B}" type="sibTrans" cxnId="{754660DA-C08B-45C5-9773-3735B784CE16}">
      <dgm:prSet/>
      <dgm:spPr/>
      <dgm:t>
        <a:bodyPr/>
        <a:lstStyle/>
        <a:p>
          <a:endParaRPr lang="zh-CN" altLang="en-US"/>
        </a:p>
      </dgm:t>
    </dgm:pt>
    <dgm:pt modelId="{0A01931E-A33A-4DA2-B8A9-DA74BEE1C9F5}">
      <dgm:prSet/>
      <dgm:spPr/>
      <dgm:t>
        <a:bodyPr/>
        <a:lstStyle/>
        <a:p>
          <a:r>
            <a:rPr lang="en-US" b="1"/>
            <a:t>Scope &amp; Priority</a:t>
          </a:r>
          <a:endParaRPr lang="zh-CN"/>
        </a:p>
      </dgm:t>
    </dgm:pt>
    <dgm:pt modelId="{A12DB30D-C39A-4A89-9895-B06F24728B21}" type="parTrans" cxnId="{76926E08-3811-43E3-AE33-F8B2760AF593}">
      <dgm:prSet/>
      <dgm:spPr/>
      <dgm:t>
        <a:bodyPr/>
        <a:lstStyle/>
        <a:p>
          <a:endParaRPr lang="zh-CN" altLang="en-US"/>
        </a:p>
      </dgm:t>
    </dgm:pt>
    <dgm:pt modelId="{ABB32CB1-53C3-4E57-91E1-A5D6634D8C24}" type="sibTrans" cxnId="{76926E08-3811-43E3-AE33-F8B2760AF593}">
      <dgm:prSet/>
      <dgm:spPr/>
      <dgm:t>
        <a:bodyPr/>
        <a:lstStyle/>
        <a:p>
          <a:endParaRPr lang="zh-CN" altLang="en-US"/>
        </a:p>
      </dgm:t>
    </dgm:pt>
    <dgm:pt modelId="{5D3BFBD2-DE15-4625-926B-35886158E422}">
      <dgm:prSet/>
      <dgm:spPr/>
      <dgm:t>
        <a:bodyPr/>
        <a:lstStyle/>
        <a:p>
          <a:r>
            <a:rPr lang="en-US"/>
            <a:t>One project as </a:t>
          </a:r>
          <a:r>
            <a:rPr lang="en-US" b="1"/>
            <a:t>template</a:t>
          </a:r>
          <a:r>
            <a:rPr lang="en-US"/>
            <a:t> then </a:t>
          </a:r>
          <a:r>
            <a:rPr lang="en-US" b="1"/>
            <a:t>rollout</a:t>
          </a:r>
          <a:r>
            <a:rPr lang="en-US"/>
            <a:t> and prioritized by Executives</a:t>
          </a:r>
          <a:endParaRPr lang="zh-CN"/>
        </a:p>
      </dgm:t>
    </dgm:pt>
    <dgm:pt modelId="{818A19B7-6DAC-48A7-8080-40A9494365C1}" type="parTrans" cxnId="{5752B7F8-F5F2-40FF-9D88-D616844B7DD0}">
      <dgm:prSet/>
      <dgm:spPr/>
      <dgm:t>
        <a:bodyPr/>
        <a:lstStyle/>
        <a:p>
          <a:endParaRPr lang="zh-CN" altLang="en-US"/>
        </a:p>
      </dgm:t>
    </dgm:pt>
    <dgm:pt modelId="{0AAC234E-D2D2-4A55-A347-E6C77EAFB885}" type="sibTrans" cxnId="{5752B7F8-F5F2-40FF-9D88-D616844B7DD0}">
      <dgm:prSet/>
      <dgm:spPr/>
      <dgm:t>
        <a:bodyPr/>
        <a:lstStyle/>
        <a:p>
          <a:endParaRPr lang="zh-CN" altLang="en-US"/>
        </a:p>
      </dgm:t>
    </dgm:pt>
    <dgm:pt modelId="{2C9CD023-23AF-42C2-AAEE-F763DD040757}">
      <dgm:prSet/>
      <dgm:spPr/>
      <dgm:t>
        <a:bodyPr/>
        <a:lstStyle/>
        <a:p>
          <a:r>
            <a:rPr lang="en-US" dirty="0"/>
            <a:t>Reference digital planning maturity module, MRP and Execution planning is the </a:t>
          </a:r>
          <a:r>
            <a:rPr lang="en-US" b="1" dirty="0"/>
            <a:t>foundation, then MP/S&amp;OP, finally IBP </a:t>
          </a:r>
          <a:endParaRPr lang="zh-CN" dirty="0"/>
        </a:p>
      </dgm:t>
    </dgm:pt>
    <dgm:pt modelId="{C9E0726B-FAAA-4D6D-B941-E106DF7984D6}" type="parTrans" cxnId="{A2160296-392C-4343-9798-730BE5F03854}">
      <dgm:prSet/>
      <dgm:spPr/>
      <dgm:t>
        <a:bodyPr/>
        <a:lstStyle/>
        <a:p>
          <a:endParaRPr lang="zh-CN" altLang="en-US"/>
        </a:p>
      </dgm:t>
    </dgm:pt>
    <dgm:pt modelId="{26665515-F754-40A4-ACCD-721AC475F498}" type="sibTrans" cxnId="{A2160296-392C-4343-9798-730BE5F03854}">
      <dgm:prSet/>
      <dgm:spPr/>
      <dgm:t>
        <a:bodyPr/>
        <a:lstStyle/>
        <a:p>
          <a:endParaRPr lang="zh-CN" altLang="en-US"/>
        </a:p>
      </dgm:t>
    </dgm:pt>
    <dgm:pt modelId="{CFEFDF1F-E5EA-405A-9238-ED98E23CC607}">
      <dgm:prSet/>
      <dgm:spPr/>
      <dgm:t>
        <a:bodyPr/>
        <a:lstStyle/>
        <a:p>
          <a:r>
            <a:rPr lang="en-US" altLang="zh-CN" b="1" dirty="0"/>
            <a:t>Tier1 KPI</a:t>
          </a:r>
          <a:endParaRPr lang="zh-CN" b="1" dirty="0"/>
        </a:p>
      </dgm:t>
    </dgm:pt>
    <dgm:pt modelId="{F235538C-C614-4F3F-B17B-F1400AA17EE8}" type="parTrans" cxnId="{9ED0755C-0F74-4560-9272-EB2D11B31D57}">
      <dgm:prSet/>
      <dgm:spPr/>
      <dgm:t>
        <a:bodyPr/>
        <a:lstStyle/>
        <a:p>
          <a:endParaRPr lang="zh-CN" altLang="en-US"/>
        </a:p>
      </dgm:t>
    </dgm:pt>
    <dgm:pt modelId="{D7EE0ACD-5493-42E4-B0F9-39CBCECB0B45}" type="sibTrans" cxnId="{9ED0755C-0F74-4560-9272-EB2D11B31D57}">
      <dgm:prSet/>
      <dgm:spPr/>
      <dgm:t>
        <a:bodyPr/>
        <a:lstStyle/>
        <a:p>
          <a:endParaRPr lang="zh-CN" altLang="en-US"/>
        </a:p>
      </dgm:t>
    </dgm:pt>
    <dgm:pt modelId="{C3DA29C8-C281-42DB-A4ED-9DB25C694AE8}" type="pres">
      <dgm:prSet presAssocID="{353218C0-AFA5-4B0C-9081-4CB971A9A424}" presName="linear" presStyleCnt="0">
        <dgm:presLayoutVars>
          <dgm:dir/>
          <dgm:animLvl val="lvl"/>
          <dgm:resizeHandles val="exact"/>
        </dgm:presLayoutVars>
      </dgm:prSet>
      <dgm:spPr/>
    </dgm:pt>
    <dgm:pt modelId="{ADDAB9CD-C4E8-42B4-82C6-5A9AB1CC87B7}" type="pres">
      <dgm:prSet presAssocID="{94718A50-D0D9-4EC6-B02F-F1EFE343A6C7}" presName="parentLin" presStyleCnt="0"/>
      <dgm:spPr/>
    </dgm:pt>
    <dgm:pt modelId="{8753E8B3-0B99-43DD-9AB7-ED77C986F107}" type="pres">
      <dgm:prSet presAssocID="{94718A50-D0D9-4EC6-B02F-F1EFE343A6C7}" presName="parentLeftMargin" presStyleLbl="node1" presStyleIdx="0" presStyleCnt="3"/>
      <dgm:spPr/>
    </dgm:pt>
    <dgm:pt modelId="{BDEC6C78-D07E-4CBD-ADF4-797665C95194}" type="pres">
      <dgm:prSet presAssocID="{94718A50-D0D9-4EC6-B02F-F1EFE343A6C7}" presName="parentText" presStyleLbl="node1" presStyleIdx="0" presStyleCnt="3">
        <dgm:presLayoutVars>
          <dgm:chMax val="0"/>
          <dgm:bulletEnabled val="1"/>
        </dgm:presLayoutVars>
      </dgm:prSet>
      <dgm:spPr/>
    </dgm:pt>
    <dgm:pt modelId="{54FD3BCB-B2F2-4238-BBF8-09893D3667BC}" type="pres">
      <dgm:prSet presAssocID="{94718A50-D0D9-4EC6-B02F-F1EFE343A6C7}" presName="negativeSpace" presStyleCnt="0"/>
      <dgm:spPr/>
    </dgm:pt>
    <dgm:pt modelId="{B672F4BD-A6B9-43F2-8AB2-DC2142B69C5B}" type="pres">
      <dgm:prSet presAssocID="{94718A50-D0D9-4EC6-B02F-F1EFE343A6C7}" presName="childText" presStyleLbl="conFgAcc1" presStyleIdx="0" presStyleCnt="3">
        <dgm:presLayoutVars>
          <dgm:bulletEnabled val="1"/>
        </dgm:presLayoutVars>
      </dgm:prSet>
      <dgm:spPr/>
    </dgm:pt>
    <dgm:pt modelId="{F2675F96-DDAF-42F3-9C72-6AB4E1A802B7}" type="pres">
      <dgm:prSet presAssocID="{EC4C954F-0996-4F73-837A-94744FDFE271}" presName="spaceBetweenRectangles" presStyleCnt="0"/>
      <dgm:spPr/>
    </dgm:pt>
    <dgm:pt modelId="{A2F75442-77C5-47E8-AA6D-972CCCA5CBE6}" type="pres">
      <dgm:prSet presAssocID="{B6949375-C798-495C-834C-4B20ACFFAF8D}" presName="parentLin" presStyleCnt="0"/>
      <dgm:spPr/>
    </dgm:pt>
    <dgm:pt modelId="{8185B32B-95A7-438E-8E42-86FDBB9FF2B4}" type="pres">
      <dgm:prSet presAssocID="{B6949375-C798-495C-834C-4B20ACFFAF8D}" presName="parentLeftMargin" presStyleLbl="node1" presStyleIdx="0" presStyleCnt="3"/>
      <dgm:spPr/>
    </dgm:pt>
    <dgm:pt modelId="{3B4898E3-A43D-4BB9-A1CD-527AC2F257D6}" type="pres">
      <dgm:prSet presAssocID="{B6949375-C798-495C-834C-4B20ACFFAF8D}" presName="parentText" presStyleLbl="node1" presStyleIdx="1" presStyleCnt="3">
        <dgm:presLayoutVars>
          <dgm:chMax val="0"/>
          <dgm:bulletEnabled val="1"/>
        </dgm:presLayoutVars>
      </dgm:prSet>
      <dgm:spPr/>
    </dgm:pt>
    <dgm:pt modelId="{B031370C-3218-466F-BC3D-24FB05B11600}" type="pres">
      <dgm:prSet presAssocID="{B6949375-C798-495C-834C-4B20ACFFAF8D}" presName="negativeSpace" presStyleCnt="0"/>
      <dgm:spPr/>
    </dgm:pt>
    <dgm:pt modelId="{415FA72D-2974-4D0C-BA27-AF846787B28E}" type="pres">
      <dgm:prSet presAssocID="{B6949375-C798-495C-834C-4B20ACFFAF8D}" presName="childText" presStyleLbl="conFgAcc1" presStyleIdx="1" presStyleCnt="3">
        <dgm:presLayoutVars>
          <dgm:bulletEnabled val="1"/>
        </dgm:presLayoutVars>
      </dgm:prSet>
      <dgm:spPr/>
    </dgm:pt>
    <dgm:pt modelId="{60FEBCA0-6017-460E-B3CD-445CCA290311}" type="pres">
      <dgm:prSet presAssocID="{1B1FB2F8-FE26-4CB1-8253-21B55E7A11BC}" presName="spaceBetweenRectangles" presStyleCnt="0"/>
      <dgm:spPr/>
    </dgm:pt>
    <dgm:pt modelId="{AD9434C5-FD41-48F2-A6D2-A33CBDD70778}" type="pres">
      <dgm:prSet presAssocID="{0A01931E-A33A-4DA2-B8A9-DA74BEE1C9F5}" presName="parentLin" presStyleCnt="0"/>
      <dgm:spPr/>
    </dgm:pt>
    <dgm:pt modelId="{940DA70D-A909-46CE-B863-AE93C3CF3AA1}" type="pres">
      <dgm:prSet presAssocID="{0A01931E-A33A-4DA2-B8A9-DA74BEE1C9F5}" presName="parentLeftMargin" presStyleLbl="node1" presStyleIdx="1" presStyleCnt="3"/>
      <dgm:spPr/>
    </dgm:pt>
    <dgm:pt modelId="{B0774922-4782-450F-A7F1-56A2C24983E6}" type="pres">
      <dgm:prSet presAssocID="{0A01931E-A33A-4DA2-B8A9-DA74BEE1C9F5}" presName="parentText" presStyleLbl="node1" presStyleIdx="2" presStyleCnt="3">
        <dgm:presLayoutVars>
          <dgm:chMax val="0"/>
          <dgm:bulletEnabled val="1"/>
        </dgm:presLayoutVars>
      </dgm:prSet>
      <dgm:spPr/>
    </dgm:pt>
    <dgm:pt modelId="{10E0E406-0292-489C-B576-EDF0A5ABBE03}" type="pres">
      <dgm:prSet presAssocID="{0A01931E-A33A-4DA2-B8A9-DA74BEE1C9F5}" presName="negativeSpace" presStyleCnt="0"/>
      <dgm:spPr/>
    </dgm:pt>
    <dgm:pt modelId="{07A92788-0E15-4030-B1E9-EEEC8D281286}" type="pres">
      <dgm:prSet presAssocID="{0A01931E-A33A-4DA2-B8A9-DA74BEE1C9F5}" presName="childText" presStyleLbl="conFgAcc1" presStyleIdx="2" presStyleCnt="3">
        <dgm:presLayoutVars>
          <dgm:bulletEnabled val="1"/>
        </dgm:presLayoutVars>
      </dgm:prSet>
      <dgm:spPr/>
    </dgm:pt>
  </dgm:ptLst>
  <dgm:cxnLst>
    <dgm:cxn modelId="{E003D507-F4A5-4FDE-8A00-6AC3F407ABD1}" srcId="{CFEFDF1F-E5EA-405A-9238-ED98E23CC607}" destId="{E15F3CDF-659D-4865-B1EA-7EEC412132F9}" srcOrd="3" destOrd="0" parTransId="{6EFE6CF1-B400-4D9D-98E1-C53F220A9BA1}" sibTransId="{3E2A29EA-4A46-4A5F-A751-3222E71BF5E5}"/>
    <dgm:cxn modelId="{76926E08-3811-43E3-AE33-F8B2760AF593}" srcId="{353218C0-AFA5-4B0C-9081-4CB971A9A424}" destId="{0A01931E-A33A-4DA2-B8A9-DA74BEE1C9F5}" srcOrd="2" destOrd="0" parTransId="{A12DB30D-C39A-4A89-9895-B06F24728B21}" sibTransId="{ABB32CB1-53C3-4E57-91E1-A5D6634D8C24}"/>
    <dgm:cxn modelId="{4C145D1C-7202-404D-AE64-C9AABFA74090}" srcId="{353218C0-AFA5-4B0C-9081-4CB971A9A424}" destId="{B6949375-C798-495C-834C-4B20ACFFAF8D}" srcOrd="1" destOrd="0" parTransId="{7E9124FE-9E3F-4A47-89EF-81C9296C9381}" sibTransId="{1B1FB2F8-FE26-4CB1-8253-21B55E7A11BC}"/>
    <dgm:cxn modelId="{256AA626-C13D-4276-845D-ABB6219F87DF}" type="presOf" srcId="{D2223FF1-0641-4148-8345-4D4E9373BF25}" destId="{415FA72D-2974-4D0C-BA27-AF846787B28E}" srcOrd="0" destOrd="6" presId="urn:microsoft.com/office/officeart/2005/8/layout/list1"/>
    <dgm:cxn modelId="{9D37562D-DFED-4BAD-B096-08F7B704DB91}" srcId="{CFEFDF1F-E5EA-405A-9238-ED98E23CC607}" destId="{8B8D0476-FC97-4FEE-93B5-344F9ED77F79}" srcOrd="2" destOrd="0" parTransId="{A376145B-0988-4684-8070-20C023C61BBD}" sibTransId="{A0F4D763-96D5-42BE-A806-87F56CB3A24B}"/>
    <dgm:cxn modelId="{B2898934-A2FB-4FAA-8693-DDA4B17820DD}" srcId="{CFEFDF1F-E5EA-405A-9238-ED98E23CC607}" destId="{C1F29684-8A4E-47DC-9791-6C5678C80E63}" srcOrd="1" destOrd="0" parTransId="{BB562E50-F3F4-41A3-935A-A0025DC1A9FA}" sibTransId="{550C8E2D-11F4-4690-95BF-256B57AC7AFD}"/>
    <dgm:cxn modelId="{3869D534-8C80-4122-907C-75432DCB6939}" type="presOf" srcId="{1BCEA4A6-840A-401F-B43F-162A6E7FCBAB}" destId="{415FA72D-2974-4D0C-BA27-AF846787B28E}" srcOrd="0" destOrd="5" presId="urn:microsoft.com/office/officeart/2005/8/layout/list1"/>
    <dgm:cxn modelId="{7F59C536-53F4-4B33-B39E-9D976875CEF4}" type="presOf" srcId="{2C9CD023-23AF-42C2-AAEE-F763DD040757}" destId="{07A92788-0E15-4030-B1E9-EEEC8D281286}" srcOrd="0" destOrd="1" presId="urn:microsoft.com/office/officeart/2005/8/layout/list1"/>
    <dgm:cxn modelId="{6693EE3E-F2A5-4973-89EE-415B8724163B}" type="presOf" srcId="{0A01931E-A33A-4DA2-B8A9-DA74BEE1C9F5}" destId="{B0774922-4782-450F-A7F1-56A2C24983E6}" srcOrd="1" destOrd="0" presId="urn:microsoft.com/office/officeart/2005/8/layout/list1"/>
    <dgm:cxn modelId="{9ED0755C-0F74-4560-9272-EB2D11B31D57}" srcId="{B6949375-C798-495C-834C-4B20ACFFAF8D}" destId="{CFEFDF1F-E5EA-405A-9238-ED98E23CC607}" srcOrd="0" destOrd="0" parTransId="{F235538C-C614-4F3F-B17B-F1400AA17EE8}" sibTransId="{D7EE0ACD-5493-42E4-B0F9-39CBCECB0B45}"/>
    <dgm:cxn modelId="{BEF9B65D-EDB2-4382-9FA1-89193843DAEC}" type="presOf" srcId="{C1F29684-8A4E-47DC-9791-6C5678C80E63}" destId="{415FA72D-2974-4D0C-BA27-AF846787B28E}" srcOrd="0" destOrd="2" presId="urn:microsoft.com/office/officeart/2005/8/layout/list1"/>
    <dgm:cxn modelId="{7942FC65-0519-47B8-848C-A8DC73C62CEA}" type="presOf" srcId="{B6949375-C798-495C-834C-4B20ACFFAF8D}" destId="{8185B32B-95A7-438E-8E42-86FDBB9FF2B4}" srcOrd="0" destOrd="0" presId="urn:microsoft.com/office/officeart/2005/8/layout/list1"/>
    <dgm:cxn modelId="{5B374A6E-D023-4D69-ADAD-28A1DEBF2A35}" type="presOf" srcId="{CFEFDF1F-E5EA-405A-9238-ED98E23CC607}" destId="{415FA72D-2974-4D0C-BA27-AF846787B28E}" srcOrd="0" destOrd="0" presId="urn:microsoft.com/office/officeart/2005/8/layout/list1"/>
    <dgm:cxn modelId="{DBC7C46F-68A5-4758-9A73-0A57973873CA}" srcId="{94718A50-D0D9-4EC6-B02F-F1EFE343A6C7}" destId="{7FCA0070-EED5-4034-A519-CA3D517046F8}" srcOrd="1" destOrd="0" parTransId="{C8E8FC8E-A686-4A2D-8FFA-D835F53C4EA3}" sibTransId="{AE1D7E36-08AC-4C33-9A67-A7CE778FFEEC}"/>
    <dgm:cxn modelId="{5A102750-7B13-4EBF-A675-88A4F9E4E527}" srcId="{353218C0-AFA5-4B0C-9081-4CB971A9A424}" destId="{94718A50-D0D9-4EC6-B02F-F1EFE343A6C7}" srcOrd="0" destOrd="0" parTransId="{CF358DF4-7551-4EAE-B81D-414F812C02F8}" sibTransId="{EC4C954F-0996-4F73-837A-94744FDFE271}"/>
    <dgm:cxn modelId="{583E6952-0277-4032-B7C6-F6305D5AE088}" type="presOf" srcId="{B6949375-C798-495C-834C-4B20ACFFAF8D}" destId="{3B4898E3-A43D-4BB9-A1CD-527AC2F257D6}" srcOrd="1" destOrd="0" presId="urn:microsoft.com/office/officeart/2005/8/layout/list1"/>
    <dgm:cxn modelId="{EF416191-37F1-4F66-8105-A81BD18A3E54}" type="presOf" srcId="{0A01931E-A33A-4DA2-B8A9-DA74BEE1C9F5}" destId="{940DA70D-A909-46CE-B863-AE93C3CF3AA1}" srcOrd="0" destOrd="0" presId="urn:microsoft.com/office/officeart/2005/8/layout/list1"/>
    <dgm:cxn modelId="{A2160296-392C-4343-9798-730BE5F03854}" srcId="{0A01931E-A33A-4DA2-B8A9-DA74BEE1C9F5}" destId="{2C9CD023-23AF-42C2-AAEE-F763DD040757}" srcOrd="1" destOrd="0" parTransId="{C9E0726B-FAAA-4D6D-B941-E106DF7984D6}" sibTransId="{26665515-F754-40A4-ACCD-721AC475F498}"/>
    <dgm:cxn modelId="{8DF8539C-B120-473A-B317-8ED2845B1F5D}" type="presOf" srcId="{B5C88715-D140-4C8B-A841-8CC954D7106A}" destId="{415FA72D-2974-4D0C-BA27-AF846787B28E}" srcOrd="0" destOrd="1" presId="urn:microsoft.com/office/officeart/2005/8/layout/list1"/>
    <dgm:cxn modelId="{66A733A2-6397-4188-8AD4-AB0EFC5FCAD8}" type="presOf" srcId="{7FCA0070-EED5-4034-A519-CA3D517046F8}" destId="{B672F4BD-A6B9-43F2-8AB2-DC2142B69C5B}" srcOrd="0" destOrd="1" presId="urn:microsoft.com/office/officeart/2005/8/layout/list1"/>
    <dgm:cxn modelId="{ED58C2CF-881A-4C46-ABFD-B3E9843D3037}" type="presOf" srcId="{94718A50-D0D9-4EC6-B02F-F1EFE343A6C7}" destId="{8753E8B3-0B99-43DD-9AB7-ED77C986F107}" srcOrd="0" destOrd="0" presId="urn:microsoft.com/office/officeart/2005/8/layout/list1"/>
    <dgm:cxn modelId="{E22F64D3-A276-4C09-8AEC-03F5E4D2275B}" type="presOf" srcId="{E15F3CDF-659D-4865-B1EA-7EEC412132F9}" destId="{415FA72D-2974-4D0C-BA27-AF846787B28E}" srcOrd="0" destOrd="4" presId="urn:microsoft.com/office/officeart/2005/8/layout/list1"/>
    <dgm:cxn modelId="{DCFC79D5-F894-4627-801C-E1F62A5CE922}" srcId="{94718A50-D0D9-4EC6-B02F-F1EFE343A6C7}" destId="{46F95F89-7A69-4EB0-8D24-D9C0E70E2CBF}" srcOrd="0" destOrd="0" parTransId="{94E547FC-026D-4E48-8CB0-4AC082B415F6}" sibTransId="{82D6E3BB-D728-4D13-8EA6-1D1C5B3258E1}"/>
    <dgm:cxn modelId="{63B869D8-92AD-4EFF-AB37-AB2C5F62958F}" type="presOf" srcId="{8B8D0476-FC97-4FEE-93B5-344F9ED77F79}" destId="{415FA72D-2974-4D0C-BA27-AF846787B28E}" srcOrd="0" destOrd="3" presId="urn:microsoft.com/office/officeart/2005/8/layout/list1"/>
    <dgm:cxn modelId="{754660DA-C08B-45C5-9773-3735B784CE16}" srcId="{B6949375-C798-495C-834C-4B20ACFFAF8D}" destId="{D2223FF1-0641-4148-8345-4D4E9373BF25}" srcOrd="1" destOrd="0" parTransId="{7DC640DC-00B2-453E-BDCF-864DA9132567}" sibTransId="{D0458267-E9EA-4C46-8703-EA39C0A5CB4B}"/>
    <dgm:cxn modelId="{45A184E4-0F36-4295-A41F-3F6C387C3E7D}" type="presOf" srcId="{94718A50-D0D9-4EC6-B02F-F1EFE343A6C7}" destId="{BDEC6C78-D07E-4CBD-ADF4-797665C95194}" srcOrd="1" destOrd="0" presId="urn:microsoft.com/office/officeart/2005/8/layout/list1"/>
    <dgm:cxn modelId="{A1F657E7-2122-4551-903E-A59E0F1950FF}" type="presOf" srcId="{46F95F89-7A69-4EB0-8D24-D9C0E70E2CBF}" destId="{B672F4BD-A6B9-43F2-8AB2-DC2142B69C5B}" srcOrd="0" destOrd="0" presId="urn:microsoft.com/office/officeart/2005/8/layout/list1"/>
    <dgm:cxn modelId="{840DBBE8-1F52-40EE-AE8B-8E59BE66C05E}" type="presOf" srcId="{5D3BFBD2-DE15-4625-926B-35886158E422}" destId="{07A92788-0E15-4030-B1E9-EEEC8D281286}" srcOrd="0" destOrd="0" presId="urn:microsoft.com/office/officeart/2005/8/layout/list1"/>
    <dgm:cxn modelId="{D24AE9F3-7424-40C5-84BB-7DD3097D21BD}" srcId="{CFEFDF1F-E5EA-405A-9238-ED98E23CC607}" destId="{1BCEA4A6-840A-401F-B43F-162A6E7FCBAB}" srcOrd="4" destOrd="0" parTransId="{BC318EC7-DB8E-4554-A59D-2C6DE118077A}" sibTransId="{F879FE62-7FD9-4A92-8E24-CC7C38D65E7E}"/>
    <dgm:cxn modelId="{38E1AAF4-1A0B-452E-BE55-8EC5C496EEA7}" srcId="{CFEFDF1F-E5EA-405A-9238-ED98E23CC607}" destId="{B5C88715-D140-4C8B-A841-8CC954D7106A}" srcOrd="0" destOrd="0" parTransId="{EB043B70-76CC-49FC-8C35-25C658049E43}" sibTransId="{270DD6CD-199B-4C19-80E5-EBB3792FD10D}"/>
    <dgm:cxn modelId="{5752B7F8-F5F2-40FF-9D88-D616844B7DD0}" srcId="{0A01931E-A33A-4DA2-B8A9-DA74BEE1C9F5}" destId="{5D3BFBD2-DE15-4625-926B-35886158E422}" srcOrd="0" destOrd="0" parTransId="{818A19B7-6DAC-48A7-8080-40A9494365C1}" sibTransId="{0AAC234E-D2D2-4A55-A347-E6C77EAFB885}"/>
    <dgm:cxn modelId="{D6E915FD-8DB9-41F0-B2D0-2BD9026678B9}" type="presOf" srcId="{353218C0-AFA5-4B0C-9081-4CB971A9A424}" destId="{C3DA29C8-C281-42DB-A4ED-9DB25C694AE8}" srcOrd="0" destOrd="0" presId="urn:microsoft.com/office/officeart/2005/8/layout/list1"/>
    <dgm:cxn modelId="{AFD5F09A-8EE6-44EF-BB66-DF63E4BBCA41}" type="presParOf" srcId="{C3DA29C8-C281-42DB-A4ED-9DB25C694AE8}" destId="{ADDAB9CD-C4E8-42B4-82C6-5A9AB1CC87B7}" srcOrd="0" destOrd="0" presId="urn:microsoft.com/office/officeart/2005/8/layout/list1"/>
    <dgm:cxn modelId="{EA109805-E255-45C6-BAC0-4BCB42F5FA3A}" type="presParOf" srcId="{ADDAB9CD-C4E8-42B4-82C6-5A9AB1CC87B7}" destId="{8753E8B3-0B99-43DD-9AB7-ED77C986F107}" srcOrd="0" destOrd="0" presId="urn:microsoft.com/office/officeart/2005/8/layout/list1"/>
    <dgm:cxn modelId="{82989526-AC6B-423D-8EB1-E821F904785F}" type="presParOf" srcId="{ADDAB9CD-C4E8-42B4-82C6-5A9AB1CC87B7}" destId="{BDEC6C78-D07E-4CBD-ADF4-797665C95194}" srcOrd="1" destOrd="0" presId="urn:microsoft.com/office/officeart/2005/8/layout/list1"/>
    <dgm:cxn modelId="{E27B0DAF-6D64-4166-B788-65C380B6D62E}" type="presParOf" srcId="{C3DA29C8-C281-42DB-A4ED-9DB25C694AE8}" destId="{54FD3BCB-B2F2-4238-BBF8-09893D3667BC}" srcOrd="1" destOrd="0" presId="urn:microsoft.com/office/officeart/2005/8/layout/list1"/>
    <dgm:cxn modelId="{7A450984-3A4D-4C4B-ADA8-24210AEB136F}" type="presParOf" srcId="{C3DA29C8-C281-42DB-A4ED-9DB25C694AE8}" destId="{B672F4BD-A6B9-43F2-8AB2-DC2142B69C5B}" srcOrd="2" destOrd="0" presId="urn:microsoft.com/office/officeart/2005/8/layout/list1"/>
    <dgm:cxn modelId="{B7F5173B-885E-428B-8B56-068C9535E456}" type="presParOf" srcId="{C3DA29C8-C281-42DB-A4ED-9DB25C694AE8}" destId="{F2675F96-DDAF-42F3-9C72-6AB4E1A802B7}" srcOrd="3" destOrd="0" presId="urn:microsoft.com/office/officeart/2005/8/layout/list1"/>
    <dgm:cxn modelId="{5A602ED2-F1B4-4E5A-B94B-A082ED3581A1}" type="presParOf" srcId="{C3DA29C8-C281-42DB-A4ED-9DB25C694AE8}" destId="{A2F75442-77C5-47E8-AA6D-972CCCA5CBE6}" srcOrd="4" destOrd="0" presId="urn:microsoft.com/office/officeart/2005/8/layout/list1"/>
    <dgm:cxn modelId="{DB657D0E-8ADA-49D9-B91F-9F55F64A0384}" type="presParOf" srcId="{A2F75442-77C5-47E8-AA6D-972CCCA5CBE6}" destId="{8185B32B-95A7-438E-8E42-86FDBB9FF2B4}" srcOrd="0" destOrd="0" presId="urn:microsoft.com/office/officeart/2005/8/layout/list1"/>
    <dgm:cxn modelId="{4B9B7E02-A400-4E47-B0F3-3AF202544CBF}" type="presParOf" srcId="{A2F75442-77C5-47E8-AA6D-972CCCA5CBE6}" destId="{3B4898E3-A43D-4BB9-A1CD-527AC2F257D6}" srcOrd="1" destOrd="0" presId="urn:microsoft.com/office/officeart/2005/8/layout/list1"/>
    <dgm:cxn modelId="{A23F9962-F8C5-4C36-96F8-68D6218153A4}" type="presParOf" srcId="{C3DA29C8-C281-42DB-A4ED-9DB25C694AE8}" destId="{B031370C-3218-466F-BC3D-24FB05B11600}" srcOrd="5" destOrd="0" presId="urn:microsoft.com/office/officeart/2005/8/layout/list1"/>
    <dgm:cxn modelId="{F0DAF58F-9125-426A-A090-3DFDDAE1ABF9}" type="presParOf" srcId="{C3DA29C8-C281-42DB-A4ED-9DB25C694AE8}" destId="{415FA72D-2974-4D0C-BA27-AF846787B28E}" srcOrd="6" destOrd="0" presId="urn:microsoft.com/office/officeart/2005/8/layout/list1"/>
    <dgm:cxn modelId="{77E370E6-AEB9-4F15-B655-2EB0AE6DDC5E}" type="presParOf" srcId="{C3DA29C8-C281-42DB-A4ED-9DB25C694AE8}" destId="{60FEBCA0-6017-460E-B3CD-445CCA290311}" srcOrd="7" destOrd="0" presId="urn:microsoft.com/office/officeart/2005/8/layout/list1"/>
    <dgm:cxn modelId="{88EB169D-537B-42E3-82C2-F610AA73EEE0}" type="presParOf" srcId="{C3DA29C8-C281-42DB-A4ED-9DB25C694AE8}" destId="{AD9434C5-FD41-48F2-A6D2-A33CBDD70778}" srcOrd="8" destOrd="0" presId="urn:microsoft.com/office/officeart/2005/8/layout/list1"/>
    <dgm:cxn modelId="{4D937B54-9052-485F-B6FD-3DE469C6F4A7}" type="presParOf" srcId="{AD9434C5-FD41-48F2-A6D2-A33CBDD70778}" destId="{940DA70D-A909-46CE-B863-AE93C3CF3AA1}" srcOrd="0" destOrd="0" presId="urn:microsoft.com/office/officeart/2005/8/layout/list1"/>
    <dgm:cxn modelId="{8782313F-1946-4BEE-A116-F9A15CB684B4}" type="presParOf" srcId="{AD9434C5-FD41-48F2-A6D2-A33CBDD70778}" destId="{B0774922-4782-450F-A7F1-56A2C24983E6}" srcOrd="1" destOrd="0" presId="urn:microsoft.com/office/officeart/2005/8/layout/list1"/>
    <dgm:cxn modelId="{9D8D977E-C31A-45E4-B458-A4852B771D43}" type="presParOf" srcId="{C3DA29C8-C281-42DB-A4ED-9DB25C694AE8}" destId="{10E0E406-0292-489C-B576-EDF0A5ABBE03}" srcOrd="9" destOrd="0" presId="urn:microsoft.com/office/officeart/2005/8/layout/list1"/>
    <dgm:cxn modelId="{4EF770FE-C10F-4BF6-9AFF-5B9C7C28BD74}" type="presParOf" srcId="{C3DA29C8-C281-42DB-A4ED-9DB25C694AE8}" destId="{07A92788-0E15-4030-B1E9-EEEC8D281286}" srcOrd="10" destOrd="0" presId="urn:microsoft.com/office/officeart/2005/8/layout/lis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356000F4-2B28-404F-A7D3-A9A4D7B20862}" type="doc">
      <dgm:prSet loTypeId="urn:microsoft.com/office/officeart/2005/8/layout/orgChart1" loCatId="hierarchy" qsTypeId="urn:microsoft.com/office/officeart/2005/8/quickstyle/simple1" qsCatId="simple" csTypeId="urn:microsoft.com/office/officeart/2005/8/colors/accent1_2" csCatId="accent1" phldr="1"/>
      <dgm:spPr/>
      <dgm:t>
        <a:bodyPr/>
        <a:lstStyle/>
        <a:p>
          <a:endParaRPr lang="zh-CN" altLang="en-US"/>
        </a:p>
      </dgm:t>
    </dgm:pt>
    <dgm:pt modelId="{385FC67A-6BBB-458A-AA1A-B6673CA6943F}">
      <dgm:prSet phldrT="[文本]" custT="1"/>
      <dgm:spPr>
        <a:solidFill>
          <a:srgbClr val="0070C0"/>
        </a:solidFill>
        <a:ln w="25400">
          <a:solidFill>
            <a:schemeClr val="bg1"/>
          </a:solidFill>
        </a:ln>
      </dgm:spPr>
      <dgm:t>
        <a:bodyPr/>
        <a:lstStyle/>
        <a:p>
          <a:r>
            <a:rPr lang="en-US" altLang="zh-CN" sz="1300" b="1" dirty="0">
              <a:solidFill>
                <a:schemeClr val="tx1"/>
              </a:solidFill>
            </a:rPr>
            <a:t>Delivery  </a:t>
          </a:r>
        </a:p>
        <a:p>
          <a:r>
            <a:rPr lang="en-US" altLang="zh-CN" sz="1300" b="1" dirty="0">
              <a:solidFill>
                <a:schemeClr val="tx1"/>
              </a:solidFill>
            </a:rPr>
            <a:t>Plan</a:t>
          </a:r>
          <a:endParaRPr lang="zh-CN" altLang="en-US" sz="1300" b="1" dirty="0">
            <a:solidFill>
              <a:schemeClr val="tx1"/>
            </a:solidFill>
          </a:endParaRPr>
        </a:p>
      </dgm:t>
    </dgm:pt>
    <dgm:pt modelId="{5CADA82D-B970-4A21-86D5-A95C4324AAF6}" type="parTrans" cxnId="{83657CEF-005E-4318-9C83-8FC7663B68AB}">
      <dgm:prSet/>
      <dgm:spPr>
        <a:ln w="38100">
          <a:solidFill>
            <a:srgbClr val="0070C0"/>
          </a:solidFill>
        </a:ln>
      </dgm:spPr>
      <dgm:t>
        <a:bodyPr/>
        <a:lstStyle/>
        <a:p>
          <a:endParaRPr lang="zh-CN" altLang="en-US"/>
        </a:p>
      </dgm:t>
    </dgm:pt>
    <dgm:pt modelId="{F7AB1EC1-A8AE-416D-AFC4-668F68D43B12}" type="sibTrans" cxnId="{83657CEF-005E-4318-9C83-8FC7663B68AB}">
      <dgm:prSet/>
      <dgm:spPr/>
      <dgm:t>
        <a:bodyPr/>
        <a:lstStyle/>
        <a:p>
          <a:endParaRPr lang="zh-CN" altLang="en-US"/>
        </a:p>
      </dgm:t>
    </dgm:pt>
    <dgm:pt modelId="{C5A362F0-57BB-4079-A124-8E4DD6C178C3}">
      <dgm:prSet phldrT="[文本]" custT="1"/>
      <dgm:spPr>
        <a:solidFill>
          <a:srgbClr val="0070C0"/>
        </a:solidFill>
      </dgm:spPr>
      <dgm:t>
        <a:bodyPr/>
        <a:lstStyle/>
        <a:p>
          <a:r>
            <a:rPr lang="en-US" altLang="zh-CN" sz="1300" b="1" dirty="0"/>
            <a:t>Delivery Notes</a:t>
          </a:r>
          <a:endParaRPr lang="zh-CN" altLang="en-US" sz="1300" b="1" dirty="0"/>
        </a:p>
      </dgm:t>
    </dgm:pt>
    <dgm:pt modelId="{8597218E-9C2F-499F-B088-D16A796A347B}" type="parTrans" cxnId="{402CF616-9E73-4F7A-A445-9666D57B822B}">
      <dgm:prSet/>
      <dgm:spPr>
        <a:ln w="38100">
          <a:solidFill>
            <a:srgbClr val="0070C0"/>
          </a:solidFill>
        </a:ln>
      </dgm:spPr>
      <dgm:t>
        <a:bodyPr/>
        <a:lstStyle/>
        <a:p>
          <a:endParaRPr lang="zh-CN" altLang="en-US"/>
        </a:p>
      </dgm:t>
    </dgm:pt>
    <dgm:pt modelId="{CA3C7DBD-9935-4FB0-BA51-6787FAE15C65}" type="sibTrans" cxnId="{402CF616-9E73-4F7A-A445-9666D57B822B}">
      <dgm:prSet/>
      <dgm:spPr/>
      <dgm:t>
        <a:bodyPr/>
        <a:lstStyle/>
        <a:p>
          <a:endParaRPr lang="zh-CN" altLang="en-US"/>
        </a:p>
      </dgm:t>
    </dgm:pt>
    <dgm:pt modelId="{CB244C66-9BCB-4175-A926-FCF19E0C2F9C}">
      <dgm:prSet phldrT="[文本]" custT="1"/>
      <dgm:spPr>
        <a:solidFill>
          <a:srgbClr val="0070C0"/>
        </a:solidFill>
      </dgm:spPr>
      <dgm:t>
        <a:bodyPr/>
        <a:lstStyle/>
        <a:p>
          <a:r>
            <a:rPr lang="en-US" altLang="zh-CN" sz="1300" b="1" dirty="0"/>
            <a:t>Replenishment </a:t>
          </a:r>
        </a:p>
        <a:p>
          <a:r>
            <a:rPr lang="en-US" altLang="zh-CN" sz="1300" b="1" dirty="0"/>
            <a:t>Plan</a:t>
          </a:r>
          <a:endParaRPr lang="zh-CN" altLang="en-US" sz="1300" b="1" dirty="0"/>
        </a:p>
      </dgm:t>
    </dgm:pt>
    <dgm:pt modelId="{D64A22B9-C84E-49B8-BF46-A627038800D4}" type="parTrans" cxnId="{43970F27-5CD4-4C25-9283-398FC21310A5}">
      <dgm:prSet/>
      <dgm:spPr>
        <a:ln w="38100">
          <a:solidFill>
            <a:srgbClr val="0070C0"/>
          </a:solidFill>
        </a:ln>
      </dgm:spPr>
      <dgm:t>
        <a:bodyPr/>
        <a:lstStyle/>
        <a:p>
          <a:endParaRPr lang="zh-CN" altLang="en-US"/>
        </a:p>
      </dgm:t>
    </dgm:pt>
    <dgm:pt modelId="{48A4A30A-71BC-44EA-AA55-5111E54402C5}" type="sibTrans" cxnId="{43970F27-5CD4-4C25-9283-398FC21310A5}">
      <dgm:prSet/>
      <dgm:spPr/>
      <dgm:t>
        <a:bodyPr/>
        <a:lstStyle/>
        <a:p>
          <a:endParaRPr lang="zh-CN" altLang="en-US"/>
        </a:p>
      </dgm:t>
    </dgm:pt>
    <dgm:pt modelId="{55508471-6B92-4F44-9DE0-F22B61DD04EF}" type="asst">
      <dgm:prSet phldrT="[文本]" custT="1"/>
      <dgm:spPr>
        <a:solidFill>
          <a:schemeClr val="accent1"/>
        </a:solidFill>
        <a:ln w="63500">
          <a:solidFill>
            <a:srgbClr val="0070C0"/>
          </a:solidFill>
        </a:ln>
      </dgm:spPr>
      <dgm:t>
        <a:bodyPr/>
        <a:lstStyle/>
        <a:p>
          <a:r>
            <a:rPr lang="en-US" altLang="zh-CN" sz="1600" b="1" dirty="0"/>
            <a:t>Execution Plan</a:t>
          </a:r>
          <a:endParaRPr lang="zh-CN" altLang="en-US" sz="1600" b="1" dirty="0"/>
        </a:p>
      </dgm:t>
    </dgm:pt>
    <dgm:pt modelId="{6ADFE3A7-6160-46C1-97D8-8953AF0528DA}" type="sibTrans" cxnId="{E8C94AB2-E1B6-4E6C-B000-35C082DA7AB4}">
      <dgm:prSet/>
      <dgm:spPr/>
      <dgm:t>
        <a:bodyPr/>
        <a:lstStyle/>
        <a:p>
          <a:endParaRPr lang="zh-CN" altLang="en-US"/>
        </a:p>
      </dgm:t>
    </dgm:pt>
    <dgm:pt modelId="{87FBFAF5-4663-447C-8377-1001EE8C81DA}" type="parTrans" cxnId="{E8C94AB2-E1B6-4E6C-B000-35C082DA7AB4}">
      <dgm:prSet/>
      <dgm:spPr/>
      <dgm:t>
        <a:bodyPr/>
        <a:lstStyle/>
        <a:p>
          <a:endParaRPr lang="zh-CN" altLang="en-US"/>
        </a:p>
      </dgm:t>
    </dgm:pt>
    <dgm:pt modelId="{A08E3639-6E57-4BEC-AE2D-401E4010BFC1}">
      <dgm:prSet phldrT="[文本]" custT="1"/>
      <dgm:spPr>
        <a:solidFill>
          <a:srgbClr val="0070C0"/>
        </a:solidFill>
      </dgm:spPr>
      <dgm:t>
        <a:bodyPr/>
        <a:lstStyle/>
        <a:p>
          <a:r>
            <a:rPr lang="en-US" altLang="zh-CN" sz="1300" b="1" dirty="0"/>
            <a:t>Factory</a:t>
          </a:r>
        </a:p>
        <a:p>
          <a:r>
            <a:rPr lang="en-US" altLang="zh-CN" sz="1300" b="1" dirty="0"/>
            <a:t>Plan</a:t>
          </a:r>
          <a:endParaRPr lang="zh-CN" altLang="en-US" sz="1300" b="1" dirty="0"/>
        </a:p>
      </dgm:t>
    </dgm:pt>
    <dgm:pt modelId="{84599377-C1FD-43C5-821E-66AEBB46C80E}" type="parTrans" cxnId="{806BB8D5-2DDD-4445-AC1E-35481F0FEB4B}">
      <dgm:prSet/>
      <dgm:spPr>
        <a:ln w="38100">
          <a:solidFill>
            <a:srgbClr val="0070C0"/>
          </a:solidFill>
        </a:ln>
      </dgm:spPr>
      <dgm:t>
        <a:bodyPr/>
        <a:lstStyle/>
        <a:p>
          <a:endParaRPr lang="zh-CN" altLang="en-US"/>
        </a:p>
      </dgm:t>
    </dgm:pt>
    <dgm:pt modelId="{7365B8E0-0526-4B8F-9BE1-320361B2577D}" type="sibTrans" cxnId="{806BB8D5-2DDD-4445-AC1E-35481F0FEB4B}">
      <dgm:prSet/>
      <dgm:spPr/>
      <dgm:t>
        <a:bodyPr/>
        <a:lstStyle/>
        <a:p>
          <a:endParaRPr lang="zh-CN" altLang="en-US"/>
        </a:p>
      </dgm:t>
    </dgm:pt>
    <dgm:pt modelId="{33E157EF-FC34-455E-8D0A-C3A15F2B6ED6}" type="pres">
      <dgm:prSet presAssocID="{356000F4-2B28-404F-A7D3-A9A4D7B20862}" presName="hierChild1" presStyleCnt="0">
        <dgm:presLayoutVars>
          <dgm:orgChart val="1"/>
          <dgm:chPref val="1"/>
          <dgm:dir/>
          <dgm:animOne val="branch"/>
          <dgm:animLvl val="lvl"/>
          <dgm:resizeHandles/>
        </dgm:presLayoutVars>
      </dgm:prSet>
      <dgm:spPr/>
    </dgm:pt>
    <dgm:pt modelId="{07BACF4D-3D62-419B-94C4-765A9ADDAD83}" type="pres">
      <dgm:prSet presAssocID="{55508471-6B92-4F44-9DE0-F22B61DD04EF}" presName="hierRoot1" presStyleCnt="0">
        <dgm:presLayoutVars>
          <dgm:hierBranch val="init"/>
        </dgm:presLayoutVars>
      </dgm:prSet>
      <dgm:spPr/>
    </dgm:pt>
    <dgm:pt modelId="{A1155B42-4EA7-43D6-8AE3-C85A01993A9E}" type="pres">
      <dgm:prSet presAssocID="{55508471-6B92-4F44-9DE0-F22B61DD04EF}" presName="rootComposite1" presStyleCnt="0"/>
      <dgm:spPr/>
    </dgm:pt>
    <dgm:pt modelId="{129A757B-AC55-4F77-B17F-2D3AC664048F}" type="pres">
      <dgm:prSet presAssocID="{55508471-6B92-4F44-9DE0-F22B61DD04EF}" presName="rootText1" presStyleLbl="node0" presStyleIdx="0" presStyleCnt="1" custScaleX="253087" custScaleY="93148" custLinFactNeighborX="2414" custLinFactNeighborY="-31663">
        <dgm:presLayoutVars>
          <dgm:chPref val="3"/>
        </dgm:presLayoutVars>
      </dgm:prSet>
      <dgm:spPr/>
    </dgm:pt>
    <dgm:pt modelId="{FC364C58-541F-41E4-B04C-12D6C1D2634E}" type="pres">
      <dgm:prSet presAssocID="{55508471-6B92-4F44-9DE0-F22B61DD04EF}" presName="rootConnector1" presStyleLbl="asst0" presStyleIdx="0" presStyleCnt="0"/>
      <dgm:spPr/>
    </dgm:pt>
    <dgm:pt modelId="{C8F29BA9-2311-4979-A0C8-A004E71D283A}" type="pres">
      <dgm:prSet presAssocID="{55508471-6B92-4F44-9DE0-F22B61DD04EF}" presName="hierChild2" presStyleCnt="0"/>
      <dgm:spPr/>
    </dgm:pt>
    <dgm:pt modelId="{85AC9EC3-2779-4F4B-B0B1-BF3EA6026B7B}" type="pres">
      <dgm:prSet presAssocID="{5CADA82D-B970-4A21-86D5-A95C4324AAF6}" presName="Name37" presStyleLbl="parChTrans1D2" presStyleIdx="0" presStyleCnt="4"/>
      <dgm:spPr/>
    </dgm:pt>
    <dgm:pt modelId="{14773CC7-2129-4380-95A9-1CF420A6CF49}" type="pres">
      <dgm:prSet presAssocID="{385FC67A-6BBB-458A-AA1A-B6673CA6943F}" presName="hierRoot2" presStyleCnt="0">
        <dgm:presLayoutVars>
          <dgm:hierBranch val="init"/>
        </dgm:presLayoutVars>
      </dgm:prSet>
      <dgm:spPr/>
    </dgm:pt>
    <dgm:pt modelId="{5C0CFBC6-03D9-4BF2-B537-167B5ADFBF31}" type="pres">
      <dgm:prSet presAssocID="{385FC67A-6BBB-458A-AA1A-B6673CA6943F}" presName="rootComposite" presStyleCnt="0"/>
      <dgm:spPr/>
    </dgm:pt>
    <dgm:pt modelId="{CC44E8B6-A897-4AB9-A154-1CBCC122CFC6}" type="pres">
      <dgm:prSet presAssocID="{385FC67A-6BBB-458A-AA1A-B6673CA6943F}" presName="rootText" presStyleLbl="node2" presStyleIdx="0" presStyleCnt="4" custScaleX="147456" custScaleY="110635" custLinFactNeighborX="-3576" custLinFactNeighborY="59">
        <dgm:presLayoutVars>
          <dgm:chPref val="3"/>
        </dgm:presLayoutVars>
      </dgm:prSet>
      <dgm:spPr/>
    </dgm:pt>
    <dgm:pt modelId="{2BFD90C7-0631-40DB-9C2A-BF118F6E29F4}" type="pres">
      <dgm:prSet presAssocID="{385FC67A-6BBB-458A-AA1A-B6673CA6943F}" presName="rootConnector" presStyleLbl="node2" presStyleIdx="0" presStyleCnt="4"/>
      <dgm:spPr/>
    </dgm:pt>
    <dgm:pt modelId="{A36DF9F4-86F1-49E0-B473-8C7DF4078ECE}" type="pres">
      <dgm:prSet presAssocID="{385FC67A-6BBB-458A-AA1A-B6673CA6943F}" presName="hierChild4" presStyleCnt="0"/>
      <dgm:spPr/>
    </dgm:pt>
    <dgm:pt modelId="{7DA99313-A292-4FBD-BB1B-89E3114BE8F9}" type="pres">
      <dgm:prSet presAssocID="{385FC67A-6BBB-458A-AA1A-B6673CA6943F}" presName="hierChild5" presStyleCnt="0"/>
      <dgm:spPr/>
    </dgm:pt>
    <dgm:pt modelId="{73562B12-9146-4034-BD7D-D42D309CDFF7}" type="pres">
      <dgm:prSet presAssocID="{8597218E-9C2F-499F-B088-D16A796A347B}" presName="Name37" presStyleLbl="parChTrans1D2" presStyleIdx="1" presStyleCnt="4"/>
      <dgm:spPr/>
    </dgm:pt>
    <dgm:pt modelId="{F7398606-20C1-495E-B97F-578991DA4F07}" type="pres">
      <dgm:prSet presAssocID="{C5A362F0-57BB-4079-A124-8E4DD6C178C3}" presName="hierRoot2" presStyleCnt="0">
        <dgm:presLayoutVars>
          <dgm:hierBranch val="init"/>
        </dgm:presLayoutVars>
      </dgm:prSet>
      <dgm:spPr/>
    </dgm:pt>
    <dgm:pt modelId="{7605EDA2-EFD5-438B-9241-12BD141E9E58}" type="pres">
      <dgm:prSet presAssocID="{C5A362F0-57BB-4079-A124-8E4DD6C178C3}" presName="rootComposite" presStyleCnt="0"/>
      <dgm:spPr/>
    </dgm:pt>
    <dgm:pt modelId="{D9BC4F3D-9DDD-4866-8666-21D60EA9E848}" type="pres">
      <dgm:prSet presAssocID="{C5A362F0-57BB-4079-A124-8E4DD6C178C3}" presName="rootText" presStyleLbl="node2" presStyleIdx="1" presStyleCnt="4" custScaleX="147459" custScaleY="110477">
        <dgm:presLayoutVars>
          <dgm:chPref val="3"/>
        </dgm:presLayoutVars>
      </dgm:prSet>
      <dgm:spPr/>
    </dgm:pt>
    <dgm:pt modelId="{2E3EAC2C-4865-4DD5-B70D-A2874068CC74}" type="pres">
      <dgm:prSet presAssocID="{C5A362F0-57BB-4079-A124-8E4DD6C178C3}" presName="rootConnector" presStyleLbl="node2" presStyleIdx="1" presStyleCnt="4"/>
      <dgm:spPr/>
    </dgm:pt>
    <dgm:pt modelId="{1F3361C5-3795-405D-814B-5C5C3D02D27C}" type="pres">
      <dgm:prSet presAssocID="{C5A362F0-57BB-4079-A124-8E4DD6C178C3}" presName="hierChild4" presStyleCnt="0"/>
      <dgm:spPr/>
    </dgm:pt>
    <dgm:pt modelId="{85A7C676-8FC3-427D-AB51-CDC4F9AF6667}" type="pres">
      <dgm:prSet presAssocID="{C5A362F0-57BB-4079-A124-8E4DD6C178C3}" presName="hierChild5" presStyleCnt="0"/>
      <dgm:spPr/>
    </dgm:pt>
    <dgm:pt modelId="{F1583394-786B-487A-B025-BB99AE0CB42D}" type="pres">
      <dgm:prSet presAssocID="{D64A22B9-C84E-49B8-BF46-A627038800D4}" presName="Name37" presStyleLbl="parChTrans1D2" presStyleIdx="2" presStyleCnt="4"/>
      <dgm:spPr/>
    </dgm:pt>
    <dgm:pt modelId="{5F5B873B-25EC-46A6-9FD5-BB683C0DBBA9}" type="pres">
      <dgm:prSet presAssocID="{CB244C66-9BCB-4175-A926-FCF19E0C2F9C}" presName="hierRoot2" presStyleCnt="0">
        <dgm:presLayoutVars>
          <dgm:hierBranch val="init"/>
        </dgm:presLayoutVars>
      </dgm:prSet>
      <dgm:spPr/>
    </dgm:pt>
    <dgm:pt modelId="{AAB02EFC-77D4-4740-9300-0F9FB4B563A8}" type="pres">
      <dgm:prSet presAssocID="{CB244C66-9BCB-4175-A926-FCF19E0C2F9C}" presName="rootComposite" presStyleCnt="0"/>
      <dgm:spPr/>
    </dgm:pt>
    <dgm:pt modelId="{B848848A-B8C0-4B8D-BCF1-DB5326F8BF70}" type="pres">
      <dgm:prSet presAssocID="{CB244C66-9BCB-4175-A926-FCF19E0C2F9C}" presName="rootText" presStyleLbl="node2" presStyleIdx="2" presStyleCnt="4" custScaleX="147298" custScaleY="110477">
        <dgm:presLayoutVars>
          <dgm:chPref val="3"/>
        </dgm:presLayoutVars>
      </dgm:prSet>
      <dgm:spPr/>
    </dgm:pt>
    <dgm:pt modelId="{DA667D3D-BB93-4479-AA3B-3D061762900A}" type="pres">
      <dgm:prSet presAssocID="{CB244C66-9BCB-4175-A926-FCF19E0C2F9C}" presName="rootConnector" presStyleLbl="node2" presStyleIdx="2" presStyleCnt="4"/>
      <dgm:spPr/>
    </dgm:pt>
    <dgm:pt modelId="{80AF9303-43B6-4C0D-9991-2E2AEBA031BD}" type="pres">
      <dgm:prSet presAssocID="{CB244C66-9BCB-4175-A926-FCF19E0C2F9C}" presName="hierChild4" presStyleCnt="0"/>
      <dgm:spPr/>
    </dgm:pt>
    <dgm:pt modelId="{3A373A9A-2A42-41A7-AF9A-589E19E4A43E}" type="pres">
      <dgm:prSet presAssocID="{CB244C66-9BCB-4175-A926-FCF19E0C2F9C}" presName="hierChild5" presStyleCnt="0"/>
      <dgm:spPr/>
    </dgm:pt>
    <dgm:pt modelId="{9D7E0FCB-D6AB-4A91-BA50-408F0E1E72AC}" type="pres">
      <dgm:prSet presAssocID="{84599377-C1FD-43C5-821E-66AEBB46C80E}" presName="Name37" presStyleLbl="parChTrans1D2" presStyleIdx="3" presStyleCnt="4"/>
      <dgm:spPr/>
    </dgm:pt>
    <dgm:pt modelId="{DC002275-D2B6-4035-B857-6F7AF7ED65E2}" type="pres">
      <dgm:prSet presAssocID="{A08E3639-6E57-4BEC-AE2D-401E4010BFC1}" presName="hierRoot2" presStyleCnt="0">
        <dgm:presLayoutVars>
          <dgm:hierBranch val="init"/>
        </dgm:presLayoutVars>
      </dgm:prSet>
      <dgm:spPr/>
    </dgm:pt>
    <dgm:pt modelId="{F83DE3EA-3EF4-484A-8576-D72DFB401794}" type="pres">
      <dgm:prSet presAssocID="{A08E3639-6E57-4BEC-AE2D-401E4010BFC1}" presName="rootComposite" presStyleCnt="0"/>
      <dgm:spPr/>
    </dgm:pt>
    <dgm:pt modelId="{972FBD32-7DD5-4257-94B6-FA72491B52D0}" type="pres">
      <dgm:prSet presAssocID="{A08E3639-6E57-4BEC-AE2D-401E4010BFC1}" presName="rootText" presStyleLbl="node2" presStyleIdx="3" presStyleCnt="4" custScaleX="148733" custScaleY="110477">
        <dgm:presLayoutVars>
          <dgm:chPref val="3"/>
        </dgm:presLayoutVars>
      </dgm:prSet>
      <dgm:spPr/>
    </dgm:pt>
    <dgm:pt modelId="{5F8F7655-BBF9-4CF6-9B7C-BF095322E18D}" type="pres">
      <dgm:prSet presAssocID="{A08E3639-6E57-4BEC-AE2D-401E4010BFC1}" presName="rootConnector" presStyleLbl="node2" presStyleIdx="3" presStyleCnt="4"/>
      <dgm:spPr/>
    </dgm:pt>
    <dgm:pt modelId="{AC8747BA-9772-4F4D-97CC-D9D84B5A5B36}" type="pres">
      <dgm:prSet presAssocID="{A08E3639-6E57-4BEC-AE2D-401E4010BFC1}" presName="hierChild4" presStyleCnt="0"/>
      <dgm:spPr/>
    </dgm:pt>
    <dgm:pt modelId="{7DD516AB-231C-443C-8CF7-8C7FB1FED5DB}" type="pres">
      <dgm:prSet presAssocID="{A08E3639-6E57-4BEC-AE2D-401E4010BFC1}" presName="hierChild5" presStyleCnt="0"/>
      <dgm:spPr/>
    </dgm:pt>
    <dgm:pt modelId="{D8EEAE3F-89EC-42CF-B895-FD94A371F230}" type="pres">
      <dgm:prSet presAssocID="{55508471-6B92-4F44-9DE0-F22B61DD04EF}" presName="hierChild3" presStyleCnt="0"/>
      <dgm:spPr/>
    </dgm:pt>
  </dgm:ptLst>
  <dgm:cxnLst>
    <dgm:cxn modelId="{402CF616-9E73-4F7A-A445-9666D57B822B}" srcId="{55508471-6B92-4F44-9DE0-F22B61DD04EF}" destId="{C5A362F0-57BB-4079-A124-8E4DD6C178C3}" srcOrd="1" destOrd="0" parTransId="{8597218E-9C2F-499F-B088-D16A796A347B}" sibTransId="{CA3C7DBD-9935-4FB0-BA51-6787FAE15C65}"/>
    <dgm:cxn modelId="{43970F27-5CD4-4C25-9283-398FC21310A5}" srcId="{55508471-6B92-4F44-9DE0-F22B61DD04EF}" destId="{CB244C66-9BCB-4175-A926-FCF19E0C2F9C}" srcOrd="2" destOrd="0" parTransId="{D64A22B9-C84E-49B8-BF46-A627038800D4}" sibTransId="{48A4A30A-71BC-44EA-AA55-5111E54402C5}"/>
    <dgm:cxn modelId="{EF2C785C-43AD-462F-B4CA-946106D690A8}" type="presOf" srcId="{356000F4-2B28-404F-A7D3-A9A4D7B20862}" destId="{33E157EF-FC34-455E-8D0A-C3A15F2B6ED6}" srcOrd="0" destOrd="0" presId="urn:microsoft.com/office/officeart/2005/8/layout/orgChart1"/>
    <dgm:cxn modelId="{8892B568-4097-4243-9BE1-FC9C91AC7CB2}" type="presOf" srcId="{CB244C66-9BCB-4175-A926-FCF19E0C2F9C}" destId="{B848848A-B8C0-4B8D-BCF1-DB5326F8BF70}" srcOrd="0" destOrd="0" presId="urn:microsoft.com/office/officeart/2005/8/layout/orgChart1"/>
    <dgm:cxn modelId="{E0D39F49-C0F9-4E36-8F47-30C7D6BF5931}" type="presOf" srcId="{C5A362F0-57BB-4079-A124-8E4DD6C178C3}" destId="{2E3EAC2C-4865-4DD5-B70D-A2874068CC74}" srcOrd="1" destOrd="0" presId="urn:microsoft.com/office/officeart/2005/8/layout/orgChart1"/>
    <dgm:cxn modelId="{51C0E86A-CAE2-496B-A09F-8AC1ADA58F03}" type="presOf" srcId="{84599377-C1FD-43C5-821E-66AEBB46C80E}" destId="{9D7E0FCB-D6AB-4A91-BA50-408F0E1E72AC}" srcOrd="0" destOrd="0" presId="urn:microsoft.com/office/officeart/2005/8/layout/orgChart1"/>
    <dgm:cxn modelId="{01DD3D6B-7B8D-49F1-AD1C-F6CF405A6D16}" type="presOf" srcId="{D64A22B9-C84E-49B8-BF46-A627038800D4}" destId="{F1583394-786B-487A-B025-BB99AE0CB42D}" srcOrd="0" destOrd="0" presId="urn:microsoft.com/office/officeart/2005/8/layout/orgChart1"/>
    <dgm:cxn modelId="{F7704E4E-6068-4B55-8EE7-FC44ADBBB757}" type="presOf" srcId="{5CADA82D-B970-4A21-86D5-A95C4324AAF6}" destId="{85AC9EC3-2779-4F4B-B0B1-BF3EA6026B7B}" srcOrd="0" destOrd="0" presId="urn:microsoft.com/office/officeart/2005/8/layout/orgChart1"/>
    <dgm:cxn modelId="{90161572-A9ED-4A7F-9B44-D47E29A0A82E}" type="presOf" srcId="{385FC67A-6BBB-458A-AA1A-B6673CA6943F}" destId="{CC44E8B6-A897-4AB9-A154-1CBCC122CFC6}" srcOrd="0" destOrd="0" presId="urn:microsoft.com/office/officeart/2005/8/layout/orgChart1"/>
    <dgm:cxn modelId="{66042475-EE4F-41F5-BCB7-B1877E9657F9}" type="presOf" srcId="{8597218E-9C2F-499F-B088-D16A796A347B}" destId="{73562B12-9146-4034-BD7D-D42D309CDFF7}" srcOrd="0" destOrd="0" presId="urn:microsoft.com/office/officeart/2005/8/layout/orgChart1"/>
    <dgm:cxn modelId="{24293676-77D9-4553-B02A-DD2C593639A0}" type="presOf" srcId="{A08E3639-6E57-4BEC-AE2D-401E4010BFC1}" destId="{5F8F7655-BBF9-4CF6-9B7C-BF095322E18D}" srcOrd="1" destOrd="0" presId="urn:microsoft.com/office/officeart/2005/8/layout/orgChart1"/>
    <dgm:cxn modelId="{67C2165A-D1E5-4CFC-B37A-689E1EC718AC}" type="presOf" srcId="{55508471-6B92-4F44-9DE0-F22B61DD04EF}" destId="{129A757B-AC55-4F77-B17F-2D3AC664048F}" srcOrd="0" destOrd="0" presId="urn:microsoft.com/office/officeart/2005/8/layout/orgChart1"/>
    <dgm:cxn modelId="{A8A0787C-FE4B-43BE-8829-F34D46662E9E}" type="presOf" srcId="{CB244C66-9BCB-4175-A926-FCF19E0C2F9C}" destId="{DA667D3D-BB93-4479-AA3B-3D061762900A}" srcOrd="1" destOrd="0" presId="urn:microsoft.com/office/officeart/2005/8/layout/orgChart1"/>
    <dgm:cxn modelId="{EBA9AB8B-50B4-4D33-A5D5-0A0287C3A8CE}" type="presOf" srcId="{55508471-6B92-4F44-9DE0-F22B61DD04EF}" destId="{FC364C58-541F-41E4-B04C-12D6C1D2634E}" srcOrd="1" destOrd="0" presId="urn:microsoft.com/office/officeart/2005/8/layout/orgChart1"/>
    <dgm:cxn modelId="{4C55F690-833A-4C56-87DC-C47E8E405B47}" type="presOf" srcId="{A08E3639-6E57-4BEC-AE2D-401E4010BFC1}" destId="{972FBD32-7DD5-4257-94B6-FA72491B52D0}" srcOrd="0" destOrd="0" presId="urn:microsoft.com/office/officeart/2005/8/layout/orgChart1"/>
    <dgm:cxn modelId="{E8C94AB2-E1B6-4E6C-B000-35C082DA7AB4}" srcId="{356000F4-2B28-404F-A7D3-A9A4D7B20862}" destId="{55508471-6B92-4F44-9DE0-F22B61DD04EF}" srcOrd="0" destOrd="0" parTransId="{87FBFAF5-4663-447C-8377-1001EE8C81DA}" sibTransId="{6ADFE3A7-6160-46C1-97D8-8953AF0528DA}"/>
    <dgm:cxn modelId="{88E251D4-58E8-46DA-A00C-07135A984928}" type="presOf" srcId="{C5A362F0-57BB-4079-A124-8E4DD6C178C3}" destId="{D9BC4F3D-9DDD-4866-8666-21D60EA9E848}" srcOrd="0" destOrd="0" presId="urn:microsoft.com/office/officeart/2005/8/layout/orgChart1"/>
    <dgm:cxn modelId="{806BB8D5-2DDD-4445-AC1E-35481F0FEB4B}" srcId="{55508471-6B92-4F44-9DE0-F22B61DD04EF}" destId="{A08E3639-6E57-4BEC-AE2D-401E4010BFC1}" srcOrd="3" destOrd="0" parTransId="{84599377-C1FD-43C5-821E-66AEBB46C80E}" sibTransId="{7365B8E0-0526-4B8F-9BE1-320361B2577D}"/>
    <dgm:cxn modelId="{8C7FC4D8-1C5D-4C32-8445-E1E6B8B18273}" type="presOf" srcId="{385FC67A-6BBB-458A-AA1A-B6673CA6943F}" destId="{2BFD90C7-0631-40DB-9C2A-BF118F6E29F4}" srcOrd="1" destOrd="0" presId="urn:microsoft.com/office/officeart/2005/8/layout/orgChart1"/>
    <dgm:cxn modelId="{83657CEF-005E-4318-9C83-8FC7663B68AB}" srcId="{55508471-6B92-4F44-9DE0-F22B61DD04EF}" destId="{385FC67A-6BBB-458A-AA1A-B6673CA6943F}" srcOrd="0" destOrd="0" parTransId="{5CADA82D-B970-4A21-86D5-A95C4324AAF6}" sibTransId="{F7AB1EC1-A8AE-416D-AFC4-668F68D43B12}"/>
    <dgm:cxn modelId="{B114A48C-CE1E-4831-A212-7F0B2A625730}" type="presParOf" srcId="{33E157EF-FC34-455E-8D0A-C3A15F2B6ED6}" destId="{07BACF4D-3D62-419B-94C4-765A9ADDAD83}" srcOrd="0" destOrd="0" presId="urn:microsoft.com/office/officeart/2005/8/layout/orgChart1"/>
    <dgm:cxn modelId="{8390E574-0A1E-43DB-B238-3BF1515BFCA6}" type="presParOf" srcId="{07BACF4D-3D62-419B-94C4-765A9ADDAD83}" destId="{A1155B42-4EA7-43D6-8AE3-C85A01993A9E}" srcOrd="0" destOrd="0" presId="urn:microsoft.com/office/officeart/2005/8/layout/orgChart1"/>
    <dgm:cxn modelId="{6C5B9601-4147-4653-910E-E97ECE346CD9}" type="presParOf" srcId="{A1155B42-4EA7-43D6-8AE3-C85A01993A9E}" destId="{129A757B-AC55-4F77-B17F-2D3AC664048F}" srcOrd="0" destOrd="0" presId="urn:microsoft.com/office/officeart/2005/8/layout/orgChart1"/>
    <dgm:cxn modelId="{7B793A01-EE54-45E5-AA92-787D7BA80DF4}" type="presParOf" srcId="{A1155B42-4EA7-43D6-8AE3-C85A01993A9E}" destId="{FC364C58-541F-41E4-B04C-12D6C1D2634E}" srcOrd="1" destOrd="0" presId="urn:microsoft.com/office/officeart/2005/8/layout/orgChart1"/>
    <dgm:cxn modelId="{4DFB0218-E659-419D-B2C5-930EB8FD751B}" type="presParOf" srcId="{07BACF4D-3D62-419B-94C4-765A9ADDAD83}" destId="{C8F29BA9-2311-4979-A0C8-A004E71D283A}" srcOrd="1" destOrd="0" presId="urn:microsoft.com/office/officeart/2005/8/layout/orgChart1"/>
    <dgm:cxn modelId="{71DBFC1A-72D6-4F6C-B25D-34BE20FD1F90}" type="presParOf" srcId="{C8F29BA9-2311-4979-A0C8-A004E71D283A}" destId="{85AC9EC3-2779-4F4B-B0B1-BF3EA6026B7B}" srcOrd="0" destOrd="0" presId="urn:microsoft.com/office/officeart/2005/8/layout/orgChart1"/>
    <dgm:cxn modelId="{84FE6C72-7C9F-4BA7-8E49-D5A0BCA75C6E}" type="presParOf" srcId="{C8F29BA9-2311-4979-A0C8-A004E71D283A}" destId="{14773CC7-2129-4380-95A9-1CF420A6CF49}" srcOrd="1" destOrd="0" presId="urn:microsoft.com/office/officeart/2005/8/layout/orgChart1"/>
    <dgm:cxn modelId="{3BE487AB-6236-4359-945C-00AEEE5F51DC}" type="presParOf" srcId="{14773CC7-2129-4380-95A9-1CF420A6CF49}" destId="{5C0CFBC6-03D9-4BF2-B537-167B5ADFBF31}" srcOrd="0" destOrd="0" presId="urn:microsoft.com/office/officeart/2005/8/layout/orgChart1"/>
    <dgm:cxn modelId="{996080A8-65C8-44DD-AA9E-6261EFCF8EEF}" type="presParOf" srcId="{5C0CFBC6-03D9-4BF2-B537-167B5ADFBF31}" destId="{CC44E8B6-A897-4AB9-A154-1CBCC122CFC6}" srcOrd="0" destOrd="0" presId="urn:microsoft.com/office/officeart/2005/8/layout/orgChart1"/>
    <dgm:cxn modelId="{B622736C-A568-4C84-90DA-42628CE4D829}" type="presParOf" srcId="{5C0CFBC6-03D9-4BF2-B537-167B5ADFBF31}" destId="{2BFD90C7-0631-40DB-9C2A-BF118F6E29F4}" srcOrd="1" destOrd="0" presId="urn:microsoft.com/office/officeart/2005/8/layout/orgChart1"/>
    <dgm:cxn modelId="{D2935A17-56F1-4FA8-8591-18036F13F7C4}" type="presParOf" srcId="{14773CC7-2129-4380-95A9-1CF420A6CF49}" destId="{A36DF9F4-86F1-49E0-B473-8C7DF4078ECE}" srcOrd="1" destOrd="0" presId="urn:microsoft.com/office/officeart/2005/8/layout/orgChart1"/>
    <dgm:cxn modelId="{3A42971C-B490-4926-8C6C-DB9329178146}" type="presParOf" srcId="{14773CC7-2129-4380-95A9-1CF420A6CF49}" destId="{7DA99313-A292-4FBD-BB1B-89E3114BE8F9}" srcOrd="2" destOrd="0" presId="urn:microsoft.com/office/officeart/2005/8/layout/orgChart1"/>
    <dgm:cxn modelId="{C44DADD9-2016-4894-BF85-8E0DCD913BA6}" type="presParOf" srcId="{C8F29BA9-2311-4979-A0C8-A004E71D283A}" destId="{73562B12-9146-4034-BD7D-D42D309CDFF7}" srcOrd="2" destOrd="0" presId="urn:microsoft.com/office/officeart/2005/8/layout/orgChart1"/>
    <dgm:cxn modelId="{7356C58F-1095-4F93-A8F9-6165C937BD92}" type="presParOf" srcId="{C8F29BA9-2311-4979-A0C8-A004E71D283A}" destId="{F7398606-20C1-495E-B97F-578991DA4F07}" srcOrd="3" destOrd="0" presId="urn:microsoft.com/office/officeart/2005/8/layout/orgChart1"/>
    <dgm:cxn modelId="{C9C563ED-B5F5-468E-BCED-5E11BBD95A2B}" type="presParOf" srcId="{F7398606-20C1-495E-B97F-578991DA4F07}" destId="{7605EDA2-EFD5-438B-9241-12BD141E9E58}" srcOrd="0" destOrd="0" presId="urn:microsoft.com/office/officeart/2005/8/layout/orgChart1"/>
    <dgm:cxn modelId="{2C1A1FDD-8B0A-4F69-9319-CC5ADD425D61}" type="presParOf" srcId="{7605EDA2-EFD5-438B-9241-12BD141E9E58}" destId="{D9BC4F3D-9DDD-4866-8666-21D60EA9E848}" srcOrd="0" destOrd="0" presId="urn:microsoft.com/office/officeart/2005/8/layout/orgChart1"/>
    <dgm:cxn modelId="{48AE58EB-D4F4-49CA-978B-50960A0B915E}" type="presParOf" srcId="{7605EDA2-EFD5-438B-9241-12BD141E9E58}" destId="{2E3EAC2C-4865-4DD5-B70D-A2874068CC74}" srcOrd="1" destOrd="0" presId="urn:microsoft.com/office/officeart/2005/8/layout/orgChart1"/>
    <dgm:cxn modelId="{2BFE3256-A599-484A-BBCD-489E239AF1F1}" type="presParOf" srcId="{F7398606-20C1-495E-B97F-578991DA4F07}" destId="{1F3361C5-3795-405D-814B-5C5C3D02D27C}" srcOrd="1" destOrd="0" presId="urn:microsoft.com/office/officeart/2005/8/layout/orgChart1"/>
    <dgm:cxn modelId="{050DA092-D4A6-4E1A-90C7-EC19DD380FE0}" type="presParOf" srcId="{F7398606-20C1-495E-B97F-578991DA4F07}" destId="{85A7C676-8FC3-427D-AB51-CDC4F9AF6667}" srcOrd="2" destOrd="0" presId="urn:microsoft.com/office/officeart/2005/8/layout/orgChart1"/>
    <dgm:cxn modelId="{E726B55A-63A0-4A32-9537-B250AFCCF6AD}" type="presParOf" srcId="{C8F29BA9-2311-4979-A0C8-A004E71D283A}" destId="{F1583394-786B-487A-B025-BB99AE0CB42D}" srcOrd="4" destOrd="0" presId="urn:microsoft.com/office/officeart/2005/8/layout/orgChart1"/>
    <dgm:cxn modelId="{E89101F6-57B6-4CD3-B23A-4109A22D7EF2}" type="presParOf" srcId="{C8F29BA9-2311-4979-A0C8-A004E71D283A}" destId="{5F5B873B-25EC-46A6-9FD5-BB683C0DBBA9}" srcOrd="5" destOrd="0" presId="urn:microsoft.com/office/officeart/2005/8/layout/orgChart1"/>
    <dgm:cxn modelId="{8F19EBE3-0A2C-482D-BEB0-44BA4C09B2BA}" type="presParOf" srcId="{5F5B873B-25EC-46A6-9FD5-BB683C0DBBA9}" destId="{AAB02EFC-77D4-4740-9300-0F9FB4B563A8}" srcOrd="0" destOrd="0" presId="urn:microsoft.com/office/officeart/2005/8/layout/orgChart1"/>
    <dgm:cxn modelId="{8DD92FEC-F945-4420-8A99-FF3496375E34}" type="presParOf" srcId="{AAB02EFC-77D4-4740-9300-0F9FB4B563A8}" destId="{B848848A-B8C0-4B8D-BCF1-DB5326F8BF70}" srcOrd="0" destOrd="0" presId="urn:microsoft.com/office/officeart/2005/8/layout/orgChart1"/>
    <dgm:cxn modelId="{18F09FC0-B590-42C3-8F0E-5FFDBF36C78B}" type="presParOf" srcId="{AAB02EFC-77D4-4740-9300-0F9FB4B563A8}" destId="{DA667D3D-BB93-4479-AA3B-3D061762900A}" srcOrd="1" destOrd="0" presId="urn:microsoft.com/office/officeart/2005/8/layout/orgChart1"/>
    <dgm:cxn modelId="{326C3B1B-F1C5-4B91-BEE6-E63F74495A5C}" type="presParOf" srcId="{5F5B873B-25EC-46A6-9FD5-BB683C0DBBA9}" destId="{80AF9303-43B6-4C0D-9991-2E2AEBA031BD}" srcOrd="1" destOrd="0" presId="urn:microsoft.com/office/officeart/2005/8/layout/orgChart1"/>
    <dgm:cxn modelId="{EA06D65B-1F9C-435A-864D-3EF1213C63E1}" type="presParOf" srcId="{5F5B873B-25EC-46A6-9FD5-BB683C0DBBA9}" destId="{3A373A9A-2A42-41A7-AF9A-589E19E4A43E}" srcOrd="2" destOrd="0" presId="urn:microsoft.com/office/officeart/2005/8/layout/orgChart1"/>
    <dgm:cxn modelId="{43534E28-2B47-462B-A6E9-39358BB9EF08}" type="presParOf" srcId="{C8F29BA9-2311-4979-A0C8-A004E71D283A}" destId="{9D7E0FCB-D6AB-4A91-BA50-408F0E1E72AC}" srcOrd="6" destOrd="0" presId="urn:microsoft.com/office/officeart/2005/8/layout/orgChart1"/>
    <dgm:cxn modelId="{2D7FC8F8-CFE7-4237-BD42-D51133C3DE15}" type="presParOf" srcId="{C8F29BA9-2311-4979-A0C8-A004E71D283A}" destId="{DC002275-D2B6-4035-B857-6F7AF7ED65E2}" srcOrd="7" destOrd="0" presId="urn:microsoft.com/office/officeart/2005/8/layout/orgChart1"/>
    <dgm:cxn modelId="{02DD7B6C-73DB-4D87-AF68-86D7A6EB6BE2}" type="presParOf" srcId="{DC002275-D2B6-4035-B857-6F7AF7ED65E2}" destId="{F83DE3EA-3EF4-484A-8576-D72DFB401794}" srcOrd="0" destOrd="0" presId="urn:microsoft.com/office/officeart/2005/8/layout/orgChart1"/>
    <dgm:cxn modelId="{E1FF391E-B295-4CB1-82E7-133B67B8956E}" type="presParOf" srcId="{F83DE3EA-3EF4-484A-8576-D72DFB401794}" destId="{972FBD32-7DD5-4257-94B6-FA72491B52D0}" srcOrd="0" destOrd="0" presId="urn:microsoft.com/office/officeart/2005/8/layout/orgChart1"/>
    <dgm:cxn modelId="{A5C16A5E-B7A5-491E-A551-22287A2C50EC}" type="presParOf" srcId="{F83DE3EA-3EF4-484A-8576-D72DFB401794}" destId="{5F8F7655-BBF9-4CF6-9B7C-BF095322E18D}" srcOrd="1" destOrd="0" presId="urn:microsoft.com/office/officeart/2005/8/layout/orgChart1"/>
    <dgm:cxn modelId="{09E1EBC1-2DDC-4D0C-8BB0-51DFA8EC3E8E}" type="presParOf" srcId="{DC002275-D2B6-4035-B857-6F7AF7ED65E2}" destId="{AC8747BA-9772-4F4D-97CC-D9D84B5A5B36}" srcOrd="1" destOrd="0" presId="urn:microsoft.com/office/officeart/2005/8/layout/orgChart1"/>
    <dgm:cxn modelId="{94B4E237-C493-4F87-992C-A6913068D158}" type="presParOf" srcId="{DC002275-D2B6-4035-B857-6F7AF7ED65E2}" destId="{7DD516AB-231C-443C-8CF7-8C7FB1FED5DB}" srcOrd="2" destOrd="0" presId="urn:microsoft.com/office/officeart/2005/8/layout/orgChart1"/>
    <dgm:cxn modelId="{EA5E90C4-E340-4A07-BD73-4900989317F5}" type="presParOf" srcId="{07BACF4D-3D62-419B-94C4-765A9ADDAD83}" destId="{D8EEAE3F-89EC-42CF-B895-FD94A371F230}" srcOrd="2" destOrd="0" presId="urn:microsoft.com/office/officeart/2005/8/layout/orgChart1"/>
  </dgm:cxnLst>
  <dgm:bg>
    <a:noFill/>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356000F4-2B28-404F-A7D3-A9A4D7B20862}" type="doc">
      <dgm:prSet loTypeId="urn:microsoft.com/office/officeart/2005/8/layout/orgChart1" loCatId="hierarchy" qsTypeId="urn:microsoft.com/office/officeart/2005/8/quickstyle/simple1" qsCatId="simple" csTypeId="urn:microsoft.com/office/officeart/2005/8/colors/accent1_2" csCatId="accent1" phldr="1"/>
      <dgm:spPr/>
      <dgm:t>
        <a:bodyPr/>
        <a:lstStyle/>
        <a:p>
          <a:endParaRPr lang="zh-CN" altLang="en-US"/>
        </a:p>
      </dgm:t>
    </dgm:pt>
    <dgm:pt modelId="{55508471-6B92-4F44-9DE0-F22B61DD04EF}" type="asst">
      <dgm:prSet phldrT="[文本]" custT="1"/>
      <dgm:spPr>
        <a:solidFill>
          <a:srgbClr val="4F81BD"/>
        </a:solidFill>
        <a:ln w="63500" cap="flat" cmpd="sng" algn="ctr">
          <a:solidFill>
            <a:srgbClr val="0070C0"/>
          </a:solidFill>
          <a:prstDash val="solid"/>
        </a:ln>
        <a:effectLst/>
      </dgm:spPr>
      <dgm:t>
        <a:bodyPr spcFirstLastPara="0" vert="horz" wrap="square" lIns="10160" tIns="10160" rIns="10160" bIns="10160" numCol="1" spcCol="1270" anchor="ctr" anchorCtr="0"/>
        <a:lstStyle/>
        <a:p>
          <a:pPr marL="0" lvl="0" indent="0" algn="ctr" defTabSz="711200">
            <a:lnSpc>
              <a:spcPct val="90000"/>
            </a:lnSpc>
            <a:spcBef>
              <a:spcPct val="0"/>
            </a:spcBef>
            <a:spcAft>
              <a:spcPct val="35000"/>
            </a:spcAft>
            <a:buNone/>
          </a:pPr>
          <a:r>
            <a:rPr lang="en-US" altLang="zh-CN" sz="1600" b="1" kern="1200" dirty="0">
              <a:solidFill>
                <a:prstClr val="white"/>
              </a:solidFill>
              <a:latin typeface="Calibri"/>
              <a:ea typeface="宋体" panose="02010600030101010101" pitchFamily="2" charset="-122"/>
              <a:cs typeface="+mn-cs"/>
            </a:rPr>
            <a:t>Procurement Plan</a:t>
          </a:r>
          <a:endParaRPr lang="zh-CN" altLang="en-US" sz="1600" b="1" kern="1200" dirty="0">
            <a:solidFill>
              <a:prstClr val="white"/>
            </a:solidFill>
            <a:latin typeface="Calibri"/>
            <a:ea typeface="宋体" panose="02010600030101010101" pitchFamily="2" charset="-122"/>
            <a:cs typeface="+mn-cs"/>
          </a:endParaRPr>
        </a:p>
      </dgm:t>
    </dgm:pt>
    <dgm:pt modelId="{6ADFE3A7-6160-46C1-97D8-8953AF0528DA}" type="sibTrans" cxnId="{E8C94AB2-E1B6-4E6C-B000-35C082DA7AB4}">
      <dgm:prSet/>
      <dgm:spPr/>
      <dgm:t>
        <a:bodyPr/>
        <a:lstStyle/>
        <a:p>
          <a:endParaRPr lang="zh-CN" altLang="en-US"/>
        </a:p>
      </dgm:t>
    </dgm:pt>
    <dgm:pt modelId="{87FBFAF5-4663-447C-8377-1001EE8C81DA}" type="parTrans" cxnId="{E8C94AB2-E1B6-4E6C-B000-35C082DA7AB4}">
      <dgm:prSet/>
      <dgm:spPr/>
      <dgm:t>
        <a:bodyPr/>
        <a:lstStyle/>
        <a:p>
          <a:endParaRPr lang="zh-CN" altLang="en-US"/>
        </a:p>
      </dgm:t>
    </dgm:pt>
    <dgm:pt modelId="{33E157EF-FC34-455E-8D0A-C3A15F2B6ED6}" type="pres">
      <dgm:prSet presAssocID="{356000F4-2B28-404F-A7D3-A9A4D7B20862}" presName="hierChild1" presStyleCnt="0">
        <dgm:presLayoutVars>
          <dgm:orgChart val="1"/>
          <dgm:chPref val="1"/>
          <dgm:dir/>
          <dgm:animOne val="branch"/>
          <dgm:animLvl val="lvl"/>
          <dgm:resizeHandles/>
        </dgm:presLayoutVars>
      </dgm:prSet>
      <dgm:spPr/>
    </dgm:pt>
    <dgm:pt modelId="{07BACF4D-3D62-419B-94C4-765A9ADDAD83}" type="pres">
      <dgm:prSet presAssocID="{55508471-6B92-4F44-9DE0-F22B61DD04EF}" presName="hierRoot1" presStyleCnt="0">
        <dgm:presLayoutVars>
          <dgm:hierBranch val="init"/>
        </dgm:presLayoutVars>
      </dgm:prSet>
      <dgm:spPr/>
    </dgm:pt>
    <dgm:pt modelId="{A1155B42-4EA7-43D6-8AE3-C85A01993A9E}" type="pres">
      <dgm:prSet presAssocID="{55508471-6B92-4F44-9DE0-F22B61DD04EF}" presName="rootComposite1" presStyleCnt="0"/>
      <dgm:spPr/>
    </dgm:pt>
    <dgm:pt modelId="{129A757B-AC55-4F77-B17F-2D3AC664048F}" type="pres">
      <dgm:prSet presAssocID="{55508471-6B92-4F44-9DE0-F22B61DD04EF}" presName="rootText1" presStyleLbl="node0" presStyleIdx="0" presStyleCnt="1" custScaleX="184921" custScaleY="75530" custLinFactNeighborX="957" custLinFactNeighborY="-21517">
        <dgm:presLayoutVars>
          <dgm:chPref val="3"/>
        </dgm:presLayoutVars>
      </dgm:prSet>
      <dgm:spPr>
        <a:xfrm>
          <a:off x="2574" y="404111"/>
          <a:ext cx="2278324" cy="465284"/>
        </a:xfrm>
        <a:prstGeom prst="rect">
          <a:avLst/>
        </a:prstGeom>
      </dgm:spPr>
    </dgm:pt>
    <dgm:pt modelId="{FC364C58-541F-41E4-B04C-12D6C1D2634E}" type="pres">
      <dgm:prSet presAssocID="{55508471-6B92-4F44-9DE0-F22B61DD04EF}" presName="rootConnector1" presStyleLbl="asst0" presStyleIdx="0" presStyleCnt="0"/>
      <dgm:spPr/>
    </dgm:pt>
    <dgm:pt modelId="{C8F29BA9-2311-4979-A0C8-A004E71D283A}" type="pres">
      <dgm:prSet presAssocID="{55508471-6B92-4F44-9DE0-F22B61DD04EF}" presName="hierChild2" presStyleCnt="0"/>
      <dgm:spPr/>
    </dgm:pt>
    <dgm:pt modelId="{D8EEAE3F-89EC-42CF-B895-FD94A371F230}" type="pres">
      <dgm:prSet presAssocID="{55508471-6B92-4F44-9DE0-F22B61DD04EF}" presName="hierChild3" presStyleCnt="0"/>
      <dgm:spPr/>
    </dgm:pt>
  </dgm:ptLst>
  <dgm:cxnLst>
    <dgm:cxn modelId="{EF2C785C-43AD-462F-B4CA-946106D690A8}" type="presOf" srcId="{356000F4-2B28-404F-A7D3-A9A4D7B20862}" destId="{33E157EF-FC34-455E-8D0A-C3A15F2B6ED6}" srcOrd="0" destOrd="0" presId="urn:microsoft.com/office/officeart/2005/8/layout/orgChart1"/>
    <dgm:cxn modelId="{67C2165A-D1E5-4CFC-B37A-689E1EC718AC}" type="presOf" srcId="{55508471-6B92-4F44-9DE0-F22B61DD04EF}" destId="{129A757B-AC55-4F77-B17F-2D3AC664048F}" srcOrd="0" destOrd="0" presId="urn:microsoft.com/office/officeart/2005/8/layout/orgChart1"/>
    <dgm:cxn modelId="{EBA9AB8B-50B4-4D33-A5D5-0A0287C3A8CE}" type="presOf" srcId="{55508471-6B92-4F44-9DE0-F22B61DD04EF}" destId="{FC364C58-541F-41E4-B04C-12D6C1D2634E}" srcOrd="1" destOrd="0" presId="urn:microsoft.com/office/officeart/2005/8/layout/orgChart1"/>
    <dgm:cxn modelId="{E8C94AB2-E1B6-4E6C-B000-35C082DA7AB4}" srcId="{356000F4-2B28-404F-A7D3-A9A4D7B20862}" destId="{55508471-6B92-4F44-9DE0-F22B61DD04EF}" srcOrd="0" destOrd="0" parTransId="{87FBFAF5-4663-447C-8377-1001EE8C81DA}" sibTransId="{6ADFE3A7-6160-46C1-97D8-8953AF0528DA}"/>
    <dgm:cxn modelId="{B114A48C-CE1E-4831-A212-7F0B2A625730}" type="presParOf" srcId="{33E157EF-FC34-455E-8D0A-C3A15F2B6ED6}" destId="{07BACF4D-3D62-419B-94C4-765A9ADDAD83}" srcOrd="0" destOrd="0" presId="urn:microsoft.com/office/officeart/2005/8/layout/orgChart1"/>
    <dgm:cxn modelId="{8390E574-0A1E-43DB-B238-3BF1515BFCA6}" type="presParOf" srcId="{07BACF4D-3D62-419B-94C4-765A9ADDAD83}" destId="{A1155B42-4EA7-43D6-8AE3-C85A01993A9E}" srcOrd="0" destOrd="0" presId="urn:microsoft.com/office/officeart/2005/8/layout/orgChart1"/>
    <dgm:cxn modelId="{6C5B9601-4147-4653-910E-E97ECE346CD9}" type="presParOf" srcId="{A1155B42-4EA7-43D6-8AE3-C85A01993A9E}" destId="{129A757B-AC55-4F77-B17F-2D3AC664048F}" srcOrd="0" destOrd="0" presId="urn:microsoft.com/office/officeart/2005/8/layout/orgChart1"/>
    <dgm:cxn modelId="{7B793A01-EE54-45E5-AA92-787D7BA80DF4}" type="presParOf" srcId="{A1155B42-4EA7-43D6-8AE3-C85A01993A9E}" destId="{FC364C58-541F-41E4-B04C-12D6C1D2634E}" srcOrd="1" destOrd="0" presId="urn:microsoft.com/office/officeart/2005/8/layout/orgChart1"/>
    <dgm:cxn modelId="{4DFB0218-E659-419D-B2C5-930EB8FD751B}" type="presParOf" srcId="{07BACF4D-3D62-419B-94C4-765A9ADDAD83}" destId="{C8F29BA9-2311-4979-A0C8-A004E71D283A}" srcOrd="1" destOrd="0" presId="urn:microsoft.com/office/officeart/2005/8/layout/orgChart1"/>
    <dgm:cxn modelId="{EA5E90C4-E340-4A07-BD73-4900989317F5}" type="presParOf" srcId="{07BACF4D-3D62-419B-94C4-765A9ADDAD83}" destId="{D8EEAE3F-89EC-42CF-B895-FD94A371F230}" srcOrd="2" destOrd="0" presId="urn:microsoft.com/office/officeart/2005/8/layout/orgChart1"/>
  </dgm:cxnLst>
  <dgm:bg>
    <a:noFill/>
  </dgm:bg>
  <dgm:whole>
    <a:ln>
      <a:noFill/>
    </a:ln>
  </dgm:whole>
  <dgm:extLst>
    <a:ext uri="http://schemas.microsoft.com/office/drawing/2008/diagram">
      <dsp:dataModelExt xmlns:dsp="http://schemas.microsoft.com/office/drawing/2008/diagram" relId="rId11" minVer="http://schemas.openxmlformats.org/drawingml/2006/diagram"/>
    </a:ext>
  </dgm:extLst>
</dgm:dataModel>
</file>

<file path=ppt/diagrams/data31.xml><?xml version="1.0" encoding="utf-8"?>
<dgm:dataModel xmlns:dgm="http://schemas.openxmlformats.org/drawingml/2006/diagram" xmlns:a="http://schemas.openxmlformats.org/drawingml/2006/main">
  <dgm:ptLst>
    <dgm:pt modelId="{356000F4-2B28-404F-A7D3-A9A4D7B20862}" type="doc">
      <dgm:prSet loTypeId="urn:microsoft.com/office/officeart/2005/8/layout/orgChart1" loCatId="hierarchy" qsTypeId="urn:microsoft.com/office/officeart/2005/8/quickstyle/simple1" qsCatId="simple" csTypeId="urn:microsoft.com/office/officeart/2005/8/colors/accent1_2" csCatId="accent1" phldr="1"/>
      <dgm:spPr/>
      <dgm:t>
        <a:bodyPr/>
        <a:lstStyle/>
        <a:p>
          <a:endParaRPr lang="zh-CN" altLang="en-US"/>
        </a:p>
      </dgm:t>
    </dgm:pt>
    <dgm:pt modelId="{55508471-6B92-4F44-9DE0-F22B61DD04EF}" type="asst">
      <dgm:prSet phldrT="[文本]" custT="1"/>
      <dgm:spPr>
        <a:solidFill>
          <a:srgbClr val="4F81BD"/>
        </a:solidFill>
        <a:ln w="63500" cap="flat" cmpd="sng" algn="ctr">
          <a:solidFill>
            <a:srgbClr val="0070C0"/>
          </a:solidFill>
          <a:prstDash val="solid"/>
        </a:ln>
        <a:effectLst/>
      </dgm:spPr>
      <dgm:t>
        <a:bodyPr spcFirstLastPara="0" vert="horz" wrap="square" lIns="10160" tIns="10160" rIns="10160" bIns="10160" numCol="1" spcCol="1270" anchor="ctr" anchorCtr="0"/>
        <a:lstStyle/>
        <a:p>
          <a:pPr marL="0" lvl="0" indent="0" algn="ctr" defTabSz="711200">
            <a:lnSpc>
              <a:spcPct val="90000"/>
            </a:lnSpc>
            <a:spcBef>
              <a:spcPct val="0"/>
            </a:spcBef>
            <a:spcAft>
              <a:spcPct val="35000"/>
            </a:spcAft>
            <a:buNone/>
          </a:pPr>
          <a:r>
            <a:rPr lang="en-US" altLang="zh-CN" sz="1600" b="1" kern="1200" dirty="0">
              <a:solidFill>
                <a:prstClr val="white"/>
              </a:solidFill>
              <a:latin typeface="Calibri"/>
              <a:ea typeface="宋体" panose="02010600030101010101" pitchFamily="2" charset="-122"/>
              <a:cs typeface="+mn-cs"/>
            </a:rPr>
            <a:t>Master Plan</a:t>
          </a:r>
          <a:endParaRPr lang="zh-CN" altLang="en-US" sz="1600" b="1" kern="1200" dirty="0">
            <a:solidFill>
              <a:prstClr val="white"/>
            </a:solidFill>
            <a:latin typeface="Calibri"/>
            <a:ea typeface="宋体" panose="02010600030101010101" pitchFamily="2" charset="-122"/>
            <a:cs typeface="+mn-cs"/>
          </a:endParaRPr>
        </a:p>
      </dgm:t>
    </dgm:pt>
    <dgm:pt modelId="{6ADFE3A7-6160-46C1-97D8-8953AF0528DA}" type="sibTrans" cxnId="{E8C94AB2-E1B6-4E6C-B000-35C082DA7AB4}">
      <dgm:prSet/>
      <dgm:spPr/>
      <dgm:t>
        <a:bodyPr/>
        <a:lstStyle/>
        <a:p>
          <a:endParaRPr lang="zh-CN" altLang="en-US"/>
        </a:p>
      </dgm:t>
    </dgm:pt>
    <dgm:pt modelId="{87FBFAF5-4663-447C-8377-1001EE8C81DA}" type="parTrans" cxnId="{E8C94AB2-E1B6-4E6C-B000-35C082DA7AB4}">
      <dgm:prSet/>
      <dgm:spPr/>
      <dgm:t>
        <a:bodyPr/>
        <a:lstStyle/>
        <a:p>
          <a:endParaRPr lang="zh-CN" altLang="en-US"/>
        </a:p>
      </dgm:t>
    </dgm:pt>
    <dgm:pt modelId="{33E157EF-FC34-455E-8D0A-C3A15F2B6ED6}" type="pres">
      <dgm:prSet presAssocID="{356000F4-2B28-404F-A7D3-A9A4D7B20862}" presName="hierChild1" presStyleCnt="0">
        <dgm:presLayoutVars>
          <dgm:orgChart val="1"/>
          <dgm:chPref val="1"/>
          <dgm:dir/>
          <dgm:animOne val="branch"/>
          <dgm:animLvl val="lvl"/>
          <dgm:resizeHandles/>
        </dgm:presLayoutVars>
      </dgm:prSet>
      <dgm:spPr/>
    </dgm:pt>
    <dgm:pt modelId="{07BACF4D-3D62-419B-94C4-765A9ADDAD83}" type="pres">
      <dgm:prSet presAssocID="{55508471-6B92-4F44-9DE0-F22B61DD04EF}" presName="hierRoot1" presStyleCnt="0">
        <dgm:presLayoutVars>
          <dgm:hierBranch val="init"/>
        </dgm:presLayoutVars>
      </dgm:prSet>
      <dgm:spPr/>
    </dgm:pt>
    <dgm:pt modelId="{A1155B42-4EA7-43D6-8AE3-C85A01993A9E}" type="pres">
      <dgm:prSet presAssocID="{55508471-6B92-4F44-9DE0-F22B61DD04EF}" presName="rootComposite1" presStyleCnt="0"/>
      <dgm:spPr/>
    </dgm:pt>
    <dgm:pt modelId="{129A757B-AC55-4F77-B17F-2D3AC664048F}" type="pres">
      <dgm:prSet presAssocID="{55508471-6B92-4F44-9DE0-F22B61DD04EF}" presName="rootText1" presStyleLbl="node0" presStyleIdx="0" presStyleCnt="1" custScaleX="226079" custScaleY="93080" custLinFactNeighborX="-11020" custLinFactNeighborY="-27425">
        <dgm:presLayoutVars>
          <dgm:chPref val="3"/>
        </dgm:presLayoutVars>
      </dgm:prSet>
      <dgm:spPr>
        <a:xfrm>
          <a:off x="0" y="233882"/>
          <a:ext cx="2255342" cy="464278"/>
        </a:xfrm>
        <a:prstGeom prst="rect">
          <a:avLst/>
        </a:prstGeom>
      </dgm:spPr>
    </dgm:pt>
    <dgm:pt modelId="{FC364C58-541F-41E4-B04C-12D6C1D2634E}" type="pres">
      <dgm:prSet presAssocID="{55508471-6B92-4F44-9DE0-F22B61DD04EF}" presName="rootConnector1" presStyleLbl="asst0" presStyleIdx="0" presStyleCnt="0"/>
      <dgm:spPr/>
    </dgm:pt>
    <dgm:pt modelId="{C8F29BA9-2311-4979-A0C8-A004E71D283A}" type="pres">
      <dgm:prSet presAssocID="{55508471-6B92-4F44-9DE0-F22B61DD04EF}" presName="hierChild2" presStyleCnt="0"/>
      <dgm:spPr/>
    </dgm:pt>
    <dgm:pt modelId="{D8EEAE3F-89EC-42CF-B895-FD94A371F230}" type="pres">
      <dgm:prSet presAssocID="{55508471-6B92-4F44-9DE0-F22B61DD04EF}" presName="hierChild3" presStyleCnt="0"/>
      <dgm:spPr/>
    </dgm:pt>
  </dgm:ptLst>
  <dgm:cxnLst>
    <dgm:cxn modelId="{EF2C785C-43AD-462F-B4CA-946106D690A8}" type="presOf" srcId="{356000F4-2B28-404F-A7D3-A9A4D7B20862}" destId="{33E157EF-FC34-455E-8D0A-C3A15F2B6ED6}" srcOrd="0" destOrd="0" presId="urn:microsoft.com/office/officeart/2005/8/layout/orgChart1"/>
    <dgm:cxn modelId="{67C2165A-D1E5-4CFC-B37A-689E1EC718AC}" type="presOf" srcId="{55508471-6B92-4F44-9DE0-F22B61DD04EF}" destId="{129A757B-AC55-4F77-B17F-2D3AC664048F}" srcOrd="0" destOrd="0" presId="urn:microsoft.com/office/officeart/2005/8/layout/orgChart1"/>
    <dgm:cxn modelId="{EBA9AB8B-50B4-4D33-A5D5-0A0287C3A8CE}" type="presOf" srcId="{55508471-6B92-4F44-9DE0-F22B61DD04EF}" destId="{FC364C58-541F-41E4-B04C-12D6C1D2634E}" srcOrd="1" destOrd="0" presId="urn:microsoft.com/office/officeart/2005/8/layout/orgChart1"/>
    <dgm:cxn modelId="{E8C94AB2-E1B6-4E6C-B000-35C082DA7AB4}" srcId="{356000F4-2B28-404F-A7D3-A9A4D7B20862}" destId="{55508471-6B92-4F44-9DE0-F22B61DD04EF}" srcOrd="0" destOrd="0" parTransId="{87FBFAF5-4663-447C-8377-1001EE8C81DA}" sibTransId="{6ADFE3A7-6160-46C1-97D8-8953AF0528DA}"/>
    <dgm:cxn modelId="{B114A48C-CE1E-4831-A212-7F0B2A625730}" type="presParOf" srcId="{33E157EF-FC34-455E-8D0A-C3A15F2B6ED6}" destId="{07BACF4D-3D62-419B-94C4-765A9ADDAD83}" srcOrd="0" destOrd="0" presId="urn:microsoft.com/office/officeart/2005/8/layout/orgChart1"/>
    <dgm:cxn modelId="{8390E574-0A1E-43DB-B238-3BF1515BFCA6}" type="presParOf" srcId="{07BACF4D-3D62-419B-94C4-765A9ADDAD83}" destId="{A1155B42-4EA7-43D6-8AE3-C85A01993A9E}" srcOrd="0" destOrd="0" presId="urn:microsoft.com/office/officeart/2005/8/layout/orgChart1"/>
    <dgm:cxn modelId="{6C5B9601-4147-4653-910E-E97ECE346CD9}" type="presParOf" srcId="{A1155B42-4EA7-43D6-8AE3-C85A01993A9E}" destId="{129A757B-AC55-4F77-B17F-2D3AC664048F}" srcOrd="0" destOrd="0" presId="urn:microsoft.com/office/officeart/2005/8/layout/orgChart1"/>
    <dgm:cxn modelId="{7B793A01-EE54-45E5-AA92-787D7BA80DF4}" type="presParOf" srcId="{A1155B42-4EA7-43D6-8AE3-C85A01993A9E}" destId="{FC364C58-541F-41E4-B04C-12D6C1D2634E}" srcOrd="1" destOrd="0" presId="urn:microsoft.com/office/officeart/2005/8/layout/orgChart1"/>
    <dgm:cxn modelId="{4DFB0218-E659-419D-B2C5-930EB8FD751B}" type="presParOf" srcId="{07BACF4D-3D62-419B-94C4-765A9ADDAD83}" destId="{C8F29BA9-2311-4979-A0C8-A004E71D283A}" srcOrd="1" destOrd="0" presId="urn:microsoft.com/office/officeart/2005/8/layout/orgChart1"/>
    <dgm:cxn modelId="{EA5E90C4-E340-4A07-BD73-4900989317F5}" type="presParOf" srcId="{07BACF4D-3D62-419B-94C4-765A9ADDAD83}" destId="{D8EEAE3F-89EC-42CF-B895-FD94A371F230}" srcOrd="2" destOrd="0" presId="urn:microsoft.com/office/officeart/2005/8/layout/orgChart1"/>
  </dgm:cxnLst>
  <dgm:bg>
    <a:noFill/>
  </dgm:bg>
  <dgm:whole>
    <a:ln>
      <a:noFill/>
    </a:ln>
  </dgm:whole>
  <dgm:extLst>
    <a:ext uri="http://schemas.microsoft.com/office/drawing/2008/diagram">
      <dsp:dataModelExt xmlns:dsp="http://schemas.microsoft.com/office/drawing/2008/diagram" relId="rId16" minVer="http://schemas.openxmlformats.org/drawingml/2006/diagram"/>
    </a:ext>
  </dgm:extLst>
</dgm:dataModel>
</file>

<file path=ppt/diagrams/data32.xml><?xml version="1.0" encoding="utf-8"?>
<dgm:dataModel xmlns:dgm="http://schemas.openxmlformats.org/drawingml/2006/diagram" xmlns:a="http://schemas.openxmlformats.org/drawingml/2006/main">
  <dgm:ptLst>
    <dgm:pt modelId="{356000F4-2B28-404F-A7D3-A9A4D7B20862}" type="doc">
      <dgm:prSet loTypeId="urn:microsoft.com/office/officeart/2005/8/layout/orgChart1" loCatId="hierarchy" qsTypeId="urn:microsoft.com/office/officeart/2005/8/quickstyle/simple1" qsCatId="simple" csTypeId="urn:microsoft.com/office/officeart/2005/8/colors/accent1_2" csCatId="accent1" phldr="1"/>
      <dgm:spPr/>
      <dgm:t>
        <a:bodyPr/>
        <a:lstStyle/>
        <a:p>
          <a:endParaRPr lang="zh-CN" altLang="en-US"/>
        </a:p>
      </dgm:t>
    </dgm:pt>
    <dgm:pt modelId="{55508471-6B92-4F44-9DE0-F22B61DD04EF}" type="asst">
      <dgm:prSet phldrT="[文本]" custT="1"/>
      <dgm:spPr>
        <a:solidFill>
          <a:srgbClr val="4F81BD"/>
        </a:solidFill>
        <a:ln w="63500" cap="flat" cmpd="sng" algn="ctr">
          <a:solidFill>
            <a:srgbClr val="0070C0"/>
          </a:solidFill>
          <a:prstDash val="solid"/>
        </a:ln>
        <a:effectLst/>
      </dgm:spPr>
      <dgm:t>
        <a:bodyPr spcFirstLastPara="0" vert="horz" wrap="square" lIns="10160" tIns="10160" rIns="10160" bIns="10160" numCol="1" spcCol="1270" anchor="ctr" anchorCtr="0"/>
        <a:lstStyle/>
        <a:p>
          <a:pPr marL="0" lvl="0" indent="0" algn="ctr" defTabSz="711200">
            <a:lnSpc>
              <a:spcPct val="90000"/>
            </a:lnSpc>
            <a:spcBef>
              <a:spcPct val="0"/>
            </a:spcBef>
            <a:spcAft>
              <a:spcPct val="35000"/>
            </a:spcAft>
            <a:buNone/>
          </a:pPr>
          <a:r>
            <a:rPr lang="en-US" altLang="zh-CN" sz="1600" b="1" kern="1200" dirty="0">
              <a:solidFill>
                <a:prstClr val="white"/>
              </a:solidFill>
              <a:latin typeface="Calibri"/>
              <a:ea typeface="宋体" panose="02010600030101010101" pitchFamily="2" charset="-122"/>
              <a:cs typeface="+mn-cs"/>
            </a:rPr>
            <a:t>Detailed Scheduling</a:t>
          </a:r>
          <a:endParaRPr lang="zh-CN" altLang="en-US" sz="1600" b="1" kern="1200" dirty="0">
            <a:solidFill>
              <a:prstClr val="white"/>
            </a:solidFill>
            <a:latin typeface="Calibri"/>
            <a:ea typeface="宋体" panose="02010600030101010101" pitchFamily="2" charset="-122"/>
            <a:cs typeface="+mn-cs"/>
          </a:endParaRPr>
        </a:p>
      </dgm:t>
    </dgm:pt>
    <dgm:pt modelId="{6ADFE3A7-6160-46C1-97D8-8953AF0528DA}" type="sibTrans" cxnId="{E8C94AB2-E1B6-4E6C-B000-35C082DA7AB4}">
      <dgm:prSet/>
      <dgm:spPr/>
      <dgm:t>
        <a:bodyPr/>
        <a:lstStyle/>
        <a:p>
          <a:endParaRPr lang="zh-CN" altLang="en-US"/>
        </a:p>
      </dgm:t>
    </dgm:pt>
    <dgm:pt modelId="{87FBFAF5-4663-447C-8377-1001EE8C81DA}" type="parTrans" cxnId="{E8C94AB2-E1B6-4E6C-B000-35C082DA7AB4}">
      <dgm:prSet/>
      <dgm:spPr/>
      <dgm:t>
        <a:bodyPr/>
        <a:lstStyle/>
        <a:p>
          <a:endParaRPr lang="zh-CN" altLang="en-US"/>
        </a:p>
      </dgm:t>
    </dgm:pt>
    <dgm:pt modelId="{33E157EF-FC34-455E-8D0A-C3A15F2B6ED6}" type="pres">
      <dgm:prSet presAssocID="{356000F4-2B28-404F-A7D3-A9A4D7B20862}" presName="hierChild1" presStyleCnt="0">
        <dgm:presLayoutVars>
          <dgm:orgChart val="1"/>
          <dgm:chPref val="1"/>
          <dgm:dir/>
          <dgm:animOne val="branch"/>
          <dgm:animLvl val="lvl"/>
          <dgm:resizeHandles/>
        </dgm:presLayoutVars>
      </dgm:prSet>
      <dgm:spPr/>
    </dgm:pt>
    <dgm:pt modelId="{07BACF4D-3D62-419B-94C4-765A9ADDAD83}" type="pres">
      <dgm:prSet presAssocID="{55508471-6B92-4F44-9DE0-F22B61DD04EF}" presName="hierRoot1" presStyleCnt="0">
        <dgm:presLayoutVars>
          <dgm:hierBranch val="init"/>
        </dgm:presLayoutVars>
      </dgm:prSet>
      <dgm:spPr/>
    </dgm:pt>
    <dgm:pt modelId="{A1155B42-4EA7-43D6-8AE3-C85A01993A9E}" type="pres">
      <dgm:prSet presAssocID="{55508471-6B92-4F44-9DE0-F22B61DD04EF}" presName="rootComposite1" presStyleCnt="0"/>
      <dgm:spPr/>
    </dgm:pt>
    <dgm:pt modelId="{129A757B-AC55-4F77-B17F-2D3AC664048F}" type="pres">
      <dgm:prSet presAssocID="{55508471-6B92-4F44-9DE0-F22B61DD04EF}" presName="rootText1" presStyleLbl="node0" presStyleIdx="0" presStyleCnt="1" custScaleX="304535" custScaleY="124598" custLinFactNeighborX="-1427" custLinFactNeighborY="62951">
        <dgm:presLayoutVars>
          <dgm:chPref val="3"/>
        </dgm:presLayoutVars>
      </dgm:prSet>
      <dgm:spPr>
        <a:xfrm>
          <a:off x="0" y="706948"/>
          <a:ext cx="2269520" cy="464277"/>
        </a:xfrm>
        <a:prstGeom prst="rect">
          <a:avLst/>
        </a:prstGeom>
      </dgm:spPr>
    </dgm:pt>
    <dgm:pt modelId="{FC364C58-541F-41E4-B04C-12D6C1D2634E}" type="pres">
      <dgm:prSet presAssocID="{55508471-6B92-4F44-9DE0-F22B61DD04EF}" presName="rootConnector1" presStyleLbl="asst0" presStyleIdx="0" presStyleCnt="0"/>
      <dgm:spPr/>
    </dgm:pt>
    <dgm:pt modelId="{C8F29BA9-2311-4979-A0C8-A004E71D283A}" type="pres">
      <dgm:prSet presAssocID="{55508471-6B92-4F44-9DE0-F22B61DD04EF}" presName="hierChild2" presStyleCnt="0"/>
      <dgm:spPr/>
    </dgm:pt>
    <dgm:pt modelId="{D8EEAE3F-89EC-42CF-B895-FD94A371F230}" type="pres">
      <dgm:prSet presAssocID="{55508471-6B92-4F44-9DE0-F22B61DD04EF}" presName="hierChild3" presStyleCnt="0"/>
      <dgm:spPr/>
    </dgm:pt>
  </dgm:ptLst>
  <dgm:cxnLst>
    <dgm:cxn modelId="{EF2C785C-43AD-462F-B4CA-946106D690A8}" type="presOf" srcId="{356000F4-2B28-404F-A7D3-A9A4D7B20862}" destId="{33E157EF-FC34-455E-8D0A-C3A15F2B6ED6}" srcOrd="0" destOrd="0" presId="urn:microsoft.com/office/officeart/2005/8/layout/orgChart1"/>
    <dgm:cxn modelId="{67C2165A-D1E5-4CFC-B37A-689E1EC718AC}" type="presOf" srcId="{55508471-6B92-4F44-9DE0-F22B61DD04EF}" destId="{129A757B-AC55-4F77-B17F-2D3AC664048F}" srcOrd="0" destOrd="0" presId="urn:microsoft.com/office/officeart/2005/8/layout/orgChart1"/>
    <dgm:cxn modelId="{EBA9AB8B-50B4-4D33-A5D5-0A0287C3A8CE}" type="presOf" srcId="{55508471-6B92-4F44-9DE0-F22B61DD04EF}" destId="{FC364C58-541F-41E4-B04C-12D6C1D2634E}" srcOrd="1" destOrd="0" presId="urn:microsoft.com/office/officeart/2005/8/layout/orgChart1"/>
    <dgm:cxn modelId="{E8C94AB2-E1B6-4E6C-B000-35C082DA7AB4}" srcId="{356000F4-2B28-404F-A7D3-A9A4D7B20862}" destId="{55508471-6B92-4F44-9DE0-F22B61DD04EF}" srcOrd="0" destOrd="0" parTransId="{87FBFAF5-4663-447C-8377-1001EE8C81DA}" sibTransId="{6ADFE3A7-6160-46C1-97D8-8953AF0528DA}"/>
    <dgm:cxn modelId="{B114A48C-CE1E-4831-A212-7F0B2A625730}" type="presParOf" srcId="{33E157EF-FC34-455E-8D0A-C3A15F2B6ED6}" destId="{07BACF4D-3D62-419B-94C4-765A9ADDAD83}" srcOrd="0" destOrd="0" presId="urn:microsoft.com/office/officeart/2005/8/layout/orgChart1"/>
    <dgm:cxn modelId="{8390E574-0A1E-43DB-B238-3BF1515BFCA6}" type="presParOf" srcId="{07BACF4D-3D62-419B-94C4-765A9ADDAD83}" destId="{A1155B42-4EA7-43D6-8AE3-C85A01993A9E}" srcOrd="0" destOrd="0" presId="urn:microsoft.com/office/officeart/2005/8/layout/orgChart1"/>
    <dgm:cxn modelId="{6C5B9601-4147-4653-910E-E97ECE346CD9}" type="presParOf" srcId="{A1155B42-4EA7-43D6-8AE3-C85A01993A9E}" destId="{129A757B-AC55-4F77-B17F-2D3AC664048F}" srcOrd="0" destOrd="0" presId="urn:microsoft.com/office/officeart/2005/8/layout/orgChart1"/>
    <dgm:cxn modelId="{7B793A01-EE54-45E5-AA92-787D7BA80DF4}" type="presParOf" srcId="{A1155B42-4EA7-43D6-8AE3-C85A01993A9E}" destId="{FC364C58-541F-41E4-B04C-12D6C1D2634E}" srcOrd="1" destOrd="0" presId="urn:microsoft.com/office/officeart/2005/8/layout/orgChart1"/>
    <dgm:cxn modelId="{4DFB0218-E659-419D-B2C5-930EB8FD751B}" type="presParOf" srcId="{07BACF4D-3D62-419B-94C4-765A9ADDAD83}" destId="{C8F29BA9-2311-4979-A0C8-A004E71D283A}" srcOrd="1" destOrd="0" presId="urn:microsoft.com/office/officeart/2005/8/layout/orgChart1"/>
    <dgm:cxn modelId="{EA5E90C4-E340-4A07-BD73-4900989317F5}" type="presParOf" srcId="{07BACF4D-3D62-419B-94C4-765A9ADDAD83}" destId="{D8EEAE3F-89EC-42CF-B895-FD94A371F230}" srcOrd="2" destOrd="0" presId="urn:microsoft.com/office/officeart/2005/8/layout/orgChart1"/>
  </dgm:cxnLst>
  <dgm:bg>
    <a:noFill/>
  </dgm:bg>
  <dgm:whole>
    <a:ln>
      <a:noFill/>
    </a:ln>
  </dgm:whole>
  <dgm:extLst>
    <a:ext uri="http://schemas.microsoft.com/office/drawing/2008/diagram">
      <dsp:dataModelExt xmlns:dsp="http://schemas.microsoft.com/office/drawing/2008/diagram" relId="rId21" minVer="http://schemas.openxmlformats.org/drawingml/2006/diagram"/>
    </a:ext>
  </dgm:extLst>
</dgm:dataModel>
</file>

<file path=ppt/diagrams/data33.xml><?xml version="1.0" encoding="utf-8"?>
<dgm:dataModel xmlns:dgm="http://schemas.openxmlformats.org/drawingml/2006/diagram" xmlns:a="http://schemas.openxmlformats.org/drawingml/2006/main">
  <dgm:ptLst>
    <dgm:pt modelId="{83754575-5057-408B-AB97-68DBF0A764E3}" type="doc">
      <dgm:prSet loTypeId="urn:microsoft.com/office/officeart/2005/8/layout/list1" loCatId="list" qsTypeId="urn:microsoft.com/office/officeart/2005/8/quickstyle/simple1" qsCatId="simple" csTypeId="urn:microsoft.com/office/officeart/2005/8/colors/accent1_2" csCatId="accent1"/>
      <dgm:spPr/>
      <dgm:t>
        <a:bodyPr/>
        <a:lstStyle/>
        <a:p>
          <a:endParaRPr lang="zh-CN" altLang="en-US"/>
        </a:p>
      </dgm:t>
    </dgm:pt>
    <dgm:pt modelId="{2A29038F-96E1-43FA-A081-BB97D0258C5E}">
      <dgm:prSet custT="1"/>
      <dgm:spPr/>
      <dgm:t>
        <a:bodyPr/>
        <a:lstStyle/>
        <a:p>
          <a:r>
            <a:rPr lang="zh-CN" altLang="en-US" sz="1000" b="1" dirty="0">
              <a:latin typeface="+mj-ea"/>
              <a:ea typeface="+mj-ea"/>
            </a:rPr>
            <a:t>范围的扩展：从“供需协同”到“全业务集成”</a:t>
          </a:r>
          <a:endParaRPr lang="zh-CN" altLang="en-US" sz="1000" dirty="0">
            <a:latin typeface="+mj-ea"/>
            <a:ea typeface="+mj-ea"/>
          </a:endParaRPr>
        </a:p>
      </dgm:t>
    </dgm:pt>
    <dgm:pt modelId="{7B5463C1-CCA7-4799-9FD7-58975D9FE9F1}" type="parTrans" cxnId="{036D07D6-E447-48DF-810D-F2095BBCC2B9}">
      <dgm:prSet/>
      <dgm:spPr/>
      <dgm:t>
        <a:bodyPr/>
        <a:lstStyle/>
        <a:p>
          <a:endParaRPr lang="zh-CN" altLang="en-US" sz="3200">
            <a:latin typeface="+mj-ea"/>
            <a:ea typeface="+mj-ea"/>
          </a:endParaRPr>
        </a:p>
      </dgm:t>
    </dgm:pt>
    <dgm:pt modelId="{D5F7A84A-27E7-48B6-BAA8-AF4785E0F9E6}" type="sibTrans" cxnId="{036D07D6-E447-48DF-810D-F2095BBCC2B9}">
      <dgm:prSet/>
      <dgm:spPr/>
      <dgm:t>
        <a:bodyPr/>
        <a:lstStyle/>
        <a:p>
          <a:endParaRPr lang="zh-CN" altLang="en-US" sz="3200">
            <a:latin typeface="+mj-ea"/>
            <a:ea typeface="+mj-ea"/>
          </a:endParaRPr>
        </a:p>
      </dgm:t>
    </dgm:pt>
    <dgm:pt modelId="{53F9BE93-DC31-4CA3-9A70-0E205E6C0DBD}">
      <dgm:prSet custT="1"/>
      <dgm:spPr/>
      <dgm:t>
        <a:bodyPr/>
        <a:lstStyle/>
        <a:p>
          <a:r>
            <a:rPr lang="zh-CN" altLang="en-US" sz="1000" b="1">
              <a:latin typeface="+mj-ea"/>
              <a:ea typeface="+mj-ea"/>
            </a:rPr>
            <a:t>传统</a:t>
          </a:r>
          <a:r>
            <a:rPr lang="en-US" altLang="zh-CN" sz="1000" b="1">
              <a:latin typeface="+mj-ea"/>
              <a:ea typeface="+mj-ea"/>
            </a:rPr>
            <a:t>S&amp;OP</a:t>
          </a:r>
          <a:r>
            <a:rPr lang="zh-CN" altLang="en-US" sz="1000">
              <a:latin typeface="+mj-ea"/>
              <a:ea typeface="+mj-ea"/>
            </a:rPr>
            <a:t>的核心是平衡</a:t>
          </a:r>
          <a:r>
            <a:rPr lang="zh-CN" altLang="en-US" sz="1000" b="1">
              <a:latin typeface="+mj-ea"/>
              <a:ea typeface="+mj-ea"/>
            </a:rPr>
            <a:t>需求</a:t>
          </a:r>
          <a:r>
            <a:rPr lang="zh-CN" altLang="en-US" sz="1000">
              <a:latin typeface="+mj-ea"/>
              <a:ea typeface="+mj-ea"/>
            </a:rPr>
            <a:t>（销售、市场）和</a:t>
          </a:r>
          <a:r>
            <a:rPr lang="zh-CN" altLang="en-US" sz="1000" b="1">
              <a:latin typeface="+mj-ea"/>
              <a:ea typeface="+mj-ea"/>
            </a:rPr>
            <a:t>供应</a:t>
          </a:r>
          <a:r>
            <a:rPr lang="zh-CN" altLang="en-US" sz="1000">
              <a:latin typeface="+mj-ea"/>
              <a:ea typeface="+mj-ea"/>
            </a:rPr>
            <a:t>（运营、供应链），主要涉及销售、运营、供应链等部门。 </a:t>
          </a:r>
        </a:p>
      </dgm:t>
    </dgm:pt>
    <dgm:pt modelId="{0D93B36D-4C43-487B-85CD-6D2D6C1F9110}" type="parTrans" cxnId="{2D8F1873-F806-4DA5-8D5A-AF20A7DFF585}">
      <dgm:prSet/>
      <dgm:spPr/>
      <dgm:t>
        <a:bodyPr/>
        <a:lstStyle/>
        <a:p>
          <a:endParaRPr lang="zh-CN" altLang="en-US" sz="3200">
            <a:latin typeface="+mj-ea"/>
            <a:ea typeface="+mj-ea"/>
          </a:endParaRPr>
        </a:p>
      </dgm:t>
    </dgm:pt>
    <dgm:pt modelId="{47753623-C434-4D42-BEED-8FD6D774BA38}" type="sibTrans" cxnId="{2D8F1873-F806-4DA5-8D5A-AF20A7DFF585}">
      <dgm:prSet/>
      <dgm:spPr/>
      <dgm:t>
        <a:bodyPr/>
        <a:lstStyle/>
        <a:p>
          <a:endParaRPr lang="zh-CN" altLang="en-US" sz="3200">
            <a:latin typeface="+mj-ea"/>
            <a:ea typeface="+mj-ea"/>
          </a:endParaRPr>
        </a:p>
      </dgm:t>
    </dgm:pt>
    <dgm:pt modelId="{6AA114F3-71E3-4FE5-96C0-67042578F631}">
      <dgm:prSet custT="1"/>
      <dgm:spPr/>
      <dgm:t>
        <a:bodyPr/>
        <a:lstStyle/>
        <a:p>
          <a:r>
            <a:rPr lang="en-US" altLang="zh-CN" sz="1000" b="1">
              <a:latin typeface="+mj-ea"/>
              <a:ea typeface="+mj-ea"/>
            </a:rPr>
            <a:t>IBP</a:t>
          </a:r>
          <a:r>
            <a:rPr lang="zh-CN" altLang="en-US" sz="1000">
              <a:latin typeface="+mj-ea"/>
              <a:ea typeface="+mj-ea"/>
            </a:rPr>
            <a:t>将</a:t>
          </a:r>
          <a:r>
            <a:rPr lang="zh-CN" altLang="en-US" sz="1000" b="1">
              <a:latin typeface="+mj-ea"/>
              <a:ea typeface="+mj-ea"/>
            </a:rPr>
            <a:t>财务</a:t>
          </a:r>
          <a:r>
            <a:rPr lang="zh-CN" altLang="en-US" sz="1000">
              <a:latin typeface="+mj-ea"/>
              <a:ea typeface="+mj-ea"/>
            </a:rPr>
            <a:t>、</a:t>
          </a:r>
          <a:r>
            <a:rPr lang="zh-CN" altLang="en-US" sz="1000" b="1">
              <a:latin typeface="+mj-ea"/>
              <a:ea typeface="+mj-ea"/>
            </a:rPr>
            <a:t>产品管理</a:t>
          </a:r>
          <a:r>
            <a:rPr lang="zh-CN" altLang="en-US" sz="1000">
              <a:latin typeface="+mj-ea"/>
              <a:ea typeface="+mj-ea"/>
            </a:rPr>
            <a:t>、</a:t>
          </a:r>
          <a:r>
            <a:rPr lang="zh-CN" altLang="en-US" sz="1000" b="1">
              <a:latin typeface="+mj-ea"/>
              <a:ea typeface="+mj-ea"/>
            </a:rPr>
            <a:t>战略规划</a:t>
          </a:r>
          <a:r>
            <a:rPr lang="zh-CN" altLang="en-US" sz="1000">
              <a:latin typeface="+mj-ea"/>
              <a:ea typeface="+mj-ea"/>
            </a:rPr>
            <a:t>等关键职能深度集成进来，形成了一个真正意义上的“全公司游戏计划”。 </a:t>
          </a:r>
        </a:p>
      </dgm:t>
    </dgm:pt>
    <dgm:pt modelId="{0006C079-EFCA-4015-A11F-4E3BFEB7BE0E}" type="parTrans" cxnId="{191D03D5-37A9-459C-B7ED-DEC40619AFFE}">
      <dgm:prSet/>
      <dgm:spPr/>
      <dgm:t>
        <a:bodyPr/>
        <a:lstStyle/>
        <a:p>
          <a:endParaRPr lang="zh-CN" altLang="en-US" sz="3200">
            <a:latin typeface="+mj-ea"/>
            <a:ea typeface="+mj-ea"/>
          </a:endParaRPr>
        </a:p>
      </dgm:t>
    </dgm:pt>
    <dgm:pt modelId="{39788FE3-259B-492A-B0F8-468F60ABC471}" type="sibTrans" cxnId="{191D03D5-37A9-459C-B7ED-DEC40619AFFE}">
      <dgm:prSet/>
      <dgm:spPr/>
      <dgm:t>
        <a:bodyPr/>
        <a:lstStyle/>
        <a:p>
          <a:endParaRPr lang="zh-CN" altLang="en-US" sz="3200">
            <a:latin typeface="+mj-ea"/>
            <a:ea typeface="+mj-ea"/>
          </a:endParaRPr>
        </a:p>
      </dgm:t>
    </dgm:pt>
    <dgm:pt modelId="{6DF3CF0F-2EE5-414C-8935-616E4002BA81}">
      <dgm:prSet custT="1"/>
      <dgm:spPr/>
      <dgm:t>
        <a:bodyPr/>
        <a:lstStyle/>
        <a:p>
          <a:r>
            <a:rPr lang="zh-CN" altLang="en-US" sz="1000" b="1">
              <a:latin typeface="+mj-ea"/>
              <a:ea typeface="+mj-ea"/>
            </a:rPr>
            <a:t>深度的加强：从“运营平衡”到“战略执行”</a:t>
          </a:r>
          <a:endParaRPr lang="zh-CN" altLang="en-US" sz="1000">
            <a:latin typeface="+mj-ea"/>
            <a:ea typeface="+mj-ea"/>
          </a:endParaRPr>
        </a:p>
      </dgm:t>
    </dgm:pt>
    <dgm:pt modelId="{7DC182E1-6B18-4082-8709-90C98C6439EF}" type="parTrans" cxnId="{AB5BC38F-F099-437D-ACF0-CF5988379332}">
      <dgm:prSet/>
      <dgm:spPr/>
      <dgm:t>
        <a:bodyPr/>
        <a:lstStyle/>
        <a:p>
          <a:endParaRPr lang="zh-CN" altLang="en-US" sz="3200">
            <a:latin typeface="+mj-ea"/>
            <a:ea typeface="+mj-ea"/>
          </a:endParaRPr>
        </a:p>
      </dgm:t>
    </dgm:pt>
    <dgm:pt modelId="{654F9EDF-C788-40CF-822E-9710FB099FBD}" type="sibTrans" cxnId="{AB5BC38F-F099-437D-ACF0-CF5988379332}">
      <dgm:prSet/>
      <dgm:spPr/>
      <dgm:t>
        <a:bodyPr/>
        <a:lstStyle/>
        <a:p>
          <a:endParaRPr lang="zh-CN" altLang="en-US" sz="3200">
            <a:latin typeface="+mj-ea"/>
            <a:ea typeface="+mj-ea"/>
          </a:endParaRPr>
        </a:p>
      </dgm:t>
    </dgm:pt>
    <dgm:pt modelId="{C2C6AEBB-265E-440A-8909-458483721B94}">
      <dgm:prSet custT="1"/>
      <dgm:spPr/>
      <dgm:t>
        <a:bodyPr/>
        <a:lstStyle/>
        <a:p>
          <a:r>
            <a:rPr lang="en-US" altLang="zh-CN" sz="1000" b="1">
              <a:latin typeface="+mj-ea"/>
              <a:ea typeface="+mj-ea"/>
            </a:rPr>
            <a:t>S&amp;OP</a:t>
          </a:r>
          <a:r>
            <a:rPr lang="zh-CN" altLang="en-US" sz="1000">
              <a:latin typeface="+mj-ea"/>
              <a:ea typeface="+mj-ea"/>
            </a:rPr>
            <a:t>更侧重于解决中短期的运营问题（如“下个月如何不缺货也不压货？”），以确保运营的可行性。 </a:t>
          </a:r>
        </a:p>
      </dgm:t>
    </dgm:pt>
    <dgm:pt modelId="{5B6B17AC-7A56-4631-8D7D-72552960FFAD}" type="parTrans" cxnId="{9B1C71AB-BE6A-43B3-B58D-14C762EA87A7}">
      <dgm:prSet/>
      <dgm:spPr/>
      <dgm:t>
        <a:bodyPr/>
        <a:lstStyle/>
        <a:p>
          <a:endParaRPr lang="zh-CN" altLang="en-US" sz="3200">
            <a:latin typeface="+mj-ea"/>
            <a:ea typeface="+mj-ea"/>
          </a:endParaRPr>
        </a:p>
      </dgm:t>
    </dgm:pt>
    <dgm:pt modelId="{48DD27EC-C961-483C-8FAC-8BE34E6EFAE8}" type="sibTrans" cxnId="{9B1C71AB-BE6A-43B3-B58D-14C762EA87A7}">
      <dgm:prSet/>
      <dgm:spPr/>
      <dgm:t>
        <a:bodyPr/>
        <a:lstStyle/>
        <a:p>
          <a:endParaRPr lang="zh-CN" altLang="en-US" sz="3200">
            <a:latin typeface="+mj-ea"/>
            <a:ea typeface="+mj-ea"/>
          </a:endParaRPr>
        </a:p>
      </dgm:t>
    </dgm:pt>
    <dgm:pt modelId="{47C5E146-28BF-4C98-884A-5FB88979D57A}">
      <dgm:prSet custT="1"/>
      <dgm:spPr/>
      <dgm:t>
        <a:bodyPr/>
        <a:lstStyle/>
        <a:p>
          <a:r>
            <a:rPr lang="en-US" altLang="zh-CN" sz="1000" b="1">
              <a:latin typeface="+mj-ea"/>
              <a:ea typeface="+mj-ea"/>
            </a:rPr>
            <a:t>IBP</a:t>
          </a:r>
          <a:r>
            <a:rPr lang="zh-CN" altLang="en-US" sz="1000">
              <a:latin typeface="+mj-ea"/>
              <a:ea typeface="+mj-ea"/>
            </a:rPr>
            <a:t>则直接与公司</a:t>
          </a:r>
          <a:r>
            <a:rPr lang="zh-CN" altLang="en-US" sz="1000" b="1">
              <a:latin typeface="+mj-ea"/>
              <a:ea typeface="+mj-ea"/>
            </a:rPr>
            <a:t>战略和财务目标</a:t>
          </a:r>
          <a:r>
            <a:rPr lang="zh-CN" altLang="en-US" sz="1000">
              <a:latin typeface="+mj-ea"/>
              <a:ea typeface="+mj-ea"/>
            </a:rPr>
            <a:t>挂钩。它不仅要确保运营可行，更要回答“我们的计划是否能达成今年的利润目标？”、“是否与我们的长期战略方向一致？”等战略性问题。它是一个将战略转化为具体行动和财务结果的</a:t>
          </a:r>
          <a:r>
            <a:rPr lang="zh-CN" altLang="en-US" sz="1000" b="1">
              <a:latin typeface="+mj-ea"/>
              <a:ea typeface="+mj-ea"/>
            </a:rPr>
            <a:t>核心管理流程</a:t>
          </a:r>
          <a:r>
            <a:rPr lang="zh-CN" altLang="en-US" sz="1000">
              <a:latin typeface="+mj-ea"/>
              <a:ea typeface="+mj-ea"/>
            </a:rPr>
            <a:t>。 </a:t>
          </a:r>
        </a:p>
      </dgm:t>
    </dgm:pt>
    <dgm:pt modelId="{AE485F0A-4B4F-430E-9350-C47EE1D2B7F0}" type="parTrans" cxnId="{07BE4700-2CEB-42C4-A27B-EE053A275C53}">
      <dgm:prSet/>
      <dgm:spPr/>
      <dgm:t>
        <a:bodyPr/>
        <a:lstStyle/>
        <a:p>
          <a:endParaRPr lang="zh-CN" altLang="en-US" sz="3200">
            <a:latin typeface="+mj-ea"/>
            <a:ea typeface="+mj-ea"/>
          </a:endParaRPr>
        </a:p>
      </dgm:t>
    </dgm:pt>
    <dgm:pt modelId="{66C9D606-1298-4C56-99B4-470805FD06AC}" type="sibTrans" cxnId="{07BE4700-2CEB-42C4-A27B-EE053A275C53}">
      <dgm:prSet/>
      <dgm:spPr/>
      <dgm:t>
        <a:bodyPr/>
        <a:lstStyle/>
        <a:p>
          <a:endParaRPr lang="zh-CN" altLang="en-US" sz="3200">
            <a:latin typeface="+mj-ea"/>
            <a:ea typeface="+mj-ea"/>
          </a:endParaRPr>
        </a:p>
      </dgm:t>
    </dgm:pt>
    <dgm:pt modelId="{61038848-5358-4C98-A3ED-7B90D361AB6A}">
      <dgm:prSet custT="1"/>
      <dgm:spPr/>
      <dgm:t>
        <a:bodyPr/>
        <a:lstStyle/>
        <a:p>
          <a:r>
            <a:rPr lang="zh-CN" altLang="en-US" sz="1000" b="1">
              <a:latin typeface="+mj-ea"/>
              <a:ea typeface="+mj-ea"/>
            </a:rPr>
            <a:t>成熟度的提升：从“部门流程”到“管理方式”</a:t>
          </a:r>
          <a:endParaRPr lang="zh-CN" altLang="en-US" sz="1000">
            <a:latin typeface="+mj-ea"/>
            <a:ea typeface="+mj-ea"/>
          </a:endParaRPr>
        </a:p>
      </dgm:t>
    </dgm:pt>
    <dgm:pt modelId="{4608D529-6CE1-46F4-B7CC-27F78B971A98}" type="parTrans" cxnId="{6469B69B-2408-4A9B-99A9-054FFF44819A}">
      <dgm:prSet/>
      <dgm:spPr/>
      <dgm:t>
        <a:bodyPr/>
        <a:lstStyle/>
        <a:p>
          <a:endParaRPr lang="zh-CN" altLang="en-US" sz="3200">
            <a:latin typeface="+mj-ea"/>
            <a:ea typeface="+mj-ea"/>
          </a:endParaRPr>
        </a:p>
      </dgm:t>
    </dgm:pt>
    <dgm:pt modelId="{CE5DC13F-AEEF-49FD-B220-8C2CB5E90BE8}" type="sibTrans" cxnId="{6469B69B-2408-4A9B-99A9-054FFF44819A}">
      <dgm:prSet/>
      <dgm:spPr/>
      <dgm:t>
        <a:bodyPr/>
        <a:lstStyle/>
        <a:p>
          <a:endParaRPr lang="zh-CN" altLang="en-US" sz="3200">
            <a:latin typeface="+mj-ea"/>
            <a:ea typeface="+mj-ea"/>
          </a:endParaRPr>
        </a:p>
      </dgm:t>
    </dgm:pt>
    <dgm:pt modelId="{6C8DB101-17AD-4995-9E24-DBDED3A926A5}">
      <dgm:prSet custT="1"/>
      <dgm:spPr/>
      <dgm:t>
        <a:bodyPr/>
        <a:lstStyle/>
        <a:p>
          <a:r>
            <a:rPr lang="zh-CN" altLang="en-US" sz="1000">
              <a:latin typeface="+mj-ea"/>
              <a:ea typeface="+mj-ea"/>
            </a:rPr>
            <a:t>当</a:t>
          </a:r>
          <a:r>
            <a:rPr lang="en-US" altLang="zh-CN" sz="1000">
              <a:latin typeface="+mj-ea"/>
              <a:ea typeface="+mj-ea"/>
            </a:rPr>
            <a:t>S&amp;OP</a:t>
          </a:r>
          <a:r>
            <a:rPr lang="zh-CN" altLang="en-US" sz="1000">
              <a:latin typeface="+mj-ea"/>
              <a:ea typeface="+mj-ea"/>
            </a:rPr>
            <a:t>流程成熟后，公司会发现，仅仅平衡供需是不够的，必须将财务和战略纳入月度循环，才能做出最优决策。这时，流程就自然演进为</a:t>
          </a:r>
          <a:r>
            <a:rPr lang="en-US" altLang="zh-CN" sz="1000">
              <a:latin typeface="+mj-ea"/>
              <a:ea typeface="+mj-ea"/>
            </a:rPr>
            <a:t>IBP</a:t>
          </a:r>
          <a:r>
            <a:rPr lang="zh-CN" altLang="en-US" sz="1000">
              <a:latin typeface="+mj-ea"/>
              <a:ea typeface="+mj-ea"/>
            </a:rPr>
            <a:t>。</a:t>
          </a:r>
        </a:p>
      </dgm:t>
    </dgm:pt>
    <dgm:pt modelId="{7A8E471E-0535-489C-B358-CABD14EAF46F}" type="parTrans" cxnId="{585754B2-647F-4C61-A2E9-E462DBBF8ED1}">
      <dgm:prSet/>
      <dgm:spPr/>
      <dgm:t>
        <a:bodyPr/>
        <a:lstStyle/>
        <a:p>
          <a:endParaRPr lang="zh-CN" altLang="en-US" sz="3200">
            <a:latin typeface="+mj-ea"/>
            <a:ea typeface="+mj-ea"/>
          </a:endParaRPr>
        </a:p>
      </dgm:t>
    </dgm:pt>
    <dgm:pt modelId="{5EE2992B-6D36-490A-A286-4DDDD2AF40DC}" type="sibTrans" cxnId="{585754B2-647F-4C61-A2E9-E462DBBF8ED1}">
      <dgm:prSet/>
      <dgm:spPr/>
      <dgm:t>
        <a:bodyPr/>
        <a:lstStyle/>
        <a:p>
          <a:endParaRPr lang="zh-CN" altLang="en-US" sz="3200">
            <a:latin typeface="+mj-ea"/>
            <a:ea typeface="+mj-ea"/>
          </a:endParaRPr>
        </a:p>
      </dgm:t>
    </dgm:pt>
    <dgm:pt modelId="{92E20CEE-E6C3-4D42-8E48-DF3643ED74B2}">
      <dgm:prSet custT="1"/>
      <dgm:spPr/>
      <dgm:t>
        <a:bodyPr/>
        <a:lstStyle/>
        <a:p>
          <a:r>
            <a:rPr lang="zh-CN" altLang="en-US" sz="1000">
              <a:latin typeface="+mj-ea"/>
              <a:ea typeface="+mj-ea"/>
            </a:rPr>
            <a:t>因此，</a:t>
          </a:r>
          <a:r>
            <a:rPr lang="en-US" altLang="zh-CN" sz="1000">
              <a:latin typeface="+mj-ea"/>
              <a:ea typeface="+mj-ea"/>
            </a:rPr>
            <a:t>IBP</a:t>
          </a:r>
          <a:r>
            <a:rPr lang="zh-CN" altLang="en-US" sz="1000">
              <a:latin typeface="+mj-ea"/>
              <a:ea typeface="+mj-ea"/>
            </a:rPr>
            <a:t>被视为</a:t>
          </a:r>
          <a:r>
            <a:rPr lang="en-US" altLang="zh-CN" sz="1000">
              <a:latin typeface="+mj-ea"/>
              <a:ea typeface="+mj-ea"/>
            </a:rPr>
            <a:t>S&amp;OP</a:t>
          </a:r>
          <a:r>
            <a:rPr lang="zh-CN" altLang="en-US" sz="1000">
              <a:latin typeface="+mj-ea"/>
              <a:ea typeface="+mj-ea"/>
            </a:rPr>
            <a:t>的</a:t>
          </a:r>
          <a:r>
            <a:rPr lang="zh-CN" altLang="en-US" sz="1000" b="1">
              <a:latin typeface="+mj-ea"/>
              <a:ea typeface="+mj-ea"/>
            </a:rPr>
            <a:t>最佳实践和成熟阶段</a:t>
          </a:r>
          <a:r>
            <a:rPr lang="zh-CN" altLang="en-US" sz="1000">
              <a:latin typeface="+mj-ea"/>
              <a:ea typeface="+mj-ea"/>
            </a:rPr>
            <a:t>。文档中也提到，许多领先公司为了区分于传统</a:t>
          </a:r>
          <a:r>
            <a:rPr lang="en-US" altLang="zh-CN" sz="1000">
              <a:latin typeface="+mj-ea"/>
              <a:ea typeface="+mj-ea"/>
            </a:rPr>
            <a:t>S&amp;OP</a:t>
          </a:r>
          <a:r>
            <a:rPr lang="zh-CN" altLang="en-US" sz="1000">
              <a:latin typeface="+mj-ea"/>
              <a:ea typeface="+mj-ea"/>
            </a:rPr>
            <a:t>，而将其命名为</a:t>
          </a:r>
          <a:r>
            <a:rPr lang="en-US" altLang="zh-CN" sz="1000">
              <a:latin typeface="+mj-ea"/>
              <a:ea typeface="+mj-ea"/>
            </a:rPr>
            <a:t>IBP</a:t>
          </a:r>
          <a:endParaRPr lang="zh-CN" altLang="en-US" sz="1000">
            <a:latin typeface="+mj-ea"/>
            <a:ea typeface="+mj-ea"/>
          </a:endParaRPr>
        </a:p>
      </dgm:t>
    </dgm:pt>
    <dgm:pt modelId="{B2931459-2BFC-41D8-9EB3-1271462957A1}" type="parTrans" cxnId="{3F6820FF-638C-42F7-B065-A6629B59B89D}">
      <dgm:prSet/>
      <dgm:spPr/>
      <dgm:t>
        <a:bodyPr/>
        <a:lstStyle/>
        <a:p>
          <a:endParaRPr lang="zh-CN" altLang="en-US" sz="3200">
            <a:latin typeface="+mj-ea"/>
            <a:ea typeface="+mj-ea"/>
          </a:endParaRPr>
        </a:p>
      </dgm:t>
    </dgm:pt>
    <dgm:pt modelId="{BAA3E7C6-B1FA-497F-B7D5-4228ECED7828}" type="sibTrans" cxnId="{3F6820FF-638C-42F7-B065-A6629B59B89D}">
      <dgm:prSet/>
      <dgm:spPr/>
      <dgm:t>
        <a:bodyPr/>
        <a:lstStyle/>
        <a:p>
          <a:endParaRPr lang="zh-CN" altLang="en-US" sz="3200">
            <a:latin typeface="+mj-ea"/>
            <a:ea typeface="+mj-ea"/>
          </a:endParaRPr>
        </a:p>
      </dgm:t>
    </dgm:pt>
    <dgm:pt modelId="{A6D2D289-BECD-49C4-A40E-851E2F287616}" type="pres">
      <dgm:prSet presAssocID="{83754575-5057-408B-AB97-68DBF0A764E3}" presName="linear" presStyleCnt="0">
        <dgm:presLayoutVars>
          <dgm:dir/>
          <dgm:animLvl val="lvl"/>
          <dgm:resizeHandles val="exact"/>
        </dgm:presLayoutVars>
      </dgm:prSet>
      <dgm:spPr/>
    </dgm:pt>
    <dgm:pt modelId="{8C607D3B-D5B6-4B53-83ED-7CBD2D21C181}" type="pres">
      <dgm:prSet presAssocID="{2A29038F-96E1-43FA-A081-BB97D0258C5E}" presName="parentLin" presStyleCnt="0"/>
      <dgm:spPr/>
    </dgm:pt>
    <dgm:pt modelId="{C1B02623-C218-4C55-9BE5-5B08DF3637AD}" type="pres">
      <dgm:prSet presAssocID="{2A29038F-96E1-43FA-A081-BB97D0258C5E}" presName="parentLeftMargin" presStyleLbl="node1" presStyleIdx="0" presStyleCnt="3"/>
      <dgm:spPr/>
    </dgm:pt>
    <dgm:pt modelId="{D778DDC7-3879-4301-BB7C-8666E62EDEFE}" type="pres">
      <dgm:prSet presAssocID="{2A29038F-96E1-43FA-A081-BB97D0258C5E}" presName="parentText" presStyleLbl="node1" presStyleIdx="0" presStyleCnt="3">
        <dgm:presLayoutVars>
          <dgm:chMax val="0"/>
          <dgm:bulletEnabled val="1"/>
        </dgm:presLayoutVars>
      </dgm:prSet>
      <dgm:spPr/>
    </dgm:pt>
    <dgm:pt modelId="{63E61833-BE43-4BD2-869C-0884B7E5C971}" type="pres">
      <dgm:prSet presAssocID="{2A29038F-96E1-43FA-A081-BB97D0258C5E}" presName="negativeSpace" presStyleCnt="0"/>
      <dgm:spPr/>
    </dgm:pt>
    <dgm:pt modelId="{F0DCBB02-1C96-4DC2-AD49-D8EB6E97A4BF}" type="pres">
      <dgm:prSet presAssocID="{2A29038F-96E1-43FA-A081-BB97D0258C5E}" presName="childText" presStyleLbl="conFgAcc1" presStyleIdx="0" presStyleCnt="3" custLinFactNeighborX="-130">
        <dgm:presLayoutVars>
          <dgm:bulletEnabled val="1"/>
        </dgm:presLayoutVars>
      </dgm:prSet>
      <dgm:spPr/>
    </dgm:pt>
    <dgm:pt modelId="{4A54F622-13BC-4AE3-AED2-71C9A7A0BF72}" type="pres">
      <dgm:prSet presAssocID="{D5F7A84A-27E7-48B6-BAA8-AF4785E0F9E6}" presName="spaceBetweenRectangles" presStyleCnt="0"/>
      <dgm:spPr/>
    </dgm:pt>
    <dgm:pt modelId="{DFF4E7AB-2567-4658-8818-FCF8606DA2D4}" type="pres">
      <dgm:prSet presAssocID="{6DF3CF0F-2EE5-414C-8935-616E4002BA81}" presName="parentLin" presStyleCnt="0"/>
      <dgm:spPr/>
    </dgm:pt>
    <dgm:pt modelId="{DCF504C3-1FCE-42EF-ACF5-2A77F1C1B840}" type="pres">
      <dgm:prSet presAssocID="{6DF3CF0F-2EE5-414C-8935-616E4002BA81}" presName="parentLeftMargin" presStyleLbl="node1" presStyleIdx="0" presStyleCnt="3"/>
      <dgm:spPr/>
    </dgm:pt>
    <dgm:pt modelId="{6194DBA6-0821-4F63-9E89-1674888799F3}" type="pres">
      <dgm:prSet presAssocID="{6DF3CF0F-2EE5-414C-8935-616E4002BA81}" presName="parentText" presStyleLbl="node1" presStyleIdx="1" presStyleCnt="3">
        <dgm:presLayoutVars>
          <dgm:chMax val="0"/>
          <dgm:bulletEnabled val="1"/>
        </dgm:presLayoutVars>
      </dgm:prSet>
      <dgm:spPr/>
    </dgm:pt>
    <dgm:pt modelId="{65429B11-0F3A-401C-BEAA-EAD16D27489E}" type="pres">
      <dgm:prSet presAssocID="{6DF3CF0F-2EE5-414C-8935-616E4002BA81}" presName="negativeSpace" presStyleCnt="0"/>
      <dgm:spPr/>
    </dgm:pt>
    <dgm:pt modelId="{1CAA6C0E-013B-467A-9FB7-F5A4BE00DFE3}" type="pres">
      <dgm:prSet presAssocID="{6DF3CF0F-2EE5-414C-8935-616E4002BA81}" presName="childText" presStyleLbl="conFgAcc1" presStyleIdx="1" presStyleCnt="3" custLinFactNeighborX="-130">
        <dgm:presLayoutVars>
          <dgm:bulletEnabled val="1"/>
        </dgm:presLayoutVars>
      </dgm:prSet>
      <dgm:spPr/>
    </dgm:pt>
    <dgm:pt modelId="{B4416F96-BC83-4F64-9A6E-17DF817033A1}" type="pres">
      <dgm:prSet presAssocID="{654F9EDF-C788-40CF-822E-9710FB099FBD}" presName="spaceBetweenRectangles" presStyleCnt="0"/>
      <dgm:spPr/>
    </dgm:pt>
    <dgm:pt modelId="{03B9C99F-903F-4008-8113-79A9AA9C6F84}" type="pres">
      <dgm:prSet presAssocID="{61038848-5358-4C98-A3ED-7B90D361AB6A}" presName="parentLin" presStyleCnt="0"/>
      <dgm:spPr/>
    </dgm:pt>
    <dgm:pt modelId="{006FE7D3-2BE9-4AED-A83C-3DF2F2E57154}" type="pres">
      <dgm:prSet presAssocID="{61038848-5358-4C98-A3ED-7B90D361AB6A}" presName="parentLeftMargin" presStyleLbl="node1" presStyleIdx="1" presStyleCnt="3"/>
      <dgm:spPr/>
    </dgm:pt>
    <dgm:pt modelId="{D4983783-CBD7-4F48-A4BD-5FD50698419D}" type="pres">
      <dgm:prSet presAssocID="{61038848-5358-4C98-A3ED-7B90D361AB6A}" presName="parentText" presStyleLbl="node1" presStyleIdx="2" presStyleCnt="3">
        <dgm:presLayoutVars>
          <dgm:chMax val="0"/>
          <dgm:bulletEnabled val="1"/>
        </dgm:presLayoutVars>
      </dgm:prSet>
      <dgm:spPr/>
    </dgm:pt>
    <dgm:pt modelId="{F12C49D4-1B5A-48C7-88DA-F798E4023109}" type="pres">
      <dgm:prSet presAssocID="{61038848-5358-4C98-A3ED-7B90D361AB6A}" presName="negativeSpace" presStyleCnt="0"/>
      <dgm:spPr/>
    </dgm:pt>
    <dgm:pt modelId="{0AEB5EE8-F5A0-4CAE-8DA8-6D674DFE37DD}" type="pres">
      <dgm:prSet presAssocID="{61038848-5358-4C98-A3ED-7B90D361AB6A}" presName="childText" presStyleLbl="conFgAcc1" presStyleIdx="2" presStyleCnt="3">
        <dgm:presLayoutVars>
          <dgm:bulletEnabled val="1"/>
        </dgm:presLayoutVars>
      </dgm:prSet>
      <dgm:spPr/>
    </dgm:pt>
  </dgm:ptLst>
  <dgm:cxnLst>
    <dgm:cxn modelId="{07BE4700-2CEB-42C4-A27B-EE053A275C53}" srcId="{6DF3CF0F-2EE5-414C-8935-616E4002BA81}" destId="{47C5E146-28BF-4C98-884A-5FB88979D57A}" srcOrd="1" destOrd="0" parTransId="{AE485F0A-4B4F-430E-9350-C47EE1D2B7F0}" sibTransId="{66C9D606-1298-4C56-99B4-470805FD06AC}"/>
    <dgm:cxn modelId="{74952B0D-7161-4D0A-AF07-25ECBEAA866A}" type="presOf" srcId="{83754575-5057-408B-AB97-68DBF0A764E3}" destId="{A6D2D289-BECD-49C4-A40E-851E2F287616}" srcOrd="0" destOrd="0" presId="urn:microsoft.com/office/officeart/2005/8/layout/list1"/>
    <dgm:cxn modelId="{4E07D014-4DFE-43CF-BDBB-3285C603EA0D}" type="presOf" srcId="{2A29038F-96E1-43FA-A081-BB97D0258C5E}" destId="{C1B02623-C218-4C55-9BE5-5B08DF3637AD}" srcOrd="0" destOrd="0" presId="urn:microsoft.com/office/officeart/2005/8/layout/list1"/>
    <dgm:cxn modelId="{DFD55C19-EA0B-46A0-A938-E45CD0FD8BBE}" type="presOf" srcId="{6DF3CF0F-2EE5-414C-8935-616E4002BA81}" destId="{DCF504C3-1FCE-42EF-ACF5-2A77F1C1B840}" srcOrd="0" destOrd="0" presId="urn:microsoft.com/office/officeart/2005/8/layout/list1"/>
    <dgm:cxn modelId="{BA26DA24-CE9F-4826-892D-AA34376C2A41}" type="presOf" srcId="{6C8DB101-17AD-4995-9E24-DBDED3A926A5}" destId="{0AEB5EE8-F5A0-4CAE-8DA8-6D674DFE37DD}" srcOrd="0" destOrd="0" presId="urn:microsoft.com/office/officeart/2005/8/layout/list1"/>
    <dgm:cxn modelId="{FDFCB42A-7454-48A4-95E2-FA6BCFD26575}" type="presOf" srcId="{53F9BE93-DC31-4CA3-9A70-0E205E6C0DBD}" destId="{F0DCBB02-1C96-4DC2-AD49-D8EB6E97A4BF}" srcOrd="0" destOrd="0" presId="urn:microsoft.com/office/officeart/2005/8/layout/list1"/>
    <dgm:cxn modelId="{B7ED092D-54E3-451F-9861-C347DBB629EE}" type="presOf" srcId="{92E20CEE-E6C3-4D42-8E48-DF3643ED74B2}" destId="{0AEB5EE8-F5A0-4CAE-8DA8-6D674DFE37DD}" srcOrd="0" destOrd="1" presId="urn:microsoft.com/office/officeart/2005/8/layout/list1"/>
    <dgm:cxn modelId="{98906868-21D9-4D26-A371-ECA7E34BF0B5}" type="presOf" srcId="{6AA114F3-71E3-4FE5-96C0-67042578F631}" destId="{F0DCBB02-1C96-4DC2-AD49-D8EB6E97A4BF}" srcOrd="0" destOrd="1" presId="urn:microsoft.com/office/officeart/2005/8/layout/list1"/>
    <dgm:cxn modelId="{8646254D-D664-4739-B0B9-F3B7A154FDAA}" type="presOf" srcId="{61038848-5358-4C98-A3ED-7B90D361AB6A}" destId="{D4983783-CBD7-4F48-A4BD-5FD50698419D}" srcOrd="1" destOrd="0" presId="urn:microsoft.com/office/officeart/2005/8/layout/list1"/>
    <dgm:cxn modelId="{2D8F1873-F806-4DA5-8D5A-AF20A7DFF585}" srcId="{2A29038F-96E1-43FA-A081-BB97D0258C5E}" destId="{53F9BE93-DC31-4CA3-9A70-0E205E6C0DBD}" srcOrd="0" destOrd="0" parTransId="{0D93B36D-4C43-487B-85CD-6D2D6C1F9110}" sibTransId="{47753623-C434-4D42-BEED-8FD6D774BA38}"/>
    <dgm:cxn modelId="{2C138882-EC38-478A-BA93-A57DD477F275}" type="presOf" srcId="{61038848-5358-4C98-A3ED-7B90D361AB6A}" destId="{006FE7D3-2BE9-4AED-A83C-3DF2F2E57154}" srcOrd="0" destOrd="0" presId="urn:microsoft.com/office/officeart/2005/8/layout/list1"/>
    <dgm:cxn modelId="{C4EEBE8A-7156-4999-AECD-1BBAC0836A25}" type="presOf" srcId="{C2C6AEBB-265E-440A-8909-458483721B94}" destId="{1CAA6C0E-013B-467A-9FB7-F5A4BE00DFE3}" srcOrd="0" destOrd="0" presId="urn:microsoft.com/office/officeart/2005/8/layout/list1"/>
    <dgm:cxn modelId="{AB5BC38F-F099-437D-ACF0-CF5988379332}" srcId="{83754575-5057-408B-AB97-68DBF0A764E3}" destId="{6DF3CF0F-2EE5-414C-8935-616E4002BA81}" srcOrd="1" destOrd="0" parTransId="{7DC182E1-6B18-4082-8709-90C98C6439EF}" sibTransId="{654F9EDF-C788-40CF-822E-9710FB099FBD}"/>
    <dgm:cxn modelId="{6469B69B-2408-4A9B-99A9-054FFF44819A}" srcId="{83754575-5057-408B-AB97-68DBF0A764E3}" destId="{61038848-5358-4C98-A3ED-7B90D361AB6A}" srcOrd="2" destOrd="0" parTransId="{4608D529-6CE1-46F4-B7CC-27F78B971A98}" sibTransId="{CE5DC13F-AEEF-49FD-B220-8C2CB5E90BE8}"/>
    <dgm:cxn modelId="{9B1C71AB-BE6A-43B3-B58D-14C762EA87A7}" srcId="{6DF3CF0F-2EE5-414C-8935-616E4002BA81}" destId="{C2C6AEBB-265E-440A-8909-458483721B94}" srcOrd="0" destOrd="0" parTransId="{5B6B17AC-7A56-4631-8D7D-72552960FFAD}" sibTransId="{48DD27EC-C961-483C-8FAC-8BE34E6EFAE8}"/>
    <dgm:cxn modelId="{585754B2-647F-4C61-A2E9-E462DBBF8ED1}" srcId="{61038848-5358-4C98-A3ED-7B90D361AB6A}" destId="{6C8DB101-17AD-4995-9E24-DBDED3A926A5}" srcOrd="0" destOrd="0" parTransId="{7A8E471E-0535-489C-B358-CABD14EAF46F}" sibTransId="{5EE2992B-6D36-490A-A286-4DDDD2AF40DC}"/>
    <dgm:cxn modelId="{AC926FB3-644E-4C29-83AA-155C2848480F}" type="presOf" srcId="{47C5E146-28BF-4C98-884A-5FB88979D57A}" destId="{1CAA6C0E-013B-467A-9FB7-F5A4BE00DFE3}" srcOrd="0" destOrd="1" presId="urn:microsoft.com/office/officeart/2005/8/layout/list1"/>
    <dgm:cxn modelId="{AC10DFB4-B85E-4507-A030-74BD7ED748C7}" type="presOf" srcId="{2A29038F-96E1-43FA-A081-BB97D0258C5E}" destId="{D778DDC7-3879-4301-BB7C-8666E62EDEFE}" srcOrd="1" destOrd="0" presId="urn:microsoft.com/office/officeart/2005/8/layout/list1"/>
    <dgm:cxn modelId="{96F835B7-AED1-48E0-AF32-2B97FC1D1EB0}" type="presOf" srcId="{6DF3CF0F-2EE5-414C-8935-616E4002BA81}" destId="{6194DBA6-0821-4F63-9E89-1674888799F3}" srcOrd="1" destOrd="0" presId="urn:microsoft.com/office/officeart/2005/8/layout/list1"/>
    <dgm:cxn modelId="{191D03D5-37A9-459C-B7ED-DEC40619AFFE}" srcId="{2A29038F-96E1-43FA-A081-BB97D0258C5E}" destId="{6AA114F3-71E3-4FE5-96C0-67042578F631}" srcOrd="1" destOrd="0" parTransId="{0006C079-EFCA-4015-A11F-4E3BFEB7BE0E}" sibTransId="{39788FE3-259B-492A-B0F8-468F60ABC471}"/>
    <dgm:cxn modelId="{036D07D6-E447-48DF-810D-F2095BBCC2B9}" srcId="{83754575-5057-408B-AB97-68DBF0A764E3}" destId="{2A29038F-96E1-43FA-A081-BB97D0258C5E}" srcOrd="0" destOrd="0" parTransId="{7B5463C1-CCA7-4799-9FD7-58975D9FE9F1}" sibTransId="{D5F7A84A-27E7-48B6-BAA8-AF4785E0F9E6}"/>
    <dgm:cxn modelId="{3F6820FF-638C-42F7-B065-A6629B59B89D}" srcId="{61038848-5358-4C98-A3ED-7B90D361AB6A}" destId="{92E20CEE-E6C3-4D42-8E48-DF3643ED74B2}" srcOrd="1" destOrd="0" parTransId="{B2931459-2BFC-41D8-9EB3-1271462957A1}" sibTransId="{BAA3E7C6-B1FA-497F-B7D5-4228ECED7828}"/>
    <dgm:cxn modelId="{49B8410E-D083-4FCF-A6F7-65D2A1A4B2B6}" type="presParOf" srcId="{A6D2D289-BECD-49C4-A40E-851E2F287616}" destId="{8C607D3B-D5B6-4B53-83ED-7CBD2D21C181}" srcOrd="0" destOrd="0" presId="urn:microsoft.com/office/officeart/2005/8/layout/list1"/>
    <dgm:cxn modelId="{B5274DBE-EDAD-4AC7-9ADE-EA0063D66839}" type="presParOf" srcId="{8C607D3B-D5B6-4B53-83ED-7CBD2D21C181}" destId="{C1B02623-C218-4C55-9BE5-5B08DF3637AD}" srcOrd="0" destOrd="0" presId="urn:microsoft.com/office/officeart/2005/8/layout/list1"/>
    <dgm:cxn modelId="{54F41AA9-094F-465D-AF07-8C1E2E74F3F9}" type="presParOf" srcId="{8C607D3B-D5B6-4B53-83ED-7CBD2D21C181}" destId="{D778DDC7-3879-4301-BB7C-8666E62EDEFE}" srcOrd="1" destOrd="0" presId="urn:microsoft.com/office/officeart/2005/8/layout/list1"/>
    <dgm:cxn modelId="{CE9DDE3A-6040-47D4-81F9-DB0B062173AF}" type="presParOf" srcId="{A6D2D289-BECD-49C4-A40E-851E2F287616}" destId="{63E61833-BE43-4BD2-869C-0884B7E5C971}" srcOrd="1" destOrd="0" presId="urn:microsoft.com/office/officeart/2005/8/layout/list1"/>
    <dgm:cxn modelId="{9347700E-D611-4EEA-AFD2-268F05BA6501}" type="presParOf" srcId="{A6D2D289-BECD-49C4-A40E-851E2F287616}" destId="{F0DCBB02-1C96-4DC2-AD49-D8EB6E97A4BF}" srcOrd="2" destOrd="0" presId="urn:microsoft.com/office/officeart/2005/8/layout/list1"/>
    <dgm:cxn modelId="{2E876CF9-F7A0-43FA-A993-D9372BD3C335}" type="presParOf" srcId="{A6D2D289-BECD-49C4-A40E-851E2F287616}" destId="{4A54F622-13BC-4AE3-AED2-71C9A7A0BF72}" srcOrd="3" destOrd="0" presId="urn:microsoft.com/office/officeart/2005/8/layout/list1"/>
    <dgm:cxn modelId="{28DCA955-FEED-4692-8A14-E86B1576370F}" type="presParOf" srcId="{A6D2D289-BECD-49C4-A40E-851E2F287616}" destId="{DFF4E7AB-2567-4658-8818-FCF8606DA2D4}" srcOrd="4" destOrd="0" presId="urn:microsoft.com/office/officeart/2005/8/layout/list1"/>
    <dgm:cxn modelId="{BBE90E01-5E28-4129-A42C-471D6603AB9D}" type="presParOf" srcId="{DFF4E7AB-2567-4658-8818-FCF8606DA2D4}" destId="{DCF504C3-1FCE-42EF-ACF5-2A77F1C1B840}" srcOrd="0" destOrd="0" presId="urn:microsoft.com/office/officeart/2005/8/layout/list1"/>
    <dgm:cxn modelId="{2560227C-889D-40FB-9237-E65B8D723A98}" type="presParOf" srcId="{DFF4E7AB-2567-4658-8818-FCF8606DA2D4}" destId="{6194DBA6-0821-4F63-9E89-1674888799F3}" srcOrd="1" destOrd="0" presId="urn:microsoft.com/office/officeart/2005/8/layout/list1"/>
    <dgm:cxn modelId="{B99BCFBE-4D26-4C15-9C02-FB207367BA5A}" type="presParOf" srcId="{A6D2D289-BECD-49C4-A40E-851E2F287616}" destId="{65429B11-0F3A-401C-BEAA-EAD16D27489E}" srcOrd="5" destOrd="0" presId="urn:microsoft.com/office/officeart/2005/8/layout/list1"/>
    <dgm:cxn modelId="{465DD81D-2193-4DCC-A333-D70C3ACA1C12}" type="presParOf" srcId="{A6D2D289-BECD-49C4-A40E-851E2F287616}" destId="{1CAA6C0E-013B-467A-9FB7-F5A4BE00DFE3}" srcOrd="6" destOrd="0" presId="urn:microsoft.com/office/officeart/2005/8/layout/list1"/>
    <dgm:cxn modelId="{77276F50-1B06-490D-9798-4FF34723116E}" type="presParOf" srcId="{A6D2D289-BECD-49C4-A40E-851E2F287616}" destId="{B4416F96-BC83-4F64-9A6E-17DF817033A1}" srcOrd="7" destOrd="0" presId="urn:microsoft.com/office/officeart/2005/8/layout/list1"/>
    <dgm:cxn modelId="{EF212033-7C89-44F2-BD7A-1D4E585D6151}" type="presParOf" srcId="{A6D2D289-BECD-49C4-A40E-851E2F287616}" destId="{03B9C99F-903F-4008-8113-79A9AA9C6F84}" srcOrd="8" destOrd="0" presId="urn:microsoft.com/office/officeart/2005/8/layout/list1"/>
    <dgm:cxn modelId="{62C333A1-5044-498A-A9F6-567F8B5F963F}" type="presParOf" srcId="{03B9C99F-903F-4008-8113-79A9AA9C6F84}" destId="{006FE7D3-2BE9-4AED-A83C-3DF2F2E57154}" srcOrd="0" destOrd="0" presId="urn:microsoft.com/office/officeart/2005/8/layout/list1"/>
    <dgm:cxn modelId="{12F20633-8D7D-46A7-8799-F6E6069FD324}" type="presParOf" srcId="{03B9C99F-903F-4008-8113-79A9AA9C6F84}" destId="{D4983783-CBD7-4F48-A4BD-5FD50698419D}" srcOrd="1" destOrd="0" presId="urn:microsoft.com/office/officeart/2005/8/layout/list1"/>
    <dgm:cxn modelId="{CD6A9047-ECF7-4AAC-94CB-0A48CE5FEE34}" type="presParOf" srcId="{A6D2D289-BECD-49C4-A40E-851E2F287616}" destId="{F12C49D4-1B5A-48C7-88DA-F798E4023109}" srcOrd="9" destOrd="0" presId="urn:microsoft.com/office/officeart/2005/8/layout/list1"/>
    <dgm:cxn modelId="{A19D5682-4031-4E39-AE76-5C2BFF3B234E}" type="presParOf" srcId="{A6D2D289-BECD-49C4-A40E-851E2F287616}" destId="{0AEB5EE8-F5A0-4CAE-8DA8-6D674DFE37DD}" srcOrd="10"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xml><?xml version="1.0" encoding="utf-8"?>
<dgm:dataModel xmlns:dgm="http://schemas.openxmlformats.org/drawingml/2006/diagram" xmlns:a="http://schemas.openxmlformats.org/drawingml/2006/main">
  <dgm:ptLst>
    <dgm:pt modelId="{5F2EB51C-5378-41F1-9163-CAC4F44A1139}" type="doc">
      <dgm:prSet loTypeId="urn:microsoft.com/office/officeart/2008/layout/LinedList" loCatId="list" qsTypeId="urn:microsoft.com/office/officeart/2005/8/quickstyle/simple1" qsCatId="simple" csTypeId="urn:microsoft.com/office/officeart/2005/8/colors/accent1_2" csCatId="accent1"/>
      <dgm:spPr/>
      <dgm:t>
        <a:bodyPr/>
        <a:lstStyle/>
        <a:p>
          <a:endParaRPr lang="zh-CN" altLang="en-US"/>
        </a:p>
      </dgm:t>
    </dgm:pt>
    <dgm:pt modelId="{379181C2-7B07-42B8-85FA-A03AFCBD84A6}">
      <dgm:prSet custT="1"/>
      <dgm:spPr/>
      <dgm:t>
        <a:bodyPr/>
        <a:lstStyle/>
        <a:p>
          <a:r>
            <a:rPr lang="zh-CN" sz="2400" b="1" i="0" dirty="0">
              <a:latin typeface="+mj-ea"/>
              <a:ea typeface="+mj-ea"/>
            </a:rPr>
            <a:t>初期（</a:t>
          </a:r>
          <a:r>
            <a:rPr lang="en-US" sz="2400" b="1" i="0" dirty="0">
              <a:latin typeface="+mj-ea"/>
              <a:ea typeface="+mj-ea"/>
            </a:rPr>
            <a:t>BOM</a:t>
          </a:r>
          <a:r>
            <a:rPr lang="zh-CN" sz="2400" b="1" i="0" dirty="0">
              <a:latin typeface="+mj-ea"/>
              <a:ea typeface="+mj-ea"/>
            </a:rPr>
            <a:t>不全时）的答复策略是</a:t>
          </a:r>
          <a:r>
            <a:rPr lang="zh-CN" sz="3700" b="1" i="0" dirty="0"/>
            <a:t>：</a:t>
          </a:r>
          <a:endParaRPr lang="zh-CN" sz="3700" dirty="0"/>
        </a:p>
      </dgm:t>
    </dgm:pt>
    <dgm:pt modelId="{24737DF4-B5A5-4FF5-BDB0-7B174F6F59D3}" type="parTrans" cxnId="{4BEB144C-1AF8-4657-8741-7CCAAAC43136}">
      <dgm:prSet/>
      <dgm:spPr/>
      <dgm:t>
        <a:bodyPr/>
        <a:lstStyle/>
        <a:p>
          <a:endParaRPr lang="zh-CN" altLang="en-US"/>
        </a:p>
      </dgm:t>
    </dgm:pt>
    <dgm:pt modelId="{B345AD70-418C-402A-B088-E6B6BC5746AB}" type="sibTrans" cxnId="{4BEB144C-1AF8-4657-8741-7CCAAAC43136}">
      <dgm:prSet/>
      <dgm:spPr/>
      <dgm:t>
        <a:bodyPr/>
        <a:lstStyle/>
        <a:p>
          <a:endParaRPr lang="zh-CN" altLang="en-US"/>
        </a:p>
      </dgm:t>
    </dgm:pt>
    <dgm:pt modelId="{96339A7A-5B48-4DA5-BAE8-06B14664C09D}">
      <dgm:prSet/>
      <dgm:spPr/>
      <dgm:t>
        <a:bodyPr/>
        <a:lstStyle/>
        <a:p>
          <a:r>
            <a:rPr lang="zh-CN" b="1" i="0"/>
            <a:t>诚实透明</a:t>
          </a:r>
          <a:r>
            <a:rPr lang="zh-CN" b="0" i="0"/>
            <a:t>：明确告知客户不确定性所在。</a:t>
          </a:r>
          <a:endParaRPr lang="zh-CN"/>
        </a:p>
      </dgm:t>
    </dgm:pt>
    <dgm:pt modelId="{11A6856F-B2B4-4FA3-B022-C5742DC8C0D0}" type="parTrans" cxnId="{D9DD697A-41F4-4BF8-9CF9-744FF457C975}">
      <dgm:prSet/>
      <dgm:spPr/>
      <dgm:t>
        <a:bodyPr/>
        <a:lstStyle/>
        <a:p>
          <a:endParaRPr lang="zh-CN" altLang="en-US"/>
        </a:p>
      </dgm:t>
    </dgm:pt>
    <dgm:pt modelId="{C129C3E0-73FB-4C70-AF43-00DE4B562B29}" type="sibTrans" cxnId="{D9DD697A-41F4-4BF8-9CF9-744FF457C975}">
      <dgm:prSet/>
      <dgm:spPr/>
      <dgm:t>
        <a:bodyPr/>
        <a:lstStyle/>
        <a:p>
          <a:endParaRPr lang="zh-CN" altLang="en-US"/>
        </a:p>
      </dgm:t>
    </dgm:pt>
    <dgm:pt modelId="{564CBED2-9746-4C40-962A-C6036FCED766}">
      <dgm:prSet/>
      <dgm:spPr/>
      <dgm:t>
        <a:bodyPr/>
        <a:lstStyle/>
        <a:p>
          <a:r>
            <a:rPr lang="zh-CN" b="1" i="0"/>
            <a:t>基于里程碑</a:t>
          </a:r>
          <a:r>
            <a:rPr lang="zh-CN" b="0" i="0"/>
            <a:t>：将交期与清晰的设计阶段完成点挂钩。</a:t>
          </a:r>
          <a:endParaRPr lang="zh-CN"/>
        </a:p>
      </dgm:t>
    </dgm:pt>
    <dgm:pt modelId="{2EC353FD-0D2A-4F4F-8430-FA0A2BD4E934}" type="parTrans" cxnId="{84AEA6C4-E50B-422B-A642-DD3D613C4274}">
      <dgm:prSet/>
      <dgm:spPr/>
      <dgm:t>
        <a:bodyPr/>
        <a:lstStyle/>
        <a:p>
          <a:endParaRPr lang="zh-CN" altLang="en-US"/>
        </a:p>
      </dgm:t>
    </dgm:pt>
    <dgm:pt modelId="{BA9010F9-1133-482B-B849-20FC5208CE51}" type="sibTrans" cxnId="{84AEA6C4-E50B-422B-A642-DD3D613C4274}">
      <dgm:prSet/>
      <dgm:spPr/>
      <dgm:t>
        <a:bodyPr/>
        <a:lstStyle/>
        <a:p>
          <a:endParaRPr lang="zh-CN" altLang="en-US"/>
        </a:p>
      </dgm:t>
    </dgm:pt>
    <dgm:pt modelId="{D04C67EC-8E03-442C-A9E2-AE9B58485C81}">
      <dgm:prSet/>
      <dgm:spPr/>
      <dgm:t>
        <a:bodyPr/>
        <a:lstStyle/>
        <a:p>
          <a:r>
            <a:rPr lang="zh-CN" b="1" i="0"/>
            <a:t>管理预期</a:t>
          </a:r>
          <a:r>
            <a:rPr lang="zh-CN" b="0" i="0"/>
            <a:t>：提供时间范围而非具体日期，并说明下一步获取更准确信息的节点。</a:t>
          </a:r>
          <a:endParaRPr lang="zh-CN"/>
        </a:p>
      </dgm:t>
    </dgm:pt>
    <dgm:pt modelId="{B512CC1D-A6C2-42BE-A686-40C93099E365}" type="parTrans" cxnId="{F982E31C-6697-4A88-B3AF-F8A6A663DCF2}">
      <dgm:prSet/>
      <dgm:spPr/>
      <dgm:t>
        <a:bodyPr/>
        <a:lstStyle/>
        <a:p>
          <a:endParaRPr lang="zh-CN" altLang="en-US"/>
        </a:p>
      </dgm:t>
    </dgm:pt>
    <dgm:pt modelId="{0C0ADDD9-32B5-4EAD-BE07-1132D4872BA8}" type="sibTrans" cxnId="{F982E31C-6697-4A88-B3AF-F8A6A663DCF2}">
      <dgm:prSet/>
      <dgm:spPr/>
      <dgm:t>
        <a:bodyPr/>
        <a:lstStyle/>
        <a:p>
          <a:endParaRPr lang="zh-CN" altLang="en-US"/>
        </a:p>
      </dgm:t>
    </dgm:pt>
    <dgm:pt modelId="{557C7F6B-D067-42F0-90C4-8B7A0B4D5F8A}">
      <dgm:prSet/>
      <dgm:spPr/>
      <dgm:t>
        <a:bodyPr/>
        <a:lstStyle/>
        <a:p>
          <a:r>
            <a:rPr lang="zh-CN" b="1" i="0"/>
            <a:t>聚焦关键路径</a:t>
          </a:r>
          <a:r>
            <a:rPr lang="zh-CN" b="0" i="0"/>
            <a:t>：优先识别和承诺长周期物料的节点，这本身就是对总交期的有效控制</a:t>
          </a:r>
          <a:endParaRPr lang="zh-CN"/>
        </a:p>
      </dgm:t>
    </dgm:pt>
    <dgm:pt modelId="{6DC47659-6081-4BEF-873E-34F16584A6D6}" type="parTrans" cxnId="{CF4B3DED-1433-456B-9122-D85B7ADA770A}">
      <dgm:prSet/>
      <dgm:spPr/>
      <dgm:t>
        <a:bodyPr/>
        <a:lstStyle/>
        <a:p>
          <a:endParaRPr lang="zh-CN" altLang="en-US"/>
        </a:p>
      </dgm:t>
    </dgm:pt>
    <dgm:pt modelId="{8D24C666-131F-4F61-87E1-D8B9070F1D8B}" type="sibTrans" cxnId="{CF4B3DED-1433-456B-9122-D85B7ADA770A}">
      <dgm:prSet/>
      <dgm:spPr/>
      <dgm:t>
        <a:bodyPr/>
        <a:lstStyle/>
        <a:p>
          <a:endParaRPr lang="zh-CN" altLang="en-US"/>
        </a:p>
      </dgm:t>
    </dgm:pt>
    <dgm:pt modelId="{5C6B26A8-8FB7-47F8-BA13-C02B17BBD9F4}" type="pres">
      <dgm:prSet presAssocID="{5F2EB51C-5378-41F1-9163-CAC4F44A1139}" presName="vert0" presStyleCnt="0">
        <dgm:presLayoutVars>
          <dgm:dir/>
          <dgm:animOne val="branch"/>
          <dgm:animLvl val="lvl"/>
        </dgm:presLayoutVars>
      </dgm:prSet>
      <dgm:spPr/>
    </dgm:pt>
    <dgm:pt modelId="{44AFED79-1DB6-47D1-A396-14EC49326CA4}" type="pres">
      <dgm:prSet presAssocID="{379181C2-7B07-42B8-85FA-A03AFCBD84A6}" presName="thickLine" presStyleLbl="alignNode1" presStyleIdx="0" presStyleCnt="1"/>
      <dgm:spPr/>
    </dgm:pt>
    <dgm:pt modelId="{63B541FD-C5E2-4F05-9B5F-022777DF286A}" type="pres">
      <dgm:prSet presAssocID="{379181C2-7B07-42B8-85FA-A03AFCBD84A6}" presName="horz1" presStyleCnt="0"/>
      <dgm:spPr/>
    </dgm:pt>
    <dgm:pt modelId="{39F7EDC7-040E-4195-BB2F-9D6C95BA2078}" type="pres">
      <dgm:prSet presAssocID="{379181C2-7B07-42B8-85FA-A03AFCBD84A6}" presName="tx1" presStyleLbl="revTx" presStyleIdx="0" presStyleCnt="5"/>
      <dgm:spPr/>
    </dgm:pt>
    <dgm:pt modelId="{3AB8558F-8240-4B23-A6AA-72A2246AEC80}" type="pres">
      <dgm:prSet presAssocID="{379181C2-7B07-42B8-85FA-A03AFCBD84A6}" presName="vert1" presStyleCnt="0"/>
      <dgm:spPr/>
    </dgm:pt>
    <dgm:pt modelId="{823C0CC9-8F97-44DD-B1C5-6630220D7B04}" type="pres">
      <dgm:prSet presAssocID="{96339A7A-5B48-4DA5-BAE8-06B14664C09D}" presName="vertSpace2a" presStyleCnt="0"/>
      <dgm:spPr/>
    </dgm:pt>
    <dgm:pt modelId="{03C8E58E-D6C2-43CB-AAE9-A01327E8BA04}" type="pres">
      <dgm:prSet presAssocID="{96339A7A-5B48-4DA5-BAE8-06B14664C09D}" presName="horz2" presStyleCnt="0"/>
      <dgm:spPr/>
    </dgm:pt>
    <dgm:pt modelId="{3E6711AF-B6A9-4494-AD55-F41D9211B41A}" type="pres">
      <dgm:prSet presAssocID="{96339A7A-5B48-4DA5-BAE8-06B14664C09D}" presName="horzSpace2" presStyleCnt="0"/>
      <dgm:spPr/>
    </dgm:pt>
    <dgm:pt modelId="{829AA841-E9A8-4964-8B3E-DF53325B04FF}" type="pres">
      <dgm:prSet presAssocID="{96339A7A-5B48-4DA5-BAE8-06B14664C09D}" presName="tx2" presStyleLbl="revTx" presStyleIdx="1" presStyleCnt="5"/>
      <dgm:spPr/>
    </dgm:pt>
    <dgm:pt modelId="{AC2DB803-9F34-4D72-8067-D38147D90C41}" type="pres">
      <dgm:prSet presAssocID="{96339A7A-5B48-4DA5-BAE8-06B14664C09D}" presName="vert2" presStyleCnt="0"/>
      <dgm:spPr/>
    </dgm:pt>
    <dgm:pt modelId="{E6D27C57-CA65-4DA7-968F-4101D7061D42}" type="pres">
      <dgm:prSet presAssocID="{96339A7A-5B48-4DA5-BAE8-06B14664C09D}" presName="thinLine2b" presStyleLbl="callout" presStyleIdx="0" presStyleCnt="4"/>
      <dgm:spPr/>
    </dgm:pt>
    <dgm:pt modelId="{1BFE250A-6056-4E99-8036-48E6531D58D8}" type="pres">
      <dgm:prSet presAssocID="{96339A7A-5B48-4DA5-BAE8-06B14664C09D}" presName="vertSpace2b" presStyleCnt="0"/>
      <dgm:spPr/>
    </dgm:pt>
    <dgm:pt modelId="{C49B03BB-B372-45BD-B5E9-1EB3D0B62FB0}" type="pres">
      <dgm:prSet presAssocID="{564CBED2-9746-4C40-962A-C6036FCED766}" presName="horz2" presStyleCnt="0"/>
      <dgm:spPr/>
    </dgm:pt>
    <dgm:pt modelId="{83785D80-785D-41E1-9D9E-A749CAD6B0F7}" type="pres">
      <dgm:prSet presAssocID="{564CBED2-9746-4C40-962A-C6036FCED766}" presName="horzSpace2" presStyleCnt="0"/>
      <dgm:spPr/>
    </dgm:pt>
    <dgm:pt modelId="{79CF16F0-4B71-4E08-A187-65ACDE91BE88}" type="pres">
      <dgm:prSet presAssocID="{564CBED2-9746-4C40-962A-C6036FCED766}" presName="tx2" presStyleLbl="revTx" presStyleIdx="2" presStyleCnt="5"/>
      <dgm:spPr/>
    </dgm:pt>
    <dgm:pt modelId="{2D0B3AE2-209F-4F8D-8708-BE534D79D3C7}" type="pres">
      <dgm:prSet presAssocID="{564CBED2-9746-4C40-962A-C6036FCED766}" presName="vert2" presStyleCnt="0"/>
      <dgm:spPr/>
    </dgm:pt>
    <dgm:pt modelId="{DDECCD03-BEC3-45F1-9E55-567B10AFACE5}" type="pres">
      <dgm:prSet presAssocID="{564CBED2-9746-4C40-962A-C6036FCED766}" presName="thinLine2b" presStyleLbl="callout" presStyleIdx="1" presStyleCnt="4"/>
      <dgm:spPr/>
    </dgm:pt>
    <dgm:pt modelId="{28DF153D-E0F7-4CD9-8AA8-E2C3DE4919E9}" type="pres">
      <dgm:prSet presAssocID="{564CBED2-9746-4C40-962A-C6036FCED766}" presName="vertSpace2b" presStyleCnt="0"/>
      <dgm:spPr/>
    </dgm:pt>
    <dgm:pt modelId="{A172F10E-05ED-452A-B1FF-AEBCDCFA47BF}" type="pres">
      <dgm:prSet presAssocID="{D04C67EC-8E03-442C-A9E2-AE9B58485C81}" presName="horz2" presStyleCnt="0"/>
      <dgm:spPr/>
    </dgm:pt>
    <dgm:pt modelId="{E129417D-9203-46A4-A447-D37B264BC666}" type="pres">
      <dgm:prSet presAssocID="{D04C67EC-8E03-442C-A9E2-AE9B58485C81}" presName="horzSpace2" presStyleCnt="0"/>
      <dgm:spPr/>
    </dgm:pt>
    <dgm:pt modelId="{F3441423-F747-4524-996C-BBEB44CB35F8}" type="pres">
      <dgm:prSet presAssocID="{D04C67EC-8E03-442C-A9E2-AE9B58485C81}" presName="tx2" presStyleLbl="revTx" presStyleIdx="3" presStyleCnt="5"/>
      <dgm:spPr/>
    </dgm:pt>
    <dgm:pt modelId="{685A5E7D-4ABF-4510-89C7-4B74DAA91B83}" type="pres">
      <dgm:prSet presAssocID="{D04C67EC-8E03-442C-A9E2-AE9B58485C81}" presName="vert2" presStyleCnt="0"/>
      <dgm:spPr/>
    </dgm:pt>
    <dgm:pt modelId="{450F3FE6-30EE-4B03-A13B-106B3FBD48DA}" type="pres">
      <dgm:prSet presAssocID="{D04C67EC-8E03-442C-A9E2-AE9B58485C81}" presName="thinLine2b" presStyleLbl="callout" presStyleIdx="2" presStyleCnt="4"/>
      <dgm:spPr/>
    </dgm:pt>
    <dgm:pt modelId="{6C3BE32B-DB7B-4041-84A1-1B663610DE8B}" type="pres">
      <dgm:prSet presAssocID="{D04C67EC-8E03-442C-A9E2-AE9B58485C81}" presName="vertSpace2b" presStyleCnt="0"/>
      <dgm:spPr/>
    </dgm:pt>
    <dgm:pt modelId="{54DF745B-C9EA-4502-A052-45A182A80AD5}" type="pres">
      <dgm:prSet presAssocID="{557C7F6B-D067-42F0-90C4-8B7A0B4D5F8A}" presName="horz2" presStyleCnt="0"/>
      <dgm:spPr/>
    </dgm:pt>
    <dgm:pt modelId="{3FE2FA22-0D30-4008-918C-FAAD01A4FBB0}" type="pres">
      <dgm:prSet presAssocID="{557C7F6B-D067-42F0-90C4-8B7A0B4D5F8A}" presName="horzSpace2" presStyleCnt="0"/>
      <dgm:spPr/>
    </dgm:pt>
    <dgm:pt modelId="{358F13F0-81BE-4BAF-A9C7-2F2DEC66BFF4}" type="pres">
      <dgm:prSet presAssocID="{557C7F6B-D067-42F0-90C4-8B7A0B4D5F8A}" presName="tx2" presStyleLbl="revTx" presStyleIdx="4" presStyleCnt="5"/>
      <dgm:spPr/>
    </dgm:pt>
    <dgm:pt modelId="{CC3A8724-4878-4C61-A9CE-21D8F31AB059}" type="pres">
      <dgm:prSet presAssocID="{557C7F6B-D067-42F0-90C4-8B7A0B4D5F8A}" presName="vert2" presStyleCnt="0"/>
      <dgm:spPr/>
    </dgm:pt>
    <dgm:pt modelId="{13C6A2FD-F55B-4C4E-AB91-B266A9E1BC95}" type="pres">
      <dgm:prSet presAssocID="{557C7F6B-D067-42F0-90C4-8B7A0B4D5F8A}" presName="thinLine2b" presStyleLbl="callout" presStyleIdx="3" presStyleCnt="4"/>
      <dgm:spPr/>
    </dgm:pt>
    <dgm:pt modelId="{A366AB4F-C58E-4914-8580-C5C86250B9B1}" type="pres">
      <dgm:prSet presAssocID="{557C7F6B-D067-42F0-90C4-8B7A0B4D5F8A}" presName="vertSpace2b" presStyleCnt="0"/>
      <dgm:spPr/>
    </dgm:pt>
  </dgm:ptLst>
  <dgm:cxnLst>
    <dgm:cxn modelId="{5450470C-637A-4434-B8A4-2054E9B818FF}" type="presOf" srcId="{564CBED2-9746-4C40-962A-C6036FCED766}" destId="{79CF16F0-4B71-4E08-A187-65ACDE91BE88}" srcOrd="0" destOrd="0" presId="urn:microsoft.com/office/officeart/2008/layout/LinedList"/>
    <dgm:cxn modelId="{A668C610-06C5-42B3-B0A0-D86B5C2DF318}" type="presOf" srcId="{D04C67EC-8E03-442C-A9E2-AE9B58485C81}" destId="{F3441423-F747-4524-996C-BBEB44CB35F8}" srcOrd="0" destOrd="0" presId="urn:microsoft.com/office/officeart/2008/layout/LinedList"/>
    <dgm:cxn modelId="{F982E31C-6697-4A88-B3AF-F8A6A663DCF2}" srcId="{379181C2-7B07-42B8-85FA-A03AFCBD84A6}" destId="{D04C67EC-8E03-442C-A9E2-AE9B58485C81}" srcOrd="2" destOrd="0" parTransId="{B512CC1D-A6C2-42BE-A686-40C93099E365}" sibTransId="{0C0ADDD9-32B5-4EAD-BE07-1132D4872BA8}"/>
    <dgm:cxn modelId="{4BEB144C-1AF8-4657-8741-7CCAAAC43136}" srcId="{5F2EB51C-5378-41F1-9163-CAC4F44A1139}" destId="{379181C2-7B07-42B8-85FA-A03AFCBD84A6}" srcOrd="0" destOrd="0" parTransId="{24737DF4-B5A5-4FF5-BDB0-7B174F6F59D3}" sibTransId="{B345AD70-418C-402A-B088-E6B6BC5746AB}"/>
    <dgm:cxn modelId="{D9DD697A-41F4-4BF8-9CF9-744FF457C975}" srcId="{379181C2-7B07-42B8-85FA-A03AFCBD84A6}" destId="{96339A7A-5B48-4DA5-BAE8-06B14664C09D}" srcOrd="0" destOrd="0" parTransId="{11A6856F-B2B4-4FA3-B022-C5742DC8C0D0}" sibTransId="{C129C3E0-73FB-4C70-AF43-00DE4B562B29}"/>
    <dgm:cxn modelId="{107E0081-2184-46B0-AF82-B84D5347F796}" type="presOf" srcId="{379181C2-7B07-42B8-85FA-A03AFCBD84A6}" destId="{39F7EDC7-040E-4195-BB2F-9D6C95BA2078}" srcOrd="0" destOrd="0" presId="urn:microsoft.com/office/officeart/2008/layout/LinedList"/>
    <dgm:cxn modelId="{17A17482-DB88-4162-A349-6560A8C55462}" type="presOf" srcId="{557C7F6B-D067-42F0-90C4-8B7A0B4D5F8A}" destId="{358F13F0-81BE-4BAF-A9C7-2F2DEC66BFF4}" srcOrd="0" destOrd="0" presId="urn:microsoft.com/office/officeart/2008/layout/LinedList"/>
    <dgm:cxn modelId="{7A196789-EAE0-40E4-B512-A88F9892B3DC}" type="presOf" srcId="{5F2EB51C-5378-41F1-9163-CAC4F44A1139}" destId="{5C6B26A8-8FB7-47F8-BA13-C02B17BBD9F4}" srcOrd="0" destOrd="0" presId="urn:microsoft.com/office/officeart/2008/layout/LinedList"/>
    <dgm:cxn modelId="{6F52FD93-F289-491F-923A-FFD27DDB9069}" type="presOf" srcId="{96339A7A-5B48-4DA5-BAE8-06B14664C09D}" destId="{829AA841-E9A8-4964-8B3E-DF53325B04FF}" srcOrd="0" destOrd="0" presId="urn:microsoft.com/office/officeart/2008/layout/LinedList"/>
    <dgm:cxn modelId="{84AEA6C4-E50B-422B-A642-DD3D613C4274}" srcId="{379181C2-7B07-42B8-85FA-A03AFCBD84A6}" destId="{564CBED2-9746-4C40-962A-C6036FCED766}" srcOrd="1" destOrd="0" parTransId="{2EC353FD-0D2A-4F4F-8430-FA0A2BD4E934}" sibTransId="{BA9010F9-1133-482B-B849-20FC5208CE51}"/>
    <dgm:cxn modelId="{CF4B3DED-1433-456B-9122-D85B7ADA770A}" srcId="{379181C2-7B07-42B8-85FA-A03AFCBD84A6}" destId="{557C7F6B-D067-42F0-90C4-8B7A0B4D5F8A}" srcOrd="3" destOrd="0" parTransId="{6DC47659-6081-4BEF-873E-34F16584A6D6}" sibTransId="{8D24C666-131F-4F61-87E1-D8B9070F1D8B}"/>
    <dgm:cxn modelId="{15079E67-36C2-4BE1-9317-C63C950A8F81}" type="presParOf" srcId="{5C6B26A8-8FB7-47F8-BA13-C02B17BBD9F4}" destId="{44AFED79-1DB6-47D1-A396-14EC49326CA4}" srcOrd="0" destOrd="0" presId="urn:microsoft.com/office/officeart/2008/layout/LinedList"/>
    <dgm:cxn modelId="{A582FF4A-F93B-48E7-A306-9D22B34665A4}" type="presParOf" srcId="{5C6B26A8-8FB7-47F8-BA13-C02B17BBD9F4}" destId="{63B541FD-C5E2-4F05-9B5F-022777DF286A}" srcOrd="1" destOrd="0" presId="urn:microsoft.com/office/officeart/2008/layout/LinedList"/>
    <dgm:cxn modelId="{C28B2F4D-4E38-4B83-B2C2-78257E35897F}" type="presParOf" srcId="{63B541FD-C5E2-4F05-9B5F-022777DF286A}" destId="{39F7EDC7-040E-4195-BB2F-9D6C95BA2078}" srcOrd="0" destOrd="0" presId="urn:microsoft.com/office/officeart/2008/layout/LinedList"/>
    <dgm:cxn modelId="{95FFB4C2-0E6B-4D5B-9A69-77F15CA91297}" type="presParOf" srcId="{63B541FD-C5E2-4F05-9B5F-022777DF286A}" destId="{3AB8558F-8240-4B23-A6AA-72A2246AEC80}" srcOrd="1" destOrd="0" presId="urn:microsoft.com/office/officeart/2008/layout/LinedList"/>
    <dgm:cxn modelId="{288548C0-552F-4ECA-9AFC-C0D20DCACBD9}" type="presParOf" srcId="{3AB8558F-8240-4B23-A6AA-72A2246AEC80}" destId="{823C0CC9-8F97-44DD-B1C5-6630220D7B04}" srcOrd="0" destOrd="0" presId="urn:microsoft.com/office/officeart/2008/layout/LinedList"/>
    <dgm:cxn modelId="{9D6F8830-6CEA-4971-9A41-92582983486B}" type="presParOf" srcId="{3AB8558F-8240-4B23-A6AA-72A2246AEC80}" destId="{03C8E58E-D6C2-43CB-AAE9-A01327E8BA04}" srcOrd="1" destOrd="0" presId="urn:microsoft.com/office/officeart/2008/layout/LinedList"/>
    <dgm:cxn modelId="{3B609C3C-BA9F-4968-8244-1F466B5E10BA}" type="presParOf" srcId="{03C8E58E-D6C2-43CB-AAE9-A01327E8BA04}" destId="{3E6711AF-B6A9-4494-AD55-F41D9211B41A}" srcOrd="0" destOrd="0" presId="urn:microsoft.com/office/officeart/2008/layout/LinedList"/>
    <dgm:cxn modelId="{739E1168-249C-42C0-A678-92E63C39F394}" type="presParOf" srcId="{03C8E58E-D6C2-43CB-AAE9-A01327E8BA04}" destId="{829AA841-E9A8-4964-8B3E-DF53325B04FF}" srcOrd="1" destOrd="0" presId="urn:microsoft.com/office/officeart/2008/layout/LinedList"/>
    <dgm:cxn modelId="{1AFAB87C-87B6-4D7B-8E22-4C13FFC1184B}" type="presParOf" srcId="{03C8E58E-D6C2-43CB-AAE9-A01327E8BA04}" destId="{AC2DB803-9F34-4D72-8067-D38147D90C41}" srcOrd="2" destOrd="0" presId="urn:microsoft.com/office/officeart/2008/layout/LinedList"/>
    <dgm:cxn modelId="{41FFBBEE-C37B-4497-94B0-BBAC5EAAF3F6}" type="presParOf" srcId="{3AB8558F-8240-4B23-A6AA-72A2246AEC80}" destId="{E6D27C57-CA65-4DA7-968F-4101D7061D42}" srcOrd="2" destOrd="0" presId="urn:microsoft.com/office/officeart/2008/layout/LinedList"/>
    <dgm:cxn modelId="{B6137B8E-E504-4708-B89A-1B8D30EF4BF0}" type="presParOf" srcId="{3AB8558F-8240-4B23-A6AA-72A2246AEC80}" destId="{1BFE250A-6056-4E99-8036-48E6531D58D8}" srcOrd="3" destOrd="0" presId="urn:microsoft.com/office/officeart/2008/layout/LinedList"/>
    <dgm:cxn modelId="{B95E20A0-5DC4-4C9E-8AB0-70073D01FDB4}" type="presParOf" srcId="{3AB8558F-8240-4B23-A6AA-72A2246AEC80}" destId="{C49B03BB-B372-45BD-B5E9-1EB3D0B62FB0}" srcOrd="4" destOrd="0" presId="urn:microsoft.com/office/officeart/2008/layout/LinedList"/>
    <dgm:cxn modelId="{7EACE768-BAF1-47F0-81F9-F8CFBC543764}" type="presParOf" srcId="{C49B03BB-B372-45BD-B5E9-1EB3D0B62FB0}" destId="{83785D80-785D-41E1-9D9E-A749CAD6B0F7}" srcOrd="0" destOrd="0" presId="urn:microsoft.com/office/officeart/2008/layout/LinedList"/>
    <dgm:cxn modelId="{3580756C-8C08-4636-93D5-48F18342CD4A}" type="presParOf" srcId="{C49B03BB-B372-45BD-B5E9-1EB3D0B62FB0}" destId="{79CF16F0-4B71-4E08-A187-65ACDE91BE88}" srcOrd="1" destOrd="0" presId="urn:microsoft.com/office/officeart/2008/layout/LinedList"/>
    <dgm:cxn modelId="{FED404B1-2405-4A1E-8C7A-90773275B9B1}" type="presParOf" srcId="{C49B03BB-B372-45BD-B5E9-1EB3D0B62FB0}" destId="{2D0B3AE2-209F-4F8D-8708-BE534D79D3C7}" srcOrd="2" destOrd="0" presId="urn:microsoft.com/office/officeart/2008/layout/LinedList"/>
    <dgm:cxn modelId="{DD724C3F-8596-4100-A8DA-162EFEC446FF}" type="presParOf" srcId="{3AB8558F-8240-4B23-A6AA-72A2246AEC80}" destId="{DDECCD03-BEC3-45F1-9E55-567B10AFACE5}" srcOrd="5" destOrd="0" presId="urn:microsoft.com/office/officeart/2008/layout/LinedList"/>
    <dgm:cxn modelId="{B1A29687-3369-457C-BEF5-16557E51F80C}" type="presParOf" srcId="{3AB8558F-8240-4B23-A6AA-72A2246AEC80}" destId="{28DF153D-E0F7-4CD9-8AA8-E2C3DE4919E9}" srcOrd="6" destOrd="0" presId="urn:microsoft.com/office/officeart/2008/layout/LinedList"/>
    <dgm:cxn modelId="{33B9C7E8-256B-4AEF-95DE-D327AFBE39D4}" type="presParOf" srcId="{3AB8558F-8240-4B23-A6AA-72A2246AEC80}" destId="{A172F10E-05ED-452A-B1FF-AEBCDCFA47BF}" srcOrd="7" destOrd="0" presId="urn:microsoft.com/office/officeart/2008/layout/LinedList"/>
    <dgm:cxn modelId="{F6EF6C23-DE54-4265-90A5-43FAB2970AC6}" type="presParOf" srcId="{A172F10E-05ED-452A-B1FF-AEBCDCFA47BF}" destId="{E129417D-9203-46A4-A447-D37B264BC666}" srcOrd="0" destOrd="0" presId="urn:microsoft.com/office/officeart/2008/layout/LinedList"/>
    <dgm:cxn modelId="{AB7A8F03-467B-477C-8B27-29C97D6D0FCB}" type="presParOf" srcId="{A172F10E-05ED-452A-B1FF-AEBCDCFA47BF}" destId="{F3441423-F747-4524-996C-BBEB44CB35F8}" srcOrd="1" destOrd="0" presId="urn:microsoft.com/office/officeart/2008/layout/LinedList"/>
    <dgm:cxn modelId="{1CB944B7-8897-4245-9554-2B4446215411}" type="presParOf" srcId="{A172F10E-05ED-452A-B1FF-AEBCDCFA47BF}" destId="{685A5E7D-4ABF-4510-89C7-4B74DAA91B83}" srcOrd="2" destOrd="0" presId="urn:microsoft.com/office/officeart/2008/layout/LinedList"/>
    <dgm:cxn modelId="{EAC79DC9-D597-420E-841B-0D8BE00439A0}" type="presParOf" srcId="{3AB8558F-8240-4B23-A6AA-72A2246AEC80}" destId="{450F3FE6-30EE-4B03-A13B-106B3FBD48DA}" srcOrd="8" destOrd="0" presId="urn:microsoft.com/office/officeart/2008/layout/LinedList"/>
    <dgm:cxn modelId="{7CD8F507-4563-4A97-95C9-32132D6BB3F5}" type="presParOf" srcId="{3AB8558F-8240-4B23-A6AA-72A2246AEC80}" destId="{6C3BE32B-DB7B-4041-84A1-1B663610DE8B}" srcOrd="9" destOrd="0" presId="urn:microsoft.com/office/officeart/2008/layout/LinedList"/>
    <dgm:cxn modelId="{0FD32E20-6256-4CA5-9977-3459820A9550}" type="presParOf" srcId="{3AB8558F-8240-4B23-A6AA-72A2246AEC80}" destId="{54DF745B-C9EA-4502-A052-45A182A80AD5}" srcOrd="10" destOrd="0" presId="urn:microsoft.com/office/officeart/2008/layout/LinedList"/>
    <dgm:cxn modelId="{B67243E6-624F-4E5D-A7AB-3E733FE1FDA8}" type="presParOf" srcId="{54DF745B-C9EA-4502-A052-45A182A80AD5}" destId="{3FE2FA22-0D30-4008-918C-FAAD01A4FBB0}" srcOrd="0" destOrd="0" presId="urn:microsoft.com/office/officeart/2008/layout/LinedList"/>
    <dgm:cxn modelId="{2A3A0540-8F64-4DFE-99A1-1F8E112450B6}" type="presParOf" srcId="{54DF745B-C9EA-4502-A052-45A182A80AD5}" destId="{358F13F0-81BE-4BAF-A9C7-2F2DEC66BFF4}" srcOrd="1" destOrd="0" presId="urn:microsoft.com/office/officeart/2008/layout/LinedList"/>
    <dgm:cxn modelId="{1AB00207-E8A3-4234-88D0-C27B9CE7E6C1}" type="presParOf" srcId="{54DF745B-C9EA-4502-A052-45A182A80AD5}" destId="{CC3A8724-4878-4C61-A9CE-21D8F31AB059}" srcOrd="2" destOrd="0" presId="urn:microsoft.com/office/officeart/2008/layout/LinedList"/>
    <dgm:cxn modelId="{5D9EDC13-0A38-455F-B2BC-A1A5CF81F980}" type="presParOf" srcId="{3AB8558F-8240-4B23-A6AA-72A2246AEC80}" destId="{13C6A2FD-F55B-4C4E-AB91-B266A9E1BC95}" srcOrd="11" destOrd="0" presId="urn:microsoft.com/office/officeart/2008/layout/LinedList"/>
    <dgm:cxn modelId="{052484FB-0E11-4C26-AC71-84FE1BDD9D44}" type="presParOf" srcId="{3AB8558F-8240-4B23-A6AA-72A2246AEC80}" destId="{A366AB4F-C58E-4914-8580-C5C86250B9B1}" srcOrd="12"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xml><?xml version="1.0" encoding="utf-8"?>
<dgm:dataModel xmlns:dgm="http://schemas.openxmlformats.org/drawingml/2006/diagram" xmlns:a="http://schemas.openxmlformats.org/drawingml/2006/main">
  <dgm:ptLst>
    <dgm:pt modelId="{59461A0E-A718-41D9-BCA4-84AD27A6FE6B}" type="doc">
      <dgm:prSet loTypeId="urn:microsoft.com/office/officeart/2005/8/layout/list1" loCatId="list" qsTypeId="urn:microsoft.com/office/officeart/2005/8/quickstyle/simple1" qsCatId="simple" csTypeId="urn:microsoft.com/office/officeart/2005/8/colors/accent1_2" csCatId="accent1" phldr="1"/>
      <dgm:spPr/>
      <dgm:t>
        <a:bodyPr/>
        <a:lstStyle/>
        <a:p>
          <a:endParaRPr lang="zh-CN" altLang="en-US"/>
        </a:p>
      </dgm:t>
    </dgm:pt>
    <dgm:pt modelId="{BFC23725-A035-4147-918C-FBB14BE3BC3F}">
      <dgm:prSet custT="1"/>
      <dgm:spPr/>
      <dgm:t>
        <a:bodyPr/>
        <a:lstStyle/>
        <a:p>
          <a:r>
            <a:rPr lang="zh-CN" altLang="en-US" sz="1400" b="1" i="0">
              <a:latin typeface="+mj-ea"/>
              <a:ea typeface="+mj-ea"/>
            </a:rPr>
            <a:t>目标：业务算法与统一的数据模型作为运营的核心</a:t>
          </a:r>
          <a:endParaRPr lang="zh-CN" altLang="en-US" sz="1400" b="1">
            <a:latin typeface="+mj-ea"/>
            <a:ea typeface="+mj-ea"/>
          </a:endParaRPr>
        </a:p>
      </dgm:t>
    </dgm:pt>
    <dgm:pt modelId="{A1CE048B-04EC-4522-A41D-669B7171C743}" type="parTrans" cxnId="{303C3765-B9AA-4937-B4AB-CFBF064BC12C}">
      <dgm:prSet/>
      <dgm:spPr/>
      <dgm:t>
        <a:bodyPr/>
        <a:lstStyle/>
        <a:p>
          <a:endParaRPr lang="zh-CN" altLang="en-US">
            <a:latin typeface="+mj-ea"/>
            <a:ea typeface="+mj-ea"/>
          </a:endParaRPr>
        </a:p>
      </dgm:t>
    </dgm:pt>
    <dgm:pt modelId="{1645E43D-B87B-4762-BA4E-07DF614B4BE2}" type="sibTrans" cxnId="{303C3765-B9AA-4937-B4AB-CFBF064BC12C}">
      <dgm:prSet/>
      <dgm:spPr/>
      <dgm:t>
        <a:bodyPr/>
        <a:lstStyle/>
        <a:p>
          <a:endParaRPr lang="zh-CN" altLang="en-US">
            <a:latin typeface="+mj-ea"/>
            <a:ea typeface="+mj-ea"/>
          </a:endParaRPr>
        </a:p>
      </dgm:t>
    </dgm:pt>
    <dgm:pt modelId="{6E45DFE4-20ED-497E-97F4-F92C2323D873}">
      <dgm:prSet custT="1"/>
      <dgm:spPr/>
      <dgm:t>
        <a:bodyPr/>
        <a:lstStyle/>
        <a:p>
          <a:r>
            <a:rPr lang="zh-CN" altLang="en-US" sz="1200" b="1" i="0" dirty="0">
              <a:latin typeface="+mj-ea"/>
              <a:ea typeface="+mj-ea"/>
            </a:rPr>
            <a:t>问题一（规模与速度）：</a:t>
          </a:r>
          <a:endParaRPr lang="zh-CN" altLang="en-US" sz="1200" dirty="0">
            <a:latin typeface="+mj-ea"/>
            <a:ea typeface="+mj-ea"/>
          </a:endParaRPr>
        </a:p>
      </dgm:t>
    </dgm:pt>
    <dgm:pt modelId="{FFC33DEA-AF49-4DBC-A876-E4AA8B4A8595}" type="parTrans" cxnId="{F0778902-698F-4DE2-8027-58E42F1647F5}">
      <dgm:prSet/>
      <dgm:spPr/>
      <dgm:t>
        <a:bodyPr/>
        <a:lstStyle/>
        <a:p>
          <a:endParaRPr lang="zh-CN" altLang="en-US">
            <a:latin typeface="+mj-ea"/>
            <a:ea typeface="+mj-ea"/>
          </a:endParaRPr>
        </a:p>
      </dgm:t>
    </dgm:pt>
    <dgm:pt modelId="{155BD05A-1298-41CF-8FD1-759E8483A674}" type="sibTrans" cxnId="{F0778902-698F-4DE2-8027-58E42F1647F5}">
      <dgm:prSet/>
      <dgm:spPr/>
      <dgm:t>
        <a:bodyPr/>
        <a:lstStyle/>
        <a:p>
          <a:endParaRPr lang="zh-CN" altLang="en-US">
            <a:latin typeface="+mj-ea"/>
            <a:ea typeface="+mj-ea"/>
          </a:endParaRPr>
        </a:p>
      </dgm:t>
    </dgm:pt>
    <dgm:pt modelId="{14C8F53A-AF3E-4188-832C-25221E96265E}">
      <dgm:prSet custT="1"/>
      <dgm:spPr/>
      <dgm:t>
        <a:bodyPr/>
        <a:lstStyle/>
        <a:p>
          <a:r>
            <a:rPr lang="zh-CN" sz="1200" b="0" i="0" dirty="0">
              <a:latin typeface="+mj-ea"/>
              <a:ea typeface="+mj-ea"/>
            </a:rPr>
            <a:t>企业的数据量巨大（如百万级</a:t>
          </a:r>
          <a:r>
            <a:rPr lang="en-US" sz="1200" b="0" i="0" dirty="0">
              <a:latin typeface="+mj-ea"/>
              <a:ea typeface="+mj-ea"/>
            </a:rPr>
            <a:t>SKU</a:t>
          </a:r>
          <a:r>
            <a:rPr lang="zh-CN" sz="1200" b="0" i="0" dirty="0">
              <a:latin typeface="+mj-ea"/>
              <a:ea typeface="+mj-ea"/>
            </a:rPr>
            <a:t>的实时库存、订单、产能计算），决策逻辑复杂（如全局优化的排产算法）。</a:t>
          </a:r>
          <a:r>
            <a:rPr lang="zh-CN" sz="1200" b="1" i="0" dirty="0">
              <a:latin typeface="+mj-ea"/>
              <a:ea typeface="+mj-ea"/>
            </a:rPr>
            <a:t>人类的手工操作无法在业务要求的时间（秒</a:t>
          </a:r>
          <a:r>
            <a:rPr lang="en-US" sz="1200" b="1" i="0" dirty="0">
              <a:latin typeface="+mj-ea"/>
              <a:ea typeface="+mj-ea"/>
            </a:rPr>
            <a:t>/</a:t>
          </a:r>
          <a:r>
            <a:rPr lang="zh-CN" sz="1200" b="1" i="0" dirty="0">
              <a:latin typeface="+mj-ea"/>
              <a:ea typeface="+mj-ea"/>
            </a:rPr>
            <a:t>分钟级）内完成这些海量计算。</a:t>
          </a:r>
          <a:endParaRPr lang="zh-CN" sz="1200" dirty="0">
            <a:latin typeface="+mj-ea"/>
            <a:ea typeface="+mj-ea"/>
          </a:endParaRPr>
        </a:p>
      </dgm:t>
    </dgm:pt>
    <dgm:pt modelId="{5668561D-A93E-4492-9CC2-5A1D8B5258B5}" type="parTrans" cxnId="{2953D0FF-DB25-488F-B833-CC01E32458AE}">
      <dgm:prSet/>
      <dgm:spPr/>
      <dgm:t>
        <a:bodyPr/>
        <a:lstStyle/>
        <a:p>
          <a:endParaRPr lang="zh-CN" altLang="en-US">
            <a:latin typeface="+mj-ea"/>
            <a:ea typeface="+mj-ea"/>
          </a:endParaRPr>
        </a:p>
      </dgm:t>
    </dgm:pt>
    <dgm:pt modelId="{3E7D931D-7544-4E9E-BE2D-8E979714A87A}" type="sibTrans" cxnId="{2953D0FF-DB25-488F-B833-CC01E32458AE}">
      <dgm:prSet/>
      <dgm:spPr/>
      <dgm:t>
        <a:bodyPr/>
        <a:lstStyle/>
        <a:p>
          <a:endParaRPr lang="zh-CN" altLang="en-US">
            <a:latin typeface="+mj-ea"/>
            <a:ea typeface="+mj-ea"/>
          </a:endParaRPr>
        </a:p>
      </dgm:t>
    </dgm:pt>
    <dgm:pt modelId="{2EA6FF47-B202-4B05-BEF8-AA7650A945A5}">
      <dgm:prSet custT="1"/>
      <dgm:spPr/>
      <dgm:t>
        <a:bodyPr/>
        <a:lstStyle/>
        <a:p>
          <a:r>
            <a:rPr lang="zh-CN" altLang="en-US" sz="1200" b="1" i="0" dirty="0">
              <a:latin typeface="+mj-ea"/>
              <a:ea typeface="+mj-ea"/>
            </a:rPr>
            <a:t>问题二（精准与一致）：</a:t>
          </a:r>
          <a:r>
            <a:rPr lang="zh-CN" altLang="en-US" sz="1200" b="0" i="0" dirty="0">
              <a:latin typeface="+mj-ea"/>
              <a:ea typeface="+mj-ea"/>
            </a:rPr>
            <a:t> </a:t>
          </a:r>
          <a:endParaRPr lang="zh-CN" altLang="en-US" sz="1200" dirty="0">
            <a:latin typeface="+mj-ea"/>
            <a:ea typeface="+mj-ea"/>
          </a:endParaRPr>
        </a:p>
      </dgm:t>
    </dgm:pt>
    <dgm:pt modelId="{F7A39683-8AD7-4408-9D39-F7223E3DCF28}" type="parTrans" cxnId="{92AA1AFE-4791-4C1C-A56E-C6AF107E7EEA}">
      <dgm:prSet/>
      <dgm:spPr/>
      <dgm:t>
        <a:bodyPr/>
        <a:lstStyle/>
        <a:p>
          <a:endParaRPr lang="zh-CN" altLang="en-US">
            <a:latin typeface="+mj-ea"/>
            <a:ea typeface="+mj-ea"/>
          </a:endParaRPr>
        </a:p>
      </dgm:t>
    </dgm:pt>
    <dgm:pt modelId="{44FD9943-2791-4BFE-B21C-9D6FAC14CC20}" type="sibTrans" cxnId="{92AA1AFE-4791-4C1C-A56E-C6AF107E7EEA}">
      <dgm:prSet/>
      <dgm:spPr/>
      <dgm:t>
        <a:bodyPr/>
        <a:lstStyle/>
        <a:p>
          <a:endParaRPr lang="zh-CN" altLang="en-US">
            <a:latin typeface="+mj-ea"/>
            <a:ea typeface="+mj-ea"/>
          </a:endParaRPr>
        </a:p>
      </dgm:t>
    </dgm:pt>
    <dgm:pt modelId="{A16D86E1-B489-4CBC-9B3C-3E2F20D71739}">
      <dgm:prSet custT="1"/>
      <dgm:spPr/>
      <dgm:t>
        <a:bodyPr/>
        <a:lstStyle/>
        <a:p>
          <a:r>
            <a:rPr lang="zh-CN" sz="1200" b="0" i="0" dirty="0">
              <a:latin typeface="+mj-ea"/>
              <a:ea typeface="+mj-ea"/>
            </a:rPr>
            <a:t>数据模型要求全公司对“库存”、“订单”等概念的定义绝对统一，业务算法要求决策规则被</a:t>
          </a:r>
          <a:r>
            <a:rPr lang="en-US" sz="1200" b="0" i="0" dirty="0">
              <a:latin typeface="+mj-ea"/>
              <a:ea typeface="+mj-ea"/>
            </a:rPr>
            <a:t>100%</a:t>
          </a:r>
          <a:r>
            <a:rPr lang="zh-CN" sz="1200" b="0" i="0" dirty="0">
              <a:latin typeface="+mj-ea"/>
              <a:ea typeface="+mj-ea"/>
            </a:rPr>
            <a:t>准确无误地执行。</a:t>
          </a:r>
          <a:r>
            <a:rPr lang="zh-CN" sz="1200" b="1" i="0" dirty="0">
              <a:latin typeface="+mj-ea"/>
              <a:ea typeface="+mj-ea"/>
            </a:rPr>
            <a:t>人类的主观理解和执行必然引入歧义和误差。</a:t>
          </a:r>
          <a:endParaRPr lang="zh-CN" sz="1200" dirty="0">
            <a:latin typeface="+mj-ea"/>
            <a:ea typeface="+mj-ea"/>
          </a:endParaRPr>
        </a:p>
      </dgm:t>
    </dgm:pt>
    <dgm:pt modelId="{593B3ADB-855C-4128-A3BE-15A03753B2C9}" type="parTrans" cxnId="{908A9297-D39B-494D-8F1D-18078795369C}">
      <dgm:prSet/>
      <dgm:spPr/>
      <dgm:t>
        <a:bodyPr/>
        <a:lstStyle/>
        <a:p>
          <a:endParaRPr lang="zh-CN" altLang="en-US">
            <a:latin typeface="+mj-ea"/>
            <a:ea typeface="+mj-ea"/>
          </a:endParaRPr>
        </a:p>
      </dgm:t>
    </dgm:pt>
    <dgm:pt modelId="{2BA34D1D-4D6E-4F03-9BF7-A79630223B23}" type="sibTrans" cxnId="{908A9297-D39B-494D-8F1D-18078795369C}">
      <dgm:prSet/>
      <dgm:spPr/>
      <dgm:t>
        <a:bodyPr/>
        <a:lstStyle/>
        <a:p>
          <a:endParaRPr lang="zh-CN" altLang="en-US">
            <a:latin typeface="+mj-ea"/>
            <a:ea typeface="+mj-ea"/>
          </a:endParaRPr>
        </a:p>
      </dgm:t>
    </dgm:pt>
    <dgm:pt modelId="{591DC4CA-C375-433B-B1E8-78A6538F6A54}">
      <dgm:prSet custT="1"/>
      <dgm:spPr/>
      <dgm:t>
        <a:bodyPr/>
        <a:lstStyle/>
        <a:p>
          <a:r>
            <a:rPr lang="zh-CN" altLang="en-US" sz="1200" b="1" i="0" dirty="0">
              <a:latin typeface="+mj-ea"/>
              <a:ea typeface="+mj-ea"/>
            </a:rPr>
            <a:t>必然性：</a:t>
          </a:r>
          <a:endParaRPr lang="zh-CN" altLang="en-US" sz="1200" dirty="0">
            <a:latin typeface="+mj-ea"/>
            <a:ea typeface="+mj-ea"/>
          </a:endParaRPr>
        </a:p>
      </dgm:t>
    </dgm:pt>
    <dgm:pt modelId="{269A37FE-B7C4-4079-B792-1240D179D3C7}" type="parTrans" cxnId="{0ACC856C-7500-4375-8A09-8B86ACC85AC6}">
      <dgm:prSet/>
      <dgm:spPr/>
      <dgm:t>
        <a:bodyPr/>
        <a:lstStyle/>
        <a:p>
          <a:endParaRPr lang="zh-CN" altLang="en-US">
            <a:latin typeface="+mj-ea"/>
            <a:ea typeface="+mj-ea"/>
          </a:endParaRPr>
        </a:p>
      </dgm:t>
    </dgm:pt>
    <dgm:pt modelId="{5AAAEBBE-79DF-474B-BAFE-3601CE376A8A}" type="sibTrans" cxnId="{0ACC856C-7500-4375-8A09-8B86ACC85AC6}">
      <dgm:prSet/>
      <dgm:spPr/>
      <dgm:t>
        <a:bodyPr/>
        <a:lstStyle/>
        <a:p>
          <a:endParaRPr lang="zh-CN" altLang="en-US">
            <a:latin typeface="+mj-ea"/>
            <a:ea typeface="+mj-ea"/>
          </a:endParaRPr>
        </a:p>
      </dgm:t>
    </dgm:pt>
    <dgm:pt modelId="{FBE0E9E8-2A43-4129-857B-F31F0EA2B4E8}">
      <dgm:prSet custT="1"/>
      <dgm:spPr/>
      <dgm:t>
        <a:bodyPr/>
        <a:lstStyle/>
        <a:p>
          <a:r>
            <a:rPr lang="zh-CN" altLang="en-US" sz="1200" b="0" i="0" dirty="0">
              <a:latin typeface="+mj-ea"/>
              <a:ea typeface="+mj-ea"/>
            </a:rPr>
            <a:t>要实现我们方法论所定义的“内核”，</a:t>
          </a:r>
          <a:r>
            <a:rPr lang="zh-CN" altLang="en-US" sz="1200" b="1" i="0" dirty="0">
              <a:latin typeface="+mj-ea"/>
              <a:ea typeface="+mj-ea"/>
            </a:rPr>
            <a:t>必须依赖数字化系统</a:t>
          </a:r>
          <a:r>
            <a:rPr lang="zh-CN" altLang="en-US" sz="1200" b="0" i="0" dirty="0">
              <a:latin typeface="+mj-ea"/>
              <a:ea typeface="+mj-ea"/>
            </a:rPr>
            <a:t>来承担“实时、精准、自动化的计算与协同”这一使命。</a:t>
          </a:r>
          <a:r>
            <a:rPr lang="zh-CN" altLang="en-US" sz="1200" b="1" i="0" dirty="0">
              <a:latin typeface="+mj-ea"/>
              <a:ea typeface="+mj-ea"/>
            </a:rPr>
            <a:t>数字化从“可选项”变成了“必选项”</a:t>
          </a:r>
          <a:endParaRPr lang="zh-CN" altLang="en-US" sz="1200" dirty="0">
            <a:latin typeface="+mj-ea"/>
            <a:ea typeface="+mj-ea"/>
          </a:endParaRPr>
        </a:p>
      </dgm:t>
    </dgm:pt>
    <dgm:pt modelId="{08BDD969-57F0-4175-9859-E0EBA5A93227}" type="parTrans" cxnId="{D4F3D31E-1158-4F1D-B44D-2894E5D3CE52}">
      <dgm:prSet/>
      <dgm:spPr/>
      <dgm:t>
        <a:bodyPr/>
        <a:lstStyle/>
        <a:p>
          <a:endParaRPr lang="zh-CN" altLang="en-US">
            <a:latin typeface="+mj-ea"/>
            <a:ea typeface="+mj-ea"/>
          </a:endParaRPr>
        </a:p>
      </dgm:t>
    </dgm:pt>
    <dgm:pt modelId="{3AE409C0-9020-41D0-92B4-1E3977F0F894}" type="sibTrans" cxnId="{D4F3D31E-1158-4F1D-B44D-2894E5D3CE52}">
      <dgm:prSet/>
      <dgm:spPr/>
      <dgm:t>
        <a:bodyPr/>
        <a:lstStyle/>
        <a:p>
          <a:endParaRPr lang="zh-CN" altLang="en-US">
            <a:latin typeface="+mj-ea"/>
            <a:ea typeface="+mj-ea"/>
          </a:endParaRPr>
        </a:p>
      </dgm:t>
    </dgm:pt>
    <dgm:pt modelId="{DE23D471-4D3D-4089-BE78-FA4ACF6FD060}" type="pres">
      <dgm:prSet presAssocID="{59461A0E-A718-41D9-BCA4-84AD27A6FE6B}" presName="linear" presStyleCnt="0">
        <dgm:presLayoutVars>
          <dgm:dir/>
          <dgm:animLvl val="lvl"/>
          <dgm:resizeHandles val="exact"/>
        </dgm:presLayoutVars>
      </dgm:prSet>
      <dgm:spPr/>
    </dgm:pt>
    <dgm:pt modelId="{35FA424C-D643-437F-8E96-D0177F481C14}" type="pres">
      <dgm:prSet presAssocID="{BFC23725-A035-4147-918C-FBB14BE3BC3F}" presName="parentLin" presStyleCnt="0"/>
      <dgm:spPr/>
    </dgm:pt>
    <dgm:pt modelId="{6D3108E3-39B5-4B23-B450-AF539596C373}" type="pres">
      <dgm:prSet presAssocID="{BFC23725-A035-4147-918C-FBB14BE3BC3F}" presName="parentLeftMargin" presStyleLbl="node1" presStyleIdx="0" presStyleCnt="1"/>
      <dgm:spPr/>
    </dgm:pt>
    <dgm:pt modelId="{81A642B3-794B-4100-9C50-EAC7F0604A16}" type="pres">
      <dgm:prSet presAssocID="{BFC23725-A035-4147-918C-FBB14BE3BC3F}" presName="parentText" presStyleLbl="node1" presStyleIdx="0" presStyleCnt="1">
        <dgm:presLayoutVars>
          <dgm:chMax val="0"/>
          <dgm:bulletEnabled val="1"/>
        </dgm:presLayoutVars>
      </dgm:prSet>
      <dgm:spPr/>
    </dgm:pt>
    <dgm:pt modelId="{B725AA19-8B99-4474-BE44-F4B9C923253A}" type="pres">
      <dgm:prSet presAssocID="{BFC23725-A035-4147-918C-FBB14BE3BC3F}" presName="negativeSpace" presStyleCnt="0"/>
      <dgm:spPr/>
    </dgm:pt>
    <dgm:pt modelId="{4FE7A262-0975-427A-9793-E39110CFFB69}" type="pres">
      <dgm:prSet presAssocID="{BFC23725-A035-4147-918C-FBB14BE3BC3F}" presName="childText" presStyleLbl="conFgAcc1" presStyleIdx="0" presStyleCnt="1">
        <dgm:presLayoutVars>
          <dgm:bulletEnabled val="1"/>
        </dgm:presLayoutVars>
      </dgm:prSet>
      <dgm:spPr/>
    </dgm:pt>
  </dgm:ptLst>
  <dgm:cxnLst>
    <dgm:cxn modelId="{F0778902-698F-4DE2-8027-58E42F1647F5}" srcId="{BFC23725-A035-4147-918C-FBB14BE3BC3F}" destId="{6E45DFE4-20ED-497E-97F4-F92C2323D873}" srcOrd="0" destOrd="0" parTransId="{FFC33DEA-AF49-4DBC-A876-E4AA8B4A8595}" sibTransId="{155BD05A-1298-41CF-8FD1-759E8483A674}"/>
    <dgm:cxn modelId="{C0480605-5A43-42F0-8F95-E1DA220B481B}" type="presOf" srcId="{591DC4CA-C375-433B-B1E8-78A6538F6A54}" destId="{4FE7A262-0975-427A-9793-E39110CFFB69}" srcOrd="0" destOrd="4" presId="urn:microsoft.com/office/officeart/2005/8/layout/list1"/>
    <dgm:cxn modelId="{D4F3D31E-1158-4F1D-B44D-2894E5D3CE52}" srcId="{591DC4CA-C375-433B-B1E8-78A6538F6A54}" destId="{FBE0E9E8-2A43-4129-857B-F31F0EA2B4E8}" srcOrd="0" destOrd="0" parTransId="{08BDD969-57F0-4175-9859-E0EBA5A93227}" sibTransId="{3AE409C0-9020-41D0-92B4-1E3977F0F894}"/>
    <dgm:cxn modelId="{8567DD5B-E322-4DE6-AE80-B9376DDE473B}" type="presOf" srcId="{BFC23725-A035-4147-918C-FBB14BE3BC3F}" destId="{81A642B3-794B-4100-9C50-EAC7F0604A16}" srcOrd="1" destOrd="0" presId="urn:microsoft.com/office/officeart/2005/8/layout/list1"/>
    <dgm:cxn modelId="{26A1DC5C-3D49-4CB4-9990-DDF793243A3E}" type="presOf" srcId="{14C8F53A-AF3E-4188-832C-25221E96265E}" destId="{4FE7A262-0975-427A-9793-E39110CFFB69}" srcOrd="0" destOrd="1" presId="urn:microsoft.com/office/officeart/2005/8/layout/list1"/>
    <dgm:cxn modelId="{303C3765-B9AA-4937-B4AB-CFBF064BC12C}" srcId="{59461A0E-A718-41D9-BCA4-84AD27A6FE6B}" destId="{BFC23725-A035-4147-918C-FBB14BE3BC3F}" srcOrd="0" destOrd="0" parTransId="{A1CE048B-04EC-4522-A41D-669B7171C743}" sibTransId="{1645E43D-B87B-4762-BA4E-07DF614B4BE2}"/>
    <dgm:cxn modelId="{3266AC45-2ECF-4282-85C3-AF419102F72A}" type="presOf" srcId="{2EA6FF47-B202-4B05-BEF8-AA7650A945A5}" destId="{4FE7A262-0975-427A-9793-E39110CFFB69}" srcOrd="0" destOrd="2" presId="urn:microsoft.com/office/officeart/2005/8/layout/list1"/>
    <dgm:cxn modelId="{0ACC856C-7500-4375-8A09-8B86ACC85AC6}" srcId="{BFC23725-A035-4147-918C-FBB14BE3BC3F}" destId="{591DC4CA-C375-433B-B1E8-78A6538F6A54}" srcOrd="2" destOrd="0" parTransId="{269A37FE-B7C4-4079-B792-1240D179D3C7}" sibTransId="{5AAAEBBE-79DF-474B-BAFE-3601CE376A8A}"/>
    <dgm:cxn modelId="{95D29275-2482-4FA7-B7C0-07CA5EC7B8A9}" type="presOf" srcId="{FBE0E9E8-2A43-4129-857B-F31F0EA2B4E8}" destId="{4FE7A262-0975-427A-9793-E39110CFFB69}" srcOrd="0" destOrd="5" presId="urn:microsoft.com/office/officeart/2005/8/layout/list1"/>
    <dgm:cxn modelId="{AF7C1C95-6290-437B-9534-208A3334515D}" type="presOf" srcId="{BFC23725-A035-4147-918C-FBB14BE3BC3F}" destId="{6D3108E3-39B5-4B23-B450-AF539596C373}" srcOrd="0" destOrd="0" presId="urn:microsoft.com/office/officeart/2005/8/layout/list1"/>
    <dgm:cxn modelId="{908A9297-D39B-494D-8F1D-18078795369C}" srcId="{2EA6FF47-B202-4B05-BEF8-AA7650A945A5}" destId="{A16D86E1-B489-4CBC-9B3C-3E2F20D71739}" srcOrd="0" destOrd="0" parTransId="{593B3ADB-855C-4128-A3BE-15A03753B2C9}" sibTransId="{2BA34D1D-4D6E-4F03-9BF7-A79630223B23}"/>
    <dgm:cxn modelId="{544AD59B-348D-449C-814B-404FCFA2604F}" type="presOf" srcId="{A16D86E1-B489-4CBC-9B3C-3E2F20D71739}" destId="{4FE7A262-0975-427A-9793-E39110CFFB69}" srcOrd="0" destOrd="3" presId="urn:microsoft.com/office/officeart/2005/8/layout/list1"/>
    <dgm:cxn modelId="{81A7C1E7-500D-4FFF-9C2A-6B1FE6700416}" type="presOf" srcId="{59461A0E-A718-41D9-BCA4-84AD27A6FE6B}" destId="{DE23D471-4D3D-4089-BE78-FA4ACF6FD060}" srcOrd="0" destOrd="0" presId="urn:microsoft.com/office/officeart/2005/8/layout/list1"/>
    <dgm:cxn modelId="{7F375EF0-E41F-4191-AFC6-B5FD0BC94F9C}" type="presOf" srcId="{6E45DFE4-20ED-497E-97F4-F92C2323D873}" destId="{4FE7A262-0975-427A-9793-E39110CFFB69}" srcOrd="0" destOrd="0" presId="urn:microsoft.com/office/officeart/2005/8/layout/list1"/>
    <dgm:cxn modelId="{92AA1AFE-4791-4C1C-A56E-C6AF107E7EEA}" srcId="{BFC23725-A035-4147-918C-FBB14BE3BC3F}" destId="{2EA6FF47-B202-4B05-BEF8-AA7650A945A5}" srcOrd="1" destOrd="0" parTransId="{F7A39683-8AD7-4408-9D39-F7223E3DCF28}" sibTransId="{44FD9943-2791-4BFE-B21C-9D6FAC14CC20}"/>
    <dgm:cxn modelId="{2953D0FF-DB25-488F-B833-CC01E32458AE}" srcId="{6E45DFE4-20ED-497E-97F4-F92C2323D873}" destId="{14C8F53A-AF3E-4188-832C-25221E96265E}" srcOrd="0" destOrd="0" parTransId="{5668561D-A93E-4492-9CC2-5A1D8B5258B5}" sibTransId="{3E7D931D-7544-4E9E-BE2D-8E979714A87A}"/>
    <dgm:cxn modelId="{BB1BA3E2-67DB-455A-87B3-6C6C2FD41E1C}" type="presParOf" srcId="{DE23D471-4D3D-4089-BE78-FA4ACF6FD060}" destId="{35FA424C-D643-437F-8E96-D0177F481C14}" srcOrd="0" destOrd="0" presId="urn:microsoft.com/office/officeart/2005/8/layout/list1"/>
    <dgm:cxn modelId="{E73A0AA9-3362-4106-A5B0-D939478A05EE}" type="presParOf" srcId="{35FA424C-D643-437F-8E96-D0177F481C14}" destId="{6D3108E3-39B5-4B23-B450-AF539596C373}" srcOrd="0" destOrd="0" presId="urn:microsoft.com/office/officeart/2005/8/layout/list1"/>
    <dgm:cxn modelId="{7CBB8DF7-A788-4F74-ADBA-02545D6D644B}" type="presParOf" srcId="{35FA424C-D643-437F-8E96-D0177F481C14}" destId="{81A642B3-794B-4100-9C50-EAC7F0604A16}" srcOrd="1" destOrd="0" presId="urn:microsoft.com/office/officeart/2005/8/layout/list1"/>
    <dgm:cxn modelId="{0015A72D-E2B5-4212-AE81-CBB8B969414A}" type="presParOf" srcId="{DE23D471-4D3D-4089-BE78-FA4ACF6FD060}" destId="{B725AA19-8B99-4474-BE44-F4B9C923253A}" srcOrd="1" destOrd="0" presId="urn:microsoft.com/office/officeart/2005/8/layout/list1"/>
    <dgm:cxn modelId="{345664C9-36BE-4E24-A985-E395139B8409}" type="presParOf" srcId="{DE23D471-4D3D-4089-BE78-FA4ACF6FD060}" destId="{4FE7A262-0975-427A-9793-E39110CFFB69}" srcOrd="2"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3C7D211-8EEB-474C-A51A-DDB3D2468ED3}">
      <dsp:nvSpPr>
        <dsp:cNvPr id="0" name=""/>
        <dsp:cNvSpPr/>
      </dsp:nvSpPr>
      <dsp:spPr>
        <a:xfrm>
          <a:off x="0" y="386328"/>
          <a:ext cx="5440193" cy="434070"/>
        </a:xfrm>
        <a:prstGeom prst="round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en-US" sz="1400" b="1" kern="1200">
              <a:latin typeface="+mj-ea"/>
              <a:ea typeface="+mj-ea"/>
            </a:rPr>
            <a:t>N² </a:t>
          </a:r>
          <a:r>
            <a:rPr lang="zh-CN" sz="1400" b="1" kern="1200">
              <a:latin typeface="+mj-ea"/>
              <a:ea typeface="+mj-ea"/>
            </a:rPr>
            <a:t>协同复杂度 </a:t>
          </a:r>
          <a:r>
            <a:rPr lang="en-US" sz="1400" b="1" kern="1200">
              <a:latin typeface="+mj-ea"/>
              <a:ea typeface="+mj-ea"/>
            </a:rPr>
            <a:t>(Complexity)</a:t>
          </a:r>
          <a:r>
            <a:rPr lang="zh-CN" sz="1400" b="1" kern="1200">
              <a:latin typeface="+mj-ea"/>
              <a:ea typeface="+mj-ea"/>
            </a:rPr>
            <a:t>：节点指数级爆发，超越人力极限。</a:t>
          </a:r>
        </a:p>
      </dsp:txBody>
      <dsp:txXfrm>
        <a:off x="21190" y="407518"/>
        <a:ext cx="5397813" cy="391690"/>
      </dsp:txXfrm>
    </dsp:sp>
    <dsp:sp modelId="{63954066-DAF7-4B13-B3A7-6356F70822AA}">
      <dsp:nvSpPr>
        <dsp:cNvPr id="0" name=""/>
        <dsp:cNvSpPr/>
      </dsp:nvSpPr>
      <dsp:spPr>
        <a:xfrm>
          <a:off x="0" y="865948"/>
          <a:ext cx="5440193" cy="434070"/>
        </a:xfrm>
        <a:prstGeom prst="round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zh-CN" sz="1400" b="1" kern="1200" dirty="0">
              <a:latin typeface="+mj-ea"/>
              <a:ea typeface="+mj-ea"/>
            </a:rPr>
            <a:t>底层数据治理 </a:t>
          </a:r>
          <a:r>
            <a:rPr lang="en-US" sz="1400" b="1" kern="1200" dirty="0">
              <a:latin typeface="+mj-ea"/>
              <a:ea typeface="+mj-ea"/>
            </a:rPr>
            <a:t>(Data Quality)</a:t>
          </a:r>
          <a:r>
            <a:rPr lang="zh-CN" sz="1400" b="1" kern="1200" dirty="0">
              <a:latin typeface="+mj-ea"/>
              <a:ea typeface="+mj-ea"/>
            </a:rPr>
            <a:t>：“垃圾进，垃圾出”的系统铁律。</a:t>
          </a:r>
        </a:p>
      </dsp:txBody>
      <dsp:txXfrm>
        <a:off x="21190" y="887138"/>
        <a:ext cx="5397813" cy="391690"/>
      </dsp:txXfrm>
    </dsp:sp>
    <dsp:sp modelId="{6E184022-EF08-4A20-A19D-9FAF037CEEC5}">
      <dsp:nvSpPr>
        <dsp:cNvPr id="0" name=""/>
        <dsp:cNvSpPr/>
      </dsp:nvSpPr>
      <dsp:spPr>
        <a:xfrm>
          <a:off x="0" y="1340337"/>
          <a:ext cx="5440193" cy="434070"/>
        </a:xfrm>
        <a:prstGeom prst="round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zh-CN" sz="1400" b="1" kern="1200">
              <a:latin typeface="+mj-ea"/>
              <a:ea typeface="+mj-ea"/>
            </a:rPr>
            <a:t>组织惯性对抗 </a:t>
          </a:r>
          <a:r>
            <a:rPr lang="en-US" sz="1400" b="1" kern="1200">
              <a:latin typeface="+mj-ea"/>
              <a:ea typeface="+mj-ea"/>
            </a:rPr>
            <a:t>(Inertia)</a:t>
          </a:r>
          <a:r>
            <a:rPr lang="zh-CN" sz="1400" b="1" kern="1200">
              <a:latin typeface="+mj-ea"/>
              <a:ea typeface="+mj-ea"/>
            </a:rPr>
            <a:t>：旧范式与新算法的剧烈冲突。</a:t>
          </a:r>
        </a:p>
      </dsp:txBody>
      <dsp:txXfrm>
        <a:off x="21190" y="1361527"/>
        <a:ext cx="5397813" cy="391690"/>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5AC393B-0D5F-4860-9A47-D7A0E8BCB737}">
      <dsp:nvSpPr>
        <dsp:cNvPr id="0" name=""/>
        <dsp:cNvSpPr/>
      </dsp:nvSpPr>
      <dsp:spPr>
        <a:xfrm>
          <a:off x="0" y="1786"/>
          <a:ext cx="5493695" cy="561600"/>
        </a:xfrm>
        <a:prstGeom prst="roundRect">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zh-CN" sz="1400" b="1" kern="1200" dirty="0">
              <a:latin typeface="+mj-ea"/>
              <a:ea typeface="+mj-ea"/>
            </a:rPr>
            <a:t>资本溢价 </a:t>
          </a:r>
          <a:r>
            <a:rPr lang="en-US" sz="1400" b="1" kern="1200" dirty="0">
              <a:latin typeface="+mj-ea"/>
              <a:ea typeface="+mj-ea"/>
            </a:rPr>
            <a:t>(Valuation Premium)</a:t>
          </a:r>
          <a:r>
            <a:rPr lang="zh-CN" sz="1400" b="1" kern="1200" dirty="0">
              <a:latin typeface="+mj-ea"/>
              <a:ea typeface="+mj-ea"/>
            </a:rPr>
            <a:t>：从成本中心跃迁为资产增值引擎。</a:t>
          </a:r>
        </a:p>
      </dsp:txBody>
      <dsp:txXfrm>
        <a:off x="27415" y="29201"/>
        <a:ext cx="5438865" cy="506770"/>
      </dsp:txXfrm>
    </dsp:sp>
    <dsp:sp modelId="{1BD6CB4D-1721-4ECF-8628-7264C7AB0D61}">
      <dsp:nvSpPr>
        <dsp:cNvPr id="0" name=""/>
        <dsp:cNvSpPr/>
      </dsp:nvSpPr>
      <dsp:spPr>
        <a:xfrm>
          <a:off x="0" y="649786"/>
          <a:ext cx="5493695" cy="561600"/>
        </a:xfrm>
        <a:prstGeom prst="roundRect">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zh-CN" sz="1400" b="1" kern="1200">
              <a:latin typeface="+mj-ea"/>
              <a:ea typeface="+mj-ea"/>
            </a:rPr>
            <a:t>市场统治力 </a:t>
          </a:r>
          <a:r>
            <a:rPr lang="en-US" sz="1400" b="1" kern="1200">
              <a:latin typeface="+mj-ea"/>
              <a:ea typeface="+mj-ea"/>
            </a:rPr>
            <a:t>(Market Dominance)</a:t>
          </a:r>
          <a:r>
            <a:rPr lang="zh-CN" sz="1400" b="1" kern="1200">
              <a:latin typeface="+mj-ea"/>
              <a:ea typeface="+mj-ea"/>
            </a:rPr>
            <a:t>：用确定性交付碾压竞争对手。</a:t>
          </a:r>
        </a:p>
      </dsp:txBody>
      <dsp:txXfrm>
        <a:off x="27415" y="677201"/>
        <a:ext cx="5438865" cy="506770"/>
      </dsp:txXfrm>
    </dsp:sp>
    <dsp:sp modelId="{3F5520B7-5153-4303-A6CC-4D538582EDD3}">
      <dsp:nvSpPr>
        <dsp:cNvPr id="0" name=""/>
        <dsp:cNvSpPr/>
      </dsp:nvSpPr>
      <dsp:spPr>
        <a:xfrm>
          <a:off x="0" y="1297786"/>
          <a:ext cx="5493695" cy="561600"/>
        </a:xfrm>
        <a:prstGeom prst="roundRect">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zh-CN" sz="1400" b="1" kern="1200">
              <a:latin typeface="+mj-ea"/>
              <a:ea typeface="+mj-ea"/>
            </a:rPr>
            <a:t>自由现金流 </a:t>
          </a:r>
          <a:r>
            <a:rPr lang="en-US" sz="1400" b="1" kern="1200">
              <a:latin typeface="+mj-ea"/>
              <a:ea typeface="+mj-ea"/>
            </a:rPr>
            <a:t>(Free Cash Flow)</a:t>
          </a:r>
          <a:r>
            <a:rPr lang="zh-CN" sz="1400" b="1" kern="1200">
              <a:latin typeface="+mj-ea"/>
              <a:ea typeface="+mj-ea"/>
            </a:rPr>
            <a:t>：库存周转与交付效率的双重飞跃。</a:t>
          </a:r>
        </a:p>
      </dsp:txBody>
      <dsp:txXfrm>
        <a:off x="27415" y="1325201"/>
        <a:ext cx="5438865" cy="506770"/>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0A75D45-B29A-43E6-A5A9-0EA68FE017DF}">
      <dsp:nvSpPr>
        <dsp:cNvPr id="0" name=""/>
        <dsp:cNvSpPr/>
      </dsp:nvSpPr>
      <dsp:spPr>
        <a:xfrm>
          <a:off x="26" y="136460"/>
          <a:ext cx="2502158" cy="769093"/>
        </a:xfrm>
        <a:prstGeom prst="rect">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ct val="0"/>
            </a:spcBef>
            <a:spcAft>
              <a:spcPct val="35000"/>
            </a:spcAft>
            <a:buNone/>
          </a:pPr>
          <a:r>
            <a:rPr lang="en-US" sz="1600" b="1" kern="1200">
              <a:latin typeface="+mj-ea"/>
              <a:ea typeface="+mj-ea"/>
            </a:rPr>
            <a:t>One Plan</a:t>
          </a:r>
          <a:r>
            <a:rPr lang="zh-CN" sz="1600" b="1" kern="1200">
              <a:latin typeface="+mj-ea"/>
              <a:ea typeface="+mj-ea"/>
            </a:rPr>
            <a:t>：构建了横纵协同的神经中枢</a:t>
          </a:r>
          <a:endParaRPr lang="zh-CN" sz="1600" kern="1200">
            <a:latin typeface="+mj-ea"/>
            <a:ea typeface="+mj-ea"/>
          </a:endParaRPr>
        </a:p>
      </dsp:txBody>
      <dsp:txXfrm>
        <a:off x="26" y="136460"/>
        <a:ext cx="2502158" cy="769093"/>
      </dsp:txXfrm>
    </dsp:sp>
    <dsp:sp modelId="{2E7C871B-0DF9-4CF1-9DDB-0361200040F7}">
      <dsp:nvSpPr>
        <dsp:cNvPr id="0" name=""/>
        <dsp:cNvSpPr/>
      </dsp:nvSpPr>
      <dsp:spPr>
        <a:xfrm>
          <a:off x="26" y="905553"/>
          <a:ext cx="2502158" cy="4175145"/>
        </a:xfrm>
        <a:prstGeom prst="rect">
          <a:avLst/>
        </a:prstGeom>
        <a:solidFill>
          <a:schemeClr val="accent1">
            <a:alpha val="90000"/>
            <a:tint val="40000"/>
            <a:hueOff val="0"/>
            <a:satOff val="0"/>
            <a:lumOff val="0"/>
            <a:alphaOff val="0"/>
          </a:schemeClr>
        </a:solidFill>
        <a:ln w="1270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48006" tIns="48006" rIns="64008" bIns="72009" numCol="1" spcCol="1270" anchor="t" anchorCtr="0">
          <a:noAutofit/>
        </a:bodyPr>
        <a:lstStyle/>
        <a:p>
          <a:pPr marL="57150" lvl="1" indent="-57150" algn="l" defTabSz="400050">
            <a:lnSpc>
              <a:spcPct val="90000"/>
            </a:lnSpc>
            <a:spcBef>
              <a:spcPct val="0"/>
            </a:spcBef>
            <a:spcAft>
              <a:spcPct val="15000"/>
            </a:spcAft>
            <a:buChar char="•"/>
          </a:pPr>
          <a:r>
            <a:rPr lang="en-US" sz="900" b="0" kern="1200" dirty="0">
              <a:latin typeface="+mj-ea"/>
              <a:ea typeface="+mj-ea"/>
            </a:rPr>
            <a:t>One Plan</a:t>
          </a:r>
          <a:r>
            <a:rPr lang="zh-CN" sz="900" b="0" kern="1200" dirty="0">
              <a:latin typeface="+mj-ea"/>
              <a:ea typeface="+mj-ea"/>
            </a:rPr>
            <a:t>通过建立从战略到执行、从供应商到客户的数字孪生与因果链，赋予了企业核心的智能决策能力。这意味着企业不再依赖经验猜测，而是能够：</a:t>
          </a:r>
          <a:endParaRPr lang="zh-CN" sz="900" kern="1200" dirty="0">
            <a:latin typeface="+mj-ea"/>
            <a:ea typeface="+mj-ea"/>
          </a:endParaRPr>
        </a:p>
        <a:p>
          <a:pPr marL="114300" lvl="2" indent="-57150" algn="l" defTabSz="400050">
            <a:lnSpc>
              <a:spcPct val="90000"/>
            </a:lnSpc>
            <a:spcBef>
              <a:spcPct val="0"/>
            </a:spcBef>
            <a:spcAft>
              <a:spcPct val="15000"/>
            </a:spcAft>
            <a:buChar char="•"/>
          </a:pPr>
          <a:r>
            <a:rPr lang="zh-CN" sz="900" b="0" i="0" kern="1200" dirty="0">
              <a:latin typeface="+mj-ea"/>
              <a:ea typeface="+mj-ea"/>
            </a:rPr>
            <a:t>​</a:t>
          </a:r>
          <a:r>
            <a:rPr lang="zh-CN" sz="900" b="1" i="0" kern="1200" dirty="0">
              <a:latin typeface="+mj-ea"/>
              <a:ea typeface="+mj-ea"/>
            </a:rPr>
            <a:t>进行预测（</a:t>
          </a:r>
          <a:r>
            <a:rPr lang="en-US" sz="900" b="1" i="0" kern="1200" dirty="0">
              <a:latin typeface="+mj-ea"/>
              <a:ea typeface="+mj-ea"/>
            </a:rPr>
            <a:t>Predict</a:t>
          </a:r>
          <a:r>
            <a:rPr lang="zh-CN" sz="900" b="1" i="0" kern="1200" dirty="0">
              <a:latin typeface="+mj-ea"/>
              <a:ea typeface="+mj-ea"/>
            </a:rPr>
            <a:t>）​</a:t>
          </a:r>
          <a:r>
            <a:rPr lang="zh-CN" sz="900" b="0" i="0" kern="1200" dirty="0">
              <a:latin typeface="+mj-ea"/>
              <a:ea typeface="+mj-ea"/>
            </a:rPr>
            <a:t>​：基于数据模型前瞻性地制定计划。</a:t>
          </a:r>
          <a:endParaRPr lang="zh-CN" sz="900" kern="1200" dirty="0">
            <a:latin typeface="+mj-ea"/>
            <a:ea typeface="+mj-ea"/>
          </a:endParaRPr>
        </a:p>
        <a:p>
          <a:pPr marL="114300" lvl="2" indent="-57150" algn="l" defTabSz="400050">
            <a:lnSpc>
              <a:spcPct val="90000"/>
            </a:lnSpc>
            <a:spcBef>
              <a:spcPct val="0"/>
            </a:spcBef>
            <a:spcAft>
              <a:spcPct val="15000"/>
            </a:spcAft>
            <a:buChar char="•"/>
          </a:pPr>
          <a:r>
            <a:rPr lang="zh-CN" sz="900" b="0" i="0" kern="1200" dirty="0">
              <a:latin typeface="+mj-ea"/>
              <a:ea typeface="+mj-ea"/>
            </a:rPr>
            <a:t>​</a:t>
          </a:r>
          <a:r>
            <a:rPr lang="zh-CN" sz="900" b="1" i="0" kern="1200" dirty="0">
              <a:latin typeface="+mj-ea"/>
              <a:ea typeface="+mj-ea"/>
            </a:rPr>
            <a:t>追溯根因（</a:t>
          </a:r>
          <a:r>
            <a:rPr lang="en-US" sz="900" b="1" i="0" kern="1200" dirty="0">
              <a:latin typeface="+mj-ea"/>
              <a:ea typeface="+mj-ea"/>
            </a:rPr>
            <a:t>Root Cause Analysis</a:t>
          </a:r>
          <a:r>
            <a:rPr lang="zh-CN" sz="900" b="1" i="0" kern="1200" dirty="0">
              <a:latin typeface="+mj-ea"/>
              <a:ea typeface="+mj-ea"/>
            </a:rPr>
            <a:t>）​</a:t>
          </a:r>
          <a:r>
            <a:rPr lang="zh-CN" sz="900" b="0" i="0" kern="1200" dirty="0">
              <a:latin typeface="+mj-ea"/>
              <a:ea typeface="+mj-ea"/>
            </a:rPr>
            <a:t>​：快速定位问题的本质。</a:t>
          </a:r>
          <a:endParaRPr lang="zh-CN" sz="900" kern="1200" dirty="0">
            <a:latin typeface="+mj-ea"/>
            <a:ea typeface="+mj-ea"/>
          </a:endParaRPr>
        </a:p>
        <a:p>
          <a:pPr marL="114300" lvl="2" indent="-57150" algn="l" defTabSz="400050">
            <a:lnSpc>
              <a:spcPct val="90000"/>
            </a:lnSpc>
            <a:spcBef>
              <a:spcPct val="0"/>
            </a:spcBef>
            <a:spcAft>
              <a:spcPct val="15000"/>
            </a:spcAft>
            <a:buChar char="•"/>
          </a:pPr>
          <a:r>
            <a:rPr lang="zh-CN" sz="900" b="0" i="0" kern="1200" dirty="0">
              <a:latin typeface="+mj-ea"/>
              <a:ea typeface="+mj-ea"/>
            </a:rPr>
            <a:t>​</a:t>
          </a:r>
          <a:r>
            <a:rPr lang="zh-CN" sz="900" b="1" i="0" kern="1200" dirty="0">
              <a:latin typeface="+mj-ea"/>
              <a:ea typeface="+mj-ea"/>
            </a:rPr>
            <a:t>权衡优化（</a:t>
          </a:r>
          <a:r>
            <a:rPr lang="en-US" sz="900" b="1" i="0" kern="1200" dirty="0">
              <a:latin typeface="+mj-ea"/>
              <a:ea typeface="+mj-ea"/>
            </a:rPr>
            <a:t>Trade-off</a:t>
          </a:r>
          <a:r>
            <a:rPr lang="zh-CN" sz="900" b="1" i="0" kern="1200" dirty="0">
              <a:latin typeface="+mj-ea"/>
              <a:ea typeface="+mj-ea"/>
            </a:rPr>
            <a:t>）​</a:t>
          </a:r>
          <a:r>
            <a:rPr lang="zh-CN" sz="900" b="0" i="0" kern="1200" dirty="0">
              <a:latin typeface="+mj-ea"/>
              <a:ea typeface="+mj-ea"/>
            </a:rPr>
            <a:t>​：在多目标冲突中找到全局最优解。</a:t>
          </a:r>
          <a:endParaRPr lang="zh-CN" sz="900" kern="1200" dirty="0">
            <a:latin typeface="+mj-ea"/>
            <a:ea typeface="+mj-ea"/>
          </a:endParaRPr>
        </a:p>
        <a:p>
          <a:pPr marL="114300" lvl="2" indent="-57150" algn="l" defTabSz="400050">
            <a:lnSpc>
              <a:spcPct val="90000"/>
            </a:lnSpc>
            <a:spcBef>
              <a:spcPct val="0"/>
            </a:spcBef>
            <a:spcAft>
              <a:spcPct val="15000"/>
            </a:spcAft>
            <a:buChar char="•"/>
          </a:pPr>
          <a:r>
            <a:rPr lang="zh-CN" sz="900" b="0" i="0" kern="1200" dirty="0">
              <a:latin typeface="+mj-ea"/>
              <a:ea typeface="+mj-ea"/>
            </a:rPr>
            <a:t>​</a:t>
          </a:r>
          <a:r>
            <a:rPr lang="zh-CN" sz="900" b="1" i="0" kern="1200" dirty="0">
              <a:latin typeface="+mj-ea"/>
              <a:ea typeface="+mj-ea"/>
            </a:rPr>
            <a:t>动态学习改进</a:t>
          </a:r>
          <a:r>
            <a:rPr lang="zh-CN" sz="900" b="0" i="0" kern="1200" dirty="0">
              <a:latin typeface="+mj-ea"/>
              <a:ea typeface="+mj-ea"/>
            </a:rPr>
            <a:t>​：持续优化运营。</a:t>
          </a:r>
          <a:endParaRPr lang="zh-CN" sz="900" kern="1200" dirty="0">
            <a:latin typeface="+mj-ea"/>
            <a:ea typeface="+mj-ea"/>
          </a:endParaRPr>
        </a:p>
        <a:p>
          <a:pPr marL="57150" lvl="1" indent="-57150" algn="l" defTabSz="400050">
            <a:lnSpc>
              <a:spcPct val="90000"/>
            </a:lnSpc>
            <a:spcBef>
              <a:spcPct val="0"/>
            </a:spcBef>
            <a:spcAft>
              <a:spcPct val="15000"/>
            </a:spcAft>
            <a:buChar char="•"/>
          </a:pPr>
          <a:r>
            <a:rPr lang="zh-CN" sz="900" b="1" kern="1200" dirty="0">
              <a:latin typeface="+mj-ea"/>
              <a:ea typeface="+mj-ea"/>
            </a:rPr>
            <a:t>（此时，</a:t>
          </a:r>
          <a:r>
            <a:rPr lang="en-US" sz="900" b="1" kern="1200" dirty="0">
              <a:latin typeface="+mj-ea"/>
              <a:ea typeface="+mj-ea"/>
            </a:rPr>
            <a:t>One Plan</a:t>
          </a:r>
          <a:r>
            <a:rPr lang="zh-CN" sz="900" b="1" kern="1200" dirty="0">
              <a:latin typeface="+mj-ea"/>
              <a:ea typeface="+mj-ea"/>
            </a:rPr>
            <a:t>是强大的，但其价值仍隐藏在复杂的算法和数据模型中。）​</a:t>
          </a:r>
          <a:r>
            <a:rPr lang="zh-CN" sz="900" b="0" kern="1200" dirty="0">
              <a:latin typeface="+mj-ea"/>
              <a:ea typeface="+mj-ea"/>
            </a:rPr>
            <a:t>​</a:t>
          </a:r>
          <a:endParaRPr lang="zh-CN" sz="900" kern="1200" dirty="0">
            <a:latin typeface="+mj-ea"/>
            <a:ea typeface="+mj-ea"/>
          </a:endParaRPr>
        </a:p>
      </dsp:txBody>
      <dsp:txXfrm>
        <a:off x="26" y="905553"/>
        <a:ext cx="2502158" cy="4175145"/>
      </dsp:txXfrm>
    </dsp:sp>
    <dsp:sp modelId="{B18CC9F5-43CA-42C3-BB72-8C6F94CDBEB1}">
      <dsp:nvSpPr>
        <dsp:cNvPr id="0" name=""/>
        <dsp:cNvSpPr/>
      </dsp:nvSpPr>
      <dsp:spPr>
        <a:xfrm>
          <a:off x="2852487" y="136460"/>
          <a:ext cx="2502158" cy="769093"/>
        </a:xfrm>
        <a:prstGeom prst="rect">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marL="0" lvl="0" indent="0" algn="ctr" defTabSz="622300">
            <a:lnSpc>
              <a:spcPct val="90000"/>
            </a:lnSpc>
            <a:spcBef>
              <a:spcPct val="0"/>
            </a:spcBef>
            <a:spcAft>
              <a:spcPct val="35000"/>
            </a:spcAft>
            <a:buNone/>
          </a:pPr>
          <a:r>
            <a:rPr lang="zh-CN" sz="1400" b="0" kern="1200" dirty="0">
              <a:latin typeface="+mj-ea"/>
              <a:ea typeface="+mj-ea"/>
            </a:rPr>
            <a:t>​</a:t>
          </a:r>
          <a:r>
            <a:rPr lang="en-US" sz="1400" b="1" kern="1200" dirty="0">
              <a:latin typeface="+mj-ea"/>
              <a:ea typeface="+mj-ea"/>
            </a:rPr>
            <a:t>Control Tower</a:t>
          </a:r>
          <a:r>
            <a:rPr lang="zh-CN" sz="1400" b="1" kern="1200" dirty="0">
              <a:latin typeface="+mj-ea"/>
              <a:ea typeface="+mj-ea"/>
            </a:rPr>
            <a:t>：不可或缺的“全局指挥中心”​</a:t>
          </a:r>
          <a:r>
            <a:rPr lang="zh-CN" sz="1400" b="0" kern="1200" dirty="0">
              <a:latin typeface="+mj-ea"/>
              <a:ea typeface="+mj-ea"/>
            </a:rPr>
            <a:t>​</a:t>
          </a:r>
          <a:endParaRPr lang="zh-CN" sz="1400" kern="1200" dirty="0">
            <a:latin typeface="+mj-ea"/>
            <a:ea typeface="+mj-ea"/>
          </a:endParaRPr>
        </a:p>
      </dsp:txBody>
      <dsp:txXfrm>
        <a:off x="2852487" y="136460"/>
        <a:ext cx="2502158" cy="769093"/>
      </dsp:txXfrm>
    </dsp:sp>
    <dsp:sp modelId="{DA19CCDA-25CA-4FB5-AA04-86AB58B06865}">
      <dsp:nvSpPr>
        <dsp:cNvPr id="0" name=""/>
        <dsp:cNvSpPr/>
      </dsp:nvSpPr>
      <dsp:spPr>
        <a:xfrm>
          <a:off x="2852487" y="905553"/>
          <a:ext cx="2502158" cy="4175145"/>
        </a:xfrm>
        <a:prstGeom prst="rect">
          <a:avLst/>
        </a:prstGeom>
        <a:solidFill>
          <a:schemeClr val="accent1">
            <a:alpha val="90000"/>
            <a:tint val="40000"/>
            <a:hueOff val="0"/>
            <a:satOff val="0"/>
            <a:lumOff val="0"/>
            <a:alphaOff val="0"/>
          </a:schemeClr>
        </a:solidFill>
        <a:ln w="1270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48006" tIns="48006" rIns="64008" bIns="72009" numCol="1" spcCol="1270" anchor="t" anchorCtr="0">
          <a:noAutofit/>
        </a:bodyPr>
        <a:lstStyle/>
        <a:p>
          <a:pPr marL="57150" lvl="1" indent="-57150" algn="l" defTabSz="400050">
            <a:lnSpc>
              <a:spcPct val="90000"/>
            </a:lnSpc>
            <a:spcBef>
              <a:spcPct val="0"/>
            </a:spcBef>
            <a:spcAft>
              <a:spcPct val="15000"/>
            </a:spcAft>
            <a:buChar char="•"/>
          </a:pPr>
          <a:r>
            <a:rPr lang="zh-CN" sz="900" b="0" kern="1200" dirty="0">
              <a:latin typeface="+mj-ea"/>
              <a:ea typeface="+mj-ea"/>
            </a:rPr>
            <a:t>然而，一个再强大的“大脑”也需要与“躯干”和“四肢”高效协同。</a:t>
          </a:r>
          <a:r>
            <a:rPr lang="en-US" sz="900" b="0" kern="1200" dirty="0">
              <a:latin typeface="+mj-ea"/>
              <a:ea typeface="+mj-ea"/>
            </a:rPr>
            <a:t>Control Tower</a:t>
          </a:r>
          <a:r>
            <a:rPr lang="zh-CN" sz="900" b="0" kern="1200" dirty="0">
              <a:latin typeface="+mj-ea"/>
              <a:ea typeface="+mj-ea"/>
            </a:rPr>
            <a:t>正是将这个“智能大脑”的输出，转化为整个组织可理解、可执行的统一语言和指挥指令。它的关键价值在于：</a:t>
          </a:r>
          <a:endParaRPr lang="zh-CN" sz="900" kern="1200" dirty="0">
            <a:latin typeface="+mj-ea"/>
            <a:ea typeface="+mj-ea"/>
          </a:endParaRPr>
        </a:p>
        <a:p>
          <a:pPr marL="114300" lvl="2" indent="-57150" algn="l" defTabSz="400050">
            <a:lnSpc>
              <a:spcPct val="90000"/>
            </a:lnSpc>
            <a:spcBef>
              <a:spcPct val="0"/>
            </a:spcBef>
            <a:spcAft>
              <a:spcPct val="15000"/>
            </a:spcAft>
            <a:buChar char="•"/>
          </a:pPr>
          <a:r>
            <a:rPr lang="zh-CN" sz="900" b="0" i="0" kern="1200" dirty="0">
              <a:latin typeface="+mj-ea"/>
              <a:ea typeface="+mj-ea"/>
            </a:rPr>
            <a:t>​</a:t>
          </a:r>
          <a:r>
            <a:rPr lang="zh-CN" sz="900" b="1" i="0" kern="1200" dirty="0">
              <a:latin typeface="+mj-ea"/>
              <a:ea typeface="+mj-ea"/>
            </a:rPr>
            <a:t>​</a:t>
          </a:r>
          <a:r>
            <a:rPr lang="en-US" sz="900" b="1" i="0" kern="1200" dirty="0">
              <a:latin typeface="+mj-ea"/>
              <a:ea typeface="+mj-ea"/>
            </a:rPr>
            <a:t>【</a:t>
          </a:r>
          <a:r>
            <a:rPr lang="zh-CN" sz="900" b="1" i="0" kern="1200" dirty="0">
              <a:latin typeface="+mj-ea"/>
              <a:ea typeface="+mj-ea"/>
            </a:rPr>
            <a:t>简化复杂</a:t>
          </a:r>
          <a:r>
            <a:rPr lang="en-US" sz="900" b="1" i="0" kern="1200" dirty="0">
              <a:latin typeface="+mj-ea"/>
              <a:ea typeface="+mj-ea"/>
            </a:rPr>
            <a:t>】​</a:t>
          </a:r>
          <a:r>
            <a:rPr lang="zh-CN" sz="900" b="0" i="0" kern="1200" dirty="0">
              <a:latin typeface="+mj-ea"/>
              <a:ea typeface="+mj-ea"/>
            </a:rPr>
            <a:t>​：将</a:t>
          </a:r>
          <a:r>
            <a:rPr lang="en-US" sz="900" b="0" i="0" kern="1200" dirty="0">
              <a:latin typeface="+mj-ea"/>
              <a:ea typeface="+mj-ea"/>
            </a:rPr>
            <a:t>One Plan</a:t>
          </a:r>
          <a:r>
            <a:rPr lang="zh-CN" sz="900" b="0" i="0" kern="1200" dirty="0">
              <a:latin typeface="+mj-ea"/>
              <a:ea typeface="+mj-ea"/>
            </a:rPr>
            <a:t>产生的复杂算法结果，转化为直观的仪表盘和可视化报告，让每位决策者都能在</a:t>
          </a:r>
          <a:r>
            <a:rPr lang="en-US" sz="900" b="0" i="0" kern="1200" dirty="0">
              <a:latin typeface="+mj-ea"/>
              <a:ea typeface="+mj-ea"/>
            </a:rPr>
            <a:t>5</a:t>
          </a:r>
          <a:r>
            <a:rPr lang="zh-CN" sz="900" b="0" i="0" kern="1200" dirty="0">
              <a:latin typeface="+mj-ea"/>
              <a:ea typeface="+mj-ea"/>
            </a:rPr>
            <a:t>秒内掌握全局态势，从而</a:t>
          </a:r>
          <a:r>
            <a:rPr lang="zh-CN" sz="900" b="1" i="0" kern="1200" dirty="0">
              <a:latin typeface="+mj-ea"/>
              <a:ea typeface="+mj-ea"/>
            </a:rPr>
            <a:t>将智能</a:t>
          </a:r>
          <a:r>
            <a:rPr lang="en-US" sz="900" b="1" i="0" kern="1200" dirty="0">
              <a:latin typeface="+mj-ea"/>
              <a:ea typeface="+mj-ea"/>
            </a:rPr>
            <a:t>BI</a:t>
          </a:r>
          <a:r>
            <a:rPr lang="zh-CN" sz="900" b="1" i="0" kern="1200" dirty="0">
              <a:latin typeface="+mj-ea"/>
              <a:ea typeface="+mj-ea"/>
            </a:rPr>
            <a:t>分析的价值真正释放给业务人员</a:t>
          </a:r>
          <a:r>
            <a:rPr lang="zh-CN" sz="900" b="0" i="0" kern="1200" dirty="0">
              <a:latin typeface="+mj-ea"/>
              <a:ea typeface="+mj-ea"/>
            </a:rPr>
            <a:t>。</a:t>
          </a:r>
          <a:endParaRPr lang="zh-CN" sz="900" kern="1200" dirty="0">
            <a:latin typeface="+mj-ea"/>
            <a:ea typeface="+mj-ea"/>
          </a:endParaRPr>
        </a:p>
        <a:p>
          <a:pPr marL="114300" lvl="2" indent="-57150" algn="l" defTabSz="400050">
            <a:lnSpc>
              <a:spcPct val="90000"/>
            </a:lnSpc>
            <a:spcBef>
              <a:spcPct val="0"/>
            </a:spcBef>
            <a:spcAft>
              <a:spcPct val="15000"/>
            </a:spcAft>
            <a:buChar char="•"/>
          </a:pPr>
          <a:r>
            <a:rPr lang="zh-CN" sz="900" b="0" i="0" kern="1200" dirty="0">
              <a:latin typeface="+mj-ea"/>
              <a:ea typeface="+mj-ea"/>
            </a:rPr>
            <a:t>​</a:t>
          </a:r>
          <a:r>
            <a:rPr lang="zh-CN" sz="900" b="1" i="0" kern="1200" dirty="0">
              <a:latin typeface="+mj-ea"/>
              <a:ea typeface="+mj-ea"/>
            </a:rPr>
            <a:t>​</a:t>
          </a:r>
          <a:r>
            <a:rPr lang="en-US" sz="900" b="1" i="0" kern="1200" dirty="0">
              <a:latin typeface="+mj-ea"/>
              <a:ea typeface="+mj-ea"/>
            </a:rPr>
            <a:t>【</a:t>
          </a:r>
          <a:r>
            <a:rPr lang="zh-CN" sz="900" b="1" i="0" kern="1200" dirty="0">
              <a:latin typeface="+mj-ea"/>
              <a:ea typeface="+mj-ea"/>
            </a:rPr>
            <a:t>实时监控与预警</a:t>
          </a:r>
          <a:r>
            <a:rPr lang="en-US" sz="900" b="1" i="0" kern="1200" dirty="0">
              <a:latin typeface="+mj-ea"/>
              <a:ea typeface="+mj-ea"/>
            </a:rPr>
            <a:t>】​</a:t>
          </a:r>
          <a:r>
            <a:rPr lang="zh-CN" sz="900" b="0" i="0" kern="1200" dirty="0">
              <a:latin typeface="+mj-ea"/>
              <a:ea typeface="+mj-ea"/>
            </a:rPr>
            <a:t>​：充当组织的“神经中枢”，</a:t>
          </a:r>
          <a:r>
            <a:rPr lang="en-US" sz="900" b="0" i="0" kern="1200" dirty="0">
              <a:latin typeface="+mj-ea"/>
              <a:ea typeface="+mj-ea"/>
            </a:rPr>
            <a:t>7x24</a:t>
          </a:r>
          <a:r>
            <a:rPr lang="zh-CN" sz="900" b="0" i="0" kern="1200" dirty="0">
              <a:latin typeface="+mj-ea"/>
              <a:ea typeface="+mj-ea"/>
            </a:rPr>
            <a:t>小时监控运营状态，在偏差发生的瞬间发出预警，确保</a:t>
          </a:r>
          <a:r>
            <a:rPr lang="en-US" sz="900" b="0" i="0" kern="1200" dirty="0">
              <a:latin typeface="+mj-ea"/>
              <a:ea typeface="+mj-ea"/>
            </a:rPr>
            <a:t>One Plan</a:t>
          </a:r>
          <a:r>
            <a:rPr lang="zh-CN" sz="900" b="0" i="0" kern="1200" dirty="0">
              <a:latin typeface="+mj-ea"/>
              <a:ea typeface="+mj-ea"/>
            </a:rPr>
            <a:t>的规划不会在执行中失控。</a:t>
          </a:r>
          <a:endParaRPr lang="zh-CN" sz="900" kern="1200" dirty="0">
            <a:latin typeface="+mj-ea"/>
            <a:ea typeface="+mj-ea"/>
          </a:endParaRPr>
        </a:p>
        <a:p>
          <a:pPr marL="114300" lvl="2" indent="-57150" algn="l" defTabSz="400050">
            <a:lnSpc>
              <a:spcPct val="90000"/>
            </a:lnSpc>
            <a:spcBef>
              <a:spcPct val="0"/>
            </a:spcBef>
            <a:spcAft>
              <a:spcPct val="15000"/>
            </a:spcAft>
            <a:buChar char="•"/>
          </a:pPr>
          <a:r>
            <a:rPr lang="zh-CN" sz="900" b="0" i="0" kern="1200" dirty="0">
              <a:latin typeface="+mj-ea"/>
              <a:ea typeface="+mj-ea"/>
            </a:rPr>
            <a:t>​</a:t>
          </a:r>
          <a:r>
            <a:rPr lang="zh-CN" sz="900" b="1" i="0" kern="1200" dirty="0">
              <a:latin typeface="+mj-ea"/>
              <a:ea typeface="+mj-ea"/>
            </a:rPr>
            <a:t>​</a:t>
          </a:r>
          <a:r>
            <a:rPr lang="en-US" sz="900" b="1" i="0" kern="1200" dirty="0">
              <a:latin typeface="+mj-ea"/>
              <a:ea typeface="+mj-ea"/>
            </a:rPr>
            <a:t>【</a:t>
          </a:r>
          <a:r>
            <a:rPr lang="zh-CN" sz="900" b="1" i="0" kern="1200" dirty="0">
              <a:latin typeface="+mj-ea"/>
              <a:ea typeface="+mj-ea"/>
            </a:rPr>
            <a:t>支持模拟决策</a:t>
          </a:r>
          <a:r>
            <a:rPr lang="en-US" sz="900" b="1" i="0" kern="1200" dirty="0">
              <a:latin typeface="+mj-ea"/>
              <a:ea typeface="+mj-ea"/>
            </a:rPr>
            <a:t>】​</a:t>
          </a:r>
          <a:r>
            <a:rPr lang="zh-CN" sz="900" b="0" i="0" kern="1200" dirty="0">
              <a:latin typeface="+mj-ea"/>
              <a:ea typeface="+mj-ea"/>
            </a:rPr>
            <a:t>​：提供“</a:t>
          </a:r>
          <a:r>
            <a:rPr lang="en-US" sz="900" b="0" i="0" kern="1200" dirty="0">
              <a:latin typeface="+mj-ea"/>
              <a:ea typeface="+mj-ea"/>
            </a:rPr>
            <a:t>What-if”</a:t>
          </a:r>
          <a:r>
            <a:rPr lang="zh-CN" sz="900" b="0" i="0" kern="1200" dirty="0">
              <a:latin typeface="+mj-ea"/>
              <a:ea typeface="+mj-ea"/>
            </a:rPr>
            <a:t>沙盘推演界面，让管理者能够直观地测试不同决策方案的结果，​</a:t>
          </a:r>
          <a:r>
            <a:rPr lang="zh-CN" sz="900" b="1" i="0" kern="1200" dirty="0">
              <a:latin typeface="+mj-ea"/>
              <a:ea typeface="+mj-ea"/>
            </a:rPr>
            <a:t>将</a:t>
          </a:r>
          <a:r>
            <a:rPr lang="en-US" sz="900" b="1" i="0" kern="1200" dirty="0">
              <a:latin typeface="+mj-ea"/>
              <a:ea typeface="+mj-ea"/>
            </a:rPr>
            <a:t>One Plan</a:t>
          </a:r>
          <a:r>
            <a:rPr lang="zh-CN" sz="900" b="1" i="0" kern="1200" dirty="0">
              <a:latin typeface="+mj-ea"/>
              <a:ea typeface="+mj-ea"/>
            </a:rPr>
            <a:t>的权衡分析能力（</a:t>
          </a:r>
          <a:r>
            <a:rPr lang="en-US" sz="900" b="1" i="0" kern="1200" dirty="0">
              <a:latin typeface="+mj-ea"/>
              <a:ea typeface="+mj-ea"/>
            </a:rPr>
            <a:t>Trade-off</a:t>
          </a:r>
          <a:r>
            <a:rPr lang="zh-CN" sz="900" b="1" i="0" kern="1200" dirty="0">
              <a:latin typeface="+mj-ea"/>
              <a:ea typeface="+mj-ea"/>
            </a:rPr>
            <a:t>）转化为具象的、可信的业务对话</a:t>
          </a:r>
          <a:r>
            <a:rPr lang="zh-CN" sz="900" b="0" i="0" kern="1200" dirty="0">
              <a:latin typeface="+mj-ea"/>
              <a:ea typeface="+mj-ea"/>
            </a:rPr>
            <a:t>。</a:t>
          </a:r>
          <a:endParaRPr lang="zh-CN" sz="900" kern="1200" dirty="0">
            <a:latin typeface="+mj-ea"/>
            <a:ea typeface="+mj-ea"/>
          </a:endParaRPr>
        </a:p>
        <a:p>
          <a:pPr marL="114300" lvl="2" indent="-57150" algn="l" defTabSz="400050">
            <a:lnSpc>
              <a:spcPct val="90000"/>
            </a:lnSpc>
            <a:spcBef>
              <a:spcPct val="0"/>
            </a:spcBef>
            <a:spcAft>
              <a:spcPct val="15000"/>
            </a:spcAft>
            <a:buChar char="•"/>
          </a:pPr>
          <a:r>
            <a:rPr lang="zh-CN" sz="900" b="0" i="0" kern="1200" dirty="0">
              <a:latin typeface="+mj-ea"/>
              <a:ea typeface="+mj-ea"/>
            </a:rPr>
            <a:t>​</a:t>
          </a:r>
          <a:r>
            <a:rPr lang="zh-CN" sz="900" b="1" i="0" kern="1200" dirty="0">
              <a:latin typeface="+mj-ea"/>
              <a:ea typeface="+mj-ea"/>
            </a:rPr>
            <a:t>​</a:t>
          </a:r>
          <a:r>
            <a:rPr lang="en-US" sz="900" b="1" i="0" kern="1200" dirty="0">
              <a:latin typeface="+mj-ea"/>
              <a:ea typeface="+mj-ea"/>
            </a:rPr>
            <a:t>【</a:t>
          </a:r>
          <a:r>
            <a:rPr lang="zh-CN" sz="900" b="1" i="0" kern="1200" dirty="0">
              <a:latin typeface="+mj-ea"/>
              <a:ea typeface="+mj-ea"/>
            </a:rPr>
            <a:t>促进跨职能协同</a:t>
          </a:r>
          <a:r>
            <a:rPr lang="en-US" sz="900" b="1" i="0" kern="1200" dirty="0">
              <a:latin typeface="+mj-ea"/>
              <a:ea typeface="+mj-ea"/>
            </a:rPr>
            <a:t>】​</a:t>
          </a:r>
          <a:r>
            <a:rPr lang="zh-CN" sz="900" b="0" i="0" kern="1200" dirty="0">
              <a:latin typeface="+mj-ea"/>
              <a:ea typeface="+mj-ea"/>
            </a:rPr>
            <a:t>​：作为“单一事实来源”，为销售、生产、采购、财务等所有部门提供同一套数据和视图，​</a:t>
          </a:r>
          <a:r>
            <a:rPr lang="zh-CN" sz="900" b="1" i="0" kern="1200" dirty="0">
              <a:latin typeface="+mj-ea"/>
              <a:ea typeface="+mj-ea"/>
            </a:rPr>
            <a:t>彻底打破竖井，让协同建立在事实而非争论之上</a:t>
          </a:r>
          <a:r>
            <a:rPr lang="zh-CN" sz="900" b="0" i="0" kern="1200" dirty="0">
              <a:latin typeface="+mj-ea"/>
              <a:ea typeface="+mj-ea"/>
            </a:rPr>
            <a:t>。</a:t>
          </a:r>
          <a:endParaRPr lang="zh-CN" sz="900" kern="1200" dirty="0">
            <a:latin typeface="+mj-ea"/>
            <a:ea typeface="+mj-ea"/>
          </a:endParaRPr>
        </a:p>
      </dsp:txBody>
      <dsp:txXfrm>
        <a:off x="2852487" y="905553"/>
        <a:ext cx="2502158" cy="4175145"/>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334EA3C-9BFE-4623-805B-9200ACE1C5D3}">
      <dsp:nvSpPr>
        <dsp:cNvPr id="0" name=""/>
        <dsp:cNvSpPr/>
      </dsp:nvSpPr>
      <dsp:spPr>
        <a:xfrm rot="10800000">
          <a:off x="0" y="0"/>
          <a:ext cx="5753099" cy="1179235"/>
        </a:xfrm>
        <a:prstGeom prst="trapezoid">
          <a:avLst>
            <a:gd name="adj" fmla="val 47672"/>
          </a:avLst>
        </a:prstGeom>
        <a:noFill/>
        <a:ln w="1270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zh-CN" altLang="en-US" sz="1600" b="1" i="0" kern="1200" dirty="0">
              <a:latin typeface="+mj-ea"/>
              <a:ea typeface="+mj-ea"/>
            </a:rPr>
            <a:t>​供应链战略（战略导向）</a:t>
          </a:r>
          <a:endParaRPr lang="zh-CN" altLang="en-US" sz="1050" b="1" i="1" kern="1200" dirty="0">
            <a:latin typeface="+mj-ea"/>
            <a:ea typeface="+mj-ea"/>
          </a:endParaRPr>
        </a:p>
      </dsp:txBody>
      <dsp:txXfrm rot="-10800000">
        <a:off x="1006792" y="0"/>
        <a:ext cx="3739514" cy="1179235"/>
      </dsp:txXfrm>
    </dsp:sp>
    <dsp:sp modelId="{F7A5BCF7-C215-4D38-BAFC-34826E4FCF13}">
      <dsp:nvSpPr>
        <dsp:cNvPr id="0" name=""/>
        <dsp:cNvSpPr/>
      </dsp:nvSpPr>
      <dsp:spPr>
        <a:xfrm rot="10800000">
          <a:off x="562161" y="1179235"/>
          <a:ext cx="4628776" cy="1109460"/>
        </a:xfrm>
        <a:prstGeom prst="trapezoid">
          <a:avLst>
            <a:gd name="adj" fmla="val 47672"/>
          </a:avLst>
        </a:prstGeom>
        <a:noFill/>
        <a:ln w="1270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zh-CN" altLang="en-US" sz="1600" b="1" i="0" kern="1200" dirty="0">
              <a:latin typeface="+mj-ea"/>
              <a:ea typeface="+mj-ea"/>
            </a:rPr>
            <a:t>计划能力框架（外壳）</a:t>
          </a:r>
          <a:endParaRPr lang="zh-CN" altLang="en-US" sz="1600" b="1" i="0" kern="1200" dirty="0">
            <a:solidFill>
              <a:schemeClr val="tx1"/>
            </a:solidFill>
            <a:latin typeface="+mj-ea"/>
            <a:ea typeface="+mj-ea"/>
          </a:endParaRPr>
        </a:p>
      </dsp:txBody>
      <dsp:txXfrm rot="-10800000">
        <a:off x="1372197" y="1179235"/>
        <a:ext cx="3008704" cy="1109460"/>
      </dsp:txXfrm>
    </dsp:sp>
    <dsp:sp modelId="{416A8C35-4983-4523-9744-B49062F42318}">
      <dsp:nvSpPr>
        <dsp:cNvPr id="0" name=""/>
        <dsp:cNvSpPr/>
      </dsp:nvSpPr>
      <dsp:spPr>
        <a:xfrm rot="10800000">
          <a:off x="1091059" y="2288696"/>
          <a:ext cx="3570979" cy="1668760"/>
        </a:xfrm>
        <a:prstGeom prst="trapezoid">
          <a:avLst>
            <a:gd name="adj" fmla="val 47672"/>
          </a:avLst>
        </a:prstGeom>
        <a:solidFill>
          <a:srgbClr val="7030A0"/>
        </a:solidFill>
        <a:ln w="1270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zh-CN" altLang="en-US" sz="1600" b="1" i="0" kern="1200" dirty="0">
              <a:latin typeface="+mj-ea"/>
              <a:ea typeface="+mj-ea"/>
            </a:rPr>
            <a:t>​数据模型与业务算法</a:t>
          </a:r>
          <a:endParaRPr lang="en-US" altLang="zh-CN" sz="1600" b="1" i="0" kern="1200" dirty="0">
            <a:latin typeface="+mj-ea"/>
            <a:ea typeface="+mj-ea"/>
          </a:endParaRPr>
        </a:p>
        <a:p>
          <a:pPr marL="0" lvl="0" indent="0" algn="ctr" defTabSz="711200">
            <a:lnSpc>
              <a:spcPct val="90000"/>
            </a:lnSpc>
            <a:spcBef>
              <a:spcPct val="0"/>
            </a:spcBef>
            <a:spcAft>
              <a:spcPct val="35000"/>
            </a:spcAft>
            <a:buNone/>
          </a:pPr>
          <a:r>
            <a:rPr lang="zh-CN" altLang="en-US" sz="1600" b="1" i="0" kern="1200" dirty="0">
              <a:latin typeface="+mj-ea"/>
              <a:ea typeface="+mj-ea"/>
            </a:rPr>
            <a:t>（业务方案的本质）</a:t>
          </a:r>
          <a:endParaRPr lang="zh-CN" altLang="en-US" sz="1100" b="1" i="1" kern="1200" dirty="0">
            <a:latin typeface="+mj-ea"/>
            <a:ea typeface="+mj-ea"/>
          </a:endParaRPr>
        </a:p>
      </dsp:txBody>
      <dsp:txXfrm rot="-10800000">
        <a:off x="1715981" y="2288696"/>
        <a:ext cx="2321136" cy="1668760"/>
      </dsp:txXfrm>
    </dsp:sp>
    <dsp:sp modelId="{F5355ED1-C96C-4C18-BBB7-7E429619FD18}">
      <dsp:nvSpPr>
        <dsp:cNvPr id="0" name=""/>
        <dsp:cNvSpPr/>
      </dsp:nvSpPr>
      <dsp:spPr>
        <a:xfrm rot="10800000">
          <a:off x="1886585" y="3957456"/>
          <a:ext cx="1979928" cy="2076631"/>
        </a:xfrm>
        <a:prstGeom prst="trapezoid">
          <a:avLst>
            <a:gd name="adj" fmla="val 50000"/>
          </a:avLst>
        </a:prstGeom>
        <a:solidFill>
          <a:srgbClr val="7030A0"/>
        </a:solidFill>
        <a:ln w="1270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zh-CN" altLang="en-US" sz="1600" b="1" i="0" kern="1200" dirty="0">
              <a:latin typeface="+mj-ea"/>
              <a:ea typeface="+mj-ea"/>
            </a:rPr>
            <a:t>数据结构算法</a:t>
          </a:r>
          <a:endParaRPr lang="en-US" altLang="zh-CN" sz="1600" b="1" i="0" kern="1200" dirty="0">
            <a:latin typeface="+mj-ea"/>
            <a:ea typeface="+mj-ea"/>
          </a:endParaRPr>
        </a:p>
        <a:p>
          <a:pPr marL="0" lvl="0" indent="0" algn="ctr" defTabSz="711200">
            <a:lnSpc>
              <a:spcPct val="90000"/>
            </a:lnSpc>
            <a:spcBef>
              <a:spcPct val="0"/>
            </a:spcBef>
            <a:spcAft>
              <a:spcPct val="35000"/>
            </a:spcAft>
            <a:buNone/>
          </a:pPr>
          <a:r>
            <a:rPr lang="zh-CN" altLang="en-US" sz="1600" b="1" i="0" kern="1200" dirty="0">
              <a:latin typeface="+mj-ea"/>
              <a:ea typeface="+mj-ea"/>
            </a:rPr>
            <a:t>（基石）</a:t>
          </a:r>
          <a:endParaRPr lang="zh-CN" altLang="en-US" sz="1100" b="1" i="1" kern="1200" dirty="0">
            <a:latin typeface="+mj-ea"/>
            <a:ea typeface="+mj-ea"/>
          </a:endParaRPr>
        </a:p>
      </dsp:txBody>
      <dsp:txXfrm rot="-10800000">
        <a:off x="1886585" y="3957456"/>
        <a:ext cx="1979928" cy="2076631"/>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6A39D2B-87B8-4E05-94BF-AC601247C8D8}">
      <dsp:nvSpPr>
        <dsp:cNvPr id="0" name=""/>
        <dsp:cNvSpPr/>
      </dsp:nvSpPr>
      <dsp:spPr>
        <a:xfrm>
          <a:off x="0" y="1077549"/>
          <a:ext cx="11521382" cy="1436732"/>
        </a:xfrm>
        <a:prstGeom prst="notchedRightArrow">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6E70FB7-249B-430C-B785-AE9EF55B69B1}">
      <dsp:nvSpPr>
        <dsp:cNvPr id="0" name=""/>
        <dsp:cNvSpPr/>
      </dsp:nvSpPr>
      <dsp:spPr>
        <a:xfrm>
          <a:off x="2847" y="0"/>
          <a:ext cx="1658167" cy="14367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8232" tIns="78232" rIns="78232" bIns="78232" numCol="1" spcCol="1270" anchor="b" anchorCtr="1">
          <a:noAutofit/>
        </a:bodyPr>
        <a:lstStyle/>
        <a:p>
          <a:pPr marL="0" lvl="0" indent="0" algn="l" defTabSz="488950">
            <a:lnSpc>
              <a:spcPct val="90000"/>
            </a:lnSpc>
            <a:spcBef>
              <a:spcPct val="0"/>
            </a:spcBef>
            <a:spcAft>
              <a:spcPct val="35000"/>
            </a:spcAft>
            <a:buNone/>
          </a:pPr>
          <a:r>
            <a:rPr lang="en-US" sz="1100" b="1" kern="1200" dirty="0">
              <a:solidFill>
                <a:schemeClr val="tx1"/>
              </a:solidFill>
              <a:latin typeface="Verdana"/>
              <a:ea typeface="+mn-ea"/>
              <a:cs typeface="+mn-cs"/>
            </a:rPr>
            <a:t>MRP</a:t>
          </a:r>
          <a:r>
            <a:rPr lang="zh-CN" altLang="en-US" sz="1100" b="1" kern="1200" dirty="0">
              <a:solidFill>
                <a:schemeClr val="tx1"/>
              </a:solidFill>
              <a:latin typeface="Verdana"/>
              <a:ea typeface="微软雅黑" panose="020B0503020204020204" pitchFamily="34" charset="-122"/>
              <a:cs typeface="+mn-cs"/>
            </a:rPr>
            <a:t>和排程的理论（</a:t>
          </a:r>
          <a:r>
            <a:rPr lang="en-US" sz="1100" b="1" kern="1200" dirty="0">
              <a:solidFill>
                <a:schemeClr val="tx1"/>
              </a:solidFill>
              <a:latin typeface="Verdana"/>
              <a:ea typeface="+mn-ea"/>
              <a:cs typeface="+mn-cs"/>
            </a:rPr>
            <a:t>1960s)</a:t>
          </a:r>
          <a:endParaRPr lang="zh-CN" altLang="en-US" sz="1100" b="1" kern="1200" dirty="0">
            <a:solidFill>
              <a:schemeClr val="tx1"/>
            </a:solidFill>
            <a:latin typeface="Verdana"/>
            <a:ea typeface="微软雅黑" panose="020B0503020204020204" pitchFamily="34" charset="-122"/>
            <a:cs typeface="+mn-cs"/>
          </a:endParaRPr>
        </a:p>
        <a:p>
          <a:pPr marL="57150" lvl="1" indent="-57150" algn="l" defTabSz="444500">
            <a:lnSpc>
              <a:spcPct val="90000"/>
            </a:lnSpc>
            <a:spcBef>
              <a:spcPct val="0"/>
            </a:spcBef>
            <a:spcAft>
              <a:spcPct val="15000"/>
            </a:spcAft>
            <a:buChar char="•"/>
          </a:pPr>
          <a:r>
            <a:rPr lang="en-US" sz="1000" b="0" kern="1200" dirty="0">
              <a:solidFill>
                <a:schemeClr val="tx1"/>
              </a:solidFill>
              <a:latin typeface="Verdana"/>
              <a:ea typeface="+mn-ea"/>
              <a:cs typeface="+mn-cs"/>
            </a:rPr>
            <a:t>MRP I: </a:t>
          </a:r>
          <a:r>
            <a:rPr lang="zh-CN" altLang="en-US" sz="1000" b="0" kern="1200" dirty="0">
              <a:solidFill>
                <a:schemeClr val="tx1"/>
              </a:solidFill>
              <a:latin typeface="Verdana"/>
              <a:ea typeface="微软雅黑" panose="020B0503020204020204" pitchFamily="34" charset="-122"/>
              <a:cs typeface="+mn-cs"/>
            </a:rPr>
            <a:t>考虑</a:t>
          </a:r>
          <a:r>
            <a:rPr lang="en-US" sz="1000" b="0" kern="1200" dirty="0">
              <a:solidFill>
                <a:schemeClr val="tx1"/>
              </a:solidFill>
              <a:latin typeface="Verdana"/>
              <a:ea typeface="+mn-ea"/>
              <a:cs typeface="+mn-cs"/>
            </a:rPr>
            <a:t>BOM</a:t>
          </a:r>
          <a:r>
            <a:rPr lang="zh-CN" altLang="en-US" sz="1000" b="0" kern="1200" dirty="0">
              <a:solidFill>
                <a:schemeClr val="tx1"/>
              </a:solidFill>
              <a:latin typeface="Verdana"/>
              <a:ea typeface="微软雅黑" panose="020B0503020204020204" pitchFamily="34" charset="-122"/>
              <a:cs typeface="+mn-cs"/>
            </a:rPr>
            <a:t>和提前期，无法考虑产能约束</a:t>
          </a:r>
        </a:p>
        <a:p>
          <a:pPr marL="57150" lvl="1" indent="-57150" algn="l" defTabSz="444500">
            <a:lnSpc>
              <a:spcPct val="90000"/>
            </a:lnSpc>
            <a:spcBef>
              <a:spcPct val="0"/>
            </a:spcBef>
            <a:spcAft>
              <a:spcPct val="15000"/>
            </a:spcAft>
            <a:buChar char="•"/>
          </a:pPr>
          <a:r>
            <a:rPr lang="en-US" sz="1000" b="0" kern="1200" dirty="0">
              <a:solidFill>
                <a:schemeClr val="tx1"/>
              </a:solidFill>
              <a:latin typeface="Verdana"/>
              <a:ea typeface="+mn-ea"/>
              <a:cs typeface="+mn-cs"/>
            </a:rPr>
            <a:t>Scheduling: </a:t>
          </a:r>
          <a:r>
            <a:rPr lang="zh-CN" altLang="en-US" sz="1000" b="0" kern="1200" dirty="0">
              <a:solidFill>
                <a:schemeClr val="tx1"/>
              </a:solidFill>
              <a:latin typeface="Verdana"/>
              <a:ea typeface="微软雅黑" panose="020B0503020204020204" pitchFamily="34" charset="-122"/>
              <a:cs typeface="+mn-cs"/>
            </a:rPr>
            <a:t>排程的学术研究开始出现</a:t>
          </a:r>
        </a:p>
      </dsp:txBody>
      <dsp:txXfrm>
        <a:off x="2847" y="0"/>
        <a:ext cx="1658167" cy="1436732"/>
      </dsp:txXfrm>
    </dsp:sp>
    <dsp:sp modelId="{E0709588-20B4-4DA3-B4A6-66A30C79DAA7}">
      <dsp:nvSpPr>
        <dsp:cNvPr id="0" name=""/>
        <dsp:cNvSpPr/>
      </dsp:nvSpPr>
      <dsp:spPr>
        <a:xfrm>
          <a:off x="652340" y="1616324"/>
          <a:ext cx="359183" cy="359183"/>
        </a:xfrm>
        <a:prstGeom prst="ellipse">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02DC4FD-F31F-44AC-B3A4-2E164D1DA63C}">
      <dsp:nvSpPr>
        <dsp:cNvPr id="0" name=""/>
        <dsp:cNvSpPr/>
      </dsp:nvSpPr>
      <dsp:spPr>
        <a:xfrm>
          <a:off x="1743924" y="2155099"/>
          <a:ext cx="1658167" cy="14367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5344" tIns="85344" rIns="85344" bIns="85344" numCol="1" spcCol="1270" anchor="t" anchorCtr="1">
          <a:noAutofit/>
        </a:bodyPr>
        <a:lstStyle/>
        <a:p>
          <a:pPr marL="0" lvl="0" indent="0" algn="l" defTabSz="533400">
            <a:lnSpc>
              <a:spcPct val="90000"/>
            </a:lnSpc>
            <a:spcBef>
              <a:spcPct val="0"/>
            </a:spcBef>
            <a:spcAft>
              <a:spcPct val="35000"/>
            </a:spcAft>
            <a:buNone/>
          </a:pPr>
          <a:r>
            <a:rPr lang="en-US" sz="1200" b="1" kern="1200" dirty="0">
              <a:solidFill>
                <a:schemeClr val="tx1"/>
              </a:solidFill>
              <a:latin typeface="Verdana"/>
              <a:ea typeface="+mn-ea"/>
              <a:cs typeface="+mn-cs"/>
            </a:rPr>
            <a:t>Closed-Loop MRP </a:t>
          </a:r>
          <a:r>
            <a:rPr lang="zh-CN" altLang="en-US" sz="1200" b="1" kern="1200" dirty="0">
              <a:solidFill>
                <a:schemeClr val="tx1"/>
              </a:solidFill>
              <a:latin typeface="Verdana"/>
              <a:ea typeface="微软雅黑" panose="020B0503020204020204" pitchFamily="34" charset="-122"/>
              <a:cs typeface="+mn-cs"/>
            </a:rPr>
            <a:t>和</a:t>
          </a:r>
          <a:r>
            <a:rPr lang="en-US" sz="1200" b="1" kern="1200" dirty="0">
              <a:solidFill>
                <a:schemeClr val="tx1"/>
              </a:solidFill>
              <a:latin typeface="Verdana"/>
              <a:ea typeface="+mn-ea"/>
              <a:cs typeface="+mn-cs"/>
            </a:rPr>
            <a:t>FCP(1970s)</a:t>
          </a:r>
          <a:endParaRPr lang="zh-CN" altLang="en-US" sz="1200" b="1" kern="1200" dirty="0">
            <a:solidFill>
              <a:schemeClr val="tx1"/>
            </a:solidFill>
            <a:latin typeface="Verdana"/>
            <a:ea typeface="微软雅黑" panose="020B0503020204020204" pitchFamily="34" charset="-122"/>
            <a:cs typeface="+mn-cs"/>
          </a:endParaRPr>
        </a:p>
        <a:p>
          <a:pPr marL="57150" lvl="1" indent="-57150" algn="l" defTabSz="444500">
            <a:lnSpc>
              <a:spcPct val="90000"/>
            </a:lnSpc>
            <a:spcBef>
              <a:spcPct val="0"/>
            </a:spcBef>
            <a:spcAft>
              <a:spcPct val="15000"/>
            </a:spcAft>
            <a:buChar char="•"/>
          </a:pPr>
          <a:r>
            <a:rPr lang="zh-CN" altLang="en-US" sz="1000" b="0" kern="1200" dirty="0">
              <a:solidFill>
                <a:schemeClr val="tx1"/>
              </a:solidFill>
              <a:latin typeface="Verdana"/>
              <a:ea typeface="微软雅黑" panose="020B0503020204020204" pitchFamily="34" charset="-122"/>
              <a:cs typeface="+mn-cs"/>
            </a:rPr>
            <a:t>闭环</a:t>
          </a:r>
          <a:r>
            <a:rPr lang="en-US" sz="1000" b="0" kern="1200" dirty="0">
              <a:solidFill>
                <a:schemeClr val="tx1"/>
              </a:solidFill>
              <a:latin typeface="Calibri"/>
              <a:ea typeface="+mn-ea"/>
              <a:cs typeface="+mn-cs"/>
            </a:rPr>
            <a:t>MRP</a:t>
          </a:r>
          <a:endParaRPr lang="zh-CN" altLang="en-US" sz="1000" b="0" kern="1200" dirty="0">
            <a:solidFill>
              <a:schemeClr val="tx1"/>
            </a:solidFill>
            <a:latin typeface="Calibri"/>
            <a:ea typeface="微软雅黑" panose="020B0503020204020204" pitchFamily="34" charset="-122"/>
            <a:cs typeface="+mn-cs"/>
          </a:endParaRPr>
        </a:p>
        <a:p>
          <a:pPr marL="57150" lvl="1" indent="-57150" algn="l" defTabSz="444500">
            <a:lnSpc>
              <a:spcPct val="90000"/>
            </a:lnSpc>
            <a:spcBef>
              <a:spcPct val="0"/>
            </a:spcBef>
            <a:spcAft>
              <a:spcPct val="15000"/>
            </a:spcAft>
            <a:buChar char="•"/>
          </a:pPr>
          <a:r>
            <a:rPr lang="en-US" sz="1000" b="0" kern="1200" dirty="0">
              <a:solidFill>
                <a:schemeClr val="tx1"/>
              </a:solidFill>
              <a:latin typeface="Verdana"/>
              <a:ea typeface="+mn-ea"/>
              <a:cs typeface="+mn-cs"/>
            </a:rPr>
            <a:t>FCP: </a:t>
          </a:r>
          <a:r>
            <a:rPr lang="zh-CN" altLang="en-US" sz="1000" b="0" kern="1200" dirty="0">
              <a:solidFill>
                <a:schemeClr val="tx1"/>
              </a:solidFill>
              <a:latin typeface="Verdana"/>
              <a:ea typeface="微软雅黑" panose="020B0503020204020204" pitchFamily="34" charset="-122"/>
              <a:cs typeface="+mn-cs"/>
            </a:rPr>
            <a:t>开始考量能力规划</a:t>
          </a:r>
        </a:p>
      </dsp:txBody>
      <dsp:txXfrm>
        <a:off x="1743924" y="2155099"/>
        <a:ext cx="1658167" cy="1436732"/>
      </dsp:txXfrm>
    </dsp:sp>
    <dsp:sp modelId="{8C35D34E-4667-4AF4-8A15-7A980D3B5A96}">
      <dsp:nvSpPr>
        <dsp:cNvPr id="0" name=""/>
        <dsp:cNvSpPr/>
      </dsp:nvSpPr>
      <dsp:spPr>
        <a:xfrm>
          <a:off x="2393416" y="1616324"/>
          <a:ext cx="359183" cy="359183"/>
        </a:xfrm>
        <a:prstGeom prst="ellipse">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3C2F964-43DD-40A7-9757-1CBDBB46F4EB}">
      <dsp:nvSpPr>
        <dsp:cNvPr id="0" name=""/>
        <dsp:cNvSpPr/>
      </dsp:nvSpPr>
      <dsp:spPr>
        <a:xfrm>
          <a:off x="3485000" y="0"/>
          <a:ext cx="1658167" cy="14367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5344" tIns="85344" rIns="85344" bIns="85344" numCol="1" spcCol="1270" anchor="b" anchorCtr="1">
          <a:noAutofit/>
        </a:bodyPr>
        <a:lstStyle/>
        <a:p>
          <a:pPr marL="0" lvl="0" indent="0" algn="l" defTabSz="533400">
            <a:lnSpc>
              <a:spcPct val="90000"/>
            </a:lnSpc>
            <a:spcBef>
              <a:spcPct val="0"/>
            </a:spcBef>
            <a:spcAft>
              <a:spcPct val="35000"/>
            </a:spcAft>
            <a:buNone/>
          </a:pPr>
          <a:r>
            <a:rPr lang="en-US" sz="1200" b="1" kern="1200" dirty="0">
              <a:solidFill>
                <a:schemeClr val="tx1"/>
              </a:solidFill>
              <a:latin typeface="Verdana"/>
              <a:ea typeface="+mn-ea"/>
              <a:cs typeface="+mn-cs"/>
            </a:rPr>
            <a:t>MRPII (1980s)</a:t>
          </a:r>
          <a:endParaRPr lang="zh-CN" altLang="en-US" sz="1200" b="1" kern="1200" dirty="0">
            <a:solidFill>
              <a:schemeClr val="tx1"/>
            </a:solidFill>
            <a:latin typeface="Verdana"/>
            <a:ea typeface="微软雅黑" panose="020B0503020204020204" pitchFamily="34" charset="-122"/>
            <a:cs typeface="+mn-cs"/>
          </a:endParaRPr>
        </a:p>
        <a:p>
          <a:pPr marL="57150" lvl="1" indent="-57150" algn="l" defTabSz="444500">
            <a:lnSpc>
              <a:spcPct val="90000"/>
            </a:lnSpc>
            <a:spcBef>
              <a:spcPct val="0"/>
            </a:spcBef>
            <a:spcAft>
              <a:spcPct val="15000"/>
            </a:spcAft>
            <a:buChar char="•"/>
          </a:pPr>
          <a:r>
            <a:rPr lang="zh-CN" altLang="en-US" sz="1000" b="0" kern="1200" dirty="0">
              <a:solidFill>
                <a:schemeClr val="tx1"/>
              </a:solidFill>
              <a:latin typeface="Verdana"/>
              <a:ea typeface="微软雅黑" panose="020B0503020204020204" pitchFamily="34" charset="-122"/>
              <a:cs typeface="+mn-cs"/>
            </a:rPr>
            <a:t>财务与</a:t>
          </a:r>
          <a:r>
            <a:rPr lang="en-US" sz="1000" b="0" kern="1200" dirty="0">
              <a:solidFill>
                <a:schemeClr val="tx1"/>
              </a:solidFill>
              <a:latin typeface="Verdana"/>
              <a:ea typeface="+mn-ea"/>
              <a:cs typeface="+mn-cs"/>
            </a:rPr>
            <a:t>RCCP,CRP</a:t>
          </a:r>
          <a:endParaRPr lang="zh-CN" altLang="en-US" sz="1000" b="0" kern="1200" dirty="0">
            <a:solidFill>
              <a:schemeClr val="tx1"/>
            </a:solidFill>
            <a:latin typeface="Verdana"/>
            <a:ea typeface="微软雅黑" panose="020B0503020204020204" pitchFamily="34" charset="-122"/>
            <a:cs typeface="+mn-cs"/>
          </a:endParaRPr>
        </a:p>
      </dsp:txBody>
      <dsp:txXfrm>
        <a:off x="3485000" y="0"/>
        <a:ext cx="1658167" cy="1436732"/>
      </dsp:txXfrm>
    </dsp:sp>
    <dsp:sp modelId="{D6F092BD-1812-48D8-8BEF-4095A3B80B35}">
      <dsp:nvSpPr>
        <dsp:cNvPr id="0" name=""/>
        <dsp:cNvSpPr/>
      </dsp:nvSpPr>
      <dsp:spPr>
        <a:xfrm>
          <a:off x="4134492" y="1616324"/>
          <a:ext cx="359183" cy="359183"/>
        </a:xfrm>
        <a:prstGeom prst="ellipse">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6E8E79FC-702B-4633-AAD8-50FBE9D7CBF5}">
      <dsp:nvSpPr>
        <dsp:cNvPr id="0" name=""/>
        <dsp:cNvSpPr/>
      </dsp:nvSpPr>
      <dsp:spPr>
        <a:xfrm>
          <a:off x="5226076" y="2155099"/>
          <a:ext cx="1658167" cy="14367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5344" tIns="85344" rIns="85344" bIns="85344" numCol="1" spcCol="1270" anchor="t" anchorCtr="1">
          <a:noAutofit/>
        </a:bodyPr>
        <a:lstStyle/>
        <a:p>
          <a:pPr marL="0" lvl="0" indent="0" algn="l" defTabSz="533400">
            <a:lnSpc>
              <a:spcPct val="90000"/>
            </a:lnSpc>
            <a:spcBef>
              <a:spcPct val="0"/>
            </a:spcBef>
            <a:spcAft>
              <a:spcPct val="35000"/>
            </a:spcAft>
            <a:buNone/>
          </a:pPr>
          <a:r>
            <a:rPr lang="en-US" sz="1200" b="1" kern="1200" dirty="0">
              <a:solidFill>
                <a:schemeClr val="tx1"/>
              </a:solidFill>
              <a:latin typeface="Verdana"/>
              <a:ea typeface="+mn-ea"/>
              <a:cs typeface="+mn-cs"/>
            </a:rPr>
            <a:t>ERP (1990s)</a:t>
          </a:r>
          <a:endParaRPr lang="zh-CN" altLang="en-US" sz="1200" b="1" kern="1200" dirty="0">
            <a:solidFill>
              <a:schemeClr val="tx1"/>
            </a:solidFill>
            <a:latin typeface="Verdana"/>
            <a:ea typeface="微软雅黑" panose="020B0503020204020204" pitchFamily="34" charset="-122"/>
            <a:cs typeface="+mn-cs"/>
          </a:endParaRPr>
        </a:p>
        <a:p>
          <a:pPr marL="57150" lvl="1" indent="-57150" algn="l" defTabSz="444500">
            <a:lnSpc>
              <a:spcPct val="90000"/>
            </a:lnSpc>
            <a:spcBef>
              <a:spcPct val="0"/>
            </a:spcBef>
            <a:spcAft>
              <a:spcPct val="15000"/>
            </a:spcAft>
            <a:buChar char="•"/>
          </a:pPr>
          <a:r>
            <a:rPr lang="zh-CN" altLang="en-US" sz="1000" b="0" kern="1200" dirty="0">
              <a:solidFill>
                <a:schemeClr val="tx1"/>
              </a:solidFill>
              <a:latin typeface="Verdana"/>
              <a:ea typeface="微软雅黑" panose="020B0503020204020204" pitchFamily="34" charset="-122"/>
              <a:cs typeface="+mn-cs"/>
            </a:rPr>
            <a:t>基于</a:t>
          </a:r>
          <a:r>
            <a:rPr lang="en-US" sz="1000" b="0" kern="1200" dirty="0">
              <a:solidFill>
                <a:schemeClr val="tx1"/>
              </a:solidFill>
              <a:latin typeface="Verdana"/>
              <a:ea typeface="+mn-ea"/>
              <a:cs typeface="+mn-cs"/>
            </a:rPr>
            <a:t>MRPII</a:t>
          </a:r>
          <a:r>
            <a:rPr lang="zh-CN" altLang="en-US" sz="1000" b="0" kern="1200" dirty="0">
              <a:solidFill>
                <a:schemeClr val="tx1"/>
              </a:solidFill>
              <a:latin typeface="Verdana"/>
              <a:ea typeface="微软雅黑" panose="020B0503020204020204" pitchFamily="34" charset="-122"/>
              <a:cs typeface="+mn-cs"/>
            </a:rPr>
            <a:t>扩展到整个供应链</a:t>
          </a:r>
        </a:p>
        <a:p>
          <a:pPr marL="57150" lvl="1" indent="-57150" algn="l" defTabSz="444500">
            <a:lnSpc>
              <a:spcPct val="90000"/>
            </a:lnSpc>
            <a:spcBef>
              <a:spcPct val="0"/>
            </a:spcBef>
            <a:spcAft>
              <a:spcPct val="15000"/>
            </a:spcAft>
            <a:buChar char="•"/>
          </a:pPr>
          <a:r>
            <a:rPr lang="en-US" sz="1000" b="0" kern="1200" dirty="0">
              <a:solidFill>
                <a:schemeClr val="tx1"/>
              </a:solidFill>
              <a:latin typeface="Verdana"/>
              <a:ea typeface="+mn-ea"/>
              <a:cs typeface="+mn-cs"/>
            </a:rPr>
            <a:t>APS</a:t>
          </a:r>
          <a:r>
            <a:rPr lang="zh-CN" altLang="en-US" sz="1000" b="0" kern="1200" dirty="0">
              <a:solidFill>
                <a:schemeClr val="tx1"/>
              </a:solidFill>
              <a:latin typeface="Verdana"/>
              <a:ea typeface="微软雅黑" panose="020B0503020204020204" pitchFamily="34" charset="-122"/>
              <a:cs typeface="+mn-cs"/>
            </a:rPr>
            <a:t>作为术语开始出现</a:t>
          </a:r>
        </a:p>
      </dsp:txBody>
      <dsp:txXfrm>
        <a:off x="5226076" y="2155099"/>
        <a:ext cx="1658167" cy="1436732"/>
      </dsp:txXfrm>
    </dsp:sp>
    <dsp:sp modelId="{051517A0-227F-421F-AD31-AA840B3A19D6}">
      <dsp:nvSpPr>
        <dsp:cNvPr id="0" name=""/>
        <dsp:cNvSpPr/>
      </dsp:nvSpPr>
      <dsp:spPr>
        <a:xfrm>
          <a:off x="5875568" y="1616324"/>
          <a:ext cx="359183" cy="359183"/>
        </a:xfrm>
        <a:prstGeom prst="ellipse">
          <a:avLst/>
        </a:prstGeom>
        <a:solidFill>
          <a:schemeClr val="accent5">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2AF7793E-C75D-4820-B0B0-F2F4553AFEF3}">
      <dsp:nvSpPr>
        <dsp:cNvPr id="0" name=""/>
        <dsp:cNvSpPr/>
      </dsp:nvSpPr>
      <dsp:spPr>
        <a:xfrm>
          <a:off x="6967152" y="0"/>
          <a:ext cx="1658167" cy="14367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5344" tIns="85344" rIns="85344" bIns="85344" numCol="1" spcCol="1270" anchor="b" anchorCtr="1">
          <a:noAutofit/>
        </a:bodyPr>
        <a:lstStyle/>
        <a:p>
          <a:pPr marL="0" lvl="0" indent="0" algn="l" defTabSz="533400">
            <a:lnSpc>
              <a:spcPct val="90000"/>
            </a:lnSpc>
            <a:spcBef>
              <a:spcPct val="0"/>
            </a:spcBef>
            <a:spcAft>
              <a:spcPct val="35000"/>
            </a:spcAft>
            <a:buNone/>
          </a:pPr>
          <a:r>
            <a:rPr lang="en-US" sz="1200" b="1" kern="1200" dirty="0">
              <a:solidFill>
                <a:schemeClr val="tx1"/>
              </a:solidFill>
              <a:latin typeface="Verdana"/>
              <a:ea typeface="+mn-ea"/>
              <a:cs typeface="+mn-cs"/>
            </a:rPr>
            <a:t>IBP(2000s,</a:t>
          </a:r>
          <a:r>
            <a:rPr lang="zh-CN" altLang="en-US" sz="1200" b="1" kern="1200" dirty="0">
              <a:solidFill>
                <a:schemeClr val="tx1"/>
              </a:solidFill>
              <a:latin typeface="Verdana"/>
              <a:ea typeface="+mn-ea"/>
              <a:cs typeface="+mn-cs"/>
            </a:rPr>
            <a:t>从</a:t>
          </a:r>
          <a:r>
            <a:rPr lang="en-US" altLang="zh-CN" sz="1200" b="1" kern="1200" dirty="0">
              <a:solidFill>
                <a:schemeClr val="tx1"/>
              </a:solidFill>
              <a:latin typeface="Verdana"/>
              <a:ea typeface="+mn-ea"/>
              <a:cs typeface="+mn-cs"/>
            </a:rPr>
            <a:t>S&amp;OP</a:t>
          </a:r>
          <a:r>
            <a:rPr lang="zh-CN" altLang="en-US" sz="1200" b="1" kern="1200" dirty="0">
              <a:solidFill>
                <a:schemeClr val="tx1"/>
              </a:solidFill>
              <a:latin typeface="Verdana"/>
              <a:ea typeface="+mn-ea"/>
              <a:cs typeface="+mn-cs"/>
            </a:rPr>
            <a:t>升级而来</a:t>
          </a:r>
          <a:r>
            <a:rPr lang="en-US" sz="1200" b="1" kern="1200" dirty="0">
              <a:solidFill>
                <a:schemeClr val="tx1"/>
              </a:solidFill>
              <a:latin typeface="Verdana"/>
              <a:ea typeface="+mn-ea"/>
              <a:cs typeface="+mn-cs"/>
            </a:rPr>
            <a:t>)</a:t>
          </a:r>
          <a:endParaRPr lang="zh-CN" altLang="en-US" sz="1200" b="1" kern="1200" dirty="0">
            <a:solidFill>
              <a:schemeClr val="tx1"/>
            </a:solidFill>
            <a:latin typeface="Verdana"/>
            <a:ea typeface="微软雅黑" panose="020B0503020204020204" pitchFamily="34" charset="-122"/>
            <a:cs typeface="+mn-cs"/>
          </a:endParaRPr>
        </a:p>
        <a:p>
          <a:pPr marL="57150" lvl="1" indent="-57150" algn="l" defTabSz="444500">
            <a:lnSpc>
              <a:spcPct val="90000"/>
            </a:lnSpc>
            <a:spcBef>
              <a:spcPct val="0"/>
            </a:spcBef>
            <a:spcAft>
              <a:spcPct val="15000"/>
            </a:spcAft>
            <a:buChar char="•"/>
          </a:pPr>
          <a:r>
            <a:rPr lang="zh-CN" altLang="en-US" sz="1000" b="0" kern="1200" dirty="0">
              <a:solidFill>
                <a:schemeClr val="tx1"/>
              </a:solidFill>
              <a:latin typeface="Verdana"/>
              <a:ea typeface="微软雅黑" panose="020B0503020204020204" pitchFamily="34" charset="-122"/>
              <a:cs typeface="+mn-cs"/>
            </a:rPr>
            <a:t>产销协同</a:t>
          </a:r>
        </a:p>
        <a:p>
          <a:pPr marL="57150" lvl="1" indent="-57150" algn="l" defTabSz="444500">
            <a:lnSpc>
              <a:spcPct val="90000"/>
            </a:lnSpc>
            <a:spcBef>
              <a:spcPct val="0"/>
            </a:spcBef>
            <a:spcAft>
              <a:spcPct val="15000"/>
            </a:spcAft>
            <a:buChar char="•"/>
          </a:pPr>
          <a:r>
            <a:rPr lang="zh-CN" altLang="en-US" sz="1000" b="0" kern="1200" dirty="0">
              <a:solidFill>
                <a:schemeClr val="tx1"/>
              </a:solidFill>
              <a:latin typeface="Verdana"/>
              <a:ea typeface="微软雅黑" panose="020B0503020204020204" pitchFamily="34" charset="-122"/>
              <a:cs typeface="+mn-cs"/>
            </a:rPr>
            <a:t>大量</a:t>
          </a:r>
          <a:r>
            <a:rPr lang="en-US" sz="1000" b="0" kern="1200" dirty="0">
              <a:solidFill>
                <a:schemeClr val="tx1"/>
              </a:solidFill>
              <a:latin typeface="Verdana"/>
              <a:ea typeface="+mn-ea"/>
              <a:cs typeface="+mn-cs"/>
            </a:rPr>
            <a:t>APS</a:t>
          </a:r>
          <a:r>
            <a:rPr lang="zh-CN" altLang="en-US" sz="1000" b="0" kern="1200" dirty="0">
              <a:solidFill>
                <a:schemeClr val="tx1"/>
              </a:solidFill>
              <a:latin typeface="Verdana"/>
              <a:ea typeface="微软雅黑" panose="020B0503020204020204" pitchFamily="34" charset="-122"/>
              <a:cs typeface="+mn-cs"/>
            </a:rPr>
            <a:t>公司进入和退出</a:t>
          </a:r>
        </a:p>
        <a:p>
          <a:pPr marL="57150" lvl="1" indent="-57150" algn="l" defTabSz="444500">
            <a:lnSpc>
              <a:spcPct val="90000"/>
            </a:lnSpc>
            <a:spcBef>
              <a:spcPct val="0"/>
            </a:spcBef>
            <a:spcAft>
              <a:spcPct val="15000"/>
            </a:spcAft>
            <a:buChar char="•"/>
          </a:pPr>
          <a:r>
            <a:rPr lang="en-US" sz="1000" b="0" kern="1200" dirty="0">
              <a:solidFill>
                <a:schemeClr val="tx1"/>
              </a:solidFill>
              <a:latin typeface="Verdana"/>
              <a:ea typeface="+mn-ea"/>
              <a:cs typeface="+mn-cs"/>
            </a:rPr>
            <a:t>ERP</a:t>
          </a:r>
          <a:r>
            <a:rPr lang="zh-CN" altLang="en-US" sz="1000" b="0" kern="1200" dirty="0">
              <a:solidFill>
                <a:schemeClr val="tx1"/>
              </a:solidFill>
              <a:latin typeface="Verdana"/>
              <a:ea typeface="微软雅黑" panose="020B0503020204020204" pitchFamily="34" charset="-122"/>
              <a:cs typeface="+mn-cs"/>
            </a:rPr>
            <a:t>开始出现</a:t>
          </a:r>
          <a:r>
            <a:rPr lang="en-US" sz="1000" b="0" kern="1200" dirty="0">
              <a:solidFill>
                <a:schemeClr val="tx1"/>
              </a:solidFill>
              <a:latin typeface="Verdana"/>
              <a:ea typeface="+mn-ea"/>
              <a:cs typeface="+mn-cs"/>
            </a:rPr>
            <a:t>MRPI</a:t>
          </a:r>
          <a:r>
            <a:rPr lang="zh-CN" altLang="en-US" sz="1000" b="0" kern="1200" dirty="0">
              <a:solidFill>
                <a:schemeClr val="tx1"/>
              </a:solidFill>
              <a:latin typeface="Verdana"/>
              <a:ea typeface="微软雅黑" panose="020B0503020204020204" pitchFamily="34" charset="-122"/>
              <a:cs typeface="+mn-cs"/>
            </a:rPr>
            <a:t>功能</a:t>
          </a:r>
        </a:p>
      </dsp:txBody>
      <dsp:txXfrm>
        <a:off x="6967152" y="0"/>
        <a:ext cx="1658167" cy="1436732"/>
      </dsp:txXfrm>
    </dsp:sp>
    <dsp:sp modelId="{C53AA3FE-2AE3-404C-8F23-965296B10C49}">
      <dsp:nvSpPr>
        <dsp:cNvPr id="0" name=""/>
        <dsp:cNvSpPr/>
      </dsp:nvSpPr>
      <dsp:spPr>
        <a:xfrm>
          <a:off x="7616644" y="1616324"/>
          <a:ext cx="359183" cy="359183"/>
        </a:xfrm>
        <a:prstGeom prst="ellipse">
          <a:avLst/>
        </a:prstGeom>
        <a:solidFill>
          <a:schemeClr val="accent6">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2639C05-850D-419E-A56A-82E1CD6178CD}">
      <dsp:nvSpPr>
        <dsp:cNvPr id="0" name=""/>
        <dsp:cNvSpPr/>
      </dsp:nvSpPr>
      <dsp:spPr>
        <a:xfrm>
          <a:off x="8708228" y="2155099"/>
          <a:ext cx="1658167" cy="14367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5344" tIns="85344" rIns="85344" bIns="85344" numCol="1" spcCol="1270" anchor="t" anchorCtr="1">
          <a:noAutofit/>
        </a:bodyPr>
        <a:lstStyle/>
        <a:p>
          <a:pPr marL="0" lvl="0" indent="0" algn="l" defTabSz="533400">
            <a:lnSpc>
              <a:spcPct val="90000"/>
            </a:lnSpc>
            <a:spcBef>
              <a:spcPct val="0"/>
            </a:spcBef>
            <a:spcAft>
              <a:spcPct val="35000"/>
            </a:spcAft>
            <a:buNone/>
          </a:pPr>
          <a:r>
            <a:rPr lang="en-US" sz="1200" b="1" kern="1200" dirty="0">
              <a:solidFill>
                <a:schemeClr val="accent1">
                  <a:lumMod val="60000"/>
                  <a:lumOff val="40000"/>
                </a:schemeClr>
              </a:solidFill>
              <a:latin typeface="Verdana"/>
              <a:ea typeface="+mn-ea"/>
              <a:cs typeface="+mn-cs"/>
            </a:rPr>
            <a:t>Control Tower</a:t>
          </a:r>
          <a:r>
            <a:rPr lang="zh-CN" altLang="en-US" sz="1200" b="1" kern="1200" dirty="0">
              <a:solidFill>
                <a:schemeClr val="accent1">
                  <a:lumMod val="60000"/>
                  <a:lumOff val="40000"/>
                </a:schemeClr>
              </a:solidFill>
              <a:latin typeface="Verdana"/>
              <a:ea typeface="微软雅黑" panose="020B0503020204020204" pitchFamily="34" charset="-122"/>
              <a:cs typeface="+mn-cs"/>
            </a:rPr>
            <a:t>（向未来</a:t>
          </a:r>
          <a:r>
            <a:rPr lang="en-US" altLang="zh-CN" sz="1200" b="1" kern="1200" dirty="0">
              <a:solidFill>
                <a:schemeClr val="accent1">
                  <a:lumMod val="60000"/>
                  <a:lumOff val="40000"/>
                </a:schemeClr>
              </a:solidFill>
              <a:latin typeface="Verdana"/>
              <a:ea typeface="微软雅黑" panose="020B0503020204020204" pitchFamily="34" charset="-122"/>
              <a:cs typeface="+mn-cs"/>
            </a:rPr>
            <a:t>,</a:t>
          </a:r>
          <a:r>
            <a:rPr lang="zh-CN" altLang="en-US" sz="1200" b="1" kern="1200" dirty="0">
              <a:solidFill>
                <a:schemeClr val="accent1">
                  <a:lumMod val="60000"/>
                  <a:lumOff val="40000"/>
                </a:schemeClr>
              </a:solidFill>
              <a:latin typeface="Verdana"/>
              <a:ea typeface="微软雅黑" panose="020B0503020204020204" pitchFamily="34" charset="-122"/>
              <a:cs typeface="+mn-cs"/>
            </a:rPr>
            <a:t>未来以来）</a:t>
          </a:r>
        </a:p>
        <a:p>
          <a:pPr marL="57150" lvl="1" indent="-57150" algn="l" defTabSz="444500">
            <a:lnSpc>
              <a:spcPct val="90000"/>
            </a:lnSpc>
            <a:spcBef>
              <a:spcPct val="0"/>
            </a:spcBef>
            <a:spcAft>
              <a:spcPct val="15000"/>
            </a:spcAft>
            <a:buChar char="•"/>
          </a:pPr>
          <a:r>
            <a:rPr lang="zh-CN" altLang="en-US" sz="1000" b="0" kern="1200" dirty="0">
              <a:solidFill>
                <a:schemeClr val="tx1"/>
              </a:solidFill>
              <a:latin typeface="Verdana"/>
              <a:ea typeface="微软雅黑" panose="020B0503020204020204" pitchFamily="34" charset="-122"/>
              <a:cs typeface="+mn-cs"/>
            </a:rPr>
            <a:t>控制塔，</a:t>
          </a:r>
          <a:r>
            <a:rPr lang="en-US" sz="1000" b="0" kern="1200" dirty="0">
              <a:solidFill>
                <a:schemeClr val="tx1"/>
              </a:solidFill>
              <a:latin typeface="Verdana"/>
              <a:ea typeface="+mn-ea"/>
              <a:cs typeface="+mn-cs"/>
            </a:rPr>
            <a:t>ML&amp;AI etc.</a:t>
          </a:r>
          <a:endParaRPr lang="zh-CN" altLang="en-US" sz="1000" b="0" kern="1200" dirty="0">
            <a:solidFill>
              <a:schemeClr val="tx1"/>
            </a:solidFill>
            <a:latin typeface="Verdana"/>
            <a:ea typeface="微软雅黑" panose="020B0503020204020204" pitchFamily="34" charset="-122"/>
            <a:cs typeface="+mn-cs"/>
          </a:endParaRPr>
        </a:p>
      </dsp:txBody>
      <dsp:txXfrm>
        <a:off x="8708228" y="2155099"/>
        <a:ext cx="1658167" cy="1436732"/>
      </dsp:txXfrm>
    </dsp:sp>
    <dsp:sp modelId="{4AEBD6FA-FC60-46D8-AC3D-BB4BA14A8539}">
      <dsp:nvSpPr>
        <dsp:cNvPr id="0" name=""/>
        <dsp:cNvSpPr/>
      </dsp:nvSpPr>
      <dsp:spPr>
        <a:xfrm>
          <a:off x="9357720" y="1616324"/>
          <a:ext cx="359183" cy="359183"/>
        </a:xfrm>
        <a:prstGeom prst="ellipse">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6CE83E3-510F-490C-9F7F-4096296FB3BA}">
      <dsp:nvSpPr>
        <dsp:cNvPr id="0" name=""/>
        <dsp:cNvSpPr/>
      </dsp:nvSpPr>
      <dsp:spPr>
        <a:xfrm>
          <a:off x="0" y="50996"/>
          <a:ext cx="8549931" cy="433485"/>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zh-CN" sz="1400" b="1" kern="1200" dirty="0">
              <a:solidFill>
                <a:schemeClr val="tx1"/>
              </a:solidFill>
            </a:rPr>
            <a:t>技术</a:t>
          </a:r>
          <a:r>
            <a:rPr lang="zh-CN" sz="1400" b="0" kern="1200" dirty="0">
              <a:solidFill>
                <a:schemeClr val="tx1"/>
              </a:solidFill>
            </a:rPr>
            <a:t>的发展在不断地</a:t>
          </a:r>
          <a:r>
            <a:rPr lang="zh-CN" sz="1400" b="1" kern="1200" dirty="0">
              <a:solidFill>
                <a:schemeClr val="tx1"/>
              </a:solidFill>
              <a:latin typeface="Verdana"/>
              <a:ea typeface="微软雅黑" panose="020B0503020204020204" pitchFamily="34" charset="-122"/>
              <a:cs typeface="+mn-cs"/>
            </a:rPr>
            <a:t>驱动管理理论</a:t>
          </a:r>
          <a:r>
            <a:rPr lang="zh-CN" sz="1400" b="1" kern="1200" dirty="0">
              <a:solidFill>
                <a:schemeClr val="tx1"/>
              </a:solidFill>
            </a:rPr>
            <a:t>和实践</a:t>
          </a:r>
          <a:r>
            <a:rPr lang="zh-CN" sz="1400" b="0" kern="1200" dirty="0">
              <a:solidFill>
                <a:schemeClr val="tx1"/>
              </a:solidFill>
            </a:rPr>
            <a:t>的</a:t>
          </a:r>
          <a:r>
            <a:rPr lang="zh-CN" altLang="en-US" sz="1400" b="1" kern="1200" dirty="0">
              <a:solidFill>
                <a:schemeClr val="tx1"/>
              </a:solidFill>
            </a:rPr>
            <a:t>发展</a:t>
          </a:r>
          <a:r>
            <a:rPr lang="zh-CN" sz="1400" b="0" kern="1200" dirty="0">
              <a:solidFill>
                <a:schemeClr val="tx1"/>
              </a:solidFill>
            </a:rPr>
            <a:t>。</a:t>
          </a:r>
          <a:r>
            <a:rPr lang="en-US" sz="1400" b="0" kern="1200" dirty="0">
              <a:solidFill>
                <a:schemeClr val="tx1"/>
              </a:solidFill>
            </a:rPr>
            <a:t>- APICS CPIM</a:t>
          </a:r>
          <a:endParaRPr lang="zh-CN" sz="1400" b="0" kern="1200" dirty="0">
            <a:solidFill>
              <a:schemeClr val="tx1"/>
            </a:solidFill>
          </a:endParaRPr>
        </a:p>
      </dsp:txBody>
      <dsp:txXfrm>
        <a:off x="21161" y="72157"/>
        <a:ext cx="8507609" cy="391163"/>
      </dsp:txXfrm>
    </dsp:sp>
    <dsp:sp modelId="{D83B52ED-BA55-4FDB-A3F6-E89F0EA99AB9}">
      <dsp:nvSpPr>
        <dsp:cNvPr id="0" name=""/>
        <dsp:cNvSpPr/>
      </dsp:nvSpPr>
      <dsp:spPr>
        <a:xfrm>
          <a:off x="0" y="521921"/>
          <a:ext cx="8549931" cy="433485"/>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zh-CN" sz="1300" b="0" kern="1200" dirty="0">
              <a:solidFill>
                <a:schemeClr val="tx1"/>
              </a:solidFill>
            </a:rPr>
            <a:t>通过技术革新，</a:t>
          </a:r>
          <a:r>
            <a:rPr lang="zh-CN" sz="1300" b="1" kern="1200" dirty="0">
              <a:solidFill>
                <a:schemeClr val="tx1"/>
              </a:solidFill>
            </a:rPr>
            <a:t>创造性改变计划模式</a:t>
          </a:r>
          <a:r>
            <a:rPr lang="zh-CN" sz="1300" b="0" kern="1200" dirty="0">
              <a:solidFill>
                <a:schemeClr val="tx1"/>
              </a:solidFill>
            </a:rPr>
            <a:t>，显著提高运营</a:t>
          </a:r>
          <a:r>
            <a:rPr lang="zh-CN" sz="1300" b="1" kern="1200" dirty="0">
              <a:solidFill>
                <a:schemeClr val="tx1"/>
              </a:solidFill>
            </a:rPr>
            <a:t>决策质量</a:t>
          </a:r>
          <a:r>
            <a:rPr lang="zh-CN" sz="1300" b="0" kern="1200" dirty="0">
              <a:solidFill>
                <a:schemeClr val="tx1"/>
              </a:solidFill>
            </a:rPr>
            <a:t>，从而提供</a:t>
          </a:r>
          <a:r>
            <a:rPr lang="zh-CN" sz="1300" b="1" kern="1200" dirty="0">
              <a:solidFill>
                <a:schemeClr val="tx1"/>
              </a:solidFill>
            </a:rPr>
            <a:t>更多商业可能</a:t>
          </a:r>
          <a:r>
            <a:rPr lang="zh-CN" sz="1300" b="0" kern="1200" dirty="0">
              <a:solidFill>
                <a:schemeClr val="tx1"/>
              </a:solidFill>
            </a:rPr>
            <a:t>。</a:t>
          </a:r>
          <a:r>
            <a:rPr lang="en-US" sz="1300" b="0" kern="1200" dirty="0">
              <a:solidFill>
                <a:schemeClr val="tx1"/>
              </a:solidFill>
            </a:rPr>
            <a:t>-Gartner Maturity Module</a:t>
          </a:r>
          <a:endParaRPr lang="zh-CN" sz="1300" b="0" kern="1200" dirty="0">
            <a:solidFill>
              <a:schemeClr val="tx1"/>
            </a:solidFill>
          </a:endParaRPr>
        </a:p>
      </dsp:txBody>
      <dsp:txXfrm>
        <a:off x="21161" y="543082"/>
        <a:ext cx="8507609" cy="391163"/>
      </dsp:txXfrm>
    </dsp:sp>
    <dsp:sp modelId="{1828D8E1-C219-4B7E-8590-076F20971C54}">
      <dsp:nvSpPr>
        <dsp:cNvPr id="0" name=""/>
        <dsp:cNvSpPr/>
      </dsp:nvSpPr>
      <dsp:spPr>
        <a:xfrm>
          <a:off x="0" y="992846"/>
          <a:ext cx="8549931" cy="433485"/>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zh-CN" altLang="en-US" sz="1300" b="1" kern="1200" dirty="0">
              <a:solidFill>
                <a:schemeClr val="tx1"/>
              </a:solidFill>
            </a:rPr>
            <a:t>数字化</a:t>
          </a:r>
          <a:r>
            <a:rPr lang="en-US" altLang="zh-CN" sz="1300" b="1" kern="1200" dirty="0">
              <a:solidFill>
                <a:schemeClr val="tx1"/>
              </a:solidFill>
            </a:rPr>
            <a:t>Planning &amp; Control Tower</a:t>
          </a:r>
          <a:r>
            <a:rPr lang="zh-CN" altLang="en-US" sz="1300" kern="1200" dirty="0">
              <a:solidFill>
                <a:schemeClr val="tx1"/>
              </a:solidFill>
            </a:rPr>
            <a:t>投入占企业数字化转型的</a:t>
          </a:r>
          <a:r>
            <a:rPr lang="en-US" altLang="zh-CN" sz="1300" b="1" kern="1200" dirty="0">
              <a:solidFill>
                <a:schemeClr val="tx1"/>
              </a:solidFill>
            </a:rPr>
            <a:t>15%-20% </a:t>
          </a:r>
          <a:r>
            <a:rPr lang="en-US" altLang="zh-CN" sz="1300" kern="1200" dirty="0">
              <a:solidFill>
                <a:schemeClr val="tx1"/>
              </a:solidFill>
            </a:rPr>
            <a:t>- IDC </a:t>
          </a:r>
          <a:endParaRPr lang="zh-CN" sz="1300" kern="1200" dirty="0">
            <a:solidFill>
              <a:schemeClr val="tx1"/>
            </a:solidFill>
          </a:endParaRPr>
        </a:p>
      </dsp:txBody>
      <dsp:txXfrm>
        <a:off x="21161" y="1014007"/>
        <a:ext cx="8507609" cy="391163"/>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6539D17-2819-4CB5-B082-85AB37D5B4D8}">
      <dsp:nvSpPr>
        <dsp:cNvPr id="0" name=""/>
        <dsp:cNvSpPr/>
      </dsp:nvSpPr>
      <dsp:spPr>
        <a:xfrm>
          <a:off x="0" y="222035"/>
          <a:ext cx="10969200" cy="441000"/>
        </a:xfrm>
        <a:prstGeom prst="rect">
          <a:avLst/>
        </a:prstGeom>
        <a:solidFill>
          <a:schemeClr val="lt1">
            <a:alpha val="90000"/>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1332" tIns="166624" rIns="851332" bIns="71120" numCol="1" spcCol="1270" anchor="t" anchorCtr="0">
          <a:noAutofit/>
        </a:bodyPr>
        <a:lstStyle/>
        <a:p>
          <a:pPr marL="57150" lvl="1" indent="-57150" algn="l" defTabSz="444500">
            <a:lnSpc>
              <a:spcPct val="90000"/>
            </a:lnSpc>
            <a:spcBef>
              <a:spcPct val="0"/>
            </a:spcBef>
            <a:spcAft>
              <a:spcPct val="15000"/>
            </a:spcAft>
            <a:buChar char="•"/>
          </a:pPr>
          <a:r>
            <a:rPr lang="zh-CN" altLang="en-US" sz="1000" b="1" kern="1200">
              <a:solidFill>
                <a:schemeClr val="bg1"/>
              </a:solidFill>
              <a:latin typeface="+mj-ea"/>
              <a:ea typeface="+mj-ea"/>
              <a:cs typeface="+mn-cs"/>
            </a:rPr>
            <a:t>主计划，欠料，发货通知，生产计划，交期承诺，工单，排程，拉料一体化智能协奏让工厂运作丝滑进行。</a:t>
          </a:r>
          <a:endParaRPr lang="zh-CN" altLang="en-US" sz="1000" b="1" kern="1200" dirty="0">
            <a:solidFill>
              <a:schemeClr val="bg1"/>
            </a:solidFill>
            <a:latin typeface="+mj-ea"/>
            <a:ea typeface="+mj-ea"/>
            <a:cs typeface="+mn-cs"/>
          </a:endParaRPr>
        </a:p>
      </dsp:txBody>
      <dsp:txXfrm>
        <a:off x="0" y="222035"/>
        <a:ext cx="10969200" cy="441000"/>
      </dsp:txXfrm>
    </dsp:sp>
    <dsp:sp modelId="{DB270920-EFCA-4C63-B7F7-9DFDA007D9C9}">
      <dsp:nvSpPr>
        <dsp:cNvPr id="0" name=""/>
        <dsp:cNvSpPr/>
      </dsp:nvSpPr>
      <dsp:spPr>
        <a:xfrm>
          <a:off x="548460" y="103955"/>
          <a:ext cx="7678440" cy="236160"/>
        </a:xfrm>
        <a:prstGeom prst="roundRect">
          <a:avLst/>
        </a:prstGeom>
        <a:solidFill>
          <a:schemeClr val="accent1">
            <a:shade val="8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70527" tIns="0" rIns="270527" bIns="0" numCol="1" spcCol="1270" anchor="ctr" anchorCtr="0">
          <a:noAutofit/>
        </a:bodyPr>
        <a:lstStyle/>
        <a:p>
          <a:pPr marL="0" lvl="0" indent="0" algn="l" defTabSz="533400">
            <a:lnSpc>
              <a:spcPct val="90000"/>
            </a:lnSpc>
            <a:spcBef>
              <a:spcPct val="0"/>
            </a:spcBef>
            <a:spcAft>
              <a:spcPct val="35000"/>
            </a:spcAft>
            <a:buNone/>
          </a:pPr>
          <a:r>
            <a:rPr lang="zh-CN" altLang="en-US" sz="1400" b="1" kern="1200">
              <a:solidFill>
                <a:schemeClr val="bg1"/>
              </a:solidFill>
              <a:latin typeface="+mj-ea"/>
              <a:ea typeface="+mj-ea"/>
              <a:cs typeface="+mn-cs"/>
            </a:rPr>
            <a:t>智能计划与排程</a:t>
          </a:r>
          <a:r>
            <a:rPr lang="en-US" altLang="zh-CN" sz="1400" b="1" kern="1200">
              <a:solidFill>
                <a:schemeClr val="bg1"/>
              </a:solidFill>
              <a:latin typeface="+mj-ea"/>
              <a:ea typeface="+mj-ea"/>
              <a:cs typeface="+mn-cs"/>
            </a:rPr>
            <a:t>IPS</a:t>
          </a:r>
          <a:r>
            <a:rPr lang="zh-CN" altLang="en-US" sz="1400" b="1" kern="1200">
              <a:solidFill>
                <a:schemeClr val="bg1"/>
              </a:solidFill>
              <a:latin typeface="+mj-ea"/>
              <a:ea typeface="+mj-ea"/>
              <a:cs typeface="+mn-cs"/>
            </a:rPr>
            <a:t>（</a:t>
          </a:r>
          <a:r>
            <a:rPr lang="en-US" altLang="zh-CN" sz="1400" b="1" kern="1200">
              <a:solidFill>
                <a:schemeClr val="bg1"/>
              </a:solidFill>
              <a:latin typeface="+mj-ea"/>
              <a:ea typeface="+mj-ea"/>
              <a:cs typeface="+mn-cs"/>
            </a:rPr>
            <a:t>Intelligent Planning &amp; Scheduling</a:t>
          </a:r>
          <a:r>
            <a:rPr lang="zh-CN" altLang="en-US" sz="1400" b="1" kern="1200">
              <a:solidFill>
                <a:schemeClr val="bg1"/>
              </a:solidFill>
              <a:latin typeface="+mj-ea"/>
              <a:ea typeface="+mj-ea"/>
              <a:cs typeface="+mn-cs"/>
            </a:rPr>
            <a:t>）</a:t>
          </a:r>
          <a:endParaRPr lang="zh-CN" altLang="en-US" sz="1400" b="1" kern="1200" dirty="0">
            <a:solidFill>
              <a:schemeClr val="bg1"/>
            </a:solidFill>
            <a:latin typeface="+mj-ea"/>
            <a:ea typeface="+mj-ea"/>
            <a:cs typeface="+mn-cs"/>
          </a:endParaRPr>
        </a:p>
      </dsp:txBody>
      <dsp:txXfrm>
        <a:off x="559988" y="115483"/>
        <a:ext cx="7655384" cy="213104"/>
      </dsp:txXfrm>
    </dsp:sp>
    <dsp:sp modelId="{81B11068-E115-4A70-9CB8-E98C56CDFCC9}">
      <dsp:nvSpPr>
        <dsp:cNvPr id="0" name=""/>
        <dsp:cNvSpPr/>
      </dsp:nvSpPr>
      <dsp:spPr>
        <a:xfrm>
          <a:off x="0" y="824315"/>
          <a:ext cx="10969200" cy="441000"/>
        </a:xfrm>
        <a:prstGeom prst="rect">
          <a:avLst/>
        </a:prstGeom>
        <a:solidFill>
          <a:schemeClr val="lt1">
            <a:alpha val="90000"/>
            <a:hueOff val="0"/>
            <a:satOff val="0"/>
            <a:lumOff val="0"/>
            <a:alphaOff val="0"/>
          </a:schemeClr>
        </a:solidFill>
        <a:ln w="12700" cap="flat" cmpd="sng" algn="ctr">
          <a:solidFill>
            <a:schemeClr val="accent1">
              <a:shade val="80000"/>
              <a:hueOff val="48757"/>
              <a:satOff val="-949"/>
              <a:lumOff val="3786"/>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1332" tIns="166624" rIns="851332" bIns="71120" numCol="1" spcCol="1270" anchor="t" anchorCtr="0">
          <a:noAutofit/>
        </a:bodyPr>
        <a:lstStyle/>
        <a:p>
          <a:pPr marL="57150" lvl="1" indent="-57150" algn="l" defTabSz="444500">
            <a:lnSpc>
              <a:spcPct val="90000"/>
            </a:lnSpc>
            <a:spcBef>
              <a:spcPct val="0"/>
            </a:spcBef>
            <a:spcAft>
              <a:spcPct val="15000"/>
            </a:spcAft>
            <a:buChar char="•"/>
          </a:pPr>
          <a:r>
            <a:rPr lang="zh-CN" altLang="en-US" sz="1000" b="1" kern="1200">
              <a:solidFill>
                <a:schemeClr val="bg1"/>
              </a:solidFill>
              <a:latin typeface="+mj-ea"/>
              <a:ea typeface="+mj-ea"/>
              <a:cs typeface="+mn-cs"/>
            </a:rPr>
            <a:t>在保障交期的前提下让资源最大化利用的</a:t>
          </a:r>
          <a:r>
            <a:rPr lang="en-US" altLang="zh-CN" sz="1000" b="1" kern="1200">
              <a:solidFill>
                <a:schemeClr val="bg1"/>
              </a:solidFill>
              <a:latin typeface="+mj-ea"/>
              <a:ea typeface="+mj-ea"/>
              <a:cs typeface="+mn-cs"/>
            </a:rPr>
            <a:t>One Plan</a:t>
          </a:r>
          <a:r>
            <a:rPr lang="zh-CN" altLang="en-US" sz="1000" b="1" kern="1200">
              <a:solidFill>
                <a:schemeClr val="bg1"/>
              </a:solidFill>
              <a:latin typeface="+mj-ea"/>
              <a:ea typeface="+mj-ea"/>
              <a:cs typeface="+mn-cs"/>
            </a:rPr>
            <a:t>。专，共线问题，连续生产问题等。</a:t>
          </a:r>
          <a:endParaRPr lang="zh-CN" altLang="en-US" sz="1000" b="1" kern="1200" dirty="0">
            <a:solidFill>
              <a:schemeClr val="bg1"/>
            </a:solidFill>
            <a:latin typeface="+mj-ea"/>
            <a:ea typeface="+mj-ea"/>
            <a:cs typeface="+mn-cs"/>
          </a:endParaRPr>
        </a:p>
      </dsp:txBody>
      <dsp:txXfrm>
        <a:off x="0" y="824315"/>
        <a:ext cx="10969200" cy="441000"/>
      </dsp:txXfrm>
    </dsp:sp>
    <dsp:sp modelId="{46A14081-D766-4E36-978C-5E0288CC9745}">
      <dsp:nvSpPr>
        <dsp:cNvPr id="0" name=""/>
        <dsp:cNvSpPr/>
      </dsp:nvSpPr>
      <dsp:spPr>
        <a:xfrm>
          <a:off x="548460" y="706235"/>
          <a:ext cx="7678440" cy="236160"/>
        </a:xfrm>
        <a:prstGeom prst="roundRect">
          <a:avLst/>
        </a:prstGeom>
        <a:solidFill>
          <a:schemeClr val="accent1">
            <a:shade val="80000"/>
            <a:hueOff val="48757"/>
            <a:satOff val="-949"/>
            <a:lumOff val="3786"/>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90227" tIns="0" rIns="290227" bIns="0" numCol="1" spcCol="1270" anchor="ctr" anchorCtr="0">
          <a:noAutofit/>
        </a:bodyPr>
        <a:lstStyle/>
        <a:p>
          <a:pPr marL="0" lvl="0" indent="0" algn="l" defTabSz="622300">
            <a:lnSpc>
              <a:spcPct val="90000"/>
            </a:lnSpc>
            <a:spcBef>
              <a:spcPct val="0"/>
            </a:spcBef>
            <a:spcAft>
              <a:spcPct val="35000"/>
            </a:spcAft>
            <a:buNone/>
          </a:pPr>
          <a:r>
            <a:rPr lang="zh-CN" altLang="en-US" sz="1400" b="1" kern="1200">
              <a:solidFill>
                <a:schemeClr val="bg1"/>
              </a:solidFill>
              <a:latin typeface="+mj-ea"/>
              <a:ea typeface="+mj-ea"/>
              <a:cs typeface="+mn-cs"/>
            </a:rPr>
            <a:t>执行计划如何保障交付又准又快：</a:t>
          </a:r>
          <a:endParaRPr lang="zh-CN" altLang="en-US" sz="1400" b="1" kern="1200" dirty="0">
            <a:solidFill>
              <a:schemeClr val="bg1"/>
            </a:solidFill>
            <a:latin typeface="+mj-ea"/>
            <a:ea typeface="+mj-ea"/>
            <a:cs typeface="+mn-cs"/>
          </a:endParaRPr>
        </a:p>
      </dsp:txBody>
      <dsp:txXfrm>
        <a:off x="559988" y="717763"/>
        <a:ext cx="7655384" cy="213104"/>
      </dsp:txXfrm>
    </dsp:sp>
    <dsp:sp modelId="{896089C3-56E3-48B7-9CB7-BE11962F3131}">
      <dsp:nvSpPr>
        <dsp:cNvPr id="0" name=""/>
        <dsp:cNvSpPr/>
      </dsp:nvSpPr>
      <dsp:spPr>
        <a:xfrm>
          <a:off x="0" y="1426595"/>
          <a:ext cx="10969200" cy="882000"/>
        </a:xfrm>
        <a:prstGeom prst="rect">
          <a:avLst/>
        </a:prstGeom>
        <a:solidFill>
          <a:schemeClr val="lt1">
            <a:alpha val="90000"/>
            <a:hueOff val="0"/>
            <a:satOff val="0"/>
            <a:lumOff val="0"/>
            <a:alphaOff val="0"/>
          </a:schemeClr>
        </a:solidFill>
        <a:ln w="12700" cap="flat" cmpd="sng" algn="ctr">
          <a:solidFill>
            <a:schemeClr val="accent1">
              <a:shade val="80000"/>
              <a:hueOff val="97514"/>
              <a:satOff val="-1898"/>
              <a:lumOff val="7572"/>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1332" tIns="187452" rIns="851332" bIns="64008" numCol="1" spcCol="1270" anchor="t" anchorCtr="0">
          <a:noAutofit/>
        </a:bodyPr>
        <a:lstStyle/>
        <a:p>
          <a:pPr marL="57150" lvl="1" indent="-57150" algn="l" defTabSz="400050">
            <a:lnSpc>
              <a:spcPct val="90000"/>
            </a:lnSpc>
            <a:spcBef>
              <a:spcPct val="0"/>
            </a:spcBef>
            <a:spcAft>
              <a:spcPct val="15000"/>
            </a:spcAft>
            <a:buChar char="•"/>
          </a:pPr>
          <a:r>
            <a:rPr lang="zh-CN" altLang="en-US" sz="1000" b="1" kern="1200">
              <a:solidFill>
                <a:schemeClr val="bg1"/>
              </a:solidFill>
              <a:latin typeface="+mj-ea"/>
              <a:ea typeface="+mj-ea"/>
              <a:cs typeface="+mn-cs"/>
            </a:rPr>
            <a:t>优先级管理需要从战略到执行的管理。重要客户，区域，产品组的订单优先级高也不能保障其可得性。我们需要在预测中考量，并在主计划中做资源分配相当于预留（刚柔并进）。</a:t>
          </a:r>
          <a:endParaRPr lang="zh-CN" altLang="en-US" sz="1000" b="1" kern="1200" dirty="0">
            <a:solidFill>
              <a:schemeClr val="bg1"/>
            </a:solidFill>
            <a:latin typeface="+mj-ea"/>
            <a:ea typeface="+mj-ea"/>
            <a:cs typeface="+mn-cs"/>
          </a:endParaRPr>
        </a:p>
        <a:p>
          <a:pPr marL="57150" lvl="1" indent="-57150" algn="l" defTabSz="400050">
            <a:lnSpc>
              <a:spcPct val="90000"/>
            </a:lnSpc>
            <a:spcBef>
              <a:spcPct val="0"/>
            </a:spcBef>
            <a:spcAft>
              <a:spcPct val="15000"/>
            </a:spcAft>
            <a:buChar char="•"/>
          </a:pPr>
          <a:r>
            <a:rPr lang="zh-CN" altLang="en-US" sz="1000" b="1" kern="1200">
              <a:solidFill>
                <a:schemeClr val="bg1"/>
              </a:solidFill>
              <a:latin typeface="+mj-ea"/>
              <a:ea typeface="+mj-ea"/>
              <a:cs typeface="+mn-cs"/>
            </a:rPr>
            <a:t>在执行过程中即要交付又准又快有要符合战术的约束指导</a:t>
          </a:r>
          <a:endParaRPr lang="zh-CN" altLang="en-US" sz="1000" b="1" kern="1200" dirty="0">
            <a:solidFill>
              <a:schemeClr val="bg1"/>
            </a:solidFill>
            <a:latin typeface="+mj-ea"/>
            <a:ea typeface="+mj-ea"/>
            <a:cs typeface="+mn-cs"/>
          </a:endParaRPr>
        </a:p>
      </dsp:txBody>
      <dsp:txXfrm>
        <a:off x="0" y="1426595"/>
        <a:ext cx="10969200" cy="882000"/>
      </dsp:txXfrm>
    </dsp:sp>
    <dsp:sp modelId="{77CF62F0-0F67-40DC-8542-461263097C38}">
      <dsp:nvSpPr>
        <dsp:cNvPr id="0" name=""/>
        <dsp:cNvSpPr/>
      </dsp:nvSpPr>
      <dsp:spPr>
        <a:xfrm>
          <a:off x="548460" y="1308515"/>
          <a:ext cx="7678440" cy="236160"/>
        </a:xfrm>
        <a:prstGeom prst="roundRect">
          <a:avLst/>
        </a:prstGeom>
        <a:solidFill>
          <a:schemeClr val="accent1">
            <a:shade val="80000"/>
            <a:hueOff val="97514"/>
            <a:satOff val="-1898"/>
            <a:lumOff val="7572"/>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90227" tIns="0" rIns="290227" bIns="0" numCol="1" spcCol="1270" anchor="ctr" anchorCtr="0">
          <a:noAutofit/>
        </a:bodyPr>
        <a:lstStyle/>
        <a:p>
          <a:pPr marL="0" lvl="0" indent="0" algn="l" defTabSz="533400">
            <a:lnSpc>
              <a:spcPct val="90000"/>
            </a:lnSpc>
            <a:spcBef>
              <a:spcPct val="0"/>
            </a:spcBef>
            <a:spcAft>
              <a:spcPct val="35000"/>
            </a:spcAft>
            <a:buNone/>
          </a:pPr>
          <a:r>
            <a:rPr lang="en-US" altLang="zh-CN" sz="1400" b="1" kern="1200">
              <a:solidFill>
                <a:schemeClr val="bg1"/>
              </a:solidFill>
              <a:latin typeface="+mj-ea"/>
              <a:ea typeface="+mj-ea"/>
              <a:cs typeface="+mn-cs"/>
            </a:rPr>
            <a:t>E2E </a:t>
          </a:r>
          <a:r>
            <a:rPr lang="zh-CN" altLang="en-US" sz="1400" b="1" kern="1200">
              <a:solidFill>
                <a:schemeClr val="bg1"/>
              </a:solidFill>
              <a:latin typeface="+mj-ea"/>
              <a:ea typeface="+mj-ea"/>
              <a:cs typeface="+mn-cs"/>
            </a:rPr>
            <a:t>优先级管理</a:t>
          </a:r>
          <a:endParaRPr lang="zh-CN" altLang="en-US" sz="1400" b="1" kern="1200" dirty="0">
            <a:solidFill>
              <a:schemeClr val="bg1"/>
            </a:solidFill>
            <a:latin typeface="+mj-ea"/>
            <a:ea typeface="+mj-ea"/>
            <a:cs typeface="+mn-cs"/>
          </a:endParaRPr>
        </a:p>
      </dsp:txBody>
      <dsp:txXfrm>
        <a:off x="559988" y="1320043"/>
        <a:ext cx="7655384" cy="213104"/>
      </dsp:txXfrm>
    </dsp:sp>
    <dsp:sp modelId="{1080CE5F-0C34-40B1-B1BF-1963AF1DBE91}">
      <dsp:nvSpPr>
        <dsp:cNvPr id="0" name=""/>
        <dsp:cNvSpPr/>
      </dsp:nvSpPr>
      <dsp:spPr>
        <a:xfrm>
          <a:off x="0" y="2469875"/>
          <a:ext cx="10969200" cy="441000"/>
        </a:xfrm>
        <a:prstGeom prst="rect">
          <a:avLst/>
        </a:prstGeom>
        <a:solidFill>
          <a:schemeClr val="lt1">
            <a:alpha val="90000"/>
            <a:hueOff val="0"/>
            <a:satOff val="0"/>
            <a:lumOff val="0"/>
            <a:alphaOff val="0"/>
          </a:schemeClr>
        </a:solidFill>
        <a:ln w="12700" cap="flat" cmpd="sng" algn="ctr">
          <a:solidFill>
            <a:schemeClr val="accent1">
              <a:shade val="80000"/>
              <a:hueOff val="146271"/>
              <a:satOff val="-2847"/>
              <a:lumOff val="11358"/>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1332" tIns="166624" rIns="851332" bIns="71120" numCol="1" spcCol="1270" anchor="t" anchorCtr="0">
          <a:noAutofit/>
        </a:bodyPr>
        <a:lstStyle/>
        <a:p>
          <a:pPr marL="57150" lvl="1" indent="-57150" algn="l" defTabSz="444500">
            <a:lnSpc>
              <a:spcPct val="90000"/>
            </a:lnSpc>
            <a:spcBef>
              <a:spcPct val="0"/>
            </a:spcBef>
            <a:spcAft>
              <a:spcPct val="15000"/>
            </a:spcAft>
            <a:buChar char="•"/>
          </a:pPr>
          <a:r>
            <a:rPr lang="zh-CN" altLang="en-US" sz="1000" b="1" kern="1200" dirty="0">
              <a:solidFill>
                <a:schemeClr val="bg1"/>
              </a:solidFill>
              <a:latin typeface="+mj-ea"/>
              <a:ea typeface="+mj-ea"/>
              <a:cs typeface="+mn-cs"/>
            </a:rPr>
            <a:t>对产品结构、供应、资源、配置、配方、地域、产品层级、客户层级的个性化需求</a:t>
          </a:r>
        </a:p>
      </dsp:txBody>
      <dsp:txXfrm>
        <a:off x="0" y="2469875"/>
        <a:ext cx="10969200" cy="441000"/>
      </dsp:txXfrm>
    </dsp:sp>
    <dsp:sp modelId="{8B737F45-C7AA-4B15-BF57-C3BDDF01C565}">
      <dsp:nvSpPr>
        <dsp:cNvPr id="0" name=""/>
        <dsp:cNvSpPr/>
      </dsp:nvSpPr>
      <dsp:spPr>
        <a:xfrm>
          <a:off x="548460" y="2351795"/>
          <a:ext cx="7678440" cy="236160"/>
        </a:xfrm>
        <a:prstGeom prst="roundRect">
          <a:avLst/>
        </a:prstGeom>
        <a:solidFill>
          <a:schemeClr val="accent1">
            <a:shade val="80000"/>
            <a:hueOff val="146271"/>
            <a:satOff val="-2847"/>
            <a:lumOff val="11358"/>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90227" tIns="0" rIns="290227" bIns="0" numCol="1" spcCol="1270" anchor="ctr" anchorCtr="0">
          <a:noAutofit/>
        </a:bodyPr>
        <a:lstStyle/>
        <a:p>
          <a:pPr marL="0" lvl="0" indent="0" algn="l" defTabSz="622300">
            <a:lnSpc>
              <a:spcPct val="90000"/>
            </a:lnSpc>
            <a:spcBef>
              <a:spcPct val="0"/>
            </a:spcBef>
            <a:spcAft>
              <a:spcPct val="35000"/>
            </a:spcAft>
            <a:buNone/>
          </a:pPr>
          <a:r>
            <a:rPr lang="zh-CN" altLang="en-US" sz="1400" b="1" kern="1200" dirty="0">
              <a:solidFill>
                <a:schemeClr val="bg1"/>
              </a:solidFill>
              <a:latin typeface="+mj-ea"/>
              <a:ea typeface="+mj-ea"/>
              <a:cs typeface="+mn-cs"/>
            </a:rPr>
            <a:t>维度规划： </a:t>
          </a:r>
        </a:p>
      </dsp:txBody>
      <dsp:txXfrm>
        <a:off x="559988" y="2363323"/>
        <a:ext cx="7655384" cy="213104"/>
      </dsp:txXfrm>
    </dsp:sp>
    <dsp:sp modelId="{52416394-0E07-4B5C-8E03-7A7A47BAF4A6}">
      <dsp:nvSpPr>
        <dsp:cNvPr id="0" name=""/>
        <dsp:cNvSpPr/>
      </dsp:nvSpPr>
      <dsp:spPr>
        <a:xfrm>
          <a:off x="0" y="3072156"/>
          <a:ext cx="10969200" cy="642600"/>
        </a:xfrm>
        <a:prstGeom prst="rect">
          <a:avLst/>
        </a:prstGeom>
        <a:solidFill>
          <a:schemeClr val="lt1">
            <a:alpha val="90000"/>
            <a:hueOff val="0"/>
            <a:satOff val="0"/>
            <a:lumOff val="0"/>
            <a:alphaOff val="0"/>
          </a:schemeClr>
        </a:solidFill>
        <a:ln w="12700" cap="flat" cmpd="sng" algn="ctr">
          <a:solidFill>
            <a:schemeClr val="accent1">
              <a:shade val="80000"/>
              <a:hueOff val="195028"/>
              <a:satOff val="-3795"/>
              <a:lumOff val="15145"/>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1332" tIns="166624" rIns="851332" bIns="71120" numCol="1" spcCol="1270" anchor="t" anchorCtr="0">
          <a:noAutofit/>
        </a:bodyPr>
        <a:lstStyle/>
        <a:p>
          <a:pPr marL="57150" lvl="1" indent="-57150" algn="l" defTabSz="444500">
            <a:lnSpc>
              <a:spcPct val="90000"/>
            </a:lnSpc>
            <a:spcBef>
              <a:spcPct val="0"/>
            </a:spcBef>
            <a:spcAft>
              <a:spcPct val="15000"/>
            </a:spcAft>
            <a:buChar char="•"/>
          </a:pPr>
          <a:r>
            <a:rPr lang="zh-CN" altLang="en-US" sz="1000" b="1" i="0" kern="1200" dirty="0">
              <a:solidFill>
                <a:schemeClr val="bg1"/>
              </a:solidFill>
              <a:latin typeface="+mj-ea"/>
              <a:ea typeface="+mj-ea"/>
              <a:cs typeface="+mn-cs"/>
            </a:rPr>
            <a:t>以颠覆的模型算法智能决策，快速响应市场和供应侧变化。多层</a:t>
          </a:r>
          <a:r>
            <a:rPr lang="en-US" sz="1000" b="1" i="0" kern="1200" dirty="0">
              <a:solidFill>
                <a:schemeClr val="bg1"/>
              </a:solidFill>
              <a:latin typeface="+mj-ea"/>
              <a:ea typeface="+mj-ea"/>
              <a:cs typeface="+mn-cs"/>
            </a:rPr>
            <a:t>BOM, </a:t>
          </a:r>
          <a:r>
            <a:rPr lang="zh-CN" altLang="en-US" sz="1000" b="1" i="0" kern="1200" dirty="0">
              <a:solidFill>
                <a:schemeClr val="bg1"/>
              </a:solidFill>
              <a:latin typeface="+mj-ea"/>
              <a:ea typeface="+mj-ea"/>
              <a:cs typeface="+mn-cs"/>
            </a:rPr>
            <a:t>跨工厂寻源，多供应链网络节点和层级，众多规则，约束等复杂场景导致计划决策长达数小时甚至十几个小时才能抛出结果。</a:t>
          </a:r>
        </a:p>
      </dsp:txBody>
      <dsp:txXfrm>
        <a:off x="0" y="3072156"/>
        <a:ext cx="10969200" cy="642600"/>
      </dsp:txXfrm>
    </dsp:sp>
    <dsp:sp modelId="{7B371590-38D0-4EA2-A0EF-7AEAFA73CFD4}">
      <dsp:nvSpPr>
        <dsp:cNvPr id="0" name=""/>
        <dsp:cNvSpPr/>
      </dsp:nvSpPr>
      <dsp:spPr>
        <a:xfrm>
          <a:off x="548460" y="2954076"/>
          <a:ext cx="7678440" cy="236160"/>
        </a:xfrm>
        <a:prstGeom prst="roundRect">
          <a:avLst/>
        </a:prstGeom>
        <a:solidFill>
          <a:schemeClr val="accent1">
            <a:shade val="80000"/>
            <a:hueOff val="195028"/>
            <a:satOff val="-3795"/>
            <a:lumOff val="15145"/>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90227" tIns="0" rIns="290227" bIns="0" numCol="1" spcCol="1270" anchor="ctr" anchorCtr="0">
          <a:noAutofit/>
        </a:bodyPr>
        <a:lstStyle/>
        <a:p>
          <a:pPr marL="0" lvl="0" indent="0" algn="l" defTabSz="622300">
            <a:lnSpc>
              <a:spcPct val="90000"/>
            </a:lnSpc>
            <a:spcBef>
              <a:spcPct val="0"/>
            </a:spcBef>
            <a:spcAft>
              <a:spcPct val="35000"/>
            </a:spcAft>
            <a:buNone/>
          </a:pPr>
          <a:r>
            <a:rPr lang="zh-CN" altLang="en-US" sz="1400" b="1" kern="1200">
              <a:solidFill>
                <a:schemeClr val="bg1"/>
              </a:solidFill>
              <a:latin typeface="+mj-ea"/>
              <a:ea typeface="+mj-ea"/>
              <a:cs typeface="+mn-cs"/>
            </a:rPr>
            <a:t>高性能实现‘</a:t>
          </a:r>
          <a:r>
            <a:rPr lang="en-US" altLang="zh-CN" sz="1400" b="1" kern="1200">
              <a:solidFill>
                <a:schemeClr val="bg1"/>
              </a:solidFill>
              <a:latin typeface="+mj-ea"/>
              <a:ea typeface="+mj-ea"/>
              <a:cs typeface="+mn-cs"/>
            </a:rPr>
            <a:t>Concurrent Planning </a:t>
          </a:r>
          <a:r>
            <a:rPr lang="zh-CN" altLang="en-US" sz="1400" b="1" kern="1200">
              <a:solidFill>
                <a:schemeClr val="bg1"/>
              </a:solidFill>
              <a:latin typeface="+mj-ea"/>
              <a:ea typeface="+mj-ea"/>
              <a:cs typeface="+mn-cs"/>
            </a:rPr>
            <a:t>’：</a:t>
          </a:r>
          <a:endParaRPr lang="zh-CN" altLang="en-US" sz="1400" b="1" kern="1200" dirty="0">
            <a:solidFill>
              <a:schemeClr val="bg1"/>
            </a:solidFill>
            <a:latin typeface="+mj-ea"/>
            <a:ea typeface="+mj-ea"/>
            <a:cs typeface="+mn-cs"/>
          </a:endParaRPr>
        </a:p>
      </dsp:txBody>
      <dsp:txXfrm>
        <a:off x="559988" y="2965604"/>
        <a:ext cx="7655384" cy="213104"/>
      </dsp:txXfrm>
    </dsp:sp>
    <dsp:sp modelId="{9494A0A1-E57B-4B55-927A-7FD06E3FEA49}">
      <dsp:nvSpPr>
        <dsp:cNvPr id="0" name=""/>
        <dsp:cNvSpPr/>
      </dsp:nvSpPr>
      <dsp:spPr>
        <a:xfrm>
          <a:off x="0" y="3876036"/>
          <a:ext cx="10969200" cy="441000"/>
        </a:xfrm>
        <a:prstGeom prst="rect">
          <a:avLst/>
        </a:prstGeom>
        <a:solidFill>
          <a:schemeClr val="lt1">
            <a:alpha val="90000"/>
            <a:hueOff val="0"/>
            <a:satOff val="0"/>
            <a:lumOff val="0"/>
            <a:alphaOff val="0"/>
          </a:schemeClr>
        </a:solidFill>
        <a:ln w="12700" cap="flat" cmpd="sng" algn="ctr">
          <a:solidFill>
            <a:schemeClr val="accent1">
              <a:shade val="80000"/>
              <a:hueOff val="243785"/>
              <a:satOff val="-4744"/>
              <a:lumOff val="18931"/>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1332" tIns="166624" rIns="851332" bIns="71120" numCol="1" spcCol="1270" anchor="t" anchorCtr="0">
          <a:noAutofit/>
        </a:bodyPr>
        <a:lstStyle/>
        <a:p>
          <a:pPr marL="57150" lvl="1" indent="-57150" algn="l" defTabSz="444500">
            <a:lnSpc>
              <a:spcPct val="90000"/>
            </a:lnSpc>
            <a:spcBef>
              <a:spcPct val="0"/>
            </a:spcBef>
            <a:spcAft>
              <a:spcPct val="15000"/>
            </a:spcAft>
            <a:buChar char="•"/>
          </a:pPr>
          <a:r>
            <a:rPr lang="zh-CN" altLang="en-US" sz="1000" b="1" kern="1200">
              <a:solidFill>
                <a:schemeClr val="bg1"/>
              </a:solidFill>
              <a:latin typeface="+mj-ea"/>
              <a:ea typeface="+mj-ea"/>
              <a:cs typeface="+mn-cs"/>
            </a:rPr>
            <a:t>不完全替代，组替代，冲突依赖这些复杂的替换场景导致采购 买不对，</a:t>
          </a:r>
          <a:r>
            <a:rPr lang="en-US" sz="1000" b="1" kern="1200">
              <a:solidFill>
                <a:schemeClr val="bg1"/>
              </a:solidFill>
              <a:latin typeface="+mj-ea"/>
              <a:ea typeface="+mj-ea"/>
              <a:cs typeface="+mn-cs"/>
            </a:rPr>
            <a:t>MP/CTP/ATP</a:t>
          </a:r>
          <a:r>
            <a:rPr lang="zh-CN" altLang="en-US" sz="1000" b="1" kern="1200">
              <a:solidFill>
                <a:schemeClr val="bg1"/>
              </a:solidFill>
              <a:latin typeface="+mj-ea"/>
              <a:ea typeface="+mj-ea"/>
              <a:cs typeface="+mn-cs"/>
            </a:rPr>
            <a:t>用不对造成呆滞和短缺。</a:t>
          </a:r>
          <a:endParaRPr lang="zh-CN" altLang="en-US" sz="1000" b="1" kern="1200" dirty="0">
            <a:solidFill>
              <a:schemeClr val="bg1"/>
            </a:solidFill>
            <a:latin typeface="+mj-ea"/>
            <a:ea typeface="+mj-ea"/>
            <a:cs typeface="+mn-cs"/>
          </a:endParaRPr>
        </a:p>
      </dsp:txBody>
      <dsp:txXfrm>
        <a:off x="0" y="3876036"/>
        <a:ext cx="10969200" cy="441000"/>
      </dsp:txXfrm>
    </dsp:sp>
    <dsp:sp modelId="{DB4A4D0C-6E9E-46D9-826C-775DDF92A306}">
      <dsp:nvSpPr>
        <dsp:cNvPr id="0" name=""/>
        <dsp:cNvSpPr/>
      </dsp:nvSpPr>
      <dsp:spPr>
        <a:xfrm>
          <a:off x="548460" y="3757956"/>
          <a:ext cx="7678440" cy="236160"/>
        </a:xfrm>
        <a:prstGeom prst="roundRect">
          <a:avLst/>
        </a:prstGeom>
        <a:solidFill>
          <a:schemeClr val="accent1">
            <a:shade val="80000"/>
            <a:hueOff val="243785"/>
            <a:satOff val="-4744"/>
            <a:lumOff val="18931"/>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70527" tIns="0" rIns="270527" bIns="0" numCol="1" spcCol="1270" anchor="ctr" anchorCtr="0">
          <a:noAutofit/>
        </a:bodyPr>
        <a:lstStyle/>
        <a:p>
          <a:pPr marL="0" lvl="0" indent="0" algn="l" defTabSz="533400">
            <a:lnSpc>
              <a:spcPct val="90000"/>
            </a:lnSpc>
            <a:spcBef>
              <a:spcPct val="0"/>
            </a:spcBef>
            <a:spcAft>
              <a:spcPct val="35000"/>
            </a:spcAft>
            <a:buNone/>
          </a:pPr>
          <a:r>
            <a:rPr lang="zh-CN" altLang="en-US" sz="1400" b="1" kern="1200">
              <a:solidFill>
                <a:schemeClr val="bg1"/>
              </a:solidFill>
              <a:latin typeface="+mj-ea"/>
              <a:ea typeface="+mj-ea"/>
              <a:cs typeface="+mn-cs"/>
            </a:rPr>
            <a:t>替换料： </a:t>
          </a:r>
          <a:endParaRPr lang="zh-CN" altLang="en-US" sz="1400" b="1" kern="1200" dirty="0">
            <a:solidFill>
              <a:schemeClr val="bg1"/>
            </a:solidFill>
            <a:latin typeface="+mj-ea"/>
            <a:ea typeface="+mj-ea"/>
            <a:cs typeface="+mn-cs"/>
          </a:endParaRPr>
        </a:p>
      </dsp:txBody>
      <dsp:txXfrm>
        <a:off x="559988" y="3769484"/>
        <a:ext cx="7655384" cy="213104"/>
      </dsp:txXfrm>
    </dsp:sp>
    <dsp:sp modelId="{40C8B5E6-32BC-4949-BCCB-FE92E9EAC757}">
      <dsp:nvSpPr>
        <dsp:cNvPr id="0" name=""/>
        <dsp:cNvSpPr/>
      </dsp:nvSpPr>
      <dsp:spPr>
        <a:xfrm>
          <a:off x="0" y="4478316"/>
          <a:ext cx="10969200" cy="441000"/>
        </a:xfrm>
        <a:prstGeom prst="rect">
          <a:avLst/>
        </a:prstGeom>
        <a:solidFill>
          <a:schemeClr val="lt1">
            <a:alpha val="90000"/>
            <a:hueOff val="0"/>
            <a:satOff val="0"/>
            <a:lumOff val="0"/>
            <a:alphaOff val="0"/>
          </a:schemeClr>
        </a:solidFill>
        <a:ln w="12700" cap="flat" cmpd="sng" algn="ctr">
          <a:solidFill>
            <a:schemeClr val="accent1">
              <a:shade val="80000"/>
              <a:hueOff val="292542"/>
              <a:satOff val="-5693"/>
              <a:lumOff val="22717"/>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1332" tIns="166624" rIns="851332" bIns="71120" numCol="1" spcCol="1270" anchor="t" anchorCtr="0">
          <a:noAutofit/>
        </a:bodyPr>
        <a:lstStyle/>
        <a:p>
          <a:pPr marL="57150" lvl="1" indent="-57150" algn="l" defTabSz="444500">
            <a:lnSpc>
              <a:spcPct val="90000"/>
            </a:lnSpc>
            <a:spcBef>
              <a:spcPct val="0"/>
            </a:spcBef>
            <a:spcAft>
              <a:spcPct val="15000"/>
            </a:spcAft>
            <a:buChar char="•"/>
          </a:pPr>
          <a:r>
            <a:rPr lang="en-US" altLang="zh-CN" sz="1000" b="1" kern="1200">
              <a:solidFill>
                <a:schemeClr val="bg1"/>
              </a:solidFill>
              <a:latin typeface="+mj-ea"/>
              <a:ea typeface="+mj-ea"/>
              <a:cs typeface="+mn-cs"/>
            </a:rPr>
            <a:t>Parts forecast</a:t>
          </a:r>
          <a:r>
            <a:rPr lang="zh-CN" altLang="en-US" sz="1000" b="1" kern="1200">
              <a:solidFill>
                <a:schemeClr val="bg1"/>
              </a:solidFill>
              <a:latin typeface="+mj-ea"/>
              <a:ea typeface="+mj-ea"/>
              <a:cs typeface="+mn-cs"/>
            </a:rPr>
            <a:t>，</a:t>
          </a:r>
          <a:r>
            <a:rPr lang="en-US" altLang="zh-CN" sz="1000" b="1" kern="1200">
              <a:solidFill>
                <a:schemeClr val="bg1"/>
              </a:solidFill>
              <a:latin typeface="+mj-ea"/>
              <a:ea typeface="+mj-ea"/>
              <a:cs typeface="+mn-cs"/>
            </a:rPr>
            <a:t>Commit, ETA, ASN</a:t>
          </a:r>
          <a:r>
            <a:rPr lang="zh-CN" altLang="en-US" sz="1000" b="1" kern="1200">
              <a:solidFill>
                <a:schemeClr val="bg1"/>
              </a:solidFill>
              <a:latin typeface="+mj-ea"/>
              <a:ea typeface="+mj-ea"/>
              <a:cs typeface="+mn-cs"/>
            </a:rPr>
            <a:t>和</a:t>
          </a:r>
          <a:r>
            <a:rPr lang="en-US" altLang="zh-CN" sz="1000" b="1" kern="1200">
              <a:solidFill>
                <a:schemeClr val="bg1"/>
              </a:solidFill>
              <a:latin typeface="+mj-ea"/>
              <a:ea typeface="+mj-ea"/>
              <a:cs typeface="+mn-cs"/>
            </a:rPr>
            <a:t>GR</a:t>
          </a:r>
          <a:r>
            <a:rPr lang="zh-CN" altLang="en-US" sz="1000" b="1" kern="1200">
              <a:solidFill>
                <a:schemeClr val="bg1"/>
              </a:solidFill>
              <a:latin typeface="+mj-ea"/>
              <a:ea typeface="+mj-ea"/>
              <a:cs typeface="+mn-cs"/>
            </a:rPr>
            <a:t>之间没有</a:t>
          </a:r>
          <a:r>
            <a:rPr lang="en-US" altLang="zh-CN" sz="1000" b="1" kern="1200">
              <a:solidFill>
                <a:schemeClr val="bg1"/>
              </a:solidFill>
              <a:latin typeface="+mj-ea"/>
              <a:ea typeface="+mj-ea"/>
              <a:cs typeface="+mn-cs"/>
            </a:rPr>
            <a:t>pegging. </a:t>
          </a:r>
          <a:r>
            <a:rPr lang="zh-CN" altLang="en-US" sz="1000" b="1" kern="1200">
              <a:solidFill>
                <a:schemeClr val="bg1"/>
              </a:solidFill>
              <a:latin typeface="+mj-ea"/>
              <a:ea typeface="+mj-ea"/>
              <a:cs typeface="+mn-cs"/>
            </a:rPr>
            <a:t>导致双方</a:t>
          </a:r>
          <a:r>
            <a:rPr lang="en-US" altLang="zh-CN" sz="1000" b="1" kern="1200">
              <a:solidFill>
                <a:schemeClr val="bg1"/>
              </a:solidFill>
              <a:latin typeface="+mj-ea"/>
              <a:ea typeface="+mj-ea"/>
              <a:cs typeface="+mn-cs"/>
            </a:rPr>
            <a:t>workload</a:t>
          </a:r>
          <a:r>
            <a:rPr lang="zh-CN" altLang="en-US" sz="1000" b="1" kern="1200">
              <a:solidFill>
                <a:schemeClr val="bg1"/>
              </a:solidFill>
              <a:latin typeface="+mj-ea"/>
              <a:ea typeface="+mj-ea"/>
              <a:cs typeface="+mn-cs"/>
            </a:rPr>
            <a:t>都很大，而且数据错误频发，供应商</a:t>
          </a:r>
          <a:r>
            <a:rPr lang="en-US" altLang="zh-CN" sz="1000" b="1" kern="1200">
              <a:solidFill>
                <a:schemeClr val="bg1"/>
              </a:solidFill>
              <a:latin typeface="+mj-ea"/>
              <a:ea typeface="+mj-ea"/>
              <a:cs typeface="+mn-cs"/>
            </a:rPr>
            <a:t>OTD</a:t>
          </a:r>
          <a:r>
            <a:rPr lang="zh-CN" altLang="en-US" sz="1000" b="1" kern="1200">
              <a:solidFill>
                <a:schemeClr val="bg1"/>
              </a:solidFill>
              <a:latin typeface="+mj-ea"/>
              <a:ea typeface="+mj-ea"/>
              <a:cs typeface="+mn-cs"/>
            </a:rPr>
            <a:t>很难提高</a:t>
          </a:r>
          <a:endParaRPr lang="zh-CN" altLang="en-US" sz="1000" b="1" kern="1200" dirty="0">
            <a:solidFill>
              <a:schemeClr val="bg1"/>
            </a:solidFill>
            <a:latin typeface="+mj-ea"/>
            <a:ea typeface="+mj-ea"/>
            <a:cs typeface="+mn-cs"/>
          </a:endParaRPr>
        </a:p>
      </dsp:txBody>
      <dsp:txXfrm>
        <a:off x="0" y="4478316"/>
        <a:ext cx="10969200" cy="441000"/>
      </dsp:txXfrm>
    </dsp:sp>
    <dsp:sp modelId="{4CC365B4-FBAC-4FD2-834D-F2E925EE6E43}">
      <dsp:nvSpPr>
        <dsp:cNvPr id="0" name=""/>
        <dsp:cNvSpPr/>
      </dsp:nvSpPr>
      <dsp:spPr>
        <a:xfrm>
          <a:off x="548460" y="4360236"/>
          <a:ext cx="7678440" cy="236160"/>
        </a:xfrm>
        <a:prstGeom prst="roundRect">
          <a:avLst/>
        </a:prstGeom>
        <a:solidFill>
          <a:schemeClr val="accent1">
            <a:shade val="80000"/>
            <a:hueOff val="292542"/>
            <a:satOff val="-5693"/>
            <a:lumOff val="22717"/>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90227" tIns="0" rIns="290227" bIns="0" numCol="1" spcCol="1270" anchor="ctr" anchorCtr="0">
          <a:noAutofit/>
        </a:bodyPr>
        <a:lstStyle/>
        <a:p>
          <a:pPr marL="0" lvl="0" indent="0" algn="l" defTabSz="622300">
            <a:lnSpc>
              <a:spcPct val="90000"/>
            </a:lnSpc>
            <a:spcBef>
              <a:spcPct val="0"/>
            </a:spcBef>
            <a:spcAft>
              <a:spcPct val="35000"/>
            </a:spcAft>
            <a:buNone/>
          </a:pPr>
          <a:r>
            <a:rPr lang="zh-CN" altLang="en-US" sz="1400" b="1" kern="1200">
              <a:solidFill>
                <a:schemeClr val="bg1"/>
              </a:solidFill>
              <a:latin typeface="+mj-ea"/>
              <a:ea typeface="+mj-ea"/>
              <a:cs typeface="+mn-cs"/>
            </a:rPr>
            <a:t>供应商深度协同</a:t>
          </a:r>
          <a:endParaRPr lang="zh-CN" altLang="en-US" sz="1400" b="1" kern="1200" dirty="0">
            <a:solidFill>
              <a:schemeClr val="bg1"/>
            </a:solidFill>
            <a:latin typeface="+mj-ea"/>
            <a:ea typeface="+mj-ea"/>
            <a:cs typeface="+mn-cs"/>
          </a:endParaRPr>
        </a:p>
      </dsp:txBody>
      <dsp:txXfrm>
        <a:off x="559988" y="4371764"/>
        <a:ext cx="7655384" cy="213104"/>
      </dsp:txXfrm>
    </dsp:sp>
    <dsp:sp modelId="{4D359B5E-47CB-4066-ABAE-EFC0897B592D}">
      <dsp:nvSpPr>
        <dsp:cNvPr id="0" name=""/>
        <dsp:cNvSpPr/>
      </dsp:nvSpPr>
      <dsp:spPr>
        <a:xfrm>
          <a:off x="0" y="5080596"/>
          <a:ext cx="10969200" cy="441000"/>
        </a:xfrm>
        <a:prstGeom prst="rect">
          <a:avLst/>
        </a:prstGeom>
        <a:solidFill>
          <a:schemeClr val="lt1">
            <a:alpha val="90000"/>
            <a:hueOff val="0"/>
            <a:satOff val="0"/>
            <a:lumOff val="0"/>
            <a:alphaOff val="0"/>
          </a:schemeClr>
        </a:solidFill>
        <a:ln w="12700" cap="flat" cmpd="sng" algn="ctr">
          <a:solidFill>
            <a:schemeClr val="accent1">
              <a:shade val="80000"/>
              <a:hueOff val="341299"/>
              <a:satOff val="-6642"/>
              <a:lumOff val="26503"/>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1332" tIns="166624" rIns="851332" bIns="71120" numCol="1" spcCol="1270" anchor="t" anchorCtr="0">
          <a:noAutofit/>
        </a:bodyPr>
        <a:lstStyle/>
        <a:p>
          <a:pPr marL="57150" lvl="1" indent="-57150" algn="l" defTabSz="444500">
            <a:lnSpc>
              <a:spcPct val="90000"/>
            </a:lnSpc>
            <a:spcBef>
              <a:spcPct val="0"/>
            </a:spcBef>
            <a:spcAft>
              <a:spcPct val="15000"/>
            </a:spcAft>
            <a:buChar char="•"/>
          </a:pPr>
          <a:r>
            <a:rPr lang="zh-CN" altLang="en-US" sz="1000" b="1" kern="1200">
              <a:solidFill>
                <a:schemeClr val="bg1"/>
              </a:solidFill>
              <a:latin typeface="+mj-ea"/>
              <a:ea typeface="+mj-ea"/>
              <a:cs typeface="+mn-cs"/>
            </a:rPr>
            <a:t>国际领导厂商的</a:t>
          </a:r>
          <a:r>
            <a:rPr lang="en-US" altLang="zh-CN" sz="1000" b="1" kern="1200">
              <a:solidFill>
                <a:schemeClr val="bg1"/>
              </a:solidFill>
              <a:latin typeface="+mj-ea"/>
              <a:ea typeface="+mj-ea"/>
              <a:cs typeface="+mn-cs"/>
            </a:rPr>
            <a:t>Package</a:t>
          </a:r>
          <a:r>
            <a:rPr lang="zh-CN" altLang="en-US" sz="1000" b="1" kern="1200">
              <a:solidFill>
                <a:schemeClr val="bg1"/>
              </a:solidFill>
              <a:latin typeface="+mj-ea"/>
              <a:ea typeface="+mj-ea"/>
              <a:cs typeface="+mn-cs"/>
            </a:rPr>
            <a:t>软件由于架构以及二开问题造成性能以及数据问题导致</a:t>
          </a:r>
          <a:r>
            <a:rPr lang="en-US" altLang="zh-CN" sz="1000" b="1" kern="1200">
              <a:solidFill>
                <a:schemeClr val="bg1"/>
              </a:solidFill>
              <a:latin typeface="+mj-ea"/>
              <a:ea typeface="+mj-ea"/>
              <a:cs typeface="+mn-cs"/>
            </a:rPr>
            <a:t>Control Tower &amp; What-if</a:t>
          </a:r>
          <a:r>
            <a:rPr lang="zh-CN" altLang="en-US" sz="1000" b="1" kern="1200">
              <a:solidFill>
                <a:schemeClr val="bg1"/>
              </a:solidFill>
              <a:latin typeface="+mj-ea"/>
              <a:ea typeface="+mj-ea"/>
              <a:cs typeface="+mn-cs"/>
            </a:rPr>
            <a:t>成为摆设</a:t>
          </a:r>
          <a:endParaRPr lang="zh-CN" altLang="en-US" sz="1000" b="1" kern="1200" dirty="0">
            <a:solidFill>
              <a:schemeClr val="bg1"/>
            </a:solidFill>
            <a:latin typeface="+mj-ea"/>
            <a:ea typeface="+mj-ea"/>
            <a:cs typeface="+mn-cs"/>
          </a:endParaRPr>
        </a:p>
      </dsp:txBody>
      <dsp:txXfrm>
        <a:off x="0" y="5080596"/>
        <a:ext cx="10969200" cy="441000"/>
      </dsp:txXfrm>
    </dsp:sp>
    <dsp:sp modelId="{1DF51D1D-9D11-422C-B2ED-4397770A2EA6}">
      <dsp:nvSpPr>
        <dsp:cNvPr id="0" name=""/>
        <dsp:cNvSpPr/>
      </dsp:nvSpPr>
      <dsp:spPr>
        <a:xfrm>
          <a:off x="548460" y="4962516"/>
          <a:ext cx="7678440" cy="236160"/>
        </a:xfrm>
        <a:prstGeom prst="roundRect">
          <a:avLst/>
        </a:prstGeom>
        <a:solidFill>
          <a:schemeClr val="accent1">
            <a:shade val="80000"/>
            <a:hueOff val="341299"/>
            <a:satOff val="-6642"/>
            <a:lumOff val="26503"/>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90227" tIns="0" rIns="290227" bIns="0" numCol="1" spcCol="1270" anchor="ctr" anchorCtr="0">
          <a:noAutofit/>
        </a:bodyPr>
        <a:lstStyle/>
        <a:p>
          <a:pPr marL="0" lvl="0" indent="0" algn="l" defTabSz="488950">
            <a:lnSpc>
              <a:spcPct val="90000"/>
            </a:lnSpc>
            <a:spcBef>
              <a:spcPct val="0"/>
            </a:spcBef>
            <a:spcAft>
              <a:spcPct val="35000"/>
            </a:spcAft>
            <a:buNone/>
          </a:pPr>
          <a:r>
            <a:rPr lang="en-US" altLang="zh-CN" sz="1400" b="1" kern="1200">
              <a:solidFill>
                <a:schemeClr val="bg1"/>
              </a:solidFill>
              <a:latin typeface="+mj-ea"/>
              <a:ea typeface="+mj-ea"/>
              <a:cs typeface="+mn-cs"/>
            </a:rPr>
            <a:t>Control Tower &amp; What-if</a:t>
          </a:r>
          <a:endParaRPr lang="zh-CN" altLang="en-US" sz="1400" b="1" kern="1200" dirty="0">
            <a:solidFill>
              <a:schemeClr val="bg1"/>
            </a:solidFill>
            <a:latin typeface="+mj-ea"/>
            <a:ea typeface="+mj-ea"/>
            <a:cs typeface="+mn-cs"/>
          </a:endParaRPr>
        </a:p>
      </dsp:txBody>
      <dsp:txXfrm>
        <a:off x="559988" y="4974044"/>
        <a:ext cx="7655384" cy="213104"/>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D006FB5-A283-4556-8F1B-9FFF64CE4AF3}">
      <dsp:nvSpPr>
        <dsp:cNvPr id="0" name=""/>
        <dsp:cNvSpPr/>
      </dsp:nvSpPr>
      <dsp:spPr>
        <a:xfrm>
          <a:off x="0" y="62749"/>
          <a:ext cx="4513612" cy="355680"/>
        </a:xfrm>
        <a:prstGeom prst="roundRect">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zh-CN" altLang="en-US" sz="1400" b="1" kern="1200"/>
            <a:t>齐套计算</a:t>
          </a:r>
        </a:p>
      </dsp:txBody>
      <dsp:txXfrm>
        <a:off x="17363" y="80112"/>
        <a:ext cx="4478886" cy="320954"/>
      </dsp:txXfrm>
    </dsp:sp>
    <dsp:sp modelId="{3FDD1272-7235-47EA-B7FD-880BFA7A13EF}">
      <dsp:nvSpPr>
        <dsp:cNvPr id="0" name=""/>
        <dsp:cNvSpPr/>
      </dsp:nvSpPr>
      <dsp:spPr>
        <a:xfrm>
          <a:off x="0" y="473149"/>
          <a:ext cx="4513612" cy="355680"/>
        </a:xfrm>
        <a:prstGeom prst="round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zh-CN" altLang="en-US" sz="1400" b="1" kern="1200" dirty="0"/>
            <a:t>工单用到的供应是什么？产生拉动计划。</a:t>
          </a:r>
        </a:p>
      </dsp:txBody>
      <dsp:txXfrm>
        <a:off x="17363" y="490512"/>
        <a:ext cx="4478886" cy="320954"/>
      </dsp:txXfrm>
    </dsp:sp>
    <dsp:sp modelId="{F7653806-2045-471C-9DAC-163A4F759D61}">
      <dsp:nvSpPr>
        <dsp:cNvPr id="0" name=""/>
        <dsp:cNvSpPr/>
      </dsp:nvSpPr>
      <dsp:spPr>
        <a:xfrm>
          <a:off x="0" y="883549"/>
          <a:ext cx="4513612" cy="355680"/>
        </a:xfrm>
        <a:prstGeom prst="round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zh-CN" sz="1400" b="1" kern="1200"/>
            <a:t>交期发生变化，比对</a:t>
          </a:r>
          <a:r>
            <a:rPr lang="en-US" sz="1400" b="1" kern="1200"/>
            <a:t>Pegging</a:t>
          </a:r>
          <a:r>
            <a:rPr lang="zh-CN" sz="1400" b="1" kern="1200"/>
            <a:t>找到具体供应变化。</a:t>
          </a:r>
        </a:p>
      </dsp:txBody>
      <dsp:txXfrm>
        <a:off x="17363" y="900912"/>
        <a:ext cx="4478886" cy="320954"/>
      </dsp:txXfrm>
    </dsp:sp>
    <dsp:sp modelId="{7B3ACCA2-A27D-4C41-BD70-F09A13156137}">
      <dsp:nvSpPr>
        <dsp:cNvPr id="0" name=""/>
        <dsp:cNvSpPr/>
      </dsp:nvSpPr>
      <dsp:spPr>
        <a:xfrm>
          <a:off x="0" y="1293949"/>
          <a:ext cx="4513612" cy="355680"/>
        </a:xfrm>
        <a:prstGeom prst="roundRect">
          <a:avLst/>
        </a:prstGeom>
        <a:solidFill>
          <a:schemeClr val="accent5">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zh-CN" altLang="en-US" sz="1400" b="1" kern="1200"/>
            <a:t>反之，供应发生变化时，可能影响到的需求是哪些？</a:t>
          </a:r>
        </a:p>
      </dsp:txBody>
      <dsp:txXfrm>
        <a:off x="17363" y="1311312"/>
        <a:ext cx="4478886" cy="320954"/>
      </dsp:txXfrm>
    </dsp:sp>
    <dsp:sp modelId="{1C29FB8A-4715-442A-800A-F267493B6E08}">
      <dsp:nvSpPr>
        <dsp:cNvPr id="0" name=""/>
        <dsp:cNvSpPr/>
      </dsp:nvSpPr>
      <dsp:spPr>
        <a:xfrm>
          <a:off x="0" y="1704350"/>
          <a:ext cx="4513612" cy="355680"/>
        </a:xfrm>
        <a:prstGeom prst="roundRect">
          <a:avLst/>
        </a:prstGeom>
        <a:solidFill>
          <a:schemeClr val="accent6">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zh-CN" altLang="en-US" sz="1400" b="1" kern="1200"/>
            <a:t>预分配的供应谁可以用？</a:t>
          </a:r>
        </a:p>
      </dsp:txBody>
      <dsp:txXfrm>
        <a:off x="17363" y="1721713"/>
        <a:ext cx="4478886" cy="320954"/>
      </dsp:txXfrm>
    </dsp:sp>
    <dsp:sp modelId="{4BC0DCC1-0098-42F7-BED6-8807A22CE793}">
      <dsp:nvSpPr>
        <dsp:cNvPr id="0" name=""/>
        <dsp:cNvSpPr/>
      </dsp:nvSpPr>
      <dsp:spPr>
        <a:xfrm>
          <a:off x="0" y="2114750"/>
          <a:ext cx="4513612" cy="355680"/>
        </a:xfrm>
        <a:prstGeom prst="roundRect">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en-US" sz="1400" b="1" kern="1200"/>
            <a:t>………..</a:t>
          </a:r>
          <a:endParaRPr lang="zh-CN" sz="1400" b="1" kern="1200"/>
        </a:p>
      </dsp:txBody>
      <dsp:txXfrm>
        <a:off x="17363" y="2132113"/>
        <a:ext cx="4478886" cy="320954"/>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3D9363C-27C5-4F06-9926-95BB477A85A7}">
      <dsp:nvSpPr>
        <dsp:cNvPr id="0" name=""/>
        <dsp:cNvSpPr/>
      </dsp:nvSpPr>
      <dsp:spPr>
        <a:xfrm>
          <a:off x="0" y="0"/>
          <a:ext cx="4404876" cy="0"/>
        </a:xfrm>
        <a:prstGeom prst="line">
          <a:avLst/>
        </a:prstGeom>
        <a:solidFill>
          <a:schemeClr val="lt1">
            <a:hueOff val="0"/>
            <a:satOff val="0"/>
            <a:lumOff val="0"/>
            <a:alphaOff val="0"/>
          </a:schemeClr>
        </a:solidFill>
        <a:ln w="12700" cap="flat" cmpd="sng" algn="ctr">
          <a:solidFill>
            <a:schemeClr val="accent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B7C9910-F238-4A5B-8037-91E02C36563F}">
      <dsp:nvSpPr>
        <dsp:cNvPr id="0" name=""/>
        <dsp:cNvSpPr/>
      </dsp:nvSpPr>
      <dsp:spPr>
        <a:xfrm>
          <a:off x="0" y="0"/>
          <a:ext cx="4404876" cy="2985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t" anchorCtr="0">
          <a:noAutofit/>
        </a:bodyPr>
        <a:lstStyle/>
        <a:p>
          <a:pPr marL="0" lvl="0" indent="0" algn="l" defTabSz="444500">
            <a:lnSpc>
              <a:spcPct val="90000"/>
            </a:lnSpc>
            <a:spcBef>
              <a:spcPct val="0"/>
            </a:spcBef>
            <a:spcAft>
              <a:spcPct val="35000"/>
            </a:spcAft>
            <a:buNone/>
          </a:pPr>
          <a:r>
            <a:rPr lang="en-US" altLang="zh-CN" sz="1000" kern="1200">
              <a:latin typeface="Arial"/>
              <a:ea typeface="微软雅黑"/>
              <a:cs typeface="+mn-cs"/>
            </a:rPr>
            <a:t>FG11</a:t>
          </a:r>
          <a:r>
            <a:rPr lang="en-US" altLang="zh-CN" sz="1000" kern="1200" dirty="0">
              <a:latin typeface="Arial"/>
              <a:ea typeface="微软雅黑"/>
              <a:cs typeface="+mn-cs"/>
            </a:rPr>
            <a:t>….n</a:t>
          </a:r>
          <a:r>
            <a:rPr lang="zh-CN" altLang="en-US" sz="1000" kern="1200" dirty="0">
              <a:latin typeface="Arial"/>
              <a:ea typeface="微软雅黑"/>
              <a:cs typeface="+mn-cs"/>
            </a:rPr>
            <a:t>即可以在</a:t>
          </a:r>
          <a:r>
            <a:rPr lang="en-US" altLang="zh-CN" sz="1000" kern="1200" dirty="0">
              <a:latin typeface="Arial"/>
              <a:ea typeface="微软雅黑"/>
              <a:cs typeface="+mn-cs"/>
            </a:rPr>
            <a:t>Line1, </a:t>
          </a:r>
          <a:r>
            <a:rPr lang="zh-CN" altLang="en-US" sz="1000" kern="1200" dirty="0">
              <a:latin typeface="Arial"/>
              <a:ea typeface="微软雅黑"/>
              <a:cs typeface="+mn-cs"/>
            </a:rPr>
            <a:t>也可以在</a:t>
          </a:r>
          <a:r>
            <a:rPr lang="en-US" altLang="zh-CN" sz="1000" kern="1200" dirty="0">
              <a:latin typeface="Arial"/>
              <a:ea typeface="微软雅黑"/>
              <a:cs typeface="+mn-cs"/>
            </a:rPr>
            <a:t>Line2</a:t>
          </a:r>
          <a:r>
            <a:rPr lang="zh-CN" altLang="en-US" sz="1000" kern="1200" dirty="0">
              <a:latin typeface="Arial"/>
              <a:ea typeface="微软雅黑"/>
              <a:cs typeface="+mn-cs"/>
            </a:rPr>
            <a:t>，还可以在</a:t>
          </a:r>
          <a:r>
            <a:rPr lang="en-US" altLang="zh-CN" sz="1000" kern="1200" dirty="0">
              <a:latin typeface="Arial"/>
              <a:ea typeface="微软雅黑"/>
              <a:cs typeface="+mn-cs"/>
            </a:rPr>
            <a:t>Line3</a:t>
          </a:r>
          <a:r>
            <a:rPr lang="zh-CN" altLang="en-US" sz="1000" kern="1200" dirty="0">
              <a:latin typeface="Arial"/>
              <a:ea typeface="微软雅黑"/>
              <a:cs typeface="+mn-cs"/>
            </a:rPr>
            <a:t>生产</a:t>
          </a:r>
        </a:p>
      </dsp:txBody>
      <dsp:txXfrm>
        <a:off x="0" y="0"/>
        <a:ext cx="4404876" cy="298516"/>
      </dsp:txXfrm>
    </dsp:sp>
    <dsp:sp modelId="{57125BE3-8BFD-4150-8807-F439B2B52AA0}">
      <dsp:nvSpPr>
        <dsp:cNvPr id="0" name=""/>
        <dsp:cNvSpPr/>
      </dsp:nvSpPr>
      <dsp:spPr>
        <a:xfrm>
          <a:off x="0" y="298516"/>
          <a:ext cx="4404876" cy="0"/>
        </a:xfrm>
        <a:prstGeom prst="line">
          <a:avLst/>
        </a:prstGeom>
        <a:solidFill>
          <a:schemeClr val="lt1">
            <a:hueOff val="0"/>
            <a:satOff val="0"/>
            <a:lumOff val="0"/>
            <a:alphaOff val="0"/>
          </a:schemeClr>
        </a:solidFill>
        <a:ln w="12700" cap="flat" cmpd="sng" algn="ctr">
          <a:solidFill>
            <a:schemeClr val="accent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FD9CB95-E1CF-4A68-887B-4BB10D1B42AA}">
      <dsp:nvSpPr>
        <dsp:cNvPr id="0" name=""/>
        <dsp:cNvSpPr/>
      </dsp:nvSpPr>
      <dsp:spPr>
        <a:xfrm>
          <a:off x="0" y="298516"/>
          <a:ext cx="4404876" cy="2985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t" anchorCtr="0">
          <a:noAutofit/>
        </a:bodyPr>
        <a:lstStyle/>
        <a:p>
          <a:pPr marL="0" lvl="0" indent="0" algn="l" defTabSz="444500">
            <a:lnSpc>
              <a:spcPct val="90000"/>
            </a:lnSpc>
            <a:spcBef>
              <a:spcPct val="0"/>
            </a:spcBef>
            <a:spcAft>
              <a:spcPct val="35000"/>
            </a:spcAft>
            <a:buNone/>
          </a:pPr>
          <a:r>
            <a:rPr lang="en-US" altLang="zh-CN" sz="1000" kern="1200">
              <a:latin typeface="Arial"/>
              <a:ea typeface="微软雅黑"/>
              <a:cs typeface="+mn-cs"/>
            </a:rPr>
            <a:t>FG21….m</a:t>
          </a:r>
          <a:r>
            <a:rPr lang="zh-CN" altLang="en-US" sz="1000" kern="1200">
              <a:latin typeface="Arial"/>
              <a:ea typeface="微软雅黑"/>
              <a:cs typeface="+mn-cs"/>
            </a:rPr>
            <a:t>找只能在</a:t>
          </a:r>
          <a:r>
            <a:rPr lang="en-US" altLang="zh-CN" sz="1000" kern="1200">
              <a:latin typeface="Arial"/>
              <a:ea typeface="微软雅黑"/>
              <a:cs typeface="+mn-cs"/>
            </a:rPr>
            <a:t>Line1</a:t>
          </a:r>
          <a:r>
            <a:rPr lang="zh-CN" altLang="en-US" sz="1000" kern="1200">
              <a:latin typeface="Arial"/>
              <a:ea typeface="微软雅黑"/>
              <a:cs typeface="+mn-cs"/>
            </a:rPr>
            <a:t>生产</a:t>
          </a:r>
          <a:endParaRPr lang="zh-CN" altLang="en-US" sz="1000" kern="1200" dirty="0">
            <a:latin typeface="Arial"/>
            <a:ea typeface="微软雅黑"/>
            <a:cs typeface="+mn-cs"/>
          </a:endParaRPr>
        </a:p>
      </dsp:txBody>
      <dsp:txXfrm>
        <a:off x="0" y="298516"/>
        <a:ext cx="4404876" cy="298516"/>
      </dsp:txXfrm>
    </dsp:sp>
    <dsp:sp modelId="{0D2A5AC6-AE33-41B5-9422-275B7FF4D67A}">
      <dsp:nvSpPr>
        <dsp:cNvPr id="0" name=""/>
        <dsp:cNvSpPr/>
      </dsp:nvSpPr>
      <dsp:spPr>
        <a:xfrm>
          <a:off x="0" y="597032"/>
          <a:ext cx="4404876" cy="0"/>
        </a:xfrm>
        <a:prstGeom prst="line">
          <a:avLst/>
        </a:prstGeom>
        <a:solidFill>
          <a:schemeClr val="lt1">
            <a:hueOff val="0"/>
            <a:satOff val="0"/>
            <a:lumOff val="0"/>
            <a:alphaOff val="0"/>
          </a:schemeClr>
        </a:solidFill>
        <a:ln w="12700" cap="flat" cmpd="sng" algn="ctr">
          <a:solidFill>
            <a:schemeClr val="accent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C4592BE-28FA-4A71-A9C0-EA0D68F45276}">
      <dsp:nvSpPr>
        <dsp:cNvPr id="0" name=""/>
        <dsp:cNvSpPr/>
      </dsp:nvSpPr>
      <dsp:spPr>
        <a:xfrm>
          <a:off x="0" y="597032"/>
          <a:ext cx="4404876" cy="2985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t" anchorCtr="0">
          <a:noAutofit/>
        </a:bodyPr>
        <a:lstStyle/>
        <a:p>
          <a:pPr marL="0" lvl="0" indent="0" algn="l" defTabSz="444500">
            <a:lnSpc>
              <a:spcPct val="90000"/>
            </a:lnSpc>
            <a:spcBef>
              <a:spcPct val="0"/>
            </a:spcBef>
            <a:spcAft>
              <a:spcPct val="35000"/>
            </a:spcAft>
            <a:buNone/>
          </a:pPr>
          <a:r>
            <a:rPr lang="zh-CN" altLang="en-US" sz="1000" kern="1200">
              <a:latin typeface="Arial"/>
              <a:ea typeface="微软雅黑"/>
              <a:cs typeface="+mn-cs"/>
            </a:rPr>
            <a:t>意味着</a:t>
          </a:r>
          <a:r>
            <a:rPr lang="en-US" altLang="zh-CN" sz="1000" kern="1200">
              <a:latin typeface="Arial"/>
              <a:ea typeface="微软雅黑"/>
              <a:cs typeface="+mn-cs"/>
            </a:rPr>
            <a:t>Line1</a:t>
          </a:r>
          <a:r>
            <a:rPr lang="zh-CN" altLang="en-US" sz="1000" kern="1200">
              <a:latin typeface="Arial"/>
              <a:ea typeface="微软雅黑"/>
              <a:cs typeface="+mn-cs"/>
            </a:rPr>
            <a:t>为</a:t>
          </a:r>
          <a:r>
            <a:rPr lang="en-US" altLang="zh-CN" sz="1000" kern="1200">
              <a:latin typeface="Arial"/>
              <a:ea typeface="微软雅黑"/>
              <a:cs typeface="+mn-cs"/>
            </a:rPr>
            <a:t>FG21…..m</a:t>
          </a:r>
          <a:r>
            <a:rPr lang="zh-CN" altLang="en-US" sz="1000" kern="1200">
              <a:latin typeface="Arial"/>
              <a:ea typeface="微软雅黑"/>
              <a:cs typeface="+mn-cs"/>
            </a:rPr>
            <a:t>的主产线</a:t>
          </a:r>
          <a:endParaRPr lang="zh-CN" altLang="en-US" sz="1000" kern="1200" dirty="0">
            <a:latin typeface="Arial"/>
            <a:ea typeface="微软雅黑"/>
            <a:cs typeface="+mn-cs"/>
          </a:endParaRPr>
        </a:p>
      </dsp:txBody>
      <dsp:txXfrm>
        <a:off x="0" y="597032"/>
        <a:ext cx="4404876" cy="298516"/>
      </dsp:txXfrm>
    </dsp:sp>
    <dsp:sp modelId="{97B3A9C3-C62D-40D3-9006-03163B81249A}">
      <dsp:nvSpPr>
        <dsp:cNvPr id="0" name=""/>
        <dsp:cNvSpPr/>
      </dsp:nvSpPr>
      <dsp:spPr>
        <a:xfrm>
          <a:off x="0" y="895548"/>
          <a:ext cx="4404876" cy="0"/>
        </a:xfrm>
        <a:prstGeom prst="line">
          <a:avLst/>
        </a:prstGeom>
        <a:solidFill>
          <a:schemeClr val="lt1">
            <a:hueOff val="0"/>
            <a:satOff val="0"/>
            <a:lumOff val="0"/>
            <a:alphaOff val="0"/>
          </a:schemeClr>
        </a:solidFill>
        <a:ln w="12700" cap="flat" cmpd="sng" algn="ctr">
          <a:solidFill>
            <a:schemeClr val="accent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59BEA5E4-7068-45C9-AE1D-49DCE127E788}">
      <dsp:nvSpPr>
        <dsp:cNvPr id="0" name=""/>
        <dsp:cNvSpPr/>
      </dsp:nvSpPr>
      <dsp:spPr>
        <a:xfrm>
          <a:off x="0" y="895548"/>
          <a:ext cx="4404876" cy="2985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t" anchorCtr="0">
          <a:noAutofit/>
        </a:bodyPr>
        <a:lstStyle/>
        <a:p>
          <a:pPr marL="0" lvl="0" indent="0" algn="l" defTabSz="444500">
            <a:lnSpc>
              <a:spcPct val="90000"/>
            </a:lnSpc>
            <a:spcBef>
              <a:spcPct val="0"/>
            </a:spcBef>
            <a:spcAft>
              <a:spcPct val="35000"/>
            </a:spcAft>
            <a:buNone/>
          </a:pPr>
          <a:r>
            <a:rPr lang="en-US" altLang="zh-CN" sz="1000" kern="1200">
              <a:latin typeface="Arial"/>
              <a:ea typeface="微软雅黑"/>
              <a:cs typeface="+mn-cs"/>
            </a:rPr>
            <a:t>Pn</a:t>
          </a:r>
          <a:r>
            <a:rPr lang="zh-CN" altLang="en-US" sz="1000" kern="1200">
              <a:latin typeface="Arial"/>
              <a:ea typeface="微软雅黑"/>
              <a:cs typeface="+mn-cs"/>
            </a:rPr>
            <a:t>代表优先顺序，数字越小，优先级越高</a:t>
          </a:r>
          <a:endParaRPr lang="zh-CN" altLang="en-US" sz="1000" kern="1200" dirty="0">
            <a:latin typeface="Arial"/>
            <a:ea typeface="微软雅黑"/>
            <a:cs typeface="+mn-cs"/>
          </a:endParaRPr>
        </a:p>
      </dsp:txBody>
      <dsp:txXfrm>
        <a:off x="0" y="895548"/>
        <a:ext cx="4404876" cy="298516"/>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AFA9D16-A37F-412B-8848-2BA8C8620B8D}">
      <dsp:nvSpPr>
        <dsp:cNvPr id="0" name=""/>
        <dsp:cNvSpPr/>
      </dsp:nvSpPr>
      <dsp:spPr>
        <a:xfrm>
          <a:off x="0" y="3851303"/>
          <a:ext cx="8774489" cy="1098524"/>
        </a:xfrm>
        <a:prstGeom prst="roundRect">
          <a:avLst>
            <a:gd name="adj" fmla="val 10000"/>
          </a:avLst>
        </a:prstGeom>
        <a:solidFill>
          <a:srgbClr val="66CCFF">
            <a:alpha val="49000"/>
          </a:srgbClr>
        </a:solidFill>
        <a:ln>
          <a:solidFill>
            <a:srgbClr val="66CCFF"/>
          </a:solidFill>
        </a:ln>
        <a:effectLst/>
      </dsp:spPr>
      <dsp:style>
        <a:lnRef idx="0">
          <a:scrgbClr r="0" g="0" b="0"/>
        </a:lnRef>
        <a:fillRef idx="1">
          <a:scrgbClr r="0" g="0" b="0"/>
        </a:fillRef>
        <a:effectRef idx="0">
          <a:scrgbClr r="0" g="0" b="0"/>
        </a:effectRef>
        <a:fontRef idx="minor"/>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US" altLang="zh-CN" sz="1400" kern="1200" dirty="0">
              <a:solidFill>
                <a:schemeClr val="tx1"/>
              </a:solidFill>
            </a:rPr>
            <a:t>Country</a:t>
          </a:r>
          <a:endParaRPr lang="zh-CN" altLang="en-US" sz="1400" kern="1200" dirty="0">
            <a:solidFill>
              <a:schemeClr val="tx1"/>
            </a:solidFill>
          </a:endParaRPr>
        </a:p>
      </dsp:txBody>
      <dsp:txXfrm>
        <a:off x="0" y="3851303"/>
        <a:ext cx="2632346" cy="1098524"/>
      </dsp:txXfrm>
    </dsp:sp>
    <dsp:sp modelId="{8FF6418E-442C-4DAD-B00A-58663C4E9585}">
      <dsp:nvSpPr>
        <dsp:cNvPr id="0" name=""/>
        <dsp:cNvSpPr/>
      </dsp:nvSpPr>
      <dsp:spPr>
        <a:xfrm>
          <a:off x="0" y="2569690"/>
          <a:ext cx="8774489" cy="1098524"/>
        </a:xfrm>
        <a:prstGeom prst="roundRect">
          <a:avLst>
            <a:gd name="adj" fmla="val 10000"/>
          </a:avLst>
        </a:prstGeom>
        <a:solidFill>
          <a:srgbClr val="66CCFF">
            <a:alpha val="36000"/>
          </a:srgbClr>
        </a:solidFill>
        <a:ln>
          <a:solidFill>
            <a:srgbClr val="66CCFF"/>
          </a:solidFill>
        </a:ln>
        <a:effectLst/>
      </dsp:spPr>
      <dsp:style>
        <a:lnRef idx="0">
          <a:scrgbClr r="0" g="0" b="0"/>
        </a:lnRef>
        <a:fillRef idx="1">
          <a:scrgbClr r="0" g="0" b="0"/>
        </a:fillRef>
        <a:effectRef idx="0">
          <a:scrgbClr r="0" g="0" b="0"/>
        </a:effectRef>
        <a:fontRef idx="minor"/>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US" altLang="zh-CN" sz="1400" kern="1200" dirty="0">
              <a:solidFill>
                <a:schemeClr val="tx1"/>
              </a:solidFill>
            </a:rPr>
            <a:t>Sub Geo</a:t>
          </a:r>
          <a:endParaRPr lang="zh-CN" altLang="en-US" sz="1400" kern="1200" dirty="0">
            <a:solidFill>
              <a:schemeClr val="tx1"/>
            </a:solidFill>
          </a:endParaRPr>
        </a:p>
      </dsp:txBody>
      <dsp:txXfrm>
        <a:off x="0" y="2569690"/>
        <a:ext cx="2632346" cy="1098524"/>
      </dsp:txXfrm>
    </dsp:sp>
    <dsp:sp modelId="{AF84D346-2E9E-4D67-8C0D-E4590100997F}">
      <dsp:nvSpPr>
        <dsp:cNvPr id="0" name=""/>
        <dsp:cNvSpPr/>
      </dsp:nvSpPr>
      <dsp:spPr>
        <a:xfrm>
          <a:off x="0" y="1287210"/>
          <a:ext cx="8774489" cy="1098524"/>
        </a:xfrm>
        <a:prstGeom prst="roundRect">
          <a:avLst>
            <a:gd name="adj" fmla="val 10000"/>
          </a:avLst>
        </a:prstGeom>
        <a:solidFill>
          <a:srgbClr val="66CCFF">
            <a:alpha val="47000"/>
          </a:srgbClr>
        </a:solidFill>
        <a:ln>
          <a:solidFill>
            <a:schemeClr val="tx1"/>
          </a:solidFill>
        </a:ln>
        <a:effectLst/>
      </dsp:spPr>
      <dsp:style>
        <a:lnRef idx="0">
          <a:scrgbClr r="0" g="0" b="0"/>
        </a:lnRef>
        <a:fillRef idx="1">
          <a:scrgbClr r="0" g="0" b="0"/>
        </a:fillRef>
        <a:effectRef idx="0">
          <a:scrgbClr r="0" g="0" b="0"/>
        </a:effectRef>
        <a:fontRef idx="minor"/>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US" altLang="zh-CN" sz="1400" kern="1200" dirty="0">
              <a:solidFill>
                <a:schemeClr val="tx1"/>
              </a:solidFill>
            </a:rPr>
            <a:t>GEO</a:t>
          </a:r>
          <a:endParaRPr lang="zh-CN" altLang="en-US" sz="1400" kern="1200" dirty="0">
            <a:solidFill>
              <a:schemeClr val="tx1"/>
            </a:solidFill>
          </a:endParaRPr>
        </a:p>
      </dsp:txBody>
      <dsp:txXfrm>
        <a:off x="0" y="1287210"/>
        <a:ext cx="2632346" cy="1098524"/>
      </dsp:txXfrm>
    </dsp:sp>
    <dsp:sp modelId="{3D18F286-2C89-4245-B18B-6606506E31C3}">
      <dsp:nvSpPr>
        <dsp:cNvPr id="0" name=""/>
        <dsp:cNvSpPr/>
      </dsp:nvSpPr>
      <dsp:spPr>
        <a:xfrm>
          <a:off x="0" y="0"/>
          <a:ext cx="8774489" cy="1098524"/>
        </a:xfrm>
        <a:prstGeom prst="roundRect">
          <a:avLst>
            <a:gd name="adj" fmla="val 10000"/>
          </a:avLst>
        </a:prstGeom>
        <a:solidFill>
          <a:srgbClr val="92D050">
            <a:alpha val="40000"/>
          </a:srgbClr>
        </a:solidFill>
        <a:ln>
          <a:solidFill>
            <a:schemeClr val="tx1"/>
          </a:solidFill>
        </a:ln>
        <a:effectLst/>
      </dsp:spPr>
      <dsp:style>
        <a:lnRef idx="0">
          <a:scrgbClr r="0" g="0" b="0"/>
        </a:lnRef>
        <a:fillRef idx="1">
          <a:scrgbClr r="0" g="0" b="0"/>
        </a:fillRef>
        <a:effectRef idx="0">
          <a:scrgbClr r="0" g="0" b="0"/>
        </a:effectRef>
        <a:fontRef idx="minor"/>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US" altLang="zh-CN" sz="1400" kern="1200" dirty="0">
              <a:solidFill>
                <a:schemeClr val="tx1"/>
              </a:solidFill>
            </a:rPr>
            <a:t>Supply</a:t>
          </a:r>
          <a:r>
            <a:rPr lang="en-US" altLang="zh-CN" sz="1400" kern="1200" dirty="0"/>
            <a:t> </a:t>
          </a:r>
          <a:endParaRPr lang="zh-CN" altLang="en-US" sz="1400" kern="1200" dirty="0"/>
        </a:p>
      </dsp:txBody>
      <dsp:txXfrm>
        <a:off x="0" y="0"/>
        <a:ext cx="2632346" cy="1098524"/>
      </dsp:txXfrm>
    </dsp:sp>
    <dsp:sp modelId="{C6491B2D-18D5-4987-AC42-F1A925C67CEF}">
      <dsp:nvSpPr>
        <dsp:cNvPr id="0" name=""/>
        <dsp:cNvSpPr/>
      </dsp:nvSpPr>
      <dsp:spPr>
        <a:xfrm>
          <a:off x="4439605" y="98009"/>
          <a:ext cx="1373156" cy="915437"/>
        </a:xfrm>
        <a:prstGeom prst="roundRect">
          <a:avLst>
            <a:gd name="adj" fmla="val 10000"/>
          </a:avLst>
        </a:prstGeom>
        <a:solidFill>
          <a:srgbClr val="92D05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n-US" altLang="zh-CN" sz="1400" b="1" kern="1200" dirty="0"/>
            <a:t>B</a:t>
          </a:r>
        </a:p>
        <a:p>
          <a:pPr marL="0" lvl="0" indent="0" algn="ctr" defTabSz="622300">
            <a:lnSpc>
              <a:spcPct val="90000"/>
            </a:lnSpc>
            <a:spcBef>
              <a:spcPct val="0"/>
            </a:spcBef>
            <a:spcAft>
              <a:spcPct val="35000"/>
            </a:spcAft>
            <a:buNone/>
          </a:pPr>
          <a:r>
            <a:rPr lang="en-US" altLang="zh-CN" sz="1400" kern="1200" dirty="0"/>
            <a:t>1700</a:t>
          </a:r>
        </a:p>
        <a:p>
          <a:pPr marL="0" lvl="0" indent="0" algn="ctr" defTabSz="622300">
            <a:lnSpc>
              <a:spcPct val="90000"/>
            </a:lnSpc>
            <a:spcBef>
              <a:spcPct val="0"/>
            </a:spcBef>
            <a:spcAft>
              <a:spcPct val="35000"/>
            </a:spcAft>
            <a:buNone/>
          </a:pPr>
          <a:endParaRPr lang="zh-CN" altLang="en-US" sz="1400" kern="1200" dirty="0"/>
        </a:p>
      </dsp:txBody>
      <dsp:txXfrm>
        <a:off x="4466417" y="124821"/>
        <a:ext cx="1319532" cy="861813"/>
      </dsp:txXfrm>
    </dsp:sp>
    <dsp:sp modelId="{785074C2-7E9E-4DDC-BC73-57D9F69DD483}">
      <dsp:nvSpPr>
        <dsp:cNvPr id="0" name=""/>
        <dsp:cNvSpPr/>
      </dsp:nvSpPr>
      <dsp:spPr>
        <a:xfrm>
          <a:off x="4091545" y="1013447"/>
          <a:ext cx="1034638" cy="366174"/>
        </a:xfrm>
        <a:custGeom>
          <a:avLst/>
          <a:gdLst/>
          <a:ahLst/>
          <a:cxnLst/>
          <a:rect l="0" t="0" r="0" b="0"/>
          <a:pathLst>
            <a:path>
              <a:moveTo>
                <a:pt x="1034638" y="0"/>
              </a:moveTo>
              <a:lnTo>
                <a:pt x="1034638" y="183087"/>
              </a:lnTo>
              <a:lnTo>
                <a:pt x="0" y="183087"/>
              </a:lnTo>
              <a:lnTo>
                <a:pt x="0" y="366174"/>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8EB33F5-047A-41C9-9799-4A393326DF47}">
      <dsp:nvSpPr>
        <dsp:cNvPr id="0" name=""/>
        <dsp:cNvSpPr/>
      </dsp:nvSpPr>
      <dsp:spPr>
        <a:xfrm>
          <a:off x="3404967" y="1379622"/>
          <a:ext cx="1373156" cy="915437"/>
        </a:xfrm>
        <a:prstGeom prst="roundRect">
          <a:avLst>
            <a:gd name="adj" fmla="val 10000"/>
          </a:avLst>
        </a:prstGeom>
        <a:solidFill>
          <a:srgbClr val="4D88C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endParaRPr lang="en-US" altLang="zh-CN" sz="900" kern="1200" dirty="0"/>
        </a:p>
      </dsp:txBody>
      <dsp:txXfrm>
        <a:off x="3431779" y="1406434"/>
        <a:ext cx="1319532" cy="861813"/>
      </dsp:txXfrm>
    </dsp:sp>
    <dsp:sp modelId="{BD697B42-0F82-488C-969E-26DE5618A213}">
      <dsp:nvSpPr>
        <dsp:cNvPr id="0" name=""/>
        <dsp:cNvSpPr/>
      </dsp:nvSpPr>
      <dsp:spPr>
        <a:xfrm>
          <a:off x="5126183" y="1013447"/>
          <a:ext cx="892551" cy="366174"/>
        </a:xfrm>
        <a:custGeom>
          <a:avLst/>
          <a:gdLst/>
          <a:ahLst/>
          <a:cxnLst/>
          <a:rect l="0" t="0" r="0" b="0"/>
          <a:pathLst>
            <a:path>
              <a:moveTo>
                <a:pt x="0" y="0"/>
              </a:moveTo>
              <a:lnTo>
                <a:pt x="0" y="183087"/>
              </a:lnTo>
              <a:lnTo>
                <a:pt x="892551" y="183087"/>
              </a:lnTo>
              <a:lnTo>
                <a:pt x="892551" y="366174"/>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5F1AD1B-5FF7-408C-AA4A-D07FBA0A505B}">
      <dsp:nvSpPr>
        <dsp:cNvPr id="0" name=""/>
        <dsp:cNvSpPr/>
      </dsp:nvSpPr>
      <dsp:spPr>
        <a:xfrm>
          <a:off x="5190070" y="1379622"/>
          <a:ext cx="1657330" cy="915437"/>
        </a:xfrm>
        <a:prstGeom prst="roundRect">
          <a:avLst>
            <a:gd name="adj" fmla="val 10000"/>
          </a:avLst>
        </a:prstGeom>
        <a:solidFill>
          <a:srgbClr val="4D88C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endParaRPr lang="en-US" altLang="zh-CN" sz="1200" kern="1200" dirty="0"/>
        </a:p>
      </dsp:txBody>
      <dsp:txXfrm>
        <a:off x="5216882" y="1406434"/>
        <a:ext cx="1603706" cy="861813"/>
      </dsp:txXfrm>
    </dsp:sp>
    <dsp:sp modelId="{275EA44C-144E-4EE9-A87E-6256071EA0D0}">
      <dsp:nvSpPr>
        <dsp:cNvPr id="0" name=""/>
        <dsp:cNvSpPr/>
      </dsp:nvSpPr>
      <dsp:spPr>
        <a:xfrm>
          <a:off x="5126183" y="2295059"/>
          <a:ext cx="892551" cy="366174"/>
        </a:xfrm>
        <a:custGeom>
          <a:avLst/>
          <a:gdLst/>
          <a:ahLst/>
          <a:cxnLst/>
          <a:rect l="0" t="0" r="0" b="0"/>
          <a:pathLst>
            <a:path>
              <a:moveTo>
                <a:pt x="892551" y="0"/>
              </a:moveTo>
              <a:lnTo>
                <a:pt x="892551" y="183087"/>
              </a:lnTo>
              <a:lnTo>
                <a:pt x="0" y="183087"/>
              </a:lnTo>
              <a:lnTo>
                <a:pt x="0" y="366174"/>
              </a:lnTo>
            </a:path>
          </a:pathLst>
        </a:custGeom>
        <a:no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BCCD814-F660-484A-B42B-A72A7B6108DB}">
      <dsp:nvSpPr>
        <dsp:cNvPr id="0" name=""/>
        <dsp:cNvSpPr/>
      </dsp:nvSpPr>
      <dsp:spPr>
        <a:xfrm>
          <a:off x="4211092" y="2661234"/>
          <a:ext cx="1830183" cy="915437"/>
        </a:xfrm>
        <a:prstGeom prst="roundRect">
          <a:avLst>
            <a:gd name="adj" fmla="val 10000"/>
          </a:avLst>
        </a:prstGeom>
        <a:solidFill>
          <a:srgbClr val="4D88C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endParaRPr lang="zh-CN" altLang="en-US" sz="1200" kern="1200" dirty="0"/>
        </a:p>
      </dsp:txBody>
      <dsp:txXfrm>
        <a:off x="4237904" y="2688046"/>
        <a:ext cx="1776559" cy="861813"/>
      </dsp:txXfrm>
    </dsp:sp>
    <dsp:sp modelId="{E5D4E8C9-A646-4863-91C0-06A1F1E7ADB8}">
      <dsp:nvSpPr>
        <dsp:cNvPr id="0" name=""/>
        <dsp:cNvSpPr/>
      </dsp:nvSpPr>
      <dsp:spPr>
        <a:xfrm>
          <a:off x="4233632" y="3576671"/>
          <a:ext cx="892551" cy="366174"/>
        </a:xfrm>
        <a:custGeom>
          <a:avLst/>
          <a:gdLst/>
          <a:ahLst/>
          <a:cxnLst/>
          <a:rect l="0" t="0" r="0" b="0"/>
          <a:pathLst>
            <a:path>
              <a:moveTo>
                <a:pt x="892551" y="0"/>
              </a:moveTo>
              <a:lnTo>
                <a:pt x="892551" y="183087"/>
              </a:lnTo>
              <a:lnTo>
                <a:pt x="0" y="183087"/>
              </a:lnTo>
              <a:lnTo>
                <a:pt x="0" y="366174"/>
              </a:lnTo>
            </a:path>
          </a:pathLst>
        </a:custGeom>
        <a:no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12674DA-7E17-4192-A26D-0EDCA57C9CAD}">
      <dsp:nvSpPr>
        <dsp:cNvPr id="0" name=""/>
        <dsp:cNvSpPr/>
      </dsp:nvSpPr>
      <dsp:spPr>
        <a:xfrm>
          <a:off x="3547054" y="3942846"/>
          <a:ext cx="1373156" cy="915437"/>
        </a:xfrm>
        <a:prstGeom prst="roundRect">
          <a:avLst>
            <a:gd name="adj" fmla="val 10000"/>
          </a:avLst>
        </a:prstGeom>
        <a:solidFill>
          <a:srgbClr val="4D88C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endParaRPr lang="zh-CN" altLang="en-US" sz="1200" kern="1200" dirty="0"/>
        </a:p>
      </dsp:txBody>
      <dsp:txXfrm>
        <a:off x="3573866" y="3969658"/>
        <a:ext cx="1319532" cy="861813"/>
      </dsp:txXfrm>
    </dsp:sp>
    <dsp:sp modelId="{EF960BC0-805C-4333-B930-34B153C16B3E}">
      <dsp:nvSpPr>
        <dsp:cNvPr id="0" name=""/>
        <dsp:cNvSpPr/>
      </dsp:nvSpPr>
      <dsp:spPr>
        <a:xfrm>
          <a:off x="5126183" y="3576671"/>
          <a:ext cx="892551" cy="366174"/>
        </a:xfrm>
        <a:custGeom>
          <a:avLst/>
          <a:gdLst/>
          <a:ahLst/>
          <a:cxnLst/>
          <a:rect l="0" t="0" r="0" b="0"/>
          <a:pathLst>
            <a:path>
              <a:moveTo>
                <a:pt x="0" y="0"/>
              </a:moveTo>
              <a:lnTo>
                <a:pt x="0" y="183087"/>
              </a:lnTo>
              <a:lnTo>
                <a:pt x="892551" y="183087"/>
              </a:lnTo>
              <a:lnTo>
                <a:pt x="892551" y="366174"/>
              </a:lnTo>
            </a:path>
          </a:pathLst>
        </a:custGeom>
        <a:no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AADC5DB2-4563-4534-96E0-0BEAAEFAD264}">
      <dsp:nvSpPr>
        <dsp:cNvPr id="0" name=""/>
        <dsp:cNvSpPr/>
      </dsp:nvSpPr>
      <dsp:spPr>
        <a:xfrm>
          <a:off x="5332157" y="3942846"/>
          <a:ext cx="1373156" cy="915437"/>
        </a:xfrm>
        <a:prstGeom prst="roundRect">
          <a:avLst>
            <a:gd name="adj" fmla="val 10000"/>
          </a:avLst>
        </a:prstGeom>
        <a:solidFill>
          <a:srgbClr val="4D88C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endParaRPr lang="zh-CN" altLang="en-US" sz="1200" kern="1200" dirty="0"/>
        </a:p>
      </dsp:txBody>
      <dsp:txXfrm>
        <a:off x="5358969" y="3969658"/>
        <a:ext cx="1319532" cy="861813"/>
      </dsp:txXfrm>
    </dsp:sp>
    <dsp:sp modelId="{FC833476-0A14-40A1-864B-51496970A322}">
      <dsp:nvSpPr>
        <dsp:cNvPr id="0" name=""/>
        <dsp:cNvSpPr/>
      </dsp:nvSpPr>
      <dsp:spPr>
        <a:xfrm>
          <a:off x="6018735" y="2295059"/>
          <a:ext cx="1121065" cy="366174"/>
        </a:xfrm>
        <a:custGeom>
          <a:avLst/>
          <a:gdLst/>
          <a:ahLst/>
          <a:cxnLst/>
          <a:rect l="0" t="0" r="0" b="0"/>
          <a:pathLst>
            <a:path>
              <a:moveTo>
                <a:pt x="0" y="0"/>
              </a:moveTo>
              <a:lnTo>
                <a:pt x="0" y="183087"/>
              </a:lnTo>
              <a:lnTo>
                <a:pt x="1121065" y="183087"/>
              </a:lnTo>
              <a:lnTo>
                <a:pt x="1121065" y="366174"/>
              </a:lnTo>
            </a:path>
          </a:pathLst>
        </a:custGeom>
        <a:no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DDCC15E8-B0D0-4E14-A0EF-D2A4277916A8}">
      <dsp:nvSpPr>
        <dsp:cNvPr id="0" name=""/>
        <dsp:cNvSpPr/>
      </dsp:nvSpPr>
      <dsp:spPr>
        <a:xfrm>
          <a:off x="6453222" y="2661234"/>
          <a:ext cx="1373156" cy="915437"/>
        </a:xfrm>
        <a:prstGeom prst="roundRect">
          <a:avLst>
            <a:gd name="adj" fmla="val 10000"/>
          </a:avLst>
        </a:prstGeom>
        <a:solidFill>
          <a:srgbClr val="4D88C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endParaRPr lang="zh-CN" altLang="en-US" sz="1200" kern="1200" dirty="0"/>
        </a:p>
      </dsp:txBody>
      <dsp:txXfrm>
        <a:off x="6480034" y="2688046"/>
        <a:ext cx="1319532" cy="861813"/>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A769150-6793-4F90-A470-23873677C186}">
      <dsp:nvSpPr>
        <dsp:cNvPr id="0" name=""/>
        <dsp:cNvSpPr/>
      </dsp:nvSpPr>
      <dsp:spPr>
        <a:xfrm>
          <a:off x="1481025" y="978442"/>
          <a:ext cx="2774974" cy="1850908"/>
        </a:xfrm>
        <a:prstGeom prst="rect">
          <a:avLst/>
        </a:prstGeom>
        <a:solidFill>
          <a:schemeClr val="lt1">
            <a:alpha val="90000"/>
            <a:tint val="4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0" tIns="128016" rIns="128016" bIns="128016" numCol="1" spcCol="1270" anchor="t" anchorCtr="0">
          <a:noAutofit/>
        </a:bodyPr>
        <a:lstStyle/>
        <a:p>
          <a:pPr marL="0" lvl="0" indent="0" algn="l" defTabSz="800100">
            <a:lnSpc>
              <a:spcPct val="90000"/>
            </a:lnSpc>
            <a:spcBef>
              <a:spcPct val="0"/>
            </a:spcBef>
            <a:spcAft>
              <a:spcPct val="35000"/>
            </a:spcAft>
            <a:buNone/>
          </a:pPr>
          <a:r>
            <a:rPr lang="en-US" sz="1800" b="1" kern="1200" baseline="0" dirty="0">
              <a:latin typeface="+mn-ea"/>
              <a:ea typeface="+mn-ea"/>
            </a:rPr>
            <a:t>Allocation:</a:t>
          </a:r>
          <a:endParaRPr lang="zh-CN" sz="1800" b="1" kern="1200" dirty="0">
            <a:latin typeface="+mn-ea"/>
            <a:ea typeface="+mn-ea"/>
          </a:endParaRPr>
        </a:p>
        <a:p>
          <a:pPr marL="114300" lvl="1" indent="-114300" algn="l" defTabSz="622300">
            <a:lnSpc>
              <a:spcPct val="90000"/>
            </a:lnSpc>
            <a:spcBef>
              <a:spcPct val="0"/>
            </a:spcBef>
            <a:spcAft>
              <a:spcPct val="15000"/>
            </a:spcAft>
            <a:buChar char="•"/>
          </a:pPr>
          <a:r>
            <a:rPr lang="en-US" sz="1400" b="1" kern="1200" baseline="0" dirty="0">
              <a:latin typeface="+mn-ea"/>
              <a:ea typeface="+mn-ea"/>
            </a:rPr>
            <a:t>Assign items to specific orders but still in inventory </a:t>
          </a:r>
          <a:endParaRPr lang="zh-CN" sz="1400" b="1" kern="1200" dirty="0">
            <a:latin typeface="+mn-ea"/>
            <a:ea typeface="+mn-ea"/>
          </a:endParaRPr>
        </a:p>
        <a:p>
          <a:pPr marL="114300" lvl="1" indent="-114300" algn="l" defTabSz="622300">
            <a:lnSpc>
              <a:spcPct val="90000"/>
            </a:lnSpc>
            <a:spcBef>
              <a:spcPct val="0"/>
            </a:spcBef>
            <a:spcAft>
              <a:spcPct val="15000"/>
            </a:spcAft>
            <a:buChar char="•"/>
          </a:pPr>
          <a:r>
            <a:rPr lang="en-US" sz="1400" b="1" kern="1200" baseline="0" dirty="0">
              <a:latin typeface="+mn-ea"/>
              <a:ea typeface="+mn-ea"/>
            </a:rPr>
            <a:t>Process to distribute materials in short supply </a:t>
          </a:r>
          <a:endParaRPr lang="zh-CN" sz="1400" b="1" kern="1200" dirty="0">
            <a:latin typeface="+mn-ea"/>
            <a:ea typeface="+mn-ea"/>
          </a:endParaRPr>
        </a:p>
      </dsp:txBody>
      <dsp:txXfrm>
        <a:off x="1925021" y="978442"/>
        <a:ext cx="2330978" cy="1850908"/>
      </dsp:txXfrm>
    </dsp:sp>
    <dsp:sp modelId="{582FC5B0-ABC0-497D-B4D4-E37459034AEA}">
      <dsp:nvSpPr>
        <dsp:cNvPr id="0" name=""/>
        <dsp:cNvSpPr/>
      </dsp:nvSpPr>
      <dsp:spPr>
        <a:xfrm>
          <a:off x="1039" y="238449"/>
          <a:ext cx="1849983" cy="1849983"/>
        </a:xfrm>
        <a:prstGeom prst="ellipse">
          <a:avLst/>
        </a:prstGeom>
        <a:solidFill>
          <a:srgbClr val="2B11A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711200">
            <a:lnSpc>
              <a:spcPct val="90000"/>
            </a:lnSpc>
            <a:spcBef>
              <a:spcPct val="0"/>
            </a:spcBef>
            <a:spcAft>
              <a:spcPct val="35000"/>
            </a:spcAft>
            <a:buNone/>
          </a:pPr>
          <a:r>
            <a:rPr lang="en-US" sz="1600" b="1" kern="1200" baseline="0">
              <a:solidFill>
                <a:schemeClr val="tx1"/>
              </a:solidFill>
              <a:latin typeface="+mn-ea"/>
              <a:ea typeface="+mn-ea"/>
            </a:rPr>
            <a:t>Supply-Demand Strategies</a:t>
          </a:r>
          <a:endParaRPr lang="zh-CN" sz="1600" b="1" kern="1200">
            <a:solidFill>
              <a:schemeClr val="tx1"/>
            </a:solidFill>
            <a:latin typeface="+mn-ea"/>
            <a:ea typeface="+mn-ea"/>
          </a:endParaRPr>
        </a:p>
      </dsp:txBody>
      <dsp:txXfrm>
        <a:off x="271963" y="509373"/>
        <a:ext cx="1308135" cy="1308135"/>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50F70C3-D30C-4C35-AF64-F9673D200FC0}">
      <dsp:nvSpPr>
        <dsp:cNvPr id="0" name=""/>
        <dsp:cNvSpPr/>
      </dsp:nvSpPr>
      <dsp:spPr>
        <a:xfrm>
          <a:off x="0" y="113084"/>
          <a:ext cx="3338132" cy="327015"/>
        </a:xfrm>
        <a:prstGeom prst="roundRect">
          <a:avLst/>
        </a:prstGeom>
        <a:solidFill>
          <a:schemeClr val="lt1"/>
        </a:solidFill>
        <a:ln w="12700" cap="flat" cmpd="sng" algn="ctr">
          <a:solidFill>
            <a:schemeClr val="accent5"/>
          </a:solidFill>
          <a:prstDash val="solid"/>
          <a:miter lim="800000"/>
        </a:ln>
        <a:effectLst/>
      </dsp:spPr>
      <dsp:style>
        <a:lnRef idx="2">
          <a:schemeClr val="accent5"/>
        </a:lnRef>
        <a:fillRef idx="1">
          <a:schemeClr val="lt1"/>
        </a:fillRef>
        <a:effectRef idx="0">
          <a:schemeClr val="accent5"/>
        </a:effectRef>
        <a:fontRef idx="minor">
          <a:schemeClr val="dk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zh-CN" sz="1300" b="1" kern="1200" dirty="0"/>
            <a:t>多层</a:t>
          </a:r>
          <a:r>
            <a:rPr lang="en-US" sz="1300" b="1" kern="1200" dirty="0"/>
            <a:t>BOM/</a:t>
          </a:r>
          <a:r>
            <a:rPr lang="zh-CN" sz="1300" b="1" kern="1200" dirty="0"/>
            <a:t>供应链网络模型</a:t>
          </a:r>
          <a:endParaRPr lang="zh-CN" sz="1300" kern="1200" dirty="0"/>
        </a:p>
      </dsp:txBody>
      <dsp:txXfrm>
        <a:off x="15964" y="129048"/>
        <a:ext cx="3306204" cy="295087"/>
      </dsp:txXfrm>
    </dsp:sp>
    <dsp:sp modelId="{CD247634-9554-498C-BE37-91212D2A3B0F}">
      <dsp:nvSpPr>
        <dsp:cNvPr id="0" name=""/>
        <dsp:cNvSpPr/>
      </dsp:nvSpPr>
      <dsp:spPr>
        <a:xfrm>
          <a:off x="0" y="477539"/>
          <a:ext cx="3338132" cy="327015"/>
        </a:xfrm>
        <a:prstGeom prst="roundRect">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zh-CN" altLang="en-US" sz="1300" b="1" kern="1200"/>
            <a:t>约束规划模型</a:t>
          </a:r>
          <a:endParaRPr lang="zh-CN" altLang="en-US" sz="1300" kern="1200"/>
        </a:p>
      </dsp:txBody>
      <dsp:txXfrm>
        <a:off x="15964" y="493503"/>
        <a:ext cx="3306204" cy="295087"/>
      </dsp:txXfrm>
    </dsp:sp>
    <dsp:sp modelId="{A038F8F5-77A0-47AD-A897-0B0CD8D289E4}">
      <dsp:nvSpPr>
        <dsp:cNvPr id="0" name=""/>
        <dsp:cNvSpPr/>
      </dsp:nvSpPr>
      <dsp:spPr>
        <a:xfrm>
          <a:off x="0" y="841994"/>
          <a:ext cx="3338132" cy="327015"/>
        </a:xfrm>
        <a:prstGeom prst="roundRect">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zh-CN" altLang="en-US" sz="1300" b="1" kern="1200" dirty="0"/>
            <a:t>资源优化（交付又准又快）</a:t>
          </a:r>
          <a:endParaRPr lang="zh-CN" altLang="en-US" sz="1300" kern="1200" dirty="0"/>
        </a:p>
      </dsp:txBody>
      <dsp:txXfrm>
        <a:off x="15964" y="857958"/>
        <a:ext cx="3306204" cy="295087"/>
      </dsp:txXfrm>
    </dsp:sp>
    <dsp:sp modelId="{BE7D2233-A841-42D2-8E7C-77114253376E}">
      <dsp:nvSpPr>
        <dsp:cNvPr id="0" name=""/>
        <dsp:cNvSpPr/>
      </dsp:nvSpPr>
      <dsp:spPr>
        <a:xfrm>
          <a:off x="0" y="1206449"/>
          <a:ext cx="3338132" cy="327015"/>
        </a:xfrm>
        <a:prstGeom prst="roundRect">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zh-CN" altLang="en-US" sz="1300" b="1" kern="1200"/>
            <a:t>并行规划</a:t>
          </a:r>
          <a:endParaRPr lang="zh-CN" altLang="en-US" sz="1300" kern="1200"/>
        </a:p>
      </dsp:txBody>
      <dsp:txXfrm>
        <a:off x="15964" y="1222413"/>
        <a:ext cx="3306204" cy="295087"/>
      </dsp:txXfrm>
    </dsp:sp>
    <dsp:sp modelId="{9872B357-9E6A-4568-8B9A-296932A2DF5E}">
      <dsp:nvSpPr>
        <dsp:cNvPr id="0" name=""/>
        <dsp:cNvSpPr/>
      </dsp:nvSpPr>
      <dsp:spPr>
        <a:xfrm>
          <a:off x="0" y="1570904"/>
          <a:ext cx="3338132" cy="327015"/>
        </a:xfrm>
        <a:prstGeom prst="roundRect">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zh-CN" altLang="en-US" sz="1300" b="1" kern="1200"/>
            <a:t>维度规划（特配）</a:t>
          </a:r>
          <a:endParaRPr lang="zh-CN" altLang="en-US" sz="1300" kern="1200"/>
        </a:p>
      </dsp:txBody>
      <dsp:txXfrm>
        <a:off x="15964" y="1586868"/>
        <a:ext cx="3306204" cy="295087"/>
      </dsp:txXfrm>
    </dsp:sp>
    <dsp:sp modelId="{D7CAAEFE-D108-4985-ABF9-F1F4464C8C49}">
      <dsp:nvSpPr>
        <dsp:cNvPr id="0" name=""/>
        <dsp:cNvSpPr/>
      </dsp:nvSpPr>
      <dsp:spPr>
        <a:xfrm>
          <a:off x="0" y="1935359"/>
          <a:ext cx="3338132" cy="327015"/>
        </a:xfrm>
        <a:prstGeom prst="roundRect">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en-US" sz="1300" b="1" kern="1200"/>
            <a:t>Netting</a:t>
          </a:r>
          <a:r>
            <a:rPr lang="zh-CN" sz="1300" b="1" kern="1200"/>
            <a:t> 不受层级影响</a:t>
          </a:r>
          <a:endParaRPr lang="zh-CN" sz="1300" kern="1200"/>
        </a:p>
      </dsp:txBody>
      <dsp:txXfrm>
        <a:off x="15964" y="1951323"/>
        <a:ext cx="3306204" cy="295087"/>
      </dsp:txXfrm>
    </dsp:sp>
    <dsp:sp modelId="{FA03B592-C149-463E-B120-D7C8486E4AD3}">
      <dsp:nvSpPr>
        <dsp:cNvPr id="0" name=""/>
        <dsp:cNvSpPr/>
      </dsp:nvSpPr>
      <dsp:spPr>
        <a:xfrm>
          <a:off x="0" y="2299814"/>
          <a:ext cx="3338132" cy="327015"/>
        </a:xfrm>
        <a:prstGeom prst="roundRect">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zh-CN" altLang="en-US" sz="1300" b="1" kern="1200"/>
            <a:t>替代</a:t>
          </a:r>
          <a:endParaRPr lang="zh-CN" altLang="en-US" sz="1300" kern="1200"/>
        </a:p>
      </dsp:txBody>
      <dsp:txXfrm>
        <a:off x="15964" y="2315778"/>
        <a:ext cx="3306204" cy="295087"/>
      </dsp:txXfrm>
    </dsp:sp>
    <dsp:sp modelId="{B9F99895-A011-4114-BC43-30F9E3794FF1}">
      <dsp:nvSpPr>
        <dsp:cNvPr id="0" name=""/>
        <dsp:cNvSpPr/>
      </dsp:nvSpPr>
      <dsp:spPr>
        <a:xfrm>
          <a:off x="0" y="2664269"/>
          <a:ext cx="3338132" cy="327015"/>
        </a:xfrm>
        <a:prstGeom prst="roundRect">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zh-CN" altLang="en-US" sz="1300" b="1" kern="1200"/>
            <a:t>替换</a:t>
          </a:r>
          <a:endParaRPr lang="zh-CN" altLang="en-US" sz="1300" kern="1200"/>
        </a:p>
      </dsp:txBody>
      <dsp:txXfrm>
        <a:off x="15964" y="2680233"/>
        <a:ext cx="3306204" cy="295087"/>
      </dsp:txXfrm>
    </dsp:sp>
    <dsp:sp modelId="{FFC7B5E4-9DAC-4261-9693-C89053EE518C}">
      <dsp:nvSpPr>
        <dsp:cNvPr id="0" name=""/>
        <dsp:cNvSpPr/>
      </dsp:nvSpPr>
      <dsp:spPr>
        <a:xfrm>
          <a:off x="0" y="3028724"/>
          <a:ext cx="3338132" cy="327015"/>
        </a:xfrm>
        <a:prstGeom prst="roundRect">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zh-CN" altLang="en-US" sz="1300" b="1" kern="1200"/>
            <a:t>轮式生产</a:t>
          </a:r>
          <a:endParaRPr lang="zh-CN" altLang="en-US" sz="1300" kern="1200"/>
        </a:p>
      </dsp:txBody>
      <dsp:txXfrm>
        <a:off x="15964" y="3044688"/>
        <a:ext cx="3306204" cy="295087"/>
      </dsp:txXfrm>
    </dsp:sp>
    <dsp:sp modelId="{D0A147BF-A3B2-45D4-AF88-EC6C04DC3738}">
      <dsp:nvSpPr>
        <dsp:cNvPr id="0" name=""/>
        <dsp:cNvSpPr/>
      </dsp:nvSpPr>
      <dsp:spPr>
        <a:xfrm>
          <a:off x="0" y="3393179"/>
          <a:ext cx="3338132" cy="327015"/>
        </a:xfrm>
        <a:prstGeom prst="roundRect">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zh-CN" altLang="en-US" sz="1300" b="1" kern="1200"/>
            <a:t>活动规划</a:t>
          </a:r>
          <a:endParaRPr lang="zh-CN" altLang="en-US" sz="1300" kern="1200"/>
        </a:p>
      </dsp:txBody>
      <dsp:txXfrm>
        <a:off x="15964" y="3409143"/>
        <a:ext cx="3306204" cy="295087"/>
      </dsp:txXfrm>
    </dsp:sp>
    <dsp:sp modelId="{1F3D5E55-9788-49DA-8B3D-5E0B7C0EE016}">
      <dsp:nvSpPr>
        <dsp:cNvPr id="0" name=""/>
        <dsp:cNvSpPr/>
      </dsp:nvSpPr>
      <dsp:spPr>
        <a:xfrm>
          <a:off x="0" y="3757634"/>
          <a:ext cx="3338132" cy="327015"/>
        </a:xfrm>
        <a:prstGeom prst="roundRect">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zh-CN" altLang="en-US" sz="1300" b="1" kern="1200"/>
            <a:t>统计预测</a:t>
          </a:r>
          <a:endParaRPr lang="zh-CN" altLang="en-US" sz="1300" kern="1200"/>
        </a:p>
      </dsp:txBody>
      <dsp:txXfrm>
        <a:off x="15964" y="3773598"/>
        <a:ext cx="3306204" cy="295087"/>
      </dsp:txXfrm>
    </dsp:sp>
    <dsp:sp modelId="{B3B84285-1A83-481E-AB88-DA5E7C4CA469}">
      <dsp:nvSpPr>
        <dsp:cNvPr id="0" name=""/>
        <dsp:cNvSpPr/>
      </dsp:nvSpPr>
      <dsp:spPr>
        <a:xfrm>
          <a:off x="0" y="4122089"/>
          <a:ext cx="3338132" cy="327015"/>
        </a:xfrm>
        <a:prstGeom prst="roundRect">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zh-CN" altLang="en-US" sz="1300" b="1" kern="1200"/>
            <a:t>事件管理</a:t>
          </a:r>
          <a:endParaRPr lang="zh-CN" altLang="en-US" sz="1300" kern="1200"/>
        </a:p>
      </dsp:txBody>
      <dsp:txXfrm>
        <a:off x="15964" y="4138053"/>
        <a:ext cx="3306204" cy="295087"/>
      </dsp:txXfrm>
    </dsp:sp>
    <dsp:sp modelId="{190919D8-2780-4432-80EA-D95112C44AD1}">
      <dsp:nvSpPr>
        <dsp:cNvPr id="0" name=""/>
        <dsp:cNvSpPr/>
      </dsp:nvSpPr>
      <dsp:spPr>
        <a:xfrm>
          <a:off x="0" y="4486544"/>
          <a:ext cx="3338132" cy="327015"/>
        </a:xfrm>
        <a:prstGeom prst="roundRect">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en-US" sz="1300" b="1" kern="1200"/>
            <a:t>IPO</a:t>
          </a:r>
          <a:endParaRPr lang="zh-CN" sz="1300" kern="1200"/>
        </a:p>
      </dsp:txBody>
      <dsp:txXfrm>
        <a:off x="15964" y="4502508"/>
        <a:ext cx="3306204" cy="295087"/>
      </dsp:txXfrm>
    </dsp:sp>
    <dsp:sp modelId="{C9B91EF6-1B4F-4951-BBF5-73A5E9CCCB99}">
      <dsp:nvSpPr>
        <dsp:cNvPr id="0" name=""/>
        <dsp:cNvSpPr/>
      </dsp:nvSpPr>
      <dsp:spPr>
        <a:xfrm>
          <a:off x="0" y="4850999"/>
          <a:ext cx="3338132" cy="327015"/>
        </a:xfrm>
        <a:prstGeom prst="roundRect">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l" defTabSz="577850">
            <a:lnSpc>
              <a:spcPct val="90000"/>
            </a:lnSpc>
            <a:spcBef>
              <a:spcPct val="0"/>
            </a:spcBef>
            <a:spcAft>
              <a:spcPct val="35000"/>
            </a:spcAft>
            <a:buNone/>
          </a:pPr>
          <a:r>
            <a:rPr lang="en-US" sz="1300" b="1" kern="1200"/>
            <a:t>……..</a:t>
          </a:r>
          <a:endParaRPr lang="zh-CN" sz="1300" kern="1200"/>
        </a:p>
      </dsp:txBody>
      <dsp:txXfrm>
        <a:off x="15964" y="4866963"/>
        <a:ext cx="3306204" cy="295087"/>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78D0FD7-D5EF-40AF-BAEF-171B21B562C8}">
      <dsp:nvSpPr>
        <dsp:cNvPr id="0" name=""/>
        <dsp:cNvSpPr/>
      </dsp:nvSpPr>
      <dsp:spPr>
        <a:xfrm>
          <a:off x="78385" y="78456"/>
          <a:ext cx="7061068" cy="854692"/>
        </a:xfrm>
        <a:prstGeom prst="round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l" defTabSz="533400">
            <a:lnSpc>
              <a:spcPct val="90000"/>
            </a:lnSpc>
            <a:spcBef>
              <a:spcPct val="0"/>
            </a:spcBef>
            <a:spcAft>
              <a:spcPct val="35000"/>
            </a:spcAft>
            <a:buNone/>
          </a:pPr>
          <a:r>
            <a:rPr lang="zh-CN" altLang="en-US" sz="1200" b="1" kern="1200" dirty="0">
              <a:latin typeface="+mn-ea"/>
              <a:ea typeface="+mn-ea"/>
            </a:rPr>
            <a:t>步骤一</a:t>
          </a:r>
          <a:r>
            <a:rPr lang="zh-CN" sz="1200" b="1" kern="1200" dirty="0">
              <a:latin typeface="+mn-ea"/>
              <a:ea typeface="+mn-ea"/>
            </a:rPr>
            <a:t>：</a:t>
          </a:r>
          <a:r>
            <a:rPr lang="en-US" sz="1200" b="1" kern="1200" dirty="0">
              <a:latin typeface="+mn-ea"/>
              <a:ea typeface="+mn-ea"/>
            </a:rPr>
            <a:t>Allotment Qty</a:t>
          </a:r>
          <a:r>
            <a:rPr lang="zh-CN" sz="1200" b="1" kern="1200" dirty="0">
              <a:latin typeface="+mn-ea"/>
              <a:ea typeface="+mn-ea"/>
            </a:rPr>
            <a:t>为配额，</a:t>
          </a:r>
          <a:r>
            <a:rPr lang="en-US" sz="1200" b="1" kern="1200" dirty="0">
              <a:latin typeface="+mn-ea"/>
              <a:ea typeface="+mn-ea"/>
            </a:rPr>
            <a:t>MRP Netting</a:t>
          </a:r>
          <a:r>
            <a:rPr lang="zh-CN" sz="1200" b="1" kern="1200" dirty="0">
              <a:latin typeface="+mn-ea"/>
              <a:ea typeface="+mn-ea"/>
            </a:rPr>
            <a:t>不能超配额，产生</a:t>
          </a:r>
          <a:r>
            <a:rPr lang="en-US" sz="1200" b="1" kern="1200" dirty="0">
              <a:latin typeface="+mn-ea"/>
              <a:ea typeface="+mn-ea"/>
            </a:rPr>
            <a:t>Short</a:t>
          </a:r>
          <a:r>
            <a:rPr lang="zh-CN" sz="1200" b="1" kern="1200" dirty="0">
              <a:latin typeface="+mn-ea"/>
              <a:ea typeface="+mn-ea"/>
            </a:rPr>
            <a:t>和</a:t>
          </a:r>
          <a:r>
            <a:rPr lang="en-US" sz="1200" b="1" kern="1200" dirty="0">
              <a:latin typeface="+mn-ea"/>
              <a:ea typeface="+mn-ea"/>
            </a:rPr>
            <a:t>Surplus</a:t>
          </a:r>
          <a:endParaRPr lang="zh-CN" sz="1200" b="1" kern="1200" dirty="0">
            <a:latin typeface="+mn-ea"/>
            <a:ea typeface="+mn-ea"/>
          </a:endParaRPr>
        </a:p>
      </dsp:txBody>
      <dsp:txXfrm>
        <a:off x="120108" y="120179"/>
        <a:ext cx="6977622" cy="771246"/>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72D40C9-9E54-40F0-83F4-2F103774E08E}">
      <dsp:nvSpPr>
        <dsp:cNvPr id="0" name=""/>
        <dsp:cNvSpPr/>
      </dsp:nvSpPr>
      <dsp:spPr>
        <a:xfrm>
          <a:off x="0" y="266809"/>
          <a:ext cx="7217840" cy="926471"/>
        </a:xfrm>
        <a:prstGeom prst="round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l" defTabSz="533400">
            <a:lnSpc>
              <a:spcPct val="90000"/>
            </a:lnSpc>
            <a:spcBef>
              <a:spcPct val="0"/>
            </a:spcBef>
            <a:spcAft>
              <a:spcPct val="35000"/>
            </a:spcAft>
            <a:buNone/>
          </a:pPr>
          <a:r>
            <a:rPr lang="zh-CN" altLang="en-US" sz="1200" b="1" kern="1200" dirty="0">
              <a:latin typeface="+mn-ea"/>
              <a:ea typeface="+mn-ea"/>
            </a:rPr>
            <a:t>步骤二</a:t>
          </a:r>
          <a:r>
            <a:rPr lang="zh-CN" sz="1200" b="1" kern="1200" dirty="0">
              <a:latin typeface="+mn-ea"/>
              <a:ea typeface="+mn-ea"/>
            </a:rPr>
            <a:t>：按照需求</a:t>
          </a:r>
          <a:r>
            <a:rPr lang="en-US" sz="1200" b="1" kern="1200" dirty="0">
              <a:latin typeface="+mn-ea"/>
              <a:ea typeface="+mn-ea"/>
            </a:rPr>
            <a:t>Sequence/Priority </a:t>
          </a:r>
          <a:r>
            <a:rPr lang="zh-CN" sz="1200" b="1" kern="1200" dirty="0">
              <a:latin typeface="+mn-ea"/>
              <a:ea typeface="+mn-ea"/>
            </a:rPr>
            <a:t>分配</a:t>
          </a:r>
        </a:p>
      </dsp:txBody>
      <dsp:txXfrm>
        <a:off x="45227" y="312036"/>
        <a:ext cx="7127386" cy="836017"/>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69B6CA2-BA2B-4B6D-88EF-2E79554CCF64}">
      <dsp:nvSpPr>
        <dsp:cNvPr id="0" name=""/>
        <dsp:cNvSpPr/>
      </dsp:nvSpPr>
      <dsp:spPr>
        <a:xfrm>
          <a:off x="0" y="0"/>
          <a:ext cx="10642791" cy="0"/>
        </a:xfrm>
        <a:prstGeom prst="line">
          <a:avLst/>
        </a:prstGeom>
        <a:solidFill>
          <a:schemeClr val="lt1">
            <a:hueOff val="0"/>
            <a:satOff val="0"/>
            <a:lumOff val="0"/>
            <a:alphaOff val="0"/>
          </a:schemeClr>
        </a:solidFill>
        <a:ln w="12700" cap="flat" cmpd="sng" algn="ctr">
          <a:solidFill>
            <a:schemeClr val="accent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D8CA52D-F5E2-49FE-8DAD-D65E24D20B4F}">
      <dsp:nvSpPr>
        <dsp:cNvPr id="0" name=""/>
        <dsp:cNvSpPr/>
      </dsp:nvSpPr>
      <dsp:spPr>
        <a:xfrm>
          <a:off x="0" y="0"/>
          <a:ext cx="2128558" cy="6785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t" anchorCtr="0">
          <a:noAutofit/>
        </a:bodyPr>
        <a:lstStyle/>
        <a:p>
          <a:pPr marL="0" lvl="0" indent="0" algn="l" defTabSz="666750">
            <a:lnSpc>
              <a:spcPct val="90000"/>
            </a:lnSpc>
            <a:spcBef>
              <a:spcPct val="0"/>
            </a:spcBef>
            <a:spcAft>
              <a:spcPct val="35000"/>
            </a:spcAft>
            <a:buNone/>
          </a:pPr>
          <a:r>
            <a:rPr lang="zh-CN" altLang="en-US" sz="1500" b="1" kern="1200">
              <a:latin typeface="+mj-ea"/>
              <a:ea typeface="+mj-ea"/>
            </a:rPr>
            <a:t>预测调整 </a:t>
          </a:r>
          <a:endParaRPr lang="zh-CN" altLang="en-US" sz="1500" kern="1200">
            <a:latin typeface="+mj-ea"/>
            <a:ea typeface="+mj-ea"/>
          </a:endParaRPr>
        </a:p>
      </dsp:txBody>
      <dsp:txXfrm>
        <a:off x="0" y="0"/>
        <a:ext cx="2128558" cy="678526"/>
      </dsp:txXfrm>
    </dsp:sp>
    <dsp:sp modelId="{D782E8DF-0FD3-427C-9736-F0C7F474C7E3}">
      <dsp:nvSpPr>
        <dsp:cNvPr id="0" name=""/>
        <dsp:cNvSpPr/>
      </dsp:nvSpPr>
      <dsp:spPr>
        <a:xfrm>
          <a:off x="2288200" y="30811"/>
          <a:ext cx="8354590" cy="61623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sz="1300" b="1" kern="1200">
              <a:latin typeface="+mj-ea"/>
              <a:ea typeface="+mj-ea"/>
            </a:rPr>
            <a:t>当要调整某产品系列预测时，针对某一个</a:t>
          </a:r>
          <a:r>
            <a:rPr lang="en-US" sz="1300" b="1" kern="1200">
              <a:latin typeface="+mj-ea"/>
              <a:ea typeface="+mj-ea"/>
            </a:rPr>
            <a:t>stream</a:t>
          </a:r>
          <a:r>
            <a:rPr lang="zh-CN" sz="1300" b="1" kern="1200">
              <a:latin typeface="+mj-ea"/>
              <a:ea typeface="+mj-ea"/>
            </a:rPr>
            <a:t>的预测，例如市场预测（一般来讲，有统计预测，财务预测，市场预测等）</a:t>
          </a:r>
          <a:endParaRPr lang="zh-CN" sz="1300" kern="1200">
            <a:latin typeface="+mj-ea"/>
            <a:ea typeface="+mj-ea"/>
          </a:endParaRPr>
        </a:p>
      </dsp:txBody>
      <dsp:txXfrm>
        <a:off x="2288200" y="30811"/>
        <a:ext cx="8354590" cy="616239"/>
      </dsp:txXfrm>
    </dsp:sp>
    <dsp:sp modelId="{B49AD372-8C98-46F0-9757-83E304BAB9F0}">
      <dsp:nvSpPr>
        <dsp:cNvPr id="0" name=""/>
        <dsp:cNvSpPr/>
      </dsp:nvSpPr>
      <dsp:spPr>
        <a:xfrm>
          <a:off x="2128558" y="647051"/>
          <a:ext cx="8514232"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BC8E9086-57FB-4995-97EE-9D795EA22599}">
      <dsp:nvSpPr>
        <dsp:cNvPr id="0" name=""/>
        <dsp:cNvSpPr/>
      </dsp:nvSpPr>
      <dsp:spPr>
        <a:xfrm>
          <a:off x="0" y="678526"/>
          <a:ext cx="10642791" cy="0"/>
        </a:xfrm>
        <a:prstGeom prst="line">
          <a:avLst/>
        </a:prstGeom>
        <a:solidFill>
          <a:schemeClr val="lt1">
            <a:hueOff val="0"/>
            <a:satOff val="0"/>
            <a:lumOff val="0"/>
            <a:alphaOff val="0"/>
          </a:schemeClr>
        </a:solidFill>
        <a:ln w="12700" cap="flat" cmpd="sng" algn="ctr">
          <a:solidFill>
            <a:schemeClr val="accent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B4BE777-73BF-4E3D-AC5D-53DB54B9318C}">
      <dsp:nvSpPr>
        <dsp:cNvPr id="0" name=""/>
        <dsp:cNvSpPr/>
      </dsp:nvSpPr>
      <dsp:spPr>
        <a:xfrm>
          <a:off x="0" y="678526"/>
          <a:ext cx="2128558" cy="6785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t" anchorCtr="0">
          <a:noAutofit/>
        </a:bodyPr>
        <a:lstStyle/>
        <a:p>
          <a:pPr marL="0" lvl="0" indent="0" algn="l" defTabSz="666750">
            <a:lnSpc>
              <a:spcPct val="90000"/>
            </a:lnSpc>
            <a:spcBef>
              <a:spcPct val="0"/>
            </a:spcBef>
            <a:spcAft>
              <a:spcPct val="35000"/>
            </a:spcAft>
            <a:buNone/>
          </a:pPr>
          <a:r>
            <a:rPr lang="zh-CN" altLang="en-US" sz="1500" b="1" kern="1200">
              <a:latin typeface="+mj-ea"/>
              <a:ea typeface="+mj-ea"/>
            </a:rPr>
            <a:t>预测冲减 </a:t>
          </a:r>
          <a:endParaRPr lang="zh-CN" altLang="en-US" sz="1500" kern="1200">
            <a:latin typeface="+mj-ea"/>
            <a:ea typeface="+mj-ea"/>
          </a:endParaRPr>
        </a:p>
      </dsp:txBody>
      <dsp:txXfrm>
        <a:off x="0" y="678526"/>
        <a:ext cx="2128558" cy="678526"/>
      </dsp:txXfrm>
    </dsp:sp>
    <dsp:sp modelId="{6C6C5878-1A13-4799-A9E1-C78372BF709B}">
      <dsp:nvSpPr>
        <dsp:cNvPr id="0" name=""/>
        <dsp:cNvSpPr/>
      </dsp:nvSpPr>
      <dsp:spPr>
        <a:xfrm>
          <a:off x="2288200" y="709338"/>
          <a:ext cx="8354590" cy="61623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altLang="en-US" sz="1300" b="1" kern="1200" dirty="0">
              <a:latin typeface="+mj-ea"/>
              <a:ea typeface="+mj-ea"/>
            </a:rPr>
            <a:t>当针对某产品系列，成品或者组件做预测和实际订单冲减时，要匹配相同的客户或者相同地区等</a:t>
          </a:r>
          <a:endParaRPr lang="zh-CN" altLang="en-US" sz="1300" kern="1200" dirty="0">
            <a:latin typeface="+mj-ea"/>
            <a:ea typeface="+mj-ea"/>
          </a:endParaRPr>
        </a:p>
      </dsp:txBody>
      <dsp:txXfrm>
        <a:off x="2288200" y="709338"/>
        <a:ext cx="8354590" cy="616239"/>
      </dsp:txXfrm>
    </dsp:sp>
    <dsp:sp modelId="{450FB1D1-621B-4915-9813-537811FD7D58}">
      <dsp:nvSpPr>
        <dsp:cNvPr id="0" name=""/>
        <dsp:cNvSpPr/>
      </dsp:nvSpPr>
      <dsp:spPr>
        <a:xfrm>
          <a:off x="2128558" y="1325578"/>
          <a:ext cx="8514232"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19FA8657-B158-4A0E-98E2-869168ED0F7C}">
      <dsp:nvSpPr>
        <dsp:cNvPr id="0" name=""/>
        <dsp:cNvSpPr/>
      </dsp:nvSpPr>
      <dsp:spPr>
        <a:xfrm>
          <a:off x="0" y="1357052"/>
          <a:ext cx="10642791" cy="0"/>
        </a:xfrm>
        <a:prstGeom prst="line">
          <a:avLst/>
        </a:prstGeom>
        <a:solidFill>
          <a:schemeClr val="lt1">
            <a:hueOff val="0"/>
            <a:satOff val="0"/>
            <a:lumOff val="0"/>
            <a:alphaOff val="0"/>
          </a:schemeClr>
        </a:solidFill>
        <a:ln w="12700" cap="flat" cmpd="sng" algn="ctr">
          <a:solidFill>
            <a:schemeClr val="accent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DEC50A2-48B9-4E6B-AC12-D5AE68E2478B}">
      <dsp:nvSpPr>
        <dsp:cNvPr id="0" name=""/>
        <dsp:cNvSpPr/>
      </dsp:nvSpPr>
      <dsp:spPr>
        <a:xfrm>
          <a:off x="0" y="1357052"/>
          <a:ext cx="2128558" cy="6785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t" anchorCtr="0">
          <a:noAutofit/>
        </a:bodyPr>
        <a:lstStyle/>
        <a:p>
          <a:pPr marL="0" lvl="0" indent="0" algn="l" defTabSz="666750">
            <a:lnSpc>
              <a:spcPct val="90000"/>
            </a:lnSpc>
            <a:spcBef>
              <a:spcPct val="0"/>
            </a:spcBef>
            <a:spcAft>
              <a:spcPct val="35000"/>
            </a:spcAft>
            <a:buNone/>
          </a:pPr>
          <a:r>
            <a:rPr lang="zh-CN" altLang="en-US" sz="1500" b="1" kern="1200">
              <a:latin typeface="+mj-ea"/>
              <a:ea typeface="+mj-ea"/>
            </a:rPr>
            <a:t>供应选择 </a:t>
          </a:r>
          <a:endParaRPr lang="zh-CN" altLang="en-US" sz="1500" kern="1200">
            <a:latin typeface="+mj-ea"/>
            <a:ea typeface="+mj-ea"/>
          </a:endParaRPr>
        </a:p>
      </dsp:txBody>
      <dsp:txXfrm>
        <a:off x="0" y="1357052"/>
        <a:ext cx="2128558" cy="678526"/>
      </dsp:txXfrm>
    </dsp:sp>
    <dsp:sp modelId="{58EE20D3-B120-4A5D-A446-7E9433950A0A}">
      <dsp:nvSpPr>
        <dsp:cNvPr id="0" name=""/>
        <dsp:cNvSpPr/>
      </dsp:nvSpPr>
      <dsp:spPr>
        <a:xfrm>
          <a:off x="2288200" y="1387864"/>
          <a:ext cx="8354590" cy="61623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altLang="en-US" sz="1300" b="1" kern="1200">
              <a:latin typeface="+mj-ea"/>
              <a:ea typeface="+mj-ea"/>
            </a:rPr>
            <a:t>某些客户只接受某些工厂的产成品；某些客户只接受某些供应商的原材或者组件；某些客户只接受指定产地的原材，组件等等</a:t>
          </a:r>
          <a:endParaRPr lang="zh-CN" altLang="en-US" sz="1300" kern="1200">
            <a:latin typeface="+mj-ea"/>
            <a:ea typeface="+mj-ea"/>
          </a:endParaRPr>
        </a:p>
      </dsp:txBody>
      <dsp:txXfrm>
        <a:off x="2288200" y="1387864"/>
        <a:ext cx="8354590" cy="616239"/>
      </dsp:txXfrm>
    </dsp:sp>
    <dsp:sp modelId="{24ADEFB8-AA02-49FD-A1A8-987A9246E9C6}">
      <dsp:nvSpPr>
        <dsp:cNvPr id="0" name=""/>
        <dsp:cNvSpPr/>
      </dsp:nvSpPr>
      <dsp:spPr>
        <a:xfrm>
          <a:off x="2128558" y="2004104"/>
          <a:ext cx="8514232"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26081DA2-14FB-47AD-BDAF-2AF5C15A72BA}">
      <dsp:nvSpPr>
        <dsp:cNvPr id="0" name=""/>
        <dsp:cNvSpPr/>
      </dsp:nvSpPr>
      <dsp:spPr>
        <a:xfrm>
          <a:off x="0" y="2035579"/>
          <a:ext cx="10642791" cy="0"/>
        </a:xfrm>
        <a:prstGeom prst="line">
          <a:avLst/>
        </a:prstGeom>
        <a:solidFill>
          <a:schemeClr val="lt1">
            <a:hueOff val="0"/>
            <a:satOff val="0"/>
            <a:lumOff val="0"/>
            <a:alphaOff val="0"/>
          </a:schemeClr>
        </a:solidFill>
        <a:ln w="12700" cap="flat" cmpd="sng" algn="ctr">
          <a:solidFill>
            <a:schemeClr val="accent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77AF4B7-503D-4949-8A66-5D2DBBDAB90A}">
      <dsp:nvSpPr>
        <dsp:cNvPr id="0" name=""/>
        <dsp:cNvSpPr/>
      </dsp:nvSpPr>
      <dsp:spPr>
        <a:xfrm>
          <a:off x="0" y="2035579"/>
          <a:ext cx="2128558" cy="6785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t" anchorCtr="0">
          <a:noAutofit/>
        </a:bodyPr>
        <a:lstStyle/>
        <a:p>
          <a:pPr marL="0" lvl="0" indent="0" algn="l" defTabSz="666750">
            <a:lnSpc>
              <a:spcPct val="90000"/>
            </a:lnSpc>
            <a:spcBef>
              <a:spcPct val="0"/>
            </a:spcBef>
            <a:spcAft>
              <a:spcPct val="35000"/>
            </a:spcAft>
            <a:buNone/>
          </a:pPr>
          <a:r>
            <a:rPr lang="en-US" sz="1500" b="1" kern="1200">
              <a:latin typeface="+mj-ea"/>
              <a:ea typeface="+mj-ea"/>
            </a:rPr>
            <a:t>BOM</a:t>
          </a:r>
          <a:r>
            <a:rPr lang="zh-CN" sz="1500" b="1" kern="1200">
              <a:latin typeface="+mj-ea"/>
              <a:ea typeface="+mj-ea"/>
            </a:rPr>
            <a:t>和</a:t>
          </a:r>
          <a:r>
            <a:rPr lang="en-US" sz="1500" b="1" kern="1200">
              <a:latin typeface="+mj-ea"/>
              <a:ea typeface="+mj-ea"/>
            </a:rPr>
            <a:t>Routing</a:t>
          </a:r>
          <a:r>
            <a:rPr lang="zh-CN" sz="1500" b="1" kern="1200">
              <a:latin typeface="+mj-ea"/>
              <a:ea typeface="+mj-ea"/>
            </a:rPr>
            <a:t>的选择 </a:t>
          </a:r>
          <a:endParaRPr lang="zh-CN" sz="1500" kern="1200">
            <a:latin typeface="+mj-ea"/>
            <a:ea typeface="+mj-ea"/>
          </a:endParaRPr>
        </a:p>
      </dsp:txBody>
      <dsp:txXfrm>
        <a:off x="0" y="2035579"/>
        <a:ext cx="2128558" cy="678526"/>
      </dsp:txXfrm>
    </dsp:sp>
    <dsp:sp modelId="{16863E8E-48E5-4355-A297-CC3DBF7236D0}">
      <dsp:nvSpPr>
        <dsp:cNvPr id="0" name=""/>
        <dsp:cNvSpPr/>
      </dsp:nvSpPr>
      <dsp:spPr>
        <a:xfrm>
          <a:off x="2288200" y="2066391"/>
          <a:ext cx="8354590" cy="61623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altLang="en-US" sz="1300" b="1" kern="1200">
              <a:latin typeface="+mj-ea"/>
              <a:ea typeface="+mj-ea"/>
            </a:rPr>
            <a:t>某些客户只接受产品系列中的某些选项，某些替换料，某条产线</a:t>
          </a:r>
          <a:endParaRPr lang="zh-CN" altLang="en-US" sz="1300" kern="1200">
            <a:latin typeface="+mj-ea"/>
            <a:ea typeface="+mj-ea"/>
          </a:endParaRPr>
        </a:p>
      </dsp:txBody>
      <dsp:txXfrm>
        <a:off x="2288200" y="2066391"/>
        <a:ext cx="8354590" cy="616239"/>
      </dsp:txXfrm>
    </dsp:sp>
    <dsp:sp modelId="{2E9566D3-9CE5-4942-B644-45282859829C}">
      <dsp:nvSpPr>
        <dsp:cNvPr id="0" name=""/>
        <dsp:cNvSpPr/>
      </dsp:nvSpPr>
      <dsp:spPr>
        <a:xfrm>
          <a:off x="2128558" y="2682630"/>
          <a:ext cx="8514232"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BED7EAE-A363-4123-856A-38C12343775C}">
      <dsp:nvSpPr>
        <dsp:cNvPr id="0" name=""/>
        <dsp:cNvSpPr/>
      </dsp:nvSpPr>
      <dsp:spPr>
        <a:xfrm>
          <a:off x="0" y="2714105"/>
          <a:ext cx="10642791" cy="0"/>
        </a:xfrm>
        <a:prstGeom prst="line">
          <a:avLst/>
        </a:prstGeom>
        <a:solidFill>
          <a:schemeClr val="lt1">
            <a:hueOff val="0"/>
            <a:satOff val="0"/>
            <a:lumOff val="0"/>
            <a:alphaOff val="0"/>
          </a:schemeClr>
        </a:solidFill>
        <a:ln w="12700" cap="flat" cmpd="sng" algn="ctr">
          <a:solidFill>
            <a:schemeClr val="accent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C2B9BBC-75B6-422C-A6E6-5ECC0BDD1D2E}">
      <dsp:nvSpPr>
        <dsp:cNvPr id="0" name=""/>
        <dsp:cNvSpPr/>
      </dsp:nvSpPr>
      <dsp:spPr>
        <a:xfrm>
          <a:off x="0" y="2714105"/>
          <a:ext cx="2128558" cy="6785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t" anchorCtr="0">
          <a:noAutofit/>
        </a:bodyPr>
        <a:lstStyle/>
        <a:p>
          <a:pPr marL="0" lvl="0" indent="0" algn="l" defTabSz="666750">
            <a:lnSpc>
              <a:spcPct val="90000"/>
            </a:lnSpc>
            <a:spcBef>
              <a:spcPct val="0"/>
            </a:spcBef>
            <a:spcAft>
              <a:spcPct val="35000"/>
            </a:spcAft>
            <a:buNone/>
          </a:pPr>
          <a:r>
            <a:rPr lang="zh-CN" altLang="en-US" sz="1500" b="1" kern="1200">
              <a:latin typeface="+mj-ea"/>
              <a:ea typeface="+mj-ea"/>
            </a:rPr>
            <a:t>分档分类 </a:t>
          </a:r>
          <a:endParaRPr lang="zh-CN" altLang="en-US" sz="1500" kern="1200">
            <a:latin typeface="+mj-ea"/>
            <a:ea typeface="+mj-ea"/>
          </a:endParaRPr>
        </a:p>
      </dsp:txBody>
      <dsp:txXfrm>
        <a:off x="0" y="2714105"/>
        <a:ext cx="2128558" cy="678526"/>
      </dsp:txXfrm>
    </dsp:sp>
    <dsp:sp modelId="{3B98E71A-3531-406E-9F2F-FB57B1F67B24}">
      <dsp:nvSpPr>
        <dsp:cNvPr id="0" name=""/>
        <dsp:cNvSpPr/>
      </dsp:nvSpPr>
      <dsp:spPr>
        <a:xfrm>
          <a:off x="2288200" y="2744917"/>
          <a:ext cx="8354590" cy="61623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sz="1300" b="1" kern="1200" dirty="0">
              <a:latin typeface="+mj-ea"/>
              <a:ea typeface="+mj-ea"/>
            </a:rPr>
            <a:t>一个工艺路线可以产生多个等级的产品，如原油可以加工出汽油，煤油和凡士林；如芯片可以同时加工出不同功率；食品加工出深蓝和浅蓝的蛋糕；用户可接受某一等级范围，例如芯片大于等于</a:t>
          </a:r>
          <a:r>
            <a:rPr lang="en-US" sz="1300" b="1" kern="1200" dirty="0">
              <a:latin typeface="+mj-ea"/>
              <a:ea typeface="+mj-ea"/>
            </a:rPr>
            <a:t>166Mhz.</a:t>
          </a:r>
          <a:endParaRPr lang="zh-CN" sz="1300" kern="1200" dirty="0">
            <a:latin typeface="+mj-ea"/>
            <a:ea typeface="+mj-ea"/>
          </a:endParaRPr>
        </a:p>
      </dsp:txBody>
      <dsp:txXfrm>
        <a:off x="2288200" y="2744917"/>
        <a:ext cx="8354590" cy="616239"/>
      </dsp:txXfrm>
    </dsp:sp>
    <dsp:sp modelId="{3282E641-D5BC-4FF3-B8A7-8890614B2323}">
      <dsp:nvSpPr>
        <dsp:cNvPr id="0" name=""/>
        <dsp:cNvSpPr/>
      </dsp:nvSpPr>
      <dsp:spPr>
        <a:xfrm>
          <a:off x="2128558" y="3361157"/>
          <a:ext cx="8514232"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6F972F5A-DA25-4EBC-B613-C100530CD689}">
      <dsp:nvSpPr>
        <dsp:cNvPr id="0" name=""/>
        <dsp:cNvSpPr/>
      </dsp:nvSpPr>
      <dsp:spPr>
        <a:xfrm>
          <a:off x="0" y="3392631"/>
          <a:ext cx="10642791" cy="0"/>
        </a:xfrm>
        <a:prstGeom prst="line">
          <a:avLst/>
        </a:prstGeom>
        <a:solidFill>
          <a:schemeClr val="lt1">
            <a:hueOff val="0"/>
            <a:satOff val="0"/>
            <a:lumOff val="0"/>
            <a:alphaOff val="0"/>
          </a:schemeClr>
        </a:solidFill>
        <a:ln w="12700" cap="flat" cmpd="sng" algn="ctr">
          <a:solidFill>
            <a:schemeClr val="accent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979D6A3-4CF8-4C1F-9F2D-F3402B875667}">
      <dsp:nvSpPr>
        <dsp:cNvPr id="0" name=""/>
        <dsp:cNvSpPr/>
      </dsp:nvSpPr>
      <dsp:spPr>
        <a:xfrm>
          <a:off x="0" y="3392631"/>
          <a:ext cx="2128558" cy="6785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t" anchorCtr="0">
          <a:noAutofit/>
        </a:bodyPr>
        <a:lstStyle/>
        <a:p>
          <a:pPr marL="0" lvl="0" indent="0" algn="l" defTabSz="666750">
            <a:lnSpc>
              <a:spcPct val="90000"/>
            </a:lnSpc>
            <a:spcBef>
              <a:spcPct val="0"/>
            </a:spcBef>
            <a:spcAft>
              <a:spcPct val="35000"/>
            </a:spcAft>
            <a:buNone/>
          </a:pPr>
          <a:r>
            <a:rPr lang="zh-CN" altLang="en-US" sz="1500" b="1" kern="1200">
              <a:latin typeface="+mj-ea"/>
              <a:ea typeface="+mj-ea"/>
            </a:rPr>
            <a:t>价值流 </a:t>
          </a:r>
          <a:endParaRPr lang="zh-CN" altLang="en-US" sz="1500" kern="1200">
            <a:latin typeface="+mj-ea"/>
            <a:ea typeface="+mj-ea"/>
          </a:endParaRPr>
        </a:p>
      </dsp:txBody>
      <dsp:txXfrm>
        <a:off x="0" y="3392631"/>
        <a:ext cx="2128558" cy="678526"/>
      </dsp:txXfrm>
    </dsp:sp>
    <dsp:sp modelId="{DEAB29E3-DE93-4BFF-BF38-1D9B406241E3}">
      <dsp:nvSpPr>
        <dsp:cNvPr id="0" name=""/>
        <dsp:cNvSpPr/>
      </dsp:nvSpPr>
      <dsp:spPr>
        <a:xfrm>
          <a:off x="2288200" y="3423443"/>
          <a:ext cx="8354590" cy="61623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altLang="en-US" sz="1300" b="1" kern="1200">
              <a:latin typeface="+mj-ea"/>
              <a:ea typeface="+mj-ea"/>
            </a:rPr>
            <a:t>有一些组件，半成品可以继续生产出产生品也可以直接销售，如何区分出不同的价值流；在新品测试阶段，某些半成品生产之后只能流向制定线体，而在可发货阶段，半成品直接流入其对应的总装；</a:t>
          </a:r>
          <a:endParaRPr lang="zh-CN" altLang="en-US" sz="1300" kern="1200">
            <a:latin typeface="+mj-ea"/>
            <a:ea typeface="+mj-ea"/>
          </a:endParaRPr>
        </a:p>
      </dsp:txBody>
      <dsp:txXfrm>
        <a:off x="2288200" y="3423443"/>
        <a:ext cx="8354590" cy="616239"/>
      </dsp:txXfrm>
    </dsp:sp>
    <dsp:sp modelId="{A9397846-AF93-40B7-BEAC-6B66225BC582}">
      <dsp:nvSpPr>
        <dsp:cNvPr id="0" name=""/>
        <dsp:cNvSpPr/>
      </dsp:nvSpPr>
      <dsp:spPr>
        <a:xfrm>
          <a:off x="2128558" y="4039683"/>
          <a:ext cx="8514232"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522C743-4C99-48F2-BADA-DDD2859CDACA}">
      <dsp:nvSpPr>
        <dsp:cNvPr id="0" name=""/>
        <dsp:cNvSpPr/>
      </dsp:nvSpPr>
      <dsp:spPr>
        <a:xfrm>
          <a:off x="0" y="4071158"/>
          <a:ext cx="10642791" cy="0"/>
        </a:xfrm>
        <a:prstGeom prst="line">
          <a:avLst/>
        </a:prstGeom>
        <a:solidFill>
          <a:schemeClr val="lt1">
            <a:hueOff val="0"/>
            <a:satOff val="0"/>
            <a:lumOff val="0"/>
            <a:alphaOff val="0"/>
          </a:schemeClr>
        </a:solidFill>
        <a:ln w="12700" cap="flat" cmpd="sng" algn="ctr">
          <a:solidFill>
            <a:schemeClr val="accent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D8727DE-E62F-46F4-B4B2-45D45B652DAC}">
      <dsp:nvSpPr>
        <dsp:cNvPr id="0" name=""/>
        <dsp:cNvSpPr/>
      </dsp:nvSpPr>
      <dsp:spPr>
        <a:xfrm>
          <a:off x="0" y="4071158"/>
          <a:ext cx="2128558" cy="6785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t" anchorCtr="0">
          <a:noAutofit/>
        </a:bodyPr>
        <a:lstStyle/>
        <a:p>
          <a:pPr marL="0" lvl="0" indent="0" algn="l" defTabSz="666750">
            <a:lnSpc>
              <a:spcPct val="90000"/>
            </a:lnSpc>
            <a:spcBef>
              <a:spcPct val="0"/>
            </a:spcBef>
            <a:spcAft>
              <a:spcPct val="35000"/>
            </a:spcAft>
            <a:buNone/>
          </a:pPr>
          <a:r>
            <a:rPr lang="en-US" sz="1500" b="1" kern="1200" dirty="0">
              <a:latin typeface="+mj-ea"/>
              <a:ea typeface="+mj-ea"/>
            </a:rPr>
            <a:t>ATO/MTO</a:t>
          </a:r>
          <a:r>
            <a:rPr lang="zh-CN" sz="1500" kern="1200" dirty="0">
              <a:latin typeface="+mj-ea"/>
              <a:ea typeface="+mj-ea"/>
            </a:rPr>
            <a:t> </a:t>
          </a:r>
        </a:p>
      </dsp:txBody>
      <dsp:txXfrm>
        <a:off x="0" y="4071158"/>
        <a:ext cx="2128558" cy="678526"/>
      </dsp:txXfrm>
    </dsp:sp>
    <dsp:sp modelId="{6368106C-2B2A-47DD-B3E2-8EE48BF99B00}">
      <dsp:nvSpPr>
        <dsp:cNvPr id="0" name=""/>
        <dsp:cNvSpPr/>
      </dsp:nvSpPr>
      <dsp:spPr>
        <a:xfrm>
          <a:off x="2288200" y="4101970"/>
          <a:ext cx="8354590" cy="61623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sz="1300" kern="1200">
              <a:latin typeface="+mj-ea"/>
              <a:ea typeface="+mj-ea"/>
            </a:rPr>
            <a:t>为响应市场，企业在不断地扩展产品线，往往制造策略会从</a:t>
          </a:r>
          <a:r>
            <a:rPr lang="en-US" sz="1300" kern="1200">
              <a:latin typeface="+mj-ea"/>
              <a:ea typeface="+mj-ea"/>
            </a:rPr>
            <a:t>MTS</a:t>
          </a:r>
          <a:r>
            <a:rPr lang="zh-CN" sz="1300" kern="1200">
              <a:latin typeface="+mj-ea"/>
              <a:ea typeface="+mj-ea"/>
            </a:rPr>
            <a:t>转向</a:t>
          </a:r>
          <a:r>
            <a:rPr lang="en-US" sz="1300" kern="1200">
              <a:latin typeface="+mj-ea"/>
              <a:ea typeface="+mj-ea"/>
            </a:rPr>
            <a:t>ATO/MTO. </a:t>
          </a:r>
          <a:r>
            <a:rPr lang="zh-CN" sz="1300" kern="1200">
              <a:latin typeface="+mj-ea"/>
              <a:ea typeface="+mj-ea"/>
            </a:rPr>
            <a:t>如何方便的做预测，如何方便订单执行与计划匹配成为挑战（如果针对成品</a:t>
          </a:r>
          <a:r>
            <a:rPr lang="en-US" sz="1300" kern="1200">
              <a:latin typeface="+mj-ea"/>
              <a:ea typeface="+mj-ea"/>
            </a:rPr>
            <a:t>SKU</a:t>
          </a:r>
          <a:r>
            <a:rPr lang="zh-CN" sz="1300" kern="1200">
              <a:latin typeface="+mj-ea"/>
              <a:ea typeface="+mj-ea"/>
            </a:rPr>
            <a:t>创建</a:t>
          </a:r>
          <a:r>
            <a:rPr lang="en-US" sz="1300" kern="1200">
              <a:latin typeface="+mj-ea"/>
              <a:ea typeface="+mj-ea"/>
            </a:rPr>
            <a:t>BOM</a:t>
          </a:r>
          <a:r>
            <a:rPr lang="zh-CN" sz="1300" kern="1200">
              <a:latin typeface="+mj-ea"/>
              <a:ea typeface="+mj-ea"/>
            </a:rPr>
            <a:t>那将是可选项累成的数量级）</a:t>
          </a:r>
        </a:p>
      </dsp:txBody>
      <dsp:txXfrm>
        <a:off x="2288200" y="4101970"/>
        <a:ext cx="8354590" cy="616239"/>
      </dsp:txXfrm>
    </dsp:sp>
    <dsp:sp modelId="{FEE0D8E4-7F68-4FF3-A4D4-3E9C75EC6863}">
      <dsp:nvSpPr>
        <dsp:cNvPr id="0" name=""/>
        <dsp:cNvSpPr/>
      </dsp:nvSpPr>
      <dsp:spPr>
        <a:xfrm>
          <a:off x="2128558" y="4718210"/>
          <a:ext cx="8514232"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C3AB5F92-6D8E-4988-8393-03262CF21A86}">
      <dsp:nvSpPr>
        <dsp:cNvPr id="0" name=""/>
        <dsp:cNvSpPr/>
      </dsp:nvSpPr>
      <dsp:spPr>
        <a:xfrm>
          <a:off x="0" y="4749684"/>
          <a:ext cx="10642791" cy="0"/>
        </a:xfrm>
        <a:prstGeom prst="line">
          <a:avLst/>
        </a:prstGeom>
        <a:solidFill>
          <a:schemeClr val="lt1">
            <a:hueOff val="0"/>
            <a:satOff val="0"/>
            <a:lumOff val="0"/>
            <a:alphaOff val="0"/>
          </a:schemeClr>
        </a:solidFill>
        <a:ln w="12700" cap="flat" cmpd="sng" algn="ctr">
          <a:solidFill>
            <a:schemeClr val="accent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55489179-6D82-4B00-9C0E-FDDFC493C5AA}">
      <dsp:nvSpPr>
        <dsp:cNvPr id="0" name=""/>
        <dsp:cNvSpPr/>
      </dsp:nvSpPr>
      <dsp:spPr>
        <a:xfrm>
          <a:off x="0" y="4749684"/>
          <a:ext cx="2128558" cy="6785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t" anchorCtr="0">
          <a:noAutofit/>
        </a:bodyPr>
        <a:lstStyle/>
        <a:p>
          <a:pPr marL="0" lvl="0" indent="0" algn="l" defTabSz="666750">
            <a:lnSpc>
              <a:spcPct val="90000"/>
            </a:lnSpc>
            <a:spcBef>
              <a:spcPct val="0"/>
            </a:spcBef>
            <a:spcAft>
              <a:spcPct val="35000"/>
            </a:spcAft>
            <a:buNone/>
          </a:pPr>
          <a:r>
            <a:rPr lang="zh-CN" altLang="en-US" sz="1500" b="1" kern="1200" dirty="0">
              <a:latin typeface="+mj-ea"/>
              <a:ea typeface="+mj-ea"/>
            </a:rPr>
            <a:t>降级选用</a:t>
          </a:r>
          <a:endParaRPr lang="zh-CN" altLang="en-US" sz="1500" kern="1200" dirty="0">
            <a:latin typeface="+mj-ea"/>
            <a:ea typeface="+mj-ea"/>
          </a:endParaRPr>
        </a:p>
      </dsp:txBody>
      <dsp:txXfrm>
        <a:off x="0" y="4749684"/>
        <a:ext cx="2128558" cy="678526"/>
      </dsp:txXfrm>
    </dsp:sp>
    <dsp:sp modelId="{D619E146-7A48-4CB2-B48E-B8E80FC4D63C}">
      <dsp:nvSpPr>
        <dsp:cNvPr id="0" name=""/>
        <dsp:cNvSpPr/>
      </dsp:nvSpPr>
      <dsp:spPr>
        <a:xfrm>
          <a:off x="2288200" y="4780496"/>
          <a:ext cx="8354590" cy="61623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altLang="en-US" sz="1300" kern="1200">
              <a:latin typeface="+mj-ea"/>
              <a:ea typeface="+mj-ea"/>
            </a:rPr>
            <a:t>降级使用允许在需要时，使用更高等级的零件来满足对较低等级零件的需求。</a:t>
          </a:r>
        </a:p>
      </dsp:txBody>
      <dsp:txXfrm>
        <a:off x="2288200" y="4780496"/>
        <a:ext cx="8354590" cy="616239"/>
      </dsp:txXfrm>
    </dsp:sp>
    <dsp:sp modelId="{955033DF-A638-4CFA-AC7D-DA1186A11CC4}">
      <dsp:nvSpPr>
        <dsp:cNvPr id="0" name=""/>
        <dsp:cNvSpPr/>
      </dsp:nvSpPr>
      <dsp:spPr>
        <a:xfrm>
          <a:off x="2128558" y="5396736"/>
          <a:ext cx="8514232"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D1E3767-A381-4B03-AC88-F10F736702EF}">
      <dsp:nvSpPr>
        <dsp:cNvPr id="0" name=""/>
        <dsp:cNvSpPr/>
      </dsp:nvSpPr>
      <dsp:spPr>
        <a:xfrm>
          <a:off x="1309693" y="637866"/>
          <a:ext cx="159007" cy="302986"/>
        </a:xfrm>
        <a:custGeom>
          <a:avLst/>
          <a:gdLst/>
          <a:ahLst/>
          <a:cxnLst/>
          <a:rect l="0" t="0" r="0" b="0"/>
          <a:pathLst>
            <a:path>
              <a:moveTo>
                <a:pt x="159007" y="0"/>
              </a:moveTo>
              <a:lnTo>
                <a:pt x="79503" y="0"/>
              </a:lnTo>
              <a:lnTo>
                <a:pt x="79503" y="302986"/>
              </a:lnTo>
              <a:lnTo>
                <a:pt x="0" y="302986"/>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1380643" y="780806"/>
        <a:ext cx="17108" cy="17108"/>
      </dsp:txXfrm>
    </dsp:sp>
    <dsp:sp modelId="{8693A490-7F8B-45EB-8ABA-62C345D97B2B}">
      <dsp:nvSpPr>
        <dsp:cNvPr id="0" name=""/>
        <dsp:cNvSpPr/>
      </dsp:nvSpPr>
      <dsp:spPr>
        <a:xfrm>
          <a:off x="1309693" y="592147"/>
          <a:ext cx="159007" cy="91440"/>
        </a:xfrm>
        <a:custGeom>
          <a:avLst/>
          <a:gdLst/>
          <a:ahLst/>
          <a:cxnLst/>
          <a:rect l="0" t="0" r="0" b="0"/>
          <a:pathLst>
            <a:path>
              <a:moveTo>
                <a:pt x="159007" y="45720"/>
              </a:moveTo>
              <a:lnTo>
                <a:pt x="0" y="4572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1385222" y="633891"/>
        <a:ext cx="7950" cy="7950"/>
      </dsp:txXfrm>
    </dsp:sp>
    <dsp:sp modelId="{02182DB4-8CE3-459C-B6C0-9CB5DC71479B}">
      <dsp:nvSpPr>
        <dsp:cNvPr id="0" name=""/>
        <dsp:cNvSpPr/>
      </dsp:nvSpPr>
      <dsp:spPr>
        <a:xfrm>
          <a:off x="1309693" y="334880"/>
          <a:ext cx="159007" cy="302986"/>
        </a:xfrm>
        <a:custGeom>
          <a:avLst/>
          <a:gdLst/>
          <a:ahLst/>
          <a:cxnLst/>
          <a:rect l="0" t="0" r="0" b="0"/>
          <a:pathLst>
            <a:path>
              <a:moveTo>
                <a:pt x="159007" y="302986"/>
              </a:moveTo>
              <a:lnTo>
                <a:pt x="79503" y="302986"/>
              </a:lnTo>
              <a:lnTo>
                <a:pt x="79503" y="0"/>
              </a:lnTo>
              <a:lnTo>
                <a:pt x="0"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1380643" y="477819"/>
        <a:ext cx="17108" cy="17108"/>
      </dsp:txXfrm>
    </dsp:sp>
    <dsp:sp modelId="{8A084EB8-76C1-479D-ABBB-821AC3A0C1D3}">
      <dsp:nvSpPr>
        <dsp:cNvPr id="0" name=""/>
        <dsp:cNvSpPr/>
      </dsp:nvSpPr>
      <dsp:spPr>
        <a:xfrm rot="5400000">
          <a:off x="952028" y="516672"/>
          <a:ext cx="1275733"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维度组</a:t>
          </a:r>
        </a:p>
      </dsp:txBody>
      <dsp:txXfrm>
        <a:off x="952028" y="516672"/>
        <a:ext cx="1275733" cy="242389"/>
      </dsp:txXfrm>
    </dsp:sp>
    <dsp:sp modelId="{D327265F-B942-4B43-A502-D10FFEA12F73}">
      <dsp:nvSpPr>
        <dsp:cNvPr id="0" name=""/>
        <dsp:cNvSpPr/>
      </dsp:nvSpPr>
      <dsp:spPr>
        <a:xfrm>
          <a:off x="514656" y="213685"/>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a:t>
          </a:r>
          <a:r>
            <a:rPr lang="en-US" sz="1500" kern="1200"/>
            <a:t>1</a:t>
          </a:r>
          <a:endParaRPr lang="zh-CN" sz="1500" kern="1200"/>
        </a:p>
      </dsp:txBody>
      <dsp:txXfrm>
        <a:off x="514656" y="213685"/>
        <a:ext cx="795037" cy="242389"/>
      </dsp:txXfrm>
    </dsp:sp>
    <dsp:sp modelId="{CDD08F04-9859-46B0-AD62-E025CBE48998}">
      <dsp:nvSpPr>
        <dsp:cNvPr id="0" name=""/>
        <dsp:cNvSpPr/>
      </dsp:nvSpPr>
      <dsp:spPr>
        <a:xfrm>
          <a:off x="514656" y="516672"/>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a:t>
          </a:r>
          <a:r>
            <a:rPr lang="en-US" sz="1500" kern="1200"/>
            <a:t>2</a:t>
          </a:r>
          <a:endParaRPr lang="zh-CN" sz="1500" kern="1200"/>
        </a:p>
      </dsp:txBody>
      <dsp:txXfrm>
        <a:off x="514656" y="516672"/>
        <a:ext cx="795037" cy="242389"/>
      </dsp:txXfrm>
    </dsp:sp>
    <dsp:sp modelId="{3EB37757-FBE5-45BC-AFB0-99E6600D6278}">
      <dsp:nvSpPr>
        <dsp:cNvPr id="0" name=""/>
        <dsp:cNvSpPr/>
      </dsp:nvSpPr>
      <dsp:spPr>
        <a:xfrm>
          <a:off x="514656" y="819659"/>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a:t>
          </a:r>
          <a:r>
            <a:rPr lang="en-US" sz="1500" kern="1200"/>
            <a:t>3</a:t>
          </a:r>
          <a:endParaRPr lang="zh-CN" sz="1500" kern="1200"/>
        </a:p>
      </dsp:txBody>
      <dsp:txXfrm>
        <a:off x="514656" y="819659"/>
        <a:ext cx="795037" cy="242389"/>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790859D-8C61-4AF6-B203-2D322A6E5352}">
      <dsp:nvSpPr>
        <dsp:cNvPr id="0" name=""/>
        <dsp:cNvSpPr/>
      </dsp:nvSpPr>
      <dsp:spPr>
        <a:xfrm>
          <a:off x="757045" y="637866"/>
          <a:ext cx="159007" cy="454480"/>
        </a:xfrm>
        <a:custGeom>
          <a:avLst/>
          <a:gdLst/>
          <a:ahLst/>
          <a:cxnLst/>
          <a:rect l="0" t="0" r="0" b="0"/>
          <a:pathLst>
            <a:path>
              <a:moveTo>
                <a:pt x="0" y="0"/>
              </a:moveTo>
              <a:lnTo>
                <a:pt x="79503" y="0"/>
              </a:lnTo>
              <a:lnTo>
                <a:pt x="79503" y="454480"/>
              </a:lnTo>
              <a:lnTo>
                <a:pt x="159007" y="45448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24512" y="853069"/>
        <a:ext cx="24074" cy="24074"/>
      </dsp:txXfrm>
    </dsp:sp>
    <dsp:sp modelId="{CD1E3767-A381-4B03-AC88-F10F736702EF}">
      <dsp:nvSpPr>
        <dsp:cNvPr id="0" name=""/>
        <dsp:cNvSpPr/>
      </dsp:nvSpPr>
      <dsp:spPr>
        <a:xfrm>
          <a:off x="757045" y="637866"/>
          <a:ext cx="159007" cy="151493"/>
        </a:xfrm>
        <a:custGeom>
          <a:avLst/>
          <a:gdLst/>
          <a:ahLst/>
          <a:cxnLst/>
          <a:rect l="0" t="0" r="0" b="0"/>
          <a:pathLst>
            <a:path>
              <a:moveTo>
                <a:pt x="0" y="0"/>
              </a:moveTo>
              <a:lnTo>
                <a:pt x="79503" y="0"/>
              </a:lnTo>
              <a:lnTo>
                <a:pt x="79503" y="151493"/>
              </a:lnTo>
              <a:lnTo>
                <a:pt x="159007" y="151493"/>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31058" y="708123"/>
        <a:ext cx="10981" cy="10981"/>
      </dsp:txXfrm>
    </dsp:sp>
    <dsp:sp modelId="{8693A490-7F8B-45EB-8ABA-62C345D97B2B}">
      <dsp:nvSpPr>
        <dsp:cNvPr id="0" name=""/>
        <dsp:cNvSpPr/>
      </dsp:nvSpPr>
      <dsp:spPr>
        <a:xfrm>
          <a:off x="757045" y="486373"/>
          <a:ext cx="159007" cy="151493"/>
        </a:xfrm>
        <a:custGeom>
          <a:avLst/>
          <a:gdLst/>
          <a:ahLst/>
          <a:cxnLst/>
          <a:rect l="0" t="0" r="0" b="0"/>
          <a:pathLst>
            <a:path>
              <a:moveTo>
                <a:pt x="0" y="151493"/>
              </a:moveTo>
              <a:lnTo>
                <a:pt x="79503" y="151493"/>
              </a:lnTo>
              <a:lnTo>
                <a:pt x="79503" y="0"/>
              </a:lnTo>
              <a:lnTo>
                <a:pt x="159007"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31058" y="556629"/>
        <a:ext cx="10981" cy="10981"/>
      </dsp:txXfrm>
    </dsp:sp>
    <dsp:sp modelId="{02182DB4-8CE3-459C-B6C0-9CB5DC71479B}">
      <dsp:nvSpPr>
        <dsp:cNvPr id="0" name=""/>
        <dsp:cNvSpPr/>
      </dsp:nvSpPr>
      <dsp:spPr>
        <a:xfrm>
          <a:off x="757045" y="183386"/>
          <a:ext cx="159007" cy="454480"/>
        </a:xfrm>
        <a:custGeom>
          <a:avLst/>
          <a:gdLst/>
          <a:ahLst/>
          <a:cxnLst/>
          <a:rect l="0" t="0" r="0" b="0"/>
          <a:pathLst>
            <a:path>
              <a:moveTo>
                <a:pt x="0" y="454480"/>
              </a:moveTo>
              <a:lnTo>
                <a:pt x="79503" y="454480"/>
              </a:lnTo>
              <a:lnTo>
                <a:pt x="79503" y="0"/>
              </a:lnTo>
              <a:lnTo>
                <a:pt x="159007"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24512" y="398589"/>
        <a:ext cx="24074" cy="24074"/>
      </dsp:txXfrm>
    </dsp:sp>
    <dsp:sp modelId="{8A084EB8-76C1-479D-ABBB-821AC3A0C1D3}">
      <dsp:nvSpPr>
        <dsp:cNvPr id="0" name=""/>
        <dsp:cNvSpPr/>
      </dsp:nvSpPr>
      <dsp:spPr>
        <a:xfrm rot="16200000">
          <a:off x="-2015" y="516672"/>
          <a:ext cx="1275733"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dirty="0"/>
            <a:t>维度</a:t>
          </a:r>
          <a:r>
            <a:rPr lang="zh-CN" altLang="en-US" sz="1500" kern="1200" dirty="0"/>
            <a:t>集</a:t>
          </a:r>
          <a:endParaRPr lang="zh-CN" sz="1500" kern="1200" dirty="0"/>
        </a:p>
      </dsp:txBody>
      <dsp:txXfrm>
        <a:off x="-2015" y="516672"/>
        <a:ext cx="1275733" cy="242389"/>
      </dsp:txXfrm>
    </dsp:sp>
    <dsp:sp modelId="{D327265F-B942-4B43-A502-D10FFEA12F73}">
      <dsp:nvSpPr>
        <dsp:cNvPr id="0" name=""/>
        <dsp:cNvSpPr/>
      </dsp:nvSpPr>
      <dsp:spPr>
        <a:xfrm>
          <a:off x="916053" y="62192"/>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sz="1400" kern="1200"/>
            <a:t>维度</a:t>
          </a:r>
          <a:r>
            <a:rPr lang="en-US" sz="1400" kern="1200"/>
            <a:t>1</a:t>
          </a:r>
          <a:endParaRPr lang="zh-CN" sz="1400" kern="1200"/>
        </a:p>
      </dsp:txBody>
      <dsp:txXfrm>
        <a:off x="916053" y="62192"/>
        <a:ext cx="795037" cy="242389"/>
      </dsp:txXfrm>
    </dsp:sp>
    <dsp:sp modelId="{CDD08F04-9859-46B0-AD62-E025CBE48998}">
      <dsp:nvSpPr>
        <dsp:cNvPr id="0" name=""/>
        <dsp:cNvSpPr/>
      </dsp:nvSpPr>
      <dsp:spPr>
        <a:xfrm>
          <a:off x="916053" y="365178"/>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sz="1400" kern="1200"/>
            <a:t>维度</a:t>
          </a:r>
          <a:r>
            <a:rPr lang="en-US" sz="1400" kern="1200"/>
            <a:t>2</a:t>
          </a:r>
          <a:endParaRPr lang="zh-CN" sz="1400" kern="1200"/>
        </a:p>
      </dsp:txBody>
      <dsp:txXfrm>
        <a:off x="916053" y="365178"/>
        <a:ext cx="795037" cy="242389"/>
      </dsp:txXfrm>
    </dsp:sp>
    <dsp:sp modelId="{3EB37757-FBE5-45BC-AFB0-99E6600D6278}">
      <dsp:nvSpPr>
        <dsp:cNvPr id="0" name=""/>
        <dsp:cNvSpPr/>
      </dsp:nvSpPr>
      <dsp:spPr>
        <a:xfrm>
          <a:off x="916053" y="668165"/>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sz="1400" kern="1200" dirty="0"/>
            <a:t>维度</a:t>
          </a:r>
          <a:r>
            <a:rPr lang="en-US" sz="1400" kern="1200" dirty="0"/>
            <a:t>3</a:t>
          </a:r>
          <a:endParaRPr lang="zh-CN" sz="1400" kern="1200" dirty="0"/>
        </a:p>
      </dsp:txBody>
      <dsp:txXfrm>
        <a:off x="916053" y="668165"/>
        <a:ext cx="795037" cy="242389"/>
      </dsp:txXfrm>
    </dsp:sp>
    <dsp:sp modelId="{14991D58-8D8C-4EA2-B08C-6DDC48E96B6F}">
      <dsp:nvSpPr>
        <dsp:cNvPr id="0" name=""/>
        <dsp:cNvSpPr/>
      </dsp:nvSpPr>
      <dsp:spPr>
        <a:xfrm>
          <a:off x="916053" y="971152"/>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altLang="en-US" sz="1400" kern="1200" dirty="0"/>
            <a:t>维度</a:t>
          </a:r>
          <a:r>
            <a:rPr lang="en-US" altLang="zh-CN" sz="1400" kern="1200" dirty="0"/>
            <a:t>…..n</a:t>
          </a:r>
          <a:endParaRPr lang="zh-CN" sz="1400" kern="1200" dirty="0"/>
        </a:p>
      </dsp:txBody>
      <dsp:txXfrm>
        <a:off x="916053" y="971152"/>
        <a:ext cx="795037" cy="242389"/>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D1E3767-A381-4B03-AC88-F10F736702EF}">
      <dsp:nvSpPr>
        <dsp:cNvPr id="0" name=""/>
        <dsp:cNvSpPr/>
      </dsp:nvSpPr>
      <dsp:spPr>
        <a:xfrm>
          <a:off x="1309693" y="637866"/>
          <a:ext cx="159007" cy="302986"/>
        </a:xfrm>
        <a:custGeom>
          <a:avLst/>
          <a:gdLst/>
          <a:ahLst/>
          <a:cxnLst/>
          <a:rect l="0" t="0" r="0" b="0"/>
          <a:pathLst>
            <a:path>
              <a:moveTo>
                <a:pt x="159007" y="0"/>
              </a:moveTo>
              <a:lnTo>
                <a:pt x="79503" y="0"/>
              </a:lnTo>
              <a:lnTo>
                <a:pt x="79503" y="302986"/>
              </a:lnTo>
              <a:lnTo>
                <a:pt x="0" y="302986"/>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1380643" y="780806"/>
        <a:ext cx="17108" cy="17108"/>
      </dsp:txXfrm>
    </dsp:sp>
    <dsp:sp modelId="{8693A490-7F8B-45EB-8ABA-62C345D97B2B}">
      <dsp:nvSpPr>
        <dsp:cNvPr id="0" name=""/>
        <dsp:cNvSpPr/>
      </dsp:nvSpPr>
      <dsp:spPr>
        <a:xfrm>
          <a:off x="1309693" y="592147"/>
          <a:ext cx="159007" cy="91440"/>
        </a:xfrm>
        <a:custGeom>
          <a:avLst/>
          <a:gdLst/>
          <a:ahLst/>
          <a:cxnLst/>
          <a:rect l="0" t="0" r="0" b="0"/>
          <a:pathLst>
            <a:path>
              <a:moveTo>
                <a:pt x="159007" y="45720"/>
              </a:moveTo>
              <a:lnTo>
                <a:pt x="0" y="4572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1385222" y="633891"/>
        <a:ext cx="7950" cy="7950"/>
      </dsp:txXfrm>
    </dsp:sp>
    <dsp:sp modelId="{02182DB4-8CE3-459C-B6C0-9CB5DC71479B}">
      <dsp:nvSpPr>
        <dsp:cNvPr id="0" name=""/>
        <dsp:cNvSpPr/>
      </dsp:nvSpPr>
      <dsp:spPr>
        <a:xfrm>
          <a:off x="1309693" y="334880"/>
          <a:ext cx="159007" cy="302986"/>
        </a:xfrm>
        <a:custGeom>
          <a:avLst/>
          <a:gdLst/>
          <a:ahLst/>
          <a:cxnLst/>
          <a:rect l="0" t="0" r="0" b="0"/>
          <a:pathLst>
            <a:path>
              <a:moveTo>
                <a:pt x="159007" y="302986"/>
              </a:moveTo>
              <a:lnTo>
                <a:pt x="79503" y="302986"/>
              </a:lnTo>
              <a:lnTo>
                <a:pt x="79503" y="0"/>
              </a:lnTo>
              <a:lnTo>
                <a:pt x="0"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1380643" y="477819"/>
        <a:ext cx="17108" cy="17108"/>
      </dsp:txXfrm>
    </dsp:sp>
    <dsp:sp modelId="{8A084EB8-76C1-479D-ABBB-821AC3A0C1D3}">
      <dsp:nvSpPr>
        <dsp:cNvPr id="0" name=""/>
        <dsp:cNvSpPr/>
      </dsp:nvSpPr>
      <dsp:spPr>
        <a:xfrm rot="5400000">
          <a:off x="952028" y="516672"/>
          <a:ext cx="1275733"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维度组</a:t>
          </a:r>
        </a:p>
      </dsp:txBody>
      <dsp:txXfrm>
        <a:off x="952028" y="516672"/>
        <a:ext cx="1275733" cy="242389"/>
      </dsp:txXfrm>
    </dsp:sp>
    <dsp:sp modelId="{D327265F-B942-4B43-A502-D10FFEA12F73}">
      <dsp:nvSpPr>
        <dsp:cNvPr id="0" name=""/>
        <dsp:cNvSpPr/>
      </dsp:nvSpPr>
      <dsp:spPr>
        <a:xfrm>
          <a:off x="514656" y="213685"/>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a:t>
          </a:r>
          <a:r>
            <a:rPr lang="en-US" sz="1500" kern="1200"/>
            <a:t>1</a:t>
          </a:r>
          <a:endParaRPr lang="zh-CN" sz="1500" kern="1200"/>
        </a:p>
      </dsp:txBody>
      <dsp:txXfrm>
        <a:off x="514656" y="213685"/>
        <a:ext cx="795037" cy="242389"/>
      </dsp:txXfrm>
    </dsp:sp>
    <dsp:sp modelId="{CDD08F04-9859-46B0-AD62-E025CBE48998}">
      <dsp:nvSpPr>
        <dsp:cNvPr id="0" name=""/>
        <dsp:cNvSpPr/>
      </dsp:nvSpPr>
      <dsp:spPr>
        <a:xfrm>
          <a:off x="514656" y="516672"/>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a:t>
          </a:r>
          <a:r>
            <a:rPr lang="en-US" sz="1500" kern="1200"/>
            <a:t>2</a:t>
          </a:r>
          <a:endParaRPr lang="zh-CN" sz="1500" kern="1200"/>
        </a:p>
      </dsp:txBody>
      <dsp:txXfrm>
        <a:off x="514656" y="516672"/>
        <a:ext cx="795037" cy="242389"/>
      </dsp:txXfrm>
    </dsp:sp>
    <dsp:sp modelId="{3EB37757-FBE5-45BC-AFB0-99E6600D6278}">
      <dsp:nvSpPr>
        <dsp:cNvPr id="0" name=""/>
        <dsp:cNvSpPr/>
      </dsp:nvSpPr>
      <dsp:spPr>
        <a:xfrm>
          <a:off x="514656" y="819659"/>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a:t>
          </a:r>
          <a:r>
            <a:rPr lang="en-US" sz="1500" kern="1200"/>
            <a:t>3</a:t>
          </a:r>
          <a:endParaRPr lang="zh-CN" sz="1500" kern="1200"/>
        </a:p>
      </dsp:txBody>
      <dsp:txXfrm>
        <a:off x="514656" y="819659"/>
        <a:ext cx="795037" cy="242389"/>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790859D-8C61-4AF6-B203-2D322A6E5352}">
      <dsp:nvSpPr>
        <dsp:cNvPr id="0" name=""/>
        <dsp:cNvSpPr/>
      </dsp:nvSpPr>
      <dsp:spPr>
        <a:xfrm>
          <a:off x="757045" y="637866"/>
          <a:ext cx="159007" cy="454480"/>
        </a:xfrm>
        <a:custGeom>
          <a:avLst/>
          <a:gdLst/>
          <a:ahLst/>
          <a:cxnLst/>
          <a:rect l="0" t="0" r="0" b="0"/>
          <a:pathLst>
            <a:path>
              <a:moveTo>
                <a:pt x="0" y="0"/>
              </a:moveTo>
              <a:lnTo>
                <a:pt x="79503" y="0"/>
              </a:lnTo>
              <a:lnTo>
                <a:pt x="79503" y="454480"/>
              </a:lnTo>
              <a:lnTo>
                <a:pt x="159007" y="45448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24512" y="853069"/>
        <a:ext cx="24074" cy="24074"/>
      </dsp:txXfrm>
    </dsp:sp>
    <dsp:sp modelId="{CD1E3767-A381-4B03-AC88-F10F736702EF}">
      <dsp:nvSpPr>
        <dsp:cNvPr id="0" name=""/>
        <dsp:cNvSpPr/>
      </dsp:nvSpPr>
      <dsp:spPr>
        <a:xfrm>
          <a:off x="757045" y="637866"/>
          <a:ext cx="159007" cy="151493"/>
        </a:xfrm>
        <a:custGeom>
          <a:avLst/>
          <a:gdLst/>
          <a:ahLst/>
          <a:cxnLst/>
          <a:rect l="0" t="0" r="0" b="0"/>
          <a:pathLst>
            <a:path>
              <a:moveTo>
                <a:pt x="0" y="0"/>
              </a:moveTo>
              <a:lnTo>
                <a:pt x="79503" y="0"/>
              </a:lnTo>
              <a:lnTo>
                <a:pt x="79503" y="151493"/>
              </a:lnTo>
              <a:lnTo>
                <a:pt x="159007" y="151493"/>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31058" y="708123"/>
        <a:ext cx="10981" cy="10981"/>
      </dsp:txXfrm>
    </dsp:sp>
    <dsp:sp modelId="{8693A490-7F8B-45EB-8ABA-62C345D97B2B}">
      <dsp:nvSpPr>
        <dsp:cNvPr id="0" name=""/>
        <dsp:cNvSpPr/>
      </dsp:nvSpPr>
      <dsp:spPr>
        <a:xfrm>
          <a:off x="757045" y="486373"/>
          <a:ext cx="159007" cy="151493"/>
        </a:xfrm>
        <a:custGeom>
          <a:avLst/>
          <a:gdLst/>
          <a:ahLst/>
          <a:cxnLst/>
          <a:rect l="0" t="0" r="0" b="0"/>
          <a:pathLst>
            <a:path>
              <a:moveTo>
                <a:pt x="0" y="151493"/>
              </a:moveTo>
              <a:lnTo>
                <a:pt x="79503" y="151493"/>
              </a:lnTo>
              <a:lnTo>
                <a:pt x="79503" y="0"/>
              </a:lnTo>
              <a:lnTo>
                <a:pt x="159007"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31058" y="556629"/>
        <a:ext cx="10981" cy="10981"/>
      </dsp:txXfrm>
    </dsp:sp>
    <dsp:sp modelId="{02182DB4-8CE3-459C-B6C0-9CB5DC71479B}">
      <dsp:nvSpPr>
        <dsp:cNvPr id="0" name=""/>
        <dsp:cNvSpPr/>
      </dsp:nvSpPr>
      <dsp:spPr>
        <a:xfrm>
          <a:off x="757045" y="183386"/>
          <a:ext cx="159007" cy="454480"/>
        </a:xfrm>
        <a:custGeom>
          <a:avLst/>
          <a:gdLst/>
          <a:ahLst/>
          <a:cxnLst/>
          <a:rect l="0" t="0" r="0" b="0"/>
          <a:pathLst>
            <a:path>
              <a:moveTo>
                <a:pt x="0" y="454480"/>
              </a:moveTo>
              <a:lnTo>
                <a:pt x="79503" y="454480"/>
              </a:lnTo>
              <a:lnTo>
                <a:pt x="79503" y="0"/>
              </a:lnTo>
              <a:lnTo>
                <a:pt x="159007"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24512" y="398589"/>
        <a:ext cx="24074" cy="24074"/>
      </dsp:txXfrm>
    </dsp:sp>
    <dsp:sp modelId="{8A084EB8-76C1-479D-ABBB-821AC3A0C1D3}">
      <dsp:nvSpPr>
        <dsp:cNvPr id="0" name=""/>
        <dsp:cNvSpPr/>
      </dsp:nvSpPr>
      <dsp:spPr>
        <a:xfrm rot="16200000">
          <a:off x="-2015" y="516672"/>
          <a:ext cx="1275733"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dirty="0"/>
            <a:t>维度</a:t>
          </a:r>
          <a:r>
            <a:rPr lang="zh-CN" altLang="en-US" sz="1500" kern="1200" dirty="0"/>
            <a:t>集</a:t>
          </a:r>
          <a:endParaRPr lang="zh-CN" sz="1500" kern="1200" dirty="0"/>
        </a:p>
      </dsp:txBody>
      <dsp:txXfrm>
        <a:off x="-2015" y="516672"/>
        <a:ext cx="1275733" cy="242389"/>
      </dsp:txXfrm>
    </dsp:sp>
    <dsp:sp modelId="{D327265F-B942-4B43-A502-D10FFEA12F73}">
      <dsp:nvSpPr>
        <dsp:cNvPr id="0" name=""/>
        <dsp:cNvSpPr/>
      </dsp:nvSpPr>
      <dsp:spPr>
        <a:xfrm>
          <a:off x="916053" y="62192"/>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sz="1400" kern="1200"/>
            <a:t>维度</a:t>
          </a:r>
          <a:r>
            <a:rPr lang="en-US" sz="1400" kern="1200"/>
            <a:t>1</a:t>
          </a:r>
          <a:endParaRPr lang="zh-CN" sz="1400" kern="1200"/>
        </a:p>
      </dsp:txBody>
      <dsp:txXfrm>
        <a:off x="916053" y="62192"/>
        <a:ext cx="795037" cy="242389"/>
      </dsp:txXfrm>
    </dsp:sp>
    <dsp:sp modelId="{CDD08F04-9859-46B0-AD62-E025CBE48998}">
      <dsp:nvSpPr>
        <dsp:cNvPr id="0" name=""/>
        <dsp:cNvSpPr/>
      </dsp:nvSpPr>
      <dsp:spPr>
        <a:xfrm>
          <a:off x="916053" y="365178"/>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sz="1400" kern="1200"/>
            <a:t>维度</a:t>
          </a:r>
          <a:r>
            <a:rPr lang="en-US" sz="1400" kern="1200"/>
            <a:t>2</a:t>
          </a:r>
          <a:endParaRPr lang="zh-CN" sz="1400" kern="1200"/>
        </a:p>
      </dsp:txBody>
      <dsp:txXfrm>
        <a:off x="916053" y="365178"/>
        <a:ext cx="795037" cy="242389"/>
      </dsp:txXfrm>
    </dsp:sp>
    <dsp:sp modelId="{3EB37757-FBE5-45BC-AFB0-99E6600D6278}">
      <dsp:nvSpPr>
        <dsp:cNvPr id="0" name=""/>
        <dsp:cNvSpPr/>
      </dsp:nvSpPr>
      <dsp:spPr>
        <a:xfrm>
          <a:off x="916053" y="668165"/>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sz="1400" kern="1200" dirty="0"/>
            <a:t>维度</a:t>
          </a:r>
          <a:r>
            <a:rPr lang="en-US" sz="1400" kern="1200" dirty="0"/>
            <a:t>3</a:t>
          </a:r>
          <a:endParaRPr lang="zh-CN" sz="1400" kern="1200" dirty="0"/>
        </a:p>
      </dsp:txBody>
      <dsp:txXfrm>
        <a:off x="916053" y="668165"/>
        <a:ext cx="795037" cy="242389"/>
      </dsp:txXfrm>
    </dsp:sp>
    <dsp:sp modelId="{14991D58-8D8C-4EA2-B08C-6DDC48E96B6F}">
      <dsp:nvSpPr>
        <dsp:cNvPr id="0" name=""/>
        <dsp:cNvSpPr/>
      </dsp:nvSpPr>
      <dsp:spPr>
        <a:xfrm>
          <a:off x="916053" y="971152"/>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altLang="en-US" sz="1400" kern="1200" dirty="0"/>
            <a:t>维度</a:t>
          </a:r>
          <a:r>
            <a:rPr lang="en-US" altLang="zh-CN" sz="1400" kern="1200" dirty="0"/>
            <a:t>…..n</a:t>
          </a:r>
          <a:endParaRPr lang="zh-CN" sz="1400" kern="1200" dirty="0"/>
        </a:p>
      </dsp:txBody>
      <dsp:txXfrm>
        <a:off x="916053" y="971152"/>
        <a:ext cx="795037" cy="242389"/>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D1E3767-A381-4B03-AC88-F10F736702EF}">
      <dsp:nvSpPr>
        <dsp:cNvPr id="0" name=""/>
        <dsp:cNvSpPr/>
      </dsp:nvSpPr>
      <dsp:spPr>
        <a:xfrm>
          <a:off x="1309693" y="637866"/>
          <a:ext cx="159007" cy="302986"/>
        </a:xfrm>
        <a:custGeom>
          <a:avLst/>
          <a:gdLst/>
          <a:ahLst/>
          <a:cxnLst/>
          <a:rect l="0" t="0" r="0" b="0"/>
          <a:pathLst>
            <a:path>
              <a:moveTo>
                <a:pt x="159007" y="0"/>
              </a:moveTo>
              <a:lnTo>
                <a:pt x="79503" y="0"/>
              </a:lnTo>
              <a:lnTo>
                <a:pt x="79503" y="302986"/>
              </a:lnTo>
              <a:lnTo>
                <a:pt x="0" y="302986"/>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1380643" y="780806"/>
        <a:ext cx="17108" cy="17108"/>
      </dsp:txXfrm>
    </dsp:sp>
    <dsp:sp modelId="{8693A490-7F8B-45EB-8ABA-62C345D97B2B}">
      <dsp:nvSpPr>
        <dsp:cNvPr id="0" name=""/>
        <dsp:cNvSpPr/>
      </dsp:nvSpPr>
      <dsp:spPr>
        <a:xfrm>
          <a:off x="1309693" y="592147"/>
          <a:ext cx="159007" cy="91440"/>
        </a:xfrm>
        <a:custGeom>
          <a:avLst/>
          <a:gdLst/>
          <a:ahLst/>
          <a:cxnLst/>
          <a:rect l="0" t="0" r="0" b="0"/>
          <a:pathLst>
            <a:path>
              <a:moveTo>
                <a:pt x="159007" y="45720"/>
              </a:moveTo>
              <a:lnTo>
                <a:pt x="0" y="4572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1385222" y="633891"/>
        <a:ext cx="7950" cy="7950"/>
      </dsp:txXfrm>
    </dsp:sp>
    <dsp:sp modelId="{02182DB4-8CE3-459C-B6C0-9CB5DC71479B}">
      <dsp:nvSpPr>
        <dsp:cNvPr id="0" name=""/>
        <dsp:cNvSpPr/>
      </dsp:nvSpPr>
      <dsp:spPr>
        <a:xfrm>
          <a:off x="1309693" y="334880"/>
          <a:ext cx="159007" cy="302986"/>
        </a:xfrm>
        <a:custGeom>
          <a:avLst/>
          <a:gdLst/>
          <a:ahLst/>
          <a:cxnLst/>
          <a:rect l="0" t="0" r="0" b="0"/>
          <a:pathLst>
            <a:path>
              <a:moveTo>
                <a:pt x="159007" y="302986"/>
              </a:moveTo>
              <a:lnTo>
                <a:pt x="79503" y="302986"/>
              </a:lnTo>
              <a:lnTo>
                <a:pt x="79503" y="0"/>
              </a:lnTo>
              <a:lnTo>
                <a:pt x="0"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1380643" y="477819"/>
        <a:ext cx="17108" cy="17108"/>
      </dsp:txXfrm>
    </dsp:sp>
    <dsp:sp modelId="{8A084EB8-76C1-479D-ABBB-821AC3A0C1D3}">
      <dsp:nvSpPr>
        <dsp:cNvPr id="0" name=""/>
        <dsp:cNvSpPr/>
      </dsp:nvSpPr>
      <dsp:spPr>
        <a:xfrm rot="5400000">
          <a:off x="952028" y="516672"/>
          <a:ext cx="1275733"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维度组</a:t>
          </a:r>
        </a:p>
      </dsp:txBody>
      <dsp:txXfrm>
        <a:off x="952028" y="516672"/>
        <a:ext cx="1275733" cy="242389"/>
      </dsp:txXfrm>
    </dsp:sp>
    <dsp:sp modelId="{D327265F-B942-4B43-A502-D10FFEA12F73}">
      <dsp:nvSpPr>
        <dsp:cNvPr id="0" name=""/>
        <dsp:cNvSpPr/>
      </dsp:nvSpPr>
      <dsp:spPr>
        <a:xfrm>
          <a:off x="514656" y="213685"/>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a:t>
          </a:r>
          <a:r>
            <a:rPr lang="en-US" sz="1500" kern="1200"/>
            <a:t>1</a:t>
          </a:r>
          <a:endParaRPr lang="zh-CN" sz="1500" kern="1200"/>
        </a:p>
      </dsp:txBody>
      <dsp:txXfrm>
        <a:off x="514656" y="213685"/>
        <a:ext cx="795037" cy="242389"/>
      </dsp:txXfrm>
    </dsp:sp>
    <dsp:sp modelId="{CDD08F04-9859-46B0-AD62-E025CBE48998}">
      <dsp:nvSpPr>
        <dsp:cNvPr id="0" name=""/>
        <dsp:cNvSpPr/>
      </dsp:nvSpPr>
      <dsp:spPr>
        <a:xfrm>
          <a:off x="514656" y="516672"/>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a:t>
          </a:r>
          <a:r>
            <a:rPr lang="en-US" sz="1500" kern="1200"/>
            <a:t>2</a:t>
          </a:r>
          <a:endParaRPr lang="zh-CN" sz="1500" kern="1200"/>
        </a:p>
      </dsp:txBody>
      <dsp:txXfrm>
        <a:off x="514656" y="516672"/>
        <a:ext cx="795037" cy="242389"/>
      </dsp:txXfrm>
    </dsp:sp>
    <dsp:sp modelId="{3EB37757-FBE5-45BC-AFB0-99E6600D6278}">
      <dsp:nvSpPr>
        <dsp:cNvPr id="0" name=""/>
        <dsp:cNvSpPr/>
      </dsp:nvSpPr>
      <dsp:spPr>
        <a:xfrm>
          <a:off x="514656" y="819659"/>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a:t>
          </a:r>
          <a:r>
            <a:rPr lang="en-US" sz="1500" kern="1200"/>
            <a:t>3</a:t>
          </a:r>
          <a:endParaRPr lang="zh-CN" sz="1500" kern="1200"/>
        </a:p>
      </dsp:txBody>
      <dsp:txXfrm>
        <a:off x="514656" y="819659"/>
        <a:ext cx="795037" cy="242389"/>
      </dsp:txXfrm>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790859D-8C61-4AF6-B203-2D322A6E5352}">
      <dsp:nvSpPr>
        <dsp:cNvPr id="0" name=""/>
        <dsp:cNvSpPr/>
      </dsp:nvSpPr>
      <dsp:spPr>
        <a:xfrm>
          <a:off x="757045" y="637866"/>
          <a:ext cx="159007" cy="454480"/>
        </a:xfrm>
        <a:custGeom>
          <a:avLst/>
          <a:gdLst/>
          <a:ahLst/>
          <a:cxnLst/>
          <a:rect l="0" t="0" r="0" b="0"/>
          <a:pathLst>
            <a:path>
              <a:moveTo>
                <a:pt x="0" y="0"/>
              </a:moveTo>
              <a:lnTo>
                <a:pt x="79503" y="0"/>
              </a:lnTo>
              <a:lnTo>
                <a:pt x="79503" y="454480"/>
              </a:lnTo>
              <a:lnTo>
                <a:pt x="159007" y="45448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24512" y="853069"/>
        <a:ext cx="24074" cy="24074"/>
      </dsp:txXfrm>
    </dsp:sp>
    <dsp:sp modelId="{CD1E3767-A381-4B03-AC88-F10F736702EF}">
      <dsp:nvSpPr>
        <dsp:cNvPr id="0" name=""/>
        <dsp:cNvSpPr/>
      </dsp:nvSpPr>
      <dsp:spPr>
        <a:xfrm>
          <a:off x="757045" y="637866"/>
          <a:ext cx="159007" cy="151493"/>
        </a:xfrm>
        <a:custGeom>
          <a:avLst/>
          <a:gdLst/>
          <a:ahLst/>
          <a:cxnLst/>
          <a:rect l="0" t="0" r="0" b="0"/>
          <a:pathLst>
            <a:path>
              <a:moveTo>
                <a:pt x="0" y="0"/>
              </a:moveTo>
              <a:lnTo>
                <a:pt x="79503" y="0"/>
              </a:lnTo>
              <a:lnTo>
                <a:pt x="79503" y="151493"/>
              </a:lnTo>
              <a:lnTo>
                <a:pt x="159007" y="151493"/>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31058" y="708123"/>
        <a:ext cx="10981" cy="10981"/>
      </dsp:txXfrm>
    </dsp:sp>
    <dsp:sp modelId="{8693A490-7F8B-45EB-8ABA-62C345D97B2B}">
      <dsp:nvSpPr>
        <dsp:cNvPr id="0" name=""/>
        <dsp:cNvSpPr/>
      </dsp:nvSpPr>
      <dsp:spPr>
        <a:xfrm>
          <a:off x="757045" y="486373"/>
          <a:ext cx="159007" cy="151493"/>
        </a:xfrm>
        <a:custGeom>
          <a:avLst/>
          <a:gdLst/>
          <a:ahLst/>
          <a:cxnLst/>
          <a:rect l="0" t="0" r="0" b="0"/>
          <a:pathLst>
            <a:path>
              <a:moveTo>
                <a:pt x="0" y="151493"/>
              </a:moveTo>
              <a:lnTo>
                <a:pt x="79503" y="151493"/>
              </a:lnTo>
              <a:lnTo>
                <a:pt x="79503" y="0"/>
              </a:lnTo>
              <a:lnTo>
                <a:pt x="159007"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31058" y="556629"/>
        <a:ext cx="10981" cy="10981"/>
      </dsp:txXfrm>
    </dsp:sp>
    <dsp:sp modelId="{02182DB4-8CE3-459C-B6C0-9CB5DC71479B}">
      <dsp:nvSpPr>
        <dsp:cNvPr id="0" name=""/>
        <dsp:cNvSpPr/>
      </dsp:nvSpPr>
      <dsp:spPr>
        <a:xfrm>
          <a:off x="757045" y="183386"/>
          <a:ext cx="159007" cy="454480"/>
        </a:xfrm>
        <a:custGeom>
          <a:avLst/>
          <a:gdLst/>
          <a:ahLst/>
          <a:cxnLst/>
          <a:rect l="0" t="0" r="0" b="0"/>
          <a:pathLst>
            <a:path>
              <a:moveTo>
                <a:pt x="0" y="454480"/>
              </a:moveTo>
              <a:lnTo>
                <a:pt x="79503" y="454480"/>
              </a:lnTo>
              <a:lnTo>
                <a:pt x="79503" y="0"/>
              </a:lnTo>
              <a:lnTo>
                <a:pt x="159007"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24512" y="398589"/>
        <a:ext cx="24074" cy="24074"/>
      </dsp:txXfrm>
    </dsp:sp>
    <dsp:sp modelId="{8A084EB8-76C1-479D-ABBB-821AC3A0C1D3}">
      <dsp:nvSpPr>
        <dsp:cNvPr id="0" name=""/>
        <dsp:cNvSpPr/>
      </dsp:nvSpPr>
      <dsp:spPr>
        <a:xfrm rot="16200000">
          <a:off x="-2015" y="516672"/>
          <a:ext cx="1275733"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dirty="0"/>
            <a:t>维度</a:t>
          </a:r>
          <a:r>
            <a:rPr lang="zh-CN" altLang="en-US" sz="1500" kern="1200" dirty="0"/>
            <a:t>集</a:t>
          </a:r>
          <a:endParaRPr lang="zh-CN" sz="1500" kern="1200" dirty="0"/>
        </a:p>
      </dsp:txBody>
      <dsp:txXfrm>
        <a:off x="-2015" y="516672"/>
        <a:ext cx="1275733" cy="242389"/>
      </dsp:txXfrm>
    </dsp:sp>
    <dsp:sp modelId="{D327265F-B942-4B43-A502-D10FFEA12F73}">
      <dsp:nvSpPr>
        <dsp:cNvPr id="0" name=""/>
        <dsp:cNvSpPr/>
      </dsp:nvSpPr>
      <dsp:spPr>
        <a:xfrm>
          <a:off x="916053" y="62192"/>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sz="1400" kern="1200"/>
            <a:t>维度</a:t>
          </a:r>
          <a:r>
            <a:rPr lang="en-US" sz="1400" kern="1200"/>
            <a:t>1</a:t>
          </a:r>
          <a:endParaRPr lang="zh-CN" sz="1400" kern="1200"/>
        </a:p>
      </dsp:txBody>
      <dsp:txXfrm>
        <a:off x="916053" y="62192"/>
        <a:ext cx="795037" cy="242389"/>
      </dsp:txXfrm>
    </dsp:sp>
    <dsp:sp modelId="{CDD08F04-9859-46B0-AD62-E025CBE48998}">
      <dsp:nvSpPr>
        <dsp:cNvPr id="0" name=""/>
        <dsp:cNvSpPr/>
      </dsp:nvSpPr>
      <dsp:spPr>
        <a:xfrm>
          <a:off x="916053" y="365178"/>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sz="1400" kern="1200"/>
            <a:t>维度</a:t>
          </a:r>
          <a:r>
            <a:rPr lang="en-US" sz="1400" kern="1200"/>
            <a:t>2</a:t>
          </a:r>
          <a:endParaRPr lang="zh-CN" sz="1400" kern="1200"/>
        </a:p>
      </dsp:txBody>
      <dsp:txXfrm>
        <a:off x="916053" y="365178"/>
        <a:ext cx="795037" cy="242389"/>
      </dsp:txXfrm>
    </dsp:sp>
    <dsp:sp modelId="{3EB37757-FBE5-45BC-AFB0-99E6600D6278}">
      <dsp:nvSpPr>
        <dsp:cNvPr id="0" name=""/>
        <dsp:cNvSpPr/>
      </dsp:nvSpPr>
      <dsp:spPr>
        <a:xfrm>
          <a:off x="916053" y="668165"/>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sz="1400" kern="1200" dirty="0"/>
            <a:t>维度</a:t>
          </a:r>
          <a:r>
            <a:rPr lang="en-US" sz="1400" kern="1200" dirty="0"/>
            <a:t>3</a:t>
          </a:r>
          <a:endParaRPr lang="zh-CN" sz="1400" kern="1200" dirty="0"/>
        </a:p>
      </dsp:txBody>
      <dsp:txXfrm>
        <a:off x="916053" y="668165"/>
        <a:ext cx="795037" cy="242389"/>
      </dsp:txXfrm>
    </dsp:sp>
    <dsp:sp modelId="{14991D58-8D8C-4EA2-B08C-6DDC48E96B6F}">
      <dsp:nvSpPr>
        <dsp:cNvPr id="0" name=""/>
        <dsp:cNvSpPr/>
      </dsp:nvSpPr>
      <dsp:spPr>
        <a:xfrm>
          <a:off x="916053" y="971152"/>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altLang="en-US" sz="1400" kern="1200" dirty="0"/>
            <a:t>维度</a:t>
          </a:r>
          <a:r>
            <a:rPr lang="en-US" altLang="zh-CN" sz="1400" kern="1200" dirty="0"/>
            <a:t>…..n</a:t>
          </a:r>
          <a:endParaRPr lang="zh-CN" sz="1400" kern="1200" dirty="0"/>
        </a:p>
      </dsp:txBody>
      <dsp:txXfrm>
        <a:off x="916053" y="971152"/>
        <a:ext cx="795037" cy="242389"/>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D1E3767-A381-4B03-AC88-F10F736702EF}">
      <dsp:nvSpPr>
        <dsp:cNvPr id="0" name=""/>
        <dsp:cNvSpPr/>
      </dsp:nvSpPr>
      <dsp:spPr>
        <a:xfrm>
          <a:off x="1309693" y="637866"/>
          <a:ext cx="159007" cy="302986"/>
        </a:xfrm>
        <a:custGeom>
          <a:avLst/>
          <a:gdLst/>
          <a:ahLst/>
          <a:cxnLst/>
          <a:rect l="0" t="0" r="0" b="0"/>
          <a:pathLst>
            <a:path>
              <a:moveTo>
                <a:pt x="159007" y="0"/>
              </a:moveTo>
              <a:lnTo>
                <a:pt x="79503" y="0"/>
              </a:lnTo>
              <a:lnTo>
                <a:pt x="79503" y="302986"/>
              </a:lnTo>
              <a:lnTo>
                <a:pt x="0" y="302986"/>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1380643" y="780806"/>
        <a:ext cx="17108" cy="17108"/>
      </dsp:txXfrm>
    </dsp:sp>
    <dsp:sp modelId="{8693A490-7F8B-45EB-8ABA-62C345D97B2B}">
      <dsp:nvSpPr>
        <dsp:cNvPr id="0" name=""/>
        <dsp:cNvSpPr/>
      </dsp:nvSpPr>
      <dsp:spPr>
        <a:xfrm>
          <a:off x="1309693" y="592147"/>
          <a:ext cx="159007" cy="91440"/>
        </a:xfrm>
        <a:custGeom>
          <a:avLst/>
          <a:gdLst/>
          <a:ahLst/>
          <a:cxnLst/>
          <a:rect l="0" t="0" r="0" b="0"/>
          <a:pathLst>
            <a:path>
              <a:moveTo>
                <a:pt x="159007" y="45720"/>
              </a:moveTo>
              <a:lnTo>
                <a:pt x="0" y="4572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1385222" y="633891"/>
        <a:ext cx="7950" cy="7950"/>
      </dsp:txXfrm>
    </dsp:sp>
    <dsp:sp modelId="{02182DB4-8CE3-459C-B6C0-9CB5DC71479B}">
      <dsp:nvSpPr>
        <dsp:cNvPr id="0" name=""/>
        <dsp:cNvSpPr/>
      </dsp:nvSpPr>
      <dsp:spPr>
        <a:xfrm>
          <a:off x="1309693" y="334880"/>
          <a:ext cx="159007" cy="302986"/>
        </a:xfrm>
        <a:custGeom>
          <a:avLst/>
          <a:gdLst/>
          <a:ahLst/>
          <a:cxnLst/>
          <a:rect l="0" t="0" r="0" b="0"/>
          <a:pathLst>
            <a:path>
              <a:moveTo>
                <a:pt x="159007" y="302986"/>
              </a:moveTo>
              <a:lnTo>
                <a:pt x="79503" y="302986"/>
              </a:lnTo>
              <a:lnTo>
                <a:pt x="79503" y="0"/>
              </a:lnTo>
              <a:lnTo>
                <a:pt x="0"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1380643" y="477819"/>
        <a:ext cx="17108" cy="17108"/>
      </dsp:txXfrm>
    </dsp:sp>
    <dsp:sp modelId="{8A084EB8-76C1-479D-ABBB-821AC3A0C1D3}">
      <dsp:nvSpPr>
        <dsp:cNvPr id="0" name=""/>
        <dsp:cNvSpPr/>
      </dsp:nvSpPr>
      <dsp:spPr>
        <a:xfrm rot="5400000">
          <a:off x="952028" y="516672"/>
          <a:ext cx="1275733"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维度组</a:t>
          </a:r>
        </a:p>
      </dsp:txBody>
      <dsp:txXfrm>
        <a:off x="952028" y="516672"/>
        <a:ext cx="1275733" cy="242389"/>
      </dsp:txXfrm>
    </dsp:sp>
    <dsp:sp modelId="{D327265F-B942-4B43-A502-D10FFEA12F73}">
      <dsp:nvSpPr>
        <dsp:cNvPr id="0" name=""/>
        <dsp:cNvSpPr/>
      </dsp:nvSpPr>
      <dsp:spPr>
        <a:xfrm>
          <a:off x="514656" y="213685"/>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a:t>
          </a:r>
          <a:r>
            <a:rPr lang="en-US" sz="1500" kern="1200"/>
            <a:t>1</a:t>
          </a:r>
          <a:endParaRPr lang="zh-CN" sz="1500" kern="1200"/>
        </a:p>
      </dsp:txBody>
      <dsp:txXfrm>
        <a:off x="514656" y="213685"/>
        <a:ext cx="795037" cy="242389"/>
      </dsp:txXfrm>
    </dsp:sp>
    <dsp:sp modelId="{CDD08F04-9859-46B0-AD62-E025CBE48998}">
      <dsp:nvSpPr>
        <dsp:cNvPr id="0" name=""/>
        <dsp:cNvSpPr/>
      </dsp:nvSpPr>
      <dsp:spPr>
        <a:xfrm>
          <a:off x="514656" y="516672"/>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a:t>
          </a:r>
          <a:r>
            <a:rPr lang="en-US" sz="1500" kern="1200"/>
            <a:t>2</a:t>
          </a:r>
          <a:endParaRPr lang="zh-CN" sz="1500" kern="1200"/>
        </a:p>
      </dsp:txBody>
      <dsp:txXfrm>
        <a:off x="514656" y="516672"/>
        <a:ext cx="795037" cy="242389"/>
      </dsp:txXfrm>
    </dsp:sp>
    <dsp:sp modelId="{3EB37757-FBE5-45BC-AFB0-99E6600D6278}">
      <dsp:nvSpPr>
        <dsp:cNvPr id="0" name=""/>
        <dsp:cNvSpPr/>
      </dsp:nvSpPr>
      <dsp:spPr>
        <a:xfrm>
          <a:off x="514656" y="819659"/>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a:t>维度</a:t>
          </a:r>
          <a:r>
            <a:rPr lang="en-US" sz="1500" kern="1200"/>
            <a:t>3</a:t>
          </a:r>
          <a:endParaRPr lang="zh-CN" sz="1500" kern="1200"/>
        </a:p>
      </dsp:txBody>
      <dsp:txXfrm>
        <a:off x="514656" y="819659"/>
        <a:ext cx="795037" cy="242389"/>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790859D-8C61-4AF6-B203-2D322A6E5352}">
      <dsp:nvSpPr>
        <dsp:cNvPr id="0" name=""/>
        <dsp:cNvSpPr/>
      </dsp:nvSpPr>
      <dsp:spPr>
        <a:xfrm>
          <a:off x="757045" y="637866"/>
          <a:ext cx="159007" cy="454480"/>
        </a:xfrm>
        <a:custGeom>
          <a:avLst/>
          <a:gdLst/>
          <a:ahLst/>
          <a:cxnLst/>
          <a:rect l="0" t="0" r="0" b="0"/>
          <a:pathLst>
            <a:path>
              <a:moveTo>
                <a:pt x="0" y="0"/>
              </a:moveTo>
              <a:lnTo>
                <a:pt x="79503" y="0"/>
              </a:lnTo>
              <a:lnTo>
                <a:pt x="79503" y="454480"/>
              </a:lnTo>
              <a:lnTo>
                <a:pt x="159007" y="45448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24512" y="853069"/>
        <a:ext cx="24074" cy="24074"/>
      </dsp:txXfrm>
    </dsp:sp>
    <dsp:sp modelId="{CD1E3767-A381-4B03-AC88-F10F736702EF}">
      <dsp:nvSpPr>
        <dsp:cNvPr id="0" name=""/>
        <dsp:cNvSpPr/>
      </dsp:nvSpPr>
      <dsp:spPr>
        <a:xfrm>
          <a:off x="757045" y="637866"/>
          <a:ext cx="159007" cy="151493"/>
        </a:xfrm>
        <a:custGeom>
          <a:avLst/>
          <a:gdLst/>
          <a:ahLst/>
          <a:cxnLst/>
          <a:rect l="0" t="0" r="0" b="0"/>
          <a:pathLst>
            <a:path>
              <a:moveTo>
                <a:pt x="0" y="0"/>
              </a:moveTo>
              <a:lnTo>
                <a:pt x="79503" y="0"/>
              </a:lnTo>
              <a:lnTo>
                <a:pt x="79503" y="151493"/>
              </a:lnTo>
              <a:lnTo>
                <a:pt x="159007" y="151493"/>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31058" y="708123"/>
        <a:ext cx="10981" cy="10981"/>
      </dsp:txXfrm>
    </dsp:sp>
    <dsp:sp modelId="{8693A490-7F8B-45EB-8ABA-62C345D97B2B}">
      <dsp:nvSpPr>
        <dsp:cNvPr id="0" name=""/>
        <dsp:cNvSpPr/>
      </dsp:nvSpPr>
      <dsp:spPr>
        <a:xfrm>
          <a:off x="757045" y="486373"/>
          <a:ext cx="159007" cy="151493"/>
        </a:xfrm>
        <a:custGeom>
          <a:avLst/>
          <a:gdLst/>
          <a:ahLst/>
          <a:cxnLst/>
          <a:rect l="0" t="0" r="0" b="0"/>
          <a:pathLst>
            <a:path>
              <a:moveTo>
                <a:pt x="0" y="151493"/>
              </a:moveTo>
              <a:lnTo>
                <a:pt x="79503" y="151493"/>
              </a:lnTo>
              <a:lnTo>
                <a:pt x="79503" y="0"/>
              </a:lnTo>
              <a:lnTo>
                <a:pt x="159007"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31058" y="556629"/>
        <a:ext cx="10981" cy="10981"/>
      </dsp:txXfrm>
    </dsp:sp>
    <dsp:sp modelId="{02182DB4-8CE3-459C-B6C0-9CB5DC71479B}">
      <dsp:nvSpPr>
        <dsp:cNvPr id="0" name=""/>
        <dsp:cNvSpPr/>
      </dsp:nvSpPr>
      <dsp:spPr>
        <a:xfrm>
          <a:off x="757045" y="183386"/>
          <a:ext cx="159007" cy="454480"/>
        </a:xfrm>
        <a:custGeom>
          <a:avLst/>
          <a:gdLst/>
          <a:ahLst/>
          <a:cxnLst/>
          <a:rect l="0" t="0" r="0" b="0"/>
          <a:pathLst>
            <a:path>
              <a:moveTo>
                <a:pt x="0" y="454480"/>
              </a:moveTo>
              <a:lnTo>
                <a:pt x="79503" y="454480"/>
              </a:lnTo>
              <a:lnTo>
                <a:pt x="79503" y="0"/>
              </a:lnTo>
              <a:lnTo>
                <a:pt x="159007"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824512" y="398589"/>
        <a:ext cx="24074" cy="24074"/>
      </dsp:txXfrm>
    </dsp:sp>
    <dsp:sp modelId="{8A084EB8-76C1-479D-ABBB-821AC3A0C1D3}">
      <dsp:nvSpPr>
        <dsp:cNvPr id="0" name=""/>
        <dsp:cNvSpPr/>
      </dsp:nvSpPr>
      <dsp:spPr>
        <a:xfrm rot="16200000">
          <a:off x="-2015" y="516672"/>
          <a:ext cx="1275733"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 tIns="9525" rIns="9525" bIns="9525" numCol="1" spcCol="1270" anchor="ctr" anchorCtr="0">
          <a:noAutofit/>
        </a:bodyPr>
        <a:lstStyle/>
        <a:p>
          <a:pPr marL="0" lvl="0" indent="0" algn="ctr" defTabSz="666750">
            <a:lnSpc>
              <a:spcPct val="90000"/>
            </a:lnSpc>
            <a:spcBef>
              <a:spcPct val="0"/>
            </a:spcBef>
            <a:spcAft>
              <a:spcPct val="35000"/>
            </a:spcAft>
            <a:buNone/>
          </a:pPr>
          <a:r>
            <a:rPr lang="zh-CN" sz="1500" kern="1200" dirty="0"/>
            <a:t>维度</a:t>
          </a:r>
          <a:r>
            <a:rPr lang="zh-CN" altLang="en-US" sz="1500" kern="1200" dirty="0"/>
            <a:t>集</a:t>
          </a:r>
          <a:endParaRPr lang="zh-CN" sz="1500" kern="1200" dirty="0"/>
        </a:p>
      </dsp:txBody>
      <dsp:txXfrm>
        <a:off x="-2015" y="516672"/>
        <a:ext cx="1275733" cy="242389"/>
      </dsp:txXfrm>
    </dsp:sp>
    <dsp:sp modelId="{D327265F-B942-4B43-A502-D10FFEA12F73}">
      <dsp:nvSpPr>
        <dsp:cNvPr id="0" name=""/>
        <dsp:cNvSpPr/>
      </dsp:nvSpPr>
      <dsp:spPr>
        <a:xfrm>
          <a:off x="916053" y="62192"/>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sz="1400" kern="1200"/>
            <a:t>维度</a:t>
          </a:r>
          <a:r>
            <a:rPr lang="en-US" sz="1400" kern="1200"/>
            <a:t>1</a:t>
          </a:r>
          <a:endParaRPr lang="zh-CN" sz="1400" kern="1200"/>
        </a:p>
      </dsp:txBody>
      <dsp:txXfrm>
        <a:off x="916053" y="62192"/>
        <a:ext cx="795037" cy="242389"/>
      </dsp:txXfrm>
    </dsp:sp>
    <dsp:sp modelId="{CDD08F04-9859-46B0-AD62-E025CBE48998}">
      <dsp:nvSpPr>
        <dsp:cNvPr id="0" name=""/>
        <dsp:cNvSpPr/>
      </dsp:nvSpPr>
      <dsp:spPr>
        <a:xfrm>
          <a:off x="916053" y="365178"/>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sz="1400" kern="1200"/>
            <a:t>维度</a:t>
          </a:r>
          <a:r>
            <a:rPr lang="en-US" sz="1400" kern="1200"/>
            <a:t>2</a:t>
          </a:r>
          <a:endParaRPr lang="zh-CN" sz="1400" kern="1200"/>
        </a:p>
      </dsp:txBody>
      <dsp:txXfrm>
        <a:off x="916053" y="365178"/>
        <a:ext cx="795037" cy="242389"/>
      </dsp:txXfrm>
    </dsp:sp>
    <dsp:sp modelId="{3EB37757-FBE5-45BC-AFB0-99E6600D6278}">
      <dsp:nvSpPr>
        <dsp:cNvPr id="0" name=""/>
        <dsp:cNvSpPr/>
      </dsp:nvSpPr>
      <dsp:spPr>
        <a:xfrm>
          <a:off x="916053" y="668165"/>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sz="1400" kern="1200" dirty="0"/>
            <a:t>维度</a:t>
          </a:r>
          <a:r>
            <a:rPr lang="en-US" sz="1400" kern="1200" dirty="0"/>
            <a:t>3</a:t>
          </a:r>
          <a:endParaRPr lang="zh-CN" sz="1400" kern="1200" dirty="0"/>
        </a:p>
      </dsp:txBody>
      <dsp:txXfrm>
        <a:off x="916053" y="668165"/>
        <a:ext cx="795037" cy="242389"/>
      </dsp:txXfrm>
    </dsp:sp>
    <dsp:sp modelId="{14991D58-8D8C-4EA2-B08C-6DDC48E96B6F}">
      <dsp:nvSpPr>
        <dsp:cNvPr id="0" name=""/>
        <dsp:cNvSpPr/>
      </dsp:nvSpPr>
      <dsp:spPr>
        <a:xfrm>
          <a:off x="916053" y="971152"/>
          <a:ext cx="795037" cy="242389"/>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altLang="en-US" sz="1400" kern="1200" dirty="0"/>
            <a:t>维度</a:t>
          </a:r>
          <a:r>
            <a:rPr lang="en-US" altLang="zh-CN" sz="1400" kern="1200" dirty="0"/>
            <a:t>…..n</a:t>
          </a:r>
          <a:endParaRPr lang="zh-CN" sz="1400" kern="1200" dirty="0"/>
        </a:p>
      </dsp:txBody>
      <dsp:txXfrm>
        <a:off x="916053" y="971152"/>
        <a:ext cx="795037" cy="242389"/>
      </dsp:txXfrm>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561BDBF-FDE4-439A-8608-46FEE5C3DCC3}">
      <dsp:nvSpPr>
        <dsp:cNvPr id="0" name=""/>
        <dsp:cNvSpPr/>
      </dsp:nvSpPr>
      <dsp:spPr>
        <a:xfrm>
          <a:off x="1928516" y="1600168"/>
          <a:ext cx="1335942" cy="1214656"/>
        </a:xfrm>
        <a:prstGeom prst="ellipse">
          <a:avLst/>
        </a:prstGeom>
        <a:solidFill>
          <a:srgbClr val="002060">
            <a:alpha val="75000"/>
          </a:srgbClr>
        </a:solidFill>
        <a:ln w="12700" cap="flat" cmpd="sng" algn="ctr">
          <a:noFill/>
          <a:prstDash val="solid"/>
          <a:miter lim="800000"/>
        </a:ln>
        <a:effectLst/>
        <a:scene3d>
          <a:camera prst="orthographicFront"/>
          <a:lightRig rig="threePt" dir="t"/>
        </a:scene3d>
        <a:sp3d>
          <a:bevelT prst="angle"/>
        </a:sp3d>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zh-CN" altLang="en-US" sz="1400" b="1" kern="1200" dirty="0">
              <a:solidFill>
                <a:schemeClr val="bg1"/>
              </a:solidFill>
            </a:rPr>
            <a:t>智能计划与控制</a:t>
          </a:r>
        </a:p>
      </dsp:txBody>
      <dsp:txXfrm>
        <a:off x="2124160" y="1778050"/>
        <a:ext cx="944654" cy="858892"/>
      </dsp:txXfrm>
    </dsp:sp>
    <dsp:sp modelId="{09DCF032-3EBC-4C21-9524-F079EE86355E}">
      <dsp:nvSpPr>
        <dsp:cNvPr id="0" name=""/>
        <dsp:cNvSpPr/>
      </dsp:nvSpPr>
      <dsp:spPr>
        <a:xfrm rot="16200000">
          <a:off x="2349313" y="1333878"/>
          <a:ext cx="494348" cy="38232"/>
        </a:xfrm>
        <a:custGeom>
          <a:avLst/>
          <a:gdLst/>
          <a:ahLst/>
          <a:cxnLst/>
          <a:rect l="0" t="0" r="0" b="0"/>
          <a:pathLst>
            <a:path>
              <a:moveTo>
                <a:pt x="0" y="19116"/>
              </a:moveTo>
              <a:lnTo>
                <a:pt x="494348" y="19116"/>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solidFill>
              <a:schemeClr val="bg1"/>
            </a:solidFill>
          </a:endParaRPr>
        </a:p>
      </dsp:txBody>
      <dsp:txXfrm>
        <a:off x="2584128" y="1340635"/>
        <a:ext cx="24717" cy="24717"/>
      </dsp:txXfrm>
    </dsp:sp>
    <dsp:sp modelId="{B1F622CB-4C9C-4EE5-B440-6362181B73DF}">
      <dsp:nvSpPr>
        <dsp:cNvPr id="0" name=""/>
        <dsp:cNvSpPr/>
      </dsp:nvSpPr>
      <dsp:spPr>
        <a:xfrm>
          <a:off x="2044987" y="2819"/>
          <a:ext cx="1103000" cy="1103000"/>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795" tIns="10795" rIns="10795" bIns="10795" numCol="1" spcCol="1270" anchor="ctr" anchorCtr="0">
          <a:noAutofit/>
        </a:bodyPr>
        <a:lstStyle/>
        <a:p>
          <a:pPr marL="0" lvl="0" indent="0" algn="ctr" defTabSz="755650">
            <a:lnSpc>
              <a:spcPct val="90000"/>
            </a:lnSpc>
            <a:spcBef>
              <a:spcPct val="0"/>
            </a:spcBef>
            <a:spcAft>
              <a:spcPct val="35000"/>
            </a:spcAft>
            <a:buNone/>
          </a:pPr>
          <a:r>
            <a:rPr lang="zh-CN" altLang="en-US" sz="1700" kern="1200" dirty="0">
              <a:solidFill>
                <a:schemeClr val="bg1"/>
              </a:solidFill>
            </a:rPr>
            <a:t>横向协同</a:t>
          </a:r>
        </a:p>
      </dsp:txBody>
      <dsp:txXfrm>
        <a:off x="2206518" y="164350"/>
        <a:ext cx="779938" cy="779938"/>
      </dsp:txXfrm>
    </dsp:sp>
    <dsp:sp modelId="{42AC6DCB-8EB6-48E6-9E0C-4EFBF924C51D}">
      <dsp:nvSpPr>
        <dsp:cNvPr id="0" name=""/>
        <dsp:cNvSpPr/>
      </dsp:nvSpPr>
      <dsp:spPr>
        <a:xfrm rot="19285714">
          <a:off x="3048553" y="1644702"/>
          <a:ext cx="459369" cy="38232"/>
        </a:xfrm>
        <a:custGeom>
          <a:avLst/>
          <a:gdLst/>
          <a:ahLst/>
          <a:cxnLst/>
          <a:rect l="0" t="0" r="0" b="0"/>
          <a:pathLst>
            <a:path>
              <a:moveTo>
                <a:pt x="0" y="19116"/>
              </a:moveTo>
              <a:lnTo>
                <a:pt x="459369" y="19116"/>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solidFill>
              <a:schemeClr val="bg1"/>
            </a:solidFill>
          </a:endParaRPr>
        </a:p>
      </dsp:txBody>
      <dsp:txXfrm>
        <a:off x="3266754" y="1652334"/>
        <a:ext cx="22968" cy="22968"/>
      </dsp:txXfrm>
    </dsp:sp>
    <dsp:sp modelId="{E4FDA471-FB70-4419-9A19-DC163B7E2F1B}">
      <dsp:nvSpPr>
        <dsp:cNvPr id="0" name=""/>
        <dsp:cNvSpPr/>
      </dsp:nvSpPr>
      <dsp:spPr>
        <a:xfrm>
          <a:off x="3337493" y="625257"/>
          <a:ext cx="1103000" cy="1103000"/>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795" tIns="10795" rIns="10795" bIns="10795" numCol="1" spcCol="1270" anchor="ctr" anchorCtr="0">
          <a:noAutofit/>
        </a:bodyPr>
        <a:lstStyle/>
        <a:p>
          <a:pPr marL="0" lvl="0" indent="0" algn="ctr" defTabSz="755650">
            <a:lnSpc>
              <a:spcPct val="90000"/>
            </a:lnSpc>
            <a:spcBef>
              <a:spcPct val="0"/>
            </a:spcBef>
            <a:spcAft>
              <a:spcPct val="35000"/>
            </a:spcAft>
            <a:buNone/>
          </a:pPr>
          <a:r>
            <a:rPr lang="zh-CN" altLang="en-US" sz="1700" kern="1200" dirty="0">
              <a:solidFill>
                <a:schemeClr val="bg1"/>
              </a:solidFill>
            </a:rPr>
            <a:t>纵向协同</a:t>
          </a:r>
        </a:p>
      </dsp:txBody>
      <dsp:txXfrm>
        <a:off x="3499024" y="786788"/>
        <a:ext cx="779938" cy="779938"/>
      </dsp:txXfrm>
    </dsp:sp>
    <dsp:sp modelId="{0632A3CC-0081-4D9F-AF42-AB5E5F52C1B4}">
      <dsp:nvSpPr>
        <dsp:cNvPr id="0" name=""/>
        <dsp:cNvSpPr/>
      </dsp:nvSpPr>
      <dsp:spPr>
        <a:xfrm rot="771429">
          <a:off x="3238876" y="2384889"/>
          <a:ext cx="437146" cy="38232"/>
        </a:xfrm>
        <a:custGeom>
          <a:avLst/>
          <a:gdLst/>
          <a:ahLst/>
          <a:cxnLst/>
          <a:rect l="0" t="0" r="0" b="0"/>
          <a:pathLst>
            <a:path>
              <a:moveTo>
                <a:pt x="0" y="19116"/>
              </a:moveTo>
              <a:lnTo>
                <a:pt x="437146" y="19116"/>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solidFill>
              <a:schemeClr val="bg1"/>
            </a:solidFill>
          </a:endParaRPr>
        </a:p>
      </dsp:txBody>
      <dsp:txXfrm>
        <a:off x="3446521" y="2393077"/>
        <a:ext cx="21857" cy="21857"/>
      </dsp:txXfrm>
    </dsp:sp>
    <dsp:sp modelId="{1F4021B4-9E09-4B1C-ACAF-ADFD7D16DA39}">
      <dsp:nvSpPr>
        <dsp:cNvPr id="0" name=""/>
        <dsp:cNvSpPr/>
      </dsp:nvSpPr>
      <dsp:spPr>
        <a:xfrm>
          <a:off x="3656715" y="2023863"/>
          <a:ext cx="1103000" cy="1103000"/>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795" tIns="10795" rIns="10795" bIns="10795" numCol="1" spcCol="1270" anchor="ctr" anchorCtr="0">
          <a:noAutofit/>
        </a:bodyPr>
        <a:lstStyle/>
        <a:p>
          <a:pPr marL="0" lvl="0" indent="0" algn="ctr" defTabSz="755650">
            <a:lnSpc>
              <a:spcPct val="90000"/>
            </a:lnSpc>
            <a:spcBef>
              <a:spcPct val="0"/>
            </a:spcBef>
            <a:spcAft>
              <a:spcPct val="35000"/>
            </a:spcAft>
            <a:buNone/>
          </a:pPr>
          <a:r>
            <a:rPr lang="zh-CN" altLang="en-US" sz="1700" kern="1200" dirty="0">
              <a:solidFill>
                <a:schemeClr val="bg1"/>
              </a:solidFill>
            </a:rPr>
            <a:t>决策自动化</a:t>
          </a:r>
        </a:p>
      </dsp:txBody>
      <dsp:txXfrm>
        <a:off x="3818246" y="2185394"/>
        <a:ext cx="779938" cy="779938"/>
      </dsp:txXfrm>
    </dsp:sp>
    <dsp:sp modelId="{02830DCF-6A7E-42A5-B428-E3385EFE727A}">
      <dsp:nvSpPr>
        <dsp:cNvPr id="0" name=""/>
        <dsp:cNvSpPr/>
      </dsp:nvSpPr>
      <dsp:spPr>
        <a:xfrm rot="3857143">
          <a:off x="2727350" y="2962837"/>
          <a:ext cx="484190" cy="38232"/>
        </a:xfrm>
        <a:custGeom>
          <a:avLst/>
          <a:gdLst/>
          <a:ahLst/>
          <a:cxnLst/>
          <a:rect l="0" t="0" r="0" b="0"/>
          <a:pathLst>
            <a:path>
              <a:moveTo>
                <a:pt x="0" y="19116"/>
              </a:moveTo>
              <a:lnTo>
                <a:pt x="484190" y="19116"/>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solidFill>
              <a:schemeClr val="bg1"/>
            </a:solidFill>
          </a:endParaRPr>
        </a:p>
      </dsp:txBody>
      <dsp:txXfrm>
        <a:off x="2957341" y="2969848"/>
        <a:ext cx="24209" cy="24209"/>
      </dsp:txXfrm>
    </dsp:sp>
    <dsp:sp modelId="{0C21D522-437E-4C52-8065-AE374815CD73}">
      <dsp:nvSpPr>
        <dsp:cNvPr id="0" name=""/>
        <dsp:cNvSpPr/>
      </dsp:nvSpPr>
      <dsp:spPr>
        <a:xfrm>
          <a:off x="2762274" y="3145458"/>
          <a:ext cx="1103000" cy="1103000"/>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795" tIns="10795" rIns="10795" bIns="10795" numCol="1" spcCol="1270" anchor="ctr" anchorCtr="0">
          <a:noAutofit/>
        </a:bodyPr>
        <a:lstStyle/>
        <a:p>
          <a:pPr marL="0" lvl="0" indent="0" algn="ctr" defTabSz="755650">
            <a:lnSpc>
              <a:spcPct val="90000"/>
            </a:lnSpc>
            <a:spcBef>
              <a:spcPct val="0"/>
            </a:spcBef>
            <a:spcAft>
              <a:spcPct val="35000"/>
            </a:spcAft>
            <a:buNone/>
          </a:pPr>
          <a:r>
            <a:rPr lang="zh-CN" altLang="en-US" sz="1700" kern="1200" dirty="0">
              <a:solidFill>
                <a:schemeClr val="bg1"/>
              </a:solidFill>
            </a:rPr>
            <a:t>统筹计划</a:t>
          </a:r>
        </a:p>
      </dsp:txBody>
      <dsp:txXfrm>
        <a:off x="2923805" y="3306989"/>
        <a:ext cx="779938" cy="779938"/>
      </dsp:txXfrm>
    </dsp:sp>
    <dsp:sp modelId="{67C58608-574E-4243-A048-F4D6657074F1}">
      <dsp:nvSpPr>
        <dsp:cNvPr id="0" name=""/>
        <dsp:cNvSpPr/>
      </dsp:nvSpPr>
      <dsp:spPr>
        <a:xfrm rot="6942857">
          <a:off x="1981433" y="2962837"/>
          <a:ext cx="484190" cy="38232"/>
        </a:xfrm>
        <a:custGeom>
          <a:avLst/>
          <a:gdLst/>
          <a:ahLst/>
          <a:cxnLst/>
          <a:rect l="0" t="0" r="0" b="0"/>
          <a:pathLst>
            <a:path>
              <a:moveTo>
                <a:pt x="0" y="19116"/>
              </a:moveTo>
              <a:lnTo>
                <a:pt x="484190" y="19116"/>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solidFill>
              <a:schemeClr val="bg1"/>
            </a:solidFill>
          </a:endParaRPr>
        </a:p>
      </dsp:txBody>
      <dsp:txXfrm rot="10800000">
        <a:off x="2211424" y="2969848"/>
        <a:ext cx="24209" cy="24209"/>
      </dsp:txXfrm>
    </dsp:sp>
    <dsp:sp modelId="{94B548D6-2B74-43C0-B1E4-40474EAD8982}">
      <dsp:nvSpPr>
        <dsp:cNvPr id="0" name=""/>
        <dsp:cNvSpPr/>
      </dsp:nvSpPr>
      <dsp:spPr>
        <a:xfrm>
          <a:off x="1327700" y="3145458"/>
          <a:ext cx="1103000" cy="1103000"/>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795" tIns="10795" rIns="10795" bIns="10795" numCol="1" spcCol="1270" anchor="ctr" anchorCtr="0">
          <a:noAutofit/>
        </a:bodyPr>
        <a:lstStyle/>
        <a:p>
          <a:pPr marL="0" lvl="0" indent="0" algn="ctr" defTabSz="755650">
            <a:lnSpc>
              <a:spcPct val="90000"/>
            </a:lnSpc>
            <a:spcBef>
              <a:spcPct val="0"/>
            </a:spcBef>
            <a:spcAft>
              <a:spcPct val="35000"/>
            </a:spcAft>
            <a:buNone/>
          </a:pPr>
          <a:r>
            <a:rPr lang="zh-CN" altLang="en-US" sz="1700" kern="1200" dirty="0">
              <a:solidFill>
                <a:schemeClr val="bg1"/>
              </a:solidFill>
            </a:rPr>
            <a:t>响应性</a:t>
          </a:r>
        </a:p>
      </dsp:txBody>
      <dsp:txXfrm>
        <a:off x="1489231" y="3306989"/>
        <a:ext cx="779938" cy="779938"/>
      </dsp:txXfrm>
    </dsp:sp>
    <dsp:sp modelId="{6F19BF0F-9E3C-4599-82D4-2A4D43496823}">
      <dsp:nvSpPr>
        <dsp:cNvPr id="0" name=""/>
        <dsp:cNvSpPr/>
      </dsp:nvSpPr>
      <dsp:spPr>
        <a:xfrm rot="10028571">
          <a:off x="1516951" y="2384889"/>
          <a:ext cx="437146" cy="38232"/>
        </a:xfrm>
        <a:custGeom>
          <a:avLst/>
          <a:gdLst/>
          <a:ahLst/>
          <a:cxnLst/>
          <a:rect l="0" t="0" r="0" b="0"/>
          <a:pathLst>
            <a:path>
              <a:moveTo>
                <a:pt x="0" y="19116"/>
              </a:moveTo>
              <a:lnTo>
                <a:pt x="437146" y="19116"/>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solidFill>
              <a:schemeClr val="bg1"/>
            </a:solidFill>
          </a:endParaRPr>
        </a:p>
      </dsp:txBody>
      <dsp:txXfrm rot="10800000">
        <a:off x="1724596" y="2393077"/>
        <a:ext cx="21857" cy="21857"/>
      </dsp:txXfrm>
    </dsp:sp>
    <dsp:sp modelId="{F5C38163-8857-4573-9192-571FA1E7A745}">
      <dsp:nvSpPr>
        <dsp:cNvPr id="0" name=""/>
        <dsp:cNvSpPr/>
      </dsp:nvSpPr>
      <dsp:spPr>
        <a:xfrm>
          <a:off x="433259" y="2023863"/>
          <a:ext cx="1103000" cy="1103000"/>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795" tIns="10795" rIns="10795" bIns="10795" numCol="1" spcCol="1270" anchor="ctr" anchorCtr="0">
          <a:noAutofit/>
        </a:bodyPr>
        <a:lstStyle/>
        <a:p>
          <a:pPr marL="0" lvl="0" indent="0" algn="ctr" defTabSz="755650">
            <a:lnSpc>
              <a:spcPct val="90000"/>
            </a:lnSpc>
            <a:spcBef>
              <a:spcPct val="0"/>
            </a:spcBef>
            <a:spcAft>
              <a:spcPct val="35000"/>
            </a:spcAft>
            <a:buNone/>
          </a:pPr>
          <a:r>
            <a:rPr lang="zh-CN" altLang="en-US" sz="1700" kern="1200" dirty="0">
              <a:solidFill>
                <a:schemeClr val="bg1"/>
              </a:solidFill>
            </a:rPr>
            <a:t>决策颗粒度</a:t>
          </a:r>
        </a:p>
      </dsp:txBody>
      <dsp:txXfrm>
        <a:off x="594790" y="2185394"/>
        <a:ext cx="779938" cy="779938"/>
      </dsp:txXfrm>
    </dsp:sp>
    <dsp:sp modelId="{B4C97A79-5B10-4AA4-974C-721997536506}">
      <dsp:nvSpPr>
        <dsp:cNvPr id="0" name=""/>
        <dsp:cNvSpPr/>
      </dsp:nvSpPr>
      <dsp:spPr>
        <a:xfrm rot="13114286">
          <a:off x="1685051" y="1644702"/>
          <a:ext cx="459369" cy="38232"/>
        </a:xfrm>
        <a:custGeom>
          <a:avLst/>
          <a:gdLst/>
          <a:ahLst/>
          <a:cxnLst/>
          <a:rect l="0" t="0" r="0" b="0"/>
          <a:pathLst>
            <a:path>
              <a:moveTo>
                <a:pt x="0" y="19116"/>
              </a:moveTo>
              <a:lnTo>
                <a:pt x="459369" y="19116"/>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solidFill>
              <a:schemeClr val="bg1"/>
            </a:solidFill>
          </a:endParaRPr>
        </a:p>
      </dsp:txBody>
      <dsp:txXfrm rot="10800000">
        <a:off x="1903252" y="1652334"/>
        <a:ext cx="22968" cy="22968"/>
      </dsp:txXfrm>
    </dsp:sp>
    <dsp:sp modelId="{F33E206D-63EF-4334-8468-2B455DBAA768}">
      <dsp:nvSpPr>
        <dsp:cNvPr id="0" name=""/>
        <dsp:cNvSpPr/>
      </dsp:nvSpPr>
      <dsp:spPr>
        <a:xfrm>
          <a:off x="752481" y="625257"/>
          <a:ext cx="1103000" cy="1103000"/>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795" tIns="10795" rIns="10795" bIns="10795" numCol="1" spcCol="1270" anchor="ctr" anchorCtr="0">
          <a:noAutofit/>
        </a:bodyPr>
        <a:lstStyle/>
        <a:p>
          <a:pPr marL="0" lvl="0" indent="0" algn="ctr" defTabSz="755650">
            <a:lnSpc>
              <a:spcPct val="90000"/>
            </a:lnSpc>
            <a:spcBef>
              <a:spcPct val="0"/>
            </a:spcBef>
            <a:spcAft>
              <a:spcPct val="35000"/>
            </a:spcAft>
            <a:buNone/>
          </a:pPr>
          <a:r>
            <a:rPr lang="zh-CN" altLang="en-US" sz="1700" kern="1200" dirty="0">
              <a:solidFill>
                <a:schemeClr val="bg1"/>
              </a:solidFill>
            </a:rPr>
            <a:t>多策略协同模拟</a:t>
          </a:r>
        </a:p>
      </dsp:txBody>
      <dsp:txXfrm>
        <a:off x="914012" y="786788"/>
        <a:ext cx="779938" cy="779938"/>
      </dsp:txXfrm>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CEDFF5A-B575-4631-A44F-ED4EB2F37A5C}">
      <dsp:nvSpPr>
        <dsp:cNvPr id="0" name=""/>
        <dsp:cNvSpPr/>
      </dsp:nvSpPr>
      <dsp:spPr>
        <a:xfrm>
          <a:off x="0" y="596"/>
          <a:ext cx="5464276"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27A0C089-6DEF-4207-9834-33080C906A94}">
      <dsp:nvSpPr>
        <dsp:cNvPr id="0" name=""/>
        <dsp:cNvSpPr/>
      </dsp:nvSpPr>
      <dsp:spPr>
        <a:xfrm>
          <a:off x="0" y="596"/>
          <a:ext cx="5464276" cy="6976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sz="1300" b="1" kern="1200" dirty="0">
              <a:solidFill>
                <a:schemeClr val="bg1"/>
              </a:solidFill>
            </a:rPr>
            <a:t>横向协同 </a:t>
          </a:r>
          <a:r>
            <a:rPr lang="en-US" sz="1300" kern="1200" dirty="0">
              <a:solidFill>
                <a:schemeClr val="bg1"/>
              </a:solidFill>
            </a:rPr>
            <a:t>– </a:t>
          </a:r>
          <a:r>
            <a:rPr lang="zh-CN" sz="1300" kern="1200" dirty="0">
              <a:solidFill>
                <a:schemeClr val="bg1"/>
              </a:solidFill>
            </a:rPr>
            <a:t>物料转换上的协同，从原材到交付</a:t>
          </a:r>
          <a:r>
            <a:rPr lang="zh-CN" altLang="en-US" sz="1300" kern="1200" dirty="0">
              <a:solidFill>
                <a:schemeClr val="bg1"/>
              </a:solidFill>
            </a:rPr>
            <a:t>至</a:t>
          </a:r>
          <a:r>
            <a:rPr lang="zh-CN" sz="1300" kern="1200" dirty="0">
              <a:solidFill>
                <a:schemeClr val="bg1"/>
              </a:solidFill>
            </a:rPr>
            <a:t>客户</a:t>
          </a:r>
        </a:p>
      </dsp:txBody>
      <dsp:txXfrm>
        <a:off x="0" y="596"/>
        <a:ext cx="5464276" cy="697646"/>
      </dsp:txXfrm>
    </dsp:sp>
    <dsp:sp modelId="{57F97512-30EA-45C3-804E-8A12F6A6585D}">
      <dsp:nvSpPr>
        <dsp:cNvPr id="0" name=""/>
        <dsp:cNvSpPr/>
      </dsp:nvSpPr>
      <dsp:spPr>
        <a:xfrm>
          <a:off x="0" y="698242"/>
          <a:ext cx="5464276"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C8AA46D-9639-4104-922A-3E23518AC207}">
      <dsp:nvSpPr>
        <dsp:cNvPr id="0" name=""/>
        <dsp:cNvSpPr/>
      </dsp:nvSpPr>
      <dsp:spPr>
        <a:xfrm>
          <a:off x="0" y="698242"/>
          <a:ext cx="5464276" cy="6976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sz="1300" b="1" kern="1200" dirty="0">
              <a:solidFill>
                <a:schemeClr val="bg1"/>
              </a:solidFill>
            </a:rPr>
            <a:t>纵向协同 </a:t>
          </a:r>
          <a:r>
            <a:rPr lang="en-US" sz="1300" kern="1200" dirty="0">
              <a:solidFill>
                <a:schemeClr val="bg1"/>
              </a:solidFill>
            </a:rPr>
            <a:t>- </a:t>
          </a:r>
          <a:r>
            <a:rPr lang="zh-CN" sz="1300" kern="1200" dirty="0">
              <a:solidFill>
                <a:schemeClr val="bg1"/>
              </a:solidFill>
            </a:rPr>
            <a:t>从战略到执行的</a:t>
          </a:r>
          <a:r>
            <a:rPr lang="zh-CN" altLang="en-US" sz="1300" kern="1200" dirty="0">
              <a:solidFill>
                <a:schemeClr val="bg1"/>
              </a:solidFill>
            </a:rPr>
            <a:t>各层计划的一致性</a:t>
          </a:r>
          <a:r>
            <a:rPr lang="zh-CN" sz="1300" kern="1200" dirty="0">
              <a:solidFill>
                <a:schemeClr val="bg1"/>
              </a:solidFill>
            </a:rPr>
            <a:t>协同</a:t>
          </a:r>
        </a:p>
      </dsp:txBody>
      <dsp:txXfrm>
        <a:off x="0" y="698242"/>
        <a:ext cx="5464276" cy="697646"/>
      </dsp:txXfrm>
    </dsp:sp>
    <dsp:sp modelId="{B0DB0438-BDC2-4065-A7D5-AF3B487A70C9}">
      <dsp:nvSpPr>
        <dsp:cNvPr id="0" name=""/>
        <dsp:cNvSpPr/>
      </dsp:nvSpPr>
      <dsp:spPr>
        <a:xfrm>
          <a:off x="0" y="1395889"/>
          <a:ext cx="5464276"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1B663F2-5708-4D14-B93D-958B6D045045}">
      <dsp:nvSpPr>
        <dsp:cNvPr id="0" name=""/>
        <dsp:cNvSpPr/>
      </dsp:nvSpPr>
      <dsp:spPr>
        <a:xfrm>
          <a:off x="0" y="1395889"/>
          <a:ext cx="5464276" cy="6976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altLang="en-US" sz="1300" b="1" kern="1200" dirty="0">
              <a:solidFill>
                <a:schemeClr val="bg1"/>
              </a:solidFill>
            </a:rPr>
            <a:t>决策</a:t>
          </a:r>
          <a:r>
            <a:rPr lang="zh-CN" sz="1300" b="1" kern="1200" dirty="0">
              <a:solidFill>
                <a:schemeClr val="bg1"/>
              </a:solidFill>
            </a:rPr>
            <a:t>自动</a:t>
          </a:r>
          <a:r>
            <a:rPr lang="zh-CN" altLang="en-US" sz="1300" b="1" kern="1200" dirty="0">
              <a:solidFill>
                <a:schemeClr val="bg1"/>
              </a:solidFill>
            </a:rPr>
            <a:t>化程度</a:t>
          </a:r>
          <a:r>
            <a:rPr lang="zh-CN" sz="1300" b="1" kern="1200" dirty="0">
              <a:solidFill>
                <a:schemeClr val="bg1"/>
              </a:solidFill>
            </a:rPr>
            <a:t> </a:t>
          </a:r>
          <a:r>
            <a:rPr lang="en-US" sz="1300" kern="1200" dirty="0">
              <a:solidFill>
                <a:schemeClr val="bg1"/>
              </a:solidFill>
            </a:rPr>
            <a:t>– </a:t>
          </a:r>
          <a:r>
            <a:rPr lang="zh-CN" altLang="en-US" sz="1300" kern="1200" dirty="0">
              <a:solidFill>
                <a:schemeClr val="bg1"/>
              </a:solidFill>
            </a:rPr>
            <a:t>数据的可视性，决策的方法和决策的结果的自动化程度</a:t>
          </a:r>
          <a:endParaRPr lang="en-US" altLang="zh-CN" sz="1300" kern="1200" dirty="0">
            <a:solidFill>
              <a:schemeClr val="bg1"/>
            </a:solidFill>
          </a:endParaRPr>
        </a:p>
        <a:p>
          <a:pPr marL="0" lvl="0" indent="0" algn="l" defTabSz="577850">
            <a:lnSpc>
              <a:spcPct val="90000"/>
            </a:lnSpc>
            <a:spcBef>
              <a:spcPct val="0"/>
            </a:spcBef>
            <a:spcAft>
              <a:spcPct val="35000"/>
            </a:spcAft>
            <a:buNone/>
          </a:pPr>
          <a:endParaRPr lang="zh-CN" sz="1300" kern="1200" dirty="0">
            <a:solidFill>
              <a:schemeClr val="bg1"/>
            </a:solidFill>
          </a:endParaRPr>
        </a:p>
      </dsp:txBody>
      <dsp:txXfrm>
        <a:off x="0" y="1395889"/>
        <a:ext cx="5464276" cy="697646"/>
      </dsp:txXfrm>
    </dsp:sp>
    <dsp:sp modelId="{DED42BA7-B530-467C-BE15-AA38EE679AF3}">
      <dsp:nvSpPr>
        <dsp:cNvPr id="0" name=""/>
        <dsp:cNvSpPr/>
      </dsp:nvSpPr>
      <dsp:spPr>
        <a:xfrm>
          <a:off x="0" y="2093535"/>
          <a:ext cx="5464276"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31843C2-EE6E-4CC5-8490-7C2749A7B769}">
      <dsp:nvSpPr>
        <dsp:cNvPr id="0" name=""/>
        <dsp:cNvSpPr/>
      </dsp:nvSpPr>
      <dsp:spPr>
        <a:xfrm>
          <a:off x="0" y="2093535"/>
          <a:ext cx="5464276" cy="6976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altLang="en-US" sz="1300" b="1" kern="1200" dirty="0">
              <a:solidFill>
                <a:schemeClr val="bg1"/>
              </a:solidFill>
            </a:rPr>
            <a:t>混合决策类型</a:t>
          </a:r>
          <a:r>
            <a:rPr lang="zh-CN" sz="1300" b="1" kern="1200" dirty="0">
              <a:solidFill>
                <a:schemeClr val="bg1"/>
              </a:solidFill>
            </a:rPr>
            <a:t> </a:t>
          </a:r>
          <a:r>
            <a:rPr lang="en-US" sz="1300" kern="1200" dirty="0">
              <a:solidFill>
                <a:schemeClr val="bg1"/>
              </a:solidFill>
            </a:rPr>
            <a:t>– </a:t>
          </a:r>
          <a:r>
            <a:rPr lang="zh-CN" altLang="en-US" sz="1300" kern="1200" dirty="0">
              <a:solidFill>
                <a:schemeClr val="bg1"/>
              </a:solidFill>
            </a:rPr>
            <a:t>从混乱又简单的决策向最佳实践的</a:t>
          </a:r>
          <a:r>
            <a:rPr lang="en-US" altLang="zh-CN" sz="1300" kern="1200" dirty="0">
              <a:solidFill>
                <a:schemeClr val="bg1"/>
              </a:solidFill>
            </a:rPr>
            <a:t>E2E</a:t>
          </a:r>
          <a:r>
            <a:rPr lang="zh-CN" altLang="en-US" sz="1300" kern="1200" dirty="0">
              <a:solidFill>
                <a:schemeClr val="bg1"/>
              </a:solidFill>
            </a:rPr>
            <a:t>决策，所有相关人都知道其因果关系</a:t>
          </a:r>
          <a:r>
            <a:rPr lang="en-US" altLang="zh-CN" sz="1300" kern="1200" dirty="0">
              <a:solidFill>
                <a:schemeClr val="bg1"/>
              </a:solidFill>
            </a:rPr>
            <a:t>.</a:t>
          </a:r>
          <a:r>
            <a:rPr lang="en-US" sz="1300" kern="1200" dirty="0">
              <a:solidFill>
                <a:schemeClr val="bg1"/>
              </a:solidFill>
            </a:rPr>
            <a:t> </a:t>
          </a:r>
          <a:endParaRPr lang="zh-CN" sz="1300" kern="1200" dirty="0">
            <a:solidFill>
              <a:schemeClr val="bg1"/>
            </a:solidFill>
          </a:endParaRPr>
        </a:p>
      </dsp:txBody>
      <dsp:txXfrm>
        <a:off x="0" y="2093535"/>
        <a:ext cx="5464276" cy="697646"/>
      </dsp:txXfrm>
    </dsp:sp>
    <dsp:sp modelId="{6D12EB34-3322-4202-9662-34527A0F7C44}">
      <dsp:nvSpPr>
        <dsp:cNvPr id="0" name=""/>
        <dsp:cNvSpPr/>
      </dsp:nvSpPr>
      <dsp:spPr>
        <a:xfrm>
          <a:off x="0" y="2791182"/>
          <a:ext cx="5464276"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C9E68D6-CC6E-4065-9997-E7A34167804C}">
      <dsp:nvSpPr>
        <dsp:cNvPr id="0" name=""/>
        <dsp:cNvSpPr/>
      </dsp:nvSpPr>
      <dsp:spPr>
        <a:xfrm>
          <a:off x="0" y="2791182"/>
          <a:ext cx="5464276" cy="6976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altLang="en-US" sz="1300" b="1" kern="1200" dirty="0">
              <a:solidFill>
                <a:schemeClr val="bg1"/>
              </a:solidFill>
            </a:rPr>
            <a:t>响应性</a:t>
          </a:r>
          <a:r>
            <a:rPr lang="zh-CN" sz="1300" b="1" kern="1200" dirty="0">
              <a:solidFill>
                <a:schemeClr val="bg1"/>
              </a:solidFill>
            </a:rPr>
            <a:t> </a:t>
          </a:r>
          <a:r>
            <a:rPr lang="en-US" sz="1300" kern="1200" dirty="0">
              <a:solidFill>
                <a:schemeClr val="bg1"/>
              </a:solidFill>
            </a:rPr>
            <a:t>– </a:t>
          </a:r>
          <a:r>
            <a:rPr lang="zh-CN" altLang="en-US" sz="1300" kern="1200" dirty="0">
              <a:solidFill>
                <a:schemeClr val="bg1"/>
              </a:solidFill>
            </a:rPr>
            <a:t>收集数据，决策方法和做决策的速度，追求近实时</a:t>
          </a:r>
          <a:endParaRPr lang="zh-CN" sz="1300" kern="1200" dirty="0">
            <a:solidFill>
              <a:schemeClr val="bg1"/>
            </a:solidFill>
          </a:endParaRPr>
        </a:p>
      </dsp:txBody>
      <dsp:txXfrm>
        <a:off x="0" y="2791182"/>
        <a:ext cx="5464276" cy="697646"/>
      </dsp:txXfrm>
    </dsp:sp>
    <dsp:sp modelId="{01F9AEE5-F5DD-49F5-8A22-EC584439D955}">
      <dsp:nvSpPr>
        <dsp:cNvPr id="0" name=""/>
        <dsp:cNvSpPr/>
      </dsp:nvSpPr>
      <dsp:spPr>
        <a:xfrm>
          <a:off x="0" y="3488828"/>
          <a:ext cx="5464276"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4D8068B-ACC4-4BFB-8007-056B5F5B7906}">
      <dsp:nvSpPr>
        <dsp:cNvPr id="0" name=""/>
        <dsp:cNvSpPr/>
      </dsp:nvSpPr>
      <dsp:spPr>
        <a:xfrm>
          <a:off x="0" y="3488828"/>
          <a:ext cx="5464276" cy="6976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sz="1300" b="1" kern="1200" dirty="0">
              <a:solidFill>
                <a:schemeClr val="bg1"/>
              </a:solidFill>
            </a:rPr>
            <a:t>决策数据颗粒度 </a:t>
          </a:r>
          <a:r>
            <a:rPr lang="en-US" sz="1300" kern="1200" dirty="0">
              <a:solidFill>
                <a:schemeClr val="bg1"/>
              </a:solidFill>
            </a:rPr>
            <a:t>– </a:t>
          </a:r>
          <a:r>
            <a:rPr lang="zh-CN" altLang="en-US" sz="1300" kern="1200" dirty="0">
              <a:solidFill>
                <a:schemeClr val="bg1"/>
              </a:solidFill>
            </a:rPr>
            <a:t>对齐</a:t>
          </a:r>
          <a:r>
            <a:rPr lang="zh-CN" sz="1300" kern="1200" dirty="0">
              <a:solidFill>
                <a:schemeClr val="bg1"/>
              </a:solidFill>
            </a:rPr>
            <a:t>数据刻度</a:t>
          </a:r>
          <a:r>
            <a:rPr lang="zh-CN" altLang="en-US" sz="1300" kern="1200" dirty="0">
              <a:solidFill>
                <a:schemeClr val="bg1"/>
              </a:solidFill>
            </a:rPr>
            <a:t>，并且越细越好</a:t>
          </a:r>
          <a:endParaRPr lang="zh-CN" sz="1300" kern="1200" dirty="0">
            <a:solidFill>
              <a:schemeClr val="bg1"/>
            </a:solidFill>
          </a:endParaRPr>
        </a:p>
      </dsp:txBody>
      <dsp:txXfrm>
        <a:off x="0" y="3488828"/>
        <a:ext cx="5464276" cy="697646"/>
      </dsp:txXfrm>
    </dsp:sp>
    <dsp:sp modelId="{CA4DFF90-785B-4CA6-9800-13EA396418B0}">
      <dsp:nvSpPr>
        <dsp:cNvPr id="0" name=""/>
        <dsp:cNvSpPr/>
      </dsp:nvSpPr>
      <dsp:spPr>
        <a:xfrm>
          <a:off x="0" y="4186475"/>
          <a:ext cx="5464276"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8292A59-068E-4FDF-8BD8-A656379CECC9}">
      <dsp:nvSpPr>
        <dsp:cNvPr id="0" name=""/>
        <dsp:cNvSpPr/>
      </dsp:nvSpPr>
      <dsp:spPr>
        <a:xfrm>
          <a:off x="0" y="4186475"/>
          <a:ext cx="5464276" cy="6976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9530" tIns="49530" rIns="49530" bIns="49530" numCol="1" spcCol="1270" anchor="t" anchorCtr="0">
          <a:noAutofit/>
        </a:bodyPr>
        <a:lstStyle/>
        <a:p>
          <a:pPr marL="0" lvl="0" indent="0" algn="l" defTabSz="577850">
            <a:lnSpc>
              <a:spcPct val="90000"/>
            </a:lnSpc>
            <a:spcBef>
              <a:spcPct val="0"/>
            </a:spcBef>
            <a:spcAft>
              <a:spcPct val="35000"/>
            </a:spcAft>
            <a:buNone/>
          </a:pPr>
          <a:r>
            <a:rPr lang="zh-CN" sz="1300" b="1" kern="1200" dirty="0">
              <a:solidFill>
                <a:schemeClr val="bg1"/>
              </a:solidFill>
            </a:rPr>
            <a:t>多</a:t>
          </a:r>
          <a:r>
            <a:rPr lang="zh-CN" altLang="en-US" sz="1300" b="1" kern="1200" dirty="0">
              <a:solidFill>
                <a:schemeClr val="bg1"/>
              </a:solidFill>
            </a:rPr>
            <a:t>模态规划</a:t>
          </a:r>
          <a:r>
            <a:rPr lang="zh-CN" sz="1300" b="1" kern="1200" dirty="0">
              <a:solidFill>
                <a:schemeClr val="bg1"/>
              </a:solidFill>
            </a:rPr>
            <a:t> </a:t>
          </a:r>
          <a:r>
            <a:rPr lang="en-US" sz="1300" kern="1200" dirty="0">
              <a:solidFill>
                <a:schemeClr val="bg1"/>
              </a:solidFill>
            </a:rPr>
            <a:t>– Plan A …Plan B …</a:t>
          </a:r>
          <a:r>
            <a:rPr lang="zh-CN" altLang="en-US" sz="1300" kern="1200" dirty="0">
              <a:solidFill>
                <a:schemeClr val="bg1"/>
              </a:solidFill>
            </a:rPr>
            <a:t>即</a:t>
          </a:r>
          <a:r>
            <a:rPr lang="en-US" altLang="zh-CN" sz="1300" kern="1200" dirty="0">
              <a:solidFill>
                <a:schemeClr val="bg1"/>
              </a:solidFill>
            </a:rPr>
            <a:t>What-if, Best Fit</a:t>
          </a:r>
          <a:r>
            <a:rPr lang="zh-CN" altLang="en-US" sz="1300" kern="1200" dirty="0">
              <a:solidFill>
                <a:schemeClr val="bg1"/>
              </a:solidFill>
            </a:rPr>
            <a:t>。</a:t>
          </a:r>
          <a:r>
            <a:rPr lang="en-US" sz="1300" kern="1200" dirty="0">
              <a:solidFill>
                <a:schemeClr val="bg1"/>
              </a:solidFill>
            </a:rPr>
            <a:t> </a:t>
          </a:r>
          <a:endParaRPr lang="zh-CN" sz="1300" kern="1200" dirty="0">
            <a:solidFill>
              <a:schemeClr val="bg1"/>
            </a:solidFill>
          </a:endParaRPr>
        </a:p>
      </dsp:txBody>
      <dsp:txXfrm>
        <a:off x="0" y="4186475"/>
        <a:ext cx="5464276" cy="697646"/>
      </dsp:txXfrm>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A766D9B-285E-4FED-907A-1DE751E12E64}">
      <dsp:nvSpPr>
        <dsp:cNvPr id="0" name=""/>
        <dsp:cNvSpPr/>
      </dsp:nvSpPr>
      <dsp:spPr>
        <a:xfrm>
          <a:off x="-6" y="-156833"/>
          <a:ext cx="8457971" cy="2408855"/>
        </a:xfrm>
        <a:prstGeom prst="swooshArrow">
          <a:avLst>
            <a:gd name="adj1" fmla="val 25000"/>
            <a:gd name="adj2" fmla="val 25000"/>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9DA3A28-7C2C-46F9-8DF3-BF9B73F877A3}">
      <dsp:nvSpPr>
        <dsp:cNvPr id="0" name=""/>
        <dsp:cNvSpPr/>
      </dsp:nvSpPr>
      <dsp:spPr>
        <a:xfrm>
          <a:off x="956141" y="1577663"/>
          <a:ext cx="100208" cy="100208"/>
        </a:xfrm>
        <a:prstGeom prst="ellipse">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FA0D39E-E2AA-48BF-B4B2-D646DE0FC19E}">
      <dsp:nvSpPr>
        <dsp:cNvPr id="0" name=""/>
        <dsp:cNvSpPr/>
      </dsp:nvSpPr>
      <dsp:spPr>
        <a:xfrm>
          <a:off x="707605" y="1712695"/>
          <a:ext cx="2118225" cy="6961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53098" tIns="0" rIns="0" bIns="0" numCol="1" spcCol="1270" anchor="t" anchorCtr="0">
          <a:noAutofit/>
        </a:bodyPr>
        <a:lstStyle/>
        <a:p>
          <a:pPr marL="0" lvl="0" indent="0" algn="l" defTabSz="889000">
            <a:lnSpc>
              <a:spcPct val="90000"/>
            </a:lnSpc>
            <a:spcBef>
              <a:spcPct val="0"/>
            </a:spcBef>
            <a:spcAft>
              <a:spcPct val="35000"/>
            </a:spcAft>
            <a:buNone/>
          </a:pPr>
          <a:r>
            <a:rPr lang="zh-CN" altLang="en-US" sz="2000" b="1" kern="1200">
              <a:latin typeface="Arial"/>
              <a:ea typeface="微软雅黑"/>
              <a:cs typeface="+mn-cs"/>
            </a:rPr>
            <a:t>模拟</a:t>
          </a:r>
          <a:r>
            <a:rPr lang="en-US" altLang="zh-CN" sz="2000" b="1" kern="1200">
              <a:latin typeface="Arial"/>
              <a:ea typeface="微软雅黑"/>
              <a:cs typeface="+mn-cs"/>
            </a:rPr>
            <a:t>Planning</a:t>
          </a:r>
          <a:endParaRPr lang="zh-CN" altLang="en-US" sz="2000" b="1" kern="1200" dirty="0">
            <a:latin typeface="Arial"/>
            <a:ea typeface="微软雅黑"/>
            <a:cs typeface="+mn-cs"/>
          </a:endParaRPr>
        </a:p>
        <a:p>
          <a:pPr marL="114300" lvl="1" indent="-114300" algn="l" defTabSz="533400">
            <a:lnSpc>
              <a:spcPct val="90000"/>
            </a:lnSpc>
            <a:spcBef>
              <a:spcPct val="0"/>
            </a:spcBef>
            <a:spcAft>
              <a:spcPct val="15000"/>
            </a:spcAft>
            <a:buChar char="•"/>
          </a:pPr>
          <a:r>
            <a:rPr lang="zh-CN" altLang="en-US" sz="1200" b="1" kern="1200">
              <a:latin typeface="Arial"/>
              <a:ea typeface="微软雅黑"/>
              <a:cs typeface="+mn-cs"/>
            </a:rPr>
            <a:t>手工程度高</a:t>
          </a:r>
          <a:endParaRPr lang="zh-CN" altLang="en-US" sz="1200" b="1" kern="1200" dirty="0">
            <a:latin typeface="Arial"/>
            <a:ea typeface="微软雅黑"/>
            <a:cs typeface="+mn-cs"/>
          </a:endParaRPr>
        </a:p>
      </dsp:txBody>
      <dsp:txXfrm>
        <a:off x="707605" y="1712695"/>
        <a:ext cx="2118225" cy="696159"/>
      </dsp:txXfrm>
    </dsp:sp>
    <dsp:sp modelId="{F45DD9D2-E838-4E7D-A963-F32B2C83FE25}">
      <dsp:nvSpPr>
        <dsp:cNvPr id="0" name=""/>
        <dsp:cNvSpPr/>
      </dsp:nvSpPr>
      <dsp:spPr>
        <a:xfrm>
          <a:off x="3128482" y="768870"/>
          <a:ext cx="181145" cy="181145"/>
        </a:xfrm>
        <a:prstGeom prst="ellipse">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78293D8-B9DC-4512-8CE5-A93D6E995346}">
      <dsp:nvSpPr>
        <dsp:cNvPr id="0" name=""/>
        <dsp:cNvSpPr/>
      </dsp:nvSpPr>
      <dsp:spPr>
        <a:xfrm>
          <a:off x="3340983" y="627935"/>
          <a:ext cx="2295897" cy="19377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53098" tIns="0" rIns="0" bIns="0" numCol="1" spcCol="1270" anchor="t" anchorCtr="0">
          <a:noAutofit/>
        </a:bodyPr>
        <a:lstStyle/>
        <a:p>
          <a:pPr marL="0" lvl="0" indent="0" algn="l" defTabSz="889000">
            <a:lnSpc>
              <a:spcPct val="90000"/>
            </a:lnSpc>
            <a:spcBef>
              <a:spcPct val="0"/>
            </a:spcBef>
            <a:spcAft>
              <a:spcPct val="35000"/>
            </a:spcAft>
            <a:buNone/>
          </a:pPr>
          <a:r>
            <a:rPr lang="en-US" altLang="zh-CN" sz="2400" b="1" kern="1200">
              <a:latin typeface="Calibri"/>
              <a:ea typeface="宋体" panose="02010600030101010101" pitchFamily="2" charset="-122"/>
              <a:cs typeface="+mn-cs"/>
            </a:rPr>
            <a:t>IPC</a:t>
          </a:r>
          <a:r>
            <a:rPr lang="zh-CN" altLang="en-US" sz="2400" b="1" kern="1200">
              <a:latin typeface="Calibri"/>
              <a:ea typeface="宋体" panose="02010600030101010101" pitchFamily="2" charset="-122"/>
              <a:cs typeface="+mn-cs"/>
            </a:rPr>
            <a:t>优化</a:t>
          </a:r>
          <a:endParaRPr lang="zh-CN" altLang="en-US" sz="2400" b="1" kern="1200" dirty="0">
            <a:latin typeface="Calibri"/>
            <a:ea typeface="宋体" panose="02010600030101010101" pitchFamily="2" charset="-122"/>
            <a:cs typeface="+mn-cs"/>
          </a:endParaRPr>
        </a:p>
        <a:p>
          <a:pPr marL="114300" lvl="1" indent="0" algn="l" defTabSz="533400">
            <a:lnSpc>
              <a:spcPct val="90000"/>
            </a:lnSpc>
            <a:spcBef>
              <a:spcPct val="0"/>
            </a:spcBef>
            <a:spcAft>
              <a:spcPct val="15000"/>
            </a:spcAft>
            <a:buChar char="•"/>
          </a:pPr>
          <a:r>
            <a:rPr lang="zh-CN" altLang="en-US" sz="1200" b="0" kern="1200">
              <a:latin typeface="微软雅黑"/>
              <a:ea typeface="微软雅黑"/>
              <a:cs typeface="+mn-cs"/>
            </a:rPr>
            <a:t>始于阶段</a:t>
          </a:r>
          <a:r>
            <a:rPr lang="en-US" altLang="zh-CN" sz="1200" b="0" kern="1200">
              <a:latin typeface="微软雅黑"/>
              <a:ea typeface="微软雅黑"/>
              <a:cs typeface="+mn-cs"/>
            </a:rPr>
            <a:t>2</a:t>
          </a:r>
          <a:r>
            <a:rPr lang="zh-CN" altLang="en-US" sz="1200" b="0" kern="1200">
              <a:latin typeface="微软雅黑"/>
              <a:ea typeface="微软雅黑"/>
              <a:cs typeface="+mn-cs"/>
            </a:rPr>
            <a:t>末期</a:t>
          </a:r>
          <a:endParaRPr lang="zh-CN" altLang="en-US" sz="1200" b="0" kern="1200" dirty="0">
            <a:latin typeface="微软雅黑"/>
            <a:ea typeface="微软雅黑"/>
            <a:cs typeface="+mn-cs"/>
          </a:endParaRPr>
        </a:p>
        <a:p>
          <a:pPr marL="114300" lvl="1" indent="0" algn="l" defTabSz="533400">
            <a:lnSpc>
              <a:spcPct val="90000"/>
            </a:lnSpc>
            <a:spcBef>
              <a:spcPct val="0"/>
            </a:spcBef>
            <a:spcAft>
              <a:spcPct val="15000"/>
            </a:spcAft>
            <a:buChar char="•"/>
          </a:pPr>
          <a:r>
            <a:rPr lang="zh-CN" altLang="en-US" sz="1200" b="0" kern="1200">
              <a:latin typeface="微软雅黑"/>
              <a:ea typeface="微软雅黑"/>
              <a:cs typeface="+mn-cs"/>
            </a:rPr>
            <a:t>利用数字化技术逐步</a:t>
          </a:r>
          <a:r>
            <a:rPr lang="zh-CN" altLang="en-US" sz="1200" b="1" kern="1200">
              <a:latin typeface="微软雅黑"/>
              <a:ea typeface="微软雅黑"/>
              <a:cs typeface="+mn-cs"/>
            </a:rPr>
            <a:t>实现各层各段自动化</a:t>
          </a:r>
          <a:endParaRPr lang="zh-CN" altLang="en-US" sz="1200" b="1" kern="1200" dirty="0">
            <a:latin typeface="微软雅黑"/>
            <a:ea typeface="微软雅黑"/>
            <a:cs typeface="+mn-cs"/>
          </a:endParaRPr>
        </a:p>
        <a:p>
          <a:pPr marL="114300" lvl="1" indent="0" algn="l" defTabSz="533400">
            <a:lnSpc>
              <a:spcPct val="90000"/>
            </a:lnSpc>
            <a:spcBef>
              <a:spcPct val="0"/>
            </a:spcBef>
            <a:spcAft>
              <a:spcPct val="15000"/>
            </a:spcAft>
            <a:buChar char="•"/>
          </a:pPr>
          <a:r>
            <a:rPr lang="zh-CN" altLang="en-US" sz="1200" b="1" kern="1200">
              <a:latin typeface="微软雅黑"/>
              <a:ea typeface="微软雅黑"/>
              <a:cs typeface="+mn-cs"/>
            </a:rPr>
            <a:t>改变计划方式提高质量</a:t>
          </a:r>
          <a:endParaRPr lang="zh-CN" altLang="en-US" sz="1200" b="1" kern="1200" dirty="0">
            <a:latin typeface="微软雅黑"/>
            <a:ea typeface="微软雅黑"/>
            <a:cs typeface="+mn-cs"/>
          </a:endParaRPr>
        </a:p>
      </dsp:txBody>
      <dsp:txXfrm>
        <a:off x="3340983" y="627935"/>
        <a:ext cx="2295897" cy="1937753"/>
      </dsp:txXfrm>
    </dsp:sp>
    <dsp:sp modelId="{F780E1C7-A0A9-4FF0-9967-E6F39574CB0D}">
      <dsp:nvSpPr>
        <dsp:cNvPr id="0" name=""/>
        <dsp:cNvSpPr/>
      </dsp:nvSpPr>
      <dsp:spPr>
        <a:xfrm>
          <a:off x="5437963" y="370230"/>
          <a:ext cx="250520" cy="250520"/>
        </a:xfrm>
        <a:prstGeom prst="ellipse">
          <a:avLst/>
        </a:prstGeom>
        <a:solidFill>
          <a:schemeClr val="lt1">
            <a:hueOff val="0"/>
            <a:satOff val="0"/>
            <a:lumOff val="0"/>
            <a:alphaOff val="0"/>
          </a:schemeClr>
        </a:solidFill>
        <a:ln w="12700" cap="flat" cmpd="sng" algn="ctr">
          <a:solidFill>
            <a:schemeClr val="accen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AA18DA83-DAE5-40FC-8F23-D526AC8A93B9}">
      <dsp:nvSpPr>
        <dsp:cNvPr id="0" name=""/>
        <dsp:cNvSpPr/>
      </dsp:nvSpPr>
      <dsp:spPr>
        <a:xfrm>
          <a:off x="5699930" y="198034"/>
          <a:ext cx="2758027" cy="167415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2746" tIns="0" rIns="0" bIns="0" numCol="1" spcCol="1270" anchor="t" anchorCtr="0">
          <a:noAutofit/>
        </a:bodyPr>
        <a:lstStyle/>
        <a:p>
          <a:pPr marL="0" lvl="0" indent="0" algn="l" defTabSz="889000">
            <a:lnSpc>
              <a:spcPct val="90000"/>
            </a:lnSpc>
            <a:spcBef>
              <a:spcPct val="0"/>
            </a:spcBef>
            <a:spcAft>
              <a:spcPct val="35000"/>
            </a:spcAft>
            <a:buNone/>
          </a:pPr>
          <a:r>
            <a:rPr lang="en-US" altLang="zh-CN" sz="2000" b="1" kern="1200" dirty="0">
              <a:latin typeface="Arial"/>
              <a:ea typeface="微软雅黑"/>
              <a:cs typeface="+mn-cs"/>
            </a:rPr>
            <a:t>IPC</a:t>
          </a:r>
          <a:r>
            <a:rPr lang="zh-CN" altLang="en-US" sz="2000" b="1" kern="1200" dirty="0">
              <a:latin typeface="Arial"/>
              <a:ea typeface="微软雅黑"/>
              <a:cs typeface="+mn-cs"/>
            </a:rPr>
            <a:t>转型</a:t>
          </a:r>
        </a:p>
        <a:p>
          <a:pPr marL="114300" lvl="1" indent="-114300" algn="l" defTabSz="533400">
            <a:lnSpc>
              <a:spcPct val="90000"/>
            </a:lnSpc>
            <a:spcBef>
              <a:spcPct val="0"/>
            </a:spcBef>
            <a:spcAft>
              <a:spcPct val="15000"/>
            </a:spcAft>
            <a:buChar char="•"/>
          </a:pPr>
          <a:endParaRPr lang="zh-CN" altLang="en-US" sz="1200" b="1" kern="1200" dirty="0">
            <a:solidFill>
              <a:schemeClr val="tx1"/>
            </a:solidFill>
            <a:latin typeface="Arial"/>
            <a:ea typeface="微软雅黑"/>
            <a:cs typeface="+mn-cs"/>
          </a:endParaRPr>
        </a:p>
        <a:p>
          <a:pPr marL="114300" lvl="1" indent="-114300" algn="l" defTabSz="533400">
            <a:lnSpc>
              <a:spcPct val="90000"/>
            </a:lnSpc>
            <a:spcBef>
              <a:spcPct val="0"/>
            </a:spcBef>
            <a:spcAft>
              <a:spcPct val="15000"/>
            </a:spcAft>
            <a:buChar char="•"/>
          </a:pPr>
          <a:r>
            <a:rPr lang="zh-CN" altLang="en-US" sz="1200" b="1" kern="1200">
              <a:latin typeface="Arial"/>
              <a:ea typeface="微软雅黑"/>
              <a:cs typeface="+mn-cs"/>
            </a:rPr>
            <a:t>横纵协奏</a:t>
          </a:r>
          <a:endParaRPr lang="zh-CN" altLang="en-US" sz="1200" b="1" kern="1200" dirty="0">
            <a:latin typeface="Arial"/>
            <a:ea typeface="微软雅黑"/>
            <a:cs typeface="+mn-cs"/>
          </a:endParaRPr>
        </a:p>
        <a:p>
          <a:pPr marL="114300" lvl="1" indent="-114300" algn="l" defTabSz="533400">
            <a:lnSpc>
              <a:spcPct val="90000"/>
            </a:lnSpc>
            <a:spcBef>
              <a:spcPct val="0"/>
            </a:spcBef>
            <a:spcAft>
              <a:spcPct val="15000"/>
            </a:spcAft>
            <a:buChar char="•"/>
          </a:pPr>
          <a:r>
            <a:rPr lang="zh-CN" altLang="en-US" sz="1200" b="0" kern="1200">
              <a:latin typeface="Arial"/>
              <a:ea typeface="微软雅黑"/>
              <a:cs typeface="+mn-cs"/>
            </a:rPr>
            <a:t>计划方式</a:t>
          </a:r>
          <a:r>
            <a:rPr lang="zh-CN" altLang="en-US" sz="1200" b="1" kern="1200">
              <a:latin typeface="Arial"/>
              <a:ea typeface="微软雅黑"/>
              <a:cs typeface="+mn-cs"/>
            </a:rPr>
            <a:t>创新式改变，显著提高计划质量</a:t>
          </a:r>
          <a:endParaRPr lang="zh-CN" altLang="en-US" sz="1200" b="1" kern="1200" dirty="0">
            <a:latin typeface="Arial"/>
            <a:ea typeface="微软雅黑"/>
            <a:cs typeface="+mn-cs"/>
          </a:endParaRPr>
        </a:p>
        <a:p>
          <a:pPr marL="114300" lvl="1" indent="-114300" algn="l" defTabSz="533400">
            <a:lnSpc>
              <a:spcPct val="90000"/>
            </a:lnSpc>
            <a:spcBef>
              <a:spcPct val="0"/>
            </a:spcBef>
            <a:spcAft>
              <a:spcPct val="15000"/>
            </a:spcAft>
            <a:buChar char="•"/>
          </a:pPr>
          <a:r>
            <a:rPr lang="en-US" altLang="zh-CN" sz="1200" b="1" kern="1200" dirty="0">
              <a:latin typeface="Arial"/>
              <a:ea typeface="微软雅黑"/>
              <a:cs typeface="+mn-cs"/>
            </a:rPr>
            <a:t>95%+</a:t>
          </a:r>
          <a:r>
            <a:rPr lang="zh-CN" altLang="en-US" sz="1200" b="1" kern="1200" dirty="0">
              <a:latin typeface="Arial"/>
              <a:ea typeface="微软雅黑"/>
              <a:cs typeface="+mn-cs"/>
            </a:rPr>
            <a:t>自动化</a:t>
          </a:r>
        </a:p>
      </dsp:txBody>
      <dsp:txXfrm>
        <a:off x="5699930" y="198034"/>
        <a:ext cx="2758027" cy="1674154"/>
      </dsp:txXfrm>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3D9363C-27C5-4F06-9926-95BB477A85A7}">
      <dsp:nvSpPr>
        <dsp:cNvPr id="0" name=""/>
        <dsp:cNvSpPr/>
      </dsp:nvSpPr>
      <dsp:spPr>
        <a:xfrm>
          <a:off x="0" y="422"/>
          <a:ext cx="4082611" cy="0"/>
        </a:xfrm>
        <a:prstGeom prst="line">
          <a:avLst/>
        </a:prstGeom>
        <a:solidFill>
          <a:srgbClr val="093091">
            <a:hueOff val="0"/>
            <a:satOff val="0"/>
            <a:lumOff val="0"/>
            <a:alphaOff val="0"/>
          </a:srgbClr>
        </a:solidFill>
        <a:ln w="12700" cap="flat" cmpd="sng" algn="ctr">
          <a:solidFill>
            <a:srgbClr val="093091">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B7C9910-F238-4A5B-8037-91E02C36563F}">
      <dsp:nvSpPr>
        <dsp:cNvPr id="0" name=""/>
        <dsp:cNvSpPr/>
      </dsp:nvSpPr>
      <dsp:spPr>
        <a:xfrm>
          <a:off x="0" y="422"/>
          <a:ext cx="4082611" cy="28824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t" anchorCtr="0">
          <a:noAutofit/>
        </a:bodyPr>
        <a:lstStyle/>
        <a:p>
          <a:pPr marL="0" lvl="0" indent="0" algn="l" defTabSz="444500">
            <a:lnSpc>
              <a:spcPct val="90000"/>
            </a:lnSpc>
            <a:spcBef>
              <a:spcPct val="0"/>
            </a:spcBef>
            <a:spcAft>
              <a:spcPct val="35000"/>
            </a:spcAft>
            <a:buNone/>
          </a:pPr>
          <a:r>
            <a:rPr lang="en-US" sz="1000" b="1" kern="1200" dirty="0">
              <a:solidFill>
                <a:schemeClr val="bg1"/>
              </a:solidFill>
              <a:latin typeface="Arial"/>
              <a:ea typeface="微软雅黑"/>
              <a:cs typeface="+mn-cs"/>
            </a:rPr>
            <a:t>P1,P2,P3</a:t>
          </a:r>
          <a:r>
            <a:rPr lang="zh-CN" altLang="en-US" sz="1000" b="1" kern="1200" dirty="0">
              <a:solidFill>
                <a:schemeClr val="bg1"/>
              </a:solidFill>
              <a:latin typeface="Arial"/>
              <a:ea typeface="微软雅黑"/>
              <a:cs typeface="+mn-cs"/>
            </a:rPr>
            <a:t> 为优先级由高到低排序</a:t>
          </a:r>
          <a:r>
            <a:rPr lang="en-US" sz="1000" b="1" kern="1200" dirty="0">
              <a:solidFill>
                <a:schemeClr val="bg1"/>
              </a:solidFill>
              <a:latin typeface="Arial"/>
              <a:ea typeface="微软雅黑"/>
              <a:cs typeface="+mn-cs"/>
            </a:rPr>
            <a:t>FG11</a:t>
          </a:r>
          <a:r>
            <a:rPr lang="zh-CN" altLang="en-US" sz="1000" b="1" kern="1200" dirty="0">
              <a:solidFill>
                <a:schemeClr val="bg1"/>
              </a:solidFill>
              <a:latin typeface="Arial"/>
              <a:ea typeface="微软雅黑"/>
              <a:cs typeface="+mn-cs"/>
            </a:rPr>
            <a:t>到</a:t>
          </a:r>
          <a:r>
            <a:rPr lang="en-US" sz="1000" b="1" kern="1200" dirty="0">
              <a:solidFill>
                <a:schemeClr val="bg1"/>
              </a:solidFill>
              <a:latin typeface="Arial"/>
              <a:ea typeface="微软雅黑"/>
              <a:cs typeface="+mn-cs"/>
            </a:rPr>
            <a:t>FG1n</a:t>
          </a:r>
          <a:r>
            <a:rPr lang="zh-CN" altLang="en-US" sz="1000" b="1" kern="1200" dirty="0">
              <a:solidFill>
                <a:schemeClr val="bg1"/>
              </a:solidFill>
              <a:latin typeface="Arial"/>
              <a:ea typeface="微软雅黑"/>
              <a:cs typeface="+mn-cs"/>
            </a:rPr>
            <a:t>的可替代原材料</a:t>
          </a:r>
          <a:endParaRPr lang="zh-CN" altLang="en-US" sz="1000" kern="1200" dirty="0">
            <a:solidFill>
              <a:schemeClr val="bg1"/>
            </a:solidFill>
            <a:latin typeface="Arial"/>
            <a:ea typeface="微软雅黑"/>
            <a:cs typeface="+mn-cs"/>
          </a:endParaRPr>
        </a:p>
      </dsp:txBody>
      <dsp:txXfrm>
        <a:off x="0" y="422"/>
        <a:ext cx="4082611" cy="288247"/>
      </dsp:txXfrm>
    </dsp:sp>
    <dsp:sp modelId="{57125BE3-8BFD-4150-8807-F439B2B52AA0}">
      <dsp:nvSpPr>
        <dsp:cNvPr id="0" name=""/>
        <dsp:cNvSpPr/>
      </dsp:nvSpPr>
      <dsp:spPr>
        <a:xfrm>
          <a:off x="0" y="288669"/>
          <a:ext cx="4082611" cy="0"/>
        </a:xfrm>
        <a:prstGeom prst="line">
          <a:avLst/>
        </a:prstGeom>
        <a:solidFill>
          <a:srgbClr val="093091">
            <a:hueOff val="0"/>
            <a:satOff val="0"/>
            <a:lumOff val="0"/>
            <a:alphaOff val="0"/>
          </a:srgbClr>
        </a:solidFill>
        <a:ln w="12700" cap="flat" cmpd="sng" algn="ctr">
          <a:solidFill>
            <a:srgbClr val="093091">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FD9CB95-E1CF-4A68-887B-4BB10D1B42AA}">
      <dsp:nvSpPr>
        <dsp:cNvPr id="0" name=""/>
        <dsp:cNvSpPr/>
      </dsp:nvSpPr>
      <dsp:spPr>
        <a:xfrm>
          <a:off x="0" y="288669"/>
          <a:ext cx="4082611" cy="28824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t" anchorCtr="0">
          <a:noAutofit/>
        </a:bodyPr>
        <a:lstStyle/>
        <a:p>
          <a:pPr marL="0" lvl="0" indent="0" algn="l" defTabSz="444500">
            <a:lnSpc>
              <a:spcPct val="90000"/>
            </a:lnSpc>
            <a:spcBef>
              <a:spcPct val="0"/>
            </a:spcBef>
            <a:spcAft>
              <a:spcPct val="35000"/>
            </a:spcAft>
            <a:buNone/>
          </a:pPr>
          <a:r>
            <a:rPr lang="en-US" sz="1000" b="1" kern="1200" dirty="0">
              <a:solidFill>
                <a:schemeClr val="bg1"/>
              </a:solidFill>
              <a:latin typeface="Arial"/>
              <a:ea typeface="微软雅黑"/>
              <a:cs typeface="+mn-cs"/>
            </a:rPr>
            <a:t>P3 </a:t>
          </a:r>
          <a:r>
            <a:rPr lang="zh-CN" altLang="en-US" sz="1000" b="1" kern="1200" dirty="0">
              <a:solidFill>
                <a:schemeClr val="bg1"/>
              </a:solidFill>
              <a:latin typeface="Arial"/>
              <a:ea typeface="微软雅黑"/>
              <a:cs typeface="+mn-cs"/>
            </a:rPr>
            <a:t>为</a:t>
          </a:r>
          <a:r>
            <a:rPr lang="en-US" sz="1000" b="1" kern="1200" dirty="0">
              <a:solidFill>
                <a:schemeClr val="bg1"/>
              </a:solidFill>
              <a:latin typeface="Arial"/>
              <a:ea typeface="微软雅黑"/>
              <a:cs typeface="+mn-cs"/>
            </a:rPr>
            <a:t>FG21</a:t>
          </a:r>
          <a:r>
            <a:rPr lang="zh-CN" altLang="en-US" sz="1000" b="1" kern="1200" dirty="0">
              <a:solidFill>
                <a:schemeClr val="bg1"/>
              </a:solidFill>
              <a:latin typeface="Arial"/>
              <a:ea typeface="微软雅黑"/>
              <a:cs typeface="+mn-cs"/>
            </a:rPr>
            <a:t>到</a:t>
          </a:r>
          <a:r>
            <a:rPr lang="en-US" sz="1000" b="1" kern="1200" dirty="0">
              <a:solidFill>
                <a:schemeClr val="bg1"/>
              </a:solidFill>
              <a:latin typeface="Arial"/>
              <a:ea typeface="微软雅黑"/>
              <a:cs typeface="+mn-cs"/>
            </a:rPr>
            <a:t>FG2</a:t>
          </a:r>
          <a:r>
            <a:rPr lang="en-US" altLang="zh-CN" sz="1000" b="1" kern="1200" dirty="0">
              <a:solidFill>
                <a:schemeClr val="bg1"/>
              </a:solidFill>
              <a:latin typeface="Arial"/>
              <a:ea typeface="微软雅黑"/>
              <a:cs typeface="+mn-cs"/>
            </a:rPr>
            <a:t>m</a:t>
          </a:r>
          <a:r>
            <a:rPr lang="zh-CN" altLang="en-US" sz="1000" b="1" kern="1200" dirty="0">
              <a:solidFill>
                <a:schemeClr val="bg1"/>
              </a:solidFill>
              <a:latin typeface="Arial"/>
              <a:ea typeface="微软雅黑"/>
              <a:cs typeface="+mn-cs"/>
            </a:rPr>
            <a:t>的原材料主料</a:t>
          </a:r>
          <a:endParaRPr lang="zh-CN" altLang="en-US" sz="1000" kern="1200" dirty="0">
            <a:solidFill>
              <a:schemeClr val="bg1"/>
            </a:solidFill>
            <a:latin typeface="Arial"/>
            <a:ea typeface="微软雅黑"/>
            <a:cs typeface="+mn-cs"/>
          </a:endParaRPr>
        </a:p>
      </dsp:txBody>
      <dsp:txXfrm>
        <a:off x="0" y="288669"/>
        <a:ext cx="4082611" cy="288247"/>
      </dsp:txXfrm>
    </dsp:sp>
    <dsp:sp modelId="{0D2A5AC6-AE33-41B5-9422-275B7FF4D67A}">
      <dsp:nvSpPr>
        <dsp:cNvPr id="0" name=""/>
        <dsp:cNvSpPr/>
      </dsp:nvSpPr>
      <dsp:spPr>
        <a:xfrm>
          <a:off x="0" y="576917"/>
          <a:ext cx="4082611" cy="0"/>
        </a:xfrm>
        <a:prstGeom prst="line">
          <a:avLst/>
        </a:prstGeom>
        <a:solidFill>
          <a:srgbClr val="093091">
            <a:hueOff val="0"/>
            <a:satOff val="0"/>
            <a:lumOff val="0"/>
            <a:alphaOff val="0"/>
          </a:srgbClr>
        </a:solidFill>
        <a:ln w="12700" cap="flat" cmpd="sng" algn="ctr">
          <a:solidFill>
            <a:srgbClr val="093091">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C4592BE-28FA-4A71-A9C0-EA0D68F45276}">
      <dsp:nvSpPr>
        <dsp:cNvPr id="0" name=""/>
        <dsp:cNvSpPr/>
      </dsp:nvSpPr>
      <dsp:spPr>
        <a:xfrm>
          <a:off x="0" y="576917"/>
          <a:ext cx="4082611" cy="28824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t" anchorCtr="0">
          <a:noAutofit/>
        </a:bodyPr>
        <a:lstStyle/>
        <a:p>
          <a:pPr marL="0" lvl="0" indent="0" algn="l" defTabSz="444500">
            <a:lnSpc>
              <a:spcPct val="90000"/>
            </a:lnSpc>
            <a:spcBef>
              <a:spcPct val="0"/>
            </a:spcBef>
            <a:spcAft>
              <a:spcPct val="35000"/>
            </a:spcAft>
            <a:buNone/>
          </a:pPr>
          <a:endParaRPr lang="zh-CN" altLang="en-US" sz="1000" kern="1200" dirty="0">
            <a:solidFill>
              <a:schemeClr val="bg1"/>
            </a:solidFill>
            <a:latin typeface="Arial"/>
            <a:ea typeface="微软雅黑"/>
            <a:cs typeface="+mn-cs"/>
          </a:endParaRPr>
        </a:p>
      </dsp:txBody>
      <dsp:txXfrm>
        <a:off x="0" y="576917"/>
        <a:ext cx="4082611" cy="288247"/>
      </dsp:txXfrm>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672F4BD-A6B9-43F2-8AB2-DC2142B69C5B}">
      <dsp:nvSpPr>
        <dsp:cNvPr id="0" name=""/>
        <dsp:cNvSpPr/>
      </dsp:nvSpPr>
      <dsp:spPr>
        <a:xfrm>
          <a:off x="0" y="387088"/>
          <a:ext cx="7828143" cy="1086750"/>
        </a:xfrm>
        <a:prstGeom prst="rect">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07551" tIns="312420" rIns="607551" bIns="106680" numCol="1" spcCol="1270" anchor="t" anchorCtr="0">
          <a:noAutofit/>
        </a:bodyPr>
        <a:lstStyle/>
        <a:p>
          <a:pPr marL="114300" lvl="1" indent="-114300" algn="l" defTabSz="666750">
            <a:lnSpc>
              <a:spcPct val="90000"/>
            </a:lnSpc>
            <a:spcBef>
              <a:spcPct val="0"/>
            </a:spcBef>
            <a:spcAft>
              <a:spcPct val="15000"/>
            </a:spcAft>
            <a:buChar char="•"/>
          </a:pPr>
          <a:r>
            <a:rPr lang="en-US" sz="1500" kern="1200"/>
            <a:t>Strategy</a:t>
          </a:r>
          <a:r>
            <a:rPr lang="zh-CN" sz="1500" kern="1200"/>
            <a:t>：</a:t>
          </a:r>
          <a:r>
            <a:rPr lang="en-US" sz="1500" b="1" kern="1200"/>
            <a:t>INTELLIGENCE</a:t>
          </a:r>
          <a:r>
            <a:rPr lang="en-US" sz="1500" kern="1200"/>
            <a:t> </a:t>
          </a:r>
          <a:endParaRPr lang="zh-CN" sz="1500" kern="1200"/>
        </a:p>
        <a:p>
          <a:pPr marL="114300" lvl="1" indent="-114300" algn="l" defTabSz="666750">
            <a:lnSpc>
              <a:spcPct val="90000"/>
            </a:lnSpc>
            <a:spcBef>
              <a:spcPct val="0"/>
            </a:spcBef>
            <a:spcAft>
              <a:spcPct val="15000"/>
            </a:spcAft>
            <a:buChar char="•"/>
          </a:pPr>
          <a:r>
            <a:rPr lang="en-US" sz="1500" kern="1200"/>
            <a:t>Build a </a:t>
          </a:r>
          <a:r>
            <a:rPr lang="en-US" sz="1500" b="1" kern="1200"/>
            <a:t>Global leading </a:t>
          </a:r>
          <a:r>
            <a:rPr lang="en-US" sz="1500" kern="1200"/>
            <a:t>IPC(</a:t>
          </a:r>
          <a:r>
            <a:rPr lang="en-US" sz="1500" b="1" kern="1200"/>
            <a:t>Intelligent</a:t>
          </a:r>
          <a:r>
            <a:rPr lang="en-US" sz="1500" kern="1200"/>
            <a:t> </a:t>
          </a:r>
          <a:r>
            <a:rPr lang="en-US" sz="1500" b="1" kern="1200"/>
            <a:t>Planning</a:t>
          </a:r>
          <a:r>
            <a:rPr lang="en-US" sz="1500" kern="1200"/>
            <a:t> &amp; </a:t>
          </a:r>
          <a:r>
            <a:rPr lang="en-US" sz="1500" b="1" kern="1200"/>
            <a:t>Control</a:t>
          </a:r>
          <a:r>
            <a:rPr lang="en-US" sz="1500" kern="1200"/>
            <a:t> </a:t>
          </a:r>
          <a:r>
            <a:rPr lang="en-US" sz="1500" b="1" kern="1200"/>
            <a:t>Tower</a:t>
          </a:r>
          <a:r>
            <a:rPr lang="en-US" sz="1500" kern="1200"/>
            <a:t>) </a:t>
          </a:r>
          <a:r>
            <a:rPr lang="en-US" sz="1500" b="1" kern="1200"/>
            <a:t>platform</a:t>
          </a:r>
          <a:r>
            <a:rPr lang="en-US" sz="1500" kern="1200"/>
            <a:t> to support </a:t>
          </a:r>
          <a:r>
            <a:rPr lang="en-US" sz="1500" b="1" kern="1200"/>
            <a:t>all the business</a:t>
          </a:r>
          <a:r>
            <a:rPr lang="en-US" sz="1500" kern="1200"/>
            <a:t>.</a:t>
          </a:r>
          <a:endParaRPr lang="zh-CN" sz="1500" kern="1200"/>
        </a:p>
      </dsp:txBody>
      <dsp:txXfrm>
        <a:off x="0" y="387088"/>
        <a:ext cx="7828143" cy="1086750"/>
      </dsp:txXfrm>
    </dsp:sp>
    <dsp:sp modelId="{BDEC6C78-D07E-4CBD-ADF4-797665C95194}">
      <dsp:nvSpPr>
        <dsp:cNvPr id="0" name=""/>
        <dsp:cNvSpPr/>
      </dsp:nvSpPr>
      <dsp:spPr>
        <a:xfrm>
          <a:off x="391407" y="165688"/>
          <a:ext cx="5479700" cy="442800"/>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7120" tIns="0" rIns="207120" bIns="0" numCol="1" spcCol="1270" anchor="ctr" anchorCtr="0">
          <a:noAutofit/>
        </a:bodyPr>
        <a:lstStyle/>
        <a:p>
          <a:pPr marL="0" lvl="0" indent="0" algn="l" defTabSz="666750">
            <a:lnSpc>
              <a:spcPct val="90000"/>
            </a:lnSpc>
            <a:spcBef>
              <a:spcPct val="0"/>
            </a:spcBef>
            <a:spcAft>
              <a:spcPct val="35000"/>
            </a:spcAft>
            <a:buNone/>
          </a:pPr>
          <a:r>
            <a:rPr lang="en-US" sz="1500" b="1" kern="1200"/>
            <a:t>Background</a:t>
          </a:r>
          <a:endParaRPr lang="zh-CN" sz="1500" kern="1200"/>
        </a:p>
      </dsp:txBody>
      <dsp:txXfrm>
        <a:off x="413023" y="187304"/>
        <a:ext cx="5436468" cy="399568"/>
      </dsp:txXfrm>
    </dsp:sp>
    <dsp:sp modelId="{415FA72D-2974-4D0C-BA27-AF846787B28E}">
      <dsp:nvSpPr>
        <dsp:cNvPr id="0" name=""/>
        <dsp:cNvSpPr/>
      </dsp:nvSpPr>
      <dsp:spPr>
        <a:xfrm>
          <a:off x="0" y="1776238"/>
          <a:ext cx="7828143" cy="2031750"/>
        </a:xfrm>
        <a:prstGeom prst="rect">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07551" tIns="312420" rIns="607551" bIns="106680" numCol="1" spcCol="1270" anchor="t" anchorCtr="0">
          <a:noAutofit/>
        </a:bodyPr>
        <a:lstStyle/>
        <a:p>
          <a:pPr marL="114300" lvl="1" indent="-114300" algn="l" defTabSz="666750">
            <a:lnSpc>
              <a:spcPct val="90000"/>
            </a:lnSpc>
            <a:spcBef>
              <a:spcPct val="0"/>
            </a:spcBef>
            <a:spcAft>
              <a:spcPct val="15000"/>
            </a:spcAft>
            <a:buChar char="•"/>
          </a:pPr>
          <a:r>
            <a:rPr lang="en-US" altLang="zh-CN" sz="1500" b="1" kern="1200" dirty="0"/>
            <a:t>Tier1 KPI</a:t>
          </a:r>
          <a:endParaRPr lang="zh-CN" sz="1500" b="1" kern="1200" dirty="0"/>
        </a:p>
        <a:p>
          <a:pPr marL="228600" lvl="2" indent="-114300" algn="l" defTabSz="666750">
            <a:lnSpc>
              <a:spcPct val="90000"/>
            </a:lnSpc>
            <a:spcBef>
              <a:spcPct val="0"/>
            </a:spcBef>
            <a:spcAft>
              <a:spcPct val="15000"/>
            </a:spcAft>
            <a:buChar char="•"/>
          </a:pPr>
          <a:r>
            <a:rPr lang="en-US" sz="1500" b="1" kern="1200" dirty="0"/>
            <a:t>Improvement</a:t>
          </a:r>
          <a:r>
            <a:rPr lang="en-US" sz="1500" kern="1200" dirty="0"/>
            <a:t> of </a:t>
          </a:r>
          <a:r>
            <a:rPr lang="en-US" sz="1500" b="1" kern="1200" dirty="0"/>
            <a:t>Delivery Accuracy </a:t>
          </a:r>
          <a:endParaRPr lang="zh-CN" sz="1500" kern="1200" dirty="0"/>
        </a:p>
        <a:p>
          <a:pPr marL="228600" lvl="2" indent="-114300" algn="l" defTabSz="666750">
            <a:lnSpc>
              <a:spcPct val="90000"/>
            </a:lnSpc>
            <a:spcBef>
              <a:spcPct val="0"/>
            </a:spcBef>
            <a:spcAft>
              <a:spcPct val="15000"/>
            </a:spcAft>
            <a:buChar char="•"/>
          </a:pPr>
          <a:r>
            <a:rPr lang="en-US" sz="1500" b="1" kern="1200" dirty="0"/>
            <a:t>Improvement</a:t>
          </a:r>
          <a:r>
            <a:rPr lang="en-US" sz="1500" kern="1200" dirty="0"/>
            <a:t> of </a:t>
          </a:r>
          <a:r>
            <a:rPr lang="en-US" sz="1500" b="1" kern="1200" dirty="0"/>
            <a:t>Delivery Speed</a:t>
          </a:r>
          <a:endParaRPr lang="zh-CN" sz="1500" kern="1200" dirty="0"/>
        </a:p>
        <a:p>
          <a:pPr marL="228600" lvl="2" indent="-114300" algn="l" defTabSz="666750">
            <a:lnSpc>
              <a:spcPct val="90000"/>
            </a:lnSpc>
            <a:spcBef>
              <a:spcPct val="0"/>
            </a:spcBef>
            <a:spcAft>
              <a:spcPct val="15000"/>
            </a:spcAft>
            <a:buChar char="•"/>
          </a:pPr>
          <a:r>
            <a:rPr lang="en-US" sz="1500" b="1" kern="1200" dirty="0"/>
            <a:t>Improvement</a:t>
          </a:r>
          <a:r>
            <a:rPr lang="en-US" sz="1500" kern="1200" dirty="0"/>
            <a:t> of </a:t>
          </a:r>
          <a:r>
            <a:rPr lang="en-US" sz="1500" b="1" kern="1200" dirty="0"/>
            <a:t>Flexibility</a:t>
          </a:r>
          <a:endParaRPr lang="zh-CN" sz="1500" kern="1200" dirty="0"/>
        </a:p>
        <a:p>
          <a:pPr marL="228600" lvl="2" indent="-114300" algn="l" defTabSz="666750">
            <a:lnSpc>
              <a:spcPct val="90000"/>
            </a:lnSpc>
            <a:spcBef>
              <a:spcPct val="0"/>
            </a:spcBef>
            <a:spcAft>
              <a:spcPct val="15000"/>
            </a:spcAft>
            <a:buChar char="•"/>
          </a:pPr>
          <a:r>
            <a:rPr lang="en-US" sz="1500" b="1" kern="1200" dirty="0"/>
            <a:t>Improvement</a:t>
          </a:r>
          <a:r>
            <a:rPr lang="en-US" sz="1500" kern="1200" dirty="0"/>
            <a:t> of </a:t>
          </a:r>
          <a:r>
            <a:rPr lang="en-US" sz="1500" b="1" kern="1200" dirty="0"/>
            <a:t>Cost control </a:t>
          </a:r>
          <a:endParaRPr lang="zh-CN" sz="1500" kern="1200" dirty="0"/>
        </a:p>
        <a:p>
          <a:pPr marL="228600" lvl="2" indent="-114300" algn="l" defTabSz="666750">
            <a:lnSpc>
              <a:spcPct val="90000"/>
            </a:lnSpc>
            <a:spcBef>
              <a:spcPct val="0"/>
            </a:spcBef>
            <a:spcAft>
              <a:spcPct val="15000"/>
            </a:spcAft>
            <a:buChar char="•"/>
          </a:pPr>
          <a:r>
            <a:rPr lang="en-US" sz="1500" b="1" kern="1200" dirty="0"/>
            <a:t>Improvement</a:t>
          </a:r>
          <a:r>
            <a:rPr lang="en-US" sz="1500" kern="1200" dirty="0"/>
            <a:t> of </a:t>
          </a:r>
          <a:r>
            <a:rPr lang="en-US" sz="1500" b="1" kern="1200" dirty="0"/>
            <a:t>Efficiency</a:t>
          </a:r>
          <a:endParaRPr lang="zh-CN" sz="1500" kern="1200" dirty="0"/>
        </a:p>
        <a:p>
          <a:pPr marL="114300" lvl="1" indent="-114300" algn="l" defTabSz="666750">
            <a:lnSpc>
              <a:spcPct val="90000"/>
            </a:lnSpc>
            <a:spcBef>
              <a:spcPct val="0"/>
            </a:spcBef>
            <a:spcAft>
              <a:spcPct val="15000"/>
            </a:spcAft>
            <a:buChar char="•"/>
          </a:pPr>
          <a:r>
            <a:rPr lang="en-US" sz="1500" b="1" kern="1200"/>
            <a:t>Organization upgrade from execution to strategy</a:t>
          </a:r>
          <a:endParaRPr lang="zh-CN" sz="1500" kern="1200"/>
        </a:p>
      </dsp:txBody>
      <dsp:txXfrm>
        <a:off x="0" y="1776238"/>
        <a:ext cx="7828143" cy="2031750"/>
      </dsp:txXfrm>
    </dsp:sp>
    <dsp:sp modelId="{3B4898E3-A43D-4BB9-A1CD-527AC2F257D6}">
      <dsp:nvSpPr>
        <dsp:cNvPr id="0" name=""/>
        <dsp:cNvSpPr/>
      </dsp:nvSpPr>
      <dsp:spPr>
        <a:xfrm>
          <a:off x="391407" y="1554838"/>
          <a:ext cx="5479700" cy="442800"/>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7120" tIns="0" rIns="207120" bIns="0" numCol="1" spcCol="1270" anchor="ctr" anchorCtr="0">
          <a:noAutofit/>
        </a:bodyPr>
        <a:lstStyle/>
        <a:p>
          <a:pPr marL="0" lvl="0" indent="0" algn="l" defTabSz="666750">
            <a:lnSpc>
              <a:spcPct val="90000"/>
            </a:lnSpc>
            <a:spcBef>
              <a:spcPct val="0"/>
            </a:spcBef>
            <a:spcAft>
              <a:spcPct val="35000"/>
            </a:spcAft>
            <a:buNone/>
          </a:pPr>
          <a:r>
            <a:rPr lang="en-US" sz="1500" b="1" kern="1200" dirty="0"/>
            <a:t>Strategy Benefits</a:t>
          </a:r>
          <a:endParaRPr lang="zh-CN" sz="1500" kern="1200" dirty="0"/>
        </a:p>
      </dsp:txBody>
      <dsp:txXfrm>
        <a:off x="413023" y="1576454"/>
        <a:ext cx="5436468" cy="399568"/>
      </dsp:txXfrm>
    </dsp:sp>
    <dsp:sp modelId="{07A92788-0E15-4030-B1E9-EEEC8D281286}">
      <dsp:nvSpPr>
        <dsp:cNvPr id="0" name=""/>
        <dsp:cNvSpPr/>
      </dsp:nvSpPr>
      <dsp:spPr>
        <a:xfrm>
          <a:off x="0" y="4110388"/>
          <a:ext cx="7828143" cy="1063125"/>
        </a:xfrm>
        <a:prstGeom prst="rect">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07551" tIns="312420" rIns="607551" bIns="106680" numCol="1" spcCol="1270" anchor="t" anchorCtr="0">
          <a:noAutofit/>
        </a:bodyPr>
        <a:lstStyle/>
        <a:p>
          <a:pPr marL="114300" lvl="1" indent="-114300" algn="l" defTabSz="666750">
            <a:lnSpc>
              <a:spcPct val="90000"/>
            </a:lnSpc>
            <a:spcBef>
              <a:spcPct val="0"/>
            </a:spcBef>
            <a:spcAft>
              <a:spcPct val="15000"/>
            </a:spcAft>
            <a:buChar char="•"/>
          </a:pPr>
          <a:r>
            <a:rPr lang="en-US" sz="1500" kern="1200"/>
            <a:t>One project as </a:t>
          </a:r>
          <a:r>
            <a:rPr lang="en-US" sz="1500" b="1" kern="1200"/>
            <a:t>template</a:t>
          </a:r>
          <a:r>
            <a:rPr lang="en-US" sz="1500" kern="1200"/>
            <a:t> then </a:t>
          </a:r>
          <a:r>
            <a:rPr lang="en-US" sz="1500" b="1" kern="1200"/>
            <a:t>rollout</a:t>
          </a:r>
          <a:r>
            <a:rPr lang="en-US" sz="1500" kern="1200"/>
            <a:t> and prioritized by Executives</a:t>
          </a:r>
          <a:endParaRPr lang="zh-CN" sz="1500" kern="1200"/>
        </a:p>
        <a:p>
          <a:pPr marL="114300" lvl="1" indent="-114300" algn="l" defTabSz="666750">
            <a:lnSpc>
              <a:spcPct val="90000"/>
            </a:lnSpc>
            <a:spcBef>
              <a:spcPct val="0"/>
            </a:spcBef>
            <a:spcAft>
              <a:spcPct val="15000"/>
            </a:spcAft>
            <a:buChar char="•"/>
          </a:pPr>
          <a:r>
            <a:rPr lang="en-US" sz="1500" kern="1200" dirty="0"/>
            <a:t>Reference digital planning maturity module, MRP and Execution planning is the </a:t>
          </a:r>
          <a:r>
            <a:rPr lang="en-US" sz="1500" b="1" kern="1200" dirty="0"/>
            <a:t>foundation, then MP/S&amp;OP, finally IBP </a:t>
          </a:r>
          <a:endParaRPr lang="zh-CN" sz="1500" kern="1200" dirty="0"/>
        </a:p>
      </dsp:txBody>
      <dsp:txXfrm>
        <a:off x="0" y="4110388"/>
        <a:ext cx="7828143" cy="1063125"/>
      </dsp:txXfrm>
    </dsp:sp>
    <dsp:sp modelId="{B0774922-4782-450F-A7F1-56A2C24983E6}">
      <dsp:nvSpPr>
        <dsp:cNvPr id="0" name=""/>
        <dsp:cNvSpPr/>
      </dsp:nvSpPr>
      <dsp:spPr>
        <a:xfrm>
          <a:off x="391407" y="3888988"/>
          <a:ext cx="5479700" cy="442800"/>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7120" tIns="0" rIns="207120" bIns="0" numCol="1" spcCol="1270" anchor="ctr" anchorCtr="0">
          <a:noAutofit/>
        </a:bodyPr>
        <a:lstStyle/>
        <a:p>
          <a:pPr marL="0" lvl="0" indent="0" algn="l" defTabSz="666750">
            <a:lnSpc>
              <a:spcPct val="90000"/>
            </a:lnSpc>
            <a:spcBef>
              <a:spcPct val="0"/>
            </a:spcBef>
            <a:spcAft>
              <a:spcPct val="35000"/>
            </a:spcAft>
            <a:buNone/>
          </a:pPr>
          <a:r>
            <a:rPr lang="en-US" sz="1500" b="1" kern="1200"/>
            <a:t>Scope &amp; Priority</a:t>
          </a:r>
          <a:endParaRPr lang="zh-CN" sz="1500" kern="1200"/>
        </a:p>
      </dsp:txBody>
      <dsp:txXfrm>
        <a:off x="413023" y="3910604"/>
        <a:ext cx="5436468" cy="399568"/>
      </dsp:txXfrm>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D7E0FCB-D6AB-4A91-BA50-408F0E1E72AC}">
      <dsp:nvSpPr>
        <dsp:cNvPr id="0" name=""/>
        <dsp:cNvSpPr/>
      </dsp:nvSpPr>
      <dsp:spPr>
        <a:xfrm>
          <a:off x="3284086" y="749155"/>
          <a:ext cx="2494092" cy="367161"/>
        </a:xfrm>
        <a:custGeom>
          <a:avLst/>
          <a:gdLst/>
          <a:ahLst/>
          <a:cxnLst/>
          <a:rect l="0" t="0" r="0" b="0"/>
          <a:pathLst>
            <a:path>
              <a:moveTo>
                <a:pt x="0" y="0"/>
              </a:moveTo>
              <a:lnTo>
                <a:pt x="0" y="262490"/>
              </a:lnTo>
              <a:lnTo>
                <a:pt x="2494092" y="262490"/>
              </a:lnTo>
              <a:lnTo>
                <a:pt x="2494092" y="367161"/>
              </a:lnTo>
            </a:path>
          </a:pathLst>
        </a:custGeom>
        <a:noFill/>
        <a:ln w="38100" cap="flat" cmpd="sng" algn="ctr">
          <a:solidFill>
            <a:srgbClr val="0070C0"/>
          </a:solidFill>
          <a:prstDash val="solid"/>
          <a:miter lim="800000"/>
        </a:ln>
        <a:effectLst/>
      </dsp:spPr>
      <dsp:style>
        <a:lnRef idx="2">
          <a:scrgbClr r="0" g="0" b="0"/>
        </a:lnRef>
        <a:fillRef idx="0">
          <a:scrgbClr r="0" g="0" b="0"/>
        </a:fillRef>
        <a:effectRef idx="0">
          <a:scrgbClr r="0" g="0" b="0"/>
        </a:effectRef>
        <a:fontRef idx="minor"/>
      </dsp:style>
    </dsp:sp>
    <dsp:sp modelId="{F1583394-786B-487A-B025-BB99AE0CB42D}">
      <dsp:nvSpPr>
        <dsp:cNvPr id="0" name=""/>
        <dsp:cNvSpPr/>
      </dsp:nvSpPr>
      <dsp:spPr>
        <a:xfrm>
          <a:off x="3284086" y="749155"/>
          <a:ext cx="809228" cy="367161"/>
        </a:xfrm>
        <a:custGeom>
          <a:avLst/>
          <a:gdLst/>
          <a:ahLst/>
          <a:cxnLst/>
          <a:rect l="0" t="0" r="0" b="0"/>
          <a:pathLst>
            <a:path>
              <a:moveTo>
                <a:pt x="0" y="0"/>
              </a:moveTo>
              <a:lnTo>
                <a:pt x="0" y="262490"/>
              </a:lnTo>
              <a:lnTo>
                <a:pt x="809228" y="262490"/>
              </a:lnTo>
              <a:lnTo>
                <a:pt x="809228" y="367161"/>
              </a:lnTo>
            </a:path>
          </a:pathLst>
        </a:custGeom>
        <a:noFill/>
        <a:ln w="38100" cap="flat" cmpd="sng" algn="ctr">
          <a:solidFill>
            <a:srgbClr val="0070C0"/>
          </a:solidFill>
          <a:prstDash val="solid"/>
          <a:miter lim="800000"/>
        </a:ln>
        <a:effectLst/>
      </dsp:spPr>
      <dsp:style>
        <a:lnRef idx="2">
          <a:scrgbClr r="0" g="0" b="0"/>
        </a:lnRef>
        <a:fillRef idx="0">
          <a:scrgbClr r="0" g="0" b="0"/>
        </a:fillRef>
        <a:effectRef idx="0">
          <a:scrgbClr r="0" g="0" b="0"/>
        </a:effectRef>
        <a:fontRef idx="minor"/>
      </dsp:style>
    </dsp:sp>
    <dsp:sp modelId="{73562B12-9146-4034-BD7D-D42D309CDFF7}">
      <dsp:nvSpPr>
        <dsp:cNvPr id="0" name=""/>
        <dsp:cNvSpPr/>
      </dsp:nvSpPr>
      <dsp:spPr>
        <a:xfrm>
          <a:off x="2414801" y="749155"/>
          <a:ext cx="869285" cy="367161"/>
        </a:xfrm>
        <a:custGeom>
          <a:avLst/>
          <a:gdLst/>
          <a:ahLst/>
          <a:cxnLst/>
          <a:rect l="0" t="0" r="0" b="0"/>
          <a:pathLst>
            <a:path>
              <a:moveTo>
                <a:pt x="869285" y="0"/>
              </a:moveTo>
              <a:lnTo>
                <a:pt x="869285" y="262490"/>
              </a:lnTo>
              <a:lnTo>
                <a:pt x="0" y="262490"/>
              </a:lnTo>
              <a:lnTo>
                <a:pt x="0" y="367161"/>
              </a:lnTo>
            </a:path>
          </a:pathLst>
        </a:custGeom>
        <a:noFill/>
        <a:ln w="38100" cap="flat" cmpd="sng" algn="ctr">
          <a:solidFill>
            <a:srgbClr val="0070C0"/>
          </a:solidFill>
          <a:prstDash val="solid"/>
          <a:miter lim="800000"/>
        </a:ln>
        <a:effectLst/>
      </dsp:spPr>
      <dsp:style>
        <a:lnRef idx="2">
          <a:scrgbClr r="0" g="0" b="0"/>
        </a:lnRef>
        <a:fillRef idx="0">
          <a:scrgbClr r="0" g="0" b="0"/>
        </a:fillRef>
        <a:effectRef idx="0">
          <a:scrgbClr r="0" g="0" b="0"/>
        </a:effectRef>
        <a:fontRef idx="minor"/>
      </dsp:style>
    </dsp:sp>
    <dsp:sp modelId="{85AC9EC3-2779-4F4B-B0B1-BF3EA6026B7B}">
      <dsp:nvSpPr>
        <dsp:cNvPr id="0" name=""/>
        <dsp:cNvSpPr/>
      </dsp:nvSpPr>
      <dsp:spPr>
        <a:xfrm>
          <a:off x="734971" y="749155"/>
          <a:ext cx="2549114" cy="367456"/>
        </a:xfrm>
        <a:custGeom>
          <a:avLst/>
          <a:gdLst/>
          <a:ahLst/>
          <a:cxnLst/>
          <a:rect l="0" t="0" r="0" b="0"/>
          <a:pathLst>
            <a:path>
              <a:moveTo>
                <a:pt x="2549114" y="0"/>
              </a:moveTo>
              <a:lnTo>
                <a:pt x="2549114" y="262784"/>
              </a:lnTo>
              <a:lnTo>
                <a:pt x="0" y="262784"/>
              </a:lnTo>
              <a:lnTo>
                <a:pt x="0" y="367456"/>
              </a:lnTo>
            </a:path>
          </a:pathLst>
        </a:custGeom>
        <a:noFill/>
        <a:ln w="38100" cap="flat" cmpd="sng" algn="ctr">
          <a:solidFill>
            <a:srgbClr val="0070C0"/>
          </a:solidFill>
          <a:prstDash val="solid"/>
          <a:miter lim="800000"/>
        </a:ln>
        <a:effectLst/>
      </dsp:spPr>
      <dsp:style>
        <a:lnRef idx="2">
          <a:scrgbClr r="0" g="0" b="0"/>
        </a:lnRef>
        <a:fillRef idx="0">
          <a:scrgbClr r="0" g="0" b="0"/>
        </a:fillRef>
        <a:effectRef idx="0">
          <a:scrgbClr r="0" g="0" b="0"/>
        </a:effectRef>
        <a:fontRef idx="minor"/>
      </dsp:style>
    </dsp:sp>
    <dsp:sp modelId="{129A757B-AC55-4F77-B17F-2D3AC664048F}">
      <dsp:nvSpPr>
        <dsp:cNvPr id="0" name=""/>
        <dsp:cNvSpPr/>
      </dsp:nvSpPr>
      <dsp:spPr>
        <a:xfrm>
          <a:off x="2022612" y="284873"/>
          <a:ext cx="2522947" cy="464282"/>
        </a:xfrm>
        <a:prstGeom prst="rect">
          <a:avLst/>
        </a:prstGeom>
        <a:solidFill>
          <a:schemeClr val="accent1"/>
        </a:solidFill>
        <a:ln w="63500" cap="flat" cmpd="sng" algn="ctr">
          <a:solidFill>
            <a:srgbClr val="0070C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t>Execution Plan</a:t>
          </a:r>
          <a:endParaRPr lang="zh-CN" altLang="en-US" sz="1600" b="1" kern="1200" dirty="0"/>
        </a:p>
      </dsp:txBody>
      <dsp:txXfrm>
        <a:off x="2022612" y="284873"/>
        <a:ext cx="2522947" cy="464282"/>
      </dsp:txXfrm>
    </dsp:sp>
    <dsp:sp modelId="{CC44E8B6-A897-4AB9-A154-1CBCC122CFC6}">
      <dsp:nvSpPr>
        <dsp:cNvPr id="0" name=""/>
        <dsp:cNvSpPr/>
      </dsp:nvSpPr>
      <dsp:spPr>
        <a:xfrm>
          <a:off x="0" y="1116611"/>
          <a:ext cx="1469943" cy="551443"/>
        </a:xfrm>
        <a:prstGeom prst="rect">
          <a:avLst/>
        </a:prstGeom>
        <a:solidFill>
          <a:srgbClr val="0070C0"/>
        </a:solidFill>
        <a:ln w="2540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255" tIns="8255" rIns="8255" bIns="8255" numCol="1" spcCol="1270" anchor="ctr" anchorCtr="0">
          <a:noAutofit/>
        </a:bodyPr>
        <a:lstStyle/>
        <a:p>
          <a:pPr marL="0" lvl="0" indent="0" algn="ctr" defTabSz="577850">
            <a:lnSpc>
              <a:spcPct val="90000"/>
            </a:lnSpc>
            <a:spcBef>
              <a:spcPct val="0"/>
            </a:spcBef>
            <a:spcAft>
              <a:spcPct val="35000"/>
            </a:spcAft>
            <a:buNone/>
          </a:pPr>
          <a:r>
            <a:rPr lang="en-US" altLang="zh-CN" sz="1300" b="1" kern="1200" dirty="0">
              <a:solidFill>
                <a:schemeClr val="tx1"/>
              </a:solidFill>
            </a:rPr>
            <a:t>Delivery  </a:t>
          </a:r>
        </a:p>
        <a:p>
          <a:pPr marL="0" lvl="0" indent="0" algn="ctr" defTabSz="577850">
            <a:lnSpc>
              <a:spcPct val="90000"/>
            </a:lnSpc>
            <a:spcBef>
              <a:spcPct val="0"/>
            </a:spcBef>
            <a:spcAft>
              <a:spcPct val="35000"/>
            </a:spcAft>
            <a:buNone/>
          </a:pPr>
          <a:r>
            <a:rPr lang="en-US" altLang="zh-CN" sz="1300" b="1" kern="1200" dirty="0">
              <a:solidFill>
                <a:schemeClr val="tx1"/>
              </a:solidFill>
            </a:rPr>
            <a:t>Plan</a:t>
          </a:r>
          <a:endParaRPr lang="zh-CN" altLang="en-US" sz="1300" b="1" kern="1200" dirty="0">
            <a:solidFill>
              <a:schemeClr val="tx1"/>
            </a:solidFill>
          </a:endParaRPr>
        </a:p>
      </dsp:txBody>
      <dsp:txXfrm>
        <a:off x="0" y="1116611"/>
        <a:ext cx="1469943" cy="551443"/>
      </dsp:txXfrm>
    </dsp:sp>
    <dsp:sp modelId="{D9BC4F3D-9DDD-4866-8666-21D60EA9E848}">
      <dsp:nvSpPr>
        <dsp:cNvPr id="0" name=""/>
        <dsp:cNvSpPr/>
      </dsp:nvSpPr>
      <dsp:spPr>
        <a:xfrm>
          <a:off x="1679814" y="1116317"/>
          <a:ext cx="1469973" cy="550655"/>
        </a:xfrm>
        <a:prstGeom prst="rect">
          <a:avLst/>
        </a:prstGeom>
        <a:solidFill>
          <a:srgbClr val="0070C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255" tIns="8255" rIns="8255" bIns="8255" numCol="1" spcCol="1270" anchor="ctr" anchorCtr="0">
          <a:noAutofit/>
        </a:bodyPr>
        <a:lstStyle/>
        <a:p>
          <a:pPr marL="0" lvl="0" indent="0" algn="ctr" defTabSz="577850">
            <a:lnSpc>
              <a:spcPct val="90000"/>
            </a:lnSpc>
            <a:spcBef>
              <a:spcPct val="0"/>
            </a:spcBef>
            <a:spcAft>
              <a:spcPct val="35000"/>
            </a:spcAft>
            <a:buNone/>
          </a:pPr>
          <a:r>
            <a:rPr lang="en-US" altLang="zh-CN" sz="1300" b="1" kern="1200" dirty="0"/>
            <a:t>Delivery Notes</a:t>
          </a:r>
          <a:endParaRPr lang="zh-CN" altLang="en-US" sz="1300" b="1" kern="1200" dirty="0"/>
        </a:p>
      </dsp:txBody>
      <dsp:txXfrm>
        <a:off x="1679814" y="1116317"/>
        <a:ext cx="1469973" cy="550655"/>
      </dsp:txXfrm>
    </dsp:sp>
    <dsp:sp modelId="{B848848A-B8C0-4B8D-BCF1-DB5326F8BF70}">
      <dsp:nvSpPr>
        <dsp:cNvPr id="0" name=""/>
        <dsp:cNvSpPr/>
      </dsp:nvSpPr>
      <dsp:spPr>
        <a:xfrm>
          <a:off x="3359130" y="1116317"/>
          <a:ext cx="1468368" cy="550655"/>
        </a:xfrm>
        <a:prstGeom prst="rect">
          <a:avLst/>
        </a:prstGeom>
        <a:solidFill>
          <a:srgbClr val="0070C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255" tIns="8255" rIns="8255" bIns="8255" numCol="1" spcCol="1270" anchor="ctr" anchorCtr="0">
          <a:noAutofit/>
        </a:bodyPr>
        <a:lstStyle/>
        <a:p>
          <a:pPr marL="0" lvl="0" indent="0" algn="ctr" defTabSz="577850">
            <a:lnSpc>
              <a:spcPct val="90000"/>
            </a:lnSpc>
            <a:spcBef>
              <a:spcPct val="0"/>
            </a:spcBef>
            <a:spcAft>
              <a:spcPct val="35000"/>
            </a:spcAft>
            <a:buNone/>
          </a:pPr>
          <a:r>
            <a:rPr lang="en-US" altLang="zh-CN" sz="1300" b="1" kern="1200" dirty="0"/>
            <a:t>Replenishment </a:t>
          </a:r>
        </a:p>
        <a:p>
          <a:pPr marL="0" lvl="0" indent="0" algn="ctr" defTabSz="577850">
            <a:lnSpc>
              <a:spcPct val="90000"/>
            </a:lnSpc>
            <a:spcBef>
              <a:spcPct val="0"/>
            </a:spcBef>
            <a:spcAft>
              <a:spcPct val="35000"/>
            </a:spcAft>
            <a:buNone/>
          </a:pPr>
          <a:r>
            <a:rPr lang="en-US" altLang="zh-CN" sz="1300" b="1" kern="1200" dirty="0"/>
            <a:t>Plan</a:t>
          </a:r>
          <a:endParaRPr lang="zh-CN" altLang="en-US" sz="1300" b="1" kern="1200" dirty="0"/>
        </a:p>
      </dsp:txBody>
      <dsp:txXfrm>
        <a:off x="3359130" y="1116317"/>
        <a:ext cx="1468368" cy="550655"/>
      </dsp:txXfrm>
    </dsp:sp>
    <dsp:sp modelId="{972FBD32-7DD5-4257-94B6-FA72491B52D0}">
      <dsp:nvSpPr>
        <dsp:cNvPr id="0" name=""/>
        <dsp:cNvSpPr/>
      </dsp:nvSpPr>
      <dsp:spPr>
        <a:xfrm>
          <a:off x="5036842" y="1116317"/>
          <a:ext cx="1482673" cy="550655"/>
        </a:xfrm>
        <a:prstGeom prst="rect">
          <a:avLst/>
        </a:prstGeom>
        <a:solidFill>
          <a:srgbClr val="0070C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255" tIns="8255" rIns="8255" bIns="8255" numCol="1" spcCol="1270" anchor="ctr" anchorCtr="0">
          <a:noAutofit/>
        </a:bodyPr>
        <a:lstStyle/>
        <a:p>
          <a:pPr marL="0" lvl="0" indent="0" algn="ctr" defTabSz="577850">
            <a:lnSpc>
              <a:spcPct val="90000"/>
            </a:lnSpc>
            <a:spcBef>
              <a:spcPct val="0"/>
            </a:spcBef>
            <a:spcAft>
              <a:spcPct val="35000"/>
            </a:spcAft>
            <a:buNone/>
          </a:pPr>
          <a:r>
            <a:rPr lang="en-US" altLang="zh-CN" sz="1300" b="1" kern="1200" dirty="0"/>
            <a:t>Factory</a:t>
          </a:r>
        </a:p>
        <a:p>
          <a:pPr marL="0" lvl="0" indent="0" algn="ctr" defTabSz="577850">
            <a:lnSpc>
              <a:spcPct val="90000"/>
            </a:lnSpc>
            <a:spcBef>
              <a:spcPct val="0"/>
            </a:spcBef>
            <a:spcAft>
              <a:spcPct val="35000"/>
            </a:spcAft>
            <a:buNone/>
          </a:pPr>
          <a:r>
            <a:rPr lang="en-US" altLang="zh-CN" sz="1300" b="1" kern="1200" dirty="0"/>
            <a:t>Plan</a:t>
          </a:r>
          <a:endParaRPr lang="zh-CN" altLang="en-US" sz="1300" b="1" kern="1200" dirty="0"/>
        </a:p>
      </dsp:txBody>
      <dsp:txXfrm>
        <a:off x="5036842" y="1116317"/>
        <a:ext cx="1482673" cy="550655"/>
      </dsp:txXfrm>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29A757B-AC55-4F77-B17F-2D3AC664048F}">
      <dsp:nvSpPr>
        <dsp:cNvPr id="0" name=""/>
        <dsp:cNvSpPr/>
      </dsp:nvSpPr>
      <dsp:spPr>
        <a:xfrm>
          <a:off x="2574" y="404111"/>
          <a:ext cx="2278324" cy="465284"/>
        </a:xfrm>
        <a:prstGeom prst="rect">
          <a:avLst/>
        </a:prstGeom>
        <a:solidFill>
          <a:srgbClr val="4F81BD"/>
        </a:solidFill>
        <a:ln w="63500" cap="flat" cmpd="sng" algn="ctr">
          <a:solidFill>
            <a:srgbClr val="0070C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solidFill>
                <a:prstClr val="white"/>
              </a:solidFill>
              <a:latin typeface="Calibri"/>
              <a:ea typeface="宋体" panose="02010600030101010101" pitchFamily="2" charset="-122"/>
              <a:cs typeface="+mn-cs"/>
            </a:rPr>
            <a:t>Procurement Plan</a:t>
          </a:r>
          <a:endParaRPr lang="zh-CN" altLang="en-US" sz="1600" b="1" kern="1200" dirty="0">
            <a:solidFill>
              <a:prstClr val="white"/>
            </a:solidFill>
            <a:latin typeface="Calibri"/>
            <a:ea typeface="宋体" panose="02010600030101010101" pitchFamily="2" charset="-122"/>
            <a:cs typeface="+mn-cs"/>
          </a:endParaRPr>
        </a:p>
      </dsp:txBody>
      <dsp:txXfrm>
        <a:off x="2574" y="404111"/>
        <a:ext cx="2278324" cy="465284"/>
      </dsp:txXfrm>
    </dsp:sp>
  </dsp:spTree>
</dsp:drawing>
</file>

<file path=ppt/diagrams/drawing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29A757B-AC55-4F77-B17F-2D3AC664048F}">
      <dsp:nvSpPr>
        <dsp:cNvPr id="0" name=""/>
        <dsp:cNvSpPr/>
      </dsp:nvSpPr>
      <dsp:spPr>
        <a:xfrm>
          <a:off x="0" y="233882"/>
          <a:ext cx="2255342" cy="464278"/>
        </a:xfrm>
        <a:prstGeom prst="rect">
          <a:avLst/>
        </a:prstGeom>
        <a:solidFill>
          <a:srgbClr val="4F81BD"/>
        </a:solidFill>
        <a:ln w="63500" cap="flat" cmpd="sng" algn="ctr">
          <a:solidFill>
            <a:srgbClr val="0070C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solidFill>
                <a:prstClr val="white"/>
              </a:solidFill>
              <a:latin typeface="Calibri"/>
              <a:ea typeface="宋体" panose="02010600030101010101" pitchFamily="2" charset="-122"/>
              <a:cs typeface="+mn-cs"/>
            </a:rPr>
            <a:t>Master Plan</a:t>
          </a:r>
          <a:endParaRPr lang="zh-CN" altLang="en-US" sz="1600" b="1" kern="1200" dirty="0">
            <a:solidFill>
              <a:prstClr val="white"/>
            </a:solidFill>
            <a:latin typeface="Calibri"/>
            <a:ea typeface="宋体" panose="02010600030101010101" pitchFamily="2" charset="-122"/>
            <a:cs typeface="+mn-cs"/>
          </a:endParaRPr>
        </a:p>
      </dsp:txBody>
      <dsp:txXfrm>
        <a:off x="0" y="233882"/>
        <a:ext cx="2255342" cy="464278"/>
      </dsp:txXfrm>
    </dsp:sp>
  </dsp:spTree>
</dsp:drawing>
</file>

<file path=ppt/diagrams/drawing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29A757B-AC55-4F77-B17F-2D3AC664048F}">
      <dsp:nvSpPr>
        <dsp:cNvPr id="0" name=""/>
        <dsp:cNvSpPr/>
      </dsp:nvSpPr>
      <dsp:spPr>
        <a:xfrm>
          <a:off x="0" y="706948"/>
          <a:ext cx="2269520" cy="464277"/>
        </a:xfrm>
        <a:prstGeom prst="rect">
          <a:avLst/>
        </a:prstGeom>
        <a:solidFill>
          <a:srgbClr val="4F81BD"/>
        </a:solidFill>
        <a:ln w="63500" cap="flat" cmpd="sng" algn="ctr">
          <a:solidFill>
            <a:srgbClr val="0070C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solidFill>
                <a:prstClr val="white"/>
              </a:solidFill>
              <a:latin typeface="Calibri"/>
              <a:ea typeface="宋体" panose="02010600030101010101" pitchFamily="2" charset="-122"/>
              <a:cs typeface="+mn-cs"/>
            </a:rPr>
            <a:t>Detailed Scheduling</a:t>
          </a:r>
          <a:endParaRPr lang="zh-CN" altLang="en-US" sz="1600" b="1" kern="1200" dirty="0">
            <a:solidFill>
              <a:prstClr val="white"/>
            </a:solidFill>
            <a:latin typeface="Calibri"/>
            <a:ea typeface="宋体" panose="02010600030101010101" pitchFamily="2" charset="-122"/>
            <a:cs typeface="+mn-cs"/>
          </a:endParaRPr>
        </a:p>
      </dsp:txBody>
      <dsp:txXfrm>
        <a:off x="0" y="706948"/>
        <a:ext cx="2269520" cy="464277"/>
      </dsp:txXfrm>
    </dsp:sp>
  </dsp:spTree>
</dsp:drawing>
</file>

<file path=ppt/diagrams/drawing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0DCBB02-1C96-4DC2-AD49-D8EB6E97A4BF}">
      <dsp:nvSpPr>
        <dsp:cNvPr id="0" name=""/>
        <dsp:cNvSpPr/>
      </dsp:nvSpPr>
      <dsp:spPr>
        <a:xfrm>
          <a:off x="0" y="223641"/>
          <a:ext cx="3671888" cy="1417500"/>
        </a:xfrm>
        <a:prstGeom prst="rect">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284979" tIns="312420" rIns="284979" bIns="71120" numCol="1" spcCol="1270" anchor="t" anchorCtr="0">
          <a:noAutofit/>
        </a:bodyPr>
        <a:lstStyle/>
        <a:p>
          <a:pPr marL="57150" lvl="1" indent="-57150" algn="l" defTabSz="444500">
            <a:lnSpc>
              <a:spcPct val="90000"/>
            </a:lnSpc>
            <a:spcBef>
              <a:spcPct val="0"/>
            </a:spcBef>
            <a:spcAft>
              <a:spcPct val="15000"/>
            </a:spcAft>
            <a:buChar char="•"/>
          </a:pPr>
          <a:r>
            <a:rPr lang="zh-CN" altLang="en-US" sz="1000" b="1" kern="1200">
              <a:latin typeface="+mj-ea"/>
              <a:ea typeface="+mj-ea"/>
            </a:rPr>
            <a:t>传统</a:t>
          </a:r>
          <a:r>
            <a:rPr lang="en-US" altLang="zh-CN" sz="1000" b="1" kern="1200">
              <a:latin typeface="+mj-ea"/>
              <a:ea typeface="+mj-ea"/>
            </a:rPr>
            <a:t>S&amp;OP</a:t>
          </a:r>
          <a:r>
            <a:rPr lang="zh-CN" altLang="en-US" sz="1000" kern="1200">
              <a:latin typeface="+mj-ea"/>
              <a:ea typeface="+mj-ea"/>
            </a:rPr>
            <a:t>的核心是平衡</a:t>
          </a:r>
          <a:r>
            <a:rPr lang="zh-CN" altLang="en-US" sz="1000" b="1" kern="1200">
              <a:latin typeface="+mj-ea"/>
              <a:ea typeface="+mj-ea"/>
            </a:rPr>
            <a:t>需求</a:t>
          </a:r>
          <a:r>
            <a:rPr lang="zh-CN" altLang="en-US" sz="1000" kern="1200">
              <a:latin typeface="+mj-ea"/>
              <a:ea typeface="+mj-ea"/>
            </a:rPr>
            <a:t>（销售、市场）和</a:t>
          </a:r>
          <a:r>
            <a:rPr lang="zh-CN" altLang="en-US" sz="1000" b="1" kern="1200">
              <a:latin typeface="+mj-ea"/>
              <a:ea typeface="+mj-ea"/>
            </a:rPr>
            <a:t>供应</a:t>
          </a:r>
          <a:r>
            <a:rPr lang="zh-CN" altLang="en-US" sz="1000" kern="1200">
              <a:latin typeface="+mj-ea"/>
              <a:ea typeface="+mj-ea"/>
            </a:rPr>
            <a:t>（运营、供应链），主要涉及销售、运营、供应链等部门。 </a:t>
          </a:r>
        </a:p>
        <a:p>
          <a:pPr marL="57150" lvl="1" indent="-57150" algn="l" defTabSz="444500">
            <a:lnSpc>
              <a:spcPct val="90000"/>
            </a:lnSpc>
            <a:spcBef>
              <a:spcPct val="0"/>
            </a:spcBef>
            <a:spcAft>
              <a:spcPct val="15000"/>
            </a:spcAft>
            <a:buChar char="•"/>
          </a:pPr>
          <a:r>
            <a:rPr lang="en-US" altLang="zh-CN" sz="1000" b="1" kern="1200">
              <a:latin typeface="+mj-ea"/>
              <a:ea typeface="+mj-ea"/>
            </a:rPr>
            <a:t>IBP</a:t>
          </a:r>
          <a:r>
            <a:rPr lang="zh-CN" altLang="en-US" sz="1000" kern="1200">
              <a:latin typeface="+mj-ea"/>
              <a:ea typeface="+mj-ea"/>
            </a:rPr>
            <a:t>将</a:t>
          </a:r>
          <a:r>
            <a:rPr lang="zh-CN" altLang="en-US" sz="1000" b="1" kern="1200">
              <a:latin typeface="+mj-ea"/>
              <a:ea typeface="+mj-ea"/>
            </a:rPr>
            <a:t>财务</a:t>
          </a:r>
          <a:r>
            <a:rPr lang="zh-CN" altLang="en-US" sz="1000" kern="1200">
              <a:latin typeface="+mj-ea"/>
              <a:ea typeface="+mj-ea"/>
            </a:rPr>
            <a:t>、</a:t>
          </a:r>
          <a:r>
            <a:rPr lang="zh-CN" altLang="en-US" sz="1000" b="1" kern="1200">
              <a:latin typeface="+mj-ea"/>
              <a:ea typeface="+mj-ea"/>
            </a:rPr>
            <a:t>产品管理</a:t>
          </a:r>
          <a:r>
            <a:rPr lang="zh-CN" altLang="en-US" sz="1000" kern="1200">
              <a:latin typeface="+mj-ea"/>
              <a:ea typeface="+mj-ea"/>
            </a:rPr>
            <a:t>、</a:t>
          </a:r>
          <a:r>
            <a:rPr lang="zh-CN" altLang="en-US" sz="1000" b="1" kern="1200">
              <a:latin typeface="+mj-ea"/>
              <a:ea typeface="+mj-ea"/>
            </a:rPr>
            <a:t>战略规划</a:t>
          </a:r>
          <a:r>
            <a:rPr lang="zh-CN" altLang="en-US" sz="1000" kern="1200">
              <a:latin typeface="+mj-ea"/>
              <a:ea typeface="+mj-ea"/>
            </a:rPr>
            <a:t>等关键职能深度集成进来，形成了一个真正意义上的“全公司游戏计划”。 </a:t>
          </a:r>
        </a:p>
      </dsp:txBody>
      <dsp:txXfrm>
        <a:off x="0" y="223641"/>
        <a:ext cx="3671888" cy="1417500"/>
      </dsp:txXfrm>
    </dsp:sp>
    <dsp:sp modelId="{D778DDC7-3879-4301-BB7C-8666E62EDEFE}">
      <dsp:nvSpPr>
        <dsp:cNvPr id="0" name=""/>
        <dsp:cNvSpPr/>
      </dsp:nvSpPr>
      <dsp:spPr>
        <a:xfrm>
          <a:off x="183594" y="2241"/>
          <a:ext cx="2570321" cy="442800"/>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7152" tIns="0" rIns="97152" bIns="0" numCol="1" spcCol="1270" anchor="ctr" anchorCtr="0">
          <a:noAutofit/>
        </a:bodyPr>
        <a:lstStyle/>
        <a:p>
          <a:pPr marL="0" lvl="0" indent="0" algn="l" defTabSz="444500">
            <a:lnSpc>
              <a:spcPct val="90000"/>
            </a:lnSpc>
            <a:spcBef>
              <a:spcPct val="0"/>
            </a:spcBef>
            <a:spcAft>
              <a:spcPct val="35000"/>
            </a:spcAft>
            <a:buNone/>
          </a:pPr>
          <a:r>
            <a:rPr lang="zh-CN" altLang="en-US" sz="1000" b="1" kern="1200" dirty="0">
              <a:latin typeface="+mj-ea"/>
              <a:ea typeface="+mj-ea"/>
            </a:rPr>
            <a:t>范围的扩展：从“供需协同”到“全业务集成”</a:t>
          </a:r>
          <a:endParaRPr lang="zh-CN" altLang="en-US" sz="1000" kern="1200" dirty="0">
            <a:latin typeface="+mj-ea"/>
            <a:ea typeface="+mj-ea"/>
          </a:endParaRPr>
        </a:p>
      </dsp:txBody>
      <dsp:txXfrm>
        <a:off x="205210" y="23857"/>
        <a:ext cx="2527089" cy="399568"/>
      </dsp:txXfrm>
    </dsp:sp>
    <dsp:sp modelId="{1CAA6C0E-013B-467A-9FB7-F5A4BE00DFE3}">
      <dsp:nvSpPr>
        <dsp:cNvPr id="0" name=""/>
        <dsp:cNvSpPr/>
      </dsp:nvSpPr>
      <dsp:spPr>
        <a:xfrm>
          <a:off x="0" y="1943541"/>
          <a:ext cx="3671888" cy="1795500"/>
        </a:xfrm>
        <a:prstGeom prst="rect">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284979" tIns="312420" rIns="284979" bIns="71120" numCol="1" spcCol="1270" anchor="t" anchorCtr="0">
          <a:noAutofit/>
        </a:bodyPr>
        <a:lstStyle/>
        <a:p>
          <a:pPr marL="57150" lvl="1" indent="-57150" algn="l" defTabSz="444500">
            <a:lnSpc>
              <a:spcPct val="90000"/>
            </a:lnSpc>
            <a:spcBef>
              <a:spcPct val="0"/>
            </a:spcBef>
            <a:spcAft>
              <a:spcPct val="15000"/>
            </a:spcAft>
            <a:buChar char="•"/>
          </a:pPr>
          <a:r>
            <a:rPr lang="en-US" altLang="zh-CN" sz="1000" b="1" kern="1200">
              <a:latin typeface="+mj-ea"/>
              <a:ea typeface="+mj-ea"/>
            </a:rPr>
            <a:t>S&amp;OP</a:t>
          </a:r>
          <a:r>
            <a:rPr lang="zh-CN" altLang="en-US" sz="1000" kern="1200">
              <a:latin typeface="+mj-ea"/>
              <a:ea typeface="+mj-ea"/>
            </a:rPr>
            <a:t>更侧重于解决中短期的运营问题（如“下个月如何不缺货也不压货？”），以确保运营的可行性。 </a:t>
          </a:r>
        </a:p>
        <a:p>
          <a:pPr marL="57150" lvl="1" indent="-57150" algn="l" defTabSz="444500">
            <a:lnSpc>
              <a:spcPct val="90000"/>
            </a:lnSpc>
            <a:spcBef>
              <a:spcPct val="0"/>
            </a:spcBef>
            <a:spcAft>
              <a:spcPct val="15000"/>
            </a:spcAft>
            <a:buChar char="•"/>
          </a:pPr>
          <a:r>
            <a:rPr lang="en-US" altLang="zh-CN" sz="1000" b="1" kern="1200">
              <a:latin typeface="+mj-ea"/>
              <a:ea typeface="+mj-ea"/>
            </a:rPr>
            <a:t>IBP</a:t>
          </a:r>
          <a:r>
            <a:rPr lang="zh-CN" altLang="en-US" sz="1000" kern="1200">
              <a:latin typeface="+mj-ea"/>
              <a:ea typeface="+mj-ea"/>
            </a:rPr>
            <a:t>则直接与公司</a:t>
          </a:r>
          <a:r>
            <a:rPr lang="zh-CN" altLang="en-US" sz="1000" b="1" kern="1200">
              <a:latin typeface="+mj-ea"/>
              <a:ea typeface="+mj-ea"/>
            </a:rPr>
            <a:t>战略和财务目标</a:t>
          </a:r>
          <a:r>
            <a:rPr lang="zh-CN" altLang="en-US" sz="1000" kern="1200">
              <a:latin typeface="+mj-ea"/>
              <a:ea typeface="+mj-ea"/>
            </a:rPr>
            <a:t>挂钩。它不仅要确保运营可行，更要回答“我们的计划是否能达成今年的利润目标？”、“是否与我们的长期战略方向一致？”等战略性问题。它是一个将战略转化为具体行动和财务结果的</a:t>
          </a:r>
          <a:r>
            <a:rPr lang="zh-CN" altLang="en-US" sz="1000" b="1" kern="1200">
              <a:latin typeface="+mj-ea"/>
              <a:ea typeface="+mj-ea"/>
            </a:rPr>
            <a:t>核心管理流程</a:t>
          </a:r>
          <a:r>
            <a:rPr lang="zh-CN" altLang="en-US" sz="1000" kern="1200">
              <a:latin typeface="+mj-ea"/>
              <a:ea typeface="+mj-ea"/>
            </a:rPr>
            <a:t>。 </a:t>
          </a:r>
        </a:p>
      </dsp:txBody>
      <dsp:txXfrm>
        <a:off x="0" y="1943541"/>
        <a:ext cx="3671888" cy="1795500"/>
      </dsp:txXfrm>
    </dsp:sp>
    <dsp:sp modelId="{6194DBA6-0821-4F63-9E89-1674888799F3}">
      <dsp:nvSpPr>
        <dsp:cNvPr id="0" name=""/>
        <dsp:cNvSpPr/>
      </dsp:nvSpPr>
      <dsp:spPr>
        <a:xfrm>
          <a:off x="183594" y="1722141"/>
          <a:ext cx="2570321" cy="442800"/>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7152" tIns="0" rIns="97152" bIns="0" numCol="1" spcCol="1270" anchor="ctr" anchorCtr="0">
          <a:noAutofit/>
        </a:bodyPr>
        <a:lstStyle/>
        <a:p>
          <a:pPr marL="0" lvl="0" indent="0" algn="l" defTabSz="444500">
            <a:lnSpc>
              <a:spcPct val="90000"/>
            </a:lnSpc>
            <a:spcBef>
              <a:spcPct val="0"/>
            </a:spcBef>
            <a:spcAft>
              <a:spcPct val="35000"/>
            </a:spcAft>
            <a:buNone/>
          </a:pPr>
          <a:r>
            <a:rPr lang="zh-CN" altLang="en-US" sz="1000" b="1" kern="1200">
              <a:latin typeface="+mj-ea"/>
              <a:ea typeface="+mj-ea"/>
            </a:rPr>
            <a:t>深度的加强：从“运营平衡”到“战略执行”</a:t>
          </a:r>
          <a:endParaRPr lang="zh-CN" altLang="en-US" sz="1000" kern="1200">
            <a:latin typeface="+mj-ea"/>
            <a:ea typeface="+mj-ea"/>
          </a:endParaRPr>
        </a:p>
      </dsp:txBody>
      <dsp:txXfrm>
        <a:off x="205210" y="1743757"/>
        <a:ext cx="2527089" cy="399568"/>
      </dsp:txXfrm>
    </dsp:sp>
    <dsp:sp modelId="{0AEB5EE8-F5A0-4CAE-8DA8-6D674DFE37DD}">
      <dsp:nvSpPr>
        <dsp:cNvPr id="0" name=""/>
        <dsp:cNvSpPr/>
      </dsp:nvSpPr>
      <dsp:spPr>
        <a:xfrm>
          <a:off x="0" y="4041441"/>
          <a:ext cx="3671888" cy="1606500"/>
        </a:xfrm>
        <a:prstGeom prst="rect">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284979" tIns="312420" rIns="284979" bIns="71120" numCol="1" spcCol="1270" anchor="t" anchorCtr="0">
          <a:noAutofit/>
        </a:bodyPr>
        <a:lstStyle/>
        <a:p>
          <a:pPr marL="57150" lvl="1" indent="-57150" algn="l" defTabSz="444500">
            <a:lnSpc>
              <a:spcPct val="90000"/>
            </a:lnSpc>
            <a:spcBef>
              <a:spcPct val="0"/>
            </a:spcBef>
            <a:spcAft>
              <a:spcPct val="15000"/>
            </a:spcAft>
            <a:buChar char="•"/>
          </a:pPr>
          <a:r>
            <a:rPr lang="zh-CN" altLang="en-US" sz="1000" kern="1200">
              <a:latin typeface="+mj-ea"/>
              <a:ea typeface="+mj-ea"/>
            </a:rPr>
            <a:t>当</a:t>
          </a:r>
          <a:r>
            <a:rPr lang="en-US" altLang="zh-CN" sz="1000" kern="1200">
              <a:latin typeface="+mj-ea"/>
              <a:ea typeface="+mj-ea"/>
            </a:rPr>
            <a:t>S&amp;OP</a:t>
          </a:r>
          <a:r>
            <a:rPr lang="zh-CN" altLang="en-US" sz="1000" kern="1200">
              <a:latin typeface="+mj-ea"/>
              <a:ea typeface="+mj-ea"/>
            </a:rPr>
            <a:t>流程成熟后，公司会发现，仅仅平衡供需是不够的，必须将财务和战略纳入月度循环，才能做出最优决策。这时，流程就自然演进为</a:t>
          </a:r>
          <a:r>
            <a:rPr lang="en-US" altLang="zh-CN" sz="1000" kern="1200">
              <a:latin typeface="+mj-ea"/>
              <a:ea typeface="+mj-ea"/>
            </a:rPr>
            <a:t>IBP</a:t>
          </a:r>
          <a:r>
            <a:rPr lang="zh-CN" altLang="en-US" sz="1000" kern="1200">
              <a:latin typeface="+mj-ea"/>
              <a:ea typeface="+mj-ea"/>
            </a:rPr>
            <a:t>。</a:t>
          </a:r>
        </a:p>
        <a:p>
          <a:pPr marL="57150" lvl="1" indent="-57150" algn="l" defTabSz="444500">
            <a:lnSpc>
              <a:spcPct val="90000"/>
            </a:lnSpc>
            <a:spcBef>
              <a:spcPct val="0"/>
            </a:spcBef>
            <a:spcAft>
              <a:spcPct val="15000"/>
            </a:spcAft>
            <a:buChar char="•"/>
          </a:pPr>
          <a:r>
            <a:rPr lang="zh-CN" altLang="en-US" sz="1000" kern="1200">
              <a:latin typeface="+mj-ea"/>
              <a:ea typeface="+mj-ea"/>
            </a:rPr>
            <a:t>因此，</a:t>
          </a:r>
          <a:r>
            <a:rPr lang="en-US" altLang="zh-CN" sz="1000" kern="1200">
              <a:latin typeface="+mj-ea"/>
              <a:ea typeface="+mj-ea"/>
            </a:rPr>
            <a:t>IBP</a:t>
          </a:r>
          <a:r>
            <a:rPr lang="zh-CN" altLang="en-US" sz="1000" kern="1200">
              <a:latin typeface="+mj-ea"/>
              <a:ea typeface="+mj-ea"/>
            </a:rPr>
            <a:t>被视为</a:t>
          </a:r>
          <a:r>
            <a:rPr lang="en-US" altLang="zh-CN" sz="1000" kern="1200">
              <a:latin typeface="+mj-ea"/>
              <a:ea typeface="+mj-ea"/>
            </a:rPr>
            <a:t>S&amp;OP</a:t>
          </a:r>
          <a:r>
            <a:rPr lang="zh-CN" altLang="en-US" sz="1000" kern="1200">
              <a:latin typeface="+mj-ea"/>
              <a:ea typeface="+mj-ea"/>
            </a:rPr>
            <a:t>的</a:t>
          </a:r>
          <a:r>
            <a:rPr lang="zh-CN" altLang="en-US" sz="1000" b="1" kern="1200">
              <a:latin typeface="+mj-ea"/>
              <a:ea typeface="+mj-ea"/>
            </a:rPr>
            <a:t>最佳实践和成熟阶段</a:t>
          </a:r>
          <a:r>
            <a:rPr lang="zh-CN" altLang="en-US" sz="1000" kern="1200">
              <a:latin typeface="+mj-ea"/>
              <a:ea typeface="+mj-ea"/>
            </a:rPr>
            <a:t>。文档中也提到，许多领先公司为了区分于传统</a:t>
          </a:r>
          <a:r>
            <a:rPr lang="en-US" altLang="zh-CN" sz="1000" kern="1200">
              <a:latin typeface="+mj-ea"/>
              <a:ea typeface="+mj-ea"/>
            </a:rPr>
            <a:t>S&amp;OP</a:t>
          </a:r>
          <a:r>
            <a:rPr lang="zh-CN" altLang="en-US" sz="1000" kern="1200">
              <a:latin typeface="+mj-ea"/>
              <a:ea typeface="+mj-ea"/>
            </a:rPr>
            <a:t>，而将其命名为</a:t>
          </a:r>
          <a:r>
            <a:rPr lang="en-US" altLang="zh-CN" sz="1000" kern="1200">
              <a:latin typeface="+mj-ea"/>
              <a:ea typeface="+mj-ea"/>
            </a:rPr>
            <a:t>IBP</a:t>
          </a:r>
          <a:endParaRPr lang="zh-CN" altLang="en-US" sz="1000" kern="1200">
            <a:latin typeface="+mj-ea"/>
            <a:ea typeface="+mj-ea"/>
          </a:endParaRPr>
        </a:p>
      </dsp:txBody>
      <dsp:txXfrm>
        <a:off x="0" y="4041441"/>
        <a:ext cx="3671888" cy="1606500"/>
      </dsp:txXfrm>
    </dsp:sp>
    <dsp:sp modelId="{D4983783-CBD7-4F48-A4BD-5FD50698419D}">
      <dsp:nvSpPr>
        <dsp:cNvPr id="0" name=""/>
        <dsp:cNvSpPr/>
      </dsp:nvSpPr>
      <dsp:spPr>
        <a:xfrm>
          <a:off x="183594" y="3820041"/>
          <a:ext cx="2570321" cy="442800"/>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7152" tIns="0" rIns="97152" bIns="0" numCol="1" spcCol="1270" anchor="ctr" anchorCtr="0">
          <a:noAutofit/>
        </a:bodyPr>
        <a:lstStyle/>
        <a:p>
          <a:pPr marL="0" lvl="0" indent="0" algn="l" defTabSz="444500">
            <a:lnSpc>
              <a:spcPct val="90000"/>
            </a:lnSpc>
            <a:spcBef>
              <a:spcPct val="0"/>
            </a:spcBef>
            <a:spcAft>
              <a:spcPct val="35000"/>
            </a:spcAft>
            <a:buNone/>
          </a:pPr>
          <a:r>
            <a:rPr lang="zh-CN" altLang="en-US" sz="1000" b="1" kern="1200">
              <a:latin typeface="+mj-ea"/>
              <a:ea typeface="+mj-ea"/>
            </a:rPr>
            <a:t>成熟度的提升：从“部门流程”到“管理方式”</a:t>
          </a:r>
          <a:endParaRPr lang="zh-CN" altLang="en-US" sz="1000" kern="1200">
            <a:latin typeface="+mj-ea"/>
            <a:ea typeface="+mj-ea"/>
          </a:endParaRPr>
        </a:p>
      </dsp:txBody>
      <dsp:txXfrm>
        <a:off x="205210" y="3841657"/>
        <a:ext cx="2527089" cy="399568"/>
      </dsp:txXfrm>
    </dsp:sp>
  </dsp:spTree>
</dsp:drawing>
</file>

<file path=ppt/diagrams/drawing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4AFED79-1DB6-47D1-A396-14EC49326CA4}">
      <dsp:nvSpPr>
        <dsp:cNvPr id="0" name=""/>
        <dsp:cNvSpPr/>
      </dsp:nvSpPr>
      <dsp:spPr>
        <a:xfrm>
          <a:off x="0" y="0"/>
          <a:ext cx="9384542"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9F7EDC7-040E-4195-BB2F-9D6C95BA2078}">
      <dsp:nvSpPr>
        <dsp:cNvPr id="0" name=""/>
        <dsp:cNvSpPr/>
      </dsp:nvSpPr>
      <dsp:spPr>
        <a:xfrm>
          <a:off x="0" y="0"/>
          <a:ext cx="1876908" cy="41171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zh-CN" sz="2400" b="1" i="0" kern="1200" dirty="0">
              <a:latin typeface="+mj-ea"/>
              <a:ea typeface="+mj-ea"/>
            </a:rPr>
            <a:t>初期（</a:t>
          </a:r>
          <a:r>
            <a:rPr lang="en-US" sz="2400" b="1" i="0" kern="1200" dirty="0">
              <a:latin typeface="+mj-ea"/>
              <a:ea typeface="+mj-ea"/>
            </a:rPr>
            <a:t>BOM</a:t>
          </a:r>
          <a:r>
            <a:rPr lang="zh-CN" sz="2400" b="1" i="0" kern="1200" dirty="0">
              <a:latin typeface="+mj-ea"/>
              <a:ea typeface="+mj-ea"/>
            </a:rPr>
            <a:t>不全时）的答复策略是</a:t>
          </a:r>
          <a:r>
            <a:rPr lang="zh-CN" sz="3700" b="1" i="0" kern="1200" dirty="0"/>
            <a:t>：</a:t>
          </a:r>
          <a:endParaRPr lang="zh-CN" sz="3700" kern="1200" dirty="0"/>
        </a:p>
      </dsp:txBody>
      <dsp:txXfrm>
        <a:off x="0" y="0"/>
        <a:ext cx="1876908" cy="4117116"/>
      </dsp:txXfrm>
    </dsp:sp>
    <dsp:sp modelId="{829AA841-E9A8-4964-8B3E-DF53325B04FF}">
      <dsp:nvSpPr>
        <dsp:cNvPr id="0" name=""/>
        <dsp:cNvSpPr/>
      </dsp:nvSpPr>
      <dsp:spPr>
        <a:xfrm>
          <a:off x="2017676" y="48398"/>
          <a:ext cx="7366865" cy="96796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5250" tIns="95250" rIns="95250" bIns="95250" numCol="1" spcCol="1270" anchor="t" anchorCtr="0">
          <a:noAutofit/>
        </a:bodyPr>
        <a:lstStyle/>
        <a:p>
          <a:pPr marL="0" lvl="0" indent="0" algn="l" defTabSz="1111250">
            <a:lnSpc>
              <a:spcPct val="90000"/>
            </a:lnSpc>
            <a:spcBef>
              <a:spcPct val="0"/>
            </a:spcBef>
            <a:spcAft>
              <a:spcPct val="35000"/>
            </a:spcAft>
            <a:buNone/>
          </a:pPr>
          <a:r>
            <a:rPr lang="zh-CN" altLang="en-US" sz="2500" b="1" i="0" kern="1200"/>
            <a:t>诚实透明</a:t>
          </a:r>
          <a:r>
            <a:rPr lang="zh-CN" altLang="en-US" sz="2500" b="0" i="0" kern="1200"/>
            <a:t>：明确告知客户不确定性所在。</a:t>
          </a:r>
          <a:endParaRPr lang="zh-CN" altLang="en-US" sz="2500" kern="1200"/>
        </a:p>
      </dsp:txBody>
      <dsp:txXfrm>
        <a:off x="2017676" y="48398"/>
        <a:ext cx="7366865" cy="967964"/>
      </dsp:txXfrm>
    </dsp:sp>
    <dsp:sp modelId="{E6D27C57-CA65-4DA7-968F-4101D7061D42}">
      <dsp:nvSpPr>
        <dsp:cNvPr id="0" name=""/>
        <dsp:cNvSpPr/>
      </dsp:nvSpPr>
      <dsp:spPr>
        <a:xfrm>
          <a:off x="1876908" y="1016362"/>
          <a:ext cx="7507633"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79CF16F0-4B71-4E08-A187-65ACDE91BE88}">
      <dsp:nvSpPr>
        <dsp:cNvPr id="0" name=""/>
        <dsp:cNvSpPr/>
      </dsp:nvSpPr>
      <dsp:spPr>
        <a:xfrm>
          <a:off x="2017676" y="1064760"/>
          <a:ext cx="7366865" cy="96796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5250" tIns="95250" rIns="95250" bIns="95250" numCol="1" spcCol="1270" anchor="t" anchorCtr="0">
          <a:noAutofit/>
        </a:bodyPr>
        <a:lstStyle/>
        <a:p>
          <a:pPr marL="0" lvl="0" indent="0" algn="l" defTabSz="1111250">
            <a:lnSpc>
              <a:spcPct val="90000"/>
            </a:lnSpc>
            <a:spcBef>
              <a:spcPct val="0"/>
            </a:spcBef>
            <a:spcAft>
              <a:spcPct val="35000"/>
            </a:spcAft>
            <a:buNone/>
          </a:pPr>
          <a:r>
            <a:rPr lang="zh-CN" altLang="en-US" sz="2500" b="1" i="0" kern="1200"/>
            <a:t>基于里程碑</a:t>
          </a:r>
          <a:r>
            <a:rPr lang="zh-CN" altLang="en-US" sz="2500" b="0" i="0" kern="1200"/>
            <a:t>：将交期与清晰的设计阶段完成点挂钩。</a:t>
          </a:r>
          <a:endParaRPr lang="zh-CN" altLang="en-US" sz="2500" kern="1200"/>
        </a:p>
      </dsp:txBody>
      <dsp:txXfrm>
        <a:off x="2017676" y="1064760"/>
        <a:ext cx="7366865" cy="967964"/>
      </dsp:txXfrm>
    </dsp:sp>
    <dsp:sp modelId="{DDECCD03-BEC3-45F1-9E55-567B10AFACE5}">
      <dsp:nvSpPr>
        <dsp:cNvPr id="0" name=""/>
        <dsp:cNvSpPr/>
      </dsp:nvSpPr>
      <dsp:spPr>
        <a:xfrm>
          <a:off x="1876908" y="2032725"/>
          <a:ext cx="7507633"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3441423-F747-4524-996C-BBEB44CB35F8}">
      <dsp:nvSpPr>
        <dsp:cNvPr id="0" name=""/>
        <dsp:cNvSpPr/>
      </dsp:nvSpPr>
      <dsp:spPr>
        <a:xfrm>
          <a:off x="2017676" y="2081123"/>
          <a:ext cx="7366865" cy="96796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5250" tIns="95250" rIns="95250" bIns="95250" numCol="1" spcCol="1270" anchor="t" anchorCtr="0">
          <a:noAutofit/>
        </a:bodyPr>
        <a:lstStyle/>
        <a:p>
          <a:pPr marL="0" lvl="0" indent="0" algn="l" defTabSz="1111250">
            <a:lnSpc>
              <a:spcPct val="90000"/>
            </a:lnSpc>
            <a:spcBef>
              <a:spcPct val="0"/>
            </a:spcBef>
            <a:spcAft>
              <a:spcPct val="35000"/>
            </a:spcAft>
            <a:buNone/>
          </a:pPr>
          <a:r>
            <a:rPr lang="zh-CN" altLang="en-US" sz="2500" b="1" i="0" kern="1200"/>
            <a:t>管理预期</a:t>
          </a:r>
          <a:r>
            <a:rPr lang="zh-CN" altLang="en-US" sz="2500" b="0" i="0" kern="1200"/>
            <a:t>：提供时间范围而非具体日期，并说明下一步获取更准确信息的节点。</a:t>
          </a:r>
          <a:endParaRPr lang="zh-CN" altLang="en-US" sz="2500" kern="1200"/>
        </a:p>
      </dsp:txBody>
      <dsp:txXfrm>
        <a:off x="2017676" y="2081123"/>
        <a:ext cx="7366865" cy="967964"/>
      </dsp:txXfrm>
    </dsp:sp>
    <dsp:sp modelId="{450F3FE6-30EE-4B03-A13B-106B3FBD48DA}">
      <dsp:nvSpPr>
        <dsp:cNvPr id="0" name=""/>
        <dsp:cNvSpPr/>
      </dsp:nvSpPr>
      <dsp:spPr>
        <a:xfrm>
          <a:off x="1876908" y="3049088"/>
          <a:ext cx="7507633"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58F13F0-81BE-4BAF-A9C7-2F2DEC66BFF4}">
      <dsp:nvSpPr>
        <dsp:cNvPr id="0" name=""/>
        <dsp:cNvSpPr/>
      </dsp:nvSpPr>
      <dsp:spPr>
        <a:xfrm>
          <a:off x="2017676" y="3097486"/>
          <a:ext cx="7366865" cy="96796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5250" tIns="95250" rIns="95250" bIns="95250" numCol="1" spcCol="1270" anchor="t" anchorCtr="0">
          <a:noAutofit/>
        </a:bodyPr>
        <a:lstStyle/>
        <a:p>
          <a:pPr marL="0" lvl="0" indent="0" algn="l" defTabSz="1111250">
            <a:lnSpc>
              <a:spcPct val="90000"/>
            </a:lnSpc>
            <a:spcBef>
              <a:spcPct val="0"/>
            </a:spcBef>
            <a:spcAft>
              <a:spcPct val="35000"/>
            </a:spcAft>
            <a:buNone/>
          </a:pPr>
          <a:r>
            <a:rPr lang="zh-CN" altLang="en-US" sz="2500" b="1" i="0" kern="1200"/>
            <a:t>聚焦关键路径</a:t>
          </a:r>
          <a:r>
            <a:rPr lang="zh-CN" altLang="en-US" sz="2500" b="0" i="0" kern="1200"/>
            <a:t>：优先识别和承诺长周期物料的节点，这本身就是对总交期的有效控制</a:t>
          </a:r>
          <a:endParaRPr lang="zh-CN" altLang="en-US" sz="2500" kern="1200"/>
        </a:p>
      </dsp:txBody>
      <dsp:txXfrm>
        <a:off x="2017676" y="3097486"/>
        <a:ext cx="7366865" cy="967964"/>
      </dsp:txXfrm>
    </dsp:sp>
    <dsp:sp modelId="{13C6A2FD-F55B-4C4E-AB91-B266A9E1BC95}">
      <dsp:nvSpPr>
        <dsp:cNvPr id="0" name=""/>
        <dsp:cNvSpPr/>
      </dsp:nvSpPr>
      <dsp:spPr>
        <a:xfrm>
          <a:off x="1876908" y="4065451"/>
          <a:ext cx="7507633"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FE7A262-0975-427A-9793-E39110CFFB69}">
      <dsp:nvSpPr>
        <dsp:cNvPr id="0" name=""/>
        <dsp:cNvSpPr/>
      </dsp:nvSpPr>
      <dsp:spPr>
        <a:xfrm>
          <a:off x="0" y="179055"/>
          <a:ext cx="8080039" cy="2646000"/>
        </a:xfrm>
        <a:prstGeom prst="rect">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27101" tIns="208280" rIns="627101" bIns="85344" numCol="1" spcCol="1270" anchor="t" anchorCtr="0">
          <a:noAutofit/>
        </a:bodyPr>
        <a:lstStyle/>
        <a:p>
          <a:pPr marL="114300" lvl="1" indent="-114300" algn="l" defTabSz="533400">
            <a:lnSpc>
              <a:spcPct val="90000"/>
            </a:lnSpc>
            <a:spcBef>
              <a:spcPct val="0"/>
            </a:spcBef>
            <a:spcAft>
              <a:spcPct val="15000"/>
            </a:spcAft>
            <a:buChar char="•"/>
          </a:pPr>
          <a:r>
            <a:rPr lang="zh-CN" altLang="en-US" sz="1200" b="1" i="0" kern="1200" dirty="0">
              <a:latin typeface="+mj-ea"/>
              <a:ea typeface="+mj-ea"/>
            </a:rPr>
            <a:t>问题一（规模与速度）：</a:t>
          </a:r>
          <a:endParaRPr lang="zh-CN" altLang="en-US" sz="1200" kern="1200" dirty="0">
            <a:latin typeface="+mj-ea"/>
            <a:ea typeface="+mj-ea"/>
          </a:endParaRPr>
        </a:p>
        <a:p>
          <a:pPr marL="228600" lvl="2" indent="-114300" algn="l" defTabSz="533400">
            <a:lnSpc>
              <a:spcPct val="90000"/>
            </a:lnSpc>
            <a:spcBef>
              <a:spcPct val="0"/>
            </a:spcBef>
            <a:spcAft>
              <a:spcPct val="15000"/>
            </a:spcAft>
            <a:buChar char="•"/>
          </a:pPr>
          <a:r>
            <a:rPr lang="zh-CN" sz="1200" b="0" i="0" kern="1200" dirty="0">
              <a:latin typeface="+mj-ea"/>
              <a:ea typeface="+mj-ea"/>
            </a:rPr>
            <a:t>企业的数据量巨大（如百万级</a:t>
          </a:r>
          <a:r>
            <a:rPr lang="en-US" sz="1200" b="0" i="0" kern="1200" dirty="0">
              <a:latin typeface="+mj-ea"/>
              <a:ea typeface="+mj-ea"/>
            </a:rPr>
            <a:t>SKU</a:t>
          </a:r>
          <a:r>
            <a:rPr lang="zh-CN" sz="1200" b="0" i="0" kern="1200" dirty="0">
              <a:latin typeface="+mj-ea"/>
              <a:ea typeface="+mj-ea"/>
            </a:rPr>
            <a:t>的实时库存、订单、产能计算），决策逻辑复杂（如全局优化的排产算法）。</a:t>
          </a:r>
          <a:r>
            <a:rPr lang="zh-CN" sz="1200" b="1" i="0" kern="1200" dirty="0">
              <a:latin typeface="+mj-ea"/>
              <a:ea typeface="+mj-ea"/>
            </a:rPr>
            <a:t>人类的手工操作无法在业务要求的时间（秒</a:t>
          </a:r>
          <a:r>
            <a:rPr lang="en-US" sz="1200" b="1" i="0" kern="1200" dirty="0">
              <a:latin typeface="+mj-ea"/>
              <a:ea typeface="+mj-ea"/>
            </a:rPr>
            <a:t>/</a:t>
          </a:r>
          <a:r>
            <a:rPr lang="zh-CN" sz="1200" b="1" i="0" kern="1200" dirty="0">
              <a:latin typeface="+mj-ea"/>
              <a:ea typeface="+mj-ea"/>
            </a:rPr>
            <a:t>分钟级）内完成这些海量计算。</a:t>
          </a:r>
          <a:endParaRPr lang="zh-CN" sz="1200" kern="1200" dirty="0">
            <a:latin typeface="+mj-ea"/>
            <a:ea typeface="+mj-ea"/>
          </a:endParaRPr>
        </a:p>
        <a:p>
          <a:pPr marL="114300" lvl="1" indent="-114300" algn="l" defTabSz="533400">
            <a:lnSpc>
              <a:spcPct val="90000"/>
            </a:lnSpc>
            <a:spcBef>
              <a:spcPct val="0"/>
            </a:spcBef>
            <a:spcAft>
              <a:spcPct val="15000"/>
            </a:spcAft>
            <a:buChar char="•"/>
          </a:pPr>
          <a:r>
            <a:rPr lang="zh-CN" altLang="en-US" sz="1200" b="1" i="0" kern="1200" dirty="0">
              <a:latin typeface="+mj-ea"/>
              <a:ea typeface="+mj-ea"/>
            </a:rPr>
            <a:t>问题二（精准与一致）：</a:t>
          </a:r>
          <a:r>
            <a:rPr lang="zh-CN" altLang="en-US" sz="1200" b="0" i="0" kern="1200" dirty="0">
              <a:latin typeface="+mj-ea"/>
              <a:ea typeface="+mj-ea"/>
            </a:rPr>
            <a:t> </a:t>
          </a:r>
          <a:endParaRPr lang="zh-CN" altLang="en-US" sz="1200" kern="1200" dirty="0">
            <a:latin typeface="+mj-ea"/>
            <a:ea typeface="+mj-ea"/>
          </a:endParaRPr>
        </a:p>
        <a:p>
          <a:pPr marL="228600" lvl="2" indent="-114300" algn="l" defTabSz="533400">
            <a:lnSpc>
              <a:spcPct val="90000"/>
            </a:lnSpc>
            <a:spcBef>
              <a:spcPct val="0"/>
            </a:spcBef>
            <a:spcAft>
              <a:spcPct val="15000"/>
            </a:spcAft>
            <a:buChar char="•"/>
          </a:pPr>
          <a:r>
            <a:rPr lang="zh-CN" sz="1200" b="0" i="0" kern="1200" dirty="0">
              <a:latin typeface="+mj-ea"/>
              <a:ea typeface="+mj-ea"/>
            </a:rPr>
            <a:t>数据模型要求全公司对“库存”、“订单”等概念的定义绝对统一，业务算法要求决策规则被</a:t>
          </a:r>
          <a:r>
            <a:rPr lang="en-US" sz="1200" b="0" i="0" kern="1200" dirty="0">
              <a:latin typeface="+mj-ea"/>
              <a:ea typeface="+mj-ea"/>
            </a:rPr>
            <a:t>100%</a:t>
          </a:r>
          <a:r>
            <a:rPr lang="zh-CN" sz="1200" b="0" i="0" kern="1200" dirty="0">
              <a:latin typeface="+mj-ea"/>
              <a:ea typeface="+mj-ea"/>
            </a:rPr>
            <a:t>准确无误地执行。</a:t>
          </a:r>
          <a:r>
            <a:rPr lang="zh-CN" sz="1200" b="1" i="0" kern="1200" dirty="0">
              <a:latin typeface="+mj-ea"/>
              <a:ea typeface="+mj-ea"/>
            </a:rPr>
            <a:t>人类的主观理解和执行必然引入歧义和误差。</a:t>
          </a:r>
          <a:endParaRPr lang="zh-CN" sz="1200" kern="1200" dirty="0">
            <a:latin typeface="+mj-ea"/>
            <a:ea typeface="+mj-ea"/>
          </a:endParaRPr>
        </a:p>
        <a:p>
          <a:pPr marL="114300" lvl="1" indent="-114300" algn="l" defTabSz="533400">
            <a:lnSpc>
              <a:spcPct val="90000"/>
            </a:lnSpc>
            <a:spcBef>
              <a:spcPct val="0"/>
            </a:spcBef>
            <a:spcAft>
              <a:spcPct val="15000"/>
            </a:spcAft>
            <a:buChar char="•"/>
          </a:pPr>
          <a:r>
            <a:rPr lang="zh-CN" altLang="en-US" sz="1200" b="1" i="0" kern="1200" dirty="0">
              <a:latin typeface="+mj-ea"/>
              <a:ea typeface="+mj-ea"/>
            </a:rPr>
            <a:t>必然性：</a:t>
          </a:r>
          <a:endParaRPr lang="zh-CN" altLang="en-US" sz="1200" kern="1200" dirty="0">
            <a:latin typeface="+mj-ea"/>
            <a:ea typeface="+mj-ea"/>
          </a:endParaRPr>
        </a:p>
        <a:p>
          <a:pPr marL="228600" lvl="2" indent="-114300" algn="l" defTabSz="533400">
            <a:lnSpc>
              <a:spcPct val="90000"/>
            </a:lnSpc>
            <a:spcBef>
              <a:spcPct val="0"/>
            </a:spcBef>
            <a:spcAft>
              <a:spcPct val="15000"/>
            </a:spcAft>
            <a:buChar char="•"/>
          </a:pPr>
          <a:r>
            <a:rPr lang="zh-CN" altLang="en-US" sz="1200" b="0" i="0" kern="1200" dirty="0">
              <a:latin typeface="+mj-ea"/>
              <a:ea typeface="+mj-ea"/>
            </a:rPr>
            <a:t>要实现我们方法论所定义的“内核”，</a:t>
          </a:r>
          <a:r>
            <a:rPr lang="zh-CN" altLang="en-US" sz="1200" b="1" i="0" kern="1200" dirty="0">
              <a:latin typeface="+mj-ea"/>
              <a:ea typeface="+mj-ea"/>
            </a:rPr>
            <a:t>必须依赖数字化系统</a:t>
          </a:r>
          <a:r>
            <a:rPr lang="zh-CN" altLang="en-US" sz="1200" b="0" i="0" kern="1200" dirty="0">
              <a:latin typeface="+mj-ea"/>
              <a:ea typeface="+mj-ea"/>
            </a:rPr>
            <a:t>来承担“实时、精准、自动化的计算与协同”这一使命。</a:t>
          </a:r>
          <a:r>
            <a:rPr lang="zh-CN" altLang="en-US" sz="1200" b="1" i="0" kern="1200" dirty="0">
              <a:latin typeface="+mj-ea"/>
              <a:ea typeface="+mj-ea"/>
            </a:rPr>
            <a:t>数字化从“可选项”变成了“必选项”</a:t>
          </a:r>
          <a:endParaRPr lang="zh-CN" altLang="en-US" sz="1200" kern="1200" dirty="0">
            <a:latin typeface="+mj-ea"/>
            <a:ea typeface="+mj-ea"/>
          </a:endParaRPr>
        </a:p>
      </dsp:txBody>
      <dsp:txXfrm>
        <a:off x="0" y="179055"/>
        <a:ext cx="8080039" cy="2646000"/>
      </dsp:txXfrm>
    </dsp:sp>
    <dsp:sp modelId="{81A642B3-794B-4100-9C50-EAC7F0604A16}">
      <dsp:nvSpPr>
        <dsp:cNvPr id="0" name=""/>
        <dsp:cNvSpPr/>
      </dsp:nvSpPr>
      <dsp:spPr>
        <a:xfrm>
          <a:off x="404001" y="31455"/>
          <a:ext cx="5656027" cy="295200"/>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13784" tIns="0" rIns="213784" bIns="0" numCol="1" spcCol="1270" anchor="ctr" anchorCtr="0">
          <a:noAutofit/>
        </a:bodyPr>
        <a:lstStyle/>
        <a:p>
          <a:pPr marL="0" lvl="0" indent="0" algn="l" defTabSz="622300">
            <a:lnSpc>
              <a:spcPct val="90000"/>
            </a:lnSpc>
            <a:spcBef>
              <a:spcPct val="0"/>
            </a:spcBef>
            <a:spcAft>
              <a:spcPct val="35000"/>
            </a:spcAft>
            <a:buNone/>
          </a:pPr>
          <a:r>
            <a:rPr lang="zh-CN" altLang="en-US" sz="1400" b="1" i="0" kern="1200">
              <a:latin typeface="+mj-ea"/>
              <a:ea typeface="+mj-ea"/>
            </a:rPr>
            <a:t>目标：业务算法与统一的数据模型作为运营的核心</a:t>
          </a:r>
          <a:endParaRPr lang="zh-CN" altLang="en-US" sz="1400" b="1" kern="1200">
            <a:latin typeface="+mj-ea"/>
            <a:ea typeface="+mj-ea"/>
          </a:endParaRPr>
        </a:p>
      </dsp:txBody>
      <dsp:txXfrm>
        <a:off x="418411" y="45865"/>
        <a:ext cx="5627207" cy="266380"/>
      </dsp:txXfrm>
    </dsp:sp>
  </dsp:spTree>
</dsp:drawing>
</file>

<file path=ppt/diagrams/layout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pyramid3">
  <dgm:title val=""/>
  <dgm:desc val=""/>
  <dgm:catLst>
    <dgm:cat type="pyramid" pri="2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T"/>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T"/>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rev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t"/>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layout5.xml><?xml version="1.0" encoding="utf-8"?>
<dgm:layoutDef xmlns:dgm="http://schemas.openxmlformats.org/drawingml/2006/diagram" xmlns:a="http://schemas.openxmlformats.org/drawingml/2006/main" uniqueId="urn:microsoft.com/office/officeart/2005/8/layout/hProcess11">
  <dgm:title val=""/>
  <dgm:desc val=""/>
  <dgm:catLst>
    <dgm:cat type="process" pri="8000"/>
    <dgm:cat type="convert" pri="14000"/>
  </dgm:catLst>
  <dgm:sampData useDef="1">
    <dgm:dataModel>
      <dgm:pt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alg type="composite"/>
    <dgm:shape xmlns:r="http://schemas.openxmlformats.org/officeDocument/2006/relationships" r:blip="">
      <dgm:adjLst/>
    </dgm:shape>
    <dgm:presOf/>
    <dgm:choose name="Name1">
      <dgm:if name="Name2" func="var" arg="dir" op="equ" val="norm">
        <dgm:constrLst>
          <dgm:constr type="w" for="ch" forName="arrow" refType="w"/>
          <dgm:constr type="h" for="ch" forName="arrow" refType="h" fact="0.4"/>
          <dgm:constr type="ctrY" for="ch" forName="arrow" refType="h" fact="0.5"/>
          <dgm:constr type="l" for="ch" forName="arrow"/>
          <dgm:constr type="w" for="ch" forName="points" refType="w" fact="0.9"/>
          <dgm:constr type="h" for="ch" forName="points" refType="h"/>
          <dgm:constr type="t" for="ch" forName="points"/>
          <dgm:constr type="l" for="ch" forName="points"/>
        </dgm:constrLst>
      </dgm:if>
      <dgm:else name="Name3">
        <dgm:constrLst>
          <dgm:constr type="w" for="ch" forName="arrow" refType="w"/>
          <dgm:constr type="h" for="ch" forName="arrow" refType="h" fact="0.4"/>
          <dgm:constr type="ctrY" for="ch" forName="arrow" refType="h" fact="0.5"/>
          <dgm:constr type="r" for="ch" forName="arrow" refType="w"/>
          <dgm:constr type="w" for="ch" forName="points" refType="w" fact="0.9"/>
          <dgm:constr type="h" for="ch" forName="points" refType="h"/>
          <dgm:constr type="t" for="ch" forName="points"/>
          <dgm:constr type="r" for="ch" forName="points" refType="w"/>
        </dgm:constrLst>
      </dgm:else>
    </dgm:choose>
    <dgm:ruleLst/>
    <dgm:layoutNode name="arrow" styleLbl="bgShp">
      <dgm:alg type="sp"/>
      <dgm:choose name="Name4">
        <dgm:if name="Name5" func="var" arg="dir" op="equ" val="norm">
          <dgm:shape xmlns:r="http://schemas.openxmlformats.org/officeDocument/2006/relationships" type="notchedRightArrow" r:blip="">
            <dgm:adjLst/>
          </dgm:shape>
        </dgm:if>
        <dgm:else name="Name6">
          <dgm:shape xmlns:r="http://schemas.openxmlformats.org/officeDocument/2006/relationships" rot="180" type="notchedRightArrow" r:blip="">
            <dgm:adjLst/>
          </dgm:shape>
        </dgm:else>
      </dgm:choose>
      <dgm:presOf/>
      <dgm:constrLst/>
      <dgm:ruleLst/>
    </dgm:layoutNode>
    <dgm:layoutNode name="points">
      <dgm:choose name="Name7">
        <dgm:if name="Name8" func="var" arg="dir" op="equ" val="norm">
          <dgm:alg type="lin">
            <dgm:param type="linDir" val="fromL"/>
          </dgm:alg>
        </dgm:if>
        <dgm:else name="Name9">
          <dgm:alg type="lin">
            <dgm:param type="linDir" val="fromR"/>
          </dgm:alg>
        </dgm:else>
      </dgm:choose>
      <dgm:shape xmlns:r="http://schemas.openxmlformats.org/officeDocument/2006/relationships" r:blip="">
        <dgm:adjLst/>
      </dgm:shape>
      <dgm:presOf/>
      <dgm:constrLst>
        <dgm:constr type="w" for="ch" forName="compositeA" refType="w"/>
        <dgm:constr type="h" for="ch" forName="compositeA" refType="h"/>
        <dgm:constr type="w" for="ch" forName="compositeB" refType="w" refFor="ch" refForName="compositeA" op="equ"/>
        <dgm:constr type="h" for="ch" forName="compositeB" refType="h" refFor="ch" refForName="compositeA" op="equ"/>
        <dgm:constr type="primFontSz" for="des" ptType="node" op="equ" val="65"/>
        <dgm:constr type="w" for="ch" forName="space" refType="w" refFor="ch" refForName="compositeA" op="equ" fact="0.05"/>
      </dgm:constrLst>
      <dgm:ruleLst/>
      <dgm:forEach name="Name10" axis="ch" ptType="node">
        <dgm:choose name="Name11">
          <dgm:if name="Name12" axis="self" ptType="node" func="posOdd" op="equ" val="1">
            <dgm:layoutNode name="compositeA">
              <dgm:alg type="composite"/>
              <dgm:shape xmlns:r="http://schemas.openxmlformats.org/officeDocument/2006/relationships" r:blip="">
                <dgm:adjLst/>
              </dgm:shape>
              <dgm:presOf/>
              <dgm:constrLst>
                <dgm:constr type="w" for="ch" forName="textA" refType="w"/>
                <dgm:constr type="h" for="ch" forName="textA" refType="h" fact="0.4"/>
                <dgm:constr type="t" for="ch" forName="textA"/>
                <dgm:constr type="l" for="ch" forName="textA"/>
                <dgm:constr type="h" for="ch" forName="circleA" refType="h" fact="0.1"/>
                <dgm:constr type="h" for="ch" forName="circleA" refType="w" op="lte"/>
                <dgm:constr type="w" for="ch" forName="circleA" refType="h" refFor="ch" refForName="circleA" op="equ"/>
                <dgm:constr type="ctrY" for="ch" forName="circleA" refType="h" fact="0.5"/>
                <dgm:constr type="ctrX" for="ch" forName="circleA" refType="w" refFor="ch" refForName="textA" fact="0.5"/>
                <dgm:constr type="w" for="ch" forName="spaceA" refType="w"/>
                <dgm:constr type="h" for="ch" forName="spaceA" refType="h" fact="0.4"/>
                <dgm:constr type="b" for="ch" forName="spaceA" refType="h"/>
                <dgm:constr type="l" for="ch" forName="spaceA"/>
              </dgm:constrLst>
              <dgm:ruleLst/>
              <dgm:layoutNode name="textA" styleLbl="revTx">
                <dgm:varLst>
                  <dgm:bulletEnabled val="1"/>
                </dgm:varLst>
                <dgm:alg type="tx">
                  <dgm:param type="txAnchorVert" val="b"/>
                  <dgm:param type="txAnchorVertCh" val="b"/>
                  <dgm:param type="txAnchorHorzCh" val="ctr"/>
                </dgm:alg>
                <dgm:shape xmlns:r="http://schemas.openxmlformats.org/officeDocument/2006/relationships" type="rect" r:blip="">
                  <dgm:adjLst/>
                </dgm:shape>
                <dgm:presOf axis="desOrSelf" ptType="node"/>
                <dgm:constrLst/>
                <dgm:ruleLst>
                  <dgm:rule type="primFontSz" val="5" fact="NaN" max="NaN"/>
                </dgm:ruleLst>
              </dgm:layoutNode>
              <dgm:layoutNode name="circleA">
                <dgm:alg type="sp"/>
                <dgm:shape xmlns:r="http://schemas.openxmlformats.org/officeDocument/2006/relationships" type="ellipse" r:blip="">
                  <dgm:adjLst/>
                </dgm:shape>
                <dgm:presOf/>
                <dgm:constrLst/>
                <dgm:ruleLst/>
              </dgm:layoutNode>
              <dgm:layoutNode name="spaceA">
                <dgm:alg type="sp"/>
                <dgm:shape xmlns:r="http://schemas.openxmlformats.org/officeDocument/2006/relationships" r:blip="">
                  <dgm:adjLst/>
                </dgm:shape>
                <dgm:presOf/>
                <dgm:constrLst/>
                <dgm:ruleLst/>
              </dgm:layoutNode>
            </dgm:layoutNode>
          </dgm:if>
          <dgm:else name="Name13">
            <dgm:layoutNode name="compositeB">
              <dgm:alg type="composite"/>
              <dgm:shape xmlns:r="http://schemas.openxmlformats.org/officeDocument/2006/relationships" r:blip="">
                <dgm:adjLst/>
              </dgm:shape>
              <dgm:presOf/>
              <dgm:constrLst>
                <dgm:constr type="w" for="ch" forName="textB" refType="w"/>
                <dgm:constr type="h" for="ch" forName="textB" refType="h" fact="0.4"/>
                <dgm:constr type="b" for="ch" forName="textB" refType="h"/>
                <dgm:constr type="l" for="ch" forName="textB"/>
                <dgm:constr type="h" for="ch" forName="circleB" refType="h" fact="0.1"/>
                <dgm:constr type="w" for="ch" forName="circleB" refType="h" refFor="ch" refForName="circleB" op="equ"/>
                <dgm:constr type="h" for="ch" forName="circleB" refType="w" op="lte"/>
                <dgm:constr type="ctrY" for="ch" forName="circleB" refType="h" fact="0.5"/>
                <dgm:constr type="ctrX" for="ch" forName="circleB" refType="w" refFor="ch" refForName="textB" fact="0.5"/>
                <dgm:constr type="w" for="ch" forName="spaceB" refType="w"/>
                <dgm:constr type="h" for="ch" forName="spaceB" refType="h" fact="0.4"/>
                <dgm:constr type="t" for="ch" forName="spaceB"/>
                <dgm:constr type="l" for="ch" forName="spaceB"/>
              </dgm:constrLst>
              <dgm:ruleLst/>
              <dgm:layoutNode name="textB" styleLbl="revTx">
                <dgm:varLst>
                  <dgm:bulletEnabled val="1"/>
                </dgm:varLst>
                <dgm:alg type="tx">
                  <dgm:param type="txAnchorVert" val="t"/>
                  <dgm:param type="txAnchorVertCh" val="t"/>
                  <dgm:param type="txAnchorHorzCh" val="ctr"/>
                </dgm:alg>
                <dgm:shape xmlns:r="http://schemas.openxmlformats.org/officeDocument/2006/relationships" type="rect" r:blip="">
                  <dgm:adjLst/>
                </dgm:shape>
                <dgm:presOf axis="desOrSelf" ptType="node"/>
                <dgm:constrLst/>
                <dgm:ruleLst>
                  <dgm:rule type="primFontSz" val="5" fact="NaN" max="NaN"/>
                </dgm:ruleLst>
              </dgm:layoutNode>
              <dgm:layoutNode name="circleB">
                <dgm:alg type="sp"/>
                <dgm:shape xmlns:r="http://schemas.openxmlformats.org/officeDocument/2006/relationships" type="ellipse" r:blip="">
                  <dgm:adjLst/>
                </dgm:shape>
                <dgm:presOf/>
                <dgm:constrLst/>
                <dgm:ruleLst/>
              </dgm:layoutNode>
              <dgm:layoutNode name="spaceB">
                <dgm:alg type="sp"/>
                <dgm:shape xmlns:r="http://schemas.openxmlformats.org/officeDocument/2006/relationships" r:blip="">
                  <dgm:adjLst/>
                </dgm:shape>
                <dgm:presOf/>
                <dgm:constrLst/>
                <dgm:ruleLst/>
              </dgm:layoutNode>
            </dgm:layoutNode>
          </dgm:else>
        </dgm:choose>
        <dgm:forEach name="Name14" axis="followSib" ptType="sibTrans" cnt="1">
          <dgm:layoutNode name="space">
            <dgm:alg type="sp"/>
            <dgm:shape xmlns:r="http://schemas.openxmlformats.org/officeDocument/2006/relationships" r:blip="">
              <dgm:adjLst/>
            </dgm:shape>
            <dgm:presOf/>
            <dgm:constrLst/>
            <dgm:ruleLst/>
          </dgm:layoutNode>
        </dgm:forEach>
      </dgm:forEach>
    </dgm:layoutNode>
  </dgm:layoutNode>
</dgm:layoutDef>
</file>

<file path=ppt/diagrams/layout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10.xml><?xml version="1.0" encoding="utf-8"?>
<dgm:layoutDef xmlns:dgm="http://schemas.openxmlformats.org/drawingml/2006/diagram" xmlns:a="http://schemas.openxmlformats.org/drawingml/2006/main" uniqueId="urn:microsoft.com/office/officeart/2005/8/layout/hierarchy6">
  <dgm:title val=""/>
  <dgm:desc val=""/>
  <dgm:catLst>
    <dgm:cat type="hierarchy" pri="3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 modelId="4">
          <dgm:prSet phldr="1"/>
        </dgm:pt>
        <dgm:pt modelId="5">
          <dgm:prSet phldr="1"/>
        </dgm:pt>
        <dgm:pt modelId="6">
          <dgm:prSet phldr="1"/>
        </dgm:pt>
      </dgm:ptLst>
      <dgm:cxnLst>
        <dgm:cxn modelId="7" srcId="0" destId="1" srcOrd="0" destOrd="0"/>
        <dgm:cxn modelId="8" srcId="1" destId="2" srcOrd="0" destOrd="0"/>
        <dgm:cxn modelId="9" srcId="1" destId="3" srcOrd="1" destOrd="0"/>
        <dgm:cxn modelId="23" srcId="2" destId="21" srcOrd="0" destOrd="0"/>
        <dgm:cxn modelId="24" srcId="2" destId="22" srcOrd="1" destOrd="0"/>
        <dgm:cxn modelId="33" srcId="3" destId="31" srcOrd="0" destOrd="0"/>
        <dgm:cxn modelId="10" srcId="0" destId="4" srcOrd="1" destOrd="0"/>
        <dgm:cxn modelId="11" srcId="0" destId="5" srcOrd="2" destOrd="0"/>
        <dgm:cxn modelId="12" srcId="0" destId="6" srcOrd="3" destOrd="0"/>
      </dgm:cxnLst>
      <dgm:bg/>
      <dgm:whole/>
    </dgm:dataModel>
  </dgm:sampData>
  <dgm:styleData>
    <dgm:dataModel>
      <dgm:ptLst>
        <dgm:pt modelId="0" type="doc"/>
        <dgm:pt modelId="1"/>
        <dgm:pt modelId="11"/>
        <dgm:pt modelId="12"/>
        <dgm:pt modelId="2"/>
        <dgm:pt modelId="3"/>
      </dgm:ptLst>
      <dgm:cxnLst>
        <dgm:cxn modelId="4" srcId="0" destId="1" srcOrd="0" destOrd="0"/>
        <dgm:cxn modelId="13" srcId="1" destId="11" srcOrd="0" destOrd="0"/>
        <dgm:cxn modelId="14" srcId="1" destId="12" srcOrd="1" destOrd="0"/>
        <dgm:cxn modelId="5" srcId="0" destId="2" srcOrd="1" destOrd="0"/>
        <dgm:cxn modelId="6" srcId="0" destId="3" srcOrd="2" destOrd="0"/>
      </dgm:cxnLst>
      <dgm:bg/>
      <dgm:whole/>
    </dgm:dataModel>
  </dgm:styleData>
  <dgm:clrData>
    <dgm:dataModel>
      <dgm:ptLst>
        <dgm:pt modelId="0" type="doc"/>
        <dgm:pt modelId="1"/>
        <dgm:pt modelId="2"/>
        <dgm:pt modelId="21"/>
        <dgm:pt modelId="211"/>
        <dgm:pt modelId="3"/>
        <dgm:pt modelId="31"/>
        <dgm:pt modelId="311"/>
        <dgm:pt modelId="4"/>
        <dgm:pt modelId="5"/>
        <dgm:pt modelId="6"/>
        <dgm:pt modelId="7"/>
      </dgm:ptLst>
      <dgm:cxnLst>
        <dgm:cxn modelId="8" srcId="0" destId="1" srcOrd="0" destOrd="0"/>
        <dgm:cxn modelId="9" srcId="1" destId="2" srcOrd="0" destOrd="0"/>
        <dgm:cxn modelId="10" srcId="1" destId="3" srcOrd="1" destOrd="0"/>
        <dgm:cxn modelId="23" srcId="2" destId="21" srcOrd="0" destOrd="0"/>
        <dgm:cxn modelId="24" srcId="21" destId="211" srcOrd="0" destOrd="0"/>
        <dgm:cxn modelId="33" srcId="3" destId="31" srcOrd="0" destOrd="0"/>
        <dgm:cxn modelId="34" srcId="31" destId="311" srcOrd="0" destOrd="0"/>
        <dgm:cxn modelId="11" srcId="0" destId="4" srcOrd="1" destOrd="0"/>
        <dgm:cxn modelId="12" srcId="0" destId="5" srcOrd="2" destOrd="0"/>
        <dgm:cxn modelId="13" srcId="0" destId="6" srcOrd="3" destOrd="0"/>
        <dgm:cxn modelId="14" srcId="0" destId="7" srcOrd="4" destOrd="0"/>
      </dgm:cxnLst>
      <dgm:bg/>
      <dgm:whole/>
    </dgm:dataModel>
  </dgm:clrData>
  <dgm:layoutNode name="mainComposite">
    <dgm:varLst>
      <dgm:chPref val="1"/>
      <dgm:dir/>
      <dgm:animOne val="branch"/>
      <dgm:animLvl val="lvl"/>
      <dgm:resizeHandles val="exact"/>
    </dgm:varLst>
    <dgm:alg type="composite">
      <dgm:param type="vertAlign" val="mid"/>
      <dgm:param type="horzAlign" val="ctr"/>
    </dgm:alg>
    <dgm:shape xmlns:r="http://schemas.openxmlformats.org/officeDocument/2006/relationships" r:blip="">
      <dgm:adjLst/>
    </dgm:shape>
    <dgm:presOf/>
    <dgm:choose name="Name0">
      <dgm:if name="Name1" axis="ch" ptType="node" func="cnt" op="gte" val="2">
        <dgm:choose name="Name2">
          <dgm:if name="Name3" func="var" arg="dir" op="equ" val="norm">
            <dgm:constrLst>
              <dgm:constr type="l" for="ch" forName="hierFlow" refType="w" fact="0.3"/>
              <dgm:constr type="t" for="ch" forName="hierFlow"/>
              <dgm:constr type="r" for="ch" forName="hierFlow" refType="w" fact="0.98"/>
              <dgm:constr type="b" for="ch" forName="hierFlow" refType="h" fact="0.98"/>
              <dgm:constr type="l" for="ch" forName="bgShapesFlow"/>
              <dgm:constr type="t" for="ch" forName="bgShapesFlow"/>
              <dgm:constr type="r" for="ch" forName="bgShapesFlow" refType="w"/>
              <dgm:constr type="b" for="ch" forName="bgShapesFlow" refType="h"/>
              <dgm:constr type="w" for="des" forName="level1Shape" refType="w"/>
              <dgm:constr type="h" for="des" forName="level1Shape" refType="w" refFor="des" refForName="level1Shape" fact="0.66667"/>
              <dgm:constr type="w" for="des" forName="level2Shape" refType="w" refFor="des" refForName="level1Shape" op="equ"/>
              <dgm:constr type="h" for="des" forName="level2Shape" refType="h" refFor="des" refForName="level1Shape" op="equ"/>
              <dgm:constr type="sp" for="des" refType="h" refFor="des" refForName="level1Shape" op="equ" fact="0.4"/>
              <dgm:constr type="sibSp" for="des" forName="hierChild1" refType="w" refFor="des" refForName="level1Shape" op="equ" fact="0.3"/>
              <dgm:constr type="sibSp" for="des" forName="hierChild2" refType="sibSp" refFor="des" refForName="hierChild1" op="equ"/>
              <dgm:constr type="sibSp" for="des" forName="hierChild3" refType="sibSp" refFor="des" refForName="hierChild1" op="equ"/>
              <dgm:constr type="userA" for="des" refType="h" refFor="des" refForName="level1Shape" op="equ"/>
              <dgm:constr type="userB" for="des" refType="sp" refFor="des" op="equ"/>
              <dgm:constr type="h" for="des" forName="firstBuf" refType="h" refFor="des" refForName="level1Shape" fact="0.1"/>
            </dgm:constrLst>
          </dgm:if>
          <dgm:else name="Name4">
            <dgm:constrLst>
              <dgm:constr type="l" for="ch" forName="hierFlow" refType="w" fact="0.02"/>
              <dgm:constr type="t" for="ch" forName="hierFlow"/>
              <dgm:constr type="r" for="ch" forName="hierFlow" refType="w" fact="0.7"/>
              <dgm:constr type="b" for="ch" forName="hierFlow" refType="h" fact="0.98"/>
              <dgm:constr type="l" for="ch" forName="bgShapesFlow"/>
              <dgm:constr type="t" for="ch" forName="bgShapesFlow"/>
              <dgm:constr type="r" for="ch" forName="bgShapesFlow" refType="w"/>
              <dgm:constr type="b" for="ch" forName="bgShapesFlow" refType="h"/>
              <dgm:constr type="w" for="des" forName="level1Shape" refType="w"/>
              <dgm:constr type="h" for="des" forName="level1Shape" refType="w" refFor="des" refForName="level1Shape" fact="0.66667"/>
              <dgm:constr type="w" for="des" forName="level2Shape" refType="w" refFor="des" refForName="level1Shape" op="equ"/>
              <dgm:constr type="h" for="des" forName="level2Shape" refType="h" refFor="des" refForName="level1Shape" op="equ"/>
              <dgm:constr type="sp" for="des" refType="h" refFor="des" refForName="level1Shape" op="equ" fact="0.4"/>
              <dgm:constr type="sibSp" for="des" forName="hierChild1" refType="w" refFor="des" refForName="level1Shape" op="equ" fact="0.3"/>
              <dgm:constr type="sibSp" for="des" forName="hierChild2" refType="sibSp" refFor="des" refForName="hierChild1" op="equ"/>
              <dgm:constr type="sibSp" for="des" forName="hierChild3" refType="sibSp" refFor="des" refForName="hierChild1" op="equ"/>
              <dgm:constr type="userA" for="des" refType="h" refFor="des" refForName="level1Shape" op="equ"/>
              <dgm:constr type="userB" for="des" refType="sp" refFor="des" op="equ"/>
              <dgm:constr type="h" for="des" forName="firstBuf" refType="h" refFor="des" refForName="level1Shape" fact="0.1"/>
            </dgm:constrLst>
          </dgm:else>
        </dgm:choose>
      </dgm:if>
      <dgm:else name="Name5">
        <dgm:constrLst>
          <dgm:constr type="l" for="ch" forName="hierFlow"/>
          <dgm:constr type="t" for="ch" forName="hierFlow"/>
          <dgm:constr type="r" for="ch" forName="hierFlow" refType="w"/>
          <dgm:constr type="b" for="ch" forName="hierFlow" refType="h"/>
          <dgm:constr type="l" for="ch" forName="bgShapesFlow"/>
          <dgm:constr type="t" for="ch" forName="bgShapesFlow"/>
          <dgm:constr type="r" for="ch" forName="bgShapesFlow" refType="w"/>
          <dgm:constr type="b" for="ch" forName="bgShapesFlow" refType="h"/>
          <dgm:constr type="w" for="des" forName="level1Shape" refType="w"/>
          <dgm:constr type="h" for="des" forName="level1Shape" refType="w" refFor="des" refForName="level1Shape" fact="0.66667"/>
          <dgm:constr type="w" for="des" forName="level2Shape" refType="w" refFor="des" refForName="level1Shape" op="equ"/>
          <dgm:constr type="h" for="des" forName="level2Shape" refType="h" refFor="des" refForName="level1Shape" op="equ"/>
          <dgm:constr type="sp" for="des" refType="h" refFor="des" refForName="level1Shape" op="equ" fact="0.4"/>
          <dgm:constr type="sibSp" for="des" forName="hierChild1" refType="w" refFor="des" refForName="level1Shape" op="equ" fact="0.3"/>
          <dgm:constr type="sibSp" for="des" forName="hierChild2" refType="sibSp" refFor="des" refForName="hierChild1" op="equ"/>
          <dgm:constr type="sibSp" for="des" forName="hierChild3" refType="sibSp" refFor="des" refForName="hierChild1" op="equ"/>
          <dgm:constr type="userA" for="des" refType="h" refFor="des" refForName="level1Shape" op="equ"/>
          <dgm:constr type="userB" for="des" refType="sp" refFor="des" op="equ"/>
          <dgm:constr type="h" for="des" forName="firstBuf" refType="h" refFor="des" refForName="level1Shape" fact="0.1"/>
        </dgm:constrLst>
      </dgm:else>
    </dgm:choose>
    <dgm:ruleLst/>
    <dgm:layoutNode name="hierFlow">
      <dgm:alg type="lin">
        <dgm:param type="linDir" val="fromT"/>
        <dgm:param type="nodeVertAlign" val="t"/>
        <dgm:param type="vertAlign" val="t"/>
        <dgm:param type="nodeHorzAlign" val="ctr"/>
        <dgm:param type="fallback" val="2D"/>
      </dgm:alg>
      <dgm:shape xmlns:r="http://schemas.openxmlformats.org/officeDocument/2006/relationships" r:blip="">
        <dgm:adjLst/>
      </dgm:shape>
      <dgm:presOf/>
      <dgm:constrLst/>
      <dgm:ruleLst/>
      <dgm:choose name="Name6">
        <dgm:if name="Name7" axis="ch" ptType="node" func="cnt" op="gte" val="2">
          <dgm:layoutNode name="firstBuf">
            <dgm:alg type="sp"/>
            <dgm:shape xmlns:r="http://schemas.openxmlformats.org/officeDocument/2006/relationships" r:blip="">
              <dgm:adjLst/>
            </dgm:shape>
            <dgm:presOf/>
            <dgm:constrLst/>
            <dgm:ruleLst/>
          </dgm:layoutNode>
        </dgm:if>
        <dgm:else name="Name8"/>
      </dgm:choose>
      <dgm:layoutNode name="hierChild1">
        <dgm:varLst>
          <dgm:chPref val="1"/>
          <dgm:animOne val="branch"/>
          <dgm:animLvl val="lvl"/>
        </dgm:varLst>
        <dgm:choose name="Name9">
          <dgm:if name="Name10" func="var" arg="dir" op="equ" val="norm">
            <dgm:alg type="hierChild">
              <dgm:param type="linDir" val="fromL"/>
              <dgm:param type="vertAlign" val="t"/>
            </dgm:alg>
          </dgm:if>
          <dgm:else name="Name11">
            <dgm:alg type="hierChild">
              <dgm:param type="linDir" val="fromR"/>
              <dgm:param type="vertAlign" val="t"/>
            </dgm:alg>
          </dgm:else>
        </dgm:choose>
        <dgm:shape xmlns:r="http://schemas.openxmlformats.org/officeDocument/2006/relationships" r:blip="">
          <dgm:adjLst/>
        </dgm:shape>
        <dgm:presOf/>
        <dgm:constrLst>
          <dgm:constr type="primFontSz" for="des" ptType="node" op="equ"/>
        </dgm:constrLst>
        <dgm:ruleLst/>
        <dgm:forEach name="Name12" axis="ch" cnt="3">
          <dgm:forEach name="Name13" axis="self" ptType="node">
            <dgm:layoutNode name="Name14">
              <dgm:alg type="hierRoot"/>
              <dgm:shape xmlns:r="http://schemas.openxmlformats.org/officeDocument/2006/relationships" r:blip="">
                <dgm:adjLst/>
              </dgm:shape>
              <dgm:presOf/>
              <dgm:constrLst/>
              <dgm:ruleLst/>
              <dgm:layoutNode name="level1Shape" styleLbl="node0">
                <dgm:varLst>
                  <dgm:chPref val="3"/>
                </dgm:varLst>
                <dgm:alg type="tx"/>
                <dgm:shape xmlns:r="http://schemas.openxmlformats.org/officeDocument/2006/relationships" type="roundRect" r:blip="">
                  <dgm:adjLst>
                    <dgm:adj idx="1" val="0.1"/>
                  </dgm:adjLst>
                </dgm:shape>
                <dgm:presOf axis="self"/>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hierChild2">
                <dgm:choose name="Name15">
                  <dgm:if name="Name16" func="var" arg="dir" op="equ" val="norm">
                    <dgm:alg type="hierChild">
                      <dgm:param type="linDir" val="fromL"/>
                    </dgm:alg>
                  </dgm:if>
                  <dgm:else name="Name17">
                    <dgm:alg type="hierChild">
                      <dgm:param type="linDir" val="fromR"/>
                    </dgm:alg>
                  </dgm:else>
                </dgm:choose>
                <dgm:shape xmlns:r="http://schemas.openxmlformats.org/officeDocument/2006/relationships" r:blip="">
                  <dgm:adjLst/>
                </dgm:shape>
                <dgm:presOf/>
                <dgm:constrLst/>
                <dgm:ruleLst/>
                <dgm:forEach name="repeat" axis="ch">
                  <dgm:forEach name="Name18" axis="self" ptType="parTrans" cnt="1">
                    <dgm:layoutNode name="Name19">
                      <dgm:alg type="conn">
                        <dgm:param type="dim" val="1D"/>
                        <dgm:param type="endSty" val="noArr"/>
                        <dgm:param type="connRout" val="bend"/>
                        <dgm:param type="begPts" val="bCtr"/>
                        <dgm:param type="endPts" val="tCtr"/>
                      </dgm:alg>
                      <dgm:shape xmlns:r="http://schemas.openxmlformats.org/officeDocument/2006/relationships" type="conn" r:blip="">
                        <dgm:adjLst/>
                      </dgm:shape>
                      <dgm:presOf axis="self"/>
                      <dgm:constrLst>
                        <dgm:constr type="w" val="1"/>
                        <dgm:constr type="h" val="1"/>
                        <dgm:constr type="begPad"/>
                        <dgm:constr type="endPad"/>
                      </dgm:constrLst>
                      <dgm:ruleLst/>
                    </dgm:layoutNode>
                  </dgm:forEach>
                  <dgm:forEach name="Name20" axis="self" ptType="node">
                    <dgm:layoutNode name="Name21">
                      <dgm:alg type="hierRoot"/>
                      <dgm:shape xmlns:r="http://schemas.openxmlformats.org/officeDocument/2006/relationships" r:blip="">
                        <dgm:adjLst/>
                      </dgm:shape>
                      <dgm:presOf/>
                      <dgm:constrLst/>
                      <dgm:ruleLst/>
                      <dgm:layoutNode name="level2Shape">
                        <dgm:alg type="tx"/>
                        <dgm:shape xmlns:r="http://schemas.openxmlformats.org/officeDocument/2006/relationships" type="roundRect" r:blip="">
                          <dgm:adjLst>
                            <dgm:adj idx="1" val="0.1"/>
                          </dgm:adjLst>
                        </dgm:shape>
                        <dgm:presOf axis="self"/>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hierChild3">
                        <dgm:choose name="Name22">
                          <dgm:if name="Name23" func="var" arg="dir" op="equ" val="norm">
                            <dgm:alg type="hierChild">
                              <dgm:param type="linDir" val="fromL"/>
                            </dgm:alg>
                          </dgm:if>
                          <dgm:else name="Name24">
                            <dgm:alg type="hierChild">
                              <dgm:param type="linDir" val="fromR"/>
                            </dgm:alg>
                          </dgm:else>
                        </dgm:choose>
                        <dgm:shape xmlns:r="http://schemas.openxmlformats.org/officeDocument/2006/relationships" r:blip="">
                          <dgm:adjLst/>
                        </dgm:shape>
                        <dgm:presOf/>
                        <dgm:constrLst/>
                        <dgm:ruleLst/>
                        <dgm:forEach name="Name25" ref="repeat"/>
                      </dgm:layoutNode>
                    </dgm:layoutNode>
                  </dgm:forEach>
                </dgm:forEach>
              </dgm:layoutNode>
            </dgm:layoutNode>
          </dgm:forEach>
        </dgm:forEach>
      </dgm:layoutNode>
    </dgm:layoutNode>
    <dgm:layoutNode name="bgShapesFlow">
      <dgm:alg type="lin">
        <dgm:param type="linDir" val="fromT"/>
        <dgm:param type="nodeVertAlign" val="t"/>
        <dgm:param type="vertAlign" val="t"/>
        <dgm:param type="nodeHorzAlign" val="ctr"/>
      </dgm:alg>
      <dgm:shape xmlns:r="http://schemas.openxmlformats.org/officeDocument/2006/relationships" r:blip="">
        <dgm:adjLst/>
      </dgm:shape>
      <dgm:presOf/>
      <dgm:constrLst>
        <dgm:constr type="userB"/>
        <dgm:constr type="w" for="ch" forName="rectComp" refType="w"/>
        <dgm:constr type="h" for="ch" forName="rectComp" refType="h"/>
        <dgm:constr type="w" for="des" forName="bgRect" refType="w"/>
        <dgm:constr type="primFontSz" for="des" forName="bgRectTx" op="equ"/>
      </dgm:constrLst>
      <dgm:ruleLst/>
      <dgm:forEach name="Name26" axis="ch" ptType="node" st="2">
        <dgm:layoutNode name="rectComp">
          <dgm:alg type="composite">
            <dgm:param type="vertAlign" val="t"/>
            <dgm:param type="horzAlign" val="ctr"/>
          </dgm:alg>
          <dgm:shape xmlns:r="http://schemas.openxmlformats.org/officeDocument/2006/relationships" r:blip="">
            <dgm:adjLst/>
          </dgm:shape>
          <dgm:presOf/>
          <dgm:choose name="Name27">
            <dgm:if name="Name28" func="var" arg="dir" op="equ" val="norm">
              <dgm:constrLst>
                <dgm:constr type="userA"/>
                <dgm:constr type="l" for="ch" forName="bgRect"/>
                <dgm:constr type="t" for="ch" forName="bgRect"/>
                <dgm:constr type="h" for="ch" forName="bgRect" refType="userA" fact="1.2"/>
                <dgm:constr type="l" for="ch" forName="bgRectTx"/>
                <dgm:constr type="t" for="ch" forName="bgRectTx"/>
                <dgm:constr type="w" for="ch" forName="bgRectTx" refType="w" refFor="ch" refForName="bgRect" fact="0.3"/>
                <dgm:constr type="h" for="ch" forName="bgRectTx" refType="h" refFor="ch" refForName="bgRect" op="equ"/>
              </dgm:constrLst>
            </dgm:if>
            <dgm:else name="Name29">
              <dgm:constrLst>
                <dgm:constr type="userA"/>
                <dgm:constr type="l" for="ch" forName="bgRect"/>
                <dgm:constr type="t" for="ch" forName="bgRect"/>
                <dgm:constr type="h" for="ch" forName="bgRect" refType="userA" fact="1.2"/>
                <dgm:constr type="r" for="ch" forName="bgRectTx" refType="w"/>
                <dgm:constr type="t" for="ch" forName="bgRectTx"/>
                <dgm:constr type="w" for="ch" forName="bgRectTx" refType="w" refFor="ch" refForName="bgRect" fact="0.3"/>
                <dgm:constr type="h" for="ch" forName="bgRectTx" refType="h" refFor="ch" refForName="bgRect" op="equ"/>
              </dgm:constrLst>
            </dgm:else>
          </dgm:choose>
          <dgm:ruleLst/>
          <dgm:layoutNode name="bgRect" styleLbl="bgShp">
            <dgm:alg type="sp"/>
            <dgm:shape xmlns:r="http://schemas.openxmlformats.org/officeDocument/2006/relationships" type="roundRect" r:blip="" zOrderOff="-999">
              <dgm:adjLst>
                <dgm:adj idx="1" val="0.1"/>
              </dgm:adjLst>
            </dgm:shape>
            <dgm:presOf axis="desOrSelf" ptType="node"/>
            <dgm:constrLst/>
            <dgm:ruleLst/>
          </dgm:layoutNode>
          <dgm:layoutNode name="bgRectTx" styleLbl="bgShp">
            <dgm:varLst>
              <dgm:bulletEnabled val="1"/>
            </dgm:varLst>
            <dgm:alg type="tx"/>
            <dgm:presOf axis="desOrSelf" ptType="node"/>
            <dgm:shape xmlns:r="http://schemas.openxmlformats.org/officeDocument/2006/relationships" type="rect" r:blip="" zOrderOff="-999" hideGeom="1">
              <dgm:adjLst/>
            </dgm:shape>
            <dgm:constrLst>
              <dgm:constr type="primFontSz" val="65"/>
            </dgm:constrLst>
            <dgm:ruleLst>
              <dgm:rule type="primFontSz" val="5" fact="NaN" max="NaN"/>
            </dgm:ruleLst>
          </dgm:layoutNode>
        </dgm:layoutNode>
        <dgm:choose name="Name30">
          <dgm:if name="Name31" axis="self" ptType="node" func="revPos" op="gte" val="2">
            <dgm:layoutNode name="spComp">
              <dgm:alg type="composite">
                <dgm:param type="vertAlign" val="t"/>
                <dgm:param type="horzAlign" val="ctr"/>
              </dgm:alg>
              <dgm:shape xmlns:r="http://schemas.openxmlformats.org/officeDocument/2006/relationships" r:blip="">
                <dgm:adjLst/>
              </dgm:shape>
              <dgm:presOf/>
              <dgm:constrLst>
                <dgm:constr type="userA"/>
                <dgm:constr type="userB"/>
                <dgm:constr type="l" for="ch" forName="vSp"/>
                <dgm:constr type="t" for="ch" forName="vSp"/>
                <dgm:constr type="h" for="ch" forName="vSp" refType="userB"/>
                <dgm:constr type="hOff" for="ch" forName="vSp" refType="userA" fact="-0.2"/>
              </dgm:constrLst>
              <dgm:ruleLst/>
              <dgm:layoutNode name="vSp">
                <dgm:alg type="sp"/>
                <dgm:shape xmlns:r="http://schemas.openxmlformats.org/officeDocument/2006/relationships" r:blip="">
                  <dgm:adjLst/>
                </dgm:shape>
                <dgm:presOf/>
                <dgm:constrLst/>
                <dgm:ruleLst/>
              </dgm:layoutNode>
            </dgm:layoutNode>
          </dgm:if>
          <dgm:else name="Name32"/>
        </dgm:choose>
      </dgm:forEach>
    </dgm:layoutNode>
  </dgm:layoutNode>
</dgm:layoutDef>
</file>

<file path=ppt/diagrams/layout11.xml><?xml version="1.0" encoding="utf-8"?>
<dgm:layoutDef xmlns:dgm="http://schemas.openxmlformats.org/drawingml/2006/diagram" xmlns:a="http://schemas.openxmlformats.org/drawingml/2006/main" uniqueId="urn:microsoft.com/office/officeart/2005/8/layout/hList9">
  <dgm:title val=""/>
  <dgm:desc val=""/>
  <dgm:catLst>
    <dgm:cat type="list" pri="8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3" srcId="0" destId="1" srcOrd="0" destOrd="0"/>
        <dgm:cxn modelId="4"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1" destId="2" srcOrd="0" destOrd="0"/>
      </dgm:cxnLst>
      <dgm:bg/>
      <dgm:whole/>
    </dgm:dataModel>
  </dgm:styleData>
  <dgm:clrData>
    <dgm:dataModel>
      <dgm:ptLst>
        <dgm:pt modelId="0" type="doc"/>
        <dgm:pt modelId="1"/>
        <dgm:pt modelId="11"/>
        <dgm:pt modelId="12"/>
        <dgm:pt modelId="13"/>
        <dgm:pt modelId="14"/>
        <dgm:pt modelId="2"/>
        <dgm:pt modelId="21"/>
        <dgm:pt modelId="22"/>
        <dgm:pt modelId="23"/>
        <dgm:pt modelId="24"/>
        <dgm:pt modelId="3"/>
        <dgm:pt modelId="31"/>
        <dgm:pt modelId="32"/>
        <dgm:pt modelId="33"/>
        <dgm:pt modelId="34"/>
      </dgm:ptLst>
      <dgm:cxnLst>
        <dgm:cxn modelId="4" srcId="0" destId="1" srcOrd="0" destOrd="0"/>
        <dgm:cxn modelId="5" srcId="0" destId="2" srcOrd="1" destOrd="0"/>
        <dgm:cxn modelId="6" srcId="0" destId="3" srcOrd="1" destOrd="0"/>
        <dgm:cxn modelId="15" srcId="1" destId="11" srcOrd="0" destOrd="0"/>
        <dgm:cxn modelId="16" srcId="1" destId="12" srcOrd="0" destOrd="0"/>
        <dgm:cxn modelId="17" srcId="1" destId="13" srcOrd="0" destOrd="0"/>
        <dgm:cxn modelId="18" srcId="1" destId="14" srcOrd="0" destOrd="0"/>
        <dgm:cxn modelId="25" srcId="2" destId="21" srcOrd="0" destOrd="0"/>
        <dgm:cxn modelId="26" srcId="2" destId="22" srcOrd="0" destOrd="0"/>
        <dgm:cxn modelId="27" srcId="2" destId="23" srcOrd="0" destOrd="0"/>
        <dgm:cxn modelId="28" srcId="2" destId="24" srcOrd="0" destOrd="0"/>
        <dgm:cxn modelId="35" srcId="3" destId="31" srcOrd="0" destOrd="0"/>
        <dgm:cxn modelId="36" srcId="3" destId="32" srcOrd="0" destOrd="0"/>
        <dgm:cxn modelId="37" srcId="3" destId="33" srcOrd="0" destOrd="0"/>
        <dgm:cxn modelId="38" srcId="3" destId="34" srcOrd="0" destOrd="0"/>
      </dgm:cxnLst>
      <dgm:bg/>
      <dgm:whole/>
    </dgm:dataModel>
  </dgm:clrData>
  <dgm:layoutNode name="list">
    <dgm:varLst>
      <dgm:dir/>
      <dgm:animLvl val="lvl"/>
    </dgm:varLst>
    <dgm:choose name="Name0">
      <dgm:if name="Name1" func="var" arg="dir" op="equ" val="norm">
        <dgm:alg type="lin">
          <dgm:param type="linDir" val="fromL"/>
          <dgm:param type="fallback" val="2D"/>
          <dgm:param type="nodeVertAlign" val="t"/>
        </dgm:alg>
      </dgm:if>
      <dgm:else name="Name2">
        <dgm:alg type="lin">
          <dgm:param type="linDir" val="fromR"/>
          <dgm:param type="fallback" val="2D"/>
          <dgm:param type="nodeVertAlign" val="t"/>
        </dgm:alg>
      </dgm:else>
    </dgm:choose>
    <dgm:shape xmlns:r="http://schemas.openxmlformats.org/officeDocument/2006/relationships" r:blip="">
      <dgm:adjLst/>
    </dgm:shape>
    <dgm:presOf/>
    <dgm:constrLst>
      <dgm:constr type="w" for="ch" forName="circle" refType="w" fact="0.5"/>
      <dgm:constr type="w" for="ch" forName="vertFlow" refType="w" fact="0.75"/>
      <dgm:constr type="h" for="des" forName="firstComp" refType="w" refFor="ch" refForName="vertFlow" fact="0.667"/>
      <dgm:constr type="h" for="des" forName="comp" refType="h" refFor="des" refForName="firstComp" op="equ"/>
      <dgm:constr type="h" for="des" forName="topSpace" refType="w" refFor="ch" refForName="circle" op="equ" fact="0.4"/>
      <dgm:constr type="w" for="ch" forName="posSpace" refType="w" fact="0.4"/>
      <dgm:constr type="w" for="ch" forName="negSpace" refType="w" fact="-1.15"/>
      <dgm:constr type="w" for="ch" forName="transSpace" refType="w" fact="0.75"/>
      <dgm:constr type="primFontSz" for="ch" forName="circle" op="equ" val="65"/>
      <dgm:constr type="primFontSz" for="des" forName="firstChildTx" val="65"/>
      <dgm:constr type="primFontSz" for="des" forName="childTx" refType="primFontSz" refFor="des" refForName="firstChildTx" op="equ"/>
    </dgm:constrLst>
    <dgm:ruleLst/>
    <dgm:forEach name="Name3" axis="ch" ptType="node">
      <dgm:layoutNode name="posSpace">
        <dgm:alg type="sp"/>
        <dgm:shape xmlns:r="http://schemas.openxmlformats.org/officeDocument/2006/relationships" r:blip="">
          <dgm:adjLst/>
        </dgm:shape>
        <dgm:presOf/>
        <dgm:constrLst/>
        <dgm:ruleLst/>
      </dgm:layoutNode>
      <dgm:layoutNode name="vertFlow">
        <dgm:alg type="lin">
          <dgm:param type="linDir" val="fromT"/>
        </dgm:alg>
        <dgm:shape xmlns:r="http://schemas.openxmlformats.org/officeDocument/2006/relationships" r:blip="">
          <dgm:adjLst/>
        </dgm:shape>
        <dgm:presOf/>
        <dgm:constrLst>
          <dgm:constr type="w" for="ch" forName="firstComp" refType="w"/>
          <dgm:constr type="w" for="ch" forName="comp" refType="w"/>
        </dgm:constrLst>
        <dgm:ruleLst/>
        <dgm:layoutNode name="topSpace">
          <dgm:alg type="sp"/>
          <dgm:shape xmlns:r="http://schemas.openxmlformats.org/officeDocument/2006/relationships" r:blip="">
            <dgm:adjLst/>
          </dgm:shape>
          <dgm:presOf/>
          <dgm:constrLst/>
          <dgm:ruleLst/>
        </dgm:layoutNode>
        <dgm:layoutNode name="firstComp">
          <dgm:alg type="composite"/>
          <dgm:shape xmlns:r="http://schemas.openxmlformats.org/officeDocument/2006/relationships" r:blip="">
            <dgm:adjLst/>
          </dgm:shape>
          <dgm:presOf/>
          <dgm:choose name="Name4">
            <dgm:if name="Name5" func="var" arg="dir" op="equ" val="norm">
              <dgm:constrLst>
                <dgm:constr type="l" for="ch" forName="firstChild"/>
                <dgm:constr type="t" for="ch" forName="firstChild"/>
                <dgm:constr type="w" for="ch" forName="firstChild" refType="w"/>
                <dgm:constr type="h" for="ch" forName="firstChild" refType="h"/>
                <dgm:constr type="l" for="ch" forName="firstChildTx" refType="w" fact="0.16"/>
                <dgm:constr type="r" for="ch" forName="firstChildTx" refType="w"/>
                <dgm:constr type="h" for="ch" forName="firstChildTx" refFor="ch" refForName="firstChild" op="equ"/>
              </dgm:constrLst>
            </dgm:if>
            <dgm:else name="Name6">
              <dgm:constrLst>
                <dgm:constr type="l" for="ch" forName="firstChild"/>
                <dgm:constr type="t" for="ch" forName="firstChild"/>
                <dgm:constr type="w" for="ch" forName="firstChild" refType="w"/>
                <dgm:constr type="h" for="ch" forName="firstChild" refType="h"/>
                <dgm:constr type="l" for="ch" forName="firstChildTx"/>
                <dgm:constr type="r" for="ch" forName="firstChildTx" refType="w" fact="0.825"/>
                <dgm:constr type="h" for="ch" forName="firstChildTx" refFor="ch" refForName="firstChild" op="equ"/>
              </dgm:constrLst>
            </dgm:else>
          </dgm:choose>
          <dgm:ruleLst/>
          <dgm:layoutNode name="firstChild" styleLbl="bgAccFollowNode1">
            <dgm:alg type="sp"/>
            <dgm:shape xmlns:r="http://schemas.openxmlformats.org/officeDocument/2006/relationships" type="rect" r:blip="">
              <dgm:adjLst/>
            </dgm:shape>
            <dgm:presOf axis="ch desOrSelf" ptType="node node" cnt="1 0"/>
            <dgm:constrLst/>
            <dgm:ruleLst/>
          </dgm:layoutNode>
          <dgm:layoutNode name="firstChildTx" styleLbl="bgAccFollowNode1">
            <dgm:varLst>
              <dgm:bulletEnabled val="1"/>
            </dgm:varLst>
            <dgm:alg type="tx">
              <dgm:param type="parTxLTRAlign" val="l"/>
            </dgm:alg>
            <dgm:shape xmlns:r="http://schemas.openxmlformats.org/officeDocument/2006/relationships" type="rect" r:blip="" hideGeom="1">
              <dgm:adjLst/>
            </dgm:shape>
            <dgm:presOf axis="ch desOrSelf" ptType="node node" cnt="1 0"/>
            <dgm:choose name="Name7">
              <dgm:if name="Name8" func="var" arg="dir" op="equ" val="norm">
                <dgm:constrLst>
                  <dgm:constr type="primFontSz" val="65"/>
                  <dgm:constr type="lMarg"/>
                </dgm:constrLst>
              </dgm:if>
              <dgm:else name="Name9">
                <dgm:constrLst>
                  <dgm:constr type="primFontSz" val="65"/>
                  <dgm:constr type="rMarg"/>
                </dgm:constrLst>
              </dgm:else>
            </dgm:choose>
            <dgm:ruleLst>
              <dgm:rule type="primFontSz" val="5" fact="NaN" max="NaN"/>
            </dgm:ruleLst>
          </dgm:layoutNode>
        </dgm:layoutNode>
        <dgm:forEach name="Name10" axis="ch" ptType="node" st="2">
          <dgm:layoutNode name="comp">
            <dgm:alg type="composite"/>
            <dgm:shape xmlns:r="http://schemas.openxmlformats.org/officeDocument/2006/relationships" r:blip="">
              <dgm:adjLst/>
            </dgm:shape>
            <dgm:presOf/>
            <dgm:choose name="Name11">
              <dgm:if name="Name12" func="var" arg="dir" op="equ" val="norm">
                <dgm:constrLst>
                  <dgm:constr type="l" for="ch" forName="child"/>
                  <dgm:constr type="t" for="ch" forName="child"/>
                  <dgm:constr type="w" for="ch" forName="child" refType="w"/>
                  <dgm:constr type="h" for="ch" forName="child" refType="h"/>
                  <dgm:constr type="l" for="ch" forName="childTx" refType="w" fact="0.16"/>
                  <dgm:constr type="r" for="ch" forName="childTx" refType="w"/>
                  <dgm:constr type="h" for="ch" forName="childTx" refFor="ch" refForName="child" op="equ"/>
                </dgm:constrLst>
              </dgm:if>
              <dgm:else name="Name13">
                <dgm:constrLst>
                  <dgm:constr type="l" for="ch" forName="child"/>
                  <dgm:constr type="t" for="ch" forName="child"/>
                  <dgm:constr type="w" for="ch" forName="child" refType="w"/>
                  <dgm:constr type="h" for="ch" forName="child" refType="h"/>
                  <dgm:constr type="l" for="ch" forName="childTx"/>
                  <dgm:constr type="r" for="ch" forName="childTx" refType="w" fact="0.825"/>
                  <dgm:constr type="h" for="ch" forName="childTx" refFor="ch" refForName="child" op="equ"/>
                </dgm:constrLst>
              </dgm:else>
            </dgm:choose>
            <dgm:ruleLst/>
            <dgm:layoutNode name="child" styleLbl="bgAccFollowNode1">
              <dgm:alg type="sp"/>
              <dgm:shape xmlns:r="http://schemas.openxmlformats.org/officeDocument/2006/relationships" type="rect" r:blip="">
                <dgm:adjLst/>
              </dgm:shape>
              <dgm:presOf axis="desOrSelf" ptType="node"/>
              <dgm:constrLst/>
              <dgm:ruleLst/>
            </dgm:layoutNode>
            <dgm:layoutNode name="childTx" styleLbl="bgAccFollowNode1">
              <dgm:varLst>
                <dgm:bulletEnabled val="1"/>
              </dgm:varLst>
              <dgm:alg type="tx">
                <dgm:param type="parTxLTRAlign" val="l"/>
              </dgm:alg>
              <dgm:shape xmlns:r="http://schemas.openxmlformats.org/officeDocument/2006/relationships" type="rect" r:blip="" hideGeom="1">
                <dgm:adjLst/>
              </dgm:shape>
              <dgm:presOf axis="desOrSelf" ptType="node"/>
              <dgm:choose name="Name14">
                <dgm:if name="Name15" func="var" arg="dir" op="equ" val="norm">
                  <dgm:constrLst>
                    <dgm:constr type="primFontSz" val="65"/>
                    <dgm:constr type="lMarg"/>
                  </dgm:constrLst>
                </dgm:if>
                <dgm:else name="Name16">
                  <dgm:constrLst>
                    <dgm:constr type="primFontSz" val="65"/>
                    <dgm:constr type="rMarg"/>
                  </dgm:constrLst>
                </dgm:else>
              </dgm:choose>
              <dgm:ruleLst>
                <dgm:rule type="primFontSz" val="5" fact="NaN" max="NaN"/>
              </dgm:ruleLst>
            </dgm:layoutNode>
          </dgm:layoutNode>
        </dgm:forEach>
      </dgm:layoutNode>
      <dgm:layoutNode name="negSpace">
        <dgm:alg type="sp"/>
        <dgm:shape xmlns:r="http://schemas.openxmlformats.org/officeDocument/2006/relationships" r:blip="">
          <dgm:adjLst/>
        </dgm:shape>
        <dgm:presOf/>
        <dgm:constrLst/>
        <dgm:ruleLst/>
      </dgm:layoutNode>
      <dgm:layoutNode name="circle" styleLbl="node1">
        <dgm:alg type="tx"/>
        <dgm:shape xmlns:r="http://schemas.openxmlformats.org/officeDocument/2006/relationships" type="ellipse" r:blip="">
          <dgm:adjLst/>
        </dgm:shape>
        <dgm:presOf axis="self"/>
        <dgm:constrLst>
          <dgm:constr type="lMarg"/>
          <dgm:constr type="rMarg"/>
          <dgm:constr type="tMarg"/>
          <dgm:constr type="bMarg"/>
          <dgm:constr type="h" refType="w"/>
        </dgm:constrLst>
        <dgm:ruleLst>
          <dgm:rule type="primFontSz" val="5" fact="NaN" max="NaN"/>
        </dgm:ruleLst>
      </dgm:layoutNode>
      <dgm:forEach name="Name17" axis="followSib" ptType="sibTrans" cnt="1">
        <dgm:layoutNode name="transSpace">
          <dgm:alg type="sp"/>
          <dgm:shape xmlns:r="http://schemas.openxmlformats.org/officeDocument/2006/relationships" r:blip="">
            <dgm:adjLst/>
          </dgm:shape>
          <dgm:presOf/>
          <dgm:constrLst/>
          <dgm:ruleLst/>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16.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17.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18.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19.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20.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21.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22.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23.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24.xml><?xml version="1.0" encoding="utf-8"?>
<dgm:layoutDef xmlns:dgm="http://schemas.openxmlformats.org/drawingml/2006/diagram" xmlns:a="http://schemas.openxmlformats.org/drawingml/2006/main" uniqueId="urn:microsoft.com/office/officeart/2005/8/layout/radial1">
  <dgm:title val=""/>
  <dgm:desc val=""/>
  <dgm:catLst>
    <dgm:cat type="relationship" pri="22000"/>
    <dgm:cat type="cycle" pri="10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ycle">
    <dgm:varLst>
      <dgm:chMax val="1"/>
      <dgm:dir/>
      <dgm:animLvl val="ctr"/>
      <dgm:resizeHandles val="exact"/>
    </dgm:varLst>
    <dgm:choose name="Name0">
      <dgm:if name="Name1" func="var" arg="dir" op="equ" val="norm">
        <dgm:choose name="Name2">
          <dgm:if name="Name3" axis="ch ch" ptType="node node" st="1 1" cnt="1 0" func="cnt" op="lte" val="1">
            <dgm:alg type="cycle">
              <dgm:param type="stAng" val="90"/>
              <dgm:param type="spanAng" val="360"/>
              <dgm:param type="ctrShpMap" val="fNode"/>
            </dgm:alg>
          </dgm:if>
          <dgm:else name="Name4">
            <dgm:alg type="cycle">
              <dgm:param type="stAng" val="0"/>
              <dgm:param type="spanAng" val="360"/>
              <dgm:param type="ctrShpMap" val="fNode"/>
            </dgm:alg>
          </dgm:else>
        </dgm:choose>
      </dgm:if>
      <dgm:else name="Name5">
        <dgm:alg type="cycle">
          <dgm:param type="stAng" val="0"/>
          <dgm:param type="spanAng" val="-360"/>
          <dgm:param type="ctrShpMap" val="fNode"/>
        </dgm:alg>
      </dgm:else>
    </dgm:choose>
    <dgm:shape xmlns:r="http://schemas.openxmlformats.org/officeDocument/2006/relationships" r:blip="">
      <dgm:adjLst/>
    </dgm:shape>
    <dgm:presOf/>
    <dgm:constrLst>
      <dgm:constr type="w" for="ch" forName="centerShape" refType="w"/>
      <dgm:constr type="w" for="ch" forName="node" refType="w" refFor="ch" refForName="centerShape" op="equ"/>
      <dgm:constr type="sp" refType="w" refFor="ch" refForName="node" fact="0.3"/>
      <dgm:constr type="sibSp" refType="w" refFor="ch" refForName="node" fact="0.3"/>
      <dgm:constr type="primFontSz" for="ch" forName="centerShape" val="65"/>
      <dgm:constr type="primFontSz" for="des" forName="node" op="equ" val="65"/>
      <dgm:constr type="primFontSz" for="des" forName="connTx" val="55"/>
      <dgm:constr type="primFontSz" for="des" forName="connTx" refType="primFontSz" refFor="ch" refForName="centerShape" op="lte" fact="0.8"/>
    </dgm:constrLst>
    <dgm:ruleLst/>
    <dgm:forEach name="Name6"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forEach name="Name7" axis="ch">
        <dgm:forEach name="Name8" axis="self" ptType="parTrans">
          <dgm:layoutNode name="Name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connDist"/>
              <dgm:constr type="userA" for="ch" refType="connDist"/>
              <dgm:constr type="w" val="1"/>
              <dgm:constr type="h" val="5"/>
              <dgm:constr type="begPad"/>
              <dgm:constr type="endPad"/>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w" val="NaN" fact="0.8" max="NaN"/>
                <dgm:rule type="h" val="NaN" fact="1" max="NaN"/>
                <dgm:rule type="primFontSz" val="5" fact="NaN" max="NaN"/>
              </dgm:ruleLst>
            </dgm:layoutNode>
          </dgm:layoutNode>
        </dgm:forEach>
        <dgm:forEach name="Name10" axis="self" ptType="node">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forEach>
      </dgm:forEach>
    </dgm:forEach>
  </dgm:layoutNode>
</dgm:layoutDef>
</file>

<file path=ppt/diagrams/layout25.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26.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27.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28.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29.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30.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31.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32.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33.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34.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5.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7.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a:extLst>
              <a:ext uri="{FF2B5EF4-FFF2-40B4-BE49-F238E27FC236}">
                <a16:creationId xmlns:a16="http://schemas.microsoft.com/office/drawing/2014/main" id="{5749EE05-33FE-EDA3-9CAD-DEAD97F9142C}"/>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a:extLst>
              <a:ext uri="{FF2B5EF4-FFF2-40B4-BE49-F238E27FC236}">
                <a16:creationId xmlns:a16="http://schemas.microsoft.com/office/drawing/2014/main" id="{66AC48D1-566C-29BE-E912-3D10AB1D5815}"/>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5E71BFBF-649B-447B-BE07-E55C19415048}" type="datetimeFigureOut">
              <a:rPr lang="zh-CN" altLang="en-US" smtClean="0"/>
              <a:t>2026/5/30</a:t>
            </a:fld>
            <a:endParaRPr lang="zh-CN" altLang="en-US"/>
          </a:p>
        </p:txBody>
      </p:sp>
      <p:sp>
        <p:nvSpPr>
          <p:cNvPr id="4" name="页脚占位符 3">
            <a:extLst>
              <a:ext uri="{FF2B5EF4-FFF2-40B4-BE49-F238E27FC236}">
                <a16:creationId xmlns:a16="http://schemas.microsoft.com/office/drawing/2014/main" id="{8FAD5CBF-063C-0E48-4EDF-FE0B356EF52D}"/>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a:extLst>
              <a:ext uri="{FF2B5EF4-FFF2-40B4-BE49-F238E27FC236}">
                <a16:creationId xmlns:a16="http://schemas.microsoft.com/office/drawing/2014/main" id="{DBD56A8A-D02A-13B8-5D88-9804DF341703}"/>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22D22C57-7689-4FC1-B3CD-C4D5379A1A96}" type="slidenum">
              <a:rPr lang="zh-CN" altLang="en-US" smtClean="0"/>
              <a:t>‹#›</a:t>
            </a:fld>
            <a:endParaRPr lang="zh-CN" altLang="en-US"/>
          </a:p>
        </p:txBody>
      </p:sp>
    </p:spTree>
    <p:extLst>
      <p:ext uri="{BB962C8B-B14F-4D97-AF65-F5344CB8AC3E}">
        <p14:creationId xmlns:p14="http://schemas.microsoft.com/office/powerpoint/2010/main" val="332533223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080F924-C631-413C-A11F-D1E0154C53E8}" type="datetimeFigureOut">
              <a:rPr lang="zh-CN" altLang="en-US" smtClean="0"/>
              <a:t>2026/5/30</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C180346-C08D-4E4F-9E70-9286E599026B}" type="slidenum">
              <a:rPr lang="zh-CN" altLang="en-US" smtClean="0"/>
              <a:t>‹#›</a:t>
            </a:fld>
            <a:endParaRPr lang="zh-CN" altLang="en-US"/>
          </a:p>
        </p:txBody>
      </p:sp>
    </p:spTree>
    <p:extLst>
      <p:ext uri="{BB962C8B-B14F-4D97-AF65-F5344CB8AC3E}">
        <p14:creationId xmlns:p14="http://schemas.microsoft.com/office/powerpoint/2010/main" val="167662172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FC180346-C08D-4E4F-9E70-9286E599026B}" type="slidenum">
              <a:rPr lang="zh-CN" altLang="en-US" smtClean="0"/>
              <a:t>1</a:t>
            </a:fld>
            <a:endParaRPr lang="zh-CN" altLang="en-US"/>
          </a:p>
        </p:txBody>
      </p:sp>
    </p:spTree>
    <p:extLst>
      <p:ext uri="{BB962C8B-B14F-4D97-AF65-F5344CB8AC3E}">
        <p14:creationId xmlns:p14="http://schemas.microsoft.com/office/powerpoint/2010/main" val="325732156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C180346-C08D-4E4F-9E70-9286E599026B}" type="slidenum">
              <a:rPr kumimoji="0" lang="zh-CN" altLang="en-US" sz="1200" b="0" i="0" u="none" strike="noStrike" kern="1200" cap="none" spc="0" normalizeH="0" baseline="0" noProof="0" smtClean="0">
                <a:ln>
                  <a:noFill/>
                </a:ln>
                <a:solidFill>
                  <a:prstClr val="black"/>
                </a:solidFill>
                <a:effectLst/>
                <a:uLnTx/>
                <a:uFillTx/>
                <a:latin typeface="等线" panose="0211000402020202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zh-CN" altLang="en-US" sz="1200" b="0" i="0" u="none" strike="noStrike" kern="1200" cap="none" spc="0" normalizeH="0" baseline="0" noProof="0">
              <a:ln>
                <a:noFill/>
              </a:ln>
              <a:solidFill>
                <a:prstClr val="black"/>
              </a:solidFill>
              <a:effectLst/>
              <a:uLnTx/>
              <a:uFillTx/>
              <a:latin typeface="等线" panose="02110004020202020204"/>
              <a:ea typeface="等线" panose="02010600030101010101" pitchFamily="2" charset="-122"/>
              <a:cs typeface="+mn-cs"/>
            </a:endParaRPr>
          </a:p>
        </p:txBody>
      </p:sp>
    </p:spTree>
    <p:extLst>
      <p:ext uri="{BB962C8B-B14F-4D97-AF65-F5344CB8AC3E}">
        <p14:creationId xmlns:p14="http://schemas.microsoft.com/office/powerpoint/2010/main" val="85995237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C180346-C08D-4E4F-9E70-9286E599026B}" type="slidenum">
              <a:rPr kumimoji="0" lang="zh-CN" altLang="en-US" sz="1200" b="0" i="0" u="none" strike="noStrike" kern="1200" cap="none" spc="0" normalizeH="0" baseline="0" noProof="0" smtClean="0">
                <a:ln>
                  <a:noFill/>
                </a:ln>
                <a:solidFill>
                  <a:prstClr val="black"/>
                </a:solidFill>
                <a:effectLst/>
                <a:uLnTx/>
                <a:uFillTx/>
                <a:latin typeface="等线" panose="0211000402020202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zh-CN" altLang="en-US" sz="1200" b="0" i="0" u="none" strike="noStrike" kern="1200" cap="none" spc="0" normalizeH="0" baseline="0" noProof="0">
              <a:ln>
                <a:noFill/>
              </a:ln>
              <a:solidFill>
                <a:prstClr val="black"/>
              </a:solidFill>
              <a:effectLst/>
              <a:uLnTx/>
              <a:uFillTx/>
              <a:latin typeface="等线" panose="02110004020202020204"/>
              <a:ea typeface="等线" panose="02010600030101010101" pitchFamily="2" charset="-122"/>
              <a:cs typeface="+mn-cs"/>
            </a:endParaRPr>
          </a:p>
        </p:txBody>
      </p:sp>
    </p:spTree>
    <p:extLst>
      <p:ext uri="{BB962C8B-B14F-4D97-AF65-F5344CB8AC3E}">
        <p14:creationId xmlns:p14="http://schemas.microsoft.com/office/powerpoint/2010/main" val="269672366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FC180346-C08D-4E4F-9E70-9286E599026B}" type="slidenum">
              <a:rPr lang="zh-CN" altLang="en-US" smtClean="0"/>
              <a:t>23</a:t>
            </a:fld>
            <a:endParaRPr lang="zh-CN" altLang="en-US"/>
          </a:p>
        </p:txBody>
      </p:sp>
    </p:spTree>
    <p:extLst>
      <p:ext uri="{BB962C8B-B14F-4D97-AF65-F5344CB8AC3E}">
        <p14:creationId xmlns:p14="http://schemas.microsoft.com/office/powerpoint/2010/main" val="132275770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b="1" i="1" dirty="0">
                <a:latin typeface="+mj-ea"/>
                <a:ea typeface="+mj-ea"/>
              </a:rPr>
              <a:t>战略导向设定协同目标：如技术领先、成本优化，驱动横纵对齐</a:t>
            </a:r>
            <a:endParaRPr lang="en-US" altLang="zh-CN" sz="1200" b="1" i="1" dirty="0">
              <a:latin typeface="+mj-ea"/>
              <a:ea typeface="+mj-ea"/>
            </a:endParaRPr>
          </a:p>
          <a:p>
            <a:pPr lvl="0"/>
            <a:r>
              <a:rPr lang="zh-CN" altLang="en-US" sz="1100" b="1" i="1" dirty="0">
                <a:latin typeface="+mj-ea"/>
                <a:ea typeface="+mj-ea"/>
              </a:rPr>
              <a:t>驱动协同：</a:t>
            </a:r>
          </a:p>
          <a:p>
            <a:pPr lvl="1"/>
            <a:r>
              <a:rPr lang="zh-CN" altLang="en-US" sz="1100" b="1" i="1" dirty="0">
                <a:latin typeface="+mj-ea"/>
                <a:ea typeface="+mj-ea"/>
              </a:rPr>
              <a:t>通过统一数据模型化解职能断裂</a:t>
            </a:r>
          </a:p>
          <a:p>
            <a:pPr lvl="1"/>
            <a:r>
              <a:rPr lang="zh-CN" altLang="en-US" sz="1100" b="1" i="1" dirty="0">
                <a:latin typeface="+mj-ea"/>
                <a:ea typeface="+mj-ea"/>
              </a:rPr>
              <a:t>通过业务算法实现自动决策（如预测、根因分析、权衡优化）</a:t>
            </a:r>
          </a:p>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sz="2000" b="1" i="0" dirty="0">
              <a:solidFill>
                <a:schemeClr val="tx1"/>
              </a:solidFill>
              <a:latin typeface="+mj-ea"/>
              <a:ea typeface="+mj-ea"/>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sz="1200" b="1" i="1" dirty="0">
              <a:latin typeface="+mj-ea"/>
              <a:ea typeface="+mj-ea"/>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sz="1200" b="1" i="1" dirty="0">
              <a:latin typeface="+mj-ea"/>
              <a:ea typeface="+mj-ea"/>
            </a:endParaRPr>
          </a:p>
          <a:p>
            <a:endParaRPr lang="zh-CN" altLang="en-US" dirty="0"/>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294AE8-FF8F-4C21-B119-B54735419B7C}" type="slidenum">
              <a:rPr kumimoji="0" lang="zh-CN" altLang="en-US" sz="1200" b="0" i="0" u="none" strike="noStrike" kern="1200" cap="none" spc="0" normalizeH="0" baseline="0" noProof="0" smtClean="0">
                <a:ln>
                  <a:noFill/>
                </a:ln>
                <a:solidFill>
                  <a:prstClr val="black"/>
                </a:solidFill>
                <a:effectLst/>
                <a:uLnTx/>
                <a:uFillTx/>
                <a:latin typeface="等线" panose="0211000402020202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zh-CN" altLang="en-US" sz="1200" b="0" i="0" u="none" strike="noStrike" kern="1200" cap="none" spc="0" normalizeH="0" baseline="0" noProof="0">
              <a:ln>
                <a:noFill/>
              </a:ln>
              <a:solidFill>
                <a:prstClr val="black"/>
              </a:solidFill>
              <a:effectLst/>
              <a:uLnTx/>
              <a:uFillTx/>
              <a:latin typeface="等线" panose="02110004020202020204"/>
              <a:ea typeface="等线" panose="02010600030101010101" pitchFamily="2" charset="-122"/>
              <a:cs typeface="+mn-cs"/>
            </a:endParaRPr>
          </a:p>
        </p:txBody>
      </p:sp>
    </p:spTree>
    <p:extLst>
      <p:ext uri="{BB962C8B-B14F-4D97-AF65-F5344CB8AC3E}">
        <p14:creationId xmlns:p14="http://schemas.microsoft.com/office/powerpoint/2010/main" val="7510187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FC180346-C08D-4E4F-9E70-9286E599026B}" type="slidenum">
              <a:rPr lang="zh-CN" altLang="en-US" smtClean="0"/>
              <a:t>44</a:t>
            </a:fld>
            <a:endParaRPr lang="zh-CN" altLang="en-US"/>
          </a:p>
        </p:txBody>
      </p:sp>
    </p:spTree>
    <p:extLst>
      <p:ext uri="{BB962C8B-B14F-4D97-AF65-F5344CB8AC3E}">
        <p14:creationId xmlns:p14="http://schemas.microsoft.com/office/powerpoint/2010/main" val="84334704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FC180346-C08D-4E4F-9E70-9286E599026B}" type="slidenum">
              <a:rPr lang="zh-CN" altLang="en-US" smtClean="0"/>
              <a:t>51</a:t>
            </a:fld>
            <a:endParaRPr lang="zh-CN" altLang="en-US"/>
          </a:p>
        </p:txBody>
      </p:sp>
    </p:spTree>
    <p:extLst>
      <p:ext uri="{BB962C8B-B14F-4D97-AF65-F5344CB8AC3E}">
        <p14:creationId xmlns:p14="http://schemas.microsoft.com/office/powerpoint/2010/main" val="243481384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FC180346-C08D-4E4F-9E70-9286E599026B}" type="slidenum">
              <a:rPr lang="zh-CN" altLang="en-US" smtClean="0"/>
              <a:t>55</a:t>
            </a:fld>
            <a:endParaRPr lang="zh-CN" altLang="en-US"/>
          </a:p>
        </p:txBody>
      </p:sp>
    </p:spTree>
    <p:extLst>
      <p:ext uri="{BB962C8B-B14F-4D97-AF65-F5344CB8AC3E}">
        <p14:creationId xmlns:p14="http://schemas.microsoft.com/office/powerpoint/2010/main" val="34976252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MRP, CTP, Production Planning</a:t>
            </a:r>
            <a:endParaRPr lang="zh-CN" altLang="en-US" dirty="0"/>
          </a:p>
        </p:txBody>
      </p:sp>
    </p:spTree>
    <p:extLst>
      <p:ext uri="{BB962C8B-B14F-4D97-AF65-F5344CB8AC3E}">
        <p14:creationId xmlns:p14="http://schemas.microsoft.com/office/powerpoint/2010/main" val="300312431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FC180346-C08D-4E4F-9E70-9286E599026B}" type="slidenum">
              <a:rPr lang="zh-CN" altLang="en-US" smtClean="0"/>
              <a:t>64</a:t>
            </a:fld>
            <a:endParaRPr lang="zh-CN" altLang="en-US"/>
          </a:p>
        </p:txBody>
      </p:sp>
    </p:spTree>
    <p:extLst>
      <p:ext uri="{BB962C8B-B14F-4D97-AF65-F5344CB8AC3E}">
        <p14:creationId xmlns:p14="http://schemas.microsoft.com/office/powerpoint/2010/main" val="399545454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Tree>
    <p:extLst>
      <p:ext uri="{BB962C8B-B14F-4D97-AF65-F5344CB8AC3E}">
        <p14:creationId xmlns:p14="http://schemas.microsoft.com/office/powerpoint/2010/main" val="100495153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C459CE-6992-396C-8164-ECEC563EEDE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E798D7F-4C35-43A8-65CC-646EC047A2D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B3304F4-3FAD-3B23-981B-DFB2BB63EF8C}"/>
              </a:ext>
            </a:extLst>
          </p:cNvPr>
          <p:cNvSpPr>
            <a:spLocks noGrp="1"/>
          </p:cNvSpPr>
          <p:nvPr>
            <p:ph type="body" idx="1"/>
          </p:nvPr>
        </p:nvSpPr>
        <p:spPr/>
        <p:txBody>
          <a:bodyPr/>
          <a:lstStyle/>
          <a:p>
            <a:r>
              <a:rPr lang="en-US" altLang="zh-CN" dirty="0"/>
              <a:t>General</a:t>
            </a:r>
            <a:r>
              <a:rPr lang="zh-CN" altLang="en-US" dirty="0"/>
              <a:t> </a:t>
            </a:r>
            <a:r>
              <a:rPr lang="en-US" altLang="zh-CN" dirty="0"/>
              <a:t>Algorithm, demand follow sequence/priority allocate resource. But when we face alternate resource or constraints we need consider customer request and </a:t>
            </a:r>
            <a:r>
              <a:rPr lang="en-US" altLang="zh-CN"/>
              <a:t>capabilities </a:t>
            </a:r>
            <a:r>
              <a:rPr lang="en-US" altLang="zh-CN" b="0" i="0">
                <a:solidFill>
                  <a:srgbClr val="2A2F45"/>
                </a:solidFill>
                <a:effectLst/>
                <a:latin typeface="PingFang SC"/>
              </a:rPr>
              <a:t>Simultaneously.</a:t>
            </a:r>
            <a:endParaRPr lang="zh-CN" altLang="en-US" dirty="0"/>
          </a:p>
        </p:txBody>
      </p:sp>
      <p:sp>
        <p:nvSpPr>
          <p:cNvPr id="4" name="灯片编号占位符 3">
            <a:extLst>
              <a:ext uri="{FF2B5EF4-FFF2-40B4-BE49-F238E27FC236}">
                <a16:creationId xmlns:a16="http://schemas.microsoft.com/office/drawing/2014/main" id="{68C66D0F-BDDB-58A9-8FBB-49623253A7EC}"/>
              </a:ext>
            </a:extLst>
          </p:cNvPr>
          <p:cNvSpPr>
            <a:spLocks noGrp="1"/>
          </p:cNvSpPr>
          <p:nvPr>
            <p:ph type="sldNum" sz="quarter" idx="5"/>
          </p:nvPr>
        </p:nvSpPr>
        <p:spPr/>
        <p:txBody>
          <a:bodyPr/>
          <a:lstStyle/>
          <a:p>
            <a:fld id="{FC180346-C08D-4E4F-9E70-9286E599026B}" type="slidenum">
              <a:rPr lang="zh-CN" altLang="en-US" smtClean="0"/>
              <a:t>93</a:t>
            </a:fld>
            <a:endParaRPr lang="zh-CN" altLang="en-US"/>
          </a:p>
        </p:txBody>
      </p:sp>
    </p:spTree>
    <p:extLst>
      <p:ext uri="{BB962C8B-B14F-4D97-AF65-F5344CB8AC3E}">
        <p14:creationId xmlns:p14="http://schemas.microsoft.com/office/powerpoint/2010/main" val="354866413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FC180346-C08D-4E4F-9E70-9286E599026B}" type="slidenum">
              <a:rPr lang="zh-CN" altLang="en-US" smtClean="0"/>
              <a:t>115</a:t>
            </a:fld>
            <a:endParaRPr lang="zh-CN" altLang="en-US"/>
          </a:p>
        </p:txBody>
      </p:sp>
    </p:spTree>
    <p:extLst>
      <p:ext uri="{BB962C8B-B14F-4D97-AF65-F5344CB8AC3E}">
        <p14:creationId xmlns:p14="http://schemas.microsoft.com/office/powerpoint/2010/main" val="258942580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MTM001 R1</a:t>
            </a:r>
            <a:r>
              <a:rPr lang="zh-CN" altLang="en-US" dirty="0"/>
              <a:t> </a:t>
            </a:r>
            <a:r>
              <a:rPr lang="en-US" altLang="zh-CN" dirty="0"/>
              <a:t>BIN01 50</a:t>
            </a:r>
          </a:p>
          <a:p>
            <a:r>
              <a:rPr lang="en-US" altLang="zh-CN" dirty="0"/>
              <a:t>                     BIN02 30</a:t>
            </a:r>
          </a:p>
          <a:p>
            <a:r>
              <a:rPr lang="en-US" altLang="zh-CN" dirty="0"/>
              <a:t>                     BIN03 20</a:t>
            </a:r>
            <a:endParaRPr lang="zh-CN" altLang="en-US" dirty="0"/>
          </a:p>
        </p:txBody>
      </p:sp>
      <p:sp>
        <p:nvSpPr>
          <p:cNvPr id="4" name="灯片编号占位符 3"/>
          <p:cNvSpPr>
            <a:spLocks noGrp="1"/>
          </p:cNvSpPr>
          <p:nvPr>
            <p:ph type="sldNum" sz="quarter" idx="5"/>
          </p:nvPr>
        </p:nvSpPr>
        <p:spPr/>
        <p:txBody>
          <a:bodyPr/>
          <a:lstStyle/>
          <a:p>
            <a:fld id="{FC180346-C08D-4E4F-9E70-9286E599026B}" type="slidenum">
              <a:rPr lang="zh-CN" altLang="en-US" smtClean="0"/>
              <a:t>148</a:t>
            </a:fld>
            <a:endParaRPr lang="zh-CN" altLang="en-US"/>
          </a:p>
        </p:txBody>
      </p:sp>
    </p:spTree>
    <p:extLst>
      <p:ext uri="{BB962C8B-B14F-4D97-AF65-F5344CB8AC3E}">
        <p14:creationId xmlns:p14="http://schemas.microsoft.com/office/powerpoint/2010/main" val="344770958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FC180346-C08D-4E4F-9E70-9286E599026B}" type="slidenum">
              <a:rPr lang="zh-CN" altLang="en-US" smtClean="0"/>
              <a:t>174</a:t>
            </a:fld>
            <a:endParaRPr lang="zh-CN" altLang="en-US"/>
          </a:p>
        </p:txBody>
      </p:sp>
    </p:spTree>
    <p:extLst>
      <p:ext uri="{BB962C8B-B14F-4D97-AF65-F5344CB8AC3E}">
        <p14:creationId xmlns:p14="http://schemas.microsoft.com/office/powerpoint/2010/main" val="421391049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FC180346-C08D-4E4F-9E70-9286E599026B}" type="slidenum">
              <a:rPr lang="zh-CN" altLang="en-US" smtClean="0"/>
              <a:t>175</a:t>
            </a:fld>
            <a:endParaRPr lang="zh-CN" altLang="en-US"/>
          </a:p>
        </p:txBody>
      </p:sp>
    </p:spTree>
    <p:extLst>
      <p:ext uri="{BB962C8B-B14F-4D97-AF65-F5344CB8AC3E}">
        <p14:creationId xmlns:p14="http://schemas.microsoft.com/office/powerpoint/2010/main" val="293876495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SSC</a:t>
            </a:r>
            <a:r>
              <a:rPr lang="en-US" altLang="zh-CN" baseline="0" dirty="0"/>
              <a:t> : Shared service center ( CMR, order entry, Credit release, Billing)</a:t>
            </a:r>
          </a:p>
          <a:p>
            <a:r>
              <a:rPr lang="en-US" altLang="zh-CN" dirty="0"/>
              <a:t>CDD : Commit delivery</a:t>
            </a:r>
            <a:r>
              <a:rPr lang="en-US" altLang="zh-CN" baseline="0" dirty="0"/>
              <a:t> date</a:t>
            </a:r>
          </a:p>
          <a:p>
            <a:r>
              <a:rPr lang="en-US" altLang="zh-CN" baseline="0" dirty="0"/>
              <a:t>Stuck Orders: Stuck order in CRM</a:t>
            </a:r>
          </a:p>
          <a:p>
            <a:r>
              <a:rPr lang="en-US" altLang="zh-CN" baseline="0" dirty="0"/>
              <a:t>ONL: order no loading, issues occurred during order placed.</a:t>
            </a:r>
          </a:p>
          <a:p>
            <a:endParaRPr lang="en-US" altLang="zh-CN" baseline="0" dirty="0"/>
          </a:p>
          <a:p>
            <a:endParaRPr lang="zh-CN" altLang="en-US" dirty="0"/>
          </a:p>
        </p:txBody>
      </p:sp>
      <p:sp>
        <p:nvSpPr>
          <p:cNvPr id="4" name="灯片编号占位符 3"/>
          <p:cNvSpPr>
            <a:spLocks noGrp="1"/>
          </p:cNvSpPr>
          <p:nvPr>
            <p:ph type="sldNum" sz="quarter" idx="10"/>
          </p:nvPr>
        </p:nvSpPr>
        <p:spPr/>
        <p:txBody>
          <a:bodyPr/>
          <a:lstStyle/>
          <a:p>
            <a:pPr marL="0" marR="0" lvl="0" indent="0" algn="r" defTabSz="1217613" rtl="0" eaLnBrk="1" fontAlgn="base" latinLnBrk="0" hangingPunct="1">
              <a:lnSpc>
                <a:spcPct val="100000"/>
              </a:lnSpc>
              <a:spcBef>
                <a:spcPct val="0"/>
              </a:spcBef>
              <a:spcAft>
                <a:spcPct val="0"/>
              </a:spcAft>
              <a:buClrTx/>
              <a:buSzTx/>
              <a:buFontTx/>
              <a:buNone/>
              <a:tabLst/>
              <a:defRPr/>
            </a:pPr>
            <a:fld id="{B4F12C0E-25FE-46A6-97F3-45A20C972E2A}" type="slidenum">
              <a:rPr kumimoji="0" lang="en-US" sz="800" b="0" i="0" u="none" strike="noStrike" kern="1200" cap="none" spc="0" normalizeH="0" baseline="0" noProof="0" smtClean="0">
                <a:ln>
                  <a:noFill/>
                </a:ln>
                <a:solidFill>
                  <a:prstClr val="black"/>
                </a:solidFill>
                <a:effectLst/>
                <a:uLnTx/>
                <a:uFillTx/>
                <a:latin typeface="Arial" pitchFamily="34" charset="0"/>
                <a:ea typeface="SimSun" pitchFamily="2" charset="-122"/>
                <a:cs typeface="Arial" pitchFamily="34" charset="0"/>
              </a:rPr>
              <a:pPr marL="0" marR="0" lvl="0" indent="0" algn="r" defTabSz="1217613" rtl="0" eaLnBrk="1" fontAlgn="base" latinLnBrk="0" hangingPunct="1">
                <a:lnSpc>
                  <a:spcPct val="100000"/>
                </a:lnSpc>
                <a:spcBef>
                  <a:spcPct val="0"/>
                </a:spcBef>
                <a:spcAft>
                  <a:spcPct val="0"/>
                </a:spcAft>
                <a:buClrTx/>
                <a:buSzTx/>
                <a:buFontTx/>
                <a:buNone/>
                <a:tabLst/>
                <a:defRPr/>
              </a:pPr>
              <a:t>177</a:t>
            </a:fld>
            <a:endParaRPr kumimoji="0" lang="en-US" sz="800" b="0" i="0" u="none" strike="noStrike" kern="1200" cap="none" spc="0" normalizeH="0" baseline="0" noProof="0" dirty="0">
              <a:ln>
                <a:noFill/>
              </a:ln>
              <a:solidFill>
                <a:prstClr val="black"/>
              </a:solidFill>
              <a:effectLst/>
              <a:uLnTx/>
              <a:uFillTx/>
              <a:latin typeface="Arial" pitchFamily="34" charset="0"/>
              <a:ea typeface="SimSun" pitchFamily="2" charset="-122"/>
              <a:cs typeface="Arial" pitchFamily="34" charset="0"/>
            </a:endParaRPr>
          </a:p>
        </p:txBody>
      </p:sp>
    </p:spTree>
    <p:extLst>
      <p:ext uri="{BB962C8B-B14F-4D97-AF65-F5344CB8AC3E}">
        <p14:creationId xmlns:p14="http://schemas.microsoft.com/office/powerpoint/2010/main" val="19448490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FC180346-C08D-4E4F-9E70-9286E599026B}" type="slidenum">
              <a:rPr lang="zh-CN" altLang="en-US" smtClean="0"/>
              <a:t>188</a:t>
            </a:fld>
            <a:endParaRPr lang="zh-CN" altLang="en-US"/>
          </a:p>
        </p:txBody>
      </p:sp>
    </p:spTree>
    <p:extLst>
      <p:ext uri="{BB962C8B-B14F-4D97-AF65-F5344CB8AC3E}">
        <p14:creationId xmlns:p14="http://schemas.microsoft.com/office/powerpoint/2010/main" val="110259812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FC180346-C08D-4E4F-9E70-9286E599026B}" type="slidenum">
              <a:rPr lang="zh-CN" altLang="en-US" smtClean="0"/>
              <a:t>197</a:t>
            </a:fld>
            <a:endParaRPr lang="zh-CN" altLang="en-US"/>
          </a:p>
        </p:txBody>
      </p:sp>
    </p:spTree>
    <p:extLst>
      <p:ext uri="{BB962C8B-B14F-4D97-AF65-F5344CB8AC3E}">
        <p14:creationId xmlns:p14="http://schemas.microsoft.com/office/powerpoint/2010/main" val="17542130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FC180346-C08D-4E4F-9E70-9286E599026B}" type="slidenum">
              <a:rPr lang="zh-CN" altLang="en-US" smtClean="0"/>
              <a:t>205</a:t>
            </a:fld>
            <a:endParaRPr lang="zh-CN" altLang="en-US"/>
          </a:p>
        </p:txBody>
      </p:sp>
    </p:spTree>
    <p:extLst>
      <p:ext uri="{BB962C8B-B14F-4D97-AF65-F5344CB8AC3E}">
        <p14:creationId xmlns:p14="http://schemas.microsoft.com/office/powerpoint/2010/main" val="808014105"/>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1.xml"/><Relationship Id="rId5" Type="http://schemas.microsoft.com/office/2007/relationships/hdphoto" Target="../media/hdphoto1.wdp"/><Relationship Id="rId4"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6.png"/><Relationship Id="rId7" Type="http://schemas.microsoft.com/office/2007/relationships/hdphoto" Target="../media/hdphoto1.wdp"/><Relationship Id="rId2" Type="http://schemas.openxmlformats.org/officeDocument/2006/relationships/image" Target="../media/image7.png"/><Relationship Id="rId1" Type="http://schemas.openxmlformats.org/officeDocument/2006/relationships/slideMaster" Target="../slideMasters/slideMaster1.xml"/><Relationship Id="rId6" Type="http://schemas.openxmlformats.org/officeDocument/2006/relationships/image" Target="../media/image3.png"/><Relationship Id="rId5" Type="http://schemas.microsoft.com/office/2007/relationships/hdphoto" Target="../media/hdphoto3.wdp"/><Relationship Id="rId4" Type="http://schemas.openxmlformats.org/officeDocument/2006/relationships/image" Target="../media/image8.png"/></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eg"/><Relationship Id="rId1" Type="http://schemas.openxmlformats.org/officeDocument/2006/relationships/slideMaster" Target="../slideMasters/slideMaster1.xml"/><Relationship Id="rId6" Type="http://schemas.microsoft.com/office/2007/relationships/hdphoto" Target="../media/hdphoto3.wdp"/><Relationship Id="rId5" Type="http://schemas.openxmlformats.org/officeDocument/2006/relationships/image" Target="../media/image8.png"/><Relationship Id="rId4" Type="http://schemas.microsoft.com/office/2007/relationships/hdphoto" Target="../media/hdphoto4.wdp"/></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5" Type="http://schemas.microsoft.com/office/2007/relationships/hdphoto" Target="../media/hdphoto1.wdp"/><Relationship Id="rId4" Type="http://schemas.openxmlformats.org/officeDocument/2006/relationships/image" Target="../media/image3.pn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1.xml"/><Relationship Id="rId5" Type="http://schemas.microsoft.com/office/2007/relationships/hdphoto" Target="../media/hdphoto1.wdp"/><Relationship Id="rId4" Type="http://schemas.openxmlformats.org/officeDocument/2006/relationships/image" Target="../media/image3.png"/></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eg"/><Relationship Id="rId1" Type="http://schemas.openxmlformats.org/officeDocument/2006/relationships/slideMaster" Target="../slideMasters/slideMaster1.xml"/><Relationship Id="rId6" Type="http://schemas.microsoft.com/office/2007/relationships/hdphoto" Target="../media/hdphoto3.wdp"/><Relationship Id="rId5" Type="http://schemas.openxmlformats.org/officeDocument/2006/relationships/image" Target="../media/image8.png"/><Relationship Id="rId4" Type="http://schemas.microsoft.com/office/2007/relationships/hdphoto" Target="../media/hdphoto4.wdp"/></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0.png"/><Relationship Id="rId7" Type="http://schemas.microsoft.com/office/2007/relationships/hdphoto" Target="../media/hdphoto1.wdp"/><Relationship Id="rId2" Type="http://schemas.openxmlformats.org/officeDocument/2006/relationships/image" Target="../media/image9.jpeg"/><Relationship Id="rId1" Type="http://schemas.openxmlformats.org/officeDocument/2006/relationships/slideMaster" Target="../slideMasters/slideMaster1.xml"/><Relationship Id="rId6" Type="http://schemas.openxmlformats.org/officeDocument/2006/relationships/image" Target="../media/image3.png"/><Relationship Id="rId5" Type="http://schemas.openxmlformats.org/officeDocument/2006/relationships/image" Target="../media/image2.png"/><Relationship Id="rId4" Type="http://schemas.microsoft.com/office/2007/relationships/hdphoto" Target="../media/hdphoto4.wdp"/></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xml"/><Relationship Id="rId1" Type="http://schemas.openxmlformats.org/officeDocument/2006/relationships/tags" Target="../tags/tag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1.xml"/><Relationship Id="rId5" Type="http://schemas.microsoft.com/office/2007/relationships/hdphoto" Target="../media/hdphoto1.wdp"/><Relationship Id="rId4" Type="http://schemas.openxmlformats.org/officeDocument/2006/relationships/image" Target="../media/image3.png"/></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png"/><Relationship Id="rId1" Type="http://schemas.openxmlformats.org/officeDocument/2006/relationships/slideMaster" Target="../slideMasters/slideMaster1.xml"/><Relationship Id="rId5" Type="http://schemas.openxmlformats.org/officeDocument/2006/relationships/image" Target="../media/image2.png"/><Relationship Id="rId4" Type="http://schemas.microsoft.com/office/2007/relationships/hdphoto" Target="../media/hdphoto1.wdp"/></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1.xml"/><Relationship Id="rId5" Type="http://schemas.microsoft.com/office/2007/relationships/hdphoto" Target="../media/hdphoto1.wdp"/><Relationship Id="rId4" Type="http://schemas.openxmlformats.org/officeDocument/2006/relationships/image" Target="../media/image3.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1.xml"/><Relationship Id="rId5" Type="http://schemas.microsoft.com/office/2007/relationships/hdphoto" Target="../media/hdphoto1.wdp"/><Relationship Id="rId4" Type="http://schemas.openxmlformats.org/officeDocument/2006/relationships/image" Target="../media/image3.png"/></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8.png"/><Relationship Id="rId7"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1.xml"/><Relationship Id="rId6" Type="http://schemas.microsoft.com/office/2007/relationships/hdphoto" Target="../media/hdphoto1.wdp"/><Relationship Id="rId5" Type="http://schemas.openxmlformats.org/officeDocument/2006/relationships/image" Target="../media/image3.png"/><Relationship Id="rId4" Type="http://schemas.microsoft.com/office/2007/relationships/hdphoto" Target="../media/hdphoto3.wdp"/></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2.png"/><Relationship Id="rId2" Type="http://schemas.openxmlformats.org/officeDocument/2006/relationships/image" Target="../media/image9.jpeg"/><Relationship Id="rId1" Type="http://schemas.openxmlformats.org/officeDocument/2006/relationships/slideMaster" Target="../slideMasters/slideMaster1.xml"/><Relationship Id="rId6" Type="http://schemas.microsoft.com/office/2007/relationships/hdphoto" Target="../media/hdphoto1.wdp"/><Relationship Id="rId5" Type="http://schemas.openxmlformats.org/officeDocument/2006/relationships/image" Target="../media/image3.png"/><Relationship Id="rId4" Type="http://schemas.microsoft.com/office/2007/relationships/hdphoto" Target="../media/hdphoto4.wdp"/></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2.xml"/><Relationship Id="rId5" Type="http://schemas.microsoft.com/office/2007/relationships/hdphoto" Target="../media/hdphoto1.wdp"/><Relationship Id="rId4" Type="http://schemas.openxmlformats.org/officeDocument/2006/relationships/image" Target="../media/image3.png"/></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6.png"/><Relationship Id="rId7" Type="http://schemas.microsoft.com/office/2007/relationships/hdphoto" Target="../media/hdphoto1.wdp"/><Relationship Id="rId2" Type="http://schemas.openxmlformats.org/officeDocument/2006/relationships/image" Target="../media/image7.png"/><Relationship Id="rId1" Type="http://schemas.openxmlformats.org/officeDocument/2006/relationships/slideMaster" Target="../slideMasters/slideMaster2.xml"/><Relationship Id="rId6" Type="http://schemas.openxmlformats.org/officeDocument/2006/relationships/image" Target="../media/image3.png"/><Relationship Id="rId5" Type="http://schemas.microsoft.com/office/2007/relationships/hdphoto" Target="../media/hdphoto3.wdp"/><Relationship Id="rId4" Type="http://schemas.openxmlformats.org/officeDocument/2006/relationships/image" Target="../media/image8.png"/></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1.jpg"/><Relationship Id="rId1" Type="http://schemas.openxmlformats.org/officeDocument/2006/relationships/slideMaster" Target="../slideMasters/slideMaster2.xml"/><Relationship Id="rId4" Type="http://schemas.microsoft.com/office/2007/relationships/hdphoto" Target="../media/hdphoto3.wdp"/></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5" Type="http://schemas.microsoft.com/office/2007/relationships/hdphoto" Target="../media/hdphoto1.wdp"/><Relationship Id="rId4" Type="http://schemas.openxmlformats.org/officeDocument/2006/relationships/image" Target="../media/image3.png"/></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2.xml"/><Relationship Id="rId5" Type="http://schemas.microsoft.com/office/2007/relationships/hdphoto" Target="../media/hdphoto1.wdp"/><Relationship Id="rId4" Type="http://schemas.openxmlformats.org/officeDocument/2006/relationships/image" Target="../media/image3.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10.png"/><Relationship Id="rId7" Type="http://schemas.microsoft.com/office/2007/relationships/hdphoto" Target="../media/hdphoto1.wdp"/><Relationship Id="rId2" Type="http://schemas.openxmlformats.org/officeDocument/2006/relationships/image" Target="../media/image9.jpeg"/><Relationship Id="rId1" Type="http://schemas.openxmlformats.org/officeDocument/2006/relationships/slideMaster" Target="../slideMasters/slideMaster2.xml"/><Relationship Id="rId6" Type="http://schemas.openxmlformats.org/officeDocument/2006/relationships/image" Target="../media/image3.png"/><Relationship Id="rId5" Type="http://schemas.openxmlformats.org/officeDocument/2006/relationships/image" Target="../media/image2.png"/><Relationship Id="rId4" Type="http://schemas.microsoft.com/office/2007/relationships/hdphoto" Target="../media/hdphoto4.wdp"/></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tags" Target="../tags/tag4.xml"/><Relationship Id="rId1" Type="http://schemas.openxmlformats.org/officeDocument/2006/relationships/tags" Target="../tags/tag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2.xml"/><Relationship Id="rId5" Type="http://schemas.microsoft.com/office/2007/relationships/hdphoto" Target="../media/hdphoto1.wdp"/><Relationship Id="rId4" Type="http://schemas.openxmlformats.org/officeDocument/2006/relationships/image" Target="../media/image3.png"/></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png"/><Relationship Id="rId1" Type="http://schemas.openxmlformats.org/officeDocument/2006/relationships/slideMaster" Target="../slideMasters/slideMaster2.xml"/><Relationship Id="rId5" Type="http://schemas.openxmlformats.org/officeDocument/2006/relationships/image" Target="../media/image2.png"/><Relationship Id="rId4" Type="http://schemas.microsoft.com/office/2007/relationships/hdphoto" Target="../media/hdphoto1.wdp"/></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2.xml"/><Relationship Id="rId5" Type="http://schemas.microsoft.com/office/2007/relationships/hdphoto" Target="../media/hdphoto1.wdp"/><Relationship Id="rId4" Type="http://schemas.openxmlformats.org/officeDocument/2006/relationships/image" Target="../media/image3.png"/></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2.xml"/><Relationship Id="rId5" Type="http://schemas.microsoft.com/office/2007/relationships/hdphoto" Target="../media/hdphoto1.wdp"/><Relationship Id="rId4" Type="http://schemas.openxmlformats.org/officeDocument/2006/relationships/image" Target="../media/image3.png"/></Relationships>
</file>

<file path=ppt/slideLayouts/_rels/slideLayout46.xml.rels><?xml version="1.0" encoding="UTF-8" standalone="yes"?>
<Relationships xmlns="http://schemas.openxmlformats.org/package/2006/relationships"><Relationship Id="rId3" Type="http://schemas.openxmlformats.org/officeDocument/2006/relationships/image" Target="../media/image8.png"/><Relationship Id="rId7"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2.xml"/><Relationship Id="rId6" Type="http://schemas.microsoft.com/office/2007/relationships/hdphoto" Target="../media/hdphoto1.wdp"/><Relationship Id="rId5" Type="http://schemas.openxmlformats.org/officeDocument/2006/relationships/image" Target="../media/image3.png"/><Relationship Id="rId4" Type="http://schemas.microsoft.com/office/2007/relationships/hdphoto" Target="../media/hdphoto3.wdp"/></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2.png"/><Relationship Id="rId2" Type="http://schemas.openxmlformats.org/officeDocument/2006/relationships/image" Target="../media/image9.jpeg"/><Relationship Id="rId1" Type="http://schemas.openxmlformats.org/officeDocument/2006/relationships/slideMaster" Target="../slideMasters/slideMaster2.xml"/><Relationship Id="rId6" Type="http://schemas.microsoft.com/office/2007/relationships/hdphoto" Target="../media/hdphoto1.wdp"/><Relationship Id="rId5" Type="http://schemas.openxmlformats.org/officeDocument/2006/relationships/image" Target="../media/image3.png"/><Relationship Id="rId4" Type="http://schemas.microsoft.com/office/2007/relationships/hdphoto" Target="../media/hdphoto4.wdp"/></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3.xml"/><Relationship Id="rId5" Type="http://schemas.microsoft.com/office/2007/relationships/hdphoto" Target="../media/hdphoto5.wdp"/><Relationship Id="rId4" Type="http://schemas.openxmlformats.org/officeDocument/2006/relationships/image" Target="../media/image13.png"/></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6.png"/><Relationship Id="rId7" Type="http://schemas.microsoft.com/office/2007/relationships/hdphoto" Target="../media/hdphoto5.wdp"/><Relationship Id="rId2" Type="http://schemas.openxmlformats.org/officeDocument/2006/relationships/image" Target="../media/image7.png"/><Relationship Id="rId1" Type="http://schemas.openxmlformats.org/officeDocument/2006/relationships/slideMaster" Target="../slideMasters/slideMaster3.xml"/><Relationship Id="rId6" Type="http://schemas.openxmlformats.org/officeDocument/2006/relationships/image" Target="../media/image13.png"/><Relationship Id="rId5" Type="http://schemas.microsoft.com/office/2007/relationships/hdphoto" Target="../media/hdphoto6.wdp"/><Relationship Id="rId4" Type="http://schemas.openxmlformats.org/officeDocument/2006/relationships/image" Target="../media/image15.png"/></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9.jpeg"/><Relationship Id="rId1" Type="http://schemas.openxmlformats.org/officeDocument/2006/relationships/slideMaster" Target="../slideMasters/slideMaster3.xml"/><Relationship Id="rId6" Type="http://schemas.microsoft.com/office/2007/relationships/hdphoto" Target="../media/hdphoto8.wdp"/><Relationship Id="rId5" Type="http://schemas.openxmlformats.org/officeDocument/2006/relationships/image" Target="../media/image17.png"/><Relationship Id="rId4" Type="http://schemas.microsoft.com/office/2007/relationships/hdphoto" Target="../media/hdphoto7.wdp"/></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png"/><Relationship Id="rId1" Type="http://schemas.openxmlformats.org/officeDocument/2006/relationships/slideMaster" Target="../slideMasters/slideMaster3.xml"/><Relationship Id="rId5" Type="http://schemas.microsoft.com/office/2007/relationships/hdphoto" Target="../media/hdphoto5.wdp"/><Relationship Id="rId4" Type="http://schemas.openxmlformats.org/officeDocument/2006/relationships/image" Target="../media/image13.png"/></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3.xml"/><Relationship Id="rId5" Type="http://schemas.microsoft.com/office/2007/relationships/hdphoto" Target="../media/hdphoto5.wdp"/><Relationship Id="rId4" Type="http://schemas.openxmlformats.org/officeDocument/2006/relationships/image" Target="../media/image13.png"/></Relationships>
</file>

<file path=ppt/slideLayouts/_rels/slideLayout5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9.jpeg"/><Relationship Id="rId1" Type="http://schemas.openxmlformats.org/officeDocument/2006/relationships/slideMaster" Target="../slideMasters/slideMaster3.xml"/><Relationship Id="rId6" Type="http://schemas.microsoft.com/office/2007/relationships/hdphoto" Target="../media/hdphoto6.wdp"/><Relationship Id="rId5" Type="http://schemas.openxmlformats.org/officeDocument/2006/relationships/image" Target="../media/image15.png"/><Relationship Id="rId4" Type="http://schemas.microsoft.com/office/2007/relationships/hdphoto" Target="../media/hdphoto7.wdp"/></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16.png"/><Relationship Id="rId7" Type="http://schemas.microsoft.com/office/2007/relationships/hdphoto" Target="../media/hdphoto5.wdp"/><Relationship Id="rId2" Type="http://schemas.openxmlformats.org/officeDocument/2006/relationships/image" Target="../media/image9.jpeg"/><Relationship Id="rId1" Type="http://schemas.openxmlformats.org/officeDocument/2006/relationships/slideMaster" Target="../slideMasters/slideMaster3.xml"/><Relationship Id="rId6" Type="http://schemas.openxmlformats.org/officeDocument/2006/relationships/image" Target="../media/image13.png"/><Relationship Id="rId5" Type="http://schemas.openxmlformats.org/officeDocument/2006/relationships/image" Target="../media/image12.png"/><Relationship Id="rId4" Type="http://schemas.microsoft.com/office/2007/relationships/hdphoto" Target="../media/hdphoto7.wdp"/></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3" Type="http://schemas.openxmlformats.org/officeDocument/2006/relationships/slideMaster" Target="../slideMasters/slideMaster3.xml"/><Relationship Id="rId2" Type="http://schemas.openxmlformats.org/officeDocument/2006/relationships/tags" Target="../tags/tag6.xml"/><Relationship Id="rId1" Type="http://schemas.openxmlformats.org/officeDocument/2006/relationships/tags" Target="../tags/tag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3.xml"/><Relationship Id="rId5" Type="http://schemas.microsoft.com/office/2007/relationships/hdphoto" Target="../media/hdphoto5.wdp"/><Relationship Id="rId4" Type="http://schemas.openxmlformats.org/officeDocument/2006/relationships/image" Target="../media/image13.png"/></Relationships>
</file>

<file path=ppt/slideLayouts/_rels/slideLayout6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6.png"/><Relationship Id="rId1" Type="http://schemas.openxmlformats.org/officeDocument/2006/relationships/slideMaster" Target="../slideMasters/slideMaster3.xml"/><Relationship Id="rId5" Type="http://schemas.openxmlformats.org/officeDocument/2006/relationships/image" Target="../media/image12.png"/><Relationship Id="rId4" Type="http://schemas.microsoft.com/office/2007/relationships/hdphoto" Target="../media/hdphoto5.wdp"/></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3.xml"/><Relationship Id="rId5" Type="http://schemas.microsoft.com/office/2007/relationships/hdphoto" Target="../media/hdphoto5.wdp"/><Relationship Id="rId4" Type="http://schemas.openxmlformats.org/officeDocument/2006/relationships/image" Target="../media/image13.png"/></Relationships>
</file>

<file path=ppt/slideLayouts/_rels/slideLayout6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3.xml"/><Relationship Id="rId5" Type="http://schemas.microsoft.com/office/2007/relationships/hdphoto" Target="../media/hdphoto5.wdp"/><Relationship Id="rId4" Type="http://schemas.openxmlformats.org/officeDocument/2006/relationships/image" Target="../media/image13.png"/></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15.png"/><Relationship Id="rId7"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3.xml"/><Relationship Id="rId6" Type="http://schemas.microsoft.com/office/2007/relationships/hdphoto" Target="../media/hdphoto5.wdp"/><Relationship Id="rId5" Type="http://schemas.openxmlformats.org/officeDocument/2006/relationships/image" Target="../media/image13.png"/><Relationship Id="rId4" Type="http://schemas.microsoft.com/office/2007/relationships/hdphoto" Target="../media/hdphoto6.wdp"/></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9.jpeg"/><Relationship Id="rId1" Type="http://schemas.openxmlformats.org/officeDocument/2006/relationships/slideMaster" Target="../slideMasters/slideMaster3.xml"/><Relationship Id="rId6" Type="http://schemas.microsoft.com/office/2007/relationships/hdphoto" Target="../media/hdphoto5.wdp"/><Relationship Id="rId5" Type="http://schemas.openxmlformats.org/officeDocument/2006/relationships/image" Target="../media/image13.png"/><Relationship Id="rId4" Type="http://schemas.microsoft.com/office/2007/relationships/hdphoto" Target="../media/hdphoto7.wdp"/></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16.png"/><Relationship Id="rId7" Type="http://schemas.microsoft.com/office/2007/relationships/hdphoto" Target="../media/hdphoto5.wdp"/><Relationship Id="rId2" Type="http://schemas.openxmlformats.org/officeDocument/2006/relationships/image" Target="../media/image9.jpeg"/><Relationship Id="rId1" Type="http://schemas.openxmlformats.org/officeDocument/2006/relationships/slideMaster" Target="../slideMasters/slideMaster3.xml"/><Relationship Id="rId6" Type="http://schemas.openxmlformats.org/officeDocument/2006/relationships/image" Target="../media/image13.png"/><Relationship Id="rId5" Type="http://schemas.openxmlformats.org/officeDocument/2006/relationships/image" Target="../media/image12.png"/><Relationship Id="rId4" Type="http://schemas.microsoft.com/office/2007/relationships/hdphoto" Target="../media/hdphoto7.wdp"/></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4.xml"/><Relationship Id="rId5" Type="http://schemas.microsoft.com/office/2007/relationships/hdphoto" Target="../media/hdphoto5.wdp"/><Relationship Id="rId4" Type="http://schemas.openxmlformats.org/officeDocument/2006/relationships/image" Target="../media/image13.png"/></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6.png"/><Relationship Id="rId7" Type="http://schemas.microsoft.com/office/2007/relationships/hdphoto" Target="../media/hdphoto5.wdp"/><Relationship Id="rId2" Type="http://schemas.openxmlformats.org/officeDocument/2006/relationships/image" Target="../media/image7.png"/><Relationship Id="rId1" Type="http://schemas.openxmlformats.org/officeDocument/2006/relationships/slideMaster" Target="../slideMasters/slideMaster4.xml"/><Relationship Id="rId6" Type="http://schemas.openxmlformats.org/officeDocument/2006/relationships/image" Target="../media/image13.png"/><Relationship Id="rId5" Type="http://schemas.microsoft.com/office/2007/relationships/hdphoto" Target="../media/hdphoto6.wdp"/><Relationship Id="rId4" Type="http://schemas.openxmlformats.org/officeDocument/2006/relationships/image" Target="../media/image15.png"/></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9.jpeg"/><Relationship Id="rId1" Type="http://schemas.openxmlformats.org/officeDocument/2006/relationships/slideMaster" Target="../slideMasters/slideMaster4.xml"/><Relationship Id="rId6" Type="http://schemas.microsoft.com/office/2007/relationships/hdphoto" Target="../media/hdphoto8.wdp"/><Relationship Id="rId5" Type="http://schemas.openxmlformats.org/officeDocument/2006/relationships/image" Target="../media/image17.png"/><Relationship Id="rId4" Type="http://schemas.microsoft.com/office/2007/relationships/hdphoto" Target="../media/hdphoto7.wdp"/></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png"/><Relationship Id="rId1" Type="http://schemas.openxmlformats.org/officeDocument/2006/relationships/slideMaster" Target="../slideMasters/slideMaster4.xml"/><Relationship Id="rId5" Type="http://schemas.microsoft.com/office/2007/relationships/hdphoto" Target="../media/hdphoto5.wdp"/><Relationship Id="rId4" Type="http://schemas.openxmlformats.org/officeDocument/2006/relationships/image" Target="../media/image13.png"/></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4.xml"/><Relationship Id="rId5" Type="http://schemas.microsoft.com/office/2007/relationships/hdphoto" Target="../media/hdphoto5.wdp"/><Relationship Id="rId4" Type="http://schemas.openxmlformats.org/officeDocument/2006/relationships/image" Target="../media/image13.png"/></Relationships>
</file>

<file path=ppt/slideLayouts/_rels/slideLayout8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9.jpeg"/><Relationship Id="rId1" Type="http://schemas.openxmlformats.org/officeDocument/2006/relationships/slideMaster" Target="../slideMasters/slideMaster4.xml"/><Relationship Id="rId6" Type="http://schemas.microsoft.com/office/2007/relationships/hdphoto" Target="../media/hdphoto6.wdp"/><Relationship Id="rId5" Type="http://schemas.openxmlformats.org/officeDocument/2006/relationships/image" Target="../media/image15.png"/><Relationship Id="rId4" Type="http://schemas.microsoft.com/office/2007/relationships/hdphoto" Target="../media/hdphoto7.wdp"/></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3" Type="http://schemas.openxmlformats.org/officeDocument/2006/relationships/image" Target="../media/image16.png"/><Relationship Id="rId7" Type="http://schemas.microsoft.com/office/2007/relationships/hdphoto" Target="../media/hdphoto5.wdp"/><Relationship Id="rId2" Type="http://schemas.openxmlformats.org/officeDocument/2006/relationships/image" Target="../media/image9.jpeg"/><Relationship Id="rId1" Type="http://schemas.openxmlformats.org/officeDocument/2006/relationships/slideMaster" Target="../slideMasters/slideMaster4.xml"/><Relationship Id="rId6" Type="http://schemas.openxmlformats.org/officeDocument/2006/relationships/image" Target="../media/image13.png"/><Relationship Id="rId5" Type="http://schemas.openxmlformats.org/officeDocument/2006/relationships/image" Target="../media/image12.png"/><Relationship Id="rId4" Type="http://schemas.microsoft.com/office/2007/relationships/hdphoto" Target="../media/hdphoto7.wdp"/></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3" Type="http://schemas.openxmlformats.org/officeDocument/2006/relationships/slideMaster" Target="../slideMasters/slideMaster4.xml"/><Relationship Id="rId2" Type="http://schemas.openxmlformats.org/officeDocument/2006/relationships/tags" Target="../tags/tag8.xml"/><Relationship Id="rId1" Type="http://schemas.openxmlformats.org/officeDocument/2006/relationships/tags" Target="../tags/tag7.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4.xml"/><Relationship Id="rId5" Type="http://schemas.microsoft.com/office/2007/relationships/hdphoto" Target="../media/hdphoto5.wdp"/><Relationship Id="rId4" Type="http://schemas.openxmlformats.org/officeDocument/2006/relationships/image" Target="../media/image13.png"/></Relationships>
</file>

<file path=ppt/slideLayouts/_rels/slideLayout9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6.png"/><Relationship Id="rId1" Type="http://schemas.openxmlformats.org/officeDocument/2006/relationships/slideMaster" Target="../slideMasters/slideMaster4.xml"/><Relationship Id="rId5" Type="http://schemas.openxmlformats.org/officeDocument/2006/relationships/image" Target="../media/image12.png"/><Relationship Id="rId4" Type="http://schemas.microsoft.com/office/2007/relationships/hdphoto" Target="../media/hdphoto5.wdp"/></Relationships>
</file>

<file path=ppt/slideLayouts/_rels/slideLayout9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4.xml"/><Relationship Id="rId5" Type="http://schemas.microsoft.com/office/2007/relationships/hdphoto" Target="../media/hdphoto5.wdp"/><Relationship Id="rId4" Type="http://schemas.openxmlformats.org/officeDocument/2006/relationships/image" Target="../media/image13.png"/></Relationships>
</file>

<file path=ppt/slideLayouts/_rels/slideLayout9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4.xml"/><Relationship Id="rId5" Type="http://schemas.microsoft.com/office/2007/relationships/hdphoto" Target="../media/hdphoto5.wdp"/><Relationship Id="rId4" Type="http://schemas.openxmlformats.org/officeDocument/2006/relationships/image" Target="../media/image13.png"/></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15.png"/><Relationship Id="rId7"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4.xml"/><Relationship Id="rId6" Type="http://schemas.microsoft.com/office/2007/relationships/hdphoto" Target="../media/hdphoto5.wdp"/><Relationship Id="rId5" Type="http://schemas.openxmlformats.org/officeDocument/2006/relationships/image" Target="../media/image13.png"/><Relationship Id="rId4" Type="http://schemas.microsoft.com/office/2007/relationships/hdphoto" Target="../media/hdphoto6.wdp"/></Relationships>
</file>

<file path=ppt/slideLayouts/_rels/slideLayout100.xml.rels><?xml version="1.0" encoding="UTF-8" standalone="yes"?>
<Relationships xmlns="http://schemas.openxmlformats.org/package/2006/relationships"><Relationship Id="rId3" Type="http://schemas.openxmlformats.org/officeDocument/2006/relationships/image" Target="../media/image16.png"/><Relationship Id="rId7" Type="http://schemas.openxmlformats.org/officeDocument/2006/relationships/image" Target="../media/image12.png"/><Relationship Id="rId2" Type="http://schemas.openxmlformats.org/officeDocument/2006/relationships/image" Target="../media/image9.jpeg"/><Relationship Id="rId1" Type="http://schemas.openxmlformats.org/officeDocument/2006/relationships/slideMaster" Target="../slideMasters/slideMaster4.xml"/><Relationship Id="rId6" Type="http://schemas.microsoft.com/office/2007/relationships/hdphoto" Target="../media/hdphoto5.wdp"/><Relationship Id="rId5" Type="http://schemas.openxmlformats.org/officeDocument/2006/relationships/image" Target="../media/image13.png"/><Relationship Id="rId4" Type="http://schemas.microsoft.com/office/2007/relationships/hdphoto" Target="../media/hdphoto7.wdp"/></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5.xml"/><Relationship Id="rId5" Type="http://schemas.microsoft.com/office/2007/relationships/hdphoto" Target="../media/hdphoto5.wdp"/><Relationship Id="rId4" Type="http://schemas.openxmlformats.org/officeDocument/2006/relationships/image" Target="../media/image13.png"/></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6.png"/><Relationship Id="rId7" Type="http://schemas.microsoft.com/office/2007/relationships/hdphoto" Target="../media/hdphoto5.wdp"/><Relationship Id="rId2" Type="http://schemas.openxmlformats.org/officeDocument/2006/relationships/image" Target="../media/image7.png"/><Relationship Id="rId1" Type="http://schemas.openxmlformats.org/officeDocument/2006/relationships/slideMaster" Target="../slideMasters/slideMaster5.xml"/><Relationship Id="rId6" Type="http://schemas.openxmlformats.org/officeDocument/2006/relationships/image" Target="../media/image13.png"/><Relationship Id="rId5" Type="http://schemas.microsoft.com/office/2007/relationships/hdphoto" Target="../media/hdphoto6.wdp"/><Relationship Id="rId4" Type="http://schemas.openxmlformats.org/officeDocument/2006/relationships/image" Target="../media/image15.png"/></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9.jpeg"/><Relationship Id="rId1" Type="http://schemas.openxmlformats.org/officeDocument/2006/relationships/slideMaster" Target="../slideMasters/slideMaster5.xml"/><Relationship Id="rId6" Type="http://schemas.microsoft.com/office/2007/relationships/hdphoto" Target="../media/hdphoto8.wdp"/><Relationship Id="rId5" Type="http://schemas.openxmlformats.org/officeDocument/2006/relationships/image" Target="../media/image17.png"/><Relationship Id="rId4" Type="http://schemas.microsoft.com/office/2007/relationships/hdphoto" Target="../media/hdphoto7.wdp"/></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png"/><Relationship Id="rId1" Type="http://schemas.openxmlformats.org/officeDocument/2006/relationships/slideMaster" Target="../slideMasters/slideMaster5.xml"/><Relationship Id="rId5" Type="http://schemas.microsoft.com/office/2007/relationships/hdphoto" Target="../media/hdphoto5.wdp"/><Relationship Id="rId4" Type="http://schemas.openxmlformats.org/officeDocument/2006/relationships/image" Target="../media/image13.png"/></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5.xml"/><Relationship Id="rId5" Type="http://schemas.microsoft.com/office/2007/relationships/hdphoto" Target="../media/hdphoto5.wdp"/><Relationship Id="rId4" Type="http://schemas.openxmlformats.org/officeDocument/2006/relationships/image" Target="../media/image13.png"/></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9.jpeg"/><Relationship Id="rId1" Type="http://schemas.openxmlformats.org/officeDocument/2006/relationships/slideMaster" Target="../slideMasters/slideMaster5.xml"/><Relationship Id="rId6" Type="http://schemas.microsoft.com/office/2007/relationships/hdphoto" Target="../media/hdphoto6.wdp"/><Relationship Id="rId5" Type="http://schemas.openxmlformats.org/officeDocument/2006/relationships/image" Target="../media/image15.png"/><Relationship Id="rId4" Type="http://schemas.microsoft.com/office/2007/relationships/hdphoto" Target="../media/hdphoto7.wdp"/></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3" Type="http://schemas.openxmlformats.org/officeDocument/2006/relationships/image" Target="../media/image16.png"/><Relationship Id="rId7" Type="http://schemas.microsoft.com/office/2007/relationships/hdphoto" Target="../media/hdphoto5.wdp"/><Relationship Id="rId2" Type="http://schemas.openxmlformats.org/officeDocument/2006/relationships/image" Target="../media/image9.jpeg"/><Relationship Id="rId1" Type="http://schemas.openxmlformats.org/officeDocument/2006/relationships/slideMaster" Target="../slideMasters/slideMaster5.xml"/><Relationship Id="rId6" Type="http://schemas.openxmlformats.org/officeDocument/2006/relationships/image" Target="../media/image13.png"/><Relationship Id="rId5" Type="http://schemas.openxmlformats.org/officeDocument/2006/relationships/image" Target="../media/image12.png"/><Relationship Id="rId4" Type="http://schemas.microsoft.com/office/2007/relationships/hdphoto" Target="../media/hdphoto7.wdp"/></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3" Type="http://schemas.openxmlformats.org/officeDocument/2006/relationships/slideMaster" Target="../slideMasters/slideMaster5.xml"/><Relationship Id="rId2" Type="http://schemas.openxmlformats.org/officeDocument/2006/relationships/tags" Target="../tags/tag10.xml"/><Relationship Id="rId1" Type="http://schemas.openxmlformats.org/officeDocument/2006/relationships/tags" Target="../tags/tag9.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5.xml"/><Relationship Id="rId5" Type="http://schemas.microsoft.com/office/2007/relationships/hdphoto" Target="../media/hdphoto5.wdp"/><Relationship Id="rId4" Type="http://schemas.openxmlformats.org/officeDocument/2006/relationships/image" Target="../media/image13.png"/></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6.png"/><Relationship Id="rId1" Type="http://schemas.openxmlformats.org/officeDocument/2006/relationships/slideMaster" Target="../slideMasters/slideMaster5.xml"/><Relationship Id="rId5" Type="http://schemas.openxmlformats.org/officeDocument/2006/relationships/image" Target="../media/image12.png"/><Relationship Id="rId4" Type="http://schemas.microsoft.com/office/2007/relationships/hdphoto" Target="../media/hdphoto5.wdp"/></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5.xml"/><Relationship Id="rId5" Type="http://schemas.microsoft.com/office/2007/relationships/hdphoto" Target="../media/hdphoto5.wdp"/><Relationship Id="rId4" Type="http://schemas.openxmlformats.org/officeDocument/2006/relationships/image" Target="../media/image13.png"/></Relationships>
</file>

<file path=ppt/slideLayouts/_rels/slideLayout12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5.xml"/><Relationship Id="rId5" Type="http://schemas.microsoft.com/office/2007/relationships/hdphoto" Target="../media/hdphoto5.wdp"/><Relationship Id="rId4" Type="http://schemas.openxmlformats.org/officeDocument/2006/relationships/image" Target="../media/image13.png"/></Relationships>
</file>

<file path=ppt/slideLayouts/_rels/slideLayout123.xml.rels><?xml version="1.0" encoding="UTF-8" standalone="yes"?>
<Relationships xmlns="http://schemas.openxmlformats.org/package/2006/relationships"><Relationship Id="rId3" Type="http://schemas.openxmlformats.org/officeDocument/2006/relationships/image" Target="../media/image15.png"/><Relationship Id="rId7"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5.xml"/><Relationship Id="rId6" Type="http://schemas.microsoft.com/office/2007/relationships/hdphoto" Target="../media/hdphoto5.wdp"/><Relationship Id="rId5" Type="http://schemas.openxmlformats.org/officeDocument/2006/relationships/image" Target="../media/image13.png"/><Relationship Id="rId4" Type="http://schemas.microsoft.com/office/2007/relationships/hdphoto" Target="../media/hdphoto6.wdp"/></Relationships>
</file>

<file path=ppt/slideLayouts/_rels/slideLayout12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9.jpeg"/><Relationship Id="rId1" Type="http://schemas.openxmlformats.org/officeDocument/2006/relationships/slideMaster" Target="../slideMasters/slideMaster5.xml"/><Relationship Id="rId6" Type="http://schemas.microsoft.com/office/2007/relationships/hdphoto" Target="../media/hdphoto5.wdp"/><Relationship Id="rId5" Type="http://schemas.openxmlformats.org/officeDocument/2006/relationships/image" Target="../media/image13.png"/><Relationship Id="rId4" Type="http://schemas.microsoft.com/office/2007/relationships/hdphoto" Target="../media/hdphoto7.wdp"/></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6.xml.rels><?xml version="1.0" encoding="UTF-8" standalone="yes"?>
<Relationships xmlns="http://schemas.openxmlformats.org/package/2006/relationships"><Relationship Id="rId3" Type="http://schemas.openxmlformats.org/officeDocument/2006/relationships/image" Target="../media/image16.png"/><Relationship Id="rId7" Type="http://schemas.microsoft.com/office/2007/relationships/hdphoto" Target="../media/hdphoto5.wdp"/><Relationship Id="rId2" Type="http://schemas.openxmlformats.org/officeDocument/2006/relationships/image" Target="../media/image9.jpeg"/><Relationship Id="rId1" Type="http://schemas.openxmlformats.org/officeDocument/2006/relationships/slideMaster" Target="../slideMasters/slideMaster5.xml"/><Relationship Id="rId6" Type="http://schemas.openxmlformats.org/officeDocument/2006/relationships/image" Target="../media/image13.png"/><Relationship Id="rId5" Type="http://schemas.openxmlformats.org/officeDocument/2006/relationships/image" Target="../media/image12.png"/><Relationship Id="rId4" Type="http://schemas.microsoft.com/office/2007/relationships/hdphoto" Target="../media/hdphoto7.wdp"/></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1_标题幻灯片">
    <p:spTree>
      <p:nvGrpSpPr>
        <p:cNvPr id="1" name=""/>
        <p:cNvGrpSpPr/>
        <p:nvPr/>
      </p:nvGrpSpPr>
      <p:grpSpPr>
        <a:xfrm>
          <a:off x="0" y="0"/>
          <a:ext cx="0" cy="0"/>
          <a:chOff x="0" y="0"/>
          <a:chExt cx="0" cy="0"/>
        </a:xfrm>
      </p:grpSpPr>
      <p:pic>
        <p:nvPicPr>
          <p:cNvPr id="19" name="图片 18">
            <a:extLst>
              <a:ext uri="{FF2B5EF4-FFF2-40B4-BE49-F238E27FC236}">
                <a16:creationId xmlns:a16="http://schemas.microsoft.com/office/drawing/2014/main" id="{BE0DAE40-464B-542A-F3CA-72C57176CEA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200452" cy="7039661"/>
          </a:xfrm>
          <a:prstGeom prst="rect">
            <a:avLst/>
          </a:prstGeom>
        </p:spPr>
      </p:pic>
      <p:sp>
        <p:nvSpPr>
          <p:cNvPr id="2" name="Rectangle 3">
            <a:extLst>
              <a:ext uri="{FF2B5EF4-FFF2-40B4-BE49-F238E27FC236}">
                <a16:creationId xmlns:a16="http://schemas.microsoft.com/office/drawing/2014/main" id="{12F37E50-CF33-4241-AF80-F4953C679288}"/>
              </a:ext>
            </a:extLst>
          </p:cNvPr>
          <p:cNvSpPr/>
          <p:nvPr/>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Rectangle 11">
            <a:extLst>
              <a:ext uri="{FF2B5EF4-FFF2-40B4-BE49-F238E27FC236}">
                <a16:creationId xmlns:a16="http://schemas.microsoft.com/office/drawing/2014/main" id="{0F60084F-F637-4FA4-BE35-D702CF6DAA6A}"/>
              </a:ext>
            </a:extLst>
          </p:cNvPr>
          <p:cNvSpPr/>
          <p:nvPr/>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Title 1">
            <a:extLst>
              <a:ext uri="{FF2B5EF4-FFF2-40B4-BE49-F238E27FC236}">
                <a16:creationId xmlns:a16="http://schemas.microsoft.com/office/drawing/2014/main" id="{2869597B-F909-5F67-0679-C0ADB832BB0C}"/>
              </a:ext>
            </a:extLst>
          </p:cNvPr>
          <p:cNvSpPr>
            <a:spLocks noGrp="1"/>
          </p:cNvSpPr>
          <p:nvPr>
            <p:ph type="ctrTitle" hasCustomPrompt="1"/>
          </p:nvPr>
        </p:nvSpPr>
        <p:spPr>
          <a:xfrm>
            <a:off x="1027460" y="2767054"/>
            <a:ext cx="5200650" cy="1794141"/>
          </a:xfr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cxnSp>
        <p:nvCxnSpPr>
          <p:cNvPr id="8" name="Straight Connector 13">
            <a:extLst>
              <a:ext uri="{FF2B5EF4-FFF2-40B4-BE49-F238E27FC236}">
                <a16:creationId xmlns:a16="http://schemas.microsoft.com/office/drawing/2014/main" id="{A7BE3E13-E4E5-2397-0174-77949629B0D5}"/>
              </a:ext>
            </a:extLst>
          </p:cNvPr>
          <p:cNvCxnSpPr>
            <a:cxnSpLocks/>
          </p:cNvCxnSpPr>
          <p:nvPr/>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4" name="图片 3">
            <a:extLst>
              <a:ext uri="{FF2B5EF4-FFF2-40B4-BE49-F238E27FC236}">
                <a16:creationId xmlns:a16="http://schemas.microsoft.com/office/drawing/2014/main" id="{E96A4A0C-29EC-8C3E-D594-13ECAD0B336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Rectangle 3">
            <a:extLst>
              <a:ext uri="{FF2B5EF4-FFF2-40B4-BE49-F238E27FC236}">
                <a16:creationId xmlns:a16="http://schemas.microsoft.com/office/drawing/2014/main" id="{A1C87679-80C6-AE99-8DAA-AABF3C22FC41}"/>
              </a:ext>
            </a:extLst>
          </p:cNvPr>
          <p:cNvSpPr/>
          <p:nvPr userDrawn="1"/>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Rectangle 11">
            <a:extLst>
              <a:ext uri="{FF2B5EF4-FFF2-40B4-BE49-F238E27FC236}">
                <a16:creationId xmlns:a16="http://schemas.microsoft.com/office/drawing/2014/main" id="{066661E8-8677-3293-5AAC-326D368AABAB}"/>
              </a:ext>
            </a:extLst>
          </p:cNvPr>
          <p:cNvSpPr/>
          <p:nvPr userDrawn="1"/>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9" name="Straight Connector 13">
            <a:extLst>
              <a:ext uri="{FF2B5EF4-FFF2-40B4-BE49-F238E27FC236}">
                <a16:creationId xmlns:a16="http://schemas.microsoft.com/office/drawing/2014/main" id="{DC9115AD-2831-67A5-AD90-EEEFA56EA9EF}"/>
              </a:ext>
            </a:extLst>
          </p:cNvPr>
          <p:cNvCxnSpPr>
            <a:cxnSpLocks/>
          </p:cNvCxnSpPr>
          <p:nvPr userDrawn="1"/>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10" name="图片 9">
            <a:extLst>
              <a:ext uri="{FF2B5EF4-FFF2-40B4-BE49-F238E27FC236}">
                <a16:creationId xmlns:a16="http://schemas.microsoft.com/office/drawing/2014/main" id="{81114C14-9BAA-470F-E3EF-5D0EA90EE792}"/>
              </a:ext>
            </a:extLst>
          </p:cNvPr>
          <p:cNvPicPr>
            <a:picLocks noChangeAspect="1"/>
          </p:cNvPicPr>
          <p:nvPr userDrawn="1"/>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11" name="图片 10">
            <a:extLst>
              <a:ext uri="{FF2B5EF4-FFF2-40B4-BE49-F238E27FC236}">
                <a16:creationId xmlns:a16="http://schemas.microsoft.com/office/drawing/2014/main" id="{0C8A08A5-2F8F-C0CD-6BE3-8EF426240607}"/>
              </a:ext>
            </a:extLst>
          </p:cNvPr>
          <p:cNvPicPr>
            <a:picLocks noChangeAspect="1"/>
          </p:cNvPicPr>
          <p:nvPr userDrawn="1"/>
        </p:nvPicPr>
        <p:blipFill>
          <a:blip r:embed="rId4">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3903594161"/>
      </p:ext>
    </p:extLst>
  </p:cSld>
  <p:clrMapOvr>
    <a:overrideClrMapping bg1="lt1" tx1="dk1" bg2="lt2" tx2="dk2" accent1="accent1" accent2="accent2" accent3="accent3" accent4="accent4" accent5="accent5" accent6="accent6" hlink="hlink" folHlink="folHlink"/>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标题幻灯片">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01C2BD55-C666-8B43-19FA-C2F61102392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Title 1">
            <a:extLst>
              <a:ext uri="{FF2B5EF4-FFF2-40B4-BE49-F238E27FC236}">
                <a16:creationId xmlns:a16="http://schemas.microsoft.com/office/drawing/2014/main" id="{53FD368F-863D-4527-8F6D-CEC87B7E23EE}"/>
              </a:ext>
            </a:extLst>
          </p:cNvPr>
          <p:cNvSpPr>
            <a:spLocks noGrp="1"/>
          </p:cNvSpPr>
          <p:nvPr>
            <p:ph type="ctrTitle" hasCustomPrompt="1"/>
          </p:nvPr>
        </p:nvSpPr>
        <p:spPr>
          <a:xfrm>
            <a:off x="1029470" y="1862477"/>
            <a:ext cx="5200650" cy="2605695"/>
          </a:xfr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sp>
        <p:nvSpPr>
          <p:cNvPr id="4" name="Rectangle 3">
            <a:extLst>
              <a:ext uri="{FF2B5EF4-FFF2-40B4-BE49-F238E27FC236}">
                <a16:creationId xmlns:a16="http://schemas.microsoft.com/office/drawing/2014/main" id="{12F37E50-CF33-4241-AF80-F4953C679288}"/>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Rectangle 11">
            <a:extLst>
              <a:ext uri="{FF2B5EF4-FFF2-40B4-BE49-F238E27FC236}">
                <a16:creationId xmlns:a16="http://schemas.microsoft.com/office/drawing/2014/main" id="{0F60084F-F637-4FA4-BE35-D702CF6DAA6A}"/>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4" name="Straight Connector 13">
            <a:extLst>
              <a:ext uri="{FF2B5EF4-FFF2-40B4-BE49-F238E27FC236}">
                <a16:creationId xmlns:a16="http://schemas.microsoft.com/office/drawing/2014/main" id="{DC3C8D67-DBD4-4831-B956-FBC1F2BA8C47}"/>
              </a:ext>
            </a:extLst>
          </p:cNvPr>
          <p:cNvCxnSpPr>
            <a:cxnSpLocks/>
          </p:cNvCxnSpPr>
          <p:nvPr/>
        </p:nvCxnSpPr>
        <p:spPr>
          <a:xfrm flipV="1">
            <a:off x="957262" y="1862477"/>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53419205"/>
      </p:ext>
    </p:extLst>
  </p:cSld>
  <p:clrMapOvr>
    <a:overrideClrMapping bg1="lt1" tx1="dk1" bg2="lt2" tx2="dk2" accent1="accent1" accent2="accent2" accent3="accent3" accent4="accent4" accent5="accent5" accent6="accent6" hlink="hlink" folHlink="folHlink"/>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节标题">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AD9F9ABC-0F7B-6DEB-6195-893CD20C74E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Text Placeholder 4">
            <a:extLst>
              <a:ext uri="{FF2B5EF4-FFF2-40B4-BE49-F238E27FC236}">
                <a16:creationId xmlns:a16="http://schemas.microsoft.com/office/drawing/2014/main" id="{7AF4A77F-477A-42CF-AB01-C5164F0848BA}"/>
              </a:ext>
            </a:extLst>
          </p:cNvPr>
          <p:cNvSpPr>
            <a:spLocks noGrp="1"/>
          </p:cNvSpPr>
          <p:nvPr>
            <p:ph type="body" sz="quarter" idx="10"/>
          </p:nvPr>
        </p:nvSpPr>
        <p:spPr>
          <a:xfrm>
            <a:off x="3447433" y="3111089"/>
            <a:ext cx="4607238" cy="794990"/>
          </a:xfrm>
        </p:spPr>
        <p:txBody>
          <a:bodyPr wrap="none">
            <a:noAutofit/>
          </a:bodyPr>
          <a:lstStyle>
            <a:lvl1pPr marL="0" indent="0" algn="ctr">
              <a:buNone/>
              <a:defRPr sz="4400" b="1" i="0">
                <a:solidFill>
                  <a:schemeClr val="tx1"/>
                </a:solidFill>
                <a:latin typeface="+mj-lt"/>
              </a:defRPr>
            </a:lvl1pPr>
            <a:lvl2pPr marL="457166" indent="0">
              <a:buNone/>
              <a:defRPr b="1">
                <a:solidFill>
                  <a:schemeClr val="bg1"/>
                </a:solidFill>
              </a:defRPr>
            </a:lvl2pPr>
            <a:lvl3pPr marL="914330" indent="0">
              <a:buNone/>
              <a:defRPr b="1">
                <a:solidFill>
                  <a:schemeClr val="bg1"/>
                </a:solidFill>
              </a:defRPr>
            </a:lvl3pPr>
            <a:lvl4pPr marL="1371496" indent="0">
              <a:buNone/>
              <a:defRPr b="1">
                <a:solidFill>
                  <a:schemeClr val="bg1"/>
                </a:solidFill>
              </a:defRPr>
            </a:lvl4pPr>
            <a:lvl5pPr marL="1828663" indent="0">
              <a:buNone/>
              <a:defRPr b="1">
                <a:solidFill>
                  <a:schemeClr val="bg1"/>
                </a:solidFill>
              </a:defRPr>
            </a:lvl5pPr>
          </a:lstStyle>
          <a:p>
            <a:pPr lvl="0"/>
            <a:r>
              <a:rPr lang="zh-CN" altLang="en-US"/>
              <a:t>单击此处编辑母版文本样式</a:t>
            </a:r>
          </a:p>
        </p:txBody>
      </p:sp>
    </p:spTree>
    <p:extLst>
      <p:ext uri="{BB962C8B-B14F-4D97-AF65-F5344CB8AC3E}">
        <p14:creationId xmlns:p14="http://schemas.microsoft.com/office/powerpoint/2010/main" val="914807575"/>
      </p:ext>
    </p:extLst>
  </p:cSld>
  <p:clrMapOvr>
    <a:overrideClrMapping bg1="lt1" tx1="dk1" bg2="lt2" tx2="dk2" accent1="accent1" accent2="accent2" accent3="accent3" accent4="accent4" accent5="accent5" accent6="accent6" hlink="hlink" folHlink="folHlink"/>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5B5B30-EAE6-475D-9E77-B9C4E87F9C88}"/>
              </a:ext>
            </a:extLst>
          </p:cNvPr>
          <p:cNvSpPr>
            <a:spLocks noGrp="1"/>
          </p:cNvSpPr>
          <p:nvPr>
            <p:ph type="title" hasCustomPrompt="1"/>
          </p:nvPr>
        </p:nvSpPr>
        <p:spPr>
          <a:xfrm>
            <a:off x="1055988" y="-399021"/>
            <a:ext cx="10858500" cy="1028700"/>
          </a:xfrm>
        </p:spPr>
        <p:txBody>
          <a:bodyPr/>
          <a:lstStyle>
            <a:lvl1pPr>
              <a:defRPr>
                <a:solidFill>
                  <a:schemeClr val="tx1"/>
                </a:solidFill>
              </a:defRPr>
            </a:lvl1pPr>
          </a:lstStyle>
          <a:p>
            <a:r>
              <a:rPr lang="en-US" altLang="zh-CN" dirty="0"/>
              <a:t>Click to edit Master title style</a:t>
            </a:r>
            <a:endParaRPr lang="zh-CN" altLang="en-US" dirty="0"/>
          </a:p>
        </p:txBody>
      </p:sp>
    </p:spTree>
    <p:extLst>
      <p:ext uri="{BB962C8B-B14F-4D97-AF65-F5344CB8AC3E}">
        <p14:creationId xmlns:p14="http://schemas.microsoft.com/office/powerpoint/2010/main" val="2689448876"/>
      </p:ext>
    </p:extLst>
  </p:cSld>
  <p:clrMapOvr>
    <a:overrideClrMapping bg1="lt1" tx1="dk1" bg2="lt2" tx2="dk2" accent1="accent1" accent2="accent2" accent3="accent3" accent4="accent4" accent5="accent5" accent6="accent6" hlink="hlink" folHlink="folHlink"/>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空白">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52D1C7A1-2043-1669-5F8A-7B227BD7D30A}"/>
              </a:ext>
            </a:extLst>
          </p:cNvPr>
          <p:cNvSpPr>
            <a:spLocks noGrp="1"/>
          </p:cNvSpPr>
          <p:nvPr>
            <p:ph type="title" hasCustomPrompt="1"/>
          </p:nvPr>
        </p:nvSpPr>
        <p:spPr>
          <a:xfrm>
            <a:off x="825329" y="-427905"/>
            <a:ext cx="10858500" cy="1028700"/>
          </a:xfrm>
        </p:spPr>
        <p:txBody>
          <a:bodyPr/>
          <a:lstStyle>
            <a:lvl1pPr>
              <a:defRPr>
                <a:solidFill>
                  <a:schemeClr val="tx1"/>
                </a:solidFill>
              </a:defRPr>
            </a:lvl1pPr>
          </a:lstStyle>
          <a:p>
            <a:r>
              <a:rPr lang="en-US" altLang="zh-CN" dirty="0"/>
              <a:t>Click to edit Master title style</a:t>
            </a:r>
            <a:endParaRPr lang="zh-CN" altLang="en-US" dirty="0"/>
          </a:p>
        </p:txBody>
      </p:sp>
    </p:spTree>
    <p:extLst>
      <p:ext uri="{BB962C8B-B14F-4D97-AF65-F5344CB8AC3E}">
        <p14:creationId xmlns:p14="http://schemas.microsoft.com/office/powerpoint/2010/main" val="2964631262"/>
      </p:ext>
    </p:extLst>
  </p:cSld>
  <p:clrMapOvr>
    <a:overrideClrMapping bg1="lt1" tx1="dk1" bg2="lt2" tx2="dk2" accent1="accent1" accent2="accent2" accent3="accent3" accent4="accent4" accent5="accent5" accent6="accent6" hlink="hlink" folHlink="folHlink"/>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p:cSld name="末尾幻灯片">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E8C971A2-91C0-0F12-DA53-E6784B322847}"/>
              </a:ext>
            </a:extLst>
          </p:cNvPr>
          <p:cNvPicPr>
            <a:picLocks noChangeAspect="1"/>
          </p:cNvPicPr>
          <p:nvPr/>
        </p:nvPicPr>
        <p:blipFill>
          <a:blip r:embed="rId2"/>
          <a:stretch>
            <a:fillRect/>
          </a:stretch>
        </p:blipFill>
        <p:spPr>
          <a:xfrm>
            <a:off x="7620000" y="13546"/>
            <a:ext cx="4576460" cy="6844454"/>
          </a:xfrm>
          <a:prstGeom prst="rect">
            <a:avLst/>
          </a:prstGeom>
        </p:spPr>
      </p:pic>
      <p:sp>
        <p:nvSpPr>
          <p:cNvPr id="14" name="Rectangle 13">
            <a:extLst>
              <a:ext uri="{FF2B5EF4-FFF2-40B4-BE49-F238E27FC236}">
                <a16:creationId xmlns:a16="http://schemas.microsoft.com/office/drawing/2014/main" id="{4129C334-CACA-4BE1-A84C-41F6820FF127}"/>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Rectangle 14">
            <a:extLst>
              <a:ext uri="{FF2B5EF4-FFF2-40B4-BE49-F238E27FC236}">
                <a16:creationId xmlns:a16="http://schemas.microsoft.com/office/drawing/2014/main" id="{6907BCD2-9008-43D6-B003-96C575232D66}"/>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Freeform: Shape 10">
            <a:extLst>
              <a:ext uri="{FF2B5EF4-FFF2-40B4-BE49-F238E27FC236}">
                <a16:creationId xmlns:a16="http://schemas.microsoft.com/office/drawing/2014/main" id="{0A271160-581E-4BCE-BACF-7271659F1D01}"/>
              </a:ext>
            </a:extLst>
          </p:cNvPr>
          <p:cNvSpPr/>
          <p:nvPr/>
        </p:nvSpPr>
        <p:spPr>
          <a:xfrm>
            <a:off x="12191319" y="0"/>
            <a:ext cx="684" cy="13546"/>
          </a:xfrm>
          <a:custGeom>
            <a:avLst/>
            <a:gdLst>
              <a:gd name="connsiteX0" fmla="*/ 0 w 684"/>
              <a:gd name="connsiteY0" fmla="*/ 0 h 13546"/>
              <a:gd name="connsiteX1" fmla="*/ 684 w 684"/>
              <a:gd name="connsiteY1" fmla="*/ 0 h 13546"/>
              <a:gd name="connsiteX2" fmla="*/ 684 w 684"/>
              <a:gd name="connsiteY2" fmla="*/ 13546 h 13546"/>
              <a:gd name="connsiteX3" fmla="*/ 0 w 684"/>
              <a:gd name="connsiteY3" fmla="*/ 0 h 13546"/>
            </a:gdLst>
            <a:ahLst/>
            <a:cxnLst>
              <a:cxn ang="0">
                <a:pos x="connsiteX0" y="connsiteY0"/>
              </a:cxn>
              <a:cxn ang="0">
                <a:pos x="connsiteX1" y="connsiteY1"/>
              </a:cxn>
              <a:cxn ang="0">
                <a:pos x="connsiteX2" y="connsiteY2"/>
              </a:cxn>
              <a:cxn ang="0">
                <a:pos x="connsiteX3" y="connsiteY3"/>
              </a:cxn>
            </a:cxnLst>
            <a:rect l="l" t="t" r="r" b="b"/>
            <a:pathLst>
              <a:path w="684" h="13546">
                <a:moveTo>
                  <a:pt x="0" y="0"/>
                </a:moveTo>
                <a:lnTo>
                  <a:pt x="684" y="0"/>
                </a:lnTo>
                <a:lnTo>
                  <a:pt x="684" y="13546"/>
                </a:lnTo>
                <a:lnTo>
                  <a:pt x="0" y="0"/>
                </a:lnTo>
                <a:close/>
              </a:path>
            </a:pathLst>
          </a:custGeom>
          <a:solidFill>
            <a:schemeClr val="bg1"/>
          </a:solidFill>
          <a:ln w="14015" cap="flat">
            <a:noFill/>
            <a:prstDash val="solid"/>
            <a:miter/>
          </a:ln>
        </p:spPr>
        <p:txBody>
          <a:bodyPr wrap="square" rtlCol="0" anchor="ctr">
            <a:noAutofit/>
          </a:bodyPr>
          <a:lstStyle/>
          <a:p>
            <a:endParaRPr lang="zh-CN" altLang="en-US" sz="1800">
              <a:solidFill>
                <a:schemeClr val="tx1"/>
              </a:solidFill>
            </a:endParaRPr>
          </a:p>
        </p:txBody>
      </p:sp>
      <p:sp>
        <p:nvSpPr>
          <p:cNvPr id="27" name="Text Placeholder 26">
            <a:extLst>
              <a:ext uri="{FF2B5EF4-FFF2-40B4-BE49-F238E27FC236}">
                <a16:creationId xmlns:a16="http://schemas.microsoft.com/office/drawing/2014/main" id="{FEA7D86A-A334-4E0C-B01B-43F345A176DE}"/>
              </a:ext>
            </a:extLst>
          </p:cNvPr>
          <p:cNvSpPr>
            <a:spLocks noGrp="1"/>
          </p:cNvSpPr>
          <p:nvPr>
            <p:ph type="body" sz="quarter" idx="12" hasCustomPrompt="1"/>
          </p:nvPr>
        </p:nvSpPr>
        <p:spPr>
          <a:xfrm>
            <a:off x="8314441" y="6082576"/>
            <a:ext cx="3204458" cy="230832"/>
          </a:xfrm>
        </p:spPr>
        <p:txBody>
          <a:bodyPr vert="horz" wrap="none" lIns="91440" tIns="45720" rIns="91440" bIns="45720" rtlCol="0" anchor="ctr">
            <a:noAutofit/>
          </a:bodyPr>
          <a:lstStyle>
            <a:lvl1pPr>
              <a:defRPr lang="en-US" altLang="zh-CN" sz="1600" b="1" dirty="0">
                <a:ln>
                  <a:noFill/>
                </a:ln>
                <a:solidFill>
                  <a:schemeClr val="accent1"/>
                </a:solidFill>
                <a:latin typeface="+mj-lt"/>
                <a:ea typeface="+mj-ea"/>
                <a:cs typeface="+mj-cs"/>
              </a:defRPr>
            </a:lvl1pPr>
          </a:lstStyle>
          <a:p>
            <a:pPr marL="228573" marR="0" lvl="0" indent="-228573" algn="r" defTabSz="914332" rtl="0" eaLnBrk="1" fontAlgn="auto" latinLnBrk="0" hangingPunct="1">
              <a:lnSpc>
                <a:spcPct val="90000"/>
              </a:lnSpc>
              <a:spcBef>
                <a:spcPct val="0"/>
              </a:spcBef>
              <a:spcAft>
                <a:spcPts val="0"/>
              </a:spcAft>
              <a:buClrTx/>
              <a:buSzTx/>
              <a:buFont typeface="Arial" panose="020B0604020202020204" pitchFamily="34" charset="0"/>
              <a:buNone/>
              <a:tabLst/>
              <a:defRPr/>
            </a:pPr>
            <a:r>
              <a:rPr lang="en-US" altLang="zh-CN" dirty="0"/>
              <a:t>Speaker name and title</a:t>
            </a:r>
          </a:p>
        </p:txBody>
      </p:sp>
      <p:sp>
        <p:nvSpPr>
          <p:cNvPr id="3" name="Text Placeholder 2">
            <a:extLst>
              <a:ext uri="{FF2B5EF4-FFF2-40B4-BE49-F238E27FC236}">
                <a16:creationId xmlns:a16="http://schemas.microsoft.com/office/drawing/2014/main" id="{FC1A48BB-A1A1-4744-B0D3-FD4F42C33B9B}"/>
              </a:ext>
            </a:extLst>
          </p:cNvPr>
          <p:cNvSpPr>
            <a:spLocks noGrp="1"/>
          </p:cNvSpPr>
          <p:nvPr>
            <p:ph type="body" sz="quarter" idx="13" hasCustomPrompt="1"/>
          </p:nvPr>
        </p:nvSpPr>
        <p:spPr>
          <a:xfrm>
            <a:off x="714723" y="2737247"/>
            <a:ext cx="5842001" cy="1383506"/>
          </a:xfrm>
        </p:spPr>
        <p:txBody>
          <a:bodyPr vert="horz" lIns="91440" tIns="45720" rIns="91440" bIns="45720" rtlCol="0" anchor="b">
            <a:noAutofit/>
          </a:bodyPr>
          <a:lstStyle>
            <a:lvl1pPr algn="l">
              <a:defRPr lang="en-US" altLang="zh-CN" sz="8000" b="1" i="0" dirty="0">
                <a:solidFill>
                  <a:srgbClr val="FFFFFF"/>
                </a:solidFill>
                <a:latin typeface="+mj-lt"/>
                <a:ea typeface="+mj-ea"/>
                <a:cs typeface="+mj-cs"/>
              </a:defRPr>
            </a:lvl1pPr>
          </a:lstStyle>
          <a:p>
            <a:pPr lvl="0">
              <a:spcBef>
                <a:spcPct val="0"/>
              </a:spcBef>
              <a:buNone/>
            </a:pPr>
            <a:r>
              <a:rPr lang="en-US" altLang="zh-CN" dirty="0"/>
              <a:t>Thank you</a:t>
            </a:r>
          </a:p>
        </p:txBody>
      </p:sp>
      <p:pic>
        <p:nvPicPr>
          <p:cNvPr id="2" name="图片 1">
            <a:extLst>
              <a:ext uri="{FF2B5EF4-FFF2-40B4-BE49-F238E27FC236}">
                <a16:creationId xmlns:a16="http://schemas.microsoft.com/office/drawing/2014/main" id="{0808FB89-916C-2617-605B-3A71B8F3D40B}"/>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pic>
        <p:nvPicPr>
          <p:cNvPr id="4" name="图片 3">
            <a:extLst>
              <a:ext uri="{FF2B5EF4-FFF2-40B4-BE49-F238E27FC236}">
                <a16:creationId xmlns:a16="http://schemas.microsoft.com/office/drawing/2014/main" id="{5B3BDEC6-F771-C16C-C365-03B2262F7C40}"/>
              </a:ext>
            </a:extLst>
          </p:cNvPr>
          <p:cNvPicPr>
            <a:picLocks noChangeAspect="1"/>
          </p:cNvPicPr>
          <p:nvPr userDrawn="1"/>
        </p:nvPicPr>
        <p:blipFill>
          <a:blip r:embed="rId4">
            <a:duotone>
              <a:schemeClr val="bg2">
                <a:shade val="45000"/>
                <a:satMod val="135000"/>
              </a:schemeClr>
              <a:prstClr val="white"/>
            </a:duotone>
            <a:extLst>
              <a:ext uri="{BEBA8EAE-BF5A-486C-A8C5-ECC9F3942E4B}">
                <a14:imgProps xmlns:a14="http://schemas.microsoft.com/office/drawing/2010/main">
                  <a14:imgLayer r:embed="rId5">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8213598" y="2801933"/>
            <a:ext cx="3516518" cy="1579597"/>
          </a:xfrm>
          <a:prstGeom prst="rect">
            <a:avLst/>
          </a:prstGeom>
        </p:spPr>
      </p:pic>
      <p:pic>
        <p:nvPicPr>
          <p:cNvPr id="5" name="图片 4">
            <a:extLst>
              <a:ext uri="{FF2B5EF4-FFF2-40B4-BE49-F238E27FC236}">
                <a16:creationId xmlns:a16="http://schemas.microsoft.com/office/drawing/2014/main" id="{18B5EE46-E2B2-EBF2-F5AC-5322A677557F}"/>
              </a:ext>
            </a:extLst>
          </p:cNvPr>
          <p:cNvPicPr>
            <a:picLocks noChangeAspect="1"/>
          </p:cNvPicPr>
          <p:nvPr userDrawn="1"/>
        </p:nvPicPr>
        <p:blipFill>
          <a:blip r:embed="rId6">
            <a:duotone>
              <a:prstClr val="black"/>
              <a:schemeClr val="tx2">
                <a:tint val="45000"/>
                <a:satMod val="400000"/>
              </a:schemeClr>
            </a:duotone>
            <a:extLst>
              <a:ext uri="{BEBA8EAE-BF5A-486C-A8C5-ECC9F3942E4B}">
                <a14:imgProps xmlns:a14="http://schemas.microsoft.com/office/drawing/2010/main">
                  <a14:imgLayer r:embed="rId7">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7" name="图片 6">
            <a:extLst>
              <a:ext uri="{FF2B5EF4-FFF2-40B4-BE49-F238E27FC236}">
                <a16:creationId xmlns:a16="http://schemas.microsoft.com/office/drawing/2014/main" id="{B23BCB1D-48BB-8E7F-1E38-42BFFA9E944D}"/>
              </a:ext>
            </a:extLst>
          </p:cNvPr>
          <p:cNvPicPr>
            <a:picLocks noChangeAspect="1"/>
          </p:cNvPicPr>
          <p:nvPr userDrawn="1"/>
        </p:nvPicPr>
        <p:blipFill>
          <a:blip r:embed="rId8">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1227727688"/>
      </p:ext>
    </p:extLst>
  </p:cSld>
  <p:clrMapOvr>
    <a:overrideClrMapping bg1="lt1" tx1="dk1" bg2="lt2" tx2="dk2" accent1="accent1" accent2="accent2" accent3="accent3" accent4="accent4" accent5="accent5" accent6="accent6" hlink="hlink" folHlink="folHlink"/>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p:cSld name="2_标题幻灯片">
    <p:spTree>
      <p:nvGrpSpPr>
        <p:cNvPr id="1" name=""/>
        <p:cNvGrpSpPr/>
        <p:nvPr/>
      </p:nvGrpSpPr>
      <p:grpSpPr>
        <a:xfrm>
          <a:off x="0" y="0"/>
          <a:ext cx="0" cy="0"/>
          <a:chOff x="0" y="0"/>
          <a:chExt cx="0" cy="0"/>
        </a:xfrm>
      </p:grpSpPr>
      <p:grpSp>
        <p:nvGrpSpPr>
          <p:cNvPr id="40" name="组合 39"/>
          <p:cNvGrpSpPr/>
          <p:nvPr/>
        </p:nvGrpSpPr>
        <p:grpSpPr>
          <a:xfrm>
            <a:off x="0" y="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7" name="图片 26"/>
            <p:cNvPicPr>
              <a:picLocks noChangeAspect="1"/>
            </p:cNvPicPr>
            <p:nvPr/>
          </p:nvPicPr>
          <p:blipFill>
            <a:blip r:embed="rId3">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9" name="副标题 8"/>
          <p:cNvSpPr>
            <a:spLocks noGrp="1"/>
          </p:cNvSpPr>
          <p:nvPr>
            <p:ph type="subTitle" sz="quarter" idx="1" hasCustomPrompt="1"/>
          </p:nvPr>
        </p:nvSpPr>
        <p:spPr>
          <a:xfrm>
            <a:off x="660400" y="4043221"/>
            <a:ext cx="5645151" cy="588651"/>
          </a:xfrm>
          <a:prstGeom prst="roundRect">
            <a:avLst>
              <a:gd name="adj" fmla="val 0"/>
            </a:avLst>
          </a:prstGeom>
          <a:noFill/>
          <a:ln>
            <a:noFill/>
          </a:ln>
        </p:spPr>
        <p:txBody>
          <a:bodyPr vert="horz" wrap="square" lIns="91440" tIns="45720" rIns="91440" bIns="45720" rtlCol="0" anchor="ctr" anchorCtr="0">
            <a:normAutofit/>
          </a:bodyPr>
          <a:lstStyle>
            <a:lvl1pPr marL="0" indent="0" algn="l">
              <a:lnSpc>
                <a:spcPct val="100000"/>
              </a:lnSpc>
              <a:buNone/>
              <a:defRPr lang="en-US" sz="1800" dirty="0">
                <a:solidFill>
                  <a:schemeClr val="tx1"/>
                </a:solidFill>
                <a:latin typeface="+mj-lt"/>
              </a:defRPr>
            </a:lvl1pPr>
          </a:lstStyle>
          <a:p>
            <a:pPr lvl="0"/>
            <a:r>
              <a:rPr lang="en-US"/>
              <a:t>Click to add subtitle</a:t>
            </a:r>
          </a:p>
        </p:txBody>
      </p:sp>
      <p:sp>
        <p:nvSpPr>
          <p:cNvPr id="4" name="文本占位符 3"/>
          <p:cNvSpPr>
            <a:spLocks noGrp="1"/>
          </p:cNvSpPr>
          <p:nvPr>
            <p:ph type="body" sz="quarter" idx="13" hasCustomPrompt="1"/>
          </p:nvPr>
        </p:nvSpPr>
        <p:spPr>
          <a:xfrm>
            <a:off x="660400" y="5497551"/>
            <a:ext cx="5645151" cy="276999"/>
          </a:xfrm>
          <a:prstGeom prst="rect">
            <a:avLst/>
          </a:prstGeom>
        </p:spPr>
        <p:txBody>
          <a:bodyPr wrap="square" lIns="90000">
            <a:normAutofit/>
          </a:bodyPr>
          <a:lstStyle>
            <a:lvl1pPr marL="0" indent="0" algn="l">
              <a:lnSpc>
                <a:spcPct val="100000"/>
              </a:lnSpc>
              <a:buNone/>
              <a:defRPr sz="1200"/>
            </a:lvl1pPr>
          </a:lstStyle>
          <a:p>
            <a:pPr lvl="0"/>
            <a:r>
              <a:rPr lang="en-US"/>
              <a:t>Presenter name</a:t>
            </a:r>
          </a:p>
        </p:txBody>
      </p:sp>
      <p:sp>
        <p:nvSpPr>
          <p:cNvPr id="7" name="文本占位符 6"/>
          <p:cNvSpPr>
            <a:spLocks noGrp="1"/>
          </p:cNvSpPr>
          <p:nvPr>
            <p:ph type="body" sz="quarter" idx="14" hasCustomPrompt="1"/>
          </p:nvPr>
        </p:nvSpPr>
        <p:spPr>
          <a:xfrm>
            <a:off x="660400" y="5857101"/>
            <a:ext cx="5645151" cy="276999"/>
          </a:xfrm>
          <a:prstGeom prst="rect">
            <a:avLst/>
          </a:prstGeom>
        </p:spPr>
        <p:txBody>
          <a:bodyPr wrap="none">
            <a:normAutofit/>
          </a:bodyPr>
          <a:lstStyle>
            <a:lvl1pPr marL="0" indent="0" algn="l">
              <a:lnSpc>
                <a:spcPct val="100000"/>
              </a:lnSpc>
              <a:buNone/>
              <a:defRPr sz="1200"/>
            </a:lvl1pPr>
          </a:lstStyle>
          <a:p>
            <a:pPr lvl="0"/>
            <a:r>
              <a:rPr lang="en-US"/>
              <a:t>www.officeplus.cn</a:t>
            </a:r>
          </a:p>
        </p:txBody>
      </p:sp>
      <p:sp>
        <p:nvSpPr>
          <p:cNvPr id="3" name="标题 4">
            <a:extLst>
              <a:ext uri="{FF2B5EF4-FFF2-40B4-BE49-F238E27FC236}">
                <a16:creationId xmlns:a16="http://schemas.microsoft.com/office/drawing/2014/main" id="{B5D391BF-A023-49D2-B62C-E02AC8635D69}"/>
              </a:ext>
            </a:extLst>
          </p:cNvPr>
          <p:cNvSpPr>
            <a:spLocks noGrp="1"/>
          </p:cNvSpPr>
          <p:nvPr>
            <p:ph type="ctrTitle" hasCustomPrompt="1"/>
          </p:nvPr>
        </p:nvSpPr>
        <p:spPr>
          <a:xfrm>
            <a:off x="3879504" y="1210338"/>
            <a:ext cx="6749372" cy="2587173"/>
          </a:xfrm>
          <a:prstGeom prst="rect">
            <a:avLst/>
          </a:prstGeom>
        </p:spPr>
        <p:txBody>
          <a:bodyPr wrap="square" anchor="b">
            <a:normAutofit/>
          </a:bodyPr>
          <a:lstStyle>
            <a:lvl1pPr algn="ctr">
              <a:lnSpc>
                <a:spcPct val="100000"/>
              </a:lnSpc>
              <a:defRPr sz="5400">
                <a:ln w="19050">
                  <a:noFill/>
                </a:ln>
                <a:solidFill>
                  <a:schemeClr val="tx1"/>
                </a:solidFill>
              </a:defRPr>
            </a:lvl1pPr>
          </a:lstStyle>
          <a:p>
            <a:pPr lvl="0"/>
            <a:r>
              <a:rPr lang="en-US" dirty="0"/>
              <a:t>Intelligent Planning     &amp; </a:t>
            </a:r>
            <a:br>
              <a:rPr lang="en-US" dirty="0"/>
            </a:br>
            <a:r>
              <a:rPr lang="en-US" dirty="0"/>
              <a:t>Control Tower</a:t>
            </a:r>
          </a:p>
        </p:txBody>
      </p:sp>
      <p:pic>
        <p:nvPicPr>
          <p:cNvPr id="5" name="图片 4">
            <a:extLst>
              <a:ext uri="{FF2B5EF4-FFF2-40B4-BE49-F238E27FC236}">
                <a16:creationId xmlns:a16="http://schemas.microsoft.com/office/drawing/2014/main" id="{57ED4568-4D8D-7CE6-DBD3-61776C004218}"/>
              </a:ext>
            </a:extLst>
          </p:cNvPr>
          <p:cNvPicPr>
            <a:picLocks noChangeAspect="1"/>
          </p:cNvPicPr>
          <p:nvPr/>
        </p:nvPicPr>
        <p:blipFill>
          <a:blip r:embed="rId5">
            <a:duotone>
              <a:schemeClr val="bg2">
                <a:shade val="45000"/>
                <a:satMod val="135000"/>
              </a:schemeClr>
              <a:prstClr val="white"/>
            </a:duotone>
            <a:extLst>
              <a:ext uri="{BEBA8EAE-BF5A-486C-A8C5-ECC9F3942E4B}">
                <a14:imgProps xmlns:a14="http://schemas.microsoft.com/office/drawing/2010/main">
                  <a14:imgLayer r:embed="rId6">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145185" y="2818989"/>
            <a:ext cx="2178398" cy="978522"/>
          </a:xfrm>
          <a:prstGeom prst="rect">
            <a:avLst/>
          </a:prstGeom>
        </p:spPr>
      </p:pic>
    </p:spTree>
    <p:extLst>
      <p:ext uri="{BB962C8B-B14F-4D97-AF65-F5344CB8AC3E}">
        <p14:creationId xmlns:p14="http://schemas.microsoft.com/office/powerpoint/2010/main" val="699716977"/>
      </p:ext>
    </p:extLst>
  </p:cSld>
  <p:clrMapOvr>
    <a:overrideClrMapping bg1="lt1" tx1="dk1" bg2="lt2" tx2="dk2" accent1="accent1" accent2="accent2" accent3="accent3" accent4="accent4" accent5="accent5" accent6="accent6" hlink="hlink" folHlink="folHlink"/>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p:cSld name="Agenda">
    <p:spTree>
      <p:nvGrpSpPr>
        <p:cNvPr id="1" name=""/>
        <p:cNvGrpSpPr/>
        <p:nvPr/>
      </p:nvGrpSpPr>
      <p:grpSpPr>
        <a:xfrm>
          <a:off x="0" y="0"/>
          <a:ext cx="0" cy="0"/>
          <a:chOff x="0" y="0"/>
          <a:chExt cx="0" cy="0"/>
        </a:xfrm>
      </p:grpSpPr>
      <p:pic>
        <p:nvPicPr>
          <p:cNvPr id="11" name="图片 10">
            <a:extLst>
              <a:ext uri="{FF2B5EF4-FFF2-40B4-BE49-F238E27FC236}">
                <a16:creationId xmlns:a16="http://schemas.microsoft.com/office/drawing/2014/main" id="{0202FDAE-0095-6CC0-EC3F-208D7596653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2" name="标题 1"/>
          <p:cNvSpPr>
            <a:spLocks noGrp="1"/>
          </p:cNvSpPr>
          <p:nvPr>
            <p:ph type="title" hasCustomPrompt="1"/>
          </p:nvPr>
        </p:nvSpPr>
        <p:spPr>
          <a:xfrm>
            <a:off x="660400" y="1500189"/>
            <a:ext cx="2519061" cy="864515"/>
          </a:xfrm>
          <a:prstGeom prst="rect">
            <a:avLst/>
          </a:prstGeom>
          <a:noFill/>
        </p:spPr>
        <p:txBody>
          <a:bodyPr anchor="t" anchorCtr="0">
            <a:normAutofit/>
          </a:bodyPr>
          <a:lstStyle>
            <a:lvl1pPr algn="r">
              <a:defRPr sz="2800">
                <a:solidFill>
                  <a:srgbClr val="FFFFFF"/>
                </a:solidFill>
              </a:defRPr>
            </a:lvl1pPr>
          </a:lstStyle>
          <a:p>
            <a:pPr lvl="0"/>
            <a:r>
              <a:rPr lang="en-US"/>
              <a:t>Agenda</a:t>
            </a:r>
          </a:p>
        </p:txBody>
      </p:sp>
      <p:sp>
        <p:nvSpPr>
          <p:cNvPr id="3" name="内容占位符 2"/>
          <p:cNvSpPr>
            <a:spLocks noGrp="1"/>
          </p:cNvSpPr>
          <p:nvPr>
            <p:ph sz="quarter" idx="1" hasCustomPrompt="1"/>
          </p:nvPr>
        </p:nvSpPr>
        <p:spPr>
          <a:xfrm>
            <a:off x="3839860" y="1500189"/>
            <a:ext cx="7679039" cy="4278311"/>
          </a:xfrm>
        </p:spPr>
        <p:txBody>
          <a:bodyPr numCol="1"/>
          <a:lstStyle>
            <a:lvl1pPr marL="342900" indent="-342900">
              <a:lnSpc>
                <a:spcPct val="100000"/>
              </a:lnSpc>
              <a:buFont typeface="+mj-lt"/>
              <a:buAutoNum type="arabicPeriod"/>
              <a:defRPr/>
            </a:lvl1pPr>
            <a:lvl2pPr marL="800100" indent="-342900">
              <a:lnSpc>
                <a:spcPct val="100000"/>
              </a:lnSpc>
              <a:buFont typeface="+mj-ea"/>
              <a:buAutoNum type="circleNumDbPlain"/>
              <a:defRPr/>
            </a:lvl2pPr>
            <a:lvl3pPr marL="1257300" indent="-342900">
              <a:lnSpc>
                <a:spcPct val="100000"/>
              </a:lnSpc>
              <a:buFont typeface="+mj-lt"/>
              <a:buAutoNum type="alphaLcParenR"/>
              <a:defRPr/>
            </a:lvl3pPr>
            <a:lvl4pPr>
              <a:lnSpc>
                <a:spcPct val="100000"/>
              </a:lnSpc>
              <a:defRPr/>
            </a:lvl4pPr>
            <a:lvl5pPr>
              <a:lnSpc>
                <a:spcPct val="100000"/>
              </a:lnSpc>
              <a:defRPr/>
            </a:lvl5pPr>
          </a:lstStyle>
          <a:p>
            <a:pPr lvl="0"/>
            <a:r>
              <a:rPr lang="en-US"/>
              <a:t>Click to add text</a:t>
            </a:r>
          </a:p>
          <a:p>
            <a:pPr lvl="1"/>
            <a:r>
              <a:rPr lang="en-US"/>
              <a:t>Second level</a:t>
            </a:r>
          </a:p>
          <a:p>
            <a:pPr lvl="2"/>
            <a:r>
              <a:rPr lang="en-US"/>
              <a:t>Third level</a:t>
            </a:r>
          </a:p>
          <a:p>
            <a:pPr lvl="3"/>
            <a:r>
              <a:rPr lang="en-US"/>
              <a:t>Fourth level</a:t>
            </a:r>
          </a:p>
          <a:p>
            <a:pPr lvl="4"/>
            <a:r>
              <a:rPr lang="en-US"/>
              <a:t>Fifth level</a:t>
            </a:r>
          </a:p>
        </p:txBody>
      </p:sp>
      <p:pic>
        <p:nvPicPr>
          <p:cNvPr id="7" name="图片 6">
            <a:extLst>
              <a:ext uri="{FF2B5EF4-FFF2-40B4-BE49-F238E27FC236}">
                <a16:creationId xmlns:a16="http://schemas.microsoft.com/office/drawing/2014/main" id="{956E91C9-E62C-62F0-BC27-65EF2B59939D}"/>
              </a:ext>
            </a:extLst>
          </p:cNvPr>
          <p:cNvPicPr>
            <a:picLocks noChangeAspect="1"/>
          </p:cNvPicPr>
          <p:nvPr/>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8" name="图片 7">
            <a:extLst>
              <a:ext uri="{FF2B5EF4-FFF2-40B4-BE49-F238E27FC236}">
                <a16:creationId xmlns:a16="http://schemas.microsoft.com/office/drawing/2014/main" id="{260BFE75-AB93-8081-4027-EDC31F67337A}"/>
              </a:ext>
            </a:extLst>
          </p:cNvPr>
          <p:cNvPicPr>
            <a:picLocks noChangeAspect="1"/>
          </p:cNvPicPr>
          <p:nvPr/>
        </p:nvPicPr>
        <p:blipFill>
          <a:blip r:embed="rId4">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92184" y="6108209"/>
            <a:ext cx="704451" cy="621204"/>
          </a:xfrm>
          <a:prstGeom prst="rect">
            <a:avLst/>
          </a:prstGeom>
        </p:spPr>
      </p:pic>
      <p:pic>
        <p:nvPicPr>
          <p:cNvPr id="4" name="图片 3">
            <a:extLst>
              <a:ext uri="{FF2B5EF4-FFF2-40B4-BE49-F238E27FC236}">
                <a16:creationId xmlns:a16="http://schemas.microsoft.com/office/drawing/2014/main" id="{4533F409-7AF2-7738-C45D-ADDC0C99224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pic>
        <p:nvPicPr>
          <p:cNvPr id="5" name="图片 4">
            <a:extLst>
              <a:ext uri="{FF2B5EF4-FFF2-40B4-BE49-F238E27FC236}">
                <a16:creationId xmlns:a16="http://schemas.microsoft.com/office/drawing/2014/main" id="{04915495-E497-C559-512B-5F59C7548598}"/>
              </a:ext>
            </a:extLst>
          </p:cNvPr>
          <p:cNvPicPr>
            <a:picLocks noChangeAspect="1"/>
          </p:cNvPicPr>
          <p:nvPr userDrawn="1"/>
        </p:nvPicPr>
        <p:blipFill>
          <a:blip r:embed="rId4">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6" name="图片 5">
            <a:extLst>
              <a:ext uri="{FF2B5EF4-FFF2-40B4-BE49-F238E27FC236}">
                <a16:creationId xmlns:a16="http://schemas.microsoft.com/office/drawing/2014/main" id="{824640ED-C55D-8D73-4EAB-DC295132A4F1}"/>
              </a:ext>
            </a:extLst>
          </p:cNvPr>
          <p:cNvPicPr>
            <a:picLocks noChangeAspect="1"/>
          </p:cNvPicPr>
          <p:nvPr userDrawn="1"/>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1108727222"/>
      </p:ext>
    </p:extLst>
  </p:cSld>
  <p:clrMapOvr>
    <a:overrideClrMapping bg1="lt1" tx1="dk1" bg2="lt2" tx2="dk2" accent1="accent1" accent2="accent2" accent3="accent3" accent4="accent4" accent5="accent5" accent6="accent6" hlink="hlink" folHlink="folHlink"/>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1_节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04B5FBE3-2983-7A7E-EDBF-7AD37AC20D3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标题 1"/>
          <p:cNvSpPr>
            <a:spLocks noGrp="1"/>
          </p:cNvSpPr>
          <p:nvPr>
            <p:ph type="title"/>
          </p:nvPr>
        </p:nvSpPr>
        <p:spPr>
          <a:xfrm>
            <a:off x="788155" y="2458832"/>
            <a:ext cx="10363200" cy="1362075"/>
          </a:xfrm>
        </p:spPr>
        <p:txBody>
          <a:bodyPr anchor="t">
            <a:normAutofit/>
          </a:bodyPr>
          <a:lstStyle>
            <a:lvl1pPr algn="ctr">
              <a:defRPr sz="4400" b="1" cap="all">
                <a:solidFill>
                  <a:schemeClr val="accent1"/>
                </a:solidFill>
              </a:defRPr>
            </a:lvl1pPr>
          </a:lstStyle>
          <a:p>
            <a:r>
              <a:rPr lang="zh-CN" altLang="en-US"/>
              <a:t>单击此处编辑母版标题样式</a:t>
            </a:r>
            <a:endParaRPr lang="zh-CN" altLang="en-US" dirty="0"/>
          </a:p>
        </p:txBody>
      </p:sp>
      <p:pic>
        <p:nvPicPr>
          <p:cNvPr id="3" name="图片 2">
            <a:extLst>
              <a:ext uri="{FF2B5EF4-FFF2-40B4-BE49-F238E27FC236}">
                <a16:creationId xmlns:a16="http://schemas.microsoft.com/office/drawing/2014/main" id="{0C225C48-C16B-E760-3562-D3A3B9176EB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pic>
        <p:nvPicPr>
          <p:cNvPr id="4" name="图片 3">
            <a:extLst>
              <a:ext uri="{FF2B5EF4-FFF2-40B4-BE49-F238E27FC236}">
                <a16:creationId xmlns:a16="http://schemas.microsoft.com/office/drawing/2014/main" id="{A8C2A5F4-62F8-0DE3-BF8E-7DB2909DE39B}"/>
              </a:ext>
            </a:extLst>
          </p:cNvPr>
          <p:cNvPicPr>
            <a:picLocks noChangeAspect="1"/>
          </p:cNvPicPr>
          <p:nvPr userDrawn="1"/>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5" name="图片 4">
            <a:extLst>
              <a:ext uri="{FF2B5EF4-FFF2-40B4-BE49-F238E27FC236}">
                <a16:creationId xmlns:a16="http://schemas.microsoft.com/office/drawing/2014/main" id="{958CF466-A791-1E6D-0D69-1A428A2442AE}"/>
              </a:ext>
            </a:extLst>
          </p:cNvPr>
          <p:cNvPicPr>
            <a:picLocks noChangeAspect="1"/>
          </p:cNvPicPr>
          <p:nvPr userDrawn="1"/>
        </p:nvPicPr>
        <p:blipFill>
          <a:blip r:embed="rId4">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743996102"/>
      </p:ext>
    </p:extLst>
  </p:cSld>
  <p:clrMapOvr>
    <a:overrideClrMapping bg1="lt1" tx1="dk1" bg2="lt2" tx2="dk2" accent1="accent1" accent2="accent2" accent3="accent3" accent4="accent4" accent5="accent5" accent6="accent6" hlink="hlink" folHlink="folHlink"/>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p:cSld name="1_Title Slide">
    <p:spTree>
      <p:nvGrpSpPr>
        <p:cNvPr id="1" name=""/>
        <p:cNvGrpSpPr/>
        <p:nvPr/>
      </p:nvGrpSpPr>
      <p:grpSpPr>
        <a:xfrm>
          <a:off x="0" y="0"/>
          <a:ext cx="0" cy="0"/>
          <a:chOff x="0" y="0"/>
          <a:chExt cx="0" cy="0"/>
        </a:xfrm>
      </p:grpSpPr>
      <p:grpSp>
        <p:nvGrpSpPr>
          <p:cNvPr id="40" name="组合 39"/>
          <p:cNvGrpSpPr/>
          <p:nvPr/>
        </p:nvGrpSpPr>
        <p:grpSpPr>
          <a:xfrm>
            <a:off x="0" y="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7" name="图片 26"/>
            <p:cNvPicPr>
              <a:picLocks noChangeAspect="1"/>
            </p:cNvPicPr>
            <p:nvPr/>
          </p:nvPicPr>
          <p:blipFill>
            <a:blip r:embed="rId3">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9" name="副标题 8"/>
          <p:cNvSpPr>
            <a:spLocks noGrp="1"/>
          </p:cNvSpPr>
          <p:nvPr>
            <p:ph type="subTitle" sz="quarter" idx="1" hasCustomPrompt="1"/>
          </p:nvPr>
        </p:nvSpPr>
        <p:spPr>
          <a:xfrm>
            <a:off x="660400" y="4043221"/>
            <a:ext cx="5645151" cy="588651"/>
          </a:xfrm>
          <a:prstGeom prst="roundRect">
            <a:avLst>
              <a:gd name="adj" fmla="val 0"/>
            </a:avLst>
          </a:prstGeom>
          <a:noFill/>
          <a:ln>
            <a:noFill/>
          </a:ln>
        </p:spPr>
        <p:txBody>
          <a:bodyPr vert="horz" wrap="square" lIns="91440" tIns="45720" rIns="91440" bIns="45720" rtlCol="0" anchor="ctr" anchorCtr="0">
            <a:normAutofit/>
          </a:bodyPr>
          <a:lstStyle>
            <a:lvl1pPr marL="0" indent="0" algn="l">
              <a:lnSpc>
                <a:spcPct val="100000"/>
              </a:lnSpc>
              <a:buNone/>
              <a:defRPr lang="en-US" sz="1800" dirty="0">
                <a:solidFill>
                  <a:schemeClr val="tx1"/>
                </a:solidFill>
                <a:latin typeface="+mj-lt"/>
              </a:defRPr>
            </a:lvl1pPr>
          </a:lstStyle>
          <a:p>
            <a:pPr lvl="0"/>
            <a:r>
              <a:rPr lang="en-US"/>
              <a:t>Click to add subtitle</a:t>
            </a:r>
          </a:p>
        </p:txBody>
      </p:sp>
      <p:sp>
        <p:nvSpPr>
          <p:cNvPr id="4" name="文本占位符 3"/>
          <p:cNvSpPr>
            <a:spLocks noGrp="1"/>
          </p:cNvSpPr>
          <p:nvPr>
            <p:ph type="body" sz="quarter" idx="13" hasCustomPrompt="1"/>
          </p:nvPr>
        </p:nvSpPr>
        <p:spPr>
          <a:xfrm>
            <a:off x="660400" y="5497551"/>
            <a:ext cx="5645151" cy="276999"/>
          </a:xfrm>
          <a:prstGeom prst="rect">
            <a:avLst/>
          </a:prstGeom>
        </p:spPr>
        <p:txBody>
          <a:bodyPr wrap="square" lIns="90000">
            <a:normAutofit/>
          </a:bodyPr>
          <a:lstStyle>
            <a:lvl1pPr marL="0" indent="0" algn="l">
              <a:lnSpc>
                <a:spcPct val="100000"/>
              </a:lnSpc>
              <a:buNone/>
              <a:defRPr sz="1200"/>
            </a:lvl1pPr>
          </a:lstStyle>
          <a:p>
            <a:pPr lvl="0"/>
            <a:r>
              <a:rPr lang="en-US"/>
              <a:t>Presenter name</a:t>
            </a:r>
          </a:p>
        </p:txBody>
      </p:sp>
      <p:sp>
        <p:nvSpPr>
          <p:cNvPr id="7" name="文本占位符 6"/>
          <p:cNvSpPr>
            <a:spLocks noGrp="1"/>
          </p:cNvSpPr>
          <p:nvPr>
            <p:ph type="body" sz="quarter" idx="14" hasCustomPrompt="1"/>
          </p:nvPr>
        </p:nvSpPr>
        <p:spPr>
          <a:xfrm>
            <a:off x="660400" y="5857101"/>
            <a:ext cx="5645151" cy="276999"/>
          </a:xfrm>
          <a:prstGeom prst="rect">
            <a:avLst/>
          </a:prstGeom>
        </p:spPr>
        <p:txBody>
          <a:bodyPr wrap="none">
            <a:normAutofit/>
          </a:bodyPr>
          <a:lstStyle>
            <a:lvl1pPr marL="0" indent="0" algn="l">
              <a:lnSpc>
                <a:spcPct val="100000"/>
              </a:lnSpc>
              <a:buNone/>
              <a:defRPr sz="1200"/>
            </a:lvl1pPr>
          </a:lstStyle>
          <a:p>
            <a:pPr lvl="0"/>
            <a:r>
              <a:rPr lang="en-US"/>
              <a:t>www.officeplus.cn</a:t>
            </a:r>
          </a:p>
        </p:txBody>
      </p:sp>
      <p:sp>
        <p:nvSpPr>
          <p:cNvPr id="8" name="标题 4">
            <a:extLst>
              <a:ext uri="{FF2B5EF4-FFF2-40B4-BE49-F238E27FC236}">
                <a16:creationId xmlns:a16="http://schemas.microsoft.com/office/drawing/2014/main" id="{D4E51AF3-4B86-C068-61E8-F89039CF3D69}"/>
              </a:ext>
            </a:extLst>
          </p:cNvPr>
          <p:cNvSpPr>
            <a:spLocks noGrp="1"/>
          </p:cNvSpPr>
          <p:nvPr>
            <p:ph type="ctrTitle" hasCustomPrompt="1"/>
          </p:nvPr>
        </p:nvSpPr>
        <p:spPr>
          <a:xfrm>
            <a:off x="3879504" y="1210338"/>
            <a:ext cx="6749372" cy="2587173"/>
          </a:xfrm>
          <a:prstGeom prst="rect">
            <a:avLst/>
          </a:prstGeom>
        </p:spPr>
        <p:txBody>
          <a:bodyPr wrap="square" anchor="b">
            <a:normAutofit/>
          </a:bodyPr>
          <a:lstStyle>
            <a:lvl1pPr algn="ctr">
              <a:lnSpc>
                <a:spcPct val="100000"/>
              </a:lnSpc>
              <a:defRPr sz="5400">
                <a:ln w="19050">
                  <a:noFill/>
                </a:ln>
                <a:solidFill>
                  <a:schemeClr val="tx1"/>
                </a:solidFill>
              </a:defRPr>
            </a:lvl1pPr>
          </a:lstStyle>
          <a:p>
            <a:pPr lvl="0"/>
            <a:r>
              <a:rPr lang="en-US" dirty="0"/>
              <a:t>Intelligent Planning     &amp; </a:t>
            </a:r>
            <a:br>
              <a:rPr lang="en-US" dirty="0"/>
            </a:br>
            <a:r>
              <a:rPr lang="en-US" dirty="0"/>
              <a:t>Control Tower</a:t>
            </a:r>
          </a:p>
        </p:txBody>
      </p:sp>
      <p:pic>
        <p:nvPicPr>
          <p:cNvPr id="2" name="图片 1">
            <a:extLst>
              <a:ext uri="{FF2B5EF4-FFF2-40B4-BE49-F238E27FC236}">
                <a16:creationId xmlns:a16="http://schemas.microsoft.com/office/drawing/2014/main" id="{86A1F6E0-7672-8B72-B54A-4FF4F79B88B3}"/>
              </a:ext>
            </a:extLst>
          </p:cNvPr>
          <p:cNvPicPr>
            <a:picLocks noChangeAspect="1"/>
          </p:cNvPicPr>
          <p:nvPr/>
        </p:nvPicPr>
        <p:blipFill>
          <a:blip r:embed="rId5">
            <a:duotone>
              <a:schemeClr val="bg2">
                <a:shade val="45000"/>
                <a:satMod val="135000"/>
              </a:schemeClr>
              <a:prstClr val="white"/>
            </a:duotone>
            <a:extLst>
              <a:ext uri="{BEBA8EAE-BF5A-486C-A8C5-ECC9F3942E4B}">
                <a14:imgProps xmlns:a14="http://schemas.microsoft.com/office/drawing/2010/main">
                  <a14:imgLayer r:embed="rId6">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62985" y="1728206"/>
            <a:ext cx="3516518" cy="1579597"/>
          </a:xfrm>
          <a:prstGeom prst="rect">
            <a:avLst/>
          </a:prstGeom>
        </p:spPr>
      </p:pic>
    </p:spTree>
    <p:extLst>
      <p:ext uri="{BB962C8B-B14F-4D97-AF65-F5344CB8AC3E}">
        <p14:creationId xmlns:p14="http://schemas.microsoft.com/office/powerpoint/2010/main" val="487115435"/>
      </p:ext>
    </p:extLst>
  </p:cSld>
  <p:clrMapOvr>
    <a:overrideClrMapping bg1="lt1" tx1="dk1" bg2="lt2" tx2="dk2" accent1="accent1" accent2="accent2" accent3="accent3" accent4="accent4" accent5="accent5" accent6="accent6" hlink="hlink" folHlink="folHlink"/>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1_空白">
    <p:spTree>
      <p:nvGrpSpPr>
        <p:cNvPr id="1" name=""/>
        <p:cNvGrpSpPr/>
        <p:nvPr/>
      </p:nvGrpSpPr>
      <p:grpSpPr>
        <a:xfrm>
          <a:off x="0" y="0"/>
          <a:ext cx="0" cy="0"/>
          <a:chOff x="0" y="0"/>
          <a:chExt cx="0" cy="0"/>
        </a:xfrm>
      </p:grpSpPr>
      <p:sp>
        <p:nvSpPr>
          <p:cNvPr id="5" name="矩形 4"/>
          <p:cNvSpPr/>
          <p:nvPr/>
        </p:nvSpPr>
        <p:spPr>
          <a:xfrm>
            <a:off x="0" y="6729413"/>
            <a:ext cx="12192000" cy="128587"/>
          </a:xfrm>
          <a:prstGeom prst="rect">
            <a:avLst/>
          </a:prstGeom>
          <a:gradFill>
            <a:gsLst>
              <a:gs pos="0">
                <a:schemeClr val="accent2"/>
              </a:gs>
              <a:gs pos="100000">
                <a:schemeClr val="accent1"/>
              </a:gs>
            </a:gsLst>
            <a:lin ang="10800000" scaled="1"/>
          </a:gradFill>
          <a:ln w="19050">
            <a:noFill/>
            <a:round/>
          </a:ln>
        </p:spPr>
        <p:txBody>
          <a:bodyPr vert="horz" wrap="square" lIns="91440" tIns="45720" rIns="91440" bIns="45720" numCol="1" spcCol="0" rtlCol="0" fromWordArt="0" anchor="ctr" anchorCtr="1" forceAA="0" compatLnSpc="1">
            <a:noAutofit/>
          </a:bodyPr>
          <a:lstStyle/>
          <a:p>
            <a:pPr lvl="0" algn="ctr"/>
            <a:endParaRPr lang="zh-CN" altLang="en-US" sz="1200" b="1">
              <a:solidFill>
                <a:schemeClr val="tx1"/>
              </a:solidFill>
            </a:endParaRPr>
          </a:p>
        </p:txBody>
      </p:sp>
      <p:sp>
        <p:nvSpPr>
          <p:cNvPr id="6" name="标题 1">
            <a:extLst>
              <a:ext uri="{FF2B5EF4-FFF2-40B4-BE49-F238E27FC236}">
                <a16:creationId xmlns:a16="http://schemas.microsoft.com/office/drawing/2014/main" id="{1E9DDCD0-7537-A039-754A-F4224B0E3693}"/>
              </a:ext>
            </a:extLst>
          </p:cNvPr>
          <p:cNvSpPr>
            <a:spLocks noGrp="1"/>
          </p:cNvSpPr>
          <p:nvPr>
            <p:ph type="title"/>
          </p:nvPr>
        </p:nvSpPr>
        <p:spPr>
          <a:xfrm>
            <a:off x="866346" y="-316256"/>
            <a:ext cx="10858500" cy="900112"/>
          </a:xfrm>
        </p:spPr>
        <p:txBody>
          <a:bodyPr/>
          <a:lstStyle>
            <a:lvl1pPr>
              <a:defRPr/>
            </a:lvl1pPr>
          </a:lstStyle>
          <a:p>
            <a:pPr lvl="0"/>
            <a:endParaRPr lang="en-US" dirty="0"/>
          </a:p>
        </p:txBody>
      </p:sp>
    </p:spTree>
    <p:extLst>
      <p:ext uri="{BB962C8B-B14F-4D97-AF65-F5344CB8AC3E}">
        <p14:creationId xmlns:p14="http://schemas.microsoft.com/office/powerpoint/2010/main" val="3669355313"/>
      </p:ext>
    </p:extLst>
  </p:cSld>
  <p:clrMapOvr>
    <a:overrideClrMapping bg1="lt1" tx1="dk1" bg2="lt2" tx2="dk2" accent1="accent1" accent2="accent2" accent3="accent3" accent4="accent4" accent5="accent5" accent6="accent6" hlink="hlink" folHlink="folHlink"/>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3_标题幻灯片">
    <p:spTree>
      <p:nvGrpSpPr>
        <p:cNvPr id="1" name=""/>
        <p:cNvGrpSpPr/>
        <p:nvPr/>
      </p:nvGrpSpPr>
      <p:grpSpPr>
        <a:xfrm>
          <a:off x="0" y="0"/>
          <a:ext cx="0" cy="0"/>
          <a:chOff x="0" y="0"/>
          <a:chExt cx="0" cy="0"/>
        </a:xfrm>
      </p:grpSpPr>
      <p:grpSp>
        <p:nvGrpSpPr>
          <p:cNvPr id="40" name="组合 39"/>
          <p:cNvGrpSpPr/>
          <p:nvPr userDrawn="1"/>
        </p:nvGrpSpPr>
        <p:grpSpPr>
          <a:xfrm>
            <a:off x="0" y="12450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pic>
          <p:nvPicPr>
            <p:cNvPr id="27" name="图片 26"/>
            <p:cNvPicPr>
              <a:picLocks noChangeAspect="1"/>
            </p:cNvPicPr>
            <p:nvPr/>
          </p:nvPicPr>
          <p:blipFill>
            <a:blip r:embed="rId3">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3" name="标题 4">
            <a:extLst>
              <a:ext uri="{FF2B5EF4-FFF2-40B4-BE49-F238E27FC236}">
                <a16:creationId xmlns:a16="http://schemas.microsoft.com/office/drawing/2014/main" id="{B5D391BF-A023-49D2-B62C-E02AC8635D69}"/>
              </a:ext>
            </a:extLst>
          </p:cNvPr>
          <p:cNvSpPr>
            <a:spLocks noGrp="1"/>
          </p:cNvSpPr>
          <p:nvPr>
            <p:ph type="ctrTitle" hasCustomPrompt="1"/>
          </p:nvPr>
        </p:nvSpPr>
        <p:spPr>
          <a:xfrm>
            <a:off x="4556922" y="1839434"/>
            <a:ext cx="6749372" cy="2587173"/>
          </a:xfrm>
          <a:prstGeom prst="rect">
            <a:avLst/>
          </a:prstGeom>
        </p:spPr>
        <p:txBody>
          <a:bodyPr wrap="square" anchor="b">
            <a:normAutofit/>
          </a:bodyPr>
          <a:lstStyle>
            <a:lvl1pPr algn="ctr">
              <a:lnSpc>
                <a:spcPct val="100000"/>
              </a:lnSpc>
              <a:defRPr sz="5400">
                <a:ln w="19050">
                  <a:noFill/>
                </a:ln>
                <a:solidFill>
                  <a:schemeClr val="tx1"/>
                </a:solidFill>
              </a:defRPr>
            </a:lvl1pPr>
          </a:lstStyle>
          <a:p>
            <a:pPr lvl="0"/>
            <a:r>
              <a:rPr lang="en-US" dirty="0"/>
              <a:t>Intelligent Planning     &amp; </a:t>
            </a:r>
            <a:br>
              <a:rPr lang="en-US" dirty="0"/>
            </a:br>
            <a:r>
              <a:rPr lang="en-US" dirty="0"/>
              <a:t>Control Tower</a:t>
            </a:r>
          </a:p>
        </p:txBody>
      </p:sp>
      <p:sp>
        <p:nvSpPr>
          <p:cNvPr id="5" name="文本框 4">
            <a:extLst>
              <a:ext uri="{FF2B5EF4-FFF2-40B4-BE49-F238E27FC236}">
                <a16:creationId xmlns:a16="http://schemas.microsoft.com/office/drawing/2014/main" id="{FD9C0D61-6364-EB58-4CE8-074F803A783D}"/>
              </a:ext>
            </a:extLst>
          </p:cNvPr>
          <p:cNvSpPr txBox="1"/>
          <p:nvPr userDrawn="1"/>
        </p:nvSpPr>
        <p:spPr>
          <a:xfrm>
            <a:off x="1104756" y="2579023"/>
            <a:ext cx="1946564" cy="1107996"/>
          </a:xfrm>
          <a:prstGeom prst="rect">
            <a:avLst/>
          </a:prstGeom>
          <a:noFill/>
        </p:spPr>
        <p:txBody>
          <a:bodyPr wrap="square" rtlCol="0">
            <a:spAutoFit/>
          </a:bodyPr>
          <a:lstStyle/>
          <a:p>
            <a:r>
              <a:rPr lang="en-US" altLang="zh-CN" sz="6600" b="1" dirty="0">
                <a:latin typeface="+mj-ea"/>
                <a:ea typeface="+mj-ea"/>
              </a:rPr>
              <a:t>IPC</a:t>
            </a:r>
            <a:endParaRPr lang="zh-CN" altLang="en-US" sz="6600" b="1" dirty="0">
              <a:latin typeface="+mj-ea"/>
              <a:ea typeface="+mj-ea"/>
            </a:endParaRPr>
          </a:p>
        </p:txBody>
      </p:sp>
      <p:pic>
        <p:nvPicPr>
          <p:cNvPr id="2" name="图片 1">
            <a:extLst>
              <a:ext uri="{FF2B5EF4-FFF2-40B4-BE49-F238E27FC236}">
                <a16:creationId xmlns:a16="http://schemas.microsoft.com/office/drawing/2014/main" id="{6249DE40-38DE-0B8C-A57E-BCDCCECD67F0}"/>
              </a:ext>
            </a:extLst>
          </p:cNvPr>
          <p:cNvPicPr>
            <a:picLocks noChangeAspect="1"/>
          </p:cNvPicPr>
          <p:nvPr userDrawn="1"/>
        </p:nvPicPr>
        <p:blipFill>
          <a:blip r:embed="rId5">
            <a:duotone>
              <a:prstClr val="black"/>
              <a:schemeClr val="accent3">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4" name="图片 3">
            <a:extLst>
              <a:ext uri="{FF2B5EF4-FFF2-40B4-BE49-F238E27FC236}">
                <a16:creationId xmlns:a16="http://schemas.microsoft.com/office/drawing/2014/main" id="{82CA119C-4E3E-E8FD-4491-4E0BECF11504}"/>
              </a:ext>
            </a:extLst>
          </p:cNvPr>
          <p:cNvPicPr>
            <a:picLocks noChangeAspect="1"/>
          </p:cNvPicPr>
          <p:nvPr userDrawn="1"/>
        </p:nvPicPr>
        <p:blipFill>
          <a:blip r:embed="rId6">
            <a:duotone>
              <a:prstClr val="black"/>
              <a:schemeClr val="accent3">
                <a:tint val="45000"/>
                <a:satMod val="400000"/>
              </a:schemeClr>
            </a:duotone>
            <a:extLst>
              <a:ext uri="{BEBA8EAE-BF5A-486C-A8C5-ECC9F3942E4B}">
                <a14:imgProps xmlns:a14="http://schemas.microsoft.com/office/drawing/2010/main">
                  <a14:imgLayer r:embed="rId7">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79775" y="6236796"/>
            <a:ext cx="704451" cy="621204"/>
          </a:xfrm>
          <a:prstGeom prst="rect">
            <a:avLst/>
          </a:prstGeom>
        </p:spPr>
      </p:pic>
    </p:spTree>
    <p:extLst>
      <p:ext uri="{BB962C8B-B14F-4D97-AF65-F5344CB8AC3E}">
        <p14:creationId xmlns:p14="http://schemas.microsoft.com/office/powerpoint/2010/main" val="2276407640"/>
      </p:ext>
    </p:extLst>
  </p:cSld>
  <p:clrMapOvr>
    <a:overrideClrMapping bg1="lt1" tx1="dk1" bg2="lt2" tx2="dk2" accent1="accent1" accent2="accent2" accent3="accent3" accent4="accent4" accent5="accent5" accent6="accent6" hlink="hlink" folHlink="folHlink"/>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E9DDCD0-7537-A039-754A-F4224B0E3693}"/>
              </a:ext>
            </a:extLst>
          </p:cNvPr>
          <p:cNvSpPr>
            <a:spLocks noGrp="1"/>
          </p:cNvSpPr>
          <p:nvPr userDrawn="1"/>
        </p:nvSpPr>
        <p:spPr>
          <a:xfrm>
            <a:off x="899833"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
        <p:nvSpPr>
          <p:cNvPr id="3" name="标题 1">
            <a:extLst>
              <a:ext uri="{FF2B5EF4-FFF2-40B4-BE49-F238E27FC236}">
                <a16:creationId xmlns:a16="http://schemas.microsoft.com/office/drawing/2014/main" id="{1E9DDCD0-7537-A039-754A-F4224B0E3693}"/>
              </a:ext>
            </a:extLst>
          </p:cNvPr>
          <p:cNvSpPr>
            <a:spLocks noGrp="1"/>
          </p:cNvSpPr>
          <p:nvPr userDrawn="1"/>
        </p:nvSpPr>
        <p:spPr>
          <a:xfrm>
            <a:off x="947645"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Tree>
    <p:extLst>
      <p:ext uri="{BB962C8B-B14F-4D97-AF65-F5344CB8AC3E}">
        <p14:creationId xmlns:p14="http://schemas.microsoft.com/office/powerpoint/2010/main" val="2237849854"/>
      </p:ext>
    </p:extLst>
  </p:cSld>
  <p:clrMapOvr>
    <a:overrideClrMapping bg1="lt1" tx1="dk1" bg2="lt2" tx2="dk2" accent1="accent1" accent2="accent2" accent3="accent3" accent4="accent4" accent5="accent5" accent6="accent6" hlink="hlink" folHlink="folHlink"/>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标题和内容">
    <p:spTree>
      <p:nvGrpSpPr>
        <p:cNvPr id="1" name=""/>
        <p:cNvGrpSpPr/>
        <p:nvPr/>
      </p:nvGrpSpPr>
      <p:grpSpPr>
        <a:xfrm>
          <a:off x="0" y="0"/>
          <a:ext cx="0" cy="0"/>
          <a:chOff x="0" y="0"/>
          <a:chExt cx="0" cy="0"/>
        </a:xfrm>
      </p:grpSpPr>
      <p:sp>
        <p:nvSpPr>
          <p:cNvPr id="13" name="文本占位符 12"/>
          <p:cNvSpPr>
            <a:spLocks noGrp="1"/>
          </p:cNvSpPr>
          <p:nvPr>
            <p:ph type="body" idx="1"/>
            <p:custDataLst>
              <p:tags r:id="rId1"/>
            </p:custDataLst>
          </p:nvPr>
        </p:nvSpPr>
        <p:spPr>
          <a:xfrm>
            <a:off x="569595" y="1253490"/>
            <a:ext cx="11052810" cy="4869180"/>
          </a:xfrm>
          <a:prstGeom prst="rect">
            <a:avLst/>
          </a:prstGeom>
        </p:spPr>
        <p:txBody>
          <a:bodyPr vert="horz" lIns="91440" tIns="45720" rIns="91440" bIns="45720" rtlCol="0">
            <a:normAutofit/>
          </a:bodyPr>
          <a:lstStyle>
            <a:lvl1pPr marL="0" indent="0">
              <a:buNone/>
              <a:defRPr sz="1400">
                <a:solidFill>
                  <a:schemeClr val="tx1"/>
                </a:solidFill>
              </a:defRPr>
            </a:lvl1pPr>
            <a:lvl2pPr marL="457200" indent="0">
              <a:buNone/>
              <a:defRPr sz="1400">
                <a:solidFill>
                  <a:schemeClr val="tx1"/>
                </a:solidFill>
              </a:defRPr>
            </a:lvl2pPr>
            <a:lvl3pPr marL="914400" indent="0">
              <a:buNone/>
              <a:defRPr sz="1400">
                <a:solidFill>
                  <a:schemeClr val="tx1"/>
                </a:solidFill>
              </a:defRPr>
            </a:lvl3pPr>
            <a:lvl4pPr marL="1371600" indent="0">
              <a:buNone/>
              <a:defRPr sz="1400">
                <a:solidFill>
                  <a:schemeClr val="tx1"/>
                </a:solidFill>
              </a:defRPr>
            </a:lvl4pPr>
            <a:lvl5pPr marL="1828800" indent="0">
              <a:buNone/>
              <a:defRPr sz="1400">
                <a:solidFill>
                  <a:schemeClr val="tx1"/>
                </a:solidFill>
              </a:defRPr>
            </a:lvl5pPr>
          </a:lstStyle>
          <a:p>
            <a:pPr lvl="0"/>
            <a:r>
              <a:rPr lang="zh-CN" altLang="en-US" dirty="0"/>
              <a:t>单击此处编辑母版文本样式</a:t>
            </a:r>
          </a:p>
          <a:p>
            <a:pPr lvl="1"/>
            <a:r>
              <a:rPr lang="zh-CN" altLang="en-US" dirty="0"/>
              <a:t>二级</a:t>
            </a:r>
          </a:p>
          <a:p>
            <a:pPr lvl="2"/>
            <a:r>
              <a:rPr lang="zh-CN" altLang="en-US" dirty="0"/>
              <a:t>三级</a:t>
            </a:r>
          </a:p>
          <a:p>
            <a:pPr lvl="3"/>
            <a:r>
              <a:rPr lang="zh-CN" altLang="en-US" dirty="0"/>
              <a:t>四级</a:t>
            </a:r>
          </a:p>
          <a:p>
            <a:pPr lvl="4"/>
            <a:r>
              <a:rPr lang="zh-CN" altLang="en-US" dirty="0"/>
              <a:t>五级</a:t>
            </a:r>
          </a:p>
        </p:txBody>
      </p:sp>
      <p:sp>
        <p:nvSpPr>
          <p:cNvPr id="5" name="灯片编号占位符 4"/>
          <p:cNvSpPr>
            <a:spLocks noGrp="1"/>
          </p:cNvSpPr>
          <p:nvPr userDrawn="1">
            <p:custDataLst>
              <p:tags r:id="rId2"/>
            </p:custDataLst>
          </p:nvPr>
        </p:nvSpPr>
        <p:spPr>
          <a:xfrm>
            <a:off x="8879205" y="6375400"/>
            <a:ext cx="2743200" cy="365125"/>
          </a:xfrm>
          <a:prstGeom prst="rect">
            <a:avLst/>
          </a:prstGeom>
        </p:spPr>
        <p:txBody>
          <a:bodyPr vert="horz" lIns="91440" tIns="45720" rIns="91440" bIns="45720" rtlCol="0" anchor="ctr"/>
          <a:lstStyle>
            <a:defPPr>
              <a:defRPr lang="zh-CN"/>
            </a:defPPr>
            <a:lvl1pPr marL="0" algn="r" defTabSz="914400" rtl="0" eaLnBrk="1" latinLnBrk="0" hangingPunct="1">
              <a:defRPr sz="10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56FF76-7BF1-4E25-A0F5-B7CD95F22364}" type="slidenum">
              <a:rPr lang="zh-CN" altLang="en-US" smtClean="0"/>
              <a:t>‹#›</a:t>
            </a:fld>
            <a:endParaRPr lang="zh-CN" altLang="en-US" dirty="0"/>
          </a:p>
        </p:txBody>
      </p:sp>
      <p:sp>
        <p:nvSpPr>
          <p:cNvPr id="2" name="标题 1">
            <a:extLst>
              <a:ext uri="{FF2B5EF4-FFF2-40B4-BE49-F238E27FC236}">
                <a16:creationId xmlns:a16="http://schemas.microsoft.com/office/drawing/2014/main" id="{1E9DDCD0-7537-A039-754A-F4224B0E3693}"/>
              </a:ext>
            </a:extLst>
          </p:cNvPr>
          <p:cNvSpPr>
            <a:spLocks noGrp="1"/>
          </p:cNvSpPr>
          <p:nvPr userDrawn="1"/>
        </p:nvSpPr>
        <p:spPr>
          <a:xfrm>
            <a:off x="935691" y="-22304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Tree>
    <p:extLst>
      <p:ext uri="{BB962C8B-B14F-4D97-AF65-F5344CB8AC3E}">
        <p14:creationId xmlns:p14="http://schemas.microsoft.com/office/powerpoint/2010/main" val="1729611736"/>
      </p:ext>
    </p:extLst>
  </p:cSld>
  <p:clrMapOvr>
    <a:masterClrMapping/>
  </p:clrMapOvr>
  <p:transition spd="slow"/>
  <p:hf sldNum="0" hdr="0" ftr="0" dt="0"/>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项内容">
    <p:spTree>
      <p:nvGrpSpPr>
        <p:cNvPr id="1" name=""/>
        <p:cNvGrpSpPr/>
        <p:nvPr/>
      </p:nvGrpSpPr>
      <p:grpSpPr>
        <a:xfrm>
          <a:off x="0" y="0"/>
          <a:ext cx="0" cy="0"/>
          <a:chOff x="0" y="0"/>
          <a:chExt cx="0" cy="0"/>
        </a:xfrm>
      </p:grpSpPr>
      <p:sp>
        <p:nvSpPr>
          <p:cNvPr id="2" name="标题 1"/>
          <p:cNvSpPr>
            <a:spLocks noGrp="1"/>
          </p:cNvSpPr>
          <p:nvPr>
            <p:ph type="title"/>
          </p:nvPr>
        </p:nvSpPr>
        <p:spPr>
          <a:xfrm>
            <a:off x="609600" y="-331029"/>
            <a:ext cx="10858500" cy="1028700"/>
          </a:xfrm>
        </p:spPr>
        <p:txBody>
          <a:bodyPr/>
          <a:lstStyle/>
          <a:p>
            <a:r>
              <a:rPr lang="zh-CN" altLang="en-US"/>
              <a:t>单击此处编辑母版标题样式</a:t>
            </a:r>
          </a:p>
        </p:txBody>
      </p:sp>
      <p:sp>
        <p:nvSpPr>
          <p:cNvPr id="3" name="内容占位符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内容占位符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日期占位符 4"/>
          <p:cNvSpPr>
            <a:spLocks noGrp="1"/>
          </p:cNvSpPr>
          <p:nvPr>
            <p:ph type="dt" sz="half" idx="10"/>
          </p:nvPr>
        </p:nvSpPr>
        <p:spPr/>
        <p:txBody>
          <a:bodyPr/>
          <a:lstStyle/>
          <a:p>
            <a:pPr defTabSz="609585" fontAlgn="base">
              <a:spcBef>
                <a:spcPct val="0"/>
              </a:spcBef>
              <a:spcAft>
                <a:spcPct val="0"/>
              </a:spcAft>
              <a:defRPr/>
            </a:pPr>
            <a:endParaRPr kumimoji="1" lang="zh-CN" altLang="en-US" dirty="0"/>
          </a:p>
        </p:txBody>
      </p:sp>
      <p:sp>
        <p:nvSpPr>
          <p:cNvPr id="6" name="页脚占位符 5"/>
          <p:cNvSpPr>
            <a:spLocks noGrp="1"/>
          </p:cNvSpPr>
          <p:nvPr>
            <p:ph type="ftr" sz="quarter" idx="11"/>
          </p:nvPr>
        </p:nvSpPr>
        <p:spPr/>
        <p:txBody>
          <a:bodyPr/>
          <a:lstStyle/>
          <a:p>
            <a:pPr defTabSz="609585">
              <a:defRPr/>
            </a:pPr>
            <a:endParaRPr kumimoji="1" lang="zh-CN" altLang="en-US" dirty="0"/>
          </a:p>
        </p:txBody>
      </p:sp>
      <p:sp>
        <p:nvSpPr>
          <p:cNvPr id="7" name="灯片编号占位符 6"/>
          <p:cNvSpPr>
            <a:spLocks noGrp="1"/>
          </p:cNvSpPr>
          <p:nvPr>
            <p:ph type="sldNum" sz="quarter" idx="12"/>
          </p:nvPr>
        </p:nvSpPr>
        <p:spPr/>
        <p:txBody>
          <a:bodyPr/>
          <a:lstStyle/>
          <a:p>
            <a:pPr lvl="0" eaLnBrk="1" hangingPunct="1">
              <a:buNone/>
            </a:pPr>
            <a:fld id="{9A0DB2DC-4C9A-4742-B13C-FB6460FD3503}" type="slidenum">
              <a:rPr lang="zh-CN" altLang="en-US" dirty="0">
                <a:latin typeface="Calibri" panose="020F0502020204030204" pitchFamily="34" charset="0"/>
              </a:rPr>
              <a:t>‹#›</a:t>
            </a:fld>
            <a:endParaRPr lang="zh-CN" altLang="en-US" dirty="0">
              <a:latin typeface="Calibri" panose="020F0502020204030204" pitchFamily="34" charset="0"/>
            </a:endParaRPr>
          </a:p>
        </p:txBody>
      </p:sp>
    </p:spTree>
    <p:extLst>
      <p:ext uri="{BB962C8B-B14F-4D97-AF65-F5344CB8AC3E}">
        <p14:creationId xmlns:p14="http://schemas.microsoft.com/office/powerpoint/2010/main" val="3935568905"/>
      </p:ext>
    </p:extLst>
  </p:cSld>
  <p:clrMapOvr>
    <a:overrideClrMapping bg1="lt1" tx1="dk1" bg2="lt2" tx2="dk2" accent1="accent1" accent2="accent2" accent3="accent3" accent4="accent4" accent5="accent5" accent6="accent6" hlink="hlink" folHlink="folHlink"/>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Title and Content - No Background">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274320"/>
            <a:ext cx="11076268" cy="521208"/>
          </a:xfrm>
          <a:prstGeom prst="rect">
            <a:avLst/>
          </a:prstGeom>
        </p:spPr>
        <p:txBody>
          <a:bodyPr wrap="square" lIns="0" tIns="0" rIns="0" bIns="0" anchor="ctr" anchorCtr="0"/>
          <a:lstStyle>
            <a:lvl1pPr marL="0" algn="l" defTabSz="1218987" rtl="0" eaLnBrk="1" latinLnBrk="0" hangingPunct="1">
              <a:lnSpc>
                <a:spcPct val="100000"/>
              </a:lnSpc>
              <a:spcBef>
                <a:spcPct val="0"/>
              </a:spcBef>
              <a:buNone/>
              <a:tabLst>
                <a:tab pos="1218987" algn="l"/>
              </a:tabLst>
              <a:defRPr lang="en-US" sz="3600" kern="1200" cap="none" spc="0" baseline="0" dirty="0">
                <a:solidFill>
                  <a:schemeClr val="tx1"/>
                </a:solidFill>
                <a:latin typeface="Arial" pitchFamily="34" charset="0"/>
                <a:ea typeface="+mn-ea"/>
                <a:cs typeface="Arial" pitchFamily="34" charset="0"/>
              </a:defRPr>
            </a:lvl1pPr>
          </a:lstStyle>
          <a:p>
            <a:r>
              <a:rPr lang="en-US" dirty="0"/>
              <a:t>Click To Edit Master Title</a:t>
            </a:r>
          </a:p>
        </p:txBody>
      </p:sp>
      <p:sp>
        <p:nvSpPr>
          <p:cNvPr id="22" name="Content Placeholder 2"/>
          <p:cNvSpPr>
            <a:spLocks noGrp="1"/>
          </p:cNvSpPr>
          <p:nvPr>
            <p:ph sz="half" idx="1"/>
          </p:nvPr>
        </p:nvSpPr>
        <p:spPr bwMode="gray">
          <a:xfrm>
            <a:off x="548783" y="1179577"/>
            <a:ext cx="11076268" cy="5211699"/>
          </a:xfrm>
          <a:prstGeom prst="rect">
            <a:avLst/>
          </a:prstGeom>
        </p:spPr>
        <p:txBody>
          <a:bodyPr lIns="0" tIns="0" rIns="0" bIns="0"/>
          <a:lstStyle>
            <a:lvl1pPr marL="171450" indent="-171450">
              <a:lnSpc>
                <a:spcPct val="90000"/>
              </a:lnSpc>
              <a:spcBef>
                <a:spcPts val="600"/>
              </a:spcBef>
              <a:buClrTx/>
              <a:buFont typeface="Arial" panose="020B0604020202020204" pitchFamily="34" charset="0"/>
              <a:buChar char="•"/>
              <a:defRPr sz="2400">
                <a:solidFill>
                  <a:schemeClr val="tx1"/>
                </a:solidFill>
                <a:latin typeface="Arial" pitchFamily="34" charset="0"/>
                <a:cs typeface="Arial" pitchFamily="34" charset="0"/>
              </a:defRPr>
            </a:lvl1pPr>
            <a:lvl2pPr marL="609493" indent="-228560">
              <a:lnSpc>
                <a:spcPct val="90000"/>
              </a:lnSpc>
              <a:spcBef>
                <a:spcPts val="600"/>
              </a:spcBef>
              <a:buClrTx/>
              <a:buFont typeface="Arial" pitchFamily="34" charset="0"/>
              <a:buChar char="–"/>
              <a:defRPr sz="2000">
                <a:solidFill>
                  <a:schemeClr val="tx1"/>
                </a:solidFill>
                <a:latin typeface="Arial" pitchFamily="34" charset="0"/>
                <a:cs typeface="Arial" pitchFamily="34" charset="0"/>
              </a:defRPr>
            </a:lvl2pPr>
            <a:lvl3pPr marL="835938" indent="-150258">
              <a:lnSpc>
                <a:spcPct val="90000"/>
              </a:lnSpc>
              <a:spcBef>
                <a:spcPts val="600"/>
              </a:spcBef>
              <a:buClrTx/>
              <a:buFont typeface="Arial" panose="020B0604020202020204" pitchFamily="34" charset="0"/>
              <a:buChar char="-"/>
              <a:defRPr sz="2000">
                <a:solidFill>
                  <a:schemeClr val="tx1"/>
                </a:solidFill>
                <a:latin typeface="Arial" pitchFamily="34" charset="0"/>
                <a:cs typeface="Arial" pitchFamily="34" charset="0"/>
              </a:defRPr>
            </a:lvl3pPr>
            <a:lvl4pPr marL="1147033" indent="-156606">
              <a:lnSpc>
                <a:spcPct val="90000"/>
              </a:lnSpc>
              <a:spcBef>
                <a:spcPts val="600"/>
              </a:spcBef>
              <a:buClrTx/>
              <a:buFont typeface="Arial" panose="020B0604020202020204" pitchFamily="34" charset="0"/>
              <a:buChar char="-"/>
              <a:defRPr sz="2000">
                <a:solidFill>
                  <a:schemeClr val="tx1"/>
                </a:solidFill>
                <a:latin typeface="Arial" pitchFamily="34" charset="0"/>
                <a:cs typeface="Arial" pitchFamily="34" charset="0"/>
              </a:defRPr>
            </a:lvl4pPr>
            <a:lvl5pPr marL="1445431" indent="-150258">
              <a:lnSpc>
                <a:spcPct val="90000"/>
              </a:lnSpc>
              <a:spcBef>
                <a:spcPts val="600"/>
              </a:spcBef>
              <a:buClrTx/>
              <a:buFont typeface="Arial" panose="020B0604020202020204" pitchFamily="34" charset="0"/>
              <a:buChar char="-"/>
              <a:defRPr sz="20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6" name="Freeform 5">
            <a:extLst>
              <a:ext uri="{FF2B5EF4-FFF2-40B4-BE49-F238E27FC236}">
                <a16:creationId xmlns:a16="http://schemas.microsoft.com/office/drawing/2014/main" id="{8C261849-EED4-439D-9D86-D00B5DA1B6C8}"/>
              </a:ext>
            </a:extLst>
          </p:cNvPr>
          <p:cNvSpPr>
            <a:spLocks noChangeAspect="1" noEditPoints="1"/>
          </p:cNvSpPr>
          <p:nvPr userDrawn="1"/>
        </p:nvSpPr>
        <p:spPr bwMode="black">
          <a:xfrm>
            <a:off x="205409" y="423409"/>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
        <p:nvSpPr>
          <p:cNvPr id="8" name="TextBox slide number">
            <a:extLst>
              <a:ext uri="{FF2B5EF4-FFF2-40B4-BE49-F238E27FC236}">
                <a16:creationId xmlns:a16="http://schemas.microsoft.com/office/drawing/2014/main" id="{C14F407B-25FF-40AD-A010-7F4E0497654A}"/>
              </a:ext>
            </a:extLst>
          </p:cNvPr>
          <p:cNvSpPr txBox="1"/>
          <p:nvPr userDrawn="1"/>
        </p:nvSpPr>
        <p:spPr bwMode="white">
          <a:xfrm>
            <a:off x="11751760" y="6395208"/>
            <a:ext cx="440239" cy="246221"/>
          </a:xfrm>
          <a:prstGeom prst="rect">
            <a:avLst/>
          </a:prstGeom>
        </p:spPr>
        <p:txBody>
          <a:bodyPr vert="horz" lIns="0" tIns="0" rIns="0" bIns="0" rtlCol="0" anchor="b"/>
          <a:lstStyle>
            <a:defPPr>
              <a:defRPr lang="en-US"/>
            </a:defPPr>
            <a:lvl1pPr algn="ctr">
              <a:defRPr sz="1000">
                <a:solidFill>
                  <a:schemeClr val="bg1"/>
                </a:solidFill>
              </a:defRPr>
            </a:lvl1pPr>
          </a:lstStyle>
          <a:p>
            <a:pPr lvl="0" algn="ctr"/>
            <a:fld id="{6EA5B71A-1B18-4E34-A48F-65DC4937AA99}" type="slidenum">
              <a:rPr lang="en-US" sz="1000" b="0" smtClean="0">
                <a:solidFill>
                  <a:schemeClr val="tx1"/>
                </a:solidFill>
              </a:rPr>
              <a:pPr lvl="0" algn="ctr"/>
              <a:t>‹#›</a:t>
            </a:fld>
            <a:endParaRPr lang="en-US" sz="1000" b="0" dirty="0">
              <a:solidFill>
                <a:schemeClr val="tx1"/>
              </a:solidFill>
            </a:endParaRPr>
          </a:p>
        </p:txBody>
      </p:sp>
    </p:spTree>
    <p:extLst>
      <p:ext uri="{BB962C8B-B14F-4D97-AF65-F5344CB8AC3E}">
        <p14:creationId xmlns:p14="http://schemas.microsoft.com/office/powerpoint/2010/main" val="40744587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a16="http://schemas.microsoft.com/office/drawing/2014/main">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2_空白">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DBEEF5-5DA5-9F91-63DD-0168D8E3EB8B}"/>
              </a:ext>
            </a:extLst>
          </p:cNvPr>
          <p:cNvSpPr>
            <a:spLocks noGrp="1"/>
          </p:cNvSpPr>
          <p:nvPr>
            <p:ph type="title"/>
          </p:nvPr>
        </p:nvSpPr>
        <p:spPr>
          <a:xfrm>
            <a:off x="886690" y="187035"/>
            <a:ext cx="10714759" cy="457201"/>
          </a:xfrm>
          <a:prstGeom prst="rect">
            <a:avLst/>
          </a:prstGeom>
        </p:spPr>
        <p:txBody>
          <a:bodyPr/>
          <a:lstStyle>
            <a:lvl1pPr>
              <a:defRPr>
                <a:solidFill>
                  <a:schemeClr val="tx1"/>
                </a:solidFill>
                <a:latin typeface="+mj-ea"/>
                <a:ea typeface="+mj-ea"/>
              </a:defRPr>
            </a:lvl1pPr>
          </a:lstStyle>
          <a:p>
            <a:endParaRPr lang="zh-CN" altLang="en-US" dirty="0"/>
          </a:p>
        </p:txBody>
      </p:sp>
    </p:spTree>
    <p:extLst>
      <p:ext uri="{BB962C8B-B14F-4D97-AF65-F5344CB8AC3E}">
        <p14:creationId xmlns:p14="http://schemas.microsoft.com/office/powerpoint/2010/main" val="2720111771"/>
      </p:ext>
    </p:extLst>
  </p:cSld>
  <p:clrMapOvr>
    <a:overrideClrMapping bg1="lt1" tx1="dk1" bg2="lt2" tx2="dk2" accent1="accent1" accent2="accent2" accent3="accent3" accent4="accent4" accent5="accent5" accent6="accent6" hlink="hlink" folHlink="folHlink"/>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4_标题幻灯片">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5B42509E-12FE-156B-B1FC-818C4EC59FB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Rectangle 3">
            <a:extLst>
              <a:ext uri="{FF2B5EF4-FFF2-40B4-BE49-F238E27FC236}">
                <a16:creationId xmlns:a16="http://schemas.microsoft.com/office/drawing/2014/main" id="{12F37E50-CF33-4241-AF80-F4953C679288}"/>
              </a:ext>
            </a:extLst>
          </p:cNvPr>
          <p:cNvSpPr/>
          <p:nvPr userDrawn="1"/>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Rectangle 11">
            <a:extLst>
              <a:ext uri="{FF2B5EF4-FFF2-40B4-BE49-F238E27FC236}">
                <a16:creationId xmlns:a16="http://schemas.microsoft.com/office/drawing/2014/main" id="{0F60084F-F637-4FA4-BE35-D702CF6DAA6A}"/>
              </a:ext>
            </a:extLst>
          </p:cNvPr>
          <p:cNvSpPr/>
          <p:nvPr userDrawn="1"/>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Title 1">
            <a:extLst>
              <a:ext uri="{FF2B5EF4-FFF2-40B4-BE49-F238E27FC236}">
                <a16:creationId xmlns:a16="http://schemas.microsoft.com/office/drawing/2014/main" id="{2869597B-F909-5F67-0679-C0ADB832BB0C}"/>
              </a:ext>
            </a:extLst>
          </p:cNvPr>
          <p:cNvSpPr>
            <a:spLocks noGrp="1"/>
          </p:cNvSpPr>
          <p:nvPr>
            <p:ph type="ctrTitle" hasCustomPrompt="1"/>
          </p:nvPr>
        </p:nvSpPr>
        <p:spPr>
          <a:xfrm>
            <a:off x="1027460" y="2767054"/>
            <a:ext cx="5200650" cy="1794141"/>
          </a:xfrm>
          <a:prstGeom prst="rect">
            <a:avLst/>
          </a:prstGeo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cxnSp>
        <p:nvCxnSpPr>
          <p:cNvPr id="8" name="Straight Connector 13">
            <a:extLst>
              <a:ext uri="{FF2B5EF4-FFF2-40B4-BE49-F238E27FC236}">
                <a16:creationId xmlns:a16="http://schemas.microsoft.com/office/drawing/2014/main" id="{A7BE3E13-E4E5-2397-0174-77949629B0D5}"/>
              </a:ext>
            </a:extLst>
          </p:cNvPr>
          <p:cNvCxnSpPr>
            <a:cxnSpLocks/>
          </p:cNvCxnSpPr>
          <p:nvPr userDrawn="1"/>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4" name="图片 3">
            <a:extLst>
              <a:ext uri="{FF2B5EF4-FFF2-40B4-BE49-F238E27FC236}">
                <a16:creationId xmlns:a16="http://schemas.microsoft.com/office/drawing/2014/main" id="{F90B7826-24A7-BC3C-73C9-9F5F7B19EAE5}"/>
              </a:ext>
            </a:extLst>
          </p:cNvPr>
          <p:cNvPicPr>
            <a:picLocks noChangeAspect="1"/>
          </p:cNvPicPr>
          <p:nvPr userDrawn="1"/>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5" name="图片 4">
            <a:extLst>
              <a:ext uri="{FF2B5EF4-FFF2-40B4-BE49-F238E27FC236}">
                <a16:creationId xmlns:a16="http://schemas.microsoft.com/office/drawing/2014/main" id="{0BDE140C-EF3F-E22F-4A92-E3E962B8277F}"/>
              </a:ext>
            </a:extLst>
          </p:cNvPr>
          <p:cNvPicPr>
            <a:picLocks noChangeAspect="1"/>
          </p:cNvPicPr>
          <p:nvPr userDrawn="1"/>
        </p:nvPicPr>
        <p:blipFill>
          <a:blip r:embed="rId4">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59008970"/>
      </p:ext>
    </p:extLst>
  </p:cSld>
  <p:clrMapOvr>
    <a:overrideClrMapping bg1="lt1" tx1="dk1" bg2="lt2" tx2="dk2" accent1="accent1" accent2="accent2" accent3="accent3" accent4="accent4" accent5="accent5" accent6="accent6" hlink="hlink" folHlink="folHlink"/>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5_标题幻灯片">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C2C7C2A-E334-E5BD-47CD-7B7479086E5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Title 1">
            <a:extLst>
              <a:ext uri="{FF2B5EF4-FFF2-40B4-BE49-F238E27FC236}">
                <a16:creationId xmlns:a16="http://schemas.microsoft.com/office/drawing/2014/main" id="{53FD368F-863D-4527-8F6D-CEC87B7E23EE}"/>
              </a:ext>
            </a:extLst>
          </p:cNvPr>
          <p:cNvSpPr>
            <a:spLocks noGrp="1"/>
          </p:cNvSpPr>
          <p:nvPr>
            <p:ph type="ctrTitle" hasCustomPrompt="1"/>
          </p:nvPr>
        </p:nvSpPr>
        <p:spPr>
          <a:xfrm>
            <a:off x="1029470" y="1862477"/>
            <a:ext cx="5200650" cy="2605695"/>
          </a:xfrm>
          <a:prstGeom prst="rect">
            <a:avLst/>
          </a:prstGeo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sp>
        <p:nvSpPr>
          <p:cNvPr id="4" name="Rectangle 3">
            <a:extLst>
              <a:ext uri="{FF2B5EF4-FFF2-40B4-BE49-F238E27FC236}">
                <a16:creationId xmlns:a16="http://schemas.microsoft.com/office/drawing/2014/main" id="{12F37E50-CF33-4241-AF80-F4953C679288}"/>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Rectangle 11">
            <a:extLst>
              <a:ext uri="{FF2B5EF4-FFF2-40B4-BE49-F238E27FC236}">
                <a16:creationId xmlns:a16="http://schemas.microsoft.com/office/drawing/2014/main" id="{0F60084F-F637-4FA4-BE35-D702CF6DAA6A}"/>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4" name="Straight Connector 13">
            <a:extLst>
              <a:ext uri="{FF2B5EF4-FFF2-40B4-BE49-F238E27FC236}">
                <a16:creationId xmlns:a16="http://schemas.microsoft.com/office/drawing/2014/main" id="{DC3C8D67-DBD4-4831-B956-FBC1F2BA8C47}"/>
              </a:ext>
            </a:extLst>
          </p:cNvPr>
          <p:cNvCxnSpPr>
            <a:cxnSpLocks/>
          </p:cNvCxnSpPr>
          <p:nvPr/>
        </p:nvCxnSpPr>
        <p:spPr>
          <a:xfrm flipV="1">
            <a:off x="957262" y="1862477"/>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3" name="图片 2">
            <a:extLst>
              <a:ext uri="{FF2B5EF4-FFF2-40B4-BE49-F238E27FC236}">
                <a16:creationId xmlns:a16="http://schemas.microsoft.com/office/drawing/2014/main" id="{74BF5D31-C802-5511-E1A1-34DAF124960F}"/>
              </a:ext>
            </a:extLst>
          </p:cNvPr>
          <p:cNvPicPr>
            <a:picLocks noChangeAspect="1"/>
          </p:cNvPicPr>
          <p:nvPr userDrawn="1"/>
        </p:nvPicPr>
        <p:blipFill>
          <a:blip r:embed="rId3">
            <a:duotone>
              <a:prstClr val="black"/>
              <a:schemeClr val="tx2">
                <a:tint val="45000"/>
                <a:satMod val="400000"/>
              </a:schemeClr>
            </a:duotone>
            <a:extLst>
              <a:ext uri="{BEBA8EAE-BF5A-486C-A8C5-ECC9F3942E4B}">
                <a14:imgProps xmlns:a14="http://schemas.microsoft.com/office/drawing/2010/main">
                  <a14:imgLayer r:embed="rId4">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5" name="图片 4">
            <a:extLst>
              <a:ext uri="{FF2B5EF4-FFF2-40B4-BE49-F238E27FC236}">
                <a16:creationId xmlns:a16="http://schemas.microsoft.com/office/drawing/2014/main" id="{D51DAAEB-A801-F029-2DA0-673028BC1641}"/>
              </a:ext>
            </a:extLst>
          </p:cNvPr>
          <p:cNvPicPr>
            <a:picLocks noChangeAspect="1"/>
          </p:cNvPicPr>
          <p:nvPr userDrawn="1"/>
        </p:nvPicPr>
        <p:blipFill>
          <a:blip r:embed="rId5">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1733361472"/>
      </p:ext>
    </p:extLst>
  </p:cSld>
  <p:clrMapOvr>
    <a:overrideClrMapping bg1="lt1" tx1="dk1" bg2="lt2" tx2="dk2" accent1="accent1" accent2="accent2" accent3="accent3" accent4="accent4" accent5="accent5" accent6="accent6" hlink="hlink" folHlink="folHlink"/>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_节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04B5FBE3-2983-7A7E-EDBF-7AD37AC20D3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标题 1"/>
          <p:cNvSpPr>
            <a:spLocks noGrp="1"/>
          </p:cNvSpPr>
          <p:nvPr>
            <p:ph type="title"/>
          </p:nvPr>
        </p:nvSpPr>
        <p:spPr>
          <a:xfrm>
            <a:off x="788155" y="2458832"/>
            <a:ext cx="10363200" cy="1362075"/>
          </a:xfrm>
          <a:prstGeom prst="rect">
            <a:avLst/>
          </a:prstGeom>
        </p:spPr>
        <p:txBody>
          <a:bodyPr anchor="t">
            <a:normAutofit/>
          </a:bodyPr>
          <a:lstStyle>
            <a:lvl1pPr algn="ctr">
              <a:defRPr sz="4400" b="1" cap="all">
                <a:solidFill>
                  <a:schemeClr val="accent1"/>
                </a:solidFill>
              </a:defRPr>
            </a:lvl1pPr>
          </a:lstStyle>
          <a:p>
            <a:endParaRPr lang="zh-CN" altLang="en-US" dirty="0"/>
          </a:p>
        </p:txBody>
      </p:sp>
      <p:pic>
        <p:nvPicPr>
          <p:cNvPr id="3" name="图片 2">
            <a:extLst>
              <a:ext uri="{FF2B5EF4-FFF2-40B4-BE49-F238E27FC236}">
                <a16:creationId xmlns:a16="http://schemas.microsoft.com/office/drawing/2014/main" id="{2B64EF90-A043-CF53-4A64-26B4932B7055}"/>
              </a:ext>
            </a:extLst>
          </p:cNvPr>
          <p:cNvPicPr>
            <a:picLocks noChangeAspect="1"/>
          </p:cNvPicPr>
          <p:nvPr userDrawn="1"/>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4" name="图片 3">
            <a:extLst>
              <a:ext uri="{FF2B5EF4-FFF2-40B4-BE49-F238E27FC236}">
                <a16:creationId xmlns:a16="http://schemas.microsoft.com/office/drawing/2014/main" id="{7FF88E22-8B91-66CE-8127-F4DF49D0C47F}"/>
              </a:ext>
            </a:extLst>
          </p:cNvPr>
          <p:cNvPicPr>
            <a:picLocks noChangeAspect="1"/>
          </p:cNvPicPr>
          <p:nvPr userDrawn="1"/>
        </p:nvPicPr>
        <p:blipFill>
          <a:blip r:embed="rId4">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3095461414"/>
      </p:ext>
    </p:extLst>
  </p:cSld>
  <p:clrMapOvr>
    <a:overrideClrMapping bg1="lt1" tx1="dk1" bg2="lt2" tx2="dk2" accent1="accent1" accent2="accent2" accent3="accent3" accent4="accent4" accent5="accent5" accent6="accent6" hlink="hlink" folHlink="folHlink"/>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3_节标题">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AD9F9ABC-0F7B-6DEB-6195-893CD20C74E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Text Placeholder 4">
            <a:extLst>
              <a:ext uri="{FF2B5EF4-FFF2-40B4-BE49-F238E27FC236}">
                <a16:creationId xmlns:a16="http://schemas.microsoft.com/office/drawing/2014/main" id="{7AF4A77F-477A-42CF-AB01-C5164F0848BA}"/>
              </a:ext>
            </a:extLst>
          </p:cNvPr>
          <p:cNvSpPr>
            <a:spLocks noGrp="1"/>
          </p:cNvSpPr>
          <p:nvPr>
            <p:ph type="body" sz="quarter" idx="10"/>
          </p:nvPr>
        </p:nvSpPr>
        <p:spPr>
          <a:xfrm>
            <a:off x="3447433" y="3111089"/>
            <a:ext cx="4607238" cy="794990"/>
          </a:xfrm>
        </p:spPr>
        <p:txBody>
          <a:bodyPr wrap="none">
            <a:noAutofit/>
          </a:bodyPr>
          <a:lstStyle>
            <a:lvl1pPr marL="0" indent="0" algn="ctr">
              <a:buNone/>
              <a:defRPr sz="4400" b="1" i="0">
                <a:solidFill>
                  <a:schemeClr val="tx1"/>
                </a:solidFill>
                <a:latin typeface="+mj-lt"/>
              </a:defRPr>
            </a:lvl1pPr>
            <a:lvl2pPr marL="457166" indent="0">
              <a:buNone/>
              <a:defRPr b="1">
                <a:solidFill>
                  <a:schemeClr val="bg1"/>
                </a:solidFill>
              </a:defRPr>
            </a:lvl2pPr>
            <a:lvl3pPr marL="914330" indent="0">
              <a:buNone/>
              <a:defRPr b="1">
                <a:solidFill>
                  <a:schemeClr val="bg1"/>
                </a:solidFill>
              </a:defRPr>
            </a:lvl3pPr>
            <a:lvl4pPr marL="1371496" indent="0">
              <a:buNone/>
              <a:defRPr b="1">
                <a:solidFill>
                  <a:schemeClr val="bg1"/>
                </a:solidFill>
              </a:defRPr>
            </a:lvl4pPr>
            <a:lvl5pPr marL="1828663" indent="0">
              <a:buNone/>
              <a:defRPr b="1">
                <a:solidFill>
                  <a:schemeClr val="bg1"/>
                </a:solidFill>
              </a:defRPr>
            </a:lvl5pPr>
          </a:lstStyle>
          <a:p>
            <a:pPr lvl="0"/>
            <a:endParaRPr lang="zh-CN" altLang="en-US" dirty="0"/>
          </a:p>
        </p:txBody>
      </p:sp>
      <p:pic>
        <p:nvPicPr>
          <p:cNvPr id="2" name="图片 1">
            <a:extLst>
              <a:ext uri="{FF2B5EF4-FFF2-40B4-BE49-F238E27FC236}">
                <a16:creationId xmlns:a16="http://schemas.microsoft.com/office/drawing/2014/main" id="{1D90DB62-1BC7-5189-C42C-3D9961ED2577}"/>
              </a:ext>
            </a:extLst>
          </p:cNvPr>
          <p:cNvPicPr>
            <a:picLocks noChangeAspect="1"/>
          </p:cNvPicPr>
          <p:nvPr userDrawn="1"/>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3" name="图片 2">
            <a:extLst>
              <a:ext uri="{FF2B5EF4-FFF2-40B4-BE49-F238E27FC236}">
                <a16:creationId xmlns:a16="http://schemas.microsoft.com/office/drawing/2014/main" id="{0C6513E3-AF68-087D-8BA6-B5B4CB4517E2}"/>
              </a:ext>
            </a:extLst>
          </p:cNvPr>
          <p:cNvPicPr>
            <a:picLocks noChangeAspect="1"/>
          </p:cNvPicPr>
          <p:nvPr userDrawn="1"/>
        </p:nvPicPr>
        <p:blipFill>
          <a:blip r:embed="rId4">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3478189711"/>
      </p:ext>
    </p:extLst>
  </p:cSld>
  <p:clrMapOvr>
    <a:overrideClrMapping bg1="lt1" tx1="dk1" bg2="lt2" tx2="dk2" accent1="accent1" accent2="accent2" accent3="accent3" accent4="accent4" accent5="accent5" accent6="accent6" hlink="hlink" folHlink="folHlink"/>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1_末尾幻灯片">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1880324D-53AD-EC4E-B92F-83312C80ED4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14" name="Rectangle 13">
            <a:extLst>
              <a:ext uri="{FF2B5EF4-FFF2-40B4-BE49-F238E27FC236}">
                <a16:creationId xmlns:a16="http://schemas.microsoft.com/office/drawing/2014/main" id="{4129C334-CACA-4BE1-A84C-41F6820FF127}"/>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Rectangle 14">
            <a:extLst>
              <a:ext uri="{FF2B5EF4-FFF2-40B4-BE49-F238E27FC236}">
                <a16:creationId xmlns:a16="http://schemas.microsoft.com/office/drawing/2014/main" id="{6907BCD2-9008-43D6-B003-96C575232D66}"/>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Freeform: Shape 10">
            <a:extLst>
              <a:ext uri="{FF2B5EF4-FFF2-40B4-BE49-F238E27FC236}">
                <a16:creationId xmlns:a16="http://schemas.microsoft.com/office/drawing/2014/main" id="{0A271160-581E-4BCE-BACF-7271659F1D01}"/>
              </a:ext>
            </a:extLst>
          </p:cNvPr>
          <p:cNvSpPr/>
          <p:nvPr/>
        </p:nvSpPr>
        <p:spPr>
          <a:xfrm>
            <a:off x="12191319" y="0"/>
            <a:ext cx="684" cy="13546"/>
          </a:xfrm>
          <a:custGeom>
            <a:avLst/>
            <a:gdLst>
              <a:gd name="connsiteX0" fmla="*/ 0 w 684"/>
              <a:gd name="connsiteY0" fmla="*/ 0 h 13546"/>
              <a:gd name="connsiteX1" fmla="*/ 684 w 684"/>
              <a:gd name="connsiteY1" fmla="*/ 0 h 13546"/>
              <a:gd name="connsiteX2" fmla="*/ 684 w 684"/>
              <a:gd name="connsiteY2" fmla="*/ 13546 h 13546"/>
              <a:gd name="connsiteX3" fmla="*/ 0 w 684"/>
              <a:gd name="connsiteY3" fmla="*/ 0 h 13546"/>
            </a:gdLst>
            <a:ahLst/>
            <a:cxnLst>
              <a:cxn ang="0">
                <a:pos x="connsiteX0" y="connsiteY0"/>
              </a:cxn>
              <a:cxn ang="0">
                <a:pos x="connsiteX1" y="connsiteY1"/>
              </a:cxn>
              <a:cxn ang="0">
                <a:pos x="connsiteX2" y="connsiteY2"/>
              </a:cxn>
              <a:cxn ang="0">
                <a:pos x="connsiteX3" y="connsiteY3"/>
              </a:cxn>
            </a:cxnLst>
            <a:rect l="l" t="t" r="r" b="b"/>
            <a:pathLst>
              <a:path w="684" h="13546">
                <a:moveTo>
                  <a:pt x="0" y="0"/>
                </a:moveTo>
                <a:lnTo>
                  <a:pt x="684" y="0"/>
                </a:lnTo>
                <a:lnTo>
                  <a:pt x="684" y="13546"/>
                </a:lnTo>
                <a:lnTo>
                  <a:pt x="0" y="0"/>
                </a:lnTo>
                <a:close/>
              </a:path>
            </a:pathLst>
          </a:custGeom>
          <a:solidFill>
            <a:schemeClr val="bg1"/>
          </a:solidFill>
          <a:ln w="14015" cap="flat">
            <a:noFill/>
            <a:prstDash val="solid"/>
            <a:miter/>
          </a:ln>
        </p:spPr>
        <p:txBody>
          <a:bodyPr wrap="square" rtlCol="0" anchor="ctr">
            <a:noAutofit/>
          </a:bodyPr>
          <a:lstStyle/>
          <a:p>
            <a:endParaRPr lang="zh-CN" altLang="en-US" sz="1800">
              <a:solidFill>
                <a:schemeClr val="tx1"/>
              </a:solidFill>
            </a:endParaRPr>
          </a:p>
        </p:txBody>
      </p:sp>
      <p:sp>
        <p:nvSpPr>
          <p:cNvPr id="27" name="Text Placeholder 26">
            <a:extLst>
              <a:ext uri="{FF2B5EF4-FFF2-40B4-BE49-F238E27FC236}">
                <a16:creationId xmlns:a16="http://schemas.microsoft.com/office/drawing/2014/main" id="{FEA7D86A-A334-4E0C-B01B-43F345A176DE}"/>
              </a:ext>
            </a:extLst>
          </p:cNvPr>
          <p:cNvSpPr>
            <a:spLocks noGrp="1"/>
          </p:cNvSpPr>
          <p:nvPr>
            <p:ph type="body" sz="quarter" idx="12" hasCustomPrompt="1"/>
          </p:nvPr>
        </p:nvSpPr>
        <p:spPr>
          <a:xfrm>
            <a:off x="8314441" y="6082576"/>
            <a:ext cx="3204458" cy="230832"/>
          </a:xfrm>
        </p:spPr>
        <p:txBody>
          <a:bodyPr vert="horz" wrap="none" lIns="91440" tIns="45720" rIns="91440" bIns="45720" rtlCol="0" anchor="ctr">
            <a:noAutofit/>
          </a:bodyPr>
          <a:lstStyle>
            <a:lvl1pPr>
              <a:defRPr lang="en-US" altLang="zh-CN" sz="1600" b="1" dirty="0">
                <a:ln>
                  <a:noFill/>
                </a:ln>
                <a:solidFill>
                  <a:schemeClr val="accent1"/>
                </a:solidFill>
                <a:latin typeface="+mj-lt"/>
                <a:ea typeface="+mj-ea"/>
                <a:cs typeface="+mj-cs"/>
              </a:defRPr>
            </a:lvl1pPr>
          </a:lstStyle>
          <a:p>
            <a:pPr marL="228573" marR="0" lvl="0" indent="-228573" algn="r" defTabSz="914332" rtl="0" eaLnBrk="1" fontAlgn="auto" latinLnBrk="0" hangingPunct="1">
              <a:lnSpc>
                <a:spcPct val="90000"/>
              </a:lnSpc>
              <a:spcBef>
                <a:spcPct val="0"/>
              </a:spcBef>
              <a:spcAft>
                <a:spcPts val="0"/>
              </a:spcAft>
              <a:buClrTx/>
              <a:buSzTx/>
              <a:buFont typeface="Arial" panose="020B0604020202020204" pitchFamily="34" charset="0"/>
              <a:buNone/>
              <a:tabLst/>
              <a:defRPr/>
            </a:pPr>
            <a:r>
              <a:rPr lang="en-US" altLang="zh-CN" dirty="0"/>
              <a:t>Grit</a:t>
            </a:r>
          </a:p>
        </p:txBody>
      </p:sp>
      <p:sp>
        <p:nvSpPr>
          <p:cNvPr id="3" name="Text Placeholder 2">
            <a:extLst>
              <a:ext uri="{FF2B5EF4-FFF2-40B4-BE49-F238E27FC236}">
                <a16:creationId xmlns:a16="http://schemas.microsoft.com/office/drawing/2014/main" id="{FC1A48BB-A1A1-4744-B0D3-FD4F42C33B9B}"/>
              </a:ext>
            </a:extLst>
          </p:cNvPr>
          <p:cNvSpPr>
            <a:spLocks noGrp="1"/>
          </p:cNvSpPr>
          <p:nvPr>
            <p:ph type="body" sz="quarter" idx="13" hasCustomPrompt="1"/>
          </p:nvPr>
        </p:nvSpPr>
        <p:spPr>
          <a:xfrm>
            <a:off x="714723" y="2737247"/>
            <a:ext cx="5842001" cy="1383506"/>
          </a:xfrm>
        </p:spPr>
        <p:txBody>
          <a:bodyPr vert="horz" lIns="91440" tIns="45720" rIns="91440" bIns="45720" rtlCol="0" anchor="b">
            <a:noAutofit/>
          </a:bodyPr>
          <a:lstStyle>
            <a:lvl1pPr algn="l">
              <a:defRPr lang="en-US" altLang="zh-CN" sz="8000" b="1" i="0" dirty="0">
                <a:solidFill>
                  <a:srgbClr val="FFFFFF"/>
                </a:solidFill>
                <a:latin typeface="+mj-lt"/>
                <a:ea typeface="+mj-ea"/>
                <a:cs typeface="+mj-cs"/>
              </a:defRPr>
            </a:lvl1pPr>
          </a:lstStyle>
          <a:p>
            <a:pPr lvl="0">
              <a:spcBef>
                <a:spcPct val="0"/>
              </a:spcBef>
              <a:buNone/>
            </a:pPr>
            <a:r>
              <a:rPr lang="en-US" altLang="zh-CN" dirty="0"/>
              <a:t>Thank you</a:t>
            </a:r>
          </a:p>
        </p:txBody>
      </p:sp>
      <p:pic>
        <p:nvPicPr>
          <p:cNvPr id="7" name="图片 6">
            <a:extLst>
              <a:ext uri="{FF2B5EF4-FFF2-40B4-BE49-F238E27FC236}">
                <a16:creationId xmlns:a16="http://schemas.microsoft.com/office/drawing/2014/main" id="{ACA91101-6551-CFAC-38BE-CAD07DFA046C}"/>
              </a:ext>
            </a:extLst>
          </p:cNvPr>
          <p:cNvPicPr>
            <a:picLocks noChangeAspect="1"/>
          </p:cNvPicPr>
          <p:nvPr userDrawn="1"/>
        </p:nvPicPr>
        <p:blipFill>
          <a:blip r:embed="rId3">
            <a:duotone>
              <a:schemeClr val="bg2">
                <a:shade val="45000"/>
                <a:satMod val="135000"/>
              </a:schemeClr>
              <a:prstClr val="white"/>
            </a:duotone>
            <a:extLst>
              <a:ext uri="{BEBA8EAE-BF5A-486C-A8C5-ECC9F3942E4B}">
                <a14:imgProps xmlns:a14="http://schemas.microsoft.com/office/drawing/2010/main">
                  <a14:imgLayer r:embed="rId4">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8213598" y="2801933"/>
            <a:ext cx="3516518" cy="1579597"/>
          </a:xfrm>
          <a:prstGeom prst="rect">
            <a:avLst/>
          </a:prstGeom>
        </p:spPr>
      </p:pic>
      <p:pic>
        <p:nvPicPr>
          <p:cNvPr id="4" name="图片 3">
            <a:extLst>
              <a:ext uri="{FF2B5EF4-FFF2-40B4-BE49-F238E27FC236}">
                <a16:creationId xmlns:a16="http://schemas.microsoft.com/office/drawing/2014/main" id="{16367A13-8D37-4D16-02BF-867DB1639451}"/>
              </a:ext>
            </a:extLst>
          </p:cNvPr>
          <p:cNvPicPr>
            <a:picLocks noChangeAspect="1"/>
          </p:cNvPicPr>
          <p:nvPr userDrawn="1"/>
        </p:nvPicPr>
        <p:blipFill>
          <a:blip r:embed="rId5">
            <a:duotone>
              <a:prstClr val="black"/>
              <a:schemeClr val="tx2">
                <a:tint val="45000"/>
                <a:satMod val="400000"/>
              </a:schemeClr>
            </a:duotone>
            <a:extLst>
              <a:ext uri="{BEBA8EAE-BF5A-486C-A8C5-ECC9F3942E4B}">
                <a14:imgProps xmlns:a14="http://schemas.microsoft.com/office/drawing/2010/main">
                  <a14:imgLayer r:embed="rId6">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5" name="图片 4">
            <a:extLst>
              <a:ext uri="{FF2B5EF4-FFF2-40B4-BE49-F238E27FC236}">
                <a16:creationId xmlns:a16="http://schemas.microsoft.com/office/drawing/2014/main" id="{0BEF51FA-017F-F0D1-9466-B21881B7CA77}"/>
              </a:ext>
            </a:extLst>
          </p:cNvPr>
          <p:cNvPicPr>
            <a:picLocks noChangeAspect="1"/>
          </p:cNvPicPr>
          <p:nvPr userDrawn="1"/>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2273374546"/>
      </p:ext>
    </p:extLst>
  </p:cSld>
  <p:clrMapOvr>
    <a:overrideClrMapping bg1="lt1" tx1="dk1" bg2="lt2" tx2="dk2" accent1="accent1" accent2="accent2" accent3="accent3" accent4="accent4" accent5="accent5" accent6="accent6" hlink="hlink" folHlink="folHlink"/>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2_Title Slide">
    <p:spTree>
      <p:nvGrpSpPr>
        <p:cNvPr id="1" name=""/>
        <p:cNvGrpSpPr/>
        <p:nvPr/>
      </p:nvGrpSpPr>
      <p:grpSpPr>
        <a:xfrm>
          <a:off x="0" y="0"/>
          <a:ext cx="0" cy="0"/>
          <a:chOff x="0" y="0"/>
          <a:chExt cx="0" cy="0"/>
        </a:xfrm>
      </p:grpSpPr>
      <p:grpSp>
        <p:nvGrpSpPr>
          <p:cNvPr id="40" name="组合 39"/>
          <p:cNvGrpSpPr/>
          <p:nvPr/>
        </p:nvGrpSpPr>
        <p:grpSpPr>
          <a:xfrm>
            <a:off x="0" y="0"/>
            <a:ext cx="12192001" cy="6858001"/>
            <a:chOff x="0" y="0"/>
            <a:chExt cx="12192001" cy="6858001"/>
          </a:xfrm>
        </p:grpSpPr>
        <p:sp>
          <p:nvSpPr>
            <p:cNvPr id="26" name="任意多边形: 形状 25"/>
            <p:cNvSpPr/>
            <p:nvPr userDrawn="1"/>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7" name="图片 26"/>
            <p:cNvPicPr>
              <a:picLocks noChangeAspect="1"/>
            </p:cNvPicPr>
            <p:nvPr/>
          </p:nvPicPr>
          <p:blipFill>
            <a:blip r:embed="rId3">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userDrawn="1"/>
          </p:nvGrpSpPr>
          <p:grpSpPr>
            <a:xfrm rot="16200000">
              <a:off x="10661887" y="5765801"/>
              <a:ext cx="783772" cy="783772"/>
              <a:chOff x="9052852" y="3572185"/>
              <a:chExt cx="344753" cy="344753"/>
            </a:xfrm>
          </p:grpSpPr>
          <p:grpSp>
            <p:nvGrpSpPr>
              <p:cNvPr id="55" name="组合 54"/>
              <p:cNvGrpSpPr/>
              <p:nvPr userDrawn="1"/>
            </p:nvGrpSpPr>
            <p:grpSpPr>
              <a:xfrm flipV="1">
                <a:off x="9052852" y="3572185"/>
                <a:ext cx="344753" cy="344753"/>
                <a:chOff x="2909263" y="4352415"/>
                <a:chExt cx="93625" cy="93625"/>
              </a:xfrm>
            </p:grpSpPr>
            <p:sp>
              <p:nvSpPr>
                <p:cNvPr id="57" name="椭圆 56"/>
                <p:cNvSpPr/>
                <p:nvPr userDrawn="1"/>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userDrawn="1"/>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userDrawn="1"/>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8" name="标题 4">
            <a:extLst>
              <a:ext uri="{FF2B5EF4-FFF2-40B4-BE49-F238E27FC236}">
                <a16:creationId xmlns:a16="http://schemas.microsoft.com/office/drawing/2014/main" id="{D4E51AF3-4B86-C068-61E8-F89039CF3D69}"/>
              </a:ext>
            </a:extLst>
          </p:cNvPr>
          <p:cNvSpPr>
            <a:spLocks noGrp="1"/>
          </p:cNvSpPr>
          <p:nvPr>
            <p:ph type="ctrTitle" hasCustomPrompt="1"/>
          </p:nvPr>
        </p:nvSpPr>
        <p:spPr>
          <a:xfrm>
            <a:off x="4594541" y="1855139"/>
            <a:ext cx="6749372" cy="2587173"/>
          </a:xfrm>
          <a:prstGeom prst="rect">
            <a:avLst/>
          </a:prstGeom>
        </p:spPr>
        <p:txBody>
          <a:bodyPr wrap="square" anchor="b">
            <a:normAutofit/>
          </a:bodyPr>
          <a:lstStyle>
            <a:lvl1pPr algn="ctr">
              <a:lnSpc>
                <a:spcPct val="100000"/>
              </a:lnSpc>
              <a:defRPr sz="5400">
                <a:ln w="19050">
                  <a:noFill/>
                </a:ln>
                <a:solidFill>
                  <a:schemeClr val="tx1"/>
                </a:solidFill>
              </a:defRPr>
            </a:lvl1pPr>
          </a:lstStyle>
          <a:p>
            <a:pPr lvl="0"/>
            <a:r>
              <a:rPr lang="en-US" altLang="zh-CN" dirty="0"/>
              <a:t>Intelligent Planning     &amp; </a:t>
            </a:r>
            <a:br>
              <a:rPr lang="en-US" altLang="zh-CN" dirty="0"/>
            </a:br>
            <a:r>
              <a:rPr lang="en-US" altLang="zh-CN" dirty="0"/>
              <a:t>Control Tower</a:t>
            </a:r>
            <a:endParaRPr lang="en-US" dirty="0"/>
          </a:p>
        </p:txBody>
      </p:sp>
      <p:pic>
        <p:nvPicPr>
          <p:cNvPr id="3" name="图片 2">
            <a:extLst>
              <a:ext uri="{FF2B5EF4-FFF2-40B4-BE49-F238E27FC236}">
                <a16:creationId xmlns:a16="http://schemas.microsoft.com/office/drawing/2014/main" id="{28F19448-DCD7-2BCE-82BA-95A656302291}"/>
              </a:ext>
            </a:extLst>
          </p:cNvPr>
          <p:cNvPicPr>
            <a:picLocks noChangeAspect="1"/>
          </p:cNvPicPr>
          <p:nvPr userDrawn="1"/>
        </p:nvPicPr>
        <p:blipFill>
          <a:blip r:embed="rId5">
            <a:duotone>
              <a:prstClr val="black"/>
              <a:schemeClr val="tx2">
                <a:tint val="45000"/>
                <a:satMod val="400000"/>
              </a:schemeClr>
            </a:duotone>
            <a:extLst>
              <a:ext uri="{BEBA8EAE-BF5A-486C-A8C5-ECC9F3942E4B}">
                <a14:imgProps xmlns:a14="http://schemas.microsoft.com/office/drawing/2010/main">
                  <a14:imgLayer r:embed="rId6">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
        <p:nvSpPr>
          <p:cNvPr id="4" name="文本框 3">
            <a:extLst>
              <a:ext uri="{FF2B5EF4-FFF2-40B4-BE49-F238E27FC236}">
                <a16:creationId xmlns:a16="http://schemas.microsoft.com/office/drawing/2014/main" id="{7C0BEDAE-EB8C-24D6-C6AF-B8C73A0C8E8B}"/>
              </a:ext>
            </a:extLst>
          </p:cNvPr>
          <p:cNvSpPr txBox="1"/>
          <p:nvPr userDrawn="1"/>
        </p:nvSpPr>
        <p:spPr>
          <a:xfrm>
            <a:off x="1104756" y="2579023"/>
            <a:ext cx="1946564" cy="1107996"/>
          </a:xfrm>
          <a:prstGeom prst="rect">
            <a:avLst/>
          </a:prstGeom>
          <a:noFill/>
        </p:spPr>
        <p:txBody>
          <a:bodyPr wrap="square" rtlCol="0">
            <a:spAutoFit/>
          </a:bodyPr>
          <a:lstStyle/>
          <a:p>
            <a:r>
              <a:rPr lang="en-US" altLang="zh-CN" sz="6600" b="1" dirty="0">
                <a:latin typeface="+mj-ea"/>
                <a:ea typeface="+mj-ea"/>
              </a:rPr>
              <a:t>IPC</a:t>
            </a:r>
            <a:endParaRPr lang="zh-CN" altLang="en-US" sz="6600" b="1" dirty="0">
              <a:latin typeface="+mj-ea"/>
              <a:ea typeface="+mj-ea"/>
            </a:endParaRPr>
          </a:p>
        </p:txBody>
      </p:sp>
      <p:pic>
        <p:nvPicPr>
          <p:cNvPr id="2" name="图片 1">
            <a:extLst>
              <a:ext uri="{FF2B5EF4-FFF2-40B4-BE49-F238E27FC236}">
                <a16:creationId xmlns:a16="http://schemas.microsoft.com/office/drawing/2014/main" id="{0BEF51FA-017F-F0D1-9466-B21881B7CA77}"/>
              </a:ext>
            </a:extLst>
          </p:cNvPr>
          <p:cNvPicPr>
            <a:picLocks noChangeAspect="1"/>
          </p:cNvPicPr>
          <p:nvPr userDrawn="1"/>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5627437" y="3167173"/>
            <a:ext cx="937127" cy="523654"/>
          </a:xfrm>
          <a:prstGeom prst="rect">
            <a:avLst/>
          </a:prstGeom>
        </p:spPr>
      </p:pic>
      <p:pic>
        <p:nvPicPr>
          <p:cNvPr id="5" name="图片 4">
            <a:extLst>
              <a:ext uri="{FF2B5EF4-FFF2-40B4-BE49-F238E27FC236}">
                <a16:creationId xmlns:a16="http://schemas.microsoft.com/office/drawing/2014/main" id="{0BEF51FA-017F-F0D1-9466-B21881B7CA77}"/>
              </a:ext>
            </a:extLst>
          </p:cNvPr>
          <p:cNvPicPr>
            <a:picLocks noChangeAspect="1"/>
          </p:cNvPicPr>
          <p:nvPr userDrawn="1"/>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5779837" y="3319573"/>
            <a:ext cx="937127" cy="523654"/>
          </a:xfrm>
          <a:prstGeom prst="rect">
            <a:avLst/>
          </a:prstGeom>
        </p:spPr>
      </p:pic>
    </p:spTree>
    <p:extLst>
      <p:ext uri="{BB962C8B-B14F-4D97-AF65-F5344CB8AC3E}">
        <p14:creationId xmlns:p14="http://schemas.microsoft.com/office/powerpoint/2010/main" val="3001983129"/>
      </p:ext>
    </p:extLst>
  </p:cSld>
  <p:clrMapOvr>
    <a:overrideClrMapping bg1="lt1" tx1="dk1" bg2="lt2" tx2="dk2" accent1="accent1" accent2="accent2" accent3="accent3" accent4="accent4" accent5="accent5" accent6="accent6" hlink="hlink" folHlink="folHlink"/>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3_空白">
    <p:spTree>
      <p:nvGrpSpPr>
        <p:cNvPr id="1" name=""/>
        <p:cNvGrpSpPr/>
        <p:nvPr/>
      </p:nvGrpSpPr>
      <p:grpSpPr>
        <a:xfrm>
          <a:off x="0" y="0"/>
          <a:ext cx="0" cy="0"/>
          <a:chOff x="0" y="0"/>
          <a:chExt cx="0" cy="0"/>
        </a:xfrm>
      </p:grpSpPr>
      <p:sp>
        <p:nvSpPr>
          <p:cNvPr id="5" name="矩形 4"/>
          <p:cNvSpPr/>
          <p:nvPr/>
        </p:nvSpPr>
        <p:spPr>
          <a:xfrm>
            <a:off x="0" y="6729413"/>
            <a:ext cx="12192000" cy="128587"/>
          </a:xfrm>
          <a:prstGeom prst="rect">
            <a:avLst/>
          </a:prstGeom>
          <a:gradFill>
            <a:gsLst>
              <a:gs pos="0">
                <a:schemeClr val="accent2"/>
              </a:gs>
              <a:gs pos="100000">
                <a:schemeClr val="accent1"/>
              </a:gs>
            </a:gsLst>
            <a:lin ang="10800000" scaled="1"/>
          </a:gradFill>
          <a:ln w="19050">
            <a:noFill/>
            <a:round/>
          </a:ln>
        </p:spPr>
        <p:txBody>
          <a:bodyPr vert="horz" wrap="square" lIns="91440" tIns="45720" rIns="91440" bIns="45720" numCol="1" spcCol="0" rtlCol="0" fromWordArt="0" anchor="ctr" anchorCtr="1" forceAA="0" compatLnSpc="1">
            <a:noAutofit/>
          </a:bodyPr>
          <a:lstStyle/>
          <a:p>
            <a:pPr lvl="0" algn="ctr"/>
            <a:endParaRPr lang="zh-CN" altLang="en-US" sz="1200" b="1">
              <a:solidFill>
                <a:schemeClr val="tx1"/>
              </a:solidFill>
            </a:endParaRPr>
          </a:p>
        </p:txBody>
      </p:sp>
    </p:spTree>
    <p:extLst>
      <p:ext uri="{BB962C8B-B14F-4D97-AF65-F5344CB8AC3E}">
        <p14:creationId xmlns:p14="http://schemas.microsoft.com/office/powerpoint/2010/main" val="1564742710"/>
      </p:ext>
    </p:extLst>
  </p:cSld>
  <p:clrMapOvr>
    <a:overrideClrMapping bg1="lt1" tx1="dk1" bg2="lt2" tx2="dk2" accent1="accent1" accent2="accent2" accent3="accent3" accent4="accent4" accent5="accent5" accent6="accent6" hlink="hlink" folHlink="folHlink"/>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1_标题幻灯片">
    <p:spTree>
      <p:nvGrpSpPr>
        <p:cNvPr id="1" name=""/>
        <p:cNvGrpSpPr/>
        <p:nvPr/>
      </p:nvGrpSpPr>
      <p:grpSpPr>
        <a:xfrm>
          <a:off x="0" y="0"/>
          <a:ext cx="0" cy="0"/>
          <a:chOff x="0" y="0"/>
          <a:chExt cx="0" cy="0"/>
        </a:xfrm>
      </p:grpSpPr>
      <p:pic>
        <p:nvPicPr>
          <p:cNvPr id="19" name="图片 18">
            <a:extLst>
              <a:ext uri="{FF2B5EF4-FFF2-40B4-BE49-F238E27FC236}">
                <a16:creationId xmlns:a16="http://schemas.microsoft.com/office/drawing/2014/main" id="{BE0DAE40-464B-542A-F3CA-72C57176CEA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200452" cy="7039661"/>
          </a:xfrm>
          <a:prstGeom prst="rect">
            <a:avLst/>
          </a:prstGeom>
        </p:spPr>
      </p:pic>
      <p:sp>
        <p:nvSpPr>
          <p:cNvPr id="2" name="Rectangle 3">
            <a:extLst>
              <a:ext uri="{FF2B5EF4-FFF2-40B4-BE49-F238E27FC236}">
                <a16:creationId xmlns:a16="http://schemas.microsoft.com/office/drawing/2014/main" id="{12F37E50-CF33-4241-AF80-F4953C679288}"/>
              </a:ext>
            </a:extLst>
          </p:cNvPr>
          <p:cNvSpPr/>
          <p:nvPr/>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Rectangle 11">
            <a:extLst>
              <a:ext uri="{FF2B5EF4-FFF2-40B4-BE49-F238E27FC236}">
                <a16:creationId xmlns:a16="http://schemas.microsoft.com/office/drawing/2014/main" id="{0F60084F-F637-4FA4-BE35-D702CF6DAA6A}"/>
              </a:ext>
            </a:extLst>
          </p:cNvPr>
          <p:cNvSpPr/>
          <p:nvPr/>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Title 1">
            <a:extLst>
              <a:ext uri="{FF2B5EF4-FFF2-40B4-BE49-F238E27FC236}">
                <a16:creationId xmlns:a16="http://schemas.microsoft.com/office/drawing/2014/main" id="{2869597B-F909-5F67-0679-C0ADB832BB0C}"/>
              </a:ext>
            </a:extLst>
          </p:cNvPr>
          <p:cNvSpPr>
            <a:spLocks noGrp="1"/>
          </p:cNvSpPr>
          <p:nvPr>
            <p:ph type="ctrTitle" hasCustomPrompt="1"/>
          </p:nvPr>
        </p:nvSpPr>
        <p:spPr>
          <a:xfrm>
            <a:off x="1027460" y="2767054"/>
            <a:ext cx="5200650" cy="1794141"/>
          </a:xfr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cxnSp>
        <p:nvCxnSpPr>
          <p:cNvPr id="8" name="Straight Connector 13">
            <a:extLst>
              <a:ext uri="{FF2B5EF4-FFF2-40B4-BE49-F238E27FC236}">
                <a16:creationId xmlns:a16="http://schemas.microsoft.com/office/drawing/2014/main" id="{A7BE3E13-E4E5-2397-0174-77949629B0D5}"/>
              </a:ext>
            </a:extLst>
          </p:cNvPr>
          <p:cNvCxnSpPr>
            <a:cxnSpLocks/>
          </p:cNvCxnSpPr>
          <p:nvPr/>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4" name="图片 3">
            <a:extLst>
              <a:ext uri="{FF2B5EF4-FFF2-40B4-BE49-F238E27FC236}">
                <a16:creationId xmlns:a16="http://schemas.microsoft.com/office/drawing/2014/main" id="{E96A4A0C-29EC-8C3E-D594-13ECAD0B336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Rectangle 3">
            <a:extLst>
              <a:ext uri="{FF2B5EF4-FFF2-40B4-BE49-F238E27FC236}">
                <a16:creationId xmlns:a16="http://schemas.microsoft.com/office/drawing/2014/main" id="{A1C87679-80C6-AE99-8DAA-AABF3C22FC41}"/>
              </a:ext>
            </a:extLst>
          </p:cNvPr>
          <p:cNvSpPr/>
          <p:nvPr userDrawn="1"/>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Rectangle 11">
            <a:extLst>
              <a:ext uri="{FF2B5EF4-FFF2-40B4-BE49-F238E27FC236}">
                <a16:creationId xmlns:a16="http://schemas.microsoft.com/office/drawing/2014/main" id="{066661E8-8677-3293-5AAC-326D368AABAB}"/>
              </a:ext>
            </a:extLst>
          </p:cNvPr>
          <p:cNvSpPr/>
          <p:nvPr userDrawn="1"/>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9" name="Straight Connector 13">
            <a:extLst>
              <a:ext uri="{FF2B5EF4-FFF2-40B4-BE49-F238E27FC236}">
                <a16:creationId xmlns:a16="http://schemas.microsoft.com/office/drawing/2014/main" id="{DC9115AD-2831-67A5-AD90-EEEFA56EA9EF}"/>
              </a:ext>
            </a:extLst>
          </p:cNvPr>
          <p:cNvCxnSpPr>
            <a:cxnSpLocks/>
          </p:cNvCxnSpPr>
          <p:nvPr userDrawn="1"/>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10" name="图片 9">
            <a:extLst>
              <a:ext uri="{FF2B5EF4-FFF2-40B4-BE49-F238E27FC236}">
                <a16:creationId xmlns:a16="http://schemas.microsoft.com/office/drawing/2014/main" id="{81114C14-9BAA-470F-E3EF-5D0EA90EE792}"/>
              </a:ext>
            </a:extLst>
          </p:cNvPr>
          <p:cNvPicPr>
            <a:picLocks noChangeAspect="1"/>
          </p:cNvPicPr>
          <p:nvPr userDrawn="1"/>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11" name="图片 10">
            <a:extLst>
              <a:ext uri="{FF2B5EF4-FFF2-40B4-BE49-F238E27FC236}">
                <a16:creationId xmlns:a16="http://schemas.microsoft.com/office/drawing/2014/main" id="{0C8A08A5-2F8F-C0CD-6BE3-8EF426240607}"/>
              </a:ext>
            </a:extLst>
          </p:cNvPr>
          <p:cNvPicPr>
            <a:picLocks noChangeAspect="1"/>
          </p:cNvPicPr>
          <p:nvPr userDrawn="1"/>
        </p:nvPicPr>
        <p:blipFill>
          <a:blip r:embed="rId4">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3860266210"/>
      </p:ext>
    </p:extLst>
  </p:cSld>
  <p:clrMapOvr>
    <a:overrideClrMapping bg1="lt1" tx1="dk1" bg2="lt2" tx2="dk2" accent1="accent1" accent2="accent2" accent3="accent3" accent4="accent4" accent5="accent5" accent6="accent6" hlink="hlink" folHlink="folHlink"/>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标题幻灯片">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01C2BD55-C666-8B43-19FA-C2F61102392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Title 1">
            <a:extLst>
              <a:ext uri="{FF2B5EF4-FFF2-40B4-BE49-F238E27FC236}">
                <a16:creationId xmlns:a16="http://schemas.microsoft.com/office/drawing/2014/main" id="{53FD368F-863D-4527-8F6D-CEC87B7E23EE}"/>
              </a:ext>
            </a:extLst>
          </p:cNvPr>
          <p:cNvSpPr>
            <a:spLocks noGrp="1"/>
          </p:cNvSpPr>
          <p:nvPr>
            <p:ph type="ctrTitle" hasCustomPrompt="1"/>
          </p:nvPr>
        </p:nvSpPr>
        <p:spPr>
          <a:xfrm>
            <a:off x="1029470" y="1862477"/>
            <a:ext cx="5200650" cy="2605695"/>
          </a:xfr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sp>
        <p:nvSpPr>
          <p:cNvPr id="4" name="Rectangle 3">
            <a:extLst>
              <a:ext uri="{FF2B5EF4-FFF2-40B4-BE49-F238E27FC236}">
                <a16:creationId xmlns:a16="http://schemas.microsoft.com/office/drawing/2014/main" id="{12F37E50-CF33-4241-AF80-F4953C679288}"/>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Rectangle 11">
            <a:extLst>
              <a:ext uri="{FF2B5EF4-FFF2-40B4-BE49-F238E27FC236}">
                <a16:creationId xmlns:a16="http://schemas.microsoft.com/office/drawing/2014/main" id="{0F60084F-F637-4FA4-BE35-D702CF6DAA6A}"/>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4" name="Straight Connector 13">
            <a:extLst>
              <a:ext uri="{FF2B5EF4-FFF2-40B4-BE49-F238E27FC236}">
                <a16:creationId xmlns:a16="http://schemas.microsoft.com/office/drawing/2014/main" id="{DC3C8D67-DBD4-4831-B956-FBC1F2BA8C47}"/>
              </a:ext>
            </a:extLst>
          </p:cNvPr>
          <p:cNvCxnSpPr>
            <a:cxnSpLocks/>
          </p:cNvCxnSpPr>
          <p:nvPr/>
        </p:nvCxnSpPr>
        <p:spPr>
          <a:xfrm flipV="1">
            <a:off x="957262" y="1862477"/>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7792054"/>
      </p:ext>
    </p:extLst>
  </p:cSld>
  <p:clrMapOvr>
    <a:overrideClrMapping bg1="lt1" tx1="dk1" bg2="lt2" tx2="dk2" accent1="accent1" accent2="accent2" accent3="accent3" accent4="accent4" accent5="accent5" accent6="accent6" hlink="hlink" folHlink="folHlink"/>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节标题">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AD9F9ABC-0F7B-6DEB-6195-893CD20C74E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Text Placeholder 4">
            <a:extLst>
              <a:ext uri="{FF2B5EF4-FFF2-40B4-BE49-F238E27FC236}">
                <a16:creationId xmlns:a16="http://schemas.microsoft.com/office/drawing/2014/main" id="{7AF4A77F-477A-42CF-AB01-C5164F0848BA}"/>
              </a:ext>
            </a:extLst>
          </p:cNvPr>
          <p:cNvSpPr>
            <a:spLocks noGrp="1"/>
          </p:cNvSpPr>
          <p:nvPr>
            <p:ph type="body" sz="quarter" idx="10"/>
          </p:nvPr>
        </p:nvSpPr>
        <p:spPr>
          <a:xfrm>
            <a:off x="3447433" y="3111089"/>
            <a:ext cx="4607238" cy="794990"/>
          </a:xfrm>
        </p:spPr>
        <p:txBody>
          <a:bodyPr wrap="none">
            <a:noAutofit/>
          </a:bodyPr>
          <a:lstStyle>
            <a:lvl1pPr marL="0" indent="0" algn="ctr">
              <a:buNone/>
              <a:defRPr sz="4400" b="1" i="0">
                <a:solidFill>
                  <a:schemeClr val="tx1"/>
                </a:solidFill>
                <a:latin typeface="+mj-lt"/>
              </a:defRPr>
            </a:lvl1pPr>
            <a:lvl2pPr marL="457166" indent="0">
              <a:buNone/>
              <a:defRPr b="1">
                <a:solidFill>
                  <a:schemeClr val="bg1"/>
                </a:solidFill>
              </a:defRPr>
            </a:lvl2pPr>
            <a:lvl3pPr marL="914330" indent="0">
              <a:buNone/>
              <a:defRPr b="1">
                <a:solidFill>
                  <a:schemeClr val="bg1"/>
                </a:solidFill>
              </a:defRPr>
            </a:lvl3pPr>
            <a:lvl4pPr marL="1371496" indent="0">
              <a:buNone/>
              <a:defRPr b="1">
                <a:solidFill>
                  <a:schemeClr val="bg1"/>
                </a:solidFill>
              </a:defRPr>
            </a:lvl4pPr>
            <a:lvl5pPr marL="1828663" indent="0">
              <a:buNone/>
              <a:defRPr b="1">
                <a:solidFill>
                  <a:schemeClr val="bg1"/>
                </a:solidFill>
              </a:defRPr>
            </a:lvl5pPr>
          </a:lstStyle>
          <a:p>
            <a:pPr lvl="0"/>
            <a:r>
              <a:rPr lang="zh-CN" altLang="en-US"/>
              <a:t>单击此处编辑母版文本样式</a:t>
            </a:r>
          </a:p>
        </p:txBody>
      </p:sp>
    </p:spTree>
    <p:extLst>
      <p:ext uri="{BB962C8B-B14F-4D97-AF65-F5344CB8AC3E}">
        <p14:creationId xmlns:p14="http://schemas.microsoft.com/office/powerpoint/2010/main" val="356330009"/>
      </p:ext>
    </p:extLst>
  </p:cSld>
  <p:clrMapOvr>
    <a:overrideClrMapping bg1="lt1" tx1="dk1" bg2="lt2" tx2="dk2" accent1="accent1" accent2="accent2" accent3="accent3" accent4="accent4" accent5="accent5" accent6="accent6" hlink="hlink" folHlink="folHlink"/>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5B5B30-EAE6-475D-9E77-B9C4E87F9C88}"/>
              </a:ext>
            </a:extLst>
          </p:cNvPr>
          <p:cNvSpPr>
            <a:spLocks noGrp="1"/>
          </p:cNvSpPr>
          <p:nvPr>
            <p:ph type="title" hasCustomPrompt="1"/>
          </p:nvPr>
        </p:nvSpPr>
        <p:spPr>
          <a:xfrm>
            <a:off x="1055988" y="-399021"/>
            <a:ext cx="10858500" cy="1028700"/>
          </a:xfrm>
        </p:spPr>
        <p:txBody>
          <a:bodyPr/>
          <a:lstStyle>
            <a:lvl1pPr>
              <a:defRPr>
                <a:solidFill>
                  <a:schemeClr val="tx1"/>
                </a:solidFill>
              </a:defRPr>
            </a:lvl1pPr>
          </a:lstStyle>
          <a:p>
            <a:r>
              <a:rPr lang="en-US" altLang="zh-CN" dirty="0"/>
              <a:t>Click to edit Master title style</a:t>
            </a:r>
            <a:endParaRPr lang="zh-CN" altLang="en-US" dirty="0"/>
          </a:p>
        </p:txBody>
      </p:sp>
    </p:spTree>
    <p:extLst>
      <p:ext uri="{BB962C8B-B14F-4D97-AF65-F5344CB8AC3E}">
        <p14:creationId xmlns:p14="http://schemas.microsoft.com/office/powerpoint/2010/main" val="3990091879"/>
      </p:ext>
    </p:extLst>
  </p:cSld>
  <p:clrMapOvr>
    <a:overrideClrMapping bg1="lt1" tx1="dk1" bg2="lt2" tx2="dk2" accent1="accent1" accent2="accent2" accent3="accent3" accent4="accent4" accent5="accent5" accent6="accent6" hlink="hlink" folHlink="folHlink"/>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空白">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52D1C7A1-2043-1669-5F8A-7B227BD7D30A}"/>
              </a:ext>
            </a:extLst>
          </p:cNvPr>
          <p:cNvSpPr>
            <a:spLocks noGrp="1"/>
          </p:cNvSpPr>
          <p:nvPr>
            <p:ph type="title" hasCustomPrompt="1"/>
          </p:nvPr>
        </p:nvSpPr>
        <p:spPr>
          <a:xfrm>
            <a:off x="825329" y="-427905"/>
            <a:ext cx="10858500" cy="1028700"/>
          </a:xfrm>
        </p:spPr>
        <p:txBody>
          <a:bodyPr/>
          <a:lstStyle>
            <a:lvl1pPr>
              <a:defRPr>
                <a:solidFill>
                  <a:schemeClr val="tx1"/>
                </a:solidFill>
              </a:defRPr>
            </a:lvl1pPr>
          </a:lstStyle>
          <a:p>
            <a:r>
              <a:rPr lang="en-US" altLang="zh-CN" dirty="0"/>
              <a:t>Click to edit Master title style</a:t>
            </a:r>
            <a:endParaRPr lang="zh-CN" altLang="en-US" dirty="0"/>
          </a:p>
        </p:txBody>
      </p:sp>
    </p:spTree>
    <p:extLst>
      <p:ext uri="{BB962C8B-B14F-4D97-AF65-F5344CB8AC3E}">
        <p14:creationId xmlns:p14="http://schemas.microsoft.com/office/powerpoint/2010/main" val="3645183234"/>
      </p:ext>
    </p:extLst>
  </p:cSld>
  <p:clrMapOvr>
    <a:overrideClrMapping bg1="lt1" tx1="dk1" bg2="lt2" tx2="dk2" accent1="accent1" accent2="accent2" accent3="accent3" accent4="accent4" accent5="accent5" accent6="accent6" hlink="hlink" folHlink="folHlink"/>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p:cSld name="末尾幻灯片">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E8C971A2-91C0-0F12-DA53-E6784B322847}"/>
              </a:ext>
            </a:extLst>
          </p:cNvPr>
          <p:cNvPicPr>
            <a:picLocks noChangeAspect="1"/>
          </p:cNvPicPr>
          <p:nvPr/>
        </p:nvPicPr>
        <p:blipFill>
          <a:blip r:embed="rId2"/>
          <a:stretch>
            <a:fillRect/>
          </a:stretch>
        </p:blipFill>
        <p:spPr>
          <a:xfrm>
            <a:off x="7620000" y="13546"/>
            <a:ext cx="4576460" cy="6844454"/>
          </a:xfrm>
          <a:prstGeom prst="rect">
            <a:avLst/>
          </a:prstGeom>
        </p:spPr>
      </p:pic>
      <p:sp>
        <p:nvSpPr>
          <p:cNvPr id="14" name="Rectangle 13">
            <a:extLst>
              <a:ext uri="{FF2B5EF4-FFF2-40B4-BE49-F238E27FC236}">
                <a16:creationId xmlns:a16="http://schemas.microsoft.com/office/drawing/2014/main" id="{4129C334-CACA-4BE1-A84C-41F6820FF127}"/>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Rectangle 14">
            <a:extLst>
              <a:ext uri="{FF2B5EF4-FFF2-40B4-BE49-F238E27FC236}">
                <a16:creationId xmlns:a16="http://schemas.microsoft.com/office/drawing/2014/main" id="{6907BCD2-9008-43D6-B003-96C575232D66}"/>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Freeform: Shape 10">
            <a:extLst>
              <a:ext uri="{FF2B5EF4-FFF2-40B4-BE49-F238E27FC236}">
                <a16:creationId xmlns:a16="http://schemas.microsoft.com/office/drawing/2014/main" id="{0A271160-581E-4BCE-BACF-7271659F1D01}"/>
              </a:ext>
            </a:extLst>
          </p:cNvPr>
          <p:cNvSpPr/>
          <p:nvPr/>
        </p:nvSpPr>
        <p:spPr>
          <a:xfrm>
            <a:off x="12191319" y="0"/>
            <a:ext cx="684" cy="13546"/>
          </a:xfrm>
          <a:custGeom>
            <a:avLst/>
            <a:gdLst>
              <a:gd name="connsiteX0" fmla="*/ 0 w 684"/>
              <a:gd name="connsiteY0" fmla="*/ 0 h 13546"/>
              <a:gd name="connsiteX1" fmla="*/ 684 w 684"/>
              <a:gd name="connsiteY1" fmla="*/ 0 h 13546"/>
              <a:gd name="connsiteX2" fmla="*/ 684 w 684"/>
              <a:gd name="connsiteY2" fmla="*/ 13546 h 13546"/>
              <a:gd name="connsiteX3" fmla="*/ 0 w 684"/>
              <a:gd name="connsiteY3" fmla="*/ 0 h 13546"/>
            </a:gdLst>
            <a:ahLst/>
            <a:cxnLst>
              <a:cxn ang="0">
                <a:pos x="connsiteX0" y="connsiteY0"/>
              </a:cxn>
              <a:cxn ang="0">
                <a:pos x="connsiteX1" y="connsiteY1"/>
              </a:cxn>
              <a:cxn ang="0">
                <a:pos x="connsiteX2" y="connsiteY2"/>
              </a:cxn>
              <a:cxn ang="0">
                <a:pos x="connsiteX3" y="connsiteY3"/>
              </a:cxn>
            </a:cxnLst>
            <a:rect l="l" t="t" r="r" b="b"/>
            <a:pathLst>
              <a:path w="684" h="13546">
                <a:moveTo>
                  <a:pt x="0" y="0"/>
                </a:moveTo>
                <a:lnTo>
                  <a:pt x="684" y="0"/>
                </a:lnTo>
                <a:lnTo>
                  <a:pt x="684" y="13546"/>
                </a:lnTo>
                <a:lnTo>
                  <a:pt x="0" y="0"/>
                </a:lnTo>
                <a:close/>
              </a:path>
            </a:pathLst>
          </a:custGeom>
          <a:solidFill>
            <a:schemeClr val="bg1"/>
          </a:solidFill>
          <a:ln w="14015" cap="flat">
            <a:noFill/>
            <a:prstDash val="solid"/>
            <a:miter/>
          </a:ln>
        </p:spPr>
        <p:txBody>
          <a:bodyPr wrap="square" rtlCol="0" anchor="ctr">
            <a:noAutofit/>
          </a:bodyPr>
          <a:lstStyle/>
          <a:p>
            <a:endParaRPr lang="zh-CN" altLang="en-US" sz="1800">
              <a:solidFill>
                <a:schemeClr val="tx1"/>
              </a:solidFill>
            </a:endParaRPr>
          </a:p>
        </p:txBody>
      </p:sp>
      <p:sp>
        <p:nvSpPr>
          <p:cNvPr id="27" name="Text Placeholder 26">
            <a:extLst>
              <a:ext uri="{FF2B5EF4-FFF2-40B4-BE49-F238E27FC236}">
                <a16:creationId xmlns:a16="http://schemas.microsoft.com/office/drawing/2014/main" id="{FEA7D86A-A334-4E0C-B01B-43F345A176DE}"/>
              </a:ext>
            </a:extLst>
          </p:cNvPr>
          <p:cNvSpPr>
            <a:spLocks noGrp="1"/>
          </p:cNvSpPr>
          <p:nvPr>
            <p:ph type="body" sz="quarter" idx="12" hasCustomPrompt="1"/>
          </p:nvPr>
        </p:nvSpPr>
        <p:spPr>
          <a:xfrm>
            <a:off x="8314441" y="6082576"/>
            <a:ext cx="3204458" cy="230832"/>
          </a:xfrm>
        </p:spPr>
        <p:txBody>
          <a:bodyPr vert="horz" wrap="none" lIns="91440" tIns="45720" rIns="91440" bIns="45720" rtlCol="0" anchor="ctr">
            <a:noAutofit/>
          </a:bodyPr>
          <a:lstStyle>
            <a:lvl1pPr>
              <a:defRPr lang="en-US" altLang="zh-CN" sz="1600" b="1" dirty="0">
                <a:ln>
                  <a:noFill/>
                </a:ln>
                <a:solidFill>
                  <a:schemeClr val="accent1"/>
                </a:solidFill>
                <a:latin typeface="+mj-lt"/>
                <a:ea typeface="+mj-ea"/>
                <a:cs typeface="+mj-cs"/>
              </a:defRPr>
            </a:lvl1pPr>
          </a:lstStyle>
          <a:p>
            <a:pPr marL="228573" marR="0" lvl="0" indent="-228573" algn="r" defTabSz="914332" rtl="0" eaLnBrk="1" fontAlgn="auto" latinLnBrk="0" hangingPunct="1">
              <a:lnSpc>
                <a:spcPct val="90000"/>
              </a:lnSpc>
              <a:spcBef>
                <a:spcPct val="0"/>
              </a:spcBef>
              <a:spcAft>
                <a:spcPts val="0"/>
              </a:spcAft>
              <a:buClrTx/>
              <a:buSzTx/>
              <a:buFont typeface="Arial" panose="020B0604020202020204" pitchFamily="34" charset="0"/>
              <a:buNone/>
              <a:tabLst/>
              <a:defRPr/>
            </a:pPr>
            <a:r>
              <a:rPr lang="en-US" altLang="zh-CN" dirty="0"/>
              <a:t>Speaker name and title</a:t>
            </a:r>
          </a:p>
        </p:txBody>
      </p:sp>
      <p:sp>
        <p:nvSpPr>
          <p:cNvPr id="3" name="Text Placeholder 2">
            <a:extLst>
              <a:ext uri="{FF2B5EF4-FFF2-40B4-BE49-F238E27FC236}">
                <a16:creationId xmlns:a16="http://schemas.microsoft.com/office/drawing/2014/main" id="{FC1A48BB-A1A1-4744-B0D3-FD4F42C33B9B}"/>
              </a:ext>
            </a:extLst>
          </p:cNvPr>
          <p:cNvSpPr>
            <a:spLocks noGrp="1"/>
          </p:cNvSpPr>
          <p:nvPr>
            <p:ph type="body" sz="quarter" idx="13" hasCustomPrompt="1"/>
          </p:nvPr>
        </p:nvSpPr>
        <p:spPr>
          <a:xfrm>
            <a:off x="714723" y="2737247"/>
            <a:ext cx="5842001" cy="1383506"/>
          </a:xfrm>
        </p:spPr>
        <p:txBody>
          <a:bodyPr vert="horz" lIns="91440" tIns="45720" rIns="91440" bIns="45720" rtlCol="0" anchor="b">
            <a:noAutofit/>
          </a:bodyPr>
          <a:lstStyle>
            <a:lvl1pPr algn="l">
              <a:defRPr lang="en-US" altLang="zh-CN" sz="8000" b="1" i="0" dirty="0">
                <a:solidFill>
                  <a:srgbClr val="FFFFFF"/>
                </a:solidFill>
                <a:latin typeface="+mj-lt"/>
                <a:ea typeface="+mj-ea"/>
                <a:cs typeface="+mj-cs"/>
              </a:defRPr>
            </a:lvl1pPr>
          </a:lstStyle>
          <a:p>
            <a:pPr lvl="0">
              <a:spcBef>
                <a:spcPct val="0"/>
              </a:spcBef>
              <a:buNone/>
            </a:pPr>
            <a:r>
              <a:rPr lang="en-US" altLang="zh-CN" dirty="0"/>
              <a:t>Thank you</a:t>
            </a:r>
          </a:p>
        </p:txBody>
      </p:sp>
      <p:pic>
        <p:nvPicPr>
          <p:cNvPr id="2" name="图片 1">
            <a:extLst>
              <a:ext uri="{FF2B5EF4-FFF2-40B4-BE49-F238E27FC236}">
                <a16:creationId xmlns:a16="http://schemas.microsoft.com/office/drawing/2014/main" id="{0808FB89-916C-2617-605B-3A71B8F3D40B}"/>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pic>
        <p:nvPicPr>
          <p:cNvPr id="4" name="图片 3">
            <a:extLst>
              <a:ext uri="{FF2B5EF4-FFF2-40B4-BE49-F238E27FC236}">
                <a16:creationId xmlns:a16="http://schemas.microsoft.com/office/drawing/2014/main" id="{5B3BDEC6-F771-C16C-C365-03B2262F7C40}"/>
              </a:ext>
            </a:extLst>
          </p:cNvPr>
          <p:cNvPicPr>
            <a:picLocks noChangeAspect="1"/>
          </p:cNvPicPr>
          <p:nvPr userDrawn="1"/>
        </p:nvPicPr>
        <p:blipFill>
          <a:blip r:embed="rId4">
            <a:duotone>
              <a:schemeClr val="bg2">
                <a:shade val="45000"/>
                <a:satMod val="135000"/>
              </a:schemeClr>
              <a:prstClr val="white"/>
            </a:duotone>
            <a:extLst>
              <a:ext uri="{BEBA8EAE-BF5A-486C-A8C5-ECC9F3942E4B}">
                <a14:imgProps xmlns:a14="http://schemas.microsoft.com/office/drawing/2010/main">
                  <a14:imgLayer r:embed="rId5">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8213598" y="2801933"/>
            <a:ext cx="3516518" cy="1579597"/>
          </a:xfrm>
          <a:prstGeom prst="rect">
            <a:avLst/>
          </a:prstGeom>
        </p:spPr>
      </p:pic>
      <p:pic>
        <p:nvPicPr>
          <p:cNvPr id="5" name="图片 4">
            <a:extLst>
              <a:ext uri="{FF2B5EF4-FFF2-40B4-BE49-F238E27FC236}">
                <a16:creationId xmlns:a16="http://schemas.microsoft.com/office/drawing/2014/main" id="{18B5EE46-E2B2-EBF2-F5AC-5322A677557F}"/>
              </a:ext>
            </a:extLst>
          </p:cNvPr>
          <p:cNvPicPr>
            <a:picLocks noChangeAspect="1"/>
          </p:cNvPicPr>
          <p:nvPr userDrawn="1"/>
        </p:nvPicPr>
        <p:blipFill>
          <a:blip r:embed="rId6">
            <a:duotone>
              <a:prstClr val="black"/>
              <a:schemeClr val="tx2">
                <a:tint val="45000"/>
                <a:satMod val="400000"/>
              </a:schemeClr>
            </a:duotone>
            <a:extLst>
              <a:ext uri="{BEBA8EAE-BF5A-486C-A8C5-ECC9F3942E4B}">
                <a14:imgProps xmlns:a14="http://schemas.microsoft.com/office/drawing/2010/main">
                  <a14:imgLayer r:embed="rId7">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7" name="图片 6">
            <a:extLst>
              <a:ext uri="{FF2B5EF4-FFF2-40B4-BE49-F238E27FC236}">
                <a16:creationId xmlns:a16="http://schemas.microsoft.com/office/drawing/2014/main" id="{B23BCB1D-48BB-8E7F-1E38-42BFFA9E944D}"/>
              </a:ext>
            </a:extLst>
          </p:cNvPr>
          <p:cNvPicPr>
            <a:picLocks noChangeAspect="1"/>
          </p:cNvPicPr>
          <p:nvPr userDrawn="1"/>
        </p:nvPicPr>
        <p:blipFill>
          <a:blip r:embed="rId8">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1827987365"/>
      </p:ext>
    </p:extLst>
  </p:cSld>
  <p:clrMapOvr>
    <a:overrideClrMapping bg1="lt1" tx1="dk1" bg2="lt2" tx2="dk2" accent1="accent1" accent2="accent2" accent3="accent3" accent4="accent4" accent5="accent5" accent6="accent6" hlink="hlink" folHlink="folHlink"/>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p:cSld name="2_标题幻灯片">
    <p:spTree>
      <p:nvGrpSpPr>
        <p:cNvPr id="1" name=""/>
        <p:cNvGrpSpPr/>
        <p:nvPr/>
      </p:nvGrpSpPr>
      <p:grpSpPr>
        <a:xfrm>
          <a:off x="0" y="0"/>
          <a:ext cx="0" cy="0"/>
          <a:chOff x="0" y="0"/>
          <a:chExt cx="0" cy="0"/>
        </a:xfrm>
      </p:grpSpPr>
      <p:pic>
        <p:nvPicPr>
          <p:cNvPr id="6" name="图片 5" descr="图片包含 游戏机, 路&#10;&#10;AI 生成的内容可能不正确。">
            <a:extLst>
              <a:ext uri="{FF2B5EF4-FFF2-40B4-BE49-F238E27FC236}">
                <a16:creationId xmlns:a16="http://schemas.microsoft.com/office/drawing/2014/main" id="{89E9D6B1-7479-7A2E-010F-70200E458B1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4163" y="6287"/>
            <a:ext cx="12562776" cy="6858000"/>
          </a:xfrm>
          <a:prstGeom prst="rect">
            <a:avLst/>
          </a:prstGeom>
        </p:spPr>
      </p:pic>
      <p:sp>
        <p:nvSpPr>
          <p:cNvPr id="9" name="副标题 8"/>
          <p:cNvSpPr>
            <a:spLocks noGrp="1"/>
          </p:cNvSpPr>
          <p:nvPr>
            <p:ph type="subTitle" sz="quarter" idx="1" hasCustomPrompt="1"/>
          </p:nvPr>
        </p:nvSpPr>
        <p:spPr>
          <a:xfrm>
            <a:off x="660400" y="4043221"/>
            <a:ext cx="5645151" cy="588651"/>
          </a:xfrm>
          <a:prstGeom prst="roundRect">
            <a:avLst>
              <a:gd name="adj" fmla="val 0"/>
            </a:avLst>
          </a:prstGeom>
          <a:noFill/>
          <a:ln>
            <a:noFill/>
          </a:ln>
        </p:spPr>
        <p:txBody>
          <a:bodyPr vert="horz" wrap="square" lIns="91440" tIns="45720" rIns="91440" bIns="45720" rtlCol="0" anchor="ctr" anchorCtr="0">
            <a:normAutofit/>
          </a:bodyPr>
          <a:lstStyle>
            <a:lvl1pPr marL="0" indent="0" algn="l">
              <a:lnSpc>
                <a:spcPct val="100000"/>
              </a:lnSpc>
              <a:buNone/>
              <a:defRPr lang="en-US" sz="1800" dirty="0">
                <a:solidFill>
                  <a:schemeClr val="tx1"/>
                </a:solidFill>
                <a:latin typeface="+mj-lt"/>
              </a:defRPr>
            </a:lvl1pPr>
          </a:lstStyle>
          <a:p>
            <a:pPr lvl="0"/>
            <a:r>
              <a:rPr lang="en-US"/>
              <a:t>Click to add subtitle</a:t>
            </a:r>
          </a:p>
        </p:txBody>
      </p:sp>
      <p:sp>
        <p:nvSpPr>
          <p:cNvPr id="4" name="文本占位符 3"/>
          <p:cNvSpPr>
            <a:spLocks noGrp="1"/>
          </p:cNvSpPr>
          <p:nvPr>
            <p:ph type="body" sz="quarter" idx="13" hasCustomPrompt="1"/>
          </p:nvPr>
        </p:nvSpPr>
        <p:spPr>
          <a:xfrm>
            <a:off x="660400" y="5497551"/>
            <a:ext cx="5645151" cy="276999"/>
          </a:xfrm>
          <a:prstGeom prst="rect">
            <a:avLst/>
          </a:prstGeom>
        </p:spPr>
        <p:txBody>
          <a:bodyPr wrap="square" lIns="90000">
            <a:normAutofit/>
          </a:bodyPr>
          <a:lstStyle>
            <a:lvl1pPr marL="0" indent="0" algn="l">
              <a:lnSpc>
                <a:spcPct val="100000"/>
              </a:lnSpc>
              <a:buNone/>
              <a:defRPr sz="1200"/>
            </a:lvl1pPr>
          </a:lstStyle>
          <a:p>
            <a:pPr lvl="0"/>
            <a:r>
              <a:rPr lang="en-US"/>
              <a:t>Presenter name</a:t>
            </a:r>
          </a:p>
        </p:txBody>
      </p:sp>
      <p:sp>
        <p:nvSpPr>
          <p:cNvPr id="7" name="文本占位符 6"/>
          <p:cNvSpPr>
            <a:spLocks noGrp="1"/>
          </p:cNvSpPr>
          <p:nvPr>
            <p:ph type="body" sz="quarter" idx="14" hasCustomPrompt="1"/>
          </p:nvPr>
        </p:nvSpPr>
        <p:spPr>
          <a:xfrm>
            <a:off x="660400" y="5857101"/>
            <a:ext cx="5645151" cy="276999"/>
          </a:xfrm>
          <a:prstGeom prst="rect">
            <a:avLst/>
          </a:prstGeom>
        </p:spPr>
        <p:txBody>
          <a:bodyPr wrap="none">
            <a:normAutofit/>
          </a:bodyPr>
          <a:lstStyle>
            <a:lvl1pPr marL="0" indent="0" algn="l">
              <a:lnSpc>
                <a:spcPct val="100000"/>
              </a:lnSpc>
              <a:buNone/>
              <a:defRPr sz="1200"/>
            </a:lvl1pPr>
          </a:lstStyle>
          <a:p>
            <a:pPr lvl="0"/>
            <a:r>
              <a:rPr lang="en-US"/>
              <a:t>www.officeplus.cn</a:t>
            </a:r>
          </a:p>
        </p:txBody>
      </p:sp>
      <p:sp>
        <p:nvSpPr>
          <p:cNvPr id="3" name="标题 4">
            <a:extLst>
              <a:ext uri="{FF2B5EF4-FFF2-40B4-BE49-F238E27FC236}">
                <a16:creationId xmlns:a16="http://schemas.microsoft.com/office/drawing/2014/main" id="{B5D391BF-A023-49D2-B62C-E02AC8635D69}"/>
              </a:ext>
            </a:extLst>
          </p:cNvPr>
          <p:cNvSpPr>
            <a:spLocks noGrp="1"/>
          </p:cNvSpPr>
          <p:nvPr>
            <p:ph type="ctrTitle" hasCustomPrompt="1"/>
          </p:nvPr>
        </p:nvSpPr>
        <p:spPr>
          <a:xfrm>
            <a:off x="4346432" y="1883955"/>
            <a:ext cx="6749372" cy="2587173"/>
          </a:xfrm>
          <a:prstGeom prst="rect">
            <a:avLst/>
          </a:prstGeom>
        </p:spPr>
        <p:txBody>
          <a:bodyPr wrap="square" anchor="b">
            <a:normAutofit/>
          </a:bodyPr>
          <a:lstStyle>
            <a:lvl1pPr algn="ctr">
              <a:lnSpc>
                <a:spcPct val="100000"/>
              </a:lnSpc>
              <a:defRPr sz="5400">
                <a:ln w="19050">
                  <a:noFill/>
                </a:ln>
                <a:solidFill>
                  <a:schemeClr val="tx1"/>
                </a:solidFill>
              </a:defRPr>
            </a:lvl1pPr>
          </a:lstStyle>
          <a:p>
            <a:pPr lvl="0"/>
            <a:r>
              <a:rPr lang="en-US" dirty="0"/>
              <a:t>Intelligent Planning     &amp; </a:t>
            </a:r>
            <a:br>
              <a:rPr lang="en-US" dirty="0"/>
            </a:br>
            <a:r>
              <a:rPr lang="en-US" dirty="0"/>
              <a:t>Control Tower</a:t>
            </a:r>
          </a:p>
        </p:txBody>
      </p:sp>
      <p:pic>
        <p:nvPicPr>
          <p:cNvPr id="5" name="图片 4">
            <a:extLst>
              <a:ext uri="{FF2B5EF4-FFF2-40B4-BE49-F238E27FC236}">
                <a16:creationId xmlns:a16="http://schemas.microsoft.com/office/drawing/2014/main" id="{57ED4568-4D8D-7CE6-DBD3-61776C004218}"/>
              </a:ext>
            </a:extLst>
          </p:cNvPr>
          <p:cNvPicPr>
            <a:picLocks noChangeAspect="1"/>
          </p:cNvPicPr>
          <p:nvPr/>
        </p:nvPicPr>
        <p:blipFill>
          <a:blip r:embed="rId3">
            <a:duotone>
              <a:schemeClr val="bg2">
                <a:shade val="45000"/>
                <a:satMod val="135000"/>
              </a:schemeClr>
              <a:prstClr val="white"/>
            </a:duotone>
            <a:extLst>
              <a:ext uri="{BEBA8EAE-BF5A-486C-A8C5-ECC9F3942E4B}">
                <a14:imgProps xmlns:a14="http://schemas.microsoft.com/office/drawing/2010/main">
                  <a14:imgLayer r:embed="rId4">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145185" y="2818989"/>
            <a:ext cx="2178398" cy="978522"/>
          </a:xfrm>
          <a:prstGeom prst="rect">
            <a:avLst/>
          </a:prstGeom>
        </p:spPr>
      </p:pic>
    </p:spTree>
    <p:extLst>
      <p:ext uri="{BB962C8B-B14F-4D97-AF65-F5344CB8AC3E}">
        <p14:creationId xmlns:p14="http://schemas.microsoft.com/office/powerpoint/2010/main" val="3603317863"/>
      </p:ext>
    </p:extLst>
  </p:cSld>
  <p:clrMapOvr>
    <a:overrideClrMapping bg1="lt1" tx1="dk1" bg2="lt2" tx2="dk2" accent1="accent1" accent2="accent2" accent3="accent3" accent4="accent4" accent5="accent5" accent6="accent6" hlink="hlink" folHlink="folHlink"/>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p:cSld name="Agenda">
    <p:spTree>
      <p:nvGrpSpPr>
        <p:cNvPr id="1" name=""/>
        <p:cNvGrpSpPr/>
        <p:nvPr/>
      </p:nvGrpSpPr>
      <p:grpSpPr>
        <a:xfrm>
          <a:off x="0" y="0"/>
          <a:ext cx="0" cy="0"/>
          <a:chOff x="0" y="0"/>
          <a:chExt cx="0" cy="0"/>
        </a:xfrm>
      </p:grpSpPr>
      <p:pic>
        <p:nvPicPr>
          <p:cNvPr id="11" name="图片 10">
            <a:extLst>
              <a:ext uri="{FF2B5EF4-FFF2-40B4-BE49-F238E27FC236}">
                <a16:creationId xmlns:a16="http://schemas.microsoft.com/office/drawing/2014/main" id="{0202FDAE-0095-6CC0-EC3F-208D7596653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2" name="标题 1"/>
          <p:cNvSpPr>
            <a:spLocks noGrp="1"/>
          </p:cNvSpPr>
          <p:nvPr>
            <p:ph type="title" hasCustomPrompt="1"/>
          </p:nvPr>
        </p:nvSpPr>
        <p:spPr>
          <a:xfrm>
            <a:off x="660400" y="1500189"/>
            <a:ext cx="2519061" cy="864515"/>
          </a:xfrm>
          <a:prstGeom prst="rect">
            <a:avLst/>
          </a:prstGeom>
          <a:noFill/>
        </p:spPr>
        <p:txBody>
          <a:bodyPr anchor="t" anchorCtr="0">
            <a:normAutofit/>
          </a:bodyPr>
          <a:lstStyle>
            <a:lvl1pPr algn="r">
              <a:defRPr sz="2800">
                <a:solidFill>
                  <a:srgbClr val="FFFFFF"/>
                </a:solidFill>
              </a:defRPr>
            </a:lvl1pPr>
          </a:lstStyle>
          <a:p>
            <a:pPr lvl="0"/>
            <a:r>
              <a:rPr lang="en-US"/>
              <a:t>Agenda</a:t>
            </a:r>
          </a:p>
        </p:txBody>
      </p:sp>
      <p:sp>
        <p:nvSpPr>
          <p:cNvPr id="3" name="内容占位符 2"/>
          <p:cNvSpPr>
            <a:spLocks noGrp="1"/>
          </p:cNvSpPr>
          <p:nvPr>
            <p:ph sz="quarter" idx="1" hasCustomPrompt="1"/>
          </p:nvPr>
        </p:nvSpPr>
        <p:spPr>
          <a:xfrm>
            <a:off x="3839860" y="1500189"/>
            <a:ext cx="7679039" cy="4278311"/>
          </a:xfrm>
        </p:spPr>
        <p:txBody>
          <a:bodyPr numCol="1"/>
          <a:lstStyle>
            <a:lvl1pPr marL="342900" indent="-342900">
              <a:lnSpc>
                <a:spcPct val="100000"/>
              </a:lnSpc>
              <a:buFont typeface="+mj-lt"/>
              <a:buAutoNum type="arabicPeriod"/>
              <a:defRPr/>
            </a:lvl1pPr>
            <a:lvl2pPr marL="800100" indent="-342900">
              <a:lnSpc>
                <a:spcPct val="100000"/>
              </a:lnSpc>
              <a:buFont typeface="+mj-ea"/>
              <a:buAutoNum type="circleNumDbPlain"/>
              <a:defRPr/>
            </a:lvl2pPr>
            <a:lvl3pPr marL="1257300" indent="-342900">
              <a:lnSpc>
                <a:spcPct val="100000"/>
              </a:lnSpc>
              <a:buFont typeface="+mj-lt"/>
              <a:buAutoNum type="alphaLcParenR"/>
              <a:defRPr/>
            </a:lvl3pPr>
            <a:lvl4pPr>
              <a:lnSpc>
                <a:spcPct val="100000"/>
              </a:lnSpc>
              <a:defRPr/>
            </a:lvl4pPr>
            <a:lvl5pPr>
              <a:lnSpc>
                <a:spcPct val="100000"/>
              </a:lnSpc>
              <a:defRPr/>
            </a:lvl5pPr>
          </a:lstStyle>
          <a:p>
            <a:pPr lvl="0"/>
            <a:r>
              <a:rPr lang="en-US"/>
              <a:t>Click to add text</a:t>
            </a:r>
          </a:p>
          <a:p>
            <a:pPr lvl="1"/>
            <a:r>
              <a:rPr lang="en-US"/>
              <a:t>Second level</a:t>
            </a:r>
          </a:p>
          <a:p>
            <a:pPr lvl="2"/>
            <a:r>
              <a:rPr lang="en-US"/>
              <a:t>Third level</a:t>
            </a:r>
          </a:p>
          <a:p>
            <a:pPr lvl="3"/>
            <a:r>
              <a:rPr lang="en-US"/>
              <a:t>Fourth level</a:t>
            </a:r>
          </a:p>
          <a:p>
            <a:pPr lvl="4"/>
            <a:r>
              <a:rPr lang="en-US"/>
              <a:t>Fifth level</a:t>
            </a:r>
          </a:p>
        </p:txBody>
      </p:sp>
      <p:pic>
        <p:nvPicPr>
          <p:cNvPr id="7" name="图片 6">
            <a:extLst>
              <a:ext uri="{FF2B5EF4-FFF2-40B4-BE49-F238E27FC236}">
                <a16:creationId xmlns:a16="http://schemas.microsoft.com/office/drawing/2014/main" id="{956E91C9-E62C-62F0-BC27-65EF2B59939D}"/>
              </a:ext>
            </a:extLst>
          </p:cNvPr>
          <p:cNvPicPr>
            <a:picLocks noChangeAspect="1"/>
          </p:cNvPicPr>
          <p:nvPr/>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8" name="图片 7">
            <a:extLst>
              <a:ext uri="{FF2B5EF4-FFF2-40B4-BE49-F238E27FC236}">
                <a16:creationId xmlns:a16="http://schemas.microsoft.com/office/drawing/2014/main" id="{260BFE75-AB93-8081-4027-EDC31F67337A}"/>
              </a:ext>
            </a:extLst>
          </p:cNvPr>
          <p:cNvPicPr>
            <a:picLocks noChangeAspect="1"/>
          </p:cNvPicPr>
          <p:nvPr/>
        </p:nvPicPr>
        <p:blipFill>
          <a:blip r:embed="rId4">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92184" y="6108209"/>
            <a:ext cx="704451" cy="621204"/>
          </a:xfrm>
          <a:prstGeom prst="rect">
            <a:avLst/>
          </a:prstGeom>
        </p:spPr>
      </p:pic>
      <p:pic>
        <p:nvPicPr>
          <p:cNvPr id="4" name="图片 3">
            <a:extLst>
              <a:ext uri="{FF2B5EF4-FFF2-40B4-BE49-F238E27FC236}">
                <a16:creationId xmlns:a16="http://schemas.microsoft.com/office/drawing/2014/main" id="{4533F409-7AF2-7738-C45D-ADDC0C99224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pic>
        <p:nvPicPr>
          <p:cNvPr id="5" name="图片 4">
            <a:extLst>
              <a:ext uri="{FF2B5EF4-FFF2-40B4-BE49-F238E27FC236}">
                <a16:creationId xmlns:a16="http://schemas.microsoft.com/office/drawing/2014/main" id="{04915495-E497-C559-512B-5F59C7548598}"/>
              </a:ext>
            </a:extLst>
          </p:cNvPr>
          <p:cNvPicPr>
            <a:picLocks noChangeAspect="1"/>
          </p:cNvPicPr>
          <p:nvPr userDrawn="1"/>
        </p:nvPicPr>
        <p:blipFill>
          <a:blip r:embed="rId4">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6" name="图片 5">
            <a:extLst>
              <a:ext uri="{FF2B5EF4-FFF2-40B4-BE49-F238E27FC236}">
                <a16:creationId xmlns:a16="http://schemas.microsoft.com/office/drawing/2014/main" id="{824640ED-C55D-8D73-4EAB-DC295132A4F1}"/>
              </a:ext>
            </a:extLst>
          </p:cNvPr>
          <p:cNvPicPr>
            <a:picLocks noChangeAspect="1"/>
          </p:cNvPicPr>
          <p:nvPr userDrawn="1"/>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3339592502"/>
      </p:ext>
    </p:extLst>
  </p:cSld>
  <p:clrMapOvr>
    <a:overrideClrMapping bg1="lt1" tx1="dk1" bg2="lt2" tx2="dk2" accent1="accent1" accent2="accent2" accent3="accent3" accent4="accent4" accent5="accent5" accent6="accent6" hlink="hlink" folHlink="folHlink"/>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1_节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04B5FBE3-2983-7A7E-EDBF-7AD37AC20D3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标题 1"/>
          <p:cNvSpPr>
            <a:spLocks noGrp="1"/>
          </p:cNvSpPr>
          <p:nvPr>
            <p:ph type="title"/>
          </p:nvPr>
        </p:nvSpPr>
        <p:spPr>
          <a:xfrm>
            <a:off x="788155" y="2458832"/>
            <a:ext cx="10363200" cy="1362075"/>
          </a:xfrm>
        </p:spPr>
        <p:txBody>
          <a:bodyPr anchor="t">
            <a:normAutofit/>
          </a:bodyPr>
          <a:lstStyle>
            <a:lvl1pPr algn="ctr">
              <a:defRPr sz="4400" b="1" cap="all">
                <a:solidFill>
                  <a:schemeClr val="accent1"/>
                </a:solidFill>
              </a:defRPr>
            </a:lvl1pPr>
          </a:lstStyle>
          <a:p>
            <a:r>
              <a:rPr lang="zh-CN" altLang="en-US"/>
              <a:t>单击此处编辑母版标题样式</a:t>
            </a:r>
            <a:endParaRPr lang="zh-CN" altLang="en-US" dirty="0"/>
          </a:p>
        </p:txBody>
      </p:sp>
      <p:pic>
        <p:nvPicPr>
          <p:cNvPr id="3" name="图片 2">
            <a:extLst>
              <a:ext uri="{FF2B5EF4-FFF2-40B4-BE49-F238E27FC236}">
                <a16:creationId xmlns:a16="http://schemas.microsoft.com/office/drawing/2014/main" id="{0C225C48-C16B-E760-3562-D3A3B9176EB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pic>
        <p:nvPicPr>
          <p:cNvPr id="4" name="图片 3">
            <a:extLst>
              <a:ext uri="{FF2B5EF4-FFF2-40B4-BE49-F238E27FC236}">
                <a16:creationId xmlns:a16="http://schemas.microsoft.com/office/drawing/2014/main" id="{A8C2A5F4-62F8-0DE3-BF8E-7DB2909DE39B}"/>
              </a:ext>
            </a:extLst>
          </p:cNvPr>
          <p:cNvPicPr>
            <a:picLocks noChangeAspect="1"/>
          </p:cNvPicPr>
          <p:nvPr userDrawn="1"/>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5" name="图片 4">
            <a:extLst>
              <a:ext uri="{FF2B5EF4-FFF2-40B4-BE49-F238E27FC236}">
                <a16:creationId xmlns:a16="http://schemas.microsoft.com/office/drawing/2014/main" id="{958CF466-A791-1E6D-0D69-1A428A2442AE}"/>
              </a:ext>
            </a:extLst>
          </p:cNvPr>
          <p:cNvPicPr>
            <a:picLocks noChangeAspect="1"/>
          </p:cNvPicPr>
          <p:nvPr userDrawn="1"/>
        </p:nvPicPr>
        <p:blipFill>
          <a:blip r:embed="rId4">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2980547904"/>
      </p:ext>
    </p:extLst>
  </p:cSld>
  <p:clrMapOvr>
    <a:overrideClrMapping bg1="lt1" tx1="dk1" bg2="lt2" tx2="dk2" accent1="accent1" accent2="accent2" accent3="accent3" accent4="accent4" accent5="accent5" accent6="accent6" hlink="hlink" folHlink="folHlink"/>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reserve="1" userDrawn="1">
  <p:cSld name="1_Title Slide">
    <p:spTree>
      <p:nvGrpSpPr>
        <p:cNvPr id="1" name=""/>
        <p:cNvGrpSpPr/>
        <p:nvPr/>
      </p:nvGrpSpPr>
      <p:grpSpPr>
        <a:xfrm>
          <a:off x="0" y="0"/>
          <a:ext cx="0" cy="0"/>
          <a:chOff x="0" y="0"/>
          <a:chExt cx="0" cy="0"/>
        </a:xfrm>
      </p:grpSpPr>
      <p:sp>
        <p:nvSpPr>
          <p:cNvPr id="8" name="标题 4">
            <a:extLst>
              <a:ext uri="{FF2B5EF4-FFF2-40B4-BE49-F238E27FC236}">
                <a16:creationId xmlns:a16="http://schemas.microsoft.com/office/drawing/2014/main" id="{D4E51AF3-4B86-C068-61E8-F89039CF3D69}"/>
              </a:ext>
            </a:extLst>
          </p:cNvPr>
          <p:cNvSpPr>
            <a:spLocks noGrp="1"/>
          </p:cNvSpPr>
          <p:nvPr>
            <p:ph type="ctrTitle"/>
          </p:nvPr>
        </p:nvSpPr>
        <p:spPr>
          <a:xfrm>
            <a:off x="3879504" y="1210338"/>
            <a:ext cx="6749372" cy="2587173"/>
          </a:xfrm>
          <a:prstGeom prst="rect">
            <a:avLst/>
          </a:prstGeom>
        </p:spPr>
        <p:txBody>
          <a:bodyPr wrap="square" anchor="b">
            <a:normAutofit/>
          </a:bodyPr>
          <a:lstStyle>
            <a:lvl1pPr algn="ctr">
              <a:lnSpc>
                <a:spcPct val="100000"/>
              </a:lnSpc>
              <a:defRPr sz="5400">
                <a:ln w="19050">
                  <a:noFill/>
                </a:ln>
                <a:solidFill>
                  <a:schemeClr val="tx1"/>
                </a:solidFill>
              </a:defRPr>
            </a:lvl1pPr>
          </a:lstStyle>
          <a:p>
            <a:pPr lvl="0"/>
            <a:endParaRPr lang="en-US" dirty="0"/>
          </a:p>
        </p:txBody>
      </p:sp>
    </p:spTree>
    <p:extLst>
      <p:ext uri="{BB962C8B-B14F-4D97-AF65-F5344CB8AC3E}">
        <p14:creationId xmlns:p14="http://schemas.microsoft.com/office/powerpoint/2010/main" val="1442089013"/>
      </p:ext>
    </p:extLst>
  </p:cSld>
  <p:clrMapOvr>
    <a:overrideClrMapping bg1="lt1" tx1="dk1" bg2="lt2" tx2="dk2" accent1="accent1" accent2="accent2" accent3="accent3" accent4="accent4" accent5="accent5" accent6="accent6" hlink="hlink" folHlink="folHlink"/>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1_空白">
    <p:spTree>
      <p:nvGrpSpPr>
        <p:cNvPr id="1" name=""/>
        <p:cNvGrpSpPr/>
        <p:nvPr/>
      </p:nvGrpSpPr>
      <p:grpSpPr>
        <a:xfrm>
          <a:off x="0" y="0"/>
          <a:ext cx="0" cy="0"/>
          <a:chOff x="0" y="0"/>
          <a:chExt cx="0" cy="0"/>
        </a:xfrm>
      </p:grpSpPr>
      <p:sp>
        <p:nvSpPr>
          <p:cNvPr id="6" name="标题 1">
            <a:extLst>
              <a:ext uri="{FF2B5EF4-FFF2-40B4-BE49-F238E27FC236}">
                <a16:creationId xmlns:a16="http://schemas.microsoft.com/office/drawing/2014/main" id="{1E9DDCD0-7537-A039-754A-F4224B0E3693}"/>
              </a:ext>
            </a:extLst>
          </p:cNvPr>
          <p:cNvSpPr>
            <a:spLocks noGrp="1"/>
          </p:cNvSpPr>
          <p:nvPr>
            <p:ph type="title"/>
          </p:nvPr>
        </p:nvSpPr>
        <p:spPr>
          <a:xfrm>
            <a:off x="866346" y="-316256"/>
            <a:ext cx="10858500" cy="900112"/>
          </a:xfrm>
        </p:spPr>
        <p:txBody>
          <a:bodyPr/>
          <a:lstStyle>
            <a:lvl1pPr>
              <a:defRPr/>
            </a:lvl1pPr>
          </a:lstStyle>
          <a:p>
            <a:pPr lvl="0"/>
            <a:endParaRPr lang="en-US" dirty="0"/>
          </a:p>
        </p:txBody>
      </p:sp>
    </p:spTree>
    <p:extLst>
      <p:ext uri="{BB962C8B-B14F-4D97-AF65-F5344CB8AC3E}">
        <p14:creationId xmlns:p14="http://schemas.microsoft.com/office/powerpoint/2010/main" val="1515651732"/>
      </p:ext>
    </p:extLst>
  </p:cSld>
  <p:clrMapOvr>
    <a:overrideClrMapping bg1="lt1" tx1="dk1" bg2="lt2" tx2="dk2" accent1="accent1" accent2="accent2" accent3="accent3" accent4="accent4" accent5="accent5" accent6="accent6" hlink="hlink" folHlink="folHlink"/>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reserve="1" userDrawn="1">
  <p:cSld name="3_标题幻灯片">
    <p:spTree>
      <p:nvGrpSpPr>
        <p:cNvPr id="1" name=""/>
        <p:cNvGrpSpPr/>
        <p:nvPr/>
      </p:nvGrpSpPr>
      <p:grpSpPr>
        <a:xfrm>
          <a:off x="0" y="0"/>
          <a:ext cx="0" cy="0"/>
          <a:chOff x="0" y="0"/>
          <a:chExt cx="0" cy="0"/>
        </a:xfrm>
      </p:grpSpPr>
      <p:grpSp>
        <p:nvGrpSpPr>
          <p:cNvPr id="40" name="组合 39"/>
          <p:cNvGrpSpPr/>
          <p:nvPr userDrawn="1"/>
        </p:nvGrpSpPr>
        <p:grpSpPr>
          <a:xfrm>
            <a:off x="0" y="12450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pic>
          <p:nvPicPr>
            <p:cNvPr id="27" name="图片 26"/>
            <p:cNvPicPr>
              <a:picLocks noChangeAspect="1"/>
            </p:cNvPicPr>
            <p:nvPr/>
          </p:nvPicPr>
          <p:blipFill>
            <a:blip r:embed="rId3">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3" name="标题 4">
            <a:extLst>
              <a:ext uri="{FF2B5EF4-FFF2-40B4-BE49-F238E27FC236}">
                <a16:creationId xmlns:a16="http://schemas.microsoft.com/office/drawing/2014/main" id="{B5D391BF-A023-49D2-B62C-E02AC8635D69}"/>
              </a:ext>
            </a:extLst>
          </p:cNvPr>
          <p:cNvSpPr>
            <a:spLocks noGrp="1"/>
          </p:cNvSpPr>
          <p:nvPr>
            <p:ph type="ctrTitle"/>
          </p:nvPr>
        </p:nvSpPr>
        <p:spPr>
          <a:xfrm>
            <a:off x="4556922" y="1839434"/>
            <a:ext cx="6749372" cy="2587173"/>
          </a:xfrm>
          <a:prstGeom prst="rect">
            <a:avLst/>
          </a:prstGeom>
        </p:spPr>
        <p:txBody>
          <a:bodyPr wrap="square" anchor="b">
            <a:normAutofit/>
          </a:bodyPr>
          <a:lstStyle>
            <a:lvl1pPr algn="ctr">
              <a:lnSpc>
                <a:spcPct val="100000"/>
              </a:lnSpc>
              <a:defRPr sz="5400">
                <a:ln w="19050">
                  <a:noFill/>
                </a:ln>
                <a:solidFill>
                  <a:schemeClr val="tx1"/>
                </a:solidFill>
              </a:defRPr>
            </a:lvl1pPr>
          </a:lstStyle>
          <a:p>
            <a:pPr lvl="0"/>
            <a:endParaRPr lang="en-US" dirty="0"/>
          </a:p>
        </p:txBody>
      </p:sp>
      <p:sp>
        <p:nvSpPr>
          <p:cNvPr id="5" name="文本框 4">
            <a:extLst>
              <a:ext uri="{FF2B5EF4-FFF2-40B4-BE49-F238E27FC236}">
                <a16:creationId xmlns:a16="http://schemas.microsoft.com/office/drawing/2014/main" id="{FD9C0D61-6364-EB58-4CE8-074F803A783D}"/>
              </a:ext>
            </a:extLst>
          </p:cNvPr>
          <p:cNvSpPr txBox="1"/>
          <p:nvPr userDrawn="1"/>
        </p:nvSpPr>
        <p:spPr>
          <a:xfrm>
            <a:off x="1104756" y="2579023"/>
            <a:ext cx="1946564" cy="1107996"/>
          </a:xfrm>
          <a:prstGeom prst="rect">
            <a:avLst/>
          </a:prstGeom>
          <a:noFill/>
        </p:spPr>
        <p:txBody>
          <a:bodyPr wrap="square" rtlCol="0">
            <a:spAutoFit/>
          </a:bodyPr>
          <a:lstStyle/>
          <a:p>
            <a:r>
              <a:rPr lang="en-US" altLang="zh-CN" sz="6600" b="1" dirty="0">
                <a:latin typeface="+mj-ea"/>
                <a:ea typeface="+mj-ea"/>
              </a:rPr>
              <a:t>IPC</a:t>
            </a:r>
            <a:endParaRPr lang="zh-CN" altLang="en-US" sz="6600" b="1" dirty="0">
              <a:latin typeface="+mj-ea"/>
              <a:ea typeface="+mj-ea"/>
            </a:endParaRPr>
          </a:p>
        </p:txBody>
      </p:sp>
      <p:pic>
        <p:nvPicPr>
          <p:cNvPr id="2" name="图片 1">
            <a:extLst>
              <a:ext uri="{FF2B5EF4-FFF2-40B4-BE49-F238E27FC236}">
                <a16:creationId xmlns:a16="http://schemas.microsoft.com/office/drawing/2014/main" id="{6249DE40-38DE-0B8C-A57E-BCDCCECD67F0}"/>
              </a:ext>
            </a:extLst>
          </p:cNvPr>
          <p:cNvPicPr>
            <a:picLocks noChangeAspect="1"/>
          </p:cNvPicPr>
          <p:nvPr userDrawn="1"/>
        </p:nvPicPr>
        <p:blipFill>
          <a:blip r:embed="rId5">
            <a:duotone>
              <a:prstClr val="black"/>
              <a:schemeClr val="accent3">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4" name="图片 3">
            <a:extLst>
              <a:ext uri="{FF2B5EF4-FFF2-40B4-BE49-F238E27FC236}">
                <a16:creationId xmlns:a16="http://schemas.microsoft.com/office/drawing/2014/main" id="{82CA119C-4E3E-E8FD-4491-4E0BECF11504}"/>
              </a:ext>
            </a:extLst>
          </p:cNvPr>
          <p:cNvPicPr>
            <a:picLocks noChangeAspect="1"/>
          </p:cNvPicPr>
          <p:nvPr userDrawn="1"/>
        </p:nvPicPr>
        <p:blipFill>
          <a:blip r:embed="rId6">
            <a:duotone>
              <a:prstClr val="black"/>
              <a:schemeClr val="accent3">
                <a:tint val="45000"/>
                <a:satMod val="400000"/>
              </a:schemeClr>
            </a:duotone>
            <a:extLst>
              <a:ext uri="{BEBA8EAE-BF5A-486C-A8C5-ECC9F3942E4B}">
                <a14:imgProps xmlns:a14="http://schemas.microsoft.com/office/drawing/2010/main">
                  <a14:imgLayer r:embed="rId7">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79775" y="6236796"/>
            <a:ext cx="704451" cy="621204"/>
          </a:xfrm>
          <a:prstGeom prst="rect">
            <a:avLst/>
          </a:prstGeom>
        </p:spPr>
      </p:pic>
    </p:spTree>
    <p:extLst>
      <p:ext uri="{BB962C8B-B14F-4D97-AF65-F5344CB8AC3E}">
        <p14:creationId xmlns:p14="http://schemas.microsoft.com/office/powerpoint/2010/main" val="2492691574"/>
      </p:ext>
    </p:extLst>
  </p:cSld>
  <p:clrMapOvr>
    <a:overrideClrMapping bg1="lt1" tx1="dk1" bg2="lt2" tx2="dk2" accent1="accent1" accent2="accent2" accent3="accent3" accent4="accent4" accent5="accent5" accent6="accent6" hlink="hlink" folHlink="folHlink"/>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E9DDCD0-7537-A039-754A-F4224B0E3693}"/>
              </a:ext>
            </a:extLst>
          </p:cNvPr>
          <p:cNvSpPr>
            <a:spLocks noGrp="1"/>
          </p:cNvSpPr>
          <p:nvPr userDrawn="1"/>
        </p:nvSpPr>
        <p:spPr>
          <a:xfrm>
            <a:off x="899833"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
        <p:nvSpPr>
          <p:cNvPr id="3" name="标题 1">
            <a:extLst>
              <a:ext uri="{FF2B5EF4-FFF2-40B4-BE49-F238E27FC236}">
                <a16:creationId xmlns:a16="http://schemas.microsoft.com/office/drawing/2014/main" id="{1E9DDCD0-7537-A039-754A-F4224B0E3693}"/>
              </a:ext>
            </a:extLst>
          </p:cNvPr>
          <p:cNvSpPr>
            <a:spLocks noGrp="1"/>
          </p:cNvSpPr>
          <p:nvPr userDrawn="1"/>
        </p:nvSpPr>
        <p:spPr>
          <a:xfrm>
            <a:off x="947645"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Tree>
    <p:extLst>
      <p:ext uri="{BB962C8B-B14F-4D97-AF65-F5344CB8AC3E}">
        <p14:creationId xmlns:p14="http://schemas.microsoft.com/office/powerpoint/2010/main" val="1628020867"/>
      </p:ext>
    </p:extLst>
  </p:cSld>
  <p:clrMapOvr>
    <a:overrideClrMapping bg1="lt1" tx1="dk1" bg2="lt2" tx2="dk2" accent1="accent1" accent2="accent2" accent3="accent3" accent4="accent4" accent5="accent5" accent6="accent6" hlink="hlink" folHlink="folHlink"/>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_标题和内容">
    <p:spTree>
      <p:nvGrpSpPr>
        <p:cNvPr id="1" name=""/>
        <p:cNvGrpSpPr/>
        <p:nvPr/>
      </p:nvGrpSpPr>
      <p:grpSpPr>
        <a:xfrm>
          <a:off x="0" y="0"/>
          <a:ext cx="0" cy="0"/>
          <a:chOff x="0" y="0"/>
          <a:chExt cx="0" cy="0"/>
        </a:xfrm>
      </p:grpSpPr>
      <p:sp>
        <p:nvSpPr>
          <p:cNvPr id="13" name="文本占位符 12"/>
          <p:cNvSpPr>
            <a:spLocks noGrp="1"/>
          </p:cNvSpPr>
          <p:nvPr>
            <p:ph type="body" idx="1"/>
            <p:custDataLst>
              <p:tags r:id="rId1"/>
            </p:custDataLst>
          </p:nvPr>
        </p:nvSpPr>
        <p:spPr>
          <a:xfrm>
            <a:off x="569595" y="1253490"/>
            <a:ext cx="11052810" cy="4869180"/>
          </a:xfrm>
          <a:prstGeom prst="rect">
            <a:avLst/>
          </a:prstGeom>
        </p:spPr>
        <p:txBody>
          <a:bodyPr vert="horz" lIns="91440" tIns="45720" rIns="91440" bIns="45720" rtlCol="0">
            <a:normAutofit/>
          </a:bodyPr>
          <a:lstStyle>
            <a:lvl1pPr marL="0" indent="0">
              <a:buNone/>
              <a:defRPr sz="1400">
                <a:solidFill>
                  <a:schemeClr val="tx1"/>
                </a:solidFill>
              </a:defRPr>
            </a:lvl1pPr>
            <a:lvl2pPr marL="457200" indent="0">
              <a:buNone/>
              <a:defRPr sz="1400">
                <a:solidFill>
                  <a:schemeClr val="tx1"/>
                </a:solidFill>
              </a:defRPr>
            </a:lvl2pPr>
            <a:lvl3pPr marL="914400" indent="0">
              <a:buNone/>
              <a:defRPr sz="1400">
                <a:solidFill>
                  <a:schemeClr val="tx1"/>
                </a:solidFill>
              </a:defRPr>
            </a:lvl3pPr>
            <a:lvl4pPr marL="1371600" indent="0">
              <a:buNone/>
              <a:defRPr sz="1400">
                <a:solidFill>
                  <a:schemeClr val="tx1"/>
                </a:solidFill>
              </a:defRPr>
            </a:lvl4pPr>
            <a:lvl5pPr marL="1828800" indent="0">
              <a:buNone/>
              <a:defRPr sz="1400">
                <a:solidFill>
                  <a:schemeClr val="tx1"/>
                </a:solidFill>
              </a:defRPr>
            </a:lvl5pPr>
          </a:lstStyle>
          <a:p>
            <a:pPr lvl="0"/>
            <a:r>
              <a:rPr lang="zh-CN" altLang="en-US" dirty="0"/>
              <a:t>单击此处编辑母版文本样式</a:t>
            </a:r>
          </a:p>
          <a:p>
            <a:pPr lvl="1"/>
            <a:r>
              <a:rPr lang="zh-CN" altLang="en-US" dirty="0"/>
              <a:t>二级</a:t>
            </a:r>
          </a:p>
          <a:p>
            <a:pPr lvl="2"/>
            <a:r>
              <a:rPr lang="zh-CN" altLang="en-US" dirty="0"/>
              <a:t>三级</a:t>
            </a:r>
          </a:p>
          <a:p>
            <a:pPr lvl="3"/>
            <a:r>
              <a:rPr lang="zh-CN" altLang="en-US" dirty="0"/>
              <a:t>四级</a:t>
            </a:r>
          </a:p>
          <a:p>
            <a:pPr lvl="4"/>
            <a:r>
              <a:rPr lang="zh-CN" altLang="en-US" dirty="0"/>
              <a:t>五级</a:t>
            </a:r>
          </a:p>
        </p:txBody>
      </p:sp>
      <p:sp>
        <p:nvSpPr>
          <p:cNvPr id="5" name="灯片编号占位符 4"/>
          <p:cNvSpPr>
            <a:spLocks noGrp="1"/>
          </p:cNvSpPr>
          <p:nvPr userDrawn="1">
            <p:custDataLst>
              <p:tags r:id="rId2"/>
            </p:custDataLst>
          </p:nvPr>
        </p:nvSpPr>
        <p:spPr>
          <a:xfrm>
            <a:off x="8879205" y="6375400"/>
            <a:ext cx="2743200" cy="365125"/>
          </a:xfrm>
          <a:prstGeom prst="rect">
            <a:avLst/>
          </a:prstGeom>
        </p:spPr>
        <p:txBody>
          <a:bodyPr vert="horz" lIns="91440" tIns="45720" rIns="91440" bIns="45720" rtlCol="0" anchor="ctr"/>
          <a:lstStyle>
            <a:defPPr>
              <a:defRPr lang="zh-CN"/>
            </a:defPPr>
            <a:lvl1pPr marL="0" algn="r" defTabSz="914400" rtl="0" eaLnBrk="1" latinLnBrk="0" hangingPunct="1">
              <a:defRPr sz="10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56FF76-7BF1-4E25-A0F5-B7CD95F22364}" type="slidenum">
              <a:rPr lang="zh-CN" altLang="en-US" smtClean="0"/>
              <a:t>‹#›</a:t>
            </a:fld>
            <a:endParaRPr lang="zh-CN" altLang="en-US" dirty="0"/>
          </a:p>
        </p:txBody>
      </p:sp>
      <p:sp>
        <p:nvSpPr>
          <p:cNvPr id="2" name="标题 1">
            <a:extLst>
              <a:ext uri="{FF2B5EF4-FFF2-40B4-BE49-F238E27FC236}">
                <a16:creationId xmlns:a16="http://schemas.microsoft.com/office/drawing/2014/main" id="{1E9DDCD0-7537-A039-754A-F4224B0E3693}"/>
              </a:ext>
            </a:extLst>
          </p:cNvPr>
          <p:cNvSpPr>
            <a:spLocks noGrp="1"/>
          </p:cNvSpPr>
          <p:nvPr userDrawn="1"/>
        </p:nvSpPr>
        <p:spPr>
          <a:xfrm>
            <a:off x="935691" y="-22304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Tree>
    <p:extLst>
      <p:ext uri="{BB962C8B-B14F-4D97-AF65-F5344CB8AC3E}">
        <p14:creationId xmlns:p14="http://schemas.microsoft.com/office/powerpoint/2010/main" val="15978642"/>
      </p:ext>
    </p:extLst>
  </p:cSld>
  <p:clrMapOvr>
    <a:masterClrMapping/>
  </p:clrMapOvr>
  <p:transition spd="slow"/>
  <p:hf sldNum="0" hdr="0" ftr="0" dt="0"/>
</p:sldLayout>
</file>

<file path=ppt/slideLayouts/slideLayout39.xml><?xml version="1.0" encoding="utf-8"?>
<p:sldLayout xmlns:a="http://schemas.openxmlformats.org/drawingml/2006/main" xmlns:r="http://schemas.openxmlformats.org/officeDocument/2006/relationships" xmlns:p="http://schemas.openxmlformats.org/presentationml/2006/main" type="twoObj" preserve="1">
  <p:cSld name="两项内容">
    <p:spTree>
      <p:nvGrpSpPr>
        <p:cNvPr id="1" name=""/>
        <p:cNvGrpSpPr/>
        <p:nvPr/>
      </p:nvGrpSpPr>
      <p:grpSpPr>
        <a:xfrm>
          <a:off x="0" y="0"/>
          <a:ext cx="0" cy="0"/>
          <a:chOff x="0" y="0"/>
          <a:chExt cx="0" cy="0"/>
        </a:xfrm>
      </p:grpSpPr>
      <p:sp>
        <p:nvSpPr>
          <p:cNvPr id="2" name="标题 1"/>
          <p:cNvSpPr>
            <a:spLocks noGrp="1"/>
          </p:cNvSpPr>
          <p:nvPr>
            <p:ph type="title"/>
          </p:nvPr>
        </p:nvSpPr>
        <p:spPr>
          <a:xfrm>
            <a:off x="609600" y="-331029"/>
            <a:ext cx="10858500" cy="1028700"/>
          </a:xfrm>
        </p:spPr>
        <p:txBody>
          <a:bodyPr/>
          <a:lstStyle/>
          <a:p>
            <a:r>
              <a:rPr lang="zh-CN" altLang="en-US"/>
              <a:t>单击此处编辑母版标题样式</a:t>
            </a:r>
          </a:p>
        </p:txBody>
      </p:sp>
      <p:sp>
        <p:nvSpPr>
          <p:cNvPr id="3" name="内容占位符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内容占位符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日期占位符 4"/>
          <p:cNvSpPr>
            <a:spLocks noGrp="1"/>
          </p:cNvSpPr>
          <p:nvPr>
            <p:ph type="dt" sz="half" idx="10"/>
          </p:nvPr>
        </p:nvSpPr>
        <p:spPr/>
        <p:txBody>
          <a:bodyPr/>
          <a:lstStyle/>
          <a:p>
            <a:pPr defTabSz="609585" fontAlgn="base">
              <a:spcBef>
                <a:spcPct val="0"/>
              </a:spcBef>
              <a:spcAft>
                <a:spcPct val="0"/>
              </a:spcAft>
              <a:defRPr/>
            </a:pPr>
            <a:endParaRPr kumimoji="1" lang="zh-CN" altLang="en-US" dirty="0"/>
          </a:p>
        </p:txBody>
      </p:sp>
      <p:sp>
        <p:nvSpPr>
          <p:cNvPr id="6" name="页脚占位符 5"/>
          <p:cNvSpPr>
            <a:spLocks noGrp="1"/>
          </p:cNvSpPr>
          <p:nvPr>
            <p:ph type="ftr" sz="quarter" idx="11"/>
          </p:nvPr>
        </p:nvSpPr>
        <p:spPr/>
        <p:txBody>
          <a:bodyPr/>
          <a:lstStyle/>
          <a:p>
            <a:pPr defTabSz="609585">
              <a:defRPr/>
            </a:pPr>
            <a:endParaRPr kumimoji="1" lang="zh-CN" altLang="en-US" dirty="0"/>
          </a:p>
        </p:txBody>
      </p:sp>
      <p:sp>
        <p:nvSpPr>
          <p:cNvPr id="7" name="灯片编号占位符 6"/>
          <p:cNvSpPr>
            <a:spLocks noGrp="1"/>
          </p:cNvSpPr>
          <p:nvPr>
            <p:ph type="sldNum" sz="quarter" idx="12"/>
          </p:nvPr>
        </p:nvSpPr>
        <p:spPr/>
        <p:txBody>
          <a:bodyPr/>
          <a:lstStyle/>
          <a:p>
            <a:pPr lvl="0" eaLnBrk="1" hangingPunct="1">
              <a:buNone/>
            </a:pPr>
            <a:fld id="{9A0DB2DC-4C9A-4742-B13C-FB6460FD3503}" type="slidenum">
              <a:rPr lang="zh-CN" altLang="en-US" dirty="0">
                <a:latin typeface="Calibri" panose="020F0502020204030204" pitchFamily="34" charset="0"/>
              </a:rPr>
              <a:t>‹#›</a:t>
            </a:fld>
            <a:endParaRPr lang="zh-CN" altLang="en-US" dirty="0">
              <a:latin typeface="Calibri" panose="020F0502020204030204" pitchFamily="34" charset="0"/>
            </a:endParaRPr>
          </a:p>
        </p:txBody>
      </p:sp>
    </p:spTree>
    <p:extLst>
      <p:ext uri="{BB962C8B-B14F-4D97-AF65-F5344CB8AC3E}">
        <p14:creationId xmlns:p14="http://schemas.microsoft.com/office/powerpoint/2010/main" val="2227736067"/>
      </p:ext>
    </p:extLst>
  </p:cSld>
  <p:clrMapOvr>
    <a:overrideClrMapping bg1="lt1" tx1="dk1" bg2="lt2" tx2="dk2" accent1="accent1" accent2="accent2" accent3="accent3" accent4="accent4" accent5="accent5" accent6="accent6" hlink="hlink" folHlink="folHlink"/>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p:cSld name="Title and Content - No Background">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274320"/>
            <a:ext cx="11076268" cy="521208"/>
          </a:xfrm>
          <a:prstGeom prst="rect">
            <a:avLst/>
          </a:prstGeom>
        </p:spPr>
        <p:txBody>
          <a:bodyPr wrap="square" lIns="0" tIns="0" rIns="0" bIns="0" anchor="ctr" anchorCtr="0"/>
          <a:lstStyle>
            <a:lvl1pPr marL="0" algn="l" defTabSz="1218987" rtl="0" eaLnBrk="1" latinLnBrk="0" hangingPunct="1">
              <a:lnSpc>
                <a:spcPct val="100000"/>
              </a:lnSpc>
              <a:spcBef>
                <a:spcPct val="0"/>
              </a:spcBef>
              <a:buNone/>
              <a:tabLst>
                <a:tab pos="1218987" algn="l"/>
              </a:tabLst>
              <a:defRPr lang="en-US" sz="3600" kern="1200" cap="none" spc="0" baseline="0" dirty="0">
                <a:solidFill>
                  <a:schemeClr val="tx1"/>
                </a:solidFill>
                <a:latin typeface="Arial" pitchFamily="34" charset="0"/>
                <a:ea typeface="+mn-ea"/>
                <a:cs typeface="Arial" pitchFamily="34" charset="0"/>
              </a:defRPr>
            </a:lvl1pPr>
          </a:lstStyle>
          <a:p>
            <a:r>
              <a:rPr lang="en-US" dirty="0"/>
              <a:t>Click To Edit Master Title</a:t>
            </a:r>
          </a:p>
        </p:txBody>
      </p:sp>
      <p:sp>
        <p:nvSpPr>
          <p:cNvPr id="22" name="Content Placeholder 2"/>
          <p:cNvSpPr>
            <a:spLocks noGrp="1"/>
          </p:cNvSpPr>
          <p:nvPr>
            <p:ph sz="half" idx="1"/>
          </p:nvPr>
        </p:nvSpPr>
        <p:spPr bwMode="gray">
          <a:xfrm>
            <a:off x="548783" y="1179577"/>
            <a:ext cx="11076268" cy="5211699"/>
          </a:xfrm>
          <a:prstGeom prst="rect">
            <a:avLst/>
          </a:prstGeom>
        </p:spPr>
        <p:txBody>
          <a:bodyPr lIns="0" tIns="0" rIns="0" bIns="0"/>
          <a:lstStyle>
            <a:lvl1pPr marL="171450" indent="-171450">
              <a:lnSpc>
                <a:spcPct val="90000"/>
              </a:lnSpc>
              <a:spcBef>
                <a:spcPts val="600"/>
              </a:spcBef>
              <a:buClrTx/>
              <a:buFont typeface="Arial" panose="020B0604020202020204" pitchFamily="34" charset="0"/>
              <a:buChar char="•"/>
              <a:defRPr sz="2400">
                <a:solidFill>
                  <a:schemeClr val="tx1"/>
                </a:solidFill>
                <a:latin typeface="Arial" pitchFamily="34" charset="0"/>
                <a:cs typeface="Arial" pitchFamily="34" charset="0"/>
              </a:defRPr>
            </a:lvl1pPr>
            <a:lvl2pPr marL="609493" indent="-228560">
              <a:lnSpc>
                <a:spcPct val="90000"/>
              </a:lnSpc>
              <a:spcBef>
                <a:spcPts val="600"/>
              </a:spcBef>
              <a:buClrTx/>
              <a:buFont typeface="Arial" pitchFamily="34" charset="0"/>
              <a:buChar char="–"/>
              <a:defRPr sz="2000">
                <a:solidFill>
                  <a:schemeClr val="tx1"/>
                </a:solidFill>
                <a:latin typeface="Arial" pitchFamily="34" charset="0"/>
                <a:cs typeface="Arial" pitchFamily="34" charset="0"/>
              </a:defRPr>
            </a:lvl2pPr>
            <a:lvl3pPr marL="835938" indent="-150258">
              <a:lnSpc>
                <a:spcPct val="90000"/>
              </a:lnSpc>
              <a:spcBef>
                <a:spcPts val="600"/>
              </a:spcBef>
              <a:buClrTx/>
              <a:buFont typeface="Arial" panose="020B0604020202020204" pitchFamily="34" charset="0"/>
              <a:buChar char="-"/>
              <a:defRPr sz="2000">
                <a:solidFill>
                  <a:schemeClr val="tx1"/>
                </a:solidFill>
                <a:latin typeface="Arial" pitchFamily="34" charset="0"/>
                <a:cs typeface="Arial" pitchFamily="34" charset="0"/>
              </a:defRPr>
            </a:lvl3pPr>
            <a:lvl4pPr marL="1147033" indent="-156606">
              <a:lnSpc>
                <a:spcPct val="90000"/>
              </a:lnSpc>
              <a:spcBef>
                <a:spcPts val="600"/>
              </a:spcBef>
              <a:buClrTx/>
              <a:buFont typeface="Arial" panose="020B0604020202020204" pitchFamily="34" charset="0"/>
              <a:buChar char="-"/>
              <a:defRPr sz="2000">
                <a:solidFill>
                  <a:schemeClr val="tx1"/>
                </a:solidFill>
                <a:latin typeface="Arial" pitchFamily="34" charset="0"/>
                <a:cs typeface="Arial" pitchFamily="34" charset="0"/>
              </a:defRPr>
            </a:lvl4pPr>
            <a:lvl5pPr marL="1445431" indent="-150258">
              <a:lnSpc>
                <a:spcPct val="90000"/>
              </a:lnSpc>
              <a:spcBef>
                <a:spcPts val="600"/>
              </a:spcBef>
              <a:buClrTx/>
              <a:buFont typeface="Arial" panose="020B0604020202020204" pitchFamily="34" charset="0"/>
              <a:buChar char="-"/>
              <a:defRPr sz="20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6" name="Freeform 5">
            <a:extLst>
              <a:ext uri="{FF2B5EF4-FFF2-40B4-BE49-F238E27FC236}">
                <a16:creationId xmlns:a16="http://schemas.microsoft.com/office/drawing/2014/main" id="{8C261849-EED4-439D-9D86-D00B5DA1B6C8}"/>
              </a:ext>
            </a:extLst>
          </p:cNvPr>
          <p:cNvSpPr>
            <a:spLocks noChangeAspect="1" noEditPoints="1"/>
          </p:cNvSpPr>
          <p:nvPr userDrawn="1"/>
        </p:nvSpPr>
        <p:spPr bwMode="black">
          <a:xfrm>
            <a:off x="205409" y="423409"/>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
        <p:nvSpPr>
          <p:cNvPr id="8" name="TextBox slide number">
            <a:extLst>
              <a:ext uri="{FF2B5EF4-FFF2-40B4-BE49-F238E27FC236}">
                <a16:creationId xmlns:a16="http://schemas.microsoft.com/office/drawing/2014/main" id="{C14F407B-25FF-40AD-A010-7F4E0497654A}"/>
              </a:ext>
            </a:extLst>
          </p:cNvPr>
          <p:cNvSpPr txBox="1"/>
          <p:nvPr userDrawn="1"/>
        </p:nvSpPr>
        <p:spPr bwMode="white">
          <a:xfrm>
            <a:off x="11751760" y="6395208"/>
            <a:ext cx="440239" cy="246221"/>
          </a:xfrm>
          <a:prstGeom prst="rect">
            <a:avLst/>
          </a:prstGeom>
        </p:spPr>
        <p:txBody>
          <a:bodyPr vert="horz" lIns="0" tIns="0" rIns="0" bIns="0" rtlCol="0" anchor="b"/>
          <a:lstStyle>
            <a:defPPr>
              <a:defRPr lang="en-US"/>
            </a:defPPr>
            <a:lvl1pPr algn="ctr">
              <a:defRPr sz="1000">
                <a:solidFill>
                  <a:schemeClr val="bg1"/>
                </a:solidFill>
              </a:defRPr>
            </a:lvl1pPr>
          </a:lstStyle>
          <a:p>
            <a:pPr lvl="0" algn="ctr"/>
            <a:fld id="{6EA5B71A-1B18-4E34-A48F-65DC4937AA99}" type="slidenum">
              <a:rPr lang="en-US" sz="1000" b="0" smtClean="0">
                <a:solidFill>
                  <a:schemeClr val="tx1"/>
                </a:solidFill>
              </a:rPr>
              <a:pPr lvl="0" algn="ctr"/>
              <a:t>‹#›</a:t>
            </a:fld>
            <a:endParaRPr lang="en-US" sz="1000" b="0" dirty="0">
              <a:solidFill>
                <a:schemeClr val="tx1"/>
              </a:solidFill>
            </a:endParaRPr>
          </a:p>
        </p:txBody>
      </p:sp>
    </p:spTree>
    <p:extLst>
      <p:ext uri="{BB962C8B-B14F-4D97-AF65-F5344CB8AC3E}">
        <p14:creationId xmlns:p14="http://schemas.microsoft.com/office/powerpoint/2010/main" val="6045686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a16="http://schemas.microsoft.com/office/drawing/2014/main">
      <p:transition spd="med">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2_空白">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DBEEF5-5DA5-9F91-63DD-0168D8E3EB8B}"/>
              </a:ext>
            </a:extLst>
          </p:cNvPr>
          <p:cNvSpPr>
            <a:spLocks noGrp="1"/>
          </p:cNvSpPr>
          <p:nvPr>
            <p:ph type="title"/>
          </p:nvPr>
        </p:nvSpPr>
        <p:spPr>
          <a:xfrm>
            <a:off x="886690" y="187035"/>
            <a:ext cx="10714759" cy="457201"/>
          </a:xfrm>
          <a:prstGeom prst="rect">
            <a:avLst/>
          </a:prstGeom>
        </p:spPr>
        <p:txBody>
          <a:bodyPr/>
          <a:lstStyle>
            <a:lvl1pPr>
              <a:defRPr>
                <a:solidFill>
                  <a:schemeClr val="tx1"/>
                </a:solidFill>
                <a:latin typeface="+mj-ea"/>
                <a:ea typeface="+mj-ea"/>
              </a:defRPr>
            </a:lvl1pPr>
          </a:lstStyle>
          <a:p>
            <a:endParaRPr lang="zh-CN" altLang="en-US" dirty="0"/>
          </a:p>
        </p:txBody>
      </p:sp>
    </p:spTree>
    <p:extLst>
      <p:ext uri="{BB962C8B-B14F-4D97-AF65-F5344CB8AC3E}">
        <p14:creationId xmlns:p14="http://schemas.microsoft.com/office/powerpoint/2010/main" val="2762768194"/>
      </p:ext>
    </p:extLst>
  </p:cSld>
  <p:clrMapOvr>
    <a:overrideClrMapping bg1="lt1" tx1="dk1" bg2="lt2" tx2="dk2" accent1="accent1" accent2="accent2" accent3="accent3" accent4="accent4" accent5="accent5" accent6="accent6" hlink="hlink" folHlink="folHlink"/>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4_标题幻灯片">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5B42509E-12FE-156B-B1FC-818C4EC59FB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Rectangle 3">
            <a:extLst>
              <a:ext uri="{FF2B5EF4-FFF2-40B4-BE49-F238E27FC236}">
                <a16:creationId xmlns:a16="http://schemas.microsoft.com/office/drawing/2014/main" id="{12F37E50-CF33-4241-AF80-F4953C679288}"/>
              </a:ext>
            </a:extLst>
          </p:cNvPr>
          <p:cNvSpPr/>
          <p:nvPr userDrawn="1"/>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Rectangle 11">
            <a:extLst>
              <a:ext uri="{FF2B5EF4-FFF2-40B4-BE49-F238E27FC236}">
                <a16:creationId xmlns:a16="http://schemas.microsoft.com/office/drawing/2014/main" id="{0F60084F-F637-4FA4-BE35-D702CF6DAA6A}"/>
              </a:ext>
            </a:extLst>
          </p:cNvPr>
          <p:cNvSpPr/>
          <p:nvPr userDrawn="1"/>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Title 1">
            <a:extLst>
              <a:ext uri="{FF2B5EF4-FFF2-40B4-BE49-F238E27FC236}">
                <a16:creationId xmlns:a16="http://schemas.microsoft.com/office/drawing/2014/main" id="{2869597B-F909-5F67-0679-C0ADB832BB0C}"/>
              </a:ext>
            </a:extLst>
          </p:cNvPr>
          <p:cNvSpPr>
            <a:spLocks noGrp="1"/>
          </p:cNvSpPr>
          <p:nvPr>
            <p:ph type="ctrTitle" hasCustomPrompt="1"/>
          </p:nvPr>
        </p:nvSpPr>
        <p:spPr>
          <a:xfrm>
            <a:off x="1027460" y="2767054"/>
            <a:ext cx="5200650" cy="1794141"/>
          </a:xfrm>
          <a:prstGeom prst="rect">
            <a:avLst/>
          </a:prstGeo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cxnSp>
        <p:nvCxnSpPr>
          <p:cNvPr id="8" name="Straight Connector 13">
            <a:extLst>
              <a:ext uri="{FF2B5EF4-FFF2-40B4-BE49-F238E27FC236}">
                <a16:creationId xmlns:a16="http://schemas.microsoft.com/office/drawing/2014/main" id="{A7BE3E13-E4E5-2397-0174-77949629B0D5}"/>
              </a:ext>
            </a:extLst>
          </p:cNvPr>
          <p:cNvCxnSpPr>
            <a:cxnSpLocks/>
          </p:cNvCxnSpPr>
          <p:nvPr userDrawn="1"/>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4" name="图片 3">
            <a:extLst>
              <a:ext uri="{FF2B5EF4-FFF2-40B4-BE49-F238E27FC236}">
                <a16:creationId xmlns:a16="http://schemas.microsoft.com/office/drawing/2014/main" id="{F90B7826-24A7-BC3C-73C9-9F5F7B19EAE5}"/>
              </a:ext>
            </a:extLst>
          </p:cNvPr>
          <p:cNvPicPr>
            <a:picLocks noChangeAspect="1"/>
          </p:cNvPicPr>
          <p:nvPr userDrawn="1"/>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5" name="图片 4">
            <a:extLst>
              <a:ext uri="{FF2B5EF4-FFF2-40B4-BE49-F238E27FC236}">
                <a16:creationId xmlns:a16="http://schemas.microsoft.com/office/drawing/2014/main" id="{0BDE140C-EF3F-E22F-4A92-E3E962B8277F}"/>
              </a:ext>
            </a:extLst>
          </p:cNvPr>
          <p:cNvPicPr>
            <a:picLocks noChangeAspect="1"/>
          </p:cNvPicPr>
          <p:nvPr userDrawn="1"/>
        </p:nvPicPr>
        <p:blipFill>
          <a:blip r:embed="rId4">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2539690670"/>
      </p:ext>
    </p:extLst>
  </p:cSld>
  <p:clrMapOvr>
    <a:overrideClrMapping bg1="lt1" tx1="dk1" bg2="lt2" tx2="dk2" accent1="accent1" accent2="accent2" accent3="accent3" accent4="accent4" accent5="accent5" accent6="accent6" hlink="hlink" folHlink="folHlink"/>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5_标题幻灯片">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C2C7C2A-E334-E5BD-47CD-7B7479086E5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Title 1">
            <a:extLst>
              <a:ext uri="{FF2B5EF4-FFF2-40B4-BE49-F238E27FC236}">
                <a16:creationId xmlns:a16="http://schemas.microsoft.com/office/drawing/2014/main" id="{53FD368F-863D-4527-8F6D-CEC87B7E23EE}"/>
              </a:ext>
            </a:extLst>
          </p:cNvPr>
          <p:cNvSpPr>
            <a:spLocks noGrp="1"/>
          </p:cNvSpPr>
          <p:nvPr>
            <p:ph type="ctrTitle" hasCustomPrompt="1"/>
          </p:nvPr>
        </p:nvSpPr>
        <p:spPr>
          <a:xfrm>
            <a:off x="1029470" y="1862477"/>
            <a:ext cx="5200650" cy="2605695"/>
          </a:xfrm>
          <a:prstGeom prst="rect">
            <a:avLst/>
          </a:prstGeo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sp>
        <p:nvSpPr>
          <p:cNvPr id="4" name="Rectangle 3">
            <a:extLst>
              <a:ext uri="{FF2B5EF4-FFF2-40B4-BE49-F238E27FC236}">
                <a16:creationId xmlns:a16="http://schemas.microsoft.com/office/drawing/2014/main" id="{12F37E50-CF33-4241-AF80-F4953C679288}"/>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Rectangle 11">
            <a:extLst>
              <a:ext uri="{FF2B5EF4-FFF2-40B4-BE49-F238E27FC236}">
                <a16:creationId xmlns:a16="http://schemas.microsoft.com/office/drawing/2014/main" id="{0F60084F-F637-4FA4-BE35-D702CF6DAA6A}"/>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4" name="Straight Connector 13">
            <a:extLst>
              <a:ext uri="{FF2B5EF4-FFF2-40B4-BE49-F238E27FC236}">
                <a16:creationId xmlns:a16="http://schemas.microsoft.com/office/drawing/2014/main" id="{DC3C8D67-DBD4-4831-B956-FBC1F2BA8C47}"/>
              </a:ext>
            </a:extLst>
          </p:cNvPr>
          <p:cNvCxnSpPr>
            <a:cxnSpLocks/>
          </p:cNvCxnSpPr>
          <p:nvPr/>
        </p:nvCxnSpPr>
        <p:spPr>
          <a:xfrm flipV="1">
            <a:off x="957262" y="1862477"/>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3" name="图片 2">
            <a:extLst>
              <a:ext uri="{FF2B5EF4-FFF2-40B4-BE49-F238E27FC236}">
                <a16:creationId xmlns:a16="http://schemas.microsoft.com/office/drawing/2014/main" id="{74BF5D31-C802-5511-E1A1-34DAF124960F}"/>
              </a:ext>
            </a:extLst>
          </p:cNvPr>
          <p:cNvPicPr>
            <a:picLocks noChangeAspect="1"/>
          </p:cNvPicPr>
          <p:nvPr userDrawn="1"/>
        </p:nvPicPr>
        <p:blipFill>
          <a:blip r:embed="rId3">
            <a:duotone>
              <a:prstClr val="black"/>
              <a:schemeClr val="tx2">
                <a:tint val="45000"/>
                <a:satMod val="400000"/>
              </a:schemeClr>
            </a:duotone>
            <a:extLst>
              <a:ext uri="{BEBA8EAE-BF5A-486C-A8C5-ECC9F3942E4B}">
                <a14:imgProps xmlns:a14="http://schemas.microsoft.com/office/drawing/2010/main">
                  <a14:imgLayer r:embed="rId4">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5" name="图片 4">
            <a:extLst>
              <a:ext uri="{FF2B5EF4-FFF2-40B4-BE49-F238E27FC236}">
                <a16:creationId xmlns:a16="http://schemas.microsoft.com/office/drawing/2014/main" id="{D51DAAEB-A801-F029-2DA0-673028BC1641}"/>
              </a:ext>
            </a:extLst>
          </p:cNvPr>
          <p:cNvPicPr>
            <a:picLocks noChangeAspect="1"/>
          </p:cNvPicPr>
          <p:nvPr userDrawn="1"/>
        </p:nvPicPr>
        <p:blipFill>
          <a:blip r:embed="rId5">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1396480023"/>
      </p:ext>
    </p:extLst>
  </p:cSld>
  <p:clrMapOvr>
    <a:overrideClrMapping bg1="lt1" tx1="dk1" bg2="lt2" tx2="dk2" accent1="accent1" accent2="accent2" accent3="accent3" accent4="accent4" accent5="accent5" accent6="accent6" hlink="hlink" folHlink="folHlink"/>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2_节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04B5FBE3-2983-7A7E-EDBF-7AD37AC20D3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标题 1"/>
          <p:cNvSpPr>
            <a:spLocks noGrp="1"/>
          </p:cNvSpPr>
          <p:nvPr>
            <p:ph type="title"/>
          </p:nvPr>
        </p:nvSpPr>
        <p:spPr>
          <a:xfrm>
            <a:off x="788155" y="2458832"/>
            <a:ext cx="10363200" cy="1362075"/>
          </a:xfrm>
          <a:prstGeom prst="rect">
            <a:avLst/>
          </a:prstGeom>
        </p:spPr>
        <p:txBody>
          <a:bodyPr anchor="t">
            <a:normAutofit/>
          </a:bodyPr>
          <a:lstStyle>
            <a:lvl1pPr algn="ctr">
              <a:defRPr sz="4400" b="1" cap="all">
                <a:solidFill>
                  <a:schemeClr val="accent1"/>
                </a:solidFill>
              </a:defRPr>
            </a:lvl1pPr>
          </a:lstStyle>
          <a:p>
            <a:endParaRPr lang="zh-CN" altLang="en-US" dirty="0"/>
          </a:p>
        </p:txBody>
      </p:sp>
      <p:pic>
        <p:nvPicPr>
          <p:cNvPr id="3" name="图片 2">
            <a:extLst>
              <a:ext uri="{FF2B5EF4-FFF2-40B4-BE49-F238E27FC236}">
                <a16:creationId xmlns:a16="http://schemas.microsoft.com/office/drawing/2014/main" id="{2B64EF90-A043-CF53-4A64-26B4932B7055}"/>
              </a:ext>
            </a:extLst>
          </p:cNvPr>
          <p:cNvPicPr>
            <a:picLocks noChangeAspect="1"/>
          </p:cNvPicPr>
          <p:nvPr userDrawn="1"/>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4" name="图片 3">
            <a:extLst>
              <a:ext uri="{FF2B5EF4-FFF2-40B4-BE49-F238E27FC236}">
                <a16:creationId xmlns:a16="http://schemas.microsoft.com/office/drawing/2014/main" id="{7FF88E22-8B91-66CE-8127-F4DF49D0C47F}"/>
              </a:ext>
            </a:extLst>
          </p:cNvPr>
          <p:cNvPicPr>
            <a:picLocks noChangeAspect="1"/>
          </p:cNvPicPr>
          <p:nvPr userDrawn="1"/>
        </p:nvPicPr>
        <p:blipFill>
          <a:blip r:embed="rId4">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264891672"/>
      </p:ext>
    </p:extLst>
  </p:cSld>
  <p:clrMapOvr>
    <a:overrideClrMapping bg1="lt1" tx1="dk1" bg2="lt2" tx2="dk2" accent1="accent1" accent2="accent2" accent3="accent3" accent4="accent4" accent5="accent5" accent6="accent6" hlink="hlink" folHlink="folHlink"/>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3_节标题">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AD9F9ABC-0F7B-6DEB-6195-893CD20C74E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Text Placeholder 4">
            <a:extLst>
              <a:ext uri="{FF2B5EF4-FFF2-40B4-BE49-F238E27FC236}">
                <a16:creationId xmlns:a16="http://schemas.microsoft.com/office/drawing/2014/main" id="{7AF4A77F-477A-42CF-AB01-C5164F0848BA}"/>
              </a:ext>
            </a:extLst>
          </p:cNvPr>
          <p:cNvSpPr>
            <a:spLocks noGrp="1"/>
          </p:cNvSpPr>
          <p:nvPr>
            <p:ph type="body" sz="quarter" idx="10"/>
          </p:nvPr>
        </p:nvSpPr>
        <p:spPr>
          <a:xfrm>
            <a:off x="3447433" y="3111089"/>
            <a:ext cx="4607238" cy="794990"/>
          </a:xfrm>
        </p:spPr>
        <p:txBody>
          <a:bodyPr wrap="none">
            <a:noAutofit/>
          </a:bodyPr>
          <a:lstStyle>
            <a:lvl1pPr marL="0" indent="0" algn="ctr">
              <a:buNone/>
              <a:defRPr sz="4400" b="1" i="0">
                <a:solidFill>
                  <a:schemeClr val="tx1"/>
                </a:solidFill>
                <a:latin typeface="+mj-lt"/>
              </a:defRPr>
            </a:lvl1pPr>
            <a:lvl2pPr marL="457166" indent="0">
              <a:buNone/>
              <a:defRPr b="1">
                <a:solidFill>
                  <a:schemeClr val="bg1"/>
                </a:solidFill>
              </a:defRPr>
            </a:lvl2pPr>
            <a:lvl3pPr marL="914330" indent="0">
              <a:buNone/>
              <a:defRPr b="1">
                <a:solidFill>
                  <a:schemeClr val="bg1"/>
                </a:solidFill>
              </a:defRPr>
            </a:lvl3pPr>
            <a:lvl4pPr marL="1371496" indent="0">
              <a:buNone/>
              <a:defRPr b="1">
                <a:solidFill>
                  <a:schemeClr val="bg1"/>
                </a:solidFill>
              </a:defRPr>
            </a:lvl4pPr>
            <a:lvl5pPr marL="1828663" indent="0">
              <a:buNone/>
              <a:defRPr b="1">
                <a:solidFill>
                  <a:schemeClr val="bg1"/>
                </a:solidFill>
              </a:defRPr>
            </a:lvl5pPr>
          </a:lstStyle>
          <a:p>
            <a:pPr lvl="0"/>
            <a:endParaRPr lang="zh-CN" altLang="en-US" dirty="0"/>
          </a:p>
        </p:txBody>
      </p:sp>
      <p:pic>
        <p:nvPicPr>
          <p:cNvPr id="2" name="图片 1">
            <a:extLst>
              <a:ext uri="{FF2B5EF4-FFF2-40B4-BE49-F238E27FC236}">
                <a16:creationId xmlns:a16="http://schemas.microsoft.com/office/drawing/2014/main" id="{1D90DB62-1BC7-5189-C42C-3D9961ED2577}"/>
              </a:ext>
            </a:extLst>
          </p:cNvPr>
          <p:cNvPicPr>
            <a:picLocks noChangeAspect="1"/>
          </p:cNvPicPr>
          <p:nvPr userDrawn="1"/>
        </p:nvPicPr>
        <p:blipFill>
          <a:blip r:embed="rId3">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3" name="图片 2">
            <a:extLst>
              <a:ext uri="{FF2B5EF4-FFF2-40B4-BE49-F238E27FC236}">
                <a16:creationId xmlns:a16="http://schemas.microsoft.com/office/drawing/2014/main" id="{0C6513E3-AF68-087D-8BA6-B5B4CB4517E2}"/>
              </a:ext>
            </a:extLst>
          </p:cNvPr>
          <p:cNvPicPr>
            <a:picLocks noChangeAspect="1"/>
          </p:cNvPicPr>
          <p:nvPr userDrawn="1"/>
        </p:nvPicPr>
        <p:blipFill>
          <a:blip r:embed="rId4">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4284048065"/>
      </p:ext>
    </p:extLst>
  </p:cSld>
  <p:clrMapOvr>
    <a:overrideClrMapping bg1="lt1" tx1="dk1" bg2="lt2" tx2="dk2" accent1="accent1" accent2="accent2" accent3="accent3" accent4="accent4" accent5="accent5" accent6="accent6" hlink="hlink" folHlink="folHlink"/>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userDrawn="1">
  <p:cSld name="1_末尾幻灯片">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1880324D-53AD-EC4E-B92F-83312C80ED4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14" name="Rectangle 13">
            <a:extLst>
              <a:ext uri="{FF2B5EF4-FFF2-40B4-BE49-F238E27FC236}">
                <a16:creationId xmlns:a16="http://schemas.microsoft.com/office/drawing/2014/main" id="{4129C334-CACA-4BE1-A84C-41F6820FF127}"/>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Rectangle 14">
            <a:extLst>
              <a:ext uri="{FF2B5EF4-FFF2-40B4-BE49-F238E27FC236}">
                <a16:creationId xmlns:a16="http://schemas.microsoft.com/office/drawing/2014/main" id="{6907BCD2-9008-43D6-B003-96C575232D66}"/>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Freeform: Shape 10">
            <a:extLst>
              <a:ext uri="{FF2B5EF4-FFF2-40B4-BE49-F238E27FC236}">
                <a16:creationId xmlns:a16="http://schemas.microsoft.com/office/drawing/2014/main" id="{0A271160-581E-4BCE-BACF-7271659F1D01}"/>
              </a:ext>
            </a:extLst>
          </p:cNvPr>
          <p:cNvSpPr/>
          <p:nvPr/>
        </p:nvSpPr>
        <p:spPr>
          <a:xfrm>
            <a:off x="12191319" y="0"/>
            <a:ext cx="684" cy="13546"/>
          </a:xfrm>
          <a:custGeom>
            <a:avLst/>
            <a:gdLst>
              <a:gd name="connsiteX0" fmla="*/ 0 w 684"/>
              <a:gd name="connsiteY0" fmla="*/ 0 h 13546"/>
              <a:gd name="connsiteX1" fmla="*/ 684 w 684"/>
              <a:gd name="connsiteY1" fmla="*/ 0 h 13546"/>
              <a:gd name="connsiteX2" fmla="*/ 684 w 684"/>
              <a:gd name="connsiteY2" fmla="*/ 13546 h 13546"/>
              <a:gd name="connsiteX3" fmla="*/ 0 w 684"/>
              <a:gd name="connsiteY3" fmla="*/ 0 h 13546"/>
            </a:gdLst>
            <a:ahLst/>
            <a:cxnLst>
              <a:cxn ang="0">
                <a:pos x="connsiteX0" y="connsiteY0"/>
              </a:cxn>
              <a:cxn ang="0">
                <a:pos x="connsiteX1" y="connsiteY1"/>
              </a:cxn>
              <a:cxn ang="0">
                <a:pos x="connsiteX2" y="connsiteY2"/>
              </a:cxn>
              <a:cxn ang="0">
                <a:pos x="connsiteX3" y="connsiteY3"/>
              </a:cxn>
            </a:cxnLst>
            <a:rect l="l" t="t" r="r" b="b"/>
            <a:pathLst>
              <a:path w="684" h="13546">
                <a:moveTo>
                  <a:pt x="0" y="0"/>
                </a:moveTo>
                <a:lnTo>
                  <a:pt x="684" y="0"/>
                </a:lnTo>
                <a:lnTo>
                  <a:pt x="684" y="13546"/>
                </a:lnTo>
                <a:lnTo>
                  <a:pt x="0" y="0"/>
                </a:lnTo>
                <a:close/>
              </a:path>
            </a:pathLst>
          </a:custGeom>
          <a:solidFill>
            <a:schemeClr val="bg1"/>
          </a:solidFill>
          <a:ln w="14015" cap="flat">
            <a:noFill/>
            <a:prstDash val="solid"/>
            <a:miter/>
          </a:ln>
        </p:spPr>
        <p:txBody>
          <a:bodyPr wrap="square" rtlCol="0" anchor="ctr">
            <a:noAutofit/>
          </a:bodyPr>
          <a:lstStyle/>
          <a:p>
            <a:endParaRPr lang="zh-CN" altLang="en-US" sz="1800">
              <a:solidFill>
                <a:schemeClr val="tx1"/>
              </a:solidFill>
            </a:endParaRPr>
          </a:p>
        </p:txBody>
      </p:sp>
      <p:sp>
        <p:nvSpPr>
          <p:cNvPr id="27" name="Text Placeholder 26">
            <a:extLst>
              <a:ext uri="{FF2B5EF4-FFF2-40B4-BE49-F238E27FC236}">
                <a16:creationId xmlns:a16="http://schemas.microsoft.com/office/drawing/2014/main" id="{FEA7D86A-A334-4E0C-B01B-43F345A176DE}"/>
              </a:ext>
            </a:extLst>
          </p:cNvPr>
          <p:cNvSpPr>
            <a:spLocks noGrp="1"/>
          </p:cNvSpPr>
          <p:nvPr>
            <p:ph type="body" sz="quarter" idx="12" hasCustomPrompt="1"/>
          </p:nvPr>
        </p:nvSpPr>
        <p:spPr>
          <a:xfrm>
            <a:off x="8314441" y="6082576"/>
            <a:ext cx="3204458" cy="230832"/>
          </a:xfrm>
        </p:spPr>
        <p:txBody>
          <a:bodyPr vert="horz" wrap="none" lIns="91440" tIns="45720" rIns="91440" bIns="45720" rtlCol="0" anchor="ctr">
            <a:noAutofit/>
          </a:bodyPr>
          <a:lstStyle>
            <a:lvl1pPr>
              <a:defRPr lang="en-US" altLang="zh-CN" sz="1600" b="1" dirty="0">
                <a:ln>
                  <a:noFill/>
                </a:ln>
                <a:solidFill>
                  <a:schemeClr val="accent1"/>
                </a:solidFill>
                <a:latin typeface="+mj-lt"/>
                <a:ea typeface="+mj-ea"/>
                <a:cs typeface="+mj-cs"/>
              </a:defRPr>
            </a:lvl1pPr>
          </a:lstStyle>
          <a:p>
            <a:pPr marL="228573" marR="0" lvl="0" indent="-228573" algn="r" defTabSz="914332" rtl="0" eaLnBrk="1" fontAlgn="auto" latinLnBrk="0" hangingPunct="1">
              <a:lnSpc>
                <a:spcPct val="90000"/>
              </a:lnSpc>
              <a:spcBef>
                <a:spcPct val="0"/>
              </a:spcBef>
              <a:spcAft>
                <a:spcPts val="0"/>
              </a:spcAft>
              <a:buClrTx/>
              <a:buSzTx/>
              <a:buFont typeface="Arial" panose="020B0604020202020204" pitchFamily="34" charset="0"/>
              <a:buNone/>
              <a:tabLst/>
              <a:defRPr/>
            </a:pPr>
            <a:r>
              <a:rPr lang="en-US" altLang="zh-CN" dirty="0"/>
              <a:t>Grit</a:t>
            </a:r>
          </a:p>
        </p:txBody>
      </p:sp>
      <p:sp>
        <p:nvSpPr>
          <p:cNvPr id="3" name="Text Placeholder 2">
            <a:extLst>
              <a:ext uri="{FF2B5EF4-FFF2-40B4-BE49-F238E27FC236}">
                <a16:creationId xmlns:a16="http://schemas.microsoft.com/office/drawing/2014/main" id="{FC1A48BB-A1A1-4744-B0D3-FD4F42C33B9B}"/>
              </a:ext>
            </a:extLst>
          </p:cNvPr>
          <p:cNvSpPr>
            <a:spLocks noGrp="1"/>
          </p:cNvSpPr>
          <p:nvPr>
            <p:ph type="body" sz="quarter" idx="13" hasCustomPrompt="1"/>
          </p:nvPr>
        </p:nvSpPr>
        <p:spPr>
          <a:xfrm>
            <a:off x="714723" y="2737247"/>
            <a:ext cx="5842001" cy="1383506"/>
          </a:xfrm>
        </p:spPr>
        <p:txBody>
          <a:bodyPr vert="horz" lIns="91440" tIns="45720" rIns="91440" bIns="45720" rtlCol="0" anchor="b">
            <a:noAutofit/>
          </a:bodyPr>
          <a:lstStyle>
            <a:lvl1pPr algn="l">
              <a:defRPr lang="en-US" altLang="zh-CN" sz="8000" b="1" i="0" dirty="0">
                <a:solidFill>
                  <a:srgbClr val="FFFFFF"/>
                </a:solidFill>
                <a:latin typeface="+mj-lt"/>
                <a:ea typeface="+mj-ea"/>
                <a:cs typeface="+mj-cs"/>
              </a:defRPr>
            </a:lvl1pPr>
          </a:lstStyle>
          <a:p>
            <a:pPr lvl="0">
              <a:spcBef>
                <a:spcPct val="0"/>
              </a:spcBef>
              <a:buNone/>
            </a:pPr>
            <a:r>
              <a:rPr lang="en-US" altLang="zh-CN" dirty="0"/>
              <a:t>Thank you</a:t>
            </a:r>
          </a:p>
        </p:txBody>
      </p:sp>
      <p:pic>
        <p:nvPicPr>
          <p:cNvPr id="7" name="图片 6">
            <a:extLst>
              <a:ext uri="{FF2B5EF4-FFF2-40B4-BE49-F238E27FC236}">
                <a16:creationId xmlns:a16="http://schemas.microsoft.com/office/drawing/2014/main" id="{ACA91101-6551-CFAC-38BE-CAD07DFA046C}"/>
              </a:ext>
            </a:extLst>
          </p:cNvPr>
          <p:cNvPicPr>
            <a:picLocks noChangeAspect="1"/>
          </p:cNvPicPr>
          <p:nvPr userDrawn="1"/>
        </p:nvPicPr>
        <p:blipFill>
          <a:blip r:embed="rId3">
            <a:duotone>
              <a:schemeClr val="bg2">
                <a:shade val="45000"/>
                <a:satMod val="135000"/>
              </a:schemeClr>
              <a:prstClr val="white"/>
            </a:duotone>
            <a:extLst>
              <a:ext uri="{BEBA8EAE-BF5A-486C-A8C5-ECC9F3942E4B}">
                <a14:imgProps xmlns:a14="http://schemas.microsoft.com/office/drawing/2010/main">
                  <a14:imgLayer r:embed="rId4">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8213598" y="2801933"/>
            <a:ext cx="3516518" cy="1579597"/>
          </a:xfrm>
          <a:prstGeom prst="rect">
            <a:avLst/>
          </a:prstGeom>
        </p:spPr>
      </p:pic>
      <p:pic>
        <p:nvPicPr>
          <p:cNvPr id="4" name="图片 3">
            <a:extLst>
              <a:ext uri="{FF2B5EF4-FFF2-40B4-BE49-F238E27FC236}">
                <a16:creationId xmlns:a16="http://schemas.microsoft.com/office/drawing/2014/main" id="{16367A13-8D37-4D16-02BF-867DB1639451}"/>
              </a:ext>
            </a:extLst>
          </p:cNvPr>
          <p:cNvPicPr>
            <a:picLocks noChangeAspect="1"/>
          </p:cNvPicPr>
          <p:nvPr userDrawn="1"/>
        </p:nvPicPr>
        <p:blipFill>
          <a:blip r:embed="rId5">
            <a:duotone>
              <a:prstClr val="black"/>
              <a:schemeClr val="tx2">
                <a:tint val="45000"/>
                <a:satMod val="400000"/>
              </a:schemeClr>
            </a:duotone>
            <a:extLst>
              <a:ext uri="{BEBA8EAE-BF5A-486C-A8C5-ECC9F3942E4B}">
                <a14:imgProps xmlns:a14="http://schemas.microsoft.com/office/drawing/2010/main">
                  <a14:imgLayer r:embed="rId6">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5" name="图片 4">
            <a:extLst>
              <a:ext uri="{FF2B5EF4-FFF2-40B4-BE49-F238E27FC236}">
                <a16:creationId xmlns:a16="http://schemas.microsoft.com/office/drawing/2014/main" id="{0BEF51FA-017F-F0D1-9466-B21881B7CA77}"/>
              </a:ext>
            </a:extLst>
          </p:cNvPr>
          <p:cNvPicPr>
            <a:picLocks noChangeAspect="1"/>
          </p:cNvPicPr>
          <p:nvPr userDrawn="1"/>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1391714113"/>
      </p:ext>
    </p:extLst>
  </p:cSld>
  <p:clrMapOvr>
    <a:overrideClrMapping bg1="lt1" tx1="dk1" bg2="lt2" tx2="dk2" accent1="accent1" accent2="accent2" accent3="accent3" accent4="accent4" accent5="accent5" accent6="accent6" hlink="hlink" folHlink="folHlink"/>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preserve="1" userDrawn="1">
  <p:cSld name="2_Title Slide">
    <p:spTree>
      <p:nvGrpSpPr>
        <p:cNvPr id="1" name=""/>
        <p:cNvGrpSpPr/>
        <p:nvPr/>
      </p:nvGrpSpPr>
      <p:grpSpPr>
        <a:xfrm>
          <a:off x="0" y="0"/>
          <a:ext cx="0" cy="0"/>
          <a:chOff x="0" y="0"/>
          <a:chExt cx="0" cy="0"/>
        </a:xfrm>
      </p:grpSpPr>
      <p:grpSp>
        <p:nvGrpSpPr>
          <p:cNvPr id="40" name="组合 39"/>
          <p:cNvGrpSpPr/>
          <p:nvPr/>
        </p:nvGrpSpPr>
        <p:grpSpPr>
          <a:xfrm>
            <a:off x="0" y="0"/>
            <a:ext cx="12192001" cy="6858001"/>
            <a:chOff x="0" y="0"/>
            <a:chExt cx="12192001" cy="6858001"/>
          </a:xfrm>
        </p:grpSpPr>
        <p:sp>
          <p:nvSpPr>
            <p:cNvPr id="26" name="任意多边形: 形状 25"/>
            <p:cNvSpPr/>
            <p:nvPr userDrawn="1"/>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7" name="图片 26"/>
            <p:cNvPicPr>
              <a:picLocks noChangeAspect="1"/>
            </p:cNvPicPr>
            <p:nvPr/>
          </p:nvPicPr>
          <p:blipFill>
            <a:blip r:embed="rId3">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userDrawn="1"/>
          </p:nvGrpSpPr>
          <p:grpSpPr>
            <a:xfrm rot="16200000">
              <a:off x="10661887" y="5765801"/>
              <a:ext cx="783772" cy="783772"/>
              <a:chOff x="9052852" y="3572185"/>
              <a:chExt cx="344753" cy="344753"/>
            </a:xfrm>
          </p:grpSpPr>
          <p:grpSp>
            <p:nvGrpSpPr>
              <p:cNvPr id="55" name="组合 54"/>
              <p:cNvGrpSpPr/>
              <p:nvPr userDrawn="1"/>
            </p:nvGrpSpPr>
            <p:grpSpPr>
              <a:xfrm flipV="1">
                <a:off x="9052852" y="3572185"/>
                <a:ext cx="344753" cy="344753"/>
                <a:chOff x="2909263" y="4352415"/>
                <a:chExt cx="93625" cy="93625"/>
              </a:xfrm>
            </p:grpSpPr>
            <p:sp>
              <p:nvSpPr>
                <p:cNvPr id="57" name="椭圆 56"/>
                <p:cNvSpPr/>
                <p:nvPr userDrawn="1"/>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userDrawn="1"/>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userDrawn="1"/>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8" name="标题 4">
            <a:extLst>
              <a:ext uri="{FF2B5EF4-FFF2-40B4-BE49-F238E27FC236}">
                <a16:creationId xmlns:a16="http://schemas.microsoft.com/office/drawing/2014/main" id="{D4E51AF3-4B86-C068-61E8-F89039CF3D69}"/>
              </a:ext>
            </a:extLst>
          </p:cNvPr>
          <p:cNvSpPr>
            <a:spLocks noGrp="1"/>
          </p:cNvSpPr>
          <p:nvPr>
            <p:ph type="ctrTitle" hasCustomPrompt="1"/>
          </p:nvPr>
        </p:nvSpPr>
        <p:spPr>
          <a:xfrm>
            <a:off x="4594541" y="1855139"/>
            <a:ext cx="6749372" cy="2587173"/>
          </a:xfrm>
          <a:prstGeom prst="rect">
            <a:avLst/>
          </a:prstGeom>
        </p:spPr>
        <p:txBody>
          <a:bodyPr wrap="square" anchor="b">
            <a:normAutofit/>
          </a:bodyPr>
          <a:lstStyle>
            <a:lvl1pPr algn="ctr">
              <a:lnSpc>
                <a:spcPct val="100000"/>
              </a:lnSpc>
              <a:defRPr sz="5400">
                <a:ln w="19050">
                  <a:noFill/>
                </a:ln>
                <a:solidFill>
                  <a:schemeClr val="tx1"/>
                </a:solidFill>
              </a:defRPr>
            </a:lvl1pPr>
          </a:lstStyle>
          <a:p>
            <a:pPr lvl="0"/>
            <a:r>
              <a:rPr lang="en-US" altLang="zh-CN" dirty="0"/>
              <a:t>Intelligent Planning     &amp; </a:t>
            </a:r>
            <a:br>
              <a:rPr lang="en-US" altLang="zh-CN" dirty="0"/>
            </a:br>
            <a:r>
              <a:rPr lang="en-US" altLang="zh-CN" dirty="0"/>
              <a:t>Control Tower</a:t>
            </a:r>
            <a:endParaRPr lang="en-US" dirty="0"/>
          </a:p>
        </p:txBody>
      </p:sp>
      <p:pic>
        <p:nvPicPr>
          <p:cNvPr id="3" name="图片 2">
            <a:extLst>
              <a:ext uri="{FF2B5EF4-FFF2-40B4-BE49-F238E27FC236}">
                <a16:creationId xmlns:a16="http://schemas.microsoft.com/office/drawing/2014/main" id="{28F19448-DCD7-2BCE-82BA-95A656302291}"/>
              </a:ext>
            </a:extLst>
          </p:cNvPr>
          <p:cNvPicPr>
            <a:picLocks noChangeAspect="1"/>
          </p:cNvPicPr>
          <p:nvPr userDrawn="1"/>
        </p:nvPicPr>
        <p:blipFill>
          <a:blip r:embed="rId5">
            <a:duotone>
              <a:prstClr val="black"/>
              <a:schemeClr val="tx2">
                <a:tint val="45000"/>
                <a:satMod val="400000"/>
              </a:schemeClr>
            </a:duotone>
            <a:extLst>
              <a:ext uri="{BEBA8EAE-BF5A-486C-A8C5-ECC9F3942E4B}">
                <a14:imgProps xmlns:a14="http://schemas.microsoft.com/office/drawing/2010/main">
                  <a14:imgLayer r:embed="rId6">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
        <p:nvSpPr>
          <p:cNvPr id="4" name="文本框 3">
            <a:extLst>
              <a:ext uri="{FF2B5EF4-FFF2-40B4-BE49-F238E27FC236}">
                <a16:creationId xmlns:a16="http://schemas.microsoft.com/office/drawing/2014/main" id="{7C0BEDAE-EB8C-24D6-C6AF-B8C73A0C8E8B}"/>
              </a:ext>
            </a:extLst>
          </p:cNvPr>
          <p:cNvSpPr txBox="1"/>
          <p:nvPr userDrawn="1"/>
        </p:nvSpPr>
        <p:spPr>
          <a:xfrm>
            <a:off x="1104756" y="2579023"/>
            <a:ext cx="1946564" cy="1107996"/>
          </a:xfrm>
          <a:prstGeom prst="rect">
            <a:avLst/>
          </a:prstGeom>
          <a:noFill/>
        </p:spPr>
        <p:txBody>
          <a:bodyPr wrap="square" rtlCol="0">
            <a:spAutoFit/>
          </a:bodyPr>
          <a:lstStyle/>
          <a:p>
            <a:r>
              <a:rPr lang="en-US" altLang="zh-CN" sz="6600" b="1" dirty="0">
                <a:latin typeface="+mj-ea"/>
                <a:ea typeface="+mj-ea"/>
              </a:rPr>
              <a:t>IPC</a:t>
            </a:r>
            <a:endParaRPr lang="zh-CN" altLang="en-US" sz="6600" b="1" dirty="0">
              <a:latin typeface="+mj-ea"/>
              <a:ea typeface="+mj-ea"/>
            </a:endParaRPr>
          </a:p>
        </p:txBody>
      </p:sp>
      <p:pic>
        <p:nvPicPr>
          <p:cNvPr id="2" name="图片 1">
            <a:extLst>
              <a:ext uri="{FF2B5EF4-FFF2-40B4-BE49-F238E27FC236}">
                <a16:creationId xmlns:a16="http://schemas.microsoft.com/office/drawing/2014/main" id="{0BEF51FA-017F-F0D1-9466-B21881B7CA77}"/>
              </a:ext>
            </a:extLst>
          </p:cNvPr>
          <p:cNvPicPr>
            <a:picLocks noChangeAspect="1"/>
          </p:cNvPicPr>
          <p:nvPr userDrawn="1"/>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5627437" y="3167173"/>
            <a:ext cx="937127" cy="523654"/>
          </a:xfrm>
          <a:prstGeom prst="rect">
            <a:avLst/>
          </a:prstGeom>
        </p:spPr>
      </p:pic>
      <p:pic>
        <p:nvPicPr>
          <p:cNvPr id="5" name="图片 4">
            <a:extLst>
              <a:ext uri="{FF2B5EF4-FFF2-40B4-BE49-F238E27FC236}">
                <a16:creationId xmlns:a16="http://schemas.microsoft.com/office/drawing/2014/main" id="{0BEF51FA-017F-F0D1-9466-B21881B7CA77}"/>
              </a:ext>
            </a:extLst>
          </p:cNvPr>
          <p:cNvPicPr>
            <a:picLocks noChangeAspect="1"/>
          </p:cNvPicPr>
          <p:nvPr userDrawn="1"/>
        </p:nvPicPr>
        <p:blipFill>
          <a:blip r:embed="rId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5779837" y="3319573"/>
            <a:ext cx="937127" cy="523654"/>
          </a:xfrm>
          <a:prstGeom prst="rect">
            <a:avLst/>
          </a:prstGeom>
        </p:spPr>
      </p:pic>
    </p:spTree>
    <p:extLst>
      <p:ext uri="{BB962C8B-B14F-4D97-AF65-F5344CB8AC3E}">
        <p14:creationId xmlns:p14="http://schemas.microsoft.com/office/powerpoint/2010/main" val="2800591240"/>
      </p:ext>
    </p:extLst>
  </p:cSld>
  <p:clrMapOvr>
    <a:overrideClrMapping bg1="lt1" tx1="dk1" bg2="lt2" tx2="dk2" accent1="accent1" accent2="accent2" accent3="accent3" accent4="accent4" accent5="accent5" accent6="accent6" hlink="hlink" folHlink="folHlink"/>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3_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5010866"/>
      </p:ext>
    </p:extLst>
  </p:cSld>
  <p:clrMapOvr>
    <a:overrideClrMapping bg1="lt1" tx1="dk1" bg2="lt2" tx2="dk2" accent1="accent1" accent2="accent2" accent3="accent3" accent4="accent4" accent5="accent5" accent6="accent6" hlink="hlink" folHlink="folHlink"/>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p:cSld name="1_标题幻灯片">
    <p:spTree>
      <p:nvGrpSpPr>
        <p:cNvPr id="1" name=""/>
        <p:cNvGrpSpPr/>
        <p:nvPr/>
      </p:nvGrpSpPr>
      <p:grpSpPr>
        <a:xfrm>
          <a:off x="0" y="0"/>
          <a:ext cx="0" cy="0"/>
          <a:chOff x="0" y="0"/>
          <a:chExt cx="0" cy="0"/>
        </a:xfrm>
      </p:grpSpPr>
      <p:pic>
        <p:nvPicPr>
          <p:cNvPr id="19" name="图片 18">
            <a:extLst>
              <a:ext uri="{FF2B5EF4-FFF2-40B4-BE49-F238E27FC236}">
                <a16:creationId xmlns:a16="http://schemas.microsoft.com/office/drawing/2014/main" id="{BE0DAE40-464B-542A-F3CA-72C57176CEA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200452" cy="7039661"/>
          </a:xfrm>
          <a:prstGeom prst="rect">
            <a:avLst/>
          </a:prstGeom>
        </p:spPr>
      </p:pic>
      <p:sp>
        <p:nvSpPr>
          <p:cNvPr id="2" name="Rectangle 3">
            <a:extLst>
              <a:ext uri="{FF2B5EF4-FFF2-40B4-BE49-F238E27FC236}">
                <a16:creationId xmlns:a16="http://schemas.microsoft.com/office/drawing/2014/main" id="{12F37E50-CF33-4241-AF80-F4953C679288}"/>
              </a:ext>
            </a:extLst>
          </p:cNvPr>
          <p:cNvSpPr/>
          <p:nvPr/>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Rectangle 11">
            <a:extLst>
              <a:ext uri="{FF2B5EF4-FFF2-40B4-BE49-F238E27FC236}">
                <a16:creationId xmlns:a16="http://schemas.microsoft.com/office/drawing/2014/main" id="{0F60084F-F637-4FA4-BE35-D702CF6DAA6A}"/>
              </a:ext>
            </a:extLst>
          </p:cNvPr>
          <p:cNvSpPr/>
          <p:nvPr/>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Title 1">
            <a:extLst>
              <a:ext uri="{FF2B5EF4-FFF2-40B4-BE49-F238E27FC236}">
                <a16:creationId xmlns:a16="http://schemas.microsoft.com/office/drawing/2014/main" id="{2869597B-F909-5F67-0679-C0ADB832BB0C}"/>
              </a:ext>
            </a:extLst>
          </p:cNvPr>
          <p:cNvSpPr>
            <a:spLocks noGrp="1"/>
          </p:cNvSpPr>
          <p:nvPr>
            <p:ph type="ctrTitle" hasCustomPrompt="1"/>
          </p:nvPr>
        </p:nvSpPr>
        <p:spPr>
          <a:xfrm>
            <a:off x="1027460" y="2767054"/>
            <a:ext cx="5200650" cy="1794141"/>
          </a:xfr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cxnSp>
        <p:nvCxnSpPr>
          <p:cNvPr id="8" name="Straight Connector 13">
            <a:extLst>
              <a:ext uri="{FF2B5EF4-FFF2-40B4-BE49-F238E27FC236}">
                <a16:creationId xmlns:a16="http://schemas.microsoft.com/office/drawing/2014/main" id="{A7BE3E13-E4E5-2397-0174-77949629B0D5}"/>
              </a:ext>
            </a:extLst>
          </p:cNvPr>
          <p:cNvCxnSpPr>
            <a:cxnSpLocks/>
          </p:cNvCxnSpPr>
          <p:nvPr/>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4" name="图片 3">
            <a:extLst>
              <a:ext uri="{FF2B5EF4-FFF2-40B4-BE49-F238E27FC236}">
                <a16:creationId xmlns:a16="http://schemas.microsoft.com/office/drawing/2014/main" id="{E96A4A0C-29EC-8C3E-D594-13ECAD0B336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Rectangle 3">
            <a:extLst>
              <a:ext uri="{FF2B5EF4-FFF2-40B4-BE49-F238E27FC236}">
                <a16:creationId xmlns:a16="http://schemas.microsoft.com/office/drawing/2014/main" id="{A1C87679-80C6-AE99-8DAA-AABF3C22FC41}"/>
              </a:ext>
            </a:extLst>
          </p:cNvPr>
          <p:cNvSpPr/>
          <p:nvPr/>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Rectangle 11">
            <a:extLst>
              <a:ext uri="{FF2B5EF4-FFF2-40B4-BE49-F238E27FC236}">
                <a16:creationId xmlns:a16="http://schemas.microsoft.com/office/drawing/2014/main" id="{066661E8-8677-3293-5AAC-326D368AABAB}"/>
              </a:ext>
            </a:extLst>
          </p:cNvPr>
          <p:cNvSpPr/>
          <p:nvPr/>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9" name="Straight Connector 13">
            <a:extLst>
              <a:ext uri="{FF2B5EF4-FFF2-40B4-BE49-F238E27FC236}">
                <a16:creationId xmlns:a16="http://schemas.microsoft.com/office/drawing/2014/main" id="{DC9115AD-2831-67A5-AD90-EEEFA56EA9EF}"/>
              </a:ext>
            </a:extLst>
          </p:cNvPr>
          <p:cNvCxnSpPr>
            <a:cxnSpLocks/>
          </p:cNvCxnSpPr>
          <p:nvPr/>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10" name="图片 9">
            <a:extLst>
              <a:ext uri="{FF2B5EF4-FFF2-40B4-BE49-F238E27FC236}">
                <a16:creationId xmlns:a16="http://schemas.microsoft.com/office/drawing/2014/main" id="{81114C14-9BAA-470F-E3EF-5D0EA90EE792}"/>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11" name="图片 10">
            <a:extLst>
              <a:ext uri="{FF2B5EF4-FFF2-40B4-BE49-F238E27FC236}">
                <a16:creationId xmlns:a16="http://schemas.microsoft.com/office/drawing/2014/main" id="{0C8A08A5-2F8F-C0CD-6BE3-8EF426240607}"/>
              </a:ext>
            </a:extLst>
          </p:cNvPr>
          <p:cNvPicPr>
            <a:picLocks noChangeAspect="1"/>
          </p:cNvPicPr>
          <p:nvPr/>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1153586741"/>
      </p:ext>
    </p:extLst>
  </p:cSld>
  <p:clrMapOvr>
    <a:overrideClrMapping bg1="lt1" tx1="dk1" bg2="lt2" tx2="dk2" accent1="accent1" accent2="accent2" accent3="accent3" accent4="accent4" accent5="accent5" accent6="accent6" hlink="hlink" folHlink="folHlink"/>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p:cSld name="标题幻灯片">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01C2BD55-C666-8B43-19FA-C2F61102392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Title 1">
            <a:extLst>
              <a:ext uri="{FF2B5EF4-FFF2-40B4-BE49-F238E27FC236}">
                <a16:creationId xmlns:a16="http://schemas.microsoft.com/office/drawing/2014/main" id="{53FD368F-863D-4527-8F6D-CEC87B7E23EE}"/>
              </a:ext>
            </a:extLst>
          </p:cNvPr>
          <p:cNvSpPr>
            <a:spLocks noGrp="1"/>
          </p:cNvSpPr>
          <p:nvPr>
            <p:ph type="ctrTitle"/>
          </p:nvPr>
        </p:nvSpPr>
        <p:spPr>
          <a:xfrm>
            <a:off x="1029470" y="1862477"/>
            <a:ext cx="5200650" cy="2605695"/>
          </a:xfrm>
          <a:noFill/>
          <a:ln>
            <a:noFill/>
          </a:ln>
        </p:spPr>
        <p:txBody>
          <a:bodyPr vert="horz" wrap="square" lIns="91440" tIns="45720" rIns="91440" bIns="45720" rtlCol="0" anchor="b">
            <a:noAutofit/>
          </a:bodyPr>
          <a:lstStyle>
            <a:lvl1pPr algn="ctr">
              <a:defRPr lang="zh-CN" altLang="en-US" sz="4400" i="0" dirty="0">
                <a:solidFill>
                  <a:schemeClr val="bg1"/>
                </a:solidFill>
              </a:defRPr>
            </a:lvl1pPr>
          </a:lstStyle>
          <a:p>
            <a:pPr lvl="0"/>
            <a:endParaRPr lang="zh-CN" altLang="en-US" dirty="0"/>
          </a:p>
        </p:txBody>
      </p:sp>
      <p:sp>
        <p:nvSpPr>
          <p:cNvPr id="4" name="Rectangle 3">
            <a:extLst>
              <a:ext uri="{FF2B5EF4-FFF2-40B4-BE49-F238E27FC236}">
                <a16:creationId xmlns:a16="http://schemas.microsoft.com/office/drawing/2014/main" id="{12F37E50-CF33-4241-AF80-F4953C679288}"/>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Rectangle 11">
            <a:extLst>
              <a:ext uri="{FF2B5EF4-FFF2-40B4-BE49-F238E27FC236}">
                <a16:creationId xmlns:a16="http://schemas.microsoft.com/office/drawing/2014/main" id="{0F60084F-F637-4FA4-BE35-D702CF6DAA6A}"/>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4" name="Straight Connector 13">
            <a:extLst>
              <a:ext uri="{FF2B5EF4-FFF2-40B4-BE49-F238E27FC236}">
                <a16:creationId xmlns:a16="http://schemas.microsoft.com/office/drawing/2014/main" id="{DC3C8D67-DBD4-4831-B956-FBC1F2BA8C47}"/>
              </a:ext>
            </a:extLst>
          </p:cNvPr>
          <p:cNvCxnSpPr>
            <a:cxnSpLocks/>
          </p:cNvCxnSpPr>
          <p:nvPr/>
        </p:nvCxnSpPr>
        <p:spPr>
          <a:xfrm flipV="1">
            <a:off x="957262" y="1862477"/>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9210442"/>
      </p:ext>
    </p:extLst>
  </p:cSld>
  <p:clrMapOvr>
    <a:overrideClrMapping bg1="lt1" tx1="dk1" bg2="lt2" tx2="dk2" accent1="accent1" accent2="accent2" accent3="accent3" accent4="accent4" accent5="accent5" accent6="accent6" hlink="hlink" folHlink="folHlink"/>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节标题">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AD9F9ABC-0F7B-6DEB-6195-893CD20C74E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Text Placeholder 4">
            <a:extLst>
              <a:ext uri="{FF2B5EF4-FFF2-40B4-BE49-F238E27FC236}">
                <a16:creationId xmlns:a16="http://schemas.microsoft.com/office/drawing/2014/main" id="{7AF4A77F-477A-42CF-AB01-C5164F0848BA}"/>
              </a:ext>
            </a:extLst>
          </p:cNvPr>
          <p:cNvSpPr>
            <a:spLocks noGrp="1"/>
          </p:cNvSpPr>
          <p:nvPr>
            <p:ph type="body" sz="quarter" idx="10"/>
          </p:nvPr>
        </p:nvSpPr>
        <p:spPr>
          <a:xfrm>
            <a:off x="3447433" y="3111089"/>
            <a:ext cx="4607238" cy="794990"/>
          </a:xfrm>
        </p:spPr>
        <p:txBody>
          <a:bodyPr wrap="none">
            <a:noAutofit/>
          </a:bodyPr>
          <a:lstStyle>
            <a:lvl1pPr marL="0" indent="0" algn="ctr">
              <a:buNone/>
              <a:defRPr sz="4400" b="1" i="0">
                <a:solidFill>
                  <a:schemeClr val="bg1"/>
                </a:solidFill>
                <a:latin typeface="+mj-lt"/>
              </a:defRPr>
            </a:lvl1pPr>
            <a:lvl2pPr marL="457166" indent="0">
              <a:buNone/>
              <a:defRPr b="1">
                <a:solidFill>
                  <a:schemeClr val="bg1"/>
                </a:solidFill>
              </a:defRPr>
            </a:lvl2pPr>
            <a:lvl3pPr marL="914330" indent="0">
              <a:buNone/>
              <a:defRPr b="1">
                <a:solidFill>
                  <a:schemeClr val="bg1"/>
                </a:solidFill>
              </a:defRPr>
            </a:lvl3pPr>
            <a:lvl4pPr marL="1371496" indent="0">
              <a:buNone/>
              <a:defRPr b="1">
                <a:solidFill>
                  <a:schemeClr val="bg1"/>
                </a:solidFill>
              </a:defRPr>
            </a:lvl4pPr>
            <a:lvl5pPr marL="1828663" indent="0">
              <a:buNone/>
              <a:defRPr b="1">
                <a:solidFill>
                  <a:schemeClr val="bg1"/>
                </a:solidFill>
              </a:defRPr>
            </a:lvl5pPr>
          </a:lstStyle>
          <a:p>
            <a:pPr lvl="0"/>
            <a:endParaRPr lang="zh-CN" altLang="en-US" dirty="0"/>
          </a:p>
        </p:txBody>
      </p:sp>
    </p:spTree>
    <p:extLst>
      <p:ext uri="{BB962C8B-B14F-4D97-AF65-F5344CB8AC3E}">
        <p14:creationId xmlns:p14="http://schemas.microsoft.com/office/powerpoint/2010/main" val="1135862918"/>
      </p:ext>
    </p:extLst>
  </p:cSld>
  <p:clrMapOvr>
    <a:overrideClrMapping bg1="lt1" tx1="dk1" bg2="lt2" tx2="dk2" accent1="accent1" accent2="accent2" accent3="accent3" accent4="accent4" accent5="accent5" accent6="accent6" hlink="hlink" folHlink="folHlink"/>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5B5B30-EAE6-475D-9E77-B9C4E87F9C88}"/>
              </a:ext>
            </a:extLst>
          </p:cNvPr>
          <p:cNvSpPr>
            <a:spLocks noGrp="1"/>
          </p:cNvSpPr>
          <p:nvPr>
            <p:ph type="title"/>
          </p:nvPr>
        </p:nvSpPr>
        <p:spPr>
          <a:xfrm>
            <a:off x="1055988" y="63795"/>
            <a:ext cx="10858500" cy="565883"/>
          </a:xfrm>
        </p:spPr>
        <p:txBody>
          <a:bodyPr/>
          <a:lstStyle>
            <a:lvl1pPr>
              <a:defRPr>
                <a:solidFill>
                  <a:schemeClr val="bg1"/>
                </a:solidFill>
              </a:defRPr>
            </a:lvl1pPr>
          </a:lstStyle>
          <a:p>
            <a:endParaRPr lang="zh-CN" altLang="en-US" dirty="0"/>
          </a:p>
        </p:txBody>
      </p:sp>
      <p:sp>
        <p:nvSpPr>
          <p:cNvPr id="3" name="Freeform 5">
            <a:extLst>
              <a:ext uri="{FF2B5EF4-FFF2-40B4-BE49-F238E27FC236}">
                <a16:creationId xmlns:a16="http://schemas.microsoft.com/office/drawing/2014/main" id="{30EAF3CF-A2E7-6ECC-6A5B-97BFF20CBA8B}"/>
              </a:ext>
            </a:extLst>
          </p:cNvPr>
          <p:cNvSpPr>
            <a:spLocks noChangeAspect="1" noEditPoints="1"/>
          </p:cNvSpPr>
          <p:nvPr userDrawn="1"/>
        </p:nvSpPr>
        <p:spPr bwMode="black">
          <a:xfrm>
            <a:off x="630711" y="246442"/>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3592896840"/>
      </p:ext>
    </p:extLst>
  </p:cSld>
  <p:clrMapOvr>
    <a:overrideClrMapping bg1="lt1" tx1="dk1" bg2="lt2" tx2="dk2" accent1="accent1" accent2="accent2" accent3="accent3" accent4="accent4" accent5="accent5" accent6="accent6" hlink="hlink" folHlink="folHlink"/>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p:cSld name="空白">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52D1C7A1-2043-1669-5F8A-7B227BD7D30A}"/>
              </a:ext>
            </a:extLst>
          </p:cNvPr>
          <p:cNvSpPr>
            <a:spLocks noGrp="1"/>
          </p:cNvSpPr>
          <p:nvPr>
            <p:ph type="title"/>
          </p:nvPr>
        </p:nvSpPr>
        <p:spPr>
          <a:xfrm>
            <a:off x="825329" y="37213"/>
            <a:ext cx="10858500" cy="563581"/>
          </a:xfrm>
        </p:spPr>
        <p:txBody>
          <a:bodyPr/>
          <a:lstStyle>
            <a:lvl1pPr>
              <a:defRPr>
                <a:solidFill>
                  <a:schemeClr val="bg1"/>
                </a:solidFill>
              </a:defRPr>
            </a:lvl1pPr>
          </a:lstStyle>
          <a:p>
            <a:endParaRPr lang="zh-CN" altLang="en-US" dirty="0"/>
          </a:p>
        </p:txBody>
      </p:sp>
      <p:sp>
        <p:nvSpPr>
          <p:cNvPr id="2" name="Freeform 5">
            <a:extLst>
              <a:ext uri="{FF2B5EF4-FFF2-40B4-BE49-F238E27FC236}">
                <a16:creationId xmlns:a16="http://schemas.microsoft.com/office/drawing/2014/main" id="{8B2B53EC-7B47-E8AA-4EE2-A75948C99D9C}"/>
              </a:ext>
            </a:extLst>
          </p:cNvPr>
          <p:cNvSpPr>
            <a:spLocks noChangeAspect="1" noEditPoints="1"/>
          </p:cNvSpPr>
          <p:nvPr userDrawn="1"/>
        </p:nvSpPr>
        <p:spPr bwMode="black">
          <a:xfrm>
            <a:off x="460591" y="240913"/>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3283806111"/>
      </p:ext>
    </p:extLst>
  </p:cSld>
  <p:clrMapOvr>
    <a:overrideClrMapping bg1="lt1" tx1="dk1" bg2="lt2" tx2="dk2" accent1="accent1" accent2="accent2" accent3="accent3" accent4="accent4" accent5="accent5" accent6="accent6" hlink="hlink" folHlink="folHlink"/>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p:cSld name="末尾幻灯片">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E8C971A2-91C0-0F12-DA53-E6784B322847}"/>
              </a:ext>
            </a:extLst>
          </p:cNvPr>
          <p:cNvPicPr>
            <a:picLocks noChangeAspect="1"/>
          </p:cNvPicPr>
          <p:nvPr/>
        </p:nvPicPr>
        <p:blipFill>
          <a:blip r:embed="rId2"/>
          <a:stretch>
            <a:fillRect/>
          </a:stretch>
        </p:blipFill>
        <p:spPr>
          <a:xfrm>
            <a:off x="7620000" y="13546"/>
            <a:ext cx="4576460" cy="6844454"/>
          </a:xfrm>
          <a:prstGeom prst="rect">
            <a:avLst/>
          </a:prstGeom>
        </p:spPr>
      </p:pic>
      <p:sp>
        <p:nvSpPr>
          <p:cNvPr id="14" name="Rectangle 13">
            <a:extLst>
              <a:ext uri="{FF2B5EF4-FFF2-40B4-BE49-F238E27FC236}">
                <a16:creationId xmlns:a16="http://schemas.microsoft.com/office/drawing/2014/main" id="{4129C334-CACA-4BE1-A84C-41F6820FF127}"/>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Rectangle 14">
            <a:extLst>
              <a:ext uri="{FF2B5EF4-FFF2-40B4-BE49-F238E27FC236}">
                <a16:creationId xmlns:a16="http://schemas.microsoft.com/office/drawing/2014/main" id="{6907BCD2-9008-43D6-B003-96C575232D66}"/>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Freeform: Shape 10">
            <a:extLst>
              <a:ext uri="{FF2B5EF4-FFF2-40B4-BE49-F238E27FC236}">
                <a16:creationId xmlns:a16="http://schemas.microsoft.com/office/drawing/2014/main" id="{0A271160-581E-4BCE-BACF-7271659F1D01}"/>
              </a:ext>
            </a:extLst>
          </p:cNvPr>
          <p:cNvSpPr/>
          <p:nvPr/>
        </p:nvSpPr>
        <p:spPr>
          <a:xfrm>
            <a:off x="12191319" y="0"/>
            <a:ext cx="684" cy="13546"/>
          </a:xfrm>
          <a:custGeom>
            <a:avLst/>
            <a:gdLst>
              <a:gd name="connsiteX0" fmla="*/ 0 w 684"/>
              <a:gd name="connsiteY0" fmla="*/ 0 h 13546"/>
              <a:gd name="connsiteX1" fmla="*/ 684 w 684"/>
              <a:gd name="connsiteY1" fmla="*/ 0 h 13546"/>
              <a:gd name="connsiteX2" fmla="*/ 684 w 684"/>
              <a:gd name="connsiteY2" fmla="*/ 13546 h 13546"/>
              <a:gd name="connsiteX3" fmla="*/ 0 w 684"/>
              <a:gd name="connsiteY3" fmla="*/ 0 h 13546"/>
            </a:gdLst>
            <a:ahLst/>
            <a:cxnLst>
              <a:cxn ang="0">
                <a:pos x="connsiteX0" y="connsiteY0"/>
              </a:cxn>
              <a:cxn ang="0">
                <a:pos x="connsiteX1" y="connsiteY1"/>
              </a:cxn>
              <a:cxn ang="0">
                <a:pos x="connsiteX2" y="connsiteY2"/>
              </a:cxn>
              <a:cxn ang="0">
                <a:pos x="connsiteX3" y="connsiteY3"/>
              </a:cxn>
            </a:cxnLst>
            <a:rect l="l" t="t" r="r" b="b"/>
            <a:pathLst>
              <a:path w="684" h="13546">
                <a:moveTo>
                  <a:pt x="0" y="0"/>
                </a:moveTo>
                <a:lnTo>
                  <a:pt x="684" y="0"/>
                </a:lnTo>
                <a:lnTo>
                  <a:pt x="684" y="13546"/>
                </a:lnTo>
                <a:lnTo>
                  <a:pt x="0" y="0"/>
                </a:lnTo>
                <a:close/>
              </a:path>
            </a:pathLst>
          </a:custGeom>
          <a:solidFill>
            <a:schemeClr val="bg1"/>
          </a:solidFill>
          <a:ln w="14015" cap="flat">
            <a:noFill/>
            <a:prstDash val="solid"/>
            <a:miter/>
          </a:ln>
        </p:spPr>
        <p:txBody>
          <a:bodyPr wrap="square" rtlCol="0" anchor="ctr">
            <a:noAutofit/>
          </a:bodyPr>
          <a:lstStyle/>
          <a:p>
            <a:endParaRPr lang="zh-CN" altLang="en-US" sz="1800">
              <a:solidFill>
                <a:schemeClr val="tx1"/>
              </a:solidFill>
            </a:endParaRPr>
          </a:p>
        </p:txBody>
      </p:sp>
      <p:sp>
        <p:nvSpPr>
          <p:cNvPr id="27" name="Text Placeholder 26">
            <a:extLst>
              <a:ext uri="{FF2B5EF4-FFF2-40B4-BE49-F238E27FC236}">
                <a16:creationId xmlns:a16="http://schemas.microsoft.com/office/drawing/2014/main" id="{FEA7D86A-A334-4E0C-B01B-43F345A176DE}"/>
              </a:ext>
            </a:extLst>
          </p:cNvPr>
          <p:cNvSpPr>
            <a:spLocks noGrp="1"/>
          </p:cNvSpPr>
          <p:nvPr>
            <p:ph type="body" sz="quarter" idx="12" hasCustomPrompt="1"/>
          </p:nvPr>
        </p:nvSpPr>
        <p:spPr>
          <a:xfrm>
            <a:off x="8314441" y="6082576"/>
            <a:ext cx="3204458" cy="230832"/>
          </a:xfrm>
        </p:spPr>
        <p:txBody>
          <a:bodyPr vert="horz" wrap="none" lIns="91440" tIns="45720" rIns="91440" bIns="45720" rtlCol="0" anchor="ctr">
            <a:noAutofit/>
          </a:bodyPr>
          <a:lstStyle>
            <a:lvl1pPr>
              <a:defRPr lang="en-US" altLang="zh-CN" sz="1600" b="1" dirty="0">
                <a:ln>
                  <a:noFill/>
                </a:ln>
                <a:solidFill>
                  <a:schemeClr val="accent1"/>
                </a:solidFill>
                <a:latin typeface="+mj-lt"/>
                <a:ea typeface="+mj-ea"/>
                <a:cs typeface="+mj-cs"/>
              </a:defRPr>
            </a:lvl1pPr>
          </a:lstStyle>
          <a:p>
            <a:pPr marL="228573" marR="0" lvl="0" indent="-228573" algn="r" defTabSz="914332" rtl="0" eaLnBrk="1" fontAlgn="auto" latinLnBrk="0" hangingPunct="1">
              <a:lnSpc>
                <a:spcPct val="90000"/>
              </a:lnSpc>
              <a:spcBef>
                <a:spcPct val="0"/>
              </a:spcBef>
              <a:spcAft>
                <a:spcPts val="0"/>
              </a:spcAft>
              <a:buClrTx/>
              <a:buSzTx/>
              <a:buFont typeface="Arial" panose="020B0604020202020204" pitchFamily="34" charset="0"/>
              <a:buNone/>
              <a:tabLst/>
              <a:defRPr/>
            </a:pPr>
            <a:r>
              <a:rPr lang="en-US" altLang="zh-CN" dirty="0"/>
              <a:t>Speaker name and title</a:t>
            </a:r>
          </a:p>
        </p:txBody>
      </p:sp>
      <p:sp>
        <p:nvSpPr>
          <p:cNvPr id="3" name="Text Placeholder 2">
            <a:extLst>
              <a:ext uri="{FF2B5EF4-FFF2-40B4-BE49-F238E27FC236}">
                <a16:creationId xmlns:a16="http://schemas.microsoft.com/office/drawing/2014/main" id="{FC1A48BB-A1A1-4744-B0D3-FD4F42C33B9B}"/>
              </a:ext>
            </a:extLst>
          </p:cNvPr>
          <p:cNvSpPr>
            <a:spLocks noGrp="1"/>
          </p:cNvSpPr>
          <p:nvPr>
            <p:ph type="body" sz="quarter" idx="13" hasCustomPrompt="1"/>
          </p:nvPr>
        </p:nvSpPr>
        <p:spPr>
          <a:xfrm>
            <a:off x="714723" y="2737247"/>
            <a:ext cx="5842001" cy="1383506"/>
          </a:xfrm>
        </p:spPr>
        <p:txBody>
          <a:bodyPr vert="horz" lIns="91440" tIns="45720" rIns="91440" bIns="45720" rtlCol="0" anchor="b">
            <a:noAutofit/>
          </a:bodyPr>
          <a:lstStyle>
            <a:lvl1pPr algn="l">
              <a:defRPr lang="en-US" altLang="zh-CN" sz="8000" b="1" i="0" dirty="0">
                <a:solidFill>
                  <a:srgbClr val="FFFFFF"/>
                </a:solidFill>
                <a:latin typeface="+mj-lt"/>
                <a:ea typeface="+mj-ea"/>
                <a:cs typeface="+mj-cs"/>
              </a:defRPr>
            </a:lvl1pPr>
          </a:lstStyle>
          <a:p>
            <a:pPr lvl="0">
              <a:spcBef>
                <a:spcPct val="0"/>
              </a:spcBef>
              <a:buNone/>
            </a:pPr>
            <a:r>
              <a:rPr lang="en-US" altLang="zh-CN" dirty="0"/>
              <a:t>Thank you</a:t>
            </a:r>
          </a:p>
        </p:txBody>
      </p:sp>
      <p:pic>
        <p:nvPicPr>
          <p:cNvPr id="2" name="图片 1">
            <a:extLst>
              <a:ext uri="{FF2B5EF4-FFF2-40B4-BE49-F238E27FC236}">
                <a16:creationId xmlns:a16="http://schemas.microsoft.com/office/drawing/2014/main" id="{0808FB89-916C-2617-605B-3A71B8F3D40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pic>
        <p:nvPicPr>
          <p:cNvPr id="4" name="图片 3">
            <a:extLst>
              <a:ext uri="{FF2B5EF4-FFF2-40B4-BE49-F238E27FC236}">
                <a16:creationId xmlns:a16="http://schemas.microsoft.com/office/drawing/2014/main" id="{5B3BDEC6-F771-C16C-C365-03B2262F7C40}"/>
              </a:ext>
            </a:extLst>
          </p:cNvPr>
          <p:cNvPicPr>
            <a:picLocks noChangeAspect="1"/>
          </p:cNvPicPr>
          <p:nvPr/>
        </p:nvPicPr>
        <p:blipFill>
          <a:blip r:embed="rId4" cstate="print">
            <a:duotone>
              <a:schemeClr val="bg2">
                <a:shade val="45000"/>
                <a:satMod val="135000"/>
              </a:schemeClr>
              <a:prstClr val="white"/>
            </a:duotone>
            <a:extLst>
              <a:ext uri="{BEBA8EAE-BF5A-486C-A8C5-ECC9F3942E4B}">
                <a14:imgProps xmlns:a14="http://schemas.microsoft.com/office/drawing/2010/main">
                  <a14:imgLayer r:embed="rId5">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8213598" y="2801933"/>
            <a:ext cx="3516518" cy="1579597"/>
          </a:xfrm>
          <a:prstGeom prst="rect">
            <a:avLst/>
          </a:prstGeom>
        </p:spPr>
      </p:pic>
      <p:pic>
        <p:nvPicPr>
          <p:cNvPr id="5" name="图片 4">
            <a:extLst>
              <a:ext uri="{FF2B5EF4-FFF2-40B4-BE49-F238E27FC236}">
                <a16:creationId xmlns:a16="http://schemas.microsoft.com/office/drawing/2014/main" id="{18B5EE46-E2B2-EBF2-F5AC-5322A677557F}"/>
              </a:ext>
            </a:extLst>
          </p:cNvPr>
          <p:cNvPicPr>
            <a:picLocks noChangeAspect="1"/>
          </p:cNvPicPr>
          <p:nvPr/>
        </p:nvPicPr>
        <p:blipFill>
          <a:blip r:embed="rId6" cstate="print">
            <a:duotone>
              <a:prstClr val="black"/>
              <a:schemeClr val="tx2">
                <a:tint val="45000"/>
                <a:satMod val="400000"/>
              </a:schemeClr>
            </a:duotone>
            <a:extLst>
              <a:ext uri="{BEBA8EAE-BF5A-486C-A8C5-ECC9F3942E4B}">
                <a14:imgProps xmlns:a14="http://schemas.microsoft.com/office/drawing/2010/main">
                  <a14:imgLayer r:embed="rId7">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7" name="图片 6">
            <a:extLst>
              <a:ext uri="{FF2B5EF4-FFF2-40B4-BE49-F238E27FC236}">
                <a16:creationId xmlns:a16="http://schemas.microsoft.com/office/drawing/2014/main" id="{B23BCB1D-48BB-8E7F-1E38-42BFFA9E944D}"/>
              </a:ext>
            </a:extLst>
          </p:cNvPr>
          <p:cNvPicPr>
            <a:picLocks noChangeAspect="1"/>
          </p:cNvPicPr>
          <p:nvPr/>
        </p:nvPicPr>
        <p:blipFill>
          <a:blip r:embed="rId8"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1267103645"/>
      </p:ext>
    </p:extLst>
  </p:cSld>
  <p:clrMapOvr>
    <a:overrideClrMapping bg1="lt1" tx1="dk1" bg2="lt2" tx2="dk2" accent1="accent1" accent2="accent2" accent3="accent3" accent4="accent4" accent5="accent5" accent6="accent6" hlink="hlink" folHlink="folHlink"/>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p:cSld name="2_标题幻灯片">
    <p:spTree>
      <p:nvGrpSpPr>
        <p:cNvPr id="1" name=""/>
        <p:cNvGrpSpPr/>
        <p:nvPr/>
      </p:nvGrpSpPr>
      <p:grpSpPr>
        <a:xfrm>
          <a:off x="0" y="0"/>
          <a:ext cx="0" cy="0"/>
          <a:chOff x="0" y="0"/>
          <a:chExt cx="0" cy="0"/>
        </a:xfrm>
      </p:grpSpPr>
      <p:grpSp>
        <p:nvGrpSpPr>
          <p:cNvPr id="40" name="组合 39"/>
          <p:cNvGrpSpPr/>
          <p:nvPr/>
        </p:nvGrpSpPr>
        <p:grpSpPr>
          <a:xfrm>
            <a:off x="0" y="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9" name="副标题 8"/>
          <p:cNvSpPr>
            <a:spLocks noGrp="1"/>
          </p:cNvSpPr>
          <p:nvPr>
            <p:ph type="subTitle" sz="quarter" idx="1" hasCustomPrompt="1"/>
          </p:nvPr>
        </p:nvSpPr>
        <p:spPr>
          <a:xfrm>
            <a:off x="660400" y="4043221"/>
            <a:ext cx="5645151" cy="588651"/>
          </a:xfrm>
          <a:prstGeom prst="roundRect">
            <a:avLst>
              <a:gd name="adj" fmla="val 0"/>
            </a:avLst>
          </a:prstGeom>
          <a:noFill/>
          <a:ln>
            <a:noFill/>
          </a:ln>
        </p:spPr>
        <p:txBody>
          <a:bodyPr vert="horz" wrap="square" lIns="91440" tIns="45720" rIns="91440" bIns="45720" rtlCol="0" anchor="ctr" anchorCtr="0">
            <a:normAutofit/>
          </a:bodyPr>
          <a:lstStyle>
            <a:lvl1pPr marL="0" indent="0" algn="l">
              <a:lnSpc>
                <a:spcPct val="100000"/>
              </a:lnSpc>
              <a:buNone/>
              <a:defRPr lang="en-US" sz="1800" dirty="0">
                <a:solidFill>
                  <a:schemeClr val="tx1"/>
                </a:solidFill>
                <a:latin typeface="+mj-lt"/>
              </a:defRPr>
            </a:lvl1pPr>
          </a:lstStyle>
          <a:p>
            <a:pPr lvl="0"/>
            <a:r>
              <a:rPr lang="en-US"/>
              <a:t>Click to add subtitle</a:t>
            </a:r>
          </a:p>
        </p:txBody>
      </p:sp>
      <p:sp>
        <p:nvSpPr>
          <p:cNvPr id="4" name="文本占位符 3"/>
          <p:cNvSpPr>
            <a:spLocks noGrp="1"/>
          </p:cNvSpPr>
          <p:nvPr>
            <p:ph type="body" sz="quarter" idx="13" hasCustomPrompt="1"/>
          </p:nvPr>
        </p:nvSpPr>
        <p:spPr>
          <a:xfrm>
            <a:off x="660400" y="5497551"/>
            <a:ext cx="5645151" cy="276999"/>
          </a:xfrm>
          <a:prstGeom prst="rect">
            <a:avLst/>
          </a:prstGeom>
        </p:spPr>
        <p:txBody>
          <a:bodyPr wrap="square" lIns="90000">
            <a:normAutofit/>
          </a:bodyPr>
          <a:lstStyle>
            <a:lvl1pPr marL="0" indent="0" algn="l">
              <a:lnSpc>
                <a:spcPct val="100000"/>
              </a:lnSpc>
              <a:buNone/>
              <a:defRPr sz="1200"/>
            </a:lvl1pPr>
          </a:lstStyle>
          <a:p>
            <a:pPr lvl="0"/>
            <a:r>
              <a:rPr lang="en-US"/>
              <a:t>Presenter name</a:t>
            </a:r>
          </a:p>
        </p:txBody>
      </p:sp>
      <p:sp>
        <p:nvSpPr>
          <p:cNvPr id="7" name="文本占位符 6"/>
          <p:cNvSpPr>
            <a:spLocks noGrp="1"/>
          </p:cNvSpPr>
          <p:nvPr>
            <p:ph type="body" sz="quarter" idx="14" hasCustomPrompt="1"/>
          </p:nvPr>
        </p:nvSpPr>
        <p:spPr>
          <a:xfrm>
            <a:off x="660400" y="5857101"/>
            <a:ext cx="5645151" cy="276999"/>
          </a:xfrm>
          <a:prstGeom prst="rect">
            <a:avLst/>
          </a:prstGeom>
        </p:spPr>
        <p:txBody>
          <a:bodyPr wrap="none">
            <a:normAutofit/>
          </a:bodyPr>
          <a:lstStyle>
            <a:lvl1pPr marL="0" indent="0" algn="l">
              <a:lnSpc>
                <a:spcPct val="100000"/>
              </a:lnSpc>
              <a:buNone/>
              <a:defRPr sz="1200"/>
            </a:lvl1pPr>
          </a:lstStyle>
          <a:p>
            <a:pPr lvl="0"/>
            <a:r>
              <a:rPr lang="en-US"/>
              <a:t>www.officeplus.cn</a:t>
            </a:r>
          </a:p>
        </p:txBody>
      </p:sp>
      <p:sp>
        <p:nvSpPr>
          <p:cNvPr id="3" name="标题 4">
            <a:extLst>
              <a:ext uri="{FF2B5EF4-FFF2-40B4-BE49-F238E27FC236}">
                <a16:creationId xmlns:a16="http://schemas.microsoft.com/office/drawing/2014/main" id="{B5D391BF-A023-49D2-B62C-E02AC8635D69}"/>
              </a:ext>
            </a:extLst>
          </p:cNvPr>
          <p:cNvSpPr>
            <a:spLocks noGrp="1"/>
          </p:cNvSpPr>
          <p:nvPr>
            <p:ph type="ctrTitle"/>
          </p:nvPr>
        </p:nvSpPr>
        <p:spPr>
          <a:xfrm>
            <a:off x="3879504" y="1210338"/>
            <a:ext cx="6749372" cy="2587173"/>
          </a:xfrm>
          <a:prstGeom prst="rect">
            <a:avLst/>
          </a:prstGeom>
        </p:spPr>
        <p:txBody>
          <a:bodyPr wrap="square" anchor="b">
            <a:normAutofit/>
          </a:bodyPr>
          <a:lstStyle>
            <a:lvl1pPr algn="ctr">
              <a:lnSpc>
                <a:spcPct val="100000"/>
              </a:lnSpc>
              <a:defRPr sz="5400">
                <a:ln w="19050">
                  <a:noFill/>
                </a:ln>
                <a:solidFill>
                  <a:schemeClr val="bg1"/>
                </a:solidFill>
              </a:defRPr>
            </a:lvl1pPr>
          </a:lstStyle>
          <a:p>
            <a:pPr lvl="0"/>
            <a:endParaRPr lang="en-US" dirty="0"/>
          </a:p>
        </p:txBody>
      </p:sp>
      <p:pic>
        <p:nvPicPr>
          <p:cNvPr id="5" name="图片 4">
            <a:extLst>
              <a:ext uri="{FF2B5EF4-FFF2-40B4-BE49-F238E27FC236}">
                <a16:creationId xmlns:a16="http://schemas.microsoft.com/office/drawing/2014/main" id="{57ED4568-4D8D-7CE6-DBD3-61776C004218}"/>
              </a:ext>
            </a:extLst>
          </p:cNvPr>
          <p:cNvPicPr>
            <a:picLocks noChangeAspect="1"/>
          </p:cNvPicPr>
          <p:nvPr/>
        </p:nvPicPr>
        <p:blipFill>
          <a:blip r:embed="rId5" cstate="print">
            <a:duotone>
              <a:schemeClr val="bg2">
                <a:shade val="45000"/>
                <a:satMod val="135000"/>
              </a:schemeClr>
              <a:prstClr val="white"/>
            </a:duotone>
            <a:extLst>
              <a:ext uri="{BEBA8EAE-BF5A-486C-A8C5-ECC9F3942E4B}">
                <a14:imgProps xmlns:a14="http://schemas.microsoft.com/office/drawing/2010/main">
                  <a14:imgLayer r:embed="rId6">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145185" y="2818989"/>
            <a:ext cx="2178398" cy="978522"/>
          </a:xfrm>
          <a:prstGeom prst="rect">
            <a:avLst/>
          </a:prstGeom>
        </p:spPr>
      </p:pic>
    </p:spTree>
    <p:extLst>
      <p:ext uri="{BB962C8B-B14F-4D97-AF65-F5344CB8AC3E}">
        <p14:creationId xmlns:p14="http://schemas.microsoft.com/office/powerpoint/2010/main" val="1504864808"/>
      </p:ext>
    </p:extLst>
  </p:cSld>
  <p:clrMapOvr>
    <a:overrideClrMapping bg1="lt1" tx1="dk1" bg2="lt2" tx2="dk2" accent1="accent1" accent2="accent2" accent3="accent3" accent4="accent4" accent5="accent5" accent6="accent6" hlink="hlink" folHlink="folHlink"/>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p:cSld name="Agenda">
    <p:spTree>
      <p:nvGrpSpPr>
        <p:cNvPr id="1" name=""/>
        <p:cNvGrpSpPr/>
        <p:nvPr/>
      </p:nvGrpSpPr>
      <p:grpSpPr>
        <a:xfrm>
          <a:off x="0" y="0"/>
          <a:ext cx="0" cy="0"/>
          <a:chOff x="0" y="0"/>
          <a:chExt cx="0" cy="0"/>
        </a:xfrm>
      </p:grpSpPr>
      <p:pic>
        <p:nvPicPr>
          <p:cNvPr id="11" name="图片 10">
            <a:extLst>
              <a:ext uri="{FF2B5EF4-FFF2-40B4-BE49-F238E27FC236}">
                <a16:creationId xmlns:a16="http://schemas.microsoft.com/office/drawing/2014/main" id="{0202FDAE-0095-6CC0-EC3F-208D7596653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2" name="标题 1"/>
          <p:cNvSpPr>
            <a:spLocks noGrp="1"/>
          </p:cNvSpPr>
          <p:nvPr>
            <p:ph type="title" hasCustomPrompt="1"/>
          </p:nvPr>
        </p:nvSpPr>
        <p:spPr>
          <a:xfrm>
            <a:off x="660400" y="1500189"/>
            <a:ext cx="2519061" cy="864515"/>
          </a:xfrm>
          <a:prstGeom prst="rect">
            <a:avLst/>
          </a:prstGeom>
          <a:noFill/>
        </p:spPr>
        <p:txBody>
          <a:bodyPr anchor="t" anchorCtr="0">
            <a:normAutofit/>
          </a:bodyPr>
          <a:lstStyle>
            <a:lvl1pPr algn="r">
              <a:defRPr sz="2800">
                <a:solidFill>
                  <a:srgbClr val="FFFFFF"/>
                </a:solidFill>
              </a:defRPr>
            </a:lvl1pPr>
          </a:lstStyle>
          <a:p>
            <a:pPr lvl="0"/>
            <a:r>
              <a:rPr lang="en-US"/>
              <a:t>Agenda</a:t>
            </a:r>
          </a:p>
        </p:txBody>
      </p:sp>
      <p:sp>
        <p:nvSpPr>
          <p:cNvPr id="3" name="内容占位符 2"/>
          <p:cNvSpPr>
            <a:spLocks noGrp="1"/>
          </p:cNvSpPr>
          <p:nvPr>
            <p:ph sz="quarter" idx="1" hasCustomPrompt="1"/>
          </p:nvPr>
        </p:nvSpPr>
        <p:spPr>
          <a:xfrm>
            <a:off x="3839860" y="1500189"/>
            <a:ext cx="7679039" cy="4278311"/>
          </a:xfrm>
        </p:spPr>
        <p:txBody>
          <a:bodyPr numCol="1"/>
          <a:lstStyle>
            <a:lvl1pPr marL="342900" indent="-342900">
              <a:lnSpc>
                <a:spcPct val="100000"/>
              </a:lnSpc>
              <a:buFont typeface="+mj-lt"/>
              <a:buAutoNum type="arabicPeriod"/>
              <a:defRPr/>
            </a:lvl1pPr>
            <a:lvl2pPr marL="800100" indent="-342900">
              <a:lnSpc>
                <a:spcPct val="100000"/>
              </a:lnSpc>
              <a:buFont typeface="+mj-ea"/>
              <a:buAutoNum type="circleNumDbPlain"/>
              <a:defRPr/>
            </a:lvl2pPr>
            <a:lvl3pPr marL="1257300" indent="-342900">
              <a:lnSpc>
                <a:spcPct val="100000"/>
              </a:lnSpc>
              <a:buFont typeface="+mj-lt"/>
              <a:buAutoNum type="alphaLcParenR"/>
              <a:defRPr/>
            </a:lvl3pPr>
            <a:lvl4pPr>
              <a:lnSpc>
                <a:spcPct val="100000"/>
              </a:lnSpc>
              <a:defRPr/>
            </a:lvl4pPr>
            <a:lvl5pPr>
              <a:lnSpc>
                <a:spcPct val="100000"/>
              </a:lnSpc>
              <a:defRPr/>
            </a:lvl5pPr>
          </a:lstStyle>
          <a:p>
            <a:pPr lvl="0"/>
            <a:r>
              <a:rPr lang="en-US"/>
              <a:t>Click to add text</a:t>
            </a:r>
          </a:p>
          <a:p>
            <a:pPr lvl="1"/>
            <a:r>
              <a:rPr lang="en-US"/>
              <a:t>Second level</a:t>
            </a:r>
          </a:p>
          <a:p>
            <a:pPr lvl="2"/>
            <a:r>
              <a:rPr lang="en-US"/>
              <a:t>Third level</a:t>
            </a:r>
          </a:p>
          <a:p>
            <a:pPr lvl="3"/>
            <a:r>
              <a:rPr lang="en-US"/>
              <a:t>Fourth level</a:t>
            </a:r>
          </a:p>
          <a:p>
            <a:pPr lvl="4"/>
            <a:r>
              <a:rPr lang="en-US"/>
              <a:t>Fifth level</a:t>
            </a:r>
          </a:p>
        </p:txBody>
      </p:sp>
      <p:pic>
        <p:nvPicPr>
          <p:cNvPr id="7" name="图片 6">
            <a:extLst>
              <a:ext uri="{FF2B5EF4-FFF2-40B4-BE49-F238E27FC236}">
                <a16:creationId xmlns:a16="http://schemas.microsoft.com/office/drawing/2014/main" id="{956E91C9-E62C-62F0-BC27-65EF2B59939D}"/>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8" name="图片 7">
            <a:extLst>
              <a:ext uri="{FF2B5EF4-FFF2-40B4-BE49-F238E27FC236}">
                <a16:creationId xmlns:a16="http://schemas.microsoft.com/office/drawing/2014/main" id="{260BFE75-AB93-8081-4027-EDC31F67337A}"/>
              </a:ext>
            </a:extLst>
          </p:cNvPr>
          <p:cNvPicPr>
            <a:picLocks noChangeAspect="1"/>
          </p:cNvPicPr>
          <p:nvPr/>
        </p:nvPicPr>
        <p:blipFill>
          <a:blip r:embed="rId4" cstate="print">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92184" y="6108209"/>
            <a:ext cx="704451" cy="621204"/>
          </a:xfrm>
          <a:prstGeom prst="rect">
            <a:avLst/>
          </a:prstGeom>
        </p:spPr>
      </p:pic>
      <p:pic>
        <p:nvPicPr>
          <p:cNvPr id="4" name="图片 3">
            <a:extLst>
              <a:ext uri="{FF2B5EF4-FFF2-40B4-BE49-F238E27FC236}">
                <a16:creationId xmlns:a16="http://schemas.microsoft.com/office/drawing/2014/main" id="{4533F409-7AF2-7738-C45D-ADDC0C99224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pic>
        <p:nvPicPr>
          <p:cNvPr id="5" name="图片 4">
            <a:extLst>
              <a:ext uri="{FF2B5EF4-FFF2-40B4-BE49-F238E27FC236}">
                <a16:creationId xmlns:a16="http://schemas.microsoft.com/office/drawing/2014/main" id="{04915495-E497-C559-512B-5F59C7548598}"/>
              </a:ext>
            </a:extLst>
          </p:cNvPr>
          <p:cNvPicPr>
            <a:picLocks noChangeAspect="1"/>
          </p:cNvPicPr>
          <p:nvPr/>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6" name="图片 5">
            <a:extLst>
              <a:ext uri="{FF2B5EF4-FFF2-40B4-BE49-F238E27FC236}">
                <a16:creationId xmlns:a16="http://schemas.microsoft.com/office/drawing/2014/main" id="{824640ED-C55D-8D73-4EAB-DC295132A4F1}"/>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3980092211"/>
      </p:ext>
    </p:extLst>
  </p:cSld>
  <p:clrMapOvr>
    <a:overrideClrMapping bg1="lt1" tx1="dk1" bg2="lt2" tx2="dk2" accent1="accent1" accent2="accent2" accent3="accent3" accent4="accent4" accent5="accent5" accent6="accent6" hlink="hlink" folHlink="folHlink"/>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p:cSld name="1_节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04B5FBE3-2983-7A7E-EDBF-7AD37AC20D3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标题 1"/>
          <p:cNvSpPr>
            <a:spLocks noGrp="1"/>
          </p:cNvSpPr>
          <p:nvPr>
            <p:ph type="title"/>
          </p:nvPr>
        </p:nvSpPr>
        <p:spPr>
          <a:xfrm>
            <a:off x="788155" y="2458832"/>
            <a:ext cx="10363200" cy="1362075"/>
          </a:xfrm>
        </p:spPr>
        <p:txBody>
          <a:bodyPr anchor="t">
            <a:normAutofit/>
          </a:bodyPr>
          <a:lstStyle>
            <a:lvl1pPr algn="ctr">
              <a:defRPr sz="4400" b="1" cap="all">
                <a:solidFill>
                  <a:schemeClr val="accent1"/>
                </a:solidFill>
              </a:defRPr>
            </a:lvl1pPr>
          </a:lstStyle>
          <a:p>
            <a:r>
              <a:rPr lang="zh-CN" altLang="en-US"/>
              <a:t>单击此处编辑母版标题样式</a:t>
            </a:r>
            <a:endParaRPr lang="zh-CN" altLang="en-US" dirty="0"/>
          </a:p>
        </p:txBody>
      </p:sp>
      <p:pic>
        <p:nvPicPr>
          <p:cNvPr id="3" name="图片 2">
            <a:extLst>
              <a:ext uri="{FF2B5EF4-FFF2-40B4-BE49-F238E27FC236}">
                <a16:creationId xmlns:a16="http://schemas.microsoft.com/office/drawing/2014/main" id="{0C225C48-C16B-E760-3562-D3A3B9176EB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pic>
        <p:nvPicPr>
          <p:cNvPr id="4" name="图片 3">
            <a:extLst>
              <a:ext uri="{FF2B5EF4-FFF2-40B4-BE49-F238E27FC236}">
                <a16:creationId xmlns:a16="http://schemas.microsoft.com/office/drawing/2014/main" id="{A8C2A5F4-62F8-0DE3-BF8E-7DB2909DE39B}"/>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5" name="图片 4">
            <a:extLst>
              <a:ext uri="{FF2B5EF4-FFF2-40B4-BE49-F238E27FC236}">
                <a16:creationId xmlns:a16="http://schemas.microsoft.com/office/drawing/2014/main" id="{958CF466-A791-1E6D-0D69-1A428A2442AE}"/>
              </a:ext>
            </a:extLst>
          </p:cNvPr>
          <p:cNvPicPr>
            <a:picLocks noChangeAspect="1"/>
          </p:cNvPicPr>
          <p:nvPr/>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3064155339"/>
      </p:ext>
    </p:extLst>
  </p:cSld>
  <p:clrMapOvr>
    <a:overrideClrMapping bg1="lt1" tx1="dk1" bg2="lt2" tx2="dk2" accent1="accent1" accent2="accent2" accent3="accent3" accent4="accent4" accent5="accent5" accent6="accent6" hlink="hlink" folHlink="folHlink"/>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p:cSld name="1_Title Slide">
    <p:spTree>
      <p:nvGrpSpPr>
        <p:cNvPr id="1" name=""/>
        <p:cNvGrpSpPr/>
        <p:nvPr/>
      </p:nvGrpSpPr>
      <p:grpSpPr>
        <a:xfrm>
          <a:off x="0" y="0"/>
          <a:ext cx="0" cy="0"/>
          <a:chOff x="0" y="0"/>
          <a:chExt cx="0" cy="0"/>
        </a:xfrm>
      </p:grpSpPr>
      <p:grpSp>
        <p:nvGrpSpPr>
          <p:cNvPr id="40" name="组合 39"/>
          <p:cNvGrpSpPr/>
          <p:nvPr/>
        </p:nvGrpSpPr>
        <p:grpSpPr>
          <a:xfrm>
            <a:off x="0" y="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9" name="副标题 8"/>
          <p:cNvSpPr>
            <a:spLocks noGrp="1"/>
          </p:cNvSpPr>
          <p:nvPr>
            <p:ph type="subTitle" sz="quarter" idx="1" hasCustomPrompt="1"/>
          </p:nvPr>
        </p:nvSpPr>
        <p:spPr>
          <a:xfrm>
            <a:off x="660400" y="4043221"/>
            <a:ext cx="5645151" cy="588651"/>
          </a:xfrm>
          <a:prstGeom prst="roundRect">
            <a:avLst>
              <a:gd name="adj" fmla="val 0"/>
            </a:avLst>
          </a:prstGeom>
          <a:noFill/>
          <a:ln>
            <a:noFill/>
          </a:ln>
        </p:spPr>
        <p:txBody>
          <a:bodyPr vert="horz" wrap="square" lIns="91440" tIns="45720" rIns="91440" bIns="45720" rtlCol="0" anchor="ctr" anchorCtr="0">
            <a:normAutofit/>
          </a:bodyPr>
          <a:lstStyle>
            <a:lvl1pPr marL="0" indent="0" algn="l">
              <a:lnSpc>
                <a:spcPct val="100000"/>
              </a:lnSpc>
              <a:buNone/>
              <a:defRPr lang="en-US" sz="1800" dirty="0">
                <a:solidFill>
                  <a:schemeClr val="tx1"/>
                </a:solidFill>
                <a:latin typeface="+mj-lt"/>
              </a:defRPr>
            </a:lvl1pPr>
          </a:lstStyle>
          <a:p>
            <a:pPr lvl="0"/>
            <a:r>
              <a:rPr lang="en-US"/>
              <a:t>Click to add subtitle</a:t>
            </a:r>
          </a:p>
        </p:txBody>
      </p:sp>
      <p:sp>
        <p:nvSpPr>
          <p:cNvPr id="4" name="文本占位符 3"/>
          <p:cNvSpPr>
            <a:spLocks noGrp="1"/>
          </p:cNvSpPr>
          <p:nvPr>
            <p:ph type="body" sz="quarter" idx="13" hasCustomPrompt="1"/>
          </p:nvPr>
        </p:nvSpPr>
        <p:spPr>
          <a:xfrm>
            <a:off x="660400" y="5497551"/>
            <a:ext cx="5645151" cy="276999"/>
          </a:xfrm>
          <a:prstGeom prst="rect">
            <a:avLst/>
          </a:prstGeom>
        </p:spPr>
        <p:txBody>
          <a:bodyPr wrap="square" lIns="90000">
            <a:normAutofit/>
          </a:bodyPr>
          <a:lstStyle>
            <a:lvl1pPr marL="0" indent="0" algn="l">
              <a:lnSpc>
                <a:spcPct val="100000"/>
              </a:lnSpc>
              <a:buNone/>
              <a:defRPr sz="1200"/>
            </a:lvl1pPr>
          </a:lstStyle>
          <a:p>
            <a:pPr lvl="0"/>
            <a:r>
              <a:rPr lang="en-US"/>
              <a:t>Presenter name</a:t>
            </a:r>
          </a:p>
        </p:txBody>
      </p:sp>
      <p:sp>
        <p:nvSpPr>
          <p:cNvPr id="7" name="文本占位符 6"/>
          <p:cNvSpPr>
            <a:spLocks noGrp="1"/>
          </p:cNvSpPr>
          <p:nvPr>
            <p:ph type="body" sz="quarter" idx="14" hasCustomPrompt="1"/>
          </p:nvPr>
        </p:nvSpPr>
        <p:spPr>
          <a:xfrm>
            <a:off x="660400" y="5857101"/>
            <a:ext cx="5645151" cy="276999"/>
          </a:xfrm>
          <a:prstGeom prst="rect">
            <a:avLst/>
          </a:prstGeom>
        </p:spPr>
        <p:txBody>
          <a:bodyPr wrap="none">
            <a:normAutofit/>
          </a:bodyPr>
          <a:lstStyle>
            <a:lvl1pPr marL="0" indent="0" algn="l">
              <a:lnSpc>
                <a:spcPct val="100000"/>
              </a:lnSpc>
              <a:buNone/>
              <a:defRPr sz="1200"/>
            </a:lvl1pPr>
          </a:lstStyle>
          <a:p>
            <a:pPr lvl="0"/>
            <a:r>
              <a:rPr lang="en-US"/>
              <a:t>www.officeplus.cn</a:t>
            </a:r>
          </a:p>
        </p:txBody>
      </p:sp>
      <p:sp>
        <p:nvSpPr>
          <p:cNvPr id="8" name="标题 4">
            <a:extLst>
              <a:ext uri="{FF2B5EF4-FFF2-40B4-BE49-F238E27FC236}">
                <a16:creationId xmlns:a16="http://schemas.microsoft.com/office/drawing/2014/main" id="{D4E51AF3-4B86-C068-61E8-F89039CF3D69}"/>
              </a:ext>
            </a:extLst>
          </p:cNvPr>
          <p:cNvSpPr>
            <a:spLocks noGrp="1"/>
          </p:cNvSpPr>
          <p:nvPr>
            <p:ph type="ctrTitle"/>
          </p:nvPr>
        </p:nvSpPr>
        <p:spPr>
          <a:xfrm>
            <a:off x="3879504" y="1210338"/>
            <a:ext cx="6749372" cy="2587173"/>
          </a:xfrm>
          <a:prstGeom prst="rect">
            <a:avLst/>
          </a:prstGeom>
        </p:spPr>
        <p:txBody>
          <a:bodyPr wrap="square" anchor="b">
            <a:normAutofit/>
          </a:bodyPr>
          <a:lstStyle>
            <a:lvl1pPr algn="ctr">
              <a:lnSpc>
                <a:spcPct val="100000"/>
              </a:lnSpc>
              <a:defRPr sz="5400">
                <a:ln w="19050">
                  <a:noFill/>
                </a:ln>
                <a:solidFill>
                  <a:schemeClr val="bg1"/>
                </a:solidFill>
              </a:defRPr>
            </a:lvl1pPr>
          </a:lstStyle>
          <a:p>
            <a:pPr lvl="0"/>
            <a:endParaRPr lang="en-US" dirty="0"/>
          </a:p>
        </p:txBody>
      </p:sp>
      <p:pic>
        <p:nvPicPr>
          <p:cNvPr id="2" name="图片 1">
            <a:extLst>
              <a:ext uri="{FF2B5EF4-FFF2-40B4-BE49-F238E27FC236}">
                <a16:creationId xmlns:a16="http://schemas.microsoft.com/office/drawing/2014/main" id="{86A1F6E0-7672-8B72-B54A-4FF4F79B88B3}"/>
              </a:ext>
            </a:extLst>
          </p:cNvPr>
          <p:cNvPicPr>
            <a:picLocks noChangeAspect="1"/>
          </p:cNvPicPr>
          <p:nvPr/>
        </p:nvPicPr>
        <p:blipFill>
          <a:blip r:embed="rId5" cstate="print">
            <a:duotone>
              <a:schemeClr val="bg2">
                <a:shade val="45000"/>
                <a:satMod val="135000"/>
              </a:schemeClr>
              <a:prstClr val="white"/>
            </a:duotone>
            <a:extLst>
              <a:ext uri="{BEBA8EAE-BF5A-486C-A8C5-ECC9F3942E4B}">
                <a14:imgProps xmlns:a14="http://schemas.microsoft.com/office/drawing/2010/main">
                  <a14:imgLayer r:embed="rId6">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62985" y="1728206"/>
            <a:ext cx="3516518" cy="1579597"/>
          </a:xfrm>
          <a:prstGeom prst="rect">
            <a:avLst/>
          </a:prstGeom>
        </p:spPr>
      </p:pic>
    </p:spTree>
    <p:extLst>
      <p:ext uri="{BB962C8B-B14F-4D97-AF65-F5344CB8AC3E}">
        <p14:creationId xmlns:p14="http://schemas.microsoft.com/office/powerpoint/2010/main" val="1775456312"/>
      </p:ext>
    </p:extLst>
  </p:cSld>
  <p:clrMapOvr>
    <a:overrideClrMapping bg1="lt1" tx1="dk1" bg2="lt2" tx2="dk2" accent1="accent1" accent2="accent2" accent3="accent3" accent4="accent4" accent5="accent5" accent6="accent6" hlink="hlink" folHlink="folHlink"/>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_空白">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9F13FA7-175B-60D2-A603-87F6078FFFE8}"/>
              </a:ext>
            </a:extLst>
          </p:cNvPr>
          <p:cNvSpPr>
            <a:spLocks noGrp="1"/>
          </p:cNvSpPr>
          <p:nvPr>
            <p:ph type="title"/>
          </p:nvPr>
        </p:nvSpPr>
        <p:spPr>
          <a:xfrm>
            <a:off x="866346" y="38910"/>
            <a:ext cx="10858500" cy="544945"/>
          </a:xfrm>
        </p:spPr>
        <p:txBody>
          <a:bodyPr/>
          <a:lstStyle>
            <a:lvl1pPr>
              <a:defRPr>
                <a:solidFill>
                  <a:schemeClr val="bg1"/>
                </a:solidFill>
              </a:defRPr>
            </a:lvl1pPr>
          </a:lstStyle>
          <a:p>
            <a:pPr lvl="0"/>
            <a:r>
              <a:rPr lang="zh-CN" altLang="en-US"/>
              <a:t>单击此处编辑母版标题样式</a:t>
            </a:r>
            <a:endParaRPr lang="en-US" dirty="0"/>
          </a:p>
        </p:txBody>
      </p:sp>
      <p:sp>
        <p:nvSpPr>
          <p:cNvPr id="3" name="Freeform 5">
            <a:extLst>
              <a:ext uri="{FF2B5EF4-FFF2-40B4-BE49-F238E27FC236}">
                <a16:creationId xmlns:a16="http://schemas.microsoft.com/office/drawing/2014/main" id="{456EF71C-7CBB-25F6-1517-2D5EC2A3DDD9}"/>
              </a:ext>
            </a:extLst>
          </p:cNvPr>
          <p:cNvSpPr>
            <a:spLocks noChangeAspect="1" noEditPoints="1"/>
          </p:cNvSpPr>
          <p:nvPr userDrawn="1"/>
        </p:nvSpPr>
        <p:spPr bwMode="black">
          <a:xfrm>
            <a:off x="467154" y="211088"/>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479640064"/>
      </p:ext>
    </p:extLst>
  </p:cSld>
  <p:clrMapOvr>
    <a:overrideClrMapping bg1="lt1" tx1="dk1" bg2="lt2" tx2="dk2" accent1="accent1" accent2="accent2" accent3="accent3" accent4="accent4" accent5="accent5" accent6="accent6" hlink="hlink" folHlink="folHlink"/>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userDrawn="1">
  <p:cSld name="3_标题幻灯片">
    <p:spTree>
      <p:nvGrpSpPr>
        <p:cNvPr id="1" name=""/>
        <p:cNvGrpSpPr/>
        <p:nvPr/>
      </p:nvGrpSpPr>
      <p:grpSpPr>
        <a:xfrm>
          <a:off x="0" y="0"/>
          <a:ext cx="0" cy="0"/>
          <a:chOff x="0" y="0"/>
          <a:chExt cx="0" cy="0"/>
        </a:xfrm>
      </p:grpSpPr>
      <p:grpSp>
        <p:nvGrpSpPr>
          <p:cNvPr id="40" name="组合 39"/>
          <p:cNvGrpSpPr/>
          <p:nvPr/>
        </p:nvGrpSpPr>
        <p:grpSpPr>
          <a:xfrm>
            <a:off x="0" y="4980"/>
            <a:ext cx="12192000" cy="6857104"/>
            <a:chOff x="0" y="0"/>
            <a:chExt cx="12192000" cy="6857104"/>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pic>
        <p:nvPicPr>
          <p:cNvPr id="2" name="图片 1">
            <a:extLst>
              <a:ext uri="{FF2B5EF4-FFF2-40B4-BE49-F238E27FC236}">
                <a16:creationId xmlns:a16="http://schemas.microsoft.com/office/drawing/2014/main" id="{6249DE40-38DE-0B8C-A57E-BCDCCECD67F0}"/>
              </a:ext>
            </a:extLst>
          </p:cNvPr>
          <p:cNvPicPr>
            <a:picLocks noChangeAspect="1"/>
          </p:cNvPicPr>
          <p:nvPr/>
        </p:nvPicPr>
        <p:blipFill>
          <a:blip r:embed="rId5" cstate="print">
            <a:duotone>
              <a:prstClr val="black"/>
              <a:schemeClr val="accent3">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4" name="图片 3">
            <a:extLst>
              <a:ext uri="{FF2B5EF4-FFF2-40B4-BE49-F238E27FC236}">
                <a16:creationId xmlns:a16="http://schemas.microsoft.com/office/drawing/2014/main" id="{82CA119C-4E3E-E8FD-4491-4E0BECF11504}"/>
              </a:ext>
            </a:extLst>
          </p:cNvPr>
          <p:cNvPicPr>
            <a:picLocks noChangeAspect="1"/>
          </p:cNvPicPr>
          <p:nvPr/>
        </p:nvPicPr>
        <p:blipFill>
          <a:blip r:embed="rId6" cstate="print">
            <a:duotone>
              <a:prstClr val="black"/>
              <a:schemeClr val="accent3">
                <a:tint val="45000"/>
                <a:satMod val="400000"/>
              </a:schemeClr>
            </a:duotone>
            <a:extLst>
              <a:ext uri="{BEBA8EAE-BF5A-486C-A8C5-ECC9F3942E4B}">
                <a14:imgProps xmlns:a14="http://schemas.microsoft.com/office/drawing/2010/main">
                  <a14:imgLayer r:embed="rId7">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79775" y="6236796"/>
            <a:ext cx="704451" cy="621204"/>
          </a:xfrm>
          <a:prstGeom prst="rect">
            <a:avLst/>
          </a:prstGeom>
        </p:spPr>
      </p:pic>
    </p:spTree>
    <p:extLst>
      <p:ext uri="{BB962C8B-B14F-4D97-AF65-F5344CB8AC3E}">
        <p14:creationId xmlns:p14="http://schemas.microsoft.com/office/powerpoint/2010/main" val="1734449284"/>
      </p:ext>
    </p:extLst>
  </p:cSld>
  <p:clrMapOvr>
    <a:overrideClrMapping bg1="lt1" tx1="dk1" bg2="lt2" tx2="dk2" accent1="accent1" accent2="accent2" accent3="accent3" accent4="accent4" accent5="accent5" accent6="accent6" hlink="hlink" folHlink="folHlink"/>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E9DDCD0-7537-A039-754A-F4224B0E3693}"/>
              </a:ext>
            </a:extLst>
          </p:cNvPr>
          <p:cNvSpPr>
            <a:spLocks noGrp="1"/>
          </p:cNvSpPr>
          <p:nvPr/>
        </p:nvSpPr>
        <p:spPr>
          <a:xfrm>
            <a:off x="899833"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
        <p:nvSpPr>
          <p:cNvPr id="3" name="标题 1">
            <a:extLst>
              <a:ext uri="{FF2B5EF4-FFF2-40B4-BE49-F238E27FC236}">
                <a16:creationId xmlns:a16="http://schemas.microsoft.com/office/drawing/2014/main" id="{1E9DDCD0-7537-A039-754A-F4224B0E3693}"/>
              </a:ext>
            </a:extLst>
          </p:cNvPr>
          <p:cNvSpPr>
            <a:spLocks noGrp="1"/>
          </p:cNvSpPr>
          <p:nvPr/>
        </p:nvSpPr>
        <p:spPr>
          <a:xfrm>
            <a:off x="947645"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Tree>
    <p:extLst>
      <p:ext uri="{BB962C8B-B14F-4D97-AF65-F5344CB8AC3E}">
        <p14:creationId xmlns:p14="http://schemas.microsoft.com/office/powerpoint/2010/main" val="3580475312"/>
      </p:ext>
    </p:extLst>
  </p:cSld>
  <p:clrMapOvr>
    <a:overrideClrMapping bg1="lt1" tx1="dk1" bg2="lt2" tx2="dk2" accent1="accent1" accent2="accent2" accent3="accent3" accent4="accent4" accent5="accent5" accent6="accent6" hlink="hlink" folHlink="folHlink"/>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1_标题和内容">
    <p:spTree>
      <p:nvGrpSpPr>
        <p:cNvPr id="1" name=""/>
        <p:cNvGrpSpPr/>
        <p:nvPr/>
      </p:nvGrpSpPr>
      <p:grpSpPr>
        <a:xfrm>
          <a:off x="0" y="0"/>
          <a:ext cx="0" cy="0"/>
          <a:chOff x="0" y="0"/>
          <a:chExt cx="0" cy="0"/>
        </a:xfrm>
      </p:grpSpPr>
      <p:sp>
        <p:nvSpPr>
          <p:cNvPr id="13" name="文本占位符 12"/>
          <p:cNvSpPr>
            <a:spLocks noGrp="1"/>
          </p:cNvSpPr>
          <p:nvPr>
            <p:ph type="body" idx="1"/>
            <p:custDataLst>
              <p:tags r:id="rId1"/>
            </p:custDataLst>
          </p:nvPr>
        </p:nvSpPr>
        <p:spPr>
          <a:xfrm>
            <a:off x="569595" y="1253490"/>
            <a:ext cx="11052810" cy="4869180"/>
          </a:xfrm>
          <a:prstGeom prst="rect">
            <a:avLst/>
          </a:prstGeom>
        </p:spPr>
        <p:txBody>
          <a:bodyPr vert="horz" lIns="91440" tIns="45720" rIns="91440" bIns="45720" rtlCol="0">
            <a:normAutofit/>
          </a:bodyPr>
          <a:lstStyle>
            <a:lvl1pPr marL="0" indent="0">
              <a:buNone/>
              <a:defRPr sz="1400">
                <a:solidFill>
                  <a:schemeClr val="bg1"/>
                </a:solidFill>
              </a:defRPr>
            </a:lvl1pPr>
            <a:lvl2pPr marL="457200" indent="0">
              <a:buNone/>
              <a:defRPr sz="1400">
                <a:solidFill>
                  <a:schemeClr val="bg1"/>
                </a:solidFill>
              </a:defRPr>
            </a:lvl2pPr>
            <a:lvl3pPr marL="914400" indent="0">
              <a:buNone/>
              <a:defRPr sz="1400">
                <a:solidFill>
                  <a:schemeClr val="bg1"/>
                </a:solidFill>
              </a:defRPr>
            </a:lvl3pPr>
            <a:lvl4pPr marL="1371600" indent="0">
              <a:buNone/>
              <a:defRPr sz="1400">
                <a:solidFill>
                  <a:schemeClr val="bg1"/>
                </a:solidFill>
              </a:defRPr>
            </a:lvl4pPr>
            <a:lvl5pPr marL="1828800" indent="0">
              <a:buNone/>
              <a:defRPr sz="1400">
                <a:solidFill>
                  <a:schemeClr val="bg1"/>
                </a:solidFill>
              </a:defRPr>
            </a:lvl5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zh-CN" altLang="en-US" dirty="0"/>
          </a:p>
        </p:txBody>
      </p:sp>
      <p:sp>
        <p:nvSpPr>
          <p:cNvPr id="5" name="灯片编号占位符 4"/>
          <p:cNvSpPr>
            <a:spLocks noGrp="1"/>
          </p:cNvSpPr>
          <p:nvPr>
            <p:custDataLst>
              <p:tags r:id="rId2"/>
            </p:custDataLst>
          </p:nvPr>
        </p:nvSpPr>
        <p:spPr>
          <a:xfrm>
            <a:off x="8879205" y="6375400"/>
            <a:ext cx="2743200" cy="365125"/>
          </a:xfrm>
          <a:prstGeom prst="rect">
            <a:avLst/>
          </a:prstGeom>
        </p:spPr>
        <p:txBody>
          <a:bodyPr vert="horz" lIns="91440" tIns="45720" rIns="91440" bIns="45720" rtlCol="0" anchor="ctr"/>
          <a:lstStyle>
            <a:defPPr>
              <a:defRPr lang="zh-CN"/>
            </a:defPPr>
            <a:lvl1pPr marL="0" algn="r" defTabSz="914400" rtl="0" eaLnBrk="1" latinLnBrk="0" hangingPunct="1">
              <a:defRPr sz="10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56FF76-7BF1-4E25-A0F5-B7CD95F22364}" type="slidenum">
              <a:rPr lang="zh-CN" altLang="en-US" smtClean="0">
                <a:solidFill>
                  <a:schemeClr val="bg1"/>
                </a:solidFill>
              </a:rPr>
              <a:t>‹#›</a:t>
            </a:fld>
            <a:endParaRPr lang="zh-CN" altLang="en-US" dirty="0">
              <a:solidFill>
                <a:schemeClr val="bg1"/>
              </a:solidFill>
            </a:endParaRPr>
          </a:p>
        </p:txBody>
      </p:sp>
      <p:sp>
        <p:nvSpPr>
          <p:cNvPr id="2" name="标题 1">
            <a:extLst>
              <a:ext uri="{FF2B5EF4-FFF2-40B4-BE49-F238E27FC236}">
                <a16:creationId xmlns:a16="http://schemas.microsoft.com/office/drawing/2014/main" id="{1E9DDCD0-7537-A039-754A-F4224B0E3693}"/>
              </a:ext>
            </a:extLst>
          </p:cNvPr>
          <p:cNvSpPr>
            <a:spLocks noGrp="1"/>
          </p:cNvSpPr>
          <p:nvPr/>
        </p:nvSpPr>
        <p:spPr>
          <a:xfrm>
            <a:off x="935691" y="-22304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solidFill>
                <a:schemeClr val="bg1"/>
              </a:solidFill>
            </a:endParaRPr>
          </a:p>
        </p:txBody>
      </p:sp>
      <p:sp>
        <p:nvSpPr>
          <p:cNvPr id="3" name="标题 1">
            <a:extLst>
              <a:ext uri="{FF2B5EF4-FFF2-40B4-BE49-F238E27FC236}">
                <a16:creationId xmlns:a16="http://schemas.microsoft.com/office/drawing/2014/main" id="{6B53A706-3FC5-5A68-F4A8-893D3CC075CB}"/>
              </a:ext>
            </a:extLst>
          </p:cNvPr>
          <p:cNvSpPr>
            <a:spLocks noGrp="1"/>
          </p:cNvSpPr>
          <p:nvPr>
            <p:ph type="title"/>
          </p:nvPr>
        </p:nvSpPr>
        <p:spPr>
          <a:xfrm>
            <a:off x="866346" y="38910"/>
            <a:ext cx="10858500" cy="544945"/>
          </a:xfrm>
        </p:spPr>
        <p:txBody>
          <a:bodyPr/>
          <a:lstStyle>
            <a:lvl1pPr>
              <a:defRPr>
                <a:solidFill>
                  <a:schemeClr val="bg1"/>
                </a:solidFill>
              </a:defRPr>
            </a:lvl1pPr>
          </a:lstStyle>
          <a:p>
            <a:pPr lvl="0"/>
            <a:r>
              <a:rPr lang="zh-CN" altLang="en-US"/>
              <a:t>单击此处编辑母版标题样式</a:t>
            </a:r>
            <a:endParaRPr lang="en-US" dirty="0"/>
          </a:p>
        </p:txBody>
      </p:sp>
      <p:sp>
        <p:nvSpPr>
          <p:cNvPr id="4" name="Freeform 5">
            <a:extLst>
              <a:ext uri="{FF2B5EF4-FFF2-40B4-BE49-F238E27FC236}">
                <a16:creationId xmlns:a16="http://schemas.microsoft.com/office/drawing/2014/main" id="{EBFC0C0C-6C3E-3AD2-1F95-21CF58DADB17}"/>
              </a:ext>
            </a:extLst>
          </p:cNvPr>
          <p:cNvSpPr>
            <a:spLocks noChangeAspect="1" noEditPoints="1"/>
          </p:cNvSpPr>
          <p:nvPr userDrawn="1"/>
        </p:nvSpPr>
        <p:spPr bwMode="black">
          <a:xfrm>
            <a:off x="467154" y="227013"/>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3071946084"/>
      </p:ext>
    </p:extLst>
  </p:cSld>
  <p:clrMapOvr>
    <a:masterClrMapping/>
  </p:clrMapOvr>
  <p:transition spd="slow"/>
</p:sldLayout>
</file>

<file path=ppt/slideLayouts/slideLayout63.xml><?xml version="1.0" encoding="utf-8"?>
<p:sldLayout xmlns:a="http://schemas.openxmlformats.org/drawingml/2006/main" xmlns:r="http://schemas.openxmlformats.org/officeDocument/2006/relationships" xmlns:p="http://schemas.openxmlformats.org/presentationml/2006/main" type="twoObj" preserve="1">
  <p:cSld name="两项内容">
    <p:spTree>
      <p:nvGrpSpPr>
        <p:cNvPr id="1" name=""/>
        <p:cNvGrpSpPr/>
        <p:nvPr/>
      </p:nvGrpSpPr>
      <p:grpSpPr>
        <a:xfrm>
          <a:off x="0" y="0"/>
          <a:ext cx="0" cy="0"/>
          <a:chOff x="0" y="0"/>
          <a:chExt cx="0" cy="0"/>
        </a:xfrm>
      </p:grpSpPr>
      <p:sp>
        <p:nvSpPr>
          <p:cNvPr id="2" name="标题 1"/>
          <p:cNvSpPr>
            <a:spLocks noGrp="1"/>
          </p:cNvSpPr>
          <p:nvPr>
            <p:ph type="title"/>
          </p:nvPr>
        </p:nvSpPr>
        <p:spPr>
          <a:xfrm>
            <a:off x="609600" y="-331029"/>
            <a:ext cx="10858500" cy="1028700"/>
          </a:xfrm>
        </p:spPr>
        <p:txBody>
          <a:bodyPr/>
          <a:lstStyle/>
          <a:p>
            <a:r>
              <a:rPr lang="zh-CN" altLang="en-US"/>
              <a:t>单击此处编辑母版标题样式</a:t>
            </a:r>
          </a:p>
        </p:txBody>
      </p:sp>
      <p:sp>
        <p:nvSpPr>
          <p:cNvPr id="3" name="内容占位符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内容占位符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日期占位符 4"/>
          <p:cNvSpPr>
            <a:spLocks noGrp="1"/>
          </p:cNvSpPr>
          <p:nvPr>
            <p:ph type="dt" sz="half" idx="10"/>
          </p:nvPr>
        </p:nvSpPr>
        <p:spPr/>
        <p:txBody>
          <a:bodyPr/>
          <a:lstStyle/>
          <a:p>
            <a:fld id="{DF6F2EA8-7B5B-4764-E02B-4ECB4538780A}" type="datetimeFigureOut">
              <a:rPr lang="zh-CN" altLang="en-US" smtClean="0"/>
              <a:t>2026/5/30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4581C52D-B4E5-4EAF-F8F0-08BBB827BB93}" type="slidenum">
              <a:rPr lang="zh-CN" altLang="en-US" smtClean="0"/>
              <a:t>‹#›</a:t>
            </a:fld>
            <a:endParaRPr lang="zh-CN" altLang="en-US"/>
          </a:p>
        </p:txBody>
      </p:sp>
    </p:spTree>
    <p:extLst>
      <p:ext uri="{BB962C8B-B14F-4D97-AF65-F5344CB8AC3E}">
        <p14:creationId xmlns:p14="http://schemas.microsoft.com/office/powerpoint/2010/main" val="2045973942"/>
      </p:ext>
    </p:extLst>
  </p:cSld>
  <p:clrMapOvr>
    <a:overrideClrMapping bg1="lt1" tx1="dk1" bg2="lt2" tx2="dk2" accent1="accent1" accent2="accent2" accent3="accent3" accent4="accent4" accent5="accent5" accent6="accent6" hlink="hlink" folHlink="folHlink"/>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p:cSld name="Title and Content - No Background">
    <p:spTree>
      <p:nvGrpSpPr>
        <p:cNvPr id="1" name=""/>
        <p:cNvGrpSpPr/>
        <p:nvPr/>
      </p:nvGrpSpPr>
      <p:grpSpPr>
        <a:xfrm>
          <a:off x="0" y="0"/>
          <a:ext cx="0" cy="0"/>
          <a:chOff x="0" y="0"/>
          <a:chExt cx="0" cy="0"/>
        </a:xfrm>
      </p:grpSpPr>
      <p:sp>
        <p:nvSpPr>
          <p:cNvPr id="10" name="Title 28"/>
          <p:cNvSpPr>
            <a:spLocks noGrp="1"/>
          </p:cNvSpPr>
          <p:nvPr>
            <p:ph type="title"/>
          </p:nvPr>
        </p:nvSpPr>
        <p:spPr bwMode="gray">
          <a:xfrm>
            <a:off x="548783" y="274320"/>
            <a:ext cx="11076268" cy="521208"/>
          </a:xfrm>
          <a:prstGeom prst="rect">
            <a:avLst/>
          </a:prstGeom>
        </p:spPr>
        <p:txBody>
          <a:bodyPr wrap="square" lIns="0" tIns="0" rIns="0" bIns="0" anchor="ctr" anchorCtr="0"/>
          <a:lstStyle>
            <a:lvl1pPr marL="0" algn="l" defTabSz="1218987" rtl="0" eaLnBrk="1" latinLnBrk="0" hangingPunct="1">
              <a:lnSpc>
                <a:spcPct val="100000"/>
              </a:lnSpc>
              <a:spcBef>
                <a:spcPct val="0"/>
              </a:spcBef>
              <a:buNone/>
              <a:tabLst>
                <a:tab pos="1218987" algn="l"/>
              </a:tabLst>
              <a:defRPr lang="en-US" sz="3600" kern="1200" cap="none" spc="0" baseline="0" dirty="0">
                <a:solidFill>
                  <a:schemeClr val="bg1"/>
                </a:solidFill>
                <a:latin typeface="Arial" pitchFamily="34" charset="0"/>
                <a:ea typeface="+mn-ea"/>
                <a:cs typeface="Arial" pitchFamily="34" charset="0"/>
              </a:defRPr>
            </a:lvl1pPr>
          </a:lstStyle>
          <a:p>
            <a:endParaRPr lang="en-US" dirty="0"/>
          </a:p>
        </p:txBody>
      </p:sp>
      <p:sp>
        <p:nvSpPr>
          <p:cNvPr id="22" name="Content Placeholder 2"/>
          <p:cNvSpPr>
            <a:spLocks noGrp="1"/>
          </p:cNvSpPr>
          <p:nvPr>
            <p:ph sz="half" idx="1"/>
          </p:nvPr>
        </p:nvSpPr>
        <p:spPr bwMode="gray">
          <a:xfrm>
            <a:off x="548783" y="1179577"/>
            <a:ext cx="11076268" cy="5211699"/>
          </a:xfrm>
          <a:prstGeom prst="rect">
            <a:avLst/>
          </a:prstGeom>
        </p:spPr>
        <p:txBody>
          <a:bodyPr lIns="0" tIns="0" rIns="0" bIns="0"/>
          <a:lstStyle>
            <a:lvl1pPr marL="171450" indent="-171450">
              <a:lnSpc>
                <a:spcPct val="90000"/>
              </a:lnSpc>
              <a:spcBef>
                <a:spcPts val="600"/>
              </a:spcBef>
              <a:buClrTx/>
              <a:buFont typeface="Arial" panose="020B0604020202020204" pitchFamily="34" charset="0"/>
              <a:buChar char="•"/>
              <a:defRPr sz="2400">
                <a:solidFill>
                  <a:schemeClr val="bg1"/>
                </a:solidFill>
                <a:latin typeface="Arial" pitchFamily="34" charset="0"/>
                <a:cs typeface="Arial" pitchFamily="34" charset="0"/>
              </a:defRPr>
            </a:lvl1pPr>
            <a:lvl2pPr marL="609493" indent="-228560">
              <a:lnSpc>
                <a:spcPct val="90000"/>
              </a:lnSpc>
              <a:spcBef>
                <a:spcPts val="600"/>
              </a:spcBef>
              <a:buClrTx/>
              <a:buFont typeface="Arial" pitchFamily="34" charset="0"/>
              <a:buChar char="–"/>
              <a:defRPr sz="2000">
                <a:solidFill>
                  <a:schemeClr val="bg1"/>
                </a:solidFill>
                <a:latin typeface="Arial" pitchFamily="34" charset="0"/>
                <a:cs typeface="Arial" pitchFamily="34" charset="0"/>
              </a:defRPr>
            </a:lvl2pPr>
            <a:lvl3pPr marL="835938" indent="-150258">
              <a:lnSpc>
                <a:spcPct val="90000"/>
              </a:lnSpc>
              <a:spcBef>
                <a:spcPts val="600"/>
              </a:spcBef>
              <a:buClrTx/>
              <a:buFont typeface="Arial" panose="020B0604020202020204" pitchFamily="34" charset="0"/>
              <a:buChar char="-"/>
              <a:defRPr sz="2000">
                <a:solidFill>
                  <a:schemeClr val="bg1"/>
                </a:solidFill>
                <a:latin typeface="Arial" pitchFamily="34" charset="0"/>
                <a:cs typeface="Arial" pitchFamily="34" charset="0"/>
              </a:defRPr>
            </a:lvl3pPr>
            <a:lvl4pPr marL="1147033" indent="-156606">
              <a:lnSpc>
                <a:spcPct val="90000"/>
              </a:lnSpc>
              <a:spcBef>
                <a:spcPts val="600"/>
              </a:spcBef>
              <a:buClrTx/>
              <a:buFont typeface="Arial" panose="020B0604020202020204" pitchFamily="34" charset="0"/>
              <a:buChar char="-"/>
              <a:defRPr sz="2000">
                <a:solidFill>
                  <a:schemeClr val="bg1"/>
                </a:solidFill>
                <a:latin typeface="Arial" pitchFamily="34" charset="0"/>
                <a:cs typeface="Arial" pitchFamily="34" charset="0"/>
              </a:defRPr>
            </a:lvl4pPr>
            <a:lvl5pPr marL="1445431" indent="-150258">
              <a:lnSpc>
                <a:spcPct val="90000"/>
              </a:lnSpc>
              <a:spcBef>
                <a:spcPts val="600"/>
              </a:spcBef>
              <a:buClrTx/>
              <a:buFont typeface="Arial" panose="020B0604020202020204" pitchFamily="34" charset="0"/>
              <a:buChar char="-"/>
              <a:defRPr sz="20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endParaRPr lang="en-US" dirty="0"/>
          </a:p>
        </p:txBody>
      </p:sp>
      <p:sp>
        <p:nvSpPr>
          <p:cNvPr id="6" name="Freeform 5">
            <a:extLst>
              <a:ext uri="{FF2B5EF4-FFF2-40B4-BE49-F238E27FC236}">
                <a16:creationId xmlns:a16="http://schemas.microsoft.com/office/drawing/2014/main" id="{8C261849-EED4-439D-9D86-D00B5DA1B6C8}"/>
              </a:ext>
            </a:extLst>
          </p:cNvPr>
          <p:cNvSpPr>
            <a:spLocks noChangeAspect="1" noEditPoints="1"/>
          </p:cNvSpPr>
          <p:nvPr/>
        </p:nvSpPr>
        <p:spPr bwMode="black">
          <a:xfrm>
            <a:off x="205409" y="423409"/>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
        <p:nvSpPr>
          <p:cNvPr id="8" name="TextBox slide number">
            <a:extLst>
              <a:ext uri="{FF2B5EF4-FFF2-40B4-BE49-F238E27FC236}">
                <a16:creationId xmlns:a16="http://schemas.microsoft.com/office/drawing/2014/main" id="{C14F407B-25FF-40AD-A010-7F4E0497654A}"/>
              </a:ext>
            </a:extLst>
          </p:cNvPr>
          <p:cNvSpPr txBox="1"/>
          <p:nvPr/>
        </p:nvSpPr>
        <p:spPr bwMode="white">
          <a:xfrm>
            <a:off x="11751760" y="6395208"/>
            <a:ext cx="440239" cy="246221"/>
          </a:xfrm>
          <a:prstGeom prst="rect">
            <a:avLst/>
          </a:prstGeom>
        </p:spPr>
        <p:txBody>
          <a:bodyPr vert="horz" lIns="0" tIns="0" rIns="0" bIns="0" rtlCol="0" anchor="b"/>
          <a:lstStyle>
            <a:defPPr>
              <a:defRPr lang="en-US"/>
            </a:defPPr>
            <a:lvl1pPr algn="ctr">
              <a:defRPr sz="1000">
                <a:solidFill>
                  <a:schemeClr val="bg1"/>
                </a:solidFill>
              </a:defRPr>
            </a:lvl1pPr>
          </a:lstStyle>
          <a:p>
            <a:pPr lvl="0" algn="ctr"/>
            <a:fld id="{6EA5B71A-1B18-4E34-A48F-65DC4937AA99}" type="slidenum">
              <a:rPr lang="en-US" sz="1000" b="0" smtClean="0">
                <a:solidFill>
                  <a:schemeClr val="tx1"/>
                </a:solidFill>
              </a:rPr>
              <a:pPr lvl="0" algn="ctr"/>
              <a:t>‹#›</a:t>
            </a:fld>
            <a:endParaRPr lang="en-US" sz="1000" b="0" dirty="0">
              <a:solidFill>
                <a:schemeClr val="tx1"/>
              </a:solidFill>
            </a:endParaRPr>
          </a:p>
        </p:txBody>
      </p:sp>
    </p:spTree>
    <p:extLst>
      <p:ext uri="{BB962C8B-B14F-4D97-AF65-F5344CB8AC3E}">
        <p14:creationId xmlns:p14="http://schemas.microsoft.com/office/powerpoint/2010/main" val="20500183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a16="http://schemas.microsoft.com/office/drawing/2014/main">
      <p:transition spd="med">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p:cSld name="2_空白">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DBEEF5-5DA5-9F91-63DD-0168D8E3EB8B}"/>
              </a:ext>
            </a:extLst>
          </p:cNvPr>
          <p:cNvSpPr>
            <a:spLocks noGrp="1"/>
          </p:cNvSpPr>
          <p:nvPr>
            <p:ph type="title"/>
          </p:nvPr>
        </p:nvSpPr>
        <p:spPr>
          <a:xfrm>
            <a:off x="897323" y="86740"/>
            <a:ext cx="10714759" cy="457201"/>
          </a:xfrm>
          <a:prstGeom prst="rect">
            <a:avLst/>
          </a:prstGeom>
        </p:spPr>
        <p:txBody>
          <a:bodyPr/>
          <a:lstStyle>
            <a:lvl1pPr>
              <a:defRPr>
                <a:solidFill>
                  <a:schemeClr val="bg1"/>
                </a:solidFill>
                <a:latin typeface="+mj-ea"/>
                <a:ea typeface="+mj-ea"/>
              </a:defRPr>
            </a:lvl1pPr>
          </a:lstStyle>
          <a:p>
            <a:r>
              <a:rPr lang="zh-CN" altLang="en-US"/>
              <a:t>单击此处编辑母版标题样式</a:t>
            </a:r>
            <a:endParaRPr lang="zh-CN" altLang="en-US" dirty="0"/>
          </a:p>
        </p:txBody>
      </p:sp>
      <p:sp>
        <p:nvSpPr>
          <p:cNvPr id="3" name="Freeform 5">
            <a:extLst>
              <a:ext uri="{FF2B5EF4-FFF2-40B4-BE49-F238E27FC236}">
                <a16:creationId xmlns:a16="http://schemas.microsoft.com/office/drawing/2014/main" id="{84B77ACE-BA20-4CD3-D192-5DCF340577ED}"/>
              </a:ext>
            </a:extLst>
          </p:cNvPr>
          <p:cNvSpPr>
            <a:spLocks noChangeAspect="1" noEditPoints="1"/>
          </p:cNvSpPr>
          <p:nvPr userDrawn="1"/>
        </p:nvSpPr>
        <p:spPr bwMode="black">
          <a:xfrm>
            <a:off x="479598" y="215046"/>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155334941"/>
      </p:ext>
    </p:extLst>
  </p:cSld>
  <p:clrMapOvr>
    <a:overrideClrMapping bg1="lt1" tx1="dk1" bg2="lt2" tx2="dk2" accent1="accent1" accent2="accent2" accent3="accent3" accent4="accent4" accent5="accent5" accent6="accent6" hlink="hlink" folHlink="folHlink"/>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4_标题幻灯片">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5B42509E-12FE-156B-B1FC-818C4EC59FB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Rectangle 3">
            <a:extLst>
              <a:ext uri="{FF2B5EF4-FFF2-40B4-BE49-F238E27FC236}">
                <a16:creationId xmlns:a16="http://schemas.microsoft.com/office/drawing/2014/main" id="{12F37E50-CF33-4241-AF80-F4953C679288}"/>
              </a:ext>
            </a:extLst>
          </p:cNvPr>
          <p:cNvSpPr/>
          <p:nvPr/>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Rectangle 11">
            <a:extLst>
              <a:ext uri="{FF2B5EF4-FFF2-40B4-BE49-F238E27FC236}">
                <a16:creationId xmlns:a16="http://schemas.microsoft.com/office/drawing/2014/main" id="{0F60084F-F637-4FA4-BE35-D702CF6DAA6A}"/>
              </a:ext>
            </a:extLst>
          </p:cNvPr>
          <p:cNvSpPr/>
          <p:nvPr/>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Title 1">
            <a:extLst>
              <a:ext uri="{FF2B5EF4-FFF2-40B4-BE49-F238E27FC236}">
                <a16:creationId xmlns:a16="http://schemas.microsoft.com/office/drawing/2014/main" id="{2869597B-F909-5F67-0679-C0ADB832BB0C}"/>
              </a:ext>
            </a:extLst>
          </p:cNvPr>
          <p:cNvSpPr>
            <a:spLocks noGrp="1"/>
          </p:cNvSpPr>
          <p:nvPr>
            <p:ph type="ctrTitle"/>
          </p:nvPr>
        </p:nvSpPr>
        <p:spPr>
          <a:xfrm>
            <a:off x="1027460" y="2767054"/>
            <a:ext cx="5200650" cy="1794141"/>
          </a:xfrm>
          <a:prstGeom prst="rect">
            <a:avLst/>
          </a:prstGeom>
          <a:noFill/>
          <a:ln>
            <a:noFill/>
          </a:ln>
        </p:spPr>
        <p:txBody>
          <a:bodyPr vert="horz" wrap="square" lIns="91440" tIns="45720" rIns="91440" bIns="45720" rtlCol="0" anchor="b">
            <a:noAutofit/>
          </a:bodyPr>
          <a:lstStyle>
            <a:lvl1pPr algn="ctr">
              <a:defRPr lang="zh-CN" altLang="en-US" sz="4400" i="0" dirty="0">
                <a:solidFill>
                  <a:schemeClr val="bg1"/>
                </a:solidFill>
              </a:defRPr>
            </a:lvl1pPr>
          </a:lstStyle>
          <a:p>
            <a:pPr lvl="0"/>
            <a:endParaRPr lang="zh-CN" altLang="en-US" dirty="0"/>
          </a:p>
        </p:txBody>
      </p:sp>
      <p:cxnSp>
        <p:nvCxnSpPr>
          <p:cNvPr id="8" name="Straight Connector 13">
            <a:extLst>
              <a:ext uri="{FF2B5EF4-FFF2-40B4-BE49-F238E27FC236}">
                <a16:creationId xmlns:a16="http://schemas.microsoft.com/office/drawing/2014/main" id="{A7BE3E13-E4E5-2397-0174-77949629B0D5}"/>
              </a:ext>
            </a:extLst>
          </p:cNvPr>
          <p:cNvCxnSpPr>
            <a:cxnSpLocks/>
          </p:cNvCxnSpPr>
          <p:nvPr/>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4" name="图片 3">
            <a:extLst>
              <a:ext uri="{FF2B5EF4-FFF2-40B4-BE49-F238E27FC236}">
                <a16:creationId xmlns:a16="http://schemas.microsoft.com/office/drawing/2014/main" id="{F90B7826-24A7-BC3C-73C9-9F5F7B19EAE5}"/>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5" name="图片 4">
            <a:extLst>
              <a:ext uri="{FF2B5EF4-FFF2-40B4-BE49-F238E27FC236}">
                <a16:creationId xmlns:a16="http://schemas.microsoft.com/office/drawing/2014/main" id="{0BDE140C-EF3F-E22F-4A92-E3E962B8277F}"/>
              </a:ext>
            </a:extLst>
          </p:cNvPr>
          <p:cNvPicPr>
            <a:picLocks noChangeAspect="1"/>
          </p:cNvPicPr>
          <p:nvPr/>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3272506893"/>
      </p:ext>
    </p:extLst>
  </p:cSld>
  <p:clrMapOvr>
    <a:overrideClrMapping bg1="lt1" tx1="dk1" bg2="lt2" tx2="dk2" accent1="accent1" accent2="accent2" accent3="accent3" accent4="accent4" accent5="accent5" accent6="accent6" hlink="hlink" folHlink="folHlink"/>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p:cSld name="5_标题幻灯片">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C2C7C2A-E334-E5BD-47CD-7B7479086E5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Title 1">
            <a:extLst>
              <a:ext uri="{FF2B5EF4-FFF2-40B4-BE49-F238E27FC236}">
                <a16:creationId xmlns:a16="http://schemas.microsoft.com/office/drawing/2014/main" id="{53FD368F-863D-4527-8F6D-CEC87B7E23EE}"/>
              </a:ext>
            </a:extLst>
          </p:cNvPr>
          <p:cNvSpPr>
            <a:spLocks noGrp="1"/>
          </p:cNvSpPr>
          <p:nvPr>
            <p:ph type="ctrTitle"/>
          </p:nvPr>
        </p:nvSpPr>
        <p:spPr>
          <a:xfrm>
            <a:off x="1029470" y="1862477"/>
            <a:ext cx="5200650" cy="2605695"/>
          </a:xfrm>
          <a:prstGeom prst="rect">
            <a:avLst/>
          </a:prstGeom>
          <a:noFill/>
          <a:ln>
            <a:noFill/>
          </a:ln>
        </p:spPr>
        <p:txBody>
          <a:bodyPr vert="horz" wrap="square" lIns="91440" tIns="45720" rIns="91440" bIns="45720" rtlCol="0" anchor="b">
            <a:noAutofit/>
          </a:bodyPr>
          <a:lstStyle>
            <a:lvl1pPr algn="ctr">
              <a:defRPr lang="zh-CN" altLang="en-US" sz="4400" i="0" dirty="0">
                <a:solidFill>
                  <a:schemeClr val="bg1"/>
                </a:solidFill>
              </a:defRPr>
            </a:lvl1pPr>
          </a:lstStyle>
          <a:p>
            <a:pPr lvl="0"/>
            <a:endParaRPr lang="zh-CN" altLang="en-US" dirty="0"/>
          </a:p>
        </p:txBody>
      </p:sp>
      <p:sp>
        <p:nvSpPr>
          <p:cNvPr id="4" name="Rectangle 3">
            <a:extLst>
              <a:ext uri="{FF2B5EF4-FFF2-40B4-BE49-F238E27FC236}">
                <a16:creationId xmlns:a16="http://schemas.microsoft.com/office/drawing/2014/main" id="{12F37E50-CF33-4241-AF80-F4953C679288}"/>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Rectangle 11">
            <a:extLst>
              <a:ext uri="{FF2B5EF4-FFF2-40B4-BE49-F238E27FC236}">
                <a16:creationId xmlns:a16="http://schemas.microsoft.com/office/drawing/2014/main" id="{0F60084F-F637-4FA4-BE35-D702CF6DAA6A}"/>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4" name="Straight Connector 13">
            <a:extLst>
              <a:ext uri="{FF2B5EF4-FFF2-40B4-BE49-F238E27FC236}">
                <a16:creationId xmlns:a16="http://schemas.microsoft.com/office/drawing/2014/main" id="{DC3C8D67-DBD4-4831-B956-FBC1F2BA8C47}"/>
              </a:ext>
            </a:extLst>
          </p:cNvPr>
          <p:cNvCxnSpPr>
            <a:cxnSpLocks/>
          </p:cNvCxnSpPr>
          <p:nvPr/>
        </p:nvCxnSpPr>
        <p:spPr>
          <a:xfrm flipV="1">
            <a:off x="957262" y="1862477"/>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3" name="图片 2">
            <a:extLst>
              <a:ext uri="{FF2B5EF4-FFF2-40B4-BE49-F238E27FC236}">
                <a16:creationId xmlns:a16="http://schemas.microsoft.com/office/drawing/2014/main" id="{74BF5D31-C802-5511-E1A1-34DAF124960F}"/>
              </a:ext>
            </a:extLst>
          </p:cNvPr>
          <p:cNvPicPr>
            <a:picLocks noChangeAspect="1"/>
          </p:cNvPicPr>
          <p:nvPr/>
        </p:nvPicPr>
        <p:blipFill>
          <a:blip r:embed="rId3" cstate="print">
            <a:duotone>
              <a:prstClr val="black"/>
              <a:schemeClr val="tx2">
                <a:tint val="45000"/>
                <a:satMod val="400000"/>
              </a:schemeClr>
            </a:duotone>
            <a:extLst>
              <a:ext uri="{BEBA8EAE-BF5A-486C-A8C5-ECC9F3942E4B}">
                <a14:imgProps xmlns:a14="http://schemas.microsoft.com/office/drawing/2010/main">
                  <a14:imgLayer r:embed="rId4">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5" name="图片 4">
            <a:extLst>
              <a:ext uri="{FF2B5EF4-FFF2-40B4-BE49-F238E27FC236}">
                <a16:creationId xmlns:a16="http://schemas.microsoft.com/office/drawing/2014/main" id="{D51DAAEB-A801-F029-2DA0-673028BC1641}"/>
              </a:ext>
            </a:extLst>
          </p:cNvPr>
          <p:cNvPicPr>
            <a:picLocks noChangeAspect="1"/>
          </p:cNvPicPr>
          <p:nvPr/>
        </p:nvPicPr>
        <p:blipFill>
          <a:blip r:embed="rId5"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1750371258"/>
      </p:ext>
    </p:extLst>
  </p:cSld>
  <p:clrMapOvr>
    <a:overrideClrMapping bg1="lt1" tx1="dk1" bg2="lt2" tx2="dk2" accent1="accent1" accent2="accent2" accent3="accent3" accent4="accent4" accent5="accent5" accent6="accent6" hlink="hlink" folHlink="folHlink"/>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p:cSld name="2_节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04B5FBE3-2983-7A7E-EDBF-7AD37AC20D3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标题 1"/>
          <p:cNvSpPr>
            <a:spLocks noGrp="1"/>
          </p:cNvSpPr>
          <p:nvPr>
            <p:ph type="title"/>
          </p:nvPr>
        </p:nvSpPr>
        <p:spPr>
          <a:xfrm>
            <a:off x="788155" y="2458832"/>
            <a:ext cx="10363200" cy="1362075"/>
          </a:xfrm>
          <a:prstGeom prst="rect">
            <a:avLst/>
          </a:prstGeom>
        </p:spPr>
        <p:txBody>
          <a:bodyPr anchor="t">
            <a:normAutofit/>
          </a:bodyPr>
          <a:lstStyle>
            <a:lvl1pPr algn="ctr">
              <a:defRPr sz="4400" b="1" cap="all">
                <a:solidFill>
                  <a:schemeClr val="accent1"/>
                </a:solidFill>
              </a:defRPr>
            </a:lvl1pPr>
          </a:lstStyle>
          <a:p>
            <a:r>
              <a:rPr lang="zh-CN" altLang="en-US"/>
              <a:t>单击此处编辑母版标题样式</a:t>
            </a:r>
            <a:endParaRPr lang="zh-CN" altLang="en-US" dirty="0"/>
          </a:p>
        </p:txBody>
      </p:sp>
      <p:pic>
        <p:nvPicPr>
          <p:cNvPr id="3" name="图片 2">
            <a:extLst>
              <a:ext uri="{FF2B5EF4-FFF2-40B4-BE49-F238E27FC236}">
                <a16:creationId xmlns:a16="http://schemas.microsoft.com/office/drawing/2014/main" id="{2B64EF90-A043-CF53-4A64-26B4932B7055}"/>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4" name="图片 3">
            <a:extLst>
              <a:ext uri="{FF2B5EF4-FFF2-40B4-BE49-F238E27FC236}">
                <a16:creationId xmlns:a16="http://schemas.microsoft.com/office/drawing/2014/main" id="{7FF88E22-8B91-66CE-8127-F4DF49D0C47F}"/>
              </a:ext>
            </a:extLst>
          </p:cNvPr>
          <p:cNvPicPr>
            <a:picLocks noChangeAspect="1"/>
          </p:cNvPicPr>
          <p:nvPr/>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3262647178"/>
      </p:ext>
    </p:extLst>
  </p:cSld>
  <p:clrMapOvr>
    <a:overrideClrMapping bg1="lt1" tx1="dk1" bg2="lt2" tx2="dk2" accent1="accent1" accent2="accent2" accent3="accent3" accent4="accent4" accent5="accent5" accent6="accent6" hlink="hlink" folHlink="folHlink"/>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p:cSld name="3_节标题">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AD9F9ABC-0F7B-6DEB-6195-893CD20C74E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Text Placeholder 4">
            <a:extLst>
              <a:ext uri="{FF2B5EF4-FFF2-40B4-BE49-F238E27FC236}">
                <a16:creationId xmlns:a16="http://schemas.microsoft.com/office/drawing/2014/main" id="{7AF4A77F-477A-42CF-AB01-C5164F0848BA}"/>
              </a:ext>
            </a:extLst>
          </p:cNvPr>
          <p:cNvSpPr>
            <a:spLocks noGrp="1"/>
          </p:cNvSpPr>
          <p:nvPr>
            <p:ph type="body" sz="quarter" idx="10"/>
          </p:nvPr>
        </p:nvSpPr>
        <p:spPr>
          <a:xfrm>
            <a:off x="3447433" y="3111089"/>
            <a:ext cx="4607238" cy="794990"/>
          </a:xfrm>
        </p:spPr>
        <p:txBody>
          <a:bodyPr wrap="none">
            <a:noAutofit/>
          </a:bodyPr>
          <a:lstStyle>
            <a:lvl1pPr marL="0" indent="0" algn="ctr">
              <a:buNone/>
              <a:defRPr sz="4400" b="1" i="0">
                <a:solidFill>
                  <a:schemeClr val="bg1"/>
                </a:solidFill>
                <a:latin typeface="+mj-lt"/>
              </a:defRPr>
            </a:lvl1pPr>
            <a:lvl2pPr marL="457166" indent="0">
              <a:buNone/>
              <a:defRPr b="1">
                <a:solidFill>
                  <a:schemeClr val="bg1"/>
                </a:solidFill>
              </a:defRPr>
            </a:lvl2pPr>
            <a:lvl3pPr marL="914330" indent="0">
              <a:buNone/>
              <a:defRPr b="1">
                <a:solidFill>
                  <a:schemeClr val="bg1"/>
                </a:solidFill>
              </a:defRPr>
            </a:lvl3pPr>
            <a:lvl4pPr marL="1371496" indent="0">
              <a:buNone/>
              <a:defRPr b="1">
                <a:solidFill>
                  <a:schemeClr val="bg1"/>
                </a:solidFill>
              </a:defRPr>
            </a:lvl4pPr>
            <a:lvl5pPr marL="1828663" indent="0">
              <a:buNone/>
              <a:defRPr b="1">
                <a:solidFill>
                  <a:schemeClr val="bg1"/>
                </a:solidFill>
              </a:defRPr>
            </a:lvl5pPr>
          </a:lstStyle>
          <a:p>
            <a:pPr lvl="0"/>
            <a:endParaRPr lang="zh-CN" altLang="en-US" dirty="0"/>
          </a:p>
        </p:txBody>
      </p:sp>
      <p:pic>
        <p:nvPicPr>
          <p:cNvPr id="2" name="图片 1">
            <a:extLst>
              <a:ext uri="{FF2B5EF4-FFF2-40B4-BE49-F238E27FC236}">
                <a16:creationId xmlns:a16="http://schemas.microsoft.com/office/drawing/2014/main" id="{1D90DB62-1BC7-5189-C42C-3D9961ED2577}"/>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3" name="图片 2">
            <a:extLst>
              <a:ext uri="{FF2B5EF4-FFF2-40B4-BE49-F238E27FC236}">
                <a16:creationId xmlns:a16="http://schemas.microsoft.com/office/drawing/2014/main" id="{0C6513E3-AF68-087D-8BA6-B5B4CB4517E2}"/>
              </a:ext>
            </a:extLst>
          </p:cNvPr>
          <p:cNvPicPr>
            <a:picLocks noChangeAspect="1"/>
          </p:cNvPicPr>
          <p:nvPr/>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7474958"/>
      </p:ext>
    </p:extLst>
  </p:cSld>
  <p:clrMapOvr>
    <a:overrideClrMapping bg1="lt1" tx1="dk1" bg2="lt2" tx2="dk2" accent1="accent1" accent2="accent2" accent3="accent3" accent4="accent4" accent5="accent5" accent6="accent6" hlink="hlink" folHlink="folHlink"/>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preserve="1">
  <p:cSld name="1_末尾幻灯片">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1880324D-53AD-EC4E-B92F-83312C80ED4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14" name="Rectangle 13">
            <a:extLst>
              <a:ext uri="{FF2B5EF4-FFF2-40B4-BE49-F238E27FC236}">
                <a16:creationId xmlns:a16="http://schemas.microsoft.com/office/drawing/2014/main" id="{4129C334-CACA-4BE1-A84C-41F6820FF127}"/>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Rectangle 14">
            <a:extLst>
              <a:ext uri="{FF2B5EF4-FFF2-40B4-BE49-F238E27FC236}">
                <a16:creationId xmlns:a16="http://schemas.microsoft.com/office/drawing/2014/main" id="{6907BCD2-9008-43D6-B003-96C575232D66}"/>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Freeform: Shape 10">
            <a:extLst>
              <a:ext uri="{FF2B5EF4-FFF2-40B4-BE49-F238E27FC236}">
                <a16:creationId xmlns:a16="http://schemas.microsoft.com/office/drawing/2014/main" id="{0A271160-581E-4BCE-BACF-7271659F1D01}"/>
              </a:ext>
            </a:extLst>
          </p:cNvPr>
          <p:cNvSpPr/>
          <p:nvPr/>
        </p:nvSpPr>
        <p:spPr>
          <a:xfrm>
            <a:off x="12191319" y="0"/>
            <a:ext cx="684" cy="13546"/>
          </a:xfrm>
          <a:custGeom>
            <a:avLst/>
            <a:gdLst>
              <a:gd name="connsiteX0" fmla="*/ 0 w 684"/>
              <a:gd name="connsiteY0" fmla="*/ 0 h 13546"/>
              <a:gd name="connsiteX1" fmla="*/ 684 w 684"/>
              <a:gd name="connsiteY1" fmla="*/ 0 h 13546"/>
              <a:gd name="connsiteX2" fmla="*/ 684 w 684"/>
              <a:gd name="connsiteY2" fmla="*/ 13546 h 13546"/>
              <a:gd name="connsiteX3" fmla="*/ 0 w 684"/>
              <a:gd name="connsiteY3" fmla="*/ 0 h 13546"/>
            </a:gdLst>
            <a:ahLst/>
            <a:cxnLst>
              <a:cxn ang="0">
                <a:pos x="connsiteX0" y="connsiteY0"/>
              </a:cxn>
              <a:cxn ang="0">
                <a:pos x="connsiteX1" y="connsiteY1"/>
              </a:cxn>
              <a:cxn ang="0">
                <a:pos x="connsiteX2" y="connsiteY2"/>
              </a:cxn>
              <a:cxn ang="0">
                <a:pos x="connsiteX3" y="connsiteY3"/>
              </a:cxn>
            </a:cxnLst>
            <a:rect l="l" t="t" r="r" b="b"/>
            <a:pathLst>
              <a:path w="684" h="13546">
                <a:moveTo>
                  <a:pt x="0" y="0"/>
                </a:moveTo>
                <a:lnTo>
                  <a:pt x="684" y="0"/>
                </a:lnTo>
                <a:lnTo>
                  <a:pt x="684" y="13546"/>
                </a:lnTo>
                <a:lnTo>
                  <a:pt x="0" y="0"/>
                </a:lnTo>
                <a:close/>
              </a:path>
            </a:pathLst>
          </a:custGeom>
          <a:solidFill>
            <a:schemeClr val="bg1"/>
          </a:solidFill>
          <a:ln w="14015" cap="flat">
            <a:noFill/>
            <a:prstDash val="solid"/>
            <a:miter/>
          </a:ln>
        </p:spPr>
        <p:txBody>
          <a:bodyPr wrap="square" rtlCol="0" anchor="ctr">
            <a:noAutofit/>
          </a:bodyPr>
          <a:lstStyle/>
          <a:p>
            <a:endParaRPr lang="zh-CN" altLang="en-US" sz="1800">
              <a:solidFill>
                <a:schemeClr val="tx1"/>
              </a:solidFill>
            </a:endParaRPr>
          </a:p>
        </p:txBody>
      </p:sp>
      <p:sp>
        <p:nvSpPr>
          <p:cNvPr id="27" name="Text Placeholder 26">
            <a:extLst>
              <a:ext uri="{FF2B5EF4-FFF2-40B4-BE49-F238E27FC236}">
                <a16:creationId xmlns:a16="http://schemas.microsoft.com/office/drawing/2014/main" id="{FEA7D86A-A334-4E0C-B01B-43F345A176DE}"/>
              </a:ext>
            </a:extLst>
          </p:cNvPr>
          <p:cNvSpPr>
            <a:spLocks noGrp="1"/>
          </p:cNvSpPr>
          <p:nvPr>
            <p:ph type="body" sz="quarter" idx="12" hasCustomPrompt="1"/>
          </p:nvPr>
        </p:nvSpPr>
        <p:spPr>
          <a:xfrm>
            <a:off x="8314441" y="6082576"/>
            <a:ext cx="3204458" cy="230832"/>
          </a:xfrm>
        </p:spPr>
        <p:txBody>
          <a:bodyPr vert="horz" wrap="none" lIns="91440" tIns="45720" rIns="91440" bIns="45720" rtlCol="0" anchor="ctr">
            <a:noAutofit/>
          </a:bodyPr>
          <a:lstStyle>
            <a:lvl1pPr>
              <a:defRPr lang="en-US" altLang="zh-CN" sz="1600" b="1" dirty="0">
                <a:ln>
                  <a:noFill/>
                </a:ln>
                <a:solidFill>
                  <a:schemeClr val="accent1"/>
                </a:solidFill>
                <a:latin typeface="+mj-lt"/>
                <a:ea typeface="+mj-ea"/>
                <a:cs typeface="+mj-cs"/>
              </a:defRPr>
            </a:lvl1pPr>
          </a:lstStyle>
          <a:p>
            <a:pPr marL="228573" marR="0" lvl="0" indent="-228573" algn="r" defTabSz="914332" rtl="0" eaLnBrk="1" fontAlgn="auto" latinLnBrk="0" hangingPunct="1">
              <a:lnSpc>
                <a:spcPct val="90000"/>
              </a:lnSpc>
              <a:spcBef>
                <a:spcPct val="0"/>
              </a:spcBef>
              <a:spcAft>
                <a:spcPts val="0"/>
              </a:spcAft>
              <a:buClrTx/>
              <a:buSzTx/>
              <a:buFont typeface="Arial" panose="020B0604020202020204" pitchFamily="34" charset="0"/>
              <a:buNone/>
              <a:tabLst/>
              <a:defRPr/>
            </a:pPr>
            <a:r>
              <a:rPr lang="en-US" altLang="zh-CN" dirty="0"/>
              <a:t>Grit</a:t>
            </a:r>
          </a:p>
        </p:txBody>
      </p:sp>
      <p:sp>
        <p:nvSpPr>
          <p:cNvPr id="3" name="Text Placeholder 2">
            <a:extLst>
              <a:ext uri="{FF2B5EF4-FFF2-40B4-BE49-F238E27FC236}">
                <a16:creationId xmlns:a16="http://schemas.microsoft.com/office/drawing/2014/main" id="{FC1A48BB-A1A1-4744-B0D3-FD4F42C33B9B}"/>
              </a:ext>
            </a:extLst>
          </p:cNvPr>
          <p:cNvSpPr>
            <a:spLocks noGrp="1"/>
          </p:cNvSpPr>
          <p:nvPr>
            <p:ph type="body" sz="quarter" idx="13" hasCustomPrompt="1"/>
          </p:nvPr>
        </p:nvSpPr>
        <p:spPr>
          <a:xfrm>
            <a:off x="714723" y="2737247"/>
            <a:ext cx="5842001" cy="1383506"/>
          </a:xfrm>
        </p:spPr>
        <p:txBody>
          <a:bodyPr vert="horz" lIns="91440" tIns="45720" rIns="91440" bIns="45720" rtlCol="0" anchor="b">
            <a:noAutofit/>
          </a:bodyPr>
          <a:lstStyle>
            <a:lvl1pPr algn="l">
              <a:defRPr lang="en-US" altLang="zh-CN" sz="8000" b="1" i="0" dirty="0">
                <a:solidFill>
                  <a:srgbClr val="FFFFFF"/>
                </a:solidFill>
                <a:latin typeface="+mj-lt"/>
                <a:ea typeface="+mj-ea"/>
                <a:cs typeface="+mj-cs"/>
              </a:defRPr>
            </a:lvl1pPr>
          </a:lstStyle>
          <a:p>
            <a:pPr lvl="0">
              <a:spcBef>
                <a:spcPct val="0"/>
              </a:spcBef>
              <a:buNone/>
            </a:pPr>
            <a:r>
              <a:rPr lang="en-US" altLang="zh-CN" dirty="0"/>
              <a:t>Thank you</a:t>
            </a:r>
          </a:p>
        </p:txBody>
      </p:sp>
      <p:pic>
        <p:nvPicPr>
          <p:cNvPr id="7" name="图片 6">
            <a:extLst>
              <a:ext uri="{FF2B5EF4-FFF2-40B4-BE49-F238E27FC236}">
                <a16:creationId xmlns:a16="http://schemas.microsoft.com/office/drawing/2014/main" id="{ACA91101-6551-CFAC-38BE-CAD07DFA046C}"/>
              </a:ext>
            </a:extLst>
          </p:cNvPr>
          <p:cNvPicPr>
            <a:picLocks noChangeAspect="1"/>
          </p:cNvPicPr>
          <p:nvPr/>
        </p:nvPicPr>
        <p:blipFill>
          <a:blip r:embed="rId3" cstate="print">
            <a:duotone>
              <a:schemeClr val="bg2">
                <a:shade val="45000"/>
                <a:satMod val="135000"/>
              </a:schemeClr>
              <a:prstClr val="white"/>
            </a:duotone>
            <a:extLst>
              <a:ext uri="{BEBA8EAE-BF5A-486C-A8C5-ECC9F3942E4B}">
                <a14:imgProps xmlns:a14="http://schemas.microsoft.com/office/drawing/2010/main">
                  <a14:imgLayer r:embed="rId4">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8213598" y="2801933"/>
            <a:ext cx="3516518" cy="1579597"/>
          </a:xfrm>
          <a:prstGeom prst="rect">
            <a:avLst/>
          </a:prstGeom>
        </p:spPr>
      </p:pic>
      <p:pic>
        <p:nvPicPr>
          <p:cNvPr id="4" name="图片 3">
            <a:extLst>
              <a:ext uri="{FF2B5EF4-FFF2-40B4-BE49-F238E27FC236}">
                <a16:creationId xmlns:a16="http://schemas.microsoft.com/office/drawing/2014/main" id="{16367A13-8D37-4D16-02BF-867DB1639451}"/>
              </a:ext>
            </a:extLst>
          </p:cNvPr>
          <p:cNvPicPr>
            <a:picLocks noChangeAspect="1"/>
          </p:cNvPicPr>
          <p:nvPr/>
        </p:nvPicPr>
        <p:blipFill>
          <a:blip r:embed="rId5" cstate="print">
            <a:duotone>
              <a:prstClr val="black"/>
              <a:schemeClr val="tx2">
                <a:tint val="45000"/>
                <a:satMod val="400000"/>
              </a:schemeClr>
            </a:duotone>
            <a:extLst>
              <a:ext uri="{BEBA8EAE-BF5A-486C-A8C5-ECC9F3942E4B}">
                <a14:imgProps xmlns:a14="http://schemas.microsoft.com/office/drawing/2010/main">
                  <a14:imgLayer r:embed="rId6">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5" name="图片 4">
            <a:extLst>
              <a:ext uri="{FF2B5EF4-FFF2-40B4-BE49-F238E27FC236}">
                <a16:creationId xmlns:a16="http://schemas.microsoft.com/office/drawing/2014/main" id="{0BEF51FA-017F-F0D1-9466-B21881B7CA77}"/>
              </a:ext>
            </a:extLst>
          </p:cNvPr>
          <p:cNvPicPr>
            <a:picLocks noChangeAspect="1"/>
          </p:cNvPicPr>
          <p:nvPr/>
        </p:nvPicPr>
        <p:blipFill>
          <a:blip r:embed="rId7"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518740379"/>
      </p:ext>
    </p:extLst>
  </p:cSld>
  <p:clrMapOvr>
    <a:overrideClrMapping bg1="lt1" tx1="dk1" bg2="lt2" tx2="dk2" accent1="accent1" accent2="accent2" accent3="accent3" accent4="accent4" accent5="accent5" accent6="accent6" hlink="hlink" folHlink="folHlink"/>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preserve="1">
  <p:cSld name="2_Title Slide">
    <p:spTree>
      <p:nvGrpSpPr>
        <p:cNvPr id="1" name=""/>
        <p:cNvGrpSpPr/>
        <p:nvPr/>
      </p:nvGrpSpPr>
      <p:grpSpPr>
        <a:xfrm>
          <a:off x="0" y="0"/>
          <a:ext cx="0" cy="0"/>
          <a:chOff x="0" y="0"/>
          <a:chExt cx="0" cy="0"/>
        </a:xfrm>
      </p:grpSpPr>
      <p:grpSp>
        <p:nvGrpSpPr>
          <p:cNvPr id="40" name="组合 39"/>
          <p:cNvGrpSpPr/>
          <p:nvPr/>
        </p:nvGrpSpPr>
        <p:grpSpPr>
          <a:xfrm>
            <a:off x="0" y="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8" name="标题 4">
            <a:extLst>
              <a:ext uri="{FF2B5EF4-FFF2-40B4-BE49-F238E27FC236}">
                <a16:creationId xmlns:a16="http://schemas.microsoft.com/office/drawing/2014/main" id="{D4E51AF3-4B86-C068-61E8-F89039CF3D69}"/>
              </a:ext>
            </a:extLst>
          </p:cNvPr>
          <p:cNvSpPr>
            <a:spLocks noGrp="1"/>
          </p:cNvSpPr>
          <p:nvPr>
            <p:ph type="ctrTitle"/>
          </p:nvPr>
        </p:nvSpPr>
        <p:spPr>
          <a:xfrm>
            <a:off x="4594541" y="1855139"/>
            <a:ext cx="6749372" cy="2587173"/>
          </a:xfrm>
          <a:prstGeom prst="rect">
            <a:avLst/>
          </a:prstGeom>
        </p:spPr>
        <p:txBody>
          <a:bodyPr wrap="square" anchor="b">
            <a:normAutofit/>
          </a:bodyPr>
          <a:lstStyle>
            <a:lvl1pPr algn="ctr">
              <a:lnSpc>
                <a:spcPct val="100000"/>
              </a:lnSpc>
              <a:defRPr sz="5400">
                <a:ln w="19050">
                  <a:noFill/>
                </a:ln>
                <a:solidFill>
                  <a:schemeClr val="bg1"/>
                </a:solidFill>
              </a:defRPr>
            </a:lvl1pPr>
          </a:lstStyle>
          <a:p>
            <a:pPr lvl="0"/>
            <a:endParaRPr lang="en-US" dirty="0"/>
          </a:p>
        </p:txBody>
      </p:sp>
      <p:pic>
        <p:nvPicPr>
          <p:cNvPr id="3" name="图片 2">
            <a:extLst>
              <a:ext uri="{FF2B5EF4-FFF2-40B4-BE49-F238E27FC236}">
                <a16:creationId xmlns:a16="http://schemas.microsoft.com/office/drawing/2014/main" id="{28F19448-DCD7-2BCE-82BA-95A656302291}"/>
              </a:ext>
            </a:extLst>
          </p:cNvPr>
          <p:cNvPicPr>
            <a:picLocks noChangeAspect="1"/>
          </p:cNvPicPr>
          <p:nvPr/>
        </p:nvPicPr>
        <p:blipFill>
          <a:blip r:embed="rId5" cstate="print">
            <a:duotone>
              <a:prstClr val="black"/>
              <a:schemeClr val="tx2">
                <a:tint val="45000"/>
                <a:satMod val="400000"/>
              </a:schemeClr>
            </a:duotone>
            <a:extLst>
              <a:ext uri="{BEBA8EAE-BF5A-486C-A8C5-ECC9F3942E4B}">
                <a14:imgProps xmlns:a14="http://schemas.microsoft.com/office/drawing/2010/main">
                  <a14:imgLayer r:embed="rId6">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
        <p:nvSpPr>
          <p:cNvPr id="4" name="文本框 3">
            <a:extLst>
              <a:ext uri="{FF2B5EF4-FFF2-40B4-BE49-F238E27FC236}">
                <a16:creationId xmlns:a16="http://schemas.microsoft.com/office/drawing/2014/main" id="{7C0BEDAE-EB8C-24D6-C6AF-B8C73A0C8E8B}"/>
              </a:ext>
            </a:extLst>
          </p:cNvPr>
          <p:cNvSpPr txBox="1"/>
          <p:nvPr/>
        </p:nvSpPr>
        <p:spPr>
          <a:xfrm>
            <a:off x="1104756" y="2579023"/>
            <a:ext cx="1946564" cy="1107996"/>
          </a:xfrm>
          <a:prstGeom prst="rect">
            <a:avLst/>
          </a:prstGeom>
          <a:noFill/>
        </p:spPr>
        <p:txBody>
          <a:bodyPr wrap="square" rtlCol="0">
            <a:spAutoFit/>
          </a:bodyPr>
          <a:lstStyle/>
          <a:p>
            <a:r>
              <a:rPr lang="en-US" altLang="zh-CN" sz="6600" b="1" dirty="0">
                <a:solidFill>
                  <a:schemeClr val="bg1"/>
                </a:solidFill>
                <a:latin typeface="+mj-ea"/>
                <a:ea typeface="+mj-ea"/>
              </a:rPr>
              <a:t>IPC</a:t>
            </a:r>
            <a:endParaRPr lang="zh-CN" altLang="en-US" sz="6600" b="1" dirty="0">
              <a:solidFill>
                <a:schemeClr val="bg1"/>
              </a:solidFill>
              <a:latin typeface="+mj-ea"/>
              <a:ea typeface="+mj-ea"/>
            </a:endParaRPr>
          </a:p>
        </p:txBody>
      </p:sp>
    </p:spTree>
    <p:extLst>
      <p:ext uri="{BB962C8B-B14F-4D97-AF65-F5344CB8AC3E}">
        <p14:creationId xmlns:p14="http://schemas.microsoft.com/office/powerpoint/2010/main" val="3806855661"/>
      </p:ext>
    </p:extLst>
  </p:cSld>
  <p:clrMapOvr>
    <a:overrideClrMapping bg1="lt1" tx1="dk1" bg2="lt2" tx2="dk2" accent1="accent1" accent2="accent2" accent3="accent3" accent4="accent4" accent5="accent5" accent6="accent6" hlink="hlink" folHlink="folHlink"/>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3_空白">
    <p:spTree>
      <p:nvGrpSpPr>
        <p:cNvPr id="1" name=""/>
        <p:cNvGrpSpPr/>
        <p:nvPr/>
      </p:nvGrpSpPr>
      <p:grpSpPr>
        <a:xfrm>
          <a:off x="0" y="0"/>
          <a:ext cx="0" cy="0"/>
          <a:chOff x="0" y="0"/>
          <a:chExt cx="0" cy="0"/>
        </a:xfrm>
      </p:grpSpPr>
      <p:sp>
        <p:nvSpPr>
          <p:cNvPr id="5" name="矩形 4"/>
          <p:cNvSpPr/>
          <p:nvPr/>
        </p:nvSpPr>
        <p:spPr>
          <a:xfrm>
            <a:off x="0" y="6729413"/>
            <a:ext cx="12192000" cy="128587"/>
          </a:xfrm>
          <a:prstGeom prst="rect">
            <a:avLst/>
          </a:prstGeom>
          <a:gradFill>
            <a:gsLst>
              <a:gs pos="0">
                <a:schemeClr val="accent2"/>
              </a:gs>
              <a:gs pos="100000">
                <a:schemeClr val="accent1"/>
              </a:gs>
            </a:gsLst>
            <a:lin ang="10800000" scaled="1"/>
          </a:gradFill>
          <a:ln w="19050">
            <a:noFill/>
            <a:round/>
          </a:ln>
        </p:spPr>
        <p:txBody>
          <a:bodyPr vert="horz" wrap="square" lIns="91440" tIns="45720" rIns="91440" bIns="45720" numCol="1" spcCol="0" rtlCol="0" fromWordArt="0" anchor="ctr" anchorCtr="1" forceAA="0" compatLnSpc="1">
            <a:noAutofit/>
          </a:bodyPr>
          <a:lstStyle/>
          <a:p>
            <a:pPr lvl="0" algn="ctr"/>
            <a:endParaRPr lang="zh-CN" altLang="en-US" sz="1200" b="1">
              <a:solidFill>
                <a:schemeClr val="tx1"/>
              </a:solidFill>
            </a:endParaRPr>
          </a:p>
        </p:txBody>
      </p:sp>
      <p:sp>
        <p:nvSpPr>
          <p:cNvPr id="2" name="标题 1">
            <a:extLst>
              <a:ext uri="{FF2B5EF4-FFF2-40B4-BE49-F238E27FC236}">
                <a16:creationId xmlns:a16="http://schemas.microsoft.com/office/drawing/2014/main" id="{37B4B32B-9275-30B2-210F-C8DF270B0BB5}"/>
              </a:ext>
            </a:extLst>
          </p:cNvPr>
          <p:cNvSpPr>
            <a:spLocks noGrp="1"/>
          </p:cNvSpPr>
          <p:nvPr>
            <p:ph type="title"/>
          </p:nvPr>
        </p:nvSpPr>
        <p:spPr>
          <a:xfrm>
            <a:off x="866346" y="38910"/>
            <a:ext cx="10858500" cy="544945"/>
          </a:xfrm>
        </p:spPr>
        <p:txBody>
          <a:bodyPr/>
          <a:lstStyle>
            <a:lvl1pPr>
              <a:defRPr>
                <a:solidFill>
                  <a:schemeClr val="bg1"/>
                </a:solidFill>
              </a:defRPr>
            </a:lvl1pPr>
          </a:lstStyle>
          <a:p>
            <a:pPr lvl="0"/>
            <a:r>
              <a:rPr lang="zh-CN" altLang="en-US"/>
              <a:t>单击此处编辑母版标题样式</a:t>
            </a:r>
            <a:endParaRPr lang="en-US" dirty="0"/>
          </a:p>
        </p:txBody>
      </p:sp>
    </p:spTree>
    <p:extLst>
      <p:ext uri="{BB962C8B-B14F-4D97-AF65-F5344CB8AC3E}">
        <p14:creationId xmlns:p14="http://schemas.microsoft.com/office/powerpoint/2010/main" val="704411241"/>
      </p:ext>
    </p:extLst>
  </p:cSld>
  <p:clrMapOvr>
    <a:overrideClrMapping bg1="lt1" tx1="dk1" bg2="lt2" tx2="dk2" accent1="accent1" accent2="accent2" accent3="accent3" accent4="accent4" accent5="accent5" accent6="accent6" hlink="hlink" folHlink="folHlink"/>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preserve="1">
  <p:cSld name="6_标题幻灯片">
    <p:spTree>
      <p:nvGrpSpPr>
        <p:cNvPr id="1" name=""/>
        <p:cNvGrpSpPr/>
        <p:nvPr/>
      </p:nvGrpSpPr>
      <p:grpSpPr>
        <a:xfrm>
          <a:off x="0" y="0"/>
          <a:ext cx="0" cy="0"/>
          <a:chOff x="0" y="0"/>
          <a:chExt cx="0" cy="0"/>
        </a:xfrm>
      </p:grpSpPr>
      <p:grpSp>
        <p:nvGrpSpPr>
          <p:cNvPr id="40" name="组合 39"/>
          <p:cNvGrpSpPr/>
          <p:nvPr/>
        </p:nvGrpSpPr>
        <p:grpSpPr>
          <a:xfrm>
            <a:off x="0" y="12450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endParaRPr>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bg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bg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bg1"/>
                </a:solidFill>
              </a:endParaRPr>
            </a:p>
          </p:txBody>
        </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bg1"/>
                  </a:solidFill>
                </a:endParaRPr>
              </a:p>
            </p:txBody>
          </p:sp>
        </p:grpSp>
      </p:grpSp>
      <p:sp>
        <p:nvSpPr>
          <p:cNvPr id="3" name="标题 4">
            <a:extLst>
              <a:ext uri="{FF2B5EF4-FFF2-40B4-BE49-F238E27FC236}">
                <a16:creationId xmlns:a16="http://schemas.microsoft.com/office/drawing/2014/main" id="{B5D391BF-A023-49D2-B62C-E02AC8635D69}"/>
              </a:ext>
            </a:extLst>
          </p:cNvPr>
          <p:cNvSpPr>
            <a:spLocks noGrp="1"/>
          </p:cNvSpPr>
          <p:nvPr>
            <p:ph type="ctrTitle"/>
          </p:nvPr>
        </p:nvSpPr>
        <p:spPr>
          <a:xfrm>
            <a:off x="4556922" y="1839434"/>
            <a:ext cx="6749372" cy="2587173"/>
          </a:xfrm>
          <a:prstGeom prst="rect">
            <a:avLst/>
          </a:prstGeom>
        </p:spPr>
        <p:txBody>
          <a:bodyPr wrap="square" anchor="b">
            <a:normAutofit/>
          </a:bodyPr>
          <a:lstStyle>
            <a:lvl1pPr algn="ctr">
              <a:lnSpc>
                <a:spcPct val="100000"/>
              </a:lnSpc>
              <a:defRPr sz="5400">
                <a:ln w="19050">
                  <a:noFill/>
                </a:ln>
                <a:solidFill>
                  <a:schemeClr val="bg1"/>
                </a:solidFill>
              </a:defRPr>
            </a:lvl1pPr>
          </a:lstStyle>
          <a:p>
            <a:pPr lvl="0"/>
            <a:endParaRPr lang="en-US" dirty="0"/>
          </a:p>
        </p:txBody>
      </p:sp>
      <p:sp>
        <p:nvSpPr>
          <p:cNvPr id="5" name="文本框 4">
            <a:extLst>
              <a:ext uri="{FF2B5EF4-FFF2-40B4-BE49-F238E27FC236}">
                <a16:creationId xmlns:a16="http://schemas.microsoft.com/office/drawing/2014/main" id="{FD9C0D61-6364-EB58-4CE8-074F803A783D}"/>
              </a:ext>
            </a:extLst>
          </p:cNvPr>
          <p:cNvSpPr txBox="1"/>
          <p:nvPr/>
        </p:nvSpPr>
        <p:spPr>
          <a:xfrm>
            <a:off x="1104756" y="2579023"/>
            <a:ext cx="1946564" cy="1107996"/>
          </a:xfrm>
          <a:prstGeom prst="rect">
            <a:avLst/>
          </a:prstGeom>
          <a:noFill/>
        </p:spPr>
        <p:txBody>
          <a:bodyPr wrap="square" rtlCol="0">
            <a:spAutoFit/>
          </a:bodyPr>
          <a:lstStyle/>
          <a:p>
            <a:r>
              <a:rPr lang="en-US" altLang="zh-CN" sz="6600" b="1" dirty="0">
                <a:solidFill>
                  <a:schemeClr val="bg1"/>
                </a:solidFill>
                <a:latin typeface="+mj-ea"/>
                <a:ea typeface="+mj-ea"/>
              </a:rPr>
              <a:t>IPC</a:t>
            </a:r>
            <a:endParaRPr lang="zh-CN" altLang="en-US" sz="6600" b="1" dirty="0">
              <a:solidFill>
                <a:schemeClr val="bg1"/>
              </a:solidFill>
              <a:latin typeface="+mj-ea"/>
              <a:ea typeface="+mj-ea"/>
            </a:endParaRPr>
          </a:p>
        </p:txBody>
      </p:sp>
      <p:pic>
        <p:nvPicPr>
          <p:cNvPr id="2" name="图片 1">
            <a:extLst>
              <a:ext uri="{FF2B5EF4-FFF2-40B4-BE49-F238E27FC236}">
                <a16:creationId xmlns:a16="http://schemas.microsoft.com/office/drawing/2014/main" id="{6249DE40-38DE-0B8C-A57E-BCDCCECD67F0}"/>
              </a:ext>
            </a:extLst>
          </p:cNvPr>
          <p:cNvPicPr>
            <a:picLocks noChangeAspect="1"/>
          </p:cNvPicPr>
          <p:nvPr/>
        </p:nvPicPr>
        <p:blipFill>
          <a:blip r:embed="rId5" cstate="print">
            <a:duotone>
              <a:prstClr val="black"/>
              <a:schemeClr val="accent3">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4" name="图片 3">
            <a:extLst>
              <a:ext uri="{FF2B5EF4-FFF2-40B4-BE49-F238E27FC236}">
                <a16:creationId xmlns:a16="http://schemas.microsoft.com/office/drawing/2014/main" id="{82CA119C-4E3E-E8FD-4491-4E0BECF11504}"/>
              </a:ext>
            </a:extLst>
          </p:cNvPr>
          <p:cNvPicPr>
            <a:picLocks noChangeAspect="1"/>
          </p:cNvPicPr>
          <p:nvPr/>
        </p:nvPicPr>
        <p:blipFill>
          <a:blip r:embed="rId6" cstate="print">
            <a:duotone>
              <a:prstClr val="black"/>
              <a:schemeClr val="accent3">
                <a:tint val="45000"/>
                <a:satMod val="400000"/>
              </a:schemeClr>
            </a:duotone>
            <a:extLst>
              <a:ext uri="{BEBA8EAE-BF5A-486C-A8C5-ECC9F3942E4B}">
                <a14:imgProps xmlns:a14="http://schemas.microsoft.com/office/drawing/2010/main">
                  <a14:imgLayer r:embed="rId7">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79775" y="6236796"/>
            <a:ext cx="704451" cy="621204"/>
          </a:xfrm>
          <a:prstGeom prst="rect">
            <a:avLst/>
          </a:prstGeom>
        </p:spPr>
      </p:pic>
    </p:spTree>
    <p:extLst>
      <p:ext uri="{BB962C8B-B14F-4D97-AF65-F5344CB8AC3E}">
        <p14:creationId xmlns:p14="http://schemas.microsoft.com/office/powerpoint/2010/main" val="266793492"/>
      </p:ext>
    </p:extLst>
  </p:cSld>
  <p:clrMapOvr>
    <a:overrideClrMapping bg1="lt1" tx1="dk1" bg2="lt2" tx2="dk2" accent1="accent1" accent2="accent2" accent3="accent3" accent4="accent4" accent5="accent5" accent6="accent6" hlink="hlink" folHlink="folHlink"/>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1_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E9DDCD0-7537-A039-754A-F4224B0E3693}"/>
              </a:ext>
            </a:extLst>
          </p:cNvPr>
          <p:cNvSpPr>
            <a:spLocks noGrp="1"/>
          </p:cNvSpPr>
          <p:nvPr/>
        </p:nvSpPr>
        <p:spPr>
          <a:xfrm>
            <a:off x="899833"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
        <p:nvSpPr>
          <p:cNvPr id="3" name="标题 1">
            <a:extLst>
              <a:ext uri="{FF2B5EF4-FFF2-40B4-BE49-F238E27FC236}">
                <a16:creationId xmlns:a16="http://schemas.microsoft.com/office/drawing/2014/main" id="{1E9DDCD0-7537-A039-754A-F4224B0E3693}"/>
              </a:ext>
            </a:extLst>
          </p:cNvPr>
          <p:cNvSpPr>
            <a:spLocks noGrp="1"/>
          </p:cNvSpPr>
          <p:nvPr/>
        </p:nvSpPr>
        <p:spPr>
          <a:xfrm>
            <a:off x="947645"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
        <p:nvSpPr>
          <p:cNvPr id="4" name="标题 1">
            <a:extLst>
              <a:ext uri="{FF2B5EF4-FFF2-40B4-BE49-F238E27FC236}">
                <a16:creationId xmlns:a16="http://schemas.microsoft.com/office/drawing/2014/main" id="{B2CE976B-FC69-B8D0-64A9-BB4A07AD76E3}"/>
              </a:ext>
            </a:extLst>
          </p:cNvPr>
          <p:cNvSpPr>
            <a:spLocks noGrp="1"/>
          </p:cNvSpPr>
          <p:nvPr>
            <p:ph type="title"/>
          </p:nvPr>
        </p:nvSpPr>
        <p:spPr>
          <a:xfrm>
            <a:off x="866346" y="38910"/>
            <a:ext cx="10858500" cy="544945"/>
          </a:xfrm>
        </p:spPr>
        <p:txBody>
          <a:bodyPr/>
          <a:lstStyle>
            <a:lvl1pPr>
              <a:defRPr>
                <a:solidFill>
                  <a:schemeClr val="bg1"/>
                </a:solidFill>
              </a:defRPr>
            </a:lvl1pPr>
          </a:lstStyle>
          <a:p>
            <a:pPr lvl="0"/>
            <a:r>
              <a:rPr lang="zh-CN" altLang="en-US"/>
              <a:t>单击此处编辑母版标题样式</a:t>
            </a:r>
            <a:endParaRPr lang="en-US" dirty="0"/>
          </a:p>
        </p:txBody>
      </p:sp>
      <p:sp>
        <p:nvSpPr>
          <p:cNvPr id="5" name="Freeform 5">
            <a:extLst>
              <a:ext uri="{FF2B5EF4-FFF2-40B4-BE49-F238E27FC236}">
                <a16:creationId xmlns:a16="http://schemas.microsoft.com/office/drawing/2014/main" id="{BA8955C1-5A03-34F5-7CD4-1E41FAB935E3}"/>
              </a:ext>
            </a:extLst>
          </p:cNvPr>
          <p:cNvSpPr>
            <a:spLocks noChangeAspect="1" noEditPoints="1"/>
          </p:cNvSpPr>
          <p:nvPr userDrawn="1"/>
        </p:nvSpPr>
        <p:spPr bwMode="black">
          <a:xfrm>
            <a:off x="467154" y="251546"/>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1083854875"/>
      </p:ext>
    </p:extLst>
  </p:cSld>
  <p:clrMapOvr>
    <a:overrideClrMapping bg1="lt1" tx1="dk1" bg2="lt2" tx2="dk2" accent1="accent1" accent2="accent2" accent3="accent3" accent4="accent4" accent5="accent5" accent6="accent6" hlink="hlink" folHlink="folHlink"/>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p:cSld name="4_空白">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DBEEF5-5DA5-9F91-63DD-0168D8E3EB8B}"/>
              </a:ext>
            </a:extLst>
          </p:cNvPr>
          <p:cNvSpPr>
            <a:spLocks noGrp="1"/>
          </p:cNvSpPr>
          <p:nvPr>
            <p:ph type="title"/>
          </p:nvPr>
        </p:nvSpPr>
        <p:spPr>
          <a:xfrm>
            <a:off x="886690" y="187035"/>
            <a:ext cx="10714759" cy="457201"/>
          </a:xfrm>
          <a:prstGeom prst="rect">
            <a:avLst/>
          </a:prstGeom>
        </p:spPr>
        <p:txBody>
          <a:bodyPr/>
          <a:lstStyle>
            <a:lvl1pPr>
              <a:defRPr>
                <a:solidFill>
                  <a:schemeClr val="bg1"/>
                </a:solidFill>
                <a:latin typeface="+mj-ea"/>
                <a:ea typeface="+mj-ea"/>
              </a:defRPr>
            </a:lvl1pPr>
          </a:lstStyle>
          <a:p>
            <a:r>
              <a:rPr lang="zh-CN" altLang="en-US"/>
              <a:t>单击此处编辑母版标题样式</a:t>
            </a:r>
            <a:endParaRPr lang="zh-CN" altLang="en-US" dirty="0"/>
          </a:p>
        </p:txBody>
      </p:sp>
      <p:sp>
        <p:nvSpPr>
          <p:cNvPr id="3" name="Freeform 5">
            <a:extLst>
              <a:ext uri="{FF2B5EF4-FFF2-40B4-BE49-F238E27FC236}">
                <a16:creationId xmlns:a16="http://schemas.microsoft.com/office/drawing/2014/main" id="{09424A39-B2D4-A668-FF90-82E213E3B74A}"/>
              </a:ext>
            </a:extLst>
          </p:cNvPr>
          <p:cNvSpPr>
            <a:spLocks noChangeAspect="1" noEditPoints="1"/>
          </p:cNvSpPr>
          <p:nvPr userDrawn="1"/>
        </p:nvSpPr>
        <p:spPr bwMode="black">
          <a:xfrm>
            <a:off x="490231" y="352555"/>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220192046"/>
      </p:ext>
    </p:extLst>
  </p:cSld>
  <p:clrMapOvr>
    <a:overrideClrMapping bg1="lt1" tx1="dk1" bg2="lt2" tx2="dk2" accent1="accent1" accent2="accent2" accent3="accent3" accent4="accent4" accent5="accent5" accent6="accent6" hlink="hlink" folHlink="folHlink"/>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title">
  <p:cSld name="15_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p:cNvSpPr>
            <a:spLocks noGrp="1"/>
          </p:cNvSpPr>
          <p:nvPr>
            <p:ph type="dt" sz="half" idx="10"/>
          </p:nvPr>
        </p:nvSpPr>
        <p:spPr/>
        <p:txBody>
          <a:bodyPr/>
          <a:lstStyle/>
          <a:p>
            <a:fld id="{B4905AFD-ACF0-4E34-6AFC-2D718EFE13E2}" type="datetimeFigureOut">
              <a:rPr lang="zh-CN" altLang="en-US" smtClean="0"/>
              <a:t>2026/5/30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1EED2F50-6A59-4B39-4460-E4EE5AB741CE}" type="slidenum">
              <a:rPr lang="zh-CN" altLang="en-US" smtClean="0"/>
              <a:t>‹#›</a:t>
            </a:fld>
            <a:endParaRPr lang="zh-CN" altLang="en-US"/>
          </a:p>
        </p:txBody>
      </p:sp>
    </p:spTree>
    <p:extLst>
      <p:ext uri="{BB962C8B-B14F-4D97-AF65-F5344CB8AC3E}">
        <p14:creationId xmlns:p14="http://schemas.microsoft.com/office/powerpoint/2010/main" val="4093469993"/>
      </p:ext>
      <p:ext uri="{F753900F-2F24-4D0D-19BA-8529155F4135}"/>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obj">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7D53D959-C098-4EEE-2796-8D6343C0154B}" type="datetimeFigureOut">
              <a:rPr lang="zh-CN" altLang="en-US" smtClean="0"/>
              <a:t>2026/5/30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1696B864-C823-4C20-519E-8FB2C6BA360D}" type="slidenum">
              <a:rPr lang="zh-CN" altLang="en-US" smtClean="0"/>
              <a:t>‹#›</a:t>
            </a:fld>
            <a:endParaRPr lang="zh-CN" altLang="en-US"/>
          </a:p>
        </p:txBody>
      </p:sp>
    </p:spTree>
    <p:extLst>
      <p:ext uri="{BB962C8B-B14F-4D97-AF65-F5344CB8AC3E}">
        <p14:creationId xmlns:p14="http://schemas.microsoft.com/office/powerpoint/2010/main" val="4253172902"/>
      </p:ext>
      <p:ext uri="{15EE4F42-8644-4B43-4B46-C703E53EEC53}"/>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p:cSld name="1_标题幻灯片">
    <p:spTree>
      <p:nvGrpSpPr>
        <p:cNvPr id="1" name=""/>
        <p:cNvGrpSpPr/>
        <p:nvPr/>
      </p:nvGrpSpPr>
      <p:grpSpPr>
        <a:xfrm>
          <a:off x="0" y="0"/>
          <a:ext cx="0" cy="0"/>
          <a:chOff x="0" y="0"/>
          <a:chExt cx="0" cy="0"/>
        </a:xfrm>
      </p:grpSpPr>
      <p:pic>
        <p:nvPicPr>
          <p:cNvPr id="19" name="图片 18">
            <a:extLst>
              <a:ext uri="{FF2B5EF4-FFF2-40B4-BE49-F238E27FC236}">
                <a16:creationId xmlns:a16="http://schemas.microsoft.com/office/drawing/2014/main" id="{BE0DAE40-464B-542A-F3CA-72C57176CEA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200452" cy="7039661"/>
          </a:xfrm>
          <a:prstGeom prst="rect">
            <a:avLst/>
          </a:prstGeom>
        </p:spPr>
      </p:pic>
      <p:sp>
        <p:nvSpPr>
          <p:cNvPr id="2" name="Rectangle 3">
            <a:extLst>
              <a:ext uri="{FF2B5EF4-FFF2-40B4-BE49-F238E27FC236}">
                <a16:creationId xmlns:a16="http://schemas.microsoft.com/office/drawing/2014/main" id="{12F37E50-CF33-4241-AF80-F4953C679288}"/>
              </a:ext>
            </a:extLst>
          </p:cNvPr>
          <p:cNvSpPr/>
          <p:nvPr/>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Rectangle 11">
            <a:extLst>
              <a:ext uri="{FF2B5EF4-FFF2-40B4-BE49-F238E27FC236}">
                <a16:creationId xmlns:a16="http://schemas.microsoft.com/office/drawing/2014/main" id="{0F60084F-F637-4FA4-BE35-D702CF6DAA6A}"/>
              </a:ext>
            </a:extLst>
          </p:cNvPr>
          <p:cNvSpPr/>
          <p:nvPr/>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Title 1">
            <a:extLst>
              <a:ext uri="{FF2B5EF4-FFF2-40B4-BE49-F238E27FC236}">
                <a16:creationId xmlns:a16="http://schemas.microsoft.com/office/drawing/2014/main" id="{2869597B-F909-5F67-0679-C0ADB832BB0C}"/>
              </a:ext>
            </a:extLst>
          </p:cNvPr>
          <p:cNvSpPr>
            <a:spLocks noGrp="1"/>
          </p:cNvSpPr>
          <p:nvPr>
            <p:ph type="ctrTitle" hasCustomPrompt="1"/>
          </p:nvPr>
        </p:nvSpPr>
        <p:spPr>
          <a:xfrm>
            <a:off x="1027460" y="2767054"/>
            <a:ext cx="5200650" cy="1794141"/>
          </a:xfr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cxnSp>
        <p:nvCxnSpPr>
          <p:cNvPr id="8" name="Straight Connector 13">
            <a:extLst>
              <a:ext uri="{FF2B5EF4-FFF2-40B4-BE49-F238E27FC236}">
                <a16:creationId xmlns:a16="http://schemas.microsoft.com/office/drawing/2014/main" id="{A7BE3E13-E4E5-2397-0174-77949629B0D5}"/>
              </a:ext>
            </a:extLst>
          </p:cNvPr>
          <p:cNvCxnSpPr>
            <a:cxnSpLocks/>
          </p:cNvCxnSpPr>
          <p:nvPr/>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4" name="图片 3">
            <a:extLst>
              <a:ext uri="{FF2B5EF4-FFF2-40B4-BE49-F238E27FC236}">
                <a16:creationId xmlns:a16="http://schemas.microsoft.com/office/drawing/2014/main" id="{E96A4A0C-29EC-8C3E-D594-13ECAD0B336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Rectangle 3">
            <a:extLst>
              <a:ext uri="{FF2B5EF4-FFF2-40B4-BE49-F238E27FC236}">
                <a16:creationId xmlns:a16="http://schemas.microsoft.com/office/drawing/2014/main" id="{A1C87679-80C6-AE99-8DAA-AABF3C22FC41}"/>
              </a:ext>
            </a:extLst>
          </p:cNvPr>
          <p:cNvSpPr/>
          <p:nvPr userDrawn="1"/>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Rectangle 11">
            <a:extLst>
              <a:ext uri="{FF2B5EF4-FFF2-40B4-BE49-F238E27FC236}">
                <a16:creationId xmlns:a16="http://schemas.microsoft.com/office/drawing/2014/main" id="{066661E8-8677-3293-5AAC-326D368AABAB}"/>
              </a:ext>
            </a:extLst>
          </p:cNvPr>
          <p:cNvSpPr/>
          <p:nvPr userDrawn="1"/>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9" name="Straight Connector 13">
            <a:extLst>
              <a:ext uri="{FF2B5EF4-FFF2-40B4-BE49-F238E27FC236}">
                <a16:creationId xmlns:a16="http://schemas.microsoft.com/office/drawing/2014/main" id="{DC9115AD-2831-67A5-AD90-EEEFA56EA9EF}"/>
              </a:ext>
            </a:extLst>
          </p:cNvPr>
          <p:cNvCxnSpPr>
            <a:cxnSpLocks/>
          </p:cNvCxnSpPr>
          <p:nvPr userDrawn="1"/>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10" name="图片 9">
            <a:extLst>
              <a:ext uri="{FF2B5EF4-FFF2-40B4-BE49-F238E27FC236}">
                <a16:creationId xmlns:a16="http://schemas.microsoft.com/office/drawing/2014/main" id="{81114C14-9BAA-470F-E3EF-5D0EA90EE792}"/>
              </a:ext>
            </a:extLst>
          </p:cNvPr>
          <p:cNvPicPr>
            <a:picLocks noChangeAspect="1"/>
          </p:cNvPicPr>
          <p:nvPr userDrawn="1"/>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11" name="图片 10">
            <a:extLst>
              <a:ext uri="{FF2B5EF4-FFF2-40B4-BE49-F238E27FC236}">
                <a16:creationId xmlns:a16="http://schemas.microsoft.com/office/drawing/2014/main" id="{0C8A08A5-2F8F-C0CD-6BE3-8EF426240607}"/>
              </a:ext>
            </a:extLst>
          </p:cNvPr>
          <p:cNvPicPr>
            <a:picLocks noChangeAspect="1"/>
          </p:cNvPicPr>
          <p:nvPr userDrawn="1"/>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169489907"/>
      </p:ext>
    </p:extLst>
  </p:cSld>
  <p:clrMapOvr>
    <a:overrideClrMapping bg1="lt1" tx1="dk1" bg2="lt2" tx2="dk2" accent1="accent1" accent2="accent2" accent3="accent3" accent4="accent4" accent5="accent5" accent6="accent6" hlink="hlink" folHlink="folHlink"/>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p:cSld name="标题幻灯片">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01C2BD55-C666-8B43-19FA-C2F61102392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Title 1">
            <a:extLst>
              <a:ext uri="{FF2B5EF4-FFF2-40B4-BE49-F238E27FC236}">
                <a16:creationId xmlns:a16="http://schemas.microsoft.com/office/drawing/2014/main" id="{53FD368F-863D-4527-8F6D-CEC87B7E23EE}"/>
              </a:ext>
            </a:extLst>
          </p:cNvPr>
          <p:cNvSpPr>
            <a:spLocks noGrp="1"/>
          </p:cNvSpPr>
          <p:nvPr>
            <p:ph type="ctrTitle" hasCustomPrompt="1"/>
          </p:nvPr>
        </p:nvSpPr>
        <p:spPr>
          <a:xfrm>
            <a:off x="1029470" y="1862477"/>
            <a:ext cx="5200650" cy="2605695"/>
          </a:xfr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sp>
        <p:nvSpPr>
          <p:cNvPr id="4" name="Rectangle 3">
            <a:extLst>
              <a:ext uri="{FF2B5EF4-FFF2-40B4-BE49-F238E27FC236}">
                <a16:creationId xmlns:a16="http://schemas.microsoft.com/office/drawing/2014/main" id="{12F37E50-CF33-4241-AF80-F4953C679288}"/>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Rectangle 11">
            <a:extLst>
              <a:ext uri="{FF2B5EF4-FFF2-40B4-BE49-F238E27FC236}">
                <a16:creationId xmlns:a16="http://schemas.microsoft.com/office/drawing/2014/main" id="{0F60084F-F637-4FA4-BE35-D702CF6DAA6A}"/>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4" name="Straight Connector 13">
            <a:extLst>
              <a:ext uri="{FF2B5EF4-FFF2-40B4-BE49-F238E27FC236}">
                <a16:creationId xmlns:a16="http://schemas.microsoft.com/office/drawing/2014/main" id="{DC3C8D67-DBD4-4831-B956-FBC1F2BA8C47}"/>
              </a:ext>
            </a:extLst>
          </p:cNvPr>
          <p:cNvCxnSpPr>
            <a:cxnSpLocks/>
          </p:cNvCxnSpPr>
          <p:nvPr/>
        </p:nvCxnSpPr>
        <p:spPr>
          <a:xfrm flipV="1">
            <a:off x="957262" y="1862477"/>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10074187"/>
      </p:ext>
    </p:extLst>
  </p:cSld>
  <p:clrMapOvr>
    <a:overrideClrMapping bg1="lt1" tx1="dk1" bg2="lt2" tx2="dk2" accent1="accent1" accent2="accent2" accent3="accent3" accent4="accent4" accent5="accent5" accent6="accent6" hlink="hlink" folHlink="folHlink"/>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p:cSld name="节标题">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AD9F9ABC-0F7B-6DEB-6195-893CD20C74E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Text Placeholder 4">
            <a:extLst>
              <a:ext uri="{FF2B5EF4-FFF2-40B4-BE49-F238E27FC236}">
                <a16:creationId xmlns:a16="http://schemas.microsoft.com/office/drawing/2014/main" id="{7AF4A77F-477A-42CF-AB01-C5164F0848BA}"/>
              </a:ext>
            </a:extLst>
          </p:cNvPr>
          <p:cNvSpPr>
            <a:spLocks noGrp="1"/>
          </p:cNvSpPr>
          <p:nvPr>
            <p:ph type="body" sz="quarter" idx="10"/>
          </p:nvPr>
        </p:nvSpPr>
        <p:spPr>
          <a:xfrm>
            <a:off x="3447433" y="3111089"/>
            <a:ext cx="4607238" cy="794990"/>
          </a:xfrm>
        </p:spPr>
        <p:txBody>
          <a:bodyPr wrap="none">
            <a:noAutofit/>
          </a:bodyPr>
          <a:lstStyle>
            <a:lvl1pPr marL="0" indent="0" algn="ctr">
              <a:buNone/>
              <a:defRPr sz="4400" b="1" i="0">
                <a:solidFill>
                  <a:schemeClr val="tx1"/>
                </a:solidFill>
                <a:latin typeface="+mj-lt"/>
              </a:defRPr>
            </a:lvl1pPr>
            <a:lvl2pPr marL="457166" indent="0">
              <a:buNone/>
              <a:defRPr b="1">
                <a:solidFill>
                  <a:schemeClr val="bg1"/>
                </a:solidFill>
              </a:defRPr>
            </a:lvl2pPr>
            <a:lvl3pPr marL="914330" indent="0">
              <a:buNone/>
              <a:defRPr b="1">
                <a:solidFill>
                  <a:schemeClr val="bg1"/>
                </a:solidFill>
              </a:defRPr>
            </a:lvl3pPr>
            <a:lvl4pPr marL="1371496" indent="0">
              <a:buNone/>
              <a:defRPr b="1">
                <a:solidFill>
                  <a:schemeClr val="bg1"/>
                </a:solidFill>
              </a:defRPr>
            </a:lvl4pPr>
            <a:lvl5pPr marL="1828663" indent="0">
              <a:buNone/>
              <a:defRPr b="1">
                <a:solidFill>
                  <a:schemeClr val="bg1"/>
                </a:solidFill>
              </a:defRPr>
            </a:lvl5pPr>
          </a:lstStyle>
          <a:p>
            <a:pPr lvl="0"/>
            <a:r>
              <a:rPr lang="zh-CN" altLang="en-US"/>
              <a:t>单击此处编辑母版文本样式</a:t>
            </a:r>
          </a:p>
        </p:txBody>
      </p:sp>
    </p:spTree>
    <p:extLst>
      <p:ext uri="{BB962C8B-B14F-4D97-AF65-F5344CB8AC3E}">
        <p14:creationId xmlns:p14="http://schemas.microsoft.com/office/powerpoint/2010/main" val="753087928"/>
      </p:ext>
    </p:extLst>
  </p:cSld>
  <p:clrMapOvr>
    <a:overrideClrMapping bg1="lt1" tx1="dk1" bg2="lt2" tx2="dk2" accent1="accent1" accent2="accent2" accent3="accent3" accent4="accent4" accent5="accent5" accent6="accent6" hlink="hlink" folHlink="folHlink"/>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5B5B30-EAE6-475D-9E77-B9C4E87F9C88}"/>
              </a:ext>
            </a:extLst>
          </p:cNvPr>
          <p:cNvSpPr>
            <a:spLocks noGrp="1"/>
          </p:cNvSpPr>
          <p:nvPr>
            <p:ph type="title" hasCustomPrompt="1"/>
          </p:nvPr>
        </p:nvSpPr>
        <p:spPr>
          <a:xfrm>
            <a:off x="1055988" y="-399021"/>
            <a:ext cx="10858500" cy="1028700"/>
          </a:xfrm>
        </p:spPr>
        <p:txBody>
          <a:bodyPr/>
          <a:lstStyle>
            <a:lvl1pPr>
              <a:defRPr>
                <a:solidFill>
                  <a:schemeClr val="tx1"/>
                </a:solidFill>
              </a:defRPr>
            </a:lvl1pPr>
          </a:lstStyle>
          <a:p>
            <a:r>
              <a:rPr lang="en-US" altLang="zh-CN" dirty="0"/>
              <a:t>Click to edit Master title style</a:t>
            </a:r>
            <a:endParaRPr lang="zh-CN" altLang="en-US" dirty="0"/>
          </a:p>
        </p:txBody>
      </p:sp>
    </p:spTree>
    <p:extLst>
      <p:ext uri="{BB962C8B-B14F-4D97-AF65-F5344CB8AC3E}">
        <p14:creationId xmlns:p14="http://schemas.microsoft.com/office/powerpoint/2010/main" val="3770962362"/>
      </p:ext>
    </p:extLst>
  </p:cSld>
  <p:clrMapOvr>
    <a:overrideClrMapping bg1="lt1" tx1="dk1" bg2="lt2" tx2="dk2" accent1="accent1" accent2="accent2" accent3="accent3" accent4="accent4" accent5="accent5" accent6="accent6" hlink="hlink" folHlink="folHlink"/>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p:cSld name="空白">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52D1C7A1-2043-1669-5F8A-7B227BD7D30A}"/>
              </a:ext>
            </a:extLst>
          </p:cNvPr>
          <p:cNvSpPr>
            <a:spLocks noGrp="1"/>
          </p:cNvSpPr>
          <p:nvPr>
            <p:ph type="title" hasCustomPrompt="1"/>
          </p:nvPr>
        </p:nvSpPr>
        <p:spPr>
          <a:xfrm>
            <a:off x="825329" y="-427905"/>
            <a:ext cx="10858500" cy="1028700"/>
          </a:xfrm>
        </p:spPr>
        <p:txBody>
          <a:bodyPr/>
          <a:lstStyle>
            <a:lvl1pPr>
              <a:defRPr>
                <a:solidFill>
                  <a:schemeClr val="tx1"/>
                </a:solidFill>
              </a:defRPr>
            </a:lvl1pPr>
          </a:lstStyle>
          <a:p>
            <a:r>
              <a:rPr lang="en-US" altLang="zh-CN" dirty="0"/>
              <a:t>Click to edit Master title style</a:t>
            </a:r>
            <a:endParaRPr lang="zh-CN" altLang="en-US" dirty="0"/>
          </a:p>
        </p:txBody>
      </p:sp>
    </p:spTree>
    <p:extLst>
      <p:ext uri="{BB962C8B-B14F-4D97-AF65-F5344CB8AC3E}">
        <p14:creationId xmlns:p14="http://schemas.microsoft.com/office/powerpoint/2010/main" val="75805066"/>
      </p:ext>
    </p:extLst>
  </p:cSld>
  <p:clrMapOvr>
    <a:overrideClrMapping bg1="lt1" tx1="dk1" bg2="lt2" tx2="dk2" accent1="accent1" accent2="accent2" accent3="accent3" accent4="accent4" accent5="accent5" accent6="accent6" hlink="hlink" folHlink="folHlink"/>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p:cSld name="末尾幻灯片">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E8C971A2-91C0-0F12-DA53-E6784B322847}"/>
              </a:ext>
            </a:extLst>
          </p:cNvPr>
          <p:cNvPicPr>
            <a:picLocks noChangeAspect="1"/>
          </p:cNvPicPr>
          <p:nvPr/>
        </p:nvPicPr>
        <p:blipFill>
          <a:blip r:embed="rId2"/>
          <a:stretch>
            <a:fillRect/>
          </a:stretch>
        </p:blipFill>
        <p:spPr>
          <a:xfrm>
            <a:off x="7620000" y="13546"/>
            <a:ext cx="4576460" cy="6844454"/>
          </a:xfrm>
          <a:prstGeom prst="rect">
            <a:avLst/>
          </a:prstGeom>
        </p:spPr>
      </p:pic>
      <p:sp>
        <p:nvSpPr>
          <p:cNvPr id="14" name="Rectangle 13">
            <a:extLst>
              <a:ext uri="{FF2B5EF4-FFF2-40B4-BE49-F238E27FC236}">
                <a16:creationId xmlns:a16="http://schemas.microsoft.com/office/drawing/2014/main" id="{4129C334-CACA-4BE1-A84C-41F6820FF127}"/>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Rectangle 14">
            <a:extLst>
              <a:ext uri="{FF2B5EF4-FFF2-40B4-BE49-F238E27FC236}">
                <a16:creationId xmlns:a16="http://schemas.microsoft.com/office/drawing/2014/main" id="{6907BCD2-9008-43D6-B003-96C575232D66}"/>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Freeform: Shape 10">
            <a:extLst>
              <a:ext uri="{FF2B5EF4-FFF2-40B4-BE49-F238E27FC236}">
                <a16:creationId xmlns:a16="http://schemas.microsoft.com/office/drawing/2014/main" id="{0A271160-581E-4BCE-BACF-7271659F1D01}"/>
              </a:ext>
            </a:extLst>
          </p:cNvPr>
          <p:cNvSpPr/>
          <p:nvPr/>
        </p:nvSpPr>
        <p:spPr>
          <a:xfrm>
            <a:off x="12191319" y="0"/>
            <a:ext cx="684" cy="13546"/>
          </a:xfrm>
          <a:custGeom>
            <a:avLst/>
            <a:gdLst>
              <a:gd name="connsiteX0" fmla="*/ 0 w 684"/>
              <a:gd name="connsiteY0" fmla="*/ 0 h 13546"/>
              <a:gd name="connsiteX1" fmla="*/ 684 w 684"/>
              <a:gd name="connsiteY1" fmla="*/ 0 h 13546"/>
              <a:gd name="connsiteX2" fmla="*/ 684 w 684"/>
              <a:gd name="connsiteY2" fmla="*/ 13546 h 13546"/>
              <a:gd name="connsiteX3" fmla="*/ 0 w 684"/>
              <a:gd name="connsiteY3" fmla="*/ 0 h 13546"/>
            </a:gdLst>
            <a:ahLst/>
            <a:cxnLst>
              <a:cxn ang="0">
                <a:pos x="connsiteX0" y="connsiteY0"/>
              </a:cxn>
              <a:cxn ang="0">
                <a:pos x="connsiteX1" y="connsiteY1"/>
              </a:cxn>
              <a:cxn ang="0">
                <a:pos x="connsiteX2" y="connsiteY2"/>
              </a:cxn>
              <a:cxn ang="0">
                <a:pos x="connsiteX3" y="connsiteY3"/>
              </a:cxn>
            </a:cxnLst>
            <a:rect l="l" t="t" r="r" b="b"/>
            <a:pathLst>
              <a:path w="684" h="13546">
                <a:moveTo>
                  <a:pt x="0" y="0"/>
                </a:moveTo>
                <a:lnTo>
                  <a:pt x="684" y="0"/>
                </a:lnTo>
                <a:lnTo>
                  <a:pt x="684" y="13546"/>
                </a:lnTo>
                <a:lnTo>
                  <a:pt x="0" y="0"/>
                </a:lnTo>
                <a:close/>
              </a:path>
            </a:pathLst>
          </a:custGeom>
          <a:solidFill>
            <a:schemeClr val="bg1"/>
          </a:solidFill>
          <a:ln w="14015" cap="flat">
            <a:noFill/>
            <a:prstDash val="solid"/>
            <a:miter/>
          </a:ln>
        </p:spPr>
        <p:txBody>
          <a:bodyPr wrap="square" rtlCol="0" anchor="ctr">
            <a:noAutofit/>
          </a:bodyPr>
          <a:lstStyle/>
          <a:p>
            <a:endParaRPr lang="zh-CN" altLang="en-US" sz="1800">
              <a:solidFill>
                <a:schemeClr val="tx1"/>
              </a:solidFill>
            </a:endParaRPr>
          </a:p>
        </p:txBody>
      </p:sp>
      <p:sp>
        <p:nvSpPr>
          <p:cNvPr id="27" name="Text Placeholder 26">
            <a:extLst>
              <a:ext uri="{FF2B5EF4-FFF2-40B4-BE49-F238E27FC236}">
                <a16:creationId xmlns:a16="http://schemas.microsoft.com/office/drawing/2014/main" id="{FEA7D86A-A334-4E0C-B01B-43F345A176DE}"/>
              </a:ext>
            </a:extLst>
          </p:cNvPr>
          <p:cNvSpPr>
            <a:spLocks noGrp="1"/>
          </p:cNvSpPr>
          <p:nvPr>
            <p:ph type="body" sz="quarter" idx="12" hasCustomPrompt="1"/>
          </p:nvPr>
        </p:nvSpPr>
        <p:spPr>
          <a:xfrm>
            <a:off x="8314441" y="6082576"/>
            <a:ext cx="3204458" cy="230832"/>
          </a:xfrm>
        </p:spPr>
        <p:txBody>
          <a:bodyPr vert="horz" wrap="none" lIns="91440" tIns="45720" rIns="91440" bIns="45720" rtlCol="0" anchor="ctr">
            <a:noAutofit/>
          </a:bodyPr>
          <a:lstStyle>
            <a:lvl1pPr>
              <a:defRPr lang="en-US" altLang="zh-CN" sz="1600" b="1" dirty="0">
                <a:ln>
                  <a:noFill/>
                </a:ln>
                <a:solidFill>
                  <a:schemeClr val="accent1"/>
                </a:solidFill>
                <a:latin typeface="+mj-lt"/>
                <a:ea typeface="+mj-ea"/>
                <a:cs typeface="+mj-cs"/>
              </a:defRPr>
            </a:lvl1pPr>
          </a:lstStyle>
          <a:p>
            <a:pPr marL="228573" marR="0" lvl="0" indent="-228573" algn="r" defTabSz="914332" rtl="0" eaLnBrk="1" fontAlgn="auto" latinLnBrk="0" hangingPunct="1">
              <a:lnSpc>
                <a:spcPct val="90000"/>
              </a:lnSpc>
              <a:spcBef>
                <a:spcPct val="0"/>
              </a:spcBef>
              <a:spcAft>
                <a:spcPts val="0"/>
              </a:spcAft>
              <a:buClrTx/>
              <a:buSzTx/>
              <a:buFont typeface="Arial" panose="020B0604020202020204" pitchFamily="34" charset="0"/>
              <a:buNone/>
              <a:tabLst/>
              <a:defRPr/>
            </a:pPr>
            <a:r>
              <a:rPr lang="en-US" altLang="zh-CN" dirty="0"/>
              <a:t>Speaker name and title</a:t>
            </a:r>
          </a:p>
        </p:txBody>
      </p:sp>
      <p:sp>
        <p:nvSpPr>
          <p:cNvPr id="3" name="Text Placeholder 2">
            <a:extLst>
              <a:ext uri="{FF2B5EF4-FFF2-40B4-BE49-F238E27FC236}">
                <a16:creationId xmlns:a16="http://schemas.microsoft.com/office/drawing/2014/main" id="{FC1A48BB-A1A1-4744-B0D3-FD4F42C33B9B}"/>
              </a:ext>
            </a:extLst>
          </p:cNvPr>
          <p:cNvSpPr>
            <a:spLocks noGrp="1"/>
          </p:cNvSpPr>
          <p:nvPr>
            <p:ph type="body" sz="quarter" idx="13" hasCustomPrompt="1"/>
          </p:nvPr>
        </p:nvSpPr>
        <p:spPr>
          <a:xfrm>
            <a:off x="714723" y="2737247"/>
            <a:ext cx="5842001" cy="1383506"/>
          </a:xfrm>
        </p:spPr>
        <p:txBody>
          <a:bodyPr vert="horz" lIns="91440" tIns="45720" rIns="91440" bIns="45720" rtlCol="0" anchor="b">
            <a:noAutofit/>
          </a:bodyPr>
          <a:lstStyle>
            <a:lvl1pPr algn="l">
              <a:defRPr lang="en-US" altLang="zh-CN" sz="8000" b="1" i="0" dirty="0">
                <a:solidFill>
                  <a:srgbClr val="FFFFFF"/>
                </a:solidFill>
                <a:latin typeface="+mj-lt"/>
                <a:ea typeface="+mj-ea"/>
                <a:cs typeface="+mj-cs"/>
              </a:defRPr>
            </a:lvl1pPr>
          </a:lstStyle>
          <a:p>
            <a:pPr lvl="0">
              <a:spcBef>
                <a:spcPct val="0"/>
              </a:spcBef>
              <a:buNone/>
            </a:pPr>
            <a:r>
              <a:rPr lang="en-US" altLang="zh-CN" dirty="0"/>
              <a:t>Thank you</a:t>
            </a:r>
          </a:p>
        </p:txBody>
      </p:sp>
      <p:pic>
        <p:nvPicPr>
          <p:cNvPr id="2" name="图片 1">
            <a:extLst>
              <a:ext uri="{FF2B5EF4-FFF2-40B4-BE49-F238E27FC236}">
                <a16:creationId xmlns:a16="http://schemas.microsoft.com/office/drawing/2014/main" id="{0808FB89-916C-2617-605B-3A71B8F3D40B}"/>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pic>
        <p:nvPicPr>
          <p:cNvPr id="4" name="图片 3">
            <a:extLst>
              <a:ext uri="{FF2B5EF4-FFF2-40B4-BE49-F238E27FC236}">
                <a16:creationId xmlns:a16="http://schemas.microsoft.com/office/drawing/2014/main" id="{5B3BDEC6-F771-C16C-C365-03B2262F7C40}"/>
              </a:ext>
            </a:extLst>
          </p:cNvPr>
          <p:cNvPicPr>
            <a:picLocks noChangeAspect="1"/>
          </p:cNvPicPr>
          <p:nvPr userDrawn="1"/>
        </p:nvPicPr>
        <p:blipFill>
          <a:blip r:embed="rId4" cstate="print">
            <a:duotone>
              <a:schemeClr val="bg2">
                <a:shade val="45000"/>
                <a:satMod val="135000"/>
              </a:schemeClr>
              <a:prstClr val="white"/>
            </a:duotone>
            <a:extLst>
              <a:ext uri="{BEBA8EAE-BF5A-486C-A8C5-ECC9F3942E4B}">
                <a14:imgProps xmlns:a14="http://schemas.microsoft.com/office/drawing/2010/main">
                  <a14:imgLayer r:embed="rId5">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8213598" y="2801933"/>
            <a:ext cx="3516518" cy="1579597"/>
          </a:xfrm>
          <a:prstGeom prst="rect">
            <a:avLst/>
          </a:prstGeom>
        </p:spPr>
      </p:pic>
      <p:pic>
        <p:nvPicPr>
          <p:cNvPr id="5" name="图片 4">
            <a:extLst>
              <a:ext uri="{FF2B5EF4-FFF2-40B4-BE49-F238E27FC236}">
                <a16:creationId xmlns:a16="http://schemas.microsoft.com/office/drawing/2014/main" id="{18B5EE46-E2B2-EBF2-F5AC-5322A677557F}"/>
              </a:ext>
            </a:extLst>
          </p:cNvPr>
          <p:cNvPicPr>
            <a:picLocks noChangeAspect="1"/>
          </p:cNvPicPr>
          <p:nvPr userDrawn="1"/>
        </p:nvPicPr>
        <p:blipFill>
          <a:blip r:embed="rId6" cstate="print">
            <a:duotone>
              <a:prstClr val="black"/>
              <a:schemeClr val="tx2">
                <a:tint val="45000"/>
                <a:satMod val="400000"/>
              </a:schemeClr>
            </a:duotone>
            <a:extLst>
              <a:ext uri="{BEBA8EAE-BF5A-486C-A8C5-ECC9F3942E4B}">
                <a14:imgProps xmlns:a14="http://schemas.microsoft.com/office/drawing/2010/main">
                  <a14:imgLayer r:embed="rId7">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7" name="图片 6">
            <a:extLst>
              <a:ext uri="{FF2B5EF4-FFF2-40B4-BE49-F238E27FC236}">
                <a16:creationId xmlns:a16="http://schemas.microsoft.com/office/drawing/2014/main" id="{B23BCB1D-48BB-8E7F-1E38-42BFFA9E944D}"/>
              </a:ext>
            </a:extLst>
          </p:cNvPr>
          <p:cNvPicPr>
            <a:picLocks noChangeAspect="1"/>
          </p:cNvPicPr>
          <p:nvPr userDrawn="1"/>
        </p:nvPicPr>
        <p:blipFill>
          <a:blip r:embed="rId8"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3223932477"/>
      </p:ext>
    </p:extLst>
  </p:cSld>
  <p:clrMapOvr>
    <a:overrideClrMapping bg1="lt1" tx1="dk1" bg2="lt2" tx2="dk2" accent1="accent1" accent2="accent2" accent3="accent3" accent4="accent4" accent5="accent5" accent6="accent6" hlink="hlink" folHlink="folHlink"/>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preserve="1">
  <p:cSld name="2_标题幻灯片">
    <p:spTree>
      <p:nvGrpSpPr>
        <p:cNvPr id="1" name=""/>
        <p:cNvGrpSpPr/>
        <p:nvPr/>
      </p:nvGrpSpPr>
      <p:grpSpPr>
        <a:xfrm>
          <a:off x="0" y="0"/>
          <a:ext cx="0" cy="0"/>
          <a:chOff x="0" y="0"/>
          <a:chExt cx="0" cy="0"/>
        </a:xfrm>
      </p:grpSpPr>
      <p:grpSp>
        <p:nvGrpSpPr>
          <p:cNvPr id="40" name="组合 39"/>
          <p:cNvGrpSpPr/>
          <p:nvPr/>
        </p:nvGrpSpPr>
        <p:grpSpPr>
          <a:xfrm>
            <a:off x="0" y="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9" name="副标题 8"/>
          <p:cNvSpPr>
            <a:spLocks noGrp="1"/>
          </p:cNvSpPr>
          <p:nvPr>
            <p:ph type="subTitle" sz="quarter" idx="1" hasCustomPrompt="1"/>
          </p:nvPr>
        </p:nvSpPr>
        <p:spPr>
          <a:xfrm>
            <a:off x="660400" y="4043221"/>
            <a:ext cx="5645151" cy="588651"/>
          </a:xfrm>
          <a:prstGeom prst="roundRect">
            <a:avLst>
              <a:gd name="adj" fmla="val 0"/>
            </a:avLst>
          </a:prstGeom>
          <a:noFill/>
          <a:ln>
            <a:noFill/>
          </a:ln>
        </p:spPr>
        <p:txBody>
          <a:bodyPr vert="horz" wrap="square" lIns="91440" tIns="45720" rIns="91440" bIns="45720" rtlCol="0" anchor="ctr" anchorCtr="0">
            <a:normAutofit/>
          </a:bodyPr>
          <a:lstStyle>
            <a:lvl1pPr marL="0" indent="0" algn="l">
              <a:lnSpc>
                <a:spcPct val="100000"/>
              </a:lnSpc>
              <a:buNone/>
              <a:defRPr lang="en-US" sz="1800" dirty="0">
                <a:solidFill>
                  <a:schemeClr val="tx1"/>
                </a:solidFill>
                <a:latin typeface="+mj-lt"/>
              </a:defRPr>
            </a:lvl1pPr>
          </a:lstStyle>
          <a:p>
            <a:pPr lvl="0"/>
            <a:r>
              <a:rPr lang="en-US"/>
              <a:t>Click to add subtitle</a:t>
            </a:r>
          </a:p>
        </p:txBody>
      </p:sp>
      <p:sp>
        <p:nvSpPr>
          <p:cNvPr id="4" name="文本占位符 3"/>
          <p:cNvSpPr>
            <a:spLocks noGrp="1"/>
          </p:cNvSpPr>
          <p:nvPr>
            <p:ph type="body" sz="quarter" idx="13" hasCustomPrompt="1"/>
          </p:nvPr>
        </p:nvSpPr>
        <p:spPr>
          <a:xfrm>
            <a:off x="660400" y="5497551"/>
            <a:ext cx="5645151" cy="276999"/>
          </a:xfrm>
          <a:prstGeom prst="rect">
            <a:avLst/>
          </a:prstGeom>
        </p:spPr>
        <p:txBody>
          <a:bodyPr wrap="square" lIns="90000">
            <a:normAutofit/>
          </a:bodyPr>
          <a:lstStyle>
            <a:lvl1pPr marL="0" indent="0" algn="l">
              <a:lnSpc>
                <a:spcPct val="100000"/>
              </a:lnSpc>
              <a:buNone/>
              <a:defRPr sz="1200"/>
            </a:lvl1pPr>
          </a:lstStyle>
          <a:p>
            <a:pPr lvl="0"/>
            <a:r>
              <a:rPr lang="en-US"/>
              <a:t>Presenter name</a:t>
            </a:r>
          </a:p>
        </p:txBody>
      </p:sp>
      <p:sp>
        <p:nvSpPr>
          <p:cNvPr id="7" name="文本占位符 6"/>
          <p:cNvSpPr>
            <a:spLocks noGrp="1"/>
          </p:cNvSpPr>
          <p:nvPr>
            <p:ph type="body" sz="quarter" idx="14" hasCustomPrompt="1"/>
          </p:nvPr>
        </p:nvSpPr>
        <p:spPr>
          <a:xfrm>
            <a:off x="660400" y="5857101"/>
            <a:ext cx="5645151" cy="276999"/>
          </a:xfrm>
          <a:prstGeom prst="rect">
            <a:avLst/>
          </a:prstGeom>
        </p:spPr>
        <p:txBody>
          <a:bodyPr wrap="none">
            <a:normAutofit/>
          </a:bodyPr>
          <a:lstStyle>
            <a:lvl1pPr marL="0" indent="0" algn="l">
              <a:lnSpc>
                <a:spcPct val="100000"/>
              </a:lnSpc>
              <a:buNone/>
              <a:defRPr sz="1200"/>
            </a:lvl1pPr>
          </a:lstStyle>
          <a:p>
            <a:pPr lvl="0"/>
            <a:r>
              <a:rPr lang="en-US"/>
              <a:t>www.officeplus.cn</a:t>
            </a:r>
          </a:p>
        </p:txBody>
      </p:sp>
      <p:sp>
        <p:nvSpPr>
          <p:cNvPr id="3" name="标题 4">
            <a:extLst>
              <a:ext uri="{FF2B5EF4-FFF2-40B4-BE49-F238E27FC236}">
                <a16:creationId xmlns:a16="http://schemas.microsoft.com/office/drawing/2014/main" id="{B5D391BF-A023-49D2-B62C-E02AC8635D69}"/>
              </a:ext>
            </a:extLst>
          </p:cNvPr>
          <p:cNvSpPr>
            <a:spLocks noGrp="1"/>
          </p:cNvSpPr>
          <p:nvPr>
            <p:ph type="ctrTitle" hasCustomPrompt="1"/>
          </p:nvPr>
        </p:nvSpPr>
        <p:spPr>
          <a:xfrm>
            <a:off x="3879504" y="1210338"/>
            <a:ext cx="6749372" cy="2587173"/>
          </a:xfrm>
          <a:prstGeom prst="rect">
            <a:avLst/>
          </a:prstGeom>
        </p:spPr>
        <p:txBody>
          <a:bodyPr wrap="square" anchor="b">
            <a:normAutofit/>
          </a:bodyPr>
          <a:lstStyle>
            <a:lvl1pPr algn="ctr">
              <a:lnSpc>
                <a:spcPct val="100000"/>
              </a:lnSpc>
              <a:defRPr sz="5400">
                <a:ln w="19050">
                  <a:noFill/>
                </a:ln>
                <a:solidFill>
                  <a:schemeClr val="tx1"/>
                </a:solidFill>
              </a:defRPr>
            </a:lvl1pPr>
          </a:lstStyle>
          <a:p>
            <a:pPr lvl="0"/>
            <a:r>
              <a:rPr lang="en-US" dirty="0"/>
              <a:t>Intelligent Planning     &amp; </a:t>
            </a:r>
            <a:br>
              <a:rPr lang="en-US" dirty="0"/>
            </a:br>
            <a:r>
              <a:rPr lang="en-US" dirty="0"/>
              <a:t>Control Tower</a:t>
            </a:r>
          </a:p>
        </p:txBody>
      </p:sp>
      <p:pic>
        <p:nvPicPr>
          <p:cNvPr id="5" name="图片 4">
            <a:extLst>
              <a:ext uri="{FF2B5EF4-FFF2-40B4-BE49-F238E27FC236}">
                <a16:creationId xmlns:a16="http://schemas.microsoft.com/office/drawing/2014/main" id="{57ED4568-4D8D-7CE6-DBD3-61776C004218}"/>
              </a:ext>
            </a:extLst>
          </p:cNvPr>
          <p:cNvPicPr>
            <a:picLocks noChangeAspect="1"/>
          </p:cNvPicPr>
          <p:nvPr/>
        </p:nvPicPr>
        <p:blipFill>
          <a:blip r:embed="rId5" cstate="print">
            <a:duotone>
              <a:schemeClr val="bg2">
                <a:shade val="45000"/>
                <a:satMod val="135000"/>
              </a:schemeClr>
              <a:prstClr val="white"/>
            </a:duotone>
            <a:extLst>
              <a:ext uri="{BEBA8EAE-BF5A-486C-A8C5-ECC9F3942E4B}">
                <a14:imgProps xmlns:a14="http://schemas.microsoft.com/office/drawing/2010/main">
                  <a14:imgLayer r:embed="rId6">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145185" y="2818989"/>
            <a:ext cx="2178398" cy="978522"/>
          </a:xfrm>
          <a:prstGeom prst="rect">
            <a:avLst/>
          </a:prstGeom>
        </p:spPr>
      </p:pic>
    </p:spTree>
    <p:extLst>
      <p:ext uri="{BB962C8B-B14F-4D97-AF65-F5344CB8AC3E}">
        <p14:creationId xmlns:p14="http://schemas.microsoft.com/office/powerpoint/2010/main" val="505158441"/>
      </p:ext>
    </p:extLst>
  </p:cSld>
  <p:clrMapOvr>
    <a:overrideClrMapping bg1="lt1" tx1="dk1" bg2="lt2" tx2="dk2" accent1="accent1" accent2="accent2" accent3="accent3" accent4="accent4" accent5="accent5" accent6="accent6" hlink="hlink" folHlink="folHlink"/>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preserve="1">
  <p:cSld name="Agenda">
    <p:spTree>
      <p:nvGrpSpPr>
        <p:cNvPr id="1" name=""/>
        <p:cNvGrpSpPr/>
        <p:nvPr/>
      </p:nvGrpSpPr>
      <p:grpSpPr>
        <a:xfrm>
          <a:off x="0" y="0"/>
          <a:ext cx="0" cy="0"/>
          <a:chOff x="0" y="0"/>
          <a:chExt cx="0" cy="0"/>
        </a:xfrm>
      </p:grpSpPr>
      <p:pic>
        <p:nvPicPr>
          <p:cNvPr id="11" name="图片 10">
            <a:extLst>
              <a:ext uri="{FF2B5EF4-FFF2-40B4-BE49-F238E27FC236}">
                <a16:creationId xmlns:a16="http://schemas.microsoft.com/office/drawing/2014/main" id="{0202FDAE-0095-6CC0-EC3F-208D7596653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2" name="标题 1"/>
          <p:cNvSpPr>
            <a:spLocks noGrp="1"/>
          </p:cNvSpPr>
          <p:nvPr>
            <p:ph type="title" hasCustomPrompt="1"/>
          </p:nvPr>
        </p:nvSpPr>
        <p:spPr>
          <a:xfrm>
            <a:off x="660400" y="1500189"/>
            <a:ext cx="2519061" cy="864515"/>
          </a:xfrm>
          <a:prstGeom prst="rect">
            <a:avLst/>
          </a:prstGeom>
          <a:noFill/>
        </p:spPr>
        <p:txBody>
          <a:bodyPr anchor="t" anchorCtr="0">
            <a:normAutofit/>
          </a:bodyPr>
          <a:lstStyle>
            <a:lvl1pPr algn="r">
              <a:defRPr sz="2800">
                <a:solidFill>
                  <a:srgbClr val="FFFFFF"/>
                </a:solidFill>
              </a:defRPr>
            </a:lvl1pPr>
          </a:lstStyle>
          <a:p>
            <a:pPr lvl="0"/>
            <a:r>
              <a:rPr lang="en-US"/>
              <a:t>Agenda</a:t>
            </a:r>
          </a:p>
        </p:txBody>
      </p:sp>
      <p:sp>
        <p:nvSpPr>
          <p:cNvPr id="3" name="内容占位符 2"/>
          <p:cNvSpPr>
            <a:spLocks noGrp="1"/>
          </p:cNvSpPr>
          <p:nvPr>
            <p:ph sz="quarter" idx="1" hasCustomPrompt="1"/>
          </p:nvPr>
        </p:nvSpPr>
        <p:spPr>
          <a:xfrm>
            <a:off x="3839860" y="1500189"/>
            <a:ext cx="7679039" cy="4278311"/>
          </a:xfrm>
        </p:spPr>
        <p:txBody>
          <a:bodyPr numCol="1"/>
          <a:lstStyle>
            <a:lvl1pPr marL="342900" indent="-342900">
              <a:lnSpc>
                <a:spcPct val="100000"/>
              </a:lnSpc>
              <a:buFont typeface="+mj-lt"/>
              <a:buAutoNum type="arabicPeriod"/>
              <a:defRPr/>
            </a:lvl1pPr>
            <a:lvl2pPr marL="800100" indent="-342900">
              <a:lnSpc>
                <a:spcPct val="100000"/>
              </a:lnSpc>
              <a:buFont typeface="+mj-ea"/>
              <a:buAutoNum type="circleNumDbPlain"/>
              <a:defRPr/>
            </a:lvl2pPr>
            <a:lvl3pPr marL="1257300" indent="-342900">
              <a:lnSpc>
                <a:spcPct val="100000"/>
              </a:lnSpc>
              <a:buFont typeface="+mj-lt"/>
              <a:buAutoNum type="alphaLcParenR"/>
              <a:defRPr/>
            </a:lvl3pPr>
            <a:lvl4pPr>
              <a:lnSpc>
                <a:spcPct val="100000"/>
              </a:lnSpc>
              <a:defRPr/>
            </a:lvl4pPr>
            <a:lvl5pPr>
              <a:lnSpc>
                <a:spcPct val="100000"/>
              </a:lnSpc>
              <a:defRPr/>
            </a:lvl5pPr>
          </a:lstStyle>
          <a:p>
            <a:pPr lvl="0"/>
            <a:r>
              <a:rPr lang="en-US"/>
              <a:t>Click to add text</a:t>
            </a:r>
          </a:p>
          <a:p>
            <a:pPr lvl="1"/>
            <a:r>
              <a:rPr lang="en-US"/>
              <a:t>Second level</a:t>
            </a:r>
          </a:p>
          <a:p>
            <a:pPr lvl="2"/>
            <a:r>
              <a:rPr lang="en-US"/>
              <a:t>Third level</a:t>
            </a:r>
          </a:p>
          <a:p>
            <a:pPr lvl="3"/>
            <a:r>
              <a:rPr lang="en-US"/>
              <a:t>Fourth level</a:t>
            </a:r>
          </a:p>
          <a:p>
            <a:pPr lvl="4"/>
            <a:r>
              <a:rPr lang="en-US"/>
              <a:t>Fifth level</a:t>
            </a:r>
          </a:p>
        </p:txBody>
      </p:sp>
      <p:pic>
        <p:nvPicPr>
          <p:cNvPr id="7" name="图片 6">
            <a:extLst>
              <a:ext uri="{FF2B5EF4-FFF2-40B4-BE49-F238E27FC236}">
                <a16:creationId xmlns:a16="http://schemas.microsoft.com/office/drawing/2014/main" id="{956E91C9-E62C-62F0-BC27-65EF2B59939D}"/>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8" name="图片 7">
            <a:extLst>
              <a:ext uri="{FF2B5EF4-FFF2-40B4-BE49-F238E27FC236}">
                <a16:creationId xmlns:a16="http://schemas.microsoft.com/office/drawing/2014/main" id="{260BFE75-AB93-8081-4027-EDC31F67337A}"/>
              </a:ext>
            </a:extLst>
          </p:cNvPr>
          <p:cNvPicPr>
            <a:picLocks noChangeAspect="1"/>
          </p:cNvPicPr>
          <p:nvPr/>
        </p:nvPicPr>
        <p:blipFill>
          <a:blip r:embed="rId4" cstate="print">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92184" y="6108209"/>
            <a:ext cx="704451" cy="621204"/>
          </a:xfrm>
          <a:prstGeom prst="rect">
            <a:avLst/>
          </a:prstGeom>
        </p:spPr>
      </p:pic>
      <p:pic>
        <p:nvPicPr>
          <p:cNvPr id="4" name="图片 3">
            <a:extLst>
              <a:ext uri="{FF2B5EF4-FFF2-40B4-BE49-F238E27FC236}">
                <a16:creationId xmlns:a16="http://schemas.microsoft.com/office/drawing/2014/main" id="{4533F409-7AF2-7738-C45D-ADDC0C99224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pic>
        <p:nvPicPr>
          <p:cNvPr id="5" name="图片 4">
            <a:extLst>
              <a:ext uri="{FF2B5EF4-FFF2-40B4-BE49-F238E27FC236}">
                <a16:creationId xmlns:a16="http://schemas.microsoft.com/office/drawing/2014/main" id="{04915495-E497-C559-512B-5F59C7548598}"/>
              </a:ext>
            </a:extLst>
          </p:cNvPr>
          <p:cNvPicPr>
            <a:picLocks noChangeAspect="1"/>
          </p:cNvPicPr>
          <p:nvPr userDrawn="1"/>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6" name="图片 5">
            <a:extLst>
              <a:ext uri="{FF2B5EF4-FFF2-40B4-BE49-F238E27FC236}">
                <a16:creationId xmlns:a16="http://schemas.microsoft.com/office/drawing/2014/main" id="{824640ED-C55D-8D73-4EAB-DC295132A4F1}"/>
              </a:ext>
            </a:extLst>
          </p:cNvPr>
          <p:cNvPicPr>
            <a:picLocks noChangeAspect="1"/>
          </p:cNvPicPr>
          <p:nvPr userDrawn="1"/>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4031652658"/>
      </p:ext>
    </p:extLst>
  </p:cSld>
  <p:clrMapOvr>
    <a:overrideClrMapping bg1="lt1" tx1="dk1" bg2="lt2" tx2="dk2" accent1="accent1" accent2="accent2" accent3="accent3" accent4="accent4" accent5="accent5" accent6="accent6" hlink="hlink" folHlink="folHlink"/>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p:cSld name="1_节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04B5FBE3-2983-7A7E-EDBF-7AD37AC20D3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标题 1"/>
          <p:cNvSpPr>
            <a:spLocks noGrp="1"/>
          </p:cNvSpPr>
          <p:nvPr>
            <p:ph type="title"/>
          </p:nvPr>
        </p:nvSpPr>
        <p:spPr>
          <a:xfrm>
            <a:off x="788155" y="2458832"/>
            <a:ext cx="10363200" cy="1362075"/>
          </a:xfrm>
        </p:spPr>
        <p:txBody>
          <a:bodyPr anchor="t">
            <a:normAutofit/>
          </a:bodyPr>
          <a:lstStyle>
            <a:lvl1pPr algn="ctr">
              <a:defRPr sz="4400" b="1" cap="all">
                <a:solidFill>
                  <a:schemeClr val="accent1"/>
                </a:solidFill>
              </a:defRPr>
            </a:lvl1pPr>
          </a:lstStyle>
          <a:p>
            <a:r>
              <a:rPr lang="zh-CN" altLang="en-US"/>
              <a:t>单击此处编辑母版标题样式</a:t>
            </a:r>
            <a:endParaRPr lang="zh-CN" altLang="en-US" dirty="0"/>
          </a:p>
        </p:txBody>
      </p:sp>
      <p:pic>
        <p:nvPicPr>
          <p:cNvPr id="3" name="图片 2">
            <a:extLst>
              <a:ext uri="{FF2B5EF4-FFF2-40B4-BE49-F238E27FC236}">
                <a16:creationId xmlns:a16="http://schemas.microsoft.com/office/drawing/2014/main" id="{0C225C48-C16B-E760-3562-D3A3B9176EB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pic>
        <p:nvPicPr>
          <p:cNvPr id="4" name="图片 3">
            <a:extLst>
              <a:ext uri="{FF2B5EF4-FFF2-40B4-BE49-F238E27FC236}">
                <a16:creationId xmlns:a16="http://schemas.microsoft.com/office/drawing/2014/main" id="{A8C2A5F4-62F8-0DE3-BF8E-7DB2909DE39B}"/>
              </a:ext>
            </a:extLst>
          </p:cNvPr>
          <p:cNvPicPr>
            <a:picLocks noChangeAspect="1"/>
          </p:cNvPicPr>
          <p:nvPr userDrawn="1"/>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5" name="图片 4">
            <a:extLst>
              <a:ext uri="{FF2B5EF4-FFF2-40B4-BE49-F238E27FC236}">
                <a16:creationId xmlns:a16="http://schemas.microsoft.com/office/drawing/2014/main" id="{958CF466-A791-1E6D-0D69-1A428A2442AE}"/>
              </a:ext>
            </a:extLst>
          </p:cNvPr>
          <p:cNvPicPr>
            <a:picLocks noChangeAspect="1"/>
          </p:cNvPicPr>
          <p:nvPr userDrawn="1"/>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4162399549"/>
      </p:ext>
    </p:extLst>
  </p:cSld>
  <p:clrMapOvr>
    <a:overrideClrMapping bg1="lt1" tx1="dk1" bg2="lt2" tx2="dk2" accent1="accent1" accent2="accent2" accent3="accent3" accent4="accent4" accent5="accent5" accent6="accent6" hlink="hlink" folHlink="folHlink"/>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p:cSld name="1_Title Slide">
    <p:spTree>
      <p:nvGrpSpPr>
        <p:cNvPr id="1" name=""/>
        <p:cNvGrpSpPr/>
        <p:nvPr/>
      </p:nvGrpSpPr>
      <p:grpSpPr>
        <a:xfrm>
          <a:off x="0" y="0"/>
          <a:ext cx="0" cy="0"/>
          <a:chOff x="0" y="0"/>
          <a:chExt cx="0" cy="0"/>
        </a:xfrm>
      </p:grpSpPr>
      <p:grpSp>
        <p:nvGrpSpPr>
          <p:cNvPr id="40" name="组合 39"/>
          <p:cNvGrpSpPr/>
          <p:nvPr/>
        </p:nvGrpSpPr>
        <p:grpSpPr>
          <a:xfrm>
            <a:off x="0" y="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9" name="副标题 8"/>
          <p:cNvSpPr>
            <a:spLocks noGrp="1"/>
          </p:cNvSpPr>
          <p:nvPr>
            <p:ph type="subTitle" sz="quarter" idx="1" hasCustomPrompt="1"/>
          </p:nvPr>
        </p:nvSpPr>
        <p:spPr>
          <a:xfrm>
            <a:off x="660400" y="4043221"/>
            <a:ext cx="5645151" cy="588651"/>
          </a:xfrm>
          <a:prstGeom prst="roundRect">
            <a:avLst>
              <a:gd name="adj" fmla="val 0"/>
            </a:avLst>
          </a:prstGeom>
          <a:noFill/>
          <a:ln>
            <a:noFill/>
          </a:ln>
        </p:spPr>
        <p:txBody>
          <a:bodyPr vert="horz" wrap="square" lIns="91440" tIns="45720" rIns="91440" bIns="45720" rtlCol="0" anchor="ctr" anchorCtr="0">
            <a:normAutofit/>
          </a:bodyPr>
          <a:lstStyle>
            <a:lvl1pPr marL="0" indent="0" algn="l">
              <a:lnSpc>
                <a:spcPct val="100000"/>
              </a:lnSpc>
              <a:buNone/>
              <a:defRPr lang="en-US" sz="1800" dirty="0">
                <a:solidFill>
                  <a:schemeClr val="tx1"/>
                </a:solidFill>
                <a:latin typeface="+mj-lt"/>
              </a:defRPr>
            </a:lvl1pPr>
          </a:lstStyle>
          <a:p>
            <a:pPr lvl="0"/>
            <a:r>
              <a:rPr lang="en-US"/>
              <a:t>Click to add subtitle</a:t>
            </a:r>
          </a:p>
        </p:txBody>
      </p:sp>
      <p:sp>
        <p:nvSpPr>
          <p:cNvPr id="4" name="文本占位符 3"/>
          <p:cNvSpPr>
            <a:spLocks noGrp="1"/>
          </p:cNvSpPr>
          <p:nvPr>
            <p:ph type="body" sz="quarter" idx="13" hasCustomPrompt="1"/>
          </p:nvPr>
        </p:nvSpPr>
        <p:spPr>
          <a:xfrm>
            <a:off x="660400" y="5497551"/>
            <a:ext cx="5645151" cy="276999"/>
          </a:xfrm>
          <a:prstGeom prst="rect">
            <a:avLst/>
          </a:prstGeom>
        </p:spPr>
        <p:txBody>
          <a:bodyPr wrap="square" lIns="90000">
            <a:normAutofit/>
          </a:bodyPr>
          <a:lstStyle>
            <a:lvl1pPr marL="0" indent="0" algn="l">
              <a:lnSpc>
                <a:spcPct val="100000"/>
              </a:lnSpc>
              <a:buNone/>
              <a:defRPr sz="1200"/>
            </a:lvl1pPr>
          </a:lstStyle>
          <a:p>
            <a:pPr lvl="0"/>
            <a:r>
              <a:rPr lang="en-US"/>
              <a:t>Presenter name</a:t>
            </a:r>
          </a:p>
        </p:txBody>
      </p:sp>
      <p:sp>
        <p:nvSpPr>
          <p:cNvPr id="7" name="文本占位符 6"/>
          <p:cNvSpPr>
            <a:spLocks noGrp="1"/>
          </p:cNvSpPr>
          <p:nvPr>
            <p:ph type="body" sz="quarter" idx="14" hasCustomPrompt="1"/>
          </p:nvPr>
        </p:nvSpPr>
        <p:spPr>
          <a:xfrm>
            <a:off x="660400" y="5857101"/>
            <a:ext cx="5645151" cy="276999"/>
          </a:xfrm>
          <a:prstGeom prst="rect">
            <a:avLst/>
          </a:prstGeom>
        </p:spPr>
        <p:txBody>
          <a:bodyPr wrap="none">
            <a:normAutofit/>
          </a:bodyPr>
          <a:lstStyle>
            <a:lvl1pPr marL="0" indent="0" algn="l">
              <a:lnSpc>
                <a:spcPct val="100000"/>
              </a:lnSpc>
              <a:buNone/>
              <a:defRPr sz="1200"/>
            </a:lvl1pPr>
          </a:lstStyle>
          <a:p>
            <a:pPr lvl="0"/>
            <a:r>
              <a:rPr lang="en-US"/>
              <a:t>www.officeplus.cn</a:t>
            </a:r>
          </a:p>
        </p:txBody>
      </p:sp>
      <p:sp>
        <p:nvSpPr>
          <p:cNvPr id="8" name="标题 4">
            <a:extLst>
              <a:ext uri="{FF2B5EF4-FFF2-40B4-BE49-F238E27FC236}">
                <a16:creationId xmlns:a16="http://schemas.microsoft.com/office/drawing/2014/main" id="{D4E51AF3-4B86-C068-61E8-F89039CF3D69}"/>
              </a:ext>
            </a:extLst>
          </p:cNvPr>
          <p:cNvSpPr>
            <a:spLocks noGrp="1"/>
          </p:cNvSpPr>
          <p:nvPr>
            <p:ph type="ctrTitle" hasCustomPrompt="1"/>
          </p:nvPr>
        </p:nvSpPr>
        <p:spPr>
          <a:xfrm>
            <a:off x="3879504" y="1210338"/>
            <a:ext cx="6749372" cy="2587173"/>
          </a:xfrm>
          <a:prstGeom prst="rect">
            <a:avLst/>
          </a:prstGeom>
        </p:spPr>
        <p:txBody>
          <a:bodyPr wrap="square" anchor="b">
            <a:normAutofit/>
          </a:bodyPr>
          <a:lstStyle>
            <a:lvl1pPr algn="ctr">
              <a:lnSpc>
                <a:spcPct val="100000"/>
              </a:lnSpc>
              <a:defRPr sz="5400">
                <a:ln w="19050">
                  <a:noFill/>
                </a:ln>
                <a:solidFill>
                  <a:schemeClr val="tx1"/>
                </a:solidFill>
              </a:defRPr>
            </a:lvl1pPr>
          </a:lstStyle>
          <a:p>
            <a:pPr lvl="0"/>
            <a:r>
              <a:rPr lang="en-US" dirty="0"/>
              <a:t>Intelligent Planning     &amp; </a:t>
            </a:r>
            <a:br>
              <a:rPr lang="en-US" dirty="0"/>
            </a:br>
            <a:r>
              <a:rPr lang="en-US" dirty="0"/>
              <a:t>Control Tower</a:t>
            </a:r>
          </a:p>
        </p:txBody>
      </p:sp>
      <p:pic>
        <p:nvPicPr>
          <p:cNvPr id="2" name="图片 1">
            <a:extLst>
              <a:ext uri="{FF2B5EF4-FFF2-40B4-BE49-F238E27FC236}">
                <a16:creationId xmlns:a16="http://schemas.microsoft.com/office/drawing/2014/main" id="{86A1F6E0-7672-8B72-B54A-4FF4F79B88B3}"/>
              </a:ext>
            </a:extLst>
          </p:cNvPr>
          <p:cNvPicPr>
            <a:picLocks noChangeAspect="1"/>
          </p:cNvPicPr>
          <p:nvPr/>
        </p:nvPicPr>
        <p:blipFill>
          <a:blip r:embed="rId5" cstate="print">
            <a:duotone>
              <a:schemeClr val="bg2">
                <a:shade val="45000"/>
                <a:satMod val="135000"/>
              </a:schemeClr>
              <a:prstClr val="white"/>
            </a:duotone>
            <a:extLst>
              <a:ext uri="{BEBA8EAE-BF5A-486C-A8C5-ECC9F3942E4B}">
                <a14:imgProps xmlns:a14="http://schemas.microsoft.com/office/drawing/2010/main">
                  <a14:imgLayer r:embed="rId6">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62985" y="1728206"/>
            <a:ext cx="3516518" cy="1579597"/>
          </a:xfrm>
          <a:prstGeom prst="rect">
            <a:avLst/>
          </a:prstGeom>
        </p:spPr>
      </p:pic>
    </p:spTree>
    <p:extLst>
      <p:ext uri="{BB962C8B-B14F-4D97-AF65-F5344CB8AC3E}">
        <p14:creationId xmlns:p14="http://schemas.microsoft.com/office/powerpoint/2010/main" val="2930741507"/>
      </p:ext>
    </p:extLst>
  </p:cSld>
  <p:clrMapOvr>
    <a:overrideClrMapping bg1="lt1" tx1="dk1" bg2="lt2" tx2="dk2" accent1="accent1" accent2="accent2" accent3="accent3" accent4="accent4" accent5="accent5" accent6="accent6" hlink="hlink" folHlink="folHlink"/>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p:cSld name="1_空白">
    <p:spTree>
      <p:nvGrpSpPr>
        <p:cNvPr id="1" name=""/>
        <p:cNvGrpSpPr/>
        <p:nvPr/>
      </p:nvGrpSpPr>
      <p:grpSpPr>
        <a:xfrm>
          <a:off x="0" y="0"/>
          <a:ext cx="0" cy="0"/>
          <a:chOff x="0" y="0"/>
          <a:chExt cx="0" cy="0"/>
        </a:xfrm>
      </p:grpSpPr>
      <p:sp>
        <p:nvSpPr>
          <p:cNvPr id="6" name="标题 1">
            <a:extLst>
              <a:ext uri="{FF2B5EF4-FFF2-40B4-BE49-F238E27FC236}">
                <a16:creationId xmlns:a16="http://schemas.microsoft.com/office/drawing/2014/main" id="{1E9DDCD0-7537-A039-754A-F4224B0E3693}"/>
              </a:ext>
            </a:extLst>
          </p:cNvPr>
          <p:cNvSpPr>
            <a:spLocks noGrp="1"/>
          </p:cNvSpPr>
          <p:nvPr>
            <p:ph type="title"/>
          </p:nvPr>
        </p:nvSpPr>
        <p:spPr>
          <a:xfrm>
            <a:off x="866346" y="-316256"/>
            <a:ext cx="10858500" cy="900112"/>
          </a:xfrm>
        </p:spPr>
        <p:txBody>
          <a:bodyPr/>
          <a:lstStyle>
            <a:lvl1pPr>
              <a:defRPr/>
            </a:lvl1pPr>
          </a:lstStyle>
          <a:p>
            <a:pPr lvl="0"/>
            <a:endParaRPr lang="en-US" dirty="0"/>
          </a:p>
        </p:txBody>
      </p:sp>
    </p:spTree>
    <p:extLst>
      <p:ext uri="{BB962C8B-B14F-4D97-AF65-F5344CB8AC3E}">
        <p14:creationId xmlns:p14="http://schemas.microsoft.com/office/powerpoint/2010/main" val="2708464230"/>
      </p:ext>
    </p:extLst>
  </p:cSld>
  <p:clrMapOvr>
    <a:overrideClrMapping bg1="lt1" tx1="dk1" bg2="lt2" tx2="dk2" accent1="accent1" accent2="accent2" accent3="accent3" accent4="accent4" accent5="accent5" accent6="accent6" hlink="hlink" folHlink="folHlink"/>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3_标题幻灯片">
    <p:spTree>
      <p:nvGrpSpPr>
        <p:cNvPr id="1" name=""/>
        <p:cNvGrpSpPr/>
        <p:nvPr/>
      </p:nvGrpSpPr>
      <p:grpSpPr>
        <a:xfrm>
          <a:off x="0" y="0"/>
          <a:ext cx="0" cy="0"/>
          <a:chOff x="0" y="0"/>
          <a:chExt cx="0" cy="0"/>
        </a:xfrm>
      </p:grpSpPr>
      <p:grpSp>
        <p:nvGrpSpPr>
          <p:cNvPr id="40" name="组合 39"/>
          <p:cNvGrpSpPr/>
          <p:nvPr userDrawn="1"/>
        </p:nvGrpSpPr>
        <p:grpSpPr>
          <a:xfrm>
            <a:off x="0" y="12450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3" name="标题 4">
            <a:extLst>
              <a:ext uri="{FF2B5EF4-FFF2-40B4-BE49-F238E27FC236}">
                <a16:creationId xmlns:a16="http://schemas.microsoft.com/office/drawing/2014/main" id="{B5D391BF-A023-49D2-B62C-E02AC8635D69}"/>
              </a:ext>
            </a:extLst>
          </p:cNvPr>
          <p:cNvSpPr>
            <a:spLocks noGrp="1"/>
          </p:cNvSpPr>
          <p:nvPr>
            <p:ph type="ctrTitle" hasCustomPrompt="1"/>
          </p:nvPr>
        </p:nvSpPr>
        <p:spPr>
          <a:xfrm>
            <a:off x="4556922" y="1839434"/>
            <a:ext cx="6749372" cy="2587173"/>
          </a:xfrm>
          <a:prstGeom prst="rect">
            <a:avLst/>
          </a:prstGeom>
        </p:spPr>
        <p:txBody>
          <a:bodyPr wrap="square" anchor="b">
            <a:normAutofit/>
          </a:bodyPr>
          <a:lstStyle>
            <a:lvl1pPr algn="ctr">
              <a:lnSpc>
                <a:spcPct val="100000"/>
              </a:lnSpc>
              <a:defRPr sz="5400">
                <a:ln w="19050">
                  <a:noFill/>
                </a:ln>
                <a:solidFill>
                  <a:schemeClr val="tx1"/>
                </a:solidFill>
              </a:defRPr>
            </a:lvl1pPr>
          </a:lstStyle>
          <a:p>
            <a:pPr lvl="0"/>
            <a:r>
              <a:rPr lang="en-US" dirty="0"/>
              <a:t>Intelligent Planning     &amp; </a:t>
            </a:r>
            <a:br>
              <a:rPr lang="en-US" dirty="0"/>
            </a:br>
            <a:r>
              <a:rPr lang="en-US" dirty="0"/>
              <a:t>Control Tower</a:t>
            </a:r>
          </a:p>
        </p:txBody>
      </p:sp>
      <p:sp>
        <p:nvSpPr>
          <p:cNvPr id="5" name="文本框 4">
            <a:extLst>
              <a:ext uri="{FF2B5EF4-FFF2-40B4-BE49-F238E27FC236}">
                <a16:creationId xmlns:a16="http://schemas.microsoft.com/office/drawing/2014/main" id="{FD9C0D61-6364-EB58-4CE8-074F803A783D}"/>
              </a:ext>
            </a:extLst>
          </p:cNvPr>
          <p:cNvSpPr txBox="1"/>
          <p:nvPr userDrawn="1"/>
        </p:nvSpPr>
        <p:spPr>
          <a:xfrm>
            <a:off x="1104756" y="2579023"/>
            <a:ext cx="1946564" cy="1107996"/>
          </a:xfrm>
          <a:prstGeom prst="rect">
            <a:avLst/>
          </a:prstGeom>
          <a:noFill/>
        </p:spPr>
        <p:txBody>
          <a:bodyPr wrap="square" rtlCol="0">
            <a:spAutoFit/>
          </a:bodyPr>
          <a:lstStyle/>
          <a:p>
            <a:r>
              <a:rPr lang="en-US" altLang="zh-CN" sz="6600" b="1" dirty="0">
                <a:latin typeface="+mj-ea"/>
                <a:ea typeface="+mj-ea"/>
              </a:rPr>
              <a:t>IPC</a:t>
            </a:r>
            <a:endParaRPr lang="zh-CN" altLang="en-US" sz="6600" b="1" dirty="0">
              <a:latin typeface="+mj-ea"/>
              <a:ea typeface="+mj-ea"/>
            </a:endParaRPr>
          </a:p>
        </p:txBody>
      </p:sp>
      <p:pic>
        <p:nvPicPr>
          <p:cNvPr id="2" name="图片 1">
            <a:extLst>
              <a:ext uri="{FF2B5EF4-FFF2-40B4-BE49-F238E27FC236}">
                <a16:creationId xmlns:a16="http://schemas.microsoft.com/office/drawing/2014/main" id="{6249DE40-38DE-0B8C-A57E-BCDCCECD67F0}"/>
              </a:ext>
            </a:extLst>
          </p:cNvPr>
          <p:cNvPicPr>
            <a:picLocks noChangeAspect="1"/>
          </p:cNvPicPr>
          <p:nvPr userDrawn="1"/>
        </p:nvPicPr>
        <p:blipFill>
          <a:blip r:embed="rId5" cstate="print">
            <a:duotone>
              <a:prstClr val="black"/>
              <a:schemeClr val="accent3">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4" name="图片 3">
            <a:extLst>
              <a:ext uri="{FF2B5EF4-FFF2-40B4-BE49-F238E27FC236}">
                <a16:creationId xmlns:a16="http://schemas.microsoft.com/office/drawing/2014/main" id="{82CA119C-4E3E-E8FD-4491-4E0BECF11504}"/>
              </a:ext>
            </a:extLst>
          </p:cNvPr>
          <p:cNvPicPr>
            <a:picLocks noChangeAspect="1"/>
          </p:cNvPicPr>
          <p:nvPr userDrawn="1"/>
        </p:nvPicPr>
        <p:blipFill>
          <a:blip r:embed="rId6" cstate="print">
            <a:duotone>
              <a:prstClr val="black"/>
              <a:schemeClr val="accent3">
                <a:tint val="45000"/>
                <a:satMod val="400000"/>
              </a:schemeClr>
            </a:duotone>
            <a:extLst>
              <a:ext uri="{BEBA8EAE-BF5A-486C-A8C5-ECC9F3942E4B}">
                <a14:imgProps xmlns:a14="http://schemas.microsoft.com/office/drawing/2010/main">
                  <a14:imgLayer r:embed="rId7">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79775" y="6236796"/>
            <a:ext cx="704451" cy="621204"/>
          </a:xfrm>
          <a:prstGeom prst="rect">
            <a:avLst/>
          </a:prstGeom>
        </p:spPr>
      </p:pic>
    </p:spTree>
    <p:extLst>
      <p:ext uri="{BB962C8B-B14F-4D97-AF65-F5344CB8AC3E}">
        <p14:creationId xmlns:p14="http://schemas.microsoft.com/office/powerpoint/2010/main" val="3337719386"/>
      </p:ext>
    </p:extLst>
  </p:cSld>
  <p:clrMapOvr>
    <a:overrideClrMapping bg1="lt1" tx1="dk1" bg2="lt2" tx2="dk2" accent1="accent1" accent2="accent2" accent3="accent3" accent4="accent4" accent5="accent5" accent6="accent6" hlink="hlink" folHlink="folHlink"/>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E9DDCD0-7537-A039-754A-F4224B0E3693}"/>
              </a:ext>
            </a:extLst>
          </p:cNvPr>
          <p:cNvSpPr>
            <a:spLocks noGrp="1"/>
          </p:cNvSpPr>
          <p:nvPr userDrawn="1"/>
        </p:nvSpPr>
        <p:spPr>
          <a:xfrm>
            <a:off x="899833"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
        <p:nvSpPr>
          <p:cNvPr id="3" name="标题 1">
            <a:extLst>
              <a:ext uri="{FF2B5EF4-FFF2-40B4-BE49-F238E27FC236}">
                <a16:creationId xmlns:a16="http://schemas.microsoft.com/office/drawing/2014/main" id="{1E9DDCD0-7537-A039-754A-F4224B0E3693}"/>
              </a:ext>
            </a:extLst>
          </p:cNvPr>
          <p:cNvSpPr>
            <a:spLocks noGrp="1"/>
          </p:cNvSpPr>
          <p:nvPr userDrawn="1"/>
        </p:nvSpPr>
        <p:spPr>
          <a:xfrm>
            <a:off x="947645"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Tree>
    <p:extLst>
      <p:ext uri="{BB962C8B-B14F-4D97-AF65-F5344CB8AC3E}">
        <p14:creationId xmlns:p14="http://schemas.microsoft.com/office/powerpoint/2010/main" val="2262865275"/>
      </p:ext>
    </p:extLst>
  </p:cSld>
  <p:clrMapOvr>
    <a:overrideClrMapping bg1="lt1" tx1="dk1" bg2="lt2" tx2="dk2" accent1="accent1" accent2="accent2" accent3="accent3" accent4="accent4" accent5="accent5" accent6="accent6" hlink="hlink" folHlink="folHlink"/>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_标题和内容">
    <p:spTree>
      <p:nvGrpSpPr>
        <p:cNvPr id="1" name=""/>
        <p:cNvGrpSpPr/>
        <p:nvPr/>
      </p:nvGrpSpPr>
      <p:grpSpPr>
        <a:xfrm>
          <a:off x="0" y="0"/>
          <a:ext cx="0" cy="0"/>
          <a:chOff x="0" y="0"/>
          <a:chExt cx="0" cy="0"/>
        </a:xfrm>
      </p:grpSpPr>
      <p:sp>
        <p:nvSpPr>
          <p:cNvPr id="13" name="文本占位符 12"/>
          <p:cNvSpPr>
            <a:spLocks noGrp="1"/>
          </p:cNvSpPr>
          <p:nvPr>
            <p:ph type="body" idx="1"/>
            <p:custDataLst>
              <p:tags r:id="rId1"/>
            </p:custDataLst>
          </p:nvPr>
        </p:nvSpPr>
        <p:spPr>
          <a:xfrm>
            <a:off x="569595" y="1253490"/>
            <a:ext cx="11052810" cy="4869180"/>
          </a:xfrm>
          <a:prstGeom prst="rect">
            <a:avLst/>
          </a:prstGeom>
        </p:spPr>
        <p:txBody>
          <a:bodyPr vert="horz" lIns="91440" tIns="45720" rIns="91440" bIns="45720" rtlCol="0">
            <a:normAutofit/>
          </a:bodyPr>
          <a:lstStyle>
            <a:lvl1pPr marL="0" indent="0">
              <a:buNone/>
              <a:defRPr sz="1400">
                <a:solidFill>
                  <a:schemeClr val="tx1"/>
                </a:solidFill>
              </a:defRPr>
            </a:lvl1pPr>
            <a:lvl2pPr marL="457200" indent="0">
              <a:buNone/>
              <a:defRPr sz="1400">
                <a:solidFill>
                  <a:schemeClr val="tx1"/>
                </a:solidFill>
              </a:defRPr>
            </a:lvl2pPr>
            <a:lvl3pPr marL="914400" indent="0">
              <a:buNone/>
              <a:defRPr sz="1400">
                <a:solidFill>
                  <a:schemeClr val="tx1"/>
                </a:solidFill>
              </a:defRPr>
            </a:lvl3pPr>
            <a:lvl4pPr marL="1371600" indent="0">
              <a:buNone/>
              <a:defRPr sz="1400">
                <a:solidFill>
                  <a:schemeClr val="tx1"/>
                </a:solidFill>
              </a:defRPr>
            </a:lvl4pPr>
            <a:lvl5pPr marL="1828800" indent="0">
              <a:buNone/>
              <a:defRPr sz="1400">
                <a:solidFill>
                  <a:schemeClr val="tx1"/>
                </a:solidFill>
              </a:defRPr>
            </a:lvl5pPr>
          </a:lstStyle>
          <a:p>
            <a:pPr lvl="0"/>
            <a:r>
              <a:rPr lang="zh-CN" altLang="en-US" dirty="0"/>
              <a:t>单击此处编辑母版文本样式</a:t>
            </a:r>
          </a:p>
          <a:p>
            <a:pPr lvl="1"/>
            <a:r>
              <a:rPr lang="zh-CN" altLang="en-US" dirty="0"/>
              <a:t>二级</a:t>
            </a:r>
          </a:p>
          <a:p>
            <a:pPr lvl="2"/>
            <a:r>
              <a:rPr lang="zh-CN" altLang="en-US" dirty="0"/>
              <a:t>三级</a:t>
            </a:r>
          </a:p>
          <a:p>
            <a:pPr lvl="3"/>
            <a:r>
              <a:rPr lang="zh-CN" altLang="en-US" dirty="0"/>
              <a:t>四级</a:t>
            </a:r>
          </a:p>
          <a:p>
            <a:pPr lvl="4"/>
            <a:r>
              <a:rPr lang="zh-CN" altLang="en-US" dirty="0"/>
              <a:t>五级</a:t>
            </a:r>
          </a:p>
        </p:txBody>
      </p:sp>
      <p:sp>
        <p:nvSpPr>
          <p:cNvPr id="5" name="灯片编号占位符 4"/>
          <p:cNvSpPr>
            <a:spLocks noGrp="1"/>
          </p:cNvSpPr>
          <p:nvPr userDrawn="1">
            <p:custDataLst>
              <p:tags r:id="rId2"/>
            </p:custDataLst>
          </p:nvPr>
        </p:nvSpPr>
        <p:spPr>
          <a:xfrm>
            <a:off x="8879205" y="6375400"/>
            <a:ext cx="2743200" cy="365125"/>
          </a:xfrm>
          <a:prstGeom prst="rect">
            <a:avLst/>
          </a:prstGeom>
        </p:spPr>
        <p:txBody>
          <a:bodyPr vert="horz" lIns="91440" tIns="45720" rIns="91440" bIns="45720" rtlCol="0" anchor="ctr"/>
          <a:lstStyle>
            <a:defPPr>
              <a:defRPr lang="zh-CN"/>
            </a:defPPr>
            <a:lvl1pPr marL="0" algn="r" defTabSz="914400" rtl="0" eaLnBrk="1" latinLnBrk="0" hangingPunct="1">
              <a:defRPr sz="10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56FF76-7BF1-4E25-A0F5-B7CD95F22364}" type="slidenum">
              <a:rPr lang="zh-CN" altLang="en-US" smtClean="0"/>
              <a:t>‹#›</a:t>
            </a:fld>
            <a:endParaRPr lang="zh-CN" altLang="en-US" dirty="0"/>
          </a:p>
        </p:txBody>
      </p:sp>
      <p:sp>
        <p:nvSpPr>
          <p:cNvPr id="2" name="标题 1">
            <a:extLst>
              <a:ext uri="{FF2B5EF4-FFF2-40B4-BE49-F238E27FC236}">
                <a16:creationId xmlns:a16="http://schemas.microsoft.com/office/drawing/2014/main" id="{1E9DDCD0-7537-A039-754A-F4224B0E3693}"/>
              </a:ext>
            </a:extLst>
          </p:cNvPr>
          <p:cNvSpPr>
            <a:spLocks noGrp="1"/>
          </p:cNvSpPr>
          <p:nvPr userDrawn="1"/>
        </p:nvSpPr>
        <p:spPr>
          <a:xfrm>
            <a:off x="935691" y="-22304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Tree>
    <p:extLst>
      <p:ext uri="{BB962C8B-B14F-4D97-AF65-F5344CB8AC3E}">
        <p14:creationId xmlns:p14="http://schemas.microsoft.com/office/powerpoint/2010/main" val="947594763"/>
      </p:ext>
    </p:extLst>
  </p:cSld>
  <p:clrMapOvr>
    <a:masterClrMapping/>
  </p:clrMapOvr>
  <p:transition spd="slow"/>
  <p:hf sldNum="0" hdr="0" ftr="0" dt="0"/>
</p:sldLayout>
</file>

<file path=ppt/slideLayouts/slideLayout92.xml><?xml version="1.0" encoding="utf-8"?>
<p:sldLayout xmlns:a="http://schemas.openxmlformats.org/drawingml/2006/main" xmlns:r="http://schemas.openxmlformats.org/officeDocument/2006/relationships" xmlns:p="http://schemas.openxmlformats.org/presentationml/2006/main" type="twoObj" preserve="1">
  <p:cSld name="两项内容">
    <p:spTree>
      <p:nvGrpSpPr>
        <p:cNvPr id="1" name=""/>
        <p:cNvGrpSpPr/>
        <p:nvPr/>
      </p:nvGrpSpPr>
      <p:grpSpPr>
        <a:xfrm>
          <a:off x="0" y="0"/>
          <a:ext cx="0" cy="0"/>
          <a:chOff x="0" y="0"/>
          <a:chExt cx="0" cy="0"/>
        </a:xfrm>
      </p:grpSpPr>
      <p:sp>
        <p:nvSpPr>
          <p:cNvPr id="2" name="标题 1"/>
          <p:cNvSpPr>
            <a:spLocks noGrp="1"/>
          </p:cNvSpPr>
          <p:nvPr>
            <p:ph type="title"/>
          </p:nvPr>
        </p:nvSpPr>
        <p:spPr>
          <a:xfrm>
            <a:off x="609600" y="-331029"/>
            <a:ext cx="10858500" cy="1028700"/>
          </a:xfrm>
        </p:spPr>
        <p:txBody>
          <a:bodyPr/>
          <a:lstStyle/>
          <a:p>
            <a:r>
              <a:rPr lang="zh-CN" altLang="en-US"/>
              <a:t>单击此处编辑母版标题样式</a:t>
            </a:r>
          </a:p>
        </p:txBody>
      </p:sp>
      <p:sp>
        <p:nvSpPr>
          <p:cNvPr id="3" name="内容占位符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内容占位符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日期占位符 4"/>
          <p:cNvSpPr>
            <a:spLocks noGrp="1"/>
          </p:cNvSpPr>
          <p:nvPr>
            <p:ph type="dt" sz="half" idx="10"/>
          </p:nvPr>
        </p:nvSpPr>
        <p:spPr/>
        <p:txBody>
          <a:bodyPr/>
          <a:lstStyle/>
          <a:p>
            <a:pPr defTabSz="609585" fontAlgn="base">
              <a:spcBef>
                <a:spcPct val="0"/>
              </a:spcBef>
              <a:spcAft>
                <a:spcPct val="0"/>
              </a:spcAft>
              <a:defRPr/>
            </a:pPr>
            <a:endParaRPr kumimoji="1" lang="zh-CN" altLang="en-US" dirty="0"/>
          </a:p>
        </p:txBody>
      </p:sp>
      <p:sp>
        <p:nvSpPr>
          <p:cNvPr id="6" name="页脚占位符 5"/>
          <p:cNvSpPr>
            <a:spLocks noGrp="1"/>
          </p:cNvSpPr>
          <p:nvPr>
            <p:ph type="ftr" sz="quarter" idx="11"/>
          </p:nvPr>
        </p:nvSpPr>
        <p:spPr/>
        <p:txBody>
          <a:bodyPr/>
          <a:lstStyle/>
          <a:p>
            <a:pPr defTabSz="609585">
              <a:defRPr/>
            </a:pPr>
            <a:endParaRPr kumimoji="1" lang="zh-CN" altLang="en-US" dirty="0"/>
          </a:p>
        </p:txBody>
      </p:sp>
      <p:sp>
        <p:nvSpPr>
          <p:cNvPr id="7" name="灯片编号占位符 6"/>
          <p:cNvSpPr>
            <a:spLocks noGrp="1"/>
          </p:cNvSpPr>
          <p:nvPr>
            <p:ph type="sldNum" sz="quarter" idx="12"/>
          </p:nvPr>
        </p:nvSpPr>
        <p:spPr/>
        <p:txBody>
          <a:bodyPr/>
          <a:lstStyle/>
          <a:p>
            <a:pPr lvl="0" eaLnBrk="1" hangingPunct="1">
              <a:buNone/>
            </a:pPr>
            <a:fld id="{9A0DB2DC-4C9A-4742-B13C-FB6460FD3503}" type="slidenum">
              <a:rPr lang="zh-CN" altLang="en-US" dirty="0">
                <a:latin typeface="Calibri" panose="020F0502020204030204" pitchFamily="34" charset="0"/>
              </a:rPr>
              <a:t>‹#›</a:t>
            </a:fld>
            <a:endParaRPr lang="zh-CN" altLang="en-US" dirty="0">
              <a:latin typeface="Calibri" panose="020F0502020204030204" pitchFamily="34" charset="0"/>
            </a:endParaRPr>
          </a:p>
        </p:txBody>
      </p:sp>
    </p:spTree>
    <p:extLst>
      <p:ext uri="{BB962C8B-B14F-4D97-AF65-F5344CB8AC3E}">
        <p14:creationId xmlns:p14="http://schemas.microsoft.com/office/powerpoint/2010/main" val="2449409941"/>
      </p:ext>
    </p:extLst>
  </p:cSld>
  <p:clrMapOvr>
    <a:overrideClrMapping bg1="lt1" tx1="dk1" bg2="lt2" tx2="dk2" accent1="accent1" accent2="accent2" accent3="accent3" accent4="accent4" accent5="accent5" accent6="accent6" hlink="hlink" folHlink="folHlink"/>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p:cSld name="Title and Content - No Background">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274320"/>
            <a:ext cx="11076268" cy="521208"/>
          </a:xfrm>
          <a:prstGeom prst="rect">
            <a:avLst/>
          </a:prstGeom>
        </p:spPr>
        <p:txBody>
          <a:bodyPr wrap="square" lIns="0" tIns="0" rIns="0" bIns="0" anchor="ctr" anchorCtr="0"/>
          <a:lstStyle>
            <a:lvl1pPr marL="0" algn="l" defTabSz="1218987" rtl="0" eaLnBrk="1" latinLnBrk="0" hangingPunct="1">
              <a:lnSpc>
                <a:spcPct val="100000"/>
              </a:lnSpc>
              <a:spcBef>
                <a:spcPct val="0"/>
              </a:spcBef>
              <a:buNone/>
              <a:tabLst>
                <a:tab pos="1218987" algn="l"/>
              </a:tabLst>
              <a:defRPr lang="en-US" sz="3600" kern="1200" cap="none" spc="0" baseline="0" dirty="0">
                <a:solidFill>
                  <a:schemeClr val="tx1"/>
                </a:solidFill>
                <a:latin typeface="Arial" pitchFamily="34" charset="0"/>
                <a:ea typeface="+mn-ea"/>
                <a:cs typeface="Arial" pitchFamily="34" charset="0"/>
              </a:defRPr>
            </a:lvl1pPr>
          </a:lstStyle>
          <a:p>
            <a:r>
              <a:rPr lang="en-US" dirty="0"/>
              <a:t>Click To Edit Master Title</a:t>
            </a:r>
          </a:p>
        </p:txBody>
      </p:sp>
      <p:sp>
        <p:nvSpPr>
          <p:cNvPr id="22" name="Content Placeholder 2"/>
          <p:cNvSpPr>
            <a:spLocks noGrp="1"/>
          </p:cNvSpPr>
          <p:nvPr>
            <p:ph sz="half" idx="1"/>
          </p:nvPr>
        </p:nvSpPr>
        <p:spPr bwMode="gray">
          <a:xfrm>
            <a:off x="548783" y="1179577"/>
            <a:ext cx="11076268" cy="5211699"/>
          </a:xfrm>
          <a:prstGeom prst="rect">
            <a:avLst/>
          </a:prstGeom>
        </p:spPr>
        <p:txBody>
          <a:bodyPr lIns="0" tIns="0" rIns="0" bIns="0"/>
          <a:lstStyle>
            <a:lvl1pPr marL="171450" indent="-171450">
              <a:lnSpc>
                <a:spcPct val="90000"/>
              </a:lnSpc>
              <a:spcBef>
                <a:spcPts val="600"/>
              </a:spcBef>
              <a:buClrTx/>
              <a:buFont typeface="Arial" panose="020B0604020202020204" pitchFamily="34" charset="0"/>
              <a:buChar char="•"/>
              <a:defRPr sz="2400">
                <a:solidFill>
                  <a:schemeClr val="tx1"/>
                </a:solidFill>
                <a:latin typeface="Arial" pitchFamily="34" charset="0"/>
                <a:cs typeface="Arial" pitchFamily="34" charset="0"/>
              </a:defRPr>
            </a:lvl1pPr>
            <a:lvl2pPr marL="609493" indent="-228560">
              <a:lnSpc>
                <a:spcPct val="90000"/>
              </a:lnSpc>
              <a:spcBef>
                <a:spcPts val="600"/>
              </a:spcBef>
              <a:buClrTx/>
              <a:buFont typeface="Arial" pitchFamily="34" charset="0"/>
              <a:buChar char="–"/>
              <a:defRPr sz="2000">
                <a:solidFill>
                  <a:schemeClr val="tx1"/>
                </a:solidFill>
                <a:latin typeface="Arial" pitchFamily="34" charset="0"/>
                <a:cs typeface="Arial" pitchFamily="34" charset="0"/>
              </a:defRPr>
            </a:lvl2pPr>
            <a:lvl3pPr marL="835938" indent="-150258">
              <a:lnSpc>
                <a:spcPct val="90000"/>
              </a:lnSpc>
              <a:spcBef>
                <a:spcPts val="600"/>
              </a:spcBef>
              <a:buClrTx/>
              <a:buFont typeface="Arial" panose="020B0604020202020204" pitchFamily="34" charset="0"/>
              <a:buChar char="-"/>
              <a:defRPr sz="2000">
                <a:solidFill>
                  <a:schemeClr val="tx1"/>
                </a:solidFill>
                <a:latin typeface="Arial" pitchFamily="34" charset="0"/>
                <a:cs typeface="Arial" pitchFamily="34" charset="0"/>
              </a:defRPr>
            </a:lvl3pPr>
            <a:lvl4pPr marL="1147033" indent="-156606">
              <a:lnSpc>
                <a:spcPct val="90000"/>
              </a:lnSpc>
              <a:spcBef>
                <a:spcPts val="600"/>
              </a:spcBef>
              <a:buClrTx/>
              <a:buFont typeface="Arial" panose="020B0604020202020204" pitchFamily="34" charset="0"/>
              <a:buChar char="-"/>
              <a:defRPr sz="2000">
                <a:solidFill>
                  <a:schemeClr val="tx1"/>
                </a:solidFill>
                <a:latin typeface="Arial" pitchFamily="34" charset="0"/>
                <a:cs typeface="Arial" pitchFamily="34" charset="0"/>
              </a:defRPr>
            </a:lvl4pPr>
            <a:lvl5pPr marL="1445431" indent="-150258">
              <a:lnSpc>
                <a:spcPct val="90000"/>
              </a:lnSpc>
              <a:spcBef>
                <a:spcPts val="600"/>
              </a:spcBef>
              <a:buClrTx/>
              <a:buFont typeface="Arial" panose="020B0604020202020204" pitchFamily="34" charset="0"/>
              <a:buChar char="-"/>
              <a:defRPr sz="20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6" name="Freeform 5">
            <a:extLst>
              <a:ext uri="{FF2B5EF4-FFF2-40B4-BE49-F238E27FC236}">
                <a16:creationId xmlns:a16="http://schemas.microsoft.com/office/drawing/2014/main" id="{8C261849-EED4-439D-9D86-D00B5DA1B6C8}"/>
              </a:ext>
            </a:extLst>
          </p:cNvPr>
          <p:cNvSpPr>
            <a:spLocks noChangeAspect="1" noEditPoints="1"/>
          </p:cNvSpPr>
          <p:nvPr userDrawn="1"/>
        </p:nvSpPr>
        <p:spPr bwMode="black">
          <a:xfrm>
            <a:off x="205409" y="423409"/>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
        <p:nvSpPr>
          <p:cNvPr id="8" name="TextBox slide number">
            <a:extLst>
              <a:ext uri="{FF2B5EF4-FFF2-40B4-BE49-F238E27FC236}">
                <a16:creationId xmlns:a16="http://schemas.microsoft.com/office/drawing/2014/main" id="{C14F407B-25FF-40AD-A010-7F4E0497654A}"/>
              </a:ext>
            </a:extLst>
          </p:cNvPr>
          <p:cNvSpPr txBox="1"/>
          <p:nvPr userDrawn="1"/>
        </p:nvSpPr>
        <p:spPr bwMode="white">
          <a:xfrm>
            <a:off x="11751760" y="6395208"/>
            <a:ext cx="440239" cy="246221"/>
          </a:xfrm>
          <a:prstGeom prst="rect">
            <a:avLst/>
          </a:prstGeom>
        </p:spPr>
        <p:txBody>
          <a:bodyPr vert="horz" lIns="0" tIns="0" rIns="0" bIns="0" rtlCol="0" anchor="b"/>
          <a:lstStyle>
            <a:defPPr>
              <a:defRPr lang="en-US"/>
            </a:defPPr>
            <a:lvl1pPr algn="ctr">
              <a:defRPr sz="1000">
                <a:solidFill>
                  <a:schemeClr val="bg1"/>
                </a:solidFill>
              </a:defRPr>
            </a:lvl1pPr>
          </a:lstStyle>
          <a:p>
            <a:pPr lvl="0" algn="ctr"/>
            <a:fld id="{6EA5B71A-1B18-4E34-A48F-65DC4937AA99}" type="slidenum">
              <a:rPr lang="en-US" sz="1000" b="0" smtClean="0">
                <a:solidFill>
                  <a:schemeClr val="tx1"/>
                </a:solidFill>
              </a:rPr>
              <a:pPr lvl="0" algn="ctr"/>
              <a:t>‹#›</a:t>
            </a:fld>
            <a:endParaRPr lang="en-US" sz="1000" b="0" dirty="0">
              <a:solidFill>
                <a:schemeClr val="tx1"/>
              </a:solidFill>
            </a:endParaRPr>
          </a:p>
        </p:txBody>
      </p:sp>
    </p:spTree>
    <p:extLst>
      <p:ext uri="{BB962C8B-B14F-4D97-AF65-F5344CB8AC3E}">
        <p14:creationId xmlns:p14="http://schemas.microsoft.com/office/powerpoint/2010/main" val="35871643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2_空白">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DBEEF5-5DA5-9F91-63DD-0168D8E3EB8B}"/>
              </a:ext>
            </a:extLst>
          </p:cNvPr>
          <p:cNvSpPr>
            <a:spLocks noGrp="1"/>
          </p:cNvSpPr>
          <p:nvPr>
            <p:ph type="title"/>
          </p:nvPr>
        </p:nvSpPr>
        <p:spPr>
          <a:xfrm>
            <a:off x="886690" y="187035"/>
            <a:ext cx="10714759" cy="457201"/>
          </a:xfrm>
          <a:prstGeom prst="rect">
            <a:avLst/>
          </a:prstGeom>
        </p:spPr>
        <p:txBody>
          <a:bodyPr/>
          <a:lstStyle>
            <a:lvl1pPr>
              <a:defRPr>
                <a:solidFill>
                  <a:schemeClr val="tx1"/>
                </a:solidFill>
                <a:latin typeface="+mj-ea"/>
                <a:ea typeface="+mj-ea"/>
              </a:defRPr>
            </a:lvl1pPr>
          </a:lstStyle>
          <a:p>
            <a:endParaRPr lang="zh-CN" altLang="en-US" dirty="0"/>
          </a:p>
        </p:txBody>
      </p:sp>
    </p:spTree>
    <p:extLst>
      <p:ext uri="{BB962C8B-B14F-4D97-AF65-F5344CB8AC3E}">
        <p14:creationId xmlns:p14="http://schemas.microsoft.com/office/powerpoint/2010/main" val="1358484096"/>
      </p:ext>
    </p:extLst>
  </p:cSld>
  <p:clrMapOvr>
    <a:overrideClrMapping bg1="lt1" tx1="dk1" bg2="lt2" tx2="dk2" accent1="accent1" accent2="accent2" accent3="accent3" accent4="accent4" accent5="accent5" accent6="accent6" hlink="hlink" folHlink="folHlink"/>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4_标题幻灯片">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5B42509E-12FE-156B-B1FC-818C4EC59FB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Rectangle 3">
            <a:extLst>
              <a:ext uri="{FF2B5EF4-FFF2-40B4-BE49-F238E27FC236}">
                <a16:creationId xmlns:a16="http://schemas.microsoft.com/office/drawing/2014/main" id="{12F37E50-CF33-4241-AF80-F4953C679288}"/>
              </a:ext>
            </a:extLst>
          </p:cNvPr>
          <p:cNvSpPr/>
          <p:nvPr userDrawn="1"/>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Rectangle 11">
            <a:extLst>
              <a:ext uri="{FF2B5EF4-FFF2-40B4-BE49-F238E27FC236}">
                <a16:creationId xmlns:a16="http://schemas.microsoft.com/office/drawing/2014/main" id="{0F60084F-F637-4FA4-BE35-D702CF6DAA6A}"/>
              </a:ext>
            </a:extLst>
          </p:cNvPr>
          <p:cNvSpPr/>
          <p:nvPr userDrawn="1"/>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Title 1">
            <a:extLst>
              <a:ext uri="{FF2B5EF4-FFF2-40B4-BE49-F238E27FC236}">
                <a16:creationId xmlns:a16="http://schemas.microsoft.com/office/drawing/2014/main" id="{2869597B-F909-5F67-0679-C0ADB832BB0C}"/>
              </a:ext>
            </a:extLst>
          </p:cNvPr>
          <p:cNvSpPr>
            <a:spLocks noGrp="1"/>
          </p:cNvSpPr>
          <p:nvPr>
            <p:ph type="ctrTitle" hasCustomPrompt="1"/>
          </p:nvPr>
        </p:nvSpPr>
        <p:spPr>
          <a:xfrm>
            <a:off x="1027460" y="2767054"/>
            <a:ext cx="5200650" cy="1794141"/>
          </a:xfrm>
          <a:prstGeom prst="rect">
            <a:avLst/>
          </a:prstGeo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cxnSp>
        <p:nvCxnSpPr>
          <p:cNvPr id="8" name="Straight Connector 13">
            <a:extLst>
              <a:ext uri="{FF2B5EF4-FFF2-40B4-BE49-F238E27FC236}">
                <a16:creationId xmlns:a16="http://schemas.microsoft.com/office/drawing/2014/main" id="{A7BE3E13-E4E5-2397-0174-77949629B0D5}"/>
              </a:ext>
            </a:extLst>
          </p:cNvPr>
          <p:cNvCxnSpPr>
            <a:cxnSpLocks/>
          </p:cNvCxnSpPr>
          <p:nvPr userDrawn="1"/>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4" name="图片 3">
            <a:extLst>
              <a:ext uri="{FF2B5EF4-FFF2-40B4-BE49-F238E27FC236}">
                <a16:creationId xmlns:a16="http://schemas.microsoft.com/office/drawing/2014/main" id="{F90B7826-24A7-BC3C-73C9-9F5F7B19EAE5}"/>
              </a:ext>
            </a:extLst>
          </p:cNvPr>
          <p:cNvPicPr>
            <a:picLocks noChangeAspect="1"/>
          </p:cNvPicPr>
          <p:nvPr userDrawn="1"/>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5" name="图片 4">
            <a:extLst>
              <a:ext uri="{FF2B5EF4-FFF2-40B4-BE49-F238E27FC236}">
                <a16:creationId xmlns:a16="http://schemas.microsoft.com/office/drawing/2014/main" id="{0BDE140C-EF3F-E22F-4A92-E3E962B8277F}"/>
              </a:ext>
            </a:extLst>
          </p:cNvPr>
          <p:cNvPicPr>
            <a:picLocks noChangeAspect="1"/>
          </p:cNvPicPr>
          <p:nvPr userDrawn="1"/>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2722144947"/>
      </p:ext>
    </p:extLst>
  </p:cSld>
  <p:clrMapOvr>
    <a:overrideClrMapping bg1="lt1" tx1="dk1" bg2="lt2" tx2="dk2" accent1="accent1" accent2="accent2" accent3="accent3" accent4="accent4" accent5="accent5" accent6="accent6" hlink="hlink" folHlink="folHlink"/>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5_标题幻灯片">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C2C7C2A-E334-E5BD-47CD-7B7479086E5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Title 1">
            <a:extLst>
              <a:ext uri="{FF2B5EF4-FFF2-40B4-BE49-F238E27FC236}">
                <a16:creationId xmlns:a16="http://schemas.microsoft.com/office/drawing/2014/main" id="{53FD368F-863D-4527-8F6D-CEC87B7E23EE}"/>
              </a:ext>
            </a:extLst>
          </p:cNvPr>
          <p:cNvSpPr>
            <a:spLocks noGrp="1"/>
          </p:cNvSpPr>
          <p:nvPr>
            <p:ph type="ctrTitle" hasCustomPrompt="1"/>
          </p:nvPr>
        </p:nvSpPr>
        <p:spPr>
          <a:xfrm>
            <a:off x="1029470" y="1862477"/>
            <a:ext cx="5200650" cy="2605695"/>
          </a:xfrm>
          <a:prstGeom prst="rect">
            <a:avLst/>
          </a:prstGeo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sp>
        <p:nvSpPr>
          <p:cNvPr id="4" name="Rectangle 3">
            <a:extLst>
              <a:ext uri="{FF2B5EF4-FFF2-40B4-BE49-F238E27FC236}">
                <a16:creationId xmlns:a16="http://schemas.microsoft.com/office/drawing/2014/main" id="{12F37E50-CF33-4241-AF80-F4953C679288}"/>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Rectangle 11">
            <a:extLst>
              <a:ext uri="{FF2B5EF4-FFF2-40B4-BE49-F238E27FC236}">
                <a16:creationId xmlns:a16="http://schemas.microsoft.com/office/drawing/2014/main" id="{0F60084F-F637-4FA4-BE35-D702CF6DAA6A}"/>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4" name="Straight Connector 13">
            <a:extLst>
              <a:ext uri="{FF2B5EF4-FFF2-40B4-BE49-F238E27FC236}">
                <a16:creationId xmlns:a16="http://schemas.microsoft.com/office/drawing/2014/main" id="{DC3C8D67-DBD4-4831-B956-FBC1F2BA8C47}"/>
              </a:ext>
            </a:extLst>
          </p:cNvPr>
          <p:cNvCxnSpPr>
            <a:cxnSpLocks/>
          </p:cNvCxnSpPr>
          <p:nvPr/>
        </p:nvCxnSpPr>
        <p:spPr>
          <a:xfrm flipV="1">
            <a:off x="957262" y="1862477"/>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3" name="图片 2">
            <a:extLst>
              <a:ext uri="{FF2B5EF4-FFF2-40B4-BE49-F238E27FC236}">
                <a16:creationId xmlns:a16="http://schemas.microsoft.com/office/drawing/2014/main" id="{74BF5D31-C802-5511-E1A1-34DAF124960F}"/>
              </a:ext>
            </a:extLst>
          </p:cNvPr>
          <p:cNvPicPr>
            <a:picLocks noChangeAspect="1"/>
          </p:cNvPicPr>
          <p:nvPr userDrawn="1"/>
        </p:nvPicPr>
        <p:blipFill>
          <a:blip r:embed="rId3" cstate="print">
            <a:duotone>
              <a:prstClr val="black"/>
              <a:schemeClr val="tx2">
                <a:tint val="45000"/>
                <a:satMod val="400000"/>
              </a:schemeClr>
            </a:duotone>
            <a:extLst>
              <a:ext uri="{BEBA8EAE-BF5A-486C-A8C5-ECC9F3942E4B}">
                <a14:imgProps xmlns:a14="http://schemas.microsoft.com/office/drawing/2010/main">
                  <a14:imgLayer r:embed="rId4">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5" name="图片 4">
            <a:extLst>
              <a:ext uri="{FF2B5EF4-FFF2-40B4-BE49-F238E27FC236}">
                <a16:creationId xmlns:a16="http://schemas.microsoft.com/office/drawing/2014/main" id="{D51DAAEB-A801-F029-2DA0-673028BC1641}"/>
              </a:ext>
            </a:extLst>
          </p:cNvPr>
          <p:cNvPicPr>
            <a:picLocks noChangeAspect="1"/>
          </p:cNvPicPr>
          <p:nvPr userDrawn="1"/>
        </p:nvPicPr>
        <p:blipFill>
          <a:blip r:embed="rId5"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1539257511"/>
      </p:ext>
    </p:extLst>
  </p:cSld>
  <p:clrMapOvr>
    <a:overrideClrMapping bg1="lt1" tx1="dk1" bg2="lt2" tx2="dk2" accent1="accent1" accent2="accent2" accent3="accent3" accent4="accent4" accent5="accent5" accent6="accent6" hlink="hlink" folHlink="folHlink"/>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2_节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04B5FBE3-2983-7A7E-EDBF-7AD37AC20D3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标题 1"/>
          <p:cNvSpPr>
            <a:spLocks noGrp="1"/>
          </p:cNvSpPr>
          <p:nvPr>
            <p:ph type="title"/>
          </p:nvPr>
        </p:nvSpPr>
        <p:spPr>
          <a:xfrm>
            <a:off x="788155" y="2458832"/>
            <a:ext cx="10363200" cy="1362075"/>
          </a:xfrm>
          <a:prstGeom prst="rect">
            <a:avLst/>
          </a:prstGeom>
        </p:spPr>
        <p:txBody>
          <a:bodyPr anchor="t">
            <a:normAutofit/>
          </a:bodyPr>
          <a:lstStyle>
            <a:lvl1pPr algn="ctr">
              <a:defRPr sz="4400" b="1" cap="all">
                <a:solidFill>
                  <a:schemeClr val="accent1"/>
                </a:solidFill>
              </a:defRPr>
            </a:lvl1pPr>
          </a:lstStyle>
          <a:p>
            <a:endParaRPr lang="zh-CN" altLang="en-US" dirty="0"/>
          </a:p>
        </p:txBody>
      </p:sp>
      <p:pic>
        <p:nvPicPr>
          <p:cNvPr id="3" name="图片 2">
            <a:extLst>
              <a:ext uri="{FF2B5EF4-FFF2-40B4-BE49-F238E27FC236}">
                <a16:creationId xmlns:a16="http://schemas.microsoft.com/office/drawing/2014/main" id="{2B64EF90-A043-CF53-4A64-26B4932B7055}"/>
              </a:ext>
            </a:extLst>
          </p:cNvPr>
          <p:cNvPicPr>
            <a:picLocks noChangeAspect="1"/>
          </p:cNvPicPr>
          <p:nvPr userDrawn="1"/>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4" name="图片 3">
            <a:extLst>
              <a:ext uri="{FF2B5EF4-FFF2-40B4-BE49-F238E27FC236}">
                <a16:creationId xmlns:a16="http://schemas.microsoft.com/office/drawing/2014/main" id="{7FF88E22-8B91-66CE-8127-F4DF49D0C47F}"/>
              </a:ext>
            </a:extLst>
          </p:cNvPr>
          <p:cNvPicPr>
            <a:picLocks noChangeAspect="1"/>
          </p:cNvPicPr>
          <p:nvPr userDrawn="1"/>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1047257029"/>
      </p:ext>
    </p:extLst>
  </p:cSld>
  <p:clrMapOvr>
    <a:overrideClrMapping bg1="lt1" tx1="dk1" bg2="lt2" tx2="dk2" accent1="accent1" accent2="accent2" accent3="accent3" accent4="accent4" accent5="accent5" accent6="accent6" hlink="hlink" folHlink="folHlink"/>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3_节标题">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AD9F9ABC-0F7B-6DEB-6195-893CD20C74E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Text Placeholder 4">
            <a:extLst>
              <a:ext uri="{FF2B5EF4-FFF2-40B4-BE49-F238E27FC236}">
                <a16:creationId xmlns:a16="http://schemas.microsoft.com/office/drawing/2014/main" id="{7AF4A77F-477A-42CF-AB01-C5164F0848BA}"/>
              </a:ext>
            </a:extLst>
          </p:cNvPr>
          <p:cNvSpPr>
            <a:spLocks noGrp="1"/>
          </p:cNvSpPr>
          <p:nvPr>
            <p:ph type="body" sz="quarter" idx="10"/>
          </p:nvPr>
        </p:nvSpPr>
        <p:spPr>
          <a:xfrm>
            <a:off x="3447433" y="3111089"/>
            <a:ext cx="4607238" cy="794990"/>
          </a:xfrm>
        </p:spPr>
        <p:txBody>
          <a:bodyPr wrap="none">
            <a:noAutofit/>
          </a:bodyPr>
          <a:lstStyle>
            <a:lvl1pPr marL="0" indent="0" algn="ctr">
              <a:buNone/>
              <a:defRPr sz="4400" b="1" i="0">
                <a:solidFill>
                  <a:schemeClr val="tx1"/>
                </a:solidFill>
                <a:latin typeface="+mj-lt"/>
              </a:defRPr>
            </a:lvl1pPr>
            <a:lvl2pPr marL="457166" indent="0">
              <a:buNone/>
              <a:defRPr b="1">
                <a:solidFill>
                  <a:schemeClr val="bg1"/>
                </a:solidFill>
              </a:defRPr>
            </a:lvl2pPr>
            <a:lvl3pPr marL="914330" indent="0">
              <a:buNone/>
              <a:defRPr b="1">
                <a:solidFill>
                  <a:schemeClr val="bg1"/>
                </a:solidFill>
              </a:defRPr>
            </a:lvl3pPr>
            <a:lvl4pPr marL="1371496" indent="0">
              <a:buNone/>
              <a:defRPr b="1">
                <a:solidFill>
                  <a:schemeClr val="bg1"/>
                </a:solidFill>
              </a:defRPr>
            </a:lvl4pPr>
            <a:lvl5pPr marL="1828663" indent="0">
              <a:buNone/>
              <a:defRPr b="1">
                <a:solidFill>
                  <a:schemeClr val="bg1"/>
                </a:solidFill>
              </a:defRPr>
            </a:lvl5pPr>
          </a:lstStyle>
          <a:p>
            <a:pPr lvl="0"/>
            <a:endParaRPr lang="zh-CN" altLang="en-US" dirty="0"/>
          </a:p>
        </p:txBody>
      </p:sp>
      <p:pic>
        <p:nvPicPr>
          <p:cNvPr id="2" name="图片 1">
            <a:extLst>
              <a:ext uri="{FF2B5EF4-FFF2-40B4-BE49-F238E27FC236}">
                <a16:creationId xmlns:a16="http://schemas.microsoft.com/office/drawing/2014/main" id="{1D90DB62-1BC7-5189-C42C-3D9961ED2577}"/>
              </a:ext>
            </a:extLst>
          </p:cNvPr>
          <p:cNvPicPr>
            <a:picLocks noChangeAspect="1"/>
          </p:cNvPicPr>
          <p:nvPr userDrawn="1"/>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3" name="图片 2">
            <a:extLst>
              <a:ext uri="{FF2B5EF4-FFF2-40B4-BE49-F238E27FC236}">
                <a16:creationId xmlns:a16="http://schemas.microsoft.com/office/drawing/2014/main" id="{0C6513E3-AF68-087D-8BA6-B5B4CB4517E2}"/>
              </a:ext>
            </a:extLst>
          </p:cNvPr>
          <p:cNvPicPr>
            <a:picLocks noChangeAspect="1"/>
          </p:cNvPicPr>
          <p:nvPr userDrawn="1"/>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4240627152"/>
      </p:ext>
    </p:extLst>
  </p:cSld>
  <p:clrMapOvr>
    <a:overrideClrMapping bg1="lt1" tx1="dk1" bg2="lt2" tx2="dk2" accent1="accent1" accent2="accent2" accent3="accent3" accent4="accent4" accent5="accent5" accent6="accent6" hlink="hlink" folHlink="folHlink"/>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userDrawn="1">
  <p:cSld name="1_末尾幻灯片">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1880324D-53AD-EC4E-B92F-83312C80ED4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14" name="Rectangle 13">
            <a:extLst>
              <a:ext uri="{FF2B5EF4-FFF2-40B4-BE49-F238E27FC236}">
                <a16:creationId xmlns:a16="http://schemas.microsoft.com/office/drawing/2014/main" id="{4129C334-CACA-4BE1-A84C-41F6820FF127}"/>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Rectangle 14">
            <a:extLst>
              <a:ext uri="{FF2B5EF4-FFF2-40B4-BE49-F238E27FC236}">
                <a16:creationId xmlns:a16="http://schemas.microsoft.com/office/drawing/2014/main" id="{6907BCD2-9008-43D6-B003-96C575232D66}"/>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Freeform: Shape 10">
            <a:extLst>
              <a:ext uri="{FF2B5EF4-FFF2-40B4-BE49-F238E27FC236}">
                <a16:creationId xmlns:a16="http://schemas.microsoft.com/office/drawing/2014/main" id="{0A271160-581E-4BCE-BACF-7271659F1D01}"/>
              </a:ext>
            </a:extLst>
          </p:cNvPr>
          <p:cNvSpPr/>
          <p:nvPr/>
        </p:nvSpPr>
        <p:spPr>
          <a:xfrm>
            <a:off x="12191319" y="0"/>
            <a:ext cx="684" cy="13546"/>
          </a:xfrm>
          <a:custGeom>
            <a:avLst/>
            <a:gdLst>
              <a:gd name="connsiteX0" fmla="*/ 0 w 684"/>
              <a:gd name="connsiteY0" fmla="*/ 0 h 13546"/>
              <a:gd name="connsiteX1" fmla="*/ 684 w 684"/>
              <a:gd name="connsiteY1" fmla="*/ 0 h 13546"/>
              <a:gd name="connsiteX2" fmla="*/ 684 w 684"/>
              <a:gd name="connsiteY2" fmla="*/ 13546 h 13546"/>
              <a:gd name="connsiteX3" fmla="*/ 0 w 684"/>
              <a:gd name="connsiteY3" fmla="*/ 0 h 13546"/>
            </a:gdLst>
            <a:ahLst/>
            <a:cxnLst>
              <a:cxn ang="0">
                <a:pos x="connsiteX0" y="connsiteY0"/>
              </a:cxn>
              <a:cxn ang="0">
                <a:pos x="connsiteX1" y="connsiteY1"/>
              </a:cxn>
              <a:cxn ang="0">
                <a:pos x="connsiteX2" y="connsiteY2"/>
              </a:cxn>
              <a:cxn ang="0">
                <a:pos x="connsiteX3" y="connsiteY3"/>
              </a:cxn>
            </a:cxnLst>
            <a:rect l="l" t="t" r="r" b="b"/>
            <a:pathLst>
              <a:path w="684" h="13546">
                <a:moveTo>
                  <a:pt x="0" y="0"/>
                </a:moveTo>
                <a:lnTo>
                  <a:pt x="684" y="0"/>
                </a:lnTo>
                <a:lnTo>
                  <a:pt x="684" y="13546"/>
                </a:lnTo>
                <a:lnTo>
                  <a:pt x="0" y="0"/>
                </a:lnTo>
                <a:close/>
              </a:path>
            </a:pathLst>
          </a:custGeom>
          <a:solidFill>
            <a:schemeClr val="bg1"/>
          </a:solidFill>
          <a:ln w="14015" cap="flat">
            <a:noFill/>
            <a:prstDash val="solid"/>
            <a:miter/>
          </a:ln>
        </p:spPr>
        <p:txBody>
          <a:bodyPr wrap="square" rtlCol="0" anchor="ctr">
            <a:noAutofit/>
          </a:bodyPr>
          <a:lstStyle/>
          <a:p>
            <a:endParaRPr lang="zh-CN" altLang="en-US" sz="1800">
              <a:solidFill>
                <a:schemeClr val="tx1"/>
              </a:solidFill>
            </a:endParaRPr>
          </a:p>
        </p:txBody>
      </p:sp>
      <p:sp>
        <p:nvSpPr>
          <p:cNvPr id="27" name="Text Placeholder 26">
            <a:extLst>
              <a:ext uri="{FF2B5EF4-FFF2-40B4-BE49-F238E27FC236}">
                <a16:creationId xmlns:a16="http://schemas.microsoft.com/office/drawing/2014/main" id="{FEA7D86A-A334-4E0C-B01B-43F345A176DE}"/>
              </a:ext>
            </a:extLst>
          </p:cNvPr>
          <p:cNvSpPr>
            <a:spLocks noGrp="1"/>
          </p:cNvSpPr>
          <p:nvPr>
            <p:ph type="body" sz="quarter" idx="12" hasCustomPrompt="1"/>
          </p:nvPr>
        </p:nvSpPr>
        <p:spPr>
          <a:xfrm>
            <a:off x="8314441" y="6082576"/>
            <a:ext cx="3204458" cy="230832"/>
          </a:xfrm>
        </p:spPr>
        <p:txBody>
          <a:bodyPr vert="horz" wrap="none" lIns="91440" tIns="45720" rIns="91440" bIns="45720" rtlCol="0" anchor="ctr">
            <a:noAutofit/>
          </a:bodyPr>
          <a:lstStyle>
            <a:lvl1pPr>
              <a:defRPr lang="en-US" altLang="zh-CN" sz="1600" b="1" dirty="0">
                <a:ln>
                  <a:noFill/>
                </a:ln>
                <a:solidFill>
                  <a:schemeClr val="accent1"/>
                </a:solidFill>
                <a:latin typeface="+mj-lt"/>
                <a:ea typeface="+mj-ea"/>
                <a:cs typeface="+mj-cs"/>
              </a:defRPr>
            </a:lvl1pPr>
          </a:lstStyle>
          <a:p>
            <a:pPr marL="228573" marR="0" lvl="0" indent="-228573" algn="r" defTabSz="914332" rtl="0" eaLnBrk="1" fontAlgn="auto" latinLnBrk="0" hangingPunct="1">
              <a:lnSpc>
                <a:spcPct val="90000"/>
              </a:lnSpc>
              <a:spcBef>
                <a:spcPct val="0"/>
              </a:spcBef>
              <a:spcAft>
                <a:spcPts val="0"/>
              </a:spcAft>
              <a:buClrTx/>
              <a:buSzTx/>
              <a:buFont typeface="Arial" panose="020B0604020202020204" pitchFamily="34" charset="0"/>
              <a:buNone/>
              <a:tabLst/>
              <a:defRPr/>
            </a:pPr>
            <a:r>
              <a:rPr lang="en-US" altLang="zh-CN" dirty="0"/>
              <a:t>Grit</a:t>
            </a:r>
          </a:p>
        </p:txBody>
      </p:sp>
      <p:sp>
        <p:nvSpPr>
          <p:cNvPr id="3" name="Text Placeholder 2">
            <a:extLst>
              <a:ext uri="{FF2B5EF4-FFF2-40B4-BE49-F238E27FC236}">
                <a16:creationId xmlns:a16="http://schemas.microsoft.com/office/drawing/2014/main" id="{FC1A48BB-A1A1-4744-B0D3-FD4F42C33B9B}"/>
              </a:ext>
            </a:extLst>
          </p:cNvPr>
          <p:cNvSpPr>
            <a:spLocks noGrp="1"/>
          </p:cNvSpPr>
          <p:nvPr>
            <p:ph type="body" sz="quarter" idx="13" hasCustomPrompt="1"/>
          </p:nvPr>
        </p:nvSpPr>
        <p:spPr>
          <a:xfrm>
            <a:off x="714723" y="2737247"/>
            <a:ext cx="5842001" cy="1383506"/>
          </a:xfrm>
        </p:spPr>
        <p:txBody>
          <a:bodyPr vert="horz" lIns="91440" tIns="45720" rIns="91440" bIns="45720" rtlCol="0" anchor="b">
            <a:noAutofit/>
          </a:bodyPr>
          <a:lstStyle>
            <a:lvl1pPr algn="l">
              <a:defRPr lang="en-US" altLang="zh-CN" sz="8000" b="1" i="0" dirty="0">
                <a:solidFill>
                  <a:srgbClr val="FFFFFF"/>
                </a:solidFill>
                <a:latin typeface="+mj-lt"/>
                <a:ea typeface="+mj-ea"/>
                <a:cs typeface="+mj-cs"/>
              </a:defRPr>
            </a:lvl1pPr>
          </a:lstStyle>
          <a:p>
            <a:pPr lvl="0">
              <a:spcBef>
                <a:spcPct val="0"/>
              </a:spcBef>
              <a:buNone/>
            </a:pPr>
            <a:r>
              <a:rPr lang="en-US" altLang="zh-CN" dirty="0"/>
              <a:t>Thank you</a:t>
            </a:r>
          </a:p>
        </p:txBody>
      </p:sp>
      <p:pic>
        <p:nvPicPr>
          <p:cNvPr id="7" name="图片 6">
            <a:extLst>
              <a:ext uri="{FF2B5EF4-FFF2-40B4-BE49-F238E27FC236}">
                <a16:creationId xmlns:a16="http://schemas.microsoft.com/office/drawing/2014/main" id="{ACA91101-6551-CFAC-38BE-CAD07DFA046C}"/>
              </a:ext>
            </a:extLst>
          </p:cNvPr>
          <p:cNvPicPr>
            <a:picLocks noChangeAspect="1"/>
          </p:cNvPicPr>
          <p:nvPr userDrawn="1"/>
        </p:nvPicPr>
        <p:blipFill>
          <a:blip r:embed="rId3" cstate="print">
            <a:duotone>
              <a:schemeClr val="bg2">
                <a:shade val="45000"/>
                <a:satMod val="135000"/>
              </a:schemeClr>
              <a:prstClr val="white"/>
            </a:duotone>
            <a:extLst>
              <a:ext uri="{BEBA8EAE-BF5A-486C-A8C5-ECC9F3942E4B}">
                <a14:imgProps xmlns:a14="http://schemas.microsoft.com/office/drawing/2010/main">
                  <a14:imgLayer r:embed="rId4">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8213598" y="2801933"/>
            <a:ext cx="3516518" cy="1579597"/>
          </a:xfrm>
          <a:prstGeom prst="rect">
            <a:avLst/>
          </a:prstGeom>
        </p:spPr>
      </p:pic>
      <p:pic>
        <p:nvPicPr>
          <p:cNvPr id="4" name="图片 3">
            <a:extLst>
              <a:ext uri="{FF2B5EF4-FFF2-40B4-BE49-F238E27FC236}">
                <a16:creationId xmlns:a16="http://schemas.microsoft.com/office/drawing/2014/main" id="{16367A13-8D37-4D16-02BF-867DB1639451}"/>
              </a:ext>
            </a:extLst>
          </p:cNvPr>
          <p:cNvPicPr>
            <a:picLocks noChangeAspect="1"/>
          </p:cNvPicPr>
          <p:nvPr userDrawn="1"/>
        </p:nvPicPr>
        <p:blipFill>
          <a:blip r:embed="rId5" cstate="print">
            <a:duotone>
              <a:prstClr val="black"/>
              <a:schemeClr val="tx2">
                <a:tint val="45000"/>
                <a:satMod val="400000"/>
              </a:schemeClr>
            </a:duotone>
            <a:extLst>
              <a:ext uri="{BEBA8EAE-BF5A-486C-A8C5-ECC9F3942E4B}">
                <a14:imgProps xmlns:a14="http://schemas.microsoft.com/office/drawing/2010/main">
                  <a14:imgLayer r:embed="rId6">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5" name="图片 4">
            <a:extLst>
              <a:ext uri="{FF2B5EF4-FFF2-40B4-BE49-F238E27FC236}">
                <a16:creationId xmlns:a16="http://schemas.microsoft.com/office/drawing/2014/main" id="{0BEF51FA-017F-F0D1-9466-B21881B7CA77}"/>
              </a:ext>
            </a:extLst>
          </p:cNvPr>
          <p:cNvPicPr>
            <a:picLocks noChangeAspect="1"/>
          </p:cNvPicPr>
          <p:nvPr userDrawn="1"/>
        </p:nvPicPr>
        <p:blipFill>
          <a:blip r:embed="rId7"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3184938629"/>
      </p:ext>
    </p:extLst>
  </p:cSld>
  <p:clrMapOvr>
    <a:overrideClrMapping bg1="lt1" tx1="dk1" bg2="lt2" tx2="dk2" accent1="accent1" accent2="accent2" accent3="accent3" accent4="accent4" accent5="accent5" accent6="accent6" hlink="hlink" folHlink="folHlink"/>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preserve="1" userDrawn="1">
  <p:cSld name="2_Title Slide">
    <p:spTree>
      <p:nvGrpSpPr>
        <p:cNvPr id="1" name=""/>
        <p:cNvGrpSpPr/>
        <p:nvPr/>
      </p:nvGrpSpPr>
      <p:grpSpPr>
        <a:xfrm>
          <a:off x="0" y="0"/>
          <a:ext cx="0" cy="0"/>
          <a:chOff x="0" y="0"/>
          <a:chExt cx="0" cy="0"/>
        </a:xfrm>
      </p:grpSpPr>
      <p:grpSp>
        <p:nvGrpSpPr>
          <p:cNvPr id="40" name="组合 39"/>
          <p:cNvGrpSpPr/>
          <p:nvPr/>
        </p:nvGrpSpPr>
        <p:grpSpPr>
          <a:xfrm>
            <a:off x="0" y="0"/>
            <a:ext cx="12192001" cy="6858001"/>
            <a:chOff x="0" y="0"/>
            <a:chExt cx="12192001" cy="6858001"/>
          </a:xfrm>
        </p:grpSpPr>
        <p:sp>
          <p:nvSpPr>
            <p:cNvPr id="26" name="任意多边形: 形状 25"/>
            <p:cNvSpPr/>
            <p:nvPr userDrawn="1"/>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userDrawn="1"/>
          </p:nvGrpSpPr>
          <p:grpSpPr>
            <a:xfrm rot="16200000">
              <a:off x="10661887" y="5765801"/>
              <a:ext cx="783772" cy="783772"/>
              <a:chOff x="9052852" y="3572185"/>
              <a:chExt cx="344753" cy="344753"/>
            </a:xfrm>
          </p:grpSpPr>
          <p:grpSp>
            <p:nvGrpSpPr>
              <p:cNvPr id="55" name="组合 54"/>
              <p:cNvGrpSpPr/>
              <p:nvPr userDrawn="1"/>
            </p:nvGrpSpPr>
            <p:grpSpPr>
              <a:xfrm flipV="1">
                <a:off x="9052852" y="3572185"/>
                <a:ext cx="344753" cy="344753"/>
                <a:chOff x="2909263" y="4352415"/>
                <a:chExt cx="93625" cy="93625"/>
              </a:xfrm>
            </p:grpSpPr>
            <p:sp>
              <p:nvSpPr>
                <p:cNvPr id="57" name="椭圆 56"/>
                <p:cNvSpPr/>
                <p:nvPr userDrawn="1"/>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userDrawn="1"/>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userDrawn="1"/>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8" name="标题 4">
            <a:extLst>
              <a:ext uri="{FF2B5EF4-FFF2-40B4-BE49-F238E27FC236}">
                <a16:creationId xmlns:a16="http://schemas.microsoft.com/office/drawing/2014/main" id="{D4E51AF3-4B86-C068-61E8-F89039CF3D69}"/>
              </a:ext>
            </a:extLst>
          </p:cNvPr>
          <p:cNvSpPr>
            <a:spLocks noGrp="1"/>
          </p:cNvSpPr>
          <p:nvPr>
            <p:ph type="ctrTitle" hasCustomPrompt="1"/>
          </p:nvPr>
        </p:nvSpPr>
        <p:spPr>
          <a:xfrm>
            <a:off x="4594541" y="1855139"/>
            <a:ext cx="6749372" cy="2587173"/>
          </a:xfrm>
          <a:prstGeom prst="rect">
            <a:avLst/>
          </a:prstGeom>
        </p:spPr>
        <p:txBody>
          <a:bodyPr wrap="square" anchor="b">
            <a:normAutofit/>
          </a:bodyPr>
          <a:lstStyle>
            <a:lvl1pPr algn="ctr">
              <a:lnSpc>
                <a:spcPct val="100000"/>
              </a:lnSpc>
              <a:defRPr sz="5400">
                <a:ln w="19050">
                  <a:noFill/>
                </a:ln>
                <a:solidFill>
                  <a:schemeClr val="tx1"/>
                </a:solidFill>
              </a:defRPr>
            </a:lvl1pPr>
          </a:lstStyle>
          <a:p>
            <a:pPr lvl="0"/>
            <a:r>
              <a:rPr lang="en-US" altLang="zh-CN" dirty="0"/>
              <a:t>Intelligent Planning     &amp; </a:t>
            </a:r>
            <a:br>
              <a:rPr lang="en-US" altLang="zh-CN" dirty="0"/>
            </a:br>
            <a:r>
              <a:rPr lang="en-US" altLang="zh-CN" dirty="0"/>
              <a:t>Control Tower</a:t>
            </a:r>
            <a:endParaRPr lang="en-US" dirty="0"/>
          </a:p>
        </p:txBody>
      </p:sp>
      <p:pic>
        <p:nvPicPr>
          <p:cNvPr id="3" name="图片 2">
            <a:extLst>
              <a:ext uri="{FF2B5EF4-FFF2-40B4-BE49-F238E27FC236}">
                <a16:creationId xmlns:a16="http://schemas.microsoft.com/office/drawing/2014/main" id="{28F19448-DCD7-2BCE-82BA-95A656302291}"/>
              </a:ext>
            </a:extLst>
          </p:cNvPr>
          <p:cNvPicPr>
            <a:picLocks noChangeAspect="1"/>
          </p:cNvPicPr>
          <p:nvPr userDrawn="1"/>
        </p:nvPicPr>
        <p:blipFill>
          <a:blip r:embed="rId5" cstate="print">
            <a:duotone>
              <a:prstClr val="black"/>
              <a:schemeClr val="tx2">
                <a:tint val="45000"/>
                <a:satMod val="400000"/>
              </a:schemeClr>
            </a:duotone>
            <a:extLst>
              <a:ext uri="{BEBA8EAE-BF5A-486C-A8C5-ECC9F3942E4B}">
                <a14:imgProps xmlns:a14="http://schemas.microsoft.com/office/drawing/2010/main">
                  <a14:imgLayer r:embed="rId6">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
        <p:nvSpPr>
          <p:cNvPr id="4" name="文本框 3">
            <a:extLst>
              <a:ext uri="{FF2B5EF4-FFF2-40B4-BE49-F238E27FC236}">
                <a16:creationId xmlns:a16="http://schemas.microsoft.com/office/drawing/2014/main" id="{7C0BEDAE-EB8C-24D6-C6AF-B8C73A0C8E8B}"/>
              </a:ext>
            </a:extLst>
          </p:cNvPr>
          <p:cNvSpPr txBox="1"/>
          <p:nvPr userDrawn="1"/>
        </p:nvSpPr>
        <p:spPr>
          <a:xfrm>
            <a:off x="1104756" y="2579023"/>
            <a:ext cx="1946564" cy="1107996"/>
          </a:xfrm>
          <a:prstGeom prst="rect">
            <a:avLst/>
          </a:prstGeom>
          <a:noFill/>
        </p:spPr>
        <p:txBody>
          <a:bodyPr wrap="square" rtlCol="0">
            <a:spAutoFit/>
          </a:bodyPr>
          <a:lstStyle/>
          <a:p>
            <a:r>
              <a:rPr lang="en-US" altLang="zh-CN" sz="6600" b="1" dirty="0">
                <a:latin typeface="+mj-ea"/>
                <a:ea typeface="+mj-ea"/>
              </a:rPr>
              <a:t>IPC</a:t>
            </a:r>
            <a:endParaRPr lang="zh-CN" altLang="en-US" sz="6600" b="1" dirty="0">
              <a:latin typeface="+mj-ea"/>
              <a:ea typeface="+mj-ea"/>
            </a:endParaRPr>
          </a:p>
        </p:txBody>
      </p:sp>
      <p:pic>
        <p:nvPicPr>
          <p:cNvPr id="2" name="图片 1">
            <a:extLst>
              <a:ext uri="{FF2B5EF4-FFF2-40B4-BE49-F238E27FC236}">
                <a16:creationId xmlns:a16="http://schemas.microsoft.com/office/drawing/2014/main" id="{0BEF51FA-017F-F0D1-9466-B21881B7CA77}"/>
              </a:ext>
            </a:extLst>
          </p:cNvPr>
          <p:cNvPicPr>
            <a:picLocks noChangeAspect="1"/>
          </p:cNvPicPr>
          <p:nvPr userDrawn="1"/>
        </p:nvPicPr>
        <p:blipFill>
          <a:blip r:embed="rId7"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5627437" y="3167173"/>
            <a:ext cx="937127" cy="523654"/>
          </a:xfrm>
          <a:prstGeom prst="rect">
            <a:avLst/>
          </a:prstGeom>
        </p:spPr>
      </p:pic>
      <p:pic>
        <p:nvPicPr>
          <p:cNvPr id="5" name="图片 4">
            <a:extLst>
              <a:ext uri="{FF2B5EF4-FFF2-40B4-BE49-F238E27FC236}">
                <a16:creationId xmlns:a16="http://schemas.microsoft.com/office/drawing/2014/main" id="{0BEF51FA-017F-F0D1-9466-B21881B7CA77}"/>
              </a:ext>
            </a:extLst>
          </p:cNvPr>
          <p:cNvPicPr>
            <a:picLocks noChangeAspect="1"/>
          </p:cNvPicPr>
          <p:nvPr userDrawn="1"/>
        </p:nvPicPr>
        <p:blipFill>
          <a:blip r:embed="rId7"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5779837" y="3319573"/>
            <a:ext cx="937127" cy="523654"/>
          </a:xfrm>
          <a:prstGeom prst="rect">
            <a:avLst/>
          </a:prstGeom>
        </p:spPr>
      </p:pic>
    </p:spTree>
    <p:extLst>
      <p:ext uri="{BB962C8B-B14F-4D97-AF65-F5344CB8AC3E}">
        <p14:creationId xmlns:p14="http://schemas.microsoft.com/office/powerpoint/2010/main" val="2595091314"/>
      </p:ext>
    </p:extLst>
  </p:cSld>
  <p:clrMapOvr>
    <a:overrideClrMapping bg1="lt1" tx1="dk1" bg2="lt2" tx2="dk2" accent1="accent1" accent2="accent2" accent3="accent3" accent4="accent4" accent5="accent5" accent6="accent6" hlink="hlink" folHlink="folHlink"/>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3_空白">
    <p:spTree>
      <p:nvGrpSpPr>
        <p:cNvPr id="1" name=""/>
        <p:cNvGrpSpPr/>
        <p:nvPr/>
      </p:nvGrpSpPr>
      <p:grpSpPr>
        <a:xfrm>
          <a:off x="0" y="0"/>
          <a:ext cx="0" cy="0"/>
          <a:chOff x="0" y="0"/>
          <a:chExt cx="0" cy="0"/>
        </a:xfrm>
      </p:grpSpPr>
      <p:sp>
        <p:nvSpPr>
          <p:cNvPr id="5" name="矩形 4"/>
          <p:cNvSpPr/>
          <p:nvPr/>
        </p:nvSpPr>
        <p:spPr>
          <a:xfrm>
            <a:off x="0" y="6729413"/>
            <a:ext cx="12192000" cy="128587"/>
          </a:xfrm>
          <a:prstGeom prst="rect">
            <a:avLst/>
          </a:prstGeom>
          <a:gradFill>
            <a:gsLst>
              <a:gs pos="0">
                <a:schemeClr val="accent2"/>
              </a:gs>
              <a:gs pos="100000">
                <a:schemeClr val="accent1"/>
              </a:gs>
            </a:gsLst>
            <a:lin ang="10800000" scaled="1"/>
          </a:gradFill>
          <a:ln w="19050">
            <a:noFill/>
            <a:round/>
          </a:ln>
        </p:spPr>
        <p:txBody>
          <a:bodyPr vert="horz" wrap="square" lIns="91440" tIns="45720" rIns="91440" bIns="45720" numCol="1" spcCol="0" rtlCol="0" fromWordArt="0" anchor="ctr" anchorCtr="1" forceAA="0" compatLnSpc="1">
            <a:noAutofit/>
          </a:bodyPr>
          <a:lstStyle/>
          <a:p>
            <a:pPr lvl="0" algn="ctr"/>
            <a:endParaRPr lang="zh-CN" altLang="en-US" sz="1200" b="1">
              <a:solidFill>
                <a:schemeClr val="tx1"/>
              </a:solidFill>
            </a:endParaRPr>
          </a:p>
        </p:txBody>
      </p:sp>
    </p:spTree>
    <p:extLst>
      <p:ext uri="{BB962C8B-B14F-4D97-AF65-F5344CB8AC3E}">
        <p14:creationId xmlns:p14="http://schemas.microsoft.com/office/powerpoint/2010/main" val="222795332"/>
      </p:ext>
    </p:extLst>
  </p:cSld>
  <p:clrMapOvr>
    <a:overrideClrMapping bg1="lt1" tx1="dk1" bg2="lt2" tx2="dk2" accent1="accent1" accent2="accent2" accent3="accent3" accent4="accent4" accent5="accent5" accent6="accent6" hlink="hlink" folHlink="folHlink"/>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p:cSld name="1_标题幻灯片">
    <p:spTree>
      <p:nvGrpSpPr>
        <p:cNvPr id="1" name=""/>
        <p:cNvGrpSpPr/>
        <p:nvPr/>
      </p:nvGrpSpPr>
      <p:grpSpPr>
        <a:xfrm>
          <a:off x="0" y="0"/>
          <a:ext cx="0" cy="0"/>
          <a:chOff x="0" y="0"/>
          <a:chExt cx="0" cy="0"/>
        </a:xfrm>
      </p:grpSpPr>
      <p:pic>
        <p:nvPicPr>
          <p:cNvPr id="19" name="图片 18">
            <a:extLst>
              <a:ext uri="{FF2B5EF4-FFF2-40B4-BE49-F238E27FC236}">
                <a16:creationId xmlns:a16="http://schemas.microsoft.com/office/drawing/2014/main" id="{BE0DAE40-464B-542A-F3CA-72C57176CEA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200452" cy="7039661"/>
          </a:xfrm>
          <a:prstGeom prst="rect">
            <a:avLst/>
          </a:prstGeom>
        </p:spPr>
      </p:pic>
      <p:sp>
        <p:nvSpPr>
          <p:cNvPr id="2" name="Rectangle 3">
            <a:extLst>
              <a:ext uri="{FF2B5EF4-FFF2-40B4-BE49-F238E27FC236}">
                <a16:creationId xmlns:a16="http://schemas.microsoft.com/office/drawing/2014/main" id="{12F37E50-CF33-4241-AF80-F4953C679288}"/>
              </a:ext>
            </a:extLst>
          </p:cNvPr>
          <p:cNvSpPr/>
          <p:nvPr/>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Rectangle 11">
            <a:extLst>
              <a:ext uri="{FF2B5EF4-FFF2-40B4-BE49-F238E27FC236}">
                <a16:creationId xmlns:a16="http://schemas.microsoft.com/office/drawing/2014/main" id="{0F60084F-F637-4FA4-BE35-D702CF6DAA6A}"/>
              </a:ext>
            </a:extLst>
          </p:cNvPr>
          <p:cNvSpPr/>
          <p:nvPr/>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Title 1">
            <a:extLst>
              <a:ext uri="{FF2B5EF4-FFF2-40B4-BE49-F238E27FC236}">
                <a16:creationId xmlns:a16="http://schemas.microsoft.com/office/drawing/2014/main" id="{2869597B-F909-5F67-0679-C0ADB832BB0C}"/>
              </a:ext>
            </a:extLst>
          </p:cNvPr>
          <p:cNvSpPr>
            <a:spLocks noGrp="1"/>
          </p:cNvSpPr>
          <p:nvPr>
            <p:ph type="ctrTitle" hasCustomPrompt="1"/>
          </p:nvPr>
        </p:nvSpPr>
        <p:spPr>
          <a:xfrm>
            <a:off x="1027460" y="2767054"/>
            <a:ext cx="5200650" cy="1794141"/>
          </a:xfrm>
          <a:noFill/>
          <a:ln>
            <a:noFill/>
          </a:ln>
        </p:spPr>
        <p:txBody>
          <a:bodyPr vert="horz" wrap="square" lIns="91440" tIns="45720" rIns="91440" bIns="45720" rtlCol="0" anchor="b">
            <a:noAutofit/>
          </a:bodyPr>
          <a:lstStyle>
            <a:lvl1pPr algn="ctr">
              <a:defRPr lang="zh-CN" altLang="en-US" sz="4400" i="0" dirty="0">
                <a:solidFill>
                  <a:schemeClr val="tx1"/>
                </a:solidFill>
              </a:defRPr>
            </a:lvl1pPr>
          </a:lstStyle>
          <a:p>
            <a:pPr lvl="0"/>
            <a:r>
              <a:rPr lang="en-US" altLang="zh-CN" dirty="0"/>
              <a:t>Click to edit Master title style </a:t>
            </a:r>
            <a:endParaRPr lang="zh-CN" altLang="en-US" dirty="0"/>
          </a:p>
        </p:txBody>
      </p:sp>
      <p:cxnSp>
        <p:nvCxnSpPr>
          <p:cNvPr id="8" name="Straight Connector 13">
            <a:extLst>
              <a:ext uri="{FF2B5EF4-FFF2-40B4-BE49-F238E27FC236}">
                <a16:creationId xmlns:a16="http://schemas.microsoft.com/office/drawing/2014/main" id="{A7BE3E13-E4E5-2397-0174-77949629B0D5}"/>
              </a:ext>
            </a:extLst>
          </p:cNvPr>
          <p:cNvCxnSpPr>
            <a:cxnSpLocks/>
          </p:cNvCxnSpPr>
          <p:nvPr/>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4" name="图片 3">
            <a:extLst>
              <a:ext uri="{FF2B5EF4-FFF2-40B4-BE49-F238E27FC236}">
                <a16:creationId xmlns:a16="http://schemas.microsoft.com/office/drawing/2014/main" id="{E96A4A0C-29EC-8C3E-D594-13ECAD0B336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Rectangle 3">
            <a:extLst>
              <a:ext uri="{FF2B5EF4-FFF2-40B4-BE49-F238E27FC236}">
                <a16:creationId xmlns:a16="http://schemas.microsoft.com/office/drawing/2014/main" id="{A1C87679-80C6-AE99-8DAA-AABF3C22FC41}"/>
              </a:ext>
            </a:extLst>
          </p:cNvPr>
          <p:cNvSpPr/>
          <p:nvPr/>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Rectangle 11">
            <a:extLst>
              <a:ext uri="{FF2B5EF4-FFF2-40B4-BE49-F238E27FC236}">
                <a16:creationId xmlns:a16="http://schemas.microsoft.com/office/drawing/2014/main" id="{066661E8-8677-3293-5AAC-326D368AABAB}"/>
              </a:ext>
            </a:extLst>
          </p:cNvPr>
          <p:cNvSpPr/>
          <p:nvPr/>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9" name="Straight Connector 13">
            <a:extLst>
              <a:ext uri="{FF2B5EF4-FFF2-40B4-BE49-F238E27FC236}">
                <a16:creationId xmlns:a16="http://schemas.microsoft.com/office/drawing/2014/main" id="{DC9115AD-2831-67A5-AD90-EEEFA56EA9EF}"/>
              </a:ext>
            </a:extLst>
          </p:cNvPr>
          <p:cNvCxnSpPr>
            <a:cxnSpLocks/>
          </p:cNvCxnSpPr>
          <p:nvPr/>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10" name="图片 9">
            <a:extLst>
              <a:ext uri="{FF2B5EF4-FFF2-40B4-BE49-F238E27FC236}">
                <a16:creationId xmlns:a16="http://schemas.microsoft.com/office/drawing/2014/main" id="{81114C14-9BAA-470F-E3EF-5D0EA90EE792}"/>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11" name="图片 10">
            <a:extLst>
              <a:ext uri="{FF2B5EF4-FFF2-40B4-BE49-F238E27FC236}">
                <a16:creationId xmlns:a16="http://schemas.microsoft.com/office/drawing/2014/main" id="{0C8A08A5-2F8F-C0CD-6BE3-8EF426240607}"/>
              </a:ext>
            </a:extLst>
          </p:cNvPr>
          <p:cNvPicPr>
            <a:picLocks noChangeAspect="1"/>
          </p:cNvPicPr>
          <p:nvPr/>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4259186594"/>
      </p:ext>
    </p:extLst>
  </p:cSld>
  <p:clrMapOvr>
    <a:overrideClrMapping bg1="lt1" tx1="dk1" bg2="lt2" tx2="dk2" accent1="accent1" accent2="accent2" accent3="accent3" accent4="accent4" accent5="accent5" accent6="accent6" hlink="hlink" folHlink="folHlink"/>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p:cSld name="标题幻灯片">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01C2BD55-C666-8B43-19FA-C2F61102392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Title 1">
            <a:extLst>
              <a:ext uri="{FF2B5EF4-FFF2-40B4-BE49-F238E27FC236}">
                <a16:creationId xmlns:a16="http://schemas.microsoft.com/office/drawing/2014/main" id="{53FD368F-863D-4527-8F6D-CEC87B7E23EE}"/>
              </a:ext>
            </a:extLst>
          </p:cNvPr>
          <p:cNvSpPr>
            <a:spLocks noGrp="1"/>
          </p:cNvSpPr>
          <p:nvPr>
            <p:ph type="ctrTitle"/>
          </p:nvPr>
        </p:nvSpPr>
        <p:spPr>
          <a:xfrm>
            <a:off x="1029470" y="1862477"/>
            <a:ext cx="5200650" cy="2605695"/>
          </a:xfrm>
          <a:noFill/>
          <a:ln>
            <a:noFill/>
          </a:ln>
        </p:spPr>
        <p:txBody>
          <a:bodyPr vert="horz" wrap="square" lIns="91440" tIns="45720" rIns="91440" bIns="45720" rtlCol="0" anchor="b">
            <a:noAutofit/>
          </a:bodyPr>
          <a:lstStyle>
            <a:lvl1pPr algn="ctr">
              <a:defRPr lang="zh-CN" altLang="en-US" sz="4400" i="0" dirty="0">
                <a:solidFill>
                  <a:schemeClr val="bg1"/>
                </a:solidFill>
              </a:defRPr>
            </a:lvl1pPr>
          </a:lstStyle>
          <a:p>
            <a:pPr lvl="0"/>
            <a:endParaRPr lang="zh-CN" altLang="en-US" dirty="0"/>
          </a:p>
        </p:txBody>
      </p:sp>
      <p:sp>
        <p:nvSpPr>
          <p:cNvPr id="4" name="Rectangle 3">
            <a:extLst>
              <a:ext uri="{FF2B5EF4-FFF2-40B4-BE49-F238E27FC236}">
                <a16:creationId xmlns:a16="http://schemas.microsoft.com/office/drawing/2014/main" id="{12F37E50-CF33-4241-AF80-F4953C679288}"/>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Rectangle 11">
            <a:extLst>
              <a:ext uri="{FF2B5EF4-FFF2-40B4-BE49-F238E27FC236}">
                <a16:creationId xmlns:a16="http://schemas.microsoft.com/office/drawing/2014/main" id="{0F60084F-F637-4FA4-BE35-D702CF6DAA6A}"/>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4" name="Straight Connector 13">
            <a:extLst>
              <a:ext uri="{FF2B5EF4-FFF2-40B4-BE49-F238E27FC236}">
                <a16:creationId xmlns:a16="http://schemas.microsoft.com/office/drawing/2014/main" id="{DC3C8D67-DBD4-4831-B956-FBC1F2BA8C47}"/>
              </a:ext>
            </a:extLst>
          </p:cNvPr>
          <p:cNvCxnSpPr>
            <a:cxnSpLocks/>
          </p:cNvCxnSpPr>
          <p:nvPr/>
        </p:nvCxnSpPr>
        <p:spPr>
          <a:xfrm flipV="1">
            <a:off x="957262" y="1862477"/>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7524805"/>
      </p:ext>
    </p:extLst>
  </p:cSld>
  <p:clrMapOvr>
    <a:overrideClrMapping bg1="lt1" tx1="dk1" bg2="lt2" tx2="dk2" accent1="accent1" accent2="accent2" accent3="accent3" accent4="accent4" accent5="accent5" accent6="accent6" hlink="hlink" folHlink="folHlink"/>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p:cSld name="节标题">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AD9F9ABC-0F7B-6DEB-6195-893CD20C74E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Text Placeholder 4">
            <a:extLst>
              <a:ext uri="{FF2B5EF4-FFF2-40B4-BE49-F238E27FC236}">
                <a16:creationId xmlns:a16="http://schemas.microsoft.com/office/drawing/2014/main" id="{7AF4A77F-477A-42CF-AB01-C5164F0848BA}"/>
              </a:ext>
            </a:extLst>
          </p:cNvPr>
          <p:cNvSpPr>
            <a:spLocks noGrp="1"/>
          </p:cNvSpPr>
          <p:nvPr>
            <p:ph type="body" sz="quarter" idx="10"/>
          </p:nvPr>
        </p:nvSpPr>
        <p:spPr>
          <a:xfrm>
            <a:off x="3447433" y="3111089"/>
            <a:ext cx="4607238" cy="794990"/>
          </a:xfrm>
        </p:spPr>
        <p:txBody>
          <a:bodyPr wrap="none">
            <a:noAutofit/>
          </a:bodyPr>
          <a:lstStyle>
            <a:lvl1pPr marL="0" indent="0" algn="ctr">
              <a:buNone/>
              <a:defRPr sz="4400" b="1" i="0">
                <a:solidFill>
                  <a:schemeClr val="bg1"/>
                </a:solidFill>
                <a:latin typeface="+mj-lt"/>
              </a:defRPr>
            </a:lvl1pPr>
            <a:lvl2pPr marL="457166" indent="0">
              <a:buNone/>
              <a:defRPr b="1">
                <a:solidFill>
                  <a:schemeClr val="bg1"/>
                </a:solidFill>
              </a:defRPr>
            </a:lvl2pPr>
            <a:lvl3pPr marL="914330" indent="0">
              <a:buNone/>
              <a:defRPr b="1">
                <a:solidFill>
                  <a:schemeClr val="bg1"/>
                </a:solidFill>
              </a:defRPr>
            </a:lvl3pPr>
            <a:lvl4pPr marL="1371496" indent="0">
              <a:buNone/>
              <a:defRPr b="1">
                <a:solidFill>
                  <a:schemeClr val="bg1"/>
                </a:solidFill>
              </a:defRPr>
            </a:lvl4pPr>
            <a:lvl5pPr marL="1828663" indent="0">
              <a:buNone/>
              <a:defRPr b="1">
                <a:solidFill>
                  <a:schemeClr val="bg1"/>
                </a:solidFill>
              </a:defRPr>
            </a:lvl5pPr>
          </a:lstStyle>
          <a:p>
            <a:pPr lvl="0"/>
            <a:endParaRPr lang="zh-CN" altLang="en-US" dirty="0"/>
          </a:p>
        </p:txBody>
      </p:sp>
    </p:spTree>
    <p:extLst>
      <p:ext uri="{BB962C8B-B14F-4D97-AF65-F5344CB8AC3E}">
        <p14:creationId xmlns:p14="http://schemas.microsoft.com/office/powerpoint/2010/main" val="2998643171"/>
      </p:ext>
    </p:extLst>
  </p:cSld>
  <p:clrMapOvr>
    <a:overrideClrMapping bg1="lt1" tx1="dk1" bg2="lt2" tx2="dk2" accent1="accent1" accent2="accent2" accent3="accent3" accent4="accent4" accent5="accent5" accent6="accent6" hlink="hlink" folHlink="folHlink"/>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5B5B30-EAE6-475D-9E77-B9C4E87F9C88}"/>
              </a:ext>
            </a:extLst>
          </p:cNvPr>
          <p:cNvSpPr>
            <a:spLocks noGrp="1"/>
          </p:cNvSpPr>
          <p:nvPr>
            <p:ph type="title"/>
          </p:nvPr>
        </p:nvSpPr>
        <p:spPr>
          <a:xfrm>
            <a:off x="1055988" y="63795"/>
            <a:ext cx="10858500" cy="565883"/>
          </a:xfrm>
        </p:spPr>
        <p:txBody>
          <a:bodyPr/>
          <a:lstStyle>
            <a:lvl1pPr>
              <a:defRPr>
                <a:solidFill>
                  <a:schemeClr val="bg1"/>
                </a:solidFill>
              </a:defRPr>
            </a:lvl1pPr>
          </a:lstStyle>
          <a:p>
            <a:endParaRPr lang="zh-CN" altLang="en-US" dirty="0"/>
          </a:p>
        </p:txBody>
      </p:sp>
      <p:sp>
        <p:nvSpPr>
          <p:cNvPr id="3" name="Freeform 5">
            <a:extLst>
              <a:ext uri="{FF2B5EF4-FFF2-40B4-BE49-F238E27FC236}">
                <a16:creationId xmlns:a16="http://schemas.microsoft.com/office/drawing/2014/main" id="{30EAF3CF-A2E7-6ECC-6A5B-97BFF20CBA8B}"/>
              </a:ext>
            </a:extLst>
          </p:cNvPr>
          <p:cNvSpPr>
            <a:spLocks noChangeAspect="1" noEditPoints="1"/>
          </p:cNvSpPr>
          <p:nvPr userDrawn="1"/>
        </p:nvSpPr>
        <p:spPr bwMode="black">
          <a:xfrm>
            <a:off x="630711" y="246442"/>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3803093823"/>
      </p:ext>
    </p:extLst>
  </p:cSld>
  <p:clrMapOvr>
    <a:overrideClrMapping bg1="lt1" tx1="dk1" bg2="lt2" tx2="dk2" accent1="accent1" accent2="accent2" accent3="accent3" accent4="accent4" accent5="accent5" accent6="accent6" hlink="hlink" folHlink="folHlink"/>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p:cSld name="空白">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52D1C7A1-2043-1669-5F8A-7B227BD7D30A}"/>
              </a:ext>
            </a:extLst>
          </p:cNvPr>
          <p:cNvSpPr>
            <a:spLocks noGrp="1"/>
          </p:cNvSpPr>
          <p:nvPr>
            <p:ph type="title"/>
          </p:nvPr>
        </p:nvSpPr>
        <p:spPr>
          <a:xfrm>
            <a:off x="825329" y="37213"/>
            <a:ext cx="10858500" cy="563581"/>
          </a:xfrm>
        </p:spPr>
        <p:txBody>
          <a:bodyPr/>
          <a:lstStyle>
            <a:lvl1pPr>
              <a:defRPr>
                <a:solidFill>
                  <a:schemeClr val="bg1"/>
                </a:solidFill>
              </a:defRPr>
            </a:lvl1pPr>
          </a:lstStyle>
          <a:p>
            <a:endParaRPr lang="zh-CN" altLang="en-US" dirty="0"/>
          </a:p>
        </p:txBody>
      </p:sp>
      <p:sp>
        <p:nvSpPr>
          <p:cNvPr id="2" name="Freeform 5">
            <a:extLst>
              <a:ext uri="{FF2B5EF4-FFF2-40B4-BE49-F238E27FC236}">
                <a16:creationId xmlns:a16="http://schemas.microsoft.com/office/drawing/2014/main" id="{8B2B53EC-7B47-E8AA-4EE2-A75948C99D9C}"/>
              </a:ext>
            </a:extLst>
          </p:cNvPr>
          <p:cNvSpPr>
            <a:spLocks noChangeAspect="1" noEditPoints="1"/>
          </p:cNvSpPr>
          <p:nvPr userDrawn="1"/>
        </p:nvSpPr>
        <p:spPr bwMode="black">
          <a:xfrm>
            <a:off x="460591" y="240913"/>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1840354479"/>
      </p:ext>
    </p:extLst>
  </p:cSld>
  <p:clrMapOvr>
    <a:overrideClrMapping bg1="lt1" tx1="dk1" bg2="lt2" tx2="dk2" accent1="accent1" accent2="accent2" accent3="accent3" accent4="accent4" accent5="accent5" accent6="accent6" hlink="hlink" folHlink="folHlink"/>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preserve="1">
  <p:cSld name="末尾幻灯片">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E8C971A2-91C0-0F12-DA53-E6784B322847}"/>
              </a:ext>
            </a:extLst>
          </p:cNvPr>
          <p:cNvPicPr>
            <a:picLocks noChangeAspect="1"/>
          </p:cNvPicPr>
          <p:nvPr/>
        </p:nvPicPr>
        <p:blipFill>
          <a:blip r:embed="rId2"/>
          <a:stretch>
            <a:fillRect/>
          </a:stretch>
        </p:blipFill>
        <p:spPr>
          <a:xfrm>
            <a:off x="7620000" y="13546"/>
            <a:ext cx="4576460" cy="6844454"/>
          </a:xfrm>
          <a:prstGeom prst="rect">
            <a:avLst/>
          </a:prstGeom>
        </p:spPr>
      </p:pic>
      <p:sp>
        <p:nvSpPr>
          <p:cNvPr id="14" name="Rectangle 13">
            <a:extLst>
              <a:ext uri="{FF2B5EF4-FFF2-40B4-BE49-F238E27FC236}">
                <a16:creationId xmlns:a16="http://schemas.microsoft.com/office/drawing/2014/main" id="{4129C334-CACA-4BE1-A84C-41F6820FF127}"/>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Rectangle 14">
            <a:extLst>
              <a:ext uri="{FF2B5EF4-FFF2-40B4-BE49-F238E27FC236}">
                <a16:creationId xmlns:a16="http://schemas.microsoft.com/office/drawing/2014/main" id="{6907BCD2-9008-43D6-B003-96C575232D66}"/>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Freeform: Shape 10">
            <a:extLst>
              <a:ext uri="{FF2B5EF4-FFF2-40B4-BE49-F238E27FC236}">
                <a16:creationId xmlns:a16="http://schemas.microsoft.com/office/drawing/2014/main" id="{0A271160-581E-4BCE-BACF-7271659F1D01}"/>
              </a:ext>
            </a:extLst>
          </p:cNvPr>
          <p:cNvSpPr/>
          <p:nvPr/>
        </p:nvSpPr>
        <p:spPr>
          <a:xfrm>
            <a:off x="12191319" y="0"/>
            <a:ext cx="684" cy="13546"/>
          </a:xfrm>
          <a:custGeom>
            <a:avLst/>
            <a:gdLst>
              <a:gd name="connsiteX0" fmla="*/ 0 w 684"/>
              <a:gd name="connsiteY0" fmla="*/ 0 h 13546"/>
              <a:gd name="connsiteX1" fmla="*/ 684 w 684"/>
              <a:gd name="connsiteY1" fmla="*/ 0 h 13546"/>
              <a:gd name="connsiteX2" fmla="*/ 684 w 684"/>
              <a:gd name="connsiteY2" fmla="*/ 13546 h 13546"/>
              <a:gd name="connsiteX3" fmla="*/ 0 w 684"/>
              <a:gd name="connsiteY3" fmla="*/ 0 h 13546"/>
            </a:gdLst>
            <a:ahLst/>
            <a:cxnLst>
              <a:cxn ang="0">
                <a:pos x="connsiteX0" y="connsiteY0"/>
              </a:cxn>
              <a:cxn ang="0">
                <a:pos x="connsiteX1" y="connsiteY1"/>
              </a:cxn>
              <a:cxn ang="0">
                <a:pos x="connsiteX2" y="connsiteY2"/>
              </a:cxn>
              <a:cxn ang="0">
                <a:pos x="connsiteX3" y="connsiteY3"/>
              </a:cxn>
            </a:cxnLst>
            <a:rect l="l" t="t" r="r" b="b"/>
            <a:pathLst>
              <a:path w="684" h="13546">
                <a:moveTo>
                  <a:pt x="0" y="0"/>
                </a:moveTo>
                <a:lnTo>
                  <a:pt x="684" y="0"/>
                </a:lnTo>
                <a:lnTo>
                  <a:pt x="684" y="13546"/>
                </a:lnTo>
                <a:lnTo>
                  <a:pt x="0" y="0"/>
                </a:lnTo>
                <a:close/>
              </a:path>
            </a:pathLst>
          </a:custGeom>
          <a:solidFill>
            <a:schemeClr val="bg1"/>
          </a:solidFill>
          <a:ln w="14015" cap="flat">
            <a:noFill/>
            <a:prstDash val="solid"/>
            <a:miter/>
          </a:ln>
        </p:spPr>
        <p:txBody>
          <a:bodyPr wrap="square" rtlCol="0" anchor="ctr">
            <a:noAutofit/>
          </a:bodyPr>
          <a:lstStyle/>
          <a:p>
            <a:endParaRPr lang="zh-CN" altLang="en-US" sz="1800">
              <a:solidFill>
                <a:schemeClr val="tx1"/>
              </a:solidFill>
            </a:endParaRPr>
          </a:p>
        </p:txBody>
      </p:sp>
      <p:sp>
        <p:nvSpPr>
          <p:cNvPr id="27" name="Text Placeholder 26">
            <a:extLst>
              <a:ext uri="{FF2B5EF4-FFF2-40B4-BE49-F238E27FC236}">
                <a16:creationId xmlns:a16="http://schemas.microsoft.com/office/drawing/2014/main" id="{FEA7D86A-A334-4E0C-B01B-43F345A176DE}"/>
              </a:ext>
            </a:extLst>
          </p:cNvPr>
          <p:cNvSpPr>
            <a:spLocks noGrp="1"/>
          </p:cNvSpPr>
          <p:nvPr>
            <p:ph type="body" sz="quarter" idx="12" hasCustomPrompt="1"/>
          </p:nvPr>
        </p:nvSpPr>
        <p:spPr>
          <a:xfrm>
            <a:off x="8314441" y="6082576"/>
            <a:ext cx="3204458" cy="230832"/>
          </a:xfrm>
        </p:spPr>
        <p:txBody>
          <a:bodyPr vert="horz" wrap="none" lIns="91440" tIns="45720" rIns="91440" bIns="45720" rtlCol="0" anchor="ctr">
            <a:noAutofit/>
          </a:bodyPr>
          <a:lstStyle>
            <a:lvl1pPr>
              <a:defRPr lang="en-US" altLang="zh-CN" sz="1600" b="1" dirty="0">
                <a:ln>
                  <a:noFill/>
                </a:ln>
                <a:solidFill>
                  <a:schemeClr val="accent1"/>
                </a:solidFill>
                <a:latin typeface="+mj-lt"/>
                <a:ea typeface="+mj-ea"/>
                <a:cs typeface="+mj-cs"/>
              </a:defRPr>
            </a:lvl1pPr>
          </a:lstStyle>
          <a:p>
            <a:pPr marL="228573" marR="0" lvl="0" indent="-228573" algn="r" defTabSz="914332" rtl="0" eaLnBrk="1" fontAlgn="auto" latinLnBrk="0" hangingPunct="1">
              <a:lnSpc>
                <a:spcPct val="90000"/>
              </a:lnSpc>
              <a:spcBef>
                <a:spcPct val="0"/>
              </a:spcBef>
              <a:spcAft>
                <a:spcPts val="0"/>
              </a:spcAft>
              <a:buClrTx/>
              <a:buSzTx/>
              <a:buFont typeface="Arial" panose="020B0604020202020204" pitchFamily="34" charset="0"/>
              <a:buNone/>
              <a:tabLst/>
              <a:defRPr/>
            </a:pPr>
            <a:r>
              <a:rPr lang="en-US" altLang="zh-CN" dirty="0"/>
              <a:t>Speaker name and title</a:t>
            </a:r>
          </a:p>
        </p:txBody>
      </p:sp>
      <p:sp>
        <p:nvSpPr>
          <p:cNvPr id="3" name="Text Placeholder 2">
            <a:extLst>
              <a:ext uri="{FF2B5EF4-FFF2-40B4-BE49-F238E27FC236}">
                <a16:creationId xmlns:a16="http://schemas.microsoft.com/office/drawing/2014/main" id="{FC1A48BB-A1A1-4744-B0D3-FD4F42C33B9B}"/>
              </a:ext>
            </a:extLst>
          </p:cNvPr>
          <p:cNvSpPr>
            <a:spLocks noGrp="1"/>
          </p:cNvSpPr>
          <p:nvPr>
            <p:ph type="body" sz="quarter" idx="13" hasCustomPrompt="1"/>
          </p:nvPr>
        </p:nvSpPr>
        <p:spPr>
          <a:xfrm>
            <a:off x="714723" y="2737247"/>
            <a:ext cx="5842001" cy="1383506"/>
          </a:xfrm>
        </p:spPr>
        <p:txBody>
          <a:bodyPr vert="horz" lIns="91440" tIns="45720" rIns="91440" bIns="45720" rtlCol="0" anchor="b">
            <a:noAutofit/>
          </a:bodyPr>
          <a:lstStyle>
            <a:lvl1pPr algn="l">
              <a:defRPr lang="en-US" altLang="zh-CN" sz="8000" b="1" i="0" dirty="0">
                <a:solidFill>
                  <a:srgbClr val="FFFFFF"/>
                </a:solidFill>
                <a:latin typeface="+mj-lt"/>
                <a:ea typeface="+mj-ea"/>
                <a:cs typeface="+mj-cs"/>
              </a:defRPr>
            </a:lvl1pPr>
          </a:lstStyle>
          <a:p>
            <a:pPr lvl="0">
              <a:spcBef>
                <a:spcPct val="0"/>
              </a:spcBef>
              <a:buNone/>
            </a:pPr>
            <a:r>
              <a:rPr lang="en-US" altLang="zh-CN" dirty="0"/>
              <a:t>Thank you</a:t>
            </a:r>
          </a:p>
        </p:txBody>
      </p:sp>
      <p:pic>
        <p:nvPicPr>
          <p:cNvPr id="2" name="图片 1">
            <a:extLst>
              <a:ext uri="{FF2B5EF4-FFF2-40B4-BE49-F238E27FC236}">
                <a16:creationId xmlns:a16="http://schemas.microsoft.com/office/drawing/2014/main" id="{0808FB89-916C-2617-605B-3A71B8F3D40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pic>
        <p:nvPicPr>
          <p:cNvPr id="4" name="图片 3">
            <a:extLst>
              <a:ext uri="{FF2B5EF4-FFF2-40B4-BE49-F238E27FC236}">
                <a16:creationId xmlns:a16="http://schemas.microsoft.com/office/drawing/2014/main" id="{5B3BDEC6-F771-C16C-C365-03B2262F7C40}"/>
              </a:ext>
            </a:extLst>
          </p:cNvPr>
          <p:cNvPicPr>
            <a:picLocks noChangeAspect="1"/>
          </p:cNvPicPr>
          <p:nvPr/>
        </p:nvPicPr>
        <p:blipFill>
          <a:blip r:embed="rId4" cstate="print">
            <a:duotone>
              <a:schemeClr val="bg2">
                <a:shade val="45000"/>
                <a:satMod val="135000"/>
              </a:schemeClr>
              <a:prstClr val="white"/>
            </a:duotone>
            <a:extLst>
              <a:ext uri="{BEBA8EAE-BF5A-486C-A8C5-ECC9F3942E4B}">
                <a14:imgProps xmlns:a14="http://schemas.microsoft.com/office/drawing/2010/main">
                  <a14:imgLayer r:embed="rId5">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8213598" y="2801933"/>
            <a:ext cx="3516518" cy="1579597"/>
          </a:xfrm>
          <a:prstGeom prst="rect">
            <a:avLst/>
          </a:prstGeom>
        </p:spPr>
      </p:pic>
      <p:pic>
        <p:nvPicPr>
          <p:cNvPr id="5" name="图片 4">
            <a:extLst>
              <a:ext uri="{FF2B5EF4-FFF2-40B4-BE49-F238E27FC236}">
                <a16:creationId xmlns:a16="http://schemas.microsoft.com/office/drawing/2014/main" id="{18B5EE46-E2B2-EBF2-F5AC-5322A677557F}"/>
              </a:ext>
            </a:extLst>
          </p:cNvPr>
          <p:cNvPicPr>
            <a:picLocks noChangeAspect="1"/>
          </p:cNvPicPr>
          <p:nvPr/>
        </p:nvPicPr>
        <p:blipFill>
          <a:blip r:embed="rId6" cstate="print">
            <a:duotone>
              <a:prstClr val="black"/>
              <a:schemeClr val="tx2">
                <a:tint val="45000"/>
                <a:satMod val="400000"/>
              </a:schemeClr>
            </a:duotone>
            <a:extLst>
              <a:ext uri="{BEBA8EAE-BF5A-486C-A8C5-ECC9F3942E4B}">
                <a14:imgProps xmlns:a14="http://schemas.microsoft.com/office/drawing/2010/main">
                  <a14:imgLayer r:embed="rId7">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7" name="图片 6">
            <a:extLst>
              <a:ext uri="{FF2B5EF4-FFF2-40B4-BE49-F238E27FC236}">
                <a16:creationId xmlns:a16="http://schemas.microsoft.com/office/drawing/2014/main" id="{B23BCB1D-48BB-8E7F-1E38-42BFFA9E944D}"/>
              </a:ext>
            </a:extLst>
          </p:cNvPr>
          <p:cNvPicPr>
            <a:picLocks noChangeAspect="1"/>
          </p:cNvPicPr>
          <p:nvPr/>
        </p:nvPicPr>
        <p:blipFill>
          <a:blip r:embed="rId8"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1212462314"/>
      </p:ext>
    </p:extLst>
  </p:cSld>
  <p:clrMapOvr>
    <a:overrideClrMapping bg1="lt1" tx1="dk1" bg2="lt2" tx2="dk2" accent1="accent1" accent2="accent2" accent3="accent3" accent4="accent4" accent5="accent5" accent6="accent6" hlink="hlink" folHlink="folHlink"/>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p:cSld name="2_标题幻灯片">
    <p:spTree>
      <p:nvGrpSpPr>
        <p:cNvPr id="1" name=""/>
        <p:cNvGrpSpPr/>
        <p:nvPr/>
      </p:nvGrpSpPr>
      <p:grpSpPr>
        <a:xfrm>
          <a:off x="0" y="0"/>
          <a:ext cx="0" cy="0"/>
          <a:chOff x="0" y="0"/>
          <a:chExt cx="0" cy="0"/>
        </a:xfrm>
      </p:grpSpPr>
      <p:grpSp>
        <p:nvGrpSpPr>
          <p:cNvPr id="40" name="组合 39"/>
          <p:cNvGrpSpPr/>
          <p:nvPr/>
        </p:nvGrpSpPr>
        <p:grpSpPr>
          <a:xfrm>
            <a:off x="0" y="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9" name="副标题 8"/>
          <p:cNvSpPr>
            <a:spLocks noGrp="1"/>
          </p:cNvSpPr>
          <p:nvPr>
            <p:ph type="subTitle" sz="quarter" idx="1" hasCustomPrompt="1"/>
          </p:nvPr>
        </p:nvSpPr>
        <p:spPr>
          <a:xfrm>
            <a:off x="660400" y="4043221"/>
            <a:ext cx="5645151" cy="588651"/>
          </a:xfrm>
          <a:prstGeom prst="roundRect">
            <a:avLst>
              <a:gd name="adj" fmla="val 0"/>
            </a:avLst>
          </a:prstGeom>
          <a:noFill/>
          <a:ln>
            <a:noFill/>
          </a:ln>
        </p:spPr>
        <p:txBody>
          <a:bodyPr vert="horz" wrap="square" lIns="91440" tIns="45720" rIns="91440" bIns="45720" rtlCol="0" anchor="ctr" anchorCtr="0">
            <a:normAutofit/>
          </a:bodyPr>
          <a:lstStyle>
            <a:lvl1pPr marL="0" indent="0" algn="l">
              <a:lnSpc>
                <a:spcPct val="100000"/>
              </a:lnSpc>
              <a:buNone/>
              <a:defRPr lang="en-US" sz="1800" dirty="0">
                <a:solidFill>
                  <a:schemeClr val="tx1"/>
                </a:solidFill>
                <a:latin typeface="+mj-lt"/>
              </a:defRPr>
            </a:lvl1pPr>
          </a:lstStyle>
          <a:p>
            <a:pPr lvl="0"/>
            <a:r>
              <a:rPr lang="en-US"/>
              <a:t>Click to add subtitle</a:t>
            </a:r>
          </a:p>
        </p:txBody>
      </p:sp>
      <p:sp>
        <p:nvSpPr>
          <p:cNvPr id="4" name="文本占位符 3"/>
          <p:cNvSpPr>
            <a:spLocks noGrp="1"/>
          </p:cNvSpPr>
          <p:nvPr>
            <p:ph type="body" sz="quarter" idx="13" hasCustomPrompt="1"/>
          </p:nvPr>
        </p:nvSpPr>
        <p:spPr>
          <a:xfrm>
            <a:off x="660400" y="5497551"/>
            <a:ext cx="5645151" cy="276999"/>
          </a:xfrm>
          <a:prstGeom prst="rect">
            <a:avLst/>
          </a:prstGeom>
        </p:spPr>
        <p:txBody>
          <a:bodyPr wrap="square" lIns="90000">
            <a:normAutofit/>
          </a:bodyPr>
          <a:lstStyle>
            <a:lvl1pPr marL="0" indent="0" algn="l">
              <a:lnSpc>
                <a:spcPct val="100000"/>
              </a:lnSpc>
              <a:buNone/>
              <a:defRPr sz="1200"/>
            </a:lvl1pPr>
          </a:lstStyle>
          <a:p>
            <a:pPr lvl="0"/>
            <a:r>
              <a:rPr lang="en-US"/>
              <a:t>Presenter name</a:t>
            </a:r>
          </a:p>
        </p:txBody>
      </p:sp>
      <p:sp>
        <p:nvSpPr>
          <p:cNvPr id="7" name="文本占位符 6"/>
          <p:cNvSpPr>
            <a:spLocks noGrp="1"/>
          </p:cNvSpPr>
          <p:nvPr>
            <p:ph type="body" sz="quarter" idx="14" hasCustomPrompt="1"/>
          </p:nvPr>
        </p:nvSpPr>
        <p:spPr>
          <a:xfrm>
            <a:off x="660400" y="5857101"/>
            <a:ext cx="5645151" cy="276999"/>
          </a:xfrm>
          <a:prstGeom prst="rect">
            <a:avLst/>
          </a:prstGeom>
        </p:spPr>
        <p:txBody>
          <a:bodyPr wrap="none">
            <a:normAutofit/>
          </a:bodyPr>
          <a:lstStyle>
            <a:lvl1pPr marL="0" indent="0" algn="l">
              <a:lnSpc>
                <a:spcPct val="100000"/>
              </a:lnSpc>
              <a:buNone/>
              <a:defRPr sz="1200"/>
            </a:lvl1pPr>
          </a:lstStyle>
          <a:p>
            <a:pPr lvl="0"/>
            <a:r>
              <a:rPr lang="en-US"/>
              <a:t>www.officeplus.cn</a:t>
            </a:r>
          </a:p>
        </p:txBody>
      </p:sp>
      <p:sp>
        <p:nvSpPr>
          <p:cNvPr id="3" name="标题 4">
            <a:extLst>
              <a:ext uri="{FF2B5EF4-FFF2-40B4-BE49-F238E27FC236}">
                <a16:creationId xmlns:a16="http://schemas.microsoft.com/office/drawing/2014/main" id="{B5D391BF-A023-49D2-B62C-E02AC8635D69}"/>
              </a:ext>
            </a:extLst>
          </p:cNvPr>
          <p:cNvSpPr>
            <a:spLocks noGrp="1"/>
          </p:cNvSpPr>
          <p:nvPr>
            <p:ph type="ctrTitle"/>
          </p:nvPr>
        </p:nvSpPr>
        <p:spPr>
          <a:xfrm>
            <a:off x="3879504" y="1210338"/>
            <a:ext cx="6749372" cy="2587173"/>
          </a:xfrm>
          <a:prstGeom prst="rect">
            <a:avLst/>
          </a:prstGeom>
        </p:spPr>
        <p:txBody>
          <a:bodyPr wrap="square" anchor="b">
            <a:normAutofit/>
          </a:bodyPr>
          <a:lstStyle>
            <a:lvl1pPr algn="ctr">
              <a:lnSpc>
                <a:spcPct val="100000"/>
              </a:lnSpc>
              <a:defRPr sz="5400">
                <a:ln w="19050">
                  <a:noFill/>
                </a:ln>
                <a:solidFill>
                  <a:schemeClr val="bg1"/>
                </a:solidFill>
              </a:defRPr>
            </a:lvl1pPr>
          </a:lstStyle>
          <a:p>
            <a:pPr lvl="0"/>
            <a:endParaRPr lang="en-US" dirty="0"/>
          </a:p>
        </p:txBody>
      </p:sp>
      <p:pic>
        <p:nvPicPr>
          <p:cNvPr id="5" name="图片 4">
            <a:extLst>
              <a:ext uri="{FF2B5EF4-FFF2-40B4-BE49-F238E27FC236}">
                <a16:creationId xmlns:a16="http://schemas.microsoft.com/office/drawing/2014/main" id="{57ED4568-4D8D-7CE6-DBD3-61776C004218}"/>
              </a:ext>
            </a:extLst>
          </p:cNvPr>
          <p:cNvPicPr>
            <a:picLocks noChangeAspect="1"/>
          </p:cNvPicPr>
          <p:nvPr/>
        </p:nvPicPr>
        <p:blipFill>
          <a:blip r:embed="rId5" cstate="print">
            <a:duotone>
              <a:schemeClr val="bg2">
                <a:shade val="45000"/>
                <a:satMod val="135000"/>
              </a:schemeClr>
              <a:prstClr val="white"/>
            </a:duotone>
            <a:extLst>
              <a:ext uri="{BEBA8EAE-BF5A-486C-A8C5-ECC9F3942E4B}">
                <a14:imgProps xmlns:a14="http://schemas.microsoft.com/office/drawing/2010/main">
                  <a14:imgLayer r:embed="rId6">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145185" y="2818989"/>
            <a:ext cx="2178398" cy="978522"/>
          </a:xfrm>
          <a:prstGeom prst="rect">
            <a:avLst/>
          </a:prstGeom>
        </p:spPr>
      </p:pic>
    </p:spTree>
    <p:extLst>
      <p:ext uri="{BB962C8B-B14F-4D97-AF65-F5344CB8AC3E}">
        <p14:creationId xmlns:p14="http://schemas.microsoft.com/office/powerpoint/2010/main" val="3901459112"/>
      </p:ext>
    </p:extLst>
  </p:cSld>
  <p:clrMapOvr>
    <a:overrideClrMapping bg1="lt1" tx1="dk1" bg2="lt2" tx2="dk2" accent1="accent1" accent2="accent2" accent3="accent3" accent4="accent4" accent5="accent5" accent6="accent6" hlink="hlink" folHlink="folHlink"/>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p:cSld name="Agenda">
    <p:spTree>
      <p:nvGrpSpPr>
        <p:cNvPr id="1" name=""/>
        <p:cNvGrpSpPr/>
        <p:nvPr/>
      </p:nvGrpSpPr>
      <p:grpSpPr>
        <a:xfrm>
          <a:off x="0" y="0"/>
          <a:ext cx="0" cy="0"/>
          <a:chOff x="0" y="0"/>
          <a:chExt cx="0" cy="0"/>
        </a:xfrm>
      </p:grpSpPr>
      <p:pic>
        <p:nvPicPr>
          <p:cNvPr id="11" name="图片 10">
            <a:extLst>
              <a:ext uri="{FF2B5EF4-FFF2-40B4-BE49-F238E27FC236}">
                <a16:creationId xmlns:a16="http://schemas.microsoft.com/office/drawing/2014/main" id="{0202FDAE-0095-6CC0-EC3F-208D7596653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2" name="标题 1"/>
          <p:cNvSpPr>
            <a:spLocks noGrp="1"/>
          </p:cNvSpPr>
          <p:nvPr>
            <p:ph type="title" hasCustomPrompt="1"/>
          </p:nvPr>
        </p:nvSpPr>
        <p:spPr>
          <a:xfrm>
            <a:off x="660400" y="1500189"/>
            <a:ext cx="2519061" cy="864515"/>
          </a:xfrm>
          <a:prstGeom prst="rect">
            <a:avLst/>
          </a:prstGeom>
          <a:noFill/>
        </p:spPr>
        <p:txBody>
          <a:bodyPr anchor="t" anchorCtr="0">
            <a:normAutofit/>
          </a:bodyPr>
          <a:lstStyle>
            <a:lvl1pPr algn="r">
              <a:defRPr sz="2800">
                <a:solidFill>
                  <a:srgbClr val="FFFFFF"/>
                </a:solidFill>
              </a:defRPr>
            </a:lvl1pPr>
          </a:lstStyle>
          <a:p>
            <a:pPr lvl="0"/>
            <a:r>
              <a:rPr lang="en-US"/>
              <a:t>Agenda</a:t>
            </a:r>
          </a:p>
        </p:txBody>
      </p:sp>
      <p:sp>
        <p:nvSpPr>
          <p:cNvPr id="3" name="内容占位符 2"/>
          <p:cNvSpPr>
            <a:spLocks noGrp="1"/>
          </p:cNvSpPr>
          <p:nvPr>
            <p:ph sz="quarter" idx="1" hasCustomPrompt="1"/>
          </p:nvPr>
        </p:nvSpPr>
        <p:spPr>
          <a:xfrm>
            <a:off x="3839860" y="1500189"/>
            <a:ext cx="7679039" cy="4278311"/>
          </a:xfrm>
        </p:spPr>
        <p:txBody>
          <a:bodyPr numCol="1"/>
          <a:lstStyle>
            <a:lvl1pPr marL="342900" indent="-342900">
              <a:lnSpc>
                <a:spcPct val="100000"/>
              </a:lnSpc>
              <a:buFont typeface="+mj-lt"/>
              <a:buAutoNum type="arabicPeriod"/>
              <a:defRPr/>
            </a:lvl1pPr>
            <a:lvl2pPr marL="800100" indent="-342900">
              <a:lnSpc>
                <a:spcPct val="100000"/>
              </a:lnSpc>
              <a:buFont typeface="+mj-ea"/>
              <a:buAutoNum type="circleNumDbPlain"/>
              <a:defRPr/>
            </a:lvl2pPr>
            <a:lvl3pPr marL="1257300" indent="-342900">
              <a:lnSpc>
                <a:spcPct val="100000"/>
              </a:lnSpc>
              <a:buFont typeface="+mj-lt"/>
              <a:buAutoNum type="alphaLcParenR"/>
              <a:defRPr/>
            </a:lvl3pPr>
            <a:lvl4pPr>
              <a:lnSpc>
                <a:spcPct val="100000"/>
              </a:lnSpc>
              <a:defRPr/>
            </a:lvl4pPr>
            <a:lvl5pPr>
              <a:lnSpc>
                <a:spcPct val="100000"/>
              </a:lnSpc>
              <a:defRPr/>
            </a:lvl5pPr>
          </a:lstStyle>
          <a:p>
            <a:pPr lvl="0"/>
            <a:r>
              <a:rPr lang="en-US"/>
              <a:t>Click to add text</a:t>
            </a:r>
          </a:p>
          <a:p>
            <a:pPr lvl="1"/>
            <a:r>
              <a:rPr lang="en-US"/>
              <a:t>Second level</a:t>
            </a:r>
          </a:p>
          <a:p>
            <a:pPr lvl="2"/>
            <a:r>
              <a:rPr lang="en-US"/>
              <a:t>Third level</a:t>
            </a:r>
          </a:p>
          <a:p>
            <a:pPr lvl="3"/>
            <a:r>
              <a:rPr lang="en-US"/>
              <a:t>Fourth level</a:t>
            </a:r>
          </a:p>
          <a:p>
            <a:pPr lvl="4"/>
            <a:r>
              <a:rPr lang="en-US"/>
              <a:t>Fifth level</a:t>
            </a:r>
          </a:p>
        </p:txBody>
      </p:sp>
      <p:pic>
        <p:nvPicPr>
          <p:cNvPr id="7" name="图片 6">
            <a:extLst>
              <a:ext uri="{FF2B5EF4-FFF2-40B4-BE49-F238E27FC236}">
                <a16:creationId xmlns:a16="http://schemas.microsoft.com/office/drawing/2014/main" id="{956E91C9-E62C-62F0-BC27-65EF2B59939D}"/>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8" name="图片 7">
            <a:extLst>
              <a:ext uri="{FF2B5EF4-FFF2-40B4-BE49-F238E27FC236}">
                <a16:creationId xmlns:a16="http://schemas.microsoft.com/office/drawing/2014/main" id="{260BFE75-AB93-8081-4027-EDC31F67337A}"/>
              </a:ext>
            </a:extLst>
          </p:cNvPr>
          <p:cNvPicPr>
            <a:picLocks noChangeAspect="1"/>
          </p:cNvPicPr>
          <p:nvPr/>
        </p:nvPicPr>
        <p:blipFill>
          <a:blip r:embed="rId4" cstate="print">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92184" y="6108209"/>
            <a:ext cx="704451" cy="621204"/>
          </a:xfrm>
          <a:prstGeom prst="rect">
            <a:avLst/>
          </a:prstGeom>
        </p:spPr>
      </p:pic>
      <p:pic>
        <p:nvPicPr>
          <p:cNvPr id="4" name="图片 3">
            <a:extLst>
              <a:ext uri="{FF2B5EF4-FFF2-40B4-BE49-F238E27FC236}">
                <a16:creationId xmlns:a16="http://schemas.microsoft.com/office/drawing/2014/main" id="{4533F409-7AF2-7738-C45D-ADDC0C99224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pic>
        <p:nvPicPr>
          <p:cNvPr id="5" name="图片 4">
            <a:extLst>
              <a:ext uri="{FF2B5EF4-FFF2-40B4-BE49-F238E27FC236}">
                <a16:creationId xmlns:a16="http://schemas.microsoft.com/office/drawing/2014/main" id="{04915495-E497-C559-512B-5F59C7548598}"/>
              </a:ext>
            </a:extLst>
          </p:cNvPr>
          <p:cNvPicPr>
            <a:picLocks noChangeAspect="1"/>
          </p:cNvPicPr>
          <p:nvPr/>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6" name="图片 5">
            <a:extLst>
              <a:ext uri="{FF2B5EF4-FFF2-40B4-BE49-F238E27FC236}">
                <a16:creationId xmlns:a16="http://schemas.microsoft.com/office/drawing/2014/main" id="{824640ED-C55D-8D73-4EAB-DC295132A4F1}"/>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799769657"/>
      </p:ext>
    </p:extLst>
  </p:cSld>
  <p:clrMapOvr>
    <a:overrideClrMapping bg1="lt1" tx1="dk1" bg2="lt2" tx2="dk2" accent1="accent1" accent2="accent2" accent3="accent3" accent4="accent4" accent5="accent5" accent6="accent6" hlink="hlink" folHlink="folHlink"/>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p:cSld name="1_节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04B5FBE3-2983-7A7E-EDBF-7AD37AC20D3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标题 1"/>
          <p:cNvSpPr>
            <a:spLocks noGrp="1"/>
          </p:cNvSpPr>
          <p:nvPr>
            <p:ph type="title"/>
          </p:nvPr>
        </p:nvSpPr>
        <p:spPr>
          <a:xfrm>
            <a:off x="788155" y="2458832"/>
            <a:ext cx="10363200" cy="1362075"/>
          </a:xfrm>
        </p:spPr>
        <p:txBody>
          <a:bodyPr anchor="t">
            <a:normAutofit/>
          </a:bodyPr>
          <a:lstStyle>
            <a:lvl1pPr algn="ctr">
              <a:defRPr sz="4400" b="1" cap="all">
                <a:solidFill>
                  <a:schemeClr val="accent1"/>
                </a:solidFill>
              </a:defRPr>
            </a:lvl1pPr>
          </a:lstStyle>
          <a:p>
            <a:r>
              <a:rPr lang="zh-CN" altLang="en-US"/>
              <a:t>单击此处编辑母版标题样式</a:t>
            </a:r>
            <a:endParaRPr lang="zh-CN" altLang="en-US" dirty="0"/>
          </a:p>
        </p:txBody>
      </p:sp>
      <p:pic>
        <p:nvPicPr>
          <p:cNvPr id="3" name="图片 2">
            <a:extLst>
              <a:ext uri="{FF2B5EF4-FFF2-40B4-BE49-F238E27FC236}">
                <a16:creationId xmlns:a16="http://schemas.microsoft.com/office/drawing/2014/main" id="{0C225C48-C16B-E760-3562-D3A3B9176EB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pic>
        <p:nvPicPr>
          <p:cNvPr id="4" name="图片 3">
            <a:extLst>
              <a:ext uri="{FF2B5EF4-FFF2-40B4-BE49-F238E27FC236}">
                <a16:creationId xmlns:a16="http://schemas.microsoft.com/office/drawing/2014/main" id="{A8C2A5F4-62F8-0DE3-BF8E-7DB2909DE39B}"/>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5" name="图片 4">
            <a:extLst>
              <a:ext uri="{FF2B5EF4-FFF2-40B4-BE49-F238E27FC236}">
                <a16:creationId xmlns:a16="http://schemas.microsoft.com/office/drawing/2014/main" id="{958CF466-A791-1E6D-0D69-1A428A2442AE}"/>
              </a:ext>
            </a:extLst>
          </p:cNvPr>
          <p:cNvPicPr>
            <a:picLocks noChangeAspect="1"/>
          </p:cNvPicPr>
          <p:nvPr/>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977260543"/>
      </p:ext>
    </p:extLst>
  </p:cSld>
  <p:clrMapOvr>
    <a:overrideClrMapping bg1="lt1" tx1="dk1" bg2="lt2" tx2="dk2" accent1="accent1" accent2="accent2" accent3="accent3" accent4="accent4" accent5="accent5" accent6="accent6" hlink="hlink" folHlink="folHlink"/>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preserve="1">
  <p:cSld name="1_Title Slide">
    <p:spTree>
      <p:nvGrpSpPr>
        <p:cNvPr id="1" name=""/>
        <p:cNvGrpSpPr/>
        <p:nvPr/>
      </p:nvGrpSpPr>
      <p:grpSpPr>
        <a:xfrm>
          <a:off x="0" y="0"/>
          <a:ext cx="0" cy="0"/>
          <a:chOff x="0" y="0"/>
          <a:chExt cx="0" cy="0"/>
        </a:xfrm>
      </p:grpSpPr>
      <p:grpSp>
        <p:nvGrpSpPr>
          <p:cNvPr id="40" name="组合 39"/>
          <p:cNvGrpSpPr/>
          <p:nvPr/>
        </p:nvGrpSpPr>
        <p:grpSpPr>
          <a:xfrm>
            <a:off x="0" y="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9" name="副标题 8"/>
          <p:cNvSpPr>
            <a:spLocks noGrp="1"/>
          </p:cNvSpPr>
          <p:nvPr>
            <p:ph type="subTitle" sz="quarter" idx="1" hasCustomPrompt="1"/>
          </p:nvPr>
        </p:nvSpPr>
        <p:spPr>
          <a:xfrm>
            <a:off x="660400" y="4043221"/>
            <a:ext cx="5645151" cy="588651"/>
          </a:xfrm>
          <a:prstGeom prst="roundRect">
            <a:avLst>
              <a:gd name="adj" fmla="val 0"/>
            </a:avLst>
          </a:prstGeom>
          <a:noFill/>
          <a:ln>
            <a:noFill/>
          </a:ln>
        </p:spPr>
        <p:txBody>
          <a:bodyPr vert="horz" wrap="square" lIns="91440" tIns="45720" rIns="91440" bIns="45720" rtlCol="0" anchor="ctr" anchorCtr="0">
            <a:normAutofit/>
          </a:bodyPr>
          <a:lstStyle>
            <a:lvl1pPr marL="0" indent="0" algn="l">
              <a:lnSpc>
                <a:spcPct val="100000"/>
              </a:lnSpc>
              <a:buNone/>
              <a:defRPr lang="en-US" sz="1800" dirty="0">
                <a:solidFill>
                  <a:schemeClr val="tx1"/>
                </a:solidFill>
                <a:latin typeface="+mj-lt"/>
              </a:defRPr>
            </a:lvl1pPr>
          </a:lstStyle>
          <a:p>
            <a:pPr lvl="0"/>
            <a:r>
              <a:rPr lang="en-US"/>
              <a:t>Click to add subtitle</a:t>
            </a:r>
          </a:p>
        </p:txBody>
      </p:sp>
      <p:sp>
        <p:nvSpPr>
          <p:cNvPr id="4" name="文本占位符 3"/>
          <p:cNvSpPr>
            <a:spLocks noGrp="1"/>
          </p:cNvSpPr>
          <p:nvPr>
            <p:ph type="body" sz="quarter" idx="13" hasCustomPrompt="1"/>
          </p:nvPr>
        </p:nvSpPr>
        <p:spPr>
          <a:xfrm>
            <a:off x="660400" y="5497551"/>
            <a:ext cx="5645151" cy="276999"/>
          </a:xfrm>
          <a:prstGeom prst="rect">
            <a:avLst/>
          </a:prstGeom>
        </p:spPr>
        <p:txBody>
          <a:bodyPr wrap="square" lIns="90000">
            <a:normAutofit/>
          </a:bodyPr>
          <a:lstStyle>
            <a:lvl1pPr marL="0" indent="0" algn="l">
              <a:lnSpc>
                <a:spcPct val="100000"/>
              </a:lnSpc>
              <a:buNone/>
              <a:defRPr sz="1200"/>
            </a:lvl1pPr>
          </a:lstStyle>
          <a:p>
            <a:pPr lvl="0"/>
            <a:r>
              <a:rPr lang="en-US"/>
              <a:t>Presenter name</a:t>
            </a:r>
          </a:p>
        </p:txBody>
      </p:sp>
      <p:sp>
        <p:nvSpPr>
          <p:cNvPr id="7" name="文本占位符 6"/>
          <p:cNvSpPr>
            <a:spLocks noGrp="1"/>
          </p:cNvSpPr>
          <p:nvPr>
            <p:ph type="body" sz="quarter" idx="14" hasCustomPrompt="1"/>
          </p:nvPr>
        </p:nvSpPr>
        <p:spPr>
          <a:xfrm>
            <a:off x="660400" y="5857101"/>
            <a:ext cx="5645151" cy="276999"/>
          </a:xfrm>
          <a:prstGeom prst="rect">
            <a:avLst/>
          </a:prstGeom>
        </p:spPr>
        <p:txBody>
          <a:bodyPr wrap="none">
            <a:normAutofit/>
          </a:bodyPr>
          <a:lstStyle>
            <a:lvl1pPr marL="0" indent="0" algn="l">
              <a:lnSpc>
                <a:spcPct val="100000"/>
              </a:lnSpc>
              <a:buNone/>
              <a:defRPr sz="1200"/>
            </a:lvl1pPr>
          </a:lstStyle>
          <a:p>
            <a:pPr lvl="0"/>
            <a:r>
              <a:rPr lang="en-US"/>
              <a:t>www.officeplus.cn</a:t>
            </a:r>
          </a:p>
        </p:txBody>
      </p:sp>
      <p:sp>
        <p:nvSpPr>
          <p:cNvPr id="8" name="标题 4">
            <a:extLst>
              <a:ext uri="{FF2B5EF4-FFF2-40B4-BE49-F238E27FC236}">
                <a16:creationId xmlns:a16="http://schemas.microsoft.com/office/drawing/2014/main" id="{D4E51AF3-4B86-C068-61E8-F89039CF3D69}"/>
              </a:ext>
            </a:extLst>
          </p:cNvPr>
          <p:cNvSpPr>
            <a:spLocks noGrp="1"/>
          </p:cNvSpPr>
          <p:nvPr>
            <p:ph type="ctrTitle"/>
          </p:nvPr>
        </p:nvSpPr>
        <p:spPr>
          <a:xfrm>
            <a:off x="3879504" y="1210338"/>
            <a:ext cx="6749372" cy="2587173"/>
          </a:xfrm>
          <a:prstGeom prst="rect">
            <a:avLst/>
          </a:prstGeom>
        </p:spPr>
        <p:txBody>
          <a:bodyPr wrap="square" anchor="b">
            <a:normAutofit/>
          </a:bodyPr>
          <a:lstStyle>
            <a:lvl1pPr algn="ctr">
              <a:lnSpc>
                <a:spcPct val="100000"/>
              </a:lnSpc>
              <a:defRPr sz="5400">
                <a:ln w="19050">
                  <a:noFill/>
                </a:ln>
                <a:solidFill>
                  <a:schemeClr val="bg1"/>
                </a:solidFill>
              </a:defRPr>
            </a:lvl1pPr>
          </a:lstStyle>
          <a:p>
            <a:pPr lvl="0"/>
            <a:endParaRPr lang="en-US" dirty="0"/>
          </a:p>
        </p:txBody>
      </p:sp>
      <p:pic>
        <p:nvPicPr>
          <p:cNvPr id="2" name="图片 1">
            <a:extLst>
              <a:ext uri="{FF2B5EF4-FFF2-40B4-BE49-F238E27FC236}">
                <a16:creationId xmlns:a16="http://schemas.microsoft.com/office/drawing/2014/main" id="{86A1F6E0-7672-8B72-B54A-4FF4F79B88B3}"/>
              </a:ext>
            </a:extLst>
          </p:cNvPr>
          <p:cNvPicPr>
            <a:picLocks noChangeAspect="1"/>
          </p:cNvPicPr>
          <p:nvPr/>
        </p:nvPicPr>
        <p:blipFill>
          <a:blip r:embed="rId5" cstate="print">
            <a:duotone>
              <a:schemeClr val="bg2">
                <a:shade val="45000"/>
                <a:satMod val="135000"/>
              </a:schemeClr>
              <a:prstClr val="white"/>
            </a:duotone>
            <a:extLst>
              <a:ext uri="{BEBA8EAE-BF5A-486C-A8C5-ECC9F3942E4B}">
                <a14:imgProps xmlns:a14="http://schemas.microsoft.com/office/drawing/2010/main">
                  <a14:imgLayer r:embed="rId6">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62985" y="1728206"/>
            <a:ext cx="3516518" cy="1579597"/>
          </a:xfrm>
          <a:prstGeom prst="rect">
            <a:avLst/>
          </a:prstGeom>
        </p:spPr>
      </p:pic>
    </p:spTree>
    <p:extLst>
      <p:ext uri="{BB962C8B-B14F-4D97-AF65-F5344CB8AC3E}">
        <p14:creationId xmlns:p14="http://schemas.microsoft.com/office/powerpoint/2010/main" val="4026784590"/>
      </p:ext>
    </p:extLst>
  </p:cSld>
  <p:clrMapOvr>
    <a:overrideClrMapping bg1="lt1" tx1="dk1" bg2="lt2" tx2="dk2" accent1="accent1" accent2="accent2" accent3="accent3" accent4="accent4" accent5="accent5" accent6="accent6" hlink="hlink" folHlink="folHlink"/>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1_空白">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9F13FA7-175B-60D2-A603-87F6078FFFE8}"/>
              </a:ext>
            </a:extLst>
          </p:cNvPr>
          <p:cNvSpPr>
            <a:spLocks noGrp="1"/>
          </p:cNvSpPr>
          <p:nvPr>
            <p:ph type="title"/>
          </p:nvPr>
        </p:nvSpPr>
        <p:spPr>
          <a:xfrm>
            <a:off x="866346" y="38910"/>
            <a:ext cx="10858500" cy="544945"/>
          </a:xfrm>
        </p:spPr>
        <p:txBody>
          <a:bodyPr/>
          <a:lstStyle>
            <a:lvl1pPr>
              <a:defRPr>
                <a:solidFill>
                  <a:schemeClr val="bg1"/>
                </a:solidFill>
              </a:defRPr>
            </a:lvl1pPr>
          </a:lstStyle>
          <a:p>
            <a:pPr lvl="0"/>
            <a:r>
              <a:rPr lang="zh-CN" altLang="en-US"/>
              <a:t>单击此处编辑母版标题样式</a:t>
            </a:r>
            <a:endParaRPr lang="en-US" dirty="0"/>
          </a:p>
        </p:txBody>
      </p:sp>
      <p:sp>
        <p:nvSpPr>
          <p:cNvPr id="3" name="Freeform 5">
            <a:extLst>
              <a:ext uri="{FF2B5EF4-FFF2-40B4-BE49-F238E27FC236}">
                <a16:creationId xmlns:a16="http://schemas.microsoft.com/office/drawing/2014/main" id="{456EF71C-7CBB-25F6-1517-2D5EC2A3DDD9}"/>
              </a:ext>
            </a:extLst>
          </p:cNvPr>
          <p:cNvSpPr>
            <a:spLocks noChangeAspect="1" noEditPoints="1"/>
          </p:cNvSpPr>
          <p:nvPr userDrawn="1"/>
        </p:nvSpPr>
        <p:spPr bwMode="black">
          <a:xfrm>
            <a:off x="467154" y="211088"/>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2905638643"/>
      </p:ext>
    </p:extLst>
  </p:cSld>
  <p:clrMapOvr>
    <a:overrideClrMapping bg1="lt1" tx1="dk1" bg2="lt2" tx2="dk2" accent1="accent1" accent2="accent2" accent3="accent3" accent4="accent4" accent5="accent5" accent6="accent6" hlink="hlink" folHlink="folHlink"/>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preserve="1" userDrawn="1">
  <p:cSld name="3_标题幻灯片">
    <p:spTree>
      <p:nvGrpSpPr>
        <p:cNvPr id="1" name=""/>
        <p:cNvGrpSpPr/>
        <p:nvPr/>
      </p:nvGrpSpPr>
      <p:grpSpPr>
        <a:xfrm>
          <a:off x="0" y="0"/>
          <a:ext cx="0" cy="0"/>
          <a:chOff x="0" y="0"/>
          <a:chExt cx="0" cy="0"/>
        </a:xfrm>
      </p:grpSpPr>
      <p:grpSp>
        <p:nvGrpSpPr>
          <p:cNvPr id="40" name="组合 39"/>
          <p:cNvGrpSpPr/>
          <p:nvPr/>
        </p:nvGrpSpPr>
        <p:grpSpPr>
          <a:xfrm>
            <a:off x="0" y="4980"/>
            <a:ext cx="12192000" cy="6857104"/>
            <a:chOff x="0" y="0"/>
            <a:chExt cx="12192000" cy="6857104"/>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pic>
        <p:nvPicPr>
          <p:cNvPr id="2" name="图片 1">
            <a:extLst>
              <a:ext uri="{FF2B5EF4-FFF2-40B4-BE49-F238E27FC236}">
                <a16:creationId xmlns:a16="http://schemas.microsoft.com/office/drawing/2014/main" id="{6249DE40-38DE-0B8C-A57E-BCDCCECD67F0}"/>
              </a:ext>
            </a:extLst>
          </p:cNvPr>
          <p:cNvPicPr>
            <a:picLocks noChangeAspect="1"/>
          </p:cNvPicPr>
          <p:nvPr/>
        </p:nvPicPr>
        <p:blipFill>
          <a:blip r:embed="rId5" cstate="print">
            <a:duotone>
              <a:prstClr val="black"/>
              <a:schemeClr val="accent3">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4" name="图片 3">
            <a:extLst>
              <a:ext uri="{FF2B5EF4-FFF2-40B4-BE49-F238E27FC236}">
                <a16:creationId xmlns:a16="http://schemas.microsoft.com/office/drawing/2014/main" id="{82CA119C-4E3E-E8FD-4491-4E0BECF11504}"/>
              </a:ext>
            </a:extLst>
          </p:cNvPr>
          <p:cNvPicPr>
            <a:picLocks noChangeAspect="1"/>
          </p:cNvPicPr>
          <p:nvPr/>
        </p:nvPicPr>
        <p:blipFill>
          <a:blip r:embed="rId6" cstate="print">
            <a:duotone>
              <a:prstClr val="black"/>
              <a:schemeClr val="accent3">
                <a:tint val="45000"/>
                <a:satMod val="400000"/>
              </a:schemeClr>
            </a:duotone>
            <a:extLst>
              <a:ext uri="{BEBA8EAE-BF5A-486C-A8C5-ECC9F3942E4B}">
                <a14:imgProps xmlns:a14="http://schemas.microsoft.com/office/drawing/2010/main">
                  <a14:imgLayer r:embed="rId7">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79775" y="6236796"/>
            <a:ext cx="704451" cy="621204"/>
          </a:xfrm>
          <a:prstGeom prst="rect">
            <a:avLst/>
          </a:prstGeom>
        </p:spPr>
      </p:pic>
    </p:spTree>
    <p:extLst>
      <p:ext uri="{BB962C8B-B14F-4D97-AF65-F5344CB8AC3E}">
        <p14:creationId xmlns:p14="http://schemas.microsoft.com/office/powerpoint/2010/main" val="472228395"/>
      </p:ext>
    </p:extLst>
  </p:cSld>
  <p:clrMapOvr>
    <a:overrideClrMapping bg1="lt1" tx1="dk1" bg2="lt2" tx2="dk2" accent1="accent1" accent2="accent2" accent3="accent3" accent4="accent4" accent5="accent5" accent6="accent6" hlink="hlink" folHlink="folHlink"/>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E9DDCD0-7537-A039-754A-F4224B0E3693}"/>
              </a:ext>
            </a:extLst>
          </p:cNvPr>
          <p:cNvSpPr>
            <a:spLocks noGrp="1"/>
          </p:cNvSpPr>
          <p:nvPr/>
        </p:nvSpPr>
        <p:spPr>
          <a:xfrm>
            <a:off x="899833"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
        <p:nvSpPr>
          <p:cNvPr id="3" name="标题 1">
            <a:extLst>
              <a:ext uri="{FF2B5EF4-FFF2-40B4-BE49-F238E27FC236}">
                <a16:creationId xmlns:a16="http://schemas.microsoft.com/office/drawing/2014/main" id="{1E9DDCD0-7537-A039-754A-F4224B0E3693}"/>
              </a:ext>
            </a:extLst>
          </p:cNvPr>
          <p:cNvSpPr>
            <a:spLocks noGrp="1"/>
          </p:cNvSpPr>
          <p:nvPr/>
        </p:nvSpPr>
        <p:spPr>
          <a:xfrm>
            <a:off x="947645"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Tree>
    <p:extLst>
      <p:ext uri="{BB962C8B-B14F-4D97-AF65-F5344CB8AC3E}">
        <p14:creationId xmlns:p14="http://schemas.microsoft.com/office/powerpoint/2010/main" val="1545637827"/>
      </p:ext>
    </p:extLst>
  </p:cSld>
  <p:clrMapOvr>
    <a:overrideClrMapping bg1="lt1" tx1="dk1" bg2="lt2" tx2="dk2" accent1="accent1" accent2="accent2" accent3="accent3" accent4="accent4" accent5="accent5" accent6="accent6" hlink="hlink" folHlink="folHlink"/>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1_标题和内容">
    <p:spTree>
      <p:nvGrpSpPr>
        <p:cNvPr id="1" name=""/>
        <p:cNvGrpSpPr/>
        <p:nvPr/>
      </p:nvGrpSpPr>
      <p:grpSpPr>
        <a:xfrm>
          <a:off x="0" y="0"/>
          <a:ext cx="0" cy="0"/>
          <a:chOff x="0" y="0"/>
          <a:chExt cx="0" cy="0"/>
        </a:xfrm>
      </p:grpSpPr>
      <p:sp>
        <p:nvSpPr>
          <p:cNvPr id="13" name="文本占位符 12"/>
          <p:cNvSpPr>
            <a:spLocks noGrp="1"/>
          </p:cNvSpPr>
          <p:nvPr>
            <p:ph type="body" idx="1"/>
            <p:custDataLst>
              <p:tags r:id="rId1"/>
            </p:custDataLst>
          </p:nvPr>
        </p:nvSpPr>
        <p:spPr>
          <a:xfrm>
            <a:off x="569595" y="1253490"/>
            <a:ext cx="11052810" cy="4869180"/>
          </a:xfrm>
          <a:prstGeom prst="rect">
            <a:avLst/>
          </a:prstGeom>
        </p:spPr>
        <p:txBody>
          <a:bodyPr vert="horz" lIns="91440" tIns="45720" rIns="91440" bIns="45720" rtlCol="0">
            <a:normAutofit/>
          </a:bodyPr>
          <a:lstStyle>
            <a:lvl1pPr marL="0" indent="0">
              <a:buNone/>
              <a:defRPr sz="1400">
                <a:solidFill>
                  <a:schemeClr val="bg1"/>
                </a:solidFill>
              </a:defRPr>
            </a:lvl1pPr>
            <a:lvl2pPr marL="457200" indent="0">
              <a:buNone/>
              <a:defRPr sz="1400">
                <a:solidFill>
                  <a:schemeClr val="bg1"/>
                </a:solidFill>
              </a:defRPr>
            </a:lvl2pPr>
            <a:lvl3pPr marL="914400" indent="0">
              <a:buNone/>
              <a:defRPr sz="1400">
                <a:solidFill>
                  <a:schemeClr val="bg1"/>
                </a:solidFill>
              </a:defRPr>
            </a:lvl3pPr>
            <a:lvl4pPr marL="1371600" indent="0">
              <a:buNone/>
              <a:defRPr sz="1400">
                <a:solidFill>
                  <a:schemeClr val="bg1"/>
                </a:solidFill>
              </a:defRPr>
            </a:lvl4pPr>
            <a:lvl5pPr marL="1828800" indent="0">
              <a:buNone/>
              <a:defRPr sz="1400">
                <a:solidFill>
                  <a:schemeClr val="bg1"/>
                </a:solidFill>
              </a:defRPr>
            </a:lvl5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zh-CN" altLang="en-US" dirty="0"/>
          </a:p>
        </p:txBody>
      </p:sp>
      <p:sp>
        <p:nvSpPr>
          <p:cNvPr id="5" name="灯片编号占位符 4"/>
          <p:cNvSpPr>
            <a:spLocks noGrp="1"/>
          </p:cNvSpPr>
          <p:nvPr>
            <p:custDataLst>
              <p:tags r:id="rId2"/>
            </p:custDataLst>
          </p:nvPr>
        </p:nvSpPr>
        <p:spPr>
          <a:xfrm>
            <a:off x="8879205" y="6375400"/>
            <a:ext cx="2743200" cy="365125"/>
          </a:xfrm>
          <a:prstGeom prst="rect">
            <a:avLst/>
          </a:prstGeom>
        </p:spPr>
        <p:txBody>
          <a:bodyPr vert="horz" lIns="91440" tIns="45720" rIns="91440" bIns="45720" rtlCol="0" anchor="ctr"/>
          <a:lstStyle>
            <a:defPPr>
              <a:defRPr lang="zh-CN"/>
            </a:defPPr>
            <a:lvl1pPr marL="0" algn="r" defTabSz="914400" rtl="0" eaLnBrk="1" latinLnBrk="0" hangingPunct="1">
              <a:defRPr sz="10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56FF76-7BF1-4E25-A0F5-B7CD95F22364}" type="slidenum">
              <a:rPr lang="zh-CN" altLang="en-US" smtClean="0">
                <a:solidFill>
                  <a:schemeClr val="bg1"/>
                </a:solidFill>
              </a:rPr>
              <a:t>‹#›</a:t>
            </a:fld>
            <a:endParaRPr lang="zh-CN" altLang="en-US" dirty="0">
              <a:solidFill>
                <a:schemeClr val="bg1"/>
              </a:solidFill>
            </a:endParaRPr>
          </a:p>
        </p:txBody>
      </p:sp>
      <p:sp>
        <p:nvSpPr>
          <p:cNvPr id="2" name="标题 1">
            <a:extLst>
              <a:ext uri="{FF2B5EF4-FFF2-40B4-BE49-F238E27FC236}">
                <a16:creationId xmlns:a16="http://schemas.microsoft.com/office/drawing/2014/main" id="{1E9DDCD0-7537-A039-754A-F4224B0E3693}"/>
              </a:ext>
            </a:extLst>
          </p:cNvPr>
          <p:cNvSpPr>
            <a:spLocks noGrp="1"/>
          </p:cNvSpPr>
          <p:nvPr/>
        </p:nvSpPr>
        <p:spPr>
          <a:xfrm>
            <a:off x="935691" y="-22304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solidFill>
                <a:schemeClr val="bg1"/>
              </a:solidFill>
            </a:endParaRPr>
          </a:p>
        </p:txBody>
      </p:sp>
      <p:sp>
        <p:nvSpPr>
          <p:cNvPr id="3" name="标题 1">
            <a:extLst>
              <a:ext uri="{FF2B5EF4-FFF2-40B4-BE49-F238E27FC236}">
                <a16:creationId xmlns:a16="http://schemas.microsoft.com/office/drawing/2014/main" id="{6B53A706-3FC5-5A68-F4A8-893D3CC075CB}"/>
              </a:ext>
            </a:extLst>
          </p:cNvPr>
          <p:cNvSpPr>
            <a:spLocks noGrp="1"/>
          </p:cNvSpPr>
          <p:nvPr>
            <p:ph type="title"/>
          </p:nvPr>
        </p:nvSpPr>
        <p:spPr>
          <a:xfrm>
            <a:off x="866346" y="38910"/>
            <a:ext cx="10858500" cy="544945"/>
          </a:xfrm>
        </p:spPr>
        <p:txBody>
          <a:bodyPr/>
          <a:lstStyle>
            <a:lvl1pPr>
              <a:defRPr>
                <a:solidFill>
                  <a:schemeClr val="bg1"/>
                </a:solidFill>
              </a:defRPr>
            </a:lvl1pPr>
          </a:lstStyle>
          <a:p>
            <a:pPr lvl="0"/>
            <a:r>
              <a:rPr lang="zh-CN" altLang="en-US"/>
              <a:t>单击此处编辑母版标题样式</a:t>
            </a:r>
            <a:endParaRPr lang="en-US" dirty="0"/>
          </a:p>
        </p:txBody>
      </p:sp>
      <p:sp>
        <p:nvSpPr>
          <p:cNvPr id="4" name="Freeform 5">
            <a:extLst>
              <a:ext uri="{FF2B5EF4-FFF2-40B4-BE49-F238E27FC236}">
                <a16:creationId xmlns:a16="http://schemas.microsoft.com/office/drawing/2014/main" id="{EBFC0C0C-6C3E-3AD2-1F95-21CF58DADB17}"/>
              </a:ext>
            </a:extLst>
          </p:cNvPr>
          <p:cNvSpPr>
            <a:spLocks noChangeAspect="1" noEditPoints="1"/>
          </p:cNvSpPr>
          <p:nvPr userDrawn="1"/>
        </p:nvSpPr>
        <p:spPr bwMode="black">
          <a:xfrm>
            <a:off x="467154" y="227013"/>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2987937541"/>
      </p:ext>
    </p:extLst>
  </p:cSld>
  <p:clrMapOvr>
    <a:masterClrMapping/>
  </p:clrMapOvr>
  <p:transition spd="slow"/>
</p:sldLayout>
</file>

<file path=ppt/slideLayouts/slideLayout116.xml><?xml version="1.0" encoding="utf-8"?>
<p:sldLayout xmlns:a="http://schemas.openxmlformats.org/drawingml/2006/main" xmlns:r="http://schemas.openxmlformats.org/officeDocument/2006/relationships" xmlns:p="http://schemas.openxmlformats.org/presentationml/2006/main" type="twoObj" preserve="1">
  <p:cSld name="两项内容">
    <p:spTree>
      <p:nvGrpSpPr>
        <p:cNvPr id="1" name=""/>
        <p:cNvGrpSpPr/>
        <p:nvPr/>
      </p:nvGrpSpPr>
      <p:grpSpPr>
        <a:xfrm>
          <a:off x="0" y="0"/>
          <a:ext cx="0" cy="0"/>
          <a:chOff x="0" y="0"/>
          <a:chExt cx="0" cy="0"/>
        </a:xfrm>
      </p:grpSpPr>
      <p:sp>
        <p:nvSpPr>
          <p:cNvPr id="2" name="标题 1"/>
          <p:cNvSpPr>
            <a:spLocks noGrp="1"/>
          </p:cNvSpPr>
          <p:nvPr>
            <p:ph type="title"/>
          </p:nvPr>
        </p:nvSpPr>
        <p:spPr>
          <a:xfrm>
            <a:off x="609600" y="-331029"/>
            <a:ext cx="10858500" cy="1028700"/>
          </a:xfrm>
        </p:spPr>
        <p:txBody>
          <a:bodyPr/>
          <a:lstStyle/>
          <a:p>
            <a:r>
              <a:rPr lang="zh-CN" altLang="en-US"/>
              <a:t>单击此处编辑母版标题样式</a:t>
            </a:r>
          </a:p>
        </p:txBody>
      </p:sp>
      <p:sp>
        <p:nvSpPr>
          <p:cNvPr id="3" name="内容占位符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内容占位符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日期占位符 4"/>
          <p:cNvSpPr>
            <a:spLocks noGrp="1"/>
          </p:cNvSpPr>
          <p:nvPr>
            <p:ph type="dt" sz="half" idx="10"/>
          </p:nvPr>
        </p:nvSpPr>
        <p:spPr/>
        <p:txBody>
          <a:bodyPr/>
          <a:lstStyle/>
          <a:p>
            <a:fld id="{DF6F2EA8-7B5B-4764-E02B-4ECB4538780A}" type="datetimeFigureOut">
              <a:rPr lang="zh-CN" altLang="en-US" smtClean="0"/>
              <a:t>2026/5/30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4581C52D-B4E5-4EAF-F8F0-08BBB827BB93}" type="slidenum">
              <a:rPr lang="zh-CN" altLang="en-US" smtClean="0"/>
              <a:t>‹#›</a:t>
            </a:fld>
            <a:endParaRPr lang="zh-CN" altLang="en-US"/>
          </a:p>
        </p:txBody>
      </p:sp>
    </p:spTree>
    <p:extLst>
      <p:ext uri="{BB962C8B-B14F-4D97-AF65-F5344CB8AC3E}">
        <p14:creationId xmlns:p14="http://schemas.microsoft.com/office/powerpoint/2010/main" val="899131801"/>
      </p:ext>
    </p:extLst>
  </p:cSld>
  <p:clrMapOvr>
    <a:overrideClrMapping bg1="lt1" tx1="dk1" bg2="lt2" tx2="dk2" accent1="accent1" accent2="accent2" accent3="accent3" accent4="accent4" accent5="accent5" accent6="accent6" hlink="hlink" folHlink="folHlink"/>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p:cSld name="Title and Content - No Background">
    <p:spTree>
      <p:nvGrpSpPr>
        <p:cNvPr id="1" name=""/>
        <p:cNvGrpSpPr/>
        <p:nvPr/>
      </p:nvGrpSpPr>
      <p:grpSpPr>
        <a:xfrm>
          <a:off x="0" y="0"/>
          <a:ext cx="0" cy="0"/>
          <a:chOff x="0" y="0"/>
          <a:chExt cx="0" cy="0"/>
        </a:xfrm>
      </p:grpSpPr>
      <p:sp>
        <p:nvSpPr>
          <p:cNvPr id="10" name="Title 28"/>
          <p:cNvSpPr>
            <a:spLocks noGrp="1"/>
          </p:cNvSpPr>
          <p:nvPr>
            <p:ph type="title"/>
          </p:nvPr>
        </p:nvSpPr>
        <p:spPr bwMode="gray">
          <a:xfrm>
            <a:off x="548783" y="274320"/>
            <a:ext cx="11076268" cy="521208"/>
          </a:xfrm>
          <a:prstGeom prst="rect">
            <a:avLst/>
          </a:prstGeom>
        </p:spPr>
        <p:txBody>
          <a:bodyPr wrap="square" lIns="0" tIns="0" rIns="0" bIns="0" anchor="ctr" anchorCtr="0"/>
          <a:lstStyle>
            <a:lvl1pPr marL="0" algn="l" defTabSz="1218987" rtl="0" eaLnBrk="1" latinLnBrk="0" hangingPunct="1">
              <a:lnSpc>
                <a:spcPct val="100000"/>
              </a:lnSpc>
              <a:spcBef>
                <a:spcPct val="0"/>
              </a:spcBef>
              <a:buNone/>
              <a:tabLst>
                <a:tab pos="1218987" algn="l"/>
              </a:tabLst>
              <a:defRPr lang="en-US" sz="3600" kern="1200" cap="none" spc="0" baseline="0" dirty="0">
                <a:solidFill>
                  <a:schemeClr val="bg1"/>
                </a:solidFill>
                <a:latin typeface="Arial" pitchFamily="34" charset="0"/>
                <a:ea typeface="+mn-ea"/>
                <a:cs typeface="Arial" pitchFamily="34" charset="0"/>
              </a:defRPr>
            </a:lvl1pPr>
          </a:lstStyle>
          <a:p>
            <a:endParaRPr lang="en-US" dirty="0"/>
          </a:p>
        </p:txBody>
      </p:sp>
      <p:sp>
        <p:nvSpPr>
          <p:cNvPr id="22" name="Content Placeholder 2"/>
          <p:cNvSpPr>
            <a:spLocks noGrp="1"/>
          </p:cNvSpPr>
          <p:nvPr>
            <p:ph sz="half" idx="1"/>
          </p:nvPr>
        </p:nvSpPr>
        <p:spPr bwMode="gray">
          <a:xfrm>
            <a:off x="548783" y="1179577"/>
            <a:ext cx="11076268" cy="5211699"/>
          </a:xfrm>
          <a:prstGeom prst="rect">
            <a:avLst/>
          </a:prstGeom>
        </p:spPr>
        <p:txBody>
          <a:bodyPr lIns="0" tIns="0" rIns="0" bIns="0"/>
          <a:lstStyle>
            <a:lvl1pPr marL="171450" indent="-171450">
              <a:lnSpc>
                <a:spcPct val="90000"/>
              </a:lnSpc>
              <a:spcBef>
                <a:spcPts val="600"/>
              </a:spcBef>
              <a:buClrTx/>
              <a:buFont typeface="Arial" panose="020B0604020202020204" pitchFamily="34" charset="0"/>
              <a:buChar char="•"/>
              <a:defRPr sz="2400">
                <a:solidFill>
                  <a:schemeClr val="bg1"/>
                </a:solidFill>
                <a:latin typeface="Arial" pitchFamily="34" charset="0"/>
                <a:cs typeface="Arial" pitchFamily="34" charset="0"/>
              </a:defRPr>
            </a:lvl1pPr>
            <a:lvl2pPr marL="609493" indent="-228560">
              <a:lnSpc>
                <a:spcPct val="90000"/>
              </a:lnSpc>
              <a:spcBef>
                <a:spcPts val="600"/>
              </a:spcBef>
              <a:buClrTx/>
              <a:buFont typeface="Arial" pitchFamily="34" charset="0"/>
              <a:buChar char="–"/>
              <a:defRPr sz="2000">
                <a:solidFill>
                  <a:schemeClr val="bg1"/>
                </a:solidFill>
                <a:latin typeface="Arial" pitchFamily="34" charset="0"/>
                <a:cs typeface="Arial" pitchFamily="34" charset="0"/>
              </a:defRPr>
            </a:lvl2pPr>
            <a:lvl3pPr marL="835938" indent="-150258">
              <a:lnSpc>
                <a:spcPct val="90000"/>
              </a:lnSpc>
              <a:spcBef>
                <a:spcPts val="600"/>
              </a:spcBef>
              <a:buClrTx/>
              <a:buFont typeface="Arial" panose="020B0604020202020204" pitchFamily="34" charset="0"/>
              <a:buChar char="-"/>
              <a:defRPr sz="2000">
                <a:solidFill>
                  <a:schemeClr val="bg1"/>
                </a:solidFill>
                <a:latin typeface="Arial" pitchFamily="34" charset="0"/>
                <a:cs typeface="Arial" pitchFamily="34" charset="0"/>
              </a:defRPr>
            </a:lvl3pPr>
            <a:lvl4pPr marL="1147033" indent="-156606">
              <a:lnSpc>
                <a:spcPct val="90000"/>
              </a:lnSpc>
              <a:spcBef>
                <a:spcPts val="600"/>
              </a:spcBef>
              <a:buClrTx/>
              <a:buFont typeface="Arial" panose="020B0604020202020204" pitchFamily="34" charset="0"/>
              <a:buChar char="-"/>
              <a:defRPr sz="2000">
                <a:solidFill>
                  <a:schemeClr val="bg1"/>
                </a:solidFill>
                <a:latin typeface="Arial" pitchFamily="34" charset="0"/>
                <a:cs typeface="Arial" pitchFamily="34" charset="0"/>
              </a:defRPr>
            </a:lvl4pPr>
            <a:lvl5pPr marL="1445431" indent="-150258">
              <a:lnSpc>
                <a:spcPct val="90000"/>
              </a:lnSpc>
              <a:spcBef>
                <a:spcPts val="600"/>
              </a:spcBef>
              <a:buClrTx/>
              <a:buFont typeface="Arial" panose="020B0604020202020204" pitchFamily="34" charset="0"/>
              <a:buChar char="-"/>
              <a:defRPr sz="20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endParaRPr lang="en-US" dirty="0"/>
          </a:p>
        </p:txBody>
      </p:sp>
      <p:sp>
        <p:nvSpPr>
          <p:cNvPr id="6" name="Freeform 5">
            <a:extLst>
              <a:ext uri="{FF2B5EF4-FFF2-40B4-BE49-F238E27FC236}">
                <a16:creationId xmlns:a16="http://schemas.microsoft.com/office/drawing/2014/main" id="{8C261849-EED4-439D-9D86-D00B5DA1B6C8}"/>
              </a:ext>
            </a:extLst>
          </p:cNvPr>
          <p:cNvSpPr>
            <a:spLocks noChangeAspect="1" noEditPoints="1"/>
          </p:cNvSpPr>
          <p:nvPr/>
        </p:nvSpPr>
        <p:spPr bwMode="black">
          <a:xfrm>
            <a:off x="205409" y="423409"/>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
        <p:nvSpPr>
          <p:cNvPr id="8" name="TextBox slide number">
            <a:extLst>
              <a:ext uri="{FF2B5EF4-FFF2-40B4-BE49-F238E27FC236}">
                <a16:creationId xmlns:a16="http://schemas.microsoft.com/office/drawing/2014/main" id="{C14F407B-25FF-40AD-A010-7F4E0497654A}"/>
              </a:ext>
            </a:extLst>
          </p:cNvPr>
          <p:cNvSpPr txBox="1"/>
          <p:nvPr/>
        </p:nvSpPr>
        <p:spPr bwMode="white">
          <a:xfrm>
            <a:off x="11751760" y="6395208"/>
            <a:ext cx="440239" cy="246221"/>
          </a:xfrm>
          <a:prstGeom prst="rect">
            <a:avLst/>
          </a:prstGeom>
        </p:spPr>
        <p:txBody>
          <a:bodyPr vert="horz" lIns="0" tIns="0" rIns="0" bIns="0" rtlCol="0" anchor="b"/>
          <a:lstStyle>
            <a:defPPr>
              <a:defRPr lang="en-US"/>
            </a:defPPr>
            <a:lvl1pPr algn="ctr">
              <a:defRPr sz="1000">
                <a:solidFill>
                  <a:schemeClr val="bg1"/>
                </a:solidFill>
              </a:defRPr>
            </a:lvl1pPr>
          </a:lstStyle>
          <a:p>
            <a:pPr lvl="0" algn="ctr"/>
            <a:fld id="{6EA5B71A-1B18-4E34-A48F-65DC4937AA99}" type="slidenum">
              <a:rPr lang="en-US" sz="1000" b="0" smtClean="0">
                <a:solidFill>
                  <a:schemeClr val="tx1"/>
                </a:solidFill>
              </a:rPr>
              <a:pPr lvl="0" algn="ctr"/>
              <a:t>‹#›</a:t>
            </a:fld>
            <a:endParaRPr lang="en-US" sz="1000" b="0" dirty="0">
              <a:solidFill>
                <a:schemeClr val="tx1"/>
              </a:solidFill>
            </a:endParaRPr>
          </a:p>
        </p:txBody>
      </p:sp>
    </p:spTree>
    <p:extLst>
      <p:ext uri="{BB962C8B-B14F-4D97-AF65-F5344CB8AC3E}">
        <p14:creationId xmlns:p14="http://schemas.microsoft.com/office/powerpoint/2010/main" val="15341555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a16="http://schemas.microsoft.com/office/drawing/2014/main">
      <p:transition spd="med">
        <p:fade/>
      </p:transition>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p:cSld name="2_空白">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DBEEF5-5DA5-9F91-63DD-0168D8E3EB8B}"/>
              </a:ext>
            </a:extLst>
          </p:cNvPr>
          <p:cNvSpPr>
            <a:spLocks noGrp="1"/>
          </p:cNvSpPr>
          <p:nvPr>
            <p:ph type="title"/>
          </p:nvPr>
        </p:nvSpPr>
        <p:spPr>
          <a:xfrm>
            <a:off x="897323" y="86740"/>
            <a:ext cx="10714759" cy="457201"/>
          </a:xfrm>
          <a:prstGeom prst="rect">
            <a:avLst/>
          </a:prstGeom>
        </p:spPr>
        <p:txBody>
          <a:bodyPr/>
          <a:lstStyle>
            <a:lvl1pPr>
              <a:defRPr>
                <a:solidFill>
                  <a:schemeClr val="bg1"/>
                </a:solidFill>
                <a:latin typeface="+mj-ea"/>
                <a:ea typeface="+mj-ea"/>
              </a:defRPr>
            </a:lvl1pPr>
          </a:lstStyle>
          <a:p>
            <a:r>
              <a:rPr lang="zh-CN" altLang="en-US"/>
              <a:t>单击此处编辑母版标题样式</a:t>
            </a:r>
            <a:endParaRPr lang="zh-CN" altLang="en-US" dirty="0"/>
          </a:p>
        </p:txBody>
      </p:sp>
      <p:sp>
        <p:nvSpPr>
          <p:cNvPr id="3" name="Freeform 5">
            <a:extLst>
              <a:ext uri="{FF2B5EF4-FFF2-40B4-BE49-F238E27FC236}">
                <a16:creationId xmlns:a16="http://schemas.microsoft.com/office/drawing/2014/main" id="{84B77ACE-BA20-4CD3-D192-5DCF340577ED}"/>
              </a:ext>
            </a:extLst>
          </p:cNvPr>
          <p:cNvSpPr>
            <a:spLocks noChangeAspect="1" noEditPoints="1"/>
          </p:cNvSpPr>
          <p:nvPr userDrawn="1"/>
        </p:nvSpPr>
        <p:spPr bwMode="black">
          <a:xfrm>
            <a:off x="479598" y="215046"/>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1011844962"/>
      </p:ext>
    </p:extLst>
  </p:cSld>
  <p:clrMapOvr>
    <a:overrideClrMapping bg1="lt1" tx1="dk1" bg2="lt2" tx2="dk2" accent1="accent1" accent2="accent2" accent3="accent3" accent4="accent4" accent5="accent5" accent6="accent6" hlink="hlink" folHlink="folHlink"/>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p:cSld name="4_标题幻灯片">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5B42509E-12FE-156B-B1FC-818C4EC59FB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Rectangle 3">
            <a:extLst>
              <a:ext uri="{FF2B5EF4-FFF2-40B4-BE49-F238E27FC236}">
                <a16:creationId xmlns:a16="http://schemas.microsoft.com/office/drawing/2014/main" id="{12F37E50-CF33-4241-AF80-F4953C679288}"/>
              </a:ext>
            </a:extLst>
          </p:cNvPr>
          <p:cNvSpPr/>
          <p:nvPr/>
        </p:nvSpPr>
        <p:spPr>
          <a:xfrm>
            <a:off x="7088746" y="0"/>
            <a:ext cx="593599" cy="41592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Rectangle 11">
            <a:extLst>
              <a:ext uri="{FF2B5EF4-FFF2-40B4-BE49-F238E27FC236}">
                <a16:creationId xmlns:a16="http://schemas.microsoft.com/office/drawing/2014/main" id="{0F60084F-F637-4FA4-BE35-D702CF6DAA6A}"/>
              </a:ext>
            </a:extLst>
          </p:cNvPr>
          <p:cNvSpPr/>
          <p:nvPr/>
        </p:nvSpPr>
        <p:spPr>
          <a:xfrm>
            <a:off x="7385545" y="3911100"/>
            <a:ext cx="593599" cy="29469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Title 1">
            <a:extLst>
              <a:ext uri="{FF2B5EF4-FFF2-40B4-BE49-F238E27FC236}">
                <a16:creationId xmlns:a16="http://schemas.microsoft.com/office/drawing/2014/main" id="{2869597B-F909-5F67-0679-C0ADB832BB0C}"/>
              </a:ext>
            </a:extLst>
          </p:cNvPr>
          <p:cNvSpPr>
            <a:spLocks noGrp="1"/>
          </p:cNvSpPr>
          <p:nvPr>
            <p:ph type="ctrTitle"/>
          </p:nvPr>
        </p:nvSpPr>
        <p:spPr>
          <a:xfrm>
            <a:off x="1027460" y="2767054"/>
            <a:ext cx="5200650" cy="1794141"/>
          </a:xfrm>
          <a:prstGeom prst="rect">
            <a:avLst/>
          </a:prstGeom>
          <a:noFill/>
          <a:ln>
            <a:noFill/>
          </a:ln>
        </p:spPr>
        <p:txBody>
          <a:bodyPr vert="horz" wrap="square" lIns="91440" tIns="45720" rIns="91440" bIns="45720" rtlCol="0" anchor="b">
            <a:noAutofit/>
          </a:bodyPr>
          <a:lstStyle>
            <a:lvl1pPr algn="ctr">
              <a:defRPr lang="zh-CN" altLang="en-US" sz="4400" i="0" dirty="0">
                <a:solidFill>
                  <a:schemeClr val="bg1"/>
                </a:solidFill>
              </a:defRPr>
            </a:lvl1pPr>
          </a:lstStyle>
          <a:p>
            <a:pPr lvl="0"/>
            <a:endParaRPr lang="zh-CN" altLang="en-US" dirty="0"/>
          </a:p>
        </p:txBody>
      </p:sp>
      <p:cxnSp>
        <p:nvCxnSpPr>
          <p:cNvPr id="8" name="Straight Connector 13">
            <a:extLst>
              <a:ext uri="{FF2B5EF4-FFF2-40B4-BE49-F238E27FC236}">
                <a16:creationId xmlns:a16="http://schemas.microsoft.com/office/drawing/2014/main" id="{A7BE3E13-E4E5-2397-0174-77949629B0D5}"/>
              </a:ext>
            </a:extLst>
          </p:cNvPr>
          <p:cNvCxnSpPr>
            <a:cxnSpLocks/>
          </p:cNvCxnSpPr>
          <p:nvPr/>
        </p:nvCxnSpPr>
        <p:spPr>
          <a:xfrm flipV="1">
            <a:off x="949310" y="2458825"/>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4" name="图片 3">
            <a:extLst>
              <a:ext uri="{FF2B5EF4-FFF2-40B4-BE49-F238E27FC236}">
                <a16:creationId xmlns:a16="http://schemas.microsoft.com/office/drawing/2014/main" id="{F90B7826-24A7-BC3C-73C9-9F5F7B19EAE5}"/>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5" name="图片 4">
            <a:extLst>
              <a:ext uri="{FF2B5EF4-FFF2-40B4-BE49-F238E27FC236}">
                <a16:creationId xmlns:a16="http://schemas.microsoft.com/office/drawing/2014/main" id="{0BDE140C-EF3F-E22F-4A92-E3E962B8277F}"/>
              </a:ext>
            </a:extLst>
          </p:cNvPr>
          <p:cNvPicPr>
            <a:picLocks noChangeAspect="1"/>
          </p:cNvPicPr>
          <p:nvPr/>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3124639212"/>
      </p:ext>
    </p:extLst>
  </p:cSld>
  <p:clrMapOvr>
    <a:overrideClrMapping bg1="lt1" tx1="dk1" bg2="lt2" tx2="dk2" accent1="accent1" accent2="accent2" accent3="accent3" accent4="accent4" accent5="accent5" accent6="accent6" hlink="hlink" folHlink="folHlink"/>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p:cSld name="5_标题幻灯片">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C2C7C2A-E334-E5BD-47CD-7B7479086E5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Title 1">
            <a:extLst>
              <a:ext uri="{FF2B5EF4-FFF2-40B4-BE49-F238E27FC236}">
                <a16:creationId xmlns:a16="http://schemas.microsoft.com/office/drawing/2014/main" id="{53FD368F-863D-4527-8F6D-CEC87B7E23EE}"/>
              </a:ext>
            </a:extLst>
          </p:cNvPr>
          <p:cNvSpPr>
            <a:spLocks noGrp="1"/>
          </p:cNvSpPr>
          <p:nvPr>
            <p:ph type="ctrTitle"/>
          </p:nvPr>
        </p:nvSpPr>
        <p:spPr>
          <a:xfrm>
            <a:off x="1029470" y="1862477"/>
            <a:ext cx="5200650" cy="2605695"/>
          </a:xfrm>
          <a:prstGeom prst="rect">
            <a:avLst/>
          </a:prstGeom>
          <a:noFill/>
          <a:ln>
            <a:noFill/>
          </a:ln>
        </p:spPr>
        <p:txBody>
          <a:bodyPr vert="horz" wrap="square" lIns="91440" tIns="45720" rIns="91440" bIns="45720" rtlCol="0" anchor="b">
            <a:noAutofit/>
          </a:bodyPr>
          <a:lstStyle>
            <a:lvl1pPr algn="ctr">
              <a:defRPr lang="zh-CN" altLang="en-US" sz="4400" i="0" dirty="0">
                <a:solidFill>
                  <a:schemeClr val="bg1"/>
                </a:solidFill>
              </a:defRPr>
            </a:lvl1pPr>
          </a:lstStyle>
          <a:p>
            <a:pPr lvl="0"/>
            <a:endParaRPr lang="zh-CN" altLang="en-US" dirty="0"/>
          </a:p>
        </p:txBody>
      </p:sp>
      <p:sp>
        <p:nvSpPr>
          <p:cNvPr id="4" name="Rectangle 3">
            <a:extLst>
              <a:ext uri="{FF2B5EF4-FFF2-40B4-BE49-F238E27FC236}">
                <a16:creationId xmlns:a16="http://schemas.microsoft.com/office/drawing/2014/main" id="{12F37E50-CF33-4241-AF80-F4953C679288}"/>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Rectangle 11">
            <a:extLst>
              <a:ext uri="{FF2B5EF4-FFF2-40B4-BE49-F238E27FC236}">
                <a16:creationId xmlns:a16="http://schemas.microsoft.com/office/drawing/2014/main" id="{0F60084F-F637-4FA4-BE35-D702CF6DAA6A}"/>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4" name="Straight Connector 13">
            <a:extLst>
              <a:ext uri="{FF2B5EF4-FFF2-40B4-BE49-F238E27FC236}">
                <a16:creationId xmlns:a16="http://schemas.microsoft.com/office/drawing/2014/main" id="{DC3C8D67-DBD4-4831-B956-FBC1F2BA8C47}"/>
              </a:ext>
            </a:extLst>
          </p:cNvPr>
          <p:cNvCxnSpPr>
            <a:cxnSpLocks/>
          </p:cNvCxnSpPr>
          <p:nvPr/>
        </p:nvCxnSpPr>
        <p:spPr>
          <a:xfrm flipV="1">
            <a:off x="957262" y="1862477"/>
            <a:ext cx="0" cy="2530778"/>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pic>
        <p:nvPicPr>
          <p:cNvPr id="3" name="图片 2">
            <a:extLst>
              <a:ext uri="{FF2B5EF4-FFF2-40B4-BE49-F238E27FC236}">
                <a16:creationId xmlns:a16="http://schemas.microsoft.com/office/drawing/2014/main" id="{74BF5D31-C802-5511-E1A1-34DAF124960F}"/>
              </a:ext>
            </a:extLst>
          </p:cNvPr>
          <p:cNvPicPr>
            <a:picLocks noChangeAspect="1"/>
          </p:cNvPicPr>
          <p:nvPr/>
        </p:nvPicPr>
        <p:blipFill>
          <a:blip r:embed="rId3" cstate="print">
            <a:duotone>
              <a:prstClr val="black"/>
              <a:schemeClr val="tx2">
                <a:tint val="45000"/>
                <a:satMod val="400000"/>
              </a:schemeClr>
            </a:duotone>
            <a:extLst>
              <a:ext uri="{BEBA8EAE-BF5A-486C-A8C5-ECC9F3942E4B}">
                <a14:imgProps xmlns:a14="http://schemas.microsoft.com/office/drawing/2010/main">
                  <a14:imgLayer r:embed="rId4">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5" name="图片 4">
            <a:extLst>
              <a:ext uri="{FF2B5EF4-FFF2-40B4-BE49-F238E27FC236}">
                <a16:creationId xmlns:a16="http://schemas.microsoft.com/office/drawing/2014/main" id="{D51DAAEB-A801-F029-2DA0-673028BC1641}"/>
              </a:ext>
            </a:extLst>
          </p:cNvPr>
          <p:cNvPicPr>
            <a:picLocks noChangeAspect="1"/>
          </p:cNvPicPr>
          <p:nvPr/>
        </p:nvPicPr>
        <p:blipFill>
          <a:blip r:embed="rId5"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3820884742"/>
      </p:ext>
    </p:extLst>
  </p:cSld>
  <p:clrMapOvr>
    <a:overrideClrMapping bg1="lt1" tx1="dk1" bg2="lt2" tx2="dk2" accent1="accent1" accent2="accent2" accent3="accent3" accent4="accent4" accent5="accent5" accent6="accent6" hlink="hlink" folHlink="folHlink"/>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p:cSld name="2_节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04B5FBE3-2983-7A7E-EDBF-7AD37AC20D3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2" name="标题 1"/>
          <p:cNvSpPr>
            <a:spLocks noGrp="1"/>
          </p:cNvSpPr>
          <p:nvPr>
            <p:ph type="title"/>
          </p:nvPr>
        </p:nvSpPr>
        <p:spPr>
          <a:xfrm>
            <a:off x="788155" y="2458832"/>
            <a:ext cx="10363200" cy="1362075"/>
          </a:xfrm>
          <a:prstGeom prst="rect">
            <a:avLst/>
          </a:prstGeom>
        </p:spPr>
        <p:txBody>
          <a:bodyPr anchor="t">
            <a:normAutofit/>
          </a:bodyPr>
          <a:lstStyle>
            <a:lvl1pPr algn="ctr">
              <a:defRPr sz="4400" b="1" cap="all">
                <a:solidFill>
                  <a:schemeClr val="accent1"/>
                </a:solidFill>
              </a:defRPr>
            </a:lvl1pPr>
          </a:lstStyle>
          <a:p>
            <a:r>
              <a:rPr lang="zh-CN" altLang="en-US"/>
              <a:t>单击此处编辑母版标题样式</a:t>
            </a:r>
            <a:endParaRPr lang="zh-CN" altLang="en-US" dirty="0"/>
          </a:p>
        </p:txBody>
      </p:sp>
      <p:pic>
        <p:nvPicPr>
          <p:cNvPr id="3" name="图片 2">
            <a:extLst>
              <a:ext uri="{FF2B5EF4-FFF2-40B4-BE49-F238E27FC236}">
                <a16:creationId xmlns:a16="http://schemas.microsoft.com/office/drawing/2014/main" id="{2B64EF90-A043-CF53-4A64-26B4932B7055}"/>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4" name="图片 3">
            <a:extLst>
              <a:ext uri="{FF2B5EF4-FFF2-40B4-BE49-F238E27FC236}">
                <a16:creationId xmlns:a16="http://schemas.microsoft.com/office/drawing/2014/main" id="{7FF88E22-8B91-66CE-8127-F4DF49D0C47F}"/>
              </a:ext>
            </a:extLst>
          </p:cNvPr>
          <p:cNvPicPr>
            <a:picLocks noChangeAspect="1"/>
          </p:cNvPicPr>
          <p:nvPr/>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2834009390"/>
      </p:ext>
    </p:extLst>
  </p:cSld>
  <p:clrMapOvr>
    <a:overrideClrMapping bg1="lt1" tx1="dk1" bg2="lt2" tx2="dk2" accent1="accent1" accent2="accent2" accent3="accent3" accent4="accent4" accent5="accent5" accent6="accent6" hlink="hlink" folHlink="folHlink"/>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p:cSld name="3_节标题">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AD9F9ABC-0F7B-6DEB-6195-893CD20C74E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5" name="Text Placeholder 4">
            <a:extLst>
              <a:ext uri="{FF2B5EF4-FFF2-40B4-BE49-F238E27FC236}">
                <a16:creationId xmlns:a16="http://schemas.microsoft.com/office/drawing/2014/main" id="{7AF4A77F-477A-42CF-AB01-C5164F0848BA}"/>
              </a:ext>
            </a:extLst>
          </p:cNvPr>
          <p:cNvSpPr>
            <a:spLocks noGrp="1"/>
          </p:cNvSpPr>
          <p:nvPr>
            <p:ph type="body" sz="quarter" idx="10"/>
          </p:nvPr>
        </p:nvSpPr>
        <p:spPr>
          <a:xfrm>
            <a:off x="3447433" y="3111089"/>
            <a:ext cx="4607238" cy="794990"/>
          </a:xfrm>
        </p:spPr>
        <p:txBody>
          <a:bodyPr wrap="none">
            <a:noAutofit/>
          </a:bodyPr>
          <a:lstStyle>
            <a:lvl1pPr marL="0" indent="0" algn="ctr">
              <a:buNone/>
              <a:defRPr sz="4400" b="1" i="0">
                <a:solidFill>
                  <a:schemeClr val="bg1"/>
                </a:solidFill>
                <a:latin typeface="+mj-lt"/>
              </a:defRPr>
            </a:lvl1pPr>
            <a:lvl2pPr marL="457166" indent="0">
              <a:buNone/>
              <a:defRPr b="1">
                <a:solidFill>
                  <a:schemeClr val="bg1"/>
                </a:solidFill>
              </a:defRPr>
            </a:lvl2pPr>
            <a:lvl3pPr marL="914330" indent="0">
              <a:buNone/>
              <a:defRPr b="1">
                <a:solidFill>
                  <a:schemeClr val="bg1"/>
                </a:solidFill>
              </a:defRPr>
            </a:lvl3pPr>
            <a:lvl4pPr marL="1371496" indent="0">
              <a:buNone/>
              <a:defRPr b="1">
                <a:solidFill>
                  <a:schemeClr val="bg1"/>
                </a:solidFill>
              </a:defRPr>
            </a:lvl4pPr>
            <a:lvl5pPr marL="1828663" indent="0">
              <a:buNone/>
              <a:defRPr b="1">
                <a:solidFill>
                  <a:schemeClr val="bg1"/>
                </a:solidFill>
              </a:defRPr>
            </a:lvl5pPr>
          </a:lstStyle>
          <a:p>
            <a:pPr lvl="0"/>
            <a:endParaRPr lang="zh-CN" altLang="en-US" dirty="0"/>
          </a:p>
        </p:txBody>
      </p:sp>
      <p:pic>
        <p:nvPicPr>
          <p:cNvPr id="2" name="图片 1">
            <a:extLst>
              <a:ext uri="{FF2B5EF4-FFF2-40B4-BE49-F238E27FC236}">
                <a16:creationId xmlns:a16="http://schemas.microsoft.com/office/drawing/2014/main" id="{1D90DB62-1BC7-5189-C42C-3D9961ED2577}"/>
              </a:ext>
            </a:extLst>
          </p:cNvPr>
          <p:cNvPicPr>
            <a:picLocks noChangeAspect="1"/>
          </p:cNvPicPr>
          <p:nvPr/>
        </p:nvPicPr>
        <p:blipFill>
          <a:blip r:embed="rId3"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3" name="图片 2">
            <a:extLst>
              <a:ext uri="{FF2B5EF4-FFF2-40B4-BE49-F238E27FC236}">
                <a16:creationId xmlns:a16="http://schemas.microsoft.com/office/drawing/2014/main" id="{0C6513E3-AF68-087D-8BA6-B5B4CB4517E2}"/>
              </a:ext>
            </a:extLst>
          </p:cNvPr>
          <p:cNvPicPr>
            <a:picLocks noChangeAspect="1"/>
          </p:cNvPicPr>
          <p:nvPr/>
        </p:nvPicPr>
        <p:blipFill>
          <a:blip r:embed="rId4" cstate="print">
            <a:duotone>
              <a:prstClr val="black"/>
              <a:schemeClr val="tx2">
                <a:tint val="45000"/>
                <a:satMod val="400000"/>
              </a:schemeClr>
            </a:duotone>
            <a:extLst>
              <a:ext uri="{BEBA8EAE-BF5A-486C-A8C5-ECC9F3942E4B}">
                <a14:imgProps xmlns:a14="http://schemas.microsoft.com/office/drawing/2010/main">
                  <a14:imgLayer r:embed="rId5">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662626141"/>
      </p:ext>
    </p:extLst>
  </p:cSld>
  <p:clrMapOvr>
    <a:overrideClrMapping bg1="lt1" tx1="dk1" bg2="lt2" tx2="dk2" accent1="accent1" accent2="accent2" accent3="accent3" accent4="accent4" accent5="accent5" accent6="accent6" hlink="hlink" folHlink="folHlink"/>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preserve="1">
  <p:cSld name="1_末尾幻灯片">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1880324D-53AD-EC4E-B92F-83312C80ED4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610" y="0"/>
            <a:ext cx="12192000" cy="7007940"/>
          </a:xfrm>
          <a:prstGeom prst="rect">
            <a:avLst/>
          </a:prstGeom>
        </p:spPr>
      </p:pic>
      <p:sp>
        <p:nvSpPr>
          <p:cNvPr id="14" name="Rectangle 13">
            <a:extLst>
              <a:ext uri="{FF2B5EF4-FFF2-40B4-BE49-F238E27FC236}">
                <a16:creationId xmlns:a16="http://schemas.microsoft.com/office/drawing/2014/main" id="{4129C334-CACA-4BE1-A84C-41F6820FF127}"/>
              </a:ext>
            </a:extLst>
          </p:cNvPr>
          <p:cNvSpPr/>
          <p:nvPr/>
        </p:nvSpPr>
        <p:spPr>
          <a:xfrm>
            <a:off x="7026401" y="0"/>
            <a:ext cx="593599" cy="426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Rectangle 14">
            <a:extLst>
              <a:ext uri="{FF2B5EF4-FFF2-40B4-BE49-F238E27FC236}">
                <a16:creationId xmlns:a16="http://schemas.microsoft.com/office/drawing/2014/main" id="{6907BCD2-9008-43D6-B003-96C575232D66}"/>
              </a:ext>
            </a:extLst>
          </p:cNvPr>
          <p:cNvSpPr/>
          <p:nvPr/>
        </p:nvSpPr>
        <p:spPr>
          <a:xfrm>
            <a:off x="7323200" y="3911100"/>
            <a:ext cx="593599" cy="29594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 name="Freeform: Shape 10">
            <a:extLst>
              <a:ext uri="{FF2B5EF4-FFF2-40B4-BE49-F238E27FC236}">
                <a16:creationId xmlns:a16="http://schemas.microsoft.com/office/drawing/2014/main" id="{0A271160-581E-4BCE-BACF-7271659F1D01}"/>
              </a:ext>
            </a:extLst>
          </p:cNvPr>
          <p:cNvSpPr/>
          <p:nvPr/>
        </p:nvSpPr>
        <p:spPr>
          <a:xfrm>
            <a:off x="12191319" y="0"/>
            <a:ext cx="684" cy="13546"/>
          </a:xfrm>
          <a:custGeom>
            <a:avLst/>
            <a:gdLst>
              <a:gd name="connsiteX0" fmla="*/ 0 w 684"/>
              <a:gd name="connsiteY0" fmla="*/ 0 h 13546"/>
              <a:gd name="connsiteX1" fmla="*/ 684 w 684"/>
              <a:gd name="connsiteY1" fmla="*/ 0 h 13546"/>
              <a:gd name="connsiteX2" fmla="*/ 684 w 684"/>
              <a:gd name="connsiteY2" fmla="*/ 13546 h 13546"/>
              <a:gd name="connsiteX3" fmla="*/ 0 w 684"/>
              <a:gd name="connsiteY3" fmla="*/ 0 h 13546"/>
            </a:gdLst>
            <a:ahLst/>
            <a:cxnLst>
              <a:cxn ang="0">
                <a:pos x="connsiteX0" y="connsiteY0"/>
              </a:cxn>
              <a:cxn ang="0">
                <a:pos x="connsiteX1" y="connsiteY1"/>
              </a:cxn>
              <a:cxn ang="0">
                <a:pos x="connsiteX2" y="connsiteY2"/>
              </a:cxn>
              <a:cxn ang="0">
                <a:pos x="connsiteX3" y="connsiteY3"/>
              </a:cxn>
            </a:cxnLst>
            <a:rect l="l" t="t" r="r" b="b"/>
            <a:pathLst>
              <a:path w="684" h="13546">
                <a:moveTo>
                  <a:pt x="0" y="0"/>
                </a:moveTo>
                <a:lnTo>
                  <a:pt x="684" y="0"/>
                </a:lnTo>
                <a:lnTo>
                  <a:pt x="684" y="13546"/>
                </a:lnTo>
                <a:lnTo>
                  <a:pt x="0" y="0"/>
                </a:lnTo>
                <a:close/>
              </a:path>
            </a:pathLst>
          </a:custGeom>
          <a:solidFill>
            <a:schemeClr val="bg1"/>
          </a:solidFill>
          <a:ln w="14015" cap="flat">
            <a:noFill/>
            <a:prstDash val="solid"/>
            <a:miter/>
          </a:ln>
        </p:spPr>
        <p:txBody>
          <a:bodyPr wrap="square" rtlCol="0" anchor="ctr">
            <a:noAutofit/>
          </a:bodyPr>
          <a:lstStyle/>
          <a:p>
            <a:endParaRPr lang="zh-CN" altLang="en-US" sz="1800">
              <a:solidFill>
                <a:schemeClr val="tx1"/>
              </a:solidFill>
            </a:endParaRPr>
          </a:p>
        </p:txBody>
      </p:sp>
      <p:sp>
        <p:nvSpPr>
          <p:cNvPr id="27" name="Text Placeholder 26">
            <a:extLst>
              <a:ext uri="{FF2B5EF4-FFF2-40B4-BE49-F238E27FC236}">
                <a16:creationId xmlns:a16="http://schemas.microsoft.com/office/drawing/2014/main" id="{FEA7D86A-A334-4E0C-B01B-43F345A176DE}"/>
              </a:ext>
            </a:extLst>
          </p:cNvPr>
          <p:cNvSpPr>
            <a:spLocks noGrp="1"/>
          </p:cNvSpPr>
          <p:nvPr>
            <p:ph type="body" sz="quarter" idx="12" hasCustomPrompt="1"/>
          </p:nvPr>
        </p:nvSpPr>
        <p:spPr>
          <a:xfrm>
            <a:off x="8314441" y="6082576"/>
            <a:ext cx="3204458" cy="230832"/>
          </a:xfrm>
        </p:spPr>
        <p:txBody>
          <a:bodyPr vert="horz" wrap="none" lIns="91440" tIns="45720" rIns="91440" bIns="45720" rtlCol="0" anchor="ctr">
            <a:noAutofit/>
          </a:bodyPr>
          <a:lstStyle>
            <a:lvl1pPr>
              <a:defRPr lang="en-US" altLang="zh-CN" sz="1600" b="1" dirty="0">
                <a:ln>
                  <a:noFill/>
                </a:ln>
                <a:solidFill>
                  <a:schemeClr val="accent1"/>
                </a:solidFill>
                <a:latin typeface="+mj-lt"/>
                <a:ea typeface="+mj-ea"/>
                <a:cs typeface="+mj-cs"/>
              </a:defRPr>
            </a:lvl1pPr>
          </a:lstStyle>
          <a:p>
            <a:pPr marL="228573" marR="0" lvl="0" indent="-228573" algn="r" defTabSz="914332" rtl="0" eaLnBrk="1" fontAlgn="auto" latinLnBrk="0" hangingPunct="1">
              <a:lnSpc>
                <a:spcPct val="90000"/>
              </a:lnSpc>
              <a:spcBef>
                <a:spcPct val="0"/>
              </a:spcBef>
              <a:spcAft>
                <a:spcPts val="0"/>
              </a:spcAft>
              <a:buClrTx/>
              <a:buSzTx/>
              <a:buFont typeface="Arial" panose="020B0604020202020204" pitchFamily="34" charset="0"/>
              <a:buNone/>
              <a:tabLst/>
              <a:defRPr/>
            </a:pPr>
            <a:r>
              <a:rPr lang="en-US" altLang="zh-CN" dirty="0"/>
              <a:t>Grit</a:t>
            </a:r>
          </a:p>
        </p:txBody>
      </p:sp>
      <p:sp>
        <p:nvSpPr>
          <p:cNvPr id="3" name="Text Placeholder 2">
            <a:extLst>
              <a:ext uri="{FF2B5EF4-FFF2-40B4-BE49-F238E27FC236}">
                <a16:creationId xmlns:a16="http://schemas.microsoft.com/office/drawing/2014/main" id="{FC1A48BB-A1A1-4744-B0D3-FD4F42C33B9B}"/>
              </a:ext>
            </a:extLst>
          </p:cNvPr>
          <p:cNvSpPr>
            <a:spLocks noGrp="1"/>
          </p:cNvSpPr>
          <p:nvPr>
            <p:ph type="body" sz="quarter" idx="13" hasCustomPrompt="1"/>
          </p:nvPr>
        </p:nvSpPr>
        <p:spPr>
          <a:xfrm>
            <a:off x="714723" y="2737247"/>
            <a:ext cx="5842001" cy="1383506"/>
          </a:xfrm>
        </p:spPr>
        <p:txBody>
          <a:bodyPr vert="horz" lIns="91440" tIns="45720" rIns="91440" bIns="45720" rtlCol="0" anchor="b">
            <a:noAutofit/>
          </a:bodyPr>
          <a:lstStyle>
            <a:lvl1pPr algn="l">
              <a:defRPr lang="en-US" altLang="zh-CN" sz="8000" b="1" i="0" dirty="0">
                <a:solidFill>
                  <a:srgbClr val="FFFFFF"/>
                </a:solidFill>
                <a:latin typeface="+mj-lt"/>
                <a:ea typeface="+mj-ea"/>
                <a:cs typeface="+mj-cs"/>
              </a:defRPr>
            </a:lvl1pPr>
          </a:lstStyle>
          <a:p>
            <a:pPr lvl="0">
              <a:spcBef>
                <a:spcPct val="0"/>
              </a:spcBef>
              <a:buNone/>
            </a:pPr>
            <a:r>
              <a:rPr lang="en-US" altLang="zh-CN" dirty="0"/>
              <a:t>Thank you</a:t>
            </a:r>
          </a:p>
        </p:txBody>
      </p:sp>
      <p:pic>
        <p:nvPicPr>
          <p:cNvPr id="7" name="图片 6">
            <a:extLst>
              <a:ext uri="{FF2B5EF4-FFF2-40B4-BE49-F238E27FC236}">
                <a16:creationId xmlns:a16="http://schemas.microsoft.com/office/drawing/2014/main" id="{ACA91101-6551-CFAC-38BE-CAD07DFA046C}"/>
              </a:ext>
            </a:extLst>
          </p:cNvPr>
          <p:cNvPicPr>
            <a:picLocks noChangeAspect="1"/>
          </p:cNvPicPr>
          <p:nvPr/>
        </p:nvPicPr>
        <p:blipFill>
          <a:blip r:embed="rId3" cstate="print">
            <a:duotone>
              <a:schemeClr val="bg2">
                <a:shade val="45000"/>
                <a:satMod val="135000"/>
              </a:schemeClr>
              <a:prstClr val="white"/>
            </a:duotone>
            <a:extLst>
              <a:ext uri="{BEBA8EAE-BF5A-486C-A8C5-ECC9F3942E4B}">
                <a14:imgProps xmlns:a14="http://schemas.microsoft.com/office/drawing/2010/main">
                  <a14:imgLayer r:embed="rId4">
                    <a14:imgEffect>
                      <a14:colorTemperature colorTemp="4700"/>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8213598" y="2801933"/>
            <a:ext cx="3516518" cy="1579597"/>
          </a:xfrm>
          <a:prstGeom prst="rect">
            <a:avLst/>
          </a:prstGeom>
        </p:spPr>
      </p:pic>
      <p:pic>
        <p:nvPicPr>
          <p:cNvPr id="4" name="图片 3">
            <a:extLst>
              <a:ext uri="{FF2B5EF4-FFF2-40B4-BE49-F238E27FC236}">
                <a16:creationId xmlns:a16="http://schemas.microsoft.com/office/drawing/2014/main" id="{16367A13-8D37-4D16-02BF-867DB1639451}"/>
              </a:ext>
            </a:extLst>
          </p:cNvPr>
          <p:cNvPicPr>
            <a:picLocks noChangeAspect="1"/>
          </p:cNvPicPr>
          <p:nvPr/>
        </p:nvPicPr>
        <p:blipFill>
          <a:blip r:embed="rId5" cstate="print">
            <a:duotone>
              <a:prstClr val="black"/>
              <a:schemeClr val="tx2">
                <a:tint val="45000"/>
                <a:satMod val="400000"/>
              </a:schemeClr>
            </a:duotone>
            <a:extLst>
              <a:ext uri="{BEBA8EAE-BF5A-486C-A8C5-ECC9F3942E4B}">
                <a14:imgProps xmlns:a14="http://schemas.microsoft.com/office/drawing/2010/main">
                  <a14:imgLayer r:embed="rId6">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pic>
        <p:nvPicPr>
          <p:cNvPr id="5" name="图片 4">
            <a:extLst>
              <a:ext uri="{FF2B5EF4-FFF2-40B4-BE49-F238E27FC236}">
                <a16:creationId xmlns:a16="http://schemas.microsoft.com/office/drawing/2014/main" id="{0BEF51FA-017F-F0D1-9466-B21881B7CA77}"/>
              </a:ext>
            </a:extLst>
          </p:cNvPr>
          <p:cNvPicPr>
            <a:picLocks noChangeAspect="1"/>
          </p:cNvPicPr>
          <p:nvPr/>
        </p:nvPicPr>
        <p:blipFill>
          <a:blip r:embed="rId7"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spTree>
    <p:extLst>
      <p:ext uri="{BB962C8B-B14F-4D97-AF65-F5344CB8AC3E}">
        <p14:creationId xmlns:p14="http://schemas.microsoft.com/office/powerpoint/2010/main" val="3441951461"/>
      </p:ext>
    </p:extLst>
  </p:cSld>
  <p:clrMapOvr>
    <a:overrideClrMapping bg1="lt1" tx1="dk1" bg2="lt2" tx2="dk2" accent1="accent1" accent2="accent2" accent3="accent3" accent4="accent4" accent5="accent5" accent6="accent6" hlink="hlink" folHlink="folHlink"/>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preserve="1">
  <p:cSld name="2_Title Slide">
    <p:spTree>
      <p:nvGrpSpPr>
        <p:cNvPr id="1" name=""/>
        <p:cNvGrpSpPr/>
        <p:nvPr/>
      </p:nvGrpSpPr>
      <p:grpSpPr>
        <a:xfrm>
          <a:off x="0" y="0"/>
          <a:ext cx="0" cy="0"/>
          <a:chOff x="0" y="0"/>
          <a:chExt cx="0" cy="0"/>
        </a:xfrm>
      </p:grpSpPr>
      <p:grpSp>
        <p:nvGrpSpPr>
          <p:cNvPr id="40" name="组合 39"/>
          <p:cNvGrpSpPr/>
          <p:nvPr/>
        </p:nvGrpSpPr>
        <p:grpSpPr>
          <a:xfrm>
            <a:off x="0" y="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tx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8" name="标题 4">
            <a:extLst>
              <a:ext uri="{FF2B5EF4-FFF2-40B4-BE49-F238E27FC236}">
                <a16:creationId xmlns:a16="http://schemas.microsoft.com/office/drawing/2014/main" id="{D4E51AF3-4B86-C068-61E8-F89039CF3D69}"/>
              </a:ext>
            </a:extLst>
          </p:cNvPr>
          <p:cNvSpPr>
            <a:spLocks noGrp="1"/>
          </p:cNvSpPr>
          <p:nvPr>
            <p:ph type="ctrTitle"/>
          </p:nvPr>
        </p:nvSpPr>
        <p:spPr>
          <a:xfrm>
            <a:off x="4594541" y="1855139"/>
            <a:ext cx="6749372" cy="2587173"/>
          </a:xfrm>
          <a:prstGeom prst="rect">
            <a:avLst/>
          </a:prstGeom>
        </p:spPr>
        <p:txBody>
          <a:bodyPr wrap="square" anchor="b">
            <a:normAutofit/>
          </a:bodyPr>
          <a:lstStyle>
            <a:lvl1pPr algn="ctr">
              <a:lnSpc>
                <a:spcPct val="100000"/>
              </a:lnSpc>
              <a:defRPr sz="5400">
                <a:ln w="19050">
                  <a:noFill/>
                </a:ln>
                <a:solidFill>
                  <a:schemeClr val="bg1"/>
                </a:solidFill>
              </a:defRPr>
            </a:lvl1pPr>
          </a:lstStyle>
          <a:p>
            <a:pPr lvl="0"/>
            <a:endParaRPr lang="en-US" dirty="0"/>
          </a:p>
        </p:txBody>
      </p:sp>
      <p:pic>
        <p:nvPicPr>
          <p:cNvPr id="3" name="图片 2">
            <a:extLst>
              <a:ext uri="{FF2B5EF4-FFF2-40B4-BE49-F238E27FC236}">
                <a16:creationId xmlns:a16="http://schemas.microsoft.com/office/drawing/2014/main" id="{28F19448-DCD7-2BCE-82BA-95A656302291}"/>
              </a:ext>
            </a:extLst>
          </p:cNvPr>
          <p:cNvPicPr>
            <a:picLocks noChangeAspect="1"/>
          </p:cNvPicPr>
          <p:nvPr/>
        </p:nvPicPr>
        <p:blipFill>
          <a:blip r:embed="rId5" cstate="print">
            <a:duotone>
              <a:prstClr val="black"/>
              <a:schemeClr val="tx2">
                <a:tint val="45000"/>
                <a:satMod val="400000"/>
              </a:schemeClr>
            </a:duotone>
            <a:extLst>
              <a:ext uri="{BEBA8EAE-BF5A-486C-A8C5-ECC9F3942E4B}">
                <a14:imgProps xmlns:a14="http://schemas.microsoft.com/office/drawing/2010/main">
                  <a14:imgLayer r:embed="rId6">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
        <p:nvSpPr>
          <p:cNvPr id="4" name="文本框 3">
            <a:extLst>
              <a:ext uri="{FF2B5EF4-FFF2-40B4-BE49-F238E27FC236}">
                <a16:creationId xmlns:a16="http://schemas.microsoft.com/office/drawing/2014/main" id="{7C0BEDAE-EB8C-24D6-C6AF-B8C73A0C8E8B}"/>
              </a:ext>
            </a:extLst>
          </p:cNvPr>
          <p:cNvSpPr txBox="1"/>
          <p:nvPr/>
        </p:nvSpPr>
        <p:spPr>
          <a:xfrm>
            <a:off x="1104756" y="2579023"/>
            <a:ext cx="1946564" cy="1107996"/>
          </a:xfrm>
          <a:prstGeom prst="rect">
            <a:avLst/>
          </a:prstGeom>
          <a:noFill/>
        </p:spPr>
        <p:txBody>
          <a:bodyPr wrap="square" rtlCol="0">
            <a:spAutoFit/>
          </a:bodyPr>
          <a:lstStyle/>
          <a:p>
            <a:r>
              <a:rPr lang="en-US" altLang="zh-CN" sz="6600" b="1" dirty="0">
                <a:solidFill>
                  <a:schemeClr val="bg1"/>
                </a:solidFill>
                <a:latin typeface="+mj-ea"/>
                <a:ea typeface="+mj-ea"/>
              </a:rPr>
              <a:t>IPC</a:t>
            </a:r>
            <a:endParaRPr lang="zh-CN" altLang="en-US" sz="6600" b="1" dirty="0">
              <a:solidFill>
                <a:schemeClr val="bg1"/>
              </a:solidFill>
              <a:latin typeface="+mj-ea"/>
              <a:ea typeface="+mj-ea"/>
            </a:endParaRPr>
          </a:p>
        </p:txBody>
      </p:sp>
    </p:spTree>
    <p:extLst>
      <p:ext uri="{BB962C8B-B14F-4D97-AF65-F5344CB8AC3E}">
        <p14:creationId xmlns:p14="http://schemas.microsoft.com/office/powerpoint/2010/main" val="4270027954"/>
      </p:ext>
    </p:extLst>
  </p:cSld>
  <p:clrMapOvr>
    <a:overrideClrMapping bg1="lt1" tx1="dk1" bg2="lt2" tx2="dk2" accent1="accent1" accent2="accent2" accent3="accent3" accent4="accent4" accent5="accent5" accent6="accent6" hlink="hlink" folHlink="folHlink"/>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3_空白">
    <p:spTree>
      <p:nvGrpSpPr>
        <p:cNvPr id="1" name=""/>
        <p:cNvGrpSpPr/>
        <p:nvPr/>
      </p:nvGrpSpPr>
      <p:grpSpPr>
        <a:xfrm>
          <a:off x="0" y="0"/>
          <a:ext cx="0" cy="0"/>
          <a:chOff x="0" y="0"/>
          <a:chExt cx="0" cy="0"/>
        </a:xfrm>
      </p:grpSpPr>
      <p:sp>
        <p:nvSpPr>
          <p:cNvPr id="5" name="矩形 4"/>
          <p:cNvSpPr/>
          <p:nvPr/>
        </p:nvSpPr>
        <p:spPr>
          <a:xfrm>
            <a:off x="0" y="6729413"/>
            <a:ext cx="12192000" cy="128587"/>
          </a:xfrm>
          <a:prstGeom prst="rect">
            <a:avLst/>
          </a:prstGeom>
          <a:gradFill>
            <a:gsLst>
              <a:gs pos="0">
                <a:schemeClr val="accent2"/>
              </a:gs>
              <a:gs pos="100000">
                <a:schemeClr val="accent1"/>
              </a:gs>
            </a:gsLst>
            <a:lin ang="10800000" scaled="1"/>
          </a:gradFill>
          <a:ln w="19050">
            <a:noFill/>
            <a:round/>
          </a:ln>
        </p:spPr>
        <p:txBody>
          <a:bodyPr vert="horz" wrap="square" lIns="91440" tIns="45720" rIns="91440" bIns="45720" numCol="1" spcCol="0" rtlCol="0" fromWordArt="0" anchor="ctr" anchorCtr="1" forceAA="0" compatLnSpc="1">
            <a:noAutofit/>
          </a:bodyPr>
          <a:lstStyle/>
          <a:p>
            <a:pPr lvl="0" algn="ctr"/>
            <a:endParaRPr lang="zh-CN" altLang="en-US" sz="1200" b="1">
              <a:solidFill>
                <a:schemeClr val="tx1"/>
              </a:solidFill>
            </a:endParaRPr>
          </a:p>
        </p:txBody>
      </p:sp>
      <p:sp>
        <p:nvSpPr>
          <p:cNvPr id="2" name="标题 1">
            <a:extLst>
              <a:ext uri="{FF2B5EF4-FFF2-40B4-BE49-F238E27FC236}">
                <a16:creationId xmlns:a16="http://schemas.microsoft.com/office/drawing/2014/main" id="{37B4B32B-9275-30B2-210F-C8DF270B0BB5}"/>
              </a:ext>
            </a:extLst>
          </p:cNvPr>
          <p:cNvSpPr>
            <a:spLocks noGrp="1"/>
          </p:cNvSpPr>
          <p:nvPr>
            <p:ph type="title"/>
          </p:nvPr>
        </p:nvSpPr>
        <p:spPr>
          <a:xfrm>
            <a:off x="866346" y="38910"/>
            <a:ext cx="10858500" cy="544945"/>
          </a:xfrm>
        </p:spPr>
        <p:txBody>
          <a:bodyPr/>
          <a:lstStyle>
            <a:lvl1pPr>
              <a:defRPr>
                <a:solidFill>
                  <a:schemeClr val="bg1"/>
                </a:solidFill>
              </a:defRPr>
            </a:lvl1pPr>
          </a:lstStyle>
          <a:p>
            <a:pPr lvl="0"/>
            <a:r>
              <a:rPr lang="zh-CN" altLang="en-US"/>
              <a:t>单击此处编辑母版标题样式</a:t>
            </a:r>
            <a:endParaRPr lang="en-US" dirty="0"/>
          </a:p>
        </p:txBody>
      </p:sp>
    </p:spTree>
    <p:extLst>
      <p:ext uri="{BB962C8B-B14F-4D97-AF65-F5344CB8AC3E}">
        <p14:creationId xmlns:p14="http://schemas.microsoft.com/office/powerpoint/2010/main" val="2812931918"/>
      </p:ext>
    </p:extLst>
  </p:cSld>
  <p:clrMapOvr>
    <a:overrideClrMapping bg1="lt1" tx1="dk1" bg2="lt2" tx2="dk2" accent1="accent1" accent2="accent2" accent3="accent3" accent4="accent4" accent5="accent5" accent6="accent6" hlink="hlink" folHlink="folHlink"/>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preserve="1">
  <p:cSld name="6_标题幻灯片">
    <p:spTree>
      <p:nvGrpSpPr>
        <p:cNvPr id="1" name=""/>
        <p:cNvGrpSpPr/>
        <p:nvPr/>
      </p:nvGrpSpPr>
      <p:grpSpPr>
        <a:xfrm>
          <a:off x="0" y="0"/>
          <a:ext cx="0" cy="0"/>
          <a:chOff x="0" y="0"/>
          <a:chExt cx="0" cy="0"/>
        </a:xfrm>
      </p:grpSpPr>
      <p:grpSp>
        <p:nvGrpSpPr>
          <p:cNvPr id="40" name="组合 39"/>
          <p:cNvGrpSpPr/>
          <p:nvPr/>
        </p:nvGrpSpPr>
        <p:grpSpPr>
          <a:xfrm>
            <a:off x="0" y="124500"/>
            <a:ext cx="12192001" cy="6858001"/>
            <a:chOff x="0" y="0"/>
            <a:chExt cx="12192001" cy="6858001"/>
          </a:xfrm>
        </p:grpSpPr>
        <p:sp>
          <p:nvSpPr>
            <p:cNvPr id="26" name="任意多边形: 形状 25"/>
            <p:cNvSpPr/>
            <p:nvPr/>
          </p:nvSpPr>
          <p:spPr>
            <a:xfrm>
              <a:off x="0" y="0"/>
              <a:ext cx="12192000" cy="6857104"/>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blipFill>
              <a:blip r:embed="rId2"/>
              <a:srcRect/>
              <a:stretch>
                <a:fillRect l="-1743" t="-5000" r="-7815" b="-4558"/>
              </a:stretch>
            </a:bli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endParaRPr>
            </a:p>
          </p:txBody>
        </p:sp>
        <p:grpSp>
          <p:nvGrpSpPr>
            <p:cNvPr id="19" name="组合 18"/>
            <p:cNvGrpSpPr/>
            <p:nvPr/>
          </p:nvGrpSpPr>
          <p:grpSpPr>
            <a:xfrm>
              <a:off x="885134" y="580078"/>
              <a:ext cx="544078" cy="349250"/>
              <a:chOff x="765175" y="637358"/>
              <a:chExt cx="544078" cy="349250"/>
            </a:xfrm>
          </p:grpSpPr>
          <p:sp>
            <p:nvSpPr>
              <p:cNvPr id="17" name="椭圆 16"/>
              <p:cNvSpPr/>
              <p:nvPr/>
            </p:nvSpPr>
            <p:spPr>
              <a:xfrm>
                <a:off x="960003" y="637358"/>
                <a:ext cx="349250" cy="349250"/>
              </a:xfrm>
              <a:prstGeom prst="ellipse">
                <a:avLst/>
              </a:pr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bg1"/>
                  </a:solidFill>
                </a:endParaRPr>
              </a:p>
            </p:txBody>
          </p:sp>
          <p:sp>
            <p:nvSpPr>
              <p:cNvPr id="18" name="椭圆 17"/>
              <p:cNvSpPr/>
              <p:nvPr/>
            </p:nvSpPr>
            <p:spPr>
              <a:xfrm>
                <a:off x="765175" y="637358"/>
                <a:ext cx="349250" cy="3492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lvl="0"/>
                <a:endParaRPr lang="zh-CN" altLang="en-US">
                  <a:solidFill>
                    <a:schemeClr val="bg1"/>
                  </a:solidFill>
                </a:endParaRPr>
              </a:p>
            </p:txBody>
          </p:sp>
        </p:grpSp>
        <p:sp>
          <p:nvSpPr>
            <p:cNvPr id="13" name="矩形 12"/>
            <p:cNvSpPr/>
            <p:nvPr/>
          </p:nvSpPr>
          <p:spPr>
            <a:xfrm>
              <a:off x="5276850" y="580079"/>
              <a:ext cx="6915151" cy="6277922"/>
            </a:xfrm>
            <a:prstGeom prst="rect">
              <a:avLst/>
            </a:prstGeom>
            <a:gradFill flip="none" rotWithShape="1">
              <a:gsLst>
                <a:gs pos="44000">
                  <a:schemeClr val="accent2">
                    <a:alpha val="0"/>
                  </a:schemeClr>
                </a:gs>
                <a:gs pos="100000">
                  <a:schemeClr val="accent2"/>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bg1"/>
                </a:solidFill>
              </a:endParaRPr>
            </a:p>
          </p:txBody>
        </p:sp>
        <p:pic>
          <p:nvPicPr>
            <p:cNvPr id="27" name="图片 26"/>
            <p:cNvPicPr>
              <a:picLocks noChangeAspect="1"/>
            </p:cNvPicPr>
            <p:nvPr/>
          </p:nvPicPr>
          <p:blipFill>
            <a:blip r:embed="rId3" cstate="print">
              <a:biLevel thresh="25000"/>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166929" y="615338"/>
              <a:ext cx="278730" cy="278730"/>
            </a:xfrm>
            <a:prstGeom prst="rect">
              <a:avLst/>
            </a:prstGeom>
          </p:spPr>
        </p:pic>
        <p:grpSp>
          <p:nvGrpSpPr>
            <p:cNvPr id="28" name="组合 27"/>
            <p:cNvGrpSpPr/>
            <p:nvPr/>
          </p:nvGrpSpPr>
          <p:grpSpPr>
            <a:xfrm>
              <a:off x="784226" y="3880347"/>
              <a:ext cx="2587624" cy="0"/>
              <a:chOff x="660401" y="4533900"/>
              <a:chExt cx="2587624" cy="0"/>
            </a:xfrm>
          </p:grpSpPr>
          <p:cxnSp>
            <p:nvCxnSpPr>
              <p:cNvPr id="29" name="直接连接符 28"/>
              <p:cNvCxnSpPr>
                <a:cxnSpLocks/>
              </p:cNvCxnSpPr>
              <p:nvPr/>
            </p:nvCxnSpPr>
            <p:spPr>
              <a:xfrm>
                <a:off x="660401" y="4533900"/>
                <a:ext cx="2587624" cy="0"/>
              </a:xfrm>
              <a:prstGeom prst="line">
                <a:avLst/>
              </a:prstGeom>
              <a:ln w="50800" cap="rnd">
                <a:solidFill>
                  <a:schemeClr val="accent1">
                    <a:lumMod val="20000"/>
                    <a:lumOff val="8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a:cxnSpLocks/>
              </p:cNvCxnSpPr>
              <p:nvPr/>
            </p:nvCxnSpPr>
            <p:spPr>
              <a:xfrm>
                <a:off x="660401" y="4533900"/>
                <a:ext cx="1225549" cy="0"/>
              </a:xfrm>
              <a:prstGeom prst="line">
                <a:avLst/>
              </a:prstGeom>
              <a:ln w="50800" cap="rnd">
                <a:gradFill>
                  <a:gsLst>
                    <a:gs pos="0">
                      <a:schemeClr val="accent1"/>
                    </a:gs>
                    <a:gs pos="76000">
                      <a:schemeClr val="accent3"/>
                    </a:gs>
                  </a:gsLst>
                  <a:lin ang="0" scaled="0"/>
                </a:gradFill>
              </a:ln>
            </p:spPr>
            <p:style>
              <a:lnRef idx="1">
                <a:schemeClr val="accent1"/>
              </a:lnRef>
              <a:fillRef idx="0">
                <a:schemeClr val="accent1"/>
              </a:fillRef>
              <a:effectRef idx="0">
                <a:schemeClr val="accent1"/>
              </a:effectRef>
              <a:fontRef idx="minor">
                <a:schemeClr val="tx1"/>
              </a:fontRef>
            </p:style>
          </p:cxnSp>
        </p:grpSp>
        <p:grpSp>
          <p:nvGrpSpPr>
            <p:cNvPr id="54" name="组合 53"/>
            <p:cNvGrpSpPr/>
            <p:nvPr/>
          </p:nvGrpSpPr>
          <p:grpSpPr>
            <a:xfrm rot="16200000">
              <a:off x="10661887" y="5765801"/>
              <a:ext cx="783772" cy="783772"/>
              <a:chOff x="9052852" y="3572185"/>
              <a:chExt cx="344753" cy="344753"/>
            </a:xfrm>
          </p:grpSpPr>
          <p:grpSp>
            <p:nvGrpSpPr>
              <p:cNvPr id="55" name="组合 54"/>
              <p:cNvGrpSpPr/>
              <p:nvPr/>
            </p:nvGrpSpPr>
            <p:grpSpPr>
              <a:xfrm flipV="1">
                <a:off x="9052852" y="3572185"/>
                <a:ext cx="344753" cy="344753"/>
                <a:chOff x="2909263" y="4352415"/>
                <a:chExt cx="93625" cy="93625"/>
              </a:xfrm>
            </p:grpSpPr>
            <p:sp>
              <p:nvSpPr>
                <p:cNvPr id="57" name="椭圆 56"/>
                <p:cNvSpPr/>
                <p:nvPr/>
              </p:nvSpPr>
              <p:spPr>
                <a:xfrm>
                  <a:off x="2909263" y="4352415"/>
                  <a:ext cx="93625" cy="93625"/>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58" name="椭圆 57"/>
                <p:cNvSpPr/>
                <p:nvPr/>
              </p:nvSpPr>
              <p:spPr>
                <a:xfrm>
                  <a:off x="2921417" y="4364569"/>
                  <a:ext cx="69317" cy="69317"/>
                </a:xfrm>
                <a:prstGeom prst="ellipse">
                  <a:avLst/>
                </a:prstGeom>
                <a:gradFill>
                  <a:gsLst>
                    <a:gs pos="0">
                      <a:schemeClr val="accent1"/>
                    </a:gs>
                    <a:gs pos="10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grpSp>
          <p:sp>
            <p:nvSpPr>
              <p:cNvPr id="56" name="等腰三角形 55"/>
              <p:cNvSpPr/>
              <p:nvPr/>
            </p:nvSpPr>
            <p:spPr>
              <a:xfrm rot="10800000">
                <a:off x="9183117" y="3718921"/>
                <a:ext cx="78701" cy="6784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bg1"/>
                  </a:solidFill>
                </a:endParaRPr>
              </a:p>
            </p:txBody>
          </p:sp>
        </p:grpSp>
      </p:grpSp>
      <p:sp>
        <p:nvSpPr>
          <p:cNvPr id="3" name="标题 4">
            <a:extLst>
              <a:ext uri="{FF2B5EF4-FFF2-40B4-BE49-F238E27FC236}">
                <a16:creationId xmlns:a16="http://schemas.microsoft.com/office/drawing/2014/main" id="{B5D391BF-A023-49D2-B62C-E02AC8635D69}"/>
              </a:ext>
            </a:extLst>
          </p:cNvPr>
          <p:cNvSpPr>
            <a:spLocks noGrp="1"/>
          </p:cNvSpPr>
          <p:nvPr>
            <p:ph type="ctrTitle"/>
          </p:nvPr>
        </p:nvSpPr>
        <p:spPr>
          <a:xfrm>
            <a:off x="4556922" y="1839434"/>
            <a:ext cx="6749372" cy="2587173"/>
          </a:xfrm>
          <a:prstGeom prst="rect">
            <a:avLst/>
          </a:prstGeom>
        </p:spPr>
        <p:txBody>
          <a:bodyPr wrap="square" anchor="b">
            <a:normAutofit/>
          </a:bodyPr>
          <a:lstStyle>
            <a:lvl1pPr algn="ctr">
              <a:lnSpc>
                <a:spcPct val="100000"/>
              </a:lnSpc>
              <a:defRPr sz="5400">
                <a:ln w="19050">
                  <a:noFill/>
                </a:ln>
                <a:solidFill>
                  <a:schemeClr val="bg1"/>
                </a:solidFill>
              </a:defRPr>
            </a:lvl1pPr>
          </a:lstStyle>
          <a:p>
            <a:pPr lvl="0"/>
            <a:endParaRPr lang="en-US" dirty="0"/>
          </a:p>
        </p:txBody>
      </p:sp>
      <p:sp>
        <p:nvSpPr>
          <p:cNvPr id="5" name="文本框 4">
            <a:extLst>
              <a:ext uri="{FF2B5EF4-FFF2-40B4-BE49-F238E27FC236}">
                <a16:creationId xmlns:a16="http://schemas.microsoft.com/office/drawing/2014/main" id="{FD9C0D61-6364-EB58-4CE8-074F803A783D}"/>
              </a:ext>
            </a:extLst>
          </p:cNvPr>
          <p:cNvSpPr txBox="1"/>
          <p:nvPr/>
        </p:nvSpPr>
        <p:spPr>
          <a:xfrm>
            <a:off x="1104756" y="2579023"/>
            <a:ext cx="1946564" cy="1107996"/>
          </a:xfrm>
          <a:prstGeom prst="rect">
            <a:avLst/>
          </a:prstGeom>
          <a:noFill/>
        </p:spPr>
        <p:txBody>
          <a:bodyPr wrap="square" rtlCol="0">
            <a:spAutoFit/>
          </a:bodyPr>
          <a:lstStyle/>
          <a:p>
            <a:r>
              <a:rPr lang="en-US" altLang="zh-CN" sz="6600" b="1" dirty="0">
                <a:solidFill>
                  <a:schemeClr val="bg1"/>
                </a:solidFill>
                <a:latin typeface="+mj-ea"/>
                <a:ea typeface="+mj-ea"/>
              </a:rPr>
              <a:t>IPC</a:t>
            </a:r>
            <a:endParaRPr lang="zh-CN" altLang="en-US" sz="6600" b="1" dirty="0">
              <a:solidFill>
                <a:schemeClr val="bg1"/>
              </a:solidFill>
              <a:latin typeface="+mj-ea"/>
              <a:ea typeface="+mj-ea"/>
            </a:endParaRPr>
          </a:p>
        </p:txBody>
      </p:sp>
      <p:pic>
        <p:nvPicPr>
          <p:cNvPr id="2" name="图片 1">
            <a:extLst>
              <a:ext uri="{FF2B5EF4-FFF2-40B4-BE49-F238E27FC236}">
                <a16:creationId xmlns:a16="http://schemas.microsoft.com/office/drawing/2014/main" id="{6249DE40-38DE-0B8C-A57E-BCDCCECD67F0}"/>
              </a:ext>
            </a:extLst>
          </p:cNvPr>
          <p:cNvPicPr>
            <a:picLocks noChangeAspect="1"/>
          </p:cNvPicPr>
          <p:nvPr/>
        </p:nvPicPr>
        <p:blipFill>
          <a:blip r:embed="rId5" cstate="print">
            <a:duotone>
              <a:prstClr val="black"/>
              <a:schemeClr val="accent3">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4" name="图片 3">
            <a:extLst>
              <a:ext uri="{FF2B5EF4-FFF2-40B4-BE49-F238E27FC236}">
                <a16:creationId xmlns:a16="http://schemas.microsoft.com/office/drawing/2014/main" id="{82CA119C-4E3E-E8FD-4491-4E0BECF11504}"/>
              </a:ext>
            </a:extLst>
          </p:cNvPr>
          <p:cNvPicPr>
            <a:picLocks noChangeAspect="1"/>
          </p:cNvPicPr>
          <p:nvPr/>
        </p:nvPicPr>
        <p:blipFill>
          <a:blip r:embed="rId6" cstate="print">
            <a:duotone>
              <a:prstClr val="black"/>
              <a:schemeClr val="accent3">
                <a:tint val="45000"/>
                <a:satMod val="400000"/>
              </a:schemeClr>
            </a:duotone>
            <a:extLst>
              <a:ext uri="{BEBA8EAE-BF5A-486C-A8C5-ECC9F3942E4B}">
                <a14:imgProps xmlns:a14="http://schemas.microsoft.com/office/drawing/2010/main">
                  <a14:imgLayer r:embed="rId7">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79775" y="6236796"/>
            <a:ext cx="704451" cy="621204"/>
          </a:xfrm>
          <a:prstGeom prst="rect">
            <a:avLst/>
          </a:prstGeom>
        </p:spPr>
      </p:pic>
    </p:spTree>
    <p:extLst>
      <p:ext uri="{BB962C8B-B14F-4D97-AF65-F5344CB8AC3E}">
        <p14:creationId xmlns:p14="http://schemas.microsoft.com/office/powerpoint/2010/main" val="4175115472"/>
      </p:ext>
    </p:extLst>
  </p:cSld>
  <p:clrMapOvr>
    <a:overrideClrMapping bg1="lt1" tx1="dk1" bg2="lt2" tx2="dk2" accent1="accent1" accent2="accent2" accent3="accent3" accent4="accent4" accent5="accent5" accent6="accent6" hlink="hlink" folHlink="folHlink"/>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1_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E9DDCD0-7537-A039-754A-F4224B0E3693}"/>
              </a:ext>
            </a:extLst>
          </p:cNvPr>
          <p:cNvSpPr>
            <a:spLocks noGrp="1"/>
          </p:cNvSpPr>
          <p:nvPr/>
        </p:nvSpPr>
        <p:spPr>
          <a:xfrm>
            <a:off x="899833"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
        <p:nvSpPr>
          <p:cNvPr id="3" name="标题 1">
            <a:extLst>
              <a:ext uri="{FF2B5EF4-FFF2-40B4-BE49-F238E27FC236}">
                <a16:creationId xmlns:a16="http://schemas.microsoft.com/office/drawing/2014/main" id="{1E9DDCD0-7537-A039-754A-F4224B0E3693}"/>
              </a:ext>
            </a:extLst>
          </p:cNvPr>
          <p:cNvSpPr>
            <a:spLocks noGrp="1"/>
          </p:cNvSpPr>
          <p:nvPr/>
        </p:nvSpPr>
        <p:spPr>
          <a:xfrm>
            <a:off x="947645" y="-260303"/>
            <a:ext cx="10858500" cy="900112"/>
          </a:xfrm>
          <a:prstGeom prst="rect">
            <a:avLst/>
          </a:prstGeom>
        </p:spPr>
        <p:txBody>
          <a:bodyPr vert="horz" lIns="91440" tIns="45720" rIns="91440" bIns="45720" rtlCol="0" anchor="b">
            <a:normAutofit/>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pPr lvl="0"/>
            <a:endParaRPr lang="en-US" dirty="0"/>
          </a:p>
        </p:txBody>
      </p:sp>
      <p:sp>
        <p:nvSpPr>
          <p:cNvPr id="4" name="标题 1">
            <a:extLst>
              <a:ext uri="{FF2B5EF4-FFF2-40B4-BE49-F238E27FC236}">
                <a16:creationId xmlns:a16="http://schemas.microsoft.com/office/drawing/2014/main" id="{B2CE976B-FC69-B8D0-64A9-BB4A07AD76E3}"/>
              </a:ext>
            </a:extLst>
          </p:cNvPr>
          <p:cNvSpPr>
            <a:spLocks noGrp="1"/>
          </p:cNvSpPr>
          <p:nvPr>
            <p:ph type="title"/>
          </p:nvPr>
        </p:nvSpPr>
        <p:spPr>
          <a:xfrm>
            <a:off x="866346" y="38910"/>
            <a:ext cx="10858500" cy="544945"/>
          </a:xfrm>
        </p:spPr>
        <p:txBody>
          <a:bodyPr/>
          <a:lstStyle>
            <a:lvl1pPr>
              <a:defRPr>
                <a:solidFill>
                  <a:schemeClr val="bg1"/>
                </a:solidFill>
              </a:defRPr>
            </a:lvl1pPr>
          </a:lstStyle>
          <a:p>
            <a:pPr lvl="0"/>
            <a:r>
              <a:rPr lang="zh-CN" altLang="en-US"/>
              <a:t>单击此处编辑母版标题样式</a:t>
            </a:r>
            <a:endParaRPr lang="en-US" dirty="0"/>
          </a:p>
        </p:txBody>
      </p:sp>
      <p:sp>
        <p:nvSpPr>
          <p:cNvPr id="5" name="Freeform 5">
            <a:extLst>
              <a:ext uri="{FF2B5EF4-FFF2-40B4-BE49-F238E27FC236}">
                <a16:creationId xmlns:a16="http://schemas.microsoft.com/office/drawing/2014/main" id="{BA8955C1-5A03-34F5-7CD4-1E41FAB935E3}"/>
              </a:ext>
            </a:extLst>
          </p:cNvPr>
          <p:cNvSpPr>
            <a:spLocks noChangeAspect="1" noEditPoints="1"/>
          </p:cNvSpPr>
          <p:nvPr userDrawn="1"/>
        </p:nvSpPr>
        <p:spPr bwMode="black">
          <a:xfrm>
            <a:off x="467154" y="251546"/>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2770177995"/>
      </p:ext>
    </p:extLst>
  </p:cSld>
  <p:clrMapOvr>
    <a:overrideClrMapping bg1="lt1" tx1="dk1" bg2="lt2" tx2="dk2" accent1="accent1" accent2="accent2" accent3="accent3" accent4="accent4" accent5="accent5" accent6="accent6" hlink="hlink" folHlink="folHlink"/>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p:cSld name="4_空白">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DBEEF5-5DA5-9F91-63DD-0168D8E3EB8B}"/>
              </a:ext>
            </a:extLst>
          </p:cNvPr>
          <p:cNvSpPr>
            <a:spLocks noGrp="1"/>
          </p:cNvSpPr>
          <p:nvPr>
            <p:ph type="title"/>
          </p:nvPr>
        </p:nvSpPr>
        <p:spPr>
          <a:xfrm>
            <a:off x="886690" y="187035"/>
            <a:ext cx="10714759" cy="457201"/>
          </a:xfrm>
          <a:prstGeom prst="rect">
            <a:avLst/>
          </a:prstGeom>
        </p:spPr>
        <p:txBody>
          <a:bodyPr/>
          <a:lstStyle>
            <a:lvl1pPr>
              <a:defRPr>
                <a:solidFill>
                  <a:schemeClr val="bg1"/>
                </a:solidFill>
                <a:latin typeface="+mj-ea"/>
                <a:ea typeface="+mj-ea"/>
              </a:defRPr>
            </a:lvl1pPr>
          </a:lstStyle>
          <a:p>
            <a:r>
              <a:rPr lang="zh-CN" altLang="en-US"/>
              <a:t>单击此处编辑母版标题样式</a:t>
            </a:r>
            <a:endParaRPr lang="zh-CN" altLang="en-US" dirty="0"/>
          </a:p>
        </p:txBody>
      </p:sp>
      <p:sp>
        <p:nvSpPr>
          <p:cNvPr id="3" name="Freeform 5">
            <a:extLst>
              <a:ext uri="{FF2B5EF4-FFF2-40B4-BE49-F238E27FC236}">
                <a16:creationId xmlns:a16="http://schemas.microsoft.com/office/drawing/2014/main" id="{09424A39-B2D4-A668-FF90-82E213E3B74A}"/>
              </a:ext>
            </a:extLst>
          </p:cNvPr>
          <p:cNvSpPr>
            <a:spLocks noChangeAspect="1" noEditPoints="1"/>
          </p:cNvSpPr>
          <p:nvPr userDrawn="1"/>
        </p:nvSpPr>
        <p:spPr bwMode="black">
          <a:xfrm>
            <a:off x="490231" y="352555"/>
            <a:ext cx="200639" cy="200587"/>
          </a:xfrm>
          <a:custGeom>
            <a:avLst/>
            <a:gdLst>
              <a:gd name="T0" fmla="*/ 684 w 1368"/>
              <a:gd name="T1" fmla="*/ 0 h 1368"/>
              <a:gd name="T2" fmla="*/ 0 w 1368"/>
              <a:gd name="T3" fmla="*/ 684 h 1368"/>
              <a:gd name="T4" fmla="*/ 684 w 1368"/>
              <a:gd name="T5" fmla="*/ 1368 h 1368"/>
              <a:gd name="T6" fmla="*/ 1368 w 1368"/>
              <a:gd name="T7" fmla="*/ 684 h 1368"/>
              <a:gd name="T8" fmla="*/ 684 w 1368"/>
              <a:gd name="T9" fmla="*/ 0 h 1368"/>
              <a:gd name="T10" fmla="*/ 1068 w 1368"/>
              <a:gd name="T11" fmla="*/ 698 h 1368"/>
              <a:gd name="T12" fmla="*/ 973 w 1368"/>
              <a:gd name="T13" fmla="*/ 793 h 1368"/>
              <a:gd name="T14" fmla="*/ 793 w 1368"/>
              <a:gd name="T15" fmla="*/ 793 h 1368"/>
              <a:gd name="T16" fmla="*/ 793 w 1368"/>
              <a:gd name="T17" fmla="*/ 973 h 1368"/>
              <a:gd name="T18" fmla="*/ 698 w 1368"/>
              <a:gd name="T19" fmla="*/ 1068 h 1368"/>
              <a:gd name="T20" fmla="*/ 670 w 1368"/>
              <a:gd name="T21" fmla="*/ 1068 h 1368"/>
              <a:gd name="T22" fmla="*/ 576 w 1368"/>
              <a:gd name="T23" fmla="*/ 973 h 1368"/>
              <a:gd name="T24" fmla="*/ 576 w 1368"/>
              <a:gd name="T25" fmla="*/ 793 h 1368"/>
              <a:gd name="T26" fmla="*/ 396 w 1368"/>
              <a:gd name="T27" fmla="*/ 793 h 1368"/>
              <a:gd name="T28" fmla="*/ 301 w 1368"/>
              <a:gd name="T29" fmla="*/ 698 h 1368"/>
              <a:gd name="T30" fmla="*/ 301 w 1368"/>
              <a:gd name="T31" fmla="*/ 671 h 1368"/>
              <a:gd name="T32" fmla="*/ 396 w 1368"/>
              <a:gd name="T33" fmla="*/ 576 h 1368"/>
              <a:gd name="T34" fmla="*/ 576 w 1368"/>
              <a:gd name="T35" fmla="*/ 576 h 1368"/>
              <a:gd name="T36" fmla="*/ 576 w 1368"/>
              <a:gd name="T37" fmla="*/ 396 h 1368"/>
              <a:gd name="T38" fmla="*/ 670 w 1368"/>
              <a:gd name="T39" fmla="*/ 301 h 1368"/>
              <a:gd name="T40" fmla="*/ 698 w 1368"/>
              <a:gd name="T41" fmla="*/ 301 h 1368"/>
              <a:gd name="T42" fmla="*/ 793 w 1368"/>
              <a:gd name="T43" fmla="*/ 396 h 1368"/>
              <a:gd name="T44" fmla="*/ 793 w 1368"/>
              <a:gd name="T45" fmla="*/ 576 h 1368"/>
              <a:gd name="T46" fmla="*/ 973 w 1368"/>
              <a:gd name="T47" fmla="*/ 576 h 1368"/>
              <a:gd name="T48" fmla="*/ 1068 w 1368"/>
              <a:gd name="T49" fmla="*/ 671 h 1368"/>
              <a:gd name="T50" fmla="*/ 1068 w 1368"/>
              <a:gd name="T51" fmla="*/ 698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8" h="1368">
                <a:moveTo>
                  <a:pt x="684" y="0"/>
                </a:moveTo>
                <a:cubicBezTo>
                  <a:pt x="307" y="0"/>
                  <a:pt x="0" y="307"/>
                  <a:pt x="0" y="684"/>
                </a:cubicBezTo>
                <a:cubicBezTo>
                  <a:pt x="0" y="1062"/>
                  <a:pt x="307" y="1368"/>
                  <a:pt x="684" y="1368"/>
                </a:cubicBezTo>
                <a:cubicBezTo>
                  <a:pt x="1062" y="1368"/>
                  <a:pt x="1368" y="1062"/>
                  <a:pt x="1368" y="684"/>
                </a:cubicBezTo>
                <a:cubicBezTo>
                  <a:pt x="1368" y="307"/>
                  <a:pt x="1062" y="0"/>
                  <a:pt x="684" y="0"/>
                </a:cubicBezTo>
                <a:close/>
                <a:moveTo>
                  <a:pt x="1068" y="698"/>
                </a:moveTo>
                <a:cubicBezTo>
                  <a:pt x="1068" y="751"/>
                  <a:pt x="1025" y="793"/>
                  <a:pt x="973" y="793"/>
                </a:cubicBezTo>
                <a:cubicBezTo>
                  <a:pt x="793" y="793"/>
                  <a:pt x="793" y="793"/>
                  <a:pt x="793" y="793"/>
                </a:cubicBezTo>
                <a:cubicBezTo>
                  <a:pt x="793" y="973"/>
                  <a:pt x="793" y="973"/>
                  <a:pt x="793" y="973"/>
                </a:cubicBezTo>
                <a:cubicBezTo>
                  <a:pt x="793" y="1025"/>
                  <a:pt x="750" y="1068"/>
                  <a:pt x="698" y="1068"/>
                </a:cubicBezTo>
                <a:cubicBezTo>
                  <a:pt x="670" y="1068"/>
                  <a:pt x="670" y="1068"/>
                  <a:pt x="670" y="1068"/>
                </a:cubicBezTo>
                <a:cubicBezTo>
                  <a:pt x="618" y="1068"/>
                  <a:pt x="576" y="1025"/>
                  <a:pt x="576" y="973"/>
                </a:cubicBezTo>
                <a:cubicBezTo>
                  <a:pt x="576" y="793"/>
                  <a:pt x="576" y="793"/>
                  <a:pt x="576" y="793"/>
                </a:cubicBezTo>
                <a:cubicBezTo>
                  <a:pt x="396" y="793"/>
                  <a:pt x="396" y="793"/>
                  <a:pt x="396" y="793"/>
                </a:cubicBezTo>
                <a:cubicBezTo>
                  <a:pt x="344" y="793"/>
                  <a:pt x="301" y="751"/>
                  <a:pt x="301" y="698"/>
                </a:cubicBezTo>
                <a:cubicBezTo>
                  <a:pt x="301" y="671"/>
                  <a:pt x="301" y="671"/>
                  <a:pt x="301" y="671"/>
                </a:cubicBezTo>
                <a:cubicBezTo>
                  <a:pt x="301" y="618"/>
                  <a:pt x="344" y="576"/>
                  <a:pt x="396" y="576"/>
                </a:cubicBezTo>
                <a:cubicBezTo>
                  <a:pt x="576" y="576"/>
                  <a:pt x="576" y="576"/>
                  <a:pt x="576" y="576"/>
                </a:cubicBezTo>
                <a:cubicBezTo>
                  <a:pt x="576" y="396"/>
                  <a:pt x="576" y="396"/>
                  <a:pt x="576" y="396"/>
                </a:cubicBezTo>
                <a:cubicBezTo>
                  <a:pt x="576" y="344"/>
                  <a:pt x="618" y="301"/>
                  <a:pt x="670" y="301"/>
                </a:cubicBezTo>
                <a:cubicBezTo>
                  <a:pt x="698" y="301"/>
                  <a:pt x="698" y="301"/>
                  <a:pt x="698" y="301"/>
                </a:cubicBezTo>
                <a:cubicBezTo>
                  <a:pt x="750" y="301"/>
                  <a:pt x="793" y="344"/>
                  <a:pt x="793" y="396"/>
                </a:cubicBezTo>
                <a:cubicBezTo>
                  <a:pt x="793" y="576"/>
                  <a:pt x="793" y="576"/>
                  <a:pt x="793" y="576"/>
                </a:cubicBezTo>
                <a:cubicBezTo>
                  <a:pt x="973" y="576"/>
                  <a:pt x="973" y="576"/>
                  <a:pt x="973" y="576"/>
                </a:cubicBezTo>
                <a:cubicBezTo>
                  <a:pt x="1025" y="576"/>
                  <a:pt x="1068" y="618"/>
                  <a:pt x="1068" y="671"/>
                </a:cubicBezTo>
                <a:lnTo>
                  <a:pt x="1068" y="6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dirty="0"/>
          </a:p>
        </p:txBody>
      </p:sp>
    </p:spTree>
    <p:extLst>
      <p:ext uri="{BB962C8B-B14F-4D97-AF65-F5344CB8AC3E}">
        <p14:creationId xmlns:p14="http://schemas.microsoft.com/office/powerpoint/2010/main" val="2118972864"/>
      </p:ext>
    </p:extLst>
  </p:cSld>
  <p:clrMapOvr>
    <a:overrideClrMapping bg1="lt1" tx1="dk1" bg2="lt2" tx2="dk2" accent1="accent1" accent2="accent2" accent3="accent3" accent4="accent4" accent5="accent5" accent6="accent6" hlink="hlink" folHlink="folHlink"/>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
  <p:cSld name="15_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p:cNvSpPr>
            <a:spLocks noGrp="1"/>
          </p:cNvSpPr>
          <p:nvPr>
            <p:ph type="dt" sz="half" idx="10"/>
          </p:nvPr>
        </p:nvSpPr>
        <p:spPr/>
        <p:txBody>
          <a:bodyPr/>
          <a:lstStyle/>
          <a:p>
            <a:fld id="{B4905AFD-ACF0-4E34-6AFC-2D718EFE13E2}" type="datetimeFigureOut">
              <a:rPr lang="zh-CN" altLang="en-US" smtClean="0"/>
              <a:t>2026/5/30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1EED2F50-6A59-4B39-4460-E4EE5AB741CE}" type="slidenum">
              <a:rPr lang="zh-CN" altLang="en-US" smtClean="0"/>
              <a:t>‹#›</a:t>
            </a:fld>
            <a:endParaRPr lang="zh-CN" altLang="en-US"/>
          </a:p>
        </p:txBody>
      </p:sp>
    </p:spTree>
    <p:extLst>
      <p:ext uri="{BB962C8B-B14F-4D97-AF65-F5344CB8AC3E}">
        <p14:creationId xmlns:p14="http://schemas.microsoft.com/office/powerpoint/2010/main" val="2202792344"/>
      </p:ext>
      <p:ext uri="{F753900F-2F24-4D0D-19BA-8529155F4135}"/>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obj">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7D53D959-C098-4EEE-2796-8D6343C0154B}" type="datetimeFigureOut">
              <a:rPr lang="zh-CN" altLang="en-US" smtClean="0"/>
              <a:t>2026/5/30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1696B864-C823-4C20-519E-8FB2C6BA360D}" type="slidenum">
              <a:rPr lang="zh-CN" altLang="en-US" smtClean="0"/>
              <a:t>‹#›</a:t>
            </a:fld>
            <a:endParaRPr lang="zh-CN" altLang="en-US"/>
          </a:p>
        </p:txBody>
      </p:sp>
    </p:spTree>
    <p:extLst>
      <p:ext uri="{BB962C8B-B14F-4D97-AF65-F5344CB8AC3E}">
        <p14:creationId xmlns:p14="http://schemas.microsoft.com/office/powerpoint/2010/main" val="1193650498"/>
      </p:ext>
      <p:ext uri="{15EE4F42-8644-4B43-4B46-C703E53EEC53}"/>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image" Target="../media/image1.png"/><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microsoft.com/office/2007/relationships/hdphoto" Target="../media/hdphoto1.wdp"/><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microsoft.com/office/2007/relationships/hdphoto" Target="../media/hdphoto2.wdp"/><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image" Target="../media/image3.png"/><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image" Target="../media/image5.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image" Target="../media/image2.png"/><Relationship Id="rId30" Type="http://schemas.openxmlformats.org/officeDocument/2006/relationships/image" Target="../media/image4.pn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2.xml"/><Relationship Id="rId13" Type="http://schemas.openxmlformats.org/officeDocument/2006/relationships/slideLayout" Target="../slideLayouts/slideLayout37.xml"/><Relationship Id="rId18" Type="http://schemas.openxmlformats.org/officeDocument/2006/relationships/slideLayout" Target="../slideLayouts/slideLayout42.xml"/><Relationship Id="rId26" Type="http://schemas.openxmlformats.org/officeDocument/2006/relationships/image" Target="../media/image1.png"/><Relationship Id="rId3" Type="http://schemas.openxmlformats.org/officeDocument/2006/relationships/slideLayout" Target="../slideLayouts/slideLayout27.xml"/><Relationship Id="rId21" Type="http://schemas.openxmlformats.org/officeDocument/2006/relationships/slideLayout" Target="../slideLayouts/slideLayout45.xml"/><Relationship Id="rId7" Type="http://schemas.openxmlformats.org/officeDocument/2006/relationships/slideLayout" Target="../slideLayouts/slideLayout31.xml"/><Relationship Id="rId12" Type="http://schemas.openxmlformats.org/officeDocument/2006/relationships/slideLayout" Target="../slideLayouts/slideLayout36.xml"/><Relationship Id="rId17" Type="http://schemas.openxmlformats.org/officeDocument/2006/relationships/slideLayout" Target="../slideLayouts/slideLayout41.xml"/><Relationship Id="rId25" Type="http://schemas.openxmlformats.org/officeDocument/2006/relationships/theme" Target="../theme/theme2.xml"/><Relationship Id="rId2" Type="http://schemas.openxmlformats.org/officeDocument/2006/relationships/slideLayout" Target="../slideLayouts/slideLayout26.xml"/><Relationship Id="rId16" Type="http://schemas.openxmlformats.org/officeDocument/2006/relationships/slideLayout" Target="../slideLayouts/slideLayout40.xml"/><Relationship Id="rId20" Type="http://schemas.openxmlformats.org/officeDocument/2006/relationships/slideLayout" Target="../slideLayouts/slideLayout44.xml"/><Relationship Id="rId29" Type="http://schemas.microsoft.com/office/2007/relationships/hdphoto" Target="../media/hdphoto1.wdp"/><Relationship Id="rId1" Type="http://schemas.openxmlformats.org/officeDocument/2006/relationships/slideLayout" Target="../slideLayouts/slideLayout25.xml"/><Relationship Id="rId6" Type="http://schemas.openxmlformats.org/officeDocument/2006/relationships/slideLayout" Target="../slideLayouts/slideLayout30.xml"/><Relationship Id="rId11" Type="http://schemas.openxmlformats.org/officeDocument/2006/relationships/slideLayout" Target="../slideLayouts/slideLayout35.xml"/><Relationship Id="rId24" Type="http://schemas.openxmlformats.org/officeDocument/2006/relationships/slideLayout" Target="../slideLayouts/slideLayout48.xml"/><Relationship Id="rId32" Type="http://schemas.microsoft.com/office/2007/relationships/hdphoto" Target="../media/hdphoto2.wdp"/><Relationship Id="rId5" Type="http://schemas.openxmlformats.org/officeDocument/2006/relationships/slideLayout" Target="../slideLayouts/slideLayout29.xml"/><Relationship Id="rId15" Type="http://schemas.openxmlformats.org/officeDocument/2006/relationships/slideLayout" Target="../slideLayouts/slideLayout39.xml"/><Relationship Id="rId23" Type="http://schemas.openxmlformats.org/officeDocument/2006/relationships/slideLayout" Target="../slideLayouts/slideLayout47.xml"/><Relationship Id="rId28" Type="http://schemas.openxmlformats.org/officeDocument/2006/relationships/image" Target="../media/image3.png"/><Relationship Id="rId10" Type="http://schemas.openxmlformats.org/officeDocument/2006/relationships/slideLayout" Target="../slideLayouts/slideLayout34.xml"/><Relationship Id="rId19" Type="http://schemas.openxmlformats.org/officeDocument/2006/relationships/slideLayout" Target="../slideLayouts/slideLayout43.xml"/><Relationship Id="rId31" Type="http://schemas.openxmlformats.org/officeDocument/2006/relationships/image" Target="../media/image5.png"/><Relationship Id="rId4" Type="http://schemas.openxmlformats.org/officeDocument/2006/relationships/slideLayout" Target="../slideLayouts/slideLayout28.xml"/><Relationship Id="rId9" Type="http://schemas.openxmlformats.org/officeDocument/2006/relationships/slideLayout" Target="../slideLayouts/slideLayout33.xml"/><Relationship Id="rId14" Type="http://schemas.openxmlformats.org/officeDocument/2006/relationships/slideLayout" Target="../slideLayouts/slideLayout38.xml"/><Relationship Id="rId22" Type="http://schemas.openxmlformats.org/officeDocument/2006/relationships/slideLayout" Target="../slideLayouts/slideLayout46.xml"/><Relationship Id="rId27" Type="http://schemas.openxmlformats.org/officeDocument/2006/relationships/image" Target="../media/image2.png"/><Relationship Id="rId30" Type="http://schemas.openxmlformats.org/officeDocument/2006/relationships/image" Target="../media/image4.png"/></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61.xml"/><Relationship Id="rId18" Type="http://schemas.openxmlformats.org/officeDocument/2006/relationships/slideLayout" Target="../slideLayouts/slideLayout66.xml"/><Relationship Id="rId26" Type="http://schemas.openxmlformats.org/officeDocument/2006/relationships/slideLayout" Target="../slideLayouts/slideLayout74.xml"/><Relationship Id="rId21" Type="http://schemas.openxmlformats.org/officeDocument/2006/relationships/slideLayout" Target="../slideLayouts/slideLayout69.xml"/><Relationship Id="rId34" Type="http://schemas.microsoft.com/office/2007/relationships/hdphoto" Target="../media/hdphoto5.wdp"/><Relationship Id="rId7" Type="http://schemas.openxmlformats.org/officeDocument/2006/relationships/slideLayout" Target="../slideLayouts/slideLayout55.xml"/><Relationship Id="rId12" Type="http://schemas.openxmlformats.org/officeDocument/2006/relationships/slideLayout" Target="../slideLayouts/slideLayout60.xml"/><Relationship Id="rId17" Type="http://schemas.openxmlformats.org/officeDocument/2006/relationships/slideLayout" Target="../slideLayouts/slideLayout65.xml"/><Relationship Id="rId25" Type="http://schemas.openxmlformats.org/officeDocument/2006/relationships/slideLayout" Target="../slideLayouts/slideLayout73.xml"/><Relationship Id="rId33" Type="http://schemas.openxmlformats.org/officeDocument/2006/relationships/image" Target="../media/image13.png"/><Relationship Id="rId2" Type="http://schemas.openxmlformats.org/officeDocument/2006/relationships/slideLayout" Target="../slideLayouts/slideLayout50.xml"/><Relationship Id="rId16" Type="http://schemas.openxmlformats.org/officeDocument/2006/relationships/slideLayout" Target="../slideLayouts/slideLayout64.xml"/><Relationship Id="rId20" Type="http://schemas.openxmlformats.org/officeDocument/2006/relationships/slideLayout" Target="../slideLayouts/slideLayout68.xml"/><Relationship Id="rId29" Type="http://schemas.openxmlformats.org/officeDocument/2006/relationships/slideLayout" Target="../slideLayouts/slideLayout77.xml"/><Relationship Id="rId1" Type="http://schemas.openxmlformats.org/officeDocument/2006/relationships/slideLayout" Target="../slideLayouts/slideLayout49.xml"/><Relationship Id="rId6" Type="http://schemas.openxmlformats.org/officeDocument/2006/relationships/slideLayout" Target="../slideLayouts/slideLayout54.xml"/><Relationship Id="rId11" Type="http://schemas.openxmlformats.org/officeDocument/2006/relationships/slideLayout" Target="../slideLayouts/slideLayout59.xml"/><Relationship Id="rId24" Type="http://schemas.openxmlformats.org/officeDocument/2006/relationships/slideLayout" Target="../slideLayouts/slideLayout72.xml"/><Relationship Id="rId32" Type="http://schemas.openxmlformats.org/officeDocument/2006/relationships/image" Target="../media/image12.png"/><Relationship Id="rId37" Type="http://schemas.microsoft.com/office/2007/relationships/hdphoto" Target="../media/hdphoto2.wdp"/><Relationship Id="rId5" Type="http://schemas.openxmlformats.org/officeDocument/2006/relationships/slideLayout" Target="../slideLayouts/slideLayout53.xml"/><Relationship Id="rId15" Type="http://schemas.openxmlformats.org/officeDocument/2006/relationships/slideLayout" Target="../slideLayouts/slideLayout63.xml"/><Relationship Id="rId23" Type="http://schemas.openxmlformats.org/officeDocument/2006/relationships/slideLayout" Target="../slideLayouts/slideLayout71.xml"/><Relationship Id="rId28" Type="http://schemas.openxmlformats.org/officeDocument/2006/relationships/slideLayout" Target="../slideLayouts/slideLayout76.xml"/><Relationship Id="rId36" Type="http://schemas.openxmlformats.org/officeDocument/2006/relationships/image" Target="../media/image5.png"/><Relationship Id="rId10" Type="http://schemas.openxmlformats.org/officeDocument/2006/relationships/slideLayout" Target="../slideLayouts/slideLayout58.xml"/><Relationship Id="rId19" Type="http://schemas.openxmlformats.org/officeDocument/2006/relationships/slideLayout" Target="../slideLayouts/slideLayout67.xml"/><Relationship Id="rId31" Type="http://schemas.openxmlformats.org/officeDocument/2006/relationships/image" Target="../media/image1.png"/><Relationship Id="rId4" Type="http://schemas.openxmlformats.org/officeDocument/2006/relationships/slideLayout" Target="../slideLayouts/slideLayout52.xml"/><Relationship Id="rId9" Type="http://schemas.openxmlformats.org/officeDocument/2006/relationships/slideLayout" Target="../slideLayouts/slideLayout57.xml"/><Relationship Id="rId14" Type="http://schemas.openxmlformats.org/officeDocument/2006/relationships/slideLayout" Target="../slideLayouts/slideLayout62.xml"/><Relationship Id="rId22" Type="http://schemas.openxmlformats.org/officeDocument/2006/relationships/slideLayout" Target="../slideLayouts/slideLayout70.xml"/><Relationship Id="rId27" Type="http://schemas.openxmlformats.org/officeDocument/2006/relationships/slideLayout" Target="../slideLayouts/slideLayout75.xml"/><Relationship Id="rId30" Type="http://schemas.openxmlformats.org/officeDocument/2006/relationships/theme" Target="../theme/theme3.xml"/><Relationship Id="rId35" Type="http://schemas.openxmlformats.org/officeDocument/2006/relationships/image" Target="../media/image14.png"/><Relationship Id="rId8" Type="http://schemas.openxmlformats.org/officeDocument/2006/relationships/slideLayout" Target="../slideLayouts/slideLayout56.xml"/><Relationship Id="rId3" Type="http://schemas.openxmlformats.org/officeDocument/2006/relationships/slideLayout" Target="../slideLayouts/slideLayout5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85.xml"/><Relationship Id="rId13" Type="http://schemas.openxmlformats.org/officeDocument/2006/relationships/slideLayout" Target="../slideLayouts/slideLayout90.xml"/><Relationship Id="rId18" Type="http://schemas.openxmlformats.org/officeDocument/2006/relationships/slideLayout" Target="../slideLayouts/slideLayout95.xml"/><Relationship Id="rId26" Type="http://schemas.openxmlformats.org/officeDocument/2006/relationships/image" Target="../media/image1.png"/><Relationship Id="rId3" Type="http://schemas.openxmlformats.org/officeDocument/2006/relationships/slideLayout" Target="../slideLayouts/slideLayout80.xml"/><Relationship Id="rId21" Type="http://schemas.openxmlformats.org/officeDocument/2006/relationships/slideLayout" Target="../slideLayouts/slideLayout98.xml"/><Relationship Id="rId7" Type="http://schemas.openxmlformats.org/officeDocument/2006/relationships/slideLayout" Target="../slideLayouts/slideLayout84.xml"/><Relationship Id="rId12" Type="http://schemas.openxmlformats.org/officeDocument/2006/relationships/slideLayout" Target="../slideLayouts/slideLayout89.xml"/><Relationship Id="rId17" Type="http://schemas.openxmlformats.org/officeDocument/2006/relationships/slideLayout" Target="../slideLayouts/slideLayout94.xml"/><Relationship Id="rId25" Type="http://schemas.openxmlformats.org/officeDocument/2006/relationships/theme" Target="../theme/theme4.xml"/><Relationship Id="rId2" Type="http://schemas.openxmlformats.org/officeDocument/2006/relationships/slideLayout" Target="../slideLayouts/slideLayout79.xml"/><Relationship Id="rId16" Type="http://schemas.openxmlformats.org/officeDocument/2006/relationships/slideLayout" Target="../slideLayouts/slideLayout93.xml"/><Relationship Id="rId20" Type="http://schemas.openxmlformats.org/officeDocument/2006/relationships/slideLayout" Target="../slideLayouts/slideLayout97.xml"/><Relationship Id="rId29" Type="http://schemas.microsoft.com/office/2007/relationships/hdphoto" Target="../media/hdphoto5.wdp"/><Relationship Id="rId1" Type="http://schemas.openxmlformats.org/officeDocument/2006/relationships/slideLayout" Target="../slideLayouts/slideLayout78.xml"/><Relationship Id="rId6" Type="http://schemas.openxmlformats.org/officeDocument/2006/relationships/slideLayout" Target="../slideLayouts/slideLayout83.xml"/><Relationship Id="rId11" Type="http://schemas.openxmlformats.org/officeDocument/2006/relationships/slideLayout" Target="../slideLayouts/slideLayout88.xml"/><Relationship Id="rId24" Type="http://schemas.openxmlformats.org/officeDocument/2006/relationships/slideLayout" Target="../slideLayouts/slideLayout101.xml"/><Relationship Id="rId32" Type="http://schemas.microsoft.com/office/2007/relationships/hdphoto" Target="../media/hdphoto2.wdp"/><Relationship Id="rId5" Type="http://schemas.openxmlformats.org/officeDocument/2006/relationships/slideLayout" Target="../slideLayouts/slideLayout82.xml"/><Relationship Id="rId15" Type="http://schemas.openxmlformats.org/officeDocument/2006/relationships/slideLayout" Target="../slideLayouts/slideLayout92.xml"/><Relationship Id="rId23" Type="http://schemas.openxmlformats.org/officeDocument/2006/relationships/slideLayout" Target="../slideLayouts/slideLayout100.xml"/><Relationship Id="rId28" Type="http://schemas.openxmlformats.org/officeDocument/2006/relationships/image" Target="../media/image13.png"/><Relationship Id="rId10" Type="http://schemas.openxmlformats.org/officeDocument/2006/relationships/slideLayout" Target="../slideLayouts/slideLayout87.xml"/><Relationship Id="rId19" Type="http://schemas.openxmlformats.org/officeDocument/2006/relationships/slideLayout" Target="../slideLayouts/slideLayout96.xml"/><Relationship Id="rId31" Type="http://schemas.openxmlformats.org/officeDocument/2006/relationships/image" Target="../media/image5.png"/><Relationship Id="rId4" Type="http://schemas.openxmlformats.org/officeDocument/2006/relationships/slideLayout" Target="../slideLayouts/slideLayout81.xml"/><Relationship Id="rId9" Type="http://schemas.openxmlformats.org/officeDocument/2006/relationships/slideLayout" Target="../slideLayouts/slideLayout86.xml"/><Relationship Id="rId14" Type="http://schemas.openxmlformats.org/officeDocument/2006/relationships/slideLayout" Target="../slideLayouts/slideLayout91.xml"/><Relationship Id="rId22" Type="http://schemas.openxmlformats.org/officeDocument/2006/relationships/slideLayout" Target="../slideLayouts/slideLayout99.xml"/><Relationship Id="rId27" Type="http://schemas.openxmlformats.org/officeDocument/2006/relationships/image" Target="../media/image12.png"/><Relationship Id="rId30" Type="http://schemas.openxmlformats.org/officeDocument/2006/relationships/image" Target="../media/image14.png"/></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114.xml"/><Relationship Id="rId18" Type="http://schemas.openxmlformats.org/officeDocument/2006/relationships/slideLayout" Target="../slideLayouts/slideLayout119.xml"/><Relationship Id="rId26" Type="http://schemas.openxmlformats.org/officeDocument/2006/relationships/slideLayout" Target="../slideLayouts/slideLayout127.xml"/><Relationship Id="rId21" Type="http://schemas.openxmlformats.org/officeDocument/2006/relationships/slideLayout" Target="../slideLayouts/slideLayout122.xml"/><Relationship Id="rId34" Type="http://schemas.microsoft.com/office/2007/relationships/hdphoto" Target="../media/hdphoto5.wdp"/><Relationship Id="rId7" Type="http://schemas.openxmlformats.org/officeDocument/2006/relationships/slideLayout" Target="../slideLayouts/slideLayout108.xml"/><Relationship Id="rId12" Type="http://schemas.openxmlformats.org/officeDocument/2006/relationships/slideLayout" Target="../slideLayouts/slideLayout113.xml"/><Relationship Id="rId17" Type="http://schemas.openxmlformats.org/officeDocument/2006/relationships/slideLayout" Target="../slideLayouts/slideLayout118.xml"/><Relationship Id="rId25" Type="http://schemas.openxmlformats.org/officeDocument/2006/relationships/slideLayout" Target="../slideLayouts/slideLayout126.xml"/><Relationship Id="rId33" Type="http://schemas.openxmlformats.org/officeDocument/2006/relationships/image" Target="../media/image13.png"/><Relationship Id="rId2" Type="http://schemas.openxmlformats.org/officeDocument/2006/relationships/slideLayout" Target="../slideLayouts/slideLayout103.xml"/><Relationship Id="rId16" Type="http://schemas.openxmlformats.org/officeDocument/2006/relationships/slideLayout" Target="../slideLayouts/slideLayout117.xml"/><Relationship Id="rId20" Type="http://schemas.openxmlformats.org/officeDocument/2006/relationships/slideLayout" Target="../slideLayouts/slideLayout121.xml"/><Relationship Id="rId29" Type="http://schemas.openxmlformats.org/officeDocument/2006/relationships/slideLayout" Target="../slideLayouts/slideLayout130.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24" Type="http://schemas.openxmlformats.org/officeDocument/2006/relationships/slideLayout" Target="../slideLayouts/slideLayout125.xml"/><Relationship Id="rId32" Type="http://schemas.openxmlformats.org/officeDocument/2006/relationships/image" Target="../media/image12.png"/><Relationship Id="rId37" Type="http://schemas.microsoft.com/office/2007/relationships/hdphoto" Target="../media/hdphoto2.wdp"/><Relationship Id="rId5" Type="http://schemas.openxmlformats.org/officeDocument/2006/relationships/slideLayout" Target="../slideLayouts/slideLayout106.xml"/><Relationship Id="rId15" Type="http://schemas.openxmlformats.org/officeDocument/2006/relationships/slideLayout" Target="../slideLayouts/slideLayout116.xml"/><Relationship Id="rId23" Type="http://schemas.openxmlformats.org/officeDocument/2006/relationships/slideLayout" Target="../slideLayouts/slideLayout124.xml"/><Relationship Id="rId28" Type="http://schemas.openxmlformats.org/officeDocument/2006/relationships/slideLayout" Target="../slideLayouts/slideLayout129.xml"/><Relationship Id="rId36" Type="http://schemas.openxmlformats.org/officeDocument/2006/relationships/image" Target="../media/image5.png"/><Relationship Id="rId10" Type="http://schemas.openxmlformats.org/officeDocument/2006/relationships/slideLayout" Target="../slideLayouts/slideLayout111.xml"/><Relationship Id="rId19" Type="http://schemas.openxmlformats.org/officeDocument/2006/relationships/slideLayout" Target="../slideLayouts/slideLayout120.xml"/><Relationship Id="rId31" Type="http://schemas.openxmlformats.org/officeDocument/2006/relationships/image" Target="../media/image1.png"/><Relationship Id="rId4" Type="http://schemas.openxmlformats.org/officeDocument/2006/relationships/slideLayout" Target="../slideLayouts/slideLayout105.xml"/><Relationship Id="rId9" Type="http://schemas.openxmlformats.org/officeDocument/2006/relationships/slideLayout" Target="../slideLayouts/slideLayout110.xml"/><Relationship Id="rId14" Type="http://schemas.openxmlformats.org/officeDocument/2006/relationships/slideLayout" Target="../slideLayouts/slideLayout115.xml"/><Relationship Id="rId22" Type="http://schemas.openxmlformats.org/officeDocument/2006/relationships/slideLayout" Target="../slideLayouts/slideLayout123.xml"/><Relationship Id="rId27" Type="http://schemas.openxmlformats.org/officeDocument/2006/relationships/slideLayout" Target="../slideLayouts/slideLayout128.xml"/><Relationship Id="rId30" Type="http://schemas.openxmlformats.org/officeDocument/2006/relationships/theme" Target="../theme/theme5.xml"/><Relationship Id="rId35" Type="http://schemas.openxmlformats.org/officeDocument/2006/relationships/image" Target="../media/image14.png"/><Relationship Id="rId8" Type="http://schemas.openxmlformats.org/officeDocument/2006/relationships/slideLayout" Target="../slideLayouts/slideLayout109.xml"/><Relationship Id="rId3" Type="http://schemas.openxmlformats.org/officeDocument/2006/relationships/slideLayout" Target="../slideLayouts/slideLayout10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pic>
        <p:nvPicPr>
          <p:cNvPr id="16" name="图片 15">
            <a:extLst>
              <a:ext uri="{FF2B5EF4-FFF2-40B4-BE49-F238E27FC236}">
                <a16:creationId xmlns:a16="http://schemas.microsoft.com/office/drawing/2014/main" id="{E0142082-29B4-9D0B-D573-AE6BA6A27FDB}"/>
              </a:ext>
            </a:extLst>
          </p:cNvPr>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2" name="Title Placeholder 1">
            <a:extLst>
              <a:ext uri="{FF2B5EF4-FFF2-40B4-BE49-F238E27FC236}">
                <a16:creationId xmlns:a16="http://schemas.microsoft.com/office/drawing/2014/main" id="{61F18504-D86E-411A-B171-2A74DE296A53}"/>
              </a:ext>
            </a:extLst>
          </p:cNvPr>
          <p:cNvSpPr>
            <a:spLocks noGrp="1"/>
          </p:cNvSpPr>
          <p:nvPr>
            <p:ph type="title"/>
          </p:nvPr>
        </p:nvSpPr>
        <p:spPr>
          <a:xfrm>
            <a:off x="590058" y="159041"/>
            <a:ext cx="10858500" cy="1028700"/>
          </a:xfrm>
          <a:prstGeom prst="rect">
            <a:avLst/>
          </a:prstGeom>
        </p:spPr>
        <p:txBody>
          <a:bodyPr vert="horz" lIns="91440" tIns="45720" rIns="91440" bIns="45720" rtlCol="0" anchor="b">
            <a:normAutofit/>
          </a:bodyPr>
          <a:lstStyle/>
          <a:p>
            <a:r>
              <a:rPr lang="zh-CN" altLang="en-US" dirty="0"/>
              <a:t>单击此处编辑母版标题样式</a:t>
            </a:r>
          </a:p>
        </p:txBody>
      </p:sp>
      <p:sp>
        <p:nvSpPr>
          <p:cNvPr id="3" name="Text Placeholder 2">
            <a:extLst>
              <a:ext uri="{FF2B5EF4-FFF2-40B4-BE49-F238E27FC236}">
                <a16:creationId xmlns:a16="http://schemas.microsoft.com/office/drawing/2014/main" id="{468A4509-A6D7-41B5-BE28-213FB58E8B74}"/>
              </a:ext>
            </a:extLst>
          </p:cNvPr>
          <p:cNvSpPr>
            <a:spLocks noGrp="1"/>
          </p:cNvSpPr>
          <p:nvPr>
            <p:ph type="body" idx="1"/>
          </p:nvPr>
        </p:nvSpPr>
        <p:spPr>
          <a:xfrm>
            <a:off x="660403" y="1130300"/>
            <a:ext cx="10858500" cy="5003800"/>
          </a:xfrm>
          <a:prstGeom prst="rect">
            <a:avLst/>
          </a:prstGeom>
        </p:spPr>
        <p:txBody>
          <a:bodyPr vert="horz" lIns="91440" tIns="45720" rIns="91440" bIns="45720" rtlCol="0">
            <a:normAutofit/>
          </a:bodyPr>
          <a:lstStyle/>
          <a:p>
            <a:pPr lvl="0"/>
            <a:r>
              <a:rPr lang="zh-CN" altLang="en-US" dirty="0"/>
              <a:t>单击此处编辑母版文本样式</a:t>
            </a:r>
          </a:p>
          <a:p>
            <a:pPr lvl="1"/>
            <a:r>
              <a:rPr lang="zh-CN" altLang="en-US" dirty="0"/>
              <a:t>二级</a:t>
            </a:r>
          </a:p>
          <a:p>
            <a:pPr lvl="2"/>
            <a:r>
              <a:rPr lang="zh-CN" altLang="en-US" dirty="0"/>
              <a:t>三级</a:t>
            </a:r>
          </a:p>
          <a:p>
            <a:pPr lvl="3"/>
            <a:r>
              <a:rPr lang="zh-CN" altLang="en-US" dirty="0"/>
              <a:t>四级</a:t>
            </a:r>
          </a:p>
          <a:p>
            <a:pPr lvl="4"/>
            <a:r>
              <a:rPr lang="zh-CN" altLang="en-US" dirty="0"/>
              <a:t>五级</a:t>
            </a:r>
          </a:p>
        </p:txBody>
      </p:sp>
      <p:sp>
        <p:nvSpPr>
          <p:cNvPr id="12" name="Slide Number Placeholder 11">
            <a:extLst>
              <a:ext uri="{FF2B5EF4-FFF2-40B4-BE49-F238E27FC236}">
                <a16:creationId xmlns:a16="http://schemas.microsoft.com/office/drawing/2014/main" id="{7E8030F2-F0B4-4140-B9B5-8B5B27074E99}"/>
              </a:ext>
            </a:extLst>
          </p:cNvPr>
          <p:cNvSpPr>
            <a:spLocks noGrp="1"/>
          </p:cNvSpPr>
          <p:nvPr>
            <p:ph type="sldNum" sz="quarter" idx="4"/>
          </p:nvPr>
        </p:nvSpPr>
        <p:spPr>
          <a:xfrm>
            <a:off x="8971305" y="6235706"/>
            <a:ext cx="2547595" cy="206381"/>
          </a:xfrm>
          <a:prstGeom prst="rect">
            <a:avLst/>
          </a:prstGeom>
        </p:spPr>
        <p:txBody>
          <a:bodyPr vert="horz" lIns="91440" tIns="45720" rIns="91440" bIns="45720" rtlCol="0" anchor="ctr"/>
          <a:lstStyle>
            <a:lvl1pPr algn="r">
              <a:defRPr sz="900">
                <a:solidFill>
                  <a:schemeClr val="tx1">
                    <a:lumMod val="50000"/>
                    <a:lumOff val="50000"/>
                  </a:schemeClr>
                </a:solidFill>
              </a:defRPr>
            </a:lvl1pPr>
          </a:lstStyle>
          <a:p>
            <a:pPr>
              <a:defRPr/>
            </a:pPr>
            <a:fld id="{3FCA2A2F-A418-4FAB-8005-AC0FFB5BB2EB}" type="slidenum">
              <a:rPr lang="zh-CN" altLang="en-US" smtClean="0"/>
              <a:pPr>
                <a:defRPr/>
              </a:pPr>
              <a:t>‹#›</a:t>
            </a:fld>
            <a:endParaRPr lang="zh-CN" altLang="en-US"/>
          </a:p>
        </p:txBody>
      </p:sp>
      <p:pic>
        <p:nvPicPr>
          <p:cNvPr id="5" name="图片 4">
            <a:extLst>
              <a:ext uri="{FF2B5EF4-FFF2-40B4-BE49-F238E27FC236}">
                <a16:creationId xmlns:a16="http://schemas.microsoft.com/office/drawing/2014/main" id="{AE5356A1-47D2-987D-AC26-2D06BE54AE48}"/>
              </a:ext>
            </a:extLst>
          </p:cNvPr>
          <p:cNvPicPr>
            <a:picLocks noChangeAspect="1"/>
          </p:cNvPicPr>
          <p:nvPr/>
        </p:nvPicPr>
        <p:blipFill>
          <a:blip r:embed="rId27">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6" name="图片 5">
            <a:extLst>
              <a:ext uri="{FF2B5EF4-FFF2-40B4-BE49-F238E27FC236}">
                <a16:creationId xmlns:a16="http://schemas.microsoft.com/office/drawing/2014/main" id="{F7528938-7FFB-09DD-2A23-51B011B235FA}"/>
              </a:ext>
            </a:extLst>
          </p:cNvPr>
          <p:cNvPicPr>
            <a:picLocks noChangeAspect="1"/>
          </p:cNvPicPr>
          <p:nvPr/>
        </p:nvPicPr>
        <p:blipFill>
          <a:blip r:embed="rId28">
            <a:duotone>
              <a:prstClr val="black"/>
              <a:schemeClr val="accent2">
                <a:tint val="45000"/>
                <a:satMod val="400000"/>
              </a:schemeClr>
            </a:duotone>
            <a:extLst>
              <a:ext uri="{BEBA8EAE-BF5A-486C-A8C5-ECC9F3942E4B}">
                <a14:imgProps xmlns:a14="http://schemas.microsoft.com/office/drawing/2010/main">
                  <a14:imgLayer r:embed="rId29">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237833" y="5969805"/>
            <a:ext cx="704451" cy="621204"/>
          </a:xfrm>
          <a:prstGeom prst="rect">
            <a:avLst/>
          </a:prstGeom>
        </p:spPr>
      </p:pic>
      <p:pic>
        <p:nvPicPr>
          <p:cNvPr id="7" name="图片 6">
            <a:extLst>
              <a:ext uri="{FF2B5EF4-FFF2-40B4-BE49-F238E27FC236}">
                <a16:creationId xmlns:a16="http://schemas.microsoft.com/office/drawing/2014/main" id="{ED6B830F-AAEC-E345-AF62-7FB6503317BA}"/>
              </a:ext>
            </a:extLst>
          </p:cNvPr>
          <p:cNvPicPr>
            <a:picLocks noChangeAspect="1"/>
          </p:cNvPicPr>
          <p:nvPr/>
        </p:nvPicPr>
        <p:blipFill>
          <a:blip r:embed="rId27">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8" name="图片 7">
            <a:extLst>
              <a:ext uri="{FF2B5EF4-FFF2-40B4-BE49-F238E27FC236}">
                <a16:creationId xmlns:a16="http://schemas.microsoft.com/office/drawing/2014/main" id="{5A611822-F66C-22F6-9A49-C1DA5C40B2E0}"/>
              </a:ext>
            </a:extLst>
          </p:cNvPr>
          <p:cNvPicPr>
            <a:picLocks noChangeAspect="1"/>
          </p:cNvPicPr>
          <p:nvPr/>
        </p:nvPicPr>
        <p:blipFill>
          <a:blip r:embed="rId30">
            <a:duotone>
              <a:prstClr val="black"/>
              <a:schemeClr val="accent2">
                <a:tint val="45000"/>
                <a:satMod val="400000"/>
              </a:schemeClr>
            </a:duotone>
            <a:extLst>
              <a:ext uri="{BEBA8EAE-BF5A-486C-A8C5-ECC9F3942E4B}">
                <a14:imgProps xmlns:a14="http://schemas.microsoft.com/office/drawing/2010/main">
                  <a14:imgLayer r:embed="rId29">
                    <a14:imgEffect>
                      <a14:artisticChalkSketch/>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237833" y="5969805"/>
            <a:ext cx="704451" cy="621204"/>
          </a:xfrm>
          <a:prstGeom prst="rect">
            <a:avLst/>
          </a:prstGeom>
        </p:spPr>
      </p:pic>
      <p:pic>
        <p:nvPicPr>
          <p:cNvPr id="4" name="图片 3">
            <a:extLst>
              <a:ext uri="{FF2B5EF4-FFF2-40B4-BE49-F238E27FC236}">
                <a16:creationId xmlns:a16="http://schemas.microsoft.com/office/drawing/2014/main" id="{0657A9E2-8405-9B01-775D-E4CEE8D672A3}"/>
              </a:ext>
            </a:extLst>
          </p:cNvPr>
          <p:cNvPicPr>
            <a:picLocks noChangeAspect="1"/>
          </p:cNvPicPr>
          <p:nvPr userDrawn="1"/>
        </p:nvPicPr>
        <p:blipFill>
          <a:blip r:embed="rId31">
            <a:extLst>
              <a:ext uri="{BEBA8EAE-BF5A-486C-A8C5-ECC9F3942E4B}">
                <a14:imgProps xmlns:a14="http://schemas.microsoft.com/office/drawing/2010/main">
                  <a14:imgLayer r:embed="rId32">
                    <a14:imgEffect>
                      <a14:brightnessContrast bright="-55000" contrast="-18000"/>
                    </a14:imgEffect>
                  </a14:imgLayer>
                </a14:imgProps>
              </a:ext>
              <a:ext uri="{28A0092B-C50C-407E-A947-70E740481C1C}">
                <a14:useLocalDpi xmlns:a14="http://schemas.microsoft.com/office/drawing/2010/main" val="0"/>
              </a:ext>
            </a:extLst>
          </a:blip>
          <a:stretch>
            <a:fillRect/>
          </a:stretch>
        </p:blipFill>
        <p:spPr>
          <a:xfrm>
            <a:off x="0" y="0"/>
            <a:ext cx="12192000" cy="6857999"/>
          </a:xfrm>
          <a:prstGeom prst="rect">
            <a:avLst/>
          </a:prstGeom>
          <a:effectLst>
            <a:glow>
              <a:schemeClr val="accent1">
                <a:alpha val="3000"/>
              </a:schemeClr>
            </a:glow>
          </a:effectLst>
        </p:spPr>
      </p:pic>
      <p:sp>
        <p:nvSpPr>
          <p:cNvPr id="9" name="Title 1">
            <a:extLst>
              <a:ext uri="{FF2B5EF4-FFF2-40B4-BE49-F238E27FC236}">
                <a16:creationId xmlns:a16="http://schemas.microsoft.com/office/drawing/2014/main" id="{44324555-208A-6585-0A74-4343401EB456}"/>
              </a:ext>
            </a:extLst>
          </p:cNvPr>
          <p:cNvSpPr txBox="1">
            <a:spLocks/>
          </p:cNvSpPr>
          <p:nvPr userDrawn="1"/>
        </p:nvSpPr>
        <p:spPr>
          <a:xfrm>
            <a:off x="942284" y="173332"/>
            <a:ext cx="10659165" cy="456068"/>
          </a:xfrm>
          <a:prstGeom prst="rect">
            <a:avLst/>
          </a:prstGeom>
        </p:spPr>
        <p:txBody>
          <a:bodyPr/>
          <a:lstStyle>
            <a:lvl1pPr algn="l" defTabSz="914332" rtl="0" eaLnBrk="1" latinLnBrk="0" hangingPunct="1">
              <a:lnSpc>
                <a:spcPct val="90000"/>
              </a:lnSpc>
              <a:spcBef>
                <a:spcPct val="0"/>
              </a:spcBef>
              <a:buNone/>
              <a:defRPr sz="2400" b="1" kern="1200">
                <a:solidFill>
                  <a:schemeClr val="tx1"/>
                </a:solidFill>
                <a:latin typeface="+mj-ea"/>
                <a:ea typeface="+mj-ea"/>
                <a:cs typeface="+mj-cs"/>
              </a:defRPr>
            </a:lvl1pPr>
          </a:lstStyle>
          <a:p>
            <a:endParaRPr lang="zh-CN" altLang="en-US" dirty="0"/>
          </a:p>
        </p:txBody>
      </p:sp>
      <p:pic>
        <p:nvPicPr>
          <p:cNvPr id="10" name="图片 9">
            <a:extLst>
              <a:ext uri="{FF2B5EF4-FFF2-40B4-BE49-F238E27FC236}">
                <a16:creationId xmlns:a16="http://schemas.microsoft.com/office/drawing/2014/main" id="{03167F2B-6063-A3CE-1073-CA914266C4F0}"/>
              </a:ext>
            </a:extLst>
          </p:cNvPr>
          <p:cNvPicPr>
            <a:picLocks noChangeAspect="1"/>
          </p:cNvPicPr>
          <p:nvPr userDrawn="1"/>
        </p:nvPicPr>
        <p:blipFill>
          <a:blip r:embed="rId2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11" name="图片 10">
            <a:extLst>
              <a:ext uri="{FF2B5EF4-FFF2-40B4-BE49-F238E27FC236}">
                <a16:creationId xmlns:a16="http://schemas.microsoft.com/office/drawing/2014/main" id="{A5ADFFD0-BAC5-7526-C476-4439DF1489CC}"/>
              </a:ext>
            </a:extLst>
          </p:cNvPr>
          <p:cNvPicPr>
            <a:picLocks noChangeAspect="1"/>
          </p:cNvPicPr>
          <p:nvPr userDrawn="1"/>
        </p:nvPicPr>
        <p:blipFill>
          <a:blip r:embed="rId28">
            <a:duotone>
              <a:prstClr val="black"/>
              <a:schemeClr val="tx2">
                <a:tint val="45000"/>
                <a:satMod val="400000"/>
              </a:schemeClr>
            </a:duotone>
            <a:extLst>
              <a:ext uri="{BEBA8EAE-BF5A-486C-A8C5-ECC9F3942E4B}">
                <a14:imgProps xmlns:a14="http://schemas.microsoft.com/office/drawing/2010/main">
                  <a14:imgLayer r:embed="rId29">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789303109"/>
      </p:ext>
    </p:extLst>
  </p:cSld>
  <p:clrMap bg1="lt1" tx1="dk1" bg2="lt2" tx2="dk2" accent1="accent1" accent2="accent2" accent3="accent3" accent4="accent4" accent5="accent5" accent6="accent6" hlink="hlink" folHlink="folHlink"/>
  <p:sldLayoutIdLst>
    <p:sldLayoutId id="2147484155" r:id="rId1"/>
    <p:sldLayoutId id="2147484156" r:id="rId2"/>
    <p:sldLayoutId id="2147484157" r:id="rId3"/>
    <p:sldLayoutId id="2147484158" r:id="rId4"/>
    <p:sldLayoutId id="2147484159" r:id="rId5"/>
    <p:sldLayoutId id="2147484160" r:id="rId6"/>
    <p:sldLayoutId id="2147484161" r:id="rId7"/>
    <p:sldLayoutId id="2147484162" r:id="rId8"/>
    <p:sldLayoutId id="2147484163" r:id="rId9"/>
    <p:sldLayoutId id="2147484164" r:id="rId10"/>
    <p:sldLayoutId id="2147484165" r:id="rId11"/>
    <p:sldLayoutId id="2147484166" r:id="rId12"/>
    <p:sldLayoutId id="2147484167" r:id="rId13"/>
    <p:sldLayoutId id="2147484168" r:id="rId14"/>
    <p:sldLayoutId id="2147484169" r:id="rId15"/>
    <p:sldLayoutId id="2147484170" r:id="rId16"/>
    <p:sldLayoutId id="2147484171" r:id="rId17"/>
    <p:sldLayoutId id="2147484172" r:id="rId18"/>
    <p:sldLayoutId id="2147484173" r:id="rId19"/>
    <p:sldLayoutId id="2147484174" r:id="rId20"/>
    <p:sldLayoutId id="2147484175" r:id="rId21"/>
    <p:sldLayoutId id="2147484176" r:id="rId22"/>
    <p:sldLayoutId id="2147484177" r:id="rId23"/>
    <p:sldLayoutId id="2147484178" r:id="rId24"/>
  </p:sldLayoutIdLst>
  <p:txStyles>
    <p:title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p:titleStyle>
    <p:bodyStyle>
      <a:lvl1pPr marL="228584" indent="-228584" algn="l" defTabSz="914332"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1pPr>
      <a:lvl2pPr marL="685750"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2914"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080"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247"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412"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578"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744"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910"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416">
          <p15:clr>
            <a:srgbClr val="F26B43"/>
          </p15:clr>
        </p15:guide>
        <p15:guide id="2" pos="7256">
          <p15:clr>
            <a:srgbClr val="F26B43"/>
          </p15:clr>
        </p15:guide>
        <p15:guide id="3" orient="horz" pos="648">
          <p15:clr>
            <a:srgbClr val="F26B43"/>
          </p15:clr>
        </p15:guide>
        <p15:guide id="4" orient="horz" pos="712">
          <p15:clr>
            <a:srgbClr val="F26B43"/>
          </p15:clr>
        </p15:guide>
        <p15:guide id="5" orient="horz" pos="3928">
          <p15:clr>
            <a:srgbClr val="F26B43"/>
          </p15:clr>
        </p15:guide>
        <p15:guide id="6" orient="horz" pos="3864">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pic>
        <p:nvPicPr>
          <p:cNvPr id="16" name="图片 15">
            <a:extLst>
              <a:ext uri="{FF2B5EF4-FFF2-40B4-BE49-F238E27FC236}">
                <a16:creationId xmlns:a16="http://schemas.microsoft.com/office/drawing/2014/main" id="{E0142082-29B4-9D0B-D573-AE6BA6A27FDB}"/>
              </a:ext>
            </a:extLst>
          </p:cNvPr>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2" name="Title Placeholder 1">
            <a:extLst>
              <a:ext uri="{FF2B5EF4-FFF2-40B4-BE49-F238E27FC236}">
                <a16:creationId xmlns:a16="http://schemas.microsoft.com/office/drawing/2014/main" id="{61F18504-D86E-411A-B171-2A74DE296A53}"/>
              </a:ext>
            </a:extLst>
          </p:cNvPr>
          <p:cNvSpPr>
            <a:spLocks noGrp="1"/>
          </p:cNvSpPr>
          <p:nvPr>
            <p:ph type="title"/>
          </p:nvPr>
        </p:nvSpPr>
        <p:spPr>
          <a:xfrm>
            <a:off x="590058" y="159041"/>
            <a:ext cx="10858500" cy="1028700"/>
          </a:xfrm>
          <a:prstGeom prst="rect">
            <a:avLst/>
          </a:prstGeom>
        </p:spPr>
        <p:txBody>
          <a:bodyPr vert="horz" lIns="91440" tIns="45720" rIns="91440" bIns="45720" rtlCol="0" anchor="b">
            <a:normAutofit/>
          </a:bodyPr>
          <a:lstStyle/>
          <a:p>
            <a:r>
              <a:rPr lang="zh-CN" altLang="en-US" dirty="0"/>
              <a:t>单击此处编辑母版标题样式</a:t>
            </a:r>
          </a:p>
        </p:txBody>
      </p:sp>
      <p:sp>
        <p:nvSpPr>
          <p:cNvPr id="3" name="Text Placeholder 2">
            <a:extLst>
              <a:ext uri="{FF2B5EF4-FFF2-40B4-BE49-F238E27FC236}">
                <a16:creationId xmlns:a16="http://schemas.microsoft.com/office/drawing/2014/main" id="{468A4509-A6D7-41B5-BE28-213FB58E8B74}"/>
              </a:ext>
            </a:extLst>
          </p:cNvPr>
          <p:cNvSpPr>
            <a:spLocks noGrp="1"/>
          </p:cNvSpPr>
          <p:nvPr>
            <p:ph type="body" idx="1"/>
          </p:nvPr>
        </p:nvSpPr>
        <p:spPr>
          <a:xfrm>
            <a:off x="660403" y="1130300"/>
            <a:ext cx="10858500" cy="5003800"/>
          </a:xfrm>
          <a:prstGeom prst="rect">
            <a:avLst/>
          </a:prstGeom>
        </p:spPr>
        <p:txBody>
          <a:bodyPr vert="horz" lIns="91440" tIns="45720" rIns="91440" bIns="45720" rtlCol="0">
            <a:normAutofit/>
          </a:bodyPr>
          <a:lstStyle/>
          <a:p>
            <a:pPr lvl="0"/>
            <a:r>
              <a:rPr lang="zh-CN" altLang="en-US" dirty="0"/>
              <a:t>单击此处编辑母版文本样式</a:t>
            </a:r>
          </a:p>
          <a:p>
            <a:pPr lvl="1"/>
            <a:r>
              <a:rPr lang="zh-CN" altLang="en-US" dirty="0"/>
              <a:t>二级</a:t>
            </a:r>
          </a:p>
          <a:p>
            <a:pPr lvl="2"/>
            <a:r>
              <a:rPr lang="zh-CN" altLang="en-US" dirty="0"/>
              <a:t>三级</a:t>
            </a:r>
          </a:p>
          <a:p>
            <a:pPr lvl="3"/>
            <a:r>
              <a:rPr lang="zh-CN" altLang="en-US" dirty="0"/>
              <a:t>四级</a:t>
            </a:r>
          </a:p>
          <a:p>
            <a:pPr lvl="4"/>
            <a:r>
              <a:rPr lang="zh-CN" altLang="en-US" dirty="0"/>
              <a:t>五级</a:t>
            </a:r>
          </a:p>
        </p:txBody>
      </p:sp>
      <p:sp>
        <p:nvSpPr>
          <p:cNvPr id="12" name="Slide Number Placeholder 11">
            <a:extLst>
              <a:ext uri="{FF2B5EF4-FFF2-40B4-BE49-F238E27FC236}">
                <a16:creationId xmlns:a16="http://schemas.microsoft.com/office/drawing/2014/main" id="{7E8030F2-F0B4-4140-B9B5-8B5B27074E99}"/>
              </a:ext>
            </a:extLst>
          </p:cNvPr>
          <p:cNvSpPr>
            <a:spLocks noGrp="1"/>
          </p:cNvSpPr>
          <p:nvPr>
            <p:ph type="sldNum" sz="quarter" idx="4"/>
          </p:nvPr>
        </p:nvSpPr>
        <p:spPr>
          <a:xfrm>
            <a:off x="8971305" y="6235706"/>
            <a:ext cx="2547595" cy="206381"/>
          </a:xfrm>
          <a:prstGeom prst="rect">
            <a:avLst/>
          </a:prstGeom>
        </p:spPr>
        <p:txBody>
          <a:bodyPr vert="horz" lIns="91440" tIns="45720" rIns="91440" bIns="45720" rtlCol="0" anchor="ctr"/>
          <a:lstStyle>
            <a:lvl1pPr algn="r">
              <a:defRPr sz="900">
                <a:solidFill>
                  <a:schemeClr val="tx1">
                    <a:lumMod val="50000"/>
                    <a:lumOff val="50000"/>
                  </a:schemeClr>
                </a:solidFill>
              </a:defRPr>
            </a:lvl1pPr>
          </a:lstStyle>
          <a:p>
            <a:pPr>
              <a:defRPr/>
            </a:pPr>
            <a:fld id="{3FCA2A2F-A418-4FAB-8005-AC0FFB5BB2EB}" type="slidenum">
              <a:rPr lang="zh-CN" altLang="en-US" smtClean="0"/>
              <a:pPr>
                <a:defRPr/>
              </a:pPr>
              <a:t>‹#›</a:t>
            </a:fld>
            <a:endParaRPr lang="zh-CN" altLang="en-US"/>
          </a:p>
        </p:txBody>
      </p:sp>
      <p:pic>
        <p:nvPicPr>
          <p:cNvPr id="5" name="图片 4">
            <a:extLst>
              <a:ext uri="{FF2B5EF4-FFF2-40B4-BE49-F238E27FC236}">
                <a16:creationId xmlns:a16="http://schemas.microsoft.com/office/drawing/2014/main" id="{AE5356A1-47D2-987D-AC26-2D06BE54AE48}"/>
              </a:ext>
            </a:extLst>
          </p:cNvPr>
          <p:cNvPicPr>
            <a:picLocks noChangeAspect="1"/>
          </p:cNvPicPr>
          <p:nvPr/>
        </p:nvPicPr>
        <p:blipFill>
          <a:blip r:embed="rId27">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6" name="图片 5">
            <a:extLst>
              <a:ext uri="{FF2B5EF4-FFF2-40B4-BE49-F238E27FC236}">
                <a16:creationId xmlns:a16="http://schemas.microsoft.com/office/drawing/2014/main" id="{F7528938-7FFB-09DD-2A23-51B011B235FA}"/>
              </a:ext>
            </a:extLst>
          </p:cNvPr>
          <p:cNvPicPr>
            <a:picLocks noChangeAspect="1"/>
          </p:cNvPicPr>
          <p:nvPr/>
        </p:nvPicPr>
        <p:blipFill>
          <a:blip r:embed="rId28">
            <a:duotone>
              <a:prstClr val="black"/>
              <a:schemeClr val="accent2">
                <a:tint val="45000"/>
                <a:satMod val="400000"/>
              </a:schemeClr>
            </a:duotone>
            <a:extLst>
              <a:ext uri="{BEBA8EAE-BF5A-486C-A8C5-ECC9F3942E4B}">
                <a14:imgProps xmlns:a14="http://schemas.microsoft.com/office/drawing/2010/main">
                  <a14:imgLayer r:embed="rId29">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237833" y="5969805"/>
            <a:ext cx="704451" cy="621204"/>
          </a:xfrm>
          <a:prstGeom prst="rect">
            <a:avLst/>
          </a:prstGeom>
        </p:spPr>
      </p:pic>
      <p:pic>
        <p:nvPicPr>
          <p:cNvPr id="7" name="图片 6">
            <a:extLst>
              <a:ext uri="{FF2B5EF4-FFF2-40B4-BE49-F238E27FC236}">
                <a16:creationId xmlns:a16="http://schemas.microsoft.com/office/drawing/2014/main" id="{ED6B830F-AAEC-E345-AF62-7FB6503317BA}"/>
              </a:ext>
            </a:extLst>
          </p:cNvPr>
          <p:cNvPicPr>
            <a:picLocks noChangeAspect="1"/>
          </p:cNvPicPr>
          <p:nvPr/>
        </p:nvPicPr>
        <p:blipFill>
          <a:blip r:embed="rId27">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8" name="图片 7">
            <a:extLst>
              <a:ext uri="{FF2B5EF4-FFF2-40B4-BE49-F238E27FC236}">
                <a16:creationId xmlns:a16="http://schemas.microsoft.com/office/drawing/2014/main" id="{5A611822-F66C-22F6-9A49-C1DA5C40B2E0}"/>
              </a:ext>
            </a:extLst>
          </p:cNvPr>
          <p:cNvPicPr>
            <a:picLocks noChangeAspect="1"/>
          </p:cNvPicPr>
          <p:nvPr/>
        </p:nvPicPr>
        <p:blipFill>
          <a:blip r:embed="rId30">
            <a:duotone>
              <a:prstClr val="black"/>
              <a:schemeClr val="accent2">
                <a:tint val="45000"/>
                <a:satMod val="400000"/>
              </a:schemeClr>
            </a:duotone>
            <a:extLst>
              <a:ext uri="{BEBA8EAE-BF5A-486C-A8C5-ECC9F3942E4B}">
                <a14:imgProps xmlns:a14="http://schemas.microsoft.com/office/drawing/2010/main">
                  <a14:imgLayer r:embed="rId29">
                    <a14:imgEffect>
                      <a14:artisticChalkSketch/>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237833" y="5969805"/>
            <a:ext cx="704451" cy="621204"/>
          </a:xfrm>
          <a:prstGeom prst="rect">
            <a:avLst/>
          </a:prstGeom>
        </p:spPr>
      </p:pic>
      <p:pic>
        <p:nvPicPr>
          <p:cNvPr id="4" name="图片 3">
            <a:extLst>
              <a:ext uri="{FF2B5EF4-FFF2-40B4-BE49-F238E27FC236}">
                <a16:creationId xmlns:a16="http://schemas.microsoft.com/office/drawing/2014/main" id="{0657A9E2-8405-9B01-775D-E4CEE8D672A3}"/>
              </a:ext>
            </a:extLst>
          </p:cNvPr>
          <p:cNvPicPr>
            <a:picLocks noChangeAspect="1"/>
          </p:cNvPicPr>
          <p:nvPr userDrawn="1"/>
        </p:nvPicPr>
        <p:blipFill>
          <a:blip r:embed="rId31">
            <a:extLst>
              <a:ext uri="{BEBA8EAE-BF5A-486C-A8C5-ECC9F3942E4B}">
                <a14:imgProps xmlns:a14="http://schemas.microsoft.com/office/drawing/2010/main">
                  <a14:imgLayer r:embed="rId32">
                    <a14:imgEffect>
                      <a14:brightnessContrast bright="-55000" contrast="-18000"/>
                    </a14:imgEffect>
                  </a14:imgLayer>
                </a14:imgProps>
              </a:ext>
              <a:ext uri="{28A0092B-C50C-407E-A947-70E740481C1C}">
                <a14:useLocalDpi xmlns:a14="http://schemas.microsoft.com/office/drawing/2010/main" val="0"/>
              </a:ext>
            </a:extLst>
          </a:blip>
          <a:stretch>
            <a:fillRect/>
          </a:stretch>
        </p:blipFill>
        <p:spPr>
          <a:xfrm>
            <a:off x="0" y="0"/>
            <a:ext cx="12192000" cy="6857999"/>
          </a:xfrm>
          <a:prstGeom prst="rect">
            <a:avLst/>
          </a:prstGeom>
          <a:effectLst>
            <a:glow>
              <a:schemeClr val="accent1">
                <a:alpha val="3000"/>
              </a:schemeClr>
            </a:glow>
          </a:effectLst>
        </p:spPr>
      </p:pic>
      <p:sp>
        <p:nvSpPr>
          <p:cNvPr id="9" name="Title 1">
            <a:extLst>
              <a:ext uri="{FF2B5EF4-FFF2-40B4-BE49-F238E27FC236}">
                <a16:creationId xmlns:a16="http://schemas.microsoft.com/office/drawing/2014/main" id="{44324555-208A-6585-0A74-4343401EB456}"/>
              </a:ext>
            </a:extLst>
          </p:cNvPr>
          <p:cNvSpPr txBox="1">
            <a:spLocks/>
          </p:cNvSpPr>
          <p:nvPr userDrawn="1"/>
        </p:nvSpPr>
        <p:spPr>
          <a:xfrm>
            <a:off x="942284" y="173332"/>
            <a:ext cx="10659165" cy="456068"/>
          </a:xfrm>
          <a:prstGeom prst="rect">
            <a:avLst/>
          </a:prstGeom>
        </p:spPr>
        <p:txBody>
          <a:bodyPr/>
          <a:lstStyle>
            <a:lvl1pPr algn="l" defTabSz="914332" rtl="0" eaLnBrk="1" latinLnBrk="0" hangingPunct="1">
              <a:lnSpc>
                <a:spcPct val="90000"/>
              </a:lnSpc>
              <a:spcBef>
                <a:spcPct val="0"/>
              </a:spcBef>
              <a:buNone/>
              <a:defRPr sz="2400" b="1" kern="1200">
                <a:solidFill>
                  <a:schemeClr val="tx1"/>
                </a:solidFill>
                <a:latin typeface="+mj-ea"/>
                <a:ea typeface="+mj-ea"/>
                <a:cs typeface="+mj-cs"/>
              </a:defRPr>
            </a:lvl1pPr>
          </a:lstStyle>
          <a:p>
            <a:endParaRPr lang="zh-CN" altLang="en-US" dirty="0"/>
          </a:p>
        </p:txBody>
      </p:sp>
      <p:pic>
        <p:nvPicPr>
          <p:cNvPr id="10" name="图片 9">
            <a:extLst>
              <a:ext uri="{FF2B5EF4-FFF2-40B4-BE49-F238E27FC236}">
                <a16:creationId xmlns:a16="http://schemas.microsoft.com/office/drawing/2014/main" id="{03167F2B-6063-A3CE-1073-CA914266C4F0}"/>
              </a:ext>
            </a:extLst>
          </p:cNvPr>
          <p:cNvPicPr>
            <a:picLocks noChangeAspect="1"/>
          </p:cNvPicPr>
          <p:nvPr userDrawn="1"/>
        </p:nvPicPr>
        <p:blipFill>
          <a:blip r:embed="rId27">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11" name="图片 10">
            <a:extLst>
              <a:ext uri="{FF2B5EF4-FFF2-40B4-BE49-F238E27FC236}">
                <a16:creationId xmlns:a16="http://schemas.microsoft.com/office/drawing/2014/main" id="{A5ADFFD0-BAC5-7526-C476-4439DF1489CC}"/>
              </a:ext>
            </a:extLst>
          </p:cNvPr>
          <p:cNvPicPr>
            <a:picLocks noChangeAspect="1"/>
          </p:cNvPicPr>
          <p:nvPr userDrawn="1"/>
        </p:nvPicPr>
        <p:blipFill>
          <a:blip r:embed="rId28">
            <a:duotone>
              <a:prstClr val="black"/>
              <a:schemeClr val="tx2">
                <a:tint val="45000"/>
                <a:satMod val="400000"/>
              </a:schemeClr>
            </a:duotone>
            <a:extLst>
              <a:ext uri="{BEBA8EAE-BF5A-486C-A8C5-ECC9F3942E4B}">
                <a14:imgProps xmlns:a14="http://schemas.microsoft.com/office/drawing/2010/main">
                  <a14:imgLayer r:embed="rId29">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3993145784"/>
      </p:ext>
    </p:extLst>
  </p:cSld>
  <p:clrMap bg1="lt1" tx1="dk1" bg2="lt2" tx2="dk2" accent1="accent1" accent2="accent2" accent3="accent3" accent4="accent4" accent5="accent5" accent6="accent6" hlink="hlink" folHlink="folHlink"/>
  <p:sldLayoutIdLst>
    <p:sldLayoutId id="2147484080" r:id="rId1"/>
    <p:sldLayoutId id="2147484081" r:id="rId2"/>
    <p:sldLayoutId id="2147484082" r:id="rId3"/>
    <p:sldLayoutId id="2147484083" r:id="rId4"/>
    <p:sldLayoutId id="2147484084" r:id="rId5"/>
    <p:sldLayoutId id="2147484085" r:id="rId6"/>
    <p:sldLayoutId id="2147484086" r:id="rId7"/>
    <p:sldLayoutId id="2147484087" r:id="rId8"/>
    <p:sldLayoutId id="2147484088" r:id="rId9"/>
    <p:sldLayoutId id="2147484089" r:id="rId10"/>
    <p:sldLayoutId id="2147484090" r:id="rId11"/>
    <p:sldLayoutId id="2147484091" r:id="rId12"/>
    <p:sldLayoutId id="2147484092" r:id="rId13"/>
    <p:sldLayoutId id="2147484093" r:id="rId14"/>
    <p:sldLayoutId id="2147484094" r:id="rId15"/>
    <p:sldLayoutId id="2147484095" r:id="rId16"/>
    <p:sldLayoutId id="2147484096" r:id="rId17"/>
    <p:sldLayoutId id="2147484097" r:id="rId18"/>
    <p:sldLayoutId id="2147484098" r:id="rId19"/>
    <p:sldLayoutId id="2147484099" r:id="rId20"/>
    <p:sldLayoutId id="2147484100" r:id="rId21"/>
    <p:sldLayoutId id="2147484101" r:id="rId22"/>
    <p:sldLayoutId id="2147484102" r:id="rId23"/>
    <p:sldLayoutId id="2147484103" r:id="rId24"/>
  </p:sldLayoutIdLst>
  <p:txStyles>
    <p:title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p:titleStyle>
    <p:bodyStyle>
      <a:lvl1pPr marL="228584" indent="-228584" algn="l" defTabSz="914332"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1pPr>
      <a:lvl2pPr marL="685750"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2914"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080"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247"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412"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578"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744"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910"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416">
          <p15:clr>
            <a:srgbClr val="F26B43"/>
          </p15:clr>
        </p15:guide>
        <p15:guide id="2" pos="7256">
          <p15:clr>
            <a:srgbClr val="F26B43"/>
          </p15:clr>
        </p15:guide>
        <p15:guide id="3" orient="horz" pos="648">
          <p15:clr>
            <a:srgbClr val="F26B43"/>
          </p15:clr>
        </p15:guide>
        <p15:guide id="4" orient="horz" pos="712">
          <p15:clr>
            <a:srgbClr val="F26B43"/>
          </p15:clr>
        </p15:guide>
        <p15:guide id="5" orient="horz" pos="3928">
          <p15:clr>
            <a:srgbClr val="F26B43"/>
          </p15:clr>
        </p15:guide>
        <p15:guide id="6" orient="horz" pos="3864">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2"/>
        </a:solidFill>
        <a:effectLst/>
      </p:bgPr>
    </p:bg>
    <p:spTree>
      <p:nvGrpSpPr>
        <p:cNvPr id="1" name=""/>
        <p:cNvGrpSpPr/>
        <p:nvPr/>
      </p:nvGrpSpPr>
      <p:grpSpPr>
        <a:xfrm>
          <a:off x="0" y="0"/>
          <a:ext cx="0" cy="0"/>
          <a:chOff x="0" y="0"/>
          <a:chExt cx="0" cy="0"/>
        </a:xfrm>
      </p:grpSpPr>
      <p:pic>
        <p:nvPicPr>
          <p:cNvPr id="16" name="图片 15">
            <a:extLst>
              <a:ext uri="{FF2B5EF4-FFF2-40B4-BE49-F238E27FC236}">
                <a16:creationId xmlns:a16="http://schemas.microsoft.com/office/drawing/2014/main" id="{E0142082-29B4-9D0B-D573-AE6BA6A27FDB}"/>
              </a:ext>
            </a:extLst>
          </p:cNvPr>
          <p:cNvPicPr>
            <a:picLocks noChangeAspect="1"/>
          </p:cNvPicPr>
          <p:nvPr/>
        </p:nvPicPr>
        <p:blipFill>
          <a:blip r:embed="rId31">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2" name="Title Placeholder 1">
            <a:extLst>
              <a:ext uri="{FF2B5EF4-FFF2-40B4-BE49-F238E27FC236}">
                <a16:creationId xmlns:a16="http://schemas.microsoft.com/office/drawing/2014/main" id="{61F18504-D86E-411A-B171-2A74DE296A53}"/>
              </a:ext>
            </a:extLst>
          </p:cNvPr>
          <p:cNvSpPr>
            <a:spLocks noGrp="1"/>
          </p:cNvSpPr>
          <p:nvPr>
            <p:ph type="title"/>
          </p:nvPr>
        </p:nvSpPr>
        <p:spPr>
          <a:xfrm>
            <a:off x="590058" y="159041"/>
            <a:ext cx="10858500" cy="1028700"/>
          </a:xfrm>
          <a:prstGeom prst="rect">
            <a:avLst/>
          </a:prstGeom>
        </p:spPr>
        <p:txBody>
          <a:bodyPr vert="horz" lIns="91440" tIns="45720" rIns="91440" bIns="45720" rtlCol="0" anchor="b">
            <a:normAutofit/>
          </a:bodyPr>
          <a:lstStyle/>
          <a:p>
            <a:r>
              <a:rPr lang="zh-CN" altLang="en-US" dirty="0"/>
              <a:t>单击此处编辑母版标题样式</a:t>
            </a:r>
          </a:p>
        </p:txBody>
      </p:sp>
      <p:sp>
        <p:nvSpPr>
          <p:cNvPr id="3" name="Text Placeholder 2">
            <a:extLst>
              <a:ext uri="{FF2B5EF4-FFF2-40B4-BE49-F238E27FC236}">
                <a16:creationId xmlns:a16="http://schemas.microsoft.com/office/drawing/2014/main" id="{468A4509-A6D7-41B5-BE28-213FB58E8B74}"/>
              </a:ext>
            </a:extLst>
          </p:cNvPr>
          <p:cNvSpPr>
            <a:spLocks noGrp="1"/>
          </p:cNvSpPr>
          <p:nvPr>
            <p:ph type="body" idx="1"/>
          </p:nvPr>
        </p:nvSpPr>
        <p:spPr>
          <a:xfrm>
            <a:off x="660403" y="1130300"/>
            <a:ext cx="10858500" cy="5003800"/>
          </a:xfrm>
          <a:prstGeom prst="rect">
            <a:avLst/>
          </a:prstGeom>
        </p:spPr>
        <p:txBody>
          <a:bodyPr vert="horz" lIns="91440" tIns="45720" rIns="91440" bIns="45720" rtlCol="0">
            <a:normAutofit/>
          </a:bodyPr>
          <a:lstStyle/>
          <a:p>
            <a:pPr lvl="0"/>
            <a:r>
              <a:rPr lang="zh-CN" altLang="en-US" dirty="0"/>
              <a:t>单击此处编辑母版文本样式</a:t>
            </a:r>
          </a:p>
          <a:p>
            <a:pPr lvl="1"/>
            <a:r>
              <a:rPr lang="zh-CN" altLang="en-US" dirty="0"/>
              <a:t>二级</a:t>
            </a:r>
          </a:p>
          <a:p>
            <a:pPr lvl="2"/>
            <a:r>
              <a:rPr lang="zh-CN" altLang="en-US" dirty="0"/>
              <a:t>三级</a:t>
            </a:r>
          </a:p>
          <a:p>
            <a:pPr lvl="3"/>
            <a:r>
              <a:rPr lang="zh-CN" altLang="en-US" dirty="0"/>
              <a:t>四级</a:t>
            </a:r>
          </a:p>
          <a:p>
            <a:pPr lvl="4"/>
            <a:r>
              <a:rPr lang="zh-CN" altLang="en-US" dirty="0"/>
              <a:t>五级</a:t>
            </a:r>
          </a:p>
        </p:txBody>
      </p:sp>
      <p:sp>
        <p:nvSpPr>
          <p:cNvPr id="12" name="Slide Number Placeholder 11">
            <a:extLst>
              <a:ext uri="{FF2B5EF4-FFF2-40B4-BE49-F238E27FC236}">
                <a16:creationId xmlns:a16="http://schemas.microsoft.com/office/drawing/2014/main" id="{7E8030F2-F0B4-4140-B9B5-8B5B27074E99}"/>
              </a:ext>
            </a:extLst>
          </p:cNvPr>
          <p:cNvSpPr>
            <a:spLocks noGrp="1"/>
          </p:cNvSpPr>
          <p:nvPr>
            <p:ph type="sldNum" sz="quarter" idx="4"/>
          </p:nvPr>
        </p:nvSpPr>
        <p:spPr>
          <a:xfrm>
            <a:off x="8971305" y="6235706"/>
            <a:ext cx="2547595" cy="206381"/>
          </a:xfrm>
          <a:prstGeom prst="rect">
            <a:avLst/>
          </a:prstGeom>
        </p:spPr>
        <p:txBody>
          <a:bodyPr vert="horz" lIns="91440" tIns="45720" rIns="91440" bIns="45720" rtlCol="0" anchor="ctr"/>
          <a:lstStyle>
            <a:lvl1pPr algn="r">
              <a:defRPr sz="900">
                <a:solidFill>
                  <a:schemeClr val="tx1">
                    <a:lumMod val="50000"/>
                    <a:lumOff val="50000"/>
                  </a:schemeClr>
                </a:solidFill>
              </a:defRPr>
            </a:lvl1pPr>
          </a:lstStyle>
          <a:p>
            <a:fld id="{4581C52D-B4E5-4EAF-F8F0-08BBB827BB93}" type="slidenum">
              <a:rPr lang="zh-CN" altLang="en-US" smtClean="0"/>
              <a:t>‹#›</a:t>
            </a:fld>
            <a:endParaRPr lang="zh-CN" altLang="en-US"/>
          </a:p>
        </p:txBody>
      </p:sp>
      <p:pic>
        <p:nvPicPr>
          <p:cNvPr id="5" name="图片 4">
            <a:extLst>
              <a:ext uri="{FF2B5EF4-FFF2-40B4-BE49-F238E27FC236}">
                <a16:creationId xmlns:a16="http://schemas.microsoft.com/office/drawing/2014/main" id="{AE5356A1-47D2-987D-AC26-2D06BE54AE48}"/>
              </a:ext>
            </a:extLst>
          </p:cNvPr>
          <p:cNvPicPr>
            <a:picLocks noChangeAspect="1"/>
          </p:cNvPicPr>
          <p:nvPr/>
        </p:nvPicPr>
        <p:blipFill>
          <a:blip r:embed="rId32" cstate="print">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6" name="图片 5">
            <a:extLst>
              <a:ext uri="{FF2B5EF4-FFF2-40B4-BE49-F238E27FC236}">
                <a16:creationId xmlns:a16="http://schemas.microsoft.com/office/drawing/2014/main" id="{F7528938-7FFB-09DD-2A23-51B011B235FA}"/>
              </a:ext>
            </a:extLst>
          </p:cNvPr>
          <p:cNvPicPr>
            <a:picLocks noChangeAspect="1"/>
          </p:cNvPicPr>
          <p:nvPr/>
        </p:nvPicPr>
        <p:blipFill>
          <a:blip r:embed="rId33" cstate="print">
            <a:duotone>
              <a:prstClr val="black"/>
              <a:schemeClr val="accent2">
                <a:tint val="45000"/>
                <a:satMod val="400000"/>
              </a:schemeClr>
            </a:duotone>
            <a:extLst>
              <a:ext uri="{BEBA8EAE-BF5A-486C-A8C5-ECC9F3942E4B}">
                <a14:imgProps xmlns:a14="http://schemas.microsoft.com/office/drawing/2010/main">
                  <a14:imgLayer r:embed="rId34">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237833" y="5969805"/>
            <a:ext cx="704451" cy="621204"/>
          </a:xfrm>
          <a:prstGeom prst="rect">
            <a:avLst/>
          </a:prstGeom>
        </p:spPr>
      </p:pic>
      <p:pic>
        <p:nvPicPr>
          <p:cNvPr id="7" name="图片 6">
            <a:extLst>
              <a:ext uri="{FF2B5EF4-FFF2-40B4-BE49-F238E27FC236}">
                <a16:creationId xmlns:a16="http://schemas.microsoft.com/office/drawing/2014/main" id="{ED6B830F-AAEC-E345-AF62-7FB6503317BA}"/>
              </a:ext>
            </a:extLst>
          </p:cNvPr>
          <p:cNvPicPr>
            <a:picLocks noChangeAspect="1"/>
          </p:cNvPicPr>
          <p:nvPr/>
        </p:nvPicPr>
        <p:blipFill>
          <a:blip r:embed="rId32" cstate="print">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8" name="图片 7">
            <a:extLst>
              <a:ext uri="{FF2B5EF4-FFF2-40B4-BE49-F238E27FC236}">
                <a16:creationId xmlns:a16="http://schemas.microsoft.com/office/drawing/2014/main" id="{5A611822-F66C-22F6-9A49-C1DA5C40B2E0}"/>
              </a:ext>
            </a:extLst>
          </p:cNvPr>
          <p:cNvPicPr>
            <a:picLocks noChangeAspect="1"/>
          </p:cNvPicPr>
          <p:nvPr/>
        </p:nvPicPr>
        <p:blipFill>
          <a:blip r:embed="rId35" cstate="print">
            <a:duotone>
              <a:prstClr val="black"/>
              <a:schemeClr val="accent2">
                <a:tint val="45000"/>
                <a:satMod val="400000"/>
              </a:schemeClr>
            </a:duotone>
            <a:extLst>
              <a:ext uri="{BEBA8EAE-BF5A-486C-A8C5-ECC9F3942E4B}">
                <a14:imgProps xmlns:a14="http://schemas.microsoft.com/office/drawing/2010/main">
                  <a14:imgLayer r:embed="rId34">
                    <a14:imgEffect>
                      <a14:artisticChalkSketch/>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237833" y="5969805"/>
            <a:ext cx="704451" cy="621204"/>
          </a:xfrm>
          <a:prstGeom prst="rect">
            <a:avLst/>
          </a:prstGeom>
        </p:spPr>
      </p:pic>
      <p:pic>
        <p:nvPicPr>
          <p:cNvPr id="4" name="图片 3">
            <a:extLst>
              <a:ext uri="{FF2B5EF4-FFF2-40B4-BE49-F238E27FC236}">
                <a16:creationId xmlns:a16="http://schemas.microsoft.com/office/drawing/2014/main" id="{0657A9E2-8405-9B01-775D-E4CEE8D672A3}"/>
              </a:ext>
            </a:extLst>
          </p:cNvPr>
          <p:cNvPicPr>
            <a:picLocks noChangeAspect="1"/>
          </p:cNvPicPr>
          <p:nvPr/>
        </p:nvPicPr>
        <p:blipFill>
          <a:blip r:embed="rId36">
            <a:extLst>
              <a:ext uri="{BEBA8EAE-BF5A-486C-A8C5-ECC9F3942E4B}">
                <a14:imgProps xmlns:a14="http://schemas.microsoft.com/office/drawing/2010/main">
                  <a14:imgLayer r:embed="rId37">
                    <a14:imgEffect>
                      <a14:brightnessContrast bright="-55000" contrast="-18000"/>
                    </a14:imgEffect>
                  </a14:imgLayer>
                </a14:imgProps>
              </a:ext>
              <a:ext uri="{28A0092B-C50C-407E-A947-70E740481C1C}">
                <a14:useLocalDpi xmlns:a14="http://schemas.microsoft.com/office/drawing/2010/main" val="0"/>
              </a:ext>
            </a:extLst>
          </a:blip>
          <a:stretch>
            <a:fillRect/>
          </a:stretch>
        </p:blipFill>
        <p:spPr>
          <a:xfrm>
            <a:off x="0" y="0"/>
            <a:ext cx="12192000" cy="6857999"/>
          </a:xfrm>
          <a:prstGeom prst="rect">
            <a:avLst/>
          </a:prstGeom>
          <a:effectLst>
            <a:glow>
              <a:schemeClr val="accent1">
                <a:alpha val="3000"/>
              </a:schemeClr>
            </a:glow>
          </a:effectLst>
        </p:spPr>
      </p:pic>
      <p:sp>
        <p:nvSpPr>
          <p:cNvPr id="9" name="Title 1">
            <a:extLst>
              <a:ext uri="{FF2B5EF4-FFF2-40B4-BE49-F238E27FC236}">
                <a16:creationId xmlns:a16="http://schemas.microsoft.com/office/drawing/2014/main" id="{44324555-208A-6585-0A74-4343401EB456}"/>
              </a:ext>
            </a:extLst>
          </p:cNvPr>
          <p:cNvSpPr txBox="1">
            <a:spLocks/>
          </p:cNvSpPr>
          <p:nvPr/>
        </p:nvSpPr>
        <p:spPr>
          <a:xfrm>
            <a:off x="942284" y="173332"/>
            <a:ext cx="10659165" cy="456068"/>
          </a:xfrm>
          <a:prstGeom prst="rect">
            <a:avLst/>
          </a:prstGeom>
        </p:spPr>
        <p:txBody>
          <a:bodyPr/>
          <a:lstStyle>
            <a:lvl1pPr algn="l" defTabSz="914332" rtl="0" eaLnBrk="1" latinLnBrk="0" hangingPunct="1">
              <a:lnSpc>
                <a:spcPct val="90000"/>
              </a:lnSpc>
              <a:spcBef>
                <a:spcPct val="0"/>
              </a:spcBef>
              <a:buNone/>
              <a:defRPr sz="2400" b="1" kern="1200">
                <a:solidFill>
                  <a:schemeClr val="tx1"/>
                </a:solidFill>
                <a:latin typeface="+mj-ea"/>
                <a:ea typeface="+mj-ea"/>
                <a:cs typeface="+mj-cs"/>
              </a:defRPr>
            </a:lvl1pPr>
          </a:lstStyle>
          <a:p>
            <a:endParaRPr lang="zh-CN" altLang="en-US" dirty="0"/>
          </a:p>
        </p:txBody>
      </p:sp>
      <p:pic>
        <p:nvPicPr>
          <p:cNvPr id="10" name="图片 9">
            <a:extLst>
              <a:ext uri="{FF2B5EF4-FFF2-40B4-BE49-F238E27FC236}">
                <a16:creationId xmlns:a16="http://schemas.microsoft.com/office/drawing/2014/main" id="{03167F2B-6063-A3CE-1073-CA914266C4F0}"/>
              </a:ext>
            </a:extLst>
          </p:cNvPr>
          <p:cNvPicPr>
            <a:picLocks noChangeAspect="1"/>
          </p:cNvPicPr>
          <p:nvPr/>
        </p:nvPicPr>
        <p:blipFill>
          <a:blip r:embed="rId32"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11" name="图片 10">
            <a:extLst>
              <a:ext uri="{FF2B5EF4-FFF2-40B4-BE49-F238E27FC236}">
                <a16:creationId xmlns:a16="http://schemas.microsoft.com/office/drawing/2014/main" id="{A5ADFFD0-BAC5-7526-C476-4439DF1489CC}"/>
              </a:ext>
            </a:extLst>
          </p:cNvPr>
          <p:cNvPicPr>
            <a:picLocks noChangeAspect="1"/>
          </p:cNvPicPr>
          <p:nvPr/>
        </p:nvPicPr>
        <p:blipFill>
          <a:blip r:embed="rId33" cstate="print">
            <a:duotone>
              <a:prstClr val="black"/>
              <a:schemeClr val="tx2">
                <a:tint val="45000"/>
                <a:satMod val="400000"/>
              </a:schemeClr>
            </a:duotone>
            <a:extLst>
              <a:ext uri="{BEBA8EAE-BF5A-486C-A8C5-ECC9F3942E4B}">
                <a14:imgProps xmlns:a14="http://schemas.microsoft.com/office/drawing/2010/main">
                  <a14:imgLayer r:embed="rId34">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1191284495"/>
      </p:ext>
    </p:extLst>
  </p:cSld>
  <p:clrMap bg1="lt1" tx1="dk1" bg2="lt2" tx2="dk2" accent1="accent1" accent2="accent2" accent3="accent3" accent4="accent4" accent5="accent5" accent6="accent6" hlink="hlink" folHlink="folHlink"/>
  <p:sldLayoutIdLst>
    <p:sldLayoutId id="2147484191" r:id="rId1"/>
    <p:sldLayoutId id="2147484192" r:id="rId2"/>
    <p:sldLayoutId id="2147484193" r:id="rId3"/>
    <p:sldLayoutId id="2147484194" r:id="rId4"/>
    <p:sldLayoutId id="2147484195" r:id="rId5"/>
    <p:sldLayoutId id="2147484196" r:id="rId6"/>
    <p:sldLayoutId id="2147484197" r:id="rId7"/>
    <p:sldLayoutId id="2147484198" r:id="rId8"/>
    <p:sldLayoutId id="2147484199" r:id="rId9"/>
    <p:sldLayoutId id="2147484200" r:id="rId10"/>
    <p:sldLayoutId id="2147484201" r:id="rId11"/>
    <p:sldLayoutId id="2147484202" r:id="rId12"/>
    <p:sldLayoutId id="2147484203" r:id="rId13"/>
    <p:sldLayoutId id="2147484204" r:id="rId14"/>
    <p:sldLayoutId id="2147484205" r:id="rId15"/>
    <p:sldLayoutId id="2147484206" r:id="rId16"/>
    <p:sldLayoutId id="2147484207" r:id="rId17"/>
    <p:sldLayoutId id="2147484208" r:id="rId18"/>
    <p:sldLayoutId id="2147484209" r:id="rId19"/>
    <p:sldLayoutId id="2147484210" r:id="rId20"/>
    <p:sldLayoutId id="2147484211" r:id="rId21"/>
    <p:sldLayoutId id="2147484212" r:id="rId22"/>
    <p:sldLayoutId id="2147484213" r:id="rId23"/>
    <p:sldLayoutId id="2147484214" r:id="rId24"/>
    <p:sldLayoutId id="2147484215" r:id="rId25"/>
    <p:sldLayoutId id="2147484216" r:id="rId26"/>
    <p:sldLayoutId id="2147484217" r:id="rId27"/>
    <p:sldLayoutId id="2147484218" r:id="rId28"/>
    <p:sldLayoutId id="2147484219" r:id="rId29"/>
  </p:sldLayoutIdLst>
  <p:txStyles>
    <p:title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p:titleStyle>
    <p:bodyStyle>
      <a:lvl1pPr marL="228584" indent="-228584" algn="l" defTabSz="914332"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1pPr>
      <a:lvl2pPr marL="685750"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2914"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080"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247"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412"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578"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744"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910"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416">
          <p15:clr>
            <a:srgbClr val="F26B43"/>
          </p15:clr>
        </p15:guide>
        <p15:guide id="2" pos="7256">
          <p15:clr>
            <a:srgbClr val="F26B43"/>
          </p15:clr>
        </p15:guide>
        <p15:guide id="3" orient="horz" pos="648">
          <p15:clr>
            <a:srgbClr val="F26B43"/>
          </p15:clr>
        </p15:guide>
        <p15:guide id="4" orient="horz" pos="712">
          <p15:clr>
            <a:srgbClr val="F26B43"/>
          </p15:clr>
        </p15:guide>
        <p15:guide id="5" orient="horz" pos="3928">
          <p15:clr>
            <a:srgbClr val="F26B43"/>
          </p15:clr>
        </p15:guide>
        <p15:guide id="6" orient="horz" pos="3864">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pic>
        <p:nvPicPr>
          <p:cNvPr id="16" name="图片 15">
            <a:extLst>
              <a:ext uri="{FF2B5EF4-FFF2-40B4-BE49-F238E27FC236}">
                <a16:creationId xmlns:a16="http://schemas.microsoft.com/office/drawing/2014/main" id="{E0142082-29B4-9D0B-D573-AE6BA6A27FDB}"/>
              </a:ext>
            </a:extLst>
          </p:cNvPr>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2" name="Title Placeholder 1">
            <a:extLst>
              <a:ext uri="{FF2B5EF4-FFF2-40B4-BE49-F238E27FC236}">
                <a16:creationId xmlns:a16="http://schemas.microsoft.com/office/drawing/2014/main" id="{61F18504-D86E-411A-B171-2A74DE296A53}"/>
              </a:ext>
            </a:extLst>
          </p:cNvPr>
          <p:cNvSpPr>
            <a:spLocks noGrp="1"/>
          </p:cNvSpPr>
          <p:nvPr>
            <p:ph type="title"/>
          </p:nvPr>
        </p:nvSpPr>
        <p:spPr>
          <a:xfrm>
            <a:off x="590058" y="159041"/>
            <a:ext cx="10858500" cy="1028700"/>
          </a:xfrm>
          <a:prstGeom prst="rect">
            <a:avLst/>
          </a:prstGeom>
        </p:spPr>
        <p:txBody>
          <a:bodyPr vert="horz" lIns="91440" tIns="45720" rIns="91440" bIns="45720" rtlCol="0" anchor="b">
            <a:normAutofit/>
          </a:bodyPr>
          <a:lstStyle/>
          <a:p>
            <a:r>
              <a:rPr lang="zh-CN" altLang="en-US" dirty="0"/>
              <a:t>单击此处编辑母版标题样式</a:t>
            </a:r>
          </a:p>
        </p:txBody>
      </p:sp>
      <p:sp>
        <p:nvSpPr>
          <p:cNvPr id="3" name="Text Placeholder 2">
            <a:extLst>
              <a:ext uri="{FF2B5EF4-FFF2-40B4-BE49-F238E27FC236}">
                <a16:creationId xmlns:a16="http://schemas.microsoft.com/office/drawing/2014/main" id="{468A4509-A6D7-41B5-BE28-213FB58E8B74}"/>
              </a:ext>
            </a:extLst>
          </p:cNvPr>
          <p:cNvSpPr>
            <a:spLocks noGrp="1"/>
          </p:cNvSpPr>
          <p:nvPr>
            <p:ph type="body" idx="1"/>
          </p:nvPr>
        </p:nvSpPr>
        <p:spPr>
          <a:xfrm>
            <a:off x="660403" y="1130300"/>
            <a:ext cx="10858500" cy="5003800"/>
          </a:xfrm>
          <a:prstGeom prst="rect">
            <a:avLst/>
          </a:prstGeom>
        </p:spPr>
        <p:txBody>
          <a:bodyPr vert="horz" lIns="91440" tIns="45720" rIns="91440" bIns="45720" rtlCol="0">
            <a:normAutofit/>
          </a:bodyPr>
          <a:lstStyle/>
          <a:p>
            <a:pPr lvl="0"/>
            <a:r>
              <a:rPr lang="zh-CN" altLang="en-US" dirty="0"/>
              <a:t>单击此处编辑母版文本样式</a:t>
            </a:r>
          </a:p>
          <a:p>
            <a:pPr lvl="1"/>
            <a:r>
              <a:rPr lang="zh-CN" altLang="en-US" dirty="0"/>
              <a:t>二级</a:t>
            </a:r>
          </a:p>
          <a:p>
            <a:pPr lvl="2"/>
            <a:r>
              <a:rPr lang="zh-CN" altLang="en-US" dirty="0"/>
              <a:t>三级</a:t>
            </a:r>
          </a:p>
          <a:p>
            <a:pPr lvl="3"/>
            <a:r>
              <a:rPr lang="zh-CN" altLang="en-US" dirty="0"/>
              <a:t>四级</a:t>
            </a:r>
          </a:p>
          <a:p>
            <a:pPr lvl="4"/>
            <a:r>
              <a:rPr lang="zh-CN" altLang="en-US" dirty="0"/>
              <a:t>五级</a:t>
            </a:r>
          </a:p>
        </p:txBody>
      </p:sp>
      <p:sp>
        <p:nvSpPr>
          <p:cNvPr id="12" name="Slide Number Placeholder 11">
            <a:extLst>
              <a:ext uri="{FF2B5EF4-FFF2-40B4-BE49-F238E27FC236}">
                <a16:creationId xmlns:a16="http://schemas.microsoft.com/office/drawing/2014/main" id="{7E8030F2-F0B4-4140-B9B5-8B5B27074E99}"/>
              </a:ext>
            </a:extLst>
          </p:cNvPr>
          <p:cNvSpPr>
            <a:spLocks noGrp="1"/>
          </p:cNvSpPr>
          <p:nvPr>
            <p:ph type="sldNum" sz="quarter" idx="4"/>
          </p:nvPr>
        </p:nvSpPr>
        <p:spPr>
          <a:xfrm>
            <a:off x="8971305" y="6235706"/>
            <a:ext cx="2547595" cy="206381"/>
          </a:xfrm>
          <a:prstGeom prst="rect">
            <a:avLst/>
          </a:prstGeom>
        </p:spPr>
        <p:txBody>
          <a:bodyPr vert="horz" lIns="91440" tIns="45720" rIns="91440" bIns="45720" rtlCol="0" anchor="ctr"/>
          <a:lstStyle>
            <a:lvl1pPr algn="r">
              <a:defRPr sz="900">
                <a:solidFill>
                  <a:schemeClr val="tx1">
                    <a:lumMod val="50000"/>
                    <a:lumOff val="50000"/>
                  </a:schemeClr>
                </a:solidFill>
              </a:defRPr>
            </a:lvl1pPr>
          </a:lstStyle>
          <a:p>
            <a:pPr>
              <a:defRPr/>
            </a:pPr>
            <a:fld id="{3FCA2A2F-A418-4FAB-8005-AC0FFB5BB2EB}" type="slidenum">
              <a:rPr lang="zh-CN" altLang="en-US" smtClean="0"/>
              <a:pPr>
                <a:defRPr/>
              </a:pPr>
              <a:t>‹#›</a:t>
            </a:fld>
            <a:endParaRPr lang="zh-CN" altLang="en-US"/>
          </a:p>
        </p:txBody>
      </p:sp>
      <p:pic>
        <p:nvPicPr>
          <p:cNvPr id="5" name="图片 4">
            <a:extLst>
              <a:ext uri="{FF2B5EF4-FFF2-40B4-BE49-F238E27FC236}">
                <a16:creationId xmlns:a16="http://schemas.microsoft.com/office/drawing/2014/main" id="{AE5356A1-47D2-987D-AC26-2D06BE54AE48}"/>
              </a:ext>
            </a:extLst>
          </p:cNvPr>
          <p:cNvPicPr>
            <a:picLocks noChangeAspect="1"/>
          </p:cNvPicPr>
          <p:nvPr/>
        </p:nvPicPr>
        <p:blipFill>
          <a:blip r:embed="rId27" cstate="print">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6" name="图片 5">
            <a:extLst>
              <a:ext uri="{FF2B5EF4-FFF2-40B4-BE49-F238E27FC236}">
                <a16:creationId xmlns:a16="http://schemas.microsoft.com/office/drawing/2014/main" id="{F7528938-7FFB-09DD-2A23-51B011B235FA}"/>
              </a:ext>
            </a:extLst>
          </p:cNvPr>
          <p:cNvPicPr>
            <a:picLocks noChangeAspect="1"/>
          </p:cNvPicPr>
          <p:nvPr/>
        </p:nvPicPr>
        <p:blipFill>
          <a:blip r:embed="rId28" cstate="print">
            <a:duotone>
              <a:prstClr val="black"/>
              <a:schemeClr val="accent2">
                <a:tint val="45000"/>
                <a:satMod val="400000"/>
              </a:schemeClr>
            </a:duotone>
            <a:extLst>
              <a:ext uri="{BEBA8EAE-BF5A-486C-A8C5-ECC9F3942E4B}">
                <a14:imgProps xmlns:a14="http://schemas.microsoft.com/office/drawing/2010/main">
                  <a14:imgLayer r:embed="rId29">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237833" y="5969805"/>
            <a:ext cx="704451" cy="621204"/>
          </a:xfrm>
          <a:prstGeom prst="rect">
            <a:avLst/>
          </a:prstGeom>
        </p:spPr>
      </p:pic>
      <p:pic>
        <p:nvPicPr>
          <p:cNvPr id="7" name="图片 6">
            <a:extLst>
              <a:ext uri="{FF2B5EF4-FFF2-40B4-BE49-F238E27FC236}">
                <a16:creationId xmlns:a16="http://schemas.microsoft.com/office/drawing/2014/main" id="{ED6B830F-AAEC-E345-AF62-7FB6503317BA}"/>
              </a:ext>
            </a:extLst>
          </p:cNvPr>
          <p:cNvPicPr>
            <a:picLocks noChangeAspect="1"/>
          </p:cNvPicPr>
          <p:nvPr/>
        </p:nvPicPr>
        <p:blipFill>
          <a:blip r:embed="rId27" cstate="print">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8" name="图片 7">
            <a:extLst>
              <a:ext uri="{FF2B5EF4-FFF2-40B4-BE49-F238E27FC236}">
                <a16:creationId xmlns:a16="http://schemas.microsoft.com/office/drawing/2014/main" id="{5A611822-F66C-22F6-9A49-C1DA5C40B2E0}"/>
              </a:ext>
            </a:extLst>
          </p:cNvPr>
          <p:cNvPicPr>
            <a:picLocks noChangeAspect="1"/>
          </p:cNvPicPr>
          <p:nvPr/>
        </p:nvPicPr>
        <p:blipFill>
          <a:blip r:embed="rId30" cstate="print">
            <a:duotone>
              <a:prstClr val="black"/>
              <a:schemeClr val="accent2">
                <a:tint val="45000"/>
                <a:satMod val="400000"/>
              </a:schemeClr>
            </a:duotone>
            <a:extLst>
              <a:ext uri="{BEBA8EAE-BF5A-486C-A8C5-ECC9F3942E4B}">
                <a14:imgProps xmlns:a14="http://schemas.microsoft.com/office/drawing/2010/main">
                  <a14:imgLayer r:embed="rId29">
                    <a14:imgEffect>
                      <a14:artisticChalkSketch/>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237833" y="5969805"/>
            <a:ext cx="704451" cy="621204"/>
          </a:xfrm>
          <a:prstGeom prst="rect">
            <a:avLst/>
          </a:prstGeom>
        </p:spPr>
      </p:pic>
      <p:pic>
        <p:nvPicPr>
          <p:cNvPr id="4" name="图片 3">
            <a:extLst>
              <a:ext uri="{FF2B5EF4-FFF2-40B4-BE49-F238E27FC236}">
                <a16:creationId xmlns:a16="http://schemas.microsoft.com/office/drawing/2014/main" id="{0657A9E2-8405-9B01-775D-E4CEE8D672A3}"/>
              </a:ext>
            </a:extLst>
          </p:cNvPr>
          <p:cNvPicPr>
            <a:picLocks noChangeAspect="1"/>
          </p:cNvPicPr>
          <p:nvPr userDrawn="1"/>
        </p:nvPicPr>
        <p:blipFill>
          <a:blip r:embed="rId31">
            <a:extLst>
              <a:ext uri="{BEBA8EAE-BF5A-486C-A8C5-ECC9F3942E4B}">
                <a14:imgProps xmlns:a14="http://schemas.microsoft.com/office/drawing/2010/main">
                  <a14:imgLayer r:embed="rId32">
                    <a14:imgEffect>
                      <a14:brightnessContrast bright="-55000" contrast="-18000"/>
                    </a14:imgEffect>
                  </a14:imgLayer>
                </a14:imgProps>
              </a:ext>
              <a:ext uri="{28A0092B-C50C-407E-A947-70E740481C1C}">
                <a14:useLocalDpi xmlns:a14="http://schemas.microsoft.com/office/drawing/2010/main" val="0"/>
              </a:ext>
            </a:extLst>
          </a:blip>
          <a:stretch>
            <a:fillRect/>
          </a:stretch>
        </p:blipFill>
        <p:spPr>
          <a:xfrm>
            <a:off x="0" y="0"/>
            <a:ext cx="12192000" cy="6857999"/>
          </a:xfrm>
          <a:prstGeom prst="rect">
            <a:avLst/>
          </a:prstGeom>
          <a:effectLst>
            <a:glow>
              <a:schemeClr val="accent1">
                <a:alpha val="3000"/>
              </a:schemeClr>
            </a:glow>
          </a:effectLst>
        </p:spPr>
      </p:pic>
      <p:sp>
        <p:nvSpPr>
          <p:cNvPr id="9" name="Title 1">
            <a:extLst>
              <a:ext uri="{FF2B5EF4-FFF2-40B4-BE49-F238E27FC236}">
                <a16:creationId xmlns:a16="http://schemas.microsoft.com/office/drawing/2014/main" id="{44324555-208A-6585-0A74-4343401EB456}"/>
              </a:ext>
            </a:extLst>
          </p:cNvPr>
          <p:cNvSpPr txBox="1">
            <a:spLocks/>
          </p:cNvSpPr>
          <p:nvPr userDrawn="1"/>
        </p:nvSpPr>
        <p:spPr>
          <a:xfrm>
            <a:off x="942284" y="173332"/>
            <a:ext cx="10659165" cy="456068"/>
          </a:xfrm>
          <a:prstGeom prst="rect">
            <a:avLst/>
          </a:prstGeom>
        </p:spPr>
        <p:txBody>
          <a:bodyPr/>
          <a:lstStyle>
            <a:lvl1pPr algn="l" defTabSz="914332" rtl="0" eaLnBrk="1" latinLnBrk="0" hangingPunct="1">
              <a:lnSpc>
                <a:spcPct val="90000"/>
              </a:lnSpc>
              <a:spcBef>
                <a:spcPct val="0"/>
              </a:spcBef>
              <a:buNone/>
              <a:defRPr sz="2400" b="1" kern="1200">
                <a:solidFill>
                  <a:schemeClr val="tx1"/>
                </a:solidFill>
                <a:latin typeface="+mj-ea"/>
                <a:ea typeface="+mj-ea"/>
                <a:cs typeface="+mj-cs"/>
              </a:defRPr>
            </a:lvl1pPr>
          </a:lstStyle>
          <a:p>
            <a:endParaRPr lang="zh-CN" altLang="en-US" dirty="0"/>
          </a:p>
        </p:txBody>
      </p:sp>
      <p:pic>
        <p:nvPicPr>
          <p:cNvPr id="10" name="图片 9">
            <a:extLst>
              <a:ext uri="{FF2B5EF4-FFF2-40B4-BE49-F238E27FC236}">
                <a16:creationId xmlns:a16="http://schemas.microsoft.com/office/drawing/2014/main" id="{03167F2B-6063-A3CE-1073-CA914266C4F0}"/>
              </a:ext>
            </a:extLst>
          </p:cNvPr>
          <p:cNvPicPr>
            <a:picLocks noChangeAspect="1"/>
          </p:cNvPicPr>
          <p:nvPr userDrawn="1"/>
        </p:nvPicPr>
        <p:blipFill>
          <a:blip r:embed="rId27"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11" name="图片 10">
            <a:extLst>
              <a:ext uri="{FF2B5EF4-FFF2-40B4-BE49-F238E27FC236}">
                <a16:creationId xmlns:a16="http://schemas.microsoft.com/office/drawing/2014/main" id="{A5ADFFD0-BAC5-7526-C476-4439DF1489CC}"/>
              </a:ext>
            </a:extLst>
          </p:cNvPr>
          <p:cNvPicPr>
            <a:picLocks noChangeAspect="1"/>
          </p:cNvPicPr>
          <p:nvPr userDrawn="1"/>
        </p:nvPicPr>
        <p:blipFill>
          <a:blip r:embed="rId28" cstate="print">
            <a:duotone>
              <a:prstClr val="black"/>
              <a:schemeClr val="tx2">
                <a:tint val="45000"/>
                <a:satMod val="400000"/>
              </a:schemeClr>
            </a:duotone>
            <a:extLst>
              <a:ext uri="{BEBA8EAE-BF5A-486C-A8C5-ECC9F3942E4B}">
                <a14:imgProps xmlns:a14="http://schemas.microsoft.com/office/drawing/2010/main">
                  <a14:imgLayer r:embed="rId29">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1539021727"/>
      </p:ext>
    </p:extLst>
  </p:cSld>
  <p:clrMap bg1="lt1" tx1="dk1" bg2="lt2" tx2="dk2" accent1="accent1" accent2="accent2" accent3="accent3" accent4="accent4" accent5="accent5" accent6="accent6" hlink="hlink" folHlink="folHlink"/>
  <p:sldLayoutIdLst>
    <p:sldLayoutId id="2147484221" r:id="rId1"/>
    <p:sldLayoutId id="2147484222" r:id="rId2"/>
    <p:sldLayoutId id="2147484223" r:id="rId3"/>
    <p:sldLayoutId id="2147484224" r:id="rId4"/>
    <p:sldLayoutId id="2147484225" r:id="rId5"/>
    <p:sldLayoutId id="2147484226" r:id="rId6"/>
    <p:sldLayoutId id="2147484227" r:id="rId7"/>
    <p:sldLayoutId id="2147484228" r:id="rId8"/>
    <p:sldLayoutId id="2147484229" r:id="rId9"/>
    <p:sldLayoutId id="2147484230" r:id="rId10"/>
    <p:sldLayoutId id="2147484231" r:id="rId11"/>
    <p:sldLayoutId id="2147484232" r:id="rId12"/>
    <p:sldLayoutId id="2147484233" r:id="rId13"/>
    <p:sldLayoutId id="2147484234" r:id="rId14"/>
    <p:sldLayoutId id="2147484235" r:id="rId15"/>
    <p:sldLayoutId id="2147484236" r:id="rId16"/>
    <p:sldLayoutId id="2147484237" r:id="rId17"/>
    <p:sldLayoutId id="2147484238" r:id="rId18"/>
    <p:sldLayoutId id="2147484239" r:id="rId19"/>
    <p:sldLayoutId id="2147484240" r:id="rId20"/>
    <p:sldLayoutId id="2147484241" r:id="rId21"/>
    <p:sldLayoutId id="2147484242" r:id="rId22"/>
    <p:sldLayoutId id="2147484243" r:id="rId23"/>
    <p:sldLayoutId id="2147484244" r:id="rId24"/>
  </p:sldLayoutIdLst>
  <p:txStyles>
    <p:title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p:titleStyle>
    <p:bodyStyle>
      <a:lvl1pPr marL="228584" indent="-228584" algn="l" defTabSz="914332"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1pPr>
      <a:lvl2pPr marL="685750"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2914"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080"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247"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412"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578"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744"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910"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416">
          <p15:clr>
            <a:srgbClr val="F26B43"/>
          </p15:clr>
        </p15:guide>
        <p15:guide id="2" pos="7256">
          <p15:clr>
            <a:srgbClr val="F26B43"/>
          </p15:clr>
        </p15:guide>
        <p15:guide id="3" orient="horz" pos="648">
          <p15:clr>
            <a:srgbClr val="F26B43"/>
          </p15:clr>
        </p15:guide>
        <p15:guide id="4" orient="horz" pos="712">
          <p15:clr>
            <a:srgbClr val="F26B43"/>
          </p15:clr>
        </p15:guide>
        <p15:guide id="5" orient="horz" pos="3928">
          <p15:clr>
            <a:srgbClr val="F26B43"/>
          </p15:clr>
        </p15:guide>
        <p15:guide id="6" orient="horz" pos="3864">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2"/>
        </a:solidFill>
        <a:effectLst/>
      </p:bgPr>
    </p:bg>
    <p:spTree>
      <p:nvGrpSpPr>
        <p:cNvPr id="1" name=""/>
        <p:cNvGrpSpPr/>
        <p:nvPr/>
      </p:nvGrpSpPr>
      <p:grpSpPr>
        <a:xfrm>
          <a:off x="0" y="0"/>
          <a:ext cx="0" cy="0"/>
          <a:chOff x="0" y="0"/>
          <a:chExt cx="0" cy="0"/>
        </a:xfrm>
      </p:grpSpPr>
      <p:pic>
        <p:nvPicPr>
          <p:cNvPr id="16" name="图片 15">
            <a:extLst>
              <a:ext uri="{FF2B5EF4-FFF2-40B4-BE49-F238E27FC236}">
                <a16:creationId xmlns:a16="http://schemas.microsoft.com/office/drawing/2014/main" id="{E0142082-29B4-9D0B-D573-AE6BA6A27FDB}"/>
              </a:ext>
            </a:extLst>
          </p:cNvPr>
          <p:cNvPicPr>
            <a:picLocks noChangeAspect="1"/>
          </p:cNvPicPr>
          <p:nvPr/>
        </p:nvPicPr>
        <p:blipFill>
          <a:blip r:embed="rId31">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2" name="Title Placeholder 1">
            <a:extLst>
              <a:ext uri="{FF2B5EF4-FFF2-40B4-BE49-F238E27FC236}">
                <a16:creationId xmlns:a16="http://schemas.microsoft.com/office/drawing/2014/main" id="{61F18504-D86E-411A-B171-2A74DE296A53}"/>
              </a:ext>
            </a:extLst>
          </p:cNvPr>
          <p:cNvSpPr>
            <a:spLocks noGrp="1"/>
          </p:cNvSpPr>
          <p:nvPr>
            <p:ph type="title"/>
          </p:nvPr>
        </p:nvSpPr>
        <p:spPr>
          <a:xfrm>
            <a:off x="590058" y="159041"/>
            <a:ext cx="10858500" cy="1028700"/>
          </a:xfrm>
          <a:prstGeom prst="rect">
            <a:avLst/>
          </a:prstGeom>
        </p:spPr>
        <p:txBody>
          <a:bodyPr vert="horz" lIns="91440" tIns="45720" rIns="91440" bIns="45720" rtlCol="0" anchor="b">
            <a:normAutofit/>
          </a:bodyPr>
          <a:lstStyle/>
          <a:p>
            <a:r>
              <a:rPr lang="zh-CN" altLang="en-US" dirty="0"/>
              <a:t>单击此处编辑母版标题样式</a:t>
            </a:r>
          </a:p>
        </p:txBody>
      </p:sp>
      <p:sp>
        <p:nvSpPr>
          <p:cNvPr id="3" name="Text Placeholder 2">
            <a:extLst>
              <a:ext uri="{FF2B5EF4-FFF2-40B4-BE49-F238E27FC236}">
                <a16:creationId xmlns:a16="http://schemas.microsoft.com/office/drawing/2014/main" id="{468A4509-A6D7-41B5-BE28-213FB58E8B74}"/>
              </a:ext>
            </a:extLst>
          </p:cNvPr>
          <p:cNvSpPr>
            <a:spLocks noGrp="1"/>
          </p:cNvSpPr>
          <p:nvPr>
            <p:ph type="body" idx="1"/>
          </p:nvPr>
        </p:nvSpPr>
        <p:spPr>
          <a:xfrm>
            <a:off x="660403" y="1130300"/>
            <a:ext cx="10858500" cy="5003800"/>
          </a:xfrm>
          <a:prstGeom prst="rect">
            <a:avLst/>
          </a:prstGeom>
        </p:spPr>
        <p:txBody>
          <a:bodyPr vert="horz" lIns="91440" tIns="45720" rIns="91440" bIns="45720" rtlCol="0">
            <a:normAutofit/>
          </a:bodyPr>
          <a:lstStyle/>
          <a:p>
            <a:pPr lvl="0"/>
            <a:r>
              <a:rPr lang="zh-CN" altLang="en-US" dirty="0"/>
              <a:t>单击此处编辑母版文本样式</a:t>
            </a:r>
          </a:p>
          <a:p>
            <a:pPr lvl="1"/>
            <a:r>
              <a:rPr lang="zh-CN" altLang="en-US" dirty="0"/>
              <a:t>二级</a:t>
            </a:r>
          </a:p>
          <a:p>
            <a:pPr lvl="2"/>
            <a:r>
              <a:rPr lang="zh-CN" altLang="en-US" dirty="0"/>
              <a:t>三级</a:t>
            </a:r>
          </a:p>
          <a:p>
            <a:pPr lvl="3"/>
            <a:r>
              <a:rPr lang="zh-CN" altLang="en-US" dirty="0"/>
              <a:t>四级</a:t>
            </a:r>
          </a:p>
          <a:p>
            <a:pPr lvl="4"/>
            <a:r>
              <a:rPr lang="zh-CN" altLang="en-US" dirty="0"/>
              <a:t>五级</a:t>
            </a:r>
          </a:p>
        </p:txBody>
      </p:sp>
      <p:sp>
        <p:nvSpPr>
          <p:cNvPr id="12" name="Slide Number Placeholder 11">
            <a:extLst>
              <a:ext uri="{FF2B5EF4-FFF2-40B4-BE49-F238E27FC236}">
                <a16:creationId xmlns:a16="http://schemas.microsoft.com/office/drawing/2014/main" id="{7E8030F2-F0B4-4140-B9B5-8B5B27074E99}"/>
              </a:ext>
            </a:extLst>
          </p:cNvPr>
          <p:cNvSpPr>
            <a:spLocks noGrp="1"/>
          </p:cNvSpPr>
          <p:nvPr>
            <p:ph type="sldNum" sz="quarter" idx="4"/>
          </p:nvPr>
        </p:nvSpPr>
        <p:spPr>
          <a:xfrm>
            <a:off x="8971305" y="6235706"/>
            <a:ext cx="2547595" cy="206381"/>
          </a:xfrm>
          <a:prstGeom prst="rect">
            <a:avLst/>
          </a:prstGeom>
        </p:spPr>
        <p:txBody>
          <a:bodyPr vert="horz" lIns="91440" tIns="45720" rIns="91440" bIns="45720" rtlCol="0" anchor="ctr"/>
          <a:lstStyle>
            <a:lvl1pPr algn="r">
              <a:defRPr sz="900">
                <a:solidFill>
                  <a:schemeClr val="tx1">
                    <a:lumMod val="50000"/>
                    <a:lumOff val="50000"/>
                  </a:schemeClr>
                </a:solidFill>
              </a:defRPr>
            </a:lvl1pPr>
          </a:lstStyle>
          <a:p>
            <a:fld id="{4581C52D-B4E5-4EAF-F8F0-08BBB827BB93}" type="slidenum">
              <a:rPr lang="zh-CN" altLang="en-US" smtClean="0"/>
              <a:t>‹#›</a:t>
            </a:fld>
            <a:endParaRPr lang="zh-CN" altLang="en-US"/>
          </a:p>
        </p:txBody>
      </p:sp>
      <p:pic>
        <p:nvPicPr>
          <p:cNvPr id="5" name="图片 4">
            <a:extLst>
              <a:ext uri="{FF2B5EF4-FFF2-40B4-BE49-F238E27FC236}">
                <a16:creationId xmlns:a16="http://schemas.microsoft.com/office/drawing/2014/main" id="{AE5356A1-47D2-987D-AC26-2D06BE54AE48}"/>
              </a:ext>
            </a:extLst>
          </p:cNvPr>
          <p:cNvPicPr>
            <a:picLocks noChangeAspect="1"/>
          </p:cNvPicPr>
          <p:nvPr/>
        </p:nvPicPr>
        <p:blipFill>
          <a:blip r:embed="rId32" cstate="print">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6" name="图片 5">
            <a:extLst>
              <a:ext uri="{FF2B5EF4-FFF2-40B4-BE49-F238E27FC236}">
                <a16:creationId xmlns:a16="http://schemas.microsoft.com/office/drawing/2014/main" id="{F7528938-7FFB-09DD-2A23-51B011B235FA}"/>
              </a:ext>
            </a:extLst>
          </p:cNvPr>
          <p:cNvPicPr>
            <a:picLocks noChangeAspect="1"/>
          </p:cNvPicPr>
          <p:nvPr/>
        </p:nvPicPr>
        <p:blipFill>
          <a:blip r:embed="rId33" cstate="print">
            <a:duotone>
              <a:prstClr val="black"/>
              <a:schemeClr val="accent2">
                <a:tint val="45000"/>
                <a:satMod val="400000"/>
              </a:schemeClr>
            </a:duotone>
            <a:extLst>
              <a:ext uri="{BEBA8EAE-BF5A-486C-A8C5-ECC9F3942E4B}">
                <a14:imgProps xmlns:a14="http://schemas.microsoft.com/office/drawing/2010/main">
                  <a14:imgLayer r:embed="rId34">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237833" y="5969805"/>
            <a:ext cx="704451" cy="621204"/>
          </a:xfrm>
          <a:prstGeom prst="rect">
            <a:avLst/>
          </a:prstGeom>
        </p:spPr>
      </p:pic>
      <p:pic>
        <p:nvPicPr>
          <p:cNvPr id="7" name="图片 6">
            <a:extLst>
              <a:ext uri="{FF2B5EF4-FFF2-40B4-BE49-F238E27FC236}">
                <a16:creationId xmlns:a16="http://schemas.microsoft.com/office/drawing/2014/main" id="{ED6B830F-AAEC-E345-AF62-7FB6503317BA}"/>
              </a:ext>
            </a:extLst>
          </p:cNvPr>
          <p:cNvPicPr>
            <a:picLocks noChangeAspect="1"/>
          </p:cNvPicPr>
          <p:nvPr/>
        </p:nvPicPr>
        <p:blipFill>
          <a:blip r:embed="rId32" cstate="print">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a:off x="11063036" y="125824"/>
            <a:ext cx="937127" cy="523654"/>
          </a:xfrm>
          <a:prstGeom prst="rect">
            <a:avLst/>
          </a:prstGeom>
        </p:spPr>
      </p:pic>
      <p:pic>
        <p:nvPicPr>
          <p:cNvPr id="8" name="图片 7">
            <a:extLst>
              <a:ext uri="{FF2B5EF4-FFF2-40B4-BE49-F238E27FC236}">
                <a16:creationId xmlns:a16="http://schemas.microsoft.com/office/drawing/2014/main" id="{5A611822-F66C-22F6-9A49-C1DA5C40B2E0}"/>
              </a:ext>
            </a:extLst>
          </p:cNvPr>
          <p:cNvPicPr>
            <a:picLocks noChangeAspect="1"/>
          </p:cNvPicPr>
          <p:nvPr/>
        </p:nvPicPr>
        <p:blipFill>
          <a:blip r:embed="rId35" cstate="print">
            <a:duotone>
              <a:prstClr val="black"/>
              <a:schemeClr val="accent2">
                <a:tint val="45000"/>
                <a:satMod val="400000"/>
              </a:schemeClr>
            </a:duotone>
            <a:extLst>
              <a:ext uri="{BEBA8EAE-BF5A-486C-A8C5-ECC9F3942E4B}">
                <a14:imgProps xmlns:a14="http://schemas.microsoft.com/office/drawing/2010/main">
                  <a14:imgLayer r:embed="rId34">
                    <a14:imgEffect>
                      <a14:artisticChalkSketch/>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237833" y="5969805"/>
            <a:ext cx="704451" cy="621204"/>
          </a:xfrm>
          <a:prstGeom prst="rect">
            <a:avLst/>
          </a:prstGeom>
        </p:spPr>
      </p:pic>
      <p:pic>
        <p:nvPicPr>
          <p:cNvPr id="4" name="图片 3">
            <a:extLst>
              <a:ext uri="{FF2B5EF4-FFF2-40B4-BE49-F238E27FC236}">
                <a16:creationId xmlns:a16="http://schemas.microsoft.com/office/drawing/2014/main" id="{0657A9E2-8405-9B01-775D-E4CEE8D672A3}"/>
              </a:ext>
            </a:extLst>
          </p:cNvPr>
          <p:cNvPicPr>
            <a:picLocks noChangeAspect="1"/>
          </p:cNvPicPr>
          <p:nvPr/>
        </p:nvPicPr>
        <p:blipFill>
          <a:blip r:embed="rId36">
            <a:extLst>
              <a:ext uri="{BEBA8EAE-BF5A-486C-A8C5-ECC9F3942E4B}">
                <a14:imgProps xmlns:a14="http://schemas.microsoft.com/office/drawing/2010/main">
                  <a14:imgLayer r:embed="rId37">
                    <a14:imgEffect>
                      <a14:brightnessContrast bright="-55000" contrast="-18000"/>
                    </a14:imgEffect>
                  </a14:imgLayer>
                </a14:imgProps>
              </a:ext>
              <a:ext uri="{28A0092B-C50C-407E-A947-70E740481C1C}">
                <a14:useLocalDpi xmlns:a14="http://schemas.microsoft.com/office/drawing/2010/main" val="0"/>
              </a:ext>
            </a:extLst>
          </a:blip>
          <a:stretch>
            <a:fillRect/>
          </a:stretch>
        </p:blipFill>
        <p:spPr>
          <a:xfrm>
            <a:off x="0" y="0"/>
            <a:ext cx="12192000" cy="6857999"/>
          </a:xfrm>
          <a:prstGeom prst="rect">
            <a:avLst/>
          </a:prstGeom>
          <a:effectLst>
            <a:glow>
              <a:schemeClr val="accent1">
                <a:alpha val="3000"/>
              </a:schemeClr>
            </a:glow>
          </a:effectLst>
        </p:spPr>
      </p:pic>
      <p:sp>
        <p:nvSpPr>
          <p:cNvPr id="9" name="Title 1">
            <a:extLst>
              <a:ext uri="{FF2B5EF4-FFF2-40B4-BE49-F238E27FC236}">
                <a16:creationId xmlns:a16="http://schemas.microsoft.com/office/drawing/2014/main" id="{44324555-208A-6585-0A74-4343401EB456}"/>
              </a:ext>
            </a:extLst>
          </p:cNvPr>
          <p:cNvSpPr txBox="1">
            <a:spLocks/>
          </p:cNvSpPr>
          <p:nvPr/>
        </p:nvSpPr>
        <p:spPr>
          <a:xfrm>
            <a:off x="942284" y="173332"/>
            <a:ext cx="10659165" cy="456068"/>
          </a:xfrm>
          <a:prstGeom prst="rect">
            <a:avLst/>
          </a:prstGeom>
        </p:spPr>
        <p:txBody>
          <a:bodyPr/>
          <a:lstStyle>
            <a:lvl1pPr algn="l" defTabSz="914332" rtl="0" eaLnBrk="1" latinLnBrk="0" hangingPunct="1">
              <a:lnSpc>
                <a:spcPct val="90000"/>
              </a:lnSpc>
              <a:spcBef>
                <a:spcPct val="0"/>
              </a:spcBef>
              <a:buNone/>
              <a:defRPr sz="2400" b="1" kern="1200">
                <a:solidFill>
                  <a:schemeClr val="tx1"/>
                </a:solidFill>
                <a:latin typeface="+mj-ea"/>
                <a:ea typeface="+mj-ea"/>
                <a:cs typeface="+mj-cs"/>
              </a:defRPr>
            </a:lvl1pPr>
          </a:lstStyle>
          <a:p>
            <a:endParaRPr lang="zh-CN" altLang="en-US" dirty="0"/>
          </a:p>
        </p:txBody>
      </p:sp>
      <p:pic>
        <p:nvPicPr>
          <p:cNvPr id="10" name="图片 9">
            <a:extLst>
              <a:ext uri="{FF2B5EF4-FFF2-40B4-BE49-F238E27FC236}">
                <a16:creationId xmlns:a16="http://schemas.microsoft.com/office/drawing/2014/main" id="{2180D656-C8A5-5BF3-2A4A-1BA96E01A5D9}"/>
              </a:ext>
            </a:extLst>
          </p:cNvPr>
          <p:cNvPicPr>
            <a:picLocks noChangeAspect="1"/>
          </p:cNvPicPr>
          <p:nvPr userDrawn="1"/>
        </p:nvPicPr>
        <p:blipFill>
          <a:blip r:embed="rId32"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11063036" y="105746"/>
            <a:ext cx="937127" cy="523654"/>
          </a:xfrm>
          <a:prstGeom prst="rect">
            <a:avLst/>
          </a:prstGeom>
        </p:spPr>
      </p:pic>
      <p:pic>
        <p:nvPicPr>
          <p:cNvPr id="11" name="图片 10">
            <a:extLst>
              <a:ext uri="{FF2B5EF4-FFF2-40B4-BE49-F238E27FC236}">
                <a16:creationId xmlns:a16="http://schemas.microsoft.com/office/drawing/2014/main" id="{DA0DD636-277C-AA20-8293-7A5043A94B3B}"/>
              </a:ext>
            </a:extLst>
          </p:cNvPr>
          <p:cNvPicPr>
            <a:picLocks noChangeAspect="1"/>
          </p:cNvPicPr>
          <p:nvPr userDrawn="1"/>
        </p:nvPicPr>
        <p:blipFill>
          <a:blip r:embed="rId33" cstate="print">
            <a:duotone>
              <a:prstClr val="black"/>
              <a:schemeClr val="tx2">
                <a:tint val="45000"/>
                <a:satMod val="400000"/>
              </a:schemeClr>
            </a:duotone>
            <a:extLst>
              <a:ext uri="{BEBA8EAE-BF5A-486C-A8C5-ECC9F3942E4B}">
                <a14:imgProps xmlns:a14="http://schemas.microsoft.com/office/drawing/2010/main">
                  <a14:imgLayer r:embed="rId34">
                    <a14:imgEffect>
                      <a14:artisticPhotocopy/>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8992" y="6077755"/>
            <a:ext cx="704451" cy="621204"/>
          </a:xfrm>
          <a:prstGeom prst="rect">
            <a:avLst/>
          </a:prstGeom>
        </p:spPr>
      </p:pic>
    </p:spTree>
    <p:extLst>
      <p:ext uri="{BB962C8B-B14F-4D97-AF65-F5344CB8AC3E}">
        <p14:creationId xmlns:p14="http://schemas.microsoft.com/office/powerpoint/2010/main" val="729193579"/>
      </p:ext>
    </p:extLst>
  </p:cSld>
  <p:clrMap bg1="lt1" tx1="dk1" bg2="lt2" tx2="dk2" accent1="accent1" accent2="accent2" accent3="accent3" accent4="accent4" accent5="accent5" accent6="accent6" hlink="hlink" folHlink="folHlink"/>
  <p:sldLayoutIdLst>
    <p:sldLayoutId id="2147484246" r:id="rId1"/>
    <p:sldLayoutId id="2147484247" r:id="rId2"/>
    <p:sldLayoutId id="2147484248" r:id="rId3"/>
    <p:sldLayoutId id="2147484249" r:id="rId4"/>
    <p:sldLayoutId id="2147484250" r:id="rId5"/>
    <p:sldLayoutId id="2147484251" r:id="rId6"/>
    <p:sldLayoutId id="2147484252" r:id="rId7"/>
    <p:sldLayoutId id="2147484253" r:id="rId8"/>
    <p:sldLayoutId id="2147484254" r:id="rId9"/>
    <p:sldLayoutId id="2147484255" r:id="rId10"/>
    <p:sldLayoutId id="2147484256" r:id="rId11"/>
    <p:sldLayoutId id="2147484257" r:id="rId12"/>
    <p:sldLayoutId id="2147484258" r:id="rId13"/>
    <p:sldLayoutId id="2147484259" r:id="rId14"/>
    <p:sldLayoutId id="2147484260" r:id="rId15"/>
    <p:sldLayoutId id="2147484261" r:id="rId16"/>
    <p:sldLayoutId id="2147484262" r:id="rId17"/>
    <p:sldLayoutId id="2147484263" r:id="rId18"/>
    <p:sldLayoutId id="2147484264" r:id="rId19"/>
    <p:sldLayoutId id="2147484265" r:id="rId20"/>
    <p:sldLayoutId id="2147484266" r:id="rId21"/>
    <p:sldLayoutId id="2147484267" r:id="rId22"/>
    <p:sldLayoutId id="2147484268" r:id="rId23"/>
    <p:sldLayoutId id="2147484269" r:id="rId24"/>
    <p:sldLayoutId id="2147484270" r:id="rId25"/>
    <p:sldLayoutId id="2147484271" r:id="rId26"/>
    <p:sldLayoutId id="2147484272" r:id="rId27"/>
    <p:sldLayoutId id="2147484273" r:id="rId28"/>
    <p:sldLayoutId id="2147484274" r:id="rId29"/>
  </p:sldLayoutIdLst>
  <p:txStyles>
    <p:title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p:titleStyle>
    <p:bodyStyle>
      <a:lvl1pPr marL="228584" indent="-228584" algn="l" defTabSz="914332"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1pPr>
      <a:lvl2pPr marL="685750"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2914"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080"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247" indent="-228584" algn="l" defTabSz="914332"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412"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578"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744"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910"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416">
          <p15:clr>
            <a:srgbClr val="F26B43"/>
          </p15:clr>
        </p15:guide>
        <p15:guide id="2" pos="7256">
          <p15:clr>
            <a:srgbClr val="F26B43"/>
          </p15:clr>
        </p15:guide>
        <p15:guide id="3" orient="horz" pos="648">
          <p15:clr>
            <a:srgbClr val="F26B43"/>
          </p15:clr>
        </p15:guide>
        <p15:guide id="4" orient="horz" pos="712">
          <p15:clr>
            <a:srgbClr val="F26B43"/>
          </p15:clr>
        </p15:guide>
        <p15:guide id="5" orient="horz" pos="3928">
          <p15:clr>
            <a:srgbClr val="F26B43"/>
          </p15:clr>
        </p15:guide>
        <p15:guide id="6" orient="horz" pos="3864">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xml"/><Relationship Id="rId1" Type="http://schemas.openxmlformats.org/officeDocument/2006/relationships/slideLayout" Target="../slideLayouts/slideLayout34.xml"/></Relationships>
</file>

<file path=ppt/slides/_rels/slide2.xml.rels><?xml version="1.0" encoding="UTF-8" standalone="yes"?>
<Relationships xmlns="http://schemas.openxmlformats.org/package/2006/relationships"><Relationship Id="rId8" Type="http://schemas.openxmlformats.org/officeDocument/2006/relationships/diagramData" Target="../diagrams/data2.xml"/><Relationship Id="rId3" Type="http://schemas.openxmlformats.org/officeDocument/2006/relationships/diagramData" Target="../diagrams/data1.xml"/><Relationship Id="rId7" Type="http://schemas.microsoft.com/office/2007/relationships/diagramDrawing" Target="../diagrams/drawing1.xml"/><Relationship Id="rId12" Type="http://schemas.microsoft.com/office/2007/relationships/diagramDrawing" Target="../diagrams/drawing2.xml"/><Relationship Id="rId2" Type="http://schemas.openxmlformats.org/officeDocument/2006/relationships/image" Target="../media/image18.png"/><Relationship Id="rId1" Type="http://schemas.openxmlformats.org/officeDocument/2006/relationships/slideLayout" Target="../slideLayouts/slideLayout28.xml"/><Relationship Id="rId6" Type="http://schemas.openxmlformats.org/officeDocument/2006/relationships/diagramColors" Target="../diagrams/colors1.xml"/><Relationship Id="rId11" Type="http://schemas.openxmlformats.org/officeDocument/2006/relationships/diagramColors" Target="../diagrams/colors2.xml"/><Relationship Id="rId5" Type="http://schemas.openxmlformats.org/officeDocument/2006/relationships/diagramQuickStyle" Target="../diagrams/quickStyle1.xml"/><Relationship Id="rId10" Type="http://schemas.openxmlformats.org/officeDocument/2006/relationships/diagramQuickStyle" Target="../diagrams/quickStyle2.xml"/><Relationship Id="rId4" Type="http://schemas.openxmlformats.org/officeDocument/2006/relationships/diagramLayout" Target="../diagrams/layout1.xml"/><Relationship Id="rId9" Type="http://schemas.openxmlformats.org/officeDocument/2006/relationships/diagramLayout" Target="../diagrams/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slideLayout" Target="../slideLayouts/slideLayout81.xml"/><Relationship Id="rId1" Type="http://schemas.openxmlformats.org/officeDocument/2006/relationships/tags" Target="../tags/tag11.xml"/><Relationship Id="rId5" Type="http://schemas.openxmlformats.org/officeDocument/2006/relationships/image" Target="../media/image21.png"/><Relationship Id="rId4" Type="http://schemas.openxmlformats.org/officeDocument/2006/relationships/image" Target="../media/image20.sv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5.xml.rels><?xml version="1.0" encoding="UTF-8" standalone="yes"?>
<Relationships xmlns="http://schemas.openxmlformats.org/package/2006/relationships"><Relationship Id="rId2" Type="http://schemas.openxmlformats.org/officeDocument/2006/relationships/image" Target="../media/image220.png"/><Relationship Id="rId1" Type="http://schemas.openxmlformats.org/officeDocument/2006/relationships/slideLayout" Target="../slideLayouts/slideLayout28.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8.xml.rels><?xml version="1.0" encoding="UTF-8" standalone="yes"?>
<Relationships xmlns="http://schemas.openxmlformats.org/package/2006/relationships"><Relationship Id="rId3" Type="http://schemas.openxmlformats.org/officeDocument/2006/relationships/tags" Target="../tags/tag14.xml"/><Relationship Id="rId2" Type="http://schemas.openxmlformats.org/officeDocument/2006/relationships/tags" Target="../tags/tag13.xml"/><Relationship Id="rId1" Type="http://schemas.openxmlformats.org/officeDocument/2006/relationships/tags" Target="../tags/tag12.xml"/><Relationship Id="rId6" Type="http://schemas.openxmlformats.org/officeDocument/2006/relationships/slideLayout" Target="../slideLayouts/slideLayout75.xml"/><Relationship Id="rId5" Type="http://schemas.openxmlformats.org/officeDocument/2006/relationships/tags" Target="../tags/tag16.xml"/><Relationship Id="rId4" Type="http://schemas.openxmlformats.org/officeDocument/2006/relationships/tags" Target="../tags/tag15.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10.xml.rels><?xml version="1.0" encoding="UTF-8" standalone="yes"?>
<Relationships xmlns="http://schemas.openxmlformats.org/package/2006/relationships"><Relationship Id="rId8" Type="http://schemas.openxmlformats.org/officeDocument/2006/relationships/tags" Target="../tags/tag24.xml"/><Relationship Id="rId13" Type="http://schemas.openxmlformats.org/officeDocument/2006/relationships/slideLayout" Target="../slideLayouts/slideLayout75.xml"/><Relationship Id="rId3" Type="http://schemas.openxmlformats.org/officeDocument/2006/relationships/tags" Target="../tags/tag19.xml"/><Relationship Id="rId7" Type="http://schemas.openxmlformats.org/officeDocument/2006/relationships/tags" Target="../tags/tag23.xml"/><Relationship Id="rId12" Type="http://schemas.openxmlformats.org/officeDocument/2006/relationships/tags" Target="../tags/tag28.xml"/><Relationship Id="rId2" Type="http://schemas.openxmlformats.org/officeDocument/2006/relationships/tags" Target="../tags/tag18.xml"/><Relationship Id="rId16" Type="http://schemas.openxmlformats.org/officeDocument/2006/relationships/image" Target="../media/image24.png"/><Relationship Id="rId1" Type="http://schemas.openxmlformats.org/officeDocument/2006/relationships/tags" Target="../tags/tag17.xml"/><Relationship Id="rId6" Type="http://schemas.openxmlformats.org/officeDocument/2006/relationships/tags" Target="../tags/tag22.xml"/><Relationship Id="rId11" Type="http://schemas.openxmlformats.org/officeDocument/2006/relationships/tags" Target="../tags/tag27.xml"/><Relationship Id="rId5" Type="http://schemas.openxmlformats.org/officeDocument/2006/relationships/tags" Target="../tags/tag21.xml"/><Relationship Id="rId15" Type="http://schemas.openxmlformats.org/officeDocument/2006/relationships/image" Target="../media/image23.png"/><Relationship Id="rId10" Type="http://schemas.openxmlformats.org/officeDocument/2006/relationships/tags" Target="../tags/tag26.xml"/><Relationship Id="rId4" Type="http://schemas.openxmlformats.org/officeDocument/2006/relationships/tags" Target="../tags/tag20.xml"/><Relationship Id="rId9" Type="http://schemas.openxmlformats.org/officeDocument/2006/relationships/tags" Target="../tags/tag25.xml"/><Relationship Id="rId14" Type="http://schemas.openxmlformats.org/officeDocument/2006/relationships/image" Target="../media/image22.png"/></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slideLayout" Target="../slideLayouts/slideLayout75.xml"/><Relationship Id="rId1" Type="http://schemas.openxmlformats.org/officeDocument/2006/relationships/tags" Target="../tags/tag29.xml"/><Relationship Id="rId4" Type="http://schemas.openxmlformats.org/officeDocument/2006/relationships/image" Target="../media/image26.svg"/></Relationships>
</file>

<file path=ppt/slides/_rels/slide12.xml.rels><?xml version="1.0" encoding="UTF-8" standalone="yes"?>
<Relationships xmlns="http://schemas.openxmlformats.org/package/2006/relationships"><Relationship Id="rId8" Type="http://schemas.openxmlformats.org/officeDocument/2006/relationships/tags" Target="../tags/tag37.xml"/><Relationship Id="rId3" Type="http://schemas.openxmlformats.org/officeDocument/2006/relationships/tags" Target="../tags/tag32.xml"/><Relationship Id="rId7" Type="http://schemas.openxmlformats.org/officeDocument/2006/relationships/tags" Target="../tags/tag36.xml"/><Relationship Id="rId2" Type="http://schemas.openxmlformats.org/officeDocument/2006/relationships/tags" Target="../tags/tag31.xml"/><Relationship Id="rId1" Type="http://schemas.openxmlformats.org/officeDocument/2006/relationships/tags" Target="../tags/tag30.xml"/><Relationship Id="rId6" Type="http://schemas.openxmlformats.org/officeDocument/2006/relationships/tags" Target="../tags/tag35.xml"/><Relationship Id="rId5" Type="http://schemas.openxmlformats.org/officeDocument/2006/relationships/tags" Target="../tags/tag34.xml"/><Relationship Id="rId4" Type="http://schemas.openxmlformats.org/officeDocument/2006/relationships/tags" Target="../tags/tag33.xml"/><Relationship Id="rId9" Type="http://schemas.openxmlformats.org/officeDocument/2006/relationships/slideLayout" Target="../slideLayouts/slideLayout6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2.xml"/></Relationships>
</file>

<file path=ppt/slides/_rels/slide14.xml.rels><?xml version="1.0" encoding="UTF-8" standalone="yes"?>
<Relationships xmlns="http://schemas.openxmlformats.org/package/2006/relationships"><Relationship Id="rId8" Type="http://schemas.microsoft.com/office/2007/relationships/hdphoto" Target="../media/hdphoto9.wdp"/><Relationship Id="rId3" Type="http://schemas.openxmlformats.org/officeDocument/2006/relationships/diagramLayout" Target="../diagrams/layout3.xml"/><Relationship Id="rId7" Type="http://schemas.openxmlformats.org/officeDocument/2006/relationships/image" Target="../media/image27.png"/><Relationship Id="rId2" Type="http://schemas.openxmlformats.org/officeDocument/2006/relationships/diagramData" Target="../diagrams/data3.xml"/><Relationship Id="rId1" Type="http://schemas.openxmlformats.org/officeDocument/2006/relationships/slideLayout" Target="../slideLayouts/slideLayout52.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15.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39.png"/><Relationship Id="rId18" Type="http://schemas.openxmlformats.org/officeDocument/2006/relationships/image" Target="../media/image44.png"/><Relationship Id="rId3" Type="http://schemas.openxmlformats.org/officeDocument/2006/relationships/image" Target="../media/image29.png"/><Relationship Id="rId7" Type="http://schemas.openxmlformats.org/officeDocument/2006/relationships/image" Target="../media/image33.png"/><Relationship Id="rId12" Type="http://schemas.openxmlformats.org/officeDocument/2006/relationships/image" Target="../media/image38.png"/><Relationship Id="rId17" Type="http://schemas.openxmlformats.org/officeDocument/2006/relationships/image" Target="../media/image43.png"/><Relationship Id="rId2" Type="http://schemas.openxmlformats.org/officeDocument/2006/relationships/image" Target="../media/image28.png"/><Relationship Id="rId16" Type="http://schemas.openxmlformats.org/officeDocument/2006/relationships/image" Target="../media/image42.png"/><Relationship Id="rId1" Type="http://schemas.openxmlformats.org/officeDocument/2006/relationships/slideLayout" Target="../slideLayouts/slideLayout28.xml"/><Relationship Id="rId6" Type="http://schemas.openxmlformats.org/officeDocument/2006/relationships/image" Target="../media/image32.png"/><Relationship Id="rId11" Type="http://schemas.openxmlformats.org/officeDocument/2006/relationships/image" Target="../media/image37.png"/><Relationship Id="rId5" Type="http://schemas.openxmlformats.org/officeDocument/2006/relationships/image" Target="../media/image31.png"/><Relationship Id="rId15" Type="http://schemas.openxmlformats.org/officeDocument/2006/relationships/image" Target="../media/image41.png"/><Relationship Id="rId10" Type="http://schemas.openxmlformats.org/officeDocument/2006/relationships/image" Target="../media/image36.png"/><Relationship Id="rId4" Type="http://schemas.openxmlformats.org/officeDocument/2006/relationships/image" Target="../media/image30.png"/><Relationship Id="rId9" Type="http://schemas.openxmlformats.org/officeDocument/2006/relationships/image" Target="../media/image35.png"/><Relationship Id="rId14" Type="http://schemas.openxmlformats.org/officeDocument/2006/relationships/image" Target="../media/image40.png"/></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52.xml"/><Relationship Id="rId1" Type="http://schemas.openxmlformats.org/officeDocument/2006/relationships/tags" Target="../tags/tag38.xml"/><Relationship Id="rId4" Type="http://schemas.openxmlformats.org/officeDocument/2006/relationships/image" Target="../media/image45.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18.xml.rels><?xml version="1.0" encoding="UTF-8" standalone="yes"?>
<Relationships xmlns="http://schemas.openxmlformats.org/package/2006/relationships"><Relationship Id="rId8" Type="http://schemas.openxmlformats.org/officeDocument/2006/relationships/tags" Target="../tags/tag46.xml"/><Relationship Id="rId3" Type="http://schemas.openxmlformats.org/officeDocument/2006/relationships/tags" Target="../tags/tag41.xml"/><Relationship Id="rId7" Type="http://schemas.openxmlformats.org/officeDocument/2006/relationships/tags" Target="../tags/tag45.xml"/><Relationship Id="rId2" Type="http://schemas.openxmlformats.org/officeDocument/2006/relationships/tags" Target="../tags/tag40.xml"/><Relationship Id="rId1" Type="http://schemas.openxmlformats.org/officeDocument/2006/relationships/tags" Target="../tags/tag39.xml"/><Relationship Id="rId6" Type="http://schemas.openxmlformats.org/officeDocument/2006/relationships/tags" Target="../tags/tag44.xml"/><Relationship Id="rId5" Type="http://schemas.openxmlformats.org/officeDocument/2006/relationships/tags" Target="../tags/tag43.xml"/><Relationship Id="rId4" Type="http://schemas.openxmlformats.org/officeDocument/2006/relationships/tags" Target="../tags/tag42.xml"/><Relationship Id="rId9" Type="http://schemas.openxmlformats.org/officeDocument/2006/relationships/slideLayout" Target="../slideLayouts/slideLayout28.xml"/></Relationships>
</file>

<file path=ppt/slides/_rels/slide19.xml.rels><?xml version="1.0" encoding="UTF-8" standalone="yes"?>
<Relationships xmlns="http://schemas.openxmlformats.org/package/2006/relationships"><Relationship Id="rId8" Type="http://schemas.openxmlformats.org/officeDocument/2006/relationships/tags" Target="../tags/tag54.xml"/><Relationship Id="rId3" Type="http://schemas.openxmlformats.org/officeDocument/2006/relationships/tags" Target="../tags/tag49.xml"/><Relationship Id="rId7" Type="http://schemas.openxmlformats.org/officeDocument/2006/relationships/tags" Target="../tags/tag53.xml"/><Relationship Id="rId12" Type="http://schemas.openxmlformats.org/officeDocument/2006/relationships/image" Target="../media/image46.png"/><Relationship Id="rId2" Type="http://schemas.openxmlformats.org/officeDocument/2006/relationships/tags" Target="../tags/tag48.xml"/><Relationship Id="rId1" Type="http://schemas.openxmlformats.org/officeDocument/2006/relationships/tags" Target="../tags/tag47.xml"/><Relationship Id="rId6" Type="http://schemas.openxmlformats.org/officeDocument/2006/relationships/tags" Target="../tags/tag52.xml"/><Relationship Id="rId11" Type="http://schemas.openxmlformats.org/officeDocument/2006/relationships/slideLayout" Target="../slideLayouts/slideLayout28.xml"/><Relationship Id="rId5" Type="http://schemas.openxmlformats.org/officeDocument/2006/relationships/tags" Target="../tags/tag51.xml"/><Relationship Id="rId10" Type="http://schemas.openxmlformats.org/officeDocument/2006/relationships/tags" Target="../tags/tag56.xml"/><Relationship Id="rId4" Type="http://schemas.openxmlformats.org/officeDocument/2006/relationships/tags" Target="../tags/tag50.xml"/><Relationship Id="rId9" Type="http://schemas.openxmlformats.org/officeDocument/2006/relationships/tags" Target="../tags/tag55.xml"/></Relationships>
</file>

<file path=ppt/slides/_rels/slide20.xml.rels><?xml version="1.0" encoding="UTF-8" standalone="yes"?>
<Relationships xmlns="http://schemas.openxmlformats.org/package/2006/relationships"><Relationship Id="rId8" Type="http://schemas.openxmlformats.org/officeDocument/2006/relationships/tags" Target="../tags/tag64.xml"/><Relationship Id="rId3" Type="http://schemas.openxmlformats.org/officeDocument/2006/relationships/tags" Target="../tags/tag59.xml"/><Relationship Id="rId7" Type="http://schemas.openxmlformats.org/officeDocument/2006/relationships/tags" Target="../tags/tag63.xml"/><Relationship Id="rId12" Type="http://schemas.openxmlformats.org/officeDocument/2006/relationships/image" Target="../media/image48.svg"/><Relationship Id="rId2" Type="http://schemas.openxmlformats.org/officeDocument/2006/relationships/tags" Target="../tags/tag58.xml"/><Relationship Id="rId1" Type="http://schemas.openxmlformats.org/officeDocument/2006/relationships/tags" Target="../tags/tag57.xml"/><Relationship Id="rId6" Type="http://schemas.openxmlformats.org/officeDocument/2006/relationships/tags" Target="../tags/tag62.xml"/><Relationship Id="rId11" Type="http://schemas.openxmlformats.org/officeDocument/2006/relationships/image" Target="../media/image47.png"/><Relationship Id="rId5" Type="http://schemas.openxmlformats.org/officeDocument/2006/relationships/tags" Target="../tags/tag61.xml"/><Relationship Id="rId10" Type="http://schemas.openxmlformats.org/officeDocument/2006/relationships/slideLayout" Target="../slideLayouts/slideLayout28.xml"/><Relationship Id="rId4" Type="http://schemas.openxmlformats.org/officeDocument/2006/relationships/tags" Target="../tags/tag60.xml"/><Relationship Id="rId9" Type="http://schemas.openxmlformats.org/officeDocument/2006/relationships/tags" Target="../tags/tag65.xml"/></Relationships>
</file>

<file path=ppt/slides/_rels/slide21.xml.rels><?xml version="1.0" encoding="UTF-8" standalone="yes"?>
<Relationships xmlns="http://schemas.openxmlformats.org/package/2006/relationships"><Relationship Id="rId8" Type="http://schemas.openxmlformats.org/officeDocument/2006/relationships/tags" Target="../tags/tag73.xml"/><Relationship Id="rId13" Type="http://schemas.openxmlformats.org/officeDocument/2006/relationships/tags" Target="../tags/tag78.xml"/><Relationship Id="rId3" Type="http://schemas.openxmlformats.org/officeDocument/2006/relationships/tags" Target="../tags/tag68.xml"/><Relationship Id="rId7" Type="http://schemas.openxmlformats.org/officeDocument/2006/relationships/tags" Target="../tags/tag72.xml"/><Relationship Id="rId12" Type="http://schemas.openxmlformats.org/officeDocument/2006/relationships/tags" Target="../tags/tag77.xml"/><Relationship Id="rId2" Type="http://schemas.openxmlformats.org/officeDocument/2006/relationships/tags" Target="../tags/tag67.xml"/><Relationship Id="rId1" Type="http://schemas.openxmlformats.org/officeDocument/2006/relationships/tags" Target="../tags/tag66.xml"/><Relationship Id="rId6" Type="http://schemas.openxmlformats.org/officeDocument/2006/relationships/tags" Target="../tags/tag71.xml"/><Relationship Id="rId11" Type="http://schemas.openxmlformats.org/officeDocument/2006/relationships/tags" Target="../tags/tag76.xml"/><Relationship Id="rId5" Type="http://schemas.openxmlformats.org/officeDocument/2006/relationships/tags" Target="../tags/tag70.xml"/><Relationship Id="rId10" Type="http://schemas.openxmlformats.org/officeDocument/2006/relationships/tags" Target="../tags/tag75.xml"/><Relationship Id="rId4" Type="http://schemas.openxmlformats.org/officeDocument/2006/relationships/tags" Target="../tags/tag69.xml"/><Relationship Id="rId9" Type="http://schemas.openxmlformats.org/officeDocument/2006/relationships/tags" Target="../tags/tag74.xml"/><Relationship Id="rId14" Type="http://schemas.openxmlformats.org/officeDocument/2006/relationships/slideLayout" Target="../slideLayouts/slideLayout5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6.xml"/></Relationships>
</file>

<file path=ppt/slides/_rels/slide24.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5.xml"/><Relationship Id="rId1" Type="http://schemas.openxmlformats.org/officeDocument/2006/relationships/slideLayout" Target="../slideLayouts/slideLayout81.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25.xml.rels><?xml version="1.0" encoding="UTF-8" standalone="yes"?>
<Relationships xmlns="http://schemas.openxmlformats.org/package/2006/relationships"><Relationship Id="rId3" Type="http://schemas.openxmlformats.org/officeDocument/2006/relationships/tags" Target="../tags/tag81.xml"/><Relationship Id="rId2" Type="http://schemas.openxmlformats.org/officeDocument/2006/relationships/tags" Target="../tags/tag80.xml"/><Relationship Id="rId1" Type="http://schemas.openxmlformats.org/officeDocument/2006/relationships/tags" Target="../tags/tag79.xml"/><Relationship Id="rId6" Type="http://schemas.openxmlformats.org/officeDocument/2006/relationships/image" Target="../media/image50.svg"/><Relationship Id="rId5" Type="http://schemas.openxmlformats.org/officeDocument/2006/relationships/image" Target="../media/image49.png"/><Relationship Id="rId4" Type="http://schemas.openxmlformats.org/officeDocument/2006/relationships/slideLayout" Target="../slideLayouts/slideLayout81.xml"/></Relationships>
</file>

<file path=ppt/slides/_rels/slide26.xml.rels><?xml version="1.0" encoding="UTF-8" standalone="yes"?>
<Relationships xmlns="http://schemas.openxmlformats.org/package/2006/relationships"><Relationship Id="rId8" Type="http://schemas.openxmlformats.org/officeDocument/2006/relationships/tags" Target="../tags/tag89.xml"/><Relationship Id="rId3" Type="http://schemas.openxmlformats.org/officeDocument/2006/relationships/tags" Target="../tags/tag84.xml"/><Relationship Id="rId7" Type="http://schemas.openxmlformats.org/officeDocument/2006/relationships/tags" Target="../tags/tag88.xml"/><Relationship Id="rId2" Type="http://schemas.openxmlformats.org/officeDocument/2006/relationships/tags" Target="../tags/tag83.xml"/><Relationship Id="rId1" Type="http://schemas.openxmlformats.org/officeDocument/2006/relationships/tags" Target="../tags/tag82.xml"/><Relationship Id="rId6" Type="http://schemas.openxmlformats.org/officeDocument/2006/relationships/tags" Target="../tags/tag87.xml"/><Relationship Id="rId5" Type="http://schemas.openxmlformats.org/officeDocument/2006/relationships/tags" Target="../tags/tag86.xml"/><Relationship Id="rId10" Type="http://schemas.openxmlformats.org/officeDocument/2006/relationships/slideLayout" Target="../slideLayouts/slideLayout28.xml"/><Relationship Id="rId4" Type="http://schemas.openxmlformats.org/officeDocument/2006/relationships/tags" Target="../tags/tag85.xml"/><Relationship Id="rId9" Type="http://schemas.openxmlformats.org/officeDocument/2006/relationships/tags" Target="../tags/tag90.xml"/></Relationships>
</file>

<file path=ppt/slides/_rels/slide27.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35.xml"/></Relationships>
</file>

<file path=ppt/slides/_rels/slide28.xml.rels><?xml version="1.0" encoding="UTF-8" standalone="yes"?>
<Relationships xmlns="http://schemas.openxmlformats.org/package/2006/relationships"><Relationship Id="rId8" Type="http://schemas.openxmlformats.org/officeDocument/2006/relationships/tags" Target="../tags/tag98.xml"/><Relationship Id="rId13" Type="http://schemas.openxmlformats.org/officeDocument/2006/relationships/tags" Target="../tags/tag103.xml"/><Relationship Id="rId18" Type="http://schemas.openxmlformats.org/officeDocument/2006/relationships/tags" Target="../tags/tag108.xml"/><Relationship Id="rId3" Type="http://schemas.openxmlformats.org/officeDocument/2006/relationships/tags" Target="../tags/tag93.xml"/><Relationship Id="rId21" Type="http://schemas.openxmlformats.org/officeDocument/2006/relationships/tags" Target="../tags/tag111.xml"/><Relationship Id="rId7" Type="http://schemas.openxmlformats.org/officeDocument/2006/relationships/tags" Target="../tags/tag97.xml"/><Relationship Id="rId12" Type="http://schemas.openxmlformats.org/officeDocument/2006/relationships/tags" Target="../tags/tag102.xml"/><Relationship Id="rId17" Type="http://schemas.openxmlformats.org/officeDocument/2006/relationships/tags" Target="../tags/tag107.xml"/><Relationship Id="rId2" Type="http://schemas.openxmlformats.org/officeDocument/2006/relationships/tags" Target="../tags/tag92.xml"/><Relationship Id="rId16" Type="http://schemas.openxmlformats.org/officeDocument/2006/relationships/tags" Target="../tags/tag106.xml"/><Relationship Id="rId20" Type="http://schemas.openxmlformats.org/officeDocument/2006/relationships/tags" Target="../tags/tag110.xml"/><Relationship Id="rId1" Type="http://schemas.openxmlformats.org/officeDocument/2006/relationships/tags" Target="../tags/tag91.xml"/><Relationship Id="rId6" Type="http://schemas.openxmlformats.org/officeDocument/2006/relationships/tags" Target="../tags/tag96.xml"/><Relationship Id="rId11" Type="http://schemas.openxmlformats.org/officeDocument/2006/relationships/tags" Target="../tags/tag101.xml"/><Relationship Id="rId5" Type="http://schemas.openxmlformats.org/officeDocument/2006/relationships/tags" Target="../tags/tag95.xml"/><Relationship Id="rId15" Type="http://schemas.openxmlformats.org/officeDocument/2006/relationships/tags" Target="../tags/tag105.xml"/><Relationship Id="rId10" Type="http://schemas.openxmlformats.org/officeDocument/2006/relationships/tags" Target="../tags/tag100.xml"/><Relationship Id="rId19" Type="http://schemas.openxmlformats.org/officeDocument/2006/relationships/tags" Target="../tags/tag109.xml"/><Relationship Id="rId4" Type="http://schemas.openxmlformats.org/officeDocument/2006/relationships/tags" Target="../tags/tag94.xml"/><Relationship Id="rId9" Type="http://schemas.openxmlformats.org/officeDocument/2006/relationships/tags" Target="../tags/tag99.xml"/><Relationship Id="rId14" Type="http://schemas.openxmlformats.org/officeDocument/2006/relationships/tags" Target="../tags/tag104.xml"/><Relationship Id="rId22" Type="http://schemas.openxmlformats.org/officeDocument/2006/relationships/slideLayout" Target="../slideLayouts/slideLayout81.xml"/></Relationships>
</file>

<file path=ppt/slides/_rels/slide29.xml.rels><?xml version="1.0" encoding="UTF-8" standalone="yes"?>
<Relationships xmlns="http://schemas.openxmlformats.org/package/2006/relationships"><Relationship Id="rId8" Type="http://schemas.openxmlformats.org/officeDocument/2006/relationships/tags" Target="../tags/tag119.xml"/><Relationship Id="rId13" Type="http://schemas.openxmlformats.org/officeDocument/2006/relationships/tags" Target="../tags/tag124.xml"/><Relationship Id="rId18" Type="http://schemas.openxmlformats.org/officeDocument/2006/relationships/tags" Target="../tags/tag129.xml"/><Relationship Id="rId3" Type="http://schemas.openxmlformats.org/officeDocument/2006/relationships/tags" Target="../tags/tag114.xml"/><Relationship Id="rId21" Type="http://schemas.openxmlformats.org/officeDocument/2006/relationships/tags" Target="../tags/tag132.xml"/><Relationship Id="rId7" Type="http://schemas.openxmlformats.org/officeDocument/2006/relationships/tags" Target="../tags/tag118.xml"/><Relationship Id="rId12" Type="http://schemas.openxmlformats.org/officeDocument/2006/relationships/tags" Target="../tags/tag123.xml"/><Relationship Id="rId17" Type="http://schemas.openxmlformats.org/officeDocument/2006/relationships/tags" Target="../tags/tag128.xml"/><Relationship Id="rId2" Type="http://schemas.openxmlformats.org/officeDocument/2006/relationships/tags" Target="../tags/tag113.xml"/><Relationship Id="rId16" Type="http://schemas.openxmlformats.org/officeDocument/2006/relationships/tags" Target="../tags/tag127.xml"/><Relationship Id="rId20" Type="http://schemas.openxmlformats.org/officeDocument/2006/relationships/tags" Target="../tags/tag131.xml"/><Relationship Id="rId1" Type="http://schemas.openxmlformats.org/officeDocument/2006/relationships/tags" Target="../tags/tag112.xml"/><Relationship Id="rId6" Type="http://schemas.openxmlformats.org/officeDocument/2006/relationships/tags" Target="../tags/tag117.xml"/><Relationship Id="rId11" Type="http://schemas.openxmlformats.org/officeDocument/2006/relationships/tags" Target="../tags/tag122.xml"/><Relationship Id="rId5" Type="http://schemas.openxmlformats.org/officeDocument/2006/relationships/tags" Target="../tags/tag116.xml"/><Relationship Id="rId15" Type="http://schemas.openxmlformats.org/officeDocument/2006/relationships/tags" Target="../tags/tag126.xml"/><Relationship Id="rId10" Type="http://schemas.openxmlformats.org/officeDocument/2006/relationships/tags" Target="../tags/tag121.xml"/><Relationship Id="rId19" Type="http://schemas.openxmlformats.org/officeDocument/2006/relationships/tags" Target="../tags/tag130.xml"/><Relationship Id="rId4" Type="http://schemas.openxmlformats.org/officeDocument/2006/relationships/tags" Target="../tags/tag115.xml"/><Relationship Id="rId9" Type="http://schemas.openxmlformats.org/officeDocument/2006/relationships/tags" Target="../tags/tag120.xml"/><Relationship Id="rId14" Type="http://schemas.openxmlformats.org/officeDocument/2006/relationships/tags" Target="../tags/tag125.xml"/><Relationship Id="rId22" Type="http://schemas.openxmlformats.org/officeDocument/2006/relationships/slideLayout" Target="../slideLayouts/slideLayout81.xml"/></Relationships>
</file>

<file path=ppt/slides/_rels/slide30.xml.rels><?xml version="1.0" encoding="UTF-8" standalone="yes"?>
<Relationships xmlns="http://schemas.openxmlformats.org/package/2006/relationships"><Relationship Id="rId8" Type="http://schemas.openxmlformats.org/officeDocument/2006/relationships/tags" Target="../tags/tag140.xml"/><Relationship Id="rId13" Type="http://schemas.openxmlformats.org/officeDocument/2006/relationships/tags" Target="../tags/tag145.xml"/><Relationship Id="rId3" Type="http://schemas.openxmlformats.org/officeDocument/2006/relationships/tags" Target="../tags/tag135.xml"/><Relationship Id="rId7" Type="http://schemas.openxmlformats.org/officeDocument/2006/relationships/tags" Target="../tags/tag139.xml"/><Relationship Id="rId12" Type="http://schemas.openxmlformats.org/officeDocument/2006/relationships/tags" Target="../tags/tag144.xml"/><Relationship Id="rId17" Type="http://schemas.openxmlformats.org/officeDocument/2006/relationships/slideLayout" Target="../slideLayouts/slideLayout81.xml"/><Relationship Id="rId2" Type="http://schemas.openxmlformats.org/officeDocument/2006/relationships/tags" Target="../tags/tag134.xml"/><Relationship Id="rId16" Type="http://schemas.openxmlformats.org/officeDocument/2006/relationships/tags" Target="../tags/tag148.xml"/><Relationship Id="rId1" Type="http://schemas.openxmlformats.org/officeDocument/2006/relationships/tags" Target="../tags/tag133.xml"/><Relationship Id="rId6" Type="http://schemas.openxmlformats.org/officeDocument/2006/relationships/tags" Target="../tags/tag138.xml"/><Relationship Id="rId11" Type="http://schemas.openxmlformats.org/officeDocument/2006/relationships/tags" Target="../tags/tag143.xml"/><Relationship Id="rId5" Type="http://schemas.openxmlformats.org/officeDocument/2006/relationships/tags" Target="../tags/tag137.xml"/><Relationship Id="rId15" Type="http://schemas.openxmlformats.org/officeDocument/2006/relationships/tags" Target="../tags/tag147.xml"/><Relationship Id="rId10" Type="http://schemas.openxmlformats.org/officeDocument/2006/relationships/tags" Target="../tags/tag142.xml"/><Relationship Id="rId4" Type="http://schemas.openxmlformats.org/officeDocument/2006/relationships/tags" Target="../tags/tag136.xml"/><Relationship Id="rId9" Type="http://schemas.openxmlformats.org/officeDocument/2006/relationships/tags" Target="../tags/tag141.xml"/><Relationship Id="rId14" Type="http://schemas.openxmlformats.org/officeDocument/2006/relationships/tags" Target="../tags/tag146.xml"/></Relationships>
</file>

<file path=ppt/slides/_rels/slide31.xml.rels><?xml version="1.0" encoding="UTF-8" standalone="yes"?>
<Relationships xmlns="http://schemas.openxmlformats.org/package/2006/relationships"><Relationship Id="rId8" Type="http://schemas.openxmlformats.org/officeDocument/2006/relationships/tags" Target="../tags/tag156.xml"/><Relationship Id="rId3" Type="http://schemas.openxmlformats.org/officeDocument/2006/relationships/tags" Target="../tags/tag151.xml"/><Relationship Id="rId7" Type="http://schemas.openxmlformats.org/officeDocument/2006/relationships/tags" Target="../tags/tag155.xml"/><Relationship Id="rId12" Type="http://schemas.openxmlformats.org/officeDocument/2006/relationships/slideLayout" Target="../slideLayouts/slideLayout81.xml"/><Relationship Id="rId2" Type="http://schemas.openxmlformats.org/officeDocument/2006/relationships/tags" Target="../tags/tag150.xml"/><Relationship Id="rId1" Type="http://schemas.openxmlformats.org/officeDocument/2006/relationships/tags" Target="../tags/tag149.xml"/><Relationship Id="rId6" Type="http://schemas.openxmlformats.org/officeDocument/2006/relationships/tags" Target="../tags/tag154.xml"/><Relationship Id="rId11" Type="http://schemas.openxmlformats.org/officeDocument/2006/relationships/tags" Target="../tags/tag159.xml"/><Relationship Id="rId5" Type="http://schemas.openxmlformats.org/officeDocument/2006/relationships/tags" Target="../tags/tag153.xml"/><Relationship Id="rId10" Type="http://schemas.openxmlformats.org/officeDocument/2006/relationships/tags" Target="../tags/tag158.xml"/><Relationship Id="rId4" Type="http://schemas.openxmlformats.org/officeDocument/2006/relationships/tags" Target="../tags/tag152.xml"/><Relationship Id="rId9" Type="http://schemas.openxmlformats.org/officeDocument/2006/relationships/tags" Target="../tags/tag157.xml"/></Relationships>
</file>

<file path=ppt/slides/_rels/slide32.xml.rels><?xml version="1.0" encoding="UTF-8" standalone="yes"?>
<Relationships xmlns="http://schemas.openxmlformats.org/package/2006/relationships"><Relationship Id="rId8" Type="http://schemas.openxmlformats.org/officeDocument/2006/relationships/tags" Target="../tags/tag167.xml"/><Relationship Id="rId13" Type="http://schemas.openxmlformats.org/officeDocument/2006/relationships/image" Target="../media/image53.svg"/><Relationship Id="rId18" Type="http://schemas.openxmlformats.org/officeDocument/2006/relationships/image" Target="../media/image58.png"/><Relationship Id="rId3" Type="http://schemas.openxmlformats.org/officeDocument/2006/relationships/tags" Target="../tags/tag162.xml"/><Relationship Id="rId7" Type="http://schemas.openxmlformats.org/officeDocument/2006/relationships/tags" Target="../tags/tag166.xml"/><Relationship Id="rId12" Type="http://schemas.openxmlformats.org/officeDocument/2006/relationships/image" Target="../media/image52.png"/><Relationship Id="rId17" Type="http://schemas.openxmlformats.org/officeDocument/2006/relationships/image" Target="../media/image57.svg"/><Relationship Id="rId2" Type="http://schemas.openxmlformats.org/officeDocument/2006/relationships/tags" Target="../tags/tag161.xml"/><Relationship Id="rId16" Type="http://schemas.openxmlformats.org/officeDocument/2006/relationships/image" Target="../media/image56.png"/><Relationship Id="rId1" Type="http://schemas.openxmlformats.org/officeDocument/2006/relationships/tags" Target="../tags/tag160.xml"/><Relationship Id="rId6" Type="http://schemas.openxmlformats.org/officeDocument/2006/relationships/tags" Target="../tags/tag165.xml"/><Relationship Id="rId11" Type="http://schemas.openxmlformats.org/officeDocument/2006/relationships/slideLayout" Target="../slideLayouts/slideLayout81.xml"/><Relationship Id="rId5" Type="http://schemas.openxmlformats.org/officeDocument/2006/relationships/tags" Target="../tags/tag164.xml"/><Relationship Id="rId15" Type="http://schemas.openxmlformats.org/officeDocument/2006/relationships/image" Target="../media/image55.svg"/><Relationship Id="rId10" Type="http://schemas.openxmlformats.org/officeDocument/2006/relationships/tags" Target="../tags/tag169.xml"/><Relationship Id="rId19" Type="http://schemas.openxmlformats.org/officeDocument/2006/relationships/image" Target="../media/image59.svg"/><Relationship Id="rId4" Type="http://schemas.openxmlformats.org/officeDocument/2006/relationships/tags" Target="../tags/tag163.xml"/><Relationship Id="rId9" Type="http://schemas.openxmlformats.org/officeDocument/2006/relationships/tags" Target="../tags/tag168.xml"/><Relationship Id="rId14" Type="http://schemas.openxmlformats.org/officeDocument/2006/relationships/image" Target="../media/image54.png"/></Relationships>
</file>

<file path=ppt/slides/_rels/slide33.xml.rels><?xml version="1.0" encoding="UTF-8" standalone="yes"?>
<Relationships xmlns="http://schemas.openxmlformats.org/package/2006/relationships"><Relationship Id="rId8" Type="http://schemas.openxmlformats.org/officeDocument/2006/relationships/tags" Target="../tags/tag177.xml"/><Relationship Id="rId3" Type="http://schemas.openxmlformats.org/officeDocument/2006/relationships/tags" Target="../tags/tag172.xml"/><Relationship Id="rId7" Type="http://schemas.openxmlformats.org/officeDocument/2006/relationships/tags" Target="../tags/tag176.xml"/><Relationship Id="rId2" Type="http://schemas.openxmlformats.org/officeDocument/2006/relationships/tags" Target="../tags/tag171.xml"/><Relationship Id="rId1" Type="http://schemas.openxmlformats.org/officeDocument/2006/relationships/tags" Target="../tags/tag170.xml"/><Relationship Id="rId6" Type="http://schemas.openxmlformats.org/officeDocument/2006/relationships/tags" Target="../tags/tag175.xml"/><Relationship Id="rId5" Type="http://schemas.openxmlformats.org/officeDocument/2006/relationships/tags" Target="../tags/tag174.xml"/><Relationship Id="rId10" Type="http://schemas.openxmlformats.org/officeDocument/2006/relationships/image" Target="../media/image60.png"/><Relationship Id="rId4" Type="http://schemas.openxmlformats.org/officeDocument/2006/relationships/tags" Target="../tags/tag173.xml"/><Relationship Id="rId9" Type="http://schemas.openxmlformats.org/officeDocument/2006/relationships/slideLayout" Target="../slideLayouts/slideLayout88.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35.xml.rels><?xml version="1.0" encoding="UTF-8" standalone="yes"?>
<Relationships xmlns="http://schemas.openxmlformats.org/package/2006/relationships"><Relationship Id="rId8" Type="http://schemas.openxmlformats.org/officeDocument/2006/relationships/tags" Target="../tags/tag185.xml"/><Relationship Id="rId3" Type="http://schemas.openxmlformats.org/officeDocument/2006/relationships/tags" Target="../tags/tag180.xml"/><Relationship Id="rId7" Type="http://schemas.openxmlformats.org/officeDocument/2006/relationships/tags" Target="../tags/tag184.xml"/><Relationship Id="rId2" Type="http://schemas.openxmlformats.org/officeDocument/2006/relationships/tags" Target="../tags/tag179.xml"/><Relationship Id="rId1" Type="http://schemas.openxmlformats.org/officeDocument/2006/relationships/tags" Target="../tags/tag178.xml"/><Relationship Id="rId6" Type="http://schemas.openxmlformats.org/officeDocument/2006/relationships/tags" Target="../tags/tag183.xml"/><Relationship Id="rId11" Type="http://schemas.openxmlformats.org/officeDocument/2006/relationships/slideLayout" Target="../slideLayouts/slideLayout90.xml"/><Relationship Id="rId5" Type="http://schemas.openxmlformats.org/officeDocument/2006/relationships/tags" Target="../tags/tag182.xml"/><Relationship Id="rId10" Type="http://schemas.openxmlformats.org/officeDocument/2006/relationships/tags" Target="../tags/tag187.xml"/><Relationship Id="rId4" Type="http://schemas.openxmlformats.org/officeDocument/2006/relationships/tags" Target="../tags/tag181.xml"/><Relationship Id="rId9" Type="http://schemas.openxmlformats.org/officeDocument/2006/relationships/tags" Target="../tags/tag18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37.xml.rels><?xml version="1.0" encoding="UTF-8" standalone="yes"?>
<Relationships xmlns="http://schemas.openxmlformats.org/package/2006/relationships"><Relationship Id="rId8" Type="http://schemas.openxmlformats.org/officeDocument/2006/relationships/diagramLayout" Target="../diagrams/layout6.xml"/><Relationship Id="rId3" Type="http://schemas.openxmlformats.org/officeDocument/2006/relationships/diagramLayout" Target="../diagrams/layout5.xml"/><Relationship Id="rId7" Type="http://schemas.openxmlformats.org/officeDocument/2006/relationships/diagramData" Target="../diagrams/data6.xml"/><Relationship Id="rId2" Type="http://schemas.openxmlformats.org/officeDocument/2006/relationships/diagramData" Target="../diagrams/data5.xml"/><Relationship Id="rId1" Type="http://schemas.openxmlformats.org/officeDocument/2006/relationships/slideLayout" Target="../slideLayouts/slideLayout28.xml"/><Relationship Id="rId6" Type="http://schemas.microsoft.com/office/2007/relationships/diagramDrawing" Target="../diagrams/drawing5.xml"/><Relationship Id="rId11" Type="http://schemas.microsoft.com/office/2007/relationships/diagramDrawing" Target="../diagrams/drawing6.xml"/><Relationship Id="rId5" Type="http://schemas.openxmlformats.org/officeDocument/2006/relationships/diagramColors" Target="../diagrams/colors5.xml"/><Relationship Id="rId10" Type="http://schemas.openxmlformats.org/officeDocument/2006/relationships/diagramColors" Target="../diagrams/colors6.xml"/><Relationship Id="rId4" Type="http://schemas.openxmlformats.org/officeDocument/2006/relationships/diagramQuickStyle" Target="../diagrams/quickStyle5.xml"/><Relationship Id="rId9" Type="http://schemas.openxmlformats.org/officeDocument/2006/relationships/diagramQuickStyle" Target="../diagrams/quickStyle6.xml"/></Relationships>
</file>

<file path=ppt/slides/_rels/slide38.xml.rels><?xml version="1.0" encoding="UTF-8" standalone="yes"?>
<Relationships xmlns="http://schemas.openxmlformats.org/package/2006/relationships"><Relationship Id="rId8" Type="http://schemas.openxmlformats.org/officeDocument/2006/relationships/tags" Target="../tags/tag195.xml"/><Relationship Id="rId13" Type="http://schemas.openxmlformats.org/officeDocument/2006/relationships/tags" Target="../tags/tag200.xml"/><Relationship Id="rId18" Type="http://schemas.openxmlformats.org/officeDocument/2006/relationships/tags" Target="../tags/tag205.xml"/><Relationship Id="rId3" Type="http://schemas.openxmlformats.org/officeDocument/2006/relationships/tags" Target="../tags/tag190.xml"/><Relationship Id="rId7" Type="http://schemas.openxmlformats.org/officeDocument/2006/relationships/tags" Target="../tags/tag194.xml"/><Relationship Id="rId12" Type="http://schemas.openxmlformats.org/officeDocument/2006/relationships/tags" Target="../tags/tag199.xml"/><Relationship Id="rId17" Type="http://schemas.openxmlformats.org/officeDocument/2006/relationships/tags" Target="../tags/tag204.xml"/><Relationship Id="rId2" Type="http://schemas.openxmlformats.org/officeDocument/2006/relationships/tags" Target="../tags/tag189.xml"/><Relationship Id="rId16" Type="http://schemas.openxmlformats.org/officeDocument/2006/relationships/tags" Target="../tags/tag203.xml"/><Relationship Id="rId20" Type="http://schemas.openxmlformats.org/officeDocument/2006/relationships/slideLayout" Target="../slideLayouts/slideLayout41.xml"/><Relationship Id="rId1" Type="http://schemas.openxmlformats.org/officeDocument/2006/relationships/tags" Target="../tags/tag188.xml"/><Relationship Id="rId6" Type="http://schemas.openxmlformats.org/officeDocument/2006/relationships/tags" Target="../tags/tag193.xml"/><Relationship Id="rId11" Type="http://schemas.openxmlformats.org/officeDocument/2006/relationships/tags" Target="../tags/tag198.xml"/><Relationship Id="rId5" Type="http://schemas.openxmlformats.org/officeDocument/2006/relationships/tags" Target="../tags/tag192.xml"/><Relationship Id="rId15" Type="http://schemas.openxmlformats.org/officeDocument/2006/relationships/tags" Target="../tags/tag202.xml"/><Relationship Id="rId10" Type="http://schemas.openxmlformats.org/officeDocument/2006/relationships/tags" Target="../tags/tag197.xml"/><Relationship Id="rId19" Type="http://schemas.openxmlformats.org/officeDocument/2006/relationships/tags" Target="../tags/tag206.xml"/><Relationship Id="rId4" Type="http://schemas.openxmlformats.org/officeDocument/2006/relationships/tags" Target="../tags/tag191.xml"/><Relationship Id="rId9" Type="http://schemas.openxmlformats.org/officeDocument/2006/relationships/tags" Target="../tags/tag196.xml"/><Relationship Id="rId14" Type="http://schemas.openxmlformats.org/officeDocument/2006/relationships/tags" Target="../tags/tag201.xml"/></Relationships>
</file>

<file path=ppt/slides/_rels/slide39.xml.rels><?xml version="1.0" encoding="UTF-8" standalone="yes"?>
<Relationships xmlns="http://schemas.openxmlformats.org/package/2006/relationships"><Relationship Id="rId8" Type="http://schemas.openxmlformats.org/officeDocument/2006/relationships/tags" Target="../tags/tag214.xml"/><Relationship Id="rId13" Type="http://schemas.openxmlformats.org/officeDocument/2006/relationships/tags" Target="../tags/tag219.xml"/><Relationship Id="rId18" Type="http://schemas.openxmlformats.org/officeDocument/2006/relationships/tags" Target="../tags/tag224.xml"/><Relationship Id="rId3" Type="http://schemas.openxmlformats.org/officeDocument/2006/relationships/tags" Target="../tags/tag209.xml"/><Relationship Id="rId7" Type="http://schemas.openxmlformats.org/officeDocument/2006/relationships/tags" Target="../tags/tag213.xml"/><Relationship Id="rId12" Type="http://schemas.openxmlformats.org/officeDocument/2006/relationships/tags" Target="../tags/tag218.xml"/><Relationship Id="rId17" Type="http://schemas.openxmlformats.org/officeDocument/2006/relationships/tags" Target="../tags/tag223.xml"/><Relationship Id="rId2" Type="http://schemas.openxmlformats.org/officeDocument/2006/relationships/tags" Target="../tags/tag208.xml"/><Relationship Id="rId16" Type="http://schemas.openxmlformats.org/officeDocument/2006/relationships/tags" Target="../tags/tag222.xml"/><Relationship Id="rId20" Type="http://schemas.openxmlformats.org/officeDocument/2006/relationships/slideLayout" Target="../slideLayouts/slideLayout28.xml"/><Relationship Id="rId1" Type="http://schemas.openxmlformats.org/officeDocument/2006/relationships/tags" Target="../tags/tag207.xml"/><Relationship Id="rId6" Type="http://schemas.openxmlformats.org/officeDocument/2006/relationships/tags" Target="../tags/tag212.xml"/><Relationship Id="rId11" Type="http://schemas.openxmlformats.org/officeDocument/2006/relationships/tags" Target="../tags/tag217.xml"/><Relationship Id="rId5" Type="http://schemas.openxmlformats.org/officeDocument/2006/relationships/tags" Target="../tags/tag211.xml"/><Relationship Id="rId15" Type="http://schemas.openxmlformats.org/officeDocument/2006/relationships/tags" Target="../tags/tag221.xml"/><Relationship Id="rId10" Type="http://schemas.openxmlformats.org/officeDocument/2006/relationships/tags" Target="../tags/tag216.xml"/><Relationship Id="rId19" Type="http://schemas.openxmlformats.org/officeDocument/2006/relationships/tags" Target="../tags/tag225.xml"/><Relationship Id="rId4" Type="http://schemas.openxmlformats.org/officeDocument/2006/relationships/tags" Target="../tags/tag210.xml"/><Relationship Id="rId9" Type="http://schemas.openxmlformats.org/officeDocument/2006/relationships/tags" Target="../tags/tag215.xml"/><Relationship Id="rId14" Type="http://schemas.openxmlformats.org/officeDocument/2006/relationships/tags" Target="../tags/tag220.xml"/></Relationships>
</file>

<file path=ppt/slides/_rels/slide40.xml.rels><?xml version="1.0" encoding="UTF-8" standalone="yes"?>
<Relationships xmlns="http://schemas.openxmlformats.org/package/2006/relationships"><Relationship Id="rId8" Type="http://schemas.openxmlformats.org/officeDocument/2006/relationships/slideLayout" Target="../slideLayouts/slideLayout35.xml"/><Relationship Id="rId3" Type="http://schemas.openxmlformats.org/officeDocument/2006/relationships/tags" Target="../tags/tag228.xml"/><Relationship Id="rId7" Type="http://schemas.openxmlformats.org/officeDocument/2006/relationships/tags" Target="../tags/tag232.xml"/><Relationship Id="rId2" Type="http://schemas.openxmlformats.org/officeDocument/2006/relationships/tags" Target="../tags/tag227.xml"/><Relationship Id="rId1" Type="http://schemas.openxmlformats.org/officeDocument/2006/relationships/tags" Target="../tags/tag226.xml"/><Relationship Id="rId6" Type="http://schemas.openxmlformats.org/officeDocument/2006/relationships/tags" Target="../tags/tag231.xml"/><Relationship Id="rId5" Type="http://schemas.openxmlformats.org/officeDocument/2006/relationships/tags" Target="../tags/tag230.xml"/><Relationship Id="rId4" Type="http://schemas.openxmlformats.org/officeDocument/2006/relationships/tags" Target="../tags/tag229.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47.xml.rels><?xml version="1.0" encoding="UTF-8" standalone="yes"?>
<Relationships xmlns="http://schemas.openxmlformats.org/package/2006/relationships"><Relationship Id="rId8" Type="http://schemas.openxmlformats.org/officeDocument/2006/relationships/tags" Target="../tags/tag240.xml"/><Relationship Id="rId13" Type="http://schemas.openxmlformats.org/officeDocument/2006/relationships/tags" Target="../tags/tag245.xml"/><Relationship Id="rId18" Type="http://schemas.openxmlformats.org/officeDocument/2006/relationships/tags" Target="../tags/tag250.xml"/><Relationship Id="rId3" Type="http://schemas.openxmlformats.org/officeDocument/2006/relationships/tags" Target="../tags/tag235.xml"/><Relationship Id="rId7" Type="http://schemas.openxmlformats.org/officeDocument/2006/relationships/tags" Target="../tags/tag239.xml"/><Relationship Id="rId12" Type="http://schemas.openxmlformats.org/officeDocument/2006/relationships/tags" Target="../tags/tag244.xml"/><Relationship Id="rId17" Type="http://schemas.openxmlformats.org/officeDocument/2006/relationships/tags" Target="../tags/tag249.xml"/><Relationship Id="rId2" Type="http://schemas.openxmlformats.org/officeDocument/2006/relationships/tags" Target="../tags/tag234.xml"/><Relationship Id="rId16" Type="http://schemas.openxmlformats.org/officeDocument/2006/relationships/tags" Target="../tags/tag248.xml"/><Relationship Id="rId1" Type="http://schemas.openxmlformats.org/officeDocument/2006/relationships/tags" Target="../tags/tag233.xml"/><Relationship Id="rId6" Type="http://schemas.openxmlformats.org/officeDocument/2006/relationships/tags" Target="../tags/tag238.xml"/><Relationship Id="rId11" Type="http://schemas.openxmlformats.org/officeDocument/2006/relationships/tags" Target="../tags/tag243.xml"/><Relationship Id="rId5" Type="http://schemas.openxmlformats.org/officeDocument/2006/relationships/tags" Target="../tags/tag237.xml"/><Relationship Id="rId15" Type="http://schemas.openxmlformats.org/officeDocument/2006/relationships/tags" Target="../tags/tag247.xml"/><Relationship Id="rId10" Type="http://schemas.openxmlformats.org/officeDocument/2006/relationships/tags" Target="../tags/tag242.xml"/><Relationship Id="rId19" Type="http://schemas.openxmlformats.org/officeDocument/2006/relationships/slideLayout" Target="../slideLayouts/slideLayout52.xml"/><Relationship Id="rId4" Type="http://schemas.openxmlformats.org/officeDocument/2006/relationships/tags" Target="../tags/tag236.xml"/><Relationship Id="rId9" Type="http://schemas.openxmlformats.org/officeDocument/2006/relationships/tags" Target="../tags/tag241.xml"/><Relationship Id="rId14" Type="http://schemas.openxmlformats.org/officeDocument/2006/relationships/tags" Target="../tags/tag246.xml"/></Relationships>
</file>

<file path=ppt/slides/_rels/slide48.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52.xml"/></Relationships>
</file>

<file path=ppt/slides/_rels/slide49.xml.rels><?xml version="1.0" encoding="UTF-8" standalone="yes"?>
<Relationships xmlns="http://schemas.openxmlformats.org/package/2006/relationships"><Relationship Id="rId8" Type="http://schemas.openxmlformats.org/officeDocument/2006/relationships/tags" Target="../tags/tag258.xml"/><Relationship Id="rId3" Type="http://schemas.openxmlformats.org/officeDocument/2006/relationships/tags" Target="../tags/tag253.xml"/><Relationship Id="rId7" Type="http://schemas.openxmlformats.org/officeDocument/2006/relationships/tags" Target="../tags/tag257.xml"/><Relationship Id="rId2" Type="http://schemas.openxmlformats.org/officeDocument/2006/relationships/tags" Target="../tags/tag252.xml"/><Relationship Id="rId1" Type="http://schemas.openxmlformats.org/officeDocument/2006/relationships/tags" Target="../tags/tag251.xml"/><Relationship Id="rId6" Type="http://schemas.openxmlformats.org/officeDocument/2006/relationships/tags" Target="../tags/tag256.xml"/><Relationship Id="rId11" Type="http://schemas.openxmlformats.org/officeDocument/2006/relationships/slideLayout" Target="../slideLayouts/slideLayout52.xml"/><Relationship Id="rId5" Type="http://schemas.openxmlformats.org/officeDocument/2006/relationships/tags" Target="../tags/tag255.xml"/><Relationship Id="rId10" Type="http://schemas.openxmlformats.org/officeDocument/2006/relationships/tags" Target="../tags/tag260.xml"/><Relationship Id="rId4" Type="http://schemas.openxmlformats.org/officeDocument/2006/relationships/tags" Target="../tags/tag254.xml"/><Relationship Id="rId9" Type="http://schemas.openxmlformats.org/officeDocument/2006/relationships/tags" Target="../tags/tag259.xml"/></Relationships>
</file>

<file path=ppt/slides/_rels/slide50.xml.rels><?xml version="1.0" encoding="UTF-8" standalone="yes"?>
<Relationships xmlns="http://schemas.openxmlformats.org/package/2006/relationships"><Relationship Id="rId8" Type="http://schemas.openxmlformats.org/officeDocument/2006/relationships/tags" Target="../tags/tag268.xml"/><Relationship Id="rId3" Type="http://schemas.openxmlformats.org/officeDocument/2006/relationships/tags" Target="../tags/tag263.xml"/><Relationship Id="rId7" Type="http://schemas.openxmlformats.org/officeDocument/2006/relationships/tags" Target="../tags/tag267.xml"/><Relationship Id="rId2" Type="http://schemas.openxmlformats.org/officeDocument/2006/relationships/tags" Target="../tags/tag262.xml"/><Relationship Id="rId1" Type="http://schemas.openxmlformats.org/officeDocument/2006/relationships/tags" Target="../tags/tag261.xml"/><Relationship Id="rId6" Type="http://schemas.openxmlformats.org/officeDocument/2006/relationships/tags" Target="../tags/tag266.xml"/><Relationship Id="rId11" Type="http://schemas.openxmlformats.org/officeDocument/2006/relationships/slideLayout" Target="../slideLayouts/slideLayout52.xml"/><Relationship Id="rId5" Type="http://schemas.openxmlformats.org/officeDocument/2006/relationships/tags" Target="../tags/tag265.xml"/><Relationship Id="rId10" Type="http://schemas.openxmlformats.org/officeDocument/2006/relationships/tags" Target="../tags/tag270.xml"/><Relationship Id="rId4" Type="http://schemas.openxmlformats.org/officeDocument/2006/relationships/tags" Target="../tags/tag264.xml"/><Relationship Id="rId9" Type="http://schemas.openxmlformats.org/officeDocument/2006/relationships/tags" Target="../tags/tag269.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8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54.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28.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36.xml"/><Relationship Id="rId1" Type="http://schemas.openxmlformats.org/officeDocument/2006/relationships/themeOverride" Target="../theme/themeOverride1.xml"/></Relationships>
</file>

<file path=ppt/slides/_rels/slide56.xml.rels><?xml version="1.0" encoding="UTF-8" standalone="yes"?>
<Relationships xmlns="http://schemas.openxmlformats.org/package/2006/relationships"><Relationship Id="rId8" Type="http://schemas.openxmlformats.org/officeDocument/2006/relationships/tags" Target="../tags/tag278.xml"/><Relationship Id="rId3" Type="http://schemas.openxmlformats.org/officeDocument/2006/relationships/tags" Target="../tags/tag273.xml"/><Relationship Id="rId7" Type="http://schemas.openxmlformats.org/officeDocument/2006/relationships/tags" Target="../tags/tag277.xml"/><Relationship Id="rId2" Type="http://schemas.openxmlformats.org/officeDocument/2006/relationships/tags" Target="../tags/tag272.xml"/><Relationship Id="rId1" Type="http://schemas.openxmlformats.org/officeDocument/2006/relationships/tags" Target="../tags/tag271.xml"/><Relationship Id="rId6" Type="http://schemas.openxmlformats.org/officeDocument/2006/relationships/tags" Target="../tags/tag276.xml"/><Relationship Id="rId11" Type="http://schemas.openxmlformats.org/officeDocument/2006/relationships/slideLayout" Target="../slideLayouts/slideLayout37.xml"/><Relationship Id="rId5" Type="http://schemas.openxmlformats.org/officeDocument/2006/relationships/tags" Target="../tags/tag275.xml"/><Relationship Id="rId10" Type="http://schemas.openxmlformats.org/officeDocument/2006/relationships/tags" Target="../tags/tag280.xml"/><Relationship Id="rId4" Type="http://schemas.openxmlformats.org/officeDocument/2006/relationships/tags" Target="../tags/tag274.xml"/><Relationship Id="rId9" Type="http://schemas.openxmlformats.org/officeDocument/2006/relationships/tags" Target="../tags/tag279.xml"/></Relationships>
</file>

<file path=ppt/slides/_rels/slide57.xml.rels><?xml version="1.0" encoding="UTF-8" standalone="yes"?>
<Relationships xmlns="http://schemas.openxmlformats.org/package/2006/relationships"><Relationship Id="rId8" Type="http://schemas.openxmlformats.org/officeDocument/2006/relationships/tags" Target="../tags/tag288.xml"/><Relationship Id="rId13" Type="http://schemas.openxmlformats.org/officeDocument/2006/relationships/tags" Target="../tags/tag293.xml"/><Relationship Id="rId3" Type="http://schemas.openxmlformats.org/officeDocument/2006/relationships/tags" Target="../tags/tag283.xml"/><Relationship Id="rId7" Type="http://schemas.openxmlformats.org/officeDocument/2006/relationships/tags" Target="../tags/tag287.xml"/><Relationship Id="rId12" Type="http://schemas.openxmlformats.org/officeDocument/2006/relationships/tags" Target="../tags/tag292.xml"/><Relationship Id="rId17" Type="http://schemas.openxmlformats.org/officeDocument/2006/relationships/slideLayout" Target="../slideLayouts/slideLayout37.xml"/><Relationship Id="rId2" Type="http://schemas.openxmlformats.org/officeDocument/2006/relationships/tags" Target="../tags/tag282.xml"/><Relationship Id="rId16" Type="http://schemas.openxmlformats.org/officeDocument/2006/relationships/tags" Target="../tags/tag296.xml"/><Relationship Id="rId1" Type="http://schemas.openxmlformats.org/officeDocument/2006/relationships/tags" Target="../tags/tag281.xml"/><Relationship Id="rId6" Type="http://schemas.openxmlformats.org/officeDocument/2006/relationships/tags" Target="../tags/tag286.xml"/><Relationship Id="rId11" Type="http://schemas.openxmlformats.org/officeDocument/2006/relationships/tags" Target="../tags/tag291.xml"/><Relationship Id="rId5" Type="http://schemas.openxmlformats.org/officeDocument/2006/relationships/tags" Target="../tags/tag285.xml"/><Relationship Id="rId15" Type="http://schemas.openxmlformats.org/officeDocument/2006/relationships/tags" Target="../tags/tag295.xml"/><Relationship Id="rId10" Type="http://schemas.openxmlformats.org/officeDocument/2006/relationships/tags" Target="../tags/tag290.xml"/><Relationship Id="rId4" Type="http://schemas.openxmlformats.org/officeDocument/2006/relationships/tags" Target="../tags/tag284.xml"/><Relationship Id="rId9" Type="http://schemas.openxmlformats.org/officeDocument/2006/relationships/tags" Target="../tags/tag289.xml"/><Relationship Id="rId14" Type="http://schemas.openxmlformats.org/officeDocument/2006/relationships/tags" Target="../tags/tag294.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8.xml"/></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ags" Target="../tags/tag297.xml"/></Relationships>
</file>

<file path=ppt/slides/_rels/slide60.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ags" Target="../tags/tag298.xml"/></Relationships>
</file>

<file path=ppt/slides/_rels/slide61.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ags" Target="../tags/tag299.xml"/></Relationships>
</file>

<file path=ppt/slides/_rels/slide62.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ags" Target="../tags/tag300.xml"/></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ags" Target="../tags/tag301.xml"/></Relationships>
</file>

<file path=ppt/slides/_rels/slide64.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38.xml"/><Relationship Id="rId1" Type="http://schemas.openxmlformats.org/officeDocument/2006/relationships/tags" Target="../tags/tag302.xml"/></Relationships>
</file>

<file path=ppt/slides/_rels/slide65.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ags" Target="../tags/tag303.xml"/></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38.xml"/><Relationship Id="rId1" Type="http://schemas.openxmlformats.org/officeDocument/2006/relationships/tags" Target="../tags/tag304.xml"/></Relationships>
</file>

<file path=ppt/slides/_rels/slide67.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ags" Target="../tags/tag305.xml"/></Relationships>
</file>

<file path=ppt/slides/_rels/slide68.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ags" Target="../tags/tag306.xml"/></Relationships>
</file>

<file path=ppt/slides/_rels/slide69.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ags" Target="../tags/tag307.xml"/></Relationships>
</file>

<file path=ppt/slides/_rels/slide70.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ags" Target="../tags/tag308.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7.xml.rels><?xml version="1.0" encoding="UTF-8" standalone="yes"?>
<Relationships xmlns="http://schemas.openxmlformats.org/package/2006/relationships"><Relationship Id="rId8" Type="http://schemas.openxmlformats.org/officeDocument/2006/relationships/tags" Target="../tags/tag316.xml"/><Relationship Id="rId13" Type="http://schemas.openxmlformats.org/officeDocument/2006/relationships/tags" Target="../tags/tag321.xml"/><Relationship Id="rId3" Type="http://schemas.openxmlformats.org/officeDocument/2006/relationships/tags" Target="../tags/tag311.xml"/><Relationship Id="rId7" Type="http://schemas.openxmlformats.org/officeDocument/2006/relationships/tags" Target="../tags/tag315.xml"/><Relationship Id="rId12" Type="http://schemas.openxmlformats.org/officeDocument/2006/relationships/tags" Target="../tags/tag320.xml"/><Relationship Id="rId2" Type="http://schemas.openxmlformats.org/officeDocument/2006/relationships/tags" Target="../tags/tag310.xml"/><Relationship Id="rId1" Type="http://schemas.openxmlformats.org/officeDocument/2006/relationships/tags" Target="../tags/tag309.xml"/><Relationship Id="rId6" Type="http://schemas.openxmlformats.org/officeDocument/2006/relationships/tags" Target="../tags/tag314.xml"/><Relationship Id="rId11" Type="http://schemas.openxmlformats.org/officeDocument/2006/relationships/tags" Target="../tags/tag319.xml"/><Relationship Id="rId5" Type="http://schemas.openxmlformats.org/officeDocument/2006/relationships/tags" Target="../tags/tag313.xml"/><Relationship Id="rId10" Type="http://schemas.openxmlformats.org/officeDocument/2006/relationships/tags" Target="../tags/tag318.xml"/><Relationship Id="rId4" Type="http://schemas.openxmlformats.org/officeDocument/2006/relationships/tags" Target="../tags/tag312.xml"/><Relationship Id="rId9" Type="http://schemas.openxmlformats.org/officeDocument/2006/relationships/tags" Target="../tags/tag317.xml"/><Relationship Id="rId14" Type="http://schemas.openxmlformats.org/officeDocument/2006/relationships/slideLayout" Target="../slideLayouts/slideLayout28.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0.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28.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91.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28.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93.xml.rels><?xml version="1.0" encoding="UTF-8" standalone="yes"?>
<Relationships xmlns="http://schemas.openxmlformats.org/package/2006/relationships"><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notesSlide" Target="../notesSlides/notesSlide12.xml"/><Relationship Id="rId1" Type="http://schemas.openxmlformats.org/officeDocument/2006/relationships/slideLayout" Target="../slideLayouts/slideLayout28.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9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63.png"/><Relationship Id="rId1" Type="http://schemas.openxmlformats.org/officeDocument/2006/relationships/slideLayout" Target="../slideLayouts/slideLayout28.xml"/><Relationship Id="rId6" Type="http://schemas.openxmlformats.org/officeDocument/2006/relationships/image" Target="../media/image67.png"/><Relationship Id="rId5" Type="http://schemas.openxmlformats.org/officeDocument/2006/relationships/image" Target="../media/image66.png"/><Relationship Id="rId4" Type="http://schemas.openxmlformats.org/officeDocument/2006/relationships/image" Target="../media/image65.png"/></Relationships>
</file>

<file path=ppt/slides/_rels/slide95.xml.rels><?xml version="1.0" encoding="UTF-8" standalone="yes"?>
<Relationships xmlns="http://schemas.openxmlformats.org/package/2006/relationships"><Relationship Id="rId2" Type="http://schemas.openxmlformats.org/officeDocument/2006/relationships/slideLayout" Target="../slideLayouts/slideLayout36.xml"/><Relationship Id="rId1" Type="http://schemas.openxmlformats.org/officeDocument/2006/relationships/themeOverride" Target="../theme/themeOverride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97.xml.rels><?xml version="1.0" encoding="UTF-8" standalone="yes"?>
<Relationships xmlns="http://schemas.openxmlformats.org/package/2006/relationships"><Relationship Id="rId3" Type="http://schemas.openxmlformats.org/officeDocument/2006/relationships/tags" Target="../tags/tag324.xml"/><Relationship Id="rId2" Type="http://schemas.openxmlformats.org/officeDocument/2006/relationships/tags" Target="../tags/tag323.xml"/><Relationship Id="rId1" Type="http://schemas.openxmlformats.org/officeDocument/2006/relationships/tags" Target="../tags/tag322.xml"/><Relationship Id="rId6" Type="http://schemas.openxmlformats.org/officeDocument/2006/relationships/slideLayout" Target="../slideLayouts/slideLayout28.xml"/><Relationship Id="rId5" Type="http://schemas.openxmlformats.org/officeDocument/2006/relationships/tags" Target="../tags/tag326.xml"/><Relationship Id="rId4" Type="http://schemas.openxmlformats.org/officeDocument/2006/relationships/tags" Target="../tags/tag325.xml"/></Relationships>
</file>

<file path=ppt/slides/_rels/slide98.xml.rels><?xml version="1.0" encoding="UTF-8" standalone="yes"?>
<Relationships xmlns="http://schemas.openxmlformats.org/package/2006/relationships"><Relationship Id="rId3" Type="http://schemas.openxmlformats.org/officeDocument/2006/relationships/image" Target="../media/image69.svg"/><Relationship Id="rId2" Type="http://schemas.openxmlformats.org/officeDocument/2006/relationships/image" Target="../media/image68.png"/><Relationship Id="rId1" Type="http://schemas.openxmlformats.org/officeDocument/2006/relationships/slideLayout" Target="../slideLayouts/slideLayout2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00.xml.rels><?xml version="1.0" encoding="UTF-8" standalone="yes"?>
<Relationships xmlns="http://schemas.openxmlformats.org/package/2006/relationships"><Relationship Id="rId8" Type="http://schemas.openxmlformats.org/officeDocument/2006/relationships/tags" Target="../tags/tag334.xml"/><Relationship Id="rId3" Type="http://schemas.openxmlformats.org/officeDocument/2006/relationships/tags" Target="../tags/tag329.xml"/><Relationship Id="rId7" Type="http://schemas.openxmlformats.org/officeDocument/2006/relationships/tags" Target="../tags/tag333.xml"/><Relationship Id="rId2" Type="http://schemas.openxmlformats.org/officeDocument/2006/relationships/tags" Target="../tags/tag328.xml"/><Relationship Id="rId1" Type="http://schemas.openxmlformats.org/officeDocument/2006/relationships/tags" Target="../tags/tag327.xml"/><Relationship Id="rId6" Type="http://schemas.openxmlformats.org/officeDocument/2006/relationships/tags" Target="../tags/tag332.xml"/><Relationship Id="rId11" Type="http://schemas.openxmlformats.org/officeDocument/2006/relationships/slideLayout" Target="../slideLayouts/slideLayout28.xml"/><Relationship Id="rId5" Type="http://schemas.openxmlformats.org/officeDocument/2006/relationships/tags" Target="../tags/tag331.xml"/><Relationship Id="rId10" Type="http://schemas.openxmlformats.org/officeDocument/2006/relationships/tags" Target="../tags/tag336.xml"/><Relationship Id="rId4" Type="http://schemas.openxmlformats.org/officeDocument/2006/relationships/tags" Target="../tags/tag330.xml"/><Relationship Id="rId9" Type="http://schemas.openxmlformats.org/officeDocument/2006/relationships/tags" Target="../tags/tag335.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03.xml.rels><?xml version="1.0" encoding="UTF-8" standalone="yes"?>
<Relationships xmlns="http://schemas.openxmlformats.org/package/2006/relationships"><Relationship Id="rId8" Type="http://schemas.openxmlformats.org/officeDocument/2006/relationships/tags" Target="../tags/tag344.xml"/><Relationship Id="rId13" Type="http://schemas.openxmlformats.org/officeDocument/2006/relationships/tags" Target="../tags/tag349.xml"/><Relationship Id="rId3" Type="http://schemas.openxmlformats.org/officeDocument/2006/relationships/tags" Target="../tags/tag339.xml"/><Relationship Id="rId7" Type="http://schemas.openxmlformats.org/officeDocument/2006/relationships/tags" Target="../tags/tag343.xml"/><Relationship Id="rId12" Type="http://schemas.openxmlformats.org/officeDocument/2006/relationships/tags" Target="../tags/tag348.xml"/><Relationship Id="rId2" Type="http://schemas.openxmlformats.org/officeDocument/2006/relationships/tags" Target="../tags/tag338.xml"/><Relationship Id="rId16" Type="http://schemas.openxmlformats.org/officeDocument/2006/relationships/slideLayout" Target="../slideLayouts/slideLayout28.xml"/><Relationship Id="rId1" Type="http://schemas.openxmlformats.org/officeDocument/2006/relationships/tags" Target="../tags/tag337.xml"/><Relationship Id="rId6" Type="http://schemas.openxmlformats.org/officeDocument/2006/relationships/tags" Target="../tags/tag342.xml"/><Relationship Id="rId11" Type="http://schemas.openxmlformats.org/officeDocument/2006/relationships/tags" Target="../tags/tag347.xml"/><Relationship Id="rId5" Type="http://schemas.openxmlformats.org/officeDocument/2006/relationships/tags" Target="../tags/tag341.xml"/><Relationship Id="rId15" Type="http://schemas.openxmlformats.org/officeDocument/2006/relationships/tags" Target="../tags/tag351.xml"/><Relationship Id="rId10" Type="http://schemas.openxmlformats.org/officeDocument/2006/relationships/tags" Target="../tags/tag346.xml"/><Relationship Id="rId4" Type="http://schemas.openxmlformats.org/officeDocument/2006/relationships/tags" Target="../tags/tag340.xml"/><Relationship Id="rId9" Type="http://schemas.openxmlformats.org/officeDocument/2006/relationships/tags" Target="../tags/tag345.xml"/><Relationship Id="rId14" Type="http://schemas.openxmlformats.org/officeDocument/2006/relationships/tags" Target="../tags/tag350.xml"/></Relationships>
</file>

<file path=ppt/slides/_rels/slide104.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28.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110.xml.rels><?xml version="1.0" encoding="UTF-8" standalone="yes"?>
<Relationships xmlns="http://schemas.openxmlformats.org/package/2006/relationships"><Relationship Id="rId8" Type="http://schemas.openxmlformats.org/officeDocument/2006/relationships/tags" Target="../tags/tag359.xml"/><Relationship Id="rId3" Type="http://schemas.openxmlformats.org/officeDocument/2006/relationships/tags" Target="../tags/tag354.xml"/><Relationship Id="rId7" Type="http://schemas.openxmlformats.org/officeDocument/2006/relationships/tags" Target="../tags/tag358.xml"/><Relationship Id="rId2" Type="http://schemas.openxmlformats.org/officeDocument/2006/relationships/tags" Target="../tags/tag353.xml"/><Relationship Id="rId1" Type="http://schemas.openxmlformats.org/officeDocument/2006/relationships/tags" Target="../tags/tag352.xml"/><Relationship Id="rId6" Type="http://schemas.openxmlformats.org/officeDocument/2006/relationships/tags" Target="../tags/tag357.xml"/><Relationship Id="rId5" Type="http://schemas.openxmlformats.org/officeDocument/2006/relationships/tags" Target="../tags/tag356.xml"/><Relationship Id="rId4" Type="http://schemas.openxmlformats.org/officeDocument/2006/relationships/tags" Target="../tags/tag355.xml"/><Relationship Id="rId9" Type="http://schemas.openxmlformats.org/officeDocument/2006/relationships/slideLayout" Target="../slideLayouts/slideLayout28.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12.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28.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113.xml.rels><?xml version="1.0" encoding="UTF-8" standalone="yes"?>
<Relationships xmlns="http://schemas.openxmlformats.org/package/2006/relationships"><Relationship Id="rId2" Type="http://schemas.openxmlformats.org/officeDocument/2006/relationships/image" Target="../media/image70.emf"/><Relationship Id="rId1" Type="http://schemas.openxmlformats.org/officeDocument/2006/relationships/slideLayout" Target="../slideLayouts/slideLayout28.xml"/></Relationships>
</file>

<file path=ppt/slides/_rels/slide114.xml.rels><?xml version="1.0" encoding="UTF-8" standalone="yes"?>
<Relationships xmlns="http://schemas.openxmlformats.org/package/2006/relationships"><Relationship Id="rId8" Type="http://schemas.openxmlformats.org/officeDocument/2006/relationships/slideLayout" Target="../slideLayouts/slideLayout28.xml"/><Relationship Id="rId3" Type="http://schemas.openxmlformats.org/officeDocument/2006/relationships/tags" Target="../tags/tag362.xml"/><Relationship Id="rId7" Type="http://schemas.openxmlformats.org/officeDocument/2006/relationships/tags" Target="../tags/tag366.xml"/><Relationship Id="rId2" Type="http://schemas.openxmlformats.org/officeDocument/2006/relationships/tags" Target="../tags/tag361.xml"/><Relationship Id="rId1" Type="http://schemas.openxmlformats.org/officeDocument/2006/relationships/tags" Target="../tags/tag360.xml"/><Relationship Id="rId6" Type="http://schemas.openxmlformats.org/officeDocument/2006/relationships/tags" Target="../tags/tag365.xml"/><Relationship Id="rId5" Type="http://schemas.openxmlformats.org/officeDocument/2006/relationships/tags" Target="../tags/tag364.xml"/><Relationship Id="rId4" Type="http://schemas.openxmlformats.org/officeDocument/2006/relationships/tags" Target="../tags/tag363.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0.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19.xml.rels><?xml version="1.0" encoding="UTF-8" standalone="yes"?>
<Relationships xmlns="http://schemas.openxmlformats.org/package/2006/relationships"><Relationship Id="rId3" Type="http://schemas.openxmlformats.org/officeDocument/2006/relationships/tags" Target="../tags/tag369.xml"/><Relationship Id="rId2" Type="http://schemas.openxmlformats.org/officeDocument/2006/relationships/tags" Target="../tags/tag368.xml"/><Relationship Id="rId1" Type="http://schemas.openxmlformats.org/officeDocument/2006/relationships/tags" Target="../tags/tag367.xml"/><Relationship Id="rId5" Type="http://schemas.openxmlformats.org/officeDocument/2006/relationships/slideLayout" Target="../slideLayouts/slideLayout28.xml"/><Relationship Id="rId4" Type="http://schemas.openxmlformats.org/officeDocument/2006/relationships/tags" Target="../tags/tag37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23.xml.rels><?xml version="1.0" encoding="UTF-8" standalone="yes"?>
<Relationships xmlns="http://schemas.openxmlformats.org/package/2006/relationships"><Relationship Id="rId3" Type="http://schemas.openxmlformats.org/officeDocument/2006/relationships/diagramLayout" Target="../diagrams/layout12.xml"/><Relationship Id="rId2" Type="http://schemas.openxmlformats.org/officeDocument/2006/relationships/diagramData" Target="../diagrams/data12.xml"/><Relationship Id="rId1" Type="http://schemas.openxmlformats.org/officeDocument/2006/relationships/slideLayout" Target="../slideLayouts/slideLayout28.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126.xml.rels><?xml version="1.0" encoding="UTF-8" standalone="yes"?>
<Relationships xmlns="http://schemas.openxmlformats.org/package/2006/relationships"><Relationship Id="rId8" Type="http://schemas.openxmlformats.org/officeDocument/2006/relationships/tags" Target="../tags/tag378.xml"/><Relationship Id="rId13" Type="http://schemas.openxmlformats.org/officeDocument/2006/relationships/tags" Target="../tags/tag383.xml"/><Relationship Id="rId18" Type="http://schemas.openxmlformats.org/officeDocument/2006/relationships/slideLayout" Target="../slideLayouts/slideLayout28.xml"/><Relationship Id="rId3" Type="http://schemas.openxmlformats.org/officeDocument/2006/relationships/tags" Target="../tags/tag373.xml"/><Relationship Id="rId7" Type="http://schemas.openxmlformats.org/officeDocument/2006/relationships/tags" Target="../tags/tag377.xml"/><Relationship Id="rId12" Type="http://schemas.openxmlformats.org/officeDocument/2006/relationships/tags" Target="../tags/tag382.xml"/><Relationship Id="rId17" Type="http://schemas.openxmlformats.org/officeDocument/2006/relationships/tags" Target="../tags/tag387.xml"/><Relationship Id="rId2" Type="http://schemas.openxmlformats.org/officeDocument/2006/relationships/tags" Target="../tags/tag372.xml"/><Relationship Id="rId16" Type="http://schemas.openxmlformats.org/officeDocument/2006/relationships/tags" Target="../tags/tag386.xml"/><Relationship Id="rId1" Type="http://schemas.openxmlformats.org/officeDocument/2006/relationships/tags" Target="../tags/tag371.xml"/><Relationship Id="rId6" Type="http://schemas.openxmlformats.org/officeDocument/2006/relationships/tags" Target="../tags/tag376.xml"/><Relationship Id="rId11" Type="http://schemas.openxmlformats.org/officeDocument/2006/relationships/tags" Target="../tags/tag381.xml"/><Relationship Id="rId5" Type="http://schemas.openxmlformats.org/officeDocument/2006/relationships/tags" Target="../tags/tag375.xml"/><Relationship Id="rId15" Type="http://schemas.openxmlformats.org/officeDocument/2006/relationships/tags" Target="../tags/tag385.xml"/><Relationship Id="rId10" Type="http://schemas.openxmlformats.org/officeDocument/2006/relationships/tags" Target="../tags/tag380.xml"/><Relationship Id="rId4" Type="http://schemas.openxmlformats.org/officeDocument/2006/relationships/tags" Target="../tags/tag374.xml"/><Relationship Id="rId9" Type="http://schemas.openxmlformats.org/officeDocument/2006/relationships/tags" Target="../tags/tag379.xml"/><Relationship Id="rId14" Type="http://schemas.openxmlformats.org/officeDocument/2006/relationships/tags" Target="../tags/tag384.xml"/></Relationships>
</file>

<file path=ppt/slides/_rels/slide127.xml.rels><?xml version="1.0" encoding="UTF-8" standalone="yes"?>
<Relationships xmlns="http://schemas.openxmlformats.org/package/2006/relationships"><Relationship Id="rId8" Type="http://schemas.openxmlformats.org/officeDocument/2006/relationships/tags" Target="../tags/tag395.xml"/><Relationship Id="rId13" Type="http://schemas.openxmlformats.org/officeDocument/2006/relationships/tags" Target="../tags/tag400.xml"/><Relationship Id="rId18" Type="http://schemas.openxmlformats.org/officeDocument/2006/relationships/slideLayout" Target="../slideLayouts/slideLayout28.xml"/><Relationship Id="rId3" Type="http://schemas.openxmlformats.org/officeDocument/2006/relationships/tags" Target="../tags/tag390.xml"/><Relationship Id="rId7" Type="http://schemas.openxmlformats.org/officeDocument/2006/relationships/tags" Target="../tags/tag394.xml"/><Relationship Id="rId12" Type="http://schemas.openxmlformats.org/officeDocument/2006/relationships/tags" Target="../tags/tag399.xml"/><Relationship Id="rId17" Type="http://schemas.openxmlformats.org/officeDocument/2006/relationships/tags" Target="../tags/tag404.xml"/><Relationship Id="rId2" Type="http://schemas.openxmlformats.org/officeDocument/2006/relationships/tags" Target="../tags/tag389.xml"/><Relationship Id="rId16" Type="http://schemas.openxmlformats.org/officeDocument/2006/relationships/tags" Target="../tags/tag403.xml"/><Relationship Id="rId1" Type="http://schemas.openxmlformats.org/officeDocument/2006/relationships/tags" Target="../tags/tag388.xml"/><Relationship Id="rId6" Type="http://schemas.openxmlformats.org/officeDocument/2006/relationships/tags" Target="../tags/tag393.xml"/><Relationship Id="rId11" Type="http://schemas.openxmlformats.org/officeDocument/2006/relationships/tags" Target="../tags/tag398.xml"/><Relationship Id="rId5" Type="http://schemas.openxmlformats.org/officeDocument/2006/relationships/tags" Target="../tags/tag392.xml"/><Relationship Id="rId15" Type="http://schemas.openxmlformats.org/officeDocument/2006/relationships/tags" Target="../tags/tag402.xml"/><Relationship Id="rId10" Type="http://schemas.openxmlformats.org/officeDocument/2006/relationships/tags" Target="../tags/tag397.xml"/><Relationship Id="rId4" Type="http://schemas.openxmlformats.org/officeDocument/2006/relationships/tags" Target="../tags/tag391.xml"/><Relationship Id="rId9" Type="http://schemas.openxmlformats.org/officeDocument/2006/relationships/tags" Target="../tags/tag396.xml"/><Relationship Id="rId14" Type="http://schemas.openxmlformats.org/officeDocument/2006/relationships/tags" Target="../tags/tag401.xml"/></Relationships>
</file>

<file path=ppt/slides/_rels/slide128.xml.rels><?xml version="1.0" encoding="UTF-8" standalone="yes"?>
<Relationships xmlns="http://schemas.openxmlformats.org/package/2006/relationships"><Relationship Id="rId3" Type="http://schemas.openxmlformats.org/officeDocument/2006/relationships/tags" Target="../tags/tag407.xml"/><Relationship Id="rId2" Type="http://schemas.openxmlformats.org/officeDocument/2006/relationships/tags" Target="../tags/tag406.xml"/><Relationship Id="rId1" Type="http://schemas.openxmlformats.org/officeDocument/2006/relationships/tags" Target="../tags/tag405.xml"/><Relationship Id="rId5" Type="http://schemas.openxmlformats.org/officeDocument/2006/relationships/slideLayout" Target="../slideLayouts/slideLayout28.xml"/><Relationship Id="rId4" Type="http://schemas.openxmlformats.org/officeDocument/2006/relationships/tags" Target="../tags/tag408.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30.xml.rels><?xml version="1.0" encoding="UTF-8" standalone="yes"?>
<Relationships xmlns="http://schemas.openxmlformats.org/package/2006/relationships"><Relationship Id="rId3" Type="http://schemas.openxmlformats.org/officeDocument/2006/relationships/tags" Target="../tags/tag411.xml"/><Relationship Id="rId2" Type="http://schemas.openxmlformats.org/officeDocument/2006/relationships/tags" Target="../tags/tag410.xml"/><Relationship Id="rId1" Type="http://schemas.openxmlformats.org/officeDocument/2006/relationships/tags" Target="../tags/tag409.xml"/><Relationship Id="rId5" Type="http://schemas.openxmlformats.org/officeDocument/2006/relationships/slideLayout" Target="../slideLayouts/slideLayout28.xml"/><Relationship Id="rId4" Type="http://schemas.openxmlformats.org/officeDocument/2006/relationships/tags" Target="../tags/tag41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32.xml.rels><?xml version="1.0" encoding="UTF-8" standalone="yes"?>
<Relationships xmlns="http://schemas.openxmlformats.org/package/2006/relationships"><Relationship Id="rId3" Type="http://schemas.openxmlformats.org/officeDocument/2006/relationships/tags" Target="../tags/tag415.xml"/><Relationship Id="rId2" Type="http://schemas.openxmlformats.org/officeDocument/2006/relationships/tags" Target="../tags/tag414.xml"/><Relationship Id="rId1" Type="http://schemas.openxmlformats.org/officeDocument/2006/relationships/tags" Target="../tags/tag413.xml"/><Relationship Id="rId5" Type="http://schemas.openxmlformats.org/officeDocument/2006/relationships/slideLayout" Target="../slideLayouts/slideLayout28.xml"/><Relationship Id="rId4" Type="http://schemas.openxmlformats.org/officeDocument/2006/relationships/tags" Target="../tags/tag416.xml"/></Relationships>
</file>

<file path=ppt/slides/_rels/slide133.xml.rels><?xml version="1.0" encoding="UTF-8" standalone="yes"?>
<Relationships xmlns="http://schemas.openxmlformats.org/package/2006/relationships"><Relationship Id="rId3" Type="http://schemas.openxmlformats.org/officeDocument/2006/relationships/tags" Target="../tags/tag419.xml"/><Relationship Id="rId2" Type="http://schemas.openxmlformats.org/officeDocument/2006/relationships/tags" Target="../tags/tag418.xml"/><Relationship Id="rId1" Type="http://schemas.openxmlformats.org/officeDocument/2006/relationships/tags" Target="../tags/tag417.xml"/><Relationship Id="rId5" Type="http://schemas.openxmlformats.org/officeDocument/2006/relationships/slideLayout" Target="../slideLayouts/slideLayout28.xml"/><Relationship Id="rId4" Type="http://schemas.openxmlformats.org/officeDocument/2006/relationships/tags" Target="../tags/tag420.xml"/></Relationships>
</file>

<file path=ppt/slides/_rels/slide134.xml.rels><?xml version="1.0" encoding="UTF-8" standalone="yes"?>
<Relationships xmlns="http://schemas.openxmlformats.org/package/2006/relationships"><Relationship Id="rId3" Type="http://schemas.openxmlformats.org/officeDocument/2006/relationships/tags" Target="../tags/tag423.xml"/><Relationship Id="rId2" Type="http://schemas.openxmlformats.org/officeDocument/2006/relationships/tags" Target="../tags/tag422.xml"/><Relationship Id="rId1" Type="http://schemas.openxmlformats.org/officeDocument/2006/relationships/tags" Target="../tags/tag421.xml"/><Relationship Id="rId5" Type="http://schemas.openxmlformats.org/officeDocument/2006/relationships/slideLayout" Target="../slideLayouts/slideLayout28.xml"/><Relationship Id="rId4" Type="http://schemas.openxmlformats.org/officeDocument/2006/relationships/tags" Target="../tags/tag424.xml"/></Relationships>
</file>

<file path=ppt/slides/_rels/slide135.xml.rels><?xml version="1.0" encoding="UTF-8" standalone="yes"?>
<Relationships xmlns="http://schemas.openxmlformats.org/package/2006/relationships"><Relationship Id="rId3" Type="http://schemas.openxmlformats.org/officeDocument/2006/relationships/tags" Target="../tags/tag427.xml"/><Relationship Id="rId2" Type="http://schemas.openxmlformats.org/officeDocument/2006/relationships/tags" Target="../tags/tag426.xml"/><Relationship Id="rId1" Type="http://schemas.openxmlformats.org/officeDocument/2006/relationships/tags" Target="../tags/tag425.xml"/><Relationship Id="rId5" Type="http://schemas.openxmlformats.org/officeDocument/2006/relationships/slideLayout" Target="../slideLayouts/slideLayout28.xml"/><Relationship Id="rId4" Type="http://schemas.openxmlformats.org/officeDocument/2006/relationships/tags" Target="../tags/tag428.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39.xml.rels><?xml version="1.0" encoding="UTF-8" standalone="yes"?>
<Relationships xmlns="http://schemas.openxmlformats.org/package/2006/relationships"><Relationship Id="rId3" Type="http://schemas.openxmlformats.org/officeDocument/2006/relationships/diagramLayout" Target="../diagrams/layout13.xml"/><Relationship Id="rId2" Type="http://schemas.openxmlformats.org/officeDocument/2006/relationships/diagramData" Target="../diagrams/data13.xml"/><Relationship Id="rId1" Type="http://schemas.openxmlformats.org/officeDocument/2006/relationships/slideLayout" Target="../slideLayouts/slideLayout28.xml"/><Relationship Id="rId6" Type="http://schemas.microsoft.com/office/2007/relationships/diagramDrawing" Target="../diagrams/drawing13.xml"/><Relationship Id="rId5" Type="http://schemas.openxmlformats.org/officeDocument/2006/relationships/diagramColors" Target="../diagrams/colors13.xml"/><Relationship Id="rId4" Type="http://schemas.openxmlformats.org/officeDocument/2006/relationships/diagramQuickStyle" Target="../diagrams/quickStyle13.xml"/></Relationships>
</file>

<file path=ppt/slides/_rels/slide140.xml.rels><?xml version="1.0" encoding="UTF-8" standalone="yes"?>
<Relationships xmlns="http://schemas.openxmlformats.org/package/2006/relationships"><Relationship Id="rId3" Type="http://schemas.openxmlformats.org/officeDocument/2006/relationships/diagramLayout" Target="../diagrams/layout14.xml"/><Relationship Id="rId2" Type="http://schemas.openxmlformats.org/officeDocument/2006/relationships/diagramData" Target="../diagrams/data14.xml"/><Relationship Id="rId1" Type="http://schemas.openxmlformats.org/officeDocument/2006/relationships/slideLayout" Target="../slideLayouts/slideLayout28.xml"/><Relationship Id="rId6" Type="http://schemas.microsoft.com/office/2007/relationships/diagramDrawing" Target="../diagrams/drawing14.xml"/><Relationship Id="rId5" Type="http://schemas.openxmlformats.org/officeDocument/2006/relationships/diagramColors" Target="../diagrams/colors14.xml"/><Relationship Id="rId4" Type="http://schemas.openxmlformats.org/officeDocument/2006/relationships/diagramQuickStyle" Target="../diagrams/quickStyle14.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8.xml.rels><?xml version="1.0" encoding="UTF-8" standalone="yes"?>
<Relationships xmlns="http://schemas.openxmlformats.org/package/2006/relationships"><Relationship Id="rId3" Type="http://schemas.openxmlformats.org/officeDocument/2006/relationships/diagramData" Target="../diagrams/data15.xml"/><Relationship Id="rId7" Type="http://schemas.microsoft.com/office/2007/relationships/diagramDrawing" Target="../diagrams/drawing15.xml"/><Relationship Id="rId2" Type="http://schemas.openxmlformats.org/officeDocument/2006/relationships/notesSlide" Target="../notesSlides/notesSlide14.xml"/><Relationship Id="rId1" Type="http://schemas.openxmlformats.org/officeDocument/2006/relationships/slideLayout" Target="../slideLayouts/slideLayout4.xml"/><Relationship Id="rId6" Type="http://schemas.openxmlformats.org/officeDocument/2006/relationships/diagramColors" Target="../diagrams/colors15.xml"/><Relationship Id="rId5" Type="http://schemas.openxmlformats.org/officeDocument/2006/relationships/diagramQuickStyle" Target="../diagrams/quickStyle15.xml"/><Relationship Id="rId4" Type="http://schemas.openxmlformats.org/officeDocument/2006/relationships/diagramLayout" Target="../diagrams/layout15.xml"/></Relationships>
</file>

<file path=ppt/slides/_rels/slide149.xml.rels><?xml version="1.0" encoding="UTF-8" standalone="yes"?>
<Relationships xmlns="http://schemas.openxmlformats.org/package/2006/relationships"><Relationship Id="rId8" Type="http://schemas.openxmlformats.org/officeDocument/2006/relationships/tags" Target="../tags/tag436.xml"/><Relationship Id="rId13" Type="http://schemas.openxmlformats.org/officeDocument/2006/relationships/tags" Target="../tags/tag441.xml"/><Relationship Id="rId18" Type="http://schemas.openxmlformats.org/officeDocument/2006/relationships/slideLayout" Target="../slideLayouts/slideLayout4.xml"/><Relationship Id="rId3" Type="http://schemas.openxmlformats.org/officeDocument/2006/relationships/tags" Target="../tags/tag431.xml"/><Relationship Id="rId7" Type="http://schemas.openxmlformats.org/officeDocument/2006/relationships/tags" Target="../tags/tag435.xml"/><Relationship Id="rId12" Type="http://schemas.openxmlformats.org/officeDocument/2006/relationships/tags" Target="../tags/tag440.xml"/><Relationship Id="rId17" Type="http://schemas.openxmlformats.org/officeDocument/2006/relationships/tags" Target="../tags/tag445.xml"/><Relationship Id="rId2" Type="http://schemas.openxmlformats.org/officeDocument/2006/relationships/tags" Target="../tags/tag430.xml"/><Relationship Id="rId16" Type="http://schemas.openxmlformats.org/officeDocument/2006/relationships/tags" Target="../tags/tag444.xml"/><Relationship Id="rId1" Type="http://schemas.openxmlformats.org/officeDocument/2006/relationships/tags" Target="../tags/tag429.xml"/><Relationship Id="rId6" Type="http://schemas.openxmlformats.org/officeDocument/2006/relationships/tags" Target="../tags/tag434.xml"/><Relationship Id="rId11" Type="http://schemas.openxmlformats.org/officeDocument/2006/relationships/tags" Target="../tags/tag439.xml"/><Relationship Id="rId5" Type="http://schemas.openxmlformats.org/officeDocument/2006/relationships/tags" Target="../tags/tag433.xml"/><Relationship Id="rId15" Type="http://schemas.openxmlformats.org/officeDocument/2006/relationships/tags" Target="../tags/tag443.xml"/><Relationship Id="rId10" Type="http://schemas.openxmlformats.org/officeDocument/2006/relationships/tags" Target="../tags/tag438.xml"/><Relationship Id="rId19" Type="http://schemas.openxmlformats.org/officeDocument/2006/relationships/image" Target="../media/image71.emf"/><Relationship Id="rId4" Type="http://schemas.openxmlformats.org/officeDocument/2006/relationships/tags" Target="../tags/tag432.xml"/><Relationship Id="rId9" Type="http://schemas.openxmlformats.org/officeDocument/2006/relationships/tags" Target="../tags/tag437.xml"/><Relationship Id="rId14" Type="http://schemas.openxmlformats.org/officeDocument/2006/relationships/tags" Target="../tags/tag44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1.xml.rels><?xml version="1.0" encoding="UTF-8" standalone="yes"?>
<Relationships xmlns="http://schemas.openxmlformats.org/package/2006/relationships"><Relationship Id="rId8" Type="http://schemas.openxmlformats.org/officeDocument/2006/relationships/diagramLayout" Target="../diagrams/layout17.xml"/><Relationship Id="rId13" Type="http://schemas.openxmlformats.org/officeDocument/2006/relationships/diagramLayout" Target="../diagrams/layout18.xml"/><Relationship Id="rId18" Type="http://schemas.openxmlformats.org/officeDocument/2006/relationships/diagramLayout" Target="../diagrams/layout19.xml"/><Relationship Id="rId26" Type="http://schemas.microsoft.com/office/2007/relationships/diagramDrawing" Target="../diagrams/drawing20.xml"/><Relationship Id="rId3" Type="http://schemas.openxmlformats.org/officeDocument/2006/relationships/diagramLayout" Target="../diagrams/layout16.xml"/><Relationship Id="rId21" Type="http://schemas.microsoft.com/office/2007/relationships/diagramDrawing" Target="../diagrams/drawing19.xml"/><Relationship Id="rId7" Type="http://schemas.openxmlformats.org/officeDocument/2006/relationships/diagramData" Target="../diagrams/data17.xml"/><Relationship Id="rId12" Type="http://schemas.openxmlformats.org/officeDocument/2006/relationships/diagramData" Target="../diagrams/data18.xml"/><Relationship Id="rId17" Type="http://schemas.openxmlformats.org/officeDocument/2006/relationships/diagramData" Target="../diagrams/data19.xml"/><Relationship Id="rId25" Type="http://schemas.openxmlformats.org/officeDocument/2006/relationships/diagramColors" Target="../diagrams/colors20.xml"/><Relationship Id="rId2" Type="http://schemas.openxmlformats.org/officeDocument/2006/relationships/diagramData" Target="../diagrams/data16.xml"/><Relationship Id="rId16" Type="http://schemas.microsoft.com/office/2007/relationships/diagramDrawing" Target="../diagrams/drawing18.xml"/><Relationship Id="rId20" Type="http://schemas.openxmlformats.org/officeDocument/2006/relationships/diagramColors" Target="../diagrams/colors19.xml"/><Relationship Id="rId29" Type="http://schemas.openxmlformats.org/officeDocument/2006/relationships/diagramQuickStyle" Target="../diagrams/quickStyle21.xml"/><Relationship Id="rId1" Type="http://schemas.openxmlformats.org/officeDocument/2006/relationships/slideLayout" Target="../slideLayouts/slideLayout28.xml"/><Relationship Id="rId6" Type="http://schemas.microsoft.com/office/2007/relationships/diagramDrawing" Target="../diagrams/drawing16.xml"/><Relationship Id="rId11" Type="http://schemas.microsoft.com/office/2007/relationships/diagramDrawing" Target="../diagrams/drawing17.xml"/><Relationship Id="rId24" Type="http://schemas.openxmlformats.org/officeDocument/2006/relationships/diagramQuickStyle" Target="../diagrams/quickStyle20.xml"/><Relationship Id="rId32" Type="http://schemas.openxmlformats.org/officeDocument/2006/relationships/image" Target="../media/image72.png"/><Relationship Id="rId5" Type="http://schemas.openxmlformats.org/officeDocument/2006/relationships/diagramColors" Target="../diagrams/colors16.xml"/><Relationship Id="rId15" Type="http://schemas.openxmlformats.org/officeDocument/2006/relationships/diagramColors" Target="../diagrams/colors18.xml"/><Relationship Id="rId23" Type="http://schemas.openxmlformats.org/officeDocument/2006/relationships/diagramLayout" Target="../diagrams/layout20.xml"/><Relationship Id="rId28" Type="http://schemas.openxmlformats.org/officeDocument/2006/relationships/diagramLayout" Target="../diagrams/layout21.xml"/><Relationship Id="rId10" Type="http://schemas.openxmlformats.org/officeDocument/2006/relationships/diagramColors" Target="../diagrams/colors17.xml"/><Relationship Id="rId19" Type="http://schemas.openxmlformats.org/officeDocument/2006/relationships/diagramQuickStyle" Target="../diagrams/quickStyle19.xml"/><Relationship Id="rId31" Type="http://schemas.microsoft.com/office/2007/relationships/diagramDrawing" Target="../diagrams/drawing21.xml"/><Relationship Id="rId4" Type="http://schemas.openxmlformats.org/officeDocument/2006/relationships/diagramQuickStyle" Target="../diagrams/quickStyle16.xml"/><Relationship Id="rId9" Type="http://schemas.openxmlformats.org/officeDocument/2006/relationships/diagramQuickStyle" Target="../diagrams/quickStyle17.xml"/><Relationship Id="rId14" Type="http://schemas.openxmlformats.org/officeDocument/2006/relationships/diagramQuickStyle" Target="../diagrams/quickStyle18.xml"/><Relationship Id="rId22" Type="http://schemas.openxmlformats.org/officeDocument/2006/relationships/diagramData" Target="../diagrams/data20.xml"/><Relationship Id="rId27" Type="http://schemas.openxmlformats.org/officeDocument/2006/relationships/diagramData" Target="../diagrams/data21.xml"/><Relationship Id="rId30" Type="http://schemas.openxmlformats.org/officeDocument/2006/relationships/diagramColors" Target="../diagrams/colors21.xml"/></Relationships>
</file>

<file path=ppt/slides/_rels/slide152.xml.rels><?xml version="1.0" encoding="UTF-8" standalone="yes"?>
<Relationships xmlns="http://schemas.openxmlformats.org/package/2006/relationships"><Relationship Id="rId8" Type="http://schemas.openxmlformats.org/officeDocument/2006/relationships/diagramLayout" Target="../diagrams/layout23.xml"/><Relationship Id="rId3" Type="http://schemas.openxmlformats.org/officeDocument/2006/relationships/diagramLayout" Target="../diagrams/layout22.xml"/><Relationship Id="rId7" Type="http://schemas.openxmlformats.org/officeDocument/2006/relationships/diagramData" Target="../diagrams/data23.xml"/><Relationship Id="rId2" Type="http://schemas.openxmlformats.org/officeDocument/2006/relationships/diagramData" Target="../diagrams/data22.xml"/><Relationship Id="rId1" Type="http://schemas.openxmlformats.org/officeDocument/2006/relationships/slideLayout" Target="../slideLayouts/slideLayout28.xml"/><Relationship Id="rId6" Type="http://schemas.microsoft.com/office/2007/relationships/diagramDrawing" Target="../diagrams/drawing22.xml"/><Relationship Id="rId11" Type="http://schemas.microsoft.com/office/2007/relationships/diagramDrawing" Target="../diagrams/drawing23.xml"/><Relationship Id="rId5" Type="http://schemas.openxmlformats.org/officeDocument/2006/relationships/diagramColors" Target="../diagrams/colors22.xml"/><Relationship Id="rId10" Type="http://schemas.openxmlformats.org/officeDocument/2006/relationships/diagramColors" Target="../diagrams/colors23.xml"/><Relationship Id="rId4" Type="http://schemas.openxmlformats.org/officeDocument/2006/relationships/diagramQuickStyle" Target="../diagrams/quickStyle22.xml"/><Relationship Id="rId9" Type="http://schemas.openxmlformats.org/officeDocument/2006/relationships/diagramQuickStyle" Target="../diagrams/quickStyle23.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54.xml.rels><?xml version="1.0" encoding="UTF-8" standalone="yes"?>
<Relationships xmlns="http://schemas.openxmlformats.org/package/2006/relationships"><Relationship Id="rId8" Type="http://schemas.openxmlformats.org/officeDocument/2006/relationships/tags" Target="../tags/tag453.xml"/><Relationship Id="rId13" Type="http://schemas.openxmlformats.org/officeDocument/2006/relationships/tags" Target="../tags/tag458.xml"/><Relationship Id="rId3" Type="http://schemas.openxmlformats.org/officeDocument/2006/relationships/tags" Target="../tags/tag448.xml"/><Relationship Id="rId7" Type="http://schemas.openxmlformats.org/officeDocument/2006/relationships/tags" Target="../tags/tag452.xml"/><Relationship Id="rId12" Type="http://schemas.openxmlformats.org/officeDocument/2006/relationships/tags" Target="../tags/tag457.xml"/><Relationship Id="rId2" Type="http://schemas.openxmlformats.org/officeDocument/2006/relationships/tags" Target="../tags/tag447.xml"/><Relationship Id="rId1" Type="http://schemas.openxmlformats.org/officeDocument/2006/relationships/tags" Target="../tags/tag446.xml"/><Relationship Id="rId6" Type="http://schemas.openxmlformats.org/officeDocument/2006/relationships/tags" Target="../tags/tag451.xml"/><Relationship Id="rId11" Type="http://schemas.openxmlformats.org/officeDocument/2006/relationships/tags" Target="../tags/tag456.xml"/><Relationship Id="rId5" Type="http://schemas.openxmlformats.org/officeDocument/2006/relationships/tags" Target="../tags/tag450.xml"/><Relationship Id="rId10" Type="http://schemas.openxmlformats.org/officeDocument/2006/relationships/tags" Target="../tags/tag455.xml"/><Relationship Id="rId4" Type="http://schemas.openxmlformats.org/officeDocument/2006/relationships/tags" Target="../tags/tag449.xml"/><Relationship Id="rId9" Type="http://schemas.openxmlformats.org/officeDocument/2006/relationships/tags" Target="../tags/tag454.xml"/><Relationship Id="rId14" Type="http://schemas.openxmlformats.org/officeDocument/2006/relationships/slideLayout" Target="../slideLayouts/slideLayout28.xml"/></Relationships>
</file>

<file path=ppt/slides/_rels/slide155.xml.rels><?xml version="1.0" encoding="UTF-8" standalone="yes"?>
<Relationships xmlns="http://schemas.openxmlformats.org/package/2006/relationships"><Relationship Id="rId8" Type="http://schemas.openxmlformats.org/officeDocument/2006/relationships/diagramLayout" Target="../diagrams/layout25.xml"/><Relationship Id="rId3" Type="http://schemas.openxmlformats.org/officeDocument/2006/relationships/diagramLayout" Target="../diagrams/layout24.xml"/><Relationship Id="rId7" Type="http://schemas.openxmlformats.org/officeDocument/2006/relationships/diagramData" Target="../diagrams/data25.xml"/><Relationship Id="rId2" Type="http://schemas.openxmlformats.org/officeDocument/2006/relationships/diagramData" Target="../diagrams/data24.xml"/><Relationship Id="rId1" Type="http://schemas.openxmlformats.org/officeDocument/2006/relationships/slideLayout" Target="../slideLayouts/slideLayout28.xml"/><Relationship Id="rId6" Type="http://schemas.microsoft.com/office/2007/relationships/diagramDrawing" Target="../diagrams/drawing24.xml"/><Relationship Id="rId11" Type="http://schemas.microsoft.com/office/2007/relationships/diagramDrawing" Target="../diagrams/drawing25.xml"/><Relationship Id="rId5" Type="http://schemas.openxmlformats.org/officeDocument/2006/relationships/diagramColors" Target="../diagrams/colors24.xml"/><Relationship Id="rId10" Type="http://schemas.openxmlformats.org/officeDocument/2006/relationships/diagramColors" Target="../diagrams/colors25.xml"/><Relationship Id="rId4" Type="http://schemas.openxmlformats.org/officeDocument/2006/relationships/diagramQuickStyle" Target="../diagrams/quickStyle24.xml"/><Relationship Id="rId9" Type="http://schemas.openxmlformats.org/officeDocument/2006/relationships/diagramQuickStyle" Target="../diagrams/quickStyle25.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57.xml.rels><?xml version="1.0" encoding="UTF-8" standalone="yes"?>
<Relationships xmlns="http://schemas.openxmlformats.org/package/2006/relationships"><Relationship Id="rId3" Type="http://schemas.openxmlformats.org/officeDocument/2006/relationships/diagramLayout" Target="../diagrams/layout26.xml"/><Relationship Id="rId2" Type="http://schemas.openxmlformats.org/officeDocument/2006/relationships/diagramData" Target="../diagrams/data26.xml"/><Relationship Id="rId1" Type="http://schemas.openxmlformats.org/officeDocument/2006/relationships/slideLayout" Target="../slideLayouts/slideLayout28.xml"/><Relationship Id="rId6" Type="http://schemas.microsoft.com/office/2007/relationships/diagramDrawing" Target="../diagrams/drawing26.xml"/><Relationship Id="rId5" Type="http://schemas.openxmlformats.org/officeDocument/2006/relationships/diagramColors" Target="../diagrams/colors26.xml"/><Relationship Id="rId4" Type="http://schemas.openxmlformats.org/officeDocument/2006/relationships/diagramQuickStyle" Target="../diagrams/quickStyle26.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62.xml.rels><?xml version="1.0" encoding="UTF-8" standalone="yes"?>
<Relationships xmlns="http://schemas.openxmlformats.org/package/2006/relationships"><Relationship Id="rId8" Type="http://schemas.openxmlformats.org/officeDocument/2006/relationships/tags" Target="../tags/tag466.xml"/><Relationship Id="rId3" Type="http://schemas.openxmlformats.org/officeDocument/2006/relationships/tags" Target="../tags/tag461.xml"/><Relationship Id="rId7" Type="http://schemas.openxmlformats.org/officeDocument/2006/relationships/tags" Target="../tags/tag465.xml"/><Relationship Id="rId2" Type="http://schemas.openxmlformats.org/officeDocument/2006/relationships/tags" Target="../tags/tag460.xml"/><Relationship Id="rId1" Type="http://schemas.openxmlformats.org/officeDocument/2006/relationships/tags" Target="../tags/tag459.xml"/><Relationship Id="rId6" Type="http://schemas.openxmlformats.org/officeDocument/2006/relationships/tags" Target="../tags/tag464.xml"/><Relationship Id="rId5" Type="http://schemas.openxmlformats.org/officeDocument/2006/relationships/tags" Target="../tags/tag463.xml"/><Relationship Id="rId10" Type="http://schemas.openxmlformats.org/officeDocument/2006/relationships/slideLayout" Target="../slideLayouts/slideLayout75.xml"/><Relationship Id="rId4" Type="http://schemas.openxmlformats.org/officeDocument/2006/relationships/tags" Target="../tags/tag462.xml"/><Relationship Id="rId9" Type="http://schemas.openxmlformats.org/officeDocument/2006/relationships/tags" Target="../tags/tag467.xml"/></Relationships>
</file>

<file path=ppt/slides/_rels/slide163.xml.rels><?xml version="1.0" encoding="UTF-8" standalone="yes"?>
<Relationships xmlns="http://schemas.openxmlformats.org/package/2006/relationships"><Relationship Id="rId8" Type="http://schemas.openxmlformats.org/officeDocument/2006/relationships/tags" Target="../tags/tag475.xml"/><Relationship Id="rId3" Type="http://schemas.openxmlformats.org/officeDocument/2006/relationships/tags" Target="../tags/tag470.xml"/><Relationship Id="rId7" Type="http://schemas.openxmlformats.org/officeDocument/2006/relationships/tags" Target="../tags/tag474.xml"/><Relationship Id="rId12" Type="http://schemas.openxmlformats.org/officeDocument/2006/relationships/slideLayout" Target="../slideLayouts/slideLayout28.xml"/><Relationship Id="rId2" Type="http://schemas.openxmlformats.org/officeDocument/2006/relationships/tags" Target="../tags/tag469.xml"/><Relationship Id="rId1" Type="http://schemas.openxmlformats.org/officeDocument/2006/relationships/tags" Target="../tags/tag468.xml"/><Relationship Id="rId6" Type="http://schemas.openxmlformats.org/officeDocument/2006/relationships/tags" Target="../tags/tag473.xml"/><Relationship Id="rId11" Type="http://schemas.openxmlformats.org/officeDocument/2006/relationships/tags" Target="../tags/tag478.xml"/><Relationship Id="rId5" Type="http://schemas.openxmlformats.org/officeDocument/2006/relationships/tags" Target="../tags/tag472.xml"/><Relationship Id="rId10" Type="http://schemas.openxmlformats.org/officeDocument/2006/relationships/tags" Target="../tags/tag477.xml"/><Relationship Id="rId4" Type="http://schemas.openxmlformats.org/officeDocument/2006/relationships/tags" Target="../tags/tag471.xml"/><Relationship Id="rId9" Type="http://schemas.openxmlformats.org/officeDocument/2006/relationships/tags" Target="../tags/tag476.xml"/></Relationships>
</file>

<file path=ppt/slides/_rels/slide164.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28.xml"/></Relationships>
</file>

<file path=ppt/slides/_rels/slide165.xml.rels><?xml version="1.0" encoding="UTF-8" standalone="yes"?>
<Relationships xmlns="http://schemas.openxmlformats.org/package/2006/relationships"><Relationship Id="rId8" Type="http://schemas.openxmlformats.org/officeDocument/2006/relationships/tags" Target="../tags/tag486.xml"/><Relationship Id="rId13" Type="http://schemas.openxmlformats.org/officeDocument/2006/relationships/tags" Target="../tags/tag491.xml"/><Relationship Id="rId18" Type="http://schemas.openxmlformats.org/officeDocument/2006/relationships/tags" Target="../tags/tag496.xml"/><Relationship Id="rId3" Type="http://schemas.openxmlformats.org/officeDocument/2006/relationships/tags" Target="../tags/tag481.xml"/><Relationship Id="rId21" Type="http://schemas.openxmlformats.org/officeDocument/2006/relationships/tags" Target="../tags/tag499.xml"/><Relationship Id="rId7" Type="http://schemas.openxmlformats.org/officeDocument/2006/relationships/tags" Target="../tags/tag485.xml"/><Relationship Id="rId12" Type="http://schemas.openxmlformats.org/officeDocument/2006/relationships/tags" Target="../tags/tag490.xml"/><Relationship Id="rId17" Type="http://schemas.openxmlformats.org/officeDocument/2006/relationships/tags" Target="../tags/tag495.xml"/><Relationship Id="rId2" Type="http://schemas.openxmlformats.org/officeDocument/2006/relationships/tags" Target="../tags/tag480.xml"/><Relationship Id="rId16" Type="http://schemas.openxmlformats.org/officeDocument/2006/relationships/tags" Target="../tags/tag494.xml"/><Relationship Id="rId20" Type="http://schemas.openxmlformats.org/officeDocument/2006/relationships/tags" Target="../tags/tag498.xml"/><Relationship Id="rId1" Type="http://schemas.openxmlformats.org/officeDocument/2006/relationships/tags" Target="../tags/tag479.xml"/><Relationship Id="rId6" Type="http://schemas.openxmlformats.org/officeDocument/2006/relationships/tags" Target="../tags/tag484.xml"/><Relationship Id="rId11" Type="http://schemas.openxmlformats.org/officeDocument/2006/relationships/tags" Target="../tags/tag489.xml"/><Relationship Id="rId24" Type="http://schemas.openxmlformats.org/officeDocument/2006/relationships/slideLayout" Target="../slideLayouts/slideLayout28.xml"/><Relationship Id="rId5" Type="http://schemas.openxmlformats.org/officeDocument/2006/relationships/tags" Target="../tags/tag483.xml"/><Relationship Id="rId15" Type="http://schemas.openxmlformats.org/officeDocument/2006/relationships/tags" Target="../tags/tag493.xml"/><Relationship Id="rId23" Type="http://schemas.openxmlformats.org/officeDocument/2006/relationships/tags" Target="../tags/tag501.xml"/><Relationship Id="rId10" Type="http://schemas.openxmlformats.org/officeDocument/2006/relationships/tags" Target="../tags/tag488.xml"/><Relationship Id="rId19" Type="http://schemas.openxmlformats.org/officeDocument/2006/relationships/tags" Target="../tags/tag497.xml"/><Relationship Id="rId4" Type="http://schemas.openxmlformats.org/officeDocument/2006/relationships/tags" Target="../tags/tag482.xml"/><Relationship Id="rId9" Type="http://schemas.openxmlformats.org/officeDocument/2006/relationships/tags" Target="../tags/tag487.xml"/><Relationship Id="rId14" Type="http://schemas.openxmlformats.org/officeDocument/2006/relationships/tags" Target="../tags/tag492.xml"/><Relationship Id="rId22" Type="http://schemas.openxmlformats.org/officeDocument/2006/relationships/tags" Target="../tags/tag500.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67.xml.rels><?xml version="1.0" encoding="UTF-8" standalone="yes"?>
<Relationships xmlns="http://schemas.openxmlformats.org/package/2006/relationships"><Relationship Id="rId8" Type="http://schemas.openxmlformats.org/officeDocument/2006/relationships/tags" Target="../tags/tag509.xml"/><Relationship Id="rId3" Type="http://schemas.openxmlformats.org/officeDocument/2006/relationships/tags" Target="../tags/tag504.xml"/><Relationship Id="rId7" Type="http://schemas.openxmlformats.org/officeDocument/2006/relationships/tags" Target="../tags/tag508.xml"/><Relationship Id="rId2" Type="http://schemas.openxmlformats.org/officeDocument/2006/relationships/tags" Target="../tags/tag503.xml"/><Relationship Id="rId1" Type="http://schemas.openxmlformats.org/officeDocument/2006/relationships/tags" Target="../tags/tag502.xml"/><Relationship Id="rId6" Type="http://schemas.openxmlformats.org/officeDocument/2006/relationships/tags" Target="../tags/tag507.xml"/><Relationship Id="rId11" Type="http://schemas.openxmlformats.org/officeDocument/2006/relationships/slideLayout" Target="../slideLayouts/slideLayout11.xml"/><Relationship Id="rId5" Type="http://schemas.openxmlformats.org/officeDocument/2006/relationships/tags" Target="../tags/tag506.xml"/><Relationship Id="rId10" Type="http://schemas.openxmlformats.org/officeDocument/2006/relationships/tags" Target="../tags/tag511.xml"/><Relationship Id="rId4" Type="http://schemas.openxmlformats.org/officeDocument/2006/relationships/tags" Target="../tags/tag505.xml"/><Relationship Id="rId9" Type="http://schemas.openxmlformats.org/officeDocument/2006/relationships/tags" Target="../tags/tag510.xml"/></Relationships>
</file>

<file path=ppt/slides/_rels/slide168.xml.rels><?xml version="1.0" encoding="UTF-8" standalone="yes"?>
<Relationships xmlns="http://schemas.openxmlformats.org/package/2006/relationships"><Relationship Id="rId8" Type="http://schemas.openxmlformats.org/officeDocument/2006/relationships/tags" Target="../tags/tag519.xml"/><Relationship Id="rId3" Type="http://schemas.openxmlformats.org/officeDocument/2006/relationships/tags" Target="../tags/tag514.xml"/><Relationship Id="rId7" Type="http://schemas.openxmlformats.org/officeDocument/2006/relationships/tags" Target="../tags/tag518.xml"/><Relationship Id="rId2" Type="http://schemas.openxmlformats.org/officeDocument/2006/relationships/tags" Target="../tags/tag513.xml"/><Relationship Id="rId1" Type="http://schemas.openxmlformats.org/officeDocument/2006/relationships/tags" Target="../tags/tag512.xml"/><Relationship Id="rId6" Type="http://schemas.openxmlformats.org/officeDocument/2006/relationships/tags" Target="../tags/tag517.xml"/><Relationship Id="rId5" Type="http://schemas.openxmlformats.org/officeDocument/2006/relationships/tags" Target="../tags/tag516.xml"/><Relationship Id="rId4" Type="http://schemas.openxmlformats.org/officeDocument/2006/relationships/tags" Target="../tags/tag515.xml"/><Relationship Id="rId9" Type="http://schemas.openxmlformats.org/officeDocument/2006/relationships/slideLayout" Target="../slideLayouts/slideLayout29.xml"/></Relationships>
</file>

<file path=ppt/slides/_rels/slide169.xml.rels><?xml version="1.0" encoding="UTF-8" standalone="yes"?>
<Relationships xmlns="http://schemas.openxmlformats.org/package/2006/relationships"><Relationship Id="rId8" Type="http://schemas.openxmlformats.org/officeDocument/2006/relationships/tags" Target="../tags/tag527.xml"/><Relationship Id="rId13" Type="http://schemas.openxmlformats.org/officeDocument/2006/relationships/tags" Target="../tags/tag532.xml"/><Relationship Id="rId3" Type="http://schemas.openxmlformats.org/officeDocument/2006/relationships/tags" Target="../tags/tag522.xml"/><Relationship Id="rId7" Type="http://schemas.openxmlformats.org/officeDocument/2006/relationships/tags" Target="../tags/tag526.xml"/><Relationship Id="rId12" Type="http://schemas.openxmlformats.org/officeDocument/2006/relationships/tags" Target="../tags/tag531.xml"/><Relationship Id="rId2" Type="http://schemas.openxmlformats.org/officeDocument/2006/relationships/tags" Target="../tags/tag521.xml"/><Relationship Id="rId16" Type="http://schemas.openxmlformats.org/officeDocument/2006/relationships/slideLayout" Target="../slideLayouts/slideLayout28.xml"/><Relationship Id="rId1" Type="http://schemas.openxmlformats.org/officeDocument/2006/relationships/tags" Target="../tags/tag520.xml"/><Relationship Id="rId6" Type="http://schemas.openxmlformats.org/officeDocument/2006/relationships/tags" Target="../tags/tag525.xml"/><Relationship Id="rId11" Type="http://schemas.openxmlformats.org/officeDocument/2006/relationships/tags" Target="../tags/tag530.xml"/><Relationship Id="rId5" Type="http://schemas.openxmlformats.org/officeDocument/2006/relationships/tags" Target="../tags/tag524.xml"/><Relationship Id="rId15" Type="http://schemas.openxmlformats.org/officeDocument/2006/relationships/tags" Target="../tags/tag534.xml"/><Relationship Id="rId10" Type="http://schemas.openxmlformats.org/officeDocument/2006/relationships/tags" Target="../tags/tag529.xml"/><Relationship Id="rId4" Type="http://schemas.openxmlformats.org/officeDocument/2006/relationships/tags" Target="../tags/tag523.xml"/><Relationship Id="rId9" Type="http://schemas.openxmlformats.org/officeDocument/2006/relationships/tags" Target="../tags/tag528.xml"/><Relationship Id="rId14" Type="http://schemas.openxmlformats.org/officeDocument/2006/relationships/tags" Target="../tags/tag533.xml"/></Relationships>
</file>

<file path=ppt/slides/_rels/slide170.xml.rels><?xml version="1.0" encoding="UTF-8" standalone="yes"?>
<Relationships xmlns="http://schemas.openxmlformats.org/package/2006/relationships"><Relationship Id="rId3" Type="http://schemas.openxmlformats.org/officeDocument/2006/relationships/image" Target="../media/image75.svg"/><Relationship Id="rId2" Type="http://schemas.openxmlformats.org/officeDocument/2006/relationships/image" Target="../media/image74.png"/><Relationship Id="rId1" Type="http://schemas.openxmlformats.org/officeDocument/2006/relationships/slideLayout" Target="../slideLayouts/slideLayout28.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72.xml.rels><?xml version="1.0" encoding="UTF-8" standalone="yes"?>
<Relationships xmlns="http://schemas.openxmlformats.org/package/2006/relationships"><Relationship Id="rId8" Type="http://schemas.openxmlformats.org/officeDocument/2006/relationships/tags" Target="../tags/tag542.xml"/><Relationship Id="rId13" Type="http://schemas.openxmlformats.org/officeDocument/2006/relationships/tags" Target="../tags/tag547.xml"/><Relationship Id="rId3" Type="http://schemas.openxmlformats.org/officeDocument/2006/relationships/tags" Target="../tags/tag537.xml"/><Relationship Id="rId7" Type="http://schemas.openxmlformats.org/officeDocument/2006/relationships/tags" Target="../tags/tag541.xml"/><Relationship Id="rId12" Type="http://schemas.openxmlformats.org/officeDocument/2006/relationships/tags" Target="../tags/tag546.xml"/><Relationship Id="rId17" Type="http://schemas.openxmlformats.org/officeDocument/2006/relationships/image" Target="../media/image76.png"/><Relationship Id="rId2" Type="http://schemas.openxmlformats.org/officeDocument/2006/relationships/tags" Target="../tags/tag536.xml"/><Relationship Id="rId16" Type="http://schemas.openxmlformats.org/officeDocument/2006/relationships/slideLayout" Target="../slideLayouts/slideLayout112.xml"/><Relationship Id="rId1" Type="http://schemas.openxmlformats.org/officeDocument/2006/relationships/tags" Target="../tags/tag535.xml"/><Relationship Id="rId6" Type="http://schemas.openxmlformats.org/officeDocument/2006/relationships/tags" Target="../tags/tag540.xml"/><Relationship Id="rId11" Type="http://schemas.openxmlformats.org/officeDocument/2006/relationships/tags" Target="../tags/tag545.xml"/><Relationship Id="rId5" Type="http://schemas.openxmlformats.org/officeDocument/2006/relationships/tags" Target="../tags/tag539.xml"/><Relationship Id="rId15" Type="http://schemas.openxmlformats.org/officeDocument/2006/relationships/tags" Target="../tags/tag549.xml"/><Relationship Id="rId10" Type="http://schemas.openxmlformats.org/officeDocument/2006/relationships/tags" Target="../tags/tag544.xml"/><Relationship Id="rId4" Type="http://schemas.openxmlformats.org/officeDocument/2006/relationships/tags" Target="../tags/tag538.xml"/><Relationship Id="rId9" Type="http://schemas.openxmlformats.org/officeDocument/2006/relationships/tags" Target="../tags/tag543.xml"/><Relationship Id="rId14" Type="http://schemas.openxmlformats.org/officeDocument/2006/relationships/tags" Target="../tags/tag548.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74.xml.rels><?xml version="1.0" encoding="UTF-8" standalone="yes"?>
<Relationships xmlns="http://schemas.openxmlformats.org/package/2006/relationships"><Relationship Id="rId3" Type="http://schemas.openxmlformats.org/officeDocument/2006/relationships/diagramData" Target="../diagrams/data27.xml"/><Relationship Id="rId7" Type="http://schemas.microsoft.com/office/2007/relationships/diagramDrawing" Target="../diagrams/drawing27.xml"/><Relationship Id="rId2" Type="http://schemas.openxmlformats.org/officeDocument/2006/relationships/notesSlide" Target="../notesSlides/notesSlide15.xml"/><Relationship Id="rId1" Type="http://schemas.openxmlformats.org/officeDocument/2006/relationships/slideLayout" Target="../slideLayouts/slideLayout28.xml"/><Relationship Id="rId6" Type="http://schemas.openxmlformats.org/officeDocument/2006/relationships/diagramColors" Target="../diagrams/colors27.xml"/><Relationship Id="rId5" Type="http://schemas.openxmlformats.org/officeDocument/2006/relationships/diagramQuickStyle" Target="../diagrams/quickStyle27.xml"/><Relationship Id="rId4" Type="http://schemas.openxmlformats.org/officeDocument/2006/relationships/diagramLayout" Target="../diagrams/layout27.xml"/></Relationships>
</file>

<file path=ppt/slides/_rels/slide175.xml.rels><?xml version="1.0" encoding="UTF-8" standalone="yes"?>
<Relationships xmlns="http://schemas.openxmlformats.org/package/2006/relationships"><Relationship Id="rId8" Type="http://schemas.openxmlformats.org/officeDocument/2006/relationships/tags" Target="../tags/tag557.xml"/><Relationship Id="rId3" Type="http://schemas.openxmlformats.org/officeDocument/2006/relationships/tags" Target="../tags/tag552.xml"/><Relationship Id="rId7" Type="http://schemas.openxmlformats.org/officeDocument/2006/relationships/tags" Target="../tags/tag556.xml"/><Relationship Id="rId2" Type="http://schemas.openxmlformats.org/officeDocument/2006/relationships/tags" Target="../tags/tag551.xml"/><Relationship Id="rId1" Type="http://schemas.openxmlformats.org/officeDocument/2006/relationships/tags" Target="../tags/tag550.xml"/><Relationship Id="rId6" Type="http://schemas.openxmlformats.org/officeDocument/2006/relationships/tags" Target="../tags/tag555.xml"/><Relationship Id="rId11" Type="http://schemas.openxmlformats.org/officeDocument/2006/relationships/notesSlide" Target="../notesSlides/notesSlide16.xml"/><Relationship Id="rId5" Type="http://schemas.openxmlformats.org/officeDocument/2006/relationships/tags" Target="../tags/tag554.xml"/><Relationship Id="rId10" Type="http://schemas.openxmlformats.org/officeDocument/2006/relationships/slideLayout" Target="../slideLayouts/slideLayout35.xml"/><Relationship Id="rId4" Type="http://schemas.openxmlformats.org/officeDocument/2006/relationships/tags" Target="../tags/tag553.xml"/><Relationship Id="rId9" Type="http://schemas.openxmlformats.org/officeDocument/2006/relationships/tags" Target="../tags/tag558.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0.xml"/></Relationships>
</file>

<file path=ppt/slides/_rels/slide178.xml.rels><?xml version="1.0" encoding="UTF-8" standalone="yes"?>
<Relationships xmlns="http://schemas.openxmlformats.org/package/2006/relationships"><Relationship Id="rId8" Type="http://schemas.microsoft.com/office/2007/relationships/diagramDrawing" Target="../diagrams/drawing28.xml"/><Relationship Id="rId3" Type="http://schemas.microsoft.com/office/2007/relationships/hdphoto" Target="../media/hdphoto10.wdp"/><Relationship Id="rId7" Type="http://schemas.openxmlformats.org/officeDocument/2006/relationships/diagramColors" Target="../diagrams/colors28.xml"/><Relationship Id="rId2" Type="http://schemas.openxmlformats.org/officeDocument/2006/relationships/image" Target="../media/image77.png"/><Relationship Id="rId1" Type="http://schemas.openxmlformats.org/officeDocument/2006/relationships/slideLayout" Target="../slideLayouts/slideLayout28.xml"/><Relationship Id="rId6" Type="http://schemas.openxmlformats.org/officeDocument/2006/relationships/diagramQuickStyle" Target="../diagrams/quickStyle28.xml"/><Relationship Id="rId5" Type="http://schemas.openxmlformats.org/officeDocument/2006/relationships/diagramLayout" Target="../diagrams/layout28.xml"/><Relationship Id="rId4" Type="http://schemas.openxmlformats.org/officeDocument/2006/relationships/diagramData" Target="../diagrams/data28.xml"/></Relationships>
</file>

<file path=ppt/slides/_rels/slide179.xml.rels><?xml version="1.0" encoding="UTF-8" standalone="yes"?>
<Relationships xmlns="http://schemas.openxmlformats.org/package/2006/relationships"><Relationship Id="rId8" Type="http://schemas.openxmlformats.org/officeDocument/2006/relationships/tags" Target="../tags/tag566.xml"/><Relationship Id="rId13" Type="http://schemas.openxmlformats.org/officeDocument/2006/relationships/tags" Target="../tags/tag571.xml"/><Relationship Id="rId18" Type="http://schemas.openxmlformats.org/officeDocument/2006/relationships/tags" Target="../tags/tag576.xml"/><Relationship Id="rId26" Type="http://schemas.openxmlformats.org/officeDocument/2006/relationships/slideLayout" Target="../slideLayouts/slideLayout28.xml"/><Relationship Id="rId3" Type="http://schemas.openxmlformats.org/officeDocument/2006/relationships/tags" Target="../tags/tag561.xml"/><Relationship Id="rId21" Type="http://schemas.openxmlformats.org/officeDocument/2006/relationships/tags" Target="../tags/tag579.xml"/><Relationship Id="rId7" Type="http://schemas.openxmlformats.org/officeDocument/2006/relationships/tags" Target="../tags/tag565.xml"/><Relationship Id="rId12" Type="http://schemas.openxmlformats.org/officeDocument/2006/relationships/tags" Target="../tags/tag570.xml"/><Relationship Id="rId17" Type="http://schemas.openxmlformats.org/officeDocument/2006/relationships/tags" Target="../tags/tag575.xml"/><Relationship Id="rId25" Type="http://schemas.openxmlformats.org/officeDocument/2006/relationships/tags" Target="../tags/tag583.xml"/><Relationship Id="rId2" Type="http://schemas.openxmlformats.org/officeDocument/2006/relationships/tags" Target="../tags/tag560.xml"/><Relationship Id="rId16" Type="http://schemas.openxmlformats.org/officeDocument/2006/relationships/tags" Target="../tags/tag574.xml"/><Relationship Id="rId20" Type="http://schemas.openxmlformats.org/officeDocument/2006/relationships/tags" Target="../tags/tag578.xml"/><Relationship Id="rId1" Type="http://schemas.openxmlformats.org/officeDocument/2006/relationships/tags" Target="../tags/tag559.xml"/><Relationship Id="rId6" Type="http://schemas.openxmlformats.org/officeDocument/2006/relationships/tags" Target="../tags/tag564.xml"/><Relationship Id="rId11" Type="http://schemas.openxmlformats.org/officeDocument/2006/relationships/tags" Target="../tags/tag569.xml"/><Relationship Id="rId24" Type="http://schemas.openxmlformats.org/officeDocument/2006/relationships/tags" Target="../tags/tag582.xml"/><Relationship Id="rId5" Type="http://schemas.openxmlformats.org/officeDocument/2006/relationships/tags" Target="../tags/tag563.xml"/><Relationship Id="rId15" Type="http://schemas.openxmlformats.org/officeDocument/2006/relationships/tags" Target="../tags/tag573.xml"/><Relationship Id="rId23" Type="http://schemas.openxmlformats.org/officeDocument/2006/relationships/tags" Target="../tags/tag581.xml"/><Relationship Id="rId10" Type="http://schemas.openxmlformats.org/officeDocument/2006/relationships/tags" Target="../tags/tag568.xml"/><Relationship Id="rId19" Type="http://schemas.openxmlformats.org/officeDocument/2006/relationships/tags" Target="../tags/tag577.xml"/><Relationship Id="rId4" Type="http://schemas.openxmlformats.org/officeDocument/2006/relationships/tags" Target="../tags/tag562.xml"/><Relationship Id="rId9" Type="http://schemas.openxmlformats.org/officeDocument/2006/relationships/tags" Target="../tags/tag567.xml"/><Relationship Id="rId14" Type="http://schemas.openxmlformats.org/officeDocument/2006/relationships/tags" Target="../tags/tag572.xml"/><Relationship Id="rId22" Type="http://schemas.openxmlformats.org/officeDocument/2006/relationships/tags" Target="../tags/tag580.xml"/></Relationships>
</file>

<file path=ppt/slides/_rels/slide180.xml.rels><?xml version="1.0" encoding="UTF-8" standalone="yes"?>
<Relationships xmlns="http://schemas.openxmlformats.org/package/2006/relationships"><Relationship Id="rId8" Type="http://schemas.openxmlformats.org/officeDocument/2006/relationships/tags" Target="../tags/tag591.xml"/><Relationship Id="rId3" Type="http://schemas.openxmlformats.org/officeDocument/2006/relationships/tags" Target="../tags/tag586.xml"/><Relationship Id="rId7" Type="http://schemas.openxmlformats.org/officeDocument/2006/relationships/tags" Target="../tags/tag590.xml"/><Relationship Id="rId2" Type="http://schemas.openxmlformats.org/officeDocument/2006/relationships/tags" Target="../tags/tag585.xml"/><Relationship Id="rId1" Type="http://schemas.openxmlformats.org/officeDocument/2006/relationships/tags" Target="../tags/tag584.xml"/><Relationship Id="rId6" Type="http://schemas.openxmlformats.org/officeDocument/2006/relationships/tags" Target="../tags/tag589.xml"/><Relationship Id="rId11" Type="http://schemas.openxmlformats.org/officeDocument/2006/relationships/slideLayout" Target="../slideLayouts/slideLayout28.xml"/><Relationship Id="rId5" Type="http://schemas.openxmlformats.org/officeDocument/2006/relationships/tags" Target="../tags/tag588.xml"/><Relationship Id="rId10" Type="http://schemas.openxmlformats.org/officeDocument/2006/relationships/tags" Target="../tags/tag593.xml"/><Relationship Id="rId4" Type="http://schemas.openxmlformats.org/officeDocument/2006/relationships/tags" Target="../tags/tag587.xml"/><Relationship Id="rId9" Type="http://schemas.openxmlformats.org/officeDocument/2006/relationships/tags" Target="../tags/tag592.xml"/></Relationships>
</file>

<file path=ppt/slides/_rels/slide181.xml.rels><?xml version="1.0" encoding="UTF-8" standalone="yes"?>
<Relationships xmlns="http://schemas.openxmlformats.org/package/2006/relationships"><Relationship Id="rId8" Type="http://schemas.openxmlformats.org/officeDocument/2006/relationships/tags" Target="../tags/tag601.xml"/><Relationship Id="rId13" Type="http://schemas.openxmlformats.org/officeDocument/2006/relationships/tags" Target="../tags/tag606.xml"/><Relationship Id="rId3" Type="http://schemas.openxmlformats.org/officeDocument/2006/relationships/tags" Target="../tags/tag596.xml"/><Relationship Id="rId7" Type="http://schemas.openxmlformats.org/officeDocument/2006/relationships/tags" Target="../tags/tag600.xml"/><Relationship Id="rId12" Type="http://schemas.openxmlformats.org/officeDocument/2006/relationships/tags" Target="../tags/tag605.xml"/><Relationship Id="rId2" Type="http://schemas.openxmlformats.org/officeDocument/2006/relationships/tags" Target="../tags/tag595.xml"/><Relationship Id="rId1" Type="http://schemas.openxmlformats.org/officeDocument/2006/relationships/tags" Target="../tags/tag594.xml"/><Relationship Id="rId6" Type="http://schemas.openxmlformats.org/officeDocument/2006/relationships/tags" Target="../tags/tag599.xml"/><Relationship Id="rId11" Type="http://schemas.openxmlformats.org/officeDocument/2006/relationships/tags" Target="../tags/tag604.xml"/><Relationship Id="rId5" Type="http://schemas.openxmlformats.org/officeDocument/2006/relationships/tags" Target="../tags/tag598.xml"/><Relationship Id="rId10" Type="http://schemas.openxmlformats.org/officeDocument/2006/relationships/tags" Target="../tags/tag603.xml"/><Relationship Id="rId4" Type="http://schemas.openxmlformats.org/officeDocument/2006/relationships/tags" Target="../tags/tag597.xml"/><Relationship Id="rId9" Type="http://schemas.openxmlformats.org/officeDocument/2006/relationships/tags" Target="../tags/tag602.xml"/><Relationship Id="rId14" Type="http://schemas.openxmlformats.org/officeDocument/2006/relationships/slideLayout" Target="../slideLayouts/slideLayout28.xml"/></Relationships>
</file>

<file path=ppt/slides/_rels/slide182.xml.rels><?xml version="1.0" encoding="UTF-8" standalone="yes"?>
<Relationships xmlns="http://schemas.openxmlformats.org/package/2006/relationships"><Relationship Id="rId8" Type="http://schemas.openxmlformats.org/officeDocument/2006/relationships/tags" Target="../tags/tag614.xml"/><Relationship Id="rId13" Type="http://schemas.openxmlformats.org/officeDocument/2006/relationships/tags" Target="../tags/tag619.xml"/><Relationship Id="rId3" Type="http://schemas.openxmlformats.org/officeDocument/2006/relationships/tags" Target="../tags/tag609.xml"/><Relationship Id="rId7" Type="http://schemas.openxmlformats.org/officeDocument/2006/relationships/tags" Target="../tags/tag613.xml"/><Relationship Id="rId12" Type="http://schemas.openxmlformats.org/officeDocument/2006/relationships/tags" Target="../tags/tag618.xml"/><Relationship Id="rId2" Type="http://schemas.openxmlformats.org/officeDocument/2006/relationships/tags" Target="../tags/tag608.xml"/><Relationship Id="rId1" Type="http://schemas.openxmlformats.org/officeDocument/2006/relationships/tags" Target="../tags/tag607.xml"/><Relationship Id="rId6" Type="http://schemas.openxmlformats.org/officeDocument/2006/relationships/tags" Target="../tags/tag612.xml"/><Relationship Id="rId11" Type="http://schemas.openxmlformats.org/officeDocument/2006/relationships/tags" Target="../tags/tag617.xml"/><Relationship Id="rId5" Type="http://schemas.openxmlformats.org/officeDocument/2006/relationships/tags" Target="../tags/tag611.xml"/><Relationship Id="rId10" Type="http://schemas.openxmlformats.org/officeDocument/2006/relationships/tags" Target="../tags/tag616.xml"/><Relationship Id="rId4" Type="http://schemas.openxmlformats.org/officeDocument/2006/relationships/tags" Target="../tags/tag610.xml"/><Relationship Id="rId9" Type="http://schemas.openxmlformats.org/officeDocument/2006/relationships/tags" Target="../tags/tag615.xml"/><Relationship Id="rId14" Type="http://schemas.openxmlformats.org/officeDocument/2006/relationships/slideLayout" Target="../slideLayouts/slideLayout28.xml"/></Relationships>
</file>

<file path=ppt/slides/_rels/slide183.xml.rels><?xml version="1.0" encoding="UTF-8" standalone="yes"?>
<Relationships xmlns="http://schemas.openxmlformats.org/package/2006/relationships"><Relationship Id="rId8" Type="http://schemas.openxmlformats.org/officeDocument/2006/relationships/tags" Target="../tags/tag627.xml"/><Relationship Id="rId3" Type="http://schemas.openxmlformats.org/officeDocument/2006/relationships/tags" Target="../tags/tag622.xml"/><Relationship Id="rId7" Type="http://schemas.openxmlformats.org/officeDocument/2006/relationships/tags" Target="../tags/tag626.xml"/><Relationship Id="rId2" Type="http://schemas.openxmlformats.org/officeDocument/2006/relationships/tags" Target="../tags/tag621.xml"/><Relationship Id="rId1" Type="http://schemas.openxmlformats.org/officeDocument/2006/relationships/tags" Target="../tags/tag620.xml"/><Relationship Id="rId6" Type="http://schemas.openxmlformats.org/officeDocument/2006/relationships/tags" Target="../tags/tag625.xml"/><Relationship Id="rId11" Type="http://schemas.openxmlformats.org/officeDocument/2006/relationships/slideLayout" Target="../slideLayouts/slideLayout28.xml"/><Relationship Id="rId5" Type="http://schemas.openxmlformats.org/officeDocument/2006/relationships/tags" Target="../tags/tag624.xml"/><Relationship Id="rId10" Type="http://schemas.openxmlformats.org/officeDocument/2006/relationships/tags" Target="../tags/tag629.xml"/><Relationship Id="rId4" Type="http://schemas.openxmlformats.org/officeDocument/2006/relationships/tags" Target="../tags/tag623.xml"/><Relationship Id="rId9" Type="http://schemas.openxmlformats.org/officeDocument/2006/relationships/tags" Target="../tags/tag628.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85.xml.rels><?xml version="1.0" encoding="UTF-8" standalone="yes"?>
<Relationships xmlns="http://schemas.openxmlformats.org/package/2006/relationships"><Relationship Id="rId8" Type="http://schemas.openxmlformats.org/officeDocument/2006/relationships/diagramLayout" Target="../diagrams/layout30.xml"/><Relationship Id="rId13" Type="http://schemas.openxmlformats.org/officeDocument/2006/relationships/diagramLayout" Target="../diagrams/layout31.xml"/><Relationship Id="rId18" Type="http://schemas.openxmlformats.org/officeDocument/2006/relationships/diagramLayout" Target="../diagrams/layout32.xml"/><Relationship Id="rId3" Type="http://schemas.openxmlformats.org/officeDocument/2006/relationships/diagramLayout" Target="../diagrams/layout29.xml"/><Relationship Id="rId21" Type="http://schemas.microsoft.com/office/2007/relationships/diagramDrawing" Target="../diagrams/drawing32.xml"/><Relationship Id="rId7" Type="http://schemas.openxmlformats.org/officeDocument/2006/relationships/diagramData" Target="../diagrams/data30.xml"/><Relationship Id="rId12" Type="http://schemas.openxmlformats.org/officeDocument/2006/relationships/diagramData" Target="../diagrams/data31.xml"/><Relationship Id="rId17" Type="http://schemas.openxmlformats.org/officeDocument/2006/relationships/diagramData" Target="../diagrams/data32.xml"/><Relationship Id="rId2" Type="http://schemas.openxmlformats.org/officeDocument/2006/relationships/diagramData" Target="../diagrams/data29.xml"/><Relationship Id="rId16" Type="http://schemas.microsoft.com/office/2007/relationships/diagramDrawing" Target="../diagrams/drawing31.xml"/><Relationship Id="rId20" Type="http://schemas.openxmlformats.org/officeDocument/2006/relationships/diagramColors" Target="../diagrams/colors32.xml"/><Relationship Id="rId1" Type="http://schemas.openxmlformats.org/officeDocument/2006/relationships/slideLayout" Target="../slideLayouts/slideLayout28.xml"/><Relationship Id="rId6" Type="http://schemas.microsoft.com/office/2007/relationships/diagramDrawing" Target="../diagrams/drawing29.xml"/><Relationship Id="rId11" Type="http://schemas.microsoft.com/office/2007/relationships/diagramDrawing" Target="../diagrams/drawing30.xml"/><Relationship Id="rId5" Type="http://schemas.openxmlformats.org/officeDocument/2006/relationships/diagramColors" Target="../diagrams/colors29.xml"/><Relationship Id="rId15" Type="http://schemas.openxmlformats.org/officeDocument/2006/relationships/diagramColors" Target="../diagrams/colors31.xml"/><Relationship Id="rId10" Type="http://schemas.openxmlformats.org/officeDocument/2006/relationships/diagramColors" Target="../diagrams/colors30.xml"/><Relationship Id="rId19" Type="http://schemas.openxmlformats.org/officeDocument/2006/relationships/diagramQuickStyle" Target="../diagrams/quickStyle32.xml"/><Relationship Id="rId4" Type="http://schemas.openxmlformats.org/officeDocument/2006/relationships/diagramQuickStyle" Target="../diagrams/quickStyle29.xml"/><Relationship Id="rId9" Type="http://schemas.openxmlformats.org/officeDocument/2006/relationships/diagramQuickStyle" Target="../diagrams/quickStyle30.xml"/><Relationship Id="rId14" Type="http://schemas.openxmlformats.org/officeDocument/2006/relationships/diagramQuickStyle" Target="../diagrams/quickStyle31.xml"/></Relationships>
</file>

<file path=ppt/slides/_rels/slide186.xml.rels><?xml version="1.0" encoding="UTF-8" standalone="yes"?>
<Relationships xmlns="http://schemas.openxmlformats.org/package/2006/relationships"><Relationship Id="rId3" Type="http://schemas.openxmlformats.org/officeDocument/2006/relationships/diagramLayout" Target="../diagrams/layout33.xml"/><Relationship Id="rId2" Type="http://schemas.openxmlformats.org/officeDocument/2006/relationships/diagramData" Target="../diagrams/data33.xml"/><Relationship Id="rId1" Type="http://schemas.openxmlformats.org/officeDocument/2006/relationships/slideLayout" Target="../slideLayouts/slideLayout28.xml"/><Relationship Id="rId6" Type="http://schemas.microsoft.com/office/2007/relationships/diagramDrawing" Target="../diagrams/drawing33.xml"/><Relationship Id="rId5" Type="http://schemas.openxmlformats.org/officeDocument/2006/relationships/diagramColors" Target="../diagrams/colors33.xml"/><Relationship Id="rId4" Type="http://schemas.openxmlformats.org/officeDocument/2006/relationships/diagramQuickStyle" Target="../diagrams/quickStyle33.xml"/></Relationships>
</file>

<file path=ppt/slides/_rels/slide187.xml.rels><?xml version="1.0" encoding="UTF-8" standalone="yes"?>
<Relationships xmlns="http://schemas.openxmlformats.org/package/2006/relationships"><Relationship Id="rId8" Type="http://schemas.openxmlformats.org/officeDocument/2006/relationships/tags" Target="../tags/tag637.xml"/><Relationship Id="rId13" Type="http://schemas.openxmlformats.org/officeDocument/2006/relationships/tags" Target="../tags/tag642.xml"/><Relationship Id="rId18" Type="http://schemas.openxmlformats.org/officeDocument/2006/relationships/tags" Target="../tags/tag647.xml"/><Relationship Id="rId3" Type="http://schemas.openxmlformats.org/officeDocument/2006/relationships/tags" Target="../tags/tag632.xml"/><Relationship Id="rId7" Type="http://schemas.openxmlformats.org/officeDocument/2006/relationships/tags" Target="../tags/tag636.xml"/><Relationship Id="rId12" Type="http://schemas.openxmlformats.org/officeDocument/2006/relationships/tags" Target="../tags/tag641.xml"/><Relationship Id="rId17" Type="http://schemas.openxmlformats.org/officeDocument/2006/relationships/tags" Target="../tags/tag646.xml"/><Relationship Id="rId2" Type="http://schemas.openxmlformats.org/officeDocument/2006/relationships/tags" Target="../tags/tag631.xml"/><Relationship Id="rId16" Type="http://schemas.openxmlformats.org/officeDocument/2006/relationships/tags" Target="../tags/tag645.xml"/><Relationship Id="rId1" Type="http://schemas.openxmlformats.org/officeDocument/2006/relationships/tags" Target="../tags/tag630.xml"/><Relationship Id="rId6" Type="http://schemas.openxmlformats.org/officeDocument/2006/relationships/tags" Target="../tags/tag635.xml"/><Relationship Id="rId11" Type="http://schemas.openxmlformats.org/officeDocument/2006/relationships/tags" Target="../tags/tag640.xml"/><Relationship Id="rId5" Type="http://schemas.openxmlformats.org/officeDocument/2006/relationships/tags" Target="../tags/tag634.xml"/><Relationship Id="rId15" Type="http://schemas.openxmlformats.org/officeDocument/2006/relationships/tags" Target="../tags/tag644.xml"/><Relationship Id="rId10" Type="http://schemas.openxmlformats.org/officeDocument/2006/relationships/tags" Target="../tags/tag639.xml"/><Relationship Id="rId19" Type="http://schemas.openxmlformats.org/officeDocument/2006/relationships/slideLayout" Target="../slideLayouts/slideLayout28.xml"/><Relationship Id="rId4" Type="http://schemas.openxmlformats.org/officeDocument/2006/relationships/tags" Target="../tags/tag633.xml"/><Relationship Id="rId9" Type="http://schemas.openxmlformats.org/officeDocument/2006/relationships/tags" Target="../tags/tag638.xml"/><Relationship Id="rId14" Type="http://schemas.openxmlformats.org/officeDocument/2006/relationships/tags" Target="../tags/tag643.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9.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82.xml"/></Relationships>
</file>

<file path=ppt/slides/_rels/slide190.xml.rels><?xml version="1.0" encoding="UTF-8" standalone="yes"?>
<Relationships xmlns="http://schemas.openxmlformats.org/package/2006/relationships"><Relationship Id="rId8" Type="http://schemas.openxmlformats.org/officeDocument/2006/relationships/tags" Target="../tags/tag655.xml"/><Relationship Id="rId13" Type="http://schemas.openxmlformats.org/officeDocument/2006/relationships/tags" Target="../tags/tag660.xml"/><Relationship Id="rId3" Type="http://schemas.openxmlformats.org/officeDocument/2006/relationships/tags" Target="../tags/tag650.xml"/><Relationship Id="rId7" Type="http://schemas.openxmlformats.org/officeDocument/2006/relationships/tags" Target="../tags/tag654.xml"/><Relationship Id="rId12" Type="http://schemas.openxmlformats.org/officeDocument/2006/relationships/tags" Target="../tags/tag659.xml"/><Relationship Id="rId2" Type="http://schemas.openxmlformats.org/officeDocument/2006/relationships/tags" Target="../tags/tag649.xml"/><Relationship Id="rId1" Type="http://schemas.openxmlformats.org/officeDocument/2006/relationships/tags" Target="../tags/tag648.xml"/><Relationship Id="rId6" Type="http://schemas.openxmlformats.org/officeDocument/2006/relationships/tags" Target="../tags/tag653.xml"/><Relationship Id="rId11" Type="http://schemas.openxmlformats.org/officeDocument/2006/relationships/tags" Target="../tags/tag658.xml"/><Relationship Id="rId5" Type="http://schemas.openxmlformats.org/officeDocument/2006/relationships/tags" Target="../tags/tag652.xml"/><Relationship Id="rId10" Type="http://schemas.openxmlformats.org/officeDocument/2006/relationships/tags" Target="../tags/tag657.xml"/><Relationship Id="rId4" Type="http://schemas.openxmlformats.org/officeDocument/2006/relationships/tags" Target="../tags/tag651.xml"/><Relationship Id="rId9" Type="http://schemas.openxmlformats.org/officeDocument/2006/relationships/tags" Target="../tags/tag656.xml"/><Relationship Id="rId14" Type="http://schemas.openxmlformats.org/officeDocument/2006/relationships/slideLayout" Target="../slideLayouts/slideLayout82.xml"/></Relationships>
</file>

<file path=ppt/slides/_rels/slide191.xml.rels><?xml version="1.0" encoding="UTF-8" standalone="yes"?>
<Relationships xmlns="http://schemas.openxmlformats.org/package/2006/relationships"><Relationship Id="rId8" Type="http://schemas.openxmlformats.org/officeDocument/2006/relationships/tags" Target="../tags/tag668.xml"/><Relationship Id="rId13" Type="http://schemas.openxmlformats.org/officeDocument/2006/relationships/tags" Target="../tags/tag673.xml"/><Relationship Id="rId18" Type="http://schemas.openxmlformats.org/officeDocument/2006/relationships/tags" Target="../tags/tag678.xml"/><Relationship Id="rId3" Type="http://schemas.openxmlformats.org/officeDocument/2006/relationships/tags" Target="../tags/tag663.xml"/><Relationship Id="rId21" Type="http://schemas.openxmlformats.org/officeDocument/2006/relationships/tags" Target="../tags/tag681.xml"/><Relationship Id="rId7" Type="http://schemas.openxmlformats.org/officeDocument/2006/relationships/tags" Target="../tags/tag667.xml"/><Relationship Id="rId12" Type="http://schemas.openxmlformats.org/officeDocument/2006/relationships/tags" Target="../tags/tag672.xml"/><Relationship Id="rId17" Type="http://schemas.openxmlformats.org/officeDocument/2006/relationships/tags" Target="../tags/tag677.xml"/><Relationship Id="rId2" Type="http://schemas.openxmlformats.org/officeDocument/2006/relationships/tags" Target="../tags/tag662.xml"/><Relationship Id="rId16" Type="http://schemas.openxmlformats.org/officeDocument/2006/relationships/tags" Target="../tags/tag676.xml"/><Relationship Id="rId20" Type="http://schemas.openxmlformats.org/officeDocument/2006/relationships/tags" Target="../tags/tag680.xml"/><Relationship Id="rId1" Type="http://schemas.openxmlformats.org/officeDocument/2006/relationships/tags" Target="../tags/tag661.xml"/><Relationship Id="rId6" Type="http://schemas.openxmlformats.org/officeDocument/2006/relationships/tags" Target="../tags/tag666.xml"/><Relationship Id="rId11" Type="http://schemas.openxmlformats.org/officeDocument/2006/relationships/tags" Target="../tags/tag671.xml"/><Relationship Id="rId5" Type="http://schemas.openxmlformats.org/officeDocument/2006/relationships/tags" Target="../tags/tag665.xml"/><Relationship Id="rId15" Type="http://schemas.openxmlformats.org/officeDocument/2006/relationships/tags" Target="../tags/tag675.xml"/><Relationship Id="rId10" Type="http://schemas.openxmlformats.org/officeDocument/2006/relationships/tags" Target="../tags/tag670.xml"/><Relationship Id="rId19" Type="http://schemas.openxmlformats.org/officeDocument/2006/relationships/tags" Target="../tags/tag679.xml"/><Relationship Id="rId4" Type="http://schemas.openxmlformats.org/officeDocument/2006/relationships/tags" Target="../tags/tag664.xml"/><Relationship Id="rId9" Type="http://schemas.openxmlformats.org/officeDocument/2006/relationships/tags" Target="../tags/tag669.xml"/><Relationship Id="rId14" Type="http://schemas.openxmlformats.org/officeDocument/2006/relationships/tags" Target="../tags/tag674.xml"/><Relationship Id="rId22" Type="http://schemas.openxmlformats.org/officeDocument/2006/relationships/slideLayout" Target="../slideLayouts/slideLayout82.xml"/></Relationships>
</file>

<file path=ppt/slides/_rels/slide192.xml.rels><?xml version="1.0" encoding="UTF-8" standalone="yes"?>
<Relationships xmlns="http://schemas.openxmlformats.org/package/2006/relationships"><Relationship Id="rId8" Type="http://schemas.openxmlformats.org/officeDocument/2006/relationships/slideLayout" Target="../slideLayouts/slideLayout82.xml"/><Relationship Id="rId3" Type="http://schemas.openxmlformats.org/officeDocument/2006/relationships/tags" Target="../tags/tag684.xml"/><Relationship Id="rId7" Type="http://schemas.openxmlformats.org/officeDocument/2006/relationships/tags" Target="../tags/tag688.xml"/><Relationship Id="rId2" Type="http://schemas.openxmlformats.org/officeDocument/2006/relationships/tags" Target="../tags/tag683.xml"/><Relationship Id="rId1" Type="http://schemas.openxmlformats.org/officeDocument/2006/relationships/tags" Target="../tags/tag682.xml"/><Relationship Id="rId6" Type="http://schemas.openxmlformats.org/officeDocument/2006/relationships/tags" Target="../tags/tag687.xml"/><Relationship Id="rId5" Type="http://schemas.openxmlformats.org/officeDocument/2006/relationships/tags" Target="../tags/tag686.xml"/><Relationship Id="rId10" Type="http://schemas.openxmlformats.org/officeDocument/2006/relationships/image" Target="../media/image48.svg"/><Relationship Id="rId4" Type="http://schemas.openxmlformats.org/officeDocument/2006/relationships/tags" Target="../tags/tag685.xml"/><Relationship Id="rId9" Type="http://schemas.openxmlformats.org/officeDocument/2006/relationships/image" Target="../media/image47.png"/></Relationships>
</file>

<file path=ppt/slides/_rels/slide193.xml.rels><?xml version="1.0" encoding="UTF-8" standalone="yes"?>
<Relationships xmlns="http://schemas.openxmlformats.org/package/2006/relationships"><Relationship Id="rId8" Type="http://schemas.openxmlformats.org/officeDocument/2006/relationships/tags" Target="../tags/tag696.xml"/><Relationship Id="rId13" Type="http://schemas.openxmlformats.org/officeDocument/2006/relationships/tags" Target="../tags/tag701.xml"/><Relationship Id="rId18" Type="http://schemas.openxmlformats.org/officeDocument/2006/relationships/slideLayout" Target="../slideLayouts/slideLayout82.xml"/><Relationship Id="rId3" Type="http://schemas.openxmlformats.org/officeDocument/2006/relationships/tags" Target="../tags/tag691.xml"/><Relationship Id="rId7" Type="http://schemas.openxmlformats.org/officeDocument/2006/relationships/tags" Target="../tags/tag695.xml"/><Relationship Id="rId12" Type="http://schemas.openxmlformats.org/officeDocument/2006/relationships/tags" Target="../tags/tag700.xml"/><Relationship Id="rId17" Type="http://schemas.openxmlformats.org/officeDocument/2006/relationships/tags" Target="../tags/tag705.xml"/><Relationship Id="rId2" Type="http://schemas.openxmlformats.org/officeDocument/2006/relationships/tags" Target="../tags/tag690.xml"/><Relationship Id="rId16" Type="http://schemas.openxmlformats.org/officeDocument/2006/relationships/tags" Target="../tags/tag704.xml"/><Relationship Id="rId1" Type="http://schemas.openxmlformats.org/officeDocument/2006/relationships/tags" Target="../tags/tag689.xml"/><Relationship Id="rId6" Type="http://schemas.openxmlformats.org/officeDocument/2006/relationships/tags" Target="../tags/tag694.xml"/><Relationship Id="rId11" Type="http://schemas.openxmlformats.org/officeDocument/2006/relationships/tags" Target="../tags/tag699.xml"/><Relationship Id="rId5" Type="http://schemas.openxmlformats.org/officeDocument/2006/relationships/tags" Target="../tags/tag693.xml"/><Relationship Id="rId15" Type="http://schemas.openxmlformats.org/officeDocument/2006/relationships/tags" Target="../tags/tag703.xml"/><Relationship Id="rId10" Type="http://schemas.openxmlformats.org/officeDocument/2006/relationships/tags" Target="../tags/tag698.xml"/><Relationship Id="rId4" Type="http://schemas.openxmlformats.org/officeDocument/2006/relationships/tags" Target="../tags/tag692.xml"/><Relationship Id="rId9" Type="http://schemas.openxmlformats.org/officeDocument/2006/relationships/tags" Target="../tags/tag697.xml"/><Relationship Id="rId14" Type="http://schemas.openxmlformats.org/officeDocument/2006/relationships/tags" Target="../tags/tag702.xml"/></Relationships>
</file>

<file path=ppt/slides/_rels/slide194.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ags" Target="../tags/tag706.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196.xml.rels><?xml version="1.0" encoding="UTF-8" standalone="yes"?>
<Relationships xmlns="http://schemas.openxmlformats.org/package/2006/relationships"><Relationship Id="rId2" Type="http://schemas.openxmlformats.org/officeDocument/2006/relationships/image" Target="../media/image78.png"/><Relationship Id="rId1" Type="http://schemas.openxmlformats.org/officeDocument/2006/relationships/slideLayout" Target="../slideLayouts/slideLayout35.xml"/></Relationships>
</file>

<file path=ppt/slides/_rels/slide197.xml.rels><?xml version="1.0" encoding="UTF-8" standalone="yes"?>
<Relationships xmlns="http://schemas.openxmlformats.org/package/2006/relationships"><Relationship Id="rId8" Type="http://schemas.openxmlformats.org/officeDocument/2006/relationships/tags" Target="../tags/tag714.xml"/><Relationship Id="rId13" Type="http://schemas.openxmlformats.org/officeDocument/2006/relationships/notesSlide" Target="../notesSlides/notesSlide19.xml"/><Relationship Id="rId3" Type="http://schemas.openxmlformats.org/officeDocument/2006/relationships/tags" Target="../tags/tag709.xml"/><Relationship Id="rId7" Type="http://schemas.openxmlformats.org/officeDocument/2006/relationships/tags" Target="../tags/tag713.xml"/><Relationship Id="rId12" Type="http://schemas.openxmlformats.org/officeDocument/2006/relationships/slideLayout" Target="../slideLayouts/slideLayout35.xml"/><Relationship Id="rId17" Type="http://schemas.openxmlformats.org/officeDocument/2006/relationships/image" Target="../media/image82.svg"/><Relationship Id="rId2" Type="http://schemas.openxmlformats.org/officeDocument/2006/relationships/tags" Target="../tags/tag708.xml"/><Relationship Id="rId16" Type="http://schemas.openxmlformats.org/officeDocument/2006/relationships/image" Target="../media/image81.png"/><Relationship Id="rId1" Type="http://schemas.openxmlformats.org/officeDocument/2006/relationships/tags" Target="../tags/tag707.xml"/><Relationship Id="rId6" Type="http://schemas.openxmlformats.org/officeDocument/2006/relationships/tags" Target="../tags/tag712.xml"/><Relationship Id="rId11" Type="http://schemas.openxmlformats.org/officeDocument/2006/relationships/tags" Target="../tags/tag717.xml"/><Relationship Id="rId5" Type="http://schemas.openxmlformats.org/officeDocument/2006/relationships/tags" Target="../tags/tag711.xml"/><Relationship Id="rId15" Type="http://schemas.openxmlformats.org/officeDocument/2006/relationships/image" Target="../media/image80.svg"/><Relationship Id="rId10" Type="http://schemas.openxmlformats.org/officeDocument/2006/relationships/tags" Target="../tags/tag716.xml"/><Relationship Id="rId4" Type="http://schemas.openxmlformats.org/officeDocument/2006/relationships/tags" Target="../tags/tag710.xml"/><Relationship Id="rId9" Type="http://schemas.openxmlformats.org/officeDocument/2006/relationships/tags" Target="../tags/tag715.xml"/><Relationship Id="rId14" Type="http://schemas.openxmlformats.org/officeDocument/2006/relationships/image" Target="../media/image79.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02.xml.rels><?xml version="1.0" encoding="UTF-8" standalone="yes"?>
<Relationships xmlns="http://schemas.openxmlformats.org/package/2006/relationships"><Relationship Id="rId3" Type="http://schemas.openxmlformats.org/officeDocument/2006/relationships/diagramLayout" Target="../diagrams/layout34.xml"/><Relationship Id="rId2" Type="http://schemas.openxmlformats.org/officeDocument/2006/relationships/diagramData" Target="../diagrams/data34.xml"/><Relationship Id="rId1" Type="http://schemas.openxmlformats.org/officeDocument/2006/relationships/slideLayout" Target="../slideLayouts/slideLayout35.xml"/><Relationship Id="rId6" Type="http://schemas.microsoft.com/office/2007/relationships/diagramDrawing" Target="../diagrams/drawing34.xml"/><Relationship Id="rId5" Type="http://schemas.openxmlformats.org/officeDocument/2006/relationships/diagramColors" Target="../diagrams/colors34.xml"/><Relationship Id="rId4" Type="http://schemas.openxmlformats.org/officeDocument/2006/relationships/diagramQuickStyle" Target="../diagrams/quickStyle34.xml"/></Relationships>
</file>

<file path=ppt/slides/_rels/slide203.xml.rels><?xml version="1.0" encoding="UTF-8" standalone="yes"?>
<Relationships xmlns="http://schemas.openxmlformats.org/package/2006/relationships"><Relationship Id="rId8" Type="http://schemas.openxmlformats.org/officeDocument/2006/relationships/tags" Target="../tags/tag725.xml"/><Relationship Id="rId3" Type="http://schemas.openxmlformats.org/officeDocument/2006/relationships/tags" Target="../tags/tag720.xml"/><Relationship Id="rId7" Type="http://schemas.openxmlformats.org/officeDocument/2006/relationships/tags" Target="../tags/tag724.xml"/><Relationship Id="rId12" Type="http://schemas.openxmlformats.org/officeDocument/2006/relationships/slideLayout" Target="../slideLayouts/slideLayout35.xml"/><Relationship Id="rId2" Type="http://schemas.openxmlformats.org/officeDocument/2006/relationships/tags" Target="../tags/tag719.xml"/><Relationship Id="rId1" Type="http://schemas.openxmlformats.org/officeDocument/2006/relationships/tags" Target="../tags/tag718.xml"/><Relationship Id="rId6" Type="http://schemas.openxmlformats.org/officeDocument/2006/relationships/tags" Target="../tags/tag723.xml"/><Relationship Id="rId11" Type="http://schemas.openxmlformats.org/officeDocument/2006/relationships/tags" Target="../tags/tag728.xml"/><Relationship Id="rId5" Type="http://schemas.openxmlformats.org/officeDocument/2006/relationships/tags" Target="../tags/tag722.xml"/><Relationship Id="rId10" Type="http://schemas.openxmlformats.org/officeDocument/2006/relationships/tags" Target="../tags/tag727.xml"/><Relationship Id="rId4" Type="http://schemas.openxmlformats.org/officeDocument/2006/relationships/tags" Target="../tags/tag721.xml"/><Relationship Id="rId9" Type="http://schemas.openxmlformats.org/officeDocument/2006/relationships/tags" Target="../tags/tag726.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205.xml.rels><?xml version="1.0" encoding="UTF-8" standalone="yes"?>
<Relationships xmlns="http://schemas.openxmlformats.org/package/2006/relationships"><Relationship Id="rId8" Type="http://schemas.openxmlformats.org/officeDocument/2006/relationships/tags" Target="../tags/tag736.xml"/><Relationship Id="rId3" Type="http://schemas.openxmlformats.org/officeDocument/2006/relationships/tags" Target="../tags/tag731.xml"/><Relationship Id="rId7" Type="http://schemas.openxmlformats.org/officeDocument/2006/relationships/tags" Target="../tags/tag735.xml"/><Relationship Id="rId12" Type="http://schemas.openxmlformats.org/officeDocument/2006/relationships/notesSlide" Target="../notesSlides/notesSlide20.xml"/><Relationship Id="rId2" Type="http://schemas.openxmlformats.org/officeDocument/2006/relationships/tags" Target="../tags/tag730.xml"/><Relationship Id="rId1" Type="http://schemas.openxmlformats.org/officeDocument/2006/relationships/tags" Target="../tags/tag729.xml"/><Relationship Id="rId6" Type="http://schemas.openxmlformats.org/officeDocument/2006/relationships/tags" Target="../tags/tag734.xml"/><Relationship Id="rId11" Type="http://schemas.openxmlformats.org/officeDocument/2006/relationships/slideLayout" Target="../slideLayouts/slideLayout35.xml"/><Relationship Id="rId5" Type="http://schemas.openxmlformats.org/officeDocument/2006/relationships/tags" Target="../tags/tag733.xml"/><Relationship Id="rId10" Type="http://schemas.openxmlformats.org/officeDocument/2006/relationships/tags" Target="../tags/tag738.xml"/><Relationship Id="rId4" Type="http://schemas.openxmlformats.org/officeDocument/2006/relationships/tags" Target="../tags/tag732.xml"/><Relationship Id="rId9" Type="http://schemas.openxmlformats.org/officeDocument/2006/relationships/tags" Target="../tags/tag737.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07.xml.rels><?xml version="1.0" encoding="UTF-8" standalone="yes"?>
<Relationships xmlns="http://schemas.openxmlformats.org/package/2006/relationships"><Relationship Id="rId3" Type="http://schemas.openxmlformats.org/officeDocument/2006/relationships/tags" Target="../tags/tag741.xml"/><Relationship Id="rId2" Type="http://schemas.openxmlformats.org/officeDocument/2006/relationships/tags" Target="../tags/tag740.xml"/><Relationship Id="rId1" Type="http://schemas.openxmlformats.org/officeDocument/2006/relationships/tags" Target="../tags/tag739.xml"/><Relationship Id="rId6" Type="http://schemas.openxmlformats.org/officeDocument/2006/relationships/slideLayout" Target="../slideLayouts/slideLayout28.xml"/><Relationship Id="rId5" Type="http://schemas.openxmlformats.org/officeDocument/2006/relationships/tags" Target="../tags/tag743.xml"/><Relationship Id="rId4" Type="http://schemas.openxmlformats.org/officeDocument/2006/relationships/tags" Target="../tags/tag74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209.xml.rels><?xml version="1.0" encoding="UTF-8" standalone="yes"?>
<Relationships xmlns="http://schemas.openxmlformats.org/package/2006/relationships"><Relationship Id="rId3" Type="http://schemas.openxmlformats.org/officeDocument/2006/relationships/diagramLayout" Target="../diagrams/layout35.xml"/><Relationship Id="rId2" Type="http://schemas.openxmlformats.org/officeDocument/2006/relationships/diagramData" Target="../diagrams/data35.xml"/><Relationship Id="rId1" Type="http://schemas.openxmlformats.org/officeDocument/2006/relationships/slideLayout" Target="../slideLayouts/slideLayout82.xml"/><Relationship Id="rId6" Type="http://schemas.microsoft.com/office/2007/relationships/diagramDrawing" Target="../diagrams/drawing35.xml"/><Relationship Id="rId5" Type="http://schemas.openxmlformats.org/officeDocument/2006/relationships/diagramColors" Target="../diagrams/colors35.xml"/><Relationship Id="rId4" Type="http://schemas.openxmlformats.org/officeDocument/2006/relationships/diagramQuickStyle" Target="../diagrams/quickStyle35.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F3434335-8A65-8259-F01D-455DCF9E4D21}"/>
              </a:ext>
            </a:extLst>
          </p:cNvPr>
          <p:cNvPicPr>
            <a:picLocks noChangeAspect="1"/>
          </p:cNvPicPr>
          <p:nvPr/>
        </p:nvPicPr>
        <p:blipFill>
          <a:blip r:embed="rId3"/>
          <a:stretch>
            <a:fillRect/>
          </a:stretch>
        </p:blipFill>
        <p:spPr>
          <a:xfrm>
            <a:off x="0" y="0"/>
            <a:ext cx="12149197" cy="6849587"/>
          </a:xfrm>
          <a:prstGeom prst="rect">
            <a:avLst/>
          </a:prstGeom>
        </p:spPr>
      </p:pic>
      <p:sp>
        <p:nvSpPr>
          <p:cNvPr id="4" name="文本占位符 3">
            <a:extLst>
              <a:ext uri="{FF2B5EF4-FFF2-40B4-BE49-F238E27FC236}">
                <a16:creationId xmlns:a16="http://schemas.microsoft.com/office/drawing/2014/main" id="{69AF7472-24BA-6F6F-D22B-107466BBB1FF}"/>
              </a:ext>
            </a:extLst>
          </p:cNvPr>
          <p:cNvSpPr>
            <a:spLocks noGrp="1"/>
          </p:cNvSpPr>
          <p:nvPr>
            <p:ph type="body" sz="quarter" idx="4294967295"/>
          </p:nvPr>
        </p:nvSpPr>
        <p:spPr>
          <a:xfrm>
            <a:off x="86952" y="6389511"/>
            <a:ext cx="2339293" cy="276999"/>
          </a:xfrm>
        </p:spPr>
        <p:txBody>
          <a:bodyPr>
            <a:noAutofit/>
          </a:bodyPr>
          <a:lstStyle/>
          <a:p>
            <a:pPr marL="0" indent="0">
              <a:buNone/>
            </a:pPr>
            <a:r>
              <a:rPr lang="en-US" altLang="zh-CN" sz="1800" b="1" dirty="0">
                <a:latin typeface="Arial" panose="020B0604020202020204" pitchFamily="34" charset="0"/>
                <a:ea typeface="微软雅黑" panose="020B0503020204020204" pitchFamily="34" charset="-122"/>
              </a:rPr>
              <a:t>           Grit Meng</a:t>
            </a:r>
          </a:p>
          <a:p>
            <a:pPr marL="0" indent="0">
              <a:buNone/>
            </a:pPr>
            <a:endParaRPr lang="zh-CN" altLang="en-US" sz="1800" b="1" dirty="0">
              <a:latin typeface="Arial" panose="020B0604020202020204" pitchFamily="34" charset="0"/>
              <a:ea typeface="微软雅黑" panose="020B0503020204020204" pitchFamily="34" charset="-122"/>
            </a:endParaRPr>
          </a:p>
        </p:txBody>
      </p:sp>
      <p:sp>
        <p:nvSpPr>
          <p:cNvPr id="2" name="标题 1">
            <a:extLst>
              <a:ext uri="{FF2B5EF4-FFF2-40B4-BE49-F238E27FC236}">
                <a16:creationId xmlns:a16="http://schemas.microsoft.com/office/drawing/2014/main" id="{8513C5AC-FE5E-B5A1-B068-184E6F32308B}"/>
              </a:ext>
            </a:extLst>
          </p:cNvPr>
          <p:cNvSpPr>
            <a:spLocks noGrp="1"/>
          </p:cNvSpPr>
          <p:nvPr>
            <p:ph type="ctrTitle"/>
          </p:nvPr>
        </p:nvSpPr>
        <p:spPr>
          <a:xfrm>
            <a:off x="955380" y="3888534"/>
            <a:ext cx="10703529" cy="2587173"/>
          </a:xfrm>
        </p:spPr>
        <p:txBody>
          <a:bodyPr>
            <a:noAutofit/>
          </a:bodyPr>
          <a:lstStyle/>
          <a:p>
            <a:r>
              <a:rPr lang="zh-CN" altLang="en-US" sz="4000" dirty="0">
                <a:latin typeface="+mj-ea"/>
              </a:rPr>
              <a:t>智能计划与控制 </a:t>
            </a:r>
            <a:r>
              <a:rPr lang="en-US" altLang="zh-CN" sz="4000" dirty="0">
                <a:latin typeface="+mj-ea"/>
              </a:rPr>
              <a:t>(IPC)</a:t>
            </a:r>
            <a:r>
              <a:rPr lang="zh-CN" altLang="en-US" sz="4000" dirty="0">
                <a:latin typeface="+mj-ea"/>
              </a:rPr>
              <a:t>：</a:t>
            </a:r>
            <a:br>
              <a:rPr lang="en-US" altLang="zh-CN" sz="4000" dirty="0">
                <a:latin typeface="+mj-ea"/>
              </a:rPr>
            </a:br>
            <a:r>
              <a:rPr lang="zh-CN" altLang="en-US" sz="4000" dirty="0">
                <a:latin typeface="+mj-ea"/>
              </a:rPr>
              <a:t>不确定时代的“确定性”引擎</a:t>
            </a:r>
            <a:br>
              <a:rPr lang="en-US" altLang="zh-CN" sz="3600" dirty="0">
                <a:latin typeface="+mj-ea"/>
              </a:rPr>
            </a:br>
            <a:br>
              <a:rPr lang="en-US" altLang="zh-CN" sz="3600" dirty="0">
                <a:latin typeface="+mj-ea"/>
              </a:rPr>
            </a:br>
            <a:r>
              <a:rPr lang="en-US" altLang="zh-CN" sz="3600" dirty="0">
                <a:latin typeface="+mj-ea"/>
              </a:rPr>
              <a:t>——</a:t>
            </a:r>
            <a:r>
              <a:rPr lang="zh-CN" altLang="en-US" sz="2800" dirty="0"/>
              <a:t>从供应链成本中心到企业价值中枢的范式革命</a:t>
            </a:r>
            <a:endParaRPr lang="zh-CN" altLang="en-US" sz="9600" dirty="0">
              <a:latin typeface="+mj-ea"/>
            </a:endParaRPr>
          </a:p>
        </p:txBody>
      </p:sp>
    </p:spTree>
    <p:extLst>
      <p:ext uri="{BB962C8B-B14F-4D97-AF65-F5344CB8AC3E}">
        <p14:creationId xmlns:p14="http://schemas.microsoft.com/office/powerpoint/2010/main" val="55096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AD9EFB77-CECC-BFE8-D52B-D8C455443FE3}"/>
              </a:ext>
            </a:extLst>
          </p:cNvPr>
          <p:cNvSpPr>
            <a:spLocks noGrp="1"/>
          </p:cNvSpPr>
          <p:nvPr>
            <p:ph type="title"/>
          </p:nvPr>
        </p:nvSpPr>
        <p:spPr/>
        <p:txBody>
          <a:bodyPr/>
          <a:lstStyle/>
          <a:p>
            <a:r>
              <a:rPr lang="zh-CN" altLang="en-US" dirty="0"/>
              <a:t>价值链数字化转型：塑造核心竞争力</a:t>
            </a:r>
          </a:p>
        </p:txBody>
      </p:sp>
      <p:sp>
        <p:nvSpPr>
          <p:cNvPr id="8" name="文本框 7">
            <a:extLst>
              <a:ext uri="{FF2B5EF4-FFF2-40B4-BE49-F238E27FC236}">
                <a16:creationId xmlns:a16="http://schemas.microsoft.com/office/drawing/2014/main" id="{7F4271D7-E5D0-E363-A33A-43B19FC68C28}"/>
              </a:ext>
            </a:extLst>
          </p:cNvPr>
          <p:cNvSpPr txBox="1"/>
          <p:nvPr/>
        </p:nvSpPr>
        <p:spPr>
          <a:xfrm>
            <a:off x="1905404" y="829561"/>
            <a:ext cx="7180229" cy="369332"/>
          </a:xfrm>
          <a:prstGeom prst="rect">
            <a:avLst/>
          </a:prstGeom>
          <a:noFill/>
        </p:spPr>
        <p:txBody>
          <a:bodyPr wrap="square">
            <a:spAutoFit/>
          </a:bodyPr>
          <a:lstStyle/>
          <a:p>
            <a:r>
              <a:rPr lang="zh-CN" altLang="en-US" b="1" i="0" dirty="0">
                <a:effectLst/>
                <a:latin typeface="+mj-ea"/>
                <a:ea typeface="+mj-ea"/>
              </a:rPr>
              <a:t>真正的核心竞争力，必须同时征服“价值的高峰”和“难度的深渊”</a:t>
            </a:r>
            <a:endParaRPr lang="zh-CN" altLang="en-US" dirty="0">
              <a:latin typeface="+mj-ea"/>
              <a:ea typeface="+mj-ea"/>
            </a:endParaRPr>
          </a:p>
        </p:txBody>
      </p:sp>
      <p:pic>
        <p:nvPicPr>
          <p:cNvPr id="9" name="图片 8">
            <a:extLst>
              <a:ext uri="{FF2B5EF4-FFF2-40B4-BE49-F238E27FC236}">
                <a16:creationId xmlns:a16="http://schemas.microsoft.com/office/drawing/2014/main" id="{111EA0E7-7E5D-A9A0-67AF-1BA4A2456984}"/>
              </a:ext>
            </a:extLst>
          </p:cNvPr>
          <p:cNvPicPr>
            <a:picLocks noChangeAspect="1"/>
          </p:cNvPicPr>
          <p:nvPr/>
        </p:nvPicPr>
        <p:blipFill>
          <a:blip r:embed="rId2"/>
          <a:stretch>
            <a:fillRect/>
          </a:stretch>
        </p:blipFill>
        <p:spPr>
          <a:xfrm>
            <a:off x="666347" y="1269457"/>
            <a:ext cx="5000015" cy="5418307"/>
          </a:xfrm>
          <a:prstGeom prst="rect">
            <a:avLst/>
          </a:prstGeom>
        </p:spPr>
      </p:pic>
      <p:graphicFrame>
        <p:nvGraphicFramePr>
          <p:cNvPr id="16" name="图示 15">
            <a:extLst>
              <a:ext uri="{FF2B5EF4-FFF2-40B4-BE49-F238E27FC236}">
                <a16:creationId xmlns:a16="http://schemas.microsoft.com/office/drawing/2014/main" id="{4CBA5FD9-CA0A-5093-943B-8197D6E44504}"/>
              </a:ext>
            </a:extLst>
          </p:cNvPr>
          <p:cNvGraphicFramePr/>
          <p:nvPr>
            <p:extLst>
              <p:ext uri="{D42A27DB-BD31-4B8C-83A1-F6EECF244321}">
                <p14:modId xmlns:p14="http://schemas.microsoft.com/office/powerpoint/2010/main" val="3949803545"/>
              </p:ext>
            </p:extLst>
          </p:nvPr>
        </p:nvGraphicFramePr>
        <p:xfrm>
          <a:off x="6532123" y="4046072"/>
          <a:ext cx="5440193" cy="216596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3" name="图示 12">
            <a:extLst>
              <a:ext uri="{FF2B5EF4-FFF2-40B4-BE49-F238E27FC236}">
                <a16:creationId xmlns:a16="http://schemas.microsoft.com/office/drawing/2014/main" id="{41F73922-80F2-F543-581D-176AA16C2408}"/>
              </a:ext>
            </a:extLst>
          </p:cNvPr>
          <p:cNvGraphicFramePr/>
          <p:nvPr>
            <p:extLst>
              <p:ext uri="{D42A27DB-BD31-4B8C-83A1-F6EECF244321}">
                <p14:modId xmlns:p14="http://schemas.microsoft.com/office/powerpoint/2010/main" val="3230178522"/>
              </p:ext>
            </p:extLst>
          </p:nvPr>
        </p:nvGraphicFramePr>
        <p:xfrm>
          <a:off x="6478621" y="1449421"/>
          <a:ext cx="5493695" cy="1861172"/>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cxnSp>
        <p:nvCxnSpPr>
          <p:cNvPr id="15" name="直接连接符 14">
            <a:extLst>
              <a:ext uri="{FF2B5EF4-FFF2-40B4-BE49-F238E27FC236}">
                <a16:creationId xmlns:a16="http://schemas.microsoft.com/office/drawing/2014/main" id="{1B7951DE-6AB1-FE4D-0516-511DCEA05EA4}"/>
              </a:ext>
            </a:extLst>
          </p:cNvPr>
          <p:cNvCxnSpPr/>
          <p:nvPr/>
        </p:nvCxnSpPr>
        <p:spPr>
          <a:xfrm flipV="1">
            <a:off x="3234447" y="2344366"/>
            <a:ext cx="3161489" cy="447472"/>
          </a:xfrm>
          <a:prstGeom prst="line">
            <a:avLst/>
          </a:prstGeom>
          <a:ln>
            <a:solidFill>
              <a:schemeClr val="tx1"/>
            </a:solidFill>
            <a:headEnd type="none" w="med" len="med"/>
            <a:tailEnd type="none"/>
          </a:ln>
        </p:spPr>
        <p:style>
          <a:lnRef idx="3">
            <a:schemeClr val="accent3"/>
          </a:lnRef>
          <a:fillRef idx="0">
            <a:schemeClr val="accent3"/>
          </a:fillRef>
          <a:effectRef idx="2">
            <a:schemeClr val="accent3"/>
          </a:effectRef>
          <a:fontRef idx="minor">
            <a:schemeClr val="tx1"/>
          </a:fontRef>
        </p:style>
      </p:cxnSp>
      <p:cxnSp>
        <p:nvCxnSpPr>
          <p:cNvPr id="17" name="直接连接符 16">
            <a:extLst>
              <a:ext uri="{FF2B5EF4-FFF2-40B4-BE49-F238E27FC236}">
                <a16:creationId xmlns:a16="http://schemas.microsoft.com/office/drawing/2014/main" id="{63E6CC8A-95F4-67A5-189D-42D92133FFFB}"/>
              </a:ext>
            </a:extLst>
          </p:cNvPr>
          <p:cNvCxnSpPr>
            <a:cxnSpLocks/>
          </p:cNvCxnSpPr>
          <p:nvPr/>
        </p:nvCxnSpPr>
        <p:spPr>
          <a:xfrm>
            <a:off x="3166354" y="4530165"/>
            <a:ext cx="3312267" cy="328706"/>
          </a:xfrm>
          <a:prstGeom prst="line">
            <a:avLst/>
          </a:prstGeom>
          <a:ln>
            <a:solidFill>
              <a:schemeClr val="tx1"/>
            </a:solidFill>
            <a:headEnd type="none" w="med" len="med"/>
            <a:tailEnd type="none"/>
          </a:ln>
        </p:spPr>
        <p:style>
          <a:lnRef idx="3">
            <a:schemeClr val="accent3"/>
          </a:lnRef>
          <a:fillRef idx="0">
            <a:schemeClr val="accent3"/>
          </a:fillRef>
          <a:effectRef idx="2">
            <a:schemeClr val="accent3"/>
          </a:effectRef>
          <a:fontRef idx="minor">
            <a:schemeClr val="tx1"/>
          </a:fontRef>
        </p:style>
      </p:cxnSp>
    </p:spTree>
    <p:extLst>
      <p:ext uri="{BB962C8B-B14F-4D97-AF65-F5344CB8AC3E}">
        <p14:creationId xmlns:p14="http://schemas.microsoft.com/office/powerpoint/2010/main" val="26433031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Graphic spid="16" grpId="0">
        <p:bldAsOne/>
      </p:bldGraphic>
      <p:bldGraphic spid="13" grpId="0">
        <p:bldAsOne/>
      </p:bldGraphic>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90779A0-6FF9-5682-CAF4-2847CDE0CECC}"/>
              </a:ext>
            </a:extLst>
          </p:cNvPr>
          <p:cNvSpPr>
            <a:spLocks noGrp="1"/>
          </p:cNvSpPr>
          <p:nvPr>
            <p:ph type="title"/>
          </p:nvPr>
        </p:nvSpPr>
        <p:spPr/>
        <p:txBody>
          <a:bodyPr>
            <a:normAutofit/>
          </a:bodyPr>
          <a:lstStyle/>
          <a:p>
            <a:r>
              <a:rPr lang="zh-CN" altLang="en-US" sz="1800" dirty="0">
                <a:latin typeface="+mj-ea"/>
              </a:rPr>
              <a:t>价值链管理战略转型：从运营陷阱到生态系统主权</a:t>
            </a:r>
          </a:p>
        </p:txBody>
      </p:sp>
      <p:sp>
        <p:nvSpPr>
          <p:cNvPr id="71" name="矩形 70">
            <a:extLst>
              <a:ext uri="{FF2B5EF4-FFF2-40B4-BE49-F238E27FC236}">
                <a16:creationId xmlns:a16="http://schemas.microsoft.com/office/drawing/2014/main" id="{E04F9415-4A17-8577-D138-6752EC9FF828}"/>
              </a:ext>
            </a:extLst>
          </p:cNvPr>
          <p:cNvSpPr/>
          <p:nvPr/>
        </p:nvSpPr>
        <p:spPr>
          <a:xfrm>
            <a:off x="5959291" y="1030770"/>
            <a:ext cx="787105" cy="4763494"/>
          </a:xfrm>
          <a:prstGeom prst="rect">
            <a:avLst/>
          </a:prstGeom>
          <a:solidFill>
            <a:schemeClr val="tx1">
              <a:lumMod val="50000"/>
              <a:alpha val="7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cxnSp>
        <p:nvCxnSpPr>
          <p:cNvPr id="4" name="直接箭头连接符 3">
            <a:extLst>
              <a:ext uri="{FF2B5EF4-FFF2-40B4-BE49-F238E27FC236}">
                <a16:creationId xmlns:a16="http://schemas.microsoft.com/office/drawing/2014/main" id="{4D52E340-BBC8-D5AF-5E70-411AA3F4237F}"/>
              </a:ext>
            </a:extLst>
          </p:cNvPr>
          <p:cNvCxnSpPr>
            <a:cxnSpLocks/>
            <a:stCxn id="43" idx="0"/>
          </p:cNvCxnSpPr>
          <p:nvPr/>
        </p:nvCxnSpPr>
        <p:spPr>
          <a:xfrm flipH="1" flipV="1">
            <a:off x="1092138" y="840638"/>
            <a:ext cx="22110" cy="4958458"/>
          </a:xfrm>
          <a:prstGeom prst="straightConnector1">
            <a:avLst/>
          </a:prstGeom>
          <a:ln w="12700">
            <a:solidFill>
              <a:schemeClr val="tx1">
                <a:lumMod val="65000"/>
              </a:schemeClr>
            </a:solidFill>
            <a:tailEnd type="triangle"/>
          </a:ln>
        </p:spPr>
        <p:style>
          <a:lnRef idx="1">
            <a:schemeClr val="accent3"/>
          </a:lnRef>
          <a:fillRef idx="0">
            <a:schemeClr val="accent3"/>
          </a:fillRef>
          <a:effectRef idx="0">
            <a:schemeClr val="accent3"/>
          </a:effectRef>
          <a:fontRef idx="minor">
            <a:schemeClr val="tx1"/>
          </a:fontRef>
        </p:style>
      </p:cxnSp>
      <p:cxnSp>
        <p:nvCxnSpPr>
          <p:cNvPr id="5" name="直接箭头连接符 4">
            <a:extLst>
              <a:ext uri="{FF2B5EF4-FFF2-40B4-BE49-F238E27FC236}">
                <a16:creationId xmlns:a16="http://schemas.microsoft.com/office/drawing/2014/main" id="{3007C45D-DC6C-A757-0377-560C3113D1B9}"/>
              </a:ext>
            </a:extLst>
          </p:cNvPr>
          <p:cNvCxnSpPr>
            <a:cxnSpLocks/>
          </p:cNvCxnSpPr>
          <p:nvPr/>
        </p:nvCxnSpPr>
        <p:spPr>
          <a:xfrm flipV="1">
            <a:off x="1114247" y="5783457"/>
            <a:ext cx="10308439" cy="39160"/>
          </a:xfrm>
          <a:prstGeom prst="straightConnector1">
            <a:avLst/>
          </a:prstGeom>
          <a:ln w="12700">
            <a:solidFill>
              <a:schemeClr val="tx1">
                <a:lumMod val="65000"/>
              </a:schemeClr>
            </a:solidFill>
            <a:tailEnd type="triangle"/>
          </a:ln>
        </p:spPr>
        <p:style>
          <a:lnRef idx="1">
            <a:schemeClr val="accent3"/>
          </a:lnRef>
          <a:fillRef idx="0">
            <a:schemeClr val="accent3"/>
          </a:fillRef>
          <a:effectRef idx="0">
            <a:schemeClr val="accent3"/>
          </a:effectRef>
          <a:fontRef idx="minor">
            <a:schemeClr val="tx1"/>
          </a:fontRef>
        </p:style>
      </p:cxnSp>
      <p:cxnSp>
        <p:nvCxnSpPr>
          <p:cNvPr id="10" name="直接箭头连接符 9">
            <a:extLst>
              <a:ext uri="{FF2B5EF4-FFF2-40B4-BE49-F238E27FC236}">
                <a16:creationId xmlns:a16="http://schemas.microsoft.com/office/drawing/2014/main" id="{6FD0B7AA-9518-CE10-79CD-945116C6C85F}"/>
              </a:ext>
            </a:extLst>
          </p:cNvPr>
          <p:cNvCxnSpPr>
            <a:cxnSpLocks/>
          </p:cNvCxnSpPr>
          <p:nvPr/>
        </p:nvCxnSpPr>
        <p:spPr>
          <a:xfrm flipV="1">
            <a:off x="11412083" y="910408"/>
            <a:ext cx="0" cy="4945979"/>
          </a:xfrm>
          <a:prstGeom prst="straightConnector1">
            <a:avLst/>
          </a:prstGeom>
          <a:ln w="12700">
            <a:solidFill>
              <a:schemeClr val="tx1">
                <a:lumMod val="65000"/>
              </a:schemeClr>
            </a:solidFill>
            <a:tailEnd type="triangle"/>
          </a:ln>
        </p:spPr>
        <p:style>
          <a:lnRef idx="1">
            <a:schemeClr val="accent3"/>
          </a:lnRef>
          <a:fillRef idx="0">
            <a:schemeClr val="accent3"/>
          </a:fillRef>
          <a:effectRef idx="0">
            <a:schemeClr val="accent3"/>
          </a:effectRef>
          <a:fontRef idx="minor">
            <a:schemeClr val="tx1"/>
          </a:fontRef>
        </p:style>
      </p:cxnSp>
      <p:sp>
        <p:nvSpPr>
          <p:cNvPr id="11" name="文本框 10">
            <a:extLst>
              <a:ext uri="{FF2B5EF4-FFF2-40B4-BE49-F238E27FC236}">
                <a16:creationId xmlns:a16="http://schemas.microsoft.com/office/drawing/2014/main" id="{F90C5866-1B7B-E342-A9CB-4DE3A2367557}"/>
              </a:ext>
            </a:extLst>
          </p:cNvPr>
          <p:cNvSpPr txBox="1"/>
          <p:nvPr/>
        </p:nvSpPr>
        <p:spPr>
          <a:xfrm rot="16200000">
            <a:off x="-1001318" y="3178566"/>
            <a:ext cx="3552464" cy="523220"/>
          </a:xfrm>
          <a:prstGeom prst="rect">
            <a:avLst/>
          </a:prstGeom>
          <a:noFill/>
        </p:spPr>
        <p:txBody>
          <a:bodyPr wrap="square" rtlCol="0">
            <a:spAutoFit/>
          </a:bodyPr>
          <a:lstStyle/>
          <a:p>
            <a:pPr algn="ctr"/>
            <a:r>
              <a:rPr lang="zh-CN" altLang="en-US" sz="1400" dirty="0">
                <a:latin typeface="+mj-ea"/>
                <a:ea typeface="+mj-ea"/>
              </a:rPr>
              <a:t>生态协同复杂度</a:t>
            </a:r>
            <a:endParaRPr lang="en-US" altLang="zh-CN" sz="1400" dirty="0">
              <a:latin typeface="+mj-ea"/>
              <a:ea typeface="+mj-ea"/>
            </a:endParaRPr>
          </a:p>
          <a:p>
            <a:pPr algn="ctr"/>
            <a:r>
              <a:rPr lang="zh-CN" altLang="en-US" sz="1400" dirty="0">
                <a:latin typeface="+mj-ea"/>
                <a:ea typeface="+mj-ea"/>
              </a:rPr>
              <a:t>（规模不经济）</a:t>
            </a:r>
          </a:p>
        </p:txBody>
      </p:sp>
      <p:sp>
        <p:nvSpPr>
          <p:cNvPr id="12" name="文本框 11">
            <a:extLst>
              <a:ext uri="{FF2B5EF4-FFF2-40B4-BE49-F238E27FC236}">
                <a16:creationId xmlns:a16="http://schemas.microsoft.com/office/drawing/2014/main" id="{CFA19ECD-42AA-A271-D7A3-F91191371232}"/>
              </a:ext>
            </a:extLst>
          </p:cNvPr>
          <p:cNvSpPr txBox="1"/>
          <p:nvPr/>
        </p:nvSpPr>
        <p:spPr>
          <a:xfrm rot="5400000">
            <a:off x="10182917" y="3183377"/>
            <a:ext cx="3102703" cy="513599"/>
          </a:xfrm>
          <a:prstGeom prst="rect">
            <a:avLst/>
          </a:prstGeom>
          <a:noFill/>
        </p:spPr>
        <p:txBody>
          <a:bodyPr wrap="square" rtlCol="0">
            <a:spAutoFit/>
          </a:bodyPr>
          <a:lstStyle/>
          <a:p>
            <a:pPr algn="ctr"/>
            <a:r>
              <a:rPr lang="zh-CN" altLang="en-US" sz="1400" dirty="0">
                <a:latin typeface="+mj-ea"/>
                <a:ea typeface="+mj-ea"/>
              </a:rPr>
              <a:t>价值捕获与自有现金流</a:t>
            </a:r>
            <a:endParaRPr lang="en-US" altLang="zh-CN" sz="1400" dirty="0">
              <a:latin typeface="+mj-ea"/>
              <a:ea typeface="+mj-ea"/>
            </a:endParaRPr>
          </a:p>
          <a:p>
            <a:pPr algn="ctr"/>
            <a:r>
              <a:rPr lang="zh-CN" altLang="en-US" sz="1400" dirty="0">
                <a:latin typeface="+mj-ea"/>
                <a:ea typeface="+mj-ea"/>
              </a:rPr>
              <a:t>（规模经济）</a:t>
            </a:r>
          </a:p>
        </p:txBody>
      </p:sp>
      <p:sp>
        <p:nvSpPr>
          <p:cNvPr id="41" name="任意多边形: 形状 40">
            <a:extLst>
              <a:ext uri="{FF2B5EF4-FFF2-40B4-BE49-F238E27FC236}">
                <a16:creationId xmlns:a16="http://schemas.microsoft.com/office/drawing/2014/main" id="{81446251-5CAC-67E9-7BED-35DB4B811390}"/>
              </a:ext>
            </a:extLst>
          </p:cNvPr>
          <p:cNvSpPr/>
          <p:nvPr/>
        </p:nvSpPr>
        <p:spPr>
          <a:xfrm>
            <a:off x="1141867" y="2351911"/>
            <a:ext cx="4403647" cy="3447184"/>
          </a:xfrm>
          <a:custGeom>
            <a:avLst/>
            <a:gdLst>
              <a:gd name="connsiteX0" fmla="*/ 0 w 4486135"/>
              <a:gd name="connsiteY0" fmla="*/ 3719838 h 3719838"/>
              <a:gd name="connsiteX1" fmla="*/ 4438357 w 4486135"/>
              <a:gd name="connsiteY1" fmla="*/ 27069 h 3719838"/>
              <a:gd name="connsiteX2" fmla="*/ 2278966 w 4486135"/>
              <a:gd name="connsiteY2" fmla="*/ 2087986 h 3719838"/>
              <a:gd name="connsiteX3" fmla="*/ 1160584 w 4486135"/>
              <a:gd name="connsiteY3" fmla="*/ 2889844 h 3719838"/>
              <a:gd name="connsiteX4" fmla="*/ 3903784 w 4486135"/>
              <a:gd name="connsiteY4" fmla="*/ 2270866 h 3719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135" h="3719838">
                <a:moveTo>
                  <a:pt x="0" y="3719838"/>
                </a:moveTo>
                <a:cubicBezTo>
                  <a:pt x="2029264" y="2009441"/>
                  <a:pt x="4058529" y="299044"/>
                  <a:pt x="4438357" y="27069"/>
                </a:cubicBezTo>
                <a:cubicBezTo>
                  <a:pt x="4818185" y="-244906"/>
                  <a:pt x="2825261" y="1610857"/>
                  <a:pt x="2278966" y="2087986"/>
                </a:cubicBezTo>
                <a:cubicBezTo>
                  <a:pt x="1732671" y="2565115"/>
                  <a:pt x="889781" y="2859364"/>
                  <a:pt x="1160584" y="2889844"/>
                </a:cubicBezTo>
                <a:cubicBezTo>
                  <a:pt x="1431387" y="2920324"/>
                  <a:pt x="2667585" y="2595595"/>
                  <a:pt x="3903784" y="2270866"/>
                </a:cubicBez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mj-ea"/>
              <a:ea typeface="+mj-ea"/>
            </a:endParaRPr>
          </a:p>
        </p:txBody>
      </p:sp>
      <p:sp>
        <p:nvSpPr>
          <p:cNvPr id="43" name="任意多边形: 形状 42">
            <a:extLst>
              <a:ext uri="{FF2B5EF4-FFF2-40B4-BE49-F238E27FC236}">
                <a16:creationId xmlns:a16="http://schemas.microsoft.com/office/drawing/2014/main" id="{690FC0C2-6FCE-9C29-318E-62E2E6ACF98E}"/>
              </a:ext>
            </a:extLst>
          </p:cNvPr>
          <p:cNvSpPr/>
          <p:nvPr/>
        </p:nvSpPr>
        <p:spPr>
          <a:xfrm>
            <a:off x="1114248" y="2552990"/>
            <a:ext cx="4170325" cy="3246106"/>
          </a:xfrm>
          <a:custGeom>
            <a:avLst/>
            <a:gdLst>
              <a:gd name="connsiteX0" fmla="*/ 0 w 4248443"/>
              <a:gd name="connsiteY0" fmla="*/ 3502855 h 3502855"/>
              <a:gd name="connsiteX1" fmla="*/ 77373 w 4248443"/>
              <a:gd name="connsiteY1" fmla="*/ 3488787 h 3502855"/>
              <a:gd name="connsiteX2" fmla="*/ 147711 w 4248443"/>
              <a:gd name="connsiteY2" fmla="*/ 3474720 h 3502855"/>
              <a:gd name="connsiteX3" fmla="*/ 203982 w 4248443"/>
              <a:gd name="connsiteY3" fmla="*/ 3453618 h 3502855"/>
              <a:gd name="connsiteX4" fmla="*/ 316523 w 4248443"/>
              <a:gd name="connsiteY4" fmla="*/ 3432517 h 3502855"/>
              <a:gd name="connsiteX5" fmla="*/ 337625 w 4248443"/>
              <a:gd name="connsiteY5" fmla="*/ 3425483 h 3502855"/>
              <a:gd name="connsiteX6" fmla="*/ 386862 w 4248443"/>
              <a:gd name="connsiteY6" fmla="*/ 3418449 h 3502855"/>
              <a:gd name="connsiteX7" fmla="*/ 499403 w 4248443"/>
              <a:gd name="connsiteY7" fmla="*/ 3376246 h 3502855"/>
              <a:gd name="connsiteX8" fmla="*/ 555674 w 4248443"/>
              <a:gd name="connsiteY8" fmla="*/ 3369212 h 3502855"/>
              <a:gd name="connsiteX9" fmla="*/ 654148 w 4248443"/>
              <a:gd name="connsiteY9" fmla="*/ 3341077 h 3502855"/>
              <a:gd name="connsiteX10" fmla="*/ 710419 w 4248443"/>
              <a:gd name="connsiteY10" fmla="*/ 3327009 h 3502855"/>
              <a:gd name="connsiteX11" fmla="*/ 794825 w 4248443"/>
              <a:gd name="connsiteY11" fmla="*/ 3298874 h 3502855"/>
              <a:gd name="connsiteX12" fmla="*/ 879231 w 4248443"/>
              <a:gd name="connsiteY12" fmla="*/ 3284806 h 3502855"/>
              <a:gd name="connsiteX13" fmla="*/ 1244991 w 4248443"/>
              <a:gd name="connsiteY13" fmla="*/ 3172264 h 3502855"/>
              <a:gd name="connsiteX14" fmla="*/ 1350499 w 4248443"/>
              <a:gd name="connsiteY14" fmla="*/ 3094892 h 3502855"/>
              <a:gd name="connsiteX15" fmla="*/ 1505243 w 4248443"/>
              <a:gd name="connsiteY15" fmla="*/ 2996418 h 3502855"/>
              <a:gd name="connsiteX16" fmla="*/ 1575582 w 4248443"/>
              <a:gd name="connsiteY16" fmla="*/ 2940147 h 3502855"/>
              <a:gd name="connsiteX17" fmla="*/ 1596683 w 4248443"/>
              <a:gd name="connsiteY17" fmla="*/ 2799471 h 3502855"/>
              <a:gd name="connsiteX18" fmla="*/ 1631853 w 4248443"/>
              <a:gd name="connsiteY18" fmla="*/ 2764301 h 3502855"/>
              <a:gd name="connsiteX19" fmla="*/ 1702191 w 4248443"/>
              <a:gd name="connsiteY19" fmla="*/ 2708031 h 3502855"/>
              <a:gd name="connsiteX20" fmla="*/ 1737360 w 4248443"/>
              <a:gd name="connsiteY20" fmla="*/ 2686929 h 3502855"/>
              <a:gd name="connsiteX21" fmla="*/ 1786597 w 4248443"/>
              <a:gd name="connsiteY21" fmla="*/ 2651760 h 3502855"/>
              <a:gd name="connsiteX22" fmla="*/ 1863970 w 4248443"/>
              <a:gd name="connsiteY22" fmla="*/ 2602523 h 3502855"/>
              <a:gd name="connsiteX23" fmla="*/ 1962443 w 4248443"/>
              <a:gd name="connsiteY23" fmla="*/ 2553286 h 3502855"/>
              <a:gd name="connsiteX24" fmla="*/ 2039816 w 4248443"/>
              <a:gd name="connsiteY24" fmla="*/ 2497015 h 3502855"/>
              <a:gd name="connsiteX25" fmla="*/ 2131256 w 4248443"/>
              <a:gd name="connsiteY25" fmla="*/ 2454812 h 3502855"/>
              <a:gd name="connsiteX26" fmla="*/ 2342271 w 4248443"/>
              <a:gd name="connsiteY26" fmla="*/ 2314135 h 3502855"/>
              <a:gd name="connsiteX27" fmla="*/ 2461847 w 4248443"/>
              <a:gd name="connsiteY27" fmla="*/ 2243797 h 3502855"/>
              <a:gd name="connsiteX28" fmla="*/ 2532185 w 4248443"/>
              <a:gd name="connsiteY28" fmla="*/ 2180492 h 3502855"/>
              <a:gd name="connsiteX29" fmla="*/ 2602523 w 4248443"/>
              <a:gd name="connsiteY29" fmla="*/ 2138289 h 3502855"/>
              <a:gd name="connsiteX30" fmla="*/ 2672862 w 4248443"/>
              <a:gd name="connsiteY30" fmla="*/ 2082018 h 3502855"/>
              <a:gd name="connsiteX31" fmla="*/ 2771336 w 4248443"/>
              <a:gd name="connsiteY31" fmla="*/ 2011680 h 3502855"/>
              <a:gd name="connsiteX32" fmla="*/ 2982351 w 4248443"/>
              <a:gd name="connsiteY32" fmla="*/ 1842867 h 3502855"/>
              <a:gd name="connsiteX33" fmla="*/ 3052690 w 4248443"/>
              <a:gd name="connsiteY33" fmla="*/ 1793631 h 3502855"/>
              <a:gd name="connsiteX34" fmla="*/ 3115994 w 4248443"/>
              <a:gd name="connsiteY34" fmla="*/ 1758461 h 3502855"/>
              <a:gd name="connsiteX35" fmla="*/ 3179299 w 4248443"/>
              <a:gd name="connsiteY35" fmla="*/ 1709224 h 3502855"/>
              <a:gd name="connsiteX36" fmla="*/ 3312942 w 4248443"/>
              <a:gd name="connsiteY36" fmla="*/ 1491175 h 3502855"/>
              <a:gd name="connsiteX37" fmla="*/ 3418450 w 4248443"/>
              <a:gd name="connsiteY37" fmla="*/ 1343464 h 3502855"/>
              <a:gd name="connsiteX38" fmla="*/ 3467687 w 4248443"/>
              <a:gd name="connsiteY38" fmla="*/ 1259058 h 3502855"/>
              <a:gd name="connsiteX39" fmla="*/ 3587262 w 4248443"/>
              <a:gd name="connsiteY39" fmla="*/ 1090246 h 3502855"/>
              <a:gd name="connsiteX40" fmla="*/ 3622431 w 4248443"/>
              <a:gd name="connsiteY40" fmla="*/ 1019907 h 3502855"/>
              <a:gd name="connsiteX41" fmla="*/ 3699803 w 4248443"/>
              <a:gd name="connsiteY41" fmla="*/ 900332 h 3502855"/>
              <a:gd name="connsiteX42" fmla="*/ 3798277 w 4248443"/>
              <a:gd name="connsiteY42" fmla="*/ 731520 h 3502855"/>
              <a:gd name="connsiteX43" fmla="*/ 3861582 w 4248443"/>
              <a:gd name="connsiteY43" fmla="*/ 654147 h 3502855"/>
              <a:gd name="connsiteX44" fmla="*/ 3910819 w 4248443"/>
              <a:gd name="connsiteY44" fmla="*/ 555674 h 3502855"/>
              <a:gd name="connsiteX45" fmla="*/ 3967090 w 4248443"/>
              <a:gd name="connsiteY45" fmla="*/ 471267 h 3502855"/>
              <a:gd name="connsiteX46" fmla="*/ 4051496 w 4248443"/>
              <a:gd name="connsiteY46" fmla="*/ 316523 h 3502855"/>
              <a:gd name="connsiteX47" fmla="*/ 4107767 w 4248443"/>
              <a:gd name="connsiteY47" fmla="*/ 218049 h 3502855"/>
              <a:gd name="connsiteX48" fmla="*/ 4164037 w 4248443"/>
              <a:gd name="connsiteY48" fmla="*/ 112541 h 3502855"/>
              <a:gd name="connsiteX49" fmla="*/ 4199207 w 4248443"/>
              <a:gd name="connsiteY49" fmla="*/ 56271 h 3502855"/>
              <a:gd name="connsiteX50" fmla="*/ 4220308 w 4248443"/>
              <a:gd name="connsiteY50" fmla="*/ 35169 h 3502855"/>
              <a:gd name="connsiteX51" fmla="*/ 4248443 w 4248443"/>
              <a:gd name="connsiteY51" fmla="*/ 0 h 350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48443" h="3502855">
                <a:moveTo>
                  <a:pt x="0" y="3502855"/>
                </a:moveTo>
                <a:cubicBezTo>
                  <a:pt x="96735" y="3489035"/>
                  <a:pt x="11037" y="3503002"/>
                  <a:pt x="77373" y="3488787"/>
                </a:cubicBezTo>
                <a:cubicBezTo>
                  <a:pt x="100753" y="3483777"/>
                  <a:pt x="125323" y="3483116"/>
                  <a:pt x="147711" y="3474720"/>
                </a:cubicBezTo>
                <a:cubicBezTo>
                  <a:pt x="166468" y="3467686"/>
                  <a:pt x="184763" y="3459270"/>
                  <a:pt x="203982" y="3453618"/>
                </a:cubicBezTo>
                <a:cubicBezTo>
                  <a:pt x="245682" y="3441353"/>
                  <a:pt x="274870" y="3438468"/>
                  <a:pt x="316523" y="3432517"/>
                </a:cubicBezTo>
                <a:cubicBezTo>
                  <a:pt x="323557" y="3430172"/>
                  <a:pt x="330355" y="3426937"/>
                  <a:pt x="337625" y="3425483"/>
                </a:cubicBezTo>
                <a:cubicBezTo>
                  <a:pt x="353882" y="3422232"/>
                  <a:pt x="370957" y="3423127"/>
                  <a:pt x="386862" y="3418449"/>
                </a:cubicBezTo>
                <a:cubicBezTo>
                  <a:pt x="414501" y="3410320"/>
                  <a:pt x="466403" y="3383318"/>
                  <a:pt x="499403" y="3376246"/>
                </a:cubicBezTo>
                <a:cubicBezTo>
                  <a:pt x="517886" y="3372285"/>
                  <a:pt x="536917" y="3371557"/>
                  <a:pt x="555674" y="3369212"/>
                </a:cubicBezTo>
                <a:lnTo>
                  <a:pt x="654148" y="3341077"/>
                </a:lnTo>
                <a:cubicBezTo>
                  <a:pt x="672801" y="3335990"/>
                  <a:pt x="691900" y="3332565"/>
                  <a:pt x="710419" y="3327009"/>
                </a:cubicBezTo>
                <a:cubicBezTo>
                  <a:pt x="738825" y="3318487"/>
                  <a:pt x="766053" y="3306067"/>
                  <a:pt x="794825" y="3298874"/>
                </a:cubicBezTo>
                <a:cubicBezTo>
                  <a:pt x="822497" y="3291956"/>
                  <a:pt x="851096" y="3289495"/>
                  <a:pt x="879231" y="3284806"/>
                </a:cubicBezTo>
                <a:cubicBezTo>
                  <a:pt x="1115838" y="3155747"/>
                  <a:pt x="684314" y="3382518"/>
                  <a:pt x="1244991" y="3172264"/>
                </a:cubicBezTo>
                <a:cubicBezTo>
                  <a:pt x="1285827" y="3156951"/>
                  <a:pt x="1314435" y="3119416"/>
                  <a:pt x="1350499" y="3094892"/>
                </a:cubicBezTo>
                <a:cubicBezTo>
                  <a:pt x="1460210" y="3020289"/>
                  <a:pt x="1385253" y="3086410"/>
                  <a:pt x="1505243" y="2996418"/>
                </a:cubicBezTo>
                <a:cubicBezTo>
                  <a:pt x="1665623" y="2876133"/>
                  <a:pt x="1369004" y="3077869"/>
                  <a:pt x="1575582" y="2940147"/>
                </a:cubicBezTo>
                <a:cubicBezTo>
                  <a:pt x="1578583" y="2913137"/>
                  <a:pt x="1587372" y="2820754"/>
                  <a:pt x="1596683" y="2799471"/>
                </a:cubicBezTo>
                <a:cubicBezTo>
                  <a:pt x="1603328" y="2784282"/>
                  <a:pt x="1619585" y="2775453"/>
                  <a:pt x="1631853" y="2764301"/>
                </a:cubicBezTo>
                <a:cubicBezTo>
                  <a:pt x="1644088" y="2753179"/>
                  <a:pt x="1684357" y="2719921"/>
                  <a:pt x="1702191" y="2708031"/>
                </a:cubicBezTo>
                <a:cubicBezTo>
                  <a:pt x="1713566" y="2700447"/>
                  <a:pt x="1725767" y="2694175"/>
                  <a:pt x="1737360" y="2686929"/>
                </a:cubicBezTo>
                <a:cubicBezTo>
                  <a:pt x="1787708" y="2655461"/>
                  <a:pt x="1724670" y="2693044"/>
                  <a:pt x="1786597" y="2651760"/>
                </a:cubicBezTo>
                <a:cubicBezTo>
                  <a:pt x="1812033" y="2634803"/>
                  <a:pt x="1837297" y="2617460"/>
                  <a:pt x="1863970" y="2602523"/>
                </a:cubicBezTo>
                <a:cubicBezTo>
                  <a:pt x="1895990" y="2584592"/>
                  <a:pt x="1930974" y="2572167"/>
                  <a:pt x="1962443" y="2553286"/>
                </a:cubicBezTo>
                <a:cubicBezTo>
                  <a:pt x="1989789" y="2536878"/>
                  <a:pt x="2012270" y="2513084"/>
                  <a:pt x="2039816" y="2497015"/>
                </a:cubicBezTo>
                <a:cubicBezTo>
                  <a:pt x="2068813" y="2480100"/>
                  <a:pt x="2101863" y="2471029"/>
                  <a:pt x="2131256" y="2454812"/>
                </a:cubicBezTo>
                <a:cubicBezTo>
                  <a:pt x="2272028" y="2377145"/>
                  <a:pt x="2213248" y="2397375"/>
                  <a:pt x="2342271" y="2314135"/>
                </a:cubicBezTo>
                <a:cubicBezTo>
                  <a:pt x="2381129" y="2289065"/>
                  <a:pt x="2423886" y="2270205"/>
                  <a:pt x="2461847" y="2243797"/>
                </a:cubicBezTo>
                <a:cubicBezTo>
                  <a:pt x="2651723" y="2111710"/>
                  <a:pt x="2406002" y="2261611"/>
                  <a:pt x="2532185" y="2180492"/>
                </a:cubicBezTo>
                <a:cubicBezTo>
                  <a:pt x="2555185" y="2165706"/>
                  <a:pt x="2580123" y="2153969"/>
                  <a:pt x="2602523" y="2138289"/>
                </a:cubicBezTo>
                <a:cubicBezTo>
                  <a:pt x="2627121" y="2121070"/>
                  <a:pt x="2648841" y="2100033"/>
                  <a:pt x="2672862" y="2082018"/>
                </a:cubicBezTo>
                <a:cubicBezTo>
                  <a:pt x="2705133" y="2057815"/>
                  <a:pt x="2739417" y="2036345"/>
                  <a:pt x="2771336" y="2011680"/>
                </a:cubicBezTo>
                <a:cubicBezTo>
                  <a:pt x="2842613" y="1956602"/>
                  <a:pt x="2908556" y="1894522"/>
                  <a:pt x="2982351" y="1842867"/>
                </a:cubicBezTo>
                <a:cubicBezTo>
                  <a:pt x="3005797" y="1826455"/>
                  <a:pt x="3028492" y="1808914"/>
                  <a:pt x="3052690" y="1793631"/>
                </a:cubicBezTo>
                <a:cubicBezTo>
                  <a:pt x="3073099" y="1780741"/>
                  <a:pt x="3095909" y="1771851"/>
                  <a:pt x="3115994" y="1758461"/>
                </a:cubicBezTo>
                <a:cubicBezTo>
                  <a:pt x="3138237" y="1743632"/>
                  <a:pt x="3158197" y="1725636"/>
                  <a:pt x="3179299" y="1709224"/>
                </a:cubicBezTo>
                <a:cubicBezTo>
                  <a:pt x="3223847" y="1636541"/>
                  <a:pt x="3263392" y="1560545"/>
                  <a:pt x="3312942" y="1491175"/>
                </a:cubicBezTo>
                <a:cubicBezTo>
                  <a:pt x="3348111" y="1441938"/>
                  <a:pt x="3387962" y="1395729"/>
                  <a:pt x="3418450" y="1343464"/>
                </a:cubicBezTo>
                <a:cubicBezTo>
                  <a:pt x="3434862" y="1315329"/>
                  <a:pt x="3449619" y="1286160"/>
                  <a:pt x="3467687" y="1259058"/>
                </a:cubicBezTo>
                <a:cubicBezTo>
                  <a:pt x="3501305" y="1208631"/>
                  <a:pt x="3555032" y="1145916"/>
                  <a:pt x="3587262" y="1090246"/>
                </a:cubicBezTo>
                <a:cubicBezTo>
                  <a:pt x="3600396" y="1067560"/>
                  <a:pt x="3609798" y="1042876"/>
                  <a:pt x="3622431" y="1019907"/>
                </a:cubicBezTo>
                <a:cubicBezTo>
                  <a:pt x="3718213" y="845757"/>
                  <a:pt x="3616874" y="1035638"/>
                  <a:pt x="3699803" y="900332"/>
                </a:cubicBezTo>
                <a:cubicBezTo>
                  <a:pt x="3733845" y="844789"/>
                  <a:pt x="3757025" y="781939"/>
                  <a:pt x="3798277" y="731520"/>
                </a:cubicBezTo>
                <a:cubicBezTo>
                  <a:pt x="3819379" y="705729"/>
                  <a:pt x="3842071" y="681162"/>
                  <a:pt x="3861582" y="654147"/>
                </a:cubicBezTo>
                <a:cubicBezTo>
                  <a:pt x="3912578" y="583538"/>
                  <a:pt x="3869044" y="627830"/>
                  <a:pt x="3910819" y="555674"/>
                </a:cubicBezTo>
                <a:cubicBezTo>
                  <a:pt x="3927761" y="526410"/>
                  <a:pt x="3950668" y="500826"/>
                  <a:pt x="3967090" y="471267"/>
                </a:cubicBezTo>
                <a:cubicBezTo>
                  <a:pt x="4074370" y="278163"/>
                  <a:pt x="3968037" y="433366"/>
                  <a:pt x="4051496" y="316523"/>
                </a:cubicBezTo>
                <a:cubicBezTo>
                  <a:pt x="4076568" y="241303"/>
                  <a:pt x="4050988" y="303217"/>
                  <a:pt x="4107767" y="218049"/>
                </a:cubicBezTo>
                <a:cubicBezTo>
                  <a:pt x="4154469" y="147997"/>
                  <a:pt x="4118393" y="188612"/>
                  <a:pt x="4164037" y="112541"/>
                </a:cubicBezTo>
                <a:cubicBezTo>
                  <a:pt x="4166981" y="107634"/>
                  <a:pt x="4191472" y="65553"/>
                  <a:pt x="4199207" y="56271"/>
                </a:cubicBezTo>
                <a:cubicBezTo>
                  <a:pt x="4205575" y="48629"/>
                  <a:pt x="4214526" y="43264"/>
                  <a:pt x="4220308" y="35169"/>
                </a:cubicBezTo>
                <a:cubicBezTo>
                  <a:pt x="4247661" y="-3126"/>
                  <a:pt x="4219528" y="14459"/>
                  <a:pt x="4248443" y="0"/>
                </a:cubicBez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mj-ea"/>
              <a:ea typeface="+mj-ea"/>
            </a:endParaRPr>
          </a:p>
        </p:txBody>
      </p:sp>
      <p:sp>
        <p:nvSpPr>
          <p:cNvPr id="44" name="任意多边形: 形状 43">
            <a:extLst>
              <a:ext uri="{FF2B5EF4-FFF2-40B4-BE49-F238E27FC236}">
                <a16:creationId xmlns:a16="http://schemas.microsoft.com/office/drawing/2014/main" id="{7E69F0A7-AD55-2C1F-C540-B5D4D262E4A0}"/>
              </a:ext>
            </a:extLst>
          </p:cNvPr>
          <p:cNvSpPr/>
          <p:nvPr/>
        </p:nvSpPr>
        <p:spPr>
          <a:xfrm>
            <a:off x="1141867" y="2402421"/>
            <a:ext cx="2938518" cy="3370602"/>
          </a:xfrm>
          <a:custGeom>
            <a:avLst/>
            <a:gdLst>
              <a:gd name="connsiteX0" fmla="*/ 0 w 2993562"/>
              <a:gd name="connsiteY0" fmla="*/ 3637198 h 3637198"/>
              <a:gd name="connsiteX1" fmla="*/ 633046 w 2993562"/>
              <a:gd name="connsiteY1" fmla="*/ 3369912 h 3637198"/>
              <a:gd name="connsiteX2" fmla="*/ 1167618 w 2993562"/>
              <a:gd name="connsiteY2" fmla="*/ 3032287 h 3637198"/>
              <a:gd name="connsiteX3" fmla="*/ 2046849 w 2993562"/>
              <a:gd name="connsiteY3" fmla="*/ 2258564 h 3637198"/>
              <a:gd name="connsiteX4" fmla="*/ 2356338 w 2993562"/>
              <a:gd name="connsiteY4" fmla="*/ 1759161 h 3637198"/>
              <a:gd name="connsiteX5" fmla="*/ 2954215 w 2993562"/>
              <a:gd name="connsiteY5" fmla="*/ 408662 h 3637198"/>
              <a:gd name="connsiteX6" fmla="*/ 2926080 w 2993562"/>
              <a:gd name="connsiteY6" fmla="*/ 35869 h 3637198"/>
              <a:gd name="connsiteX7" fmla="*/ 2989384 w 2993562"/>
              <a:gd name="connsiteY7" fmla="*/ 14767 h 3637198"/>
              <a:gd name="connsiteX8" fmla="*/ 2982351 w 2993562"/>
              <a:gd name="connsiteY8" fmla="*/ 14767 h 3637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3562" h="3637198">
                <a:moveTo>
                  <a:pt x="0" y="3637198"/>
                </a:moveTo>
                <a:cubicBezTo>
                  <a:pt x="219221" y="3553964"/>
                  <a:pt x="438443" y="3470730"/>
                  <a:pt x="633046" y="3369912"/>
                </a:cubicBezTo>
                <a:cubicBezTo>
                  <a:pt x="827649" y="3269094"/>
                  <a:pt x="931984" y="3217512"/>
                  <a:pt x="1167618" y="3032287"/>
                </a:cubicBezTo>
                <a:cubicBezTo>
                  <a:pt x="1403252" y="2847062"/>
                  <a:pt x="1848729" y="2470752"/>
                  <a:pt x="2046849" y="2258564"/>
                </a:cubicBezTo>
                <a:cubicBezTo>
                  <a:pt x="2244969" y="2046376"/>
                  <a:pt x="2205110" y="2067478"/>
                  <a:pt x="2356338" y="1759161"/>
                </a:cubicBezTo>
                <a:cubicBezTo>
                  <a:pt x="2507566" y="1450844"/>
                  <a:pt x="2859258" y="695877"/>
                  <a:pt x="2954215" y="408662"/>
                </a:cubicBezTo>
                <a:cubicBezTo>
                  <a:pt x="3049172" y="121447"/>
                  <a:pt x="2920218" y="101518"/>
                  <a:pt x="2926080" y="35869"/>
                </a:cubicBezTo>
                <a:cubicBezTo>
                  <a:pt x="2931942" y="-29780"/>
                  <a:pt x="2989384" y="14767"/>
                  <a:pt x="2989384" y="14767"/>
                </a:cubicBezTo>
                <a:cubicBezTo>
                  <a:pt x="2998763" y="11250"/>
                  <a:pt x="2990557" y="13008"/>
                  <a:pt x="2982351" y="14767"/>
                </a:cubicBez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mj-ea"/>
              <a:ea typeface="+mj-ea"/>
            </a:endParaRPr>
          </a:p>
        </p:txBody>
      </p:sp>
      <p:cxnSp>
        <p:nvCxnSpPr>
          <p:cNvPr id="48" name="连接符: 曲线 47">
            <a:extLst>
              <a:ext uri="{FF2B5EF4-FFF2-40B4-BE49-F238E27FC236}">
                <a16:creationId xmlns:a16="http://schemas.microsoft.com/office/drawing/2014/main" id="{0796DF4C-3954-C10B-4E9D-24CBDB96747B}"/>
              </a:ext>
            </a:extLst>
          </p:cNvPr>
          <p:cNvCxnSpPr>
            <a:cxnSpLocks/>
          </p:cNvCxnSpPr>
          <p:nvPr/>
        </p:nvCxnSpPr>
        <p:spPr>
          <a:xfrm flipV="1">
            <a:off x="1114247" y="1199998"/>
            <a:ext cx="4745968" cy="4582914"/>
          </a:xfrm>
          <a:prstGeom prst="curvedConnector2">
            <a:avLst/>
          </a:prstGeom>
          <a:ln>
            <a:solidFill>
              <a:srgbClr val="C00000"/>
            </a:solidFill>
            <a:tailEnd type="none"/>
          </a:ln>
        </p:spPr>
        <p:style>
          <a:lnRef idx="2">
            <a:schemeClr val="accent1"/>
          </a:lnRef>
          <a:fillRef idx="0">
            <a:schemeClr val="accent1"/>
          </a:fillRef>
          <a:effectRef idx="1">
            <a:schemeClr val="accent1"/>
          </a:effectRef>
          <a:fontRef idx="minor">
            <a:schemeClr val="tx1"/>
          </a:fontRef>
        </p:style>
      </p:cxnSp>
      <p:sp>
        <p:nvSpPr>
          <p:cNvPr id="66" name="文本框 65">
            <a:extLst>
              <a:ext uri="{FF2B5EF4-FFF2-40B4-BE49-F238E27FC236}">
                <a16:creationId xmlns:a16="http://schemas.microsoft.com/office/drawing/2014/main" id="{27D2A3CD-8238-B708-2029-3E035A9A6A1B}"/>
              </a:ext>
            </a:extLst>
          </p:cNvPr>
          <p:cNvSpPr txBox="1"/>
          <p:nvPr/>
        </p:nvSpPr>
        <p:spPr>
          <a:xfrm>
            <a:off x="1417332" y="4923224"/>
            <a:ext cx="1677796" cy="484869"/>
          </a:xfrm>
          <a:prstGeom prst="rect">
            <a:avLst/>
          </a:prstGeom>
          <a:noFill/>
        </p:spPr>
        <p:txBody>
          <a:bodyPr wrap="square" rtlCol="0">
            <a:spAutoFit/>
          </a:bodyPr>
          <a:lstStyle/>
          <a:p>
            <a:pPr algn="ctr"/>
            <a:r>
              <a:rPr lang="zh-CN" altLang="en-US" sz="1400" dirty="0">
                <a:latin typeface="+mj-ea"/>
                <a:ea typeface="+mj-ea"/>
              </a:rPr>
              <a:t>英雄式</a:t>
            </a:r>
            <a:endParaRPr lang="en-US" altLang="zh-CN" sz="1400" dirty="0">
              <a:latin typeface="+mj-ea"/>
              <a:ea typeface="+mj-ea"/>
            </a:endParaRPr>
          </a:p>
          <a:p>
            <a:pPr algn="ctr"/>
            <a:r>
              <a:rPr lang="zh-CN" altLang="en-US" sz="1400" dirty="0">
                <a:latin typeface="+mj-ea"/>
                <a:ea typeface="+mj-ea"/>
              </a:rPr>
              <a:t>努力</a:t>
            </a:r>
          </a:p>
        </p:txBody>
      </p:sp>
      <p:sp>
        <p:nvSpPr>
          <p:cNvPr id="67" name="文本框 66">
            <a:extLst>
              <a:ext uri="{FF2B5EF4-FFF2-40B4-BE49-F238E27FC236}">
                <a16:creationId xmlns:a16="http://schemas.microsoft.com/office/drawing/2014/main" id="{8AA15222-E92B-80FF-FAE3-138525E2D1D9}"/>
              </a:ext>
            </a:extLst>
          </p:cNvPr>
          <p:cNvSpPr txBox="1"/>
          <p:nvPr/>
        </p:nvSpPr>
        <p:spPr>
          <a:xfrm>
            <a:off x="2504792" y="4478945"/>
            <a:ext cx="1677796" cy="285218"/>
          </a:xfrm>
          <a:prstGeom prst="rect">
            <a:avLst/>
          </a:prstGeom>
          <a:noFill/>
        </p:spPr>
        <p:txBody>
          <a:bodyPr wrap="square" rtlCol="0">
            <a:spAutoFit/>
          </a:bodyPr>
          <a:lstStyle/>
          <a:p>
            <a:pPr algn="ctr"/>
            <a:r>
              <a:rPr lang="zh-CN" altLang="en-US" sz="1400" dirty="0">
                <a:latin typeface="+mj-ea"/>
                <a:ea typeface="+mj-ea"/>
              </a:rPr>
              <a:t>流程激增</a:t>
            </a:r>
          </a:p>
        </p:txBody>
      </p:sp>
      <p:sp>
        <p:nvSpPr>
          <p:cNvPr id="68" name="文本框 67">
            <a:extLst>
              <a:ext uri="{FF2B5EF4-FFF2-40B4-BE49-F238E27FC236}">
                <a16:creationId xmlns:a16="http://schemas.microsoft.com/office/drawing/2014/main" id="{822BBEA7-EA45-53EB-30E5-739FFB48885B}"/>
              </a:ext>
            </a:extLst>
          </p:cNvPr>
          <p:cNvSpPr txBox="1"/>
          <p:nvPr/>
        </p:nvSpPr>
        <p:spPr>
          <a:xfrm>
            <a:off x="3277721" y="3701900"/>
            <a:ext cx="1677796" cy="484869"/>
          </a:xfrm>
          <a:prstGeom prst="rect">
            <a:avLst/>
          </a:prstGeom>
          <a:noFill/>
        </p:spPr>
        <p:txBody>
          <a:bodyPr wrap="square" rtlCol="0">
            <a:spAutoFit/>
          </a:bodyPr>
          <a:lstStyle/>
          <a:p>
            <a:pPr algn="ctr"/>
            <a:r>
              <a:rPr lang="zh-CN" altLang="en-US" sz="1400" dirty="0">
                <a:latin typeface="+mj-ea"/>
                <a:ea typeface="+mj-ea"/>
              </a:rPr>
              <a:t>边际收益</a:t>
            </a:r>
            <a:endParaRPr lang="en-US" altLang="zh-CN" sz="1400" dirty="0">
              <a:latin typeface="+mj-ea"/>
              <a:ea typeface="+mj-ea"/>
            </a:endParaRPr>
          </a:p>
          <a:p>
            <a:pPr algn="ctr"/>
            <a:r>
              <a:rPr lang="zh-CN" altLang="en-US" sz="1400" dirty="0">
                <a:latin typeface="+mj-ea"/>
                <a:ea typeface="+mj-ea"/>
              </a:rPr>
              <a:t>递减</a:t>
            </a:r>
          </a:p>
        </p:txBody>
      </p:sp>
      <p:sp>
        <p:nvSpPr>
          <p:cNvPr id="69" name="文本框 68">
            <a:extLst>
              <a:ext uri="{FF2B5EF4-FFF2-40B4-BE49-F238E27FC236}">
                <a16:creationId xmlns:a16="http://schemas.microsoft.com/office/drawing/2014/main" id="{BB737672-4CE4-1276-4591-79EDEF06CDF7}"/>
              </a:ext>
            </a:extLst>
          </p:cNvPr>
          <p:cNvSpPr txBox="1"/>
          <p:nvPr/>
        </p:nvSpPr>
        <p:spPr>
          <a:xfrm>
            <a:off x="3855678" y="2901665"/>
            <a:ext cx="1677796" cy="307777"/>
          </a:xfrm>
          <a:prstGeom prst="rect">
            <a:avLst/>
          </a:prstGeom>
          <a:noFill/>
        </p:spPr>
        <p:txBody>
          <a:bodyPr wrap="square" rtlCol="0">
            <a:spAutoFit/>
          </a:bodyPr>
          <a:lstStyle/>
          <a:p>
            <a:pPr algn="ctr"/>
            <a:r>
              <a:rPr lang="zh-CN" altLang="en-US" sz="1400" dirty="0">
                <a:latin typeface="+mj-ea"/>
                <a:ea typeface="+mj-ea"/>
              </a:rPr>
              <a:t>边际效用驱零</a:t>
            </a:r>
          </a:p>
        </p:txBody>
      </p:sp>
      <p:sp>
        <p:nvSpPr>
          <p:cNvPr id="70" name="文本框 69">
            <a:extLst>
              <a:ext uri="{FF2B5EF4-FFF2-40B4-BE49-F238E27FC236}">
                <a16:creationId xmlns:a16="http://schemas.microsoft.com/office/drawing/2014/main" id="{29EEE97F-C510-1241-03D4-5FD83AE71FC6}"/>
              </a:ext>
            </a:extLst>
          </p:cNvPr>
          <p:cNvSpPr txBox="1"/>
          <p:nvPr/>
        </p:nvSpPr>
        <p:spPr>
          <a:xfrm>
            <a:off x="4210610" y="2094138"/>
            <a:ext cx="1677796" cy="285218"/>
          </a:xfrm>
          <a:prstGeom prst="rect">
            <a:avLst/>
          </a:prstGeom>
          <a:noFill/>
        </p:spPr>
        <p:txBody>
          <a:bodyPr wrap="square" rtlCol="0">
            <a:spAutoFit/>
          </a:bodyPr>
          <a:lstStyle/>
          <a:p>
            <a:pPr algn="ctr"/>
            <a:r>
              <a:rPr lang="zh-CN" altLang="en-US" sz="1400" dirty="0">
                <a:latin typeface="+mj-ea"/>
                <a:ea typeface="+mj-ea"/>
              </a:rPr>
              <a:t>熵爆炸</a:t>
            </a:r>
          </a:p>
        </p:txBody>
      </p:sp>
      <p:grpSp>
        <p:nvGrpSpPr>
          <p:cNvPr id="93" name="组合 92">
            <a:extLst>
              <a:ext uri="{FF2B5EF4-FFF2-40B4-BE49-F238E27FC236}">
                <a16:creationId xmlns:a16="http://schemas.microsoft.com/office/drawing/2014/main" id="{F05296DA-57B0-10CE-9CBB-54B31C016007}"/>
              </a:ext>
            </a:extLst>
          </p:cNvPr>
          <p:cNvGrpSpPr/>
          <p:nvPr/>
        </p:nvGrpSpPr>
        <p:grpSpPr>
          <a:xfrm>
            <a:off x="6019188" y="4678460"/>
            <a:ext cx="616574" cy="586630"/>
            <a:chOff x="8848578" y="3589031"/>
            <a:chExt cx="628124" cy="633029"/>
          </a:xfrm>
        </p:grpSpPr>
        <p:sp>
          <p:nvSpPr>
            <p:cNvPr id="73" name="椭圆 72">
              <a:extLst>
                <a:ext uri="{FF2B5EF4-FFF2-40B4-BE49-F238E27FC236}">
                  <a16:creationId xmlns:a16="http://schemas.microsoft.com/office/drawing/2014/main" id="{C6CFBC52-6AC2-FEEE-46A7-3892ED4F9CB4}"/>
                </a:ext>
              </a:extLst>
            </p:cNvPr>
            <p:cNvSpPr/>
            <p:nvPr/>
          </p:nvSpPr>
          <p:spPr>
            <a:xfrm>
              <a:off x="8848578" y="3589031"/>
              <a:ext cx="628124" cy="633029"/>
            </a:xfrm>
            <a:prstGeom prst="ellipse">
              <a:avLst/>
            </a:prstGeom>
            <a:noFill/>
            <a:ln>
              <a:solidFill>
                <a:schemeClr val="dk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pic>
          <p:nvPicPr>
            <p:cNvPr id="92" name="图形 91">
              <a:extLst>
                <a:ext uri="{FF2B5EF4-FFF2-40B4-BE49-F238E27FC236}">
                  <a16:creationId xmlns:a16="http://schemas.microsoft.com/office/drawing/2014/main" id="{7C1A2D37-8E78-BA69-10FF-8BD77423709F}"/>
                </a:ext>
              </a:extLst>
            </p:cNvPr>
            <p:cNvPicPr>
              <a:picLocks noChangeAspect="1"/>
            </p:cNvPicPr>
            <p:nvPr>
              <p:custDataLst>
                <p:tags r:id="rId1"/>
              </p:custDataLst>
            </p:nvPr>
          </p:nvPicPr>
          <p:blipFill>
            <a:blip r:embed="rId3">
              <a:extLst>
                <a:ext uri="{96DAC541-7B7A-43D3-8B79-37D633B846F1}">
                  <asvg:svgBlip xmlns:asvg="http://schemas.microsoft.com/office/drawing/2016/SVG/main" r:embed="rId4"/>
                </a:ext>
              </a:extLst>
            </a:blip>
            <a:stretch>
              <a:fillRect/>
            </a:stretch>
          </p:blipFill>
          <p:spPr>
            <a:xfrm>
              <a:off x="8909919" y="3596065"/>
              <a:ext cx="493354" cy="493354"/>
            </a:xfrm>
            <a:prstGeom prst="rect">
              <a:avLst/>
            </a:prstGeom>
          </p:spPr>
        </p:pic>
      </p:grpSp>
      <p:sp>
        <p:nvSpPr>
          <p:cNvPr id="101" name="椭圆 100">
            <a:extLst>
              <a:ext uri="{FF2B5EF4-FFF2-40B4-BE49-F238E27FC236}">
                <a16:creationId xmlns:a16="http://schemas.microsoft.com/office/drawing/2014/main" id="{8EA814FF-ED72-C89F-68F8-E4C7472254C1}"/>
              </a:ext>
            </a:extLst>
          </p:cNvPr>
          <p:cNvSpPr/>
          <p:nvPr/>
        </p:nvSpPr>
        <p:spPr>
          <a:xfrm>
            <a:off x="2407376" y="5480630"/>
            <a:ext cx="119524" cy="96138"/>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sp>
        <p:nvSpPr>
          <p:cNvPr id="102" name="椭圆 101">
            <a:extLst>
              <a:ext uri="{FF2B5EF4-FFF2-40B4-BE49-F238E27FC236}">
                <a16:creationId xmlns:a16="http://schemas.microsoft.com/office/drawing/2014/main" id="{E2A3C773-3958-4334-1DB4-5999582B1055}"/>
              </a:ext>
            </a:extLst>
          </p:cNvPr>
          <p:cNvSpPr/>
          <p:nvPr/>
        </p:nvSpPr>
        <p:spPr>
          <a:xfrm>
            <a:off x="3631729" y="4875637"/>
            <a:ext cx="119524" cy="96138"/>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sp>
        <p:nvSpPr>
          <p:cNvPr id="103" name="椭圆 102">
            <a:extLst>
              <a:ext uri="{FF2B5EF4-FFF2-40B4-BE49-F238E27FC236}">
                <a16:creationId xmlns:a16="http://schemas.microsoft.com/office/drawing/2014/main" id="{A13DE4E8-E38B-7708-E18D-B9715FCE6E27}"/>
              </a:ext>
            </a:extLst>
          </p:cNvPr>
          <p:cNvSpPr/>
          <p:nvPr/>
        </p:nvSpPr>
        <p:spPr>
          <a:xfrm>
            <a:off x="4505816" y="4126086"/>
            <a:ext cx="119524" cy="96138"/>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sp>
        <p:nvSpPr>
          <p:cNvPr id="104" name="椭圆 103">
            <a:extLst>
              <a:ext uri="{FF2B5EF4-FFF2-40B4-BE49-F238E27FC236}">
                <a16:creationId xmlns:a16="http://schemas.microsoft.com/office/drawing/2014/main" id="{53138D79-88AA-9D69-E4D3-1984A6194FBE}"/>
              </a:ext>
            </a:extLst>
          </p:cNvPr>
          <p:cNvSpPr/>
          <p:nvPr/>
        </p:nvSpPr>
        <p:spPr>
          <a:xfrm>
            <a:off x="5170296" y="3246769"/>
            <a:ext cx="119524" cy="96138"/>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sp>
        <p:nvSpPr>
          <p:cNvPr id="105" name="椭圆 104">
            <a:extLst>
              <a:ext uri="{FF2B5EF4-FFF2-40B4-BE49-F238E27FC236}">
                <a16:creationId xmlns:a16="http://schemas.microsoft.com/office/drawing/2014/main" id="{D9208917-7604-05AD-A56C-4C03E2F5C85E}"/>
              </a:ext>
            </a:extLst>
          </p:cNvPr>
          <p:cNvSpPr/>
          <p:nvPr/>
        </p:nvSpPr>
        <p:spPr>
          <a:xfrm>
            <a:off x="5632877" y="2274074"/>
            <a:ext cx="119524" cy="96138"/>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sp>
        <p:nvSpPr>
          <p:cNvPr id="123" name="任意多边形: 形状 122">
            <a:extLst>
              <a:ext uri="{FF2B5EF4-FFF2-40B4-BE49-F238E27FC236}">
                <a16:creationId xmlns:a16="http://schemas.microsoft.com/office/drawing/2014/main" id="{9E4CBFC7-39B9-E5DE-AAE0-9EA4BE588589}"/>
              </a:ext>
            </a:extLst>
          </p:cNvPr>
          <p:cNvSpPr/>
          <p:nvPr/>
        </p:nvSpPr>
        <p:spPr>
          <a:xfrm>
            <a:off x="1128058" y="4950291"/>
            <a:ext cx="4624343" cy="883423"/>
          </a:xfrm>
          <a:custGeom>
            <a:avLst/>
            <a:gdLst>
              <a:gd name="connsiteX0" fmla="*/ 0 w 4930726"/>
              <a:gd name="connsiteY0" fmla="*/ 908906 h 953297"/>
              <a:gd name="connsiteX1" fmla="*/ 49237 w 4930726"/>
              <a:gd name="connsiteY1" fmla="*/ 915940 h 953297"/>
              <a:gd name="connsiteX2" fmla="*/ 84406 w 4930726"/>
              <a:gd name="connsiteY2" fmla="*/ 922974 h 953297"/>
              <a:gd name="connsiteX3" fmla="*/ 126609 w 4930726"/>
              <a:gd name="connsiteY3" fmla="*/ 930008 h 953297"/>
              <a:gd name="connsiteX4" fmla="*/ 161779 w 4930726"/>
              <a:gd name="connsiteY4" fmla="*/ 944076 h 953297"/>
              <a:gd name="connsiteX5" fmla="*/ 344659 w 4930726"/>
              <a:gd name="connsiteY5" fmla="*/ 937042 h 953297"/>
              <a:gd name="connsiteX6" fmla="*/ 407963 w 4930726"/>
              <a:gd name="connsiteY6" fmla="*/ 930008 h 953297"/>
              <a:gd name="connsiteX7" fmla="*/ 443132 w 4930726"/>
              <a:gd name="connsiteY7" fmla="*/ 922974 h 953297"/>
              <a:gd name="connsiteX8" fmla="*/ 492369 w 4930726"/>
              <a:gd name="connsiteY8" fmla="*/ 915940 h 953297"/>
              <a:gd name="connsiteX9" fmla="*/ 640080 w 4930726"/>
              <a:gd name="connsiteY9" fmla="*/ 873737 h 953297"/>
              <a:gd name="connsiteX10" fmla="*/ 682283 w 4930726"/>
              <a:gd name="connsiteY10" fmla="*/ 859669 h 953297"/>
              <a:gd name="connsiteX11" fmla="*/ 717452 w 4930726"/>
              <a:gd name="connsiteY11" fmla="*/ 852636 h 953297"/>
              <a:gd name="connsiteX12" fmla="*/ 935502 w 4930726"/>
              <a:gd name="connsiteY12" fmla="*/ 789331 h 953297"/>
              <a:gd name="connsiteX13" fmla="*/ 1357532 w 4930726"/>
              <a:gd name="connsiteY13" fmla="*/ 740094 h 953297"/>
              <a:gd name="connsiteX14" fmla="*/ 1448972 w 4930726"/>
              <a:gd name="connsiteY14" fmla="*/ 711959 h 953297"/>
              <a:gd name="connsiteX15" fmla="*/ 1498209 w 4930726"/>
              <a:gd name="connsiteY15" fmla="*/ 690857 h 953297"/>
              <a:gd name="connsiteX16" fmla="*/ 1730326 w 4930726"/>
              <a:gd name="connsiteY16" fmla="*/ 676789 h 953297"/>
              <a:gd name="connsiteX17" fmla="*/ 1793631 w 4930726"/>
              <a:gd name="connsiteY17" fmla="*/ 669756 h 953297"/>
              <a:gd name="connsiteX18" fmla="*/ 1842868 w 4930726"/>
              <a:gd name="connsiteY18" fmla="*/ 655688 h 953297"/>
              <a:gd name="connsiteX19" fmla="*/ 1941342 w 4930726"/>
              <a:gd name="connsiteY19" fmla="*/ 634586 h 953297"/>
              <a:gd name="connsiteX20" fmla="*/ 1997612 w 4930726"/>
              <a:gd name="connsiteY20" fmla="*/ 613485 h 953297"/>
              <a:gd name="connsiteX21" fmla="*/ 2082019 w 4930726"/>
              <a:gd name="connsiteY21" fmla="*/ 599417 h 953297"/>
              <a:gd name="connsiteX22" fmla="*/ 2187526 w 4930726"/>
              <a:gd name="connsiteY22" fmla="*/ 571282 h 953297"/>
              <a:gd name="connsiteX23" fmla="*/ 2208628 w 4930726"/>
              <a:gd name="connsiteY23" fmla="*/ 543146 h 953297"/>
              <a:gd name="connsiteX24" fmla="*/ 2250831 w 4930726"/>
              <a:gd name="connsiteY24" fmla="*/ 536112 h 953297"/>
              <a:gd name="connsiteX25" fmla="*/ 2391508 w 4930726"/>
              <a:gd name="connsiteY25" fmla="*/ 500943 h 953297"/>
              <a:gd name="connsiteX26" fmla="*/ 2433711 w 4930726"/>
              <a:gd name="connsiteY26" fmla="*/ 472808 h 953297"/>
              <a:gd name="connsiteX27" fmla="*/ 2588455 w 4930726"/>
              <a:gd name="connsiteY27" fmla="*/ 451706 h 953297"/>
              <a:gd name="connsiteX28" fmla="*/ 2708031 w 4930726"/>
              <a:gd name="connsiteY28" fmla="*/ 409503 h 953297"/>
              <a:gd name="connsiteX29" fmla="*/ 2750234 w 4930726"/>
              <a:gd name="connsiteY29" fmla="*/ 395436 h 953297"/>
              <a:gd name="connsiteX30" fmla="*/ 2820572 w 4930726"/>
              <a:gd name="connsiteY30" fmla="*/ 381368 h 953297"/>
              <a:gd name="connsiteX31" fmla="*/ 3087859 w 4930726"/>
              <a:gd name="connsiteY31" fmla="*/ 296962 h 953297"/>
              <a:gd name="connsiteX32" fmla="*/ 3144129 w 4930726"/>
              <a:gd name="connsiteY32" fmla="*/ 275860 h 953297"/>
              <a:gd name="connsiteX33" fmla="*/ 3193366 w 4930726"/>
              <a:gd name="connsiteY33" fmla="*/ 268826 h 953297"/>
              <a:gd name="connsiteX34" fmla="*/ 3242603 w 4930726"/>
              <a:gd name="connsiteY34" fmla="*/ 254759 h 953297"/>
              <a:gd name="connsiteX35" fmla="*/ 3305908 w 4930726"/>
              <a:gd name="connsiteY35" fmla="*/ 247725 h 953297"/>
              <a:gd name="connsiteX36" fmla="*/ 3467686 w 4930726"/>
              <a:gd name="connsiteY36" fmla="*/ 233657 h 953297"/>
              <a:gd name="connsiteX37" fmla="*/ 3502855 w 4930726"/>
              <a:gd name="connsiteY37" fmla="*/ 219589 h 953297"/>
              <a:gd name="connsiteX38" fmla="*/ 3530991 w 4930726"/>
              <a:gd name="connsiteY38" fmla="*/ 205522 h 953297"/>
              <a:gd name="connsiteX39" fmla="*/ 3580228 w 4930726"/>
              <a:gd name="connsiteY39" fmla="*/ 198488 h 953297"/>
              <a:gd name="connsiteX40" fmla="*/ 3608363 w 4930726"/>
              <a:gd name="connsiteY40" fmla="*/ 177386 h 953297"/>
              <a:gd name="connsiteX41" fmla="*/ 3643532 w 4930726"/>
              <a:gd name="connsiteY41" fmla="*/ 163319 h 953297"/>
              <a:gd name="connsiteX42" fmla="*/ 3685735 w 4930726"/>
              <a:gd name="connsiteY42" fmla="*/ 142217 h 953297"/>
              <a:gd name="connsiteX43" fmla="*/ 3734972 w 4930726"/>
              <a:gd name="connsiteY43" fmla="*/ 121116 h 953297"/>
              <a:gd name="connsiteX44" fmla="*/ 3763108 w 4930726"/>
              <a:gd name="connsiteY44" fmla="*/ 100014 h 953297"/>
              <a:gd name="connsiteX45" fmla="*/ 3938954 w 4930726"/>
              <a:gd name="connsiteY45" fmla="*/ 29676 h 953297"/>
              <a:gd name="connsiteX46" fmla="*/ 3974123 w 4930726"/>
              <a:gd name="connsiteY46" fmla="*/ 1540 h 953297"/>
              <a:gd name="connsiteX47" fmla="*/ 4227342 w 4930726"/>
              <a:gd name="connsiteY47" fmla="*/ 15608 h 953297"/>
              <a:gd name="connsiteX48" fmla="*/ 4262511 w 4930726"/>
              <a:gd name="connsiteY48" fmla="*/ 50777 h 953297"/>
              <a:gd name="connsiteX49" fmla="*/ 4290646 w 4930726"/>
              <a:gd name="connsiteY49" fmla="*/ 71879 h 953297"/>
              <a:gd name="connsiteX50" fmla="*/ 4346917 w 4930726"/>
              <a:gd name="connsiteY50" fmla="*/ 128149 h 953297"/>
              <a:gd name="connsiteX51" fmla="*/ 4403188 w 4930726"/>
              <a:gd name="connsiteY51" fmla="*/ 177386 h 953297"/>
              <a:gd name="connsiteX52" fmla="*/ 4431323 w 4930726"/>
              <a:gd name="connsiteY52" fmla="*/ 205522 h 953297"/>
              <a:gd name="connsiteX53" fmla="*/ 4466492 w 4930726"/>
              <a:gd name="connsiteY53" fmla="*/ 226623 h 953297"/>
              <a:gd name="connsiteX54" fmla="*/ 4522763 w 4930726"/>
              <a:gd name="connsiteY54" fmla="*/ 303996 h 953297"/>
              <a:gd name="connsiteX55" fmla="*/ 4550899 w 4930726"/>
              <a:gd name="connsiteY55" fmla="*/ 360266 h 953297"/>
              <a:gd name="connsiteX56" fmla="*/ 4607169 w 4930726"/>
              <a:gd name="connsiteY56" fmla="*/ 395436 h 953297"/>
              <a:gd name="connsiteX57" fmla="*/ 4656406 w 4930726"/>
              <a:gd name="connsiteY57" fmla="*/ 416537 h 953297"/>
              <a:gd name="connsiteX58" fmla="*/ 4698609 w 4930726"/>
              <a:gd name="connsiteY58" fmla="*/ 465774 h 953297"/>
              <a:gd name="connsiteX59" fmla="*/ 4733779 w 4930726"/>
              <a:gd name="connsiteY59" fmla="*/ 444672 h 953297"/>
              <a:gd name="connsiteX60" fmla="*/ 4740812 w 4930726"/>
              <a:gd name="connsiteY60" fmla="*/ 423571 h 953297"/>
              <a:gd name="connsiteX61" fmla="*/ 4825219 w 4930726"/>
              <a:gd name="connsiteY61" fmla="*/ 402469 h 953297"/>
              <a:gd name="connsiteX62" fmla="*/ 4846320 w 4930726"/>
              <a:gd name="connsiteY62" fmla="*/ 395436 h 953297"/>
              <a:gd name="connsiteX63" fmla="*/ 4881489 w 4930726"/>
              <a:gd name="connsiteY63" fmla="*/ 388402 h 953297"/>
              <a:gd name="connsiteX64" fmla="*/ 4888523 w 4930726"/>
              <a:gd name="connsiteY64" fmla="*/ 360266 h 953297"/>
              <a:gd name="connsiteX65" fmla="*/ 4930726 w 4930726"/>
              <a:gd name="connsiteY65" fmla="*/ 346199 h 953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930726" h="953297">
                <a:moveTo>
                  <a:pt x="0" y="908906"/>
                </a:moveTo>
                <a:cubicBezTo>
                  <a:pt x="16412" y="911251"/>
                  <a:pt x="32884" y="913214"/>
                  <a:pt x="49237" y="915940"/>
                </a:cubicBezTo>
                <a:cubicBezTo>
                  <a:pt x="61030" y="917905"/>
                  <a:pt x="72644" y="920835"/>
                  <a:pt x="84406" y="922974"/>
                </a:cubicBezTo>
                <a:cubicBezTo>
                  <a:pt x="98438" y="925525"/>
                  <a:pt x="112541" y="927663"/>
                  <a:pt x="126609" y="930008"/>
                </a:cubicBezTo>
                <a:cubicBezTo>
                  <a:pt x="138332" y="934697"/>
                  <a:pt x="149800" y="940083"/>
                  <a:pt x="161779" y="944076"/>
                </a:cubicBezTo>
                <a:cubicBezTo>
                  <a:pt x="224554" y="965000"/>
                  <a:pt x="263917" y="944856"/>
                  <a:pt x="344659" y="937042"/>
                </a:cubicBezTo>
                <a:cubicBezTo>
                  <a:pt x="365791" y="934997"/>
                  <a:pt x="386945" y="933011"/>
                  <a:pt x="407963" y="930008"/>
                </a:cubicBezTo>
                <a:cubicBezTo>
                  <a:pt x="419798" y="928317"/>
                  <a:pt x="431339" y="924939"/>
                  <a:pt x="443132" y="922974"/>
                </a:cubicBezTo>
                <a:cubicBezTo>
                  <a:pt x="459485" y="920248"/>
                  <a:pt x="475957" y="918285"/>
                  <a:pt x="492369" y="915940"/>
                </a:cubicBezTo>
                <a:cubicBezTo>
                  <a:pt x="606456" y="875195"/>
                  <a:pt x="556338" y="885700"/>
                  <a:pt x="640080" y="873737"/>
                </a:cubicBezTo>
                <a:cubicBezTo>
                  <a:pt x="654148" y="869048"/>
                  <a:pt x="667977" y="863571"/>
                  <a:pt x="682283" y="859669"/>
                </a:cubicBezTo>
                <a:cubicBezTo>
                  <a:pt x="693817" y="856523"/>
                  <a:pt x="706026" y="856152"/>
                  <a:pt x="717452" y="852636"/>
                </a:cubicBezTo>
                <a:cubicBezTo>
                  <a:pt x="823576" y="819983"/>
                  <a:pt x="760819" y="814285"/>
                  <a:pt x="935502" y="789331"/>
                </a:cubicBezTo>
                <a:cubicBezTo>
                  <a:pt x="1207048" y="750539"/>
                  <a:pt x="1066423" y="767386"/>
                  <a:pt x="1357532" y="740094"/>
                </a:cubicBezTo>
                <a:cubicBezTo>
                  <a:pt x="1388012" y="730716"/>
                  <a:pt x="1418872" y="722494"/>
                  <a:pt x="1448972" y="711959"/>
                </a:cubicBezTo>
                <a:cubicBezTo>
                  <a:pt x="1465826" y="706060"/>
                  <a:pt x="1480491" y="693072"/>
                  <a:pt x="1498209" y="690857"/>
                </a:cubicBezTo>
                <a:cubicBezTo>
                  <a:pt x="1575125" y="681242"/>
                  <a:pt x="1653009" y="682312"/>
                  <a:pt x="1730326" y="676789"/>
                </a:cubicBezTo>
                <a:cubicBezTo>
                  <a:pt x="1751504" y="675276"/>
                  <a:pt x="1772529" y="672100"/>
                  <a:pt x="1793631" y="669756"/>
                </a:cubicBezTo>
                <a:cubicBezTo>
                  <a:pt x="1810043" y="665067"/>
                  <a:pt x="1826263" y="659642"/>
                  <a:pt x="1842868" y="655688"/>
                </a:cubicBezTo>
                <a:cubicBezTo>
                  <a:pt x="1875525" y="647912"/>
                  <a:pt x="1908955" y="643419"/>
                  <a:pt x="1941342" y="634586"/>
                </a:cubicBezTo>
                <a:cubicBezTo>
                  <a:pt x="1960668" y="629315"/>
                  <a:pt x="1978178" y="618343"/>
                  <a:pt x="1997612" y="613485"/>
                </a:cubicBezTo>
                <a:cubicBezTo>
                  <a:pt x="2025284" y="606567"/>
                  <a:pt x="2054049" y="605011"/>
                  <a:pt x="2082019" y="599417"/>
                </a:cubicBezTo>
                <a:cubicBezTo>
                  <a:pt x="2112351" y="593350"/>
                  <a:pt x="2157217" y="579941"/>
                  <a:pt x="2187526" y="571282"/>
                </a:cubicBezTo>
                <a:cubicBezTo>
                  <a:pt x="2194560" y="561903"/>
                  <a:pt x="2198380" y="548839"/>
                  <a:pt x="2208628" y="543146"/>
                </a:cubicBezTo>
                <a:cubicBezTo>
                  <a:pt x="2221095" y="536220"/>
                  <a:pt x="2237118" y="540030"/>
                  <a:pt x="2250831" y="536112"/>
                </a:cubicBezTo>
                <a:cubicBezTo>
                  <a:pt x="2396043" y="494624"/>
                  <a:pt x="2198730" y="533073"/>
                  <a:pt x="2391508" y="500943"/>
                </a:cubicBezTo>
                <a:cubicBezTo>
                  <a:pt x="2405576" y="491565"/>
                  <a:pt x="2417768" y="478435"/>
                  <a:pt x="2433711" y="472808"/>
                </a:cubicBezTo>
                <a:cubicBezTo>
                  <a:pt x="2469395" y="460214"/>
                  <a:pt x="2551333" y="455081"/>
                  <a:pt x="2588455" y="451706"/>
                </a:cubicBezTo>
                <a:lnTo>
                  <a:pt x="2708031" y="409503"/>
                </a:lnTo>
                <a:cubicBezTo>
                  <a:pt x="2722037" y="404632"/>
                  <a:pt x="2735693" y="398344"/>
                  <a:pt x="2750234" y="395436"/>
                </a:cubicBezTo>
                <a:lnTo>
                  <a:pt x="2820572" y="381368"/>
                </a:lnTo>
                <a:cubicBezTo>
                  <a:pt x="3000266" y="300505"/>
                  <a:pt x="2910527" y="326516"/>
                  <a:pt x="3087859" y="296962"/>
                </a:cubicBezTo>
                <a:cubicBezTo>
                  <a:pt x="3106616" y="289928"/>
                  <a:pt x="3124773" y="281022"/>
                  <a:pt x="3144129" y="275860"/>
                </a:cubicBezTo>
                <a:cubicBezTo>
                  <a:pt x="3160148" y="271588"/>
                  <a:pt x="3177155" y="272300"/>
                  <a:pt x="3193366" y="268826"/>
                </a:cubicBezTo>
                <a:cubicBezTo>
                  <a:pt x="3210056" y="265250"/>
                  <a:pt x="3225826" y="257905"/>
                  <a:pt x="3242603" y="254759"/>
                </a:cubicBezTo>
                <a:cubicBezTo>
                  <a:pt x="3263471" y="250846"/>
                  <a:pt x="3284769" y="249707"/>
                  <a:pt x="3305908" y="247725"/>
                </a:cubicBezTo>
                <a:lnTo>
                  <a:pt x="3467686" y="233657"/>
                </a:lnTo>
                <a:cubicBezTo>
                  <a:pt x="3479409" y="228968"/>
                  <a:pt x="3491317" y="224717"/>
                  <a:pt x="3502855" y="219589"/>
                </a:cubicBezTo>
                <a:cubicBezTo>
                  <a:pt x="3512437" y="215330"/>
                  <a:pt x="3520875" y="208281"/>
                  <a:pt x="3530991" y="205522"/>
                </a:cubicBezTo>
                <a:cubicBezTo>
                  <a:pt x="3546986" y="201160"/>
                  <a:pt x="3563816" y="200833"/>
                  <a:pt x="3580228" y="198488"/>
                </a:cubicBezTo>
                <a:cubicBezTo>
                  <a:pt x="3589606" y="191454"/>
                  <a:pt x="3598115" y="183079"/>
                  <a:pt x="3608363" y="177386"/>
                </a:cubicBezTo>
                <a:cubicBezTo>
                  <a:pt x="3619400" y="171254"/>
                  <a:pt x="3632038" y="168544"/>
                  <a:pt x="3643532" y="163319"/>
                </a:cubicBezTo>
                <a:cubicBezTo>
                  <a:pt x="3657850" y="156811"/>
                  <a:pt x="3671454" y="148808"/>
                  <a:pt x="3685735" y="142217"/>
                </a:cubicBezTo>
                <a:cubicBezTo>
                  <a:pt x="3701948" y="134734"/>
                  <a:pt x="3719296" y="129666"/>
                  <a:pt x="3734972" y="121116"/>
                </a:cubicBezTo>
                <a:cubicBezTo>
                  <a:pt x="3745264" y="115502"/>
                  <a:pt x="3752836" y="105664"/>
                  <a:pt x="3763108" y="100014"/>
                </a:cubicBezTo>
                <a:cubicBezTo>
                  <a:pt x="3874868" y="38546"/>
                  <a:pt x="3845073" y="50537"/>
                  <a:pt x="3938954" y="29676"/>
                </a:cubicBezTo>
                <a:cubicBezTo>
                  <a:pt x="3950677" y="20297"/>
                  <a:pt x="3959128" y="2271"/>
                  <a:pt x="3974123" y="1540"/>
                </a:cubicBezTo>
                <a:cubicBezTo>
                  <a:pt x="4058559" y="-2579"/>
                  <a:pt x="4144011" y="1381"/>
                  <a:pt x="4227342" y="15608"/>
                </a:cubicBezTo>
                <a:cubicBezTo>
                  <a:pt x="4243684" y="18398"/>
                  <a:pt x="4250120" y="39763"/>
                  <a:pt x="4262511" y="50777"/>
                </a:cubicBezTo>
                <a:cubicBezTo>
                  <a:pt x="4271273" y="58565"/>
                  <a:pt x="4282357" y="63590"/>
                  <a:pt x="4290646" y="71879"/>
                </a:cubicBezTo>
                <a:cubicBezTo>
                  <a:pt x="4361558" y="142791"/>
                  <a:pt x="4279088" y="77278"/>
                  <a:pt x="4346917" y="128149"/>
                </a:cubicBezTo>
                <a:cubicBezTo>
                  <a:pt x="4388337" y="197182"/>
                  <a:pt x="4342561" y="136967"/>
                  <a:pt x="4403188" y="177386"/>
                </a:cubicBezTo>
                <a:cubicBezTo>
                  <a:pt x="4414224" y="184743"/>
                  <a:pt x="4420854" y="197379"/>
                  <a:pt x="4431323" y="205522"/>
                </a:cubicBezTo>
                <a:cubicBezTo>
                  <a:pt x="4442114" y="213915"/>
                  <a:pt x="4454769" y="219589"/>
                  <a:pt x="4466492" y="226623"/>
                </a:cubicBezTo>
                <a:cubicBezTo>
                  <a:pt x="4485249" y="252414"/>
                  <a:pt x="4512678" y="273742"/>
                  <a:pt x="4522763" y="303996"/>
                </a:cubicBezTo>
                <a:cubicBezTo>
                  <a:pt x="4530217" y="326356"/>
                  <a:pt x="4533180" y="340333"/>
                  <a:pt x="4550899" y="360266"/>
                </a:cubicBezTo>
                <a:cubicBezTo>
                  <a:pt x="4582529" y="395850"/>
                  <a:pt x="4576432" y="382264"/>
                  <a:pt x="4607169" y="395436"/>
                </a:cubicBezTo>
                <a:cubicBezTo>
                  <a:pt x="4668011" y="421510"/>
                  <a:pt x="4606921" y="400041"/>
                  <a:pt x="4656406" y="416537"/>
                </a:cubicBezTo>
                <a:cubicBezTo>
                  <a:pt x="4658649" y="420275"/>
                  <a:pt x="4680484" y="468040"/>
                  <a:pt x="4698609" y="465774"/>
                </a:cubicBezTo>
                <a:cubicBezTo>
                  <a:pt x="4712175" y="464078"/>
                  <a:pt x="4722056" y="451706"/>
                  <a:pt x="4733779" y="444672"/>
                </a:cubicBezTo>
                <a:cubicBezTo>
                  <a:pt x="4736123" y="437638"/>
                  <a:pt x="4735116" y="428317"/>
                  <a:pt x="4740812" y="423571"/>
                </a:cubicBezTo>
                <a:cubicBezTo>
                  <a:pt x="4759642" y="407879"/>
                  <a:pt x="4805149" y="405336"/>
                  <a:pt x="4825219" y="402469"/>
                </a:cubicBezTo>
                <a:cubicBezTo>
                  <a:pt x="4832253" y="400125"/>
                  <a:pt x="4839127" y="397234"/>
                  <a:pt x="4846320" y="395436"/>
                </a:cubicBezTo>
                <a:cubicBezTo>
                  <a:pt x="4857918" y="392537"/>
                  <a:pt x="4872305" y="396056"/>
                  <a:pt x="4881489" y="388402"/>
                </a:cubicBezTo>
                <a:cubicBezTo>
                  <a:pt x="4888916" y="382213"/>
                  <a:pt x="4881687" y="367102"/>
                  <a:pt x="4888523" y="360266"/>
                </a:cubicBezTo>
                <a:cubicBezTo>
                  <a:pt x="4903461" y="345328"/>
                  <a:pt x="4915227" y="346199"/>
                  <a:pt x="4930726" y="346199"/>
                </a:cubicBezTo>
              </a:path>
            </a:pathLst>
          </a:custGeom>
          <a:ln w="15875">
            <a:solidFill>
              <a:schemeClr val="tx1">
                <a:lumMod val="65000"/>
              </a:schemeClr>
            </a:solidFill>
            <a:extLst>
              <a:ext uri="{C807C97D-BFC1-408E-A445-0C87EB9F89A2}">
                <ask:lineSketchStyleProps xmlns:ask="http://schemas.microsoft.com/office/drawing/2018/sketchyshapes" sd="1219033472">
                  <a:custGeom>
                    <a:avLst/>
                    <a:gdLst>
                      <a:gd name="connsiteX0" fmla="*/ 0 w 4930726"/>
                      <a:gd name="connsiteY0" fmla="*/ 908906 h 953297"/>
                      <a:gd name="connsiteX1" fmla="*/ 49237 w 4930726"/>
                      <a:gd name="connsiteY1" fmla="*/ 915940 h 953297"/>
                      <a:gd name="connsiteX2" fmla="*/ 84406 w 4930726"/>
                      <a:gd name="connsiteY2" fmla="*/ 922974 h 953297"/>
                      <a:gd name="connsiteX3" fmla="*/ 126609 w 4930726"/>
                      <a:gd name="connsiteY3" fmla="*/ 930008 h 953297"/>
                      <a:gd name="connsiteX4" fmla="*/ 161779 w 4930726"/>
                      <a:gd name="connsiteY4" fmla="*/ 944076 h 953297"/>
                      <a:gd name="connsiteX5" fmla="*/ 344659 w 4930726"/>
                      <a:gd name="connsiteY5" fmla="*/ 937042 h 953297"/>
                      <a:gd name="connsiteX6" fmla="*/ 407963 w 4930726"/>
                      <a:gd name="connsiteY6" fmla="*/ 930008 h 953297"/>
                      <a:gd name="connsiteX7" fmla="*/ 443132 w 4930726"/>
                      <a:gd name="connsiteY7" fmla="*/ 922974 h 953297"/>
                      <a:gd name="connsiteX8" fmla="*/ 492369 w 4930726"/>
                      <a:gd name="connsiteY8" fmla="*/ 915940 h 953297"/>
                      <a:gd name="connsiteX9" fmla="*/ 640080 w 4930726"/>
                      <a:gd name="connsiteY9" fmla="*/ 873737 h 953297"/>
                      <a:gd name="connsiteX10" fmla="*/ 682283 w 4930726"/>
                      <a:gd name="connsiteY10" fmla="*/ 859669 h 953297"/>
                      <a:gd name="connsiteX11" fmla="*/ 717452 w 4930726"/>
                      <a:gd name="connsiteY11" fmla="*/ 852636 h 953297"/>
                      <a:gd name="connsiteX12" fmla="*/ 935502 w 4930726"/>
                      <a:gd name="connsiteY12" fmla="*/ 789331 h 953297"/>
                      <a:gd name="connsiteX13" fmla="*/ 1357532 w 4930726"/>
                      <a:gd name="connsiteY13" fmla="*/ 740094 h 953297"/>
                      <a:gd name="connsiteX14" fmla="*/ 1448972 w 4930726"/>
                      <a:gd name="connsiteY14" fmla="*/ 711959 h 953297"/>
                      <a:gd name="connsiteX15" fmla="*/ 1498209 w 4930726"/>
                      <a:gd name="connsiteY15" fmla="*/ 690857 h 953297"/>
                      <a:gd name="connsiteX16" fmla="*/ 1730326 w 4930726"/>
                      <a:gd name="connsiteY16" fmla="*/ 676789 h 953297"/>
                      <a:gd name="connsiteX17" fmla="*/ 1793631 w 4930726"/>
                      <a:gd name="connsiteY17" fmla="*/ 669756 h 953297"/>
                      <a:gd name="connsiteX18" fmla="*/ 1842868 w 4930726"/>
                      <a:gd name="connsiteY18" fmla="*/ 655688 h 953297"/>
                      <a:gd name="connsiteX19" fmla="*/ 1941342 w 4930726"/>
                      <a:gd name="connsiteY19" fmla="*/ 634586 h 953297"/>
                      <a:gd name="connsiteX20" fmla="*/ 1997612 w 4930726"/>
                      <a:gd name="connsiteY20" fmla="*/ 613485 h 953297"/>
                      <a:gd name="connsiteX21" fmla="*/ 2082019 w 4930726"/>
                      <a:gd name="connsiteY21" fmla="*/ 599417 h 953297"/>
                      <a:gd name="connsiteX22" fmla="*/ 2187526 w 4930726"/>
                      <a:gd name="connsiteY22" fmla="*/ 571282 h 953297"/>
                      <a:gd name="connsiteX23" fmla="*/ 2208628 w 4930726"/>
                      <a:gd name="connsiteY23" fmla="*/ 543146 h 953297"/>
                      <a:gd name="connsiteX24" fmla="*/ 2250831 w 4930726"/>
                      <a:gd name="connsiteY24" fmla="*/ 536112 h 953297"/>
                      <a:gd name="connsiteX25" fmla="*/ 2391508 w 4930726"/>
                      <a:gd name="connsiteY25" fmla="*/ 500943 h 953297"/>
                      <a:gd name="connsiteX26" fmla="*/ 2433711 w 4930726"/>
                      <a:gd name="connsiteY26" fmla="*/ 472808 h 953297"/>
                      <a:gd name="connsiteX27" fmla="*/ 2588455 w 4930726"/>
                      <a:gd name="connsiteY27" fmla="*/ 451706 h 953297"/>
                      <a:gd name="connsiteX28" fmla="*/ 2708031 w 4930726"/>
                      <a:gd name="connsiteY28" fmla="*/ 409503 h 953297"/>
                      <a:gd name="connsiteX29" fmla="*/ 2750234 w 4930726"/>
                      <a:gd name="connsiteY29" fmla="*/ 395436 h 953297"/>
                      <a:gd name="connsiteX30" fmla="*/ 2820572 w 4930726"/>
                      <a:gd name="connsiteY30" fmla="*/ 381368 h 953297"/>
                      <a:gd name="connsiteX31" fmla="*/ 3087859 w 4930726"/>
                      <a:gd name="connsiteY31" fmla="*/ 296962 h 953297"/>
                      <a:gd name="connsiteX32" fmla="*/ 3144129 w 4930726"/>
                      <a:gd name="connsiteY32" fmla="*/ 275860 h 953297"/>
                      <a:gd name="connsiteX33" fmla="*/ 3193366 w 4930726"/>
                      <a:gd name="connsiteY33" fmla="*/ 268826 h 953297"/>
                      <a:gd name="connsiteX34" fmla="*/ 3242603 w 4930726"/>
                      <a:gd name="connsiteY34" fmla="*/ 254759 h 953297"/>
                      <a:gd name="connsiteX35" fmla="*/ 3305908 w 4930726"/>
                      <a:gd name="connsiteY35" fmla="*/ 247725 h 953297"/>
                      <a:gd name="connsiteX36" fmla="*/ 3467686 w 4930726"/>
                      <a:gd name="connsiteY36" fmla="*/ 233657 h 953297"/>
                      <a:gd name="connsiteX37" fmla="*/ 3502855 w 4930726"/>
                      <a:gd name="connsiteY37" fmla="*/ 219589 h 953297"/>
                      <a:gd name="connsiteX38" fmla="*/ 3530991 w 4930726"/>
                      <a:gd name="connsiteY38" fmla="*/ 205522 h 953297"/>
                      <a:gd name="connsiteX39" fmla="*/ 3580228 w 4930726"/>
                      <a:gd name="connsiteY39" fmla="*/ 198488 h 953297"/>
                      <a:gd name="connsiteX40" fmla="*/ 3608363 w 4930726"/>
                      <a:gd name="connsiteY40" fmla="*/ 177386 h 953297"/>
                      <a:gd name="connsiteX41" fmla="*/ 3643532 w 4930726"/>
                      <a:gd name="connsiteY41" fmla="*/ 163319 h 953297"/>
                      <a:gd name="connsiteX42" fmla="*/ 3685735 w 4930726"/>
                      <a:gd name="connsiteY42" fmla="*/ 142217 h 953297"/>
                      <a:gd name="connsiteX43" fmla="*/ 3734972 w 4930726"/>
                      <a:gd name="connsiteY43" fmla="*/ 121116 h 953297"/>
                      <a:gd name="connsiteX44" fmla="*/ 3763108 w 4930726"/>
                      <a:gd name="connsiteY44" fmla="*/ 100014 h 953297"/>
                      <a:gd name="connsiteX45" fmla="*/ 3938954 w 4930726"/>
                      <a:gd name="connsiteY45" fmla="*/ 29676 h 953297"/>
                      <a:gd name="connsiteX46" fmla="*/ 3974123 w 4930726"/>
                      <a:gd name="connsiteY46" fmla="*/ 1540 h 953297"/>
                      <a:gd name="connsiteX47" fmla="*/ 4227342 w 4930726"/>
                      <a:gd name="connsiteY47" fmla="*/ 15608 h 953297"/>
                      <a:gd name="connsiteX48" fmla="*/ 4262511 w 4930726"/>
                      <a:gd name="connsiteY48" fmla="*/ 50777 h 953297"/>
                      <a:gd name="connsiteX49" fmla="*/ 4290646 w 4930726"/>
                      <a:gd name="connsiteY49" fmla="*/ 71879 h 953297"/>
                      <a:gd name="connsiteX50" fmla="*/ 4346917 w 4930726"/>
                      <a:gd name="connsiteY50" fmla="*/ 128149 h 953297"/>
                      <a:gd name="connsiteX51" fmla="*/ 4403188 w 4930726"/>
                      <a:gd name="connsiteY51" fmla="*/ 177386 h 953297"/>
                      <a:gd name="connsiteX52" fmla="*/ 4431323 w 4930726"/>
                      <a:gd name="connsiteY52" fmla="*/ 205522 h 953297"/>
                      <a:gd name="connsiteX53" fmla="*/ 4466492 w 4930726"/>
                      <a:gd name="connsiteY53" fmla="*/ 226623 h 953297"/>
                      <a:gd name="connsiteX54" fmla="*/ 4522763 w 4930726"/>
                      <a:gd name="connsiteY54" fmla="*/ 303996 h 953297"/>
                      <a:gd name="connsiteX55" fmla="*/ 4550899 w 4930726"/>
                      <a:gd name="connsiteY55" fmla="*/ 360266 h 953297"/>
                      <a:gd name="connsiteX56" fmla="*/ 4607169 w 4930726"/>
                      <a:gd name="connsiteY56" fmla="*/ 395436 h 953297"/>
                      <a:gd name="connsiteX57" fmla="*/ 4656406 w 4930726"/>
                      <a:gd name="connsiteY57" fmla="*/ 416537 h 953297"/>
                      <a:gd name="connsiteX58" fmla="*/ 4698609 w 4930726"/>
                      <a:gd name="connsiteY58" fmla="*/ 465774 h 953297"/>
                      <a:gd name="connsiteX59" fmla="*/ 4733779 w 4930726"/>
                      <a:gd name="connsiteY59" fmla="*/ 444672 h 953297"/>
                      <a:gd name="connsiteX60" fmla="*/ 4740812 w 4930726"/>
                      <a:gd name="connsiteY60" fmla="*/ 423571 h 953297"/>
                      <a:gd name="connsiteX61" fmla="*/ 4825219 w 4930726"/>
                      <a:gd name="connsiteY61" fmla="*/ 402469 h 953297"/>
                      <a:gd name="connsiteX62" fmla="*/ 4846320 w 4930726"/>
                      <a:gd name="connsiteY62" fmla="*/ 395436 h 953297"/>
                      <a:gd name="connsiteX63" fmla="*/ 4881489 w 4930726"/>
                      <a:gd name="connsiteY63" fmla="*/ 388402 h 953297"/>
                      <a:gd name="connsiteX64" fmla="*/ 4888523 w 4930726"/>
                      <a:gd name="connsiteY64" fmla="*/ 360266 h 953297"/>
                      <a:gd name="connsiteX65" fmla="*/ 4930726 w 4930726"/>
                      <a:gd name="connsiteY65" fmla="*/ 346199 h 953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930726" h="953297" extrusionOk="0">
                        <a:moveTo>
                          <a:pt x="0" y="908906"/>
                        </a:moveTo>
                        <a:cubicBezTo>
                          <a:pt x="15263" y="910542"/>
                          <a:pt x="32161" y="913485"/>
                          <a:pt x="49237" y="915940"/>
                        </a:cubicBezTo>
                        <a:cubicBezTo>
                          <a:pt x="63195" y="918361"/>
                          <a:pt x="70313" y="920909"/>
                          <a:pt x="84406" y="922974"/>
                        </a:cubicBezTo>
                        <a:cubicBezTo>
                          <a:pt x="96613" y="927307"/>
                          <a:pt x="112138" y="929890"/>
                          <a:pt x="126609" y="930008"/>
                        </a:cubicBezTo>
                        <a:cubicBezTo>
                          <a:pt x="137880" y="934450"/>
                          <a:pt x="150334" y="940338"/>
                          <a:pt x="161779" y="944076"/>
                        </a:cubicBezTo>
                        <a:cubicBezTo>
                          <a:pt x="232497" y="965942"/>
                          <a:pt x="267213" y="938073"/>
                          <a:pt x="344659" y="937042"/>
                        </a:cubicBezTo>
                        <a:cubicBezTo>
                          <a:pt x="363433" y="934636"/>
                          <a:pt x="384070" y="935718"/>
                          <a:pt x="407963" y="930008"/>
                        </a:cubicBezTo>
                        <a:cubicBezTo>
                          <a:pt x="419751" y="927867"/>
                          <a:pt x="430079" y="926690"/>
                          <a:pt x="443132" y="922974"/>
                        </a:cubicBezTo>
                        <a:cubicBezTo>
                          <a:pt x="462250" y="921796"/>
                          <a:pt x="478014" y="918779"/>
                          <a:pt x="492369" y="915940"/>
                        </a:cubicBezTo>
                        <a:cubicBezTo>
                          <a:pt x="604529" y="874883"/>
                          <a:pt x="560001" y="888696"/>
                          <a:pt x="640080" y="873737"/>
                        </a:cubicBezTo>
                        <a:cubicBezTo>
                          <a:pt x="654565" y="869669"/>
                          <a:pt x="668241" y="866303"/>
                          <a:pt x="682283" y="859669"/>
                        </a:cubicBezTo>
                        <a:cubicBezTo>
                          <a:pt x="694323" y="857302"/>
                          <a:pt x="706844" y="857154"/>
                          <a:pt x="717452" y="852636"/>
                        </a:cubicBezTo>
                        <a:cubicBezTo>
                          <a:pt x="831302" y="813219"/>
                          <a:pt x="761676" y="810252"/>
                          <a:pt x="935502" y="789331"/>
                        </a:cubicBezTo>
                        <a:cubicBezTo>
                          <a:pt x="1198593" y="751927"/>
                          <a:pt x="1055218" y="759654"/>
                          <a:pt x="1357532" y="740094"/>
                        </a:cubicBezTo>
                        <a:cubicBezTo>
                          <a:pt x="1382561" y="730329"/>
                          <a:pt x="1418667" y="722076"/>
                          <a:pt x="1448972" y="711959"/>
                        </a:cubicBezTo>
                        <a:cubicBezTo>
                          <a:pt x="1466004" y="703654"/>
                          <a:pt x="1478664" y="694139"/>
                          <a:pt x="1498209" y="690857"/>
                        </a:cubicBezTo>
                        <a:cubicBezTo>
                          <a:pt x="1568559" y="692982"/>
                          <a:pt x="1658398" y="686316"/>
                          <a:pt x="1730326" y="676789"/>
                        </a:cubicBezTo>
                        <a:cubicBezTo>
                          <a:pt x="1751434" y="676945"/>
                          <a:pt x="1774159" y="671133"/>
                          <a:pt x="1793631" y="669756"/>
                        </a:cubicBezTo>
                        <a:cubicBezTo>
                          <a:pt x="1809174" y="666446"/>
                          <a:pt x="1823213" y="659805"/>
                          <a:pt x="1842868" y="655688"/>
                        </a:cubicBezTo>
                        <a:cubicBezTo>
                          <a:pt x="1875925" y="648705"/>
                          <a:pt x="1903381" y="646359"/>
                          <a:pt x="1941342" y="634586"/>
                        </a:cubicBezTo>
                        <a:cubicBezTo>
                          <a:pt x="1960765" y="628761"/>
                          <a:pt x="1976599" y="618254"/>
                          <a:pt x="1997612" y="613485"/>
                        </a:cubicBezTo>
                        <a:cubicBezTo>
                          <a:pt x="2028331" y="609190"/>
                          <a:pt x="2053682" y="606121"/>
                          <a:pt x="2082019" y="599417"/>
                        </a:cubicBezTo>
                        <a:cubicBezTo>
                          <a:pt x="2111489" y="595081"/>
                          <a:pt x="2154046" y="575733"/>
                          <a:pt x="2187526" y="571282"/>
                        </a:cubicBezTo>
                        <a:cubicBezTo>
                          <a:pt x="2195307" y="562137"/>
                          <a:pt x="2198276" y="546683"/>
                          <a:pt x="2208628" y="543146"/>
                        </a:cubicBezTo>
                        <a:cubicBezTo>
                          <a:pt x="2223086" y="537475"/>
                          <a:pt x="2235359" y="540416"/>
                          <a:pt x="2250831" y="536112"/>
                        </a:cubicBezTo>
                        <a:cubicBezTo>
                          <a:pt x="2387491" y="521286"/>
                          <a:pt x="2189315" y="503425"/>
                          <a:pt x="2391508" y="500943"/>
                        </a:cubicBezTo>
                        <a:cubicBezTo>
                          <a:pt x="2406428" y="490925"/>
                          <a:pt x="2418532" y="477108"/>
                          <a:pt x="2433711" y="472808"/>
                        </a:cubicBezTo>
                        <a:cubicBezTo>
                          <a:pt x="2463360" y="457901"/>
                          <a:pt x="2553638" y="452814"/>
                          <a:pt x="2588455" y="451706"/>
                        </a:cubicBezTo>
                        <a:cubicBezTo>
                          <a:pt x="2602030" y="436732"/>
                          <a:pt x="2654604" y="430581"/>
                          <a:pt x="2708031" y="409503"/>
                        </a:cubicBezTo>
                        <a:cubicBezTo>
                          <a:pt x="2723279" y="404386"/>
                          <a:pt x="2735544" y="398902"/>
                          <a:pt x="2750234" y="395436"/>
                        </a:cubicBezTo>
                        <a:cubicBezTo>
                          <a:pt x="2766773" y="396649"/>
                          <a:pt x="2792492" y="383906"/>
                          <a:pt x="2820572" y="381368"/>
                        </a:cubicBezTo>
                        <a:cubicBezTo>
                          <a:pt x="3002509" y="300576"/>
                          <a:pt x="2920064" y="336398"/>
                          <a:pt x="3087859" y="296962"/>
                        </a:cubicBezTo>
                        <a:cubicBezTo>
                          <a:pt x="3107046" y="290340"/>
                          <a:pt x="3125273" y="282245"/>
                          <a:pt x="3144129" y="275860"/>
                        </a:cubicBezTo>
                        <a:cubicBezTo>
                          <a:pt x="3161077" y="272507"/>
                          <a:pt x="3175285" y="269800"/>
                          <a:pt x="3193366" y="268826"/>
                        </a:cubicBezTo>
                        <a:cubicBezTo>
                          <a:pt x="3209823" y="265481"/>
                          <a:pt x="3226733" y="258108"/>
                          <a:pt x="3242603" y="254759"/>
                        </a:cubicBezTo>
                        <a:cubicBezTo>
                          <a:pt x="3264356" y="249901"/>
                          <a:pt x="3283445" y="247342"/>
                          <a:pt x="3305908" y="247725"/>
                        </a:cubicBezTo>
                        <a:cubicBezTo>
                          <a:pt x="3371448" y="238759"/>
                          <a:pt x="3446707" y="236632"/>
                          <a:pt x="3467686" y="233657"/>
                        </a:cubicBezTo>
                        <a:cubicBezTo>
                          <a:pt x="3479221" y="228753"/>
                          <a:pt x="3491996" y="223983"/>
                          <a:pt x="3502855" y="219589"/>
                        </a:cubicBezTo>
                        <a:cubicBezTo>
                          <a:pt x="3513497" y="216633"/>
                          <a:pt x="3522900" y="208628"/>
                          <a:pt x="3530991" y="205522"/>
                        </a:cubicBezTo>
                        <a:cubicBezTo>
                          <a:pt x="3545680" y="201638"/>
                          <a:pt x="3563797" y="200173"/>
                          <a:pt x="3580228" y="198488"/>
                        </a:cubicBezTo>
                        <a:cubicBezTo>
                          <a:pt x="3589679" y="190717"/>
                          <a:pt x="3598802" y="181048"/>
                          <a:pt x="3608363" y="177386"/>
                        </a:cubicBezTo>
                        <a:cubicBezTo>
                          <a:pt x="3617198" y="171426"/>
                          <a:pt x="3633169" y="166782"/>
                          <a:pt x="3643532" y="163319"/>
                        </a:cubicBezTo>
                        <a:cubicBezTo>
                          <a:pt x="3660282" y="154897"/>
                          <a:pt x="3672633" y="148717"/>
                          <a:pt x="3685735" y="142217"/>
                        </a:cubicBezTo>
                        <a:cubicBezTo>
                          <a:pt x="3702525" y="132502"/>
                          <a:pt x="3719529" y="128792"/>
                          <a:pt x="3734972" y="121116"/>
                        </a:cubicBezTo>
                        <a:cubicBezTo>
                          <a:pt x="3745063" y="116499"/>
                          <a:pt x="3751523" y="104258"/>
                          <a:pt x="3763108" y="100014"/>
                        </a:cubicBezTo>
                        <a:cubicBezTo>
                          <a:pt x="3878449" y="41429"/>
                          <a:pt x="3839790" y="52014"/>
                          <a:pt x="3938954" y="29676"/>
                        </a:cubicBezTo>
                        <a:cubicBezTo>
                          <a:pt x="3950142" y="20485"/>
                          <a:pt x="3959096" y="671"/>
                          <a:pt x="3974123" y="1540"/>
                        </a:cubicBezTo>
                        <a:cubicBezTo>
                          <a:pt x="4043577" y="2979"/>
                          <a:pt x="4143609" y="7471"/>
                          <a:pt x="4227342" y="15608"/>
                        </a:cubicBezTo>
                        <a:cubicBezTo>
                          <a:pt x="4242435" y="17303"/>
                          <a:pt x="4253349" y="40056"/>
                          <a:pt x="4262511" y="50777"/>
                        </a:cubicBezTo>
                        <a:cubicBezTo>
                          <a:pt x="4270577" y="58499"/>
                          <a:pt x="4280476" y="64414"/>
                          <a:pt x="4290646" y="71879"/>
                        </a:cubicBezTo>
                        <a:cubicBezTo>
                          <a:pt x="4352731" y="132510"/>
                          <a:pt x="4279865" y="67440"/>
                          <a:pt x="4346917" y="128149"/>
                        </a:cubicBezTo>
                        <a:cubicBezTo>
                          <a:pt x="4380968" y="207885"/>
                          <a:pt x="4339338" y="145012"/>
                          <a:pt x="4403188" y="177386"/>
                        </a:cubicBezTo>
                        <a:cubicBezTo>
                          <a:pt x="4411812" y="185323"/>
                          <a:pt x="4421717" y="199746"/>
                          <a:pt x="4431323" y="205522"/>
                        </a:cubicBezTo>
                        <a:cubicBezTo>
                          <a:pt x="4439530" y="213467"/>
                          <a:pt x="4454682" y="217338"/>
                          <a:pt x="4466492" y="226623"/>
                        </a:cubicBezTo>
                        <a:cubicBezTo>
                          <a:pt x="4486780" y="249482"/>
                          <a:pt x="4515392" y="270919"/>
                          <a:pt x="4522763" y="303996"/>
                        </a:cubicBezTo>
                        <a:cubicBezTo>
                          <a:pt x="4532356" y="324883"/>
                          <a:pt x="4535287" y="338551"/>
                          <a:pt x="4550899" y="360266"/>
                        </a:cubicBezTo>
                        <a:cubicBezTo>
                          <a:pt x="4582798" y="397369"/>
                          <a:pt x="4576792" y="381927"/>
                          <a:pt x="4607169" y="395436"/>
                        </a:cubicBezTo>
                        <a:cubicBezTo>
                          <a:pt x="4671079" y="421699"/>
                          <a:pt x="4606532" y="395225"/>
                          <a:pt x="4656406" y="416537"/>
                        </a:cubicBezTo>
                        <a:cubicBezTo>
                          <a:pt x="4656575" y="420503"/>
                          <a:pt x="4680783" y="468405"/>
                          <a:pt x="4698609" y="465774"/>
                        </a:cubicBezTo>
                        <a:cubicBezTo>
                          <a:pt x="4711410" y="465943"/>
                          <a:pt x="4723887" y="451063"/>
                          <a:pt x="4733779" y="444672"/>
                        </a:cubicBezTo>
                        <a:cubicBezTo>
                          <a:pt x="4736482" y="436777"/>
                          <a:pt x="4736229" y="428808"/>
                          <a:pt x="4740812" y="423571"/>
                        </a:cubicBezTo>
                        <a:cubicBezTo>
                          <a:pt x="4760423" y="406653"/>
                          <a:pt x="4806025" y="405044"/>
                          <a:pt x="4825219" y="402469"/>
                        </a:cubicBezTo>
                        <a:cubicBezTo>
                          <a:pt x="4833312" y="400315"/>
                          <a:pt x="4839214" y="398341"/>
                          <a:pt x="4846320" y="395436"/>
                        </a:cubicBezTo>
                        <a:cubicBezTo>
                          <a:pt x="4856895" y="392153"/>
                          <a:pt x="4874071" y="395940"/>
                          <a:pt x="4881489" y="388402"/>
                        </a:cubicBezTo>
                        <a:cubicBezTo>
                          <a:pt x="4888893" y="381214"/>
                          <a:pt x="4882130" y="366781"/>
                          <a:pt x="4888523" y="360266"/>
                        </a:cubicBezTo>
                        <a:cubicBezTo>
                          <a:pt x="4904149" y="346710"/>
                          <a:pt x="4916728" y="346166"/>
                          <a:pt x="4930726" y="346199"/>
                        </a:cubicBezTo>
                      </a:path>
                    </a:pathLst>
                  </a:custGeom>
                  <ask:type>
                    <ask:lineSketchNone/>
                  </ask:type>
                </ask:lineSketchStyleProps>
              </a:ext>
            </a:extLst>
          </a:ln>
        </p:spPr>
        <p:style>
          <a:lnRef idx="1">
            <a:schemeClr val="accent5"/>
          </a:lnRef>
          <a:fillRef idx="0">
            <a:schemeClr val="accent5"/>
          </a:fillRef>
          <a:effectRef idx="0">
            <a:schemeClr val="accent5"/>
          </a:effectRef>
          <a:fontRef idx="minor">
            <a:schemeClr val="tx1"/>
          </a:fontRef>
        </p:style>
        <p:txBody>
          <a:bodyPr rtlCol="0" anchor="ctr"/>
          <a:lstStyle/>
          <a:p>
            <a:pPr algn="ctr"/>
            <a:endParaRPr lang="zh-CN" altLang="en-US" sz="1400">
              <a:latin typeface="+mj-ea"/>
              <a:ea typeface="+mj-ea"/>
            </a:endParaRPr>
          </a:p>
        </p:txBody>
      </p:sp>
      <p:cxnSp>
        <p:nvCxnSpPr>
          <p:cNvPr id="125" name="直接箭头连接符 124">
            <a:extLst>
              <a:ext uri="{FF2B5EF4-FFF2-40B4-BE49-F238E27FC236}">
                <a16:creationId xmlns:a16="http://schemas.microsoft.com/office/drawing/2014/main" id="{3C1D6AD2-429C-FD35-10D0-4A1641D0FF4D}"/>
              </a:ext>
            </a:extLst>
          </p:cNvPr>
          <p:cNvCxnSpPr>
            <a:cxnSpLocks/>
          </p:cNvCxnSpPr>
          <p:nvPr/>
        </p:nvCxnSpPr>
        <p:spPr>
          <a:xfrm flipV="1">
            <a:off x="6661130" y="910408"/>
            <a:ext cx="4202290" cy="3910798"/>
          </a:xfrm>
          <a:prstGeom prst="straightConnector1">
            <a:avLst/>
          </a:prstGeom>
          <a:ln>
            <a:solidFill>
              <a:schemeClr val="accent6">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127" name="直接箭头连接符 126">
            <a:extLst>
              <a:ext uri="{FF2B5EF4-FFF2-40B4-BE49-F238E27FC236}">
                <a16:creationId xmlns:a16="http://schemas.microsoft.com/office/drawing/2014/main" id="{CC3E57B4-7520-05C3-91D5-D1B4C3AECDE3}"/>
              </a:ext>
            </a:extLst>
          </p:cNvPr>
          <p:cNvCxnSpPr>
            <a:cxnSpLocks/>
          </p:cNvCxnSpPr>
          <p:nvPr/>
        </p:nvCxnSpPr>
        <p:spPr>
          <a:xfrm flipV="1">
            <a:off x="6686830" y="4580176"/>
            <a:ext cx="4725253" cy="295461"/>
          </a:xfrm>
          <a:prstGeom prst="straightConnector1">
            <a:avLst/>
          </a:prstGeom>
          <a:ln>
            <a:solidFill>
              <a:schemeClr val="tx1">
                <a:lumMod val="65000"/>
              </a:schemeClr>
            </a:solidFill>
            <a:tailEnd type="none"/>
          </a:ln>
        </p:spPr>
        <p:style>
          <a:lnRef idx="2">
            <a:schemeClr val="accent1"/>
          </a:lnRef>
          <a:fillRef idx="0">
            <a:schemeClr val="accent1"/>
          </a:fillRef>
          <a:effectRef idx="1">
            <a:schemeClr val="accent1"/>
          </a:effectRef>
          <a:fontRef idx="minor">
            <a:schemeClr val="tx1"/>
          </a:fontRef>
        </p:style>
      </p:cxnSp>
      <p:sp>
        <p:nvSpPr>
          <p:cNvPr id="132" name="椭圆 131">
            <a:extLst>
              <a:ext uri="{FF2B5EF4-FFF2-40B4-BE49-F238E27FC236}">
                <a16:creationId xmlns:a16="http://schemas.microsoft.com/office/drawing/2014/main" id="{8729B96B-ED23-2406-EC8E-83CA8E4F3D76}"/>
              </a:ext>
            </a:extLst>
          </p:cNvPr>
          <p:cNvSpPr/>
          <p:nvPr/>
        </p:nvSpPr>
        <p:spPr>
          <a:xfrm>
            <a:off x="7720663" y="4759393"/>
            <a:ext cx="119524" cy="96138"/>
          </a:xfrm>
          <a:prstGeom prst="ellipse">
            <a:avLst/>
          </a:prstGeom>
          <a:solidFill>
            <a:schemeClr val="tx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sp>
        <p:nvSpPr>
          <p:cNvPr id="133" name="椭圆 132">
            <a:extLst>
              <a:ext uri="{FF2B5EF4-FFF2-40B4-BE49-F238E27FC236}">
                <a16:creationId xmlns:a16="http://schemas.microsoft.com/office/drawing/2014/main" id="{8617FEB8-126D-2989-02C1-FDFD990C781C}"/>
              </a:ext>
            </a:extLst>
          </p:cNvPr>
          <p:cNvSpPr/>
          <p:nvPr/>
        </p:nvSpPr>
        <p:spPr>
          <a:xfrm>
            <a:off x="9117409" y="4663255"/>
            <a:ext cx="119524" cy="96138"/>
          </a:xfrm>
          <a:prstGeom prst="ellipse">
            <a:avLst/>
          </a:prstGeom>
          <a:solidFill>
            <a:schemeClr val="tx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sp>
        <p:nvSpPr>
          <p:cNvPr id="134" name="椭圆 133">
            <a:extLst>
              <a:ext uri="{FF2B5EF4-FFF2-40B4-BE49-F238E27FC236}">
                <a16:creationId xmlns:a16="http://schemas.microsoft.com/office/drawing/2014/main" id="{D4739AE0-B72F-E921-BAAD-19F7DC974063}"/>
              </a:ext>
            </a:extLst>
          </p:cNvPr>
          <p:cNvSpPr/>
          <p:nvPr/>
        </p:nvSpPr>
        <p:spPr>
          <a:xfrm>
            <a:off x="10545062" y="4582322"/>
            <a:ext cx="119524" cy="96138"/>
          </a:xfrm>
          <a:prstGeom prst="ellipse">
            <a:avLst/>
          </a:prstGeom>
          <a:solidFill>
            <a:schemeClr val="tx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sp>
        <p:nvSpPr>
          <p:cNvPr id="135" name="箭头: 上 134">
            <a:extLst>
              <a:ext uri="{FF2B5EF4-FFF2-40B4-BE49-F238E27FC236}">
                <a16:creationId xmlns:a16="http://schemas.microsoft.com/office/drawing/2014/main" id="{73C8A6D6-02F2-8BC8-CDC7-CAD99C7B2B81}"/>
              </a:ext>
            </a:extLst>
          </p:cNvPr>
          <p:cNvSpPr/>
          <p:nvPr/>
        </p:nvSpPr>
        <p:spPr>
          <a:xfrm>
            <a:off x="8723856" y="2746349"/>
            <a:ext cx="787105" cy="1799503"/>
          </a:xfrm>
          <a:prstGeom prst="upArrow">
            <a:avLst/>
          </a:prstGeom>
          <a:gradFill flip="none" rotWithShape="1">
            <a:gsLst>
              <a:gs pos="3000">
                <a:schemeClr val="accent6">
                  <a:lumMod val="50000"/>
                </a:schemeClr>
              </a:gs>
              <a:gs pos="100000">
                <a:schemeClr val="accent6">
                  <a:lumMod val="60000"/>
                  <a:lumOff val="40000"/>
                </a:schemeClr>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sp>
        <p:nvSpPr>
          <p:cNvPr id="137" name="矩形 136">
            <a:extLst>
              <a:ext uri="{FF2B5EF4-FFF2-40B4-BE49-F238E27FC236}">
                <a16:creationId xmlns:a16="http://schemas.microsoft.com/office/drawing/2014/main" id="{DECE403D-B4B0-5BC8-4590-EF6934074B17}"/>
              </a:ext>
            </a:extLst>
          </p:cNvPr>
          <p:cNvSpPr/>
          <p:nvPr/>
        </p:nvSpPr>
        <p:spPr>
          <a:xfrm>
            <a:off x="7973444" y="3695879"/>
            <a:ext cx="2343083" cy="43020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accent6">
                    <a:lumMod val="60000"/>
                    <a:lumOff val="40000"/>
                  </a:schemeClr>
                </a:solidFill>
                <a:latin typeface="+mj-ea"/>
                <a:ea typeface="+mj-ea"/>
              </a:rPr>
              <a:t>自由现金流释放</a:t>
            </a:r>
            <a:endParaRPr lang="en-US" altLang="zh-CN" sz="1400" b="1" dirty="0">
              <a:solidFill>
                <a:schemeClr val="accent6">
                  <a:lumMod val="60000"/>
                  <a:lumOff val="40000"/>
                </a:schemeClr>
              </a:solidFill>
              <a:latin typeface="+mj-ea"/>
              <a:ea typeface="+mj-ea"/>
            </a:endParaRPr>
          </a:p>
          <a:p>
            <a:pPr algn="ctr"/>
            <a:r>
              <a:rPr lang="en-US" altLang="zh-CN" sz="1400" b="1" dirty="0">
                <a:solidFill>
                  <a:schemeClr val="accent6">
                    <a:lumMod val="60000"/>
                    <a:lumOff val="40000"/>
                  </a:schemeClr>
                </a:solidFill>
                <a:latin typeface="+mj-ea"/>
                <a:ea typeface="+mj-ea"/>
              </a:rPr>
              <a:t>(</a:t>
            </a:r>
            <a:r>
              <a:rPr lang="zh-CN" altLang="en-US" sz="1400" b="1" dirty="0">
                <a:solidFill>
                  <a:schemeClr val="accent6">
                    <a:lumMod val="60000"/>
                    <a:lumOff val="40000"/>
                  </a:schemeClr>
                </a:solidFill>
                <a:latin typeface="+mj-ea"/>
                <a:ea typeface="+mj-ea"/>
              </a:rPr>
              <a:t>价值缺口</a:t>
            </a:r>
            <a:r>
              <a:rPr lang="en-US" altLang="zh-CN" sz="1400" b="1" dirty="0">
                <a:solidFill>
                  <a:schemeClr val="accent6">
                    <a:lumMod val="60000"/>
                    <a:lumOff val="40000"/>
                  </a:schemeClr>
                </a:solidFill>
                <a:latin typeface="+mj-ea"/>
                <a:ea typeface="+mj-ea"/>
              </a:rPr>
              <a:t>)</a:t>
            </a:r>
            <a:endParaRPr lang="zh-CN" altLang="en-US" sz="1400" b="1" dirty="0">
              <a:solidFill>
                <a:schemeClr val="accent6">
                  <a:lumMod val="60000"/>
                  <a:lumOff val="40000"/>
                </a:schemeClr>
              </a:solidFill>
              <a:latin typeface="+mj-ea"/>
              <a:ea typeface="+mj-ea"/>
            </a:endParaRPr>
          </a:p>
        </p:txBody>
      </p:sp>
      <p:sp>
        <p:nvSpPr>
          <p:cNvPr id="141" name="矩形 140">
            <a:extLst>
              <a:ext uri="{FF2B5EF4-FFF2-40B4-BE49-F238E27FC236}">
                <a16:creationId xmlns:a16="http://schemas.microsoft.com/office/drawing/2014/main" id="{D794BD5F-0B62-4C58-7EE6-308E5E52CAE4}"/>
              </a:ext>
            </a:extLst>
          </p:cNvPr>
          <p:cNvSpPr/>
          <p:nvPr/>
        </p:nvSpPr>
        <p:spPr>
          <a:xfrm>
            <a:off x="3787166" y="5379850"/>
            <a:ext cx="2994816" cy="36586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accent1">
                    <a:lumMod val="75000"/>
                  </a:schemeClr>
                </a:solidFill>
                <a:latin typeface="+mj-ea"/>
                <a:ea typeface="+mj-ea"/>
              </a:rPr>
              <a:t>死亡之谷</a:t>
            </a:r>
            <a:endParaRPr lang="en-US" altLang="zh-CN" sz="1400" b="1" dirty="0">
              <a:solidFill>
                <a:schemeClr val="accent1">
                  <a:lumMod val="75000"/>
                </a:schemeClr>
              </a:solidFill>
              <a:latin typeface="+mj-ea"/>
              <a:ea typeface="+mj-ea"/>
            </a:endParaRPr>
          </a:p>
          <a:p>
            <a:pPr algn="ctr"/>
            <a:r>
              <a:rPr lang="zh-CN" altLang="en-US" sz="1400" b="1" dirty="0">
                <a:solidFill>
                  <a:schemeClr val="accent1">
                    <a:lumMod val="75000"/>
                  </a:schemeClr>
                </a:solidFill>
                <a:latin typeface="+mj-ea"/>
                <a:ea typeface="+mj-ea"/>
              </a:rPr>
              <a:t>（过度成本和文化阻碍）</a:t>
            </a:r>
          </a:p>
        </p:txBody>
      </p:sp>
      <p:cxnSp>
        <p:nvCxnSpPr>
          <p:cNvPr id="143" name="直接连接符 142">
            <a:extLst>
              <a:ext uri="{FF2B5EF4-FFF2-40B4-BE49-F238E27FC236}">
                <a16:creationId xmlns:a16="http://schemas.microsoft.com/office/drawing/2014/main" id="{6E2AB7CA-8C91-860B-ABA2-2FE64CE3681D}"/>
              </a:ext>
            </a:extLst>
          </p:cNvPr>
          <p:cNvCxnSpPr/>
          <p:nvPr/>
        </p:nvCxnSpPr>
        <p:spPr>
          <a:xfrm flipV="1">
            <a:off x="5752402" y="5107763"/>
            <a:ext cx="261826" cy="157326"/>
          </a:xfrm>
          <a:prstGeom prst="line">
            <a:avLst/>
          </a:prstGeom>
          <a:ln w="15875">
            <a:solidFill>
              <a:schemeClr val="tx1">
                <a:lumMod val="50000"/>
              </a:schemeClr>
            </a:solidFill>
            <a:tailEnd type="none"/>
          </a:ln>
        </p:spPr>
        <p:style>
          <a:lnRef idx="2">
            <a:schemeClr val="accent1"/>
          </a:lnRef>
          <a:fillRef idx="0">
            <a:schemeClr val="accent1"/>
          </a:fillRef>
          <a:effectRef idx="1">
            <a:schemeClr val="accent1"/>
          </a:effectRef>
          <a:fontRef idx="minor">
            <a:schemeClr val="tx1"/>
          </a:fontRef>
        </p:style>
      </p:cxnSp>
      <p:sp>
        <p:nvSpPr>
          <p:cNvPr id="144" name="文本框 143">
            <a:extLst>
              <a:ext uri="{FF2B5EF4-FFF2-40B4-BE49-F238E27FC236}">
                <a16:creationId xmlns:a16="http://schemas.microsoft.com/office/drawing/2014/main" id="{8578409A-0E1F-CBDE-7B7E-B86046F20179}"/>
              </a:ext>
            </a:extLst>
          </p:cNvPr>
          <p:cNvSpPr txBox="1"/>
          <p:nvPr/>
        </p:nvSpPr>
        <p:spPr>
          <a:xfrm>
            <a:off x="7244197" y="4888480"/>
            <a:ext cx="1657084" cy="285218"/>
          </a:xfrm>
          <a:prstGeom prst="rect">
            <a:avLst/>
          </a:prstGeom>
          <a:noFill/>
        </p:spPr>
        <p:txBody>
          <a:bodyPr wrap="square" rtlCol="0">
            <a:spAutoFit/>
          </a:bodyPr>
          <a:lstStyle/>
          <a:p>
            <a:r>
              <a:rPr lang="zh-CN" altLang="en-US" sz="1400" dirty="0">
                <a:latin typeface="+mj-ea"/>
                <a:ea typeface="+mj-ea"/>
              </a:rPr>
              <a:t>模型基础控制</a:t>
            </a:r>
          </a:p>
        </p:txBody>
      </p:sp>
      <p:sp>
        <p:nvSpPr>
          <p:cNvPr id="145" name="文本框 144">
            <a:extLst>
              <a:ext uri="{FF2B5EF4-FFF2-40B4-BE49-F238E27FC236}">
                <a16:creationId xmlns:a16="http://schemas.microsoft.com/office/drawing/2014/main" id="{28FBB3B1-6F21-44FB-DF68-5666055ACCF6}"/>
              </a:ext>
            </a:extLst>
          </p:cNvPr>
          <p:cNvSpPr txBox="1"/>
          <p:nvPr/>
        </p:nvSpPr>
        <p:spPr>
          <a:xfrm>
            <a:off x="8518531" y="4888479"/>
            <a:ext cx="1894135" cy="285218"/>
          </a:xfrm>
          <a:prstGeom prst="rect">
            <a:avLst/>
          </a:prstGeom>
          <a:noFill/>
        </p:spPr>
        <p:txBody>
          <a:bodyPr wrap="square" rtlCol="0">
            <a:spAutoFit/>
          </a:bodyPr>
          <a:lstStyle/>
          <a:p>
            <a:r>
              <a:rPr lang="zh-CN" altLang="en-US" sz="1400" dirty="0">
                <a:latin typeface="+mj-ea"/>
                <a:ea typeface="+mj-ea"/>
              </a:rPr>
              <a:t>低边际成本治理</a:t>
            </a:r>
          </a:p>
        </p:txBody>
      </p:sp>
      <p:sp>
        <p:nvSpPr>
          <p:cNvPr id="146" name="文本框 145">
            <a:extLst>
              <a:ext uri="{FF2B5EF4-FFF2-40B4-BE49-F238E27FC236}">
                <a16:creationId xmlns:a16="http://schemas.microsoft.com/office/drawing/2014/main" id="{8ADF80DB-7F5B-5152-11A5-577F2719BAAC}"/>
              </a:ext>
            </a:extLst>
          </p:cNvPr>
          <p:cNvSpPr txBox="1"/>
          <p:nvPr/>
        </p:nvSpPr>
        <p:spPr>
          <a:xfrm>
            <a:off x="10203233" y="4880942"/>
            <a:ext cx="1894135" cy="285218"/>
          </a:xfrm>
          <a:prstGeom prst="rect">
            <a:avLst/>
          </a:prstGeom>
          <a:noFill/>
        </p:spPr>
        <p:txBody>
          <a:bodyPr wrap="square" rtlCol="0">
            <a:spAutoFit/>
          </a:bodyPr>
          <a:lstStyle/>
          <a:p>
            <a:r>
              <a:rPr lang="zh-CN" altLang="en-US" sz="1400" dirty="0">
                <a:latin typeface="+mj-ea"/>
                <a:ea typeface="+mj-ea"/>
              </a:rPr>
              <a:t>自主决策</a:t>
            </a:r>
          </a:p>
        </p:txBody>
      </p:sp>
      <p:sp>
        <p:nvSpPr>
          <p:cNvPr id="147" name="文本框 146">
            <a:extLst>
              <a:ext uri="{FF2B5EF4-FFF2-40B4-BE49-F238E27FC236}">
                <a16:creationId xmlns:a16="http://schemas.microsoft.com/office/drawing/2014/main" id="{5A86E6EA-32ED-C045-0D4E-ACA4FD02A66F}"/>
              </a:ext>
            </a:extLst>
          </p:cNvPr>
          <p:cNvSpPr txBox="1"/>
          <p:nvPr/>
        </p:nvSpPr>
        <p:spPr>
          <a:xfrm>
            <a:off x="7143877" y="1149859"/>
            <a:ext cx="2934157" cy="684522"/>
          </a:xfrm>
          <a:prstGeom prst="rect">
            <a:avLst/>
          </a:prstGeom>
          <a:noFill/>
        </p:spPr>
        <p:txBody>
          <a:bodyPr wrap="square" rtlCol="0">
            <a:spAutoFit/>
          </a:bodyPr>
          <a:lstStyle/>
          <a:p>
            <a:pPr algn="ctr"/>
            <a:r>
              <a:rPr lang="zh-CN" altLang="en-US" sz="1400" dirty="0">
                <a:latin typeface="+mj-ea"/>
                <a:ea typeface="+mj-ea"/>
              </a:rPr>
              <a:t>数字原生区：</a:t>
            </a:r>
            <a:endParaRPr lang="en-US" altLang="zh-CN" sz="1400" dirty="0">
              <a:latin typeface="+mj-ea"/>
              <a:ea typeface="+mj-ea"/>
            </a:endParaRPr>
          </a:p>
          <a:p>
            <a:pPr algn="ctr"/>
            <a:r>
              <a:rPr lang="zh-CN" altLang="en-US" sz="1400" dirty="0">
                <a:latin typeface="+mj-ea"/>
                <a:ea typeface="+mj-ea"/>
              </a:rPr>
              <a:t>生态系统主权与反脆弱性</a:t>
            </a:r>
            <a:endParaRPr lang="en-US" altLang="zh-CN" sz="1400" dirty="0">
              <a:latin typeface="+mj-ea"/>
              <a:ea typeface="+mj-ea"/>
            </a:endParaRPr>
          </a:p>
          <a:p>
            <a:pPr algn="ctr"/>
            <a:r>
              <a:rPr lang="zh-CN" altLang="en-US" sz="1400" dirty="0">
                <a:latin typeface="+mj-ea"/>
                <a:ea typeface="+mj-ea"/>
              </a:rPr>
              <a:t>（系统代理区）</a:t>
            </a:r>
          </a:p>
        </p:txBody>
      </p:sp>
      <p:sp>
        <p:nvSpPr>
          <p:cNvPr id="148" name="矩形 147">
            <a:extLst>
              <a:ext uri="{FF2B5EF4-FFF2-40B4-BE49-F238E27FC236}">
                <a16:creationId xmlns:a16="http://schemas.microsoft.com/office/drawing/2014/main" id="{14DBA36C-D075-C327-65E6-B8C811F31318}"/>
              </a:ext>
            </a:extLst>
          </p:cNvPr>
          <p:cNvSpPr/>
          <p:nvPr/>
        </p:nvSpPr>
        <p:spPr>
          <a:xfrm rot="16200000">
            <a:off x="5388856" y="2420172"/>
            <a:ext cx="1938031" cy="635278"/>
          </a:xfrm>
          <a:prstGeom prst="rect">
            <a:avLst/>
          </a:prstGeom>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600" b="1" dirty="0">
                <a:latin typeface="+mj-ea"/>
                <a:ea typeface="+mj-ea"/>
              </a:rPr>
              <a:t>认知奇点墙</a:t>
            </a:r>
            <a:endParaRPr lang="en-US" altLang="zh-CN" sz="1600" b="1" dirty="0">
              <a:latin typeface="+mj-ea"/>
              <a:ea typeface="+mj-ea"/>
            </a:endParaRPr>
          </a:p>
          <a:p>
            <a:pPr algn="ctr"/>
            <a:r>
              <a:rPr lang="zh-CN" altLang="en-US" sz="1600" b="1" dirty="0">
                <a:latin typeface="+mj-ea"/>
                <a:ea typeface="+mj-ea"/>
              </a:rPr>
              <a:t>（复杂性障碍）</a:t>
            </a:r>
          </a:p>
        </p:txBody>
      </p:sp>
      <p:sp>
        <p:nvSpPr>
          <p:cNvPr id="149" name="文本框 148">
            <a:extLst>
              <a:ext uri="{FF2B5EF4-FFF2-40B4-BE49-F238E27FC236}">
                <a16:creationId xmlns:a16="http://schemas.microsoft.com/office/drawing/2014/main" id="{0C178DBC-BFB7-A55B-BB32-D2146A21B7E9}"/>
              </a:ext>
            </a:extLst>
          </p:cNvPr>
          <p:cNvSpPr txBox="1"/>
          <p:nvPr/>
        </p:nvSpPr>
        <p:spPr>
          <a:xfrm>
            <a:off x="6032321" y="5199104"/>
            <a:ext cx="2302665" cy="484869"/>
          </a:xfrm>
          <a:prstGeom prst="rect">
            <a:avLst/>
          </a:prstGeom>
          <a:noFill/>
        </p:spPr>
        <p:txBody>
          <a:bodyPr wrap="square" rtlCol="0">
            <a:spAutoFit/>
          </a:bodyPr>
          <a:lstStyle/>
          <a:p>
            <a:pPr algn="ctr"/>
            <a:r>
              <a:rPr lang="zh-CN" altLang="en-US" sz="1400" b="1" dirty="0">
                <a:solidFill>
                  <a:schemeClr val="accent6">
                    <a:lumMod val="60000"/>
                    <a:lumOff val="40000"/>
                  </a:schemeClr>
                </a:solidFill>
                <a:latin typeface="+mj-ea"/>
                <a:ea typeface="+mj-ea"/>
              </a:rPr>
              <a:t>三位一体能力</a:t>
            </a:r>
            <a:endParaRPr lang="en-US" altLang="zh-CN" sz="1400" b="1" dirty="0">
              <a:solidFill>
                <a:schemeClr val="accent6">
                  <a:lumMod val="60000"/>
                  <a:lumOff val="40000"/>
                </a:schemeClr>
              </a:solidFill>
              <a:latin typeface="+mj-ea"/>
              <a:ea typeface="+mj-ea"/>
            </a:endParaRPr>
          </a:p>
          <a:p>
            <a:pPr algn="ctr"/>
            <a:r>
              <a:rPr lang="zh-CN" altLang="en-US" sz="1400" b="1" dirty="0">
                <a:solidFill>
                  <a:schemeClr val="accent6">
                    <a:lumMod val="60000"/>
                    <a:lumOff val="40000"/>
                  </a:schemeClr>
                </a:solidFill>
                <a:latin typeface="+mj-ea"/>
                <a:ea typeface="+mj-ea"/>
              </a:rPr>
              <a:t>（设计师精英小队催化剂）</a:t>
            </a:r>
          </a:p>
        </p:txBody>
      </p:sp>
      <mc:AlternateContent xmlns:mc="http://schemas.openxmlformats.org/markup-compatibility/2006" xmlns:a14="http://schemas.microsoft.com/office/drawing/2010/main">
        <mc:Choice Requires="a14">
          <p:sp>
            <p:nvSpPr>
              <p:cNvPr id="157" name="文本框 156">
                <a:extLst>
                  <a:ext uri="{FF2B5EF4-FFF2-40B4-BE49-F238E27FC236}">
                    <a16:creationId xmlns:a16="http://schemas.microsoft.com/office/drawing/2014/main" id="{406D3875-0C63-C8F9-FABC-D73DE1DB0BF8}"/>
                  </a:ext>
                </a:extLst>
              </p:cNvPr>
              <p:cNvSpPr txBox="1"/>
              <p:nvPr/>
            </p:nvSpPr>
            <p:spPr>
              <a:xfrm>
                <a:off x="10203233" y="1768795"/>
                <a:ext cx="1362027" cy="541913"/>
              </a:xfrm>
              <a:prstGeom prst="rect">
                <a:avLst/>
              </a:prstGeom>
              <a:noFill/>
            </p:spPr>
            <p:txBody>
              <a:bodyPr wrap="square" rtlCol="0">
                <a:spAutoFit/>
              </a:bodyPr>
              <a:lstStyle/>
              <a:p>
                <a14:m>
                  <m:oMath xmlns:m="http://schemas.openxmlformats.org/officeDocument/2006/math">
                    <m:r>
                      <a:rPr lang="zh-CN" altLang="en-US" b="1" i="1" smtClean="0">
                        <a:solidFill>
                          <a:schemeClr val="accent6">
                            <a:lumMod val="60000"/>
                            <a:lumOff val="40000"/>
                          </a:schemeClr>
                        </a:solidFill>
                        <a:latin typeface="Cambria Math" panose="02040503050406030204" pitchFamily="18" charset="0"/>
                      </a:rPr>
                      <m:t>∆</m:t>
                    </m:r>
                  </m:oMath>
                </a14:m>
                <a:r>
                  <a:rPr lang="en-US" altLang="zh-CN" b="1" dirty="0">
                    <a:solidFill>
                      <a:schemeClr val="accent6">
                        <a:lumMod val="60000"/>
                        <a:lumOff val="40000"/>
                      </a:schemeClr>
                    </a:solidFill>
                  </a:rPr>
                  <a:t>ROIC</a:t>
                </a:r>
              </a:p>
              <a:p>
                <a:r>
                  <a:rPr lang="en-US" altLang="zh-CN" sz="1400" b="1" dirty="0">
                    <a:solidFill>
                      <a:schemeClr val="accent6">
                        <a:lumMod val="60000"/>
                        <a:lumOff val="40000"/>
                      </a:schemeClr>
                    </a:solidFill>
                    <a:latin typeface="+mj-ea"/>
                    <a:ea typeface="+mj-ea"/>
                  </a:rPr>
                  <a:t>(</a:t>
                </a:r>
                <a:r>
                  <a:rPr lang="zh-CN" altLang="en-US" sz="1400" b="1" dirty="0">
                    <a:solidFill>
                      <a:schemeClr val="accent6">
                        <a:lumMod val="60000"/>
                        <a:lumOff val="40000"/>
                      </a:schemeClr>
                    </a:solidFill>
                    <a:latin typeface="+mj-ea"/>
                    <a:ea typeface="+mj-ea"/>
                  </a:rPr>
                  <a:t>乘数效应</a:t>
                </a:r>
                <a:r>
                  <a:rPr lang="en-US" altLang="zh-CN" sz="1400" b="1" dirty="0">
                    <a:solidFill>
                      <a:schemeClr val="accent6">
                        <a:lumMod val="60000"/>
                        <a:lumOff val="40000"/>
                      </a:schemeClr>
                    </a:solidFill>
                    <a:latin typeface="+mj-ea"/>
                    <a:ea typeface="+mj-ea"/>
                  </a:rPr>
                  <a:t>)</a:t>
                </a:r>
                <a:endParaRPr lang="zh-CN" altLang="en-US" sz="1400" b="1" dirty="0">
                  <a:solidFill>
                    <a:schemeClr val="accent6">
                      <a:lumMod val="60000"/>
                      <a:lumOff val="40000"/>
                    </a:schemeClr>
                  </a:solidFill>
                  <a:latin typeface="+mj-ea"/>
                  <a:ea typeface="+mj-ea"/>
                </a:endParaRPr>
              </a:p>
            </p:txBody>
          </p:sp>
        </mc:Choice>
        <mc:Fallback xmlns="">
          <p:sp>
            <p:nvSpPr>
              <p:cNvPr id="157" name="文本框 156">
                <a:extLst>
                  <a:ext uri="{FF2B5EF4-FFF2-40B4-BE49-F238E27FC236}">
                    <a16:creationId xmlns:a16="http://schemas.microsoft.com/office/drawing/2014/main" id="{406D3875-0C63-C8F9-FABC-D73DE1DB0BF8}"/>
                  </a:ext>
                </a:extLst>
              </p:cNvPr>
              <p:cNvSpPr txBox="1">
                <a:spLocks noRot="1" noChangeAspect="1" noMove="1" noResize="1" noEditPoints="1" noAdjustHandles="1" noChangeArrowheads="1" noChangeShapeType="1" noTextEdit="1"/>
              </p:cNvSpPr>
              <p:nvPr/>
            </p:nvSpPr>
            <p:spPr>
              <a:xfrm>
                <a:off x="10203233" y="1768795"/>
                <a:ext cx="1362027" cy="541913"/>
              </a:xfrm>
              <a:prstGeom prst="rect">
                <a:avLst/>
              </a:prstGeom>
              <a:blipFill>
                <a:blip r:embed="rId5"/>
                <a:stretch>
                  <a:fillRect l="-1345" t="-5618" b="-19101"/>
                </a:stretch>
              </a:blipFill>
            </p:spPr>
            <p:txBody>
              <a:bodyPr/>
              <a:lstStyle/>
              <a:p>
                <a:r>
                  <a:rPr lang="zh-CN" altLang="en-US">
                    <a:noFill/>
                  </a:rPr>
                  <a:t> </a:t>
                </a:r>
              </a:p>
            </p:txBody>
          </p:sp>
        </mc:Fallback>
      </mc:AlternateContent>
      <p:sp>
        <p:nvSpPr>
          <p:cNvPr id="158" name="梯形 157">
            <a:extLst>
              <a:ext uri="{FF2B5EF4-FFF2-40B4-BE49-F238E27FC236}">
                <a16:creationId xmlns:a16="http://schemas.microsoft.com/office/drawing/2014/main" id="{EE79C850-BD44-7519-6618-6F119F63E4B2}"/>
              </a:ext>
            </a:extLst>
          </p:cNvPr>
          <p:cNvSpPr/>
          <p:nvPr/>
        </p:nvSpPr>
        <p:spPr>
          <a:xfrm>
            <a:off x="6629449" y="949626"/>
            <a:ext cx="4780362" cy="3913962"/>
          </a:xfrm>
          <a:custGeom>
            <a:avLst/>
            <a:gdLst>
              <a:gd name="connsiteX0" fmla="*/ 0 w 3595829"/>
              <a:gd name="connsiteY0" fmla="*/ 2978544 h 2978544"/>
              <a:gd name="connsiteX1" fmla="*/ 744636 w 3595829"/>
              <a:gd name="connsiteY1" fmla="*/ 0 h 2978544"/>
              <a:gd name="connsiteX2" fmla="*/ 2851193 w 3595829"/>
              <a:gd name="connsiteY2" fmla="*/ 0 h 2978544"/>
              <a:gd name="connsiteX3" fmla="*/ 3595829 w 3595829"/>
              <a:gd name="connsiteY3" fmla="*/ 2978544 h 2978544"/>
              <a:gd name="connsiteX4" fmla="*/ 0 w 3595829"/>
              <a:gd name="connsiteY4" fmla="*/ 2978544 h 2978544"/>
              <a:gd name="connsiteX0" fmla="*/ 0 w 4152455"/>
              <a:gd name="connsiteY0" fmla="*/ 3949215 h 3949215"/>
              <a:gd name="connsiteX1" fmla="*/ 744636 w 4152455"/>
              <a:gd name="connsiteY1" fmla="*/ 970671 h 3949215"/>
              <a:gd name="connsiteX2" fmla="*/ 4152455 w 4152455"/>
              <a:gd name="connsiteY2" fmla="*/ 0 h 3949215"/>
              <a:gd name="connsiteX3" fmla="*/ 3595829 w 4152455"/>
              <a:gd name="connsiteY3" fmla="*/ 3949215 h 3949215"/>
              <a:gd name="connsiteX4" fmla="*/ 0 w 4152455"/>
              <a:gd name="connsiteY4" fmla="*/ 3949215 h 3949215"/>
              <a:gd name="connsiteX0" fmla="*/ 0 w 4152455"/>
              <a:gd name="connsiteY0" fmla="*/ 3970316 h 3970316"/>
              <a:gd name="connsiteX1" fmla="*/ 3579276 w 4152455"/>
              <a:gd name="connsiteY1" fmla="*/ 0 h 3970316"/>
              <a:gd name="connsiteX2" fmla="*/ 4152455 w 4152455"/>
              <a:gd name="connsiteY2" fmla="*/ 21101 h 3970316"/>
              <a:gd name="connsiteX3" fmla="*/ 3595829 w 4152455"/>
              <a:gd name="connsiteY3" fmla="*/ 3970316 h 3970316"/>
              <a:gd name="connsiteX4" fmla="*/ 0 w 4152455"/>
              <a:gd name="connsiteY4" fmla="*/ 3970316 h 3970316"/>
              <a:gd name="connsiteX0" fmla="*/ 0 w 4778467"/>
              <a:gd name="connsiteY0" fmla="*/ 4181332 h 4181332"/>
              <a:gd name="connsiteX1" fmla="*/ 4205288 w 4778467"/>
              <a:gd name="connsiteY1" fmla="*/ 0 h 4181332"/>
              <a:gd name="connsiteX2" fmla="*/ 4778467 w 4778467"/>
              <a:gd name="connsiteY2" fmla="*/ 21101 h 4181332"/>
              <a:gd name="connsiteX3" fmla="*/ 4221841 w 4778467"/>
              <a:gd name="connsiteY3" fmla="*/ 3970316 h 4181332"/>
              <a:gd name="connsiteX4" fmla="*/ 0 w 4778467"/>
              <a:gd name="connsiteY4" fmla="*/ 4181332 h 4181332"/>
              <a:gd name="connsiteX0" fmla="*/ 0 w 4778467"/>
              <a:gd name="connsiteY0" fmla="*/ 4181332 h 4181332"/>
              <a:gd name="connsiteX1" fmla="*/ 4205288 w 4778467"/>
              <a:gd name="connsiteY1" fmla="*/ 0 h 4181332"/>
              <a:gd name="connsiteX2" fmla="*/ 4778467 w 4778467"/>
              <a:gd name="connsiteY2" fmla="*/ 21101 h 4181332"/>
              <a:gd name="connsiteX3" fmla="*/ 4756413 w 4778467"/>
              <a:gd name="connsiteY3" fmla="*/ 3914045 h 4181332"/>
              <a:gd name="connsiteX4" fmla="*/ 0 w 4778467"/>
              <a:gd name="connsiteY4" fmla="*/ 4181332 h 4181332"/>
              <a:gd name="connsiteX0" fmla="*/ 0 w 4869907"/>
              <a:gd name="connsiteY0" fmla="*/ 4223535 h 4223535"/>
              <a:gd name="connsiteX1" fmla="*/ 4296728 w 4869907"/>
              <a:gd name="connsiteY1" fmla="*/ 0 h 4223535"/>
              <a:gd name="connsiteX2" fmla="*/ 4869907 w 4869907"/>
              <a:gd name="connsiteY2" fmla="*/ 21101 h 4223535"/>
              <a:gd name="connsiteX3" fmla="*/ 4847853 w 4869907"/>
              <a:gd name="connsiteY3" fmla="*/ 3914045 h 4223535"/>
              <a:gd name="connsiteX4" fmla="*/ 0 w 4869907"/>
              <a:gd name="connsiteY4" fmla="*/ 4223535 h 4223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9907" h="4223535">
                <a:moveTo>
                  <a:pt x="0" y="4223535"/>
                </a:moveTo>
                <a:lnTo>
                  <a:pt x="4296728" y="0"/>
                </a:lnTo>
                <a:lnTo>
                  <a:pt x="4869907" y="21101"/>
                </a:lnTo>
                <a:lnTo>
                  <a:pt x="4847853" y="3914045"/>
                </a:lnTo>
                <a:lnTo>
                  <a:pt x="0" y="4223535"/>
                </a:lnTo>
                <a:close/>
              </a:path>
            </a:pathLst>
          </a:custGeom>
          <a:solidFill>
            <a:schemeClr val="accent6">
              <a:lumMod val="40000"/>
              <a:lumOff val="60000"/>
              <a:alpha val="41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9" name="文本框 158">
            <a:extLst>
              <a:ext uri="{FF2B5EF4-FFF2-40B4-BE49-F238E27FC236}">
                <a16:creationId xmlns:a16="http://schemas.microsoft.com/office/drawing/2014/main" id="{38E4A671-4249-06AB-2972-46E9E2EFD43E}"/>
              </a:ext>
            </a:extLst>
          </p:cNvPr>
          <p:cNvSpPr txBox="1"/>
          <p:nvPr/>
        </p:nvSpPr>
        <p:spPr>
          <a:xfrm>
            <a:off x="9782769" y="4163520"/>
            <a:ext cx="1535515" cy="285218"/>
          </a:xfrm>
          <a:prstGeom prst="rect">
            <a:avLst/>
          </a:prstGeom>
          <a:solidFill>
            <a:schemeClr val="bg1">
              <a:lumMod val="65000"/>
              <a:lumOff val="35000"/>
            </a:schemeClr>
          </a:solidFill>
        </p:spPr>
        <p:txBody>
          <a:bodyPr wrap="square" rtlCol="0">
            <a:spAutoFit/>
          </a:bodyPr>
          <a:lstStyle/>
          <a:p>
            <a:r>
              <a:rPr lang="zh-CN" altLang="en-US" sz="1400" b="1" dirty="0">
                <a:solidFill>
                  <a:schemeClr val="accent6">
                    <a:lumMod val="60000"/>
                    <a:lumOff val="40000"/>
                  </a:schemeClr>
                </a:solidFill>
                <a:latin typeface="+mj-ea"/>
                <a:ea typeface="+mj-ea"/>
              </a:rPr>
              <a:t>超级性利润扩张</a:t>
            </a:r>
          </a:p>
        </p:txBody>
      </p:sp>
      <p:sp>
        <p:nvSpPr>
          <p:cNvPr id="160" name="椭圆 159">
            <a:extLst>
              <a:ext uri="{FF2B5EF4-FFF2-40B4-BE49-F238E27FC236}">
                <a16:creationId xmlns:a16="http://schemas.microsoft.com/office/drawing/2014/main" id="{A58F1147-230D-1CFC-EA9E-C6B61B2B38D8}"/>
              </a:ext>
            </a:extLst>
          </p:cNvPr>
          <p:cNvSpPr/>
          <p:nvPr/>
        </p:nvSpPr>
        <p:spPr>
          <a:xfrm>
            <a:off x="10018271" y="5799409"/>
            <a:ext cx="119524" cy="96138"/>
          </a:xfrm>
          <a:prstGeom prst="ellipse">
            <a:avLst/>
          </a:prstGeom>
          <a:solidFill>
            <a:schemeClr val="tx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sp>
        <p:nvSpPr>
          <p:cNvPr id="161" name="文本框 160">
            <a:extLst>
              <a:ext uri="{FF2B5EF4-FFF2-40B4-BE49-F238E27FC236}">
                <a16:creationId xmlns:a16="http://schemas.microsoft.com/office/drawing/2014/main" id="{AE70BA45-BD55-D204-3FF4-924478CC93D7}"/>
              </a:ext>
            </a:extLst>
          </p:cNvPr>
          <p:cNvSpPr txBox="1"/>
          <p:nvPr/>
        </p:nvSpPr>
        <p:spPr>
          <a:xfrm>
            <a:off x="9560483" y="5901752"/>
            <a:ext cx="1512088" cy="342261"/>
          </a:xfrm>
          <a:prstGeom prst="rect">
            <a:avLst/>
          </a:prstGeom>
          <a:noFill/>
        </p:spPr>
        <p:txBody>
          <a:bodyPr wrap="square" rtlCol="0">
            <a:spAutoFit/>
          </a:bodyPr>
          <a:lstStyle>
            <a:defPPr>
              <a:defRPr lang="zh-CN"/>
            </a:defPPr>
            <a:lvl1pPr>
              <a:defRPr sz="1400" b="1">
                <a:solidFill>
                  <a:schemeClr val="tx1">
                    <a:lumMod val="65000"/>
                  </a:schemeClr>
                </a:solidFill>
                <a:latin typeface="+mj-ea"/>
                <a:ea typeface="+mj-ea"/>
              </a:defRPr>
            </a:lvl1pPr>
          </a:lstStyle>
          <a:p>
            <a:r>
              <a:rPr lang="zh-CN" altLang="en-US" dirty="0"/>
              <a:t>混沌（ </a:t>
            </a:r>
            <a:r>
              <a:rPr lang="en-US" altLang="zh-CN" dirty="0"/>
              <a:t>》N² </a:t>
            </a:r>
            <a:r>
              <a:rPr lang="zh-CN" altLang="en-US" dirty="0"/>
              <a:t>）</a:t>
            </a:r>
          </a:p>
        </p:txBody>
      </p:sp>
      <p:sp>
        <p:nvSpPr>
          <p:cNvPr id="162" name="文本框 161">
            <a:extLst>
              <a:ext uri="{FF2B5EF4-FFF2-40B4-BE49-F238E27FC236}">
                <a16:creationId xmlns:a16="http://schemas.microsoft.com/office/drawing/2014/main" id="{F242FB41-4A21-F26B-A5E2-38B4821BA6C6}"/>
              </a:ext>
            </a:extLst>
          </p:cNvPr>
          <p:cNvSpPr txBox="1"/>
          <p:nvPr/>
        </p:nvSpPr>
        <p:spPr>
          <a:xfrm>
            <a:off x="5644590" y="5932214"/>
            <a:ext cx="2413762" cy="307777"/>
          </a:xfrm>
          <a:prstGeom prst="rect">
            <a:avLst/>
          </a:prstGeom>
          <a:noFill/>
        </p:spPr>
        <p:txBody>
          <a:bodyPr wrap="square" rtlCol="0">
            <a:spAutoFit/>
          </a:bodyPr>
          <a:lstStyle/>
          <a:p>
            <a:r>
              <a:rPr lang="zh-CN" altLang="en-US" sz="1400" b="1" dirty="0">
                <a:solidFill>
                  <a:schemeClr val="tx1">
                    <a:lumMod val="65000"/>
                  </a:schemeClr>
                </a:solidFill>
                <a:latin typeface="+mj-ea"/>
                <a:ea typeface="+mj-ea"/>
              </a:rPr>
              <a:t>多项式（ </a:t>
            </a:r>
            <a:r>
              <a:rPr lang="en-US" altLang="zh-CN" sz="1400" b="1" dirty="0">
                <a:solidFill>
                  <a:schemeClr val="tx1">
                    <a:lumMod val="65000"/>
                  </a:schemeClr>
                </a:solidFill>
                <a:latin typeface="+mj-ea"/>
                <a:ea typeface="+mj-ea"/>
              </a:rPr>
              <a:t>N² </a:t>
            </a:r>
            <a:r>
              <a:rPr lang="zh-CN" altLang="en-US" sz="1400" b="1" dirty="0">
                <a:solidFill>
                  <a:schemeClr val="tx1">
                    <a:lumMod val="65000"/>
                  </a:schemeClr>
                </a:solidFill>
                <a:latin typeface="+mj-ea"/>
                <a:ea typeface="+mj-ea"/>
              </a:rPr>
              <a:t>）</a:t>
            </a:r>
          </a:p>
        </p:txBody>
      </p:sp>
      <p:sp>
        <p:nvSpPr>
          <p:cNvPr id="164" name="椭圆 163">
            <a:extLst>
              <a:ext uri="{FF2B5EF4-FFF2-40B4-BE49-F238E27FC236}">
                <a16:creationId xmlns:a16="http://schemas.microsoft.com/office/drawing/2014/main" id="{F49262E9-9CD7-AF83-A712-2BF68886A9EB}"/>
              </a:ext>
            </a:extLst>
          </p:cNvPr>
          <p:cNvSpPr/>
          <p:nvPr/>
        </p:nvSpPr>
        <p:spPr>
          <a:xfrm>
            <a:off x="6252295" y="5768581"/>
            <a:ext cx="119524" cy="96138"/>
          </a:xfrm>
          <a:prstGeom prst="ellipse">
            <a:avLst/>
          </a:prstGeom>
          <a:solidFill>
            <a:schemeClr val="tx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sp>
        <p:nvSpPr>
          <p:cNvPr id="165" name="椭圆 164">
            <a:extLst>
              <a:ext uri="{FF2B5EF4-FFF2-40B4-BE49-F238E27FC236}">
                <a16:creationId xmlns:a16="http://schemas.microsoft.com/office/drawing/2014/main" id="{F0D3F556-BE4C-242D-C771-67D7670FD4CE}"/>
              </a:ext>
            </a:extLst>
          </p:cNvPr>
          <p:cNvSpPr/>
          <p:nvPr/>
        </p:nvSpPr>
        <p:spPr>
          <a:xfrm>
            <a:off x="2513464" y="5759311"/>
            <a:ext cx="119524" cy="96138"/>
          </a:xfrm>
          <a:prstGeom prst="ellipse">
            <a:avLst/>
          </a:prstGeom>
          <a:solidFill>
            <a:schemeClr val="tx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j-ea"/>
              <a:ea typeface="+mj-ea"/>
            </a:endParaRPr>
          </a:p>
        </p:txBody>
      </p:sp>
      <p:sp>
        <p:nvSpPr>
          <p:cNvPr id="166" name="文本框 165">
            <a:extLst>
              <a:ext uri="{FF2B5EF4-FFF2-40B4-BE49-F238E27FC236}">
                <a16:creationId xmlns:a16="http://schemas.microsoft.com/office/drawing/2014/main" id="{6A8AB8E9-ABF9-B659-5C18-32DEC4B5AE45}"/>
              </a:ext>
            </a:extLst>
          </p:cNvPr>
          <p:cNvSpPr txBox="1"/>
          <p:nvPr/>
        </p:nvSpPr>
        <p:spPr>
          <a:xfrm>
            <a:off x="1888247" y="5901337"/>
            <a:ext cx="2413762" cy="307777"/>
          </a:xfrm>
          <a:prstGeom prst="rect">
            <a:avLst/>
          </a:prstGeom>
          <a:noFill/>
        </p:spPr>
        <p:txBody>
          <a:bodyPr wrap="square" rtlCol="0">
            <a:spAutoFit/>
          </a:bodyPr>
          <a:lstStyle/>
          <a:p>
            <a:r>
              <a:rPr lang="zh-CN" altLang="en-US" sz="1400" b="1" dirty="0">
                <a:solidFill>
                  <a:schemeClr val="tx1">
                    <a:lumMod val="65000"/>
                  </a:schemeClr>
                </a:solidFill>
                <a:latin typeface="+mj-ea"/>
                <a:ea typeface="+mj-ea"/>
              </a:rPr>
              <a:t>线性（ </a:t>
            </a:r>
            <a:r>
              <a:rPr lang="en-US" altLang="zh-CN" sz="1400" b="1" dirty="0">
                <a:solidFill>
                  <a:schemeClr val="tx1">
                    <a:lumMod val="65000"/>
                  </a:schemeClr>
                </a:solidFill>
                <a:latin typeface="+mj-ea"/>
                <a:ea typeface="+mj-ea"/>
              </a:rPr>
              <a:t>N </a:t>
            </a:r>
            <a:r>
              <a:rPr lang="zh-CN" altLang="en-US" sz="1400" b="1" dirty="0">
                <a:solidFill>
                  <a:schemeClr val="tx1">
                    <a:lumMod val="65000"/>
                  </a:schemeClr>
                </a:solidFill>
                <a:latin typeface="+mj-ea"/>
                <a:ea typeface="+mj-ea"/>
              </a:rPr>
              <a:t>）</a:t>
            </a:r>
          </a:p>
        </p:txBody>
      </p:sp>
      <p:sp>
        <p:nvSpPr>
          <p:cNvPr id="167" name="文本框 166">
            <a:extLst>
              <a:ext uri="{FF2B5EF4-FFF2-40B4-BE49-F238E27FC236}">
                <a16:creationId xmlns:a16="http://schemas.microsoft.com/office/drawing/2014/main" id="{53FEB585-E663-6EE6-5A8C-436B43D56EC1}"/>
              </a:ext>
            </a:extLst>
          </p:cNvPr>
          <p:cNvSpPr txBox="1"/>
          <p:nvPr/>
        </p:nvSpPr>
        <p:spPr>
          <a:xfrm>
            <a:off x="4237788" y="6211745"/>
            <a:ext cx="4007717" cy="553998"/>
          </a:xfrm>
          <a:prstGeom prst="rect">
            <a:avLst/>
          </a:prstGeom>
          <a:noFill/>
        </p:spPr>
        <p:txBody>
          <a:bodyPr wrap="square" rtlCol="0">
            <a:spAutoFit/>
          </a:bodyPr>
          <a:lstStyle/>
          <a:p>
            <a:pPr algn="ctr"/>
            <a:r>
              <a:rPr lang="zh-CN" altLang="en-US" sz="1600" b="1" dirty="0">
                <a:latin typeface="+mj-ea"/>
                <a:ea typeface="+mj-ea"/>
              </a:rPr>
              <a:t>体系熵增与复杂性</a:t>
            </a:r>
            <a:endParaRPr lang="en-US" altLang="zh-CN" sz="1600" b="1" dirty="0">
              <a:latin typeface="+mj-ea"/>
              <a:ea typeface="+mj-ea"/>
            </a:endParaRPr>
          </a:p>
          <a:p>
            <a:pPr algn="ctr"/>
            <a:r>
              <a:rPr lang="zh-CN" altLang="en-US" sz="1400" dirty="0">
                <a:latin typeface="+mj-ea"/>
                <a:ea typeface="+mj-ea"/>
              </a:rPr>
              <a:t>（</a:t>
            </a:r>
            <a:r>
              <a:rPr lang="en-US" altLang="zh-CN" sz="1400" dirty="0">
                <a:latin typeface="+mj-ea"/>
                <a:ea typeface="+mj-ea"/>
              </a:rPr>
              <a:t>N²</a:t>
            </a:r>
            <a:r>
              <a:rPr lang="zh-CN" altLang="en-US" sz="1400" dirty="0">
                <a:latin typeface="+mj-ea"/>
                <a:ea typeface="+mj-ea"/>
              </a:rPr>
              <a:t>交互：供应链网络中</a:t>
            </a:r>
            <a:r>
              <a:rPr lang="en-US" altLang="zh-CN" sz="1400" dirty="0">
                <a:latin typeface="+mj-ea"/>
                <a:ea typeface="+mj-ea"/>
              </a:rPr>
              <a:t>N</a:t>
            </a:r>
            <a:r>
              <a:rPr lang="zh-CN" altLang="en-US" sz="1400" dirty="0">
                <a:latin typeface="+mj-ea"/>
                <a:ea typeface="+mj-ea"/>
              </a:rPr>
              <a:t>相关人）</a:t>
            </a:r>
          </a:p>
        </p:txBody>
      </p:sp>
      <p:sp>
        <p:nvSpPr>
          <p:cNvPr id="168" name="文本框 167">
            <a:extLst>
              <a:ext uri="{FF2B5EF4-FFF2-40B4-BE49-F238E27FC236}">
                <a16:creationId xmlns:a16="http://schemas.microsoft.com/office/drawing/2014/main" id="{49CF8802-C69B-DD1F-0E3E-9B767BC74CEF}"/>
              </a:ext>
            </a:extLst>
          </p:cNvPr>
          <p:cNvSpPr txBox="1"/>
          <p:nvPr/>
        </p:nvSpPr>
        <p:spPr>
          <a:xfrm>
            <a:off x="8595229" y="5206270"/>
            <a:ext cx="2846083" cy="584775"/>
          </a:xfrm>
          <a:prstGeom prst="rect">
            <a:avLst/>
          </a:prstGeom>
          <a:noFill/>
        </p:spPr>
        <p:txBody>
          <a:bodyPr wrap="square" rtlCol="0">
            <a:spAutoFit/>
          </a:bodyPr>
          <a:lstStyle/>
          <a:p>
            <a:pPr algn="ctr"/>
            <a:r>
              <a:rPr lang="zh-CN" altLang="en-US" sz="1600" b="1" dirty="0">
                <a:solidFill>
                  <a:srgbClr val="3176B3"/>
                </a:solidFill>
                <a:latin typeface="+mj-ea"/>
                <a:ea typeface="+mj-ea"/>
              </a:rPr>
              <a:t>解决方案：</a:t>
            </a:r>
            <a:r>
              <a:rPr lang="en-US" altLang="zh-CN" sz="1600" b="1" dirty="0">
                <a:solidFill>
                  <a:srgbClr val="3176B3"/>
                </a:solidFill>
                <a:latin typeface="+mj-ea"/>
                <a:ea typeface="+mj-ea"/>
              </a:rPr>
              <a:t>IPC</a:t>
            </a:r>
            <a:r>
              <a:rPr lang="zh-CN" altLang="en-US" sz="1600" b="1" dirty="0">
                <a:solidFill>
                  <a:srgbClr val="3176B3"/>
                </a:solidFill>
                <a:latin typeface="+mj-ea"/>
                <a:ea typeface="+mj-ea"/>
              </a:rPr>
              <a:t>系统治理</a:t>
            </a:r>
            <a:endParaRPr lang="en-US" altLang="zh-CN" sz="1600" b="1" dirty="0">
              <a:solidFill>
                <a:srgbClr val="3176B3"/>
              </a:solidFill>
              <a:latin typeface="+mj-ea"/>
              <a:ea typeface="+mj-ea"/>
            </a:endParaRPr>
          </a:p>
          <a:p>
            <a:pPr algn="ctr"/>
            <a:r>
              <a:rPr lang="zh-CN" altLang="en-US" sz="1600" b="1" dirty="0">
                <a:solidFill>
                  <a:srgbClr val="3176B3"/>
                </a:solidFill>
                <a:latin typeface="+mj-ea"/>
                <a:ea typeface="+mj-ea"/>
              </a:rPr>
              <a:t>（</a:t>
            </a:r>
            <a:r>
              <a:rPr lang="zh-CN" altLang="en-US" sz="1400" dirty="0">
                <a:solidFill>
                  <a:srgbClr val="3176B3"/>
                </a:solidFill>
                <a:latin typeface="+mj-ea"/>
                <a:ea typeface="+mj-ea"/>
              </a:rPr>
              <a:t>逻辑真理和领导力共振</a:t>
            </a:r>
            <a:r>
              <a:rPr lang="zh-CN" altLang="en-US" sz="1600" b="1" dirty="0">
                <a:solidFill>
                  <a:srgbClr val="3176B3"/>
                </a:solidFill>
                <a:latin typeface="+mj-ea"/>
                <a:ea typeface="+mj-ea"/>
              </a:rPr>
              <a:t>）</a:t>
            </a:r>
          </a:p>
        </p:txBody>
      </p:sp>
    </p:spTree>
    <p:extLst>
      <p:ext uri="{BB962C8B-B14F-4D97-AF65-F5344CB8AC3E}">
        <p14:creationId xmlns:p14="http://schemas.microsoft.com/office/powerpoint/2010/main" val="126736035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6C233567-FAF1-84B8-940B-9511FD0B1D83}"/>
              </a:ext>
            </a:extLst>
          </p:cNvPr>
          <p:cNvSpPr>
            <a:spLocks noGrp="1"/>
          </p:cNvSpPr>
          <p:nvPr>
            <p:ph type="title"/>
          </p:nvPr>
        </p:nvSpPr>
        <p:spPr/>
        <p:txBody>
          <a:bodyPr/>
          <a:lstStyle/>
          <a:p>
            <a:r>
              <a:rPr lang="en-US" altLang="zh-CN" dirty="0"/>
              <a:t>IPC</a:t>
            </a:r>
            <a:r>
              <a:rPr lang="zh-CN" altLang="en-US" dirty="0"/>
              <a:t>价值链本体论与数字化治理全景图</a:t>
            </a:r>
          </a:p>
        </p:txBody>
      </p:sp>
      <p:graphicFrame>
        <p:nvGraphicFramePr>
          <p:cNvPr id="3" name="表格 2">
            <a:extLst>
              <a:ext uri="{FF2B5EF4-FFF2-40B4-BE49-F238E27FC236}">
                <a16:creationId xmlns:a16="http://schemas.microsoft.com/office/drawing/2014/main" id="{48A57F4C-B0E4-F68E-6AF5-071FA748ACEC}"/>
              </a:ext>
            </a:extLst>
          </p:cNvPr>
          <p:cNvGraphicFramePr>
            <a:graphicFrameLocks noGrp="1"/>
          </p:cNvGraphicFramePr>
          <p:nvPr>
            <p:extLst>
              <p:ext uri="{D42A27DB-BD31-4B8C-83A1-F6EECF244321}">
                <p14:modId xmlns:p14="http://schemas.microsoft.com/office/powerpoint/2010/main" val="3068956845"/>
              </p:ext>
            </p:extLst>
          </p:nvPr>
        </p:nvGraphicFramePr>
        <p:xfrm>
          <a:off x="139850" y="629679"/>
          <a:ext cx="11914099" cy="6000481"/>
        </p:xfrm>
        <a:graphic>
          <a:graphicData uri="http://schemas.openxmlformats.org/drawingml/2006/table">
            <a:tbl>
              <a:tblPr/>
              <a:tblGrid>
                <a:gridCol w="1130038">
                  <a:extLst>
                    <a:ext uri="{9D8B030D-6E8A-4147-A177-3AD203B41FA5}">
                      <a16:colId xmlns:a16="http://schemas.microsoft.com/office/drawing/2014/main" val="2267199909"/>
                    </a:ext>
                  </a:extLst>
                </a:gridCol>
                <a:gridCol w="1248919">
                  <a:extLst>
                    <a:ext uri="{9D8B030D-6E8A-4147-A177-3AD203B41FA5}">
                      <a16:colId xmlns:a16="http://schemas.microsoft.com/office/drawing/2014/main" val="311098039"/>
                    </a:ext>
                  </a:extLst>
                </a:gridCol>
                <a:gridCol w="1592408">
                  <a:extLst>
                    <a:ext uri="{9D8B030D-6E8A-4147-A177-3AD203B41FA5}">
                      <a16:colId xmlns:a16="http://schemas.microsoft.com/office/drawing/2014/main" val="1377695466"/>
                    </a:ext>
                  </a:extLst>
                </a:gridCol>
                <a:gridCol w="1323789">
                  <a:extLst>
                    <a:ext uri="{9D8B030D-6E8A-4147-A177-3AD203B41FA5}">
                      <a16:colId xmlns:a16="http://schemas.microsoft.com/office/drawing/2014/main" val="1137546988"/>
                    </a:ext>
                  </a:extLst>
                </a:gridCol>
                <a:gridCol w="1323789">
                  <a:extLst>
                    <a:ext uri="{9D8B030D-6E8A-4147-A177-3AD203B41FA5}">
                      <a16:colId xmlns:a16="http://schemas.microsoft.com/office/drawing/2014/main" val="3767205068"/>
                    </a:ext>
                  </a:extLst>
                </a:gridCol>
                <a:gridCol w="1323789">
                  <a:extLst>
                    <a:ext uri="{9D8B030D-6E8A-4147-A177-3AD203B41FA5}">
                      <a16:colId xmlns:a16="http://schemas.microsoft.com/office/drawing/2014/main" val="539468104"/>
                    </a:ext>
                  </a:extLst>
                </a:gridCol>
                <a:gridCol w="1323789">
                  <a:extLst>
                    <a:ext uri="{9D8B030D-6E8A-4147-A177-3AD203B41FA5}">
                      <a16:colId xmlns:a16="http://schemas.microsoft.com/office/drawing/2014/main" val="603065287"/>
                    </a:ext>
                  </a:extLst>
                </a:gridCol>
                <a:gridCol w="1323789">
                  <a:extLst>
                    <a:ext uri="{9D8B030D-6E8A-4147-A177-3AD203B41FA5}">
                      <a16:colId xmlns:a16="http://schemas.microsoft.com/office/drawing/2014/main" val="2065438690"/>
                    </a:ext>
                  </a:extLst>
                </a:gridCol>
                <a:gridCol w="1323789">
                  <a:extLst>
                    <a:ext uri="{9D8B030D-6E8A-4147-A177-3AD203B41FA5}">
                      <a16:colId xmlns:a16="http://schemas.microsoft.com/office/drawing/2014/main" val="1664723343"/>
                    </a:ext>
                  </a:extLst>
                </a:gridCol>
              </a:tblGrid>
              <a:tr h="255237">
                <a:tc>
                  <a:txBody>
                    <a:bodyPr/>
                    <a:lstStyle/>
                    <a:p>
                      <a:r>
                        <a:rPr lang="en-US" altLang="zh-CN" sz="900" b="1">
                          <a:solidFill>
                            <a:srgbClr val="FFFFFF"/>
                          </a:solidFill>
                          <a:latin typeface="+mj-ea"/>
                          <a:ea typeface="+mj-ea"/>
                        </a:rPr>
                        <a:t>1. </a:t>
                      </a:r>
                      <a:r>
                        <a:rPr lang="zh-CN" altLang="en-US" sz="900" b="1">
                          <a:solidFill>
                            <a:srgbClr val="FFFFFF"/>
                          </a:solidFill>
                          <a:latin typeface="+mj-ea"/>
                          <a:ea typeface="+mj-ea"/>
                        </a:rPr>
                        <a:t>层级 </a:t>
                      </a:r>
                      <a:r>
                        <a:rPr lang="en-US" altLang="zh-CN" sz="900" b="1">
                          <a:solidFill>
                            <a:srgbClr val="FFFFFF"/>
                          </a:solidFill>
                          <a:latin typeface="+mj-ea"/>
                          <a:ea typeface="+mj-ea"/>
                        </a:rPr>
                        <a:t>(</a:t>
                      </a:r>
                      <a:r>
                        <a:rPr lang="en-US" sz="900" b="1">
                          <a:solidFill>
                            <a:srgbClr val="FFFFFF"/>
                          </a:solidFill>
                          <a:latin typeface="+mj-ea"/>
                          <a:ea typeface="+mj-ea"/>
                        </a:rPr>
                        <a:t>Layer)</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674188"/>
                    </a:solidFill>
                  </a:tcPr>
                </a:tc>
                <a:tc>
                  <a:txBody>
                    <a:bodyPr/>
                    <a:lstStyle/>
                    <a:p>
                      <a:r>
                        <a:rPr lang="en-US" altLang="zh-CN" sz="900" b="1">
                          <a:solidFill>
                            <a:srgbClr val="FFFFFF"/>
                          </a:solidFill>
                          <a:latin typeface="+mj-ea"/>
                          <a:ea typeface="+mj-ea"/>
                        </a:rPr>
                        <a:t>2. </a:t>
                      </a:r>
                      <a:r>
                        <a:rPr lang="zh-CN" altLang="en-US" sz="900" b="1">
                          <a:solidFill>
                            <a:srgbClr val="FFFFFF"/>
                          </a:solidFill>
                          <a:latin typeface="+mj-ea"/>
                          <a:ea typeface="+mj-ea"/>
                        </a:rPr>
                        <a:t>核心锚点 </a:t>
                      </a:r>
                      <a:r>
                        <a:rPr lang="en-US" altLang="zh-CN" sz="900" b="1">
                          <a:solidFill>
                            <a:srgbClr val="FFFFFF"/>
                          </a:solidFill>
                          <a:latin typeface="+mj-ea"/>
                          <a:ea typeface="+mj-ea"/>
                        </a:rPr>
                        <a:t>(</a:t>
                      </a:r>
                      <a:r>
                        <a:rPr lang="en-US" sz="900" b="1">
                          <a:solidFill>
                            <a:srgbClr val="FFFFFF"/>
                          </a:solidFill>
                          <a:latin typeface="+mj-ea"/>
                          <a:ea typeface="+mj-ea"/>
                        </a:rPr>
                        <a:t>Anchor)</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674188"/>
                    </a:solidFill>
                  </a:tcPr>
                </a:tc>
                <a:tc>
                  <a:txBody>
                    <a:bodyPr/>
                    <a:lstStyle/>
                    <a:p>
                      <a:pPr marL="0" algn="l" latinLnBrk="1"/>
                      <a:r>
                        <a:rPr lang="en-US" altLang="zh-CN" sz="900" b="1" dirty="0">
                          <a:solidFill>
                            <a:srgbClr val="FFFFFF"/>
                          </a:solidFill>
                          <a:latin typeface="+mj-ea"/>
                          <a:ea typeface="+mj-ea"/>
                        </a:rPr>
                        <a:t>3. </a:t>
                      </a:r>
                      <a:r>
                        <a:rPr lang="zh-CN" altLang="en-US" sz="900" b="1" dirty="0">
                          <a:solidFill>
                            <a:srgbClr val="FFFFFF"/>
                          </a:solidFill>
                          <a:latin typeface="+mj-ea"/>
                          <a:ea typeface="+mj-ea"/>
                        </a:rPr>
                        <a:t>战略价值 </a:t>
                      </a:r>
                      <a:r>
                        <a:rPr lang="en-US" altLang="zh-CN" sz="900" b="1" dirty="0">
                          <a:solidFill>
                            <a:srgbClr val="FFFFFF"/>
                          </a:solidFill>
                          <a:latin typeface="+mj-ea"/>
                          <a:ea typeface="+mj-ea"/>
                        </a:rPr>
                        <a:t>(</a:t>
                      </a:r>
                      <a:r>
                        <a:rPr lang="en-US" sz="900" b="1" dirty="0">
                          <a:solidFill>
                            <a:srgbClr val="FFFFFF"/>
                          </a:solidFill>
                          <a:latin typeface="+mj-ea"/>
                          <a:ea typeface="+mj-ea"/>
                        </a:rPr>
                        <a:t>Strategic Value)</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674188"/>
                    </a:solidFill>
                  </a:tcPr>
                </a:tc>
                <a:tc>
                  <a:txBody>
                    <a:bodyPr/>
                    <a:lstStyle/>
                    <a:p>
                      <a:r>
                        <a:rPr lang="en-US" altLang="zh-CN" sz="900" b="1">
                          <a:solidFill>
                            <a:srgbClr val="FFFFFF"/>
                          </a:solidFill>
                          <a:latin typeface="+mj-ea"/>
                          <a:ea typeface="+mj-ea"/>
                        </a:rPr>
                        <a:t>4. </a:t>
                      </a:r>
                      <a:r>
                        <a:rPr lang="zh-CN" altLang="en-US" sz="900" b="1">
                          <a:solidFill>
                            <a:srgbClr val="FFFFFF"/>
                          </a:solidFill>
                          <a:latin typeface="+mj-ea"/>
                          <a:ea typeface="+mj-ea"/>
                        </a:rPr>
                        <a:t>变革阻力与组织博弈 </a:t>
                      </a:r>
                      <a:r>
                        <a:rPr lang="en-US" altLang="zh-CN" sz="900" b="1">
                          <a:solidFill>
                            <a:srgbClr val="FFFFFF"/>
                          </a:solidFill>
                          <a:latin typeface="+mj-ea"/>
                          <a:ea typeface="+mj-ea"/>
                        </a:rPr>
                        <a:t>(</a:t>
                      </a:r>
                      <a:r>
                        <a:rPr lang="en-US" sz="900" b="1">
                          <a:solidFill>
                            <a:srgbClr val="FFFFFF"/>
                          </a:solidFill>
                          <a:latin typeface="+mj-ea"/>
                          <a:ea typeface="+mj-ea"/>
                        </a:rPr>
                        <a:t>Politics)</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674188"/>
                    </a:solidFill>
                  </a:tcPr>
                </a:tc>
                <a:tc>
                  <a:txBody>
                    <a:bodyPr/>
                    <a:lstStyle/>
                    <a:p>
                      <a:r>
                        <a:rPr lang="en-US" altLang="zh-CN" sz="900" b="1">
                          <a:solidFill>
                            <a:srgbClr val="FFFFFF"/>
                          </a:solidFill>
                          <a:latin typeface="+mj-ea"/>
                          <a:ea typeface="+mj-ea"/>
                        </a:rPr>
                        <a:t>5. </a:t>
                      </a:r>
                      <a:r>
                        <a:rPr lang="zh-CN" altLang="en-US" sz="900" b="1">
                          <a:solidFill>
                            <a:srgbClr val="FFFFFF"/>
                          </a:solidFill>
                          <a:latin typeface="+mj-ea"/>
                          <a:ea typeface="+mj-ea"/>
                        </a:rPr>
                        <a:t>系统本体与科学归因 </a:t>
                      </a:r>
                      <a:r>
                        <a:rPr lang="en-US" altLang="zh-CN" sz="900" b="1">
                          <a:solidFill>
                            <a:srgbClr val="FFFFFF"/>
                          </a:solidFill>
                          <a:latin typeface="+mj-ea"/>
                          <a:ea typeface="+mj-ea"/>
                        </a:rPr>
                        <a:t>(</a:t>
                      </a:r>
                      <a:r>
                        <a:rPr lang="en-US" sz="900" b="1">
                          <a:solidFill>
                            <a:srgbClr val="FFFFFF"/>
                          </a:solidFill>
                          <a:latin typeface="+mj-ea"/>
                          <a:ea typeface="+mj-ea"/>
                        </a:rPr>
                        <a:t>Ontology)</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674188"/>
                    </a:solidFill>
                  </a:tcPr>
                </a:tc>
                <a:tc>
                  <a:txBody>
                    <a:bodyPr/>
                    <a:lstStyle/>
                    <a:p>
                      <a:r>
                        <a:rPr lang="en-US" altLang="zh-CN" sz="900" b="1">
                          <a:solidFill>
                            <a:srgbClr val="FFFFFF"/>
                          </a:solidFill>
                          <a:latin typeface="+mj-ea"/>
                          <a:ea typeface="+mj-ea"/>
                        </a:rPr>
                        <a:t>6. </a:t>
                      </a:r>
                      <a:r>
                        <a:rPr lang="zh-CN" altLang="en-US" sz="900" b="1">
                          <a:solidFill>
                            <a:srgbClr val="FFFFFF"/>
                          </a:solidFill>
                          <a:latin typeface="+mj-ea"/>
                          <a:ea typeface="+mj-ea"/>
                        </a:rPr>
                        <a:t>数据精度 </a:t>
                      </a:r>
                      <a:r>
                        <a:rPr lang="en-US" altLang="zh-CN" sz="900" b="1">
                          <a:solidFill>
                            <a:srgbClr val="FFFFFF"/>
                          </a:solidFill>
                          <a:latin typeface="+mj-ea"/>
                          <a:ea typeface="+mj-ea"/>
                        </a:rPr>
                        <a:t>(</a:t>
                      </a:r>
                      <a:r>
                        <a:rPr lang="en-US" sz="900" b="1">
                          <a:solidFill>
                            <a:srgbClr val="FFFFFF"/>
                          </a:solidFill>
                          <a:latin typeface="+mj-ea"/>
                          <a:ea typeface="+mj-ea"/>
                        </a:rPr>
                        <a:t>Precision)</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674188"/>
                    </a:solidFill>
                  </a:tcPr>
                </a:tc>
                <a:tc>
                  <a:txBody>
                    <a:bodyPr/>
                    <a:lstStyle/>
                    <a:p>
                      <a:r>
                        <a:rPr lang="en-US" altLang="zh-CN" sz="900" b="1">
                          <a:solidFill>
                            <a:srgbClr val="FFFFFF"/>
                          </a:solidFill>
                          <a:latin typeface="+mj-ea"/>
                          <a:ea typeface="+mj-ea"/>
                        </a:rPr>
                        <a:t>7. </a:t>
                      </a:r>
                      <a:r>
                        <a:rPr lang="zh-CN" altLang="en-US" sz="900" b="1">
                          <a:solidFill>
                            <a:srgbClr val="FFFFFF"/>
                          </a:solidFill>
                          <a:latin typeface="+mj-ea"/>
                          <a:ea typeface="+mj-ea"/>
                        </a:rPr>
                        <a:t>连接广度 </a:t>
                      </a:r>
                      <a:r>
                        <a:rPr lang="en-US" altLang="zh-CN" sz="900" b="1">
                          <a:solidFill>
                            <a:srgbClr val="FFFFFF"/>
                          </a:solidFill>
                          <a:latin typeface="+mj-ea"/>
                          <a:ea typeface="+mj-ea"/>
                        </a:rPr>
                        <a:t>(</a:t>
                      </a:r>
                      <a:r>
                        <a:rPr lang="en-US" sz="900" b="1">
                          <a:solidFill>
                            <a:srgbClr val="FFFFFF"/>
                          </a:solidFill>
                          <a:latin typeface="+mj-ea"/>
                          <a:ea typeface="+mj-ea"/>
                        </a:rPr>
                        <a:t>Scope)</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674188"/>
                    </a:solidFill>
                  </a:tcPr>
                </a:tc>
                <a:tc>
                  <a:txBody>
                    <a:bodyPr/>
                    <a:lstStyle/>
                    <a:p>
                      <a:r>
                        <a:rPr lang="en-US" altLang="zh-CN" sz="900" b="1">
                          <a:solidFill>
                            <a:srgbClr val="FFFFFF"/>
                          </a:solidFill>
                          <a:latin typeface="+mj-ea"/>
                          <a:ea typeface="+mj-ea"/>
                        </a:rPr>
                        <a:t>8. </a:t>
                      </a:r>
                      <a:r>
                        <a:rPr lang="zh-CN" altLang="en-US" sz="900" b="1">
                          <a:solidFill>
                            <a:srgbClr val="FFFFFF"/>
                          </a:solidFill>
                          <a:latin typeface="+mj-ea"/>
                          <a:ea typeface="+mj-ea"/>
                        </a:rPr>
                        <a:t>数字化建设重力 </a:t>
                      </a:r>
                      <a:r>
                        <a:rPr lang="en-US" altLang="zh-CN" sz="900" b="1">
                          <a:solidFill>
                            <a:srgbClr val="FFFFFF"/>
                          </a:solidFill>
                          <a:latin typeface="+mj-ea"/>
                          <a:ea typeface="+mj-ea"/>
                        </a:rPr>
                        <a:t>(</a:t>
                      </a:r>
                      <a:r>
                        <a:rPr lang="en-US" sz="900" b="1">
                          <a:solidFill>
                            <a:srgbClr val="FFFFFF"/>
                          </a:solidFill>
                          <a:latin typeface="+mj-ea"/>
                          <a:ea typeface="+mj-ea"/>
                        </a:rPr>
                        <a:t>Builder)</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674188"/>
                    </a:solidFill>
                  </a:tcPr>
                </a:tc>
                <a:tc>
                  <a:txBody>
                    <a:bodyPr/>
                    <a:lstStyle/>
                    <a:p>
                      <a:r>
                        <a:rPr lang="en-US" altLang="zh-CN" sz="900" b="1" dirty="0">
                          <a:solidFill>
                            <a:srgbClr val="FFFFFF"/>
                          </a:solidFill>
                          <a:latin typeface="+mj-ea"/>
                          <a:ea typeface="+mj-ea"/>
                        </a:rPr>
                        <a:t>9. </a:t>
                      </a:r>
                      <a:r>
                        <a:rPr lang="zh-CN" altLang="en-US" sz="900" b="1" dirty="0">
                          <a:solidFill>
                            <a:srgbClr val="FFFFFF"/>
                          </a:solidFill>
                          <a:latin typeface="+mj-ea"/>
                          <a:ea typeface="+mj-ea"/>
                        </a:rPr>
                        <a:t>赋能业务 </a:t>
                      </a:r>
                      <a:r>
                        <a:rPr lang="en-US" altLang="zh-CN" sz="900" b="1" dirty="0">
                          <a:solidFill>
                            <a:srgbClr val="FFFFFF"/>
                          </a:solidFill>
                          <a:latin typeface="+mj-ea"/>
                          <a:ea typeface="+mj-ea"/>
                        </a:rPr>
                        <a:t>(</a:t>
                      </a:r>
                      <a:r>
                        <a:rPr lang="en-US" sz="900" b="1" dirty="0">
                          <a:solidFill>
                            <a:srgbClr val="FFFFFF"/>
                          </a:solidFill>
                          <a:latin typeface="+mj-ea"/>
                          <a:ea typeface="+mj-ea"/>
                        </a:rPr>
                        <a:t>User)</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674188"/>
                    </a:solidFill>
                  </a:tcPr>
                </a:tc>
                <a:extLst>
                  <a:ext uri="{0D108BD9-81ED-4DB2-BD59-A6C34878D82A}">
                    <a16:rowId xmlns:a16="http://schemas.microsoft.com/office/drawing/2014/main" val="3595515450"/>
                  </a:ext>
                </a:extLst>
              </a:tr>
              <a:tr h="882312">
                <a:tc>
                  <a:txBody>
                    <a:bodyPr/>
                    <a:lstStyle/>
                    <a:p>
                      <a:pPr algn="l"/>
                      <a:r>
                        <a:rPr lang="en-US" sz="800" b="1" dirty="0">
                          <a:solidFill>
                            <a:srgbClr val="000000"/>
                          </a:solidFill>
                          <a:latin typeface="+mj-ea"/>
                          <a:ea typeface="+mj-ea"/>
                        </a:rPr>
                        <a:t>I. </a:t>
                      </a:r>
                      <a:r>
                        <a:rPr lang="zh-CN" altLang="en-US" sz="800" b="1" dirty="0">
                          <a:solidFill>
                            <a:srgbClr val="000000"/>
                          </a:solidFill>
                          <a:latin typeface="+mj-ea"/>
                          <a:ea typeface="+mj-ea"/>
                        </a:rPr>
                        <a:t>基石层</a:t>
                      </a:r>
                    </a:p>
                    <a:p>
                      <a:pPr algn="l"/>
                      <a:br>
                        <a:rPr lang="zh-CN" altLang="en-US" sz="800" b="1" dirty="0">
                          <a:solidFill>
                            <a:srgbClr val="000000"/>
                          </a:solidFill>
                          <a:latin typeface="+mj-ea"/>
                          <a:ea typeface="+mj-ea"/>
                        </a:rPr>
                      </a:br>
                      <a:r>
                        <a:rPr lang="en-US" sz="800" b="1" i="1" dirty="0">
                          <a:solidFill>
                            <a:srgbClr val="000000"/>
                          </a:solidFill>
                          <a:latin typeface="+mj-ea"/>
                          <a:ea typeface="+mj-ea"/>
                        </a:rPr>
                        <a:t>The Truth</a:t>
                      </a:r>
                      <a:endParaRPr lang="en-US" sz="800" b="1" dirty="0">
                        <a:solidFill>
                          <a:srgbClr val="000000"/>
                        </a:solidFill>
                        <a:latin typeface="+mj-ea"/>
                        <a:ea typeface="+mj-ea"/>
                      </a:endParaRPr>
                    </a:p>
                    <a:p>
                      <a:pPr algn="l"/>
                      <a:br>
                        <a:rPr lang="en-US" sz="800" b="1" dirty="0">
                          <a:solidFill>
                            <a:srgbClr val="000000"/>
                          </a:solidFill>
                          <a:latin typeface="+mj-ea"/>
                          <a:ea typeface="+mj-ea"/>
                        </a:rPr>
                      </a:br>
                      <a:r>
                        <a:rPr lang="en-US" sz="800" b="1" dirty="0">
                          <a:solidFill>
                            <a:srgbClr val="000000"/>
                          </a:solidFill>
                          <a:latin typeface="+mj-ea"/>
                          <a:ea typeface="+mj-ea"/>
                        </a:rPr>
                        <a:t>(</a:t>
                      </a:r>
                      <a:r>
                        <a:rPr lang="zh-CN" altLang="en-US" sz="800" b="1" dirty="0">
                          <a:solidFill>
                            <a:srgbClr val="000000"/>
                          </a:solidFill>
                          <a:latin typeface="+mj-ea"/>
                          <a:ea typeface="+mj-ea"/>
                        </a:rPr>
                        <a:t>真理</a:t>
                      </a:r>
                      <a:r>
                        <a:rPr lang="en-US" altLang="zh-CN" sz="800" b="1" dirty="0">
                          <a:solidFill>
                            <a:srgbClr val="000000"/>
                          </a:solidFill>
                          <a:latin typeface="+mj-ea"/>
                          <a:ea typeface="+mj-ea"/>
                        </a:rPr>
                        <a:t>)</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DACDE4"/>
                    </a:solidFill>
                  </a:tcPr>
                </a:tc>
                <a:tc>
                  <a:txBody>
                    <a:bodyPr/>
                    <a:lstStyle/>
                    <a:p>
                      <a:pPr algn="l"/>
                      <a:r>
                        <a:rPr lang="it-IT" sz="800" b="1" dirty="0">
                          <a:solidFill>
                            <a:srgbClr val="000000"/>
                          </a:solidFill>
                          <a:latin typeface="+mj-ea"/>
                          <a:ea typeface="+mj-ea"/>
                        </a:rPr>
                        <a:t>ERP Core</a:t>
                      </a:r>
                    </a:p>
                    <a:p>
                      <a:pPr algn="l"/>
                      <a:br>
                        <a:rPr lang="it-IT" sz="800" b="1" dirty="0">
                          <a:solidFill>
                            <a:srgbClr val="000000"/>
                          </a:solidFill>
                          <a:latin typeface="+mj-ea"/>
                          <a:ea typeface="+mj-ea"/>
                        </a:rPr>
                      </a:br>
                      <a:r>
                        <a:rPr lang="it-IT" sz="800" b="0" dirty="0">
                          <a:solidFill>
                            <a:srgbClr val="000000"/>
                          </a:solidFill>
                          <a:latin typeface="+mj-ea"/>
                          <a:ea typeface="+mj-ea"/>
                        </a:rPr>
                        <a:t>(FICO, HCM, SRM)</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marL="0" algn="l" latinLnBrk="1"/>
                      <a:r>
                        <a:rPr lang="zh-CN" altLang="en-US" sz="800" b="1" dirty="0">
                          <a:solidFill>
                            <a:srgbClr val="000000"/>
                          </a:solidFill>
                          <a:latin typeface="+mj-ea"/>
                          <a:ea typeface="+mj-ea"/>
                        </a:rPr>
                        <a:t>人、财、物的资本效率与自主金融</a:t>
                      </a:r>
                    </a:p>
                    <a:p>
                      <a:pPr marL="0" indent="-171450" algn="l" latinLnBrk="1">
                        <a:buFont typeface="Arial" panose="020B0604020202020204" pitchFamily="34" charset="0"/>
                        <a:buChar char="•"/>
                      </a:pPr>
                      <a:r>
                        <a:rPr lang="zh-CN" altLang="en-US" sz="800" dirty="0">
                          <a:solidFill>
                            <a:srgbClr val="000000"/>
                          </a:solidFill>
                          <a:latin typeface="+mj-ea"/>
                          <a:ea typeface="+mj-ea"/>
                        </a:rPr>
                        <a:t>从“记录系统”迈向</a:t>
                      </a:r>
                      <a:r>
                        <a:rPr lang="zh-CN" altLang="en-US" sz="800" b="1" dirty="0">
                          <a:solidFill>
                            <a:srgbClr val="000000"/>
                          </a:solidFill>
                          <a:latin typeface="+mj-ea"/>
                          <a:ea typeface="+mj-ea"/>
                        </a:rPr>
                        <a:t>无接触</a:t>
                      </a:r>
                      <a:r>
                        <a:rPr lang="zh-CN" altLang="en-US" sz="800" dirty="0">
                          <a:solidFill>
                            <a:srgbClr val="000000"/>
                          </a:solidFill>
                          <a:latin typeface="+mj-ea"/>
                          <a:ea typeface="+mj-ea"/>
                        </a:rPr>
                        <a:t>关账与</a:t>
                      </a:r>
                      <a:r>
                        <a:rPr lang="zh-CN" altLang="en-US" sz="800" b="1" dirty="0">
                          <a:solidFill>
                            <a:srgbClr val="000000"/>
                          </a:solidFill>
                          <a:latin typeface="+mj-ea"/>
                          <a:ea typeface="+mj-ea"/>
                        </a:rPr>
                        <a:t>自动化结算</a:t>
                      </a:r>
                      <a:r>
                        <a:rPr lang="zh-CN" altLang="en-US" sz="800" dirty="0">
                          <a:solidFill>
                            <a:srgbClr val="000000"/>
                          </a:solidFill>
                          <a:latin typeface="+mj-ea"/>
                          <a:ea typeface="+mj-ea"/>
                        </a:rPr>
                        <a:t>。</a:t>
                      </a:r>
                    </a:p>
                    <a:p>
                      <a:pPr marL="0" indent="-171450" algn="l" latinLnBrk="1">
                        <a:buFont typeface="Arial" panose="020B0604020202020204" pitchFamily="34" charset="0"/>
                        <a:buChar char="•"/>
                      </a:pPr>
                      <a:r>
                        <a:rPr lang="zh-CN" altLang="en-US" sz="800" dirty="0">
                          <a:solidFill>
                            <a:srgbClr val="000000"/>
                          </a:solidFill>
                          <a:latin typeface="+mj-ea"/>
                          <a:ea typeface="+mj-ea"/>
                        </a:rPr>
                        <a:t>实现现金流与</a:t>
                      </a:r>
                      <a:r>
                        <a:rPr lang="zh-CN" altLang="en-US" sz="800" b="1" dirty="0">
                          <a:solidFill>
                            <a:srgbClr val="000000"/>
                          </a:solidFill>
                          <a:latin typeface="+mj-ea"/>
                          <a:ea typeface="+mj-ea"/>
                        </a:rPr>
                        <a:t>人力资本</a:t>
                      </a:r>
                      <a:r>
                        <a:rPr lang="zh-CN" altLang="en-US" sz="800" dirty="0">
                          <a:solidFill>
                            <a:srgbClr val="000000"/>
                          </a:solidFill>
                          <a:latin typeface="+mj-ea"/>
                          <a:ea typeface="+mj-ea"/>
                        </a:rPr>
                        <a:t>实时可视。</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透明度与权力的零和博弈</a:t>
                      </a:r>
                    </a:p>
                    <a:p>
                      <a:pPr marL="171450" indent="-171450" algn="l">
                        <a:buFont typeface="Arial" panose="020B0604020202020204" pitchFamily="34" charset="0"/>
                        <a:buChar char="•"/>
                      </a:pPr>
                      <a:r>
                        <a:rPr lang="zh-CN" altLang="en-US" sz="800" dirty="0">
                          <a:solidFill>
                            <a:srgbClr val="000000"/>
                          </a:solidFill>
                          <a:latin typeface="+mj-ea"/>
                          <a:ea typeface="+mj-ea"/>
                        </a:rPr>
                        <a:t>阻力源：中层丧失“信息不对称”带来的权力（小账本）</a:t>
                      </a:r>
                      <a:r>
                        <a:rPr lang="zh-CN" altLang="en-US" sz="800" b="1" dirty="0">
                          <a:solidFill>
                            <a:srgbClr val="000000"/>
                          </a:solidFill>
                          <a:latin typeface="+mj-ea"/>
                          <a:ea typeface="+mj-ea"/>
                        </a:rPr>
                        <a:t>及采购</a:t>
                      </a:r>
                      <a:r>
                        <a:rPr lang="en-US" altLang="zh-CN" sz="800" b="1" dirty="0">
                          <a:solidFill>
                            <a:srgbClr val="000000"/>
                          </a:solidFill>
                          <a:latin typeface="+mj-ea"/>
                          <a:ea typeface="+mj-ea"/>
                        </a:rPr>
                        <a:t>/</a:t>
                      </a:r>
                      <a:r>
                        <a:rPr lang="zh-CN" altLang="en-US" sz="800" b="1" dirty="0">
                          <a:solidFill>
                            <a:srgbClr val="000000"/>
                          </a:solidFill>
                          <a:latin typeface="+mj-ea"/>
                          <a:ea typeface="+mj-ea"/>
                        </a:rPr>
                        <a:t>定薪的灰色地带</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dirty="0">
                          <a:solidFill>
                            <a:srgbClr val="000000"/>
                          </a:solidFill>
                          <a:latin typeface="+mj-ea"/>
                          <a:ea typeface="+mj-ea"/>
                        </a:rPr>
                        <a:t>本质：需确立数据立法权（业务）与行政权（</a:t>
                      </a:r>
                      <a:r>
                        <a:rPr lang="en-US" altLang="zh-CN" sz="800" dirty="0">
                          <a:solidFill>
                            <a:srgbClr val="000000"/>
                          </a:solidFill>
                          <a:latin typeface="+mj-ea"/>
                          <a:ea typeface="+mj-ea"/>
                        </a:rPr>
                        <a:t>IT</a:t>
                      </a:r>
                      <a:r>
                        <a:rPr lang="zh-CN" altLang="en-US" sz="800" dirty="0">
                          <a:solidFill>
                            <a:srgbClr val="000000"/>
                          </a:solidFill>
                          <a:latin typeface="+mj-ea"/>
                          <a:ea typeface="+mj-ea"/>
                        </a:rPr>
                        <a:t>）的分离治理。</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en-US" altLang="zh-CN" sz="800" b="1" dirty="0">
                          <a:solidFill>
                            <a:srgbClr val="000000"/>
                          </a:solidFill>
                          <a:latin typeface="+mj-ea"/>
                          <a:ea typeface="+mj-ea"/>
                        </a:rPr>
                        <a:t>CAP</a:t>
                      </a:r>
                      <a:r>
                        <a:rPr lang="zh-CN" altLang="en-US" sz="800" b="1" dirty="0">
                          <a:solidFill>
                            <a:srgbClr val="000000"/>
                          </a:solidFill>
                          <a:latin typeface="+mj-ea"/>
                          <a:ea typeface="+mj-ea"/>
                        </a:rPr>
                        <a:t>定理 </a:t>
                      </a:r>
                      <a:r>
                        <a:rPr lang="en-US" altLang="zh-CN" sz="800" b="1" dirty="0">
                          <a:solidFill>
                            <a:srgbClr val="000000"/>
                          </a:solidFill>
                          <a:latin typeface="+mj-ea"/>
                          <a:ea typeface="+mj-ea"/>
                        </a:rPr>
                        <a:t>(Rigid) + ACID</a:t>
                      </a:r>
                      <a:r>
                        <a:rPr lang="zh-CN" altLang="en-US" sz="800" b="1" dirty="0">
                          <a:solidFill>
                            <a:srgbClr val="000000"/>
                          </a:solidFill>
                          <a:latin typeface="+mj-ea"/>
                          <a:ea typeface="+mj-ea"/>
                        </a:rPr>
                        <a:t>原则</a:t>
                      </a:r>
                      <a:endParaRPr lang="zh-CN" altLang="en-US" sz="800" dirty="0">
                        <a:solidFill>
                          <a:srgbClr val="000000"/>
                        </a:solidFill>
                        <a:latin typeface="+mj-ea"/>
                        <a:ea typeface="+mj-ea"/>
                      </a:endParaRPr>
                    </a:p>
                    <a:p>
                      <a:pPr marL="171450" indent="-171450" algn="l">
                        <a:buFont typeface="Arial" panose="020B0604020202020204" pitchFamily="34" charset="0"/>
                        <a:buChar char="•"/>
                      </a:pPr>
                      <a:r>
                        <a:rPr lang="zh-CN" altLang="en-US" sz="800" dirty="0">
                          <a:solidFill>
                            <a:srgbClr val="000000"/>
                          </a:solidFill>
                          <a:latin typeface="+mj-ea"/>
                          <a:ea typeface="+mj-ea"/>
                        </a:rPr>
                        <a:t>毫不妥协地选择强一致性。世界是非黑即白的，牺牲可用性以换取绝对准确 </a:t>
                      </a:r>
                      <a:r>
                        <a:rPr lang="en-US" altLang="zh-CN" sz="800" dirty="0">
                          <a:solidFill>
                            <a:srgbClr val="000000"/>
                          </a:solidFill>
                          <a:latin typeface="+mj-ea"/>
                          <a:ea typeface="+mj-ea"/>
                        </a:rPr>
                        <a:t>(SSOT)</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b="1" dirty="0">
                          <a:solidFill>
                            <a:srgbClr val="000000"/>
                          </a:solidFill>
                          <a:latin typeface="+mj-ea"/>
                          <a:ea typeface="+mj-ea"/>
                        </a:rPr>
                        <a:t>事务必须原子化，不可分割。</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原子级 </a:t>
                      </a:r>
                      <a:r>
                        <a:rPr lang="en-US" altLang="zh-CN" sz="800" b="1" dirty="0">
                          <a:solidFill>
                            <a:srgbClr val="000000"/>
                          </a:solidFill>
                          <a:latin typeface="+mj-ea"/>
                          <a:ea typeface="+mj-ea"/>
                        </a:rPr>
                        <a:t>(Atomic)</a:t>
                      </a:r>
                    </a:p>
                    <a:p>
                      <a:pPr marL="171450" indent="-171450" algn="l">
                        <a:buFont typeface="Arial" panose="020B0604020202020204" pitchFamily="34" charset="0"/>
                        <a:buChar char="•"/>
                      </a:pPr>
                      <a:r>
                        <a:rPr lang="zh-CN" altLang="en-US" sz="800" dirty="0">
                          <a:solidFill>
                            <a:srgbClr val="000000"/>
                          </a:solidFill>
                          <a:latin typeface="+mj-ea"/>
                          <a:ea typeface="+mj-ea"/>
                        </a:rPr>
                        <a:t>下钻至每一笔借贷分录、</a:t>
                      </a:r>
                      <a:r>
                        <a:rPr lang="zh-CN" altLang="en-US" sz="800" b="1" dirty="0">
                          <a:solidFill>
                            <a:srgbClr val="000000"/>
                          </a:solidFill>
                          <a:latin typeface="+mj-ea"/>
                          <a:ea typeface="+mj-ea"/>
                        </a:rPr>
                        <a:t>每一张采购发票、每一次考勤打卡</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dirty="0">
                          <a:solidFill>
                            <a:srgbClr val="000000"/>
                          </a:solidFill>
                          <a:latin typeface="+mj-ea"/>
                          <a:ea typeface="+mj-ea"/>
                        </a:rPr>
                        <a:t>必须</a:t>
                      </a:r>
                      <a:r>
                        <a:rPr lang="en-US" altLang="zh-CN" sz="800" dirty="0">
                          <a:solidFill>
                            <a:srgbClr val="000000"/>
                          </a:solidFill>
                          <a:latin typeface="+mj-ea"/>
                          <a:ea typeface="+mj-ea"/>
                        </a:rPr>
                        <a:t>100%</a:t>
                      </a:r>
                      <a:r>
                        <a:rPr lang="zh-CN" altLang="en-US" sz="800" dirty="0">
                          <a:solidFill>
                            <a:srgbClr val="000000"/>
                          </a:solidFill>
                          <a:latin typeface="+mj-ea"/>
                          <a:ea typeface="+mj-ea"/>
                        </a:rPr>
                        <a:t>平衡，不可篡改。</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zh-CN" altLang="en-US" sz="800" b="1" dirty="0">
                          <a:solidFill>
                            <a:srgbClr val="000000"/>
                          </a:solidFill>
                          <a:latin typeface="+mj-ea"/>
                          <a:ea typeface="+mj-ea"/>
                        </a:rPr>
                        <a:t>全实体穿透</a:t>
                      </a:r>
                    </a:p>
                    <a:p>
                      <a:pPr marL="171450" indent="-171450" algn="l">
                        <a:buFont typeface="Arial" panose="020B0604020202020204" pitchFamily="34" charset="0"/>
                        <a:buChar char="•"/>
                      </a:pPr>
                      <a:r>
                        <a:rPr lang="zh-CN" altLang="en-US" sz="800" dirty="0">
                          <a:solidFill>
                            <a:srgbClr val="000000"/>
                          </a:solidFill>
                          <a:latin typeface="+mj-ea"/>
                          <a:ea typeface="+mj-ea"/>
                        </a:rPr>
                        <a:t>横向拉通全球所有法律实体、税务辖区</a:t>
                      </a:r>
                      <a:r>
                        <a:rPr lang="zh-CN" altLang="en-US" sz="800" b="1" dirty="0">
                          <a:solidFill>
                            <a:srgbClr val="000000"/>
                          </a:solidFill>
                          <a:latin typeface="+mj-ea"/>
                          <a:ea typeface="+mj-ea"/>
                        </a:rPr>
                        <a:t>及员工</a:t>
                      </a:r>
                      <a:r>
                        <a:rPr lang="en-US" altLang="zh-CN" sz="800" b="1" dirty="0">
                          <a:solidFill>
                            <a:srgbClr val="000000"/>
                          </a:solidFill>
                          <a:latin typeface="+mj-ea"/>
                          <a:ea typeface="+mj-ea"/>
                        </a:rPr>
                        <a:t>/</a:t>
                      </a:r>
                      <a:r>
                        <a:rPr lang="zh-CN" altLang="en-US" sz="800" b="1" dirty="0">
                          <a:solidFill>
                            <a:srgbClr val="000000"/>
                          </a:solidFill>
                          <a:latin typeface="+mj-ea"/>
                          <a:ea typeface="+mj-ea"/>
                        </a:rPr>
                        <a:t>供应商实体</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dirty="0">
                          <a:solidFill>
                            <a:srgbClr val="000000"/>
                          </a:solidFill>
                          <a:latin typeface="+mj-ea"/>
                          <a:ea typeface="+mj-ea"/>
                        </a:rPr>
                        <a:t>无死角覆盖。</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数据立法与宪法</a:t>
                      </a:r>
                    </a:p>
                    <a:p>
                      <a:pPr marL="171450" indent="-171450" algn="l">
                        <a:buFont typeface="Arial" panose="020B0604020202020204" pitchFamily="34" charset="0"/>
                        <a:buChar char="•"/>
                      </a:pPr>
                      <a:r>
                        <a:rPr lang="zh-CN" altLang="en-US" sz="800" dirty="0">
                          <a:solidFill>
                            <a:srgbClr val="000000"/>
                          </a:solidFill>
                          <a:latin typeface="+mj-ea"/>
                          <a:ea typeface="+mj-ea"/>
                        </a:rPr>
                        <a:t>建立</a:t>
                      </a:r>
                      <a:r>
                        <a:rPr lang="en-US" altLang="zh-CN" sz="800" dirty="0">
                          <a:solidFill>
                            <a:srgbClr val="000000"/>
                          </a:solidFill>
                          <a:latin typeface="+mj-ea"/>
                          <a:ea typeface="+mj-ea"/>
                        </a:rPr>
                        <a:t>SSOT (</a:t>
                      </a:r>
                      <a:r>
                        <a:rPr lang="zh-CN" altLang="en-US" sz="800" dirty="0">
                          <a:solidFill>
                            <a:srgbClr val="000000"/>
                          </a:solidFill>
                          <a:latin typeface="+mj-ea"/>
                          <a:ea typeface="+mj-ea"/>
                        </a:rPr>
                        <a:t>单一事实来源</a:t>
                      </a:r>
                      <a:r>
                        <a:rPr lang="en-US" altLang="zh-CN" sz="800" dirty="0">
                          <a:solidFill>
                            <a:srgbClr val="000000"/>
                          </a:solidFill>
                          <a:latin typeface="+mj-ea"/>
                          <a:ea typeface="+mj-ea"/>
                        </a:rPr>
                        <a:t>) </a:t>
                      </a:r>
                      <a:r>
                        <a:rPr lang="en-US" altLang="zh-CN" sz="800" b="1" dirty="0">
                          <a:solidFill>
                            <a:srgbClr val="000000"/>
                          </a:solidFill>
                          <a:latin typeface="+mj-ea"/>
                          <a:ea typeface="+mj-ea"/>
                        </a:rPr>
                        <a:t>+ MDM (</a:t>
                      </a:r>
                      <a:r>
                        <a:rPr lang="zh-CN" altLang="en-US" sz="800" b="1" dirty="0">
                          <a:solidFill>
                            <a:srgbClr val="000000"/>
                          </a:solidFill>
                          <a:latin typeface="+mj-ea"/>
                          <a:ea typeface="+mj-ea"/>
                        </a:rPr>
                        <a:t>主数据管理</a:t>
                      </a:r>
                      <a:r>
                        <a:rPr lang="en-US" altLang="zh-CN" sz="800" b="1" dirty="0">
                          <a:solidFill>
                            <a:srgbClr val="000000"/>
                          </a:solidFill>
                          <a:latin typeface="+mj-ea"/>
                          <a:ea typeface="+mj-ea"/>
                        </a:rPr>
                        <a:t>)</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dirty="0">
                          <a:solidFill>
                            <a:srgbClr val="000000"/>
                          </a:solidFill>
                          <a:latin typeface="+mj-ea"/>
                          <a:ea typeface="+mj-ea"/>
                        </a:rPr>
                        <a:t>严格区分</a:t>
                      </a:r>
                      <a:r>
                        <a:rPr lang="en-US" altLang="zh-CN" sz="800" dirty="0">
                          <a:solidFill>
                            <a:srgbClr val="000000"/>
                          </a:solidFill>
                          <a:latin typeface="+mj-ea"/>
                          <a:ea typeface="+mj-ea"/>
                        </a:rPr>
                        <a:t>Data Owner (</a:t>
                      </a:r>
                      <a:r>
                        <a:rPr lang="zh-CN" altLang="en-US" sz="800" dirty="0">
                          <a:solidFill>
                            <a:srgbClr val="000000"/>
                          </a:solidFill>
                          <a:latin typeface="+mj-ea"/>
                          <a:ea typeface="+mj-ea"/>
                        </a:rPr>
                        <a:t>业务立法</a:t>
                      </a:r>
                      <a:r>
                        <a:rPr lang="en-US" altLang="zh-CN" sz="800" dirty="0">
                          <a:solidFill>
                            <a:srgbClr val="000000"/>
                          </a:solidFill>
                          <a:latin typeface="+mj-ea"/>
                          <a:ea typeface="+mj-ea"/>
                        </a:rPr>
                        <a:t>)</a:t>
                      </a:r>
                      <a:r>
                        <a:rPr lang="zh-CN" altLang="en-US" sz="800" dirty="0">
                          <a:solidFill>
                            <a:srgbClr val="000000"/>
                          </a:solidFill>
                          <a:latin typeface="+mj-ea"/>
                          <a:ea typeface="+mj-ea"/>
                        </a:rPr>
                        <a:t>与</a:t>
                      </a:r>
                      <a:r>
                        <a:rPr lang="en-US" altLang="zh-CN" sz="800" dirty="0">
                          <a:solidFill>
                            <a:srgbClr val="000000"/>
                          </a:solidFill>
                          <a:latin typeface="+mj-ea"/>
                          <a:ea typeface="+mj-ea"/>
                        </a:rPr>
                        <a:t>Data Steward (IT</a:t>
                      </a:r>
                      <a:r>
                        <a:rPr lang="zh-CN" altLang="en-US" sz="800" dirty="0">
                          <a:solidFill>
                            <a:srgbClr val="000000"/>
                          </a:solidFill>
                          <a:latin typeface="+mj-ea"/>
                          <a:ea typeface="+mj-ea"/>
                        </a:rPr>
                        <a:t>执法</a:t>
                      </a:r>
                      <a:r>
                        <a:rPr lang="en-US" altLang="zh-CN" sz="800" dirty="0">
                          <a:solidFill>
                            <a:srgbClr val="000000"/>
                          </a:solidFill>
                          <a:latin typeface="+mj-ea"/>
                          <a:ea typeface="+mj-ea"/>
                        </a:rPr>
                        <a:t>)</a:t>
                      </a:r>
                      <a:r>
                        <a:rPr lang="zh-CN" altLang="en-US" sz="800" dirty="0">
                          <a:solidFill>
                            <a:srgbClr val="000000"/>
                          </a:solidFill>
                          <a:latin typeface="+mj-ea"/>
                          <a:ea typeface="+mj-ea"/>
                        </a:rPr>
                        <a:t>。</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en-US" altLang="zh-CN" sz="800" b="1" dirty="0">
                          <a:solidFill>
                            <a:srgbClr val="000000"/>
                          </a:solidFill>
                          <a:latin typeface="+mj-ea"/>
                          <a:ea typeface="+mj-ea"/>
                        </a:rPr>
                        <a:t>CFO / CHRO / CPO</a:t>
                      </a:r>
                      <a:endParaRPr lang="zh-CN" altLang="en-US" sz="800" dirty="0">
                        <a:solidFill>
                          <a:srgbClr val="000000"/>
                        </a:solidFill>
                        <a:latin typeface="+mj-ea"/>
                        <a:ea typeface="+mj-ea"/>
                      </a:endParaRPr>
                    </a:p>
                    <a:p>
                      <a:pPr algn="l"/>
                      <a:r>
                        <a:rPr lang="en-US" altLang="zh-CN" sz="800" dirty="0">
                          <a:solidFill>
                            <a:srgbClr val="000000"/>
                          </a:solidFill>
                          <a:latin typeface="+mj-ea"/>
                          <a:ea typeface="+mj-ea"/>
                        </a:rPr>
                        <a:t>1. </a:t>
                      </a:r>
                      <a:r>
                        <a:rPr lang="zh-CN" altLang="en-US" sz="800" dirty="0">
                          <a:solidFill>
                            <a:srgbClr val="000000"/>
                          </a:solidFill>
                          <a:latin typeface="+mj-ea"/>
                          <a:ea typeface="+mj-ea"/>
                        </a:rPr>
                        <a:t>极速月结：</a:t>
                      </a:r>
                      <a:r>
                        <a:rPr lang="en-US" altLang="zh-CN" sz="800" dirty="0">
                          <a:solidFill>
                            <a:srgbClr val="000000"/>
                          </a:solidFill>
                          <a:latin typeface="+mj-ea"/>
                          <a:ea typeface="+mj-ea"/>
                        </a:rPr>
                        <a:t>AI</a:t>
                      </a:r>
                      <a:r>
                        <a:rPr lang="zh-CN" altLang="en-US" sz="800" dirty="0">
                          <a:solidFill>
                            <a:srgbClr val="000000"/>
                          </a:solidFill>
                          <a:latin typeface="+mj-ea"/>
                          <a:ea typeface="+mj-ea"/>
                        </a:rPr>
                        <a:t>自动对账，关账从</a:t>
                      </a:r>
                      <a:r>
                        <a:rPr lang="en-US" altLang="zh-CN" sz="800" dirty="0">
                          <a:solidFill>
                            <a:srgbClr val="000000"/>
                          </a:solidFill>
                          <a:latin typeface="+mj-ea"/>
                          <a:ea typeface="+mj-ea"/>
                        </a:rPr>
                        <a:t>7</a:t>
                      </a:r>
                      <a:r>
                        <a:rPr lang="zh-CN" altLang="en-US" sz="800" dirty="0">
                          <a:solidFill>
                            <a:srgbClr val="000000"/>
                          </a:solidFill>
                          <a:latin typeface="+mj-ea"/>
                          <a:ea typeface="+mj-ea"/>
                        </a:rPr>
                        <a:t>天缩短至小时级。</a:t>
                      </a:r>
                    </a:p>
                    <a:p>
                      <a:pPr algn="l"/>
                      <a:r>
                        <a:rPr lang="en-US" altLang="zh-CN" sz="800" dirty="0">
                          <a:solidFill>
                            <a:srgbClr val="000000"/>
                          </a:solidFill>
                          <a:latin typeface="+mj-ea"/>
                          <a:ea typeface="+mj-ea"/>
                        </a:rPr>
                        <a:t>2. </a:t>
                      </a:r>
                      <a:r>
                        <a:rPr lang="zh-CN" altLang="en-US" sz="800" dirty="0">
                          <a:solidFill>
                            <a:srgbClr val="000000"/>
                          </a:solidFill>
                          <a:latin typeface="+mj-ea"/>
                          <a:ea typeface="+mj-ea"/>
                        </a:rPr>
                        <a:t>预测性合规：事后审计变为事前拦截。</a:t>
                      </a:r>
                    </a:p>
                    <a:p>
                      <a:pPr algn="l"/>
                      <a:r>
                        <a:rPr lang="en-US" altLang="zh-CN" sz="800" b="1" dirty="0">
                          <a:solidFill>
                            <a:srgbClr val="000000"/>
                          </a:solidFill>
                          <a:latin typeface="+mj-ea"/>
                          <a:ea typeface="+mj-ea"/>
                        </a:rPr>
                        <a:t>3. </a:t>
                      </a:r>
                      <a:r>
                        <a:rPr lang="zh-CN" altLang="en-US" sz="800" b="1" dirty="0">
                          <a:solidFill>
                            <a:srgbClr val="000000"/>
                          </a:solidFill>
                          <a:latin typeface="+mj-ea"/>
                          <a:ea typeface="+mj-ea"/>
                        </a:rPr>
                        <a:t>人效罗盘：实时监控编制与薪酬</a:t>
                      </a:r>
                      <a:r>
                        <a:rPr lang="en-US" altLang="zh-CN" sz="800" b="1" dirty="0">
                          <a:solidFill>
                            <a:srgbClr val="000000"/>
                          </a:solidFill>
                          <a:latin typeface="+mj-ea"/>
                          <a:ea typeface="+mj-ea"/>
                        </a:rPr>
                        <a:t>ROI</a:t>
                      </a:r>
                      <a:r>
                        <a:rPr lang="zh-CN" altLang="en-US" sz="800" b="1" dirty="0">
                          <a:solidFill>
                            <a:srgbClr val="000000"/>
                          </a:solidFill>
                          <a:latin typeface="+mj-ea"/>
                          <a:ea typeface="+mj-ea"/>
                        </a:rPr>
                        <a:t>。</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extLst>
                  <a:ext uri="{0D108BD9-81ED-4DB2-BD59-A6C34878D82A}">
                    <a16:rowId xmlns:a16="http://schemas.microsoft.com/office/drawing/2014/main" val="318383387"/>
                  </a:ext>
                </a:extLst>
              </a:tr>
              <a:tr h="882312">
                <a:tc>
                  <a:txBody>
                    <a:bodyPr/>
                    <a:lstStyle/>
                    <a:p>
                      <a:pPr algn="l"/>
                      <a:r>
                        <a:rPr lang="en-US" sz="800" b="1">
                          <a:solidFill>
                            <a:srgbClr val="000000"/>
                          </a:solidFill>
                          <a:latin typeface="+mj-ea"/>
                          <a:ea typeface="+mj-ea"/>
                        </a:rPr>
                        <a:t>II. </a:t>
                      </a:r>
                      <a:r>
                        <a:rPr lang="zh-CN" altLang="en-US" sz="800" b="1">
                          <a:solidFill>
                            <a:srgbClr val="000000"/>
                          </a:solidFill>
                          <a:latin typeface="+mj-ea"/>
                          <a:ea typeface="+mj-ea"/>
                        </a:rPr>
                        <a:t>引擎层</a:t>
                      </a:r>
                    </a:p>
                    <a:p>
                      <a:pPr algn="l"/>
                      <a:br>
                        <a:rPr lang="zh-CN" altLang="en-US" sz="800" b="1">
                          <a:solidFill>
                            <a:srgbClr val="000000"/>
                          </a:solidFill>
                          <a:latin typeface="+mj-ea"/>
                          <a:ea typeface="+mj-ea"/>
                        </a:rPr>
                      </a:br>
                      <a:r>
                        <a:rPr lang="en-US" sz="800" b="1" i="1">
                          <a:solidFill>
                            <a:srgbClr val="000000"/>
                          </a:solidFill>
                          <a:latin typeface="+mj-ea"/>
                          <a:ea typeface="+mj-ea"/>
                        </a:rPr>
                        <a:t>The Growth</a:t>
                      </a:r>
                      <a:endParaRPr lang="en-US" sz="800" b="1">
                        <a:solidFill>
                          <a:srgbClr val="000000"/>
                        </a:solidFill>
                        <a:latin typeface="+mj-ea"/>
                        <a:ea typeface="+mj-ea"/>
                      </a:endParaRPr>
                    </a:p>
                    <a:p>
                      <a:pPr algn="l"/>
                      <a:br>
                        <a:rPr lang="en-US" sz="800" b="1">
                          <a:solidFill>
                            <a:srgbClr val="000000"/>
                          </a:solidFill>
                          <a:latin typeface="+mj-ea"/>
                          <a:ea typeface="+mj-ea"/>
                        </a:rPr>
                      </a:br>
                      <a:r>
                        <a:rPr lang="en-US" sz="800" b="1">
                          <a:solidFill>
                            <a:srgbClr val="000000"/>
                          </a:solidFill>
                          <a:latin typeface="+mj-ea"/>
                          <a:ea typeface="+mj-ea"/>
                        </a:rPr>
                        <a:t>(</a:t>
                      </a:r>
                      <a:r>
                        <a:rPr lang="zh-CN" altLang="en-US" sz="800" b="1">
                          <a:solidFill>
                            <a:srgbClr val="000000"/>
                          </a:solidFill>
                          <a:latin typeface="+mj-ea"/>
                          <a:ea typeface="+mj-ea"/>
                        </a:rPr>
                        <a:t>增长</a:t>
                      </a:r>
                      <a:r>
                        <a:rPr lang="en-US" altLang="zh-CN" sz="800" b="1">
                          <a:solidFill>
                            <a:srgbClr val="000000"/>
                          </a:solidFill>
                          <a:latin typeface="+mj-ea"/>
                          <a:ea typeface="+mj-ea"/>
                        </a:rPr>
                        <a:t>)</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DACDE4"/>
                    </a:solidFill>
                  </a:tcPr>
                </a:tc>
                <a:tc>
                  <a:txBody>
                    <a:bodyPr/>
                    <a:lstStyle/>
                    <a:p>
                      <a:pPr algn="l"/>
                      <a:r>
                        <a:rPr lang="en-US" sz="800" b="1" dirty="0">
                          <a:solidFill>
                            <a:srgbClr val="000000"/>
                          </a:solidFill>
                          <a:latin typeface="+mj-ea"/>
                          <a:ea typeface="+mj-ea"/>
                        </a:rPr>
                        <a:t>CRM / CDP</a:t>
                      </a:r>
                    </a:p>
                    <a:p>
                      <a:pPr algn="l"/>
                      <a:br>
                        <a:rPr lang="en-US" sz="800" b="1" dirty="0">
                          <a:solidFill>
                            <a:srgbClr val="000000"/>
                          </a:solidFill>
                          <a:latin typeface="+mj-ea"/>
                          <a:ea typeface="+mj-ea"/>
                        </a:rPr>
                      </a:br>
                      <a:r>
                        <a:rPr lang="en-US" sz="800" b="0" dirty="0">
                          <a:solidFill>
                            <a:srgbClr val="000000"/>
                          </a:solidFill>
                          <a:latin typeface="+mj-ea"/>
                          <a:ea typeface="+mj-ea"/>
                        </a:rPr>
                        <a:t>(DMS, CSS, Omni)</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marL="0" algn="l" latinLnBrk="1"/>
                      <a:r>
                        <a:rPr lang="zh-CN" altLang="en-US" sz="800" b="1" dirty="0">
                          <a:solidFill>
                            <a:srgbClr val="000000"/>
                          </a:solidFill>
                          <a:latin typeface="+mj-ea"/>
                          <a:ea typeface="+mj-ea"/>
                        </a:rPr>
                        <a:t>客户资产货币化 </a:t>
                      </a:r>
                      <a:r>
                        <a:rPr lang="en-US" altLang="zh-CN" sz="800" b="1" dirty="0">
                          <a:solidFill>
                            <a:srgbClr val="000000"/>
                          </a:solidFill>
                          <a:latin typeface="+mj-ea"/>
                          <a:ea typeface="+mj-ea"/>
                        </a:rPr>
                        <a:t>&amp; </a:t>
                      </a:r>
                      <a:r>
                        <a:rPr lang="zh-CN" altLang="en-US" sz="800" b="1" dirty="0">
                          <a:solidFill>
                            <a:srgbClr val="000000"/>
                          </a:solidFill>
                          <a:latin typeface="+mj-ea"/>
                          <a:ea typeface="+mj-ea"/>
                        </a:rPr>
                        <a:t>渠道共生</a:t>
                      </a:r>
                    </a:p>
                    <a:p>
                      <a:pPr marL="171450" indent="-171450" algn="l" latinLnBrk="1">
                        <a:buFont typeface="Arial" panose="020B0604020202020204" pitchFamily="34" charset="0"/>
                        <a:buChar char="•"/>
                      </a:pPr>
                      <a:r>
                        <a:rPr lang="zh-CN" altLang="en-US" sz="800" dirty="0">
                          <a:solidFill>
                            <a:srgbClr val="000000"/>
                          </a:solidFill>
                          <a:latin typeface="+mj-ea"/>
                          <a:ea typeface="+mj-ea"/>
                        </a:rPr>
                        <a:t>构建第一方数据资产。</a:t>
                      </a:r>
                    </a:p>
                    <a:p>
                      <a:pPr marL="171450" indent="-171450" algn="l" latinLnBrk="1">
                        <a:buFont typeface="Arial" panose="020B0604020202020204" pitchFamily="34" charset="0"/>
                        <a:buChar char="•"/>
                      </a:pPr>
                      <a:r>
                        <a:rPr lang="zh-CN" altLang="en-US" sz="800" dirty="0">
                          <a:solidFill>
                            <a:srgbClr val="000000"/>
                          </a:solidFill>
                          <a:latin typeface="+mj-ea"/>
                          <a:ea typeface="+mj-ea"/>
                        </a:rPr>
                        <a:t>利用</a:t>
                      </a:r>
                      <a:r>
                        <a:rPr lang="en-US" altLang="zh-CN" sz="800" dirty="0">
                          <a:solidFill>
                            <a:srgbClr val="000000"/>
                          </a:solidFill>
                          <a:latin typeface="+mj-ea"/>
                          <a:ea typeface="+mj-ea"/>
                        </a:rPr>
                        <a:t>AI</a:t>
                      </a:r>
                      <a:r>
                        <a:rPr lang="zh-CN" altLang="en-US" sz="800" dirty="0">
                          <a:solidFill>
                            <a:srgbClr val="000000"/>
                          </a:solidFill>
                          <a:latin typeface="+mj-ea"/>
                          <a:ea typeface="+mj-ea"/>
                        </a:rPr>
                        <a:t>预测</a:t>
                      </a:r>
                      <a:r>
                        <a:rPr lang="en-US" altLang="zh-CN" sz="800" dirty="0">
                          <a:solidFill>
                            <a:srgbClr val="000000"/>
                          </a:solidFill>
                          <a:latin typeface="+mj-ea"/>
                          <a:ea typeface="+mj-ea"/>
                        </a:rPr>
                        <a:t>CLV</a:t>
                      </a:r>
                      <a:r>
                        <a:rPr lang="zh-CN" altLang="en-US" sz="800" dirty="0">
                          <a:solidFill>
                            <a:srgbClr val="000000"/>
                          </a:solidFill>
                          <a:latin typeface="+mj-ea"/>
                          <a:ea typeface="+mj-ea"/>
                        </a:rPr>
                        <a:t>，最大化</a:t>
                      </a:r>
                      <a:r>
                        <a:rPr lang="en-US" altLang="zh-CN" sz="800" dirty="0">
                          <a:solidFill>
                            <a:srgbClr val="000000"/>
                          </a:solidFill>
                          <a:latin typeface="+mj-ea"/>
                          <a:ea typeface="+mj-ea"/>
                        </a:rPr>
                        <a:t>LTV/CAC</a:t>
                      </a:r>
                      <a:r>
                        <a:rPr lang="zh-CN" altLang="en-US" sz="800" dirty="0">
                          <a:solidFill>
                            <a:srgbClr val="000000"/>
                          </a:solidFill>
                          <a:latin typeface="+mj-ea"/>
                          <a:ea typeface="+mj-ea"/>
                        </a:rPr>
                        <a:t>，抵御</a:t>
                      </a:r>
                      <a:r>
                        <a:rPr lang="en-US" altLang="zh-CN" sz="800" dirty="0">
                          <a:solidFill>
                            <a:srgbClr val="000000"/>
                          </a:solidFill>
                          <a:latin typeface="+mj-ea"/>
                          <a:ea typeface="+mj-ea"/>
                        </a:rPr>
                        <a:t>Cookie-less</a:t>
                      </a:r>
                      <a:r>
                        <a:rPr lang="zh-CN" altLang="en-US" sz="800" dirty="0">
                          <a:solidFill>
                            <a:srgbClr val="000000"/>
                          </a:solidFill>
                          <a:latin typeface="+mj-ea"/>
                          <a:ea typeface="+mj-ea"/>
                        </a:rPr>
                        <a:t>时代的流量焦虑。</a:t>
                      </a:r>
                    </a:p>
                    <a:p>
                      <a:pPr marL="171450" indent="-171450" algn="l" latinLnBrk="1">
                        <a:buFont typeface="Arial" panose="020B0604020202020204" pitchFamily="34" charset="0"/>
                        <a:buChar char="•"/>
                      </a:pPr>
                      <a:r>
                        <a:rPr lang="zh-CN" altLang="en-US" sz="800" b="1" dirty="0">
                          <a:solidFill>
                            <a:srgbClr val="000000"/>
                          </a:solidFill>
                          <a:latin typeface="+mj-ea"/>
                          <a:ea typeface="+mj-ea"/>
                        </a:rPr>
                        <a:t>从“卖产品”转向“经营关系”。</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“私产”变“公产”的阵痛</a:t>
                      </a:r>
                    </a:p>
                    <a:p>
                      <a:pPr marL="171450" indent="-171450" algn="l">
                        <a:buFont typeface="Arial" panose="020B0604020202020204" pitchFamily="34" charset="0"/>
                        <a:buChar char="•"/>
                      </a:pPr>
                      <a:r>
                        <a:rPr lang="zh-CN" altLang="en-US" sz="800" dirty="0">
                          <a:solidFill>
                            <a:srgbClr val="000000"/>
                          </a:solidFill>
                          <a:latin typeface="+mj-ea"/>
                          <a:ea typeface="+mj-ea"/>
                        </a:rPr>
                        <a:t>阻力源：销售视为客户关系为个人私产，抵制录入；</a:t>
                      </a:r>
                      <a:r>
                        <a:rPr lang="zh-CN" altLang="en-US" sz="800" b="1" dirty="0">
                          <a:solidFill>
                            <a:srgbClr val="000000"/>
                          </a:solidFill>
                          <a:latin typeface="+mj-ea"/>
                          <a:ea typeface="+mj-ea"/>
                        </a:rPr>
                        <a:t>渠道商抵制库存透明化</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dirty="0">
                          <a:solidFill>
                            <a:srgbClr val="000000"/>
                          </a:solidFill>
                          <a:latin typeface="+mj-ea"/>
                          <a:ea typeface="+mj-ea"/>
                        </a:rPr>
                        <a:t>本质：所有制改革。需重构激励机制，从“管控”转为“赋能”。</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zh-CN" altLang="en-US" sz="800" b="1" dirty="0">
                          <a:solidFill>
                            <a:srgbClr val="000000"/>
                          </a:solidFill>
                          <a:latin typeface="+mj-ea"/>
                          <a:ea typeface="+mj-ea"/>
                        </a:rPr>
                        <a:t>概率性逻辑 </a:t>
                      </a:r>
                      <a:r>
                        <a:rPr lang="en-US" altLang="zh-CN" sz="800" b="1" dirty="0">
                          <a:solidFill>
                            <a:srgbClr val="000000"/>
                          </a:solidFill>
                          <a:latin typeface="+mj-ea"/>
                          <a:ea typeface="+mj-ea"/>
                        </a:rPr>
                        <a:t>(Probabilistic) + </a:t>
                      </a:r>
                      <a:r>
                        <a:rPr lang="zh-CN" altLang="en-US" sz="800" b="1" dirty="0">
                          <a:solidFill>
                            <a:srgbClr val="000000"/>
                          </a:solidFill>
                          <a:latin typeface="+mj-ea"/>
                          <a:ea typeface="+mj-ea"/>
                        </a:rPr>
                        <a:t>博弈论</a:t>
                      </a:r>
                    </a:p>
                    <a:p>
                      <a:pPr marL="171450" indent="-171450" algn="l">
                        <a:buFont typeface="Arial" panose="020B0604020202020204" pitchFamily="34" charset="0"/>
                        <a:buChar char="•"/>
                      </a:pPr>
                      <a:r>
                        <a:rPr lang="zh-CN" altLang="en-US" sz="800" dirty="0">
                          <a:solidFill>
                            <a:srgbClr val="000000"/>
                          </a:solidFill>
                          <a:latin typeface="+mj-ea"/>
                          <a:ea typeface="+mj-ea"/>
                        </a:rPr>
                        <a:t>处理流动、模糊的人际关系</a:t>
                      </a:r>
                      <a:r>
                        <a:rPr lang="zh-CN" altLang="en-US" sz="800" b="1" dirty="0">
                          <a:solidFill>
                            <a:srgbClr val="000000"/>
                          </a:solidFill>
                          <a:latin typeface="+mj-ea"/>
                          <a:ea typeface="+mj-ea"/>
                        </a:rPr>
                        <a:t>及动态竞争</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dirty="0">
                          <a:solidFill>
                            <a:srgbClr val="000000"/>
                          </a:solidFill>
                          <a:latin typeface="+mj-ea"/>
                          <a:ea typeface="+mj-ea"/>
                        </a:rPr>
                        <a:t>需在确定性匹配（精准服务）与概率性匹配（模糊挖掘）间取得平衡。</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行为级 </a:t>
                      </a:r>
                      <a:r>
                        <a:rPr lang="en-US" altLang="zh-CN" sz="800" b="1" dirty="0">
                          <a:solidFill>
                            <a:srgbClr val="000000"/>
                          </a:solidFill>
                          <a:latin typeface="+mj-ea"/>
                          <a:ea typeface="+mj-ea"/>
                        </a:rPr>
                        <a:t>(Behavioral)</a:t>
                      </a:r>
                    </a:p>
                    <a:p>
                      <a:pPr marL="171450" indent="-171450" algn="l">
                        <a:buFont typeface="Arial" panose="020B0604020202020204" pitchFamily="34" charset="0"/>
                        <a:buChar char="•"/>
                      </a:pPr>
                      <a:r>
                        <a:rPr lang="zh-CN" altLang="en-US" sz="800" dirty="0">
                          <a:solidFill>
                            <a:srgbClr val="000000"/>
                          </a:solidFill>
                          <a:latin typeface="+mj-ea"/>
                          <a:ea typeface="+mj-ea"/>
                        </a:rPr>
                        <a:t>记录浏览、点击、停留、情绪、</a:t>
                      </a:r>
                      <a:r>
                        <a:rPr lang="zh-CN" altLang="en-US" sz="800" b="1" dirty="0">
                          <a:solidFill>
                            <a:srgbClr val="000000"/>
                          </a:solidFill>
                          <a:latin typeface="+mj-ea"/>
                          <a:ea typeface="+mj-ea"/>
                        </a:rPr>
                        <a:t>投诉与服务工单</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dirty="0">
                          <a:solidFill>
                            <a:srgbClr val="000000"/>
                          </a:solidFill>
                          <a:latin typeface="+mj-ea"/>
                          <a:ea typeface="+mj-ea"/>
                        </a:rPr>
                        <a:t>容忍适度模糊，追求画像丰满。</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zh-CN" altLang="en-US" sz="800" b="1" dirty="0">
                          <a:solidFill>
                            <a:srgbClr val="000000"/>
                          </a:solidFill>
                          <a:latin typeface="+mj-ea"/>
                          <a:ea typeface="+mj-ea"/>
                        </a:rPr>
                        <a:t>全渠道 </a:t>
                      </a:r>
                      <a:r>
                        <a:rPr lang="en-US" altLang="zh-CN" sz="800" b="1" dirty="0">
                          <a:solidFill>
                            <a:srgbClr val="000000"/>
                          </a:solidFill>
                          <a:latin typeface="+mj-ea"/>
                          <a:ea typeface="+mj-ea"/>
                        </a:rPr>
                        <a:t>(Omni)</a:t>
                      </a:r>
                    </a:p>
                    <a:p>
                      <a:pPr marL="171450" indent="-171450" algn="l">
                        <a:buFont typeface="Arial" panose="020B0604020202020204" pitchFamily="34" charset="0"/>
                        <a:buChar char="•"/>
                      </a:pPr>
                      <a:r>
                        <a:rPr lang="zh-CN" altLang="en-US" sz="800" dirty="0">
                          <a:solidFill>
                            <a:srgbClr val="000000"/>
                          </a:solidFill>
                          <a:latin typeface="+mj-ea"/>
                          <a:ea typeface="+mj-ea"/>
                        </a:rPr>
                        <a:t>构建身份图谱 </a:t>
                      </a:r>
                      <a:r>
                        <a:rPr lang="en-US" altLang="zh-CN" sz="800" dirty="0">
                          <a:solidFill>
                            <a:srgbClr val="000000"/>
                          </a:solidFill>
                          <a:latin typeface="+mj-ea"/>
                          <a:ea typeface="+mj-ea"/>
                        </a:rPr>
                        <a:t>(Identity Graph)</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dirty="0">
                          <a:solidFill>
                            <a:srgbClr val="000000"/>
                          </a:solidFill>
                          <a:latin typeface="+mj-ea"/>
                          <a:ea typeface="+mj-ea"/>
                        </a:rPr>
                        <a:t>跨设备识别同一个生物学个体，</a:t>
                      </a:r>
                      <a:r>
                        <a:rPr lang="zh-CN" altLang="en-US" sz="800" b="1" dirty="0">
                          <a:solidFill>
                            <a:srgbClr val="000000"/>
                          </a:solidFill>
                          <a:latin typeface="+mj-ea"/>
                          <a:ea typeface="+mj-ea"/>
                        </a:rPr>
                        <a:t>跨渠道识别同一家企业</a:t>
                      </a:r>
                      <a:r>
                        <a:rPr lang="zh-CN" altLang="en-US" sz="800" dirty="0">
                          <a:solidFill>
                            <a:srgbClr val="000000"/>
                          </a:solidFill>
                          <a:latin typeface="+mj-ea"/>
                          <a:ea typeface="+mj-ea"/>
                        </a:rPr>
                        <a:t>。</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身份解析 </a:t>
                      </a:r>
                      <a:r>
                        <a:rPr lang="en-US" altLang="zh-CN" sz="800" b="1" dirty="0">
                          <a:solidFill>
                            <a:srgbClr val="000000"/>
                          </a:solidFill>
                          <a:latin typeface="+mj-ea"/>
                          <a:ea typeface="+mj-ea"/>
                        </a:rPr>
                        <a:t>(ID Resolution)</a:t>
                      </a:r>
                    </a:p>
                    <a:p>
                      <a:pPr marL="171450" indent="-171450" algn="l">
                        <a:buFont typeface="Arial" panose="020B0604020202020204" pitchFamily="34" charset="0"/>
                        <a:buChar char="•"/>
                      </a:pPr>
                      <a:r>
                        <a:rPr lang="zh-CN" altLang="en-US" sz="800" dirty="0">
                          <a:solidFill>
                            <a:srgbClr val="000000"/>
                          </a:solidFill>
                          <a:latin typeface="+mj-ea"/>
                          <a:ea typeface="+mj-ea"/>
                        </a:rPr>
                        <a:t>打通营销、销售、服务孤岛。</a:t>
                      </a:r>
                    </a:p>
                    <a:p>
                      <a:pPr marL="171450" indent="-171450" algn="l">
                        <a:buFont typeface="Arial" panose="020B0604020202020204" pitchFamily="34" charset="0"/>
                        <a:buChar char="•"/>
                      </a:pPr>
                      <a:r>
                        <a:rPr lang="zh-CN" altLang="en-US" sz="800" dirty="0">
                          <a:solidFill>
                            <a:srgbClr val="000000"/>
                          </a:solidFill>
                          <a:latin typeface="+mj-ea"/>
                          <a:ea typeface="+mj-ea"/>
                        </a:rPr>
                        <a:t>清洗并整合碎片化的数字足迹。</a:t>
                      </a:r>
                    </a:p>
                    <a:p>
                      <a:pPr marL="171450" indent="-171450" algn="l">
                        <a:buFont typeface="Arial" panose="020B0604020202020204" pitchFamily="34" charset="0"/>
                        <a:buChar char="•"/>
                      </a:pPr>
                      <a:r>
                        <a:rPr lang="zh-CN" altLang="en-US" sz="800" b="1" dirty="0">
                          <a:solidFill>
                            <a:srgbClr val="000000"/>
                          </a:solidFill>
                          <a:latin typeface="+mj-ea"/>
                          <a:ea typeface="+mj-ea"/>
                        </a:rPr>
                        <a:t>建立统一会员</a:t>
                      </a:r>
                      <a:r>
                        <a:rPr lang="en-US" altLang="zh-CN" sz="800" b="1" dirty="0">
                          <a:solidFill>
                            <a:srgbClr val="000000"/>
                          </a:solidFill>
                          <a:latin typeface="+mj-ea"/>
                          <a:ea typeface="+mj-ea"/>
                        </a:rPr>
                        <a:t>/</a:t>
                      </a:r>
                      <a:r>
                        <a:rPr lang="zh-CN" altLang="en-US" sz="800" b="1" dirty="0">
                          <a:solidFill>
                            <a:srgbClr val="000000"/>
                          </a:solidFill>
                          <a:latin typeface="+mj-ea"/>
                          <a:ea typeface="+mj-ea"/>
                        </a:rPr>
                        <a:t>客户中心。</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en-US" altLang="zh-CN" sz="800" b="1" dirty="0">
                          <a:solidFill>
                            <a:srgbClr val="000000"/>
                          </a:solidFill>
                          <a:latin typeface="+mj-ea"/>
                          <a:ea typeface="+mj-ea"/>
                        </a:rPr>
                        <a:t>CMO / </a:t>
                      </a:r>
                      <a:r>
                        <a:rPr lang="zh-CN" altLang="en-US" sz="800" b="1" dirty="0">
                          <a:solidFill>
                            <a:srgbClr val="000000"/>
                          </a:solidFill>
                          <a:latin typeface="+mj-ea"/>
                          <a:ea typeface="+mj-ea"/>
                        </a:rPr>
                        <a:t>销售</a:t>
                      </a:r>
                      <a:r>
                        <a:rPr lang="en-US" altLang="zh-CN" sz="800" b="1" dirty="0">
                          <a:solidFill>
                            <a:srgbClr val="000000"/>
                          </a:solidFill>
                          <a:latin typeface="+mj-ea"/>
                          <a:ea typeface="+mj-ea"/>
                        </a:rPr>
                        <a:t>VP</a:t>
                      </a:r>
                      <a:endParaRPr lang="zh-CN" altLang="en-US" sz="800" dirty="0">
                        <a:solidFill>
                          <a:srgbClr val="000000"/>
                        </a:solidFill>
                        <a:latin typeface="+mj-ea"/>
                        <a:ea typeface="+mj-ea"/>
                      </a:endParaRPr>
                    </a:p>
                    <a:p>
                      <a:pPr algn="l"/>
                      <a:r>
                        <a:rPr lang="en-US" altLang="zh-CN" sz="800" dirty="0">
                          <a:solidFill>
                            <a:srgbClr val="000000"/>
                          </a:solidFill>
                          <a:latin typeface="+mj-ea"/>
                          <a:ea typeface="+mj-ea"/>
                        </a:rPr>
                        <a:t>1. Next Best Action</a:t>
                      </a:r>
                      <a:r>
                        <a:rPr lang="zh-CN" altLang="en-US" sz="800" dirty="0">
                          <a:solidFill>
                            <a:srgbClr val="000000"/>
                          </a:solidFill>
                          <a:latin typeface="+mj-ea"/>
                          <a:ea typeface="+mj-ea"/>
                        </a:rPr>
                        <a:t>：</a:t>
                      </a:r>
                      <a:r>
                        <a:rPr lang="en-US" altLang="zh-CN" sz="800" dirty="0">
                          <a:solidFill>
                            <a:srgbClr val="000000"/>
                          </a:solidFill>
                          <a:latin typeface="+mj-ea"/>
                          <a:ea typeface="+mj-ea"/>
                        </a:rPr>
                        <a:t>AI</a:t>
                      </a:r>
                      <a:r>
                        <a:rPr lang="zh-CN" altLang="en-US" sz="800" dirty="0">
                          <a:solidFill>
                            <a:srgbClr val="000000"/>
                          </a:solidFill>
                          <a:latin typeface="+mj-ea"/>
                          <a:ea typeface="+mj-ea"/>
                        </a:rPr>
                        <a:t>预判需求，提供最优方案。</a:t>
                      </a:r>
                    </a:p>
                    <a:p>
                      <a:pPr algn="l"/>
                      <a:r>
                        <a:rPr lang="en-US" altLang="zh-CN" sz="800" dirty="0">
                          <a:solidFill>
                            <a:srgbClr val="000000"/>
                          </a:solidFill>
                          <a:latin typeface="+mj-ea"/>
                          <a:ea typeface="+mj-ea"/>
                        </a:rPr>
                        <a:t>2. </a:t>
                      </a:r>
                      <a:r>
                        <a:rPr lang="zh-CN" altLang="en-US" sz="800" dirty="0">
                          <a:solidFill>
                            <a:srgbClr val="000000"/>
                          </a:solidFill>
                          <a:latin typeface="+mj-ea"/>
                          <a:ea typeface="+mj-ea"/>
                        </a:rPr>
                        <a:t>全生命周期运营：自动识别流失风险并触发挽留。</a:t>
                      </a:r>
                    </a:p>
                    <a:p>
                      <a:pPr algn="l"/>
                      <a:r>
                        <a:rPr lang="en-US" altLang="zh-CN" sz="800" b="1" dirty="0">
                          <a:solidFill>
                            <a:srgbClr val="000000"/>
                          </a:solidFill>
                          <a:latin typeface="+mj-ea"/>
                          <a:ea typeface="+mj-ea"/>
                        </a:rPr>
                        <a:t>3. </a:t>
                      </a:r>
                      <a:r>
                        <a:rPr lang="zh-CN" altLang="en-US" sz="800" b="1" dirty="0">
                          <a:solidFill>
                            <a:srgbClr val="000000"/>
                          </a:solidFill>
                          <a:latin typeface="+mj-ea"/>
                          <a:ea typeface="+mj-ea"/>
                        </a:rPr>
                        <a:t>动态定价：基于库存与竞争的实时收益管理。</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extLst>
                  <a:ext uri="{0D108BD9-81ED-4DB2-BD59-A6C34878D82A}">
                    <a16:rowId xmlns:a16="http://schemas.microsoft.com/office/drawing/2014/main" val="1573512398"/>
                  </a:ext>
                </a:extLst>
              </a:tr>
              <a:tr h="882312">
                <a:tc>
                  <a:txBody>
                    <a:bodyPr/>
                    <a:lstStyle/>
                    <a:p>
                      <a:pPr algn="l"/>
                      <a:r>
                        <a:rPr lang="en-US" sz="800" b="1">
                          <a:solidFill>
                            <a:srgbClr val="000000"/>
                          </a:solidFill>
                          <a:latin typeface="+mj-ea"/>
                          <a:ea typeface="+mj-ea"/>
                        </a:rPr>
                        <a:t>III. </a:t>
                      </a:r>
                      <a:r>
                        <a:rPr lang="zh-CN" altLang="en-US" sz="800" b="1">
                          <a:solidFill>
                            <a:srgbClr val="000000"/>
                          </a:solidFill>
                          <a:latin typeface="+mj-ea"/>
                          <a:ea typeface="+mj-ea"/>
                        </a:rPr>
                        <a:t>实操层</a:t>
                      </a:r>
                    </a:p>
                    <a:p>
                      <a:pPr algn="l"/>
                      <a:br>
                        <a:rPr lang="zh-CN" altLang="en-US" sz="800" b="1">
                          <a:solidFill>
                            <a:srgbClr val="000000"/>
                          </a:solidFill>
                          <a:latin typeface="+mj-ea"/>
                          <a:ea typeface="+mj-ea"/>
                        </a:rPr>
                      </a:br>
                      <a:r>
                        <a:rPr lang="en-US" sz="800" b="1" i="1">
                          <a:solidFill>
                            <a:srgbClr val="000000"/>
                          </a:solidFill>
                          <a:latin typeface="+mj-ea"/>
                          <a:ea typeface="+mj-ea"/>
                        </a:rPr>
                        <a:t>The Physics</a:t>
                      </a:r>
                      <a:endParaRPr lang="en-US" sz="800" b="1">
                        <a:solidFill>
                          <a:srgbClr val="000000"/>
                        </a:solidFill>
                        <a:latin typeface="+mj-ea"/>
                        <a:ea typeface="+mj-ea"/>
                      </a:endParaRPr>
                    </a:p>
                    <a:p>
                      <a:pPr algn="l"/>
                      <a:br>
                        <a:rPr lang="en-US" sz="800" b="1">
                          <a:solidFill>
                            <a:srgbClr val="000000"/>
                          </a:solidFill>
                          <a:latin typeface="+mj-ea"/>
                          <a:ea typeface="+mj-ea"/>
                        </a:rPr>
                      </a:br>
                      <a:r>
                        <a:rPr lang="en-US" sz="800" b="1">
                          <a:solidFill>
                            <a:srgbClr val="000000"/>
                          </a:solidFill>
                          <a:latin typeface="+mj-ea"/>
                          <a:ea typeface="+mj-ea"/>
                        </a:rPr>
                        <a:t>(</a:t>
                      </a:r>
                      <a:r>
                        <a:rPr lang="zh-CN" altLang="en-US" sz="800" b="1">
                          <a:solidFill>
                            <a:srgbClr val="000000"/>
                          </a:solidFill>
                          <a:latin typeface="+mj-ea"/>
                          <a:ea typeface="+mj-ea"/>
                        </a:rPr>
                        <a:t>物理学</a:t>
                      </a:r>
                      <a:r>
                        <a:rPr lang="en-US" altLang="zh-CN" sz="800" b="1">
                          <a:solidFill>
                            <a:srgbClr val="000000"/>
                          </a:solidFill>
                          <a:latin typeface="+mj-ea"/>
                          <a:ea typeface="+mj-ea"/>
                        </a:rPr>
                        <a:t>)</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DACDE4"/>
                    </a:solidFill>
                  </a:tcPr>
                </a:tc>
                <a:tc>
                  <a:txBody>
                    <a:bodyPr/>
                    <a:lstStyle/>
                    <a:p>
                      <a:pPr algn="l"/>
                      <a:r>
                        <a:rPr lang="en-US" sz="800" b="1" dirty="0">
                          <a:solidFill>
                            <a:srgbClr val="000000"/>
                          </a:solidFill>
                          <a:latin typeface="+mj-ea"/>
                          <a:ea typeface="+mj-ea"/>
                        </a:rPr>
                        <a:t>MES / WMS</a:t>
                      </a:r>
                    </a:p>
                    <a:p>
                      <a:pPr algn="l"/>
                      <a:br>
                        <a:rPr lang="en-US" sz="800" b="1" dirty="0">
                          <a:solidFill>
                            <a:srgbClr val="000000"/>
                          </a:solidFill>
                          <a:latin typeface="+mj-ea"/>
                          <a:ea typeface="+mj-ea"/>
                        </a:rPr>
                      </a:br>
                      <a:r>
                        <a:rPr lang="en-US" sz="800" b="0" dirty="0">
                          <a:solidFill>
                            <a:srgbClr val="000000"/>
                          </a:solidFill>
                          <a:latin typeface="+mj-ea"/>
                          <a:ea typeface="+mj-ea"/>
                        </a:rPr>
                        <a:t>(TMS, IoT)</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marL="0" algn="l" latinLnBrk="1"/>
                      <a:r>
                        <a:rPr lang="zh-CN" altLang="en-US" sz="800" b="1" dirty="0">
                          <a:solidFill>
                            <a:srgbClr val="000000"/>
                          </a:solidFill>
                          <a:latin typeface="+mj-ea"/>
                          <a:ea typeface="+mj-ea"/>
                        </a:rPr>
                        <a:t>资产、能源 与物流 的多重优化</a:t>
                      </a:r>
                    </a:p>
                    <a:p>
                      <a:pPr marL="171450" indent="-171450" algn="l" latinLnBrk="1">
                        <a:buFont typeface="Arial" panose="020B0604020202020204" pitchFamily="34" charset="0"/>
                        <a:buChar char="•"/>
                      </a:pPr>
                      <a:r>
                        <a:rPr lang="zh-CN" altLang="en-US" sz="800" dirty="0">
                          <a:solidFill>
                            <a:srgbClr val="000000"/>
                          </a:solidFill>
                          <a:latin typeface="+mj-ea"/>
                          <a:ea typeface="+mj-ea"/>
                        </a:rPr>
                        <a:t>不仅提升</a:t>
                      </a:r>
                      <a:r>
                        <a:rPr lang="en-US" altLang="zh-CN" sz="800" dirty="0">
                          <a:solidFill>
                            <a:srgbClr val="000000"/>
                          </a:solidFill>
                          <a:latin typeface="+mj-ea"/>
                          <a:ea typeface="+mj-ea"/>
                        </a:rPr>
                        <a:t>OEE</a:t>
                      </a:r>
                      <a:r>
                        <a:rPr lang="zh-CN" altLang="en-US" sz="800" dirty="0">
                          <a:solidFill>
                            <a:srgbClr val="000000"/>
                          </a:solidFill>
                          <a:latin typeface="+mj-ea"/>
                          <a:ea typeface="+mj-ea"/>
                        </a:rPr>
                        <a:t>，更通过精细化能耗监控降低碳足迹。</a:t>
                      </a:r>
                    </a:p>
                    <a:p>
                      <a:pPr marL="171450" indent="-171450" algn="l" latinLnBrk="1">
                        <a:buFont typeface="Arial" panose="020B0604020202020204" pitchFamily="34" charset="0"/>
                        <a:buChar char="•"/>
                      </a:pPr>
                      <a:r>
                        <a:rPr lang="zh-CN" altLang="en-US" sz="800" b="1" dirty="0">
                          <a:solidFill>
                            <a:srgbClr val="000000"/>
                          </a:solidFill>
                          <a:latin typeface="+mj-ea"/>
                          <a:ea typeface="+mj-ea"/>
                        </a:rPr>
                        <a:t>实现“厂内</a:t>
                      </a:r>
                      <a:r>
                        <a:rPr lang="en-US" altLang="zh-CN" sz="800" b="1" dirty="0">
                          <a:solidFill>
                            <a:srgbClr val="000000"/>
                          </a:solidFill>
                          <a:latin typeface="+mj-ea"/>
                          <a:ea typeface="+mj-ea"/>
                        </a:rPr>
                        <a:t>+</a:t>
                      </a:r>
                      <a:r>
                        <a:rPr lang="zh-CN" altLang="en-US" sz="800" b="1" dirty="0">
                          <a:solidFill>
                            <a:srgbClr val="000000"/>
                          </a:solidFill>
                          <a:latin typeface="+mj-ea"/>
                          <a:ea typeface="+mj-ea"/>
                        </a:rPr>
                        <a:t>厂外”的全程物流可视与控制。</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en-US" altLang="zh-CN" sz="800" b="1" dirty="0">
                          <a:solidFill>
                            <a:srgbClr val="000000"/>
                          </a:solidFill>
                          <a:latin typeface="+mj-ea"/>
                          <a:ea typeface="+mj-ea"/>
                        </a:rPr>
                        <a:t>IT</a:t>
                      </a:r>
                      <a:r>
                        <a:rPr lang="zh-CN" altLang="en-US" sz="800" b="1" dirty="0">
                          <a:solidFill>
                            <a:srgbClr val="000000"/>
                          </a:solidFill>
                          <a:latin typeface="+mj-ea"/>
                          <a:ea typeface="+mj-ea"/>
                        </a:rPr>
                        <a:t>与</a:t>
                      </a:r>
                      <a:r>
                        <a:rPr lang="en-US" altLang="zh-CN" sz="800" b="1" dirty="0">
                          <a:solidFill>
                            <a:srgbClr val="000000"/>
                          </a:solidFill>
                          <a:latin typeface="+mj-ea"/>
                          <a:ea typeface="+mj-ea"/>
                        </a:rPr>
                        <a:t>OT</a:t>
                      </a:r>
                      <a:r>
                        <a:rPr lang="zh-CN" altLang="en-US" sz="800" b="1" dirty="0">
                          <a:solidFill>
                            <a:srgbClr val="000000"/>
                          </a:solidFill>
                          <a:latin typeface="+mj-ea"/>
                          <a:ea typeface="+mj-ea"/>
                        </a:rPr>
                        <a:t>的“语言隔离”</a:t>
                      </a:r>
                    </a:p>
                    <a:p>
                      <a:pPr marL="171450" indent="-171450" algn="l">
                        <a:buFont typeface="Arial" panose="020B0604020202020204" pitchFamily="34" charset="0"/>
                        <a:buChar char="•"/>
                      </a:pPr>
                      <a:r>
                        <a:rPr lang="zh-CN" altLang="en-US" sz="800" dirty="0">
                          <a:solidFill>
                            <a:srgbClr val="000000"/>
                          </a:solidFill>
                          <a:latin typeface="+mj-ea"/>
                          <a:ea typeface="+mj-ea"/>
                        </a:rPr>
                        <a:t>阻力源：</a:t>
                      </a:r>
                      <a:r>
                        <a:rPr lang="en-US" altLang="zh-CN" sz="800" dirty="0">
                          <a:solidFill>
                            <a:srgbClr val="000000"/>
                          </a:solidFill>
                          <a:latin typeface="+mj-ea"/>
                          <a:ea typeface="+mj-ea"/>
                        </a:rPr>
                        <a:t>IT</a:t>
                      </a:r>
                      <a:r>
                        <a:rPr lang="zh-CN" altLang="en-US" sz="800" dirty="0">
                          <a:solidFill>
                            <a:srgbClr val="000000"/>
                          </a:solidFill>
                          <a:latin typeface="+mj-ea"/>
                          <a:ea typeface="+mj-ea"/>
                        </a:rPr>
                        <a:t>讲</a:t>
                      </a:r>
                      <a:r>
                        <a:rPr lang="en-US" altLang="zh-CN" sz="800" dirty="0">
                          <a:solidFill>
                            <a:srgbClr val="000000"/>
                          </a:solidFill>
                          <a:latin typeface="+mj-ea"/>
                          <a:ea typeface="+mj-ea"/>
                        </a:rPr>
                        <a:t>SQL</a:t>
                      </a:r>
                      <a:r>
                        <a:rPr lang="zh-CN" altLang="en-US" sz="800" dirty="0">
                          <a:solidFill>
                            <a:srgbClr val="000000"/>
                          </a:solidFill>
                          <a:latin typeface="+mj-ea"/>
                          <a:ea typeface="+mj-ea"/>
                        </a:rPr>
                        <a:t>，</a:t>
                      </a:r>
                      <a:r>
                        <a:rPr lang="en-US" altLang="zh-CN" sz="800" dirty="0">
                          <a:solidFill>
                            <a:srgbClr val="000000"/>
                          </a:solidFill>
                          <a:latin typeface="+mj-ea"/>
                          <a:ea typeface="+mj-ea"/>
                        </a:rPr>
                        <a:t>OT</a:t>
                      </a:r>
                      <a:r>
                        <a:rPr lang="zh-CN" altLang="en-US" sz="800" dirty="0">
                          <a:solidFill>
                            <a:srgbClr val="000000"/>
                          </a:solidFill>
                          <a:latin typeface="+mj-ea"/>
                          <a:ea typeface="+mj-ea"/>
                        </a:rPr>
                        <a:t>讲</a:t>
                      </a:r>
                      <a:r>
                        <a:rPr lang="en-US" altLang="zh-CN" sz="800" dirty="0">
                          <a:solidFill>
                            <a:srgbClr val="000000"/>
                          </a:solidFill>
                          <a:latin typeface="+mj-ea"/>
                          <a:ea typeface="+mj-ea"/>
                        </a:rPr>
                        <a:t>PLC</a:t>
                      </a:r>
                      <a:r>
                        <a:rPr lang="zh-CN" altLang="en-US" sz="800" dirty="0">
                          <a:solidFill>
                            <a:srgbClr val="000000"/>
                          </a:solidFill>
                          <a:latin typeface="+mj-ea"/>
                          <a:ea typeface="+mj-ea"/>
                        </a:rPr>
                        <a:t>，互不信任；</a:t>
                      </a:r>
                      <a:r>
                        <a:rPr lang="zh-CN" altLang="en-US" sz="800" b="1" dirty="0">
                          <a:solidFill>
                            <a:srgbClr val="000000"/>
                          </a:solidFill>
                          <a:latin typeface="+mj-ea"/>
                          <a:ea typeface="+mj-ea"/>
                        </a:rPr>
                        <a:t>制造与物流的空间割裂</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dirty="0">
                          <a:solidFill>
                            <a:srgbClr val="000000"/>
                          </a:solidFill>
                          <a:latin typeface="+mj-ea"/>
                          <a:ea typeface="+mj-ea"/>
                        </a:rPr>
                        <a:t>本质：打破“车间黑盒”。需证明数字化能保障生产安全，而非带来故障。</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zh-CN" altLang="en-US" sz="800" b="1" dirty="0">
                          <a:solidFill>
                            <a:srgbClr val="000000"/>
                          </a:solidFill>
                          <a:latin typeface="+mj-ea"/>
                          <a:ea typeface="+mj-ea"/>
                        </a:rPr>
                        <a:t>硬实时 </a:t>
                      </a:r>
                      <a:r>
                        <a:rPr lang="en-US" altLang="zh-CN" sz="800" b="1" dirty="0">
                          <a:solidFill>
                            <a:srgbClr val="000000"/>
                          </a:solidFill>
                          <a:latin typeface="+mj-ea"/>
                          <a:ea typeface="+mj-ea"/>
                        </a:rPr>
                        <a:t>(</a:t>
                      </a:r>
                      <a:r>
                        <a:rPr lang="en-US" sz="800" b="1" dirty="0">
                          <a:solidFill>
                            <a:srgbClr val="000000"/>
                          </a:solidFill>
                          <a:latin typeface="+mj-ea"/>
                          <a:ea typeface="+mj-ea"/>
                        </a:rPr>
                        <a:t>Hard Real-Time) + </a:t>
                      </a:r>
                      <a:r>
                        <a:rPr lang="zh-CN" altLang="en-US" sz="800" b="1" dirty="0">
                          <a:solidFill>
                            <a:srgbClr val="000000"/>
                          </a:solidFill>
                          <a:latin typeface="+mj-ea"/>
                          <a:ea typeface="+mj-ea"/>
                        </a:rPr>
                        <a:t>时空物理</a:t>
                      </a:r>
                    </a:p>
                    <a:p>
                      <a:pPr marL="171450" indent="-171450" algn="l">
                        <a:buFont typeface="Arial" panose="020B0604020202020204" pitchFamily="34" charset="0"/>
                        <a:buChar char="•"/>
                      </a:pPr>
                      <a:r>
                        <a:rPr lang="zh-CN" altLang="en-US" sz="800" dirty="0">
                          <a:solidFill>
                            <a:srgbClr val="000000"/>
                          </a:solidFill>
                          <a:latin typeface="+mj-ea"/>
                          <a:ea typeface="+mj-ea"/>
                        </a:rPr>
                        <a:t>必须遵循物理定律。</a:t>
                      </a:r>
                    </a:p>
                    <a:p>
                      <a:pPr marL="171450" indent="-171450" algn="l">
                        <a:buFont typeface="Arial" panose="020B0604020202020204" pitchFamily="34" charset="0"/>
                        <a:buChar char="•"/>
                      </a:pPr>
                      <a:r>
                        <a:rPr lang="zh-CN" altLang="en-US" sz="800" dirty="0">
                          <a:solidFill>
                            <a:srgbClr val="000000"/>
                          </a:solidFill>
                          <a:latin typeface="+mj-ea"/>
                          <a:ea typeface="+mj-ea"/>
                        </a:rPr>
                        <a:t>错过毫秒级截止时间</a:t>
                      </a:r>
                      <a:r>
                        <a:rPr lang="en-US" altLang="zh-CN" sz="800" dirty="0">
                          <a:solidFill>
                            <a:srgbClr val="000000"/>
                          </a:solidFill>
                          <a:latin typeface="+mj-ea"/>
                          <a:ea typeface="+mj-ea"/>
                        </a:rPr>
                        <a:t>=</a:t>
                      </a:r>
                      <a:r>
                        <a:rPr lang="zh-CN" altLang="en-US" sz="800" dirty="0">
                          <a:solidFill>
                            <a:srgbClr val="000000"/>
                          </a:solidFill>
                          <a:latin typeface="+mj-ea"/>
                          <a:ea typeface="+mj-ea"/>
                        </a:rPr>
                        <a:t>物理故障</a:t>
                      </a:r>
                      <a:r>
                        <a:rPr lang="en-US" altLang="zh-CN" sz="800" dirty="0">
                          <a:solidFill>
                            <a:srgbClr val="000000"/>
                          </a:solidFill>
                          <a:latin typeface="+mj-ea"/>
                          <a:ea typeface="+mj-ea"/>
                        </a:rPr>
                        <a:t>/</a:t>
                      </a:r>
                      <a:r>
                        <a:rPr lang="zh-CN" altLang="en-US" sz="800" dirty="0">
                          <a:solidFill>
                            <a:srgbClr val="000000"/>
                          </a:solidFill>
                          <a:latin typeface="+mj-ea"/>
                          <a:ea typeface="+mj-ea"/>
                        </a:rPr>
                        <a:t>次品。</a:t>
                      </a:r>
                    </a:p>
                    <a:p>
                      <a:pPr marL="171450" indent="-171450" algn="l">
                        <a:buFont typeface="Arial" panose="020B0604020202020204" pitchFamily="34" charset="0"/>
                        <a:buChar char="•"/>
                      </a:pPr>
                      <a:r>
                        <a:rPr lang="zh-CN" altLang="en-US" sz="800" b="1" dirty="0">
                          <a:solidFill>
                            <a:srgbClr val="000000"/>
                          </a:solidFill>
                          <a:latin typeface="+mj-ea"/>
                          <a:ea typeface="+mj-ea"/>
                        </a:rPr>
                        <a:t>位置</a:t>
                      </a:r>
                      <a:r>
                        <a:rPr lang="en-US" altLang="zh-CN" sz="800" b="1" dirty="0">
                          <a:solidFill>
                            <a:srgbClr val="000000"/>
                          </a:solidFill>
                          <a:latin typeface="+mj-ea"/>
                          <a:ea typeface="+mj-ea"/>
                        </a:rPr>
                        <a:t>(</a:t>
                      </a:r>
                      <a:r>
                        <a:rPr lang="en-US" sz="800" b="1" dirty="0">
                          <a:solidFill>
                            <a:srgbClr val="000000"/>
                          </a:solidFill>
                          <a:latin typeface="+mj-ea"/>
                          <a:ea typeface="+mj-ea"/>
                        </a:rPr>
                        <a:t>GIS)</a:t>
                      </a:r>
                      <a:r>
                        <a:rPr lang="zh-CN" altLang="en-US" sz="800" b="1" dirty="0">
                          <a:solidFill>
                            <a:srgbClr val="000000"/>
                          </a:solidFill>
                          <a:latin typeface="+mj-ea"/>
                          <a:ea typeface="+mj-ea"/>
                        </a:rPr>
                        <a:t>与状态</a:t>
                      </a:r>
                      <a:r>
                        <a:rPr lang="en-US" altLang="zh-CN" sz="800" b="1" dirty="0">
                          <a:solidFill>
                            <a:srgbClr val="000000"/>
                          </a:solidFill>
                          <a:latin typeface="+mj-ea"/>
                          <a:ea typeface="+mj-ea"/>
                        </a:rPr>
                        <a:t>(</a:t>
                      </a:r>
                      <a:r>
                        <a:rPr lang="en-US" sz="800" b="1" dirty="0">
                          <a:solidFill>
                            <a:srgbClr val="000000"/>
                          </a:solidFill>
                          <a:latin typeface="+mj-ea"/>
                          <a:ea typeface="+mj-ea"/>
                        </a:rPr>
                        <a:t>Status)</a:t>
                      </a:r>
                      <a:r>
                        <a:rPr lang="zh-CN" altLang="en-US" sz="800" b="1" dirty="0">
                          <a:solidFill>
                            <a:srgbClr val="000000"/>
                          </a:solidFill>
                          <a:latin typeface="+mj-ea"/>
                          <a:ea typeface="+mj-ea"/>
                        </a:rPr>
                        <a:t>需绝对同步。</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毫秒</a:t>
                      </a:r>
                      <a:r>
                        <a:rPr lang="en-US" altLang="zh-CN" sz="800" b="1" dirty="0">
                          <a:solidFill>
                            <a:srgbClr val="000000"/>
                          </a:solidFill>
                          <a:latin typeface="+mj-ea"/>
                          <a:ea typeface="+mj-ea"/>
                        </a:rPr>
                        <a:t>/</a:t>
                      </a:r>
                      <a:r>
                        <a:rPr lang="zh-CN" altLang="en-US" sz="800" b="1" dirty="0">
                          <a:solidFill>
                            <a:srgbClr val="000000"/>
                          </a:solidFill>
                          <a:latin typeface="+mj-ea"/>
                          <a:ea typeface="+mj-ea"/>
                        </a:rPr>
                        <a:t>脉冲级</a:t>
                      </a:r>
                    </a:p>
                    <a:p>
                      <a:pPr marL="171450" indent="-171450" algn="l">
                        <a:buFont typeface="Arial" panose="020B0604020202020204" pitchFamily="34" charset="0"/>
                        <a:buChar char="•"/>
                      </a:pPr>
                      <a:r>
                        <a:rPr lang="zh-CN" altLang="en-US" sz="800" dirty="0">
                          <a:solidFill>
                            <a:srgbClr val="000000"/>
                          </a:solidFill>
                          <a:latin typeface="+mj-ea"/>
                          <a:ea typeface="+mj-ea"/>
                        </a:rPr>
                        <a:t>深入设备电流波动与工序节拍。</a:t>
                      </a:r>
                    </a:p>
                    <a:p>
                      <a:pPr marL="171450" indent="-171450" algn="l">
                        <a:buFont typeface="Arial" panose="020B0604020202020204" pitchFamily="34" charset="0"/>
                        <a:buChar char="•"/>
                      </a:pPr>
                      <a:r>
                        <a:rPr lang="zh-CN" altLang="en-US" sz="800" dirty="0">
                          <a:solidFill>
                            <a:srgbClr val="000000"/>
                          </a:solidFill>
                          <a:latin typeface="+mj-ea"/>
                          <a:ea typeface="+mj-ea"/>
                        </a:rPr>
                        <a:t>极高采样率。</a:t>
                      </a:r>
                    </a:p>
                    <a:p>
                      <a:pPr marL="171450" indent="-171450" algn="l">
                        <a:buFont typeface="Arial" panose="020B0604020202020204" pitchFamily="34" charset="0"/>
                        <a:buChar char="•"/>
                      </a:pPr>
                      <a:r>
                        <a:rPr lang="zh-CN" altLang="en-US" sz="800" b="1" dirty="0">
                          <a:solidFill>
                            <a:srgbClr val="000000"/>
                          </a:solidFill>
                          <a:latin typeface="+mj-ea"/>
                          <a:ea typeface="+mj-ea"/>
                        </a:rPr>
                        <a:t>从生产线延伸至运输车辆轨迹。</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zh-CN" altLang="en-US" sz="800" b="1" dirty="0">
                          <a:solidFill>
                            <a:srgbClr val="000000"/>
                          </a:solidFill>
                          <a:latin typeface="+mj-ea"/>
                          <a:ea typeface="+mj-ea"/>
                        </a:rPr>
                        <a:t>物理全链路</a:t>
                      </a:r>
                    </a:p>
                    <a:p>
                      <a:pPr marL="171450" indent="-171450" algn="l">
                        <a:buFont typeface="Arial" panose="020B0604020202020204" pitchFamily="34" charset="0"/>
                        <a:buChar char="•"/>
                      </a:pPr>
                      <a:r>
                        <a:rPr lang="zh-CN" altLang="en-US" sz="800" dirty="0">
                          <a:solidFill>
                            <a:srgbClr val="000000"/>
                          </a:solidFill>
                          <a:latin typeface="+mj-ea"/>
                          <a:ea typeface="+mj-ea"/>
                        </a:rPr>
                        <a:t>人、机、料、法、环 </a:t>
                      </a:r>
                      <a:r>
                        <a:rPr lang="en-US" altLang="zh-CN" sz="800" b="1" dirty="0">
                          <a:solidFill>
                            <a:srgbClr val="000000"/>
                          </a:solidFill>
                          <a:latin typeface="+mj-ea"/>
                          <a:ea typeface="+mj-ea"/>
                        </a:rPr>
                        <a:t>+ </a:t>
                      </a:r>
                      <a:r>
                        <a:rPr lang="zh-CN" altLang="en-US" sz="800" b="1" dirty="0">
                          <a:solidFill>
                            <a:srgbClr val="000000"/>
                          </a:solidFill>
                          <a:latin typeface="+mj-ea"/>
                          <a:ea typeface="+mj-ea"/>
                        </a:rPr>
                        <a:t>空间位置</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dirty="0">
                          <a:solidFill>
                            <a:srgbClr val="000000"/>
                          </a:solidFill>
                          <a:latin typeface="+mj-ea"/>
                          <a:ea typeface="+mj-ea"/>
                        </a:rPr>
                        <a:t>构建</a:t>
                      </a:r>
                      <a:r>
                        <a:rPr lang="en-US" altLang="zh-CN" sz="800" dirty="0">
                          <a:solidFill>
                            <a:srgbClr val="000000"/>
                          </a:solidFill>
                          <a:latin typeface="+mj-ea"/>
                          <a:ea typeface="+mj-ea"/>
                        </a:rPr>
                        <a:t>CPS (</a:t>
                      </a:r>
                      <a:r>
                        <a:rPr lang="zh-CN" altLang="en-US" sz="800" dirty="0">
                          <a:solidFill>
                            <a:srgbClr val="000000"/>
                          </a:solidFill>
                          <a:latin typeface="+mj-ea"/>
                          <a:ea typeface="+mj-ea"/>
                        </a:rPr>
                        <a:t>信息物理系统</a:t>
                      </a:r>
                      <a:r>
                        <a:rPr lang="en-US" altLang="zh-CN" sz="800" dirty="0">
                          <a:solidFill>
                            <a:srgbClr val="000000"/>
                          </a:solidFill>
                          <a:latin typeface="+mj-ea"/>
                          <a:ea typeface="+mj-ea"/>
                        </a:rPr>
                        <a:t>)</a:t>
                      </a:r>
                      <a:r>
                        <a:rPr lang="zh-CN" altLang="en-US" sz="800" dirty="0">
                          <a:solidFill>
                            <a:srgbClr val="000000"/>
                          </a:solidFill>
                          <a:latin typeface="+mj-ea"/>
                          <a:ea typeface="+mj-ea"/>
                        </a:rPr>
                        <a:t>。</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工业互联 </a:t>
                      </a:r>
                      <a:r>
                        <a:rPr lang="en-US" altLang="zh-CN" sz="800" b="1" dirty="0">
                          <a:solidFill>
                            <a:srgbClr val="000000"/>
                          </a:solidFill>
                          <a:latin typeface="+mj-ea"/>
                          <a:ea typeface="+mj-ea"/>
                        </a:rPr>
                        <a:t>(</a:t>
                      </a:r>
                      <a:r>
                        <a:rPr lang="en-US" altLang="zh-CN" sz="800" b="1" dirty="0" err="1">
                          <a:solidFill>
                            <a:srgbClr val="000000"/>
                          </a:solidFill>
                          <a:latin typeface="+mj-ea"/>
                          <a:ea typeface="+mj-ea"/>
                        </a:rPr>
                        <a:t>IIoT</a:t>
                      </a:r>
                      <a:r>
                        <a:rPr lang="en-US" altLang="zh-CN" sz="800" b="1" dirty="0">
                          <a:solidFill>
                            <a:srgbClr val="000000"/>
                          </a:solidFill>
                          <a:latin typeface="+mj-ea"/>
                          <a:ea typeface="+mj-ea"/>
                        </a:rPr>
                        <a:t>) + </a:t>
                      </a:r>
                      <a:r>
                        <a:rPr lang="zh-CN" altLang="en-US" sz="800" b="1" dirty="0">
                          <a:solidFill>
                            <a:srgbClr val="000000"/>
                          </a:solidFill>
                          <a:latin typeface="+mj-ea"/>
                          <a:ea typeface="+mj-ea"/>
                        </a:rPr>
                        <a:t>边缘计算</a:t>
                      </a:r>
                    </a:p>
                    <a:p>
                      <a:pPr marL="171450" indent="-171450" algn="l">
                        <a:buFont typeface="Arial" panose="020B0604020202020204" pitchFamily="34" charset="0"/>
                        <a:buChar char="•"/>
                      </a:pPr>
                      <a:r>
                        <a:rPr lang="zh-CN" altLang="en-US" sz="800" dirty="0">
                          <a:solidFill>
                            <a:srgbClr val="000000"/>
                          </a:solidFill>
                          <a:latin typeface="+mj-ea"/>
                          <a:ea typeface="+mj-ea"/>
                        </a:rPr>
                        <a:t>利用扁平化架构打破</a:t>
                      </a:r>
                      <a:r>
                        <a:rPr lang="en-US" altLang="zh-CN" sz="800" dirty="0">
                          <a:solidFill>
                            <a:srgbClr val="000000"/>
                          </a:solidFill>
                          <a:latin typeface="+mj-ea"/>
                          <a:ea typeface="+mj-ea"/>
                        </a:rPr>
                        <a:t>SA-95</a:t>
                      </a:r>
                      <a:r>
                        <a:rPr lang="zh-CN" altLang="en-US" sz="800" dirty="0">
                          <a:solidFill>
                            <a:srgbClr val="000000"/>
                          </a:solidFill>
                          <a:latin typeface="+mj-ea"/>
                          <a:ea typeface="+mj-ea"/>
                        </a:rPr>
                        <a:t>金字塔。</a:t>
                      </a:r>
                    </a:p>
                    <a:p>
                      <a:pPr marL="171450" indent="-171450" algn="l">
                        <a:buFont typeface="Arial" panose="020B0604020202020204" pitchFamily="34" charset="0"/>
                        <a:buChar char="•"/>
                      </a:pPr>
                      <a:r>
                        <a:rPr lang="zh-CN" altLang="en-US" sz="800" dirty="0">
                          <a:solidFill>
                            <a:srgbClr val="000000"/>
                          </a:solidFill>
                          <a:latin typeface="+mj-ea"/>
                          <a:ea typeface="+mj-ea"/>
                        </a:rPr>
                        <a:t>实现设备数据的直接采集与分析。</a:t>
                      </a:r>
                    </a:p>
                    <a:p>
                      <a:pPr marL="171450" indent="-171450" algn="l">
                        <a:buFont typeface="Arial" panose="020B0604020202020204" pitchFamily="34" charset="0"/>
                        <a:buChar char="•"/>
                      </a:pPr>
                      <a:r>
                        <a:rPr lang="zh-CN" altLang="en-US" sz="800" b="1" dirty="0">
                          <a:solidFill>
                            <a:srgbClr val="000000"/>
                          </a:solidFill>
                          <a:latin typeface="+mj-ea"/>
                          <a:ea typeface="+mj-ea"/>
                        </a:rPr>
                        <a:t>云边协同处理海量信号。</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zh-CN" altLang="en-US" sz="800" b="1" dirty="0">
                          <a:solidFill>
                            <a:srgbClr val="000000"/>
                          </a:solidFill>
                          <a:latin typeface="+mj-ea"/>
                          <a:ea typeface="+mj-ea"/>
                        </a:rPr>
                        <a:t>厂长 </a:t>
                      </a:r>
                      <a:r>
                        <a:rPr lang="en-US" altLang="zh-CN" sz="800" b="1" dirty="0">
                          <a:solidFill>
                            <a:srgbClr val="000000"/>
                          </a:solidFill>
                          <a:latin typeface="+mj-ea"/>
                          <a:ea typeface="+mj-ea"/>
                        </a:rPr>
                        <a:t>/ </a:t>
                      </a:r>
                      <a:r>
                        <a:rPr lang="zh-CN" altLang="en-US" sz="800" b="1" dirty="0">
                          <a:solidFill>
                            <a:srgbClr val="000000"/>
                          </a:solidFill>
                          <a:latin typeface="+mj-ea"/>
                          <a:ea typeface="+mj-ea"/>
                        </a:rPr>
                        <a:t>物流总监</a:t>
                      </a:r>
                      <a:endParaRPr lang="zh-CN" altLang="en-US" sz="800" dirty="0">
                        <a:solidFill>
                          <a:srgbClr val="000000"/>
                        </a:solidFill>
                        <a:latin typeface="+mj-ea"/>
                        <a:ea typeface="+mj-ea"/>
                      </a:endParaRPr>
                    </a:p>
                    <a:p>
                      <a:pPr algn="l"/>
                      <a:r>
                        <a:rPr lang="en-US" altLang="zh-CN" sz="800" dirty="0">
                          <a:solidFill>
                            <a:srgbClr val="000000"/>
                          </a:solidFill>
                          <a:latin typeface="+mj-ea"/>
                          <a:ea typeface="+mj-ea"/>
                        </a:rPr>
                        <a:t>1. </a:t>
                      </a:r>
                      <a:r>
                        <a:rPr lang="zh-CN" altLang="en-US" sz="800" dirty="0">
                          <a:solidFill>
                            <a:srgbClr val="000000"/>
                          </a:solidFill>
                          <a:latin typeface="+mj-ea"/>
                          <a:ea typeface="+mj-ea"/>
                        </a:rPr>
                        <a:t>过程防错：参数不对自动停机，确保零缺陷。</a:t>
                      </a:r>
                    </a:p>
                    <a:p>
                      <a:pPr algn="l"/>
                      <a:r>
                        <a:rPr lang="en-US" altLang="zh-CN" sz="800" dirty="0">
                          <a:solidFill>
                            <a:srgbClr val="000000"/>
                          </a:solidFill>
                          <a:latin typeface="+mj-ea"/>
                          <a:ea typeface="+mj-ea"/>
                        </a:rPr>
                        <a:t>2. </a:t>
                      </a:r>
                      <a:r>
                        <a:rPr lang="zh-CN" altLang="en-US" sz="800" dirty="0">
                          <a:solidFill>
                            <a:srgbClr val="000000"/>
                          </a:solidFill>
                          <a:latin typeface="+mj-ea"/>
                          <a:ea typeface="+mj-ea"/>
                        </a:rPr>
                        <a:t>全程追溯：秒级反查到具体的批次、机台与人员。</a:t>
                      </a:r>
                    </a:p>
                    <a:p>
                      <a:pPr algn="l"/>
                      <a:r>
                        <a:rPr lang="en-US" altLang="zh-CN" sz="800" b="1" dirty="0">
                          <a:solidFill>
                            <a:srgbClr val="000000"/>
                          </a:solidFill>
                          <a:latin typeface="+mj-ea"/>
                          <a:ea typeface="+mj-ea"/>
                        </a:rPr>
                        <a:t>3. </a:t>
                      </a:r>
                      <a:r>
                        <a:rPr lang="zh-CN" altLang="en-US" sz="800" b="1" dirty="0">
                          <a:solidFill>
                            <a:srgbClr val="000000"/>
                          </a:solidFill>
                          <a:latin typeface="+mj-ea"/>
                          <a:ea typeface="+mj-ea"/>
                        </a:rPr>
                        <a:t>完美履约：从生产下线到客户签收的无缝衔接。</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extLst>
                  <a:ext uri="{0D108BD9-81ED-4DB2-BD59-A6C34878D82A}">
                    <a16:rowId xmlns:a16="http://schemas.microsoft.com/office/drawing/2014/main" val="3347373458"/>
                  </a:ext>
                </a:extLst>
              </a:tr>
              <a:tr h="991369">
                <a:tc>
                  <a:txBody>
                    <a:bodyPr/>
                    <a:lstStyle/>
                    <a:p>
                      <a:pPr algn="l"/>
                      <a:r>
                        <a:rPr lang="en-US" sz="800" b="1">
                          <a:solidFill>
                            <a:srgbClr val="000000"/>
                          </a:solidFill>
                          <a:latin typeface="+mj-ea"/>
                          <a:ea typeface="+mj-ea"/>
                        </a:rPr>
                        <a:t>IV. </a:t>
                      </a:r>
                      <a:r>
                        <a:rPr lang="zh-CN" altLang="en-US" sz="800" b="1">
                          <a:solidFill>
                            <a:srgbClr val="000000"/>
                          </a:solidFill>
                          <a:latin typeface="+mj-ea"/>
                          <a:ea typeface="+mj-ea"/>
                        </a:rPr>
                        <a:t>大脑层</a:t>
                      </a:r>
                    </a:p>
                    <a:p>
                      <a:pPr algn="l"/>
                      <a:br>
                        <a:rPr lang="zh-CN" altLang="en-US" sz="800" b="1">
                          <a:solidFill>
                            <a:srgbClr val="000000"/>
                          </a:solidFill>
                          <a:latin typeface="+mj-ea"/>
                          <a:ea typeface="+mj-ea"/>
                        </a:rPr>
                      </a:br>
                      <a:r>
                        <a:rPr lang="en-US" sz="800" b="1" i="1">
                          <a:solidFill>
                            <a:srgbClr val="000000"/>
                          </a:solidFill>
                          <a:latin typeface="+mj-ea"/>
                          <a:ea typeface="+mj-ea"/>
                        </a:rPr>
                        <a:t>The Brain</a:t>
                      </a:r>
                      <a:endParaRPr lang="en-US" sz="800" b="1">
                        <a:solidFill>
                          <a:srgbClr val="000000"/>
                        </a:solidFill>
                        <a:latin typeface="+mj-ea"/>
                        <a:ea typeface="+mj-ea"/>
                      </a:endParaRPr>
                    </a:p>
                    <a:p>
                      <a:pPr algn="l"/>
                      <a:br>
                        <a:rPr lang="en-US" sz="800" b="1">
                          <a:solidFill>
                            <a:srgbClr val="000000"/>
                          </a:solidFill>
                          <a:latin typeface="+mj-ea"/>
                          <a:ea typeface="+mj-ea"/>
                        </a:rPr>
                      </a:br>
                      <a:r>
                        <a:rPr lang="en-US" sz="800" b="1">
                          <a:solidFill>
                            <a:srgbClr val="000000"/>
                          </a:solidFill>
                          <a:latin typeface="+mj-ea"/>
                          <a:ea typeface="+mj-ea"/>
                        </a:rPr>
                        <a:t>(</a:t>
                      </a:r>
                      <a:r>
                        <a:rPr lang="zh-CN" altLang="en-US" sz="800" b="1">
                          <a:solidFill>
                            <a:srgbClr val="000000"/>
                          </a:solidFill>
                          <a:latin typeface="+mj-ea"/>
                          <a:ea typeface="+mj-ea"/>
                        </a:rPr>
                        <a:t>神经中枢</a:t>
                      </a:r>
                      <a:r>
                        <a:rPr lang="en-US" altLang="zh-CN" sz="800" b="1">
                          <a:solidFill>
                            <a:srgbClr val="000000"/>
                          </a:solidFill>
                          <a:latin typeface="+mj-ea"/>
                          <a:ea typeface="+mj-ea"/>
                        </a:rPr>
                        <a:t>)</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DACDE4"/>
                    </a:solidFill>
                  </a:tcPr>
                </a:tc>
                <a:tc>
                  <a:txBody>
                    <a:bodyPr/>
                    <a:lstStyle/>
                    <a:p>
                      <a:pPr algn="l"/>
                      <a:r>
                        <a:rPr lang="en-US" sz="800" b="1" dirty="0">
                          <a:solidFill>
                            <a:srgbClr val="000000"/>
                          </a:solidFill>
                          <a:latin typeface="+mj-ea"/>
                          <a:ea typeface="+mj-ea"/>
                        </a:rPr>
                        <a:t>One Plan</a:t>
                      </a:r>
                    </a:p>
                    <a:p>
                      <a:pPr algn="l"/>
                      <a:br>
                        <a:rPr lang="en-US" sz="800" b="1" dirty="0">
                          <a:solidFill>
                            <a:srgbClr val="000000"/>
                          </a:solidFill>
                          <a:latin typeface="+mj-ea"/>
                          <a:ea typeface="+mj-ea"/>
                        </a:rPr>
                      </a:br>
                      <a:r>
                        <a:rPr lang="en-US" sz="800" b="1" dirty="0">
                          <a:solidFill>
                            <a:srgbClr val="000000"/>
                          </a:solidFill>
                          <a:latin typeface="+mj-ea"/>
                          <a:ea typeface="+mj-ea"/>
                        </a:rPr>
                        <a:t>(</a:t>
                      </a:r>
                      <a:r>
                        <a:rPr lang="en-US" sz="800" b="0" dirty="0">
                          <a:solidFill>
                            <a:srgbClr val="000000"/>
                          </a:solidFill>
                          <a:latin typeface="+mj-ea"/>
                          <a:ea typeface="+mj-ea"/>
                        </a:rPr>
                        <a:t>IBP, APS, S&amp;OE, </a:t>
                      </a:r>
                      <a:r>
                        <a:rPr lang="en-US" sz="800" b="0" dirty="0" err="1">
                          <a:solidFill>
                            <a:srgbClr val="000000"/>
                          </a:solidFill>
                          <a:latin typeface="+mj-ea"/>
                          <a:ea typeface="+mj-ea"/>
                        </a:rPr>
                        <a:t>Contol</a:t>
                      </a:r>
                      <a:r>
                        <a:rPr lang="en-US" sz="800" b="0" dirty="0">
                          <a:solidFill>
                            <a:srgbClr val="000000"/>
                          </a:solidFill>
                          <a:latin typeface="+mj-ea"/>
                          <a:ea typeface="+mj-ea"/>
                        </a:rPr>
                        <a:t> Tower)</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marL="0" algn="l" latinLnBrk="1"/>
                      <a:r>
                        <a:rPr lang="zh-CN" altLang="en-US" sz="800" b="1" dirty="0">
                          <a:solidFill>
                            <a:srgbClr val="000000"/>
                          </a:solidFill>
                          <a:latin typeface="+mj-ea"/>
                          <a:ea typeface="+mj-ea"/>
                        </a:rPr>
                        <a:t>利润导向的全局最优</a:t>
                      </a:r>
                    </a:p>
                    <a:p>
                      <a:pPr marL="171450" indent="-171450" algn="l" latinLnBrk="1">
                        <a:buFont typeface="Arial" panose="020B0604020202020204" pitchFamily="34" charset="0"/>
                        <a:buChar char="•"/>
                      </a:pPr>
                      <a:r>
                        <a:rPr lang="zh-CN" altLang="en-US" sz="800" dirty="0">
                          <a:solidFill>
                            <a:srgbClr val="000000"/>
                          </a:solidFill>
                          <a:latin typeface="+mj-ea"/>
                          <a:ea typeface="+mj-ea"/>
                        </a:rPr>
                        <a:t>从</a:t>
                      </a:r>
                      <a:r>
                        <a:rPr lang="en-US" altLang="zh-CN" sz="800" dirty="0">
                          <a:solidFill>
                            <a:srgbClr val="000000"/>
                          </a:solidFill>
                          <a:latin typeface="+mj-ea"/>
                          <a:ea typeface="+mj-ea"/>
                        </a:rPr>
                        <a:t>S&amp;OP</a:t>
                      </a:r>
                      <a:r>
                        <a:rPr lang="zh-CN" altLang="en-US" sz="800" dirty="0">
                          <a:solidFill>
                            <a:srgbClr val="000000"/>
                          </a:solidFill>
                          <a:latin typeface="+mj-ea"/>
                          <a:ea typeface="+mj-ea"/>
                        </a:rPr>
                        <a:t>进化为</a:t>
                      </a:r>
                      <a:r>
                        <a:rPr lang="en-US" altLang="zh-CN" sz="800" b="1" dirty="0">
                          <a:solidFill>
                            <a:srgbClr val="000000"/>
                          </a:solidFill>
                          <a:latin typeface="+mj-ea"/>
                          <a:ea typeface="+mj-ea"/>
                        </a:rPr>
                        <a:t>IBP (</a:t>
                      </a:r>
                      <a:r>
                        <a:rPr lang="zh-CN" altLang="en-US" sz="800" b="1" dirty="0">
                          <a:solidFill>
                            <a:srgbClr val="000000"/>
                          </a:solidFill>
                          <a:latin typeface="+mj-ea"/>
                          <a:ea typeface="+mj-ea"/>
                        </a:rPr>
                        <a:t>集成业务计划</a:t>
                      </a:r>
                      <a:r>
                        <a:rPr lang="en-US" altLang="zh-CN" sz="800" b="1" dirty="0">
                          <a:solidFill>
                            <a:srgbClr val="000000"/>
                          </a:solidFill>
                          <a:latin typeface="+mj-ea"/>
                          <a:ea typeface="+mj-ea"/>
                        </a:rPr>
                        <a:t>) + S&amp;OE (</a:t>
                      </a:r>
                      <a:r>
                        <a:rPr lang="zh-CN" altLang="en-US" sz="800" b="1" dirty="0">
                          <a:solidFill>
                            <a:srgbClr val="000000"/>
                          </a:solidFill>
                          <a:latin typeface="+mj-ea"/>
                          <a:ea typeface="+mj-ea"/>
                        </a:rPr>
                        <a:t>执行闭环</a:t>
                      </a:r>
                      <a:r>
                        <a:rPr lang="en-US" altLang="zh-CN" sz="800" b="1" dirty="0">
                          <a:solidFill>
                            <a:srgbClr val="000000"/>
                          </a:solidFill>
                          <a:latin typeface="+mj-ea"/>
                          <a:ea typeface="+mj-ea"/>
                        </a:rPr>
                        <a:t>)</a:t>
                      </a:r>
                      <a:r>
                        <a:rPr lang="zh-CN" altLang="en-US" sz="800" dirty="0">
                          <a:solidFill>
                            <a:srgbClr val="000000"/>
                          </a:solidFill>
                          <a:latin typeface="+mj-ea"/>
                          <a:ea typeface="+mj-ea"/>
                        </a:rPr>
                        <a:t>。</a:t>
                      </a:r>
                    </a:p>
                    <a:p>
                      <a:pPr marL="171450" indent="-171450" algn="l" latinLnBrk="1">
                        <a:buFont typeface="Arial" panose="020B0604020202020204" pitchFamily="34" charset="0"/>
                        <a:buChar char="•"/>
                      </a:pPr>
                      <a:r>
                        <a:rPr lang="zh-CN" altLang="en-US" sz="800" dirty="0">
                          <a:solidFill>
                            <a:srgbClr val="000000"/>
                          </a:solidFill>
                          <a:latin typeface="+mj-ea"/>
                          <a:ea typeface="+mj-ea"/>
                        </a:rPr>
                        <a:t>以利润为指挥棒，平衡供需，最大化自由现金流。</a:t>
                      </a:r>
                    </a:p>
                    <a:p>
                      <a:pPr marL="171450" indent="-171450" algn="l" latinLnBrk="1">
                        <a:buFont typeface="Arial" panose="020B0604020202020204" pitchFamily="34" charset="0"/>
                        <a:buChar char="•"/>
                      </a:pPr>
                      <a:r>
                        <a:rPr lang="zh-CN" altLang="en-US" sz="800" b="1" dirty="0">
                          <a:solidFill>
                            <a:srgbClr val="000000"/>
                          </a:solidFill>
                          <a:latin typeface="+mj-ea"/>
                          <a:ea typeface="+mj-ea"/>
                        </a:rPr>
                        <a:t>打通“计划”与“执行”的任督二脉。</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打破“局部最优”的政治墙</a:t>
                      </a:r>
                    </a:p>
                    <a:p>
                      <a:pPr marL="171450" indent="-171450" algn="l">
                        <a:buFont typeface="Arial" panose="020B0604020202020204" pitchFamily="34" charset="0"/>
                        <a:buChar char="•"/>
                      </a:pPr>
                      <a:r>
                        <a:rPr lang="zh-CN" altLang="en-US" sz="800" dirty="0">
                          <a:solidFill>
                            <a:srgbClr val="000000"/>
                          </a:solidFill>
                          <a:latin typeface="+mj-ea"/>
                          <a:ea typeface="+mj-ea"/>
                        </a:rPr>
                        <a:t>阻力源：销售高估需求 </a:t>
                      </a:r>
                      <a:r>
                        <a:rPr lang="en-US" altLang="zh-CN" sz="800" dirty="0">
                          <a:solidFill>
                            <a:srgbClr val="000000"/>
                          </a:solidFill>
                          <a:latin typeface="+mj-ea"/>
                          <a:ea typeface="+mj-ea"/>
                        </a:rPr>
                        <a:t>vs </a:t>
                      </a:r>
                      <a:r>
                        <a:rPr lang="zh-CN" altLang="en-US" sz="800" dirty="0">
                          <a:solidFill>
                            <a:srgbClr val="000000"/>
                          </a:solidFill>
                          <a:latin typeface="+mj-ea"/>
                          <a:ea typeface="+mj-ea"/>
                        </a:rPr>
                        <a:t>生产过度制造；</a:t>
                      </a:r>
                      <a:r>
                        <a:rPr lang="zh-CN" altLang="en-US" sz="800" b="1" dirty="0">
                          <a:solidFill>
                            <a:srgbClr val="000000"/>
                          </a:solidFill>
                          <a:latin typeface="+mj-ea"/>
                          <a:ea typeface="+mj-ea"/>
                        </a:rPr>
                        <a:t>计划与执行的两张皮</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dirty="0">
                          <a:solidFill>
                            <a:srgbClr val="000000"/>
                          </a:solidFill>
                          <a:latin typeface="+mj-ea"/>
                          <a:ea typeface="+mj-ea"/>
                        </a:rPr>
                        <a:t>本质：算法仲裁。用数据代替“政治协商”，强制各部门对齐单一计划。</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en-US" altLang="zh-CN" sz="800" b="1" dirty="0">
                          <a:solidFill>
                            <a:srgbClr val="000000"/>
                          </a:solidFill>
                          <a:latin typeface="+mj-ea"/>
                          <a:ea typeface="+mj-ea"/>
                        </a:rPr>
                        <a:t>NP</a:t>
                      </a:r>
                      <a:r>
                        <a:rPr lang="zh-CN" altLang="en-US" sz="800" b="1" dirty="0">
                          <a:solidFill>
                            <a:srgbClr val="000000"/>
                          </a:solidFill>
                          <a:latin typeface="+mj-ea"/>
                          <a:ea typeface="+mj-ea"/>
                        </a:rPr>
                        <a:t>难问题 </a:t>
                      </a:r>
                      <a:r>
                        <a:rPr lang="en-US" altLang="zh-CN" sz="800" b="1" dirty="0">
                          <a:solidFill>
                            <a:srgbClr val="000000"/>
                          </a:solidFill>
                          <a:latin typeface="+mj-ea"/>
                          <a:ea typeface="+mj-ea"/>
                        </a:rPr>
                        <a:t>(NP-Hard) + </a:t>
                      </a:r>
                      <a:r>
                        <a:rPr lang="zh-CN" altLang="en-US" sz="800" b="1" dirty="0">
                          <a:solidFill>
                            <a:srgbClr val="000000"/>
                          </a:solidFill>
                          <a:latin typeface="+mj-ea"/>
                          <a:ea typeface="+mj-ea"/>
                        </a:rPr>
                        <a:t>混沌理论</a:t>
                      </a:r>
                    </a:p>
                    <a:p>
                      <a:pPr marL="171450" indent="-171450" algn="l">
                        <a:buFont typeface="Arial" panose="020B0604020202020204" pitchFamily="34" charset="0"/>
                        <a:buChar char="•"/>
                      </a:pPr>
                      <a:r>
                        <a:rPr lang="zh-CN" altLang="en-US" sz="800" dirty="0">
                          <a:solidFill>
                            <a:srgbClr val="000000"/>
                          </a:solidFill>
                          <a:latin typeface="+mj-ea"/>
                          <a:ea typeface="+mj-ea"/>
                        </a:rPr>
                        <a:t>在多重约束下寻找满意解，计算复杂度呈指数爆炸。</a:t>
                      </a:r>
                    </a:p>
                    <a:p>
                      <a:pPr marL="171450" indent="-171450" algn="l">
                        <a:buFont typeface="Arial" panose="020B0604020202020204" pitchFamily="34" charset="0"/>
                        <a:buChar char="•"/>
                      </a:pPr>
                      <a:r>
                        <a:rPr lang="zh-CN" altLang="en-US" sz="800" b="1" dirty="0">
                          <a:solidFill>
                            <a:srgbClr val="000000"/>
                          </a:solidFill>
                          <a:latin typeface="+mj-ea"/>
                          <a:ea typeface="+mj-ea"/>
                        </a:rPr>
                        <a:t>应对牛鞭效应与微小扰动的非线性放大。</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内存级计算</a:t>
                      </a:r>
                    </a:p>
                    <a:p>
                      <a:pPr marL="171450" indent="-171450" algn="l">
                        <a:buFont typeface="Arial" panose="020B0604020202020204" pitchFamily="34" charset="0"/>
                        <a:buChar char="•"/>
                      </a:pPr>
                      <a:r>
                        <a:rPr lang="zh-CN" altLang="en-US" sz="800" dirty="0">
                          <a:solidFill>
                            <a:srgbClr val="000000"/>
                          </a:solidFill>
                          <a:latin typeface="+mj-ea"/>
                          <a:ea typeface="+mj-ea"/>
                        </a:rPr>
                        <a:t>建立产能</a:t>
                      </a:r>
                      <a:r>
                        <a:rPr lang="en-US" altLang="zh-CN" sz="800" dirty="0">
                          <a:solidFill>
                            <a:srgbClr val="000000"/>
                          </a:solidFill>
                          <a:latin typeface="+mj-ea"/>
                          <a:ea typeface="+mj-ea"/>
                        </a:rPr>
                        <a:t>/</a:t>
                      </a:r>
                      <a:r>
                        <a:rPr lang="zh-CN" altLang="en-US" sz="800" dirty="0">
                          <a:solidFill>
                            <a:srgbClr val="000000"/>
                          </a:solidFill>
                          <a:latin typeface="+mj-ea"/>
                          <a:ea typeface="+mj-ea"/>
                        </a:rPr>
                        <a:t>资金</a:t>
                      </a:r>
                      <a:r>
                        <a:rPr lang="en-US" altLang="zh-CN" sz="800" dirty="0">
                          <a:solidFill>
                            <a:srgbClr val="000000"/>
                          </a:solidFill>
                          <a:latin typeface="+mj-ea"/>
                          <a:ea typeface="+mj-ea"/>
                        </a:rPr>
                        <a:t>/</a:t>
                      </a:r>
                      <a:r>
                        <a:rPr lang="zh-CN" altLang="en-US" sz="800" dirty="0">
                          <a:solidFill>
                            <a:srgbClr val="000000"/>
                          </a:solidFill>
                          <a:latin typeface="+mj-ea"/>
                          <a:ea typeface="+mj-ea"/>
                        </a:rPr>
                        <a:t>物料的数字模型。</a:t>
                      </a:r>
                    </a:p>
                    <a:p>
                      <a:pPr marL="171450" indent="-171450" algn="l">
                        <a:buFont typeface="Arial" panose="020B0604020202020204" pitchFamily="34" charset="0"/>
                        <a:buChar char="•"/>
                      </a:pPr>
                      <a:r>
                        <a:rPr lang="zh-CN" altLang="en-US" sz="800" dirty="0">
                          <a:solidFill>
                            <a:srgbClr val="000000"/>
                          </a:solidFill>
                          <a:latin typeface="+mj-ea"/>
                          <a:ea typeface="+mj-ea"/>
                        </a:rPr>
                        <a:t>需在内存中快速完成全量重算。</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zh-CN" altLang="en-US" sz="800" b="1" dirty="0">
                          <a:solidFill>
                            <a:srgbClr val="000000"/>
                          </a:solidFill>
                          <a:latin typeface="+mj-ea"/>
                          <a:ea typeface="+mj-ea"/>
                        </a:rPr>
                        <a:t>全域协同</a:t>
                      </a:r>
                    </a:p>
                    <a:p>
                      <a:pPr marL="171450" indent="-171450" algn="l">
                        <a:buFont typeface="Arial" panose="020B0604020202020204" pitchFamily="34" charset="0"/>
                        <a:buChar char="•"/>
                      </a:pPr>
                      <a:r>
                        <a:rPr lang="zh-CN" altLang="en-US" sz="800" dirty="0">
                          <a:solidFill>
                            <a:srgbClr val="000000"/>
                          </a:solidFill>
                          <a:latin typeface="+mj-ea"/>
                          <a:ea typeface="+mj-ea"/>
                        </a:rPr>
                        <a:t>作为神经中枢。</a:t>
                      </a:r>
                    </a:p>
                    <a:p>
                      <a:pPr marL="171450" indent="-171450" algn="l">
                        <a:buFont typeface="Arial" panose="020B0604020202020204" pitchFamily="34" charset="0"/>
                        <a:buChar char="•"/>
                      </a:pPr>
                      <a:r>
                        <a:rPr lang="zh-CN" altLang="en-US" sz="800" dirty="0">
                          <a:solidFill>
                            <a:srgbClr val="000000"/>
                          </a:solidFill>
                          <a:latin typeface="+mj-ea"/>
                          <a:ea typeface="+mj-ea"/>
                        </a:rPr>
                        <a:t>负责感知 </a:t>
                      </a:r>
                      <a:r>
                        <a:rPr lang="en-US" altLang="zh-CN" sz="800" dirty="0">
                          <a:solidFill>
                            <a:srgbClr val="000000"/>
                          </a:solidFill>
                          <a:latin typeface="+mj-ea"/>
                          <a:ea typeface="+mj-ea"/>
                        </a:rPr>
                        <a:t>(Sensing) </a:t>
                      </a:r>
                      <a:r>
                        <a:rPr lang="zh-CN" altLang="en-US" sz="800" dirty="0">
                          <a:solidFill>
                            <a:srgbClr val="000000"/>
                          </a:solidFill>
                          <a:latin typeface="+mj-ea"/>
                          <a:ea typeface="+mj-ea"/>
                        </a:rPr>
                        <a:t>并快速反应 </a:t>
                      </a:r>
                      <a:r>
                        <a:rPr lang="en-US" altLang="zh-CN" sz="800" dirty="0">
                          <a:solidFill>
                            <a:srgbClr val="000000"/>
                          </a:solidFill>
                          <a:latin typeface="+mj-ea"/>
                          <a:ea typeface="+mj-ea"/>
                        </a:rPr>
                        <a:t>(Responding)</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b="1" dirty="0">
                          <a:solidFill>
                            <a:srgbClr val="000000"/>
                          </a:solidFill>
                          <a:latin typeface="+mj-ea"/>
                          <a:ea typeface="+mj-ea"/>
                        </a:rPr>
                        <a:t>连接供应商产能与客户真实需求。</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三位一体架构 </a:t>
                      </a:r>
                      <a:r>
                        <a:rPr lang="en-US" altLang="zh-CN" sz="800" b="1" dirty="0">
                          <a:solidFill>
                            <a:srgbClr val="000000"/>
                          </a:solidFill>
                          <a:latin typeface="+mj-ea"/>
                          <a:ea typeface="+mj-ea"/>
                        </a:rPr>
                        <a:t>+ </a:t>
                      </a:r>
                      <a:r>
                        <a:rPr lang="zh-CN" altLang="en-US" sz="800" b="1" dirty="0">
                          <a:solidFill>
                            <a:srgbClr val="000000"/>
                          </a:solidFill>
                          <a:latin typeface="+mj-ea"/>
                          <a:ea typeface="+mj-ea"/>
                        </a:rPr>
                        <a:t>事件驱动</a:t>
                      </a:r>
                    </a:p>
                    <a:p>
                      <a:pPr marL="171450" indent="-171450" algn="l">
                        <a:buFont typeface="Arial" panose="020B0604020202020204" pitchFamily="34" charset="0"/>
                        <a:buChar char="•"/>
                      </a:pPr>
                      <a:r>
                        <a:rPr lang="zh-CN" altLang="en-US" sz="800" dirty="0">
                          <a:solidFill>
                            <a:srgbClr val="000000"/>
                          </a:solidFill>
                          <a:latin typeface="+mj-ea"/>
                          <a:ea typeface="+mj-ea"/>
                        </a:rPr>
                        <a:t>深度业务解构 </a:t>
                      </a:r>
                      <a:r>
                        <a:rPr lang="en-US" altLang="zh-CN" sz="800" dirty="0">
                          <a:solidFill>
                            <a:srgbClr val="000000"/>
                          </a:solidFill>
                          <a:latin typeface="+mj-ea"/>
                          <a:ea typeface="+mj-ea"/>
                        </a:rPr>
                        <a:t>× </a:t>
                      </a:r>
                      <a:r>
                        <a:rPr lang="zh-CN" altLang="en-US" sz="800" dirty="0">
                          <a:solidFill>
                            <a:srgbClr val="000000"/>
                          </a:solidFill>
                          <a:latin typeface="+mj-ea"/>
                          <a:ea typeface="+mj-ea"/>
                        </a:rPr>
                        <a:t>算法模型 </a:t>
                      </a:r>
                      <a:r>
                        <a:rPr lang="en-US" altLang="zh-CN" sz="800" dirty="0">
                          <a:solidFill>
                            <a:srgbClr val="000000"/>
                          </a:solidFill>
                          <a:latin typeface="+mj-ea"/>
                          <a:ea typeface="+mj-ea"/>
                        </a:rPr>
                        <a:t>× </a:t>
                      </a:r>
                      <a:r>
                        <a:rPr lang="zh-CN" altLang="en-US" sz="800" dirty="0">
                          <a:solidFill>
                            <a:srgbClr val="000000"/>
                          </a:solidFill>
                          <a:latin typeface="+mj-ea"/>
                          <a:ea typeface="+mj-ea"/>
                        </a:rPr>
                        <a:t>算力支撑。</a:t>
                      </a:r>
                    </a:p>
                    <a:p>
                      <a:pPr marL="171450" indent="-171450" algn="l">
                        <a:buFont typeface="Arial" panose="020B0604020202020204" pitchFamily="34" charset="0"/>
                        <a:buChar char="•"/>
                      </a:pPr>
                      <a:r>
                        <a:rPr lang="zh-CN" altLang="en-US" sz="800" dirty="0">
                          <a:solidFill>
                            <a:srgbClr val="000000"/>
                          </a:solidFill>
                          <a:latin typeface="+mj-ea"/>
                          <a:ea typeface="+mj-ea"/>
                        </a:rPr>
                        <a:t>构建具备情景模拟能力的决策库。</a:t>
                      </a:r>
                    </a:p>
                    <a:p>
                      <a:pPr marL="171450" indent="-171450" algn="l">
                        <a:buFont typeface="Arial" panose="020B0604020202020204" pitchFamily="34" charset="0"/>
                        <a:buChar char="•"/>
                      </a:pPr>
                      <a:r>
                        <a:rPr lang="zh-CN" altLang="en-US" sz="800" b="1" dirty="0">
                          <a:solidFill>
                            <a:srgbClr val="000000"/>
                          </a:solidFill>
                          <a:latin typeface="+mj-ea"/>
                          <a:ea typeface="+mj-ea"/>
                        </a:rPr>
                        <a:t>利用</a:t>
                      </a:r>
                      <a:r>
                        <a:rPr lang="en-US" altLang="zh-CN" sz="800" b="1" dirty="0">
                          <a:solidFill>
                            <a:srgbClr val="000000"/>
                          </a:solidFill>
                          <a:latin typeface="+mj-ea"/>
                          <a:ea typeface="+mj-ea"/>
                        </a:rPr>
                        <a:t>EDA</a:t>
                      </a:r>
                      <a:r>
                        <a:rPr lang="zh-CN" altLang="en-US" sz="800" b="1" dirty="0">
                          <a:solidFill>
                            <a:srgbClr val="000000"/>
                          </a:solidFill>
                          <a:latin typeface="+mj-ea"/>
                          <a:ea typeface="+mj-ea"/>
                        </a:rPr>
                        <a:t>架构实现实时感知。</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zh-CN" altLang="en-US" sz="800" b="1" dirty="0">
                          <a:solidFill>
                            <a:srgbClr val="000000"/>
                          </a:solidFill>
                          <a:latin typeface="+mj-ea"/>
                          <a:ea typeface="+mj-ea"/>
                        </a:rPr>
                        <a:t>供应链总监 </a:t>
                      </a:r>
                      <a:r>
                        <a:rPr lang="en-US" altLang="zh-CN" sz="800" b="1" dirty="0">
                          <a:solidFill>
                            <a:srgbClr val="000000"/>
                          </a:solidFill>
                          <a:latin typeface="+mj-ea"/>
                          <a:ea typeface="+mj-ea"/>
                        </a:rPr>
                        <a:t>(CSCO)</a:t>
                      </a:r>
                      <a:endParaRPr lang="zh-CN" altLang="en-US" sz="800" dirty="0">
                        <a:solidFill>
                          <a:srgbClr val="000000"/>
                        </a:solidFill>
                        <a:latin typeface="+mj-ea"/>
                        <a:ea typeface="+mj-ea"/>
                      </a:endParaRPr>
                    </a:p>
                    <a:p>
                      <a:pPr algn="l"/>
                      <a:r>
                        <a:rPr lang="en-US" altLang="zh-CN" sz="800" b="1" dirty="0">
                          <a:solidFill>
                            <a:srgbClr val="000000"/>
                          </a:solidFill>
                          <a:latin typeface="+mj-ea"/>
                          <a:ea typeface="+mj-ea"/>
                        </a:rPr>
                        <a:t>1. </a:t>
                      </a:r>
                      <a:r>
                        <a:rPr lang="zh-CN" altLang="en-US" sz="800" b="1" dirty="0">
                          <a:solidFill>
                            <a:srgbClr val="000000"/>
                          </a:solidFill>
                          <a:latin typeface="+mj-ea"/>
                          <a:ea typeface="+mj-ea"/>
                        </a:rPr>
                        <a:t>盈利性承诺 </a:t>
                      </a:r>
                      <a:r>
                        <a:rPr lang="en-US" altLang="zh-CN" sz="800" b="1" dirty="0">
                          <a:solidFill>
                            <a:srgbClr val="000000"/>
                          </a:solidFill>
                          <a:latin typeface="+mj-ea"/>
                          <a:ea typeface="+mj-ea"/>
                        </a:rPr>
                        <a:t>(PTP)</a:t>
                      </a:r>
                      <a:r>
                        <a:rPr lang="zh-CN" altLang="en-US" sz="800" b="1" dirty="0">
                          <a:solidFill>
                            <a:srgbClr val="000000"/>
                          </a:solidFill>
                          <a:latin typeface="+mj-ea"/>
                          <a:ea typeface="+mj-ea"/>
                        </a:rPr>
                        <a:t>：不仅能交付，还要算清这单赚不赚。</a:t>
                      </a:r>
                      <a:endParaRPr lang="zh-CN" altLang="en-US" sz="800" dirty="0">
                        <a:solidFill>
                          <a:srgbClr val="000000"/>
                        </a:solidFill>
                        <a:latin typeface="+mj-ea"/>
                        <a:ea typeface="+mj-ea"/>
                      </a:endParaRPr>
                    </a:p>
                    <a:p>
                      <a:pPr algn="l"/>
                      <a:r>
                        <a:rPr lang="en-US" altLang="zh-CN" sz="800" dirty="0">
                          <a:solidFill>
                            <a:srgbClr val="000000"/>
                          </a:solidFill>
                          <a:latin typeface="+mj-ea"/>
                          <a:ea typeface="+mj-ea"/>
                        </a:rPr>
                        <a:t>2. </a:t>
                      </a:r>
                      <a:r>
                        <a:rPr lang="zh-CN" altLang="en-US" sz="800" dirty="0">
                          <a:solidFill>
                            <a:srgbClr val="000000"/>
                          </a:solidFill>
                          <a:latin typeface="+mj-ea"/>
                          <a:ea typeface="+mj-ea"/>
                        </a:rPr>
                        <a:t>战争推演：模拟“若原料涨价</a:t>
                      </a:r>
                      <a:r>
                        <a:rPr lang="en-US" altLang="zh-CN" sz="800" dirty="0">
                          <a:solidFill>
                            <a:srgbClr val="000000"/>
                          </a:solidFill>
                          <a:latin typeface="+mj-ea"/>
                          <a:ea typeface="+mj-ea"/>
                        </a:rPr>
                        <a:t>20%”</a:t>
                      </a:r>
                      <a:r>
                        <a:rPr lang="zh-CN" altLang="en-US" sz="800" dirty="0">
                          <a:solidFill>
                            <a:srgbClr val="000000"/>
                          </a:solidFill>
                          <a:latin typeface="+mj-ea"/>
                          <a:ea typeface="+mj-ea"/>
                        </a:rPr>
                        <a:t>对</a:t>
                      </a:r>
                      <a:r>
                        <a:rPr lang="en-US" altLang="zh-CN" sz="800" dirty="0">
                          <a:solidFill>
                            <a:srgbClr val="000000"/>
                          </a:solidFill>
                          <a:latin typeface="+mj-ea"/>
                          <a:ea typeface="+mj-ea"/>
                        </a:rPr>
                        <a:t>EBITDA</a:t>
                      </a:r>
                      <a:r>
                        <a:rPr lang="zh-CN" altLang="en-US" sz="800" dirty="0">
                          <a:solidFill>
                            <a:srgbClr val="000000"/>
                          </a:solidFill>
                          <a:latin typeface="+mj-ea"/>
                          <a:ea typeface="+mj-ea"/>
                        </a:rPr>
                        <a:t>的影响。</a:t>
                      </a:r>
                    </a:p>
                    <a:p>
                      <a:pPr algn="l"/>
                      <a:r>
                        <a:rPr lang="en-US" altLang="zh-CN" sz="800" dirty="0">
                          <a:solidFill>
                            <a:srgbClr val="000000"/>
                          </a:solidFill>
                          <a:latin typeface="+mj-ea"/>
                          <a:ea typeface="+mj-ea"/>
                        </a:rPr>
                        <a:t>3. </a:t>
                      </a:r>
                      <a:r>
                        <a:rPr lang="zh-CN" altLang="en-US" sz="800" dirty="0">
                          <a:solidFill>
                            <a:srgbClr val="000000"/>
                          </a:solidFill>
                          <a:latin typeface="+mj-ea"/>
                          <a:ea typeface="+mj-ea"/>
                        </a:rPr>
                        <a:t>韧性决策：发生异常时，秒级重排最优解。</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extLst>
                  <a:ext uri="{0D108BD9-81ED-4DB2-BD59-A6C34878D82A}">
                    <a16:rowId xmlns:a16="http://schemas.microsoft.com/office/drawing/2014/main" val="3769872209"/>
                  </a:ext>
                </a:extLst>
              </a:tr>
              <a:tr h="882312">
                <a:tc>
                  <a:txBody>
                    <a:bodyPr/>
                    <a:lstStyle/>
                    <a:p>
                      <a:pPr algn="l"/>
                      <a:r>
                        <a:rPr lang="en-US" sz="800" b="1" dirty="0">
                          <a:solidFill>
                            <a:srgbClr val="000000"/>
                          </a:solidFill>
                          <a:latin typeface="+mj-ea"/>
                          <a:ea typeface="+mj-ea"/>
                        </a:rPr>
                        <a:t>V. </a:t>
                      </a:r>
                      <a:r>
                        <a:rPr lang="zh-CN" altLang="en-US" sz="800" b="1" dirty="0">
                          <a:solidFill>
                            <a:srgbClr val="000000"/>
                          </a:solidFill>
                          <a:latin typeface="+mj-ea"/>
                          <a:ea typeface="+mj-ea"/>
                        </a:rPr>
                        <a:t>基因层</a:t>
                      </a:r>
                    </a:p>
                    <a:p>
                      <a:pPr algn="l"/>
                      <a:br>
                        <a:rPr lang="zh-CN" altLang="en-US" sz="800" b="1" dirty="0">
                          <a:solidFill>
                            <a:srgbClr val="000000"/>
                          </a:solidFill>
                          <a:latin typeface="+mj-ea"/>
                          <a:ea typeface="+mj-ea"/>
                        </a:rPr>
                      </a:br>
                      <a:r>
                        <a:rPr lang="en-US" sz="800" b="1" i="1" dirty="0">
                          <a:solidFill>
                            <a:srgbClr val="000000"/>
                          </a:solidFill>
                          <a:latin typeface="+mj-ea"/>
                          <a:ea typeface="+mj-ea"/>
                        </a:rPr>
                        <a:t>The DNA</a:t>
                      </a:r>
                      <a:endParaRPr lang="en-US" sz="800" b="1" dirty="0">
                        <a:solidFill>
                          <a:srgbClr val="000000"/>
                        </a:solidFill>
                        <a:latin typeface="+mj-ea"/>
                        <a:ea typeface="+mj-ea"/>
                      </a:endParaRPr>
                    </a:p>
                    <a:p>
                      <a:pPr algn="l"/>
                      <a:br>
                        <a:rPr lang="en-US" sz="800" b="1" dirty="0">
                          <a:solidFill>
                            <a:srgbClr val="000000"/>
                          </a:solidFill>
                          <a:latin typeface="+mj-ea"/>
                          <a:ea typeface="+mj-ea"/>
                        </a:rPr>
                      </a:br>
                      <a:r>
                        <a:rPr lang="en-US" sz="800" b="1" dirty="0">
                          <a:solidFill>
                            <a:srgbClr val="000000"/>
                          </a:solidFill>
                          <a:latin typeface="+mj-ea"/>
                          <a:ea typeface="+mj-ea"/>
                        </a:rPr>
                        <a:t>(</a:t>
                      </a:r>
                      <a:r>
                        <a:rPr lang="zh-CN" altLang="en-US" sz="800" b="1" dirty="0">
                          <a:solidFill>
                            <a:srgbClr val="000000"/>
                          </a:solidFill>
                          <a:latin typeface="+mj-ea"/>
                          <a:ea typeface="+mj-ea"/>
                        </a:rPr>
                        <a:t>基因</a:t>
                      </a:r>
                      <a:r>
                        <a:rPr lang="en-US" altLang="zh-CN" sz="800" b="1" dirty="0">
                          <a:solidFill>
                            <a:srgbClr val="000000"/>
                          </a:solidFill>
                          <a:latin typeface="+mj-ea"/>
                          <a:ea typeface="+mj-ea"/>
                        </a:rPr>
                        <a:t>)</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DACDE4"/>
                    </a:solidFill>
                  </a:tcPr>
                </a:tc>
                <a:tc>
                  <a:txBody>
                    <a:bodyPr/>
                    <a:lstStyle/>
                    <a:p>
                      <a:pPr algn="l"/>
                      <a:r>
                        <a:rPr lang="en-US" sz="800" b="1" dirty="0">
                          <a:solidFill>
                            <a:srgbClr val="000000"/>
                          </a:solidFill>
                          <a:latin typeface="+mj-ea"/>
                          <a:ea typeface="+mj-ea"/>
                        </a:rPr>
                        <a:t>PLM / IPD</a:t>
                      </a:r>
                    </a:p>
                    <a:p>
                      <a:pPr algn="l"/>
                      <a:br>
                        <a:rPr lang="en-US" sz="800" b="1" dirty="0">
                          <a:solidFill>
                            <a:srgbClr val="000000"/>
                          </a:solidFill>
                          <a:latin typeface="+mj-ea"/>
                          <a:ea typeface="+mj-ea"/>
                        </a:rPr>
                      </a:br>
                      <a:r>
                        <a:rPr lang="en-US" sz="800" b="1" dirty="0">
                          <a:solidFill>
                            <a:srgbClr val="000000"/>
                          </a:solidFill>
                          <a:latin typeface="+mj-ea"/>
                          <a:ea typeface="+mj-ea"/>
                        </a:rPr>
                        <a:t>(</a:t>
                      </a:r>
                      <a:r>
                        <a:rPr lang="en-US" sz="800" b="0" dirty="0">
                          <a:solidFill>
                            <a:srgbClr val="000000"/>
                          </a:solidFill>
                          <a:latin typeface="+mj-ea"/>
                          <a:ea typeface="+mj-ea"/>
                        </a:rPr>
                        <a:t>LIMS, Recipe)</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marL="0" algn="l" latinLnBrk="1"/>
                      <a:r>
                        <a:rPr lang="zh-CN" altLang="en-US" sz="800" b="1" dirty="0">
                          <a:solidFill>
                            <a:srgbClr val="000000"/>
                          </a:solidFill>
                          <a:latin typeface="+mj-ea"/>
                          <a:ea typeface="+mj-ea"/>
                        </a:rPr>
                        <a:t>未来定义权与可持续性</a:t>
                      </a:r>
                    </a:p>
                    <a:p>
                      <a:pPr marL="171450" indent="-171450" algn="l" latinLnBrk="1">
                        <a:buFont typeface="Arial" panose="020B0604020202020204" pitchFamily="34" charset="0"/>
                        <a:buChar char="•"/>
                      </a:pPr>
                      <a:r>
                        <a:rPr lang="zh-CN" altLang="en-US" sz="800" dirty="0">
                          <a:solidFill>
                            <a:srgbClr val="000000"/>
                          </a:solidFill>
                          <a:latin typeface="+mj-ea"/>
                          <a:ea typeface="+mj-ea"/>
                        </a:rPr>
                        <a:t>锁定产品</a:t>
                      </a:r>
                      <a:r>
                        <a:rPr lang="en-US" altLang="zh-CN" sz="800" dirty="0">
                          <a:solidFill>
                            <a:srgbClr val="000000"/>
                          </a:solidFill>
                          <a:latin typeface="+mj-ea"/>
                          <a:ea typeface="+mj-ea"/>
                        </a:rPr>
                        <a:t>80%</a:t>
                      </a:r>
                      <a:r>
                        <a:rPr lang="zh-CN" altLang="en-US" sz="800" dirty="0">
                          <a:solidFill>
                            <a:srgbClr val="000000"/>
                          </a:solidFill>
                          <a:latin typeface="+mj-ea"/>
                          <a:ea typeface="+mj-ea"/>
                        </a:rPr>
                        <a:t>的成本与碳排放。</a:t>
                      </a:r>
                    </a:p>
                    <a:p>
                      <a:pPr marL="171450" indent="-171450" algn="l" latinLnBrk="1">
                        <a:buFont typeface="Arial" panose="020B0604020202020204" pitchFamily="34" charset="0"/>
                        <a:buChar char="•"/>
                      </a:pPr>
                      <a:r>
                        <a:rPr lang="zh-CN" altLang="en-US" sz="800" dirty="0">
                          <a:solidFill>
                            <a:srgbClr val="000000"/>
                          </a:solidFill>
                          <a:latin typeface="+mj-ea"/>
                          <a:ea typeface="+mj-ea"/>
                        </a:rPr>
                        <a:t>通过数字主线实现“为环境设计 </a:t>
                      </a:r>
                      <a:r>
                        <a:rPr lang="en-US" altLang="zh-CN" sz="800" dirty="0">
                          <a:solidFill>
                            <a:srgbClr val="000000"/>
                          </a:solidFill>
                          <a:latin typeface="+mj-ea"/>
                          <a:ea typeface="+mj-ea"/>
                        </a:rPr>
                        <a:t>(DfE)”</a:t>
                      </a:r>
                      <a:r>
                        <a:rPr lang="zh-CN" altLang="en-US" sz="800" dirty="0">
                          <a:solidFill>
                            <a:srgbClr val="000000"/>
                          </a:solidFill>
                          <a:latin typeface="+mj-ea"/>
                          <a:ea typeface="+mj-ea"/>
                        </a:rPr>
                        <a:t>和数字孪生。</a:t>
                      </a:r>
                    </a:p>
                    <a:p>
                      <a:pPr marL="171450" indent="-171450" algn="l" latinLnBrk="1">
                        <a:buFont typeface="Arial" panose="020B0604020202020204" pitchFamily="34" charset="0"/>
                        <a:buChar char="•"/>
                      </a:pPr>
                      <a:r>
                        <a:rPr lang="zh-CN" altLang="en-US" sz="800" b="1" dirty="0">
                          <a:solidFill>
                            <a:srgbClr val="000000"/>
                          </a:solidFill>
                          <a:latin typeface="+mj-ea"/>
                          <a:ea typeface="+mj-ea"/>
                        </a:rPr>
                        <a:t>兼容离散</a:t>
                      </a:r>
                      <a:r>
                        <a:rPr lang="en-US" altLang="zh-CN" sz="800" b="1" dirty="0">
                          <a:solidFill>
                            <a:srgbClr val="000000"/>
                          </a:solidFill>
                          <a:latin typeface="+mj-ea"/>
                          <a:ea typeface="+mj-ea"/>
                        </a:rPr>
                        <a:t>BOM</a:t>
                      </a:r>
                      <a:r>
                        <a:rPr lang="zh-CN" altLang="en-US" sz="800" b="1" dirty="0">
                          <a:solidFill>
                            <a:srgbClr val="000000"/>
                          </a:solidFill>
                          <a:latin typeface="+mj-ea"/>
                          <a:ea typeface="+mj-ea"/>
                        </a:rPr>
                        <a:t>与流程配方。</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“艺术”与“工业”的冲突</a:t>
                      </a:r>
                    </a:p>
                    <a:p>
                      <a:pPr marL="171450" indent="-171450" algn="l">
                        <a:buFont typeface="Arial" panose="020B0604020202020204" pitchFamily="34" charset="0"/>
                        <a:buChar char="•"/>
                      </a:pPr>
                      <a:r>
                        <a:rPr lang="zh-CN" altLang="en-US" sz="800" dirty="0">
                          <a:solidFill>
                            <a:srgbClr val="000000"/>
                          </a:solidFill>
                          <a:latin typeface="+mj-ea"/>
                          <a:ea typeface="+mj-ea"/>
                        </a:rPr>
                        <a:t>阻力源：研发视标准化为扼杀创意；</a:t>
                      </a:r>
                      <a:r>
                        <a:rPr lang="zh-CN" altLang="en-US" sz="800" b="1" dirty="0">
                          <a:solidFill>
                            <a:srgbClr val="000000"/>
                          </a:solidFill>
                          <a:latin typeface="+mj-ea"/>
                          <a:ea typeface="+mj-ea"/>
                        </a:rPr>
                        <a:t>工程变更</a:t>
                      </a:r>
                      <a:r>
                        <a:rPr lang="en-US" altLang="zh-CN" sz="800" b="1" dirty="0">
                          <a:solidFill>
                            <a:srgbClr val="000000"/>
                          </a:solidFill>
                          <a:latin typeface="+mj-ea"/>
                          <a:ea typeface="+mj-ea"/>
                        </a:rPr>
                        <a:t>(ECO)</a:t>
                      </a:r>
                      <a:r>
                        <a:rPr lang="zh-CN" altLang="en-US" sz="800" b="1" dirty="0">
                          <a:solidFill>
                            <a:srgbClr val="000000"/>
                          </a:solidFill>
                          <a:latin typeface="+mj-ea"/>
                          <a:ea typeface="+mj-ea"/>
                        </a:rPr>
                        <a:t>随意性大</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dirty="0">
                          <a:solidFill>
                            <a:srgbClr val="000000"/>
                          </a:solidFill>
                          <a:latin typeface="+mj-ea"/>
                          <a:ea typeface="+mj-ea"/>
                        </a:rPr>
                        <a:t>本质：知识显性化。将隐性知识固化为可复用的模型与规则。</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zh-CN" altLang="en-US" sz="800" b="1" dirty="0">
                          <a:solidFill>
                            <a:srgbClr val="000000"/>
                          </a:solidFill>
                          <a:latin typeface="+mj-ea"/>
                          <a:ea typeface="+mj-ea"/>
                        </a:rPr>
                        <a:t>图论与配置管理 </a:t>
                      </a:r>
                      <a:r>
                        <a:rPr lang="en-US" altLang="zh-CN" sz="800" b="1" dirty="0">
                          <a:solidFill>
                            <a:srgbClr val="000000"/>
                          </a:solidFill>
                          <a:latin typeface="+mj-ea"/>
                          <a:ea typeface="+mj-ea"/>
                        </a:rPr>
                        <a:t>(Graph) + </a:t>
                      </a:r>
                      <a:r>
                        <a:rPr lang="zh-CN" altLang="en-US" sz="800" b="1" dirty="0">
                          <a:solidFill>
                            <a:srgbClr val="000000"/>
                          </a:solidFill>
                          <a:latin typeface="+mj-ea"/>
                          <a:ea typeface="+mj-ea"/>
                        </a:rPr>
                        <a:t>系统工程</a:t>
                      </a:r>
                    </a:p>
                    <a:p>
                      <a:pPr marL="171450" indent="-171450" algn="l">
                        <a:buFont typeface="Arial" panose="020B0604020202020204" pitchFamily="34" charset="0"/>
                        <a:buChar char="•"/>
                      </a:pPr>
                      <a:r>
                        <a:rPr lang="zh-CN" altLang="en-US" sz="800" dirty="0">
                          <a:solidFill>
                            <a:srgbClr val="000000"/>
                          </a:solidFill>
                          <a:latin typeface="+mj-ea"/>
                          <a:ea typeface="+mj-ea"/>
                        </a:rPr>
                        <a:t>管理大规模定制的复杂依赖。</a:t>
                      </a:r>
                    </a:p>
                    <a:p>
                      <a:pPr marL="171450" indent="-171450" algn="l">
                        <a:buFont typeface="Arial" panose="020B0604020202020204" pitchFamily="34" charset="0"/>
                        <a:buChar char="•"/>
                      </a:pPr>
                      <a:r>
                        <a:rPr lang="zh-CN" altLang="en-US" sz="800" dirty="0">
                          <a:solidFill>
                            <a:srgbClr val="000000"/>
                          </a:solidFill>
                          <a:latin typeface="+mj-ea"/>
                          <a:ea typeface="+mj-ea"/>
                        </a:rPr>
                        <a:t>解决</a:t>
                      </a:r>
                      <a:r>
                        <a:rPr lang="en-US" altLang="zh-CN" sz="800" dirty="0">
                          <a:solidFill>
                            <a:srgbClr val="000000"/>
                          </a:solidFill>
                          <a:latin typeface="+mj-ea"/>
                          <a:ea typeface="+mj-ea"/>
                        </a:rPr>
                        <a:t>BOM</a:t>
                      </a:r>
                      <a:r>
                        <a:rPr lang="zh-CN" altLang="en-US" sz="800" dirty="0">
                          <a:solidFill>
                            <a:srgbClr val="000000"/>
                          </a:solidFill>
                          <a:latin typeface="+mj-ea"/>
                          <a:ea typeface="+mj-ea"/>
                        </a:rPr>
                        <a:t>变体组合爆炸的数学难题。</a:t>
                      </a:r>
                    </a:p>
                    <a:p>
                      <a:pPr marL="171450" indent="-171450" algn="l">
                        <a:buFont typeface="Arial" panose="020B0604020202020204" pitchFamily="34" charset="0"/>
                        <a:buChar char="•"/>
                      </a:pPr>
                      <a:r>
                        <a:rPr lang="zh-CN" altLang="en-US" sz="800" b="1" dirty="0">
                          <a:solidFill>
                            <a:srgbClr val="000000"/>
                          </a:solidFill>
                          <a:latin typeface="+mj-ea"/>
                          <a:ea typeface="+mj-ea"/>
                        </a:rPr>
                        <a:t>定义产品的物理上限与功能系统。</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参数级</a:t>
                      </a:r>
                      <a:r>
                        <a:rPr lang="en-US" altLang="zh-CN" sz="800" b="1" dirty="0">
                          <a:solidFill>
                            <a:srgbClr val="000000"/>
                          </a:solidFill>
                          <a:latin typeface="+mj-ea"/>
                          <a:ea typeface="+mj-ea"/>
                        </a:rPr>
                        <a:t>/</a:t>
                      </a:r>
                      <a:r>
                        <a:rPr lang="zh-CN" altLang="en-US" sz="800" b="1" dirty="0">
                          <a:solidFill>
                            <a:srgbClr val="000000"/>
                          </a:solidFill>
                          <a:latin typeface="+mj-ea"/>
                          <a:ea typeface="+mj-ea"/>
                        </a:rPr>
                        <a:t>分子级</a:t>
                      </a:r>
                    </a:p>
                    <a:p>
                      <a:pPr marL="171450" indent="-171450" algn="l">
                        <a:buFont typeface="Arial" panose="020B0604020202020204" pitchFamily="34" charset="0"/>
                        <a:buChar char="•"/>
                      </a:pPr>
                      <a:r>
                        <a:rPr lang="zh-CN" altLang="en-US" sz="800" dirty="0">
                          <a:solidFill>
                            <a:srgbClr val="000000"/>
                          </a:solidFill>
                          <a:latin typeface="+mj-ea"/>
                          <a:ea typeface="+mj-ea"/>
                        </a:rPr>
                        <a:t>深入代码逻辑与工艺配方。</a:t>
                      </a:r>
                    </a:p>
                    <a:p>
                      <a:pPr marL="171450" indent="-171450" algn="l">
                        <a:buFont typeface="Arial" panose="020B0604020202020204" pitchFamily="34" charset="0"/>
                        <a:buChar char="•"/>
                      </a:pPr>
                      <a:r>
                        <a:rPr lang="zh-CN" altLang="en-US" sz="800" dirty="0">
                          <a:solidFill>
                            <a:srgbClr val="000000"/>
                          </a:solidFill>
                          <a:latin typeface="+mj-ea"/>
                          <a:ea typeface="+mj-ea"/>
                        </a:rPr>
                        <a:t>定义产品的物理上限。</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zh-CN" altLang="en-US" sz="800" b="1" dirty="0">
                          <a:solidFill>
                            <a:srgbClr val="000000"/>
                          </a:solidFill>
                          <a:latin typeface="+mj-ea"/>
                          <a:ea typeface="+mj-ea"/>
                        </a:rPr>
                        <a:t>全生命周期</a:t>
                      </a:r>
                    </a:p>
                    <a:p>
                      <a:pPr marL="171450" indent="-171450" algn="l">
                        <a:buFont typeface="Arial" panose="020B0604020202020204" pitchFamily="34" charset="0"/>
                        <a:buChar char="•"/>
                      </a:pPr>
                      <a:r>
                        <a:rPr lang="zh-CN" altLang="en-US" sz="800" dirty="0">
                          <a:solidFill>
                            <a:srgbClr val="000000"/>
                          </a:solidFill>
                          <a:latin typeface="+mj-ea"/>
                          <a:ea typeface="+mj-ea"/>
                        </a:rPr>
                        <a:t>从需求到退市。</a:t>
                      </a:r>
                    </a:p>
                    <a:p>
                      <a:pPr marL="171450" indent="-171450" algn="l">
                        <a:buFont typeface="Arial" panose="020B0604020202020204" pitchFamily="34" charset="0"/>
                        <a:buChar char="•"/>
                      </a:pPr>
                      <a:r>
                        <a:rPr lang="zh-CN" altLang="en-US" sz="800" dirty="0">
                          <a:solidFill>
                            <a:srgbClr val="000000"/>
                          </a:solidFill>
                          <a:latin typeface="+mj-ea"/>
                          <a:ea typeface="+mj-ea"/>
                        </a:rPr>
                        <a:t>作为数字孪生的母体。</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模块化 </a:t>
                      </a:r>
                      <a:r>
                        <a:rPr lang="en-US" altLang="zh-CN" sz="800" b="1" dirty="0">
                          <a:solidFill>
                            <a:srgbClr val="000000"/>
                          </a:solidFill>
                          <a:latin typeface="+mj-ea"/>
                          <a:ea typeface="+mj-ea"/>
                        </a:rPr>
                        <a:t>(CBB)</a:t>
                      </a:r>
                    </a:p>
                    <a:p>
                      <a:pPr marL="171450" indent="-171450" algn="l">
                        <a:buFont typeface="Arial" panose="020B0604020202020204" pitchFamily="34" charset="0"/>
                        <a:buChar char="•"/>
                      </a:pPr>
                      <a:r>
                        <a:rPr lang="zh-CN" altLang="en-US" sz="800" dirty="0">
                          <a:solidFill>
                            <a:srgbClr val="000000"/>
                          </a:solidFill>
                          <a:latin typeface="+mj-ea"/>
                          <a:ea typeface="+mj-ea"/>
                        </a:rPr>
                        <a:t>建立超级</a:t>
                      </a:r>
                      <a:r>
                        <a:rPr lang="en-US" altLang="zh-CN" sz="800" dirty="0">
                          <a:solidFill>
                            <a:srgbClr val="000000"/>
                          </a:solidFill>
                          <a:latin typeface="+mj-ea"/>
                          <a:ea typeface="+mj-ea"/>
                        </a:rPr>
                        <a:t>BOM</a:t>
                      </a:r>
                      <a:r>
                        <a:rPr lang="zh-CN" altLang="en-US" sz="800" dirty="0">
                          <a:solidFill>
                            <a:srgbClr val="000000"/>
                          </a:solidFill>
                          <a:latin typeface="+mj-ea"/>
                          <a:ea typeface="+mj-ea"/>
                        </a:rPr>
                        <a:t>与公共模块库。</a:t>
                      </a:r>
                    </a:p>
                    <a:p>
                      <a:pPr marL="171450" indent="-171450" algn="l">
                        <a:buFont typeface="Arial" panose="020B0604020202020204" pitchFamily="34" charset="0"/>
                        <a:buChar char="•"/>
                      </a:pPr>
                      <a:r>
                        <a:rPr lang="zh-CN" altLang="en-US" sz="800" dirty="0">
                          <a:solidFill>
                            <a:srgbClr val="000000"/>
                          </a:solidFill>
                          <a:latin typeface="+mj-ea"/>
                          <a:ea typeface="+mj-ea"/>
                        </a:rPr>
                        <a:t>实现设计重用与变更闭环。</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en-US" altLang="zh-CN" sz="800" b="1" dirty="0">
                          <a:solidFill>
                            <a:srgbClr val="000000"/>
                          </a:solidFill>
                          <a:latin typeface="+mj-ea"/>
                          <a:ea typeface="+mj-ea"/>
                        </a:rPr>
                        <a:t>CTO / </a:t>
                      </a:r>
                      <a:r>
                        <a:rPr lang="zh-CN" altLang="en-US" sz="800" b="1" dirty="0">
                          <a:solidFill>
                            <a:srgbClr val="000000"/>
                          </a:solidFill>
                          <a:latin typeface="+mj-ea"/>
                          <a:ea typeface="+mj-ea"/>
                        </a:rPr>
                        <a:t>研发</a:t>
                      </a:r>
                      <a:r>
                        <a:rPr lang="en-US" altLang="zh-CN" sz="800" b="1" dirty="0">
                          <a:solidFill>
                            <a:srgbClr val="000000"/>
                          </a:solidFill>
                          <a:latin typeface="+mj-ea"/>
                          <a:ea typeface="+mj-ea"/>
                        </a:rPr>
                        <a:t>VP</a:t>
                      </a:r>
                      <a:endParaRPr lang="zh-CN" altLang="en-US" sz="800" dirty="0">
                        <a:solidFill>
                          <a:srgbClr val="000000"/>
                        </a:solidFill>
                        <a:latin typeface="+mj-ea"/>
                        <a:ea typeface="+mj-ea"/>
                      </a:endParaRPr>
                    </a:p>
                    <a:p>
                      <a:pPr algn="l"/>
                      <a:r>
                        <a:rPr lang="en-US" altLang="zh-CN" sz="800" dirty="0">
                          <a:solidFill>
                            <a:srgbClr val="000000"/>
                          </a:solidFill>
                          <a:latin typeface="+mj-ea"/>
                          <a:ea typeface="+mj-ea"/>
                        </a:rPr>
                        <a:t>1. </a:t>
                      </a:r>
                      <a:r>
                        <a:rPr lang="zh-CN" altLang="en-US" sz="800" dirty="0">
                          <a:solidFill>
                            <a:srgbClr val="000000"/>
                          </a:solidFill>
                          <a:latin typeface="+mj-ea"/>
                          <a:ea typeface="+mj-ea"/>
                        </a:rPr>
                        <a:t>虚拟验证：在开模前通过仿真发现缺陷，降低试错成本。</a:t>
                      </a:r>
                    </a:p>
                    <a:p>
                      <a:pPr algn="l"/>
                      <a:r>
                        <a:rPr lang="en-US" altLang="zh-CN" sz="800" dirty="0">
                          <a:solidFill>
                            <a:srgbClr val="000000"/>
                          </a:solidFill>
                          <a:latin typeface="+mj-ea"/>
                          <a:ea typeface="+mj-ea"/>
                        </a:rPr>
                        <a:t>2. </a:t>
                      </a:r>
                      <a:r>
                        <a:rPr lang="zh-CN" altLang="en-US" sz="800" dirty="0">
                          <a:solidFill>
                            <a:srgbClr val="000000"/>
                          </a:solidFill>
                          <a:latin typeface="+mj-ea"/>
                          <a:ea typeface="+mj-ea"/>
                        </a:rPr>
                        <a:t>设计即合规：设计阶段自动计算合规性。</a:t>
                      </a:r>
                    </a:p>
                    <a:p>
                      <a:pPr algn="l"/>
                      <a:r>
                        <a:rPr lang="en-US" altLang="zh-CN" sz="800" b="1" dirty="0">
                          <a:solidFill>
                            <a:srgbClr val="000000"/>
                          </a:solidFill>
                          <a:latin typeface="+mj-ea"/>
                          <a:ea typeface="+mj-ea"/>
                        </a:rPr>
                        <a:t>3. </a:t>
                      </a:r>
                      <a:r>
                        <a:rPr lang="zh-CN" altLang="en-US" sz="800" b="1" dirty="0">
                          <a:solidFill>
                            <a:srgbClr val="000000"/>
                          </a:solidFill>
                          <a:latin typeface="+mj-ea"/>
                          <a:ea typeface="+mj-ea"/>
                        </a:rPr>
                        <a:t>变更联动：</a:t>
                      </a:r>
                      <a:r>
                        <a:rPr lang="en-US" altLang="zh-CN" sz="800" b="1" dirty="0">
                          <a:solidFill>
                            <a:srgbClr val="000000"/>
                          </a:solidFill>
                          <a:latin typeface="+mj-ea"/>
                          <a:ea typeface="+mj-ea"/>
                        </a:rPr>
                        <a:t>ECO</a:t>
                      </a:r>
                      <a:r>
                        <a:rPr lang="zh-CN" altLang="en-US" sz="800" b="1" dirty="0">
                          <a:solidFill>
                            <a:srgbClr val="000000"/>
                          </a:solidFill>
                          <a:latin typeface="+mj-ea"/>
                          <a:ea typeface="+mj-ea"/>
                        </a:rPr>
                        <a:t>变更自动触发供应链计划评估。</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extLst>
                  <a:ext uri="{0D108BD9-81ED-4DB2-BD59-A6C34878D82A}">
                    <a16:rowId xmlns:a16="http://schemas.microsoft.com/office/drawing/2014/main" val="4194190424"/>
                  </a:ext>
                </a:extLst>
              </a:tr>
              <a:tr h="882312">
                <a:tc>
                  <a:txBody>
                    <a:bodyPr/>
                    <a:lstStyle/>
                    <a:p>
                      <a:pPr algn="l"/>
                      <a:r>
                        <a:rPr lang="en-US" sz="800" b="1" dirty="0">
                          <a:solidFill>
                            <a:srgbClr val="000000"/>
                          </a:solidFill>
                          <a:latin typeface="+mj-ea"/>
                          <a:ea typeface="+mj-ea"/>
                        </a:rPr>
                        <a:t>VI. </a:t>
                      </a:r>
                      <a:r>
                        <a:rPr lang="zh-CN" altLang="en-US" sz="800" b="1" dirty="0">
                          <a:solidFill>
                            <a:srgbClr val="000000"/>
                          </a:solidFill>
                          <a:latin typeface="+mj-ea"/>
                          <a:ea typeface="+mj-ea"/>
                        </a:rPr>
                        <a:t>良知层</a:t>
                      </a:r>
                    </a:p>
                    <a:p>
                      <a:pPr algn="l"/>
                      <a:br>
                        <a:rPr lang="zh-CN" altLang="en-US" sz="800" b="1" dirty="0">
                          <a:solidFill>
                            <a:srgbClr val="000000"/>
                          </a:solidFill>
                          <a:latin typeface="+mj-ea"/>
                          <a:ea typeface="+mj-ea"/>
                        </a:rPr>
                      </a:br>
                      <a:r>
                        <a:rPr lang="en-US" sz="800" b="1" i="1" dirty="0">
                          <a:solidFill>
                            <a:srgbClr val="000000"/>
                          </a:solidFill>
                          <a:latin typeface="+mj-ea"/>
                          <a:ea typeface="+mj-ea"/>
                        </a:rPr>
                        <a:t>The Conscience</a:t>
                      </a:r>
                      <a:endParaRPr lang="en-US" sz="800" b="1" dirty="0">
                        <a:solidFill>
                          <a:srgbClr val="000000"/>
                        </a:solidFill>
                        <a:latin typeface="+mj-ea"/>
                        <a:ea typeface="+mj-ea"/>
                      </a:endParaRPr>
                    </a:p>
                    <a:p>
                      <a:pPr algn="l"/>
                      <a:br>
                        <a:rPr lang="en-US" sz="800" b="1" dirty="0">
                          <a:solidFill>
                            <a:srgbClr val="000000"/>
                          </a:solidFill>
                          <a:latin typeface="+mj-ea"/>
                          <a:ea typeface="+mj-ea"/>
                        </a:rPr>
                      </a:br>
                      <a:r>
                        <a:rPr lang="en-US" sz="800" b="1" dirty="0">
                          <a:solidFill>
                            <a:srgbClr val="000000"/>
                          </a:solidFill>
                          <a:latin typeface="+mj-ea"/>
                          <a:ea typeface="+mj-ea"/>
                        </a:rPr>
                        <a:t>(</a:t>
                      </a:r>
                      <a:r>
                        <a:rPr lang="zh-CN" altLang="en-US" sz="800" b="1" dirty="0">
                          <a:solidFill>
                            <a:srgbClr val="000000"/>
                          </a:solidFill>
                          <a:latin typeface="+mj-ea"/>
                          <a:ea typeface="+mj-ea"/>
                        </a:rPr>
                        <a:t>底线</a:t>
                      </a:r>
                      <a:r>
                        <a:rPr lang="en-US" altLang="zh-CN" sz="800" b="1" dirty="0">
                          <a:solidFill>
                            <a:srgbClr val="000000"/>
                          </a:solidFill>
                          <a:latin typeface="+mj-ea"/>
                          <a:ea typeface="+mj-ea"/>
                        </a:rPr>
                        <a:t>/</a:t>
                      </a:r>
                      <a:r>
                        <a:rPr lang="zh-CN" altLang="en-US" sz="800" b="1" dirty="0">
                          <a:solidFill>
                            <a:srgbClr val="000000"/>
                          </a:solidFill>
                          <a:latin typeface="+mj-ea"/>
                          <a:ea typeface="+mj-ea"/>
                        </a:rPr>
                        <a:t>约束</a:t>
                      </a:r>
                      <a:r>
                        <a:rPr lang="en-US" altLang="zh-CN" sz="800" b="1" dirty="0">
                          <a:solidFill>
                            <a:srgbClr val="000000"/>
                          </a:solidFill>
                          <a:latin typeface="+mj-ea"/>
                          <a:ea typeface="+mj-ea"/>
                        </a:rPr>
                        <a:t>)</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DACDE4"/>
                    </a:solidFill>
                  </a:tcPr>
                </a:tc>
                <a:tc>
                  <a:txBody>
                    <a:bodyPr/>
                    <a:lstStyle/>
                    <a:p>
                      <a:pPr algn="l"/>
                      <a:r>
                        <a:rPr lang="pt-BR" sz="800" b="1" dirty="0">
                          <a:solidFill>
                            <a:srgbClr val="000000"/>
                          </a:solidFill>
                          <a:latin typeface="+mj-ea"/>
                          <a:ea typeface="+mj-ea"/>
                        </a:rPr>
                        <a:t>ESG / Carbon OS</a:t>
                      </a:r>
                    </a:p>
                    <a:p>
                      <a:pPr algn="l"/>
                      <a:br>
                        <a:rPr lang="pt-BR" sz="800" b="1" dirty="0">
                          <a:solidFill>
                            <a:srgbClr val="000000"/>
                          </a:solidFill>
                          <a:latin typeface="+mj-ea"/>
                          <a:ea typeface="+mj-ea"/>
                        </a:rPr>
                      </a:br>
                      <a:r>
                        <a:rPr lang="pt-BR" sz="800" b="1" dirty="0">
                          <a:solidFill>
                            <a:srgbClr val="000000"/>
                          </a:solidFill>
                          <a:latin typeface="+mj-ea"/>
                          <a:ea typeface="+mj-ea"/>
                        </a:rPr>
                        <a:t>(GRC, Risk)</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marL="0" algn="l" latinLnBrk="1"/>
                      <a:r>
                        <a:rPr lang="zh-CN" altLang="en-US" sz="800" b="1" dirty="0">
                          <a:solidFill>
                            <a:srgbClr val="000000"/>
                          </a:solidFill>
                          <a:latin typeface="+mj-ea"/>
                          <a:ea typeface="+mj-ea"/>
                        </a:rPr>
                        <a:t>生存许可证与影子货币</a:t>
                      </a:r>
                    </a:p>
                    <a:p>
                      <a:pPr marL="171450" indent="-171450" algn="l" latinLnBrk="1">
                        <a:buFont typeface="Arial" panose="020B0604020202020204" pitchFamily="34" charset="0"/>
                        <a:buChar char="•"/>
                      </a:pPr>
                      <a:r>
                        <a:rPr lang="zh-CN" altLang="en-US" sz="800" dirty="0">
                          <a:solidFill>
                            <a:srgbClr val="000000"/>
                          </a:solidFill>
                          <a:latin typeface="+mj-ea"/>
                          <a:ea typeface="+mj-ea"/>
                        </a:rPr>
                        <a:t>将“碳”视为第二货币。应对</a:t>
                      </a:r>
                      <a:r>
                        <a:rPr lang="en-US" altLang="zh-CN" sz="800" dirty="0">
                          <a:solidFill>
                            <a:srgbClr val="000000"/>
                          </a:solidFill>
                          <a:latin typeface="+mj-ea"/>
                          <a:ea typeface="+mj-ea"/>
                        </a:rPr>
                        <a:t>CBAM</a:t>
                      </a:r>
                      <a:r>
                        <a:rPr lang="zh-CN" altLang="en-US" sz="800" dirty="0">
                          <a:solidFill>
                            <a:srgbClr val="000000"/>
                          </a:solidFill>
                          <a:latin typeface="+mj-ea"/>
                          <a:ea typeface="+mj-ea"/>
                        </a:rPr>
                        <a:t>（碳关税）与合规熔断。</a:t>
                      </a:r>
                    </a:p>
                    <a:p>
                      <a:pPr marL="171450" indent="-171450" algn="l" latinLnBrk="1">
                        <a:buFont typeface="Arial" panose="020B0604020202020204" pitchFamily="34" charset="0"/>
                        <a:buChar char="•"/>
                      </a:pPr>
                      <a:r>
                        <a:rPr lang="zh-CN" altLang="en-US" sz="800" dirty="0">
                          <a:solidFill>
                            <a:srgbClr val="000000"/>
                          </a:solidFill>
                          <a:latin typeface="+mj-ea"/>
                          <a:ea typeface="+mj-ea"/>
                        </a:rPr>
                        <a:t>从成本中心转为绿色溢价来源。</a:t>
                      </a:r>
                    </a:p>
                    <a:p>
                      <a:pPr marL="171450" indent="-171450" algn="l" latinLnBrk="1">
                        <a:buFont typeface="Arial" panose="020B0604020202020204" pitchFamily="34" charset="0"/>
                        <a:buChar char="•"/>
                      </a:pPr>
                      <a:r>
                        <a:rPr lang="zh-CN" altLang="en-US" sz="800" b="1" dirty="0">
                          <a:solidFill>
                            <a:srgbClr val="000000"/>
                          </a:solidFill>
                          <a:latin typeface="+mj-ea"/>
                          <a:ea typeface="+mj-ea"/>
                        </a:rPr>
                        <a:t>构建企业“免疫系统”。</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“合规”与“效率”的否决权</a:t>
                      </a:r>
                    </a:p>
                    <a:p>
                      <a:pPr marL="171450" indent="-171450" algn="l">
                        <a:buFont typeface="Arial" panose="020B0604020202020204" pitchFamily="34" charset="0"/>
                        <a:buChar char="•"/>
                      </a:pPr>
                      <a:r>
                        <a:rPr lang="zh-CN" altLang="en-US" sz="800" dirty="0">
                          <a:solidFill>
                            <a:srgbClr val="000000"/>
                          </a:solidFill>
                          <a:latin typeface="+mj-ea"/>
                          <a:ea typeface="+mj-ea"/>
                        </a:rPr>
                        <a:t>阻力源：被视为业务的紧箍咒，增加采购</a:t>
                      </a:r>
                      <a:r>
                        <a:rPr lang="en-US" altLang="zh-CN" sz="800" dirty="0">
                          <a:solidFill>
                            <a:srgbClr val="000000"/>
                          </a:solidFill>
                          <a:latin typeface="+mj-ea"/>
                          <a:ea typeface="+mj-ea"/>
                        </a:rPr>
                        <a:t>/</a:t>
                      </a:r>
                      <a:r>
                        <a:rPr lang="zh-CN" altLang="en-US" sz="800" dirty="0">
                          <a:solidFill>
                            <a:srgbClr val="000000"/>
                          </a:solidFill>
                          <a:latin typeface="+mj-ea"/>
                          <a:ea typeface="+mj-ea"/>
                        </a:rPr>
                        <a:t>物流成本。</a:t>
                      </a:r>
                    </a:p>
                    <a:p>
                      <a:pPr marL="171450" indent="-171450" algn="l">
                        <a:buFont typeface="Arial" panose="020B0604020202020204" pitchFamily="34" charset="0"/>
                        <a:buChar char="•"/>
                      </a:pPr>
                      <a:r>
                        <a:rPr lang="zh-CN" altLang="en-US" sz="800" dirty="0">
                          <a:solidFill>
                            <a:srgbClr val="000000"/>
                          </a:solidFill>
                          <a:latin typeface="+mj-ea"/>
                          <a:ea typeface="+mj-ea"/>
                        </a:rPr>
                        <a:t>本质：外部性内部化。将道德风险转化为财务算账。</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zh-CN" altLang="en-US" sz="800" b="1" dirty="0">
                          <a:solidFill>
                            <a:srgbClr val="000000"/>
                          </a:solidFill>
                          <a:latin typeface="+mj-ea"/>
                          <a:ea typeface="+mj-ea"/>
                        </a:rPr>
                        <a:t>约束满足问题 </a:t>
                      </a:r>
                      <a:r>
                        <a:rPr lang="en-US" altLang="zh-CN" sz="800" b="1" dirty="0">
                          <a:solidFill>
                            <a:srgbClr val="000000"/>
                          </a:solidFill>
                          <a:latin typeface="+mj-ea"/>
                          <a:ea typeface="+mj-ea"/>
                        </a:rPr>
                        <a:t>(</a:t>
                      </a:r>
                      <a:r>
                        <a:rPr lang="en-US" sz="800" b="1" dirty="0">
                          <a:solidFill>
                            <a:srgbClr val="000000"/>
                          </a:solidFill>
                          <a:latin typeface="+mj-ea"/>
                          <a:ea typeface="+mj-ea"/>
                        </a:rPr>
                        <a:t>Constraint Satisfaction)</a:t>
                      </a:r>
                    </a:p>
                    <a:p>
                      <a:pPr marL="171450" indent="-171450" algn="l">
                        <a:buFont typeface="Arial" panose="020B0604020202020204" pitchFamily="34" charset="0"/>
                        <a:buChar char="•"/>
                      </a:pPr>
                      <a:r>
                        <a:rPr lang="en-US" sz="800" dirty="0">
                          <a:solidFill>
                            <a:srgbClr val="000000"/>
                          </a:solidFill>
                          <a:latin typeface="+mj-ea"/>
                          <a:ea typeface="+mj-ea"/>
                        </a:rPr>
                        <a:t>ESG</a:t>
                      </a:r>
                      <a:r>
                        <a:rPr lang="zh-CN" altLang="en-US" sz="800" dirty="0">
                          <a:solidFill>
                            <a:srgbClr val="000000"/>
                          </a:solidFill>
                          <a:latin typeface="+mj-ea"/>
                          <a:ea typeface="+mj-ea"/>
                        </a:rPr>
                        <a:t>不是目标，是</a:t>
                      </a:r>
                      <a:r>
                        <a:rPr lang="zh-CN" altLang="en-US" sz="800" b="1" dirty="0">
                          <a:solidFill>
                            <a:srgbClr val="000000"/>
                          </a:solidFill>
                          <a:latin typeface="+mj-ea"/>
                          <a:ea typeface="+mj-ea"/>
                        </a:rPr>
                        <a:t>硬约束</a:t>
                      </a:r>
                      <a:r>
                        <a:rPr lang="zh-CN" altLang="en-US" sz="800" dirty="0">
                          <a:solidFill>
                            <a:srgbClr val="000000"/>
                          </a:solidFill>
                          <a:latin typeface="+mj-ea"/>
                          <a:ea typeface="+mj-ea"/>
                        </a:rPr>
                        <a:t>。</a:t>
                      </a:r>
                    </a:p>
                    <a:p>
                      <a:pPr marL="171450" indent="-171450" algn="l">
                        <a:buFont typeface="Arial" panose="020B0604020202020204" pitchFamily="34" charset="0"/>
                        <a:buChar char="•"/>
                      </a:pPr>
                      <a:r>
                        <a:rPr lang="zh-CN" altLang="en-US" sz="800" dirty="0">
                          <a:solidFill>
                            <a:srgbClr val="000000"/>
                          </a:solidFill>
                          <a:latin typeface="+mj-ea"/>
                          <a:ea typeface="+mj-ea"/>
                        </a:rPr>
                        <a:t>不满足约束</a:t>
                      </a:r>
                      <a:r>
                        <a:rPr lang="en-US" altLang="zh-CN" sz="800" dirty="0">
                          <a:solidFill>
                            <a:srgbClr val="000000"/>
                          </a:solidFill>
                          <a:latin typeface="+mj-ea"/>
                          <a:ea typeface="+mj-ea"/>
                        </a:rPr>
                        <a:t>=</a:t>
                      </a:r>
                      <a:r>
                        <a:rPr lang="zh-CN" altLang="en-US" sz="800" dirty="0">
                          <a:solidFill>
                            <a:srgbClr val="000000"/>
                          </a:solidFill>
                          <a:latin typeface="+mj-ea"/>
                          <a:ea typeface="+mj-ea"/>
                        </a:rPr>
                        <a:t>解空间为零（业务熔断）。</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审计级 </a:t>
                      </a:r>
                      <a:r>
                        <a:rPr lang="en-US" altLang="zh-CN" sz="800" b="1" dirty="0">
                          <a:solidFill>
                            <a:srgbClr val="000000"/>
                          </a:solidFill>
                          <a:latin typeface="+mj-ea"/>
                          <a:ea typeface="+mj-ea"/>
                        </a:rPr>
                        <a:t>(</a:t>
                      </a:r>
                      <a:r>
                        <a:rPr lang="en-US" sz="800" b="1" dirty="0">
                          <a:solidFill>
                            <a:srgbClr val="000000"/>
                          </a:solidFill>
                          <a:latin typeface="+mj-ea"/>
                          <a:ea typeface="+mj-ea"/>
                        </a:rPr>
                        <a:t>Audit-Grade)</a:t>
                      </a:r>
                    </a:p>
                    <a:p>
                      <a:pPr marL="171450" indent="-171450" algn="l">
                        <a:buFont typeface="Arial" panose="020B0604020202020204" pitchFamily="34" charset="0"/>
                        <a:buChar char="•"/>
                      </a:pPr>
                      <a:r>
                        <a:rPr lang="zh-CN" altLang="en-US" sz="800" dirty="0">
                          <a:solidFill>
                            <a:srgbClr val="000000"/>
                          </a:solidFill>
                          <a:latin typeface="+mj-ea"/>
                          <a:ea typeface="+mj-ea"/>
                        </a:rPr>
                        <a:t>不可篡改、可追溯。</a:t>
                      </a:r>
                    </a:p>
                    <a:p>
                      <a:pPr marL="171450" indent="-171450" algn="l">
                        <a:buFont typeface="Arial" panose="020B0604020202020204" pitchFamily="34" charset="0"/>
                        <a:buChar char="•"/>
                      </a:pPr>
                      <a:br>
                        <a:rPr lang="zh-CN" altLang="en-US" sz="800" dirty="0">
                          <a:solidFill>
                            <a:srgbClr val="000000"/>
                          </a:solidFill>
                          <a:latin typeface="+mj-ea"/>
                          <a:ea typeface="+mj-ea"/>
                        </a:rPr>
                      </a:br>
                      <a:r>
                        <a:rPr lang="zh-CN" altLang="en-US" sz="800" dirty="0">
                          <a:solidFill>
                            <a:srgbClr val="000000"/>
                          </a:solidFill>
                          <a:latin typeface="+mj-ea"/>
                          <a:ea typeface="+mj-ea"/>
                        </a:rPr>
                        <a:t>需满足</a:t>
                      </a:r>
                      <a:r>
                        <a:rPr lang="en-US" sz="800" dirty="0">
                          <a:solidFill>
                            <a:srgbClr val="000000"/>
                          </a:solidFill>
                          <a:latin typeface="+mj-ea"/>
                          <a:ea typeface="+mj-ea"/>
                        </a:rPr>
                        <a:t>ISO 14067/GHG</a:t>
                      </a:r>
                      <a:r>
                        <a:rPr lang="zh-CN" altLang="en-US" sz="800" dirty="0">
                          <a:solidFill>
                            <a:srgbClr val="000000"/>
                          </a:solidFill>
                          <a:latin typeface="+mj-ea"/>
                          <a:ea typeface="+mj-ea"/>
                        </a:rPr>
                        <a:t>标准。</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zh-CN" altLang="en-US" sz="800" b="1" dirty="0">
                          <a:solidFill>
                            <a:srgbClr val="000000"/>
                          </a:solidFill>
                          <a:latin typeface="+mj-ea"/>
                          <a:ea typeface="+mj-ea"/>
                        </a:rPr>
                        <a:t>价值链全域 </a:t>
                      </a:r>
                      <a:r>
                        <a:rPr lang="en-US" altLang="zh-CN" sz="800" b="1" dirty="0">
                          <a:solidFill>
                            <a:srgbClr val="000000"/>
                          </a:solidFill>
                          <a:latin typeface="+mj-ea"/>
                          <a:ea typeface="+mj-ea"/>
                        </a:rPr>
                        <a:t>(Scope 3) + </a:t>
                      </a:r>
                      <a:r>
                        <a:rPr lang="zh-CN" altLang="en-US" sz="800" b="1" dirty="0">
                          <a:solidFill>
                            <a:srgbClr val="000000"/>
                          </a:solidFill>
                          <a:latin typeface="+mj-ea"/>
                          <a:ea typeface="+mj-ea"/>
                        </a:rPr>
                        <a:t>多级穿透</a:t>
                      </a:r>
                    </a:p>
                    <a:p>
                      <a:pPr marL="171450" indent="-171450" algn="l">
                        <a:buFont typeface="Arial" panose="020B0604020202020204" pitchFamily="34" charset="0"/>
                        <a:buChar char="•"/>
                      </a:pPr>
                      <a:r>
                        <a:rPr lang="zh-CN" altLang="en-US" sz="800" dirty="0">
                          <a:solidFill>
                            <a:srgbClr val="000000"/>
                          </a:solidFill>
                          <a:latin typeface="+mj-ea"/>
                          <a:ea typeface="+mj-ea"/>
                        </a:rPr>
                        <a:t>穿透企业围墙，延伸至二级供应商（冲突矿产）与回收端。</a:t>
                      </a:r>
                    </a:p>
                    <a:p>
                      <a:pPr marL="171450" indent="-171450" algn="l">
                        <a:buFont typeface="Arial" panose="020B0604020202020204" pitchFamily="34" charset="0"/>
                        <a:buChar char="•"/>
                      </a:pPr>
                      <a:r>
                        <a:rPr lang="zh-CN" altLang="en-US" sz="800" b="1" dirty="0">
                          <a:solidFill>
                            <a:srgbClr val="000000"/>
                          </a:solidFill>
                          <a:latin typeface="+mj-ea"/>
                          <a:ea typeface="+mj-ea"/>
                        </a:rPr>
                        <a:t>监控地缘政治与制裁名单。</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tc>
                  <a:txBody>
                    <a:bodyPr/>
                    <a:lstStyle/>
                    <a:p>
                      <a:pPr algn="l"/>
                      <a:r>
                        <a:rPr lang="zh-CN" altLang="en-US" sz="800" b="1" dirty="0">
                          <a:solidFill>
                            <a:srgbClr val="000000"/>
                          </a:solidFill>
                          <a:latin typeface="+mj-ea"/>
                          <a:ea typeface="+mj-ea"/>
                        </a:rPr>
                        <a:t>嵌入式规则 </a:t>
                      </a:r>
                      <a:r>
                        <a:rPr lang="en-US" altLang="zh-CN" sz="800" b="1" dirty="0">
                          <a:solidFill>
                            <a:srgbClr val="000000"/>
                          </a:solidFill>
                          <a:latin typeface="+mj-ea"/>
                          <a:ea typeface="+mj-ea"/>
                        </a:rPr>
                        <a:t>(Embedded)</a:t>
                      </a:r>
                    </a:p>
                    <a:p>
                      <a:pPr marL="171450" indent="-171450" algn="l">
                        <a:buFont typeface="Arial" panose="020B0604020202020204" pitchFamily="34" charset="0"/>
                        <a:buChar char="•"/>
                      </a:pPr>
                      <a:r>
                        <a:rPr lang="zh-CN" altLang="en-US" sz="800" dirty="0">
                          <a:solidFill>
                            <a:srgbClr val="000000"/>
                          </a:solidFill>
                          <a:latin typeface="+mj-ea"/>
                          <a:ea typeface="+mj-ea"/>
                        </a:rPr>
                        <a:t>不能做成外挂报表，必须将碳参数</a:t>
                      </a:r>
                      <a:r>
                        <a:rPr lang="zh-CN" altLang="en-US" sz="800" b="1" dirty="0">
                          <a:solidFill>
                            <a:srgbClr val="000000"/>
                          </a:solidFill>
                          <a:latin typeface="+mj-ea"/>
                          <a:ea typeface="+mj-ea"/>
                        </a:rPr>
                        <a:t>与合规黑名单</a:t>
                      </a:r>
                      <a:r>
                        <a:rPr lang="zh-CN" altLang="en-US" sz="800" dirty="0">
                          <a:solidFill>
                            <a:srgbClr val="000000"/>
                          </a:solidFill>
                          <a:latin typeface="+mj-ea"/>
                          <a:ea typeface="+mj-ea"/>
                        </a:rPr>
                        <a:t>“基因编辑”进</a:t>
                      </a:r>
                      <a:r>
                        <a:rPr lang="en-US" altLang="zh-CN" sz="800" dirty="0">
                          <a:solidFill>
                            <a:srgbClr val="000000"/>
                          </a:solidFill>
                          <a:latin typeface="+mj-ea"/>
                          <a:ea typeface="+mj-ea"/>
                        </a:rPr>
                        <a:t>BOM</a:t>
                      </a:r>
                      <a:r>
                        <a:rPr lang="zh-CN" altLang="en-US" sz="800" dirty="0">
                          <a:solidFill>
                            <a:srgbClr val="000000"/>
                          </a:solidFill>
                          <a:latin typeface="+mj-ea"/>
                          <a:ea typeface="+mj-ea"/>
                        </a:rPr>
                        <a:t>、主数据与计划算法内核。</a:t>
                      </a: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EEEEEE"/>
                    </a:solidFill>
                  </a:tcPr>
                </a:tc>
                <a:tc>
                  <a:txBody>
                    <a:bodyPr/>
                    <a:lstStyle/>
                    <a:p>
                      <a:pPr algn="l"/>
                      <a:r>
                        <a:rPr lang="en-US" altLang="zh-CN" sz="800" b="1" dirty="0">
                          <a:solidFill>
                            <a:srgbClr val="000000"/>
                          </a:solidFill>
                          <a:latin typeface="+mj-ea"/>
                          <a:ea typeface="+mj-ea"/>
                        </a:rPr>
                        <a:t>CSO / </a:t>
                      </a:r>
                      <a:r>
                        <a:rPr lang="zh-CN" altLang="en-US" sz="800" b="1" dirty="0">
                          <a:solidFill>
                            <a:srgbClr val="000000"/>
                          </a:solidFill>
                          <a:latin typeface="+mj-ea"/>
                          <a:ea typeface="+mj-ea"/>
                        </a:rPr>
                        <a:t>首席风险官</a:t>
                      </a:r>
                      <a:endParaRPr lang="zh-CN" altLang="en-US" sz="800" dirty="0">
                        <a:solidFill>
                          <a:srgbClr val="000000"/>
                        </a:solidFill>
                        <a:latin typeface="+mj-ea"/>
                        <a:ea typeface="+mj-ea"/>
                      </a:endParaRPr>
                    </a:p>
                    <a:p>
                      <a:pPr algn="l"/>
                      <a:r>
                        <a:rPr lang="en-US" altLang="zh-CN" sz="800" dirty="0">
                          <a:solidFill>
                            <a:srgbClr val="000000"/>
                          </a:solidFill>
                          <a:latin typeface="+mj-ea"/>
                          <a:ea typeface="+mj-ea"/>
                        </a:rPr>
                        <a:t>1. </a:t>
                      </a:r>
                      <a:r>
                        <a:rPr lang="zh-CN" altLang="en-US" sz="800" dirty="0">
                          <a:solidFill>
                            <a:srgbClr val="000000"/>
                          </a:solidFill>
                          <a:latin typeface="+mj-ea"/>
                          <a:ea typeface="+mj-ea"/>
                        </a:rPr>
                        <a:t>合规熔断：自动拦截违规供应商（如强迫劳动），避免品牌暴雷。</a:t>
                      </a:r>
                    </a:p>
                    <a:p>
                      <a:pPr algn="l"/>
                      <a:r>
                        <a:rPr lang="en-US" altLang="zh-CN" sz="800" dirty="0">
                          <a:solidFill>
                            <a:srgbClr val="000000"/>
                          </a:solidFill>
                          <a:latin typeface="+mj-ea"/>
                          <a:ea typeface="+mj-ea"/>
                        </a:rPr>
                        <a:t>2. </a:t>
                      </a:r>
                      <a:r>
                        <a:rPr lang="zh-CN" altLang="en-US" sz="800" dirty="0">
                          <a:solidFill>
                            <a:srgbClr val="000000"/>
                          </a:solidFill>
                          <a:latin typeface="+mj-ea"/>
                          <a:ea typeface="+mj-ea"/>
                        </a:rPr>
                        <a:t>绿色寻源：基于碳成本的最优配额分配。</a:t>
                      </a:r>
                    </a:p>
                    <a:p>
                      <a:pPr algn="l"/>
                      <a:r>
                        <a:rPr lang="en-US" altLang="zh-CN" sz="800" b="1" dirty="0">
                          <a:solidFill>
                            <a:srgbClr val="000000"/>
                          </a:solidFill>
                          <a:latin typeface="+mj-ea"/>
                          <a:ea typeface="+mj-ea"/>
                        </a:rPr>
                        <a:t>3. </a:t>
                      </a:r>
                      <a:r>
                        <a:rPr lang="zh-CN" altLang="en-US" sz="800" b="1" dirty="0">
                          <a:solidFill>
                            <a:srgbClr val="000000"/>
                          </a:solidFill>
                          <a:latin typeface="+mj-ea"/>
                          <a:ea typeface="+mj-ea"/>
                        </a:rPr>
                        <a:t>经营韧性：在极端风险下保障最小化生存能力。</a:t>
                      </a:r>
                      <a:endParaRPr lang="zh-CN" altLang="en-US" sz="800" dirty="0">
                        <a:solidFill>
                          <a:srgbClr val="000000"/>
                        </a:solidFill>
                        <a:latin typeface="+mj-ea"/>
                        <a:ea typeface="+mj-ea"/>
                      </a:endParaRPr>
                    </a:p>
                  </a:txBody>
                  <a:tcPr marL="11022" marR="11022" marT="5511" marB="5511"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FFFFFF"/>
                    </a:solidFill>
                  </a:tcPr>
                </a:tc>
                <a:extLst>
                  <a:ext uri="{0D108BD9-81ED-4DB2-BD59-A6C34878D82A}">
                    <a16:rowId xmlns:a16="http://schemas.microsoft.com/office/drawing/2014/main" val="1398382034"/>
                  </a:ext>
                </a:extLst>
              </a:tr>
            </a:tbl>
          </a:graphicData>
        </a:graphic>
      </p:graphicFrame>
    </p:spTree>
    <p:extLst>
      <p:ext uri="{BB962C8B-B14F-4D97-AF65-F5344CB8AC3E}">
        <p14:creationId xmlns:p14="http://schemas.microsoft.com/office/powerpoint/2010/main" val="254849248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CAFDBB8-1B39-D7DA-646F-85C445D65663}"/>
              </a:ext>
            </a:extLst>
          </p:cNvPr>
          <p:cNvSpPr>
            <a:spLocks noGrp="1"/>
          </p:cNvSpPr>
          <p:nvPr>
            <p:ph type="title"/>
          </p:nvPr>
        </p:nvSpPr>
        <p:spPr/>
        <p:txBody>
          <a:bodyPr/>
          <a:lstStyle/>
          <a:p>
            <a:r>
              <a:rPr lang="zh-CN" altLang="en-US" dirty="0"/>
              <a:t>价值量化</a:t>
            </a:r>
          </a:p>
        </p:txBody>
      </p:sp>
      <mc:AlternateContent xmlns:mc="http://schemas.openxmlformats.org/markup-compatibility/2006" xmlns:a14="http://schemas.microsoft.com/office/drawing/2010/main">
        <mc:Choice Requires="a14">
          <p:graphicFrame>
            <p:nvGraphicFramePr>
              <p:cNvPr id="8" name="表格 7">
                <a:extLst>
                  <a:ext uri="{FF2B5EF4-FFF2-40B4-BE49-F238E27FC236}">
                    <a16:creationId xmlns:a16="http://schemas.microsoft.com/office/drawing/2014/main" id="{6DADACC5-1432-1376-3F76-6FDABBA22DF4}"/>
                  </a:ext>
                </a:extLst>
              </p:cNvPr>
              <p:cNvGraphicFramePr>
                <a:graphicFrameLocks noGrp="1"/>
              </p:cNvGraphicFramePr>
              <p:nvPr>
                <p:extLst>
                  <p:ext uri="{D42A27DB-BD31-4B8C-83A1-F6EECF244321}">
                    <p14:modId xmlns:p14="http://schemas.microsoft.com/office/powerpoint/2010/main" val="940370259"/>
                  </p:ext>
                </p:extLst>
              </p:nvPr>
            </p:nvGraphicFramePr>
            <p:xfrm>
              <a:off x="714242" y="784922"/>
              <a:ext cx="11292160" cy="5806535"/>
            </p:xfrm>
            <a:graphic>
              <a:graphicData uri="http://schemas.openxmlformats.org/drawingml/2006/table">
                <a:tbl>
                  <a:tblPr firstRow="1" firstCol="1" lastRow="1" lastCol="1" bandRow="1" bandCol="1"/>
                  <a:tblGrid>
                    <a:gridCol w="998976">
                      <a:extLst>
                        <a:ext uri="{9D8B030D-6E8A-4147-A177-3AD203B41FA5}">
                          <a16:colId xmlns:a16="http://schemas.microsoft.com/office/drawing/2014/main" val="1868414866"/>
                        </a:ext>
                      </a:extLst>
                    </a:gridCol>
                    <a:gridCol w="1545568">
                      <a:extLst>
                        <a:ext uri="{9D8B030D-6E8A-4147-A177-3AD203B41FA5}">
                          <a16:colId xmlns:a16="http://schemas.microsoft.com/office/drawing/2014/main" val="4084216710"/>
                        </a:ext>
                      </a:extLst>
                    </a:gridCol>
                    <a:gridCol w="2377069">
                      <a:extLst>
                        <a:ext uri="{9D8B030D-6E8A-4147-A177-3AD203B41FA5}">
                          <a16:colId xmlns:a16="http://schemas.microsoft.com/office/drawing/2014/main" val="326793977"/>
                        </a:ext>
                      </a:extLst>
                    </a:gridCol>
                    <a:gridCol w="4093198">
                      <a:extLst>
                        <a:ext uri="{9D8B030D-6E8A-4147-A177-3AD203B41FA5}">
                          <a16:colId xmlns:a16="http://schemas.microsoft.com/office/drawing/2014/main" val="2213404678"/>
                        </a:ext>
                      </a:extLst>
                    </a:gridCol>
                    <a:gridCol w="2277349">
                      <a:extLst>
                        <a:ext uri="{9D8B030D-6E8A-4147-A177-3AD203B41FA5}">
                          <a16:colId xmlns:a16="http://schemas.microsoft.com/office/drawing/2014/main" val="363111000"/>
                        </a:ext>
                      </a:extLst>
                    </a:gridCol>
                  </a:tblGrid>
                  <a:tr h="180721">
                    <a:tc>
                      <a:txBody>
                        <a:bodyPr/>
                        <a:lstStyle/>
                        <a:p>
                          <a:pPr algn="l">
                            <a:lnSpc>
                              <a:spcPct val="115000"/>
                            </a:lnSpc>
                            <a:spcAft>
                              <a:spcPts val="800"/>
                            </a:spcAft>
                          </a:pPr>
                          <a:r>
                            <a:rPr lang="zh-CN" sz="1100" b="1" kern="0" dirty="0">
                              <a:solidFill>
                                <a:srgbClr val="FFFFFF"/>
                              </a:solidFill>
                              <a:effectLst/>
                              <a:latin typeface="+mj-ea"/>
                              <a:ea typeface="+mj-ea"/>
                              <a:cs typeface="Arial" panose="020B0604020202020204" pitchFamily="34" charset="0"/>
                            </a:rPr>
                            <a:t>价值维度 </a:t>
                          </a:r>
                          <a:endParaRPr lang="zh-CN" sz="120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674188"/>
                        </a:solidFill>
                      </a:tcPr>
                    </a:tc>
                    <a:tc>
                      <a:txBody>
                        <a:bodyPr/>
                        <a:lstStyle/>
                        <a:p>
                          <a:pPr algn="l">
                            <a:lnSpc>
                              <a:spcPct val="115000"/>
                            </a:lnSpc>
                            <a:spcAft>
                              <a:spcPts val="800"/>
                            </a:spcAft>
                          </a:pPr>
                          <a:r>
                            <a:rPr lang="zh-CN" sz="1100" b="1" kern="0" dirty="0">
                              <a:solidFill>
                                <a:srgbClr val="FFFFFF"/>
                              </a:solidFill>
                              <a:effectLst/>
                              <a:latin typeface="+mj-ea"/>
                              <a:ea typeface="+mj-ea"/>
                              <a:cs typeface="Arial" panose="020B0604020202020204" pitchFamily="34" charset="0"/>
                            </a:rPr>
                            <a:t>核心财务指标 </a:t>
                          </a:r>
                          <a:endParaRPr lang="zh-CN" sz="120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674188"/>
                        </a:solidFill>
                      </a:tcPr>
                    </a:tc>
                    <a:tc>
                      <a:txBody>
                        <a:bodyPr/>
                        <a:lstStyle/>
                        <a:p>
                          <a:pPr algn="l">
                            <a:lnSpc>
                              <a:spcPct val="115000"/>
                            </a:lnSpc>
                            <a:spcAft>
                              <a:spcPts val="800"/>
                            </a:spcAft>
                          </a:pPr>
                          <a:r>
                            <a:rPr lang="zh-CN" sz="1100" b="1" kern="0" dirty="0">
                              <a:solidFill>
                                <a:srgbClr val="FFFFFF"/>
                              </a:solidFill>
                              <a:effectLst/>
                              <a:latin typeface="+mj-ea"/>
                              <a:ea typeface="+mj-ea"/>
                              <a:cs typeface="Arial" panose="020B0604020202020204" pitchFamily="34" charset="0"/>
                            </a:rPr>
                            <a:t>价值计算公式 </a:t>
                          </a:r>
                          <a:endParaRPr lang="zh-CN" sz="120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674188"/>
                        </a:solidFill>
                      </a:tcPr>
                    </a:tc>
                    <a:tc>
                      <a:txBody>
                        <a:bodyPr/>
                        <a:lstStyle/>
                        <a:p>
                          <a:pPr algn="l">
                            <a:lnSpc>
                              <a:spcPct val="115000"/>
                            </a:lnSpc>
                            <a:spcAft>
                              <a:spcPts val="800"/>
                            </a:spcAft>
                          </a:pPr>
                          <a:r>
                            <a:rPr lang="zh-CN" sz="1100" b="1" kern="0" dirty="0">
                              <a:solidFill>
                                <a:srgbClr val="FFFFFF"/>
                              </a:solidFill>
                              <a:effectLst/>
                              <a:latin typeface="+mj-ea"/>
                              <a:ea typeface="+mj-ea"/>
                              <a:cs typeface="Arial" panose="020B0604020202020204" pitchFamily="34" charset="0"/>
                            </a:rPr>
                            <a:t>缩写注解与变量释义</a:t>
                          </a:r>
                          <a:endParaRPr lang="zh-CN" sz="120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674188"/>
                        </a:solidFill>
                      </a:tcPr>
                    </a:tc>
                    <a:tc>
                      <a:txBody>
                        <a:bodyPr/>
                        <a:lstStyle/>
                        <a:p>
                          <a:pPr algn="l">
                            <a:lnSpc>
                              <a:spcPct val="115000"/>
                            </a:lnSpc>
                            <a:spcAft>
                              <a:spcPts val="800"/>
                            </a:spcAft>
                          </a:pPr>
                          <a:r>
                            <a:rPr lang="en-US" sz="1100" b="1" kern="0" dirty="0">
                              <a:solidFill>
                                <a:srgbClr val="FFFFFF"/>
                              </a:solidFill>
                              <a:effectLst/>
                              <a:latin typeface="+mj-ea"/>
                              <a:ea typeface="+mj-ea"/>
                              <a:cs typeface="Arial" panose="020B0604020202020204" pitchFamily="34" charset="0"/>
                            </a:rPr>
                            <a:t>IPC </a:t>
                          </a:r>
                          <a:r>
                            <a:rPr lang="zh-CN" sz="1100" b="1" kern="0" dirty="0">
                              <a:solidFill>
                                <a:srgbClr val="FFFFFF"/>
                              </a:solidFill>
                              <a:effectLst/>
                              <a:latin typeface="+mj-ea"/>
                              <a:ea typeface="+mj-ea"/>
                              <a:cs typeface="Arial" panose="020B0604020202020204" pitchFamily="34" charset="0"/>
                            </a:rPr>
                            <a:t>驱动逻辑 </a:t>
                          </a:r>
                          <a:endParaRPr lang="zh-CN" sz="120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674188"/>
                        </a:solidFill>
                      </a:tcPr>
                    </a:tc>
                    <a:extLst>
                      <a:ext uri="{0D108BD9-81ED-4DB2-BD59-A6C34878D82A}">
                        <a16:rowId xmlns:a16="http://schemas.microsoft.com/office/drawing/2014/main" val="2874713790"/>
                      </a:ext>
                    </a:extLst>
                  </a:tr>
                  <a:tr h="931015">
                    <a:tc>
                      <a:txBody>
                        <a:bodyPr/>
                        <a:lstStyle/>
                        <a:p>
                          <a:pPr algn="ctr">
                            <a:lnSpc>
                              <a:spcPct val="115000"/>
                            </a:lnSpc>
                            <a:spcAft>
                              <a:spcPts val="800"/>
                            </a:spcAft>
                          </a:pPr>
                          <a:r>
                            <a:rPr lang="zh-CN" sz="1050" b="1" kern="0" dirty="0">
                              <a:solidFill>
                                <a:srgbClr val="000000"/>
                              </a:solidFill>
                              <a:effectLst/>
                              <a:latin typeface="+mj-ea"/>
                              <a:ea typeface="+mj-ea"/>
                              <a:cs typeface="Arial" panose="020B0604020202020204" pitchFamily="34" charset="0"/>
                            </a:rPr>
                            <a:t>资产负债表</a:t>
                          </a:r>
                          <a:endParaRPr lang="en-US" altLang="zh-CN" sz="1050" b="1" kern="0" dirty="0">
                            <a:solidFill>
                              <a:srgbClr val="000000"/>
                            </a:solidFill>
                            <a:effectLst/>
                            <a:latin typeface="+mj-ea"/>
                            <a:ea typeface="+mj-ea"/>
                            <a:cs typeface="Arial" panose="020B0604020202020204" pitchFamily="34" charset="0"/>
                          </a:endParaRPr>
                        </a:p>
                        <a:p>
                          <a:pPr algn="ctr">
                            <a:lnSpc>
                              <a:spcPct val="115000"/>
                            </a:lnSpc>
                            <a:spcAft>
                              <a:spcPts val="800"/>
                            </a:spcAft>
                          </a:pPr>
                          <a:r>
                            <a:rPr lang="en-US" sz="1050" b="1" kern="0" dirty="0">
                              <a:solidFill>
                                <a:srgbClr val="000000"/>
                              </a:solidFill>
                              <a:effectLst/>
                              <a:latin typeface="+mj-ea"/>
                              <a:ea typeface="+mj-ea"/>
                              <a:cs typeface="Arial" panose="020B0604020202020204" pitchFamily="34" charset="0"/>
                            </a:rPr>
                            <a:t>(</a:t>
                          </a:r>
                          <a:r>
                            <a:rPr lang="zh-CN" sz="1050" b="1" kern="0" dirty="0">
                              <a:solidFill>
                                <a:srgbClr val="000000"/>
                              </a:solidFill>
                              <a:effectLst/>
                              <a:latin typeface="+mj-ea"/>
                              <a:ea typeface="+mj-ea"/>
                              <a:cs typeface="Arial" panose="020B0604020202020204" pitchFamily="34" charset="0"/>
                            </a:rPr>
                            <a:t>盘活资产</a:t>
                          </a:r>
                          <a:r>
                            <a:rPr lang="en-US" sz="1050" b="1" kern="0" dirty="0">
                              <a:solidFill>
                                <a:srgbClr val="000000"/>
                              </a:solidFill>
                              <a:effectLst/>
                              <a:latin typeface="+mj-ea"/>
                              <a:ea typeface="+mj-ea"/>
                              <a:cs typeface="Arial" panose="020B0604020202020204" pitchFamily="34" charset="0"/>
                            </a:rPr>
                            <a:t>/</a:t>
                          </a:r>
                          <a:r>
                            <a:rPr lang="zh-CN" sz="1050" b="1" kern="0" dirty="0">
                              <a:solidFill>
                                <a:srgbClr val="000000"/>
                              </a:solidFill>
                              <a:effectLst/>
                              <a:latin typeface="+mj-ea"/>
                              <a:ea typeface="+mj-ea"/>
                              <a:cs typeface="Arial" panose="020B0604020202020204" pitchFamily="34" charset="0"/>
                            </a:rPr>
                            <a:t>造血</a:t>
                          </a:r>
                          <a:r>
                            <a:rPr lang="en-US" sz="1050" b="1" kern="0" dirty="0">
                              <a:solidFill>
                                <a:srgbClr val="000000"/>
                              </a:solidFill>
                              <a:effectLst/>
                              <a:latin typeface="+mj-ea"/>
                              <a:ea typeface="+mj-ea"/>
                              <a:cs typeface="Arial" panose="020B0604020202020204" pitchFamily="34" charset="0"/>
                            </a:rPr>
                            <a:t>)</a:t>
                          </a:r>
                          <a:endParaRPr lang="zh-CN" sz="105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DACDE4"/>
                        </a:solidFill>
                      </a:tcPr>
                    </a:tc>
                    <a:tc>
                      <a:txBody>
                        <a:bodyPr/>
                        <a:lstStyle/>
                        <a:p>
                          <a:pPr algn="ctr">
                            <a:lnSpc>
                              <a:spcPct val="115000"/>
                            </a:lnSpc>
                            <a:spcAft>
                              <a:spcPts val="800"/>
                            </a:spcAft>
                          </a:pPr>
                          <a:r>
                            <a:rPr lang="zh-CN" sz="900" b="1" kern="0">
                              <a:solidFill>
                                <a:schemeClr val="tx1"/>
                              </a:solidFill>
                              <a:effectLst/>
                              <a:latin typeface="+mj-ea"/>
                              <a:ea typeface="+mj-ea"/>
                              <a:cs typeface="Arial" panose="020B0604020202020204" pitchFamily="34" charset="0"/>
                            </a:rPr>
                            <a:t>现金释放</a:t>
                          </a:r>
                          <a:endParaRPr lang="zh-CN" sz="900" b="1" kern="100">
                            <a:solidFill>
                              <a:schemeClr val="tx1"/>
                            </a:solidFill>
                            <a:effectLst/>
                            <a:latin typeface="+mj-ea"/>
                            <a:ea typeface="+mj-ea"/>
                            <a:cs typeface="Times New Roman" panose="02020603050405020304" pitchFamily="18" charset="0"/>
                          </a:endParaRPr>
                        </a:p>
                        <a:p>
                          <a:pPr algn="ctr">
                            <a:lnSpc>
                              <a:spcPct val="115000"/>
                            </a:lnSpc>
                            <a:spcAft>
                              <a:spcPts val="800"/>
                            </a:spcAft>
                          </a:pPr>
                          <a:r>
                            <a:rPr lang="en-US" sz="900" b="1" kern="0">
                              <a:solidFill>
                                <a:schemeClr val="tx1"/>
                              </a:solidFill>
                              <a:effectLst/>
                              <a:latin typeface="+mj-ea"/>
                              <a:ea typeface="+mj-ea"/>
                              <a:cs typeface="Arial" panose="020B0604020202020204" pitchFamily="34" charset="0"/>
                            </a:rPr>
                            <a:t>(Cash Released)</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14:m>
                            <m:oMathPara xmlns:m="http://schemas.openxmlformats.org/officeDocument/2006/math">
                              <m:oMathParaPr>
                                <m:jc m:val="centerGroup"/>
                              </m:oMathParaPr>
                              <m:oMath xmlns:m="http://schemas.openxmlformats.org/officeDocument/2006/math">
                                <m:r>
                                  <a:rPr lang="en-US" sz="900" b="1" i="1" kern="0" smtClean="0">
                                    <a:solidFill>
                                      <a:schemeClr val="tx1"/>
                                    </a:solidFill>
                                    <a:effectLst/>
                                    <a:latin typeface="Cambria Math" panose="02040503050406030204" pitchFamily="18" charset="0"/>
                                    <a:ea typeface="+mj-ea"/>
                                    <a:cs typeface="Arial" panose="020B0604020202020204" pitchFamily="34" charset="0"/>
                                  </a:rPr>
                                  <m:t>∆</m:t>
                                </m:r>
                                <m:r>
                                  <a:rPr lang="en-US" sz="900" b="1" i="1" kern="0" smtClean="0">
                                    <a:solidFill>
                                      <a:schemeClr val="tx1"/>
                                    </a:solidFill>
                                    <a:effectLst/>
                                    <a:latin typeface="Cambria Math" panose="02040503050406030204" pitchFamily="18" charset="0"/>
                                    <a:ea typeface="+mj-ea"/>
                                    <a:cs typeface="Arial" panose="020B0604020202020204" pitchFamily="34" charset="0"/>
                                  </a:rPr>
                                  <m:t>𝑪𝒂𝒔𝒉</m:t>
                                </m:r>
                                <m:r>
                                  <a:rPr lang="en-US" sz="900" b="1" i="1" kern="0" smtClean="0">
                                    <a:solidFill>
                                      <a:schemeClr val="tx1"/>
                                    </a:solidFill>
                                    <a:effectLst/>
                                    <a:latin typeface="Cambria Math" panose="02040503050406030204" pitchFamily="18" charset="0"/>
                                    <a:ea typeface="+mj-ea"/>
                                    <a:cs typeface="Arial" panose="020B0604020202020204" pitchFamily="34" charset="0"/>
                                  </a:rPr>
                                  <m:t>= </m:t>
                                </m:r>
                                <m:f>
                                  <m:fPr>
                                    <m:ctrlPr>
                                      <a:rPr lang="zh-CN" sz="900" b="1" i="1" kern="0">
                                        <a:solidFill>
                                          <a:schemeClr val="tx1"/>
                                        </a:solidFill>
                                        <a:effectLst/>
                                        <a:latin typeface="Cambria Math" panose="02040503050406030204" pitchFamily="18" charset="0"/>
                                        <a:ea typeface="+mj-ea"/>
                                        <a:cs typeface="Arial" panose="020B0604020202020204" pitchFamily="34" charset="0"/>
                                      </a:rPr>
                                    </m:ctrlPr>
                                  </m:fPr>
                                  <m:num>
                                    <m:sSub>
                                      <m:sSubPr>
                                        <m:ctrlPr>
                                          <a:rPr lang="zh-CN" sz="900" b="1" i="1" ker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𝑫𝑰𝑶</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𝒐𝒍𝒅</m:t>
                                        </m:r>
                                      </m:sub>
                                    </m:sSub>
                                    <m:r>
                                      <a:rPr lang="en-US" sz="900" b="1" i="1" kern="0" smtClean="0">
                                        <a:solidFill>
                                          <a:schemeClr val="tx1"/>
                                        </a:solidFill>
                                        <a:effectLst/>
                                        <a:latin typeface="Cambria Math" panose="02040503050406030204" pitchFamily="18" charset="0"/>
                                        <a:ea typeface="+mj-ea"/>
                                        <a:cs typeface="Arial" panose="020B0604020202020204" pitchFamily="34" charset="0"/>
                                      </a:rPr>
                                      <m:t>−</m:t>
                                    </m:r>
                                    <m:sSub>
                                      <m:sSubPr>
                                        <m:ctrlPr>
                                          <a:rPr lang="zh-CN" sz="900" b="1" i="1" ker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𝑫𝑰𝑶</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𝒏𝒆𝒘</m:t>
                                        </m:r>
                                      </m:sub>
                                    </m:sSub>
                                  </m:num>
                                  <m:den>
                                    <m:r>
                                      <a:rPr lang="en-US" sz="900" b="1" i="1" kern="0" smtClean="0">
                                        <a:solidFill>
                                          <a:schemeClr val="tx1"/>
                                        </a:solidFill>
                                        <a:effectLst/>
                                        <a:latin typeface="Cambria Math" panose="02040503050406030204" pitchFamily="18" charset="0"/>
                                        <a:ea typeface="+mj-ea"/>
                                        <a:cs typeface="Arial" panose="020B0604020202020204" pitchFamily="34" charset="0"/>
                                      </a:rPr>
                                      <m:t>𝟑𝟔𝟓</m:t>
                                    </m:r>
                                  </m:den>
                                </m:f>
                                <m:r>
                                  <a:rPr lang="en-US" sz="900" b="1" i="1" kern="0" smtClean="0">
                                    <a:solidFill>
                                      <a:schemeClr val="tx1"/>
                                    </a:solidFill>
                                    <a:effectLst/>
                                    <a:latin typeface="Cambria Math" panose="02040503050406030204" pitchFamily="18" charset="0"/>
                                    <a:ea typeface="+mj-ea"/>
                                    <a:cs typeface="Arial" panose="020B0604020202020204" pitchFamily="34" charset="0"/>
                                  </a:rPr>
                                  <m:t>×</m:t>
                                </m:r>
                                <m:r>
                                  <a:rPr lang="en-US" sz="900" b="1" i="1" kern="0" smtClean="0">
                                    <a:solidFill>
                                      <a:schemeClr val="tx1"/>
                                    </a:solidFill>
                                    <a:effectLst/>
                                    <a:latin typeface="Cambria Math" panose="02040503050406030204" pitchFamily="18" charset="0"/>
                                    <a:ea typeface="+mj-ea"/>
                                    <a:cs typeface="Arial" panose="020B0604020202020204" pitchFamily="34" charset="0"/>
                                  </a:rPr>
                                  <m:t>𝑪𝑶𝑮𝑺</m:t>
                                </m:r>
                              </m:oMath>
                            </m:oMathPara>
                          </a14:m>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marL="342900" lvl="0" indent="-342900" algn="l">
                            <a:lnSpc>
                              <a:spcPct val="115000"/>
                            </a:lnSpc>
                            <a:buFont typeface="+mj-lt"/>
                            <a:buAutoNum type="arabicPeriod"/>
                          </a:pPr>
                          <a14:m>
                            <m:oMath xmlns:m="http://schemas.openxmlformats.org/officeDocument/2006/math">
                              <m:r>
                                <a:rPr lang="en-US" sz="900" b="1" i="1" kern="0" smtClean="0">
                                  <a:solidFill>
                                    <a:schemeClr val="tx1"/>
                                  </a:solidFill>
                                  <a:effectLst/>
                                  <a:latin typeface="Cambria Math" panose="02040503050406030204" pitchFamily="18" charset="0"/>
                                  <a:ea typeface="+mj-ea"/>
                                  <a:cs typeface="Arial" panose="020B0604020202020204" pitchFamily="34" charset="0"/>
                                </a:rPr>
                                <m:t>𝑫𝑰𝑶</m:t>
                              </m:r>
                            </m:oMath>
                          </a14:m>
                          <a:r>
                            <a:rPr lang="en-US" sz="900" b="1" kern="0">
                              <a:solidFill>
                                <a:schemeClr val="tx1"/>
                              </a:solidFill>
                              <a:effectLst/>
                              <a:latin typeface="+mj-ea"/>
                              <a:ea typeface="+mj-ea"/>
                              <a:cs typeface="Arial" panose="020B0604020202020204" pitchFamily="34" charset="0"/>
                            </a:rPr>
                            <a:t> (Days Inventory Outstanding) </a:t>
                          </a:r>
                          <a:r>
                            <a:rPr lang="zh-CN" sz="900" b="1" kern="0">
                              <a:solidFill>
                                <a:schemeClr val="tx1"/>
                              </a:solidFill>
                              <a:effectLst/>
                              <a:latin typeface="+mj-ea"/>
                              <a:ea typeface="+mj-ea"/>
                              <a:cs typeface="Arial" panose="020B0604020202020204" pitchFamily="34" charset="0"/>
                            </a:rPr>
                            <a:t>库存周转天数：衡量库存占用资金时长的核心指标。</a:t>
                          </a:r>
                          <a:endParaRPr lang="zh-CN" sz="900" b="1" kern="100">
                            <a:solidFill>
                              <a:schemeClr val="tx1"/>
                            </a:solidFill>
                            <a:effectLst/>
                            <a:latin typeface="+mj-ea"/>
                            <a:ea typeface="+mj-ea"/>
                            <a:cs typeface="Times New Roman" panose="02020603050405020304" pitchFamily="18" charset="0"/>
                          </a:endParaRPr>
                        </a:p>
                        <a:p>
                          <a:pPr marL="342900" lvl="0" indent="-342900" algn="l">
                            <a:lnSpc>
                              <a:spcPct val="115000"/>
                            </a:lnSpc>
                            <a:buFont typeface="+mj-lt"/>
                            <a:buAutoNum type="arabicPeriod"/>
                          </a:pPr>
                          <a14:m>
                            <m:oMath xmlns:m="http://schemas.openxmlformats.org/officeDocument/2006/math">
                              <m:r>
                                <a:rPr lang="en-US" sz="900" b="1" i="1" kern="0" smtClean="0">
                                  <a:solidFill>
                                    <a:schemeClr val="tx1"/>
                                  </a:solidFill>
                                  <a:effectLst/>
                                  <a:latin typeface="Cambria Math" panose="02040503050406030204" pitchFamily="18" charset="0"/>
                                  <a:ea typeface="+mj-ea"/>
                                  <a:cs typeface="Arial" panose="020B0604020202020204" pitchFamily="34" charset="0"/>
                                </a:rPr>
                                <m:t>𝑪𝑶𝑮𝑺</m:t>
                              </m:r>
                            </m:oMath>
                          </a14:m>
                          <a:r>
                            <a:rPr lang="en-US" sz="900" b="1" kern="0">
                              <a:solidFill>
                                <a:schemeClr val="tx1"/>
                              </a:solidFill>
                              <a:effectLst/>
                              <a:latin typeface="+mj-ea"/>
                              <a:ea typeface="+mj-ea"/>
                              <a:cs typeface="Arial" panose="020B0604020202020204" pitchFamily="34" charset="0"/>
                            </a:rPr>
                            <a:t> (Cost of Goods Sold) </a:t>
                          </a:r>
                          <a:r>
                            <a:rPr lang="zh-CN" sz="900" b="1" kern="0">
                              <a:solidFill>
                                <a:schemeClr val="tx1"/>
                              </a:solidFill>
                              <a:effectLst/>
                              <a:latin typeface="+mj-ea"/>
                              <a:ea typeface="+mj-ea"/>
                              <a:cs typeface="Arial" panose="020B0604020202020204" pitchFamily="34" charset="0"/>
                            </a:rPr>
                            <a:t>销货成本：企业生产产品所消耗的直接成本。</a:t>
                          </a:r>
                          <a:endParaRPr lang="zh-CN" sz="900" b="1" kern="100">
                            <a:solidFill>
                              <a:schemeClr val="tx1"/>
                            </a:solidFill>
                            <a:effectLst/>
                            <a:latin typeface="+mj-ea"/>
                            <a:ea typeface="+mj-ea"/>
                            <a:cs typeface="Times New Roman" panose="02020603050405020304" pitchFamily="18" charset="0"/>
                          </a:endParaRPr>
                        </a:p>
                        <a:p>
                          <a:pPr marL="342900" lvl="0" indent="-342900" algn="l">
                            <a:lnSpc>
                              <a:spcPct val="115000"/>
                            </a:lnSpc>
                            <a:spcAft>
                              <a:spcPts val="800"/>
                            </a:spcAft>
                            <a:buFont typeface="+mj-lt"/>
                            <a:buAutoNum type="arabicPeriod"/>
                          </a:pPr>
                          <a:r>
                            <a:rPr lang="en-US" sz="900" b="1" kern="0">
                              <a:solidFill>
                                <a:schemeClr val="tx1"/>
                              </a:solidFill>
                              <a:effectLst/>
                              <a:latin typeface="+mj-ea"/>
                              <a:ea typeface="+mj-ea"/>
                              <a:cs typeface="Arial" panose="020B0604020202020204" pitchFamily="34" charset="0"/>
                            </a:rPr>
                            <a:t>S&amp;OE (Sales &amp; Ops Execution) </a:t>
                          </a:r>
                          <a:r>
                            <a:rPr lang="zh-CN" sz="900" b="1" kern="0">
                              <a:solidFill>
                                <a:schemeClr val="tx1"/>
                              </a:solidFill>
                              <a:effectLst/>
                              <a:latin typeface="+mj-ea"/>
                              <a:ea typeface="+mj-ea"/>
                              <a:cs typeface="Arial" panose="020B0604020202020204" pitchFamily="34" charset="0"/>
                            </a:rPr>
                            <a:t>销售与运营执行：底层的执行闭环，确保计划可落地。</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r>
                            <a:rPr lang="en-US" sz="900" b="1" kern="0">
                              <a:solidFill>
                                <a:schemeClr val="tx1"/>
                              </a:solidFill>
                              <a:effectLst/>
                              <a:latin typeface="+mj-ea"/>
                              <a:ea typeface="+mj-ea"/>
                              <a:cs typeface="Arial" panose="020B0604020202020204" pitchFamily="34" charset="0"/>
                            </a:rPr>
                            <a:t>S&amp;OE </a:t>
                          </a:r>
                          <a:r>
                            <a:rPr lang="zh-CN" sz="900" b="1" kern="0">
                              <a:solidFill>
                                <a:schemeClr val="tx1"/>
                              </a:solidFill>
                              <a:effectLst/>
                              <a:latin typeface="+mj-ea"/>
                              <a:ea typeface="+mj-ea"/>
                              <a:cs typeface="Arial" panose="020B0604020202020204" pitchFamily="34" charset="0"/>
                            </a:rPr>
                            <a:t>闭环与软预留：通过</a:t>
                          </a:r>
                          <a:r>
                            <a:rPr lang="en-US" sz="900" b="1" kern="0">
                              <a:solidFill>
                                <a:schemeClr val="tx1"/>
                              </a:solidFill>
                              <a:effectLst/>
                              <a:latin typeface="+mj-ea"/>
                              <a:ea typeface="+mj-ea"/>
                              <a:cs typeface="Arial" panose="020B0604020202020204" pitchFamily="34" charset="0"/>
                            </a:rPr>
                            <a:t> ATP/CTP (</a:t>
                          </a:r>
                          <a:r>
                            <a:rPr lang="zh-CN" sz="900" b="1" kern="0">
                              <a:solidFill>
                                <a:schemeClr val="tx1"/>
                              </a:solidFill>
                              <a:effectLst/>
                              <a:latin typeface="+mj-ea"/>
                              <a:ea typeface="+mj-ea"/>
                              <a:cs typeface="Arial" panose="020B0604020202020204" pitchFamily="34" charset="0"/>
                            </a:rPr>
                            <a:t>可承诺量</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能力</a:t>
                          </a:r>
                          <a:r>
                            <a:rPr lang="en-US" sz="900" b="1" kern="0">
                              <a:solidFill>
                                <a:schemeClr val="tx1"/>
                              </a:solidFill>
                              <a:effectLst/>
                              <a:latin typeface="+mj-ea"/>
                              <a:ea typeface="+mj-ea"/>
                              <a:cs typeface="Arial" panose="020B0604020202020204" pitchFamily="34" charset="0"/>
                            </a:rPr>
                            <a:t>) </a:t>
                          </a:r>
                          <a:r>
                            <a:rPr lang="zh-CN" sz="900" b="1" kern="0">
                              <a:solidFill>
                                <a:schemeClr val="tx1"/>
                              </a:solidFill>
                              <a:effectLst/>
                              <a:latin typeface="+mj-ea"/>
                              <a:ea typeface="+mj-ea"/>
                              <a:cs typeface="Arial" panose="020B0604020202020204" pitchFamily="34" charset="0"/>
                            </a:rPr>
                            <a:t>算法进行软预留，精准匹配供需，消除因</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怕缺货</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而囤积的安全库存和呆滞料，将库存资产变现。</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416202020"/>
                      </a:ext>
                    </a:extLst>
                  </a:tr>
                  <a:tr h="468351">
                    <a:tc rowSpan="3">
                      <a:txBody>
                        <a:bodyPr/>
                        <a:lstStyle/>
                        <a:p>
                          <a:pPr algn="ctr">
                            <a:lnSpc>
                              <a:spcPct val="115000"/>
                            </a:lnSpc>
                            <a:spcAft>
                              <a:spcPts val="800"/>
                            </a:spcAft>
                          </a:pPr>
                          <a:r>
                            <a:rPr lang="zh-CN" sz="1050" b="1" kern="0" dirty="0">
                              <a:solidFill>
                                <a:srgbClr val="000000"/>
                              </a:solidFill>
                              <a:effectLst/>
                              <a:latin typeface="+mj-ea"/>
                              <a:ea typeface="+mj-ea"/>
                              <a:cs typeface="Arial" panose="020B0604020202020204" pitchFamily="34" charset="0"/>
                            </a:rPr>
                            <a:t>损益表</a:t>
                          </a:r>
                          <a:endParaRPr lang="en-US" altLang="zh-CN" sz="1050" b="1" kern="0" dirty="0">
                            <a:solidFill>
                              <a:srgbClr val="000000"/>
                            </a:solidFill>
                            <a:effectLst/>
                            <a:latin typeface="+mj-ea"/>
                            <a:ea typeface="+mj-ea"/>
                            <a:cs typeface="Arial" panose="020B0604020202020204" pitchFamily="34" charset="0"/>
                          </a:endParaRPr>
                        </a:p>
                        <a:p>
                          <a:pPr algn="ctr">
                            <a:lnSpc>
                              <a:spcPct val="115000"/>
                            </a:lnSpc>
                            <a:spcAft>
                              <a:spcPts val="800"/>
                            </a:spcAft>
                          </a:pPr>
                          <a:r>
                            <a:rPr lang="en-US" sz="1050" b="1" kern="0" dirty="0">
                              <a:solidFill>
                                <a:srgbClr val="000000"/>
                              </a:solidFill>
                              <a:effectLst/>
                              <a:latin typeface="+mj-ea"/>
                              <a:ea typeface="+mj-ea"/>
                              <a:cs typeface="Arial" panose="020B0604020202020204" pitchFamily="34" charset="0"/>
                            </a:rPr>
                            <a:t>(</a:t>
                          </a:r>
                          <a:r>
                            <a:rPr lang="zh-CN" sz="1050" b="1" kern="0" dirty="0">
                              <a:solidFill>
                                <a:srgbClr val="000000"/>
                              </a:solidFill>
                              <a:effectLst/>
                              <a:latin typeface="+mj-ea"/>
                              <a:ea typeface="+mj-ea"/>
                              <a:cs typeface="Arial" panose="020B0604020202020204" pitchFamily="34" charset="0"/>
                            </a:rPr>
                            <a:t>降本增效</a:t>
                          </a:r>
                          <a:r>
                            <a:rPr lang="en-US" sz="1050" b="1" kern="0" dirty="0">
                              <a:solidFill>
                                <a:srgbClr val="000000"/>
                              </a:solidFill>
                              <a:effectLst/>
                              <a:latin typeface="+mj-ea"/>
                              <a:ea typeface="+mj-ea"/>
                              <a:cs typeface="Arial" panose="020B0604020202020204" pitchFamily="34" charset="0"/>
                            </a:rPr>
                            <a:t>)</a:t>
                          </a:r>
                          <a:endParaRPr lang="zh-CN" sz="105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DACDE4"/>
                        </a:solidFill>
                      </a:tcPr>
                    </a:tc>
                    <a:tc>
                      <a:txBody>
                        <a:bodyPr/>
                        <a:lstStyle/>
                        <a:p>
                          <a:pPr algn="ctr">
                            <a:lnSpc>
                              <a:spcPct val="115000"/>
                            </a:lnSpc>
                            <a:spcAft>
                              <a:spcPts val="800"/>
                            </a:spcAft>
                          </a:pPr>
                          <a:r>
                            <a:rPr lang="zh-CN" sz="900" b="1" kern="0" dirty="0">
                              <a:solidFill>
                                <a:schemeClr val="tx1"/>
                              </a:solidFill>
                              <a:effectLst/>
                              <a:latin typeface="+mj-ea"/>
                              <a:ea typeface="+mj-ea"/>
                              <a:cs typeface="Arial" panose="020B0604020202020204" pitchFamily="34" charset="0"/>
                            </a:rPr>
                            <a:t>持有成本节约</a:t>
                          </a:r>
                          <a:endParaRPr lang="en-US" altLang="zh-CN" sz="900" b="1" kern="0" dirty="0">
                            <a:solidFill>
                              <a:schemeClr val="tx1"/>
                            </a:solidFill>
                            <a:effectLst/>
                            <a:latin typeface="+mj-ea"/>
                            <a:ea typeface="+mj-ea"/>
                            <a:cs typeface="Arial" panose="020B0604020202020204" pitchFamily="34" charset="0"/>
                          </a:endParaRPr>
                        </a:p>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(Holding Savings)</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14:m>
                            <m:oMathPara xmlns:m="http://schemas.openxmlformats.org/officeDocument/2006/math">
                              <m:oMathParaPr>
                                <m:jc m:val="left"/>
                              </m:oMathParaPr>
                              <m:oMath xmlns:m="http://schemas.openxmlformats.org/officeDocument/2006/math">
                                <m:sSub>
                                  <m:sSubPr>
                                    <m:ctrlPr>
                                      <a:rPr lang="zh-CN" sz="900" b="1" i="1" kern="0" smtClea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𝑺</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𝒔𝒐𝒍𝒅</m:t>
                                    </m:r>
                                  </m:sub>
                                </m:sSub>
                                <m:r>
                                  <a:rPr lang="en-US" sz="900" b="1" i="1" kern="0" smtClean="0">
                                    <a:solidFill>
                                      <a:schemeClr val="tx1"/>
                                    </a:solidFill>
                                    <a:effectLst/>
                                    <a:latin typeface="Cambria Math" panose="02040503050406030204" pitchFamily="18" charset="0"/>
                                    <a:ea typeface="+mj-ea"/>
                                    <a:cs typeface="Arial" panose="020B0604020202020204" pitchFamily="34" charset="0"/>
                                  </a:rPr>
                                  <m:t>= ∆</m:t>
                                </m:r>
                                <m:r>
                                  <a:rPr lang="en-US" sz="900" b="1" i="1" kern="0" smtClean="0">
                                    <a:solidFill>
                                      <a:schemeClr val="tx1"/>
                                    </a:solidFill>
                                    <a:effectLst/>
                                    <a:latin typeface="Cambria Math" panose="02040503050406030204" pitchFamily="18" charset="0"/>
                                    <a:ea typeface="+mj-ea"/>
                                    <a:cs typeface="Arial" panose="020B0604020202020204" pitchFamily="34" charset="0"/>
                                  </a:rPr>
                                  <m:t>𝑪𝒂𝒔𝒉</m:t>
                                </m:r>
                                <m:r>
                                  <a:rPr lang="en-US" sz="900" b="1" i="1" kern="0" smtClean="0">
                                    <a:solidFill>
                                      <a:schemeClr val="tx1"/>
                                    </a:solidFill>
                                    <a:effectLst/>
                                    <a:latin typeface="Cambria Math" panose="02040503050406030204" pitchFamily="18" charset="0"/>
                                    <a:ea typeface="+mj-ea"/>
                                    <a:cs typeface="Arial" panose="020B0604020202020204" pitchFamily="34" charset="0"/>
                                  </a:rPr>
                                  <m:t>×</m:t>
                                </m:r>
                                <m:r>
                                  <a:rPr lang="en-US" sz="900" b="1" i="1" kern="0" smtClean="0">
                                    <a:solidFill>
                                      <a:schemeClr val="tx1"/>
                                    </a:solidFill>
                                    <a:effectLst/>
                                    <a:latin typeface="Cambria Math" panose="02040503050406030204" pitchFamily="18" charset="0"/>
                                    <a:ea typeface="+mj-ea"/>
                                    <a:cs typeface="Arial" panose="020B0604020202020204" pitchFamily="34" charset="0"/>
                                  </a:rPr>
                                  <m:t>𝑯</m:t>
                                </m:r>
                                <m:r>
                                  <a:rPr lang="en-US" sz="900" b="1" i="1" kern="0" smtClean="0">
                                    <a:solidFill>
                                      <a:schemeClr val="tx1"/>
                                    </a:solidFill>
                                    <a:effectLst/>
                                    <a:latin typeface="Cambria Math" panose="02040503050406030204" pitchFamily="18" charset="0"/>
                                    <a:ea typeface="+mj-ea"/>
                                    <a:cs typeface="Arial" panose="020B0604020202020204" pitchFamily="34" charset="0"/>
                                  </a:rPr>
                                  <m:t>%</m:t>
                                </m:r>
                              </m:oMath>
                            </m:oMathPara>
                          </a14:m>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marL="342900" lvl="0" indent="-342900" algn="l">
                            <a:lnSpc>
                              <a:spcPct val="115000"/>
                            </a:lnSpc>
                            <a:spcAft>
                              <a:spcPts val="800"/>
                            </a:spcAft>
                            <a:buFont typeface="+mj-lt"/>
                            <a:buAutoNum type="arabicPeriod"/>
                          </a:pPr>
                          <a:r>
                            <a:rPr lang="en-US" sz="900" b="1" kern="0">
                              <a:solidFill>
                                <a:schemeClr val="tx1"/>
                              </a:solidFill>
                              <a:effectLst/>
                              <a:latin typeface="+mj-ea"/>
                              <a:ea typeface="+mj-ea"/>
                              <a:cs typeface="Arial" panose="020B0604020202020204" pitchFamily="34" charset="0"/>
                            </a:rPr>
                            <a:t> </a:t>
                          </a:r>
                          <a14:m>
                            <m:oMath xmlns:m="http://schemas.openxmlformats.org/officeDocument/2006/math">
                              <m:r>
                                <a:rPr lang="en-US" sz="900" b="1" i="1" kern="0" smtClean="0">
                                  <a:solidFill>
                                    <a:schemeClr val="tx1"/>
                                  </a:solidFill>
                                  <a:effectLst/>
                                  <a:latin typeface="Cambria Math" panose="02040503050406030204" pitchFamily="18" charset="0"/>
                                  <a:ea typeface="+mj-ea"/>
                                  <a:cs typeface="Arial" panose="020B0604020202020204" pitchFamily="34" charset="0"/>
                                </a:rPr>
                                <m:t>𝑯</m:t>
                              </m:r>
                              <m:r>
                                <a:rPr lang="en-US" sz="900" b="1" i="1" kern="0" smtClean="0">
                                  <a:solidFill>
                                    <a:schemeClr val="tx1"/>
                                  </a:solidFill>
                                  <a:effectLst/>
                                  <a:latin typeface="Cambria Math" panose="02040503050406030204" pitchFamily="18" charset="0"/>
                                  <a:ea typeface="+mj-ea"/>
                                  <a:cs typeface="Arial" panose="020B0604020202020204" pitchFamily="34" charset="0"/>
                                </a:rPr>
                                <m:t>%</m:t>
                              </m:r>
                            </m:oMath>
                          </a14:m>
                          <a:r>
                            <a:rPr lang="en-US" sz="900" b="1" kern="0">
                              <a:solidFill>
                                <a:schemeClr val="tx1"/>
                              </a:solidFill>
                              <a:effectLst/>
                              <a:latin typeface="+mj-ea"/>
                              <a:ea typeface="+mj-ea"/>
                              <a:cs typeface="Arial" panose="020B0604020202020204" pitchFamily="34" charset="0"/>
                            </a:rPr>
                            <a:t> (Inventory Holding Cost Rate) </a:t>
                          </a:r>
                          <a:r>
                            <a:rPr lang="zh-CN" sz="900" b="1" kern="0">
                              <a:solidFill>
                                <a:schemeClr val="tx1"/>
                              </a:solidFill>
                              <a:effectLst/>
                              <a:latin typeface="+mj-ea"/>
                              <a:ea typeface="+mj-ea"/>
                              <a:cs typeface="Arial" panose="020B0604020202020204" pitchFamily="34" charset="0"/>
                            </a:rPr>
                            <a:t>库存持有成本率：通常取</a:t>
                          </a:r>
                          <a:r>
                            <a:rPr lang="en-US" sz="900" b="1" kern="0">
                              <a:solidFill>
                                <a:schemeClr val="tx1"/>
                              </a:solidFill>
                              <a:effectLst/>
                              <a:latin typeface="+mj-ea"/>
                              <a:ea typeface="+mj-ea"/>
                              <a:cs typeface="Arial" panose="020B0604020202020204" pitchFamily="34" charset="0"/>
                            </a:rPr>
                            <a:t> 15%-25%</a:t>
                          </a:r>
                          <a:r>
                            <a:rPr lang="zh-CN" sz="900" b="1" kern="0">
                              <a:solidFill>
                                <a:schemeClr val="tx1"/>
                              </a:solidFill>
                              <a:effectLst/>
                              <a:latin typeface="+mj-ea"/>
                              <a:ea typeface="+mj-ea"/>
                              <a:cs typeface="Arial" panose="020B0604020202020204" pitchFamily="34" charset="0"/>
                            </a:rPr>
                            <a:t>，包含仓储费、资金利息、报废风险及贬值成本。</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r>
                            <a:rPr lang="zh-CN" sz="900" b="1" kern="0">
                              <a:solidFill>
                                <a:schemeClr val="tx1"/>
                              </a:solidFill>
                              <a:effectLst/>
                              <a:latin typeface="+mj-ea"/>
                              <a:ea typeface="+mj-ea"/>
                              <a:cs typeface="Arial" panose="020B0604020202020204" pitchFamily="34" charset="0"/>
                            </a:rPr>
                            <a:t>库存水位下降：直接减少仓储租金、管理费和资金占用利息，将隐性成本转化为显性利润。</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3109671782"/>
                      </a:ext>
                    </a:extLst>
                  </a:tr>
                  <a:tr h="773815">
                    <a:tc vMerge="1">
                      <a:txBody>
                        <a:bodyPr/>
                        <a:lstStyle/>
                        <a:p>
                          <a:endParaRPr lang="zh-CN" altLang="en-US"/>
                        </a:p>
                      </a:txBody>
                      <a:tcPr/>
                    </a:tc>
                    <a:tc>
                      <a:txBody>
                        <a:bodyPr/>
                        <a:lstStyle/>
                        <a:p>
                          <a:pPr algn="ctr">
                            <a:lnSpc>
                              <a:spcPct val="115000"/>
                            </a:lnSpc>
                            <a:spcAft>
                              <a:spcPts val="800"/>
                            </a:spcAft>
                          </a:pPr>
                          <a:r>
                            <a:rPr lang="zh-CN" sz="900" b="1" kern="0" dirty="0">
                              <a:solidFill>
                                <a:schemeClr val="tx1"/>
                              </a:solidFill>
                              <a:effectLst/>
                              <a:latin typeface="+mj-ea"/>
                              <a:ea typeface="+mj-ea"/>
                              <a:cs typeface="Arial" panose="020B0604020202020204" pitchFamily="34" charset="0"/>
                            </a:rPr>
                            <a:t>运营成本降低</a:t>
                          </a:r>
                          <a:endParaRPr lang="en-US" altLang="zh-CN" sz="900" b="1" kern="0" dirty="0">
                            <a:solidFill>
                              <a:schemeClr val="tx1"/>
                            </a:solidFill>
                            <a:effectLst/>
                            <a:latin typeface="+mj-ea"/>
                            <a:ea typeface="+mj-ea"/>
                            <a:cs typeface="Arial" panose="020B0604020202020204" pitchFamily="34" charset="0"/>
                          </a:endParaRPr>
                        </a:p>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(Ops Savings)</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14:m>
                            <m:oMathPara xmlns:m="http://schemas.openxmlformats.org/officeDocument/2006/math">
                              <m:oMathParaPr>
                                <m:jc m:val="left"/>
                              </m:oMathParaPr>
                              <m:oMath xmlns:m="http://schemas.openxmlformats.org/officeDocument/2006/math">
                                <m:sSub>
                                  <m:sSubPr>
                                    <m:ctrlPr>
                                      <a:rPr lang="zh-CN" sz="900" b="1" i="1" kern="0" smtClea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𝑺</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𝒐𝒑𝒔</m:t>
                                    </m:r>
                                  </m:sub>
                                </m:sSub>
                                <m:r>
                                  <a:rPr lang="en-US" sz="900" b="1" i="1" kern="0" smtClean="0">
                                    <a:solidFill>
                                      <a:schemeClr val="tx1"/>
                                    </a:solidFill>
                                    <a:effectLst/>
                                    <a:latin typeface="Cambria Math" panose="02040503050406030204" pitchFamily="18" charset="0"/>
                                    <a:ea typeface="+mj-ea"/>
                                    <a:cs typeface="Arial" panose="020B0604020202020204" pitchFamily="34" charset="0"/>
                                  </a:rPr>
                                  <m:t> =</m:t>
                                </m:r>
                                <m:d>
                                  <m:dPr>
                                    <m:ctrlPr>
                                      <a:rPr lang="zh-CN" sz="900" b="1" i="1" kern="0">
                                        <a:solidFill>
                                          <a:schemeClr val="tx1"/>
                                        </a:solidFill>
                                        <a:effectLst/>
                                        <a:latin typeface="Cambria Math" panose="02040503050406030204" pitchFamily="18" charset="0"/>
                                        <a:ea typeface="+mj-ea"/>
                                        <a:cs typeface="Arial" panose="020B0604020202020204" pitchFamily="34" charset="0"/>
                                      </a:rPr>
                                    </m:ctrlPr>
                                  </m:dPr>
                                  <m:e>
                                    <m:sSub>
                                      <m:sSubPr>
                                        <m:ctrlPr>
                                          <a:rPr lang="zh-CN" sz="900" b="1" i="1" ker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𝑭</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𝒆𝒙𝒑</m:t>
                                        </m:r>
                                      </m:sub>
                                    </m:sSub>
                                    <m:r>
                                      <a:rPr lang="en-US" sz="900" b="1" i="1" kern="0" smtClean="0">
                                        <a:solidFill>
                                          <a:schemeClr val="tx1"/>
                                        </a:solidFill>
                                        <a:effectLst/>
                                        <a:latin typeface="Cambria Math" panose="02040503050406030204" pitchFamily="18" charset="0"/>
                                        <a:ea typeface="+mj-ea"/>
                                        <a:cs typeface="Arial" panose="020B0604020202020204" pitchFamily="34" charset="0"/>
                                      </a:rPr>
                                      <m:t>×↓%</m:t>
                                    </m:r>
                                  </m:e>
                                </m:d>
                                <m:r>
                                  <a:rPr lang="en-US" sz="900" b="1" i="1" kern="0" smtClean="0">
                                    <a:solidFill>
                                      <a:schemeClr val="tx1"/>
                                    </a:solidFill>
                                    <a:effectLst/>
                                    <a:latin typeface="Cambria Math" panose="02040503050406030204" pitchFamily="18" charset="0"/>
                                    <a:ea typeface="+mj-ea"/>
                                    <a:cs typeface="Arial" panose="020B0604020202020204" pitchFamily="34" charset="0"/>
                                  </a:rPr>
                                  <m:t>+(</m:t>
                                </m:r>
                                <m:sSub>
                                  <m:sSubPr>
                                    <m:ctrlPr>
                                      <a:rPr lang="zh-CN" sz="900" b="1" i="1" ker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𝑵</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𝒄𝒐</m:t>
                                    </m:r>
                                  </m:sub>
                                </m:sSub>
                                <m:r>
                                  <a:rPr lang="en-US" sz="900" b="1" i="1" kern="0" smtClean="0">
                                    <a:solidFill>
                                      <a:schemeClr val="tx1"/>
                                    </a:solidFill>
                                    <a:effectLst/>
                                    <a:latin typeface="Cambria Math" panose="02040503050406030204" pitchFamily="18" charset="0"/>
                                    <a:ea typeface="+mj-ea"/>
                                    <a:cs typeface="Arial" panose="020B0604020202020204" pitchFamily="34" charset="0"/>
                                  </a:rPr>
                                  <m:t>+</m:t>
                                </m:r>
                                <m:sSub>
                                  <m:sSubPr>
                                    <m:ctrlPr>
                                      <a:rPr lang="zh-CN" sz="900" b="1" i="1" ker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𝑪</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𝒔𝒆𝒕</m:t>
                                    </m:r>
                                  </m:sub>
                                </m:sSub>
                                <m:r>
                                  <a:rPr lang="en-US" sz="900" b="1" i="1" kern="0" smtClean="0">
                                    <a:solidFill>
                                      <a:schemeClr val="tx1"/>
                                    </a:solidFill>
                                    <a:effectLst/>
                                    <a:latin typeface="Cambria Math" panose="02040503050406030204" pitchFamily="18" charset="0"/>
                                    <a:ea typeface="+mj-ea"/>
                                    <a:cs typeface="Arial" panose="020B0604020202020204" pitchFamily="34" charset="0"/>
                                  </a:rPr>
                                  <m:t>)</m:t>
                                </m:r>
                              </m:oMath>
                            </m:oMathPara>
                          </a14:m>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marL="342900" lvl="0" indent="-342900" algn="l">
                            <a:lnSpc>
                              <a:spcPct val="115000"/>
                            </a:lnSpc>
                            <a:buFont typeface="+mj-lt"/>
                            <a:buAutoNum type="arabicPeriod"/>
                          </a:pPr>
                          <a14:m>
                            <m:oMath xmlns:m="http://schemas.openxmlformats.org/officeDocument/2006/math">
                              <m:sSub>
                                <m:sSubPr>
                                  <m:ctrlPr>
                                    <a:rPr lang="zh-CN" sz="900" b="1" i="1" kern="0" smtClea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𝑭</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𝒆𝒙𝒑</m:t>
                                  </m:r>
                                </m:sub>
                              </m:sSub>
                            </m:oMath>
                          </a14:m>
                          <a:r>
                            <a:rPr lang="zh-CN" sz="900" b="1" kern="0">
                              <a:solidFill>
                                <a:schemeClr val="tx1"/>
                              </a:solidFill>
                              <a:effectLst/>
                              <a:latin typeface="+mj-ea"/>
                              <a:ea typeface="+mj-ea"/>
                              <a:cs typeface="MS Gothic" panose="020B0609070205080204" pitchFamily="49" charset="-128"/>
                            </a:rPr>
                            <a:t>​</a:t>
                          </a:r>
                          <a:r>
                            <a:rPr lang="en-US" sz="900" b="1" kern="0">
                              <a:solidFill>
                                <a:schemeClr val="tx1"/>
                              </a:solidFill>
                              <a:effectLst/>
                              <a:latin typeface="+mj-ea"/>
                              <a:ea typeface="+mj-ea"/>
                              <a:cs typeface="Arial" panose="020B0604020202020204" pitchFamily="34" charset="0"/>
                            </a:rPr>
                            <a:t> (Expedited Freight) </a:t>
                          </a:r>
                          <a:r>
                            <a:rPr lang="zh-CN" sz="900" b="1" kern="0">
                              <a:solidFill>
                                <a:schemeClr val="tx1"/>
                              </a:solidFill>
                              <a:effectLst/>
                              <a:latin typeface="+mj-ea"/>
                              <a:ea typeface="+mj-ea"/>
                              <a:cs typeface="Arial" panose="020B0604020202020204" pitchFamily="34" charset="0"/>
                            </a:rPr>
                            <a:t>加急运费：因计划失误导致的额外物流空运支出。</a:t>
                          </a:r>
                          <a:endParaRPr lang="zh-CN" sz="900" b="1" kern="100">
                            <a:solidFill>
                              <a:schemeClr val="tx1"/>
                            </a:solidFill>
                            <a:effectLst/>
                            <a:latin typeface="+mj-ea"/>
                            <a:ea typeface="+mj-ea"/>
                            <a:cs typeface="Times New Roman" panose="02020603050405020304" pitchFamily="18" charset="0"/>
                          </a:endParaRPr>
                        </a:p>
                        <a:p>
                          <a:pPr marL="342900" lvl="0" indent="-342900" algn="l">
                            <a:lnSpc>
                              <a:spcPct val="115000"/>
                            </a:lnSpc>
                            <a:buFont typeface="+mj-lt"/>
                            <a:buAutoNum type="arabicPeriod"/>
                          </a:pPr>
                          <a14:m>
                            <m:oMath xmlns:m="http://schemas.openxmlformats.org/officeDocument/2006/math">
                              <m:sSub>
                                <m:sSubPr>
                                  <m:ctrlPr>
                                    <a:rPr lang="zh-CN" sz="900" b="1" i="1" ker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𝑵</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𝒄𝒐</m:t>
                                  </m:r>
                                </m:sub>
                              </m:sSub>
                            </m:oMath>
                          </a14:m>
                          <a:r>
                            <a:rPr lang="en-US" sz="900" b="1" kern="0">
                              <a:solidFill>
                                <a:schemeClr val="tx1"/>
                              </a:solidFill>
                              <a:effectLst/>
                              <a:latin typeface="+mj-ea"/>
                              <a:ea typeface="+mj-ea"/>
                              <a:cs typeface="Arial" panose="020B0604020202020204" pitchFamily="34" charset="0"/>
                            </a:rPr>
                            <a:t> (Changeover Count) </a:t>
                          </a:r>
                          <a:r>
                            <a:rPr lang="zh-CN" sz="900" b="1" kern="0">
                              <a:solidFill>
                                <a:schemeClr val="tx1"/>
                              </a:solidFill>
                              <a:effectLst/>
                              <a:latin typeface="+mj-ea"/>
                              <a:ea typeface="+mj-ea"/>
                              <a:cs typeface="Arial" panose="020B0604020202020204" pitchFamily="34" charset="0"/>
                            </a:rPr>
                            <a:t>换线次数：产线切换产品型号的次数。</a:t>
                          </a:r>
                          <a:endParaRPr lang="zh-CN" sz="900" b="1" kern="100">
                            <a:solidFill>
                              <a:schemeClr val="tx1"/>
                            </a:solidFill>
                            <a:effectLst/>
                            <a:latin typeface="+mj-ea"/>
                            <a:ea typeface="+mj-ea"/>
                            <a:cs typeface="Times New Roman" panose="02020603050405020304" pitchFamily="18" charset="0"/>
                          </a:endParaRPr>
                        </a:p>
                        <a:p>
                          <a:pPr marL="342900" lvl="0" indent="-342900" algn="l">
                            <a:lnSpc>
                              <a:spcPct val="115000"/>
                            </a:lnSpc>
                            <a:spcAft>
                              <a:spcPts val="800"/>
                            </a:spcAft>
                            <a:buFont typeface="+mj-lt"/>
                            <a:buAutoNum type="arabicPeriod"/>
                          </a:pPr>
                          <a14:m>
                            <m:oMath xmlns:m="http://schemas.openxmlformats.org/officeDocument/2006/math">
                              <m:sSub>
                                <m:sSubPr>
                                  <m:ctrlPr>
                                    <a:rPr lang="zh-CN" sz="900" b="1" i="1" ker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𝑪</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𝒔𝒆𝒕</m:t>
                                  </m:r>
                                </m:sub>
                              </m:sSub>
                            </m:oMath>
                          </a14:m>
                          <a:r>
                            <a:rPr lang="zh-CN" sz="900" b="1" kern="0">
                              <a:solidFill>
                                <a:schemeClr val="tx1"/>
                              </a:solidFill>
                              <a:effectLst/>
                              <a:latin typeface="+mj-ea"/>
                              <a:ea typeface="+mj-ea"/>
                              <a:cs typeface="MS Gothic" panose="020B0609070205080204" pitchFamily="49" charset="-128"/>
                            </a:rPr>
                            <a:t>​</a:t>
                          </a:r>
                          <a:r>
                            <a:rPr lang="en-US" sz="900" b="1" kern="0">
                              <a:solidFill>
                                <a:schemeClr val="tx1"/>
                              </a:solidFill>
                              <a:effectLst/>
                              <a:latin typeface="+mj-ea"/>
                              <a:ea typeface="+mj-ea"/>
                              <a:cs typeface="Arial" panose="020B0604020202020204" pitchFamily="34" charset="0"/>
                            </a:rPr>
                            <a:t> (Setup Cost) </a:t>
                          </a:r>
                          <a:r>
                            <a:rPr lang="zh-CN" sz="900" b="1" kern="0">
                              <a:solidFill>
                                <a:schemeClr val="tx1"/>
                              </a:solidFill>
                              <a:effectLst/>
                              <a:latin typeface="+mj-ea"/>
                              <a:ea typeface="+mj-ea"/>
                              <a:cs typeface="Arial" panose="020B0604020202020204" pitchFamily="34" charset="0"/>
                            </a:rPr>
                            <a:t>单次换线成本：停机带来的产能损失和人工成本。</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r>
                            <a:rPr lang="zh-CN" sz="900" b="1" kern="0">
                              <a:solidFill>
                                <a:schemeClr val="tx1"/>
                              </a:solidFill>
                              <a:effectLst/>
                              <a:latin typeface="+mj-ea"/>
                              <a:ea typeface="+mj-ea"/>
                              <a:cs typeface="Arial" panose="020B0604020202020204" pitchFamily="34" charset="0"/>
                            </a:rPr>
                            <a:t>资源置换算法</a:t>
                          </a:r>
                          <a:r>
                            <a:rPr lang="en-US" sz="900" b="1" kern="0">
                              <a:solidFill>
                                <a:schemeClr val="tx1"/>
                              </a:solidFill>
                              <a:effectLst/>
                              <a:latin typeface="+mj-ea"/>
                              <a:ea typeface="+mj-ea"/>
                              <a:cs typeface="Arial" panose="020B0604020202020204" pitchFamily="34" charset="0"/>
                            </a:rPr>
                            <a:t> &amp; </a:t>
                          </a:r>
                          <a:r>
                            <a:rPr lang="zh-CN" sz="900" b="1" kern="0">
                              <a:solidFill>
                                <a:schemeClr val="tx1"/>
                              </a:solidFill>
                              <a:effectLst/>
                              <a:latin typeface="+mj-ea"/>
                              <a:ea typeface="+mj-ea"/>
                              <a:cs typeface="Arial" panose="020B0604020202020204" pitchFamily="34" charset="0"/>
                            </a:rPr>
                            <a:t>战役规划：智能处理急单，减少暴力插单导致的昂贵空运费；通过</a:t>
                          </a:r>
                          <a:r>
                            <a:rPr lang="en-US" sz="900" b="1" kern="0">
                              <a:solidFill>
                                <a:schemeClr val="tx1"/>
                              </a:solidFill>
                              <a:effectLst/>
                              <a:latin typeface="+mj-ea"/>
                              <a:ea typeface="+mj-ea"/>
                              <a:cs typeface="Arial" panose="020B0604020202020204" pitchFamily="34" charset="0"/>
                            </a:rPr>
                            <a:t> Campaign Planning (</a:t>
                          </a:r>
                          <a:r>
                            <a:rPr lang="zh-CN" sz="900" b="1" kern="0">
                              <a:solidFill>
                                <a:schemeClr val="tx1"/>
                              </a:solidFill>
                              <a:effectLst/>
                              <a:latin typeface="+mj-ea"/>
                              <a:ea typeface="+mj-ea"/>
                              <a:cs typeface="Arial" panose="020B0604020202020204" pitchFamily="34" charset="0"/>
                            </a:rPr>
                            <a:t>战役规划</a:t>
                          </a:r>
                          <a:r>
                            <a:rPr lang="en-US" sz="900" b="1" kern="0">
                              <a:solidFill>
                                <a:schemeClr val="tx1"/>
                              </a:solidFill>
                              <a:effectLst/>
                              <a:latin typeface="+mj-ea"/>
                              <a:ea typeface="+mj-ea"/>
                              <a:cs typeface="Arial" panose="020B0604020202020204" pitchFamily="34" charset="0"/>
                            </a:rPr>
                            <a:t>) </a:t>
                          </a:r>
                          <a:r>
                            <a:rPr lang="zh-CN" sz="900" b="1" kern="0">
                              <a:solidFill>
                                <a:schemeClr val="tx1"/>
                              </a:solidFill>
                              <a:effectLst/>
                              <a:latin typeface="+mj-ea"/>
                              <a:ea typeface="+mj-ea"/>
                              <a:cs typeface="Arial" panose="020B0604020202020204" pitchFamily="34" charset="0"/>
                            </a:rPr>
                            <a:t>优化生产序列，减少非必要的频繁产线切换。</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821649607"/>
                      </a:ext>
                    </a:extLst>
                  </a:tr>
                  <a:tr h="773815">
                    <a:tc vMerge="1">
                      <a:txBody>
                        <a:bodyPr/>
                        <a:lstStyle/>
                        <a:p>
                          <a:pPr algn="l">
                            <a:lnSpc>
                              <a:spcPct val="115000"/>
                            </a:lnSpc>
                          </a:pPr>
                          <a:endParaRPr lang="zh-CN" sz="1100" kern="100" dirty="0">
                            <a:solidFill>
                              <a:srgbClr val="000000"/>
                            </a:solidFill>
                            <a:effectLst/>
                            <a:latin typeface="+mj-ea"/>
                            <a:ea typeface="+mj-ea"/>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DACDE4"/>
                        </a:solidFill>
                      </a:tcPr>
                    </a:tc>
                    <a:tc>
                      <a:txBody>
                        <a:bodyPr/>
                        <a:lstStyle/>
                        <a:p>
                          <a:pPr algn="ctr">
                            <a:lnSpc>
                              <a:spcPct val="115000"/>
                            </a:lnSpc>
                            <a:spcAft>
                              <a:spcPts val="800"/>
                            </a:spcAft>
                          </a:pPr>
                          <a:r>
                            <a:rPr lang="zh-CN" sz="900" b="1" kern="0" dirty="0">
                              <a:solidFill>
                                <a:schemeClr val="tx1"/>
                              </a:solidFill>
                              <a:effectLst/>
                              <a:latin typeface="+mj-ea"/>
                              <a:ea typeface="+mj-ea"/>
                              <a:cs typeface="Arial" panose="020B0604020202020204" pitchFamily="34" charset="0"/>
                            </a:rPr>
                            <a:t>营收挽回</a:t>
                          </a:r>
                          <a:endParaRPr lang="en-US" altLang="zh-CN" sz="900" b="1" kern="0" dirty="0">
                            <a:solidFill>
                              <a:schemeClr val="tx1"/>
                            </a:solidFill>
                            <a:effectLst/>
                            <a:latin typeface="+mj-ea"/>
                            <a:ea typeface="+mj-ea"/>
                            <a:cs typeface="Arial" panose="020B0604020202020204" pitchFamily="34" charset="0"/>
                          </a:endParaRPr>
                        </a:p>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(Revenue Gain)</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14:m>
                            <m:oMathPara xmlns:m="http://schemas.openxmlformats.org/officeDocument/2006/math">
                              <m:oMathParaPr>
                                <m:jc m:val="left"/>
                              </m:oMathParaPr>
                              <m:oMath xmlns:m="http://schemas.openxmlformats.org/officeDocument/2006/math">
                                <m:sSub>
                                  <m:sSubPr>
                                    <m:ctrlPr>
                                      <a:rPr lang="zh-CN" sz="900" b="1" i="1" kern="0" smtClea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𝑹</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𝒈𝒂𝒊𝒏</m:t>
                                    </m:r>
                                  </m:sub>
                                </m:sSub>
                                <m:r>
                                  <a:rPr lang="en-US" sz="900" b="1" i="1" kern="0" smtClean="0">
                                    <a:solidFill>
                                      <a:schemeClr val="tx1"/>
                                    </a:solidFill>
                                    <a:effectLst/>
                                    <a:latin typeface="Cambria Math" panose="02040503050406030204" pitchFamily="18" charset="0"/>
                                    <a:ea typeface="+mj-ea"/>
                                    <a:cs typeface="Arial" panose="020B0604020202020204" pitchFamily="34" charset="0"/>
                                  </a:rPr>
                                  <m:t> = </m:t>
                                </m:r>
                                <m:sSub>
                                  <m:sSubPr>
                                    <m:ctrlPr>
                                      <a:rPr lang="zh-CN" sz="900" b="1" i="1" ker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𝑺𝒂𝒍𝒆𝒔</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𝒍𝒐𝒔𝒕</m:t>
                                    </m:r>
                                  </m:sub>
                                </m:sSub>
                                <m:r>
                                  <a:rPr lang="en-US" sz="900" b="1" i="1" kern="0" smtClean="0">
                                    <a:solidFill>
                                      <a:schemeClr val="tx1"/>
                                    </a:solidFill>
                                    <a:effectLst/>
                                    <a:latin typeface="Cambria Math" panose="02040503050406030204" pitchFamily="18" charset="0"/>
                                    <a:ea typeface="+mj-ea"/>
                                    <a:cs typeface="Arial" panose="020B0604020202020204" pitchFamily="34" charset="0"/>
                                  </a:rPr>
                                  <m:t>×∆</m:t>
                                </m:r>
                                <m:r>
                                  <a:rPr lang="en-US" sz="900" b="1" i="1" kern="0" smtClean="0">
                                    <a:solidFill>
                                      <a:schemeClr val="tx1"/>
                                    </a:solidFill>
                                    <a:effectLst/>
                                    <a:latin typeface="Cambria Math" panose="02040503050406030204" pitchFamily="18" charset="0"/>
                                    <a:ea typeface="+mj-ea"/>
                                    <a:cs typeface="Arial" panose="020B0604020202020204" pitchFamily="34" charset="0"/>
                                  </a:rPr>
                                  <m:t>𝑶𝑻𝑫</m:t>
                                </m:r>
                                <m:r>
                                  <a:rPr lang="en-US" sz="900" b="1" i="1" kern="0" smtClean="0">
                                    <a:solidFill>
                                      <a:schemeClr val="tx1"/>
                                    </a:solidFill>
                                    <a:effectLst/>
                                    <a:latin typeface="Cambria Math" panose="02040503050406030204" pitchFamily="18" charset="0"/>
                                    <a:ea typeface="+mj-ea"/>
                                    <a:cs typeface="Arial" panose="020B0604020202020204" pitchFamily="34" charset="0"/>
                                  </a:rPr>
                                  <m:t>%</m:t>
                                </m:r>
                              </m:oMath>
                            </m:oMathPara>
                          </a14:m>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marL="342900" lvl="0" indent="-342900" algn="l">
                            <a:lnSpc>
                              <a:spcPct val="115000"/>
                            </a:lnSpc>
                            <a:buFont typeface="+mj-lt"/>
                            <a:buAutoNum type="arabicPeriod"/>
                          </a:pPr>
                          <a14:m>
                            <m:oMath xmlns:m="http://schemas.openxmlformats.org/officeDocument/2006/math">
                              <m:r>
                                <a:rPr lang="en-US" sz="900" b="1" i="1" kern="0" smtClean="0">
                                  <a:solidFill>
                                    <a:schemeClr val="tx1"/>
                                  </a:solidFill>
                                  <a:effectLst/>
                                  <a:latin typeface="Cambria Math" panose="02040503050406030204" pitchFamily="18" charset="0"/>
                                  <a:ea typeface="+mj-ea"/>
                                  <a:cs typeface="Arial" panose="020B0604020202020204" pitchFamily="34" charset="0"/>
                                </a:rPr>
                                <m:t>𝑶𝑻𝑫</m:t>
                              </m:r>
                            </m:oMath>
                          </a14:m>
                          <a:r>
                            <a:rPr lang="en-US" sz="900" b="1" kern="0" dirty="0">
                              <a:solidFill>
                                <a:schemeClr val="tx1"/>
                              </a:solidFill>
                              <a:effectLst/>
                              <a:latin typeface="+mj-ea"/>
                              <a:ea typeface="+mj-ea"/>
                              <a:cs typeface="Arial" panose="020B0604020202020204" pitchFamily="34" charset="0"/>
                            </a:rPr>
                            <a:t> (On-Time Delivery) </a:t>
                          </a:r>
                          <a:r>
                            <a:rPr lang="zh-CN" sz="900" b="1" kern="0" dirty="0">
                              <a:solidFill>
                                <a:schemeClr val="tx1"/>
                              </a:solidFill>
                              <a:effectLst/>
                              <a:latin typeface="+mj-ea"/>
                              <a:ea typeface="+mj-ea"/>
                              <a:cs typeface="Arial" panose="020B0604020202020204" pitchFamily="34" charset="0"/>
                            </a:rPr>
                            <a:t>准时交付率：衡量供应链可靠性的核心指标。</a:t>
                          </a:r>
                          <a:endParaRPr lang="zh-CN" sz="900" b="1" kern="100" dirty="0">
                            <a:solidFill>
                              <a:schemeClr val="tx1"/>
                            </a:solidFill>
                            <a:effectLst/>
                            <a:latin typeface="+mj-ea"/>
                            <a:ea typeface="+mj-ea"/>
                            <a:cs typeface="Times New Roman" panose="02020603050405020304" pitchFamily="18" charset="0"/>
                          </a:endParaRPr>
                        </a:p>
                        <a:p>
                          <a:pPr marL="342900" lvl="0" indent="-342900" algn="l">
                            <a:lnSpc>
                              <a:spcPct val="115000"/>
                            </a:lnSpc>
                            <a:buFont typeface="+mj-lt"/>
                            <a:buAutoNum type="arabicPeriod"/>
                          </a:pPr>
                          <a14:m>
                            <m:oMath xmlns:m="http://schemas.openxmlformats.org/officeDocument/2006/math">
                              <m:sSub>
                                <m:sSubPr>
                                  <m:ctrlPr>
                                    <a:rPr lang="zh-CN" sz="900" b="1" i="1" ker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𝑺𝒂𝒍𝒆𝒔</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𝒍𝒐𝒔𝒕</m:t>
                                  </m:r>
                                </m:sub>
                              </m:sSub>
                            </m:oMath>
                          </a14:m>
                          <a:r>
                            <a:rPr lang="zh-CN" sz="900" b="1" kern="0" dirty="0">
                              <a:solidFill>
                                <a:schemeClr val="tx1"/>
                              </a:solidFill>
                              <a:effectLst/>
                              <a:latin typeface="+mj-ea"/>
                              <a:ea typeface="+mj-ea"/>
                              <a:cs typeface="MS Gothic" panose="020B0609070205080204" pitchFamily="49" charset="-128"/>
                            </a:rPr>
                            <a:t>​</a:t>
                          </a:r>
                          <a:r>
                            <a:rPr lang="zh-CN" sz="900" b="1" kern="0" dirty="0">
                              <a:solidFill>
                                <a:schemeClr val="tx1"/>
                              </a:solidFill>
                              <a:effectLst/>
                              <a:latin typeface="+mj-ea"/>
                              <a:ea typeface="+mj-ea"/>
                              <a:cs typeface="Arial" panose="020B0604020202020204" pitchFamily="34" charset="0"/>
                            </a:rPr>
                            <a:t>：因缺货或延期而流失的潜在销售额。</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r>
                            <a:rPr lang="en-US" sz="900" b="1" kern="0">
                              <a:solidFill>
                                <a:schemeClr val="tx1"/>
                              </a:solidFill>
                              <a:effectLst/>
                              <a:latin typeface="+mj-ea"/>
                              <a:ea typeface="+mj-ea"/>
                              <a:cs typeface="Arial" panose="020B0604020202020204" pitchFamily="34" charset="0"/>
                            </a:rPr>
                            <a:t>OTP </a:t>
                          </a:r>
                          <a:r>
                            <a:rPr lang="zh-CN" sz="900" b="1" kern="0">
                              <a:solidFill>
                                <a:schemeClr val="tx1"/>
                              </a:solidFill>
                              <a:effectLst/>
                              <a:latin typeface="+mj-ea"/>
                              <a:ea typeface="+mj-ea"/>
                              <a:cs typeface="Arial" panose="020B0604020202020204" pitchFamily="34" charset="0"/>
                            </a:rPr>
                            <a:t>引擎：确保</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给出的承诺必达成</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，挽回因不信任而流失的订单；</a:t>
                          </a:r>
                          <a:r>
                            <a:rPr lang="en-US" sz="900" b="1" kern="0">
                              <a:solidFill>
                                <a:schemeClr val="tx1"/>
                              </a:solidFill>
                              <a:effectLst/>
                              <a:latin typeface="+mj-ea"/>
                              <a:ea typeface="+mj-ea"/>
                              <a:cs typeface="Arial" panose="020B0604020202020204" pitchFamily="34" charset="0"/>
                            </a:rPr>
                            <a:t>Flash Delivery (</a:t>
                          </a:r>
                          <a:r>
                            <a:rPr lang="zh-CN" sz="900" b="1" kern="0">
                              <a:solidFill>
                                <a:schemeClr val="tx1"/>
                              </a:solidFill>
                              <a:effectLst/>
                              <a:latin typeface="+mj-ea"/>
                              <a:ea typeface="+mj-ea"/>
                              <a:cs typeface="Arial" panose="020B0604020202020204" pitchFamily="34" charset="0"/>
                            </a:rPr>
                            <a:t>极速响应</a:t>
                          </a:r>
                          <a:r>
                            <a:rPr lang="en-US" sz="900" b="1" kern="0">
                              <a:solidFill>
                                <a:schemeClr val="tx1"/>
                              </a:solidFill>
                              <a:effectLst/>
                              <a:latin typeface="+mj-ea"/>
                              <a:ea typeface="+mj-ea"/>
                              <a:cs typeface="Arial" panose="020B0604020202020204" pitchFamily="34" charset="0"/>
                            </a:rPr>
                            <a:t>) </a:t>
                          </a:r>
                          <a:r>
                            <a:rPr lang="zh-CN" sz="900" b="1" kern="0">
                              <a:solidFill>
                                <a:schemeClr val="tx1"/>
                              </a:solidFill>
                              <a:effectLst/>
                              <a:latin typeface="+mj-ea"/>
                              <a:ea typeface="+mj-ea"/>
                              <a:cs typeface="Arial" panose="020B0604020202020204" pitchFamily="34" charset="0"/>
                            </a:rPr>
                            <a:t>能力支持溢价接单。</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1205472178"/>
                      </a:ext>
                    </a:extLst>
                  </a:tr>
                  <a:tr h="773815">
                    <a:tc>
                      <a:txBody>
                        <a:bodyPr/>
                        <a:lstStyle/>
                        <a:p>
                          <a:pPr algn="ctr">
                            <a:lnSpc>
                              <a:spcPct val="115000"/>
                            </a:lnSpc>
                            <a:spcAft>
                              <a:spcPts val="800"/>
                            </a:spcAft>
                          </a:pPr>
                          <a:r>
                            <a:rPr lang="zh-CN" sz="1050" b="1" kern="0" dirty="0">
                              <a:solidFill>
                                <a:srgbClr val="000000"/>
                              </a:solidFill>
                              <a:effectLst/>
                              <a:latin typeface="+mj-ea"/>
                              <a:ea typeface="+mj-ea"/>
                              <a:cs typeface="Arial" panose="020B0604020202020204" pitchFamily="34" charset="0"/>
                            </a:rPr>
                            <a:t>股东回报</a:t>
                          </a:r>
                          <a:endParaRPr lang="en-US" altLang="zh-CN" sz="1050" b="1" kern="0" dirty="0">
                            <a:solidFill>
                              <a:srgbClr val="000000"/>
                            </a:solidFill>
                            <a:effectLst/>
                            <a:latin typeface="+mj-ea"/>
                            <a:ea typeface="+mj-ea"/>
                            <a:cs typeface="Arial" panose="020B0604020202020204" pitchFamily="34" charset="0"/>
                          </a:endParaRPr>
                        </a:p>
                        <a:p>
                          <a:pPr algn="ctr">
                            <a:lnSpc>
                              <a:spcPct val="115000"/>
                            </a:lnSpc>
                            <a:spcAft>
                              <a:spcPts val="800"/>
                            </a:spcAft>
                          </a:pPr>
                          <a:r>
                            <a:rPr lang="en-US" sz="1050" b="1" kern="0" dirty="0">
                              <a:solidFill>
                                <a:srgbClr val="000000"/>
                              </a:solidFill>
                              <a:effectLst/>
                              <a:latin typeface="+mj-ea"/>
                              <a:ea typeface="+mj-ea"/>
                              <a:cs typeface="Arial" panose="020B0604020202020204" pitchFamily="34" charset="0"/>
                            </a:rPr>
                            <a:t>(</a:t>
                          </a:r>
                          <a:r>
                            <a:rPr lang="zh-CN" sz="1050" b="1" kern="0" dirty="0">
                              <a:solidFill>
                                <a:srgbClr val="000000"/>
                              </a:solidFill>
                              <a:effectLst/>
                              <a:latin typeface="+mj-ea"/>
                              <a:ea typeface="+mj-ea"/>
                              <a:cs typeface="Arial" panose="020B0604020202020204" pitchFamily="34" charset="0"/>
                            </a:rPr>
                            <a:t>资本效率</a:t>
                          </a:r>
                          <a:r>
                            <a:rPr lang="en-US" sz="1050" b="1" kern="0" dirty="0">
                              <a:solidFill>
                                <a:srgbClr val="000000"/>
                              </a:solidFill>
                              <a:effectLst/>
                              <a:latin typeface="+mj-ea"/>
                              <a:ea typeface="+mj-ea"/>
                              <a:cs typeface="Arial" panose="020B0604020202020204" pitchFamily="34" charset="0"/>
                            </a:rPr>
                            <a:t>)</a:t>
                          </a:r>
                          <a:endParaRPr lang="zh-CN" sz="105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DACDE4"/>
                        </a:solidFill>
                      </a:tcPr>
                    </a:tc>
                    <a:tc>
                      <a:txBody>
                        <a:bodyPr/>
                        <a:lstStyle/>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ROIC </a:t>
                          </a:r>
                          <a:r>
                            <a:rPr lang="zh-CN" sz="900" b="1" kern="0" dirty="0">
                              <a:solidFill>
                                <a:schemeClr val="tx1"/>
                              </a:solidFill>
                              <a:effectLst/>
                              <a:latin typeface="+mj-ea"/>
                              <a:ea typeface="+mj-ea"/>
                              <a:cs typeface="Arial" panose="020B0604020202020204" pitchFamily="34" charset="0"/>
                            </a:rPr>
                            <a:t>提升</a:t>
                          </a:r>
                          <a:endParaRPr lang="en-US" altLang="zh-CN" sz="900" b="1" kern="0" dirty="0">
                            <a:solidFill>
                              <a:schemeClr val="tx1"/>
                            </a:solidFill>
                            <a:effectLst/>
                            <a:latin typeface="+mj-ea"/>
                            <a:ea typeface="+mj-ea"/>
                            <a:cs typeface="Arial" panose="020B0604020202020204" pitchFamily="34" charset="0"/>
                          </a:endParaRPr>
                        </a:p>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(Return on Invested Capital)</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14:m>
                            <m:oMathPara xmlns:m="http://schemas.openxmlformats.org/officeDocument/2006/math">
                              <m:oMathParaPr>
                                <m:jc m:val="left"/>
                              </m:oMathParaPr>
                              <m:oMath xmlns:m="http://schemas.openxmlformats.org/officeDocument/2006/math">
                                <m:r>
                                  <a:rPr lang="en-US" sz="900" b="1" i="1" kern="0" smtClean="0">
                                    <a:solidFill>
                                      <a:schemeClr val="tx1"/>
                                    </a:solidFill>
                                    <a:effectLst/>
                                    <a:latin typeface="Cambria Math" panose="02040503050406030204" pitchFamily="18" charset="0"/>
                                    <a:ea typeface="+mj-ea"/>
                                    <a:cs typeface="MS Gothic" panose="020B0609070205080204" pitchFamily="49" charset="-128"/>
                                  </a:rPr>
                                  <m:t>∆</m:t>
                                </m:r>
                                <m:r>
                                  <a:rPr lang="en-US" sz="900" b="1" i="1" kern="0" smtClean="0">
                                    <a:solidFill>
                                      <a:schemeClr val="tx1"/>
                                    </a:solidFill>
                                    <a:effectLst/>
                                    <a:latin typeface="Cambria Math" panose="02040503050406030204" pitchFamily="18" charset="0"/>
                                    <a:ea typeface="+mj-ea"/>
                                    <a:cs typeface="MS Gothic" panose="020B0609070205080204" pitchFamily="49" charset="-128"/>
                                  </a:rPr>
                                  <m:t>𝑹𝑶𝑰𝑪</m:t>
                                </m:r>
                                <m:r>
                                  <a:rPr lang="en-US" sz="900" b="1" i="1" kern="0" smtClean="0">
                                    <a:solidFill>
                                      <a:schemeClr val="tx1"/>
                                    </a:solidFill>
                                    <a:effectLst/>
                                    <a:latin typeface="Cambria Math" panose="02040503050406030204" pitchFamily="18" charset="0"/>
                                    <a:ea typeface="+mj-ea"/>
                                    <a:cs typeface="MS Gothic" panose="020B0609070205080204" pitchFamily="49" charset="-128"/>
                                  </a:rPr>
                                  <m:t>=</m:t>
                                </m:r>
                                <m:f>
                                  <m:fPr>
                                    <m:ctrlPr>
                                      <a:rPr lang="zh-CN" sz="900" b="1" i="1" kern="0">
                                        <a:solidFill>
                                          <a:schemeClr val="tx1"/>
                                        </a:solidFill>
                                        <a:effectLst/>
                                        <a:latin typeface="Cambria Math" panose="02040503050406030204" pitchFamily="18" charset="0"/>
                                        <a:ea typeface="+mj-ea"/>
                                        <a:cs typeface="MS Gothic" panose="020B0609070205080204" pitchFamily="49" charset="-128"/>
                                      </a:rPr>
                                    </m:ctrlPr>
                                  </m:fPr>
                                  <m:num>
                                    <m:r>
                                      <a:rPr lang="en-US" sz="900" b="1" i="1" kern="0" smtClean="0">
                                        <a:solidFill>
                                          <a:schemeClr val="tx1"/>
                                        </a:solidFill>
                                        <a:effectLst/>
                                        <a:latin typeface="Cambria Math" panose="02040503050406030204" pitchFamily="18" charset="0"/>
                                        <a:ea typeface="+mj-ea"/>
                                        <a:cs typeface="MS Gothic" panose="020B0609070205080204" pitchFamily="49" charset="-128"/>
                                      </a:rPr>
                                      <m:t>𝑬𝑩𝑰𝑻</m:t>
                                    </m:r>
                                    <m:r>
                                      <a:rPr lang="en-US" sz="900" b="1" i="1" kern="0" smtClean="0">
                                        <a:solidFill>
                                          <a:schemeClr val="tx1"/>
                                        </a:solidFill>
                                        <a:effectLst/>
                                        <a:latin typeface="Cambria Math" panose="02040503050406030204" pitchFamily="18" charset="0"/>
                                        <a:ea typeface="+mj-ea"/>
                                        <a:cs typeface="MS Gothic" panose="020B0609070205080204" pitchFamily="49" charset="-128"/>
                                      </a:rPr>
                                      <m:t>+</m:t>
                                    </m:r>
                                    <m:sSub>
                                      <m:sSubPr>
                                        <m:ctrlPr>
                                          <a:rPr lang="zh-CN" sz="900" b="1" i="1" ker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𝑺𝒂𝒍𝒆𝒔</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𝒕𝒐𝒕𝒂𝒍</m:t>
                                        </m:r>
                                      </m:sub>
                                    </m:sSub>
                                    <m:r>
                                      <a:rPr lang="en-US" sz="900" b="1" i="1" kern="0" smtClean="0">
                                        <a:solidFill>
                                          <a:schemeClr val="tx1"/>
                                        </a:solidFill>
                                        <a:effectLst/>
                                        <a:latin typeface="Cambria Math" panose="02040503050406030204" pitchFamily="18" charset="0"/>
                                        <a:ea typeface="+mj-ea"/>
                                        <a:cs typeface="Arial" panose="020B0604020202020204" pitchFamily="34" charset="0"/>
                                      </a:rPr>
                                      <m:t>+</m:t>
                                    </m:r>
                                    <m:sSub>
                                      <m:sSubPr>
                                        <m:ctrlPr>
                                          <a:rPr lang="zh-CN" sz="900" b="1" i="1" ker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𝑹</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𝒈𝒂𝒊𝒏</m:t>
                                        </m:r>
                                      </m:sub>
                                    </m:sSub>
                                  </m:num>
                                  <m:den>
                                    <m:r>
                                      <a:rPr lang="en-US" sz="900" b="1" i="1" kern="0" smtClean="0">
                                        <a:solidFill>
                                          <a:schemeClr val="tx1"/>
                                        </a:solidFill>
                                        <a:effectLst/>
                                        <a:latin typeface="Cambria Math" panose="02040503050406030204" pitchFamily="18" charset="0"/>
                                        <a:ea typeface="+mj-ea"/>
                                        <a:cs typeface="MS Gothic" panose="020B0609070205080204" pitchFamily="49" charset="-128"/>
                                      </a:rPr>
                                      <m:t>𝑰𝑪</m:t>
                                    </m:r>
                                    <m:r>
                                      <a:rPr lang="en-US" sz="900" b="1" i="1" kern="0" smtClean="0">
                                        <a:solidFill>
                                          <a:schemeClr val="tx1"/>
                                        </a:solidFill>
                                        <a:effectLst/>
                                        <a:latin typeface="Cambria Math" panose="02040503050406030204" pitchFamily="18" charset="0"/>
                                        <a:ea typeface="+mj-ea"/>
                                        <a:cs typeface="MS Gothic" panose="020B0609070205080204" pitchFamily="49" charset="-128"/>
                                      </a:rPr>
                                      <m:t>−∆</m:t>
                                    </m:r>
                                    <m:r>
                                      <a:rPr lang="en-US" sz="900" b="1" i="1" kern="0" smtClean="0">
                                        <a:solidFill>
                                          <a:schemeClr val="tx1"/>
                                        </a:solidFill>
                                        <a:effectLst/>
                                        <a:latin typeface="Cambria Math" panose="02040503050406030204" pitchFamily="18" charset="0"/>
                                        <a:ea typeface="+mj-ea"/>
                                        <a:cs typeface="MS Gothic" panose="020B0609070205080204" pitchFamily="49" charset="-128"/>
                                      </a:rPr>
                                      <m:t>𝑪𝒂𝒔𝒉</m:t>
                                    </m:r>
                                  </m:den>
                                </m:f>
                                <m:r>
                                  <a:rPr lang="en-US" sz="900" b="1" i="1" kern="0" smtClean="0">
                                    <a:solidFill>
                                      <a:schemeClr val="tx1"/>
                                    </a:solidFill>
                                    <a:effectLst/>
                                    <a:latin typeface="Cambria Math" panose="02040503050406030204" pitchFamily="18" charset="0"/>
                                    <a:ea typeface="+mj-ea"/>
                                    <a:cs typeface="MS Gothic" panose="020B0609070205080204" pitchFamily="49" charset="-128"/>
                                  </a:rPr>
                                  <m:t>−</m:t>
                                </m:r>
                                <m:sSub>
                                  <m:sSubPr>
                                    <m:ctrlPr>
                                      <a:rPr lang="zh-CN" sz="900" b="1" i="1" kern="0">
                                        <a:solidFill>
                                          <a:schemeClr val="tx1"/>
                                        </a:solidFill>
                                        <a:effectLst/>
                                        <a:latin typeface="Cambria Math" panose="02040503050406030204" pitchFamily="18" charset="0"/>
                                        <a:ea typeface="+mj-ea"/>
                                        <a:cs typeface="MS Gothic" panose="020B0609070205080204" pitchFamily="49" charset="-128"/>
                                      </a:rPr>
                                    </m:ctrlPr>
                                  </m:sSubPr>
                                  <m:e>
                                    <m:r>
                                      <a:rPr lang="en-US" sz="900" b="1" i="1" kern="0" smtClean="0">
                                        <a:solidFill>
                                          <a:schemeClr val="tx1"/>
                                        </a:solidFill>
                                        <a:effectLst/>
                                        <a:latin typeface="Cambria Math" panose="02040503050406030204" pitchFamily="18" charset="0"/>
                                        <a:ea typeface="+mj-ea"/>
                                        <a:cs typeface="MS Gothic" panose="020B0609070205080204" pitchFamily="49" charset="-128"/>
                                      </a:rPr>
                                      <m:t>𝑹𝑶𝑰𝑪</m:t>
                                    </m:r>
                                  </m:e>
                                  <m:sub>
                                    <m:r>
                                      <a:rPr lang="en-US" sz="900" b="1" i="1" kern="0" smtClean="0">
                                        <a:solidFill>
                                          <a:schemeClr val="tx1"/>
                                        </a:solidFill>
                                        <a:effectLst/>
                                        <a:latin typeface="Cambria Math" panose="02040503050406030204" pitchFamily="18" charset="0"/>
                                        <a:ea typeface="+mj-ea"/>
                                        <a:cs typeface="MS Gothic" panose="020B0609070205080204" pitchFamily="49" charset="-128"/>
                                      </a:rPr>
                                      <m:t>𝒐𝒍𝒅</m:t>
                                    </m:r>
                                  </m:sub>
                                </m:sSub>
                              </m:oMath>
                            </m:oMathPara>
                          </a14:m>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marL="342900" lvl="0" indent="-342900" algn="l">
                            <a:lnSpc>
                              <a:spcPct val="115000"/>
                            </a:lnSpc>
                            <a:buFont typeface="+mj-lt"/>
                            <a:buAutoNum type="arabicPeriod"/>
                          </a:pPr>
                          <a14:m>
                            <m:oMath xmlns:m="http://schemas.openxmlformats.org/officeDocument/2006/math">
                              <m:r>
                                <a:rPr lang="en-US" sz="900" b="1" i="1" kern="0" smtClean="0">
                                  <a:solidFill>
                                    <a:schemeClr val="tx1"/>
                                  </a:solidFill>
                                  <a:effectLst/>
                                  <a:latin typeface="Cambria Math" panose="02040503050406030204" pitchFamily="18" charset="0"/>
                                  <a:ea typeface="+mj-ea"/>
                                  <a:cs typeface="MS Gothic" panose="020B0609070205080204" pitchFamily="49" charset="-128"/>
                                </a:rPr>
                                <m:t>𝑹𝑶𝑰𝑪</m:t>
                              </m:r>
                            </m:oMath>
                          </a14:m>
                          <a:r>
                            <a:rPr lang="en-US" sz="900" b="1" kern="0">
                              <a:solidFill>
                                <a:schemeClr val="tx1"/>
                              </a:solidFill>
                              <a:effectLst/>
                              <a:latin typeface="+mj-ea"/>
                              <a:ea typeface="+mj-ea"/>
                              <a:cs typeface="Arial" panose="020B0604020202020204" pitchFamily="34" charset="0"/>
                            </a:rPr>
                            <a:t> (Return on Invested Capital) </a:t>
                          </a:r>
                          <a:r>
                            <a:rPr lang="zh-CN" sz="900" b="1" kern="0">
                              <a:solidFill>
                                <a:schemeClr val="tx1"/>
                              </a:solidFill>
                              <a:effectLst/>
                              <a:latin typeface="+mj-ea"/>
                              <a:ea typeface="+mj-ea"/>
                              <a:cs typeface="Arial" panose="020B0604020202020204" pitchFamily="34" charset="0"/>
                            </a:rPr>
                            <a:t>投入资本回报率：衡量资本使用效率的终极指标，是投资人最看重的内功。</a:t>
                          </a:r>
                          <a:endParaRPr lang="zh-CN" sz="900" b="1" kern="100">
                            <a:solidFill>
                              <a:schemeClr val="tx1"/>
                            </a:solidFill>
                            <a:effectLst/>
                            <a:latin typeface="+mj-ea"/>
                            <a:ea typeface="+mj-ea"/>
                            <a:cs typeface="Times New Roman" panose="02020603050405020304" pitchFamily="18" charset="0"/>
                          </a:endParaRPr>
                        </a:p>
                        <a:p>
                          <a:pPr marL="342900" lvl="0" indent="-342900" algn="l">
                            <a:lnSpc>
                              <a:spcPct val="115000"/>
                            </a:lnSpc>
                            <a:spcAft>
                              <a:spcPts val="800"/>
                            </a:spcAft>
                            <a:buFont typeface="+mj-lt"/>
                            <a:buAutoNum type="arabicPeriod"/>
                          </a:pPr>
                          <a14:m>
                            <m:oMath xmlns:m="http://schemas.openxmlformats.org/officeDocument/2006/math">
                              <m:r>
                                <a:rPr lang="en-US" sz="900" b="1" i="1" kern="0" smtClean="0">
                                  <a:solidFill>
                                    <a:schemeClr val="tx1"/>
                                  </a:solidFill>
                                  <a:effectLst/>
                                  <a:latin typeface="Cambria Math" panose="02040503050406030204" pitchFamily="18" charset="0"/>
                                  <a:ea typeface="+mj-ea"/>
                                  <a:cs typeface="MS Gothic" panose="020B0609070205080204" pitchFamily="49" charset="-128"/>
                                </a:rPr>
                                <m:t>𝑬𝑩𝑰𝑻</m:t>
                              </m:r>
                            </m:oMath>
                          </a14:m>
                          <a:r>
                            <a:rPr lang="en-US" sz="900" b="1" kern="0">
                              <a:solidFill>
                                <a:schemeClr val="tx1"/>
                              </a:solidFill>
                              <a:effectLst/>
                              <a:latin typeface="+mj-ea"/>
                              <a:ea typeface="+mj-ea"/>
                              <a:cs typeface="Arial" panose="020B0604020202020204" pitchFamily="34" charset="0"/>
                            </a:rPr>
                            <a:t> (Earnings Before Interest &amp; Taxes) </a:t>
                          </a:r>
                          <a:r>
                            <a:rPr lang="zh-CN" sz="900" b="1" kern="0">
                              <a:solidFill>
                                <a:schemeClr val="tx1"/>
                              </a:solidFill>
                              <a:effectLst/>
                              <a:latin typeface="+mj-ea"/>
                              <a:ea typeface="+mj-ea"/>
                              <a:cs typeface="Arial" panose="020B0604020202020204" pitchFamily="34" charset="0"/>
                            </a:rPr>
                            <a:t>息税前利润：反映核心业务盈利能力。</a:t>
                          </a:r>
                          <a14:m>
                            <m:oMath xmlns:m="http://schemas.openxmlformats.org/officeDocument/2006/math">
                              <m:r>
                                <a:rPr lang="en-US" sz="900" b="1" i="1" kern="0" smtClean="0">
                                  <a:solidFill>
                                    <a:schemeClr val="tx1"/>
                                  </a:solidFill>
                                  <a:effectLst/>
                                  <a:latin typeface="Cambria Math" panose="02040503050406030204" pitchFamily="18" charset="0"/>
                                  <a:ea typeface="+mj-ea"/>
                                  <a:cs typeface="MS Gothic" panose="020B0609070205080204" pitchFamily="49" charset="-128"/>
                                </a:rPr>
                                <m:t>𝑰𝑪</m:t>
                              </m:r>
                            </m:oMath>
                          </a14:m>
                          <a:r>
                            <a:rPr lang="en-US" sz="900" b="1" kern="0">
                              <a:solidFill>
                                <a:schemeClr val="tx1"/>
                              </a:solidFill>
                              <a:effectLst/>
                              <a:latin typeface="+mj-ea"/>
                              <a:ea typeface="+mj-ea"/>
                              <a:cs typeface="Arial" panose="020B0604020202020204" pitchFamily="34" charset="0"/>
                            </a:rPr>
                            <a:t> (Invested Capital) </a:t>
                          </a:r>
                          <a:r>
                            <a:rPr lang="zh-CN" sz="900" b="1" kern="0">
                              <a:solidFill>
                                <a:schemeClr val="tx1"/>
                              </a:solidFill>
                              <a:effectLst/>
                              <a:latin typeface="+mj-ea"/>
                              <a:ea typeface="+mj-ea"/>
                              <a:cs typeface="Arial" panose="020B0604020202020204" pitchFamily="34" charset="0"/>
                            </a:rPr>
                            <a:t>投入资本：固定资产</a:t>
                          </a:r>
                          <a:r>
                            <a:rPr lang="en-US" sz="900" b="1" kern="0">
                              <a:solidFill>
                                <a:schemeClr val="tx1"/>
                              </a:solidFill>
                              <a:effectLst/>
                              <a:latin typeface="+mj-ea"/>
                              <a:ea typeface="+mj-ea"/>
                              <a:cs typeface="Arial" panose="020B0604020202020204" pitchFamily="34" charset="0"/>
                            </a:rPr>
                            <a:t> + </a:t>
                          </a:r>
                          <a:r>
                            <a:rPr lang="zh-CN" sz="900" b="1" kern="0">
                              <a:solidFill>
                                <a:schemeClr val="tx1"/>
                              </a:solidFill>
                              <a:effectLst/>
                              <a:latin typeface="+mj-ea"/>
                              <a:ea typeface="+mj-ea"/>
                              <a:cs typeface="Arial" panose="020B0604020202020204" pitchFamily="34" charset="0"/>
                            </a:rPr>
                            <a:t>营运资金。</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r>
                            <a:rPr lang="zh-CN" sz="900" b="1" kern="0">
                              <a:solidFill>
                                <a:schemeClr val="tx1"/>
                              </a:solidFill>
                              <a:effectLst/>
                              <a:latin typeface="+mj-ea"/>
                              <a:ea typeface="+mj-ea"/>
                              <a:cs typeface="Arial" panose="020B0604020202020204" pitchFamily="34" charset="0"/>
                            </a:rPr>
                            <a:t>双向杠杆效应：分子端（利润）因降本增收而增加，分母端（占用资本）因库存释放而减少，带来回报率的乘数级跃升。</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1440327100"/>
                      </a:ext>
                    </a:extLst>
                  </a:tr>
                  <a:tr h="949155">
                    <a:tc rowSpan="2">
                      <a:txBody>
                        <a:bodyPr/>
                        <a:lstStyle/>
                        <a:p>
                          <a:pPr algn="ctr">
                            <a:lnSpc>
                              <a:spcPct val="115000"/>
                            </a:lnSpc>
                            <a:spcAft>
                              <a:spcPts val="800"/>
                            </a:spcAft>
                          </a:pPr>
                          <a:r>
                            <a:rPr lang="zh-CN" sz="1050" b="1" kern="0" dirty="0">
                              <a:solidFill>
                                <a:srgbClr val="000000"/>
                              </a:solidFill>
                              <a:effectLst/>
                              <a:latin typeface="+mj-ea"/>
                              <a:ea typeface="+mj-ea"/>
                              <a:cs typeface="Arial" panose="020B0604020202020204" pitchFamily="34" charset="0"/>
                            </a:rPr>
                            <a:t>资本市场</a:t>
                          </a:r>
                          <a:endParaRPr lang="en-US" altLang="zh-CN" sz="1050" b="1" kern="0" dirty="0">
                            <a:solidFill>
                              <a:srgbClr val="000000"/>
                            </a:solidFill>
                            <a:effectLst/>
                            <a:latin typeface="+mj-ea"/>
                            <a:ea typeface="+mj-ea"/>
                            <a:cs typeface="Arial" panose="020B0604020202020204" pitchFamily="34" charset="0"/>
                          </a:endParaRPr>
                        </a:p>
                        <a:p>
                          <a:pPr algn="ctr">
                            <a:lnSpc>
                              <a:spcPct val="115000"/>
                            </a:lnSpc>
                            <a:spcAft>
                              <a:spcPts val="800"/>
                            </a:spcAft>
                          </a:pPr>
                          <a:r>
                            <a:rPr lang="en-US" sz="1050" b="1" kern="0" dirty="0">
                              <a:solidFill>
                                <a:srgbClr val="000000"/>
                              </a:solidFill>
                              <a:effectLst/>
                              <a:latin typeface="+mj-ea"/>
                              <a:ea typeface="+mj-ea"/>
                              <a:cs typeface="Arial" panose="020B0604020202020204" pitchFamily="34" charset="0"/>
                            </a:rPr>
                            <a:t>(</a:t>
                          </a:r>
                          <a:r>
                            <a:rPr lang="zh-CN" sz="1050" b="1" kern="0" dirty="0">
                              <a:solidFill>
                                <a:srgbClr val="000000"/>
                              </a:solidFill>
                              <a:effectLst/>
                              <a:latin typeface="+mj-ea"/>
                              <a:ea typeface="+mj-ea"/>
                              <a:cs typeface="Arial" panose="020B0604020202020204" pitchFamily="34" charset="0"/>
                            </a:rPr>
                            <a:t>市值管理</a:t>
                          </a:r>
                          <a:r>
                            <a:rPr lang="en-US" sz="1050" b="1" kern="0" dirty="0">
                              <a:solidFill>
                                <a:srgbClr val="000000"/>
                              </a:solidFill>
                              <a:effectLst/>
                              <a:latin typeface="+mj-ea"/>
                              <a:ea typeface="+mj-ea"/>
                              <a:cs typeface="Arial" panose="020B0604020202020204" pitchFamily="34" charset="0"/>
                            </a:rPr>
                            <a:t>)</a:t>
                          </a:r>
                          <a:endParaRPr lang="zh-CN" sz="105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DACDE4"/>
                        </a:solidFill>
                      </a:tcPr>
                    </a:tc>
                    <a:tc>
                      <a:txBody>
                        <a:bodyPr/>
                        <a:lstStyle/>
                        <a:p>
                          <a:pPr algn="ctr">
                            <a:lnSpc>
                              <a:spcPct val="115000"/>
                            </a:lnSpc>
                            <a:spcAft>
                              <a:spcPts val="800"/>
                            </a:spcAft>
                          </a:pPr>
                          <a:r>
                            <a:rPr lang="zh-CN" sz="900" b="1" kern="0" dirty="0">
                              <a:solidFill>
                                <a:schemeClr val="tx1"/>
                              </a:solidFill>
                              <a:effectLst/>
                              <a:latin typeface="+mj-ea"/>
                              <a:ea typeface="+mj-ea"/>
                              <a:cs typeface="Arial" panose="020B0604020202020204" pitchFamily="34" charset="0"/>
                            </a:rPr>
                            <a:t>确定性溢价</a:t>
                          </a:r>
                          <a:endParaRPr lang="en-US" altLang="zh-CN" sz="900" b="1" kern="0" dirty="0">
                            <a:solidFill>
                              <a:schemeClr val="tx1"/>
                            </a:solidFill>
                            <a:effectLst/>
                            <a:latin typeface="+mj-ea"/>
                            <a:ea typeface="+mj-ea"/>
                            <a:cs typeface="Arial" panose="020B0604020202020204" pitchFamily="34" charset="0"/>
                          </a:endParaRPr>
                        </a:p>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(Valuation Premium)</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14:m>
                            <m:oMathPara xmlns:m="http://schemas.openxmlformats.org/officeDocument/2006/math">
                              <m:oMathParaPr>
                                <m:jc m:val="centerGroup"/>
                              </m:oMathParaPr>
                              <m:oMath xmlns:m="http://schemas.openxmlformats.org/officeDocument/2006/math">
                                <m:r>
                                  <a:rPr lang="en-US" sz="900" b="1" i="1" kern="0" smtClean="0">
                                    <a:solidFill>
                                      <a:schemeClr val="tx1"/>
                                    </a:solidFill>
                                    <a:effectLst/>
                                    <a:latin typeface="Cambria Math" panose="02040503050406030204" pitchFamily="18" charset="0"/>
                                    <a:ea typeface="+mj-ea"/>
                                    <a:cs typeface="Arial" panose="020B0604020202020204" pitchFamily="34" charset="0"/>
                                  </a:rPr>
                                  <m:t>𝑴𝒂𝒓𝒌𝒆𝒕</m:t>
                                </m:r>
                                <m:r>
                                  <a:rPr lang="en-US" sz="900" b="1" i="1" kern="0" smtClean="0">
                                    <a:solidFill>
                                      <a:schemeClr val="tx1"/>
                                    </a:solidFill>
                                    <a:effectLst/>
                                    <a:latin typeface="Cambria Math" panose="02040503050406030204" pitchFamily="18" charset="0"/>
                                    <a:ea typeface="+mj-ea"/>
                                    <a:cs typeface="Arial" panose="020B0604020202020204" pitchFamily="34" charset="0"/>
                                  </a:rPr>
                                  <m:t> </m:t>
                                </m:r>
                                <m:r>
                                  <a:rPr lang="en-US" sz="900" b="1" i="1" kern="0" smtClean="0">
                                    <a:solidFill>
                                      <a:schemeClr val="tx1"/>
                                    </a:solidFill>
                                    <a:effectLst/>
                                    <a:latin typeface="Cambria Math" panose="02040503050406030204" pitchFamily="18" charset="0"/>
                                    <a:ea typeface="+mj-ea"/>
                                    <a:cs typeface="Arial" panose="020B0604020202020204" pitchFamily="34" charset="0"/>
                                  </a:rPr>
                                  <m:t>𝑪𝒂𝒑</m:t>
                                </m:r>
                                <m:r>
                                  <a:rPr lang="en-US" sz="900" b="1" i="1" kern="0" smtClean="0">
                                    <a:solidFill>
                                      <a:schemeClr val="tx1"/>
                                    </a:solidFill>
                                    <a:effectLst/>
                                    <a:latin typeface="Cambria Math" panose="02040503050406030204" pitchFamily="18" charset="0"/>
                                    <a:ea typeface="+mj-ea"/>
                                    <a:cs typeface="Arial" panose="020B0604020202020204" pitchFamily="34" charset="0"/>
                                  </a:rPr>
                                  <m:t>=</m:t>
                                </m:r>
                                <m:r>
                                  <a:rPr lang="en-US" sz="900" b="1" i="1" kern="0" smtClean="0">
                                    <a:solidFill>
                                      <a:schemeClr val="tx1"/>
                                    </a:solidFill>
                                    <a:effectLst/>
                                    <a:latin typeface="Cambria Math" panose="02040503050406030204" pitchFamily="18" charset="0"/>
                                    <a:ea typeface="+mj-ea"/>
                                    <a:cs typeface="Arial" panose="020B0604020202020204" pitchFamily="34" charset="0"/>
                                  </a:rPr>
                                  <m:t>𝑵𝒆𝒕</m:t>
                                </m:r>
                                <m:r>
                                  <a:rPr lang="en-US" sz="900" b="1" i="1" kern="0" smtClean="0">
                                    <a:solidFill>
                                      <a:schemeClr val="tx1"/>
                                    </a:solidFill>
                                    <a:effectLst/>
                                    <a:latin typeface="Cambria Math" panose="02040503050406030204" pitchFamily="18" charset="0"/>
                                    <a:ea typeface="+mj-ea"/>
                                    <a:cs typeface="Arial" panose="020B0604020202020204" pitchFamily="34" charset="0"/>
                                  </a:rPr>
                                  <m:t> </m:t>
                                </m:r>
                                <m:r>
                                  <a:rPr lang="en-US" sz="900" b="1" i="1" kern="0" smtClean="0">
                                    <a:solidFill>
                                      <a:schemeClr val="tx1"/>
                                    </a:solidFill>
                                    <a:effectLst/>
                                    <a:latin typeface="Cambria Math" panose="02040503050406030204" pitchFamily="18" charset="0"/>
                                    <a:ea typeface="+mj-ea"/>
                                    <a:cs typeface="Arial" panose="020B0604020202020204" pitchFamily="34" charset="0"/>
                                  </a:rPr>
                                  <m:t>𝑷𝒓𝒐𝒇𝒊𝒕</m:t>
                                </m:r>
                                <m:r>
                                  <a:rPr lang="en-US" sz="900" b="1" i="1" kern="0" smtClean="0">
                                    <a:solidFill>
                                      <a:schemeClr val="tx1"/>
                                    </a:solidFill>
                                    <a:effectLst/>
                                    <a:latin typeface="Cambria Math" panose="02040503050406030204" pitchFamily="18" charset="0"/>
                                    <a:ea typeface="+mj-ea"/>
                                    <a:cs typeface="Arial" panose="020B0604020202020204" pitchFamily="34" charset="0"/>
                                  </a:rPr>
                                  <m:t>×(</m:t>
                                </m:r>
                                <m:f>
                                  <m:fPr>
                                    <m:type m:val="lin"/>
                                    <m:ctrlPr>
                                      <a:rPr lang="zh-CN" sz="900" b="1" i="1" kern="0">
                                        <a:solidFill>
                                          <a:schemeClr val="tx1"/>
                                        </a:solidFill>
                                        <a:effectLst/>
                                        <a:latin typeface="Cambria Math" panose="02040503050406030204" pitchFamily="18" charset="0"/>
                                        <a:ea typeface="+mj-ea"/>
                                        <a:cs typeface="Arial" panose="020B0604020202020204" pitchFamily="34" charset="0"/>
                                      </a:rPr>
                                    </m:ctrlPr>
                                  </m:fPr>
                                  <m:num>
                                    <m:r>
                                      <a:rPr lang="en-US" sz="900" b="1" i="1" kern="0" smtClean="0">
                                        <a:solidFill>
                                          <a:schemeClr val="tx1"/>
                                        </a:solidFill>
                                        <a:effectLst/>
                                        <a:latin typeface="Cambria Math" panose="02040503050406030204" pitchFamily="18" charset="0"/>
                                        <a:ea typeface="+mj-ea"/>
                                        <a:cs typeface="Arial" panose="020B0604020202020204" pitchFamily="34" charset="0"/>
                                      </a:rPr>
                                      <m:t>𝑷</m:t>
                                    </m:r>
                                  </m:num>
                                  <m:den>
                                    <m:sSub>
                                      <m:sSubPr>
                                        <m:ctrlPr>
                                          <a:rPr lang="zh-CN" sz="900" b="1" i="1" kern="0">
                                            <a:solidFill>
                                              <a:schemeClr val="tx1"/>
                                            </a:solidFill>
                                            <a:effectLst/>
                                            <a:latin typeface="Cambria Math" panose="02040503050406030204" pitchFamily="18" charset="0"/>
                                            <a:ea typeface="+mj-ea"/>
                                            <a:cs typeface="Arial" panose="020B0604020202020204" pitchFamily="34" charset="0"/>
                                          </a:rPr>
                                        </m:ctrlPr>
                                      </m:sSubPr>
                                      <m:e>
                                        <m:r>
                                          <a:rPr lang="en-US" sz="900" b="1" i="1" kern="0" smtClean="0">
                                            <a:solidFill>
                                              <a:schemeClr val="tx1"/>
                                            </a:solidFill>
                                            <a:effectLst/>
                                            <a:latin typeface="Cambria Math" panose="02040503050406030204" pitchFamily="18" charset="0"/>
                                            <a:ea typeface="+mj-ea"/>
                                            <a:cs typeface="Arial" panose="020B0604020202020204" pitchFamily="34" charset="0"/>
                                          </a:rPr>
                                          <m:t>𝑬</m:t>
                                        </m:r>
                                      </m:e>
                                      <m:sub>
                                        <m:r>
                                          <a:rPr lang="en-US" sz="900" b="1" i="1" kern="0" smtClean="0">
                                            <a:solidFill>
                                              <a:schemeClr val="tx1"/>
                                            </a:solidFill>
                                            <a:effectLst/>
                                            <a:latin typeface="Cambria Math" panose="02040503050406030204" pitchFamily="18" charset="0"/>
                                            <a:ea typeface="+mj-ea"/>
                                            <a:cs typeface="Arial" panose="020B0604020202020204" pitchFamily="34" charset="0"/>
                                          </a:rPr>
                                          <m:t>𝒃𝒂𝒔𝒆</m:t>
                                        </m:r>
                                      </m:sub>
                                    </m:sSub>
                                  </m:den>
                                </m:f>
                                <m:r>
                                  <a:rPr lang="en-US" sz="900" b="1" i="1" kern="0" smtClean="0">
                                    <a:solidFill>
                                      <a:schemeClr val="tx1"/>
                                    </a:solidFill>
                                    <a:effectLst/>
                                    <a:latin typeface="Cambria Math" panose="02040503050406030204" pitchFamily="18" charset="0"/>
                                    <a:ea typeface="+mj-ea"/>
                                    <a:cs typeface="Arial" panose="020B0604020202020204" pitchFamily="34" charset="0"/>
                                  </a:rPr>
                                  <m:t>+</m:t>
                                </m:r>
                                <m:r>
                                  <a:rPr lang="en-US" sz="900" b="1" i="1" kern="0" smtClean="0">
                                    <a:solidFill>
                                      <a:schemeClr val="tx1"/>
                                    </a:solidFill>
                                    <a:effectLst/>
                                    <a:latin typeface="Cambria Math" panose="02040503050406030204" pitchFamily="18" charset="0"/>
                                    <a:ea typeface="+mj-ea"/>
                                    <a:cs typeface="Arial" panose="020B0604020202020204" pitchFamily="34" charset="0"/>
                                  </a:rPr>
                                  <m:t>𝜶</m:t>
                                </m:r>
                                <m:r>
                                  <a:rPr lang="en-US" sz="900" b="1" i="1" kern="0" smtClean="0">
                                    <a:solidFill>
                                      <a:schemeClr val="tx1"/>
                                    </a:solidFill>
                                    <a:effectLst/>
                                    <a:latin typeface="Cambria Math" panose="02040503050406030204" pitchFamily="18" charset="0"/>
                                    <a:ea typeface="+mj-ea"/>
                                    <a:cs typeface="Arial" panose="020B0604020202020204" pitchFamily="34" charset="0"/>
                                  </a:rPr>
                                  <m:t>)</m:t>
                                </m:r>
                              </m:oMath>
                            </m:oMathPara>
                          </a14:m>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marL="342900" lvl="0" indent="-342900" algn="l">
                            <a:lnSpc>
                              <a:spcPct val="115000"/>
                            </a:lnSpc>
                            <a:buFont typeface="+mj-lt"/>
                            <a:buAutoNum type="arabicPeriod"/>
                          </a:pPr>
                          <a14:m>
                            <m:oMath xmlns:m="http://schemas.openxmlformats.org/officeDocument/2006/math">
                              <m:f>
                                <m:fPr>
                                  <m:type m:val="lin"/>
                                  <m:ctrlPr>
                                    <a:rPr lang="zh-CN" sz="900" b="1" i="1" kern="0" smtClean="0">
                                      <a:solidFill>
                                        <a:schemeClr val="tx1"/>
                                      </a:solidFill>
                                      <a:effectLst/>
                                      <a:latin typeface="Cambria Math" panose="02040503050406030204" pitchFamily="18" charset="0"/>
                                      <a:ea typeface="+mj-ea"/>
                                      <a:cs typeface="Arial" panose="020B0604020202020204" pitchFamily="34" charset="0"/>
                                    </a:rPr>
                                  </m:ctrlPr>
                                </m:fPr>
                                <m:num>
                                  <m:r>
                                    <a:rPr lang="en-US" sz="900" b="1" i="1" kern="0" smtClean="0">
                                      <a:solidFill>
                                        <a:schemeClr val="tx1"/>
                                      </a:solidFill>
                                      <a:effectLst/>
                                      <a:latin typeface="Cambria Math" panose="02040503050406030204" pitchFamily="18" charset="0"/>
                                      <a:ea typeface="+mj-ea"/>
                                      <a:cs typeface="Arial" panose="020B0604020202020204" pitchFamily="34" charset="0"/>
                                    </a:rPr>
                                    <m:t>𝑷</m:t>
                                  </m:r>
                                </m:num>
                                <m:den>
                                  <m:r>
                                    <a:rPr lang="en-US" sz="900" b="1" i="1" kern="0" smtClean="0">
                                      <a:solidFill>
                                        <a:schemeClr val="tx1"/>
                                      </a:solidFill>
                                      <a:effectLst/>
                                      <a:latin typeface="Cambria Math" panose="02040503050406030204" pitchFamily="18" charset="0"/>
                                      <a:ea typeface="+mj-ea"/>
                                      <a:cs typeface="Arial" panose="020B0604020202020204" pitchFamily="34" charset="0"/>
                                    </a:rPr>
                                    <m:t>𝑬</m:t>
                                  </m:r>
                                </m:den>
                              </m:f>
                            </m:oMath>
                          </a14:m>
                          <a:r>
                            <a:rPr lang="en-US" sz="900" b="1" kern="0" dirty="0">
                              <a:solidFill>
                                <a:schemeClr val="tx1"/>
                              </a:solidFill>
                              <a:effectLst/>
                              <a:latin typeface="+mj-ea"/>
                              <a:ea typeface="+mj-ea"/>
                              <a:cs typeface="Arial" panose="020B0604020202020204" pitchFamily="34" charset="0"/>
                            </a:rPr>
                            <a:t> (Price-to-Earnings Ratio) </a:t>
                          </a:r>
                          <a:r>
                            <a:rPr lang="zh-CN" sz="900" b="1" kern="0" dirty="0">
                              <a:solidFill>
                                <a:schemeClr val="tx1"/>
                              </a:solidFill>
                              <a:effectLst/>
                              <a:latin typeface="+mj-ea"/>
                              <a:ea typeface="+mj-ea"/>
                              <a:cs typeface="Arial" panose="020B0604020202020204" pitchFamily="34" charset="0"/>
                            </a:rPr>
                            <a:t>市盈率：估值倍数，受增长预期和确定性影响。</a:t>
                          </a:r>
                          <a:endParaRPr lang="zh-CN" sz="900" b="1" kern="100" dirty="0">
                            <a:solidFill>
                              <a:schemeClr val="tx1"/>
                            </a:solidFill>
                            <a:effectLst/>
                            <a:latin typeface="+mj-ea"/>
                            <a:ea typeface="+mj-ea"/>
                            <a:cs typeface="Times New Roman" panose="02020603050405020304" pitchFamily="18" charset="0"/>
                          </a:endParaRPr>
                        </a:p>
                        <a:p>
                          <a:pPr marL="342900" lvl="0" indent="-342900" algn="l">
                            <a:lnSpc>
                              <a:spcPct val="115000"/>
                            </a:lnSpc>
                            <a:spcAft>
                              <a:spcPts val="800"/>
                            </a:spcAft>
                            <a:buFont typeface="+mj-lt"/>
                            <a:buAutoNum type="arabicPeriod"/>
                          </a:pPr>
                          <a14:m>
                            <m:oMath xmlns:m="http://schemas.openxmlformats.org/officeDocument/2006/math">
                              <m:r>
                                <a:rPr lang="en-US" sz="900" b="1" i="1" kern="0" smtClean="0">
                                  <a:solidFill>
                                    <a:schemeClr val="tx1"/>
                                  </a:solidFill>
                                  <a:effectLst/>
                                  <a:latin typeface="Cambria Math" panose="02040503050406030204" pitchFamily="18" charset="0"/>
                                  <a:ea typeface="+mj-ea"/>
                                  <a:cs typeface="Arial" panose="020B0604020202020204" pitchFamily="34" charset="0"/>
                                </a:rPr>
                                <m:t>𝜶</m:t>
                              </m:r>
                            </m:oMath>
                          </a14:m>
                          <a:r>
                            <a:rPr lang="en-US" sz="900" b="1" kern="0" dirty="0">
                              <a:solidFill>
                                <a:schemeClr val="tx1"/>
                              </a:solidFill>
                              <a:effectLst/>
                              <a:latin typeface="+mj-ea"/>
                              <a:ea typeface="+mj-ea"/>
                              <a:cs typeface="Arial" panose="020B0604020202020204" pitchFamily="34" charset="0"/>
                            </a:rPr>
                            <a:t> (Premium Coefficient) </a:t>
                          </a:r>
                          <a:r>
                            <a:rPr lang="zh-CN" sz="900" b="1" kern="0" dirty="0">
                              <a:solidFill>
                                <a:schemeClr val="tx1"/>
                              </a:solidFill>
                              <a:effectLst/>
                              <a:latin typeface="+mj-ea"/>
                              <a:ea typeface="+mj-ea"/>
                              <a:cs typeface="Arial" panose="020B0604020202020204" pitchFamily="34" charset="0"/>
                            </a:rPr>
                            <a:t>溢价系数：因业绩指引（</a:t>
                          </a:r>
                          <a:r>
                            <a:rPr lang="en-US" sz="900" b="1" kern="0" dirty="0">
                              <a:solidFill>
                                <a:schemeClr val="tx1"/>
                              </a:solidFill>
                              <a:effectLst/>
                              <a:latin typeface="+mj-ea"/>
                              <a:ea typeface="+mj-ea"/>
                              <a:cs typeface="Arial" panose="020B0604020202020204" pitchFamily="34" charset="0"/>
                            </a:rPr>
                            <a:t>Guidance</a:t>
                          </a:r>
                          <a:r>
                            <a:rPr lang="zh-CN" sz="900" b="1" kern="0" dirty="0">
                              <a:solidFill>
                                <a:schemeClr val="tx1"/>
                              </a:solidFill>
                              <a:effectLst/>
                              <a:latin typeface="+mj-ea"/>
                              <a:ea typeface="+mj-ea"/>
                              <a:cs typeface="Arial" panose="020B0604020202020204" pitchFamily="34" charset="0"/>
                            </a:rPr>
                            <a:t>）精准达成而获得的估值加成。</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r>
                            <a:rPr lang="en-US" sz="900" b="1" kern="0">
                              <a:solidFill>
                                <a:schemeClr val="tx1"/>
                              </a:solidFill>
                              <a:effectLst/>
                              <a:latin typeface="+mj-ea"/>
                              <a:ea typeface="+mj-ea"/>
                              <a:cs typeface="Arial" panose="020B0604020202020204" pitchFamily="34" charset="0"/>
                            </a:rPr>
                            <a:t>IBP (</a:t>
                          </a:r>
                          <a:r>
                            <a:rPr lang="zh-CN" sz="900" b="1" kern="0">
                              <a:solidFill>
                                <a:schemeClr val="tx1"/>
                              </a:solidFill>
                              <a:effectLst/>
                              <a:latin typeface="+mj-ea"/>
                              <a:ea typeface="+mj-ea"/>
                              <a:cs typeface="Arial" panose="020B0604020202020204" pitchFamily="34" charset="0"/>
                            </a:rPr>
                            <a:t>集成商业计划</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：打通财务与运营，让</a:t>
                          </a:r>
                          <a:r>
                            <a:rPr lang="en-US" sz="900" b="1" kern="0">
                              <a:solidFill>
                                <a:schemeClr val="tx1"/>
                              </a:solidFill>
                              <a:effectLst/>
                              <a:latin typeface="+mj-ea"/>
                              <a:ea typeface="+mj-ea"/>
                              <a:cs typeface="Arial" panose="020B0604020202020204" pitchFamily="34" charset="0"/>
                            </a:rPr>
                            <a:t>CFO</a:t>
                          </a:r>
                          <a:r>
                            <a:rPr lang="zh-CN" sz="900" b="1" kern="0">
                              <a:solidFill>
                                <a:schemeClr val="tx1"/>
                              </a:solidFill>
                              <a:effectLst/>
                              <a:latin typeface="+mj-ea"/>
                              <a:ea typeface="+mj-ea"/>
                              <a:cs typeface="Arial" panose="020B0604020202020204" pitchFamily="34" charset="0"/>
                            </a:rPr>
                            <a:t>发布的业绩指引极度精准。连续达成预期</a:t>
                          </a:r>
                          <a:r>
                            <a:rPr lang="en-US" sz="900" b="1" kern="0">
                              <a:solidFill>
                                <a:schemeClr val="tx1"/>
                              </a:solidFill>
                              <a:effectLst/>
                              <a:latin typeface="+mj-ea"/>
                              <a:ea typeface="+mj-ea"/>
                              <a:cs typeface="Arial" panose="020B0604020202020204" pitchFamily="34" charset="0"/>
                            </a:rPr>
                            <a:t> = </a:t>
                          </a:r>
                          <a:r>
                            <a:rPr lang="zh-CN" sz="900" b="1" kern="0">
                              <a:solidFill>
                                <a:schemeClr val="tx1"/>
                              </a:solidFill>
                              <a:effectLst/>
                              <a:latin typeface="+mj-ea"/>
                              <a:ea typeface="+mj-ea"/>
                              <a:cs typeface="Arial" panose="020B0604020202020204" pitchFamily="34" charset="0"/>
                            </a:rPr>
                            <a:t>信誉溢价，资本市场愿意为</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确定性</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支付更高的倍数。</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2129123514"/>
                      </a:ext>
                    </a:extLst>
                  </a:tr>
                  <a:tr h="955848">
                    <a:tc vMerge="1">
                      <a:txBody>
                        <a:bodyPr/>
                        <a:lstStyle/>
                        <a:p>
                          <a:endParaRPr lang="zh-CN" altLang="en-US"/>
                        </a:p>
                      </a:txBody>
                      <a:tcPr/>
                    </a:tc>
                    <a:tc>
                      <a:txBody>
                        <a:bodyPr/>
                        <a:lstStyle/>
                        <a:p>
                          <a:pPr algn="ctr">
                            <a:lnSpc>
                              <a:spcPct val="115000"/>
                            </a:lnSpc>
                            <a:spcAft>
                              <a:spcPts val="800"/>
                            </a:spcAft>
                          </a:pPr>
                          <a:r>
                            <a:rPr lang="zh-CN" sz="900" b="1" kern="0" dirty="0">
                              <a:solidFill>
                                <a:schemeClr val="tx1"/>
                              </a:solidFill>
                              <a:effectLst/>
                              <a:latin typeface="+mj-ea"/>
                              <a:ea typeface="+mj-ea"/>
                              <a:cs typeface="Arial" panose="020B0604020202020204" pitchFamily="34" charset="0"/>
                            </a:rPr>
                            <a:t>风险折价消除</a:t>
                          </a:r>
                          <a:endParaRPr lang="en-US" altLang="zh-CN" sz="900" b="1" kern="0" dirty="0">
                            <a:solidFill>
                              <a:schemeClr val="tx1"/>
                            </a:solidFill>
                            <a:effectLst/>
                            <a:latin typeface="+mj-ea"/>
                            <a:ea typeface="+mj-ea"/>
                            <a:cs typeface="Arial" panose="020B0604020202020204" pitchFamily="34" charset="0"/>
                          </a:endParaRPr>
                        </a:p>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(Risk Reduction)</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14:m>
                            <m:oMathPara xmlns:m="http://schemas.openxmlformats.org/officeDocument/2006/math">
                              <m:oMathParaPr>
                                <m:jc m:val="centerGroup"/>
                              </m:oMathParaPr>
                              <m:oMath xmlns:m="http://schemas.openxmlformats.org/officeDocument/2006/math">
                                <m:r>
                                  <a:rPr lang="en-US" sz="900" b="1" i="1" kern="0" smtClean="0">
                                    <a:solidFill>
                                      <a:schemeClr val="tx1"/>
                                    </a:solidFill>
                                    <a:effectLst/>
                                    <a:latin typeface="Cambria Math" panose="02040503050406030204" pitchFamily="18" charset="0"/>
                                    <a:ea typeface="+mj-ea"/>
                                    <a:cs typeface="Arial" panose="020B0604020202020204" pitchFamily="34" charset="0"/>
                                  </a:rPr>
                                  <m:t>𝑽𝒂𝒍𝒖𝒂𝒕𝒊𝒐𝒏</m:t>
                                </m:r>
                                <m:r>
                                  <a:rPr lang="en-US" sz="900" b="1" i="1" kern="0" smtClean="0">
                                    <a:solidFill>
                                      <a:schemeClr val="tx1"/>
                                    </a:solidFill>
                                    <a:effectLst/>
                                    <a:latin typeface="Cambria Math" panose="02040503050406030204" pitchFamily="18" charset="0"/>
                                    <a:ea typeface="+mj-ea"/>
                                    <a:cs typeface="Arial" panose="020B0604020202020204" pitchFamily="34" charset="0"/>
                                  </a:rPr>
                                  <m:t>=</m:t>
                                </m:r>
                                <m:nary>
                                  <m:naryPr>
                                    <m:chr m:val="∑"/>
                                    <m:limLoc m:val="undOvr"/>
                                    <m:subHide m:val="on"/>
                                    <m:supHide m:val="on"/>
                                    <m:ctrlPr>
                                      <a:rPr lang="zh-CN" sz="900" b="1" i="1" kern="0">
                                        <a:solidFill>
                                          <a:schemeClr val="tx1"/>
                                        </a:solidFill>
                                        <a:effectLst/>
                                        <a:latin typeface="Cambria Math" panose="02040503050406030204" pitchFamily="18" charset="0"/>
                                        <a:ea typeface="+mj-ea"/>
                                        <a:cs typeface="Arial" panose="020B0604020202020204" pitchFamily="34" charset="0"/>
                                      </a:rPr>
                                    </m:ctrlPr>
                                  </m:naryPr>
                                  <m:sub/>
                                  <m:sup/>
                                  <m:e>
                                    <m:f>
                                      <m:fPr>
                                        <m:ctrlPr>
                                          <a:rPr lang="zh-CN" sz="900" b="1" i="1" kern="0">
                                            <a:solidFill>
                                              <a:schemeClr val="tx1"/>
                                            </a:solidFill>
                                            <a:effectLst/>
                                            <a:latin typeface="Cambria Math" panose="02040503050406030204" pitchFamily="18" charset="0"/>
                                            <a:ea typeface="+mj-ea"/>
                                            <a:cs typeface="Arial" panose="020B0604020202020204" pitchFamily="34" charset="0"/>
                                          </a:rPr>
                                        </m:ctrlPr>
                                      </m:fPr>
                                      <m:num>
                                        <m:r>
                                          <a:rPr lang="en-US" sz="900" b="1" i="1" kern="0" smtClean="0">
                                            <a:solidFill>
                                              <a:schemeClr val="tx1"/>
                                            </a:solidFill>
                                            <a:effectLst/>
                                            <a:latin typeface="Cambria Math" panose="02040503050406030204" pitchFamily="18" charset="0"/>
                                            <a:ea typeface="+mj-ea"/>
                                            <a:cs typeface="Arial" panose="020B0604020202020204" pitchFamily="34" charset="0"/>
                                          </a:rPr>
                                          <m:t>𝑭𝑪𝑭</m:t>
                                        </m:r>
                                      </m:num>
                                      <m:den>
                                        <m:sSup>
                                          <m:sSupPr>
                                            <m:ctrlPr>
                                              <a:rPr lang="zh-CN" sz="900" b="1" i="1" kern="0">
                                                <a:solidFill>
                                                  <a:schemeClr val="tx1"/>
                                                </a:solidFill>
                                                <a:effectLst/>
                                                <a:latin typeface="Cambria Math" panose="02040503050406030204" pitchFamily="18" charset="0"/>
                                                <a:ea typeface="+mj-ea"/>
                                                <a:cs typeface="Arial" panose="020B0604020202020204" pitchFamily="34" charset="0"/>
                                              </a:rPr>
                                            </m:ctrlPr>
                                          </m:sSupPr>
                                          <m:e>
                                            <m:r>
                                              <a:rPr lang="en-US" sz="900" b="1" i="1" kern="0" smtClean="0">
                                                <a:solidFill>
                                                  <a:schemeClr val="tx1"/>
                                                </a:solidFill>
                                                <a:effectLst/>
                                                <a:latin typeface="Cambria Math" panose="02040503050406030204" pitchFamily="18" charset="0"/>
                                                <a:ea typeface="+mj-ea"/>
                                                <a:cs typeface="Arial" panose="020B0604020202020204" pitchFamily="34" charset="0"/>
                                              </a:rPr>
                                              <m:t>(</m:t>
                                            </m:r>
                                            <m:r>
                                              <a:rPr lang="en-US" sz="900" b="1" i="1" kern="0" smtClean="0">
                                                <a:solidFill>
                                                  <a:schemeClr val="tx1"/>
                                                </a:solidFill>
                                                <a:effectLst/>
                                                <a:latin typeface="Cambria Math" panose="02040503050406030204" pitchFamily="18" charset="0"/>
                                                <a:ea typeface="+mj-ea"/>
                                                <a:cs typeface="Arial" panose="020B0604020202020204" pitchFamily="34" charset="0"/>
                                              </a:rPr>
                                              <m:t>𝟏</m:t>
                                            </m:r>
                                            <m:r>
                                              <a:rPr lang="en-US" sz="900" b="1" i="1" kern="0" smtClean="0">
                                                <a:solidFill>
                                                  <a:schemeClr val="tx1"/>
                                                </a:solidFill>
                                                <a:effectLst/>
                                                <a:latin typeface="Cambria Math" panose="02040503050406030204" pitchFamily="18" charset="0"/>
                                                <a:ea typeface="+mj-ea"/>
                                                <a:cs typeface="Arial" panose="020B0604020202020204" pitchFamily="34" charset="0"/>
                                              </a:rPr>
                                              <m:t>+</m:t>
                                            </m:r>
                                            <m:r>
                                              <a:rPr lang="en-US" sz="900" b="1" i="1" kern="0" smtClean="0">
                                                <a:solidFill>
                                                  <a:schemeClr val="tx1"/>
                                                </a:solidFill>
                                                <a:effectLst/>
                                                <a:latin typeface="Cambria Math" panose="02040503050406030204" pitchFamily="18" charset="0"/>
                                                <a:ea typeface="+mj-ea"/>
                                                <a:cs typeface="Arial" panose="020B0604020202020204" pitchFamily="34" charset="0"/>
                                              </a:rPr>
                                              <m:t>𝒓</m:t>
                                            </m:r>
                                            <m:r>
                                              <a:rPr lang="en-US" sz="900" b="1" i="1" kern="0" smtClean="0">
                                                <a:solidFill>
                                                  <a:schemeClr val="tx1"/>
                                                </a:solidFill>
                                                <a:effectLst/>
                                                <a:latin typeface="Cambria Math" panose="02040503050406030204" pitchFamily="18" charset="0"/>
                                                <a:ea typeface="+mj-ea"/>
                                                <a:cs typeface="Arial" panose="020B0604020202020204" pitchFamily="34" charset="0"/>
                                              </a:rPr>
                                              <m:t>+</m:t>
                                            </m:r>
                                            <m:r>
                                              <a:rPr lang="en-US" sz="900" b="1" i="1" kern="0" smtClean="0">
                                                <a:solidFill>
                                                  <a:schemeClr val="tx1"/>
                                                </a:solidFill>
                                                <a:effectLst/>
                                                <a:latin typeface="Cambria Math" panose="02040503050406030204" pitchFamily="18" charset="0"/>
                                                <a:ea typeface="+mj-ea"/>
                                                <a:cs typeface="Arial" panose="020B0604020202020204" pitchFamily="34" charset="0"/>
                                              </a:rPr>
                                              <m:t>𝜹</m:t>
                                            </m:r>
                                            <m:r>
                                              <a:rPr lang="en-US" sz="900" b="1" i="1" kern="0" smtClean="0">
                                                <a:solidFill>
                                                  <a:schemeClr val="tx1"/>
                                                </a:solidFill>
                                                <a:effectLst/>
                                                <a:latin typeface="Cambria Math" panose="02040503050406030204" pitchFamily="18" charset="0"/>
                                                <a:ea typeface="+mj-ea"/>
                                                <a:cs typeface="Arial" panose="020B0604020202020204" pitchFamily="34" charset="0"/>
                                              </a:rPr>
                                              <m:t>)</m:t>
                                            </m:r>
                                          </m:e>
                                          <m:sup>
                                            <m:r>
                                              <a:rPr lang="en-US" sz="900" b="1" i="1" kern="0" smtClean="0">
                                                <a:solidFill>
                                                  <a:schemeClr val="tx1"/>
                                                </a:solidFill>
                                                <a:effectLst/>
                                                <a:latin typeface="Cambria Math" panose="02040503050406030204" pitchFamily="18" charset="0"/>
                                                <a:ea typeface="+mj-ea"/>
                                                <a:cs typeface="Arial" panose="020B0604020202020204" pitchFamily="34" charset="0"/>
                                              </a:rPr>
                                              <m:t>𝒕</m:t>
                                            </m:r>
                                          </m:sup>
                                        </m:sSup>
                                      </m:den>
                                    </m:f>
                                  </m:e>
                                </m:nary>
                              </m:oMath>
                            </m:oMathPara>
                          </a14:m>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marL="228600" indent="-228600" algn="l">
                            <a:lnSpc>
                              <a:spcPct val="115000"/>
                            </a:lnSpc>
                            <a:spcAft>
                              <a:spcPts val="800"/>
                            </a:spcAft>
                            <a:buFont typeface="+mj-lt"/>
                            <a:buAutoNum type="arabicPeriod"/>
                          </a:pPr>
                          <a14:m>
                            <m:oMath xmlns:m="http://schemas.openxmlformats.org/officeDocument/2006/math">
                              <m:r>
                                <a:rPr lang="en-US" sz="900" b="1" i="1" kern="0" smtClean="0">
                                  <a:solidFill>
                                    <a:schemeClr val="tx1"/>
                                  </a:solidFill>
                                  <a:effectLst/>
                                  <a:latin typeface="Cambria Math" panose="02040503050406030204" pitchFamily="18" charset="0"/>
                                  <a:ea typeface="+mj-ea"/>
                                  <a:cs typeface="Arial" panose="020B0604020202020204" pitchFamily="34" charset="0"/>
                                </a:rPr>
                                <m:t>𝑭𝑪𝑭</m:t>
                              </m:r>
                            </m:oMath>
                          </a14:m>
                          <a:r>
                            <a:rPr lang="en-US" sz="900" b="1" kern="0" dirty="0">
                              <a:solidFill>
                                <a:schemeClr val="tx1"/>
                              </a:solidFill>
                              <a:effectLst/>
                              <a:latin typeface="+mj-ea"/>
                              <a:ea typeface="+mj-ea"/>
                              <a:cs typeface="Arial" panose="020B0604020202020204" pitchFamily="34" charset="0"/>
                            </a:rPr>
                            <a:t> (Free Cash Flow) </a:t>
                          </a:r>
                          <a:r>
                            <a:rPr lang="zh-CN" sz="900" b="1" kern="0" dirty="0">
                              <a:solidFill>
                                <a:schemeClr val="tx1"/>
                              </a:solidFill>
                              <a:effectLst/>
                              <a:latin typeface="+mj-ea"/>
                              <a:ea typeface="+mj-ea"/>
                              <a:cs typeface="Arial" panose="020B0604020202020204" pitchFamily="34" charset="0"/>
                            </a:rPr>
                            <a:t>自由现金流：企业可自由支配的现金，估值模型的基础。</a:t>
                          </a:r>
                          <a:endParaRPr lang="zh-CN" sz="900" b="1" kern="100" dirty="0">
                            <a:solidFill>
                              <a:schemeClr val="tx1"/>
                            </a:solidFill>
                            <a:effectLst/>
                            <a:latin typeface="+mj-ea"/>
                            <a:ea typeface="+mj-ea"/>
                            <a:cs typeface="Times New Roman" panose="02020603050405020304" pitchFamily="18" charset="0"/>
                          </a:endParaRPr>
                        </a:p>
                        <a:p>
                          <a:pPr marL="228600" indent="-228600" algn="l">
                            <a:lnSpc>
                              <a:spcPct val="115000"/>
                            </a:lnSpc>
                            <a:spcAft>
                              <a:spcPts val="800"/>
                            </a:spcAft>
                            <a:buFont typeface="+mj-lt"/>
                            <a:buAutoNum type="arabicPeriod"/>
                          </a:pPr>
                          <a14:m>
                            <m:oMath xmlns:m="http://schemas.openxmlformats.org/officeDocument/2006/math">
                              <m:r>
                                <a:rPr lang="en-US" sz="900" b="1" i="1" kern="0" smtClean="0">
                                  <a:solidFill>
                                    <a:schemeClr val="tx1"/>
                                  </a:solidFill>
                                  <a:effectLst/>
                                  <a:latin typeface="Cambria Math" panose="02040503050406030204" pitchFamily="18" charset="0"/>
                                  <a:ea typeface="+mj-ea"/>
                                  <a:cs typeface="Arial" panose="020B0604020202020204" pitchFamily="34" charset="0"/>
                                </a:rPr>
                                <m:t>𝜹</m:t>
                              </m:r>
                            </m:oMath>
                          </a14:m>
                          <a:r>
                            <a:rPr lang="en-US" sz="900" b="1" kern="0" dirty="0">
                              <a:solidFill>
                                <a:schemeClr val="tx1"/>
                              </a:solidFill>
                              <a:effectLst/>
                              <a:latin typeface="+mj-ea"/>
                              <a:ea typeface="+mj-ea"/>
                              <a:cs typeface="Arial" panose="020B0604020202020204" pitchFamily="34" charset="0"/>
                            </a:rPr>
                            <a:t> (Risk Reduction Factor) </a:t>
                          </a:r>
                          <a:r>
                            <a:rPr lang="zh-CN" sz="900" b="1" kern="0" dirty="0">
                              <a:solidFill>
                                <a:schemeClr val="tx1"/>
                              </a:solidFill>
                              <a:effectLst/>
                              <a:latin typeface="+mj-ea"/>
                              <a:ea typeface="+mj-ea"/>
                              <a:cs typeface="Arial" panose="020B0604020202020204" pitchFamily="34" charset="0"/>
                            </a:rPr>
                            <a:t>风险降低因子：因抗风险能力强而降低的折现率（</a:t>
                          </a:r>
                          <a:r>
                            <a:rPr lang="en-US" sz="900" b="1" kern="0" dirty="0">
                              <a:solidFill>
                                <a:schemeClr val="tx1"/>
                              </a:solidFill>
                              <a:effectLst/>
                              <a:latin typeface="+mj-ea"/>
                              <a:ea typeface="+mj-ea"/>
                              <a:cs typeface="Arial" panose="020B0604020202020204" pitchFamily="34" charset="0"/>
                            </a:rPr>
                            <a:t>Discount Rate</a:t>
                          </a:r>
                          <a:r>
                            <a:rPr lang="zh-CN" sz="900" b="1" kern="0" dirty="0">
                              <a:solidFill>
                                <a:schemeClr val="tx1"/>
                              </a:solidFill>
                              <a:effectLst/>
                              <a:latin typeface="+mj-ea"/>
                              <a:ea typeface="+mj-ea"/>
                              <a:cs typeface="Arial" panose="020B0604020202020204" pitchFamily="34" charset="0"/>
                            </a:rPr>
                            <a:t>）。</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pPr algn="l">
                            <a:lnSpc>
                              <a:spcPct val="115000"/>
                            </a:lnSpc>
                            <a:spcAft>
                              <a:spcPts val="800"/>
                            </a:spcAft>
                          </a:pPr>
                          <a:r>
                            <a:rPr lang="en-US" sz="900" b="1" kern="0" dirty="0">
                              <a:solidFill>
                                <a:schemeClr val="tx1"/>
                              </a:solidFill>
                              <a:effectLst/>
                              <a:latin typeface="+mj-ea"/>
                              <a:ea typeface="+mj-ea"/>
                              <a:cs typeface="Arial" panose="020B0604020202020204" pitchFamily="34" charset="0"/>
                            </a:rPr>
                            <a:t>Control Tower (</a:t>
                          </a:r>
                          <a:r>
                            <a:rPr lang="zh-CN" sz="900" b="1" kern="0" dirty="0">
                              <a:solidFill>
                                <a:schemeClr val="tx1"/>
                              </a:solidFill>
                              <a:effectLst/>
                              <a:latin typeface="+mj-ea"/>
                              <a:ea typeface="+mj-ea"/>
                              <a:cs typeface="Arial" panose="020B0604020202020204" pitchFamily="34" charset="0"/>
                            </a:rPr>
                            <a:t>控制塔</a:t>
                          </a:r>
                          <a:r>
                            <a:rPr lang="en-US" sz="900" b="1" kern="0" dirty="0">
                              <a:solidFill>
                                <a:schemeClr val="tx1"/>
                              </a:solidFill>
                              <a:effectLst/>
                              <a:latin typeface="+mj-ea"/>
                              <a:ea typeface="+mj-ea"/>
                              <a:cs typeface="Arial" panose="020B0604020202020204" pitchFamily="34" charset="0"/>
                            </a:rPr>
                            <a:t>)</a:t>
                          </a:r>
                          <a:r>
                            <a:rPr lang="zh-CN" sz="900" b="1" kern="0" dirty="0">
                              <a:solidFill>
                                <a:schemeClr val="tx1"/>
                              </a:solidFill>
                              <a:effectLst/>
                              <a:latin typeface="+mj-ea"/>
                              <a:ea typeface="+mj-ea"/>
                              <a:cs typeface="Arial" panose="020B0604020202020204" pitchFamily="34" charset="0"/>
                            </a:rPr>
                            <a:t>：具备极强的</a:t>
                          </a:r>
                          <a:r>
                            <a:rPr lang="en-US" sz="900" b="1" kern="0" dirty="0">
                              <a:solidFill>
                                <a:schemeClr val="tx1"/>
                              </a:solidFill>
                              <a:effectLst/>
                              <a:latin typeface="+mj-ea"/>
                              <a:ea typeface="+mj-ea"/>
                              <a:cs typeface="Arial" panose="020B0604020202020204" pitchFamily="34" charset="0"/>
                            </a:rPr>
                            <a:t> Resilience (</a:t>
                          </a:r>
                          <a:r>
                            <a:rPr lang="zh-CN" sz="900" b="1" kern="0" dirty="0">
                              <a:solidFill>
                                <a:schemeClr val="tx1"/>
                              </a:solidFill>
                              <a:effectLst/>
                              <a:latin typeface="+mj-ea"/>
                              <a:ea typeface="+mj-ea"/>
                              <a:cs typeface="Arial" panose="020B0604020202020204" pitchFamily="34" charset="0"/>
                            </a:rPr>
                            <a:t>抗风险韧性</a:t>
                          </a:r>
                          <a:r>
                            <a:rPr lang="en-US" sz="900" b="1" kern="0" dirty="0">
                              <a:solidFill>
                                <a:schemeClr val="tx1"/>
                              </a:solidFill>
                              <a:effectLst/>
                              <a:latin typeface="+mj-ea"/>
                              <a:ea typeface="+mj-ea"/>
                              <a:cs typeface="Arial" panose="020B0604020202020204" pitchFamily="34" charset="0"/>
                            </a:rPr>
                            <a:t>)</a:t>
                          </a:r>
                          <a:r>
                            <a:rPr lang="zh-CN" sz="900" b="1" kern="0" dirty="0">
                              <a:solidFill>
                                <a:schemeClr val="tx1"/>
                              </a:solidFill>
                              <a:effectLst/>
                              <a:latin typeface="+mj-ea"/>
                              <a:ea typeface="+mj-ea"/>
                              <a:cs typeface="Arial" panose="020B0604020202020204" pitchFamily="34" charset="0"/>
                            </a:rPr>
                            <a:t>，通过</a:t>
                          </a:r>
                          <a:r>
                            <a:rPr lang="en-US" sz="900" b="1" kern="0" dirty="0">
                              <a:solidFill>
                                <a:schemeClr val="tx1"/>
                              </a:solidFill>
                              <a:effectLst/>
                              <a:latin typeface="+mj-ea"/>
                              <a:ea typeface="+mj-ea"/>
                              <a:cs typeface="Arial" panose="020B0604020202020204" pitchFamily="34" charset="0"/>
                            </a:rPr>
                            <a:t> What-if </a:t>
                          </a:r>
                          <a:r>
                            <a:rPr lang="zh-CN" sz="900" b="1" kern="0" dirty="0">
                              <a:solidFill>
                                <a:schemeClr val="tx1"/>
                              </a:solidFill>
                              <a:effectLst/>
                              <a:latin typeface="+mj-ea"/>
                              <a:ea typeface="+mj-ea"/>
                              <a:cs typeface="Arial" panose="020B0604020202020204" pitchFamily="34" charset="0"/>
                            </a:rPr>
                            <a:t>模拟 在遭遇黑天鹅（如断供）时恢复更快，降低投资风险，从而抬高估值底座。</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339996333"/>
                      </a:ext>
                    </a:extLst>
                  </a:tr>
                </a:tbl>
              </a:graphicData>
            </a:graphic>
          </p:graphicFrame>
        </mc:Choice>
        <mc:Fallback xmlns="">
          <p:graphicFrame>
            <p:nvGraphicFramePr>
              <p:cNvPr id="8" name="表格 7">
                <a:extLst>
                  <a:ext uri="{FF2B5EF4-FFF2-40B4-BE49-F238E27FC236}">
                    <a16:creationId xmlns:a16="http://schemas.microsoft.com/office/drawing/2014/main" id="{6DADACC5-1432-1376-3F76-6FDABBA22DF4}"/>
                  </a:ext>
                </a:extLst>
              </p:cNvPr>
              <p:cNvGraphicFramePr>
                <a:graphicFrameLocks noGrp="1"/>
              </p:cNvGraphicFramePr>
              <p:nvPr>
                <p:extLst>
                  <p:ext uri="{D42A27DB-BD31-4B8C-83A1-F6EECF244321}">
                    <p14:modId xmlns:p14="http://schemas.microsoft.com/office/powerpoint/2010/main" val="940370259"/>
                  </p:ext>
                </p:extLst>
              </p:nvPr>
            </p:nvGraphicFramePr>
            <p:xfrm>
              <a:off x="714242" y="784922"/>
              <a:ext cx="11292160" cy="5806535"/>
            </p:xfrm>
            <a:graphic>
              <a:graphicData uri="http://schemas.openxmlformats.org/drawingml/2006/table">
                <a:tbl>
                  <a:tblPr firstRow="1" firstCol="1" lastRow="1" lastCol="1" bandRow="1" bandCol="1"/>
                  <a:tblGrid>
                    <a:gridCol w="998976">
                      <a:extLst>
                        <a:ext uri="{9D8B030D-6E8A-4147-A177-3AD203B41FA5}">
                          <a16:colId xmlns:a16="http://schemas.microsoft.com/office/drawing/2014/main" val="1868414866"/>
                        </a:ext>
                      </a:extLst>
                    </a:gridCol>
                    <a:gridCol w="1545568">
                      <a:extLst>
                        <a:ext uri="{9D8B030D-6E8A-4147-A177-3AD203B41FA5}">
                          <a16:colId xmlns:a16="http://schemas.microsoft.com/office/drawing/2014/main" val="4084216710"/>
                        </a:ext>
                      </a:extLst>
                    </a:gridCol>
                    <a:gridCol w="2377069">
                      <a:extLst>
                        <a:ext uri="{9D8B030D-6E8A-4147-A177-3AD203B41FA5}">
                          <a16:colId xmlns:a16="http://schemas.microsoft.com/office/drawing/2014/main" val="326793977"/>
                        </a:ext>
                      </a:extLst>
                    </a:gridCol>
                    <a:gridCol w="4093198">
                      <a:extLst>
                        <a:ext uri="{9D8B030D-6E8A-4147-A177-3AD203B41FA5}">
                          <a16:colId xmlns:a16="http://schemas.microsoft.com/office/drawing/2014/main" val="2213404678"/>
                        </a:ext>
                      </a:extLst>
                    </a:gridCol>
                    <a:gridCol w="2277349">
                      <a:extLst>
                        <a:ext uri="{9D8B030D-6E8A-4147-A177-3AD203B41FA5}">
                          <a16:colId xmlns:a16="http://schemas.microsoft.com/office/drawing/2014/main" val="363111000"/>
                        </a:ext>
                      </a:extLst>
                    </a:gridCol>
                  </a:tblGrid>
                  <a:tr h="180721">
                    <a:tc>
                      <a:txBody>
                        <a:bodyPr/>
                        <a:lstStyle/>
                        <a:p>
                          <a:pPr algn="l">
                            <a:lnSpc>
                              <a:spcPct val="115000"/>
                            </a:lnSpc>
                            <a:spcAft>
                              <a:spcPts val="800"/>
                            </a:spcAft>
                          </a:pPr>
                          <a:r>
                            <a:rPr lang="zh-CN" sz="1100" b="1" kern="0" dirty="0">
                              <a:solidFill>
                                <a:srgbClr val="FFFFFF"/>
                              </a:solidFill>
                              <a:effectLst/>
                              <a:latin typeface="+mj-ea"/>
                              <a:ea typeface="+mj-ea"/>
                              <a:cs typeface="Arial" panose="020B0604020202020204" pitchFamily="34" charset="0"/>
                            </a:rPr>
                            <a:t>价值维度 </a:t>
                          </a:r>
                          <a:endParaRPr lang="zh-CN" sz="120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674188"/>
                        </a:solidFill>
                      </a:tcPr>
                    </a:tc>
                    <a:tc>
                      <a:txBody>
                        <a:bodyPr/>
                        <a:lstStyle/>
                        <a:p>
                          <a:pPr algn="l">
                            <a:lnSpc>
                              <a:spcPct val="115000"/>
                            </a:lnSpc>
                            <a:spcAft>
                              <a:spcPts val="800"/>
                            </a:spcAft>
                          </a:pPr>
                          <a:r>
                            <a:rPr lang="zh-CN" sz="1100" b="1" kern="0" dirty="0">
                              <a:solidFill>
                                <a:srgbClr val="FFFFFF"/>
                              </a:solidFill>
                              <a:effectLst/>
                              <a:latin typeface="+mj-ea"/>
                              <a:ea typeface="+mj-ea"/>
                              <a:cs typeface="Arial" panose="020B0604020202020204" pitchFamily="34" charset="0"/>
                            </a:rPr>
                            <a:t>核心财务指标 </a:t>
                          </a:r>
                          <a:endParaRPr lang="zh-CN" sz="120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674188"/>
                        </a:solidFill>
                      </a:tcPr>
                    </a:tc>
                    <a:tc>
                      <a:txBody>
                        <a:bodyPr/>
                        <a:lstStyle/>
                        <a:p>
                          <a:pPr algn="l">
                            <a:lnSpc>
                              <a:spcPct val="115000"/>
                            </a:lnSpc>
                            <a:spcAft>
                              <a:spcPts val="800"/>
                            </a:spcAft>
                          </a:pPr>
                          <a:r>
                            <a:rPr lang="zh-CN" sz="1100" b="1" kern="0" dirty="0">
                              <a:solidFill>
                                <a:srgbClr val="FFFFFF"/>
                              </a:solidFill>
                              <a:effectLst/>
                              <a:latin typeface="+mj-ea"/>
                              <a:ea typeface="+mj-ea"/>
                              <a:cs typeface="Arial" panose="020B0604020202020204" pitchFamily="34" charset="0"/>
                            </a:rPr>
                            <a:t>价值计算公式 </a:t>
                          </a:r>
                          <a:endParaRPr lang="zh-CN" sz="120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674188"/>
                        </a:solidFill>
                      </a:tcPr>
                    </a:tc>
                    <a:tc>
                      <a:txBody>
                        <a:bodyPr/>
                        <a:lstStyle/>
                        <a:p>
                          <a:pPr algn="l">
                            <a:lnSpc>
                              <a:spcPct val="115000"/>
                            </a:lnSpc>
                            <a:spcAft>
                              <a:spcPts val="800"/>
                            </a:spcAft>
                          </a:pPr>
                          <a:r>
                            <a:rPr lang="zh-CN" sz="1100" b="1" kern="0" dirty="0">
                              <a:solidFill>
                                <a:srgbClr val="FFFFFF"/>
                              </a:solidFill>
                              <a:effectLst/>
                              <a:latin typeface="+mj-ea"/>
                              <a:ea typeface="+mj-ea"/>
                              <a:cs typeface="Arial" panose="020B0604020202020204" pitchFamily="34" charset="0"/>
                            </a:rPr>
                            <a:t>缩写注解与变量释义</a:t>
                          </a:r>
                          <a:endParaRPr lang="zh-CN" sz="120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674188"/>
                        </a:solidFill>
                      </a:tcPr>
                    </a:tc>
                    <a:tc>
                      <a:txBody>
                        <a:bodyPr/>
                        <a:lstStyle/>
                        <a:p>
                          <a:pPr algn="l">
                            <a:lnSpc>
                              <a:spcPct val="115000"/>
                            </a:lnSpc>
                            <a:spcAft>
                              <a:spcPts val="800"/>
                            </a:spcAft>
                          </a:pPr>
                          <a:r>
                            <a:rPr lang="en-US" sz="1100" b="1" kern="0" dirty="0">
                              <a:solidFill>
                                <a:srgbClr val="FFFFFF"/>
                              </a:solidFill>
                              <a:effectLst/>
                              <a:latin typeface="+mj-ea"/>
                              <a:ea typeface="+mj-ea"/>
                              <a:cs typeface="Arial" panose="020B0604020202020204" pitchFamily="34" charset="0"/>
                            </a:rPr>
                            <a:t>IPC </a:t>
                          </a:r>
                          <a:r>
                            <a:rPr lang="zh-CN" sz="1100" b="1" kern="0" dirty="0">
                              <a:solidFill>
                                <a:srgbClr val="FFFFFF"/>
                              </a:solidFill>
                              <a:effectLst/>
                              <a:latin typeface="+mj-ea"/>
                              <a:ea typeface="+mj-ea"/>
                              <a:cs typeface="Arial" panose="020B0604020202020204" pitchFamily="34" charset="0"/>
                            </a:rPr>
                            <a:t>驱动逻辑 </a:t>
                          </a:r>
                          <a:endParaRPr lang="zh-CN" sz="120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674188"/>
                        </a:solidFill>
                      </a:tcPr>
                    </a:tc>
                    <a:extLst>
                      <a:ext uri="{0D108BD9-81ED-4DB2-BD59-A6C34878D82A}">
                        <a16:rowId xmlns:a16="http://schemas.microsoft.com/office/drawing/2014/main" val="2874713790"/>
                      </a:ext>
                    </a:extLst>
                  </a:tr>
                  <a:tr h="931015">
                    <a:tc>
                      <a:txBody>
                        <a:bodyPr/>
                        <a:lstStyle/>
                        <a:p>
                          <a:pPr algn="ctr">
                            <a:lnSpc>
                              <a:spcPct val="115000"/>
                            </a:lnSpc>
                            <a:spcAft>
                              <a:spcPts val="800"/>
                            </a:spcAft>
                          </a:pPr>
                          <a:r>
                            <a:rPr lang="zh-CN" sz="1050" b="1" kern="0" dirty="0">
                              <a:solidFill>
                                <a:srgbClr val="000000"/>
                              </a:solidFill>
                              <a:effectLst/>
                              <a:latin typeface="+mj-ea"/>
                              <a:ea typeface="+mj-ea"/>
                              <a:cs typeface="Arial" panose="020B0604020202020204" pitchFamily="34" charset="0"/>
                            </a:rPr>
                            <a:t>资产负债表</a:t>
                          </a:r>
                          <a:endParaRPr lang="en-US" altLang="zh-CN" sz="1050" b="1" kern="0" dirty="0">
                            <a:solidFill>
                              <a:srgbClr val="000000"/>
                            </a:solidFill>
                            <a:effectLst/>
                            <a:latin typeface="+mj-ea"/>
                            <a:ea typeface="+mj-ea"/>
                            <a:cs typeface="Arial" panose="020B0604020202020204" pitchFamily="34" charset="0"/>
                          </a:endParaRPr>
                        </a:p>
                        <a:p>
                          <a:pPr algn="ctr">
                            <a:lnSpc>
                              <a:spcPct val="115000"/>
                            </a:lnSpc>
                            <a:spcAft>
                              <a:spcPts val="800"/>
                            </a:spcAft>
                          </a:pPr>
                          <a:r>
                            <a:rPr lang="en-US" sz="1050" b="1" kern="0" dirty="0">
                              <a:solidFill>
                                <a:srgbClr val="000000"/>
                              </a:solidFill>
                              <a:effectLst/>
                              <a:latin typeface="+mj-ea"/>
                              <a:ea typeface="+mj-ea"/>
                              <a:cs typeface="Arial" panose="020B0604020202020204" pitchFamily="34" charset="0"/>
                            </a:rPr>
                            <a:t>(</a:t>
                          </a:r>
                          <a:r>
                            <a:rPr lang="zh-CN" sz="1050" b="1" kern="0" dirty="0">
                              <a:solidFill>
                                <a:srgbClr val="000000"/>
                              </a:solidFill>
                              <a:effectLst/>
                              <a:latin typeface="+mj-ea"/>
                              <a:ea typeface="+mj-ea"/>
                              <a:cs typeface="Arial" panose="020B0604020202020204" pitchFamily="34" charset="0"/>
                            </a:rPr>
                            <a:t>盘活资产</a:t>
                          </a:r>
                          <a:r>
                            <a:rPr lang="en-US" sz="1050" b="1" kern="0" dirty="0">
                              <a:solidFill>
                                <a:srgbClr val="000000"/>
                              </a:solidFill>
                              <a:effectLst/>
                              <a:latin typeface="+mj-ea"/>
                              <a:ea typeface="+mj-ea"/>
                              <a:cs typeface="Arial" panose="020B0604020202020204" pitchFamily="34" charset="0"/>
                            </a:rPr>
                            <a:t>/</a:t>
                          </a:r>
                          <a:r>
                            <a:rPr lang="zh-CN" sz="1050" b="1" kern="0" dirty="0">
                              <a:solidFill>
                                <a:srgbClr val="000000"/>
                              </a:solidFill>
                              <a:effectLst/>
                              <a:latin typeface="+mj-ea"/>
                              <a:ea typeface="+mj-ea"/>
                              <a:cs typeface="Arial" panose="020B0604020202020204" pitchFamily="34" charset="0"/>
                            </a:rPr>
                            <a:t>造血</a:t>
                          </a:r>
                          <a:r>
                            <a:rPr lang="en-US" sz="1050" b="1" kern="0" dirty="0">
                              <a:solidFill>
                                <a:srgbClr val="000000"/>
                              </a:solidFill>
                              <a:effectLst/>
                              <a:latin typeface="+mj-ea"/>
                              <a:ea typeface="+mj-ea"/>
                              <a:cs typeface="Arial" panose="020B0604020202020204" pitchFamily="34" charset="0"/>
                            </a:rPr>
                            <a:t>)</a:t>
                          </a:r>
                          <a:endParaRPr lang="zh-CN" sz="105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DACDE4"/>
                        </a:solidFill>
                      </a:tcPr>
                    </a:tc>
                    <a:tc>
                      <a:txBody>
                        <a:bodyPr/>
                        <a:lstStyle/>
                        <a:p>
                          <a:pPr algn="ctr">
                            <a:lnSpc>
                              <a:spcPct val="115000"/>
                            </a:lnSpc>
                            <a:spcAft>
                              <a:spcPts val="800"/>
                            </a:spcAft>
                          </a:pPr>
                          <a:r>
                            <a:rPr lang="zh-CN" sz="900" b="1" kern="0">
                              <a:solidFill>
                                <a:schemeClr val="tx1"/>
                              </a:solidFill>
                              <a:effectLst/>
                              <a:latin typeface="+mj-ea"/>
                              <a:ea typeface="+mj-ea"/>
                              <a:cs typeface="Arial" panose="020B0604020202020204" pitchFamily="34" charset="0"/>
                            </a:rPr>
                            <a:t>现金释放</a:t>
                          </a:r>
                          <a:endParaRPr lang="zh-CN" sz="900" b="1" kern="100">
                            <a:solidFill>
                              <a:schemeClr val="tx1"/>
                            </a:solidFill>
                            <a:effectLst/>
                            <a:latin typeface="+mj-ea"/>
                            <a:ea typeface="+mj-ea"/>
                            <a:cs typeface="Times New Roman" panose="02020603050405020304" pitchFamily="18" charset="0"/>
                          </a:endParaRPr>
                        </a:p>
                        <a:p>
                          <a:pPr algn="ctr">
                            <a:lnSpc>
                              <a:spcPct val="115000"/>
                            </a:lnSpc>
                            <a:spcAft>
                              <a:spcPts val="800"/>
                            </a:spcAft>
                          </a:pPr>
                          <a:r>
                            <a:rPr lang="en-US" sz="900" b="1" kern="0">
                              <a:solidFill>
                                <a:schemeClr val="tx1"/>
                              </a:solidFill>
                              <a:effectLst/>
                              <a:latin typeface="+mj-ea"/>
                              <a:ea typeface="+mj-ea"/>
                              <a:cs typeface="Arial" panose="020B0604020202020204" pitchFamily="34" charset="0"/>
                            </a:rPr>
                            <a:t>(Cash Released)</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07436" t="-23529" r="-268462" b="-505229"/>
                          </a:stretch>
                        </a:blip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20566" t="-23529" r="-56036" b="-505229"/>
                          </a:stretch>
                        </a:blipFill>
                      </a:tcPr>
                    </a:tc>
                    <a:tc>
                      <a:txBody>
                        <a:bodyPr/>
                        <a:lstStyle/>
                        <a:p>
                          <a:pPr algn="l">
                            <a:lnSpc>
                              <a:spcPct val="115000"/>
                            </a:lnSpc>
                            <a:spcAft>
                              <a:spcPts val="800"/>
                            </a:spcAft>
                          </a:pPr>
                          <a:r>
                            <a:rPr lang="en-US" sz="900" b="1" kern="0">
                              <a:solidFill>
                                <a:schemeClr val="tx1"/>
                              </a:solidFill>
                              <a:effectLst/>
                              <a:latin typeface="+mj-ea"/>
                              <a:ea typeface="+mj-ea"/>
                              <a:cs typeface="Arial" panose="020B0604020202020204" pitchFamily="34" charset="0"/>
                            </a:rPr>
                            <a:t>S&amp;OE </a:t>
                          </a:r>
                          <a:r>
                            <a:rPr lang="zh-CN" sz="900" b="1" kern="0">
                              <a:solidFill>
                                <a:schemeClr val="tx1"/>
                              </a:solidFill>
                              <a:effectLst/>
                              <a:latin typeface="+mj-ea"/>
                              <a:ea typeface="+mj-ea"/>
                              <a:cs typeface="Arial" panose="020B0604020202020204" pitchFamily="34" charset="0"/>
                            </a:rPr>
                            <a:t>闭环与软预留：通过</a:t>
                          </a:r>
                          <a:r>
                            <a:rPr lang="en-US" sz="900" b="1" kern="0">
                              <a:solidFill>
                                <a:schemeClr val="tx1"/>
                              </a:solidFill>
                              <a:effectLst/>
                              <a:latin typeface="+mj-ea"/>
                              <a:ea typeface="+mj-ea"/>
                              <a:cs typeface="Arial" panose="020B0604020202020204" pitchFamily="34" charset="0"/>
                            </a:rPr>
                            <a:t> ATP/CTP (</a:t>
                          </a:r>
                          <a:r>
                            <a:rPr lang="zh-CN" sz="900" b="1" kern="0">
                              <a:solidFill>
                                <a:schemeClr val="tx1"/>
                              </a:solidFill>
                              <a:effectLst/>
                              <a:latin typeface="+mj-ea"/>
                              <a:ea typeface="+mj-ea"/>
                              <a:cs typeface="Arial" panose="020B0604020202020204" pitchFamily="34" charset="0"/>
                            </a:rPr>
                            <a:t>可承诺量</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能力</a:t>
                          </a:r>
                          <a:r>
                            <a:rPr lang="en-US" sz="900" b="1" kern="0">
                              <a:solidFill>
                                <a:schemeClr val="tx1"/>
                              </a:solidFill>
                              <a:effectLst/>
                              <a:latin typeface="+mj-ea"/>
                              <a:ea typeface="+mj-ea"/>
                              <a:cs typeface="Arial" panose="020B0604020202020204" pitchFamily="34" charset="0"/>
                            </a:rPr>
                            <a:t>) </a:t>
                          </a:r>
                          <a:r>
                            <a:rPr lang="zh-CN" sz="900" b="1" kern="0">
                              <a:solidFill>
                                <a:schemeClr val="tx1"/>
                              </a:solidFill>
                              <a:effectLst/>
                              <a:latin typeface="+mj-ea"/>
                              <a:ea typeface="+mj-ea"/>
                              <a:cs typeface="Arial" panose="020B0604020202020204" pitchFamily="34" charset="0"/>
                            </a:rPr>
                            <a:t>算法进行软预留，精准匹配供需，消除因</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怕缺货</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而囤积的安全库存和呆滞料，将库存资产变现。</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416202020"/>
                      </a:ext>
                    </a:extLst>
                  </a:tr>
                  <a:tr h="468351">
                    <a:tc rowSpan="3">
                      <a:txBody>
                        <a:bodyPr/>
                        <a:lstStyle/>
                        <a:p>
                          <a:pPr algn="ctr">
                            <a:lnSpc>
                              <a:spcPct val="115000"/>
                            </a:lnSpc>
                            <a:spcAft>
                              <a:spcPts val="800"/>
                            </a:spcAft>
                          </a:pPr>
                          <a:r>
                            <a:rPr lang="zh-CN" sz="1050" b="1" kern="0" dirty="0">
                              <a:solidFill>
                                <a:srgbClr val="000000"/>
                              </a:solidFill>
                              <a:effectLst/>
                              <a:latin typeface="+mj-ea"/>
                              <a:ea typeface="+mj-ea"/>
                              <a:cs typeface="Arial" panose="020B0604020202020204" pitchFamily="34" charset="0"/>
                            </a:rPr>
                            <a:t>损益表</a:t>
                          </a:r>
                          <a:endParaRPr lang="en-US" altLang="zh-CN" sz="1050" b="1" kern="0" dirty="0">
                            <a:solidFill>
                              <a:srgbClr val="000000"/>
                            </a:solidFill>
                            <a:effectLst/>
                            <a:latin typeface="+mj-ea"/>
                            <a:ea typeface="+mj-ea"/>
                            <a:cs typeface="Arial" panose="020B0604020202020204" pitchFamily="34" charset="0"/>
                          </a:endParaRPr>
                        </a:p>
                        <a:p>
                          <a:pPr algn="ctr">
                            <a:lnSpc>
                              <a:spcPct val="115000"/>
                            </a:lnSpc>
                            <a:spcAft>
                              <a:spcPts val="800"/>
                            </a:spcAft>
                          </a:pPr>
                          <a:r>
                            <a:rPr lang="en-US" sz="1050" b="1" kern="0" dirty="0">
                              <a:solidFill>
                                <a:srgbClr val="000000"/>
                              </a:solidFill>
                              <a:effectLst/>
                              <a:latin typeface="+mj-ea"/>
                              <a:ea typeface="+mj-ea"/>
                              <a:cs typeface="Arial" panose="020B0604020202020204" pitchFamily="34" charset="0"/>
                            </a:rPr>
                            <a:t>(</a:t>
                          </a:r>
                          <a:r>
                            <a:rPr lang="zh-CN" sz="1050" b="1" kern="0" dirty="0">
                              <a:solidFill>
                                <a:srgbClr val="000000"/>
                              </a:solidFill>
                              <a:effectLst/>
                              <a:latin typeface="+mj-ea"/>
                              <a:ea typeface="+mj-ea"/>
                              <a:cs typeface="Arial" panose="020B0604020202020204" pitchFamily="34" charset="0"/>
                            </a:rPr>
                            <a:t>降本增效</a:t>
                          </a:r>
                          <a:r>
                            <a:rPr lang="en-US" sz="1050" b="1" kern="0" dirty="0">
                              <a:solidFill>
                                <a:srgbClr val="000000"/>
                              </a:solidFill>
                              <a:effectLst/>
                              <a:latin typeface="+mj-ea"/>
                              <a:ea typeface="+mj-ea"/>
                              <a:cs typeface="Arial" panose="020B0604020202020204" pitchFamily="34" charset="0"/>
                            </a:rPr>
                            <a:t>)</a:t>
                          </a:r>
                          <a:endParaRPr lang="zh-CN" sz="105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DACDE4"/>
                        </a:solidFill>
                      </a:tcPr>
                    </a:tc>
                    <a:tc>
                      <a:txBody>
                        <a:bodyPr/>
                        <a:lstStyle/>
                        <a:p>
                          <a:pPr algn="ctr">
                            <a:lnSpc>
                              <a:spcPct val="115000"/>
                            </a:lnSpc>
                            <a:spcAft>
                              <a:spcPts val="800"/>
                            </a:spcAft>
                          </a:pPr>
                          <a:r>
                            <a:rPr lang="zh-CN" sz="900" b="1" kern="0" dirty="0">
                              <a:solidFill>
                                <a:schemeClr val="tx1"/>
                              </a:solidFill>
                              <a:effectLst/>
                              <a:latin typeface="+mj-ea"/>
                              <a:ea typeface="+mj-ea"/>
                              <a:cs typeface="Arial" panose="020B0604020202020204" pitchFamily="34" charset="0"/>
                            </a:rPr>
                            <a:t>持有成本节约</a:t>
                          </a:r>
                          <a:endParaRPr lang="en-US" altLang="zh-CN" sz="900" b="1" kern="0" dirty="0">
                            <a:solidFill>
                              <a:schemeClr val="tx1"/>
                            </a:solidFill>
                            <a:effectLst/>
                            <a:latin typeface="+mj-ea"/>
                            <a:ea typeface="+mj-ea"/>
                            <a:cs typeface="Arial" panose="020B0604020202020204" pitchFamily="34" charset="0"/>
                          </a:endParaRPr>
                        </a:p>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(Holding Savings)</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07436" t="-245455" r="-268462" b="-903896"/>
                          </a:stretch>
                        </a:blip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20566" t="-245455" r="-56036" b="-903896"/>
                          </a:stretch>
                        </a:blipFill>
                      </a:tcPr>
                    </a:tc>
                    <a:tc>
                      <a:txBody>
                        <a:bodyPr/>
                        <a:lstStyle/>
                        <a:p>
                          <a:pPr algn="l">
                            <a:lnSpc>
                              <a:spcPct val="115000"/>
                            </a:lnSpc>
                            <a:spcAft>
                              <a:spcPts val="800"/>
                            </a:spcAft>
                          </a:pPr>
                          <a:r>
                            <a:rPr lang="zh-CN" sz="900" b="1" kern="0">
                              <a:solidFill>
                                <a:schemeClr val="tx1"/>
                              </a:solidFill>
                              <a:effectLst/>
                              <a:latin typeface="+mj-ea"/>
                              <a:ea typeface="+mj-ea"/>
                              <a:cs typeface="Arial" panose="020B0604020202020204" pitchFamily="34" charset="0"/>
                            </a:rPr>
                            <a:t>库存水位下降：直接减少仓储租金、管理费和资金占用利息，将隐性成本转化为显性利润。</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3109671782"/>
                      </a:ext>
                    </a:extLst>
                  </a:tr>
                  <a:tr h="773815">
                    <a:tc vMerge="1">
                      <a:txBody>
                        <a:bodyPr/>
                        <a:lstStyle/>
                        <a:p>
                          <a:endParaRPr lang="zh-CN" altLang="en-US"/>
                        </a:p>
                      </a:txBody>
                      <a:tcPr/>
                    </a:tc>
                    <a:tc>
                      <a:txBody>
                        <a:bodyPr/>
                        <a:lstStyle/>
                        <a:p>
                          <a:pPr algn="ctr">
                            <a:lnSpc>
                              <a:spcPct val="115000"/>
                            </a:lnSpc>
                            <a:spcAft>
                              <a:spcPts val="800"/>
                            </a:spcAft>
                          </a:pPr>
                          <a:r>
                            <a:rPr lang="zh-CN" sz="900" b="1" kern="0" dirty="0">
                              <a:solidFill>
                                <a:schemeClr val="tx1"/>
                              </a:solidFill>
                              <a:effectLst/>
                              <a:latin typeface="+mj-ea"/>
                              <a:ea typeface="+mj-ea"/>
                              <a:cs typeface="Arial" panose="020B0604020202020204" pitchFamily="34" charset="0"/>
                            </a:rPr>
                            <a:t>运营成本降低</a:t>
                          </a:r>
                          <a:endParaRPr lang="en-US" altLang="zh-CN" sz="900" b="1" kern="0" dirty="0">
                            <a:solidFill>
                              <a:schemeClr val="tx1"/>
                            </a:solidFill>
                            <a:effectLst/>
                            <a:latin typeface="+mj-ea"/>
                            <a:ea typeface="+mj-ea"/>
                            <a:cs typeface="Arial" panose="020B0604020202020204" pitchFamily="34" charset="0"/>
                          </a:endParaRPr>
                        </a:p>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(Ops Savings)</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07436" t="-209449" r="-268462" b="-448031"/>
                          </a:stretch>
                        </a:blip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20566" t="-209449" r="-56036" b="-448031"/>
                          </a:stretch>
                        </a:blipFill>
                      </a:tcPr>
                    </a:tc>
                    <a:tc>
                      <a:txBody>
                        <a:bodyPr/>
                        <a:lstStyle/>
                        <a:p>
                          <a:pPr algn="l">
                            <a:lnSpc>
                              <a:spcPct val="115000"/>
                            </a:lnSpc>
                            <a:spcAft>
                              <a:spcPts val="800"/>
                            </a:spcAft>
                          </a:pPr>
                          <a:r>
                            <a:rPr lang="zh-CN" sz="900" b="1" kern="0">
                              <a:solidFill>
                                <a:schemeClr val="tx1"/>
                              </a:solidFill>
                              <a:effectLst/>
                              <a:latin typeface="+mj-ea"/>
                              <a:ea typeface="+mj-ea"/>
                              <a:cs typeface="Arial" panose="020B0604020202020204" pitchFamily="34" charset="0"/>
                            </a:rPr>
                            <a:t>资源置换算法</a:t>
                          </a:r>
                          <a:r>
                            <a:rPr lang="en-US" sz="900" b="1" kern="0">
                              <a:solidFill>
                                <a:schemeClr val="tx1"/>
                              </a:solidFill>
                              <a:effectLst/>
                              <a:latin typeface="+mj-ea"/>
                              <a:ea typeface="+mj-ea"/>
                              <a:cs typeface="Arial" panose="020B0604020202020204" pitchFamily="34" charset="0"/>
                            </a:rPr>
                            <a:t> &amp; </a:t>
                          </a:r>
                          <a:r>
                            <a:rPr lang="zh-CN" sz="900" b="1" kern="0">
                              <a:solidFill>
                                <a:schemeClr val="tx1"/>
                              </a:solidFill>
                              <a:effectLst/>
                              <a:latin typeface="+mj-ea"/>
                              <a:ea typeface="+mj-ea"/>
                              <a:cs typeface="Arial" panose="020B0604020202020204" pitchFamily="34" charset="0"/>
                            </a:rPr>
                            <a:t>战役规划：智能处理急单，减少暴力插单导致的昂贵空运费；通过</a:t>
                          </a:r>
                          <a:r>
                            <a:rPr lang="en-US" sz="900" b="1" kern="0">
                              <a:solidFill>
                                <a:schemeClr val="tx1"/>
                              </a:solidFill>
                              <a:effectLst/>
                              <a:latin typeface="+mj-ea"/>
                              <a:ea typeface="+mj-ea"/>
                              <a:cs typeface="Arial" panose="020B0604020202020204" pitchFamily="34" charset="0"/>
                            </a:rPr>
                            <a:t> Campaign Planning (</a:t>
                          </a:r>
                          <a:r>
                            <a:rPr lang="zh-CN" sz="900" b="1" kern="0">
                              <a:solidFill>
                                <a:schemeClr val="tx1"/>
                              </a:solidFill>
                              <a:effectLst/>
                              <a:latin typeface="+mj-ea"/>
                              <a:ea typeface="+mj-ea"/>
                              <a:cs typeface="Arial" panose="020B0604020202020204" pitchFamily="34" charset="0"/>
                            </a:rPr>
                            <a:t>战役规划</a:t>
                          </a:r>
                          <a:r>
                            <a:rPr lang="en-US" sz="900" b="1" kern="0">
                              <a:solidFill>
                                <a:schemeClr val="tx1"/>
                              </a:solidFill>
                              <a:effectLst/>
                              <a:latin typeface="+mj-ea"/>
                              <a:ea typeface="+mj-ea"/>
                              <a:cs typeface="Arial" panose="020B0604020202020204" pitchFamily="34" charset="0"/>
                            </a:rPr>
                            <a:t>) </a:t>
                          </a:r>
                          <a:r>
                            <a:rPr lang="zh-CN" sz="900" b="1" kern="0">
                              <a:solidFill>
                                <a:schemeClr val="tx1"/>
                              </a:solidFill>
                              <a:effectLst/>
                              <a:latin typeface="+mj-ea"/>
                              <a:ea typeface="+mj-ea"/>
                              <a:cs typeface="Arial" panose="020B0604020202020204" pitchFamily="34" charset="0"/>
                            </a:rPr>
                            <a:t>优化生产序列，减少非必要的频繁产线切换。</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821649607"/>
                      </a:ext>
                    </a:extLst>
                  </a:tr>
                  <a:tr h="773815">
                    <a:tc vMerge="1">
                      <a:txBody>
                        <a:bodyPr/>
                        <a:lstStyle/>
                        <a:p>
                          <a:pPr algn="l">
                            <a:lnSpc>
                              <a:spcPct val="115000"/>
                            </a:lnSpc>
                          </a:pPr>
                          <a:endParaRPr lang="zh-CN" sz="1100" kern="100" dirty="0">
                            <a:solidFill>
                              <a:srgbClr val="000000"/>
                            </a:solidFill>
                            <a:effectLst/>
                            <a:latin typeface="+mj-ea"/>
                            <a:ea typeface="+mj-ea"/>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DACDE4"/>
                        </a:solidFill>
                      </a:tcPr>
                    </a:tc>
                    <a:tc>
                      <a:txBody>
                        <a:bodyPr/>
                        <a:lstStyle/>
                        <a:p>
                          <a:pPr algn="ctr">
                            <a:lnSpc>
                              <a:spcPct val="115000"/>
                            </a:lnSpc>
                            <a:spcAft>
                              <a:spcPts val="800"/>
                            </a:spcAft>
                          </a:pPr>
                          <a:r>
                            <a:rPr lang="zh-CN" sz="900" b="1" kern="0" dirty="0">
                              <a:solidFill>
                                <a:schemeClr val="tx1"/>
                              </a:solidFill>
                              <a:effectLst/>
                              <a:latin typeface="+mj-ea"/>
                              <a:ea typeface="+mj-ea"/>
                              <a:cs typeface="Arial" panose="020B0604020202020204" pitchFamily="34" charset="0"/>
                            </a:rPr>
                            <a:t>营收挽回</a:t>
                          </a:r>
                          <a:endParaRPr lang="en-US" altLang="zh-CN" sz="900" b="1" kern="0" dirty="0">
                            <a:solidFill>
                              <a:schemeClr val="tx1"/>
                            </a:solidFill>
                            <a:effectLst/>
                            <a:latin typeface="+mj-ea"/>
                            <a:ea typeface="+mj-ea"/>
                            <a:cs typeface="Arial" panose="020B0604020202020204" pitchFamily="34" charset="0"/>
                          </a:endParaRPr>
                        </a:p>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(Revenue Gain)</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07436" t="-309449" r="-268462" b="-348031"/>
                          </a:stretch>
                        </a:blip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20566" t="-309449" r="-56036" b="-348031"/>
                          </a:stretch>
                        </a:blipFill>
                      </a:tcPr>
                    </a:tc>
                    <a:tc>
                      <a:txBody>
                        <a:bodyPr/>
                        <a:lstStyle/>
                        <a:p>
                          <a:pPr algn="l">
                            <a:lnSpc>
                              <a:spcPct val="115000"/>
                            </a:lnSpc>
                            <a:spcAft>
                              <a:spcPts val="800"/>
                            </a:spcAft>
                          </a:pPr>
                          <a:r>
                            <a:rPr lang="en-US" sz="900" b="1" kern="0">
                              <a:solidFill>
                                <a:schemeClr val="tx1"/>
                              </a:solidFill>
                              <a:effectLst/>
                              <a:latin typeface="+mj-ea"/>
                              <a:ea typeface="+mj-ea"/>
                              <a:cs typeface="Arial" panose="020B0604020202020204" pitchFamily="34" charset="0"/>
                            </a:rPr>
                            <a:t>OTP </a:t>
                          </a:r>
                          <a:r>
                            <a:rPr lang="zh-CN" sz="900" b="1" kern="0">
                              <a:solidFill>
                                <a:schemeClr val="tx1"/>
                              </a:solidFill>
                              <a:effectLst/>
                              <a:latin typeface="+mj-ea"/>
                              <a:ea typeface="+mj-ea"/>
                              <a:cs typeface="Arial" panose="020B0604020202020204" pitchFamily="34" charset="0"/>
                            </a:rPr>
                            <a:t>引擎：确保</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给出的承诺必达成</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，挽回因不信任而流失的订单；</a:t>
                          </a:r>
                          <a:r>
                            <a:rPr lang="en-US" sz="900" b="1" kern="0">
                              <a:solidFill>
                                <a:schemeClr val="tx1"/>
                              </a:solidFill>
                              <a:effectLst/>
                              <a:latin typeface="+mj-ea"/>
                              <a:ea typeface="+mj-ea"/>
                              <a:cs typeface="Arial" panose="020B0604020202020204" pitchFamily="34" charset="0"/>
                            </a:rPr>
                            <a:t>Flash Delivery (</a:t>
                          </a:r>
                          <a:r>
                            <a:rPr lang="zh-CN" sz="900" b="1" kern="0">
                              <a:solidFill>
                                <a:schemeClr val="tx1"/>
                              </a:solidFill>
                              <a:effectLst/>
                              <a:latin typeface="+mj-ea"/>
                              <a:ea typeface="+mj-ea"/>
                              <a:cs typeface="Arial" panose="020B0604020202020204" pitchFamily="34" charset="0"/>
                            </a:rPr>
                            <a:t>极速响应</a:t>
                          </a:r>
                          <a:r>
                            <a:rPr lang="en-US" sz="900" b="1" kern="0">
                              <a:solidFill>
                                <a:schemeClr val="tx1"/>
                              </a:solidFill>
                              <a:effectLst/>
                              <a:latin typeface="+mj-ea"/>
                              <a:ea typeface="+mj-ea"/>
                              <a:cs typeface="Arial" panose="020B0604020202020204" pitchFamily="34" charset="0"/>
                            </a:rPr>
                            <a:t>) </a:t>
                          </a:r>
                          <a:r>
                            <a:rPr lang="zh-CN" sz="900" b="1" kern="0">
                              <a:solidFill>
                                <a:schemeClr val="tx1"/>
                              </a:solidFill>
                              <a:effectLst/>
                              <a:latin typeface="+mj-ea"/>
                              <a:ea typeface="+mj-ea"/>
                              <a:cs typeface="Arial" panose="020B0604020202020204" pitchFamily="34" charset="0"/>
                            </a:rPr>
                            <a:t>能力支持溢价接单。</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1205472178"/>
                      </a:ext>
                    </a:extLst>
                  </a:tr>
                  <a:tr h="773815">
                    <a:tc>
                      <a:txBody>
                        <a:bodyPr/>
                        <a:lstStyle/>
                        <a:p>
                          <a:pPr algn="ctr">
                            <a:lnSpc>
                              <a:spcPct val="115000"/>
                            </a:lnSpc>
                            <a:spcAft>
                              <a:spcPts val="800"/>
                            </a:spcAft>
                          </a:pPr>
                          <a:r>
                            <a:rPr lang="zh-CN" sz="1050" b="1" kern="0" dirty="0">
                              <a:solidFill>
                                <a:srgbClr val="000000"/>
                              </a:solidFill>
                              <a:effectLst/>
                              <a:latin typeface="+mj-ea"/>
                              <a:ea typeface="+mj-ea"/>
                              <a:cs typeface="Arial" panose="020B0604020202020204" pitchFamily="34" charset="0"/>
                            </a:rPr>
                            <a:t>股东回报</a:t>
                          </a:r>
                          <a:endParaRPr lang="en-US" altLang="zh-CN" sz="1050" b="1" kern="0" dirty="0">
                            <a:solidFill>
                              <a:srgbClr val="000000"/>
                            </a:solidFill>
                            <a:effectLst/>
                            <a:latin typeface="+mj-ea"/>
                            <a:ea typeface="+mj-ea"/>
                            <a:cs typeface="Arial" panose="020B0604020202020204" pitchFamily="34" charset="0"/>
                          </a:endParaRPr>
                        </a:p>
                        <a:p>
                          <a:pPr algn="ctr">
                            <a:lnSpc>
                              <a:spcPct val="115000"/>
                            </a:lnSpc>
                            <a:spcAft>
                              <a:spcPts val="800"/>
                            </a:spcAft>
                          </a:pPr>
                          <a:r>
                            <a:rPr lang="en-US" sz="1050" b="1" kern="0" dirty="0">
                              <a:solidFill>
                                <a:srgbClr val="000000"/>
                              </a:solidFill>
                              <a:effectLst/>
                              <a:latin typeface="+mj-ea"/>
                              <a:ea typeface="+mj-ea"/>
                              <a:cs typeface="Arial" panose="020B0604020202020204" pitchFamily="34" charset="0"/>
                            </a:rPr>
                            <a:t>(</a:t>
                          </a:r>
                          <a:r>
                            <a:rPr lang="zh-CN" sz="1050" b="1" kern="0" dirty="0">
                              <a:solidFill>
                                <a:srgbClr val="000000"/>
                              </a:solidFill>
                              <a:effectLst/>
                              <a:latin typeface="+mj-ea"/>
                              <a:ea typeface="+mj-ea"/>
                              <a:cs typeface="Arial" panose="020B0604020202020204" pitchFamily="34" charset="0"/>
                            </a:rPr>
                            <a:t>资本效率</a:t>
                          </a:r>
                          <a:r>
                            <a:rPr lang="en-US" sz="1050" b="1" kern="0" dirty="0">
                              <a:solidFill>
                                <a:srgbClr val="000000"/>
                              </a:solidFill>
                              <a:effectLst/>
                              <a:latin typeface="+mj-ea"/>
                              <a:ea typeface="+mj-ea"/>
                              <a:cs typeface="Arial" panose="020B0604020202020204" pitchFamily="34" charset="0"/>
                            </a:rPr>
                            <a:t>)</a:t>
                          </a:r>
                          <a:endParaRPr lang="zh-CN" sz="105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DACDE4"/>
                        </a:solidFill>
                      </a:tcPr>
                    </a:tc>
                    <a:tc>
                      <a:txBody>
                        <a:bodyPr/>
                        <a:lstStyle/>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ROIC </a:t>
                          </a:r>
                          <a:r>
                            <a:rPr lang="zh-CN" sz="900" b="1" kern="0" dirty="0">
                              <a:solidFill>
                                <a:schemeClr val="tx1"/>
                              </a:solidFill>
                              <a:effectLst/>
                              <a:latin typeface="+mj-ea"/>
                              <a:ea typeface="+mj-ea"/>
                              <a:cs typeface="Arial" panose="020B0604020202020204" pitchFamily="34" charset="0"/>
                            </a:rPr>
                            <a:t>提升</a:t>
                          </a:r>
                          <a:endParaRPr lang="en-US" altLang="zh-CN" sz="900" b="1" kern="0" dirty="0">
                            <a:solidFill>
                              <a:schemeClr val="tx1"/>
                            </a:solidFill>
                            <a:effectLst/>
                            <a:latin typeface="+mj-ea"/>
                            <a:ea typeface="+mj-ea"/>
                            <a:cs typeface="Arial" panose="020B0604020202020204" pitchFamily="34" charset="0"/>
                          </a:endParaRPr>
                        </a:p>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(Return on Invested Capital)</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07436" t="-409449" r="-268462" b="-248031"/>
                          </a:stretch>
                        </a:blip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20566" t="-409449" r="-56036" b="-248031"/>
                          </a:stretch>
                        </a:blipFill>
                      </a:tcPr>
                    </a:tc>
                    <a:tc>
                      <a:txBody>
                        <a:bodyPr/>
                        <a:lstStyle/>
                        <a:p>
                          <a:pPr algn="l">
                            <a:lnSpc>
                              <a:spcPct val="115000"/>
                            </a:lnSpc>
                            <a:spcAft>
                              <a:spcPts val="800"/>
                            </a:spcAft>
                          </a:pPr>
                          <a:r>
                            <a:rPr lang="zh-CN" sz="900" b="1" kern="0">
                              <a:solidFill>
                                <a:schemeClr val="tx1"/>
                              </a:solidFill>
                              <a:effectLst/>
                              <a:latin typeface="+mj-ea"/>
                              <a:ea typeface="+mj-ea"/>
                              <a:cs typeface="Arial" panose="020B0604020202020204" pitchFamily="34" charset="0"/>
                            </a:rPr>
                            <a:t>双向杠杆效应：分子端（利润）因降本增收而增加，分母端（占用资本）因库存释放而减少，带来回报率的乘数级跃升。</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1440327100"/>
                      </a:ext>
                    </a:extLst>
                  </a:tr>
                  <a:tr h="949155">
                    <a:tc rowSpan="2">
                      <a:txBody>
                        <a:bodyPr/>
                        <a:lstStyle/>
                        <a:p>
                          <a:pPr algn="ctr">
                            <a:lnSpc>
                              <a:spcPct val="115000"/>
                            </a:lnSpc>
                            <a:spcAft>
                              <a:spcPts val="800"/>
                            </a:spcAft>
                          </a:pPr>
                          <a:r>
                            <a:rPr lang="zh-CN" sz="1050" b="1" kern="0" dirty="0">
                              <a:solidFill>
                                <a:srgbClr val="000000"/>
                              </a:solidFill>
                              <a:effectLst/>
                              <a:latin typeface="+mj-ea"/>
                              <a:ea typeface="+mj-ea"/>
                              <a:cs typeface="Arial" panose="020B0604020202020204" pitchFamily="34" charset="0"/>
                            </a:rPr>
                            <a:t>资本市场</a:t>
                          </a:r>
                          <a:endParaRPr lang="en-US" altLang="zh-CN" sz="1050" b="1" kern="0" dirty="0">
                            <a:solidFill>
                              <a:srgbClr val="000000"/>
                            </a:solidFill>
                            <a:effectLst/>
                            <a:latin typeface="+mj-ea"/>
                            <a:ea typeface="+mj-ea"/>
                            <a:cs typeface="Arial" panose="020B0604020202020204" pitchFamily="34" charset="0"/>
                          </a:endParaRPr>
                        </a:p>
                        <a:p>
                          <a:pPr algn="ctr">
                            <a:lnSpc>
                              <a:spcPct val="115000"/>
                            </a:lnSpc>
                            <a:spcAft>
                              <a:spcPts val="800"/>
                            </a:spcAft>
                          </a:pPr>
                          <a:r>
                            <a:rPr lang="en-US" sz="1050" b="1" kern="0" dirty="0">
                              <a:solidFill>
                                <a:srgbClr val="000000"/>
                              </a:solidFill>
                              <a:effectLst/>
                              <a:latin typeface="+mj-ea"/>
                              <a:ea typeface="+mj-ea"/>
                              <a:cs typeface="Arial" panose="020B0604020202020204" pitchFamily="34" charset="0"/>
                            </a:rPr>
                            <a:t>(</a:t>
                          </a:r>
                          <a:r>
                            <a:rPr lang="zh-CN" sz="1050" b="1" kern="0" dirty="0">
                              <a:solidFill>
                                <a:srgbClr val="000000"/>
                              </a:solidFill>
                              <a:effectLst/>
                              <a:latin typeface="+mj-ea"/>
                              <a:ea typeface="+mj-ea"/>
                              <a:cs typeface="Arial" panose="020B0604020202020204" pitchFamily="34" charset="0"/>
                            </a:rPr>
                            <a:t>市值管理</a:t>
                          </a:r>
                          <a:r>
                            <a:rPr lang="en-US" sz="1050" b="1" kern="0" dirty="0">
                              <a:solidFill>
                                <a:srgbClr val="000000"/>
                              </a:solidFill>
                              <a:effectLst/>
                              <a:latin typeface="+mj-ea"/>
                              <a:ea typeface="+mj-ea"/>
                              <a:cs typeface="Arial" panose="020B0604020202020204" pitchFamily="34" charset="0"/>
                            </a:rPr>
                            <a:t>)</a:t>
                          </a:r>
                          <a:endParaRPr lang="zh-CN" sz="1050" kern="100" dirty="0">
                            <a:solidFill>
                              <a:srgbClr val="000000"/>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solidFill>
                          <a:srgbClr val="DACDE4"/>
                        </a:solidFill>
                      </a:tcPr>
                    </a:tc>
                    <a:tc>
                      <a:txBody>
                        <a:bodyPr/>
                        <a:lstStyle/>
                        <a:p>
                          <a:pPr algn="ctr">
                            <a:lnSpc>
                              <a:spcPct val="115000"/>
                            </a:lnSpc>
                            <a:spcAft>
                              <a:spcPts val="800"/>
                            </a:spcAft>
                          </a:pPr>
                          <a:r>
                            <a:rPr lang="zh-CN" sz="900" b="1" kern="0" dirty="0">
                              <a:solidFill>
                                <a:schemeClr val="tx1"/>
                              </a:solidFill>
                              <a:effectLst/>
                              <a:latin typeface="+mj-ea"/>
                              <a:ea typeface="+mj-ea"/>
                              <a:cs typeface="Arial" panose="020B0604020202020204" pitchFamily="34" charset="0"/>
                            </a:rPr>
                            <a:t>确定性溢价</a:t>
                          </a:r>
                          <a:endParaRPr lang="en-US" altLang="zh-CN" sz="900" b="1" kern="0" dirty="0">
                            <a:solidFill>
                              <a:schemeClr val="tx1"/>
                            </a:solidFill>
                            <a:effectLst/>
                            <a:latin typeface="+mj-ea"/>
                            <a:ea typeface="+mj-ea"/>
                            <a:cs typeface="Arial" panose="020B0604020202020204" pitchFamily="34" charset="0"/>
                          </a:endParaRPr>
                        </a:p>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(Valuation Premium)</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07436" t="-414744" r="-268462" b="-101923"/>
                          </a:stretch>
                        </a:blip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20566" t="-414744" r="-56036" b="-101923"/>
                          </a:stretch>
                        </a:blipFill>
                      </a:tcPr>
                    </a:tc>
                    <a:tc>
                      <a:txBody>
                        <a:bodyPr/>
                        <a:lstStyle/>
                        <a:p>
                          <a:pPr algn="l">
                            <a:lnSpc>
                              <a:spcPct val="115000"/>
                            </a:lnSpc>
                            <a:spcAft>
                              <a:spcPts val="800"/>
                            </a:spcAft>
                          </a:pPr>
                          <a:r>
                            <a:rPr lang="en-US" sz="900" b="1" kern="0">
                              <a:solidFill>
                                <a:schemeClr val="tx1"/>
                              </a:solidFill>
                              <a:effectLst/>
                              <a:latin typeface="+mj-ea"/>
                              <a:ea typeface="+mj-ea"/>
                              <a:cs typeface="Arial" panose="020B0604020202020204" pitchFamily="34" charset="0"/>
                            </a:rPr>
                            <a:t>IBP (</a:t>
                          </a:r>
                          <a:r>
                            <a:rPr lang="zh-CN" sz="900" b="1" kern="0">
                              <a:solidFill>
                                <a:schemeClr val="tx1"/>
                              </a:solidFill>
                              <a:effectLst/>
                              <a:latin typeface="+mj-ea"/>
                              <a:ea typeface="+mj-ea"/>
                              <a:cs typeface="Arial" panose="020B0604020202020204" pitchFamily="34" charset="0"/>
                            </a:rPr>
                            <a:t>集成商业计划</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：打通财务与运营，让</a:t>
                          </a:r>
                          <a:r>
                            <a:rPr lang="en-US" sz="900" b="1" kern="0">
                              <a:solidFill>
                                <a:schemeClr val="tx1"/>
                              </a:solidFill>
                              <a:effectLst/>
                              <a:latin typeface="+mj-ea"/>
                              <a:ea typeface="+mj-ea"/>
                              <a:cs typeface="Arial" panose="020B0604020202020204" pitchFamily="34" charset="0"/>
                            </a:rPr>
                            <a:t>CFO</a:t>
                          </a:r>
                          <a:r>
                            <a:rPr lang="zh-CN" sz="900" b="1" kern="0">
                              <a:solidFill>
                                <a:schemeClr val="tx1"/>
                              </a:solidFill>
                              <a:effectLst/>
                              <a:latin typeface="+mj-ea"/>
                              <a:ea typeface="+mj-ea"/>
                              <a:cs typeface="Arial" panose="020B0604020202020204" pitchFamily="34" charset="0"/>
                            </a:rPr>
                            <a:t>发布的业绩指引极度精准。连续达成预期</a:t>
                          </a:r>
                          <a:r>
                            <a:rPr lang="en-US" sz="900" b="1" kern="0">
                              <a:solidFill>
                                <a:schemeClr val="tx1"/>
                              </a:solidFill>
                              <a:effectLst/>
                              <a:latin typeface="+mj-ea"/>
                              <a:ea typeface="+mj-ea"/>
                              <a:cs typeface="Arial" panose="020B0604020202020204" pitchFamily="34" charset="0"/>
                            </a:rPr>
                            <a:t> = </a:t>
                          </a:r>
                          <a:r>
                            <a:rPr lang="zh-CN" sz="900" b="1" kern="0">
                              <a:solidFill>
                                <a:schemeClr val="tx1"/>
                              </a:solidFill>
                              <a:effectLst/>
                              <a:latin typeface="+mj-ea"/>
                              <a:ea typeface="+mj-ea"/>
                              <a:cs typeface="Arial" panose="020B0604020202020204" pitchFamily="34" charset="0"/>
                            </a:rPr>
                            <a:t>信誉溢价，资本市场愿意为</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确定性</a:t>
                          </a:r>
                          <a:r>
                            <a:rPr lang="en-US" sz="900" b="1" kern="0">
                              <a:solidFill>
                                <a:schemeClr val="tx1"/>
                              </a:solidFill>
                              <a:effectLst/>
                              <a:latin typeface="+mj-ea"/>
                              <a:ea typeface="+mj-ea"/>
                              <a:cs typeface="Arial" panose="020B0604020202020204" pitchFamily="34" charset="0"/>
                            </a:rPr>
                            <a:t>”</a:t>
                          </a:r>
                          <a:r>
                            <a:rPr lang="zh-CN" sz="900" b="1" kern="0">
                              <a:solidFill>
                                <a:schemeClr val="tx1"/>
                              </a:solidFill>
                              <a:effectLst/>
                              <a:latin typeface="+mj-ea"/>
                              <a:ea typeface="+mj-ea"/>
                              <a:cs typeface="Arial" panose="020B0604020202020204" pitchFamily="34" charset="0"/>
                            </a:rPr>
                            <a:t>支付更高的倍数。</a:t>
                          </a:r>
                          <a:endParaRPr lang="zh-CN" sz="900" b="1" kern="10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2129123514"/>
                      </a:ext>
                    </a:extLst>
                  </a:tr>
                  <a:tr h="955848">
                    <a:tc vMerge="1">
                      <a:txBody>
                        <a:bodyPr/>
                        <a:lstStyle/>
                        <a:p>
                          <a:endParaRPr lang="zh-CN" altLang="en-US"/>
                        </a:p>
                      </a:txBody>
                      <a:tcPr/>
                    </a:tc>
                    <a:tc>
                      <a:txBody>
                        <a:bodyPr/>
                        <a:lstStyle/>
                        <a:p>
                          <a:pPr algn="ctr">
                            <a:lnSpc>
                              <a:spcPct val="115000"/>
                            </a:lnSpc>
                            <a:spcAft>
                              <a:spcPts val="800"/>
                            </a:spcAft>
                          </a:pPr>
                          <a:r>
                            <a:rPr lang="zh-CN" sz="900" b="1" kern="0" dirty="0">
                              <a:solidFill>
                                <a:schemeClr val="tx1"/>
                              </a:solidFill>
                              <a:effectLst/>
                              <a:latin typeface="+mj-ea"/>
                              <a:ea typeface="+mj-ea"/>
                              <a:cs typeface="Arial" panose="020B0604020202020204" pitchFamily="34" charset="0"/>
                            </a:rPr>
                            <a:t>风险折价消除</a:t>
                          </a:r>
                          <a:endParaRPr lang="en-US" altLang="zh-CN" sz="900" b="1" kern="0" dirty="0">
                            <a:solidFill>
                              <a:schemeClr val="tx1"/>
                            </a:solidFill>
                            <a:effectLst/>
                            <a:latin typeface="+mj-ea"/>
                            <a:ea typeface="+mj-ea"/>
                            <a:cs typeface="Arial" panose="020B0604020202020204" pitchFamily="34" charset="0"/>
                          </a:endParaRPr>
                        </a:p>
                        <a:p>
                          <a:pPr algn="ctr">
                            <a:lnSpc>
                              <a:spcPct val="115000"/>
                            </a:lnSpc>
                            <a:spcAft>
                              <a:spcPts val="800"/>
                            </a:spcAft>
                          </a:pPr>
                          <a:r>
                            <a:rPr lang="en-US" sz="900" b="1" kern="0" dirty="0">
                              <a:solidFill>
                                <a:schemeClr val="tx1"/>
                              </a:solidFill>
                              <a:effectLst/>
                              <a:latin typeface="+mj-ea"/>
                              <a:ea typeface="+mj-ea"/>
                              <a:cs typeface="Arial" panose="020B0604020202020204" pitchFamily="34" charset="0"/>
                            </a:rPr>
                            <a:t>(Risk Reduction)</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07436" t="-511465" r="-268462" b="-1274"/>
                          </a:stretch>
                        </a:blipFill>
                      </a:tcPr>
                    </a:tc>
                    <a:tc>
                      <a:txBody>
                        <a:bodyPr/>
                        <a:lstStyle/>
                        <a:p>
                          <a:endParaRPr lang="zh-CN"/>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blipFill>
                          <a:blip r:embed="rId2"/>
                          <a:stretch>
                            <a:fillRect l="-120566" t="-511465" r="-56036" b="-1274"/>
                          </a:stretch>
                        </a:blipFill>
                      </a:tcPr>
                    </a:tc>
                    <a:tc>
                      <a:txBody>
                        <a:bodyPr/>
                        <a:lstStyle/>
                        <a:p>
                          <a:pPr algn="l">
                            <a:lnSpc>
                              <a:spcPct val="115000"/>
                            </a:lnSpc>
                            <a:spcAft>
                              <a:spcPts val="800"/>
                            </a:spcAft>
                          </a:pPr>
                          <a:r>
                            <a:rPr lang="en-US" sz="900" b="1" kern="0" dirty="0">
                              <a:solidFill>
                                <a:schemeClr val="tx1"/>
                              </a:solidFill>
                              <a:effectLst/>
                              <a:latin typeface="+mj-ea"/>
                              <a:ea typeface="+mj-ea"/>
                              <a:cs typeface="Arial" panose="020B0604020202020204" pitchFamily="34" charset="0"/>
                            </a:rPr>
                            <a:t>Control Tower (</a:t>
                          </a:r>
                          <a:r>
                            <a:rPr lang="zh-CN" sz="900" b="1" kern="0" dirty="0">
                              <a:solidFill>
                                <a:schemeClr val="tx1"/>
                              </a:solidFill>
                              <a:effectLst/>
                              <a:latin typeface="+mj-ea"/>
                              <a:ea typeface="+mj-ea"/>
                              <a:cs typeface="Arial" panose="020B0604020202020204" pitchFamily="34" charset="0"/>
                            </a:rPr>
                            <a:t>控制塔</a:t>
                          </a:r>
                          <a:r>
                            <a:rPr lang="en-US" sz="900" b="1" kern="0" dirty="0">
                              <a:solidFill>
                                <a:schemeClr val="tx1"/>
                              </a:solidFill>
                              <a:effectLst/>
                              <a:latin typeface="+mj-ea"/>
                              <a:ea typeface="+mj-ea"/>
                              <a:cs typeface="Arial" panose="020B0604020202020204" pitchFamily="34" charset="0"/>
                            </a:rPr>
                            <a:t>)</a:t>
                          </a:r>
                          <a:r>
                            <a:rPr lang="zh-CN" sz="900" b="1" kern="0" dirty="0">
                              <a:solidFill>
                                <a:schemeClr val="tx1"/>
                              </a:solidFill>
                              <a:effectLst/>
                              <a:latin typeface="+mj-ea"/>
                              <a:ea typeface="+mj-ea"/>
                              <a:cs typeface="Arial" panose="020B0604020202020204" pitchFamily="34" charset="0"/>
                            </a:rPr>
                            <a:t>：具备极强的</a:t>
                          </a:r>
                          <a:r>
                            <a:rPr lang="en-US" sz="900" b="1" kern="0" dirty="0">
                              <a:solidFill>
                                <a:schemeClr val="tx1"/>
                              </a:solidFill>
                              <a:effectLst/>
                              <a:latin typeface="+mj-ea"/>
                              <a:ea typeface="+mj-ea"/>
                              <a:cs typeface="Arial" panose="020B0604020202020204" pitchFamily="34" charset="0"/>
                            </a:rPr>
                            <a:t> Resilience (</a:t>
                          </a:r>
                          <a:r>
                            <a:rPr lang="zh-CN" sz="900" b="1" kern="0" dirty="0">
                              <a:solidFill>
                                <a:schemeClr val="tx1"/>
                              </a:solidFill>
                              <a:effectLst/>
                              <a:latin typeface="+mj-ea"/>
                              <a:ea typeface="+mj-ea"/>
                              <a:cs typeface="Arial" panose="020B0604020202020204" pitchFamily="34" charset="0"/>
                            </a:rPr>
                            <a:t>抗风险韧性</a:t>
                          </a:r>
                          <a:r>
                            <a:rPr lang="en-US" sz="900" b="1" kern="0" dirty="0">
                              <a:solidFill>
                                <a:schemeClr val="tx1"/>
                              </a:solidFill>
                              <a:effectLst/>
                              <a:latin typeface="+mj-ea"/>
                              <a:ea typeface="+mj-ea"/>
                              <a:cs typeface="Arial" panose="020B0604020202020204" pitchFamily="34" charset="0"/>
                            </a:rPr>
                            <a:t>)</a:t>
                          </a:r>
                          <a:r>
                            <a:rPr lang="zh-CN" sz="900" b="1" kern="0" dirty="0">
                              <a:solidFill>
                                <a:schemeClr val="tx1"/>
                              </a:solidFill>
                              <a:effectLst/>
                              <a:latin typeface="+mj-ea"/>
                              <a:ea typeface="+mj-ea"/>
                              <a:cs typeface="Arial" panose="020B0604020202020204" pitchFamily="34" charset="0"/>
                            </a:rPr>
                            <a:t>，通过</a:t>
                          </a:r>
                          <a:r>
                            <a:rPr lang="en-US" sz="900" b="1" kern="0" dirty="0">
                              <a:solidFill>
                                <a:schemeClr val="tx1"/>
                              </a:solidFill>
                              <a:effectLst/>
                              <a:latin typeface="+mj-ea"/>
                              <a:ea typeface="+mj-ea"/>
                              <a:cs typeface="Arial" panose="020B0604020202020204" pitchFamily="34" charset="0"/>
                            </a:rPr>
                            <a:t> What-if </a:t>
                          </a:r>
                          <a:r>
                            <a:rPr lang="zh-CN" sz="900" b="1" kern="0" dirty="0">
                              <a:solidFill>
                                <a:schemeClr val="tx1"/>
                              </a:solidFill>
                              <a:effectLst/>
                              <a:latin typeface="+mj-ea"/>
                              <a:ea typeface="+mj-ea"/>
                              <a:cs typeface="Arial" panose="020B0604020202020204" pitchFamily="34" charset="0"/>
                            </a:rPr>
                            <a:t>模拟 在遭遇黑天鹅（如断供）时恢复更快，降低投资风险，从而抬高估值底座。</a:t>
                          </a:r>
                          <a:endParaRPr lang="zh-CN" sz="900" b="1" kern="100" dirty="0">
                            <a:solidFill>
                              <a:schemeClr val="tx1"/>
                            </a:solidFill>
                            <a:effectLst/>
                            <a:latin typeface="+mj-ea"/>
                            <a:ea typeface="+mj-ea"/>
                            <a:cs typeface="Times New Roman" panose="02020603050405020304" pitchFamily="18" charset="0"/>
                          </a:endParaRPr>
                        </a:p>
                      </a:txBody>
                      <a:tcPr marL="10338" marR="10338" marT="0" marB="0">
                        <a:lnL w="12700" cap="flat" cmpd="sng" algn="ctr">
                          <a:solidFill>
                            <a:srgbClr val="674188"/>
                          </a:solidFill>
                          <a:prstDash val="dot"/>
                          <a:round/>
                          <a:headEnd type="none" w="med" len="med"/>
                          <a:tailEnd type="none" w="med" len="med"/>
                        </a:lnL>
                        <a:lnR w="12700" cap="flat" cmpd="sng" algn="ctr">
                          <a:solidFill>
                            <a:srgbClr val="674188"/>
                          </a:solidFill>
                          <a:prstDash val="dot"/>
                          <a:round/>
                          <a:headEnd type="none" w="med" len="med"/>
                          <a:tailEnd type="none" w="med" len="med"/>
                        </a:lnR>
                        <a:lnT w="12700" cap="flat" cmpd="sng" algn="ctr">
                          <a:solidFill>
                            <a:srgbClr val="674188"/>
                          </a:solidFill>
                          <a:prstDash val="dot"/>
                          <a:round/>
                          <a:headEnd type="none" w="med" len="med"/>
                          <a:tailEnd type="none" w="med" len="med"/>
                        </a:lnT>
                        <a:lnB w="12700" cap="flat" cmpd="sng" algn="ctr">
                          <a:solidFill>
                            <a:srgbClr val="674188"/>
                          </a:solidFill>
                          <a:prstDash val="dot"/>
                          <a:round/>
                          <a:headEnd type="none" w="med" len="med"/>
                          <a:tailEnd type="none" w="med" len="med"/>
                        </a:lnB>
                        <a:noFill/>
                      </a:tcPr>
                    </a:tc>
                    <a:extLst>
                      <a:ext uri="{0D108BD9-81ED-4DB2-BD59-A6C34878D82A}">
                        <a16:rowId xmlns:a16="http://schemas.microsoft.com/office/drawing/2014/main" val="339996333"/>
                      </a:ext>
                    </a:extLst>
                  </a:tr>
                </a:tbl>
              </a:graphicData>
            </a:graphic>
          </p:graphicFrame>
        </mc:Fallback>
      </mc:AlternateContent>
    </p:spTree>
    <p:extLst>
      <p:ext uri="{BB962C8B-B14F-4D97-AF65-F5344CB8AC3E}">
        <p14:creationId xmlns:p14="http://schemas.microsoft.com/office/powerpoint/2010/main" val="32924541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2602896-E67F-3965-26A9-4B2EF6820E3B}"/>
              </a:ext>
            </a:extLst>
          </p:cNvPr>
          <p:cNvSpPr>
            <a:spLocks noGrp="1"/>
          </p:cNvSpPr>
          <p:nvPr>
            <p:ph type="title"/>
          </p:nvPr>
        </p:nvSpPr>
        <p:spPr/>
        <p:txBody>
          <a:bodyPr>
            <a:normAutofit/>
          </a:bodyPr>
          <a:lstStyle/>
          <a:p>
            <a:r>
              <a:rPr lang="zh-CN" altLang="zh-CN" b="1" dirty="0">
                <a:effectLst/>
                <a:cs typeface="Times New Roman" panose="02020603050405020304" pitchFamily="18" charset="0"/>
              </a:rPr>
              <a:t>战略层</a:t>
            </a:r>
            <a:r>
              <a:rPr lang="zh-CN" altLang="en-US" dirty="0">
                <a:cs typeface="Times New Roman" panose="02020603050405020304" pitchFamily="18" charset="0"/>
              </a:rPr>
              <a:t>价值</a:t>
            </a:r>
            <a:r>
              <a:rPr lang="en-US" altLang="zh-CN" b="1" dirty="0">
                <a:effectLst/>
                <a:cs typeface="Times New Roman" panose="02020603050405020304" pitchFamily="18" charset="0"/>
              </a:rPr>
              <a:t>——</a:t>
            </a:r>
            <a:r>
              <a:rPr lang="zh-CN" altLang="zh-CN" b="1" dirty="0">
                <a:effectLst/>
                <a:cs typeface="Times New Roman" panose="02020603050405020304" pitchFamily="18" charset="0"/>
              </a:rPr>
              <a:t>计划与控制体系是核心驱动引擎</a:t>
            </a:r>
            <a:endParaRPr lang="zh-CN" altLang="en-US" sz="3200" dirty="0"/>
          </a:p>
        </p:txBody>
      </p:sp>
      <p:graphicFrame>
        <p:nvGraphicFramePr>
          <p:cNvPr id="3" name="表格 2">
            <a:extLst>
              <a:ext uri="{FF2B5EF4-FFF2-40B4-BE49-F238E27FC236}">
                <a16:creationId xmlns:a16="http://schemas.microsoft.com/office/drawing/2014/main" id="{34D05A76-31D3-5160-3A12-49A0F5BE2F14}"/>
              </a:ext>
            </a:extLst>
          </p:cNvPr>
          <p:cNvGraphicFramePr>
            <a:graphicFrameLocks noGrp="1"/>
          </p:cNvGraphicFramePr>
          <p:nvPr>
            <p:extLst>
              <p:ext uri="{D42A27DB-BD31-4B8C-83A1-F6EECF244321}">
                <p14:modId xmlns:p14="http://schemas.microsoft.com/office/powerpoint/2010/main" val="514766026"/>
              </p:ext>
            </p:extLst>
          </p:nvPr>
        </p:nvGraphicFramePr>
        <p:xfrm>
          <a:off x="992093" y="1537319"/>
          <a:ext cx="10207811" cy="4423459"/>
        </p:xfrm>
        <a:graphic>
          <a:graphicData uri="http://schemas.openxmlformats.org/drawingml/2006/table">
            <a:tbl>
              <a:tblPr firstRow="1" firstCol="1">
                <a:tableStyleId>{5C22544A-7EE6-4342-B048-85BDC9FD1C3A}</a:tableStyleId>
              </a:tblPr>
              <a:tblGrid>
                <a:gridCol w="2178761">
                  <a:extLst>
                    <a:ext uri="{9D8B030D-6E8A-4147-A177-3AD203B41FA5}">
                      <a16:colId xmlns:a16="http://schemas.microsoft.com/office/drawing/2014/main" val="1459615934"/>
                    </a:ext>
                  </a:extLst>
                </a:gridCol>
                <a:gridCol w="4014525">
                  <a:extLst>
                    <a:ext uri="{9D8B030D-6E8A-4147-A177-3AD203B41FA5}">
                      <a16:colId xmlns:a16="http://schemas.microsoft.com/office/drawing/2014/main" val="2016145174"/>
                    </a:ext>
                  </a:extLst>
                </a:gridCol>
                <a:gridCol w="4014525">
                  <a:extLst>
                    <a:ext uri="{9D8B030D-6E8A-4147-A177-3AD203B41FA5}">
                      <a16:colId xmlns:a16="http://schemas.microsoft.com/office/drawing/2014/main" val="666972509"/>
                    </a:ext>
                  </a:extLst>
                </a:gridCol>
              </a:tblGrid>
              <a:tr h="290151">
                <a:tc>
                  <a:txBody>
                    <a:bodyPr/>
                    <a:lstStyle/>
                    <a:p>
                      <a:pPr>
                        <a:lnSpc>
                          <a:spcPct val="115000"/>
                        </a:lnSpc>
                        <a:spcAft>
                          <a:spcPts val="800"/>
                        </a:spcAft>
                      </a:pPr>
                      <a:r>
                        <a:rPr lang="zh-CN" sz="1800" b="1" kern="100" dirty="0">
                          <a:solidFill>
                            <a:srgbClr val="FFFFFF"/>
                          </a:solidFill>
                          <a:effectLst/>
                          <a:latin typeface="+mj-ea"/>
                          <a:ea typeface="+mj-ea"/>
                        </a:rPr>
                        <a:t>战略绩效维度</a:t>
                      </a:r>
                      <a:endParaRPr lang="zh-CN" sz="1400" b="1" kern="100" dirty="0">
                        <a:solidFill>
                          <a:srgbClr val="FFFFFF"/>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a:lnSpc>
                          <a:spcPct val="115000"/>
                        </a:lnSpc>
                        <a:spcAft>
                          <a:spcPts val="800"/>
                        </a:spcAft>
                      </a:pPr>
                      <a:r>
                        <a:rPr lang="zh-CN" sz="1800" b="1" kern="100" dirty="0">
                          <a:solidFill>
                            <a:srgbClr val="FFFFFF"/>
                          </a:solidFill>
                          <a:effectLst/>
                          <a:latin typeface="+mj-ea"/>
                          <a:ea typeface="+mj-ea"/>
                        </a:rPr>
                        <a:t>具体指标举例</a:t>
                      </a:r>
                      <a:endParaRPr lang="zh-CN" sz="1400" b="1" kern="100" dirty="0">
                        <a:solidFill>
                          <a:srgbClr val="FFFFFF"/>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a:lnSpc>
                          <a:spcPct val="115000"/>
                        </a:lnSpc>
                        <a:spcAft>
                          <a:spcPts val="800"/>
                        </a:spcAft>
                      </a:pPr>
                      <a:r>
                        <a:rPr lang="zh-CN" sz="1800" b="1" kern="100" dirty="0">
                          <a:solidFill>
                            <a:srgbClr val="FFFFFF"/>
                          </a:solidFill>
                          <a:effectLst/>
                          <a:latin typeface="+mj-ea"/>
                          <a:ea typeface="+mj-ea"/>
                        </a:rPr>
                        <a:t>与计划控制体系的强关联性</a:t>
                      </a:r>
                      <a:endParaRPr lang="zh-CN" sz="1400" b="1" kern="100" dirty="0">
                        <a:solidFill>
                          <a:srgbClr val="FFFFFF"/>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extLst>
                  <a:ext uri="{0D108BD9-81ED-4DB2-BD59-A6C34878D82A}">
                    <a16:rowId xmlns:a16="http://schemas.microsoft.com/office/drawing/2014/main" val="3058945953"/>
                  </a:ext>
                </a:extLst>
              </a:tr>
              <a:tr h="914915">
                <a:tc>
                  <a:txBody>
                    <a:bodyPr/>
                    <a:lstStyle/>
                    <a:p>
                      <a:pPr>
                        <a:lnSpc>
                          <a:spcPct val="115000"/>
                        </a:lnSpc>
                        <a:spcAft>
                          <a:spcPts val="800"/>
                        </a:spcAft>
                      </a:pPr>
                      <a:r>
                        <a:rPr lang="zh-CN" sz="1800" b="1" kern="100" dirty="0">
                          <a:solidFill>
                            <a:srgbClr val="000000"/>
                          </a:solidFill>
                          <a:effectLst/>
                          <a:latin typeface="+mj-ea"/>
                          <a:ea typeface="+mj-ea"/>
                        </a:rPr>
                        <a:t>盈利能力​</a:t>
                      </a:r>
                      <a:endParaRPr lang="zh-CN" sz="1400" b="1" kern="100" dirty="0">
                        <a:solidFill>
                          <a:srgbClr val="000000"/>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nSpc>
                          <a:spcPct val="115000"/>
                        </a:lnSpc>
                        <a:spcAft>
                          <a:spcPts val="800"/>
                        </a:spcAft>
                      </a:pPr>
                      <a:r>
                        <a:rPr lang="zh-CN" sz="1600" kern="100" dirty="0">
                          <a:solidFill>
                            <a:schemeClr val="bg1"/>
                          </a:solidFill>
                          <a:effectLst/>
                          <a:latin typeface="+mj-ea"/>
                          <a:ea typeface="+mj-ea"/>
                        </a:rPr>
                        <a:t>毛利率、息税前利润（</a:t>
                      </a:r>
                      <a:r>
                        <a:rPr lang="en-US" sz="1600" kern="100" dirty="0">
                          <a:solidFill>
                            <a:schemeClr val="bg1"/>
                          </a:solidFill>
                          <a:effectLst/>
                          <a:latin typeface="+mj-ea"/>
                          <a:ea typeface="+mj-ea"/>
                        </a:rPr>
                        <a:t>EBIT</a:t>
                      </a:r>
                      <a:r>
                        <a:rPr lang="zh-CN" sz="1600" kern="100" dirty="0">
                          <a:solidFill>
                            <a:schemeClr val="bg1"/>
                          </a:solidFill>
                          <a:effectLst/>
                          <a:latin typeface="+mj-ea"/>
                          <a:ea typeface="+mj-ea"/>
                        </a:rPr>
                        <a:t>）、净利润率</a:t>
                      </a:r>
                      <a:endParaRPr lang="zh-CN" sz="1200" kern="100" dirty="0">
                        <a:solidFill>
                          <a:schemeClr val="bg1"/>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nSpc>
                          <a:spcPct val="115000"/>
                        </a:lnSpc>
                        <a:spcAft>
                          <a:spcPts val="800"/>
                        </a:spcAft>
                      </a:pPr>
                      <a:r>
                        <a:rPr lang="zh-CN" sz="1600" kern="100" dirty="0">
                          <a:solidFill>
                            <a:schemeClr val="bg1"/>
                          </a:solidFill>
                          <a:effectLst/>
                          <a:latin typeface="+mj-ea"/>
                          <a:ea typeface="+mj-ea"/>
                        </a:rPr>
                        <a:t>计划体系通过：</a:t>
                      </a:r>
                      <a:r>
                        <a:rPr lang="zh-CN" sz="1600" b="1" kern="100" dirty="0">
                          <a:solidFill>
                            <a:schemeClr val="bg1"/>
                          </a:solidFill>
                          <a:effectLst/>
                          <a:latin typeface="+mj-ea"/>
                          <a:ea typeface="+mj-ea"/>
                        </a:rPr>
                        <a:t>降低运营成本</a:t>
                      </a:r>
                      <a:r>
                        <a:rPr lang="zh-CN" sz="1600" b="0" kern="100" dirty="0">
                          <a:solidFill>
                            <a:schemeClr val="bg1"/>
                          </a:solidFill>
                          <a:effectLst/>
                          <a:latin typeface="+mj-ea"/>
                          <a:ea typeface="+mj-ea"/>
                        </a:rPr>
                        <a:t>（仓储、运输、加班费）、优化库存</a:t>
                      </a:r>
                      <a:r>
                        <a:rPr lang="zh-CN" sz="1600" b="1" kern="100" dirty="0">
                          <a:solidFill>
                            <a:schemeClr val="bg1"/>
                          </a:solidFill>
                          <a:effectLst/>
                          <a:latin typeface="+mj-ea"/>
                          <a:ea typeface="+mj-ea"/>
                        </a:rPr>
                        <a:t>减少资金占用</a:t>
                      </a:r>
                      <a:r>
                        <a:rPr lang="zh-CN" sz="1600" b="0" kern="100" dirty="0">
                          <a:solidFill>
                            <a:schemeClr val="bg1"/>
                          </a:solidFill>
                          <a:effectLst/>
                          <a:latin typeface="+mj-ea"/>
                          <a:ea typeface="+mj-ea"/>
                        </a:rPr>
                        <a:t>、</a:t>
                      </a:r>
                      <a:r>
                        <a:rPr lang="zh-CN" sz="1600" b="1" kern="100" dirty="0">
                          <a:solidFill>
                            <a:schemeClr val="bg1"/>
                          </a:solidFill>
                          <a:effectLst/>
                          <a:latin typeface="+mj-ea"/>
                          <a:ea typeface="+mj-ea"/>
                        </a:rPr>
                        <a:t>提升高毛利订单交付率</a:t>
                      </a:r>
                      <a:r>
                        <a:rPr lang="zh-CN" sz="1600" b="0" kern="100" dirty="0">
                          <a:solidFill>
                            <a:schemeClr val="bg1"/>
                          </a:solidFill>
                          <a:effectLst/>
                          <a:latin typeface="+mj-ea"/>
                          <a:ea typeface="+mj-ea"/>
                        </a:rPr>
                        <a:t>，直接</a:t>
                      </a:r>
                      <a:r>
                        <a:rPr lang="zh-CN" sz="1600" b="1" kern="100" dirty="0">
                          <a:solidFill>
                            <a:schemeClr val="bg1"/>
                          </a:solidFill>
                          <a:effectLst/>
                          <a:latin typeface="+mj-ea"/>
                          <a:ea typeface="+mj-ea"/>
                        </a:rPr>
                        <a:t>改善利润</a:t>
                      </a:r>
                      <a:r>
                        <a:rPr lang="zh-CN" sz="1600" b="0" kern="100" dirty="0">
                          <a:solidFill>
                            <a:schemeClr val="bg1"/>
                          </a:solidFill>
                          <a:effectLst/>
                          <a:latin typeface="+mj-ea"/>
                          <a:ea typeface="+mj-ea"/>
                        </a:rPr>
                        <a:t>。</a:t>
                      </a:r>
                      <a:endParaRPr lang="zh-CN" sz="1200" b="0" kern="100" dirty="0">
                        <a:solidFill>
                          <a:schemeClr val="bg1"/>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58801081"/>
                  </a:ext>
                </a:extLst>
              </a:tr>
              <a:tr h="914915">
                <a:tc>
                  <a:txBody>
                    <a:bodyPr/>
                    <a:lstStyle/>
                    <a:p>
                      <a:pPr>
                        <a:lnSpc>
                          <a:spcPct val="115000"/>
                        </a:lnSpc>
                        <a:spcAft>
                          <a:spcPts val="800"/>
                        </a:spcAft>
                      </a:pPr>
                      <a:r>
                        <a:rPr lang="zh-CN" sz="1800" b="1" kern="100">
                          <a:solidFill>
                            <a:srgbClr val="000000"/>
                          </a:solidFill>
                          <a:effectLst/>
                          <a:latin typeface="+mj-ea"/>
                          <a:ea typeface="+mj-ea"/>
                        </a:rPr>
                        <a:t>资本效率​</a:t>
                      </a:r>
                      <a:endParaRPr lang="zh-CN" sz="1400" b="1" kern="100">
                        <a:solidFill>
                          <a:srgbClr val="000000"/>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nSpc>
                          <a:spcPct val="115000"/>
                        </a:lnSpc>
                        <a:spcAft>
                          <a:spcPts val="800"/>
                        </a:spcAft>
                      </a:pPr>
                      <a:r>
                        <a:rPr lang="zh-CN" sz="1600" kern="100" dirty="0">
                          <a:solidFill>
                            <a:schemeClr val="bg1"/>
                          </a:solidFill>
                          <a:effectLst/>
                          <a:latin typeface="+mj-ea"/>
                          <a:ea typeface="+mj-ea"/>
                        </a:rPr>
                        <a:t>投资回报率（</a:t>
                      </a:r>
                      <a:r>
                        <a:rPr lang="en-US" sz="1600" kern="100" dirty="0">
                          <a:solidFill>
                            <a:schemeClr val="bg1"/>
                          </a:solidFill>
                          <a:effectLst/>
                          <a:latin typeface="+mj-ea"/>
                          <a:ea typeface="+mj-ea"/>
                        </a:rPr>
                        <a:t>ROI</a:t>
                      </a:r>
                      <a:r>
                        <a:rPr lang="zh-CN" sz="1600" kern="100" dirty="0">
                          <a:solidFill>
                            <a:schemeClr val="bg1"/>
                          </a:solidFill>
                          <a:effectLst/>
                          <a:latin typeface="+mj-ea"/>
                          <a:ea typeface="+mj-ea"/>
                        </a:rPr>
                        <a:t>）、资产回报率（</a:t>
                      </a:r>
                      <a:r>
                        <a:rPr lang="en-US" sz="1600" kern="100" dirty="0">
                          <a:solidFill>
                            <a:schemeClr val="bg1"/>
                          </a:solidFill>
                          <a:effectLst/>
                          <a:latin typeface="+mj-ea"/>
                          <a:ea typeface="+mj-ea"/>
                        </a:rPr>
                        <a:t>ROA</a:t>
                      </a:r>
                      <a:r>
                        <a:rPr lang="zh-CN" sz="1600" kern="100" dirty="0">
                          <a:solidFill>
                            <a:schemeClr val="bg1"/>
                          </a:solidFill>
                          <a:effectLst/>
                          <a:latin typeface="+mj-ea"/>
                          <a:ea typeface="+mj-ea"/>
                        </a:rPr>
                        <a:t>）、现金转换周期（</a:t>
                      </a:r>
                      <a:r>
                        <a:rPr lang="en-US" sz="1600" kern="100" dirty="0">
                          <a:solidFill>
                            <a:schemeClr val="bg1"/>
                          </a:solidFill>
                          <a:effectLst/>
                          <a:latin typeface="+mj-ea"/>
                          <a:ea typeface="+mj-ea"/>
                        </a:rPr>
                        <a:t>CCC</a:t>
                      </a:r>
                      <a:r>
                        <a:rPr lang="zh-CN" sz="1600" kern="100" dirty="0">
                          <a:solidFill>
                            <a:schemeClr val="bg1"/>
                          </a:solidFill>
                          <a:effectLst/>
                          <a:latin typeface="+mj-ea"/>
                          <a:ea typeface="+mj-ea"/>
                        </a:rPr>
                        <a:t>）</a:t>
                      </a:r>
                      <a:endParaRPr lang="zh-CN" sz="1200" kern="100" dirty="0">
                        <a:solidFill>
                          <a:schemeClr val="bg1"/>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nSpc>
                          <a:spcPct val="115000"/>
                        </a:lnSpc>
                        <a:spcAft>
                          <a:spcPts val="800"/>
                        </a:spcAft>
                      </a:pPr>
                      <a:r>
                        <a:rPr lang="zh-CN" sz="1600" kern="100" dirty="0">
                          <a:solidFill>
                            <a:schemeClr val="bg1"/>
                          </a:solidFill>
                          <a:effectLst/>
                          <a:latin typeface="+mj-ea"/>
                          <a:ea typeface="+mj-ea"/>
                        </a:rPr>
                        <a:t>计划体系通过：</a:t>
                      </a:r>
                      <a:r>
                        <a:rPr lang="zh-CN" sz="1600" b="0" kern="100" dirty="0">
                          <a:solidFill>
                            <a:schemeClr val="bg1"/>
                          </a:solidFill>
                          <a:effectLst/>
                          <a:latin typeface="+mj-ea"/>
                          <a:ea typeface="+mj-ea"/>
                        </a:rPr>
                        <a:t>大幅</a:t>
                      </a:r>
                      <a:r>
                        <a:rPr lang="zh-CN" sz="1600" b="1" kern="100" dirty="0">
                          <a:solidFill>
                            <a:schemeClr val="bg1"/>
                          </a:solidFill>
                          <a:effectLst/>
                          <a:latin typeface="+mj-ea"/>
                          <a:ea typeface="+mj-ea"/>
                        </a:rPr>
                        <a:t>提升库存周转率、加速订单到现金的流程，直接释放现金流、提升资本使用效率。</a:t>
                      </a:r>
                      <a:endParaRPr lang="zh-CN" sz="1200" b="1" kern="100" dirty="0">
                        <a:solidFill>
                          <a:schemeClr val="bg1"/>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84276368"/>
                  </a:ext>
                </a:extLst>
              </a:tr>
              <a:tr h="1227296">
                <a:tc>
                  <a:txBody>
                    <a:bodyPr/>
                    <a:lstStyle/>
                    <a:p>
                      <a:pPr>
                        <a:lnSpc>
                          <a:spcPct val="115000"/>
                        </a:lnSpc>
                        <a:spcAft>
                          <a:spcPts val="800"/>
                        </a:spcAft>
                      </a:pPr>
                      <a:r>
                        <a:rPr lang="zh-CN" sz="1800" b="1" kern="100">
                          <a:solidFill>
                            <a:srgbClr val="000000"/>
                          </a:solidFill>
                          <a:effectLst/>
                          <a:latin typeface="+mj-ea"/>
                          <a:ea typeface="+mj-ea"/>
                        </a:rPr>
                        <a:t>营收增长与市场占有率​</a:t>
                      </a:r>
                      <a:endParaRPr lang="zh-CN" sz="1400" b="1" kern="100">
                        <a:solidFill>
                          <a:srgbClr val="000000"/>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nSpc>
                          <a:spcPct val="115000"/>
                        </a:lnSpc>
                        <a:spcAft>
                          <a:spcPts val="800"/>
                        </a:spcAft>
                      </a:pPr>
                      <a:r>
                        <a:rPr lang="zh-CN" sz="1600" kern="100">
                          <a:solidFill>
                            <a:schemeClr val="bg1"/>
                          </a:solidFill>
                          <a:effectLst/>
                          <a:latin typeface="+mj-ea"/>
                          <a:ea typeface="+mj-ea"/>
                        </a:rPr>
                        <a:t>营收增长率、市场份额</a:t>
                      </a:r>
                      <a:endParaRPr lang="zh-CN" sz="1200" kern="100">
                        <a:solidFill>
                          <a:schemeClr val="bg1"/>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nSpc>
                          <a:spcPct val="115000"/>
                        </a:lnSpc>
                        <a:spcAft>
                          <a:spcPts val="800"/>
                        </a:spcAft>
                      </a:pPr>
                      <a:r>
                        <a:rPr lang="zh-CN" sz="1600" kern="100" dirty="0">
                          <a:solidFill>
                            <a:schemeClr val="bg1"/>
                          </a:solidFill>
                          <a:effectLst/>
                          <a:latin typeface="+mj-ea"/>
                          <a:ea typeface="+mj-ea"/>
                        </a:rPr>
                        <a:t>计划体系通过：</a:t>
                      </a:r>
                      <a:r>
                        <a:rPr lang="zh-CN" sz="1600" b="0" kern="100" dirty="0">
                          <a:solidFill>
                            <a:schemeClr val="bg1"/>
                          </a:solidFill>
                          <a:effectLst/>
                          <a:latin typeface="+mj-ea"/>
                          <a:ea typeface="+mj-ea"/>
                        </a:rPr>
                        <a:t>实现极高的交付可靠性和极短的订单履行周期，</a:t>
                      </a:r>
                      <a:r>
                        <a:rPr lang="zh-CN" sz="1600" b="1" kern="100" dirty="0">
                          <a:solidFill>
                            <a:schemeClr val="bg1"/>
                          </a:solidFill>
                          <a:effectLst/>
                          <a:latin typeface="+mj-ea"/>
                          <a:ea typeface="+mj-ea"/>
                        </a:rPr>
                        <a:t>提升客户忠诚度和满意度</a:t>
                      </a:r>
                      <a:r>
                        <a:rPr lang="zh-CN" sz="1600" b="0" kern="100" dirty="0">
                          <a:solidFill>
                            <a:schemeClr val="bg1"/>
                          </a:solidFill>
                          <a:effectLst/>
                          <a:latin typeface="+mj-ea"/>
                          <a:ea typeface="+mj-ea"/>
                        </a:rPr>
                        <a:t>，从而促进重复购买和口碑传播，</a:t>
                      </a:r>
                      <a:r>
                        <a:rPr lang="zh-CN" sz="1600" b="1" kern="100" dirty="0">
                          <a:solidFill>
                            <a:schemeClr val="bg1"/>
                          </a:solidFill>
                          <a:effectLst/>
                          <a:latin typeface="+mj-ea"/>
                          <a:ea typeface="+mj-ea"/>
                        </a:rPr>
                        <a:t>驱动营收增长。</a:t>
                      </a:r>
                      <a:endParaRPr lang="zh-CN" sz="1200" b="1" kern="100" dirty="0">
                        <a:solidFill>
                          <a:schemeClr val="bg1"/>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04819243"/>
                  </a:ext>
                </a:extLst>
              </a:tr>
              <a:tr h="1075312">
                <a:tc>
                  <a:txBody>
                    <a:bodyPr/>
                    <a:lstStyle/>
                    <a:p>
                      <a:pPr>
                        <a:lnSpc>
                          <a:spcPct val="115000"/>
                        </a:lnSpc>
                        <a:spcAft>
                          <a:spcPts val="800"/>
                        </a:spcAft>
                      </a:pPr>
                      <a:r>
                        <a:rPr lang="zh-CN" sz="1800" b="1" kern="100" dirty="0">
                          <a:solidFill>
                            <a:srgbClr val="000000"/>
                          </a:solidFill>
                          <a:effectLst/>
                          <a:latin typeface="+mj-ea"/>
                          <a:ea typeface="+mj-ea"/>
                        </a:rPr>
                        <a:t>企业估值与股价​</a:t>
                      </a:r>
                      <a:endParaRPr lang="zh-CN" sz="1400" b="1" kern="100" dirty="0">
                        <a:solidFill>
                          <a:srgbClr val="000000"/>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nSpc>
                          <a:spcPct val="115000"/>
                        </a:lnSpc>
                        <a:spcAft>
                          <a:spcPts val="800"/>
                        </a:spcAft>
                      </a:pPr>
                      <a:r>
                        <a:rPr lang="zh-CN" sz="1600" kern="100">
                          <a:solidFill>
                            <a:schemeClr val="bg1"/>
                          </a:solidFill>
                          <a:effectLst/>
                          <a:latin typeface="+mj-ea"/>
                          <a:ea typeface="+mj-ea"/>
                        </a:rPr>
                        <a:t>市盈率（</a:t>
                      </a:r>
                      <a:r>
                        <a:rPr lang="en-US" sz="1600" kern="100">
                          <a:solidFill>
                            <a:schemeClr val="bg1"/>
                          </a:solidFill>
                          <a:effectLst/>
                          <a:latin typeface="+mj-ea"/>
                          <a:ea typeface="+mj-ea"/>
                        </a:rPr>
                        <a:t>P/E</a:t>
                      </a:r>
                      <a:r>
                        <a:rPr lang="zh-CN" sz="1600" kern="100">
                          <a:solidFill>
                            <a:schemeClr val="bg1"/>
                          </a:solidFill>
                          <a:effectLst/>
                          <a:latin typeface="+mj-ea"/>
                          <a:ea typeface="+mj-ea"/>
                        </a:rPr>
                        <a:t>）、企业价值倍数（</a:t>
                      </a:r>
                      <a:r>
                        <a:rPr lang="en-US" sz="1600" kern="100">
                          <a:solidFill>
                            <a:schemeClr val="bg1"/>
                          </a:solidFill>
                          <a:effectLst/>
                          <a:latin typeface="+mj-ea"/>
                          <a:ea typeface="+mj-ea"/>
                        </a:rPr>
                        <a:t>EV/EBITDA</a:t>
                      </a:r>
                      <a:r>
                        <a:rPr lang="zh-CN" sz="1600" kern="100">
                          <a:solidFill>
                            <a:schemeClr val="bg1"/>
                          </a:solidFill>
                          <a:effectLst/>
                          <a:latin typeface="+mj-ea"/>
                          <a:ea typeface="+mj-ea"/>
                        </a:rPr>
                        <a:t>）</a:t>
                      </a:r>
                      <a:endParaRPr lang="zh-CN" sz="1200" kern="100">
                        <a:solidFill>
                          <a:schemeClr val="bg1"/>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nSpc>
                          <a:spcPct val="115000"/>
                        </a:lnSpc>
                        <a:spcAft>
                          <a:spcPts val="800"/>
                        </a:spcAft>
                      </a:pPr>
                      <a:r>
                        <a:rPr lang="zh-CN" sz="1600" kern="100" dirty="0">
                          <a:solidFill>
                            <a:schemeClr val="bg1"/>
                          </a:solidFill>
                          <a:effectLst/>
                          <a:latin typeface="+mj-ea"/>
                          <a:ea typeface="+mj-ea"/>
                        </a:rPr>
                        <a:t>计划体系通过：</a:t>
                      </a:r>
                      <a:r>
                        <a:rPr lang="zh-CN" sz="1600" b="0" kern="100" dirty="0">
                          <a:solidFill>
                            <a:schemeClr val="bg1"/>
                          </a:solidFill>
                          <a:effectLst/>
                          <a:latin typeface="+mj-ea"/>
                          <a:ea typeface="+mj-ea"/>
                        </a:rPr>
                        <a:t>提升上述所有财务指标，并向资本市场证明企业拥有</a:t>
                      </a:r>
                      <a:r>
                        <a:rPr lang="zh-CN" sz="1600" b="1" kern="100" dirty="0">
                          <a:solidFill>
                            <a:schemeClr val="bg1"/>
                          </a:solidFill>
                          <a:effectLst/>
                          <a:latin typeface="+mj-ea"/>
                          <a:ea typeface="+mj-ea"/>
                        </a:rPr>
                        <a:t>卓越的运营能力和可持续的竞争优势</a:t>
                      </a:r>
                      <a:r>
                        <a:rPr lang="zh-CN" sz="1600" b="0" kern="100" dirty="0">
                          <a:solidFill>
                            <a:schemeClr val="bg1"/>
                          </a:solidFill>
                          <a:effectLst/>
                          <a:latin typeface="+mj-ea"/>
                          <a:ea typeface="+mj-ea"/>
                        </a:rPr>
                        <a:t>，从而获得估值溢价</a:t>
                      </a:r>
                      <a:r>
                        <a:rPr lang="zh-CN" sz="1600" kern="100" dirty="0">
                          <a:solidFill>
                            <a:schemeClr val="bg1"/>
                          </a:solidFill>
                          <a:effectLst/>
                          <a:latin typeface="+mj-ea"/>
                          <a:ea typeface="+mj-ea"/>
                        </a:rPr>
                        <a:t>。</a:t>
                      </a:r>
                      <a:endParaRPr lang="zh-CN" sz="1200" kern="100" dirty="0">
                        <a:solidFill>
                          <a:schemeClr val="bg1"/>
                        </a:solidFill>
                        <a:effectLst/>
                        <a:latin typeface="+mj-ea"/>
                        <a:ea typeface="+mj-ea"/>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5059017"/>
                  </a:ext>
                </a:extLst>
              </a:tr>
            </a:tbl>
          </a:graphicData>
        </a:graphic>
      </p:graphicFrame>
      <p:sp>
        <p:nvSpPr>
          <p:cNvPr id="5" name="文本框 4">
            <a:extLst>
              <a:ext uri="{FF2B5EF4-FFF2-40B4-BE49-F238E27FC236}">
                <a16:creationId xmlns:a16="http://schemas.microsoft.com/office/drawing/2014/main" id="{F5FDC8AC-CE6F-9639-1468-57DAFA4E00B9}"/>
              </a:ext>
            </a:extLst>
          </p:cNvPr>
          <p:cNvSpPr txBox="1"/>
          <p:nvPr/>
        </p:nvSpPr>
        <p:spPr>
          <a:xfrm>
            <a:off x="2379525" y="6195866"/>
            <a:ext cx="6598024" cy="369332"/>
          </a:xfrm>
          <a:prstGeom prst="rect">
            <a:avLst/>
          </a:prstGeom>
          <a:noFill/>
        </p:spPr>
        <p:txBody>
          <a:bodyPr wrap="square">
            <a:spAutoFit/>
          </a:bodyPr>
          <a:lstStyle/>
          <a:p>
            <a:r>
              <a:rPr lang="zh-CN" altLang="zh-CN" sz="1800" b="1" dirty="0">
                <a:solidFill>
                  <a:schemeClr val="bg1"/>
                </a:solidFill>
                <a:effectLst/>
                <a:ea typeface="微软雅黑" panose="020B0503020204020204" pitchFamily="34" charset="-122"/>
                <a:cs typeface="Times New Roman" panose="02020603050405020304" pitchFamily="18" charset="0"/>
              </a:rPr>
              <a:t>这一层的战略绩效，是计划控制体系所创造的最终价值体现。</a:t>
            </a:r>
            <a:endParaRPr lang="zh-CN" altLang="en-US" b="1" dirty="0">
              <a:solidFill>
                <a:schemeClr val="bg1"/>
              </a:solidFill>
            </a:endParaRPr>
          </a:p>
        </p:txBody>
      </p:sp>
      <p:sp>
        <p:nvSpPr>
          <p:cNvPr id="7" name="文本框 6">
            <a:extLst>
              <a:ext uri="{FF2B5EF4-FFF2-40B4-BE49-F238E27FC236}">
                <a16:creationId xmlns:a16="http://schemas.microsoft.com/office/drawing/2014/main" id="{03514EA2-94FA-A242-5A17-4191506AD278}"/>
              </a:ext>
            </a:extLst>
          </p:cNvPr>
          <p:cNvSpPr txBox="1"/>
          <p:nvPr/>
        </p:nvSpPr>
        <p:spPr>
          <a:xfrm>
            <a:off x="1488141" y="692223"/>
            <a:ext cx="9215717" cy="646331"/>
          </a:xfrm>
          <a:prstGeom prst="rect">
            <a:avLst/>
          </a:prstGeom>
          <a:noFill/>
        </p:spPr>
        <p:txBody>
          <a:bodyPr wrap="square">
            <a:spAutoFit/>
          </a:bodyPr>
          <a:lstStyle/>
          <a:p>
            <a:r>
              <a:rPr lang="zh-CN" altLang="en-US" dirty="0">
                <a:solidFill>
                  <a:schemeClr val="bg1"/>
                </a:solidFill>
                <a:latin typeface="+mj-ea"/>
                <a:ea typeface="+mj-ea"/>
              </a:rPr>
              <a:t>这些绩效直接反映企业的</a:t>
            </a:r>
            <a:r>
              <a:rPr lang="zh-CN" altLang="en-US" b="1" dirty="0">
                <a:solidFill>
                  <a:schemeClr val="bg1"/>
                </a:solidFill>
                <a:latin typeface="+mj-ea"/>
                <a:ea typeface="+mj-ea"/>
              </a:rPr>
              <a:t>整体健康度和市场竞争力</a:t>
            </a:r>
            <a:r>
              <a:rPr lang="zh-CN" altLang="en-US" dirty="0">
                <a:solidFill>
                  <a:schemeClr val="bg1"/>
                </a:solidFill>
                <a:latin typeface="+mj-ea"/>
                <a:ea typeface="+mj-ea"/>
              </a:rPr>
              <a:t>，是董事会和投资者最关注的。它们与</a:t>
            </a:r>
            <a:r>
              <a:rPr lang="zh-CN" altLang="en-US" b="1" dirty="0">
                <a:solidFill>
                  <a:schemeClr val="bg1"/>
                </a:solidFill>
                <a:latin typeface="+mj-ea"/>
                <a:ea typeface="+mj-ea"/>
              </a:rPr>
              <a:t>计划控制体系强相关</a:t>
            </a:r>
            <a:r>
              <a:rPr lang="zh-CN" altLang="en-US" dirty="0">
                <a:solidFill>
                  <a:schemeClr val="bg1"/>
                </a:solidFill>
                <a:latin typeface="+mj-ea"/>
                <a:ea typeface="+mj-ea"/>
              </a:rPr>
              <a:t>，因为一个卓越的计划控制体系是达成这些绩效的</a:t>
            </a:r>
            <a:r>
              <a:rPr lang="zh-CN" altLang="en-US" b="1" dirty="0">
                <a:solidFill>
                  <a:schemeClr val="bg1"/>
                </a:solidFill>
                <a:latin typeface="+mj-ea"/>
                <a:ea typeface="+mj-ea"/>
              </a:rPr>
              <a:t>最核心驱动因素</a:t>
            </a:r>
            <a:r>
              <a:rPr lang="zh-CN" altLang="en-US" dirty="0">
                <a:solidFill>
                  <a:schemeClr val="bg1"/>
                </a:solidFill>
                <a:latin typeface="+mj-ea"/>
                <a:ea typeface="+mj-ea"/>
              </a:rPr>
              <a:t>。</a:t>
            </a:r>
          </a:p>
        </p:txBody>
      </p:sp>
    </p:spTree>
    <p:extLst>
      <p:ext uri="{BB962C8B-B14F-4D97-AF65-F5344CB8AC3E}">
        <p14:creationId xmlns:p14="http://schemas.microsoft.com/office/powerpoint/2010/main" val="39275256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50175E2-3525-F8E6-BA8F-550DBBA67CE8}"/>
              </a:ext>
            </a:extLst>
          </p:cNvPr>
          <p:cNvSpPr>
            <a:spLocks noGrp="1"/>
          </p:cNvSpPr>
          <p:nvPr>
            <p:ph type="title"/>
          </p:nvPr>
        </p:nvSpPr>
        <p:spPr/>
        <p:txBody>
          <a:bodyPr>
            <a:normAutofit/>
          </a:bodyPr>
          <a:lstStyle/>
          <a:p>
            <a:r>
              <a:rPr lang="zh-CN" altLang="zh-CN" b="1" dirty="0">
                <a:effectLst/>
                <a:cs typeface="Times New Roman" panose="02020603050405020304" pitchFamily="18" charset="0"/>
              </a:rPr>
              <a:t>运营层</a:t>
            </a:r>
            <a:r>
              <a:rPr lang="en-US" altLang="zh-CN" b="1" dirty="0">
                <a:effectLst/>
                <a:cs typeface="Times New Roman" panose="02020603050405020304" pitchFamily="18" charset="0"/>
              </a:rPr>
              <a:t>/</a:t>
            </a:r>
            <a:r>
              <a:rPr lang="zh-CN" altLang="zh-CN" b="1" dirty="0">
                <a:effectLst/>
                <a:cs typeface="Times New Roman" panose="02020603050405020304" pitchFamily="18" charset="0"/>
              </a:rPr>
              <a:t>职能层绩效</a:t>
            </a:r>
            <a:r>
              <a:rPr lang="en-US" altLang="zh-CN" b="1" dirty="0">
                <a:effectLst/>
                <a:cs typeface="Times New Roman" panose="02020603050405020304" pitchFamily="18" charset="0"/>
              </a:rPr>
              <a:t>——</a:t>
            </a:r>
            <a:r>
              <a:rPr lang="zh-CN" altLang="zh-CN" b="1" dirty="0">
                <a:effectLst/>
                <a:cs typeface="Times New Roman" panose="02020603050405020304" pitchFamily="18" charset="0"/>
              </a:rPr>
              <a:t>计划与控制体系是协同基础</a:t>
            </a:r>
            <a:endParaRPr lang="zh-CN" altLang="en-US" sz="3200" dirty="0"/>
          </a:p>
        </p:txBody>
      </p:sp>
      <p:sp>
        <p:nvSpPr>
          <p:cNvPr id="4" name="文本框 3">
            <a:extLst>
              <a:ext uri="{FF2B5EF4-FFF2-40B4-BE49-F238E27FC236}">
                <a16:creationId xmlns:a16="http://schemas.microsoft.com/office/drawing/2014/main" id="{C6F6BBB7-AEA1-FF4A-7BCA-E97C33878420}"/>
              </a:ext>
            </a:extLst>
          </p:cNvPr>
          <p:cNvSpPr txBox="1"/>
          <p:nvPr/>
        </p:nvSpPr>
        <p:spPr>
          <a:xfrm>
            <a:off x="886690" y="906947"/>
            <a:ext cx="9490636" cy="646331"/>
          </a:xfrm>
          <a:prstGeom prst="rect">
            <a:avLst/>
          </a:prstGeom>
          <a:noFill/>
        </p:spPr>
        <p:txBody>
          <a:bodyPr wrap="square">
            <a:spAutoFit/>
          </a:bodyPr>
          <a:lstStyle/>
          <a:p>
            <a:r>
              <a:rPr lang="zh-CN" altLang="en-US" dirty="0">
                <a:solidFill>
                  <a:schemeClr val="bg1"/>
                </a:solidFill>
                <a:latin typeface="+mj-ea"/>
                <a:ea typeface="+mj-ea"/>
              </a:rPr>
              <a:t>这些绩效是各职能部门的核心</a:t>
            </a:r>
            <a:r>
              <a:rPr lang="en-US" altLang="zh-CN" dirty="0">
                <a:solidFill>
                  <a:schemeClr val="bg1"/>
                </a:solidFill>
                <a:latin typeface="+mj-ea"/>
                <a:ea typeface="+mj-ea"/>
              </a:rPr>
              <a:t>KPI</a:t>
            </a:r>
            <a:r>
              <a:rPr lang="zh-CN" altLang="en-US" dirty="0">
                <a:solidFill>
                  <a:schemeClr val="bg1"/>
                </a:solidFill>
                <a:latin typeface="+mj-ea"/>
                <a:ea typeface="+mj-ea"/>
              </a:rPr>
              <a:t>，是达成公司层</a:t>
            </a:r>
            <a:r>
              <a:rPr lang="zh-CN" altLang="en-US" b="1" dirty="0">
                <a:solidFill>
                  <a:schemeClr val="bg1"/>
                </a:solidFill>
                <a:latin typeface="+mj-ea"/>
                <a:ea typeface="+mj-ea"/>
              </a:rPr>
              <a:t>战略绩效的基石</a:t>
            </a:r>
            <a:r>
              <a:rPr lang="zh-CN" altLang="en-US" dirty="0">
                <a:solidFill>
                  <a:schemeClr val="bg1"/>
                </a:solidFill>
                <a:latin typeface="+mj-ea"/>
                <a:ea typeface="+mj-ea"/>
              </a:rPr>
              <a:t>。计划控制体系并不直接“拥有”这些指标，但它是实现这些指标</a:t>
            </a:r>
            <a:r>
              <a:rPr lang="zh-CN" altLang="en-US" b="1" dirty="0">
                <a:solidFill>
                  <a:schemeClr val="bg1"/>
                </a:solidFill>
                <a:latin typeface="+mj-ea"/>
                <a:ea typeface="+mj-ea"/>
              </a:rPr>
              <a:t>协同优化（而非局部博弈）</a:t>
            </a:r>
            <a:r>
              <a:rPr lang="zh-CN" altLang="en-US" dirty="0">
                <a:solidFill>
                  <a:schemeClr val="bg1"/>
                </a:solidFill>
                <a:latin typeface="+mj-ea"/>
                <a:ea typeface="+mj-ea"/>
              </a:rPr>
              <a:t>的基础平台。</a:t>
            </a:r>
          </a:p>
        </p:txBody>
      </p:sp>
      <p:graphicFrame>
        <p:nvGraphicFramePr>
          <p:cNvPr id="5" name="表格 4">
            <a:extLst>
              <a:ext uri="{FF2B5EF4-FFF2-40B4-BE49-F238E27FC236}">
                <a16:creationId xmlns:a16="http://schemas.microsoft.com/office/drawing/2014/main" id="{BEC91B7E-73AE-402F-2748-8C15B31D5123}"/>
              </a:ext>
            </a:extLst>
          </p:cNvPr>
          <p:cNvGraphicFramePr>
            <a:graphicFrameLocks noGrp="1"/>
          </p:cNvGraphicFramePr>
          <p:nvPr>
            <p:extLst>
              <p:ext uri="{D42A27DB-BD31-4B8C-83A1-F6EECF244321}">
                <p14:modId xmlns:p14="http://schemas.microsoft.com/office/powerpoint/2010/main" val="675422054"/>
              </p:ext>
            </p:extLst>
          </p:nvPr>
        </p:nvGraphicFramePr>
        <p:xfrm>
          <a:off x="1177366" y="1966259"/>
          <a:ext cx="8949373" cy="4378071"/>
        </p:xfrm>
        <a:graphic>
          <a:graphicData uri="http://schemas.openxmlformats.org/drawingml/2006/table">
            <a:tbl>
              <a:tblPr firstRow="1" firstCol="1" lastRow="1" lastCol="1" bandRow="1" bandCol="1"/>
              <a:tblGrid>
                <a:gridCol w="1320641">
                  <a:extLst>
                    <a:ext uri="{9D8B030D-6E8A-4147-A177-3AD203B41FA5}">
                      <a16:colId xmlns:a16="http://schemas.microsoft.com/office/drawing/2014/main" val="4254492700"/>
                    </a:ext>
                  </a:extLst>
                </a:gridCol>
                <a:gridCol w="3814366">
                  <a:extLst>
                    <a:ext uri="{9D8B030D-6E8A-4147-A177-3AD203B41FA5}">
                      <a16:colId xmlns:a16="http://schemas.microsoft.com/office/drawing/2014/main" val="819936653"/>
                    </a:ext>
                  </a:extLst>
                </a:gridCol>
                <a:gridCol w="3814366">
                  <a:extLst>
                    <a:ext uri="{9D8B030D-6E8A-4147-A177-3AD203B41FA5}">
                      <a16:colId xmlns:a16="http://schemas.microsoft.com/office/drawing/2014/main" val="4167441282"/>
                    </a:ext>
                  </a:extLst>
                </a:gridCol>
              </a:tblGrid>
              <a:tr h="255009">
                <a:tc>
                  <a:txBody>
                    <a:bodyPr/>
                    <a:lstStyle/>
                    <a:p>
                      <a:pPr>
                        <a:lnSpc>
                          <a:spcPct val="115000"/>
                        </a:lnSpc>
                        <a:spcAft>
                          <a:spcPts val="800"/>
                        </a:spcAft>
                      </a:pPr>
                      <a:r>
                        <a:rPr lang="zh-CN" sz="1600" b="1" kern="100">
                          <a:solidFill>
                            <a:srgbClr val="000000"/>
                          </a:solidFill>
                          <a:effectLst/>
                          <a:latin typeface="+mj-ea"/>
                          <a:ea typeface="+mj-ea"/>
                          <a:cs typeface="Times New Roman" panose="02020603050405020304" pitchFamily="18" charset="0"/>
                        </a:rPr>
                        <a:t>职能</a:t>
                      </a:r>
                      <a:endParaRPr lang="zh-CN" sz="1200" kern="100">
                        <a:solidFill>
                          <a:srgbClr val="000000"/>
                        </a:solidFill>
                        <a:effectLst/>
                        <a:latin typeface="+mj-ea"/>
                        <a:ea typeface="+mj-ea"/>
                        <a:cs typeface="Times New Roman" panose="02020603050405020304" pitchFamily="18" charset="0"/>
                      </a:endParaRPr>
                    </a:p>
                  </a:txBody>
                  <a:tcPr marL="68580" marR="68580" marT="0" marB="0">
                    <a:lnL w="12700" cap="flat" cmpd="sng" algn="ctr">
                      <a:solidFill>
                        <a:srgbClr val="769FCD"/>
                      </a:solidFill>
                      <a:prstDash val="dot"/>
                      <a:round/>
                      <a:headEnd type="none" w="med" len="med"/>
                      <a:tailEnd type="none" w="med" len="med"/>
                    </a:lnL>
                    <a:lnR w="12700" cap="flat" cmpd="sng" algn="ctr">
                      <a:solidFill>
                        <a:srgbClr val="DDDDDD"/>
                      </a:solidFill>
                      <a:prstDash val="dot"/>
                      <a:round/>
                      <a:headEnd type="none" w="med" len="med"/>
                      <a:tailEnd type="none" w="med" len="med"/>
                    </a:lnR>
                    <a:lnT w="12700" cap="flat" cmpd="sng" algn="ctr">
                      <a:solidFill>
                        <a:srgbClr val="769FCD"/>
                      </a:solidFill>
                      <a:prstDash val="dot"/>
                      <a:round/>
                      <a:headEnd type="none" w="med" len="med"/>
                      <a:tailEnd type="none" w="med" len="med"/>
                    </a:lnT>
                    <a:lnB w="12700" cap="flat" cmpd="sng" algn="ctr">
                      <a:solidFill>
                        <a:srgbClr val="769FCD"/>
                      </a:solidFill>
                      <a:prstDash val="dot"/>
                      <a:round/>
                      <a:headEnd type="none" w="med" len="med"/>
                      <a:tailEnd type="none" w="med" len="med"/>
                    </a:lnB>
                    <a:solidFill>
                      <a:srgbClr val="769FCD"/>
                    </a:solidFill>
                  </a:tcPr>
                </a:tc>
                <a:tc>
                  <a:txBody>
                    <a:bodyPr/>
                    <a:lstStyle/>
                    <a:p>
                      <a:pPr>
                        <a:lnSpc>
                          <a:spcPct val="115000"/>
                        </a:lnSpc>
                        <a:spcAft>
                          <a:spcPts val="800"/>
                        </a:spcAft>
                      </a:pPr>
                      <a:r>
                        <a:rPr lang="zh-CN" sz="1600" b="1" kern="100">
                          <a:solidFill>
                            <a:srgbClr val="000000"/>
                          </a:solidFill>
                          <a:effectLst/>
                          <a:latin typeface="+mj-ea"/>
                          <a:ea typeface="+mj-ea"/>
                          <a:cs typeface="Times New Roman" panose="02020603050405020304" pitchFamily="18" charset="0"/>
                        </a:rPr>
                        <a:t>该职能的核心运营绩效</a:t>
                      </a:r>
                      <a:endParaRPr lang="zh-CN" sz="1200" kern="100">
                        <a:solidFill>
                          <a:srgbClr val="000000"/>
                        </a:solidFill>
                        <a:effectLst/>
                        <a:latin typeface="+mj-ea"/>
                        <a:ea typeface="+mj-ea"/>
                        <a:cs typeface="Times New Roman" panose="02020603050405020304" pitchFamily="18" charset="0"/>
                      </a:endParaRPr>
                    </a:p>
                  </a:txBody>
                  <a:tcPr marL="68580" marR="68580" marT="0" marB="0">
                    <a:lnL w="12700" cap="flat" cmpd="sng" algn="ctr">
                      <a:solidFill>
                        <a:srgbClr val="DDDDDD"/>
                      </a:solidFill>
                      <a:prstDash val="dot"/>
                      <a:round/>
                      <a:headEnd type="none" w="med" len="med"/>
                      <a:tailEnd type="none" w="med" len="med"/>
                    </a:lnL>
                    <a:lnR w="12700" cap="flat" cmpd="sng" algn="ctr">
                      <a:solidFill>
                        <a:srgbClr val="DDDDDD"/>
                      </a:solidFill>
                      <a:prstDash val="dot"/>
                      <a:round/>
                      <a:headEnd type="none" w="med" len="med"/>
                      <a:tailEnd type="none" w="med" len="med"/>
                    </a:lnR>
                    <a:lnT w="12700" cap="flat" cmpd="sng" algn="ctr">
                      <a:solidFill>
                        <a:srgbClr val="769FCD"/>
                      </a:solidFill>
                      <a:prstDash val="dot"/>
                      <a:round/>
                      <a:headEnd type="none" w="med" len="med"/>
                      <a:tailEnd type="none" w="med" len="med"/>
                    </a:lnT>
                    <a:lnB w="12700" cap="flat" cmpd="sng" algn="ctr">
                      <a:solidFill>
                        <a:srgbClr val="769FCD"/>
                      </a:solidFill>
                      <a:prstDash val="dot"/>
                      <a:round/>
                      <a:headEnd type="none" w="med" len="med"/>
                      <a:tailEnd type="none" w="med" len="med"/>
                    </a:lnB>
                    <a:solidFill>
                      <a:srgbClr val="769FCD"/>
                    </a:solidFill>
                  </a:tcPr>
                </a:tc>
                <a:tc>
                  <a:txBody>
                    <a:bodyPr/>
                    <a:lstStyle/>
                    <a:p>
                      <a:pPr>
                        <a:lnSpc>
                          <a:spcPct val="115000"/>
                        </a:lnSpc>
                        <a:spcAft>
                          <a:spcPts val="800"/>
                        </a:spcAft>
                      </a:pPr>
                      <a:r>
                        <a:rPr lang="zh-CN" sz="1600" b="1" kern="100">
                          <a:solidFill>
                            <a:srgbClr val="000000"/>
                          </a:solidFill>
                          <a:effectLst/>
                          <a:latin typeface="+mj-ea"/>
                          <a:ea typeface="+mj-ea"/>
                          <a:cs typeface="Times New Roman" panose="02020603050405020304" pitchFamily="18" charset="0"/>
                        </a:rPr>
                        <a:t>与计划控制体系的关系</a:t>
                      </a:r>
                      <a:endParaRPr lang="zh-CN" sz="1200" kern="100">
                        <a:solidFill>
                          <a:srgbClr val="000000"/>
                        </a:solidFill>
                        <a:effectLst/>
                        <a:latin typeface="+mj-ea"/>
                        <a:ea typeface="+mj-ea"/>
                        <a:cs typeface="Times New Roman" panose="02020603050405020304" pitchFamily="18" charset="0"/>
                      </a:endParaRPr>
                    </a:p>
                  </a:txBody>
                  <a:tcPr marL="68580" marR="68580" marT="0" marB="0">
                    <a:lnL w="12700" cap="flat" cmpd="sng" algn="ctr">
                      <a:solidFill>
                        <a:srgbClr val="DDDDDD"/>
                      </a:solidFill>
                      <a:prstDash val="dot"/>
                      <a:round/>
                      <a:headEnd type="none" w="med" len="med"/>
                      <a:tailEnd type="none" w="med" len="med"/>
                    </a:lnL>
                    <a:lnR w="12700" cap="flat" cmpd="sng" algn="ctr">
                      <a:solidFill>
                        <a:srgbClr val="769FCD"/>
                      </a:solidFill>
                      <a:prstDash val="dot"/>
                      <a:round/>
                      <a:headEnd type="none" w="med" len="med"/>
                      <a:tailEnd type="none" w="med" len="med"/>
                    </a:lnR>
                    <a:lnT w="12700" cap="flat" cmpd="sng" algn="ctr">
                      <a:solidFill>
                        <a:srgbClr val="769FCD"/>
                      </a:solidFill>
                      <a:prstDash val="dot"/>
                      <a:round/>
                      <a:headEnd type="none" w="med" len="med"/>
                      <a:tailEnd type="none" w="med" len="med"/>
                    </a:lnT>
                    <a:lnB w="12700" cap="flat" cmpd="sng" algn="ctr">
                      <a:solidFill>
                        <a:srgbClr val="769FCD"/>
                      </a:solidFill>
                      <a:prstDash val="dot"/>
                      <a:round/>
                      <a:headEnd type="none" w="med" len="med"/>
                      <a:tailEnd type="none" w="med" len="med"/>
                    </a:lnB>
                    <a:solidFill>
                      <a:srgbClr val="769FCD"/>
                    </a:solidFill>
                  </a:tcPr>
                </a:tc>
                <a:extLst>
                  <a:ext uri="{0D108BD9-81ED-4DB2-BD59-A6C34878D82A}">
                    <a16:rowId xmlns:a16="http://schemas.microsoft.com/office/drawing/2014/main" val="1505980490"/>
                  </a:ext>
                </a:extLst>
              </a:tr>
              <a:tr h="1084433">
                <a:tc>
                  <a:txBody>
                    <a:bodyPr/>
                    <a:lstStyle/>
                    <a:p>
                      <a:pPr>
                        <a:lnSpc>
                          <a:spcPct val="115000"/>
                        </a:lnSpc>
                        <a:spcAft>
                          <a:spcPts val="800"/>
                        </a:spcAft>
                      </a:pPr>
                      <a:r>
                        <a:rPr lang="zh-CN" sz="1600" b="1" kern="100">
                          <a:solidFill>
                            <a:srgbClr val="000000"/>
                          </a:solidFill>
                          <a:effectLst/>
                          <a:latin typeface="+mj-ea"/>
                          <a:ea typeface="+mj-ea"/>
                          <a:cs typeface="Times New Roman" panose="02020603050405020304" pitchFamily="18" charset="0"/>
                        </a:rPr>
                        <a:t>销售与营销</a:t>
                      </a:r>
                      <a:r>
                        <a:rPr lang="zh-CN" sz="1600" b="1" kern="100">
                          <a:solidFill>
                            <a:srgbClr val="000000"/>
                          </a:solidFill>
                          <a:effectLst/>
                          <a:latin typeface="+mj-ea"/>
                          <a:ea typeface="+mj-ea"/>
                          <a:cs typeface="MS Gothic" panose="020B0609070205080204" pitchFamily="49" charset="-128"/>
                        </a:rPr>
                        <a:t>​</a:t>
                      </a:r>
                      <a:endParaRPr lang="zh-CN" sz="1200" kern="100">
                        <a:solidFill>
                          <a:srgbClr val="000000"/>
                        </a:solidFill>
                        <a:effectLst/>
                        <a:latin typeface="+mj-ea"/>
                        <a:ea typeface="+mj-ea"/>
                        <a:cs typeface="Times New Roman" panose="02020603050405020304" pitchFamily="18" charset="0"/>
                      </a:endParaRPr>
                    </a:p>
                  </a:txBody>
                  <a:tcPr marL="68580" marR="68580" marT="0" marB="0">
                    <a:lnL w="12700" cap="flat" cmpd="sng" algn="ctr">
                      <a:solidFill>
                        <a:srgbClr val="769FCD"/>
                      </a:solidFill>
                      <a:prstDash val="dot"/>
                      <a:round/>
                      <a:headEnd type="none" w="med" len="med"/>
                      <a:tailEnd type="none" w="med" len="med"/>
                    </a:lnL>
                    <a:lnR w="12700" cap="flat" cmpd="sng" algn="ctr">
                      <a:solidFill>
                        <a:srgbClr val="769FCD"/>
                      </a:solidFill>
                      <a:prstDash val="dot"/>
                      <a:round/>
                      <a:headEnd type="none" w="med" len="med"/>
                      <a:tailEnd type="none" w="med" len="med"/>
                    </a:lnR>
                    <a:lnT w="12700" cap="flat" cmpd="sng" algn="ctr">
                      <a:solidFill>
                        <a:srgbClr val="769FCD"/>
                      </a:solidFill>
                      <a:prstDash val="dot"/>
                      <a:round/>
                      <a:headEnd type="none" w="med" len="med"/>
                      <a:tailEnd type="none" w="med" len="med"/>
                    </a:lnT>
                    <a:lnB w="12700" cap="flat" cmpd="sng" algn="ctr">
                      <a:solidFill>
                        <a:srgbClr val="DDDDDD"/>
                      </a:solidFill>
                      <a:prstDash val="dot"/>
                      <a:round/>
                      <a:headEnd type="none" w="med" len="med"/>
                      <a:tailEnd type="none" w="med" len="med"/>
                    </a:lnB>
                    <a:solidFill>
                      <a:srgbClr val="B9D7EA"/>
                    </a:solidFill>
                  </a:tcPr>
                </a:tc>
                <a:tc>
                  <a:txBody>
                    <a:bodyPr/>
                    <a:lstStyle/>
                    <a:p>
                      <a:pPr>
                        <a:lnSpc>
                          <a:spcPct val="115000"/>
                        </a:lnSpc>
                        <a:spcAft>
                          <a:spcPts val="800"/>
                        </a:spcAft>
                      </a:pPr>
                      <a:r>
                        <a:rPr lang="zh-CN" sz="1600" b="1" kern="100">
                          <a:solidFill>
                            <a:schemeClr val="bg1"/>
                          </a:solidFill>
                          <a:effectLst/>
                          <a:latin typeface="+mj-ea"/>
                          <a:ea typeface="+mj-ea"/>
                          <a:cs typeface="Times New Roman" panose="02020603050405020304" pitchFamily="18" charset="0"/>
                        </a:rPr>
                        <a:t>销售额、预测准确率、客户满意度（</a:t>
                      </a:r>
                      <a:r>
                        <a:rPr lang="en-US" sz="1600" b="1" kern="100">
                          <a:solidFill>
                            <a:schemeClr val="bg1"/>
                          </a:solidFill>
                          <a:effectLst/>
                          <a:latin typeface="+mj-ea"/>
                          <a:ea typeface="+mj-ea"/>
                          <a:cs typeface="Times New Roman" panose="02020603050405020304" pitchFamily="18" charset="0"/>
                        </a:rPr>
                        <a:t>NPS</a:t>
                      </a:r>
                      <a:r>
                        <a:rPr lang="zh-CN" sz="1600" b="1" kern="100">
                          <a:solidFill>
                            <a:schemeClr val="bg1"/>
                          </a:solidFill>
                          <a:effectLst/>
                          <a:latin typeface="+mj-ea"/>
                          <a:ea typeface="+mj-ea"/>
                          <a:cs typeface="Times New Roman" panose="02020603050405020304" pitchFamily="18" charset="0"/>
                        </a:rPr>
                        <a:t>）</a:t>
                      </a:r>
                      <a:r>
                        <a:rPr lang="zh-CN" sz="1600" kern="100">
                          <a:solidFill>
                            <a:schemeClr val="bg1"/>
                          </a:solidFill>
                          <a:effectLst/>
                          <a:latin typeface="+mj-ea"/>
                          <a:ea typeface="+mj-ea"/>
                          <a:cs typeface="MS Gothic" panose="020B0609070205080204" pitchFamily="49" charset="-128"/>
                        </a:rPr>
                        <a:t>​</a:t>
                      </a:r>
                      <a:endParaRPr lang="zh-CN" sz="1200" kern="100">
                        <a:solidFill>
                          <a:schemeClr val="bg1"/>
                        </a:solidFill>
                        <a:effectLst/>
                        <a:latin typeface="+mj-ea"/>
                        <a:ea typeface="+mj-ea"/>
                        <a:cs typeface="Times New Roman" panose="02020603050405020304" pitchFamily="18" charset="0"/>
                      </a:endParaRPr>
                    </a:p>
                  </a:txBody>
                  <a:tcPr marL="68580" marR="68580" marT="0" marB="0">
                    <a:lnL w="12700" cap="flat" cmpd="sng" algn="ctr">
                      <a:solidFill>
                        <a:srgbClr val="769FCD"/>
                      </a:solidFill>
                      <a:prstDash val="dot"/>
                      <a:round/>
                      <a:headEnd type="none" w="med" len="med"/>
                      <a:tailEnd type="none" w="med" len="med"/>
                    </a:lnL>
                    <a:lnR w="12700" cap="flat" cmpd="sng" algn="ctr">
                      <a:solidFill>
                        <a:srgbClr val="DDDDDD"/>
                      </a:solidFill>
                      <a:prstDash val="dot"/>
                      <a:round/>
                      <a:headEnd type="none" w="med" len="med"/>
                      <a:tailEnd type="none" w="med" len="med"/>
                    </a:lnR>
                    <a:lnT w="12700" cap="flat" cmpd="sng" algn="ctr">
                      <a:solidFill>
                        <a:srgbClr val="769FCD"/>
                      </a:solidFill>
                      <a:prstDash val="dot"/>
                      <a:round/>
                      <a:headEnd type="none" w="med" len="med"/>
                      <a:tailEnd type="none" w="med" len="med"/>
                    </a:lnT>
                    <a:lnB w="12700" cap="flat" cmpd="sng" algn="ctr">
                      <a:solidFill>
                        <a:srgbClr val="DDDDDD"/>
                      </a:solidFill>
                      <a:prstDash val="dot"/>
                      <a:round/>
                      <a:headEnd type="none" w="med" len="med"/>
                      <a:tailEnd type="none" w="med" len="med"/>
                    </a:lnB>
                    <a:noFill/>
                  </a:tcPr>
                </a:tc>
                <a:tc>
                  <a:txBody>
                    <a:bodyPr/>
                    <a:lstStyle/>
                    <a:p>
                      <a:pPr>
                        <a:lnSpc>
                          <a:spcPct val="115000"/>
                        </a:lnSpc>
                        <a:spcAft>
                          <a:spcPts val="800"/>
                        </a:spcAft>
                      </a:pPr>
                      <a:r>
                        <a:rPr lang="zh-CN" sz="1600" b="1" kern="100" dirty="0">
                          <a:solidFill>
                            <a:schemeClr val="bg1"/>
                          </a:solidFill>
                          <a:effectLst/>
                          <a:latin typeface="+mj-ea"/>
                          <a:ea typeface="+mj-ea"/>
                          <a:cs typeface="Times New Roman" panose="02020603050405020304" pitchFamily="18" charset="0"/>
                        </a:rPr>
                        <a:t>体系的作用</a:t>
                      </a:r>
                      <a:r>
                        <a:rPr lang="zh-CN" sz="1600" kern="100" dirty="0">
                          <a:solidFill>
                            <a:schemeClr val="bg1"/>
                          </a:solidFill>
                          <a:effectLst/>
                          <a:latin typeface="+mj-ea"/>
                          <a:ea typeface="+mj-ea"/>
                          <a:cs typeface="Times New Roman" panose="02020603050405020304" pitchFamily="18" charset="0"/>
                        </a:rPr>
                        <a:t>：体系提供精准的</a:t>
                      </a:r>
                      <a:r>
                        <a:rPr lang="zh-CN" sz="1600" b="1" kern="100" dirty="0">
                          <a:solidFill>
                            <a:schemeClr val="bg1"/>
                          </a:solidFill>
                          <a:effectLst/>
                          <a:latin typeface="+mj-ea"/>
                          <a:ea typeface="+mj-ea"/>
                          <a:cs typeface="Times New Roman" panose="02020603050405020304" pitchFamily="18" charset="0"/>
                        </a:rPr>
                        <a:t>可承诺交期（</a:t>
                      </a:r>
                      <a:r>
                        <a:rPr lang="en-US" sz="1600" b="1" kern="100" dirty="0">
                          <a:solidFill>
                            <a:schemeClr val="bg1"/>
                          </a:solidFill>
                          <a:effectLst/>
                          <a:latin typeface="+mj-ea"/>
                          <a:ea typeface="+mj-ea"/>
                          <a:cs typeface="Times New Roman" panose="02020603050405020304" pitchFamily="18" charset="0"/>
                        </a:rPr>
                        <a:t>ATP/CTP</a:t>
                      </a:r>
                      <a:r>
                        <a:rPr lang="zh-CN" sz="1600" b="1" kern="100" dirty="0">
                          <a:solidFill>
                            <a:schemeClr val="bg1"/>
                          </a:solidFill>
                          <a:effectLst/>
                          <a:latin typeface="+mj-ea"/>
                          <a:ea typeface="+mj-ea"/>
                          <a:cs typeface="Times New Roman" panose="02020603050405020304" pitchFamily="18" charset="0"/>
                        </a:rPr>
                        <a:t>）</a:t>
                      </a:r>
                      <a:r>
                        <a:rPr lang="zh-CN" sz="1600" kern="100" dirty="0">
                          <a:solidFill>
                            <a:schemeClr val="bg1"/>
                          </a:solidFill>
                          <a:effectLst/>
                          <a:latin typeface="+mj-ea"/>
                          <a:ea typeface="+mj-ea"/>
                          <a:cs typeface="Times New Roman" panose="02020603050405020304" pitchFamily="18" charset="0"/>
                        </a:rPr>
                        <a:t>，使销售承诺可信。高交付可靠性直接</a:t>
                      </a:r>
                      <a:r>
                        <a:rPr lang="zh-CN" sz="1600" b="1" kern="100" dirty="0">
                          <a:solidFill>
                            <a:schemeClr val="bg1"/>
                          </a:solidFill>
                          <a:effectLst/>
                          <a:latin typeface="+mj-ea"/>
                          <a:ea typeface="+mj-ea"/>
                          <a:cs typeface="Times New Roman" panose="02020603050405020304" pitchFamily="18" charset="0"/>
                        </a:rPr>
                        <a:t>提升客户满意度</a:t>
                      </a:r>
                      <a:r>
                        <a:rPr lang="zh-CN" sz="1600" kern="100" dirty="0">
                          <a:solidFill>
                            <a:schemeClr val="bg1"/>
                          </a:solidFill>
                          <a:effectLst/>
                          <a:latin typeface="+mj-ea"/>
                          <a:ea typeface="+mj-ea"/>
                          <a:cs typeface="Times New Roman" panose="02020603050405020304" pitchFamily="18" charset="0"/>
                        </a:rPr>
                        <a:t>。体系依赖销售提供准确的</a:t>
                      </a:r>
                      <a:r>
                        <a:rPr lang="zh-CN" sz="1600" b="1" kern="100" dirty="0">
                          <a:solidFill>
                            <a:schemeClr val="bg1"/>
                          </a:solidFill>
                          <a:effectLst/>
                          <a:latin typeface="+mj-ea"/>
                          <a:ea typeface="+mj-ea"/>
                          <a:cs typeface="Times New Roman" panose="02020603050405020304" pitchFamily="18" charset="0"/>
                        </a:rPr>
                        <a:t>需求预测</a:t>
                      </a:r>
                      <a:r>
                        <a:rPr lang="zh-CN" sz="1600" kern="100" dirty="0">
                          <a:solidFill>
                            <a:schemeClr val="bg1"/>
                          </a:solidFill>
                          <a:effectLst/>
                          <a:latin typeface="+mj-ea"/>
                          <a:ea typeface="+mj-ea"/>
                          <a:cs typeface="Times New Roman" panose="02020603050405020304" pitchFamily="18" charset="0"/>
                        </a:rPr>
                        <a:t>作为输入。</a:t>
                      </a:r>
                      <a:endParaRPr lang="zh-CN" sz="1200" kern="100" dirty="0">
                        <a:solidFill>
                          <a:schemeClr val="bg1"/>
                        </a:solidFill>
                        <a:effectLst/>
                        <a:latin typeface="+mj-ea"/>
                        <a:ea typeface="+mj-ea"/>
                        <a:cs typeface="Times New Roman" panose="02020603050405020304" pitchFamily="18" charset="0"/>
                      </a:endParaRPr>
                    </a:p>
                  </a:txBody>
                  <a:tcPr marL="68580" marR="68580" marT="0" marB="0">
                    <a:lnL w="12700" cap="flat" cmpd="sng" algn="ctr">
                      <a:solidFill>
                        <a:srgbClr val="DDDDDD"/>
                      </a:solidFill>
                      <a:prstDash val="dot"/>
                      <a:round/>
                      <a:headEnd type="none" w="med" len="med"/>
                      <a:tailEnd type="none" w="med" len="med"/>
                    </a:lnL>
                    <a:lnR w="12700" cap="flat" cmpd="sng" algn="ctr">
                      <a:solidFill>
                        <a:srgbClr val="769FCD"/>
                      </a:solidFill>
                      <a:prstDash val="dot"/>
                      <a:round/>
                      <a:headEnd type="none" w="med" len="med"/>
                      <a:tailEnd type="none" w="med" len="med"/>
                    </a:lnR>
                    <a:lnT w="12700" cap="flat" cmpd="sng" algn="ctr">
                      <a:solidFill>
                        <a:srgbClr val="769FCD"/>
                      </a:solidFill>
                      <a:prstDash val="dot"/>
                      <a:round/>
                      <a:headEnd type="none" w="med" len="med"/>
                      <a:tailEnd type="none" w="med" len="med"/>
                    </a:lnT>
                    <a:lnB w="12700" cap="flat" cmpd="sng" algn="ctr">
                      <a:solidFill>
                        <a:srgbClr val="DDDDDD"/>
                      </a:solidFill>
                      <a:prstDash val="dot"/>
                      <a:round/>
                      <a:headEnd type="none" w="med" len="med"/>
                      <a:tailEnd type="none" w="med" len="med"/>
                    </a:lnB>
                    <a:noFill/>
                  </a:tcPr>
                </a:tc>
                <a:extLst>
                  <a:ext uri="{0D108BD9-81ED-4DB2-BD59-A6C34878D82A}">
                    <a16:rowId xmlns:a16="http://schemas.microsoft.com/office/drawing/2014/main" val="141378496"/>
                  </a:ext>
                </a:extLst>
              </a:tr>
              <a:tr h="807958">
                <a:tc>
                  <a:txBody>
                    <a:bodyPr/>
                    <a:lstStyle/>
                    <a:p>
                      <a:pPr>
                        <a:lnSpc>
                          <a:spcPct val="115000"/>
                        </a:lnSpc>
                        <a:spcAft>
                          <a:spcPts val="800"/>
                        </a:spcAft>
                      </a:pPr>
                      <a:r>
                        <a:rPr lang="zh-CN" sz="1600" b="1" kern="100">
                          <a:solidFill>
                            <a:srgbClr val="000000"/>
                          </a:solidFill>
                          <a:effectLst/>
                          <a:latin typeface="+mj-ea"/>
                          <a:ea typeface="+mj-ea"/>
                          <a:cs typeface="Times New Roman" panose="02020603050405020304" pitchFamily="18" charset="0"/>
                        </a:rPr>
                        <a:t>供应链与制造</a:t>
                      </a:r>
                      <a:r>
                        <a:rPr lang="zh-CN" sz="1600" b="1" kern="100">
                          <a:solidFill>
                            <a:srgbClr val="000000"/>
                          </a:solidFill>
                          <a:effectLst/>
                          <a:latin typeface="+mj-ea"/>
                          <a:ea typeface="+mj-ea"/>
                          <a:cs typeface="MS Gothic" panose="020B0609070205080204" pitchFamily="49" charset="-128"/>
                        </a:rPr>
                        <a:t>​</a:t>
                      </a:r>
                      <a:endParaRPr lang="zh-CN" sz="1200" kern="100">
                        <a:solidFill>
                          <a:srgbClr val="000000"/>
                        </a:solidFill>
                        <a:effectLst/>
                        <a:latin typeface="+mj-ea"/>
                        <a:ea typeface="+mj-ea"/>
                        <a:cs typeface="Times New Roman" panose="02020603050405020304" pitchFamily="18" charset="0"/>
                      </a:endParaRPr>
                    </a:p>
                  </a:txBody>
                  <a:tcPr marL="68580" marR="68580" marT="0" marB="0">
                    <a:lnL w="12700" cap="flat" cmpd="sng" algn="ctr">
                      <a:solidFill>
                        <a:srgbClr val="769FCD"/>
                      </a:solidFill>
                      <a:prstDash val="dot"/>
                      <a:round/>
                      <a:headEnd type="none" w="med" len="med"/>
                      <a:tailEnd type="none" w="med" len="med"/>
                    </a:lnL>
                    <a:lnR w="12700" cap="flat" cmpd="sng" algn="ctr">
                      <a:solidFill>
                        <a:srgbClr val="769FCD"/>
                      </a:solidFill>
                      <a:prstDash val="dot"/>
                      <a:round/>
                      <a:headEnd type="none" w="med" len="med"/>
                      <a:tailEnd type="none" w="med" len="med"/>
                    </a:lnR>
                    <a:lnT w="12700" cap="flat" cmpd="sng" algn="ctr">
                      <a:solidFill>
                        <a:srgbClr val="DDDDDD"/>
                      </a:solidFill>
                      <a:prstDash val="dot"/>
                      <a:round/>
                      <a:headEnd type="none" w="med" len="med"/>
                      <a:tailEnd type="none" w="med" len="med"/>
                    </a:lnT>
                    <a:lnB w="12700" cap="flat" cmpd="sng" algn="ctr">
                      <a:solidFill>
                        <a:srgbClr val="DDDDDD"/>
                      </a:solidFill>
                      <a:prstDash val="dot"/>
                      <a:round/>
                      <a:headEnd type="none" w="med" len="med"/>
                      <a:tailEnd type="none" w="med" len="med"/>
                    </a:lnB>
                    <a:solidFill>
                      <a:srgbClr val="B9D7EA"/>
                    </a:solidFill>
                  </a:tcPr>
                </a:tc>
                <a:tc>
                  <a:txBody>
                    <a:bodyPr/>
                    <a:lstStyle/>
                    <a:p>
                      <a:pPr>
                        <a:lnSpc>
                          <a:spcPct val="115000"/>
                        </a:lnSpc>
                        <a:spcAft>
                          <a:spcPts val="800"/>
                        </a:spcAft>
                      </a:pPr>
                      <a:r>
                        <a:rPr lang="zh-CN" sz="1600" b="1" kern="100">
                          <a:solidFill>
                            <a:schemeClr val="bg1"/>
                          </a:solidFill>
                          <a:effectLst/>
                          <a:latin typeface="+mj-ea"/>
                          <a:ea typeface="+mj-ea"/>
                          <a:cs typeface="Times New Roman" panose="02020603050405020304" pitchFamily="18" charset="0"/>
                        </a:rPr>
                        <a:t>库存周转天数（</a:t>
                      </a:r>
                      <a:r>
                        <a:rPr lang="en-US" sz="1600" b="1" kern="100">
                          <a:solidFill>
                            <a:schemeClr val="bg1"/>
                          </a:solidFill>
                          <a:effectLst/>
                          <a:latin typeface="+mj-ea"/>
                          <a:ea typeface="+mj-ea"/>
                          <a:cs typeface="Times New Roman" panose="02020603050405020304" pitchFamily="18" charset="0"/>
                        </a:rPr>
                        <a:t>DIO</a:t>
                      </a:r>
                      <a:r>
                        <a:rPr lang="zh-CN" sz="1600" b="1" kern="100">
                          <a:solidFill>
                            <a:schemeClr val="bg1"/>
                          </a:solidFill>
                          <a:effectLst/>
                          <a:latin typeface="+mj-ea"/>
                          <a:ea typeface="+mj-ea"/>
                          <a:cs typeface="Times New Roman" panose="02020603050405020304" pitchFamily="18" charset="0"/>
                        </a:rPr>
                        <a:t>）、准时交付率（</a:t>
                      </a:r>
                      <a:r>
                        <a:rPr lang="en-US" sz="1600" b="1" kern="100">
                          <a:solidFill>
                            <a:schemeClr val="bg1"/>
                          </a:solidFill>
                          <a:effectLst/>
                          <a:latin typeface="+mj-ea"/>
                          <a:ea typeface="+mj-ea"/>
                          <a:cs typeface="Times New Roman" panose="02020603050405020304" pitchFamily="18" charset="0"/>
                        </a:rPr>
                        <a:t>OTD</a:t>
                      </a:r>
                      <a:r>
                        <a:rPr lang="zh-CN" sz="1600" b="1" kern="100">
                          <a:solidFill>
                            <a:schemeClr val="bg1"/>
                          </a:solidFill>
                          <a:effectLst/>
                          <a:latin typeface="+mj-ea"/>
                          <a:ea typeface="+mj-ea"/>
                          <a:cs typeface="Times New Roman" panose="02020603050405020304" pitchFamily="18" charset="0"/>
                        </a:rPr>
                        <a:t>）、生产计划达成率、产能利用率</a:t>
                      </a:r>
                      <a:r>
                        <a:rPr lang="zh-CN" sz="1600" kern="100">
                          <a:solidFill>
                            <a:schemeClr val="bg1"/>
                          </a:solidFill>
                          <a:effectLst/>
                          <a:latin typeface="+mj-ea"/>
                          <a:ea typeface="+mj-ea"/>
                          <a:cs typeface="MS Gothic" panose="020B0609070205080204" pitchFamily="49" charset="-128"/>
                        </a:rPr>
                        <a:t>​</a:t>
                      </a:r>
                      <a:endParaRPr lang="zh-CN" sz="1200" kern="100">
                        <a:solidFill>
                          <a:schemeClr val="bg1"/>
                        </a:solidFill>
                        <a:effectLst/>
                        <a:latin typeface="+mj-ea"/>
                        <a:ea typeface="+mj-ea"/>
                        <a:cs typeface="Times New Roman" panose="02020603050405020304" pitchFamily="18" charset="0"/>
                      </a:endParaRPr>
                    </a:p>
                  </a:txBody>
                  <a:tcPr marL="68580" marR="68580" marT="0" marB="0">
                    <a:lnL w="12700" cap="flat" cmpd="sng" algn="ctr">
                      <a:solidFill>
                        <a:srgbClr val="769FCD"/>
                      </a:solidFill>
                      <a:prstDash val="dot"/>
                      <a:round/>
                      <a:headEnd type="none" w="med" len="med"/>
                      <a:tailEnd type="none" w="med" len="med"/>
                    </a:lnL>
                    <a:lnR w="12700" cap="flat" cmpd="sng" algn="ctr">
                      <a:solidFill>
                        <a:srgbClr val="DDDDDD"/>
                      </a:solidFill>
                      <a:prstDash val="dot"/>
                      <a:round/>
                      <a:headEnd type="none" w="med" len="med"/>
                      <a:tailEnd type="none" w="med" len="med"/>
                    </a:lnR>
                    <a:lnT w="12700" cap="flat" cmpd="sng" algn="ctr">
                      <a:solidFill>
                        <a:srgbClr val="DDDDDD"/>
                      </a:solidFill>
                      <a:prstDash val="dot"/>
                      <a:round/>
                      <a:headEnd type="none" w="med" len="med"/>
                      <a:tailEnd type="none" w="med" len="med"/>
                    </a:lnT>
                    <a:lnB w="12700" cap="flat" cmpd="sng" algn="ctr">
                      <a:solidFill>
                        <a:srgbClr val="DDDDDD"/>
                      </a:solidFill>
                      <a:prstDash val="dot"/>
                      <a:round/>
                      <a:headEnd type="none" w="med" len="med"/>
                      <a:tailEnd type="none" w="med" len="med"/>
                    </a:lnB>
                    <a:noFill/>
                  </a:tcPr>
                </a:tc>
                <a:tc>
                  <a:txBody>
                    <a:bodyPr/>
                    <a:lstStyle/>
                    <a:p>
                      <a:pPr>
                        <a:lnSpc>
                          <a:spcPct val="115000"/>
                        </a:lnSpc>
                        <a:spcAft>
                          <a:spcPts val="800"/>
                        </a:spcAft>
                      </a:pPr>
                      <a:r>
                        <a:rPr lang="zh-CN" sz="1600" b="1" kern="100" dirty="0">
                          <a:solidFill>
                            <a:schemeClr val="bg1"/>
                          </a:solidFill>
                          <a:effectLst/>
                          <a:latin typeface="+mj-ea"/>
                          <a:ea typeface="+mj-ea"/>
                          <a:cs typeface="Times New Roman" panose="02020603050405020304" pitchFamily="18" charset="0"/>
                        </a:rPr>
                        <a:t>体系的作用</a:t>
                      </a:r>
                      <a:r>
                        <a:rPr lang="zh-CN" sz="1600" kern="100" dirty="0">
                          <a:solidFill>
                            <a:schemeClr val="bg1"/>
                          </a:solidFill>
                          <a:effectLst/>
                          <a:latin typeface="+mj-ea"/>
                          <a:ea typeface="+mj-ea"/>
                          <a:cs typeface="Times New Roman" panose="02020603050405020304" pitchFamily="18" charset="0"/>
                        </a:rPr>
                        <a:t>：体系是这些指标的</a:t>
                      </a:r>
                      <a:r>
                        <a:rPr lang="zh-CN" sz="1600" b="1" kern="100" dirty="0">
                          <a:solidFill>
                            <a:schemeClr val="bg1"/>
                          </a:solidFill>
                          <a:effectLst/>
                          <a:latin typeface="+mj-ea"/>
                          <a:ea typeface="+mj-ea"/>
                          <a:cs typeface="Times New Roman" panose="02020603050405020304" pitchFamily="18" charset="0"/>
                        </a:rPr>
                        <a:t>直接规划者和控制者</a:t>
                      </a:r>
                      <a:r>
                        <a:rPr lang="zh-CN" sz="1600" kern="100" dirty="0">
                          <a:solidFill>
                            <a:schemeClr val="bg1"/>
                          </a:solidFill>
                          <a:effectLst/>
                          <a:latin typeface="+mj-ea"/>
                          <a:ea typeface="+mj-ea"/>
                          <a:cs typeface="Times New Roman" panose="02020603050405020304" pitchFamily="18" charset="0"/>
                        </a:rPr>
                        <a:t>。它通过统一的计划，在保证交付的前提下，主动优化库存水平和产能分配。</a:t>
                      </a:r>
                      <a:endParaRPr lang="zh-CN" sz="1200" kern="100" dirty="0">
                        <a:solidFill>
                          <a:schemeClr val="bg1"/>
                        </a:solidFill>
                        <a:effectLst/>
                        <a:latin typeface="+mj-ea"/>
                        <a:ea typeface="+mj-ea"/>
                        <a:cs typeface="Times New Roman" panose="02020603050405020304" pitchFamily="18" charset="0"/>
                      </a:endParaRPr>
                    </a:p>
                  </a:txBody>
                  <a:tcPr marL="68580" marR="68580" marT="0" marB="0">
                    <a:lnL w="12700" cap="flat" cmpd="sng" algn="ctr">
                      <a:solidFill>
                        <a:srgbClr val="DDDDDD"/>
                      </a:solidFill>
                      <a:prstDash val="dot"/>
                      <a:round/>
                      <a:headEnd type="none" w="med" len="med"/>
                      <a:tailEnd type="none" w="med" len="med"/>
                    </a:lnL>
                    <a:lnR w="12700" cap="flat" cmpd="sng" algn="ctr">
                      <a:solidFill>
                        <a:srgbClr val="769FCD"/>
                      </a:solidFill>
                      <a:prstDash val="dot"/>
                      <a:round/>
                      <a:headEnd type="none" w="med" len="med"/>
                      <a:tailEnd type="none" w="med" len="med"/>
                    </a:lnR>
                    <a:lnT w="12700" cap="flat" cmpd="sng" algn="ctr">
                      <a:solidFill>
                        <a:srgbClr val="DDDDDD"/>
                      </a:solidFill>
                      <a:prstDash val="dot"/>
                      <a:round/>
                      <a:headEnd type="none" w="med" len="med"/>
                      <a:tailEnd type="none" w="med" len="med"/>
                    </a:lnT>
                    <a:lnB w="12700" cap="flat" cmpd="sng" algn="ctr">
                      <a:solidFill>
                        <a:srgbClr val="DDDDDD"/>
                      </a:solidFill>
                      <a:prstDash val="dot"/>
                      <a:round/>
                      <a:headEnd type="none" w="med" len="med"/>
                      <a:tailEnd type="none" w="med" len="med"/>
                    </a:lnB>
                    <a:noFill/>
                  </a:tcPr>
                </a:tc>
                <a:extLst>
                  <a:ext uri="{0D108BD9-81ED-4DB2-BD59-A6C34878D82A}">
                    <a16:rowId xmlns:a16="http://schemas.microsoft.com/office/drawing/2014/main" val="2639073960"/>
                  </a:ext>
                </a:extLst>
              </a:tr>
              <a:tr h="807958">
                <a:tc>
                  <a:txBody>
                    <a:bodyPr/>
                    <a:lstStyle/>
                    <a:p>
                      <a:pPr>
                        <a:lnSpc>
                          <a:spcPct val="115000"/>
                        </a:lnSpc>
                        <a:spcAft>
                          <a:spcPts val="800"/>
                        </a:spcAft>
                      </a:pPr>
                      <a:r>
                        <a:rPr lang="zh-CN" sz="1600" b="1" kern="100">
                          <a:solidFill>
                            <a:srgbClr val="000000"/>
                          </a:solidFill>
                          <a:effectLst/>
                          <a:latin typeface="+mj-ea"/>
                          <a:ea typeface="+mj-ea"/>
                          <a:cs typeface="Times New Roman" panose="02020603050405020304" pitchFamily="18" charset="0"/>
                        </a:rPr>
                        <a:t>采购</a:t>
                      </a:r>
                      <a:r>
                        <a:rPr lang="zh-CN" sz="1600" b="1" kern="100">
                          <a:solidFill>
                            <a:srgbClr val="000000"/>
                          </a:solidFill>
                          <a:effectLst/>
                          <a:latin typeface="+mj-ea"/>
                          <a:ea typeface="+mj-ea"/>
                          <a:cs typeface="MS Gothic" panose="020B0609070205080204" pitchFamily="49" charset="-128"/>
                        </a:rPr>
                        <a:t>​</a:t>
                      </a:r>
                      <a:endParaRPr lang="zh-CN" sz="1200" kern="100">
                        <a:solidFill>
                          <a:srgbClr val="000000"/>
                        </a:solidFill>
                        <a:effectLst/>
                        <a:latin typeface="+mj-ea"/>
                        <a:ea typeface="+mj-ea"/>
                        <a:cs typeface="Times New Roman" panose="02020603050405020304" pitchFamily="18" charset="0"/>
                      </a:endParaRPr>
                    </a:p>
                  </a:txBody>
                  <a:tcPr marL="68580" marR="68580" marT="0" marB="0">
                    <a:lnL w="12700" cap="flat" cmpd="sng" algn="ctr">
                      <a:solidFill>
                        <a:srgbClr val="769FCD"/>
                      </a:solidFill>
                      <a:prstDash val="dot"/>
                      <a:round/>
                      <a:headEnd type="none" w="med" len="med"/>
                      <a:tailEnd type="none" w="med" len="med"/>
                    </a:lnL>
                    <a:lnR w="12700" cap="flat" cmpd="sng" algn="ctr">
                      <a:solidFill>
                        <a:srgbClr val="769FCD"/>
                      </a:solidFill>
                      <a:prstDash val="dot"/>
                      <a:round/>
                      <a:headEnd type="none" w="med" len="med"/>
                      <a:tailEnd type="none" w="med" len="med"/>
                    </a:lnR>
                    <a:lnT w="12700" cap="flat" cmpd="sng" algn="ctr">
                      <a:solidFill>
                        <a:srgbClr val="DDDDDD"/>
                      </a:solidFill>
                      <a:prstDash val="dot"/>
                      <a:round/>
                      <a:headEnd type="none" w="med" len="med"/>
                      <a:tailEnd type="none" w="med" len="med"/>
                    </a:lnT>
                    <a:lnB w="12700" cap="flat" cmpd="sng" algn="ctr">
                      <a:solidFill>
                        <a:srgbClr val="DDDDDD"/>
                      </a:solidFill>
                      <a:prstDash val="dot"/>
                      <a:round/>
                      <a:headEnd type="none" w="med" len="med"/>
                      <a:tailEnd type="none" w="med" len="med"/>
                    </a:lnB>
                    <a:solidFill>
                      <a:srgbClr val="B9D7EA"/>
                    </a:solidFill>
                  </a:tcPr>
                </a:tc>
                <a:tc>
                  <a:txBody>
                    <a:bodyPr/>
                    <a:lstStyle/>
                    <a:p>
                      <a:pPr>
                        <a:lnSpc>
                          <a:spcPct val="115000"/>
                        </a:lnSpc>
                        <a:spcAft>
                          <a:spcPts val="800"/>
                        </a:spcAft>
                      </a:pPr>
                      <a:r>
                        <a:rPr lang="zh-CN" sz="1600" b="1" kern="100">
                          <a:solidFill>
                            <a:schemeClr val="bg1"/>
                          </a:solidFill>
                          <a:effectLst/>
                          <a:latin typeface="+mj-ea"/>
                          <a:ea typeface="+mj-ea"/>
                          <a:cs typeface="Times New Roman" panose="02020603050405020304" pitchFamily="18" charset="0"/>
                        </a:rPr>
                        <a:t>采购成本降低、供应商准时交付率</a:t>
                      </a:r>
                      <a:r>
                        <a:rPr lang="zh-CN" sz="1600" kern="100">
                          <a:solidFill>
                            <a:schemeClr val="bg1"/>
                          </a:solidFill>
                          <a:effectLst/>
                          <a:latin typeface="+mj-ea"/>
                          <a:ea typeface="+mj-ea"/>
                          <a:cs typeface="MS Gothic" panose="020B0609070205080204" pitchFamily="49" charset="-128"/>
                        </a:rPr>
                        <a:t>​</a:t>
                      </a:r>
                      <a:endParaRPr lang="zh-CN" sz="1200" kern="100">
                        <a:solidFill>
                          <a:schemeClr val="bg1"/>
                        </a:solidFill>
                        <a:effectLst/>
                        <a:latin typeface="+mj-ea"/>
                        <a:ea typeface="+mj-ea"/>
                        <a:cs typeface="Times New Roman" panose="02020603050405020304" pitchFamily="18" charset="0"/>
                      </a:endParaRPr>
                    </a:p>
                  </a:txBody>
                  <a:tcPr marL="68580" marR="68580" marT="0" marB="0">
                    <a:lnL w="12700" cap="flat" cmpd="sng" algn="ctr">
                      <a:solidFill>
                        <a:srgbClr val="769FCD"/>
                      </a:solidFill>
                      <a:prstDash val="dot"/>
                      <a:round/>
                      <a:headEnd type="none" w="med" len="med"/>
                      <a:tailEnd type="none" w="med" len="med"/>
                    </a:lnL>
                    <a:lnR w="12700" cap="flat" cmpd="sng" algn="ctr">
                      <a:solidFill>
                        <a:srgbClr val="DDDDDD"/>
                      </a:solidFill>
                      <a:prstDash val="dot"/>
                      <a:round/>
                      <a:headEnd type="none" w="med" len="med"/>
                      <a:tailEnd type="none" w="med" len="med"/>
                    </a:lnR>
                    <a:lnT w="12700" cap="flat" cmpd="sng" algn="ctr">
                      <a:solidFill>
                        <a:srgbClr val="DDDDDD"/>
                      </a:solidFill>
                      <a:prstDash val="dot"/>
                      <a:round/>
                      <a:headEnd type="none" w="med" len="med"/>
                      <a:tailEnd type="none" w="med" len="med"/>
                    </a:lnT>
                    <a:lnB w="12700" cap="flat" cmpd="sng" algn="ctr">
                      <a:solidFill>
                        <a:srgbClr val="DDDDDD"/>
                      </a:solidFill>
                      <a:prstDash val="dot"/>
                      <a:round/>
                      <a:headEnd type="none" w="med" len="med"/>
                      <a:tailEnd type="none" w="med" len="med"/>
                    </a:lnB>
                    <a:noFill/>
                  </a:tcPr>
                </a:tc>
                <a:tc>
                  <a:txBody>
                    <a:bodyPr/>
                    <a:lstStyle/>
                    <a:p>
                      <a:pPr>
                        <a:lnSpc>
                          <a:spcPct val="115000"/>
                        </a:lnSpc>
                        <a:spcAft>
                          <a:spcPts val="800"/>
                        </a:spcAft>
                      </a:pPr>
                      <a:r>
                        <a:rPr lang="zh-CN" sz="1600" b="1" kern="100" dirty="0">
                          <a:solidFill>
                            <a:schemeClr val="bg1"/>
                          </a:solidFill>
                          <a:effectLst/>
                          <a:latin typeface="+mj-ea"/>
                          <a:ea typeface="+mj-ea"/>
                          <a:cs typeface="Times New Roman" panose="02020603050405020304" pitchFamily="18" charset="0"/>
                        </a:rPr>
                        <a:t>体系的作用</a:t>
                      </a:r>
                      <a:r>
                        <a:rPr lang="zh-CN" sz="1600" kern="100" dirty="0">
                          <a:solidFill>
                            <a:schemeClr val="bg1"/>
                          </a:solidFill>
                          <a:effectLst/>
                          <a:latin typeface="+mj-ea"/>
                          <a:ea typeface="+mj-ea"/>
                          <a:cs typeface="Times New Roman" panose="02020603050405020304" pitchFamily="18" charset="0"/>
                        </a:rPr>
                        <a:t>：体系提供精确的</a:t>
                      </a:r>
                      <a:r>
                        <a:rPr lang="zh-CN" sz="1600" b="1" kern="100" dirty="0">
                          <a:solidFill>
                            <a:schemeClr val="bg1"/>
                          </a:solidFill>
                          <a:effectLst/>
                          <a:latin typeface="+mj-ea"/>
                          <a:ea typeface="+mj-ea"/>
                          <a:cs typeface="Times New Roman" panose="02020603050405020304" pitchFamily="18" charset="0"/>
                        </a:rPr>
                        <a:t>物料需求计划</a:t>
                      </a:r>
                      <a:r>
                        <a:rPr lang="zh-CN" sz="1600" kern="100" dirty="0">
                          <a:solidFill>
                            <a:schemeClr val="bg1"/>
                          </a:solidFill>
                          <a:effectLst/>
                          <a:latin typeface="+mj-ea"/>
                          <a:ea typeface="+mj-ea"/>
                          <a:cs typeface="Times New Roman" panose="02020603050405020304" pitchFamily="18" charset="0"/>
                        </a:rPr>
                        <a:t>，使采购量更精准，减少紧急采购带来的溢价。通过</a:t>
                      </a:r>
                      <a:r>
                        <a:rPr lang="zh-CN" sz="1600" b="1" kern="100" dirty="0">
                          <a:solidFill>
                            <a:schemeClr val="bg1"/>
                          </a:solidFill>
                          <a:effectLst/>
                          <a:latin typeface="+mj-ea"/>
                          <a:ea typeface="+mj-ea"/>
                          <a:cs typeface="Times New Roman" panose="02020603050405020304" pitchFamily="18" charset="0"/>
                        </a:rPr>
                        <a:t>供应商协同</a:t>
                      </a:r>
                      <a:r>
                        <a:rPr lang="zh-CN" sz="1600" kern="100" dirty="0">
                          <a:solidFill>
                            <a:schemeClr val="bg1"/>
                          </a:solidFill>
                          <a:effectLst/>
                          <a:latin typeface="+mj-ea"/>
                          <a:ea typeface="+mj-ea"/>
                          <a:cs typeface="Times New Roman" panose="02020603050405020304" pitchFamily="18" charset="0"/>
                        </a:rPr>
                        <a:t>平台，提升供应商交付表现。</a:t>
                      </a:r>
                      <a:endParaRPr lang="zh-CN" sz="1200" kern="100" dirty="0">
                        <a:solidFill>
                          <a:schemeClr val="bg1"/>
                        </a:solidFill>
                        <a:effectLst/>
                        <a:latin typeface="+mj-ea"/>
                        <a:ea typeface="+mj-ea"/>
                        <a:cs typeface="Times New Roman" panose="02020603050405020304" pitchFamily="18" charset="0"/>
                      </a:endParaRPr>
                    </a:p>
                  </a:txBody>
                  <a:tcPr marL="68580" marR="68580" marT="0" marB="0">
                    <a:lnL w="12700" cap="flat" cmpd="sng" algn="ctr">
                      <a:solidFill>
                        <a:srgbClr val="DDDDDD"/>
                      </a:solidFill>
                      <a:prstDash val="dot"/>
                      <a:round/>
                      <a:headEnd type="none" w="med" len="med"/>
                      <a:tailEnd type="none" w="med" len="med"/>
                    </a:lnL>
                    <a:lnR w="12700" cap="flat" cmpd="sng" algn="ctr">
                      <a:solidFill>
                        <a:srgbClr val="769FCD"/>
                      </a:solidFill>
                      <a:prstDash val="dot"/>
                      <a:round/>
                      <a:headEnd type="none" w="med" len="med"/>
                      <a:tailEnd type="none" w="med" len="med"/>
                    </a:lnR>
                    <a:lnT w="12700" cap="flat" cmpd="sng" algn="ctr">
                      <a:solidFill>
                        <a:srgbClr val="DDDDDD"/>
                      </a:solidFill>
                      <a:prstDash val="dot"/>
                      <a:round/>
                      <a:headEnd type="none" w="med" len="med"/>
                      <a:tailEnd type="none" w="med" len="med"/>
                    </a:lnT>
                    <a:lnB w="12700" cap="flat" cmpd="sng" algn="ctr">
                      <a:solidFill>
                        <a:srgbClr val="DDDDDD"/>
                      </a:solidFill>
                      <a:prstDash val="dot"/>
                      <a:round/>
                      <a:headEnd type="none" w="med" len="med"/>
                      <a:tailEnd type="none" w="med" len="med"/>
                    </a:lnB>
                    <a:noFill/>
                  </a:tcPr>
                </a:tc>
                <a:extLst>
                  <a:ext uri="{0D108BD9-81ED-4DB2-BD59-A6C34878D82A}">
                    <a16:rowId xmlns:a16="http://schemas.microsoft.com/office/drawing/2014/main" val="2700785806"/>
                  </a:ext>
                </a:extLst>
              </a:tr>
              <a:tr h="807958">
                <a:tc>
                  <a:txBody>
                    <a:bodyPr/>
                    <a:lstStyle/>
                    <a:p>
                      <a:pPr>
                        <a:lnSpc>
                          <a:spcPct val="115000"/>
                        </a:lnSpc>
                        <a:spcAft>
                          <a:spcPts val="800"/>
                        </a:spcAft>
                      </a:pPr>
                      <a:r>
                        <a:rPr lang="zh-CN" sz="1600" b="1" kern="100" dirty="0">
                          <a:solidFill>
                            <a:srgbClr val="000000"/>
                          </a:solidFill>
                          <a:effectLst/>
                          <a:latin typeface="+mj-ea"/>
                          <a:ea typeface="+mj-ea"/>
                          <a:cs typeface="Times New Roman" panose="02020603050405020304" pitchFamily="18" charset="0"/>
                        </a:rPr>
                        <a:t>财务</a:t>
                      </a:r>
                      <a:r>
                        <a:rPr lang="zh-CN" sz="1600" b="1" kern="100" dirty="0">
                          <a:solidFill>
                            <a:srgbClr val="000000"/>
                          </a:solidFill>
                          <a:effectLst/>
                          <a:latin typeface="+mj-ea"/>
                          <a:ea typeface="+mj-ea"/>
                          <a:cs typeface="MS Gothic" panose="020B0609070205080204" pitchFamily="49" charset="-128"/>
                        </a:rPr>
                        <a:t>​</a:t>
                      </a:r>
                      <a:endParaRPr lang="zh-CN" sz="1200" kern="100" dirty="0">
                        <a:solidFill>
                          <a:srgbClr val="000000"/>
                        </a:solidFill>
                        <a:effectLst/>
                        <a:latin typeface="+mj-ea"/>
                        <a:ea typeface="+mj-ea"/>
                        <a:cs typeface="Times New Roman" panose="02020603050405020304" pitchFamily="18" charset="0"/>
                      </a:endParaRPr>
                    </a:p>
                  </a:txBody>
                  <a:tcPr marL="68580" marR="68580" marT="0" marB="0">
                    <a:lnL w="12700" cap="flat" cmpd="sng" algn="ctr">
                      <a:solidFill>
                        <a:srgbClr val="769FCD"/>
                      </a:solidFill>
                      <a:prstDash val="dot"/>
                      <a:round/>
                      <a:headEnd type="none" w="med" len="med"/>
                      <a:tailEnd type="none" w="med" len="med"/>
                    </a:lnL>
                    <a:lnR w="12700" cap="flat" cmpd="sng" algn="ctr">
                      <a:solidFill>
                        <a:srgbClr val="769FCD"/>
                      </a:solidFill>
                      <a:prstDash val="dot"/>
                      <a:round/>
                      <a:headEnd type="none" w="med" len="med"/>
                      <a:tailEnd type="none" w="med" len="med"/>
                    </a:lnR>
                    <a:lnT w="12700" cap="flat" cmpd="sng" algn="ctr">
                      <a:solidFill>
                        <a:srgbClr val="DDDDDD"/>
                      </a:solidFill>
                      <a:prstDash val="dot"/>
                      <a:round/>
                      <a:headEnd type="none" w="med" len="med"/>
                      <a:tailEnd type="none" w="med" len="med"/>
                    </a:lnT>
                    <a:lnB w="12700" cap="flat" cmpd="sng" algn="ctr">
                      <a:solidFill>
                        <a:srgbClr val="769FCD"/>
                      </a:solidFill>
                      <a:prstDash val="dot"/>
                      <a:round/>
                      <a:headEnd type="none" w="med" len="med"/>
                      <a:tailEnd type="none" w="med" len="med"/>
                    </a:lnB>
                    <a:solidFill>
                      <a:srgbClr val="B9D7EA"/>
                    </a:solidFill>
                  </a:tcPr>
                </a:tc>
                <a:tc>
                  <a:txBody>
                    <a:bodyPr/>
                    <a:lstStyle/>
                    <a:p>
                      <a:pPr>
                        <a:lnSpc>
                          <a:spcPct val="115000"/>
                        </a:lnSpc>
                        <a:spcAft>
                          <a:spcPts val="800"/>
                        </a:spcAft>
                      </a:pPr>
                      <a:r>
                        <a:rPr lang="zh-CN" sz="1600" b="1" kern="100">
                          <a:solidFill>
                            <a:schemeClr val="bg1"/>
                          </a:solidFill>
                          <a:effectLst/>
                          <a:latin typeface="+mj-ea"/>
                          <a:ea typeface="+mj-ea"/>
                          <a:cs typeface="Times New Roman" panose="02020603050405020304" pitchFamily="18" charset="0"/>
                        </a:rPr>
                        <a:t>运营成本、现金流</a:t>
                      </a:r>
                      <a:r>
                        <a:rPr lang="zh-CN" sz="1600" kern="100">
                          <a:solidFill>
                            <a:schemeClr val="bg1"/>
                          </a:solidFill>
                          <a:effectLst/>
                          <a:latin typeface="+mj-ea"/>
                          <a:ea typeface="+mj-ea"/>
                          <a:cs typeface="MS Gothic" panose="020B0609070205080204" pitchFamily="49" charset="-128"/>
                        </a:rPr>
                        <a:t>​</a:t>
                      </a:r>
                      <a:endParaRPr lang="zh-CN" sz="1200" kern="100">
                        <a:solidFill>
                          <a:schemeClr val="bg1"/>
                        </a:solidFill>
                        <a:effectLst/>
                        <a:latin typeface="+mj-ea"/>
                        <a:ea typeface="+mj-ea"/>
                        <a:cs typeface="Times New Roman" panose="02020603050405020304" pitchFamily="18" charset="0"/>
                      </a:endParaRPr>
                    </a:p>
                  </a:txBody>
                  <a:tcPr marL="68580" marR="68580" marT="0" marB="0">
                    <a:lnL w="12700" cap="flat" cmpd="sng" algn="ctr">
                      <a:solidFill>
                        <a:srgbClr val="769FCD"/>
                      </a:solidFill>
                      <a:prstDash val="dot"/>
                      <a:round/>
                      <a:headEnd type="none" w="med" len="med"/>
                      <a:tailEnd type="none" w="med" len="med"/>
                    </a:lnL>
                    <a:lnR w="12700" cap="flat" cmpd="sng" algn="ctr">
                      <a:solidFill>
                        <a:srgbClr val="DDDDDD"/>
                      </a:solidFill>
                      <a:prstDash val="dot"/>
                      <a:round/>
                      <a:headEnd type="none" w="med" len="med"/>
                      <a:tailEnd type="none" w="med" len="med"/>
                    </a:lnR>
                    <a:lnT w="12700" cap="flat" cmpd="sng" algn="ctr">
                      <a:solidFill>
                        <a:srgbClr val="DDDDDD"/>
                      </a:solidFill>
                      <a:prstDash val="dot"/>
                      <a:round/>
                      <a:headEnd type="none" w="med" len="med"/>
                      <a:tailEnd type="none" w="med" len="med"/>
                    </a:lnT>
                    <a:lnB w="12700" cap="flat" cmpd="sng" algn="ctr">
                      <a:solidFill>
                        <a:srgbClr val="769FCD"/>
                      </a:solidFill>
                      <a:prstDash val="dot"/>
                      <a:round/>
                      <a:headEnd type="none" w="med" len="med"/>
                      <a:tailEnd type="none" w="med" len="med"/>
                    </a:lnB>
                    <a:noFill/>
                  </a:tcPr>
                </a:tc>
                <a:tc>
                  <a:txBody>
                    <a:bodyPr/>
                    <a:lstStyle/>
                    <a:p>
                      <a:pPr>
                        <a:lnSpc>
                          <a:spcPct val="115000"/>
                        </a:lnSpc>
                        <a:spcAft>
                          <a:spcPts val="800"/>
                        </a:spcAft>
                      </a:pPr>
                      <a:r>
                        <a:rPr lang="zh-CN" sz="1600" b="1" kern="100" dirty="0">
                          <a:solidFill>
                            <a:schemeClr val="bg1"/>
                          </a:solidFill>
                          <a:effectLst/>
                          <a:latin typeface="+mj-ea"/>
                          <a:ea typeface="+mj-ea"/>
                          <a:cs typeface="Times New Roman" panose="02020603050405020304" pitchFamily="18" charset="0"/>
                        </a:rPr>
                        <a:t>体系的作用</a:t>
                      </a:r>
                      <a:r>
                        <a:rPr lang="zh-CN" sz="1600" kern="100" dirty="0">
                          <a:solidFill>
                            <a:schemeClr val="bg1"/>
                          </a:solidFill>
                          <a:effectLst/>
                          <a:latin typeface="+mj-ea"/>
                          <a:ea typeface="+mj-ea"/>
                          <a:cs typeface="Times New Roman" panose="02020603050405020304" pitchFamily="18" charset="0"/>
                        </a:rPr>
                        <a:t>：体系通过优化全链条的运营效率，为财务指标的改善提供</a:t>
                      </a:r>
                      <a:r>
                        <a:rPr lang="zh-CN" sz="1600" b="1" kern="100" dirty="0">
                          <a:solidFill>
                            <a:schemeClr val="bg1"/>
                          </a:solidFill>
                          <a:effectLst/>
                          <a:latin typeface="+mj-ea"/>
                          <a:ea typeface="+mj-ea"/>
                          <a:cs typeface="Times New Roman" panose="02020603050405020304" pitchFamily="18" charset="0"/>
                        </a:rPr>
                        <a:t>源头保障</a:t>
                      </a:r>
                      <a:r>
                        <a:rPr lang="zh-CN" sz="1600" kern="100" dirty="0">
                          <a:solidFill>
                            <a:schemeClr val="bg1"/>
                          </a:solidFill>
                          <a:effectLst/>
                          <a:latin typeface="+mj-ea"/>
                          <a:ea typeface="+mj-ea"/>
                          <a:cs typeface="Times New Roman" panose="02020603050405020304" pitchFamily="18" charset="0"/>
                        </a:rPr>
                        <a:t>。财务是体系运行结果的</a:t>
                      </a:r>
                      <a:r>
                        <a:rPr lang="zh-CN" sz="1600" b="1" kern="100" dirty="0">
                          <a:solidFill>
                            <a:schemeClr val="bg1"/>
                          </a:solidFill>
                          <a:effectLst/>
                          <a:latin typeface="+mj-ea"/>
                          <a:ea typeface="+mj-ea"/>
                          <a:cs typeface="Times New Roman" panose="02020603050405020304" pitchFamily="18" charset="0"/>
                        </a:rPr>
                        <a:t>衡量者和受益者</a:t>
                      </a:r>
                      <a:r>
                        <a:rPr lang="zh-CN" sz="1600" kern="100" dirty="0">
                          <a:solidFill>
                            <a:schemeClr val="bg1"/>
                          </a:solidFill>
                          <a:effectLst/>
                          <a:latin typeface="+mj-ea"/>
                          <a:ea typeface="+mj-ea"/>
                          <a:cs typeface="Times New Roman" panose="02020603050405020304" pitchFamily="18" charset="0"/>
                        </a:rPr>
                        <a:t>。</a:t>
                      </a:r>
                      <a:endParaRPr lang="zh-CN" sz="1200" kern="100" dirty="0">
                        <a:solidFill>
                          <a:schemeClr val="bg1"/>
                        </a:solidFill>
                        <a:effectLst/>
                        <a:latin typeface="+mj-ea"/>
                        <a:ea typeface="+mj-ea"/>
                        <a:cs typeface="Times New Roman" panose="02020603050405020304" pitchFamily="18" charset="0"/>
                      </a:endParaRPr>
                    </a:p>
                  </a:txBody>
                  <a:tcPr marL="68580" marR="68580" marT="0" marB="0">
                    <a:lnL w="12700" cap="flat" cmpd="sng" algn="ctr">
                      <a:solidFill>
                        <a:srgbClr val="DDDDDD"/>
                      </a:solidFill>
                      <a:prstDash val="dot"/>
                      <a:round/>
                      <a:headEnd type="none" w="med" len="med"/>
                      <a:tailEnd type="none" w="med" len="med"/>
                    </a:lnL>
                    <a:lnR w="12700" cap="flat" cmpd="sng" algn="ctr">
                      <a:solidFill>
                        <a:srgbClr val="769FCD"/>
                      </a:solidFill>
                      <a:prstDash val="dot"/>
                      <a:round/>
                      <a:headEnd type="none" w="med" len="med"/>
                      <a:tailEnd type="none" w="med" len="med"/>
                    </a:lnR>
                    <a:lnT w="12700" cap="flat" cmpd="sng" algn="ctr">
                      <a:solidFill>
                        <a:srgbClr val="DDDDDD"/>
                      </a:solidFill>
                      <a:prstDash val="dot"/>
                      <a:round/>
                      <a:headEnd type="none" w="med" len="med"/>
                      <a:tailEnd type="none" w="med" len="med"/>
                    </a:lnT>
                    <a:lnB w="12700" cap="flat" cmpd="sng" algn="ctr">
                      <a:solidFill>
                        <a:srgbClr val="769FCD"/>
                      </a:solidFill>
                      <a:prstDash val="dot"/>
                      <a:round/>
                      <a:headEnd type="none" w="med" len="med"/>
                      <a:tailEnd type="none" w="med" len="med"/>
                    </a:lnB>
                    <a:noFill/>
                  </a:tcPr>
                </a:tc>
                <a:extLst>
                  <a:ext uri="{0D108BD9-81ED-4DB2-BD59-A6C34878D82A}">
                    <a16:rowId xmlns:a16="http://schemas.microsoft.com/office/drawing/2014/main" val="3274896636"/>
                  </a:ext>
                </a:extLst>
              </a:tr>
            </a:tbl>
          </a:graphicData>
        </a:graphic>
      </p:graphicFrame>
    </p:spTree>
    <p:extLst>
      <p:ext uri="{BB962C8B-B14F-4D97-AF65-F5344CB8AC3E}">
        <p14:creationId xmlns:p14="http://schemas.microsoft.com/office/powerpoint/2010/main" val="83740482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3EA4D6C-C5DF-6AC2-61F7-FB4A2D1D6195}"/>
              </a:ext>
            </a:extLst>
          </p:cNvPr>
          <p:cNvSpPr>
            <a:spLocks noGrp="1"/>
          </p:cNvSpPr>
          <p:nvPr>
            <p:ph type="title"/>
          </p:nvPr>
        </p:nvSpPr>
        <p:spPr/>
        <p:txBody>
          <a:bodyPr/>
          <a:lstStyle/>
          <a:p>
            <a:r>
              <a:rPr lang="zh-CN" altLang="en-US" dirty="0"/>
              <a:t>核心挑战阐述</a:t>
            </a:r>
          </a:p>
        </p:txBody>
      </p:sp>
      <p:grpSp>
        <p:nvGrpSpPr>
          <p:cNvPr id="27" name="组合 3">
            <a:extLst>
              <a:ext uri="{FF2B5EF4-FFF2-40B4-BE49-F238E27FC236}">
                <a16:creationId xmlns:a16="http://schemas.microsoft.com/office/drawing/2014/main" id="{A37E461C-C843-311A-5DD5-FCF3F7181261}"/>
              </a:ext>
            </a:extLst>
          </p:cNvPr>
          <p:cNvGrpSpPr>
            <a:grpSpLocks noChangeAspect="1"/>
          </p:cNvGrpSpPr>
          <p:nvPr>
            <p:custDataLst>
              <p:tags r:id="rId1"/>
            </p:custDataLst>
          </p:nvPr>
        </p:nvGrpSpPr>
        <p:grpSpPr>
          <a:xfrm>
            <a:off x="1208314" y="835306"/>
            <a:ext cx="10608514" cy="5162689"/>
            <a:chOff x="1094466" y="1804138"/>
            <a:chExt cx="5616278" cy="5073284"/>
          </a:xfrm>
        </p:grpSpPr>
        <p:grpSp>
          <p:nvGrpSpPr>
            <p:cNvPr id="28" name="组合 1">
              <a:extLst>
                <a:ext uri="{FF2B5EF4-FFF2-40B4-BE49-F238E27FC236}">
                  <a16:creationId xmlns:a16="http://schemas.microsoft.com/office/drawing/2014/main" id="{F15EB637-C735-2EB8-9402-7CF1CBD98326}"/>
                </a:ext>
              </a:extLst>
            </p:cNvPr>
            <p:cNvGrpSpPr/>
            <p:nvPr/>
          </p:nvGrpSpPr>
          <p:grpSpPr>
            <a:xfrm>
              <a:off x="1094466" y="1804138"/>
              <a:ext cx="2922779" cy="4991382"/>
              <a:chOff x="660400" y="2229530"/>
              <a:chExt cx="2039907" cy="5099216"/>
            </a:xfrm>
          </p:grpSpPr>
          <p:sp>
            <p:nvSpPr>
              <p:cNvPr id="36" name="1">
                <a:extLst>
                  <a:ext uri="{FF2B5EF4-FFF2-40B4-BE49-F238E27FC236}">
                    <a16:creationId xmlns:a16="http://schemas.microsoft.com/office/drawing/2014/main" id="{05167A58-B7C2-E87D-36E4-0E374DCE1694}"/>
                  </a:ext>
                </a:extLst>
              </p:cNvPr>
              <p:cNvSpPr/>
              <p:nvPr/>
            </p:nvSpPr>
            <p:spPr>
              <a:xfrm>
                <a:off x="660400" y="2229530"/>
                <a:ext cx="2039907" cy="5099216"/>
              </a:xfrm>
              <a:prstGeom prst="homePlate">
                <a:avLst>
                  <a:gd name="adj" fmla="val 21858"/>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endParaRPr>
              </a:p>
            </p:txBody>
          </p:sp>
          <p:sp>
            <p:nvSpPr>
              <p:cNvPr id="38" name="Title-1">
                <a:extLst>
                  <a:ext uri="{FF2B5EF4-FFF2-40B4-BE49-F238E27FC236}">
                    <a16:creationId xmlns:a16="http://schemas.microsoft.com/office/drawing/2014/main" id="{42A69048-B983-2459-3283-F5118500C1FA}"/>
                  </a:ext>
                </a:extLst>
              </p:cNvPr>
              <p:cNvSpPr txBox="1"/>
              <p:nvPr>
                <p:custDataLst>
                  <p:tags r:id="rId4"/>
                </p:custDataLst>
              </p:nvPr>
            </p:nvSpPr>
            <p:spPr>
              <a:xfrm>
                <a:off x="731206" y="2431268"/>
                <a:ext cx="1536420" cy="415867"/>
              </a:xfrm>
              <a:prstGeom prst="rect">
                <a:avLst/>
              </a:prstGeom>
              <a:noFill/>
            </p:spPr>
            <p:txBody>
              <a:bodyPr wrap="square" lIns="0" rIns="0" rtlCol="0">
                <a:sp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0" lang="zh-CN" altLang="en-US" sz="1800" b="1" i="0" u="none" strike="noStrike" kern="1200" cap="none" spc="0" normalizeH="0" baseline="0" noProof="0" dirty="0">
                    <a:ln>
                      <a:noFill/>
                    </a:ln>
                    <a:solidFill>
                      <a:srgbClr val="3494BA"/>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a:t>
                </a:r>
                <a:r>
                  <a:rPr kumimoji="0" lang="en-US" altLang="zh-CN" sz="1800" b="1" i="0" u="none" strike="noStrike" kern="1200" cap="none" spc="0" normalizeH="0" baseline="0" noProof="0" dirty="0">
                    <a:ln>
                      <a:noFill/>
                    </a:ln>
                    <a:solidFill>
                      <a:srgbClr val="3494BA"/>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1. </a:t>
                </a:r>
                <a:r>
                  <a:rPr kumimoji="0" lang="zh-CN" altLang="en-US" sz="1800" b="1" i="0" u="none" strike="noStrike" kern="1200" cap="none" spc="0" normalizeH="0" baseline="0" noProof="0" dirty="0">
                    <a:ln>
                      <a:noFill/>
                    </a:ln>
                    <a:solidFill>
                      <a:srgbClr val="3494BA"/>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职能间天然的“断裂”与目标冲突​</a:t>
                </a:r>
              </a:p>
            </p:txBody>
          </p:sp>
          <p:sp>
            <p:nvSpPr>
              <p:cNvPr id="39" name="Body-1">
                <a:extLst>
                  <a:ext uri="{FF2B5EF4-FFF2-40B4-BE49-F238E27FC236}">
                    <a16:creationId xmlns:a16="http://schemas.microsoft.com/office/drawing/2014/main" id="{72A3F1A1-5C53-01B2-388F-25C4722605DC}"/>
                  </a:ext>
                </a:extLst>
              </p:cNvPr>
              <p:cNvSpPr txBox="1"/>
              <p:nvPr>
                <p:custDataLst>
                  <p:tags r:id="rId5"/>
                </p:custDataLst>
              </p:nvPr>
            </p:nvSpPr>
            <p:spPr>
              <a:xfrm>
                <a:off x="684297" y="3464803"/>
                <a:ext cx="1609310" cy="3699913"/>
              </a:xfrm>
              <a:prstGeom prst="rect">
                <a:avLst/>
              </a:prstGeom>
              <a:noFill/>
            </p:spPr>
            <p:txBody>
              <a:bodyPr wrap="square" lIns="0" rIns="0" rtlCol="0">
                <a:spAutoFit/>
              </a:bodyPr>
              <a:lstStyle/>
              <a:p>
                <a:pPr marL="0" marR="0" lvl="0" indent="0" algn="l" defTabSz="914400" rtl="0" eaLnBrk="1" fontAlgn="auto" latinLnBrk="0" hangingPunct="1">
                  <a:lnSpc>
                    <a:spcPct val="150000"/>
                  </a:lnSpc>
                  <a:spcBef>
                    <a:spcPts val="0"/>
                  </a:spcBef>
                  <a:spcAft>
                    <a:spcPts val="0"/>
                  </a:spcAft>
                  <a:buClrTx/>
                  <a:buSzPct val="80000"/>
                  <a:buFontTx/>
                  <a:buNone/>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各职能的优先权本质上是冲突的，导致“竖井”和内部耗散：</a:t>
                </a:r>
              </a:p>
              <a:p>
                <a:pPr marL="742950" marR="0" lvl="1" indent="-285750" algn="l" defTabSz="914400" rtl="0" eaLnBrk="1" fontAlgn="auto" latinLnBrk="0" hangingPunct="1">
                  <a:lnSpc>
                    <a:spcPct val="150000"/>
                  </a:lnSpc>
                  <a:spcBef>
                    <a:spcPts val="0"/>
                  </a:spcBef>
                  <a:spcAft>
                    <a:spcPts val="0"/>
                  </a:spcAft>
                  <a:buClrTx/>
                  <a:buSzPct val="80000"/>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​研发的“创新多变” </a:t>
                </a:r>
                <a:r>
                  <a:rPr kumimoji="0" lang="en-US" altLang="zh-CN"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vs ​</a:t>
                </a: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供应链的“稳定高效”。</a:t>
                </a:r>
              </a:p>
              <a:p>
                <a:pPr marL="742950" marR="0" lvl="1" indent="-285750" algn="l" defTabSz="914400" rtl="0" eaLnBrk="1" fontAlgn="auto" latinLnBrk="0" hangingPunct="1">
                  <a:lnSpc>
                    <a:spcPct val="150000"/>
                  </a:lnSpc>
                  <a:spcBef>
                    <a:spcPts val="0"/>
                  </a:spcBef>
                  <a:spcAft>
                    <a:spcPts val="0"/>
                  </a:spcAft>
                  <a:buClrTx/>
                  <a:buSzPct val="80000"/>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​营销的“需求波动” </a:t>
                </a:r>
                <a:r>
                  <a:rPr kumimoji="0" lang="en-US" altLang="zh-CN"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vs ​</a:t>
                </a: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供应链的“产能刚性” </a:t>
                </a:r>
                <a:r>
                  <a:rPr kumimoji="0" lang="en-US" altLang="zh-CN"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vs ​</a:t>
                </a: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财务的“库存与成本控制”。</a:t>
                </a:r>
              </a:p>
              <a:p>
                <a:pPr marL="742950" marR="0" lvl="1" indent="-285750" algn="l" defTabSz="914400" rtl="0" eaLnBrk="1" fontAlgn="auto" latinLnBrk="0" hangingPunct="1">
                  <a:lnSpc>
                    <a:spcPct val="150000"/>
                  </a:lnSpc>
                  <a:spcBef>
                    <a:spcPts val="0"/>
                  </a:spcBef>
                  <a:spcAft>
                    <a:spcPts val="0"/>
                  </a:spcAft>
                  <a:buClrTx/>
                  <a:buSzPct val="80000"/>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所有职能的“资源需求” </a:t>
                </a:r>
                <a:r>
                  <a:rPr kumimoji="0" lang="en-US" altLang="zh-CN"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vs ​</a:t>
                </a: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财务的“资金约束”。</a:t>
                </a:r>
              </a:p>
              <a:p>
                <a:pPr marL="742950" marR="0" lvl="1" indent="-285750" algn="l" defTabSz="914400" rtl="0" eaLnBrk="1" fontAlgn="auto" latinLnBrk="0" hangingPunct="1">
                  <a:lnSpc>
                    <a:spcPct val="150000"/>
                  </a:lnSpc>
                  <a:spcBef>
                    <a:spcPts val="0"/>
                  </a:spcBef>
                  <a:spcAft>
                    <a:spcPts val="0"/>
                  </a:spcAft>
                  <a:buClrTx/>
                  <a:buSzPct val="80000"/>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每个职能都在自己的“孤岛”里追求局部最优，却可能导致整体战略的失败。</a:t>
                </a:r>
              </a:p>
            </p:txBody>
          </p:sp>
          <p:cxnSp>
            <p:nvCxnSpPr>
              <p:cNvPr id="40" name="1">
                <a:extLst>
                  <a:ext uri="{FF2B5EF4-FFF2-40B4-BE49-F238E27FC236}">
                    <a16:creationId xmlns:a16="http://schemas.microsoft.com/office/drawing/2014/main" id="{4D90D07B-F87A-5FE4-84CD-A03D02EF2A29}"/>
                  </a:ext>
                </a:extLst>
              </p:cNvPr>
              <p:cNvCxnSpPr>
                <a:cxnSpLocks/>
              </p:cNvCxnSpPr>
              <p:nvPr/>
            </p:nvCxnSpPr>
            <p:spPr>
              <a:xfrm>
                <a:off x="888126" y="3367787"/>
                <a:ext cx="1253477" cy="0"/>
              </a:xfrm>
              <a:prstGeom prst="line">
                <a:avLst/>
              </a:prstGeom>
            </p:spPr>
            <p:style>
              <a:lnRef idx="2">
                <a:schemeClr val="accent1"/>
              </a:lnRef>
              <a:fillRef idx="0">
                <a:schemeClr val="accent1"/>
              </a:fillRef>
              <a:effectRef idx="1">
                <a:schemeClr val="accent1"/>
              </a:effectRef>
              <a:fontRef idx="minor">
                <a:schemeClr val="tx1"/>
              </a:fontRef>
            </p:style>
          </p:cxnSp>
          <p:sp>
            <p:nvSpPr>
              <p:cNvPr id="41" name="1">
                <a:extLst>
                  <a:ext uri="{FF2B5EF4-FFF2-40B4-BE49-F238E27FC236}">
                    <a16:creationId xmlns:a16="http://schemas.microsoft.com/office/drawing/2014/main" id="{DE366AAC-C7B1-6581-BDA6-21648B3F6661}"/>
                  </a:ext>
                </a:extLst>
              </p:cNvPr>
              <p:cNvSpPr/>
              <p:nvPr/>
            </p:nvSpPr>
            <p:spPr>
              <a:xfrm rot="5400000">
                <a:off x="1514531" y="2882454"/>
                <a:ext cx="180027" cy="707630"/>
              </a:xfrm>
              <a:prstGeom prst="chevron">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endParaRPr>
              </a:p>
            </p:txBody>
          </p:sp>
        </p:grpSp>
        <p:grpSp>
          <p:nvGrpSpPr>
            <p:cNvPr id="29" name="组合 2">
              <a:extLst>
                <a:ext uri="{FF2B5EF4-FFF2-40B4-BE49-F238E27FC236}">
                  <a16:creationId xmlns:a16="http://schemas.microsoft.com/office/drawing/2014/main" id="{549F2DD4-4C92-19B5-A03E-FFB988280EE4}"/>
                </a:ext>
              </a:extLst>
            </p:cNvPr>
            <p:cNvGrpSpPr/>
            <p:nvPr/>
          </p:nvGrpSpPr>
          <p:grpSpPr>
            <a:xfrm>
              <a:off x="3554174" y="1804138"/>
              <a:ext cx="3156570" cy="5073284"/>
              <a:chOff x="9565885" y="2219651"/>
              <a:chExt cx="2203078" cy="5182887"/>
            </a:xfrm>
          </p:grpSpPr>
          <p:sp>
            <p:nvSpPr>
              <p:cNvPr id="30" name="2">
                <a:extLst>
                  <a:ext uri="{FF2B5EF4-FFF2-40B4-BE49-F238E27FC236}">
                    <a16:creationId xmlns:a16="http://schemas.microsoft.com/office/drawing/2014/main" id="{F70A327C-2DFA-ADB6-D14A-234F259B1C33}"/>
                  </a:ext>
                </a:extLst>
              </p:cNvPr>
              <p:cNvSpPr/>
              <p:nvPr/>
            </p:nvSpPr>
            <p:spPr>
              <a:xfrm>
                <a:off x="9565885" y="2219651"/>
                <a:ext cx="2203078" cy="5089343"/>
              </a:xfrm>
              <a:custGeom>
                <a:avLst/>
                <a:gdLst>
                  <a:gd name="connsiteX0" fmla="*/ 0 w 2058464"/>
                  <a:gd name="connsiteY0" fmla="*/ 0 h 2466125"/>
                  <a:gd name="connsiteX1" fmla="*/ 1632959 w 2058464"/>
                  <a:gd name="connsiteY1" fmla="*/ 0 h 2466125"/>
                  <a:gd name="connsiteX2" fmla="*/ 2058464 w 2058464"/>
                  <a:gd name="connsiteY2" fmla="*/ 1233063 h 2466125"/>
                  <a:gd name="connsiteX3" fmla="*/ 1632959 w 2058464"/>
                  <a:gd name="connsiteY3" fmla="*/ 2466125 h 2466125"/>
                  <a:gd name="connsiteX4" fmla="*/ 0 w 2058464"/>
                  <a:gd name="connsiteY4" fmla="*/ 2466125 h 2466125"/>
                  <a:gd name="connsiteX5" fmla="*/ 425505 w 2058464"/>
                  <a:gd name="connsiteY5" fmla="*/ 1233063 h 2466125"/>
                  <a:gd name="connsiteX6" fmla="*/ 0 w 2058464"/>
                  <a:gd name="connsiteY6" fmla="*/ 0 h 2466125"/>
                  <a:gd name="connsiteX0" fmla="*/ 0 w 1632959"/>
                  <a:gd name="connsiteY0" fmla="*/ 0 h 2466125"/>
                  <a:gd name="connsiteX1" fmla="*/ 1632959 w 1632959"/>
                  <a:gd name="connsiteY1" fmla="*/ 0 h 2466125"/>
                  <a:gd name="connsiteX2" fmla="*/ 1629839 w 1632959"/>
                  <a:gd name="connsiteY2" fmla="*/ 1223538 h 2466125"/>
                  <a:gd name="connsiteX3" fmla="*/ 1632959 w 1632959"/>
                  <a:gd name="connsiteY3" fmla="*/ 2466125 h 2466125"/>
                  <a:gd name="connsiteX4" fmla="*/ 0 w 1632959"/>
                  <a:gd name="connsiteY4" fmla="*/ 2466125 h 2466125"/>
                  <a:gd name="connsiteX5" fmla="*/ 425505 w 1632959"/>
                  <a:gd name="connsiteY5" fmla="*/ 1233063 h 2466125"/>
                  <a:gd name="connsiteX6" fmla="*/ 0 w 1632959"/>
                  <a:gd name="connsiteY6" fmla="*/ 0 h 2466125"/>
                  <a:gd name="connsiteX0" fmla="*/ 0 w 1677464"/>
                  <a:gd name="connsiteY0" fmla="*/ 0 h 2466125"/>
                  <a:gd name="connsiteX1" fmla="*/ 1632959 w 1677464"/>
                  <a:gd name="connsiteY1" fmla="*/ 0 h 2466125"/>
                  <a:gd name="connsiteX2" fmla="*/ 1677464 w 1677464"/>
                  <a:gd name="connsiteY2" fmla="*/ 1233063 h 2466125"/>
                  <a:gd name="connsiteX3" fmla="*/ 1632959 w 1677464"/>
                  <a:gd name="connsiteY3" fmla="*/ 2466125 h 2466125"/>
                  <a:gd name="connsiteX4" fmla="*/ 0 w 1677464"/>
                  <a:gd name="connsiteY4" fmla="*/ 2466125 h 2466125"/>
                  <a:gd name="connsiteX5" fmla="*/ 425505 w 1677464"/>
                  <a:gd name="connsiteY5" fmla="*/ 1233063 h 2466125"/>
                  <a:gd name="connsiteX6" fmla="*/ 0 w 1677464"/>
                  <a:gd name="connsiteY6" fmla="*/ 0 h 2466125"/>
                  <a:gd name="connsiteX0" fmla="*/ 0 w 1639364"/>
                  <a:gd name="connsiteY0" fmla="*/ 0 h 2466125"/>
                  <a:gd name="connsiteX1" fmla="*/ 1632959 w 1639364"/>
                  <a:gd name="connsiteY1" fmla="*/ 0 h 2466125"/>
                  <a:gd name="connsiteX2" fmla="*/ 1639364 w 1639364"/>
                  <a:gd name="connsiteY2" fmla="*/ 1242588 h 2466125"/>
                  <a:gd name="connsiteX3" fmla="*/ 1632959 w 1639364"/>
                  <a:gd name="connsiteY3" fmla="*/ 2466125 h 2466125"/>
                  <a:gd name="connsiteX4" fmla="*/ 0 w 1639364"/>
                  <a:gd name="connsiteY4" fmla="*/ 2466125 h 2466125"/>
                  <a:gd name="connsiteX5" fmla="*/ 425505 w 1639364"/>
                  <a:gd name="connsiteY5" fmla="*/ 1233063 h 2466125"/>
                  <a:gd name="connsiteX6" fmla="*/ 0 w 1639364"/>
                  <a:gd name="connsiteY6" fmla="*/ 0 h 2466125"/>
                  <a:gd name="connsiteX0" fmla="*/ 0 w 1639364"/>
                  <a:gd name="connsiteY0" fmla="*/ 0 h 2466125"/>
                  <a:gd name="connsiteX1" fmla="*/ 1632959 w 1639364"/>
                  <a:gd name="connsiteY1" fmla="*/ 0 h 2466125"/>
                  <a:gd name="connsiteX2" fmla="*/ 1639364 w 1639364"/>
                  <a:gd name="connsiteY2" fmla="*/ 1242588 h 2466125"/>
                  <a:gd name="connsiteX3" fmla="*/ 1632959 w 1639364"/>
                  <a:gd name="connsiteY3" fmla="*/ 2466125 h 2466125"/>
                  <a:gd name="connsiteX4" fmla="*/ 0 w 1639364"/>
                  <a:gd name="connsiteY4" fmla="*/ 2466125 h 2466125"/>
                  <a:gd name="connsiteX5" fmla="*/ 385004 w 1639364"/>
                  <a:gd name="connsiteY5" fmla="*/ 1224976 h 2466125"/>
                  <a:gd name="connsiteX6" fmla="*/ 0 w 1639364"/>
                  <a:gd name="connsiteY6" fmla="*/ 0 h 2466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9364" h="2466125">
                    <a:moveTo>
                      <a:pt x="0" y="0"/>
                    </a:moveTo>
                    <a:lnTo>
                      <a:pt x="1632959" y="0"/>
                    </a:lnTo>
                    <a:lnTo>
                      <a:pt x="1639364" y="1242588"/>
                    </a:lnTo>
                    <a:lnTo>
                      <a:pt x="1632959" y="2466125"/>
                    </a:lnTo>
                    <a:lnTo>
                      <a:pt x="0" y="2466125"/>
                    </a:lnTo>
                    <a:lnTo>
                      <a:pt x="385004" y="1224976"/>
                    </a:lnTo>
                    <a:lnTo>
                      <a:pt x="0" y="0"/>
                    </a:lnTo>
                    <a:close/>
                  </a:path>
                </a:pathLst>
              </a:cu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endParaRPr>
              </a:p>
            </p:txBody>
          </p:sp>
          <p:sp>
            <p:nvSpPr>
              <p:cNvPr id="32" name="Title-2">
                <a:extLst>
                  <a:ext uri="{FF2B5EF4-FFF2-40B4-BE49-F238E27FC236}">
                    <a16:creationId xmlns:a16="http://schemas.microsoft.com/office/drawing/2014/main" id="{FE28FE23-CEFA-4C27-4FEB-82DE488EEEF3}"/>
                  </a:ext>
                </a:extLst>
              </p:cNvPr>
              <p:cNvSpPr txBox="1"/>
              <p:nvPr>
                <p:custDataLst>
                  <p:tags r:id="rId2"/>
                </p:custDataLst>
              </p:nvPr>
            </p:nvSpPr>
            <p:spPr>
              <a:xfrm>
                <a:off x="9889078" y="2364824"/>
                <a:ext cx="1829916" cy="415867"/>
              </a:xfrm>
              <a:prstGeom prst="rect">
                <a:avLst/>
              </a:prstGeom>
              <a:noFill/>
            </p:spPr>
            <p:txBody>
              <a:bodyPr wrap="square" lIns="0" rIns="0" rtlCol="0">
                <a:sp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a:t>
                </a:r>
                <a:r>
                  <a:rPr kumimoji="0" lang="en-US" altLang="zh-CN"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2. </a:t>
                </a:r>
                <a:r>
                  <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协同决策的复杂度呈“</a:t>
                </a:r>
                <a:r>
                  <a:rPr kumimoji="0" lang="en-US" altLang="zh-CN"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N²”</a:t>
                </a:r>
                <a:r>
                  <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级增长​</a:t>
                </a:r>
              </a:p>
            </p:txBody>
          </p:sp>
          <p:sp>
            <p:nvSpPr>
              <p:cNvPr id="33" name="Body-2">
                <a:extLst>
                  <a:ext uri="{FF2B5EF4-FFF2-40B4-BE49-F238E27FC236}">
                    <a16:creationId xmlns:a16="http://schemas.microsoft.com/office/drawing/2014/main" id="{6699B951-A05B-CCD9-2F23-ECF1C7FE9B32}"/>
                  </a:ext>
                </a:extLst>
              </p:cNvPr>
              <p:cNvSpPr txBox="1"/>
              <p:nvPr>
                <p:custDataLst>
                  <p:tags r:id="rId3"/>
                </p:custDataLst>
              </p:nvPr>
            </p:nvSpPr>
            <p:spPr>
              <a:xfrm>
                <a:off x="9947484" y="3454924"/>
                <a:ext cx="1771510" cy="3947614"/>
              </a:xfrm>
              <a:prstGeom prst="rect">
                <a:avLst/>
              </a:prstGeom>
              <a:noFill/>
            </p:spPr>
            <p:txBody>
              <a:bodyPr wrap="square" lIns="0" rIns="0" rtlCol="0">
                <a:spAutoFit/>
              </a:bodyPr>
              <a:lstStyle/>
              <a:p>
                <a:pPr marL="285750" marR="0" lvl="0" indent="-285750" algn="l" defTabSz="914400" rtl="0" eaLnBrk="1" fontAlgn="auto" latinLnBrk="0" hangingPunct="1">
                  <a:lnSpc>
                    <a:spcPct val="150000"/>
                  </a:lnSpc>
                  <a:spcBef>
                    <a:spcPts val="0"/>
                  </a:spcBef>
                  <a:spcAft>
                    <a:spcPts val="0"/>
                  </a:spcAft>
                  <a:buClrTx/>
                  <a:buSzPct val="80000"/>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更严峻的挑战在于协同的复杂度。从战略到执行，每一个行动都需要相关职能的共同决策。假设有</a:t>
                </a:r>
                <a:r>
                  <a:rPr kumimoji="0" lang="en-US" altLang="zh-CN" sz="14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N</a:t>
                </a:r>
                <a:r>
                  <a:rPr kumimoji="0" lang="zh-CN" altLang="en-US" sz="14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个职能相关关系人：</a:t>
                </a:r>
              </a:p>
              <a:p>
                <a:pPr marL="742950" lvl="1" indent="-285750">
                  <a:lnSpc>
                    <a:spcPct val="150000"/>
                  </a:lnSpc>
                  <a:buSzPct val="80000"/>
                  <a:buFont typeface="Arial" panose="020B0604020202020204" pitchFamily="34" charset="0"/>
                  <a:buChar char="•"/>
                  <a:defRPr/>
                </a:pPr>
                <a:r>
                  <a:rPr kumimoji="0" lang="zh-CN" altLang="en-US" sz="14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​潜在的协同关系数量不是简单的</a:t>
                </a:r>
                <a:r>
                  <a:rPr kumimoji="0" lang="en-US" altLang="zh-CN" sz="14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N</a:t>
                </a:r>
                <a:r>
                  <a:rPr kumimoji="0" lang="zh-CN" altLang="en-US" sz="14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，而是组合数公式：​</a:t>
                </a:r>
                <a:r>
                  <a:rPr kumimoji="0" lang="en-US" altLang="zh-CN" sz="14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N(N-1)/2</a:t>
                </a:r>
                <a:r>
                  <a:rPr kumimoji="0" lang="zh-CN" altLang="en-US" sz="14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。这还只是两两之间的协同。</a:t>
                </a:r>
              </a:p>
              <a:p>
                <a:pPr marL="742950" lvl="1" indent="-285750">
                  <a:lnSpc>
                    <a:spcPct val="150000"/>
                  </a:lnSpc>
                  <a:buSzPct val="80000"/>
                  <a:buFont typeface="Arial" panose="020B0604020202020204" pitchFamily="34" charset="0"/>
                  <a:buChar char="•"/>
                  <a:defRPr/>
                </a:pPr>
                <a:r>
                  <a:rPr kumimoji="0" lang="zh-CN" altLang="en-US" sz="14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在实际操作中，一个决策（如发布新品）往往需要多个职能干系人同时参与，沟通路径和决策节点呈指数级增长，复杂度接近 ​</a:t>
                </a:r>
                <a:r>
                  <a:rPr kumimoji="0" lang="en-US" altLang="zh-CN" sz="14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O(N²)​</a:t>
                </a:r>
                <a:r>
                  <a:rPr kumimoji="0" lang="zh-CN" altLang="en-US" sz="14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a:t>
                </a:r>
                <a:endParaRPr kumimoji="0" lang="en-US" altLang="zh-CN" sz="14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endParaRPr>
              </a:p>
              <a:p>
                <a:pPr marL="742950" lvl="1" indent="-285750">
                  <a:lnSpc>
                    <a:spcPct val="150000"/>
                  </a:lnSpc>
                  <a:buSzPct val="80000"/>
                  <a:buFont typeface="Arial" panose="020B0604020202020204" pitchFamily="34" charset="0"/>
                  <a:buChar char="•"/>
                  <a:defRPr/>
                </a:pPr>
                <a:r>
                  <a:rPr lang="en-US" altLang="zh-CN" sz="1400" b="1" i="0" dirty="0">
                    <a:solidFill>
                      <a:srgbClr val="000000"/>
                    </a:solidFill>
                    <a:effectLst/>
                    <a:latin typeface="+mj-ea"/>
                    <a:ea typeface="+mj-ea"/>
                  </a:rPr>
                  <a:t>N² </a:t>
                </a:r>
                <a:r>
                  <a:rPr lang="zh-CN" altLang="en-US" sz="1400" b="1" i="0" dirty="0">
                    <a:solidFill>
                      <a:srgbClr val="000000"/>
                    </a:solidFill>
                    <a:effectLst/>
                    <a:latin typeface="+mj-ea"/>
                    <a:ea typeface="+mj-ea"/>
                  </a:rPr>
                  <a:t>是协同的“物理复杂度”，而人性与利益则注入了“化学复杂度”，两者叠加产生的“化学反应”足以让任何试图靠“开会”和“说服”来协同的组织崩溃。</a:t>
                </a:r>
                <a:endParaRPr kumimoji="0" lang="zh-CN" altLang="en-US" sz="14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endParaRPr>
              </a:p>
            </p:txBody>
          </p:sp>
          <p:cxnSp>
            <p:nvCxnSpPr>
              <p:cNvPr id="34" name="2">
                <a:extLst>
                  <a:ext uri="{FF2B5EF4-FFF2-40B4-BE49-F238E27FC236}">
                    <a16:creationId xmlns:a16="http://schemas.microsoft.com/office/drawing/2014/main" id="{CA974B02-37D6-1E69-F766-D3F2EE046D1A}"/>
                  </a:ext>
                </a:extLst>
              </p:cNvPr>
              <p:cNvCxnSpPr>
                <a:cxnSpLocks/>
              </p:cNvCxnSpPr>
              <p:nvPr/>
            </p:nvCxnSpPr>
            <p:spPr>
              <a:xfrm>
                <a:off x="10208587" y="3367787"/>
                <a:ext cx="1253477"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sp>
            <p:nvSpPr>
              <p:cNvPr id="35" name="2">
                <a:extLst>
                  <a:ext uri="{FF2B5EF4-FFF2-40B4-BE49-F238E27FC236}">
                    <a16:creationId xmlns:a16="http://schemas.microsoft.com/office/drawing/2014/main" id="{8BF37861-ABB1-B8BD-C632-C1DAD5E0D333}"/>
                  </a:ext>
                </a:extLst>
              </p:cNvPr>
              <p:cNvSpPr/>
              <p:nvPr/>
            </p:nvSpPr>
            <p:spPr>
              <a:xfrm rot="5400000">
                <a:off x="10880576" y="2874863"/>
                <a:ext cx="180027" cy="707630"/>
              </a:xfrm>
              <a:prstGeom prst="chevron">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endParaRPr>
              </a:p>
            </p:txBody>
          </p:sp>
        </p:grpSp>
      </p:grpSp>
      <p:sp>
        <p:nvSpPr>
          <p:cNvPr id="42" name="文本框 41">
            <a:extLst>
              <a:ext uri="{FF2B5EF4-FFF2-40B4-BE49-F238E27FC236}">
                <a16:creationId xmlns:a16="http://schemas.microsoft.com/office/drawing/2014/main" id="{C2074A9F-7446-F662-FDA0-EC97194A446E}"/>
              </a:ext>
            </a:extLst>
          </p:cNvPr>
          <p:cNvSpPr txBox="1"/>
          <p:nvPr/>
        </p:nvSpPr>
        <p:spPr>
          <a:xfrm>
            <a:off x="1294455" y="6059257"/>
            <a:ext cx="10033516"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6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企业需要的不是更努力的沟通，而是一种将“协同”本身制度化和系统化的</a:t>
            </a:r>
            <a:r>
              <a:rPr kumimoji="0" lang="zh-CN" altLang="en-US"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能力</a:t>
            </a:r>
            <a:r>
              <a:rPr kumimoji="0" lang="en-US" altLang="zh-CN"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a:t>
            </a:r>
            <a:r>
              <a:rPr kumimoji="0" lang="zh-CN" altLang="en-US"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计划与控制能力</a:t>
            </a:r>
            <a:r>
              <a:rPr kumimoji="0" lang="zh-CN" altLang="en-US" sz="16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a:t>
            </a:r>
            <a:endParaRPr kumimoji="0" lang="en-US" altLang="zh-CN" sz="16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将无形的战略，转化为可执行的、协同的作战计划，并通过动态的控制与执行确保计划落地的高级管理能力。</a:t>
            </a:r>
            <a:endParaRPr kumimoji="0" lang="zh-CN" altLang="en-US" sz="16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Tree>
    <p:extLst>
      <p:ext uri="{BB962C8B-B14F-4D97-AF65-F5344CB8AC3E}">
        <p14:creationId xmlns:p14="http://schemas.microsoft.com/office/powerpoint/2010/main" val="197931016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349CF0F-4D6C-53B2-62C0-F55CCD5EF021}"/>
              </a:ext>
            </a:extLst>
          </p:cNvPr>
          <p:cNvSpPr>
            <a:spLocks noGrp="1"/>
          </p:cNvSpPr>
          <p:nvPr>
            <p:ph type="title"/>
          </p:nvPr>
        </p:nvSpPr>
        <p:spPr/>
        <p:txBody>
          <a:bodyPr/>
          <a:lstStyle/>
          <a:p>
            <a:r>
              <a:rPr lang="zh-CN" altLang="en-US" dirty="0"/>
              <a:t>自由输入，逻辑独裁</a:t>
            </a:r>
          </a:p>
        </p:txBody>
      </p:sp>
      <p:graphicFrame>
        <p:nvGraphicFramePr>
          <p:cNvPr id="5" name="表格 4">
            <a:extLst>
              <a:ext uri="{FF2B5EF4-FFF2-40B4-BE49-F238E27FC236}">
                <a16:creationId xmlns:a16="http://schemas.microsoft.com/office/drawing/2014/main" id="{B965CD64-D65E-0772-68E1-0544B9AD6B8E}"/>
              </a:ext>
            </a:extLst>
          </p:cNvPr>
          <p:cNvGraphicFramePr>
            <a:graphicFrameLocks noGrp="1"/>
          </p:cNvGraphicFramePr>
          <p:nvPr>
            <p:extLst>
              <p:ext uri="{D42A27DB-BD31-4B8C-83A1-F6EECF244321}">
                <p14:modId xmlns:p14="http://schemas.microsoft.com/office/powerpoint/2010/main" val="3711308653"/>
              </p:ext>
            </p:extLst>
          </p:nvPr>
        </p:nvGraphicFramePr>
        <p:xfrm>
          <a:off x="1133749" y="1645606"/>
          <a:ext cx="9221821" cy="3566787"/>
        </p:xfrm>
        <a:graphic>
          <a:graphicData uri="http://schemas.openxmlformats.org/drawingml/2006/table">
            <a:tbl>
              <a:tblPr firstRow="1" firstCol="1">
                <a:tableStyleId>{5C22544A-7EE6-4342-B048-85BDC9FD1C3A}</a:tableStyleId>
              </a:tblPr>
              <a:tblGrid>
                <a:gridCol w="1584505">
                  <a:extLst>
                    <a:ext uri="{9D8B030D-6E8A-4147-A177-3AD203B41FA5}">
                      <a16:colId xmlns:a16="http://schemas.microsoft.com/office/drawing/2014/main" val="790157555"/>
                    </a:ext>
                  </a:extLst>
                </a:gridCol>
                <a:gridCol w="3818658">
                  <a:extLst>
                    <a:ext uri="{9D8B030D-6E8A-4147-A177-3AD203B41FA5}">
                      <a16:colId xmlns:a16="http://schemas.microsoft.com/office/drawing/2014/main" val="3067017059"/>
                    </a:ext>
                  </a:extLst>
                </a:gridCol>
                <a:gridCol w="3818658">
                  <a:extLst>
                    <a:ext uri="{9D8B030D-6E8A-4147-A177-3AD203B41FA5}">
                      <a16:colId xmlns:a16="http://schemas.microsoft.com/office/drawing/2014/main" val="3960379512"/>
                    </a:ext>
                  </a:extLst>
                </a:gridCol>
              </a:tblGrid>
              <a:tr h="520430">
                <a:tc>
                  <a:txBody>
                    <a:bodyPr/>
                    <a:lstStyle/>
                    <a:p>
                      <a:r>
                        <a:rPr lang="zh-CN" altLang="en-US">
                          <a:solidFill>
                            <a:schemeClr val="bg1"/>
                          </a:solidFill>
                        </a:rPr>
                        <a:t>维度</a:t>
                      </a:r>
                      <a:endParaRPr lang="zh-CN" altLang="en-US">
                        <a:solidFill>
                          <a:schemeClr val="bg1"/>
                        </a:solidFill>
                        <a:latin typeface="+mj-ea"/>
                        <a:ea typeface="+mj-ea"/>
                      </a:endParaRPr>
                    </a:p>
                  </a:txBody>
                  <a:tcPr anchor="ctr"/>
                </a:tc>
                <a:tc>
                  <a:txBody>
                    <a:bodyPr/>
                    <a:lstStyle/>
                    <a:p>
                      <a:r>
                        <a:rPr lang="zh-CN" altLang="en-US">
                          <a:solidFill>
                            <a:schemeClr val="bg1"/>
                          </a:solidFill>
                        </a:rPr>
                        <a:t>线性领域 </a:t>
                      </a:r>
                      <a:r>
                        <a:rPr lang="en-US" altLang="zh-CN">
                          <a:solidFill>
                            <a:schemeClr val="bg1"/>
                          </a:solidFill>
                        </a:rPr>
                        <a:t>(</a:t>
                      </a:r>
                      <a:r>
                        <a:rPr lang="en-US">
                          <a:solidFill>
                            <a:schemeClr val="bg1"/>
                          </a:solidFill>
                        </a:rPr>
                        <a:t>Linear Domain)</a:t>
                      </a:r>
                      <a:endParaRPr lang="en-US">
                        <a:solidFill>
                          <a:schemeClr val="bg1"/>
                        </a:solidFill>
                        <a:latin typeface="+mj-ea"/>
                        <a:ea typeface="+mj-ea"/>
                      </a:endParaRPr>
                    </a:p>
                  </a:txBody>
                  <a:tcPr anchor="ctr"/>
                </a:tc>
                <a:tc>
                  <a:txBody>
                    <a:bodyPr/>
                    <a:lstStyle/>
                    <a:p>
                      <a:r>
                        <a:rPr lang="zh-CN" altLang="en-US">
                          <a:solidFill>
                            <a:schemeClr val="bg1"/>
                          </a:solidFill>
                        </a:rPr>
                        <a:t>指数领域 </a:t>
                      </a:r>
                      <a:r>
                        <a:rPr lang="en-US" altLang="zh-CN">
                          <a:solidFill>
                            <a:schemeClr val="bg1"/>
                          </a:solidFill>
                        </a:rPr>
                        <a:t>(</a:t>
                      </a:r>
                      <a:r>
                        <a:rPr lang="en-US">
                          <a:solidFill>
                            <a:schemeClr val="bg1"/>
                          </a:solidFill>
                        </a:rPr>
                        <a:t>Exponential Domain)</a:t>
                      </a:r>
                      <a:endParaRPr lang="en-US">
                        <a:solidFill>
                          <a:schemeClr val="bg1"/>
                        </a:solidFill>
                        <a:latin typeface="+mj-ea"/>
                        <a:ea typeface="+mj-ea"/>
                      </a:endParaRPr>
                    </a:p>
                  </a:txBody>
                  <a:tcPr anchor="ctr"/>
                </a:tc>
                <a:extLst>
                  <a:ext uri="{0D108BD9-81ED-4DB2-BD59-A6C34878D82A}">
                    <a16:rowId xmlns:a16="http://schemas.microsoft.com/office/drawing/2014/main" val="984770080"/>
                  </a:ext>
                </a:extLst>
              </a:tr>
              <a:tr h="742205">
                <a:tc>
                  <a:txBody>
                    <a:bodyPr/>
                    <a:lstStyle/>
                    <a:p>
                      <a:r>
                        <a:rPr lang="zh-CN" altLang="en-US" b="1">
                          <a:solidFill>
                            <a:schemeClr val="bg1"/>
                          </a:solidFill>
                        </a:rPr>
                        <a:t>典型场景</a:t>
                      </a:r>
                      <a:endParaRPr lang="zh-CN" altLang="en-US">
                        <a:solidFill>
                          <a:schemeClr val="bg1"/>
                        </a:solidFill>
                        <a:latin typeface="+mj-ea"/>
                        <a:ea typeface="+mj-ea"/>
                      </a:endParaRPr>
                    </a:p>
                  </a:txBody>
                  <a:tcPr anchor="ctr"/>
                </a:tc>
                <a:tc>
                  <a:txBody>
                    <a:bodyPr/>
                    <a:lstStyle/>
                    <a:p>
                      <a:r>
                        <a:rPr lang="zh-CN" altLang="en-US" dirty="0">
                          <a:solidFill>
                            <a:schemeClr val="bg1"/>
                          </a:solidFill>
                        </a:rPr>
                        <a:t>单据执行、物流搬运、代码编写</a:t>
                      </a:r>
                      <a:endParaRPr lang="zh-CN" altLang="en-US" dirty="0">
                        <a:solidFill>
                          <a:schemeClr val="bg1"/>
                        </a:solidFill>
                        <a:latin typeface="+mj-ea"/>
                        <a:ea typeface="+mj-ea"/>
                      </a:endParaRPr>
                    </a:p>
                  </a:txBody>
                  <a:tcPr anchor="ctr">
                    <a:noFill/>
                  </a:tcPr>
                </a:tc>
                <a:tc>
                  <a:txBody>
                    <a:bodyPr/>
                    <a:lstStyle/>
                    <a:p>
                      <a:r>
                        <a:rPr lang="zh-CN" altLang="en-US">
                          <a:solidFill>
                            <a:schemeClr val="bg1"/>
                          </a:solidFill>
                        </a:rPr>
                        <a:t>供应链计划、架构设计、战争指挥</a:t>
                      </a:r>
                      <a:endParaRPr lang="zh-CN" altLang="en-US">
                        <a:solidFill>
                          <a:schemeClr val="bg1"/>
                        </a:solidFill>
                        <a:latin typeface="+mj-ea"/>
                        <a:ea typeface="+mj-ea"/>
                      </a:endParaRPr>
                    </a:p>
                  </a:txBody>
                  <a:tcPr anchor="ctr">
                    <a:noFill/>
                  </a:tcPr>
                </a:tc>
                <a:extLst>
                  <a:ext uri="{0D108BD9-81ED-4DB2-BD59-A6C34878D82A}">
                    <a16:rowId xmlns:a16="http://schemas.microsoft.com/office/drawing/2014/main" val="3901037824"/>
                  </a:ext>
                </a:extLst>
              </a:tr>
              <a:tr h="576038">
                <a:tc>
                  <a:txBody>
                    <a:bodyPr/>
                    <a:lstStyle/>
                    <a:p>
                      <a:r>
                        <a:rPr lang="zh-CN" altLang="en-US" b="1">
                          <a:solidFill>
                            <a:schemeClr val="bg1"/>
                          </a:solidFill>
                        </a:rPr>
                        <a:t>核心挑战</a:t>
                      </a:r>
                      <a:endParaRPr lang="zh-CN" altLang="en-US">
                        <a:solidFill>
                          <a:schemeClr val="bg1"/>
                        </a:solidFill>
                        <a:latin typeface="+mj-ea"/>
                        <a:ea typeface="+mj-ea"/>
                      </a:endParaRPr>
                    </a:p>
                  </a:txBody>
                  <a:tcPr anchor="ctr"/>
                </a:tc>
                <a:tc>
                  <a:txBody>
                    <a:bodyPr/>
                    <a:lstStyle/>
                    <a:p>
                      <a:r>
                        <a:rPr lang="zh-CN" altLang="en-US">
                          <a:solidFill>
                            <a:schemeClr val="bg1"/>
                          </a:solidFill>
                        </a:rPr>
                        <a:t>规模 </a:t>
                      </a:r>
                      <a:r>
                        <a:rPr lang="en-US" altLang="zh-CN">
                          <a:solidFill>
                            <a:schemeClr val="bg1"/>
                          </a:solidFill>
                        </a:rPr>
                        <a:t>(</a:t>
                      </a:r>
                      <a:r>
                        <a:rPr lang="en-US">
                          <a:solidFill>
                            <a:schemeClr val="bg1"/>
                          </a:solidFill>
                        </a:rPr>
                        <a:t>Scale)</a:t>
                      </a:r>
                      <a:endParaRPr lang="en-US">
                        <a:solidFill>
                          <a:schemeClr val="bg1"/>
                        </a:solidFill>
                        <a:latin typeface="+mj-ea"/>
                        <a:ea typeface="+mj-ea"/>
                      </a:endParaRPr>
                    </a:p>
                  </a:txBody>
                  <a:tcPr anchor="ctr">
                    <a:noFill/>
                  </a:tcPr>
                </a:tc>
                <a:tc>
                  <a:txBody>
                    <a:bodyPr/>
                    <a:lstStyle/>
                    <a:p>
                      <a:r>
                        <a:rPr lang="zh-CN" altLang="en-US">
                          <a:solidFill>
                            <a:schemeClr val="bg1"/>
                          </a:solidFill>
                        </a:rPr>
                        <a:t>复杂度 </a:t>
                      </a:r>
                      <a:r>
                        <a:rPr lang="en-US" altLang="zh-CN">
                          <a:solidFill>
                            <a:schemeClr val="bg1"/>
                          </a:solidFill>
                        </a:rPr>
                        <a:t>(</a:t>
                      </a:r>
                      <a:r>
                        <a:rPr lang="en-US">
                          <a:solidFill>
                            <a:schemeClr val="bg1"/>
                          </a:solidFill>
                        </a:rPr>
                        <a:t>Complexity)</a:t>
                      </a:r>
                      <a:endParaRPr lang="en-US">
                        <a:solidFill>
                          <a:schemeClr val="bg1"/>
                        </a:solidFill>
                        <a:latin typeface="+mj-ea"/>
                        <a:ea typeface="+mj-ea"/>
                      </a:endParaRPr>
                    </a:p>
                  </a:txBody>
                  <a:tcPr anchor="ctr">
                    <a:noFill/>
                  </a:tcPr>
                </a:tc>
                <a:extLst>
                  <a:ext uri="{0D108BD9-81ED-4DB2-BD59-A6C34878D82A}">
                    <a16:rowId xmlns:a16="http://schemas.microsoft.com/office/drawing/2014/main" val="1455883002"/>
                  </a:ext>
                </a:extLst>
              </a:tr>
              <a:tr h="576038">
                <a:tc>
                  <a:txBody>
                    <a:bodyPr/>
                    <a:lstStyle/>
                    <a:p>
                      <a:r>
                        <a:rPr lang="zh-CN" altLang="en-US" b="1">
                          <a:solidFill>
                            <a:schemeClr val="bg1"/>
                          </a:solidFill>
                        </a:rPr>
                        <a:t>任务关系</a:t>
                      </a:r>
                      <a:endParaRPr lang="zh-CN" altLang="en-US">
                        <a:solidFill>
                          <a:schemeClr val="bg1"/>
                        </a:solidFill>
                        <a:latin typeface="+mj-ea"/>
                        <a:ea typeface="+mj-ea"/>
                      </a:endParaRPr>
                    </a:p>
                  </a:txBody>
                  <a:tcPr anchor="ctr"/>
                </a:tc>
                <a:tc>
                  <a:txBody>
                    <a:bodyPr/>
                    <a:lstStyle/>
                    <a:p>
                      <a:r>
                        <a:rPr lang="zh-CN" altLang="en-US">
                          <a:solidFill>
                            <a:schemeClr val="bg1"/>
                          </a:solidFill>
                        </a:rPr>
                        <a:t>独立 </a:t>
                      </a:r>
                      <a:r>
                        <a:rPr lang="en-US" altLang="zh-CN">
                          <a:solidFill>
                            <a:schemeClr val="bg1"/>
                          </a:solidFill>
                        </a:rPr>
                        <a:t>(</a:t>
                      </a:r>
                      <a:r>
                        <a:rPr lang="en-US">
                          <a:solidFill>
                            <a:schemeClr val="bg1"/>
                          </a:solidFill>
                        </a:rPr>
                        <a:t>Independent)</a:t>
                      </a:r>
                      <a:endParaRPr lang="en-US">
                        <a:solidFill>
                          <a:schemeClr val="bg1"/>
                        </a:solidFill>
                        <a:latin typeface="+mj-ea"/>
                        <a:ea typeface="+mj-ea"/>
                      </a:endParaRPr>
                    </a:p>
                  </a:txBody>
                  <a:tcPr anchor="ctr">
                    <a:noFill/>
                  </a:tcPr>
                </a:tc>
                <a:tc>
                  <a:txBody>
                    <a:bodyPr/>
                    <a:lstStyle/>
                    <a:p>
                      <a:r>
                        <a:rPr lang="zh-CN" altLang="en-US">
                          <a:solidFill>
                            <a:schemeClr val="bg1"/>
                          </a:solidFill>
                        </a:rPr>
                        <a:t>纠缠 </a:t>
                      </a:r>
                      <a:r>
                        <a:rPr lang="en-US" altLang="zh-CN">
                          <a:solidFill>
                            <a:schemeClr val="bg1"/>
                          </a:solidFill>
                        </a:rPr>
                        <a:t>(</a:t>
                      </a:r>
                      <a:r>
                        <a:rPr lang="en-US">
                          <a:solidFill>
                            <a:schemeClr val="bg1"/>
                          </a:solidFill>
                        </a:rPr>
                        <a:t>Entangled)</a:t>
                      </a:r>
                      <a:endParaRPr lang="en-US">
                        <a:solidFill>
                          <a:schemeClr val="bg1"/>
                        </a:solidFill>
                        <a:latin typeface="+mj-ea"/>
                        <a:ea typeface="+mj-ea"/>
                      </a:endParaRPr>
                    </a:p>
                  </a:txBody>
                  <a:tcPr anchor="ctr">
                    <a:noFill/>
                  </a:tcPr>
                </a:tc>
                <a:extLst>
                  <a:ext uri="{0D108BD9-81ED-4DB2-BD59-A6C34878D82A}">
                    <a16:rowId xmlns:a16="http://schemas.microsoft.com/office/drawing/2014/main" val="1834862840"/>
                  </a:ext>
                </a:extLst>
              </a:tr>
              <a:tr h="576038">
                <a:tc>
                  <a:txBody>
                    <a:bodyPr/>
                    <a:lstStyle/>
                    <a:p>
                      <a:r>
                        <a:rPr lang="zh-CN" altLang="en-US" b="1">
                          <a:solidFill>
                            <a:schemeClr val="bg1"/>
                          </a:solidFill>
                        </a:rPr>
                        <a:t>最佳形态</a:t>
                      </a:r>
                      <a:endParaRPr lang="zh-CN" altLang="en-US">
                        <a:solidFill>
                          <a:schemeClr val="bg1"/>
                        </a:solidFill>
                        <a:latin typeface="+mj-ea"/>
                        <a:ea typeface="+mj-ea"/>
                      </a:endParaRPr>
                    </a:p>
                  </a:txBody>
                  <a:tcPr anchor="ctr"/>
                </a:tc>
                <a:tc>
                  <a:txBody>
                    <a:bodyPr/>
                    <a:lstStyle/>
                    <a:p>
                      <a:r>
                        <a:rPr lang="zh-CN" altLang="en-US" b="1">
                          <a:solidFill>
                            <a:schemeClr val="bg1"/>
                          </a:solidFill>
                        </a:rPr>
                        <a:t>分布式多脑 </a:t>
                      </a:r>
                      <a:r>
                        <a:rPr lang="en-US" altLang="zh-CN" b="1">
                          <a:solidFill>
                            <a:schemeClr val="bg1"/>
                          </a:solidFill>
                        </a:rPr>
                        <a:t>(</a:t>
                      </a:r>
                      <a:r>
                        <a:rPr lang="en-US" b="1">
                          <a:solidFill>
                            <a:schemeClr val="bg1"/>
                          </a:solidFill>
                        </a:rPr>
                        <a:t>Hive Mind)</a:t>
                      </a:r>
                      <a:endParaRPr lang="en-US">
                        <a:solidFill>
                          <a:schemeClr val="bg1"/>
                        </a:solidFill>
                        <a:latin typeface="+mj-ea"/>
                        <a:ea typeface="+mj-ea"/>
                      </a:endParaRPr>
                    </a:p>
                  </a:txBody>
                  <a:tcPr anchor="ctr">
                    <a:noFill/>
                  </a:tcPr>
                </a:tc>
                <a:tc>
                  <a:txBody>
                    <a:bodyPr/>
                    <a:lstStyle/>
                    <a:p>
                      <a:r>
                        <a:rPr lang="zh-CN" altLang="en-US" b="1">
                          <a:solidFill>
                            <a:schemeClr val="bg1"/>
                          </a:solidFill>
                        </a:rPr>
                        <a:t>集中式单脑 </a:t>
                      </a:r>
                      <a:r>
                        <a:rPr lang="en-US" altLang="zh-CN" b="1">
                          <a:solidFill>
                            <a:schemeClr val="bg1"/>
                          </a:solidFill>
                        </a:rPr>
                        <a:t>(</a:t>
                      </a:r>
                      <a:r>
                        <a:rPr lang="en-US" b="1">
                          <a:solidFill>
                            <a:schemeClr val="bg1"/>
                          </a:solidFill>
                        </a:rPr>
                        <a:t>Singularity)</a:t>
                      </a:r>
                      <a:endParaRPr lang="en-US">
                        <a:solidFill>
                          <a:schemeClr val="bg1"/>
                        </a:solidFill>
                        <a:latin typeface="+mj-ea"/>
                        <a:ea typeface="+mj-ea"/>
                      </a:endParaRPr>
                    </a:p>
                  </a:txBody>
                  <a:tcPr anchor="ctr">
                    <a:noFill/>
                  </a:tcPr>
                </a:tc>
                <a:extLst>
                  <a:ext uri="{0D108BD9-81ED-4DB2-BD59-A6C34878D82A}">
                    <a16:rowId xmlns:a16="http://schemas.microsoft.com/office/drawing/2014/main" val="1935303756"/>
                  </a:ext>
                </a:extLst>
              </a:tr>
              <a:tr h="576038">
                <a:tc>
                  <a:txBody>
                    <a:bodyPr/>
                    <a:lstStyle/>
                    <a:p>
                      <a:r>
                        <a:rPr lang="zh-CN" altLang="en-US" b="1" dirty="0">
                          <a:solidFill>
                            <a:schemeClr val="bg1"/>
                          </a:solidFill>
                        </a:rPr>
                        <a:t>失败原因</a:t>
                      </a:r>
                      <a:endParaRPr lang="zh-CN" altLang="en-US" dirty="0">
                        <a:solidFill>
                          <a:schemeClr val="bg1"/>
                        </a:solidFill>
                        <a:latin typeface="+mj-ea"/>
                        <a:ea typeface="+mj-ea"/>
                      </a:endParaRPr>
                    </a:p>
                  </a:txBody>
                  <a:tcPr anchor="ctr"/>
                </a:tc>
                <a:tc>
                  <a:txBody>
                    <a:bodyPr/>
                    <a:lstStyle/>
                    <a:p>
                      <a:r>
                        <a:rPr lang="zh-CN" altLang="en-US">
                          <a:solidFill>
                            <a:schemeClr val="bg1"/>
                          </a:solidFill>
                        </a:rPr>
                        <a:t>单脑处理不仅慢，而且是瓶颈</a:t>
                      </a:r>
                      <a:endParaRPr lang="zh-CN" altLang="en-US">
                        <a:solidFill>
                          <a:schemeClr val="bg1"/>
                        </a:solidFill>
                        <a:latin typeface="+mj-ea"/>
                        <a:ea typeface="+mj-ea"/>
                      </a:endParaRPr>
                    </a:p>
                  </a:txBody>
                  <a:tcPr anchor="ctr">
                    <a:noFill/>
                  </a:tcPr>
                </a:tc>
                <a:tc>
                  <a:txBody>
                    <a:bodyPr/>
                    <a:lstStyle/>
                    <a:p>
                      <a:r>
                        <a:rPr lang="zh-CN" altLang="en-US" dirty="0">
                          <a:solidFill>
                            <a:schemeClr val="bg1"/>
                          </a:solidFill>
                        </a:rPr>
                        <a:t>多脑处理不仅乱，而且是内耗</a:t>
                      </a:r>
                      <a:endParaRPr lang="zh-CN" altLang="en-US" dirty="0">
                        <a:solidFill>
                          <a:schemeClr val="bg1"/>
                        </a:solidFill>
                        <a:latin typeface="+mj-ea"/>
                        <a:ea typeface="+mj-ea"/>
                      </a:endParaRPr>
                    </a:p>
                  </a:txBody>
                  <a:tcPr anchor="ctr">
                    <a:noFill/>
                  </a:tcPr>
                </a:tc>
                <a:extLst>
                  <a:ext uri="{0D108BD9-81ED-4DB2-BD59-A6C34878D82A}">
                    <a16:rowId xmlns:a16="http://schemas.microsoft.com/office/drawing/2014/main" val="2162939113"/>
                  </a:ext>
                </a:extLst>
              </a:tr>
            </a:tbl>
          </a:graphicData>
        </a:graphic>
      </p:graphicFrame>
    </p:spTree>
    <p:extLst>
      <p:ext uri="{BB962C8B-B14F-4D97-AF65-F5344CB8AC3E}">
        <p14:creationId xmlns:p14="http://schemas.microsoft.com/office/powerpoint/2010/main" val="168449914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1687F3F-0D07-0124-5538-639554E502CB}"/>
              </a:ext>
            </a:extLst>
          </p:cNvPr>
          <p:cNvSpPr>
            <a:spLocks noGrp="1"/>
          </p:cNvSpPr>
          <p:nvPr>
            <p:ph type="title"/>
          </p:nvPr>
        </p:nvSpPr>
        <p:spPr/>
        <p:txBody>
          <a:bodyPr/>
          <a:lstStyle/>
          <a:p>
            <a:r>
              <a:rPr lang="zh-CN" altLang="en-US" dirty="0"/>
              <a:t>降维打击 </a:t>
            </a:r>
            <a:r>
              <a:rPr lang="en-US" altLang="zh-CN" dirty="0"/>
              <a:t>– </a:t>
            </a:r>
            <a:r>
              <a:rPr lang="zh-CN" altLang="en-US" dirty="0"/>
              <a:t>从人员管理到系统治理</a:t>
            </a:r>
          </a:p>
        </p:txBody>
      </p:sp>
      <p:sp>
        <p:nvSpPr>
          <p:cNvPr id="3" name="文本框 2">
            <a:extLst>
              <a:ext uri="{FF2B5EF4-FFF2-40B4-BE49-F238E27FC236}">
                <a16:creationId xmlns:a16="http://schemas.microsoft.com/office/drawing/2014/main" id="{6AA600F4-9320-E943-3972-4B7C2DDAF180}"/>
              </a:ext>
            </a:extLst>
          </p:cNvPr>
          <p:cNvSpPr txBox="1"/>
          <p:nvPr/>
        </p:nvSpPr>
        <p:spPr>
          <a:xfrm>
            <a:off x="2183858" y="764558"/>
            <a:ext cx="7490298" cy="338554"/>
          </a:xfrm>
          <a:prstGeom prst="rect">
            <a:avLst/>
          </a:prstGeom>
          <a:noFill/>
        </p:spPr>
        <p:txBody>
          <a:bodyPr wrap="square" rtlCol="0">
            <a:spAutoFit/>
          </a:bodyPr>
          <a:lstStyle/>
          <a:p>
            <a:r>
              <a:rPr lang="zh-CN" altLang="en-US" sz="1600" b="1" dirty="0">
                <a:solidFill>
                  <a:schemeClr val="bg1"/>
                </a:solidFill>
                <a:latin typeface="+mj-ea"/>
                <a:ea typeface="+mj-ea"/>
              </a:rPr>
              <a:t>以算法立法，以模型确权：从‘人治熵增’到‘系统治理’的本体论跃迁</a:t>
            </a:r>
          </a:p>
        </p:txBody>
      </p:sp>
      <p:grpSp>
        <p:nvGrpSpPr>
          <p:cNvPr id="24" name="组合 23">
            <a:extLst>
              <a:ext uri="{FF2B5EF4-FFF2-40B4-BE49-F238E27FC236}">
                <a16:creationId xmlns:a16="http://schemas.microsoft.com/office/drawing/2014/main" id="{09C3AD59-CC4B-5F77-96F7-513530C3DB43}"/>
              </a:ext>
            </a:extLst>
          </p:cNvPr>
          <p:cNvGrpSpPr/>
          <p:nvPr/>
        </p:nvGrpSpPr>
        <p:grpSpPr>
          <a:xfrm>
            <a:off x="635979" y="1274690"/>
            <a:ext cx="4309882" cy="4472298"/>
            <a:chOff x="517703" y="796975"/>
            <a:chExt cx="4309882" cy="4472298"/>
          </a:xfrm>
        </p:grpSpPr>
        <p:sp>
          <p:nvSpPr>
            <p:cNvPr id="4" name="文本框 3">
              <a:extLst>
                <a:ext uri="{FF2B5EF4-FFF2-40B4-BE49-F238E27FC236}">
                  <a16:creationId xmlns:a16="http://schemas.microsoft.com/office/drawing/2014/main" id="{F25B4966-F97B-C325-969F-41818722E36F}"/>
                </a:ext>
              </a:extLst>
            </p:cNvPr>
            <p:cNvSpPr txBox="1"/>
            <p:nvPr/>
          </p:nvSpPr>
          <p:spPr>
            <a:xfrm>
              <a:off x="517703" y="796975"/>
              <a:ext cx="3964021" cy="646331"/>
            </a:xfrm>
            <a:prstGeom prst="rect">
              <a:avLst/>
            </a:prstGeom>
            <a:noFill/>
          </p:spPr>
          <p:txBody>
            <a:bodyPr wrap="square" rtlCol="0">
              <a:spAutoFit/>
            </a:bodyPr>
            <a:lstStyle/>
            <a:p>
              <a:r>
                <a:rPr lang="zh-CN" altLang="en-US" b="1" dirty="0">
                  <a:solidFill>
                    <a:schemeClr val="bg1"/>
                  </a:solidFill>
                  <a:latin typeface="+mj-ea"/>
                  <a:ea typeface="+mj-ea"/>
                </a:rPr>
                <a:t>低维度的</a:t>
              </a:r>
              <a:endParaRPr lang="en-US" altLang="zh-CN" b="1" dirty="0">
                <a:solidFill>
                  <a:schemeClr val="bg1"/>
                </a:solidFill>
                <a:latin typeface="+mj-ea"/>
                <a:ea typeface="+mj-ea"/>
              </a:endParaRPr>
            </a:p>
            <a:p>
              <a:r>
                <a:rPr lang="zh-CN" altLang="en-US" b="1" dirty="0">
                  <a:solidFill>
                    <a:schemeClr val="bg1">
                      <a:lumMod val="50000"/>
                    </a:schemeClr>
                  </a:solidFill>
                  <a:latin typeface="+mj-ea"/>
                  <a:ea typeface="+mj-ea"/>
                </a:rPr>
                <a:t>熵增困境</a:t>
              </a:r>
              <a:endParaRPr lang="en-US" altLang="zh-CN" dirty="0">
                <a:solidFill>
                  <a:schemeClr val="bg1"/>
                </a:solidFill>
                <a:latin typeface="+mj-ea"/>
                <a:ea typeface="+mj-ea"/>
              </a:endParaRPr>
            </a:p>
          </p:txBody>
        </p:sp>
        <p:grpSp>
          <p:nvGrpSpPr>
            <p:cNvPr id="11" name="组合 10">
              <a:extLst>
                <a:ext uri="{FF2B5EF4-FFF2-40B4-BE49-F238E27FC236}">
                  <a16:creationId xmlns:a16="http://schemas.microsoft.com/office/drawing/2014/main" id="{C69015B8-C1D5-CCC1-0D05-6459C501F68E}"/>
                </a:ext>
              </a:extLst>
            </p:cNvPr>
            <p:cNvGrpSpPr>
              <a:grpSpLocks noChangeAspect="1"/>
            </p:cNvGrpSpPr>
            <p:nvPr>
              <p:custDataLst>
                <p:tags r:id="rId6"/>
              </p:custDataLst>
            </p:nvPr>
          </p:nvGrpSpPr>
          <p:grpSpPr>
            <a:xfrm>
              <a:off x="650925" y="2231927"/>
              <a:ext cx="4176660" cy="3037346"/>
              <a:chOff x="1621313" y="139710"/>
              <a:chExt cx="4176660" cy="5210193"/>
            </a:xfrm>
          </p:grpSpPr>
          <p:grpSp>
            <p:nvGrpSpPr>
              <p:cNvPr id="12" name="组合 11">
                <a:extLst>
                  <a:ext uri="{FF2B5EF4-FFF2-40B4-BE49-F238E27FC236}">
                    <a16:creationId xmlns:a16="http://schemas.microsoft.com/office/drawing/2014/main" id="{3D564FCA-3031-6014-1E13-6080C657022C}"/>
                  </a:ext>
                </a:extLst>
              </p:cNvPr>
              <p:cNvGrpSpPr/>
              <p:nvPr/>
            </p:nvGrpSpPr>
            <p:grpSpPr>
              <a:xfrm>
                <a:off x="1626135" y="139710"/>
                <a:ext cx="4151337" cy="1428973"/>
                <a:chOff x="1626135" y="139710"/>
                <a:chExt cx="4151337" cy="1428973"/>
              </a:xfrm>
            </p:grpSpPr>
            <p:sp>
              <p:nvSpPr>
                <p:cNvPr id="22" name="Body-1">
                  <a:extLst>
                    <a:ext uri="{FF2B5EF4-FFF2-40B4-BE49-F238E27FC236}">
                      <a16:creationId xmlns:a16="http://schemas.microsoft.com/office/drawing/2014/main" id="{8F65F708-F709-94C7-8745-90196B884B12}"/>
                    </a:ext>
                  </a:extLst>
                </p:cNvPr>
                <p:cNvSpPr>
                  <a:spLocks/>
                </p:cNvSpPr>
                <p:nvPr>
                  <p:custDataLst>
                    <p:tags r:id="rId11"/>
                  </p:custDataLst>
                </p:nvPr>
              </p:nvSpPr>
              <p:spPr>
                <a:xfrm>
                  <a:off x="1932887" y="139710"/>
                  <a:ext cx="3844585" cy="8621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20000"/>
                    </a:lnSpc>
                    <a:buSzPct val="100000"/>
                    <a:defRPr/>
                  </a:pPr>
                  <a:r>
                    <a:rPr lang="zh-CN" altLang="en-US" sz="1400" b="1" dirty="0">
                      <a:solidFill>
                        <a:srgbClr val="FF0000"/>
                      </a:solidFill>
                      <a:latin typeface="+mj-ea"/>
                      <a:ea typeface="+mj-ea"/>
                    </a:rPr>
                    <a:t>伪勤奋的陷阱</a:t>
                  </a:r>
                  <a:endParaRPr lang="en-US" altLang="zh-CN" sz="1400" b="1" dirty="0">
                    <a:solidFill>
                      <a:srgbClr val="FF0000"/>
                    </a:solidFill>
                    <a:latin typeface="+mj-ea"/>
                    <a:ea typeface="+mj-ea"/>
                  </a:endParaRPr>
                </a:p>
                <a:p>
                  <a:pPr marL="0" marR="0" lvl="0" indent="0" algn="l" defTabSz="913765" rtl="0" eaLnBrk="1" fontAlgn="auto" latinLnBrk="0" hangingPunct="1">
                    <a:lnSpc>
                      <a:spcPct val="120000"/>
                    </a:lnSpc>
                    <a:spcBef>
                      <a:spcPts val="0"/>
                    </a:spcBef>
                    <a:spcAft>
                      <a:spcPts val="0"/>
                    </a:spcAft>
                    <a:buClrTx/>
                    <a:buSzPct val="100000"/>
                    <a:buFontTx/>
                    <a:buNone/>
                    <a:tabLst/>
                    <a:defRPr/>
                  </a:pPr>
                  <a:r>
                    <a:rPr kumimoji="0" lang="zh-CN" altLang="en-US" sz="1200" b="0" i="0" u="none" strike="noStrike" kern="1200" cap="none" spc="0" normalizeH="0" baseline="0" noProof="0" dirty="0">
                      <a:ln>
                        <a:noFill/>
                      </a:ln>
                      <a:solidFill>
                        <a:schemeClr val="bg1"/>
                      </a:solidFill>
                      <a:effectLst/>
                      <a:uLnTx/>
                      <a:uFillTx/>
                      <a:latin typeface="+mj-ea"/>
                      <a:ea typeface="+mj-ea"/>
                      <a:cs typeface="+mn-cs"/>
                    </a:rPr>
                    <a:t>用战术上的“布朗运动”（</a:t>
                  </a:r>
                  <a:r>
                    <a:rPr kumimoji="0" lang="en-US" altLang="zh-CN" sz="1200" b="0" i="0" u="none" strike="noStrike" kern="1200" cap="none" spc="0" normalizeH="0" baseline="0" noProof="0" dirty="0">
                      <a:ln>
                        <a:noFill/>
                      </a:ln>
                      <a:solidFill>
                        <a:schemeClr val="bg1"/>
                      </a:solidFill>
                      <a:effectLst/>
                      <a:uLnTx/>
                      <a:uFillTx/>
                      <a:latin typeface="+mj-ea"/>
                      <a:ea typeface="+mj-ea"/>
                      <a:cs typeface="+mn-cs"/>
                    </a:rPr>
                    <a:t>Excel/</a:t>
                  </a:r>
                  <a:r>
                    <a:rPr kumimoji="0" lang="zh-CN" altLang="en-US" sz="1200" b="0" i="0" u="none" strike="noStrike" kern="1200" cap="none" spc="0" normalizeH="0" baseline="0" noProof="0" dirty="0">
                      <a:ln>
                        <a:noFill/>
                      </a:ln>
                      <a:solidFill>
                        <a:schemeClr val="bg1"/>
                      </a:solidFill>
                      <a:effectLst/>
                      <a:uLnTx/>
                      <a:uFillTx/>
                      <a:latin typeface="+mj-ea"/>
                      <a:ea typeface="+mj-ea"/>
                      <a:cs typeface="+mn-cs"/>
                    </a:rPr>
                    <a:t>会议），掩盖战略上的“决策失能”。</a:t>
                  </a:r>
                  <a:endParaRPr kumimoji="0" lang="en-GB" altLang="zh-CN" sz="1200" b="0" i="0" u="none" strike="noStrike" kern="1200" cap="none" spc="0" normalizeH="0" baseline="0" noProof="0" dirty="0">
                    <a:ln>
                      <a:noFill/>
                    </a:ln>
                    <a:solidFill>
                      <a:schemeClr val="bg1"/>
                    </a:solidFill>
                    <a:effectLst/>
                    <a:uLnTx/>
                    <a:uFillTx/>
                    <a:latin typeface="+mj-ea"/>
                    <a:ea typeface="+mj-ea"/>
                    <a:cs typeface="+mn-cs"/>
                  </a:endParaRPr>
                </a:p>
              </p:txBody>
            </p:sp>
            <p:cxnSp>
              <p:nvCxnSpPr>
                <p:cNvPr id="23" name="1">
                  <a:extLst>
                    <a:ext uri="{FF2B5EF4-FFF2-40B4-BE49-F238E27FC236}">
                      <a16:creationId xmlns:a16="http://schemas.microsoft.com/office/drawing/2014/main" id="{2485BEB8-D45F-B6BB-4595-E7D5CBE244C1}"/>
                    </a:ext>
                  </a:extLst>
                </p:cNvPr>
                <p:cNvCxnSpPr>
                  <a:cxnSpLocks/>
                </p:cNvCxnSpPr>
                <p:nvPr>
                  <p:custDataLst>
                    <p:tags r:id="rId12"/>
                  </p:custDataLst>
                </p:nvPr>
              </p:nvCxnSpPr>
              <p:spPr>
                <a:xfrm rot="5400000">
                  <a:off x="997205" y="939754"/>
                  <a:ext cx="1257859"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13" name="组合 12">
                <a:extLst>
                  <a:ext uri="{FF2B5EF4-FFF2-40B4-BE49-F238E27FC236}">
                    <a16:creationId xmlns:a16="http://schemas.microsoft.com/office/drawing/2014/main" id="{E8780F26-ECE6-55C1-70D0-0333FFDA390D}"/>
                  </a:ext>
                </a:extLst>
              </p:cNvPr>
              <p:cNvGrpSpPr>
                <a:grpSpLocks/>
              </p:cNvGrpSpPr>
              <p:nvPr/>
            </p:nvGrpSpPr>
            <p:grpSpPr>
              <a:xfrm>
                <a:off x="1623054" y="3960434"/>
                <a:ext cx="4164671" cy="1389469"/>
                <a:chOff x="1592277" y="2053150"/>
                <a:chExt cx="4196666" cy="1394613"/>
              </a:xfrm>
            </p:grpSpPr>
            <p:sp>
              <p:nvSpPr>
                <p:cNvPr id="19" name="Body-3">
                  <a:extLst>
                    <a:ext uri="{FF2B5EF4-FFF2-40B4-BE49-F238E27FC236}">
                      <a16:creationId xmlns:a16="http://schemas.microsoft.com/office/drawing/2014/main" id="{F6483C08-519D-4480-5A80-73CFF6111C81}"/>
                    </a:ext>
                  </a:extLst>
                </p:cNvPr>
                <p:cNvSpPr>
                  <a:spLocks/>
                </p:cNvSpPr>
                <p:nvPr>
                  <p:custDataLst>
                    <p:tags r:id="rId9"/>
                  </p:custDataLst>
                </p:nvPr>
              </p:nvSpPr>
              <p:spPr>
                <a:xfrm>
                  <a:off x="1944358" y="2053150"/>
                  <a:ext cx="3844585" cy="8621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20000"/>
                    </a:lnSpc>
                    <a:buSzPct val="100000"/>
                    <a:defRPr/>
                  </a:pPr>
                  <a:r>
                    <a:rPr lang="zh-CN" altLang="en-US" sz="1400" b="1" dirty="0">
                      <a:solidFill>
                        <a:srgbClr val="FF0000"/>
                      </a:solidFill>
                      <a:latin typeface="+mj-ea"/>
                      <a:ea typeface="+mj-ea"/>
                    </a:rPr>
                    <a:t>数据</a:t>
                  </a:r>
                  <a:r>
                    <a:rPr kumimoji="0" lang="zh-CN" altLang="en-US" sz="1400" b="1" i="0" u="none" strike="noStrike" kern="1200" cap="none" spc="0" normalizeH="0" baseline="0" noProof="0" dirty="0">
                      <a:ln>
                        <a:noFill/>
                      </a:ln>
                      <a:solidFill>
                        <a:srgbClr val="FF0000"/>
                      </a:solidFill>
                      <a:effectLst/>
                      <a:uLnTx/>
                      <a:uFillTx/>
                      <a:latin typeface="+mj-ea"/>
                      <a:ea typeface="+mj-ea"/>
                      <a:cs typeface="+mn-cs"/>
                    </a:rPr>
                    <a:t>的掩耳盗铃</a:t>
                  </a:r>
                  <a:endParaRPr kumimoji="0" lang="en-US" altLang="zh-CN" sz="1400" b="0" i="0" u="none" strike="noStrike" kern="1200" cap="none" spc="0" normalizeH="0" baseline="0" noProof="0" dirty="0">
                    <a:ln>
                      <a:noFill/>
                    </a:ln>
                    <a:solidFill>
                      <a:schemeClr val="bg1"/>
                    </a:solidFill>
                    <a:effectLst/>
                    <a:uLnTx/>
                    <a:uFillTx/>
                    <a:latin typeface="+mj-ea"/>
                    <a:ea typeface="+mj-ea"/>
                    <a:cs typeface="+mn-cs"/>
                  </a:endParaRPr>
                </a:p>
                <a:p>
                  <a:pPr marL="0" marR="0" lvl="0" indent="0" algn="l" defTabSz="913765" rtl="0" eaLnBrk="1" fontAlgn="auto" latinLnBrk="0" hangingPunct="1">
                    <a:lnSpc>
                      <a:spcPct val="120000"/>
                    </a:lnSpc>
                    <a:spcBef>
                      <a:spcPts val="0"/>
                    </a:spcBef>
                    <a:spcAft>
                      <a:spcPts val="0"/>
                    </a:spcAft>
                    <a:buClrTx/>
                    <a:buSzPct val="100000"/>
                    <a:buFontTx/>
                    <a:buNone/>
                    <a:tabLst/>
                    <a:defRPr/>
                  </a:pPr>
                  <a:r>
                    <a:rPr kumimoji="0" lang="zh-CN" altLang="en-US" sz="1200" b="0" i="0" u="none" strike="noStrike" kern="1200" cap="none" spc="0" normalizeH="0" baseline="0" noProof="0" dirty="0">
                      <a:ln>
                        <a:noFill/>
                      </a:ln>
                      <a:solidFill>
                        <a:schemeClr val="bg1"/>
                      </a:solidFill>
                      <a:effectLst/>
                      <a:uLnTx/>
                      <a:uFillTx/>
                      <a:latin typeface="+mj-ea"/>
                      <a:ea typeface="+mj-ea"/>
                      <a:cs typeface="+mn-cs"/>
                    </a:rPr>
                    <a:t>拒绝全链路可视，本质是逃避真实绩效的“终极审判”。</a:t>
                  </a:r>
                  <a:endParaRPr kumimoji="0" lang="en-GB" altLang="zh-CN" sz="1200" b="0" i="0" u="none" strike="noStrike" kern="1200" cap="none" spc="0" normalizeH="0" baseline="0" noProof="0" dirty="0">
                    <a:ln>
                      <a:noFill/>
                    </a:ln>
                    <a:solidFill>
                      <a:schemeClr val="bg1"/>
                    </a:solidFill>
                    <a:effectLst/>
                    <a:uLnTx/>
                    <a:uFillTx/>
                    <a:latin typeface="+mj-ea"/>
                    <a:ea typeface="+mj-ea"/>
                    <a:cs typeface="+mn-cs"/>
                  </a:endParaRPr>
                </a:p>
              </p:txBody>
            </p:sp>
            <p:cxnSp>
              <p:nvCxnSpPr>
                <p:cNvPr id="20" name="3">
                  <a:extLst>
                    <a:ext uri="{FF2B5EF4-FFF2-40B4-BE49-F238E27FC236}">
                      <a16:creationId xmlns:a16="http://schemas.microsoft.com/office/drawing/2014/main" id="{CA127A76-CC73-0314-7C32-BF87E709E5CD}"/>
                    </a:ext>
                  </a:extLst>
                </p:cNvPr>
                <p:cNvCxnSpPr>
                  <a:cxnSpLocks/>
                </p:cNvCxnSpPr>
                <p:nvPr>
                  <p:custDataLst>
                    <p:tags r:id="rId10"/>
                  </p:custDataLst>
                </p:nvPr>
              </p:nvCxnSpPr>
              <p:spPr>
                <a:xfrm rot="5400000" flipV="1">
                  <a:off x="971279" y="2812203"/>
                  <a:ext cx="1256558" cy="14561"/>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14" name="组合 13">
                <a:extLst>
                  <a:ext uri="{FF2B5EF4-FFF2-40B4-BE49-F238E27FC236}">
                    <a16:creationId xmlns:a16="http://schemas.microsoft.com/office/drawing/2014/main" id="{7EC8B774-59A0-C5FA-5C91-BF946588A674}"/>
                  </a:ext>
                </a:extLst>
              </p:cNvPr>
              <p:cNvGrpSpPr>
                <a:grpSpLocks/>
              </p:cNvGrpSpPr>
              <p:nvPr/>
            </p:nvGrpSpPr>
            <p:grpSpPr>
              <a:xfrm>
                <a:off x="1621313" y="2008299"/>
                <a:ext cx="4176660" cy="1442359"/>
                <a:chOff x="6854758" y="88181"/>
                <a:chExt cx="4154506" cy="1467102"/>
              </a:xfrm>
            </p:grpSpPr>
            <p:sp>
              <p:nvSpPr>
                <p:cNvPr id="16" name="Body-2">
                  <a:extLst>
                    <a:ext uri="{FF2B5EF4-FFF2-40B4-BE49-F238E27FC236}">
                      <a16:creationId xmlns:a16="http://schemas.microsoft.com/office/drawing/2014/main" id="{76F46338-473F-ADB2-9B77-3D2ECBA3B367}"/>
                    </a:ext>
                  </a:extLst>
                </p:cNvPr>
                <p:cNvSpPr>
                  <a:spLocks/>
                </p:cNvSpPr>
                <p:nvPr>
                  <p:custDataLst>
                    <p:tags r:id="rId7"/>
                  </p:custDataLst>
                </p:nvPr>
              </p:nvSpPr>
              <p:spPr>
                <a:xfrm>
                  <a:off x="7164679" y="88181"/>
                  <a:ext cx="3844585" cy="8621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3765" rtl="0" eaLnBrk="1" fontAlgn="auto" latinLnBrk="0" hangingPunct="1">
                    <a:lnSpc>
                      <a:spcPct val="120000"/>
                    </a:lnSpc>
                    <a:spcBef>
                      <a:spcPts val="0"/>
                    </a:spcBef>
                    <a:spcAft>
                      <a:spcPts val="0"/>
                    </a:spcAft>
                    <a:buClrTx/>
                    <a:buSzPct val="100000"/>
                    <a:buFontTx/>
                    <a:buNone/>
                    <a:tabLst/>
                    <a:defRPr/>
                  </a:pPr>
                  <a:r>
                    <a:rPr kumimoji="0" lang="zh-CN" altLang="en-US" sz="1400" b="1" i="0" u="none" strike="noStrike" kern="1200" cap="none" spc="0" normalizeH="0" baseline="0" noProof="0" dirty="0">
                      <a:ln>
                        <a:noFill/>
                      </a:ln>
                      <a:solidFill>
                        <a:srgbClr val="FF0000"/>
                      </a:solidFill>
                      <a:effectLst/>
                      <a:uLnTx/>
                      <a:uFillTx/>
                      <a:latin typeface="+mj-ea"/>
                      <a:ea typeface="+mj-ea"/>
                      <a:cs typeface="+mn-cs"/>
                    </a:rPr>
                    <a:t>灰度的护城河</a:t>
                  </a:r>
                  <a:endParaRPr kumimoji="0" lang="en-US" altLang="zh-CN" sz="1400" b="1" i="0" u="none" strike="noStrike" kern="1200" cap="none" spc="0" normalizeH="0" baseline="0" noProof="0" dirty="0">
                    <a:ln>
                      <a:noFill/>
                    </a:ln>
                    <a:solidFill>
                      <a:srgbClr val="FF0000"/>
                    </a:solidFill>
                    <a:effectLst/>
                    <a:uLnTx/>
                    <a:uFillTx/>
                    <a:latin typeface="+mj-ea"/>
                    <a:ea typeface="+mj-ea"/>
                    <a:cs typeface="+mn-cs"/>
                  </a:endParaRPr>
                </a:p>
                <a:p>
                  <a:pPr marL="0" marR="0" lvl="0" indent="0" algn="l" defTabSz="913765" rtl="0" eaLnBrk="1" fontAlgn="auto" latinLnBrk="0" hangingPunct="1">
                    <a:lnSpc>
                      <a:spcPct val="120000"/>
                    </a:lnSpc>
                    <a:spcBef>
                      <a:spcPts val="0"/>
                    </a:spcBef>
                    <a:spcAft>
                      <a:spcPts val="0"/>
                    </a:spcAft>
                    <a:buClrTx/>
                    <a:buSzPct val="100000"/>
                    <a:buFontTx/>
                    <a:buNone/>
                    <a:tabLst/>
                    <a:defRPr/>
                  </a:pPr>
                  <a:r>
                    <a:rPr kumimoji="0" lang="zh-CN" altLang="en-US" sz="1200" b="0" i="0" u="none" strike="noStrike" kern="1200" cap="none" spc="0" normalizeH="0" baseline="0" noProof="0" dirty="0">
                      <a:ln>
                        <a:noFill/>
                      </a:ln>
                      <a:solidFill>
                        <a:schemeClr val="bg1"/>
                      </a:solidFill>
                      <a:effectLst/>
                      <a:uLnTx/>
                      <a:uFillTx/>
                      <a:latin typeface="+mj-ea"/>
                      <a:ea typeface="+mj-ea"/>
                      <a:cs typeface="+mn-cs"/>
                    </a:rPr>
                    <a:t>恐惧算法的“绝对透明”，死守基于信息不对称的“寻租空间”。</a:t>
                  </a:r>
                  <a:endParaRPr kumimoji="0" lang="en-GB" altLang="zh-CN" sz="1200" b="0" i="0" u="none" strike="noStrike" kern="1200" cap="none" spc="0" normalizeH="0" baseline="0" noProof="0" dirty="0">
                    <a:ln>
                      <a:noFill/>
                    </a:ln>
                    <a:solidFill>
                      <a:schemeClr val="bg1"/>
                    </a:solidFill>
                    <a:effectLst/>
                    <a:uLnTx/>
                    <a:uFillTx/>
                    <a:latin typeface="+mj-ea"/>
                    <a:ea typeface="+mj-ea"/>
                    <a:cs typeface="+mn-cs"/>
                  </a:endParaRPr>
                </a:p>
              </p:txBody>
            </p:sp>
            <p:cxnSp>
              <p:nvCxnSpPr>
                <p:cNvPr id="17" name="2">
                  <a:extLst>
                    <a:ext uri="{FF2B5EF4-FFF2-40B4-BE49-F238E27FC236}">
                      <a16:creationId xmlns:a16="http://schemas.microsoft.com/office/drawing/2014/main" id="{7C71962A-BB5F-AEAC-0AC6-8B7A4D4485B5}"/>
                    </a:ext>
                  </a:extLst>
                </p:cNvPr>
                <p:cNvCxnSpPr>
                  <a:cxnSpLocks/>
                </p:cNvCxnSpPr>
                <p:nvPr>
                  <p:custDataLst>
                    <p:tags r:id="rId8"/>
                  </p:custDataLst>
                </p:nvPr>
              </p:nvCxnSpPr>
              <p:spPr>
                <a:xfrm rot="5400000">
                  <a:off x="6225829" y="926354"/>
                  <a:ext cx="1257858"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grpSp>
      <p:sp>
        <p:nvSpPr>
          <p:cNvPr id="25" name="文本框 24">
            <a:extLst>
              <a:ext uri="{FF2B5EF4-FFF2-40B4-BE49-F238E27FC236}">
                <a16:creationId xmlns:a16="http://schemas.microsoft.com/office/drawing/2014/main" id="{FEF564F5-37F2-3E3D-00B0-DED7F3F41BA2}"/>
              </a:ext>
            </a:extLst>
          </p:cNvPr>
          <p:cNvSpPr txBox="1"/>
          <p:nvPr/>
        </p:nvSpPr>
        <p:spPr>
          <a:xfrm>
            <a:off x="7267815" y="1225983"/>
            <a:ext cx="3964021" cy="646331"/>
          </a:xfrm>
          <a:prstGeom prst="rect">
            <a:avLst/>
          </a:prstGeom>
          <a:noFill/>
        </p:spPr>
        <p:txBody>
          <a:bodyPr wrap="square" rtlCol="0">
            <a:spAutoFit/>
          </a:bodyPr>
          <a:lstStyle/>
          <a:p>
            <a:r>
              <a:rPr lang="zh-CN" altLang="en-US" b="1" dirty="0">
                <a:solidFill>
                  <a:schemeClr val="bg1"/>
                </a:solidFill>
                <a:latin typeface="+mj-ea"/>
                <a:ea typeface="+mj-ea"/>
              </a:rPr>
              <a:t>高维度的</a:t>
            </a:r>
            <a:endParaRPr lang="en-US" altLang="zh-CN" b="1" dirty="0">
              <a:solidFill>
                <a:schemeClr val="bg1"/>
              </a:solidFill>
              <a:latin typeface="+mj-ea"/>
              <a:ea typeface="+mj-ea"/>
            </a:endParaRPr>
          </a:p>
          <a:p>
            <a:r>
              <a:rPr lang="zh-CN" altLang="en-US" b="1" dirty="0">
                <a:solidFill>
                  <a:srgbClr val="00B050"/>
                </a:solidFill>
                <a:latin typeface="+mj-ea"/>
                <a:ea typeface="+mj-ea"/>
              </a:rPr>
              <a:t>秩序重构</a:t>
            </a:r>
            <a:endParaRPr lang="en-US" altLang="zh-CN" dirty="0">
              <a:solidFill>
                <a:srgbClr val="00B050"/>
              </a:solidFill>
              <a:latin typeface="+mj-ea"/>
              <a:ea typeface="+mj-ea"/>
            </a:endParaRPr>
          </a:p>
        </p:txBody>
      </p:sp>
      <p:grpSp>
        <p:nvGrpSpPr>
          <p:cNvPr id="26" name="组合 25">
            <a:extLst>
              <a:ext uri="{FF2B5EF4-FFF2-40B4-BE49-F238E27FC236}">
                <a16:creationId xmlns:a16="http://schemas.microsoft.com/office/drawing/2014/main" id="{DEE9A143-A619-C8E6-747B-750E0DEEDF3E}"/>
              </a:ext>
            </a:extLst>
          </p:cNvPr>
          <p:cNvGrpSpPr>
            <a:grpSpLocks noChangeAspect="1"/>
          </p:cNvGrpSpPr>
          <p:nvPr>
            <p:custDataLst>
              <p:tags r:id="rId1"/>
            </p:custDataLst>
          </p:nvPr>
        </p:nvGrpSpPr>
        <p:grpSpPr>
          <a:xfrm>
            <a:off x="7436408" y="2268721"/>
            <a:ext cx="4316522" cy="3934855"/>
            <a:chOff x="1167582" y="2817000"/>
            <a:chExt cx="4872080" cy="2616653"/>
          </a:xfrm>
        </p:grpSpPr>
        <p:grpSp>
          <p:nvGrpSpPr>
            <p:cNvPr id="27" name="组合 26">
              <a:extLst>
                <a:ext uri="{FF2B5EF4-FFF2-40B4-BE49-F238E27FC236}">
                  <a16:creationId xmlns:a16="http://schemas.microsoft.com/office/drawing/2014/main" id="{75398736-6EB7-78E7-5D36-ED8D035D9DE6}"/>
                </a:ext>
              </a:extLst>
            </p:cNvPr>
            <p:cNvGrpSpPr/>
            <p:nvPr/>
          </p:nvGrpSpPr>
          <p:grpSpPr>
            <a:xfrm>
              <a:off x="1167582" y="2817000"/>
              <a:ext cx="4872080" cy="1224000"/>
              <a:chOff x="903187" y="1251241"/>
              <a:chExt cx="4872080" cy="1224000"/>
            </a:xfrm>
          </p:grpSpPr>
          <p:sp>
            <p:nvSpPr>
              <p:cNvPr id="34" name="1">
                <a:extLst>
                  <a:ext uri="{FF2B5EF4-FFF2-40B4-BE49-F238E27FC236}">
                    <a16:creationId xmlns:a16="http://schemas.microsoft.com/office/drawing/2014/main" id="{A5DA385E-3DF2-5905-4626-10E4326CB3EB}"/>
                  </a:ext>
                </a:extLst>
              </p:cNvPr>
              <p:cNvSpPr/>
              <p:nvPr/>
            </p:nvSpPr>
            <p:spPr>
              <a:xfrm>
                <a:off x="908629" y="1251241"/>
                <a:ext cx="4866638" cy="1224000"/>
              </a:xfrm>
              <a:prstGeom prst="roundRect">
                <a:avLst>
                  <a:gd name="adj" fmla="val 91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242640" tIns="45720" rIns="174240" bIns="45720" rtlCol="0" anchor="ctr"/>
              <a:lstStyle/>
              <a:p>
                <a:pPr>
                  <a:lnSpc>
                    <a:spcPct val="130000"/>
                  </a:lnSpc>
                </a:pPr>
                <a:endParaRPr kumimoji="1" lang="en-US" altLang="zh-CN" sz="1000" dirty="0">
                  <a:solidFill>
                    <a:schemeClr val="bg1"/>
                  </a:solidFill>
                  <a:cs typeface="+mn-ea"/>
                  <a:sym typeface="+mn-lt"/>
                </a:endParaRPr>
              </a:p>
            </p:txBody>
          </p:sp>
          <p:sp>
            <p:nvSpPr>
              <p:cNvPr id="36" name="Title-1">
                <a:extLst>
                  <a:ext uri="{FF2B5EF4-FFF2-40B4-BE49-F238E27FC236}">
                    <a16:creationId xmlns:a16="http://schemas.microsoft.com/office/drawing/2014/main" id="{3B96262C-2B78-ECB5-68D3-1B9656B6AB73}"/>
                  </a:ext>
                </a:extLst>
              </p:cNvPr>
              <p:cNvSpPr txBox="1"/>
              <p:nvPr>
                <p:custDataLst>
                  <p:tags r:id="rId4"/>
                </p:custDataLst>
              </p:nvPr>
            </p:nvSpPr>
            <p:spPr>
              <a:xfrm>
                <a:off x="908629" y="1276545"/>
                <a:ext cx="3161797" cy="263420"/>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400" b="1" i="0" u="none" strike="noStrike" kern="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总设计师（逻辑即法律）： </a:t>
                </a:r>
              </a:p>
            </p:txBody>
          </p:sp>
          <p:sp>
            <p:nvSpPr>
              <p:cNvPr id="37" name="Body-1">
                <a:extLst>
                  <a:ext uri="{FF2B5EF4-FFF2-40B4-BE49-F238E27FC236}">
                    <a16:creationId xmlns:a16="http://schemas.microsoft.com/office/drawing/2014/main" id="{A1055527-E3DC-BA14-EC40-4080390945A5}"/>
                  </a:ext>
                </a:extLst>
              </p:cNvPr>
              <p:cNvSpPr/>
              <p:nvPr>
                <p:custDataLst>
                  <p:tags r:id="rId5"/>
                </p:custDataLst>
              </p:nvPr>
            </p:nvSpPr>
            <p:spPr>
              <a:xfrm>
                <a:off x="903187" y="1539965"/>
                <a:ext cx="4825004" cy="698404"/>
              </a:xfrm>
              <a:prstGeom prst="rect">
                <a:avLst/>
              </a:prstGeom>
              <a:noFill/>
              <a:ln w="12700" cap="flat" cmpd="sng" algn="ctr">
                <a:noFill/>
                <a:prstDash val="solid"/>
                <a:miter lim="800000"/>
              </a:ln>
              <a:effectLst/>
            </p:spPr>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71450"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算法立法：将商业智慧固化为不可贿赂的代码，终结人情的低维博弈。</a:t>
                </a:r>
              </a:p>
              <a:p>
                <a:pPr marL="171450"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模型确权：以数据模型定义资源归属，将“人治”的随意性收敛为“法治”的确定性 。</a:t>
                </a:r>
              </a:p>
              <a:p>
                <a:pPr marL="171450"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三位一体：业务解构 </a:t>
                </a:r>
                <a:r>
                  <a:rPr kumimoji="0" lang="en-US" altLang="zh-CN" sz="105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 </a:t>
                </a:r>
                <a:r>
                  <a:rPr kumimoji="0" lang="zh-CN" altLang="en-US" sz="105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技术洞察 </a:t>
                </a:r>
                <a:r>
                  <a:rPr kumimoji="0" lang="en-US" altLang="zh-CN" sz="105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 </a:t>
                </a:r>
                <a:r>
                  <a:rPr kumimoji="0" lang="zh-CN" altLang="en-US" sz="105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架构思维，构建数字孪生的“上帝视角”。</a:t>
                </a:r>
                <a:endParaRPr kumimoji="0" lang="en-GB" altLang="zh-CN" sz="105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endParaRPr>
              </a:p>
            </p:txBody>
          </p:sp>
        </p:grpSp>
        <p:grpSp>
          <p:nvGrpSpPr>
            <p:cNvPr id="28" name="组合 27">
              <a:extLst>
                <a:ext uri="{FF2B5EF4-FFF2-40B4-BE49-F238E27FC236}">
                  <a16:creationId xmlns:a16="http://schemas.microsoft.com/office/drawing/2014/main" id="{9BB5B74E-6A42-CCC5-D2D6-E2A96ABCC5AB}"/>
                </a:ext>
              </a:extLst>
            </p:cNvPr>
            <p:cNvGrpSpPr/>
            <p:nvPr/>
          </p:nvGrpSpPr>
          <p:grpSpPr>
            <a:xfrm>
              <a:off x="1173024" y="4209653"/>
              <a:ext cx="4866638" cy="1224000"/>
              <a:chOff x="6416733" y="1251241"/>
              <a:chExt cx="4866638" cy="1224000"/>
            </a:xfrm>
          </p:grpSpPr>
          <p:sp>
            <p:nvSpPr>
              <p:cNvPr id="30" name="2">
                <a:extLst>
                  <a:ext uri="{FF2B5EF4-FFF2-40B4-BE49-F238E27FC236}">
                    <a16:creationId xmlns:a16="http://schemas.microsoft.com/office/drawing/2014/main" id="{54675B13-D351-FAD6-6E60-8E301C276404}"/>
                  </a:ext>
                </a:extLst>
              </p:cNvPr>
              <p:cNvSpPr/>
              <p:nvPr/>
            </p:nvSpPr>
            <p:spPr>
              <a:xfrm>
                <a:off x="6416733" y="1251241"/>
                <a:ext cx="4866638" cy="1224000"/>
              </a:xfrm>
              <a:prstGeom prst="roundRect">
                <a:avLst>
                  <a:gd name="adj" fmla="val 91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242640" tIns="45720" rIns="174240" bIns="45720" rtlCol="0" anchor="ctr"/>
              <a:lstStyle/>
              <a:p>
                <a:pPr>
                  <a:lnSpc>
                    <a:spcPct val="130000"/>
                  </a:lnSpc>
                </a:pPr>
                <a:endParaRPr kumimoji="1" lang="en-US" altLang="zh-CN" sz="1050" dirty="0">
                  <a:solidFill>
                    <a:schemeClr val="tx1"/>
                  </a:solidFill>
                  <a:cs typeface="+mn-ea"/>
                  <a:sym typeface="+mn-lt"/>
                </a:endParaRPr>
              </a:p>
            </p:txBody>
          </p:sp>
          <p:sp>
            <p:nvSpPr>
              <p:cNvPr id="32" name="Title-2">
                <a:extLst>
                  <a:ext uri="{FF2B5EF4-FFF2-40B4-BE49-F238E27FC236}">
                    <a16:creationId xmlns:a16="http://schemas.microsoft.com/office/drawing/2014/main" id="{11FBA06D-3249-11C4-53BB-B3EBD7C2802A}"/>
                  </a:ext>
                </a:extLst>
              </p:cNvPr>
              <p:cNvSpPr txBox="1"/>
              <p:nvPr>
                <p:custDataLst>
                  <p:tags r:id="rId2"/>
                </p:custDataLst>
              </p:nvPr>
            </p:nvSpPr>
            <p:spPr>
              <a:xfrm>
                <a:off x="6495973" y="1267423"/>
                <a:ext cx="3131916" cy="263420"/>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400" b="1" i="0" u="none" strike="noStrike" kern="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卓越领导力（意志即保障）：</a:t>
                </a:r>
              </a:p>
            </p:txBody>
          </p:sp>
          <p:sp>
            <p:nvSpPr>
              <p:cNvPr id="33" name="Body-2">
                <a:extLst>
                  <a:ext uri="{FF2B5EF4-FFF2-40B4-BE49-F238E27FC236}">
                    <a16:creationId xmlns:a16="http://schemas.microsoft.com/office/drawing/2014/main" id="{9382BC0F-43C3-340E-F678-8EB7C6C238A2}"/>
                  </a:ext>
                </a:extLst>
              </p:cNvPr>
              <p:cNvSpPr/>
              <p:nvPr>
                <p:custDataLst>
                  <p:tags r:id="rId3"/>
                </p:custDataLst>
              </p:nvPr>
            </p:nvSpPr>
            <p:spPr>
              <a:xfrm>
                <a:off x="6495973" y="1520053"/>
                <a:ext cx="4787398" cy="698404"/>
              </a:xfrm>
              <a:prstGeom prst="rect">
                <a:avLst/>
              </a:prstGeom>
              <a:noFill/>
              <a:ln w="12700" cap="flat" cmpd="sng" algn="ctr">
                <a:noFill/>
                <a:prstDash val="solid"/>
                <a:miter lim="800000"/>
              </a:ln>
              <a:effectLst/>
            </p:spPr>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71450"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逻辑主权捍卫者：在阵痛期顶住压力，拒绝局部利益对系统逻辑的“基因污染” 。</a:t>
                </a:r>
              </a:p>
              <a:p>
                <a:pPr marL="171450"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容错的战略定力：宣示“允许试错，不许后退”，为变革提供心理安全区。</a:t>
                </a:r>
              </a:p>
              <a:p>
                <a:pPr marL="171450"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奇点爆破的推手：集中资源攻克“奇点”，用事实引力替代行政推力。</a:t>
                </a:r>
                <a:endParaRPr kumimoji="0" lang="en-GB" altLang="zh-CN" sz="105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endParaRPr>
              </a:p>
            </p:txBody>
          </p:sp>
        </p:grpSp>
      </p:grpSp>
      <p:pic>
        <p:nvPicPr>
          <p:cNvPr id="1026" name="Picture 2">
            <a:extLst>
              <a:ext uri="{FF2B5EF4-FFF2-40B4-BE49-F238E27FC236}">
                <a16:creationId xmlns:a16="http://schemas.microsoft.com/office/drawing/2014/main" id="{461ADBBB-55DC-1CF0-065F-61C0F6CA5D2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902500" y="2335853"/>
            <a:ext cx="301946" cy="301946"/>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a:extLst>
              <a:ext uri="{FF2B5EF4-FFF2-40B4-BE49-F238E27FC236}">
                <a16:creationId xmlns:a16="http://schemas.microsoft.com/office/drawing/2014/main" id="{8838A666-C899-1BBD-1E69-532FEC6020D5}"/>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959637" y="4420094"/>
            <a:ext cx="244809" cy="244809"/>
          </a:xfrm>
          <a:prstGeom prst="rect">
            <a:avLst/>
          </a:prstGeom>
          <a:noFill/>
          <a:extLst>
            <a:ext uri="{909E8E84-426E-40DD-AFC4-6F175D3DCCD1}">
              <a14:hiddenFill xmlns:a14="http://schemas.microsoft.com/office/drawing/2010/main">
                <a:solidFill>
                  <a:srgbClr val="FFFFFF"/>
                </a:solidFill>
              </a14:hiddenFill>
            </a:ext>
          </a:extLst>
        </p:spPr>
      </p:pic>
      <p:grpSp>
        <p:nvGrpSpPr>
          <p:cNvPr id="40" name="组合 39">
            <a:extLst>
              <a:ext uri="{FF2B5EF4-FFF2-40B4-BE49-F238E27FC236}">
                <a16:creationId xmlns:a16="http://schemas.microsoft.com/office/drawing/2014/main" id="{94732811-8939-2A86-379F-E9CE08903F94}"/>
              </a:ext>
            </a:extLst>
          </p:cNvPr>
          <p:cNvGrpSpPr/>
          <p:nvPr/>
        </p:nvGrpSpPr>
        <p:grpSpPr>
          <a:xfrm>
            <a:off x="4977321" y="3706096"/>
            <a:ext cx="2134803" cy="1028700"/>
            <a:chOff x="4190624" y="5086659"/>
            <a:chExt cx="3681599" cy="1028700"/>
          </a:xfrm>
        </p:grpSpPr>
        <p:pic>
          <p:nvPicPr>
            <p:cNvPr id="1030" name="Picture 6">
              <a:extLst>
                <a:ext uri="{FF2B5EF4-FFF2-40B4-BE49-F238E27FC236}">
                  <a16:creationId xmlns:a16="http://schemas.microsoft.com/office/drawing/2014/main" id="{E704A1E1-0645-2421-74DA-4079FA39A2E1}"/>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233674" y="5086659"/>
              <a:ext cx="3638549" cy="1028700"/>
            </a:xfrm>
            <a:prstGeom prst="rect">
              <a:avLst/>
            </a:prstGeom>
            <a:noFill/>
            <a:extLst>
              <a:ext uri="{909E8E84-426E-40DD-AFC4-6F175D3DCCD1}">
                <a14:hiddenFill xmlns:a14="http://schemas.microsoft.com/office/drawing/2010/main">
                  <a:solidFill>
                    <a:srgbClr val="FFFFFF"/>
                  </a:solidFill>
                </a14:hiddenFill>
              </a:ext>
            </a:extLst>
          </p:spPr>
        </p:pic>
        <p:sp>
          <p:nvSpPr>
            <p:cNvPr id="39" name="文本框 38">
              <a:extLst>
                <a:ext uri="{FF2B5EF4-FFF2-40B4-BE49-F238E27FC236}">
                  <a16:creationId xmlns:a16="http://schemas.microsoft.com/office/drawing/2014/main" id="{1A014381-E2D1-6379-3CA5-BD47E3715723}"/>
                </a:ext>
              </a:extLst>
            </p:cNvPr>
            <p:cNvSpPr txBox="1"/>
            <p:nvPr/>
          </p:nvSpPr>
          <p:spPr>
            <a:xfrm>
              <a:off x="4190624" y="5179522"/>
              <a:ext cx="3552450" cy="815608"/>
            </a:xfrm>
            <a:prstGeom prst="rect">
              <a:avLst/>
            </a:prstGeom>
            <a:noFill/>
          </p:spPr>
          <p:txBody>
            <a:bodyPr wrap="square">
              <a:spAutoFit/>
            </a:bodyPr>
            <a:lstStyle/>
            <a:p>
              <a:pPr algn="ctr"/>
              <a:r>
                <a:rPr lang="zh-CN" altLang="en-US" sz="1200" b="1" dirty="0">
                  <a:solidFill>
                    <a:schemeClr val="bg1"/>
                  </a:solidFill>
                  <a:latin typeface="+mj-ea"/>
                  <a:ea typeface="+mj-ea"/>
                </a:rPr>
                <a:t>组织熵减 </a:t>
              </a:r>
              <a:r>
                <a:rPr lang="en-US" altLang="zh-CN" sz="1200" b="1" dirty="0">
                  <a:solidFill>
                    <a:schemeClr val="bg1"/>
                  </a:solidFill>
                  <a:latin typeface="+mj-ea"/>
                  <a:ea typeface="+mj-ea"/>
                </a:rPr>
                <a:t>= ( </a:t>
              </a:r>
              <a:r>
                <a:rPr lang="zh-CN" altLang="en-US" sz="1200" b="1" dirty="0">
                  <a:solidFill>
                    <a:schemeClr val="bg1"/>
                  </a:solidFill>
                  <a:latin typeface="+mj-ea"/>
                  <a:ea typeface="+mj-ea"/>
                </a:rPr>
                <a:t>逻辑真理 </a:t>
              </a:r>
              <a:r>
                <a:rPr lang="en-US" altLang="zh-CN" sz="1200" b="1" dirty="0">
                  <a:solidFill>
                    <a:schemeClr val="bg1"/>
                  </a:solidFill>
                  <a:latin typeface="+mj-ea"/>
                  <a:ea typeface="+mj-ea"/>
                </a:rPr>
                <a:t>× </a:t>
              </a:r>
              <a:r>
                <a:rPr lang="zh-CN" altLang="en-US" sz="1200" b="1" dirty="0">
                  <a:solidFill>
                    <a:schemeClr val="bg1"/>
                  </a:solidFill>
                  <a:latin typeface="+mj-ea"/>
                  <a:ea typeface="+mj-ea"/>
                </a:rPr>
                <a:t>权力意志 </a:t>
              </a:r>
              <a:r>
                <a:rPr lang="en-US" altLang="zh-CN" sz="1200" b="1" dirty="0">
                  <a:solidFill>
                    <a:schemeClr val="bg1"/>
                  </a:solidFill>
                  <a:latin typeface="+mj-ea"/>
                  <a:ea typeface="+mj-ea"/>
                </a:rPr>
                <a:t>) / N² </a:t>
              </a:r>
              <a:r>
                <a:rPr lang="zh-CN" altLang="en-US" sz="1200" b="1" dirty="0">
                  <a:solidFill>
                    <a:schemeClr val="bg1"/>
                  </a:solidFill>
                  <a:latin typeface="+mj-ea"/>
                  <a:ea typeface="+mj-ea"/>
                </a:rPr>
                <a:t>复杂度</a:t>
              </a:r>
              <a:r>
                <a:rPr lang="zh-CN" altLang="en-US" sz="1200" dirty="0">
                  <a:solidFill>
                    <a:schemeClr val="bg1"/>
                  </a:solidFill>
                  <a:latin typeface="+mj-ea"/>
                  <a:ea typeface="+mj-ea"/>
                </a:rPr>
                <a:t> </a:t>
              </a:r>
              <a:endParaRPr lang="en-US" altLang="zh-CN" sz="1200" dirty="0">
                <a:solidFill>
                  <a:schemeClr val="bg1"/>
                </a:solidFill>
                <a:latin typeface="+mj-ea"/>
                <a:ea typeface="+mj-ea"/>
              </a:endParaRPr>
            </a:p>
            <a:p>
              <a:pPr algn="ctr"/>
              <a:r>
                <a:rPr lang="en-US" altLang="zh-CN" sz="1200" i="1" dirty="0">
                  <a:solidFill>
                    <a:schemeClr val="bg1"/>
                  </a:solidFill>
                  <a:latin typeface="+mj-ea"/>
                  <a:ea typeface="+mj-ea"/>
                </a:rPr>
                <a:t>(</a:t>
              </a:r>
              <a:r>
                <a:rPr lang="zh-CN" altLang="en-US" sz="1050" i="1" dirty="0">
                  <a:solidFill>
                    <a:schemeClr val="bg1"/>
                  </a:solidFill>
                  <a:latin typeface="+mj-ea"/>
                  <a:ea typeface="+mj-ea"/>
                </a:rPr>
                <a:t>当分子足够强大，分母的复杂度被降维，熵增趋近于</a:t>
              </a:r>
              <a:r>
                <a:rPr lang="en-US" altLang="zh-CN" sz="1050" i="1" dirty="0">
                  <a:solidFill>
                    <a:schemeClr val="bg1"/>
                  </a:solidFill>
                  <a:latin typeface="+mj-ea"/>
                  <a:ea typeface="+mj-ea"/>
                </a:rPr>
                <a:t>0)</a:t>
              </a:r>
              <a:endParaRPr lang="zh-CN" altLang="en-US" sz="1200" dirty="0">
                <a:solidFill>
                  <a:schemeClr val="bg1"/>
                </a:solidFill>
                <a:latin typeface="+mj-ea"/>
                <a:ea typeface="+mj-ea"/>
              </a:endParaRPr>
            </a:p>
          </p:txBody>
        </p:sp>
      </p:grpSp>
    </p:spTree>
    <p:extLst>
      <p:ext uri="{BB962C8B-B14F-4D97-AF65-F5344CB8AC3E}">
        <p14:creationId xmlns:p14="http://schemas.microsoft.com/office/powerpoint/2010/main" val="368668989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0F89478-4E9A-A62A-AA1A-26D43BDA80ED}"/>
              </a:ext>
            </a:extLst>
          </p:cNvPr>
          <p:cNvSpPr>
            <a:spLocks noGrp="1"/>
          </p:cNvSpPr>
          <p:nvPr>
            <p:ph type="title"/>
          </p:nvPr>
        </p:nvSpPr>
        <p:spPr/>
        <p:txBody>
          <a:bodyPr/>
          <a:lstStyle/>
          <a:p>
            <a:r>
              <a:rPr lang="zh-CN" altLang="en-US" b="1" i="0" dirty="0">
                <a:effectLst/>
                <a:latin typeface="-apple-system"/>
              </a:rPr>
              <a:t>计划能力矩阵：卓越的基石与协同的挑战</a:t>
            </a:r>
            <a:endParaRPr lang="zh-CN" altLang="en-US" dirty="0"/>
          </a:p>
        </p:txBody>
      </p:sp>
      <p:graphicFrame>
        <p:nvGraphicFramePr>
          <p:cNvPr id="3" name="表格 2">
            <a:extLst>
              <a:ext uri="{FF2B5EF4-FFF2-40B4-BE49-F238E27FC236}">
                <a16:creationId xmlns:a16="http://schemas.microsoft.com/office/drawing/2014/main" id="{D10338D9-81DC-F604-8FAF-8EC24836666D}"/>
              </a:ext>
            </a:extLst>
          </p:cNvPr>
          <p:cNvGraphicFramePr>
            <a:graphicFrameLocks noGrp="1"/>
          </p:cNvGraphicFramePr>
          <p:nvPr>
            <p:extLst>
              <p:ext uri="{D42A27DB-BD31-4B8C-83A1-F6EECF244321}">
                <p14:modId xmlns:p14="http://schemas.microsoft.com/office/powerpoint/2010/main" val="245617703"/>
              </p:ext>
            </p:extLst>
          </p:nvPr>
        </p:nvGraphicFramePr>
        <p:xfrm>
          <a:off x="928289" y="862676"/>
          <a:ext cx="10203342" cy="4671572"/>
        </p:xfrm>
        <a:graphic>
          <a:graphicData uri="http://schemas.openxmlformats.org/drawingml/2006/table">
            <a:tbl>
              <a:tblPr/>
              <a:tblGrid>
                <a:gridCol w="1723950">
                  <a:extLst>
                    <a:ext uri="{9D8B030D-6E8A-4147-A177-3AD203B41FA5}">
                      <a16:colId xmlns:a16="http://schemas.microsoft.com/office/drawing/2014/main" val="3329810753"/>
                    </a:ext>
                  </a:extLst>
                </a:gridCol>
                <a:gridCol w="2119848">
                  <a:extLst>
                    <a:ext uri="{9D8B030D-6E8A-4147-A177-3AD203B41FA5}">
                      <a16:colId xmlns:a16="http://schemas.microsoft.com/office/drawing/2014/main" val="3812494109"/>
                    </a:ext>
                  </a:extLst>
                </a:gridCol>
                <a:gridCol w="2119848">
                  <a:extLst>
                    <a:ext uri="{9D8B030D-6E8A-4147-A177-3AD203B41FA5}">
                      <a16:colId xmlns:a16="http://schemas.microsoft.com/office/drawing/2014/main" val="1981684505"/>
                    </a:ext>
                  </a:extLst>
                </a:gridCol>
                <a:gridCol w="2119848">
                  <a:extLst>
                    <a:ext uri="{9D8B030D-6E8A-4147-A177-3AD203B41FA5}">
                      <a16:colId xmlns:a16="http://schemas.microsoft.com/office/drawing/2014/main" val="1184628745"/>
                    </a:ext>
                  </a:extLst>
                </a:gridCol>
                <a:gridCol w="2119848">
                  <a:extLst>
                    <a:ext uri="{9D8B030D-6E8A-4147-A177-3AD203B41FA5}">
                      <a16:colId xmlns:a16="http://schemas.microsoft.com/office/drawing/2014/main" val="1353561910"/>
                    </a:ext>
                  </a:extLst>
                </a:gridCol>
              </a:tblGrid>
              <a:tr h="621989">
                <a:tc>
                  <a:txBody>
                    <a:bodyPr/>
                    <a:lstStyle/>
                    <a:p>
                      <a:pPr algn="l" fontAlgn="base" latinLnBrk="0"/>
                      <a:r>
                        <a:rPr lang="zh-CN" altLang="en-US" sz="1400" b="1">
                          <a:solidFill>
                            <a:srgbClr val="FFFFFF"/>
                          </a:solidFill>
                          <a:effectLst/>
                          <a:latin typeface="+mj-ea"/>
                          <a:ea typeface="+mj-ea"/>
                        </a:rPr>
                        <a:t>计划层级 </a:t>
                      </a:r>
                      <a:r>
                        <a:rPr lang="en-US" altLang="zh-CN" sz="1400" b="1">
                          <a:solidFill>
                            <a:srgbClr val="FFFFFF"/>
                          </a:solidFill>
                          <a:effectLst/>
                          <a:latin typeface="+mj-ea"/>
                          <a:ea typeface="+mj-ea"/>
                        </a:rPr>
                        <a:t>/ </a:t>
                      </a:r>
                      <a:r>
                        <a:rPr lang="zh-CN" altLang="en-US" sz="1400" b="1">
                          <a:solidFill>
                            <a:srgbClr val="FFFFFF"/>
                          </a:solidFill>
                          <a:effectLst/>
                          <a:latin typeface="+mj-ea"/>
                          <a:ea typeface="+mj-ea"/>
                        </a:rPr>
                        <a:t>流程点</a:t>
                      </a:r>
                    </a:p>
                  </a:txBody>
                  <a:tcPr marL="86025" marR="89610" marT="44805" marB="44805" anchor="ctr">
                    <a:lnL>
                      <a:solidFill>
                        <a:srgbClr val="1C3879"/>
                      </a:solidFill>
                      <a:prstDash val="solid"/>
                    </a:lnL>
                    <a:lnR>
                      <a:solidFill>
                        <a:srgbClr val="FFFFFF"/>
                      </a:solidFill>
                      <a:prstDash val="solid"/>
                    </a:lnR>
                    <a:lnT>
                      <a:solidFill>
                        <a:srgbClr val="1C3879"/>
                      </a:solidFill>
                      <a:prstDash val="solid"/>
                    </a:lnT>
                    <a:lnB w="7144" cap="flat" cmpd="sng" algn="ctr">
                      <a:solidFill>
                        <a:srgbClr val="1C3879"/>
                      </a:solidFill>
                      <a:prstDash val="solid"/>
                      <a:round/>
                      <a:headEnd type="none" w="med" len="med"/>
                      <a:tailEnd type="none" w="med" len="med"/>
                    </a:lnB>
                    <a:solidFill>
                      <a:srgbClr val="1C3879"/>
                    </a:solidFill>
                  </a:tcPr>
                </a:tc>
                <a:tc>
                  <a:txBody>
                    <a:bodyPr/>
                    <a:lstStyle/>
                    <a:p>
                      <a:pPr algn="l" fontAlgn="base" latinLnBrk="0"/>
                      <a:r>
                        <a:rPr lang="zh-CN" altLang="en-US" sz="1400" b="1" dirty="0">
                          <a:solidFill>
                            <a:srgbClr val="FFFFFF"/>
                          </a:solidFill>
                          <a:effectLst/>
                          <a:latin typeface="+mj-ea"/>
                          <a:ea typeface="+mj-ea"/>
                        </a:rPr>
                        <a:t>战略与需求（客户端）</a:t>
                      </a:r>
                      <a:endParaRPr lang="en-US" altLang="zh-CN" sz="1400" b="1" dirty="0">
                        <a:solidFill>
                          <a:srgbClr val="FFFFFF"/>
                        </a:solidFill>
                        <a:effectLst/>
                        <a:latin typeface="+mj-ea"/>
                        <a:ea typeface="+mj-ea"/>
                      </a:endParaRPr>
                    </a:p>
                    <a:p>
                      <a:pPr algn="l" fontAlgn="base" latinLnBrk="0"/>
                      <a:r>
                        <a:rPr lang="zh-CN" altLang="en-US" sz="1800" b="1" i="0" kern="1200" dirty="0">
                          <a:solidFill>
                            <a:schemeClr val="tx1"/>
                          </a:solidFill>
                          <a:effectLst/>
                          <a:latin typeface="+mj-ea"/>
                          <a:ea typeface="+mj-ea"/>
                          <a:cs typeface="+mn-cs"/>
                        </a:rPr>
                        <a:t>⚖️</a:t>
                      </a:r>
                      <a:r>
                        <a:rPr lang="zh-CN" altLang="en-US" sz="1400" b="1" dirty="0">
                          <a:solidFill>
                            <a:srgbClr val="FFFFFF"/>
                          </a:solidFill>
                          <a:effectLst/>
                          <a:latin typeface="+mj-ea"/>
                          <a:ea typeface="+mj-ea"/>
                        </a:rPr>
                        <a:t>客户满意度</a:t>
                      </a:r>
                    </a:p>
                  </a:txBody>
                  <a:tcPr marL="86025" marR="89610" marT="44805" marB="44805" anchor="ctr">
                    <a:lnL>
                      <a:solidFill>
                        <a:srgbClr val="FFFFFF"/>
                      </a:solidFill>
                      <a:prstDash val="solid"/>
                    </a:lnL>
                    <a:lnR>
                      <a:solidFill>
                        <a:srgbClr val="FFFFFF"/>
                      </a:solidFill>
                      <a:prstDash val="solid"/>
                    </a:lnR>
                    <a:lnT>
                      <a:solidFill>
                        <a:srgbClr val="1C3879"/>
                      </a:solidFill>
                      <a:prstDash val="solid"/>
                    </a:lnT>
                    <a:lnB w="7144" cap="flat" cmpd="sng" algn="ctr">
                      <a:solidFill>
                        <a:srgbClr val="1C3879"/>
                      </a:solidFill>
                      <a:prstDash val="solid"/>
                      <a:round/>
                      <a:headEnd type="none" w="med" len="med"/>
                      <a:tailEnd type="none" w="med" len="med"/>
                    </a:lnB>
                    <a:solidFill>
                      <a:srgbClr val="1C3879"/>
                    </a:solidFill>
                  </a:tcPr>
                </a:tc>
                <a:tc>
                  <a:txBody>
                    <a:bodyPr/>
                    <a:lstStyle/>
                    <a:p>
                      <a:pPr algn="l" fontAlgn="base" latinLnBrk="0"/>
                      <a:r>
                        <a:rPr lang="zh-CN" altLang="en-US" sz="1400" b="1" dirty="0">
                          <a:solidFill>
                            <a:srgbClr val="FFFFFF"/>
                          </a:solidFill>
                          <a:effectLst/>
                          <a:latin typeface="+mj-ea"/>
                          <a:ea typeface="+mj-ea"/>
                        </a:rPr>
                        <a:t>供应与制造（内部）</a:t>
                      </a:r>
                      <a:endParaRPr lang="en-US" altLang="zh-CN" sz="1400" b="1" dirty="0">
                        <a:solidFill>
                          <a:srgbClr val="FFFFFF"/>
                        </a:solidFill>
                        <a:effectLst/>
                        <a:latin typeface="+mj-ea"/>
                        <a:ea typeface="+mj-ea"/>
                      </a:endParaRPr>
                    </a:p>
                    <a:p>
                      <a:pPr algn="l" fontAlgn="base" latinLnBrk="0"/>
                      <a:r>
                        <a:rPr lang="zh-CN" altLang="en-US" sz="1800" b="1" i="0" kern="1200" dirty="0">
                          <a:solidFill>
                            <a:schemeClr val="tx1"/>
                          </a:solidFill>
                          <a:effectLst/>
                          <a:latin typeface="+mj-ea"/>
                          <a:ea typeface="+mj-ea"/>
                          <a:cs typeface="+mn-cs"/>
                        </a:rPr>
                        <a:t>⚖️</a:t>
                      </a:r>
                      <a:r>
                        <a:rPr lang="zh-CN" altLang="en-US" sz="1400" b="1" i="0" kern="1200" dirty="0">
                          <a:solidFill>
                            <a:schemeClr val="bg1"/>
                          </a:solidFill>
                          <a:effectLst/>
                          <a:latin typeface="+mj-ea"/>
                          <a:ea typeface="+mj-ea"/>
                          <a:cs typeface="+mn-cs"/>
                        </a:rPr>
                        <a:t>成本和效率</a:t>
                      </a:r>
                      <a:endParaRPr lang="zh-CN" altLang="en-US" sz="1400" b="1" dirty="0">
                        <a:solidFill>
                          <a:schemeClr val="bg1"/>
                        </a:solidFill>
                        <a:effectLst/>
                        <a:latin typeface="+mj-ea"/>
                        <a:ea typeface="+mj-ea"/>
                      </a:endParaRPr>
                    </a:p>
                  </a:txBody>
                  <a:tcPr marL="86025" marR="89610" marT="44805" marB="44805" anchor="ctr">
                    <a:lnL>
                      <a:solidFill>
                        <a:srgbClr val="FFFFFF"/>
                      </a:solidFill>
                      <a:prstDash val="solid"/>
                    </a:lnL>
                    <a:lnR>
                      <a:solidFill>
                        <a:srgbClr val="FFFFFF"/>
                      </a:solidFill>
                      <a:prstDash val="solid"/>
                    </a:lnR>
                    <a:lnT>
                      <a:solidFill>
                        <a:srgbClr val="1C3879"/>
                      </a:solidFill>
                      <a:prstDash val="solid"/>
                    </a:lnT>
                    <a:lnB w="7144" cap="flat" cmpd="sng" algn="ctr">
                      <a:solidFill>
                        <a:srgbClr val="1C3879"/>
                      </a:solidFill>
                      <a:prstDash val="solid"/>
                      <a:round/>
                      <a:headEnd type="none" w="med" len="med"/>
                      <a:tailEnd type="none" w="med" len="med"/>
                    </a:lnB>
                    <a:solidFill>
                      <a:srgbClr val="1C3879"/>
                    </a:solidFill>
                  </a:tcPr>
                </a:tc>
                <a:tc>
                  <a:txBody>
                    <a:bodyPr/>
                    <a:lstStyle/>
                    <a:p>
                      <a:pPr algn="l" fontAlgn="base" latinLnBrk="0"/>
                      <a:r>
                        <a:rPr lang="zh-CN" altLang="en-US" sz="1400" b="1" dirty="0">
                          <a:solidFill>
                            <a:srgbClr val="FFFFFF"/>
                          </a:solidFill>
                          <a:effectLst/>
                          <a:latin typeface="+mj-ea"/>
                          <a:ea typeface="+mj-ea"/>
                        </a:rPr>
                        <a:t>物流与交付（执行端）</a:t>
                      </a:r>
                      <a:endParaRPr lang="en-US" altLang="zh-CN" sz="1400" b="1" dirty="0">
                        <a:solidFill>
                          <a:srgbClr val="FFFFFF"/>
                        </a:solidFill>
                        <a:effectLst/>
                        <a:latin typeface="+mj-ea"/>
                        <a:ea typeface="+mj-ea"/>
                      </a:endParaRPr>
                    </a:p>
                    <a:p>
                      <a:pPr algn="l" fontAlgn="base" latinLnBrk="0"/>
                      <a:r>
                        <a:rPr lang="zh-CN" altLang="en-US" sz="1400" b="1" i="0" kern="1200" dirty="0">
                          <a:solidFill>
                            <a:schemeClr val="tx1"/>
                          </a:solidFill>
                          <a:effectLst/>
                          <a:latin typeface="+mj-ea"/>
                          <a:ea typeface="+mj-ea"/>
                          <a:cs typeface="+mn-cs"/>
                        </a:rPr>
                        <a:t>⚖️</a:t>
                      </a:r>
                      <a:r>
                        <a:rPr lang="zh-CN" altLang="en-US" sz="1400" b="1" i="0" kern="1200" dirty="0">
                          <a:solidFill>
                            <a:schemeClr val="bg1"/>
                          </a:solidFill>
                          <a:effectLst/>
                          <a:latin typeface="+mj-ea"/>
                          <a:ea typeface="+mj-ea"/>
                          <a:cs typeface="+mn-cs"/>
                        </a:rPr>
                        <a:t>成本和效率</a:t>
                      </a:r>
                      <a:endParaRPr lang="zh-CN" altLang="en-US" sz="1400" b="1" dirty="0">
                        <a:solidFill>
                          <a:schemeClr val="bg1"/>
                        </a:solidFill>
                        <a:effectLst/>
                        <a:latin typeface="+mj-ea"/>
                        <a:ea typeface="+mj-ea"/>
                      </a:endParaRPr>
                    </a:p>
                  </a:txBody>
                  <a:tcPr marL="86025" marR="89610" marT="44805" marB="44805" anchor="ctr">
                    <a:lnL>
                      <a:solidFill>
                        <a:srgbClr val="FFFFFF"/>
                      </a:solidFill>
                      <a:prstDash val="solid"/>
                    </a:lnL>
                    <a:lnR>
                      <a:solidFill>
                        <a:srgbClr val="FFFFFF"/>
                      </a:solidFill>
                      <a:prstDash val="solid"/>
                    </a:lnR>
                    <a:lnT>
                      <a:solidFill>
                        <a:srgbClr val="1C3879"/>
                      </a:solidFill>
                      <a:prstDash val="solid"/>
                    </a:lnT>
                    <a:lnB w="7144" cap="flat" cmpd="sng" algn="ctr">
                      <a:solidFill>
                        <a:srgbClr val="1C3879"/>
                      </a:solidFill>
                      <a:prstDash val="solid"/>
                      <a:round/>
                      <a:headEnd type="none" w="med" len="med"/>
                      <a:tailEnd type="none" w="med" len="med"/>
                    </a:lnB>
                    <a:solidFill>
                      <a:srgbClr val="1C3879"/>
                    </a:solidFill>
                  </a:tcPr>
                </a:tc>
                <a:tc>
                  <a:txBody>
                    <a:bodyPr/>
                    <a:lstStyle/>
                    <a:p>
                      <a:pPr algn="l" fontAlgn="base" latinLnBrk="0"/>
                      <a:r>
                        <a:rPr lang="zh-CN" altLang="en-US" sz="1400" b="1" dirty="0">
                          <a:solidFill>
                            <a:srgbClr val="FFFFFF"/>
                          </a:solidFill>
                          <a:effectLst/>
                          <a:latin typeface="+mj-ea"/>
                          <a:ea typeface="+mj-ea"/>
                        </a:rPr>
                        <a:t>集成与财务（全局）</a:t>
                      </a:r>
                      <a:endParaRPr lang="en-US" altLang="zh-CN" sz="1400" b="1" dirty="0">
                        <a:solidFill>
                          <a:srgbClr val="FFFFFF"/>
                        </a:solidFill>
                        <a:effectLst/>
                        <a:latin typeface="+mj-ea"/>
                        <a:ea typeface="+mj-ea"/>
                      </a:endParaRPr>
                    </a:p>
                    <a:p>
                      <a:pPr marL="0" marR="0" lvl="0" indent="0" algn="l" defTabSz="914332" rtl="0" eaLnBrk="1" fontAlgn="base" latinLnBrk="0" hangingPunct="1">
                        <a:lnSpc>
                          <a:spcPct val="100000"/>
                        </a:lnSpc>
                        <a:spcBef>
                          <a:spcPts val="0"/>
                        </a:spcBef>
                        <a:spcAft>
                          <a:spcPts val="0"/>
                        </a:spcAft>
                        <a:buClrTx/>
                        <a:buSzTx/>
                        <a:buFontTx/>
                        <a:buNone/>
                        <a:tabLst/>
                        <a:defRPr/>
                      </a:pPr>
                      <a:r>
                        <a:rPr lang="zh-CN" altLang="en-US" sz="1400" b="1" i="0" kern="1200" dirty="0">
                          <a:solidFill>
                            <a:schemeClr val="tx1"/>
                          </a:solidFill>
                          <a:effectLst/>
                          <a:latin typeface="+mj-ea"/>
                          <a:ea typeface="+mj-ea"/>
                          <a:cs typeface="+mn-cs"/>
                        </a:rPr>
                        <a:t>⚖️</a:t>
                      </a:r>
                      <a:r>
                        <a:rPr lang="zh-CN" altLang="en-US" sz="1400" b="1" i="0" kern="1200" dirty="0">
                          <a:solidFill>
                            <a:schemeClr val="bg1"/>
                          </a:solidFill>
                          <a:effectLst/>
                          <a:latin typeface="+mj-ea"/>
                          <a:ea typeface="+mj-ea"/>
                          <a:cs typeface="+mn-cs"/>
                        </a:rPr>
                        <a:t>全局平衡</a:t>
                      </a:r>
                      <a:endParaRPr lang="zh-CN" altLang="en-US" sz="1400" b="1" kern="1200" dirty="0">
                        <a:solidFill>
                          <a:schemeClr val="bg1"/>
                        </a:solidFill>
                        <a:effectLst/>
                        <a:latin typeface="+mj-ea"/>
                        <a:ea typeface="+mj-ea"/>
                        <a:cs typeface="+mn-cs"/>
                      </a:endParaRPr>
                    </a:p>
                  </a:txBody>
                  <a:tcPr marL="86025" marR="89610" marT="44805" marB="44805" anchor="ctr">
                    <a:lnL>
                      <a:solidFill>
                        <a:srgbClr val="FFFFFF"/>
                      </a:solidFill>
                      <a:prstDash val="solid"/>
                    </a:lnL>
                    <a:lnR>
                      <a:solidFill>
                        <a:srgbClr val="1C3879"/>
                      </a:solidFill>
                      <a:prstDash val="solid"/>
                    </a:lnR>
                    <a:lnT>
                      <a:solidFill>
                        <a:srgbClr val="1C3879"/>
                      </a:solidFill>
                      <a:prstDash val="solid"/>
                    </a:lnT>
                    <a:lnB w="7144" cap="flat" cmpd="sng" algn="ctr">
                      <a:solidFill>
                        <a:srgbClr val="1C3879"/>
                      </a:solidFill>
                      <a:prstDash val="solid"/>
                      <a:round/>
                      <a:headEnd type="none" w="med" len="med"/>
                      <a:tailEnd type="none" w="med" len="med"/>
                    </a:lnB>
                    <a:solidFill>
                      <a:srgbClr val="1C3879"/>
                    </a:solidFill>
                  </a:tcPr>
                </a:tc>
                <a:extLst>
                  <a:ext uri="{0D108BD9-81ED-4DB2-BD59-A6C34878D82A}">
                    <a16:rowId xmlns:a16="http://schemas.microsoft.com/office/drawing/2014/main" val="1380050384"/>
                  </a:ext>
                </a:extLst>
              </a:tr>
              <a:tr h="1356122">
                <a:tc>
                  <a:txBody>
                    <a:bodyPr/>
                    <a:lstStyle/>
                    <a:p>
                      <a:pPr algn="l" fontAlgn="base" latinLnBrk="0"/>
                      <a:r>
                        <a:rPr lang="zh-CN" altLang="en-US" sz="1400" b="1" dirty="0">
                          <a:solidFill>
                            <a:srgbClr val="000000"/>
                          </a:solidFill>
                          <a:effectLst/>
                          <a:latin typeface="+mj-ea"/>
                          <a:ea typeface="+mj-ea"/>
                        </a:rPr>
                        <a:t>​战略层</a:t>
                      </a:r>
                      <a:endParaRPr lang="en-US" altLang="zh-CN" sz="1400" b="1" dirty="0">
                        <a:solidFill>
                          <a:srgbClr val="000000"/>
                        </a:solidFill>
                        <a:effectLst/>
                        <a:latin typeface="+mj-ea"/>
                        <a:ea typeface="+mj-ea"/>
                      </a:endParaRPr>
                    </a:p>
                    <a:p>
                      <a:pPr algn="l" fontAlgn="base" latinLnBrk="0"/>
                      <a:r>
                        <a:rPr lang="en-US" altLang="zh-CN" sz="1400" b="1" dirty="0">
                          <a:solidFill>
                            <a:srgbClr val="000000"/>
                          </a:solidFill>
                          <a:effectLst/>
                          <a:latin typeface="+mj-ea"/>
                          <a:ea typeface="+mj-ea"/>
                        </a:rPr>
                        <a:t>(Business Planning)</a:t>
                      </a:r>
                    </a:p>
                    <a:p>
                      <a:pPr algn="l" fontAlgn="base" latinLnBrk="0"/>
                      <a:r>
                        <a:rPr lang="zh-CN" altLang="en-US" sz="1200" b="0" i="1" dirty="0">
                          <a:solidFill>
                            <a:srgbClr val="000000"/>
                          </a:solidFill>
                          <a:effectLst/>
                          <a:latin typeface="+mj-ea"/>
                          <a:ea typeface="+mj-ea"/>
                        </a:rPr>
                        <a:t>分解失真？</a:t>
                      </a:r>
                    </a:p>
                  </a:txBody>
                  <a:tcPr marL="86025" marR="89610" marT="44805" marB="44805" anchor="ctr">
                    <a:lnL>
                      <a:solidFill>
                        <a:srgbClr val="1C3879"/>
                      </a:solidFill>
                      <a:prstDash val="solid"/>
                    </a:lnL>
                    <a:lnR>
                      <a:solidFill>
                        <a:srgbClr val="1C3879"/>
                      </a:solidFill>
                      <a:prstDash val="solid"/>
                    </a:lnR>
                    <a:lnT w="7144" cap="flat" cmpd="sng" algn="ctr">
                      <a:solidFill>
                        <a:srgbClr val="1C3879"/>
                      </a:solidFill>
                      <a:prstDash val="solid"/>
                      <a:round/>
                      <a:headEnd type="none" w="med" len="med"/>
                      <a:tailEnd type="none" w="med" len="med"/>
                    </a:lnT>
                    <a:lnB w="2381" cap="flat" cmpd="sng" algn="ctr">
                      <a:solidFill>
                        <a:srgbClr val="FFFFFF"/>
                      </a:solidFill>
                      <a:prstDash val="solid"/>
                      <a:round/>
                      <a:headEnd type="none" w="med" len="med"/>
                      <a:tailEnd type="none" w="med" len="med"/>
                    </a:lnB>
                    <a:solidFill>
                      <a:schemeClr val="accent1">
                        <a:lumMod val="20000"/>
                        <a:lumOff val="80000"/>
                      </a:schemeClr>
                    </a:solidFill>
                  </a:tcPr>
                </a:tc>
                <a:tc>
                  <a:txBody>
                    <a:bodyPr/>
                    <a:lstStyle/>
                    <a:p>
                      <a:pPr marL="171450" indent="-171450" algn="l" fontAlgn="base" latinLnBrk="0">
                        <a:buFont typeface="Arial" panose="020B0604020202020204" pitchFamily="34" charset="0"/>
                        <a:buChar char="•"/>
                      </a:pPr>
                      <a:r>
                        <a:rPr lang="zh-CN" altLang="en-US" sz="1200" b="1" dirty="0">
                          <a:solidFill>
                            <a:schemeClr val="bg1"/>
                          </a:solidFill>
                          <a:effectLst/>
                          <a:latin typeface="+mj-ea"/>
                          <a:ea typeface="+mj-ea"/>
                        </a:rPr>
                        <a:t>需求计划 （营销）</a:t>
                      </a:r>
                      <a:r>
                        <a:rPr lang="en-US" altLang="zh-CN" sz="1200" b="1" dirty="0">
                          <a:solidFill>
                            <a:srgbClr val="7030A0"/>
                          </a:solidFill>
                          <a:effectLst/>
                          <a:latin typeface="+mj-ea"/>
                          <a:ea typeface="+mj-ea"/>
                        </a:rPr>
                        <a:t>S&amp;OP</a:t>
                      </a:r>
                    </a:p>
                    <a:p>
                      <a:pPr marL="171450" indent="-171450" algn="l" fontAlgn="base" latinLnBrk="0">
                        <a:buFont typeface="Arial" panose="020B0604020202020204" pitchFamily="34" charset="0"/>
                        <a:buChar char="•"/>
                      </a:pPr>
                      <a:r>
                        <a:rPr lang="zh-CN" altLang="en-US" sz="1200" b="1" dirty="0">
                          <a:solidFill>
                            <a:schemeClr val="bg1"/>
                          </a:solidFill>
                          <a:effectLst/>
                          <a:latin typeface="+mj-ea"/>
                          <a:ea typeface="+mj-ea"/>
                        </a:rPr>
                        <a:t>技术路线图（研发）</a:t>
                      </a:r>
                      <a:r>
                        <a:rPr lang="zh-CN" altLang="en-US" sz="1200" b="1" dirty="0">
                          <a:solidFill>
                            <a:srgbClr val="7030A0"/>
                          </a:solidFill>
                          <a:effectLst/>
                          <a:latin typeface="+mj-ea"/>
                          <a:ea typeface="+mj-ea"/>
                        </a:rPr>
                        <a:t>创新管理</a:t>
                      </a:r>
                    </a:p>
                  </a:txBody>
                  <a:tcPr marL="86025" marR="89610" marT="44805" marB="44805" anchor="ctr">
                    <a:lnL>
                      <a:solidFill>
                        <a:srgbClr val="1C3879"/>
                      </a:solidFill>
                      <a:prstDash val="solid"/>
                    </a:lnL>
                    <a:lnR>
                      <a:solidFill>
                        <a:srgbClr val="FFFFFF"/>
                      </a:solidFill>
                      <a:prstDash val="solid"/>
                    </a:lnR>
                    <a:lnT w="7144" cap="flat" cmpd="sng" algn="ctr">
                      <a:solidFill>
                        <a:srgbClr val="1C3879"/>
                      </a:solidFill>
                      <a:prstDash val="solid"/>
                      <a:round/>
                      <a:headEnd type="none" w="med" len="med"/>
                      <a:tailEnd type="none" w="med" len="med"/>
                    </a:lnT>
                    <a:lnB w="2381" cap="flat" cmpd="sng" algn="ctr">
                      <a:solidFill>
                        <a:srgbClr val="FFFFFF"/>
                      </a:solidFill>
                      <a:prstDash val="solid"/>
                      <a:round/>
                      <a:headEnd type="none" w="med" len="med"/>
                      <a:tailEnd type="none" w="med" len="med"/>
                    </a:lnB>
                    <a:noFill/>
                  </a:tcPr>
                </a:tc>
                <a:tc>
                  <a:txBody>
                    <a:bodyPr/>
                    <a:lstStyle/>
                    <a:p>
                      <a:pPr marL="171450" indent="-171450" algn="l" fontAlgn="base" latinLnBrk="0">
                        <a:buFont typeface="Arial" panose="020B0604020202020204" pitchFamily="34" charset="0"/>
                        <a:buChar char="•"/>
                      </a:pPr>
                      <a:r>
                        <a:rPr lang="zh-CN" altLang="en-US" sz="1200" b="1" dirty="0">
                          <a:solidFill>
                            <a:schemeClr val="bg1"/>
                          </a:solidFill>
                          <a:effectLst/>
                          <a:latin typeface="+mj-ea"/>
                          <a:ea typeface="+mj-ea"/>
                        </a:rPr>
                        <a:t>垂直整合战略（采购）</a:t>
                      </a:r>
                      <a:r>
                        <a:rPr lang="zh-CN" altLang="en-US" sz="1200" b="1" dirty="0">
                          <a:solidFill>
                            <a:srgbClr val="7030A0"/>
                          </a:solidFill>
                          <a:effectLst/>
                          <a:latin typeface="+mj-ea"/>
                          <a:ea typeface="+mj-ea"/>
                        </a:rPr>
                        <a:t>供应商战略（替换料比率、</a:t>
                      </a:r>
                      <a:r>
                        <a:rPr lang="en-US" altLang="zh-CN" sz="1200" b="1" dirty="0">
                          <a:solidFill>
                            <a:srgbClr val="7030A0"/>
                          </a:solidFill>
                          <a:effectLst/>
                          <a:latin typeface="+mj-ea"/>
                          <a:ea typeface="+mj-ea"/>
                        </a:rPr>
                        <a:t>VMI/JIT</a:t>
                      </a:r>
                      <a:r>
                        <a:rPr lang="zh-CN" altLang="en-US" sz="1200" b="1" dirty="0">
                          <a:solidFill>
                            <a:srgbClr val="7030A0"/>
                          </a:solidFill>
                          <a:effectLst/>
                          <a:latin typeface="+mj-ea"/>
                          <a:ea typeface="+mj-ea"/>
                        </a:rPr>
                        <a:t>模式）</a:t>
                      </a:r>
                      <a:endParaRPr lang="en-US" altLang="zh-CN" sz="1200" b="1" dirty="0">
                        <a:solidFill>
                          <a:srgbClr val="7030A0"/>
                        </a:solidFill>
                        <a:effectLst/>
                        <a:latin typeface="+mj-ea"/>
                        <a:ea typeface="+mj-ea"/>
                      </a:endParaRPr>
                    </a:p>
                    <a:p>
                      <a:pPr marL="171450" indent="-171450" algn="l" fontAlgn="base" latinLnBrk="0">
                        <a:buFont typeface="Arial" panose="020B0604020202020204" pitchFamily="34" charset="0"/>
                        <a:buChar char="•"/>
                      </a:pPr>
                      <a:r>
                        <a:rPr lang="zh-CN" altLang="en-US" sz="1200" b="1" dirty="0">
                          <a:solidFill>
                            <a:schemeClr val="bg1"/>
                          </a:solidFill>
                          <a:effectLst/>
                          <a:latin typeface="+mj-ea"/>
                          <a:ea typeface="+mj-ea"/>
                        </a:rPr>
                        <a:t>产能战略（制造）</a:t>
                      </a:r>
                      <a:r>
                        <a:rPr lang="zh-CN" altLang="en-US" sz="1200" b="1" dirty="0">
                          <a:solidFill>
                            <a:srgbClr val="7030A0"/>
                          </a:solidFill>
                          <a:effectLst/>
                          <a:latin typeface="+mj-ea"/>
                          <a:ea typeface="+mj-ea"/>
                        </a:rPr>
                        <a:t>资源</a:t>
                      </a:r>
                      <a:r>
                        <a:rPr lang="en-US" altLang="zh-CN" sz="1200" b="1" dirty="0">
                          <a:solidFill>
                            <a:srgbClr val="7030A0"/>
                          </a:solidFill>
                          <a:effectLst/>
                          <a:latin typeface="+mj-ea"/>
                          <a:ea typeface="+mj-ea"/>
                        </a:rPr>
                        <a:t>/</a:t>
                      </a:r>
                      <a:r>
                        <a:rPr lang="zh-CN" altLang="en-US" sz="1200" b="1" dirty="0">
                          <a:solidFill>
                            <a:srgbClr val="7030A0"/>
                          </a:solidFill>
                          <a:effectLst/>
                          <a:latin typeface="+mj-ea"/>
                          <a:ea typeface="+mj-ea"/>
                        </a:rPr>
                        <a:t>约束规划</a:t>
                      </a:r>
                    </a:p>
                  </a:txBody>
                  <a:tcPr marL="86025" marR="89610" marT="44805" marB="44805" anchor="ctr">
                    <a:lnL>
                      <a:solidFill>
                        <a:srgbClr val="FFFFFF"/>
                      </a:solidFill>
                      <a:prstDash val="solid"/>
                    </a:lnL>
                    <a:lnR>
                      <a:solidFill>
                        <a:srgbClr val="FFFFFF"/>
                      </a:solidFill>
                      <a:prstDash val="solid"/>
                    </a:lnR>
                    <a:lnT w="7144" cap="flat" cmpd="sng" algn="ctr">
                      <a:solidFill>
                        <a:srgbClr val="1C3879"/>
                      </a:solidFill>
                      <a:prstDash val="solid"/>
                      <a:round/>
                      <a:headEnd type="none" w="med" len="med"/>
                      <a:tailEnd type="none" w="med" len="med"/>
                    </a:lnT>
                    <a:lnB w="2381" cap="flat" cmpd="sng" algn="ctr">
                      <a:solidFill>
                        <a:srgbClr val="FFFFFF"/>
                      </a:solidFill>
                      <a:prstDash val="solid"/>
                      <a:round/>
                      <a:headEnd type="none" w="med" len="med"/>
                      <a:tailEnd type="none" w="med" len="med"/>
                    </a:lnB>
                    <a:noFill/>
                  </a:tcPr>
                </a:tc>
                <a:tc>
                  <a:txBody>
                    <a:bodyPr/>
                    <a:lstStyle/>
                    <a:p>
                      <a:pPr algn="l" fontAlgn="base" latinLnBrk="0"/>
                      <a:r>
                        <a:rPr lang="zh-CN" altLang="en-US" sz="1200" b="1" dirty="0">
                          <a:solidFill>
                            <a:schemeClr val="bg1"/>
                          </a:solidFill>
                          <a:effectLst/>
                          <a:latin typeface="+mj-ea"/>
                          <a:ea typeface="+mj-ea"/>
                        </a:rPr>
                        <a:t>网络优化战略（物流）</a:t>
                      </a:r>
                      <a:r>
                        <a:rPr lang="zh-CN" altLang="en-US" sz="1200" b="1" dirty="0">
                          <a:solidFill>
                            <a:srgbClr val="7030A0"/>
                          </a:solidFill>
                          <a:effectLst/>
                          <a:latin typeface="+mj-ea"/>
                          <a:ea typeface="+mj-ea"/>
                        </a:rPr>
                        <a:t>网络设计</a:t>
                      </a:r>
                    </a:p>
                  </a:txBody>
                  <a:tcPr marL="86025" marR="89610" marT="44805" marB="44805" anchor="ctr">
                    <a:lnL>
                      <a:solidFill>
                        <a:srgbClr val="FFFFFF"/>
                      </a:solidFill>
                      <a:prstDash val="solid"/>
                    </a:lnL>
                    <a:lnR>
                      <a:solidFill>
                        <a:srgbClr val="FFFFFF"/>
                      </a:solidFill>
                      <a:prstDash val="solid"/>
                    </a:lnR>
                    <a:lnT w="7144" cap="flat" cmpd="sng" algn="ctr">
                      <a:solidFill>
                        <a:srgbClr val="1C3879"/>
                      </a:solidFill>
                      <a:prstDash val="solid"/>
                      <a:round/>
                      <a:headEnd type="none" w="med" len="med"/>
                      <a:tailEnd type="none" w="med" len="med"/>
                    </a:lnT>
                    <a:lnB w="2381" cap="flat" cmpd="sng" algn="ctr">
                      <a:solidFill>
                        <a:srgbClr val="FFFFFF"/>
                      </a:solidFill>
                      <a:prstDash val="solid"/>
                      <a:round/>
                      <a:headEnd type="none" w="med" len="med"/>
                      <a:tailEnd type="none" w="med" len="med"/>
                    </a:lnB>
                    <a:noFill/>
                  </a:tcPr>
                </a:tc>
                <a:tc>
                  <a:txBody>
                    <a:bodyPr/>
                    <a:lstStyle/>
                    <a:p>
                      <a:pPr algn="l" fontAlgn="base" latinLnBrk="0"/>
                      <a:r>
                        <a:rPr lang="en-US" altLang="zh-CN" sz="1200" b="1" dirty="0">
                          <a:solidFill>
                            <a:schemeClr val="bg1"/>
                          </a:solidFill>
                          <a:effectLst/>
                          <a:latin typeface="+mj-ea"/>
                          <a:ea typeface="+mj-ea"/>
                        </a:rPr>
                        <a:t> ​</a:t>
                      </a:r>
                      <a:r>
                        <a:rPr lang="zh-CN" altLang="en-US" sz="1200" b="1" dirty="0">
                          <a:solidFill>
                            <a:schemeClr val="bg1"/>
                          </a:solidFill>
                          <a:effectLst/>
                          <a:latin typeface="+mj-ea"/>
                          <a:ea typeface="+mj-ea"/>
                        </a:rPr>
                        <a:t>业务计划（</a:t>
                      </a:r>
                      <a:r>
                        <a:rPr lang="en-US" altLang="zh-CN" sz="1200" b="1" dirty="0">
                          <a:solidFill>
                            <a:schemeClr val="bg1"/>
                          </a:solidFill>
                          <a:effectLst/>
                          <a:latin typeface="+mj-ea"/>
                          <a:ea typeface="+mj-ea"/>
                        </a:rPr>
                        <a:t>BP</a:t>
                      </a:r>
                      <a:r>
                        <a:rPr lang="zh-CN" altLang="en-US" sz="1200" b="1" dirty="0">
                          <a:solidFill>
                            <a:schemeClr val="bg1"/>
                          </a:solidFill>
                          <a:effectLst/>
                          <a:latin typeface="+mj-ea"/>
                          <a:ea typeface="+mj-ea"/>
                        </a:rPr>
                        <a:t>）​​</a:t>
                      </a:r>
                      <a:r>
                        <a:rPr lang="en-US" altLang="zh-CN" sz="1200" b="1" dirty="0">
                          <a:solidFill>
                            <a:srgbClr val="7030A0"/>
                          </a:solidFill>
                          <a:effectLst/>
                          <a:latin typeface="+mj-ea"/>
                          <a:ea typeface="+mj-ea"/>
                        </a:rPr>
                        <a:t>IBP(</a:t>
                      </a:r>
                      <a:r>
                        <a:rPr lang="zh-CN" altLang="en-US" sz="1200" b="1" dirty="0">
                          <a:solidFill>
                            <a:srgbClr val="7030A0"/>
                          </a:solidFill>
                          <a:effectLst/>
                          <a:latin typeface="+mj-ea"/>
                          <a:ea typeface="+mj-ea"/>
                        </a:rPr>
                        <a:t>由</a:t>
                      </a:r>
                      <a:r>
                        <a:rPr lang="en-US" altLang="zh-CN" sz="1200" b="1" dirty="0">
                          <a:solidFill>
                            <a:srgbClr val="7030A0"/>
                          </a:solidFill>
                          <a:effectLst/>
                          <a:latin typeface="+mj-ea"/>
                          <a:ea typeface="+mj-ea"/>
                        </a:rPr>
                        <a:t>S&amp;OP</a:t>
                      </a:r>
                      <a:r>
                        <a:rPr lang="zh-CN" altLang="en-US" sz="1200" b="1" dirty="0">
                          <a:solidFill>
                            <a:srgbClr val="7030A0"/>
                          </a:solidFill>
                          <a:effectLst/>
                          <a:latin typeface="+mj-ea"/>
                          <a:ea typeface="+mj-ea"/>
                        </a:rPr>
                        <a:t>升级而来</a:t>
                      </a:r>
                      <a:r>
                        <a:rPr lang="en-US" altLang="zh-CN" sz="1200" b="1" dirty="0">
                          <a:solidFill>
                            <a:srgbClr val="7030A0"/>
                          </a:solidFill>
                          <a:effectLst/>
                          <a:latin typeface="+mj-ea"/>
                          <a:ea typeface="+mj-ea"/>
                        </a:rPr>
                        <a:t>)</a:t>
                      </a:r>
                      <a:endParaRPr lang="zh-CN" altLang="en-US" sz="1200" b="1" dirty="0">
                        <a:solidFill>
                          <a:srgbClr val="7030A0"/>
                        </a:solidFill>
                        <a:effectLst/>
                        <a:latin typeface="+mj-ea"/>
                        <a:ea typeface="+mj-ea"/>
                      </a:endParaRPr>
                    </a:p>
                  </a:txBody>
                  <a:tcPr marL="86025" marR="89610" marT="44805" marB="44805" anchor="ctr">
                    <a:lnL>
                      <a:solidFill>
                        <a:srgbClr val="FFFFFF"/>
                      </a:solidFill>
                      <a:prstDash val="solid"/>
                    </a:lnL>
                    <a:lnR>
                      <a:solidFill>
                        <a:srgbClr val="1C3879"/>
                      </a:solidFill>
                      <a:prstDash val="solid"/>
                    </a:lnR>
                    <a:lnT w="7144" cap="flat" cmpd="sng" algn="ctr">
                      <a:solidFill>
                        <a:srgbClr val="1C3879"/>
                      </a:solidFill>
                      <a:prstDash val="solid"/>
                      <a:round/>
                      <a:headEnd type="none" w="med" len="med"/>
                      <a:tailEnd type="none" w="med" len="med"/>
                    </a:lnT>
                    <a:lnB w="2381"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483433094"/>
                  </a:ext>
                </a:extLst>
              </a:tr>
              <a:tr h="1590952">
                <a:tc>
                  <a:txBody>
                    <a:bodyPr/>
                    <a:lstStyle/>
                    <a:p>
                      <a:pPr algn="l" fontAlgn="base" latinLnBrk="0"/>
                      <a:r>
                        <a:rPr lang="zh-CN" altLang="en-US" sz="1400" b="1" dirty="0">
                          <a:solidFill>
                            <a:srgbClr val="000000"/>
                          </a:solidFill>
                          <a:effectLst/>
                          <a:latin typeface="+mj-ea"/>
                          <a:ea typeface="+mj-ea"/>
                        </a:rPr>
                        <a:t>​战术层​</a:t>
                      </a:r>
                      <a:r>
                        <a:rPr lang="en-US" altLang="zh-CN" sz="1400" b="1" dirty="0">
                          <a:solidFill>
                            <a:srgbClr val="000000"/>
                          </a:solidFill>
                          <a:effectLst/>
                          <a:latin typeface="+mj-ea"/>
                          <a:ea typeface="+mj-ea"/>
                        </a:rPr>
                        <a:t>(Tactical Planning)</a:t>
                      </a:r>
                    </a:p>
                    <a:p>
                      <a:pPr marL="0" marR="0" lvl="0" indent="0" algn="l" defTabSz="914332" rtl="0" eaLnBrk="1" fontAlgn="base" latinLnBrk="0" hangingPunct="1">
                        <a:lnSpc>
                          <a:spcPct val="100000"/>
                        </a:lnSpc>
                        <a:spcBef>
                          <a:spcPts val="0"/>
                        </a:spcBef>
                        <a:spcAft>
                          <a:spcPts val="0"/>
                        </a:spcAft>
                        <a:buClrTx/>
                        <a:buSzTx/>
                        <a:buFontTx/>
                        <a:buNone/>
                        <a:tabLst/>
                        <a:defRPr/>
                      </a:pPr>
                      <a:r>
                        <a:rPr lang="zh-CN" altLang="en-US" sz="1400" b="0" i="1" kern="1200" dirty="0">
                          <a:solidFill>
                            <a:srgbClr val="000000"/>
                          </a:solidFill>
                          <a:effectLst/>
                          <a:latin typeface="+mj-ea"/>
                          <a:ea typeface="+mn-ea"/>
                          <a:cs typeface="+mn-cs"/>
                        </a:rPr>
                        <a:t>反馈延迟​ ？</a:t>
                      </a:r>
                    </a:p>
                    <a:p>
                      <a:pPr marL="0" marR="0" lvl="0" indent="0" algn="l" defTabSz="914332" rtl="0" eaLnBrk="1" fontAlgn="base" latinLnBrk="0" hangingPunct="1">
                        <a:lnSpc>
                          <a:spcPct val="100000"/>
                        </a:lnSpc>
                        <a:spcBef>
                          <a:spcPts val="0"/>
                        </a:spcBef>
                        <a:spcAft>
                          <a:spcPts val="0"/>
                        </a:spcAft>
                        <a:buClrTx/>
                        <a:buSzTx/>
                        <a:buFontTx/>
                        <a:buNone/>
                        <a:tabLst/>
                        <a:defRPr/>
                      </a:pPr>
                      <a:r>
                        <a:rPr lang="zh-CN" altLang="en-US" sz="1400" b="0" i="1" kern="1200" dirty="0">
                          <a:solidFill>
                            <a:srgbClr val="000000"/>
                          </a:solidFill>
                          <a:effectLst/>
                          <a:latin typeface="+mj-ea"/>
                          <a:ea typeface="+mn-ea"/>
                          <a:cs typeface="+mn-cs"/>
                        </a:rPr>
                        <a:t>分解失真？</a:t>
                      </a:r>
                    </a:p>
                  </a:txBody>
                  <a:tcPr marL="86025" marR="89610" marT="44805" marB="44805" anchor="ctr">
                    <a:lnL>
                      <a:solidFill>
                        <a:srgbClr val="1C3879"/>
                      </a:solidFill>
                      <a:prstDash val="solid"/>
                    </a:lnL>
                    <a:lnR>
                      <a:solidFill>
                        <a:srgbClr val="1C3879"/>
                      </a:solidFill>
                      <a:prstDash val="solid"/>
                    </a:lnR>
                    <a:lnT w="2381" cap="flat" cmpd="sng" algn="ctr">
                      <a:solidFill>
                        <a:srgbClr val="FFFFFF"/>
                      </a:solidFill>
                      <a:prstDash val="solid"/>
                      <a:round/>
                      <a:headEnd type="none" w="med" len="med"/>
                      <a:tailEnd type="none" w="med" len="med"/>
                    </a:lnT>
                    <a:lnB w="2381"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marL="171450" indent="-171450" algn="l" fontAlgn="base" latinLnBrk="0">
                        <a:buFont typeface="Arial" panose="020B0604020202020204" pitchFamily="34" charset="0"/>
                        <a:buChar char="•"/>
                      </a:pPr>
                      <a:r>
                        <a:rPr lang="zh-CN" altLang="en-US" sz="1200" b="1" dirty="0">
                          <a:solidFill>
                            <a:schemeClr val="bg1"/>
                          </a:solidFill>
                          <a:effectLst/>
                          <a:latin typeface="+mj-ea"/>
                          <a:ea typeface="+mj-ea"/>
                        </a:rPr>
                        <a:t>销售预测（营销</a:t>
                      </a:r>
                      <a:r>
                        <a:rPr lang="en-US" altLang="zh-CN" sz="1200" b="1" dirty="0">
                          <a:solidFill>
                            <a:schemeClr val="bg1"/>
                          </a:solidFill>
                          <a:effectLst/>
                          <a:latin typeface="+mj-ea"/>
                          <a:ea typeface="+mj-ea"/>
                        </a:rPr>
                        <a:t>)</a:t>
                      </a:r>
                      <a:r>
                        <a:rPr lang="zh-CN" altLang="en-US" sz="1200" b="1" dirty="0">
                          <a:solidFill>
                            <a:schemeClr val="bg1"/>
                          </a:solidFill>
                          <a:effectLst/>
                          <a:latin typeface="+mj-ea"/>
                          <a:ea typeface="+mj-ea"/>
                        </a:rPr>
                        <a:t>：</a:t>
                      </a:r>
                      <a:r>
                        <a:rPr lang="en-US" altLang="zh-CN" sz="1200" b="1" dirty="0">
                          <a:solidFill>
                            <a:srgbClr val="7030A0"/>
                          </a:solidFill>
                          <a:effectLst/>
                          <a:latin typeface="+mj-ea"/>
                          <a:ea typeface="+mj-ea"/>
                        </a:rPr>
                        <a:t>Demand Planning</a:t>
                      </a:r>
                    </a:p>
                    <a:p>
                      <a:pPr marL="171450" indent="-171450" algn="l" fontAlgn="base" latinLnBrk="0">
                        <a:buFont typeface="Arial" panose="020B0604020202020204" pitchFamily="34" charset="0"/>
                        <a:buChar char="•"/>
                      </a:pPr>
                      <a:r>
                        <a:rPr lang="zh-CN" altLang="en-US" sz="1200" b="1" dirty="0">
                          <a:solidFill>
                            <a:schemeClr val="bg1"/>
                          </a:solidFill>
                          <a:effectLst/>
                          <a:latin typeface="+mj-ea"/>
                          <a:ea typeface="+mj-ea"/>
                        </a:rPr>
                        <a:t>新产品引入计划（研发）</a:t>
                      </a:r>
                      <a:r>
                        <a:rPr lang="en-US" altLang="zh-CN" sz="1200" b="1" dirty="0">
                          <a:solidFill>
                            <a:srgbClr val="7030A0"/>
                          </a:solidFill>
                          <a:effectLst/>
                          <a:latin typeface="+mj-ea"/>
                          <a:ea typeface="+mj-ea"/>
                        </a:rPr>
                        <a:t>NPI</a:t>
                      </a:r>
                      <a:endParaRPr lang="zh-CN" altLang="en-US" sz="1200" b="1" dirty="0">
                        <a:solidFill>
                          <a:srgbClr val="7030A0"/>
                        </a:solidFill>
                        <a:effectLst/>
                        <a:latin typeface="+mj-ea"/>
                        <a:ea typeface="+mj-ea"/>
                      </a:endParaRPr>
                    </a:p>
                  </a:txBody>
                  <a:tcPr marL="86025" marR="89610" marT="44805" marB="44805" anchor="ctr">
                    <a:lnL>
                      <a:solidFill>
                        <a:srgbClr val="1C3879"/>
                      </a:solidFill>
                      <a:prstDash val="solid"/>
                    </a:lnL>
                    <a:lnR>
                      <a:solidFill>
                        <a:srgbClr val="FFFFFF"/>
                      </a:solidFill>
                      <a:prstDash val="solid"/>
                    </a:lnR>
                    <a:lnT w="2381" cap="flat" cmpd="sng" algn="ctr">
                      <a:solidFill>
                        <a:srgbClr val="FFFFFF"/>
                      </a:solidFill>
                      <a:prstDash val="solid"/>
                      <a:round/>
                      <a:headEnd type="none" w="med" len="med"/>
                      <a:tailEnd type="none" w="med" len="med"/>
                    </a:lnT>
                    <a:lnB w="2381" cap="flat" cmpd="sng" algn="ctr">
                      <a:solidFill>
                        <a:srgbClr val="FFFFFF"/>
                      </a:solidFill>
                      <a:prstDash val="solid"/>
                      <a:round/>
                      <a:headEnd type="none" w="med" len="med"/>
                      <a:tailEnd type="none" w="med" len="med"/>
                    </a:lnB>
                    <a:noFill/>
                  </a:tcPr>
                </a:tc>
                <a:tc>
                  <a:txBody>
                    <a:bodyPr/>
                    <a:lstStyle/>
                    <a:p>
                      <a:pPr marL="171450" indent="-171450" algn="l" fontAlgn="base" latinLnBrk="0">
                        <a:buFont typeface="Arial" panose="020B0604020202020204" pitchFamily="34" charset="0"/>
                        <a:buChar char="•"/>
                      </a:pPr>
                      <a:r>
                        <a:rPr lang="zh-CN" altLang="en-US" sz="1200" b="1" dirty="0">
                          <a:solidFill>
                            <a:schemeClr val="bg1"/>
                          </a:solidFill>
                          <a:effectLst/>
                          <a:latin typeface="+mj-ea"/>
                          <a:ea typeface="+mj-ea"/>
                        </a:rPr>
                        <a:t>主生产计划​​（制造）</a:t>
                      </a:r>
                      <a:r>
                        <a:rPr lang="en-US" altLang="zh-CN" sz="1200" b="1" dirty="0">
                          <a:solidFill>
                            <a:srgbClr val="7030A0"/>
                          </a:solidFill>
                          <a:effectLst/>
                          <a:latin typeface="+mj-ea"/>
                          <a:ea typeface="+mj-ea"/>
                        </a:rPr>
                        <a:t>MPS</a:t>
                      </a:r>
                    </a:p>
                    <a:p>
                      <a:pPr marL="171450" indent="-171450" algn="l" fontAlgn="base" latinLnBrk="0">
                        <a:buFont typeface="Arial" panose="020B0604020202020204" pitchFamily="34" charset="0"/>
                        <a:buChar char="•"/>
                      </a:pPr>
                      <a:r>
                        <a:rPr lang="zh-CN" altLang="en-US" sz="1200" b="1" dirty="0">
                          <a:solidFill>
                            <a:schemeClr val="bg1"/>
                          </a:solidFill>
                          <a:effectLst/>
                          <a:latin typeface="+mj-ea"/>
                          <a:ea typeface="+mj-ea"/>
                        </a:rPr>
                        <a:t>物料需求计划（采购）</a:t>
                      </a:r>
                      <a:r>
                        <a:rPr lang="en-US" altLang="zh-CN" sz="1200" b="1" dirty="0">
                          <a:solidFill>
                            <a:srgbClr val="7030A0"/>
                          </a:solidFill>
                          <a:effectLst/>
                          <a:latin typeface="+mj-ea"/>
                          <a:ea typeface="+mj-ea"/>
                        </a:rPr>
                        <a:t>MRP</a:t>
                      </a:r>
                      <a:endParaRPr lang="zh-CN" altLang="en-US" sz="1200" b="1" dirty="0">
                        <a:solidFill>
                          <a:srgbClr val="7030A0"/>
                        </a:solidFill>
                        <a:effectLst/>
                        <a:latin typeface="+mj-ea"/>
                        <a:ea typeface="+mj-ea"/>
                      </a:endParaRPr>
                    </a:p>
                  </a:txBody>
                  <a:tcPr marL="86025" marR="89610" marT="44805" marB="44805" anchor="ctr">
                    <a:lnL>
                      <a:solidFill>
                        <a:srgbClr val="FFFFFF"/>
                      </a:solidFill>
                      <a:prstDash val="solid"/>
                    </a:lnL>
                    <a:lnR>
                      <a:solidFill>
                        <a:srgbClr val="FFFFFF"/>
                      </a:solidFill>
                      <a:prstDash val="solid"/>
                    </a:lnR>
                    <a:lnT w="2381" cap="flat" cmpd="sng" algn="ctr">
                      <a:solidFill>
                        <a:srgbClr val="FFFFFF"/>
                      </a:solidFill>
                      <a:prstDash val="solid"/>
                      <a:round/>
                      <a:headEnd type="none" w="med" len="med"/>
                      <a:tailEnd type="none" w="med" len="med"/>
                    </a:lnT>
                    <a:lnB w="2381" cap="flat" cmpd="sng" algn="ctr">
                      <a:solidFill>
                        <a:srgbClr val="FFFFFF"/>
                      </a:solidFill>
                      <a:prstDash val="solid"/>
                      <a:round/>
                      <a:headEnd type="none" w="med" len="med"/>
                      <a:tailEnd type="none" w="med" len="med"/>
                    </a:lnB>
                    <a:noFill/>
                  </a:tcPr>
                </a:tc>
                <a:tc>
                  <a:txBody>
                    <a:bodyPr/>
                    <a:lstStyle/>
                    <a:p>
                      <a:pPr algn="l" fontAlgn="base" latinLnBrk="0"/>
                      <a:r>
                        <a:rPr lang="zh-CN" altLang="en-US" sz="1200" b="1" dirty="0">
                          <a:solidFill>
                            <a:schemeClr val="bg1"/>
                          </a:solidFill>
                          <a:effectLst/>
                          <a:latin typeface="+mj-ea"/>
                          <a:ea typeface="+mj-ea"/>
                        </a:rPr>
                        <a:t>分销需求计划（物流）</a:t>
                      </a:r>
                      <a:r>
                        <a:rPr lang="zh-CN" altLang="en-US" sz="1200" b="1" dirty="0">
                          <a:solidFill>
                            <a:srgbClr val="7030A0"/>
                          </a:solidFill>
                          <a:effectLst/>
                          <a:latin typeface="+mj-ea"/>
                          <a:ea typeface="+mj-ea"/>
                        </a:rPr>
                        <a:t>供应链网络计划</a:t>
                      </a:r>
                    </a:p>
                  </a:txBody>
                  <a:tcPr marL="86025" marR="89610" marT="44805" marB="44805" anchor="ctr">
                    <a:lnL>
                      <a:solidFill>
                        <a:srgbClr val="FFFFFF"/>
                      </a:solidFill>
                      <a:prstDash val="solid"/>
                    </a:lnL>
                    <a:lnR>
                      <a:solidFill>
                        <a:srgbClr val="FFFFFF"/>
                      </a:solidFill>
                      <a:prstDash val="solid"/>
                    </a:lnR>
                    <a:lnT w="2381" cap="flat" cmpd="sng" algn="ctr">
                      <a:solidFill>
                        <a:srgbClr val="FFFFFF"/>
                      </a:solidFill>
                      <a:prstDash val="solid"/>
                      <a:round/>
                      <a:headEnd type="none" w="med" len="med"/>
                      <a:tailEnd type="none" w="med" len="med"/>
                    </a:lnT>
                    <a:lnB w="2381" cap="flat" cmpd="sng" algn="ctr">
                      <a:solidFill>
                        <a:srgbClr val="FFFFFF"/>
                      </a:solidFill>
                      <a:prstDash val="solid"/>
                      <a:round/>
                      <a:headEnd type="none" w="med" len="med"/>
                      <a:tailEnd type="none" w="med" len="med"/>
                    </a:lnB>
                    <a:noFill/>
                  </a:tcPr>
                </a:tc>
                <a:tc>
                  <a:txBody>
                    <a:bodyPr/>
                    <a:lstStyle/>
                    <a:p>
                      <a:pPr algn="l" fontAlgn="base" latinLnBrk="0"/>
                      <a:r>
                        <a:rPr lang="zh-CN" altLang="en-US" sz="1200" b="1" dirty="0">
                          <a:solidFill>
                            <a:schemeClr val="bg1"/>
                          </a:solidFill>
                          <a:effectLst/>
                          <a:latin typeface="+mj-ea"/>
                          <a:ea typeface="+mj-ea"/>
                        </a:rPr>
                        <a:t>财务预算集成（财务）</a:t>
                      </a:r>
                      <a:r>
                        <a:rPr lang="en-US" altLang="zh-CN" sz="1200" b="1" dirty="0">
                          <a:solidFill>
                            <a:srgbClr val="7030A0"/>
                          </a:solidFill>
                          <a:effectLst/>
                          <a:latin typeface="+mj-ea"/>
                          <a:ea typeface="+mj-ea"/>
                        </a:rPr>
                        <a:t>Demand Planning/Financial Planning</a:t>
                      </a:r>
                      <a:endParaRPr lang="zh-CN" altLang="en-US" sz="1200" b="1" dirty="0">
                        <a:solidFill>
                          <a:srgbClr val="7030A0"/>
                        </a:solidFill>
                        <a:effectLst/>
                        <a:latin typeface="+mj-ea"/>
                        <a:ea typeface="+mj-ea"/>
                      </a:endParaRPr>
                    </a:p>
                  </a:txBody>
                  <a:tcPr marL="86025" marR="89610" marT="44805" marB="44805" anchor="ctr">
                    <a:lnL>
                      <a:solidFill>
                        <a:srgbClr val="FFFFFF"/>
                      </a:solidFill>
                      <a:prstDash val="solid"/>
                    </a:lnL>
                    <a:lnR>
                      <a:solidFill>
                        <a:srgbClr val="1C3879"/>
                      </a:solidFill>
                      <a:prstDash val="solid"/>
                    </a:lnR>
                    <a:lnT w="2381" cap="flat" cmpd="sng" algn="ctr">
                      <a:solidFill>
                        <a:srgbClr val="FFFFFF"/>
                      </a:solidFill>
                      <a:prstDash val="solid"/>
                      <a:round/>
                      <a:headEnd type="none" w="med" len="med"/>
                      <a:tailEnd type="none" w="med" len="med"/>
                    </a:lnT>
                    <a:lnB w="2381"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3225276895"/>
                  </a:ext>
                </a:extLst>
              </a:tr>
              <a:tr h="1102509">
                <a:tc>
                  <a:txBody>
                    <a:bodyPr/>
                    <a:lstStyle/>
                    <a:p>
                      <a:pPr algn="l" fontAlgn="base" latinLnBrk="0"/>
                      <a:r>
                        <a:rPr lang="zh-CN" altLang="en-US" sz="1400" b="1" dirty="0">
                          <a:solidFill>
                            <a:srgbClr val="000000"/>
                          </a:solidFill>
                          <a:effectLst/>
                          <a:latin typeface="+mj-ea"/>
                          <a:ea typeface="+mj-ea"/>
                        </a:rPr>
                        <a:t>​执行层</a:t>
                      </a:r>
                      <a:r>
                        <a:rPr lang="en-US" altLang="zh-CN" sz="1400" b="1" dirty="0">
                          <a:solidFill>
                            <a:srgbClr val="000000"/>
                          </a:solidFill>
                          <a:effectLst/>
                          <a:latin typeface="+mj-ea"/>
                          <a:ea typeface="+mj-ea"/>
                        </a:rPr>
                        <a:t>(Operational Planning)</a:t>
                      </a:r>
                    </a:p>
                    <a:p>
                      <a:pPr algn="l" fontAlgn="base" latinLnBrk="0"/>
                      <a:r>
                        <a:rPr lang="zh-CN" altLang="en-US" sz="1200" b="0" i="1" dirty="0">
                          <a:solidFill>
                            <a:srgbClr val="000000"/>
                          </a:solidFill>
                          <a:effectLst/>
                          <a:latin typeface="+mj-ea"/>
                          <a:ea typeface="+mj-ea"/>
                        </a:rPr>
                        <a:t>反馈延迟</a:t>
                      </a:r>
                      <a:r>
                        <a:rPr lang="zh-CN" altLang="en-US" sz="1400" b="0" i="1" dirty="0">
                          <a:solidFill>
                            <a:srgbClr val="000000"/>
                          </a:solidFill>
                          <a:effectLst/>
                          <a:latin typeface="+mj-ea"/>
                          <a:ea typeface="+mj-ea"/>
                        </a:rPr>
                        <a:t>​ ？</a:t>
                      </a:r>
                    </a:p>
                  </a:txBody>
                  <a:tcPr marL="86025" marR="89610" marT="44805" marB="44805" anchor="ctr">
                    <a:lnL>
                      <a:solidFill>
                        <a:srgbClr val="1C3879"/>
                      </a:solidFill>
                      <a:prstDash val="solid"/>
                    </a:lnL>
                    <a:lnR>
                      <a:solidFill>
                        <a:srgbClr val="1C3879"/>
                      </a:solidFill>
                      <a:prstDash val="solid"/>
                    </a:lnR>
                    <a:lnT w="2381" cap="flat" cmpd="sng" algn="ctr">
                      <a:solidFill>
                        <a:srgbClr val="FFFFFF"/>
                      </a:solidFill>
                      <a:prstDash val="solid"/>
                      <a:round/>
                      <a:headEnd type="none" w="med" len="med"/>
                      <a:tailEnd type="none" w="med" len="med"/>
                    </a:lnT>
                    <a:lnB>
                      <a:solidFill>
                        <a:srgbClr val="1C3879"/>
                      </a:solidFill>
                      <a:prstDash val="solid"/>
                    </a:lnB>
                    <a:solidFill>
                      <a:schemeClr val="accent1">
                        <a:lumMod val="60000"/>
                        <a:lumOff val="40000"/>
                      </a:schemeClr>
                    </a:solidFill>
                  </a:tcPr>
                </a:tc>
                <a:tc>
                  <a:txBody>
                    <a:bodyPr/>
                    <a:lstStyle/>
                    <a:p>
                      <a:pPr algn="l" fontAlgn="base" latinLnBrk="0"/>
                      <a:r>
                        <a:rPr lang="zh-CN" altLang="en-US" sz="1200" b="1" dirty="0">
                          <a:solidFill>
                            <a:schemeClr val="bg1"/>
                          </a:solidFill>
                          <a:effectLst/>
                          <a:latin typeface="+mj-ea"/>
                          <a:ea typeface="+mj-ea"/>
                        </a:rPr>
                        <a:t>订单承诺（营销）</a:t>
                      </a:r>
                      <a:r>
                        <a:rPr lang="en-US" altLang="zh-CN" sz="1200" b="1" dirty="0">
                          <a:solidFill>
                            <a:srgbClr val="7030A0"/>
                          </a:solidFill>
                          <a:effectLst/>
                          <a:latin typeface="+mj-ea"/>
                          <a:ea typeface="+mj-ea"/>
                        </a:rPr>
                        <a:t>ATP/CTP</a:t>
                      </a:r>
                      <a:endParaRPr lang="zh-CN" altLang="en-US" sz="1200" b="1" dirty="0">
                        <a:solidFill>
                          <a:srgbClr val="7030A0"/>
                        </a:solidFill>
                        <a:effectLst/>
                        <a:latin typeface="+mj-ea"/>
                        <a:ea typeface="+mj-ea"/>
                      </a:endParaRPr>
                    </a:p>
                  </a:txBody>
                  <a:tcPr marL="86025" marR="89610" marT="44805" marB="44805" anchor="ctr">
                    <a:lnL>
                      <a:solidFill>
                        <a:srgbClr val="1C3879"/>
                      </a:solidFill>
                      <a:prstDash val="solid"/>
                    </a:lnL>
                    <a:lnR>
                      <a:solidFill>
                        <a:srgbClr val="FFFFFF"/>
                      </a:solidFill>
                      <a:prstDash val="solid"/>
                    </a:lnR>
                    <a:lnT w="2381" cap="flat" cmpd="sng" algn="ctr">
                      <a:solidFill>
                        <a:srgbClr val="FFFFFF"/>
                      </a:solidFill>
                      <a:prstDash val="solid"/>
                      <a:round/>
                      <a:headEnd type="none" w="med" len="med"/>
                      <a:tailEnd type="none" w="med" len="med"/>
                    </a:lnT>
                    <a:lnB>
                      <a:solidFill>
                        <a:srgbClr val="1C3879"/>
                      </a:solidFill>
                      <a:prstDash val="solid"/>
                    </a:lnB>
                    <a:noFill/>
                  </a:tcPr>
                </a:tc>
                <a:tc>
                  <a:txBody>
                    <a:bodyPr/>
                    <a:lstStyle/>
                    <a:p>
                      <a:pPr marL="171450" indent="-171450" algn="l" fontAlgn="base" latinLnBrk="0">
                        <a:buFont typeface="Arial" panose="020B0604020202020204" pitchFamily="34" charset="0"/>
                        <a:buChar char="•"/>
                      </a:pPr>
                      <a:r>
                        <a:rPr lang="zh-CN" altLang="en-US" sz="1200" b="1" dirty="0">
                          <a:solidFill>
                            <a:schemeClr val="bg1"/>
                          </a:solidFill>
                          <a:effectLst/>
                          <a:latin typeface="+mj-ea"/>
                          <a:ea typeface="+mj-ea"/>
                        </a:rPr>
                        <a:t>详细排产调度（制造）</a:t>
                      </a:r>
                      <a:r>
                        <a:rPr lang="en-US" altLang="zh-CN" sz="1200" b="1" dirty="0">
                          <a:solidFill>
                            <a:srgbClr val="7030A0"/>
                          </a:solidFill>
                          <a:effectLst/>
                          <a:latin typeface="+mj-ea"/>
                          <a:ea typeface="+mj-ea"/>
                        </a:rPr>
                        <a:t>APS</a:t>
                      </a:r>
                    </a:p>
                    <a:p>
                      <a:pPr marL="171450" indent="-171450" algn="l" fontAlgn="base" latinLnBrk="0">
                        <a:buFont typeface="Arial" panose="020B0604020202020204" pitchFamily="34" charset="0"/>
                        <a:buChar char="•"/>
                      </a:pPr>
                      <a:r>
                        <a:rPr lang="zh-CN" altLang="en-US" sz="1200" b="1" dirty="0">
                          <a:solidFill>
                            <a:schemeClr val="bg1"/>
                          </a:solidFill>
                          <a:effectLst/>
                          <a:latin typeface="+mj-ea"/>
                          <a:ea typeface="+mj-ea"/>
                        </a:rPr>
                        <a:t>采购订单发布（采购）</a:t>
                      </a:r>
                      <a:r>
                        <a:rPr lang="zh-CN" altLang="en-US" sz="1200" b="1" dirty="0">
                          <a:solidFill>
                            <a:srgbClr val="7030A0"/>
                          </a:solidFill>
                          <a:effectLst/>
                          <a:latin typeface="+mj-ea"/>
                          <a:ea typeface="+mj-ea"/>
                        </a:rPr>
                        <a:t>采购执行</a:t>
                      </a:r>
                      <a:r>
                        <a:rPr lang="en-US" altLang="zh-CN" sz="1200" b="1" dirty="0">
                          <a:solidFill>
                            <a:srgbClr val="7030A0"/>
                          </a:solidFill>
                          <a:effectLst/>
                          <a:latin typeface="+mj-ea"/>
                          <a:ea typeface="+mj-ea"/>
                        </a:rPr>
                        <a:t>/Supplier Collaboration</a:t>
                      </a:r>
                      <a:endParaRPr lang="zh-CN" altLang="en-US" sz="1200" b="1" dirty="0">
                        <a:solidFill>
                          <a:srgbClr val="7030A0"/>
                        </a:solidFill>
                        <a:effectLst/>
                        <a:latin typeface="+mj-ea"/>
                        <a:ea typeface="+mj-ea"/>
                      </a:endParaRPr>
                    </a:p>
                  </a:txBody>
                  <a:tcPr marL="86025" marR="89610" marT="44805" marB="44805" anchor="ctr">
                    <a:lnL>
                      <a:solidFill>
                        <a:srgbClr val="FFFFFF"/>
                      </a:solidFill>
                      <a:prstDash val="solid"/>
                    </a:lnL>
                    <a:lnR>
                      <a:solidFill>
                        <a:srgbClr val="FFFFFF"/>
                      </a:solidFill>
                      <a:prstDash val="solid"/>
                    </a:lnR>
                    <a:lnT w="2381" cap="flat" cmpd="sng" algn="ctr">
                      <a:solidFill>
                        <a:srgbClr val="FFFFFF"/>
                      </a:solidFill>
                      <a:prstDash val="solid"/>
                      <a:round/>
                      <a:headEnd type="none" w="med" len="med"/>
                      <a:tailEnd type="none" w="med" len="med"/>
                    </a:lnT>
                    <a:lnB>
                      <a:solidFill>
                        <a:srgbClr val="1C3879"/>
                      </a:solidFill>
                      <a:prstDash val="solid"/>
                    </a:lnB>
                    <a:noFill/>
                  </a:tcPr>
                </a:tc>
                <a:tc>
                  <a:txBody>
                    <a:bodyPr/>
                    <a:lstStyle/>
                    <a:p>
                      <a:pPr marL="171450" indent="-171450" algn="l" fontAlgn="base" latinLnBrk="0">
                        <a:buFont typeface="Arial" panose="020B0604020202020204" pitchFamily="34" charset="0"/>
                        <a:buChar char="•"/>
                      </a:pPr>
                      <a:r>
                        <a:rPr lang="zh-CN" altLang="en-US" sz="1200" b="1" dirty="0">
                          <a:solidFill>
                            <a:schemeClr val="bg1"/>
                          </a:solidFill>
                          <a:effectLst/>
                          <a:latin typeface="+mj-ea"/>
                          <a:ea typeface="+mj-ea"/>
                        </a:rPr>
                        <a:t>运输计划（物流）</a:t>
                      </a:r>
                      <a:r>
                        <a:rPr lang="en-US" altLang="zh-CN" sz="1200" b="1" dirty="0">
                          <a:solidFill>
                            <a:srgbClr val="7030A0"/>
                          </a:solidFill>
                          <a:effectLst/>
                          <a:latin typeface="+mj-ea"/>
                          <a:ea typeface="+mj-ea"/>
                        </a:rPr>
                        <a:t>TMS</a:t>
                      </a:r>
                    </a:p>
                    <a:p>
                      <a:pPr marL="171450" indent="-171450" algn="l" fontAlgn="base" latinLnBrk="0">
                        <a:buFont typeface="Arial" panose="020B0604020202020204" pitchFamily="34" charset="0"/>
                        <a:buChar char="•"/>
                      </a:pPr>
                      <a:r>
                        <a:rPr lang="zh-CN" altLang="en-US" sz="1200" b="1" dirty="0">
                          <a:solidFill>
                            <a:schemeClr val="bg1"/>
                          </a:solidFill>
                          <a:effectLst/>
                          <a:latin typeface="+mj-ea"/>
                          <a:ea typeface="+mj-ea"/>
                        </a:rPr>
                        <a:t>仓储作业计划（物流）</a:t>
                      </a:r>
                      <a:r>
                        <a:rPr lang="en-US" altLang="zh-CN" sz="1200" b="1" dirty="0">
                          <a:solidFill>
                            <a:srgbClr val="7030A0"/>
                          </a:solidFill>
                          <a:effectLst/>
                          <a:latin typeface="+mj-ea"/>
                          <a:ea typeface="+mj-ea"/>
                        </a:rPr>
                        <a:t>WMS</a:t>
                      </a:r>
                      <a:endParaRPr lang="zh-CN" altLang="en-US" sz="1200" b="1" dirty="0">
                        <a:solidFill>
                          <a:srgbClr val="7030A0"/>
                        </a:solidFill>
                        <a:effectLst/>
                        <a:latin typeface="+mj-ea"/>
                        <a:ea typeface="+mj-ea"/>
                      </a:endParaRPr>
                    </a:p>
                  </a:txBody>
                  <a:tcPr marL="86025" marR="89610" marT="44805" marB="44805" anchor="ctr">
                    <a:lnL>
                      <a:solidFill>
                        <a:srgbClr val="FFFFFF"/>
                      </a:solidFill>
                      <a:prstDash val="solid"/>
                    </a:lnL>
                    <a:lnR>
                      <a:solidFill>
                        <a:srgbClr val="FFFFFF"/>
                      </a:solidFill>
                      <a:prstDash val="solid"/>
                    </a:lnR>
                    <a:lnT w="2381" cap="flat" cmpd="sng" algn="ctr">
                      <a:solidFill>
                        <a:srgbClr val="FFFFFF"/>
                      </a:solidFill>
                      <a:prstDash val="solid"/>
                      <a:round/>
                      <a:headEnd type="none" w="med" len="med"/>
                      <a:tailEnd type="none" w="med" len="med"/>
                    </a:lnT>
                    <a:lnB>
                      <a:solidFill>
                        <a:srgbClr val="1C3879"/>
                      </a:solidFill>
                      <a:prstDash val="solid"/>
                    </a:lnB>
                    <a:noFill/>
                  </a:tcPr>
                </a:tc>
                <a:tc>
                  <a:txBody>
                    <a:bodyPr/>
                    <a:lstStyle/>
                    <a:p>
                      <a:pPr algn="l" fontAlgn="base" latinLnBrk="0"/>
                      <a:r>
                        <a:rPr lang="zh-CN" altLang="en-US" sz="1200" b="1" dirty="0">
                          <a:solidFill>
                            <a:schemeClr val="bg1"/>
                          </a:solidFill>
                          <a:effectLst/>
                          <a:latin typeface="+mj-ea"/>
                          <a:ea typeface="+mj-ea"/>
                        </a:rPr>
                        <a:t>每日绩效追踪（财务）</a:t>
                      </a:r>
                      <a:r>
                        <a:rPr lang="en-US" altLang="zh-CN" sz="1200" b="1" dirty="0">
                          <a:solidFill>
                            <a:srgbClr val="7030A0"/>
                          </a:solidFill>
                          <a:effectLst/>
                          <a:latin typeface="+mj-ea"/>
                          <a:ea typeface="+mj-ea"/>
                        </a:rPr>
                        <a:t>KPI predict, root cause analysis, trade-off solution/Control Tower</a:t>
                      </a:r>
                      <a:endParaRPr lang="zh-CN" altLang="en-US" sz="1200" b="1" dirty="0">
                        <a:solidFill>
                          <a:srgbClr val="7030A0"/>
                        </a:solidFill>
                        <a:effectLst/>
                        <a:latin typeface="+mj-ea"/>
                        <a:ea typeface="+mj-ea"/>
                      </a:endParaRPr>
                    </a:p>
                  </a:txBody>
                  <a:tcPr marL="86025" marR="89610" marT="44805" marB="44805" anchor="ctr">
                    <a:lnL>
                      <a:solidFill>
                        <a:srgbClr val="FFFFFF"/>
                      </a:solidFill>
                      <a:prstDash val="solid"/>
                    </a:lnL>
                    <a:lnR>
                      <a:solidFill>
                        <a:srgbClr val="1C3879"/>
                      </a:solidFill>
                      <a:prstDash val="solid"/>
                    </a:lnR>
                    <a:lnT w="2381" cap="flat" cmpd="sng" algn="ctr">
                      <a:solidFill>
                        <a:srgbClr val="FFFFFF"/>
                      </a:solidFill>
                      <a:prstDash val="solid"/>
                      <a:round/>
                      <a:headEnd type="none" w="med" len="med"/>
                      <a:tailEnd type="none" w="med" len="med"/>
                    </a:lnT>
                    <a:lnB>
                      <a:solidFill>
                        <a:srgbClr val="1C3879"/>
                      </a:solidFill>
                      <a:prstDash val="solid"/>
                    </a:lnB>
                    <a:noFill/>
                  </a:tcPr>
                </a:tc>
                <a:extLst>
                  <a:ext uri="{0D108BD9-81ED-4DB2-BD59-A6C34878D82A}">
                    <a16:rowId xmlns:a16="http://schemas.microsoft.com/office/drawing/2014/main" val="2203163893"/>
                  </a:ext>
                </a:extLst>
              </a:tr>
            </a:tbl>
          </a:graphicData>
        </a:graphic>
      </p:graphicFrame>
      <p:sp>
        <p:nvSpPr>
          <p:cNvPr id="4" name="箭头: 上下 3">
            <a:extLst>
              <a:ext uri="{FF2B5EF4-FFF2-40B4-BE49-F238E27FC236}">
                <a16:creationId xmlns:a16="http://schemas.microsoft.com/office/drawing/2014/main" id="{71CF43C6-5804-D808-483A-7CA6C0EE55C9}"/>
              </a:ext>
            </a:extLst>
          </p:cNvPr>
          <p:cNvSpPr/>
          <p:nvPr/>
        </p:nvSpPr>
        <p:spPr>
          <a:xfrm>
            <a:off x="2360437" y="1797553"/>
            <a:ext cx="257175" cy="457201"/>
          </a:xfrm>
          <a:prstGeom prst="upDownArrow">
            <a:avLst/>
          </a:prstGeom>
        </p:spPr>
        <p:style>
          <a:lnRef idx="0">
            <a:schemeClr val="accent6"/>
          </a:lnRef>
          <a:fillRef idx="3">
            <a:schemeClr val="accent6"/>
          </a:fillRef>
          <a:effectRef idx="3">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6" name="箭头: 上下 5">
            <a:extLst>
              <a:ext uri="{FF2B5EF4-FFF2-40B4-BE49-F238E27FC236}">
                <a16:creationId xmlns:a16="http://schemas.microsoft.com/office/drawing/2014/main" id="{71DDF342-E833-E182-52E8-5A8CB0BF73CF}"/>
              </a:ext>
            </a:extLst>
          </p:cNvPr>
          <p:cNvSpPr/>
          <p:nvPr/>
        </p:nvSpPr>
        <p:spPr>
          <a:xfrm>
            <a:off x="2360438" y="4498968"/>
            <a:ext cx="257175" cy="457201"/>
          </a:xfrm>
          <a:prstGeom prst="upDownArrow">
            <a:avLst/>
          </a:prstGeom>
        </p:spPr>
        <p:style>
          <a:lnRef idx="0">
            <a:schemeClr val="accent6"/>
          </a:lnRef>
          <a:fillRef idx="3">
            <a:schemeClr val="accent6"/>
          </a:fillRef>
          <a:effectRef idx="3">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7" name="文本框 6">
            <a:extLst>
              <a:ext uri="{FF2B5EF4-FFF2-40B4-BE49-F238E27FC236}">
                <a16:creationId xmlns:a16="http://schemas.microsoft.com/office/drawing/2014/main" id="{E07365DC-80EC-DFA9-4404-7365B67A106F}"/>
              </a:ext>
            </a:extLst>
          </p:cNvPr>
          <p:cNvSpPr txBox="1"/>
          <p:nvPr/>
        </p:nvSpPr>
        <p:spPr>
          <a:xfrm>
            <a:off x="4154489" y="6033012"/>
            <a:ext cx="6488112" cy="584775"/>
          </a:xfrm>
          <a:prstGeom prst="rect">
            <a:avLst/>
          </a:prstGeom>
          <a:noFill/>
        </p:spPr>
        <p:txBody>
          <a:bodyPr wrap="square" rtlCol="0">
            <a:spAutoFit/>
          </a:bodyPr>
          <a:lstStyle/>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每个计划单元是否都运行着</a:t>
            </a:r>
            <a:r>
              <a:rPr kumimoji="0" lang="zh-CN" altLang="en-US" sz="1600" b="1" i="0" u="none" strike="noStrike" kern="1200" cap="none" spc="0" normalizeH="0" baseline="0" noProof="0" dirty="0">
                <a:ln>
                  <a:noFill/>
                </a:ln>
                <a:solidFill>
                  <a:srgbClr val="00B0F0"/>
                </a:solidFill>
                <a:effectLst/>
                <a:uLnTx/>
                <a:uFillTx/>
                <a:latin typeface="微软雅黑" panose="020B0503020204020204" pitchFamily="34" charset="-122"/>
                <a:ea typeface="微软雅黑" panose="020B0503020204020204" pitchFamily="34" charset="-122"/>
                <a:cs typeface="+mn-cs"/>
              </a:rPr>
              <a:t>最佳实践？</a:t>
            </a:r>
            <a:endParaRPr kumimoji="0" lang="en-US" altLang="zh-CN" sz="1600" b="1" i="0" u="none" strike="noStrike" kern="1200" cap="none" spc="0" normalizeH="0" baseline="0" noProof="0" dirty="0">
              <a:ln>
                <a:noFill/>
              </a:ln>
              <a:solidFill>
                <a:srgbClr val="00B0F0"/>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它们能否</a:t>
            </a:r>
            <a:r>
              <a:rPr kumimoji="0" lang="zh-CN" altLang="en-US" sz="1600" b="1" i="0" u="none" strike="noStrike" kern="1200" cap="none" spc="0" normalizeH="0" baseline="0" noProof="0" dirty="0">
                <a:ln>
                  <a:noFill/>
                </a:ln>
                <a:solidFill>
                  <a:srgbClr val="00B0F0"/>
                </a:solidFill>
                <a:effectLst/>
                <a:uLnTx/>
                <a:uFillTx/>
                <a:latin typeface="微软雅黑" panose="020B0503020204020204" pitchFamily="34" charset="-122"/>
                <a:ea typeface="微软雅黑" panose="020B0503020204020204" pitchFamily="34" charset="-122"/>
                <a:cs typeface="+mn-cs"/>
              </a:rPr>
              <a:t>无缝协同</a:t>
            </a:r>
            <a:r>
              <a:rPr kumimoji="0" lang="zh-CN" altLang="en-US"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，应对</a:t>
            </a:r>
            <a:r>
              <a:rPr kumimoji="0" lang="en-US" altLang="zh-CN"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N²-N</a:t>
            </a:r>
            <a:r>
              <a:rPr kumimoji="0" lang="zh-CN" altLang="en-US"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的复杂度？</a:t>
            </a:r>
          </a:p>
        </p:txBody>
      </p:sp>
      <p:pic>
        <p:nvPicPr>
          <p:cNvPr id="17" name="图形 16">
            <a:extLst>
              <a:ext uri="{FF2B5EF4-FFF2-40B4-BE49-F238E27FC236}">
                <a16:creationId xmlns:a16="http://schemas.microsoft.com/office/drawing/2014/main" id="{95F95626-20E8-B9C6-DD3A-1FF7CF2A44E8}"/>
              </a:ext>
            </a:extLst>
          </p:cNvPr>
          <p:cNvPicPr>
            <a:picLocks noChangeAspect="1"/>
          </p:cNvPicPr>
          <p:nvPr>
            <p:custDataLst>
              <p:tags r:id="rId1"/>
            </p:custDataLst>
          </p:nvPr>
        </p:nvPicPr>
        <p:blipFill>
          <a:blip r:embed="rId3">
            <a:extLst>
              <a:ext uri="{96DAC541-7B7A-43D3-8B79-37D633B846F1}">
                <asvg:svgBlip xmlns:asvg="http://schemas.microsoft.com/office/drawing/2016/SVG/main" r:embed="rId4"/>
              </a:ext>
            </a:extLst>
          </a:blip>
          <a:stretch>
            <a:fillRect/>
          </a:stretch>
        </p:blipFill>
        <p:spPr>
          <a:xfrm>
            <a:off x="2701721" y="5793313"/>
            <a:ext cx="1313585" cy="1064171"/>
          </a:xfrm>
          <a:prstGeom prst="rect">
            <a:avLst/>
          </a:prstGeom>
        </p:spPr>
      </p:pic>
      <p:sp>
        <p:nvSpPr>
          <p:cNvPr id="18" name="箭头: 上下 17">
            <a:extLst>
              <a:ext uri="{FF2B5EF4-FFF2-40B4-BE49-F238E27FC236}">
                <a16:creationId xmlns:a16="http://schemas.microsoft.com/office/drawing/2014/main" id="{B021D7F8-A81F-6EBF-6EE6-A5B4F24DBDEE}"/>
              </a:ext>
            </a:extLst>
          </p:cNvPr>
          <p:cNvSpPr/>
          <p:nvPr/>
        </p:nvSpPr>
        <p:spPr>
          <a:xfrm>
            <a:off x="2360437" y="3200399"/>
            <a:ext cx="257175" cy="457201"/>
          </a:xfrm>
          <a:prstGeom prst="upDownArrow">
            <a:avLst/>
          </a:prstGeom>
        </p:spPr>
        <p:style>
          <a:lnRef idx="0">
            <a:schemeClr val="accent6"/>
          </a:lnRef>
          <a:fillRef idx="3">
            <a:schemeClr val="accent6"/>
          </a:fillRef>
          <a:effectRef idx="3">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Tree>
    <p:extLst>
      <p:ext uri="{BB962C8B-B14F-4D97-AF65-F5344CB8AC3E}">
        <p14:creationId xmlns:p14="http://schemas.microsoft.com/office/powerpoint/2010/main" val="153145652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F37138A-B2D5-AAC6-5900-6B437F2F8072}"/>
              </a:ext>
            </a:extLst>
          </p:cNvPr>
          <p:cNvSpPr>
            <a:spLocks noGrp="1"/>
          </p:cNvSpPr>
          <p:nvPr>
            <p:ph type="title"/>
          </p:nvPr>
        </p:nvSpPr>
        <p:spPr/>
        <p:txBody>
          <a:bodyPr>
            <a:normAutofit/>
          </a:bodyPr>
          <a:lstStyle/>
          <a:p>
            <a:r>
              <a:rPr lang="zh-CN" altLang="en-US" dirty="0"/>
              <a:t>第一性原理一（</a:t>
            </a:r>
            <a:r>
              <a:rPr lang="en-US" altLang="zh-CN" dirty="0"/>
              <a:t>FP1</a:t>
            </a:r>
            <a:r>
              <a:rPr lang="zh-CN" altLang="en-US" dirty="0"/>
              <a:t>）：驾驭 </a:t>
            </a:r>
            <a:r>
              <a:rPr lang="en-US" altLang="zh-CN" dirty="0"/>
              <a:t>N² </a:t>
            </a:r>
            <a:r>
              <a:rPr lang="zh-CN" altLang="en-US" dirty="0"/>
              <a:t>复杂度与范式极限的挑战</a:t>
            </a:r>
          </a:p>
        </p:txBody>
      </p:sp>
      <p:grpSp>
        <p:nvGrpSpPr>
          <p:cNvPr id="33" name="组合 32">
            <a:extLst>
              <a:ext uri="{FF2B5EF4-FFF2-40B4-BE49-F238E27FC236}">
                <a16:creationId xmlns:a16="http://schemas.microsoft.com/office/drawing/2014/main" id="{3EAA2513-B660-50D9-9941-957FC7C5E0B7}"/>
              </a:ext>
            </a:extLst>
          </p:cNvPr>
          <p:cNvGrpSpPr>
            <a:grpSpLocks noChangeAspect="1"/>
          </p:cNvGrpSpPr>
          <p:nvPr>
            <p:custDataLst>
              <p:tags r:id="rId1"/>
            </p:custDataLst>
          </p:nvPr>
        </p:nvGrpSpPr>
        <p:grpSpPr>
          <a:xfrm>
            <a:off x="994266" y="1053503"/>
            <a:ext cx="10266608" cy="5460849"/>
            <a:chOff x="1584255" y="1842473"/>
            <a:chExt cx="5805237" cy="3173054"/>
          </a:xfrm>
        </p:grpSpPr>
        <p:grpSp>
          <p:nvGrpSpPr>
            <p:cNvPr id="34" name="组合 33">
              <a:extLst>
                <a:ext uri="{FF2B5EF4-FFF2-40B4-BE49-F238E27FC236}">
                  <a16:creationId xmlns:a16="http://schemas.microsoft.com/office/drawing/2014/main" id="{EFEA5192-BDFD-7C7E-FAC9-E0C6D24FA746}"/>
                </a:ext>
              </a:extLst>
            </p:cNvPr>
            <p:cNvGrpSpPr/>
            <p:nvPr/>
          </p:nvGrpSpPr>
          <p:grpSpPr>
            <a:xfrm>
              <a:off x="1584255" y="1842473"/>
              <a:ext cx="3013439" cy="3173054"/>
              <a:chOff x="2025741" y="1842473"/>
              <a:chExt cx="3013439" cy="3173054"/>
            </a:xfrm>
          </p:grpSpPr>
          <p:sp>
            <p:nvSpPr>
              <p:cNvPr id="40" name="1">
                <a:extLst>
                  <a:ext uri="{FF2B5EF4-FFF2-40B4-BE49-F238E27FC236}">
                    <a16:creationId xmlns:a16="http://schemas.microsoft.com/office/drawing/2014/main" id="{7F4A8EA9-6CDF-7AD4-9CAC-11E63766C440}"/>
                  </a:ext>
                </a:extLst>
              </p:cNvPr>
              <p:cNvSpPr/>
              <p:nvPr>
                <p:custDataLst>
                  <p:tags r:id="rId5"/>
                </p:custDataLst>
              </p:nvPr>
            </p:nvSpPr>
            <p:spPr>
              <a:xfrm>
                <a:off x="2025741" y="1842473"/>
                <a:ext cx="2568888" cy="3173054"/>
              </a:xfrm>
              <a:prstGeom prst="roundRect">
                <a:avLst>
                  <a:gd name="adj" fmla="val 8223"/>
                </a:avLst>
              </a:prstGeom>
              <a:noFill/>
              <a:ln w="19050">
                <a:solidFill>
                  <a:srgbClr val="3366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000" dirty="0">
                  <a:solidFill>
                    <a:schemeClr val="bg1"/>
                  </a:solidFill>
                  <a:latin typeface="+mj-ea"/>
                  <a:ea typeface="+mj-ea"/>
                </a:endParaRPr>
              </a:p>
            </p:txBody>
          </p:sp>
          <p:sp>
            <p:nvSpPr>
              <p:cNvPr id="41" name="1">
                <a:extLst>
                  <a:ext uri="{FF2B5EF4-FFF2-40B4-BE49-F238E27FC236}">
                    <a16:creationId xmlns:a16="http://schemas.microsoft.com/office/drawing/2014/main" id="{EA292F3A-2030-CD92-CB48-EBCAF262DD75}"/>
                  </a:ext>
                </a:extLst>
              </p:cNvPr>
              <p:cNvSpPr/>
              <p:nvPr>
                <p:custDataLst>
                  <p:tags r:id="rId6"/>
                </p:custDataLst>
              </p:nvPr>
            </p:nvSpPr>
            <p:spPr>
              <a:xfrm rot="5400000">
                <a:off x="4744329" y="3315197"/>
                <a:ext cx="362094" cy="227609"/>
              </a:xfrm>
              <a:prstGeom prst="triangle">
                <a:avLst/>
              </a:prstGeom>
              <a:solidFill>
                <a:schemeClr val="tx2">
                  <a:lumMod val="50000"/>
                  <a:lumOff val="50000"/>
                </a:schemeClr>
              </a:solidFill>
              <a:ln w="25400">
                <a:no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sz="2000">
                  <a:solidFill>
                    <a:schemeClr val="bg1"/>
                  </a:solidFill>
                  <a:latin typeface="+mj-ea"/>
                  <a:ea typeface="+mj-ea"/>
                  <a:cs typeface="+mn-ea"/>
                </a:endParaRPr>
              </a:p>
            </p:txBody>
          </p:sp>
          <p:sp>
            <p:nvSpPr>
              <p:cNvPr id="42" name="Title-1">
                <a:extLst>
                  <a:ext uri="{FF2B5EF4-FFF2-40B4-BE49-F238E27FC236}">
                    <a16:creationId xmlns:a16="http://schemas.microsoft.com/office/drawing/2014/main" id="{8D818F8B-BA96-86A4-8449-04AEF692B6AF}"/>
                  </a:ext>
                </a:extLst>
              </p:cNvPr>
              <p:cNvSpPr txBox="1"/>
              <p:nvPr>
                <p:custDataLst>
                  <p:tags r:id="rId7"/>
                </p:custDataLst>
              </p:nvPr>
            </p:nvSpPr>
            <p:spPr>
              <a:xfrm>
                <a:off x="2176441" y="2012390"/>
                <a:ext cx="2061315" cy="369332"/>
              </a:xfrm>
              <a:prstGeom prst="rect">
                <a:avLst/>
              </a:prstGeom>
              <a:noFill/>
            </p:spPr>
            <p:txBody>
              <a:bodyPr wrap="square" rtlCol="0">
                <a:noAutofit/>
              </a:bodyPr>
              <a:lstStyle/>
              <a:p>
                <a:r>
                  <a:rPr lang="zh-CN" altLang="en-US" sz="2000" b="1" dirty="0">
                    <a:solidFill>
                      <a:schemeClr val="bg1"/>
                    </a:solidFill>
                    <a:latin typeface="+mj-ea"/>
                    <a:ea typeface="+mj-ea"/>
                  </a:rPr>
                  <a:t>核心论述 ：</a:t>
                </a:r>
              </a:p>
            </p:txBody>
          </p:sp>
          <p:sp>
            <p:nvSpPr>
              <p:cNvPr id="43" name="Body-1">
                <a:extLst>
                  <a:ext uri="{FF2B5EF4-FFF2-40B4-BE49-F238E27FC236}">
                    <a16:creationId xmlns:a16="http://schemas.microsoft.com/office/drawing/2014/main" id="{7B2300D0-3014-9620-A4C0-541DB6607B70}"/>
                  </a:ext>
                </a:extLst>
              </p:cNvPr>
              <p:cNvSpPr>
                <a:spLocks/>
              </p:cNvSpPr>
              <p:nvPr>
                <p:custDataLst>
                  <p:tags r:id="rId8"/>
                </p:custDataLst>
              </p:nvPr>
            </p:nvSpPr>
            <p:spPr>
              <a:xfrm>
                <a:off x="2235608" y="2383857"/>
                <a:ext cx="2061315" cy="1586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600" i="0" u="none" strike="noStrike" kern="1200" cap="none" spc="0" normalizeH="0" baseline="0" noProof="0" dirty="0">
                    <a:ln>
                      <a:noFill/>
                    </a:ln>
                    <a:solidFill>
                      <a:schemeClr val="bg1"/>
                    </a:solidFill>
                    <a:effectLst/>
                    <a:uLnTx/>
                    <a:uFillTx/>
                    <a:latin typeface="+mj-ea"/>
                    <a:ea typeface="+mj-ea"/>
                    <a:cs typeface="+mn-cs"/>
                  </a:rPr>
                  <a:t>商业环境的本质是一个由客户、产品与服务、内部资源、外部资源构成的巨大网络。</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600" i="0" u="none" strike="noStrike" kern="1200" cap="none" spc="0" normalizeH="0" baseline="0" noProof="0" dirty="0">
                    <a:ln>
                      <a:noFill/>
                    </a:ln>
                    <a:solidFill>
                      <a:schemeClr val="bg1"/>
                    </a:solidFill>
                    <a:effectLst/>
                    <a:uLnTx/>
                    <a:uFillTx/>
                    <a:latin typeface="+mj-ea"/>
                    <a:ea typeface="+mj-ea"/>
                    <a:cs typeface="+mn-cs"/>
                  </a:rPr>
                  <a:t>协同的复杂度并非简单的 </a:t>
                </a:r>
                <a:r>
                  <a:rPr kumimoji="0" lang="en-US" altLang="zh-CN" sz="1600" i="0" u="none" strike="noStrike" kern="1200" cap="none" spc="0" normalizeH="0" baseline="0" noProof="0" dirty="0">
                    <a:ln>
                      <a:noFill/>
                    </a:ln>
                    <a:solidFill>
                      <a:schemeClr val="bg1"/>
                    </a:solidFill>
                    <a:effectLst/>
                    <a:uLnTx/>
                    <a:uFillTx/>
                    <a:latin typeface="+mj-ea"/>
                    <a:ea typeface="+mj-ea"/>
                    <a:cs typeface="+mn-cs"/>
                  </a:rPr>
                  <a:t>N</a:t>
                </a:r>
                <a:r>
                  <a:rPr kumimoji="0" lang="zh-CN" altLang="en-US" sz="1600" i="0" u="none" strike="noStrike" kern="1200" cap="none" spc="0" normalizeH="0" baseline="0" noProof="0" dirty="0">
                    <a:ln>
                      <a:noFill/>
                    </a:ln>
                    <a:solidFill>
                      <a:schemeClr val="bg1"/>
                    </a:solidFill>
                    <a:effectLst/>
                    <a:uLnTx/>
                    <a:uFillTx/>
                    <a:latin typeface="+mj-ea"/>
                    <a:ea typeface="+mj-ea"/>
                    <a:cs typeface="+mn-cs"/>
                  </a:rPr>
                  <a:t>（相关人员数量），而是呈指数级 </a:t>
                </a:r>
                <a:r>
                  <a:rPr kumimoji="0" lang="en-US" altLang="zh-CN" sz="1600" i="0" u="none" strike="noStrike" kern="1200" cap="none" spc="0" normalizeH="0" baseline="0" noProof="0" dirty="0">
                    <a:ln>
                      <a:noFill/>
                    </a:ln>
                    <a:solidFill>
                      <a:schemeClr val="bg1"/>
                    </a:solidFill>
                    <a:effectLst/>
                    <a:uLnTx/>
                    <a:uFillTx/>
                    <a:latin typeface="+mj-ea"/>
                    <a:ea typeface="+mj-ea"/>
                    <a:cs typeface="+mn-cs"/>
                  </a:rPr>
                  <a:t>N² </a:t>
                </a:r>
                <a:r>
                  <a:rPr kumimoji="0" lang="zh-CN" altLang="en-US" sz="1600" i="0" u="none" strike="noStrike" kern="1200" cap="none" spc="0" normalizeH="0" baseline="0" noProof="0" dirty="0">
                    <a:ln>
                      <a:noFill/>
                    </a:ln>
                    <a:solidFill>
                      <a:schemeClr val="bg1"/>
                    </a:solidFill>
                    <a:effectLst/>
                    <a:uLnTx/>
                    <a:uFillTx/>
                    <a:latin typeface="+mj-ea"/>
                    <a:ea typeface="+mj-ea"/>
                    <a:cs typeface="+mn-cs"/>
                  </a:rPr>
                  <a:t>增长。</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600" i="0" u="none" strike="noStrike" kern="1200" cap="none" spc="0" normalizeH="0" baseline="0" noProof="0" dirty="0">
                    <a:ln>
                      <a:noFill/>
                    </a:ln>
                    <a:solidFill>
                      <a:schemeClr val="bg1"/>
                    </a:solidFill>
                    <a:effectLst/>
                    <a:uLnTx/>
                    <a:uFillTx/>
                    <a:latin typeface="+mj-ea"/>
                    <a:ea typeface="+mj-ea"/>
                    <a:cs typeface="+mn-cs"/>
                  </a:rPr>
                  <a:t>在 </a:t>
                </a:r>
                <a:r>
                  <a:rPr kumimoji="0" lang="en-US" altLang="zh-CN" sz="1600" i="0" u="none" strike="noStrike" kern="1200" cap="none" spc="0" normalizeH="0" baseline="0" noProof="0" dirty="0">
                    <a:ln>
                      <a:noFill/>
                    </a:ln>
                    <a:solidFill>
                      <a:schemeClr val="bg1"/>
                    </a:solidFill>
                    <a:effectLst/>
                    <a:uLnTx/>
                    <a:uFillTx/>
                    <a:latin typeface="+mj-ea"/>
                    <a:ea typeface="+mj-ea"/>
                    <a:cs typeface="+mn-cs"/>
                  </a:rPr>
                  <a:t>VUCA </a:t>
                </a:r>
                <a:r>
                  <a:rPr kumimoji="0" lang="zh-CN" altLang="en-US" sz="1600" i="0" u="none" strike="noStrike" kern="1200" cap="none" spc="0" normalizeH="0" baseline="0" noProof="0" dirty="0">
                    <a:ln>
                      <a:noFill/>
                    </a:ln>
                    <a:solidFill>
                      <a:schemeClr val="bg1"/>
                    </a:solidFill>
                    <a:effectLst/>
                    <a:uLnTx/>
                    <a:uFillTx/>
                    <a:latin typeface="+mj-ea"/>
                    <a:ea typeface="+mj-ea"/>
                    <a:cs typeface="+mn-cs"/>
                  </a:rPr>
                  <a:t>时代，这种 </a:t>
                </a:r>
                <a:r>
                  <a:rPr kumimoji="0" lang="en-US" altLang="zh-CN" sz="1600" i="0" u="none" strike="noStrike" kern="1200" cap="none" spc="0" normalizeH="0" baseline="0" noProof="0" dirty="0">
                    <a:ln>
                      <a:noFill/>
                    </a:ln>
                    <a:solidFill>
                      <a:schemeClr val="bg1"/>
                    </a:solidFill>
                    <a:effectLst/>
                    <a:uLnTx/>
                    <a:uFillTx/>
                    <a:latin typeface="+mj-ea"/>
                    <a:ea typeface="+mj-ea"/>
                    <a:cs typeface="+mn-cs"/>
                  </a:rPr>
                  <a:t>N² </a:t>
                </a:r>
                <a:r>
                  <a:rPr kumimoji="0" lang="zh-CN" altLang="en-US" sz="1600" i="0" u="none" strike="noStrike" kern="1200" cap="none" spc="0" normalizeH="0" baseline="0" noProof="0" dirty="0">
                    <a:ln>
                      <a:noFill/>
                    </a:ln>
                    <a:solidFill>
                      <a:schemeClr val="bg1"/>
                    </a:solidFill>
                    <a:effectLst/>
                    <a:uLnTx/>
                    <a:uFillTx/>
                    <a:latin typeface="+mj-ea"/>
                    <a:ea typeface="+mj-ea"/>
                    <a:cs typeface="+mn-cs"/>
                  </a:rPr>
                  <a:t>级别的复杂度已经超越了工业时代赖以成功的“组织、流程、工具”这“旧三角”范式的承载极限。</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600" i="0" u="none" strike="noStrike" kern="1200" cap="none" spc="0" normalizeH="0" baseline="0" noProof="0" dirty="0">
                    <a:ln>
                      <a:noFill/>
                    </a:ln>
                    <a:solidFill>
                      <a:schemeClr val="bg1"/>
                    </a:solidFill>
                    <a:effectLst/>
                    <a:uLnTx/>
                    <a:uFillTx/>
                    <a:latin typeface="+mj-ea"/>
                    <a:ea typeface="+mj-ea"/>
                    <a:cs typeface="+mn-cs"/>
                  </a:rPr>
                  <a:t>传统的管理手段</a:t>
                </a:r>
                <a:r>
                  <a:rPr kumimoji="0" lang="en-US" altLang="zh-CN" sz="1600" i="0" u="none" strike="noStrike" kern="1200" cap="none" spc="0" normalizeH="0" baseline="0" noProof="0" dirty="0">
                    <a:ln>
                      <a:noFill/>
                    </a:ln>
                    <a:solidFill>
                      <a:schemeClr val="bg1"/>
                    </a:solidFill>
                    <a:effectLst/>
                    <a:uLnTx/>
                    <a:uFillTx/>
                    <a:latin typeface="+mj-ea"/>
                    <a:ea typeface="+mj-ea"/>
                    <a:cs typeface="+mn-cs"/>
                  </a:rPr>
                  <a:t>——“</a:t>
                </a:r>
                <a:r>
                  <a:rPr kumimoji="0" lang="zh-CN" altLang="en-US" sz="1600" i="0" u="none" strike="noStrike" kern="1200" cap="none" spc="0" normalizeH="0" baseline="0" noProof="0" dirty="0">
                    <a:ln>
                      <a:noFill/>
                    </a:ln>
                    <a:solidFill>
                      <a:schemeClr val="bg1"/>
                    </a:solidFill>
                    <a:effectLst/>
                    <a:uLnTx/>
                    <a:uFillTx/>
                    <a:latin typeface="+mj-ea"/>
                    <a:ea typeface="+mj-ea"/>
                    <a:cs typeface="+mn-cs"/>
                  </a:rPr>
                  <a:t>人拉肩扛”、经验决策和部门博弈，在面对 </a:t>
                </a:r>
                <a:r>
                  <a:rPr kumimoji="0" lang="en-US" altLang="zh-CN" sz="1600" i="0" u="none" strike="noStrike" kern="1200" cap="none" spc="0" normalizeH="0" baseline="0" noProof="0" dirty="0">
                    <a:ln>
                      <a:noFill/>
                    </a:ln>
                    <a:solidFill>
                      <a:schemeClr val="bg1"/>
                    </a:solidFill>
                    <a:effectLst/>
                    <a:uLnTx/>
                    <a:uFillTx/>
                    <a:latin typeface="+mj-ea"/>
                    <a:ea typeface="+mj-ea"/>
                    <a:cs typeface="+mn-cs"/>
                  </a:rPr>
                  <a:t>N² </a:t>
                </a:r>
                <a:r>
                  <a:rPr kumimoji="0" lang="zh-CN" altLang="en-US" sz="1600" i="0" u="none" strike="noStrike" kern="1200" cap="none" spc="0" normalizeH="0" baseline="0" noProof="0" dirty="0">
                    <a:ln>
                      <a:noFill/>
                    </a:ln>
                    <a:solidFill>
                      <a:schemeClr val="bg1"/>
                    </a:solidFill>
                    <a:effectLst/>
                    <a:uLnTx/>
                    <a:uFillTx/>
                    <a:latin typeface="+mj-ea"/>
                    <a:ea typeface="+mj-ea"/>
                    <a:cs typeface="+mn-cs"/>
                  </a:rPr>
                  <a:t>复杂度时，必然导致效能崩溃。</a:t>
                </a:r>
                <a:endParaRPr kumimoji="0" lang="en-GB" altLang="zh-CN" sz="1600" i="0" u="none" strike="noStrike" kern="1200" cap="none" spc="0" normalizeH="0" baseline="0" noProof="0" dirty="0">
                  <a:ln>
                    <a:noFill/>
                  </a:ln>
                  <a:solidFill>
                    <a:schemeClr val="bg1"/>
                  </a:solidFill>
                  <a:effectLst/>
                  <a:uLnTx/>
                  <a:uFillTx/>
                  <a:latin typeface="+mj-ea"/>
                  <a:ea typeface="+mj-ea"/>
                  <a:cs typeface="+mn-cs"/>
                </a:endParaRPr>
              </a:p>
            </p:txBody>
          </p:sp>
        </p:grpSp>
        <p:grpSp>
          <p:nvGrpSpPr>
            <p:cNvPr id="35" name="组合 34">
              <a:extLst>
                <a:ext uri="{FF2B5EF4-FFF2-40B4-BE49-F238E27FC236}">
                  <a16:creationId xmlns:a16="http://schemas.microsoft.com/office/drawing/2014/main" id="{D95A5B28-82DE-8379-11AF-C44C5B0BE163}"/>
                </a:ext>
              </a:extLst>
            </p:cNvPr>
            <p:cNvGrpSpPr/>
            <p:nvPr/>
          </p:nvGrpSpPr>
          <p:grpSpPr>
            <a:xfrm>
              <a:off x="4802508" y="1842473"/>
              <a:ext cx="2586984" cy="3173053"/>
              <a:chOff x="5243994" y="1842473"/>
              <a:chExt cx="2586984" cy="3173053"/>
            </a:xfrm>
          </p:grpSpPr>
          <p:sp>
            <p:nvSpPr>
              <p:cNvPr id="36" name="2">
                <a:extLst>
                  <a:ext uri="{FF2B5EF4-FFF2-40B4-BE49-F238E27FC236}">
                    <a16:creationId xmlns:a16="http://schemas.microsoft.com/office/drawing/2014/main" id="{660119C4-5190-CD1D-9638-277DFC8DCDE1}"/>
                  </a:ext>
                </a:extLst>
              </p:cNvPr>
              <p:cNvSpPr/>
              <p:nvPr>
                <p:custDataLst>
                  <p:tags r:id="rId2"/>
                </p:custDataLst>
              </p:nvPr>
            </p:nvSpPr>
            <p:spPr>
              <a:xfrm>
                <a:off x="5243994" y="1842473"/>
                <a:ext cx="2586984" cy="3173053"/>
              </a:xfrm>
              <a:custGeom>
                <a:avLst/>
                <a:gdLst>
                  <a:gd name="connsiteX0" fmla="*/ 194130 w 2485028"/>
                  <a:gd name="connsiteY0" fmla="*/ 0 h 3572433"/>
                  <a:gd name="connsiteX1" fmla="*/ 2290898 w 2485028"/>
                  <a:gd name="connsiteY1" fmla="*/ 0 h 3572433"/>
                  <a:gd name="connsiteX2" fmla="*/ 2485028 w 2485028"/>
                  <a:gd name="connsiteY2" fmla="*/ 194130 h 3572433"/>
                  <a:gd name="connsiteX3" fmla="*/ 2485028 w 2485028"/>
                  <a:gd name="connsiteY3" fmla="*/ 3378303 h 3572433"/>
                  <a:gd name="connsiteX4" fmla="*/ 2290898 w 2485028"/>
                  <a:gd name="connsiteY4" fmla="*/ 3572433 h 3572433"/>
                  <a:gd name="connsiteX5" fmla="*/ 194130 w 2485028"/>
                  <a:gd name="connsiteY5" fmla="*/ 3572433 h 3572433"/>
                  <a:gd name="connsiteX6" fmla="*/ 0 w 2485028"/>
                  <a:gd name="connsiteY6" fmla="*/ 3378303 h 3572433"/>
                  <a:gd name="connsiteX7" fmla="*/ 0 w 2485028"/>
                  <a:gd name="connsiteY7" fmla="*/ 2060413 h 3572433"/>
                  <a:gd name="connsiteX8" fmla="*/ 293370 w 2485028"/>
                  <a:gd name="connsiteY8" fmla="*/ 1793166 h 3572433"/>
                  <a:gd name="connsiteX9" fmla="*/ 0 w 2485028"/>
                  <a:gd name="connsiteY9" fmla="*/ 1525919 h 3572433"/>
                  <a:gd name="connsiteX10" fmla="*/ 0 w 2485028"/>
                  <a:gd name="connsiteY10" fmla="*/ 194130 h 3572433"/>
                  <a:gd name="connsiteX11" fmla="*/ 194130 w 2485028"/>
                  <a:gd name="connsiteY11" fmla="*/ 0 h 357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5028" h="3572433">
                    <a:moveTo>
                      <a:pt x="194130" y="0"/>
                    </a:moveTo>
                    <a:lnTo>
                      <a:pt x="2290898" y="0"/>
                    </a:lnTo>
                    <a:cubicBezTo>
                      <a:pt x="2398113" y="0"/>
                      <a:pt x="2485028" y="86915"/>
                      <a:pt x="2485028" y="194130"/>
                    </a:cubicBezTo>
                    <a:lnTo>
                      <a:pt x="2485028" y="3378303"/>
                    </a:lnTo>
                    <a:cubicBezTo>
                      <a:pt x="2485028" y="3485518"/>
                      <a:pt x="2398113" y="3572433"/>
                      <a:pt x="2290898" y="3572433"/>
                    </a:cubicBezTo>
                    <a:lnTo>
                      <a:pt x="194130" y="3572433"/>
                    </a:lnTo>
                    <a:cubicBezTo>
                      <a:pt x="86915" y="3572433"/>
                      <a:pt x="0" y="3485518"/>
                      <a:pt x="0" y="3378303"/>
                    </a:cubicBezTo>
                    <a:lnTo>
                      <a:pt x="0" y="2060413"/>
                    </a:lnTo>
                    <a:lnTo>
                      <a:pt x="293370" y="1793166"/>
                    </a:lnTo>
                    <a:lnTo>
                      <a:pt x="0" y="1525919"/>
                    </a:lnTo>
                    <a:lnTo>
                      <a:pt x="0" y="194130"/>
                    </a:lnTo>
                    <a:cubicBezTo>
                      <a:pt x="0" y="86915"/>
                      <a:pt x="86915" y="0"/>
                      <a:pt x="194130" y="0"/>
                    </a:cubicBezTo>
                    <a:close/>
                  </a:path>
                </a:pathLst>
              </a:custGeom>
              <a:noFill/>
              <a:ln w="19050">
                <a:solidFill>
                  <a:srgbClr val="EB7E3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a:solidFill>
                    <a:schemeClr val="bg1"/>
                  </a:solidFill>
                  <a:latin typeface="+mj-ea"/>
                  <a:ea typeface="+mj-ea"/>
                </a:endParaRPr>
              </a:p>
            </p:txBody>
          </p:sp>
          <p:sp>
            <p:nvSpPr>
              <p:cNvPr id="37" name="Title-2">
                <a:extLst>
                  <a:ext uri="{FF2B5EF4-FFF2-40B4-BE49-F238E27FC236}">
                    <a16:creationId xmlns:a16="http://schemas.microsoft.com/office/drawing/2014/main" id="{7D06D472-6E37-D853-2CD6-03409EBC73C9}"/>
                  </a:ext>
                </a:extLst>
              </p:cNvPr>
              <p:cNvSpPr txBox="1"/>
              <p:nvPr>
                <p:custDataLst>
                  <p:tags r:id="rId3"/>
                </p:custDataLst>
              </p:nvPr>
            </p:nvSpPr>
            <p:spPr>
              <a:xfrm>
                <a:off x="5411165" y="2012390"/>
                <a:ext cx="2061315" cy="369332"/>
              </a:xfrm>
              <a:prstGeom prst="rect">
                <a:avLst/>
              </a:prstGeom>
              <a:noFill/>
            </p:spPr>
            <p:txBody>
              <a:bodyPr wrap="square" rtlCol="0">
                <a:noAutofit/>
              </a:bodyPr>
              <a:lstStyle/>
              <a:p>
                <a:r>
                  <a:rPr lang="zh-CN" altLang="en-US" sz="2000" b="1" dirty="0">
                    <a:solidFill>
                      <a:schemeClr val="bg1"/>
                    </a:solidFill>
                    <a:latin typeface="+mj-ea"/>
                    <a:ea typeface="+mj-ea"/>
                  </a:rPr>
                  <a:t>核心推论：</a:t>
                </a:r>
              </a:p>
            </p:txBody>
          </p:sp>
          <p:sp>
            <p:nvSpPr>
              <p:cNvPr id="38" name="Body-2">
                <a:extLst>
                  <a:ext uri="{FF2B5EF4-FFF2-40B4-BE49-F238E27FC236}">
                    <a16:creationId xmlns:a16="http://schemas.microsoft.com/office/drawing/2014/main" id="{7D7EA5FE-FA84-D484-872C-0808DEAE833E}"/>
                  </a:ext>
                </a:extLst>
              </p:cNvPr>
              <p:cNvSpPr>
                <a:spLocks/>
              </p:cNvSpPr>
              <p:nvPr>
                <p:custDataLst>
                  <p:tags r:id="rId4"/>
                </p:custDataLst>
              </p:nvPr>
            </p:nvSpPr>
            <p:spPr>
              <a:xfrm>
                <a:off x="5578336" y="2380893"/>
                <a:ext cx="2061315" cy="25160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600" b="0" i="0" u="none" strike="noStrike" kern="1200" cap="none" spc="0" normalizeH="0" baseline="0" noProof="0" dirty="0">
                    <a:ln>
                      <a:noFill/>
                    </a:ln>
                    <a:solidFill>
                      <a:schemeClr val="bg1"/>
                    </a:solidFill>
                    <a:effectLst/>
                    <a:uLnTx/>
                    <a:uFillTx/>
                    <a:latin typeface="+mj-ea"/>
                    <a:ea typeface="+mj-ea"/>
                    <a:cs typeface="+mn-cs"/>
                  </a:rPr>
                  <a:t>传统范式在 </a:t>
                </a:r>
                <a:r>
                  <a:rPr kumimoji="0" lang="en-US" altLang="zh-CN" sz="1600" b="0" i="0" u="none" strike="noStrike" kern="1200" cap="none" spc="0" normalizeH="0" baseline="0" noProof="0" dirty="0">
                    <a:ln>
                      <a:noFill/>
                    </a:ln>
                    <a:solidFill>
                      <a:schemeClr val="bg1"/>
                    </a:solidFill>
                    <a:effectLst/>
                    <a:uLnTx/>
                    <a:uFillTx/>
                    <a:latin typeface="+mj-ea"/>
                    <a:ea typeface="+mj-ea"/>
                    <a:cs typeface="+mn-cs"/>
                  </a:rPr>
                  <a:t>N </a:t>
                </a:r>
                <a:r>
                  <a:rPr kumimoji="0" lang="zh-CN" altLang="en-US" sz="1600" b="0" i="0" u="none" strike="noStrike" kern="1200" cap="none" spc="0" normalizeH="0" baseline="0" noProof="0" dirty="0">
                    <a:ln>
                      <a:noFill/>
                    </a:ln>
                    <a:solidFill>
                      <a:schemeClr val="bg1"/>
                    </a:solidFill>
                    <a:effectLst/>
                    <a:uLnTx/>
                    <a:uFillTx/>
                    <a:latin typeface="+mj-ea"/>
                    <a:ea typeface="+mj-ea"/>
                    <a:cs typeface="+mn-cs"/>
                  </a:rPr>
                  <a:t>较小时仍有成本效益，但这仅仅是“战术优化”。</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600" b="0" i="0" u="none" strike="noStrike" kern="1200" cap="none" spc="0" normalizeH="0" baseline="0" noProof="0" dirty="0">
                    <a:ln>
                      <a:noFill/>
                    </a:ln>
                    <a:solidFill>
                      <a:schemeClr val="bg1"/>
                    </a:solidFill>
                    <a:effectLst/>
                    <a:uLnTx/>
                    <a:uFillTx/>
                    <a:latin typeface="+mj-ea"/>
                    <a:ea typeface="+mj-ea"/>
                    <a:cs typeface="+mn-cs"/>
                  </a:rPr>
                  <a:t>面对 </a:t>
                </a:r>
                <a:r>
                  <a:rPr kumimoji="0" lang="en-US" altLang="zh-CN" sz="1600" b="0" i="0" u="none" strike="noStrike" kern="1200" cap="none" spc="0" normalizeH="0" baseline="0" noProof="0" dirty="0">
                    <a:ln>
                      <a:noFill/>
                    </a:ln>
                    <a:solidFill>
                      <a:schemeClr val="bg1"/>
                    </a:solidFill>
                    <a:effectLst/>
                    <a:uLnTx/>
                    <a:uFillTx/>
                    <a:latin typeface="+mj-ea"/>
                    <a:ea typeface="+mj-ea"/>
                    <a:cs typeface="+mn-cs"/>
                  </a:rPr>
                  <a:t>N² </a:t>
                </a:r>
                <a:r>
                  <a:rPr kumimoji="0" lang="zh-CN" altLang="en-US" sz="1600" b="0" i="0" u="none" strike="noStrike" kern="1200" cap="none" spc="0" normalizeH="0" baseline="0" noProof="0" dirty="0">
                    <a:ln>
                      <a:noFill/>
                    </a:ln>
                    <a:solidFill>
                      <a:schemeClr val="bg1"/>
                    </a:solidFill>
                    <a:effectLst/>
                    <a:uLnTx/>
                    <a:uFillTx/>
                    <a:latin typeface="+mj-ea"/>
                    <a:ea typeface="+mj-ea"/>
                    <a:cs typeface="+mn-cs"/>
                  </a:rPr>
                  <a:t>的挑战，必须认识到“核心能力重构”的必要性，即从单纯的“外壳方案”（如画流程图、调组织）转向“内核算法”。</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600" b="0" i="0" u="none" strike="noStrike" kern="1200" cap="none" spc="0" normalizeH="0" baseline="0" noProof="0" dirty="0">
                    <a:ln>
                      <a:noFill/>
                    </a:ln>
                    <a:solidFill>
                      <a:schemeClr val="bg1"/>
                    </a:solidFill>
                    <a:effectLst/>
                    <a:uLnTx/>
                    <a:uFillTx/>
                    <a:latin typeface="+mj-ea"/>
                    <a:ea typeface="+mj-ea"/>
                    <a:cs typeface="+mn-cs"/>
                  </a:rPr>
                  <a:t>唯有通过内核算法，才能实现指数级效率的突破。任何试图用“人拉肩扛”和“流程堆砌”来解决 </a:t>
                </a:r>
                <a:r>
                  <a:rPr kumimoji="0" lang="en-US" altLang="zh-CN" sz="1600" b="0" i="0" u="none" strike="noStrike" kern="1200" cap="none" spc="0" normalizeH="0" baseline="0" noProof="0" dirty="0">
                    <a:ln>
                      <a:noFill/>
                    </a:ln>
                    <a:solidFill>
                      <a:schemeClr val="bg1"/>
                    </a:solidFill>
                    <a:effectLst/>
                    <a:uLnTx/>
                    <a:uFillTx/>
                    <a:latin typeface="+mj-ea"/>
                    <a:ea typeface="+mj-ea"/>
                    <a:cs typeface="+mn-cs"/>
                  </a:rPr>
                  <a:t>N² </a:t>
                </a:r>
                <a:r>
                  <a:rPr kumimoji="0" lang="zh-CN" altLang="en-US" sz="1600" b="0" i="0" u="none" strike="noStrike" kern="1200" cap="none" spc="0" normalizeH="0" baseline="0" noProof="0" dirty="0">
                    <a:ln>
                      <a:noFill/>
                    </a:ln>
                    <a:solidFill>
                      <a:schemeClr val="bg1"/>
                    </a:solidFill>
                    <a:effectLst/>
                    <a:uLnTx/>
                    <a:uFillTx/>
                    <a:latin typeface="+mj-ea"/>
                    <a:ea typeface="+mj-ea"/>
                    <a:cs typeface="+mn-cs"/>
                  </a:rPr>
                  <a:t>问题的尝试，本质上都是对资源的最大浪费。</a:t>
                </a:r>
                <a:endParaRPr kumimoji="0" lang="en-GB" altLang="zh-CN" sz="1600" b="0" i="0" u="none" strike="noStrike" kern="1200" cap="none" spc="0" normalizeH="0" baseline="0" noProof="0" dirty="0">
                  <a:ln>
                    <a:noFill/>
                  </a:ln>
                  <a:solidFill>
                    <a:schemeClr val="bg1"/>
                  </a:solidFill>
                  <a:effectLst/>
                  <a:uLnTx/>
                  <a:uFillTx/>
                  <a:latin typeface="+mj-ea"/>
                  <a:ea typeface="+mj-ea"/>
                  <a:cs typeface="+mn-cs"/>
                </a:endParaRPr>
              </a:p>
            </p:txBody>
          </p:sp>
        </p:grpSp>
      </p:grpSp>
    </p:spTree>
    <p:extLst>
      <p:ext uri="{BB962C8B-B14F-4D97-AF65-F5344CB8AC3E}">
        <p14:creationId xmlns:p14="http://schemas.microsoft.com/office/powerpoint/2010/main" val="376996301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BA908F2-1C87-E4F6-BEE1-7E85C554AF98}"/>
              </a:ext>
            </a:extLst>
          </p:cNvPr>
          <p:cNvSpPr>
            <a:spLocks noGrp="1"/>
          </p:cNvSpPr>
          <p:nvPr>
            <p:ph type="title"/>
          </p:nvPr>
        </p:nvSpPr>
        <p:spPr/>
        <p:txBody>
          <a:bodyPr/>
          <a:lstStyle/>
          <a:p>
            <a:r>
              <a:rPr lang="en-US" altLang="zh-CN" i="0" dirty="0">
                <a:effectLst/>
                <a:latin typeface="+mj-ea"/>
              </a:rPr>
              <a:t>One Plan</a:t>
            </a:r>
            <a:r>
              <a:rPr lang="zh-CN" altLang="en-US" i="0" dirty="0">
                <a:effectLst/>
                <a:latin typeface="+mj-ea"/>
              </a:rPr>
              <a:t>协同引擎：如何化解矩阵中的复杂度挑战</a:t>
            </a:r>
            <a:r>
              <a:rPr lang="en-US" altLang="zh-CN" i="0" dirty="0">
                <a:effectLst/>
                <a:latin typeface="+mj-ea"/>
              </a:rPr>
              <a:t>——</a:t>
            </a:r>
            <a:r>
              <a:rPr lang="zh-CN" altLang="en-US" i="0" dirty="0">
                <a:effectLst/>
                <a:latin typeface="+mj-ea"/>
              </a:rPr>
              <a:t>横纵生态协同</a:t>
            </a:r>
            <a:endParaRPr lang="zh-CN" altLang="en-US" dirty="0">
              <a:latin typeface="+mj-ea"/>
            </a:endParaRPr>
          </a:p>
        </p:txBody>
      </p:sp>
      <p:sp>
        <p:nvSpPr>
          <p:cNvPr id="3" name="矩形: 圆角 2">
            <a:extLst>
              <a:ext uri="{FF2B5EF4-FFF2-40B4-BE49-F238E27FC236}">
                <a16:creationId xmlns:a16="http://schemas.microsoft.com/office/drawing/2014/main" id="{DD3941FA-0958-AACA-0273-9B180A38D22C}"/>
              </a:ext>
            </a:extLst>
          </p:cNvPr>
          <p:cNvSpPr/>
          <p:nvPr/>
        </p:nvSpPr>
        <p:spPr>
          <a:xfrm>
            <a:off x="569014" y="1100939"/>
            <a:ext cx="1145949" cy="451370"/>
          </a:xfrm>
          <a:prstGeom prst="roundRect">
            <a:avLst/>
          </a:prstGeom>
          <a:solidFill>
            <a:schemeClr val="accent1">
              <a:lumMod val="20000"/>
              <a:lumOff val="80000"/>
            </a:schemeClr>
          </a:solid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统计预测</a:t>
            </a:r>
          </a:p>
        </p:txBody>
      </p:sp>
      <p:sp>
        <p:nvSpPr>
          <p:cNvPr id="4" name="矩形: 圆角 3">
            <a:extLst>
              <a:ext uri="{FF2B5EF4-FFF2-40B4-BE49-F238E27FC236}">
                <a16:creationId xmlns:a16="http://schemas.microsoft.com/office/drawing/2014/main" id="{E26685A4-5B68-9B0D-48EA-E9E4EC7D679C}"/>
              </a:ext>
            </a:extLst>
          </p:cNvPr>
          <p:cNvSpPr/>
          <p:nvPr/>
        </p:nvSpPr>
        <p:spPr>
          <a:xfrm>
            <a:off x="2139016" y="1100939"/>
            <a:ext cx="1145949" cy="451370"/>
          </a:xfrm>
          <a:prstGeom prst="roundRect">
            <a:avLst/>
          </a:prstGeom>
          <a:solidFill>
            <a:schemeClr val="accent1">
              <a:lumMod val="20000"/>
              <a:lumOff val="80000"/>
            </a:schemeClr>
          </a:solid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综合预测</a:t>
            </a:r>
          </a:p>
        </p:txBody>
      </p:sp>
      <p:sp>
        <p:nvSpPr>
          <p:cNvPr id="5" name="矩形: 圆角 4">
            <a:extLst>
              <a:ext uri="{FF2B5EF4-FFF2-40B4-BE49-F238E27FC236}">
                <a16:creationId xmlns:a16="http://schemas.microsoft.com/office/drawing/2014/main" id="{D74E27D1-9312-3714-EF11-701047735558}"/>
              </a:ext>
            </a:extLst>
          </p:cNvPr>
          <p:cNvSpPr/>
          <p:nvPr/>
        </p:nvSpPr>
        <p:spPr>
          <a:xfrm>
            <a:off x="3503456" y="1100939"/>
            <a:ext cx="1188592" cy="451370"/>
          </a:xfrm>
          <a:prstGeom prst="roundRect">
            <a:avLst/>
          </a:prstGeom>
          <a:solidFill>
            <a:schemeClr val="accent1">
              <a:lumMod val="20000"/>
              <a:lumOff val="80000"/>
            </a:schemeClr>
          </a:solid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需求塑造</a:t>
            </a:r>
          </a:p>
        </p:txBody>
      </p:sp>
      <p:sp>
        <p:nvSpPr>
          <p:cNvPr id="6" name="矩形: 圆角 5">
            <a:extLst>
              <a:ext uri="{FF2B5EF4-FFF2-40B4-BE49-F238E27FC236}">
                <a16:creationId xmlns:a16="http://schemas.microsoft.com/office/drawing/2014/main" id="{AF65D7DB-09B9-0554-66FA-26F7314E76F1}"/>
              </a:ext>
            </a:extLst>
          </p:cNvPr>
          <p:cNvSpPr/>
          <p:nvPr/>
        </p:nvSpPr>
        <p:spPr>
          <a:xfrm>
            <a:off x="2141414" y="2497563"/>
            <a:ext cx="1145949" cy="451370"/>
          </a:xfrm>
          <a:prstGeom prst="roundRect">
            <a:avLst/>
          </a:prstGeom>
          <a:solidFill>
            <a:schemeClr val="accent1">
              <a:lumMod val="20000"/>
              <a:lumOff val="8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一致性预测</a:t>
            </a:r>
          </a:p>
        </p:txBody>
      </p:sp>
      <p:sp>
        <p:nvSpPr>
          <p:cNvPr id="7" name="矩形: 圆角 6">
            <a:extLst>
              <a:ext uri="{FF2B5EF4-FFF2-40B4-BE49-F238E27FC236}">
                <a16:creationId xmlns:a16="http://schemas.microsoft.com/office/drawing/2014/main" id="{FCCE1797-7016-2112-C2D0-B8A9051AB997}"/>
              </a:ext>
            </a:extLst>
          </p:cNvPr>
          <p:cNvSpPr/>
          <p:nvPr/>
        </p:nvSpPr>
        <p:spPr>
          <a:xfrm>
            <a:off x="545714" y="3330160"/>
            <a:ext cx="1145949" cy="451370"/>
          </a:xfrm>
          <a:prstGeom prst="roundRect">
            <a:avLst/>
          </a:prstGeom>
          <a:solidFill>
            <a:schemeClr val="accent1">
              <a:lumMod val="40000"/>
              <a:lumOff val="6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库存优化规划</a:t>
            </a:r>
          </a:p>
        </p:txBody>
      </p:sp>
      <p:sp>
        <p:nvSpPr>
          <p:cNvPr id="9" name="矩形: 圆角 8">
            <a:extLst>
              <a:ext uri="{FF2B5EF4-FFF2-40B4-BE49-F238E27FC236}">
                <a16:creationId xmlns:a16="http://schemas.microsoft.com/office/drawing/2014/main" id="{E882950E-82FF-8A4D-023F-8D8220786F39}"/>
              </a:ext>
            </a:extLst>
          </p:cNvPr>
          <p:cNvSpPr/>
          <p:nvPr/>
        </p:nvSpPr>
        <p:spPr>
          <a:xfrm>
            <a:off x="2106270" y="1802470"/>
            <a:ext cx="1211441" cy="451370"/>
          </a:xfrm>
          <a:prstGeom prst="roundRect">
            <a:avLst/>
          </a:prstGeom>
          <a:solidFill>
            <a:schemeClr val="accent1">
              <a:lumMod val="20000"/>
              <a:lumOff val="80000"/>
            </a:schemeClr>
          </a:solid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预测分解</a:t>
            </a:r>
          </a:p>
        </p:txBody>
      </p:sp>
      <p:cxnSp>
        <p:nvCxnSpPr>
          <p:cNvPr id="17" name="连接符: 肘形 16">
            <a:extLst>
              <a:ext uri="{FF2B5EF4-FFF2-40B4-BE49-F238E27FC236}">
                <a16:creationId xmlns:a16="http://schemas.microsoft.com/office/drawing/2014/main" id="{F67A95D8-8E51-E0B3-D99A-E7249F545C81}"/>
              </a:ext>
            </a:extLst>
          </p:cNvPr>
          <p:cNvCxnSpPr>
            <a:cxnSpLocks/>
            <a:stCxn id="5" idx="2"/>
            <a:endCxn id="9" idx="3"/>
          </p:cNvCxnSpPr>
          <p:nvPr/>
        </p:nvCxnSpPr>
        <p:spPr>
          <a:xfrm rot="5400000">
            <a:off x="3469809" y="1400212"/>
            <a:ext cx="475846" cy="780041"/>
          </a:xfrm>
          <a:prstGeom prst="bentConnector2">
            <a:avLst/>
          </a:prstGeom>
          <a:ln>
            <a:tailEnd type="triangle"/>
          </a:ln>
        </p:spPr>
        <p:style>
          <a:lnRef idx="2">
            <a:schemeClr val="accent5">
              <a:shade val="15000"/>
            </a:schemeClr>
          </a:lnRef>
          <a:fillRef idx="1">
            <a:schemeClr val="accent5"/>
          </a:fillRef>
          <a:effectRef idx="0">
            <a:schemeClr val="accent5"/>
          </a:effectRef>
          <a:fontRef idx="minor">
            <a:schemeClr val="lt1"/>
          </a:fontRef>
        </p:style>
      </p:cxnSp>
      <p:cxnSp>
        <p:nvCxnSpPr>
          <p:cNvPr id="19" name="直接箭头连接符 18">
            <a:extLst>
              <a:ext uri="{FF2B5EF4-FFF2-40B4-BE49-F238E27FC236}">
                <a16:creationId xmlns:a16="http://schemas.microsoft.com/office/drawing/2014/main" id="{070974C5-F79D-61BD-E879-CACCD84C10BB}"/>
              </a:ext>
            </a:extLst>
          </p:cNvPr>
          <p:cNvCxnSpPr>
            <a:cxnSpLocks/>
            <a:stCxn id="4" idx="2"/>
            <a:endCxn id="9" idx="0"/>
          </p:cNvCxnSpPr>
          <p:nvPr/>
        </p:nvCxnSpPr>
        <p:spPr>
          <a:xfrm>
            <a:off x="2711991" y="1552309"/>
            <a:ext cx="0" cy="250160"/>
          </a:xfrm>
          <a:prstGeom prst="straightConnector1">
            <a:avLst/>
          </a:prstGeom>
          <a:ln>
            <a:tailEnd type="triangle"/>
          </a:ln>
        </p:spPr>
        <p:style>
          <a:lnRef idx="2">
            <a:schemeClr val="accent5">
              <a:shade val="15000"/>
            </a:schemeClr>
          </a:lnRef>
          <a:fillRef idx="1">
            <a:schemeClr val="accent5"/>
          </a:fillRef>
          <a:effectRef idx="0">
            <a:schemeClr val="accent5"/>
          </a:effectRef>
          <a:fontRef idx="minor">
            <a:schemeClr val="lt1"/>
          </a:fontRef>
        </p:style>
      </p:cxnSp>
      <p:cxnSp>
        <p:nvCxnSpPr>
          <p:cNvPr id="21" name="连接符: 肘形 20">
            <a:extLst>
              <a:ext uri="{FF2B5EF4-FFF2-40B4-BE49-F238E27FC236}">
                <a16:creationId xmlns:a16="http://schemas.microsoft.com/office/drawing/2014/main" id="{A8AF0C2E-73F7-0347-BEBB-6D24A59C1F10}"/>
              </a:ext>
            </a:extLst>
          </p:cNvPr>
          <p:cNvCxnSpPr>
            <a:stCxn id="3" idx="2"/>
            <a:endCxn id="9" idx="1"/>
          </p:cNvCxnSpPr>
          <p:nvPr/>
        </p:nvCxnSpPr>
        <p:spPr>
          <a:xfrm rot="16200000" flipH="1">
            <a:off x="1386206" y="1308092"/>
            <a:ext cx="475846" cy="964281"/>
          </a:xfrm>
          <a:prstGeom prst="bentConnector2">
            <a:avLst/>
          </a:prstGeom>
          <a:ln>
            <a:tailEnd type="triangle"/>
          </a:ln>
        </p:spPr>
        <p:style>
          <a:lnRef idx="2">
            <a:schemeClr val="accent5">
              <a:shade val="15000"/>
            </a:schemeClr>
          </a:lnRef>
          <a:fillRef idx="1">
            <a:schemeClr val="accent5"/>
          </a:fillRef>
          <a:effectRef idx="0">
            <a:schemeClr val="accent5"/>
          </a:effectRef>
          <a:fontRef idx="minor">
            <a:schemeClr val="lt1"/>
          </a:fontRef>
        </p:style>
      </p:cxnSp>
      <p:cxnSp>
        <p:nvCxnSpPr>
          <p:cNvPr id="23" name="连接符: 肘形 22">
            <a:extLst>
              <a:ext uri="{FF2B5EF4-FFF2-40B4-BE49-F238E27FC236}">
                <a16:creationId xmlns:a16="http://schemas.microsoft.com/office/drawing/2014/main" id="{2D368D02-E77E-0773-47E2-524F5A40F5C3}"/>
              </a:ext>
            </a:extLst>
          </p:cNvPr>
          <p:cNvCxnSpPr>
            <a:stCxn id="9" idx="2"/>
            <a:endCxn id="6" idx="0"/>
          </p:cNvCxnSpPr>
          <p:nvPr/>
        </p:nvCxnSpPr>
        <p:spPr>
          <a:xfrm rot="16200000" flipH="1">
            <a:off x="2591328" y="2374503"/>
            <a:ext cx="243724" cy="2398"/>
          </a:xfrm>
          <a:prstGeom prst="bentConnector3">
            <a:avLst/>
          </a:prstGeom>
          <a:ln>
            <a:tailEnd type="triangle"/>
          </a:ln>
        </p:spPr>
        <p:style>
          <a:lnRef idx="2">
            <a:schemeClr val="accent6">
              <a:shade val="15000"/>
            </a:schemeClr>
          </a:lnRef>
          <a:fillRef idx="1">
            <a:schemeClr val="accent6"/>
          </a:fillRef>
          <a:effectRef idx="0">
            <a:schemeClr val="accent6"/>
          </a:effectRef>
          <a:fontRef idx="minor">
            <a:schemeClr val="lt1"/>
          </a:fontRef>
        </p:style>
      </p:cxnSp>
      <p:cxnSp>
        <p:nvCxnSpPr>
          <p:cNvPr id="25" name="连接符: 肘形 24">
            <a:extLst>
              <a:ext uri="{FF2B5EF4-FFF2-40B4-BE49-F238E27FC236}">
                <a16:creationId xmlns:a16="http://schemas.microsoft.com/office/drawing/2014/main" id="{1C573F5E-181C-B581-0F63-5CEA31F497BB}"/>
              </a:ext>
            </a:extLst>
          </p:cNvPr>
          <p:cNvCxnSpPr>
            <a:cxnSpLocks/>
            <a:stCxn id="6" idx="1"/>
            <a:endCxn id="7" idx="0"/>
          </p:cNvCxnSpPr>
          <p:nvPr/>
        </p:nvCxnSpPr>
        <p:spPr>
          <a:xfrm rot="10800000" flipV="1">
            <a:off x="1118690" y="2723248"/>
            <a:ext cx="1022725" cy="606912"/>
          </a:xfrm>
          <a:prstGeom prst="bentConnector2">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26" name="矩形: 圆角 25">
            <a:extLst>
              <a:ext uri="{FF2B5EF4-FFF2-40B4-BE49-F238E27FC236}">
                <a16:creationId xmlns:a16="http://schemas.microsoft.com/office/drawing/2014/main" id="{6EC5EA10-A13B-5FC0-27F3-7066CD538175}"/>
              </a:ext>
            </a:extLst>
          </p:cNvPr>
          <p:cNvSpPr/>
          <p:nvPr/>
        </p:nvSpPr>
        <p:spPr>
          <a:xfrm>
            <a:off x="2138759" y="3331174"/>
            <a:ext cx="1145949" cy="451370"/>
          </a:xfrm>
          <a:prstGeom prst="roundRect">
            <a:avLst/>
          </a:prstGeom>
          <a:solidFill>
            <a:schemeClr val="accent1">
              <a:lumMod val="40000"/>
              <a:lumOff val="6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主计划</a:t>
            </a:r>
          </a:p>
        </p:txBody>
      </p:sp>
      <p:sp>
        <p:nvSpPr>
          <p:cNvPr id="27" name="矩形: 圆角 26">
            <a:extLst>
              <a:ext uri="{FF2B5EF4-FFF2-40B4-BE49-F238E27FC236}">
                <a16:creationId xmlns:a16="http://schemas.microsoft.com/office/drawing/2014/main" id="{DCE939CC-72D7-BD9F-3692-A645F6355BDA}"/>
              </a:ext>
            </a:extLst>
          </p:cNvPr>
          <p:cNvSpPr/>
          <p:nvPr/>
        </p:nvSpPr>
        <p:spPr>
          <a:xfrm>
            <a:off x="3723817" y="3969000"/>
            <a:ext cx="1145949" cy="451370"/>
          </a:xfrm>
          <a:prstGeom prst="roundRect">
            <a:avLst/>
          </a:prstGeom>
          <a:gradFill>
            <a:gsLst>
              <a:gs pos="0">
                <a:schemeClr val="accent1">
                  <a:lumMod val="5000"/>
                  <a:lumOff val="95000"/>
                </a:schemeClr>
              </a:gs>
              <a:gs pos="44000">
                <a:schemeClr val="accent1">
                  <a:lumMod val="45000"/>
                  <a:lumOff val="55000"/>
                </a:schemeClr>
              </a:gs>
              <a:gs pos="100000">
                <a:schemeClr val="accent1">
                  <a:lumMod val="60000"/>
                  <a:lumOff val="40000"/>
                </a:schemeClr>
              </a:gs>
              <a:gs pos="100000">
                <a:schemeClr val="accent1">
                  <a:lumMod val="30000"/>
                  <a:lumOff val="70000"/>
                </a:schemeClr>
              </a:gs>
            </a:gsLst>
            <a:lin ang="5400000" scaled="1"/>
          </a:gradFill>
          <a:ln>
            <a:noFill/>
          </a:ln>
        </p:spPr>
        <p:style>
          <a:lnRef idx="1">
            <a:schemeClr val="accent6"/>
          </a:lnRef>
          <a:fillRef idx="3">
            <a:schemeClr val="accent6"/>
          </a:fillRef>
          <a:effectRef idx="2">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约束规划</a:t>
            </a:r>
          </a:p>
        </p:txBody>
      </p:sp>
      <p:sp>
        <p:nvSpPr>
          <p:cNvPr id="28" name="矩形: 圆角 27">
            <a:extLst>
              <a:ext uri="{FF2B5EF4-FFF2-40B4-BE49-F238E27FC236}">
                <a16:creationId xmlns:a16="http://schemas.microsoft.com/office/drawing/2014/main" id="{4C199EA3-87D5-2626-54D2-0FB52C971522}"/>
              </a:ext>
            </a:extLst>
          </p:cNvPr>
          <p:cNvSpPr/>
          <p:nvPr/>
        </p:nvSpPr>
        <p:spPr>
          <a:xfrm>
            <a:off x="3648659" y="3330159"/>
            <a:ext cx="1145949" cy="451370"/>
          </a:xfrm>
          <a:prstGeom prst="roundRect">
            <a:avLst/>
          </a:prstGeom>
          <a:gradFill>
            <a:gsLst>
              <a:gs pos="0">
                <a:schemeClr val="accent1">
                  <a:lumMod val="5000"/>
                  <a:lumOff val="95000"/>
                </a:schemeClr>
              </a:gs>
              <a:gs pos="44000">
                <a:schemeClr val="accent1">
                  <a:lumMod val="45000"/>
                  <a:lumOff val="55000"/>
                </a:schemeClr>
              </a:gs>
              <a:gs pos="100000">
                <a:schemeClr val="accent1">
                  <a:lumMod val="60000"/>
                  <a:lumOff val="40000"/>
                </a:schemeClr>
              </a:gs>
              <a:gs pos="100000">
                <a:schemeClr val="accent1">
                  <a:lumMod val="30000"/>
                  <a:lumOff val="70000"/>
                </a:schemeClr>
              </a:gs>
            </a:gsLst>
            <a:lin ang="5400000" scaled="1"/>
          </a:gradFill>
          <a:ln>
            <a:noFill/>
          </a:ln>
        </p:spPr>
        <p:style>
          <a:lnRef idx="1">
            <a:schemeClr val="accent6"/>
          </a:lnRef>
          <a:fillRef idx="3">
            <a:schemeClr val="accent6"/>
          </a:fillRef>
          <a:effectRef idx="2">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供应商协同</a:t>
            </a:r>
          </a:p>
        </p:txBody>
      </p:sp>
      <p:sp>
        <p:nvSpPr>
          <p:cNvPr id="29" name="矩形: 圆角 28">
            <a:extLst>
              <a:ext uri="{FF2B5EF4-FFF2-40B4-BE49-F238E27FC236}">
                <a16:creationId xmlns:a16="http://schemas.microsoft.com/office/drawing/2014/main" id="{1F88A498-381C-717A-7F5F-7B70CFA59BAE}"/>
              </a:ext>
            </a:extLst>
          </p:cNvPr>
          <p:cNvSpPr/>
          <p:nvPr/>
        </p:nvSpPr>
        <p:spPr>
          <a:xfrm>
            <a:off x="2124853" y="4522707"/>
            <a:ext cx="1145949" cy="451370"/>
          </a:xfrm>
          <a:prstGeom prst="roundRect">
            <a:avLst/>
          </a:prstGeom>
          <a:solidFill>
            <a:schemeClr val="accent1">
              <a:lumMod val="60000"/>
              <a:lumOff val="4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执行计划</a:t>
            </a:r>
          </a:p>
        </p:txBody>
      </p:sp>
      <p:sp>
        <p:nvSpPr>
          <p:cNvPr id="30" name="矩形: 圆角 29">
            <a:extLst>
              <a:ext uri="{FF2B5EF4-FFF2-40B4-BE49-F238E27FC236}">
                <a16:creationId xmlns:a16="http://schemas.microsoft.com/office/drawing/2014/main" id="{D816659C-88A3-D714-7160-224CE3C4BE1E}"/>
              </a:ext>
            </a:extLst>
          </p:cNvPr>
          <p:cNvSpPr/>
          <p:nvPr/>
        </p:nvSpPr>
        <p:spPr>
          <a:xfrm>
            <a:off x="545714" y="4522706"/>
            <a:ext cx="1145949" cy="451370"/>
          </a:xfrm>
          <a:prstGeom prst="roundRect">
            <a:avLst/>
          </a:prstGeom>
          <a:solidFill>
            <a:schemeClr val="accent1">
              <a:lumMod val="60000"/>
              <a:lumOff val="4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ATP/ATS</a:t>
            </a:r>
            <a:endParaRPr kumimoji="0" lang="zh-CN" altLang="en-US" sz="12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sp>
        <p:nvSpPr>
          <p:cNvPr id="31" name="矩形: 圆角 30">
            <a:extLst>
              <a:ext uri="{FF2B5EF4-FFF2-40B4-BE49-F238E27FC236}">
                <a16:creationId xmlns:a16="http://schemas.microsoft.com/office/drawing/2014/main" id="{A5CB04E9-CE42-2B0B-4573-3314C680A919}"/>
              </a:ext>
            </a:extLst>
          </p:cNvPr>
          <p:cNvSpPr/>
          <p:nvPr/>
        </p:nvSpPr>
        <p:spPr>
          <a:xfrm>
            <a:off x="2122669" y="5365788"/>
            <a:ext cx="1145949" cy="451370"/>
          </a:xfrm>
          <a:prstGeom prst="roundRect">
            <a:avLst/>
          </a:prstGeom>
          <a:solidFill>
            <a:schemeClr val="accent1">
              <a:lumMod val="60000"/>
              <a:lumOff val="4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排程调度</a:t>
            </a:r>
          </a:p>
        </p:txBody>
      </p:sp>
      <p:sp>
        <p:nvSpPr>
          <p:cNvPr id="32" name="矩形: 圆角 31">
            <a:extLst>
              <a:ext uri="{FF2B5EF4-FFF2-40B4-BE49-F238E27FC236}">
                <a16:creationId xmlns:a16="http://schemas.microsoft.com/office/drawing/2014/main" id="{6E18908A-AFB0-808A-67DD-8288DA79F36B}"/>
              </a:ext>
            </a:extLst>
          </p:cNvPr>
          <p:cNvSpPr/>
          <p:nvPr/>
        </p:nvSpPr>
        <p:spPr>
          <a:xfrm>
            <a:off x="2133910" y="6151383"/>
            <a:ext cx="1145949" cy="451370"/>
          </a:xfrm>
          <a:prstGeom prst="roundRect">
            <a:avLst/>
          </a:prstGeom>
          <a:solidFill>
            <a:schemeClr val="accent1">
              <a:lumMod val="60000"/>
              <a:lumOff val="4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Call</a:t>
            </a:r>
            <a:r>
              <a:rPr kumimoji="0" lang="zh-CN" altLang="en-US" sz="12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料</a:t>
            </a:r>
          </a:p>
        </p:txBody>
      </p:sp>
      <p:cxnSp>
        <p:nvCxnSpPr>
          <p:cNvPr id="36" name="连接符: 肘形 35">
            <a:extLst>
              <a:ext uri="{FF2B5EF4-FFF2-40B4-BE49-F238E27FC236}">
                <a16:creationId xmlns:a16="http://schemas.microsoft.com/office/drawing/2014/main" id="{4055E09F-03ED-4C74-7499-2413B357C0D7}"/>
              </a:ext>
            </a:extLst>
          </p:cNvPr>
          <p:cNvCxnSpPr>
            <a:cxnSpLocks/>
            <a:stCxn id="26" idx="2"/>
            <a:endCxn id="27" idx="1"/>
          </p:cNvCxnSpPr>
          <p:nvPr/>
        </p:nvCxnSpPr>
        <p:spPr>
          <a:xfrm rot="16200000" flipH="1">
            <a:off x="3011705" y="3482572"/>
            <a:ext cx="412141" cy="1012083"/>
          </a:xfrm>
          <a:prstGeom prst="bentConnector2">
            <a:avLst/>
          </a:prstGeom>
          <a:ln>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38" name="直接箭头连接符 37">
            <a:extLst>
              <a:ext uri="{FF2B5EF4-FFF2-40B4-BE49-F238E27FC236}">
                <a16:creationId xmlns:a16="http://schemas.microsoft.com/office/drawing/2014/main" id="{206FD5D2-1B58-3E8D-667E-382D7C8BFA04}"/>
              </a:ext>
            </a:extLst>
          </p:cNvPr>
          <p:cNvCxnSpPr>
            <a:cxnSpLocks/>
            <a:stCxn id="26" idx="3"/>
            <a:endCxn id="28" idx="1"/>
          </p:cNvCxnSpPr>
          <p:nvPr/>
        </p:nvCxnSpPr>
        <p:spPr>
          <a:xfrm flipV="1">
            <a:off x="3284708" y="3555844"/>
            <a:ext cx="363951" cy="1015"/>
          </a:xfrm>
          <a:prstGeom prst="straightConnector1">
            <a:avLst/>
          </a:prstGeom>
          <a:ln>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40" name="直接箭头连接符 39">
            <a:extLst>
              <a:ext uri="{FF2B5EF4-FFF2-40B4-BE49-F238E27FC236}">
                <a16:creationId xmlns:a16="http://schemas.microsoft.com/office/drawing/2014/main" id="{DCF8320D-DA36-FFAD-8D61-09064574DAA2}"/>
              </a:ext>
            </a:extLst>
          </p:cNvPr>
          <p:cNvCxnSpPr>
            <a:cxnSpLocks/>
            <a:stCxn id="30" idx="3"/>
            <a:endCxn id="29" idx="1"/>
          </p:cNvCxnSpPr>
          <p:nvPr/>
        </p:nvCxnSpPr>
        <p:spPr>
          <a:xfrm>
            <a:off x="1691663" y="4748391"/>
            <a:ext cx="433190" cy="1"/>
          </a:xfrm>
          <a:prstGeom prst="straightConnector1">
            <a:avLst/>
          </a:prstGeom>
          <a:ln>
            <a:tailEnd type="triangle"/>
          </a:ln>
        </p:spPr>
        <p:style>
          <a:lnRef idx="2">
            <a:schemeClr val="accent1"/>
          </a:lnRef>
          <a:fillRef idx="0">
            <a:schemeClr val="accent1"/>
          </a:fillRef>
          <a:effectRef idx="1">
            <a:schemeClr val="accent1"/>
          </a:effectRef>
          <a:fontRef idx="minor">
            <a:schemeClr val="tx1"/>
          </a:fontRef>
        </p:style>
      </p:cxnSp>
      <p:cxnSp>
        <p:nvCxnSpPr>
          <p:cNvPr id="41" name="连接符: 肘形 40">
            <a:extLst>
              <a:ext uri="{FF2B5EF4-FFF2-40B4-BE49-F238E27FC236}">
                <a16:creationId xmlns:a16="http://schemas.microsoft.com/office/drawing/2014/main" id="{C1D47583-29BF-9610-A506-799CAAC7906D}"/>
              </a:ext>
            </a:extLst>
          </p:cNvPr>
          <p:cNvCxnSpPr>
            <a:stCxn id="26" idx="2"/>
            <a:endCxn id="30" idx="0"/>
          </p:cNvCxnSpPr>
          <p:nvPr/>
        </p:nvCxnSpPr>
        <p:spPr>
          <a:xfrm rot="5400000">
            <a:off x="1545131" y="3356103"/>
            <a:ext cx="740162" cy="1593045"/>
          </a:xfrm>
          <a:prstGeom prst="bentConnector3">
            <a:avLst>
              <a:gd name="adj1" fmla="val 55148"/>
            </a:avLst>
          </a:prstGeom>
          <a:ln>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43" name="连接符: 肘形 42">
            <a:extLst>
              <a:ext uri="{FF2B5EF4-FFF2-40B4-BE49-F238E27FC236}">
                <a16:creationId xmlns:a16="http://schemas.microsoft.com/office/drawing/2014/main" id="{9779C83E-5672-4426-47F6-53391BEBA986}"/>
              </a:ext>
            </a:extLst>
          </p:cNvPr>
          <p:cNvCxnSpPr>
            <a:cxnSpLocks/>
            <a:stCxn id="28" idx="3"/>
            <a:endCxn id="29" idx="3"/>
          </p:cNvCxnSpPr>
          <p:nvPr/>
        </p:nvCxnSpPr>
        <p:spPr>
          <a:xfrm flipH="1">
            <a:off x="3270802" y="3555844"/>
            <a:ext cx="1523806" cy="1192548"/>
          </a:xfrm>
          <a:prstGeom prst="bentConnector3">
            <a:avLst>
              <a:gd name="adj1" fmla="val -15002"/>
            </a:avLst>
          </a:prstGeom>
          <a:ln w="12700">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4" name="直接箭头连接符 43">
            <a:extLst>
              <a:ext uri="{FF2B5EF4-FFF2-40B4-BE49-F238E27FC236}">
                <a16:creationId xmlns:a16="http://schemas.microsoft.com/office/drawing/2014/main" id="{58D9D8A4-059C-11ED-07DA-1330AEAE697A}"/>
              </a:ext>
            </a:extLst>
          </p:cNvPr>
          <p:cNvCxnSpPr>
            <a:stCxn id="29" idx="2"/>
            <a:endCxn id="31" idx="0"/>
          </p:cNvCxnSpPr>
          <p:nvPr/>
        </p:nvCxnSpPr>
        <p:spPr>
          <a:xfrm flipH="1">
            <a:off x="2695644" y="4974077"/>
            <a:ext cx="2185" cy="391711"/>
          </a:xfrm>
          <a:prstGeom prst="straightConnector1">
            <a:avLst/>
          </a:prstGeom>
          <a:ln>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45" name="直接箭头连接符 44">
            <a:extLst>
              <a:ext uri="{FF2B5EF4-FFF2-40B4-BE49-F238E27FC236}">
                <a16:creationId xmlns:a16="http://schemas.microsoft.com/office/drawing/2014/main" id="{372A30AC-A379-8F84-9F3A-455EC24D4D6A}"/>
              </a:ext>
            </a:extLst>
          </p:cNvPr>
          <p:cNvCxnSpPr>
            <a:stCxn id="31" idx="2"/>
            <a:endCxn id="32" idx="0"/>
          </p:cNvCxnSpPr>
          <p:nvPr/>
        </p:nvCxnSpPr>
        <p:spPr>
          <a:xfrm>
            <a:off x="2695644" y="5817158"/>
            <a:ext cx="11241" cy="334224"/>
          </a:xfrm>
          <a:prstGeom prst="straightConnector1">
            <a:avLst/>
          </a:prstGeom>
          <a:ln>
            <a:tailEnd type="triangle"/>
          </a:ln>
        </p:spPr>
        <p:style>
          <a:lnRef idx="2">
            <a:schemeClr val="accent1"/>
          </a:lnRef>
          <a:fillRef idx="0">
            <a:schemeClr val="accent1"/>
          </a:fillRef>
          <a:effectRef idx="1">
            <a:schemeClr val="accent1"/>
          </a:effectRef>
          <a:fontRef idx="minor">
            <a:schemeClr val="tx1"/>
          </a:fontRef>
        </p:style>
      </p:cxnSp>
      <p:sp>
        <p:nvSpPr>
          <p:cNvPr id="14" name="矩形: 圆角 13">
            <a:extLst>
              <a:ext uri="{FF2B5EF4-FFF2-40B4-BE49-F238E27FC236}">
                <a16:creationId xmlns:a16="http://schemas.microsoft.com/office/drawing/2014/main" id="{21A09E16-9A0F-2683-EEA0-BF77EC2C4593}"/>
              </a:ext>
            </a:extLst>
          </p:cNvPr>
          <p:cNvSpPr/>
          <p:nvPr/>
        </p:nvSpPr>
        <p:spPr>
          <a:xfrm>
            <a:off x="4907409" y="1104451"/>
            <a:ext cx="1188592" cy="451370"/>
          </a:xfrm>
          <a:prstGeom prst="roundRect">
            <a:avLst/>
          </a:prstGeom>
          <a:solidFill>
            <a:schemeClr val="accent1">
              <a:lumMod val="20000"/>
              <a:lumOff val="80000"/>
            </a:schemeClr>
          </a:solid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财务规划</a:t>
            </a:r>
          </a:p>
        </p:txBody>
      </p:sp>
      <p:cxnSp>
        <p:nvCxnSpPr>
          <p:cNvPr id="24" name="连接符: 肘形 23">
            <a:extLst>
              <a:ext uri="{FF2B5EF4-FFF2-40B4-BE49-F238E27FC236}">
                <a16:creationId xmlns:a16="http://schemas.microsoft.com/office/drawing/2014/main" id="{4BAE4E5C-9B4C-BCE7-1EAC-70226598EAC6}"/>
              </a:ext>
            </a:extLst>
          </p:cNvPr>
          <p:cNvCxnSpPr>
            <a:cxnSpLocks/>
            <a:endCxn id="4" idx="0"/>
          </p:cNvCxnSpPr>
          <p:nvPr/>
        </p:nvCxnSpPr>
        <p:spPr>
          <a:xfrm rot="16200000" flipV="1">
            <a:off x="4184081" y="-371962"/>
            <a:ext cx="14048" cy="2945802"/>
          </a:xfrm>
          <a:prstGeom prst="bentConnector3">
            <a:avLst>
              <a:gd name="adj1" fmla="val 1800000"/>
            </a:avLst>
          </a:prstGeom>
          <a:ln>
            <a:tailEnd type="triangle"/>
          </a:ln>
        </p:spPr>
        <p:style>
          <a:lnRef idx="2">
            <a:schemeClr val="accent5">
              <a:shade val="15000"/>
            </a:schemeClr>
          </a:lnRef>
          <a:fillRef idx="1">
            <a:schemeClr val="accent5"/>
          </a:fillRef>
          <a:effectRef idx="0">
            <a:schemeClr val="accent5"/>
          </a:effectRef>
          <a:fontRef idx="minor">
            <a:schemeClr val="lt1"/>
          </a:fontRef>
        </p:style>
      </p:cxnSp>
      <p:cxnSp>
        <p:nvCxnSpPr>
          <p:cNvPr id="56" name="直接箭头连接符 55">
            <a:extLst>
              <a:ext uri="{FF2B5EF4-FFF2-40B4-BE49-F238E27FC236}">
                <a16:creationId xmlns:a16="http://schemas.microsoft.com/office/drawing/2014/main" id="{FFA1CC69-8ECD-261E-7E31-FA0B9DCA397A}"/>
              </a:ext>
            </a:extLst>
          </p:cNvPr>
          <p:cNvCxnSpPr>
            <a:stCxn id="6" idx="2"/>
            <a:endCxn id="26" idx="0"/>
          </p:cNvCxnSpPr>
          <p:nvPr/>
        </p:nvCxnSpPr>
        <p:spPr>
          <a:xfrm flipH="1">
            <a:off x="2711734" y="2948933"/>
            <a:ext cx="2655" cy="382241"/>
          </a:xfrm>
          <a:prstGeom prst="straightConnector1">
            <a:avLst/>
          </a:prstGeom>
          <a:ln w="12700">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2" name="直接箭头连接符 61">
            <a:extLst>
              <a:ext uri="{FF2B5EF4-FFF2-40B4-BE49-F238E27FC236}">
                <a16:creationId xmlns:a16="http://schemas.microsoft.com/office/drawing/2014/main" id="{97B1A793-954C-1ACC-4B31-F662145A7DEA}"/>
              </a:ext>
            </a:extLst>
          </p:cNvPr>
          <p:cNvCxnSpPr>
            <a:cxnSpLocks/>
            <a:stCxn id="7" idx="3"/>
            <a:endCxn id="26" idx="1"/>
          </p:cNvCxnSpPr>
          <p:nvPr/>
        </p:nvCxnSpPr>
        <p:spPr>
          <a:xfrm>
            <a:off x="1691663" y="3555845"/>
            <a:ext cx="447096" cy="1014"/>
          </a:xfrm>
          <a:prstGeom prst="straightConnector1">
            <a:avLst/>
          </a:prstGeom>
          <a:ln>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77" name="直接箭头连接符 76">
            <a:extLst>
              <a:ext uri="{FF2B5EF4-FFF2-40B4-BE49-F238E27FC236}">
                <a16:creationId xmlns:a16="http://schemas.microsoft.com/office/drawing/2014/main" id="{8F83A7C3-CE4C-6EBF-7317-FCBBE9FABD00}"/>
              </a:ext>
            </a:extLst>
          </p:cNvPr>
          <p:cNvCxnSpPr>
            <a:stCxn id="26" idx="2"/>
            <a:endCxn id="29" idx="0"/>
          </p:cNvCxnSpPr>
          <p:nvPr/>
        </p:nvCxnSpPr>
        <p:spPr>
          <a:xfrm flipH="1">
            <a:off x="2697828" y="3782544"/>
            <a:ext cx="13906" cy="740163"/>
          </a:xfrm>
          <a:prstGeom prst="straightConnector1">
            <a:avLst/>
          </a:prstGeom>
          <a:ln>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86" name="连接符: 肘形 85">
            <a:extLst>
              <a:ext uri="{FF2B5EF4-FFF2-40B4-BE49-F238E27FC236}">
                <a16:creationId xmlns:a16="http://schemas.microsoft.com/office/drawing/2014/main" id="{EA676010-4CDF-4DE4-D821-F1E4D3DFC97F}"/>
              </a:ext>
            </a:extLst>
          </p:cNvPr>
          <p:cNvCxnSpPr>
            <a:cxnSpLocks/>
            <a:stCxn id="14" idx="2"/>
            <a:endCxn id="6" idx="3"/>
          </p:cNvCxnSpPr>
          <p:nvPr/>
        </p:nvCxnSpPr>
        <p:spPr>
          <a:xfrm rot="5400000">
            <a:off x="3810821" y="1032364"/>
            <a:ext cx="1167428" cy="2214342"/>
          </a:xfrm>
          <a:prstGeom prst="bentConnector2">
            <a:avLst/>
          </a:prstGeom>
          <a:ln>
            <a:prstDash val="dashDot"/>
            <a:tailEnd type="triangle"/>
          </a:ln>
        </p:spPr>
        <p:style>
          <a:lnRef idx="2">
            <a:schemeClr val="accent1"/>
          </a:lnRef>
          <a:fillRef idx="0">
            <a:schemeClr val="accent1"/>
          </a:fillRef>
          <a:effectRef idx="1">
            <a:schemeClr val="accent1"/>
          </a:effectRef>
          <a:fontRef idx="minor">
            <a:schemeClr val="tx1"/>
          </a:fontRef>
        </p:style>
      </p:cxnSp>
      <p:graphicFrame>
        <p:nvGraphicFramePr>
          <p:cNvPr id="12" name="表格 11">
            <a:extLst>
              <a:ext uri="{FF2B5EF4-FFF2-40B4-BE49-F238E27FC236}">
                <a16:creationId xmlns:a16="http://schemas.microsoft.com/office/drawing/2014/main" id="{38E9C39E-BCC1-1B06-8DD8-346C5FBC7907}"/>
              </a:ext>
            </a:extLst>
          </p:cNvPr>
          <p:cNvGraphicFramePr>
            <a:graphicFrameLocks noGrp="1"/>
          </p:cNvGraphicFramePr>
          <p:nvPr/>
        </p:nvGraphicFramePr>
        <p:xfrm>
          <a:off x="6117021" y="830936"/>
          <a:ext cx="6006588" cy="5864539"/>
        </p:xfrm>
        <a:graphic>
          <a:graphicData uri="http://schemas.openxmlformats.org/drawingml/2006/table">
            <a:tbl>
              <a:tblPr/>
              <a:tblGrid>
                <a:gridCol w="901759">
                  <a:extLst>
                    <a:ext uri="{9D8B030D-6E8A-4147-A177-3AD203B41FA5}">
                      <a16:colId xmlns:a16="http://schemas.microsoft.com/office/drawing/2014/main" val="515150070"/>
                    </a:ext>
                  </a:extLst>
                </a:gridCol>
                <a:gridCol w="1144558">
                  <a:extLst>
                    <a:ext uri="{9D8B030D-6E8A-4147-A177-3AD203B41FA5}">
                      <a16:colId xmlns:a16="http://schemas.microsoft.com/office/drawing/2014/main" val="371085300"/>
                    </a:ext>
                  </a:extLst>
                </a:gridCol>
                <a:gridCol w="2498236">
                  <a:extLst>
                    <a:ext uri="{9D8B030D-6E8A-4147-A177-3AD203B41FA5}">
                      <a16:colId xmlns:a16="http://schemas.microsoft.com/office/drawing/2014/main" val="1419090589"/>
                    </a:ext>
                  </a:extLst>
                </a:gridCol>
                <a:gridCol w="1462035">
                  <a:extLst>
                    <a:ext uri="{9D8B030D-6E8A-4147-A177-3AD203B41FA5}">
                      <a16:colId xmlns:a16="http://schemas.microsoft.com/office/drawing/2014/main" val="1227204644"/>
                    </a:ext>
                  </a:extLst>
                </a:gridCol>
              </a:tblGrid>
              <a:tr h="153403">
                <a:tc>
                  <a:txBody>
                    <a:bodyPr/>
                    <a:lstStyle/>
                    <a:p>
                      <a:r>
                        <a:rPr lang="zh-CN" altLang="en-US" sz="900" b="1">
                          <a:solidFill>
                            <a:srgbClr val="FFFFFF"/>
                          </a:solidFill>
                          <a:latin typeface="+mj-ea"/>
                          <a:ea typeface="+mj-ea"/>
                        </a:rPr>
                        <a:t>协同流程</a:t>
                      </a:r>
                    </a:p>
                  </a:txBody>
                  <a:tcPr marL="33809" marR="33809" marT="16905" marB="16905" anchor="ctr">
                    <a:lnL>
                      <a:noFill/>
                    </a:lnL>
                    <a:lnR>
                      <a:noFill/>
                    </a:lnR>
                    <a:lnT>
                      <a:solidFill>
                        <a:srgbClr val="1C3879"/>
                      </a:solidFill>
                      <a:prstDash val="solid"/>
                    </a:lnT>
                    <a:lnB w="9525" cap="flat" cmpd="sng" algn="ctr">
                      <a:solidFill>
                        <a:srgbClr val="1C3879"/>
                      </a:solidFill>
                      <a:prstDash val="solid"/>
                      <a:round/>
                      <a:headEnd type="none" w="med" len="med"/>
                      <a:tailEnd type="none" w="med" len="med"/>
                    </a:lnB>
                    <a:solidFill>
                      <a:srgbClr val="1C3879"/>
                    </a:solidFill>
                  </a:tcPr>
                </a:tc>
                <a:tc>
                  <a:txBody>
                    <a:bodyPr/>
                    <a:lstStyle/>
                    <a:p>
                      <a:r>
                        <a:rPr lang="zh-CN" altLang="en-US" sz="900" b="1" dirty="0">
                          <a:solidFill>
                            <a:srgbClr val="FFFFFF"/>
                          </a:solidFill>
                          <a:latin typeface="+mj-ea"/>
                          <a:ea typeface="+mj-ea"/>
                        </a:rPr>
                        <a:t>核心定位与原则</a:t>
                      </a:r>
                    </a:p>
                  </a:txBody>
                  <a:tcPr marL="33809" marR="33809" marT="16905" marB="16905" anchor="ctr">
                    <a:lnL>
                      <a:noFill/>
                    </a:lnL>
                    <a:lnR>
                      <a:noFill/>
                    </a:lnR>
                    <a:lnT>
                      <a:solidFill>
                        <a:srgbClr val="1C3879"/>
                      </a:solidFill>
                      <a:prstDash val="solid"/>
                    </a:lnT>
                    <a:lnB w="9525" cap="flat" cmpd="sng" algn="ctr">
                      <a:solidFill>
                        <a:srgbClr val="1C3879"/>
                      </a:solidFill>
                      <a:prstDash val="solid"/>
                      <a:round/>
                      <a:headEnd type="none" w="med" len="med"/>
                      <a:tailEnd type="none" w="med" len="med"/>
                    </a:lnB>
                    <a:solidFill>
                      <a:srgbClr val="1C3879"/>
                    </a:solidFill>
                  </a:tcPr>
                </a:tc>
                <a:tc>
                  <a:txBody>
                    <a:bodyPr/>
                    <a:lstStyle/>
                    <a:p>
                      <a:r>
                        <a:rPr lang="zh-CN" altLang="en-US" sz="900" b="1">
                          <a:solidFill>
                            <a:srgbClr val="FFFFFF"/>
                          </a:solidFill>
                          <a:latin typeface="+mj-ea"/>
                          <a:ea typeface="+mj-ea"/>
                        </a:rPr>
                        <a:t>关键计划能力详解</a:t>
                      </a:r>
                    </a:p>
                  </a:txBody>
                  <a:tcPr marL="33809" marR="33809" marT="16905" marB="16905" anchor="ctr">
                    <a:lnL>
                      <a:noFill/>
                    </a:lnL>
                    <a:lnR>
                      <a:noFill/>
                    </a:lnR>
                    <a:lnT>
                      <a:solidFill>
                        <a:srgbClr val="1C3879"/>
                      </a:solidFill>
                      <a:prstDash val="solid"/>
                    </a:lnT>
                    <a:lnB w="9525" cap="flat" cmpd="sng" algn="ctr">
                      <a:solidFill>
                        <a:srgbClr val="1C3879"/>
                      </a:solidFill>
                      <a:prstDash val="solid"/>
                      <a:round/>
                      <a:headEnd type="none" w="med" len="med"/>
                      <a:tailEnd type="none" w="med" len="med"/>
                    </a:lnB>
                    <a:solidFill>
                      <a:srgbClr val="1C3879"/>
                    </a:solidFill>
                  </a:tcPr>
                </a:tc>
                <a:tc>
                  <a:txBody>
                    <a:bodyPr/>
                    <a:lstStyle/>
                    <a:p>
                      <a:r>
                        <a:rPr lang="zh-CN" altLang="en-US" sz="900" b="1" i="0" dirty="0">
                          <a:solidFill>
                            <a:schemeClr val="bg1"/>
                          </a:solidFill>
                          <a:effectLst/>
                          <a:latin typeface="+mj-ea"/>
                          <a:ea typeface="+mj-ea"/>
                        </a:rPr>
                        <a:t>约束性指导与协同机制</a:t>
                      </a:r>
                      <a:endParaRPr lang="zh-CN" altLang="en-US" sz="900" b="1" dirty="0">
                        <a:solidFill>
                          <a:schemeClr val="bg1"/>
                        </a:solidFill>
                        <a:latin typeface="+mj-ea"/>
                        <a:ea typeface="+mj-ea"/>
                      </a:endParaRPr>
                    </a:p>
                  </a:txBody>
                  <a:tcPr marL="33809" marR="33809" marT="16905" marB="16905" anchor="ctr">
                    <a:lnL>
                      <a:noFill/>
                    </a:lnL>
                    <a:lnR>
                      <a:noFill/>
                    </a:lnR>
                    <a:lnT>
                      <a:solidFill>
                        <a:srgbClr val="1C3879"/>
                      </a:solidFill>
                      <a:prstDash val="solid"/>
                    </a:lnT>
                    <a:lnB w="9525" cap="flat" cmpd="sng" algn="ctr">
                      <a:solidFill>
                        <a:srgbClr val="1C3879"/>
                      </a:solidFill>
                      <a:prstDash val="solid"/>
                      <a:round/>
                      <a:headEnd type="none" w="med" len="med"/>
                      <a:tailEnd type="none" w="med" len="med"/>
                    </a:lnB>
                    <a:solidFill>
                      <a:srgbClr val="1C3879"/>
                    </a:solidFill>
                  </a:tcPr>
                </a:tc>
                <a:extLst>
                  <a:ext uri="{0D108BD9-81ED-4DB2-BD59-A6C34878D82A}">
                    <a16:rowId xmlns:a16="http://schemas.microsoft.com/office/drawing/2014/main" val="1547229273"/>
                  </a:ext>
                </a:extLst>
              </a:tr>
              <a:tr h="1698669">
                <a:tc>
                  <a:txBody>
                    <a:bodyPr/>
                    <a:lstStyle/>
                    <a:p>
                      <a:r>
                        <a:rPr lang="en-US" altLang="zh-CN" sz="900" b="1" i="0" dirty="0">
                          <a:effectLst/>
                          <a:latin typeface="+mj-ea"/>
                          <a:ea typeface="+mj-ea"/>
                        </a:rPr>
                        <a:t>IBP</a:t>
                      </a:r>
                      <a:br>
                        <a:rPr lang="en-US" altLang="zh-CN" sz="900" b="1" i="0" dirty="0">
                          <a:effectLst/>
                          <a:latin typeface="+mj-ea"/>
                          <a:ea typeface="+mj-ea"/>
                        </a:rPr>
                      </a:br>
                      <a:r>
                        <a:rPr lang="en-US" altLang="zh-CN" sz="900" b="1" i="0" dirty="0">
                          <a:effectLst/>
                          <a:latin typeface="+mj-ea"/>
                          <a:ea typeface="+mj-ea"/>
                        </a:rPr>
                        <a:t>(</a:t>
                      </a:r>
                      <a:r>
                        <a:rPr lang="zh-CN" altLang="en-US" sz="900" b="1" i="0" dirty="0">
                          <a:effectLst/>
                          <a:latin typeface="+mj-ea"/>
                          <a:ea typeface="+mj-ea"/>
                        </a:rPr>
                        <a:t>集成业务计划</a:t>
                      </a:r>
                      <a:r>
                        <a:rPr lang="en-US" altLang="zh-CN" sz="900" b="1" i="0" dirty="0">
                          <a:effectLst/>
                          <a:latin typeface="+mj-ea"/>
                          <a:ea typeface="+mj-ea"/>
                        </a:rPr>
                        <a:t>)</a:t>
                      </a:r>
                      <a:br>
                        <a:rPr lang="zh-CN" altLang="en-US" sz="900" dirty="0">
                          <a:latin typeface="+mj-ea"/>
                          <a:ea typeface="+mj-ea"/>
                        </a:rPr>
                      </a:br>
                      <a:r>
                        <a:rPr lang="zh-CN" altLang="en-US" sz="900" b="0" i="1" dirty="0">
                          <a:effectLst/>
                          <a:latin typeface="+mj-ea"/>
                          <a:ea typeface="+mj-ea"/>
                        </a:rPr>
                        <a:t>战略层</a:t>
                      </a:r>
                      <a:endParaRPr lang="zh-CN" altLang="en-US" sz="900" dirty="0">
                        <a:latin typeface="+mj-ea"/>
                        <a:ea typeface="+mj-ea"/>
                      </a:endParaRPr>
                    </a:p>
                  </a:txBody>
                  <a:tcPr anchor="ctr">
                    <a:lnL>
                      <a:noFill/>
                    </a:lnL>
                    <a:lnR>
                      <a:noFill/>
                    </a:lnR>
                    <a:lnT>
                      <a:solidFill>
                        <a:srgbClr val="1C3879"/>
                      </a:solidFill>
                      <a:prstDash val="solid"/>
                    </a:lnT>
                    <a:lnB>
                      <a:solidFill>
                        <a:srgbClr val="DDDDDD"/>
                      </a:solidFill>
                      <a:prstDash val="solid"/>
                    </a:lnB>
                    <a:solidFill>
                      <a:schemeClr val="accent1">
                        <a:lumMod val="20000"/>
                        <a:lumOff val="80000"/>
                      </a:schemeClr>
                    </a:solidFill>
                  </a:tcPr>
                </a:tc>
                <a:tc>
                  <a:txBody>
                    <a:bodyPr/>
                    <a:lstStyle/>
                    <a:p>
                      <a:pPr algn="l"/>
                      <a:r>
                        <a:rPr lang="zh-CN" altLang="en-US" sz="800" b="1" i="0" dirty="0">
                          <a:solidFill>
                            <a:schemeClr val="bg1"/>
                          </a:solidFill>
                          <a:effectLst/>
                          <a:latin typeface="+mj-ea"/>
                          <a:ea typeface="+mj-ea"/>
                        </a:rPr>
                        <a:t>战略决策与资源预分配</a:t>
                      </a:r>
                      <a:br>
                        <a:rPr lang="zh-CN" altLang="en-US" sz="800" dirty="0">
                          <a:solidFill>
                            <a:schemeClr val="bg1"/>
                          </a:solidFill>
                          <a:latin typeface="+mj-ea"/>
                          <a:ea typeface="+mj-ea"/>
                        </a:rPr>
                      </a:br>
                      <a:r>
                        <a:rPr lang="zh-CN" altLang="en-US" sz="800" b="1" i="1" dirty="0">
                          <a:solidFill>
                            <a:schemeClr val="bg1"/>
                          </a:solidFill>
                          <a:effectLst/>
                          <a:latin typeface="+mj-ea"/>
                          <a:ea typeface="+mj-ea"/>
                        </a:rPr>
                        <a:t>原则：</a:t>
                      </a:r>
                      <a:r>
                        <a:rPr lang="zh-CN" altLang="en-US" sz="800" b="0" i="1" dirty="0">
                          <a:solidFill>
                            <a:schemeClr val="bg1"/>
                          </a:solidFill>
                          <a:effectLst/>
                          <a:latin typeface="+mj-ea"/>
                          <a:ea typeface="+mj-ea"/>
                        </a:rPr>
                        <a:t>基于公司战略目标达成共识。</a:t>
                      </a:r>
                      <a:endParaRPr lang="en-US" altLang="zh-CN" sz="800" b="0" i="1" dirty="0">
                        <a:solidFill>
                          <a:schemeClr val="bg1"/>
                        </a:solidFill>
                        <a:effectLst/>
                        <a:latin typeface="+mj-ea"/>
                        <a:ea typeface="+mj-ea"/>
                      </a:endParaRPr>
                    </a:p>
                    <a:p>
                      <a:pPr algn="l"/>
                      <a:r>
                        <a:rPr lang="zh-CN" altLang="en-US" sz="800" b="1" i="0" dirty="0">
                          <a:solidFill>
                            <a:schemeClr val="bg1"/>
                          </a:solidFill>
                          <a:effectLst/>
                          <a:latin typeface="+mj-ea"/>
                          <a:ea typeface="+mj-ea"/>
                        </a:rPr>
                        <a:t>焦点：</a:t>
                      </a:r>
                      <a:r>
                        <a:rPr lang="zh-CN" altLang="en-US" sz="800" b="0" i="0" dirty="0">
                          <a:solidFill>
                            <a:schemeClr val="bg1"/>
                          </a:solidFill>
                          <a:effectLst/>
                          <a:latin typeface="+mj-ea"/>
                          <a:ea typeface="+mj-ea"/>
                        </a:rPr>
                        <a:t> 未来</a:t>
                      </a:r>
                      <a:r>
                        <a:rPr lang="en-US" altLang="zh-CN" sz="800" b="0" i="0" dirty="0">
                          <a:solidFill>
                            <a:schemeClr val="bg1"/>
                          </a:solidFill>
                          <a:effectLst/>
                          <a:latin typeface="+mj-ea"/>
                          <a:ea typeface="+mj-ea"/>
                        </a:rPr>
                        <a:t>3-24</a:t>
                      </a:r>
                      <a:r>
                        <a:rPr lang="zh-CN" altLang="en-US" sz="800" b="0" i="0" dirty="0">
                          <a:solidFill>
                            <a:schemeClr val="bg1"/>
                          </a:solidFill>
                          <a:effectLst/>
                          <a:latin typeface="+mj-ea"/>
                          <a:ea typeface="+mj-ea"/>
                        </a:rPr>
                        <a:t>个月，产品族层面，月度循环。</a:t>
                      </a:r>
                      <a:br>
                        <a:rPr lang="zh-CN" altLang="en-US" sz="800" dirty="0">
                          <a:solidFill>
                            <a:schemeClr val="bg1"/>
                          </a:solidFill>
                          <a:latin typeface="+mj-ea"/>
                          <a:ea typeface="+mj-ea"/>
                        </a:rPr>
                      </a:br>
                      <a:r>
                        <a:rPr lang="zh-CN" altLang="en-US" sz="800" b="1" i="0" dirty="0">
                          <a:solidFill>
                            <a:schemeClr val="bg1"/>
                          </a:solidFill>
                          <a:effectLst/>
                          <a:latin typeface="+mj-ea"/>
                          <a:ea typeface="+mj-ea"/>
                        </a:rPr>
                        <a:t>核心要解决：</a:t>
                      </a:r>
                      <a:r>
                        <a:rPr lang="zh-CN" altLang="en-US" sz="800" b="0" i="0" dirty="0">
                          <a:solidFill>
                            <a:schemeClr val="bg1"/>
                          </a:solidFill>
                          <a:effectLst/>
                          <a:latin typeface="+mj-ea"/>
                          <a:ea typeface="+mj-ea"/>
                        </a:rPr>
                        <a:t> “做什么”才是对的</a:t>
                      </a:r>
                      <a:endParaRPr lang="zh-CN" altLang="en-US" sz="800" dirty="0">
                        <a:solidFill>
                          <a:schemeClr val="bg1"/>
                        </a:solidFill>
                        <a:latin typeface="+mj-ea"/>
                        <a:ea typeface="+mj-ea"/>
                      </a:endParaRPr>
                    </a:p>
                  </a:txBody>
                  <a:tcPr anchor="ctr">
                    <a:lnL>
                      <a:noFill/>
                    </a:lnL>
                    <a:lnR>
                      <a:noFill/>
                    </a:lnR>
                    <a:lnT>
                      <a:solidFill>
                        <a:srgbClr val="1C3879"/>
                      </a:solidFill>
                      <a:prstDash val="solid"/>
                    </a:lnT>
                    <a:lnB>
                      <a:solidFill>
                        <a:srgbClr val="DDDDDD"/>
                      </a:solidFill>
                      <a:prstDash val="solid"/>
                    </a:lnB>
                    <a:noFill/>
                  </a:tcPr>
                </a:tc>
                <a:tc>
                  <a:txBody>
                    <a:bodyPr/>
                    <a:lstStyle/>
                    <a:p>
                      <a:pPr algn="l"/>
                      <a:r>
                        <a:rPr lang="en-US" altLang="zh-CN" sz="800" b="1" dirty="0">
                          <a:solidFill>
                            <a:schemeClr val="bg1"/>
                          </a:solidFill>
                          <a:latin typeface="+mj-ea"/>
                          <a:ea typeface="+mj-ea"/>
                        </a:rPr>
                        <a:t>1. </a:t>
                      </a:r>
                      <a:r>
                        <a:rPr lang="zh-CN" altLang="en-US" sz="800" b="1" dirty="0">
                          <a:solidFill>
                            <a:schemeClr val="bg1"/>
                          </a:solidFill>
                          <a:latin typeface="+mj-ea"/>
                          <a:ea typeface="+mj-ea"/>
                        </a:rPr>
                        <a:t>统计预测：</a:t>
                      </a:r>
                      <a:r>
                        <a:rPr lang="zh-CN" altLang="en-US" sz="800" dirty="0">
                          <a:solidFill>
                            <a:schemeClr val="bg1"/>
                          </a:solidFill>
                          <a:latin typeface="+mj-ea"/>
                          <a:ea typeface="+mj-ea"/>
                        </a:rPr>
                        <a:t> 基于历史数据与算法模型，生成客观的</a:t>
                      </a:r>
                      <a:r>
                        <a:rPr lang="zh-CN" altLang="en-US" sz="800" b="1" dirty="0">
                          <a:solidFill>
                            <a:schemeClr val="bg1"/>
                          </a:solidFill>
                          <a:latin typeface="+mj-ea"/>
                          <a:ea typeface="+mj-ea"/>
                        </a:rPr>
                        <a:t>需求基线</a:t>
                      </a:r>
                      <a:r>
                        <a:rPr lang="zh-CN" altLang="en-US" sz="800" dirty="0">
                          <a:solidFill>
                            <a:schemeClr val="bg1"/>
                          </a:solidFill>
                          <a:latin typeface="+mj-ea"/>
                          <a:ea typeface="+mj-ea"/>
                        </a:rPr>
                        <a:t>。</a:t>
                      </a:r>
                      <a:br>
                        <a:rPr lang="zh-CN" altLang="en-US" sz="800" dirty="0">
                          <a:solidFill>
                            <a:schemeClr val="bg1"/>
                          </a:solidFill>
                          <a:latin typeface="+mj-ea"/>
                          <a:ea typeface="+mj-ea"/>
                        </a:rPr>
                      </a:br>
                      <a:r>
                        <a:rPr lang="en-US" altLang="zh-CN" sz="800" b="1" dirty="0">
                          <a:solidFill>
                            <a:schemeClr val="bg1"/>
                          </a:solidFill>
                          <a:latin typeface="+mj-ea"/>
                          <a:ea typeface="+mj-ea"/>
                        </a:rPr>
                        <a:t>2. </a:t>
                      </a:r>
                      <a:r>
                        <a:rPr lang="zh-CN" altLang="en-US" sz="800" b="1" dirty="0">
                          <a:solidFill>
                            <a:schemeClr val="bg1"/>
                          </a:solidFill>
                          <a:latin typeface="+mj-ea"/>
                          <a:ea typeface="+mj-ea"/>
                        </a:rPr>
                        <a:t>预测分解：</a:t>
                      </a:r>
                      <a:r>
                        <a:rPr lang="zh-CN" altLang="en-US" sz="800" dirty="0">
                          <a:solidFill>
                            <a:schemeClr val="bg1"/>
                          </a:solidFill>
                          <a:latin typeface="+mj-ea"/>
                          <a:ea typeface="+mj-ea"/>
                        </a:rPr>
                        <a:t> 将财务、市场等职能的宏观预测，</a:t>
                      </a:r>
                      <a:r>
                        <a:rPr lang="zh-CN" altLang="en-US" sz="800" b="1" dirty="0">
                          <a:solidFill>
                            <a:schemeClr val="bg1"/>
                          </a:solidFill>
                          <a:latin typeface="+mj-ea"/>
                          <a:ea typeface="+mj-ea"/>
                        </a:rPr>
                        <a:t>分解</a:t>
                      </a:r>
                      <a:r>
                        <a:rPr lang="zh-CN" altLang="en-US" sz="800" dirty="0">
                          <a:solidFill>
                            <a:schemeClr val="bg1"/>
                          </a:solidFill>
                          <a:latin typeface="+mj-ea"/>
                          <a:ea typeface="+mj-ea"/>
                        </a:rPr>
                        <a:t>至与统计预测相同的详细层级。</a:t>
                      </a:r>
                      <a:br>
                        <a:rPr lang="zh-CN" altLang="en-US" sz="800" dirty="0">
                          <a:solidFill>
                            <a:schemeClr val="bg1"/>
                          </a:solidFill>
                          <a:latin typeface="+mj-ea"/>
                          <a:ea typeface="+mj-ea"/>
                        </a:rPr>
                      </a:br>
                      <a:r>
                        <a:rPr lang="en-US" altLang="zh-CN" sz="800" b="1" dirty="0">
                          <a:solidFill>
                            <a:schemeClr val="bg1"/>
                          </a:solidFill>
                          <a:latin typeface="+mj-ea"/>
                          <a:ea typeface="+mj-ea"/>
                        </a:rPr>
                        <a:t>3. </a:t>
                      </a:r>
                      <a:r>
                        <a:rPr lang="zh-CN" altLang="en-US" sz="800" b="1" dirty="0">
                          <a:solidFill>
                            <a:schemeClr val="bg1"/>
                          </a:solidFill>
                          <a:latin typeface="+mj-ea"/>
                          <a:ea typeface="+mj-ea"/>
                        </a:rPr>
                        <a:t>共识预测：</a:t>
                      </a:r>
                      <a:r>
                        <a:rPr lang="zh-CN" altLang="en-US" sz="800" dirty="0">
                          <a:solidFill>
                            <a:schemeClr val="bg1"/>
                          </a:solidFill>
                          <a:latin typeface="+mj-ea"/>
                          <a:ea typeface="+mj-ea"/>
                        </a:rPr>
                        <a:t> 将统计预测与各职能预测进行</a:t>
                      </a:r>
                      <a:r>
                        <a:rPr lang="zh-CN" altLang="en-US" sz="800" b="1" dirty="0">
                          <a:solidFill>
                            <a:schemeClr val="bg1"/>
                          </a:solidFill>
                          <a:latin typeface="+mj-ea"/>
                          <a:ea typeface="+mj-ea"/>
                        </a:rPr>
                        <a:t>加权合并</a:t>
                      </a:r>
                      <a:r>
                        <a:rPr lang="zh-CN" altLang="en-US" sz="800" dirty="0">
                          <a:solidFill>
                            <a:schemeClr val="bg1"/>
                          </a:solidFill>
                          <a:latin typeface="+mj-ea"/>
                          <a:ea typeface="+mj-ea"/>
                        </a:rPr>
                        <a:t>，形成一套跨部门认可的、统一的未来需求视图。</a:t>
                      </a:r>
                      <a:br>
                        <a:rPr lang="zh-CN" altLang="en-US" sz="800" dirty="0">
                          <a:solidFill>
                            <a:schemeClr val="bg1"/>
                          </a:solidFill>
                          <a:latin typeface="+mj-ea"/>
                          <a:ea typeface="+mj-ea"/>
                        </a:rPr>
                      </a:br>
                      <a:r>
                        <a:rPr lang="en-US" altLang="zh-CN" sz="800" b="1" dirty="0">
                          <a:solidFill>
                            <a:schemeClr val="bg1"/>
                          </a:solidFill>
                          <a:latin typeface="+mj-ea"/>
                          <a:ea typeface="+mj-ea"/>
                        </a:rPr>
                        <a:t>4. </a:t>
                      </a:r>
                      <a:r>
                        <a:rPr lang="zh-CN" altLang="en-US" sz="800" b="1" dirty="0">
                          <a:solidFill>
                            <a:schemeClr val="bg1"/>
                          </a:solidFill>
                          <a:latin typeface="+mj-ea"/>
                          <a:ea typeface="+mj-ea"/>
                        </a:rPr>
                        <a:t>需求塑造：</a:t>
                      </a:r>
                      <a:r>
                        <a:rPr lang="zh-CN" altLang="en-US" sz="800" dirty="0">
                          <a:solidFill>
                            <a:schemeClr val="bg1"/>
                          </a:solidFill>
                          <a:latin typeface="+mj-ea"/>
                          <a:ea typeface="+mj-ea"/>
                        </a:rPr>
                        <a:t> 基于市场情报（如新品、促销），对共识预测进行</a:t>
                      </a:r>
                      <a:r>
                        <a:rPr lang="zh-CN" altLang="en-US" sz="800" b="1" dirty="0">
                          <a:solidFill>
                            <a:schemeClr val="bg1"/>
                          </a:solidFill>
                          <a:latin typeface="+mj-ea"/>
                          <a:ea typeface="+mj-ea"/>
                        </a:rPr>
                        <a:t>人工调整与干预</a:t>
                      </a:r>
                      <a:r>
                        <a:rPr lang="zh-CN" altLang="en-US" sz="800" dirty="0">
                          <a:solidFill>
                            <a:schemeClr val="bg1"/>
                          </a:solidFill>
                          <a:latin typeface="+mj-ea"/>
                          <a:ea typeface="+mj-ea"/>
                        </a:rPr>
                        <a:t>，以主动影响需求。</a:t>
                      </a:r>
                      <a:br>
                        <a:rPr lang="zh-CN" altLang="en-US" sz="800" dirty="0">
                          <a:solidFill>
                            <a:schemeClr val="bg1"/>
                          </a:solidFill>
                          <a:latin typeface="+mj-ea"/>
                          <a:ea typeface="+mj-ea"/>
                        </a:rPr>
                      </a:br>
                      <a:r>
                        <a:rPr lang="en-US" altLang="zh-CN" sz="800" b="1" dirty="0">
                          <a:solidFill>
                            <a:schemeClr val="bg1"/>
                          </a:solidFill>
                          <a:latin typeface="+mj-ea"/>
                          <a:ea typeface="+mj-ea"/>
                        </a:rPr>
                        <a:t>5. </a:t>
                      </a:r>
                      <a:r>
                        <a:rPr lang="zh-CN" altLang="en-US" sz="800" b="1" dirty="0">
                          <a:solidFill>
                            <a:schemeClr val="bg1"/>
                          </a:solidFill>
                          <a:latin typeface="+mj-ea"/>
                          <a:ea typeface="+mj-ea"/>
                        </a:rPr>
                        <a:t>财务集成：</a:t>
                      </a:r>
                      <a:r>
                        <a:rPr lang="zh-CN" altLang="en-US" sz="800" dirty="0">
                          <a:solidFill>
                            <a:schemeClr val="bg1"/>
                          </a:solidFill>
                          <a:latin typeface="+mj-ea"/>
                          <a:ea typeface="+mj-ea"/>
                        </a:rPr>
                        <a:t> 将运营计划转化为财务计划，评估可行性并进行情景模拟。</a:t>
                      </a:r>
                    </a:p>
                  </a:txBody>
                  <a:tcPr anchor="ctr">
                    <a:lnL>
                      <a:noFill/>
                    </a:lnL>
                    <a:lnR>
                      <a:noFill/>
                    </a:lnR>
                    <a:lnT>
                      <a:solidFill>
                        <a:srgbClr val="1C3879"/>
                      </a:solidFill>
                      <a:prstDash val="solid"/>
                    </a:lnT>
                    <a:lnB>
                      <a:solidFill>
                        <a:srgbClr val="DDDDDD"/>
                      </a:solidFill>
                      <a:prstDash val="solid"/>
                    </a:lnB>
                    <a:noFill/>
                  </a:tcPr>
                </a:tc>
                <a:tc>
                  <a:txBody>
                    <a:bodyPr/>
                    <a:lstStyle/>
                    <a:p>
                      <a:pPr algn="l"/>
                      <a:r>
                        <a:rPr lang="zh-CN" altLang="en-US" sz="800" b="1" i="0" dirty="0">
                          <a:solidFill>
                            <a:schemeClr val="bg1"/>
                          </a:solidFill>
                          <a:effectLst/>
                          <a:latin typeface="+mj-ea"/>
                          <a:ea typeface="+mj-ea"/>
                        </a:rPr>
                        <a:t>对</a:t>
                      </a:r>
                      <a:r>
                        <a:rPr lang="en-US" altLang="zh-CN" sz="800" b="1" i="0" dirty="0">
                          <a:solidFill>
                            <a:schemeClr val="bg1"/>
                          </a:solidFill>
                          <a:effectLst/>
                          <a:latin typeface="+mj-ea"/>
                          <a:ea typeface="+mj-ea"/>
                        </a:rPr>
                        <a:t>ITP</a:t>
                      </a:r>
                      <a:r>
                        <a:rPr lang="zh-CN" altLang="en-US" sz="800" b="1" i="0" dirty="0">
                          <a:solidFill>
                            <a:schemeClr val="bg1"/>
                          </a:solidFill>
                          <a:effectLst/>
                          <a:latin typeface="+mj-ea"/>
                          <a:ea typeface="+mj-ea"/>
                        </a:rPr>
                        <a:t>的约束性指导：</a:t>
                      </a:r>
                      <a:br>
                        <a:rPr lang="zh-CN" altLang="en-US" sz="800" dirty="0">
                          <a:solidFill>
                            <a:schemeClr val="bg1"/>
                          </a:solidFill>
                          <a:latin typeface="+mj-ea"/>
                          <a:ea typeface="+mj-ea"/>
                        </a:rPr>
                      </a:br>
                      <a:r>
                        <a:rPr lang="en-US" altLang="zh-CN" sz="800" b="0" i="0" dirty="0">
                          <a:solidFill>
                            <a:schemeClr val="bg1"/>
                          </a:solidFill>
                          <a:effectLst/>
                          <a:latin typeface="+mj-ea"/>
                          <a:ea typeface="+mj-ea"/>
                        </a:rPr>
                        <a:t>• </a:t>
                      </a:r>
                      <a:r>
                        <a:rPr lang="zh-CN" altLang="en-US" sz="800" b="1" i="0" dirty="0">
                          <a:solidFill>
                            <a:schemeClr val="bg1"/>
                          </a:solidFill>
                          <a:effectLst/>
                          <a:latin typeface="+mj-ea"/>
                          <a:ea typeface="+mj-ea"/>
                        </a:rPr>
                        <a:t>刚性约束（边界）：</a:t>
                      </a:r>
                      <a:r>
                        <a:rPr lang="zh-CN" altLang="en-US" sz="800" b="0" i="0" dirty="0">
                          <a:solidFill>
                            <a:schemeClr val="bg1"/>
                          </a:solidFill>
                          <a:effectLst/>
                          <a:latin typeface="+mj-ea"/>
                          <a:ea typeface="+mj-ea"/>
                        </a:rPr>
                        <a:t> </a:t>
                      </a:r>
                      <a:r>
                        <a:rPr lang="en-US" altLang="zh-CN" sz="800" b="0" i="0" dirty="0">
                          <a:solidFill>
                            <a:schemeClr val="bg1"/>
                          </a:solidFill>
                          <a:effectLst/>
                          <a:latin typeface="+mj-ea"/>
                          <a:ea typeface="+mj-ea"/>
                        </a:rPr>
                        <a:t>IBP</a:t>
                      </a:r>
                      <a:r>
                        <a:rPr lang="zh-CN" altLang="en-US" sz="800" b="0" i="0" dirty="0">
                          <a:solidFill>
                            <a:schemeClr val="bg1"/>
                          </a:solidFill>
                          <a:effectLst/>
                          <a:latin typeface="+mj-ea"/>
                          <a:ea typeface="+mj-ea"/>
                        </a:rPr>
                        <a:t>批准的</a:t>
                      </a:r>
                      <a:r>
                        <a:rPr lang="zh-CN" altLang="en-US" sz="800" b="1" i="0" dirty="0">
                          <a:solidFill>
                            <a:schemeClr val="bg1"/>
                          </a:solidFill>
                          <a:effectLst/>
                          <a:latin typeface="+mj-ea"/>
                          <a:ea typeface="+mj-ea"/>
                        </a:rPr>
                        <a:t>总体资源预算</a:t>
                      </a:r>
                      <a:r>
                        <a:rPr lang="zh-CN" altLang="en-US" sz="800" b="0" i="0" dirty="0">
                          <a:solidFill>
                            <a:schemeClr val="bg1"/>
                          </a:solidFill>
                          <a:effectLst/>
                          <a:latin typeface="+mj-ea"/>
                          <a:ea typeface="+mj-ea"/>
                        </a:rPr>
                        <a:t>和</a:t>
                      </a:r>
                      <a:r>
                        <a:rPr lang="zh-CN" altLang="en-US" sz="800" b="1" i="0" dirty="0">
                          <a:solidFill>
                            <a:schemeClr val="bg1"/>
                          </a:solidFill>
                          <a:effectLst/>
                          <a:latin typeface="+mj-ea"/>
                          <a:ea typeface="+mj-ea"/>
                        </a:rPr>
                        <a:t>关键产能</a:t>
                      </a:r>
                      <a:r>
                        <a:rPr lang="en-US" altLang="zh-CN" sz="800" b="1" i="0" dirty="0">
                          <a:solidFill>
                            <a:schemeClr val="bg1"/>
                          </a:solidFill>
                          <a:effectLst/>
                          <a:latin typeface="+mj-ea"/>
                          <a:ea typeface="+mj-ea"/>
                        </a:rPr>
                        <a:t>/</a:t>
                      </a:r>
                      <a:r>
                        <a:rPr lang="zh-CN" altLang="en-US" sz="800" b="1" i="0" dirty="0">
                          <a:solidFill>
                            <a:schemeClr val="bg1"/>
                          </a:solidFill>
                          <a:effectLst/>
                          <a:latin typeface="+mj-ea"/>
                          <a:ea typeface="+mj-ea"/>
                        </a:rPr>
                        <a:t>物料的总量上限</a:t>
                      </a:r>
                      <a:r>
                        <a:rPr lang="zh-CN" altLang="en-US" sz="800" b="0" i="0" dirty="0">
                          <a:solidFill>
                            <a:schemeClr val="bg1"/>
                          </a:solidFill>
                          <a:effectLst/>
                          <a:latin typeface="+mj-ea"/>
                          <a:ea typeface="+mj-ea"/>
                        </a:rPr>
                        <a:t>是</a:t>
                      </a:r>
                      <a:r>
                        <a:rPr lang="en-US" altLang="zh-CN" sz="800" b="0" i="0" dirty="0">
                          <a:solidFill>
                            <a:schemeClr val="bg1"/>
                          </a:solidFill>
                          <a:effectLst/>
                          <a:latin typeface="+mj-ea"/>
                          <a:ea typeface="+mj-ea"/>
                        </a:rPr>
                        <a:t>ITP</a:t>
                      </a:r>
                      <a:r>
                        <a:rPr lang="zh-CN" altLang="en-US" sz="800" b="0" i="0" dirty="0">
                          <a:solidFill>
                            <a:schemeClr val="bg1"/>
                          </a:solidFill>
                          <a:effectLst/>
                          <a:latin typeface="+mj-ea"/>
                          <a:ea typeface="+mj-ea"/>
                        </a:rPr>
                        <a:t>不能逾越的硬边界。对</a:t>
                      </a:r>
                      <a:r>
                        <a:rPr lang="zh-CN" altLang="en-US" sz="800" b="1" i="0" dirty="0">
                          <a:solidFill>
                            <a:schemeClr val="bg1"/>
                          </a:solidFill>
                          <a:effectLst/>
                          <a:latin typeface="+mj-ea"/>
                          <a:ea typeface="+mj-ea"/>
                        </a:rPr>
                        <a:t>战略优先级</a:t>
                      </a:r>
                      <a:r>
                        <a:rPr lang="zh-CN" altLang="en-US" sz="800" b="0" i="0" dirty="0">
                          <a:solidFill>
                            <a:schemeClr val="bg1"/>
                          </a:solidFill>
                          <a:effectLst/>
                          <a:latin typeface="+mj-ea"/>
                          <a:ea typeface="+mj-ea"/>
                        </a:rPr>
                        <a:t>（如核心客户、明星产品）的界定是刚性的。</a:t>
                      </a:r>
                      <a:br>
                        <a:rPr lang="zh-CN" altLang="en-US" sz="800" dirty="0">
                          <a:solidFill>
                            <a:schemeClr val="bg1"/>
                          </a:solidFill>
                          <a:latin typeface="+mj-ea"/>
                          <a:ea typeface="+mj-ea"/>
                        </a:rPr>
                      </a:br>
                      <a:r>
                        <a:rPr lang="en-US" altLang="zh-CN" sz="800" b="0" i="0" dirty="0">
                          <a:solidFill>
                            <a:schemeClr val="bg1"/>
                          </a:solidFill>
                          <a:effectLst/>
                          <a:latin typeface="+mj-ea"/>
                          <a:ea typeface="+mj-ea"/>
                        </a:rPr>
                        <a:t>• </a:t>
                      </a:r>
                      <a:r>
                        <a:rPr lang="zh-CN" altLang="en-US" sz="800" b="1" i="0" dirty="0">
                          <a:solidFill>
                            <a:schemeClr val="bg1"/>
                          </a:solidFill>
                          <a:effectLst/>
                          <a:latin typeface="+mj-ea"/>
                          <a:ea typeface="+mj-ea"/>
                        </a:rPr>
                        <a:t>柔性指导（空间）：</a:t>
                      </a:r>
                      <a:r>
                        <a:rPr lang="zh-CN" altLang="en-US" sz="800" b="0" i="0" dirty="0">
                          <a:solidFill>
                            <a:schemeClr val="bg1"/>
                          </a:solidFill>
                          <a:effectLst/>
                          <a:latin typeface="+mj-ea"/>
                          <a:ea typeface="+mj-ea"/>
                        </a:rPr>
                        <a:t> </a:t>
                      </a:r>
                      <a:r>
                        <a:rPr lang="en-US" altLang="zh-CN" sz="800" b="0" i="0" dirty="0">
                          <a:solidFill>
                            <a:schemeClr val="bg1"/>
                          </a:solidFill>
                          <a:effectLst/>
                          <a:latin typeface="+mj-ea"/>
                          <a:ea typeface="+mj-ea"/>
                        </a:rPr>
                        <a:t>IBP</a:t>
                      </a:r>
                      <a:r>
                        <a:rPr lang="zh-CN" altLang="en-US" sz="800" b="0" i="0" dirty="0">
                          <a:solidFill>
                            <a:schemeClr val="bg1"/>
                          </a:solidFill>
                          <a:effectLst/>
                          <a:latin typeface="+mj-ea"/>
                          <a:ea typeface="+mj-ea"/>
                        </a:rPr>
                        <a:t>输出的是</a:t>
                      </a:r>
                      <a:r>
                        <a:rPr lang="zh-CN" altLang="en-US" sz="800" b="1" i="0" dirty="0">
                          <a:solidFill>
                            <a:schemeClr val="bg1"/>
                          </a:solidFill>
                          <a:effectLst/>
                          <a:latin typeface="+mj-ea"/>
                          <a:ea typeface="+mj-ea"/>
                        </a:rPr>
                        <a:t>月度</a:t>
                      </a:r>
                      <a:r>
                        <a:rPr lang="zh-CN" altLang="en-US" sz="800" b="0" i="0" dirty="0">
                          <a:solidFill>
                            <a:schemeClr val="bg1"/>
                          </a:solidFill>
                          <a:effectLst/>
                          <a:latin typeface="+mj-ea"/>
                          <a:ea typeface="+mj-ea"/>
                        </a:rPr>
                        <a:t>计划，为</a:t>
                      </a:r>
                      <a:r>
                        <a:rPr lang="en-US" altLang="zh-CN" sz="800" b="0" i="0" dirty="0">
                          <a:solidFill>
                            <a:schemeClr val="bg1"/>
                          </a:solidFill>
                          <a:effectLst/>
                          <a:latin typeface="+mj-ea"/>
                          <a:ea typeface="+mj-ea"/>
                        </a:rPr>
                        <a:t>ITP</a:t>
                      </a:r>
                      <a:r>
                        <a:rPr lang="zh-CN" altLang="en-US" sz="800" b="0" i="0" dirty="0">
                          <a:solidFill>
                            <a:schemeClr val="bg1"/>
                          </a:solidFill>
                          <a:effectLst/>
                          <a:latin typeface="+mj-ea"/>
                          <a:ea typeface="+mj-ea"/>
                        </a:rPr>
                        <a:t>在月内进行</a:t>
                      </a:r>
                      <a:r>
                        <a:rPr lang="zh-CN" altLang="en-US" sz="800" b="1" i="0" dirty="0">
                          <a:solidFill>
                            <a:schemeClr val="bg1"/>
                          </a:solidFill>
                          <a:effectLst/>
                          <a:latin typeface="+mj-ea"/>
                          <a:ea typeface="+mj-ea"/>
                        </a:rPr>
                        <a:t>周度</a:t>
                      </a:r>
                      <a:r>
                        <a:rPr lang="zh-CN" altLang="en-US" sz="800" b="0" i="0" dirty="0">
                          <a:solidFill>
                            <a:schemeClr val="bg1"/>
                          </a:solidFill>
                          <a:effectLst/>
                          <a:latin typeface="+mj-ea"/>
                          <a:ea typeface="+mj-ea"/>
                        </a:rPr>
                        <a:t>级别的资源调配和优化留出了空间。它提供的是方向性框架，而非具体执行细节。</a:t>
                      </a:r>
                      <a:endParaRPr lang="zh-CN" altLang="en-US" sz="800" dirty="0">
                        <a:solidFill>
                          <a:schemeClr val="bg1"/>
                        </a:solidFill>
                        <a:latin typeface="+mj-ea"/>
                        <a:ea typeface="+mj-ea"/>
                      </a:endParaRPr>
                    </a:p>
                  </a:txBody>
                  <a:tcPr anchor="ctr">
                    <a:lnL>
                      <a:noFill/>
                    </a:lnL>
                    <a:lnR>
                      <a:noFill/>
                    </a:lnR>
                    <a:lnT>
                      <a:solidFill>
                        <a:srgbClr val="1C3879"/>
                      </a:solidFill>
                      <a:prstDash val="solid"/>
                    </a:lnT>
                    <a:lnB>
                      <a:solidFill>
                        <a:srgbClr val="DDDDDD"/>
                      </a:solidFill>
                      <a:prstDash val="solid"/>
                    </a:lnB>
                    <a:noFill/>
                  </a:tcPr>
                </a:tc>
                <a:extLst>
                  <a:ext uri="{0D108BD9-81ED-4DB2-BD59-A6C34878D82A}">
                    <a16:rowId xmlns:a16="http://schemas.microsoft.com/office/drawing/2014/main" val="852617972"/>
                  </a:ext>
                </a:extLst>
              </a:tr>
              <a:tr h="2127954">
                <a:tc>
                  <a:txBody>
                    <a:bodyPr/>
                    <a:lstStyle/>
                    <a:p>
                      <a:r>
                        <a:rPr lang="en-US" altLang="zh-CN" sz="900" b="1" i="0" dirty="0">
                          <a:effectLst/>
                          <a:latin typeface="+mj-ea"/>
                          <a:ea typeface="+mj-ea"/>
                        </a:rPr>
                        <a:t>ITP</a:t>
                      </a:r>
                      <a:br>
                        <a:rPr lang="en-US" altLang="zh-CN" sz="900" b="1" i="0" dirty="0">
                          <a:effectLst/>
                          <a:latin typeface="+mj-ea"/>
                          <a:ea typeface="+mj-ea"/>
                        </a:rPr>
                      </a:br>
                      <a:r>
                        <a:rPr lang="en-US" altLang="zh-CN" sz="900" b="1" i="0" dirty="0">
                          <a:effectLst/>
                          <a:latin typeface="+mj-ea"/>
                          <a:ea typeface="+mj-ea"/>
                        </a:rPr>
                        <a:t>(</a:t>
                      </a:r>
                      <a:r>
                        <a:rPr lang="zh-CN" altLang="en-US" sz="900" b="1" i="0" dirty="0">
                          <a:effectLst/>
                          <a:latin typeface="+mj-ea"/>
                          <a:ea typeface="+mj-ea"/>
                        </a:rPr>
                        <a:t>集成战术计划</a:t>
                      </a:r>
                      <a:r>
                        <a:rPr lang="en-US" altLang="zh-CN" sz="900" b="1" i="0" dirty="0">
                          <a:effectLst/>
                          <a:latin typeface="+mj-ea"/>
                          <a:ea typeface="+mj-ea"/>
                        </a:rPr>
                        <a:t>)</a:t>
                      </a:r>
                      <a:br>
                        <a:rPr lang="zh-CN" altLang="en-US" sz="900" dirty="0">
                          <a:latin typeface="+mj-ea"/>
                          <a:ea typeface="+mj-ea"/>
                        </a:rPr>
                      </a:br>
                      <a:r>
                        <a:rPr lang="zh-CN" altLang="en-US" sz="900" b="0" i="1" dirty="0">
                          <a:effectLst/>
                          <a:latin typeface="+mj-ea"/>
                          <a:ea typeface="+mj-ea"/>
                        </a:rPr>
                        <a:t>战术层</a:t>
                      </a:r>
                      <a:endParaRPr lang="zh-CN" altLang="en-US" sz="900" dirty="0">
                        <a:latin typeface="+mj-ea"/>
                        <a:ea typeface="+mj-ea"/>
                      </a:endParaRPr>
                    </a:p>
                  </a:txBody>
                  <a:tcPr anchor="ctr">
                    <a:lnL>
                      <a:noFill/>
                    </a:lnL>
                    <a:lnR>
                      <a:noFill/>
                    </a:lnR>
                    <a:lnT>
                      <a:solidFill>
                        <a:srgbClr val="DDDDDD"/>
                      </a:solidFill>
                      <a:prstDash val="solid"/>
                    </a:lnT>
                    <a:lnB>
                      <a:solidFill>
                        <a:srgbClr val="DDDDDD"/>
                      </a:solidFill>
                      <a:prstDash val="solid"/>
                    </a:lnB>
                    <a:solidFill>
                      <a:schemeClr val="accent1">
                        <a:lumMod val="40000"/>
                        <a:lumOff val="60000"/>
                      </a:schemeClr>
                    </a:solidFill>
                  </a:tcPr>
                </a:tc>
                <a:tc>
                  <a:txBody>
                    <a:bodyPr/>
                    <a:lstStyle/>
                    <a:p>
                      <a:pPr algn="l"/>
                      <a:r>
                        <a:rPr lang="zh-CN" altLang="en-US" sz="800" b="1" i="0" dirty="0">
                          <a:solidFill>
                            <a:schemeClr val="bg1"/>
                          </a:solidFill>
                          <a:effectLst/>
                          <a:latin typeface="+mj-ea"/>
                          <a:ea typeface="+mj-ea"/>
                        </a:rPr>
                        <a:t>供需冲突化解与资源分配</a:t>
                      </a:r>
                      <a:br>
                        <a:rPr lang="zh-CN" altLang="en-US" sz="800" dirty="0">
                          <a:solidFill>
                            <a:schemeClr val="bg1"/>
                          </a:solidFill>
                          <a:latin typeface="+mj-ea"/>
                          <a:ea typeface="+mj-ea"/>
                        </a:rPr>
                      </a:br>
                      <a:r>
                        <a:rPr lang="zh-CN" altLang="en-US" sz="800" b="1" i="1" dirty="0">
                          <a:solidFill>
                            <a:schemeClr val="bg1"/>
                          </a:solidFill>
                          <a:effectLst/>
                          <a:latin typeface="+mj-ea"/>
                          <a:ea typeface="+mj-ea"/>
                        </a:rPr>
                        <a:t>原则：</a:t>
                      </a:r>
                      <a:r>
                        <a:rPr lang="zh-CN" altLang="en-US" sz="800" b="0" i="1" dirty="0">
                          <a:solidFill>
                            <a:schemeClr val="bg1"/>
                          </a:solidFill>
                          <a:effectLst/>
                          <a:latin typeface="+mj-ea"/>
                          <a:ea typeface="+mj-ea"/>
                        </a:rPr>
                        <a:t>战略优先，公平公正</a:t>
                      </a:r>
                      <a:endParaRPr lang="en-US" altLang="zh-CN" sz="800" b="0" i="1" dirty="0">
                        <a:solidFill>
                          <a:schemeClr val="bg1"/>
                        </a:solidFill>
                        <a:effectLst/>
                        <a:latin typeface="+mj-ea"/>
                        <a:ea typeface="+mj-ea"/>
                      </a:endParaRPr>
                    </a:p>
                    <a:p>
                      <a:pPr algn="l"/>
                      <a:r>
                        <a:rPr lang="zh-CN" altLang="en-US" sz="800" b="1" i="0" dirty="0">
                          <a:solidFill>
                            <a:schemeClr val="bg1"/>
                          </a:solidFill>
                          <a:effectLst/>
                          <a:latin typeface="+mj-ea"/>
                          <a:ea typeface="+mj-ea"/>
                        </a:rPr>
                        <a:t>焦点：</a:t>
                      </a:r>
                      <a:r>
                        <a:rPr lang="zh-CN" altLang="en-US" sz="800" b="0" i="0" dirty="0">
                          <a:solidFill>
                            <a:schemeClr val="bg1"/>
                          </a:solidFill>
                          <a:effectLst/>
                          <a:latin typeface="+mj-ea"/>
                          <a:ea typeface="+mj-ea"/>
                        </a:rPr>
                        <a:t> 未来</a:t>
                      </a:r>
                      <a:r>
                        <a:rPr lang="en-US" altLang="zh-CN" sz="800" b="0" i="0" dirty="0">
                          <a:solidFill>
                            <a:schemeClr val="bg1"/>
                          </a:solidFill>
                          <a:effectLst/>
                          <a:latin typeface="+mj-ea"/>
                          <a:ea typeface="+mj-ea"/>
                        </a:rPr>
                        <a:t>0-13</a:t>
                      </a:r>
                      <a:r>
                        <a:rPr lang="zh-CN" altLang="en-US" sz="800" b="0" i="0" dirty="0">
                          <a:solidFill>
                            <a:schemeClr val="bg1"/>
                          </a:solidFill>
                          <a:effectLst/>
                          <a:latin typeface="+mj-ea"/>
                          <a:ea typeface="+mj-ea"/>
                        </a:rPr>
                        <a:t>周，单品（</a:t>
                      </a:r>
                      <a:r>
                        <a:rPr lang="en-US" altLang="zh-CN" sz="800" b="0" i="0" dirty="0">
                          <a:solidFill>
                            <a:schemeClr val="bg1"/>
                          </a:solidFill>
                          <a:effectLst/>
                          <a:latin typeface="+mj-ea"/>
                          <a:ea typeface="+mj-ea"/>
                        </a:rPr>
                        <a:t>SKU</a:t>
                      </a:r>
                      <a:r>
                        <a:rPr lang="zh-CN" altLang="en-US" sz="800" b="0" i="0" dirty="0">
                          <a:solidFill>
                            <a:schemeClr val="bg1"/>
                          </a:solidFill>
                          <a:effectLst/>
                          <a:latin typeface="+mj-ea"/>
                          <a:ea typeface="+mj-ea"/>
                        </a:rPr>
                        <a:t>）层面，周度循环。</a:t>
                      </a:r>
                      <a:br>
                        <a:rPr lang="zh-CN" altLang="en-US" sz="800" dirty="0">
                          <a:solidFill>
                            <a:schemeClr val="bg1"/>
                          </a:solidFill>
                          <a:latin typeface="+mj-ea"/>
                          <a:ea typeface="+mj-ea"/>
                        </a:rPr>
                      </a:br>
                      <a:r>
                        <a:rPr lang="zh-CN" altLang="en-US" sz="800" b="1" i="0" dirty="0">
                          <a:solidFill>
                            <a:schemeClr val="bg1"/>
                          </a:solidFill>
                          <a:effectLst/>
                          <a:latin typeface="+mj-ea"/>
                          <a:ea typeface="+mj-ea"/>
                        </a:rPr>
                        <a:t>核心要解决：</a:t>
                      </a:r>
                      <a:r>
                        <a:rPr lang="zh-CN" altLang="en-US" sz="800" b="0" i="0" dirty="0">
                          <a:solidFill>
                            <a:schemeClr val="bg1"/>
                          </a:solidFill>
                          <a:effectLst/>
                          <a:latin typeface="+mj-ea"/>
                          <a:ea typeface="+mj-ea"/>
                        </a:rPr>
                        <a:t> 在资源有限的情况下，“能做什么”以及“先做什么”？</a:t>
                      </a:r>
                      <a:endParaRPr lang="zh-CN" altLang="en-US" sz="800" b="0" dirty="0">
                        <a:solidFill>
                          <a:schemeClr val="bg1"/>
                        </a:solidFill>
                        <a:latin typeface="+mj-ea"/>
                        <a:ea typeface="+mj-ea"/>
                      </a:endParaRPr>
                    </a:p>
                  </a:txBody>
                  <a:tcPr anchor="ctr">
                    <a:lnL>
                      <a:noFill/>
                    </a:lnL>
                    <a:lnR>
                      <a:noFill/>
                    </a:lnR>
                    <a:lnT>
                      <a:solidFill>
                        <a:srgbClr val="DDDDDD"/>
                      </a:solidFill>
                      <a:prstDash val="solid"/>
                    </a:lnT>
                    <a:lnB>
                      <a:solidFill>
                        <a:srgbClr val="DDDDDD"/>
                      </a:solidFill>
                      <a:prstDash val="solid"/>
                    </a:lnB>
                    <a:noFill/>
                  </a:tcPr>
                </a:tc>
                <a:tc>
                  <a:txBody>
                    <a:bodyPr/>
                    <a:lstStyle/>
                    <a:p>
                      <a:pPr marL="0" indent="0" algn="l">
                        <a:buNone/>
                      </a:pPr>
                      <a:r>
                        <a:rPr lang="en-US" altLang="zh-CN" sz="800" b="1" dirty="0">
                          <a:solidFill>
                            <a:schemeClr val="bg1"/>
                          </a:solidFill>
                          <a:latin typeface="+mj-ea"/>
                          <a:ea typeface="+mj-ea"/>
                        </a:rPr>
                        <a:t>1.</a:t>
                      </a:r>
                      <a:r>
                        <a:rPr lang="zh-CN" altLang="en-US" sz="800" b="1" dirty="0">
                          <a:solidFill>
                            <a:schemeClr val="bg1"/>
                          </a:solidFill>
                          <a:latin typeface="+mj-ea"/>
                          <a:ea typeface="+mj-ea"/>
                        </a:rPr>
                        <a:t>主计划 </a:t>
                      </a:r>
                      <a:r>
                        <a:rPr lang="en-US" altLang="zh-CN" sz="800" b="1" dirty="0">
                          <a:solidFill>
                            <a:schemeClr val="bg1"/>
                          </a:solidFill>
                          <a:latin typeface="+mj-ea"/>
                          <a:ea typeface="+mj-ea"/>
                        </a:rPr>
                        <a:t>(MPS/MRP)</a:t>
                      </a:r>
                      <a:r>
                        <a:rPr lang="zh-CN" altLang="en-US" sz="800" b="1" dirty="0">
                          <a:solidFill>
                            <a:schemeClr val="bg1"/>
                          </a:solidFill>
                          <a:latin typeface="+mj-ea"/>
                          <a:ea typeface="+mj-ea"/>
                        </a:rPr>
                        <a:t>：</a:t>
                      </a:r>
                      <a:r>
                        <a:rPr lang="zh-CN" altLang="en-US" sz="800" dirty="0">
                          <a:solidFill>
                            <a:schemeClr val="bg1"/>
                          </a:solidFill>
                          <a:latin typeface="+mj-ea"/>
                          <a:ea typeface="+mj-ea"/>
                        </a:rPr>
                        <a:t> 将</a:t>
                      </a:r>
                      <a:r>
                        <a:rPr lang="en-US" altLang="zh-CN" sz="800" dirty="0">
                          <a:solidFill>
                            <a:schemeClr val="bg1"/>
                          </a:solidFill>
                          <a:latin typeface="+mj-ea"/>
                          <a:ea typeface="+mj-ea"/>
                        </a:rPr>
                        <a:t>IBP</a:t>
                      </a:r>
                      <a:r>
                        <a:rPr lang="zh-CN" altLang="en-US" sz="800" dirty="0">
                          <a:solidFill>
                            <a:schemeClr val="bg1"/>
                          </a:solidFill>
                          <a:latin typeface="+mj-ea"/>
                          <a:ea typeface="+mj-ea"/>
                        </a:rPr>
                        <a:t>的月度计划</a:t>
                      </a:r>
                      <a:r>
                        <a:rPr lang="zh-CN" altLang="en-US" sz="800" b="1" dirty="0">
                          <a:solidFill>
                            <a:schemeClr val="bg1"/>
                          </a:solidFill>
                          <a:latin typeface="+mj-ea"/>
                          <a:ea typeface="+mj-ea"/>
                        </a:rPr>
                        <a:t>分解</a:t>
                      </a:r>
                      <a:r>
                        <a:rPr lang="zh-CN" altLang="en-US" sz="800" dirty="0">
                          <a:solidFill>
                            <a:schemeClr val="bg1"/>
                          </a:solidFill>
                          <a:latin typeface="+mj-ea"/>
                          <a:ea typeface="+mj-ea"/>
                        </a:rPr>
                        <a:t>为</a:t>
                      </a:r>
                      <a:r>
                        <a:rPr lang="zh-CN" altLang="en-US" sz="800" b="1" dirty="0">
                          <a:solidFill>
                            <a:schemeClr val="bg1"/>
                          </a:solidFill>
                          <a:latin typeface="+mj-ea"/>
                          <a:ea typeface="+mj-ea"/>
                        </a:rPr>
                        <a:t>周度</a:t>
                      </a:r>
                      <a:r>
                        <a:rPr lang="zh-CN" altLang="en-US" sz="800" dirty="0">
                          <a:solidFill>
                            <a:schemeClr val="bg1"/>
                          </a:solidFill>
                          <a:latin typeface="+mj-ea"/>
                          <a:ea typeface="+mj-ea"/>
                        </a:rPr>
                        <a:t>的可执行主生产计划，并计算精确的物料需求（考量库存、在途等）。</a:t>
                      </a:r>
                      <a:endParaRPr lang="en-US" altLang="zh-CN" sz="800" dirty="0">
                        <a:solidFill>
                          <a:schemeClr val="bg1"/>
                        </a:solidFill>
                        <a:latin typeface="+mj-ea"/>
                        <a:ea typeface="+mj-ea"/>
                      </a:endParaRPr>
                    </a:p>
                    <a:p>
                      <a:pPr marL="0" indent="0" algn="l">
                        <a:buNone/>
                      </a:pPr>
                      <a:r>
                        <a:rPr lang="en-US" altLang="zh-CN" sz="800" b="1" dirty="0">
                          <a:solidFill>
                            <a:schemeClr val="bg1"/>
                          </a:solidFill>
                          <a:latin typeface="+mj-ea"/>
                          <a:ea typeface="+mj-ea"/>
                        </a:rPr>
                        <a:t>2.</a:t>
                      </a:r>
                      <a:r>
                        <a:rPr lang="zh-CN" altLang="en-US" sz="800" b="1" dirty="0">
                          <a:solidFill>
                            <a:schemeClr val="bg1"/>
                          </a:solidFill>
                          <a:latin typeface="+mj-ea"/>
                          <a:ea typeface="+mj-ea"/>
                        </a:rPr>
                        <a:t>约束规划与资源分配：</a:t>
                      </a:r>
                      <a:r>
                        <a:rPr lang="zh-CN" altLang="en-US" sz="800" dirty="0">
                          <a:solidFill>
                            <a:schemeClr val="bg1"/>
                          </a:solidFill>
                          <a:latin typeface="+mj-ea"/>
                          <a:ea typeface="+mj-ea"/>
                        </a:rPr>
                        <a:t> 识别产能、物料等关键约束，</a:t>
                      </a:r>
                      <a:r>
                        <a:rPr lang="zh-CN" altLang="en-US" sz="800" b="1" i="0" dirty="0">
                          <a:solidFill>
                            <a:schemeClr val="bg1"/>
                          </a:solidFill>
                          <a:effectLst/>
                          <a:latin typeface="+mj-ea"/>
                          <a:ea typeface="+mj-ea"/>
                        </a:rPr>
                        <a:t>战略优先：</a:t>
                      </a:r>
                      <a:r>
                        <a:rPr lang="zh-CN" altLang="en-US" sz="800" b="0" i="0" dirty="0">
                          <a:solidFill>
                            <a:schemeClr val="bg1"/>
                          </a:solidFill>
                          <a:effectLst/>
                          <a:latin typeface="+mj-ea"/>
                          <a:ea typeface="+mj-ea"/>
                        </a:rPr>
                        <a:t> 在资源不足时，优先保障战略必争之地（如关键客户、重点市场）的需求。</a:t>
                      </a:r>
                      <a:br>
                        <a:rPr lang="zh-CN" altLang="en-US" sz="800" dirty="0">
                          <a:solidFill>
                            <a:schemeClr val="bg1"/>
                          </a:solidFill>
                          <a:latin typeface="+mj-ea"/>
                          <a:ea typeface="+mj-ea"/>
                        </a:rPr>
                      </a:br>
                      <a:r>
                        <a:rPr lang="en-US" altLang="zh-CN" sz="800" b="0" i="0" dirty="0">
                          <a:solidFill>
                            <a:schemeClr val="bg1"/>
                          </a:solidFill>
                          <a:effectLst/>
                          <a:latin typeface="+mj-ea"/>
                          <a:ea typeface="+mj-ea"/>
                        </a:rPr>
                        <a:t>- </a:t>
                      </a:r>
                      <a:r>
                        <a:rPr lang="zh-CN" altLang="en-US" sz="800" b="1" i="0" dirty="0">
                          <a:solidFill>
                            <a:schemeClr val="bg1"/>
                          </a:solidFill>
                          <a:effectLst/>
                          <a:latin typeface="+mj-ea"/>
                          <a:ea typeface="+mj-ea"/>
                        </a:rPr>
                        <a:t>公平公正：</a:t>
                      </a:r>
                      <a:r>
                        <a:rPr lang="zh-CN" altLang="en-US" sz="800" b="0" i="0" dirty="0">
                          <a:solidFill>
                            <a:schemeClr val="bg1"/>
                          </a:solidFill>
                          <a:effectLst/>
                          <a:latin typeface="+mj-ea"/>
                          <a:ea typeface="+mj-ea"/>
                        </a:rPr>
                        <a:t> 对剩余资源，采用</a:t>
                      </a:r>
                      <a:r>
                        <a:rPr lang="zh-CN" altLang="en-US" sz="800" b="1" i="0" dirty="0">
                          <a:solidFill>
                            <a:schemeClr val="bg1"/>
                          </a:solidFill>
                          <a:effectLst/>
                          <a:latin typeface="+mj-ea"/>
                          <a:ea typeface="+mj-ea"/>
                        </a:rPr>
                        <a:t>公平份额</a:t>
                      </a:r>
                      <a:r>
                        <a:rPr lang="zh-CN" altLang="en-US" sz="800" b="0" i="0" dirty="0">
                          <a:solidFill>
                            <a:schemeClr val="bg1"/>
                          </a:solidFill>
                          <a:effectLst/>
                          <a:latin typeface="+mj-ea"/>
                          <a:ea typeface="+mj-ea"/>
                        </a:rPr>
                        <a:t>或</a:t>
                      </a:r>
                      <a:r>
                        <a:rPr lang="zh-CN" altLang="en-US" sz="800" b="1" i="0" dirty="0">
                          <a:solidFill>
                            <a:schemeClr val="bg1"/>
                          </a:solidFill>
                          <a:effectLst/>
                          <a:latin typeface="+mj-ea"/>
                          <a:ea typeface="+mj-ea"/>
                        </a:rPr>
                        <a:t>平等份额</a:t>
                      </a:r>
                      <a:r>
                        <a:rPr lang="zh-CN" altLang="en-US" sz="800" b="0" i="0" dirty="0">
                          <a:solidFill>
                            <a:schemeClr val="bg1"/>
                          </a:solidFill>
                          <a:effectLst/>
                          <a:latin typeface="+mj-ea"/>
                          <a:ea typeface="+mj-ea"/>
                        </a:rPr>
                        <a:t>规则在其余需求间进行分配，避免局部最优，确保长期合作关系的稳定性。</a:t>
                      </a:r>
                      <a:endParaRPr lang="en-US" altLang="zh-CN" sz="800" b="0" i="0" dirty="0">
                        <a:solidFill>
                          <a:schemeClr val="bg1"/>
                        </a:solidFill>
                        <a:effectLst/>
                        <a:latin typeface="+mj-ea"/>
                        <a:ea typeface="+mj-ea"/>
                      </a:endParaRPr>
                    </a:p>
                    <a:p>
                      <a:pPr marL="0" indent="0" algn="l">
                        <a:buNone/>
                      </a:pPr>
                      <a:r>
                        <a:rPr lang="en-US" altLang="zh-CN" sz="800" b="1" dirty="0">
                          <a:solidFill>
                            <a:schemeClr val="bg1"/>
                          </a:solidFill>
                          <a:latin typeface="+mj-ea"/>
                          <a:ea typeface="+mj-ea"/>
                        </a:rPr>
                        <a:t>3.</a:t>
                      </a:r>
                      <a:r>
                        <a:rPr lang="zh-CN" altLang="en-US" sz="800" b="1" dirty="0">
                          <a:solidFill>
                            <a:schemeClr val="bg1"/>
                          </a:solidFill>
                          <a:latin typeface="+mj-ea"/>
                          <a:ea typeface="+mj-ea"/>
                        </a:rPr>
                        <a:t>供应商计划协同：</a:t>
                      </a:r>
                      <a:r>
                        <a:rPr lang="zh-CN" altLang="en-US" sz="800" dirty="0">
                          <a:solidFill>
                            <a:schemeClr val="bg1"/>
                          </a:solidFill>
                          <a:latin typeface="+mj-ea"/>
                          <a:ea typeface="+mj-ea"/>
                        </a:rPr>
                        <a:t> 与关键供应商</a:t>
                      </a:r>
                      <a:r>
                        <a:rPr lang="zh-CN" altLang="en-US" sz="800" b="1" dirty="0">
                          <a:solidFill>
                            <a:schemeClr val="bg1"/>
                          </a:solidFill>
                          <a:latin typeface="+mj-ea"/>
                          <a:ea typeface="+mj-ea"/>
                        </a:rPr>
                        <a:t>共享中长期的物料预测</a:t>
                      </a:r>
                      <a:r>
                        <a:rPr lang="zh-CN" altLang="en-US" sz="800" dirty="0">
                          <a:solidFill>
                            <a:schemeClr val="bg1"/>
                          </a:solidFill>
                          <a:latin typeface="+mj-ea"/>
                          <a:ea typeface="+mj-ea"/>
                        </a:rPr>
                        <a:t>，将其产能与承诺纳入整体供应体系，确保计划的可行性。</a:t>
                      </a:r>
                      <a:endParaRPr lang="en-US" altLang="zh-CN" sz="800" dirty="0">
                        <a:solidFill>
                          <a:schemeClr val="bg1"/>
                        </a:solidFill>
                        <a:latin typeface="+mj-ea"/>
                        <a:ea typeface="+mj-ea"/>
                      </a:endParaRPr>
                    </a:p>
                    <a:p>
                      <a:pPr marL="0" indent="0" algn="l">
                        <a:buNone/>
                      </a:pPr>
                      <a:r>
                        <a:rPr lang="en-US" altLang="zh-CN" sz="800" b="1" i="0" dirty="0">
                          <a:solidFill>
                            <a:schemeClr val="bg1"/>
                          </a:solidFill>
                          <a:effectLst/>
                          <a:latin typeface="+mj-ea"/>
                          <a:ea typeface="+mj-ea"/>
                        </a:rPr>
                        <a:t>4.</a:t>
                      </a:r>
                      <a:r>
                        <a:rPr lang="zh-CN" altLang="en-US" sz="800" b="1" i="0" dirty="0">
                          <a:solidFill>
                            <a:schemeClr val="bg1"/>
                          </a:solidFill>
                          <a:effectLst/>
                          <a:latin typeface="+mj-ea"/>
                          <a:ea typeface="+mj-ea"/>
                        </a:rPr>
                        <a:t>预设例外规则：</a:t>
                      </a:r>
                      <a:r>
                        <a:rPr lang="zh-CN" altLang="en-US" sz="800" b="0" i="0" dirty="0">
                          <a:solidFill>
                            <a:schemeClr val="bg1"/>
                          </a:solidFill>
                          <a:effectLst/>
                          <a:latin typeface="+mj-ea"/>
                          <a:ea typeface="+mj-ea"/>
                        </a:rPr>
                        <a:t> </a:t>
                      </a:r>
                      <a:r>
                        <a:rPr lang="zh-CN" altLang="en-US" sz="800" b="1" i="0" dirty="0">
                          <a:solidFill>
                            <a:schemeClr val="bg1"/>
                          </a:solidFill>
                          <a:effectLst/>
                          <a:latin typeface="+mj-ea"/>
                          <a:ea typeface="+mj-ea"/>
                        </a:rPr>
                        <a:t>制定并固化规则</a:t>
                      </a:r>
                      <a:r>
                        <a:rPr lang="zh-CN" altLang="en-US" sz="800" b="0" i="0" dirty="0">
                          <a:solidFill>
                            <a:schemeClr val="bg1"/>
                          </a:solidFill>
                          <a:effectLst/>
                          <a:latin typeface="+mj-ea"/>
                          <a:ea typeface="+mj-ea"/>
                        </a:rPr>
                        <a:t>，明确当实际需求击穿预测时（如紧急订单），</a:t>
                      </a:r>
                      <a:r>
                        <a:rPr lang="en-US" altLang="zh-CN" sz="800" b="0" i="0" dirty="0">
                          <a:solidFill>
                            <a:schemeClr val="bg1"/>
                          </a:solidFill>
                          <a:effectLst/>
                          <a:latin typeface="+mj-ea"/>
                          <a:ea typeface="+mj-ea"/>
                        </a:rPr>
                        <a:t>IOP</a:t>
                      </a:r>
                      <a:r>
                        <a:rPr lang="zh-CN" altLang="en-US" sz="800" b="0" i="0" dirty="0">
                          <a:solidFill>
                            <a:schemeClr val="bg1"/>
                          </a:solidFill>
                          <a:effectLst/>
                          <a:latin typeface="+mj-ea"/>
                          <a:ea typeface="+mj-ea"/>
                        </a:rPr>
                        <a:t>层面可自动执行的调整逻辑（如优先级置换、资源组内弹性）</a:t>
                      </a:r>
                      <a:endParaRPr lang="zh-CN" altLang="en-US" sz="800" dirty="0">
                        <a:solidFill>
                          <a:schemeClr val="bg1"/>
                        </a:solidFill>
                        <a:latin typeface="+mj-ea"/>
                        <a:ea typeface="+mj-ea"/>
                      </a:endParaRPr>
                    </a:p>
                  </a:txBody>
                  <a:tcPr anchor="ctr">
                    <a:lnL>
                      <a:noFill/>
                    </a:lnL>
                    <a:lnR>
                      <a:noFill/>
                    </a:lnR>
                    <a:lnT>
                      <a:solidFill>
                        <a:srgbClr val="DDDDDD"/>
                      </a:solidFill>
                      <a:prstDash val="solid"/>
                    </a:lnT>
                    <a:lnB>
                      <a:solidFill>
                        <a:srgbClr val="DDDDDD"/>
                      </a:solidFill>
                      <a:prstDash val="solid"/>
                    </a:lnB>
                    <a:noFill/>
                  </a:tcPr>
                </a:tc>
                <a:tc>
                  <a:txBody>
                    <a:bodyPr/>
                    <a:lstStyle/>
                    <a:p>
                      <a:pPr algn="l"/>
                      <a:r>
                        <a:rPr lang="zh-CN" altLang="en-US" sz="800" b="1" i="0" dirty="0">
                          <a:solidFill>
                            <a:schemeClr val="bg1"/>
                          </a:solidFill>
                          <a:effectLst/>
                          <a:latin typeface="+mj-ea"/>
                          <a:ea typeface="+mj-ea"/>
                        </a:rPr>
                        <a:t>对</a:t>
                      </a:r>
                      <a:r>
                        <a:rPr lang="en-US" altLang="zh-CN" sz="800" b="1" i="0" dirty="0">
                          <a:solidFill>
                            <a:schemeClr val="bg1"/>
                          </a:solidFill>
                          <a:effectLst/>
                          <a:latin typeface="+mj-ea"/>
                          <a:ea typeface="+mj-ea"/>
                        </a:rPr>
                        <a:t>IOP</a:t>
                      </a:r>
                      <a:r>
                        <a:rPr lang="zh-CN" altLang="en-US" sz="800" b="1" i="0" dirty="0">
                          <a:solidFill>
                            <a:schemeClr val="bg1"/>
                          </a:solidFill>
                          <a:effectLst/>
                          <a:latin typeface="+mj-ea"/>
                          <a:ea typeface="+mj-ea"/>
                        </a:rPr>
                        <a:t>的约束性指导：</a:t>
                      </a:r>
                      <a:br>
                        <a:rPr lang="zh-CN" altLang="en-US" sz="800" dirty="0">
                          <a:solidFill>
                            <a:schemeClr val="bg1"/>
                          </a:solidFill>
                          <a:latin typeface="+mj-ea"/>
                          <a:ea typeface="+mj-ea"/>
                        </a:rPr>
                      </a:br>
                      <a:r>
                        <a:rPr lang="en-US" altLang="zh-CN" sz="800" b="0" i="0" dirty="0">
                          <a:solidFill>
                            <a:schemeClr val="bg1"/>
                          </a:solidFill>
                          <a:effectLst/>
                          <a:latin typeface="+mj-ea"/>
                          <a:ea typeface="+mj-ea"/>
                        </a:rPr>
                        <a:t>• </a:t>
                      </a:r>
                      <a:r>
                        <a:rPr lang="zh-CN" altLang="en-US" sz="800" b="1" i="0" dirty="0">
                          <a:solidFill>
                            <a:schemeClr val="bg1"/>
                          </a:solidFill>
                          <a:effectLst/>
                          <a:latin typeface="+mj-ea"/>
                          <a:ea typeface="+mj-ea"/>
                        </a:rPr>
                        <a:t>刚性约束（配额）：</a:t>
                      </a:r>
                      <a:r>
                        <a:rPr lang="zh-CN" altLang="en-US" sz="800" b="0" i="0" dirty="0">
                          <a:solidFill>
                            <a:schemeClr val="bg1"/>
                          </a:solidFill>
                          <a:effectLst/>
                          <a:latin typeface="+mj-ea"/>
                          <a:ea typeface="+mj-ea"/>
                        </a:rPr>
                        <a:t> </a:t>
                      </a:r>
                      <a:r>
                        <a:rPr lang="en-US" altLang="zh-CN" sz="800" b="0" i="0" dirty="0">
                          <a:solidFill>
                            <a:schemeClr val="bg1"/>
                          </a:solidFill>
                          <a:effectLst/>
                          <a:latin typeface="+mj-ea"/>
                          <a:ea typeface="+mj-ea"/>
                        </a:rPr>
                        <a:t>ITP</a:t>
                      </a:r>
                      <a:r>
                        <a:rPr lang="zh-CN" altLang="en-US" sz="800" b="0" i="0" dirty="0">
                          <a:solidFill>
                            <a:schemeClr val="bg1"/>
                          </a:solidFill>
                          <a:effectLst/>
                          <a:latin typeface="+mj-ea"/>
                          <a:ea typeface="+mj-ea"/>
                        </a:rPr>
                        <a:t>输出的</a:t>
                      </a:r>
                      <a:r>
                        <a:rPr lang="zh-CN" altLang="en-US" sz="800" b="1" i="0" dirty="0">
                          <a:solidFill>
                            <a:schemeClr val="bg1"/>
                          </a:solidFill>
                          <a:effectLst/>
                          <a:latin typeface="+mj-ea"/>
                          <a:ea typeface="+mj-ea"/>
                        </a:rPr>
                        <a:t>周度产能配额</a:t>
                      </a:r>
                      <a:r>
                        <a:rPr lang="zh-CN" altLang="en-US" sz="800" b="0" i="0" dirty="0">
                          <a:solidFill>
                            <a:schemeClr val="bg1"/>
                          </a:solidFill>
                          <a:effectLst/>
                          <a:latin typeface="+mj-ea"/>
                          <a:ea typeface="+mj-ea"/>
                        </a:rPr>
                        <a:t>和</a:t>
                      </a:r>
                      <a:r>
                        <a:rPr lang="zh-CN" altLang="en-US" sz="800" b="1" i="0" dirty="0">
                          <a:solidFill>
                            <a:schemeClr val="bg1"/>
                          </a:solidFill>
                          <a:effectLst/>
                          <a:latin typeface="+mj-ea"/>
                          <a:ea typeface="+mj-ea"/>
                        </a:rPr>
                        <a:t>物料配额</a:t>
                      </a:r>
                      <a:r>
                        <a:rPr lang="zh-CN" altLang="en-US" sz="800" b="0" i="0" dirty="0">
                          <a:solidFill>
                            <a:schemeClr val="bg1"/>
                          </a:solidFill>
                          <a:effectLst/>
                          <a:latin typeface="+mj-ea"/>
                          <a:ea typeface="+mj-ea"/>
                        </a:rPr>
                        <a:t>是</a:t>
                      </a:r>
                      <a:r>
                        <a:rPr lang="en-US" altLang="zh-CN" sz="800" b="0" i="0" dirty="0">
                          <a:solidFill>
                            <a:schemeClr val="bg1"/>
                          </a:solidFill>
                          <a:effectLst/>
                          <a:latin typeface="+mj-ea"/>
                          <a:ea typeface="+mj-ea"/>
                        </a:rPr>
                        <a:t>IOP</a:t>
                      </a:r>
                      <a:r>
                        <a:rPr lang="zh-CN" altLang="en-US" sz="800" b="0" i="0" dirty="0">
                          <a:solidFill>
                            <a:schemeClr val="bg1"/>
                          </a:solidFill>
                          <a:effectLst/>
                          <a:latin typeface="+mj-ea"/>
                          <a:ea typeface="+mj-ea"/>
                        </a:rPr>
                        <a:t>进行日排程时必须遵守的硬约束。基于配额对客户做出的</a:t>
                      </a:r>
                      <a:r>
                        <a:rPr lang="zh-CN" altLang="en-US" sz="800" b="1" i="0" dirty="0">
                          <a:solidFill>
                            <a:schemeClr val="bg1"/>
                          </a:solidFill>
                          <a:effectLst/>
                          <a:latin typeface="+mj-ea"/>
                          <a:ea typeface="+mj-ea"/>
                        </a:rPr>
                        <a:t>承诺交期（</a:t>
                      </a:r>
                      <a:r>
                        <a:rPr lang="en-US" altLang="zh-CN" sz="800" b="1" i="0" dirty="0">
                          <a:solidFill>
                            <a:schemeClr val="bg1"/>
                          </a:solidFill>
                          <a:effectLst/>
                          <a:latin typeface="+mj-ea"/>
                          <a:ea typeface="+mj-ea"/>
                        </a:rPr>
                        <a:t>ATP</a:t>
                      </a:r>
                      <a:r>
                        <a:rPr lang="zh-CN" altLang="en-US" sz="800" b="1" i="0" dirty="0">
                          <a:solidFill>
                            <a:schemeClr val="bg1"/>
                          </a:solidFill>
                          <a:effectLst/>
                          <a:latin typeface="+mj-ea"/>
                          <a:ea typeface="+mj-ea"/>
                        </a:rPr>
                        <a:t>）</a:t>
                      </a:r>
                      <a:r>
                        <a:rPr lang="zh-CN" altLang="en-US" sz="800" b="0" i="0" dirty="0">
                          <a:solidFill>
                            <a:schemeClr val="bg1"/>
                          </a:solidFill>
                          <a:effectLst/>
                          <a:latin typeface="+mj-ea"/>
                          <a:ea typeface="+mj-ea"/>
                        </a:rPr>
                        <a:t> 是刚性的。</a:t>
                      </a:r>
                      <a:br>
                        <a:rPr lang="zh-CN" altLang="en-US" sz="800" dirty="0">
                          <a:solidFill>
                            <a:schemeClr val="bg1"/>
                          </a:solidFill>
                          <a:latin typeface="+mj-ea"/>
                          <a:ea typeface="+mj-ea"/>
                        </a:rPr>
                      </a:br>
                      <a:r>
                        <a:rPr lang="en-US" altLang="zh-CN" sz="800" b="0" i="0" dirty="0">
                          <a:solidFill>
                            <a:schemeClr val="bg1"/>
                          </a:solidFill>
                          <a:effectLst/>
                          <a:latin typeface="+mj-ea"/>
                          <a:ea typeface="+mj-ea"/>
                        </a:rPr>
                        <a:t>• </a:t>
                      </a:r>
                      <a:r>
                        <a:rPr lang="zh-CN" altLang="en-US" sz="800" b="1" i="0" dirty="0">
                          <a:solidFill>
                            <a:schemeClr val="bg1"/>
                          </a:solidFill>
                          <a:effectLst/>
                          <a:latin typeface="+mj-ea"/>
                          <a:ea typeface="+mj-ea"/>
                        </a:rPr>
                        <a:t>柔性指导（规则）：</a:t>
                      </a:r>
                      <a:r>
                        <a:rPr lang="zh-CN" altLang="en-US" sz="800" b="0" i="0" dirty="0">
                          <a:solidFill>
                            <a:schemeClr val="bg1"/>
                          </a:solidFill>
                          <a:effectLst/>
                          <a:latin typeface="+mj-ea"/>
                          <a:ea typeface="+mj-ea"/>
                        </a:rPr>
                        <a:t> </a:t>
                      </a:r>
                      <a:r>
                        <a:rPr lang="en-US" altLang="zh-CN" sz="800" b="0" i="0" dirty="0">
                          <a:solidFill>
                            <a:schemeClr val="bg1"/>
                          </a:solidFill>
                          <a:effectLst/>
                          <a:latin typeface="+mj-ea"/>
                          <a:ea typeface="+mj-ea"/>
                        </a:rPr>
                        <a:t>ITP</a:t>
                      </a:r>
                      <a:r>
                        <a:rPr lang="zh-CN" altLang="en-US" sz="800" b="0" i="0" dirty="0">
                          <a:solidFill>
                            <a:schemeClr val="bg1"/>
                          </a:solidFill>
                          <a:effectLst/>
                          <a:latin typeface="+mj-ea"/>
                          <a:ea typeface="+mj-ea"/>
                        </a:rPr>
                        <a:t>为</a:t>
                      </a:r>
                      <a:r>
                        <a:rPr lang="en-US" altLang="zh-CN" sz="800" b="0" i="0" dirty="0">
                          <a:solidFill>
                            <a:schemeClr val="bg1"/>
                          </a:solidFill>
                          <a:effectLst/>
                          <a:latin typeface="+mj-ea"/>
                          <a:ea typeface="+mj-ea"/>
                        </a:rPr>
                        <a:t>IOP</a:t>
                      </a:r>
                      <a:r>
                        <a:rPr lang="zh-CN" altLang="en-US" sz="800" b="0" i="0" dirty="0">
                          <a:solidFill>
                            <a:schemeClr val="bg1"/>
                          </a:solidFill>
                          <a:effectLst/>
                          <a:latin typeface="+mj-ea"/>
                          <a:ea typeface="+mj-ea"/>
                        </a:rPr>
                        <a:t>提供了在配额内</a:t>
                      </a:r>
                      <a:r>
                        <a:rPr lang="zh-CN" altLang="en-US" sz="800" b="1" i="0" dirty="0">
                          <a:solidFill>
                            <a:schemeClr val="bg1"/>
                          </a:solidFill>
                          <a:effectLst/>
                          <a:latin typeface="+mj-ea"/>
                          <a:ea typeface="+mj-ea"/>
                        </a:rPr>
                        <a:t>自主优化排产顺序</a:t>
                      </a:r>
                      <a:r>
                        <a:rPr lang="zh-CN" altLang="en-US" sz="800" b="0" i="0" dirty="0">
                          <a:solidFill>
                            <a:schemeClr val="bg1"/>
                          </a:solidFill>
                          <a:effectLst/>
                          <a:latin typeface="+mj-ea"/>
                          <a:ea typeface="+mj-ea"/>
                        </a:rPr>
                        <a:t>的灵活性，更重要的是，提供了</a:t>
                      </a:r>
                      <a:r>
                        <a:rPr lang="zh-CN" altLang="en-US" sz="800" b="1" i="0" dirty="0">
                          <a:solidFill>
                            <a:schemeClr val="bg1"/>
                          </a:solidFill>
                          <a:effectLst/>
                          <a:latin typeface="+mj-ea"/>
                          <a:ea typeface="+mj-ea"/>
                        </a:rPr>
                        <a:t>处理超配额情况的预设规则</a:t>
                      </a:r>
                      <a:r>
                        <a:rPr lang="zh-CN" altLang="en-US" sz="800" b="0" i="0" dirty="0">
                          <a:solidFill>
                            <a:schemeClr val="bg1"/>
                          </a:solidFill>
                          <a:effectLst/>
                          <a:latin typeface="+mj-ea"/>
                          <a:ea typeface="+mj-ea"/>
                        </a:rPr>
                        <a:t>，使</a:t>
                      </a:r>
                      <a:r>
                        <a:rPr lang="en-US" altLang="zh-CN" sz="800" b="0" i="0" dirty="0">
                          <a:solidFill>
                            <a:schemeClr val="bg1"/>
                          </a:solidFill>
                          <a:effectLst/>
                          <a:latin typeface="+mj-ea"/>
                          <a:ea typeface="+mj-ea"/>
                        </a:rPr>
                        <a:t>IOP</a:t>
                      </a:r>
                      <a:r>
                        <a:rPr lang="zh-CN" altLang="en-US" sz="800" b="0" i="0" dirty="0">
                          <a:solidFill>
                            <a:schemeClr val="bg1"/>
                          </a:solidFill>
                          <a:effectLst/>
                          <a:latin typeface="+mj-ea"/>
                          <a:ea typeface="+mj-ea"/>
                        </a:rPr>
                        <a:t>能快速响应而非等待审批。</a:t>
                      </a:r>
                      <a:br>
                        <a:rPr lang="zh-CN" altLang="en-US" sz="800" dirty="0">
                          <a:solidFill>
                            <a:schemeClr val="bg1"/>
                          </a:solidFill>
                          <a:latin typeface="+mj-ea"/>
                          <a:ea typeface="+mj-ea"/>
                        </a:rPr>
                      </a:br>
                      <a:br>
                        <a:rPr lang="zh-CN" altLang="en-US" sz="800" dirty="0">
                          <a:solidFill>
                            <a:schemeClr val="bg1"/>
                          </a:solidFill>
                          <a:latin typeface="+mj-ea"/>
                          <a:ea typeface="+mj-ea"/>
                        </a:rPr>
                      </a:br>
                      <a:r>
                        <a:rPr lang="zh-CN" altLang="en-US" sz="800" b="1" i="0" dirty="0">
                          <a:solidFill>
                            <a:schemeClr val="bg1"/>
                          </a:solidFill>
                          <a:effectLst/>
                          <a:latin typeface="+mj-ea"/>
                          <a:ea typeface="+mj-ea"/>
                        </a:rPr>
                        <a:t>对</a:t>
                      </a:r>
                      <a:r>
                        <a:rPr lang="en-US" altLang="zh-CN" sz="800" b="1" i="0" dirty="0">
                          <a:solidFill>
                            <a:schemeClr val="bg1"/>
                          </a:solidFill>
                          <a:effectLst/>
                          <a:latin typeface="+mj-ea"/>
                          <a:ea typeface="+mj-ea"/>
                        </a:rPr>
                        <a:t>IBP</a:t>
                      </a:r>
                      <a:r>
                        <a:rPr lang="zh-CN" altLang="en-US" sz="800" b="1" i="0" dirty="0">
                          <a:solidFill>
                            <a:schemeClr val="bg1"/>
                          </a:solidFill>
                          <a:effectLst/>
                          <a:latin typeface="+mj-ea"/>
                          <a:ea typeface="+mj-ea"/>
                        </a:rPr>
                        <a:t>的反馈：</a:t>
                      </a:r>
                      <a:r>
                        <a:rPr lang="zh-CN" altLang="en-US" sz="800" b="0" i="0" dirty="0">
                          <a:solidFill>
                            <a:schemeClr val="bg1"/>
                          </a:solidFill>
                          <a:effectLst/>
                          <a:latin typeface="+mj-ea"/>
                          <a:ea typeface="+mj-ea"/>
                        </a:rPr>
                        <a:t> 将无法通过规则解决的重大资源冲突或系统性偏差反馈给</a:t>
                      </a:r>
                      <a:r>
                        <a:rPr lang="en-US" altLang="zh-CN" sz="800" b="0" i="0" dirty="0">
                          <a:solidFill>
                            <a:schemeClr val="bg1"/>
                          </a:solidFill>
                          <a:effectLst/>
                          <a:latin typeface="+mj-ea"/>
                          <a:ea typeface="+mj-ea"/>
                        </a:rPr>
                        <a:t>IBP</a:t>
                      </a:r>
                      <a:r>
                        <a:rPr lang="zh-CN" altLang="en-US" sz="800" b="0" i="0" dirty="0">
                          <a:solidFill>
                            <a:schemeClr val="bg1"/>
                          </a:solidFill>
                          <a:effectLst/>
                          <a:latin typeface="+mj-ea"/>
                          <a:ea typeface="+mj-ea"/>
                        </a:rPr>
                        <a:t>，用于战略调整。</a:t>
                      </a:r>
                      <a:endParaRPr lang="zh-CN" altLang="en-US" sz="800" dirty="0">
                        <a:solidFill>
                          <a:schemeClr val="bg1"/>
                        </a:solidFill>
                        <a:latin typeface="+mj-ea"/>
                        <a:ea typeface="+mj-ea"/>
                      </a:endParaRPr>
                    </a:p>
                  </a:txBody>
                  <a:tcPr anchor="ctr">
                    <a:lnL>
                      <a:noFill/>
                    </a:lnL>
                    <a:lnR>
                      <a:noFill/>
                    </a:lnR>
                    <a:lnT>
                      <a:solidFill>
                        <a:srgbClr val="DDDDDD"/>
                      </a:solidFill>
                      <a:prstDash val="solid"/>
                    </a:lnT>
                    <a:lnB>
                      <a:solidFill>
                        <a:srgbClr val="DDDDDD"/>
                      </a:solidFill>
                      <a:prstDash val="solid"/>
                    </a:lnB>
                    <a:noFill/>
                  </a:tcPr>
                </a:tc>
                <a:extLst>
                  <a:ext uri="{0D108BD9-81ED-4DB2-BD59-A6C34878D82A}">
                    <a16:rowId xmlns:a16="http://schemas.microsoft.com/office/drawing/2014/main" val="1128210317"/>
                  </a:ext>
                </a:extLst>
              </a:tr>
              <a:tr h="1708900">
                <a:tc>
                  <a:txBody>
                    <a:bodyPr/>
                    <a:lstStyle/>
                    <a:p>
                      <a:r>
                        <a:rPr lang="en-US" altLang="zh-CN" sz="900" b="1" i="0" dirty="0">
                          <a:effectLst/>
                          <a:latin typeface="+mj-ea"/>
                          <a:ea typeface="+mj-ea"/>
                        </a:rPr>
                        <a:t>IOP</a:t>
                      </a:r>
                      <a:br>
                        <a:rPr lang="en-US" altLang="zh-CN" sz="900" b="1" i="0" dirty="0">
                          <a:effectLst/>
                          <a:latin typeface="+mj-ea"/>
                          <a:ea typeface="+mj-ea"/>
                        </a:rPr>
                      </a:br>
                      <a:r>
                        <a:rPr lang="en-US" altLang="zh-CN" sz="900" b="1" i="0" dirty="0">
                          <a:effectLst/>
                          <a:latin typeface="+mj-ea"/>
                          <a:ea typeface="+mj-ea"/>
                        </a:rPr>
                        <a:t>(</a:t>
                      </a:r>
                      <a:r>
                        <a:rPr lang="zh-CN" altLang="en-US" sz="900" b="1" i="0" dirty="0">
                          <a:effectLst/>
                          <a:latin typeface="+mj-ea"/>
                          <a:ea typeface="+mj-ea"/>
                        </a:rPr>
                        <a:t>集成运营计划</a:t>
                      </a:r>
                      <a:r>
                        <a:rPr lang="en-US" altLang="zh-CN" sz="900" b="1" i="0" dirty="0">
                          <a:effectLst/>
                          <a:latin typeface="+mj-ea"/>
                          <a:ea typeface="+mj-ea"/>
                        </a:rPr>
                        <a:t>)</a:t>
                      </a:r>
                      <a:br>
                        <a:rPr lang="zh-CN" altLang="en-US" sz="900" dirty="0">
                          <a:latin typeface="+mj-ea"/>
                          <a:ea typeface="+mj-ea"/>
                        </a:rPr>
                      </a:br>
                      <a:r>
                        <a:rPr lang="zh-CN" altLang="en-US" sz="900" b="0" i="1" dirty="0">
                          <a:effectLst/>
                          <a:latin typeface="+mj-ea"/>
                          <a:ea typeface="+mj-ea"/>
                        </a:rPr>
                        <a:t>执行层</a:t>
                      </a:r>
                      <a:endParaRPr lang="zh-CN" altLang="en-US" sz="900" dirty="0">
                        <a:latin typeface="+mj-ea"/>
                        <a:ea typeface="+mj-ea"/>
                      </a:endParaRPr>
                    </a:p>
                  </a:txBody>
                  <a:tcPr anchor="ctr">
                    <a:lnL>
                      <a:noFill/>
                    </a:lnL>
                    <a:lnR>
                      <a:noFill/>
                    </a:lnR>
                    <a:lnT>
                      <a:solidFill>
                        <a:srgbClr val="DDDDDD"/>
                      </a:solidFill>
                      <a:prstDash val="solid"/>
                    </a:lnT>
                    <a:lnB>
                      <a:solidFill>
                        <a:srgbClr val="1C3879"/>
                      </a:solidFill>
                      <a:prstDash val="solid"/>
                    </a:lnB>
                    <a:solidFill>
                      <a:schemeClr val="accent1">
                        <a:lumMod val="60000"/>
                        <a:lumOff val="40000"/>
                      </a:schemeClr>
                    </a:solidFill>
                  </a:tcPr>
                </a:tc>
                <a:tc>
                  <a:txBody>
                    <a:bodyPr/>
                    <a:lstStyle/>
                    <a:p>
                      <a:pPr algn="l"/>
                      <a:r>
                        <a:rPr lang="zh-CN" altLang="en-US" sz="800" b="1" i="0" dirty="0">
                          <a:solidFill>
                            <a:schemeClr val="bg1"/>
                          </a:solidFill>
                          <a:effectLst/>
                          <a:latin typeface="+mj-ea"/>
                          <a:ea typeface="+mj-ea"/>
                        </a:rPr>
                        <a:t>敏捷执行计划与调度</a:t>
                      </a:r>
                      <a:br>
                        <a:rPr lang="zh-CN" altLang="en-US" sz="800" dirty="0">
                          <a:solidFill>
                            <a:schemeClr val="bg1"/>
                          </a:solidFill>
                          <a:latin typeface="+mj-ea"/>
                          <a:ea typeface="+mj-ea"/>
                        </a:rPr>
                      </a:br>
                      <a:r>
                        <a:rPr lang="zh-CN" altLang="en-US" sz="800" b="0" i="1" dirty="0">
                          <a:solidFill>
                            <a:schemeClr val="bg1"/>
                          </a:solidFill>
                          <a:effectLst/>
                          <a:latin typeface="+mj-ea"/>
                          <a:ea typeface="+mj-ea"/>
                        </a:rPr>
                        <a:t>原则：在</a:t>
                      </a:r>
                      <a:r>
                        <a:rPr lang="en-US" altLang="zh-CN" sz="800" b="0" i="1" dirty="0">
                          <a:solidFill>
                            <a:schemeClr val="bg1"/>
                          </a:solidFill>
                          <a:effectLst/>
                          <a:latin typeface="+mj-ea"/>
                          <a:ea typeface="+mj-ea"/>
                        </a:rPr>
                        <a:t>ITP</a:t>
                      </a:r>
                      <a:r>
                        <a:rPr lang="zh-CN" altLang="en-US" sz="800" b="0" i="1" dirty="0">
                          <a:solidFill>
                            <a:schemeClr val="bg1"/>
                          </a:solidFill>
                          <a:effectLst/>
                          <a:latin typeface="+mj-ea"/>
                          <a:ea typeface="+mj-ea"/>
                        </a:rPr>
                        <a:t>分配的配额内，追求交付又准又快，资源最大化利用</a:t>
                      </a:r>
                      <a:endParaRPr lang="en-US" altLang="zh-CN" sz="800" b="0" i="1" dirty="0">
                        <a:solidFill>
                          <a:schemeClr val="bg1"/>
                        </a:solidFill>
                        <a:effectLst/>
                        <a:latin typeface="+mj-ea"/>
                        <a:ea typeface="+mj-ea"/>
                      </a:endParaRPr>
                    </a:p>
                    <a:p>
                      <a:pPr algn="l"/>
                      <a:r>
                        <a:rPr lang="zh-CN" altLang="en-US" sz="800" b="1" i="0" dirty="0">
                          <a:solidFill>
                            <a:schemeClr val="bg1"/>
                          </a:solidFill>
                          <a:effectLst/>
                          <a:latin typeface="+mj-ea"/>
                          <a:ea typeface="+mj-ea"/>
                        </a:rPr>
                        <a:t>焦点：</a:t>
                      </a:r>
                      <a:r>
                        <a:rPr lang="zh-CN" altLang="en-US" sz="800" b="0" i="0" dirty="0">
                          <a:solidFill>
                            <a:schemeClr val="bg1"/>
                          </a:solidFill>
                          <a:effectLst/>
                          <a:latin typeface="+mj-ea"/>
                          <a:ea typeface="+mj-ea"/>
                        </a:rPr>
                        <a:t> 未来</a:t>
                      </a:r>
                      <a:r>
                        <a:rPr lang="en-US" altLang="zh-CN" sz="800" b="0" i="0" dirty="0">
                          <a:solidFill>
                            <a:schemeClr val="bg1"/>
                          </a:solidFill>
                          <a:effectLst/>
                          <a:latin typeface="+mj-ea"/>
                          <a:ea typeface="+mj-ea"/>
                        </a:rPr>
                        <a:t>0-7</a:t>
                      </a:r>
                      <a:r>
                        <a:rPr lang="zh-CN" altLang="en-US" sz="800" b="0" i="0" dirty="0">
                          <a:solidFill>
                            <a:schemeClr val="bg1"/>
                          </a:solidFill>
                          <a:effectLst/>
                          <a:latin typeface="+mj-ea"/>
                          <a:ea typeface="+mj-ea"/>
                        </a:rPr>
                        <a:t>天，工单</a:t>
                      </a:r>
                      <a:r>
                        <a:rPr lang="en-US" altLang="zh-CN" sz="800" b="0" i="0" dirty="0">
                          <a:solidFill>
                            <a:schemeClr val="bg1"/>
                          </a:solidFill>
                          <a:effectLst/>
                          <a:latin typeface="+mj-ea"/>
                          <a:ea typeface="+mj-ea"/>
                        </a:rPr>
                        <a:t>/</a:t>
                      </a:r>
                      <a:r>
                        <a:rPr lang="zh-CN" altLang="en-US" sz="800" b="0" i="0" dirty="0">
                          <a:solidFill>
                            <a:schemeClr val="bg1"/>
                          </a:solidFill>
                          <a:effectLst/>
                          <a:latin typeface="+mj-ea"/>
                          <a:ea typeface="+mj-ea"/>
                        </a:rPr>
                        <a:t>任务层面，日度</a:t>
                      </a:r>
                      <a:r>
                        <a:rPr lang="en-US" altLang="zh-CN" sz="800" b="0" i="0" dirty="0">
                          <a:solidFill>
                            <a:schemeClr val="bg1"/>
                          </a:solidFill>
                          <a:effectLst/>
                          <a:latin typeface="+mj-ea"/>
                          <a:ea typeface="+mj-ea"/>
                        </a:rPr>
                        <a:t>/</a:t>
                      </a:r>
                      <a:r>
                        <a:rPr lang="zh-CN" altLang="en-US" sz="800" b="0" i="0" dirty="0">
                          <a:solidFill>
                            <a:schemeClr val="bg1"/>
                          </a:solidFill>
                          <a:effectLst/>
                          <a:latin typeface="+mj-ea"/>
                          <a:ea typeface="+mj-ea"/>
                        </a:rPr>
                        <a:t>班次循环。</a:t>
                      </a:r>
                      <a:br>
                        <a:rPr lang="zh-CN" altLang="en-US" sz="800" dirty="0">
                          <a:solidFill>
                            <a:schemeClr val="bg1"/>
                          </a:solidFill>
                          <a:latin typeface="+mj-ea"/>
                          <a:ea typeface="+mj-ea"/>
                        </a:rPr>
                      </a:br>
                      <a:r>
                        <a:rPr lang="zh-CN" altLang="en-US" sz="800" b="1" i="0" dirty="0">
                          <a:solidFill>
                            <a:schemeClr val="bg1"/>
                          </a:solidFill>
                          <a:effectLst/>
                          <a:latin typeface="+mj-ea"/>
                          <a:ea typeface="+mj-ea"/>
                        </a:rPr>
                        <a:t>核心要解决：</a:t>
                      </a:r>
                      <a:r>
                        <a:rPr lang="zh-CN" altLang="en-US" sz="800" b="0" i="0" dirty="0">
                          <a:solidFill>
                            <a:schemeClr val="bg1"/>
                          </a:solidFill>
                          <a:effectLst/>
                          <a:latin typeface="+mj-ea"/>
                          <a:ea typeface="+mj-ea"/>
                        </a:rPr>
                        <a:t> “如何做”才能最快、最好地完成生产与交付？</a:t>
                      </a:r>
                      <a:endParaRPr lang="zh-CN" altLang="en-US" sz="800" dirty="0">
                        <a:solidFill>
                          <a:schemeClr val="bg1"/>
                        </a:solidFill>
                        <a:latin typeface="+mj-ea"/>
                        <a:ea typeface="+mj-ea"/>
                      </a:endParaRPr>
                    </a:p>
                  </a:txBody>
                  <a:tcPr anchor="ctr">
                    <a:lnL>
                      <a:noFill/>
                    </a:lnL>
                    <a:lnR>
                      <a:noFill/>
                    </a:lnR>
                    <a:lnT>
                      <a:solidFill>
                        <a:srgbClr val="DDDDDD"/>
                      </a:solidFill>
                      <a:prstDash val="solid"/>
                    </a:lnT>
                    <a:lnB>
                      <a:solidFill>
                        <a:srgbClr val="1C3879"/>
                      </a:solidFill>
                      <a:prstDash val="solid"/>
                    </a:lnB>
                    <a:noFill/>
                  </a:tcPr>
                </a:tc>
                <a:tc>
                  <a:txBody>
                    <a:bodyPr/>
                    <a:lstStyle/>
                    <a:p>
                      <a:pPr algn="l"/>
                      <a:r>
                        <a:rPr lang="en-US" altLang="zh-CN" sz="800" b="1">
                          <a:solidFill>
                            <a:schemeClr val="bg1"/>
                          </a:solidFill>
                          <a:latin typeface="+mj-ea"/>
                          <a:ea typeface="+mj-ea"/>
                        </a:rPr>
                        <a:t>1. </a:t>
                      </a:r>
                      <a:r>
                        <a:rPr lang="zh-CN" altLang="en-US" sz="800" b="1">
                          <a:solidFill>
                            <a:schemeClr val="bg1"/>
                          </a:solidFill>
                          <a:latin typeface="+mj-ea"/>
                          <a:ea typeface="+mj-ea"/>
                        </a:rPr>
                        <a:t>约束规划与动态排程：</a:t>
                      </a:r>
                      <a:r>
                        <a:rPr lang="zh-CN" altLang="en-US" sz="800">
                          <a:solidFill>
                            <a:schemeClr val="bg1"/>
                          </a:solidFill>
                          <a:latin typeface="+mj-ea"/>
                          <a:ea typeface="+mj-ea"/>
                        </a:rPr>
                        <a:t> 在</a:t>
                      </a:r>
                      <a:r>
                        <a:rPr lang="en-US" altLang="zh-CN" sz="800">
                          <a:solidFill>
                            <a:schemeClr val="bg1"/>
                          </a:solidFill>
                          <a:latin typeface="+mj-ea"/>
                          <a:ea typeface="+mj-ea"/>
                        </a:rPr>
                        <a:t>ITP</a:t>
                      </a:r>
                      <a:r>
                        <a:rPr lang="zh-CN" altLang="en-US" sz="800">
                          <a:solidFill>
                            <a:schemeClr val="bg1"/>
                          </a:solidFill>
                          <a:latin typeface="+mj-ea"/>
                          <a:ea typeface="+mj-ea"/>
                        </a:rPr>
                        <a:t>分配的</a:t>
                      </a:r>
                      <a:r>
                        <a:rPr lang="zh-CN" altLang="en-US" sz="800" b="1">
                          <a:solidFill>
                            <a:schemeClr val="bg1"/>
                          </a:solidFill>
                          <a:latin typeface="+mj-ea"/>
                          <a:ea typeface="+mj-ea"/>
                        </a:rPr>
                        <a:t>资源配额</a:t>
                      </a:r>
                      <a:r>
                        <a:rPr lang="zh-CN" altLang="en-US" sz="800">
                          <a:solidFill>
                            <a:schemeClr val="bg1"/>
                          </a:solidFill>
                          <a:latin typeface="+mj-ea"/>
                          <a:ea typeface="+mj-ea"/>
                        </a:rPr>
                        <a:t>下，进行</a:t>
                      </a:r>
                      <a:r>
                        <a:rPr lang="zh-CN" altLang="en-US" sz="800" b="1">
                          <a:solidFill>
                            <a:schemeClr val="bg1"/>
                          </a:solidFill>
                          <a:latin typeface="+mj-ea"/>
                          <a:ea typeface="+mj-ea"/>
                        </a:rPr>
                        <a:t>天</a:t>
                      </a:r>
                      <a:r>
                        <a:rPr lang="en-US" altLang="zh-CN" sz="800" b="1">
                          <a:solidFill>
                            <a:schemeClr val="bg1"/>
                          </a:solidFill>
                          <a:latin typeface="+mj-ea"/>
                          <a:ea typeface="+mj-ea"/>
                        </a:rPr>
                        <a:t>/</a:t>
                      </a:r>
                      <a:r>
                        <a:rPr lang="zh-CN" altLang="en-US" sz="800" b="1">
                          <a:solidFill>
                            <a:schemeClr val="bg1"/>
                          </a:solidFill>
                          <a:latin typeface="+mj-ea"/>
                          <a:ea typeface="+mj-ea"/>
                        </a:rPr>
                        <a:t>班次</a:t>
                      </a:r>
                      <a:r>
                        <a:rPr lang="zh-CN" altLang="en-US" sz="800">
                          <a:solidFill>
                            <a:schemeClr val="bg1"/>
                          </a:solidFill>
                          <a:latin typeface="+mj-ea"/>
                          <a:ea typeface="+mj-ea"/>
                        </a:rPr>
                        <a:t>级别的详细约束规划，生成工单、机台、人员的精确排程。</a:t>
                      </a:r>
                      <a:br>
                        <a:rPr lang="zh-CN" altLang="en-US" sz="800">
                          <a:solidFill>
                            <a:schemeClr val="bg1"/>
                          </a:solidFill>
                          <a:latin typeface="+mj-ea"/>
                          <a:ea typeface="+mj-ea"/>
                        </a:rPr>
                      </a:br>
                      <a:r>
                        <a:rPr lang="en-US" altLang="zh-CN" sz="800" b="1">
                          <a:solidFill>
                            <a:schemeClr val="bg1"/>
                          </a:solidFill>
                          <a:latin typeface="+mj-ea"/>
                          <a:ea typeface="+mj-ea"/>
                        </a:rPr>
                        <a:t>2. </a:t>
                      </a:r>
                      <a:r>
                        <a:rPr lang="zh-CN" altLang="en-US" sz="800" b="1">
                          <a:solidFill>
                            <a:schemeClr val="bg1"/>
                          </a:solidFill>
                          <a:latin typeface="+mj-ea"/>
                          <a:ea typeface="+mj-ea"/>
                        </a:rPr>
                        <a:t>实时承诺 </a:t>
                      </a:r>
                      <a:r>
                        <a:rPr lang="en-US" altLang="zh-CN" sz="800" b="1">
                          <a:solidFill>
                            <a:schemeClr val="bg1"/>
                          </a:solidFill>
                          <a:latin typeface="+mj-ea"/>
                          <a:ea typeface="+mj-ea"/>
                        </a:rPr>
                        <a:t>(ATP/CTP)</a:t>
                      </a:r>
                      <a:r>
                        <a:rPr lang="zh-CN" altLang="en-US" sz="800" b="1">
                          <a:solidFill>
                            <a:schemeClr val="bg1"/>
                          </a:solidFill>
                          <a:latin typeface="+mj-ea"/>
                          <a:ea typeface="+mj-ea"/>
                        </a:rPr>
                        <a:t>：</a:t>
                      </a:r>
                      <a:r>
                        <a:rPr lang="zh-CN" altLang="en-US" sz="800">
                          <a:solidFill>
                            <a:schemeClr val="bg1"/>
                          </a:solidFill>
                          <a:latin typeface="+mj-ea"/>
                          <a:ea typeface="+mj-ea"/>
                        </a:rPr>
                        <a:t> 基于实时库存、产能与物料，为紧急订单提供</a:t>
                      </a:r>
                      <a:r>
                        <a:rPr lang="zh-CN" altLang="en-US" sz="800" b="1">
                          <a:solidFill>
                            <a:schemeClr val="bg1"/>
                          </a:solidFill>
                          <a:latin typeface="+mj-ea"/>
                          <a:ea typeface="+mj-ea"/>
                        </a:rPr>
                        <a:t>可承诺量</a:t>
                      </a:r>
                      <a:r>
                        <a:rPr lang="zh-CN" altLang="en-US" sz="800">
                          <a:solidFill>
                            <a:schemeClr val="bg1"/>
                          </a:solidFill>
                          <a:latin typeface="+mj-ea"/>
                          <a:ea typeface="+mj-ea"/>
                        </a:rPr>
                        <a:t>与可靠交期。</a:t>
                      </a:r>
                      <a:br>
                        <a:rPr lang="zh-CN" altLang="en-US" sz="800">
                          <a:solidFill>
                            <a:schemeClr val="bg1"/>
                          </a:solidFill>
                          <a:latin typeface="+mj-ea"/>
                          <a:ea typeface="+mj-ea"/>
                        </a:rPr>
                      </a:br>
                      <a:r>
                        <a:rPr lang="en-US" altLang="zh-CN" sz="800" b="1">
                          <a:solidFill>
                            <a:schemeClr val="bg1"/>
                          </a:solidFill>
                          <a:latin typeface="+mj-ea"/>
                          <a:ea typeface="+mj-ea"/>
                        </a:rPr>
                        <a:t>3. </a:t>
                      </a:r>
                      <a:r>
                        <a:rPr lang="zh-CN" altLang="en-US" sz="800" b="1">
                          <a:solidFill>
                            <a:schemeClr val="bg1"/>
                          </a:solidFill>
                          <a:latin typeface="+mj-ea"/>
                          <a:ea typeface="+mj-ea"/>
                        </a:rPr>
                        <a:t>供应商执行协同：</a:t>
                      </a:r>
                      <a:r>
                        <a:rPr lang="zh-CN" altLang="en-US" sz="800">
                          <a:solidFill>
                            <a:schemeClr val="bg1"/>
                          </a:solidFill>
                          <a:latin typeface="+mj-ea"/>
                          <a:ea typeface="+mj-ea"/>
                        </a:rPr>
                        <a:t> 与供应商进行</a:t>
                      </a:r>
                      <a:r>
                        <a:rPr lang="zh-CN" altLang="en-US" sz="800" b="1">
                          <a:solidFill>
                            <a:schemeClr val="bg1"/>
                          </a:solidFill>
                          <a:latin typeface="+mj-ea"/>
                          <a:ea typeface="+mj-ea"/>
                        </a:rPr>
                        <a:t>日度</a:t>
                      </a:r>
                      <a:r>
                        <a:rPr lang="zh-CN" altLang="en-US" sz="800">
                          <a:solidFill>
                            <a:schemeClr val="bg1"/>
                          </a:solidFill>
                          <a:latin typeface="+mj-ea"/>
                          <a:ea typeface="+mj-ea"/>
                        </a:rPr>
                        <a:t>协同，确保</a:t>
                      </a:r>
                      <a:r>
                        <a:rPr lang="zh-CN" altLang="en-US" sz="800" b="1">
                          <a:solidFill>
                            <a:schemeClr val="bg1"/>
                          </a:solidFill>
                          <a:latin typeface="+mj-ea"/>
                          <a:ea typeface="+mj-ea"/>
                        </a:rPr>
                        <a:t>每笔交货</a:t>
                      </a:r>
                      <a:r>
                        <a:rPr lang="zh-CN" altLang="en-US" sz="800">
                          <a:solidFill>
                            <a:schemeClr val="bg1"/>
                          </a:solidFill>
                          <a:latin typeface="+mj-ea"/>
                          <a:ea typeface="+mj-ea"/>
                        </a:rPr>
                        <a:t>的</a:t>
                      </a:r>
                      <a:r>
                        <a:rPr lang="en-US" altLang="zh-CN" sz="800">
                          <a:solidFill>
                            <a:schemeClr val="bg1"/>
                          </a:solidFill>
                          <a:latin typeface="+mj-ea"/>
                          <a:ea typeface="+mj-ea"/>
                        </a:rPr>
                        <a:t>ETA</a:t>
                      </a:r>
                      <a:r>
                        <a:rPr lang="zh-CN" altLang="en-US" sz="800">
                          <a:solidFill>
                            <a:schemeClr val="bg1"/>
                          </a:solidFill>
                          <a:latin typeface="+mj-ea"/>
                          <a:ea typeface="+mj-ea"/>
                        </a:rPr>
                        <a:t>（预计到货时间）、</a:t>
                      </a:r>
                      <a:r>
                        <a:rPr lang="en-US" altLang="zh-CN" sz="800">
                          <a:solidFill>
                            <a:schemeClr val="bg1"/>
                          </a:solidFill>
                          <a:latin typeface="+mj-ea"/>
                          <a:ea typeface="+mj-ea"/>
                        </a:rPr>
                        <a:t>ASN</a:t>
                      </a:r>
                      <a:r>
                        <a:rPr lang="zh-CN" altLang="en-US" sz="800">
                          <a:solidFill>
                            <a:schemeClr val="bg1"/>
                          </a:solidFill>
                          <a:latin typeface="+mj-ea"/>
                          <a:ea typeface="+mj-ea"/>
                        </a:rPr>
                        <a:t>（提前发货通知）与生产计划紧密对齐，实现端到端</a:t>
                      </a:r>
                      <a:r>
                        <a:rPr lang="en-US" altLang="zh-CN" sz="800">
                          <a:solidFill>
                            <a:schemeClr val="bg1"/>
                          </a:solidFill>
                          <a:latin typeface="+mj-ea"/>
                          <a:ea typeface="+mj-ea"/>
                        </a:rPr>
                        <a:t>Pegging</a:t>
                      </a:r>
                      <a:r>
                        <a:rPr lang="zh-CN" altLang="en-US" sz="800">
                          <a:solidFill>
                            <a:schemeClr val="bg1"/>
                          </a:solidFill>
                          <a:latin typeface="+mj-ea"/>
                          <a:ea typeface="+mj-ea"/>
                        </a:rPr>
                        <a:t>（追踪关联）。</a:t>
                      </a:r>
                      <a:br>
                        <a:rPr lang="zh-CN" altLang="en-US" sz="800">
                          <a:solidFill>
                            <a:schemeClr val="bg1"/>
                          </a:solidFill>
                          <a:latin typeface="+mj-ea"/>
                          <a:ea typeface="+mj-ea"/>
                        </a:rPr>
                      </a:br>
                      <a:r>
                        <a:rPr lang="en-US" altLang="zh-CN" sz="800" b="1">
                          <a:solidFill>
                            <a:schemeClr val="bg1"/>
                          </a:solidFill>
                          <a:latin typeface="+mj-ea"/>
                          <a:ea typeface="+mj-ea"/>
                        </a:rPr>
                        <a:t>4. </a:t>
                      </a:r>
                      <a:r>
                        <a:rPr lang="zh-CN" altLang="en-US" sz="800" b="1">
                          <a:solidFill>
                            <a:schemeClr val="bg1"/>
                          </a:solidFill>
                          <a:latin typeface="+mj-ea"/>
                          <a:ea typeface="+mj-ea"/>
                        </a:rPr>
                        <a:t>异常响应与重排程：</a:t>
                      </a:r>
                      <a:r>
                        <a:rPr lang="zh-CN" altLang="en-US" sz="800">
                          <a:solidFill>
                            <a:schemeClr val="bg1"/>
                          </a:solidFill>
                          <a:latin typeface="+mj-ea"/>
                          <a:ea typeface="+mj-ea"/>
                        </a:rPr>
                        <a:t> 快速响应生产与物流中的异常（如设备故障、延误），动态</a:t>
                      </a:r>
                      <a:r>
                        <a:rPr lang="zh-CN" altLang="en-US" sz="800" b="1">
                          <a:solidFill>
                            <a:schemeClr val="bg1"/>
                          </a:solidFill>
                          <a:latin typeface="+mj-ea"/>
                          <a:ea typeface="+mj-ea"/>
                        </a:rPr>
                        <a:t>重排程</a:t>
                      </a:r>
                      <a:r>
                        <a:rPr lang="zh-CN" altLang="en-US" sz="800">
                          <a:solidFill>
                            <a:schemeClr val="bg1"/>
                          </a:solidFill>
                          <a:latin typeface="+mj-ea"/>
                          <a:ea typeface="+mj-ea"/>
                        </a:rPr>
                        <a:t>以确保交付。</a:t>
                      </a:r>
                    </a:p>
                  </a:txBody>
                  <a:tcPr anchor="ctr">
                    <a:lnL>
                      <a:noFill/>
                    </a:lnL>
                    <a:lnR>
                      <a:noFill/>
                    </a:lnR>
                    <a:lnT>
                      <a:solidFill>
                        <a:srgbClr val="DDDDDD"/>
                      </a:solidFill>
                      <a:prstDash val="solid"/>
                    </a:lnT>
                    <a:lnB>
                      <a:solidFill>
                        <a:srgbClr val="1C3879"/>
                      </a:solidFill>
                      <a:prstDash val="solid"/>
                    </a:lnB>
                    <a:noFill/>
                  </a:tcPr>
                </a:tc>
                <a:tc>
                  <a:txBody>
                    <a:bodyPr/>
                    <a:lstStyle/>
                    <a:p>
                      <a:pPr algn="l"/>
                      <a:r>
                        <a:rPr lang="zh-CN" altLang="en-US" sz="800" b="1" i="0" dirty="0">
                          <a:solidFill>
                            <a:schemeClr val="bg1"/>
                          </a:solidFill>
                          <a:effectLst/>
                          <a:latin typeface="+mj-ea"/>
                          <a:ea typeface="+mj-ea"/>
                        </a:rPr>
                        <a:t>执行层面的刚柔并济：</a:t>
                      </a:r>
                      <a:br>
                        <a:rPr lang="zh-CN" altLang="en-US" sz="800" dirty="0">
                          <a:solidFill>
                            <a:schemeClr val="bg1"/>
                          </a:solidFill>
                          <a:latin typeface="+mj-ea"/>
                          <a:ea typeface="+mj-ea"/>
                        </a:rPr>
                      </a:br>
                      <a:r>
                        <a:rPr lang="en-US" altLang="zh-CN" sz="800" b="0" i="0" dirty="0">
                          <a:solidFill>
                            <a:schemeClr val="bg1"/>
                          </a:solidFill>
                          <a:effectLst/>
                          <a:latin typeface="+mj-ea"/>
                          <a:ea typeface="+mj-ea"/>
                        </a:rPr>
                        <a:t>• </a:t>
                      </a:r>
                      <a:r>
                        <a:rPr lang="zh-CN" altLang="en-US" sz="800" b="1" i="0" dirty="0">
                          <a:solidFill>
                            <a:schemeClr val="bg1"/>
                          </a:solidFill>
                          <a:effectLst/>
                          <a:latin typeface="+mj-ea"/>
                          <a:ea typeface="+mj-ea"/>
                        </a:rPr>
                        <a:t>刚性执行：</a:t>
                      </a:r>
                      <a:r>
                        <a:rPr lang="zh-CN" altLang="en-US" sz="800" b="0" i="0" dirty="0">
                          <a:solidFill>
                            <a:schemeClr val="bg1"/>
                          </a:solidFill>
                          <a:effectLst/>
                          <a:latin typeface="+mj-ea"/>
                          <a:ea typeface="+mj-ea"/>
                        </a:rPr>
                        <a:t> 生成的</a:t>
                      </a:r>
                      <a:r>
                        <a:rPr lang="zh-CN" altLang="en-US" sz="800" b="1" i="0" dirty="0">
                          <a:solidFill>
                            <a:schemeClr val="bg1"/>
                          </a:solidFill>
                          <a:effectLst/>
                          <a:latin typeface="+mj-ea"/>
                          <a:ea typeface="+mj-ea"/>
                        </a:rPr>
                        <a:t>工单</a:t>
                      </a:r>
                      <a:r>
                        <a:rPr lang="zh-CN" altLang="en-US" sz="800" b="0" i="0" dirty="0">
                          <a:solidFill>
                            <a:schemeClr val="bg1"/>
                          </a:solidFill>
                          <a:effectLst/>
                          <a:latin typeface="+mj-ea"/>
                          <a:ea typeface="+mj-ea"/>
                        </a:rPr>
                        <a:t>、</a:t>
                      </a:r>
                      <a:r>
                        <a:rPr lang="zh-CN" altLang="en-US" sz="800" b="1" i="0" dirty="0">
                          <a:solidFill>
                            <a:schemeClr val="bg1"/>
                          </a:solidFill>
                          <a:effectLst/>
                          <a:latin typeface="+mj-ea"/>
                          <a:ea typeface="+mj-ea"/>
                        </a:rPr>
                        <a:t>发货指令</a:t>
                      </a:r>
                      <a:r>
                        <a:rPr lang="zh-CN" altLang="en-US" sz="800" b="0" i="0" dirty="0">
                          <a:solidFill>
                            <a:schemeClr val="bg1"/>
                          </a:solidFill>
                          <a:effectLst/>
                          <a:latin typeface="+mj-ea"/>
                          <a:ea typeface="+mj-ea"/>
                        </a:rPr>
                        <a:t>是现场必须执行的硬指令。</a:t>
                      </a:r>
                      <a:br>
                        <a:rPr lang="zh-CN" altLang="en-US" sz="800" dirty="0">
                          <a:solidFill>
                            <a:schemeClr val="bg1"/>
                          </a:solidFill>
                          <a:latin typeface="+mj-ea"/>
                          <a:ea typeface="+mj-ea"/>
                        </a:rPr>
                      </a:br>
                      <a:r>
                        <a:rPr lang="en-US" altLang="zh-CN" sz="800" b="0" i="0" dirty="0">
                          <a:solidFill>
                            <a:schemeClr val="bg1"/>
                          </a:solidFill>
                          <a:effectLst/>
                          <a:latin typeface="+mj-ea"/>
                          <a:ea typeface="+mj-ea"/>
                        </a:rPr>
                        <a:t>• </a:t>
                      </a:r>
                      <a:r>
                        <a:rPr lang="zh-CN" altLang="en-US" sz="800" b="1" i="0" dirty="0">
                          <a:solidFill>
                            <a:schemeClr val="bg1"/>
                          </a:solidFill>
                          <a:effectLst/>
                          <a:latin typeface="+mj-ea"/>
                          <a:ea typeface="+mj-ea"/>
                        </a:rPr>
                        <a:t>柔性响应：</a:t>
                      </a:r>
                      <a:r>
                        <a:rPr lang="zh-CN" altLang="en-US" sz="800" b="0" i="0" dirty="0">
                          <a:solidFill>
                            <a:schemeClr val="bg1"/>
                          </a:solidFill>
                          <a:effectLst/>
                          <a:latin typeface="+mj-ea"/>
                          <a:ea typeface="+mj-ea"/>
                        </a:rPr>
                        <a:t> 拥有在</a:t>
                      </a:r>
                      <a:r>
                        <a:rPr lang="zh-CN" altLang="en-US" sz="800" b="1" i="0" dirty="0">
                          <a:solidFill>
                            <a:schemeClr val="bg1"/>
                          </a:solidFill>
                          <a:effectLst/>
                          <a:latin typeface="+mj-ea"/>
                          <a:ea typeface="+mj-ea"/>
                        </a:rPr>
                        <a:t>预设规则内</a:t>
                      </a:r>
                      <a:r>
                        <a:rPr lang="zh-CN" altLang="en-US" sz="800" b="0" i="0" dirty="0">
                          <a:solidFill>
                            <a:schemeClr val="bg1"/>
                          </a:solidFill>
                          <a:effectLst/>
                          <a:latin typeface="+mj-ea"/>
                          <a:ea typeface="+mj-ea"/>
                        </a:rPr>
                        <a:t>自主调整作业顺序、快速响应异常的极大灵活性。</a:t>
                      </a:r>
                      <a:br>
                        <a:rPr lang="zh-CN" altLang="en-US" sz="800" dirty="0">
                          <a:solidFill>
                            <a:schemeClr val="bg1"/>
                          </a:solidFill>
                          <a:latin typeface="+mj-ea"/>
                          <a:ea typeface="+mj-ea"/>
                        </a:rPr>
                      </a:br>
                      <a:br>
                        <a:rPr lang="zh-CN" altLang="en-US" sz="800" dirty="0">
                          <a:solidFill>
                            <a:schemeClr val="bg1"/>
                          </a:solidFill>
                          <a:latin typeface="+mj-ea"/>
                          <a:ea typeface="+mj-ea"/>
                        </a:rPr>
                      </a:br>
                      <a:r>
                        <a:rPr lang="zh-CN" altLang="en-US" sz="800" b="1" i="0" dirty="0">
                          <a:solidFill>
                            <a:schemeClr val="bg1"/>
                          </a:solidFill>
                          <a:effectLst/>
                          <a:latin typeface="+mj-ea"/>
                          <a:ea typeface="+mj-ea"/>
                        </a:rPr>
                        <a:t>对</a:t>
                      </a:r>
                      <a:r>
                        <a:rPr lang="en-US" altLang="zh-CN" sz="800" b="1" i="0" dirty="0">
                          <a:solidFill>
                            <a:schemeClr val="bg1"/>
                          </a:solidFill>
                          <a:effectLst/>
                          <a:latin typeface="+mj-ea"/>
                          <a:ea typeface="+mj-ea"/>
                        </a:rPr>
                        <a:t>ITP</a:t>
                      </a:r>
                      <a:r>
                        <a:rPr lang="zh-CN" altLang="en-US" sz="800" b="1" i="0" dirty="0">
                          <a:solidFill>
                            <a:schemeClr val="bg1"/>
                          </a:solidFill>
                          <a:effectLst/>
                          <a:latin typeface="+mj-ea"/>
                          <a:ea typeface="+mj-ea"/>
                        </a:rPr>
                        <a:t>的反馈：</a:t>
                      </a:r>
                      <a:r>
                        <a:rPr lang="zh-CN" altLang="en-US" sz="800" b="0" i="0" dirty="0">
                          <a:solidFill>
                            <a:schemeClr val="bg1"/>
                          </a:solidFill>
                          <a:effectLst/>
                          <a:latin typeface="+mj-ea"/>
                          <a:ea typeface="+mj-ea"/>
                        </a:rPr>
                        <a:t> 将规则无法覆盖的异常、或规则执行后的整体绩效结果反馈给</a:t>
                      </a:r>
                      <a:r>
                        <a:rPr lang="en-US" altLang="zh-CN" sz="800" b="0" i="0" dirty="0">
                          <a:solidFill>
                            <a:schemeClr val="bg1"/>
                          </a:solidFill>
                          <a:effectLst/>
                          <a:latin typeface="+mj-ea"/>
                          <a:ea typeface="+mj-ea"/>
                        </a:rPr>
                        <a:t>ITP</a:t>
                      </a:r>
                      <a:r>
                        <a:rPr lang="zh-CN" altLang="en-US" sz="800" b="0" i="0" dirty="0">
                          <a:solidFill>
                            <a:schemeClr val="bg1"/>
                          </a:solidFill>
                          <a:effectLst/>
                          <a:latin typeface="+mj-ea"/>
                          <a:ea typeface="+mj-ea"/>
                        </a:rPr>
                        <a:t>，用于优化配额和规则本身。</a:t>
                      </a:r>
                      <a:endParaRPr lang="zh-CN" altLang="en-US" sz="800" dirty="0">
                        <a:solidFill>
                          <a:schemeClr val="bg1"/>
                        </a:solidFill>
                        <a:latin typeface="+mj-ea"/>
                        <a:ea typeface="+mj-ea"/>
                      </a:endParaRPr>
                    </a:p>
                  </a:txBody>
                  <a:tcPr anchor="ctr">
                    <a:lnL>
                      <a:noFill/>
                    </a:lnL>
                    <a:lnR>
                      <a:noFill/>
                    </a:lnR>
                    <a:lnT>
                      <a:solidFill>
                        <a:srgbClr val="DDDDDD"/>
                      </a:solidFill>
                      <a:prstDash val="solid"/>
                    </a:lnT>
                    <a:lnB>
                      <a:solidFill>
                        <a:srgbClr val="1C3879"/>
                      </a:solidFill>
                      <a:prstDash val="solid"/>
                    </a:lnB>
                    <a:noFill/>
                  </a:tcPr>
                </a:tc>
                <a:extLst>
                  <a:ext uri="{0D108BD9-81ED-4DB2-BD59-A6C34878D82A}">
                    <a16:rowId xmlns:a16="http://schemas.microsoft.com/office/drawing/2014/main" val="224125038"/>
                  </a:ext>
                </a:extLst>
              </a:tr>
            </a:tbl>
          </a:graphicData>
        </a:graphic>
      </p:graphicFrame>
      <p:sp>
        <p:nvSpPr>
          <p:cNvPr id="22" name="标注: 线形 21">
            <a:extLst>
              <a:ext uri="{FF2B5EF4-FFF2-40B4-BE49-F238E27FC236}">
                <a16:creationId xmlns:a16="http://schemas.microsoft.com/office/drawing/2014/main" id="{3357595A-09CC-058E-6B7F-D500311DDA61}"/>
              </a:ext>
            </a:extLst>
          </p:cNvPr>
          <p:cNvSpPr/>
          <p:nvPr/>
        </p:nvSpPr>
        <p:spPr>
          <a:xfrm>
            <a:off x="3527751" y="2337281"/>
            <a:ext cx="1342015" cy="160282"/>
          </a:xfrm>
          <a:prstGeom prst="borderCallout1">
            <a:avLst>
              <a:gd name="adj1" fmla="val 18750"/>
              <a:gd name="adj2" fmla="val -8333"/>
              <a:gd name="adj3" fmla="val 91262"/>
              <a:gd name="adj4" fmla="val -15959"/>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横向协同：战略共识</a:t>
            </a:r>
          </a:p>
        </p:txBody>
      </p:sp>
      <p:sp>
        <p:nvSpPr>
          <p:cNvPr id="33" name="标注: 线形 32">
            <a:extLst>
              <a:ext uri="{FF2B5EF4-FFF2-40B4-BE49-F238E27FC236}">
                <a16:creationId xmlns:a16="http://schemas.microsoft.com/office/drawing/2014/main" id="{C3B36E2A-DD5B-7150-9B6D-F00A24BE230F}"/>
              </a:ext>
            </a:extLst>
          </p:cNvPr>
          <p:cNvSpPr/>
          <p:nvPr/>
        </p:nvSpPr>
        <p:spPr>
          <a:xfrm>
            <a:off x="3518712" y="3095372"/>
            <a:ext cx="1395199" cy="170088"/>
          </a:xfrm>
          <a:prstGeom prst="borderCallout1">
            <a:avLst>
              <a:gd name="adj1" fmla="val 18750"/>
              <a:gd name="adj2" fmla="val -8333"/>
              <a:gd name="adj3" fmla="val 131946"/>
              <a:gd name="adj4" fmla="val -16526"/>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横向协同：供需平衡</a:t>
            </a:r>
          </a:p>
        </p:txBody>
      </p:sp>
      <p:sp>
        <p:nvSpPr>
          <p:cNvPr id="34" name="标注: 线形 33">
            <a:extLst>
              <a:ext uri="{FF2B5EF4-FFF2-40B4-BE49-F238E27FC236}">
                <a16:creationId xmlns:a16="http://schemas.microsoft.com/office/drawing/2014/main" id="{1DDAEBCF-4E2C-1EF7-F7BB-A24E520ED360}"/>
              </a:ext>
            </a:extLst>
          </p:cNvPr>
          <p:cNvSpPr/>
          <p:nvPr/>
        </p:nvSpPr>
        <p:spPr>
          <a:xfrm>
            <a:off x="3606948" y="4973063"/>
            <a:ext cx="1343868" cy="188485"/>
          </a:xfrm>
          <a:prstGeom prst="borderCallout1">
            <a:avLst>
              <a:gd name="adj1" fmla="val 18750"/>
              <a:gd name="adj2" fmla="val -8333"/>
              <a:gd name="adj3" fmla="val -27956"/>
              <a:gd name="adj4" fmla="val -31681"/>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横向协同：供需平衡</a:t>
            </a:r>
          </a:p>
        </p:txBody>
      </p:sp>
      <p:sp>
        <p:nvSpPr>
          <p:cNvPr id="35" name="标注: 线形 34">
            <a:extLst>
              <a:ext uri="{FF2B5EF4-FFF2-40B4-BE49-F238E27FC236}">
                <a16:creationId xmlns:a16="http://schemas.microsoft.com/office/drawing/2014/main" id="{02069D7A-D287-C6BF-8825-03964082C248}"/>
              </a:ext>
            </a:extLst>
          </p:cNvPr>
          <p:cNvSpPr/>
          <p:nvPr/>
        </p:nvSpPr>
        <p:spPr>
          <a:xfrm>
            <a:off x="650903" y="3896008"/>
            <a:ext cx="1685363" cy="213545"/>
          </a:xfrm>
          <a:prstGeom prst="borderCallout1">
            <a:avLst>
              <a:gd name="adj1" fmla="val 53469"/>
              <a:gd name="adj2" fmla="val 99303"/>
              <a:gd name="adj3" fmla="val 14654"/>
              <a:gd name="adj4" fmla="val 12040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9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纵向协同：约束性指导与反馈</a:t>
            </a:r>
          </a:p>
        </p:txBody>
      </p:sp>
      <p:sp>
        <p:nvSpPr>
          <p:cNvPr id="39" name="标注: 线形 38">
            <a:extLst>
              <a:ext uri="{FF2B5EF4-FFF2-40B4-BE49-F238E27FC236}">
                <a16:creationId xmlns:a16="http://schemas.microsoft.com/office/drawing/2014/main" id="{B7C0D9A2-636B-0278-3582-960C43C362D4}"/>
              </a:ext>
            </a:extLst>
          </p:cNvPr>
          <p:cNvSpPr/>
          <p:nvPr/>
        </p:nvSpPr>
        <p:spPr>
          <a:xfrm>
            <a:off x="650903" y="3041883"/>
            <a:ext cx="1672683" cy="201416"/>
          </a:xfrm>
          <a:prstGeom prst="borderCallout1">
            <a:avLst>
              <a:gd name="adj1" fmla="val 53469"/>
              <a:gd name="adj2" fmla="val 99303"/>
              <a:gd name="adj3" fmla="val 14654"/>
              <a:gd name="adj4" fmla="val 12040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9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纵向协同：约束性指导与反馈</a:t>
            </a:r>
          </a:p>
        </p:txBody>
      </p:sp>
      <p:sp>
        <p:nvSpPr>
          <p:cNvPr id="42" name="标注: 线形 41">
            <a:extLst>
              <a:ext uri="{FF2B5EF4-FFF2-40B4-BE49-F238E27FC236}">
                <a16:creationId xmlns:a16="http://schemas.microsoft.com/office/drawing/2014/main" id="{931B14EE-B9DA-0BF1-B3E4-849915FF38FF}"/>
              </a:ext>
            </a:extLst>
          </p:cNvPr>
          <p:cNvSpPr/>
          <p:nvPr/>
        </p:nvSpPr>
        <p:spPr>
          <a:xfrm>
            <a:off x="637234" y="5091903"/>
            <a:ext cx="1685363" cy="213545"/>
          </a:xfrm>
          <a:prstGeom prst="borderCallout1">
            <a:avLst>
              <a:gd name="adj1" fmla="val 53469"/>
              <a:gd name="adj2" fmla="val 99303"/>
              <a:gd name="adj3" fmla="val 14654"/>
              <a:gd name="adj4" fmla="val 12040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9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纵向协同：约束性指导与反馈</a:t>
            </a:r>
          </a:p>
        </p:txBody>
      </p:sp>
    </p:spTree>
    <p:extLst>
      <p:ext uri="{BB962C8B-B14F-4D97-AF65-F5344CB8AC3E}">
        <p14:creationId xmlns:p14="http://schemas.microsoft.com/office/powerpoint/2010/main" val="141161777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E4AC5FC-EEE1-1943-7249-A09035769C5B}"/>
              </a:ext>
            </a:extLst>
          </p:cNvPr>
          <p:cNvSpPr>
            <a:spLocks noGrp="1"/>
          </p:cNvSpPr>
          <p:nvPr>
            <p:ph type="title"/>
          </p:nvPr>
        </p:nvSpPr>
        <p:spPr/>
        <p:txBody>
          <a:bodyPr/>
          <a:lstStyle/>
          <a:p>
            <a:pPr algn="l" fontAlgn="base"/>
            <a:r>
              <a:rPr lang="zh-CN" altLang="en-US" b="1" i="0" dirty="0">
                <a:effectLst/>
                <a:latin typeface="+mj-ea"/>
              </a:rPr>
              <a:t>从“智能大脑”到“全局指挥中心”：为什么需要</a:t>
            </a:r>
            <a:r>
              <a:rPr lang="en-US" altLang="zh-CN" b="1" i="0" dirty="0">
                <a:effectLst/>
                <a:latin typeface="+mj-ea"/>
              </a:rPr>
              <a:t>Control Tower</a:t>
            </a:r>
            <a:r>
              <a:rPr lang="zh-CN" altLang="en-US" b="1" i="0" dirty="0">
                <a:effectLst/>
                <a:latin typeface="+mj-ea"/>
              </a:rPr>
              <a:t>？</a:t>
            </a:r>
            <a:endParaRPr lang="zh-CN" altLang="en-US" b="1" dirty="0">
              <a:effectLst/>
              <a:latin typeface="+mj-ea"/>
            </a:endParaRPr>
          </a:p>
        </p:txBody>
      </p:sp>
      <p:graphicFrame>
        <p:nvGraphicFramePr>
          <p:cNvPr id="4" name="图示 3">
            <a:extLst>
              <a:ext uri="{FF2B5EF4-FFF2-40B4-BE49-F238E27FC236}">
                <a16:creationId xmlns:a16="http://schemas.microsoft.com/office/drawing/2014/main" id="{F79C2929-C5CE-9ED6-FC67-7DEF3ADA4625}"/>
              </a:ext>
            </a:extLst>
          </p:cNvPr>
          <p:cNvGraphicFramePr/>
          <p:nvPr>
            <p:extLst>
              <p:ext uri="{D42A27DB-BD31-4B8C-83A1-F6EECF244321}">
                <p14:modId xmlns:p14="http://schemas.microsoft.com/office/powerpoint/2010/main" val="2391529517"/>
              </p:ext>
            </p:extLst>
          </p:nvPr>
        </p:nvGraphicFramePr>
        <p:xfrm>
          <a:off x="635001" y="782320"/>
          <a:ext cx="5354672" cy="521715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文本框 4">
            <a:extLst>
              <a:ext uri="{FF2B5EF4-FFF2-40B4-BE49-F238E27FC236}">
                <a16:creationId xmlns:a16="http://schemas.microsoft.com/office/drawing/2014/main" id="{DF12A859-2A79-22E0-3A36-27A273D765A2}"/>
              </a:ext>
            </a:extLst>
          </p:cNvPr>
          <p:cNvSpPr txBox="1"/>
          <p:nvPr/>
        </p:nvSpPr>
        <p:spPr>
          <a:xfrm>
            <a:off x="1383691" y="6086390"/>
            <a:ext cx="9637273"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white"/>
                </a:solidFill>
                <a:effectLst/>
                <a:uLnTx/>
                <a:uFillTx/>
                <a:latin typeface="-apple-system"/>
                <a:ea typeface="黑体" panose="02010609060101010101" pitchFamily="49" charset="-122"/>
                <a:cs typeface="+mn-cs"/>
              </a:rPr>
              <a:t>Control Tower</a:t>
            </a:r>
            <a:r>
              <a:rPr kumimoji="0" lang="zh-CN" altLang="en-US" sz="1800" b="1" i="0" u="none" strike="noStrike" kern="1200" cap="none" spc="0" normalizeH="0" baseline="0" noProof="0" dirty="0">
                <a:ln>
                  <a:noFill/>
                </a:ln>
                <a:solidFill>
                  <a:prstClr val="white"/>
                </a:solidFill>
                <a:effectLst/>
                <a:uLnTx/>
                <a:uFillTx/>
                <a:latin typeface="-apple-system"/>
                <a:ea typeface="黑体" panose="02010609060101010101" pitchFamily="49" charset="-122"/>
                <a:cs typeface="+mn-cs"/>
              </a:rPr>
              <a:t>是</a:t>
            </a:r>
            <a:r>
              <a:rPr kumimoji="0" lang="en-US" altLang="zh-CN" sz="1800" b="1" i="0" u="none" strike="noStrike" kern="1200" cap="none" spc="0" normalizeH="0" baseline="0" noProof="0" dirty="0">
                <a:ln>
                  <a:noFill/>
                </a:ln>
                <a:solidFill>
                  <a:prstClr val="white"/>
                </a:solidFill>
                <a:effectLst/>
                <a:uLnTx/>
                <a:uFillTx/>
                <a:latin typeface="-apple-system"/>
                <a:ea typeface="黑体" panose="02010609060101010101" pitchFamily="49" charset="-122"/>
                <a:cs typeface="+mn-cs"/>
              </a:rPr>
              <a:t>One Plan</a:t>
            </a:r>
            <a:r>
              <a:rPr kumimoji="0" lang="zh-CN" altLang="en-US" sz="1800" b="1" i="0" u="none" strike="noStrike" kern="1200" cap="none" spc="0" normalizeH="0" baseline="0" noProof="0" dirty="0">
                <a:ln>
                  <a:noFill/>
                </a:ln>
                <a:solidFill>
                  <a:prstClr val="white"/>
                </a:solidFill>
                <a:effectLst/>
                <a:uLnTx/>
                <a:uFillTx/>
                <a:latin typeface="-apple-system"/>
                <a:ea typeface="黑体" panose="02010609060101010101" pitchFamily="49" charset="-122"/>
                <a:cs typeface="+mn-cs"/>
              </a:rPr>
              <a:t>智能价值得以实现的“放大器”和组织协同的“指挥中心”。</a:t>
            </a:r>
            <a:endParaRPr kumimoji="0" lang="en-US" altLang="zh-CN" sz="1800" b="1" i="0" u="none" strike="noStrike" kern="1200" cap="none" spc="0" normalizeH="0" baseline="0" noProof="0" dirty="0">
              <a:ln>
                <a:noFill/>
              </a:ln>
              <a:solidFill>
                <a:prstClr val="white"/>
              </a:solidFill>
              <a:effectLst/>
              <a:uLnTx/>
              <a:uFillTx/>
              <a:latin typeface="-apple-system"/>
              <a:ea typeface="黑体" panose="02010609060101010101" pitchFamily="49"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prstClr val="white"/>
                </a:solidFill>
                <a:effectLst/>
                <a:uLnTx/>
                <a:uFillTx/>
                <a:latin typeface="-apple-system"/>
                <a:ea typeface="黑体" panose="02010609060101010101" pitchFamily="49" charset="-122"/>
                <a:cs typeface="+mn-cs"/>
              </a:rPr>
              <a:t>它们内化成一个计划与控制体系。</a:t>
            </a:r>
            <a:endParaRPr kumimoji="0" lang="zh-CN" altLang="en-US" sz="1800" b="0" i="0" u="none" strike="noStrike" kern="1200" cap="none" spc="0" normalizeH="0" baseline="0" noProof="0" dirty="0">
              <a:ln>
                <a:noFill/>
              </a:ln>
              <a:solidFill>
                <a:prstClr val="white"/>
              </a:solidFill>
              <a:effectLst/>
              <a:uLnTx/>
              <a:uFillTx/>
              <a:latin typeface="Arial" panose="020B0604020202020204"/>
              <a:ea typeface="黑体" panose="02010609060101010101" pitchFamily="49" charset="-122"/>
              <a:cs typeface="+mn-cs"/>
            </a:endParaRPr>
          </a:p>
        </p:txBody>
      </p:sp>
      <p:pic>
        <p:nvPicPr>
          <p:cNvPr id="3" name="图片 2">
            <a:extLst>
              <a:ext uri="{FF2B5EF4-FFF2-40B4-BE49-F238E27FC236}">
                <a16:creationId xmlns:a16="http://schemas.microsoft.com/office/drawing/2014/main" id="{7CF3D631-5CC4-B2C1-A0BB-567F73B31D59}"/>
              </a:ext>
            </a:extLst>
          </p:cNvPr>
          <p:cNvPicPr>
            <a:picLocks noChangeAspect="1"/>
          </p:cNvPicPr>
          <p:nvPr/>
        </p:nvPicPr>
        <p:blipFill>
          <a:blip r:embed="rId7">
            <a:extLst>
              <a:ext uri="{BEBA8EAE-BF5A-486C-A8C5-ECC9F3942E4B}">
                <a14:imgProps xmlns:a14="http://schemas.microsoft.com/office/drawing/2010/main">
                  <a14:imgLayer r:embed="rId8">
                    <a14:imgEffect>
                      <a14:brightnessContrast contrast="20000"/>
                    </a14:imgEffect>
                  </a14:imgLayer>
                </a14:imgProps>
              </a:ext>
            </a:extLst>
          </a:blip>
          <a:stretch>
            <a:fillRect/>
          </a:stretch>
        </p:blipFill>
        <p:spPr>
          <a:xfrm>
            <a:off x="6202328" y="858520"/>
            <a:ext cx="5466489" cy="4978400"/>
          </a:xfrm>
          <a:prstGeom prst="roundRect">
            <a:avLst>
              <a:gd name="adj" fmla="val 4167"/>
            </a:avLst>
          </a:prstGeom>
          <a:solidFill>
            <a:srgbClr val="FFFFFF"/>
          </a:solidFill>
          <a:ln w="76200" cap="sq">
            <a:solidFill>
              <a:srgbClr val="EAEAEA"/>
            </a:solidFill>
            <a:miter lim="800000"/>
          </a:ln>
          <a:effectLst>
            <a:reflection blurRad="12700" stA="33000" endPos="28000" dist="5000" dir="5400000" sy="-100000" algn="bl" rotWithShape="0"/>
          </a:effectLst>
          <a:scene3d>
            <a:camera prst="orthographicFront"/>
            <a:lightRig rig="threePt" dir="t">
              <a:rot lat="0" lon="0" rev="2700000"/>
            </a:lightRig>
          </a:scene3d>
          <a:sp3d contourW="6350">
            <a:bevelT h="38100"/>
            <a:contourClr>
              <a:srgbClr val="C0C0C0"/>
            </a:contourClr>
          </a:sp3d>
        </p:spPr>
      </p:pic>
    </p:spTree>
    <p:extLst>
      <p:ext uri="{BB962C8B-B14F-4D97-AF65-F5344CB8AC3E}">
        <p14:creationId xmlns:p14="http://schemas.microsoft.com/office/powerpoint/2010/main" val="178881405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59C3C23-8D19-F2A1-7390-E82EAE698706}"/>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  建设智能计划与控制体系</a:t>
            </a:r>
          </a:p>
        </p:txBody>
      </p:sp>
      <p:pic>
        <p:nvPicPr>
          <p:cNvPr id="4" name="object 5">
            <a:extLst>
              <a:ext uri="{FF2B5EF4-FFF2-40B4-BE49-F238E27FC236}">
                <a16:creationId xmlns:a16="http://schemas.microsoft.com/office/drawing/2014/main" id="{57DACF8E-7424-C43E-AB4B-E93C53C84CD2}"/>
              </a:ext>
            </a:extLst>
          </p:cNvPr>
          <p:cNvPicPr/>
          <p:nvPr/>
        </p:nvPicPr>
        <p:blipFill>
          <a:blip r:embed="rId2" cstate="print"/>
          <a:stretch>
            <a:fillRect/>
          </a:stretch>
        </p:blipFill>
        <p:spPr>
          <a:xfrm>
            <a:off x="7575804" y="1072824"/>
            <a:ext cx="4177284" cy="5623560"/>
          </a:xfrm>
          <a:prstGeom prst="rect">
            <a:avLst/>
          </a:prstGeom>
        </p:spPr>
      </p:pic>
      <p:sp>
        <p:nvSpPr>
          <p:cNvPr id="5" name="object 6">
            <a:extLst>
              <a:ext uri="{FF2B5EF4-FFF2-40B4-BE49-F238E27FC236}">
                <a16:creationId xmlns:a16="http://schemas.microsoft.com/office/drawing/2014/main" id="{8E079FAE-BAB9-645F-66F8-56519D6E91B9}"/>
              </a:ext>
            </a:extLst>
          </p:cNvPr>
          <p:cNvSpPr txBox="1"/>
          <p:nvPr/>
        </p:nvSpPr>
        <p:spPr>
          <a:xfrm>
            <a:off x="10464545" y="2290880"/>
            <a:ext cx="1242060" cy="258404"/>
          </a:xfrm>
          <a:prstGeom prst="rect">
            <a:avLst/>
          </a:prstGeom>
        </p:spPr>
        <p:txBody>
          <a:bodyPr vert="horz" wrap="square" lIns="0" tIns="12065" rIns="0" bIns="0" rtlCol="0">
            <a:spAutoFit/>
          </a:bodyPr>
          <a:lstStyle/>
          <a:p>
            <a:pPr marL="12700">
              <a:lnSpc>
                <a:spcPct val="100000"/>
              </a:lnSpc>
              <a:spcBef>
                <a:spcPts val="95"/>
              </a:spcBef>
            </a:pPr>
            <a:r>
              <a:rPr sz="1600" b="1" spc="-30" dirty="0">
                <a:solidFill>
                  <a:srgbClr val="FFFFFF"/>
                </a:solidFill>
                <a:latin typeface="Arial" panose="020B0604020202020204" pitchFamily="34" charset="0"/>
                <a:ea typeface="微软雅黑" panose="020B0503020204020204" pitchFamily="34" charset="-122"/>
                <a:cs typeface="Microsoft YaHei"/>
              </a:rPr>
              <a:t>智能决策场景</a:t>
            </a:r>
            <a:endParaRPr sz="1600">
              <a:latin typeface="Arial" panose="020B0604020202020204" pitchFamily="34" charset="0"/>
              <a:ea typeface="微软雅黑" panose="020B0503020204020204" pitchFamily="34" charset="-122"/>
              <a:cs typeface="Microsoft YaHei"/>
            </a:endParaRPr>
          </a:p>
        </p:txBody>
      </p:sp>
      <p:sp>
        <p:nvSpPr>
          <p:cNvPr id="6" name="object 7">
            <a:extLst>
              <a:ext uri="{FF2B5EF4-FFF2-40B4-BE49-F238E27FC236}">
                <a16:creationId xmlns:a16="http://schemas.microsoft.com/office/drawing/2014/main" id="{9E49D35F-3262-B56D-473F-7C4D3888560D}"/>
              </a:ext>
            </a:extLst>
          </p:cNvPr>
          <p:cNvSpPr txBox="1"/>
          <p:nvPr/>
        </p:nvSpPr>
        <p:spPr>
          <a:xfrm>
            <a:off x="10464545" y="4132762"/>
            <a:ext cx="836294" cy="258404"/>
          </a:xfrm>
          <a:prstGeom prst="rect">
            <a:avLst/>
          </a:prstGeom>
        </p:spPr>
        <p:txBody>
          <a:bodyPr vert="horz" wrap="square" lIns="0" tIns="12065" rIns="0" bIns="0" rtlCol="0">
            <a:spAutoFit/>
          </a:bodyPr>
          <a:lstStyle/>
          <a:p>
            <a:pPr marL="12700">
              <a:lnSpc>
                <a:spcPct val="100000"/>
              </a:lnSpc>
              <a:spcBef>
                <a:spcPts val="95"/>
              </a:spcBef>
            </a:pPr>
            <a:r>
              <a:rPr lang="zh-CN" altLang="en-US" sz="1600" b="1" spc="-35" dirty="0">
                <a:solidFill>
                  <a:srgbClr val="FFFFFF"/>
                </a:solidFill>
                <a:latin typeface="Arial" panose="020B0604020202020204" pitchFamily="34" charset="0"/>
                <a:ea typeface="微软雅黑" panose="020B0503020204020204" pitchFamily="34" charset="-122"/>
                <a:cs typeface="Microsoft YaHei"/>
              </a:rPr>
              <a:t>神经中枢</a:t>
            </a:r>
            <a:endParaRPr sz="1600" dirty="0">
              <a:latin typeface="Arial" panose="020B0604020202020204" pitchFamily="34" charset="0"/>
              <a:ea typeface="微软雅黑" panose="020B0503020204020204" pitchFamily="34" charset="-122"/>
              <a:cs typeface="Microsoft YaHei"/>
            </a:endParaRPr>
          </a:p>
        </p:txBody>
      </p:sp>
      <p:sp>
        <p:nvSpPr>
          <p:cNvPr id="7" name="object 8">
            <a:extLst>
              <a:ext uri="{FF2B5EF4-FFF2-40B4-BE49-F238E27FC236}">
                <a16:creationId xmlns:a16="http://schemas.microsoft.com/office/drawing/2014/main" id="{4F368A3C-37EE-9B82-1E6B-BC4F579F9577}"/>
              </a:ext>
            </a:extLst>
          </p:cNvPr>
          <p:cNvSpPr txBox="1"/>
          <p:nvPr/>
        </p:nvSpPr>
        <p:spPr>
          <a:xfrm>
            <a:off x="10464545" y="5900043"/>
            <a:ext cx="836294" cy="258404"/>
          </a:xfrm>
          <a:prstGeom prst="rect">
            <a:avLst/>
          </a:prstGeom>
        </p:spPr>
        <p:txBody>
          <a:bodyPr vert="horz" wrap="square" lIns="0" tIns="12065" rIns="0" bIns="0" rtlCol="0">
            <a:spAutoFit/>
          </a:bodyPr>
          <a:lstStyle/>
          <a:p>
            <a:pPr marL="12700">
              <a:lnSpc>
                <a:spcPct val="100000"/>
              </a:lnSpc>
              <a:spcBef>
                <a:spcPts val="95"/>
              </a:spcBef>
            </a:pPr>
            <a:r>
              <a:rPr sz="1600" b="1" spc="-35" dirty="0">
                <a:solidFill>
                  <a:srgbClr val="FFFFFF"/>
                </a:solidFill>
                <a:latin typeface="Arial" panose="020B0604020202020204" pitchFamily="34" charset="0"/>
                <a:ea typeface="微软雅黑" panose="020B0503020204020204" pitchFamily="34" charset="-122"/>
                <a:cs typeface="Microsoft YaHei"/>
              </a:rPr>
              <a:t>协同平台</a:t>
            </a:r>
            <a:endParaRPr sz="1600">
              <a:latin typeface="Arial" panose="020B0604020202020204" pitchFamily="34" charset="0"/>
              <a:ea typeface="微软雅黑" panose="020B0503020204020204" pitchFamily="34" charset="-122"/>
              <a:cs typeface="Microsoft YaHei"/>
            </a:endParaRPr>
          </a:p>
        </p:txBody>
      </p:sp>
      <p:grpSp>
        <p:nvGrpSpPr>
          <p:cNvPr id="8" name="object 10">
            <a:extLst>
              <a:ext uri="{FF2B5EF4-FFF2-40B4-BE49-F238E27FC236}">
                <a16:creationId xmlns:a16="http://schemas.microsoft.com/office/drawing/2014/main" id="{4953AB58-E228-DAB3-1463-D81A1B87FC1D}"/>
              </a:ext>
            </a:extLst>
          </p:cNvPr>
          <p:cNvGrpSpPr/>
          <p:nvPr/>
        </p:nvGrpSpPr>
        <p:grpSpPr>
          <a:xfrm>
            <a:off x="3277863" y="1718361"/>
            <a:ext cx="6461125" cy="4994910"/>
            <a:chOff x="3274821" y="1567688"/>
            <a:chExt cx="6461125" cy="4994910"/>
          </a:xfrm>
        </p:grpSpPr>
        <p:sp>
          <p:nvSpPr>
            <p:cNvPr id="9" name="object 11">
              <a:extLst>
                <a:ext uri="{FF2B5EF4-FFF2-40B4-BE49-F238E27FC236}">
                  <a16:creationId xmlns:a16="http://schemas.microsoft.com/office/drawing/2014/main" id="{74198181-7528-8D15-2FC2-499E07BF1F49}"/>
                </a:ext>
              </a:extLst>
            </p:cNvPr>
            <p:cNvSpPr/>
            <p:nvPr/>
          </p:nvSpPr>
          <p:spPr>
            <a:xfrm>
              <a:off x="3922775" y="2823972"/>
              <a:ext cx="5163820" cy="2399030"/>
            </a:xfrm>
            <a:custGeom>
              <a:avLst/>
              <a:gdLst/>
              <a:ahLst/>
              <a:cxnLst/>
              <a:rect l="l" t="t" r="r" b="b"/>
              <a:pathLst>
                <a:path w="5163820" h="2399029">
                  <a:moveTo>
                    <a:pt x="5163312" y="0"/>
                  </a:moveTo>
                  <a:lnTo>
                    <a:pt x="5125212" y="0"/>
                  </a:lnTo>
                  <a:lnTo>
                    <a:pt x="4955413" y="26162"/>
                  </a:lnTo>
                  <a:lnTo>
                    <a:pt x="4868152" y="37978"/>
                  </a:lnTo>
                  <a:lnTo>
                    <a:pt x="4779415" y="49361"/>
                  </a:lnTo>
                  <a:lnTo>
                    <a:pt x="4689239" y="60305"/>
                  </a:lnTo>
                  <a:lnTo>
                    <a:pt x="4597657" y="70802"/>
                  </a:lnTo>
                  <a:lnTo>
                    <a:pt x="4504706" y="80844"/>
                  </a:lnTo>
                  <a:lnTo>
                    <a:pt x="4410421" y="90425"/>
                  </a:lnTo>
                  <a:lnTo>
                    <a:pt x="4314837" y="99536"/>
                  </a:lnTo>
                  <a:lnTo>
                    <a:pt x="4217990" y="108170"/>
                  </a:lnTo>
                  <a:lnTo>
                    <a:pt x="4119914" y="116320"/>
                  </a:lnTo>
                  <a:lnTo>
                    <a:pt x="4020646" y="123978"/>
                  </a:lnTo>
                  <a:lnTo>
                    <a:pt x="3920220" y="131138"/>
                  </a:lnTo>
                  <a:lnTo>
                    <a:pt x="3818672" y="137791"/>
                  </a:lnTo>
                  <a:lnTo>
                    <a:pt x="3716038" y="143930"/>
                  </a:lnTo>
                  <a:lnTo>
                    <a:pt x="3612352" y="149548"/>
                  </a:lnTo>
                  <a:lnTo>
                    <a:pt x="3507650" y="154638"/>
                  </a:lnTo>
                  <a:lnTo>
                    <a:pt x="3401967" y="159191"/>
                  </a:lnTo>
                  <a:lnTo>
                    <a:pt x="3295339" y="163202"/>
                  </a:lnTo>
                  <a:lnTo>
                    <a:pt x="3187801" y="166661"/>
                  </a:lnTo>
                  <a:lnTo>
                    <a:pt x="3079389" y="169563"/>
                  </a:lnTo>
                  <a:lnTo>
                    <a:pt x="2970137" y="171898"/>
                  </a:lnTo>
                  <a:lnTo>
                    <a:pt x="2860081" y="173661"/>
                  </a:lnTo>
                  <a:lnTo>
                    <a:pt x="2749256" y="174844"/>
                  </a:lnTo>
                  <a:lnTo>
                    <a:pt x="2637698" y="175439"/>
                  </a:lnTo>
                  <a:lnTo>
                    <a:pt x="2525620" y="175439"/>
                  </a:lnTo>
                  <a:lnTo>
                    <a:pt x="2414076" y="174844"/>
                  </a:lnTo>
                  <a:lnTo>
                    <a:pt x="2303263" y="173661"/>
                  </a:lnTo>
                  <a:lnTo>
                    <a:pt x="2193216" y="171898"/>
                  </a:lnTo>
                  <a:lnTo>
                    <a:pt x="2083970" y="169563"/>
                  </a:lnTo>
                  <a:lnTo>
                    <a:pt x="1975562" y="166661"/>
                  </a:lnTo>
                  <a:lnTo>
                    <a:pt x="1868027" y="163202"/>
                  </a:lnTo>
                  <a:lnTo>
                    <a:pt x="1761400" y="159191"/>
                  </a:lnTo>
                  <a:lnTo>
                    <a:pt x="1655717" y="154638"/>
                  </a:lnTo>
                  <a:lnTo>
                    <a:pt x="1551014" y="149548"/>
                  </a:lnTo>
                  <a:lnTo>
                    <a:pt x="1447325" y="143930"/>
                  </a:lnTo>
                  <a:lnTo>
                    <a:pt x="1344687" y="137791"/>
                  </a:lnTo>
                  <a:lnTo>
                    <a:pt x="1243135" y="131138"/>
                  </a:lnTo>
                  <a:lnTo>
                    <a:pt x="1142705" y="123978"/>
                  </a:lnTo>
                  <a:lnTo>
                    <a:pt x="1043431" y="116320"/>
                  </a:lnTo>
                  <a:lnTo>
                    <a:pt x="945350" y="108170"/>
                  </a:lnTo>
                  <a:lnTo>
                    <a:pt x="848498" y="99536"/>
                  </a:lnTo>
                  <a:lnTo>
                    <a:pt x="752908" y="90425"/>
                  </a:lnTo>
                  <a:lnTo>
                    <a:pt x="658618" y="80844"/>
                  </a:lnTo>
                  <a:lnTo>
                    <a:pt x="565663" y="70802"/>
                  </a:lnTo>
                  <a:lnTo>
                    <a:pt x="474078" y="60305"/>
                  </a:lnTo>
                  <a:lnTo>
                    <a:pt x="383898" y="49361"/>
                  </a:lnTo>
                  <a:lnTo>
                    <a:pt x="295160" y="37978"/>
                  </a:lnTo>
                  <a:lnTo>
                    <a:pt x="207899" y="26162"/>
                  </a:lnTo>
                  <a:lnTo>
                    <a:pt x="38100" y="0"/>
                  </a:lnTo>
                  <a:lnTo>
                    <a:pt x="0" y="0"/>
                  </a:lnTo>
                  <a:lnTo>
                    <a:pt x="191515" y="77215"/>
                  </a:lnTo>
                  <a:lnTo>
                    <a:pt x="245182" y="101712"/>
                  </a:lnTo>
                  <a:lnTo>
                    <a:pt x="297700" y="126904"/>
                  </a:lnTo>
                  <a:lnTo>
                    <a:pt x="349046" y="152778"/>
                  </a:lnTo>
                  <a:lnTo>
                    <a:pt x="399194" y="179321"/>
                  </a:lnTo>
                  <a:lnTo>
                    <a:pt x="448122" y="206520"/>
                  </a:lnTo>
                  <a:lnTo>
                    <a:pt x="495804" y="234362"/>
                  </a:lnTo>
                  <a:lnTo>
                    <a:pt x="542215" y="262834"/>
                  </a:lnTo>
                  <a:lnTo>
                    <a:pt x="587333" y="291921"/>
                  </a:lnTo>
                  <a:lnTo>
                    <a:pt x="631132" y="321613"/>
                  </a:lnTo>
                  <a:lnTo>
                    <a:pt x="673588" y="351894"/>
                  </a:lnTo>
                  <a:lnTo>
                    <a:pt x="714677" y="382752"/>
                  </a:lnTo>
                  <a:lnTo>
                    <a:pt x="754375" y="414174"/>
                  </a:lnTo>
                  <a:lnTo>
                    <a:pt x="792657" y="446147"/>
                  </a:lnTo>
                  <a:lnTo>
                    <a:pt x="829498" y="478657"/>
                  </a:lnTo>
                  <a:lnTo>
                    <a:pt x="864876" y="511692"/>
                  </a:lnTo>
                  <a:lnTo>
                    <a:pt x="898764" y="545238"/>
                  </a:lnTo>
                  <a:lnTo>
                    <a:pt x="931140" y="579282"/>
                  </a:lnTo>
                  <a:lnTo>
                    <a:pt x="961978" y="613811"/>
                  </a:lnTo>
                  <a:lnTo>
                    <a:pt x="991255" y="648812"/>
                  </a:lnTo>
                  <a:lnTo>
                    <a:pt x="1018945" y="684271"/>
                  </a:lnTo>
                  <a:lnTo>
                    <a:pt x="1045026" y="720176"/>
                  </a:lnTo>
                  <a:lnTo>
                    <a:pt x="1069471" y="756513"/>
                  </a:lnTo>
                  <a:lnTo>
                    <a:pt x="1092258" y="793269"/>
                  </a:lnTo>
                  <a:lnTo>
                    <a:pt x="1113362" y="830432"/>
                  </a:lnTo>
                  <a:lnTo>
                    <a:pt x="1132758" y="867987"/>
                  </a:lnTo>
                  <a:lnTo>
                    <a:pt x="1150422" y="905922"/>
                  </a:lnTo>
                  <a:lnTo>
                    <a:pt x="1166330" y="944223"/>
                  </a:lnTo>
                  <a:lnTo>
                    <a:pt x="1180457" y="982878"/>
                  </a:lnTo>
                  <a:lnTo>
                    <a:pt x="1192780" y="1021873"/>
                  </a:lnTo>
                  <a:lnTo>
                    <a:pt x="1203274" y="1061195"/>
                  </a:lnTo>
                  <a:lnTo>
                    <a:pt x="1211914" y="1100831"/>
                  </a:lnTo>
                  <a:lnTo>
                    <a:pt x="1218676" y="1140768"/>
                  </a:lnTo>
                  <a:lnTo>
                    <a:pt x="1223537" y="1180993"/>
                  </a:lnTo>
                  <a:lnTo>
                    <a:pt x="1226471" y="1221492"/>
                  </a:lnTo>
                  <a:lnTo>
                    <a:pt x="1227454" y="1262252"/>
                  </a:lnTo>
                  <a:lnTo>
                    <a:pt x="1226397" y="1304522"/>
                  </a:lnTo>
                  <a:lnTo>
                    <a:pt x="1223242" y="1346508"/>
                  </a:lnTo>
                  <a:lnTo>
                    <a:pt x="1218017" y="1388199"/>
                  </a:lnTo>
                  <a:lnTo>
                    <a:pt x="1210750" y="1429577"/>
                  </a:lnTo>
                  <a:lnTo>
                    <a:pt x="1201467" y="1470630"/>
                  </a:lnTo>
                  <a:lnTo>
                    <a:pt x="1190195" y="1511341"/>
                  </a:lnTo>
                  <a:lnTo>
                    <a:pt x="1176962" y="1551697"/>
                  </a:lnTo>
                  <a:lnTo>
                    <a:pt x="1161794" y="1591684"/>
                  </a:lnTo>
                  <a:lnTo>
                    <a:pt x="1144720" y="1631285"/>
                  </a:lnTo>
                  <a:lnTo>
                    <a:pt x="1125765" y="1670487"/>
                  </a:lnTo>
                  <a:lnTo>
                    <a:pt x="1104958" y="1709275"/>
                  </a:lnTo>
                  <a:lnTo>
                    <a:pt x="1082325" y="1747634"/>
                  </a:lnTo>
                  <a:lnTo>
                    <a:pt x="1057894" y="1785550"/>
                  </a:lnTo>
                  <a:lnTo>
                    <a:pt x="1031691" y="1823008"/>
                  </a:lnTo>
                  <a:lnTo>
                    <a:pt x="1003744" y="1859994"/>
                  </a:lnTo>
                  <a:lnTo>
                    <a:pt x="974080" y="1896492"/>
                  </a:lnTo>
                  <a:lnTo>
                    <a:pt x="942726" y="1932488"/>
                  </a:lnTo>
                  <a:lnTo>
                    <a:pt x="909710" y="1967968"/>
                  </a:lnTo>
                  <a:lnTo>
                    <a:pt x="875057" y="2002917"/>
                  </a:lnTo>
                  <a:lnTo>
                    <a:pt x="838797" y="2037319"/>
                  </a:lnTo>
                  <a:lnTo>
                    <a:pt x="800955" y="2071162"/>
                  </a:lnTo>
                  <a:lnTo>
                    <a:pt x="761559" y="2104429"/>
                  </a:lnTo>
                  <a:lnTo>
                    <a:pt x="720636" y="2137106"/>
                  </a:lnTo>
                  <a:lnTo>
                    <a:pt x="678213" y="2169179"/>
                  </a:lnTo>
                  <a:lnTo>
                    <a:pt x="634317" y="2200633"/>
                  </a:lnTo>
                  <a:lnTo>
                    <a:pt x="588976" y="2231453"/>
                  </a:lnTo>
                  <a:lnTo>
                    <a:pt x="542217" y="2261624"/>
                  </a:lnTo>
                  <a:lnTo>
                    <a:pt x="494066" y="2291133"/>
                  </a:lnTo>
                  <a:lnTo>
                    <a:pt x="444551" y="2319964"/>
                  </a:lnTo>
                  <a:lnTo>
                    <a:pt x="393700" y="2348103"/>
                  </a:lnTo>
                  <a:lnTo>
                    <a:pt x="290449" y="2398776"/>
                  </a:lnTo>
                  <a:lnTo>
                    <a:pt x="309879" y="2398776"/>
                  </a:lnTo>
                  <a:lnTo>
                    <a:pt x="557911" y="2356992"/>
                  </a:lnTo>
                  <a:lnTo>
                    <a:pt x="648803" y="2343704"/>
                  </a:lnTo>
                  <a:lnTo>
                    <a:pt x="740979" y="2331009"/>
                  </a:lnTo>
                  <a:lnTo>
                    <a:pt x="834404" y="2318919"/>
                  </a:lnTo>
                  <a:lnTo>
                    <a:pt x="929046" y="2307441"/>
                  </a:lnTo>
                  <a:lnTo>
                    <a:pt x="1024872" y="2296586"/>
                  </a:lnTo>
                  <a:lnTo>
                    <a:pt x="1121847" y="2286363"/>
                  </a:lnTo>
                  <a:lnTo>
                    <a:pt x="1219940" y="2276781"/>
                  </a:lnTo>
                  <a:lnTo>
                    <a:pt x="1319116" y="2267851"/>
                  </a:lnTo>
                  <a:lnTo>
                    <a:pt x="1419343" y="2259580"/>
                  </a:lnTo>
                  <a:lnTo>
                    <a:pt x="1520586" y="2251979"/>
                  </a:lnTo>
                  <a:lnTo>
                    <a:pt x="1622814" y="2245058"/>
                  </a:lnTo>
                  <a:lnTo>
                    <a:pt x="1725992" y="2238825"/>
                  </a:lnTo>
                  <a:lnTo>
                    <a:pt x="1830088" y="2233289"/>
                  </a:lnTo>
                  <a:lnTo>
                    <a:pt x="1935068" y="2228462"/>
                  </a:lnTo>
                  <a:lnTo>
                    <a:pt x="2040899" y="2224351"/>
                  </a:lnTo>
                  <a:lnTo>
                    <a:pt x="2147548" y="2220966"/>
                  </a:lnTo>
                  <a:lnTo>
                    <a:pt x="2254981" y="2218318"/>
                  </a:lnTo>
                  <a:lnTo>
                    <a:pt x="2363166" y="2216414"/>
                  </a:lnTo>
                  <a:lnTo>
                    <a:pt x="2472068" y="2215265"/>
                  </a:lnTo>
                  <a:lnTo>
                    <a:pt x="2581655" y="2214879"/>
                  </a:lnTo>
                  <a:lnTo>
                    <a:pt x="2691243" y="2215265"/>
                  </a:lnTo>
                  <a:lnTo>
                    <a:pt x="2800145" y="2216414"/>
                  </a:lnTo>
                  <a:lnTo>
                    <a:pt x="2908330" y="2218318"/>
                  </a:lnTo>
                  <a:lnTo>
                    <a:pt x="3015763" y="2220966"/>
                  </a:lnTo>
                  <a:lnTo>
                    <a:pt x="3122412" y="2224351"/>
                  </a:lnTo>
                  <a:lnTo>
                    <a:pt x="3228243" y="2228462"/>
                  </a:lnTo>
                  <a:lnTo>
                    <a:pt x="3333223" y="2233289"/>
                  </a:lnTo>
                  <a:lnTo>
                    <a:pt x="3437319" y="2238825"/>
                  </a:lnTo>
                  <a:lnTo>
                    <a:pt x="3540497" y="2245058"/>
                  </a:lnTo>
                  <a:lnTo>
                    <a:pt x="3642725" y="2251979"/>
                  </a:lnTo>
                  <a:lnTo>
                    <a:pt x="3743968" y="2259580"/>
                  </a:lnTo>
                  <a:lnTo>
                    <a:pt x="3844195" y="2267851"/>
                  </a:lnTo>
                  <a:lnTo>
                    <a:pt x="3943371" y="2276781"/>
                  </a:lnTo>
                  <a:lnTo>
                    <a:pt x="4041464" y="2286363"/>
                  </a:lnTo>
                  <a:lnTo>
                    <a:pt x="4138439" y="2296586"/>
                  </a:lnTo>
                  <a:lnTo>
                    <a:pt x="4234265" y="2307441"/>
                  </a:lnTo>
                  <a:lnTo>
                    <a:pt x="4328907" y="2318919"/>
                  </a:lnTo>
                  <a:lnTo>
                    <a:pt x="4422332" y="2331009"/>
                  </a:lnTo>
                  <a:lnTo>
                    <a:pt x="4514508" y="2343704"/>
                  </a:lnTo>
                  <a:lnTo>
                    <a:pt x="4605401" y="2356992"/>
                  </a:lnTo>
                  <a:lnTo>
                    <a:pt x="4853432" y="2398776"/>
                  </a:lnTo>
                  <a:lnTo>
                    <a:pt x="4872863" y="2398776"/>
                  </a:lnTo>
                  <a:lnTo>
                    <a:pt x="4769612" y="2348103"/>
                  </a:lnTo>
                  <a:lnTo>
                    <a:pt x="4718760" y="2319964"/>
                  </a:lnTo>
                  <a:lnTo>
                    <a:pt x="4669245" y="2291133"/>
                  </a:lnTo>
                  <a:lnTo>
                    <a:pt x="4621094" y="2261624"/>
                  </a:lnTo>
                  <a:lnTo>
                    <a:pt x="4574335" y="2231453"/>
                  </a:lnTo>
                  <a:lnTo>
                    <a:pt x="4528994" y="2200633"/>
                  </a:lnTo>
                  <a:lnTo>
                    <a:pt x="4485098" y="2169179"/>
                  </a:lnTo>
                  <a:lnTo>
                    <a:pt x="4442675" y="2137106"/>
                  </a:lnTo>
                  <a:lnTo>
                    <a:pt x="4401752" y="2104429"/>
                  </a:lnTo>
                  <a:lnTo>
                    <a:pt x="4362356" y="2071162"/>
                  </a:lnTo>
                  <a:lnTo>
                    <a:pt x="4324514" y="2037319"/>
                  </a:lnTo>
                  <a:lnTo>
                    <a:pt x="4288254" y="2002917"/>
                  </a:lnTo>
                  <a:lnTo>
                    <a:pt x="4253601" y="1967968"/>
                  </a:lnTo>
                  <a:lnTo>
                    <a:pt x="4220585" y="1932488"/>
                  </a:lnTo>
                  <a:lnTo>
                    <a:pt x="4189231" y="1896492"/>
                  </a:lnTo>
                  <a:lnTo>
                    <a:pt x="4159567" y="1859994"/>
                  </a:lnTo>
                  <a:lnTo>
                    <a:pt x="4131620" y="1823008"/>
                  </a:lnTo>
                  <a:lnTo>
                    <a:pt x="4105417" y="1785550"/>
                  </a:lnTo>
                  <a:lnTo>
                    <a:pt x="4080986" y="1747634"/>
                  </a:lnTo>
                  <a:lnTo>
                    <a:pt x="4058353" y="1709275"/>
                  </a:lnTo>
                  <a:lnTo>
                    <a:pt x="4037546" y="1670487"/>
                  </a:lnTo>
                  <a:lnTo>
                    <a:pt x="4018591" y="1631285"/>
                  </a:lnTo>
                  <a:lnTo>
                    <a:pt x="4001517" y="1591684"/>
                  </a:lnTo>
                  <a:lnTo>
                    <a:pt x="3986349" y="1551697"/>
                  </a:lnTo>
                  <a:lnTo>
                    <a:pt x="3973116" y="1511341"/>
                  </a:lnTo>
                  <a:lnTo>
                    <a:pt x="3961844" y="1470630"/>
                  </a:lnTo>
                  <a:lnTo>
                    <a:pt x="3952561" y="1429577"/>
                  </a:lnTo>
                  <a:lnTo>
                    <a:pt x="3945294" y="1388199"/>
                  </a:lnTo>
                  <a:lnTo>
                    <a:pt x="3940069" y="1346508"/>
                  </a:lnTo>
                  <a:lnTo>
                    <a:pt x="3936914" y="1304522"/>
                  </a:lnTo>
                  <a:lnTo>
                    <a:pt x="3935856" y="1262252"/>
                  </a:lnTo>
                  <a:lnTo>
                    <a:pt x="3936840" y="1221492"/>
                  </a:lnTo>
                  <a:lnTo>
                    <a:pt x="3939774" y="1180993"/>
                  </a:lnTo>
                  <a:lnTo>
                    <a:pt x="3944635" y="1140768"/>
                  </a:lnTo>
                  <a:lnTo>
                    <a:pt x="3951397" y="1100831"/>
                  </a:lnTo>
                  <a:lnTo>
                    <a:pt x="3960037" y="1061195"/>
                  </a:lnTo>
                  <a:lnTo>
                    <a:pt x="3970531" y="1021873"/>
                  </a:lnTo>
                  <a:lnTo>
                    <a:pt x="3982854" y="982878"/>
                  </a:lnTo>
                  <a:lnTo>
                    <a:pt x="3996981" y="944223"/>
                  </a:lnTo>
                  <a:lnTo>
                    <a:pt x="4012889" y="905922"/>
                  </a:lnTo>
                  <a:lnTo>
                    <a:pt x="4030553" y="867987"/>
                  </a:lnTo>
                  <a:lnTo>
                    <a:pt x="4049949" y="830432"/>
                  </a:lnTo>
                  <a:lnTo>
                    <a:pt x="4071053" y="793269"/>
                  </a:lnTo>
                  <a:lnTo>
                    <a:pt x="4093840" y="756513"/>
                  </a:lnTo>
                  <a:lnTo>
                    <a:pt x="4118285" y="720176"/>
                  </a:lnTo>
                  <a:lnTo>
                    <a:pt x="4144366" y="684271"/>
                  </a:lnTo>
                  <a:lnTo>
                    <a:pt x="4172056" y="648812"/>
                  </a:lnTo>
                  <a:lnTo>
                    <a:pt x="4201333" y="613811"/>
                  </a:lnTo>
                  <a:lnTo>
                    <a:pt x="4232171" y="579282"/>
                  </a:lnTo>
                  <a:lnTo>
                    <a:pt x="4264547" y="545238"/>
                  </a:lnTo>
                  <a:lnTo>
                    <a:pt x="4298435" y="511692"/>
                  </a:lnTo>
                  <a:lnTo>
                    <a:pt x="4333813" y="478657"/>
                  </a:lnTo>
                  <a:lnTo>
                    <a:pt x="4370654" y="446147"/>
                  </a:lnTo>
                  <a:lnTo>
                    <a:pt x="4408936" y="414174"/>
                  </a:lnTo>
                  <a:lnTo>
                    <a:pt x="4448634" y="382752"/>
                  </a:lnTo>
                  <a:lnTo>
                    <a:pt x="4489723" y="351894"/>
                  </a:lnTo>
                  <a:lnTo>
                    <a:pt x="4532179" y="321613"/>
                  </a:lnTo>
                  <a:lnTo>
                    <a:pt x="4575978" y="291921"/>
                  </a:lnTo>
                  <a:lnTo>
                    <a:pt x="4621096" y="262834"/>
                  </a:lnTo>
                  <a:lnTo>
                    <a:pt x="4667507" y="234362"/>
                  </a:lnTo>
                  <a:lnTo>
                    <a:pt x="4715189" y="206520"/>
                  </a:lnTo>
                  <a:lnTo>
                    <a:pt x="4764117" y="179321"/>
                  </a:lnTo>
                  <a:lnTo>
                    <a:pt x="4814265" y="152778"/>
                  </a:lnTo>
                  <a:lnTo>
                    <a:pt x="4865611" y="126904"/>
                  </a:lnTo>
                  <a:lnTo>
                    <a:pt x="4918129" y="101712"/>
                  </a:lnTo>
                  <a:lnTo>
                    <a:pt x="4971796" y="77215"/>
                  </a:lnTo>
                  <a:lnTo>
                    <a:pt x="5163312" y="0"/>
                  </a:lnTo>
                  <a:close/>
                </a:path>
              </a:pathLst>
            </a:custGeom>
            <a:solidFill>
              <a:srgbClr val="00408B">
                <a:alpha val="70195"/>
              </a:srgbClr>
            </a:solidFill>
          </p:spPr>
          <p:txBody>
            <a:bodyPr wrap="square" lIns="0" tIns="0" rIns="0" bIns="0" rtlCol="0"/>
            <a:lstStyle/>
            <a:p>
              <a:endParaRPr/>
            </a:p>
          </p:txBody>
        </p:sp>
        <p:pic>
          <p:nvPicPr>
            <p:cNvPr id="10" name="object 12">
              <a:extLst>
                <a:ext uri="{FF2B5EF4-FFF2-40B4-BE49-F238E27FC236}">
                  <a16:creationId xmlns:a16="http://schemas.microsoft.com/office/drawing/2014/main" id="{CC626FF2-E5C8-3FD3-EBB3-DA8A84DEBF5B}"/>
                </a:ext>
              </a:extLst>
            </p:cNvPr>
            <p:cNvPicPr/>
            <p:nvPr/>
          </p:nvPicPr>
          <p:blipFill>
            <a:blip r:embed="rId3" cstate="print"/>
            <a:stretch>
              <a:fillRect/>
            </a:stretch>
          </p:blipFill>
          <p:spPr>
            <a:xfrm>
              <a:off x="3281171" y="4971288"/>
              <a:ext cx="6448044" cy="1584960"/>
            </a:xfrm>
            <a:prstGeom prst="rect">
              <a:avLst/>
            </a:prstGeom>
          </p:spPr>
        </p:pic>
        <p:sp>
          <p:nvSpPr>
            <p:cNvPr id="11" name="object 13">
              <a:extLst>
                <a:ext uri="{FF2B5EF4-FFF2-40B4-BE49-F238E27FC236}">
                  <a16:creationId xmlns:a16="http://schemas.microsoft.com/office/drawing/2014/main" id="{91456034-6203-2613-6CFA-1638406E6DF9}"/>
                </a:ext>
              </a:extLst>
            </p:cNvPr>
            <p:cNvSpPr/>
            <p:nvPr/>
          </p:nvSpPr>
          <p:spPr>
            <a:xfrm>
              <a:off x="3281171" y="4971288"/>
              <a:ext cx="6448425" cy="1584960"/>
            </a:xfrm>
            <a:custGeom>
              <a:avLst/>
              <a:gdLst/>
              <a:ahLst/>
              <a:cxnLst/>
              <a:rect l="l" t="t" r="r" b="b"/>
              <a:pathLst>
                <a:path w="6448425" h="1584959">
                  <a:moveTo>
                    <a:pt x="0" y="792480"/>
                  </a:moveTo>
                  <a:lnTo>
                    <a:pt x="7236" y="738962"/>
                  </a:lnTo>
                  <a:lnTo>
                    <a:pt x="28639" y="686397"/>
                  </a:lnTo>
                  <a:lnTo>
                    <a:pt x="50551" y="651939"/>
                  </a:lnTo>
                  <a:lnTo>
                    <a:pt x="78417" y="617987"/>
                  </a:lnTo>
                  <a:lnTo>
                    <a:pt x="112102" y="584577"/>
                  </a:lnTo>
                  <a:lnTo>
                    <a:pt x="151468" y="551741"/>
                  </a:lnTo>
                  <a:lnTo>
                    <a:pt x="196380" y="519513"/>
                  </a:lnTo>
                  <a:lnTo>
                    <a:pt x="246701" y="487926"/>
                  </a:lnTo>
                  <a:lnTo>
                    <a:pt x="302294" y="457014"/>
                  </a:lnTo>
                  <a:lnTo>
                    <a:pt x="363022" y="426811"/>
                  </a:lnTo>
                  <a:lnTo>
                    <a:pt x="428750" y="397350"/>
                  </a:lnTo>
                  <a:lnTo>
                    <a:pt x="499341" y="368664"/>
                  </a:lnTo>
                  <a:lnTo>
                    <a:pt x="536417" y="354623"/>
                  </a:lnTo>
                  <a:lnTo>
                    <a:pt x="574658" y="340788"/>
                  </a:lnTo>
                  <a:lnTo>
                    <a:pt x="614046" y="327164"/>
                  </a:lnTo>
                  <a:lnTo>
                    <a:pt x="654564" y="313755"/>
                  </a:lnTo>
                  <a:lnTo>
                    <a:pt x="696196" y="300565"/>
                  </a:lnTo>
                  <a:lnTo>
                    <a:pt x="738924" y="287598"/>
                  </a:lnTo>
                  <a:lnTo>
                    <a:pt x="782731" y="274859"/>
                  </a:lnTo>
                  <a:lnTo>
                    <a:pt x="827600" y="262352"/>
                  </a:lnTo>
                  <a:lnTo>
                    <a:pt x="873515" y="250080"/>
                  </a:lnTo>
                  <a:lnTo>
                    <a:pt x="920457" y="238048"/>
                  </a:lnTo>
                  <a:lnTo>
                    <a:pt x="968410" y="226261"/>
                  </a:lnTo>
                  <a:lnTo>
                    <a:pt x="1017357" y="214722"/>
                  </a:lnTo>
                  <a:lnTo>
                    <a:pt x="1067280" y="203436"/>
                  </a:lnTo>
                  <a:lnTo>
                    <a:pt x="1118164" y="192406"/>
                  </a:lnTo>
                  <a:lnTo>
                    <a:pt x="1169990" y="181638"/>
                  </a:lnTo>
                  <a:lnTo>
                    <a:pt x="1222742" y="171135"/>
                  </a:lnTo>
                  <a:lnTo>
                    <a:pt x="1276402" y="160902"/>
                  </a:lnTo>
                  <a:lnTo>
                    <a:pt x="1330953" y="150942"/>
                  </a:lnTo>
                  <a:lnTo>
                    <a:pt x="1386379" y="141260"/>
                  </a:lnTo>
                  <a:lnTo>
                    <a:pt x="1442663" y="131860"/>
                  </a:lnTo>
                  <a:lnTo>
                    <a:pt x="1499786" y="122746"/>
                  </a:lnTo>
                  <a:lnTo>
                    <a:pt x="1557733" y="113922"/>
                  </a:lnTo>
                  <a:lnTo>
                    <a:pt x="1616486" y="105394"/>
                  </a:lnTo>
                  <a:lnTo>
                    <a:pt x="1676028" y="97164"/>
                  </a:lnTo>
                  <a:lnTo>
                    <a:pt x="1736341" y="89237"/>
                  </a:lnTo>
                  <a:lnTo>
                    <a:pt x="1797410" y="81617"/>
                  </a:lnTo>
                  <a:lnTo>
                    <a:pt x="1859217" y="74309"/>
                  </a:lnTo>
                  <a:lnTo>
                    <a:pt x="1921744" y="67316"/>
                  </a:lnTo>
                  <a:lnTo>
                    <a:pt x="1984976" y="60643"/>
                  </a:lnTo>
                  <a:lnTo>
                    <a:pt x="2048893" y="54294"/>
                  </a:lnTo>
                  <a:lnTo>
                    <a:pt x="2113481" y="48273"/>
                  </a:lnTo>
                  <a:lnTo>
                    <a:pt x="2178721" y="42585"/>
                  </a:lnTo>
                  <a:lnTo>
                    <a:pt x="2244596" y="37233"/>
                  </a:lnTo>
                  <a:lnTo>
                    <a:pt x="2311090" y="32222"/>
                  </a:lnTo>
                  <a:lnTo>
                    <a:pt x="2378186" y="27556"/>
                  </a:lnTo>
                  <a:lnTo>
                    <a:pt x="2445865" y="23240"/>
                  </a:lnTo>
                  <a:lnTo>
                    <a:pt x="2514112" y="19276"/>
                  </a:lnTo>
                  <a:lnTo>
                    <a:pt x="2582909" y="15670"/>
                  </a:lnTo>
                  <a:lnTo>
                    <a:pt x="2652239" y="12426"/>
                  </a:lnTo>
                  <a:lnTo>
                    <a:pt x="2722085" y="9548"/>
                  </a:lnTo>
                  <a:lnTo>
                    <a:pt x="2792430" y="7040"/>
                  </a:lnTo>
                  <a:lnTo>
                    <a:pt x="2863256" y="4906"/>
                  </a:lnTo>
                  <a:lnTo>
                    <a:pt x="2934548" y="3151"/>
                  </a:lnTo>
                  <a:lnTo>
                    <a:pt x="3006287" y="1778"/>
                  </a:lnTo>
                  <a:lnTo>
                    <a:pt x="3078457" y="793"/>
                  </a:lnTo>
                  <a:lnTo>
                    <a:pt x="3151041" y="199"/>
                  </a:lnTo>
                  <a:lnTo>
                    <a:pt x="3224022" y="0"/>
                  </a:lnTo>
                  <a:lnTo>
                    <a:pt x="3297002" y="199"/>
                  </a:lnTo>
                  <a:lnTo>
                    <a:pt x="3369586" y="793"/>
                  </a:lnTo>
                  <a:lnTo>
                    <a:pt x="3441756" y="1778"/>
                  </a:lnTo>
                  <a:lnTo>
                    <a:pt x="3513495" y="3151"/>
                  </a:lnTo>
                  <a:lnTo>
                    <a:pt x="3584787" y="4906"/>
                  </a:lnTo>
                  <a:lnTo>
                    <a:pt x="3655613" y="7040"/>
                  </a:lnTo>
                  <a:lnTo>
                    <a:pt x="3725958" y="9548"/>
                  </a:lnTo>
                  <a:lnTo>
                    <a:pt x="3795804" y="12426"/>
                  </a:lnTo>
                  <a:lnTo>
                    <a:pt x="3865134" y="15670"/>
                  </a:lnTo>
                  <a:lnTo>
                    <a:pt x="3933931" y="19276"/>
                  </a:lnTo>
                  <a:lnTo>
                    <a:pt x="4002178" y="23240"/>
                  </a:lnTo>
                  <a:lnTo>
                    <a:pt x="4069857" y="27556"/>
                  </a:lnTo>
                  <a:lnTo>
                    <a:pt x="4136953" y="32222"/>
                  </a:lnTo>
                  <a:lnTo>
                    <a:pt x="4203447" y="37233"/>
                  </a:lnTo>
                  <a:lnTo>
                    <a:pt x="4269322" y="42585"/>
                  </a:lnTo>
                  <a:lnTo>
                    <a:pt x="4334562" y="48273"/>
                  </a:lnTo>
                  <a:lnTo>
                    <a:pt x="4399150" y="54294"/>
                  </a:lnTo>
                  <a:lnTo>
                    <a:pt x="4463067" y="60643"/>
                  </a:lnTo>
                  <a:lnTo>
                    <a:pt x="4526299" y="67316"/>
                  </a:lnTo>
                  <a:lnTo>
                    <a:pt x="4588826" y="74309"/>
                  </a:lnTo>
                  <a:lnTo>
                    <a:pt x="4650633" y="81617"/>
                  </a:lnTo>
                  <a:lnTo>
                    <a:pt x="4711702" y="89237"/>
                  </a:lnTo>
                  <a:lnTo>
                    <a:pt x="4772015" y="97164"/>
                  </a:lnTo>
                  <a:lnTo>
                    <a:pt x="4831557" y="105394"/>
                  </a:lnTo>
                  <a:lnTo>
                    <a:pt x="4890310" y="113922"/>
                  </a:lnTo>
                  <a:lnTo>
                    <a:pt x="4948257" y="122746"/>
                  </a:lnTo>
                  <a:lnTo>
                    <a:pt x="5005380" y="131860"/>
                  </a:lnTo>
                  <a:lnTo>
                    <a:pt x="5061664" y="141260"/>
                  </a:lnTo>
                  <a:lnTo>
                    <a:pt x="5117090" y="150942"/>
                  </a:lnTo>
                  <a:lnTo>
                    <a:pt x="5171641" y="160902"/>
                  </a:lnTo>
                  <a:lnTo>
                    <a:pt x="5225301" y="171135"/>
                  </a:lnTo>
                  <a:lnTo>
                    <a:pt x="5278053" y="181638"/>
                  </a:lnTo>
                  <a:lnTo>
                    <a:pt x="5329879" y="192406"/>
                  </a:lnTo>
                  <a:lnTo>
                    <a:pt x="5380763" y="203436"/>
                  </a:lnTo>
                  <a:lnTo>
                    <a:pt x="5430686" y="214722"/>
                  </a:lnTo>
                  <a:lnTo>
                    <a:pt x="5479633" y="226261"/>
                  </a:lnTo>
                  <a:lnTo>
                    <a:pt x="5527586" y="238048"/>
                  </a:lnTo>
                  <a:lnTo>
                    <a:pt x="5574528" y="250080"/>
                  </a:lnTo>
                  <a:lnTo>
                    <a:pt x="5620443" y="262352"/>
                  </a:lnTo>
                  <a:lnTo>
                    <a:pt x="5665312" y="274859"/>
                  </a:lnTo>
                  <a:lnTo>
                    <a:pt x="5709119" y="287598"/>
                  </a:lnTo>
                  <a:lnTo>
                    <a:pt x="5751847" y="300565"/>
                  </a:lnTo>
                  <a:lnTo>
                    <a:pt x="5793479" y="313755"/>
                  </a:lnTo>
                  <a:lnTo>
                    <a:pt x="5833997" y="327164"/>
                  </a:lnTo>
                  <a:lnTo>
                    <a:pt x="5873385" y="340788"/>
                  </a:lnTo>
                  <a:lnTo>
                    <a:pt x="5911626" y="354623"/>
                  </a:lnTo>
                  <a:lnTo>
                    <a:pt x="5948702" y="368664"/>
                  </a:lnTo>
                  <a:lnTo>
                    <a:pt x="5984597" y="382908"/>
                  </a:lnTo>
                  <a:lnTo>
                    <a:pt x="6052773" y="411985"/>
                  </a:lnTo>
                  <a:lnTo>
                    <a:pt x="6116018" y="441822"/>
                  </a:lnTo>
                  <a:lnTo>
                    <a:pt x="6174196" y="472383"/>
                  </a:lnTo>
                  <a:lnTo>
                    <a:pt x="6227170" y="503637"/>
                  </a:lnTo>
                  <a:lnTo>
                    <a:pt x="6274803" y="535549"/>
                  </a:lnTo>
                  <a:lnTo>
                    <a:pt x="6316960" y="568085"/>
                  </a:lnTo>
                  <a:lnTo>
                    <a:pt x="6353502" y="601213"/>
                  </a:lnTo>
                  <a:lnTo>
                    <a:pt x="6384295" y="634898"/>
                  </a:lnTo>
                  <a:lnTo>
                    <a:pt x="6409201" y="669106"/>
                  </a:lnTo>
                  <a:lnTo>
                    <a:pt x="6428084" y="703806"/>
                  </a:lnTo>
                  <a:lnTo>
                    <a:pt x="6444816" y="756701"/>
                  </a:lnTo>
                  <a:lnTo>
                    <a:pt x="6448044" y="792480"/>
                  </a:lnTo>
                  <a:lnTo>
                    <a:pt x="6447234" y="810419"/>
                  </a:lnTo>
                  <a:lnTo>
                    <a:pt x="6435224" y="863636"/>
                  </a:lnTo>
                  <a:lnTo>
                    <a:pt x="6419404" y="898570"/>
                  </a:lnTo>
                  <a:lnTo>
                    <a:pt x="6397492" y="933030"/>
                  </a:lnTo>
                  <a:lnTo>
                    <a:pt x="6369626" y="966983"/>
                  </a:lnTo>
                  <a:lnTo>
                    <a:pt x="6335941" y="1000395"/>
                  </a:lnTo>
                  <a:lnTo>
                    <a:pt x="6296575" y="1033232"/>
                  </a:lnTo>
                  <a:lnTo>
                    <a:pt x="6251663" y="1065462"/>
                  </a:lnTo>
                  <a:lnTo>
                    <a:pt x="6201342" y="1097049"/>
                  </a:lnTo>
                  <a:lnTo>
                    <a:pt x="6145749" y="1127961"/>
                  </a:lnTo>
                  <a:lnTo>
                    <a:pt x="6085021" y="1158165"/>
                  </a:lnTo>
                  <a:lnTo>
                    <a:pt x="6019293" y="1187626"/>
                  </a:lnTo>
                  <a:lnTo>
                    <a:pt x="5948702" y="1216311"/>
                  </a:lnTo>
                  <a:lnTo>
                    <a:pt x="5911626" y="1230353"/>
                  </a:lnTo>
                  <a:lnTo>
                    <a:pt x="5873385" y="1244187"/>
                  </a:lnTo>
                  <a:lnTo>
                    <a:pt x="5833997" y="1257811"/>
                  </a:lnTo>
                  <a:lnTo>
                    <a:pt x="5793479" y="1271220"/>
                  </a:lnTo>
                  <a:lnTo>
                    <a:pt x="5751847" y="1284410"/>
                  </a:lnTo>
                  <a:lnTo>
                    <a:pt x="5709119" y="1297376"/>
                  </a:lnTo>
                  <a:lnTo>
                    <a:pt x="5665312" y="1310115"/>
                  </a:lnTo>
                  <a:lnTo>
                    <a:pt x="5620443" y="1322623"/>
                  </a:lnTo>
                  <a:lnTo>
                    <a:pt x="5574528" y="1334894"/>
                  </a:lnTo>
                  <a:lnTo>
                    <a:pt x="5527586" y="1346925"/>
                  </a:lnTo>
                  <a:lnTo>
                    <a:pt x="5479633" y="1358712"/>
                  </a:lnTo>
                  <a:lnTo>
                    <a:pt x="5430686" y="1370251"/>
                  </a:lnTo>
                  <a:lnTo>
                    <a:pt x="5380763" y="1381536"/>
                  </a:lnTo>
                  <a:lnTo>
                    <a:pt x="5329879" y="1392565"/>
                  </a:lnTo>
                  <a:lnTo>
                    <a:pt x="5278053" y="1403333"/>
                  </a:lnTo>
                  <a:lnTo>
                    <a:pt x="5225301" y="1413836"/>
                  </a:lnTo>
                  <a:lnTo>
                    <a:pt x="5171641" y="1424069"/>
                  </a:lnTo>
                  <a:lnTo>
                    <a:pt x="5117090" y="1434028"/>
                  </a:lnTo>
                  <a:lnTo>
                    <a:pt x="5061664" y="1443710"/>
                  </a:lnTo>
                  <a:lnTo>
                    <a:pt x="5005380" y="1453109"/>
                  </a:lnTo>
                  <a:lnTo>
                    <a:pt x="4948257" y="1462223"/>
                  </a:lnTo>
                  <a:lnTo>
                    <a:pt x="4890310" y="1471045"/>
                  </a:lnTo>
                  <a:lnTo>
                    <a:pt x="4831557" y="1479574"/>
                  </a:lnTo>
                  <a:lnTo>
                    <a:pt x="4772015" y="1487803"/>
                  </a:lnTo>
                  <a:lnTo>
                    <a:pt x="4711702" y="1495730"/>
                  </a:lnTo>
                  <a:lnTo>
                    <a:pt x="4650633" y="1503349"/>
                  </a:lnTo>
                  <a:lnTo>
                    <a:pt x="4588826" y="1510657"/>
                  </a:lnTo>
                  <a:lnTo>
                    <a:pt x="4526299" y="1517649"/>
                  </a:lnTo>
                  <a:lnTo>
                    <a:pt x="4463067" y="1524321"/>
                  </a:lnTo>
                  <a:lnTo>
                    <a:pt x="4399150" y="1530670"/>
                  </a:lnTo>
                  <a:lnTo>
                    <a:pt x="4334562" y="1536690"/>
                  </a:lnTo>
                  <a:lnTo>
                    <a:pt x="4269322" y="1542378"/>
                  </a:lnTo>
                  <a:lnTo>
                    <a:pt x="4203447" y="1547729"/>
                  </a:lnTo>
                  <a:lnTo>
                    <a:pt x="4136953" y="1552740"/>
                  </a:lnTo>
                  <a:lnTo>
                    <a:pt x="4069857" y="1557405"/>
                  </a:lnTo>
                  <a:lnTo>
                    <a:pt x="4002178" y="1561722"/>
                  </a:lnTo>
                  <a:lnTo>
                    <a:pt x="3933931" y="1565685"/>
                  </a:lnTo>
                  <a:lnTo>
                    <a:pt x="3865134" y="1569290"/>
                  </a:lnTo>
                  <a:lnTo>
                    <a:pt x="3795804" y="1572534"/>
                  </a:lnTo>
                  <a:lnTo>
                    <a:pt x="3725958" y="1575412"/>
                  </a:lnTo>
                  <a:lnTo>
                    <a:pt x="3655613" y="1577920"/>
                  </a:lnTo>
                  <a:lnTo>
                    <a:pt x="3584787" y="1580053"/>
                  </a:lnTo>
                  <a:lnTo>
                    <a:pt x="3513495" y="1581808"/>
                  </a:lnTo>
                  <a:lnTo>
                    <a:pt x="3441756" y="1583181"/>
                  </a:lnTo>
                  <a:lnTo>
                    <a:pt x="3369586" y="1584166"/>
                  </a:lnTo>
                  <a:lnTo>
                    <a:pt x="3297002" y="1584760"/>
                  </a:lnTo>
                  <a:lnTo>
                    <a:pt x="3224022" y="1584960"/>
                  </a:lnTo>
                  <a:lnTo>
                    <a:pt x="3151041" y="1584760"/>
                  </a:lnTo>
                  <a:lnTo>
                    <a:pt x="3078457" y="1584166"/>
                  </a:lnTo>
                  <a:lnTo>
                    <a:pt x="3006287" y="1583181"/>
                  </a:lnTo>
                  <a:lnTo>
                    <a:pt x="2934548" y="1581808"/>
                  </a:lnTo>
                  <a:lnTo>
                    <a:pt x="2863256" y="1580053"/>
                  </a:lnTo>
                  <a:lnTo>
                    <a:pt x="2792430" y="1577920"/>
                  </a:lnTo>
                  <a:lnTo>
                    <a:pt x="2722085" y="1575412"/>
                  </a:lnTo>
                  <a:lnTo>
                    <a:pt x="2652239" y="1572534"/>
                  </a:lnTo>
                  <a:lnTo>
                    <a:pt x="2582909" y="1569290"/>
                  </a:lnTo>
                  <a:lnTo>
                    <a:pt x="2514112" y="1565685"/>
                  </a:lnTo>
                  <a:lnTo>
                    <a:pt x="2445865" y="1561722"/>
                  </a:lnTo>
                  <a:lnTo>
                    <a:pt x="2378186" y="1557405"/>
                  </a:lnTo>
                  <a:lnTo>
                    <a:pt x="2311090" y="1552740"/>
                  </a:lnTo>
                  <a:lnTo>
                    <a:pt x="2244596" y="1547729"/>
                  </a:lnTo>
                  <a:lnTo>
                    <a:pt x="2178721" y="1542378"/>
                  </a:lnTo>
                  <a:lnTo>
                    <a:pt x="2113481" y="1536690"/>
                  </a:lnTo>
                  <a:lnTo>
                    <a:pt x="2048893" y="1530670"/>
                  </a:lnTo>
                  <a:lnTo>
                    <a:pt x="1984976" y="1524321"/>
                  </a:lnTo>
                  <a:lnTo>
                    <a:pt x="1921744" y="1517649"/>
                  </a:lnTo>
                  <a:lnTo>
                    <a:pt x="1859217" y="1510657"/>
                  </a:lnTo>
                  <a:lnTo>
                    <a:pt x="1797410" y="1503349"/>
                  </a:lnTo>
                  <a:lnTo>
                    <a:pt x="1736341" y="1495730"/>
                  </a:lnTo>
                  <a:lnTo>
                    <a:pt x="1676028" y="1487803"/>
                  </a:lnTo>
                  <a:lnTo>
                    <a:pt x="1616486" y="1479574"/>
                  </a:lnTo>
                  <a:lnTo>
                    <a:pt x="1557733" y="1471045"/>
                  </a:lnTo>
                  <a:lnTo>
                    <a:pt x="1499786" y="1462223"/>
                  </a:lnTo>
                  <a:lnTo>
                    <a:pt x="1442663" y="1453109"/>
                  </a:lnTo>
                  <a:lnTo>
                    <a:pt x="1386379" y="1443710"/>
                  </a:lnTo>
                  <a:lnTo>
                    <a:pt x="1330953" y="1434028"/>
                  </a:lnTo>
                  <a:lnTo>
                    <a:pt x="1276402" y="1424069"/>
                  </a:lnTo>
                  <a:lnTo>
                    <a:pt x="1222742" y="1413836"/>
                  </a:lnTo>
                  <a:lnTo>
                    <a:pt x="1169990" y="1403333"/>
                  </a:lnTo>
                  <a:lnTo>
                    <a:pt x="1118164" y="1392565"/>
                  </a:lnTo>
                  <a:lnTo>
                    <a:pt x="1067280" y="1381536"/>
                  </a:lnTo>
                  <a:lnTo>
                    <a:pt x="1017357" y="1370251"/>
                  </a:lnTo>
                  <a:lnTo>
                    <a:pt x="968410" y="1358712"/>
                  </a:lnTo>
                  <a:lnTo>
                    <a:pt x="920457" y="1346925"/>
                  </a:lnTo>
                  <a:lnTo>
                    <a:pt x="873515" y="1334894"/>
                  </a:lnTo>
                  <a:lnTo>
                    <a:pt x="827600" y="1322623"/>
                  </a:lnTo>
                  <a:lnTo>
                    <a:pt x="782731" y="1310115"/>
                  </a:lnTo>
                  <a:lnTo>
                    <a:pt x="738924" y="1297376"/>
                  </a:lnTo>
                  <a:lnTo>
                    <a:pt x="696196" y="1284410"/>
                  </a:lnTo>
                  <a:lnTo>
                    <a:pt x="654564" y="1271220"/>
                  </a:lnTo>
                  <a:lnTo>
                    <a:pt x="614046" y="1257811"/>
                  </a:lnTo>
                  <a:lnTo>
                    <a:pt x="574658" y="1244187"/>
                  </a:lnTo>
                  <a:lnTo>
                    <a:pt x="536417" y="1230353"/>
                  </a:lnTo>
                  <a:lnTo>
                    <a:pt x="499341" y="1216311"/>
                  </a:lnTo>
                  <a:lnTo>
                    <a:pt x="463446" y="1202068"/>
                  </a:lnTo>
                  <a:lnTo>
                    <a:pt x="395270" y="1172990"/>
                  </a:lnTo>
                  <a:lnTo>
                    <a:pt x="332025" y="1143154"/>
                  </a:lnTo>
                  <a:lnTo>
                    <a:pt x="273847" y="1112592"/>
                  </a:lnTo>
                  <a:lnTo>
                    <a:pt x="220873" y="1081338"/>
                  </a:lnTo>
                  <a:lnTo>
                    <a:pt x="173240" y="1049425"/>
                  </a:lnTo>
                  <a:lnTo>
                    <a:pt x="131083" y="1016888"/>
                  </a:lnTo>
                  <a:lnTo>
                    <a:pt x="94541" y="983759"/>
                  </a:lnTo>
                  <a:lnTo>
                    <a:pt x="63748" y="950072"/>
                  </a:lnTo>
                  <a:lnTo>
                    <a:pt x="38842" y="915861"/>
                  </a:lnTo>
                  <a:lnTo>
                    <a:pt x="19959" y="881160"/>
                  </a:lnTo>
                  <a:lnTo>
                    <a:pt x="3227" y="828261"/>
                  </a:lnTo>
                  <a:lnTo>
                    <a:pt x="0" y="792480"/>
                  </a:lnTo>
                  <a:close/>
                </a:path>
              </a:pathLst>
            </a:custGeom>
            <a:ln w="12700">
              <a:solidFill>
                <a:srgbClr val="0054A3"/>
              </a:solidFill>
            </a:ln>
          </p:spPr>
          <p:txBody>
            <a:bodyPr wrap="square" lIns="0" tIns="0" rIns="0" bIns="0" rtlCol="0"/>
            <a:lstStyle/>
            <a:p>
              <a:endParaRPr/>
            </a:p>
          </p:txBody>
        </p:sp>
        <p:pic>
          <p:nvPicPr>
            <p:cNvPr id="12" name="object 14">
              <a:extLst>
                <a:ext uri="{FF2B5EF4-FFF2-40B4-BE49-F238E27FC236}">
                  <a16:creationId xmlns:a16="http://schemas.microsoft.com/office/drawing/2014/main" id="{C3581F71-E517-1762-037E-4E9FFD690EA3}"/>
                </a:ext>
              </a:extLst>
            </p:cNvPr>
            <p:cNvPicPr/>
            <p:nvPr/>
          </p:nvPicPr>
          <p:blipFill>
            <a:blip r:embed="rId4" cstate="print"/>
            <a:stretch>
              <a:fillRect/>
            </a:stretch>
          </p:blipFill>
          <p:spPr>
            <a:xfrm>
              <a:off x="3281171" y="1567688"/>
              <a:ext cx="6448044" cy="1727200"/>
            </a:xfrm>
            <a:prstGeom prst="rect">
              <a:avLst/>
            </a:prstGeom>
          </p:spPr>
        </p:pic>
      </p:grpSp>
      <p:sp>
        <p:nvSpPr>
          <p:cNvPr id="13" name="object 15">
            <a:extLst>
              <a:ext uri="{FF2B5EF4-FFF2-40B4-BE49-F238E27FC236}">
                <a16:creationId xmlns:a16="http://schemas.microsoft.com/office/drawing/2014/main" id="{37DC8F9A-977F-4E8D-A62E-71BC4C018811}"/>
              </a:ext>
            </a:extLst>
          </p:cNvPr>
          <p:cNvSpPr txBox="1"/>
          <p:nvPr/>
        </p:nvSpPr>
        <p:spPr>
          <a:xfrm>
            <a:off x="3429127" y="2374701"/>
            <a:ext cx="635000" cy="391795"/>
          </a:xfrm>
          <a:prstGeom prst="rect">
            <a:avLst/>
          </a:prstGeom>
        </p:spPr>
        <p:txBody>
          <a:bodyPr vert="horz" wrap="square" lIns="0" tIns="12700" rIns="0" bIns="0" rtlCol="0">
            <a:spAutoFit/>
          </a:bodyPr>
          <a:lstStyle/>
          <a:p>
            <a:pPr algn="ctr">
              <a:lnSpc>
                <a:spcPct val="100000"/>
              </a:lnSpc>
              <a:spcBef>
                <a:spcPts val="100"/>
              </a:spcBef>
            </a:pPr>
            <a:r>
              <a:rPr sz="1200" b="1" spc="-25" dirty="0">
                <a:solidFill>
                  <a:srgbClr val="FFFFFF"/>
                </a:solidFill>
                <a:latin typeface="Arial" panose="020B0604020202020204" pitchFamily="34" charset="0"/>
                <a:ea typeface="微软雅黑" panose="020B0503020204020204" pitchFamily="34" charset="-122"/>
                <a:cs typeface="Microsoft YaHei"/>
              </a:rPr>
              <a:t>智能</a:t>
            </a:r>
            <a:endParaRPr sz="1200" dirty="0">
              <a:latin typeface="Arial" panose="020B0604020202020204" pitchFamily="34" charset="0"/>
              <a:ea typeface="微软雅黑" panose="020B0503020204020204" pitchFamily="34" charset="-122"/>
              <a:cs typeface="Microsoft YaHei"/>
            </a:endParaRPr>
          </a:p>
          <a:p>
            <a:pPr algn="ctr">
              <a:lnSpc>
                <a:spcPct val="100000"/>
              </a:lnSpc>
            </a:pPr>
            <a:r>
              <a:rPr sz="1200" b="1" spc="-20" dirty="0">
                <a:solidFill>
                  <a:srgbClr val="FFFFFF"/>
                </a:solidFill>
                <a:latin typeface="Arial" panose="020B0604020202020204" pitchFamily="34" charset="0"/>
                <a:ea typeface="微软雅黑" panose="020B0503020204020204" pitchFamily="34" charset="-122"/>
                <a:cs typeface="Microsoft YaHei"/>
              </a:rPr>
              <a:t>销量预测</a:t>
            </a:r>
            <a:endParaRPr sz="1200" dirty="0">
              <a:latin typeface="Arial" panose="020B0604020202020204" pitchFamily="34" charset="0"/>
              <a:ea typeface="微软雅黑" panose="020B0503020204020204" pitchFamily="34" charset="-122"/>
              <a:cs typeface="Microsoft YaHei"/>
            </a:endParaRPr>
          </a:p>
        </p:txBody>
      </p:sp>
      <p:sp>
        <p:nvSpPr>
          <p:cNvPr id="14" name="object 16">
            <a:extLst>
              <a:ext uri="{FF2B5EF4-FFF2-40B4-BE49-F238E27FC236}">
                <a16:creationId xmlns:a16="http://schemas.microsoft.com/office/drawing/2014/main" id="{71BC015C-4C51-D1D7-6C7C-CBF4A5203FBB}"/>
              </a:ext>
            </a:extLst>
          </p:cNvPr>
          <p:cNvSpPr txBox="1"/>
          <p:nvPr/>
        </p:nvSpPr>
        <p:spPr>
          <a:xfrm>
            <a:off x="8830056" y="2379775"/>
            <a:ext cx="635000" cy="394980"/>
          </a:xfrm>
          <a:prstGeom prst="rect">
            <a:avLst/>
          </a:prstGeom>
        </p:spPr>
        <p:txBody>
          <a:bodyPr vert="horz" wrap="square" lIns="0" tIns="12700" rIns="0" bIns="0" rtlCol="0">
            <a:spAutoFit/>
          </a:bodyPr>
          <a:lstStyle/>
          <a:p>
            <a:pPr marL="12700" marR="5080" indent="152400">
              <a:lnSpc>
                <a:spcPct val="100000"/>
              </a:lnSpc>
              <a:spcBef>
                <a:spcPts val="100"/>
              </a:spcBef>
            </a:pPr>
            <a:r>
              <a:rPr sz="1200" b="1" spc="-25" dirty="0">
                <a:solidFill>
                  <a:srgbClr val="FFFFFF"/>
                </a:solidFill>
                <a:latin typeface="Arial" panose="020B0604020202020204" pitchFamily="34" charset="0"/>
                <a:ea typeface="微软雅黑" panose="020B0503020204020204" pitchFamily="34" charset="-122"/>
                <a:cs typeface="Microsoft YaHei"/>
              </a:rPr>
              <a:t>智</a:t>
            </a:r>
            <a:r>
              <a:rPr lang="zh-CN" altLang="en-US" sz="1200" b="1" spc="-25" dirty="0">
                <a:solidFill>
                  <a:srgbClr val="FFFFFF"/>
                </a:solidFill>
                <a:latin typeface="Arial" panose="020B0604020202020204" pitchFamily="34" charset="0"/>
                <a:ea typeface="微软雅黑" panose="020B0503020204020204" pitchFamily="34" charset="-122"/>
                <a:cs typeface="Microsoft YaHei"/>
              </a:rPr>
              <a:t>能</a:t>
            </a:r>
            <a:r>
              <a:rPr sz="1200" b="1" spc="-50" dirty="0">
                <a:solidFill>
                  <a:srgbClr val="FFFFFF"/>
                </a:solidFill>
                <a:latin typeface="Arial" panose="020B0604020202020204" pitchFamily="34" charset="0"/>
                <a:ea typeface="微软雅黑" panose="020B0503020204020204" pitchFamily="34" charset="-122"/>
                <a:cs typeface="Microsoft YaHei"/>
              </a:rPr>
              <a:t> </a:t>
            </a:r>
            <a:endParaRPr lang="en-US" sz="1200" b="1" spc="-15" dirty="0">
              <a:solidFill>
                <a:srgbClr val="FFFFFF"/>
              </a:solidFill>
              <a:latin typeface="Arial" panose="020B0604020202020204" pitchFamily="34" charset="0"/>
              <a:ea typeface="微软雅黑" panose="020B0503020204020204" pitchFamily="34" charset="-122"/>
              <a:cs typeface="Microsoft YaHei"/>
            </a:endParaRPr>
          </a:p>
          <a:p>
            <a:pPr marL="12700" marR="5080" indent="152400">
              <a:lnSpc>
                <a:spcPct val="100000"/>
              </a:lnSpc>
              <a:spcBef>
                <a:spcPts val="100"/>
              </a:spcBef>
            </a:pPr>
            <a:r>
              <a:rPr lang="zh-CN" altLang="en-US" sz="1200" b="1" spc="-15" dirty="0">
                <a:solidFill>
                  <a:srgbClr val="FFFFFF"/>
                </a:solidFill>
                <a:latin typeface="Arial" panose="020B0604020202020204" pitchFamily="34" charset="0"/>
                <a:ea typeface="微软雅黑" panose="020B0503020204020204" pitchFamily="34" charset="-122"/>
                <a:cs typeface="Microsoft YaHei"/>
              </a:rPr>
              <a:t>交付</a:t>
            </a:r>
            <a:endParaRPr sz="1200" dirty="0">
              <a:latin typeface="Arial" panose="020B0604020202020204" pitchFamily="34" charset="0"/>
              <a:ea typeface="微软雅黑" panose="020B0503020204020204" pitchFamily="34" charset="-122"/>
              <a:cs typeface="Microsoft YaHei"/>
            </a:endParaRPr>
          </a:p>
        </p:txBody>
      </p:sp>
      <p:sp>
        <p:nvSpPr>
          <p:cNvPr id="15" name="object 17">
            <a:extLst>
              <a:ext uri="{FF2B5EF4-FFF2-40B4-BE49-F238E27FC236}">
                <a16:creationId xmlns:a16="http://schemas.microsoft.com/office/drawing/2014/main" id="{6BA39109-2B6D-36F8-C8C9-9A422D306389}"/>
              </a:ext>
            </a:extLst>
          </p:cNvPr>
          <p:cNvSpPr txBox="1"/>
          <p:nvPr/>
        </p:nvSpPr>
        <p:spPr>
          <a:xfrm>
            <a:off x="6658481" y="2882667"/>
            <a:ext cx="795907" cy="394980"/>
          </a:xfrm>
          <a:prstGeom prst="rect">
            <a:avLst/>
          </a:prstGeom>
        </p:spPr>
        <p:txBody>
          <a:bodyPr vert="horz" wrap="square" lIns="0" tIns="12700" rIns="0" bIns="0" rtlCol="0">
            <a:spAutoFit/>
          </a:bodyPr>
          <a:lstStyle/>
          <a:p>
            <a:pPr marL="12700" marR="5080" indent="152400">
              <a:lnSpc>
                <a:spcPct val="100000"/>
              </a:lnSpc>
              <a:spcBef>
                <a:spcPts val="100"/>
              </a:spcBef>
            </a:pPr>
            <a:r>
              <a:rPr lang="zh-CN" altLang="en-US" sz="1200" b="1" spc="-25" dirty="0">
                <a:solidFill>
                  <a:srgbClr val="FFFFFF"/>
                </a:solidFill>
                <a:latin typeface="Arial" panose="020B0604020202020204" pitchFamily="34" charset="0"/>
                <a:ea typeface="微软雅黑" panose="020B0503020204020204" pitchFamily="34" charset="-122"/>
                <a:cs typeface="Microsoft YaHei"/>
              </a:rPr>
              <a:t>   智能</a:t>
            </a:r>
            <a:endParaRPr lang="en-US" sz="1200" b="1" spc="-25" dirty="0">
              <a:solidFill>
                <a:srgbClr val="FFFFFF"/>
              </a:solidFill>
              <a:latin typeface="Arial" panose="020B0604020202020204" pitchFamily="34" charset="0"/>
              <a:ea typeface="微软雅黑" panose="020B0503020204020204" pitchFamily="34" charset="-122"/>
              <a:cs typeface="Microsoft YaHei"/>
            </a:endParaRPr>
          </a:p>
          <a:p>
            <a:pPr marL="12700" marR="5080" indent="152400">
              <a:lnSpc>
                <a:spcPct val="100000"/>
              </a:lnSpc>
              <a:spcBef>
                <a:spcPts val="100"/>
              </a:spcBef>
            </a:pPr>
            <a:r>
              <a:rPr sz="1200" b="1" spc="-25" dirty="0" err="1">
                <a:solidFill>
                  <a:srgbClr val="FFFFFF"/>
                </a:solidFill>
                <a:latin typeface="Arial" panose="020B0604020202020204" pitchFamily="34" charset="0"/>
                <a:ea typeface="微软雅黑" panose="020B0503020204020204" pitchFamily="34" charset="-122"/>
                <a:cs typeface="Microsoft YaHei"/>
              </a:rPr>
              <a:t>库存</a:t>
            </a:r>
            <a:r>
              <a:rPr lang="zh-CN" altLang="en-US" sz="1200" b="1" spc="-25" dirty="0">
                <a:solidFill>
                  <a:srgbClr val="FFFFFF"/>
                </a:solidFill>
                <a:latin typeface="Arial" panose="020B0604020202020204" pitchFamily="34" charset="0"/>
                <a:ea typeface="微软雅黑" panose="020B0503020204020204" pitchFamily="34" charset="-122"/>
                <a:cs typeface="Microsoft YaHei"/>
              </a:rPr>
              <a:t>规划</a:t>
            </a:r>
            <a:endParaRPr sz="1200" dirty="0">
              <a:latin typeface="Arial" panose="020B0604020202020204" pitchFamily="34" charset="0"/>
              <a:ea typeface="微软雅黑" panose="020B0503020204020204" pitchFamily="34" charset="-122"/>
              <a:cs typeface="Microsoft YaHei"/>
            </a:endParaRPr>
          </a:p>
        </p:txBody>
      </p:sp>
      <p:sp>
        <p:nvSpPr>
          <p:cNvPr id="16" name="object 18">
            <a:extLst>
              <a:ext uri="{FF2B5EF4-FFF2-40B4-BE49-F238E27FC236}">
                <a16:creationId xmlns:a16="http://schemas.microsoft.com/office/drawing/2014/main" id="{E5853AB2-8F16-BF8B-EDD9-27578B9F85BF}"/>
              </a:ext>
            </a:extLst>
          </p:cNvPr>
          <p:cNvSpPr txBox="1"/>
          <p:nvPr/>
        </p:nvSpPr>
        <p:spPr>
          <a:xfrm>
            <a:off x="7754873" y="2676992"/>
            <a:ext cx="942849" cy="394980"/>
          </a:xfrm>
          <a:prstGeom prst="rect">
            <a:avLst/>
          </a:prstGeom>
        </p:spPr>
        <p:txBody>
          <a:bodyPr vert="horz" wrap="square" lIns="0" tIns="12700" rIns="0" bIns="0" rtlCol="0">
            <a:spAutoFit/>
          </a:bodyPr>
          <a:lstStyle/>
          <a:p>
            <a:pPr marL="12700" marR="5080" indent="152400">
              <a:lnSpc>
                <a:spcPct val="100000"/>
              </a:lnSpc>
              <a:spcBef>
                <a:spcPts val="100"/>
              </a:spcBef>
            </a:pPr>
            <a:r>
              <a:rPr lang="zh-CN" altLang="en-US" sz="1200" b="1" spc="-25" dirty="0">
                <a:solidFill>
                  <a:srgbClr val="FFFFFF"/>
                </a:solidFill>
                <a:latin typeface="Arial" panose="020B0604020202020204" pitchFamily="34" charset="0"/>
                <a:ea typeface="微软雅黑" panose="020B0503020204020204" pitchFamily="34" charset="-122"/>
                <a:cs typeface="Microsoft YaHei"/>
              </a:rPr>
              <a:t>    智慧</a:t>
            </a:r>
            <a:endParaRPr lang="en-US" sz="1200" b="1" spc="-25" dirty="0">
              <a:solidFill>
                <a:srgbClr val="FFFFFF"/>
              </a:solidFill>
              <a:latin typeface="Arial" panose="020B0604020202020204" pitchFamily="34" charset="0"/>
              <a:ea typeface="微软雅黑" panose="020B0503020204020204" pitchFamily="34" charset="-122"/>
              <a:cs typeface="Microsoft YaHei"/>
            </a:endParaRPr>
          </a:p>
          <a:p>
            <a:pPr marL="12700" marR="5080" indent="152400">
              <a:lnSpc>
                <a:spcPct val="100000"/>
              </a:lnSpc>
              <a:spcBef>
                <a:spcPts val="100"/>
              </a:spcBef>
            </a:pPr>
            <a:r>
              <a:rPr sz="1200" b="1" spc="-25" dirty="0" err="1">
                <a:solidFill>
                  <a:srgbClr val="FFFFFF"/>
                </a:solidFill>
                <a:latin typeface="Arial" panose="020B0604020202020204" pitchFamily="34" charset="0"/>
                <a:ea typeface="微软雅黑" panose="020B0503020204020204" pitchFamily="34" charset="-122"/>
                <a:cs typeface="Microsoft YaHei"/>
              </a:rPr>
              <a:t>物流</a:t>
            </a:r>
            <a:r>
              <a:rPr lang="zh-CN" altLang="en-US" sz="1200" b="1" spc="-25" dirty="0">
                <a:solidFill>
                  <a:srgbClr val="FFFFFF"/>
                </a:solidFill>
                <a:latin typeface="Arial" panose="020B0604020202020204" pitchFamily="34" charset="0"/>
                <a:ea typeface="微软雅黑" panose="020B0503020204020204" pitchFamily="34" charset="-122"/>
                <a:cs typeface="Microsoft YaHei"/>
              </a:rPr>
              <a:t>与仓储</a:t>
            </a:r>
            <a:endParaRPr sz="1200" dirty="0">
              <a:latin typeface="Arial" panose="020B0604020202020204" pitchFamily="34" charset="0"/>
              <a:ea typeface="微软雅黑" panose="020B0503020204020204" pitchFamily="34" charset="-122"/>
              <a:cs typeface="Microsoft YaHei"/>
            </a:endParaRPr>
          </a:p>
        </p:txBody>
      </p:sp>
      <p:sp>
        <p:nvSpPr>
          <p:cNvPr id="17" name="object 19">
            <a:extLst>
              <a:ext uri="{FF2B5EF4-FFF2-40B4-BE49-F238E27FC236}">
                <a16:creationId xmlns:a16="http://schemas.microsoft.com/office/drawing/2014/main" id="{A55E9D48-64B4-5519-E074-CB0F621521D5}"/>
              </a:ext>
            </a:extLst>
          </p:cNvPr>
          <p:cNvSpPr txBox="1"/>
          <p:nvPr/>
        </p:nvSpPr>
        <p:spPr>
          <a:xfrm>
            <a:off x="5575851" y="2876362"/>
            <a:ext cx="987116" cy="394980"/>
          </a:xfrm>
          <a:prstGeom prst="rect">
            <a:avLst/>
          </a:prstGeom>
        </p:spPr>
        <p:txBody>
          <a:bodyPr vert="horz" wrap="square" lIns="0" tIns="12700" rIns="0" bIns="0" rtlCol="0">
            <a:spAutoFit/>
          </a:bodyPr>
          <a:lstStyle/>
          <a:p>
            <a:pPr marL="12700" marR="5080" indent="152400">
              <a:lnSpc>
                <a:spcPct val="100000"/>
              </a:lnSpc>
              <a:spcBef>
                <a:spcPts val="100"/>
              </a:spcBef>
            </a:pPr>
            <a:r>
              <a:rPr lang="zh-CN" altLang="en-US" sz="1200" b="1" spc="-25" dirty="0">
                <a:solidFill>
                  <a:srgbClr val="FFFFFF"/>
                </a:solidFill>
                <a:latin typeface="Arial" panose="020B0604020202020204" pitchFamily="34" charset="0"/>
                <a:ea typeface="微软雅黑" panose="020B0503020204020204" pitchFamily="34" charset="-122"/>
                <a:cs typeface="Microsoft YaHei"/>
              </a:rPr>
              <a:t>     智能</a:t>
            </a:r>
            <a:endParaRPr lang="en-US" altLang="zh-CN" sz="1200" b="1" spc="-25" dirty="0">
              <a:solidFill>
                <a:srgbClr val="FFFFFF"/>
              </a:solidFill>
              <a:latin typeface="Arial" panose="020B0604020202020204" pitchFamily="34" charset="0"/>
              <a:ea typeface="微软雅黑" panose="020B0503020204020204" pitchFamily="34" charset="-122"/>
              <a:cs typeface="Microsoft YaHei"/>
            </a:endParaRPr>
          </a:p>
          <a:p>
            <a:pPr marL="12700" marR="5080" indent="152400">
              <a:lnSpc>
                <a:spcPct val="100000"/>
              </a:lnSpc>
              <a:spcBef>
                <a:spcPts val="100"/>
              </a:spcBef>
            </a:pPr>
            <a:r>
              <a:rPr sz="1200" b="1" spc="-25" dirty="0" err="1">
                <a:solidFill>
                  <a:srgbClr val="FFFFFF"/>
                </a:solidFill>
                <a:latin typeface="Arial" panose="020B0604020202020204" pitchFamily="34" charset="0"/>
                <a:ea typeface="微软雅黑" panose="020B0503020204020204" pitchFamily="34" charset="-122"/>
                <a:cs typeface="Microsoft YaHei"/>
              </a:rPr>
              <a:t>制造</a:t>
            </a:r>
            <a:r>
              <a:rPr lang="zh-CN" altLang="en-US" sz="1200" b="1" spc="-25" dirty="0">
                <a:solidFill>
                  <a:srgbClr val="FFFFFF"/>
                </a:solidFill>
                <a:latin typeface="Arial" panose="020B0604020202020204" pitchFamily="34" charset="0"/>
                <a:ea typeface="微软雅黑" panose="020B0503020204020204" pitchFamily="34" charset="-122"/>
                <a:cs typeface="Microsoft YaHei"/>
              </a:rPr>
              <a:t>与分析</a:t>
            </a:r>
            <a:endParaRPr sz="1200" dirty="0">
              <a:latin typeface="Arial" panose="020B0604020202020204" pitchFamily="34" charset="0"/>
              <a:ea typeface="微软雅黑" panose="020B0503020204020204" pitchFamily="34" charset="-122"/>
              <a:cs typeface="Microsoft YaHei"/>
            </a:endParaRPr>
          </a:p>
        </p:txBody>
      </p:sp>
      <p:sp>
        <p:nvSpPr>
          <p:cNvPr id="19" name="object 23">
            <a:extLst>
              <a:ext uri="{FF2B5EF4-FFF2-40B4-BE49-F238E27FC236}">
                <a16:creationId xmlns:a16="http://schemas.microsoft.com/office/drawing/2014/main" id="{607938B8-4DB6-A70E-AD41-EAC1A486DBC9}"/>
              </a:ext>
            </a:extLst>
          </p:cNvPr>
          <p:cNvSpPr/>
          <p:nvPr/>
        </p:nvSpPr>
        <p:spPr>
          <a:xfrm>
            <a:off x="4998720" y="3522097"/>
            <a:ext cx="3106420" cy="1993900"/>
          </a:xfrm>
          <a:custGeom>
            <a:avLst/>
            <a:gdLst/>
            <a:ahLst/>
            <a:cxnLst/>
            <a:rect l="l" t="t" r="r" b="b"/>
            <a:pathLst>
              <a:path w="3106420" h="1993900">
                <a:moveTo>
                  <a:pt x="1185672" y="1983740"/>
                </a:moveTo>
                <a:lnTo>
                  <a:pt x="1131443" y="1912493"/>
                </a:lnTo>
                <a:lnTo>
                  <a:pt x="1107643" y="1877428"/>
                </a:lnTo>
                <a:lnTo>
                  <a:pt x="1084059" y="1841246"/>
                </a:lnTo>
                <a:lnTo>
                  <a:pt x="1060742" y="1803958"/>
                </a:lnTo>
                <a:lnTo>
                  <a:pt x="1037729" y="1765604"/>
                </a:lnTo>
                <a:lnTo>
                  <a:pt x="1015111" y="1726184"/>
                </a:lnTo>
                <a:lnTo>
                  <a:pt x="992911" y="1685709"/>
                </a:lnTo>
                <a:lnTo>
                  <a:pt x="971219" y="1644218"/>
                </a:lnTo>
                <a:lnTo>
                  <a:pt x="950074" y="1601698"/>
                </a:lnTo>
                <a:lnTo>
                  <a:pt x="929538" y="1558201"/>
                </a:lnTo>
                <a:lnTo>
                  <a:pt x="909675" y="1513713"/>
                </a:lnTo>
                <a:lnTo>
                  <a:pt x="890524" y="1468259"/>
                </a:lnTo>
                <a:lnTo>
                  <a:pt x="872172" y="1421866"/>
                </a:lnTo>
                <a:lnTo>
                  <a:pt x="854659" y="1374546"/>
                </a:lnTo>
                <a:lnTo>
                  <a:pt x="838034" y="1326311"/>
                </a:lnTo>
                <a:lnTo>
                  <a:pt x="822388" y="1277175"/>
                </a:lnTo>
                <a:lnTo>
                  <a:pt x="807745" y="1227162"/>
                </a:lnTo>
                <a:lnTo>
                  <a:pt x="794169" y="1176286"/>
                </a:lnTo>
                <a:lnTo>
                  <a:pt x="781735" y="1124572"/>
                </a:lnTo>
                <a:lnTo>
                  <a:pt x="770496" y="1072019"/>
                </a:lnTo>
                <a:lnTo>
                  <a:pt x="760501" y="1018667"/>
                </a:lnTo>
                <a:lnTo>
                  <a:pt x="751814" y="964514"/>
                </a:lnTo>
                <a:lnTo>
                  <a:pt x="744486" y="909574"/>
                </a:lnTo>
                <a:lnTo>
                  <a:pt x="738581" y="853871"/>
                </a:lnTo>
                <a:lnTo>
                  <a:pt x="734161" y="797433"/>
                </a:lnTo>
                <a:lnTo>
                  <a:pt x="731278" y="740257"/>
                </a:lnTo>
                <a:lnTo>
                  <a:pt x="729996" y="682371"/>
                </a:lnTo>
                <a:lnTo>
                  <a:pt x="932688" y="682371"/>
                </a:lnTo>
                <a:lnTo>
                  <a:pt x="527177" y="0"/>
                </a:lnTo>
                <a:lnTo>
                  <a:pt x="121539" y="682371"/>
                </a:lnTo>
                <a:lnTo>
                  <a:pt x="324358" y="682371"/>
                </a:lnTo>
                <a:lnTo>
                  <a:pt x="322364" y="735088"/>
                </a:lnTo>
                <a:lnTo>
                  <a:pt x="319722" y="787730"/>
                </a:lnTo>
                <a:lnTo>
                  <a:pt x="316407" y="840257"/>
                </a:lnTo>
                <a:lnTo>
                  <a:pt x="312407" y="892632"/>
                </a:lnTo>
                <a:lnTo>
                  <a:pt x="307721" y="944841"/>
                </a:lnTo>
                <a:lnTo>
                  <a:pt x="302323" y="996861"/>
                </a:lnTo>
                <a:lnTo>
                  <a:pt x="296214" y="1048626"/>
                </a:lnTo>
                <a:lnTo>
                  <a:pt x="289356" y="1100150"/>
                </a:lnTo>
                <a:lnTo>
                  <a:pt x="281774" y="1151369"/>
                </a:lnTo>
                <a:lnTo>
                  <a:pt x="273418" y="1202270"/>
                </a:lnTo>
                <a:lnTo>
                  <a:pt x="264287" y="1252816"/>
                </a:lnTo>
                <a:lnTo>
                  <a:pt x="254381" y="1302981"/>
                </a:lnTo>
                <a:lnTo>
                  <a:pt x="243674" y="1352740"/>
                </a:lnTo>
                <a:lnTo>
                  <a:pt x="232168" y="1402041"/>
                </a:lnTo>
                <a:lnTo>
                  <a:pt x="219824" y="1450886"/>
                </a:lnTo>
                <a:lnTo>
                  <a:pt x="206654" y="1499222"/>
                </a:lnTo>
                <a:lnTo>
                  <a:pt x="192633" y="1547012"/>
                </a:lnTo>
                <a:lnTo>
                  <a:pt x="177749" y="1594256"/>
                </a:lnTo>
                <a:lnTo>
                  <a:pt x="161988" y="1640903"/>
                </a:lnTo>
                <a:lnTo>
                  <a:pt x="145338" y="1686915"/>
                </a:lnTo>
                <a:lnTo>
                  <a:pt x="127800" y="1732292"/>
                </a:lnTo>
                <a:lnTo>
                  <a:pt x="109347" y="1776971"/>
                </a:lnTo>
                <a:lnTo>
                  <a:pt x="89954" y="1820938"/>
                </a:lnTo>
                <a:lnTo>
                  <a:pt x="69634" y="1864169"/>
                </a:lnTo>
                <a:lnTo>
                  <a:pt x="48361" y="1906625"/>
                </a:lnTo>
                <a:lnTo>
                  <a:pt x="26123" y="1948268"/>
                </a:lnTo>
                <a:lnTo>
                  <a:pt x="2921" y="1989074"/>
                </a:lnTo>
                <a:lnTo>
                  <a:pt x="0" y="1993392"/>
                </a:lnTo>
                <a:lnTo>
                  <a:pt x="196469" y="1983232"/>
                </a:lnTo>
                <a:lnTo>
                  <a:pt x="293370" y="1980209"/>
                </a:lnTo>
                <a:lnTo>
                  <a:pt x="390829" y="1977834"/>
                </a:lnTo>
                <a:lnTo>
                  <a:pt x="488823" y="1976120"/>
                </a:lnTo>
                <a:lnTo>
                  <a:pt x="587324" y="1975078"/>
                </a:lnTo>
                <a:lnTo>
                  <a:pt x="686308" y="1974723"/>
                </a:lnTo>
                <a:lnTo>
                  <a:pt x="785279" y="1975078"/>
                </a:lnTo>
                <a:lnTo>
                  <a:pt x="883780" y="1976120"/>
                </a:lnTo>
                <a:lnTo>
                  <a:pt x="981773" y="1977834"/>
                </a:lnTo>
                <a:lnTo>
                  <a:pt x="1079233" y="1980209"/>
                </a:lnTo>
                <a:lnTo>
                  <a:pt x="1176147" y="1983232"/>
                </a:lnTo>
                <a:lnTo>
                  <a:pt x="1185672" y="1983740"/>
                </a:lnTo>
                <a:close/>
              </a:path>
              <a:path w="3106420" h="1993900">
                <a:moveTo>
                  <a:pt x="3105912" y="1780032"/>
                </a:moveTo>
                <a:lnTo>
                  <a:pt x="3045460" y="1724914"/>
                </a:lnTo>
                <a:lnTo>
                  <a:pt x="2998216" y="1674406"/>
                </a:lnTo>
                <a:lnTo>
                  <a:pt x="2949283" y="1616367"/>
                </a:lnTo>
                <a:lnTo>
                  <a:pt x="2924467" y="1584617"/>
                </a:lnTo>
                <a:lnTo>
                  <a:pt x="2899575" y="1551089"/>
                </a:lnTo>
                <a:lnTo>
                  <a:pt x="2874734" y="1515821"/>
                </a:lnTo>
                <a:lnTo>
                  <a:pt x="2850057" y="1478851"/>
                </a:lnTo>
                <a:lnTo>
                  <a:pt x="2825648" y="1440205"/>
                </a:lnTo>
                <a:lnTo>
                  <a:pt x="2801645" y="1399921"/>
                </a:lnTo>
                <a:lnTo>
                  <a:pt x="2778163" y="1358049"/>
                </a:lnTo>
                <a:lnTo>
                  <a:pt x="2755303" y="1314602"/>
                </a:lnTo>
                <a:lnTo>
                  <a:pt x="2733192" y="1269619"/>
                </a:lnTo>
                <a:lnTo>
                  <a:pt x="2711945" y="1223162"/>
                </a:lnTo>
                <a:lnTo>
                  <a:pt x="2691688" y="1175232"/>
                </a:lnTo>
                <a:lnTo>
                  <a:pt x="2672537" y="1125880"/>
                </a:lnTo>
                <a:lnTo>
                  <a:pt x="2654604" y="1075131"/>
                </a:lnTo>
                <a:lnTo>
                  <a:pt x="2638006" y="1023035"/>
                </a:lnTo>
                <a:lnTo>
                  <a:pt x="2622854" y="969619"/>
                </a:lnTo>
                <a:lnTo>
                  <a:pt x="2609278" y="914920"/>
                </a:lnTo>
                <a:lnTo>
                  <a:pt x="2597391" y="858977"/>
                </a:lnTo>
                <a:lnTo>
                  <a:pt x="2587320" y="801814"/>
                </a:lnTo>
                <a:lnTo>
                  <a:pt x="2579166" y="743470"/>
                </a:lnTo>
                <a:lnTo>
                  <a:pt x="2573058" y="683983"/>
                </a:lnTo>
                <a:lnTo>
                  <a:pt x="2569095" y="623392"/>
                </a:lnTo>
                <a:lnTo>
                  <a:pt x="2567432" y="561721"/>
                </a:lnTo>
                <a:lnTo>
                  <a:pt x="2717292" y="561721"/>
                </a:lnTo>
                <a:lnTo>
                  <a:pt x="2417572" y="41148"/>
                </a:lnTo>
                <a:lnTo>
                  <a:pt x="2117852" y="561721"/>
                </a:lnTo>
                <a:lnTo>
                  <a:pt x="2267712" y="561721"/>
                </a:lnTo>
                <a:lnTo>
                  <a:pt x="2265743" y="613435"/>
                </a:lnTo>
                <a:lnTo>
                  <a:pt x="2262987" y="665022"/>
                </a:lnTo>
                <a:lnTo>
                  <a:pt x="2259393" y="716445"/>
                </a:lnTo>
                <a:lnTo>
                  <a:pt x="2254948" y="767651"/>
                </a:lnTo>
                <a:lnTo>
                  <a:pt x="2249640" y="818603"/>
                </a:lnTo>
                <a:lnTo>
                  <a:pt x="2243442" y="869251"/>
                </a:lnTo>
                <a:lnTo>
                  <a:pt x="2236343" y="919530"/>
                </a:lnTo>
                <a:lnTo>
                  <a:pt x="2228304" y="969403"/>
                </a:lnTo>
                <a:lnTo>
                  <a:pt x="2219325" y="1018832"/>
                </a:lnTo>
                <a:lnTo>
                  <a:pt x="2209368" y="1067752"/>
                </a:lnTo>
                <a:lnTo>
                  <a:pt x="2198433" y="1116114"/>
                </a:lnTo>
                <a:lnTo>
                  <a:pt x="2186495" y="1163866"/>
                </a:lnTo>
                <a:lnTo>
                  <a:pt x="2173516" y="1210983"/>
                </a:lnTo>
                <a:lnTo>
                  <a:pt x="2159508" y="1257388"/>
                </a:lnTo>
                <a:lnTo>
                  <a:pt x="2144407" y="1303045"/>
                </a:lnTo>
                <a:lnTo>
                  <a:pt x="2128240" y="1347914"/>
                </a:lnTo>
                <a:lnTo>
                  <a:pt x="2110956" y="1391920"/>
                </a:lnTo>
                <a:lnTo>
                  <a:pt x="2092540" y="1435049"/>
                </a:lnTo>
                <a:lnTo>
                  <a:pt x="2072982" y="1477225"/>
                </a:lnTo>
                <a:lnTo>
                  <a:pt x="2052256" y="1518412"/>
                </a:lnTo>
                <a:lnTo>
                  <a:pt x="2030349" y="1558544"/>
                </a:lnTo>
                <a:lnTo>
                  <a:pt x="1967484" y="1654302"/>
                </a:lnTo>
                <a:lnTo>
                  <a:pt x="2155444" y="1664335"/>
                </a:lnTo>
                <a:lnTo>
                  <a:pt x="2207387" y="1668221"/>
                </a:lnTo>
                <a:lnTo>
                  <a:pt x="2310523" y="1676666"/>
                </a:lnTo>
                <a:lnTo>
                  <a:pt x="2412644" y="1686026"/>
                </a:lnTo>
                <a:lnTo>
                  <a:pt x="2513685" y="1696300"/>
                </a:lnTo>
                <a:lnTo>
                  <a:pt x="2613622" y="1707476"/>
                </a:lnTo>
                <a:lnTo>
                  <a:pt x="2712402" y="1719529"/>
                </a:lnTo>
                <a:lnTo>
                  <a:pt x="2761361" y="1725891"/>
                </a:lnTo>
                <a:lnTo>
                  <a:pt x="2810002" y="1732457"/>
                </a:lnTo>
                <a:lnTo>
                  <a:pt x="2858351" y="1739252"/>
                </a:lnTo>
                <a:lnTo>
                  <a:pt x="2906395" y="1746250"/>
                </a:lnTo>
                <a:lnTo>
                  <a:pt x="3105912" y="1780032"/>
                </a:lnTo>
                <a:close/>
              </a:path>
            </a:pathLst>
          </a:custGeom>
          <a:solidFill>
            <a:srgbClr val="9DC3E6">
              <a:alpha val="30195"/>
            </a:srgbClr>
          </a:solidFill>
        </p:spPr>
        <p:txBody>
          <a:bodyPr wrap="square" lIns="0" tIns="0" rIns="0" bIns="0" rtlCol="0"/>
          <a:lstStyle/>
          <a:p>
            <a:endParaRPr dirty="0"/>
          </a:p>
        </p:txBody>
      </p:sp>
      <p:sp>
        <p:nvSpPr>
          <p:cNvPr id="20" name="object 24">
            <a:extLst>
              <a:ext uri="{FF2B5EF4-FFF2-40B4-BE49-F238E27FC236}">
                <a16:creationId xmlns:a16="http://schemas.microsoft.com/office/drawing/2014/main" id="{073A2895-CA43-6DE5-F4A4-FBFD2F21C4E9}"/>
              </a:ext>
            </a:extLst>
          </p:cNvPr>
          <p:cNvSpPr/>
          <p:nvPr/>
        </p:nvSpPr>
        <p:spPr>
          <a:xfrm>
            <a:off x="8340852" y="5859913"/>
            <a:ext cx="356870" cy="264160"/>
          </a:xfrm>
          <a:custGeom>
            <a:avLst/>
            <a:gdLst/>
            <a:ahLst/>
            <a:cxnLst/>
            <a:rect l="l" t="t" r="r" b="b"/>
            <a:pathLst>
              <a:path w="356870" h="264160">
                <a:moveTo>
                  <a:pt x="111252" y="155448"/>
                </a:moveTo>
                <a:lnTo>
                  <a:pt x="91440" y="155448"/>
                </a:lnTo>
                <a:lnTo>
                  <a:pt x="91440" y="188976"/>
                </a:lnTo>
                <a:lnTo>
                  <a:pt x="111252" y="188976"/>
                </a:lnTo>
                <a:lnTo>
                  <a:pt x="111252" y="155448"/>
                </a:lnTo>
                <a:close/>
              </a:path>
              <a:path w="356870" h="264160">
                <a:moveTo>
                  <a:pt x="323088" y="125984"/>
                </a:moveTo>
                <a:lnTo>
                  <a:pt x="303530" y="108356"/>
                </a:lnTo>
                <a:lnTo>
                  <a:pt x="303530" y="244348"/>
                </a:lnTo>
                <a:lnTo>
                  <a:pt x="142875" y="244348"/>
                </a:lnTo>
                <a:lnTo>
                  <a:pt x="142875" y="106680"/>
                </a:lnTo>
                <a:lnTo>
                  <a:pt x="123317" y="125984"/>
                </a:lnTo>
                <a:lnTo>
                  <a:pt x="123317" y="244348"/>
                </a:lnTo>
                <a:lnTo>
                  <a:pt x="56134" y="244348"/>
                </a:lnTo>
                <a:lnTo>
                  <a:pt x="56134" y="106680"/>
                </a:lnTo>
                <a:lnTo>
                  <a:pt x="36576" y="125984"/>
                </a:lnTo>
                <a:lnTo>
                  <a:pt x="36576" y="263652"/>
                </a:lnTo>
                <a:lnTo>
                  <a:pt x="323088" y="263652"/>
                </a:lnTo>
                <a:lnTo>
                  <a:pt x="323088" y="244348"/>
                </a:lnTo>
                <a:lnTo>
                  <a:pt x="323088" y="125984"/>
                </a:lnTo>
                <a:close/>
              </a:path>
              <a:path w="356870" h="264160">
                <a:moveTo>
                  <a:pt x="356616" y="77724"/>
                </a:moveTo>
                <a:lnTo>
                  <a:pt x="355727" y="68529"/>
                </a:lnTo>
                <a:lnTo>
                  <a:pt x="353187" y="60172"/>
                </a:lnTo>
                <a:lnTo>
                  <a:pt x="337058" y="24803"/>
                </a:lnTo>
                <a:lnTo>
                  <a:pt x="337058" y="65189"/>
                </a:lnTo>
                <a:lnTo>
                  <a:pt x="337058" y="71031"/>
                </a:lnTo>
                <a:lnTo>
                  <a:pt x="325120" y="86080"/>
                </a:lnTo>
                <a:lnTo>
                  <a:pt x="314960" y="86080"/>
                </a:lnTo>
                <a:lnTo>
                  <a:pt x="309753" y="83578"/>
                </a:lnTo>
                <a:lnTo>
                  <a:pt x="305562" y="81064"/>
                </a:lnTo>
                <a:lnTo>
                  <a:pt x="300482" y="78562"/>
                </a:lnTo>
                <a:lnTo>
                  <a:pt x="295275" y="75222"/>
                </a:lnTo>
                <a:lnTo>
                  <a:pt x="291973" y="70205"/>
                </a:lnTo>
                <a:lnTo>
                  <a:pt x="289433" y="65189"/>
                </a:lnTo>
                <a:lnTo>
                  <a:pt x="286766" y="60172"/>
                </a:lnTo>
                <a:lnTo>
                  <a:pt x="275717" y="19227"/>
                </a:lnTo>
                <a:lnTo>
                  <a:pt x="318262" y="19227"/>
                </a:lnTo>
                <a:lnTo>
                  <a:pt x="334518" y="60172"/>
                </a:lnTo>
                <a:lnTo>
                  <a:pt x="337058" y="65189"/>
                </a:lnTo>
                <a:lnTo>
                  <a:pt x="337058" y="24803"/>
                </a:lnTo>
                <a:lnTo>
                  <a:pt x="334518" y="19227"/>
                </a:lnTo>
                <a:lnTo>
                  <a:pt x="346456" y="19227"/>
                </a:lnTo>
                <a:lnTo>
                  <a:pt x="346456" y="0"/>
                </a:lnTo>
                <a:lnTo>
                  <a:pt x="269748" y="0"/>
                </a:lnTo>
                <a:lnTo>
                  <a:pt x="269748" y="60172"/>
                </a:lnTo>
                <a:lnTo>
                  <a:pt x="269748" y="70205"/>
                </a:lnTo>
                <a:lnTo>
                  <a:pt x="268097" y="75222"/>
                </a:lnTo>
                <a:lnTo>
                  <a:pt x="265557" y="78562"/>
                </a:lnTo>
                <a:lnTo>
                  <a:pt x="262128" y="81902"/>
                </a:lnTo>
                <a:lnTo>
                  <a:pt x="258699" y="83578"/>
                </a:lnTo>
                <a:lnTo>
                  <a:pt x="254508" y="86080"/>
                </a:lnTo>
                <a:lnTo>
                  <a:pt x="245110" y="86080"/>
                </a:lnTo>
                <a:lnTo>
                  <a:pt x="239141" y="83578"/>
                </a:lnTo>
                <a:lnTo>
                  <a:pt x="234950" y="81064"/>
                </a:lnTo>
                <a:lnTo>
                  <a:pt x="230632" y="78562"/>
                </a:lnTo>
                <a:lnTo>
                  <a:pt x="226441" y="75222"/>
                </a:lnTo>
                <a:lnTo>
                  <a:pt x="223901" y="70205"/>
                </a:lnTo>
                <a:lnTo>
                  <a:pt x="222123" y="60172"/>
                </a:lnTo>
                <a:lnTo>
                  <a:pt x="217043" y="19227"/>
                </a:lnTo>
                <a:lnTo>
                  <a:pt x="259588" y="19227"/>
                </a:lnTo>
                <a:lnTo>
                  <a:pt x="269748" y="60172"/>
                </a:lnTo>
                <a:lnTo>
                  <a:pt x="269748" y="0"/>
                </a:lnTo>
                <a:lnTo>
                  <a:pt x="203454" y="0"/>
                </a:lnTo>
                <a:lnTo>
                  <a:pt x="203454" y="60172"/>
                </a:lnTo>
                <a:lnTo>
                  <a:pt x="202565" y="65189"/>
                </a:lnTo>
                <a:lnTo>
                  <a:pt x="202565" y="70205"/>
                </a:lnTo>
                <a:lnTo>
                  <a:pt x="200025" y="75222"/>
                </a:lnTo>
                <a:lnTo>
                  <a:pt x="195707" y="78562"/>
                </a:lnTo>
                <a:lnTo>
                  <a:pt x="192405" y="81902"/>
                </a:lnTo>
                <a:lnTo>
                  <a:pt x="183896" y="86080"/>
                </a:lnTo>
                <a:lnTo>
                  <a:pt x="173609" y="86080"/>
                </a:lnTo>
                <a:lnTo>
                  <a:pt x="169418" y="83578"/>
                </a:lnTo>
                <a:lnTo>
                  <a:pt x="165100" y="81902"/>
                </a:lnTo>
                <a:lnTo>
                  <a:pt x="161671" y="78562"/>
                </a:lnTo>
                <a:lnTo>
                  <a:pt x="159131" y="75222"/>
                </a:lnTo>
                <a:lnTo>
                  <a:pt x="156591" y="70205"/>
                </a:lnTo>
                <a:lnTo>
                  <a:pt x="155702" y="65189"/>
                </a:lnTo>
                <a:lnTo>
                  <a:pt x="155702" y="60172"/>
                </a:lnTo>
                <a:lnTo>
                  <a:pt x="158369" y="19227"/>
                </a:lnTo>
                <a:lnTo>
                  <a:pt x="200914" y="19227"/>
                </a:lnTo>
                <a:lnTo>
                  <a:pt x="203454" y="60172"/>
                </a:lnTo>
                <a:lnTo>
                  <a:pt x="203454" y="0"/>
                </a:lnTo>
                <a:lnTo>
                  <a:pt x="142113" y="0"/>
                </a:lnTo>
                <a:lnTo>
                  <a:pt x="142113" y="19227"/>
                </a:lnTo>
                <a:lnTo>
                  <a:pt x="137033" y="60172"/>
                </a:lnTo>
                <a:lnTo>
                  <a:pt x="136144" y="65189"/>
                </a:lnTo>
                <a:lnTo>
                  <a:pt x="131064" y="75222"/>
                </a:lnTo>
                <a:lnTo>
                  <a:pt x="127635" y="78562"/>
                </a:lnTo>
                <a:lnTo>
                  <a:pt x="122555" y="81064"/>
                </a:lnTo>
                <a:lnTo>
                  <a:pt x="119126" y="83578"/>
                </a:lnTo>
                <a:lnTo>
                  <a:pt x="112395" y="86080"/>
                </a:lnTo>
                <a:lnTo>
                  <a:pt x="102997" y="86080"/>
                </a:lnTo>
                <a:lnTo>
                  <a:pt x="88519" y="70205"/>
                </a:lnTo>
                <a:lnTo>
                  <a:pt x="88519" y="65189"/>
                </a:lnTo>
                <a:lnTo>
                  <a:pt x="89408" y="60172"/>
                </a:lnTo>
                <a:lnTo>
                  <a:pt x="99568" y="19227"/>
                </a:lnTo>
                <a:lnTo>
                  <a:pt x="142113" y="19227"/>
                </a:lnTo>
                <a:lnTo>
                  <a:pt x="142113" y="0"/>
                </a:lnTo>
                <a:lnTo>
                  <a:pt x="81661" y="0"/>
                </a:lnTo>
                <a:lnTo>
                  <a:pt x="81661" y="19227"/>
                </a:lnTo>
                <a:lnTo>
                  <a:pt x="70612" y="60172"/>
                </a:lnTo>
                <a:lnTo>
                  <a:pt x="42545" y="86080"/>
                </a:lnTo>
                <a:lnTo>
                  <a:pt x="33147" y="86080"/>
                </a:lnTo>
                <a:lnTo>
                  <a:pt x="29845" y="84404"/>
                </a:lnTo>
                <a:lnTo>
                  <a:pt x="25527" y="81902"/>
                </a:lnTo>
                <a:lnTo>
                  <a:pt x="22987" y="79400"/>
                </a:lnTo>
                <a:lnTo>
                  <a:pt x="20447" y="75222"/>
                </a:lnTo>
                <a:lnTo>
                  <a:pt x="20447" y="65189"/>
                </a:lnTo>
                <a:lnTo>
                  <a:pt x="22987" y="60172"/>
                </a:lnTo>
                <a:lnTo>
                  <a:pt x="40005" y="19227"/>
                </a:lnTo>
                <a:lnTo>
                  <a:pt x="81661" y="19227"/>
                </a:lnTo>
                <a:lnTo>
                  <a:pt x="81661" y="0"/>
                </a:lnTo>
                <a:lnTo>
                  <a:pt x="11049" y="0"/>
                </a:lnTo>
                <a:lnTo>
                  <a:pt x="11049" y="19227"/>
                </a:lnTo>
                <a:lnTo>
                  <a:pt x="24638" y="19227"/>
                </a:lnTo>
                <a:lnTo>
                  <a:pt x="5080" y="60172"/>
                </a:lnTo>
                <a:lnTo>
                  <a:pt x="889" y="68529"/>
                </a:lnTo>
                <a:lnTo>
                  <a:pt x="0" y="77724"/>
                </a:lnTo>
                <a:lnTo>
                  <a:pt x="774" y="83578"/>
                </a:lnTo>
                <a:lnTo>
                  <a:pt x="30607" y="103632"/>
                </a:lnTo>
                <a:lnTo>
                  <a:pt x="41656" y="102793"/>
                </a:lnTo>
                <a:lnTo>
                  <a:pt x="52832" y="98615"/>
                </a:lnTo>
                <a:lnTo>
                  <a:pt x="62103" y="94437"/>
                </a:lnTo>
                <a:lnTo>
                  <a:pt x="72390" y="86918"/>
                </a:lnTo>
                <a:lnTo>
                  <a:pt x="78359" y="94437"/>
                </a:lnTo>
                <a:lnTo>
                  <a:pt x="85979" y="98615"/>
                </a:lnTo>
                <a:lnTo>
                  <a:pt x="94488" y="102793"/>
                </a:lnTo>
                <a:lnTo>
                  <a:pt x="103886" y="103632"/>
                </a:lnTo>
                <a:lnTo>
                  <a:pt x="114935" y="102793"/>
                </a:lnTo>
                <a:lnTo>
                  <a:pt x="125984" y="98615"/>
                </a:lnTo>
                <a:lnTo>
                  <a:pt x="134493" y="94437"/>
                </a:lnTo>
                <a:lnTo>
                  <a:pt x="143002" y="86918"/>
                </a:lnTo>
                <a:lnTo>
                  <a:pt x="150622" y="94437"/>
                </a:lnTo>
                <a:lnTo>
                  <a:pt x="158369" y="98615"/>
                </a:lnTo>
                <a:lnTo>
                  <a:pt x="167640" y="102793"/>
                </a:lnTo>
                <a:lnTo>
                  <a:pt x="178689" y="103632"/>
                </a:lnTo>
                <a:lnTo>
                  <a:pt x="189738" y="102793"/>
                </a:lnTo>
                <a:lnTo>
                  <a:pt x="200025" y="98615"/>
                </a:lnTo>
                <a:lnTo>
                  <a:pt x="206883" y="94437"/>
                </a:lnTo>
                <a:lnTo>
                  <a:pt x="214503" y="86918"/>
                </a:lnTo>
                <a:lnTo>
                  <a:pt x="223012" y="94437"/>
                </a:lnTo>
                <a:lnTo>
                  <a:pt x="231521" y="98615"/>
                </a:lnTo>
                <a:lnTo>
                  <a:pt x="242570" y="102793"/>
                </a:lnTo>
                <a:lnTo>
                  <a:pt x="252730" y="103632"/>
                </a:lnTo>
                <a:lnTo>
                  <a:pt x="263906" y="102793"/>
                </a:lnTo>
                <a:lnTo>
                  <a:pt x="272415" y="98615"/>
                </a:lnTo>
                <a:lnTo>
                  <a:pt x="279146" y="94437"/>
                </a:lnTo>
                <a:lnTo>
                  <a:pt x="285115" y="86918"/>
                </a:lnTo>
                <a:lnTo>
                  <a:pt x="294513" y="94437"/>
                </a:lnTo>
                <a:lnTo>
                  <a:pt x="305562" y="98615"/>
                </a:lnTo>
                <a:lnTo>
                  <a:pt x="315722" y="102793"/>
                </a:lnTo>
                <a:lnTo>
                  <a:pt x="326009" y="103632"/>
                </a:lnTo>
                <a:lnTo>
                  <a:pt x="355460" y="86918"/>
                </a:lnTo>
                <a:lnTo>
                  <a:pt x="355841" y="86080"/>
                </a:lnTo>
                <a:lnTo>
                  <a:pt x="356616" y="84404"/>
                </a:lnTo>
                <a:lnTo>
                  <a:pt x="356616" y="77724"/>
                </a:lnTo>
                <a:close/>
              </a:path>
            </a:pathLst>
          </a:custGeom>
          <a:solidFill>
            <a:srgbClr val="FFFFFF"/>
          </a:solidFill>
        </p:spPr>
        <p:txBody>
          <a:bodyPr wrap="square" lIns="0" tIns="0" rIns="0" bIns="0" rtlCol="0"/>
          <a:lstStyle/>
          <a:p>
            <a:endParaRPr/>
          </a:p>
        </p:txBody>
      </p:sp>
      <p:pic>
        <p:nvPicPr>
          <p:cNvPr id="21" name="object 25">
            <a:extLst>
              <a:ext uri="{FF2B5EF4-FFF2-40B4-BE49-F238E27FC236}">
                <a16:creationId xmlns:a16="http://schemas.microsoft.com/office/drawing/2014/main" id="{0B234BAB-5CFF-ABFF-9F60-F40E27C65C87}"/>
              </a:ext>
            </a:extLst>
          </p:cNvPr>
          <p:cNvPicPr/>
          <p:nvPr/>
        </p:nvPicPr>
        <p:blipFill>
          <a:blip r:embed="rId5" cstate="print"/>
          <a:stretch>
            <a:fillRect/>
          </a:stretch>
        </p:blipFill>
        <p:spPr>
          <a:xfrm>
            <a:off x="3768852" y="5599309"/>
            <a:ext cx="358139" cy="321564"/>
          </a:xfrm>
          <a:prstGeom prst="rect">
            <a:avLst/>
          </a:prstGeom>
        </p:spPr>
      </p:pic>
      <p:pic>
        <p:nvPicPr>
          <p:cNvPr id="22" name="object 26">
            <a:extLst>
              <a:ext uri="{FF2B5EF4-FFF2-40B4-BE49-F238E27FC236}">
                <a16:creationId xmlns:a16="http://schemas.microsoft.com/office/drawing/2014/main" id="{681AE4CA-316C-3440-3D10-CF784B4E1E98}"/>
              </a:ext>
            </a:extLst>
          </p:cNvPr>
          <p:cNvPicPr/>
          <p:nvPr/>
        </p:nvPicPr>
        <p:blipFill>
          <a:blip r:embed="rId6" cstate="print"/>
          <a:stretch>
            <a:fillRect/>
          </a:stretch>
        </p:blipFill>
        <p:spPr>
          <a:xfrm>
            <a:off x="4543044" y="5901062"/>
            <a:ext cx="152400" cy="92963"/>
          </a:xfrm>
          <a:prstGeom prst="rect">
            <a:avLst/>
          </a:prstGeom>
        </p:spPr>
      </p:pic>
      <p:sp>
        <p:nvSpPr>
          <p:cNvPr id="23" name="object 27">
            <a:extLst>
              <a:ext uri="{FF2B5EF4-FFF2-40B4-BE49-F238E27FC236}">
                <a16:creationId xmlns:a16="http://schemas.microsoft.com/office/drawing/2014/main" id="{909C78B8-DB13-2801-B4B1-FE2BB063B8F9}"/>
              </a:ext>
            </a:extLst>
          </p:cNvPr>
          <p:cNvSpPr/>
          <p:nvPr/>
        </p:nvSpPr>
        <p:spPr>
          <a:xfrm>
            <a:off x="4515612" y="6010789"/>
            <a:ext cx="320040" cy="231775"/>
          </a:xfrm>
          <a:custGeom>
            <a:avLst/>
            <a:gdLst/>
            <a:ahLst/>
            <a:cxnLst/>
            <a:rect l="l" t="t" r="r" b="b"/>
            <a:pathLst>
              <a:path w="320039" h="231775">
                <a:moveTo>
                  <a:pt x="115824" y="182880"/>
                </a:moveTo>
                <a:lnTo>
                  <a:pt x="80772" y="182880"/>
                </a:lnTo>
                <a:lnTo>
                  <a:pt x="80772" y="202692"/>
                </a:lnTo>
                <a:lnTo>
                  <a:pt x="115824" y="202692"/>
                </a:lnTo>
                <a:lnTo>
                  <a:pt x="115824" y="182880"/>
                </a:lnTo>
                <a:close/>
              </a:path>
              <a:path w="320039" h="231775">
                <a:moveTo>
                  <a:pt x="198120" y="182880"/>
                </a:moveTo>
                <a:lnTo>
                  <a:pt x="163068" y="182880"/>
                </a:lnTo>
                <a:lnTo>
                  <a:pt x="163068" y="202692"/>
                </a:lnTo>
                <a:lnTo>
                  <a:pt x="198120" y="202692"/>
                </a:lnTo>
                <a:lnTo>
                  <a:pt x="198120" y="182880"/>
                </a:lnTo>
                <a:close/>
              </a:path>
              <a:path w="320039" h="231775">
                <a:moveTo>
                  <a:pt x="280416" y="182880"/>
                </a:moveTo>
                <a:lnTo>
                  <a:pt x="243840" y="182880"/>
                </a:lnTo>
                <a:lnTo>
                  <a:pt x="243840" y="202692"/>
                </a:lnTo>
                <a:lnTo>
                  <a:pt x="280416" y="202692"/>
                </a:lnTo>
                <a:lnTo>
                  <a:pt x="280416" y="182880"/>
                </a:lnTo>
                <a:close/>
              </a:path>
              <a:path w="320039" h="231775">
                <a:moveTo>
                  <a:pt x="320040" y="85991"/>
                </a:moveTo>
                <a:lnTo>
                  <a:pt x="239141" y="129857"/>
                </a:lnTo>
                <a:lnTo>
                  <a:pt x="239141" y="85991"/>
                </a:lnTo>
                <a:lnTo>
                  <a:pt x="158115" y="129857"/>
                </a:lnTo>
                <a:lnTo>
                  <a:pt x="158115" y="85991"/>
                </a:lnTo>
                <a:lnTo>
                  <a:pt x="76327" y="129857"/>
                </a:lnTo>
                <a:lnTo>
                  <a:pt x="76327" y="0"/>
                </a:lnTo>
                <a:lnTo>
                  <a:pt x="0" y="0"/>
                </a:lnTo>
                <a:lnTo>
                  <a:pt x="0" y="231648"/>
                </a:lnTo>
                <a:lnTo>
                  <a:pt x="21336" y="211467"/>
                </a:lnTo>
                <a:lnTo>
                  <a:pt x="21336" y="20180"/>
                </a:lnTo>
                <a:lnTo>
                  <a:pt x="54864" y="20180"/>
                </a:lnTo>
                <a:lnTo>
                  <a:pt x="54864" y="164084"/>
                </a:lnTo>
                <a:lnTo>
                  <a:pt x="136779" y="120205"/>
                </a:lnTo>
                <a:lnTo>
                  <a:pt x="136779" y="164084"/>
                </a:lnTo>
                <a:lnTo>
                  <a:pt x="217678" y="120205"/>
                </a:lnTo>
                <a:lnTo>
                  <a:pt x="217678" y="164084"/>
                </a:lnTo>
                <a:lnTo>
                  <a:pt x="298704" y="120205"/>
                </a:lnTo>
                <a:lnTo>
                  <a:pt x="298704" y="211467"/>
                </a:lnTo>
                <a:lnTo>
                  <a:pt x="319151" y="229895"/>
                </a:lnTo>
                <a:lnTo>
                  <a:pt x="320040" y="85991"/>
                </a:lnTo>
                <a:close/>
              </a:path>
            </a:pathLst>
          </a:custGeom>
          <a:solidFill>
            <a:srgbClr val="FFFFFF"/>
          </a:solidFill>
        </p:spPr>
        <p:txBody>
          <a:bodyPr wrap="square" lIns="0" tIns="0" rIns="0" bIns="0" rtlCol="0"/>
          <a:lstStyle/>
          <a:p>
            <a:endParaRPr/>
          </a:p>
        </p:txBody>
      </p:sp>
      <p:sp>
        <p:nvSpPr>
          <p:cNvPr id="24" name="object 28">
            <a:extLst>
              <a:ext uri="{FF2B5EF4-FFF2-40B4-BE49-F238E27FC236}">
                <a16:creationId xmlns:a16="http://schemas.microsoft.com/office/drawing/2014/main" id="{9117D100-395F-7275-5464-DAC4C068A8D9}"/>
              </a:ext>
            </a:extLst>
          </p:cNvPr>
          <p:cNvSpPr txBox="1"/>
          <p:nvPr/>
        </p:nvSpPr>
        <p:spPr>
          <a:xfrm>
            <a:off x="8227314" y="6197527"/>
            <a:ext cx="566420" cy="166071"/>
          </a:xfrm>
          <a:prstGeom prst="rect">
            <a:avLst/>
          </a:prstGeom>
        </p:spPr>
        <p:txBody>
          <a:bodyPr vert="horz" wrap="square" lIns="0" tIns="12065" rIns="0" bIns="0" rtlCol="0">
            <a:spAutoFit/>
          </a:bodyPr>
          <a:lstStyle/>
          <a:p>
            <a:pPr marL="12700">
              <a:lnSpc>
                <a:spcPct val="100000"/>
              </a:lnSpc>
              <a:spcBef>
                <a:spcPts val="95"/>
              </a:spcBef>
            </a:pPr>
            <a:r>
              <a:rPr sz="1000" b="1" spc="-10" dirty="0">
                <a:solidFill>
                  <a:srgbClr val="FFFFFF"/>
                </a:solidFill>
                <a:latin typeface="Arial" panose="020B0604020202020204" pitchFamily="34" charset="0"/>
                <a:ea typeface="微软雅黑" panose="020B0503020204020204" pitchFamily="34" charset="-122"/>
                <a:cs typeface="Microsoft YaHei"/>
              </a:rPr>
              <a:t>渠道</a:t>
            </a:r>
            <a:r>
              <a:rPr sz="1000" b="1" spc="-10" dirty="0">
                <a:solidFill>
                  <a:srgbClr val="FFFFFF"/>
                </a:solidFill>
                <a:latin typeface="Arial" panose="020B0604020202020204" pitchFamily="34" charset="0"/>
                <a:ea typeface="微软雅黑" panose="020B0503020204020204" pitchFamily="34" charset="-122"/>
                <a:cs typeface="Arial"/>
              </a:rPr>
              <a:t>/</a:t>
            </a:r>
            <a:r>
              <a:rPr sz="1000" b="1" spc="-30" dirty="0">
                <a:solidFill>
                  <a:srgbClr val="FFFFFF"/>
                </a:solidFill>
                <a:latin typeface="Arial" panose="020B0604020202020204" pitchFamily="34" charset="0"/>
                <a:ea typeface="微软雅黑" panose="020B0503020204020204" pitchFamily="34" charset="-122"/>
                <a:cs typeface="Microsoft YaHei"/>
              </a:rPr>
              <a:t>商店</a:t>
            </a:r>
            <a:endParaRPr sz="1000">
              <a:latin typeface="Arial" panose="020B0604020202020204" pitchFamily="34" charset="0"/>
              <a:ea typeface="微软雅黑" panose="020B0503020204020204" pitchFamily="34" charset="-122"/>
              <a:cs typeface="Microsoft YaHei"/>
            </a:endParaRPr>
          </a:p>
        </p:txBody>
      </p:sp>
      <p:sp>
        <p:nvSpPr>
          <p:cNvPr id="25" name="object 29">
            <a:extLst>
              <a:ext uri="{FF2B5EF4-FFF2-40B4-BE49-F238E27FC236}">
                <a16:creationId xmlns:a16="http://schemas.microsoft.com/office/drawing/2014/main" id="{BAB13ADF-AA05-9E55-48A5-3D878B35EFAA}"/>
              </a:ext>
            </a:extLst>
          </p:cNvPr>
          <p:cNvSpPr txBox="1"/>
          <p:nvPr/>
        </p:nvSpPr>
        <p:spPr>
          <a:xfrm>
            <a:off x="3594608" y="5960698"/>
            <a:ext cx="657860" cy="166071"/>
          </a:xfrm>
          <a:prstGeom prst="rect">
            <a:avLst/>
          </a:prstGeom>
        </p:spPr>
        <p:txBody>
          <a:bodyPr vert="horz" wrap="square" lIns="0" tIns="12065" rIns="0" bIns="0" rtlCol="0">
            <a:spAutoFit/>
          </a:bodyPr>
          <a:lstStyle/>
          <a:p>
            <a:pPr marL="12700">
              <a:lnSpc>
                <a:spcPct val="100000"/>
              </a:lnSpc>
              <a:spcBef>
                <a:spcPts val="95"/>
              </a:spcBef>
            </a:pPr>
            <a:r>
              <a:rPr sz="1000" b="1" spc="-20" dirty="0">
                <a:solidFill>
                  <a:srgbClr val="FFFFFF"/>
                </a:solidFill>
                <a:latin typeface="Arial" panose="020B0604020202020204" pitchFamily="34" charset="0"/>
                <a:ea typeface="微软雅黑" panose="020B0503020204020204" pitchFamily="34" charset="-122"/>
                <a:cs typeface="Microsoft YaHei"/>
              </a:rPr>
              <a:t>多级供应商</a:t>
            </a:r>
            <a:endParaRPr sz="1000">
              <a:latin typeface="Arial" panose="020B0604020202020204" pitchFamily="34" charset="0"/>
              <a:ea typeface="微软雅黑" panose="020B0503020204020204" pitchFamily="34" charset="-122"/>
              <a:cs typeface="Microsoft YaHei"/>
            </a:endParaRPr>
          </a:p>
        </p:txBody>
      </p:sp>
      <p:sp>
        <p:nvSpPr>
          <p:cNvPr id="26" name="object 30">
            <a:extLst>
              <a:ext uri="{FF2B5EF4-FFF2-40B4-BE49-F238E27FC236}">
                <a16:creationId xmlns:a16="http://schemas.microsoft.com/office/drawing/2014/main" id="{C9E54E29-CBB8-2090-4C26-EDA6D8CCD2AF}"/>
              </a:ext>
            </a:extLst>
          </p:cNvPr>
          <p:cNvSpPr txBox="1"/>
          <p:nvPr/>
        </p:nvSpPr>
        <p:spPr>
          <a:xfrm>
            <a:off x="4409757" y="6252843"/>
            <a:ext cx="1203960" cy="294311"/>
          </a:xfrm>
          <a:prstGeom prst="rect">
            <a:avLst/>
          </a:prstGeom>
        </p:spPr>
        <p:txBody>
          <a:bodyPr vert="horz" wrap="square" lIns="0" tIns="12065" rIns="0" bIns="0" rtlCol="0">
            <a:spAutoFit/>
          </a:bodyPr>
          <a:lstStyle/>
          <a:p>
            <a:pPr marL="12700">
              <a:lnSpc>
                <a:spcPts val="1145"/>
              </a:lnSpc>
              <a:spcBef>
                <a:spcPts val="95"/>
              </a:spcBef>
            </a:pPr>
            <a:r>
              <a:rPr lang="en-US" sz="1000" b="1" spc="-10" dirty="0">
                <a:solidFill>
                  <a:srgbClr val="FFFFFF"/>
                </a:solidFill>
                <a:latin typeface="Arial" panose="020B0604020202020204" pitchFamily="34" charset="0"/>
                <a:ea typeface="微软雅黑" panose="020B0503020204020204" pitchFamily="34" charset="-122"/>
                <a:cs typeface="Microsoft YaHei"/>
              </a:rPr>
              <a:t>    </a:t>
            </a:r>
            <a:r>
              <a:rPr sz="1000" b="1" spc="-10" dirty="0" err="1">
                <a:solidFill>
                  <a:srgbClr val="FFFFFF"/>
                </a:solidFill>
                <a:latin typeface="Arial" panose="020B0604020202020204" pitchFamily="34" charset="0"/>
                <a:ea typeface="微软雅黑" panose="020B0503020204020204" pitchFamily="34" charset="-122"/>
                <a:cs typeface="Microsoft YaHei"/>
              </a:rPr>
              <a:t>工厂</a:t>
            </a:r>
            <a:endParaRPr sz="1000" dirty="0">
              <a:latin typeface="Arial" panose="020B0604020202020204" pitchFamily="34" charset="0"/>
              <a:ea typeface="微软雅黑" panose="020B0503020204020204" pitchFamily="34" charset="-122"/>
              <a:cs typeface="Arial"/>
            </a:endParaRPr>
          </a:p>
          <a:p>
            <a:pPr marL="684530">
              <a:lnSpc>
                <a:spcPts val="1145"/>
              </a:lnSpc>
            </a:pPr>
            <a:r>
              <a:rPr sz="1000" b="1" spc="-20" dirty="0">
                <a:solidFill>
                  <a:srgbClr val="FFFFFF"/>
                </a:solidFill>
                <a:latin typeface="Arial" panose="020B0604020202020204" pitchFamily="34" charset="0"/>
                <a:ea typeface="微软雅黑" panose="020B0503020204020204" pitchFamily="34" charset="-122"/>
                <a:cs typeface="Microsoft YaHei"/>
              </a:rPr>
              <a:t>配送中心</a:t>
            </a:r>
            <a:endParaRPr sz="1000" dirty="0">
              <a:latin typeface="Arial" panose="020B0604020202020204" pitchFamily="34" charset="0"/>
              <a:ea typeface="微软雅黑" panose="020B0503020204020204" pitchFamily="34" charset="-122"/>
              <a:cs typeface="Microsoft YaHei"/>
            </a:endParaRPr>
          </a:p>
        </p:txBody>
      </p:sp>
      <p:grpSp>
        <p:nvGrpSpPr>
          <p:cNvPr id="27" name="object 31">
            <a:extLst>
              <a:ext uri="{FF2B5EF4-FFF2-40B4-BE49-F238E27FC236}">
                <a16:creationId xmlns:a16="http://schemas.microsoft.com/office/drawing/2014/main" id="{D61B7C58-36C1-78F8-B377-352C75680C80}"/>
              </a:ext>
            </a:extLst>
          </p:cNvPr>
          <p:cNvGrpSpPr/>
          <p:nvPr/>
        </p:nvGrpSpPr>
        <p:grpSpPr>
          <a:xfrm>
            <a:off x="5079491" y="6059351"/>
            <a:ext cx="413384" cy="288290"/>
            <a:chOff x="5079491" y="5910071"/>
            <a:chExt cx="413384" cy="288290"/>
          </a:xfrm>
        </p:grpSpPr>
        <p:pic>
          <p:nvPicPr>
            <p:cNvPr id="28" name="object 32">
              <a:extLst>
                <a:ext uri="{FF2B5EF4-FFF2-40B4-BE49-F238E27FC236}">
                  <a16:creationId xmlns:a16="http://schemas.microsoft.com/office/drawing/2014/main" id="{9B3F0832-DF11-F13E-3084-F2A865BDA705}"/>
                </a:ext>
              </a:extLst>
            </p:cNvPr>
            <p:cNvPicPr/>
            <p:nvPr/>
          </p:nvPicPr>
          <p:blipFill>
            <a:blip r:embed="rId7" cstate="print"/>
            <a:stretch>
              <a:fillRect/>
            </a:stretch>
          </p:blipFill>
          <p:spPr>
            <a:xfrm>
              <a:off x="5244083" y="6080759"/>
              <a:ext cx="83819" cy="97536"/>
            </a:xfrm>
            <a:prstGeom prst="rect">
              <a:avLst/>
            </a:prstGeom>
          </p:spPr>
        </p:pic>
        <p:sp>
          <p:nvSpPr>
            <p:cNvPr id="29" name="object 33">
              <a:extLst>
                <a:ext uri="{FF2B5EF4-FFF2-40B4-BE49-F238E27FC236}">
                  <a16:creationId xmlns:a16="http://schemas.microsoft.com/office/drawing/2014/main" id="{D1B59D28-6E62-696D-774C-BED77DC432BA}"/>
                </a:ext>
              </a:extLst>
            </p:cNvPr>
            <p:cNvSpPr/>
            <p:nvPr/>
          </p:nvSpPr>
          <p:spPr>
            <a:xfrm>
              <a:off x="5079492" y="5910071"/>
              <a:ext cx="413384" cy="288290"/>
            </a:xfrm>
            <a:custGeom>
              <a:avLst/>
              <a:gdLst/>
              <a:ahLst/>
              <a:cxnLst/>
              <a:rect l="l" t="t" r="r" b="b"/>
              <a:pathLst>
                <a:path w="413385" h="288289">
                  <a:moveTo>
                    <a:pt x="344424" y="80772"/>
                  </a:moveTo>
                  <a:lnTo>
                    <a:pt x="67056" y="80772"/>
                  </a:lnTo>
                  <a:lnTo>
                    <a:pt x="67056" y="268224"/>
                  </a:lnTo>
                  <a:lnTo>
                    <a:pt x="85344" y="268224"/>
                  </a:lnTo>
                  <a:lnTo>
                    <a:pt x="85344" y="243128"/>
                  </a:lnTo>
                  <a:lnTo>
                    <a:pt x="131826" y="243128"/>
                  </a:lnTo>
                  <a:lnTo>
                    <a:pt x="131826" y="268224"/>
                  </a:lnTo>
                  <a:lnTo>
                    <a:pt x="150114" y="268224"/>
                  </a:lnTo>
                  <a:lnTo>
                    <a:pt x="150114" y="243128"/>
                  </a:lnTo>
                  <a:lnTo>
                    <a:pt x="150114" y="225082"/>
                  </a:lnTo>
                  <a:lnTo>
                    <a:pt x="85344" y="225082"/>
                  </a:lnTo>
                  <a:lnTo>
                    <a:pt x="85344" y="189001"/>
                  </a:lnTo>
                  <a:lnTo>
                    <a:pt x="131826" y="189001"/>
                  </a:lnTo>
                  <a:lnTo>
                    <a:pt x="131826" y="213321"/>
                  </a:lnTo>
                  <a:lnTo>
                    <a:pt x="150114" y="213321"/>
                  </a:lnTo>
                  <a:lnTo>
                    <a:pt x="150114" y="189001"/>
                  </a:lnTo>
                  <a:lnTo>
                    <a:pt x="150114" y="170967"/>
                  </a:lnTo>
                  <a:lnTo>
                    <a:pt x="85344" y="170967"/>
                  </a:lnTo>
                  <a:lnTo>
                    <a:pt x="85344" y="134886"/>
                  </a:lnTo>
                  <a:lnTo>
                    <a:pt x="131826" y="134886"/>
                  </a:lnTo>
                  <a:lnTo>
                    <a:pt x="131826" y="159207"/>
                  </a:lnTo>
                  <a:lnTo>
                    <a:pt x="150114" y="159207"/>
                  </a:lnTo>
                  <a:lnTo>
                    <a:pt x="150114" y="134886"/>
                  </a:lnTo>
                  <a:lnTo>
                    <a:pt x="150114" y="116865"/>
                  </a:lnTo>
                  <a:lnTo>
                    <a:pt x="85344" y="116865"/>
                  </a:lnTo>
                  <a:lnTo>
                    <a:pt x="85344" y="97243"/>
                  </a:lnTo>
                  <a:lnTo>
                    <a:pt x="327025" y="97243"/>
                  </a:lnTo>
                  <a:lnTo>
                    <a:pt x="327025" y="225082"/>
                  </a:lnTo>
                  <a:lnTo>
                    <a:pt x="262255" y="225082"/>
                  </a:lnTo>
                  <a:lnTo>
                    <a:pt x="262255" y="268224"/>
                  </a:lnTo>
                  <a:lnTo>
                    <a:pt x="280543" y="268224"/>
                  </a:lnTo>
                  <a:lnTo>
                    <a:pt x="280543" y="243128"/>
                  </a:lnTo>
                  <a:lnTo>
                    <a:pt x="327025" y="243128"/>
                  </a:lnTo>
                  <a:lnTo>
                    <a:pt x="327025" y="268224"/>
                  </a:lnTo>
                  <a:lnTo>
                    <a:pt x="344424" y="268224"/>
                  </a:lnTo>
                  <a:lnTo>
                    <a:pt x="344424" y="243128"/>
                  </a:lnTo>
                  <a:lnTo>
                    <a:pt x="344424" y="97243"/>
                  </a:lnTo>
                  <a:lnTo>
                    <a:pt x="344424" y="80772"/>
                  </a:lnTo>
                  <a:close/>
                </a:path>
                <a:path w="413385" h="288289">
                  <a:moveTo>
                    <a:pt x="413004" y="43827"/>
                  </a:moveTo>
                  <a:lnTo>
                    <a:pt x="206121" y="0"/>
                  </a:lnTo>
                  <a:lnTo>
                    <a:pt x="0" y="43827"/>
                  </a:lnTo>
                  <a:lnTo>
                    <a:pt x="0" y="288036"/>
                  </a:lnTo>
                  <a:lnTo>
                    <a:pt x="17526" y="270027"/>
                  </a:lnTo>
                  <a:lnTo>
                    <a:pt x="17526" y="58699"/>
                  </a:lnTo>
                  <a:lnTo>
                    <a:pt x="206121" y="17995"/>
                  </a:lnTo>
                  <a:lnTo>
                    <a:pt x="394589" y="58699"/>
                  </a:lnTo>
                  <a:lnTo>
                    <a:pt x="394589" y="270027"/>
                  </a:lnTo>
                  <a:lnTo>
                    <a:pt x="413004" y="288036"/>
                  </a:lnTo>
                  <a:lnTo>
                    <a:pt x="413004" y="43827"/>
                  </a:lnTo>
                  <a:close/>
                </a:path>
              </a:pathLst>
            </a:custGeom>
            <a:solidFill>
              <a:srgbClr val="FFFFFF"/>
            </a:solidFill>
          </p:spPr>
          <p:txBody>
            <a:bodyPr wrap="square" lIns="0" tIns="0" rIns="0" bIns="0" rtlCol="0"/>
            <a:lstStyle/>
            <a:p>
              <a:endParaRPr/>
            </a:p>
          </p:txBody>
        </p:sp>
      </p:grpSp>
      <p:sp>
        <p:nvSpPr>
          <p:cNvPr id="30" name="object 34">
            <a:extLst>
              <a:ext uri="{FF2B5EF4-FFF2-40B4-BE49-F238E27FC236}">
                <a16:creationId xmlns:a16="http://schemas.microsoft.com/office/drawing/2014/main" id="{8F6FE87D-66D8-029A-EB96-BB2D51662AF3}"/>
              </a:ext>
            </a:extLst>
          </p:cNvPr>
          <p:cNvSpPr txBox="1"/>
          <p:nvPr/>
        </p:nvSpPr>
        <p:spPr>
          <a:xfrm>
            <a:off x="7436611" y="6433138"/>
            <a:ext cx="531495" cy="166071"/>
          </a:xfrm>
          <a:prstGeom prst="rect">
            <a:avLst/>
          </a:prstGeom>
        </p:spPr>
        <p:txBody>
          <a:bodyPr vert="horz" wrap="square" lIns="0" tIns="12065" rIns="0" bIns="0" rtlCol="0">
            <a:spAutoFit/>
          </a:bodyPr>
          <a:lstStyle/>
          <a:p>
            <a:pPr marL="12700">
              <a:lnSpc>
                <a:spcPct val="100000"/>
              </a:lnSpc>
              <a:spcBef>
                <a:spcPts val="95"/>
              </a:spcBef>
            </a:pPr>
            <a:r>
              <a:rPr sz="1000" b="1" spc="-20" dirty="0">
                <a:solidFill>
                  <a:srgbClr val="FFFFFF"/>
                </a:solidFill>
                <a:latin typeface="Arial" panose="020B0604020202020204" pitchFamily="34" charset="0"/>
                <a:ea typeface="微软雅黑" panose="020B0503020204020204" pitchFamily="34" charset="-122"/>
                <a:cs typeface="Microsoft YaHei"/>
              </a:rPr>
              <a:t>仓储运输</a:t>
            </a:r>
            <a:endParaRPr sz="1000">
              <a:latin typeface="Arial" panose="020B0604020202020204" pitchFamily="34" charset="0"/>
              <a:ea typeface="微软雅黑" panose="020B0503020204020204" pitchFamily="34" charset="-122"/>
              <a:cs typeface="Microsoft YaHei"/>
            </a:endParaRPr>
          </a:p>
        </p:txBody>
      </p:sp>
      <p:grpSp>
        <p:nvGrpSpPr>
          <p:cNvPr id="31" name="object 35">
            <a:extLst>
              <a:ext uri="{FF2B5EF4-FFF2-40B4-BE49-F238E27FC236}">
                <a16:creationId xmlns:a16="http://schemas.microsoft.com/office/drawing/2014/main" id="{D3BB6D3C-7494-A38A-383F-0B34A2D0648B}"/>
              </a:ext>
            </a:extLst>
          </p:cNvPr>
          <p:cNvGrpSpPr/>
          <p:nvPr/>
        </p:nvGrpSpPr>
        <p:grpSpPr>
          <a:xfrm>
            <a:off x="7601711" y="5553383"/>
            <a:ext cx="1663064" cy="864235"/>
            <a:chOff x="7601711" y="5404103"/>
            <a:chExt cx="1663064" cy="864235"/>
          </a:xfrm>
        </p:grpSpPr>
        <p:sp>
          <p:nvSpPr>
            <p:cNvPr id="32" name="object 36">
              <a:extLst>
                <a:ext uri="{FF2B5EF4-FFF2-40B4-BE49-F238E27FC236}">
                  <a16:creationId xmlns:a16="http://schemas.microsoft.com/office/drawing/2014/main" id="{B2203CB1-B39E-F026-AB2C-2118E4D49845}"/>
                </a:ext>
              </a:extLst>
            </p:cNvPr>
            <p:cNvSpPr/>
            <p:nvPr/>
          </p:nvSpPr>
          <p:spPr>
            <a:xfrm>
              <a:off x="7601711" y="5929883"/>
              <a:ext cx="454659" cy="338455"/>
            </a:xfrm>
            <a:custGeom>
              <a:avLst/>
              <a:gdLst/>
              <a:ahLst/>
              <a:cxnLst/>
              <a:rect l="l" t="t" r="r" b="b"/>
              <a:pathLst>
                <a:path w="454659" h="338454">
                  <a:moveTo>
                    <a:pt x="92964" y="262978"/>
                  </a:moveTo>
                  <a:lnTo>
                    <a:pt x="53340" y="262978"/>
                  </a:lnTo>
                  <a:lnTo>
                    <a:pt x="49073" y="269237"/>
                  </a:lnTo>
                  <a:lnTo>
                    <a:pt x="45878" y="276124"/>
                  </a:lnTo>
                  <a:lnTo>
                    <a:pt x="43874" y="283529"/>
                  </a:lnTo>
                  <a:lnTo>
                    <a:pt x="43180" y="291337"/>
                  </a:lnTo>
                  <a:lnTo>
                    <a:pt x="47101" y="309615"/>
                  </a:lnTo>
                  <a:lnTo>
                    <a:pt x="57785" y="324553"/>
                  </a:lnTo>
                  <a:lnTo>
                    <a:pt x="73612" y="334630"/>
                  </a:lnTo>
                  <a:lnTo>
                    <a:pt x="92964" y="338327"/>
                  </a:lnTo>
                  <a:lnTo>
                    <a:pt x="112369" y="334630"/>
                  </a:lnTo>
                  <a:lnTo>
                    <a:pt x="128190" y="324553"/>
                  </a:lnTo>
                  <a:lnTo>
                    <a:pt x="131663" y="319684"/>
                  </a:lnTo>
                  <a:lnTo>
                    <a:pt x="92964" y="319684"/>
                  </a:lnTo>
                  <a:lnTo>
                    <a:pt x="81315" y="317451"/>
                  </a:lnTo>
                  <a:lnTo>
                    <a:pt x="71786" y="311369"/>
                  </a:lnTo>
                  <a:lnTo>
                    <a:pt x="65353" y="302357"/>
                  </a:lnTo>
                  <a:lnTo>
                    <a:pt x="62992" y="291337"/>
                  </a:lnTo>
                  <a:lnTo>
                    <a:pt x="65353" y="280316"/>
                  </a:lnTo>
                  <a:lnTo>
                    <a:pt x="71786" y="271300"/>
                  </a:lnTo>
                  <a:lnTo>
                    <a:pt x="81315" y="265213"/>
                  </a:lnTo>
                  <a:lnTo>
                    <a:pt x="92964" y="262978"/>
                  </a:lnTo>
                  <a:close/>
                </a:path>
                <a:path w="454659" h="338454">
                  <a:moveTo>
                    <a:pt x="347218" y="262978"/>
                  </a:moveTo>
                  <a:lnTo>
                    <a:pt x="307467" y="262978"/>
                  </a:lnTo>
                  <a:lnTo>
                    <a:pt x="303220" y="269237"/>
                  </a:lnTo>
                  <a:lnTo>
                    <a:pt x="300069" y="276124"/>
                  </a:lnTo>
                  <a:lnTo>
                    <a:pt x="298108" y="283529"/>
                  </a:lnTo>
                  <a:lnTo>
                    <a:pt x="297434" y="291337"/>
                  </a:lnTo>
                  <a:lnTo>
                    <a:pt x="301337" y="309615"/>
                  </a:lnTo>
                  <a:lnTo>
                    <a:pt x="311991" y="324553"/>
                  </a:lnTo>
                  <a:lnTo>
                    <a:pt x="327812" y="334630"/>
                  </a:lnTo>
                  <a:lnTo>
                    <a:pt x="347218" y="338327"/>
                  </a:lnTo>
                  <a:lnTo>
                    <a:pt x="366569" y="334630"/>
                  </a:lnTo>
                  <a:lnTo>
                    <a:pt x="382397" y="324553"/>
                  </a:lnTo>
                  <a:lnTo>
                    <a:pt x="385879" y="319684"/>
                  </a:lnTo>
                  <a:lnTo>
                    <a:pt x="347218" y="319684"/>
                  </a:lnTo>
                  <a:lnTo>
                    <a:pt x="335496" y="317451"/>
                  </a:lnTo>
                  <a:lnTo>
                    <a:pt x="325929" y="311369"/>
                  </a:lnTo>
                  <a:lnTo>
                    <a:pt x="319482" y="302357"/>
                  </a:lnTo>
                  <a:lnTo>
                    <a:pt x="317119" y="291337"/>
                  </a:lnTo>
                  <a:lnTo>
                    <a:pt x="319482" y="280316"/>
                  </a:lnTo>
                  <a:lnTo>
                    <a:pt x="325929" y="271300"/>
                  </a:lnTo>
                  <a:lnTo>
                    <a:pt x="335496" y="265213"/>
                  </a:lnTo>
                  <a:lnTo>
                    <a:pt x="347218" y="262978"/>
                  </a:lnTo>
                  <a:close/>
                </a:path>
                <a:path w="454659" h="338454">
                  <a:moveTo>
                    <a:pt x="132715" y="262978"/>
                  </a:moveTo>
                  <a:lnTo>
                    <a:pt x="92964" y="262978"/>
                  </a:lnTo>
                  <a:lnTo>
                    <a:pt x="104685" y="265213"/>
                  </a:lnTo>
                  <a:lnTo>
                    <a:pt x="114252" y="271300"/>
                  </a:lnTo>
                  <a:lnTo>
                    <a:pt x="120699" y="280316"/>
                  </a:lnTo>
                  <a:lnTo>
                    <a:pt x="123063" y="291337"/>
                  </a:lnTo>
                  <a:lnTo>
                    <a:pt x="120699" y="302357"/>
                  </a:lnTo>
                  <a:lnTo>
                    <a:pt x="114252" y="311369"/>
                  </a:lnTo>
                  <a:lnTo>
                    <a:pt x="104685" y="317451"/>
                  </a:lnTo>
                  <a:lnTo>
                    <a:pt x="92964" y="319684"/>
                  </a:lnTo>
                  <a:lnTo>
                    <a:pt x="131663" y="319684"/>
                  </a:lnTo>
                  <a:lnTo>
                    <a:pt x="138844" y="309615"/>
                  </a:lnTo>
                  <a:lnTo>
                    <a:pt x="142748" y="291337"/>
                  </a:lnTo>
                  <a:lnTo>
                    <a:pt x="142073" y="283529"/>
                  </a:lnTo>
                  <a:lnTo>
                    <a:pt x="140112" y="276124"/>
                  </a:lnTo>
                  <a:lnTo>
                    <a:pt x="136961" y="269237"/>
                  </a:lnTo>
                  <a:lnTo>
                    <a:pt x="132715" y="262978"/>
                  </a:lnTo>
                  <a:close/>
                </a:path>
                <a:path w="454659" h="338454">
                  <a:moveTo>
                    <a:pt x="386842" y="262978"/>
                  </a:moveTo>
                  <a:lnTo>
                    <a:pt x="347218" y="262978"/>
                  </a:lnTo>
                  <a:lnTo>
                    <a:pt x="358866" y="265213"/>
                  </a:lnTo>
                  <a:lnTo>
                    <a:pt x="368395" y="271300"/>
                  </a:lnTo>
                  <a:lnTo>
                    <a:pt x="374828" y="280316"/>
                  </a:lnTo>
                  <a:lnTo>
                    <a:pt x="377190" y="291337"/>
                  </a:lnTo>
                  <a:lnTo>
                    <a:pt x="374828" y="302357"/>
                  </a:lnTo>
                  <a:lnTo>
                    <a:pt x="368395" y="311369"/>
                  </a:lnTo>
                  <a:lnTo>
                    <a:pt x="358866" y="317451"/>
                  </a:lnTo>
                  <a:lnTo>
                    <a:pt x="347218" y="319684"/>
                  </a:lnTo>
                  <a:lnTo>
                    <a:pt x="385879" y="319684"/>
                  </a:lnTo>
                  <a:lnTo>
                    <a:pt x="393080" y="309615"/>
                  </a:lnTo>
                  <a:lnTo>
                    <a:pt x="397002" y="291337"/>
                  </a:lnTo>
                  <a:lnTo>
                    <a:pt x="396307" y="283529"/>
                  </a:lnTo>
                  <a:lnTo>
                    <a:pt x="394303" y="276124"/>
                  </a:lnTo>
                  <a:lnTo>
                    <a:pt x="391108" y="269237"/>
                  </a:lnTo>
                  <a:lnTo>
                    <a:pt x="386842" y="262978"/>
                  </a:lnTo>
                  <a:close/>
                </a:path>
                <a:path w="454659" h="338454">
                  <a:moveTo>
                    <a:pt x="351790" y="35242"/>
                  </a:moveTo>
                  <a:lnTo>
                    <a:pt x="259588" y="35242"/>
                  </a:lnTo>
                  <a:lnTo>
                    <a:pt x="259588" y="196303"/>
                  </a:lnTo>
                  <a:lnTo>
                    <a:pt x="0" y="196303"/>
                  </a:lnTo>
                  <a:lnTo>
                    <a:pt x="0" y="262978"/>
                  </a:lnTo>
                  <a:lnTo>
                    <a:pt x="454152" y="262978"/>
                  </a:lnTo>
                  <a:lnTo>
                    <a:pt x="454152" y="244347"/>
                  </a:lnTo>
                  <a:lnTo>
                    <a:pt x="18542" y="244347"/>
                  </a:lnTo>
                  <a:lnTo>
                    <a:pt x="18542" y="213829"/>
                  </a:lnTo>
                  <a:lnTo>
                    <a:pt x="279400" y="213829"/>
                  </a:lnTo>
                  <a:lnTo>
                    <a:pt x="279400" y="53949"/>
                  </a:lnTo>
                  <a:lnTo>
                    <a:pt x="372064" y="53949"/>
                  </a:lnTo>
                  <a:lnTo>
                    <a:pt x="351790" y="35242"/>
                  </a:lnTo>
                  <a:close/>
                </a:path>
                <a:path w="454659" h="338454">
                  <a:moveTo>
                    <a:pt x="279400" y="213829"/>
                  </a:moveTo>
                  <a:lnTo>
                    <a:pt x="259588" y="213829"/>
                  </a:lnTo>
                  <a:lnTo>
                    <a:pt x="259588" y="244347"/>
                  </a:lnTo>
                  <a:lnTo>
                    <a:pt x="279400" y="244347"/>
                  </a:lnTo>
                  <a:lnTo>
                    <a:pt x="279400" y="213829"/>
                  </a:lnTo>
                  <a:close/>
                </a:path>
                <a:path w="454659" h="338454">
                  <a:moveTo>
                    <a:pt x="372064" y="53949"/>
                  </a:moveTo>
                  <a:lnTo>
                    <a:pt x="342519" y="53949"/>
                  </a:lnTo>
                  <a:lnTo>
                    <a:pt x="434467" y="136385"/>
                  </a:lnTo>
                  <a:lnTo>
                    <a:pt x="434467" y="244347"/>
                  </a:lnTo>
                  <a:lnTo>
                    <a:pt x="454152" y="244347"/>
                  </a:lnTo>
                  <a:lnTo>
                    <a:pt x="454152" y="129692"/>
                  </a:lnTo>
                  <a:lnTo>
                    <a:pt x="372064" y="53949"/>
                  </a:lnTo>
                  <a:close/>
                </a:path>
                <a:path w="454659" h="338454">
                  <a:moveTo>
                    <a:pt x="240284" y="100964"/>
                  </a:moveTo>
                  <a:lnTo>
                    <a:pt x="0" y="100964"/>
                  </a:lnTo>
                  <a:lnTo>
                    <a:pt x="0" y="180949"/>
                  </a:lnTo>
                  <a:lnTo>
                    <a:pt x="240284" y="180949"/>
                  </a:lnTo>
                  <a:lnTo>
                    <a:pt x="240284" y="162318"/>
                  </a:lnTo>
                  <a:lnTo>
                    <a:pt x="19685" y="162318"/>
                  </a:lnTo>
                  <a:lnTo>
                    <a:pt x="19685" y="119608"/>
                  </a:lnTo>
                  <a:lnTo>
                    <a:pt x="240284" y="119608"/>
                  </a:lnTo>
                  <a:lnTo>
                    <a:pt x="240284" y="100964"/>
                  </a:lnTo>
                  <a:close/>
                </a:path>
                <a:path w="454659" h="338454">
                  <a:moveTo>
                    <a:pt x="240284" y="119608"/>
                  </a:moveTo>
                  <a:lnTo>
                    <a:pt x="220472" y="119608"/>
                  </a:lnTo>
                  <a:lnTo>
                    <a:pt x="220472" y="162318"/>
                  </a:lnTo>
                  <a:lnTo>
                    <a:pt x="240284" y="162318"/>
                  </a:lnTo>
                  <a:lnTo>
                    <a:pt x="240284" y="119608"/>
                  </a:lnTo>
                  <a:close/>
                </a:path>
                <a:path w="454659" h="338454">
                  <a:moveTo>
                    <a:pt x="338455" y="74167"/>
                  </a:moveTo>
                  <a:lnTo>
                    <a:pt x="294767" y="74167"/>
                  </a:lnTo>
                  <a:lnTo>
                    <a:pt x="294767" y="137960"/>
                  </a:lnTo>
                  <a:lnTo>
                    <a:pt x="405765" y="137960"/>
                  </a:lnTo>
                  <a:lnTo>
                    <a:pt x="387272" y="120434"/>
                  </a:lnTo>
                  <a:lnTo>
                    <a:pt x="313436" y="120434"/>
                  </a:lnTo>
                  <a:lnTo>
                    <a:pt x="313436" y="91681"/>
                  </a:lnTo>
                  <a:lnTo>
                    <a:pt x="356934" y="91681"/>
                  </a:lnTo>
                  <a:lnTo>
                    <a:pt x="338455" y="74167"/>
                  </a:lnTo>
                  <a:close/>
                </a:path>
                <a:path w="454659" h="338454">
                  <a:moveTo>
                    <a:pt x="356934" y="91681"/>
                  </a:moveTo>
                  <a:lnTo>
                    <a:pt x="330708" y="91681"/>
                  </a:lnTo>
                  <a:lnTo>
                    <a:pt x="361061" y="120434"/>
                  </a:lnTo>
                  <a:lnTo>
                    <a:pt x="387272" y="120434"/>
                  </a:lnTo>
                  <a:lnTo>
                    <a:pt x="356934" y="91681"/>
                  </a:lnTo>
                  <a:close/>
                </a:path>
                <a:path w="454659" h="338454">
                  <a:moveTo>
                    <a:pt x="107696" y="0"/>
                  </a:moveTo>
                  <a:lnTo>
                    <a:pt x="0" y="0"/>
                  </a:lnTo>
                  <a:lnTo>
                    <a:pt x="0" y="81978"/>
                  </a:lnTo>
                  <a:lnTo>
                    <a:pt x="107696" y="81978"/>
                  </a:lnTo>
                  <a:lnTo>
                    <a:pt x="107696" y="63271"/>
                  </a:lnTo>
                  <a:lnTo>
                    <a:pt x="19685" y="63271"/>
                  </a:lnTo>
                  <a:lnTo>
                    <a:pt x="19685" y="18643"/>
                  </a:lnTo>
                  <a:lnTo>
                    <a:pt x="107696" y="18643"/>
                  </a:lnTo>
                  <a:lnTo>
                    <a:pt x="107696" y="0"/>
                  </a:lnTo>
                  <a:close/>
                </a:path>
                <a:path w="454659" h="338454">
                  <a:moveTo>
                    <a:pt x="240284" y="0"/>
                  </a:moveTo>
                  <a:lnTo>
                    <a:pt x="132588" y="0"/>
                  </a:lnTo>
                  <a:lnTo>
                    <a:pt x="132588" y="81978"/>
                  </a:lnTo>
                  <a:lnTo>
                    <a:pt x="240284" y="81978"/>
                  </a:lnTo>
                  <a:lnTo>
                    <a:pt x="240284" y="63271"/>
                  </a:lnTo>
                  <a:lnTo>
                    <a:pt x="152273" y="63271"/>
                  </a:lnTo>
                  <a:lnTo>
                    <a:pt x="152273" y="18643"/>
                  </a:lnTo>
                  <a:lnTo>
                    <a:pt x="240284" y="18643"/>
                  </a:lnTo>
                  <a:lnTo>
                    <a:pt x="240284" y="0"/>
                  </a:lnTo>
                  <a:close/>
                </a:path>
                <a:path w="454659" h="338454">
                  <a:moveTo>
                    <a:pt x="107696" y="18643"/>
                  </a:moveTo>
                  <a:lnTo>
                    <a:pt x="87884" y="18643"/>
                  </a:lnTo>
                  <a:lnTo>
                    <a:pt x="87884" y="63271"/>
                  </a:lnTo>
                  <a:lnTo>
                    <a:pt x="107696" y="63271"/>
                  </a:lnTo>
                  <a:lnTo>
                    <a:pt x="107696" y="18643"/>
                  </a:lnTo>
                  <a:close/>
                </a:path>
                <a:path w="454659" h="338454">
                  <a:moveTo>
                    <a:pt x="240284" y="18643"/>
                  </a:moveTo>
                  <a:lnTo>
                    <a:pt x="220472" y="18643"/>
                  </a:lnTo>
                  <a:lnTo>
                    <a:pt x="220472" y="63271"/>
                  </a:lnTo>
                  <a:lnTo>
                    <a:pt x="240284" y="63271"/>
                  </a:lnTo>
                  <a:lnTo>
                    <a:pt x="240284" y="18643"/>
                  </a:lnTo>
                  <a:close/>
                </a:path>
              </a:pathLst>
            </a:custGeom>
            <a:solidFill>
              <a:srgbClr val="FFFFFF"/>
            </a:solidFill>
          </p:spPr>
          <p:txBody>
            <a:bodyPr wrap="square" lIns="0" tIns="0" rIns="0" bIns="0" rtlCol="0"/>
            <a:lstStyle/>
            <a:p>
              <a:endParaRPr/>
            </a:p>
          </p:txBody>
        </p:sp>
        <p:pic>
          <p:nvPicPr>
            <p:cNvPr id="33" name="object 37">
              <a:extLst>
                <a:ext uri="{FF2B5EF4-FFF2-40B4-BE49-F238E27FC236}">
                  <a16:creationId xmlns:a16="http://schemas.microsoft.com/office/drawing/2014/main" id="{85173EA4-28F5-C7A6-769B-BD0C3CBEFB5F}"/>
                </a:ext>
              </a:extLst>
            </p:cNvPr>
            <p:cNvPicPr/>
            <p:nvPr/>
          </p:nvPicPr>
          <p:blipFill>
            <a:blip r:embed="rId8" cstate="print"/>
            <a:stretch>
              <a:fillRect/>
            </a:stretch>
          </p:blipFill>
          <p:spPr>
            <a:xfrm>
              <a:off x="8910827" y="5404103"/>
              <a:ext cx="353568" cy="335280"/>
            </a:xfrm>
            <a:prstGeom prst="rect">
              <a:avLst/>
            </a:prstGeom>
          </p:spPr>
        </p:pic>
      </p:grpSp>
      <p:sp>
        <p:nvSpPr>
          <p:cNvPr id="34" name="object 38">
            <a:extLst>
              <a:ext uri="{FF2B5EF4-FFF2-40B4-BE49-F238E27FC236}">
                <a16:creationId xmlns:a16="http://schemas.microsoft.com/office/drawing/2014/main" id="{8AA3941D-22CE-E9A5-4EA5-7B55E2BE8018}"/>
              </a:ext>
            </a:extLst>
          </p:cNvPr>
          <p:cNvSpPr txBox="1"/>
          <p:nvPr/>
        </p:nvSpPr>
        <p:spPr>
          <a:xfrm>
            <a:off x="8823197" y="5948811"/>
            <a:ext cx="531495" cy="166071"/>
          </a:xfrm>
          <a:prstGeom prst="rect">
            <a:avLst/>
          </a:prstGeom>
        </p:spPr>
        <p:txBody>
          <a:bodyPr vert="horz" wrap="square" lIns="0" tIns="12065" rIns="0" bIns="0" rtlCol="0">
            <a:spAutoFit/>
          </a:bodyPr>
          <a:lstStyle/>
          <a:p>
            <a:pPr marL="12700">
              <a:lnSpc>
                <a:spcPct val="100000"/>
              </a:lnSpc>
              <a:spcBef>
                <a:spcPts val="95"/>
              </a:spcBef>
            </a:pPr>
            <a:r>
              <a:rPr sz="1000" b="1" spc="-20" dirty="0">
                <a:solidFill>
                  <a:srgbClr val="FFFFFF"/>
                </a:solidFill>
                <a:latin typeface="Arial" panose="020B0604020202020204" pitchFamily="34" charset="0"/>
                <a:ea typeface="微软雅黑" panose="020B0503020204020204" pitchFamily="34" charset="-122"/>
                <a:cs typeface="Microsoft YaHei"/>
              </a:rPr>
              <a:t>终端用户</a:t>
            </a:r>
            <a:endParaRPr sz="1000">
              <a:latin typeface="Arial" panose="020B0604020202020204" pitchFamily="34" charset="0"/>
              <a:ea typeface="微软雅黑" panose="020B0503020204020204" pitchFamily="34" charset="-122"/>
              <a:cs typeface="Microsoft YaHei"/>
            </a:endParaRPr>
          </a:p>
        </p:txBody>
      </p:sp>
      <p:sp>
        <p:nvSpPr>
          <p:cNvPr id="35" name="object 40">
            <a:extLst>
              <a:ext uri="{FF2B5EF4-FFF2-40B4-BE49-F238E27FC236}">
                <a16:creationId xmlns:a16="http://schemas.microsoft.com/office/drawing/2014/main" id="{2961B8DC-AD45-66AE-206B-2346F194E34E}"/>
              </a:ext>
            </a:extLst>
          </p:cNvPr>
          <p:cNvSpPr/>
          <p:nvPr/>
        </p:nvSpPr>
        <p:spPr>
          <a:xfrm>
            <a:off x="2100072" y="2016180"/>
            <a:ext cx="0" cy="687070"/>
          </a:xfrm>
          <a:custGeom>
            <a:avLst/>
            <a:gdLst/>
            <a:ahLst/>
            <a:cxnLst/>
            <a:rect l="l" t="t" r="r" b="b"/>
            <a:pathLst>
              <a:path h="687069">
                <a:moveTo>
                  <a:pt x="0" y="686942"/>
                </a:moveTo>
                <a:lnTo>
                  <a:pt x="0" y="0"/>
                </a:lnTo>
              </a:path>
            </a:pathLst>
          </a:custGeom>
          <a:ln w="12700">
            <a:solidFill>
              <a:srgbClr val="40A9D2"/>
            </a:solidFill>
            <a:prstDash val="sysDash"/>
          </a:ln>
        </p:spPr>
        <p:txBody>
          <a:bodyPr wrap="square" lIns="0" tIns="0" rIns="0" bIns="0" rtlCol="0"/>
          <a:lstStyle/>
          <a:p>
            <a:endParaRPr/>
          </a:p>
        </p:txBody>
      </p:sp>
      <p:sp>
        <p:nvSpPr>
          <p:cNvPr id="36" name="object 41">
            <a:extLst>
              <a:ext uri="{FF2B5EF4-FFF2-40B4-BE49-F238E27FC236}">
                <a16:creationId xmlns:a16="http://schemas.microsoft.com/office/drawing/2014/main" id="{0B68376C-9779-A78D-2B61-D31D54E0507B}"/>
              </a:ext>
            </a:extLst>
          </p:cNvPr>
          <p:cNvSpPr txBox="1"/>
          <p:nvPr/>
        </p:nvSpPr>
        <p:spPr>
          <a:xfrm>
            <a:off x="4498975" y="2690550"/>
            <a:ext cx="635000" cy="391160"/>
          </a:xfrm>
          <a:prstGeom prst="rect">
            <a:avLst/>
          </a:prstGeom>
        </p:spPr>
        <p:txBody>
          <a:bodyPr vert="horz" wrap="square" lIns="0" tIns="12700" rIns="0" bIns="0" rtlCol="0">
            <a:spAutoFit/>
          </a:bodyPr>
          <a:lstStyle/>
          <a:p>
            <a:pPr marL="12700" marR="5080" indent="152400">
              <a:lnSpc>
                <a:spcPct val="100000"/>
              </a:lnSpc>
              <a:spcBef>
                <a:spcPts val="100"/>
              </a:spcBef>
            </a:pPr>
            <a:r>
              <a:rPr lang="zh-CN" altLang="en-US" sz="1200" b="1" spc="-25" dirty="0">
                <a:solidFill>
                  <a:srgbClr val="FFFFFF"/>
                </a:solidFill>
                <a:latin typeface="Arial" panose="020B0604020202020204" pitchFamily="34" charset="0"/>
                <a:ea typeface="微软雅黑" panose="020B0503020204020204" pitchFamily="34" charset="-122"/>
                <a:cs typeface="Microsoft YaHei"/>
              </a:rPr>
              <a:t>智能</a:t>
            </a:r>
            <a:r>
              <a:rPr sz="1200" b="1" spc="-50" dirty="0">
                <a:solidFill>
                  <a:srgbClr val="FFFFFF"/>
                </a:solidFill>
                <a:latin typeface="Arial" panose="020B0604020202020204" pitchFamily="34" charset="0"/>
                <a:ea typeface="微软雅黑" panose="020B0503020204020204" pitchFamily="34" charset="-122"/>
                <a:cs typeface="Microsoft YaHei"/>
              </a:rPr>
              <a:t> </a:t>
            </a:r>
            <a:r>
              <a:rPr lang="zh-CN" altLang="en-US" sz="1200" b="1" spc="-15" dirty="0">
                <a:solidFill>
                  <a:srgbClr val="FFFFFF"/>
                </a:solidFill>
                <a:latin typeface="Arial" panose="020B0604020202020204" pitchFamily="34" charset="0"/>
                <a:ea typeface="微软雅黑" panose="020B0503020204020204" pitchFamily="34" charset="-122"/>
                <a:cs typeface="Microsoft YaHei"/>
              </a:rPr>
              <a:t>资源</a:t>
            </a:r>
            <a:r>
              <a:rPr sz="1200" b="1" spc="-15" dirty="0" err="1">
                <a:solidFill>
                  <a:srgbClr val="FFFFFF"/>
                </a:solidFill>
                <a:latin typeface="Arial" panose="020B0604020202020204" pitchFamily="34" charset="0"/>
                <a:ea typeface="微软雅黑" panose="020B0503020204020204" pitchFamily="34" charset="-122"/>
                <a:cs typeface="Microsoft YaHei"/>
              </a:rPr>
              <a:t>分配</a:t>
            </a:r>
            <a:endParaRPr sz="1200" dirty="0">
              <a:latin typeface="Arial" panose="020B0604020202020204" pitchFamily="34" charset="0"/>
              <a:ea typeface="微软雅黑" panose="020B0503020204020204" pitchFamily="34" charset="-122"/>
              <a:cs typeface="Microsoft YaHei"/>
            </a:endParaRPr>
          </a:p>
        </p:txBody>
      </p:sp>
      <p:sp>
        <p:nvSpPr>
          <p:cNvPr id="37" name="object 42">
            <a:extLst>
              <a:ext uri="{FF2B5EF4-FFF2-40B4-BE49-F238E27FC236}">
                <a16:creationId xmlns:a16="http://schemas.microsoft.com/office/drawing/2014/main" id="{579A85DE-6823-597B-38E0-1EE6FD85592D}"/>
              </a:ext>
            </a:extLst>
          </p:cNvPr>
          <p:cNvSpPr txBox="1"/>
          <p:nvPr/>
        </p:nvSpPr>
        <p:spPr>
          <a:xfrm>
            <a:off x="5400294" y="3804847"/>
            <a:ext cx="203835" cy="452755"/>
          </a:xfrm>
          <a:prstGeom prst="rect">
            <a:avLst/>
          </a:prstGeom>
        </p:spPr>
        <p:txBody>
          <a:bodyPr vert="horz" wrap="square" lIns="0" tIns="12700" rIns="0" bIns="0" rtlCol="0">
            <a:spAutoFit/>
          </a:bodyPr>
          <a:lstStyle/>
          <a:p>
            <a:pPr marL="12700" marR="5080">
              <a:lnSpc>
                <a:spcPct val="100000"/>
              </a:lnSpc>
              <a:spcBef>
                <a:spcPts val="100"/>
              </a:spcBef>
            </a:pPr>
            <a:r>
              <a:rPr sz="1400" b="1" spc="-50" dirty="0">
                <a:solidFill>
                  <a:srgbClr val="FFFFFF"/>
                </a:solidFill>
                <a:latin typeface="Arial" panose="020B0604020202020204" pitchFamily="34" charset="0"/>
                <a:ea typeface="微软雅黑" panose="020B0503020204020204" pitchFamily="34" charset="-122"/>
                <a:cs typeface="Microsoft YaHei"/>
              </a:rPr>
              <a:t>从预</a:t>
            </a:r>
            <a:endParaRPr sz="1400" dirty="0">
              <a:latin typeface="Arial" panose="020B0604020202020204" pitchFamily="34" charset="0"/>
              <a:ea typeface="微软雅黑" panose="020B0503020204020204" pitchFamily="34" charset="-122"/>
              <a:cs typeface="Microsoft YaHei"/>
            </a:endParaRPr>
          </a:p>
        </p:txBody>
      </p:sp>
      <p:sp>
        <p:nvSpPr>
          <p:cNvPr id="38" name="object 43">
            <a:extLst>
              <a:ext uri="{FF2B5EF4-FFF2-40B4-BE49-F238E27FC236}">
                <a16:creationId xmlns:a16="http://schemas.microsoft.com/office/drawing/2014/main" id="{57F5281B-8A18-36E4-536B-87D4E512A25C}"/>
              </a:ext>
            </a:extLst>
          </p:cNvPr>
          <p:cNvSpPr txBox="1"/>
          <p:nvPr/>
        </p:nvSpPr>
        <p:spPr>
          <a:xfrm>
            <a:off x="5400294" y="4231568"/>
            <a:ext cx="203835" cy="228268"/>
          </a:xfrm>
          <a:prstGeom prst="rect">
            <a:avLst/>
          </a:prstGeom>
        </p:spPr>
        <p:txBody>
          <a:bodyPr vert="horz" wrap="square" lIns="0" tIns="12700" rIns="0" bIns="0" rtlCol="0">
            <a:spAutoFit/>
          </a:bodyPr>
          <a:lstStyle/>
          <a:p>
            <a:pPr marL="12700">
              <a:lnSpc>
                <a:spcPct val="100000"/>
              </a:lnSpc>
              <a:spcBef>
                <a:spcPts val="100"/>
              </a:spcBef>
            </a:pPr>
            <a:r>
              <a:rPr sz="1400" b="1" spc="-50" dirty="0">
                <a:solidFill>
                  <a:srgbClr val="FFFFFF"/>
                </a:solidFill>
                <a:latin typeface="Arial" panose="020B0604020202020204" pitchFamily="34" charset="0"/>
                <a:ea typeface="微软雅黑" panose="020B0503020204020204" pitchFamily="34" charset="-122"/>
                <a:cs typeface="Microsoft YaHei"/>
              </a:rPr>
              <a:t>测</a:t>
            </a:r>
            <a:endParaRPr sz="1400">
              <a:latin typeface="Arial" panose="020B0604020202020204" pitchFamily="34" charset="0"/>
              <a:ea typeface="微软雅黑" panose="020B0503020204020204" pitchFamily="34" charset="-122"/>
              <a:cs typeface="Microsoft YaHei"/>
            </a:endParaRPr>
          </a:p>
        </p:txBody>
      </p:sp>
      <p:sp>
        <p:nvSpPr>
          <p:cNvPr id="39" name="object 44">
            <a:extLst>
              <a:ext uri="{FF2B5EF4-FFF2-40B4-BE49-F238E27FC236}">
                <a16:creationId xmlns:a16="http://schemas.microsoft.com/office/drawing/2014/main" id="{2459446E-2004-7A9C-A341-ECDA3096AD5E}"/>
              </a:ext>
            </a:extLst>
          </p:cNvPr>
          <p:cNvSpPr txBox="1"/>
          <p:nvPr/>
        </p:nvSpPr>
        <p:spPr>
          <a:xfrm>
            <a:off x="5400294" y="4658288"/>
            <a:ext cx="203835" cy="435889"/>
          </a:xfrm>
          <a:prstGeom prst="rect">
            <a:avLst/>
          </a:prstGeom>
        </p:spPr>
        <p:txBody>
          <a:bodyPr vert="horz" wrap="square" lIns="0" tIns="11430" rIns="0" bIns="0" rtlCol="0">
            <a:spAutoFit/>
          </a:bodyPr>
          <a:lstStyle/>
          <a:p>
            <a:pPr marL="12700" marR="5080">
              <a:lnSpc>
                <a:spcPct val="100800"/>
              </a:lnSpc>
              <a:spcBef>
                <a:spcPts val="90"/>
              </a:spcBef>
            </a:pPr>
            <a:r>
              <a:rPr sz="1400" b="1" spc="-50" dirty="0">
                <a:solidFill>
                  <a:srgbClr val="FFFFFF"/>
                </a:solidFill>
                <a:latin typeface="Arial" panose="020B0604020202020204" pitchFamily="34" charset="0"/>
                <a:ea typeface="微软雅黑" panose="020B0503020204020204" pitchFamily="34" charset="-122"/>
                <a:cs typeface="Microsoft YaHei"/>
              </a:rPr>
              <a:t>供给</a:t>
            </a:r>
            <a:endParaRPr sz="1400">
              <a:latin typeface="Arial" panose="020B0604020202020204" pitchFamily="34" charset="0"/>
              <a:ea typeface="微软雅黑" panose="020B0503020204020204" pitchFamily="34" charset="-122"/>
              <a:cs typeface="Microsoft YaHei"/>
            </a:endParaRPr>
          </a:p>
        </p:txBody>
      </p:sp>
      <p:grpSp>
        <p:nvGrpSpPr>
          <p:cNvPr id="40" name="object 45">
            <a:extLst>
              <a:ext uri="{FF2B5EF4-FFF2-40B4-BE49-F238E27FC236}">
                <a16:creationId xmlns:a16="http://schemas.microsoft.com/office/drawing/2014/main" id="{E5910570-1A30-5D45-0E9C-E628C33951ED}"/>
              </a:ext>
            </a:extLst>
          </p:cNvPr>
          <p:cNvGrpSpPr/>
          <p:nvPr/>
        </p:nvGrpSpPr>
        <p:grpSpPr>
          <a:xfrm>
            <a:off x="4750626" y="3517599"/>
            <a:ext cx="3488436" cy="2500316"/>
            <a:chOff x="4705696" y="3368040"/>
            <a:chExt cx="3488436" cy="2500316"/>
          </a:xfrm>
        </p:grpSpPr>
        <p:sp>
          <p:nvSpPr>
            <p:cNvPr id="41" name="object 46">
              <a:extLst>
                <a:ext uri="{FF2B5EF4-FFF2-40B4-BE49-F238E27FC236}">
                  <a16:creationId xmlns:a16="http://schemas.microsoft.com/office/drawing/2014/main" id="{703F3626-612B-2981-C8DC-1FC5C96476D4}"/>
                </a:ext>
              </a:extLst>
            </p:cNvPr>
            <p:cNvSpPr/>
            <p:nvPr/>
          </p:nvSpPr>
          <p:spPr>
            <a:xfrm>
              <a:off x="5925312" y="3368040"/>
              <a:ext cx="1140460" cy="1763395"/>
            </a:xfrm>
            <a:custGeom>
              <a:avLst/>
              <a:gdLst/>
              <a:ahLst/>
              <a:cxnLst/>
              <a:rect l="l" t="t" r="r" b="b"/>
              <a:pathLst>
                <a:path w="1140459" h="1763395">
                  <a:moveTo>
                    <a:pt x="506857" y="0"/>
                  </a:moveTo>
                  <a:lnTo>
                    <a:pt x="116839" y="603631"/>
                  </a:lnTo>
                  <a:lnTo>
                    <a:pt x="311785" y="603631"/>
                  </a:lnTo>
                  <a:lnTo>
                    <a:pt x="309596" y="656078"/>
                  </a:lnTo>
                  <a:lnTo>
                    <a:pt x="306607" y="708432"/>
                  </a:lnTo>
                  <a:lnTo>
                    <a:pt x="302800" y="760652"/>
                  </a:lnTo>
                  <a:lnTo>
                    <a:pt x="298157" y="812702"/>
                  </a:lnTo>
                  <a:lnTo>
                    <a:pt x="292660" y="864543"/>
                  </a:lnTo>
                  <a:lnTo>
                    <a:pt x="286293" y="916138"/>
                  </a:lnTo>
                  <a:lnTo>
                    <a:pt x="279038" y="967448"/>
                  </a:lnTo>
                  <a:lnTo>
                    <a:pt x="270876" y="1018436"/>
                  </a:lnTo>
                  <a:lnTo>
                    <a:pt x="261792" y="1069064"/>
                  </a:lnTo>
                  <a:lnTo>
                    <a:pt x="251766" y="1119293"/>
                  </a:lnTo>
                  <a:lnTo>
                    <a:pt x="240782" y="1169086"/>
                  </a:lnTo>
                  <a:lnTo>
                    <a:pt x="228822" y="1218406"/>
                  </a:lnTo>
                  <a:lnTo>
                    <a:pt x="215868" y="1267213"/>
                  </a:lnTo>
                  <a:lnTo>
                    <a:pt x="201903" y="1315470"/>
                  </a:lnTo>
                  <a:lnTo>
                    <a:pt x="186910" y="1363140"/>
                  </a:lnTo>
                  <a:lnTo>
                    <a:pt x="170871" y="1410184"/>
                  </a:lnTo>
                  <a:lnTo>
                    <a:pt x="153768" y="1456564"/>
                  </a:lnTo>
                  <a:lnTo>
                    <a:pt x="135584" y="1502243"/>
                  </a:lnTo>
                  <a:lnTo>
                    <a:pt x="116301" y="1547182"/>
                  </a:lnTo>
                  <a:lnTo>
                    <a:pt x="95902" y="1591344"/>
                  </a:lnTo>
                  <a:lnTo>
                    <a:pt x="74369" y="1634690"/>
                  </a:lnTo>
                  <a:lnTo>
                    <a:pt x="51685" y="1677183"/>
                  </a:lnTo>
                  <a:lnTo>
                    <a:pt x="27833" y="1718785"/>
                  </a:lnTo>
                  <a:lnTo>
                    <a:pt x="2793" y="1759458"/>
                  </a:lnTo>
                  <a:lnTo>
                    <a:pt x="0" y="1763268"/>
                  </a:lnTo>
                  <a:lnTo>
                    <a:pt x="188849" y="1754251"/>
                  </a:lnTo>
                  <a:lnTo>
                    <a:pt x="240541" y="1752689"/>
                  </a:lnTo>
                  <a:lnTo>
                    <a:pt x="344442" y="1750107"/>
                  </a:lnTo>
                  <a:lnTo>
                    <a:pt x="448996" y="1748252"/>
                  </a:lnTo>
                  <a:lnTo>
                    <a:pt x="554159" y="1747132"/>
                  </a:lnTo>
                  <a:lnTo>
                    <a:pt x="659891" y="1746758"/>
                  </a:lnTo>
                  <a:lnTo>
                    <a:pt x="765608" y="1747132"/>
                  </a:lnTo>
                  <a:lnTo>
                    <a:pt x="870734" y="1748252"/>
                  </a:lnTo>
                  <a:lnTo>
                    <a:pt x="975247" y="1750107"/>
                  </a:lnTo>
                  <a:lnTo>
                    <a:pt x="1079119" y="1752689"/>
                  </a:lnTo>
                  <a:lnTo>
                    <a:pt x="1139952" y="1754632"/>
                  </a:lnTo>
                  <a:lnTo>
                    <a:pt x="1087882" y="1691767"/>
                  </a:lnTo>
                  <a:lnTo>
                    <a:pt x="1063100" y="1658115"/>
                  </a:lnTo>
                  <a:lnTo>
                    <a:pt x="1038554" y="1623310"/>
                  </a:lnTo>
                  <a:lnTo>
                    <a:pt x="1014316" y="1587368"/>
                  </a:lnTo>
                  <a:lnTo>
                    <a:pt x="990456" y="1550310"/>
                  </a:lnTo>
                  <a:lnTo>
                    <a:pt x="967045" y="1512153"/>
                  </a:lnTo>
                  <a:lnTo>
                    <a:pt x="944153" y="1472918"/>
                  </a:lnTo>
                  <a:lnTo>
                    <a:pt x="921852" y="1432622"/>
                  </a:lnTo>
                  <a:lnTo>
                    <a:pt x="900213" y="1391284"/>
                  </a:lnTo>
                  <a:lnTo>
                    <a:pt x="879306" y="1348925"/>
                  </a:lnTo>
                  <a:lnTo>
                    <a:pt x="859203" y="1305561"/>
                  </a:lnTo>
                  <a:lnTo>
                    <a:pt x="839974" y="1261212"/>
                  </a:lnTo>
                  <a:lnTo>
                    <a:pt x="821689" y="1215897"/>
                  </a:lnTo>
                  <a:lnTo>
                    <a:pt x="804421" y="1169636"/>
                  </a:lnTo>
                  <a:lnTo>
                    <a:pt x="788240" y="1122445"/>
                  </a:lnTo>
                  <a:lnTo>
                    <a:pt x="773217" y="1074346"/>
                  </a:lnTo>
                  <a:lnTo>
                    <a:pt x="759422" y="1025355"/>
                  </a:lnTo>
                  <a:lnTo>
                    <a:pt x="746927" y="975493"/>
                  </a:lnTo>
                  <a:lnTo>
                    <a:pt x="735802" y="924778"/>
                  </a:lnTo>
                  <a:lnTo>
                    <a:pt x="726118" y="873229"/>
                  </a:lnTo>
                  <a:lnTo>
                    <a:pt x="717947" y="820864"/>
                  </a:lnTo>
                  <a:lnTo>
                    <a:pt x="711359" y="767703"/>
                  </a:lnTo>
                  <a:lnTo>
                    <a:pt x="706425" y="713765"/>
                  </a:lnTo>
                  <a:lnTo>
                    <a:pt x="703215" y="659067"/>
                  </a:lnTo>
                  <a:lnTo>
                    <a:pt x="701802" y="603631"/>
                  </a:lnTo>
                  <a:lnTo>
                    <a:pt x="896746" y="603631"/>
                  </a:lnTo>
                  <a:lnTo>
                    <a:pt x="506857" y="0"/>
                  </a:lnTo>
                  <a:close/>
                </a:path>
              </a:pathLst>
            </a:custGeom>
            <a:solidFill>
              <a:srgbClr val="9DC3E6">
                <a:alpha val="30195"/>
              </a:srgbClr>
            </a:solidFill>
          </p:spPr>
          <p:txBody>
            <a:bodyPr wrap="square" lIns="0" tIns="0" rIns="0" bIns="0" rtlCol="0"/>
            <a:lstStyle/>
            <a:p>
              <a:endParaRPr dirty="0"/>
            </a:p>
          </p:txBody>
        </p:sp>
        <p:pic>
          <p:nvPicPr>
            <p:cNvPr id="42" name="object 47">
              <a:extLst>
                <a:ext uri="{FF2B5EF4-FFF2-40B4-BE49-F238E27FC236}">
                  <a16:creationId xmlns:a16="http://schemas.microsoft.com/office/drawing/2014/main" id="{10C1D824-E334-0B10-9D79-19217625DAFA}"/>
                </a:ext>
              </a:extLst>
            </p:cNvPr>
            <p:cNvPicPr/>
            <p:nvPr/>
          </p:nvPicPr>
          <p:blipFill>
            <a:blip r:embed="rId9" cstate="print"/>
            <a:stretch>
              <a:fillRect/>
            </a:stretch>
          </p:blipFill>
          <p:spPr>
            <a:xfrm>
              <a:off x="4705696" y="5031681"/>
              <a:ext cx="3488436" cy="836675"/>
            </a:xfrm>
            <a:prstGeom prst="rect">
              <a:avLst/>
            </a:prstGeom>
          </p:spPr>
        </p:pic>
      </p:grpSp>
      <p:sp>
        <p:nvSpPr>
          <p:cNvPr id="44" name="object 39">
            <a:extLst>
              <a:ext uri="{FF2B5EF4-FFF2-40B4-BE49-F238E27FC236}">
                <a16:creationId xmlns:a16="http://schemas.microsoft.com/office/drawing/2014/main" id="{0D116645-8BC3-FD7D-B59E-3217F1A1312C}"/>
              </a:ext>
            </a:extLst>
          </p:cNvPr>
          <p:cNvSpPr/>
          <p:nvPr/>
        </p:nvSpPr>
        <p:spPr>
          <a:xfrm>
            <a:off x="1247139" y="2016180"/>
            <a:ext cx="127000" cy="694055"/>
          </a:xfrm>
          <a:custGeom>
            <a:avLst/>
            <a:gdLst/>
            <a:ahLst/>
            <a:cxnLst/>
            <a:rect l="l" t="t" r="r" b="b"/>
            <a:pathLst>
              <a:path w="127000" h="694055">
                <a:moveTo>
                  <a:pt x="69850" y="655827"/>
                </a:moveTo>
                <a:lnTo>
                  <a:pt x="57150" y="655827"/>
                </a:lnTo>
                <a:lnTo>
                  <a:pt x="57150" y="693927"/>
                </a:lnTo>
                <a:lnTo>
                  <a:pt x="69850" y="693927"/>
                </a:lnTo>
                <a:lnTo>
                  <a:pt x="69850" y="655827"/>
                </a:lnTo>
                <a:close/>
              </a:path>
              <a:path w="127000" h="694055">
                <a:moveTo>
                  <a:pt x="69850" y="605027"/>
                </a:moveTo>
                <a:lnTo>
                  <a:pt x="57150" y="605027"/>
                </a:lnTo>
                <a:lnTo>
                  <a:pt x="57150" y="643127"/>
                </a:lnTo>
                <a:lnTo>
                  <a:pt x="69850" y="643127"/>
                </a:lnTo>
                <a:lnTo>
                  <a:pt x="69850" y="605027"/>
                </a:lnTo>
                <a:close/>
              </a:path>
              <a:path w="127000" h="694055">
                <a:moveTo>
                  <a:pt x="69850" y="554227"/>
                </a:moveTo>
                <a:lnTo>
                  <a:pt x="57150" y="554227"/>
                </a:lnTo>
                <a:lnTo>
                  <a:pt x="57150" y="592327"/>
                </a:lnTo>
                <a:lnTo>
                  <a:pt x="69850" y="592327"/>
                </a:lnTo>
                <a:lnTo>
                  <a:pt x="69850" y="554227"/>
                </a:lnTo>
                <a:close/>
              </a:path>
              <a:path w="127000" h="694055">
                <a:moveTo>
                  <a:pt x="69850" y="503427"/>
                </a:moveTo>
                <a:lnTo>
                  <a:pt x="57150" y="503427"/>
                </a:lnTo>
                <a:lnTo>
                  <a:pt x="57150" y="541527"/>
                </a:lnTo>
                <a:lnTo>
                  <a:pt x="69850" y="541527"/>
                </a:lnTo>
                <a:lnTo>
                  <a:pt x="69850" y="503427"/>
                </a:lnTo>
                <a:close/>
              </a:path>
              <a:path w="127000" h="694055">
                <a:moveTo>
                  <a:pt x="69850" y="452627"/>
                </a:moveTo>
                <a:lnTo>
                  <a:pt x="57150" y="452627"/>
                </a:lnTo>
                <a:lnTo>
                  <a:pt x="57150" y="490727"/>
                </a:lnTo>
                <a:lnTo>
                  <a:pt x="69850" y="490727"/>
                </a:lnTo>
                <a:lnTo>
                  <a:pt x="69850" y="452627"/>
                </a:lnTo>
                <a:close/>
              </a:path>
              <a:path w="127000" h="694055">
                <a:moveTo>
                  <a:pt x="69850" y="401827"/>
                </a:moveTo>
                <a:lnTo>
                  <a:pt x="57150" y="401827"/>
                </a:lnTo>
                <a:lnTo>
                  <a:pt x="57150" y="439927"/>
                </a:lnTo>
                <a:lnTo>
                  <a:pt x="69850" y="439927"/>
                </a:lnTo>
                <a:lnTo>
                  <a:pt x="69850" y="401827"/>
                </a:lnTo>
                <a:close/>
              </a:path>
              <a:path w="127000" h="694055">
                <a:moveTo>
                  <a:pt x="69850" y="351027"/>
                </a:moveTo>
                <a:lnTo>
                  <a:pt x="57150" y="351027"/>
                </a:lnTo>
                <a:lnTo>
                  <a:pt x="57150" y="389127"/>
                </a:lnTo>
                <a:lnTo>
                  <a:pt x="69850" y="389127"/>
                </a:lnTo>
                <a:lnTo>
                  <a:pt x="69850" y="351027"/>
                </a:lnTo>
                <a:close/>
              </a:path>
              <a:path w="127000" h="694055">
                <a:moveTo>
                  <a:pt x="69850" y="300227"/>
                </a:moveTo>
                <a:lnTo>
                  <a:pt x="57150" y="300227"/>
                </a:lnTo>
                <a:lnTo>
                  <a:pt x="57150" y="338327"/>
                </a:lnTo>
                <a:lnTo>
                  <a:pt x="69850" y="338327"/>
                </a:lnTo>
                <a:lnTo>
                  <a:pt x="69850" y="300227"/>
                </a:lnTo>
                <a:close/>
              </a:path>
              <a:path w="127000" h="694055">
                <a:moveTo>
                  <a:pt x="69850" y="249427"/>
                </a:moveTo>
                <a:lnTo>
                  <a:pt x="57150" y="249427"/>
                </a:lnTo>
                <a:lnTo>
                  <a:pt x="57150" y="287527"/>
                </a:lnTo>
                <a:lnTo>
                  <a:pt x="69850" y="287527"/>
                </a:lnTo>
                <a:lnTo>
                  <a:pt x="69850" y="249427"/>
                </a:lnTo>
                <a:close/>
              </a:path>
              <a:path w="127000" h="694055">
                <a:moveTo>
                  <a:pt x="69850" y="198627"/>
                </a:moveTo>
                <a:lnTo>
                  <a:pt x="57150" y="198627"/>
                </a:lnTo>
                <a:lnTo>
                  <a:pt x="57150" y="236727"/>
                </a:lnTo>
                <a:lnTo>
                  <a:pt x="69850" y="236727"/>
                </a:lnTo>
                <a:lnTo>
                  <a:pt x="69850" y="198627"/>
                </a:lnTo>
                <a:close/>
              </a:path>
              <a:path w="127000" h="694055">
                <a:moveTo>
                  <a:pt x="69850" y="147827"/>
                </a:moveTo>
                <a:lnTo>
                  <a:pt x="57150" y="147827"/>
                </a:lnTo>
                <a:lnTo>
                  <a:pt x="57150" y="185927"/>
                </a:lnTo>
                <a:lnTo>
                  <a:pt x="69850" y="185927"/>
                </a:lnTo>
                <a:lnTo>
                  <a:pt x="69850" y="147827"/>
                </a:lnTo>
                <a:close/>
              </a:path>
              <a:path w="127000" h="694055">
                <a:moveTo>
                  <a:pt x="69850" y="114300"/>
                </a:moveTo>
                <a:lnTo>
                  <a:pt x="57150" y="114300"/>
                </a:lnTo>
                <a:lnTo>
                  <a:pt x="57150" y="135127"/>
                </a:lnTo>
                <a:lnTo>
                  <a:pt x="69850" y="135127"/>
                </a:lnTo>
                <a:lnTo>
                  <a:pt x="69850" y="114300"/>
                </a:lnTo>
                <a:close/>
              </a:path>
              <a:path w="127000" h="694055">
                <a:moveTo>
                  <a:pt x="63500" y="0"/>
                </a:moveTo>
                <a:lnTo>
                  <a:pt x="0" y="127000"/>
                </a:lnTo>
                <a:lnTo>
                  <a:pt x="57150" y="127000"/>
                </a:lnTo>
                <a:lnTo>
                  <a:pt x="57150" y="114300"/>
                </a:lnTo>
                <a:lnTo>
                  <a:pt x="120650" y="114300"/>
                </a:lnTo>
                <a:lnTo>
                  <a:pt x="63500" y="0"/>
                </a:lnTo>
                <a:close/>
              </a:path>
              <a:path w="127000" h="694055">
                <a:moveTo>
                  <a:pt x="120650" y="114300"/>
                </a:moveTo>
                <a:lnTo>
                  <a:pt x="69850" y="114300"/>
                </a:lnTo>
                <a:lnTo>
                  <a:pt x="69850" y="127000"/>
                </a:lnTo>
                <a:lnTo>
                  <a:pt x="127000" y="127000"/>
                </a:lnTo>
                <a:lnTo>
                  <a:pt x="120650" y="114300"/>
                </a:lnTo>
                <a:close/>
              </a:path>
            </a:pathLst>
          </a:custGeom>
          <a:solidFill>
            <a:srgbClr val="40A9D2"/>
          </a:solidFill>
        </p:spPr>
        <p:txBody>
          <a:bodyPr wrap="square" lIns="0" tIns="0" rIns="0" bIns="0" rtlCol="0"/>
          <a:lstStyle/>
          <a:p>
            <a:endParaRPr/>
          </a:p>
        </p:txBody>
      </p:sp>
      <p:sp>
        <p:nvSpPr>
          <p:cNvPr id="49" name="object 53">
            <a:extLst>
              <a:ext uri="{FF2B5EF4-FFF2-40B4-BE49-F238E27FC236}">
                <a16:creationId xmlns:a16="http://schemas.microsoft.com/office/drawing/2014/main" id="{E0F4CC84-3C92-6D53-C6A5-4DB3012B3B28}"/>
              </a:ext>
            </a:extLst>
          </p:cNvPr>
          <p:cNvSpPr/>
          <p:nvPr/>
        </p:nvSpPr>
        <p:spPr>
          <a:xfrm>
            <a:off x="1377696" y="5339008"/>
            <a:ext cx="609600" cy="127000"/>
          </a:xfrm>
          <a:custGeom>
            <a:avLst/>
            <a:gdLst/>
            <a:ahLst/>
            <a:cxnLst/>
            <a:rect l="l" t="t" r="r" b="b"/>
            <a:pathLst>
              <a:path w="609600" h="127000">
                <a:moveTo>
                  <a:pt x="127000" y="0"/>
                </a:moveTo>
                <a:lnTo>
                  <a:pt x="0" y="63500"/>
                </a:lnTo>
                <a:lnTo>
                  <a:pt x="127000" y="127000"/>
                </a:lnTo>
                <a:lnTo>
                  <a:pt x="127000" y="69850"/>
                </a:lnTo>
                <a:lnTo>
                  <a:pt x="114300" y="69850"/>
                </a:lnTo>
                <a:lnTo>
                  <a:pt x="114300" y="57150"/>
                </a:lnTo>
                <a:lnTo>
                  <a:pt x="127000" y="57150"/>
                </a:lnTo>
                <a:lnTo>
                  <a:pt x="127000" y="0"/>
                </a:lnTo>
                <a:close/>
              </a:path>
              <a:path w="609600" h="127000">
                <a:moveTo>
                  <a:pt x="127000" y="57150"/>
                </a:moveTo>
                <a:lnTo>
                  <a:pt x="114300" y="57150"/>
                </a:lnTo>
                <a:lnTo>
                  <a:pt x="114300" y="69850"/>
                </a:lnTo>
                <a:lnTo>
                  <a:pt x="127000" y="69850"/>
                </a:lnTo>
                <a:lnTo>
                  <a:pt x="127000" y="57150"/>
                </a:lnTo>
                <a:close/>
              </a:path>
              <a:path w="609600" h="127000">
                <a:moveTo>
                  <a:pt x="152400" y="57150"/>
                </a:moveTo>
                <a:lnTo>
                  <a:pt x="127000" y="57150"/>
                </a:lnTo>
                <a:lnTo>
                  <a:pt x="127000" y="69850"/>
                </a:lnTo>
                <a:lnTo>
                  <a:pt x="152400" y="69850"/>
                </a:lnTo>
                <a:lnTo>
                  <a:pt x="152400" y="57150"/>
                </a:lnTo>
                <a:close/>
              </a:path>
              <a:path w="609600" h="127000">
                <a:moveTo>
                  <a:pt x="203200" y="57150"/>
                </a:moveTo>
                <a:lnTo>
                  <a:pt x="165100" y="57150"/>
                </a:lnTo>
                <a:lnTo>
                  <a:pt x="165100" y="69850"/>
                </a:lnTo>
                <a:lnTo>
                  <a:pt x="203200" y="69850"/>
                </a:lnTo>
                <a:lnTo>
                  <a:pt x="203200" y="57150"/>
                </a:lnTo>
                <a:close/>
              </a:path>
              <a:path w="609600" h="127000">
                <a:moveTo>
                  <a:pt x="253999" y="57150"/>
                </a:moveTo>
                <a:lnTo>
                  <a:pt x="215900" y="57150"/>
                </a:lnTo>
                <a:lnTo>
                  <a:pt x="215900" y="69850"/>
                </a:lnTo>
                <a:lnTo>
                  <a:pt x="253999" y="69850"/>
                </a:lnTo>
                <a:lnTo>
                  <a:pt x="253999" y="57150"/>
                </a:lnTo>
                <a:close/>
              </a:path>
              <a:path w="609600" h="127000">
                <a:moveTo>
                  <a:pt x="304799" y="57150"/>
                </a:moveTo>
                <a:lnTo>
                  <a:pt x="266699" y="57150"/>
                </a:lnTo>
                <a:lnTo>
                  <a:pt x="266699" y="69850"/>
                </a:lnTo>
                <a:lnTo>
                  <a:pt x="304799" y="69850"/>
                </a:lnTo>
                <a:lnTo>
                  <a:pt x="304799" y="57150"/>
                </a:lnTo>
                <a:close/>
              </a:path>
              <a:path w="609600" h="127000">
                <a:moveTo>
                  <a:pt x="355599" y="57150"/>
                </a:moveTo>
                <a:lnTo>
                  <a:pt x="317499" y="57150"/>
                </a:lnTo>
                <a:lnTo>
                  <a:pt x="317499" y="69850"/>
                </a:lnTo>
                <a:lnTo>
                  <a:pt x="355599" y="69850"/>
                </a:lnTo>
                <a:lnTo>
                  <a:pt x="355599" y="57150"/>
                </a:lnTo>
                <a:close/>
              </a:path>
              <a:path w="609600" h="127000">
                <a:moveTo>
                  <a:pt x="406399" y="57150"/>
                </a:moveTo>
                <a:lnTo>
                  <a:pt x="368299" y="57150"/>
                </a:lnTo>
                <a:lnTo>
                  <a:pt x="368299" y="69850"/>
                </a:lnTo>
                <a:lnTo>
                  <a:pt x="406399" y="69850"/>
                </a:lnTo>
                <a:lnTo>
                  <a:pt x="406399" y="57150"/>
                </a:lnTo>
                <a:close/>
              </a:path>
              <a:path w="609600" h="127000">
                <a:moveTo>
                  <a:pt x="457199" y="57150"/>
                </a:moveTo>
                <a:lnTo>
                  <a:pt x="419099" y="57150"/>
                </a:lnTo>
                <a:lnTo>
                  <a:pt x="419099" y="69850"/>
                </a:lnTo>
                <a:lnTo>
                  <a:pt x="457199" y="69850"/>
                </a:lnTo>
                <a:lnTo>
                  <a:pt x="457199" y="57150"/>
                </a:lnTo>
                <a:close/>
              </a:path>
              <a:path w="609600" h="127000">
                <a:moveTo>
                  <a:pt x="507999" y="57150"/>
                </a:moveTo>
                <a:lnTo>
                  <a:pt x="469899" y="57150"/>
                </a:lnTo>
                <a:lnTo>
                  <a:pt x="469899" y="69850"/>
                </a:lnTo>
                <a:lnTo>
                  <a:pt x="507999" y="69850"/>
                </a:lnTo>
                <a:lnTo>
                  <a:pt x="507999" y="57150"/>
                </a:lnTo>
                <a:close/>
              </a:path>
              <a:path w="609600" h="127000">
                <a:moveTo>
                  <a:pt x="558799" y="57150"/>
                </a:moveTo>
                <a:lnTo>
                  <a:pt x="520699" y="57150"/>
                </a:lnTo>
                <a:lnTo>
                  <a:pt x="520699" y="69850"/>
                </a:lnTo>
                <a:lnTo>
                  <a:pt x="558799" y="69850"/>
                </a:lnTo>
                <a:lnTo>
                  <a:pt x="558799" y="57150"/>
                </a:lnTo>
                <a:close/>
              </a:path>
              <a:path w="609600" h="127000">
                <a:moveTo>
                  <a:pt x="609599" y="57150"/>
                </a:moveTo>
                <a:lnTo>
                  <a:pt x="571499" y="57150"/>
                </a:lnTo>
                <a:lnTo>
                  <a:pt x="571499" y="69850"/>
                </a:lnTo>
                <a:lnTo>
                  <a:pt x="609599" y="69850"/>
                </a:lnTo>
                <a:lnTo>
                  <a:pt x="609599" y="57150"/>
                </a:lnTo>
                <a:close/>
              </a:path>
            </a:pathLst>
          </a:custGeom>
          <a:solidFill>
            <a:srgbClr val="FFC000"/>
          </a:solidFill>
        </p:spPr>
        <p:txBody>
          <a:bodyPr wrap="square" lIns="0" tIns="0" rIns="0" bIns="0" rtlCol="0"/>
          <a:lstStyle/>
          <a:p>
            <a:endParaRPr/>
          </a:p>
        </p:txBody>
      </p:sp>
      <p:sp>
        <p:nvSpPr>
          <p:cNvPr id="50" name="object 54">
            <a:extLst>
              <a:ext uri="{FF2B5EF4-FFF2-40B4-BE49-F238E27FC236}">
                <a16:creationId xmlns:a16="http://schemas.microsoft.com/office/drawing/2014/main" id="{C15A2935-E1A3-35BC-3F51-4EF7A6F7517A}"/>
              </a:ext>
            </a:extLst>
          </p:cNvPr>
          <p:cNvSpPr txBox="1"/>
          <p:nvPr/>
        </p:nvSpPr>
        <p:spPr>
          <a:xfrm>
            <a:off x="1476883" y="5022270"/>
            <a:ext cx="431165" cy="258404"/>
          </a:xfrm>
          <a:prstGeom prst="rect">
            <a:avLst/>
          </a:prstGeom>
        </p:spPr>
        <p:txBody>
          <a:bodyPr vert="horz" wrap="square" lIns="0" tIns="12065" rIns="0" bIns="0" rtlCol="0">
            <a:spAutoFit/>
          </a:bodyPr>
          <a:lstStyle>
            <a:defPPr>
              <a:defRPr lang="zh-CN" kern="0"/>
            </a:defPPr>
            <a:lvl1pPr marL="12700">
              <a:lnSpc>
                <a:spcPct val="100000"/>
              </a:lnSpc>
              <a:spcBef>
                <a:spcPts val="95"/>
              </a:spcBef>
              <a:tabLst>
                <a:tab pos="847725" algn="l"/>
              </a:tabLst>
              <a:defRPr sz="1600" b="1">
                <a:ln w="6600">
                  <a:solidFill>
                    <a:schemeClr val="accent2"/>
                  </a:solidFill>
                  <a:prstDash val="solid"/>
                </a:ln>
                <a:solidFill>
                  <a:srgbClr val="FFFFFF"/>
                </a:solidFill>
                <a:effectLst>
                  <a:outerShdw dist="38100" dir="2700000" algn="tl" rotWithShape="0">
                    <a:schemeClr val="accent2"/>
                  </a:outerShdw>
                </a:effectLst>
                <a:latin typeface="Microsoft YaHei"/>
                <a:cs typeface="Microsoft YaHei"/>
              </a:defRPr>
            </a:lvl1pPr>
          </a:lstStyle>
          <a:p>
            <a:r>
              <a:rPr dirty="0">
                <a:latin typeface="Arial" panose="020B0604020202020204" pitchFamily="34" charset="0"/>
                <a:ea typeface="微软雅黑" panose="020B0503020204020204" pitchFamily="34" charset="-122"/>
              </a:rPr>
              <a:t>反馈</a:t>
            </a:r>
          </a:p>
        </p:txBody>
      </p:sp>
      <p:sp>
        <p:nvSpPr>
          <p:cNvPr id="51" name="object 55">
            <a:extLst>
              <a:ext uri="{FF2B5EF4-FFF2-40B4-BE49-F238E27FC236}">
                <a16:creationId xmlns:a16="http://schemas.microsoft.com/office/drawing/2014/main" id="{D0E853CD-906A-74DE-992D-1BF99CA9D90C}"/>
              </a:ext>
            </a:extLst>
          </p:cNvPr>
          <p:cNvSpPr/>
          <p:nvPr/>
        </p:nvSpPr>
        <p:spPr>
          <a:xfrm>
            <a:off x="1409700" y="1943535"/>
            <a:ext cx="614680" cy="127000"/>
          </a:xfrm>
          <a:custGeom>
            <a:avLst/>
            <a:gdLst/>
            <a:ahLst/>
            <a:cxnLst/>
            <a:rect l="l" t="t" r="r" b="b"/>
            <a:pathLst>
              <a:path w="614680" h="127000">
                <a:moveTo>
                  <a:pt x="38100" y="57150"/>
                </a:moveTo>
                <a:lnTo>
                  <a:pt x="0" y="57150"/>
                </a:lnTo>
                <a:lnTo>
                  <a:pt x="0" y="69850"/>
                </a:lnTo>
                <a:lnTo>
                  <a:pt x="38100" y="69850"/>
                </a:lnTo>
                <a:lnTo>
                  <a:pt x="38100" y="57150"/>
                </a:lnTo>
                <a:close/>
              </a:path>
              <a:path w="614680" h="127000">
                <a:moveTo>
                  <a:pt x="88900" y="57150"/>
                </a:moveTo>
                <a:lnTo>
                  <a:pt x="50800" y="57150"/>
                </a:lnTo>
                <a:lnTo>
                  <a:pt x="50800" y="69850"/>
                </a:lnTo>
                <a:lnTo>
                  <a:pt x="88900" y="69850"/>
                </a:lnTo>
                <a:lnTo>
                  <a:pt x="88900" y="57150"/>
                </a:lnTo>
                <a:close/>
              </a:path>
              <a:path w="614680" h="127000">
                <a:moveTo>
                  <a:pt x="139700" y="57150"/>
                </a:moveTo>
                <a:lnTo>
                  <a:pt x="101600" y="57150"/>
                </a:lnTo>
                <a:lnTo>
                  <a:pt x="101600" y="69850"/>
                </a:lnTo>
                <a:lnTo>
                  <a:pt x="139700" y="69850"/>
                </a:lnTo>
                <a:lnTo>
                  <a:pt x="139700" y="57150"/>
                </a:lnTo>
                <a:close/>
              </a:path>
              <a:path w="614680" h="127000">
                <a:moveTo>
                  <a:pt x="190500" y="57150"/>
                </a:moveTo>
                <a:lnTo>
                  <a:pt x="152400" y="57150"/>
                </a:lnTo>
                <a:lnTo>
                  <a:pt x="152400" y="69850"/>
                </a:lnTo>
                <a:lnTo>
                  <a:pt x="190500" y="69850"/>
                </a:lnTo>
                <a:lnTo>
                  <a:pt x="190500" y="57150"/>
                </a:lnTo>
                <a:close/>
              </a:path>
              <a:path w="614680" h="127000">
                <a:moveTo>
                  <a:pt x="241300" y="57150"/>
                </a:moveTo>
                <a:lnTo>
                  <a:pt x="203200" y="57150"/>
                </a:lnTo>
                <a:lnTo>
                  <a:pt x="203200" y="69850"/>
                </a:lnTo>
                <a:lnTo>
                  <a:pt x="241300" y="69850"/>
                </a:lnTo>
                <a:lnTo>
                  <a:pt x="241300" y="57150"/>
                </a:lnTo>
                <a:close/>
              </a:path>
              <a:path w="614680" h="127000">
                <a:moveTo>
                  <a:pt x="292100" y="57150"/>
                </a:moveTo>
                <a:lnTo>
                  <a:pt x="254000" y="57150"/>
                </a:lnTo>
                <a:lnTo>
                  <a:pt x="254000" y="69850"/>
                </a:lnTo>
                <a:lnTo>
                  <a:pt x="292100" y="69850"/>
                </a:lnTo>
                <a:lnTo>
                  <a:pt x="292100" y="57150"/>
                </a:lnTo>
                <a:close/>
              </a:path>
              <a:path w="614680" h="127000">
                <a:moveTo>
                  <a:pt x="342900" y="57150"/>
                </a:moveTo>
                <a:lnTo>
                  <a:pt x="304800" y="57150"/>
                </a:lnTo>
                <a:lnTo>
                  <a:pt x="304800" y="69850"/>
                </a:lnTo>
                <a:lnTo>
                  <a:pt x="342900" y="69850"/>
                </a:lnTo>
                <a:lnTo>
                  <a:pt x="342900" y="57150"/>
                </a:lnTo>
                <a:close/>
              </a:path>
              <a:path w="614680" h="127000">
                <a:moveTo>
                  <a:pt x="393700" y="57150"/>
                </a:moveTo>
                <a:lnTo>
                  <a:pt x="355600" y="57150"/>
                </a:lnTo>
                <a:lnTo>
                  <a:pt x="355600" y="69850"/>
                </a:lnTo>
                <a:lnTo>
                  <a:pt x="393700" y="69850"/>
                </a:lnTo>
                <a:lnTo>
                  <a:pt x="393700" y="57150"/>
                </a:lnTo>
                <a:close/>
              </a:path>
              <a:path w="614680" h="127000">
                <a:moveTo>
                  <a:pt x="444500" y="57150"/>
                </a:moveTo>
                <a:lnTo>
                  <a:pt x="406400" y="57150"/>
                </a:lnTo>
                <a:lnTo>
                  <a:pt x="406400" y="69850"/>
                </a:lnTo>
                <a:lnTo>
                  <a:pt x="444500" y="69850"/>
                </a:lnTo>
                <a:lnTo>
                  <a:pt x="444500" y="57150"/>
                </a:lnTo>
                <a:close/>
              </a:path>
              <a:path w="614680" h="127000">
                <a:moveTo>
                  <a:pt x="487299" y="0"/>
                </a:moveTo>
                <a:lnTo>
                  <a:pt x="487299" y="127000"/>
                </a:lnTo>
                <a:lnTo>
                  <a:pt x="601599" y="69850"/>
                </a:lnTo>
                <a:lnTo>
                  <a:pt x="495300" y="69850"/>
                </a:lnTo>
                <a:lnTo>
                  <a:pt x="495300" y="57150"/>
                </a:lnTo>
                <a:lnTo>
                  <a:pt x="601599" y="57150"/>
                </a:lnTo>
                <a:lnTo>
                  <a:pt x="487299" y="0"/>
                </a:lnTo>
                <a:close/>
              </a:path>
              <a:path w="614680" h="127000">
                <a:moveTo>
                  <a:pt x="487299" y="57150"/>
                </a:moveTo>
                <a:lnTo>
                  <a:pt x="457200" y="57150"/>
                </a:lnTo>
                <a:lnTo>
                  <a:pt x="457200" y="69850"/>
                </a:lnTo>
                <a:lnTo>
                  <a:pt x="487299" y="69850"/>
                </a:lnTo>
                <a:lnTo>
                  <a:pt x="487299" y="57150"/>
                </a:lnTo>
                <a:close/>
              </a:path>
              <a:path w="614680" h="127000">
                <a:moveTo>
                  <a:pt x="601599" y="57150"/>
                </a:moveTo>
                <a:lnTo>
                  <a:pt x="495300" y="57150"/>
                </a:lnTo>
                <a:lnTo>
                  <a:pt x="495300" y="69850"/>
                </a:lnTo>
                <a:lnTo>
                  <a:pt x="601599" y="69850"/>
                </a:lnTo>
                <a:lnTo>
                  <a:pt x="614299" y="63500"/>
                </a:lnTo>
                <a:lnTo>
                  <a:pt x="601599" y="57150"/>
                </a:lnTo>
                <a:close/>
              </a:path>
            </a:pathLst>
          </a:custGeom>
          <a:solidFill>
            <a:srgbClr val="40A9D2"/>
          </a:solidFill>
        </p:spPr>
        <p:txBody>
          <a:bodyPr wrap="square" lIns="0" tIns="0" rIns="0" bIns="0" rtlCol="0"/>
          <a:lstStyle/>
          <a:p>
            <a:endParaRPr/>
          </a:p>
        </p:txBody>
      </p:sp>
      <p:sp>
        <p:nvSpPr>
          <p:cNvPr id="52" name="object 56">
            <a:extLst>
              <a:ext uri="{FF2B5EF4-FFF2-40B4-BE49-F238E27FC236}">
                <a16:creationId xmlns:a16="http://schemas.microsoft.com/office/drawing/2014/main" id="{DF268B79-F824-9E0D-0C08-204D8928BDFD}"/>
              </a:ext>
            </a:extLst>
          </p:cNvPr>
          <p:cNvSpPr txBox="1"/>
          <p:nvPr/>
        </p:nvSpPr>
        <p:spPr>
          <a:xfrm>
            <a:off x="1486661" y="2076885"/>
            <a:ext cx="431165" cy="258404"/>
          </a:xfrm>
          <a:prstGeom prst="rect">
            <a:avLst/>
          </a:prstGeom>
        </p:spPr>
        <p:txBody>
          <a:bodyPr vert="horz" wrap="square" lIns="0" tIns="12065" rIns="0" bIns="0" rtlCol="0">
            <a:spAutoFit/>
          </a:bodyPr>
          <a:lstStyle>
            <a:defPPr>
              <a:defRPr lang="zh-CN" kern="0"/>
            </a:defPPr>
            <a:lvl1pPr marL="12700">
              <a:lnSpc>
                <a:spcPct val="100000"/>
              </a:lnSpc>
              <a:spcBef>
                <a:spcPts val="95"/>
              </a:spcBef>
              <a:tabLst>
                <a:tab pos="847725" algn="l"/>
              </a:tabLst>
              <a:defRPr sz="1600" b="1">
                <a:ln w="6600">
                  <a:solidFill>
                    <a:schemeClr val="accent2"/>
                  </a:solidFill>
                  <a:prstDash val="solid"/>
                </a:ln>
                <a:solidFill>
                  <a:srgbClr val="FFFFFF"/>
                </a:solidFill>
                <a:effectLst>
                  <a:outerShdw dist="38100" dir="2700000" algn="tl" rotWithShape="0">
                    <a:schemeClr val="accent2"/>
                  </a:outerShdw>
                </a:effectLst>
                <a:latin typeface="Microsoft YaHei"/>
                <a:cs typeface="Microsoft YaHei"/>
              </a:defRPr>
            </a:lvl1pPr>
          </a:lstStyle>
          <a:p>
            <a:r>
              <a:rPr dirty="0">
                <a:latin typeface="Arial" panose="020B0604020202020204" pitchFamily="34" charset="0"/>
                <a:ea typeface="微软雅黑" panose="020B0503020204020204" pitchFamily="34" charset="-122"/>
              </a:rPr>
              <a:t>决策</a:t>
            </a:r>
          </a:p>
        </p:txBody>
      </p:sp>
      <p:sp>
        <p:nvSpPr>
          <p:cNvPr id="53" name="object 57">
            <a:extLst>
              <a:ext uri="{FF2B5EF4-FFF2-40B4-BE49-F238E27FC236}">
                <a16:creationId xmlns:a16="http://schemas.microsoft.com/office/drawing/2014/main" id="{E0A9F554-30C8-2F8E-A9CF-ED3C4EF7437A}"/>
              </a:ext>
            </a:extLst>
          </p:cNvPr>
          <p:cNvSpPr txBox="1"/>
          <p:nvPr/>
        </p:nvSpPr>
        <p:spPr>
          <a:xfrm>
            <a:off x="5926328" y="5534333"/>
            <a:ext cx="1095375" cy="228268"/>
          </a:xfrm>
          <a:prstGeom prst="rect">
            <a:avLst/>
          </a:prstGeom>
        </p:spPr>
        <p:txBody>
          <a:bodyPr vert="horz" wrap="square" lIns="0" tIns="12700" rIns="0" bIns="0" rtlCol="0">
            <a:spAutoFit/>
          </a:bodyPr>
          <a:lstStyle/>
          <a:p>
            <a:pPr marL="12700">
              <a:lnSpc>
                <a:spcPct val="100000"/>
              </a:lnSpc>
              <a:spcBef>
                <a:spcPts val="100"/>
              </a:spcBef>
            </a:pPr>
            <a:r>
              <a:rPr sz="1400" b="1" spc="-10" dirty="0">
                <a:solidFill>
                  <a:srgbClr val="FFFFFF"/>
                </a:solidFill>
                <a:latin typeface="Arial" panose="020B0604020202020204" pitchFamily="34" charset="0"/>
                <a:ea typeface="微软雅黑" panose="020B0503020204020204" pitchFamily="34" charset="-122"/>
                <a:cs typeface="Microsoft YaHei"/>
              </a:rPr>
              <a:t>产销协同平台</a:t>
            </a:r>
            <a:endParaRPr sz="1400">
              <a:latin typeface="Arial" panose="020B0604020202020204" pitchFamily="34" charset="0"/>
              <a:ea typeface="微软雅黑" panose="020B0503020204020204" pitchFamily="34" charset="-122"/>
              <a:cs typeface="Microsoft YaHei"/>
            </a:endParaRPr>
          </a:p>
        </p:txBody>
      </p:sp>
      <p:sp>
        <p:nvSpPr>
          <p:cNvPr id="54" name="object 58">
            <a:extLst>
              <a:ext uri="{FF2B5EF4-FFF2-40B4-BE49-F238E27FC236}">
                <a16:creationId xmlns:a16="http://schemas.microsoft.com/office/drawing/2014/main" id="{187F9A59-E0F8-AC14-5F80-146DE4C2988E}"/>
              </a:ext>
            </a:extLst>
          </p:cNvPr>
          <p:cNvSpPr txBox="1"/>
          <p:nvPr/>
        </p:nvSpPr>
        <p:spPr>
          <a:xfrm>
            <a:off x="5953759" y="6216730"/>
            <a:ext cx="1095375" cy="228268"/>
          </a:xfrm>
          <a:prstGeom prst="rect">
            <a:avLst/>
          </a:prstGeom>
        </p:spPr>
        <p:txBody>
          <a:bodyPr vert="horz" wrap="square" lIns="0" tIns="12700" rIns="0" bIns="0" rtlCol="0">
            <a:spAutoFit/>
          </a:bodyPr>
          <a:lstStyle/>
          <a:p>
            <a:pPr marL="12700">
              <a:lnSpc>
                <a:spcPct val="100000"/>
              </a:lnSpc>
              <a:spcBef>
                <a:spcPts val="100"/>
              </a:spcBef>
            </a:pPr>
            <a:r>
              <a:rPr sz="1400" b="1" spc="-10" dirty="0">
                <a:solidFill>
                  <a:srgbClr val="FFFFFF"/>
                </a:solidFill>
                <a:latin typeface="Arial" panose="020B0604020202020204" pitchFamily="34" charset="0"/>
                <a:ea typeface="微软雅黑" panose="020B0503020204020204" pitchFamily="34" charset="-122"/>
                <a:cs typeface="Microsoft YaHei"/>
              </a:rPr>
              <a:t>生态协同平台</a:t>
            </a:r>
            <a:endParaRPr sz="1400">
              <a:latin typeface="Arial" panose="020B0604020202020204" pitchFamily="34" charset="0"/>
              <a:ea typeface="微软雅黑" panose="020B0503020204020204" pitchFamily="34" charset="-122"/>
              <a:cs typeface="Microsoft YaHei"/>
            </a:endParaRPr>
          </a:p>
        </p:txBody>
      </p:sp>
      <p:grpSp>
        <p:nvGrpSpPr>
          <p:cNvPr id="55" name="object 59">
            <a:extLst>
              <a:ext uri="{FF2B5EF4-FFF2-40B4-BE49-F238E27FC236}">
                <a16:creationId xmlns:a16="http://schemas.microsoft.com/office/drawing/2014/main" id="{7C765BFB-41D6-51B2-D6F5-E57E65D26C33}"/>
              </a:ext>
            </a:extLst>
          </p:cNvPr>
          <p:cNvGrpSpPr/>
          <p:nvPr/>
        </p:nvGrpSpPr>
        <p:grpSpPr>
          <a:xfrm>
            <a:off x="3274821" y="1020754"/>
            <a:ext cx="6461125" cy="1480820"/>
            <a:chOff x="3274821" y="871474"/>
            <a:chExt cx="6461125" cy="1480820"/>
          </a:xfrm>
        </p:grpSpPr>
        <p:pic>
          <p:nvPicPr>
            <p:cNvPr id="56" name="object 60">
              <a:extLst>
                <a:ext uri="{FF2B5EF4-FFF2-40B4-BE49-F238E27FC236}">
                  <a16:creationId xmlns:a16="http://schemas.microsoft.com/office/drawing/2014/main" id="{E31201FC-ADBB-6F9E-2052-7CBC6DE5FACC}"/>
                </a:ext>
              </a:extLst>
            </p:cNvPr>
            <p:cNvPicPr/>
            <p:nvPr/>
          </p:nvPicPr>
          <p:blipFill>
            <a:blip r:embed="rId10" cstate="print"/>
            <a:stretch>
              <a:fillRect/>
            </a:stretch>
          </p:blipFill>
          <p:spPr>
            <a:xfrm>
              <a:off x="3281171" y="884936"/>
              <a:ext cx="6448044" cy="1460500"/>
            </a:xfrm>
            <a:prstGeom prst="rect">
              <a:avLst/>
            </a:prstGeom>
            <a:ln>
              <a:noFill/>
            </a:ln>
          </p:spPr>
        </p:pic>
        <p:sp>
          <p:nvSpPr>
            <p:cNvPr id="57" name="object 61">
              <a:extLst>
                <a:ext uri="{FF2B5EF4-FFF2-40B4-BE49-F238E27FC236}">
                  <a16:creationId xmlns:a16="http://schemas.microsoft.com/office/drawing/2014/main" id="{4450EA31-D964-B373-ABDF-C34EBA6B26AA}"/>
                </a:ext>
              </a:extLst>
            </p:cNvPr>
            <p:cNvSpPr/>
            <p:nvPr/>
          </p:nvSpPr>
          <p:spPr>
            <a:xfrm>
              <a:off x="3281171" y="877824"/>
              <a:ext cx="6448425" cy="1468120"/>
            </a:xfrm>
            <a:custGeom>
              <a:avLst/>
              <a:gdLst/>
              <a:ahLst/>
              <a:cxnLst/>
              <a:rect l="l" t="t" r="r" b="b"/>
              <a:pathLst>
                <a:path w="6448425" h="1468120">
                  <a:moveTo>
                    <a:pt x="3224022" y="0"/>
                  </a:moveTo>
                  <a:lnTo>
                    <a:pt x="3298013" y="189"/>
                  </a:lnTo>
                  <a:lnTo>
                    <a:pt x="3371596" y="755"/>
                  </a:lnTo>
                  <a:lnTo>
                    <a:pt x="3444753" y="1692"/>
                  </a:lnTo>
                  <a:lnTo>
                    <a:pt x="3517468" y="2998"/>
                  </a:lnTo>
                  <a:lnTo>
                    <a:pt x="3589720" y="4668"/>
                  </a:lnTo>
                  <a:lnTo>
                    <a:pt x="3661494" y="6699"/>
                  </a:lnTo>
                  <a:lnTo>
                    <a:pt x="3732771" y="9085"/>
                  </a:lnTo>
                  <a:lnTo>
                    <a:pt x="3803533" y="11823"/>
                  </a:lnTo>
                  <a:lnTo>
                    <a:pt x="3873763" y="14908"/>
                  </a:lnTo>
                  <a:lnTo>
                    <a:pt x="3943443" y="18338"/>
                  </a:lnTo>
                  <a:lnTo>
                    <a:pt x="4012555" y="22107"/>
                  </a:lnTo>
                  <a:lnTo>
                    <a:pt x="4081081" y="26213"/>
                  </a:lnTo>
                  <a:lnTo>
                    <a:pt x="4149003" y="30650"/>
                  </a:lnTo>
                  <a:lnTo>
                    <a:pt x="4216305" y="35414"/>
                  </a:lnTo>
                  <a:lnTo>
                    <a:pt x="4282967" y="40502"/>
                  </a:lnTo>
                  <a:lnTo>
                    <a:pt x="4348972" y="45910"/>
                  </a:lnTo>
                  <a:lnTo>
                    <a:pt x="4414302" y="51633"/>
                  </a:lnTo>
                  <a:lnTo>
                    <a:pt x="4478940" y="57667"/>
                  </a:lnTo>
                  <a:lnTo>
                    <a:pt x="4542868" y="64009"/>
                  </a:lnTo>
                  <a:lnTo>
                    <a:pt x="4606068" y="70655"/>
                  </a:lnTo>
                  <a:lnTo>
                    <a:pt x="4668521" y="77599"/>
                  </a:lnTo>
                  <a:lnTo>
                    <a:pt x="4730212" y="84839"/>
                  </a:lnTo>
                  <a:lnTo>
                    <a:pt x="4791121" y="92370"/>
                  </a:lnTo>
                  <a:lnTo>
                    <a:pt x="4851230" y="100188"/>
                  </a:lnTo>
                  <a:lnTo>
                    <a:pt x="4910523" y="108290"/>
                  </a:lnTo>
                  <a:lnTo>
                    <a:pt x="4968981" y="116670"/>
                  </a:lnTo>
                  <a:lnTo>
                    <a:pt x="5026586" y="125325"/>
                  </a:lnTo>
                  <a:lnTo>
                    <a:pt x="5083321" y="134252"/>
                  </a:lnTo>
                  <a:lnTo>
                    <a:pt x="5139168" y="143445"/>
                  </a:lnTo>
                  <a:lnTo>
                    <a:pt x="5194109" y="152901"/>
                  </a:lnTo>
                  <a:lnTo>
                    <a:pt x="5248126" y="162616"/>
                  </a:lnTo>
                  <a:lnTo>
                    <a:pt x="5301202" y="172586"/>
                  </a:lnTo>
                  <a:lnTo>
                    <a:pt x="5353319" y="182806"/>
                  </a:lnTo>
                  <a:lnTo>
                    <a:pt x="5404458" y="193273"/>
                  </a:lnTo>
                  <a:lnTo>
                    <a:pt x="5454603" y="203983"/>
                  </a:lnTo>
                  <a:lnTo>
                    <a:pt x="5503735" y="214931"/>
                  </a:lnTo>
                  <a:lnTo>
                    <a:pt x="5551837" y="226114"/>
                  </a:lnTo>
                  <a:lnTo>
                    <a:pt x="5598890" y="237527"/>
                  </a:lnTo>
                  <a:lnTo>
                    <a:pt x="5644878" y="249167"/>
                  </a:lnTo>
                  <a:lnTo>
                    <a:pt x="5689781" y="261029"/>
                  </a:lnTo>
                  <a:lnTo>
                    <a:pt x="5733584" y="273109"/>
                  </a:lnTo>
                  <a:lnTo>
                    <a:pt x="5776266" y="285404"/>
                  </a:lnTo>
                  <a:lnTo>
                    <a:pt x="5817812" y="297909"/>
                  </a:lnTo>
                  <a:lnTo>
                    <a:pt x="5858203" y="310620"/>
                  </a:lnTo>
                  <a:lnTo>
                    <a:pt x="5897421" y="323533"/>
                  </a:lnTo>
                  <a:lnTo>
                    <a:pt x="5935449" y="336645"/>
                  </a:lnTo>
                  <a:lnTo>
                    <a:pt x="5972268" y="349950"/>
                  </a:lnTo>
                  <a:lnTo>
                    <a:pt x="6042211" y="377127"/>
                  </a:lnTo>
                  <a:lnTo>
                    <a:pt x="6107107" y="405031"/>
                  </a:lnTo>
                  <a:lnTo>
                    <a:pt x="6166815" y="433630"/>
                  </a:lnTo>
                  <a:lnTo>
                    <a:pt x="6221191" y="462892"/>
                  </a:lnTo>
                  <a:lnTo>
                    <a:pt x="6270095" y="492785"/>
                  </a:lnTo>
                  <a:lnTo>
                    <a:pt x="6313382" y="523276"/>
                  </a:lnTo>
                  <a:lnTo>
                    <a:pt x="6350912" y="554332"/>
                  </a:lnTo>
                  <a:lnTo>
                    <a:pt x="6382541" y="585922"/>
                  </a:lnTo>
                  <a:lnTo>
                    <a:pt x="6408128" y="618012"/>
                  </a:lnTo>
                  <a:lnTo>
                    <a:pt x="6434868" y="667016"/>
                  </a:lnTo>
                  <a:lnTo>
                    <a:pt x="6447211" y="716965"/>
                  </a:lnTo>
                  <a:lnTo>
                    <a:pt x="6448044" y="733805"/>
                  </a:lnTo>
                  <a:lnTo>
                    <a:pt x="6443853" y="771525"/>
                  </a:lnTo>
                  <a:lnTo>
                    <a:pt x="6439212" y="788511"/>
                  </a:lnTo>
                  <a:lnTo>
                    <a:pt x="6415267" y="838813"/>
                  </a:lnTo>
                  <a:lnTo>
                    <a:pt x="6391139" y="871758"/>
                  </a:lnTo>
                  <a:lnTo>
                    <a:pt x="6360657" y="904190"/>
                  </a:lnTo>
                  <a:lnTo>
                    <a:pt x="6323973" y="936076"/>
                  </a:lnTo>
                  <a:lnTo>
                    <a:pt x="6281238" y="967381"/>
                  </a:lnTo>
                  <a:lnTo>
                    <a:pt x="6232603" y="998070"/>
                  </a:lnTo>
                  <a:lnTo>
                    <a:pt x="6178222" y="1028108"/>
                  </a:lnTo>
                  <a:lnTo>
                    <a:pt x="6118245" y="1057462"/>
                  </a:lnTo>
                  <a:lnTo>
                    <a:pt x="6052825" y="1086095"/>
                  </a:lnTo>
                  <a:lnTo>
                    <a:pt x="5982113" y="1113975"/>
                  </a:lnTo>
                  <a:lnTo>
                    <a:pt x="5944820" y="1127621"/>
                  </a:lnTo>
                  <a:lnTo>
                    <a:pt x="5906261" y="1141066"/>
                  </a:lnTo>
                  <a:lnTo>
                    <a:pt x="5866455" y="1154305"/>
                  </a:lnTo>
                  <a:lnTo>
                    <a:pt x="5825420" y="1167334"/>
                  </a:lnTo>
                  <a:lnTo>
                    <a:pt x="5783177" y="1180149"/>
                  </a:lnTo>
                  <a:lnTo>
                    <a:pt x="5739743" y="1192744"/>
                  </a:lnTo>
                  <a:lnTo>
                    <a:pt x="5695139" y="1205117"/>
                  </a:lnTo>
                  <a:lnTo>
                    <a:pt x="5649382" y="1217262"/>
                  </a:lnTo>
                  <a:lnTo>
                    <a:pt x="5602492" y="1229176"/>
                  </a:lnTo>
                  <a:lnTo>
                    <a:pt x="5554487" y="1240853"/>
                  </a:lnTo>
                  <a:lnTo>
                    <a:pt x="5505388" y="1252290"/>
                  </a:lnTo>
                  <a:lnTo>
                    <a:pt x="5455212" y="1263483"/>
                  </a:lnTo>
                  <a:lnTo>
                    <a:pt x="5403978" y="1274426"/>
                  </a:lnTo>
                  <a:lnTo>
                    <a:pt x="5351707" y="1285116"/>
                  </a:lnTo>
                  <a:lnTo>
                    <a:pt x="5298416" y="1295549"/>
                  </a:lnTo>
                  <a:lnTo>
                    <a:pt x="5244124" y="1305719"/>
                  </a:lnTo>
                  <a:lnTo>
                    <a:pt x="5188851" y="1315623"/>
                  </a:lnTo>
                  <a:lnTo>
                    <a:pt x="5132616" y="1325257"/>
                  </a:lnTo>
                  <a:lnTo>
                    <a:pt x="5075437" y="1334616"/>
                  </a:lnTo>
                  <a:lnTo>
                    <a:pt x="5017334" y="1343695"/>
                  </a:lnTo>
                  <a:lnTo>
                    <a:pt x="4958325" y="1352491"/>
                  </a:lnTo>
                  <a:lnTo>
                    <a:pt x="4898429" y="1360999"/>
                  </a:lnTo>
                  <a:lnTo>
                    <a:pt x="4837666" y="1369215"/>
                  </a:lnTo>
                  <a:lnTo>
                    <a:pt x="4776054" y="1377134"/>
                  </a:lnTo>
                  <a:lnTo>
                    <a:pt x="4713613" y="1384753"/>
                  </a:lnTo>
                  <a:lnTo>
                    <a:pt x="4650360" y="1392066"/>
                  </a:lnTo>
                  <a:lnTo>
                    <a:pt x="4586317" y="1399070"/>
                  </a:lnTo>
                  <a:lnTo>
                    <a:pt x="4521500" y="1405760"/>
                  </a:lnTo>
                  <a:lnTo>
                    <a:pt x="4455930" y="1412132"/>
                  </a:lnTo>
                  <a:lnTo>
                    <a:pt x="4389624" y="1418182"/>
                  </a:lnTo>
                  <a:lnTo>
                    <a:pt x="4322603" y="1423905"/>
                  </a:lnTo>
                  <a:lnTo>
                    <a:pt x="4254885" y="1429297"/>
                  </a:lnTo>
                  <a:lnTo>
                    <a:pt x="4186490" y="1434353"/>
                  </a:lnTo>
                  <a:lnTo>
                    <a:pt x="4117435" y="1439070"/>
                  </a:lnTo>
                  <a:lnTo>
                    <a:pt x="4047740" y="1443442"/>
                  </a:lnTo>
                  <a:lnTo>
                    <a:pt x="3977425" y="1447467"/>
                  </a:lnTo>
                  <a:lnTo>
                    <a:pt x="3906507" y="1451138"/>
                  </a:lnTo>
                  <a:lnTo>
                    <a:pt x="3835007" y="1454453"/>
                  </a:lnTo>
                  <a:lnTo>
                    <a:pt x="3762942" y="1457406"/>
                  </a:lnTo>
                  <a:lnTo>
                    <a:pt x="3690332" y="1459994"/>
                  </a:lnTo>
                  <a:lnTo>
                    <a:pt x="3617196" y="1462212"/>
                  </a:lnTo>
                  <a:lnTo>
                    <a:pt x="3543554" y="1464055"/>
                  </a:lnTo>
                  <a:lnTo>
                    <a:pt x="3224022" y="1467612"/>
                  </a:lnTo>
                  <a:lnTo>
                    <a:pt x="2894329" y="1463802"/>
                  </a:lnTo>
                  <a:lnTo>
                    <a:pt x="2819553" y="1461872"/>
                  </a:lnTo>
                  <a:lnTo>
                    <a:pt x="2745303" y="1459557"/>
                  </a:lnTo>
                  <a:lnTo>
                    <a:pt x="2671601" y="1456861"/>
                  </a:lnTo>
                  <a:lnTo>
                    <a:pt x="2598465" y="1453787"/>
                  </a:lnTo>
                  <a:lnTo>
                    <a:pt x="2525916" y="1450342"/>
                  </a:lnTo>
                  <a:lnTo>
                    <a:pt x="2453974" y="1446529"/>
                  </a:lnTo>
                  <a:lnTo>
                    <a:pt x="2382658" y="1442353"/>
                  </a:lnTo>
                  <a:lnTo>
                    <a:pt x="2311989" y="1437819"/>
                  </a:lnTo>
                  <a:lnTo>
                    <a:pt x="2241987" y="1432930"/>
                  </a:lnTo>
                  <a:lnTo>
                    <a:pt x="2172671" y="1427692"/>
                  </a:lnTo>
                  <a:lnTo>
                    <a:pt x="2104061" y="1422108"/>
                  </a:lnTo>
                  <a:lnTo>
                    <a:pt x="2036177" y="1416185"/>
                  </a:lnTo>
                  <a:lnTo>
                    <a:pt x="1969040" y="1409925"/>
                  </a:lnTo>
                  <a:lnTo>
                    <a:pt x="1902669" y="1403334"/>
                  </a:lnTo>
                  <a:lnTo>
                    <a:pt x="1837083" y="1396416"/>
                  </a:lnTo>
                  <a:lnTo>
                    <a:pt x="1772304" y="1389176"/>
                  </a:lnTo>
                  <a:lnTo>
                    <a:pt x="1708350" y="1381618"/>
                  </a:lnTo>
                  <a:lnTo>
                    <a:pt x="1645242" y="1373746"/>
                  </a:lnTo>
                  <a:lnTo>
                    <a:pt x="1582999" y="1365566"/>
                  </a:lnTo>
                  <a:lnTo>
                    <a:pt x="1521642" y="1357081"/>
                  </a:lnTo>
                  <a:lnTo>
                    <a:pt x="1461190" y="1348297"/>
                  </a:lnTo>
                  <a:lnTo>
                    <a:pt x="1401664" y="1339218"/>
                  </a:lnTo>
                  <a:lnTo>
                    <a:pt x="1343083" y="1329848"/>
                  </a:lnTo>
                  <a:lnTo>
                    <a:pt x="1285468" y="1320191"/>
                  </a:lnTo>
                  <a:lnTo>
                    <a:pt x="1228837" y="1310253"/>
                  </a:lnTo>
                  <a:lnTo>
                    <a:pt x="1173211" y="1300039"/>
                  </a:lnTo>
                  <a:lnTo>
                    <a:pt x="1118611" y="1289551"/>
                  </a:lnTo>
                  <a:lnTo>
                    <a:pt x="1065055" y="1278796"/>
                  </a:lnTo>
                  <a:lnTo>
                    <a:pt x="1012563" y="1267777"/>
                  </a:lnTo>
                  <a:lnTo>
                    <a:pt x="961157" y="1256499"/>
                  </a:lnTo>
                  <a:lnTo>
                    <a:pt x="910855" y="1244966"/>
                  </a:lnTo>
                  <a:lnTo>
                    <a:pt x="861678" y="1233184"/>
                  </a:lnTo>
                  <a:lnTo>
                    <a:pt x="813645" y="1221156"/>
                  </a:lnTo>
                  <a:lnTo>
                    <a:pt x="766776" y="1208888"/>
                  </a:lnTo>
                  <a:lnTo>
                    <a:pt x="721092" y="1196383"/>
                  </a:lnTo>
                  <a:lnTo>
                    <a:pt x="676611" y="1183646"/>
                  </a:lnTo>
                  <a:lnTo>
                    <a:pt x="633355" y="1170682"/>
                  </a:lnTo>
                  <a:lnTo>
                    <a:pt x="591343" y="1157496"/>
                  </a:lnTo>
                  <a:lnTo>
                    <a:pt x="550594" y="1144091"/>
                  </a:lnTo>
                  <a:lnTo>
                    <a:pt x="511130" y="1130472"/>
                  </a:lnTo>
                  <a:lnTo>
                    <a:pt x="472969" y="1116644"/>
                  </a:lnTo>
                  <a:lnTo>
                    <a:pt x="436132" y="1102612"/>
                  </a:lnTo>
                  <a:lnTo>
                    <a:pt x="400638" y="1088380"/>
                  </a:lnTo>
                  <a:lnTo>
                    <a:pt x="333761" y="1059332"/>
                  </a:lnTo>
                  <a:lnTo>
                    <a:pt x="272497" y="1029539"/>
                  </a:lnTo>
                  <a:lnTo>
                    <a:pt x="217005" y="999036"/>
                  </a:lnTo>
                  <a:lnTo>
                    <a:pt x="167446" y="967860"/>
                  </a:lnTo>
                  <a:lnTo>
                    <a:pt x="123977" y="936046"/>
                  </a:lnTo>
                  <a:lnTo>
                    <a:pt x="86759" y="903631"/>
                  </a:lnTo>
                  <a:lnTo>
                    <a:pt x="55950" y="870651"/>
                  </a:lnTo>
                  <a:lnTo>
                    <a:pt x="31711" y="837142"/>
                  </a:lnTo>
                  <a:lnTo>
                    <a:pt x="14200" y="803140"/>
                  </a:lnTo>
                  <a:lnTo>
                    <a:pt x="897" y="751294"/>
                  </a:lnTo>
                  <a:lnTo>
                    <a:pt x="0" y="733805"/>
                  </a:lnTo>
                  <a:lnTo>
                    <a:pt x="7438" y="683566"/>
                  </a:lnTo>
                  <a:lnTo>
                    <a:pt x="29432" y="634235"/>
                  </a:lnTo>
                  <a:lnTo>
                    <a:pt x="51944" y="601906"/>
                  </a:lnTo>
                  <a:lnTo>
                    <a:pt x="80570" y="570062"/>
                  </a:lnTo>
                  <a:lnTo>
                    <a:pt x="115167" y="538735"/>
                  </a:lnTo>
                  <a:lnTo>
                    <a:pt x="155594" y="507958"/>
                  </a:lnTo>
                  <a:lnTo>
                    <a:pt x="201707" y="477762"/>
                  </a:lnTo>
                  <a:lnTo>
                    <a:pt x="253364" y="448181"/>
                  </a:lnTo>
                  <a:lnTo>
                    <a:pt x="310424" y="419246"/>
                  </a:lnTo>
                  <a:lnTo>
                    <a:pt x="372744" y="390990"/>
                  </a:lnTo>
                  <a:lnTo>
                    <a:pt x="440181" y="363445"/>
                  </a:lnTo>
                  <a:lnTo>
                    <a:pt x="512594" y="336645"/>
                  </a:lnTo>
                  <a:lnTo>
                    <a:pt x="550622" y="323533"/>
                  </a:lnTo>
                  <a:lnTo>
                    <a:pt x="589840" y="310620"/>
                  </a:lnTo>
                  <a:lnTo>
                    <a:pt x="630231" y="297909"/>
                  </a:lnTo>
                  <a:lnTo>
                    <a:pt x="671777" y="285404"/>
                  </a:lnTo>
                  <a:lnTo>
                    <a:pt x="714459" y="273109"/>
                  </a:lnTo>
                  <a:lnTo>
                    <a:pt x="758262" y="261029"/>
                  </a:lnTo>
                  <a:lnTo>
                    <a:pt x="803165" y="249167"/>
                  </a:lnTo>
                  <a:lnTo>
                    <a:pt x="849153" y="237527"/>
                  </a:lnTo>
                  <a:lnTo>
                    <a:pt x="896206" y="226114"/>
                  </a:lnTo>
                  <a:lnTo>
                    <a:pt x="944308" y="214931"/>
                  </a:lnTo>
                  <a:lnTo>
                    <a:pt x="993440" y="203983"/>
                  </a:lnTo>
                  <a:lnTo>
                    <a:pt x="1043585" y="193273"/>
                  </a:lnTo>
                  <a:lnTo>
                    <a:pt x="1094724" y="182806"/>
                  </a:lnTo>
                  <a:lnTo>
                    <a:pt x="1146841" y="172586"/>
                  </a:lnTo>
                  <a:lnTo>
                    <a:pt x="1199917" y="162616"/>
                  </a:lnTo>
                  <a:lnTo>
                    <a:pt x="1253934" y="152901"/>
                  </a:lnTo>
                  <a:lnTo>
                    <a:pt x="1308875" y="143445"/>
                  </a:lnTo>
                  <a:lnTo>
                    <a:pt x="1364722" y="134252"/>
                  </a:lnTo>
                  <a:lnTo>
                    <a:pt x="1421457" y="125325"/>
                  </a:lnTo>
                  <a:lnTo>
                    <a:pt x="1479062" y="116670"/>
                  </a:lnTo>
                  <a:lnTo>
                    <a:pt x="1537520" y="108290"/>
                  </a:lnTo>
                  <a:lnTo>
                    <a:pt x="1596813" y="100188"/>
                  </a:lnTo>
                  <a:lnTo>
                    <a:pt x="1656922" y="92370"/>
                  </a:lnTo>
                  <a:lnTo>
                    <a:pt x="1717831" y="84839"/>
                  </a:lnTo>
                  <a:lnTo>
                    <a:pt x="1779522" y="77599"/>
                  </a:lnTo>
                  <a:lnTo>
                    <a:pt x="1841975" y="70655"/>
                  </a:lnTo>
                  <a:lnTo>
                    <a:pt x="1905175" y="64009"/>
                  </a:lnTo>
                  <a:lnTo>
                    <a:pt x="1969103" y="57667"/>
                  </a:lnTo>
                  <a:lnTo>
                    <a:pt x="2033741" y="51633"/>
                  </a:lnTo>
                  <a:lnTo>
                    <a:pt x="2099071" y="45910"/>
                  </a:lnTo>
                  <a:lnTo>
                    <a:pt x="2165076" y="40502"/>
                  </a:lnTo>
                  <a:lnTo>
                    <a:pt x="2231738" y="35414"/>
                  </a:lnTo>
                  <a:lnTo>
                    <a:pt x="2299040" y="30650"/>
                  </a:lnTo>
                  <a:lnTo>
                    <a:pt x="2366962" y="26213"/>
                  </a:lnTo>
                  <a:lnTo>
                    <a:pt x="2435488" y="22107"/>
                  </a:lnTo>
                  <a:lnTo>
                    <a:pt x="2504600" y="18338"/>
                  </a:lnTo>
                  <a:lnTo>
                    <a:pt x="2574280" y="14908"/>
                  </a:lnTo>
                  <a:lnTo>
                    <a:pt x="2644510" y="11823"/>
                  </a:lnTo>
                  <a:lnTo>
                    <a:pt x="2715272" y="9085"/>
                  </a:lnTo>
                  <a:lnTo>
                    <a:pt x="2786549" y="6699"/>
                  </a:lnTo>
                  <a:lnTo>
                    <a:pt x="2858323" y="4668"/>
                  </a:lnTo>
                  <a:lnTo>
                    <a:pt x="2930575" y="2998"/>
                  </a:lnTo>
                  <a:lnTo>
                    <a:pt x="3003290" y="1692"/>
                  </a:lnTo>
                  <a:lnTo>
                    <a:pt x="3076447" y="755"/>
                  </a:lnTo>
                  <a:lnTo>
                    <a:pt x="3150030" y="189"/>
                  </a:lnTo>
                  <a:lnTo>
                    <a:pt x="3224022" y="0"/>
                  </a:lnTo>
                  <a:close/>
                </a:path>
              </a:pathLst>
            </a:custGeom>
            <a:ln w="12700">
              <a:noFill/>
            </a:ln>
          </p:spPr>
          <p:txBody>
            <a:bodyPr wrap="square" lIns="0" tIns="0" rIns="0" bIns="0" rtlCol="0"/>
            <a:lstStyle/>
            <a:p>
              <a:endParaRPr/>
            </a:p>
          </p:txBody>
        </p:sp>
      </p:grpSp>
      <p:sp>
        <p:nvSpPr>
          <p:cNvPr id="58" name="object 62">
            <a:extLst>
              <a:ext uri="{FF2B5EF4-FFF2-40B4-BE49-F238E27FC236}">
                <a16:creationId xmlns:a16="http://schemas.microsoft.com/office/drawing/2014/main" id="{F03D094D-73A0-E2E6-0E9F-B80A25000DB8}"/>
              </a:ext>
            </a:extLst>
          </p:cNvPr>
          <p:cNvSpPr txBox="1"/>
          <p:nvPr/>
        </p:nvSpPr>
        <p:spPr>
          <a:xfrm>
            <a:off x="8443086" y="1542596"/>
            <a:ext cx="999810" cy="457176"/>
          </a:xfrm>
          <a:prstGeom prst="rect">
            <a:avLst/>
          </a:prstGeom>
        </p:spPr>
        <p:txBody>
          <a:bodyPr vert="horz" wrap="square" lIns="0" tIns="13335" rIns="0" bIns="0" rtlCol="0">
            <a:spAutoFit/>
          </a:bodyPr>
          <a:lstStyle/>
          <a:p>
            <a:pPr marL="12700" marR="5080" algn="ctr">
              <a:lnSpc>
                <a:spcPct val="100000"/>
              </a:lnSpc>
              <a:spcBef>
                <a:spcPts val="105"/>
              </a:spcBef>
            </a:pPr>
            <a:r>
              <a:rPr lang="zh-CN" altLang="en-US" sz="1400" b="1" spc="-15" dirty="0">
                <a:solidFill>
                  <a:srgbClr val="FFFFFF"/>
                </a:solidFill>
                <a:latin typeface="Arial" panose="020B0604020202020204" pitchFamily="34" charset="0"/>
                <a:ea typeface="微软雅黑" panose="020B0503020204020204" pitchFamily="34" charset="-122"/>
                <a:cs typeface="Microsoft YaHei"/>
              </a:rPr>
              <a:t>监控</a:t>
            </a:r>
            <a:endParaRPr lang="en-US" altLang="zh-CN" sz="1400" b="1" spc="-15" dirty="0">
              <a:solidFill>
                <a:srgbClr val="FFFFFF"/>
              </a:solidFill>
              <a:latin typeface="Arial" panose="020B0604020202020204" pitchFamily="34" charset="0"/>
              <a:ea typeface="微软雅黑" panose="020B0503020204020204" pitchFamily="34" charset="-122"/>
              <a:cs typeface="Microsoft YaHei"/>
            </a:endParaRPr>
          </a:p>
          <a:p>
            <a:pPr marL="12700" marR="5080" algn="ctr">
              <a:lnSpc>
                <a:spcPct val="100000"/>
              </a:lnSpc>
              <a:spcBef>
                <a:spcPts val="105"/>
              </a:spcBef>
            </a:pPr>
            <a:r>
              <a:rPr lang="en-US" sz="1400" b="1" spc="-15" dirty="0">
                <a:solidFill>
                  <a:srgbClr val="FFFFFF"/>
                </a:solidFill>
                <a:latin typeface="Arial" panose="020B0604020202020204" pitchFamily="34" charset="0"/>
                <a:ea typeface="微软雅黑" panose="020B0503020204020204" pitchFamily="34" charset="-122"/>
                <a:cs typeface="Microsoft YaHei"/>
              </a:rPr>
              <a:t>Monitor</a:t>
            </a:r>
            <a:endParaRPr sz="1400" dirty="0">
              <a:latin typeface="Arial" panose="020B0604020202020204" pitchFamily="34" charset="0"/>
              <a:ea typeface="微软雅黑" panose="020B0503020204020204" pitchFamily="34" charset="-122"/>
              <a:cs typeface="Microsoft YaHei"/>
            </a:endParaRPr>
          </a:p>
        </p:txBody>
      </p:sp>
      <p:sp>
        <p:nvSpPr>
          <p:cNvPr id="60" name="object 64">
            <a:extLst>
              <a:ext uri="{FF2B5EF4-FFF2-40B4-BE49-F238E27FC236}">
                <a16:creationId xmlns:a16="http://schemas.microsoft.com/office/drawing/2014/main" id="{471C9CA1-F9DD-123F-BFA7-E79D8A0586EC}"/>
              </a:ext>
            </a:extLst>
          </p:cNvPr>
          <p:cNvSpPr txBox="1"/>
          <p:nvPr/>
        </p:nvSpPr>
        <p:spPr>
          <a:xfrm>
            <a:off x="5012603" y="1176602"/>
            <a:ext cx="2666810" cy="457176"/>
          </a:xfrm>
          <a:prstGeom prst="rect">
            <a:avLst/>
          </a:prstGeom>
        </p:spPr>
        <p:txBody>
          <a:bodyPr vert="horz" wrap="square" lIns="0" tIns="13335" rIns="0" bIns="0" rtlCol="0">
            <a:spAutoFit/>
          </a:bodyPr>
          <a:lstStyle/>
          <a:p>
            <a:pPr marL="749300" marR="413384" algn="r">
              <a:lnSpc>
                <a:spcPct val="100000"/>
              </a:lnSpc>
              <a:spcBef>
                <a:spcPts val="105"/>
              </a:spcBef>
            </a:pPr>
            <a:r>
              <a:rPr lang="zh-CN" altLang="en-US" sz="1400" b="1" spc="-15" dirty="0">
                <a:solidFill>
                  <a:schemeClr val="tx2"/>
                </a:solidFill>
                <a:latin typeface="Arial" panose="020B0604020202020204" pitchFamily="34" charset="0"/>
                <a:ea typeface="微软雅黑" panose="020B0503020204020204" pitchFamily="34" charset="-122"/>
                <a:cs typeface="Microsoft YaHei"/>
              </a:rPr>
              <a:t>计划 </a:t>
            </a:r>
            <a:r>
              <a:rPr lang="en-US" altLang="zh-CN" sz="1400" b="1" spc="-15" dirty="0">
                <a:solidFill>
                  <a:schemeClr val="tx2"/>
                </a:solidFill>
                <a:latin typeface="Arial" panose="020B0604020202020204" pitchFamily="34" charset="0"/>
                <a:ea typeface="微软雅黑" panose="020B0503020204020204" pitchFamily="34" charset="-122"/>
                <a:cs typeface="Microsoft YaHei"/>
              </a:rPr>
              <a:t>Planning</a:t>
            </a:r>
          </a:p>
          <a:p>
            <a:pPr marL="749300" marR="413384" algn="r">
              <a:lnSpc>
                <a:spcPct val="100000"/>
              </a:lnSpc>
              <a:spcBef>
                <a:spcPts val="105"/>
              </a:spcBef>
            </a:pPr>
            <a:endParaRPr lang="en-US" altLang="zh-CN" sz="1400" b="1" spc="-15" dirty="0">
              <a:solidFill>
                <a:schemeClr val="tx2"/>
              </a:solidFill>
              <a:latin typeface="Arial" panose="020B0604020202020204" pitchFamily="34" charset="0"/>
              <a:ea typeface="微软雅黑" panose="020B0503020204020204" pitchFamily="34" charset="-122"/>
              <a:cs typeface="Microsoft YaHei"/>
            </a:endParaRPr>
          </a:p>
        </p:txBody>
      </p:sp>
      <p:sp>
        <p:nvSpPr>
          <p:cNvPr id="61" name="object 65">
            <a:extLst>
              <a:ext uri="{FF2B5EF4-FFF2-40B4-BE49-F238E27FC236}">
                <a16:creationId xmlns:a16="http://schemas.microsoft.com/office/drawing/2014/main" id="{7C7AEE3B-5182-BA21-3711-E798407CEB88}"/>
              </a:ext>
            </a:extLst>
          </p:cNvPr>
          <p:cNvSpPr txBox="1"/>
          <p:nvPr/>
        </p:nvSpPr>
        <p:spPr>
          <a:xfrm>
            <a:off x="3882612" y="1467820"/>
            <a:ext cx="1477390" cy="457176"/>
          </a:xfrm>
          <a:prstGeom prst="rect">
            <a:avLst/>
          </a:prstGeom>
        </p:spPr>
        <p:txBody>
          <a:bodyPr vert="horz" wrap="square" lIns="0" tIns="13335" rIns="0" bIns="0" rtlCol="0">
            <a:spAutoFit/>
          </a:bodyPr>
          <a:lstStyle/>
          <a:p>
            <a:pPr marL="12700" marR="5080" algn="ctr">
              <a:lnSpc>
                <a:spcPct val="100000"/>
              </a:lnSpc>
              <a:spcBef>
                <a:spcPts val="105"/>
              </a:spcBef>
            </a:pPr>
            <a:r>
              <a:rPr lang="zh-CN" altLang="en-US" sz="1400" b="1" spc="-15" dirty="0">
                <a:solidFill>
                  <a:srgbClr val="FFFFFF"/>
                </a:solidFill>
                <a:latin typeface="Arial" panose="020B0604020202020204" pitchFamily="34" charset="0"/>
                <a:ea typeface="微软雅黑" panose="020B0503020204020204" pitchFamily="34" charset="-122"/>
                <a:cs typeface="Microsoft YaHei"/>
              </a:rPr>
              <a:t>响应 </a:t>
            </a:r>
            <a:endParaRPr lang="en-US" altLang="zh-CN" sz="1400" b="1" spc="-15" dirty="0">
              <a:solidFill>
                <a:srgbClr val="FFFFFF"/>
              </a:solidFill>
              <a:latin typeface="Arial" panose="020B0604020202020204" pitchFamily="34" charset="0"/>
              <a:ea typeface="微软雅黑" panose="020B0503020204020204" pitchFamily="34" charset="-122"/>
              <a:cs typeface="Microsoft YaHei"/>
            </a:endParaRPr>
          </a:p>
          <a:p>
            <a:pPr marL="12700" marR="5080" algn="ctr">
              <a:lnSpc>
                <a:spcPct val="100000"/>
              </a:lnSpc>
              <a:spcBef>
                <a:spcPts val="105"/>
              </a:spcBef>
            </a:pPr>
            <a:r>
              <a:rPr lang="en-US" altLang="zh-CN" sz="1400" b="1" spc="-15" dirty="0">
                <a:solidFill>
                  <a:srgbClr val="FFFFFF"/>
                </a:solidFill>
                <a:latin typeface="Arial" panose="020B0604020202020204" pitchFamily="34" charset="0"/>
                <a:ea typeface="微软雅黑" panose="020B0503020204020204" pitchFamily="34" charset="-122"/>
                <a:cs typeface="Microsoft YaHei"/>
              </a:rPr>
              <a:t>Response</a:t>
            </a:r>
            <a:endParaRPr sz="1400" dirty="0">
              <a:latin typeface="Arial" panose="020B0604020202020204" pitchFamily="34" charset="0"/>
              <a:ea typeface="微软雅黑" panose="020B0503020204020204" pitchFamily="34" charset="-122"/>
              <a:cs typeface="Microsoft YaHei"/>
            </a:endParaRPr>
          </a:p>
        </p:txBody>
      </p:sp>
      <p:grpSp>
        <p:nvGrpSpPr>
          <p:cNvPr id="117" name="组合 116">
            <a:extLst>
              <a:ext uri="{FF2B5EF4-FFF2-40B4-BE49-F238E27FC236}">
                <a16:creationId xmlns:a16="http://schemas.microsoft.com/office/drawing/2014/main" id="{B51AB763-9A20-5AF0-E991-B42A913AE563}"/>
              </a:ext>
            </a:extLst>
          </p:cNvPr>
          <p:cNvGrpSpPr/>
          <p:nvPr/>
        </p:nvGrpSpPr>
        <p:grpSpPr>
          <a:xfrm>
            <a:off x="781812" y="1225224"/>
            <a:ext cx="2782061" cy="530351"/>
            <a:chOff x="781812" y="1225224"/>
            <a:chExt cx="2782061" cy="530351"/>
          </a:xfrm>
        </p:grpSpPr>
        <p:sp>
          <p:nvSpPr>
            <p:cNvPr id="18" name="object 22">
              <a:extLst>
                <a:ext uri="{FF2B5EF4-FFF2-40B4-BE49-F238E27FC236}">
                  <a16:creationId xmlns:a16="http://schemas.microsoft.com/office/drawing/2014/main" id="{30F54898-59F3-B277-DD54-56BD2E165744}"/>
                </a:ext>
              </a:extLst>
            </p:cNvPr>
            <p:cNvSpPr/>
            <p:nvPr/>
          </p:nvSpPr>
          <p:spPr>
            <a:xfrm>
              <a:off x="2592323" y="1511941"/>
              <a:ext cx="971550" cy="0"/>
            </a:xfrm>
            <a:custGeom>
              <a:avLst/>
              <a:gdLst/>
              <a:ahLst/>
              <a:cxnLst/>
              <a:rect l="l" t="t" r="r" b="b"/>
              <a:pathLst>
                <a:path w="971550">
                  <a:moveTo>
                    <a:pt x="0" y="0"/>
                  </a:moveTo>
                  <a:lnTo>
                    <a:pt x="971422" y="0"/>
                  </a:lnTo>
                </a:path>
              </a:pathLst>
            </a:custGeom>
            <a:ln w="12700">
              <a:solidFill>
                <a:srgbClr val="2EA2CC"/>
              </a:solidFill>
              <a:prstDash val="sysDash"/>
            </a:ln>
          </p:spPr>
          <p:txBody>
            <a:bodyPr wrap="square" lIns="0" tIns="0" rIns="0" bIns="0" rtlCol="0"/>
            <a:lstStyle/>
            <a:p>
              <a:endParaRPr/>
            </a:p>
          </p:txBody>
        </p:sp>
        <p:grpSp>
          <p:nvGrpSpPr>
            <p:cNvPr id="59" name="组合 58">
              <a:extLst>
                <a:ext uri="{FF2B5EF4-FFF2-40B4-BE49-F238E27FC236}">
                  <a16:creationId xmlns:a16="http://schemas.microsoft.com/office/drawing/2014/main" id="{2D1FD761-3534-30BC-DA31-52F9887939E3}"/>
                </a:ext>
              </a:extLst>
            </p:cNvPr>
            <p:cNvGrpSpPr/>
            <p:nvPr/>
          </p:nvGrpSpPr>
          <p:grpSpPr>
            <a:xfrm>
              <a:off x="781812" y="1225224"/>
              <a:ext cx="1807464" cy="530351"/>
              <a:chOff x="781812" y="1225224"/>
              <a:chExt cx="1807464" cy="530351"/>
            </a:xfrm>
          </p:grpSpPr>
          <p:pic>
            <p:nvPicPr>
              <p:cNvPr id="63" name="object 68">
                <a:extLst>
                  <a:ext uri="{FF2B5EF4-FFF2-40B4-BE49-F238E27FC236}">
                    <a16:creationId xmlns:a16="http://schemas.microsoft.com/office/drawing/2014/main" id="{841F4721-BEE3-6E43-C5AE-51B5BB93B4AE}"/>
                  </a:ext>
                </a:extLst>
              </p:cNvPr>
              <p:cNvPicPr/>
              <p:nvPr/>
            </p:nvPicPr>
            <p:blipFill>
              <a:blip r:embed="rId11" cstate="print"/>
              <a:stretch>
                <a:fillRect/>
              </a:stretch>
            </p:blipFill>
            <p:spPr>
              <a:xfrm>
                <a:off x="781812" y="1225224"/>
                <a:ext cx="1807464" cy="530351"/>
              </a:xfrm>
              <a:prstGeom prst="rect">
                <a:avLst/>
              </a:prstGeom>
            </p:spPr>
          </p:pic>
          <p:sp>
            <p:nvSpPr>
              <p:cNvPr id="64" name="object 69">
                <a:extLst>
                  <a:ext uri="{FF2B5EF4-FFF2-40B4-BE49-F238E27FC236}">
                    <a16:creationId xmlns:a16="http://schemas.microsoft.com/office/drawing/2014/main" id="{C5FB9413-D636-421B-7276-76EFD5270923}"/>
                  </a:ext>
                </a:extLst>
              </p:cNvPr>
              <p:cNvSpPr txBox="1"/>
              <p:nvPr/>
            </p:nvSpPr>
            <p:spPr>
              <a:xfrm>
                <a:off x="1063244" y="1296293"/>
                <a:ext cx="1244600" cy="391795"/>
              </a:xfrm>
              <a:prstGeom prst="rect">
                <a:avLst/>
              </a:prstGeom>
            </p:spPr>
            <p:txBody>
              <a:bodyPr vert="horz" wrap="square" lIns="0" tIns="12700" rIns="0" bIns="0" rtlCol="0">
                <a:spAutoFit/>
              </a:bodyPr>
              <a:lstStyle/>
              <a:p>
                <a:pPr marL="12700">
                  <a:lnSpc>
                    <a:spcPct val="100000"/>
                  </a:lnSpc>
                  <a:spcBef>
                    <a:spcPts val="100"/>
                  </a:spcBef>
                </a:pPr>
                <a:r>
                  <a:rPr sz="2400" b="1" spc="-20" dirty="0">
                    <a:solidFill>
                      <a:srgbClr val="FFFFFF"/>
                    </a:solidFill>
                    <a:latin typeface="Arial" panose="020B0604020202020204" pitchFamily="34" charset="0"/>
                    <a:ea typeface="微软雅黑" panose="020B0503020204020204" pitchFamily="34" charset="-122"/>
                    <a:cs typeface="Microsoft YaHei"/>
                  </a:rPr>
                  <a:t>数字世界</a:t>
                </a:r>
                <a:endParaRPr sz="2400" dirty="0">
                  <a:latin typeface="Arial" panose="020B0604020202020204" pitchFamily="34" charset="0"/>
                  <a:ea typeface="微软雅黑" panose="020B0503020204020204" pitchFamily="34" charset="-122"/>
                  <a:cs typeface="Microsoft YaHei"/>
                </a:endParaRPr>
              </a:p>
            </p:txBody>
          </p:sp>
        </p:grpSp>
      </p:grpSp>
      <p:grpSp>
        <p:nvGrpSpPr>
          <p:cNvPr id="3" name="组合 2">
            <a:extLst>
              <a:ext uri="{FF2B5EF4-FFF2-40B4-BE49-F238E27FC236}">
                <a16:creationId xmlns:a16="http://schemas.microsoft.com/office/drawing/2014/main" id="{306E5842-10DE-64B6-93CD-858FEB2BBAAC}"/>
              </a:ext>
            </a:extLst>
          </p:cNvPr>
          <p:cNvGrpSpPr/>
          <p:nvPr/>
        </p:nvGrpSpPr>
        <p:grpSpPr>
          <a:xfrm>
            <a:off x="781812" y="5608247"/>
            <a:ext cx="2561082" cy="530351"/>
            <a:chOff x="781812" y="5608247"/>
            <a:chExt cx="2561082" cy="530351"/>
          </a:xfrm>
        </p:grpSpPr>
        <p:sp>
          <p:nvSpPr>
            <p:cNvPr id="66" name="object 21">
              <a:extLst>
                <a:ext uri="{FF2B5EF4-FFF2-40B4-BE49-F238E27FC236}">
                  <a16:creationId xmlns:a16="http://schemas.microsoft.com/office/drawing/2014/main" id="{E6E43BBE-FC31-A94A-DF38-908876510F16}"/>
                </a:ext>
              </a:extLst>
            </p:cNvPr>
            <p:cNvSpPr/>
            <p:nvPr/>
          </p:nvSpPr>
          <p:spPr>
            <a:xfrm>
              <a:off x="2526663" y="5841215"/>
              <a:ext cx="816231" cy="45719"/>
            </a:xfrm>
            <a:custGeom>
              <a:avLst/>
              <a:gdLst/>
              <a:ahLst/>
              <a:cxnLst/>
              <a:rect l="l" t="t" r="r" b="b"/>
              <a:pathLst>
                <a:path w="970279" h="9525">
                  <a:moveTo>
                    <a:pt x="0" y="9499"/>
                  </a:moveTo>
                  <a:lnTo>
                    <a:pt x="970026" y="0"/>
                  </a:lnTo>
                </a:path>
              </a:pathLst>
            </a:custGeom>
            <a:ln w="12700">
              <a:solidFill>
                <a:srgbClr val="005BAF"/>
              </a:solidFill>
              <a:prstDash val="sysDash"/>
            </a:ln>
          </p:spPr>
          <p:txBody>
            <a:bodyPr wrap="square" lIns="0" tIns="0" rIns="0" bIns="0" rtlCol="0"/>
            <a:lstStyle/>
            <a:p>
              <a:endParaRPr/>
            </a:p>
          </p:txBody>
        </p:sp>
        <p:pic>
          <p:nvPicPr>
            <p:cNvPr id="67" name="object 70">
              <a:extLst>
                <a:ext uri="{FF2B5EF4-FFF2-40B4-BE49-F238E27FC236}">
                  <a16:creationId xmlns:a16="http://schemas.microsoft.com/office/drawing/2014/main" id="{CF512075-7C00-5A3B-13CF-5CDE8D811DB6}"/>
                </a:ext>
              </a:extLst>
            </p:cNvPr>
            <p:cNvPicPr/>
            <p:nvPr/>
          </p:nvPicPr>
          <p:blipFill>
            <a:blip r:embed="rId12" cstate="print"/>
            <a:stretch>
              <a:fillRect/>
            </a:stretch>
          </p:blipFill>
          <p:spPr>
            <a:xfrm>
              <a:off x="781812" y="5608247"/>
              <a:ext cx="1807464" cy="530351"/>
            </a:xfrm>
            <a:prstGeom prst="rect">
              <a:avLst/>
            </a:prstGeom>
          </p:spPr>
        </p:pic>
        <p:sp>
          <p:nvSpPr>
            <p:cNvPr id="68" name="object 71">
              <a:extLst>
                <a:ext uri="{FF2B5EF4-FFF2-40B4-BE49-F238E27FC236}">
                  <a16:creationId xmlns:a16="http://schemas.microsoft.com/office/drawing/2014/main" id="{FCC7AC3B-E779-49FC-B390-6104BEB99A92}"/>
                </a:ext>
              </a:extLst>
            </p:cNvPr>
            <p:cNvSpPr txBox="1"/>
            <p:nvPr/>
          </p:nvSpPr>
          <p:spPr>
            <a:xfrm>
              <a:off x="1063244" y="5680587"/>
              <a:ext cx="1244600" cy="391160"/>
            </a:xfrm>
            <a:prstGeom prst="rect">
              <a:avLst/>
            </a:prstGeom>
          </p:spPr>
          <p:txBody>
            <a:bodyPr vert="horz" wrap="square" lIns="0" tIns="12700" rIns="0" bIns="0" rtlCol="0">
              <a:spAutoFit/>
            </a:bodyPr>
            <a:lstStyle/>
            <a:p>
              <a:pPr marL="12700">
                <a:lnSpc>
                  <a:spcPct val="100000"/>
                </a:lnSpc>
                <a:spcBef>
                  <a:spcPts val="100"/>
                </a:spcBef>
              </a:pPr>
              <a:r>
                <a:rPr sz="2400" b="1" spc="-15" dirty="0">
                  <a:solidFill>
                    <a:srgbClr val="FFFFFF"/>
                  </a:solidFill>
                  <a:latin typeface="Arial" panose="020B0604020202020204" pitchFamily="34" charset="0"/>
                  <a:ea typeface="微软雅黑" panose="020B0503020204020204" pitchFamily="34" charset="-122"/>
                  <a:cs typeface="Microsoft YaHei"/>
                </a:rPr>
                <a:t>物理世界</a:t>
              </a:r>
              <a:endParaRPr sz="2400" dirty="0">
                <a:latin typeface="Arial" panose="020B0604020202020204" pitchFamily="34" charset="0"/>
                <a:ea typeface="微软雅黑" panose="020B0503020204020204" pitchFamily="34" charset="-122"/>
                <a:cs typeface="Microsoft YaHei"/>
              </a:endParaRPr>
            </a:p>
          </p:txBody>
        </p:sp>
      </p:grpSp>
      <p:sp>
        <p:nvSpPr>
          <p:cNvPr id="69" name="object 73">
            <a:extLst>
              <a:ext uri="{FF2B5EF4-FFF2-40B4-BE49-F238E27FC236}">
                <a16:creationId xmlns:a16="http://schemas.microsoft.com/office/drawing/2014/main" id="{19666900-00C7-E91D-1B1C-4499209E4E0B}"/>
              </a:ext>
            </a:extLst>
          </p:cNvPr>
          <p:cNvSpPr/>
          <p:nvPr/>
        </p:nvSpPr>
        <p:spPr>
          <a:xfrm>
            <a:off x="2077839" y="4482884"/>
            <a:ext cx="127000" cy="914400"/>
          </a:xfrm>
          <a:custGeom>
            <a:avLst/>
            <a:gdLst/>
            <a:ahLst/>
            <a:cxnLst/>
            <a:rect l="l" t="t" r="r" b="b"/>
            <a:pathLst>
              <a:path w="127000" h="914400">
                <a:moveTo>
                  <a:pt x="57150" y="787400"/>
                </a:moveTo>
                <a:lnTo>
                  <a:pt x="0" y="787400"/>
                </a:lnTo>
                <a:lnTo>
                  <a:pt x="63500" y="914400"/>
                </a:lnTo>
                <a:lnTo>
                  <a:pt x="120650" y="800100"/>
                </a:lnTo>
                <a:lnTo>
                  <a:pt x="57150" y="800100"/>
                </a:lnTo>
                <a:lnTo>
                  <a:pt x="57150" y="787400"/>
                </a:lnTo>
                <a:close/>
              </a:path>
              <a:path w="127000" h="914400">
                <a:moveTo>
                  <a:pt x="69850" y="762000"/>
                </a:moveTo>
                <a:lnTo>
                  <a:pt x="57150" y="762000"/>
                </a:lnTo>
                <a:lnTo>
                  <a:pt x="57150" y="800100"/>
                </a:lnTo>
                <a:lnTo>
                  <a:pt x="69850" y="800100"/>
                </a:lnTo>
                <a:lnTo>
                  <a:pt x="69850" y="762000"/>
                </a:lnTo>
                <a:close/>
              </a:path>
              <a:path w="127000" h="914400">
                <a:moveTo>
                  <a:pt x="127000" y="787400"/>
                </a:moveTo>
                <a:lnTo>
                  <a:pt x="69850" y="787400"/>
                </a:lnTo>
                <a:lnTo>
                  <a:pt x="69850" y="800100"/>
                </a:lnTo>
                <a:lnTo>
                  <a:pt x="120650" y="800100"/>
                </a:lnTo>
                <a:lnTo>
                  <a:pt x="127000" y="787400"/>
                </a:lnTo>
                <a:close/>
              </a:path>
              <a:path w="127000" h="914400">
                <a:moveTo>
                  <a:pt x="69850" y="711200"/>
                </a:moveTo>
                <a:lnTo>
                  <a:pt x="57150" y="711200"/>
                </a:lnTo>
                <a:lnTo>
                  <a:pt x="57150" y="749300"/>
                </a:lnTo>
                <a:lnTo>
                  <a:pt x="69850" y="749300"/>
                </a:lnTo>
                <a:lnTo>
                  <a:pt x="69850" y="711200"/>
                </a:lnTo>
                <a:close/>
              </a:path>
              <a:path w="127000" h="914400">
                <a:moveTo>
                  <a:pt x="69850" y="660400"/>
                </a:moveTo>
                <a:lnTo>
                  <a:pt x="57150" y="660400"/>
                </a:lnTo>
                <a:lnTo>
                  <a:pt x="57150" y="698500"/>
                </a:lnTo>
                <a:lnTo>
                  <a:pt x="69850" y="698500"/>
                </a:lnTo>
                <a:lnTo>
                  <a:pt x="69850" y="660400"/>
                </a:lnTo>
                <a:close/>
              </a:path>
              <a:path w="127000" h="914400">
                <a:moveTo>
                  <a:pt x="69850" y="609600"/>
                </a:moveTo>
                <a:lnTo>
                  <a:pt x="57150" y="609600"/>
                </a:lnTo>
                <a:lnTo>
                  <a:pt x="57150" y="647700"/>
                </a:lnTo>
                <a:lnTo>
                  <a:pt x="69850" y="647700"/>
                </a:lnTo>
                <a:lnTo>
                  <a:pt x="69850" y="609600"/>
                </a:lnTo>
                <a:close/>
              </a:path>
              <a:path w="127000" h="914400">
                <a:moveTo>
                  <a:pt x="69850" y="558800"/>
                </a:moveTo>
                <a:lnTo>
                  <a:pt x="57150" y="558800"/>
                </a:lnTo>
                <a:lnTo>
                  <a:pt x="57150" y="596900"/>
                </a:lnTo>
                <a:lnTo>
                  <a:pt x="69850" y="596900"/>
                </a:lnTo>
                <a:lnTo>
                  <a:pt x="69850" y="558800"/>
                </a:lnTo>
                <a:close/>
              </a:path>
              <a:path w="127000" h="914400">
                <a:moveTo>
                  <a:pt x="69850" y="508000"/>
                </a:moveTo>
                <a:lnTo>
                  <a:pt x="57150" y="508000"/>
                </a:lnTo>
                <a:lnTo>
                  <a:pt x="57150" y="546100"/>
                </a:lnTo>
                <a:lnTo>
                  <a:pt x="69850" y="546100"/>
                </a:lnTo>
                <a:lnTo>
                  <a:pt x="69850" y="508000"/>
                </a:lnTo>
                <a:close/>
              </a:path>
              <a:path w="127000" h="914400">
                <a:moveTo>
                  <a:pt x="69850" y="457200"/>
                </a:moveTo>
                <a:lnTo>
                  <a:pt x="57150" y="457200"/>
                </a:lnTo>
                <a:lnTo>
                  <a:pt x="57150" y="495300"/>
                </a:lnTo>
                <a:lnTo>
                  <a:pt x="69850" y="495300"/>
                </a:lnTo>
                <a:lnTo>
                  <a:pt x="69850" y="457200"/>
                </a:lnTo>
                <a:close/>
              </a:path>
              <a:path w="127000" h="914400">
                <a:moveTo>
                  <a:pt x="69850" y="406400"/>
                </a:moveTo>
                <a:lnTo>
                  <a:pt x="57150" y="406400"/>
                </a:lnTo>
                <a:lnTo>
                  <a:pt x="57150" y="444500"/>
                </a:lnTo>
                <a:lnTo>
                  <a:pt x="69850" y="444500"/>
                </a:lnTo>
                <a:lnTo>
                  <a:pt x="69850" y="406400"/>
                </a:lnTo>
                <a:close/>
              </a:path>
              <a:path w="127000" h="914400">
                <a:moveTo>
                  <a:pt x="69850" y="355600"/>
                </a:moveTo>
                <a:lnTo>
                  <a:pt x="57150" y="355600"/>
                </a:lnTo>
                <a:lnTo>
                  <a:pt x="57150" y="393700"/>
                </a:lnTo>
                <a:lnTo>
                  <a:pt x="69850" y="393700"/>
                </a:lnTo>
                <a:lnTo>
                  <a:pt x="69850" y="355600"/>
                </a:lnTo>
                <a:close/>
              </a:path>
              <a:path w="127000" h="914400">
                <a:moveTo>
                  <a:pt x="69850" y="304800"/>
                </a:moveTo>
                <a:lnTo>
                  <a:pt x="57150" y="304800"/>
                </a:lnTo>
                <a:lnTo>
                  <a:pt x="57150" y="342900"/>
                </a:lnTo>
                <a:lnTo>
                  <a:pt x="69850" y="342900"/>
                </a:lnTo>
                <a:lnTo>
                  <a:pt x="69850" y="304800"/>
                </a:lnTo>
                <a:close/>
              </a:path>
              <a:path w="127000" h="914400">
                <a:moveTo>
                  <a:pt x="69850" y="254000"/>
                </a:moveTo>
                <a:lnTo>
                  <a:pt x="57150" y="254000"/>
                </a:lnTo>
                <a:lnTo>
                  <a:pt x="57150" y="292100"/>
                </a:lnTo>
                <a:lnTo>
                  <a:pt x="69850" y="292100"/>
                </a:lnTo>
                <a:lnTo>
                  <a:pt x="69850" y="254000"/>
                </a:lnTo>
                <a:close/>
              </a:path>
              <a:path w="127000" h="914400">
                <a:moveTo>
                  <a:pt x="69850" y="203200"/>
                </a:moveTo>
                <a:lnTo>
                  <a:pt x="57150" y="203200"/>
                </a:lnTo>
                <a:lnTo>
                  <a:pt x="57150" y="241300"/>
                </a:lnTo>
                <a:lnTo>
                  <a:pt x="69850" y="241300"/>
                </a:lnTo>
                <a:lnTo>
                  <a:pt x="69850" y="203200"/>
                </a:lnTo>
                <a:close/>
              </a:path>
              <a:path w="127000" h="914400">
                <a:moveTo>
                  <a:pt x="69850" y="152400"/>
                </a:moveTo>
                <a:lnTo>
                  <a:pt x="57150" y="152400"/>
                </a:lnTo>
                <a:lnTo>
                  <a:pt x="57150" y="190500"/>
                </a:lnTo>
                <a:lnTo>
                  <a:pt x="69850" y="190500"/>
                </a:lnTo>
                <a:lnTo>
                  <a:pt x="69850" y="152400"/>
                </a:lnTo>
                <a:close/>
              </a:path>
              <a:path w="127000" h="914400">
                <a:moveTo>
                  <a:pt x="69850" y="101600"/>
                </a:moveTo>
                <a:lnTo>
                  <a:pt x="57150" y="101600"/>
                </a:lnTo>
                <a:lnTo>
                  <a:pt x="57150" y="139700"/>
                </a:lnTo>
                <a:lnTo>
                  <a:pt x="69850" y="139700"/>
                </a:lnTo>
                <a:lnTo>
                  <a:pt x="69850" y="101600"/>
                </a:lnTo>
                <a:close/>
              </a:path>
              <a:path w="127000" h="914400">
                <a:moveTo>
                  <a:pt x="69850" y="50800"/>
                </a:moveTo>
                <a:lnTo>
                  <a:pt x="57150" y="50800"/>
                </a:lnTo>
                <a:lnTo>
                  <a:pt x="57150" y="88900"/>
                </a:lnTo>
                <a:lnTo>
                  <a:pt x="69850" y="88900"/>
                </a:lnTo>
                <a:lnTo>
                  <a:pt x="69850" y="50800"/>
                </a:lnTo>
                <a:close/>
              </a:path>
              <a:path w="127000" h="914400">
                <a:moveTo>
                  <a:pt x="69850" y="0"/>
                </a:moveTo>
                <a:lnTo>
                  <a:pt x="57150" y="0"/>
                </a:lnTo>
                <a:lnTo>
                  <a:pt x="57150" y="38100"/>
                </a:lnTo>
                <a:lnTo>
                  <a:pt x="69850" y="38100"/>
                </a:lnTo>
                <a:lnTo>
                  <a:pt x="69850" y="0"/>
                </a:lnTo>
                <a:close/>
              </a:path>
            </a:pathLst>
          </a:custGeom>
          <a:solidFill>
            <a:srgbClr val="FFC000"/>
          </a:solidFill>
        </p:spPr>
        <p:txBody>
          <a:bodyPr wrap="square" lIns="0" tIns="0" rIns="0" bIns="0" rtlCol="0"/>
          <a:lstStyle/>
          <a:p>
            <a:endParaRPr/>
          </a:p>
        </p:txBody>
      </p:sp>
      <p:sp>
        <p:nvSpPr>
          <p:cNvPr id="70" name="object 74">
            <a:extLst>
              <a:ext uri="{FF2B5EF4-FFF2-40B4-BE49-F238E27FC236}">
                <a16:creationId xmlns:a16="http://schemas.microsoft.com/office/drawing/2014/main" id="{55C5A6B4-09C9-B158-1EAE-5AB14C9FEA37}"/>
              </a:ext>
            </a:extLst>
          </p:cNvPr>
          <p:cNvSpPr/>
          <p:nvPr/>
        </p:nvSpPr>
        <p:spPr>
          <a:xfrm>
            <a:off x="1306187" y="4477169"/>
            <a:ext cx="0" cy="919480"/>
          </a:xfrm>
          <a:custGeom>
            <a:avLst/>
            <a:gdLst/>
            <a:ahLst/>
            <a:cxnLst/>
            <a:rect l="l" t="t" r="r" b="b"/>
            <a:pathLst>
              <a:path h="919479">
                <a:moveTo>
                  <a:pt x="0" y="919226"/>
                </a:moveTo>
                <a:lnTo>
                  <a:pt x="0" y="0"/>
                </a:lnTo>
              </a:path>
            </a:pathLst>
          </a:custGeom>
          <a:ln w="12700">
            <a:solidFill>
              <a:srgbClr val="FFC000"/>
            </a:solidFill>
            <a:prstDash val="sysDash"/>
          </a:ln>
        </p:spPr>
        <p:txBody>
          <a:bodyPr wrap="square" lIns="0" tIns="0" rIns="0" bIns="0" rtlCol="0"/>
          <a:lstStyle/>
          <a:p>
            <a:endParaRPr/>
          </a:p>
        </p:txBody>
      </p:sp>
      <p:pic>
        <p:nvPicPr>
          <p:cNvPr id="71" name="object 75">
            <a:extLst>
              <a:ext uri="{FF2B5EF4-FFF2-40B4-BE49-F238E27FC236}">
                <a16:creationId xmlns:a16="http://schemas.microsoft.com/office/drawing/2014/main" id="{AC5F2245-69DE-9DC1-45FE-597E7E442337}"/>
              </a:ext>
            </a:extLst>
          </p:cNvPr>
          <p:cNvPicPr/>
          <p:nvPr/>
        </p:nvPicPr>
        <p:blipFill>
          <a:blip r:embed="rId13" cstate="print"/>
          <a:stretch>
            <a:fillRect/>
          </a:stretch>
        </p:blipFill>
        <p:spPr>
          <a:xfrm>
            <a:off x="5521443" y="1179866"/>
            <a:ext cx="356615" cy="356615"/>
          </a:xfrm>
          <a:prstGeom prst="rect">
            <a:avLst/>
          </a:prstGeom>
        </p:spPr>
      </p:pic>
      <p:pic>
        <p:nvPicPr>
          <p:cNvPr id="72" name="object 76">
            <a:extLst>
              <a:ext uri="{FF2B5EF4-FFF2-40B4-BE49-F238E27FC236}">
                <a16:creationId xmlns:a16="http://schemas.microsoft.com/office/drawing/2014/main" id="{E539A63D-0C51-A58C-8325-BE8DE3F04385}"/>
              </a:ext>
            </a:extLst>
          </p:cNvPr>
          <p:cNvPicPr/>
          <p:nvPr/>
        </p:nvPicPr>
        <p:blipFill>
          <a:blip r:embed="rId14" cstate="print"/>
          <a:stretch>
            <a:fillRect/>
          </a:stretch>
        </p:blipFill>
        <p:spPr>
          <a:xfrm>
            <a:off x="3792584" y="1523949"/>
            <a:ext cx="394715" cy="393191"/>
          </a:xfrm>
          <a:prstGeom prst="rect">
            <a:avLst/>
          </a:prstGeom>
        </p:spPr>
      </p:pic>
      <p:pic>
        <p:nvPicPr>
          <p:cNvPr id="73" name="object 77">
            <a:extLst>
              <a:ext uri="{FF2B5EF4-FFF2-40B4-BE49-F238E27FC236}">
                <a16:creationId xmlns:a16="http://schemas.microsoft.com/office/drawing/2014/main" id="{DC4C14AF-8B00-607D-EC37-DA064A8B798F}"/>
              </a:ext>
            </a:extLst>
          </p:cNvPr>
          <p:cNvPicPr/>
          <p:nvPr/>
        </p:nvPicPr>
        <p:blipFill>
          <a:blip r:embed="rId15" cstate="print"/>
          <a:stretch>
            <a:fillRect/>
          </a:stretch>
        </p:blipFill>
        <p:spPr>
          <a:xfrm>
            <a:off x="8055983" y="1546517"/>
            <a:ext cx="345948" cy="384048"/>
          </a:xfrm>
          <a:prstGeom prst="rect">
            <a:avLst/>
          </a:prstGeom>
        </p:spPr>
      </p:pic>
      <p:sp>
        <p:nvSpPr>
          <p:cNvPr id="74" name="object 81">
            <a:extLst>
              <a:ext uri="{FF2B5EF4-FFF2-40B4-BE49-F238E27FC236}">
                <a16:creationId xmlns:a16="http://schemas.microsoft.com/office/drawing/2014/main" id="{2AA061DD-5F0B-65B2-B058-20074E360293}"/>
              </a:ext>
            </a:extLst>
          </p:cNvPr>
          <p:cNvSpPr txBox="1"/>
          <p:nvPr/>
        </p:nvSpPr>
        <p:spPr>
          <a:xfrm>
            <a:off x="6336919" y="3804847"/>
            <a:ext cx="203835" cy="228268"/>
          </a:xfrm>
          <a:prstGeom prst="rect">
            <a:avLst/>
          </a:prstGeom>
        </p:spPr>
        <p:txBody>
          <a:bodyPr vert="horz" wrap="square" lIns="0" tIns="12700" rIns="0" bIns="0" rtlCol="0">
            <a:spAutoFit/>
          </a:bodyPr>
          <a:lstStyle/>
          <a:p>
            <a:pPr marL="12700">
              <a:lnSpc>
                <a:spcPct val="100000"/>
              </a:lnSpc>
              <a:spcBef>
                <a:spcPts val="100"/>
              </a:spcBef>
            </a:pPr>
            <a:r>
              <a:rPr sz="1400" b="1" spc="-50" dirty="0">
                <a:solidFill>
                  <a:srgbClr val="FFFFFF"/>
                </a:solidFill>
                <a:latin typeface="Arial" panose="020B0604020202020204" pitchFamily="34" charset="0"/>
                <a:ea typeface="微软雅黑" panose="020B0503020204020204" pitchFamily="34" charset="-122"/>
                <a:cs typeface="Microsoft YaHei"/>
              </a:rPr>
              <a:t>从</a:t>
            </a:r>
            <a:endParaRPr sz="1400" dirty="0">
              <a:latin typeface="Arial" panose="020B0604020202020204" pitchFamily="34" charset="0"/>
              <a:ea typeface="微软雅黑" panose="020B0503020204020204" pitchFamily="34" charset="-122"/>
              <a:cs typeface="Microsoft YaHei"/>
            </a:endParaRPr>
          </a:p>
        </p:txBody>
      </p:sp>
      <p:sp>
        <p:nvSpPr>
          <p:cNvPr id="75" name="object 82">
            <a:extLst>
              <a:ext uri="{FF2B5EF4-FFF2-40B4-BE49-F238E27FC236}">
                <a16:creationId xmlns:a16="http://schemas.microsoft.com/office/drawing/2014/main" id="{935750C4-DB12-DB0D-AEAA-8EBBD7C0C4D8}"/>
              </a:ext>
            </a:extLst>
          </p:cNvPr>
          <p:cNvSpPr txBox="1"/>
          <p:nvPr/>
        </p:nvSpPr>
        <p:spPr>
          <a:xfrm>
            <a:off x="6336919" y="4231568"/>
            <a:ext cx="203835" cy="228268"/>
          </a:xfrm>
          <a:prstGeom prst="rect">
            <a:avLst/>
          </a:prstGeom>
        </p:spPr>
        <p:txBody>
          <a:bodyPr vert="horz" wrap="square" lIns="0" tIns="12700" rIns="0" bIns="0" rtlCol="0">
            <a:spAutoFit/>
          </a:bodyPr>
          <a:lstStyle/>
          <a:p>
            <a:pPr marL="12700">
              <a:lnSpc>
                <a:spcPct val="100000"/>
              </a:lnSpc>
              <a:spcBef>
                <a:spcPts val="100"/>
              </a:spcBef>
            </a:pPr>
            <a:r>
              <a:rPr lang="zh-CN" altLang="en-US" sz="1400" b="1" spc="-50" dirty="0">
                <a:solidFill>
                  <a:srgbClr val="FFFFFF"/>
                </a:solidFill>
                <a:latin typeface="Arial" panose="020B0604020202020204" pitchFamily="34" charset="0"/>
                <a:ea typeface="微软雅黑" panose="020B0503020204020204" pitchFamily="34" charset="-122"/>
                <a:cs typeface="Microsoft YaHei"/>
              </a:rPr>
              <a:t>求</a:t>
            </a:r>
            <a:endParaRPr sz="1400" dirty="0">
              <a:latin typeface="Arial" panose="020B0604020202020204" pitchFamily="34" charset="0"/>
              <a:ea typeface="微软雅黑" panose="020B0503020204020204" pitchFamily="34" charset="-122"/>
              <a:cs typeface="Microsoft YaHei"/>
            </a:endParaRPr>
          </a:p>
        </p:txBody>
      </p:sp>
      <p:sp>
        <p:nvSpPr>
          <p:cNvPr id="76" name="object 83">
            <a:extLst>
              <a:ext uri="{FF2B5EF4-FFF2-40B4-BE49-F238E27FC236}">
                <a16:creationId xmlns:a16="http://schemas.microsoft.com/office/drawing/2014/main" id="{48FD161A-98E5-775B-9166-229C40EC1765}"/>
              </a:ext>
            </a:extLst>
          </p:cNvPr>
          <p:cNvSpPr txBox="1"/>
          <p:nvPr/>
        </p:nvSpPr>
        <p:spPr>
          <a:xfrm>
            <a:off x="6336919" y="4658288"/>
            <a:ext cx="203835" cy="435889"/>
          </a:xfrm>
          <a:prstGeom prst="rect">
            <a:avLst/>
          </a:prstGeom>
        </p:spPr>
        <p:txBody>
          <a:bodyPr vert="horz" wrap="square" lIns="0" tIns="11430" rIns="0" bIns="0" rtlCol="0">
            <a:spAutoFit/>
          </a:bodyPr>
          <a:lstStyle/>
          <a:p>
            <a:pPr marL="12700" marR="5080">
              <a:lnSpc>
                <a:spcPct val="100800"/>
              </a:lnSpc>
              <a:spcBef>
                <a:spcPts val="90"/>
              </a:spcBef>
            </a:pPr>
            <a:r>
              <a:rPr sz="1400" b="1" spc="-50" dirty="0">
                <a:solidFill>
                  <a:srgbClr val="FFFFFF"/>
                </a:solidFill>
                <a:latin typeface="Arial" panose="020B0604020202020204" pitchFamily="34" charset="0"/>
                <a:ea typeface="微软雅黑" panose="020B0503020204020204" pitchFamily="34" charset="-122"/>
                <a:cs typeface="Microsoft YaHei"/>
              </a:rPr>
              <a:t>交付</a:t>
            </a:r>
            <a:endParaRPr sz="1400">
              <a:latin typeface="Arial" panose="020B0604020202020204" pitchFamily="34" charset="0"/>
              <a:ea typeface="微软雅黑" panose="020B0503020204020204" pitchFamily="34" charset="-122"/>
              <a:cs typeface="Microsoft YaHei"/>
            </a:endParaRPr>
          </a:p>
        </p:txBody>
      </p:sp>
      <p:sp>
        <p:nvSpPr>
          <p:cNvPr id="77" name="object 84">
            <a:extLst>
              <a:ext uri="{FF2B5EF4-FFF2-40B4-BE49-F238E27FC236}">
                <a16:creationId xmlns:a16="http://schemas.microsoft.com/office/drawing/2014/main" id="{8DF9A56B-7030-E42E-6C8B-94452F5EE371}"/>
              </a:ext>
            </a:extLst>
          </p:cNvPr>
          <p:cNvSpPr txBox="1"/>
          <p:nvPr/>
        </p:nvSpPr>
        <p:spPr>
          <a:xfrm>
            <a:off x="7329931" y="3820672"/>
            <a:ext cx="204470" cy="454025"/>
          </a:xfrm>
          <a:prstGeom prst="rect">
            <a:avLst/>
          </a:prstGeom>
        </p:spPr>
        <p:txBody>
          <a:bodyPr vert="horz" wrap="square" lIns="0" tIns="13335" rIns="0" bIns="0" rtlCol="0">
            <a:spAutoFit/>
          </a:bodyPr>
          <a:lstStyle/>
          <a:p>
            <a:pPr marL="12700">
              <a:lnSpc>
                <a:spcPct val="100000"/>
              </a:lnSpc>
              <a:spcBef>
                <a:spcPts val="105"/>
              </a:spcBef>
            </a:pPr>
            <a:r>
              <a:rPr sz="1400" b="1" spc="-50" dirty="0">
                <a:solidFill>
                  <a:srgbClr val="FFFFFF"/>
                </a:solidFill>
                <a:latin typeface="Arial" panose="020B0604020202020204" pitchFamily="34" charset="0"/>
                <a:ea typeface="微软雅黑" panose="020B0503020204020204" pitchFamily="34" charset="-122"/>
                <a:cs typeface="Microsoft YaHei"/>
              </a:rPr>
              <a:t>从</a:t>
            </a:r>
            <a:endParaRPr sz="1400">
              <a:latin typeface="Arial" panose="020B0604020202020204" pitchFamily="34" charset="0"/>
              <a:ea typeface="微软雅黑" panose="020B0503020204020204" pitchFamily="34" charset="-122"/>
              <a:cs typeface="Microsoft YaHei"/>
            </a:endParaRPr>
          </a:p>
          <a:p>
            <a:pPr marL="12700">
              <a:lnSpc>
                <a:spcPct val="100000"/>
              </a:lnSpc>
              <a:spcBef>
                <a:spcPts val="5"/>
              </a:spcBef>
            </a:pPr>
            <a:r>
              <a:rPr sz="1400" b="1" spc="-50" dirty="0">
                <a:solidFill>
                  <a:srgbClr val="FFFFFF"/>
                </a:solidFill>
                <a:latin typeface="Arial" panose="020B0604020202020204" pitchFamily="34" charset="0"/>
                <a:ea typeface="微软雅黑" panose="020B0503020204020204" pitchFamily="34" charset="-122"/>
                <a:cs typeface="Microsoft YaHei"/>
              </a:rPr>
              <a:t>设</a:t>
            </a:r>
            <a:endParaRPr sz="1400">
              <a:latin typeface="Arial" panose="020B0604020202020204" pitchFamily="34" charset="0"/>
              <a:ea typeface="微软雅黑" panose="020B0503020204020204" pitchFamily="34" charset="-122"/>
              <a:cs typeface="Microsoft YaHei"/>
            </a:endParaRPr>
          </a:p>
        </p:txBody>
      </p:sp>
      <p:sp>
        <p:nvSpPr>
          <p:cNvPr id="78" name="object 85">
            <a:extLst>
              <a:ext uri="{FF2B5EF4-FFF2-40B4-BE49-F238E27FC236}">
                <a16:creationId xmlns:a16="http://schemas.microsoft.com/office/drawing/2014/main" id="{7ACBED59-5E18-2550-2A75-A621305D142A}"/>
              </a:ext>
            </a:extLst>
          </p:cNvPr>
          <p:cNvSpPr txBox="1"/>
          <p:nvPr/>
        </p:nvSpPr>
        <p:spPr>
          <a:xfrm>
            <a:off x="7329931" y="4248077"/>
            <a:ext cx="203835" cy="228268"/>
          </a:xfrm>
          <a:prstGeom prst="rect">
            <a:avLst/>
          </a:prstGeom>
        </p:spPr>
        <p:txBody>
          <a:bodyPr vert="horz" wrap="square" lIns="0" tIns="12700" rIns="0" bIns="0" rtlCol="0">
            <a:spAutoFit/>
          </a:bodyPr>
          <a:lstStyle/>
          <a:p>
            <a:pPr marL="12700">
              <a:lnSpc>
                <a:spcPct val="100000"/>
              </a:lnSpc>
              <a:spcBef>
                <a:spcPts val="100"/>
              </a:spcBef>
            </a:pPr>
            <a:r>
              <a:rPr sz="1400" b="1" spc="-50" dirty="0">
                <a:solidFill>
                  <a:srgbClr val="FFFFFF"/>
                </a:solidFill>
                <a:latin typeface="Arial" panose="020B0604020202020204" pitchFamily="34" charset="0"/>
                <a:ea typeface="微软雅黑" panose="020B0503020204020204" pitchFamily="34" charset="-122"/>
                <a:cs typeface="Microsoft YaHei"/>
              </a:rPr>
              <a:t>计</a:t>
            </a:r>
            <a:endParaRPr sz="1400">
              <a:latin typeface="Arial" panose="020B0604020202020204" pitchFamily="34" charset="0"/>
              <a:ea typeface="微软雅黑" panose="020B0503020204020204" pitchFamily="34" charset="-122"/>
              <a:cs typeface="Microsoft YaHei"/>
            </a:endParaRPr>
          </a:p>
        </p:txBody>
      </p:sp>
      <p:sp>
        <p:nvSpPr>
          <p:cNvPr id="79" name="object 86">
            <a:extLst>
              <a:ext uri="{FF2B5EF4-FFF2-40B4-BE49-F238E27FC236}">
                <a16:creationId xmlns:a16="http://schemas.microsoft.com/office/drawing/2014/main" id="{EE20B671-308F-DEA3-743C-2347D439ED0F}"/>
              </a:ext>
            </a:extLst>
          </p:cNvPr>
          <p:cNvSpPr txBox="1"/>
          <p:nvPr/>
        </p:nvSpPr>
        <p:spPr>
          <a:xfrm>
            <a:off x="7329931" y="4674797"/>
            <a:ext cx="203835" cy="435889"/>
          </a:xfrm>
          <a:prstGeom prst="rect">
            <a:avLst/>
          </a:prstGeom>
        </p:spPr>
        <p:txBody>
          <a:bodyPr vert="horz" wrap="square" lIns="0" tIns="11430" rIns="0" bIns="0" rtlCol="0">
            <a:spAutoFit/>
          </a:bodyPr>
          <a:lstStyle/>
          <a:p>
            <a:pPr marL="12700" marR="5080">
              <a:lnSpc>
                <a:spcPct val="100699"/>
              </a:lnSpc>
              <a:spcBef>
                <a:spcPts val="90"/>
              </a:spcBef>
            </a:pPr>
            <a:r>
              <a:rPr sz="1400" b="1" spc="-50" dirty="0">
                <a:solidFill>
                  <a:srgbClr val="FFFFFF"/>
                </a:solidFill>
                <a:latin typeface="Arial" panose="020B0604020202020204" pitchFamily="34" charset="0"/>
                <a:ea typeface="微软雅黑" panose="020B0503020204020204" pitchFamily="34" charset="-122"/>
                <a:cs typeface="Microsoft YaHei"/>
              </a:rPr>
              <a:t>生产</a:t>
            </a:r>
            <a:endParaRPr sz="1400">
              <a:latin typeface="Arial" panose="020B0604020202020204" pitchFamily="34" charset="0"/>
              <a:ea typeface="微软雅黑" panose="020B0503020204020204" pitchFamily="34" charset="-122"/>
              <a:cs typeface="Microsoft YaHei"/>
            </a:endParaRPr>
          </a:p>
        </p:txBody>
      </p:sp>
      <p:grpSp>
        <p:nvGrpSpPr>
          <p:cNvPr id="80" name="object 87">
            <a:extLst>
              <a:ext uri="{FF2B5EF4-FFF2-40B4-BE49-F238E27FC236}">
                <a16:creationId xmlns:a16="http://schemas.microsoft.com/office/drawing/2014/main" id="{E08EBED6-2DDC-AAA7-6B37-8F655433B4D4}"/>
              </a:ext>
            </a:extLst>
          </p:cNvPr>
          <p:cNvGrpSpPr/>
          <p:nvPr/>
        </p:nvGrpSpPr>
        <p:grpSpPr>
          <a:xfrm>
            <a:off x="9825228" y="5698164"/>
            <a:ext cx="683260" cy="683260"/>
            <a:chOff x="9825228" y="5548884"/>
            <a:chExt cx="683260" cy="683260"/>
          </a:xfrm>
        </p:grpSpPr>
        <p:pic>
          <p:nvPicPr>
            <p:cNvPr id="81" name="object 88">
              <a:extLst>
                <a:ext uri="{FF2B5EF4-FFF2-40B4-BE49-F238E27FC236}">
                  <a16:creationId xmlns:a16="http://schemas.microsoft.com/office/drawing/2014/main" id="{720B9DFE-2F92-C68B-1140-167EBF2A6D3A}"/>
                </a:ext>
              </a:extLst>
            </p:cNvPr>
            <p:cNvPicPr/>
            <p:nvPr/>
          </p:nvPicPr>
          <p:blipFill>
            <a:blip r:embed="rId16" cstate="print"/>
            <a:stretch>
              <a:fillRect/>
            </a:stretch>
          </p:blipFill>
          <p:spPr>
            <a:xfrm>
              <a:off x="9825228" y="5548884"/>
              <a:ext cx="682739" cy="682739"/>
            </a:xfrm>
            <a:prstGeom prst="rect">
              <a:avLst/>
            </a:prstGeom>
          </p:spPr>
        </p:pic>
        <p:sp>
          <p:nvSpPr>
            <p:cNvPr id="82" name="object 89">
              <a:extLst>
                <a:ext uri="{FF2B5EF4-FFF2-40B4-BE49-F238E27FC236}">
                  <a16:creationId xmlns:a16="http://schemas.microsoft.com/office/drawing/2014/main" id="{8F96C0FE-C2BF-6E31-1924-9763E7C795A2}"/>
                </a:ext>
              </a:extLst>
            </p:cNvPr>
            <p:cNvSpPr/>
            <p:nvPr/>
          </p:nvSpPr>
          <p:spPr>
            <a:xfrm>
              <a:off x="9955530" y="5679186"/>
              <a:ext cx="426720" cy="426720"/>
            </a:xfrm>
            <a:custGeom>
              <a:avLst/>
              <a:gdLst/>
              <a:ahLst/>
              <a:cxnLst/>
              <a:rect l="l" t="t" r="r" b="b"/>
              <a:pathLst>
                <a:path w="426720" h="426720">
                  <a:moveTo>
                    <a:pt x="213360" y="0"/>
                  </a:moveTo>
                  <a:lnTo>
                    <a:pt x="164432" y="5635"/>
                  </a:lnTo>
                  <a:lnTo>
                    <a:pt x="119520" y="21687"/>
                  </a:lnTo>
                  <a:lnTo>
                    <a:pt x="79905" y="46874"/>
                  </a:lnTo>
                  <a:lnTo>
                    <a:pt x="46866" y="79916"/>
                  </a:lnTo>
                  <a:lnTo>
                    <a:pt x="21682" y="119531"/>
                  </a:lnTo>
                  <a:lnTo>
                    <a:pt x="5633" y="164440"/>
                  </a:lnTo>
                  <a:lnTo>
                    <a:pt x="0" y="213359"/>
                  </a:lnTo>
                  <a:lnTo>
                    <a:pt x="5633" y="262279"/>
                  </a:lnTo>
                  <a:lnTo>
                    <a:pt x="21682" y="307188"/>
                  </a:lnTo>
                  <a:lnTo>
                    <a:pt x="46866" y="346803"/>
                  </a:lnTo>
                  <a:lnTo>
                    <a:pt x="79905" y="379845"/>
                  </a:lnTo>
                  <a:lnTo>
                    <a:pt x="119520" y="405032"/>
                  </a:lnTo>
                  <a:lnTo>
                    <a:pt x="164432" y="421084"/>
                  </a:lnTo>
                  <a:lnTo>
                    <a:pt x="213360" y="426719"/>
                  </a:lnTo>
                  <a:lnTo>
                    <a:pt x="262287" y="421084"/>
                  </a:lnTo>
                  <a:lnTo>
                    <a:pt x="307199" y="405032"/>
                  </a:lnTo>
                  <a:lnTo>
                    <a:pt x="346814" y="379845"/>
                  </a:lnTo>
                  <a:lnTo>
                    <a:pt x="379853" y="346803"/>
                  </a:lnTo>
                  <a:lnTo>
                    <a:pt x="405037" y="307188"/>
                  </a:lnTo>
                  <a:lnTo>
                    <a:pt x="421086" y="262279"/>
                  </a:lnTo>
                  <a:lnTo>
                    <a:pt x="426720" y="213359"/>
                  </a:lnTo>
                  <a:lnTo>
                    <a:pt x="421086" y="164440"/>
                  </a:lnTo>
                  <a:lnTo>
                    <a:pt x="405037" y="119531"/>
                  </a:lnTo>
                  <a:lnTo>
                    <a:pt x="379853" y="79916"/>
                  </a:lnTo>
                  <a:lnTo>
                    <a:pt x="346814" y="46874"/>
                  </a:lnTo>
                  <a:lnTo>
                    <a:pt x="307199" y="21687"/>
                  </a:lnTo>
                  <a:lnTo>
                    <a:pt x="262287" y="5635"/>
                  </a:lnTo>
                  <a:lnTo>
                    <a:pt x="213360" y="0"/>
                  </a:lnTo>
                  <a:close/>
                </a:path>
              </a:pathLst>
            </a:custGeom>
            <a:solidFill>
              <a:srgbClr val="5B9BD4"/>
            </a:solidFill>
          </p:spPr>
          <p:txBody>
            <a:bodyPr wrap="square" lIns="0" tIns="0" rIns="0" bIns="0" rtlCol="0"/>
            <a:lstStyle/>
            <a:p>
              <a:endParaRPr/>
            </a:p>
          </p:txBody>
        </p:sp>
        <p:sp>
          <p:nvSpPr>
            <p:cNvPr id="83" name="object 90">
              <a:extLst>
                <a:ext uri="{FF2B5EF4-FFF2-40B4-BE49-F238E27FC236}">
                  <a16:creationId xmlns:a16="http://schemas.microsoft.com/office/drawing/2014/main" id="{CA5A6CEB-6EB4-2346-85BA-E3464698E5BC}"/>
                </a:ext>
              </a:extLst>
            </p:cNvPr>
            <p:cNvSpPr/>
            <p:nvPr/>
          </p:nvSpPr>
          <p:spPr>
            <a:xfrm>
              <a:off x="9955530" y="5679186"/>
              <a:ext cx="426720" cy="426720"/>
            </a:xfrm>
            <a:custGeom>
              <a:avLst/>
              <a:gdLst/>
              <a:ahLst/>
              <a:cxnLst/>
              <a:rect l="l" t="t" r="r" b="b"/>
              <a:pathLst>
                <a:path w="426720" h="426720">
                  <a:moveTo>
                    <a:pt x="0" y="213359"/>
                  </a:moveTo>
                  <a:lnTo>
                    <a:pt x="5633" y="164440"/>
                  </a:lnTo>
                  <a:lnTo>
                    <a:pt x="21682" y="119531"/>
                  </a:lnTo>
                  <a:lnTo>
                    <a:pt x="46866" y="79916"/>
                  </a:lnTo>
                  <a:lnTo>
                    <a:pt x="79905" y="46874"/>
                  </a:lnTo>
                  <a:lnTo>
                    <a:pt x="119520" y="21687"/>
                  </a:lnTo>
                  <a:lnTo>
                    <a:pt x="164432" y="5635"/>
                  </a:lnTo>
                  <a:lnTo>
                    <a:pt x="213360" y="0"/>
                  </a:lnTo>
                  <a:lnTo>
                    <a:pt x="262287" y="5635"/>
                  </a:lnTo>
                  <a:lnTo>
                    <a:pt x="307199" y="21687"/>
                  </a:lnTo>
                  <a:lnTo>
                    <a:pt x="346814" y="46874"/>
                  </a:lnTo>
                  <a:lnTo>
                    <a:pt x="379853" y="79916"/>
                  </a:lnTo>
                  <a:lnTo>
                    <a:pt x="405037" y="119531"/>
                  </a:lnTo>
                  <a:lnTo>
                    <a:pt x="421086" y="164440"/>
                  </a:lnTo>
                  <a:lnTo>
                    <a:pt x="426720" y="213359"/>
                  </a:lnTo>
                  <a:lnTo>
                    <a:pt x="421086" y="262279"/>
                  </a:lnTo>
                  <a:lnTo>
                    <a:pt x="405037" y="307188"/>
                  </a:lnTo>
                  <a:lnTo>
                    <a:pt x="379853" y="346803"/>
                  </a:lnTo>
                  <a:lnTo>
                    <a:pt x="346814" y="379845"/>
                  </a:lnTo>
                  <a:lnTo>
                    <a:pt x="307199" y="405032"/>
                  </a:lnTo>
                  <a:lnTo>
                    <a:pt x="262287" y="421084"/>
                  </a:lnTo>
                  <a:lnTo>
                    <a:pt x="213360" y="426719"/>
                  </a:lnTo>
                  <a:lnTo>
                    <a:pt x="164432" y="421084"/>
                  </a:lnTo>
                  <a:lnTo>
                    <a:pt x="119520" y="405032"/>
                  </a:lnTo>
                  <a:lnTo>
                    <a:pt x="79905" y="379845"/>
                  </a:lnTo>
                  <a:lnTo>
                    <a:pt x="46866" y="346803"/>
                  </a:lnTo>
                  <a:lnTo>
                    <a:pt x="21682" y="307188"/>
                  </a:lnTo>
                  <a:lnTo>
                    <a:pt x="5633" y="262279"/>
                  </a:lnTo>
                  <a:lnTo>
                    <a:pt x="0" y="213359"/>
                  </a:lnTo>
                  <a:close/>
                </a:path>
              </a:pathLst>
            </a:custGeom>
            <a:ln w="50800">
              <a:solidFill>
                <a:srgbClr val="5B9BD4"/>
              </a:solidFill>
            </a:ln>
          </p:spPr>
          <p:txBody>
            <a:bodyPr wrap="square" lIns="0" tIns="0" rIns="0" bIns="0" rtlCol="0"/>
            <a:lstStyle/>
            <a:p>
              <a:endParaRPr/>
            </a:p>
          </p:txBody>
        </p:sp>
      </p:grpSp>
      <p:sp>
        <p:nvSpPr>
          <p:cNvPr id="84" name="object 91">
            <a:extLst>
              <a:ext uri="{FF2B5EF4-FFF2-40B4-BE49-F238E27FC236}">
                <a16:creationId xmlns:a16="http://schemas.microsoft.com/office/drawing/2014/main" id="{451467DA-A01D-B82B-9454-624DECFE0720}"/>
              </a:ext>
            </a:extLst>
          </p:cNvPr>
          <p:cNvSpPr txBox="1"/>
          <p:nvPr/>
        </p:nvSpPr>
        <p:spPr>
          <a:xfrm>
            <a:off x="10092690" y="5886936"/>
            <a:ext cx="153035" cy="299720"/>
          </a:xfrm>
          <a:prstGeom prst="rect">
            <a:avLst/>
          </a:prstGeom>
        </p:spPr>
        <p:txBody>
          <a:bodyPr vert="horz" wrap="square" lIns="0" tIns="12700" rIns="0" bIns="0" rtlCol="0">
            <a:spAutoFit/>
          </a:bodyPr>
          <a:lstStyle/>
          <a:p>
            <a:pPr marL="12700">
              <a:lnSpc>
                <a:spcPct val="100000"/>
              </a:lnSpc>
              <a:spcBef>
                <a:spcPts val="100"/>
              </a:spcBef>
            </a:pPr>
            <a:r>
              <a:rPr sz="1800" b="1" spc="-50" dirty="0">
                <a:solidFill>
                  <a:srgbClr val="FFFFFF"/>
                </a:solidFill>
                <a:latin typeface="Arial" panose="020B0604020202020204" pitchFamily="34" charset="0"/>
                <a:ea typeface="微软雅黑" panose="020B0503020204020204" pitchFamily="34" charset="-122"/>
                <a:cs typeface="Arial"/>
              </a:rPr>
              <a:t>2</a:t>
            </a:r>
            <a:endParaRPr sz="1800">
              <a:latin typeface="Arial" panose="020B0604020202020204" pitchFamily="34" charset="0"/>
              <a:ea typeface="微软雅黑" panose="020B0503020204020204" pitchFamily="34" charset="-122"/>
              <a:cs typeface="Arial"/>
            </a:endParaRPr>
          </a:p>
        </p:txBody>
      </p:sp>
      <p:grpSp>
        <p:nvGrpSpPr>
          <p:cNvPr id="85" name="object 92">
            <a:extLst>
              <a:ext uri="{FF2B5EF4-FFF2-40B4-BE49-F238E27FC236}">
                <a16:creationId xmlns:a16="http://schemas.microsoft.com/office/drawing/2014/main" id="{85FA2B1E-4E36-7329-18EC-A8F4A2C98B46}"/>
              </a:ext>
            </a:extLst>
          </p:cNvPr>
          <p:cNvGrpSpPr/>
          <p:nvPr/>
        </p:nvGrpSpPr>
        <p:grpSpPr>
          <a:xfrm>
            <a:off x="9825228" y="3931860"/>
            <a:ext cx="683260" cy="683260"/>
            <a:chOff x="9825228" y="3782580"/>
            <a:chExt cx="683260" cy="683260"/>
          </a:xfrm>
        </p:grpSpPr>
        <p:pic>
          <p:nvPicPr>
            <p:cNvPr id="86" name="object 93">
              <a:extLst>
                <a:ext uri="{FF2B5EF4-FFF2-40B4-BE49-F238E27FC236}">
                  <a16:creationId xmlns:a16="http://schemas.microsoft.com/office/drawing/2014/main" id="{F8FC6EDD-B231-005C-85A2-B73F75BD1FF7}"/>
                </a:ext>
              </a:extLst>
            </p:cNvPr>
            <p:cNvPicPr/>
            <p:nvPr/>
          </p:nvPicPr>
          <p:blipFill>
            <a:blip r:embed="rId16" cstate="print"/>
            <a:stretch>
              <a:fillRect/>
            </a:stretch>
          </p:blipFill>
          <p:spPr>
            <a:xfrm>
              <a:off x="9825228" y="3782580"/>
              <a:ext cx="682739" cy="682739"/>
            </a:xfrm>
            <a:prstGeom prst="rect">
              <a:avLst/>
            </a:prstGeom>
          </p:spPr>
        </p:pic>
        <p:sp>
          <p:nvSpPr>
            <p:cNvPr id="87" name="object 94">
              <a:extLst>
                <a:ext uri="{FF2B5EF4-FFF2-40B4-BE49-F238E27FC236}">
                  <a16:creationId xmlns:a16="http://schemas.microsoft.com/office/drawing/2014/main" id="{49136275-C5B3-54EC-2085-471953B15F29}"/>
                </a:ext>
              </a:extLst>
            </p:cNvPr>
            <p:cNvSpPr/>
            <p:nvPr/>
          </p:nvSpPr>
          <p:spPr>
            <a:xfrm>
              <a:off x="9955530" y="3912870"/>
              <a:ext cx="426720" cy="426720"/>
            </a:xfrm>
            <a:custGeom>
              <a:avLst/>
              <a:gdLst/>
              <a:ahLst/>
              <a:cxnLst/>
              <a:rect l="l" t="t" r="r" b="b"/>
              <a:pathLst>
                <a:path w="426720" h="426720">
                  <a:moveTo>
                    <a:pt x="213360" y="0"/>
                  </a:moveTo>
                  <a:lnTo>
                    <a:pt x="164432" y="5633"/>
                  </a:lnTo>
                  <a:lnTo>
                    <a:pt x="119520" y="21682"/>
                  </a:lnTo>
                  <a:lnTo>
                    <a:pt x="79905" y="46866"/>
                  </a:lnTo>
                  <a:lnTo>
                    <a:pt x="46866" y="79905"/>
                  </a:lnTo>
                  <a:lnTo>
                    <a:pt x="21682" y="119520"/>
                  </a:lnTo>
                  <a:lnTo>
                    <a:pt x="5633" y="164432"/>
                  </a:lnTo>
                  <a:lnTo>
                    <a:pt x="0" y="213359"/>
                  </a:lnTo>
                  <a:lnTo>
                    <a:pt x="5633" y="262287"/>
                  </a:lnTo>
                  <a:lnTo>
                    <a:pt x="21682" y="307199"/>
                  </a:lnTo>
                  <a:lnTo>
                    <a:pt x="46866" y="346814"/>
                  </a:lnTo>
                  <a:lnTo>
                    <a:pt x="79905" y="379853"/>
                  </a:lnTo>
                  <a:lnTo>
                    <a:pt x="119520" y="405037"/>
                  </a:lnTo>
                  <a:lnTo>
                    <a:pt x="164432" y="421086"/>
                  </a:lnTo>
                  <a:lnTo>
                    <a:pt x="213360" y="426719"/>
                  </a:lnTo>
                  <a:lnTo>
                    <a:pt x="262287" y="421086"/>
                  </a:lnTo>
                  <a:lnTo>
                    <a:pt x="307199" y="405037"/>
                  </a:lnTo>
                  <a:lnTo>
                    <a:pt x="346814" y="379853"/>
                  </a:lnTo>
                  <a:lnTo>
                    <a:pt x="379853" y="346814"/>
                  </a:lnTo>
                  <a:lnTo>
                    <a:pt x="405037" y="307199"/>
                  </a:lnTo>
                  <a:lnTo>
                    <a:pt x="421086" y="262287"/>
                  </a:lnTo>
                  <a:lnTo>
                    <a:pt x="426720" y="213359"/>
                  </a:lnTo>
                  <a:lnTo>
                    <a:pt x="421086" y="164432"/>
                  </a:lnTo>
                  <a:lnTo>
                    <a:pt x="405037" y="119520"/>
                  </a:lnTo>
                  <a:lnTo>
                    <a:pt x="379853" y="79905"/>
                  </a:lnTo>
                  <a:lnTo>
                    <a:pt x="346814" y="46866"/>
                  </a:lnTo>
                  <a:lnTo>
                    <a:pt x="307199" y="21682"/>
                  </a:lnTo>
                  <a:lnTo>
                    <a:pt x="262287" y="5633"/>
                  </a:lnTo>
                  <a:lnTo>
                    <a:pt x="213360" y="0"/>
                  </a:lnTo>
                  <a:close/>
                </a:path>
              </a:pathLst>
            </a:custGeom>
            <a:solidFill>
              <a:srgbClr val="5B9BD4"/>
            </a:solidFill>
          </p:spPr>
          <p:txBody>
            <a:bodyPr wrap="square" lIns="0" tIns="0" rIns="0" bIns="0" rtlCol="0"/>
            <a:lstStyle/>
            <a:p>
              <a:endParaRPr/>
            </a:p>
          </p:txBody>
        </p:sp>
        <p:sp>
          <p:nvSpPr>
            <p:cNvPr id="88" name="object 95">
              <a:extLst>
                <a:ext uri="{FF2B5EF4-FFF2-40B4-BE49-F238E27FC236}">
                  <a16:creationId xmlns:a16="http://schemas.microsoft.com/office/drawing/2014/main" id="{1C823621-E65B-2495-B042-799A7C0E78AA}"/>
                </a:ext>
              </a:extLst>
            </p:cNvPr>
            <p:cNvSpPr/>
            <p:nvPr/>
          </p:nvSpPr>
          <p:spPr>
            <a:xfrm>
              <a:off x="9955530" y="3912870"/>
              <a:ext cx="426720" cy="426720"/>
            </a:xfrm>
            <a:custGeom>
              <a:avLst/>
              <a:gdLst/>
              <a:ahLst/>
              <a:cxnLst/>
              <a:rect l="l" t="t" r="r" b="b"/>
              <a:pathLst>
                <a:path w="426720" h="426720">
                  <a:moveTo>
                    <a:pt x="0" y="213359"/>
                  </a:moveTo>
                  <a:lnTo>
                    <a:pt x="5633" y="164432"/>
                  </a:lnTo>
                  <a:lnTo>
                    <a:pt x="21682" y="119520"/>
                  </a:lnTo>
                  <a:lnTo>
                    <a:pt x="46866" y="79905"/>
                  </a:lnTo>
                  <a:lnTo>
                    <a:pt x="79905" y="46866"/>
                  </a:lnTo>
                  <a:lnTo>
                    <a:pt x="119520" y="21682"/>
                  </a:lnTo>
                  <a:lnTo>
                    <a:pt x="164432" y="5633"/>
                  </a:lnTo>
                  <a:lnTo>
                    <a:pt x="213360" y="0"/>
                  </a:lnTo>
                  <a:lnTo>
                    <a:pt x="262287" y="5633"/>
                  </a:lnTo>
                  <a:lnTo>
                    <a:pt x="307199" y="21682"/>
                  </a:lnTo>
                  <a:lnTo>
                    <a:pt x="346814" y="46866"/>
                  </a:lnTo>
                  <a:lnTo>
                    <a:pt x="379853" y="79905"/>
                  </a:lnTo>
                  <a:lnTo>
                    <a:pt x="405037" y="119520"/>
                  </a:lnTo>
                  <a:lnTo>
                    <a:pt x="421086" y="164432"/>
                  </a:lnTo>
                  <a:lnTo>
                    <a:pt x="426720" y="213359"/>
                  </a:lnTo>
                  <a:lnTo>
                    <a:pt x="421086" y="262287"/>
                  </a:lnTo>
                  <a:lnTo>
                    <a:pt x="405037" y="307199"/>
                  </a:lnTo>
                  <a:lnTo>
                    <a:pt x="379853" y="346814"/>
                  </a:lnTo>
                  <a:lnTo>
                    <a:pt x="346814" y="379853"/>
                  </a:lnTo>
                  <a:lnTo>
                    <a:pt x="307199" y="405037"/>
                  </a:lnTo>
                  <a:lnTo>
                    <a:pt x="262287" y="421086"/>
                  </a:lnTo>
                  <a:lnTo>
                    <a:pt x="213360" y="426719"/>
                  </a:lnTo>
                  <a:lnTo>
                    <a:pt x="164432" y="421086"/>
                  </a:lnTo>
                  <a:lnTo>
                    <a:pt x="119520" y="405037"/>
                  </a:lnTo>
                  <a:lnTo>
                    <a:pt x="79905" y="379853"/>
                  </a:lnTo>
                  <a:lnTo>
                    <a:pt x="46866" y="346814"/>
                  </a:lnTo>
                  <a:lnTo>
                    <a:pt x="21682" y="307199"/>
                  </a:lnTo>
                  <a:lnTo>
                    <a:pt x="5633" y="262287"/>
                  </a:lnTo>
                  <a:lnTo>
                    <a:pt x="0" y="213359"/>
                  </a:lnTo>
                  <a:close/>
                </a:path>
              </a:pathLst>
            </a:custGeom>
            <a:ln w="50800">
              <a:solidFill>
                <a:srgbClr val="5B9BD4"/>
              </a:solidFill>
            </a:ln>
          </p:spPr>
          <p:txBody>
            <a:bodyPr wrap="square" lIns="0" tIns="0" rIns="0" bIns="0" rtlCol="0"/>
            <a:lstStyle/>
            <a:p>
              <a:endParaRPr/>
            </a:p>
          </p:txBody>
        </p:sp>
      </p:grpSp>
      <p:sp>
        <p:nvSpPr>
          <p:cNvPr id="89" name="object 96">
            <a:extLst>
              <a:ext uri="{FF2B5EF4-FFF2-40B4-BE49-F238E27FC236}">
                <a16:creationId xmlns:a16="http://schemas.microsoft.com/office/drawing/2014/main" id="{9C801765-88C4-8478-EB51-5569848570EC}"/>
              </a:ext>
            </a:extLst>
          </p:cNvPr>
          <p:cNvSpPr txBox="1"/>
          <p:nvPr/>
        </p:nvSpPr>
        <p:spPr>
          <a:xfrm>
            <a:off x="10092690" y="4119046"/>
            <a:ext cx="153035" cy="299720"/>
          </a:xfrm>
          <a:prstGeom prst="rect">
            <a:avLst/>
          </a:prstGeom>
        </p:spPr>
        <p:txBody>
          <a:bodyPr vert="horz" wrap="square" lIns="0" tIns="12700" rIns="0" bIns="0" rtlCol="0">
            <a:spAutoFit/>
          </a:bodyPr>
          <a:lstStyle/>
          <a:p>
            <a:pPr marL="12700">
              <a:lnSpc>
                <a:spcPct val="100000"/>
              </a:lnSpc>
              <a:spcBef>
                <a:spcPts val="100"/>
              </a:spcBef>
            </a:pPr>
            <a:r>
              <a:rPr sz="1800" b="1" spc="-50" dirty="0">
                <a:solidFill>
                  <a:srgbClr val="FFFFFF"/>
                </a:solidFill>
                <a:latin typeface="Arial" panose="020B0604020202020204" pitchFamily="34" charset="0"/>
                <a:ea typeface="微软雅黑" panose="020B0503020204020204" pitchFamily="34" charset="-122"/>
                <a:cs typeface="Arial"/>
              </a:rPr>
              <a:t>3</a:t>
            </a:r>
            <a:endParaRPr sz="1800">
              <a:latin typeface="Arial" panose="020B0604020202020204" pitchFamily="34" charset="0"/>
              <a:ea typeface="微软雅黑" panose="020B0503020204020204" pitchFamily="34" charset="-122"/>
              <a:cs typeface="Arial"/>
            </a:endParaRPr>
          </a:p>
        </p:txBody>
      </p:sp>
      <p:grpSp>
        <p:nvGrpSpPr>
          <p:cNvPr id="90" name="object 97">
            <a:extLst>
              <a:ext uri="{FF2B5EF4-FFF2-40B4-BE49-F238E27FC236}">
                <a16:creationId xmlns:a16="http://schemas.microsoft.com/office/drawing/2014/main" id="{ADD45675-1BA1-5487-F300-1CBF05246F0B}"/>
              </a:ext>
            </a:extLst>
          </p:cNvPr>
          <p:cNvGrpSpPr/>
          <p:nvPr/>
        </p:nvGrpSpPr>
        <p:grpSpPr>
          <a:xfrm>
            <a:off x="9825228" y="2089344"/>
            <a:ext cx="683260" cy="683260"/>
            <a:chOff x="9825228" y="1940064"/>
            <a:chExt cx="683260" cy="683260"/>
          </a:xfrm>
        </p:grpSpPr>
        <p:pic>
          <p:nvPicPr>
            <p:cNvPr id="91" name="object 98">
              <a:extLst>
                <a:ext uri="{FF2B5EF4-FFF2-40B4-BE49-F238E27FC236}">
                  <a16:creationId xmlns:a16="http://schemas.microsoft.com/office/drawing/2014/main" id="{2A0B4585-A084-7865-6727-5A78DA2BA2A2}"/>
                </a:ext>
              </a:extLst>
            </p:cNvPr>
            <p:cNvPicPr/>
            <p:nvPr/>
          </p:nvPicPr>
          <p:blipFill>
            <a:blip r:embed="rId16" cstate="print"/>
            <a:stretch>
              <a:fillRect/>
            </a:stretch>
          </p:blipFill>
          <p:spPr>
            <a:xfrm>
              <a:off x="9825228" y="1940064"/>
              <a:ext cx="682739" cy="682739"/>
            </a:xfrm>
            <a:prstGeom prst="rect">
              <a:avLst/>
            </a:prstGeom>
          </p:spPr>
        </p:pic>
        <p:sp>
          <p:nvSpPr>
            <p:cNvPr id="92" name="object 99">
              <a:extLst>
                <a:ext uri="{FF2B5EF4-FFF2-40B4-BE49-F238E27FC236}">
                  <a16:creationId xmlns:a16="http://schemas.microsoft.com/office/drawing/2014/main" id="{5EFC16BC-931E-DF00-4D27-A7DB6266894F}"/>
                </a:ext>
              </a:extLst>
            </p:cNvPr>
            <p:cNvSpPr/>
            <p:nvPr/>
          </p:nvSpPr>
          <p:spPr>
            <a:xfrm>
              <a:off x="9955530" y="2070354"/>
              <a:ext cx="426720" cy="426720"/>
            </a:xfrm>
            <a:custGeom>
              <a:avLst/>
              <a:gdLst/>
              <a:ahLst/>
              <a:cxnLst/>
              <a:rect l="l" t="t" r="r" b="b"/>
              <a:pathLst>
                <a:path w="426720" h="426719">
                  <a:moveTo>
                    <a:pt x="213360" y="0"/>
                  </a:moveTo>
                  <a:lnTo>
                    <a:pt x="164432" y="5633"/>
                  </a:lnTo>
                  <a:lnTo>
                    <a:pt x="119520" y="21682"/>
                  </a:lnTo>
                  <a:lnTo>
                    <a:pt x="79905" y="46866"/>
                  </a:lnTo>
                  <a:lnTo>
                    <a:pt x="46866" y="79905"/>
                  </a:lnTo>
                  <a:lnTo>
                    <a:pt x="21682" y="119520"/>
                  </a:lnTo>
                  <a:lnTo>
                    <a:pt x="5633" y="164432"/>
                  </a:lnTo>
                  <a:lnTo>
                    <a:pt x="0" y="213360"/>
                  </a:lnTo>
                  <a:lnTo>
                    <a:pt x="5633" y="262287"/>
                  </a:lnTo>
                  <a:lnTo>
                    <a:pt x="21682" y="307199"/>
                  </a:lnTo>
                  <a:lnTo>
                    <a:pt x="46866" y="346814"/>
                  </a:lnTo>
                  <a:lnTo>
                    <a:pt x="79905" y="379853"/>
                  </a:lnTo>
                  <a:lnTo>
                    <a:pt x="119520" y="405037"/>
                  </a:lnTo>
                  <a:lnTo>
                    <a:pt x="164432" y="421086"/>
                  </a:lnTo>
                  <a:lnTo>
                    <a:pt x="213360" y="426720"/>
                  </a:lnTo>
                  <a:lnTo>
                    <a:pt x="262287" y="421086"/>
                  </a:lnTo>
                  <a:lnTo>
                    <a:pt x="307199" y="405037"/>
                  </a:lnTo>
                  <a:lnTo>
                    <a:pt x="346814" y="379853"/>
                  </a:lnTo>
                  <a:lnTo>
                    <a:pt x="379853" y="346814"/>
                  </a:lnTo>
                  <a:lnTo>
                    <a:pt x="405037" y="307199"/>
                  </a:lnTo>
                  <a:lnTo>
                    <a:pt x="421086" y="262287"/>
                  </a:lnTo>
                  <a:lnTo>
                    <a:pt x="426720" y="213360"/>
                  </a:lnTo>
                  <a:lnTo>
                    <a:pt x="421086" y="164432"/>
                  </a:lnTo>
                  <a:lnTo>
                    <a:pt x="405037" y="119520"/>
                  </a:lnTo>
                  <a:lnTo>
                    <a:pt x="379853" y="79905"/>
                  </a:lnTo>
                  <a:lnTo>
                    <a:pt x="346814" y="46866"/>
                  </a:lnTo>
                  <a:lnTo>
                    <a:pt x="307199" y="21682"/>
                  </a:lnTo>
                  <a:lnTo>
                    <a:pt x="262287" y="5633"/>
                  </a:lnTo>
                  <a:lnTo>
                    <a:pt x="213360" y="0"/>
                  </a:lnTo>
                  <a:close/>
                </a:path>
              </a:pathLst>
            </a:custGeom>
            <a:solidFill>
              <a:srgbClr val="5B9BD4"/>
            </a:solidFill>
          </p:spPr>
          <p:txBody>
            <a:bodyPr wrap="square" lIns="0" tIns="0" rIns="0" bIns="0" rtlCol="0"/>
            <a:lstStyle/>
            <a:p>
              <a:endParaRPr/>
            </a:p>
          </p:txBody>
        </p:sp>
        <p:sp>
          <p:nvSpPr>
            <p:cNvPr id="93" name="object 100">
              <a:extLst>
                <a:ext uri="{FF2B5EF4-FFF2-40B4-BE49-F238E27FC236}">
                  <a16:creationId xmlns:a16="http://schemas.microsoft.com/office/drawing/2014/main" id="{D80C8CD6-152D-834F-487D-A838AEBE3D02}"/>
                </a:ext>
              </a:extLst>
            </p:cNvPr>
            <p:cNvSpPr/>
            <p:nvPr/>
          </p:nvSpPr>
          <p:spPr>
            <a:xfrm>
              <a:off x="9955530" y="2070354"/>
              <a:ext cx="426720" cy="426720"/>
            </a:xfrm>
            <a:custGeom>
              <a:avLst/>
              <a:gdLst/>
              <a:ahLst/>
              <a:cxnLst/>
              <a:rect l="l" t="t" r="r" b="b"/>
              <a:pathLst>
                <a:path w="426720" h="426719">
                  <a:moveTo>
                    <a:pt x="0" y="213360"/>
                  </a:moveTo>
                  <a:lnTo>
                    <a:pt x="5633" y="164432"/>
                  </a:lnTo>
                  <a:lnTo>
                    <a:pt x="21682" y="119520"/>
                  </a:lnTo>
                  <a:lnTo>
                    <a:pt x="46866" y="79905"/>
                  </a:lnTo>
                  <a:lnTo>
                    <a:pt x="79905" y="46866"/>
                  </a:lnTo>
                  <a:lnTo>
                    <a:pt x="119520" y="21682"/>
                  </a:lnTo>
                  <a:lnTo>
                    <a:pt x="164432" y="5633"/>
                  </a:lnTo>
                  <a:lnTo>
                    <a:pt x="213360" y="0"/>
                  </a:lnTo>
                  <a:lnTo>
                    <a:pt x="262287" y="5633"/>
                  </a:lnTo>
                  <a:lnTo>
                    <a:pt x="307199" y="21682"/>
                  </a:lnTo>
                  <a:lnTo>
                    <a:pt x="346814" y="46866"/>
                  </a:lnTo>
                  <a:lnTo>
                    <a:pt x="379853" y="79905"/>
                  </a:lnTo>
                  <a:lnTo>
                    <a:pt x="405037" y="119520"/>
                  </a:lnTo>
                  <a:lnTo>
                    <a:pt x="421086" y="164432"/>
                  </a:lnTo>
                  <a:lnTo>
                    <a:pt x="426720" y="213360"/>
                  </a:lnTo>
                  <a:lnTo>
                    <a:pt x="421086" y="262287"/>
                  </a:lnTo>
                  <a:lnTo>
                    <a:pt x="405037" y="307199"/>
                  </a:lnTo>
                  <a:lnTo>
                    <a:pt x="379853" y="346814"/>
                  </a:lnTo>
                  <a:lnTo>
                    <a:pt x="346814" y="379853"/>
                  </a:lnTo>
                  <a:lnTo>
                    <a:pt x="307199" y="405037"/>
                  </a:lnTo>
                  <a:lnTo>
                    <a:pt x="262287" y="421086"/>
                  </a:lnTo>
                  <a:lnTo>
                    <a:pt x="213360" y="426720"/>
                  </a:lnTo>
                  <a:lnTo>
                    <a:pt x="164432" y="421086"/>
                  </a:lnTo>
                  <a:lnTo>
                    <a:pt x="119520" y="405037"/>
                  </a:lnTo>
                  <a:lnTo>
                    <a:pt x="79905" y="379853"/>
                  </a:lnTo>
                  <a:lnTo>
                    <a:pt x="46866" y="346814"/>
                  </a:lnTo>
                  <a:lnTo>
                    <a:pt x="21682" y="307199"/>
                  </a:lnTo>
                  <a:lnTo>
                    <a:pt x="5633" y="262287"/>
                  </a:lnTo>
                  <a:lnTo>
                    <a:pt x="0" y="213360"/>
                  </a:lnTo>
                  <a:close/>
                </a:path>
              </a:pathLst>
            </a:custGeom>
            <a:ln w="50800">
              <a:solidFill>
                <a:srgbClr val="5B9BD4"/>
              </a:solidFill>
            </a:ln>
          </p:spPr>
          <p:txBody>
            <a:bodyPr wrap="square" lIns="0" tIns="0" rIns="0" bIns="0" rtlCol="0"/>
            <a:lstStyle/>
            <a:p>
              <a:endParaRPr/>
            </a:p>
          </p:txBody>
        </p:sp>
      </p:grpSp>
      <p:sp>
        <p:nvSpPr>
          <p:cNvPr id="94" name="object 101">
            <a:extLst>
              <a:ext uri="{FF2B5EF4-FFF2-40B4-BE49-F238E27FC236}">
                <a16:creationId xmlns:a16="http://schemas.microsoft.com/office/drawing/2014/main" id="{CD703DA3-B061-917A-B9BB-879DCF2A7BF6}"/>
              </a:ext>
            </a:extLst>
          </p:cNvPr>
          <p:cNvSpPr txBox="1"/>
          <p:nvPr/>
        </p:nvSpPr>
        <p:spPr>
          <a:xfrm>
            <a:off x="10073767" y="2277545"/>
            <a:ext cx="190500" cy="299720"/>
          </a:xfrm>
          <a:prstGeom prst="rect">
            <a:avLst/>
          </a:prstGeom>
        </p:spPr>
        <p:txBody>
          <a:bodyPr vert="horz" wrap="square" lIns="0" tIns="12700" rIns="0" bIns="0" rtlCol="0">
            <a:spAutoFit/>
          </a:bodyPr>
          <a:lstStyle/>
          <a:p>
            <a:pPr marL="12700">
              <a:lnSpc>
                <a:spcPct val="100000"/>
              </a:lnSpc>
              <a:spcBef>
                <a:spcPts val="100"/>
              </a:spcBef>
            </a:pPr>
            <a:r>
              <a:rPr sz="1800" b="1" spc="-50" dirty="0">
                <a:solidFill>
                  <a:srgbClr val="FFFFFF"/>
                </a:solidFill>
                <a:latin typeface="Arial" panose="020B0604020202020204" pitchFamily="34" charset="0"/>
                <a:ea typeface="微软雅黑" panose="020B0503020204020204" pitchFamily="34" charset="-122"/>
                <a:cs typeface="Arial"/>
              </a:rPr>
              <a:t>N</a:t>
            </a:r>
            <a:endParaRPr sz="1800">
              <a:latin typeface="Arial" panose="020B0604020202020204" pitchFamily="34" charset="0"/>
              <a:ea typeface="微软雅黑" panose="020B0503020204020204" pitchFamily="34" charset="-122"/>
              <a:cs typeface="Arial"/>
            </a:endParaRPr>
          </a:p>
        </p:txBody>
      </p:sp>
      <p:grpSp>
        <p:nvGrpSpPr>
          <p:cNvPr id="95" name="object 102">
            <a:extLst>
              <a:ext uri="{FF2B5EF4-FFF2-40B4-BE49-F238E27FC236}">
                <a16:creationId xmlns:a16="http://schemas.microsoft.com/office/drawing/2014/main" id="{41274329-E36F-8D97-AC7D-78203EC564D0}"/>
              </a:ext>
            </a:extLst>
          </p:cNvPr>
          <p:cNvGrpSpPr/>
          <p:nvPr/>
        </p:nvGrpSpPr>
        <p:grpSpPr>
          <a:xfrm>
            <a:off x="9825228" y="1083491"/>
            <a:ext cx="683260" cy="681355"/>
            <a:chOff x="9825228" y="934211"/>
            <a:chExt cx="683260" cy="681355"/>
          </a:xfrm>
        </p:grpSpPr>
        <p:pic>
          <p:nvPicPr>
            <p:cNvPr id="96" name="object 103">
              <a:extLst>
                <a:ext uri="{FF2B5EF4-FFF2-40B4-BE49-F238E27FC236}">
                  <a16:creationId xmlns:a16="http://schemas.microsoft.com/office/drawing/2014/main" id="{0CB1F35C-BCD7-20CD-6DAD-E9C3C5BFF1A6}"/>
                </a:ext>
              </a:extLst>
            </p:cNvPr>
            <p:cNvPicPr/>
            <p:nvPr/>
          </p:nvPicPr>
          <p:blipFill>
            <a:blip r:embed="rId17" cstate="print"/>
            <a:stretch>
              <a:fillRect/>
            </a:stretch>
          </p:blipFill>
          <p:spPr>
            <a:xfrm>
              <a:off x="9825228" y="934211"/>
              <a:ext cx="682739" cy="681227"/>
            </a:xfrm>
            <a:prstGeom prst="rect">
              <a:avLst/>
            </a:prstGeom>
          </p:spPr>
        </p:pic>
        <p:sp>
          <p:nvSpPr>
            <p:cNvPr id="97" name="object 104">
              <a:extLst>
                <a:ext uri="{FF2B5EF4-FFF2-40B4-BE49-F238E27FC236}">
                  <a16:creationId xmlns:a16="http://schemas.microsoft.com/office/drawing/2014/main" id="{C8722BD7-CC8E-7174-C5EA-AE61B3BDD431}"/>
                </a:ext>
              </a:extLst>
            </p:cNvPr>
            <p:cNvSpPr/>
            <p:nvPr/>
          </p:nvSpPr>
          <p:spPr>
            <a:xfrm>
              <a:off x="9955530" y="1064513"/>
              <a:ext cx="426720" cy="425450"/>
            </a:xfrm>
            <a:custGeom>
              <a:avLst/>
              <a:gdLst/>
              <a:ahLst/>
              <a:cxnLst/>
              <a:rect l="l" t="t" r="r" b="b"/>
              <a:pathLst>
                <a:path w="426720" h="425450">
                  <a:moveTo>
                    <a:pt x="213360" y="0"/>
                  </a:moveTo>
                  <a:lnTo>
                    <a:pt x="164432" y="5611"/>
                  </a:lnTo>
                  <a:lnTo>
                    <a:pt x="119520" y="21598"/>
                  </a:lnTo>
                  <a:lnTo>
                    <a:pt x="79905" y="46686"/>
                  </a:lnTo>
                  <a:lnTo>
                    <a:pt x="46866" y="79603"/>
                  </a:lnTo>
                  <a:lnTo>
                    <a:pt x="21682" y="119076"/>
                  </a:lnTo>
                  <a:lnTo>
                    <a:pt x="5633" y="163832"/>
                  </a:lnTo>
                  <a:lnTo>
                    <a:pt x="0" y="212598"/>
                  </a:lnTo>
                  <a:lnTo>
                    <a:pt x="5633" y="261363"/>
                  </a:lnTo>
                  <a:lnTo>
                    <a:pt x="21682" y="306119"/>
                  </a:lnTo>
                  <a:lnTo>
                    <a:pt x="46866" y="345592"/>
                  </a:lnTo>
                  <a:lnTo>
                    <a:pt x="79905" y="378509"/>
                  </a:lnTo>
                  <a:lnTo>
                    <a:pt x="119520" y="403597"/>
                  </a:lnTo>
                  <a:lnTo>
                    <a:pt x="164432" y="419584"/>
                  </a:lnTo>
                  <a:lnTo>
                    <a:pt x="213360" y="425196"/>
                  </a:lnTo>
                  <a:lnTo>
                    <a:pt x="262287" y="419584"/>
                  </a:lnTo>
                  <a:lnTo>
                    <a:pt x="307199" y="403597"/>
                  </a:lnTo>
                  <a:lnTo>
                    <a:pt x="346814" y="378509"/>
                  </a:lnTo>
                  <a:lnTo>
                    <a:pt x="379853" y="345592"/>
                  </a:lnTo>
                  <a:lnTo>
                    <a:pt x="405037" y="306119"/>
                  </a:lnTo>
                  <a:lnTo>
                    <a:pt x="421086" y="261363"/>
                  </a:lnTo>
                  <a:lnTo>
                    <a:pt x="426720" y="212598"/>
                  </a:lnTo>
                  <a:lnTo>
                    <a:pt x="421086" y="163832"/>
                  </a:lnTo>
                  <a:lnTo>
                    <a:pt x="405037" y="119076"/>
                  </a:lnTo>
                  <a:lnTo>
                    <a:pt x="379853" y="79603"/>
                  </a:lnTo>
                  <a:lnTo>
                    <a:pt x="346814" y="46686"/>
                  </a:lnTo>
                  <a:lnTo>
                    <a:pt x="307199" y="21598"/>
                  </a:lnTo>
                  <a:lnTo>
                    <a:pt x="262287" y="5611"/>
                  </a:lnTo>
                  <a:lnTo>
                    <a:pt x="213360" y="0"/>
                  </a:lnTo>
                  <a:close/>
                </a:path>
              </a:pathLst>
            </a:custGeom>
            <a:solidFill>
              <a:srgbClr val="5B9BD4"/>
            </a:solidFill>
          </p:spPr>
          <p:txBody>
            <a:bodyPr wrap="square" lIns="0" tIns="0" rIns="0" bIns="0" rtlCol="0"/>
            <a:lstStyle/>
            <a:p>
              <a:endParaRPr/>
            </a:p>
          </p:txBody>
        </p:sp>
        <p:sp>
          <p:nvSpPr>
            <p:cNvPr id="98" name="object 105">
              <a:extLst>
                <a:ext uri="{FF2B5EF4-FFF2-40B4-BE49-F238E27FC236}">
                  <a16:creationId xmlns:a16="http://schemas.microsoft.com/office/drawing/2014/main" id="{86123632-57FB-4588-6053-6BCB6AF75E1B}"/>
                </a:ext>
              </a:extLst>
            </p:cNvPr>
            <p:cNvSpPr/>
            <p:nvPr/>
          </p:nvSpPr>
          <p:spPr>
            <a:xfrm>
              <a:off x="9955530" y="1064513"/>
              <a:ext cx="426720" cy="425450"/>
            </a:xfrm>
            <a:custGeom>
              <a:avLst/>
              <a:gdLst/>
              <a:ahLst/>
              <a:cxnLst/>
              <a:rect l="l" t="t" r="r" b="b"/>
              <a:pathLst>
                <a:path w="426720" h="425450">
                  <a:moveTo>
                    <a:pt x="0" y="212598"/>
                  </a:moveTo>
                  <a:lnTo>
                    <a:pt x="5633" y="163832"/>
                  </a:lnTo>
                  <a:lnTo>
                    <a:pt x="21682" y="119076"/>
                  </a:lnTo>
                  <a:lnTo>
                    <a:pt x="46866" y="79603"/>
                  </a:lnTo>
                  <a:lnTo>
                    <a:pt x="79905" y="46686"/>
                  </a:lnTo>
                  <a:lnTo>
                    <a:pt x="119520" y="21598"/>
                  </a:lnTo>
                  <a:lnTo>
                    <a:pt x="164432" y="5611"/>
                  </a:lnTo>
                  <a:lnTo>
                    <a:pt x="213360" y="0"/>
                  </a:lnTo>
                  <a:lnTo>
                    <a:pt x="262287" y="5611"/>
                  </a:lnTo>
                  <a:lnTo>
                    <a:pt x="307199" y="21598"/>
                  </a:lnTo>
                  <a:lnTo>
                    <a:pt x="346814" y="46686"/>
                  </a:lnTo>
                  <a:lnTo>
                    <a:pt x="379853" y="79603"/>
                  </a:lnTo>
                  <a:lnTo>
                    <a:pt x="405037" y="119076"/>
                  </a:lnTo>
                  <a:lnTo>
                    <a:pt x="421086" y="163832"/>
                  </a:lnTo>
                  <a:lnTo>
                    <a:pt x="426720" y="212598"/>
                  </a:lnTo>
                  <a:lnTo>
                    <a:pt x="421086" y="261363"/>
                  </a:lnTo>
                  <a:lnTo>
                    <a:pt x="405037" y="306119"/>
                  </a:lnTo>
                  <a:lnTo>
                    <a:pt x="379853" y="345592"/>
                  </a:lnTo>
                  <a:lnTo>
                    <a:pt x="346814" y="378509"/>
                  </a:lnTo>
                  <a:lnTo>
                    <a:pt x="307199" y="403597"/>
                  </a:lnTo>
                  <a:lnTo>
                    <a:pt x="262287" y="419584"/>
                  </a:lnTo>
                  <a:lnTo>
                    <a:pt x="213360" y="425196"/>
                  </a:lnTo>
                  <a:lnTo>
                    <a:pt x="164432" y="419584"/>
                  </a:lnTo>
                  <a:lnTo>
                    <a:pt x="119520" y="403597"/>
                  </a:lnTo>
                  <a:lnTo>
                    <a:pt x="79905" y="378509"/>
                  </a:lnTo>
                  <a:lnTo>
                    <a:pt x="46866" y="345592"/>
                  </a:lnTo>
                  <a:lnTo>
                    <a:pt x="21682" y="306119"/>
                  </a:lnTo>
                  <a:lnTo>
                    <a:pt x="5633" y="261363"/>
                  </a:lnTo>
                  <a:lnTo>
                    <a:pt x="0" y="212598"/>
                  </a:lnTo>
                  <a:close/>
                </a:path>
              </a:pathLst>
            </a:custGeom>
            <a:ln w="50800">
              <a:solidFill>
                <a:srgbClr val="5B9BD4"/>
              </a:solidFill>
            </a:ln>
          </p:spPr>
          <p:txBody>
            <a:bodyPr wrap="square" lIns="0" tIns="0" rIns="0" bIns="0" rtlCol="0"/>
            <a:lstStyle/>
            <a:p>
              <a:endParaRPr/>
            </a:p>
          </p:txBody>
        </p:sp>
      </p:grpSp>
      <p:sp>
        <p:nvSpPr>
          <p:cNvPr id="99" name="object 106">
            <a:extLst>
              <a:ext uri="{FF2B5EF4-FFF2-40B4-BE49-F238E27FC236}">
                <a16:creationId xmlns:a16="http://schemas.microsoft.com/office/drawing/2014/main" id="{7D5C6286-2608-5E1A-FAF8-7150BE7ABB5E}"/>
              </a:ext>
            </a:extLst>
          </p:cNvPr>
          <p:cNvSpPr txBox="1"/>
          <p:nvPr/>
        </p:nvSpPr>
        <p:spPr>
          <a:xfrm>
            <a:off x="10092690" y="1295709"/>
            <a:ext cx="1410970" cy="269304"/>
          </a:xfrm>
          <a:prstGeom prst="rect">
            <a:avLst/>
          </a:prstGeom>
        </p:spPr>
        <p:txBody>
          <a:bodyPr vert="horz" wrap="square" lIns="0" tIns="0" rIns="0" bIns="0" rtlCol="0">
            <a:spAutoFit/>
          </a:bodyPr>
          <a:lstStyle/>
          <a:p>
            <a:pPr marL="12700">
              <a:lnSpc>
                <a:spcPts val="2055"/>
              </a:lnSpc>
              <a:tabLst>
                <a:tab pos="384175" algn="l"/>
              </a:tabLst>
            </a:pPr>
            <a:r>
              <a:rPr sz="1800" b="1" spc="-50" dirty="0">
                <a:solidFill>
                  <a:srgbClr val="FFFFFF"/>
                </a:solidFill>
                <a:latin typeface="Arial" panose="020B0604020202020204" pitchFamily="34" charset="0"/>
                <a:ea typeface="微软雅黑" panose="020B0503020204020204" pitchFamily="34" charset="-122"/>
                <a:cs typeface="Arial"/>
              </a:rPr>
              <a:t>1</a:t>
            </a:r>
            <a:r>
              <a:rPr sz="1800" b="1" dirty="0">
                <a:solidFill>
                  <a:srgbClr val="FFFFFF"/>
                </a:solidFill>
                <a:latin typeface="Arial" panose="020B0604020202020204" pitchFamily="34" charset="0"/>
                <a:ea typeface="微软雅黑" panose="020B0503020204020204" pitchFamily="34" charset="-122"/>
                <a:cs typeface="Arial"/>
              </a:rPr>
              <a:t>	</a:t>
            </a:r>
            <a:r>
              <a:rPr lang="zh-CN" altLang="en-US" sz="1600" b="1" spc="-30" dirty="0">
                <a:solidFill>
                  <a:srgbClr val="FFFFFF"/>
                </a:solidFill>
                <a:latin typeface="Arial" panose="020B0604020202020204" pitchFamily="34" charset="0"/>
                <a:ea typeface="微软雅黑" panose="020B0503020204020204" pitchFamily="34" charset="-122"/>
                <a:cs typeface="Arial"/>
              </a:rPr>
              <a:t>作战指挥</a:t>
            </a:r>
            <a:endParaRPr sz="1600" dirty="0">
              <a:latin typeface="Arial" panose="020B0604020202020204" pitchFamily="34" charset="0"/>
              <a:ea typeface="微软雅黑" panose="020B0503020204020204" pitchFamily="34" charset="-122"/>
              <a:cs typeface="Microsoft YaHei"/>
            </a:endParaRPr>
          </a:p>
        </p:txBody>
      </p:sp>
      <p:sp>
        <p:nvSpPr>
          <p:cNvPr id="100" name="object 111">
            <a:extLst>
              <a:ext uri="{FF2B5EF4-FFF2-40B4-BE49-F238E27FC236}">
                <a16:creationId xmlns:a16="http://schemas.microsoft.com/office/drawing/2014/main" id="{14847192-CA7D-4212-1690-813AD2A42AE1}"/>
              </a:ext>
            </a:extLst>
          </p:cNvPr>
          <p:cNvSpPr txBox="1"/>
          <p:nvPr/>
        </p:nvSpPr>
        <p:spPr>
          <a:xfrm>
            <a:off x="5374894" y="4334803"/>
            <a:ext cx="2529568" cy="335989"/>
          </a:xfrm>
          <a:prstGeom prst="rect">
            <a:avLst/>
          </a:prstGeom>
        </p:spPr>
        <p:txBody>
          <a:bodyPr vert="horz" wrap="square" lIns="0" tIns="12700" rIns="0" bIns="0" rtlCol="0">
            <a:spAutoFit/>
          </a:bodyPr>
          <a:lstStyle/>
          <a:p>
            <a:pPr marL="38100">
              <a:lnSpc>
                <a:spcPct val="100000"/>
              </a:lnSpc>
              <a:spcBef>
                <a:spcPts val="100"/>
              </a:spcBef>
            </a:pPr>
            <a:r>
              <a:rPr sz="2100" b="1" spc="-637" baseline="-5952" dirty="0">
                <a:solidFill>
                  <a:srgbClr val="FFFFFF"/>
                </a:solidFill>
                <a:latin typeface="Arial" panose="020B0604020202020204" pitchFamily="34" charset="0"/>
                <a:ea typeface="微软雅黑" panose="020B0503020204020204" pitchFamily="34" charset="-122"/>
                <a:cs typeface="Microsoft YaHei"/>
              </a:rPr>
              <a:t>到</a:t>
            </a:r>
            <a:endParaRPr sz="1800" dirty="0">
              <a:latin typeface="Arial" panose="020B0604020202020204" pitchFamily="34" charset="0"/>
              <a:ea typeface="微软雅黑" panose="020B0503020204020204" pitchFamily="34" charset="-122"/>
              <a:cs typeface="Microsoft YaHei"/>
            </a:endParaRPr>
          </a:p>
        </p:txBody>
      </p:sp>
      <p:sp>
        <p:nvSpPr>
          <p:cNvPr id="102" name="object 48">
            <a:extLst>
              <a:ext uri="{FF2B5EF4-FFF2-40B4-BE49-F238E27FC236}">
                <a16:creationId xmlns:a16="http://schemas.microsoft.com/office/drawing/2014/main" id="{761E0BEA-74B6-8E81-15C4-23526E1AC415}"/>
              </a:ext>
            </a:extLst>
          </p:cNvPr>
          <p:cNvSpPr txBox="1"/>
          <p:nvPr/>
        </p:nvSpPr>
        <p:spPr>
          <a:xfrm>
            <a:off x="1090286" y="2751207"/>
            <a:ext cx="431800" cy="258404"/>
          </a:xfrm>
          <a:prstGeom prst="rect">
            <a:avLst/>
          </a:prstGeom>
        </p:spPr>
        <p:txBody>
          <a:bodyPr vert="horz" wrap="square" lIns="0" tIns="12065" rIns="0" bIns="0" rtlCol="0">
            <a:spAutoFit/>
          </a:bodyPr>
          <a:lstStyle>
            <a:defPPr>
              <a:defRPr lang="zh-CN" kern="0"/>
            </a:defPPr>
            <a:lvl1pPr marL="12700">
              <a:lnSpc>
                <a:spcPct val="100000"/>
              </a:lnSpc>
              <a:spcBef>
                <a:spcPts val="95"/>
              </a:spcBef>
              <a:tabLst>
                <a:tab pos="847725" algn="l"/>
              </a:tabLst>
              <a:defRPr sz="1600" b="1">
                <a:ln w="6600">
                  <a:solidFill>
                    <a:schemeClr val="accent2"/>
                  </a:solidFill>
                  <a:prstDash val="solid"/>
                </a:ln>
                <a:solidFill>
                  <a:srgbClr val="FFFFFF"/>
                </a:solidFill>
                <a:effectLst>
                  <a:outerShdw dist="38100" dir="2700000" algn="tl" rotWithShape="0">
                    <a:schemeClr val="accent2"/>
                  </a:outerShdw>
                </a:effectLst>
                <a:latin typeface="Microsoft YaHei"/>
                <a:cs typeface="Microsoft YaHei"/>
              </a:defRPr>
            </a:lvl1pPr>
          </a:lstStyle>
          <a:p>
            <a:r>
              <a:rPr dirty="0">
                <a:latin typeface="Arial" panose="020B0604020202020204" pitchFamily="34" charset="0"/>
                <a:ea typeface="微软雅黑" panose="020B0503020204020204" pitchFamily="34" charset="-122"/>
              </a:rPr>
              <a:t>分析</a:t>
            </a:r>
          </a:p>
        </p:txBody>
      </p:sp>
      <p:sp>
        <p:nvSpPr>
          <p:cNvPr id="103" name="object 49">
            <a:extLst>
              <a:ext uri="{FF2B5EF4-FFF2-40B4-BE49-F238E27FC236}">
                <a16:creationId xmlns:a16="http://schemas.microsoft.com/office/drawing/2014/main" id="{58474AB3-E86A-B712-BD5D-9DC9C8B61BB4}"/>
              </a:ext>
            </a:extLst>
          </p:cNvPr>
          <p:cNvSpPr txBox="1"/>
          <p:nvPr/>
        </p:nvSpPr>
        <p:spPr>
          <a:xfrm>
            <a:off x="1040003" y="4059138"/>
            <a:ext cx="431800" cy="258404"/>
          </a:xfrm>
          <a:prstGeom prst="rect">
            <a:avLst/>
          </a:prstGeom>
        </p:spPr>
        <p:txBody>
          <a:bodyPr vert="horz" wrap="square" lIns="0" tIns="12065" rIns="0" bIns="0" rtlCol="0">
            <a:spAutoFit/>
          </a:bodyPr>
          <a:lstStyle>
            <a:defPPr>
              <a:defRPr lang="zh-CN" kern="0"/>
            </a:defPPr>
            <a:lvl1pPr marL="12700">
              <a:lnSpc>
                <a:spcPct val="100000"/>
              </a:lnSpc>
              <a:spcBef>
                <a:spcPts val="95"/>
              </a:spcBef>
              <a:tabLst>
                <a:tab pos="847725" algn="l"/>
              </a:tabLst>
              <a:defRPr sz="1600" b="1">
                <a:ln w="6600">
                  <a:solidFill>
                    <a:schemeClr val="accent2"/>
                  </a:solidFill>
                  <a:prstDash val="solid"/>
                </a:ln>
                <a:solidFill>
                  <a:srgbClr val="FFFFFF"/>
                </a:solidFill>
                <a:effectLst>
                  <a:outerShdw dist="38100" dir="2700000" algn="tl" rotWithShape="0">
                    <a:schemeClr val="accent2"/>
                  </a:outerShdw>
                </a:effectLst>
                <a:latin typeface="Microsoft YaHei"/>
                <a:cs typeface="Microsoft YaHei"/>
              </a:defRPr>
            </a:lvl1pPr>
          </a:lstStyle>
          <a:p>
            <a:r>
              <a:rPr dirty="0">
                <a:latin typeface="Arial" panose="020B0604020202020204" pitchFamily="34" charset="0"/>
                <a:ea typeface="微软雅黑" panose="020B0503020204020204" pitchFamily="34" charset="-122"/>
              </a:rPr>
              <a:t>感知</a:t>
            </a:r>
          </a:p>
        </p:txBody>
      </p:sp>
      <p:sp>
        <p:nvSpPr>
          <p:cNvPr id="104" name="object 50">
            <a:extLst>
              <a:ext uri="{FF2B5EF4-FFF2-40B4-BE49-F238E27FC236}">
                <a16:creationId xmlns:a16="http://schemas.microsoft.com/office/drawing/2014/main" id="{E8660D91-3335-6384-FF22-CC9238DFF660}"/>
              </a:ext>
            </a:extLst>
          </p:cNvPr>
          <p:cNvSpPr txBox="1"/>
          <p:nvPr/>
        </p:nvSpPr>
        <p:spPr>
          <a:xfrm>
            <a:off x="1904621" y="2750748"/>
            <a:ext cx="431165" cy="258404"/>
          </a:xfrm>
          <a:prstGeom prst="rect">
            <a:avLst/>
          </a:prstGeom>
        </p:spPr>
        <p:txBody>
          <a:bodyPr vert="horz" wrap="square" lIns="0" tIns="12065" rIns="0" bIns="0" rtlCol="0">
            <a:spAutoFit/>
          </a:bodyPr>
          <a:lstStyle>
            <a:defPPr>
              <a:defRPr lang="zh-CN" kern="0"/>
            </a:defPPr>
            <a:lvl1pPr marL="12700">
              <a:lnSpc>
                <a:spcPct val="100000"/>
              </a:lnSpc>
              <a:spcBef>
                <a:spcPts val="95"/>
              </a:spcBef>
              <a:tabLst>
                <a:tab pos="847725" algn="l"/>
              </a:tabLst>
              <a:defRPr sz="1600" b="1">
                <a:ln w="6600">
                  <a:solidFill>
                    <a:schemeClr val="accent2"/>
                  </a:solidFill>
                  <a:prstDash val="solid"/>
                </a:ln>
                <a:solidFill>
                  <a:srgbClr val="FFFFFF"/>
                </a:solidFill>
                <a:effectLst>
                  <a:outerShdw dist="38100" dir="2700000" algn="tl" rotWithShape="0">
                    <a:schemeClr val="accent2"/>
                  </a:outerShdw>
                </a:effectLst>
                <a:latin typeface="Microsoft YaHei"/>
                <a:cs typeface="Microsoft YaHei"/>
              </a:defRPr>
            </a:lvl1pPr>
          </a:lstStyle>
          <a:p>
            <a:r>
              <a:rPr dirty="0">
                <a:latin typeface="Arial" panose="020B0604020202020204" pitchFamily="34" charset="0"/>
                <a:ea typeface="微软雅黑" panose="020B0503020204020204" pitchFamily="34" charset="-122"/>
              </a:rPr>
              <a:t>优化</a:t>
            </a:r>
          </a:p>
        </p:txBody>
      </p:sp>
      <p:sp>
        <p:nvSpPr>
          <p:cNvPr id="105" name="object 51">
            <a:extLst>
              <a:ext uri="{FF2B5EF4-FFF2-40B4-BE49-F238E27FC236}">
                <a16:creationId xmlns:a16="http://schemas.microsoft.com/office/drawing/2014/main" id="{6225DB05-83FB-ABE3-73CE-8B4C44B8B206}"/>
              </a:ext>
            </a:extLst>
          </p:cNvPr>
          <p:cNvSpPr txBox="1"/>
          <p:nvPr/>
        </p:nvSpPr>
        <p:spPr>
          <a:xfrm>
            <a:off x="1065846" y="3420731"/>
            <a:ext cx="511901" cy="504625"/>
          </a:xfrm>
          <a:prstGeom prst="rect">
            <a:avLst/>
          </a:prstGeom>
        </p:spPr>
        <p:txBody>
          <a:bodyPr vert="horz" wrap="square" lIns="0" tIns="12065" rIns="0" bIns="0" rtlCol="0">
            <a:spAutoFit/>
          </a:bodyPr>
          <a:lstStyle>
            <a:defPPr>
              <a:defRPr kern="0"/>
            </a:defPPr>
          </a:lstStyle>
          <a:p>
            <a:pPr marL="12700">
              <a:lnSpc>
                <a:spcPct val="100000"/>
              </a:lnSpc>
              <a:spcBef>
                <a:spcPts val="95"/>
              </a:spcBef>
              <a:tabLst>
                <a:tab pos="847725" algn="l"/>
              </a:tabLst>
            </a:pPr>
            <a:r>
              <a:rPr sz="1600" b="1" dirty="0">
                <a:ln w="6600">
                  <a:solidFill>
                    <a:schemeClr val="accent2"/>
                  </a:solidFill>
                  <a:prstDash val="solid"/>
                </a:ln>
                <a:solidFill>
                  <a:srgbClr val="FFFFFF"/>
                </a:solidFill>
                <a:effectLst>
                  <a:outerShdw dist="38100" dir="2700000" algn="tl" rotWithShape="0">
                    <a:schemeClr val="accent2"/>
                  </a:outerShdw>
                </a:effectLst>
                <a:latin typeface="Arial" panose="020B0604020202020204" pitchFamily="34" charset="0"/>
                <a:ea typeface="微软雅黑" panose="020B0503020204020204" pitchFamily="34" charset="-122"/>
                <a:cs typeface="Microsoft YaHei"/>
              </a:rPr>
              <a:t>抽象	</a:t>
            </a:r>
            <a:endParaRPr sz="2400" b="1" baseline="3472" dirty="0">
              <a:ln w="6600">
                <a:solidFill>
                  <a:schemeClr val="accent2"/>
                </a:solidFill>
                <a:prstDash val="solid"/>
              </a:ln>
              <a:solidFill>
                <a:srgbClr val="FFFFFF"/>
              </a:solidFill>
              <a:effectLst>
                <a:outerShdw dist="38100" dir="2700000" algn="tl" rotWithShape="0">
                  <a:schemeClr val="accent2"/>
                </a:outerShdw>
              </a:effectLst>
              <a:latin typeface="Arial" panose="020B0604020202020204" pitchFamily="34" charset="0"/>
              <a:ea typeface="微软雅黑" panose="020B0503020204020204" pitchFamily="34" charset="-122"/>
              <a:cs typeface="Microsoft YaHei"/>
            </a:endParaRPr>
          </a:p>
        </p:txBody>
      </p:sp>
      <p:sp>
        <p:nvSpPr>
          <p:cNvPr id="106" name="object 52">
            <a:extLst>
              <a:ext uri="{FF2B5EF4-FFF2-40B4-BE49-F238E27FC236}">
                <a16:creationId xmlns:a16="http://schemas.microsoft.com/office/drawing/2014/main" id="{ACAA3F85-57CC-3917-69B8-DF8B5D26E260}"/>
              </a:ext>
            </a:extLst>
          </p:cNvPr>
          <p:cNvSpPr txBox="1"/>
          <p:nvPr/>
        </p:nvSpPr>
        <p:spPr>
          <a:xfrm>
            <a:off x="1934144" y="4051658"/>
            <a:ext cx="431165" cy="258404"/>
          </a:xfrm>
          <a:prstGeom prst="rect">
            <a:avLst/>
          </a:prstGeom>
        </p:spPr>
        <p:txBody>
          <a:bodyPr vert="horz" wrap="square" lIns="0" tIns="12065" rIns="0" bIns="0" rtlCol="0">
            <a:spAutoFit/>
          </a:bodyPr>
          <a:lstStyle>
            <a:defPPr>
              <a:defRPr lang="zh-CN" kern="0"/>
            </a:defPPr>
            <a:lvl1pPr marL="12700">
              <a:lnSpc>
                <a:spcPct val="100000"/>
              </a:lnSpc>
              <a:spcBef>
                <a:spcPts val="95"/>
              </a:spcBef>
              <a:tabLst>
                <a:tab pos="847725" algn="l"/>
              </a:tabLst>
              <a:defRPr sz="1600" b="1">
                <a:ln w="6600">
                  <a:solidFill>
                    <a:schemeClr val="accent2"/>
                  </a:solidFill>
                  <a:prstDash val="solid"/>
                </a:ln>
                <a:solidFill>
                  <a:srgbClr val="FFFFFF"/>
                </a:solidFill>
                <a:effectLst>
                  <a:outerShdw dist="38100" dir="2700000" algn="tl" rotWithShape="0">
                    <a:schemeClr val="accent2"/>
                  </a:outerShdw>
                </a:effectLst>
                <a:latin typeface="Microsoft YaHei"/>
                <a:cs typeface="Microsoft YaHei"/>
              </a:defRPr>
            </a:lvl1pPr>
          </a:lstStyle>
          <a:p>
            <a:r>
              <a:rPr dirty="0">
                <a:latin typeface="Arial" panose="020B0604020202020204" pitchFamily="34" charset="0"/>
                <a:ea typeface="微软雅黑" panose="020B0503020204020204" pitchFamily="34" charset="-122"/>
              </a:rPr>
              <a:t>执行</a:t>
            </a:r>
          </a:p>
        </p:txBody>
      </p:sp>
      <p:sp>
        <p:nvSpPr>
          <p:cNvPr id="107" name="object 81">
            <a:extLst>
              <a:ext uri="{FF2B5EF4-FFF2-40B4-BE49-F238E27FC236}">
                <a16:creationId xmlns:a16="http://schemas.microsoft.com/office/drawing/2014/main" id="{AD7548E6-2F9D-378D-35CD-2D1A032B5A09}"/>
              </a:ext>
            </a:extLst>
          </p:cNvPr>
          <p:cNvSpPr txBox="1"/>
          <p:nvPr/>
        </p:nvSpPr>
        <p:spPr>
          <a:xfrm>
            <a:off x="6346008" y="4013064"/>
            <a:ext cx="203835" cy="228268"/>
          </a:xfrm>
          <a:prstGeom prst="rect">
            <a:avLst/>
          </a:prstGeom>
        </p:spPr>
        <p:txBody>
          <a:bodyPr vert="horz" wrap="square" lIns="0" tIns="12700" rIns="0" bIns="0" rtlCol="0">
            <a:spAutoFit/>
          </a:bodyPr>
          <a:lstStyle/>
          <a:p>
            <a:pPr marL="12700">
              <a:lnSpc>
                <a:spcPct val="100000"/>
              </a:lnSpc>
              <a:spcBef>
                <a:spcPts val="100"/>
              </a:spcBef>
            </a:pPr>
            <a:r>
              <a:rPr lang="zh-CN" altLang="en-US" sz="1400" b="1" spc="-50" dirty="0">
                <a:solidFill>
                  <a:srgbClr val="FFFFFF"/>
                </a:solidFill>
                <a:latin typeface="Arial" panose="020B0604020202020204" pitchFamily="34" charset="0"/>
                <a:ea typeface="微软雅黑" panose="020B0503020204020204" pitchFamily="34" charset="-122"/>
                <a:cs typeface="Microsoft YaHei"/>
              </a:rPr>
              <a:t>需</a:t>
            </a:r>
            <a:endParaRPr sz="1400" dirty="0">
              <a:latin typeface="Arial" panose="020B0604020202020204" pitchFamily="34" charset="0"/>
              <a:ea typeface="微软雅黑" panose="020B0503020204020204" pitchFamily="34" charset="-122"/>
              <a:cs typeface="Microsoft YaHei"/>
            </a:endParaRPr>
          </a:p>
        </p:txBody>
      </p:sp>
      <p:sp>
        <p:nvSpPr>
          <p:cNvPr id="108" name="object 82">
            <a:extLst>
              <a:ext uri="{FF2B5EF4-FFF2-40B4-BE49-F238E27FC236}">
                <a16:creationId xmlns:a16="http://schemas.microsoft.com/office/drawing/2014/main" id="{A1ADE5A1-E884-8DAC-C313-49858E965E60}"/>
              </a:ext>
            </a:extLst>
          </p:cNvPr>
          <p:cNvSpPr txBox="1"/>
          <p:nvPr/>
        </p:nvSpPr>
        <p:spPr>
          <a:xfrm>
            <a:off x="6336919" y="4441334"/>
            <a:ext cx="203835" cy="228268"/>
          </a:xfrm>
          <a:prstGeom prst="rect">
            <a:avLst/>
          </a:prstGeom>
        </p:spPr>
        <p:txBody>
          <a:bodyPr vert="horz" wrap="square" lIns="0" tIns="12700" rIns="0" bIns="0" rtlCol="0">
            <a:spAutoFit/>
          </a:bodyPr>
          <a:lstStyle/>
          <a:p>
            <a:pPr marL="12700">
              <a:lnSpc>
                <a:spcPct val="100000"/>
              </a:lnSpc>
              <a:spcBef>
                <a:spcPts val="100"/>
              </a:spcBef>
            </a:pPr>
            <a:r>
              <a:rPr lang="zh-CN" altLang="en-US" sz="1400" b="1" spc="-50" dirty="0">
                <a:solidFill>
                  <a:srgbClr val="FFFFFF"/>
                </a:solidFill>
                <a:latin typeface="Arial" panose="020B0604020202020204" pitchFamily="34" charset="0"/>
                <a:ea typeface="微软雅黑" panose="020B0503020204020204" pitchFamily="34" charset="-122"/>
                <a:cs typeface="Microsoft YaHei"/>
              </a:rPr>
              <a:t>到</a:t>
            </a:r>
            <a:endParaRPr sz="1400" dirty="0">
              <a:latin typeface="Arial" panose="020B0604020202020204" pitchFamily="34" charset="0"/>
              <a:ea typeface="微软雅黑" panose="020B0503020204020204" pitchFamily="34" charset="-122"/>
              <a:cs typeface="Microsoft YaHei"/>
            </a:endParaRPr>
          </a:p>
        </p:txBody>
      </p:sp>
      <p:sp>
        <p:nvSpPr>
          <p:cNvPr id="109" name="object 82">
            <a:extLst>
              <a:ext uri="{FF2B5EF4-FFF2-40B4-BE49-F238E27FC236}">
                <a16:creationId xmlns:a16="http://schemas.microsoft.com/office/drawing/2014/main" id="{C2F70396-051E-A897-AEC1-274D8E4B49EB}"/>
              </a:ext>
            </a:extLst>
          </p:cNvPr>
          <p:cNvSpPr txBox="1"/>
          <p:nvPr/>
        </p:nvSpPr>
        <p:spPr>
          <a:xfrm>
            <a:off x="7327812" y="4460064"/>
            <a:ext cx="203835" cy="228268"/>
          </a:xfrm>
          <a:prstGeom prst="rect">
            <a:avLst/>
          </a:prstGeom>
        </p:spPr>
        <p:txBody>
          <a:bodyPr vert="horz" wrap="square" lIns="0" tIns="12700" rIns="0" bIns="0" rtlCol="0">
            <a:spAutoFit/>
          </a:bodyPr>
          <a:lstStyle/>
          <a:p>
            <a:pPr marL="12700">
              <a:lnSpc>
                <a:spcPct val="100000"/>
              </a:lnSpc>
              <a:spcBef>
                <a:spcPts val="100"/>
              </a:spcBef>
            </a:pPr>
            <a:r>
              <a:rPr lang="zh-CN" altLang="en-US" sz="1400" b="1" spc="-50" dirty="0">
                <a:solidFill>
                  <a:srgbClr val="FFFFFF"/>
                </a:solidFill>
                <a:latin typeface="Arial" panose="020B0604020202020204" pitchFamily="34" charset="0"/>
                <a:ea typeface="微软雅黑" panose="020B0503020204020204" pitchFamily="34" charset="-122"/>
                <a:cs typeface="Microsoft YaHei"/>
              </a:rPr>
              <a:t>到</a:t>
            </a:r>
            <a:endParaRPr sz="1400" dirty="0">
              <a:latin typeface="Arial" panose="020B0604020202020204" pitchFamily="34" charset="0"/>
              <a:ea typeface="微软雅黑" panose="020B0503020204020204" pitchFamily="34" charset="-122"/>
              <a:cs typeface="Microsoft YaHei"/>
            </a:endParaRPr>
          </a:p>
        </p:txBody>
      </p:sp>
      <p:grpSp>
        <p:nvGrpSpPr>
          <p:cNvPr id="110" name="组合 109">
            <a:extLst>
              <a:ext uri="{FF2B5EF4-FFF2-40B4-BE49-F238E27FC236}">
                <a16:creationId xmlns:a16="http://schemas.microsoft.com/office/drawing/2014/main" id="{BE603CAA-AA93-5051-EEE7-D0A3C28F0845}"/>
              </a:ext>
            </a:extLst>
          </p:cNvPr>
          <p:cNvGrpSpPr/>
          <p:nvPr/>
        </p:nvGrpSpPr>
        <p:grpSpPr>
          <a:xfrm>
            <a:off x="3131630" y="3699913"/>
            <a:ext cx="6446520" cy="867410"/>
            <a:chOff x="3131630" y="3550633"/>
            <a:chExt cx="6446520" cy="867410"/>
          </a:xfrm>
        </p:grpSpPr>
        <p:grpSp>
          <p:nvGrpSpPr>
            <p:cNvPr id="111" name="object 107">
              <a:extLst>
                <a:ext uri="{FF2B5EF4-FFF2-40B4-BE49-F238E27FC236}">
                  <a16:creationId xmlns:a16="http://schemas.microsoft.com/office/drawing/2014/main" id="{FCE88925-892A-7BD2-11BF-62AE383C4130}"/>
                </a:ext>
              </a:extLst>
            </p:cNvPr>
            <p:cNvGrpSpPr/>
            <p:nvPr/>
          </p:nvGrpSpPr>
          <p:grpSpPr>
            <a:xfrm>
              <a:off x="3131630" y="3550633"/>
              <a:ext cx="6446520" cy="867410"/>
              <a:chOff x="3368040" y="3811523"/>
              <a:chExt cx="6446520" cy="867410"/>
            </a:xfrm>
          </p:grpSpPr>
          <p:sp>
            <p:nvSpPr>
              <p:cNvPr id="113" name="object 108">
                <a:extLst>
                  <a:ext uri="{FF2B5EF4-FFF2-40B4-BE49-F238E27FC236}">
                    <a16:creationId xmlns:a16="http://schemas.microsoft.com/office/drawing/2014/main" id="{C597F7EC-D6F0-BC42-4E0F-A6A2CFBF1B97}"/>
                  </a:ext>
                </a:extLst>
              </p:cNvPr>
              <p:cNvSpPr/>
              <p:nvPr/>
            </p:nvSpPr>
            <p:spPr>
              <a:xfrm>
                <a:off x="3368040" y="3811523"/>
                <a:ext cx="867410" cy="867410"/>
              </a:xfrm>
              <a:custGeom>
                <a:avLst/>
                <a:gdLst/>
                <a:ahLst/>
                <a:cxnLst/>
                <a:rect l="l" t="t" r="r" b="b"/>
                <a:pathLst>
                  <a:path w="867410" h="867410">
                    <a:moveTo>
                      <a:pt x="433577" y="0"/>
                    </a:moveTo>
                    <a:lnTo>
                      <a:pt x="386323" y="2543"/>
                    </a:lnTo>
                    <a:lnTo>
                      <a:pt x="340546" y="9997"/>
                    </a:lnTo>
                    <a:lnTo>
                      <a:pt x="296509" y="22098"/>
                    </a:lnTo>
                    <a:lnTo>
                      <a:pt x="254477" y="38580"/>
                    </a:lnTo>
                    <a:lnTo>
                      <a:pt x="214714" y="59181"/>
                    </a:lnTo>
                    <a:lnTo>
                      <a:pt x="177485" y="83637"/>
                    </a:lnTo>
                    <a:lnTo>
                      <a:pt x="143052" y="111682"/>
                    </a:lnTo>
                    <a:lnTo>
                      <a:pt x="111682" y="143052"/>
                    </a:lnTo>
                    <a:lnTo>
                      <a:pt x="83637" y="177485"/>
                    </a:lnTo>
                    <a:lnTo>
                      <a:pt x="59182" y="214714"/>
                    </a:lnTo>
                    <a:lnTo>
                      <a:pt x="38580" y="254477"/>
                    </a:lnTo>
                    <a:lnTo>
                      <a:pt x="22098" y="296509"/>
                    </a:lnTo>
                    <a:lnTo>
                      <a:pt x="9997" y="340546"/>
                    </a:lnTo>
                    <a:lnTo>
                      <a:pt x="2543" y="386323"/>
                    </a:lnTo>
                    <a:lnTo>
                      <a:pt x="0" y="433577"/>
                    </a:lnTo>
                    <a:lnTo>
                      <a:pt x="2543" y="480810"/>
                    </a:lnTo>
                    <a:lnTo>
                      <a:pt x="9997" y="526571"/>
                    </a:lnTo>
                    <a:lnTo>
                      <a:pt x="22098" y="570597"/>
                    </a:lnTo>
                    <a:lnTo>
                      <a:pt x="38580" y="612623"/>
                    </a:lnTo>
                    <a:lnTo>
                      <a:pt x="59182" y="652384"/>
                    </a:lnTo>
                    <a:lnTo>
                      <a:pt x="83637" y="689616"/>
                    </a:lnTo>
                    <a:lnTo>
                      <a:pt x="111682" y="724052"/>
                    </a:lnTo>
                    <a:lnTo>
                      <a:pt x="143052" y="755429"/>
                    </a:lnTo>
                    <a:lnTo>
                      <a:pt x="177485" y="783482"/>
                    </a:lnTo>
                    <a:lnTo>
                      <a:pt x="214714" y="807945"/>
                    </a:lnTo>
                    <a:lnTo>
                      <a:pt x="254477" y="828555"/>
                    </a:lnTo>
                    <a:lnTo>
                      <a:pt x="296509" y="845045"/>
                    </a:lnTo>
                    <a:lnTo>
                      <a:pt x="340546" y="857152"/>
                    </a:lnTo>
                    <a:lnTo>
                      <a:pt x="386323" y="864611"/>
                    </a:lnTo>
                    <a:lnTo>
                      <a:pt x="433577" y="867156"/>
                    </a:lnTo>
                    <a:lnTo>
                      <a:pt x="480810" y="864611"/>
                    </a:lnTo>
                    <a:lnTo>
                      <a:pt x="526571" y="857152"/>
                    </a:lnTo>
                    <a:lnTo>
                      <a:pt x="570597" y="845045"/>
                    </a:lnTo>
                    <a:lnTo>
                      <a:pt x="612623" y="828555"/>
                    </a:lnTo>
                    <a:lnTo>
                      <a:pt x="652384" y="807945"/>
                    </a:lnTo>
                    <a:lnTo>
                      <a:pt x="689616" y="783482"/>
                    </a:lnTo>
                    <a:lnTo>
                      <a:pt x="724052" y="755429"/>
                    </a:lnTo>
                    <a:lnTo>
                      <a:pt x="755429" y="724052"/>
                    </a:lnTo>
                    <a:lnTo>
                      <a:pt x="783482" y="689616"/>
                    </a:lnTo>
                    <a:lnTo>
                      <a:pt x="807945" y="652384"/>
                    </a:lnTo>
                    <a:lnTo>
                      <a:pt x="828555" y="612623"/>
                    </a:lnTo>
                    <a:lnTo>
                      <a:pt x="845045" y="570597"/>
                    </a:lnTo>
                    <a:lnTo>
                      <a:pt x="857152" y="526571"/>
                    </a:lnTo>
                    <a:lnTo>
                      <a:pt x="864611" y="480810"/>
                    </a:lnTo>
                    <a:lnTo>
                      <a:pt x="867156" y="433577"/>
                    </a:lnTo>
                    <a:lnTo>
                      <a:pt x="864611" y="386323"/>
                    </a:lnTo>
                    <a:lnTo>
                      <a:pt x="857152" y="340546"/>
                    </a:lnTo>
                    <a:lnTo>
                      <a:pt x="845045" y="296509"/>
                    </a:lnTo>
                    <a:lnTo>
                      <a:pt x="828555" y="254477"/>
                    </a:lnTo>
                    <a:lnTo>
                      <a:pt x="807945" y="214714"/>
                    </a:lnTo>
                    <a:lnTo>
                      <a:pt x="783482" y="177485"/>
                    </a:lnTo>
                    <a:lnTo>
                      <a:pt x="755429" y="143052"/>
                    </a:lnTo>
                    <a:lnTo>
                      <a:pt x="724052" y="111682"/>
                    </a:lnTo>
                    <a:lnTo>
                      <a:pt x="689616" y="83637"/>
                    </a:lnTo>
                    <a:lnTo>
                      <a:pt x="652384" y="59181"/>
                    </a:lnTo>
                    <a:lnTo>
                      <a:pt x="612623" y="38580"/>
                    </a:lnTo>
                    <a:lnTo>
                      <a:pt x="570597" y="22097"/>
                    </a:lnTo>
                    <a:lnTo>
                      <a:pt x="526571" y="9997"/>
                    </a:lnTo>
                    <a:lnTo>
                      <a:pt x="480810" y="2543"/>
                    </a:lnTo>
                    <a:lnTo>
                      <a:pt x="433577" y="0"/>
                    </a:lnTo>
                    <a:close/>
                  </a:path>
                </a:pathLst>
              </a:custGeom>
              <a:solidFill>
                <a:srgbClr val="4F86D1"/>
              </a:solidFill>
              <a:ln>
                <a:noFill/>
              </a:ln>
            </p:spPr>
            <p:txBody>
              <a:bodyPr wrap="square" lIns="0" tIns="0" rIns="0" bIns="0" rtlCol="0"/>
              <a:lstStyle>
                <a:defPPr>
                  <a:defRPr kern="0"/>
                </a:defPPr>
              </a:lstStyle>
              <a:p>
                <a:endParaRPr/>
              </a:p>
            </p:txBody>
          </p:sp>
          <p:pic>
            <p:nvPicPr>
              <p:cNvPr id="114" name="object 109">
                <a:extLst>
                  <a:ext uri="{FF2B5EF4-FFF2-40B4-BE49-F238E27FC236}">
                    <a16:creationId xmlns:a16="http://schemas.microsoft.com/office/drawing/2014/main" id="{8F2C2FC4-D0D7-072D-2781-D24E56BA6EE6}"/>
                  </a:ext>
                </a:extLst>
              </p:cNvPr>
              <p:cNvPicPr/>
              <p:nvPr/>
            </p:nvPicPr>
            <p:blipFill>
              <a:blip r:embed="rId18" cstate="print"/>
              <a:stretch>
                <a:fillRect/>
              </a:stretch>
            </p:blipFill>
            <p:spPr>
              <a:xfrm>
                <a:off x="3787140" y="3811523"/>
                <a:ext cx="6027420" cy="867156"/>
              </a:xfrm>
              <a:prstGeom prst="rect">
                <a:avLst/>
              </a:prstGeom>
              <a:ln>
                <a:noFill/>
              </a:ln>
            </p:spPr>
          </p:pic>
        </p:grpSp>
        <p:sp>
          <p:nvSpPr>
            <p:cNvPr id="112" name="文本框 111">
              <a:extLst>
                <a:ext uri="{FF2B5EF4-FFF2-40B4-BE49-F238E27FC236}">
                  <a16:creationId xmlns:a16="http://schemas.microsoft.com/office/drawing/2014/main" id="{BE2F64B2-FFC5-53D4-83D4-3A34DFE10C74}"/>
                </a:ext>
              </a:extLst>
            </p:cNvPr>
            <p:cNvSpPr txBox="1"/>
            <p:nvPr/>
          </p:nvSpPr>
          <p:spPr>
            <a:xfrm>
              <a:off x="4791618" y="3834883"/>
              <a:ext cx="3718178" cy="369332"/>
            </a:xfrm>
            <a:prstGeom prst="rect">
              <a:avLst/>
            </a:prstGeom>
            <a:noFill/>
            <a:ln>
              <a:noFill/>
            </a:ln>
          </p:spPr>
          <p:txBody>
            <a:bodyPr wrap="square" rtlCol="0">
              <a:spAutoFit/>
            </a:bodyPr>
            <a:lstStyle/>
            <a:p>
              <a:r>
                <a:rPr lang="en-US" altLang="zh-CN" b="1" dirty="0">
                  <a:solidFill>
                    <a:schemeClr val="tx2"/>
                  </a:solidFill>
                  <a:latin typeface="Arial" panose="020B0604020202020204" pitchFamily="34" charset="0"/>
                  <a:ea typeface="微软雅黑" panose="020B0503020204020204" pitchFamily="34" charset="-122"/>
                </a:rPr>
                <a:t>Intelligent One Planning</a:t>
              </a:r>
              <a:endParaRPr lang="zh-CN" altLang="en-US" b="1" dirty="0">
                <a:solidFill>
                  <a:schemeClr val="tx2"/>
                </a:solidFill>
                <a:latin typeface="Arial" panose="020B0604020202020204" pitchFamily="34" charset="0"/>
                <a:ea typeface="微软雅黑" panose="020B0503020204020204" pitchFamily="34" charset="-122"/>
              </a:endParaRPr>
            </a:p>
          </p:txBody>
        </p:sp>
      </p:grpSp>
      <p:sp>
        <p:nvSpPr>
          <p:cNvPr id="115" name="文本框 114">
            <a:extLst>
              <a:ext uri="{FF2B5EF4-FFF2-40B4-BE49-F238E27FC236}">
                <a16:creationId xmlns:a16="http://schemas.microsoft.com/office/drawing/2014/main" id="{FECBF66A-D628-16FC-D415-63AFA9E9C556}"/>
              </a:ext>
            </a:extLst>
          </p:cNvPr>
          <p:cNvSpPr txBox="1"/>
          <p:nvPr/>
        </p:nvSpPr>
        <p:spPr>
          <a:xfrm>
            <a:off x="1907617" y="3433377"/>
            <a:ext cx="511901" cy="258404"/>
          </a:xfrm>
          <a:prstGeom prst="rect">
            <a:avLst/>
          </a:prstGeom>
        </p:spPr>
        <p:txBody>
          <a:bodyPr vert="horz" wrap="square" lIns="0" tIns="12065" rIns="0" bIns="0" rtlCol="0">
            <a:spAutoFit/>
          </a:bodyPr>
          <a:lstStyle>
            <a:defPPr>
              <a:defRPr lang="zh-CN" kern="0"/>
            </a:defPPr>
            <a:lvl1pPr marL="12700">
              <a:lnSpc>
                <a:spcPct val="100000"/>
              </a:lnSpc>
              <a:spcBef>
                <a:spcPts val="95"/>
              </a:spcBef>
              <a:tabLst>
                <a:tab pos="847725" algn="l"/>
              </a:tabLst>
              <a:defRPr sz="1600" spc="-25">
                <a:solidFill>
                  <a:schemeClr val="tx2">
                    <a:lumMod val="25000"/>
                  </a:schemeClr>
                </a:solidFill>
                <a:latin typeface="Microsoft YaHei"/>
                <a:cs typeface="Microsoft YaHei"/>
              </a:defRPr>
            </a:lvl1pPr>
          </a:lstStyle>
          <a:p>
            <a:r>
              <a:rPr lang="zh-CN" altLang="en-US" b="1" spc="0" dirty="0">
                <a:ln w="6600">
                  <a:solidFill>
                    <a:schemeClr val="accent2"/>
                  </a:solidFill>
                  <a:prstDash val="solid"/>
                </a:ln>
                <a:solidFill>
                  <a:srgbClr val="FFFFFF"/>
                </a:solidFill>
                <a:effectLst>
                  <a:outerShdw dist="38100" dir="2700000" algn="tl" rotWithShape="0">
                    <a:schemeClr val="accent2"/>
                  </a:outerShdw>
                </a:effectLst>
                <a:latin typeface="Arial" panose="020B0604020202020204" pitchFamily="34" charset="0"/>
                <a:ea typeface="微软雅黑" panose="020B0503020204020204" pitchFamily="34" charset="-122"/>
              </a:rPr>
              <a:t>控制</a:t>
            </a:r>
          </a:p>
        </p:txBody>
      </p:sp>
      <p:sp>
        <p:nvSpPr>
          <p:cNvPr id="116" name="矩形: 圆角 68">
            <a:extLst>
              <a:ext uri="{FF2B5EF4-FFF2-40B4-BE49-F238E27FC236}">
                <a16:creationId xmlns:a16="http://schemas.microsoft.com/office/drawing/2014/main" id="{97B27B15-7FFE-5319-B423-81D7F96E5499}"/>
              </a:ext>
            </a:extLst>
          </p:cNvPr>
          <p:cNvSpPr/>
          <p:nvPr/>
        </p:nvSpPr>
        <p:spPr>
          <a:xfrm>
            <a:off x="5080484" y="1607451"/>
            <a:ext cx="2794544" cy="734259"/>
          </a:xfrm>
          <a:prstGeom prst="ellipse">
            <a:avLst/>
          </a:prstGeom>
          <a:gradFill>
            <a:gsLst>
              <a:gs pos="0">
                <a:schemeClr val="accent2">
                  <a:lumMod val="50000"/>
                  <a:lumOff val="50000"/>
                </a:schemeClr>
              </a:gs>
              <a:gs pos="74000">
                <a:schemeClr val="accent2">
                  <a:lumMod val="25000"/>
                  <a:lumOff val="75000"/>
                </a:schemeClr>
              </a:gs>
              <a:gs pos="83000">
                <a:schemeClr val="accent2">
                  <a:lumMod val="11000"/>
                  <a:lumOff val="89000"/>
                </a:schemeClr>
              </a:gs>
              <a:gs pos="100000">
                <a:schemeClr val="tx2">
                  <a:lumMod val="90000"/>
                </a:schemeClr>
              </a:gs>
            </a:gsLst>
            <a:lin ang="5400000" scaled="1"/>
          </a:gradFill>
          <a:ln>
            <a:noFill/>
          </a:ln>
          <a:scene3d>
            <a:camera prst="orthographicFront"/>
            <a:lightRig rig="threePt" dir="t"/>
          </a:scene3d>
          <a:sp3d>
            <a:bevelT/>
            <a:bevelB/>
          </a:sp3d>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accent5"/>
                </a:solidFill>
                <a:latin typeface="Arial" panose="020B0604020202020204" pitchFamily="34" charset="0"/>
                <a:ea typeface="微软雅黑" panose="020B0503020204020204" pitchFamily="34" charset="-122"/>
              </a:rPr>
              <a:t>智能计划与控制塔</a:t>
            </a:r>
            <a:endParaRPr lang="en-US" altLang="zh-CN" sz="1600" b="1" dirty="0">
              <a:solidFill>
                <a:schemeClr val="accent5"/>
              </a:solidFill>
              <a:latin typeface="Arial" panose="020B0604020202020204" pitchFamily="34" charset="0"/>
              <a:ea typeface="微软雅黑" panose="020B0503020204020204" pitchFamily="34" charset="-122"/>
            </a:endParaRPr>
          </a:p>
          <a:p>
            <a:pPr algn="ctr"/>
            <a:r>
              <a:rPr lang="en-US" altLang="zh-CN" sz="1600" b="1" dirty="0">
                <a:solidFill>
                  <a:schemeClr val="accent5"/>
                </a:solidFill>
                <a:latin typeface="Arial" panose="020B0604020202020204" pitchFamily="34" charset="0"/>
                <a:ea typeface="微软雅黑" panose="020B0503020204020204" pitchFamily="34" charset="-122"/>
              </a:rPr>
              <a:t>IPC</a:t>
            </a:r>
            <a:endParaRPr lang="zh-CN" altLang="en-US" sz="1600" b="1" dirty="0">
              <a:solidFill>
                <a:schemeClr val="accent5"/>
              </a:solidFill>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1307292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0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0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44"/>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51"/>
                                        </p:tgtEl>
                                        <p:attrNameLst>
                                          <p:attrName>style.visibility</p:attrName>
                                        </p:attrNameLst>
                                      </p:cBhvr>
                                      <p:to>
                                        <p:strVal val="visible"/>
                                      </p:to>
                                    </p:set>
                                    <p:animEffect transition="in" filter="fade">
                                      <p:cBhvr>
                                        <p:cTn id="33" dur="500"/>
                                        <p:tgtEl>
                                          <p:spTgt spid="51"/>
                                        </p:tgtEl>
                                      </p:cBhvr>
                                    </p:animEffec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grpId="0" nodeType="clickEffect">
                                  <p:stCondLst>
                                    <p:cond delay="0"/>
                                  </p:stCondLst>
                                  <p:childTnLst>
                                    <p:set>
                                      <p:cBhvr>
                                        <p:cTn id="37" dur="1" fill="hold">
                                          <p:stCondLst>
                                            <p:cond delay="0"/>
                                          </p:stCondLst>
                                        </p:cTn>
                                        <p:tgtEl>
                                          <p:spTgt spid="52"/>
                                        </p:tgtEl>
                                        <p:attrNameLst>
                                          <p:attrName>style.visibility</p:attrName>
                                        </p:attrNameLst>
                                      </p:cBhvr>
                                      <p:to>
                                        <p:strVal val="visible"/>
                                      </p:to>
                                    </p:set>
                                  </p:childTnLst>
                                </p:cTn>
                              </p:par>
                              <p:par>
                                <p:cTn id="38" presetID="10" presetClass="entr" presetSubtype="0" fill="hold" grpId="0" nodeType="withEffect">
                                  <p:stCondLst>
                                    <p:cond delay="0"/>
                                  </p:stCondLst>
                                  <p:childTnLst>
                                    <p:set>
                                      <p:cBhvr>
                                        <p:cTn id="39" dur="1" fill="hold">
                                          <p:stCondLst>
                                            <p:cond delay="0"/>
                                          </p:stCondLst>
                                        </p:cTn>
                                        <p:tgtEl>
                                          <p:spTgt spid="35"/>
                                        </p:tgtEl>
                                        <p:attrNameLst>
                                          <p:attrName>style.visibility</p:attrName>
                                        </p:attrNameLst>
                                      </p:cBhvr>
                                      <p:to>
                                        <p:strVal val="visible"/>
                                      </p:to>
                                    </p:set>
                                    <p:animEffect transition="in" filter="fade">
                                      <p:cBhvr>
                                        <p:cTn id="40" dur="500"/>
                                        <p:tgtEl>
                                          <p:spTgt spid="35"/>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04"/>
                                        </p:tgtEl>
                                        <p:attrNameLst>
                                          <p:attrName>style.visibility</p:attrName>
                                        </p:attrNameLst>
                                      </p:cBhvr>
                                      <p:to>
                                        <p:strVal val="visible"/>
                                      </p:to>
                                    </p:set>
                                    <p:animEffect transition="in" filter="fade">
                                      <p:cBhvr>
                                        <p:cTn id="43" dur="500"/>
                                        <p:tgtEl>
                                          <p:spTgt spid="104"/>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15"/>
                                        </p:tgtEl>
                                        <p:attrNameLst>
                                          <p:attrName>style.visibility</p:attrName>
                                        </p:attrNameLst>
                                      </p:cBhvr>
                                      <p:to>
                                        <p:strVal val="visible"/>
                                      </p:to>
                                    </p:set>
                                    <p:animEffect transition="in" filter="fade">
                                      <p:cBhvr>
                                        <p:cTn id="48" dur="500"/>
                                        <p:tgtEl>
                                          <p:spTgt spid="11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06"/>
                                        </p:tgtEl>
                                        <p:attrNameLst>
                                          <p:attrName>style.visibility</p:attrName>
                                        </p:attrNameLst>
                                      </p:cBhvr>
                                      <p:to>
                                        <p:strVal val="visible"/>
                                      </p:to>
                                    </p:set>
                                    <p:animEffect transition="in" filter="fade">
                                      <p:cBhvr>
                                        <p:cTn id="53" dur="500"/>
                                        <p:tgtEl>
                                          <p:spTgt spid="106"/>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69"/>
                                        </p:tgtEl>
                                        <p:attrNameLst>
                                          <p:attrName>style.visibility</p:attrName>
                                        </p:attrNameLst>
                                      </p:cBhvr>
                                      <p:to>
                                        <p:strVal val="visible"/>
                                      </p:to>
                                    </p:set>
                                    <p:animEffect transition="in" filter="fade">
                                      <p:cBhvr>
                                        <p:cTn id="56" dur="500"/>
                                        <p:tgtEl>
                                          <p:spTgt spid="69"/>
                                        </p:tgtEl>
                                      </p:cBhvr>
                                    </p:animEffec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49"/>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childTnLst>
                                    <p:set>
                                      <p:cBhvr>
                                        <p:cTn id="64" dur="1" fill="hold">
                                          <p:stCondLst>
                                            <p:cond delay="0"/>
                                          </p:stCondLst>
                                        </p:cTn>
                                        <p:tgtEl>
                                          <p:spTgt spid="110"/>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44" grpId="0" animBg="1"/>
      <p:bldP spid="49" grpId="0" animBg="1"/>
      <p:bldP spid="50" grpId="0"/>
      <p:bldP spid="51" grpId="0" animBg="1"/>
      <p:bldP spid="52" grpId="0"/>
      <p:bldP spid="69" grpId="0" animBg="1"/>
      <p:bldP spid="70" grpId="0" animBg="1"/>
      <p:bldP spid="102" grpId="0"/>
      <p:bldP spid="103" grpId="0"/>
      <p:bldP spid="104" grpId="0"/>
      <p:bldP spid="105" grpId="0"/>
      <p:bldP spid="106" grpId="0"/>
      <p:bldP spid="11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32A1FC1-8DB1-A958-E74E-EA502BEC3B69}"/>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智能计划与控制塔平台</a:t>
            </a:r>
          </a:p>
        </p:txBody>
      </p:sp>
      <p:sp>
        <p:nvSpPr>
          <p:cNvPr id="4" name="TextBox 141">
            <a:extLst>
              <a:ext uri="{FF2B5EF4-FFF2-40B4-BE49-F238E27FC236}">
                <a16:creationId xmlns:a16="http://schemas.microsoft.com/office/drawing/2014/main" id="{6A387EA7-C756-06A1-5B50-B7FF61814D83}"/>
              </a:ext>
            </a:extLst>
          </p:cNvPr>
          <p:cNvSpPr txBox="1"/>
          <p:nvPr/>
        </p:nvSpPr>
        <p:spPr>
          <a:xfrm>
            <a:off x="933176" y="5505336"/>
            <a:ext cx="1701458" cy="1111908"/>
          </a:xfrm>
          <a:prstGeom prst="rect">
            <a:avLst/>
          </a:prstGeom>
          <a:solidFill>
            <a:srgbClr val="4D88C3"/>
          </a:solidFill>
          <a:ln w="9525">
            <a:noFill/>
          </a:ln>
        </p:spPr>
        <p:txBody>
          <a:bodyPr wrap="square" rtlCol="0" anchor="t">
            <a:noAutofit/>
          </a:bodyPr>
          <a:lstStyle/>
          <a:p>
            <a:pPr marL="0" marR="0" lvl="0" indent="0" algn="ctr" defTabSz="913852" rtl="0" eaLnBrk="1" fontAlgn="auto" latinLnBrk="0" hangingPunct="1">
              <a:lnSpc>
                <a:spcPct val="100000"/>
              </a:lnSpc>
              <a:spcBef>
                <a:spcPts val="0"/>
              </a:spcBef>
              <a:spcAft>
                <a:spcPts val="0"/>
              </a:spcAft>
              <a:buClrTx/>
              <a:buSzTx/>
              <a:buFontTx/>
              <a:buNone/>
              <a:tabLst/>
              <a:defRPr/>
            </a:pPr>
            <a:endParaRPr kumimoji="0" lang="en-US" altLang="zh-CN" sz="14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5" name="TextBox 141">
            <a:extLst>
              <a:ext uri="{FF2B5EF4-FFF2-40B4-BE49-F238E27FC236}">
                <a16:creationId xmlns:a16="http://schemas.microsoft.com/office/drawing/2014/main" id="{A2151851-776D-054B-D4ED-4D79C459FE26}"/>
              </a:ext>
            </a:extLst>
          </p:cNvPr>
          <p:cNvSpPr txBox="1"/>
          <p:nvPr/>
        </p:nvSpPr>
        <p:spPr>
          <a:xfrm>
            <a:off x="933176" y="3547908"/>
            <a:ext cx="1676572" cy="1827134"/>
          </a:xfrm>
          <a:prstGeom prst="rect">
            <a:avLst/>
          </a:prstGeom>
          <a:solidFill>
            <a:srgbClr val="00B7F1"/>
          </a:solidFill>
          <a:ln w="9525">
            <a:noFill/>
          </a:ln>
        </p:spPr>
        <p:txBody>
          <a:bodyPr wrap="square" rtlCol="0" anchor="t">
            <a:noAutofit/>
          </a:bodyPr>
          <a:lstStyle/>
          <a:p>
            <a:pPr marL="0" marR="0" lvl="0" indent="0" algn="ctr" defTabSz="913852" rtl="0" eaLnBrk="1" fontAlgn="auto" latinLnBrk="0" hangingPunct="1">
              <a:lnSpc>
                <a:spcPct val="100000"/>
              </a:lnSpc>
              <a:spcBef>
                <a:spcPts val="0"/>
              </a:spcBef>
              <a:spcAft>
                <a:spcPts val="0"/>
              </a:spcAft>
              <a:buClrTx/>
              <a:buSzTx/>
              <a:buFontTx/>
              <a:buNone/>
              <a:tabLst/>
              <a:defRPr/>
            </a:pPr>
            <a:endParaRPr kumimoji="0" lang="en-US" altLang="zh-CN" sz="1400" b="1" i="0" u="none" strike="noStrike" kern="0" cap="none" spc="0" normalizeH="0" baseline="0" noProof="0" dirty="0">
              <a:ln>
                <a:noFill/>
              </a:ln>
              <a:solidFill>
                <a:srgbClr val="00B0F0"/>
              </a:solidFill>
              <a:effectLst/>
              <a:uLnTx/>
              <a:uFillTx/>
              <a:latin typeface="微软雅黑" panose="020B0503020204020204" pitchFamily="34" charset="-122"/>
              <a:ea typeface="微软雅黑" panose="020B0503020204020204" pitchFamily="34" charset="-122"/>
              <a:cs typeface="+mn-cs"/>
            </a:endParaRPr>
          </a:p>
        </p:txBody>
      </p:sp>
      <p:sp>
        <p:nvSpPr>
          <p:cNvPr id="6" name="TextBox 141">
            <a:extLst>
              <a:ext uri="{FF2B5EF4-FFF2-40B4-BE49-F238E27FC236}">
                <a16:creationId xmlns:a16="http://schemas.microsoft.com/office/drawing/2014/main" id="{00986FCC-1FB5-2948-B9B0-87A6E24AC8D9}"/>
              </a:ext>
            </a:extLst>
          </p:cNvPr>
          <p:cNvSpPr txBox="1"/>
          <p:nvPr/>
        </p:nvSpPr>
        <p:spPr>
          <a:xfrm>
            <a:off x="933176" y="2518589"/>
            <a:ext cx="1685629" cy="973044"/>
          </a:xfrm>
          <a:prstGeom prst="rect">
            <a:avLst/>
          </a:prstGeom>
          <a:solidFill>
            <a:srgbClr val="215C97"/>
          </a:solidFill>
          <a:ln w="9525">
            <a:noFill/>
          </a:ln>
        </p:spPr>
        <p:txBody>
          <a:bodyPr wrap="square" rtlCol="0" anchor="t">
            <a:noAutofit/>
          </a:bodyPr>
          <a:lstStyle/>
          <a:p>
            <a:pPr marL="0" marR="0" lvl="0" indent="0" algn="ctr" defTabSz="913852" rtl="0" eaLnBrk="1" fontAlgn="auto" latinLnBrk="0" hangingPunct="1">
              <a:lnSpc>
                <a:spcPct val="100000"/>
              </a:lnSpc>
              <a:spcBef>
                <a:spcPts val="0"/>
              </a:spcBef>
              <a:spcAft>
                <a:spcPts val="0"/>
              </a:spcAft>
              <a:buClrTx/>
              <a:buSzTx/>
              <a:buFontTx/>
              <a:buNone/>
              <a:tabLst/>
              <a:defRPr/>
            </a:pPr>
            <a:endParaRPr kumimoji="0" lang="en-US" altLang="zh-CN" sz="1400" b="1" i="0" u="none" strike="noStrike" kern="0" cap="none" spc="0" normalizeH="0" baseline="0" noProof="0" dirty="0">
              <a:ln>
                <a:noFill/>
              </a:ln>
              <a:solidFill>
                <a:srgbClr val="CEDBE6"/>
              </a:solidFill>
              <a:effectLst/>
              <a:uLnTx/>
              <a:uFillTx/>
              <a:latin typeface="微软雅黑" panose="020B0503020204020204" pitchFamily="34" charset="-122"/>
              <a:ea typeface="微软雅黑" panose="020B0503020204020204" pitchFamily="34" charset="-122"/>
              <a:cs typeface="+mn-cs"/>
            </a:endParaRPr>
          </a:p>
        </p:txBody>
      </p:sp>
      <p:sp>
        <p:nvSpPr>
          <p:cNvPr id="7" name="椭圆 6">
            <a:extLst>
              <a:ext uri="{FF2B5EF4-FFF2-40B4-BE49-F238E27FC236}">
                <a16:creationId xmlns:a16="http://schemas.microsoft.com/office/drawing/2014/main" id="{FA67775F-729F-098E-52A0-3F30C6E016B3}"/>
              </a:ext>
            </a:extLst>
          </p:cNvPr>
          <p:cNvSpPr/>
          <p:nvPr/>
        </p:nvSpPr>
        <p:spPr>
          <a:xfrm>
            <a:off x="3924184" y="4114114"/>
            <a:ext cx="2229989" cy="907278"/>
          </a:xfrm>
          <a:prstGeom prst="ellipse">
            <a:avLst/>
          </a:prstGeom>
          <a:noFill/>
          <a:ln>
            <a:solidFill>
              <a:srgbClr val="23C1F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2399"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8" name="îSlídè">
            <a:extLst>
              <a:ext uri="{FF2B5EF4-FFF2-40B4-BE49-F238E27FC236}">
                <a16:creationId xmlns:a16="http://schemas.microsoft.com/office/drawing/2014/main" id="{7F04164E-D741-E00D-656F-F9229549AAF9}"/>
              </a:ext>
            </a:extLst>
          </p:cNvPr>
          <p:cNvSpPr/>
          <p:nvPr/>
        </p:nvSpPr>
        <p:spPr>
          <a:xfrm>
            <a:off x="2787704" y="4471227"/>
            <a:ext cx="4621179" cy="1062049"/>
          </a:xfrm>
          <a:prstGeom prst="ellipse">
            <a:avLst/>
          </a:prstGeom>
          <a:gradFill>
            <a:gsLst>
              <a:gs pos="50000">
                <a:srgbClr val="FFFFFF">
                  <a:lumMod val="0"/>
                  <a:lumOff val="100000"/>
                  <a:alpha val="0"/>
                </a:srgbClr>
              </a:gs>
              <a:gs pos="100000">
                <a:srgbClr val="E1140A">
                  <a:lumMod val="40000"/>
                  <a:lumOff val="60000"/>
                </a:srgbClr>
              </a:gs>
            </a:gsLst>
            <a:lin ang="16200000" scaled="1"/>
          </a:gradFill>
          <a:ln w="12700" cap="flat">
            <a:noFill/>
            <a:miter lim="400000"/>
          </a:ln>
          <a:effectLst/>
        </p:spPr>
        <p:txBody>
          <a:bodyPr anchor="ctr"/>
          <a:lstStyle>
            <a:defPPr>
              <a:defRPr lang="en-US"/>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sz="1799" b="0" i="0" u="none" strike="noStrike" kern="1200" cap="none" spc="0" normalizeH="0" baseline="0" noProof="0">
              <a:ln>
                <a:noFill/>
              </a:ln>
              <a:solidFill>
                <a:srgbClr val="545D6B"/>
              </a:solidFill>
              <a:effectLst/>
              <a:uLnTx/>
              <a:uFillTx/>
              <a:latin typeface="微软雅黑" panose="020B0503020204020204" pitchFamily="34" charset="-122"/>
              <a:ea typeface="微软雅黑" panose="020B0503020204020204" pitchFamily="34" charset="-122"/>
              <a:cs typeface="+mn-cs"/>
            </a:endParaRPr>
          </a:p>
        </p:txBody>
      </p:sp>
      <p:sp>
        <p:nvSpPr>
          <p:cNvPr id="9" name="TextBox 141">
            <a:extLst>
              <a:ext uri="{FF2B5EF4-FFF2-40B4-BE49-F238E27FC236}">
                <a16:creationId xmlns:a16="http://schemas.microsoft.com/office/drawing/2014/main" id="{8FD52605-88D1-2D96-0D91-04D71ECDF3F1}"/>
              </a:ext>
            </a:extLst>
          </p:cNvPr>
          <p:cNvSpPr txBox="1"/>
          <p:nvPr/>
        </p:nvSpPr>
        <p:spPr>
          <a:xfrm>
            <a:off x="1017786" y="5884194"/>
            <a:ext cx="1532237" cy="427612"/>
          </a:xfrm>
          <a:prstGeom prst="rect">
            <a:avLst/>
          </a:prstGeom>
          <a:solidFill>
            <a:srgbClr val="4D88C3"/>
          </a:solidFill>
          <a:ln w="3175">
            <a:noFill/>
          </a:ln>
        </p:spPr>
        <p:txBody>
          <a:bodyPr wrap="square" rtlCol="0" anchor="b">
            <a:noAutofit/>
          </a:bodyPr>
          <a:lstStyle>
            <a:defPPr>
              <a:defRPr lang="zh-CN"/>
            </a:defPPr>
            <a:lvl1pPr algn="r" defTabSz="913578" fontAlgn="base">
              <a:spcBef>
                <a:spcPct val="0"/>
              </a:spcBef>
              <a:spcAft>
                <a:spcPct val="0"/>
              </a:spcAft>
              <a:buClr>
                <a:srgbClr val="F8CCCC"/>
              </a:buClr>
              <a:defRPr sz="1600" b="1" u="sng" kern="0">
                <a:solidFill>
                  <a:prstClr val="white"/>
                </a:solidFill>
                <a:latin typeface="微软雅黑" panose="020B0503020204020204" pitchFamily="34" charset="-122"/>
                <a:ea typeface="微软雅黑" panose="020B0503020204020204" pitchFamily="34" charset="-122"/>
                <a:cs typeface="Arial" panose="020B0604020202020204" pitchFamily="34" charset="0"/>
              </a:defRPr>
            </a:lvl1pPr>
          </a:lstStyle>
          <a:p>
            <a:pPr marL="0" marR="0" lvl="0" indent="0" algn="r" defTabSz="913578" rtl="0" eaLnBrk="1" fontAlgn="base" latinLnBrk="0" hangingPunct="1">
              <a:lnSpc>
                <a:spcPct val="100000"/>
              </a:lnSpc>
              <a:spcBef>
                <a:spcPct val="0"/>
              </a:spcBef>
              <a:spcAft>
                <a:spcPct val="0"/>
              </a:spcAft>
              <a:buClr>
                <a:srgbClr val="F8CCCC"/>
              </a:buClr>
              <a:buSzTx/>
              <a:buFontTx/>
              <a:buNone/>
              <a:tabLst/>
              <a:defRPr/>
            </a:pPr>
            <a:r>
              <a:rPr kumimoji="0" lang="zh-CN" altLang="en-US"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Arial" panose="020B0604020202020204" pitchFamily="34" charset="0"/>
              </a:rPr>
              <a:t>系统</a:t>
            </a:r>
            <a:r>
              <a:rPr kumimoji="0" lang="en-US" altLang="zh-CN"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Arial" panose="020B0604020202020204" pitchFamily="34" charset="0"/>
              </a:rPr>
              <a:t>/</a:t>
            </a:r>
            <a:r>
              <a:rPr kumimoji="0" lang="zh-CN" altLang="en-US"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Arial" panose="020B0604020202020204" pitchFamily="34" charset="0"/>
              </a:rPr>
              <a:t>数据协同</a:t>
            </a:r>
            <a:endParaRPr kumimoji="0" lang="en-US" altLang="zh-CN"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Arial" panose="020B0604020202020204" pitchFamily="34" charset="0"/>
            </a:endParaRPr>
          </a:p>
        </p:txBody>
      </p:sp>
      <p:sp>
        <p:nvSpPr>
          <p:cNvPr id="10" name="iconfont-11592-5504347">
            <a:extLst>
              <a:ext uri="{FF2B5EF4-FFF2-40B4-BE49-F238E27FC236}">
                <a16:creationId xmlns:a16="http://schemas.microsoft.com/office/drawing/2014/main" id="{BCB781CD-4F6B-C9B5-01B6-5000577FE657}"/>
              </a:ext>
            </a:extLst>
          </p:cNvPr>
          <p:cNvSpPr/>
          <p:nvPr/>
        </p:nvSpPr>
        <p:spPr>
          <a:xfrm>
            <a:off x="1603682" y="5542390"/>
            <a:ext cx="296142" cy="296192"/>
          </a:xfrm>
          <a:custGeom>
            <a:avLst/>
            <a:gdLst>
              <a:gd name="T0" fmla="*/ 6788 w 12206"/>
              <a:gd name="T1" fmla="*/ 6172 h 12207"/>
              <a:gd name="T2" fmla="*/ 6171 w 12206"/>
              <a:gd name="T3" fmla="*/ 6789 h 12207"/>
              <a:gd name="T4" fmla="*/ 5932 w 12206"/>
              <a:gd name="T5" fmla="*/ 9918 h 12207"/>
              <a:gd name="T6" fmla="*/ 4584 w 12206"/>
              <a:gd name="T7" fmla="*/ 11265 h 12207"/>
              <a:gd name="T8" fmla="*/ 1172 w 12206"/>
              <a:gd name="T9" fmla="*/ 11262 h 12207"/>
              <a:gd name="T10" fmla="*/ 944 w 12206"/>
              <a:gd name="T11" fmla="*/ 11034 h 12207"/>
              <a:gd name="T12" fmla="*/ 941 w 12206"/>
              <a:gd name="T13" fmla="*/ 7623 h 12207"/>
              <a:gd name="T14" fmla="*/ 2289 w 12206"/>
              <a:gd name="T15" fmla="*/ 6275 h 12207"/>
              <a:gd name="T16" fmla="*/ 5417 w 12206"/>
              <a:gd name="T17" fmla="*/ 6035 h 12207"/>
              <a:gd name="T18" fmla="*/ 6034 w 12206"/>
              <a:gd name="T19" fmla="*/ 5417 h 12207"/>
              <a:gd name="T20" fmla="*/ 6274 w 12206"/>
              <a:gd name="T21" fmla="*/ 2289 h 12207"/>
              <a:gd name="T22" fmla="*/ 7622 w 12206"/>
              <a:gd name="T23" fmla="*/ 941 h 12207"/>
              <a:gd name="T24" fmla="*/ 11034 w 12206"/>
              <a:gd name="T25" fmla="*/ 945 h 12207"/>
              <a:gd name="T26" fmla="*/ 11262 w 12206"/>
              <a:gd name="T27" fmla="*/ 1173 h 12207"/>
              <a:gd name="T28" fmla="*/ 11265 w 12206"/>
              <a:gd name="T29" fmla="*/ 4584 h 12207"/>
              <a:gd name="T30" fmla="*/ 9917 w 12206"/>
              <a:gd name="T31" fmla="*/ 5932 h 12207"/>
              <a:gd name="T32" fmla="*/ 6789 w 12206"/>
              <a:gd name="T33" fmla="*/ 6172 h 12207"/>
              <a:gd name="T34" fmla="*/ 6788 w 12206"/>
              <a:gd name="T35" fmla="*/ 6172 h 12207"/>
              <a:gd name="T36" fmla="*/ 7559 w 12206"/>
              <a:gd name="T37" fmla="*/ 5401 h 12207"/>
              <a:gd name="T38" fmla="*/ 9163 w 12206"/>
              <a:gd name="T39" fmla="*/ 5178 h 12207"/>
              <a:gd name="T40" fmla="*/ 10511 w 12206"/>
              <a:gd name="T41" fmla="*/ 3830 h 12207"/>
              <a:gd name="T42" fmla="*/ 10508 w 12206"/>
              <a:gd name="T43" fmla="*/ 1927 h 12207"/>
              <a:gd name="T44" fmla="*/ 10279 w 12206"/>
              <a:gd name="T45" fmla="*/ 1699 h 12207"/>
              <a:gd name="T46" fmla="*/ 8377 w 12206"/>
              <a:gd name="T47" fmla="*/ 1696 h 12207"/>
              <a:gd name="T48" fmla="*/ 7029 w 12206"/>
              <a:gd name="T49" fmla="*/ 3044 h 12207"/>
              <a:gd name="T50" fmla="*/ 6805 w 12206"/>
              <a:gd name="T51" fmla="*/ 4646 h 12207"/>
              <a:gd name="T52" fmla="*/ 7593 w 12206"/>
              <a:gd name="T53" fmla="*/ 3859 h 12207"/>
              <a:gd name="T54" fmla="*/ 8340 w 12206"/>
              <a:gd name="T55" fmla="*/ 3866 h 12207"/>
              <a:gd name="T56" fmla="*/ 8347 w 12206"/>
              <a:gd name="T57" fmla="*/ 4613 h 12207"/>
              <a:gd name="T58" fmla="*/ 7559 w 12206"/>
              <a:gd name="T59" fmla="*/ 5401 h 12207"/>
              <a:gd name="T60" fmla="*/ 4646 w 12206"/>
              <a:gd name="T61" fmla="*/ 6806 h 12207"/>
              <a:gd name="T62" fmla="*/ 3043 w 12206"/>
              <a:gd name="T63" fmla="*/ 7029 h 12207"/>
              <a:gd name="T64" fmla="*/ 1695 w 12206"/>
              <a:gd name="T65" fmla="*/ 8377 h 12207"/>
              <a:gd name="T66" fmla="*/ 1698 w 12206"/>
              <a:gd name="T67" fmla="*/ 10280 h 12207"/>
              <a:gd name="T68" fmla="*/ 1926 w 12206"/>
              <a:gd name="T69" fmla="*/ 10508 h 12207"/>
              <a:gd name="T70" fmla="*/ 3829 w 12206"/>
              <a:gd name="T71" fmla="*/ 10511 h 12207"/>
              <a:gd name="T72" fmla="*/ 5177 w 12206"/>
              <a:gd name="T73" fmla="*/ 9163 h 12207"/>
              <a:gd name="T74" fmla="*/ 5400 w 12206"/>
              <a:gd name="T75" fmla="*/ 7560 h 12207"/>
              <a:gd name="T76" fmla="*/ 4613 w 12206"/>
              <a:gd name="T77" fmla="*/ 8347 h 12207"/>
              <a:gd name="T78" fmla="*/ 3859 w 12206"/>
              <a:gd name="T79" fmla="*/ 8347 h 12207"/>
              <a:gd name="T80" fmla="*/ 3859 w 12206"/>
              <a:gd name="T81" fmla="*/ 7593 h 12207"/>
              <a:gd name="T82" fmla="*/ 4646 w 12206"/>
              <a:gd name="T83" fmla="*/ 6806 h 12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06" h="12207">
                <a:moveTo>
                  <a:pt x="6788" y="6172"/>
                </a:moveTo>
                <a:lnTo>
                  <a:pt x="6171" y="6789"/>
                </a:lnTo>
                <a:cubicBezTo>
                  <a:pt x="6863" y="7733"/>
                  <a:pt x="6783" y="9066"/>
                  <a:pt x="5932" y="9918"/>
                </a:cubicBezTo>
                <a:lnTo>
                  <a:pt x="4584" y="11265"/>
                </a:lnTo>
                <a:cubicBezTo>
                  <a:pt x="3642" y="12207"/>
                  <a:pt x="2116" y="12205"/>
                  <a:pt x="1172" y="11262"/>
                </a:cubicBezTo>
                <a:lnTo>
                  <a:pt x="944" y="11034"/>
                </a:lnTo>
                <a:cubicBezTo>
                  <a:pt x="2" y="10092"/>
                  <a:pt x="0" y="8564"/>
                  <a:pt x="941" y="7623"/>
                </a:cubicBezTo>
                <a:lnTo>
                  <a:pt x="2289" y="6275"/>
                </a:lnTo>
                <a:cubicBezTo>
                  <a:pt x="3141" y="5423"/>
                  <a:pt x="4473" y="5343"/>
                  <a:pt x="5417" y="6035"/>
                </a:cubicBezTo>
                <a:lnTo>
                  <a:pt x="6034" y="5417"/>
                </a:lnTo>
                <a:cubicBezTo>
                  <a:pt x="5343" y="4473"/>
                  <a:pt x="5423" y="3141"/>
                  <a:pt x="6274" y="2289"/>
                </a:cubicBezTo>
                <a:lnTo>
                  <a:pt x="7622" y="941"/>
                </a:lnTo>
                <a:cubicBezTo>
                  <a:pt x="8564" y="0"/>
                  <a:pt x="10090" y="2"/>
                  <a:pt x="11034" y="945"/>
                </a:cubicBezTo>
                <a:lnTo>
                  <a:pt x="11262" y="1173"/>
                </a:lnTo>
                <a:cubicBezTo>
                  <a:pt x="12204" y="2115"/>
                  <a:pt x="12206" y="3643"/>
                  <a:pt x="11265" y="4584"/>
                </a:cubicBezTo>
                <a:lnTo>
                  <a:pt x="9917" y="5932"/>
                </a:lnTo>
                <a:cubicBezTo>
                  <a:pt x="9065" y="6784"/>
                  <a:pt x="7733" y="6864"/>
                  <a:pt x="6789" y="6172"/>
                </a:cubicBezTo>
                <a:lnTo>
                  <a:pt x="6788" y="6172"/>
                </a:lnTo>
                <a:close/>
                <a:moveTo>
                  <a:pt x="7559" y="5401"/>
                </a:moveTo>
                <a:cubicBezTo>
                  <a:pt x="8084" y="5693"/>
                  <a:pt x="8738" y="5602"/>
                  <a:pt x="9163" y="5178"/>
                </a:cubicBezTo>
                <a:lnTo>
                  <a:pt x="10511" y="3830"/>
                </a:lnTo>
                <a:cubicBezTo>
                  <a:pt x="11035" y="3306"/>
                  <a:pt x="11034" y="2453"/>
                  <a:pt x="10508" y="1927"/>
                </a:cubicBezTo>
                <a:lnTo>
                  <a:pt x="10279" y="1699"/>
                </a:lnTo>
                <a:cubicBezTo>
                  <a:pt x="9755" y="1172"/>
                  <a:pt x="8903" y="1171"/>
                  <a:pt x="8377" y="1696"/>
                </a:cubicBezTo>
                <a:lnTo>
                  <a:pt x="7029" y="3044"/>
                </a:lnTo>
                <a:cubicBezTo>
                  <a:pt x="6605" y="3468"/>
                  <a:pt x="6514" y="4122"/>
                  <a:pt x="6805" y="4646"/>
                </a:cubicBezTo>
                <a:lnTo>
                  <a:pt x="7593" y="3859"/>
                </a:lnTo>
                <a:cubicBezTo>
                  <a:pt x="7802" y="3657"/>
                  <a:pt x="8135" y="3660"/>
                  <a:pt x="8340" y="3866"/>
                </a:cubicBezTo>
                <a:cubicBezTo>
                  <a:pt x="8546" y="4071"/>
                  <a:pt x="8549" y="4404"/>
                  <a:pt x="8347" y="4613"/>
                </a:cubicBezTo>
                <a:lnTo>
                  <a:pt x="7559" y="5401"/>
                </a:lnTo>
                <a:close/>
                <a:moveTo>
                  <a:pt x="4646" y="6806"/>
                </a:moveTo>
                <a:cubicBezTo>
                  <a:pt x="4122" y="6514"/>
                  <a:pt x="3468" y="6605"/>
                  <a:pt x="3043" y="7029"/>
                </a:cubicBezTo>
                <a:lnTo>
                  <a:pt x="1695" y="8377"/>
                </a:lnTo>
                <a:cubicBezTo>
                  <a:pt x="1171" y="8901"/>
                  <a:pt x="1172" y="9753"/>
                  <a:pt x="1698" y="10280"/>
                </a:cubicBezTo>
                <a:lnTo>
                  <a:pt x="1926" y="10508"/>
                </a:lnTo>
                <a:cubicBezTo>
                  <a:pt x="2451" y="11035"/>
                  <a:pt x="3303" y="11036"/>
                  <a:pt x="3829" y="10511"/>
                </a:cubicBezTo>
                <a:lnTo>
                  <a:pt x="5177" y="9163"/>
                </a:lnTo>
                <a:cubicBezTo>
                  <a:pt x="5601" y="8738"/>
                  <a:pt x="5692" y="8084"/>
                  <a:pt x="5400" y="7560"/>
                </a:cubicBezTo>
                <a:lnTo>
                  <a:pt x="4613" y="8347"/>
                </a:lnTo>
                <a:cubicBezTo>
                  <a:pt x="4405" y="8555"/>
                  <a:pt x="4067" y="8555"/>
                  <a:pt x="3859" y="8347"/>
                </a:cubicBezTo>
                <a:cubicBezTo>
                  <a:pt x="3651" y="8139"/>
                  <a:pt x="3650" y="7801"/>
                  <a:pt x="3859" y="7593"/>
                </a:cubicBezTo>
                <a:lnTo>
                  <a:pt x="4646" y="6806"/>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852" rtl="0" eaLnBrk="1" fontAlgn="auto" latinLnBrk="0" hangingPunct="1">
              <a:lnSpc>
                <a:spcPct val="100000"/>
              </a:lnSpc>
              <a:spcBef>
                <a:spcPts val="0"/>
              </a:spcBef>
              <a:spcAft>
                <a:spcPts val="0"/>
              </a:spcAft>
              <a:buClrTx/>
              <a:buSzTx/>
              <a:buFontTx/>
              <a:buNone/>
              <a:tabLst/>
              <a:defRPr/>
            </a:pPr>
            <a:endParaRPr kumimoji="0" lang="en-US" sz="1798"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cxnSp>
        <p:nvCxnSpPr>
          <p:cNvPr id="11" name="直接连接符 10">
            <a:extLst>
              <a:ext uri="{FF2B5EF4-FFF2-40B4-BE49-F238E27FC236}">
                <a16:creationId xmlns:a16="http://schemas.microsoft.com/office/drawing/2014/main" id="{6543D538-F30A-4AF2-FF46-2DED0E28C855}"/>
              </a:ext>
            </a:extLst>
          </p:cNvPr>
          <p:cNvCxnSpPr/>
          <p:nvPr/>
        </p:nvCxnSpPr>
        <p:spPr>
          <a:xfrm>
            <a:off x="896948" y="5449015"/>
            <a:ext cx="6954304" cy="0"/>
          </a:xfrm>
          <a:prstGeom prst="line">
            <a:avLst/>
          </a:prstGeom>
          <a:ln>
            <a:solidFill>
              <a:srgbClr val="4472C4"/>
            </a:solidFill>
          </a:ln>
        </p:spPr>
        <p:style>
          <a:lnRef idx="1">
            <a:schemeClr val="accent1"/>
          </a:lnRef>
          <a:fillRef idx="0">
            <a:schemeClr val="accent1"/>
          </a:fillRef>
          <a:effectRef idx="0">
            <a:schemeClr val="accent1"/>
          </a:effectRef>
          <a:fontRef idx="minor">
            <a:schemeClr val="tx1"/>
          </a:fontRef>
        </p:style>
      </p:cxnSp>
      <p:sp>
        <p:nvSpPr>
          <p:cNvPr id="12" name="TextBox 141">
            <a:extLst>
              <a:ext uri="{FF2B5EF4-FFF2-40B4-BE49-F238E27FC236}">
                <a16:creationId xmlns:a16="http://schemas.microsoft.com/office/drawing/2014/main" id="{70A0170A-3993-9692-07C2-7D7047734307}"/>
              </a:ext>
            </a:extLst>
          </p:cNvPr>
          <p:cNvSpPr txBox="1"/>
          <p:nvPr/>
        </p:nvSpPr>
        <p:spPr>
          <a:xfrm flipH="1">
            <a:off x="2703876" y="5511147"/>
            <a:ext cx="4789045" cy="390118"/>
          </a:xfrm>
          <a:prstGeom prst="rect">
            <a:avLst/>
          </a:prstGeom>
          <a:solidFill>
            <a:srgbClr val="4D88C3"/>
          </a:solidFill>
          <a:ln w="3175">
            <a:noFill/>
          </a:ln>
        </p:spPr>
        <p:txBody>
          <a:bodyPr wrap="square" rtlCol="0" anchor="b">
            <a:noAutofit/>
          </a:bodyPr>
          <a:lstStyle/>
          <a:p>
            <a:pPr marL="0" marR="0" lvl="0" indent="0" algn="r" defTabSz="913578" rtl="0" eaLnBrk="1" fontAlgn="base" latinLnBrk="0" hangingPunct="1">
              <a:lnSpc>
                <a:spcPct val="100000"/>
              </a:lnSpc>
              <a:spcBef>
                <a:spcPct val="0"/>
              </a:spcBef>
              <a:spcAft>
                <a:spcPct val="0"/>
              </a:spcAft>
              <a:buClr>
                <a:srgbClr val="F8CCCC"/>
              </a:buClr>
              <a:buSzTx/>
              <a:buFontTx/>
              <a:buNone/>
              <a:tabLst/>
              <a:defRPr/>
            </a:pPr>
            <a:endParaRPr kumimoji="0" lang="en-US" altLang="zh-CN" sz="1600" b="1" i="0" u="sng" strike="noStrike" kern="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Arial" panose="020B0604020202020204" pitchFamily="34" charset="0"/>
            </a:endParaRPr>
          </a:p>
        </p:txBody>
      </p:sp>
      <p:sp>
        <p:nvSpPr>
          <p:cNvPr id="13" name="TextBox 141">
            <a:extLst>
              <a:ext uri="{FF2B5EF4-FFF2-40B4-BE49-F238E27FC236}">
                <a16:creationId xmlns:a16="http://schemas.microsoft.com/office/drawing/2014/main" id="{A7CFCE37-D969-95FA-07EA-4426604B18C1}"/>
              </a:ext>
            </a:extLst>
          </p:cNvPr>
          <p:cNvSpPr txBox="1"/>
          <p:nvPr/>
        </p:nvSpPr>
        <p:spPr>
          <a:xfrm>
            <a:off x="1158723" y="4323661"/>
            <a:ext cx="1221557" cy="543740"/>
          </a:xfrm>
          <a:prstGeom prst="rect">
            <a:avLst/>
          </a:prstGeom>
          <a:noFill/>
          <a:ln w="3175">
            <a:noFill/>
          </a:ln>
        </p:spPr>
        <p:txBody>
          <a:bodyPr wrap="square" rtlCol="0" anchor="b">
            <a:noAutofit/>
          </a:bodyPr>
          <a:lstStyle>
            <a:defPPr>
              <a:defRPr lang="zh-CN"/>
            </a:defPPr>
            <a:lvl1pPr algn="r" defTabSz="913578" fontAlgn="base">
              <a:spcBef>
                <a:spcPct val="0"/>
              </a:spcBef>
              <a:spcAft>
                <a:spcPct val="0"/>
              </a:spcAft>
              <a:buClr>
                <a:srgbClr val="F8CCCC"/>
              </a:buClr>
              <a:defRPr sz="1600" b="1" u="sng" kern="0">
                <a:solidFill>
                  <a:prstClr val="white"/>
                </a:solidFill>
                <a:latin typeface="微软雅黑" panose="020B0503020204020204" pitchFamily="34" charset="-122"/>
                <a:ea typeface="微软雅黑" panose="020B0503020204020204" pitchFamily="34" charset="-122"/>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marL="0" marR="0" lvl="0" indent="0" algn="r" defTabSz="913578" rtl="0" eaLnBrk="1" fontAlgn="base" latinLnBrk="0" hangingPunct="1">
              <a:lnSpc>
                <a:spcPct val="100000"/>
              </a:lnSpc>
              <a:spcBef>
                <a:spcPct val="0"/>
              </a:spcBef>
              <a:spcAft>
                <a:spcPct val="0"/>
              </a:spcAft>
              <a:buClr>
                <a:srgbClr val="F8CCCC"/>
              </a:buClr>
              <a:buSzTx/>
              <a:buFontTx/>
              <a:buNone/>
              <a:tabLst/>
              <a:defRPr/>
            </a:pPr>
            <a:r>
              <a:rPr kumimoji="0" lang="zh-CN" altLang="en-US"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Arial" panose="020B0604020202020204" pitchFamily="34" charset="0"/>
              </a:rPr>
              <a:t>数据模型智能算法引擎</a:t>
            </a:r>
            <a:endParaRPr kumimoji="0" lang="en-US" altLang="zh-CN"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Arial" panose="020B0604020202020204" pitchFamily="34" charset="0"/>
            </a:endParaRPr>
          </a:p>
        </p:txBody>
      </p:sp>
      <p:cxnSp>
        <p:nvCxnSpPr>
          <p:cNvPr id="14" name="直接连接符 13">
            <a:extLst>
              <a:ext uri="{FF2B5EF4-FFF2-40B4-BE49-F238E27FC236}">
                <a16:creationId xmlns:a16="http://schemas.microsoft.com/office/drawing/2014/main" id="{726E2A8D-62C3-754D-729E-8B20DCAC87E3}"/>
              </a:ext>
            </a:extLst>
          </p:cNvPr>
          <p:cNvCxnSpPr/>
          <p:nvPr/>
        </p:nvCxnSpPr>
        <p:spPr>
          <a:xfrm>
            <a:off x="838461" y="3507160"/>
            <a:ext cx="6875374" cy="0"/>
          </a:xfrm>
          <a:prstGeom prst="line">
            <a:avLst/>
          </a:prstGeom>
          <a:ln>
            <a:solidFill>
              <a:srgbClr val="4472C4"/>
            </a:solidFill>
          </a:ln>
        </p:spPr>
        <p:style>
          <a:lnRef idx="1">
            <a:schemeClr val="accent1"/>
          </a:lnRef>
          <a:fillRef idx="0">
            <a:schemeClr val="accent1"/>
          </a:fillRef>
          <a:effectRef idx="0">
            <a:schemeClr val="accent1"/>
          </a:effectRef>
          <a:fontRef idx="minor">
            <a:schemeClr val="tx1"/>
          </a:fontRef>
        </p:style>
      </p:cxnSp>
      <p:sp>
        <p:nvSpPr>
          <p:cNvPr id="15" name="TextBox 141">
            <a:extLst>
              <a:ext uri="{FF2B5EF4-FFF2-40B4-BE49-F238E27FC236}">
                <a16:creationId xmlns:a16="http://schemas.microsoft.com/office/drawing/2014/main" id="{335246B7-DD0D-43A5-E478-10A5A633A968}"/>
              </a:ext>
            </a:extLst>
          </p:cNvPr>
          <p:cNvSpPr txBox="1"/>
          <p:nvPr/>
        </p:nvSpPr>
        <p:spPr>
          <a:xfrm>
            <a:off x="1080714" y="2869061"/>
            <a:ext cx="1415074" cy="464162"/>
          </a:xfrm>
          <a:prstGeom prst="rect">
            <a:avLst/>
          </a:prstGeom>
          <a:noFill/>
          <a:ln w="3175">
            <a:noFill/>
          </a:ln>
        </p:spPr>
        <p:txBody>
          <a:bodyPr wrap="square" rtlCol="0" anchor="b">
            <a:noAutofit/>
          </a:bodyPr>
          <a:lstStyle>
            <a:defPPr>
              <a:defRPr lang="zh-CN"/>
            </a:defPPr>
            <a:lvl1pPr algn="r" defTabSz="913578" fontAlgn="base">
              <a:spcBef>
                <a:spcPct val="0"/>
              </a:spcBef>
              <a:spcAft>
                <a:spcPct val="0"/>
              </a:spcAft>
              <a:buClr>
                <a:srgbClr val="F8CCCC"/>
              </a:buClr>
              <a:defRPr sz="1600" b="1" u="sng" kern="0">
                <a:solidFill>
                  <a:prstClr val="white"/>
                </a:solidFill>
                <a:latin typeface="微软雅黑" panose="020B0503020204020204" pitchFamily="34" charset="-122"/>
                <a:ea typeface="微软雅黑" panose="020B0503020204020204" pitchFamily="34" charset="-122"/>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marL="0" marR="0" lvl="0" indent="0" algn="r" defTabSz="913578" rtl="0" eaLnBrk="1" fontAlgn="base" latinLnBrk="0" hangingPunct="1">
              <a:lnSpc>
                <a:spcPct val="100000"/>
              </a:lnSpc>
              <a:spcBef>
                <a:spcPct val="0"/>
              </a:spcBef>
              <a:spcAft>
                <a:spcPct val="0"/>
              </a:spcAft>
              <a:buClr>
                <a:srgbClr val="F8CCCC"/>
              </a:buClr>
              <a:buSzTx/>
              <a:buFontTx/>
              <a:buNone/>
              <a:tabLst/>
              <a:defRPr/>
            </a:pPr>
            <a:r>
              <a:rPr kumimoji="0" lang="zh-CN" altLang="en-US"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Arial" panose="020B0604020202020204" pitchFamily="34" charset="0"/>
              </a:rPr>
              <a:t>智能</a:t>
            </a:r>
            <a:r>
              <a:rPr kumimoji="0" lang="zh-CN" altLang="en-US" sz="1600" b="1" i="0" u="sng" strike="noStrike" kern="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Arial" panose="020B0604020202020204" pitchFamily="34" charset="0"/>
              </a:rPr>
              <a:t>计划中心</a:t>
            </a:r>
            <a:endParaRPr kumimoji="0" lang="en-US" altLang="zh-CN"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Arial" panose="020B0604020202020204" pitchFamily="34" charset="0"/>
            </a:endParaRPr>
          </a:p>
        </p:txBody>
      </p:sp>
      <p:sp>
        <p:nvSpPr>
          <p:cNvPr id="16" name="iconfont-1191-866883">
            <a:extLst>
              <a:ext uri="{FF2B5EF4-FFF2-40B4-BE49-F238E27FC236}">
                <a16:creationId xmlns:a16="http://schemas.microsoft.com/office/drawing/2014/main" id="{1AD845B5-FBC6-0634-1574-D47CA1F6B085}"/>
              </a:ext>
            </a:extLst>
          </p:cNvPr>
          <p:cNvSpPr/>
          <p:nvPr/>
        </p:nvSpPr>
        <p:spPr>
          <a:xfrm>
            <a:off x="1606830" y="3895962"/>
            <a:ext cx="304685" cy="301539"/>
          </a:xfrm>
          <a:custGeom>
            <a:avLst/>
            <a:gdLst>
              <a:gd name="T0" fmla="*/ 2709 w 7873"/>
              <a:gd name="T1" fmla="*/ 1592 h 7791"/>
              <a:gd name="T2" fmla="*/ 5329 w 7873"/>
              <a:gd name="T3" fmla="*/ 1624 h 7791"/>
              <a:gd name="T4" fmla="*/ 5782 w 7873"/>
              <a:gd name="T5" fmla="*/ 969 h 7791"/>
              <a:gd name="T6" fmla="*/ 5477 w 7873"/>
              <a:gd name="T7" fmla="*/ 432 h 7791"/>
              <a:gd name="T8" fmla="*/ 4004 w 7873"/>
              <a:gd name="T9" fmla="*/ 13 h 7791"/>
              <a:gd name="T10" fmla="*/ 2709 w 7873"/>
              <a:gd name="T11" fmla="*/ 368 h 7791"/>
              <a:gd name="T12" fmla="*/ 2352 w 7873"/>
              <a:gd name="T13" fmla="*/ 840 h 7791"/>
              <a:gd name="T14" fmla="*/ 2709 w 7873"/>
              <a:gd name="T15" fmla="*/ 1592 h 7791"/>
              <a:gd name="T16" fmla="*/ 2699 w 7873"/>
              <a:gd name="T17" fmla="*/ 2258 h 7791"/>
              <a:gd name="T18" fmla="*/ 3046 w 7873"/>
              <a:gd name="T19" fmla="*/ 2376 h 7791"/>
              <a:gd name="T20" fmla="*/ 3351 w 7873"/>
              <a:gd name="T21" fmla="*/ 2537 h 7791"/>
              <a:gd name="T22" fmla="*/ 4656 w 7873"/>
              <a:gd name="T23" fmla="*/ 2570 h 7791"/>
              <a:gd name="T24" fmla="*/ 5624 w 7873"/>
              <a:gd name="T25" fmla="*/ 2076 h 7791"/>
              <a:gd name="T26" fmla="*/ 5782 w 7873"/>
              <a:gd name="T27" fmla="*/ 1335 h 7791"/>
              <a:gd name="T28" fmla="*/ 5698 w 7873"/>
              <a:gd name="T29" fmla="*/ 1592 h 7791"/>
              <a:gd name="T30" fmla="*/ 2331 w 7873"/>
              <a:gd name="T31" fmla="*/ 1335 h 7791"/>
              <a:gd name="T32" fmla="*/ 2699 w 7873"/>
              <a:gd name="T33" fmla="*/ 2258 h 7791"/>
              <a:gd name="T34" fmla="*/ 3730 w 7873"/>
              <a:gd name="T35" fmla="*/ 2903 h 7791"/>
              <a:gd name="T36" fmla="*/ 3888 w 7873"/>
              <a:gd name="T37" fmla="*/ 3300 h 7791"/>
              <a:gd name="T38" fmla="*/ 4414 w 7873"/>
              <a:gd name="T39" fmla="*/ 3128 h 7791"/>
              <a:gd name="T40" fmla="*/ 5519 w 7873"/>
              <a:gd name="T41" fmla="*/ 2849 h 7791"/>
              <a:gd name="T42" fmla="*/ 5782 w 7873"/>
              <a:gd name="T43" fmla="*/ 2011 h 7791"/>
              <a:gd name="T44" fmla="*/ 5761 w 7873"/>
              <a:gd name="T45" fmla="*/ 2140 h 7791"/>
              <a:gd name="T46" fmla="*/ 3730 w 7873"/>
              <a:gd name="T47" fmla="*/ 2903 h 7791"/>
              <a:gd name="T48" fmla="*/ 3330 w 7873"/>
              <a:gd name="T49" fmla="*/ 2967 h 7791"/>
              <a:gd name="T50" fmla="*/ 1752 w 7873"/>
              <a:gd name="T51" fmla="*/ 2494 h 7791"/>
              <a:gd name="T52" fmla="*/ 742 w 7873"/>
              <a:gd name="T53" fmla="*/ 2709 h 7791"/>
              <a:gd name="T54" fmla="*/ 152 w 7873"/>
              <a:gd name="T55" fmla="*/ 3644 h 7791"/>
              <a:gd name="T56" fmla="*/ 1815 w 7873"/>
              <a:gd name="T57" fmla="*/ 4428 h 7791"/>
              <a:gd name="T58" fmla="*/ 3530 w 7873"/>
              <a:gd name="T59" fmla="*/ 3687 h 7791"/>
              <a:gd name="T60" fmla="*/ 3330 w 7873"/>
              <a:gd name="T61" fmla="*/ 2967 h 7791"/>
              <a:gd name="T62" fmla="*/ 3236 w 7873"/>
              <a:gd name="T63" fmla="*/ 4267 h 7791"/>
              <a:gd name="T64" fmla="*/ 100 w 7873"/>
              <a:gd name="T65" fmla="*/ 3837 h 7791"/>
              <a:gd name="T66" fmla="*/ 289 w 7873"/>
              <a:gd name="T67" fmla="*/ 4567 h 7791"/>
              <a:gd name="T68" fmla="*/ 3036 w 7873"/>
              <a:gd name="T69" fmla="*/ 4825 h 7791"/>
              <a:gd name="T70" fmla="*/ 3288 w 7873"/>
              <a:gd name="T71" fmla="*/ 4234 h 7791"/>
              <a:gd name="T72" fmla="*/ 3236 w 7873"/>
              <a:gd name="T73" fmla="*/ 4267 h 7791"/>
              <a:gd name="T74" fmla="*/ 7676 w 7873"/>
              <a:gd name="T75" fmla="*/ 4686 h 7791"/>
              <a:gd name="T76" fmla="*/ 5708 w 7873"/>
              <a:gd name="T77" fmla="*/ 3407 h 7791"/>
              <a:gd name="T78" fmla="*/ 4193 w 7873"/>
              <a:gd name="T79" fmla="*/ 4063 h 7791"/>
              <a:gd name="T80" fmla="*/ 3572 w 7873"/>
              <a:gd name="T81" fmla="*/ 5620 h 7791"/>
              <a:gd name="T82" fmla="*/ 4214 w 7873"/>
              <a:gd name="T83" fmla="*/ 7145 h 7791"/>
              <a:gd name="T84" fmla="*/ 5740 w 7873"/>
              <a:gd name="T85" fmla="*/ 7779 h 7791"/>
              <a:gd name="T86" fmla="*/ 7245 w 7873"/>
              <a:gd name="T87" fmla="*/ 7134 h 7791"/>
              <a:gd name="T88" fmla="*/ 7866 w 7873"/>
              <a:gd name="T89" fmla="*/ 5577 h 7791"/>
              <a:gd name="T90" fmla="*/ 7676 w 7873"/>
              <a:gd name="T91" fmla="*/ 4686 h 7791"/>
              <a:gd name="T92" fmla="*/ 5719 w 7873"/>
              <a:gd name="T93" fmla="*/ 6286 h 7791"/>
              <a:gd name="T94" fmla="*/ 4267 w 7873"/>
              <a:gd name="T95" fmla="*/ 5953 h 7791"/>
              <a:gd name="T96" fmla="*/ 4330 w 7873"/>
              <a:gd name="T97" fmla="*/ 5556 h 7791"/>
              <a:gd name="T98" fmla="*/ 5603 w 7873"/>
              <a:gd name="T99" fmla="*/ 5867 h 7791"/>
              <a:gd name="T100" fmla="*/ 6908 w 7873"/>
              <a:gd name="T101" fmla="*/ 3977 h 7791"/>
              <a:gd name="T102" fmla="*/ 7255 w 7873"/>
              <a:gd name="T103" fmla="*/ 4535 h 7791"/>
              <a:gd name="T104" fmla="*/ 5719 w 7873"/>
              <a:gd name="T105" fmla="*/ 6286 h 7791"/>
              <a:gd name="T106" fmla="*/ 121 w 7873"/>
              <a:gd name="T107" fmla="*/ 4492 h 7791"/>
              <a:gd name="T108" fmla="*/ 152 w 7873"/>
              <a:gd name="T109" fmla="*/ 5008 h 7791"/>
              <a:gd name="T110" fmla="*/ 1310 w 7873"/>
              <a:gd name="T111" fmla="*/ 5738 h 7791"/>
              <a:gd name="T112" fmla="*/ 2930 w 7873"/>
              <a:gd name="T113" fmla="*/ 5566 h 7791"/>
              <a:gd name="T114" fmla="*/ 2962 w 7873"/>
              <a:gd name="T115" fmla="*/ 5169 h 7791"/>
              <a:gd name="T116" fmla="*/ 121 w 7873"/>
              <a:gd name="T117" fmla="*/ 4492 h 7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73" h="7791">
                <a:moveTo>
                  <a:pt x="2709" y="1592"/>
                </a:moveTo>
                <a:cubicBezTo>
                  <a:pt x="3377" y="2060"/>
                  <a:pt x="4681" y="2036"/>
                  <a:pt x="5329" y="1624"/>
                </a:cubicBezTo>
                <a:cubicBezTo>
                  <a:pt x="5545" y="1487"/>
                  <a:pt x="5785" y="1286"/>
                  <a:pt x="5782" y="969"/>
                </a:cubicBezTo>
                <a:cubicBezTo>
                  <a:pt x="5780" y="712"/>
                  <a:pt x="5610" y="541"/>
                  <a:pt x="5477" y="432"/>
                </a:cubicBezTo>
                <a:cubicBezTo>
                  <a:pt x="5134" y="153"/>
                  <a:pt x="4575" y="0"/>
                  <a:pt x="4004" y="13"/>
                </a:cubicBezTo>
                <a:cubicBezTo>
                  <a:pt x="3452" y="27"/>
                  <a:pt x="3028" y="142"/>
                  <a:pt x="2709" y="368"/>
                </a:cubicBezTo>
                <a:cubicBezTo>
                  <a:pt x="2579" y="460"/>
                  <a:pt x="2397" y="651"/>
                  <a:pt x="2352" y="840"/>
                </a:cubicBezTo>
                <a:cubicBezTo>
                  <a:pt x="2268" y="1188"/>
                  <a:pt x="2508" y="1452"/>
                  <a:pt x="2709" y="1592"/>
                </a:cubicBezTo>
                <a:close/>
                <a:moveTo>
                  <a:pt x="2699" y="2258"/>
                </a:moveTo>
                <a:cubicBezTo>
                  <a:pt x="2797" y="2310"/>
                  <a:pt x="2931" y="2327"/>
                  <a:pt x="3046" y="2376"/>
                </a:cubicBezTo>
                <a:cubicBezTo>
                  <a:pt x="3149" y="2421"/>
                  <a:pt x="3244" y="2499"/>
                  <a:pt x="3351" y="2537"/>
                </a:cubicBezTo>
                <a:cubicBezTo>
                  <a:pt x="3702" y="2664"/>
                  <a:pt x="4247" y="2653"/>
                  <a:pt x="4656" y="2570"/>
                </a:cubicBezTo>
                <a:cubicBezTo>
                  <a:pt x="5060" y="2487"/>
                  <a:pt x="5429" y="2312"/>
                  <a:pt x="5624" y="2076"/>
                </a:cubicBezTo>
                <a:cubicBezTo>
                  <a:pt x="5764" y="1906"/>
                  <a:pt x="5830" y="1635"/>
                  <a:pt x="5782" y="1335"/>
                </a:cubicBezTo>
                <a:cubicBezTo>
                  <a:pt x="5772" y="1424"/>
                  <a:pt x="5742" y="1519"/>
                  <a:pt x="5698" y="1592"/>
                </a:cubicBezTo>
                <a:cubicBezTo>
                  <a:pt x="5156" y="2500"/>
                  <a:pt x="2595" y="2483"/>
                  <a:pt x="2331" y="1335"/>
                </a:cubicBezTo>
                <a:cubicBezTo>
                  <a:pt x="2289" y="1782"/>
                  <a:pt x="2428" y="2114"/>
                  <a:pt x="2699" y="2258"/>
                </a:cubicBezTo>
                <a:close/>
                <a:moveTo>
                  <a:pt x="3730" y="2903"/>
                </a:moveTo>
                <a:cubicBezTo>
                  <a:pt x="3794" y="3024"/>
                  <a:pt x="3869" y="3133"/>
                  <a:pt x="3888" y="3300"/>
                </a:cubicBezTo>
                <a:cubicBezTo>
                  <a:pt x="4160" y="3343"/>
                  <a:pt x="4254" y="3211"/>
                  <a:pt x="4414" y="3128"/>
                </a:cubicBezTo>
                <a:cubicBezTo>
                  <a:pt x="4739" y="2959"/>
                  <a:pt x="5059" y="2880"/>
                  <a:pt x="5519" y="2849"/>
                </a:cubicBezTo>
                <a:cubicBezTo>
                  <a:pt x="5727" y="2700"/>
                  <a:pt x="5840" y="2396"/>
                  <a:pt x="5782" y="2011"/>
                </a:cubicBezTo>
                <a:cubicBezTo>
                  <a:pt x="5775" y="2060"/>
                  <a:pt x="5774" y="2105"/>
                  <a:pt x="5761" y="2140"/>
                </a:cubicBezTo>
                <a:cubicBezTo>
                  <a:pt x="5540" y="2743"/>
                  <a:pt x="4538" y="2972"/>
                  <a:pt x="3730" y="2903"/>
                </a:cubicBezTo>
                <a:close/>
                <a:moveTo>
                  <a:pt x="3330" y="2967"/>
                </a:moveTo>
                <a:cubicBezTo>
                  <a:pt x="2977" y="2629"/>
                  <a:pt x="2385" y="2464"/>
                  <a:pt x="1752" y="2494"/>
                </a:cubicBezTo>
                <a:cubicBezTo>
                  <a:pt x="1329" y="2515"/>
                  <a:pt x="1030" y="2573"/>
                  <a:pt x="742" y="2709"/>
                </a:cubicBezTo>
                <a:cubicBezTo>
                  <a:pt x="435" y="2855"/>
                  <a:pt x="0" y="3158"/>
                  <a:pt x="152" y="3644"/>
                </a:cubicBezTo>
                <a:cubicBezTo>
                  <a:pt x="317" y="4167"/>
                  <a:pt x="1145" y="4424"/>
                  <a:pt x="1815" y="4428"/>
                </a:cubicBezTo>
                <a:cubicBezTo>
                  <a:pt x="2518" y="4432"/>
                  <a:pt x="3327" y="4194"/>
                  <a:pt x="3530" y="3687"/>
                </a:cubicBezTo>
                <a:cubicBezTo>
                  <a:pt x="3654" y="3377"/>
                  <a:pt x="3498" y="3127"/>
                  <a:pt x="3330" y="2967"/>
                </a:cubicBezTo>
                <a:close/>
                <a:moveTo>
                  <a:pt x="3236" y="4267"/>
                </a:moveTo>
                <a:cubicBezTo>
                  <a:pt x="2479" y="4956"/>
                  <a:pt x="393" y="4883"/>
                  <a:pt x="100" y="3837"/>
                </a:cubicBezTo>
                <a:cubicBezTo>
                  <a:pt x="89" y="4158"/>
                  <a:pt x="149" y="4405"/>
                  <a:pt x="289" y="4567"/>
                </a:cubicBezTo>
                <a:cubicBezTo>
                  <a:pt x="809" y="5172"/>
                  <a:pt x="2306" y="5269"/>
                  <a:pt x="3036" y="4825"/>
                </a:cubicBezTo>
                <a:cubicBezTo>
                  <a:pt x="3102" y="4610"/>
                  <a:pt x="3176" y="4403"/>
                  <a:pt x="3288" y="4234"/>
                </a:cubicBezTo>
                <a:cubicBezTo>
                  <a:pt x="3260" y="4206"/>
                  <a:pt x="3247" y="4256"/>
                  <a:pt x="3236" y="4267"/>
                </a:cubicBezTo>
                <a:close/>
                <a:moveTo>
                  <a:pt x="7676" y="4686"/>
                </a:moveTo>
                <a:cubicBezTo>
                  <a:pt x="7360" y="3976"/>
                  <a:pt x="6678" y="3405"/>
                  <a:pt x="5708" y="3407"/>
                </a:cubicBezTo>
                <a:cubicBezTo>
                  <a:pt x="5002" y="3409"/>
                  <a:pt x="4538" y="3710"/>
                  <a:pt x="4193" y="4063"/>
                </a:cubicBezTo>
                <a:cubicBezTo>
                  <a:pt x="3851" y="4412"/>
                  <a:pt x="3559" y="4942"/>
                  <a:pt x="3572" y="5620"/>
                </a:cubicBezTo>
                <a:cubicBezTo>
                  <a:pt x="3585" y="6291"/>
                  <a:pt x="3852" y="6780"/>
                  <a:pt x="4214" y="7145"/>
                </a:cubicBezTo>
                <a:cubicBezTo>
                  <a:pt x="4572" y="7506"/>
                  <a:pt x="5098" y="7791"/>
                  <a:pt x="5740" y="7779"/>
                </a:cubicBezTo>
                <a:cubicBezTo>
                  <a:pt x="6380" y="7767"/>
                  <a:pt x="6891" y="7500"/>
                  <a:pt x="7245" y="7134"/>
                </a:cubicBezTo>
                <a:cubicBezTo>
                  <a:pt x="7592" y="6776"/>
                  <a:pt x="7873" y="6254"/>
                  <a:pt x="7866" y="5577"/>
                </a:cubicBezTo>
                <a:cubicBezTo>
                  <a:pt x="7862" y="5260"/>
                  <a:pt x="7791" y="4942"/>
                  <a:pt x="7676" y="4686"/>
                </a:cubicBezTo>
                <a:close/>
                <a:moveTo>
                  <a:pt x="5719" y="6286"/>
                </a:moveTo>
                <a:cubicBezTo>
                  <a:pt x="5246" y="6164"/>
                  <a:pt x="4746" y="6069"/>
                  <a:pt x="4267" y="5953"/>
                </a:cubicBezTo>
                <a:cubicBezTo>
                  <a:pt x="4280" y="5812"/>
                  <a:pt x="4304" y="5683"/>
                  <a:pt x="4330" y="5556"/>
                </a:cubicBezTo>
                <a:cubicBezTo>
                  <a:pt x="4751" y="5663"/>
                  <a:pt x="5186" y="5756"/>
                  <a:pt x="5603" y="5867"/>
                </a:cubicBezTo>
                <a:cubicBezTo>
                  <a:pt x="6042" y="5241"/>
                  <a:pt x="6475" y="4609"/>
                  <a:pt x="6908" y="3977"/>
                </a:cubicBezTo>
                <a:cubicBezTo>
                  <a:pt x="7035" y="4151"/>
                  <a:pt x="7136" y="4353"/>
                  <a:pt x="7255" y="4535"/>
                </a:cubicBezTo>
                <a:cubicBezTo>
                  <a:pt x="6754" y="5129"/>
                  <a:pt x="6248" y="5720"/>
                  <a:pt x="5719" y="6286"/>
                </a:cubicBezTo>
                <a:close/>
                <a:moveTo>
                  <a:pt x="121" y="4492"/>
                </a:moveTo>
                <a:cubicBezTo>
                  <a:pt x="128" y="4663"/>
                  <a:pt x="104" y="4863"/>
                  <a:pt x="152" y="5008"/>
                </a:cubicBezTo>
                <a:cubicBezTo>
                  <a:pt x="286" y="5405"/>
                  <a:pt x="816" y="5648"/>
                  <a:pt x="1310" y="5738"/>
                </a:cubicBezTo>
                <a:cubicBezTo>
                  <a:pt x="1869" y="5840"/>
                  <a:pt x="2512" y="5761"/>
                  <a:pt x="2930" y="5566"/>
                </a:cubicBezTo>
                <a:cubicBezTo>
                  <a:pt x="2928" y="5421"/>
                  <a:pt x="2946" y="5296"/>
                  <a:pt x="2962" y="5169"/>
                </a:cubicBezTo>
                <a:cubicBezTo>
                  <a:pt x="2038" y="5580"/>
                  <a:pt x="359" y="5455"/>
                  <a:pt x="121" y="4492"/>
                </a:cubicBezTo>
                <a:close/>
              </a:path>
            </a:pathLst>
          </a:cu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852" rtl="0" eaLnBrk="1" fontAlgn="auto" latinLnBrk="0" hangingPunct="1">
              <a:lnSpc>
                <a:spcPct val="100000"/>
              </a:lnSpc>
              <a:spcBef>
                <a:spcPts val="0"/>
              </a:spcBef>
              <a:spcAft>
                <a:spcPts val="0"/>
              </a:spcAft>
              <a:buClrTx/>
              <a:buSzTx/>
              <a:buFontTx/>
              <a:buNone/>
              <a:tabLst/>
              <a:defRPr/>
            </a:pPr>
            <a:endParaRPr kumimoji="0" lang="en-US" sz="1798" b="0" i="0" u="none" strike="noStrike" kern="1200" cap="none" spc="0" normalizeH="0" baseline="0" noProof="0">
              <a:ln>
                <a:noFill/>
              </a:ln>
              <a:solidFill>
                <a:srgbClr val="00B0F0"/>
              </a:solidFill>
              <a:effectLst/>
              <a:uLnTx/>
              <a:uFillTx/>
              <a:latin typeface="微软雅黑" panose="020B0503020204020204" pitchFamily="34" charset="-122"/>
              <a:ea typeface="微软雅黑" panose="020B0503020204020204" pitchFamily="34" charset="-122"/>
              <a:cs typeface="+mn-cs"/>
            </a:endParaRPr>
          </a:p>
        </p:txBody>
      </p:sp>
      <p:sp>
        <p:nvSpPr>
          <p:cNvPr id="17" name="analytics_237472">
            <a:extLst>
              <a:ext uri="{FF2B5EF4-FFF2-40B4-BE49-F238E27FC236}">
                <a16:creationId xmlns:a16="http://schemas.microsoft.com/office/drawing/2014/main" id="{A4CFA588-35FF-A89C-9A6C-D180A09620D5}"/>
              </a:ext>
            </a:extLst>
          </p:cNvPr>
          <p:cNvSpPr/>
          <p:nvPr/>
        </p:nvSpPr>
        <p:spPr>
          <a:xfrm>
            <a:off x="1596326" y="2617893"/>
            <a:ext cx="315189" cy="215079"/>
          </a:xfrm>
          <a:custGeom>
            <a:avLst/>
            <a:gdLst>
              <a:gd name="T0" fmla="*/ 6372 w 6827"/>
              <a:gd name="T1" fmla="*/ 3868 h 4665"/>
              <a:gd name="T2" fmla="*/ 6030 w 6827"/>
              <a:gd name="T3" fmla="*/ 0 h 4665"/>
              <a:gd name="T4" fmla="*/ 455 w 6827"/>
              <a:gd name="T5" fmla="*/ 341 h 4665"/>
              <a:gd name="T6" fmla="*/ 114 w 6827"/>
              <a:gd name="T7" fmla="*/ 3868 h 4665"/>
              <a:gd name="T8" fmla="*/ 0 w 6827"/>
              <a:gd name="T9" fmla="*/ 4323 h 4665"/>
              <a:gd name="T10" fmla="*/ 6485 w 6827"/>
              <a:gd name="T11" fmla="*/ 4665 h 4665"/>
              <a:gd name="T12" fmla="*/ 6827 w 6827"/>
              <a:gd name="T13" fmla="*/ 3982 h 4665"/>
              <a:gd name="T14" fmla="*/ 2878 w 6827"/>
              <a:gd name="T15" fmla="*/ 2650 h 4665"/>
              <a:gd name="T16" fmla="*/ 3949 w 6827"/>
              <a:gd name="T17" fmla="*/ 1740 h 4665"/>
              <a:gd name="T18" fmla="*/ 5300 w 6827"/>
              <a:gd name="T19" fmla="*/ 1365 h 4665"/>
              <a:gd name="T20" fmla="*/ 4665 w 6827"/>
              <a:gd name="T21" fmla="*/ 1251 h 4665"/>
              <a:gd name="T22" fmla="*/ 5575 w 6827"/>
              <a:gd name="T23" fmla="*/ 1138 h 4665"/>
              <a:gd name="T24" fmla="*/ 5680 w 6827"/>
              <a:gd name="T25" fmla="*/ 1208 h 4665"/>
              <a:gd name="T26" fmla="*/ 5689 w 6827"/>
              <a:gd name="T27" fmla="*/ 2048 h 4665"/>
              <a:gd name="T28" fmla="*/ 5461 w 6827"/>
              <a:gd name="T29" fmla="*/ 2048 h 4665"/>
              <a:gd name="T30" fmla="*/ 4518 w 6827"/>
              <a:gd name="T31" fmla="*/ 2470 h 4665"/>
              <a:gd name="T32" fmla="*/ 4357 w 6827"/>
              <a:gd name="T33" fmla="*/ 2470 h 4665"/>
              <a:gd name="T34" fmla="*/ 3039 w 6827"/>
              <a:gd name="T35" fmla="*/ 2811 h 4665"/>
              <a:gd name="T36" fmla="*/ 2878 w 6827"/>
              <a:gd name="T37" fmla="*/ 2811 h 4665"/>
              <a:gd name="T38" fmla="*/ 1593 w 6827"/>
              <a:gd name="T39" fmla="*/ 1251 h 4665"/>
              <a:gd name="T40" fmla="*/ 2162 w 6827"/>
              <a:gd name="T41" fmla="*/ 1365 h 4665"/>
              <a:gd name="T42" fmla="*/ 1593 w 6827"/>
              <a:gd name="T43" fmla="*/ 1479 h 4665"/>
              <a:gd name="T44" fmla="*/ 1593 w 6827"/>
              <a:gd name="T45" fmla="*/ 1251 h 4665"/>
              <a:gd name="T46" fmla="*/ 1820 w 6827"/>
              <a:gd name="T47" fmla="*/ 1707 h 4665"/>
              <a:gd name="T48" fmla="*/ 1820 w 6827"/>
              <a:gd name="T49" fmla="*/ 1934 h 4665"/>
              <a:gd name="T50" fmla="*/ 1479 w 6827"/>
              <a:gd name="T51" fmla="*/ 1820 h 4665"/>
              <a:gd name="T52" fmla="*/ 1593 w 6827"/>
              <a:gd name="T53" fmla="*/ 2162 h 4665"/>
              <a:gd name="T54" fmla="*/ 2162 w 6827"/>
              <a:gd name="T55" fmla="*/ 2275 h 4665"/>
              <a:gd name="T56" fmla="*/ 1593 w 6827"/>
              <a:gd name="T57" fmla="*/ 2389 h 4665"/>
              <a:gd name="T58" fmla="*/ 1593 w 6827"/>
              <a:gd name="T59" fmla="*/ 2162 h 4665"/>
              <a:gd name="T60" fmla="*/ 1820 w 6827"/>
              <a:gd name="T61" fmla="*/ 2617 h 4665"/>
              <a:gd name="T62" fmla="*/ 1820 w 6827"/>
              <a:gd name="T63" fmla="*/ 2844 h 4665"/>
              <a:gd name="T64" fmla="*/ 1479 w 6827"/>
              <a:gd name="T65" fmla="*/ 2731 h 4665"/>
              <a:gd name="T66" fmla="*/ 1024 w 6827"/>
              <a:gd name="T67" fmla="*/ 1138 h 4665"/>
              <a:gd name="T68" fmla="*/ 1252 w 6827"/>
              <a:gd name="T69" fmla="*/ 1138 h 4665"/>
              <a:gd name="T70" fmla="*/ 1138 w 6827"/>
              <a:gd name="T71" fmla="*/ 3072 h 4665"/>
              <a:gd name="T72" fmla="*/ 1024 w 6827"/>
              <a:gd name="T73" fmla="*/ 1138 h 4665"/>
              <a:gd name="T74" fmla="*/ 6485 w 6827"/>
              <a:gd name="T75" fmla="*/ 4437 h 4665"/>
              <a:gd name="T76" fmla="*/ 228 w 6827"/>
              <a:gd name="T77" fmla="*/ 4323 h 4665"/>
              <a:gd name="T78" fmla="*/ 569 w 6827"/>
              <a:gd name="T79" fmla="*/ 4096 h 4665"/>
              <a:gd name="T80" fmla="*/ 2389 w 6827"/>
              <a:gd name="T81" fmla="*/ 4210 h 4665"/>
              <a:gd name="T82" fmla="*/ 4324 w 6827"/>
              <a:gd name="T83" fmla="*/ 4323 h 4665"/>
              <a:gd name="T84" fmla="*/ 4437 w 6827"/>
              <a:gd name="T85" fmla="*/ 4096 h 4665"/>
              <a:gd name="T86" fmla="*/ 6599 w 6827"/>
              <a:gd name="T87" fmla="*/ 4096 h 4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27" h="4665">
                <a:moveTo>
                  <a:pt x="6713" y="3868"/>
                </a:moveTo>
                <a:lnTo>
                  <a:pt x="6372" y="3868"/>
                </a:lnTo>
                <a:lnTo>
                  <a:pt x="6372" y="341"/>
                </a:lnTo>
                <a:cubicBezTo>
                  <a:pt x="6372" y="153"/>
                  <a:pt x="6218" y="0"/>
                  <a:pt x="6030" y="0"/>
                </a:cubicBezTo>
                <a:lnTo>
                  <a:pt x="796" y="0"/>
                </a:lnTo>
                <a:cubicBezTo>
                  <a:pt x="608" y="0"/>
                  <a:pt x="455" y="153"/>
                  <a:pt x="455" y="341"/>
                </a:cubicBezTo>
                <a:lnTo>
                  <a:pt x="455" y="3868"/>
                </a:lnTo>
                <a:lnTo>
                  <a:pt x="114" y="3868"/>
                </a:lnTo>
                <a:cubicBezTo>
                  <a:pt x="51" y="3868"/>
                  <a:pt x="0" y="3919"/>
                  <a:pt x="0" y="3982"/>
                </a:cubicBezTo>
                <a:lnTo>
                  <a:pt x="0" y="4323"/>
                </a:lnTo>
                <a:cubicBezTo>
                  <a:pt x="0" y="4512"/>
                  <a:pt x="153" y="4665"/>
                  <a:pt x="341" y="4665"/>
                </a:cubicBezTo>
                <a:lnTo>
                  <a:pt x="6485" y="4665"/>
                </a:lnTo>
                <a:cubicBezTo>
                  <a:pt x="6674" y="4665"/>
                  <a:pt x="6827" y="4512"/>
                  <a:pt x="6827" y="4323"/>
                </a:cubicBezTo>
                <a:lnTo>
                  <a:pt x="6827" y="3982"/>
                </a:lnTo>
                <a:cubicBezTo>
                  <a:pt x="6827" y="3919"/>
                  <a:pt x="6776" y="3868"/>
                  <a:pt x="6713" y="3868"/>
                </a:cubicBezTo>
                <a:close/>
                <a:moveTo>
                  <a:pt x="2878" y="2650"/>
                </a:moveTo>
                <a:lnTo>
                  <a:pt x="3788" y="1740"/>
                </a:lnTo>
                <a:cubicBezTo>
                  <a:pt x="3833" y="1695"/>
                  <a:pt x="3904" y="1695"/>
                  <a:pt x="3949" y="1740"/>
                </a:cubicBezTo>
                <a:lnTo>
                  <a:pt x="4437" y="2228"/>
                </a:lnTo>
                <a:lnTo>
                  <a:pt x="5300" y="1365"/>
                </a:lnTo>
                <a:lnTo>
                  <a:pt x="4779" y="1365"/>
                </a:lnTo>
                <a:cubicBezTo>
                  <a:pt x="4716" y="1365"/>
                  <a:pt x="4665" y="1314"/>
                  <a:pt x="4665" y="1251"/>
                </a:cubicBezTo>
                <a:cubicBezTo>
                  <a:pt x="4665" y="1189"/>
                  <a:pt x="4716" y="1138"/>
                  <a:pt x="4779" y="1138"/>
                </a:cubicBezTo>
                <a:lnTo>
                  <a:pt x="5575" y="1138"/>
                </a:lnTo>
                <a:cubicBezTo>
                  <a:pt x="5590" y="1138"/>
                  <a:pt x="5605" y="1141"/>
                  <a:pt x="5619" y="1146"/>
                </a:cubicBezTo>
                <a:cubicBezTo>
                  <a:pt x="5646" y="1158"/>
                  <a:pt x="5669" y="1180"/>
                  <a:pt x="5680" y="1208"/>
                </a:cubicBezTo>
                <a:cubicBezTo>
                  <a:pt x="5686" y="1222"/>
                  <a:pt x="5689" y="1237"/>
                  <a:pt x="5689" y="1251"/>
                </a:cubicBezTo>
                <a:lnTo>
                  <a:pt x="5689" y="2048"/>
                </a:lnTo>
                <a:cubicBezTo>
                  <a:pt x="5689" y="2111"/>
                  <a:pt x="5638" y="2162"/>
                  <a:pt x="5575" y="2162"/>
                </a:cubicBezTo>
                <a:cubicBezTo>
                  <a:pt x="5512" y="2162"/>
                  <a:pt x="5461" y="2111"/>
                  <a:pt x="5461" y="2048"/>
                </a:cubicBezTo>
                <a:lnTo>
                  <a:pt x="5461" y="1526"/>
                </a:lnTo>
                <a:lnTo>
                  <a:pt x="4518" y="2470"/>
                </a:lnTo>
                <a:cubicBezTo>
                  <a:pt x="4496" y="2492"/>
                  <a:pt x="4466" y="2503"/>
                  <a:pt x="4437" y="2503"/>
                </a:cubicBezTo>
                <a:cubicBezTo>
                  <a:pt x="4408" y="2503"/>
                  <a:pt x="4379" y="2492"/>
                  <a:pt x="4357" y="2470"/>
                </a:cubicBezTo>
                <a:lnTo>
                  <a:pt x="3868" y="1981"/>
                </a:lnTo>
                <a:lnTo>
                  <a:pt x="3039" y="2811"/>
                </a:lnTo>
                <a:cubicBezTo>
                  <a:pt x="3016" y="2833"/>
                  <a:pt x="2987" y="2844"/>
                  <a:pt x="2958" y="2844"/>
                </a:cubicBezTo>
                <a:cubicBezTo>
                  <a:pt x="2929" y="2844"/>
                  <a:pt x="2900" y="2833"/>
                  <a:pt x="2878" y="2811"/>
                </a:cubicBezTo>
                <a:cubicBezTo>
                  <a:pt x="2833" y="2767"/>
                  <a:pt x="2833" y="2695"/>
                  <a:pt x="2878" y="2650"/>
                </a:cubicBezTo>
                <a:close/>
                <a:moveTo>
                  <a:pt x="1593" y="1251"/>
                </a:moveTo>
                <a:lnTo>
                  <a:pt x="2048" y="1251"/>
                </a:lnTo>
                <a:cubicBezTo>
                  <a:pt x="2111" y="1251"/>
                  <a:pt x="2162" y="1302"/>
                  <a:pt x="2162" y="1365"/>
                </a:cubicBezTo>
                <a:cubicBezTo>
                  <a:pt x="2162" y="1428"/>
                  <a:pt x="2111" y="1479"/>
                  <a:pt x="2048" y="1479"/>
                </a:cubicBezTo>
                <a:lnTo>
                  <a:pt x="1593" y="1479"/>
                </a:lnTo>
                <a:cubicBezTo>
                  <a:pt x="1530" y="1479"/>
                  <a:pt x="1479" y="1428"/>
                  <a:pt x="1479" y="1365"/>
                </a:cubicBezTo>
                <a:cubicBezTo>
                  <a:pt x="1479" y="1302"/>
                  <a:pt x="1530" y="1251"/>
                  <a:pt x="1593" y="1251"/>
                </a:cubicBezTo>
                <a:close/>
                <a:moveTo>
                  <a:pt x="1593" y="1707"/>
                </a:moveTo>
                <a:lnTo>
                  <a:pt x="1820" y="1707"/>
                </a:lnTo>
                <a:cubicBezTo>
                  <a:pt x="1883" y="1707"/>
                  <a:pt x="1934" y="1758"/>
                  <a:pt x="1934" y="1820"/>
                </a:cubicBezTo>
                <a:cubicBezTo>
                  <a:pt x="1934" y="1883"/>
                  <a:pt x="1883" y="1934"/>
                  <a:pt x="1820" y="1934"/>
                </a:cubicBezTo>
                <a:lnTo>
                  <a:pt x="1593" y="1934"/>
                </a:lnTo>
                <a:cubicBezTo>
                  <a:pt x="1530" y="1934"/>
                  <a:pt x="1479" y="1883"/>
                  <a:pt x="1479" y="1820"/>
                </a:cubicBezTo>
                <a:cubicBezTo>
                  <a:pt x="1479" y="1758"/>
                  <a:pt x="1530" y="1707"/>
                  <a:pt x="1593" y="1707"/>
                </a:cubicBezTo>
                <a:close/>
                <a:moveTo>
                  <a:pt x="1593" y="2162"/>
                </a:moveTo>
                <a:lnTo>
                  <a:pt x="2048" y="2162"/>
                </a:lnTo>
                <a:cubicBezTo>
                  <a:pt x="2111" y="2162"/>
                  <a:pt x="2162" y="2213"/>
                  <a:pt x="2162" y="2275"/>
                </a:cubicBezTo>
                <a:cubicBezTo>
                  <a:pt x="2162" y="2338"/>
                  <a:pt x="2111" y="2389"/>
                  <a:pt x="2048" y="2389"/>
                </a:cubicBezTo>
                <a:lnTo>
                  <a:pt x="1593" y="2389"/>
                </a:lnTo>
                <a:cubicBezTo>
                  <a:pt x="1530" y="2389"/>
                  <a:pt x="1479" y="2338"/>
                  <a:pt x="1479" y="2275"/>
                </a:cubicBezTo>
                <a:cubicBezTo>
                  <a:pt x="1479" y="2213"/>
                  <a:pt x="1530" y="2162"/>
                  <a:pt x="1593" y="2162"/>
                </a:cubicBezTo>
                <a:close/>
                <a:moveTo>
                  <a:pt x="1593" y="2617"/>
                </a:moveTo>
                <a:lnTo>
                  <a:pt x="1820" y="2617"/>
                </a:lnTo>
                <a:cubicBezTo>
                  <a:pt x="1883" y="2617"/>
                  <a:pt x="1934" y="2668"/>
                  <a:pt x="1934" y="2731"/>
                </a:cubicBezTo>
                <a:cubicBezTo>
                  <a:pt x="1934" y="2793"/>
                  <a:pt x="1883" y="2844"/>
                  <a:pt x="1820" y="2844"/>
                </a:cubicBezTo>
                <a:lnTo>
                  <a:pt x="1593" y="2844"/>
                </a:lnTo>
                <a:cubicBezTo>
                  <a:pt x="1530" y="2844"/>
                  <a:pt x="1479" y="2793"/>
                  <a:pt x="1479" y="2731"/>
                </a:cubicBezTo>
                <a:cubicBezTo>
                  <a:pt x="1479" y="2668"/>
                  <a:pt x="1530" y="2617"/>
                  <a:pt x="1593" y="2617"/>
                </a:cubicBezTo>
                <a:close/>
                <a:moveTo>
                  <a:pt x="1024" y="1138"/>
                </a:moveTo>
                <a:cubicBezTo>
                  <a:pt x="1024" y="1075"/>
                  <a:pt x="1075" y="1024"/>
                  <a:pt x="1138" y="1024"/>
                </a:cubicBezTo>
                <a:cubicBezTo>
                  <a:pt x="1201" y="1024"/>
                  <a:pt x="1252" y="1075"/>
                  <a:pt x="1252" y="1138"/>
                </a:cubicBezTo>
                <a:lnTo>
                  <a:pt x="1252" y="2958"/>
                </a:lnTo>
                <a:cubicBezTo>
                  <a:pt x="1252" y="3021"/>
                  <a:pt x="1201" y="3072"/>
                  <a:pt x="1138" y="3072"/>
                </a:cubicBezTo>
                <a:cubicBezTo>
                  <a:pt x="1075" y="3072"/>
                  <a:pt x="1024" y="3021"/>
                  <a:pt x="1024" y="2958"/>
                </a:cubicBezTo>
                <a:lnTo>
                  <a:pt x="1024" y="1138"/>
                </a:lnTo>
                <a:close/>
                <a:moveTo>
                  <a:pt x="6599" y="4323"/>
                </a:moveTo>
                <a:cubicBezTo>
                  <a:pt x="6599" y="4386"/>
                  <a:pt x="6548" y="4437"/>
                  <a:pt x="6485" y="4437"/>
                </a:cubicBezTo>
                <a:lnTo>
                  <a:pt x="341" y="4437"/>
                </a:lnTo>
                <a:cubicBezTo>
                  <a:pt x="279" y="4437"/>
                  <a:pt x="228" y="4386"/>
                  <a:pt x="228" y="4323"/>
                </a:cubicBezTo>
                <a:lnTo>
                  <a:pt x="228" y="4096"/>
                </a:lnTo>
                <a:lnTo>
                  <a:pt x="569" y="4096"/>
                </a:lnTo>
                <a:lnTo>
                  <a:pt x="2389" y="4096"/>
                </a:lnTo>
                <a:lnTo>
                  <a:pt x="2389" y="4210"/>
                </a:lnTo>
                <a:cubicBezTo>
                  <a:pt x="2389" y="4272"/>
                  <a:pt x="2440" y="4323"/>
                  <a:pt x="2503" y="4323"/>
                </a:cubicBezTo>
                <a:lnTo>
                  <a:pt x="4324" y="4323"/>
                </a:lnTo>
                <a:cubicBezTo>
                  <a:pt x="4386" y="4323"/>
                  <a:pt x="4437" y="4272"/>
                  <a:pt x="4437" y="4210"/>
                </a:cubicBezTo>
                <a:lnTo>
                  <a:pt x="4437" y="4096"/>
                </a:lnTo>
                <a:lnTo>
                  <a:pt x="6258" y="4096"/>
                </a:lnTo>
                <a:lnTo>
                  <a:pt x="6599" y="4096"/>
                </a:lnTo>
                <a:lnTo>
                  <a:pt x="6599" y="4323"/>
                </a:lnTo>
                <a:close/>
              </a:path>
            </a:pathLst>
          </a:cu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852" rtl="0" eaLnBrk="1" fontAlgn="auto" latinLnBrk="0" hangingPunct="1">
              <a:lnSpc>
                <a:spcPct val="100000"/>
              </a:lnSpc>
              <a:spcBef>
                <a:spcPts val="0"/>
              </a:spcBef>
              <a:spcAft>
                <a:spcPts val="0"/>
              </a:spcAft>
              <a:buClrTx/>
              <a:buSzTx/>
              <a:buFontTx/>
              <a:buNone/>
              <a:tabLst/>
              <a:defRPr/>
            </a:pPr>
            <a:endParaRPr kumimoji="0" lang="en-US" sz="1798"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18" name="TextBox 141">
            <a:extLst>
              <a:ext uri="{FF2B5EF4-FFF2-40B4-BE49-F238E27FC236}">
                <a16:creationId xmlns:a16="http://schemas.microsoft.com/office/drawing/2014/main" id="{2A9746DB-EC3F-8E10-6D78-87A28A7C2D1D}"/>
              </a:ext>
            </a:extLst>
          </p:cNvPr>
          <p:cNvSpPr txBox="1"/>
          <p:nvPr/>
        </p:nvSpPr>
        <p:spPr>
          <a:xfrm>
            <a:off x="7577782" y="2518589"/>
            <a:ext cx="1279424" cy="4102168"/>
          </a:xfrm>
          <a:prstGeom prst="rect">
            <a:avLst/>
          </a:prstGeom>
          <a:solidFill>
            <a:srgbClr val="4D88C3"/>
          </a:solidFill>
          <a:ln w="9525">
            <a:solidFill>
              <a:schemeClr val="bg1"/>
            </a:solidFill>
          </a:ln>
        </p:spPr>
        <p:txBody>
          <a:bodyPr wrap="square" rtlCol="0" anchor="t">
            <a:noAutofit/>
          </a:bodyPr>
          <a:lstStyle/>
          <a:p>
            <a:pPr marL="0" marR="0" lvl="0" indent="0" algn="ctr" defTabSz="913852" rtl="0" eaLnBrk="1" fontAlgn="auto" latinLnBrk="0" hangingPunct="1">
              <a:lnSpc>
                <a:spcPct val="100000"/>
              </a:lnSpc>
              <a:spcBef>
                <a:spcPts val="0"/>
              </a:spcBef>
              <a:spcAft>
                <a:spcPts val="0"/>
              </a:spcAft>
              <a:buClrTx/>
              <a:buSzTx/>
              <a:buFontTx/>
              <a:buNone/>
              <a:tabLst/>
              <a:defRPr/>
            </a:pPr>
            <a:endParaRPr kumimoji="0" lang="en-US" altLang="zh-CN" sz="14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9" name="Rounded Rectangle 132">
            <a:extLst>
              <a:ext uri="{FF2B5EF4-FFF2-40B4-BE49-F238E27FC236}">
                <a16:creationId xmlns:a16="http://schemas.microsoft.com/office/drawing/2014/main" id="{D9E15B8E-7BF8-CC7A-EBDA-7F15C470CFCB}"/>
              </a:ext>
            </a:extLst>
          </p:cNvPr>
          <p:cNvSpPr>
            <a:spLocks/>
          </p:cNvSpPr>
          <p:nvPr/>
        </p:nvSpPr>
        <p:spPr>
          <a:xfrm>
            <a:off x="7689160" y="6045194"/>
            <a:ext cx="1079719" cy="462254"/>
          </a:xfrm>
          <a:prstGeom prst="roundRect">
            <a:avLst/>
          </a:prstGeom>
          <a:ln>
            <a:noFill/>
          </a:ln>
        </p:spPr>
        <p:style>
          <a:lnRef idx="2">
            <a:schemeClr val="accent5"/>
          </a:lnRef>
          <a:fillRef idx="1">
            <a:schemeClr val="lt1"/>
          </a:fillRef>
          <a:effectRef idx="0">
            <a:schemeClr val="accent5"/>
          </a:effectRef>
          <a:fontRef idx="minor">
            <a:schemeClr val="dk1"/>
          </a:fontRef>
        </p:style>
        <p:txBody>
          <a:bodyPr rtlCol="0" anchor="ctr"/>
          <a:lstStyle/>
          <a:p>
            <a:pPr marL="0" marR="0" lvl="0" indent="0" algn="ctr" defTabSz="121789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rPr>
              <a:t>页面埋点分析</a:t>
            </a:r>
            <a:endParaRPr kumimoji="0" 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20" name="Rounded Rectangle 132">
            <a:extLst>
              <a:ext uri="{FF2B5EF4-FFF2-40B4-BE49-F238E27FC236}">
                <a16:creationId xmlns:a16="http://schemas.microsoft.com/office/drawing/2014/main" id="{1150810A-A1D3-5377-CC74-E5A338620338}"/>
              </a:ext>
            </a:extLst>
          </p:cNvPr>
          <p:cNvSpPr>
            <a:spLocks/>
          </p:cNvSpPr>
          <p:nvPr/>
        </p:nvSpPr>
        <p:spPr>
          <a:xfrm>
            <a:off x="7689160" y="2975369"/>
            <a:ext cx="1079719" cy="462254"/>
          </a:xfrm>
          <a:prstGeom prst="roundRect">
            <a:avLst/>
          </a:prstGeom>
          <a:ln>
            <a:noFill/>
          </a:ln>
        </p:spPr>
        <p:style>
          <a:lnRef idx="2">
            <a:schemeClr val="accent5"/>
          </a:lnRef>
          <a:fillRef idx="1">
            <a:schemeClr val="lt1"/>
          </a:fillRef>
          <a:effectRef idx="0">
            <a:schemeClr val="accent5"/>
          </a:effectRef>
          <a:fontRef idx="minor">
            <a:schemeClr val="dk1"/>
          </a:fontRef>
        </p:style>
        <p:txBody>
          <a:bodyPr rtlCol="0" anchor="ctr"/>
          <a:lstStyle/>
          <a:p>
            <a:pPr marL="0" marR="0" lvl="0" indent="0" algn="ctr" defTabSz="121789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rPr>
              <a:t>权限管理</a:t>
            </a:r>
            <a:endParaRPr kumimoji="0" 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21" name="矩形 20">
            <a:extLst>
              <a:ext uri="{FF2B5EF4-FFF2-40B4-BE49-F238E27FC236}">
                <a16:creationId xmlns:a16="http://schemas.microsoft.com/office/drawing/2014/main" id="{3ADE9175-2857-71F1-A323-5042D5EFBEB9}"/>
              </a:ext>
            </a:extLst>
          </p:cNvPr>
          <p:cNvSpPr/>
          <p:nvPr/>
        </p:nvSpPr>
        <p:spPr>
          <a:xfrm>
            <a:off x="7676414" y="2539159"/>
            <a:ext cx="1177636" cy="338466"/>
          </a:xfrm>
          <a:prstGeom prst="rect">
            <a:avLst/>
          </a:prstGeom>
        </p:spPr>
        <p:txBody>
          <a:bodyPr wrap="square">
            <a:spAutoFit/>
          </a:bodyPr>
          <a:lstStyle/>
          <a:p>
            <a:pPr marL="0" marR="0" lvl="0" indent="0" algn="ctr" defTabSz="913852" rtl="0" eaLnBrk="1" fontAlgn="auto" latinLnBrk="0" hangingPunct="1">
              <a:lnSpc>
                <a:spcPct val="100000"/>
              </a:lnSpc>
              <a:spcBef>
                <a:spcPts val="0"/>
              </a:spcBef>
              <a:spcAft>
                <a:spcPts val="0"/>
              </a:spcAft>
              <a:buClrTx/>
              <a:buSzTx/>
              <a:buFontTx/>
              <a:buNone/>
              <a:tabLst/>
              <a:defRPr/>
            </a:pPr>
            <a:r>
              <a:rPr kumimoji="0" lang="zh-CN" altLang="en-US"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基础组件</a:t>
            </a:r>
            <a:endParaRPr kumimoji="0" lang="en-US" altLang="zh-CN"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sp>
        <p:nvSpPr>
          <p:cNvPr id="22" name="Rounded Rectangle 132">
            <a:extLst>
              <a:ext uri="{FF2B5EF4-FFF2-40B4-BE49-F238E27FC236}">
                <a16:creationId xmlns:a16="http://schemas.microsoft.com/office/drawing/2014/main" id="{2541F73D-1A7E-85DA-5682-A41818B2F37F}"/>
              </a:ext>
            </a:extLst>
          </p:cNvPr>
          <p:cNvSpPr>
            <a:spLocks/>
          </p:cNvSpPr>
          <p:nvPr/>
        </p:nvSpPr>
        <p:spPr>
          <a:xfrm>
            <a:off x="7689160" y="4510280"/>
            <a:ext cx="1079719" cy="462254"/>
          </a:xfrm>
          <a:prstGeom prst="roundRect">
            <a:avLst/>
          </a:prstGeom>
          <a:ln>
            <a:noFill/>
          </a:ln>
        </p:spPr>
        <p:style>
          <a:lnRef idx="2">
            <a:schemeClr val="accent5"/>
          </a:lnRef>
          <a:fillRef idx="1">
            <a:schemeClr val="lt1"/>
          </a:fillRef>
          <a:effectRef idx="0">
            <a:schemeClr val="accent5"/>
          </a:effectRef>
          <a:fontRef idx="minor">
            <a:schemeClr val="dk1"/>
          </a:fontRef>
        </p:style>
        <p:txBody>
          <a:bodyPr rtlCol="0" anchor="ctr"/>
          <a:lstStyle/>
          <a:p>
            <a:pPr marL="0" marR="0" lvl="0" indent="0" algn="ctr" defTabSz="121789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rPr>
              <a:t>移动端</a:t>
            </a:r>
            <a:endParaRPr kumimoji="0" 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23" name="Rounded Rectangle 132">
            <a:extLst>
              <a:ext uri="{FF2B5EF4-FFF2-40B4-BE49-F238E27FC236}">
                <a16:creationId xmlns:a16="http://schemas.microsoft.com/office/drawing/2014/main" id="{6648BF3E-2CF1-0758-3574-18ADEFFC235F}"/>
              </a:ext>
            </a:extLst>
          </p:cNvPr>
          <p:cNvSpPr>
            <a:spLocks/>
          </p:cNvSpPr>
          <p:nvPr/>
        </p:nvSpPr>
        <p:spPr>
          <a:xfrm>
            <a:off x="7689160" y="3998643"/>
            <a:ext cx="1079719" cy="462254"/>
          </a:xfrm>
          <a:prstGeom prst="roundRect">
            <a:avLst/>
          </a:prstGeom>
          <a:ln>
            <a:noFill/>
          </a:ln>
        </p:spPr>
        <p:style>
          <a:lnRef idx="2">
            <a:schemeClr val="accent5"/>
          </a:lnRef>
          <a:fillRef idx="1">
            <a:schemeClr val="lt1"/>
          </a:fillRef>
          <a:effectRef idx="0">
            <a:schemeClr val="accent5"/>
          </a:effectRef>
          <a:fontRef idx="minor">
            <a:schemeClr val="dk1"/>
          </a:fontRef>
        </p:style>
        <p:txBody>
          <a:bodyPr rtlCol="0" anchor="ctr"/>
          <a:lstStyle/>
          <a:p>
            <a:pPr marL="0" marR="0" lvl="0" indent="0" algn="ctr" defTabSz="121789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rPr>
              <a:t>平台监控</a:t>
            </a:r>
            <a:endParaRPr kumimoji="0" 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24" name="Rounded Rectangle 132">
            <a:extLst>
              <a:ext uri="{FF2B5EF4-FFF2-40B4-BE49-F238E27FC236}">
                <a16:creationId xmlns:a16="http://schemas.microsoft.com/office/drawing/2014/main" id="{940019DE-5856-355E-1173-D31C2119EA79}"/>
              </a:ext>
            </a:extLst>
          </p:cNvPr>
          <p:cNvSpPr>
            <a:spLocks/>
          </p:cNvSpPr>
          <p:nvPr/>
        </p:nvSpPr>
        <p:spPr>
          <a:xfrm>
            <a:off x="7689160" y="3487006"/>
            <a:ext cx="1079719" cy="462254"/>
          </a:xfrm>
          <a:prstGeom prst="roundRect">
            <a:avLst/>
          </a:prstGeom>
          <a:ln>
            <a:noFill/>
          </a:ln>
        </p:spPr>
        <p:style>
          <a:lnRef idx="2">
            <a:schemeClr val="accent5"/>
          </a:lnRef>
          <a:fillRef idx="1">
            <a:schemeClr val="lt1"/>
          </a:fillRef>
          <a:effectRef idx="0">
            <a:schemeClr val="accent5"/>
          </a:effectRef>
          <a:fontRef idx="minor">
            <a:schemeClr val="dk1"/>
          </a:fontRef>
        </p:style>
        <p:txBody>
          <a:bodyPr rtlCol="0" anchor="ctr"/>
          <a:lstStyle/>
          <a:p>
            <a:pPr marL="0" marR="0" lvl="0" indent="0" algn="ctr" defTabSz="121789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rPr>
              <a:t>应用管理</a:t>
            </a:r>
            <a:endParaRPr kumimoji="0" 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25" name="Rounded Rectangle 132">
            <a:extLst>
              <a:ext uri="{FF2B5EF4-FFF2-40B4-BE49-F238E27FC236}">
                <a16:creationId xmlns:a16="http://schemas.microsoft.com/office/drawing/2014/main" id="{307844F9-FFD8-57F9-A375-C56437DBCA6A}"/>
              </a:ext>
            </a:extLst>
          </p:cNvPr>
          <p:cNvSpPr>
            <a:spLocks/>
          </p:cNvSpPr>
          <p:nvPr/>
        </p:nvSpPr>
        <p:spPr>
          <a:xfrm>
            <a:off x="7689160" y="5021917"/>
            <a:ext cx="1079719" cy="462254"/>
          </a:xfrm>
          <a:prstGeom prst="roundRect">
            <a:avLst/>
          </a:prstGeom>
          <a:ln>
            <a:noFill/>
          </a:ln>
        </p:spPr>
        <p:style>
          <a:lnRef idx="2">
            <a:schemeClr val="accent5"/>
          </a:lnRef>
          <a:fillRef idx="1">
            <a:schemeClr val="lt1"/>
          </a:fillRef>
          <a:effectRef idx="0">
            <a:schemeClr val="accent5"/>
          </a:effectRef>
          <a:fontRef idx="minor">
            <a:schemeClr val="dk1"/>
          </a:fontRef>
        </p:style>
        <p:txBody>
          <a:bodyPr rtlCol="0" anchor="ctr"/>
          <a:lstStyle/>
          <a:p>
            <a:pPr marL="0" marR="0" lvl="0" indent="0" algn="ctr" defTabSz="121789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rPr>
              <a:t>数据安全</a:t>
            </a:r>
            <a:endParaRPr kumimoji="0" 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26" name="Rectangle 124">
            <a:extLst>
              <a:ext uri="{FF2B5EF4-FFF2-40B4-BE49-F238E27FC236}">
                <a16:creationId xmlns:a16="http://schemas.microsoft.com/office/drawing/2014/main" id="{85C93F1B-46F7-39B5-CB56-561C38AA7FDA}"/>
              </a:ext>
            </a:extLst>
          </p:cNvPr>
          <p:cNvSpPr/>
          <p:nvPr/>
        </p:nvSpPr>
        <p:spPr>
          <a:xfrm>
            <a:off x="5326112" y="2518589"/>
            <a:ext cx="2151965" cy="932900"/>
          </a:xfrm>
          <a:prstGeom prst="rect">
            <a:avLst/>
          </a:prstGeom>
          <a:solidFill>
            <a:srgbClr val="206AB4">
              <a:alpha val="80000"/>
            </a:srgbClr>
          </a:solidFill>
          <a:ln>
            <a:noFill/>
          </a:ln>
          <a:effectLst/>
        </p:spPr>
        <p:style>
          <a:lnRef idx="1">
            <a:schemeClr val="accent4"/>
          </a:lnRef>
          <a:fillRef idx="2">
            <a:schemeClr val="accent4"/>
          </a:fillRef>
          <a:effectRef idx="1">
            <a:schemeClr val="accent4"/>
          </a:effectRef>
          <a:fontRef idx="minor">
            <a:schemeClr val="dk1"/>
          </a:fontRef>
        </p:style>
        <p:txBody>
          <a:bodyPr rtlCol="0" anchor="t"/>
          <a:lstStyle/>
          <a:p>
            <a:pPr marL="0" marR="0" lvl="0" indent="0" algn="ctr" defTabSz="913852" rtl="0" eaLnBrk="1" fontAlgn="auto" latinLnBrk="0" hangingPunct="1">
              <a:lnSpc>
                <a:spcPct val="100000"/>
              </a:lnSpc>
              <a:spcBef>
                <a:spcPts val="0"/>
              </a:spcBef>
              <a:spcAft>
                <a:spcPts val="0"/>
              </a:spcAft>
              <a:buClrTx/>
              <a:buSzTx/>
              <a:buFontTx/>
              <a:buNone/>
              <a:tabLst/>
              <a:defRPr/>
            </a:pPr>
            <a:r>
              <a:rPr kumimoji="0" lang="zh-CN" altLang="en-US"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产销协同</a:t>
            </a:r>
            <a:endParaRPr kumimoji="0" lang="en-US" altLang="zh-CN"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sp>
        <p:nvSpPr>
          <p:cNvPr id="27" name="Rectangle 124">
            <a:extLst>
              <a:ext uri="{FF2B5EF4-FFF2-40B4-BE49-F238E27FC236}">
                <a16:creationId xmlns:a16="http://schemas.microsoft.com/office/drawing/2014/main" id="{3F1918D0-24A7-9236-57DA-F63ADB0ECDF1}"/>
              </a:ext>
            </a:extLst>
          </p:cNvPr>
          <p:cNvSpPr/>
          <p:nvPr/>
        </p:nvSpPr>
        <p:spPr>
          <a:xfrm>
            <a:off x="2703878" y="2518590"/>
            <a:ext cx="2301385" cy="932899"/>
          </a:xfrm>
          <a:prstGeom prst="rect">
            <a:avLst/>
          </a:prstGeom>
          <a:solidFill>
            <a:srgbClr val="215C97"/>
          </a:solidFill>
          <a:ln>
            <a:noFill/>
          </a:ln>
          <a:effectLst/>
        </p:spPr>
        <p:style>
          <a:lnRef idx="1">
            <a:schemeClr val="accent4"/>
          </a:lnRef>
          <a:fillRef idx="2">
            <a:schemeClr val="accent4"/>
          </a:fillRef>
          <a:effectRef idx="1">
            <a:schemeClr val="accent4"/>
          </a:effectRef>
          <a:fontRef idx="minor">
            <a:schemeClr val="dk1"/>
          </a:fontRef>
        </p:style>
        <p:txBody>
          <a:bodyPr rtlCol="0" anchor="t"/>
          <a:lstStyle/>
          <a:p>
            <a:pPr marL="0" marR="0" lvl="0" indent="0" algn="ctr" defTabSz="913852" rtl="0" eaLnBrk="1" fontAlgn="auto" latinLnBrk="0" hangingPunct="1">
              <a:lnSpc>
                <a:spcPct val="100000"/>
              </a:lnSpc>
              <a:spcBef>
                <a:spcPts val="0"/>
              </a:spcBef>
              <a:spcAft>
                <a:spcPts val="0"/>
              </a:spcAft>
              <a:buClrTx/>
              <a:buSzTx/>
              <a:buFontTx/>
              <a:buNone/>
              <a:tabLst/>
              <a:defRPr/>
            </a:pPr>
            <a:r>
              <a:rPr kumimoji="0" lang="zh-CN" altLang="en-US"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执行计划</a:t>
            </a:r>
            <a:endParaRPr kumimoji="0" lang="en-US" altLang="zh-CN"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sp>
        <p:nvSpPr>
          <p:cNvPr id="28" name="矩形: 圆角 27">
            <a:extLst>
              <a:ext uri="{FF2B5EF4-FFF2-40B4-BE49-F238E27FC236}">
                <a16:creationId xmlns:a16="http://schemas.microsoft.com/office/drawing/2014/main" id="{0E21D2C2-429C-A864-CD78-688CCA693B60}"/>
              </a:ext>
            </a:extLst>
          </p:cNvPr>
          <p:cNvSpPr/>
          <p:nvPr/>
        </p:nvSpPr>
        <p:spPr>
          <a:xfrm>
            <a:off x="5371822" y="2877625"/>
            <a:ext cx="971747" cy="467878"/>
          </a:xfrm>
          <a:prstGeom prst="round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a:ln>
                  <a:noFill/>
                </a:ln>
                <a:solidFill>
                  <a:srgbClr val="3E8DDD">
                    <a:lumMod val="50000"/>
                  </a:srgbClr>
                </a:solidFill>
                <a:effectLst/>
                <a:uLnTx/>
                <a:uFillTx/>
                <a:latin typeface="Arial" panose="020B0604020202020204" pitchFamily="34" charset="0"/>
                <a:ea typeface="微软雅黑" panose="020B0503020204020204" pitchFamily="34" charset="-122"/>
                <a:cs typeface="+mn-cs"/>
              </a:rPr>
              <a:t>需求管理</a:t>
            </a:r>
          </a:p>
        </p:txBody>
      </p:sp>
      <p:sp>
        <p:nvSpPr>
          <p:cNvPr id="29" name="矩形: 圆角 28">
            <a:extLst>
              <a:ext uri="{FF2B5EF4-FFF2-40B4-BE49-F238E27FC236}">
                <a16:creationId xmlns:a16="http://schemas.microsoft.com/office/drawing/2014/main" id="{23A77ADB-7851-7BFA-93F8-DD650A791F2B}"/>
              </a:ext>
            </a:extLst>
          </p:cNvPr>
          <p:cNvSpPr/>
          <p:nvPr/>
        </p:nvSpPr>
        <p:spPr>
          <a:xfrm>
            <a:off x="6411249" y="2877625"/>
            <a:ext cx="971747" cy="467878"/>
          </a:xfrm>
          <a:prstGeom prst="round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a:ln>
                  <a:noFill/>
                </a:ln>
                <a:solidFill>
                  <a:srgbClr val="3E8DDD">
                    <a:lumMod val="50000"/>
                  </a:srgbClr>
                </a:solidFill>
                <a:effectLst/>
                <a:uLnTx/>
                <a:uFillTx/>
                <a:latin typeface="Arial" panose="020B0604020202020204" pitchFamily="34" charset="0"/>
                <a:ea typeface="微软雅黑" panose="020B0503020204020204" pitchFamily="34" charset="-122"/>
                <a:cs typeface="+mn-cs"/>
              </a:rPr>
              <a:t>供给管理</a:t>
            </a:r>
          </a:p>
        </p:txBody>
      </p:sp>
      <p:sp>
        <p:nvSpPr>
          <p:cNvPr id="30" name="矩形: 圆角 29">
            <a:extLst>
              <a:ext uri="{FF2B5EF4-FFF2-40B4-BE49-F238E27FC236}">
                <a16:creationId xmlns:a16="http://schemas.microsoft.com/office/drawing/2014/main" id="{1A3BA8AB-7612-F6DC-3D8A-4EAFD36FB9DD}"/>
              </a:ext>
            </a:extLst>
          </p:cNvPr>
          <p:cNvSpPr/>
          <p:nvPr/>
        </p:nvSpPr>
        <p:spPr>
          <a:xfrm>
            <a:off x="2796437" y="2869061"/>
            <a:ext cx="971747" cy="467878"/>
          </a:xfrm>
          <a:prstGeom prst="round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a:ln>
                  <a:noFill/>
                </a:ln>
                <a:solidFill>
                  <a:srgbClr val="3E8DDD">
                    <a:lumMod val="50000"/>
                  </a:srgbClr>
                </a:solidFill>
                <a:effectLst/>
                <a:uLnTx/>
                <a:uFillTx/>
                <a:latin typeface="Arial" panose="020B0604020202020204" pitchFamily="34" charset="0"/>
                <a:ea typeface="微软雅黑" panose="020B0503020204020204" pitchFamily="34" charset="-122"/>
                <a:cs typeface="+mn-cs"/>
              </a:rPr>
              <a:t>执行</a:t>
            </a:r>
          </a:p>
        </p:txBody>
      </p:sp>
      <p:sp>
        <p:nvSpPr>
          <p:cNvPr id="31" name="矩形: 圆角 30">
            <a:extLst>
              <a:ext uri="{FF2B5EF4-FFF2-40B4-BE49-F238E27FC236}">
                <a16:creationId xmlns:a16="http://schemas.microsoft.com/office/drawing/2014/main" id="{52CE4E55-9B98-B3C7-6A85-8F6B44B66C02}"/>
              </a:ext>
            </a:extLst>
          </p:cNvPr>
          <p:cNvSpPr/>
          <p:nvPr/>
        </p:nvSpPr>
        <p:spPr>
          <a:xfrm>
            <a:off x="3880438" y="2875343"/>
            <a:ext cx="971747" cy="467878"/>
          </a:xfrm>
          <a:prstGeom prst="round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a:ln>
                  <a:noFill/>
                </a:ln>
                <a:solidFill>
                  <a:srgbClr val="3E8DDD">
                    <a:lumMod val="50000"/>
                  </a:srgbClr>
                </a:solidFill>
                <a:effectLst/>
                <a:uLnTx/>
                <a:uFillTx/>
                <a:latin typeface="Arial" panose="020B0604020202020204" pitchFamily="34" charset="0"/>
                <a:ea typeface="微软雅黑" panose="020B0503020204020204" pitchFamily="34" charset="-122"/>
                <a:cs typeface="+mn-cs"/>
              </a:rPr>
              <a:t>计划</a:t>
            </a:r>
          </a:p>
        </p:txBody>
      </p:sp>
      <p:sp>
        <p:nvSpPr>
          <p:cNvPr id="32" name="等腰三角形 31">
            <a:extLst>
              <a:ext uri="{FF2B5EF4-FFF2-40B4-BE49-F238E27FC236}">
                <a16:creationId xmlns:a16="http://schemas.microsoft.com/office/drawing/2014/main" id="{D956E024-FF9C-72BF-F36F-643F92CD0386}"/>
              </a:ext>
            </a:extLst>
          </p:cNvPr>
          <p:cNvSpPr/>
          <p:nvPr/>
        </p:nvSpPr>
        <p:spPr>
          <a:xfrm rot="5400000">
            <a:off x="4826093" y="2884869"/>
            <a:ext cx="844151" cy="152451"/>
          </a:xfrm>
          <a:prstGeom prst="triangle">
            <a:avLst/>
          </a:prstGeom>
          <a:solidFill>
            <a:srgbClr val="B2D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zh-CN" altLang="en-US" sz="1799"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33" name="three-databases-symbol_51334">
            <a:extLst>
              <a:ext uri="{FF2B5EF4-FFF2-40B4-BE49-F238E27FC236}">
                <a16:creationId xmlns:a16="http://schemas.microsoft.com/office/drawing/2014/main" id="{E5B27D80-5FA7-7429-4FEA-F0F8906FC1CC}"/>
              </a:ext>
            </a:extLst>
          </p:cNvPr>
          <p:cNvSpPr/>
          <p:nvPr/>
        </p:nvSpPr>
        <p:spPr>
          <a:xfrm>
            <a:off x="3803889" y="4860298"/>
            <a:ext cx="437501" cy="440231"/>
          </a:xfrm>
          <a:custGeom>
            <a:avLst/>
            <a:gdLst>
              <a:gd name="connsiteX0" fmla="*/ 0 w 596445"/>
              <a:gd name="connsiteY0" fmla="*/ 460757 h 600166"/>
              <a:gd name="connsiteX1" fmla="*/ 162584 w 596445"/>
              <a:gd name="connsiteY1" fmla="*/ 515661 h 600166"/>
              <a:gd name="connsiteX2" fmla="*/ 325168 w 596445"/>
              <a:gd name="connsiteY2" fmla="*/ 460757 h 600166"/>
              <a:gd name="connsiteX3" fmla="*/ 325168 w 596445"/>
              <a:gd name="connsiteY3" fmla="*/ 540965 h 600166"/>
              <a:gd name="connsiteX4" fmla="*/ 162584 w 596445"/>
              <a:gd name="connsiteY4" fmla="*/ 600166 h 600166"/>
              <a:gd name="connsiteX5" fmla="*/ 0 w 596445"/>
              <a:gd name="connsiteY5" fmla="*/ 540965 h 600166"/>
              <a:gd name="connsiteX6" fmla="*/ 596251 w 596445"/>
              <a:gd name="connsiteY6" fmla="*/ 369557 h 600166"/>
              <a:gd name="connsiteX7" fmla="*/ 596251 w 596445"/>
              <a:gd name="connsiteY7" fmla="*/ 449765 h 600166"/>
              <a:gd name="connsiteX8" fmla="*/ 433673 w 596445"/>
              <a:gd name="connsiteY8" fmla="*/ 508966 h 600166"/>
              <a:gd name="connsiteX9" fmla="*/ 347602 w 596445"/>
              <a:gd name="connsiteY9" fmla="*/ 499895 h 600166"/>
              <a:gd name="connsiteX10" fmla="*/ 347602 w 596445"/>
              <a:gd name="connsiteY10" fmla="*/ 415390 h 600166"/>
              <a:gd name="connsiteX11" fmla="*/ 433673 w 596445"/>
              <a:gd name="connsiteY11" fmla="*/ 424461 h 600166"/>
              <a:gd name="connsiteX12" fmla="*/ 596251 w 596445"/>
              <a:gd name="connsiteY12" fmla="*/ 369557 h 600166"/>
              <a:gd name="connsiteX13" fmla="*/ 0 w 596445"/>
              <a:gd name="connsiteY13" fmla="*/ 346681 h 600166"/>
              <a:gd name="connsiteX14" fmla="*/ 162584 w 596445"/>
              <a:gd name="connsiteY14" fmla="*/ 401108 h 600166"/>
              <a:gd name="connsiteX15" fmla="*/ 325168 w 596445"/>
              <a:gd name="connsiteY15" fmla="*/ 346681 h 600166"/>
              <a:gd name="connsiteX16" fmla="*/ 325168 w 596445"/>
              <a:gd name="connsiteY16" fmla="*/ 426889 h 600166"/>
              <a:gd name="connsiteX17" fmla="*/ 162584 w 596445"/>
              <a:gd name="connsiteY17" fmla="*/ 486090 h 600166"/>
              <a:gd name="connsiteX18" fmla="*/ 0 w 596445"/>
              <a:gd name="connsiteY18" fmla="*/ 426889 h 600166"/>
              <a:gd name="connsiteX19" fmla="*/ 0 w 596445"/>
              <a:gd name="connsiteY19" fmla="*/ 346681 h 600166"/>
              <a:gd name="connsiteX20" fmla="*/ 596233 w 596445"/>
              <a:gd name="connsiteY20" fmla="*/ 254944 h 600166"/>
              <a:gd name="connsiteX21" fmla="*/ 596233 w 596445"/>
              <a:gd name="connsiteY21" fmla="*/ 335664 h 600166"/>
              <a:gd name="connsiteX22" fmla="*/ 433667 w 596445"/>
              <a:gd name="connsiteY22" fmla="*/ 394891 h 600166"/>
              <a:gd name="connsiteX23" fmla="*/ 347602 w 596445"/>
              <a:gd name="connsiteY23" fmla="*/ 385816 h 600166"/>
              <a:gd name="connsiteX24" fmla="*/ 347602 w 596445"/>
              <a:gd name="connsiteY24" fmla="*/ 301275 h 600166"/>
              <a:gd name="connsiteX25" fmla="*/ 433667 w 596445"/>
              <a:gd name="connsiteY25" fmla="*/ 309872 h 600166"/>
              <a:gd name="connsiteX26" fmla="*/ 596233 w 596445"/>
              <a:gd name="connsiteY26" fmla="*/ 254944 h 600166"/>
              <a:gd name="connsiteX27" fmla="*/ 162555 w 596445"/>
              <a:gd name="connsiteY27" fmla="*/ 205813 h 600166"/>
              <a:gd name="connsiteX28" fmla="*/ 325109 w 596445"/>
              <a:gd name="connsiteY28" fmla="*/ 265022 h 600166"/>
              <a:gd name="connsiteX29" fmla="*/ 325109 w 596445"/>
              <a:gd name="connsiteY29" fmla="*/ 313726 h 600166"/>
              <a:gd name="connsiteX30" fmla="*/ 162555 w 596445"/>
              <a:gd name="connsiteY30" fmla="*/ 372935 h 600166"/>
              <a:gd name="connsiteX31" fmla="*/ 0 w 596445"/>
              <a:gd name="connsiteY31" fmla="*/ 313726 h 600166"/>
              <a:gd name="connsiteX32" fmla="*/ 0 w 596445"/>
              <a:gd name="connsiteY32" fmla="*/ 265022 h 600166"/>
              <a:gd name="connsiteX33" fmla="*/ 162555 w 596445"/>
              <a:gd name="connsiteY33" fmla="*/ 205813 h 600166"/>
              <a:gd name="connsiteX34" fmla="*/ 67402 w 596445"/>
              <a:gd name="connsiteY34" fmla="*/ 140407 h 600166"/>
              <a:gd name="connsiteX35" fmla="*/ 139640 w 596445"/>
              <a:gd name="connsiteY35" fmla="*/ 185286 h 600166"/>
              <a:gd name="connsiteX36" fmla="*/ 67402 w 596445"/>
              <a:gd name="connsiteY36" fmla="*/ 194835 h 600166"/>
              <a:gd name="connsiteX37" fmla="*/ 433697 w 596445"/>
              <a:gd name="connsiteY37" fmla="*/ 114613 h 600166"/>
              <a:gd name="connsiteX38" fmla="*/ 596251 w 596445"/>
              <a:gd name="connsiteY38" fmla="*/ 173822 h 600166"/>
              <a:gd name="connsiteX39" fmla="*/ 596251 w 596445"/>
              <a:gd name="connsiteY39" fmla="*/ 222526 h 600166"/>
              <a:gd name="connsiteX40" fmla="*/ 433697 w 596445"/>
              <a:gd name="connsiteY40" fmla="*/ 281735 h 600166"/>
              <a:gd name="connsiteX41" fmla="*/ 347638 w 596445"/>
              <a:gd name="connsiteY41" fmla="*/ 272663 h 600166"/>
              <a:gd name="connsiteX42" fmla="*/ 347638 w 596445"/>
              <a:gd name="connsiteY42" fmla="*/ 269320 h 600166"/>
              <a:gd name="connsiteX43" fmla="*/ 322299 w 596445"/>
              <a:gd name="connsiteY43" fmla="*/ 223959 h 600166"/>
              <a:gd name="connsiteX44" fmla="*/ 321343 w 596445"/>
              <a:gd name="connsiteY44" fmla="*/ 223481 h 600166"/>
              <a:gd name="connsiteX45" fmla="*/ 271142 w 596445"/>
              <a:gd name="connsiteY45" fmla="*/ 199606 h 600166"/>
              <a:gd name="connsiteX46" fmla="*/ 271142 w 596445"/>
              <a:gd name="connsiteY46" fmla="*/ 173822 h 600166"/>
              <a:gd name="connsiteX47" fmla="*/ 433697 w 596445"/>
              <a:gd name="connsiteY47" fmla="*/ 114613 h 600166"/>
              <a:gd name="connsiteX48" fmla="*/ 229995 w 596445"/>
              <a:gd name="connsiteY48" fmla="*/ 0 h 600166"/>
              <a:gd name="connsiteX49" fmla="*/ 392588 w 596445"/>
              <a:gd name="connsiteY49" fmla="*/ 59209 h 600166"/>
              <a:gd name="connsiteX50" fmla="*/ 392588 w 596445"/>
              <a:gd name="connsiteY50" fmla="*/ 93588 h 600166"/>
              <a:gd name="connsiteX51" fmla="*/ 248167 w 596445"/>
              <a:gd name="connsiteY51" fmla="*/ 166645 h 600166"/>
              <a:gd name="connsiteX52" fmla="*/ 229995 w 596445"/>
              <a:gd name="connsiteY52" fmla="*/ 167122 h 600166"/>
              <a:gd name="connsiteX53" fmla="*/ 67402 w 596445"/>
              <a:gd name="connsiteY53" fmla="*/ 107913 h 600166"/>
              <a:gd name="connsiteX54" fmla="*/ 67402 w 596445"/>
              <a:gd name="connsiteY54" fmla="*/ 59209 h 600166"/>
              <a:gd name="connsiteX55" fmla="*/ 229995 w 596445"/>
              <a:gd name="connsiteY55" fmla="*/ 0 h 600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96445" h="600166">
                <a:moveTo>
                  <a:pt x="0" y="460757"/>
                </a:moveTo>
                <a:cubicBezTo>
                  <a:pt x="6217" y="491312"/>
                  <a:pt x="76989" y="515661"/>
                  <a:pt x="162584" y="515661"/>
                </a:cubicBezTo>
                <a:cubicBezTo>
                  <a:pt x="248658" y="515661"/>
                  <a:pt x="318952" y="491312"/>
                  <a:pt x="325168" y="460757"/>
                </a:cubicBezTo>
                <a:cubicBezTo>
                  <a:pt x="325646" y="462189"/>
                  <a:pt x="325168" y="540965"/>
                  <a:pt x="325168" y="540965"/>
                </a:cubicBezTo>
                <a:cubicBezTo>
                  <a:pt x="325168" y="573907"/>
                  <a:pt x="252483" y="600166"/>
                  <a:pt x="162584" y="600166"/>
                </a:cubicBezTo>
                <a:cubicBezTo>
                  <a:pt x="72685" y="600166"/>
                  <a:pt x="0" y="573907"/>
                  <a:pt x="0" y="540965"/>
                </a:cubicBezTo>
                <a:close/>
                <a:moveTo>
                  <a:pt x="596251" y="369557"/>
                </a:moveTo>
                <a:cubicBezTo>
                  <a:pt x="596251" y="370989"/>
                  <a:pt x="596251" y="449765"/>
                  <a:pt x="596251" y="449765"/>
                </a:cubicBezTo>
                <a:cubicBezTo>
                  <a:pt x="596251" y="482230"/>
                  <a:pt x="523569" y="508966"/>
                  <a:pt x="433673" y="508966"/>
                </a:cubicBezTo>
                <a:cubicBezTo>
                  <a:pt x="402114" y="508966"/>
                  <a:pt x="372467" y="505624"/>
                  <a:pt x="347602" y="499895"/>
                </a:cubicBezTo>
                <a:lnTo>
                  <a:pt x="347602" y="415390"/>
                </a:lnTo>
                <a:cubicBezTo>
                  <a:pt x="372467" y="421119"/>
                  <a:pt x="402114" y="424461"/>
                  <a:pt x="433673" y="424461"/>
                </a:cubicBezTo>
                <a:cubicBezTo>
                  <a:pt x="519266" y="424461"/>
                  <a:pt x="590035" y="400112"/>
                  <a:pt x="596251" y="369557"/>
                </a:cubicBezTo>
                <a:close/>
                <a:moveTo>
                  <a:pt x="0" y="346681"/>
                </a:moveTo>
                <a:cubicBezTo>
                  <a:pt x="6217" y="377236"/>
                  <a:pt x="76989" y="401108"/>
                  <a:pt x="162584" y="401108"/>
                </a:cubicBezTo>
                <a:cubicBezTo>
                  <a:pt x="248658" y="401108"/>
                  <a:pt x="318952" y="377236"/>
                  <a:pt x="325168" y="346681"/>
                </a:cubicBezTo>
                <a:cubicBezTo>
                  <a:pt x="325646" y="348113"/>
                  <a:pt x="325168" y="426889"/>
                  <a:pt x="325168" y="426889"/>
                </a:cubicBezTo>
                <a:cubicBezTo>
                  <a:pt x="325168" y="459354"/>
                  <a:pt x="252483" y="486090"/>
                  <a:pt x="162584" y="486090"/>
                </a:cubicBezTo>
                <a:cubicBezTo>
                  <a:pt x="72685" y="486090"/>
                  <a:pt x="0" y="459354"/>
                  <a:pt x="0" y="426889"/>
                </a:cubicBezTo>
                <a:cubicBezTo>
                  <a:pt x="0" y="426889"/>
                  <a:pt x="0" y="348113"/>
                  <a:pt x="0" y="346681"/>
                </a:cubicBezTo>
                <a:close/>
                <a:moveTo>
                  <a:pt x="596233" y="254944"/>
                </a:moveTo>
                <a:cubicBezTo>
                  <a:pt x="596711" y="256855"/>
                  <a:pt x="596233" y="335664"/>
                  <a:pt x="596233" y="335664"/>
                </a:cubicBezTo>
                <a:cubicBezTo>
                  <a:pt x="596233" y="368143"/>
                  <a:pt x="523556" y="394891"/>
                  <a:pt x="433667" y="394891"/>
                </a:cubicBezTo>
                <a:cubicBezTo>
                  <a:pt x="402110" y="394891"/>
                  <a:pt x="372465" y="391548"/>
                  <a:pt x="347602" y="385816"/>
                </a:cubicBezTo>
                <a:lnTo>
                  <a:pt x="347602" y="301275"/>
                </a:lnTo>
                <a:cubicBezTo>
                  <a:pt x="372465" y="306529"/>
                  <a:pt x="402110" y="309872"/>
                  <a:pt x="433667" y="309872"/>
                </a:cubicBezTo>
                <a:cubicBezTo>
                  <a:pt x="519253" y="309872"/>
                  <a:pt x="590017" y="285990"/>
                  <a:pt x="596233" y="254944"/>
                </a:cubicBezTo>
                <a:close/>
                <a:moveTo>
                  <a:pt x="162555" y="205813"/>
                </a:moveTo>
                <a:cubicBezTo>
                  <a:pt x="252438" y="205813"/>
                  <a:pt x="325109" y="232553"/>
                  <a:pt x="325109" y="265022"/>
                </a:cubicBezTo>
                <a:lnTo>
                  <a:pt x="325109" y="313726"/>
                </a:lnTo>
                <a:cubicBezTo>
                  <a:pt x="325109" y="346673"/>
                  <a:pt x="252438" y="372935"/>
                  <a:pt x="162555" y="372935"/>
                </a:cubicBezTo>
                <a:cubicBezTo>
                  <a:pt x="72672" y="372935"/>
                  <a:pt x="0" y="346673"/>
                  <a:pt x="0" y="313726"/>
                </a:cubicBezTo>
                <a:lnTo>
                  <a:pt x="0" y="265022"/>
                </a:lnTo>
                <a:cubicBezTo>
                  <a:pt x="0" y="232553"/>
                  <a:pt x="72672" y="205813"/>
                  <a:pt x="162555" y="205813"/>
                </a:cubicBezTo>
                <a:close/>
                <a:moveTo>
                  <a:pt x="67402" y="140407"/>
                </a:moveTo>
                <a:cubicBezTo>
                  <a:pt x="71229" y="159027"/>
                  <a:pt x="99455" y="175260"/>
                  <a:pt x="139640" y="185286"/>
                </a:cubicBezTo>
                <a:cubicBezTo>
                  <a:pt x="114764" y="186241"/>
                  <a:pt x="90365" y="189583"/>
                  <a:pt x="67402" y="194835"/>
                </a:cubicBezTo>
                <a:close/>
                <a:moveTo>
                  <a:pt x="433697" y="114613"/>
                </a:moveTo>
                <a:cubicBezTo>
                  <a:pt x="523580" y="114613"/>
                  <a:pt x="596251" y="141353"/>
                  <a:pt x="596251" y="173822"/>
                </a:cubicBezTo>
                <a:lnTo>
                  <a:pt x="596251" y="222526"/>
                </a:lnTo>
                <a:cubicBezTo>
                  <a:pt x="596251" y="255473"/>
                  <a:pt x="523580" y="281735"/>
                  <a:pt x="433697" y="281735"/>
                </a:cubicBezTo>
                <a:cubicBezTo>
                  <a:pt x="402142" y="281735"/>
                  <a:pt x="372500" y="278393"/>
                  <a:pt x="347638" y="272663"/>
                </a:cubicBezTo>
                <a:lnTo>
                  <a:pt x="347638" y="269320"/>
                </a:lnTo>
                <a:cubicBezTo>
                  <a:pt x="347638" y="251176"/>
                  <a:pt x="338076" y="236373"/>
                  <a:pt x="322299" y="223959"/>
                </a:cubicBezTo>
                <a:lnTo>
                  <a:pt x="321343" y="223481"/>
                </a:lnTo>
                <a:cubicBezTo>
                  <a:pt x="308434" y="213454"/>
                  <a:pt x="290744" y="205814"/>
                  <a:pt x="271142" y="199606"/>
                </a:cubicBezTo>
                <a:lnTo>
                  <a:pt x="271142" y="173822"/>
                </a:lnTo>
                <a:cubicBezTo>
                  <a:pt x="271142" y="141353"/>
                  <a:pt x="343814" y="114613"/>
                  <a:pt x="433697" y="114613"/>
                </a:cubicBezTo>
                <a:close/>
                <a:moveTo>
                  <a:pt x="229995" y="0"/>
                </a:moveTo>
                <a:cubicBezTo>
                  <a:pt x="319900" y="0"/>
                  <a:pt x="392588" y="26262"/>
                  <a:pt x="392588" y="59209"/>
                </a:cubicBezTo>
                <a:lnTo>
                  <a:pt x="392588" y="93588"/>
                </a:lnTo>
                <a:cubicBezTo>
                  <a:pt x="317987" y="99318"/>
                  <a:pt x="251515" y="124625"/>
                  <a:pt x="248167" y="166645"/>
                </a:cubicBezTo>
                <a:cubicBezTo>
                  <a:pt x="242429" y="167122"/>
                  <a:pt x="236212" y="167122"/>
                  <a:pt x="229995" y="167122"/>
                </a:cubicBezTo>
                <a:cubicBezTo>
                  <a:pt x="140569" y="167122"/>
                  <a:pt x="67402" y="140382"/>
                  <a:pt x="67402" y="107913"/>
                </a:cubicBezTo>
                <a:lnTo>
                  <a:pt x="67402" y="59209"/>
                </a:lnTo>
                <a:cubicBezTo>
                  <a:pt x="67402" y="26740"/>
                  <a:pt x="140569" y="0"/>
                  <a:pt x="229995"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34" name="矩形: 圆角 178">
            <a:extLst>
              <a:ext uri="{FF2B5EF4-FFF2-40B4-BE49-F238E27FC236}">
                <a16:creationId xmlns:a16="http://schemas.microsoft.com/office/drawing/2014/main" id="{3F4E0DC1-ACE7-5D0E-0CDA-89A512778548}"/>
              </a:ext>
            </a:extLst>
          </p:cNvPr>
          <p:cNvSpPr/>
          <p:nvPr/>
        </p:nvSpPr>
        <p:spPr>
          <a:xfrm>
            <a:off x="4521441" y="4379713"/>
            <a:ext cx="1034563" cy="398985"/>
          </a:xfrm>
          <a:prstGeom prst="roundRect">
            <a:avLst/>
          </a:prstGeom>
          <a:solidFill>
            <a:srgbClr val="00B7F1"/>
          </a:solidFill>
          <a:ln>
            <a:solidFill>
              <a:srgbClr val="4472C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One Plan</a:t>
            </a:r>
            <a:endParaRPr kumimoji="0" lang="zh-CN" altLang="en-US"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35" name="矩形: 圆角 178">
            <a:extLst>
              <a:ext uri="{FF2B5EF4-FFF2-40B4-BE49-F238E27FC236}">
                <a16:creationId xmlns:a16="http://schemas.microsoft.com/office/drawing/2014/main" id="{BD3C3538-4EEB-C3AE-A4D7-44298BCF7072}"/>
              </a:ext>
            </a:extLst>
          </p:cNvPr>
          <p:cNvSpPr/>
          <p:nvPr/>
        </p:nvSpPr>
        <p:spPr>
          <a:xfrm>
            <a:off x="3129170" y="4399909"/>
            <a:ext cx="863982" cy="317418"/>
          </a:xfrm>
          <a:prstGeom prst="roundRect">
            <a:avLst/>
          </a:prstGeom>
          <a:solidFill>
            <a:schemeClr val="bg1"/>
          </a:solidFill>
          <a:ln>
            <a:solidFill>
              <a:srgbClr val="23C1F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altLang="zh-CN" sz="1400" b="1" i="0" u="none" strike="noStrike" kern="1200" cap="none" spc="0" normalizeH="0" baseline="0" noProof="0" dirty="0">
                <a:ln>
                  <a:noFill/>
                </a:ln>
                <a:solidFill>
                  <a:srgbClr val="23C1F3"/>
                </a:solidFill>
                <a:effectLst/>
                <a:uLnTx/>
                <a:uFillTx/>
                <a:latin typeface="Arial" panose="020B0604020202020204" pitchFamily="34" charset="0"/>
                <a:ea typeface="微软雅黑" panose="020B0503020204020204" pitchFamily="34" charset="-122"/>
                <a:cs typeface="+mn-cs"/>
              </a:rPr>
              <a:t>ITP</a:t>
            </a:r>
            <a:endParaRPr kumimoji="0" lang="zh-CN" altLang="en-US" sz="1400" b="1" i="0" u="none" strike="noStrike" kern="1200" cap="none" spc="0" normalizeH="0" baseline="0" noProof="0" dirty="0">
              <a:ln>
                <a:noFill/>
              </a:ln>
              <a:solidFill>
                <a:srgbClr val="23C1F3"/>
              </a:solidFill>
              <a:effectLst/>
              <a:uLnTx/>
              <a:uFillTx/>
              <a:latin typeface="Arial" panose="020B0604020202020204" pitchFamily="34" charset="0"/>
              <a:ea typeface="微软雅黑" panose="020B0503020204020204" pitchFamily="34" charset="-122"/>
              <a:cs typeface="+mn-cs"/>
            </a:endParaRPr>
          </a:p>
        </p:txBody>
      </p:sp>
      <p:sp>
        <p:nvSpPr>
          <p:cNvPr id="36" name="矩形: 圆角 178">
            <a:extLst>
              <a:ext uri="{FF2B5EF4-FFF2-40B4-BE49-F238E27FC236}">
                <a16:creationId xmlns:a16="http://schemas.microsoft.com/office/drawing/2014/main" id="{8CD4B3D0-0B67-23F6-F99E-49723BE52191}"/>
              </a:ext>
            </a:extLst>
          </p:cNvPr>
          <p:cNvSpPr/>
          <p:nvPr/>
        </p:nvSpPr>
        <p:spPr>
          <a:xfrm>
            <a:off x="5868019" y="4428271"/>
            <a:ext cx="835610" cy="317418"/>
          </a:xfrm>
          <a:prstGeom prst="roundRect">
            <a:avLst/>
          </a:prstGeom>
          <a:solidFill>
            <a:schemeClr val="bg1"/>
          </a:solidFill>
          <a:ln>
            <a:solidFill>
              <a:srgbClr val="23C1F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altLang="zh-CN" sz="1400" b="1" i="0" u="none" strike="noStrike" kern="1200" cap="none" spc="0" normalizeH="0" baseline="0" noProof="0" dirty="0">
                <a:ln>
                  <a:noFill/>
                </a:ln>
                <a:solidFill>
                  <a:srgbClr val="23C1F3"/>
                </a:solidFill>
                <a:effectLst/>
                <a:uLnTx/>
                <a:uFillTx/>
                <a:latin typeface="Arial" panose="020B0604020202020204" pitchFamily="34" charset="0"/>
                <a:ea typeface="微软雅黑" panose="020B0503020204020204" pitchFamily="34" charset="-122"/>
                <a:cs typeface="+mn-cs"/>
              </a:rPr>
              <a:t>IOP</a:t>
            </a:r>
            <a:endParaRPr kumimoji="0" lang="zh-CN" altLang="en-US" sz="1400" b="1" i="0" u="none" strike="noStrike" kern="1200" cap="none" spc="0" normalizeH="0" baseline="0" noProof="0" dirty="0">
              <a:ln>
                <a:noFill/>
              </a:ln>
              <a:solidFill>
                <a:srgbClr val="23C1F3"/>
              </a:solidFill>
              <a:effectLst/>
              <a:uLnTx/>
              <a:uFillTx/>
              <a:latin typeface="Arial" panose="020B0604020202020204" pitchFamily="34" charset="0"/>
              <a:ea typeface="微软雅黑" panose="020B0503020204020204" pitchFamily="34" charset="-122"/>
              <a:cs typeface="+mn-cs"/>
            </a:endParaRPr>
          </a:p>
        </p:txBody>
      </p:sp>
      <p:sp>
        <p:nvSpPr>
          <p:cNvPr id="38" name="iconfont-11592-5504347">
            <a:extLst>
              <a:ext uri="{FF2B5EF4-FFF2-40B4-BE49-F238E27FC236}">
                <a16:creationId xmlns:a16="http://schemas.microsoft.com/office/drawing/2014/main" id="{FC83DC91-169A-C822-8114-BDB9BD320DBA}"/>
              </a:ext>
            </a:extLst>
          </p:cNvPr>
          <p:cNvSpPr/>
          <p:nvPr/>
        </p:nvSpPr>
        <p:spPr>
          <a:xfrm>
            <a:off x="3776113" y="5557406"/>
            <a:ext cx="296142" cy="296192"/>
          </a:xfrm>
          <a:custGeom>
            <a:avLst/>
            <a:gdLst>
              <a:gd name="T0" fmla="*/ 6788 w 12206"/>
              <a:gd name="T1" fmla="*/ 6172 h 12207"/>
              <a:gd name="T2" fmla="*/ 6171 w 12206"/>
              <a:gd name="T3" fmla="*/ 6789 h 12207"/>
              <a:gd name="T4" fmla="*/ 5932 w 12206"/>
              <a:gd name="T5" fmla="*/ 9918 h 12207"/>
              <a:gd name="T6" fmla="*/ 4584 w 12206"/>
              <a:gd name="T7" fmla="*/ 11265 h 12207"/>
              <a:gd name="T8" fmla="*/ 1172 w 12206"/>
              <a:gd name="T9" fmla="*/ 11262 h 12207"/>
              <a:gd name="T10" fmla="*/ 944 w 12206"/>
              <a:gd name="T11" fmla="*/ 11034 h 12207"/>
              <a:gd name="T12" fmla="*/ 941 w 12206"/>
              <a:gd name="T13" fmla="*/ 7623 h 12207"/>
              <a:gd name="T14" fmla="*/ 2289 w 12206"/>
              <a:gd name="T15" fmla="*/ 6275 h 12207"/>
              <a:gd name="T16" fmla="*/ 5417 w 12206"/>
              <a:gd name="T17" fmla="*/ 6035 h 12207"/>
              <a:gd name="T18" fmla="*/ 6034 w 12206"/>
              <a:gd name="T19" fmla="*/ 5417 h 12207"/>
              <a:gd name="T20" fmla="*/ 6274 w 12206"/>
              <a:gd name="T21" fmla="*/ 2289 h 12207"/>
              <a:gd name="T22" fmla="*/ 7622 w 12206"/>
              <a:gd name="T23" fmla="*/ 941 h 12207"/>
              <a:gd name="T24" fmla="*/ 11034 w 12206"/>
              <a:gd name="T25" fmla="*/ 945 h 12207"/>
              <a:gd name="T26" fmla="*/ 11262 w 12206"/>
              <a:gd name="T27" fmla="*/ 1173 h 12207"/>
              <a:gd name="T28" fmla="*/ 11265 w 12206"/>
              <a:gd name="T29" fmla="*/ 4584 h 12207"/>
              <a:gd name="T30" fmla="*/ 9917 w 12206"/>
              <a:gd name="T31" fmla="*/ 5932 h 12207"/>
              <a:gd name="T32" fmla="*/ 6789 w 12206"/>
              <a:gd name="T33" fmla="*/ 6172 h 12207"/>
              <a:gd name="T34" fmla="*/ 6788 w 12206"/>
              <a:gd name="T35" fmla="*/ 6172 h 12207"/>
              <a:gd name="T36" fmla="*/ 7559 w 12206"/>
              <a:gd name="T37" fmla="*/ 5401 h 12207"/>
              <a:gd name="T38" fmla="*/ 9163 w 12206"/>
              <a:gd name="T39" fmla="*/ 5178 h 12207"/>
              <a:gd name="T40" fmla="*/ 10511 w 12206"/>
              <a:gd name="T41" fmla="*/ 3830 h 12207"/>
              <a:gd name="T42" fmla="*/ 10508 w 12206"/>
              <a:gd name="T43" fmla="*/ 1927 h 12207"/>
              <a:gd name="T44" fmla="*/ 10279 w 12206"/>
              <a:gd name="T45" fmla="*/ 1699 h 12207"/>
              <a:gd name="T46" fmla="*/ 8377 w 12206"/>
              <a:gd name="T47" fmla="*/ 1696 h 12207"/>
              <a:gd name="T48" fmla="*/ 7029 w 12206"/>
              <a:gd name="T49" fmla="*/ 3044 h 12207"/>
              <a:gd name="T50" fmla="*/ 6805 w 12206"/>
              <a:gd name="T51" fmla="*/ 4646 h 12207"/>
              <a:gd name="T52" fmla="*/ 7593 w 12206"/>
              <a:gd name="T53" fmla="*/ 3859 h 12207"/>
              <a:gd name="T54" fmla="*/ 8340 w 12206"/>
              <a:gd name="T55" fmla="*/ 3866 h 12207"/>
              <a:gd name="T56" fmla="*/ 8347 w 12206"/>
              <a:gd name="T57" fmla="*/ 4613 h 12207"/>
              <a:gd name="T58" fmla="*/ 7559 w 12206"/>
              <a:gd name="T59" fmla="*/ 5401 h 12207"/>
              <a:gd name="T60" fmla="*/ 4646 w 12206"/>
              <a:gd name="T61" fmla="*/ 6806 h 12207"/>
              <a:gd name="T62" fmla="*/ 3043 w 12206"/>
              <a:gd name="T63" fmla="*/ 7029 h 12207"/>
              <a:gd name="T64" fmla="*/ 1695 w 12206"/>
              <a:gd name="T65" fmla="*/ 8377 h 12207"/>
              <a:gd name="T66" fmla="*/ 1698 w 12206"/>
              <a:gd name="T67" fmla="*/ 10280 h 12207"/>
              <a:gd name="T68" fmla="*/ 1926 w 12206"/>
              <a:gd name="T69" fmla="*/ 10508 h 12207"/>
              <a:gd name="T70" fmla="*/ 3829 w 12206"/>
              <a:gd name="T71" fmla="*/ 10511 h 12207"/>
              <a:gd name="T72" fmla="*/ 5177 w 12206"/>
              <a:gd name="T73" fmla="*/ 9163 h 12207"/>
              <a:gd name="T74" fmla="*/ 5400 w 12206"/>
              <a:gd name="T75" fmla="*/ 7560 h 12207"/>
              <a:gd name="T76" fmla="*/ 4613 w 12206"/>
              <a:gd name="T77" fmla="*/ 8347 h 12207"/>
              <a:gd name="T78" fmla="*/ 3859 w 12206"/>
              <a:gd name="T79" fmla="*/ 8347 h 12207"/>
              <a:gd name="T80" fmla="*/ 3859 w 12206"/>
              <a:gd name="T81" fmla="*/ 7593 h 12207"/>
              <a:gd name="T82" fmla="*/ 4646 w 12206"/>
              <a:gd name="T83" fmla="*/ 6806 h 12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06" h="12207">
                <a:moveTo>
                  <a:pt x="6788" y="6172"/>
                </a:moveTo>
                <a:lnTo>
                  <a:pt x="6171" y="6789"/>
                </a:lnTo>
                <a:cubicBezTo>
                  <a:pt x="6863" y="7733"/>
                  <a:pt x="6783" y="9066"/>
                  <a:pt x="5932" y="9918"/>
                </a:cubicBezTo>
                <a:lnTo>
                  <a:pt x="4584" y="11265"/>
                </a:lnTo>
                <a:cubicBezTo>
                  <a:pt x="3642" y="12207"/>
                  <a:pt x="2116" y="12205"/>
                  <a:pt x="1172" y="11262"/>
                </a:cubicBezTo>
                <a:lnTo>
                  <a:pt x="944" y="11034"/>
                </a:lnTo>
                <a:cubicBezTo>
                  <a:pt x="2" y="10092"/>
                  <a:pt x="0" y="8564"/>
                  <a:pt x="941" y="7623"/>
                </a:cubicBezTo>
                <a:lnTo>
                  <a:pt x="2289" y="6275"/>
                </a:lnTo>
                <a:cubicBezTo>
                  <a:pt x="3141" y="5423"/>
                  <a:pt x="4473" y="5343"/>
                  <a:pt x="5417" y="6035"/>
                </a:cubicBezTo>
                <a:lnTo>
                  <a:pt x="6034" y="5417"/>
                </a:lnTo>
                <a:cubicBezTo>
                  <a:pt x="5343" y="4473"/>
                  <a:pt x="5423" y="3141"/>
                  <a:pt x="6274" y="2289"/>
                </a:cubicBezTo>
                <a:lnTo>
                  <a:pt x="7622" y="941"/>
                </a:lnTo>
                <a:cubicBezTo>
                  <a:pt x="8564" y="0"/>
                  <a:pt x="10090" y="2"/>
                  <a:pt x="11034" y="945"/>
                </a:cubicBezTo>
                <a:lnTo>
                  <a:pt x="11262" y="1173"/>
                </a:lnTo>
                <a:cubicBezTo>
                  <a:pt x="12204" y="2115"/>
                  <a:pt x="12206" y="3643"/>
                  <a:pt x="11265" y="4584"/>
                </a:cubicBezTo>
                <a:lnTo>
                  <a:pt x="9917" y="5932"/>
                </a:lnTo>
                <a:cubicBezTo>
                  <a:pt x="9065" y="6784"/>
                  <a:pt x="7733" y="6864"/>
                  <a:pt x="6789" y="6172"/>
                </a:cubicBezTo>
                <a:lnTo>
                  <a:pt x="6788" y="6172"/>
                </a:lnTo>
                <a:close/>
                <a:moveTo>
                  <a:pt x="7559" y="5401"/>
                </a:moveTo>
                <a:cubicBezTo>
                  <a:pt x="8084" y="5693"/>
                  <a:pt x="8738" y="5602"/>
                  <a:pt x="9163" y="5178"/>
                </a:cubicBezTo>
                <a:lnTo>
                  <a:pt x="10511" y="3830"/>
                </a:lnTo>
                <a:cubicBezTo>
                  <a:pt x="11035" y="3306"/>
                  <a:pt x="11034" y="2453"/>
                  <a:pt x="10508" y="1927"/>
                </a:cubicBezTo>
                <a:lnTo>
                  <a:pt x="10279" y="1699"/>
                </a:lnTo>
                <a:cubicBezTo>
                  <a:pt x="9755" y="1172"/>
                  <a:pt x="8903" y="1171"/>
                  <a:pt x="8377" y="1696"/>
                </a:cubicBezTo>
                <a:lnTo>
                  <a:pt x="7029" y="3044"/>
                </a:lnTo>
                <a:cubicBezTo>
                  <a:pt x="6605" y="3468"/>
                  <a:pt x="6514" y="4122"/>
                  <a:pt x="6805" y="4646"/>
                </a:cubicBezTo>
                <a:lnTo>
                  <a:pt x="7593" y="3859"/>
                </a:lnTo>
                <a:cubicBezTo>
                  <a:pt x="7802" y="3657"/>
                  <a:pt x="8135" y="3660"/>
                  <a:pt x="8340" y="3866"/>
                </a:cubicBezTo>
                <a:cubicBezTo>
                  <a:pt x="8546" y="4071"/>
                  <a:pt x="8549" y="4404"/>
                  <a:pt x="8347" y="4613"/>
                </a:cubicBezTo>
                <a:lnTo>
                  <a:pt x="7559" y="5401"/>
                </a:lnTo>
                <a:close/>
                <a:moveTo>
                  <a:pt x="4646" y="6806"/>
                </a:moveTo>
                <a:cubicBezTo>
                  <a:pt x="4122" y="6514"/>
                  <a:pt x="3468" y="6605"/>
                  <a:pt x="3043" y="7029"/>
                </a:cubicBezTo>
                <a:lnTo>
                  <a:pt x="1695" y="8377"/>
                </a:lnTo>
                <a:cubicBezTo>
                  <a:pt x="1171" y="8901"/>
                  <a:pt x="1172" y="9753"/>
                  <a:pt x="1698" y="10280"/>
                </a:cubicBezTo>
                <a:lnTo>
                  <a:pt x="1926" y="10508"/>
                </a:lnTo>
                <a:cubicBezTo>
                  <a:pt x="2451" y="11035"/>
                  <a:pt x="3303" y="11036"/>
                  <a:pt x="3829" y="10511"/>
                </a:cubicBezTo>
                <a:lnTo>
                  <a:pt x="5177" y="9163"/>
                </a:lnTo>
                <a:cubicBezTo>
                  <a:pt x="5601" y="8738"/>
                  <a:pt x="5692" y="8084"/>
                  <a:pt x="5400" y="7560"/>
                </a:cubicBezTo>
                <a:lnTo>
                  <a:pt x="4613" y="8347"/>
                </a:lnTo>
                <a:cubicBezTo>
                  <a:pt x="4405" y="8555"/>
                  <a:pt x="4067" y="8555"/>
                  <a:pt x="3859" y="8347"/>
                </a:cubicBezTo>
                <a:cubicBezTo>
                  <a:pt x="3651" y="8139"/>
                  <a:pt x="3650" y="7801"/>
                  <a:pt x="3859" y="7593"/>
                </a:cubicBezTo>
                <a:lnTo>
                  <a:pt x="4646" y="6806"/>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852" rtl="0" eaLnBrk="1" fontAlgn="auto" latinLnBrk="0" hangingPunct="1">
              <a:lnSpc>
                <a:spcPct val="100000"/>
              </a:lnSpc>
              <a:spcBef>
                <a:spcPts val="0"/>
              </a:spcBef>
              <a:spcAft>
                <a:spcPts val="0"/>
              </a:spcAft>
              <a:buClrTx/>
              <a:buSzTx/>
              <a:buFontTx/>
              <a:buNone/>
              <a:tabLst/>
              <a:defRPr/>
            </a:pPr>
            <a:endParaRPr kumimoji="0" lang="en-US" sz="1798"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39" name="矩形: 圆角 178">
            <a:extLst>
              <a:ext uri="{FF2B5EF4-FFF2-40B4-BE49-F238E27FC236}">
                <a16:creationId xmlns:a16="http://schemas.microsoft.com/office/drawing/2014/main" id="{A1CA2E61-8576-4E07-EEF7-EE55B950247F}"/>
              </a:ext>
            </a:extLst>
          </p:cNvPr>
          <p:cNvSpPr/>
          <p:nvPr/>
        </p:nvSpPr>
        <p:spPr>
          <a:xfrm>
            <a:off x="4022289" y="6180937"/>
            <a:ext cx="1034563" cy="342812"/>
          </a:xfrm>
          <a:prstGeom prst="roundRect">
            <a:avLst/>
          </a:prstGeom>
          <a:solidFill>
            <a:srgbClr val="4D88C3"/>
          </a:solidFill>
          <a:ln w="9525">
            <a:solidFill>
              <a:srgbClr val="00B0F0"/>
            </a:solidFill>
          </a:ln>
        </p:spPr>
        <p:txBody>
          <a:bodyPr wrap="square" rtlCol="0" anchor="t">
            <a:noAutofit/>
          </a:bodyPr>
          <a:lstStyle/>
          <a:p>
            <a:pPr marL="0" marR="0" lvl="0" indent="0" algn="ctr" defTabSz="913852" rtl="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MES</a:t>
            </a:r>
            <a:endParaRPr kumimoji="0" lang="zh-CN" altLang="en-US" sz="1400" b="1"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40" name="矩形: 圆角 178">
            <a:extLst>
              <a:ext uri="{FF2B5EF4-FFF2-40B4-BE49-F238E27FC236}">
                <a16:creationId xmlns:a16="http://schemas.microsoft.com/office/drawing/2014/main" id="{EA83E963-1541-31B2-7892-50C4DCFD4C03}"/>
              </a:ext>
            </a:extLst>
          </p:cNvPr>
          <p:cNvSpPr/>
          <p:nvPr/>
        </p:nvSpPr>
        <p:spPr>
          <a:xfrm>
            <a:off x="6490899" y="6195097"/>
            <a:ext cx="1034563" cy="342812"/>
          </a:xfrm>
          <a:prstGeom prst="roundRect">
            <a:avLst/>
          </a:prstGeom>
          <a:solidFill>
            <a:srgbClr val="4D88C3"/>
          </a:solidFill>
          <a:ln w="9525">
            <a:solidFill>
              <a:srgbClr val="00B0F0"/>
            </a:solidFill>
          </a:ln>
        </p:spPr>
        <p:txBody>
          <a:bodyPr wrap="square" rtlCol="0" anchor="t">
            <a:noAutofit/>
          </a:bodyPr>
          <a:lstStyle/>
          <a:p>
            <a:pPr marL="0" marR="0" lvl="0" indent="0" algn="ctr" defTabSz="913852" rtl="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a:t>
            </a:r>
            <a:endParaRPr kumimoji="0" lang="zh-CN" altLang="en-US" sz="1400" b="1"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cxnSp>
        <p:nvCxnSpPr>
          <p:cNvPr id="41" name="直接箭头连接符 40">
            <a:extLst>
              <a:ext uri="{FF2B5EF4-FFF2-40B4-BE49-F238E27FC236}">
                <a16:creationId xmlns:a16="http://schemas.microsoft.com/office/drawing/2014/main" id="{435F9155-D608-94CA-A97C-FB947EA0A4E7}"/>
              </a:ext>
            </a:extLst>
          </p:cNvPr>
          <p:cNvCxnSpPr/>
          <p:nvPr/>
        </p:nvCxnSpPr>
        <p:spPr>
          <a:xfrm>
            <a:off x="3492495" y="5884194"/>
            <a:ext cx="0" cy="276611"/>
          </a:xfrm>
          <a:prstGeom prst="straightConnector1">
            <a:avLst/>
          </a:prstGeom>
          <a:ln>
            <a:solidFill>
              <a:schemeClr val="bg1"/>
            </a:solidFill>
            <a:headEnd type="stealth"/>
            <a:tailEnd type="stealth"/>
          </a:ln>
        </p:spPr>
        <p:style>
          <a:lnRef idx="1">
            <a:schemeClr val="accent4"/>
          </a:lnRef>
          <a:fillRef idx="0">
            <a:schemeClr val="accent4"/>
          </a:fillRef>
          <a:effectRef idx="0">
            <a:schemeClr val="accent4"/>
          </a:effectRef>
          <a:fontRef idx="minor">
            <a:schemeClr val="tx1"/>
          </a:fontRef>
        </p:style>
      </p:cxnSp>
      <p:cxnSp>
        <p:nvCxnSpPr>
          <p:cNvPr id="42" name="直接箭头连接符 41">
            <a:extLst>
              <a:ext uri="{FF2B5EF4-FFF2-40B4-BE49-F238E27FC236}">
                <a16:creationId xmlns:a16="http://schemas.microsoft.com/office/drawing/2014/main" id="{896D8C1D-2BBC-C952-050C-89DD9A8C902B}"/>
              </a:ext>
            </a:extLst>
          </p:cNvPr>
          <p:cNvCxnSpPr/>
          <p:nvPr/>
        </p:nvCxnSpPr>
        <p:spPr>
          <a:xfrm>
            <a:off x="4575861" y="5906888"/>
            <a:ext cx="0" cy="276611"/>
          </a:xfrm>
          <a:prstGeom prst="straightConnector1">
            <a:avLst/>
          </a:prstGeom>
          <a:ln>
            <a:solidFill>
              <a:schemeClr val="bg1"/>
            </a:solidFill>
            <a:headEnd type="stealth"/>
            <a:tailEnd type="stealth"/>
          </a:ln>
        </p:spPr>
        <p:style>
          <a:lnRef idx="1">
            <a:schemeClr val="accent4"/>
          </a:lnRef>
          <a:fillRef idx="0">
            <a:schemeClr val="accent4"/>
          </a:fillRef>
          <a:effectRef idx="0">
            <a:schemeClr val="accent4"/>
          </a:effectRef>
          <a:fontRef idx="minor">
            <a:schemeClr val="tx1"/>
          </a:fontRef>
        </p:style>
      </p:cxnSp>
      <p:cxnSp>
        <p:nvCxnSpPr>
          <p:cNvPr id="43" name="直接箭头连接符 42">
            <a:extLst>
              <a:ext uri="{FF2B5EF4-FFF2-40B4-BE49-F238E27FC236}">
                <a16:creationId xmlns:a16="http://schemas.microsoft.com/office/drawing/2014/main" id="{66CC18C9-6A97-A1AE-B23C-5A50D8258FE9}"/>
              </a:ext>
            </a:extLst>
          </p:cNvPr>
          <p:cNvCxnSpPr/>
          <p:nvPr/>
        </p:nvCxnSpPr>
        <p:spPr>
          <a:xfrm>
            <a:off x="7008180" y="5904326"/>
            <a:ext cx="0" cy="276611"/>
          </a:xfrm>
          <a:prstGeom prst="straightConnector1">
            <a:avLst/>
          </a:prstGeom>
          <a:ln w="19050">
            <a:solidFill>
              <a:schemeClr val="bg1"/>
            </a:solidFill>
            <a:headEnd type="stealth"/>
            <a:tailEnd type="stealth"/>
          </a:ln>
        </p:spPr>
        <p:style>
          <a:lnRef idx="1">
            <a:schemeClr val="accent1"/>
          </a:lnRef>
          <a:fillRef idx="0">
            <a:schemeClr val="accent1"/>
          </a:fillRef>
          <a:effectRef idx="0">
            <a:schemeClr val="accent1"/>
          </a:effectRef>
          <a:fontRef idx="minor">
            <a:schemeClr val="tx1"/>
          </a:fontRef>
        </p:style>
      </p:cxnSp>
      <p:sp>
        <p:nvSpPr>
          <p:cNvPr id="44" name="TextBox 141">
            <a:extLst>
              <a:ext uri="{FF2B5EF4-FFF2-40B4-BE49-F238E27FC236}">
                <a16:creationId xmlns:a16="http://schemas.microsoft.com/office/drawing/2014/main" id="{53F6D528-E595-94BF-62AE-2A18A7A01275}"/>
              </a:ext>
            </a:extLst>
          </p:cNvPr>
          <p:cNvSpPr txBox="1"/>
          <p:nvPr/>
        </p:nvSpPr>
        <p:spPr>
          <a:xfrm>
            <a:off x="4131617" y="5449523"/>
            <a:ext cx="2139631" cy="427612"/>
          </a:xfrm>
          <a:prstGeom prst="rect">
            <a:avLst/>
          </a:prstGeom>
          <a:noFill/>
          <a:ln w="9525">
            <a:noFill/>
          </a:ln>
        </p:spPr>
        <p:txBody>
          <a:bodyPr wrap="square" rtlCol="0" anchor="ctr">
            <a:noAutofit/>
          </a:bodyPr>
          <a:lstStyle/>
          <a:p>
            <a:pPr marL="0" marR="0" lvl="0" indent="0" algn="ctr" defTabSz="913852" rtl="0" eaLnBrk="1" fontAlgn="base" latinLnBrk="0" hangingPunct="1">
              <a:lnSpc>
                <a:spcPct val="100000"/>
              </a:lnSpc>
              <a:spcBef>
                <a:spcPct val="0"/>
              </a:spcBef>
              <a:spcAft>
                <a:spcPct val="0"/>
              </a:spcAft>
              <a:buClr>
                <a:srgbClr val="F8CCCC"/>
              </a:buClr>
              <a:buSzTx/>
              <a:buFontTx/>
              <a:buNone/>
              <a:tabLst/>
              <a:defRPr/>
            </a:pPr>
            <a:r>
              <a:rPr kumimoji="0" lang="zh-CN" altLang="en-US"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Arial" pitchFamily="34" charset="0"/>
              </a:rPr>
              <a:t>接口平台及数据集成</a:t>
            </a:r>
            <a:endParaRPr kumimoji="0" lang="en-US" altLang="zh-CN" sz="1600" b="1" i="0" u="sng"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Arial" pitchFamily="34" charset="0"/>
            </a:endParaRPr>
          </a:p>
        </p:txBody>
      </p:sp>
      <p:sp>
        <p:nvSpPr>
          <p:cNvPr id="45" name="Rounded Rectangle 132">
            <a:extLst>
              <a:ext uri="{FF2B5EF4-FFF2-40B4-BE49-F238E27FC236}">
                <a16:creationId xmlns:a16="http://schemas.microsoft.com/office/drawing/2014/main" id="{0B689590-97EE-7E33-D4C6-166F35AAD0DB}"/>
              </a:ext>
            </a:extLst>
          </p:cNvPr>
          <p:cNvSpPr>
            <a:spLocks/>
          </p:cNvSpPr>
          <p:nvPr/>
        </p:nvSpPr>
        <p:spPr>
          <a:xfrm>
            <a:off x="7689160" y="5533555"/>
            <a:ext cx="1079719" cy="462254"/>
          </a:xfrm>
          <a:prstGeom prst="roundRect">
            <a:avLst/>
          </a:prstGeom>
          <a:ln>
            <a:noFill/>
          </a:ln>
        </p:spPr>
        <p:style>
          <a:lnRef idx="2">
            <a:schemeClr val="accent5"/>
          </a:lnRef>
          <a:fillRef idx="1">
            <a:schemeClr val="lt1"/>
          </a:fillRef>
          <a:effectRef idx="0">
            <a:schemeClr val="accent5"/>
          </a:effectRef>
          <a:fontRef idx="minor">
            <a:schemeClr val="dk1"/>
          </a:fontRef>
        </p:style>
        <p:txBody>
          <a:bodyPr rtlCol="0" anchor="ctr"/>
          <a:lstStyle/>
          <a:p>
            <a:pPr marL="0" marR="0" lvl="0" indent="0" algn="ctr" defTabSz="121789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rPr>
              <a:t>计划调度</a:t>
            </a:r>
            <a:endParaRPr kumimoji="0" lang="en-US" sz="1400" b="0" i="0" u="none" strike="noStrike" kern="1200" cap="none" spc="0" normalizeH="0" baseline="0" noProof="0" dirty="0">
              <a:ln w="0"/>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46" name="矩形: 圆角 178">
            <a:extLst>
              <a:ext uri="{FF2B5EF4-FFF2-40B4-BE49-F238E27FC236}">
                <a16:creationId xmlns:a16="http://schemas.microsoft.com/office/drawing/2014/main" id="{76A55892-DF4F-FBF1-68FD-62831762DEE4}"/>
              </a:ext>
            </a:extLst>
          </p:cNvPr>
          <p:cNvSpPr/>
          <p:nvPr/>
        </p:nvSpPr>
        <p:spPr>
          <a:xfrm>
            <a:off x="4587458" y="3959767"/>
            <a:ext cx="835610" cy="317418"/>
          </a:xfrm>
          <a:prstGeom prst="roundRect">
            <a:avLst/>
          </a:prstGeom>
          <a:solidFill>
            <a:schemeClr val="bg1"/>
          </a:solidFill>
          <a:ln>
            <a:solidFill>
              <a:srgbClr val="23C1F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altLang="zh-CN" sz="1400" b="1" i="0" u="none" strike="noStrike" kern="1200" cap="none" spc="0" normalizeH="0" baseline="0" noProof="0" dirty="0">
                <a:ln>
                  <a:noFill/>
                </a:ln>
                <a:solidFill>
                  <a:srgbClr val="23C1F3"/>
                </a:solidFill>
                <a:effectLst/>
                <a:uLnTx/>
                <a:uFillTx/>
                <a:latin typeface="Arial" panose="020B0604020202020204" pitchFamily="34" charset="0"/>
                <a:ea typeface="微软雅黑" panose="020B0503020204020204" pitchFamily="34" charset="-122"/>
                <a:cs typeface="+mn-cs"/>
              </a:rPr>
              <a:t>IBP</a:t>
            </a:r>
            <a:endParaRPr kumimoji="0" lang="zh-CN" altLang="en-US" sz="1400" b="1" i="0" u="none" strike="noStrike" kern="1200" cap="none" spc="0" normalizeH="0" baseline="0" noProof="0" dirty="0">
              <a:ln>
                <a:noFill/>
              </a:ln>
              <a:solidFill>
                <a:srgbClr val="23C1F3"/>
              </a:solidFill>
              <a:effectLst/>
              <a:uLnTx/>
              <a:uFillTx/>
              <a:latin typeface="Arial" panose="020B0604020202020204" pitchFamily="34" charset="0"/>
              <a:ea typeface="微软雅黑" panose="020B0503020204020204" pitchFamily="34" charset="-122"/>
              <a:cs typeface="+mn-cs"/>
            </a:endParaRPr>
          </a:p>
        </p:txBody>
      </p:sp>
      <p:cxnSp>
        <p:nvCxnSpPr>
          <p:cNvPr id="47" name="直接连接符 46">
            <a:extLst>
              <a:ext uri="{FF2B5EF4-FFF2-40B4-BE49-F238E27FC236}">
                <a16:creationId xmlns:a16="http://schemas.microsoft.com/office/drawing/2014/main" id="{7835975B-5640-7E02-8603-1222FCEAC4FD}"/>
              </a:ext>
            </a:extLst>
          </p:cNvPr>
          <p:cNvCxnSpPr/>
          <p:nvPr/>
        </p:nvCxnSpPr>
        <p:spPr>
          <a:xfrm>
            <a:off x="838461" y="2387940"/>
            <a:ext cx="8407807" cy="0"/>
          </a:xfrm>
          <a:prstGeom prst="line">
            <a:avLst/>
          </a:prstGeom>
          <a:ln>
            <a:solidFill>
              <a:srgbClr val="4472C4"/>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940ED010-10CD-07D1-B9EB-928CA537CFE1}"/>
              </a:ext>
            </a:extLst>
          </p:cNvPr>
          <p:cNvCxnSpPr/>
          <p:nvPr/>
        </p:nvCxnSpPr>
        <p:spPr>
          <a:xfrm>
            <a:off x="838461" y="6608777"/>
            <a:ext cx="6739321" cy="0"/>
          </a:xfrm>
          <a:prstGeom prst="line">
            <a:avLst/>
          </a:prstGeom>
          <a:ln>
            <a:solidFill>
              <a:srgbClr val="4472C4"/>
            </a:solidFill>
          </a:ln>
        </p:spPr>
        <p:style>
          <a:lnRef idx="1">
            <a:schemeClr val="accent1"/>
          </a:lnRef>
          <a:fillRef idx="0">
            <a:schemeClr val="accent1"/>
          </a:fillRef>
          <a:effectRef idx="0">
            <a:schemeClr val="accent1"/>
          </a:effectRef>
          <a:fontRef idx="minor">
            <a:schemeClr val="tx1"/>
          </a:fontRef>
        </p:style>
      </p:cxnSp>
      <p:sp>
        <p:nvSpPr>
          <p:cNvPr id="49" name="Rectangle 75">
            <a:extLst>
              <a:ext uri="{FF2B5EF4-FFF2-40B4-BE49-F238E27FC236}">
                <a16:creationId xmlns:a16="http://schemas.microsoft.com/office/drawing/2014/main" id="{A2169B1A-9E37-3235-5EC5-C2CD69F58694}"/>
              </a:ext>
            </a:extLst>
          </p:cNvPr>
          <p:cNvSpPr>
            <a:spLocks/>
          </p:cNvSpPr>
          <p:nvPr/>
        </p:nvSpPr>
        <p:spPr>
          <a:xfrm>
            <a:off x="2653179" y="1867932"/>
            <a:ext cx="1137589" cy="416581"/>
          </a:xfrm>
          <a:prstGeom prst="rect">
            <a:avLst/>
          </a:prstGeom>
          <a:solidFill>
            <a:srgbClr val="333F48"/>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Calibri" panose="020F0502020204030204" pitchFamily="34" charset="0"/>
              </a:rPr>
              <a:t>数据可视化</a:t>
            </a:r>
            <a:endParaRPr kumimoji="0" lang="en-US" altLang="zh-CN" sz="14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Calibri" panose="020F0502020204030204" pitchFamily="34" charset="0"/>
            </a:endParaRPr>
          </a:p>
        </p:txBody>
      </p:sp>
      <p:sp>
        <p:nvSpPr>
          <p:cNvPr id="50" name="Rectangle 82">
            <a:extLst>
              <a:ext uri="{FF2B5EF4-FFF2-40B4-BE49-F238E27FC236}">
                <a16:creationId xmlns:a16="http://schemas.microsoft.com/office/drawing/2014/main" id="{AEBA496A-CBEF-C2EC-9C4E-60001B165BA1}"/>
              </a:ext>
            </a:extLst>
          </p:cNvPr>
          <p:cNvSpPr>
            <a:spLocks/>
          </p:cNvSpPr>
          <p:nvPr/>
        </p:nvSpPr>
        <p:spPr>
          <a:xfrm>
            <a:off x="3967703" y="1867932"/>
            <a:ext cx="1328075" cy="416581"/>
          </a:xfrm>
          <a:prstGeom prst="rect">
            <a:avLst/>
          </a:prstGeom>
          <a:solidFill>
            <a:schemeClr val="accent3">
              <a:lumMod val="60000"/>
              <a:lumOff val="40000"/>
            </a:scheme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Calibri" panose="020F0502020204030204" pitchFamily="34" charset="0"/>
              </a:rPr>
              <a:t>可配置仪表盘</a:t>
            </a:r>
            <a:endParaRPr kumimoji="0" lang="en-US" altLang="zh-CN" sz="14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Calibri" panose="020F0502020204030204" pitchFamily="34" charset="0"/>
            </a:endParaRPr>
          </a:p>
        </p:txBody>
      </p:sp>
      <p:sp>
        <p:nvSpPr>
          <p:cNvPr id="51" name="Rectangle 86">
            <a:extLst>
              <a:ext uri="{FF2B5EF4-FFF2-40B4-BE49-F238E27FC236}">
                <a16:creationId xmlns:a16="http://schemas.microsoft.com/office/drawing/2014/main" id="{7BFD7C8D-7597-4D8F-D9D2-66415E4910A4}"/>
              </a:ext>
            </a:extLst>
          </p:cNvPr>
          <p:cNvSpPr>
            <a:spLocks/>
          </p:cNvSpPr>
          <p:nvPr/>
        </p:nvSpPr>
        <p:spPr>
          <a:xfrm>
            <a:off x="5501101" y="1866332"/>
            <a:ext cx="1759235" cy="416581"/>
          </a:xfrm>
          <a:prstGeom prst="rect">
            <a:avLst/>
          </a:prstGeom>
          <a:solidFill>
            <a:schemeClr val="accent3">
              <a:lumMod val="50000"/>
            </a:scheme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Calibri" panose="020F0502020204030204" pitchFamily="34" charset="0"/>
              </a:rPr>
              <a:t>实时监</a:t>
            </a:r>
            <a:r>
              <a:rPr kumimoji="0" lang="en-US" altLang="zh-CN" sz="14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Calibri" panose="020F0502020204030204" pitchFamily="34" charset="0"/>
              </a:rPr>
              <a:t>&amp;</a:t>
            </a:r>
            <a:r>
              <a:rPr kumimoji="0" lang="zh-CN" altLang="en-US" sz="14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Calibri" panose="020F0502020204030204" pitchFamily="34" charset="0"/>
              </a:rPr>
              <a:t>响应</a:t>
            </a:r>
            <a:r>
              <a:rPr kumimoji="0" lang="en-US" altLang="zh-CN" sz="14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Calibri" panose="020F0502020204030204" pitchFamily="34" charset="0"/>
              </a:rPr>
              <a:t>Simulation</a:t>
            </a:r>
            <a:endParaRPr kumimoji="0" lang="en-US" sz="14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Calibri" panose="020F0502020204030204" pitchFamily="34" charset="0"/>
            </a:endParaRPr>
          </a:p>
        </p:txBody>
      </p:sp>
      <p:pic>
        <p:nvPicPr>
          <p:cNvPr id="52" name="CustomIcon">
            <a:extLst>
              <a:ext uri="{FF2B5EF4-FFF2-40B4-BE49-F238E27FC236}">
                <a16:creationId xmlns:a16="http://schemas.microsoft.com/office/drawing/2014/main" id="{F6238B03-0422-E8CF-8947-7679217A51C7}"/>
              </a:ext>
            </a:extLst>
          </p:cNvPr>
          <p:cNvPicPr>
            <a:picLocks/>
          </p:cNvPicPr>
          <p:nvPr>
            <p:custDataLst>
              <p:tags r:id="rId1"/>
            </p:custDataLst>
          </p:nvPr>
        </p:nvPicPr>
        <p:blipFill>
          <a:blip r:embed="rId4" cstate="email">
            <a:extLst>
              <a:ext uri="{28A0092B-C50C-407E-A947-70E740481C1C}">
                <a14:useLocalDpi xmlns:a14="http://schemas.microsoft.com/office/drawing/2010/main"/>
              </a:ext>
            </a:extLst>
          </a:blip>
          <a:stretch>
            <a:fillRect/>
          </a:stretch>
        </p:blipFill>
        <p:spPr>
          <a:xfrm>
            <a:off x="1032496" y="1884390"/>
            <a:ext cx="348078" cy="385050"/>
          </a:xfrm>
          <a:prstGeom prst="rect">
            <a:avLst/>
          </a:prstGeom>
        </p:spPr>
      </p:pic>
      <p:sp>
        <p:nvSpPr>
          <p:cNvPr id="53" name="Rectangle 86">
            <a:extLst>
              <a:ext uri="{FF2B5EF4-FFF2-40B4-BE49-F238E27FC236}">
                <a16:creationId xmlns:a16="http://schemas.microsoft.com/office/drawing/2014/main" id="{42B5A99C-E51E-34B7-2777-D993BBC0DCCF}"/>
              </a:ext>
            </a:extLst>
          </p:cNvPr>
          <p:cNvSpPr>
            <a:spLocks/>
          </p:cNvSpPr>
          <p:nvPr/>
        </p:nvSpPr>
        <p:spPr>
          <a:xfrm>
            <a:off x="7408883" y="1867932"/>
            <a:ext cx="1396676" cy="416581"/>
          </a:xfrm>
          <a:prstGeom prst="rect">
            <a:avLst/>
          </a:prstGeom>
          <a:solidFill>
            <a:srgbClr val="00B050"/>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Calibri" panose="020F0502020204030204" pitchFamily="34" charset="0"/>
              </a:rPr>
              <a:t>  闭环管理中心</a:t>
            </a:r>
            <a:endParaRPr kumimoji="0" lang="en-US" sz="14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Calibri" panose="020F0502020204030204" pitchFamily="34" charset="0"/>
            </a:endParaRPr>
          </a:p>
        </p:txBody>
      </p:sp>
      <p:sp>
        <p:nvSpPr>
          <p:cNvPr id="54" name="Isosceles Triangle 33">
            <a:extLst>
              <a:ext uri="{FF2B5EF4-FFF2-40B4-BE49-F238E27FC236}">
                <a16:creationId xmlns:a16="http://schemas.microsoft.com/office/drawing/2014/main" id="{96925D2C-B908-8FD6-2B79-7CE693C18A12}"/>
              </a:ext>
            </a:extLst>
          </p:cNvPr>
          <p:cNvSpPr/>
          <p:nvPr/>
        </p:nvSpPr>
        <p:spPr>
          <a:xfrm>
            <a:off x="288420" y="1160663"/>
            <a:ext cx="8626018" cy="636499"/>
          </a:xfrm>
          <a:prstGeom prst="triangle">
            <a:avLst/>
          </a:prstGeom>
          <a:solidFill>
            <a:srgbClr val="3E8DDD"/>
          </a:solidFill>
          <a:ln w="9525" cap="flat" cmpd="sng" algn="ctr">
            <a:solidFill>
              <a:schemeClr val="tx1"/>
            </a:solidFill>
            <a:prstDash val="solid"/>
          </a:ln>
          <a:effectLst>
            <a:outerShdw blurRad="50800" dist="38100" dir="2700000" algn="tl" rotWithShape="0">
              <a:prstClr val="black">
                <a:alpha val="40000"/>
              </a:prstClr>
            </a:outerShdw>
          </a:effectLst>
        </p:spPr>
        <p:txBody>
          <a:bodyPr rtlCol="0" anchor="ctr" anchorCtr="0"/>
          <a:lstStyle/>
          <a:p>
            <a:pPr marL="0" marR="0" lvl="0" indent="0" algn="l" defTabSz="914126" rtl="0" eaLnBrk="1" fontAlgn="auto" latinLnBrk="0" hangingPunct="1">
              <a:lnSpc>
                <a:spcPct val="100000"/>
              </a:lnSpc>
              <a:spcBef>
                <a:spcPts val="800"/>
              </a:spcBef>
              <a:spcAft>
                <a:spcPts val="0"/>
              </a:spcAft>
              <a:buClr>
                <a:srgbClr val="000000"/>
              </a:buClr>
              <a:buSzTx/>
              <a:buFontTx/>
              <a:buNone/>
              <a:tabLst/>
              <a:defRPr/>
            </a:pPr>
            <a:endParaRPr kumimoji="0" lang="en-US"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Calibri" panose="020F0502020204030204" pitchFamily="34" charset="0"/>
              <a:sym typeface="+mn-lt"/>
            </a:endParaRPr>
          </a:p>
        </p:txBody>
      </p:sp>
      <p:sp>
        <p:nvSpPr>
          <p:cNvPr id="55" name="TextBox 26">
            <a:extLst>
              <a:ext uri="{FF2B5EF4-FFF2-40B4-BE49-F238E27FC236}">
                <a16:creationId xmlns:a16="http://schemas.microsoft.com/office/drawing/2014/main" id="{5157E7AB-0285-8BC9-1D7B-A79E409AE823}"/>
              </a:ext>
            </a:extLst>
          </p:cNvPr>
          <p:cNvSpPr txBox="1"/>
          <p:nvPr/>
        </p:nvSpPr>
        <p:spPr>
          <a:xfrm>
            <a:off x="3228138" y="1320903"/>
            <a:ext cx="3311398" cy="400110"/>
          </a:xfrm>
          <a:prstGeom prst="rect">
            <a:avLst/>
          </a:prstGeom>
          <a:noFill/>
        </p:spPr>
        <p:txBody>
          <a:bodyPr wrap="square" rtlCol="0">
            <a:spAutoFit/>
          </a:bodyPr>
          <a:lstStyle/>
          <a:p>
            <a:pPr marL="0" marR="0" lvl="0" indent="0" algn="ctr" defTabSz="913852" rtl="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Calibri" panose="020F0502020204030204" pitchFamily="34" charset="0"/>
              </a:rPr>
              <a:t>智能计划与控制塔平台</a:t>
            </a:r>
            <a:endParaRPr kumimoji="0" lang="en-US" sz="20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Calibri" panose="020F0502020204030204" pitchFamily="34" charset="0"/>
            </a:endParaRPr>
          </a:p>
        </p:txBody>
      </p:sp>
      <p:sp>
        <p:nvSpPr>
          <p:cNvPr id="56" name="Freeform 54">
            <a:extLst>
              <a:ext uri="{FF2B5EF4-FFF2-40B4-BE49-F238E27FC236}">
                <a16:creationId xmlns:a16="http://schemas.microsoft.com/office/drawing/2014/main" id="{3048D739-5377-0A2E-BC4C-9E2C10E0C30C}"/>
              </a:ext>
            </a:extLst>
          </p:cNvPr>
          <p:cNvSpPr>
            <a:spLocks noEditPoints="1"/>
          </p:cNvSpPr>
          <p:nvPr/>
        </p:nvSpPr>
        <p:spPr bwMode="auto">
          <a:xfrm>
            <a:off x="3228138" y="1396629"/>
            <a:ext cx="264357" cy="263247"/>
          </a:xfrm>
          <a:custGeom>
            <a:avLst/>
            <a:gdLst>
              <a:gd name="T0" fmla="*/ 0 w 191"/>
              <a:gd name="T1" fmla="*/ 95 h 190"/>
              <a:gd name="T2" fmla="*/ 2 w 191"/>
              <a:gd name="T3" fmla="*/ 78 h 190"/>
              <a:gd name="T4" fmla="*/ 96 w 191"/>
              <a:gd name="T5" fmla="*/ 0 h 190"/>
              <a:gd name="T6" fmla="*/ 96 w 191"/>
              <a:gd name="T7" fmla="*/ 190 h 190"/>
              <a:gd name="T8" fmla="*/ 146 w 191"/>
              <a:gd name="T9" fmla="*/ 72 h 190"/>
              <a:gd name="T10" fmla="*/ 175 w 191"/>
              <a:gd name="T11" fmla="*/ 66 h 190"/>
              <a:gd name="T12" fmla="*/ 139 w 191"/>
              <a:gd name="T13" fmla="*/ 55 h 190"/>
              <a:gd name="T14" fmla="*/ 154 w 191"/>
              <a:gd name="T15" fmla="*/ 34 h 190"/>
              <a:gd name="T16" fmla="*/ 82 w 191"/>
              <a:gd name="T17" fmla="*/ 34 h 190"/>
              <a:gd name="T18" fmla="*/ 106 w 191"/>
              <a:gd name="T19" fmla="*/ 51 h 190"/>
              <a:gd name="T20" fmla="*/ 81 w 191"/>
              <a:gd name="T21" fmla="*/ 43 h 190"/>
              <a:gd name="T22" fmla="*/ 66 w 191"/>
              <a:gd name="T23" fmla="*/ 45 h 190"/>
              <a:gd name="T24" fmla="*/ 36 w 191"/>
              <a:gd name="T25" fmla="*/ 96 h 190"/>
              <a:gd name="T26" fmla="*/ 47 w 191"/>
              <a:gd name="T27" fmla="*/ 107 h 190"/>
              <a:gd name="T28" fmla="*/ 59 w 191"/>
              <a:gd name="T29" fmla="*/ 104 h 190"/>
              <a:gd name="T30" fmla="*/ 101 w 191"/>
              <a:gd name="T31" fmla="*/ 87 h 190"/>
              <a:gd name="T32" fmla="*/ 69 w 191"/>
              <a:gd name="T33" fmla="*/ 115 h 190"/>
              <a:gd name="T34" fmla="*/ 108 w 191"/>
              <a:gd name="T35" fmla="*/ 93 h 190"/>
              <a:gd name="T36" fmla="*/ 110 w 191"/>
              <a:gd name="T37" fmla="*/ 124 h 190"/>
              <a:gd name="T38" fmla="*/ 141 w 191"/>
              <a:gd name="T39" fmla="*/ 117 h 190"/>
              <a:gd name="T40" fmla="*/ 140 w 191"/>
              <a:gd name="T41" fmla="*/ 87 h 190"/>
              <a:gd name="T42" fmla="*/ 157 w 191"/>
              <a:gd name="T43" fmla="*/ 123 h 190"/>
              <a:gd name="T44" fmla="*/ 181 w 191"/>
              <a:gd name="T45" fmla="*/ 95 h 190"/>
              <a:gd name="T46" fmla="*/ 145 w 191"/>
              <a:gd name="T47" fmla="*/ 75 h 190"/>
              <a:gd name="T48" fmla="*/ 30 w 191"/>
              <a:gd name="T49" fmla="*/ 106 h 190"/>
              <a:gd name="T50" fmla="*/ 26 w 191"/>
              <a:gd name="T51" fmla="*/ 107 h 190"/>
              <a:gd name="T52" fmla="*/ 28 w 191"/>
              <a:gd name="T53" fmla="*/ 146 h 190"/>
              <a:gd name="T54" fmla="*/ 43 w 191"/>
              <a:gd name="T55" fmla="*/ 116 h 190"/>
              <a:gd name="T56" fmla="*/ 119 w 191"/>
              <a:gd name="T57" fmla="*/ 166 h 190"/>
              <a:gd name="T58" fmla="*/ 118 w 191"/>
              <a:gd name="T59" fmla="*/ 177 h 190"/>
              <a:gd name="T60" fmla="*/ 143 w 191"/>
              <a:gd name="T61" fmla="*/ 142 h 190"/>
              <a:gd name="T62" fmla="*/ 110 w 191"/>
              <a:gd name="T63" fmla="*/ 131 h 190"/>
              <a:gd name="T64" fmla="*/ 119 w 191"/>
              <a:gd name="T65" fmla="*/ 166 h 190"/>
              <a:gd name="T66" fmla="*/ 159 w 191"/>
              <a:gd name="T67" fmla="*/ 129 h 190"/>
              <a:gd name="T68" fmla="*/ 151 w 191"/>
              <a:gd name="T69" fmla="*/ 141 h 190"/>
              <a:gd name="T70" fmla="*/ 175 w 191"/>
              <a:gd name="T71" fmla="*/ 126 h 190"/>
              <a:gd name="T72" fmla="*/ 112 w 191"/>
              <a:gd name="T73" fmla="*/ 178 h 190"/>
              <a:gd name="T74" fmla="*/ 110 w 191"/>
              <a:gd name="T75" fmla="*/ 173 h 190"/>
              <a:gd name="T76" fmla="*/ 107 w 191"/>
              <a:gd name="T77" fmla="*/ 160 h 190"/>
              <a:gd name="T78" fmla="*/ 67 w 191"/>
              <a:gd name="T79" fmla="*/ 123 h 190"/>
              <a:gd name="T80" fmla="*/ 48 w 191"/>
              <a:gd name="T81" fmla="*/ 127 h 190"/>
              <a:gd name="T82" fmla="*/ 96 w 191"/>
              <a:gd name="T83" fmla="*/ 180 h 190"/>
              <a:gd name="T84" fmla="*/ 19 w 191"/>
              <a:gd name="T85" fmla="*/ 104 h 190"/>
              <a:gd name="T86" fmla="*/ 11 w 191"/>
              <a:gd name="T87" fmla="*/ 92 h 190"/>
              <a:gd name="T88" fmla="*/ 15 w 191"/>
              <a:gd name="T89" fmla="*/ 121 h 190"/>
              <a:gd name="T90" fmla="*/ 18 w 191"/>
              <a:gd name="T91" fmla="*/ 90 h 190"/>
              <a:gd name="T92" fmla="*/ 26 w 191"/>
              <a:gd name="T93" fmla="*/ 86 h 190"/>
              <a:gd name="T94" fmla="*/ 62 w 191"/>
              <a:gd name="T95" fmla="*/ 37 h 190"/>
              <a:gd name="T96" fmla="*/ 42 w 191"/>
              <a:gd name="T97" fmla="*/ 29 h 190"/>
              <a:gd name="T98" fmla="*/ 49 w 191"/>
              <a:gd name="T99" fmla="*/ 24 h 190"/>
              <a:gd name="T100" fmla="*/ 72 w 191"/>
              <a:gd name="T101" fmla="*/ 27 h 190"/>
              <a:gd name="T102" fmla="*/ 121 w 191"/>
              <a:gd name="T103" fmla="*/ 14 h 190"/>
              <a:gd name="T104" fmla="*/ 49 w 191"/>
              <a:gd name="T105" fmla="*/ 24 h 190"/>
              <a:gd name="T106" fmla="*/ 102 w 191"/>
              <a:gd name="T107" fmla="*/ 71 h 190"/>
              <a:gd name="T108" fmla="*/ 138 w 191"/>
              <a:gd name="T109" fmla="*/ 71 h 190"/>
              <a:gd name="T110" fmla="*/ 120 w 191"/>
              <a:gd name="T111" fmla="*/ 60 h 190"/>
              <a:gd name="T112" fmla="*/ 120 w 191"/>
              <a:gd name="T113" fmla="*/ 83 h 190"/>
              <a:gd name="T114" fmla="*/ 120 w 191"/>
              <a:gd name="T115" fmla="*/ 60 h 190"/>
              <a:gd name="T116" fmla="*/ 115 w 191"/>
              <a:gd name="T117" fmla="*/ 71 h 190"/>
              <a:gd name="T118" fmla="*/ 126 w 191"/>
              <a:gd name="T119" fmla="*/ 7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 h="190">
                <a:moveTo>
                  <a:pt x="96" y="190"/>
                </a:moveTo>
                <a:cubicBezTo>
                  <a:pt x="43" y="190"/>
                  <a:pt x="0" y="147"/>
                  <a:pt x="0" y="95"/>
                </a:cubicBezTo>
                <a:cubicBezTo>
                  <a:pt x="0" y="90"/>
                  <a:pt x="1" y="85"/>
                  <a:pt x="2" y="80"/>
                </a:cubicBezTo>
                <a:cubicBezTo>
                  <a:pt x="2" y="78"/>
                  <a:pt x="2" y="78"/>
                  <a:pt x="2" y="78"/>
                </a:cubicBezTo>
                <a:cubicBezTo>
                  <a:pt x="2" y="78"/>
                  <a:pt x="2" y="78"/>
                  <a:pt x="2" y="78"/>
                </a:cubicBezTo>
                <a:cubicBezTo>
                  <a:pt x="10" y="34"/>
                  <a:pt x="49" y="0"/>
                  <a:pt x="96" y="0"/>
                </a:cubicBezTo>
                <a:cubicBezTo>
                  <a:pt x="148" y="0"/>
                  <a:pt x="191" y="42"/>
                  <a:pt x="191" y="95"/>
                </a:cubicBezTo>
                <a:cubicBezTo>
                  <a:pt x="191" y="147"/>
                  <a:pt x="148" y="190"/>
                  <a:pt x="96" y="190"/>
                </a:cubicBezTo>
                <a:close/>
                <a:moveTo>
                  <a:pt x="145" y="75"/>
                </a:moveTo>
                <a:cubicBezTo>
                  <a:pt x="145" y="74"/>
                  <a:pt x="146" y="73"/>
                  <a:pt x="146" y="72"/>
                </a:cubicBezTo>
                <a:cubicBezTo>
                  <a:pt x="146" y="70"/>
                  <a:pt x="145" y="68"/>
                  <a:pt x="145" y="67"/>
                </a:cubicBezTo>
                <a:cubicBezTo>
                  <a:pt x="154" y="66"/>
                  <a:pt x="164" y="65"/>
                  <a:pt x="175" y="66"/>
                </a:cubicBezTo>
                <a:cubicBezTo>
                  <a:pt x="172" y="56"/>
                  <a:pt x="167" y="47"/>
                  <a:pt x="160" y="40"/>
                </a:cubicBezTo>
                <a:cubicBezTo>
                  <a:pt x="155" y="42"/>
                  <a:pt x="147" y="47"/>
                  <a:pt x="139" y="55"/>
                </a:cubicBezTo>
                <a:cubicBezTo>
                  <a:pt x="138" y="53"/>
                  <a:pt x="136" y="52"/>
                  <a:pt x="134" y="50"/>
                </a:cubicBezTo>
                <a:cubicBezTo>
                  <a:pt x="142" y="42"/>
                  <a:pt x="150" y="36"/>
                  <a:pt x="154" y="34"/>
                </a:cubicBezTo>
                <a:cubicBezTo>
                  <a:pt x="147" y="27"/>
                  <a:pt x="139" y="22"/>
                  <a:pt x="131" y="18"/>
                </a:cubicBezTo>
                <a:cubicBezTo>
                  <a:pt x="123" y="19"/>
                  <a:pt x="103" y="22"/>
                  <a:pt x="82" y="34"/>
                </a:cubicBezTo>
                <a:cubicBezTo>
                  <a:pt x="82" y="35"/>
                  <a:pt x="82" y="36"/>
                  <a:pt x="82" y="37"/>
                </a:cubicBezTo>
                <a:cubicBezTo>
                  <a:pt x="90" y="40"/>
                  <a:pt x="99" y="45"/>
                  <a:pt x="106" y="51"/>
                </a:cubicBezTo>
                <a:cubicBezTo>
                  <a:pt x="105" y="52"/>
                  <a:pt x="103" y="53"/>
                  <a:pt x="102" y="55"/>
                </a:cubicBezTo>
                <a:cubicBezTo>
                  <a:pt x="96" y="51"/>
                  <a:pt x="89" y="46"/>
                  <a:pt x="81" y="43"/>
                </a:cubicBezTo>
                <a:cubicBezTo>
                  <a:pt x="79" y="45"/>
                  <a:pt x="76" y="47"/>
                  <a:pt x="72" y="47"/>
                </a:cubicBezTo>
                <a:cubicBezTo>
                  <a:pt x="70" y="47"/>
                  <a:pt x="68" y="46"/>
                  <a:pt x="66" y="45"/>
                </a:cubicBezTo>
                <a:cubicBezTo>
                  <a:pt x="54" y="55"/>
                  <a:pt x="42" y="69"/>
                  <a:pt x="33" y="89"/>
                </a:cubicBezTo>
                <a:cubicBezTo>
                  <a:pt x="35" y="91"/>
                  <a:pt x="36" y="93"/>
                  <a:pt x="36" y="96"/>
                </a:cubicBezTo>
                <a:cubicBezTo>
                  <a:pt x="36" y="98"/>
                  <a:pt x="36" y="100"/>
                  <a:pt x="35" y="101"/>
                </a:cubicBezTo>
                <a:cubicBezTo>
                  <a:pt x="39" y="103"/>
                  <a:pt x="43" y="105"/>
                  <a:pt x="47" y="107"/>
                </a:cubicBezTo>
                <a:cubicBezTo>
                  <a:pt x="49" y="105"/>
                  <a:pt x="52" y="103"/>
                  <a:pt x="56" y="103"/>
                </a:cubicBezTo>
                <a:cubicBezTo>
                  <a:pt x="57" y="103"/>
                  <a:pt x="58" y="103"/>
                  <a:pt x="59" y="104"/>
                </a:cubicBezTo>
                <a:cubicBezTo>
                  <a:pt x="69" y="95"/>
                  <a:pt x="81" y="86"/>
                  <a:pt x="97" y="79"/>
                </a:cubicBezTo>
                <a:cubicBezTo>
                  <a:pt x="98" y="82"/>
                  <a:pt x="99" y="85"/>
                  <a:pt x="101" y="87"/>
                </a:cubicBezTo>
                <a:cubicBezTo>
                  <a:pt x="89" y="92"/>
                  <a:pt x="77" y="99"/>
                  <a:pt x="66" y="108"/>
                </a:cubicBezTo>
                <a:cubicBezTo>
                  <a:pt x="67" y="110"/>
                  <a:pt x="68" y="113"/>
                  <a:pt x="69" y="115"/>
                </a:cubicBezTo>
                <a:cubicBezTo>
                  <a:pt x="79" y="119"/>
                  <a:pt x="90" y="121"/>
                  <a:pt x="103" y="123"/>
                </a:cubicBezTo>
                <a:cubicBezTo>
                  <a:pt x="103" y="112"/>
                  <a:pt x="105" y="102"/>
                  <a:pt x="108" y="93"/>
                </a:cubicBezTo>
                <a:cubicBezTo>
                  <a:pt x="110" y="95"/>
                  <a:pt x="112" y="96"/>
                  <a:pt x="115" y="96"/>
                </a:cubicBezTo>
                <a:cubicBezTo>
                  <a:pt x="112" y="104"/>
                  <a:pt x="111" y="114"/>
                  <a:pt x="110" y="124"/>
                </a:cubicBezTo>
                <a:cubicBezTo>
                  <a:pt x="118" y="125"/>
                  <a:pt x="126" y="125"/>
                  <a:pt x="134" y="125"/>
                </a:cubicBezTo>
                <a:cubicBezTo>
                  <a:pt x="136" y="122"/>
                  <a:pt x="138" y="119"/>
                  <a:pt x="141" y="117"/>
                </a:cubicBezTo>
                <a:cubicBezTo>
                  <a:pt x="140" y="109"/>
                  <a:pt x="137" y="101"/>
                  <a:pt x="134" y="93"/>
                </a:cubicBezTo>
                <a:cubicBezTo>
                  <a:pt x="136" y="91"/>
                  <a:pt x="138" y="90"/>
                  <a:pt x="140" y="87"/>
                </a:cubicBezTo>
                <a:cubicBezTo>
                  <a:pt x="145" y="96"/>
                  <a:pt x="148" y="106"/>
                  <a:pt x="150" y="117"/>
                </a:cubicBezTo>
                <a:cubicBezTo>
                  <a:pt x="153" y="118"/>
                  <a:pt x="156" y="120"/>
                  <a:pt x="157" y="123"/>
                </a:cubicBezTo>
                <a:cubicBezTo>
                  <a:pt x="164" y="122"/>
                  <a:pt x="170" y="120"/>
                  <a:pt x="177" y="119"/>
                </a:cubicBezTo>
                <a:cubicBezTo>
                  <a:pt x="179" y="111"/>
                  <a:pt x="181" y="103"/>
                  <a:pt x="181" y="95"/>
                </a:cubicBezTo>
                <a:cubicBezTo>
                  <a:pt x="181" y="87"/>
                  <a:pt x="179" y="80"/>
                  <a:pt x="177" y="73"/>
                </a:cubicBezTo>
                <a:cubicBezTo>
                  <a:pt x="172" y="73"/>
                  <a:pt x="160" y="73"/>
                  <a:pt x="145" y="75"/>
                </a:cubicBezTo>
                <a:close/>
                <a:moveTo>
                  <a:pt x="43" y="113"/>
                </a:moveTo>
                <a:cubicBezTo>
                  <a:pt x="39" y="111"/>
                  <a:pt x="34" y="108"/>
                  <a:pt x="30" y="106"/>
                </a:cubicBezTo>
                <a:cubicBezTo>
                  <a:pt x="29" y="106"/>
                  <a:pt x="28" y="107"/>
                  <a:pt x="26" y="107"/>
                </a:cubicBezTo>
                <a:cubicBezTo>
                  <a:pt x="26" y="107"/>
                  <a:pt x="26" y="107"/>
                  <a:pt x="26" y="107"/>
                </a:cubicBezTo>
                <a:cubicBezTo>
                  <a:pt x="24" y="115"/>
                  <a:pt x="22" y="124"/>
                  <a:pt x="20" y="134"/>
                </a:cubicBezTo>
                <a:cubicBezTo>
                  <a:pt x="22" y="138"/>
                  <a:pt x="25" y="142"/>
                  <a:pt x="28" y="146"/>
                </a:cubicBezTo>
                <a:cubicBezTo>
                  <a:pt x="30" y="141"/>
                  <a:pt x="35" y="131"/>
                  <a:pt x="44" y="120"/>
                </a:cubicBezTo>
                <a:cubicBezTo>
                  <a:pt x="43" y="119"/>
                  <a:pt x="43" y="117"/>
                  <a:pt x="43" y="116"/>
                </a:cubicBezTo>
                <a:cubicBezTo>
                  <a:pt x="43" y="115"/>
                  <a:pt x="43" y="114"/>
                  <a:pt x="43" y="113"/>
                </a:cubicBezTo>
                <a:close/>
                <a:moveTo>
                  <a:pt x="119" y="166"/>
                </a:moveTo>
                <a:cubicBezTo>
                  <a:pt x="119" y="167"/>
                  <a:pt x="117" y="171"/>
                  <a:pt x="116" y="172"/>
                </a:cubicBezTo>
                <a:cubicBezTo>
                  <a:pt x="117" y="174"/>
                  <a:pt x="117" y="174"/>
                  <a:pt x="118" y="177"/>
                </a:cubicBezTo>
                <a:cubicBezTo>
                  <a:pt x="126" y="175"/>
                  <a:pt x="133" y="172"/>
                  <a:pt x="139" y="168"/>
                </a:cubicBezTo>
                <a:cubicBezTo>
                  <a:pt x="141" y="162"/>
                  <a:pt x="143" y="153"/>
                  <a:pt x="143" y="142"/>
                </a:cubicBezTo>
                <a:cubicBezTo>
                  <a:pt x="138" y="140"/>
                  <a:pt x="135" y="136"/>
                  <a:pt x="134" y="132"/>
                </a:cubicBezTo>
                <a:cubicBezTo>
                  <a:pt x="126" y="132"/>
                  <a:pt x="118" y="132"/>
                  <a:pt x="110" y="131"/>
                </a:cubicBezTo>
                <a:cubicBezTo>
                  <a:pt x="110" y="140"/>
                  <a:pt x="112" y="149"/>
                  <a:pt x="114" y="160"/>
                </a:cubicBezTo>
                <a:cubicBezTo>
                  <a:pt x="116" y="161"/>
                  <a:pt x="119" y="163"/>
                  <a:pt x="119" y="166"/>
                </a:cubicBezTo>
                <a:close/>
                <a:moveTo>
                  <a:pt x="175" y="126"/>
                </a:moveTo>
                <a:cubicBezTo>
                  <a:pt x="169" y="127"/>
                  <a:pt x="164" y="128"/>
                  <a:pt x="159" y="129"/>
                </a:cubicBezTo>
                <a:cubicBezTo>
                  <a:pt x="159" y="129"/>
                  <a:pt x="159" y="129"/>
                  <a:pt x="159" y="129"/>
                </a:cubicBezTo>
                <a:cubicBezTo>
                  <a:pt x="159" y="135"/>
                  <a:pt x="156" y="140"/>
                  <a:pt x="151" y="141"/>
                </a:cubicBezTo>
                <a:cubicBezTo>
                  <a:pt x="150" y="148"/>
                  <a:pt x="149" y="155"/>
                  <a:pt x="147" y="162"/>
                </a:cubicBezTo>
                <a:cubicBezTo>
                  <a:pt x="159" y="153"/>
                  <a:pt x="169" y="140"/>
                  <a:pt x="175" y="126"/>
                </a:cubicBezTo>
                <a:close/>
                <a:moveTo>
                  <a:pt x="96" y="180"/>
                </a:moveTo>
                <a:cubicBezTo>
                  <a:pt x="101" y="180"/>
                  <a:pt x="106" y="179"/>
                  <a:pt x="112" y="178"/>
                </a:cubicBezTo>
                <a:cubicBezTo>
                  <a:pt x="111" y="177"/>
                  <a:pt x="111" y="175"/>
                  <a:pt x="110" y="173"/>
                </a:cubicBezTo>
                <a:cubicBezTo>
                  <a:pt x="110" y="173"/>
                  <a:pt x="110" y="173"/>
                  <a:pt x="110" y="173"/>
                </a:cubicBezTo>
                <a:cubicBezTo>
                  <a:pt x="106" y="173"/>
                  <a:pt x="103" y="170"/>
                  <a:pt x="103" y="166"/>
                </a:cubicBezTo>
                <a:cubicBezTo>
                  <a:pt x="103" y="164"/>
                  <a:pt x="104" y="162"/>
                  <a:pt x="107" y="160"/>
                </a:cubicBezTo>
                <a:cubicBezTo>
                  <a:pt x="104" y="150"/>
                  <a:pt x="103" y="140"/>
                  <a:pt x="103" y="131"/>
                </a:cubicBezTo>
                <a:cubicBezTo>
                  <a:pt x="90" y="129"/>
                  <a:pt x="78" y="126"/>
                  <a:pt x="67" y="123"/>
                </a:cubicBezTo>
                <a:cubicBezTo>
                  <a:pt x="65" y="126"/>
                  <a:pt x="61" y="129"/>
                  <a:pt x="56" y="129"/>
                </a:cubicBezTo>
                <a:cubicBezTo>
                  <a:pt x="53" y="129"/>
                  <a:pt x="51" y="128"/>
                  <a:pt x="48" y="127"/>
                </a:cubicBezTo>
                <a:cubicBezTo>
                  <a:pt x="43" y="134"/>
                  <a:pt x="38" y="143"/>
                  <a:pt x="34" y="154"/>
                </a:cubicBezTo>
                <a:cubicBezTo>
                  <a:pt x="50" y="170"/>
                  <a:pt x="71" y="180"/>
                  <a:pt x="96" y="180"/>
                </a:cubicBezTo>
                <a:close/>
                <a:moveTo>
                  <a:pt x="15" y="121"/>
                </a:moveTo>
                <a:cubicBezTo>
                  <a:pt x="16" y="117"/>
                  <a:pt x="17" y="111"/>
                  <a:pt x="19" y="104"/>
                </a:cubicBezTo>
                <a:cubicBezTo>
                  <a:pt x="17" y="102"/>
                  <a:pt x="16" y="99"/>
                  <a:pt x="16" y="97"/>
                </a:cubicBezTo>
                <a:cubicBezTo>
                  <a:pt x="14" y="95"/>
                  <a:pt x="12" y="94"/>
                  <a:pt x="11" y="92"/>
                </a:cubicBezTo>
                <a:cubicBezTo>
                  <a:pt x="11" y="93"/>
                  <a:pt x="11" y="94"/>
                  <a:pt x="11" y="95"/>
                </a:cubicBezTo>
                <a:cubicBezTo>
                  <a:pt x="11" y="104"/>
                  <a:pt x="12" y="113"/>
                  <a:pt x="15" y="121"/>
                </a:cubicBezTo>
                <a:close/>
                <a:moveTo>
                  <a:pt x="11" y="86"/>
                </a:moveTo>
                <a:cubicBezTo>
                  <a:pt x="13" y="87"/>
                  <a:pt x="15" y="89"/>
                  <a:pt x="18" y="90"/>
                </a:cubicBezTo>
                <a:cubicBezTo>
                  <a:pt x="20" y="88"/>
                  <a:pt x="23" y="86"/>
                  <a:pt x="26" y="86"/>
                </a:cubicBezTo>
                <a:cubicBezTo>
                  <a:pt x="26" y="86"/>
                  <a:pt x="26" y="86"/>
                  <a:pt x="26" y="86"/>
                </a:cubicBezTo>
                <a:cubicBezTo>
                  <a:pt x="34" y="71"/>
                  <a:pt x="45" y="54"/>
                  <a:pt x="62" y="40"/>
                </a:cubicBezTo>
                <a:cubicBezTo>
                  <a:pt x="62" y="39"/>
                  <a:pt x="62" y="38"/>
                  <a:pt x="62" y="37"/>
                </a:cubicBezTo>
                <a:cubicBezTo>
                  <a:pt x="62" y="36"/>
                  <a:pt x="62" y="36"/>
                  <a:pt x="62" y="35"/>
                </a:cubicBezTo>
                <a:cubicBezTo>
                  <a:pt x="56" y="33"/>
                  <a:pt x="49" y="31"/>
                  <a:pt x="42" y="29"/>
                </a:cubicBezTo>
                <a:cubicBezTo>
                  <a:pt x="25" y="43"/>
                  <a:pt x="14" y="63"/>
                  <a:pt x="11" y="86"/>
                </a:cubicBezTo>
                <a:close/>
                <a:moveTo>
                  <a:pt x="49" y="24"/>
                </a:moveTo>
                <a:cubicBezTo>
                  <a:pt x="52" y="25"/>
                  <a:pt x="58" y="27"/>
                  <a:pt x="66" y="29"/>
                </a:cubicBezTo>
                <a:cubicBezTo>
                  <a:pt x="67" y="28"/>
                  <a:pt x="70" y="27"/>
                  <a:pt x="72" y="27"/>
                </a:cubicBezTo>
                <a:cubicBezTo>
                  <a:pt x="75" y="27"/>
                  <a:pt x="77" y="28"/>
                  <a:pt x="78" y="29"/>
                </a:cubicBezTo>
                <a:cubicBezTo>
                  <a:pt x="90" y="22"/>
                  <a:pt x="104" y="17"/>
                  <a:pt x="121" y="14"/>
                </a:cubicBezTo>
                <a:cubicBezTo>
                  <a:pt x="113" y="11"/>
                  <a:pt x="104" y="10"/>
                  <a:pt x="96" y="10"/>
                </a:cubicBezTo>
                <a:cubicBezTo>
                  <a:pt x="78" y="10"/>
                  <a:pt x="62" y="15"/>
                  <a:pt x="49" y="24"/>
                </a:cubicBezTo>
                <a:close/>
                <a:moveTo>
                  <a:pt x="120" y="89"/>
                </a:moveTo>
                <a:cubicBezTo>
                  <a:pt x="110" y="89"/>
                  <a:pt x="102" y="81"/>
                  <a:pt x="102" y="71"/>
                </a:cubicBezTo>
                <a:cubicBezTo>
                  <a:pt x="102" y="62"/>
                  <a:pt x="110" y="54"/>
                  <a:pt x="120" y="54"/>
                </a:cubicBezTo>
                <a:cubicBezTo>
                  <a:pt x="130" y="54"/>
                  <a:pt x="138" y="62"/>
                  <a:pt x="138" y="71"/>
                </a:cubicBezTo>
                <a:cubicBezTo>
                  <a:pt x="138" y="81"/>
                  <a:pt x="130" y="89"/>
                  <a:pt x="120" y="89"/>
                </a:cubicBezTo>
                <a:close/>
                <a:moveTo>
                  <a:pt x="120" y="60"/>
                </a:moveTo>
                <a:cubicBezTo>
                  <a:pt x="114" y="60"/>
                  <a:pt x="109" y="65"/>
                  <a:pt x="109" y="71"/>
                </a:cubicBezTo>
                <a:cubicBezTo>
                  <a:pt x="109" y="78"/>
                  <a:pt x="114" y="83"/>
                  <a:pt x="120" y="83"/>
                </a:cubicBezTo>
                <a:cubicBezTo>
                  <a:pt x="127" y="83"/>
                  <a:pt x="132" y="78"/>
                  <a:pt x="132" y="71"/>
                </a:cubicBezTo>
                <a:cubicBezTo>
                  <a:pt x="132" y="65"/>
                  <a:pt x="127" y="60"/>
                  <a:pt x="120" y="60"/>
                </a:cubicBezTo>
                <a:close/>
                <a:moveTo>
                  <a:pt x="120" y="76"/>
                </a:moveTo>
                <a:cubicBezTo>
                  <a:pt x="117" y="76"/>
                  <a:pt x="115" y="74"/>
                  <a:pt x="115" y="71"/>
                </a:cubicBezTo>
                <a:cubicBezTo>
                  <a:pt x="115" y="67"/>
                  <a:pt x="117" y="65"/>
                  <a:pt x="120" y="65"/>
                </a:cubicBezTo>
                <a:cubicBezTo>
                  <a:pt x="123" y="65"/>
                  <a:pt x="126" y="67"/>
                  <a:pt x="126" y="71"/>
                </a:cubicBezTo>
                <a:cubicBezTo>
                  <a:pt x="126" y="74"/>
                  <a:pt x="123" y="76"/>
                  <a:pt x="120" y="7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57" name="TextBox 141">
            <a:extLst>
              <a:ext uri="{FF2B5EF4-FFF2-40B4-BE49-F238E27FC236}">
                <a16:creationId xmlns:a16="http://schemas.microsoft.com/office/drawing/2014/main" id="{05D839CB-5C9F-7EB1-0C60-7A33DA61FC02}"/>
              </a:ext>
            </a:extLst>
          </p:cNvPr>
          <p:cNvSpPr txBox="1"/>
          <p:nvPr/>
        </p:nvSpPr>
        <p:spPr>
          <a:xfrm>
            <a:off x="933176" y="1864817"/>
            <a:ext cx="1685629" cy="424777"/>
          </a:xfrm>
          <a:prstGeom prst="rect">
            <a:avLst/>
          </a:prstGeom>
          <a:solidFill>
            <a:srgbClr val="2643B2"/>
          </a:solidFill>
          <a:ln w="9525">
            <a:solidFill>
              <a:schemeClr val="tx1"/>
            </a:solidFill>
          </a:ln>
        </p:spPr>
        <p:txBody>
          <a:bodyPr wrap="square" rtlCol="0" anchor="t">
            <a:noAutofit/>
          </a:bodyPr>
          <a:lstStyle/>
          <a:p>
            <a:pPr marL="0" marR="0" lvl="0" indent="0" algn="ctr" defTabSz="913852" rtl="0" eaLnBrk="1" fontAlgn="auto" latinLnBrk="0" hangingPunct="1">
              <a:lnSpc>
                <a:spcPct val="100000"/>
              </a:lnSpc>
              <a:spcBef>
                <a:spcPts val="0"/>
              </a:spcBef>
              <a:spcAft>
                <a:spcPts val="0"/>
              </a:spcAft>
              <a:buClrTx/>
              <a:buSzTx/>
              <a:buFontTx/>
              <a:buNone/>
              <a:tabLst/>
              <a:defRPr/>
            </a:pPr>
            <a:endParaRPr kumimoji="0" lang="en-US" altLang="zh-CN" sz="14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58" name="TextBox 141">
            <a:extLst>
              <a:ext uri="{FF2B5EF4-FFF2-40B4-BE49-F238E27FC236}">
                <a16:creationId xmlns:a16="http://schemas.microsoft.com/office/drawing/2014/main" id="{1E92209A-09E6-1D3A-3F11-F082F501876D}"/>
              </a:ext>
            </a:extLst>
          </p:cNvPr>
          <p:cNvSpPr txBox="1"/>
          <p:nvPr/>
        </p:nvSpPr>
        <p:spPr>
          <a:xfrm>
            <a:off x="1061170" y="1844141"/>
            <a:ext cx="1415074" cy="464162"/>
          </a:xfrm>
          <a:prstGeom prst="rect">
            <a:avLst/>
          </a:prstGeom>
          <a:noFill/>
          <a:ln w="9525">
            <a:noFill/>
          </a:ln>
        </p:spPr>
        <p:txBody>
          <a:bodyPr wrap="square" rtlCol="0" anchor="ctr">
            <a:noAutofit/>
          </a:bodyPr>
          <a:lstStyle/>
          <a:p>
            <a:pPr marL="0" marR="0" lvl="0" indent="0" algn="l" defTabSz="913852" rtl="0" eaLnBrk="1" fontAlgn="base" latinLnBrk="0" hangingPunct="1">
              <a:lnSpc>
                <a:spcPct val="100000"/>
              </a:lnSpc>
              <a:spcBef>
                <a:spcPct val="0"/>
              </a:spcBef>
              <a:spcAft>
                <a:spcPct val="0"/>
              </a:spcAft>
              <a:buClr>
                <a:srgbClr val="F8CCCC"/>
              </a:buClr>
              <a:buSzTx/>
              <a:buFontTx/>
              <a:buNone/>
              <a:tabLst/>
              <a:defRPr/>
            </a:pPr>
            <a:r>
              <a:rPr kumimoji="0" lang="zh-CN" altLang="en-US" sz="16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Arial" pitchFamily="34" charset="0"/>
              </a:rPr>
              <a:t>供应链控制塔</a:t>
            </a:r>
            <a:endParaRPr kumimoji="0" lang="en-US" altLang="zh-CN" sz="1600" b="1"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Arial" pitchFamily="34" charset="0"/>
            </a:endParaRPr>
          </a:p>
        </p:txBody>
      </p:sp>
      <p:sp>
        <p:nvSpPr>
          <p:cNvPr id="59" name="矩形: 圆角 178">
            <a:extLst>
              <a:ext uri="{FF2B5EF4-FFF2-40B4-BE49-F238E27FC236}">
                <a16:creationId xmlns:a16="http://schemas.microsoft.com/office/drawing/2014/main" id="{AD55A784-CDCA-0D16-5C8A-22FB053E3C25}"/>
              </a:ext>
            </a:extLst>
          </p:cNvPr>
          <p:cNvSpPr/>
          <p:nvPr/>
        </p:nvSpPr>
        <p:spPr>
          <a:xfrm>
            <a:off x="5085355" y="6202916"/>
            <a:ext cx="1395106" cy="342812"/>
          </a:xfrm>
          <a:prstGeom prst="roundRect">
            <a:avLst/>
          </a:prstGeom>
          <a:solidFill>
            <a:srgbClr val="4D88C3"/>
          </a:solidFill>
          <a:ln w="9525">
            <a:solidFill>
              <a:srgbClr val="00B0F0"/>
            </a:solidFill>
          </a:ln>
        </p:spPr>
        <p:txBody>
          <a:bodyPr wrap="square" rtlCol="0" anchor="t">
            <a:noAutofit/>
          </a:bodyPr>
          <a:lstStyle/>
          <a:p>
            <a:pPr marL="0" marR="0" lvl="0" indent="0" algn="ctr" defTabSz="913852" rtl="0" eaLnBrk="1" fontAlgn="auto" latinLnBrk="0" hangingPunct="1">
              <a:lnSpc>
                <a:spcPct val="100000"/>
              </a:lnSpc>
              <a:spcBef>
                <a:spcPts val="0"/>
              </a:spcBef>
              <a:spcAft>
                <a:spcPts val="0"/>
              </a:spcAft>
              <a:buClrTx/>
              <a:buSzTx/>
              <a:buFontTx/>
              <a:buNone/>
              <a:tabLst/>
              <a:defRPr/>
            </a:pPr>
            <a:r>
              <a:rPr lang="en-US" altLang="zh-CN" sz="1200" b="1" kern="0" dirty="0">
                <a:solidFill>
                  <a:srgbClr val="000000"/>
                </a:solidFill>
                <a:latin typeface="Arial" panose="020B0604020202020204" pitchFamily="34" charset="0"/>
                <a:ea typeface="微软雅黑" panose="020B0503020204020204" pitchFamily="34" charset="-122"/>
              </a:rPr>
              <a:t>Partner System</a:t>
            </a:r>
            <a:endParaRPr kumimoji="0" lang="zh-CN" altLang="en-US" sz="1200" b="1"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60" name="文本框 59">
            <a:extLst>
              <a:ext uri="{FF2B5EF4-FFF2-40B4-BE49-F238E27FC236}">
                <a16:creationId xmlns:a16="http://schemas.microsoft.com/office/drawing/2014/main" id="{F075B2C7-4E4E-96A8-76EC-47B3D737C833}"/>
              </a:ext>
            </a:extLst>
          </p:cNvPr>
          <p:cNvSpPr txBox="1"/>
          <p:nvPr/>
        </p:nvSpPr>
        <p:spPr>
          <a:xfrm>
            <a:off x="4352768" y="5015220"/>
            <a:ext cx="3369502"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Database</a:t>
            </a:r>
            <a:r>
              <a:rPr kumimoji="0" lang="zh-CN" altLang="en-US"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a:t>
            </a:r>
            <a:r>
              <a:rPr kumimoji="0" lang="en-US" altLang="zh-CN"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In memory Computing</a:t>
            </a:r>
            <a:endParaRPr kumimoji="0" lang="zh-CN" altLang="en-US" sz="12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61" name="矩形 60">
            <a:extLst>
              <a:ext uri="{FF2B5EF4-FFF2-40B4-BE49-F238E27FC236}">
                <a16:creationId xmlns:a16="http://schemas.microsoft.com/office/drawing/2014/main" id="{5BF53AD1-2C12-8055-2AF6-C70CDA6C6E70}"/>
              </a:ext>
            </a:extLst>
          </p:cNvPr>
          <p:cNvSpPr/>
          <p:nvPr/>
        </p:nvSpPr>
        <p:spPr>
          <a:xfrm>
            <a:off x="8997320" y="51618"/>
            <a:ext cx="3165464" cy="6806381"/>
          </a:xfrm>
          <a:prstGeom prst="rect">
            <a:avLst/>
          </a:prstGeom>
          <a:solidFill>
            <a:schemeClr val="accent5">
              <a:lumMod val="75000"/>
            </a:schemeClr>
          </a:solidFill>
          <a:ln>
            <a:noFill/>
          </a:ln>
        </p:spPr>
        <p:style>
          <a:lnRef idx="1">
            <a:schemeClr val="accent3"/>
          </a:lnRef>
          <a:fillRef idx="3">
            <a:schemeClr val="accent3"/>
          </a:fillRef>
          <a:effectRef idx="2">
            <a:schemeClr val="accent3"/>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600" b="0" i="0" u="none" strike="noStrike" kern="1200" cap="none" spc="0" normalizeH="0" baseline="0" noProof="0" dirty="0" err="1">
              <a:ln>
                <a:noFill/>
              </a:ln>
              <a:solidFill>
                <a:srgbClr val="00B0F0"/>
              </a:solidFill>
              <a:effectLst/>
              <a:uLnTx/>
              <a:uFillTx/>
              <a:latin typeface="微软雅黑" panose="020B0503020204020204" pitchFamily="34" charset="-122"/>
              <a:ea typeface="微软雅黑" panose="020B0503020204020204" pitchFamily="34" charset="-122"/>
              <a:cs typeface="+mn-cs"/>
            </a:endParaRPr>
          </a:p>
        </p:txBody>
      </p:sp>
      <p:sp>
        <p:nvSpPr>
          <p:cNvPr id="62" name="TextBox 141">
            <a:extLst>
              <a:ext uri="{FF2B5EF4-FFF2-40B4-BE49-F238E27FC236}">
                <a16:creationId xmlns:a16="http://schemas.microsoft.com/office/drawing/2014/main" id="{7C415C56-A364-E70D-6319-50FCEBAC13A4}"/>
              </a:ext>
            </a:extLst>
          </p:cNvPr>
          <p:cNvSpPr txBox="1"/>
          <p:nvPr/>
        </p:nvSpPr>
        <p:spPr>
          <a:xfrm>
            <a:off x="8976936" y="175334"/>
            <a:ext cx="2441656" cy="1081962"/>
          </a:xfrm>
          <a:prstGeom prst="rect">
            <a:avLst/>
          </a:prstGeom>
          <a:noFill/>
          <a:ln w="9525">
            <a:noFill/>
          </a:ln>
        </p:spPr>
        <p:txBody>
          <a:bodyPr wrap="square" rtlCol="0" anchor="ctr">
            <a:noAutofit/>
          </a:bodyPr>
          <a:lstStyle/>
          <a:p>
            <a:pPr marL="0" marR="0" lvl="0" indent="0" algn="l" defTabSz="913852" rtl="0" eaLnBrk="1" fontAlgn="base" latinLnBrk="0" hangingPunct="1">
              <a:lnSpc>
                <a:spcPct val="100000"/>
              </a:lnSpc>
              <a:spcBef>
                <a:spcPct val="0"/>
              </a:spcBef>
              <a:spcAft>
                <a:spcPct val="0"/>
              </a:spcAft>
              <a:buClr>
                <a:srgbClr val="F8CCCC"/>
              </a:buClr>
              <a:buSzTx/>
              <a:buFontTx/>
              <a:buNone/>
              <a:tabLst/>
              <a:defRPr/>
            </a:pPr>
            <a:r>
              <a:rPr kumimoji="0" lang="zh-CN" altLang="en-US" sz="1600" b="1" i="0" u="none" strike="noStrike" kern="0" cap="none" spc="0" normalizeH="0" baseline="0" noProof="0" dirty="0">
                <a:ln>
                  <a:noFill/>
                </a:ln>
                <a:solidFill>
                  <a:srgbClr val="373545"/>
                </a:solidFill>
                <a:effectLst/>
                <a:uLnTx/>
                <a:uFillTx/>
                <a:latin typeface="Arial" panose="020B0604020202020204" pitchFamily="34" charset="0"/>
                <a:ea typeface="微软雅黑" panose="020B0503020204020204" pitchFamily="34" charset="-122"/>
                <a:cs typeface="Arial" pitchFamily="34" charset="0"/>
              </a:rPr>
              <a:t>以智能计划引擎为核心，全面支持供应链整体决策水平提升。核心智能决策的业务能力包括：</a:t>
            </a:r>
            <a:endParaRPr kumimoji="0" lang="en-US" altLang="zh-CN" sz="1600" b="1" i="0" u="none" strike="noStrike" kern="0" cap="none" spc="0" normalizeH="0" baseline="0" noProof="0" dirty="0">
              <a:ln>
                <a:noFill/>
              </a:ln>
              <a:solidFill>
                <a:srgbClr val="373545"/>
              </a:solidFill>
              <a:effectLst/>
              <a:uLnTx/>
              <a:uFillTx/>
              <a:latin typeface="Arial" panose="020B0604020202020204" pitchFamily="34" charset="0"/>
              <a:ea typeface="微软雅黑" panose="020B0503020204020204" pitchFamily="34" charset="-122"/>
              <a:cs typeface="Arial" pitchFamily="34" charset="0"/>
            </a:endParaRPr>
          </a:p>
        </p:txBody>
      </p:sp>
      <p:cxnSp>
        <p:nvCxnSpPr>
          <p:cNvPr id="63" name="直接连接符 62">
            <a:extLst>
              <a:ext uri="{FF2B5EF4-FFF2-40B4-BE49-F238E27FC236}">
                <a16:creationId xmlns:a16="http://schemas.microsoft.com/office/drawing/2014/main" id="{BBD68287-2319-DE77-C670-8AC282ACA51D}"/>
              </a:ext>
            </a:extLst>
          </p:cNvPr>
          <p:cNvCxnSpPr/>
          <p:nvPr/>
        </p:nvCxnSpPr>
        <p:spPr>
          <a:xfrm>
            <a:off x="8994632" y="1431282"/>
            <a:ext cx="2934364" cy="0"/>
          </a:xfrm>
          <a:prstGeom prst="line">
            <a:avLst/>
          </a:prstGeom>
          <a:ln>
            <a:solidFill>
              <a:schemeClr val="bg1"/>
            </a:solidFill>
          </a:ln>
        </p:spPr>
        <p:style>
          <a:lnRef idx="3">
            <a:schemeClr val="accent2"/>
          </a:lnRef>
          <a:fillRef idx="0">
            <a:schemeClr val="accent2"/>
          </a:fillRef>
          <a:effectRef idx="2">
            <a:schemeClr val="accent2"/>
          </a:effectRef>
          <a:fontRef idx="minor">
            <a:schemeClr val="tx1"/>
          </a:fontRef>
        </p:style>
      </p:cxnSp>
      <p:sp>
        <p:nvSpPr>
          <p:cNvPr id="64" name="椭圆 63">
            <a:extLst>
              <a:ext uri="{FF2B5EF4-FFF2-40B4-BE49-F238E27FC236}">
                <a16:creationId xmlns:a16="http://schemas.microsoft.com/office/drawing/2014/main" id="{B17009E2-B407-AE64-29F2-8EA671B3A9BB}"/>
              </a:ext>
            </a:extLst>
          </p:cNvPr>
          <p:cNvSpPr/>
          <p:nvPr/>
        </p:nvSpPr>
        <p:spPr>
          <a:xfrm>
            <a:off x="9026874" y="1658946"/>
            <a:ext cx="340807" cy="340807"/>
          </a:xfrm>
          <a:prstGeom prst="ellipse">
            <a:avLst/>
          </a:prstGeom>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1</a:t>
            </a:r>
            <a:endParaRPr kumimoji="0" lang="zh-CN" altLang="en-US" sz="18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65" name="矩形 64">
            <a:extLst>
              <a:ext uri="{FF2B5EF4-FFF2-40B4-BE49-F238E27FC236}">
                <a16:creationId xmlns:a16="http://schemas.microsoft.com/office/drawing/2014/main" id="{E9575847-0A2F-43C4-532D-A00DF105B7AE}"/>
              </a:ext>
            </a:extLst>
          </p:cNvPr>
          <p:cNvSpPr/>
          <p:nvPr/>
        </p:nvSpPr>
        <p:spPr>
          <a:xfrm>
            <a:off x="9450563" y="1568487"/>
            <a:ext cx="2464572" cy="1169551"/>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IBP (Intelligent Business Planning): </a:t>
            </a:r>
            <a:r>
              <a:rPr kumimoji="0" lang="zh-CN" altLang="en-US"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从产品、财务、营销、供应，资源战略层实现跨职能协同协奏制定一致性运营计划。</a:t>
            </a:r>
            <a:endParaRPr kumimoji="0" lang="zh-CN" altLang="en-US" sz="1400" b="0"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66" name="矩形 65">
            <a:extLst>
              <a:ext uri="{FF2B5EF4-FFF2-40B4-BE49-F238E27FC236}">
                <a16:creationId xmlns:a16="http://schemas.microsoft.com/office/drawing/2014/main" id="{B78FBE22-605E-7C68-AFBA-25558ACA32C1}"/>
              </a:ext>
            </a:extLst>
          </p:cNvPr>
          <p:cNvSpPr/>
          <p:nvPr/>
        </p:nvSpPr>
        <p:spPr>
          <a:xfrm>
            <a:off x="9462471" y="2994678"/>
            <a:ext cx="2464572" cy="954107"/>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ITP(Intelligent Tactical Planning):</a:t>
            </a:r>
            <a:r>
              <a:rPr kumimoji="0" lang="zh-CN" altLang="en-US"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承接战略，制定可行战术计划，对运营计划给出约束性指导。</a:t>
            </a:r>
            <a:endParaRPr kumimoji="0" lang="zh-CN" altLang="en-US" sz="1400" b="0"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67" name="椭圆 66">
            <a:extLst>
              <a:ext uri="{FF2B5EF4-FFF2-40B4-BE49-F238E27FC236}">
                <a16:creationId xmlns:a16="http://schemas.microsoft.com/office/drawing/2014/main" id="{62D9B212-A11E-0945-D6E4-1F4B27BEBA76}"/>
              </a:ext>
            </a:extLst>
          </p:cNvPr>
          <p:cNvSpPr/>
          <p:nvPr/>
        </p:nvSpPr>
        <p:spPr>
          <a:xfrm>
            <a:off x="9050238" y="2959993"/>
            <a:ext cx="340807" cy="340807"/>
          </a:xfrm>
          <a:prstGeom prst="ellipse">
            <a:avLst/>
          </a:prstGeom>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2</a:t>
            </a:r>
            <a:endParaRPr kumimoji="0" lang="zh-CN" altLang="en-US" sz="18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68" name="矩形 67">
            <a:extLst>
              <a:ext uri="{FF2B5EF4-FFF2-40B4-BE49-F238E27FC236}">
                <a16:creationId xmlns:a16="http://schemas.microsoft.com/office/drawing/2014/main" id="{EC60E23D-71DA-EF95-D9A0-047F365EAE7E}"/>
              </a:ext>
            </a:extLst>
          </p:cNvPr>
          <p:cNvSpPr/>
          <p:nvPr/>
        </p:nvSpPr>
        <p:spPr>
          <a:xfrm>
            <a:off x="9482399" y="4301433"/>
            <a:ext cx="2464572" cy="954107"/>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IOP</a:t>
            </a:r>
            <a:r>
              <a:rPr kumimoji="0" lang="zh-CN" altLang="en-US" sz="1400" b="1"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a:t>
            </a:r>
            <a:r>
              <a:rPr kumimoji="0" lang="en-US" altLang="zh-CN" sz="1400" b="1"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Intelligent Operational Planning</a:t>
            </a:r>
            <a:r>
              <a:rPr kumimoji="0" lang="zh-CN" altLang="en-US" sz="1400" b="1"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a:t>
            </a:r>
            <a:r>
              <a:rPr kumimoji="0" lang="en-US" altLang="zh-CN" sz="1400" b="1"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 </a:t>
            </a:r>
            <a:r>
              <a:rPr kumimoji="0" lang="zh-CN" altLang="en-US" sz="1400" b="1"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基于战术规划，智能智慧日常运营</a:t>
            </a:r>
            <a:r>
              <a:rPr kumimoji="0" lang="zh-CN" altLang="en-US"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a:t>
            </a:r>
            <a:endParaRPr kumimoji="0" lang="zh-CN" altLang="en-US" sz="1400" b="0"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69" name="椭圆 68">
            <a:extLst>
              <a:ext uri="{FF2B5EF4-FFF2-40B4-BE49-F238E27FC236}">
                <a16:creationId xmlns:a16="http://schemas.microsoft.com/office/drawing/2014/main" id="{CB0A71B2-677B-B923-1536-00CD162971A8}"/>
              </a:ext>
            </a:extLst>
          </p:cNvPr>
          <p:cNvSpPr/>
          <p:nvPr/>
        </p:nvSpPr>
        <p:spPr>
          <a:xfrm>
            <a:off x="9070576" y="4229521"/>
            <a:ext cx="340807" cy="340807"/>
          </a:xfrm>
          <a:prstGeom prst="ellipse">
            <a:avLst/>
          </a:prstGeom>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3</a:t>
            </a:r>
            <a:endParaRPr kumimoji="0" lang="zh-CN" altLang="en-US" sz="18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70" name="矩形 69">
            <a:extLst>
              <a:ext uri="{FF2B5EF4-FFF2-40B4-BE49-F238E27FC236}">
                <a16:creationId xmlns:a16="http://schemas.microsoft.com/office/drawing/2014/main" id="{956EFD31-5FD6-91C2-52BF-1DF290A750B2}"/>
              </a:ext>
            </a:extLst>
          </p:cNvPr>
          <p:cNvSpPr/>
          <p:nvPr/>
        </p:nvSpPr>
        <p:spPr>
          <a:xfrm>
            <a:off x="9530989" y="5563761"/>
            <a:ext cx="2464572" cy="954107"/>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One Plan:</a:t>
            </a:r>
            <a:r>
              <a:rPr kumimoji="0" lang="zh-CN" altLang="en-US"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从战略，战术到执行的协同，从</a:t>
            </a:r>
            <a:r>
              <a:rPr kumimoji="0" lang="en-US" altLang="zh-CN"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Source,</a:t>
            </a:r>
            <a:r>
              <a:rPr kumimoji="0" lang="zh-CN" altLang="en-US"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 </a:t>
            </a:r>
            <a:r>
              <a:rPr kumimoji="0" lang="en-US" altLang="zh-CN"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Make</a:t>
            </a:r>
            <a:r>
              <a:rPr kumimoji="0" lang="zh-CN" altLang="en-US"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到</a:t>
            </a:r>
            <a:r>
              <a:rPr kumimoji="0" lang="en-US" altLang="zh-CN"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Delivery</a:t>
            </a:r>
            <a:r>
              <a:rPr kumimoji="0" lang="zh-CN" altLang="en-US"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协同一致的计划。</a:t>
            </a:r>
            <a:endParaRPr kumimoji="0" lang="en-US" altLang="zh-CN"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从</a:t>
            </a:r>
            <a:r>
              <a:rPr kumimoji="0" lang="en-US" altLang="zh-CN"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In-house</a:t>
            </a:r>
            <a:r>
              <a:rPr kumimoji="0" lang="zh-CN" altLang="en-US"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rPr>
              <a:t>到生态的协同</a:t>
            </a:r>
            <a:endParaRPr kumimoji="0" lang="en-US" altLang="zh-CN" sz="1400" b="0" i="0" u="none" strike="noStrike" kern="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Arial" pitchFamily="34" charset="0"/>
            </a:endParaRPr>
          </a:p>
        </p:txBody>
      </p:sp>
      <p:sp>
        <p:nvSpPr>
          <p:cNvPr id="71" name="椭圆 70">
            <a:extLst>
              <a:ext uri="{FF2B5EF4-FFF2-40B4-BE49-F238E27FC236}">
                <a16:creationId xmlns:a16="http://schemas.microsoft.com/office/drawing/2014/main" id="{45739C9B-F7DD-74FF-D5F0-DDFF9CA4A5D9}"/>
              </a:ext>
            </a:extLst>
          </p:cNvPr>
          <p:cNvSpPr/>
          <p:nvPr/>
        </p:nvSpPr>
        <p:spPr>
          <a:xfrm>
            <a:off x="9101400" y="5569163"/>
            <a:ext cx="340807" cy="340807"/>
          </a:xfrm>
          <a:prstGeom prst="ellipse">
            <a:avLst/>
          </a:prstGeom>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4</a:t>
            </a:r>
            <a:endParaRPr kumimoji="0" lang="zh-CN" altLang="en-US" sz="18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endParaRPr>
          </a:p>
        </p:txBody>
      </p:sp>
      <p:sp>
        <p:nvSpPr>
          <p:cNvPr id="72" name="椭圆 71">
            <a:extLst>
              <a:ext uri="{FF2B5EF4-FFF2-40B4-BE49-F238E27FC236}">
                <a16:creationId xmlns:a16="http://schemas.microsoft.com/office/drawing/2014/main" id="{E8FEA015-E921-2FA5-DD97-AA294E6F5B6E}"/>
              </a:ext>
            </a:extLst>
          </p:cNvPr>
          <p:cNvSpPr/>
          <p:nvPr/>
        </p:nvSpPr>
        <p:spPr>
          <a:xfrm>
            <a:off x="4290934" y="3842343"/>
            <a:ext cx="320784" cy="272529"/>
          </a:xfrm>
          <a:prstGeom prst="ellipse">
            <a:avLst/>
          </a:prstGeom>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srgbClr val="75BDA7"/>
                </a:solidFill>
                <a:effectLst/>
                <a:uLnTx/>
                <a:uFillTx/>
                <a:latin typeface="Arial" panose="020B0604020202020204" pitchFamily="34" charset="0"/>
                <a:ea typeface="微软雅黑" panose="020B0503020204020204" pitchFamily="34" charset="-122"/>
                <a:cs typeface="+mn-cs"/>
              </a:rPr>
              <a:t>1</a:t>
            </a:r>
            <a:endParaRPr kumimoji="0" lang="zh-CN" altLang="en-US" sz="1800" b="1" i="0" u="none" strike="noStrike" kern="1200" cap="none" spc="0" normalizeH="0" baseline="0" noProof="0" dirty="0">
              <a:ln>
                <a:noFill/>
              </a:ln>
              <a:solidFill>
                <a:srgbClr val="75BDA7"/>
              </a:solidFill>
              <a:effectLst/>
              <a:uLnTx/>
              <a:uFillTx/>
              <a:latin typeface="Arial" panose="020B0604020202020204" pitchFamily="34" charset="0"/>
              <a:ea typeface="微软雅黑" panose="020B0503020204020204" pitchFamily="34" charset="-122"/>
              <a:cs typeface="+mn-cs"/>
            </a:endParaRPr>
          </a:p>
        </p:txBody>
      </p:sp>
      <p:sp>
        <p:nvSpPr>
          <p:cNvPr id="73" name="椭圆 72">
            <a:extLst>
              <a:ext uri="{FF2B5EF4-FFF2-40B4-BE49-F238E27FC236}">
                <a16:creationId xmlns:a16="http://schemas.microsoft.com/office/drawing/2014/main" id="{0E48BA3D-0CA4-546F-7CEA-D8592452BE9C}"/>
              </a:ext>
            </a:extLst>
          </p:cNvPr>
          <p:cNvSpPr/>
          <p:nvPr/>
        </p:nvSpPr>
        <p:spPr>
          <a:xfrm>
            <a:off x="2881166" y="4185339"/>
            <a:ext cx="340807" cy="340807"/>
          </a:xfrm>
          <a:prstGeom prst="ellipse">
            <a:avLst/>
          </a:prstGeom>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srgbClr val="75BDA7"/>
                </a:solidFill>
                <a:effectLst/>
                <a:uLnTx/>
                <a:uFillTx/>
                <a:latin typeface="Arial" panose="020B0604020202020204" pitchFamily="34" charset="0"/>
                <a:ea typeface="微软雅黑" panose="020B0503020204020204" pitchFamily="34" charset="-122"/>
                <a:cs typeface="+mn-cs"/>
              </a:rPr>
              <a:t>2</a:t>
            </a:r>
            <a:endParaRPr kumimoji="0" lang="zh-CN" altLang="en-US" sz="1800" b="1" i="0" u="none" strike="noStrike" kern="1200" cap="none" spc="0" normalizeH="0" baseline="0" noProof="0" dirty="0">
              <a:ln>
                <a:noFill/>
              </a:ln>
              <a:solidFill>
                <a:srgbClr val="75BDA7"/>
              </a:solidFill>
              <a:effectLst/>
              <a:uLnTx/>
              <a:uFillTx/>
              <a:latin typeface="Arial" panose="020B0604020202020204" pitchFamily="34" charset="0"/>
              <a:ea typeface="微软雅黑" panose="020B0503020204020204" pitchFamily="34" charset="-122"/>
              <a:cs typeface="+mn-cs"/>
            </a:endParaRPr>
          </a:p>
        </p:txBody>
      </p:sp>
      <p:sp>
        <p:nvSpPr>
          <p:cNvPr id="74" name="椭圆 73">
            <a:extLst>
              <a:ext uri="{FF2B5EF4-FFF2-40B4-BE49-F238E27FC236}">
                <a16:creationId xmlns:a16="http://schemas.microsoft.com/office/drawing/2014/main" id="{00C434EE-9E02-AB11-2AF8-8E2AE8A3A755}"/>
              </a:ext>
            </a:extLst>
          </p:cNvPr>
          <p:cNvSpPr/>
          <p:nvPr/>
        </p:nvSpPr>
        <p:spPr>
          <a:xfrm>
            <a:off x="6554583" y="4134761"/>
            <a:ext cx="340807" cy="340807"/>
          </a:xfrm>
          <a:prstGeom prst="ellipse">
            <a:avLst/>
          </a:prstGeom>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srgbClr val="75BDA7"/>
                </a:solidFill>
                <a:effectLst/>
                <a:uLnTx/>
                <a:uFillTx/>
                <a:latin typeface="Arial" panose="020B0604020202020204" pitchFamily="34" charset="0"/>
                <a:ea typeface="微软雅黑" panose="020B0503020204020204" pitchFamily="34" charset="-122"/>
                <a:cs typeface="+mn-cs"/>
              </a:rPr>
              <a:t>3</a:t>
            </a:r>
            <a:endParaRPr kumimoji="0" lang="zh-CN" altLang="en-US" sz="1800" b="1" i="0" u="none" strike="noStrike" kern="1200" cap="none" spc="0" normalizeH="0" baseline="0" noProof="0" dirty="0">
              <a:ln>
                <a:noFill/>
              </a:ln>
              <a:solidFill>
                <a:srgbClr val="75BDA7"/>
              </a:solidFill>
              <a:effectLst/>
              <a:uLnTx/>
              <a:uFillTx/>
              <a:latin typeface="Arial" panose="020B0604020202020204" pitchFamily="34" charset="0"/>
              <a:ea typeface="微软雅黑" panose="020B0503020204020204" pitchFamily="34" charset="-122"/>
              <a:cs typeface="+mn-cs"/>
            </a:endParaRPr>
          </a:p>
        </p:txBody>
      </p:sp>
      <p:sp>
        <p:nvSpPr>
          <p:cNvPr id="75" name="椭圆 74">
            <a:extLst>
              <a:ext uri="{FF2B5EF4-FFF2-40B4-BE49-F238E27FC236}">
                <a16:creationId xmlns:a16="http://schemas.microsoft.com/office/drawing/2014/main" id="{0FC35200-5627-7416-E806-ADF841679279}"/>
              </a:ext>
            </a:extLst>
          </p:cNvPr>
          <p:cNvSpPr/>
          <p:nvPr/>
        </p:nvSpPr>
        <p:spPr>
          <a:xfrm>
            <a:off x="5400381" y="4261180"/>
            <a:ext cx="340807" cy="340807"/>
          </a:xfrm>
          <a:prstGeom prst="ellipse">
            <a:avLst/>
          </a:prstGeom>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srgbClr val="75BDA7"/>
                </a:solidFill>
                <a:effectLst/>
                <a:uLnTx/>
                <a:uFillTx/>
                <a:latin typeface="Arial" panose="020B0604020202020204" pitchFamily="34" charset="0"/>
                <a:ea typeface="微软雅黑" panose="020B0503020204020204" pitchFamily="34" charset="-122"/>
                <a:cs typeface="+mn-cs"/>
              </a:rPr>
              <a:t>4</a:t>
            </a:r>
            <a:endParaRPr kumimoji="0" lang="zh-CN" altLang="en-US" sz="1800" b="1" i="0" u="none" strike="noStrike" kern="1200" cap="none" spc="0" normalizeH="0" baseline="0" noProof="0" dirty="0">
              <a:ln>
                <a:noFill/>
              </a:ln>
              <a:solidFill>
                <a:srgbClr val="75BDA7"/>
              </a:solidFill>
              <a:effectLst/>
              <a:uLnTx/>
              <a:uFillTx/>
              <a:latin typeface="Arial" panose="020B0604020202020204" pitchFamily="34" charset="0"/>
              <a:ea typeface="微软雅黑" panose="020B0503020204020204" pitchFamily="34" charset="-122"/>
              <a:cs typeface="+mn-cs"/>
            </a:endParaRPr>
          </a:p>
        </p:txBody>
      </p:sp>
      <p:sp>
        <p:nvSpPr>
          <p:cNvPr id="76" name="等腰三角形 75">
            <a:extLst>
              <a:ext uri="{FF2B5EF4-FFF2-40B4-BE49-F238E27FC236}">
                <a16:creationId xmlns:a16="http://schemas.microsoft.com/office/drawing/2014/main" id="{5A894C5A-C202-1923-8438-C3BA2D5DB1CB}"/>
              </a:ext>
            </a:extLst>
          </p:cNvPr>
          <p:cNvSpPr/>
          <p:nvPr/>
        </p:nvSpPr>
        <p:spPr>
          <a:xfrm rot="16200000">
            <a:off x="4664769" y="2884869"/>
            <a:ext cx="844151" cy="152451"/>
          </a:xfrm>
          <a:prstGeom prst="triangle">
            <a:avLst/>
          </a:prstGeom>
          <a:solidFill>
            <a:srgbClr val="B2D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zh-CN" altLang="en-US" sz="1799"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77" name="矩形: 圆角 178">
            <a:extLst>
              <a:ext uri="{FF2B5EF4-FFF2-40B4-BE49-F238E27FC236}">
                <a16:creationId xmlns:a16="http://schemas.microsoft.com/office/drawing/2014/main" id="{ACB32787-8310-1C74-132F-74767574A898}"/>
              </a:ext>
            </a:extLst>
          </p:cNvPr>
          <p:cNvSpPr/>
          <p:nvPr/>
        </p:nvSpPr>
        <p:spPr>
          <a:xfrm>
            <a:off x="2916315" y="6173036"/>
            <a:ext cx="1034563" cy="342812"/>
          </a:xfrm>
          <a:prstGeom prst="roundRect">
            <a:avLst/>
          </a:prstGeom>
          <a:solidFill>
            <a:srgbClr val="4D88C3"/>
          </a:solidFill>
          <a:ln w="9525">
            <a:solidFill>
              <a:srgbClr val="00B0F0"/>
            </a:solidFill>
          </a:ln>
        </p:spPr>
        <p:txBody>
          <a:bodyPr wrap="square" rtlCol="0" anchor="t">
            <a:noAutofit/>
          </a:bodyPr>
          <a:lstStyle/>
          <a:p>
            <a:pPr marL="0" marR="0" lvl="0" indent="0" algn="ctr" defTabSz="913852" rtl="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ERP</a:t>
            </a:r>
            <a:endParaRPr kumimoji="0" lang="zh-CN" altLang="en-US" sz="1400" b="1"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cxnSp>
        <p:nvCxnSpPr>
          <p:cNvPr id="3" name="直接箭头连接符 2">
            <a:extLst>
              <a:ext uri="{FF2B5EF4-FFF2-40B4-BE49-F238E27FC236}">
                <a16:creationId xmlns:a16="http://schemas.microsoft.com/office/drawing/2014/main" id="{8EB8B2BF-EDDC-161C-8EDC-CE3F46B963CB}"/>
              </a:ext>
            </a:extLst>
          </p:cNvPr>
          <p:cNvCxnSpPr/>
          <p:nvPr/>
        </p:nvCxnSpPr>
        <p:spPr>
          <a:xfrm>
            <a:off x="5617045" y="5884194"/>
            <a:ext cx="0" cy="276611"/>
          </a:xfrm>
          <a:prstGeom prst="straightConnector1">
            <a:avLst/>
          </a:prstGeom>
          <a:ln>
            <a:solidFill>
              <a:schemeClr val="bg1"/>
            </a:solidFill>
            <a:headEnd type="stealth"/>
            <a:tailEnd type="stealth"/>
          </a:ln>
        </p:spPr>
        <p:style>
          <a:lnRef idx="1">
            <a:schemeClr val="accent4"/>
          </a:lnRef>
          <a:fillRef idx="0">
            <a:schemeClr val="accent4"/>
          </a:fillRef>
          <a:effectRef idx="0">
            <a:schemeClr val="accent4"/>
          </a:effectRef>
          <a:fontRef idx="minor">
            <a:schemeClr val="tx1"/>
          </a:fontRef>
        </p:style>
      </p:cxnSp>
    </p:spTree>
    <p:extLst>
      <p:ext uri="{BB962C8B-B14F-4D97-AF65-F5344CB8AC3E}">
        <p14:creationId xmlns:p14="http://schemas.microsoft.com/office/powerpoint/2010/main" val="406581459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4DE11A6-C5E3-C186-56B8-9DF702EC19E7}"/>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智能决策的全面自动化执行</a:t>
            </a:r>
          </a:p>
        </p:txBody>
      </p:sp>
      <p:sp>
        <p:nvSpPr>
          <p:cNvPr id="4" name="文本框 3">
            <a:extLst>
              <a:ext uri="{FF2B5EF4-FFF2-40B4-BE49-F238E27FC236}">
                <a16:creationId xmlns:a16="http://schemas.microsoft.com/office/drawing/2014/main" id="{7FA0D85F-041B-0411-7A70-94EA5DFC0CF3}"/>
              </a:ext>
            </a:extLst>
          </p:cNvPr>
          <p:cNvSpPr txBox="1"/>
          <p:nvPr/>
        </p:nvSpPr>
        <p:spPr>
          <a:xfrm>
            <a:off x="317609" y="1472320"/>
            <a:ext cx="2625256" cy="4479797"/>
          </a:xfrm>
          <a:prstGeom prst="rect">
            <a:avLst/>
          </a:prstGeom>
          <a:solidFill>
            <a:schemeClr val="accent1">
              <a:lumMod val="60000"/>
              <a:lumOff val="40000"/>
            </a:schemeClr>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endParaRPr>
          </a:p>
        </p:txBody>
      </p:sp>
      <p:grpSp>
        <p:nvGrpSpPr>
          <p:cNvPr id="6" name="组合 5">
            <a:extLst>
              <a:ext uri="{FF2B5EF4-FFF2-40B4-BE49-F238E27FC236}">
                <a16:creationId xmlns:a16="http://schemas.microsoft.com/office/drawing/2014/main" id="{2E045D9A-A4B8-287D-07F8-5540EA868A6D}"/>
              </a:ext>
            </a:extLst>
          </p:cNvPr>
          <p:cNvGrpSpPr/>
          <p:nvPr/>
        </p:nvGrpSpPr>
        <p:grpSpPr>
          <a:xfrm>
            <a:off x="3958387" y="1188957"/>
            <a:ext cx="7200000" cy="900000"/>
            <a:chOff x="3896915" y="1188957"/>
            <a:chExt cx="7200000" cy="900000"/>
          </a:xfrm>
        </p:grpSpPr>
        <p:sp>
          <p:nvSpPr>
            <p:cNvPr id="7" name="object 9">
              <a:extLst>
                <a:ext uri="{FF2B5EF4-FFF2-40B4-BE49-F238E27FC236}">
                  <a16:creationId xmlns:a16="http://schemas.microsoft.com/office/drawing/2014/main" id="{AC1FF99A-DF3D-A898-B6E9-CB4143402880}"/>
                </a:ext>
              </a:extLst>
            </p:cNvPr>
            <p:cNvSpPr/>
            <p:nvPr/>
          </p:nvSpPr>
          <p:spPr>
            <a:xfrm>
              <a:off x="3896915" y="1188957"/>
              <a:ext cx="7200000" cy="900000"/>
            </a:xfrm>
            <a:custGeom>
              <a:avLst/>
              <a:gdLst/>
              <a:ahLst/>
              <a:cxnLst/>
              <a:rect l="l" t="t" r="r" b="b"/>
              <a:pathLst>
                <a:path w="6482080" h="1283335">
                  <a:moveTo>
                    <a:pt x="6267704" y="0"/>
                  </a:moveTo>
                  <a:lnTo>
                    <a:pt x="213867" y="0"/>
                  </a:lnTo>
                  <a:lnTo>
                    <a:pt x="164831" y="5648"/>
                  </a:lnTo>
                  <a:lnTo>
                    <a:pt x="119816" y="21738"/>
                  </a:lnTo>
                  <a:lnTo>
                    <a:pt x="80107" y="46986"/>
                  </a:lnTo>
                  <a:lnTo>
                    <a:pt x="46986" y="80107"/>
                  </a:lnTo>
                  <a:lnTo>
                    <a:pt x="21738" y="119816"/>
                  </a:lnTo>
                  <a:lnTo>
                    <a:pt x="5648" y="164831"/>
                  </a:lnTo>
                  <a:lnTo>
                    <a:pt x="0" y="213868"/>
                  </a:lnTo>
                  <a:lnTo>
                    <a:pt x="0" y="1069340"/>
                  </a:lnTo>
                  <a:lnTo>
                    <a:pt x="5648" y="1118376"/>
                  </a:lnTo>
                  <a:lnTo>
                    <a:pt x="21738" y="1163391"/>
                  </a:lnTo>
                  <a:lnTo>
                    <a:pt x="46986" y="1203100"/>
                  </a:lnTo>
                  <a:lnTo>
                    <a:pt x="80107" y="1236221"/>
                  </a:lnTo>
                  <a:lnTo>
                    <a:pt x="119816" y="1261469"/>
                  </a:lnTo>
                  <a:lnTo>
                    <a:pt x="164831" y="1277559"/>
                  </a:lnTo>
                  <a:lnTo>
                    <a:pt x="213867" y="1283208"/>
                  </a:lnTo>
                  <a:lnTo>
                    <a:pt x="6267704" y="1283208"/>
                  </a:lnTo>
                  <a:lnTo>
                    <a:pt x="6316740" y="1277559"/>
                  </a:lnTo>
                  <a:lnTo>
                    <a:pt x="6361755" y="1261469"/>
                  </a:lnTo>
                  <a:lnTo>
                    <a:pt x="6401464" y="1236221"/>
                  </a:lnTo>
                  <a:lnTo>
                    <a:pt x="6434585" y="1203100"/>
                  </a:lnTo>
                  <a:lnTo>
                    <a:pt x="6459833" y="1163391"/>
                  </a:lnTo>
                  <a:lnTo>
                    <a:pt x="6475923" y="1118376"/>
                  </a:lnTo>
                  <a:lnTo>
                    <a:pt x="6481572" y="1069340"/>
                  </a:lnTo>
                  <a:lnTo>
                    <a:pt x="6481572" y="213868"/>
                  </a:lnTo>
                  <a:lnTo>
                    <a:pt x="6475923" y="164831"/>
                  </a:lnTo>
                  <a:lnTo>
                    <a:pt x="6459833" y="119816"/>
                  </a:lnTo>
                  <a:lnTo>
                    <a:pt x="6434585" y="80107"/>
                  </a:lnTo>
                  <a:lnTo>
                    <a:pt x="6401464" y="46986"/>
                  </a:lnTo>
                  <a:lnTo>
                    <a:pt x="6361755" y="21738"/>
                  </a:lnTo>
                  <a:lnTo>
                    <a:pt x="6316740" y="5648"/>
                  </a:lnTo>
                  <a:lnTo>
                    <a:pt x="6267704" y="0"/>
                  </a:lnTo>
                  <a:close/>
                </a:path>
              </a:pathLst>
            </a:custGeom>
            <a:solidFill>
              <a:srgbClr val="B7DEE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8" name="文本框 7">
              <a:extLst>
                <a:ext uri="{FF2B5EF4-FFF2-40B4-BE49-F238E27FC236}">
                  <a16:creationId xmlns:a16="http://schemas.microsoft.com/office/drawing/2014/main" id="{24DE1651-4AE6-D781-F6AE-9D6EBA8BE5B0}"/>
                </a:ext>
              </a:extLst>
            </p:cNvPr>
            <p:cNvSpPr txBox="1"/>
            <p:nvPr/>
          </p:nvSpPr>
          <p:spPr>
            <a:xfrm>
              <a:off x="4025704" y="1472320"/>
              <a:ext cx="6619742"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交期，通知库房成品发货，欠料，工单，排程，</a:t>
              </a:r>
              <a:r>
                <a:rPr kumimoji="0" lang="en-US" altLang="zh-CN" sz="1800"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Call</a:t>
              </a:r>
              <a:r>
                <a:rPr kumimoji="0" lang="zh-CN" altLang="en-US" sz="1800"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料一键生成</a:t>
              </a:r>
            </a:p>
          </p:txBody>
        </p:sp>
      </p:grpSp>
      <p:sp>
        <p:nvSpPr>
          <p:cNvPr id="9" name="object 5">
            <a:extLst>
              <a:ext uri="{FF2B5EF4-FFF2-40B4-BE49-F238E27FC236}">
                <a16:creationId xmlns:a16="http://schemas.microsoft.com/office/drawing/2014/main" id="{9EADAA90-F878-61D0-4DB5-8F9F5229B526}"/>
              </a:ext>
            </a:extLst>
          </p:cNvPr>
          <p:cNvSpPr/>
          <p:nvPr/>
        </p:nvSpPr>
        <p:spPr>
          <a:xfrm>
            <a:off x="3312896" y="1205186"/>
            <a:ext cx="0" cy="5039995"/>
          </a:xfrm>
          <a:custGeom>
            <a:avLst/>
            <a:gdLst/>
            <a:ahLst/>
            <a:cxnLst/>
            <a:rect l="l" t="t" r="r" b="b"/>
            <a:pathLst>
              <a:path h="5039995">
                <a:moveTo>
                  <a:pt x="0" y="0"/>
                </a:moveTo>
                <a:lnTo>
                  <a:pt x="0" y="5039995"/>
                </a:lnTo>
              </a:path>
            </a:pathLst>
          </a:custGeom>
          <a:ln w="19050">
            <a:solidFill>
              <a:schemeClr val="tx1"/>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 name="文本框 9">
            <a:extLst>
              <a:ext uri="{FF2B5EF4-FFF2-40B4-BE49-F238E27FC236}">
                <a16:creationId xmlns:a16="http://schemas.microsoft.com/office/drawing/2014/main" id="{805EF500-F03A-58BD-7053-4FBFCD5DA3B1}"/>
              </a:ext>
            </a:extLst>
          </p:cNvPr>
          <p:cNvSpPr txBox="1"/>
          <p:nvPr/>
        </p:nvSpPr>
        <p:spPr>
          <a:xfrm>
            <a:off x="530143" y="2484335"/>
            <a:ext cx="1877977" cy="258532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我懂顾我决，</a:t>
            </a:r>
            <a:endParaRPr kumimoji="0" lang="en-US" altLang="zh-CN"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我信顾我随。</a:t>
            </a:r>
            <a:endParaRPr kumimoji="0" lang="en-US" altLang="zh-CN"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快速高效的决策，</a:t>
            </a:r>
            <a:endParaRPr kumimoji="0" lang="en-US" altLang="zh-CN"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军令如山的执行，</a:t>
            </a:r>
            <a:endParaRPr kumimoji="0" lang="en-US" altLang="zh-CN"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执行与决策之间反馈互动，适时调整。</a:t>
            </a:r>
            <a:endParaRPr kumimoji="0" lang="en-US" altLang="zh-CN"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nvGrpSpPr>
          <p:cNvPr id="11" name="组合 10">
            <a:extLst>
              <a:ext uri="{FF2B5EF4-FFF2-40B4-BE49-F238E27FC236}">
                <a16:creationId xmlns:a16="http://schemas.microsoft.com/office/drawing/2014/main" id="{626A1191-3CC7-3FDF-1E7F-C72489B15DCF}"/>
              </a:ext>
            </a:extLst>
          </p:cNvPr>
          <p:cNvGrpSpPr/>
          <p:nvPr/>
        </p:nvGrpSpPr>
        <p:grpSpPr>
          <a:xfrm>
            <a:off x="3965338" y="4290377"/>
            <a:ext cx="7200000" cy="900000"/>
            <a:chOff x="3896911" y="4619795"/>
            <a:chExt cx="7200000" cy="900000"/>
          </a:xfrm>
        </p:grpSpPr>
        <p:sp>
          <p:nvSpPr>
            <p:cNvPr id="12" name="object 14">
              <a:extLst>
                <a:ext uri="{FF2B5EF4-FFF2-40B4-BE49-F238E27FC236}">
                  <a16:creationId xmlns:a16="http://schemas.microsoft.com/office/drawing/2014/main" id="{8B2B1396-1D44-A111-A118-80D18D2652AC}"/>
                </a:ext>
              </a:extLst>
            </p:cNvPr>
            <p:cNvSpPr/>
            <p:nvPr/>
          </p:nvSpPr>
          <p:spPr>
            <a:xfrm>
              <a:off x="3896911" y="4619795"/>
              <a:ext cx="7200000" cy="900000"/>
            </a:xfrm>
            <a:custGeom>
              <a:avLst/>
              <a:gdLst/>
              <a:ahLst/>
              <a:cxnLst/>
              <a:rect l="l" t="t" r="r" b="b"/>
              <a:pathLst>
                <a:path w="6482080" h="1283335">
                  <a:moveTo>
                    <a:pt x="6267704" y="0"/>
                  </a:moveTo>
                  <a:lnTo>
                    <a:pt x="213867" y="0"/>
                  </a:lnTo>
                  <a:lnTo>
                    <a:pt x="164831" y="5648"/>
                  </a:lnTo>
                  <a:lnTo>
                    <a:pt x="119816" y="21738"/>
                  </a:lnTo>
                  <a:lnTo>
                    <a:pt x="80107" y="46986"/>
                  </a:lnTo>
                  <a:lnTo>
                    <a:pt x="46986" y="80107"/>
                  </a:lnTo>
                  <a:lnTo>
                    <a:pt x="21738" y="119816"/>
                  </a:lnTo>
                  <a:lnTo>
                    <a:pt x="5648" y="164831"/>
                  </a:lnTo>
                  <a:lnTo>
                    <a:pt x="0" y="213867"/>
                  </a:lnTo>
                  <a:lnTo>
                    <a:pt x="0" y="1069339"/>
                  </a:lnTo>
                  <a:lnTo>
                    <a:pt x="5648" y="1118376"/>
                  </a:lnTo>
                  <a:lnTo>
                    <a:pt x="21738" y="1163391"/>
                  </a:lnTo>
                  <a:lnTo>
                    <a:pt x="46986" y="1203100"/>
                  </a:lnTo>
                  <a:lnTo>
                    <a:pt x="80107" y="1236221"/>
                  </a:lnTo>
                  <a:lnTo>
                    <a:pt x="119816" y="1261469"/>
                  </a:lnTo>
                  <a:lnTo>
                    <a:pt x="164831" y="1277559"/>
                  </a:lnTo>
                  <a:lnTo>
                    <a:pt x="213867" y="1283208"/>
                  </a:lnTo>
                  <a:lnTo>
                    <a:pt x="6267704" y="1283208"/>
                  </a:lnTo>
                  <a:lnTo>
                    <a:pt x="6316740" y="1277559"/>
                  </a:lnTo>
                  <a:lnTo>
                    <a:pt x="6361755" y="1261469"/>
                  </a:lnTo>
                  <a:lnTo>
                    <a:pt x="6401464" y="1236221"/>
                  </a:lnTo>
                  <a:lnTo>
                    <a:pt x="6434585" y="1203100"/>
                  </a:lnTo>
                  <a:lnTo>
                    <a:pt x="6459833" y="1163391"/>
                  </a:lnTo>
                  <a:lnTo>
                    <a:pt x="6475923" y="1118376"/>
                  </a:lnTo>
                  <a:lnTo>
                    <a:pt x="6481572" y="1069339"/>
                  </a:lnTo>
                  <a:lnTo>
                    <a:pt x="6481572" y="213867"/>
                  </a:lnTo>
                  <a:lnTo>
                    <a:pt x="6475923" y="164831"/>
                  </a:lnTo>
                  <a:lnTo>
                    <a:pt x="6459833" y="119816"/>
                  </a:lnTo>
                  <a:lnTo>
                    <a:pt x="6434585" y="80107"/>
                  </a:lnTo>
                  <a:lnTo>
                    <a:pt x="6401464" y="46986"/>
                  </a:lnTo>
                  <a:lnTo>
                    <a:pt x="6361755" y="21738"/>
                  </a:lnTo>
                  <a:lnTo>
                    <a:pt x="6316740" y="5648"/>
                  </a:lnTo>
                  <a:lnTo>
                    <a:pt x="6267704" y="0"/>
                  </a:lnTo>
                  <a:close/>
                </a:path>
              </a:pathLst>
            </a:custGeom>
            <a:solidFill>
              <a:schemeClr val="accent3">
                <a:lumMod val="40000"/>
                <a:lumOff val="60000"/>
              </a:scheme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3" name="文本框 12">
              <a:extLst>
                <a:ext uri="{FF2B5EF4-FFF2-40B4-BE49-F238E27FC236}">
                  <a16:creationId xmlns:a16="http://schemas.microsoft.com/office/drawing/2014/main" id="{30BB4FEE-E5DC-F2E8-54C6-2309B8DAFE07}"/>
                </a:ext>
              </a:extLst>
            </p:cNvPr>
            <p:cNvSpPr txBox="1"/>
            <p:nvPr/>
          </p:nvSpPr>
          <p:spPr>
            <a:xfrm>
              <a:off x="4087720" y="4866349"/>
              <a:ext cx="6940768"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产销协同的战略选择和公平公正，附以模拟仿真来达到一致性决策</a:t>
              </a:r>
            </a:p>
          </p:txBody>
        </p:sp>
      </p:grpSp>
      <p:grpSp>
        <p:nvGrpSpPr>
          <p:cNvPr id="14" name="组合 13">
            <a:extLst>
              <a:ext uri="{FF2B5EF4-FFF2-40B4-BE49-F238E27FC236}">
                <a16:creationId xmlns:a16="http://schemas.microsoft.com/office/drawing/2014/main" id="{EE2E013F-107C-EAE1-BD49-DFDB5FA67CA8}"/>
              </a:ext>
            </a:extLst>
          </p:cNvPr>
          <p:cNvGrpSpPr/>
          <p:nvPr/>
        </p:nvGrpSpPr>
        <p:grpSpPr>
          <a:xfrm>
            <a:off x="3965338" y="3242224"/>
            <a:ext cx="7200000" cy="900000"/>
            <a:chOff x="3892095" y="3429000"/>
            <a:chExt cx="7200000" cy="900000"/>
          </a:xfrm>
        </p:grpSpPr>
        <p:sp>
          <p:nvSpPr>
            <p:cNvPr id="15" name="object 14">
              <a:extLst>
                <a:ext uri="{FF2B5EF4-FFF2-40B4-BE49-F238E27FC236}">
                  <a16:creationId xmlns:a16="http://schemas.microsoft.com/office/drawing/2014/main" id="{2AED680B-B351-A4F8-EB60-1ABCBF9E60A2}"/>
                </a:ext>
              </a:extLst>
            </p:cNvPr>
            <p:cNvSpPr/>
            <p:nvPr/>
          </p:nvSpPr>
          <p:spPr>
            <a:xfrm>
              <a:off x="3892095" y="3429000"/>
              <a:ext cx="7200000" cy="900000"/>
            </a:xfrm>
            <a:custGeom>
              <a:avLst/>
              <a:gdLst/>
              <a:ahLst/>
              <a:cxnLst/>
              <a:rect l="l" t="t" r="r" b="b"/>
              <a:pathLst>
                <a:path w="6482080" h="1283335">
                  <a:moveTo>
                    <a:pt x="6267704" y="0"/>
                  </a:moveTo>
                  <a:lnTo>
                    <a:pt x="213867" y="0"/>
                  </a:lnTo>
                  <a:lnTo>
                    <a:pt x="164831" y="5648"/>
                  </a:lnTo>
                  <a:lnTo>
                    <a:pt x="119816" y="21738"/>
                  </a:lnTo>
                  <a:lnTo>
                    <a:pt x="80107" y="46986"/>
                  </a:lnTo>
                  <a:lnTo>
                    <a:pt x="46986" y="80107"/>
                  </a:lnTo>
                  <a:lnTo>
                    <a:pt x="21738" y="119816"/>
                  </a:lnTo>
                  <a:lnTo>
                    <a:pt x="5648" y="164831"/>
                  </a:lnTo>
                  <a:lnTo>
                    <a:pt x="0" y="213867"/>
                  </a:lnTo>
                  <a:lnTo>
                    <a:pt x="0" y="1069339"/>
                  </a:lnTo>
                  <a:lnTo>
                    <a:pt x="5648" y="1118376"/>
                  </a:lnTo>
                  <a:lnTo>
                    <a:pt x="21738" y="1163391"/>
                  </a:lnTo>
                  <a:lnTo>
                    <a:pt x="46986" y="1203100"/>
                  </a:lnTo>
                  <a:lnTo>
                    <a:pt x="80107" y="1236221"/>
                  </a:lnTo>
                  <a:lnTo>
                    <a:pt x="119816" y="1261469"/>
                  </a:lnTo>
                  <a:lnTo>
                    <a:pt x="164831" y="1277559"/>
                  </a:lnTo>
                  <a:lnTo>
                    <a:pt x="213867" y="1283208"/>
                  </a:lnTo>
                  <a:lnTo>
                    <a:pt x="6267704" y="1283208"/>
                  </a:lnTo>
                  <a:lnTo>
                    <a:pt x="6316740" y="1277559"/>
                  </a:lnTo>
                  <a:lnTo>
                    <a:pt x="6361755" y="1261469"/>
                  </a:lnTo>
                  <a:lnTo>
                    <a:pt x="6401464" y="1236221"/>
                  </a:lnTo>
                  <a:lnTo>
                    <a:pt x="6434585" y="1203100"/>
                  </a:lnTo>
                  <a:lnTo>
                    <a:pt x="6459833" y="1163391"/>
                  </a:lnTo>
                  <a:lnTo>
                    <a:pt x="6475923" y="1118376"/>
                  </a:lnTo>
                  <a:lnTo>
                    <a:pt x="6481572" y="1069339"/>
                  </a:lnTo>
                  <a:lnTo>
                    <a:pt x="6481572" y="213867"/>
                  </a:lnTo>
                  <a:lnTo>
                    <a:pt x="6475923" y="164831"/>
                  </a:lnTo>
                  <a:lnTo>
                    <a:pt x="6459833" y="119816"/>
                  </a:lnTo>
                  <a:lnTo>
                    <a:pt x="6434585" y="80107"/>
                  </a:lnTo>
                  <a:lnTo>
                    <a:pt x="6401464" y="46986"/>
                  </a:lnTo>
                  <a:lnTo>
                    <a:pt x="6361755" y="21738"/>
                  </a:lnTo>
                  <a:lnTo>
                    <a:pt x="6316740" y="5648"/>
                  </a:lnTo>
                  <a:lnTo>
                    <a:pt x="6267704" y="0"/>
                  </a:lnTo>
                  <a:close/>
                </a:path>
              </a:pathLst>
            </a:custGeom>
            <a:solidFill>
              <a:schemeClr val="tx2">
                <a:lumMod val="50000"/>
              </a:scheme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6" name="文本框 15">
              <a:extLst>
                <a:ext uri="{FF2B5EF4-FFF2-40B4-BE49-F238E27FC236}">
                  <a16:creationId xmlns:a16="http://schemas.microsoft.com/office/drawing/2014/main" id="{03B086CA-1A8C-98F5-D9E8-34883F02D837}"/>
                </a:ext>
              </a:extLst>
            </p:cNvPr>
            <p:cNvSpPr txBox="1"/>
            <p:nvPr/>
          </p:nvSpPr>
          <p:spPr>
            <a:xfrm>
              <a:off x="4087720" y="3700896"/>
              <a:ext cx="6336405"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备料，备产能一键生成</a:t>
              </a:r>
            </a:p>
          </p:txBody>
        </p:sp>
      </p:grpSp>
      <p:grpSp>
        <p:nvGrpSpPr>
          <p:cNvPr id="17" name="组合 16">
            <a:extLst>
              <a:ext uri="{FF2B5EF4-FFF2-40B4-BE49-F238E27FC236}">
                <a16:creationId xmlns:a16="http://schemas.microsoft.com/office/drawing/2014/main" id="{979B96E3-7492-BA04-9120-60974F18120E}"/>
              </a:ext>
            </a:extLst>
          </p:cNvPr>
          <p:cNvGrpSpPr/>
          <p:nvPr/>
        </p:nvGrpSpPr>
        <p:grpSpPr>
          <a:xfrm>
            <a:off x="3965338" y="2168322"/>
            <a:ext cx="7200000" cy="900000"/>
            <a:chOff x="3896913" y="2271796"/>
            <a:chExt cx="7200000" cy="900000"/>
          </a:xfrm>
        </p:grpSpPr>
        <p:sp>
          <p:nvSpPr>
            <p:cNvPr id="18" name="object 14">
              <a:extLst>
                <a:ext uri="{FF2B5EF4-FFF2-40B4-BE49-F238E27FC236}">
                  <a16:creationId xmlns:a16="http://schemas.microsoft.com/office/drawing/2014/main" id="{F7656EFB-DA36-BC17-EB51-59758B967F0A}"/>
                </a:ext>
              </a:extLst>
            </p:cNvPr>
            <p:cNvSpPr/>
            <p:nvPr/>
          </p:nvSpPr>
          <p:spPr>
            <a:xfrm>
              <a:off x="3896913" y="2271796"/>
              <a:ext cx="7200000" cy="900000"/>
            </a:xfrm>
            <a:custGeom>
              <a:avLst/>
              <a:gdLst/>
              <a:ahLst/>
              <a:cxnLst/>
              <a:rect l="l" t="t" r="r" b="b"/>
              <a:pathLst>
                <a:path w="6482080" h="1283335">
                  <a:moveTo>
                    <a:pt x="6267704" y="0"/>
                  </a:moveTo>
                  <a:lnTo>
                    <a:pt x="213867" y="0"/>
                  </a:lnTo>
                  <a:lnTo>
                    <a:pt x="164831" y="5648"/>
                  </a:lnTo>
                  <a:lnTo>
                    <a:pt x="119816" y="21738"/>
                  </a:lnTo>
                  <a:lnTo>
                    <a:pt x="80107" y="46986"/>
                  </a:lnTo>
                  <a:lnTo>
                    <a:pt x="46986" y="80107"/>
                  </a:lnTo>
                  <a:lnTo>
                    <a:pt x="21738" y="119816"/>
                  </a:lnTo>
                  <a:lnTo>
                    <a:pt x="5648" y="164831"/>
                  </a:lnTo>
                  <a:lnTo>
                    <a:pt x="0" y="213867"/>
                  </a:lnTo>
                  <a:lnTo>
                    <a:pt x="0" y="1069339"/>
                  </a:lnTo>
                  <a:lnTo>
                    <a:pt x="5648" y="1118376"/>
                  </a:lnTo>
                  <a:lnTo>
                    <a:pt x="21738" y="1163391"/>
                  </a:lnTo>
                  <a:lnTo>
                    <a:pt x="46986" y="1203100"/>
                  </a:lnTo>
                  <a:lnTo>
                    <a:pt x="80107" y="1236221"/>
                  </a:lnTo>
                  <a:lnTo>
                    <a:pt x="119816" y="1261469"/>
                  </a:lnTo>
                  <a:lnTo>
                    <a:pt x="164831" y="1277559"/>
                  </a:lnTo>
                  <a:lnTo>
                    <a:pt x="213867" y="1283208"/>
                  </a:lnTo>
                  <a:lnTo>
                    <a:pt x="6267704" y="1283208"/>
                  </a:lnTo>
                  <a:lnTo>
                    <a:pt x="6316740" y="1277559"/>
                  </a:lnTo>
                  <a:lnTo>
                    <a:pt x="6361755" y="1261469"/>
                  </a:lnTo>
                  <a:lnTo>
                    <a:pt x="6401464" y="1236221"/>
                  </a:lnTo>
                  <a:lnTo>
                    <a:pt x="6434585" y="1203100"/>
                  </a:lnTo>
                  <a:lnTo>
                    <a:pt x="6459833" y="1163391"/>
                  </a:lnTo>
                  <a:lnTo>
                    <a:pt x="6475923" y="1118376"/>
                  </a:lnTo>
                  <a:lnTo>
                    <a:pt x="6481572" y="1069339"/>
                  </a:lnTo>
                  <a:lnTo>
                    <a:pt x="6481572" y="213867"/>
                  </a:lnTo>
                  <a:lnTo>
                    <a:pt x="6475923" y="164831"/>
                  </a:lnTo>
                  <a:lnTo>
                    <a:pt x="6459833" y="119816"/>
                  </a:lnTo>
                  <a:lnTo>
                    <a:pt x="6434585" y="80107"/>
                  </a:lnTo>
                  <a:lnTo>
                    <a:pt x="6401464" y="46986"/>
                  </a:lnTo>
                  <a:lnTo>
                    <a:pt x="6361755" y="21738"/>
                  </a:lnTo>
                  <a:lnTo>
                    <a:pt x="6316740" y="5648"/>
                  </a:lnTo>
                  <a:lnTo>
                    <a:pt x="6267704" y="0"/>
                  </a:lnTo>
                  <a:close/>
                </a:path>
              </a:pathLst>
            </a:custGeom>
            <a:solidFill>
              <a:srgbClr val="F1F1F1"/>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9" name="文本框 18">
              <a:extLst>
                <a:ext uri="{FF2B5EF4-FFF2-40B4-BE49-F238E27FC236}">
                  <a16:creationId xmlns:a16="http://schemas.microsoft.com/office/drawing/2014/main" id="{F926C4C8-ABA6-6C92-2A90-66BA067B07BE}"/>
                </a:ext>
              </a:extLst>
            </p:cNvPr>
            <p:cNvSpPr txBox="1"/>
            <p:nvPr/>
          </p:nvSpPr>
          <p:spPr>
            <a:xfrm>
              <a:off x="4025704" y="2587809"/>
              <a:ext cx="648116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智能计划指挥智能仓储，智慧物流，生产，发货等顺滑地执行</a:t>
              </a:r>
            </a:p>
          </p:txBody>
        </p:sp>
      </p:grpSp>
      <p:sp>
        <p:nvSpPr>
          <p:cNvPr id="20" name="object 14">
            <a:extLst>
              <a:ext uri="{FF2B5EF4-FFF2-40B4-BE49-F238E27FC236}">
                <a16:creationId xmlns:a16="http://schemas.microsoft.com/office/drawing/2014/main" id="{7B100BA6-6AC5-E5E6-3BD3-66BC6BF2697D}"/>
              </a:ext>
            </a:extLst>
          </p:cNvPr>
          <p:cNvSpPr/>
          <p:nvPr/>
        </p:nvSpPr>
        <p:spPr>
          <a:xfrm>
            <a:off x="3980361" y="5345181"/>
            <a:ext cx="7200000" cy="900000"/>
          </a:xfrm>
          <a:custGeom>
            <a:avLst/>
            <a:gdLst/>
            <a:ahLst/>
            <a:cxnLst/>
            <a:rect l="l" t="t" r="r" b="b"/>
            <a:pathLst>
              <a:path w="6482080" h="1283335">
                <a:moveTo>
                  <a:pt x="6267704" y="0"/>
                </a:moveTo>
                <a:lnTo>
                  <a:pt x="213867" y="0"/>
                </a:lnTo>
                <a:lnTo>
                  <a:pt x="164831" y="5648"/>
                </a:lnTo>
                <a:lnTo>
                  <a:pt x="119816" y="21738"/>
                </a:lnTo>
                <a:lnTo>
                  <a:pt x="80107" y="46986"/>
                </a:lnTo>
                <a:lnTo>
                  <a:pt x="46986" y="80107"/>
                </a:lnTo>
                <a:lnTo>
                  <a:pt x="21738" y="119816"/>
                </a:lnTo>
                <a:lnTo>
                  <a:pt x="5648" y="164831"/>
                </a:lnTo>
                <a:lnTo>
                  <a:pt x="0" y="213867"/>
                </a:lnTo>
                <a:lnTo>
                  <a:pt x="0" y="1069339"/>
                </a:lnTo>
                <a:lnTo>
                  <a:pt x="5648" y="1118376"/>
                </a:lnTo>
                <a:lnTo>
                  <a:pt x="21738" y="1163391"/>
                </a:lnTo>
                <a:lnTo>
                  <a:pt x="46986" y="1203100"/>
                </a:lnTo>
                <a:lnTo>
                  <a:pt x="80107" y="1236221"/>
                </a:lnTo>
                <a:lnTo>
                  <a:pt x="119816" y="1261469"/>
                </a:lnTo>
                <a:lnTo>
                  <a:pt x="164831" y="1277559"/>
                </a:lnTo>
                <a:lnTo>
                  <a:pt x="213867" y="1283208"/>
                </a:lnTo>
                <a:lnTo>
                  <a:pt x="6267704" y="1283208"/>
                </a:lnTo>
                <a:lnTo>
                  <a:pt x="6316740" y="1277559"/>
                </a:lnTo>
                <a:lnTo>
                  <a:pt x="6361755" y="1261469"/>
                </a:lnTo>
                <a:lnTo>
                  <a:pt x="6401464" y="1236221"/>
                </a:lnTo>
                <a:lnTo>
                  <a:pt x="6434585" y="1203100"/>
                </a:lnTo>
                <a:lnTo>
                  <a:pt x="6459833" y="1163391"/>
                </a:lnTo>
                <a:lnTo>
                  <a:pt x="6475923" y="1118376"/>
                </a:lnTo>
                <a:lnTo>
                  <a:pt x="6481572" y="1069339"/>
                </a:lnTo>
                <a:lnTo>
                  <a:pt x="6481572" y="213867"/>
                </a:lnTo>
                <a:lnTo>
                  <a:pt x="6475923" y="164831"/>
                </a:lnTo>
                <a:lnTo>
                  <a:pt x="6459833" y="119816"/>
                </a:lnTo>
                <a:lnTo>
                  <a:pt x="6434585" y="80107"/>
                </a:lnTo>
                <a:lnTo>
                  <a:pt x="6401464" y="46986"/>
                </a:lnTo>
                <a:lnTo>
                  <a:pt x="6361755" y="21738"/>
                </a:lnTo>
                <a:lnTo>
                  <a:pt x="6316740" y="5648"/>
                </a:lnTo>
                <a:lnTo>
                  <a:pt x="6267704" y="0"/>
                </a:lnTo>
                <a:close/>
              </a:path>
            </a:pathLst>
          </a:custGeom>
          <a:solidFill>
            <a:srgbClr val="48599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1" name="文本框 20">
            <a:extLst>
              <a:ext uri="{FF2B5EF4-FFF2-40B4-BE49-F238E27FC236}">
                <a16:creationId xmlns:a16="http://schemas.microsoft.com/office/drawing/2014/main" id="{14547650-6137-51E4-DEB3-6BA005D3AFB9}"/>
              </a:ext>
            </a:extLst>
          </p:cNvPr>
          <p:cNvSpPr txBox="1"/>
          <p:nvPr/>
        </p:nvSpPr>
        <p:spPr>
          <a:xfrm>
            <a:off x="4219014" y="5582785"/>
            <a:ext cx="62258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战略，战术，执行尽收眼底。运筹帷幄，智控千里</a:t>
            </a:r>
          </a:p>
        </p:txBody>
      </p:sp>
    </p:spTree>
    <p:extLst>
      <p:ext uri="{BB962C8B-B14F-4D97-AF65-F5344CB8AC3E}">
        <p14:creationId xmlns:p14="http://schemas.microsoft.com/office/powerpoint/2010/main" val="23509401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9" grpId="0" animBg="1"/>
      <p:bldP spid="10"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61C4A20-F4AD-5CEE-BEA3-CCE23C18C1D1}"/>
              </a:ext>
            </a:extLst>
          </p:cNvPr>
          <p:cNvSpPr>
            <a:spLocks noGrp="1"/>
          </p:cNvSpPr>
          <p:nvPr>
            <p:ph type="title"/>
          </p:nvPr>
        </p:nvSpPr>
        <p:spPr>
          <a:xfrm>
            <a:off x="436228" y="-380855"/>
            <a:ext cx="10858500" cy="1028700"/>
          </a:xfrm>
        </p:spPr>
        <p:txBody>
          <a:bodyPr>
            <a:normAutofit/>
          </a:bodyPr>
          <a:lstStyle/>
          <a:p>
            <a:r>
              <a:rPr lang="zh-CN" altLang="en-US" dirty="0"/>
              <a:t>第一性原理二：数字化系统的控制论基石：确定性与“由下至上”的路径法则</a:t>
            </a:r>
          </a:p>
        </p:txBody>
      </p:sp>
      <p:grpSp>
        <p:nvGrpSpPr>
          <p:cNvPr id="8" name="组合 7">
            <a:extLst>
              <a:ext uri="{FF2B5EF4-FFF2-40B4-BE49-F238E27FC236}">
                <a16:creationId xmlns:a16="http://schemas.microsoft.com/office/drawing/2014/main" id="{35FAD7A4-5CD4-59F3-53B2-42DE0F75A195}"/>
              </a:ext>
            </a:extLst>
          </p:cNvPr>
          <p:cNvGrpSpPr>
            <a:grpSpLocks noChangeAspect="1"/>
          </p:cNvGrpSpPr>
          <p:nvPr>
            <p:custDataLst>
              <p:tags r:id="rId1"/>
            </p:custDataLst>
          </p:nvPr>
        </p:nvGrpSpPr>
        <p:grpSpPr>
          <a:xfrm>
            <a:off x="1116948" y="1407160"/>
            <a:ext cx="10401757" cy="5166360"/>
            <a:chOff x="1584255" y="1842473"/>
            <a:chExt cx="5805237" cy="3173054"/>
          </a:xfrm>
        </p:grpSpPr>
        <p:grpSp>
          <p:nvGrpSpPr>
            <p:cNvPr id="9" name="组合 8">
              <a:extLst>
                <a:ext uri="{FF2B5EF4-FFF2-40B4-BE49-F238E27FC236}">
                  <a16:creationId xmlns:a16="http://schemas.microsoft.com/office/drawing/2014/main" id="{2960125F-EC05-152C-70B0-327421E93C12}"/>
                </a:ext>
              </a:extLst>
            </p:cNvPr>
            <p:cNvGrpSpPr/>
            <p:nvPr/>
          </p:nvGrpSpPr>
          <p:grpSpPr>
            <a:xfrm>
              <a:off x="1584255" y="1842473"/>
              <a:ext cx="3013439" cy="3173054"/>
              <a:chOff x="2025741" y="1842473"/>
              <a:chExt cx="3013439" cy="3173054"/>
            </a:xfrm>
          </p:grpSpPr>
          <p:sp>
            <p:nvSpPr>
              <p:cNvPr id="15" name="1">
                <a:extLst>
                  <a:ext uri="{FF2B5EF4-FFF2-40B4-BE49-F238E27FC236}">
                    <a16:creationId xmlns:a16="http://schemas.microsoft.com/office/drawing/2014/main" id="{D7C8C50E-6467-DAE9-67E7-426406410837}"/>
                  </a:ext>
                </a:extLst>
              </p:cNvPr>
              <p:cNvSpPr/>
              <p:nvPr>
                <p:custDataLst>
                  <p:tags r:id="rId5"/>
                </p:custDataLst>
              </p:nvPr>
            </p:nvSpPr>
            <p:spPr>
              <a:xfrm>
                <a:off x="2025741" y="1842473"/>
                <a:ext cx="2568888" cy="3173054"/>
              </a:xfrm>
              <a:prstGeom prst="roundRect">
                <a:avLst>
                  <a:gd name="adj" fmla="val 8223"/>
                </a:avLst>
              </a:prstGeom>
              <a:solidFill>
                <a:schemeClr val="bg1"/>
              </a:solid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000" dirty="0">
                  <a:latin typeface="+mj-ea"/>
                  <a:ea typeface="+mj-ea"/>
                </a:endParaRPr>
              </a:p>
            </p:txBody>
          </p:sp>
          <p:sp>
            <p:nvSpPr>
              <p:cNvPr id="16" name="1">
                <a:extLst>
                  <a:ext uri="{FF2B5EF4-FFF2-40B4-BE49-F238E27FC236}">
                    <a16:creationId xmlns:a16="http://schemas.microsoft.com/office/drawing/2014/main" id="{10AB545E-55DC-B28E-DA80-7DDE5681582E}"/>
                  </a:ext>
                </a:extLst>
              </p:cNvPr>
              <p:cNvSpPr/>
              <p:nvPr>
                <p:custDataLst>
                  <p:tags r:id="rId6"/>
                </p:custDataLst>
              </p:nvPr>
            </p:nvSpPr>
            <p:spPr>
              <a:xfrm rot="5400000">
                <a:off x="4744329" y="3315197"/>
                <a:ext cx="362094" cy="227609"/>
              </a:xfrm>
              <a:prstGeom prst="triangle">
                <a:avLst/>
              </a:prstGeom>
              <a:solidFill>
                <a:schemeClr val="tx2">
                  <a:lumMod val="50000"/>
                  <a:lumOff val="50000"/>
                </a:schemeClr>
              </a:solidFill>
              <a:ln w="25400">
                <a:no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sz="2000">
                  <a:latin typeface="+mj-ea"/>
                  <a:ea typeface="+mj-ea"/>
                  <a:cs typeface="+mn-ea"/>
                </a:endParaRPr>
              </a:p>
            </p:txBody>
          </p:sp>
          <p:sp>
            <p:nvSpPr>
              <p:cNvPr id="17" name="Title-1">
                <a:extLst>
                  <a:ext uri="{FF2B5EF4-FFF2-40B4-BE49-F238E27FC236}">
                    <a16:creationId xmlns:a16="http://schemas.microsoft.com/office/drawing/2014/main" id="{C81926F9-5443-9FED-B733-73DC8313F423}"/>
                  </a:ext>
                </a:extLst>
              </p:cNvPr>
              <p:cNvSpPr txBox="1"/>
              <p:nvPr>
                <p:custDataLst>
                  <p:tags r:id="rId7"/>
                </p:custDataLst>
              </p:nvPr>
            </p:nvSpPr>
            <p:spPr>
              <a:xfrm>
                <a:off x="2082080" y="1957679"/>
                <a:ext cx="2061315" cy="369332"/>
              </a:xfrm>
              <a:prstGeom prst="rect">
                <a:avLst/>
              </a:prstGeom>
              <a:noFill/>
            </p:spPr>
            <p:txBody>
              <a:bodyPr wrap="square" rtlCol="0">
                <a:noAutofit/>
              </a:bodyPr>
              <a:lstStyle/>
              <a:p>
                <a:r>
                  <a:rPr lang="zh-CN" altLang="en-US" sz="2000" b="1" dirty="0">
                    <a:solidFill>
                      <a:schemeClr val="tx2">
                        <a:lumMod val="75000"/>
                        <a:lumOff val="25000"/>
                      </a:schemeClr>
                    </a:solidFill>
                    <a:latin typeface="+mj-ea"/>
                    <a:ea typeface="+mj-ea"/>
                  </a:rPr>
                  <a:t>核心论述：</a:t>
                </a:r>
              </a:p>
            </p:txBody>
          </p:sp>
          <p:sp>
            <p:nvSpPr>
              <p:cNvPr id="18" name="Body-1">
                <a:extLst>
                  <a:ext uri="{FF2B5EF4-FFF2-40B4-BE49-F238E27FC236}">
                    <a16:creationId xmlns:a16="http://schemas.microsoft.com/office/drawing/2014/main" id="{E3B80299-4C1D-1377-C44F-FEC26BF6AD5C}"/>
                  </a:ext>
                </a:extLst>
              </p:cNvPr>
              <p:cNvSpPr>
                <a:spLocks/>
              </p:cNvSpPr>
              <p:nvPr>
                <p:custDataLst>
                  <p:tags r:id="rId8"/>
                </p:custDataLst>
              </p:nvPr>
            </p:nvSpPr>
            <p:spPr>
              <a:xfrm>
                <a:off x="2190551" y="2279300"/>
                <a:ext cx="2061315" cy="1586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600" b="1" i="0" u="none" strike="noStrike" kern="1200" cap="none" spc="0" normalizeH="0" baseline="0" noProof="0" dirty="0">
                    <a:ln>
                      <a:noFill/>
                    </a:ln>
                    <a:solidFill>
                      <a:schemeClr val="tx2">
                        <a:lumMod val="75000"/>
                        <a:lumOff val="25000"/>
                      </a:schemeClr>
                    </a:solidFill>
                    <a:effectLst/>
                    <a:uLnTx/>
                    <a:uFillTx/>
                    <a:latin typeface="+mj-ea"/>
                    <a:ea typeface="+mj-ea"/>
                    <a:cs typeface="+mn-cs"/>
                  </a:rPr>
                  <a:t>系统铁律： </a:t>
                </a:r>
                <a:r>
                  <a:rPr kumimoji="0" lang="zh-CN" altLang="en-US"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“垃圾进，垃圾出”是数字化系统不可逾越的铁律。系统没有人类模糊处理、弹性应变的能力，它要求输入是精准、实时、一致的确定性数据。</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600" b="1" i="0" u="none" strike="noStrike" kern="1200" cap="none" spc="0" normalizeH="0" baseline="0" noProof="0" dirty="0">
                    <a:ln>
                      <a:noFill/>
                    </a:ln>
                    <a:solidFill>
                      <a:schemeClr val="tx2">
                        <a:lumMod val="75000"/>
                        <a:lumOff val="25000"/>
                      </a:schemeClr>
                    </a:solidFill>
                    <a:effectLst/>
                    <a:uLnTx/>
                    <a:uFillTx/>
                    <a:latin typeface="+mj-ea"/>
                    <a:ea typeface="+mj-ea"/>
                    <a:cs typeface="+mn-cs"/>
                  </a:rPr>
                  <a:t>控制论要求： </a:t>
                </a:r>
                <a:r>
                  <a:rPr kumimoji="0" lang="zh-CN" altLang="en-US"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智能计划系统本质是商业智能控制系统。要有效控制，必须确保被控对象（执行层）具备可观测性（数据真实）和可执行性（指令不被扭曲）。</a:t>
                </a:r>
                <a:endParaRPr kumimoji="0" lang="en-GB" altLang="zh-CN" sz="1600" b="0" i="0" u="none" strike="noStrike" kern="1200" cap="none" spc="0" normalizeH="0" baseline="0" noProof="0" dirty="0">
                  <a:ln>
                    <a:noFill/>
                  </a:ln>
                  <a:solidFill>
                    <a:schemeClr val="tx2">
                      <a:lumMod val="75000"/>
                      <a:lumOff val="25000"/>
                    </a:schemeClr>
                  </a:solidFill>
                  <a:effectLst/>
                  <a:uLnTx/>
                  <a:uFillTx/>
                  <a:latin typeface="+mj-ea"/>
                  <a:ea typeface="+mj-ea"/>
                  <a:cs typeface="+mn-cs"/>
                </a:endParaRPr>
              </a:p>
            </p:txBody>
          </p:sp>
        </p:grpSp>
        <p:grpSp>
          <p:nvGrpSpPr>
            <p:cNvPr id="10" name="组合 9">
              <a:extLst>
                <a:ext uri="{FF2B5EF4-FFF2-40B4-BE49-F238E27FC236}">
                  <a16:creationId xmlns:a16="http://schemas.microsoft.com/office/drawing/2014/main" id="{C257A286-07E5-612D-0D82-211B6FF766F9}"/>
                </a:ext>
              </a:extLst>
            </p:cNvPr>
            <p:cNvGrpSpPr/>
            <p:nvPr/>
          </p:nvGrpSpPr>
          <p:grpSpPr>
            <a:xfrm>
              <a:off x="4802508" y="1842473"/>
              <a:ext cx="2586984" cy="3173053"/>
              <a:chOff x="5243994" y="1842473"/>
              <a:chExt cx="2586984" cy="3173053"/>
            </a:xfrm>
          </p:grpSpPr>
          <p:sp>
            <p:nvSpPr>
              <p:cNvPr id="11" name="2">
                <a:extLst>
                  <a:ext uri="{FF2B5EF4-FFF2-40B4-BE49-F238E27FC236}">
                    <a16:creationId xmlns:a16="http://schemas.microsoft.com/office/drawing/2014/main" id="{4EBFD983-D12F-B5A8-9E69-A0F0B5C95BB8}"/>
                  </a:ext>
                </a:extLst>
              </p:cNvPr>
              <p:cNvSpPr/>
              <p:nvPr>
                <p:custDataLst>
                  <p:tags r:id="rId2"/>
                </p:custDataLst>
              </p:nvPr>
            </p:nvSpPr>
            <p:spPr>
              <a:xfrm>
                <a:off x="5243994" y="1842473"/>
                <a:ext cx="2586984" cy="3173053"/>
              </a:xfrm>
              <a:custGeom>
                <a:avLst/>
                <a:gdLst>
                  <a:gd name="connsiteX0" fmla="*/ 194130 w 2485028"/>
                  <a:gd name="connsiteY0" fmla="*/ 0 h 3572433"/>
                  <a:gd name="connsiteX1" fmla="*/ 2290898 w 2485028"/>
                  <a:gd name="connsiteY1" fmla="*/ 0 h 3572433"/>
                  <a:gd name="connsiteX2" fmla="*/ 2485028 w 2485028"/>
                  <a:gd name="connsiteY2" fmla="*/ 194130 h 3572433"/>
                  <a:gd name="connsiteX3" fmla="*/ 2485028 w 2485028"/>
                  <a:gd name="connsiteY3" fmla="*/ 3378303 h 3572433"/>
                  <a:gd name="connsiteX4" fmla="*/ 2290898 w 2485028"/>
                  <a:gd name="connsiteY4" fmla="*/ 3572433 h 3572433"/>
                  <a:gd name="connsiteX5" fmla="*/ 194130 w 2485028"/>
                  <a:gd name="connsiteY5" fmla="*/ 3572433 h 3572433"/>
                  <a:gd name="connsiteX6" fmla="*/ 0 w 2485028"/>
                  <a:gd name="connsiteY6" fmla="*/ 3378303 h 3572433"/>
                  <a:gd name="connsiteX7" fmla="*/ 0 w 2485028"/>
                  <a:gd name="connsiteY7" fmla="*/ 2060413 h 3572433"/>
                  <a:gd name="connsiteX8" fmla="*/ 293370 w 2485028"/>
                  <a:gd name="connsiteY8" fmla="*/ 1793166 h 3572433"/>
                  <a:gd name="connsiteX9" fmla="*/ 0 w 2485028"/>
                  <a:gd name="connsiteY9" fmla="*/ 1525919 h 3572433"/>
                  <a:gd name="connsiteX10" fmla="*/ 0 w 2485028"/>
                  <a:gd name="connsiteY10" fmla="*/ 194130 h 3572433"/>
                  <a:gd name="connsiteX11" fmla="*/ 194130 w 2485028"/>
                  <a:gd name="connsiteY11" fmla="*/ 0 h 357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5028" h="3572433">
                    <a:moveTo>
                      <a:pt x="194130" y="0"/>
                    </a:moveTo>
                    <a:lnTo>
                      <a:pt x="2290898" y="0"/>
                    </a:lnTo>
                    <a:cubicBezTo>
                      <a:pt x="2398113" y="0"/>
                      <a:pt x="2485028" y="86915"/>
                      <a:pt x="2485028" y="194130"/>
                    </a:cubicBezTo>
                    <a:lnTo>
                      <a:pt x="2485028" y="3378303"/>
                    </a:lnTo>
                    <a:cubicBezTo>
                      <a:pt x="2485028" y="3485518"/>
                      <a:pt x="2398113" y="3572433"/>
                      <a:pt x="2290898" y="3572433"/>
                    </a:cubicBezTo>
                    <a:lnTo>
                      <a:pt x="194130" y="3572433"/>
                    </a:lnTo>
                    <a:cubicBezTo>
                      <a:pt x="86915" y="3572433"/>
                      <a:pt x="0" y="3485518"/>
                      <a:pt x="0" y="3378303"/>
                    </a:cubicBezTo>
                    <a:lnTo>
                      <a:pt x="0" y="2060413"/>
                    </a:lnTo>
                    <a:lnTo>
                      <a:pt x="293370" y="1793166"/>
                    </a:lnTo>
                    <a:lnTo>
                      <a:pt x="0" y="1525919"/>
                    </a:lnTo>
                    <a:lnTo>
                      <a:pt x="0" y="194130"/>
                    </a:lnTo>
                    <a:cubicBezTo>
                      <a:pt x="0" y="86915"/>
                      <a:pt x="86915" y="0"/>
                      <a:pt x="194130" y="0"/>
                    </a:cubicBezTo>
                    <a:close/>
                  </a:path>
                </a:pathLst>
              </a:custGeom>
              <a:solidFill>
                <a:schemeClr val="bg1"/>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a:latin typeface="+mj-ea"/>
                  <a:ea typeface="+mj-ea"/>
                </a:endParaRPr>
              </a:p>
            </p:txBody>
          </p:sp>
          <p:sp>
            <p:nvSpPr>
              <p:cNvPr id="12" name="Title-2">
                <a:extLst>
                  <a:ext uri="{FF2B5EF4-FFF2-40B4-BE49-F238E27FC236}">
                    <a16:creationId xmlns:a16="http://schemas.microsoft.com/office/drawing/2014/main" id="{EBF38167-7620-77F9-7D78-C4B6C7852255}"/>
                  </a:ext>
                </a:extLst>
              </p:cNvPr>
              <p:cNvSpPr txBox="1"/>
              <p:nvPr>
                <p:custDataLst>
                  <p:tags r:id="rId3"/>
                </p:custDataLst>
              </p:nvPr>
            </p:nvSpPr>
            <p:spPr>
              <a:xfrm>
                <a:off x="5328939" y="1955133"/>
                <a:ext cx="2061315" cy="369332"/>
              </a:xfrm>
              <a:prstGeom prst="rect">
                <a:avLst/>
              </a:prstGeom>
              <a:noFill/>
            </p:spPr>
            <p:txBody>
              <a:bodyPr wrap="square" rtlCol="0">
                <a:noAutofit/>
              </a:bodyPr>
              <a:lstStyle/>
              <a:p>
                <a:r>
                  <a:rPr lang="zh-CN" altLang="en-US" sz="2000" b="1" dirty="0">
                    <a:solidFill>
                      <a:schemeClr val="tx2">
                        <a:lumMod val="75000"/>
                        <a:lumOff val="25000"/>
                      </a:schemeClr>
                    </a:solidFill>
                    <a:latin typeface="+mj-ea"/>
                    <a:ea typeface="+mj-ea"/>
                  </a:rPr>
                  <a:t>核心推论</a:t>
                </a:r>
              </a:p>
            </p:txBody>
          </p:sp>
          <p:sp>
            <p:nvSpPr>
              <p:cNvPr id="13" name="Body-2">
                <a:extLst>
                  <a:ext uri="{FF2B5EF4-FFF2-40B4-BE49-F238E27FC236}">
                    <a16:creationId xmlns:a16="http://schemas.microsoft.com/office/drawing/2014/main" id="{0D80FF42-3FF5-EFC6-F363-9D759122EC50}"/>
                  </a:ext>
                </a:extLst>
              </p:cNvPr>
              <p:cNvSpPr>
                <a:spLocks/>
              </p:cNvSpPr>
              <p:nvPr>
                <p:custDataLst>
                  <p:tags r:id="rId4"/>
                </p:custDataLst>
              </p:nvPr>
            </p:nvSpPr>
            <p:spPr>
              <a:xfrm>
                <a:off x="5469928" y="2209920"/>
                <a:ext cx="2125139" cy="1586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600" b="1" i="0" u="none" strike="noStrike" kern="1200" cap="none" spc="0" normalizeH="0" baseline="0" noProof="0" dirty="0">
                    <a:ln>
                      <a:noFill/>
                    </a:ln>
                    <a:solidFill>
                      <a:schemeClr val="tx2">
                        <a:lumMod val="75000"/>
                        <a:lumOff val="25000"/>
                      </a:schemeClr>
                    </a:solidFill>
                    <a:effectLst/>
                    <a:uLnTx/>
                    <a:uFillTx/>
                    <a:latin typeface="+mj-ea"/>
                    <a:ea typeface="+mj-ea"/>
                    <a:cs typeface="+mn-cs"/>
                  </a:rPr>
                  <a:t>推论一：</a:t>
                </a:r>
                <a:r>
                  <a:rPr kumimoji="0" lang="zh-CN" altLang="en-US"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可执行性是唯一试金石。如果计划不能在底层执行中被精确地自动化，那么它就是无意义的“垃圾”。所</a:t>
                </a:r>
                <a:r>
                  <a:rPr kumimoji="0" lang="zh-CN" altLang="en-US" sz="1600" b="1" i="0" u="none" strike="noStrike" kern="1200" cap="none" spc="0" normalizeH="0" baseline="0" noProof="0" dirty="0">
                    <a:ln>
                      <a:noFill/>
                    </a:ln>
                    <a:solidFill>
                      <a:schemeClr val="tx2">
                        <a:lumMod val="75000"/>
                        <a:lumOff val="25000"/>
                      </a:schemeClr>
                    </a:solidFill>
                    <a:effectLst/>
                    <a:uLnTx/>
                    <a:uFillTx/>
                    <a:latin typeface="+mj-ea"/>
                    <a:ea typeface="+mj-ea"/>
                    <a:cs typeface="+mn-cs"/>
                  </a:rPr>
                  <a:t>有计划的价值</a:t>
                </a:r>
                <a:r>
                  <a:rPr kumimoji="0" lang="zh-CN" altLang="en-US"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，都体现在它能被</a:t>
                </a:r>
                <a:r>
                  <a:rPr kumimoji="0" lang="zh-CN" altLang="en-US" sz="1600" b="1" i="0" u="none" strike="noStrike" kern="1200" cap="none" spc="0" normalizeH="0" baseline="0" noProof="0" dirty="0">
                    <a:ln>
                      <a:noFill/>
                    </a:ln>
                    <a:solidFill>
                      <a:schemeClr val="tx2">
                        <a:lumMod val="75000"/>
                        <a:lumOff val="25000"/>
                      </a:schemeClr>
                    </a:solidFill>
                    <a:effectLst/>
                    <a:uLnTx/>
                    <a:uFillTx/>
                    <a:latin typeface="+mj-ea"/>
                    <a:ea typeface="+mj-ea"/>
                    <a:cs typeface="+mn-cs"/>
                  </a:rPr>
                  <a:t>执行的程度</a:t>
                </a:r>
                <a:r>
                  <a:rPr kumimoji="0" lang="zh-CN" altLang="en-US"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600" b="1" i="0" u="none" strike="noStrike" kern="1200" cap="none" spc="0" normalizeH="0" baseline="0" noProof="0" dirty="0">
                    <a:ln>
                      <a:noFill/>
                    </a:ln>
                    <a:solidFill>
                      <a:schemeClr val="tx2">
                        <a:lumMod val="75000"/>
                        <a:lumOff val="25000"/>
                      </a:schemeClr>
                    </a:solidFill>
                    <a:effectLst/>
                    <a:uLnTx/>
                    <a:uFillTx/>
                    <a:latin typeface="+mj-ea"/>
                    <a:ea typeface="+mj-ea"/>
                    <a:cs typeface="+mn-cs"/>
                  </a:rPr>
                  <a:t>推论二：</a:t>
                </a:r>
                <a:r>
                  <a:rPr kumimoji="0" lang="zh-CN" altLang="en-US"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“由下至上”的路径是必然选择。</a:t>
                </a:r>
                <a:r>
                  <a:rPr kumimoji="0" lang="en-US" altLang="zh-CN"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S&amp;OE </a:t>
                </a:r>
                <a:r>
                  <a:rPr kumimoji="0" lang="zh-CN" altLang="en-US"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闭环必须先行： </a:t>
                </a:r>
                <a:r>
                  <a:rPr kumimoji="0" lang="en-US" altLang="zh-CN"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S&amp;OE </a:t>
                </a:r>
                <a:r>
                  <a:rPr kumimoji="0" lang="zh-CN" altLang="en-US"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是执行计划和执行的闭环。它承担了为整个计划体系提供</a:t>
                </a:r>
                <a:r>
                  <a:rPr kumimoji="0" lang="zh-CN" altLang="en-US" sz="1600" b="1" i="0" u="none" strike="noStrike" kern="1200" cap="none" spc="0" normalizeH="0" baseline="0" noProof="0" dirty="0">
                    <a:ln>
                      <a:noFill/>
                    </a:ln>
                    <a:solidFill>
                      <a:schemeClr val="tx2">
                        <a:lumMod val="75000"/>
                        <a:lumOff val="25000"/>
                      </a:schemeClr>
                    </a:solidFill>
                    <a:effectLst/>
                    <a:uLnTx/>
                    <a:uFillTx/>
                    <a:latin typeface="+mj-ea"/>
                    <a:ea typeface="+mj-ea"/>
                    <a:cs typeface="+mn-cs"/>
                  </a:rPr>
                  <a:t>确定性基石</a:t>
                </a:r>
                <a:r>
                  <a:rPr kumimoji="0" lang="zh-CN" altLang="en-US"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的任务。我们必须从最能提供确定性、最需要确保数据质量的执行层（</a:t>
                </a:r>
                <a:r>
                  <a:rPr kumimoji="0" lang="en-US" altLang="zh-CN"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S&amp;OE</a:t>
                </a:r>
                <a:r>
                  <a:rPr kumimoji="0" lang="zh-CN" altLang="en-US"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）入手，夯实基础。直接从上层（</a:t>
                </a:r>
                <a:r>
                  <a:rPr kumimoji="0" lang="en-US" altLang="zh-CN"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S&amp;OP/MPS</a:t>
                </a:r>
                <a:r>
                  <a:rPr kumimoji="0" lang="zh-CN" altLang="en-US" sz="1600" b="0" i="0" u="none" strike="noStrike" kern="1200" cap="none" spc="0" normalizeH="0" baseline="0" noProof="0" dirty="0">
                    <a:ln>
                      <a:noFill/>
                    </a:ln>
                    <a:solidFill>
                      <a:schemeClr val="tx2">
                        <a:lumMod val="75000"/>
                        <a:lumOff val="25000"/>
                      </a:schemeClr>
                    </a:solidFill>
                    <a:effectLst/>
                    <a:uLnTx/>
                    <a:uFillTx/>
                    <a:latin typeface="+mj-ea"/>
                    <a:ea typeface="+mj-ea"/>
                    <a:cs typeface="+mn-cs"/>
                  </a:rPr>
                  <a:t>）开始，是违背控制论基本原理，就像在沙地建高楼。</a:t>
                </a:r>
                <a:endParaRPr kumimoji="0" lang="en-GB" altLang="zh-CN" sz="1600" b="0" i="0" u="none" strike="noStrike" kern="1200" cap="none" spc="0" normalizeH="0" baseline="0" noProof="0" dirty="0">
                  <a:ln>
                    <a:noFill/>
                  </a:ln>
                  <a:solidFill>
                    <a:schemeClr val="tx2">
                      <a:lumMod val="75000"/>
                      <a:lumOff val="25000"/>
                    </a:schemeClr>
                  </a:solidFill>
                  <a:effectLst/>
                  <a:uLnTx/>
                  <a:uFillTx/>
                  <a:latin typeface="+mj-ea"/>
                  <a:ea typeface="+mj-ea"/>
                  <a:cs typeface="+mn-cs"/>
                </a:endParaRPr>
              </a:p>
            </p:txBody>
          </p:sp>
        </p:grpSp>
      </p:grpSp>
    </p:spTree>
    <p:extLst>
      <p:ext uri="{BB962C8B-B14F-4D97-AF65-F5344CB8AC3E}">
        <p14:creationId xmlns:p14="http://schemas.microsoft.com/office/powerpoint/2010/main" val="319453232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A0E0815-099C-4504-1419-3B3C83F35E00}"/>
              </a:ext>
            </a:extLst>
          </p:cNvPr>
          <p:cNvSpPr>
            <a:spLocks noGrp="1"/>
          </p:cNvSpPr>
          <p:nvPr>
            <p:ph type="title"/>
          </p:nvPr>
        </p:nvSpPr>
        <p:spPr>
          <a:xfrm>
            <a:off x="1035668" y="-396698"/>
            <a:ext cx="10858500" cy="1028700"/>
          </a:xfrm>
        </p:spPr>
        <p:txBody>
          <a:bodyPr/>
          <a:lstStyle/>
          <a:p>
            <a:r>
              <a:rPr lang="zh-CN" altLang="en-US" dirty="0">
                <a:latin typeface="Arial" panose="020B0604020202020204" pitchFamily="34" charset="0"/>
                <a:ea typeface="微软雅黑" panose="020B0503020204020204" pitchFamily="34" charset="-122"/>
              </a:rPr>
              <a:t>如何从高屋建瓴到毛细血管</a:t>
            </a:r>
          </a:p>
        </p:txBody>
      </p:sp>
      <p:grpSp>
        <p:nvGrpSpPr>
          <p:cNvPr id="136" name="组合 135">
            <a:extLst>
              <a:ext uri="{FF2B5EF4-FFF2-40B4-BE49-F238E27FC236}">
                <a16:creationId xmlns:a16="http://schemas.microsoft.com/office/drawing/2014/main" id="{F7018F97-6D81-20BA-FE2C-76438335CC34}"/>
              </a:ext>
            </a:extLst>
          </p:cNvPr>
          <p:cNvGrpSpPr>
            <a:grpSpLocks noChangeAspect="1"/>
          </p:cNvGrpSpPr>
          <p:nvPr>
            <p:custDataLst>
              <p:tags r:id="rId1"/>
            </p:custDataLst>
          </p:nvPr>
        </p:nvGrpSpPr>
        <p:grpSpPr>
          <a:xfrm>
            <a:off x="6539385" y="1147509"/>
            <a:ext cx="5129298" cy="4881609"/>
            <a:chOff x="910364" y="1343603"/>
            <a:chExt cx="5129298" cy="4170795"/>
          </a:xfrm>
        </p:grpSpPr>
        <p:grpSp>
          <p:nvGrpSpPr>
            <p:cNvPr id="137" name="组合 136">
              <a:extLst>
                <a:ext uri="{FF2B5EF4-FFF2-40B4-BE49-F238E27FC236}">
                  <a16:creationId xmlns:a16="http://schemas.microsoft.com/office/drawing/2014/main" id="{FD574483-BBED-FF49-5E9D-DD890D441FC6}"/>
                </a:ext>
              </a:extLst>
            </p:cNvPr>
            <p:cNvGrpSpPr/>
            <p:nvPr/>
          </p:nvGrpSpPr>
          <p:grpSpPr>
            <a:xfrm>
              <a:off x="910364" y="1343603"/>
              <a:ext cx="5129298" cy="1224000"/>
              <a:chOff x="645969" y="1251241"/>
              <a:chExt cx="5129298" cy="1224000"/>
            </a:xfrm>
          </p:grpSpPr>
          <p:sp>
            <p:nvSpPr>
              <p:cNvPr id="148" name="1">
                <a:extLst>
                  <a:ext uri="{FF2B5EF4-FFF2-40B4-BE49-F238E27FC236}">
                    <a16:creationId xmlns:a16="http://schemas.microsoft.com/office/drawing/2014/main" id="{FC7B8442-10E6-099A-0116-22E3B9BDF2B0}"/>
                  </a:ext>
                </a:extLst>
              </p:cNvPr>
              <p:cNvSpPr/>
              <p:nvPr/>
            </p:nvSpPr>
            <p:spPr>
              <a:xfrm>
                <a:off x="908629" y="1251241"/>
                <a:ext cx="4866638" cy="1224000"/>
              </a:xfrm>
              <a:prstGeom prst="roundRect">
                <a:avLst>
                  <a:gd name="adj" fmla="val 91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242640" tIns="45720" rIns="174240" bIns="45720" rtlCol="0" anchor="ctr"/>
              <a:lstStyle/>
              <a:p>
                <a:pPr>
                  <a:lnSpc>
                    <a:spcPct val="130000"/>
                  </a:lnSpc>
                </a:pPr>
                <a:endParaRPr kumimoji="1" lang="en-US" altLang="zh-CN" sz="1200" dirty="0">
                  <a:solidFill>
                    <a:schemeClr val="tx1"/>
                  </a:solidFill>
                  <a:cs typeface="+mn-ea"/>
                  <a:sym typeface="+mn-lt"/>
                </a:endParaRPr>
              </a:p>
            </p:txBody>
          </p:sp>
          <p:sp>
            <p:nvSpPr>
              <p:cNvPr id="149" name="Index-1">
                <a:extLst>
                  <a:ext uri="{FF2B5EF4-FFF2-40B4-BE49-F238E27FC236}">
                    <a16:creationId xmlns:a16="http://schemas.microsoft.com/office/drawing/2014/main" id="{BCD657AE-86F1-5F49-2FD7-2049C5C4851E}"/>
                  </a:ext>
                </a:extLst>
              </p:cNvPr>
              <p:cNvSpPr txBox="1">
                <a:spLocks noChangeAspect="1"/>
              </p:cNvSpPr>
              <p:nvPr>
                <p:custDataLst>
                  <p:tags r:id="rId8"/>
                </p:custDataLst>
              </p:nvPr>
            </p:nvSpPr>
            <p:spPr>
              <a:xfrm>
                <a:off x="645969" y="1616787"/>
                <a:ext cx="540000" cy="540000"/>
              </a:xfrm>
              <a:prstGeom prst="roundRect">
                <a:avLst>
                  <a:gd name="adj" fmla="val 50000"/>
                </a:avLst>
              </a:prstGeom>
              <a:solidFill>
                <a:schemeClr val="accent1"/>
              </a:solidFill>
              <a:ln w="12700" cap="flat">
                <a:noFill/>
                <a:prstDash val="solid"/>
                <a:miter/>
              </a:ln>
              <a:effectLst>
                <a:outerShdw blurRad="127000" dist="63500" dir="2700000" algn="tl" rotWithShape="0">
                  <a:schemeClr val="accent1">
                    <a:alpha val="40000"/>
                  </a:schemeClr>
                </a:outerShdw>
              </a:effectLst>
            </p:spPr>
            <p:txBody>
              <a:bodyPr wrap="none" rtlCol="0" anchor="ctr"/>
              <a:lstStyle>
                <a:defPPr>
                  <a:defRPr lang="zh-CN"/>
                </a:defPPr>
                <a:lvl1pPr algn="ctr">
                  <a:defRPr b="1">
                    <a:solidFill>
                      <a:srgbClr val="FFFFFF"/>
                    </a:solidFill>
                    <a:latin typeface="Arial" panose="020B0604020202020204" pitchFamily="34" charset="0"/>
                    <a:ea typeface="Microsoft YaHei" panose="020B0503020204020204" pitchFamily="34" charset="-122"/>
                  </a:defRPr>
                </a:lvl1pPr>
              </a:lstStyle>
              <a:p>
                <a:r>
                  <a:rPr lang="en-US" altLang="zh-CN" sz="1600" dirty="0">
                    <a:solidFill>
                      <a:schemeClr val="tx1"/>
                    </a:solidFill>
                    <a:latin typeface="+mn-lt"/>
                    <a:ea typeface="+mn-ea"/>
                    <a:cs typeface="+mn-ea"/>
                    <a:sym typeface="+mn-lt"/>
                  </a:rPr>
                  <a:t>01</a:t>
                </a:r>
                <a:endParaRPr lang="zh-CN" altLang="en-US" sz="1600" dirty="0">
                  <a:solidFill>
                    <a:schemeClr val="tx1"/>
                  </a:solidFill>
                  <a:latin typeface="+mn-lt"/>
                  <a:ea typeface="+mn-ea"/>
                  <a:cs typeface="+mn-ea"/>
                  <a:sym typeface="+mn-lt"/>
                </a:endParaRPr>
              </a:p>
            </p:txBody>
          </p:sp>
          <p:sp>
            <p:nvSpPr>
              <p:cNvPr id="150" name="Title-1">
                <a:extLst>
                  <a:ext uri="{FF2B5EF4-FFF2-40B4-BE49-F238E27FC236}">
                    <a16:creationId xmlns:a16="http://schemas.microsoft.com/office/drawing/2014/main" id="{EF5DF2D4-B463-CD12-1D05-D8121071556D}"/>
                  </a:ext>
                </a:extLst>
              </p:cNvPr>
              <p:cNvSpPr txBox="1"/>
              <p:nvPr>
                <p:custDataLst>
                  <p:tags r:id="rId9"/>
                </p:custDataLst>
              </p:nvPr>
            </p:nvSpPr>
            <p:spPr>
              <a:xfrm>
                <a:off x="1298646" y="1419894"/>
                <a:ext cx="2458594" cy="263420"/>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800" b="1" i="0" u="none" strike="noStrike" kern="0" cap="none" spc="0" normalizeH="0" baseline="0" noProof="0">
                    <a:ln>
                      <a:noFill/>
                    </a:ln>
                    <a:effectLst/>
                    <a:uLnTx/>
                    <a:uFillTx/>
                    <a:latin typeface="Arial" panose="020B0604020202020204" pitchFamily="34" charset="0"/>
                    <a:ea typeface="微软雅黑" panose="020B0503020204020204" pitchFamily="34" charset="-122"/>
                    <a:cs typeface="+mn-cs"/>
                  </a:rPr>
                  <a:t>路径规划</a:t>
                </a:r>
                <a:endParaRPr kumimoji="0" lang="zh-CN" altLang="en-US" sz="1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151" name="Body-1">
                <a:extLst>
                  <a:ext uri="{FF2B5EF4-FFF2-40B4-BE49-F238E27FC236}">
                    <a16:creationId xmlns:a16="http://schemas.microsoft.com/office/drawing/2014/main" id="{F562F1BB-7B58-EC86-1B45-7D849EBF8DB5}"/>
                  </a:ext>
                </a:extLst>
              </p:cNvPr>
              <p:cNvSpPr/>
              <p:nvPr>
                <p:custDataLst>
                  <p:tags r:id="rId10"/>
                </p:custDataLst>
              </p:nvPr>
            </p:nvSpPr>
            <p:spPr>
              <a:xfrm>
                <a:off x="1298645" y="1699496"/>
                <a:ext cx="4363945" cy="698404"/>
              </a:xfrm>
              <a:prstGeom prst="rect">
                <a:avLst/>
              </a:prstGeom>
              <a:noFill/>
              <a:ln w="12700" cap="flat" cmpd="sng" algn="ctr">
                <a:noFill/>
                <a:prstDash val="solid"/>
                <a:miter lim="800000"/>
              </a:ln>
              <a:effectLst/>
            </p:spPr>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defRPr/>
                </a:pPr>
                <a:r>
                  <a:rPr kumimoji="0" lang="zh-CN" altLang="en-US"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高屋建瓴的计划层级设计是自下而上的是从供应链网络布局，运营执行，执行计划，战术计划再到战略。</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grpSp>
        <p:grpSp>
          <p:nvGrpSpPr>
            <p:cNvPr id="138" name="组合 137">
              <a:extLst>
                <a:ext uri="{FF2B5EF4-FFF2-40B4-BE49-F238E27FC236}">
                  <a16:creationId xmlns:a16="http://schemas.microsoft.com/office/drawing/2014/main" id="{73A59093-3776-5E68-4BA3-F8C99067AB60}"/>
                </a:ext>
              </a:extLst>
            </p:cNvPr>
            <p:cNvGrpSpPr/>
            <p:nvPr/>
          </p:nvGrpSpPr>
          <p:grpSpPr>
            <a:xfrm>
              <a:off x="910364" y="2817000"/>
              <a:ext cx="5129298" cy="1224000"/>
              <a:chOff x="645969" y="2724638"/>
              <a:chExt cx="5129298" cy="1224000"/>
            </a:xfrm>
          </p:grpSpPr>
          <p:sp>
            <p:nvSpPr>
              <p:cNvPr id="144" name="2">
                <a:extLst>
                  <a:ext uri="{FF2B5EF4-FFF2-40B4-BE49-F238E27FC236}">
                    <a16:creationId xmlns:a16="http://schemas.microsoft.com/office/drawing/2014/main" id="{84369705-9ABE-CFAC-B6F0-28910B91C555}"/>
                  </a:ext>
                </a:extLst>
              </p:cNvPr>
              <p:cNvSpPr/>
              <p:nvPr/>
            </p:nvSpPr>
            <p:spPr>
              <a:xfrm>
                <a:off x="908629" y="2724638"/>
                <a:ext cx="4866638" cy="1224000"/>
              </a:xfrm>
              <a:prstGeom prst="roundRect">
                <a:avLst>
                  <a:gd name="adj" fmla="val 91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30000"/>
                  </a:lnSpc>
                </a:pPr>
                <a:endParaRPr kumimoji="1" lang="en-US" altLang="zh-CN" sz="1200" dirty="0">
                  <a:solidFill>
                    <a:schemeClr val="tx1"/>
                  </a:solidFill>
                  <a:cs typeface="+mn-ea"/>
                  <a:sym typeface="+mn-lt"/>
                </a:endParaRPr>
              </a:p>
            </p:txBody>
          </p:sp>
          <p:sp>
            <p:nvSpPr>
              <p:cNvPr id="145" name="Index-2">
                <a:extLst>
                  <a:ext uri="{FF2B5EF4-FFF2-40B4-BE49-F238E27FC236}">
                    <a16:creationId xmlns:a16="http://schemas.microsoft.com/office/drawing/2014/main" id="{8DC50E6C-6659-155D-47E4-308C43E4ACCA}"/>
                  </a:ext>
                </a:extLst>
              </p:cNvPr>
              <p:cNvSpPr txBox="1">
                <a:spLocks noChangeAspect="1"/>
              </p:cNvSpPr>
              <p:nvPr>
                <p:custDataLst>
                  <p:tags r:id="rId5"/>
                </p:custDataLst>
              </p:nvPr>
            </p:nvSpPr>
            <p:spPr>
              <a:xfrm>
                <a:off x="645969" y="3018744"/>
                <a:ext cx="540000" cy="540000"/>
              </a:xfrm>
              <a:prstGeom prst="roundRect">
                <a:avLst>
                  <a:gd name="adj" fmla="val 50000"/>
                </a:avLst>
              </a:prstGeom>
              <a:solidFill>
                <a:schemeClr val="accent2"/>
              </a:solidFill>
              <a:ln w="12700" cap="flat">
                <a:noFill/>
                <a:prstDash val="solid"/>
                <a:miter/>
              </a:ln>
              <a:effectLst>
                <a:outerShdw blurRad="127000" dist="63500" dir="2700000" algn="tl" rotWithShape="0">
                  <a:schemeClr val="accent2">
                    <a:alpha val="40000"/>
                  </a:schemeClr>
                </a:outerShdw>
              </a:effectLst>
            </p:spPr>
            <p:txBody>
              <a:bodyPr wrap="none" rtlCol="0" anchor="ctr"/>
              <a:lstStyle>
                <a:defPPr>
                  <a:defRPr lang="zh-CN"/>
                </a:defPPr>
                <a:lvl1pPr algn="ctr">
                  <a:defRPr b="1">
                    <a:solidFill>
                      <a:srgbClr val="FFFFFF"/>
                    </a:solidFill>
                    <a:latin typeface="Arial" panose="020B0604020202020204" pitchFamily="34" charset="0"/>
                    <a:ea typeface="Microsoft YaHei" panose="020B0503020204020204" pitchFamily="34" charset="-122"/>
                  </a:defRPr>
                </a:lvl1pPr>
              </a:lstStyle>
              <a:p>
                <a:r>
                  <a:rPr lang="en-US" altLang="zh-CN" sz="1600" dirty="0">
                    <a:solidFill>
                      <a:schemeClr val="tx1"/>
                    </a:solidFill>
                    <a:latin typeface="+mn-lt"/>
                    <a:ea typeface="+mn-ea"/>
                    <a:cs typeface="+mn-ea"/>
                    <a:sym typeface="+mn-lt"/>
                  </a:rPr>
                  <a:t>02</a:t>
                </a:r>
                <a:endParaRPr lang="zh-CN" altLang="en-US" sz="1600" dirty="0">
                  <a:solidFill>
                    <a:schemeClr val="tx1"/>
                  </a:solidFill>
                  <a:latin typeface="+mn-lt"/>
                  <a:ea typeface="+mn-ea"/>
                  <a:cs typeface="+mn-ea"/>
                  <a:sym typeface="+mn-lt"/>
                </a:endParaRPr>
              </a:p>
            </p:txBody>
          </p:sp>
          <p:sp>
            <p:nvSpPr>
              <p:cNvPr id="146" name="Title-2">
                <a:extLst>
                  <a:ext uri="{FF2B5EF4-FFF2-40B4-BE49-F238E27FC236}">
                    <a16:creationId xmlns:a16="http://schemas.microsoft.com/office/drawing/2014/main" id="{503735E2-C1C5-A22E-802F-30E149ADD9AE}"/>
                  </a:ext>
                </a:extLst>
              </p:cNvPr>
              <p:cNvSpPr txBox="1"/>
              <p:nvPr>
                <p:custDataLst>
                  <p:tags r:id="rId6"/>
                </p:custDataLst>
              </p:nvPr>
            </p:nvSpPr>
            <p:spPr>
              <a:xfrm>
                <a:off x="1298645" y="2838761"/>
                <a:ext cx="3735860" cy="263420"/>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b="1" kern="0" dirty="0">
                    <a:latin typeface="Arial" panose="020B0604020202020204" pitchFamily="34" charset="0"/>
                    <a:ea typeface="微软雅黑" panose="020B0503020204020204" pitchFamily="34" charset="-122"/>
                  </a:rPr>
                  <a:t>从数据模型</a:t>
                </a:r>
                <a:r>
                  <a:rPr kumimoji="0" lang="zh-CN" altLang="en-US" sz="1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到系统性业务方案</a:t>
                </a:r>
              </a:p>
            </p:txBody>
          </p:sp>
          <p:sp>
            <p:nvSpPr>
              <p:cNvPr id="147" name="Body-2">
                <a:extLst>
                  <a:ext uri="{FF2B5EF4-FFF2-40B4-BE49-F238E27FC236}">
                    <a16:creationId xmlns:a16="http://schemas.microsoft.com/office/drawing/2014/main" id="{B5D77A3C-907E-462F-49C6-A361C3D5324D}"/>
                  </a:ext>
                </a:extLst>
              </p:cNvPr>
              <p:cNvSpPr/>
              <p:nvPr>
                <p:custDataLst>
                  <p:tags r:id="rId7"/>
                </p:custDataLst>
              </p:nvPr>
            </p:nvSpPr>
            <p:spPr>
              <a:xfrm>
                <a:off x="1298645" y="3063921"/>
                <a:ext cx="4476622" cy="698404"/>
              </a:xfrm>
              <a:prstGeom prst="rect">
                <a:avLst/>
              </a:prstGeom>
              <a:noFill/>
              <a:ln w="12700" cap="flat" cmpd="sng" algn="ctr">
                <a:noFill/>
                <a:prstDash val="solid"/>
                <a:miter lim="800000"/>
              </a:ln>
              <a:effectLst/>
            </p:spPr>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每一个业务能力（</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MRP etc.)</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的设计都是由数据模型和业务算法设计出来的</a:t>
                </a:r>
                <a:r>
                  <a:rPr lang="zh-CN" altLang="en-US" sz="1400" dirty="0">
                    <a:solidFill>
                      <a:schemeClr val="tx1"/>
                    </a:solidFill>
                    <a:latin typeface="Arial" panose="020B0604020202020204" pitchFamily="34" charset="0"/>
                    <a:ea typeface="微软雅黑" panose="020B0503020204020204" pitchFamily="34" charset="-122"/>
                  </a:rPr>
                  <a:t>系统性</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整合</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grpSp>
        <p:grpSp>
          <p:nvGrpSpPr>
            <p:cNvPr id="139" name="组合 138">
              <a:extLst>
                <a:ext uri="{FF2B5EF4-FFF2-40B4-BE49-F238E27FC236}">
                  <a16:creationId xmlns:a16="http://schemas.microsoft.com/office/drawing/2014/main" id="{201F6AE9-6A32-7B9B-6356-2B2AA2BD1E7C}"/>
                </a:ext>
              </a:extLst>
            </p:cNvPr>
            <p:cNvGrpSpPr/>
            <p:nvPr/>
          </p:nvGrpSpPr>
          <p:grpSpPr>
            <a:xfrm>
              <a:off x="910364" y="4290398"/>
              <a:ext cx="5129298" cy="1224000"/>
              <a:chOff x="645969" y="4198036"/>
              <a:chExt cx="5129298" cy="1224000"/>
            </a:xfrm>
          </p:grpSpPr>
          <p:sp>
            <p:nvSpPr>
              <p:cNvPr id="140" name="3">
                <a:extLst>
                  <a:ext uri="{FF2B5EF4-FFF2-40B4-BE49-F238E27FC236}">
                    <a16:creationId xmlns:a16="http://schemas.microsoft.com/office/drawing/2014/main" id="{E01E0292-7CAD-52DA-7D49-948A201AEFF5}"/>
                  </a:ext>
                </a:extLst>
              </p:cNvPr>
              <p:cNvSpPr/>
              <p:nvPr/>
            </p:nvSpPr>
            <p:spPr>
              <a:xfrm>
                <a:off x="908629" y="4198036"/>
                <a:ext cx="4866638" cy="1224000"/>
              </a:xfrm>
              <a:prstGeom prst="roundRect">
                <a:avLst>
                  <a:gd name="adj" fmla="val 91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30000"/>
                  </a:lnSpc>
                </a:pPr>
                <a:endParaRPr kumimoji="1" lang="en-US" altLang="zh-CN" sz="1200" dirty="0">
                  <a:solidFill>
                    <a:schemeClr val="tx1"/>
                  </a:solidFill>
                  <a:cs typeface="+mn-ea"/>
                  <a:sym typeface="+mn-lt"/>
                </a:endParaRPr>
              </a:p>
            </p:txBody>
          </p:sp>
          <p:sp>
            <p:nvSpPr>
              <p:cNvPr id="141" name="Index-3">
                <a:extLst>
                  <a:ext uri="{FF2B5EF4-FFF2-40B4-BE49-F238E27FC236}">
                    <a16:creationId xmlns:a16="http://schemas.microsoft.com/office/drawing/2014/main" id="{33D83E86-5594-A423-B11B-B678C5723D05}"/>
                  </a:ext>
                </a:extLst>
              </p:cNvPr>
              <p:cNvSpPr txBox="1">
                <a:spLocks noChangeAspect="1"/>
              </p:cNvSpPr>
              <p:nvPr>
                <p:custDataLst>
                  <p:tags r:id="rId2"/>
                </p:custDataLst>
              </p:nvPr>
            </p:nvSpPr>
            <p:spPr>
              <a:xfrm>
                <a:off x="645969" y="4492142"/>
                <a:ext cx="540000" cy="540000"/>
              </a:xfrm>
              <a:prstGeom prst="roundRect">
                <a:avLst>
                  <a:gd name="adj" fmla="val 50000"/>
                </a:avLst>
              </a:prstGeom>
              <a:solidFill>
                <a:schemeClr val="accent1"/>
              </a:solidFill>
              <a:ln w="12700" cap="flat">
                <a:noFill/>
                <a:prstDash val="solid"/>
                <a:miter/>
              </a:ln>
              <a:effectLst>
                <a:outerShdw blurRad="127000" dist="63500" dir="2700000" algn="tl" rotWithShape="0">
                  <a:schemeClr val="accent1">
                    <a:alpha val="40000"/>
                  </a:schemeClr>
                </a:outerShdw>
              </a:effectLst>
            </p:spPr>
            <p:txBody>
              <a:bodyPr wrap="none" rtlCol="0" anchor="ctr"/>
              <a:lstStyle>
                <a:defPPr>
                  <a:defRPr lang="zh-CN"/>
                </a:defPPr>
                <a:lvl1pPr algn="ctr">
                  <a:defRPr b="1">
                    <a:solidFill>
                      <a:srgbClr val="FFFFFF"/>
                    </a:solidFill>
                    <a:latin typeface="Arial" panose="020B0604020202020204" pitchFamily="34" charset="0"/>
                    <a:ea typeface="Microsoft YaHei" panose="020B0503020204020204" pitchFamily="34" charset="-122"/>
                  </a:defRPr>
                </a:lvl1pPr>
              </a:lstStyle>
              <a:p>
                <a:r>
                  <a:rPr lang="en-US" altLang="zh-CN" sz="1600" dirty="0">
                    <a:solidFill>
                      <a:schemeClr val="tx1"/>
                    </a:solidFill>
                    <a:latin typeface="+mn-lt"/>
                    <a:ea typeface="+mn-ea"/>
                    <a:cs typeface="+mn-ea"/>
                    <a:sym typeface="+mn-lt"/>
                  </a:rPr>
                  <a:t>03</a:t>
                </a:r>
                <a:endParaRPr lang="zh-CN" altLang="en-US" sz="1600" dirty="0">
                  <a:solidFill>
                    <a:schemeClr val="tx1"/>
                  </a:solidFill>
                  <a:latin typeface="+mn-lt"/>
                  <a:ea typeface="+mn-ea"/>
                  <a:cs typeface="+mn-ea"/>
                  <a:sym typeface="+mn-lt"/>
                </a:endParaRPr>
              </a:p>
            </p:txBody>
          </p:sp>
          <p:sp>
            <p:nvSpPr>
              <p:cNvPr id="142" name="Title-3">
                <a:extLst>
                  <a:ext uri="{FF2B5EF4-FFF2-40B4-BE49-F238E27FC236}">
                    <a16:creationId xmlns:a16="http://schemas.microsoft.com/office/drawing/2014/main" id="{E9D4F2BC-6167-767E-3AE9-0ACA86F76AE8}"/>
                  </a:ext>
                </a:extLst>
              </p:cNvPr>
              <p:cNvSpPr txBox="1"/>
              <p:nvPr>
                <p:custDataLst>
                  <p:tags r:id="rId3"/>
                </p:custDataLst>
              </p:nvPr>
            </p:nvSpPr>
            <p:spPr>
              <a:xfrm>
                <a:off x="1298646" y="4304621"/>
                <a:ext cx="3259026" cy="263420"/>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不一样的</a:t>
                </a:r>
                <a:r>
                  <a:rPr kumimoji="0" lang="en-US" altLang="zh-CN" sz="1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Whole Picture</a:t>
                </a:r>
                <a:endParaRPr kumimoji="0" lang="zh-CN" altLang="en-US" sz="1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143" name="Body-3">
                <a:extLst>
                  <a:ext uri="{FF2B5EF4-FFF2-40B4-BE49-F238E27FC236}">
                    <a16:creationId xmlns:a16="http://schemas.microsoft.com/office/drawing/2014/main" id="{ADDDAB34-BC24-C8EE-3B19-26883CD85D06}"/>
                  </a:ext>
                </a:extLst>
              </p:cNvPr>
              <p:cNvSpPr/>
              <p:nvPr>
                <p:custDataLst>
                  <p:tags r:id="rId4"/>
                </p:custDataLst>
              </p:nvPr>
            </p:nvSpPr>
            <p:spPr>
              <a:xfrm>
                <a:off x="1298645" y="4584223"/>
                <a:ext cx="4363945" cy="698404"/>
              </a:xfrm>
              <a:prstGeom prst="rect">
                <a:avLst/>
              </a:prstGeom>
              <a:noFill/>
              <a:ln w="12700" cap="flat" cmpd="sng" algn="ctr">
                <a:noFill/>
                <a:prstDash val="solid"/>
                <a:miter lim="800000"/>
              </a:ln>
              <a:effectLst/>
            </p:spPr>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尽管高屋建瓴貌似不尽相同，</a:t>
                </a:r>
                <a:r>
                  <a:rPr lang="zh-CN" altLang="en-US" sz="1400" dirty="0">
                    <a:solidFill>
                      <a:schemeClr val="tx1"/>
                    </a:solidFill>
                    <a:latin typeface="Arial" panose="020B0604020202020204" pitchFamily="34" charset="0"/>
                    <a:ea typeface="微软雅黑" panose="020B0503020204020204" pitchFamily="34" charset="-122"/>
                  </a:rPr>
                  <a:t>关键是各计划能力到底是什么和如何协同协奏</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grpSp>
      </p:grpSp>
      <p:pic>
        <p:nvPicPr>
          <p:cNvPr id="3" name="图片 2">
            <a:extLst>
              <a:ext uri="{FF2B5EF4-FFF2-40B4-BE49-F238E27FC236}">
                <a16:creationId xmlns:a16="http://schemas.microsoft.com/office/drawing/2014/main" id="{AB33E1E7-B914-5417-170E-18035665E8C3}"/>
              </a:ext>
            </a:extLst>
          </p:cNvPr>
          <p:cNvPicPr>
            <a:picLocks noChangeAspect="1"/>
          </p:cNvPicPr>
          <p:nvPr/>
        </p:nvPicPr>
        <p:blipFill>
          <a:blip r:embed="rId12">
            <a:alphaModFix amt="35000"/>
          </a:blip>
          <a:stretch>
            <a:fillRect/>
          </a:stretch>
        </p:blipFill>
        <p:spPr>
          <a:xfrm>
            <a:off x="790439" y="797223"/>
            <a:ext cx="5553937" cy="5761219"/>
          </a:xfrm>
          <a:prstGeom prst="rect">
            <a:avLst/>
          </a:prstGeom>
        </p:spPr>
      </p:pic>
    </p:spTree>
    <p:extLst>
      <p:ext uri="{BB962C8B-B14F-4D97-AF65-F5344CB8AC3E}">
        <p14:creationId xmlns:p14="http://schemas.microsoft.com/office/powerpoint/2010/main" val="365504689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9BE4FE-AAAD-7AF0-0714-8C95AC1E2C72}"/>
            </a:ext>
          </a:extLst>
        </p:cNvPr>
        <p:cNvGrpSpPr/>
        <p:nvPr/>
      </p:nvGrpSpPr>
      <p:grpSpPr>
        <a:xfrm>
          <a:off x="0" y="0"/>
          <a:ext cx="0" cy="0"/>
          <a:chOff x="0" y="0"/>
          <a:chExt cx="0" cy="0"/>
        </a:xfrm>
      </p:grpSpPr>
      <p:sp>
        <p:nvSpPr>
          <p:cNvPr id="4" name="标题 3">
            <a:extLst>
              <a:ext uri="{FF2B5EF4-FFF2-40B4-BE49-F238E27FC236}">
                <a16:creationId xmlns:a16="http://schemas.microsoft.com/office/drawing/2014/main" id="{1C6CFF2D-24C4-3DDF-DDB9-28D1D473E55E}"/>
              </a:ext>
            </a:extLst>
          </p:cNvPr>
          <p:cNvSpPr>
            <a:spLocks noGrp="1"/>
          </p:cNvSpPr>
          <p:nvPr>
            <p:ph type="title"/>
          </p:nvPr>
        </p:nvSpPr>
        <p:spPr/>
        <p:txBody>
          <a:bodyPr/>
          <a:lstStyle/>
          <a:p>
            <a:r>
              <a:rPr lang="zh-CN" altLang="en-US" dirty="0"/>
              <a:t>智能计划与控制（</a:t>
            </a:r>
            <a:r>
              <a:rPr lang="en-US" altLang="zh-CN" dirty="0"/>
              <a:t>IPC</a:t>
            </a:r>
            <a:r>
              <a:rPr lang="zh-CN" altLang="en-US" dirty="0"/>
              <a:t>）体系</a:t>
            </a:r>
          </a:p>
        </p:txBody>
      </p:sp>
      <p:grpSp>
        <p:nvGrpSpPr>
          <p:cNvPr id="137" name="组合 136">
            <a:extLst>
              <a:ext uri="{FF2B5EF4-FFF2-40B4-BE49-F238E27FC236}">
                <a16:creationId xmlns:a16="http://schemas.microsoft.com/office/drawing/2014/main" id="{12A93A9F-D07F-970F-D6EC-230B07494781}"/>
              </a:ext>
            </a:extLst>
          </p:cNvPr>
          <p:cNvGrpSpPr>
            <a:grpSpLocks noChangeAspect="1"/>
          </p:cNvGrpSpPr>
          <p:nvPr>
            <p:custDataLst>
              <p:tags r:id="rId1"/>
            </p:custDataLst>
          </p:nvPr>
        </p:nvGrpSpPr>
        <p:grpSpPr>
          <a:xfrm>
            <a:off x="512466" y="1454786"/>
            <a:ext cx="11090729" cy="4632796"/>
            <a:chOff x="1380346" y="2107893"/>
            <a:chExt cx="9625536" cy="3818145"/>
          </a:xfrm>
        </p:grpSpPr>
        <p:grpSp>
          <p:nvGrpSpPr>
            <p:cNvPr id="138" name="组合 137">
              <a:extLst>
                <a:ext uri="{FF2B5EF4-FFF2-40B4-BE49-F238E27FC236}">
                  <a16:creationId xmlns:a16="http://schemas.microsoft.com/office/drawing/2014/main" id="{440797FA-24E6-1F1E-8976-3AFF7DFCFB59}"/>
                </a:ext>
              </a:extLst>
            </p:cNvPr>
            <p:cNvGrpSpPr/>
            <p:nvPr/>
          </p:nvGrpSpPr>
          <p:grpSpPr>
            <a:xfrm>
              <a:off x="4645306" y="2288388"/>
              <a:ext cx="2901388" cy="2901388"/>
              <a:chOff x="4645306" y="2288388"/>
              <a:chExt cx="2901388" cy="2901388"/>
            </a:xfrm>
          </p:grpSpPr>
          <p:sp>
            <p:nvSpPr>
              <p:cNvPr id="151" name="0">
                <a:extLst>
                  <a:ext uri="{FF2B5EF4-FFF2-40B4-BE49-F238E27FC236}">
                    <a16:creationId xmlns:a16="http://schemas.microsoft.com/office/drawing/2014/main" id="{35A58B2D-1B92-6A1C-B68D-4682AB7407CB}"/>
                  </a:ext>
                </a:extLst>
              </p:cNvPr>
              <p:cNvSpPr/>
              <p:nvPr/>
            </p:nvSpPr>
            <p:spPr>
              <a:xfrm>
                <a:off x="5034454" y="2677536"/>
                <a:ext cx="2123092" cy="2123092"/>
              </a:xfrm>
              <a:prstGeom prst="ellipse">
                <a:avLst/>
              </a:prstGeom>
              <a:noFill/>
              <a:ln w="12700">
                <a:solidFill>
                  <a:schemeClr val="accent2">
                    <a:lumMod val="40000"/>
                    <a:lumOff val="6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endParaRPr>
              </a:p>
            </p:txBody>
          </p:sp>
          <p:sp>
            <p:nvSpPr>
              <p:cNvPr id="152" name="0">
                <a:extLst>
                  <a:ext uri="{FF2B5EF4-FFF2-40B4-BE49-F238E27FC236}">
                    <a16:creationId xmlns:a16="http://schemas.microsoft.com/office/drawing/2014/main" id="{67910E7C-3924-01BD-4DA0-FD17CE91D0E6}"/>
                  </a:ext>
                </a:extLst>
              </p:cNvPr>
              <p:cNvSpPr/>
              <p:nvPr/>
            </p:nvSpPr>
            <p:spPr>
              <a:xfrm>
                <a:off x="5575140" y="3222080"/>
                <a:ext cx="1025748" cy="1025748"/>
              </a:xfrm>
              <a:prstGeom prst="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endParaRPr>
              </a:p>
            </p:txBody>
          </p:sp>
          <p:sp>
            <p:nvSpPr>
              <p:cNvPr id="153" name="0">
                <a:extLst>
                  <a:ext uri="{FF2B5EF4-FFF2-40B4-BE49-F238E27FC236}">
                    <a16:creationId xmlns:a16="http://schemas.microsoft.com/office/drawing/2014/main" id="{DD9D3948-ED23-2667-6947-B468482298BA}"/>
                  </a:ext>
                </a:extLst>
              </p:cNvPr>
              <p:cNvSpPr/>
              <p:nvPr/>
            </p:nvSpPr>
            <p:spPr>
              <a:xfrm>
                <a:off x="5832782" y="3602554"/>
                <a:ext cx="14032" cy="13899"/>
              </a:xfrm>
              <a:custGeom>
                <a:avLst/>
                <a:gdLst>
                  <a:gd name="connsiteX0" fmla="*/ 22523 w 22523"/>
                  <a:gd name="connsiteY0" fmla="*/ 0 h 22308"/>
                  <a:gd name="connsiteX1" fmla="*/ 0 w 22523"/>
                  <a:gd name="connsiteY1" fmla="*/ 22308 h 22308"/>
                  <a:gd name="connsiteX2" fmla="*/ 9627 w 22523"/>
                  <a:gd name="connsiteY2" fmla="*/ 10640 h 22308"/>
                  <a:gd name="connsiteX3" fmla="*/ 22523 w 22523"/>
                  <a:gd name="connsiteY3" fmla="*/ 0 h 22308"/>
                </a:gdLst>
                <a:ahLst/>
                <a:cxnLst>
                  <a:cxn ang="0">
                    <a:pos x="connsiteX0" y="connsiteY0"/>
                  </a:cxn>
                  <a:cxn ang="0">
                    <a:pos x="connsiteX1" y="connsiteY1"/>
                  </a:cxn>
                  <a:cxn ang="0">
                    <a:pos x="connsiteX2" y="connsiteY2"/>
                  </a:cxn>
                  <a:cxn ang="0">
                    <a:pos x="connsiteX3" y="connsiteY3"/>
                  </a:cxn>
                </a:cxnLst>
                <a:rect l="l" t="t" r="r" b="b"/>
                <a:pathLst>
                  <a:path w="22523" h="22308">
                    <a:moveTo>
                      <a:pt x="22523" y="0"/>
                    </a:moveTo>
                    <a:lnTo>
                      <a:pt x="0" y="22308"/>
                    </a:lnTo>
                    <a:lnTo>
                      <a:pt x="9627" y="10640"/>
                    </a:lnTo>
                    <a:lnTo>
                      <a:pt x="22523"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atin typeface="+mj-ea"/>
                  <a:ea typeface="+mj-ea"/>
                </a:endParaRPr>
              </a:p>
            </p:txBody>
          </p:sp>
          <p:sp>
            <p:nvSpPr>
              <p:cNvPr id="154" name="0">
                <a:extLst>
                  <a:ext uri="{FF2B5EF4-FFF2-40B4-BE49-F238E27FC236}">
                    <a16:creationId xmlns:a16="http://schemas.microsoft.com/office/drawing/2014/main" id="{9576E6F0-2024-CDDF-54D8-66EE0D40D5B5}"/>
                  </a:ext>
                </a:extLst>
              </p:cNvPr>
              <p:cNvSpPr/>
              <p:nvPr/>
            </p:nvSpPr>
            <p:spPr>
              <a:xfrm>
                <a:off x="6345190" y="3602557"/>
                <a:ext cx="14026" cy="13892"/>
              </a:xfrm>
              <a:custGeom>
                <a:avLst/>
                <a:gdLst>
                  <a:gd name="connsiteX0" fmla="*/ 0 w 22512"/>
                  <a:gd name="connsiteY0" fmla="*/ 0 h 22298"/>
                  <a:gd name="connsiteX1" fmla="*/ 12889 w 22512"/>
                  <a:gd name="connsiteY1" fmla="*/ 10635 h 22298"/>
                  <a:gd name="connsiteX2" fmla="*/ 22512 w 22512"/>
                  <a:gd name="connsiteY2" fmla="*/ 22298 h 22298"/>
                  <a:gd name="connsiteX3" fmla="*/ 0 w 22512"/>
                  <a:gd name="connsiteY3" fmla="*/ 0 h 22298"/>
                </a:gdLst>
                <a:ahLst/>
                <a:cxnLst>
                  <a:cxn ang="0">
                    <a:pos x="connsiteX0" y="connsiteY0"/>
                  </a:cxn>
                  <a:cxn ang="0">
                    <a:pos x="connsiteX1" y="connsiteY1"/>
                  </a:cxn>
                  <a:cxn ang="0">
                    <a:pos x="connsiteX2" y="connsiteY2"/>
                  </a:cxn>
                  <a:cxn ang="0">
                    <a:pos x="connsiteX3" y="connsiteY3"/>
                  </a:cxn>
                </a:cxnLst>
                <a:rect l="l" t="t" r="r" b="b"/>
                <a:pathLst>
                  <a:path w="22512" h="22298">
                    <a:moveTo>
                      <a:pt x="0" y="0"/>
                    </a:moveTo>
                    <a:lnTo>
                      <a:pt x="12889" y="10635"/>
                    </a:lnTo>
                    <a:lnTo>
                      <a:pt x="22512" y="22298"/>
                    </a:lnTo>
                    <a:lnTo>
                      <a:pt x="0"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atin typeface="+mj-ea"/>
                  <a:ea typeface="+mj-ea"/>
                </a:endParaRPr>
              </a:p>
            </p:txBody>
          </p:sp>
          <p:sp>
            <p:nvSpPr>
              <p:cNvPr id="155" name="0">
                <a:extLst>
                  <a:ext uri="{FF2B5EF4-FFF2-40B4-BE49-F238E27FC236}">
                    <a16:creationId xmlns:a16="http://schemas.microsoft.com/office/drawing/2014/main" id="{F65AE117-01AE-F1A9-A70C-2E7206D02343}"/>
                  </a:ext>
                </a:extLst>
              </p:cNvPr>
              <p:cNvSpPr/>
              <p:nvPr/>
            </p:nvSpPr>
            <p:spPr>
              <a:xfrm>
                <a:off x="4917316" y="2560398"/>
                <a:ext cx="2357367" cy="2357367"/>
              </a:xfrm>
              <a:prstGeom prst="ellipse">
                <a:avLst/>
              </a:prstGeom>
              <a:noFill/>
              <a:ln w="25400">
                <a:solidFill>
                  <a:schemeClr val="accent2">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endParaRPr>
              </a:p>
            </p:txBody>
          </p:sp>
          <p:sp>
            <p:nvSpPr>
              <p:cNvPr id="156" name="0">
                <a:extLst>
                  <a:ext uri="{FF2B5EF4-FFF2-40B4-BE49-F238E27FC236}">
                    <a16:creationId xmlns:a16="http://schemas.microsoft.com/office/drawing/2014/main" id="{0B764DDE-AEA2-AA18-2C26-E57BF3D17C44}"/>
                  </a:ext>
                </a:extLst>
              </p:cNvPr>
              <p:cNvSpPr/>
              <p:nvPr/>
            </p:nvSpPr>
            <p:spPr>
              <a:xfrm>
                <a:off x="4645306" y="2288388"/>
                <a:ext cx="2901388" cy="2901388"/>
              </a:xfrm>
              <a:prstGeom prst="arc">
                <a:avLst>
                  <a:gd name="adj1" fmla="val 14377865"/>
                  <a:gd name="adj2" fmla="val 17902484"/>
                </a:avLst>
              </a:prstGeom>
              <a:noFill/>
              <a:ln w="101600">
                <a:gradFill flip="none" rotWithShape="1">
                  <a:gsLst>
                    <a:gs pos="10000">
                      <a:schemeClr val="accent2">
                        <a:alpha val="0"/>
                      </a:schemeClr>
                    </a:gs>
                    <a:gs pos="100000">
                      <a:schemeClr val="accent2"/>
                    </a:gs>
                  </a:gsLst>
                  <a:lin ang="0" scaled="1"/>
                  <a:tileRect/>
                </a:gra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endParaRPr>
              </a:p>
            </p:txBody>
          </p:sp>
          <p:sp>
            <p:nvSpPr>
              <p:cNvPr id="157" name="0">
                <a:extLst>
                  <a:ext uri="{FF2B5EF4-FFF2-40B4-BE49-F238E27FC236}">
                    <a16:creationId xmlns:a16="http://schemas.microsoft.com/office/drawing/2014/main" id="{E3453247-FC7E-5F48-89DA-49F1CB71AC05}"/>
                  </a:ext>
                </a:extLst>
              </p:cNvPr>
              <p:cNvSpPr/>
              <p:nvPr/>
            </p:nvSpPr>
            <p:spPr>
              <a:xfrm>
                <a:off x="5698008" y="3344948"/>
                <a:ext cx="780012" cy="780012"/>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endParaRPr>
              </a:p>
            </p:txBody>
          </p:sp>
          <p:sp>
            <p:nvSpPr>
              <p:cNvPr id="158" name="0">
                <a:extLst>
                  <a:ext uri="{FF2B5EF4-FFF2-40B4-BE49-F238E27FC236}">
                    <a16:creationId xmlns:a16="http://schemas.microsoft.com/office/drawing/2014/main" id="{2D24439B-52D1-2995-F86B-CF2DCCB31638}"/>
                  </a:ext>
                </a:extLst>
              </p:cNvPr>
              <p:cNvSpPr/>
              <p:nvPr/>
            </p:nvSpPr>
            <p:spPr>
              <a:xfrm rot="5400000">
                <a:off x="4645306" y="2288388"/>
                <a:ext cx="2901388" cy="2901388"/>
              </a:xfrm>
              <a:prstGeom prst="arc">
                <a:avLst>
                  <a:gd name="adj1" fmla="val 14377865"/>
                  <a:gd name="adj2" fmla="val 17902484"/>
                </a:avLst>
              </a:prstGeom>
              <a:noFill/>
              <a:ln w="101600">
                <a:gradFill flip="none" rotWithShape="1">
                  <a:gsLst>
                    <a:gs pos="10000">
                      <a:schemeClr val="accent3">
                        <a:alpha val="0"/>
                      </a:schemeClr>
                    </a:gs>
                    <a:gs pos="100000">
                      <a:schemeClr val="accent3"/>
                    </a:gs>
                  </a:gsLst>
                  <a:lin ang="0" scaled="1"/>
                  <a:tileRect/>
                </a:gra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endParaRPr>
              </a:p>
            </p:txBody>
          </p:sp>
          <p:sp>
            <p:nvSpPr>
              <p:cNvPr id="159" name="0">
                <a:extLst>
                  <a:ext uri="{FF2B5EF4-FFF2-40B4-BE49-F238E27FC236}">
                    <a16:creationId xmlns:a16="http://schemas.microsoft.com/office/drawing/2014/main" id="{8B3730B6-5F46-88F4-9251-1FE5D40A430C}"/>
                  </a:ext>
                </a:extLst>
              </p:cNvPr>
              <p:cNvSpPr/>
              <p:nvPr/>
            </p:nvSpPr>
            <p:spPr>
              <a:xfrm rot="10800000">
                <a:off x="4645306" y="2288388"/>
                <a:ext cx="2901388" cy="2901388"/>
              </a:xfrm>
              <a:prstGeom prst="arc">
                <a:avLst>
                  <a:gd name="adj1" fmla="val 14377865"/>
                  <a:gd name="adj2" fmla="val 17902484"/>
                </a:avLst>
              </a:prstGeom>
              <a:noFill/>
              <a:ln w="101600">
                <a:gradFill flip="none" rotWithShape="1">
                  <a:gsLst>
                    <a:gs pos="10000">
                      <a:schemeClr val="accent4">
                        <a:alpha val="0"/>
                      </a:schemeClr>
                    </a:gs>
                    <a:gs pos="100000">
                      <a:schemeClr val="accent4"/>
                    </a:gs>
                  </a:gsLst>
                  <a:lin ang="0" scaled="1"/>
                  <a:tileRect/>
                </a:gra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endParaRPr>
              </a:p>
            </p:txBody>
          </p:sp>
          <p:sp>
            <p:nvSpPr>
              <p:cNvPr id="160" name="0">
                <a:extLst>
                  <a:ext uri="{FF2B5EF4-FFF2-40B4-BE49-F238E27FC236}">
                    <a16:creationId xmlns:a16="http://schemas.microsoft.com/office/drawing/2014/main" id="{05BA24CA-B64A-A183-8EC2-DC672072FBFC}"/>
                  </a:ext>
                </a:extLst>
              </p:cNvPr>
              <p:cNvSpPr/>
              <p:nvPr/>
            </p:nvSpPr>
            <p:spPr>
              <a:xfrm rot="16200000">
                <a:off x="4645306" y="2288388"/>
                <a:ext cx="2901388" cy="2901388"/>
              </a:xfrm>
              <a:prstGeom prst="arc">
                <a:avLst>
                  <a:gd name="adj1" fmla="val 14377865"/>
                  <a:gd name="adj2" fmla="val 17902484"/>
                </a:avLst>
              </a:prstGeom>
              <a:noFill/>
              <a:ln w="101600">
                <a:gradFill flip="none" rotWithShape="1">
                  <a:gsLst>
                    <a:gs pos="10000">
                      <a:schemeClr val="accent1">
                        <a:alpha val="0"/>
                      </a:schemeClr>
                    </a:gs>
                    <a:gs pos="100000">
                      <a:schemeClr val="accent1"/>
                    </a:gs>
                  </a:gsLst>
                  <a:lin ang="0" scaled="1"/>
                  <a:tileRect/>
                </a:gra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endParaRPr>
              </a:p>
            </p:txBody>
          </p:sp>
          <p:sp>
            <p:nvSpPr>
              <p:cNvPr id="161" name="0">
                <a:extLst>
                  <a:ext uri="{FF2B5EF4-FFF2-40B4-BE49-F238E27FC236}">
                    <a16:creationId xmlns:a16="http://schemas.microsoft.com/office/drawing/2014/main" id="{5489F6AC-DDC4-DE70-90FE-329776A09610}"/>
                  </a:ext>
                </a:extLst>
              </p:cNvPr>
              <p:cNvSpPr/>
              <p:nvPr/>
            </p:nvSpPr>
            <p:spPr>
              <a:xfrm rot="2700000" flipV="1">
                <a:off x="4789792" y="3018439"/>
                <a:ext cx="657800" cy="342618"/>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atin typeface="+mj-ea"/>
                  <a:ea typeface="+mj-ea"/>
                </a:endParaRPr>
              </a:p>
            </p:txBody>
          </p:sp>
          <p:sp>
            <p:nvSpPr>
              <p:cNvPr id="162" name="0">
                <a:extLst>
                  <a:ext uri="{FF2B5EF4-FFF2-40B4-BE49-F238E27FC236}">
                    <a16:creationId xmlns:a16="http://schemas.microsoft.com/office/drawing/2014/main" id="{BDEF88B7-6D36-4AEC-2A22-867C4BE1F56D}"/>
                  </a:ext>
                </a:extLst>
              </p:cNvPr>
              <p:cNvSpPr/>
              <p:nvPr/>
            </p:nvSpPr>
            <p:spPr>
              <a:xfrm rot="2700000">
                <a:off x="5217767" y="2590464"/>
                <a:ext cx="657800" cy="342617"/>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atin typeface="+mj-ea"/>
                  <a:ea typeface="+mj-ea"/>
                </a:endParaRPr>
              </a:p>
            </p:txBody>
          </p:sp>
          <p:sp>
            <p:nvSpPr>
              <p:cNvPr id="163" name="0">
                <a:extLst>
                  <a:ext uri="{FF2B5EF4-FFF2-40B4-BE49-F238E27FC236}">
                    <a16:creationId xmlns:a16="http://schemas.microsoft.com/office/drawing/2014/main" id="{883F1C5B-8C4F-A7BE-7973-9BF3C84236AA}"/>
                  </a:ext>
                </a:extLst>
              </p:cNvPr>
              <p:cNvSpPr/>
              <p:nvPr/>
            </p:nvSpPr>
            <p:spPr>
              <a:xfrm rot="2700000">
                <a:off x="4971739" y="2609171"/>
                <a:ext cx="727529" cy="727528"/>
              </a:xfrm>
              <a:prstGeom prst="ellipse">
                <a:avLst/>
              </a:prstGeom>
              <a:solidFill>
                <a:schemeClr val="bg1"/>
              </a:solidFill>
              <a:ln>
                <a:noFill/>
              </a:ln>
              <a:effectLst>
                <a:outerShdw blurRad="50800" dist="38100" dir="10800000" algn="r" rotWithShape="0">
                  <a:schemeClr val="accent2">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accent2"/>
                  </a:solidFill>
                  <a:latin typeface="+mj-ea"/>
                  <a:ea typeface="+mj-ea"/>
                </a:endParaRPr>
              </a:p>
            </p:txBody>
          </p:sp>
          <p:sp>
            <p:nvSpPr>
              <p:cNvPr id="164" name="0">
                <a:extLst>
                  <a:ext uri="{FF2B5EF4-FFF2-40B4-BE49-F238E27FC236}">
                    <a16:creationId xmlns:a16="http://schemas.microsoft.com/office/drawing/2014/main" id="{02A0CD5B-6823-D027-100D-CE9DF267F3D8}"/>
                  </a:ext>
                </a:extLst>
              </p:cNvPr>
              <p:cNvSpPr/>
              <p:nvPr/>
            </p:nvSpPr>
            <p:spPr>
              <a:xfrm>
                <a:off x="5085560" y="2722009"/>
                <a:ext cx="493986" cy="493986"/>
              </a:xfrm>
              <a:prstGeom prst="ellips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chorCtr="1"/>
              <a:lstStyle/>
              <a:p>
                <a:pPr algn="ctr"/>
                <a:r>
                  <a:rPr lang="en-US" altLang="zh-CN" b="1" dirty="0">
                    <a:latin typeface="+mj-ea"/>
                    <a:ea typeface="+mj-ea"/>
                  </a:rPr>
                  <a:t>01</a:t>
                </a:r>
                <a:endParaRPr lang="zh-CN" altLang="en-US" b="1" dirty="0">
                  <a:latin typeface="+mj-ea"/>
                  <a:ea typeface="+mj-ea"/>
                </a:endParaRPr>
              </a:p>
            </p:txBody>
          </p:sp>
          <p:sp>
            <p:nvSpPr>
              <p:cNvPr id="165" name="0">
                <a:extLst>
                  <a:ext uri="{FF2B5EF4-FFF2-40B4-BE49-F238E27FC236}">
                    <a16:creationId xmlns:a16="http://schemas.microsoft.com/office/drawing/2014/main" id="{E1886D30-F513-1490-B1DC-2BD39838D196}"/>
                  </a:ext>
                </a:extLst>
              </p:cNvPr>
              <p:cNvSpPr/>
              <p:nvPr/>
            </p:nvSpPr>
            <p:spPr>
              <a:xfrm rot="8100000" flipV="1">
                <a:off x="6316433" y="2590464"/>
                <a:ext cx="657800" cy="342618"/>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atin typeface="+mj-ea"/>
                  <a:ea typeface="+mj-ea"/>
                </a:endParaRPr>
              </a:p>
            </p:txBody>
          </p:sp>
          <p:sp>
            <p:nvSpPr>
              <p:cNvPr id="166" name="0">
                <a:extLst>
                  <a:ext uri="{FF2B5EF4-FFF2-40B4-BE49-F238E27FC236}">
                    <a16:creationId xmlns:a16="http://schemas.microsoft.com/office/drawing/2014/main" id="{26F462E7-EF19-D84D-0437-FFD9C9A58157}"/>
                  </a:ext>
                </a:extLst>
              </p:cNvPr>
              <p:cNvSpPr/>
              <p:nvPr/>
            </p:nvSpPr>
            <p:spPr>
              <a:xfrm rot="8100000">
                <a:off x="6744408" y="3018440"/>
                <a:ext cx="657800" cy="342617"/>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atin typeface="+mj-ea"/>
                  <a:ea typeface="+mj-ea"/>
                </a:endParaRPr>
              </a:p>
            </p:txBody>
          </p:sp>
          <p:sp>
            <p:nvSpPr>
              <p:cNvPr id="167" name="0">
                <a:extLst>
                  <a:ext uri="{FF2B5EF4-FFF2-40B4-BE49-F238E27FC236}">
                    <a16:creationId xmlns:a16="http://schemas.microsoft.com/office/drawing/2014/main" id="{430FC3C3-8047-B1AF-6ADC-A433200C3B94}"/>
                  </a:ext>
                </a:extLst>
              </p:cNvPr>
              <p:cNvSpPr/>
              <p:nvPr/>
            </p:nvSpPr>
            <p:spPr>
              <a:xfrm rot="8100000">
                <a:off x="6498382" y="2614821"/>
                <a:ext cx="727529" cy="727528"/>
              </a:xfrm>
              <a:prstGeom prst="ellipse">
                <a:avLst/>
              </a:prstGeom>
              <a:solidFill>
                <a:schemeClr val="bg1"/>
              </a:solidFill>
              <a:ln>
                <a:noFill/>
              </a:ln>
              <a:effectLst>
                <a:outerShdw blurRad="50800" dist="38100" dir="10800000" algn="r" rotWithShape="0">
                  <a:schemeClr val="accent2">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accent2"/>
                  </a:solidFill>
                  <a:latin typeface="+mj-ea"/>
                  <a:ea typeface="+mj-ea"/>
                </a:endParaRPr>
              </a:p>
            </p:txBody>
          </p:sp>
          <p:sp>
            <p:nvSpPr>
              <p:cNvPr id="168" name="0">
                <a:extLst>
                  <a:ext uri="{FF2B5EF4-FFF2-40B4-BE49-F238E27FC236}">
                    <a16:creationId xmlns:a16="http://schemas.microsoft.com/office/drawing/2014/main" id="{833EFE09-28F7-3A54-F268-CA1E05F4250E}"/>
                  </a:ext>
                </a:extLst>
              </p:cNvPr>
              <p:cNvSpPr/>
              <p:nvPr/>
            </p:nvSpPr>
            <p:spPr>
              <a:xfrm>
                <a:off x="6619086" y="2728642"/>
                <a:ext cx="493986" cy="493986"/>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chorCtr="1"/>
              <a:lstStyle/>
              <a:p>
                <a:pPr algn="ctr"/>
                <a:r>
                  <a:rPr lang="en-US" altLang="zh-CN" b="1" dirty="0">
                    <a:latin typeface="+mj-ea"/>
                    <a:ea typeface="+mj-ea"/>
                  </a:rPr>
                  <a:t>02</a:t>
                </a:r>
                <a:endParaRPr lang="zh-CN" altLang="en-US" b="1" dirty="0">
                  <a:latin typeface="+mj-ea"/>
                  <a:ea typeface="+mj-ea"/>
                </a:endParaRPr>
              </a:p>
            </p:txBody>
          </p:sp>
          <p:sp>
            <p:nvSpPr>
              <p:cNvPr id="169" name="0">
                <a:extLst>
                  <a:ext uri="{FF2B5EF4-FFF2-40B4-BE49-F238E27FC236}">
                    <a16:creationId xmlns:a16="http://schemas.microsoft.com/office/drawing/2014/main" id="{689C2D7B-2BED-DD2C-69BA-70F845216448}"/>
                  </a:ext>
                </a:extLst>
              </p:cNvPr>
              <p:cNvSpPr/>
              <p:nvPr/>
            </p:nvSpPr>
            <p:spPr>
              <a:xfrm rot="13500000" flipV="1">
                <a:off x="6744408" y="4117106"/>
                <a:ext cx="657800" cy="342618"/>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atin typeface="+mj-ea"/>
                  <a:ea typeface="+mj-ea"/>
                </a:endParaRPr>
              </a:p>
            </p:txBody>
          </p:sp>
          <p:sp>
            <p:nvSpPr>
              <p:cNvPr id="170" name="0">
                <a:extLst>
                  <a:ext uri="{FF2B5EF4-FFF2-40B4-BE49-F238E27FC236}">
                    <a16:creationId xmlns:a16="http://schemas.microsoft.com/office/drawing/2014/main" id="{759AF8BA-2F60-EF86-1ACB-3C5EF5280754}"/>
                  </a:ext>
                </a:extLst>
              </p:cNvPr>
              <p:cNvSpPr/>
              <p:nvPr/>
            </p:nvSpPr>
            <p:spPr>
              <a:xfrm rot="13500000">
                <a:off x="6316433" y="4545081"/>
                <a:ext cx="657800" cy="342617"/>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atin typeface="+mj-ea"/>
                  <a:ea typeface="+mj-ea"/>
                </a:endParaRPr>
              </a:p>
            </p:txBody>
          </p:sp>
          <p:sp>
            <p:nvSpPr>
              <p:cNvPr id="171" name="0">
                <a:extLst>
                  <a:ext uri="{FF2B5EF4-FFF2-40B4-BE49-F238E27FC236}">
                    <a16:creationId xmlns:a16="http://schemas.microsoft.com/office/drawing/2014/main" id="{E9B88242-A851-AB39-4736-515A207B98A2}"/>
                  </a:ext>
                </a:extLst>
              </p:cNvPr>
              <p:cNvSpPr/>
              <p:nvPr/>
            </p:nvSpPr>
            <p:spPr>
              <a:xfrm rot="13500000">
                <a:off x="6492732" y="4141464"/>
                <a:ext cx="727529" cy="727528"/>
              </a:xfrm>
              <a:prstGeom prst="ellipse">
                <a:avLst/>
              </a:prstGeom>
              <a:solidFill>
                <a:schemeClr val="bg1"/>
              </a:solidFill>
              <a:ln>
                <a:noFill/>
              </a:ln>
              <a:effectLst>
                <a:outerShdw blurRad="50800" dist="38100" dir="10800000" algn="r" rotWithShape="0">
                  <a:schemeClr val="accent2">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accent2"/>
                  </a:solidFill>
                  <a:latin typeface="+mj-ea"/>
                  <a:ea typeface="+mj-ea"/>
                </a:endParaRPr>
              </a:p>
            </p:txBody>
          </p:sp>
          <p:sp>
            <p:nvSpPr>
              <p:cNvPr id="172" name="0">
                <a:extLst>
                  <a:ext uri="{FF2B5EF4-FFF2-40B4-BE49-F238E27FC236}">
                    <a16:creationId xmlns:a16="http://schemas.microsoft.com/office/drawing/2014/main" id="{6988E62D-1C50-D061-A473-344A633321A3}"/>
                  </a:ext>
                </a:extLst>
              </p:cNvPr>
              <p:cNvSpPr/>
              <p:nvPr/>
            </p:nvSpPr>
            <p:spPr>
              <a:xfrm>
                <a:off x="6612454" y="4262168"/>
                <a:ext cx="493986" cy="493986"/>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chorCtr="1"/>
              <a:lstStyle/>
              <a:p>
                <a:pPr algn="ctr"/>
                <a:r>
                  <a:rPr lang="en-US" altLang="zh-CN" b="1" dirty="0">
                    <a:solidFill>
                      <a:schemeClr val="tx1"/>
                    </a:solidFill>
                    <a:latin typeface="+mj-ea"/>
                    <a:ea typeface="+mj-ea"/>
                  </a:rPr>
                  <a:t>03</a:t>
                </a:r>
                <a:endParaRPr lang="zh-CN" altLang="en-US" b="1" dirty="0">
                  <a:solidFill>
                    <a:schemeClr val="tx1"/>
                  </a:solidFill>
                  <a:latin typeface="+mj-ea"/>
                  <a:ea typeface="+mj-ea"/>
                </a:endParaRPr>
              </a:p>
            </p:txBody>
          </p:sp>
          <p:sp>
            <p:nvSpPr>
              <p:cNvPr id="173" name="0">
                <a:extLst>
                  <a:ext uri="{FF2B5EF4-FFF2-40B4-BE49-F238E27FC236}">
                    <a16:creationId xmlns:a16="http://schemas.microsoft.com/office/drawing/2014/main" id="{B5D52EB9-7D84-7E5C-AC15-BFCAC35062F7}"/>
                  </a:ext>
                </a:extLst>
              </p:cNvPr>
              <p:cNvSpPr/>
              <p:nvPr/>
            </p:nvSpPr>
            <p:spPr>
              <a:xfrm rot="18900000" flipV="1">
                <a:off x="5217766" y="4545082"/>
                <a:ext cx="657800" cy="342618"/>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atin typeface="+mj-ea"/>
                  <a:ea typeface="+mj-ea"/>
                </a:endParaRPr>
              </a:p>
            </p:txBody>
          </p:sp>
          <p:sp>
            <p:nvSpPr>
              <p:cNvPr id="174" name="0">
                <a:extLst>
                  <a:ext uri="{FF2B5EF4-FFF2-40B4-BE49-F238E27FC236}">
                    <a16:creationId xmlns:a16="http://schemas.microsoft.com/office/drawing/2014/main" id="{2E8CFF9E-AA65-228E-FA0C-F11FA08394BC}"/>
                  </a:ext>
                </a:extLst>
              </p:cNvPr>
              <p:cNvSpPr/>
              <p:nvPr/>
            </p:nvSpPr>
            <p:spPr>
              <a:xfrm rot="18900000">
                <a:off x="4789791" y="4117107"/>
                <a:ext cx="657800" cy="342617"/>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atin typeface="+mj-ea"/>
                  <a:ea typeface="+mj-ea"/>
                </a:endParaRPr>
              </a:p>
            </p:txBody>
          </p:sp>
          <p:sp>
            <p:nvSpPr>
              <p:cNvPr id="175" name="0">
                <a:extLst>
                  <a:ext uri="{FF2B5EF4-FFF2-40B4-BE49-F238E27FC236}">
                    <a16:creationId xmlns:a16="http://schemas.microsoft.com/office/drawing/2014/main" id="{9A44786B-2E04-5E5C-3DCB-52AFE0D0BADF}"/>
                  </a:ext>
                </a:extLst>
              </p:cNvPr>
              <p:cNvSpPr/>
              <p:nvPr/>
            </p:nvSpPr>
            <p:spPr>
              <a:xfrm rot="18900000">
                <a:off x="4966089" y="4135815"/>
                <a:ext cx="727529" cy="727528"/>
              </a:xfrm>
              <a:prstGeom prst="ellipse">
                <a:avLst/>
              </a:prstGeom>
              <a:solidFill>
                <a:schemeClr val="bg1"/>
              </a:solidFill>
              <a:ln>
                <a:noFill/>
              </a:ln>
              <a:effectLst>
                <a:outerShdw blurRad="50800" dist="38100" dir="10800000" algn="r" rotWithShape="0">
                  <a:schemeClr val="accent2">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accent2"/>
                  </a:solidFill>
                  <a:latin typeface="+mj-ea"/>
                  <a:ea typeface="+mj-ea"/>
                </a:endParaRPr>
              </a:p>
            </p:txBody>
          </p:sp>
          <p:sp>
            <p:nvSpPr>
              <p:cNvPr id="176" name="0">
                <a:extLst>
                  <a:ext uri="{FF2B5EF4-FFF2-40B4-BE49-F238E27FC236}">
                    <a16:creationId xmlns:a16="http://schemas.microsoft.com/office/drawing/2014/main" id="{E238C1B9-48B8-3063-0A09-F1A4320D8630}"/>
                  </a:ext>
                </a:extLst>
              </p:cNvPr>
              <p:cNvSpPr/>
              <p:nvPr/>
            </p:nvSpPr>
            <p:spPr>
              <a:xfrm>
                <a:off x="5078928" y="4255535"/>
                <a:ext cx="493986" cy="493986"/>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chorCtr="1"/>
              <a:lstStyle/>
              <a:p>
                <a:pPr algn="ctr"/>
                <a:r>
                  <a:rPr lang="en-US" altLang="zh-CN" b="1" dirty="0">
                    <a:latin typeface="+mj-ea"/>
                    <a:ea typeface="+mj-ea"/>
                  </a:rPr>
                  <a:t>04</a:t>
                </a:r>
                <a:endParaRPr lang="zh-CN" altLang="en-US" b="1" dirty="0">
                  <a:latin typeface="+mj-ea"/>
                  <a:ea typeface="+mj-ea"/>
                </a:endParaRPr>
              </a:p>
            </p:txBody>
          </p:sp>
          <p:pic>
            <p:nvPicPr>
              <p:cNvPr id="177" name="0">
                <a:extLst>
                  <a:ext uri="{FF2B5EF4-FFF2-40B4-BE49-F238E27FC236}">
                    <a16:creationId xmlns:a16="http://schemas.microsoft.com/office/drawing/2014/main" id="{5645638B-4937-C050-48A5-9225D505C038}"/>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5871796" y="3511486"/>
                <a:ext cx="443294" cy="443294"/>
              </a:xfrm>
              <a:prstGeom prst="rect">
                <a:avLst/>
              </a:prstGeom>
            </p:spPr>
          </p:pic>
        </p:grpSp>
        <p:grpSp>
          <p:nvGrpSpPr>
            <p:cNvPr id="139" name="组合 138">
              <a:extLst>
                <a:ext uri="{FF2B5EF4-FFF2-40B4-BE49-F238E27FC236}">
                  <a16:creationId xmlns:a16="http://schemas.microsoft.com/office/drawing/2014/main" id="{86EF8CAF-7EBE-E8E2-ADE5-6F315DDFD20F}"/>
                </a:ext>
              </a:extLst>
            </p:cNvPr>
            <p:cNvGrpSpPr/>
            <p:nvPr/>
          </p:nvGrpSpPr>
          <p:grpSpPr>
            <a:xfrm>
              <a:off x="1380346" y="2107893"/>
              <a:ext cx="3429566" cy="826870"/>
              <a:chOff x="1380346" y="2107893"/>
              <a:chExt cx="3429566" cy="826870"/>
            </a:xfrm>
          </p:grpSpPr>
          <p:sp>
            <p:nvSpPr>
              <p:cNvPr id="149" name="Title-1">
                <a:extLst>
                  <a:ext uri="{FF2B5EF4-FFF2-40B4-BE49-F238E27FC236}">
                    <a16:creationId xmlns:a16="http://schemas.microsoft.com/office/drawing/2014/main" id="{17820FC6-F8D2-896A-B537-56EC3E9DBFF9}"/>
                  </a:ext>
                </a:extLst>
              </p:cNvPr>
              <p:cNvSpPr txBox="1"/>
              <p:nvPr>
                <p:custDataLst>
                  <p:tags r:id="rId8"/>
                </p:custDataLst>
              </p:nvPr>
            </p:nvSpPr>
            <p:spPr>
              <a:xfrm flipH="1">
                <a:off x="1380346" y="2107893"/>
                <a:ext cx="3429566" cy="329753"/>
              </a:xfrm>
              <a:prstGeom prst="rect">
                <a:avLst/>
              </a:prstGeom>
              <a:noFill/>
            </p:spPr>
            <p:txBody>
              <a:bodyPr wrap="none" rtlCol="0">
                <a:spAutoFit/>
              </a:bodyPr>
              <a:lstStyle/>
              <a:p>
                <a:pPr algn="r"/>
                <a:r>
                  <a:rPr lang="zh-CN" altLang="en-US" sz="2000" b="1" dirty="0">
                    <a:solidFill>
                      <a:schemeClr val="accent1"/>
                    </a:solidFill>
                    <a:latin typeface="+mj-ea"/>
                    <a:ea typeface="+mj-ea"/>
                  </a:rPr>
                  <a:t>一体：计划与控制塔一体化设计</a:t>
                </a:r>
              </a:p>
            </p:txBody>
          </p:sp>
          <p:sp>
            <p:nvSpPr>
              <p:cNvPr id="150" name="Body-1">
                <a:extLst>
                  <a:ext uri="{FF2B5EF4-FFF2-40B4-BE49-F238E27FC236}">
                    <a16:creationId xmlns:a16="http://schemas.microsoft.com/office/drawing/2014/main" id="{85D8FAB7-8C3B-C60A-D179-C1720EF47F0B}"/>
                  </a:ext>
                </a:extLst>
              </p:cNvPr>
              <p:cNvSpPr txBox="1"/>
              <p:nvPr>
                <p:custDataLst>
                  <p:tags r:id="rId9"/>
                </p:custDataLst>
              </p:nvPr>
            </p:nvSpPr>
            <p:spPr>
              <a:xfrm flipH="1">
                <a:off x="2419696" y="2452818"/>
                <a:ext cx="2390216" cy="481945"/>
              </a:xfrm>
              <a:prstGeom prst="rect">
                <a:avLst/>
              </a:prstGeom>
              <a:noFill/>
            </p:spPr>
            <p:txBody>
              <a:bodyPr wrap="none" rtlCol="0">
                <a:spAutoFit/>
              </a:bodyPr>
              <a:lstStyle/>
              <a:p>
                <a:r>
                  <a:rPr lang="zh-CN" altLang="en-US" sz="1600" b="1" dirty="0">
                    <a:solidFill>
                      <a:schemeClr val="tx1">
                        <a:lumMod val="75000"/>
                        <a:lumOff val="25000"/>
                      </a:schemeClr>
                    </a:solidFill>
                    <a:latin typeface="+mj-ea"/>
                    <a:ea typeface="+mj-ea"/>
                  </a:rPr>
                  <a:t>统一数据模型</a:t>
                </a:r>
              </a:p>
              <a:p>
                <a:r>
                  <a:rPr lang="zh-CN" altLang="en-US" sz="1600" b="1" dirty="0">
                    <a:solidFill>
                      <a:schemeClr val="tx1">
                        <a:lumMod val="75000"/>
                        <a:lumOff val="25000"/>
                      </a:schemeClr>
                    </a:solidFill>
                    <a:latin typeface="+mj-ea"/>
                    <a:ea typeface="+mj-ea"/>
                  </a:rPr>
                  <a:t>确保分析，决策与执行闭环</a:t>
                </a:r>
              </a:p>
            </p:txBody>
          </p:sp>
        </p:grpSp>
        <p:grpSp>
          <p:nvGrpSpPr>
            <p:cNvPr id="140" name="组合 139">
              <a:extLst>
                <a:ext uri="{FF2B5EF4-FFF2-40B4-BE49-F238E27FC236}">
                  <a16:creationId xmlns:a16="http://schemas.microsoft.com/office/drawing/2014/main" id="{F066A1D3-10F8-9113-0B47-E9413E4ECEE2}"/>
                </a:ext>
              </a:extLst>
            </p:cNvPr>
            <p:cNvGrpSpPr/>
            <p:nvPr/>
          </p:nvGrpSpPr>
          <p:grpSpPr>
            <a:xfrm>
              <a:off x="1632221" y="4693318"/>
              <a:ext cx="3611696" cy="1232720"/>
              <a:chOff x="1632221" y="4693318"/>
              <a:chExt cx="3611696" cy="1232720"/>
            </a:xfrm>
          </p:grpSpPr>
          <p:sp>
            <p:nvSpPr>
              <p:cNvPr id="147" name="Title-4">
                <a:extLst>
                  <a:ext uri="{FF2B5EF4-FFF2-40B4-BE49-F238E27FC236}">
                    <a16:creationId xmlns:a16="http://schemas.microsoft.com/office/drawing/2014/main" id="{C0DE528B-865E-850C-90C5-A25A131148D5}"/>
                  </a:ext>
                </a:extLst>
              </p:cNvPr>
              <p:cNvSpPr txBox="1"/>
              <p:nvPr>
                <p:custDataLst>
                  <p:tags r:id="rId6"/>
                </p:custDataLst>
              </p:nvPr>
            </p:nvSpPr>
            <p:spPr>
              <a:xfrm flipH="1">
                <a:off x="1632221" y="4693318"/>
                <a:ext cx="3177691" cy="329753"/>
              </a:xfrm>
              <a:prstGeom prst="rect">
                <a:avLst/>
              </a:prstGeom>
              <a:noFill/>
            </p:spPr>
            <p:txBody>
              <a:bodyPr wrap="none" rtlCol="0">
                <a:spAutoFit/>
              </a:bodyPr>
              <a:lstStyle/>
              <a:p>
                <a:pPr algn="r"/>
                <a:r>
                  <a:rPr lang="zh-CN" altLang="en-US" sz="2000" b="1" dirty="0">
                    <a:solidFill>
                      <a:schemeClr val="accent4"/>
                    </a:solidFill>
                    <a:latin typeface="+mj-ea"/>
                    <a:ea typeface="+mj-ea"/>
                  </a:rPr>
                  <a:t>四迭代：渐进式能力实施路径</a:t>
                </a:r>
              </a:p>
            </p:txBody>
          </p:sp>
          <p:sp>
            <p:nvSpPr>
              <p:cNvPr id="148" name="Body-4">
                <a:extLst>
                  <a:ext uri="{FF2B5EF4-FFF2-40B4-BE49-F238E27FC236}">
                    <a16:creationId xmlns:a16="http://schemas.microsoft.com/office/drawing/2014/main" id="{16129625-076A-455A-42D7-D1E70CFA707A}"/>
                  </a:ext>
                </a:extLst>
              </p:cNvPr>
              <p:cNvSpPr txBox="1"/>
              <p:nvPr>
                <p:custDataLst>
                  <p:tags r:id="rId7"/>
                </p:custDataLst>
              </p:nvPr>
            </p:nvSpPr>
            <p:spPr>
              <a:xfrm flipH="1">
                <a:off x="2234407" y="5038243"/>
                <a:ext cx="3009510" cy="887795"/>
              </a:xfrm>
              <a:prstGeom prst="rect">
                <a:avLst/>
              </a:prstGeom>
              <a:noFill/>
            </p:spPr>
            <p:txBody>
              <a:bodyPr wrap="none" rtlCol="0">
                <a:spAutoFit/>
              </a:bodyPr>
              <a:lstStyle/>
              <a:p>
                <a:r>
                  <a:rPr lang="zh-CN" altLang="en-US" sz="1600" b="1" dirty="0">
                    <a:solidFill>
                      <a:schemeClr val="tx1">
                        <a:lumMod val="75000"/>
                        <a:lumOff val="25000"/>
                      </a:schemeClr>
                    </a:solidFill>
                    <a:latin typeface="+mj-ea"/>
                    <a:ea typeface="+mj-ea"/>
                  </a:rPr>
                  <a:t>阶段一：强健腰腹、夯实基础</a:t>
                </a:r>
              </a:p>
              <a:p>
                <a:r>
                  <a:rPr lang="zh-CN" altLang="en-US" sz="1600" b="1" dirty="0">
                    <a:solidFill>
                      <a:schemeClr val="tx1">
                        <a:lumMod val="75000"/>
                        <a:lumOff val="25000"/>
                      </a:schemeClr>
                    </a:solidFill>
                    <a:latin typeface="+mj-ea"/>
                    <a:ea typeface="+mj-ea"/>
                  </a:rPr>
                  <a:t>阶段二：深度协同，贯通战术与运营</a:t>
                </a:r>
                <a:endParaRPr lang="en-US" altLang="zh-CN" sz="1600" b="1" dirty="0">
                  <a:solidFill>
                    <a:schemeClr val="tx1">
                      <a:lumMod val="75000"/>
                      <a:lumOff val="25000"/>
                    </a:schemeClr>
                  </a:solidFill>
                  <a:latin typeface="+mj-ea"/>
                  <a:ea typeface="+mj-ea"/>
                </a:endParaRPr>
              </a:p>
              <a:p>
                <a:r>
                  <a:rPr lang="zh-CN" altLang="en-US" sz="1600" b="1" dirty="0">
                    <a:solidFill>
                      <a:schemeClr val="tx1">
                        <a:lumMod val="75000"/>
                        <a:lumOff val="25000"/>
                      </a:schemeClr>
                    </a:solidFill>
                    <a:latin typeface="+mj-ea"/>
                    <a:ea typeface="+mj-ea"/>
                  </a:rPr>
                  <a:t>阶段三：战略穿透，</a:t>
                </a:r>
                <a:r>
                  <a:rPr lang="en-US" altLang="zh-CN" sz="1600" b="1" dirty="0">
                    <a:solidFill>
                      <a:schemeClr val="tx1">
                        <a:lumMod val="75000"/>
                        <a:lumOff val="25000"/>
                      </a:schemeClr>
                    </a:solidFill>
                    <a:latin typeface="+mj-ea"/>
                    <a:ea typeface="+mj-ea"/>
                  </a:rPr>
                  <a:t>IBP</a:t>
                </a:r>
                <a:r>
                  <a:rPr lang="zh-CN" altLang="en-US" sz="1600" b="1" dirty="0">
                    <a:solidFill>
                      <a:schemeClr val="tx1">
                        <a:lumMod val="75000"/>
                        <a:lumOff val="25000"/>
                      </a:schemeClr>
                    </a:solidFill>
                    <a:latin typeface="+mj-ea"/>
                    <a:ea typeface="+mj-ea"/>
                  </a:rPr>
                  <a:t>引领全局</a:t>
                </a:r>
                <a:endParaRPr lang="en-US" altLang="zh-CN" sz="1600" b="1" dirty="0">
                  <a:solidFill>
                    <a:schemeClr val="tx1">
                      <a:lumMod val="75000"/>
                      <a:lumOff val="25000"/>
                    </a:schemeClr>
                  </a:solidFill>
                  <a:latin typeface="+mj-ea"/>
                  <a:ea typeface="+mj-ea"/>
                </a:endParaRPr>
              </a:p>
              <a:p>
                <a:r>
                  <a:rPr lang="zh-CN" altLang="en-US" sz="1600" b="1" dirty="0">
                    <a:solidFill>
                      <a:schemeClr val="tx1">
                        <a:lumMod val="75000"/>
                        <a:lumOff val="25000"/>
                      </a:schemeClr>
                    </a:solidFill>
                    <a:latin typeface="+mj-ea"/>
                    <a:ea typeface="+mj-ea"/>
                  </a:rPr>
                  <a:t>阶段四：全面智能与自治</a:t>
                </a:r>
              </a:p>
            </p:txBody>
          </p:sp>
        </p:grpSp>
        <p:grpSp>
          <p:nvGrpSpPr>
            <p:cNvPr id="141" name="组合 140">
              <a:extLst>
                <a:ext uri="{FF2B5EF4-FFF2-40B4-BE49-F238E27FC236}">
                  <a16:creationId xmlns:a16="http://schemas.microsoft.com/office/drawing/2014/main" id="{DD7BFC78-360A-20B8-EA87-6FC317D1AE9B}"/>
                </a:ext>
              </a:extLst>
            </p:cNvPr>
            <p:cNvGrpSpPr/>
            <p:nvPr/>
          </p:nvGrpSpPr>
          <p:grpSpPr>
            <a:xfrm>
              <a:off x="7364972" y="2107893"/>
              <a:ext cx="3640910" cy="826870"/>
              <a:chOff x="7364972" y="2107893"/>
              <a:chExt cx="3640910" cy="826870"/>
            </a:xfrm>
          </p:grpSpPr>
          <p:sp>
            <p:nvSpPr>
              <p:cNvPr id="145" name="Title-2">
                <a:extLst>
                  <a:ext uri="{FF2B5EF4-FFF2-40B4-BE49-F238E27FC236}">
                    <a16:creationId xmlns:a16="http://schemas.microsoft.com/office/drawing/2014/main" id="{BAD61DD3-BFE5-3136-7168-498C6EB7E26C}"/>
                  </a:ext>
                </a:extLst>
              </p:cNvPr>
              <p:cNvSpPr txBox="1"/>
              <p:nvPr>
                <p:custDataLst>
                  <p:tags r:id="rId4"/>
                </p:custDataLst>
              </p:nvPr>
            </p:nvSpPr>
            <p:spPr>
              <a:xfrm>
                <a:off x="7364972" y="2107893"/>
                <a:ext cx="3640910" cy="329753"/>
              </a:xfrm>
              <a:prstGeom prst="rect">
                <a:avLst/>
              </a:prstGeom>
              <a:noFill/>
            </p:spPr>
            <p:txBody>
              <a:bodyPr wrap="none" rtlCol="0">
                <a:spAutoFit/>
              </a:bodyPr>
              <a:lstStyle/>
              <a:p>
                <a:r>
                  <a:rPr lang="zh-CN" altLang="en-US" sz="2000" b="1" dirty="0">
                    <a:solidFill>
                      <a:schemeClr val="accent2"/>
                    </a:solidFill>
                    <a:latin typeface="+mj-ea"/>
                    <a:ea typeface="+mj-ea"/>
                  </a:rPr>
                  <a:t>双核：业务方案与数据模型双驱动</a:t>
                </a:r>
              </a:p>
            </p:txBody>
          </p:sp>
          <p:sp>
            <p:nvSpPr>
              <p:cNvPr id="146" name="Body-2">
                <a:extLst>
                  <a:ext uri="{FF2B5EF4-FFF2-40B4-BE49-F238E27FC236}">
                    <a16:creationId xmlns:a16="http://schemas.microsoft.com/office/drawing/2014/main" id="{1EA4099A-7EA7-9776-67E2-DD71793E4C5D}"/>
                  </a:ext>
                </a:extLst>
              </p:cNvPr>
              <p:cNvSpPr txBox="1"/>
              <p:nvPr>
                <p:custDataLst>
                  <p:tags r:id="rId5"/>
                </p:custDataLst>
              </p:nvPr>
            </p:nvSpPr>
            <p:spPr>
              <a:xfrm>
                <a:off x="7364972" y="2452818"/>
                <a:ext cx="2204928" cy="481945"/>
              </a:xfrm>
              <a:prstGeom prst="rect">
                <a:avLst/>
              </a:prstGeom>
              <a:noFill/>
            </p:spPr>
            <p:txBody>
              <a:bodyPr wrap="none" rtlCol="0">
                <a:spAutoFit/>
              </a:bodyPr>
              <a:lstStyle/>
              <a:p>
                <a:r>
                  <a:rPr lang="zh-CN" altLang="en-US" sz="1600" b="1" dirty="0">
                    <a:solidFill>
                      <a:schemeClr val="tx1">
                        <a:lumMod val="75000"/>
                        <a:lumOff val="25000"/>
                      </a:schemeClr>
                    </a:solidFill>
                    <a:latin typeface="+mj-ea"/>
                    <a:ea typeface="+mj-ea"/>
                  </a:rPr>
                  <a:t>业务方案核心</a:t>
                </a:r>
              </a:p>
              <a:p>
                <a:r>
                  <a:rPr lang="zh-CN" altLang="en-US" sz="1600" b="1" dirty="0">
                    <a:solidFill>
                      <a:schemeClr val="tx1">
                        <a:lumMod val="75000"/>
                        <a:lumOff val="25000"/>
                      </a:schemeClr>
                    </a:solidFill>
                    <a:latin typeface="+mj-ea"/>
                    <a:ea typeface="+mj-ea"/>
                  </a:rPr>
                  <a:t>定义决策流程与规则逻辑</a:t>
                </a:r>
              </a:p>
            </p:txBody>
          </p:sp>
        </p:grpSp>
        <p:grpSp>
          <p:nvGrpSpPr>
            <p:cNvPr id="142" name="组合 141">
              <a:extLst>
                <a:ext uri="{FF2B5EF4-FFF2-40B4-BE49-F238E27FC236}">
                  <a16:creationId xmlns:a16="http://schemas.microsoft.com/office/drawing/2014/main" id="{A52F9267-904D-177B-7AD8-FD0923D45EAD}"/>
                </a:ext>
              </a:extLst>
            </p:cNvPr>
            <p:cNvGrpSpPr/>
            <p:nvPr/>
          </p:nvGrpSpPr>
          <p:grpSpPr>
            <a:xfrm>
              <a:off x="7364972" y="4708490"/>
              <a:ext cx="2946080" cy="1014624"/>
              <a:chOff x="7364972" y="4708490"/>
              <a:chExt cx="2946080" cy="1014624"/>
            </a:xfrm>
          </p:grpSpPr>
          <p:sp>
            <p:nvSpPr>
              <p:cNvPr id="143" name="Title-3">
                <a:extLst>
                  <a:ext uri="{FF2B5EF4-FFF2-40B4-BE49-F238E27FC236}">
                    <a16:creationId xmlns:a16="http://schemas.microsoft.com/office/drawing/2014/main" id="{E23283DC-7474-65A3-A7A4-F30B384EF2DD}"/>
                  </a:ext>
                </a:extLst>
              </p:cNvPr>
              <p:cNvSpPr txBox="1"/>
              <p:nvPr>
                <p:custDataLst>
                  <p:tags r:id="rId2"/>
                </p:custDataLst>
              </p:nvPr>
            </p:nvSpPr>
            <p:spPr>
              <a:xfrm>
                <a:off x="7364972" y="4708490"/>
                <a:ext cx="2946080" cy="329753"/>
              </a:xfrm>
              <a:prstGeom prst="rect">
                <a:avLst/>
              </a:prstGeom>
              <a:noFill/>
            </p:spPr>
            <p:txBody>
              <a:bodyPr wrap="none" rtlCol="0">
                <a:spAutoFit/>
              </a:bodyPr>
              <a:lstStyle/>
              <a:p>
                <a:r>
                  <a:rPr lang="zh-CN" altLang="en-US" sz="2000" b="1" dirty="0">
                    <a:solidFill>
                      <a:schemeClr val="accent3"/>
                    </a:solidFill>
                    <a:latin typeface="+mj-ea"/>
                    <a:ea typeface="+mj-ea"/>
                  </a:rPr>
                  <a:t>三协同：横向、纵向、生态</a:t>
                </a:r>
              </a:p>
            </p:txBody>
          </p:sp>
          <p:sp>
            <p:nvSpPr>
              <p:cNvPr id="144" name="Body-3">
                <a:extLst>
                  <a:ext uri="{FF2B5EF4-FFF2-40B4-BE49-F238E27FC236}">
                    <a16:creationId xmlns:a16="http://schemas.microsoft.com/office/drawing/2014/main" id="{5831AF45-BFE6-2C4A-D83A-F6F8EFBCE4C7}"/>
                  </a:ext>
                </a:extLst>
              </p:cNvPr>
              <p:cNvSpPr txBox="1"/>
              <p:nvPr>
                <p:custDataLst>
                  <p:tags r:id="rId3"/>
                </p:custDataLst>
              </p:nvPr>
            </p:nvSpPr>
            <p:spPr>
              <a:xfrm>
                <a:off x="7364972" y="5038243"/>
                <a:ext cx="2466039" cy="684871"/>
              </a:xfrm>
              <a:prstGeom prst="rect">
                <a:avLst/>
              </a:prstGeom>
              <a:noFill/>
            </p:spPr>
            <p:txBody>
              <a:bodyPr wrap="square" rtlCol="0">
                <a:spAutoFit/>
              </a:bodyPr>
              <a:lstStyle/>
              <a:p>
                <a:pPr marL="285750" indent="-285750">
                  <a:buFont typeface="Arial" panose="020B0604020202020204" pitchFamily="34" charset="0"/>
                  <a:buChar char="•"/>
                </a:pPr>
                <a:r>
                  <a:rPr lang="zh-CN" altLang="en-US" sz="1600" b="1" dirty="0">
                    <a:solidFill>
                      <a:schemeClr val="tx1">
                        <a:lumMod val="75000"/>
                        <a:lumOff val="25000"/>
                      </a:schemeClr>
                    </a:solidFill>
                    <a:latin typeface="+mj-ea"/>
                    <a:ea typeface="+mj-ea"/>
                  </a:rPr>
                  <a:t>从采购到交付横向协同</a:t>
                </a:r>
              </a:p>
              <a:p>
                <a:pPr marL="285750" indent="-285750">
                  <a:buFont typeface="Arial" panose="020B0604020202020204" pitchFamily="34" charset="0"/>
                  <a:buChar char="•"/>
                </a:pPr>
                <a:r>
                  <a:rPr lang="zh-CN" altLang="en-US" sz="1600" b="1" dirty="0">
                    <a:solidFill>
                      <a:schemeClr val="tx1">
                        <a:lumMod val="75000"/>
                        <a:lumOff val="25000"/>
                      </a:schemeClr>
                    </a:solidFill>
                    <a:latin typeface="+mj-ea"/>
                    <a:ea typeface="+mj-ea"/>
                  </a:rPr>
                  <a:t>从战略到执行纵向协同</a:t>
                </a:r>
              </a:p>
              <a:p>
                <a:pPr marL="285750" indent="-285750">
                  <a:buFont typeface="Arial" panose="020B0604020202020204" pitchFamily="34" charset="0"/>
                  <a:buChar char="•"/>
                </a:pPr>
                <a:r>
                  <a:rPr lang="zh-CN" altLang="en-US" sz="1600" b="1" dirty="0">
                    <a:solidFill>
                      <a:schemeClr val="tx1">
                        <a:lumMod val="75000"/>
                        <a:lumOff val="25000"/>
                      </a:schemeClr>
                    </a:solidFill>
                    <a:latin typeface="+mj-ea"/>
                    <a:ea typeface="+mj-ea"/>
                  </a:rPr>
                  <a:t>与合作伙伴生态协同</a:t>
                </a:r>
              </a:p>
            </p:txBody>
          </p:sp>
        </p:grpSp>
      </p:grpSp>
    </p:spTree>
    <p:extLst>
      <p:ext uri="{BB962C8B-B14F-4D97-AF65-F5344CB8AC3E}">
        <p14:creationId xmlns:p14="http://schemas.microsoft.com/office/powerpoint/2010/main" val="184555149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5BDC18-7928-D3D1-BD56-8C25AA682687}"/>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6F0C0879-235D-7818-9084-17A080E41649}"/>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核心竞争力重构：从被动应对到主动驾驭</a:t>
            </a:r>
          </a:p>
        </p:txBody>
      </p:sp>
      <p:grpSp>
        <p:nvGrpSpPr>
          <p:cNvPr id="379" name="组合 5">
            <a:extLst>
              <a:ext uri="{FF2B5EF4-FFF2-40B4-BE49-F238E27FC236}">
                <a16:creationId xmlns:a16="http://schemas.microsoft.com/office/drawing/2014/main" id="{B669FB12-0FC4-24CD-39E2-7013206BFDA3}"/>
              </a:ext>
            </a:extLst>
          </p:cNvPr>
          <p:cNvGrpSpPr>
            <a:grpSpLocks noChangeAspect="1"/>
          </p:cNvGrpSpPr>
          <p:nvPr>
            <p:custDataLst>
              <p:tags r:id="rId1"/>
            </p:custDataLst>
          </p:nvPr>
        </p:nvGrpSpPr>
        <p:grpSpPr>
          <a:xfrm>
            <a:off x="122521" y="1100706"/>
            <a:ext cx="11694892" cy="5596559"/>
            <a:chOff x="-405035" y="1297083"/>
            <a:chExt cx="10793237" cy="5165074"/>
          </a:xfrm>
        </p:grpSpPr>
        <p:grpSp>
          <p:nvGrpSpPr>
            <p:cNvPr id="380" name="组合 1">
              <a:extLst>
                <a:ext uri="{FF2B5EF4-FFF2-40B4-BE49-F238E27FC236}">
                  <a16:creationId xmlns:a16="http://schemas.microsoft.com/office/drawing/2014/main" id="{F0E55446-4E74-F8B2-8C16-C03B0CC0D60F}"/>
                </a:ext>
              </a:extLst>
            </p:cNvPr>
            <p:cNvGrpSpPr/>
            <p:nvPr/>
          </p:nvGrpSpPr>
          <p:grpSpPr>
            <a:xfrm>
              <a:off x="-405035" y="2555007"/>
              <a:ext cx="4971764" cy="2090234"/>
              <a:chOff x="-716370" y="3287441"/>
              <a:chExt cx="4971764" cy="2090234"/>
            </a:xfrm>
          </p:grpSpPr>
          <p:sp>
            <p:nvSpPr>
              <p:cNvPr id="417" name="1">
                <a:extLst>
                  <a:ext uri="{FF2B5EF4-FFF2-40B4-BE49-F238E27FC236}">
                    <a16:creationId xmlns:a16="http://schemas.microsoft.com/office/drawing/2014/main" id="{E5E67044-D0A2-16B1-EC4B-B1E9F7AE13F0}"/>
                  </a:ext>
                </a:extLst>
              </p:cNvPr>
              <p:cNvSpPr/>
              <p:nvPr/>
            </p:nvSpPr>
            <p:spPr>
              <a:xfrm>
                <a:off x="2110041" y="3287441"/>
                <a:ext cx="2139030" cy="1778983"/>
              </a:xfrm>
              <a:prstGeom prst="hexagon">
                <a:avLst>
                  <a:gd name="adj" fmla="val 32435"/>
                  <a:gd name="vf" fmla="val 115470"/>
                </a:avLst>
              </a:prstGeom>
              <a:solidFill>
                <a:srgbClr val="7030A0"/>
              </a:solidFill>
              <a:ln>
                <a:solidFill>
                  <a:srgbClr val="7030A0"/>
                </a:solidFill>
              </a:ln>
              <a:effectLst>
                <a:outerShdw blurRad="444500" dist="317500" dir="5400000" sx="92000" sy="92000" algn="t" rotWithShape="0">
                  <a:schemeClr val="accent2">
                    <a:lumMod val="75000"/>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solidFill>
                      <a:srgbClr val="3494BA"/>
                    </a:solidFill>
                  </a:ln>
                  <a:solidFill>
                    <a:srgbClr val="7030A0"/>
                  </a:solidFill>
                  <a:effectLst/>
                  <a:uLnTx/>
                  <a:uFillTx/>
                  <a:latin typeface="Arial" panose="020B0604020202020204"/>
                  <a:ea typeface="黑体" panose="02010609060101010101" pitchFamily="49" charset="-122"/>
                  <a:cs typeface="+mn-cs"/>
                </a:endParaRPr>
              </a:p>
            </p:txBody>
          </p:sp>
          <p:cxnSp>
            <p:nvCxnSpPr>
              <p:cNvPr id="418" name="1">
                <a:extLst>
                  <a:ext uri="{FF2B5EF4-FFF2-40B4-BE49-F238E27FC236}">
                    <a16:creationId xmlns:a16="http://schemas.microsoft.com/office/drawing/2014/main" id="{CE2518A2-8E42-180C-5545-A1B8D2FBED1A}"/>
                  </a:ext>
                </a:extLst>
              </p:cNvPr>
              <p:cNvCxnSpPr>
                <a:cxnSpLocks/>
              </p:cNvCxnSpPr>
              <p:nvPr/>
            </p:nvCxnSpPr>
            <p:spPr>
              <a:xfrm>
                <a:off x="3829703" y="3357063"/>
                <a:ext cx="399612" cy="621098"/>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19" name="1">
                <a:extLst>
                  <a:ext uri="{FF2B5EF4-FFF2-40B4-BE49-F238E27FC236}">
                    <a16:creationId xmlns:a16="http://schemas.microsoft.com/office/drawing/2014/main" id="{AA5DC6CA-592D-46AB-DA50-723960DEBBA5}"/>
                  </a:ext>
                </a:extLst>
              </p:cNvPr>
              <p:cNvSpPr/>
              <p:nvPr/>
            </p:nvSpPr>
            <p:spPr>
              <a:xfrm>
                <a:off x="2934133" y="3419140"/>
                <a:ext cx="490847" cy="47037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0" normalizeH="0" baseline="0" noProof="0" dirty="0">
                  <a:ln>
                    <a:noFill/>
                  </a:ln>
                  <a:solidFill>
                    <a:srgbClr val="58B6C0"/>
                  </a:solidFill>
                  <a:effectLst/>
                  <a:uLnTx/>
                  <a:uFillTx/>
                  <a:latin typeface="Arial Black" panose="020B0A04020102020204"/>
                  <a:ea typeface="黑体" panose="02010609060101010101" pitchFamily="49" charset="-122"/>
                  <a:cs typeface="+mn-cs"/>
                </a:endParaRPr>
              </a:p>
            </p:txBody>
          </p:sp>
          <p:cxnSp>
            <p:nvCxnSpPr>
              <p:cNvPr id="420" name="1">
                <a:extLst>
                  <a:ext uri="{FF2B5EF4-FFF2-40B4-BE49-F238E27FC236}">
                    <a16:creationId xmlns:a16="http://schemas.microsoft.com/office/drawing/2014/main" id="{04AE2D20-1E87-014D-7DC3-FE8808A54B0C}"/>
                  </a:ext>
                </a:extLst>
              </p:cNvPr>
              <p:cNvCxnSpPr>
                <a:cxnSpLocks/>
              </p:cNvCxnSpPr>
              <p:nvPr/>
            </p:nvCxnSpPr>
            <p:spPr>
              <a:xfrm flipV="1">
                <a:off x="3838879" y="4341049"/>
                <a:ext cx="416515" cy="61222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21" name="Title-1">
                <a:extLst>
                  <a:ext uri="{FF2B5EF4-FFF2-40B4-BE49-F238E27FC236}">
                    <a16:creationId xmlns:a16="http://schemas.microsoft.com/office/drawing/2014/main" id="{D08B7D55-A90B-A3C1-7E77-A6106C15C00F}"/>
                  </a:ext>
                </a:extLst>
              </p:cNvPr>
              <p:cNvSpPr txBox="1"/>
              <p:nvPr>
                <p:custDataLst>
                  <p:tags r:id="rId11"/>
                </p:custDataLst>
              </p:nvPr>
            </p:nvSpPr>
            <p:spPr>
              <a:xfrm>
                <a:off x="2303368" y="3902289"/>
                <a:ext cx="1752376" cy="8521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战略价值：从成本中心到价值引擎</a:t>
                </a:r>
              </a:p>
            </p:txBody>
          </p:sp>
          <p:cxnSp>
            <p:nvCxnSpPr>
              <p:cNvPr id="422" name="1">
                <a:extLst>
                  <a:ext uri="{FF2B5EF4-FFF2-40B4-BE49-F238E27FC236}">
                    <a16:creationId xmlns:a16="http://schemas.microsoft.com/office/drawing/2014/main" id="{8CB4ED8B-422A-8F27-8D74-989B5E69A9D3}"/>
                  </a:ext>
                </a:extLst>
              </p:cNvPr>
              <p:cNvCxnSpPr>
                <a:cxnSpLocks/>
              </p:cNvCxnSpPr>
              <p:nvPr/>
            </p:nvCxnSpPr>
            <p:spPr>
              <a:xfrm>
                <a:off x="2435413" y="4741787"/>
                <a:ext cx="1488283" cy="0"/>
              </a:xfrm>
              <a:prstGeom prst="line">
                <a:avLst/>
              </a:prstGeom>
              <a:ln>
                <a:solidFill>
                  <a:schemeClr val="bg1"/>
                </a:solidFill>
              </a:ln>
              <a:effectLst>
                <a:outerShdw blurRad="12700" dist="25400" dir="5400000" algn="ctr" rotWithShape="0">
                  <a:schemeClr val="accent2">
                    <a:lumMod val="50000"/>
                    <a:alpha val="35000"/>
                  </a:schemeClr>
                </a:outerShdw>
              </a:effectLst>
            </p:spPr>
            <p:style>
              <a:lnRef idx="2">
                <a:schemeClr val="accent1"/>
              </a:lnRef>
              <a:fillRef idx="0">
                <a:schemeClr val="accent1"/>
              </a:fillRef>
              <a:effectRef idx="1">
                <a:schemeClr val="accent1"/>
              </a:effectRef>
              <a:fontRef idx="minor">
                <a:schemeClr val="tx1"/>
              </a:fontRef>
            </p:style>
          </p:cxnSp>
          <p:sp>
            <p:nvSpPr>
              <p:cNvPr id="423" name="Body-1">
                <a:extLst>
                  <a:ext uri="{FF2B5EF4-FFF2-40B4-BE49-F238E27FC236}">
                    <a16:creationId xmlns:a16="http://schemas.microsoft.com/office/drawing/2014/main" id="{E6BC3981-33A9-3578-CE9E-3F2F6606CAE2}"/>
                  </a:ext>
                </a:extLst>
              </p:cNvPr>
              <p:cNvSpPr txBox="1"/>
              <p:nvPr>
                <p:custDataLst>
                  <p:tags r:id="rId12"/>
                </p:custDataLst>
              </p:nvPr>
            </p:nvSpPr>
            <p:spPr>
              <a:xfrm>
                <a:off x="-716370" y="3287441"/>
                <a:ext cx="2916683" cy="2090234"/>
              </a:xfrm>
              <a:prstGeom prst="rect">
                <a:avLst/>
              </a:prstGeom>
              <a:noFill/>
            </p:spPr>
            <p:txBody>
              <a:bodyPr wrap="square">
                <a:spAutoFit/>
              </a:bodyPr>
              <a:lstStyle/>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企业的“神经中枢”</a:t>
                </a:r>
                <a:r>
                  <a:rPr kumimoji="0" lang="en-US" altLang="zh-CN"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a:t>
                </a: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实时感知、执行最佳决策</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构建难以复制的竞争优势</a:t>
                </a:r>
                <a:r>
                  <a:rPr kumimoji="0" lang="en-US" altLang="zh-CN"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a:t>
                </a: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极速响应，精准决策</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赋能商业模式</a:t>
                </a:r>
                <a:r>
                  <a:rPr kumimoji="0" lang="en-US" altLang="zh-CN"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a:t>
                </a: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按需生产、</a:t>
                </a:r>
                <a:r>
                  <a:rPr kumimoji="0" lang="en-US" altLang="zh-CN"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C2M</a:t>
                </a: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、大规模个性化定制等。</a:t>
                </a:r>
                <a:endParaRPr kumimoji="0" lang="en-US" altLang="zh-CN"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sp>
            <p:nvSpPr>
              <p:cNvPr id="424" name="Index-1">
                <a:extLst>
                  <a:ext uri="{FF2B5EF4-FFF2-40B4-BE49-F238E27FC236}">
                    <a16:creationId xmlns:a16="http://schemas.microsoft.com/office/drawing/2014/main" id="{DD607321-34EC-5ED9-DEE5-4F8C999403E9}"/>
                  </a:ext>
                </a:extLst>
              </p:cNvPr>
              <p:cNvSpPr txBox="1"/>
              <p:nvPr>
                <p:custDataLst>
                  <p:tags r:id="rId13"/>
                </p:custDataLst>
              </p:nvPr>
            </p:nvSpPr>
            <p:spPr>
              <a:xfrm>
                <a:off x="2975987" y="3469662"/>
                <a:ext cx="407134" cy="34085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01</a:t>
                </a:r>
                <a:endParaRPr kumimoji="0" lang="zh-CN" altLang="en-US" sz="1800" b="0"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endParaRPr>
              </a:p>
            </p:txBody>
          </p:sp>
        </p:grpSp>
        <p:grpSp>
          <p:nvGrpSpPr>
            <p:cNvPr id="381" name="组合 2">
              <a:extLst>
                <a:ext uri="{FF2B5EF4-FFF2-40B4-BE49-F238E27FC236}">
                  <a16:creationId xmlns:a16="http://schemas.microsoft.com/office/drawing/2014/main" id="{24A89714-5533-F305-8622-79E7486C157B}"/>
                </a:ext>
              </a:extLst>
            </p:cNvPr>
            <p:cNvGrpSpPr/>
            <p:nvPr/>
          </p:nvGrpSpPr>
          <p:grpSpPr>
            <a:xfrm>
              <a:off x="4158171" y="1297083"/>
              <a:ext cx="4602302" cy="2046797"/>
              <a:chOff x="2110041" y="3019627"/>
              <a:chExt cx="4602302" cy="2046797"/>
            </a:xfrm>
          </p:grpSpPr>
          <p:sp>
            <p:nvSpPr>
              <p:cNvPr id="409" name="2">
                <a:extLst>
                  <a:ext uri="{FF2B5EF4-FFF2-40B4-BE49-F238E27FC236}">
                    <a16:creationId xmlns:a16="http://schemas.microsoft.com/office/drawing/2014/main" id="{E4D25368-64F7-9439-4DBC-6DB04276009F}"/>
                  </a:ext>
                </a:extLst>
              </p:cNvPr>
              <p:cNvSpPr/>
              <p:nvPr/>
            </p:nvSpPr>
            <p:spPr>
              <a:xfrm>
                <a:off x="2110041" y="3287441"/>
                <a:ext cx="2139030" cy="1778983"/>
              </a:xfrm>
              <a:prstGeom prst="hexagon">
                <a:avLst>
                  <a:gd name="adj" fmla="val 32435"/>
                  <a:gd name="vf" fmla="val 115470"/>
                </a:avLst>
              </a:prstGeom>
              <a:solidFill>
                <a:srgbClr val="00B0F0"/>
              </a:solidFill>
              <a:ln>
                <a:solidFill>
                  <a:srgbClr val="0070C0"/>
                </a:solidFill>
              </a:ln>
              <a:effectLst>
                <a:outerShdw blurRad="444500" dist="317500" dir="5400000" sx="92000" sy="92000" algn="t" rotWithShape="0">
                  <a:schemeClr val="accent1">
                    <a:lumMod val="75000"/>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Arial" panose="020B0604020202020204"/>
                  <a:ea typeface="黑体" panose="02010609060101010101" pitchFamily="49" charset="-122"/>
                  <a:cs typeface="+mn-cs"/>
                </a:endParaRPr>
              </a:p>
            </p:txBody>
          </p:sp>
          <p:cxnSp>
            <p:nvCxnSpPr>
              <p:cNvPr id="410" name="2">
                <a:extLst>
                  <a:ext uri="{FF2B5EF4-FFF2-40B4-BE49-F238E27FC236}">
                    <a16:creationId xmlns:a16="http://schemas.microsoft.com/office/drawing/2014/main" id="{859274D8-5CEE-4ADA-35F9-B0157C9F2DF6}"/>
                  </a:ext>
                </a:extLst>
              </p:cNvPr>
              <p:cNvCxnSpPr>
                <a:cxnSpLocks/>
              </p:cNvCxnSpPr>
              <p:nvPr/>
            </p:nvCxnSpPr>
            <p:spPr>
              <a:xfrm>
                <a:off x="3829703" y="3357063"/>
                <a:ext cx="399612" cy="621098"/>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1" name="2">
                <a:extLst>
                  <a:ext uri="{FF2B5EF4-FFF2-40B4-BE49-F238E27FC236}">
                    <a16:creationId xmlns:a16="http://schemas.microsoft.com/office/drawing/2014/main" id="{A115AF1B-7986-AD76-78F8-BAECD6950942}"/>
                  </a:ext>
                </a:extLst>
              </p:cNvPr>
              <p:cNvSpPr/>
              <p:nvPr/>
            </p:nvSpPr>
            <p:spPr>
              <a:xfrm>
                <a:off x="2934133" y="3419140"/>
                <a:ext cx="490847" cy="47037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0" normalizeH="0" baseline="0" noProof="0" dirty="0">
                  <a:ln>
                    <a:noFill/>
                  </a:ln>
                  <a:solidFill>
                    <a:srgbClr val="58B6C0"/>
                  </a:solidFill>
                  <a:effectLst/>
                  <a:uLnTx/>
                  <a:uFillTx/>
                  <a:latin typeface="Arial Black" panose="020B0A04020102020204"/>
                  <a:ea typeface="黑体" panose="02010609060101010101" pitchFamily="49" charset="-122"/>
                  <a:cs typeface="+mn-cs"/>
                </a:endParaRPr>
              </a:p>
            </p:txBody>
          </p:sp>
          <p:cxnSp>
            <p:nvCxnSpPr>
              <p:cNvPr id="412" name="2">
                <a:extLst>
                  <a:ext uri="{FF2B5EF4-FFF2-40B4-BE49-F238E27FC236}">
                    <a16:creationId xmlns:a16="http://schemas.microsoft.com/office/drawing/2014/main" id="{FE9064C5-055E-4D40-EC1F-9E58190AF5EA}"/>
                  </a:ext>
                </a:extLst>
              </p:cNvPr>
              <p:cNvCxnSpPr>
                <a:cxnSpLocks/>
              </p:cNvCxnSpPr>
              <p:nvPr/>
            </p:nvCxnSpPr>
            <p:spPr>
              <a:xfrm flipV="1">
                <a:off x="3838879" y="4341049"/>
                <a:ext cx="416515" cy="61222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3" name="Title-2">
                <a:extLst>
                  <a:ext uri="{FF2B5EF4-FFF2-40B4-BE49-F238E27FC236}">
                    <a16:creationId xmlns:a16="http://schemas.microsoft.com/office/drawing/2014/main" id="{4759BAA7-6485-33B0-879C-FFA4B0B629EC}"/>
                  </a:ext>
                </a:extLst>
              </p:cNvPr>
              <p:cNvSpPr txBox="1"/>
              <p:nvPr>
                <p:custDataLst>
                  <p:tags r:id="rId8"/>
                </p:custDataLst>
              </p:nvPr>
            </p:nvSpPr>
            <p:spPr>
              <a:xfrm>
                <a:off x="2303368" y="3902289"/>
                <a:ext cx="1752376" cy="59650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cs"/>
                  </a:rPr>
                  <a:t>运营价值：可量化的卓越绩效</a:t>
                </a:r>
                <a:endParaRPr kumimoji="0" lang="zh-CN" altLang="en-US" sz="18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cxnSp>
            <p:nvCxnSpPr>
              <p:cNvPr id="414" name="2">
                <a:extLst>
                  <a:ext uri="{FF2B5EF4-FFF2-40B4-BE49-F238E27FC236}">
                    <a16:creationId xmlns:a16="http://schemas.microsoft.com/office/drawing/2014/main" id="{51A0E2D1-6790-323F-15AF-1659556B85E2}"/>
                  </a:ext>
                </a:extLst>
              </p:cNvPr>
              <p:cNvCxnSpPr>
                <a:cxnSpLocks/>
              </p:cNvCxnSpPr>
              <p:nvPr/>
            </p:nvCxnSpPr>
            <p:spPr>
              <a:xfrm>
                <a:off x="2456365" y="4498789"/>
                <a:ext cx="1488283" cy="0"/>
              </a:xfrm>
              <a:prstGeom prst="line">
                <a:avLst/>
              </a:prstGeom>
              <a:ln>
                <a:solidFill>
                  <a:schemeClr val="bg1"/>
                </a:solidFill>
              </a:ln>
              <a:effectLst>
                <a:outerShdw blurRad="12700" dist="25400" dir="5400000" algn="ctr" rotWithShape="0">
                  <a:schemeClr val="accent2">
                    <a:lumMod val="50000"/>
                    <a:alpha val="35000"/>
                  </a:schemeClr>
                </a:outerShdw>
              </a:effectLst>
            </p:spPr>
            <p:style>
              <a:lnRef idx="2">
                <a:schemeClr val="accent1"/>
              </a:lnRef>
              <a:fillRef idx="0">
                <a:schemeClr val="accent1"/>
              </a:fillRef>
              <a:effectRef idx="1">
                <a:schemeClr val="accent1"/>
              </a:effectRef>
              <a:fontRef idx="minor">
                <a:schemeClr val="tx1"/>
              </a:fontRef>
            </p:style>
          </p:cxnSp>
          <p:sp>
            <p:nvSpPr>
              <p:cNvPr id="415" name="Body-2">
                <a:extLst>
                  <a:ext uri="{FF2B5EF4-FFF2-40B4-BE49-F238E27FC236}">
                    <a16:creationId xmlns:a16="http://schemas.microsoft.com/office/drawing/2014/main" id="{67494735-43B0-04E7-B56B-BD295B3B0E0F}"/>
                  </a:ext>
                </a:extLst>
              </p:cNvPr>
              <p:cNvSpPr txBox="1"/>
              <p:nvPr>
                <p:custDataLst>
                  <p:tags r:id="rId9"/>
                </p:custDataLst>
              </p:nvPr>
            </p:nvSpPr>
            <p:spPr>
              <a:xfrm>
                <a:off x="4255394" y="3019627"/>
                <a:ext cx="2456949" cy="726806"/>
              </a:xfrm>
              <a:prstGeom prst="rect">
                <a:avLst/>
              </a:prstGeom>
              <a:noFill/>
            </p:spPr>
            <p:txBody>
              <a:bodyPr wrap="square">
                <a:spAutoFit/>
              </a:bodyPr>
              <a:lstStyle/>
              <a:p>
                <a:pPr marL="285750" marR="0" lvl="0" indent="-285750" algn="ctr"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可靠性、响应性、弹性、成本、效率</a:t>
                </a:r>
                <a:endParaRPr kumimoji="0" lang="en-US" altLang="zh-CN"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sp>
            <p:nvSpPr>
              <p:cNvPr id="416" name="Index-2">
                <a:extLst>
                  <a:ext uri="{FF2B5EF4-FFF2-40B4-BE49-F238E27FC236}">
                    <a16:creationId xmlns:a16="http://schemas.microsoft.com/office/drawing/2014/main" id="{C158E6DA-430B-770D-B179-6F5ABF9EA42C}"/>
                  </a:ext>
                </a:extLst>
              </p:cNvPr>
              <p:cNvSpPr txBox="1"/>
              <p:nvPr>
                <p:custDataLst>
                  <p:tags r:id="rId10"/>
                </p:custDataLst>
              </p:nvPr>
            </p:nvSpPr>
            <p:spPr>
              <a:xfrm>
                <a:off x="2975990" y="3469662"/>
                <a:ext cx="407135" cy="34085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02</a:t>
                </a:r>
                <a:endParaRPr kumimoji="0" lang="zh-CN" altLang="en-US" sz="1800" b="0"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endParaRPr>
              </a:p>
            </p:txBody>
          </p:sp>
        </p:grpSp>
        <p:grpSp>
          <p:nvGrpSpPr>
            <p:cNvPr id="382" name="组合 3">
              <a:extLst>
                <a:ext uri="{FF2B5EF4-FFF2-40B4-BE49-F238E27FC236}">
                  <a16:creationId xmlns:a16="http://schemas.microsoft.com/office/drawing/2014/main" id="{83AA5473-7B91-58D8-74A6-D9E32D504642}"/>
                </a:ext>
              </a:extLst>
            </p:cNvPr>
            <p:cNvGrpSpPr/>
            <p:nvPr/>
          </p:nvGrpSpPr>
          <p:grpSpPr>
            <a:xfrm>
              <a:off x="3785515" y="3514120"/>
              <a:ext cx="4414526" cy="2948037"/>
              <a:chOff x="1737385" y="3287441"/>
              <a:chExt cx="4414526" cy="2948037"/>
            </a:xfrm>
          </p:grpSpPr>
          <p:sp>
            <p:nvSpPr>
              <p:cNvPr id="401" name="3">
                <a:extLst>
                  <a:ext uri="{FF2B5EF4-FFF2-40B4-BE49-F238E27FC236}">
                    <a16:creationId xmlns:a16="http://schemas.microsoft.com/office/drawing/2014/main" id="{405103B7-D844-33F7-0085-604E7DDE3B8E}"/>
                  </a:ext>
                </a:extLst>
              </p:cNvPr>
              <p:cNvSpPr/>
              <p:nvPr/>
            </p:nvSpPr>
            <p:spPr>
              <a:xfrm>
                <a:off x="2110041" y="3287441"/>
                <a:ext cx="2139030" cy="1778983"/>
              </a:xfrm>
              <a:prstGeom prst="hexagon">
                <a:avLst>
                  <a:gd name="adj" fmla="val 32435"/>
                  <a:gd name="vf" fmla="val 115470"/>
                </a:avLst>
              </a:prstGeom>
              <a:gradFill flip="none" rotWithShape="1">
                <a:gsLst>
                  <a:gs pos="0">
                    <a:schemeClr val="accent1">
                      <a:lumMod val="60000"/>
                      <a:lumOff val="40000"/>
                    </a:schemeClr>
                  </a:gs>
                  <a:gs pos="100000">
                    <a:schemeClr val="accent1"/>
                  </a:gs>
                </a:gsLst>
                <a:lin ang="2700000" scaled="1"/>
                <a:tileRect/>
              </a:gradFill>
              <a:ln>
                <a:noFill/>
              </a:ln>
              <a:effectLst>
                <a:outerShdw blurRad="444500" dist="317500" dir="5400000" sx="92000" sy="92000" algn="t" rotWithShape="0">
                  <a:schemeClr val="accent1">
                    <a:lumMod val="75000"/>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cxnSp>
            <p:nvCxnSpPr>
              <p:cNvPr id="402" name="3">
                <a:extLst>
                  <a:ext uri="{FF2B5EF4-FFF2-40B4-BE49-F238E27FC236}">
                    <a16:creationId xmlns:a16="http://schemas.microsoft.com/office/drawing/2014/main" id="{85210C71-B508-3257-C768-CADE6FD03296}"/>
                  </a:ext>
                </a:extLst>
              </p:cNvPr>
              <p:cNvCxnSpPr>
                <a:cxnSpLocks/>
              </p:cNvCxnSpPr>
              <p:nvPr/>
            </p:nvCxnSpPr>
            <p:spPr>
              <a:xfrm>
                <a:off x="3829703" y="3357063"/>
                <a:ext cx="399612" cy="621098"/>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03" name="3">
                <a:extLst>
                  <a:ext uri="{FF2B5EF4-FFF2-40B4-BE49-F238E27FC236}">
                    <a16:creationId xmlns:a16="http://schemas.microsoft.com/office/drawing/2014/main" id="{85088870-C91F-781A-DC82-0CB5EC0C3765}"/>
                  </a:ext>
                </a:extLst>
              </p:cNvPr>
              <p:cNvSpPr/>
              <p:nvPr/>
            </p:nvSpPr>
            <p:spPr>
              <a:xfrm>
                <a:off x="2934133" y="3419140"/>
                <a:ext cx="490847" cy="47037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0" normalizeH="0" baseline="0" noProof="0" dirty="0">
                  <a:ln>
                    <a:noFill/>
                  </a:ln>
                  <a:solidFill>
                    <a:srgbClr val="58B6C0"/>
                  </a:solidFill>
                  <a:effectLst/>
                  <a:uLnTx/>
                  <a:uFillTx/>
                  <a:latin typeface="Arial Black" panose="020B0A04020102020204"/>
                  <a:ea typeface="黑体" panose="02010609060101010101" pitchFamily="49" charset="-122"/>
                  <a:cs typeface="+mn-cs"/>
                </a:endParaRPr>
              </a:p>
            </p:txBody>
          </p:sp>
          <p:cxnSp>
            <p:nvCxnSpPr>
              <p:cNvPr id="404" name="3">
                <a:extLst>
                  <a:ext uri="{FF2B5EF4-FFF2-40B4-BE49-F238E27FC236}">
                    <a16:creationId xmlns:a16="http://schemas.microsoft.com/office/drawing/2014/main" id="{9F778DDB-0714-9A8B-3441-3AF79B542EF2}"/>
                  </a:ext>
                </a:extLst>
              </p:cNvPr>
              <p:cNvCxnSpPr>
                <a:cxnSpLocks/>
              </p:cNvCxnSpPr>
              <p:nvPr/>
            </p:nvCxnSpPr>
            <p:spPr>
              <a:xfrm flipV="1">
                <a:off x="3838879" y="4341049"/>
                <a:ext cx="416515" cy="61222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05" name="Title-3">
                <a:extLst>
                  <a:ext uri="{FF2B5EF4-FFF2-40B4-BE49-F238E27FC236}">
                    <a16:creationId xmlns:a16="http://schemas.microsoft.com/office/drawing/2014/main" id="{379EE956-963C-2B10-5FF8-C8EF14BB81D4}"/>
                  </a:ext>
                </a:extLst>
              </p:cNvPr>
              <p:cNvSpPr txBox="1"/>
              <p:nvPr>
                <p:custDataLst>
                  <p:tags r:id="rId5"/>
                </p:custDataLst>
              </p:nvPr>
            </p:nvSpPr>
            <p:spPr>
              <a:xfrm>
                <a:off x="2303368" y="3902289"/>
                <a:ext cx="1752376" cy="8521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cs"/>
                  </a:rPr>
                  <a:t>组织与文化价值：从“中断”到“协同”</a:t>
                </a:r>
                <a:endParaRPr kumimoji="0" lang="zh-CN" altLang="en-US" sz="18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cxnSp>
            <p:nvCxnSpPr>
              <p:cNvPr id="406" name="3">
                <a:extLst>
                  <a:ext uri="{FF2B5EF4-FFF2-40B4-BE49-F238E27FC236}">
                    <a16:creationId xmlns:a16="http://schemas.microsoft.com/office/drawing/2014/main" id="{DE21D8EE-AAE9-8E6A-015A-ECB8DD556424}"/>
                  </a:ext>
                </a:extLst>
              </p:cNvPr>
              <p:cNvCxnSpPr>
                <a:cxnSpLocks/>
              </p:cNvCxnSpPr>
              <p:nvPr/>
            </p:nvCxnSpPr>
            <p:spPr>
              <a:xfrm>
                <a:off x="2456367" y="4754432"/>
                <a:ext cx="1488283" cy="0"/>
              </a:xfrm>
              <a:prstGeom prst="line">
                <a:avLst/>
              </a:prstGeom>
              <a:ln>
                <a:solidFill>
                  <a:schemeClr val="bg1"/>
                </a:solidFill>
              </a:ln>
              <a:effectLst>
                <a:outerShdw blurRad="12700" dist="25400" dir="5400000" algn="ctr" rotWithShape="0">
                  <a:schemeClr val="accent2">
                    <a:lumMod val="50000"/>
                    <a:alpha val="35000"/>
                  </a:schemeClr>
                </a:outerShdw>
              </a:effectLst>
            </p:spPr>
            <p:style>
              <a:lnRef idx="2">
                <a:schemeClr val="accent1"/>
              </a:lnRef>
              <a:fillRef idx="0">
                <a:schemeClr val="accent1"/>
              </a:fillRef>
              <a:effectRef idx="1">
                <a:schemeClr val="accent1"/>
              </a:effectRef>
              <a:fontRef idx="minor">
                <a:schemeClr val="tx1"/>
              </a:fontRef>
            </p:style>
          </p:cxnSp>
          <p:sp>
            <p:nvSpPr>
              <p:cNvPr id="407" name="Body-3">
                <a:extLst>
                  <a:ext uri="{FF2B5EF4-FFF2-40B4-BE49-F238E27FC236}">
                    <a16:creationId xmlns:a16="http://schemas.microsoft.com/office/drawing/2014/main" id="{237AE9DB-71A8-CCF4-918F-A0E01F10F625}"/>
                  </a:ext>
                </a:extLst>
              </p:cNvPr>
              <p:cNvSpPr txBox="1"/>
              <p:nvPr>
                <p:custDataLst>
                  <p:tags r:id="rId6"/>
                </p:custDataLst>
              </p:nvPr>
            </p:nvSpPr>
            <p:spPr>
              <a:xfrm>
                <a:off x="1737385" y="5167815"/>
                <a:ext cx="4414526" cy="1067663"/>
              </a:xfrm>
              <a:prstGeom prst="rect">
                <a:avLst/>
              </a:prstGeom>
              <a:noFill/>
            </p:spPr>
            <p:txBody>
              <a:bodyPr wrap="square">
                <a:spAutoFit/>
              </a:bodyPr>
              <a:lstStyle/>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一个计划代替无数会议</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驱动责任清晰与科学决策</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解放人才</a:t>
                </a:r>
                <a:r>
                  <a:rPr kumimoji="0" lang="en-US" altLang="zh-CN"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a:t>
                </a: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异常处理、策略优化、业务创新</a:t>
                </a:r>
                <a:endParaRPr kumimoji="0" lang="en-US" altLang="zh-CN"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sp>
            <p:nvSpPr>
              <p:cNvPr id="408" name="Index-3">
                <a:extLst>
                  <a:ext uri="{FF2B5EF4-FFF2-40B4-BE49-F238E27FC236}">
                    <a16:creationId xmlns:a16="http://schemas.microsoft.com/office/drawing/2014/main" id="{2AFB3C46-5131-F305-1231-2041B5BD9B62}"/>
                  </a:ext>
                </a:extLst>
              </p:cNvPr>
              <p:cNvSpPr txBox="1"/>
              <p:nvPr>
                <p:custDataLst>
                  <p:tags r:id="rId7"/>
                </p:custDataLst>
              </p:nvPr>
            </p:nvSpPr>
            <p:spPr>
              <a:xfrm>
                <a:off x="2975989" y="3469662"/>
                <a:ext cx="407135" cy="34085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03</a:t>
                </a:r>
                <a:endParaRPr kumimoji="0" lang="zh-CN" altLang="en-US" sz="1800" b="0"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endParaRPr>
              </a:p>
            </p:txBody>
          </p:sp>
        </p:grpSp>
        <p:grpSp>
          <p:nvGrpSpPr>
            <p:cNvPr id="383" name="组合 0">
              <a:extLst>
                <a:ext uri="{FF2B5EF4-FFF2-40B4-BE49-F238E27FC236}">
                  <a16:creationId xmlns:a16="http://schemas.microsoft.com/office/drawing/2014/main" id="{FF7E4612-3125-8120-417C-F91F485D0B54}"/>
                </a:ext>
              </a:extLst>
            </p:cNvPr>
            <p:cNvGrpSpPr/>
            <p:nvPr/>
          </p:nvGrpSpPr>
          <p:grpSpPr>
            <a:xfrm>
              <a:off x="3550917" y="2222728"/>
              <a:ext cx="3998781" cy="2495562"/>
              <a:chOff x="3239582" y="2955162"/>
              <a:chExt cx="3998781" cy="2495562"/>
            </a:xfrm>
          </p:grpSpPr>
          <p:sp>
            <p:nvSpPr>
              <p:cNvPr id="393" name="0">
                <a:extLst>
                  <a:ext uri="{FF2B5EF4-FFF2-40B4-BE49-F238E27FC236}">
                    <a16:creationId xmlns:a16="http://schemas.microsoft.com/office/drawing/2014/main" id="{71033B3F-A45C-9CD9-29DB-26CB97A57A0E}"/>
                  </a:ext>
                </a:extLst>
              </p:cNvPr>
              <p:cNvSpPr/>
              <p:nvPr/>
            </p:nvSpPr>
            <p:spPr>
              <a:xfrm>
                <a:off x="3378493" y="5176980"/>
                <a:ext cx="329149" cy="273744"/>
              </a:xfrm>
              <a:prstGeom prst="hexagon">
                <a:avLst>
                  <a:gd name="adj" fmla="val 28507"/>
                  <a:gd name="vf" fmla="val 115470"/>
                </a:avLst>
              </a:prstGeom>
              <a:gradFill flip="none" rotWithShape="1">
                <a:gsLst>
                  <a:gs pos="0">
                    <a:schemeClr val="accent2">
                      <a:lumMod val="60000"/>
                      <a:lumOff val="40000"/>
                    </a:schemeClr>
                  </a:gs>
                  <a:gs pos="100000">
                    <a:schemeClr val="accent2"/>
                  </a:gs>
                </a:gsLst>
                <a:lin ang="2700000" scaled="1"/>
                <a:tileRect/>
              </a:gradFill>
              <a:ln>
                <a:noFill/>
              </a:ln>
              <a:effectLst>
                <a:outerShdw blurRad="444500" dist="317500" dir="5400000" sx="92000" sy="92000" algn="t" rotWithShape="0">
                  <a:schemeClr val="accent2">
                    <a:lumMod val="75000"/>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394" name="0">
                <a:extLst>
                  <a:ext uri="{FF2B5EF4-FFF2-40B4-BE49-F238E27FC236}">
                    <a16:creationId xmlns:a16="http://schemas.microsoft.com/office/drawing/2014/main" id="{D21EE7A8-9744-7046-B069-6775B5247051}"/>
                  </a:ext>
                </a:extLst>
              </p:cNvPr>
              <p:cNvSpPr/>
              <p:nvPr/>
            </p:nvSpPr>
            <p:spPr>
              <a:xfrm>
                <a:off x="3239582" y="5330952"/>
                <a:ext cx="127239" cy="105822"/>
              </a:xfrm>
              <a:prstGeom prst="hexagon">
                <a:avLst>
                  <a:gd name="adj" fmla="val 45267"/>
                  <a:gd name="vf" fmla="val 115470"/>
                </a:avLst>
              </a:prstGeom>
              <a:gradFill flip="none" rotWithShape="1">
                <a:gsLst>
                  <a:gs pos="0">
                    <a:schemeClr val="accent2">
                      <a:lumMod val="40000"/>
                      <a:lumOff val="60000"/>
                    </a:schemeClr>
                  </a:gs>
                  <a:gs pos="100000">
                    <a:schemeClr val="accent2">
                      <a:lumMod val="60000"/>
                      <a:lumOff val="40000"/>
                    </a:schemeClr>
                  </a:gs>
                </a:gsLst>
                <a:lin ang="16200000" scaled="1"/>
                <a:tileRect/>
              </a:gradFill>
              <a:ln w="12700">
                <a:gradFill flip="none" rotWithShape="1">
                  <a:gsLst>
                    <a:gs pos="0">
                      <a:schemeClr val="accent1">
                        <a:alpha val="49000"/>
                      </a:schemeClr>
                    </a:gs>
                    <a:gs pos="100000">
                      <a:schemeClr val="accent1">
                        <a:alpha val="0"/>
                      </a:schemeClr>
                    </a:gs>
                  </a:gsLst>
                  <a:lin ang="189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7427" tIns="28713" rIns="57427" bIns="28713" numCol="1" spcCol="0" rtlCol="0" fromWordArt="0" anchor="ctr" anchorCtr="0" forceAA="0" compatLnSpc="1">
                <a:prstTxWarp prst="textNoShape">
                  <a:avLst/>
                </a:prstTxWarp>
                <a:noAutofit/>
              </a:bodyPr>
              <a:lstStyle/>
              <a:p>
                <a:pPr marL="0" marR="0" lvl="0" indent="0" algn="ctr" defTabSz="287122" rtl="0" eaLnBrk="1" fontAlgn="auto" latinLnBrk="0" hangingPunct="1">
                  <a:lnSpc>
                    <a:spcPct val="100000"/>
                  </a:lnSpc>
                  <a:spcBef>
                    <a:spcPts val="0"/>
                  </a:spcBef>
                  <a:spcAft>
                    <a:spcPts val="0"/>
                  </a:spcAft>
                  <a:buClrTx/>
                  <a:buSzTx/>
                  <a:buFontTx/>
                  <a:buNone/>
                  <a:tabLst/>
                  <a:defRPr/>
                </a:pPr>
                <a:endParaRPr kumimoji="0" lang="zh-CN" altLang="en-US" sz="1130" b="0" i="0" u="none" strike="noStrike" kern="1200" cap="none" spc="0" normalizeH="0" baseline="0" noProof="0">
                  <a:ln>
                    <a:noFill/>
                  </a:ln>
                  <a:solidFill>
                    <a:prstClr val="white"/>
                  </a:solidFill>
                  <a:effectLst/>
                  <a:uLnTx/>
                  <a:uFillTx/>
                  <a:latin typeface="Gotham Rounded Book"/>
                  <a:ea typeface="思源黑体 CN Regular"/>
                  <a:cs typeface="+mn-cs"/>
                </a:endParaRPr>
              </a:p>
            </p:txBody>
          </p:sp>
          <p:sp>
            <p:nvSpPr>
              <p:cNvPr id="395" name="0">
                <a:extLst>
                  <a:ext uri="{FF2B5EF4-FFF2-40B4-BE49-F238E27FC236}">
                    <a16:creationId xmlns:a16="http://schemas.microsoft.com/office/drawing/2014/main" id="{0FE0870A-4B2B-3A2C-01EA-4CA23E20951E}"/>
                  </a:ext>
                </a:extLst>
              </p:cNvPr>
              <p:cNvSpPr/>
              <p:nvPr/>
            </p:nvSpPr>
            <p:spPr>
              <a:xfrm>
                <a:off x="3442114" y="2955162"/>
                <a:ext cx="329149" cy="273744"/>
              </a:xfrm>
              <a:prstGeom prst="hexagon">
                <a:avLst>
                  <a:gd name="adj" fmla="val 35211"/>
                  <a:gd name="vf" fmla="val 115470"/>
                </a:avLst>
              </a:prstGeom>
              <a:gradFill flip="none" rotWithShape="1">
                <a:gsLst>
                  <a:gs pos="0">
                    <a:schemeClr val="accent2">
                      <a:lumMod val="60000"/>
                      <a:lumOff val="40000"/>
                    </a:schemeClr>
                  </a:gs>
                  <a:gs pos="100000">
                    <a:schemeClr val="accent2"/>
                  </a:gs>
                </a:gsLst>
                <a:lin ang="2700000" scaled="1"/>
                <a:tileRect/>
              </a:gradFill>
              <a:ln>
                <a:noFill/>
              </a:ln>
              <a:effectLst>
                <a:outerShdw blurRad="444500" dist="317500" dir="5400000" sx="92000" sy="92000" algn="t" rotWithShape="0">
                  <a:schemeClr val="accent2">
                    <a:lumMod val="75000"/>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396" name="0">
                <a:extLst>
                  <a:ext uri="{FF2B5EF4-FFF2-40B4-BE49-F238E27FC236}">
                    <a16:creationId xmlns:a16="http://schemas.microsoft.com/office/drawing/2014/main" id="{052A2A45-BA79-A260-CBDD-B4FA60EF08BE}"/>
                  </a:ext>
                </a:extLst>
              </p:cNvPr>
              <p:cNvSpPr/>
              <p:nvPr/>
            </p:nvSpPr>
            <p:spPr>
              <a:xfrm>
                <a:off x="3314874" y="3128846"/>
                <a:ext cx="127239" cy="105822"/>
              </a:xfrm>
              <a:prstGeom prst="hexagon">
                <a:avLst>
                  <a:gd name="adj" fmla="val 45267"/>
                  <a:gd name="vf" fmla="val 115470"/>
                </a:avLst>
              </a:prstGeom>
              <a:gradFill flip="none" rotWithShape="1">
                <a:gsLst>
                  <a:gs pos="0">
                    <a:schemeClr val="accent2">
                      <a:lumMod val="40000"/>
                      <a:lumOff val="60000"/>
                    </a:schemeClr>
                  </a:gs>
                  <a:gs pos="100000">
                    <a:schemeClr val="accent2">
                      <a:lumMod val="60000"/>
                      <a:lumOff val="40000"/>
                    </a:schemeClr>
                  </a:gs>
                </a:gsLst>
                <a:lin ang="16200000" scaled="1"/>
                <a:tileRect/>
              </a:gradFill>
              <a:ln w="12700">
                <a:gradFill flip="none" rotWithShape="1">
                  <a:gsLst>
                    <a:gs pos="0">
                      <a:schemeClr val="accent1">
                        <a:alpha val="49000"/>
                      </a:schemeClr>
                    </a:gs>
                    <a:gs pos="100000">
                      <a:schemeClr val="accent1">
                        <a:alpha val="0"/>
                      </a:schemeClr>
                    </a:gs>
                  </a:gsLst>
                  <a:lin ang="189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7427" tIns="28713" rIns="57427" bIns="28713" numCol="1" spcCol="0" rtlCol="0" fromWordArt="0" anchor="ctr" anchorCtr="0" forceAA="0" compatLnSpc="1">
                <a:prstTxWarp prst="textNoShape">
                  <a:avLst/>
                </a:prstTxWarp>
                <a:noAutofit/>
              </a:bodyPr>
              <a:lstStyle/>
              <a:p>
                <a:pPr marL="0" marR="0" lvl="0" indent="0" algn="ctr" defTabSz="287122" rtl="0" eaLnBrk="1" fontAlgn="auto" latinLnBrk="0" hangingPunct="1">
                  <a:lnSpc>
                    <a:spcPct val="100000"/>
                  </a:lnSpc>
                  <a:spcBef>
                    <a:spcPts val="0"/>
                  </a:spcBef>
                  <a:spcAft>
                    <a:spcPts val="0"/>
                  </a:spcAft>
                  <a:buClrTx/>
                  <a:buSzTx/>
                  <a:buFontTx/>
                  <a:buNone/>
                  <a:tabLst/>
                  <a:defRPr/>
                </a:pPr>
                <a:endParaRPr kumimoji="0" lang="zh-CN" altLang="en-US" sz="1130" b="0" i="0" u="none" strike="noStrike" kern="1200" cap="none" spc="0" normalizeH="0" baseline="0" noProof="0">
                  <a:ln>
                    <a:noFill/>
                  </a:ln>
                  <a:solidFill>
                    <a:prstClr val="white"/>
                  </a:solidFill>
                  <a:effectLst/>
                  <a:uLnTx/>
                  <a:uFillTx/>
                  <a:latin typeface="Gotham Rounded Book"/>
                  <a:ea typeface="思源黑体 CN Regular"/>
                  <a:cs typeface="+mn-cs"/>
                </a:endParaRPr>
              </a:p>
            </p:txBody>
          </p:sp>
          <p:sp>
            <p:nvSpPr>
              <p:cNvPr id="397" name="0">
                <a:extLst>
                  <a:ext uri="{FF2B5EF4-FFF2-40B4-BE49-F238E27FC236}">
                    <a16:creationId xmlns:a16="http://schemas.microsoft.com/office/drawing/2014/main" id="{281DD96C-DF79-316C-FC99-86636CFD41D4}"/>
                  </a:ext>
                </a:extLst>
              </p:cNvPr>
              <p:cNvSpPr/>
              <p:nvPr/>
            </p:nvSpPr>
            <p:spPr>
              <a:xfrm>
                <a:off x="6845593" y="5176980"/>
                <a:ext cx="329149" cy="273744"/>
              </a:xfrm>
              <a:prstGeom prst="hexagon">
                <a:avLst>
                  <a:gd name="adj" fmla="val 28507"/>
                  <a:gd name="vf" fmla="val 115470"/>
                </a:avLst>
              </a:prstGeom>
              <a:gradFill flip="none" rotWithShape="1">
                <a:gsLst>
                  <a:gs pos="0">
                    <a:schemeClr val="accent2">
                      <a:lumMod val="60000"/>
                      <a:lumOff val="40000"/>
                    </a:schemeClr>
                  </a:gs>
                  <a:gs pos="100000">
                    <a:schemeClr val="accent2"/>
                  </a:gs>
                </a:gsLst>
                <a:lin ang="2700000" scaled="1"/>
                <a:tileRect/>
              </a:gradFill>
              <a:ln>
                <a:noFill/>
              </a:ln>
              <a:effectLst>
                <a:outerShdw blurRad="444500" dist="317500" dir="5400000" sx="92000" sy="92000" algn="t" rotWithShape="0">
                  <a:schemeClr val="accent2">
                    <a:lumMod val="75000"/>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398" name="0">
                <a:extLst>
                  <a:ext uri="{FF2B5EF4-FFF2-40B4-BE49-F238E27FC236}">
                    <a16:creationId xmlns:a16="http://schemas.microsoft.com/office/drawing/2014/main" id="{3D6F5530-BC1D-4343-412D-6BAA4E3E99C0}"/>
                  </a:ext>
                </a:extLst>
              </p:cNvPr>
              <p:cNvSpPr/>
              <p:nvPr/>
            </p:nvSpPr>
            <p:spPr>
              <a:xfrm>
                <a:off x="6706682" y="5330952"/>
                <a:ext cx="127239" cy="105822"/>
              </a:xfrm>
              <a:prstGeom prst="hexagon">
                <a:avLst>
                  <a:gd name="adj" fmla="val 45267"/>
                  <a:gd name="vf" fmla="val 115470"/>
                </a:avLst>
              </a:prstGeom>
              <a:gradFill flip="none" rotWithShape="1">
                <a:gsLst>
                  <a:gs pos="0">
                    <a:schemeClr val="accent2">
                      <a:lumMod val="40000"/>
                      <a:lumOff val="60000"/>
                    </a:schemeClr>
                  </a:gs>
                  <a:gs pos="100000">
                    <a:schemeClr val="accent2">
                      <a:lumMod val="60000"/>
                      <a:lumOff val="40000"/>
                    </a:schemeClr>
                  </a:gs>
                </a:gsLst>
                <a:lin ang="16200000" scaled="1"/>
                <a:tileRect/>
              </a:gradFill>
              <a:ln w="12700">
                <a:gradFill flip="none" rotWithShape="1">
                  <a:gsLst>
                    <a:gs pos="0">
                      <a:schemeClr val="accent1">
                        <a:alpha val="49000"/>
                      </a:schemeClr>
                    </a:gs>
                    <a:gs pos="100000">
                      <a:schemeClr val="accent1">
                        <a:alpha val="0"/>
                      </a:schemeClr>
                    </a:gs>
                  </a:gsLst>
                  <a:lin ang="189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7427" tIns="28713" rIns="57427" bIns="28713" numCol="1" spcCol="0" rtlCol="0" fromWordArt="0" anchor="ctr" anchorCtr="0" forceAA="0" compatLnSpc="1">
                <a:prstTxWarp prst="textNoShape">
                  <a:avLst/>
                </a:prstTxWarp>
                <a:noAutofit/>
              </a:bodyPr>
              <a:lstStyle/>
              <a:p>
                <a:pPr marL="0" marR="0" lvl="0" indent="0" algn="ctr" defTabSz="287122" rtl="0" eaLnBrk="1" fontAlgn="auto" latinLnBrk="0" hangingPunct="1">
                  <a:lnSpc>
                    <a:spcPct val="100000"/>
                  </a:lnSpc>
                  <a:spcBef>
                    <a:spcPts val="0"/>
                  </a:spcBef>
                  <a:spcAft>
                    <a:spcPts val="0"/>
                  </a:spcAft>
                  <a:buClrTx/>
                  <a:buSzTx/>
                  <a:buFontTx/>
                  <a:buNone/>
                  <a:tabLst/>
                  <a:defRPr/>
                </a:pPr>
                <a:endParaRPr kumimoji="0" lang="zh-CN" altLang="en-US" sz="1130" b="0" i="0" u="none" strike="noStrike" kern="1200" cap="none" spc="0" normalizeH="0" baseline="0" noProof="0">
                  <a:ln>
                    <a:noFill/>
                  </a:ln>
                  <a:solidFill>
                    <a:prstClr val="white"/>
                  </a:solidFill>
                  <a:effectLst/>
                  <a:uLnTx/>
                  <a:uFillTx/>
                  <a:latin typeface="Gotham Rounded Book"/>
                  <a:ea typeface="思源黑体 CN Regular"/>
                  <a:cs typeface="+mn-cs"/>
                </a:endParaRPr>
              </a:p>
            </p:txBody>
          </p:sp>
          <p:sp>
            <p:nvSpPr>
              <p:cNvPr id="399" name="0">
                <a:extLst>
                  <a:ext uri="{FF2B5EF4-FFF2-40B4-BE49-F238E27FC236}">
                    <a16:creationId xmlns:a16="http://schemas.microsoft.com/office/drawing/2014/main" id="{7A317661-3089-0FB5-A2CA-AE63A2B453DE}"/>
                  </a:ext>
                </a:extLst>
              </p:cNvPr>
              <p:cNvSpPr/>
              <p:nvPr/>
            </p:nvSpPr>
            <p:spPr>
              <a:xfrm>
                <a:off x="6909214" y="2955162"/>
                <a:ext cx="329149" cy="273744"/>
              </a:xfrm>
              <a:prstGeom prst="hexagon">
                <a:avLst>
                  <a:gd name="adj" fmla="val 35211"/>
                  <a:gd name="vf" fmla="val 115470"/>
                </a:avLst>
              </a:prstGeom>
              <a:gradFill flip="none" rotWithShape="1">
                <a:gsLst>
                  <a:gs pos="0">
                    <a:schemeClr val="accent2">
                      <a:lumMod val="60000"/>
                      <a:lumOff val="40000"/>
                    </a:schemeClr>
                  </a:gs>
                  <a:gs pos="100000">
                    <a:schemeClr val="accent2"/>
                  </a:gs>
                </a:gsLst>
                <a:lin ang="2700000" scaled="1"/>
                <a:tileRect/>
              </a:gradFill>
              <a:ln>
                <a:noFill/>
              </a:ln>
              <a:effectLst>
                <a:outerShdw blurRad="444500" dist="317500" dir="5400000" sx="92000" sy="92000" algn="t" rotWithShape="0">
                  <a:schemeClr val="accent2">
                    <a:lumMod val="75000"/>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400" name="0">
                <a:extLst>
                  <a:ext uri="{FF2B5EF4-FFF2-40B4-BE49-F238E27FC236}">
                    <a16:creationId xmlns:a16="http://schemas.microsoft.com/office/drawing/2014/main" id="{8944358D-EDC9-C27A-D3BF-3A6DD2F171E9}"/>
                  </a:ext>
                </a:extLst>
              </p:cNvPr>
              <p:cNvSpPr/>
              <p:nvPr/>
            </p:nvSpPr>
            <p:spPr>
              <a:xfrm>
                <a:off x="6781974" y="3128846"/>
                <a:ext cx="127239" cy="105822"/>
              </a:xfrm>
              <a:prstGeom prst="hexagon">
                <a:avLst>
                  <a:gd name="adj" fmla="val 45267"/>
                  <a:gd name="vf" fmla="val 115470"/>
                </a:avLst>
              </a:prstGeom>
              <a:gradFill flip="none" rotWithShape="1">
                <a:gsLst>
                  <a:gs pos="0">
                    <a:schemeClr val="accent2">
                      <a:lumMod val="40000"/>
                      <a:lumOff val="60000"/>
                    </a:schemeClr>
                  </a:gs>
                  <a:gs pos="100000">
                    <a:schemeClr val="accent2">
                      <a:lumMod val="60000"/>
                      <a:lumOff val="40000"/>
                    </a:schemeClr>
                  </a:gs>
                </a:gsLst>
                <a:lin ang="16200000" scaled="1"/>
                <a:tileRect/>
              </a:gradFill>
              <a:ln w="12700">
                <a:gradFill flip="none" rotWithShape="1">
                  <a:gsLst>
                    <a:gs pos="0">
                      <a:schemeClr val="accent1">
                        <a:alpha val="49000"/>
                      </a:schemeClr>
                    </a:gs>
                    <a:gs pos="100000">
                      <a:schemeClr val="accent1">
                        <a:alpha val="0"/>
                      </a:schemeClr>
                    </a:gs>
                  </a:gsLst>
                  <a:lin ang="189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7427" tIns="28713" rIns="57427" bIns="28713" numCol="1" spcCol="0" rtlCol="0" fromWordArt="0" anchor="ctr" anchorCtr="0" forceAA="0" compatLnSpc="1">
                <a:prstTxWarp prst="textNoShape">
                  <a:avLst/>
                </a:prstTxWarp>
                <a:noAutofit/>
              </a:bodyPr>
              <a:lstStyle/>
              <a:p>
                <a:pPr marL="0" marR="0" lvl="0" indent="0" algn="ctr" defTabSz="287122" rtl="0" eaLnBrk="1" fontAlgn="auto" latinLnBrk="0" hangingPunct="1">
                  <a:lnSpc>
                    <a:spcPct val="100000"/>
                  </a:lnSpc>
                  <a:spcBef>
                    <a:spcPts val="0"/>
                  </a:spcBef>
                  <a:spcAft>
                    <a:spcPts val="0"/>
                  </a:spcAft>
                  <a:buClrTx/>
                  <a:buSzTx/>
                  <a:buFontTx/>
                  <a:buNone/>
                  <a:tabLst/>
                  <a:defRPr/>
                </a:pPr>
                <a:endParaRPr kumimoji="0" lang="zh-CN" altLang="en-US" sz="1130" b="0" i="0" u="none" strike="noStrike" kern="1200" cap="none" spc="0" normalizeH="0" baseline="0" noProof="0">
                  <a:ln>
                    <a:noFill/>
                  </a:ln>
                  <a:solidFill>
                    <a:prstClr val="white"/>
                  </a:solidFill>
                  <a:effectLst/>
                  <a:uLnTx/>
                  <a:uFillTx/>
                  <a:latin typeface="Gotham Rounded Book"/>
                  <a:ea typeface="思源黑体 CN Regular"/>
                  <a:cs typeface="+mn-cs"/>
                </a:endParaRPr>
              </a:p>
            </p:txBody>
          </p:sp>
        </p:grpSp>
        <p:grpSp>
          <p:nvGrpSpPr>
            <p:cNvPr id="384" name="组合 4">
              <a:extLst>
                <a:ext uri="{FF2B5EF4-FFF2-40B4-BE49-F238E27FC236}">
                  <a16:creationId xmlns:a16="http://schemas.microsoft.com/office/drawing/2014/main" id="{D36640C6-31C0-8E96-0493-601221865F11}"/>
                </a:ext>
              </a:extLst>
            </p:cNvPr>
            <p:cNvGrpSpPr/>
            <p:nvPr/>
          </p:nvGrpSpPr>
          <p:grpSpPr>
            <a:xfrm>
              <a:off x="5888476" y="2555007"/>
              <a:ext cx="4499726" cy="1778983"/>
              <a:chOff x="2110041" y="3287441"/>
              <a:chExt cx="4499726" cy="1778983"/>
            </a:xfrm>
          </p:grpSpPr>
          <p:sp>
            <p:nvSpPr>
              <p:cNvPr id="385" name="4">
                <a:extLst>
                  <a:ext uri="{FF2B5EF4-FFF2-40B4-BE49-F238E27FC236}">
                    <a16:creationId xmlns:a16="http://schemas.microsoft.com/office/drawing/2014/main" id="{A6C154A6-E588-589A-B005-BF6980D8D59C}"/>
                  </a:ext>
                </a:extLst>
              </p:cNvPr>
              <p:cNvSpPr/>
              <p:nvPr/>
            </p:nvSpPr>
            <p:spPr>
              <a:xfrm>
                <a:off x="2110041" y="3287441"/>
                <a:ext cx="2139030" cy="1778983"/>
              </a:xfrm>
              <a:prstGeom prst="hexagon">
                <a:avLst>
                  <a:gd name="adj" fmla="val 32435"/>
                  <a:gd name="vf" fmla="val 115470"/>
                </a:avLst>
              </a:prstGeom>
              <a:solidFill>
                <a:srgbClr val="00B050"/>
              </a:solidFill>
              <a:ln>
                <a:noFill/>
              </a:ln>
              <a:effectLst>
                <a:outerShdw blurRad="444500" dist="317500" dir="5400000" sx="92000" sy="92000" algn="t" rotWithShape="0">
                  <a:schemeClr val="accent2">
                    <a:lumMod val="75000"/>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黑体" panose="02010609060101010101" pitchFamily="49" charset="-122"/>
                  <a:cs typeface="+mn-cs"/>
                </a:endParaRPr>
              </a:p>
            </p:txBody>
          </p:sp>
          <p:cxnSp>
            <p:nvCxnSpPr>
              <p:cNvPr id="386" name="4">
                <a:extLst>
                  <a:ext uri="{FF2B5EF4-FFF2-40B4-BE49-F238E27FC236}">
                    <a16:creationId xmlns:a16="http://schemas.microsoft.com/office/drawing/2014/main" id="{90636A6F-FBDA-7F47-F294-330743FD21B6}"/>
                  </a:ext>
                </a:extLst>
              </p:cNvPr>
              <p:cNvCxnSpPr>
                <a:cxnSpLocks/>
              </p:cNvCxnSpPr>
              <p:nvPr/>
            </p:nvCxnSpPr>
            <p:spPr>
              <a:xfrm>
                <a:off x="3829703" y="3357063"/>
                <a:ext cx="399612" cy="621098"/>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387" name="4">
                <a:extLst>
                  <a:ext uri="{FF2B5EF4-FFF2-40B4-BE49-F238E27FC236}">
                    <a16:creationId xmlns:a16="http://schemas.microsoft.com/office/drawing/2014/main" id="{B83F181B-AA8F-BA89-9BC9-9AD15A069A7F}"/>
                  </a:ext>
                </a:extLst>
              </p:cNvPr>
              <p:cNvSpPr/>
              <p:nvPr/>
            </p:nvSpPr>
            <p:spPr>
              <a:xfrm>
                <a:off x="2934133" y="3419140"/>
                <a:ext cx="490847" cy="47037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0" normalizeH="0" baseline="0" noProof="0" dirty="0">
                  <a:ln>
                    <a:noFill/>
                  </a:ln>
                  <a:solidFill>
                    <a:srgbClr val="58B6C0"/>
                  </a:solidFill>
                  <a:effectLst/>
                  <a:uLnTx/>
                  <a:uFillTx/>
                  <a:latin typeface="Arial Black" panose="020B0A04020102020204"/>
                  <a:ea typeface="黑体" panose="02010609060101010101" pitchFamily="49" charset="-122"/>
                  <a:cs typeface="+mn-cs"/>
                </a:endParaRPr>
              </a:p>
            </p:txBody>
          </p:sp>
          <p:cxnSp>
            <p:nvCxnSpPr>
              <p:cNvPr id="388" name="4">
                <a:extLst>
                  <a:ext uri="{FF2B5EF4-FFF2-40B4-BE49-F238E27FC236}">
                    <a16:creationId xmlns:a16="http://schemas.microsoft.com/office/drawing/2014/main" id="{2399028C-0633-27A3-2470-883753ACC64F}"/>
                  </a:ext>
                </a:extLst>
              </p:cNvPr>
              <p:cNvCxnSpPr>
                <a:cxnSpLocks/>
              </p:cNvCxnSpPr>
              <p:nvPr/>
            </p:nvCxnSpPr>
            <p:spPr>
              <a:xfrm flipV="1">
                <a:off x="3838879" y="4341049"/>
                <a:ext cx="416515" cy="61222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389" name="Title-4">
                <a:extLst>
                  <a:ext uri="{FF2B5EF4-FFF2-40B4-BE49-F238E27FC236}">
                    <a16:creationId xmlns:a16="http://schemas.microsoft.com/office/drawing/2014/main" id="{71D150EE-5DBE-A878-86D4-58431A7E97EC}"/>
                  </a:ext>
                </a:extLst>
              </p:cNvPr>
              <p:cNvSpPr txBox="1"/>
              <p:nvPr>
                <p:custDataLst>
                  <p:tags r:id="rId2"/>
                </p:custDataLst>
              </p:nvPr>
            </p:nvSpPr>
            <p:spPr>
              <a:xfrm>
                <a:off x="2303368" y="3902289"/>
                <a:ext cx="1752376" cy="8521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风险与韧性价值：从“脆弱”到“韧性”</a:t>
                </a:r>
              </a:p>
            </p:txBody>
          </p:sp>
          <p:cxnSp>
            <p:nvCxnSpPr>
              <p:cNvPr id="390" name="4">
                <a:extLst>
                  <a:ext uri="{FF2B5EF4-FFF2-40B4-BE49-F238E27FC236}">
                    <a16:creationId xmlns:a16="http://schemas.microsoft.com/office/drawing/2014/main" id="{C7372E4B-9AED-76E2-E8AD-8E339AA60B50}"/>
                  </a:ext>
                </a:extLst>
              </p:cNvPr>
              <p:cNvCxnSpPr>
                <a:cxnSpLocks/>
              </p:cNvCxnSpPr>
              <p:nvPr/>
            </p:nvCxnSpPr>
            <p:spPr>
              <a:xfrm>
                <a:off x="2467038" y="4782361"/>
                <a:ext cx="1488283" cy="0"/>
              </a:xfrm>
              <a:prstGeom prst="line">
                <a:avLst/>
              </a:prstGeom>
              <a:ln>
                <a:solidFill>
                  <a:schemeClr val="bg1"/>
                </a:solidFill>
              </a:ln>
              <a:effectLst>
                <a:outerShdw blurRad="12700" dist="25400" dir="5400000" algn="ctr" rotWithShape="0">
                  <a:schemeClr val="accent2">
                    <a:lumMod val="50000"/>
                    <a:alpha val="35000"/>
                  </a:schemeClr>
                </a:outerShdw>
              </a:effectLst>
            </p:spPr>
            <p:style>
              <a:lnRef idx="2">
                <a:schemeClr val="accent1"/>
              </a:lnRef>
              <a:fillRef idx="0">
                <a:schemeClr val="accent1"/>
              </a:fillRef>
              <a:effectRef idx="1">
                <a:schemeClr val="accent1"/>
              </a:effectRef>
              <a:fontRef idx="minor">
                <a:schemeClr val="tx1"/>
              </a:fontRef>
            </p:style>
          </p:cxnSp>
          <p:sp>
            <p:nvSpPr>
              <p:cNvPr id="391" name="Body-4">
                <a:extLst>
                  <a:ext uri="{FF2B5EF4-FFF2-40B4-BE49-F238E27FC236}">
                    <a16:creationId xmlns:a16="http://schemas.microsoft.com/office/drawing/2014/main" id="{0FE38B6B-F79E-49E1-4CC1-470D2D0C5D7B}"/>
                  </a:ext>
                </a:extLst>
              </p:cNvPr>
              <p:cNvSpPr txBox="1"/>
              <p:nvPr>
                <p:custDataLst>
                  <p:tags r:id="rId3"/>
                </p:custDataLst>
              </p:nvPr>
            </p:nvSpPr>
            <p:spPr>
              <a:xfrm>
                <a:off x="4470738" y="3762157"/>
                <a:ext cx="2139029" cy="726806"/>
              </a:xfrm>
              <a:prstGeom prst="rect">
                <a:avLst/>
              </a:prstGeom>
              <a:noFill/>
            </p:spPr>
            <p:txBody>
              <a:bodyPr wrap="square">
                <a:spAutoFit/>
              </a:bodyPr>
              <a:lstStyle/>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情景模拟与风险预警</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rPr>
                  <a:t>增强供应链任性</a:t>
                </a:r>
                <a:endParaRPr kumimoji="0" lang="en-US" altLang="zh-CN"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sp>
            <p:nvSpPr>
              <p:cNvPr id="392" name="Index-4">
                <a:extLst>
                  <a:ext uri="{FF2B5EF4-FFF2-40B4-BE49-F238E27FC236}">
                    <a16:creationId xmlns:a16="http://schemas.microsoft.com/office/drawing/2014/main" id="{E23881C4-FA01-0DCD-2C15-5BA1F73EAC31}"/>
                  </a:ext>
                </a:extLst>
              </p:cNvPr>
              <p:cNvSpPr txBox="1"/>
              <p:nvPr>
                <p:custDataLst>
                  <p:tags r:id="rId4"/>
                </p:custDataLst>
              </p:nvPr>
            </p:nvSpPr>
            <p:spPr>
              <a:xfrm>
                <a:off x="2975990" y="3469662"/>
                <a:ext cx="407134" cy="34085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rPr>
                  <a:t>04</a:t>
                </a:r>
                <a:endParaRPr kumimoji="0" lang="zh-CN" altLang="en-US" sz="1800" b="0" i="0" u="none" strike="noStrike" kern="1200" cap="none" spc="0" normalizeH="0" baseline="0" noProof="0" dirty="0">
                  <a:ln>
                    <a:noFill/>
                  </a:ln>
                  <a:solidFill>
                    <a:prstClr val="black"/>
                  </a:solidFill>
                  <a:effectLst/>
                  <a:uLnTx/>
                  <a:uFillTx/>
                  <a:latin typeface="Arial" panose="020B0604020202020204" pitchFamily="34" charset="0"/>
                  <a:ea typeface="微软雅黑" panose="020B0503020204020204" pitchFamily="34" charset="-122"/>
                  <a:cs typeface="+mn-cs"/>
                </a:endParaRPr>
              </a:p>
            </p:txBody>
          </p:sp>
        </p:grpSp>
      </p:grpSp>
    </p:spTree>
    <p:extLst>
      <p:ext uri="{BB962C8B-B14F-4D97-AF65-F5344CB8AC3E}">
        <p14:creationId xmlns:p14="http://schemas.microsoft.com/office/powerpoint/2010/main" val="28655161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F9452FD-278A-9693-EB07-AD0050DBF555}"/>
              </a:ext>
            </a:extLst>
          </p:cNvPr>
          <p:cNvSpPr>
            <a:spLocks noGrp="1"/>
          </p:cNvSpPr>
          <p:nvPr>
            <p:ph type="title"/>
          </p:nvPr>
        </p:nvSpPr>
        <p:spPr/>
        <p:txBody>
          <a:bodyPr/>
          <a:lstStyle/>
          <a:p>
            <a:endParaRPr lang="zh-CN" altLang="en-US"/>
          </a:p>
        </p:txBody>
      </p:sp>
      <p:sp>
        <p:nvSpPr>
          <p:cNvPr id="4" name="文本框 3">
            <a:extLst>
              <a:ext uri="{FF2B5EF4-FFF2-40B4-BE49-F238E27FC236}">
                <a16:creationId xmlns:a16="http://schemas.microsoft.com/office/drawing/2014/main" id="{B4B620D8-1DD6-D210-98DF-CDED47C82336}"/>
              </a:ext>
            </a:extLst>
          </p:cNvPr>
          <p:cNvSpPr txBox="1"/>
          <p:nvPr/>
        </p:nvSpPr>
        <p:spPr>
          <a:xfrm>
            <a:off x="1608712" y="1569582"/>
            <a:ext cx="6096810" cy="2862322"/>
          </a:xfrm>
          <a:prstGeom prst="rect">
            <a:avLst/>
          </a:prstGeom>
          <a:noFill/>
        </p:spPr>
        <p:txBody>
          <a:bodyPr wrap="square">
            <a:spAutoFit/>
          </a:bodyPr>
          <a:lstStyle/>
          <a:p>
            <a:pPr marL="285750" indent="-285750">
              <a:buFont typeface="Arial" panose="020B0604020202020204" pitchFamily="34" charset="0"/>
              <a:buChar char="•"/>
            </a:pPr>
            <a:r>
              <a:rPr lang="zh-CN" altLang="en-US" dirty="0">
                <a:solidFill>
                  <a:schemeClr val="bg1"/>
                </a:solidFill>
              </a:rPr>
              <a:t>战略 </a:t>
            </a:r>
            <a:r>
              <a:rPr lang="en-US" altLang="zh-CN" dirty="0">
                <a:solidFill>
                  <a:schemeClr val="bg1"/>
                </a:solidFill>
              </a:rPr>
              <a:t>(Strategy) </a:t>
            </a:r>
            <a:r>
              <a:rPr lang="zh-CN" altLang="en-US" dirty="0">
                <a:solidFill>
                  <a:schemeClr val="bg1"/>
                </a:solidFill>
              </a:rPr>
              <a:t>定义了 方向 </a:t>
            </a:r>
            <a:r>
              <a:rPr lang="en-US" altLang="zh-CN" dirty="0">
                <a:solidFill>
                  <a:schemeClr val="bg1"/>
                </a:solidFill>
              </a:rPr>
              <a:t>(Efficiency vs. Response) </a:t>
            </a:r>
          </a:p>
          <a:p>
            <a:pPr marL="285750" indent="-285750">
              <a:buFont typeface="Arial" panose="020B0604020202020204" pitchFamily="34" charset="0"/>
              <a:buChar char="•"/>
            </a:pPr>
            <a:r>
              <a:rPr lang="zh-CN" altLang="en-US" dirty="0">
                <a:solidFill>
                  <a:schemeClr val="bg1"/>
                </a:solidFill>
              </a:rPr>
              <a:t>输入数据</a:t>
            </a:r>
            <a:r>
              <a:rPr lang="en-US" altLang="zh-CN" dirty="0">
                <a:solidFill>
                  <a:schemeClr val="bg1"/>
                </a:solidFill>
              </a:rPr>
              <a:t>——</a:t>
            </a:r>
            <a:r>
              <a:rPr lang="zh-CN" altLang="en-US" dirty="0">
                <a:solidFill>
                  <a:schemeClr val="bg1"/>
                </a:solidFill>
              </a:rPr>
              <a:t>控制数据 </a:t>
            </a:r>
            <a:r>
              <a:rPr lang="en-US" altLang="zh-CN" dirty="0">
                <a:solidFill>
                  <a:schemeClr val="bg1"/>
                </a:solidFill>
              </a:rPr>
              <a:t>(Control Data) </a:t>
            </a:r>
            <a:r>
              <a:rPr lang="zh-CN" altLang="en-US" dirty="0">
                <a:solidFill>
                  <a:schemeClr val="bg1"/>
                </a:solidFill>
              </a:rPr>
              <a:t>将方向转化为 规则 </a:t>
            </a:r>
            <a:r>
              <a:rPr lang="en-US" altLang="zh-CN" dirty="0">
                <a:solidFill>
                  <a:schemeClr val="bg1"/>
                </a:solidFill>
              </a:rPr>
              <a:t>(Rules &amp; Parameters)</a:t>
            </a:r>
          </a:p>
          <a:p>
            <a:pPr marL="285750" indent="-285750">
              <a:buFont typeface="Arial" panose="020B0604020202020204" pitchFamily="34" charset="0"/>
              <a:buChar char="•"/>
            </a:pPr>
            <a:r>
              <a:rPr lang="zh-CN" altLang="en-US" dirty="0">
                <a:solidFill>
                  <a:schemeClr val="bg1"/>
                </a:solidFill>
              </a:rPr>
              <a:t>输入数据</a:t>
            </a:r>
            <a:r>
              <a:rPr lang="en-US" altLang="zh-CN" dirty="0">
                <a:solidFill>
                  <a:schemeClr val="bg1"/>
                </a:solidFill>
              </a:rPr>
              <a:t>——</a:t>
            </a:r>
            <a:r>
              <a:rPr lang="zh-CN" altLang="en-US" dirty="0">
                <a:solidFill>
                  <a:schemeClr val="bg1"/>
                </a:solidFill>
              </a:rPr>
              <a:t>运营数据 </a:t>
            </a:r>
            <a:r>
              <a:rPr lang="en-US" altLang="zh-CN" dirty="0">
                <a:solidFill>
                  <a:schemeClr val="bg1"/>
                </a:solidFill>
              </a:rPr>
              <a:t>(Operational Data) </a:t>
            </a:r>
            <a:r>
              <a:rPr lang="zh-CN" altLang="en-US" dirty="0">
                <a:solidFill>
                  <a:schemeClr val="bg1"/>
                </a:solidFill>
              </a:rPr>
              <a:t>提供了情感知 </a:t>
            </a:r>
            <a:r>
              <a:rPr lang="en-US" altLang="zh-CN" dirty="0">
                <a:solidFill>
                  <a:schemeClr val="bg1"/>
                </a:solidFill>
              </a:rPr>
              <a:t>(Context)</a:t>
            </a:r>
          </a:p>
          <a:p>
            <a:pPr marL="285750" indent="-285750">
              <a:buFont typeface="Arial" panose="020B0604020202020204" pitchFamily="34" charset="0"/>
              <a:buChar char="•"/>
            </a:pPr>
            <a:r>
              <a:rPr lang="zh-CN" altLang="en-US" dirty="0">
                <a:solidFill>
                  <a:schemeClr val="bg1"/>
                </a:solidFill>
              </a:rPr>
              <a:t>引擎</a:t>
            </a:r>
            <a:r>
              <a:rPr lang="en-US" altLang="zh-CN" dirty="0">
                <a:solidFill>
                  <a:schemeClr val="bg1"/>
                </a:solidFill>
              </a:rPr>
              <a:t>——</a:t>
            </a:r>
            <a:r>
              <a:rPr lang="zh-CN" altLang="en-US" dirty="0">
                <a:solidFill>
                  <a:schemeClr val="bg1"/>
                </a:solidFill>
              </a:rPr>
              <a:t>业务算法 </a:t>
            </a:r>
            <a:r>
              <a:rPr lang="en-US" altLang="zh-CN" dirty="0">
                <a:solidFill>
                  <a:schemeClr val="bg1"/>
                </a:solidFill>
              </a:rPr>
              <a:t>(Algorithm) </a:t>
            </a:r>
            <a:r>
              <a:rPr lang="zh-CN" altLang="en-US" dirty="0">
                <a:solidFill>
                  <a:schemeClr val="bg1"/>
                </a:solidFill>
              </a:rPr>
              <a:t>在规则约束下处理情境，计算出 最优解</a:t>
            </a:r>
            <a:endParaRPr lang="en-US" altLang="zh-CN" dirty="0">
              <a:solidFill>
                <a:schemeClr val="bg1"/>
              </a:solidFill>
            </a:endParaRPr>
          </a:p>
          <a:p>
            <a:pPr marL="285750" indent="-285750">
              <a:buFont typeface="Arial" panose="020B0604020202020204" pitchFamily="34" charset="0"/>
              <a:buChar char="•"/>
            </a:pPr>
            <a:r>
              <a:rPr lang="zh-CN" altLang="en-US" dirty="0">
                <a:solidFill>
                  <a:schemeClr val="bg1"/>
                </a:solidFill>
              </a:rPr>
              <a:t>输出数据</a:t>
            </a:r>
            <a:r>
              <a:rPr lang="en-US" altLang="zh-CN" dirty="0">
                <a:solidFill>
                  <a:schemeClr val="bg1"/>
                </a:solidFill>
              </a:rPr>
              <a:t>——</a:t>
            </a:r>
            <a:r>
              <a:rPr lang="zh-CN" altLang="en-US" dirty="0">
                <a:solidFill>
                  <a:schemeClr val="bg1"/>
                </a:solidFill>
              </a:rPr>
              <a:t>决策数据 </a:t>
            </a:r>
            <a:r>
              <a:rPr lang="en-US" altLang="zh-CN" dirty="0">
                <a:solidFill>
                  <a:schemeClr val="bg1"/>
                </a:solidFill>
              </a:rPr>
              <a:t>(Decision Data) </a:t>
            </a:r>
            <a:r>
              <a:rPr lang="zh-CN" altLang="en-US" dirty="0">
                <a:solidFill>
                  <a:schemeClr val="bg1"/>
                </a:solidFill>
              </a:rPr>
              <a:t>作为 指令 </a:t>
            </a:r>
            <a:r>
              <a:rPr lang="en-US" altLang="zh-CN" dirty="0">
                <a:solidFill>
                  <a:schemeClr val="bg1"/>
                </a:solidFill>
              </a:rPr>
              <a:t>(Instruction) </a:t>
            </a:r>
            <a:r>
              <a:rPr lang="zh-CN" altLang="en-US" dirty="0">
                <a:solidFill>
                  <a:schemeClr val="bg1"/>
                </a:solidFill>
              </a:rPr>
              <a:t>驱动物理世界</a:t>
            </a:r>
            <a:endParaRPr lang="en-US" altLang="zh-CN" dirty="0">
              <a:solidFill>
                <a:schemeClr val="bg1"/>
              </a:solidFill>
            </a:endParaRPr>
          </a:p>
          <a:p>
            <a:pPr marL="285750" indent="-285750">
              <a:buFont typeface="Arial" panose="020B0604020202020204" pitchFamily="34" charset="0"/>
              <a:buChar char="•"/>
            </a:pPr>
            <a:r>
              <a:rPr lang="zh-CN" altLang="en-US" dirty="0">
                <a:solidFill>
                  <a:schemeClr val="bg1"/>
                </a:solidFill>
              </a:rPr>
              <a:t>物理世界 的变化再次被 感知，形成闭环。</a:t>
            </a:r>
          </a:p>
        </p:txBody>
      </p:sp>
    </p:spTree>
    <p:extLst>
      <p:ext uri="{BB962C8B-B14F-4D97-AF65-F5344CB8AC3E}">
        <p14:creationId xmlns:p14="http://schemas.microsoft.com/office/powerpoint/2010/main" val="227580488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03431112-9536-608B-D204-85332DB34957}"/>
              </a:ext>
            </a:extLst>
          </p:cNvPr>
          <p:cNvSpPr>
            <a:spLocks noGrp="1"/>
          </p:cNvSpPr>
          <p:nvPr>
            <p:ph type="ctrTitle"/>
          </p:nvPr>
        </p:nvSpPr>
        <p:spPr>
          <a:xfrm>
            <a:off x="1113820" y="2665454"/>
            <a:ext cx="5449540" cy="1794141"/>
          </a:xfrm>
        </p:spPr>
        <p:txBody>
          <a:bodyPr/>
          <a:lstStyle/>
          <a:p>
            <a:r>
              <a:rPr lang="zh-CN" altLang="en-US" dirty="0"/>
              <a:t>能力重构</a:t>
            </a:r>
            <a:r>
              <a:rPr lang="en-US" altLang="zh-CN" dirty="0"/>
              <a:t>-</a:t>
            </a:r>
            <a:r>
              <a:rPr lang="zh-CN" altLang="en-US" dirty="0"/>
              <a:t>新型能力</a:t>
            </a:r>
          </a:p>
        </p:txBody>
      </p:sp>
    </p:spTree>
    <p:extLst>
      <p:ext uri="{BB962C8B-B14F-4D97-AF65-F5344CB8AC3E}">
        <p14:creationId xmlns:p14="http://schemas.microsoft.com/office/powerpoint/2010/main" val="198986404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F5F5913-1D47-C149-D85A-8A6C05A397C7}"/>
              </a:ext>
            </a:extLst>
          </p:cNvPr>
          <p:cNvSpPr>
            <a:spLocks noGrp="1"/>
          </p:cNvSpPr>
          <p:nvPr>
            <p:ph type="title"/>
          </p:nvPr>
        </p:nvSpPr>
        <p:spPr/>
        <p:txBody>
          <a:bodyPr/>
          <a:lstStyle/>
          <a:p>
            <a:r>
              <a:rPr lang="zh-CN" altLang="en-US" dirty="0">
                <a:latin typeface="+mj-ea"/>
              </a:rPr>
              <a:t>协同与计划能力的最佳实践本质：数据模型与业务算法方法论解构</a:t>
            </a:r>
          </a:p>
        </p:txBody>
      </p:sp>
      <p:graphicFrame>
        <p:nvGraphicFramePr>
          <p:cNvPr id="32" name="图示 31">
            <a:extLst>
              <a:ext uri="{FF2B5EF4-FFF2-40B4-BE49-F238E27FC236}">
                <a16:creationId xmlns:a16="http://schemas.microsoft.com/office/drawing/2014/main" id="{65D73CE0-F8EB-5CC4-4F10-A3AEC3156182}"/>
              </a:ext>
            </a:extLst>
          </p:cNvPr>
          <p:cNvGraphicFramePr/>
          <p:nvPr>
            <p:extLst>
              <p:ext uri="{D42A27DB-BD31-4B8C-83A1-F6EECF244321}">
                <p14:modId xmlns:p14="http://schemas.microsoft.com/office/powerpoint/2010/main" val="2658908245"/>
              </p:ext>
            </p:extLst>
          </p:nvPr>
        </p:nvGraphicFramePr>
        <p:xfrm>
          <a:off x="2628901" y="752475"/>
          <a:ext cx="5753099" cy="603408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33" name="表格 32">
            <a:extLst>
              <a:ext uri="{FF2B5EF4-FFF2-40B4-BE49-F238E27FC236}">
                <a16:creationId xmlns:a16="http://schemas.microsoft.com/office/drawing/2014/main" id="{3EDA5743-7B76-70A6-8005-BB84CE4840D3}"/>
              </a:ext>
            </a:extLst>
          </p:cNvPr>
          <p:cNvGraphicFramePr>
            <a:graphicFrameLocks noGrp="1"/>
          </p:cNvGraphicFramePr>
          <p:nvPr/>
        </p:nvGraphicFramePr>
        <p:xfrm>
          <a:off x="298041" y="2775064"/>
          <a:ext cx="2433636" cy="3115578"/>
        </p:xfrm>
        <a:graphic>
          <a:graphicData uri="http://schemas.openxmlformats.org/drawingml/2006/table">
            <a:tbl>
              <a:tblPr bandRow="1"/>
              <a:tblGrid>
                <a:gridCol w="2433636">
                  <a:extLst>
                    <a:ext uri="{9D8B030D-6E8A-4147-A177-3AD203B41FA5}">
                      <a16:colId xmlns:a16="http://schemas.microsoft.com/office/drawing/2014/main" val="3016941994"/>
                    </a:ext>
                  </a:extLst>
                </a:gridCol>
              </a:tblGrid>
              <a:tr h="458738">
                <a:tc>
                  <a:txBody>
                    <a:bodyPr/>
                    <a:lstStyle/>
                    <a:p>
                      <a:r>
                        <a:rPr lang="zh-CN" altLang="en-US" sz="1200" b="1" i="0" kern="1200" dirty="0">
                          <a:solidFill>
                            <a:schemeClr val="tx1"/>
                          </a:solidFill>
                          <a:effectLst/>
                          <a:latin typeface="+mj-ea"/>
                          <a:ea typeface="+mj-ea"/>
                          <a:cs typeface="+mn-cs"/>
                        </a:rPr>
                        <a:t>计划能力外壳：流程框架依赖内核赋能</a:t>
                      </a:r>
                      <a:endParaRPr lang="zh-CN" altLang="en-US" sz="1200" b="1" dirty="0">
                        <a:solidFill>
                          <a:schemeClr val="tx1"/>
                        </a:solidFill>
                        <a:latin typeface="+mj-ea"/>
                        <a:ea typeface="+mj-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extLst>
                  <a:ext uri="{0D108BD9-81ED-4DB2-BD59-A6C34878D82A}">
                    <a16:rowId xmlns:a16="http://schemas.microsoft.com/office/drawing/2014/main" val="1065350583"/>
                  </a:ext>
                </a:extLst>
              </a:tr>
              <a:tr h="370840">
                <a:tc>
                  <a:txBody>
                    <a:bodyPr/>
                    <a:lstStyle>
                      <a:lvl1pPr marL="0" algn="l" defTabSz="914400" rtl="0" eaLnBrk="1" latinLnBrk="0" hangingPunct="1">
                        <a:defRPr sz="1800" kern="1200">
                          <a:solidFill>
                            <a:schemeClr val="lt1"/>
                          </a:solidFill>
                          <a:latin typeface="Verdana"/>
                        </a:defRPr>
                      </a:lvl1pPr>
                      <a:lvl2pPr marL="457200" algn="l" defTabSz="914400" rtl="0" eaLnBrk="1" latinLnBrk="0" hangingPunct="1">
                        <a:defRPr sz="1800" kern="1200">
                          <a:solidFill>
                            <a:schemeClr val="lt1"/>
                          </a:solidFill>
                          <a:latin typeface="Verdana"/>
                        </a:defRPr>
                      </a:lvl2pPr>
                      <a:lvl3pPr marL="914400" algn="l" defTabSz="914400" rtl="0" eaLnBrk="1" latinLnBrk="0" hangingPunct="1">
                        <a:defRPr sz="1800" kern="1200">
                          <a:solidFill>
                            <a:schemeClr val="lt1"/>
                          </a:solidFill>
                          <a:latin typeface="Verdana"/>
                        </a:defRPr>
                      </a:lvl3pPr>
                      <a:lvl4pPr marL="1371600" algn="l" defTabSz="914400" rtl="0" eaLnBrk="1" latinLnBrk="0" hangingPunct="1">
                        <a:defRPr sz="1800" kern="1200">
                          <a:solidFill>
                            <a:schemeClr val="lt1"/>
                          </a:solidFill>
                          <a:latin typeface="Verdana"/>
                        </a:defRPr>
                      </a:lvl4pPr>
                      <a:lvl5pPr marL="1828800" algn="l" defTabSz="914400" rtl="0" eaLnBrk="1" latinLnBrk="0" hangingPunct="1">
                        <a:defRPr sz="1800" kern="1200">
                          <a:solidFill>
                            <a:schemeClr val="lt1"/>
                          </a:solidFill>
                          <a:latin typeface="Verdana"/>
                        </a:defRPr>
                      </a:lvl5pPr>
                      <a:lvl6pPr marL="2286000" algn="l" defTabSz="914400" rtl="0" eaLnBrk="1" latinLnBrk="0" hangingPunct="1">
                        <a:defRPr sz="1800" kern="1200">
                          <a:solidFill>
                            <a:schemeClr val="lt1"/>
                          </a:solidFill>
                          <a:latin typeface="Verdana"/>
                        </a:defRPr>
                      </a:lvl6pPr>
                      <a:lvl7pPr marL="2743200" algn="l" defTabSz="914400" rtl="0" eaLnBrk="1" latinLnBrk="0" hangingPunct="1">
                        <a:defRPr sz="1800" kern="1200">
                          <a:solidFill>
                            <a:schemeClr val="lt1"/>
                          </a:solidFill>
                          <a:latin typeface="Verdana"/>
                        </a:defRPr>
                      </a:lvl7pPr>
                      <a:lvl8pPr marL="3200400" algn="l" defTabSz="914400" rtl="0" eaLnBrk="1" latinLnBrk="0" hangingPunct="1">
                        <a:defRPr sz="1800" kern="1200">
                          <a:solidFill>
                            <a:schemeClr val="lt1"/>
                          </a:solidFill>
                          <a:latin typeface="Verdana"/>
                        </a:defRPr>
                      </a:lvl8pPr>
                      <a:lvl9pPr marL="3657600" algn="l" defTabSz="914400" rtl="0" eaLnBrk="1" latinLnBrk="0" hangingPunct="1">
                        <a:defRPr sz="1800" kern="1200">
                          <a:solidFill>
                            <a:schemeClr val="lt1"/>
                          </a:solidFill>
                          <a:latin typeface="Verdana"/>
                        </a:defRPr>
                      </a:lvl9pPr>
                    </a:lstStyle>
                    <a:p>
                      <a:r>
                        <a:rPr lang="en-US" altLang="zh-CN" sz="1200" b="1" dirty="0">
                          <a:solidFill>
                            <a:schemeClr val="tx1"/>
                          </a:solidFill>
                          <a:latin typeface="+mj-ea"/>
                          <a:ea typeface="+mj-ea"/>
                        </a:rPr>
                        <a:t>Control Tower</a:t>
                      </a:r>
                      <a:r>
                        <a:rPr lang="zh-CN" altLang="en-US" sz="1200" b="0" i="0" dirty="0">
                          <a:solidFill>
                            <a:schemeClr val="tx1"/>
                          </a:solidFill>
                          <a:effectLst/>
                          <a:latin typeface="+mj-ea"/>
                          <a:ea typeface="+mj-ea"/>
                        </a:rPr>
                        <a:t>（</a:t>
                      </a:r>
                      <a:r>
                        <a:rPr lang="zh-CN" altLang="en-US" sz="1200" b="0" i="0" kern="1200" dirty="0">
                          <a:solidFill>
                            <a:schemeClr val="tx1"/>
                          </a:solidFill>
                          <a:effectLst/>
                          <a:latin typeface="+mj-ea"/>
                          <a:ea typeface="+mj-ea"/>
                          <a:cs typeface="+mn-cs"/>
                        </a:rPr>
                        <a:t>实时数据模型 </a:t>
                      </a:r>
                      <a:r>
                        <a:rPr lang="en-US" altLang="zh-CN" sz="1200" b="0" i="0" kern="1200" dirty="0">
                          <a:solidFill>
                            <a:schemeClr val="tx1"/>
                          </a:solidFill>
                          <a:effectLst/>
                          <a:latin typeface="+mj-ea"/>
                          <a:ea typeface="+mj-ea"/>
                          <a:cs typeface="+mn-cs"/>
                        </a:rPr>
                        <a:t>+ </a:t>
                      </a:r>
                      <a:r>
                        <a:rPr lang="zh-CN" altLang="en-US" sz="1200" b="0" i="0" kern="1200" dirty="0">
                          <a:solidFill>
                            <a:schemeClr val="tx1"/>
                          </a:solidFill>
                          <a:effectLst/>
                          <a:latin typeface="+mj-ea"/>
                          <a:ea typeface="+mj-ea"/>
                          <a:cs typeface="+mn-cs"/>
                        </a:rPr>
                        <a:t>异常检测算法（触发预警）</a:t>
                      </a:r>
                      <a:endParaRPr lang="zh-CN" altLang="en-US" sz="1200" b="1" dirty="0">
                        <a:solidFill>
                          <a:schemeClr val="tx1"/>
                        </a:solidFill>
                        <a:latin typeface="+mj-ea"/>
                        <a:ea typeface="+mj-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5000"/>
                      </a:schemeClr>
                    </a:solidFill>
                  </a:tcPr>
                </a:tc>
                <a:extLst>
                  <a:ext uri="{0D108BD9-81ED-4DB2-BD59-A6C34878D82A}">
                    <a16:rowId xmlns:a16="http://schemas.microsoft.com/office/drawing/2014/main" val="2677942035"/>
                  </a:ext>
                </a:extLst>
              </a:tr>
              <a:tr h="370840">
                <a:tc>
                  <a:txBody>
                    <a:bodyPr/>
                    <a:lstStyle>
                      <a:lvl1pPr marL="0" algn="l" defTabSz="914400" rtl="0" eaLnBrk="1" latinLnBrk="0" hangingPunct="1">
                        <a:defRPr sz="1800" kern="1200">
                          <a:solidFill>
                            <a:schemeClr val="lt1"/>
                          </a:solidFill>
                          <a:latin typeface="Verdana"/>
                        </a:defRPr>
                      </a:lvl1pPr>
                      <a:lvl2pPr marL="457200" algn="l" defTabSz="914400" rtl="0" eaLnBrk="1" latinLnBrk="0" hangingPunct="1">
                        <a:defRPr sz="1800" kern="1200">
                          <a:solidFill>
                            <a:schemeClr val="lt1"/>
                          </a:solidFill>
                          <a:latin typeface="Verdana"/>
                        </a:defRPr>
                      </a:lvl2pPr>
                      <a:lvl3pPr marL="914400" algn="l" defTabSz="914400" rtl="0" eaLnBrk="1" latinLnBrk="0" hangingPunct="1">
                        <a:defRPr sz="1800" kern="1200">
                          <a:solidFill>
                            <a:schemeClr val="lt1"/>
                          </a:solidFill>
                          <a:latin typeface="Verdana"/>
                        </a:defRPr>
                      </a:lvl3pPr>
                      <a:lvl4pPr marL="1371600" algn="l" defTabSz="914400" rtl="0" eaLnBrk="1" latinLnBrk="0" hangingPunct="1">
                        <a:defRPr sz="1800" kern="1200">
                          <a:solidFill>
                            <a:schemeClr val="lt1"/>
                          </a:solidFill>
                          <a:latin typeface="Verdana"/>
                        </a:defRPr>
                      </a:lvl4pPr>
                      <a:lvl5pPr marL="1828800" algn="l" defTabSz="914400" rtl="0" eaLnBrk="1" latinLnBrk="0" hangingPunct="1">
                        <a:defRPr sz="1800" kern="1200">
                          <a:solidFill>
                            <a:schemeClr val="lt1"/>
                          </a:solidFill>
                          <a:latin typeface="Verdana"/>
                        </a:defRPr>
                      </a:lvl5pPr>
                      <a:lvl6pPr marL="2286000" algn="l" defTabSz="914400" rtl="0" eaLnBrk="1" latinLnBrk="0" hangingPunct="1">
                        <a:defRPr sz="1800" kern="1200">
                          <a:solidFill>
                            <a:schemeClr val="lt1"/>
                          </a:solidFill>
                          <a:latin typeface="Verdana"/>
                        </a:defRPr>
                      </a:lvl6pPr>
                      <a:lvl7pPr marL="2743200" algn="l" defTabSz="914400" rtl="0" eaLnBrk="1" latinLnBrk="0" hangingPunct="1">
                        <a:defRPr sz="1800" kern="1200">
                          <a:solidFill>
                            <a:schemeClr val="lt1"/>
                          </a:solidFill>
                          <a:latin typeface="Verdana"/>
                        </a:defRPr>
                      </a:lvl7pPr>
                      <a:lvl8pPr marL="3200400" algn="l" defTabSz="914400" rtl="0" eaLnBrk="1" latinLnBrk="0" hangingPunct="1">
                        <a:defRPr sz="1800" kern="1200">
                          <a:solidFill>
                            <a:schemeClr val="lt1"/>
                          </a:solidFill>
                          <a:latin typeface="Verdana"/>
                        </a:defRPr>
                      </a:lvl8pPr>
                      <a:lvl9pPr marL="3657600" algn="l" defTabSz="914400" rtl="0" eaLnBrk="1" latinLnBrk="0" hangingPunct="1">
                        <a:defRPr sz="1800" kern="1200">
                          <a:solidFill>
                            <a:schemeClr val="lt1"/>
                          </a:solidFill>
                          <a:latin typeface="Verdana"/>
                        </a:defRPr>
                      </a:lvl9pPr>
                    </a:lstStyle>
                    <a:p>
                      <a:r>
                        <a:rPr lang="en-US" altLang="zh-CN" sz="1200" b="1" dirty="0">
                          <a:solidFill>
                            <a:schemeClr val="tx1"/>
                          </a:solidFill>
                          <a:latin typeface="+mj-ea"/>
                          <a:ea typeface="+mj-ea"/>
                        </a:rPr>
                        <a:t>IBP/S&amp;OP</a:t>
                      </a:r>
                      <a:r>
                        <a:rPr lang="zh-CN" altLang="en-US" sz="1200" b="0" i="0" dirty="0">
                          <a:solidFill>
                            <a:schemeClr val="tx1"/>
                          </a:solidFill>
                          <a:effectLst/>
                          <a:latin typeface="+mj-ea"/>
                          <a:ea typeface="+mj-ea"/>
                        </a:rPr>
                        <a:t>（</a:t>
                      </a:r>
                      <a:r>
                        <a:rPr lang="zh-CN" altLang="en-US" sz="1200" b="0" i="0" kern="1200" dirty="0">
                          <a:solidFill>
                            <a:schemeClr val="tx1"/>
                          </a:solidFill>
                          <a:effectLst/>
                          <a:latin typeface="+mj-ea"/>
                          <a:ea typeface="+mj-ea"/>
                          <a:cs typeface="+mn-cs"/>
                        </a:rPr>
                        <a:t>需求预测模型 </a:t>
                      </a:r>
                      <a:r>
                        <a:rPr lang="en-US" altLang="zh-CN" sz="1200" b="0" i="0" kern="1200" dirty="0">
                          <a:solidFill>
                            <a:schemeClr val="tx1"/>
                          </a:solidFill>
                          <a:effectLst/>
                          <a:latin typeface="+mj-ea"/>
                          <a:ea typeface="+mj-ea"/>
                          <a:cs typeface="+mn-cs"/>
                        </a:rPr>
                        <a:t>+ </a:t>
                      </a:r>
                      <a:r>
                        <a:rPr lang="zh-CN" altLang="en-US" sz="1200" b="0" i="0" kern="1200" dirty="0">
                          <a:solidFill>
                            <a:schemeClr val="tx1"/>
                          </a:solidFill>
                          <a:effectLst/>
                          <a:latin typeface="+mj-ea"/>
                          <a:ea typeface="+mj-ea"/>
                          <a:cs typeface="+mn-cs"/>
                        </a:rPr>
                        <a:t>共识算法（加权</a:t>
                      </a:r>
                      <a:r>
                        <a:rPr lang="zh-CN" altLang="en-US" sz="1200" b="0" i="0" dirty="0">
                          <a:solidFill>
                            <a:schemeClr val="tx1"/>
                          </a:solidFill>
                          <a:effectLst/>
                          <a:latin typeface="+mj-ea"/>
                          <a:ea typeface="+mj-ea"/>
                        </a:rPr>
                        <a:t>）</a:t>
                      </a:r>
                      <a:endParaRPr lang="zh-CN" altLang="en-US" sz="1200" b="1" dirty="0">
                        <a:solidFill>
                          <a:schemeClr val="tx1"/>
                        </a:solidFill>
                        <a:latin typeface="+mj-ea"/>
                        <a:ea typeface="+mj-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5000"/>
                      </a:schemeClr>
                    </a:solidFill>
                  </a:tcPr>
                </a:tc>
                <a:extLst>
                  <a:ext uri="{0D108BD9-81ED-4DB2-BD59-A6C34878D82A}">
                    <a16:rowId xmlns:a16="http://schemas.microsoft.com/office/drawing/2014/main" val="4061915118"/>
                  </a:ext>
                </a:extLst>
              </a:tr>
              <a:tr h="370840">
                <a:tc>
                  <a:txBody>
                    <a:bodyPr/>
                    <a:lstStyle>
                      <a:lvl1pPr marL="0" algn="l" defTabSz="914400" rtl="0" eaLnBrk="1" latinLnBrk="0" hangingPunct="1">
                        <a:defRPr sz="1800" kern="1200">
                          <a:solidFill>
                            <a:schemeClr val="lt1"/>
                          </a:solidFill>
                          <a:latin typeface="Verdana"/>
                        </a:defRPr>
                      </a:lvl1pPr>
                      <a:lvl2pPr marL="457200" algn="l" defTabSz="914400" rtl="0" eaLnBrk="1" latinLnBrk="0" hangingPunct="1">
                        <a:defRPr sz="1800" kern="1200">
                          <a:solidFill>
                            <a:schemeClr val="lt1"/>
                          </a:solidFill>
                          <a:latin typeface="Verdana"/>
                        </a:defRPr>
                      </a:lvl2pPr>
                      <a:lvl3pPr marL="914400" algn="l" defTabSz="914400" rtl="0" eaLnBrk="1" latinLnBrk="0" hangingPunct="1">
                        <a:defRPr sz="1800" kern="1200">
                          <a:solidFill>
                            <a:schemeClr val="lt1"/>
                          </a:solidFill>
                          <a:latin typeface="Verdana"/>
                        </a:defRPr>
                      </a:lvl3pPr>
                      <a:lvl4pPr marL="1371600" algn="l" defTabSz="914400" rtl="0" eaLnBrk="1" latinLnBrk="0" hangingPunct="1">
                        <a:defRPr sz="1800" kern="1200">
                          <a:solidFill>
                            <a:schemeClr val="lt1"/>
                          </a:solidFill>
                          <a:latin typeface="Verdana"/>
                        </a:defRPr>
                      </a:lvl4pPr>
                      <a:lvl5pPr marL="1828800" algn="l" defTabSz="914400" rtl="0" eaLnBrk="1" latinLnBrk="0" hangingPunct="1">
                        <a:defRPr sz="1800" kern="1200">
                          <a:solidFill>
                            <a:schemeClr val="lt1"/>
                          </a:solidFill>
                          <a:latin typeface="Verdana"/>
                        </a:defRPr>
                      </a:lvl5pPr>
                      <a:lvl6pPr marL="2286000" algn="l" defTabSz="914400" rtl="0" eaLnBrk="1" latinLnBrk="0" hangingPunct="1">
                        <a:defRPr sz="1800" kern="1200">
                          <a:solidFill>
                            <a:schemeClr val="lt1"/>
                          </a:solidFill>
                          <a:latin typeface="Verdana"/>
                        </a:defRPr>
                      </a:lvl6pPr>
                      <a:lvl7pPr marL="2743200" algn="l" defTabSz="914400" rtl="0" eaLnBrk="1" latinLnBrk="0" hangingPunct="1">
                        <a:defRPr sz="1800" kern="1200">
                          <a:solidFill>
                            <a:schemeClr val="lt1"/>
                          </a:solidFill>
                          <a:latin typeface="Verdana"/>
                        </a:defRPr>
                      </a:lvl7pPr>
                      <a:lvl8pPr marL="3200400" algn="l" defTabSz="914400" rtl="0" eaLnBrk="1" latinLnBrk="0" hangingPunct="1">
                        <a:defRPr sz="1800" kern="1200">
                          <a:solidFill>
                            <a:schemeClr val="lt1"/>
                          </a:solidFill>
                          <a:latin typeface="Verdana"/>
                        </a:defRPr>
                      </a:lvl8pPr>
                      <a:lvl9pPr marL="3657600" algn="l" defTabSz="914400" rtl="0" eaLnBrk="1" latinLnBrk="0" hangingPunct="1">
                        <a:defRPr sz="1800" kern="1200">
                          <a:solidFill>
                            <a:schemeClr val="lt1"/>
                          </a:solidFill>
                          <a:latin typeface="Verdana"/>
                        </a:defRPr>
                      </a:lvl9pPr>
                    </a:lstStyle>
                    <a:p>
                      <a:r>
                        <a:rPr lang="en-US" altLang="zh-CN" sz="1200" b="1" dirty="0">
                          <a:solidFill>
                            <a:schemeClr val="tx1"/>
                          </a:solidFill>
                          <a:latin typeface="+mj-ea"/>
                          <a:ea typeface="+mj-ea"/>
                        </a:rPr>
                        <a:t>MRP</a:t>
                      </a:r>
                      <a:r>
                        <a:rPr lang="zh-CN" altLang="en-US" sz="1200" b="0" i="0" dirty="0">
                          <a:solidFill>
                            <a:schemeClr val="tx1"/>
                          </a:solidFill>
                          <a:effectLst/>
                          <a:latin typeface="+mj-ea"/>
                          <a:ea typeface="+mj-ea"/>
                        </a:rPr>
                        <a:t>（物料计划，依赖</a:t>
                      </a:r>
                      <a:r>
                        <a:rPr lang="en-US" altLang="zh-CN" sz="1200" b="0" i="0" dirty="0">
                          <a:solidFill>
                            <a:schemeClr val="tx1"/>
                          </a:solidFill>
                          <a:effectLst/>
                          <a:latin typeface="+mj-ea"/>
                          <a:ea typeface="+mj-ea"/>
                        </a:rPr>
                        <a:t>BOM</a:t>
                      </a:r>
                      <a:r>
                        <a:rPr lang="zh-CN" altLang="en-US" sz="1200" b="0" i="0" dirty="0">
                          <a:solidFill>
                            <a:schemeClr val="tx1"/>
                          </a:solidFill>
                          <a:effectLst/>
                          <a:latin typeface="+mj-ea"/>
                          <a:ea typeface="+mj-ea"/>
                        </a:rPr>
                        <a:t>模型与优化算法）</a:t>
                      </a:r>
                      <a:endParaRPr lang="zh-CN" altLang="en-US" sz="1200" b="1" dirty="0">
                        <a:solidFill>
                          <a:schemeClr val="tx1"/>
                        </a:solidFill>
                        <a:latin typeface="+mj-ea"/>
                        <a:ea typeface="+mj-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5000"/>
                      </a:schemeClr>
                    </a:solidFill>
                  </a:tcPr>
                </a:tc>
                <a:extLst>
                  <a:ext uri="{0D108BD9-81ED-4DB2-BD59-A6C34878D82A}">
                    <a16:rowId xmlns:a16="http://schemas.microsoft.com/office/drawing/2014/main" val="358627718"/>
                  </a:ext>
                </a:extLst>
              </a:tr>
              <a:tr h="370840">
                <a:tc>
                  <a:txBody>
                    <a:bodyPr/>
                    <a:lstStyle>
                      <a:lvl1pPr marL="0" algn="l" defTabSz="914400" rtl="0" eaLnBrk="1" latinLnBrk="0" hangingPunct="1">
                        <a:defRPr sz="1800" kern="1200">
                          <a:solidFill>
                            <a:schemeClr val="lt1"/>
                          </a:solidFill>
                          <a:latin typeface="Verdana"/>
                        </a:defRPr>
                      </a:lvl1pPr>
                      <a:lvl2pPr marL="457200" algn="l" defTabSz="914400" rtl="0" eaLnBrk="1" latinLnBrk="0" hangingPunct="1">
                        <a:defRPr sz="1800" kern="1200">
                          <a:solidFill>
                            <a:schemeClr val="lt1"/>
                          </a:solidFill>
                          <a:latin typeface="Verdana"/>
                        </a:defRPr>
                      </a:lvl2pPr>
                      <a:lvl3pPr marL="914400" algn="l" defTabSz="914400" rtl="0" eaLnBrk="1" latinLnBrk="0" hangingPunct="1">
                        <a:defRPr sz="1800" kern="1200">
                          <a:solidFill>
                            <a:schemeClr val="lt1"/>
                          </a:solidFill>
                          <a:latin typeface="Verdana"/>
                        </a:defRPr>
                      </a:lvl3pPr>
                      <a:lvl4pPr marL="1371600" algn="l" defTabSz="914400" rtl="0" eaLnBrk="1" latinLnBrk="0" hangingPunct="1">
                        <a:defRPr sz="1800" kern="1200">
                          <a:solidFill>
                            <a:schemeClr val="lt1"/>
                          </a:solidFill>
                          <a:latin typeface="Verdana"/>
                        </a:defRPr>
                      </a:lvl4pPr>
                      <a:lvl5pPr marL="1828800" algn="l" defTabSz="914400" rtl="0" eaLnBrk="1" latinLnBrk="0" hangingPunct="1">
                        <a:defRPr sz="1800" kern="1200">
                          <a:solidFill>
                            <a:schemeClr val="lt1"/>
                          </a:solidFill>
                          <a:latin typeface="Verdana"/>
                        </a:defRPr>
                      </a:lvl5pPr>
                      <a:lvl6pPr marL="2286000" algn="l" defTabSz="914400" rtl="0" eaLnBrk="1" latinLnBrk="0" hangingPunct="1">
                        <a:defRPr sz="1800" kern="1200">
                          <a:solidFill>
                            <a:schemeClr val="lt1"/>
                          </a:solidFill>
                          <a:latin typeface="Verdana"/>
                        </a:defRPr>
                      </a:lvl6pPr>
                      <a:lvl7pPr marL="2743200" algn="l" defTabSz="914400" rtl="0" eaLnBrk="1" latinLnBrk="0" hangingPunct="1">
                        <a:defRPr sz="1800" kern="1200">
                          <a:solidFill>
                            <a:schemeClr val="lt1"/>
                          </a:solidFill>
                          <a:latin typeface="Verdana"/>
                        </a:defRPr>
                      </a:lvl7pPr>
                      <a:lvl8pPr marL="3200400" algn="l" defTabSz="914400" rtl="0" eaLnBrk="1" latinLnBrk="0" hangingPunct="1">
                        <a:defRPr sz="1800" kern="1200">
                          <a:solidFill>
                            <a:schemeClr val="lt1"/>
                          </a:solidFill>
                          <a:latin typeface="Verdana"/>
                        </a:defRPr>
                      </a:lvl8pPr>
                      <a:lvl9pPr marL="3657600" algn="l" defTabSz="914400" rtl="0" eaLnBrk="1" latinLnBrk="0" hangingPunct="1">
                        <a:defRPr sz="1800" kern="1200">
                          <a:solidFill>
                            <a:schemeClr val="lt1"/>
                          </a:solidFill>
                          <a:latin typeface="Verdana"/>
                        </a:defRPr>
                      </a:lvl9pPr>
                    </a:lstStyle>
                    <a:p>
                      <a:r>
                        <a:rPr lang="zh-CN" altLang="en-US" sz="1200" b="1" dirty="0">
                          <a:solidFill>
                            <a:schemeClr val="tx1"/>
                          </a:solidFill>
                          <a:latin typeface="+mj-ea"/>
                          <a:ea typeface="+mj-ea"/>
                        </a:rPr>
                        <a:t>库存规划</a:t>
                      </a:r>
                      <a:r>
                        <a:rPr lang="zh-CN" altLang="en-US" sz="1200" b="0" i="0" kern="1200" dirty="0">
                          <a:solidFill>
                            <a:schemeClr val="tx1"/>
                          </a:solidFill>
                          <a:effectLst/>
                          <a:latin typeface="+mj-ea"/>
                          <a:ea typeface="+mj-ea"/>
                          <a:cs typeface="+mn-cs"/>
                        </a:rPr>
                        <a:t>动态安全库存模型 </a:t>
                      </a:r>
                      <a:r>
                        <a:rPr lang="en-US" altLang="zh-CN" sz="1200" b="0" i="0" kern="1200" dirty="0">
                          <a:solidFill>
                            <a:schemeClr val="tx1"/>
                          </a:solidFill>
                          <a:effectLst/>
                          <a:latin typeface="+mj-ea"/>
                          <a:ea typeface="+mj-ea"/>
                          <a:cs typeface="+mn-cs"/>
                        </a:rPr>
                        <a:t>+ </a:t>
                      </a:r>
                      <a:r>
                        <a:rPr lang="zh-CN" altLang="en-US" sz="1200" b="0" i="0" kern="1200" dirty="0">
                          <a:solidFill>
                            <a:schemeClr val="tx1"/>
                          </a:solidFill>
                          <a:effectLst/>
                          <a:latin typeface="+mj-ea"/>
                          <a:ea typeface="+mj-ea"/>
                          <a:cs typeface="+mn-cs"/>
                        </a:rPr>
                        <a:t>优化算法（平衡成本与服务）</a:t>
                      </a:r>
                      <a:endParaRPr lang="zh-CN" altLang="en-US" sz="1200" b="1" dirty="0">
                        <a:solidFill>
                          <a:schemeClr val="tx1"/>
                        </a:solidFill>
                        <a:latin typeface="+mj-ea"/>
                        <a:ea typeface="+mj-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5000"/>
                      </a:schemeClr>
                    </a:solidFill>
                  </a:tcPr>
                </a:tc>
                <a:extLst>
                  <a:ext uri="{0D108BD9-81ED-4DB2-BD59-A6C34878D82A}">
                    <a16:rowId xmlns:a16="http://schemas.microsoft.com/office/drawing/2014/main" val="1385726919"/>
                  </a:ext>
                </a:extLst>
              </a:tr>
              <a:tr h="370840">
                <a:tc>
                  <a:txBody>
                    <a:bodyPr/>
                    <a:lstStyle>
                      <a:lvl1pPr marL="0" algn="l" defTabSz="914400" rtl="0" eaLnBrk="1" latinLnBrk="0" hangingPunct="1">
                        <a:defRPr sz="1800" kern="1200">
                          <a:solidFill>
                            <a:schemeClr val="lt1"/>
                          </a:solidFill>
                          <a:latin typeface="Verdana"/>
                        </a:defRPr>
                      </a:lvl1pPr>
                      <a:lvl2pPr marL="457200" algn="l" defTabSz="914400" rtl="0" eaLnBrk="1" latinLnBrk="0" hangingPunct="1">
                        <a:defRPr sz="1800" kern="1200">
                          <a:solidFill>
                            <a:schemeClr val="lt1"/>
                          </a:solidFill>
                          <a:latin typeface="Verdana"/>
                        </a:defRPr>
                      </a:lvl2pPr>
                      <a:lvl3pPr marL="914400" algn="l" defTabSz="914400" rtl="0" eaLnBrk="1" latinLnBrk="0" hangingPunct="1">
                        <a:defRPr sz="1800" kern="1200">
                          <a:solidFill>
                            <a:schemeClr val="lt1"/>
                          </a:solidFill>
                          <a:latin typeface="Verdana"/>
                        </a:defRPr>
                      </a:lvl3pPr>
                      <a:lvl4pPr marL="1371600" algn="l" defTabSz="914400" rtl="0" eaLnBrk="1" latinLnBrk="0" hangingPunct="1">
                        <a:defRPr sz="1800" kern="1200">
                          <a:solidFill>
                            <a:schemeClr val="lt1"/>
                          </a:solidFill>
                          <a:latin typeface="Verdana"/>
                        </a:defRPr>
                      </a:lvl4pPr>
                      <a:lvl5pPr marL="1828800" algn="l" defTabSz="914400" rtl="0" eaLnBrk="1" latinLnBrk="0" hangingPunct="1">
                        <a:defRPr sz="1800" kern="1200">
                          <a:solidFill>
                            <a:schemeClr val="lt1"/>
                          </a:solidFill>
                          <a:latin typeface="Verdana"/>
                        </a:defRPr>
                      </a:lvl5pPr>
                      <a:lvl6pPr marL="2286000" algn="l" defTabSz="914400" rtl="0" eaLnBrk="1" latinLnBrk="0" hangingPunct="1">
                        <a:defRPr sz="1800" kern="1200">
                          <a:solidFill>
                            <a:schemeClr val="lt1"/>
                          </a:solidFill>
                          <a:latin typeface="Verdana"/>
                        </a:defRPr>
                      </a:lvl6pPr>
                      <a:lvl7pPr marL="2743200" algn="l" defTabSz="914400" rtl="0" eaLnBrk="1" latinLnBrk="0" hangingPunct="1">
                        <a:defRPr sz="1800" kern="1200">
                          <a:solidFill>
                            <a:schemeClr val="lt1"/>
                          </a:solidFill>
                          <a:latin typeface="Verdana"/>
                        </a:defRPr>
                      </a:lvl7pPr>
                      <a:lvl8pPr marL="3200400" algn="l" defTabSz="914400" rtl="0" eaLnBrk="1" latinLnBrk="0" hangingPunct="1">
                        <a:defRPr sz="1800" kern="1200">
                          <a:solidFill>
                            <a:schemeClr val="lt1"/>
                          </a:solidFill>
                          <a:latin typeface="Verdana"/>
                        </a:defRPr>
                      </a:lvl8pPr>
                      <a:lvl9pPr marL="3657600" algn="l" defTabSz="914400" rtl="0" eaLnBrk="1" latinLnBrk="0" hangingPunct="1">
                        <a:defRPr sz="1800" kern="1200">
                          <a:solidFill>
                            <a:schemeClr val="lt1"/>
                          </a:solidFill>
                          <a:latin typeface="Verdana"/>
                        </a:defRPr>
                      </a:lvl9pPr>
                    </a:lstStyle>
                    <a:p>
                      <a:r>
                        <a:rPr lang="en-US" altLang="zh-CN" sz="1200" b="1" dirty="0">
                          <a:solidFill>
                            <a:schemeClr val="tx1"/>
                          </a:solidFill>
                          <a:latin typeface="+mj-ea"/>
                          <a:ea typeface="+mj-ea"/>
                        </a:rPr>
                        <a:t>CTP</a:t>
                      </a:r>
                      <a:r>
                        <a:rPr lang="zh-CN" altLang="en-US" sz="1200" b="0" i="0" dirty="0">
                          <a:solidFill>
                            <a:schemeClr val="tx1"/>
                          </a:solidFill>
                          <a:effectLst/>
                          <a:latin typeface="+mj-ea"/>
                          <a:ea typeface="+mj-ea"/>
                        </a:rPr>
                        <a:t>（可承诺量，依赖库存模型与承诺算法）</a:t>
                      </a:r>
                      <a:endParaRPr lang="zh-CN" altLang="en-US" sz="1200" b="1" dirty="0">
                        <a:solidFill>
                          <a:schemeClr val="tx1"/>
                        </a:solidFill>
                        <a:latin typeface="+mj-ea"/>
                        <a:ea typeface="+mj-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5000"/>
                      </a:schemeClr>
                    </a:solidFill>
                  </a:tcPr>
                </a:tc>
                <a:extLst>
                  <a:ext uri="{0D108BD9-81ED-4DB2-BD59-A6C34878D82A}">
                    <a16:rowId xmlns:a16="http://schemas.microsoft.com/office/drawing/2014/main" val="1881666819"/>
                  </a:ext>
                </a:extLst>
              </a:tr>
              <a:tr h="370840">
                <a:tc>
                  <a:txBody>
                    <a:bodyPr/>
                    <a:lstStyle>
                      <a:lvl1pPr marL="0" algn="l" defTabSz="914400" rtl="0" eaLnBrk="1" latinLnBrk="0" hangingPunct="1">
                        <a:defRPr sz="1800" kern="1200">
                          <a:solidFill>
                            <a:schemeClr val="lt1"/>
                          </a:solidFill>
                          <a:latin typeface="Verdana"/>
                        </a:defRPr>
                      </a:lvl1pPr>
                      <a:lvl2pPr marL="457200" algn="l" defTabSz="914400" rtl="0" eaLnBrk="1" latinLnBrk="0" hangingPunct="1">
                        <a:defRPr sz="1800" kern="1200">
                          <a:solidFill>
                            <a:schemeClr val="lt1"/>
                          </a:solidFill>
                          <a:latin typeface="Verdana"/>
                        </a:defRPr>
                      </a:lvl2pPr>
                      <a:lvl3pPr marL="914400" algn="l" defTabSz="914400" rtl="0" eaLnBrk="1" latinLnBrk="0" hangingPunct="1">
                        <a:defRPr sz="1800" kern="1200">
                          <a:solidFill>
                            <a:schemeClr val="lt1"/>
                          </a:solidFill>
                          <a:latin typeface="Verdana"/>
                        </a:defRPr>
                      </a:lvl3pPr>
                      <a:lvl4pPr marL="1371600" algn="l" defTabSz="914400" rtl="0" eaLnBrk="1" latinLnBrk="0" hangingPunct="1">
                        <a:defRPr sz="1800" kern="1200">
                          <a:solidFill>
                            <a:schemeClr val="lt1"/>
                          </a:solidFill>
                          <a:latin typeface="Verdana"/>
                        </a:defRPr>
                      </a:lvl4pPr>
                      <a:lvl5pPr marL="1828800" algn="l" defTabSz="914400" rtl="0" eaLnBrk="1" latinLnBrk="0" hangingPunct="1">
                        <a:defRPr sz="1800" kern="1200">
                          <a:solidFill>
                            <a:schemeClr val="lt1"/>
                          </a:solidFill>
                          <a:latin typeface="Verdana"/>
                        </a:defRPr>
                      </a:lvl5pPr>
                      <a:lvl6pPr marL="2286000" algn="l" defTabSz="914400" rtl="0" eaLnBrk="1" latinLnBrk="0" hangingPunct="1">
                        <a:defRPr sz="1800" kern="1200">
                          <a:solidFill>
                            <a:schemeClr val="lt1"/>
                          </a:solidFill>
                          <a:latin typeface="Verdana"/>
                        </a:defRPr>
                      </a:lvl6pPr>
                      <a:lvl7pPr marL="2743200" algn="l" defTabSz="914400" rtl="0" eaLnBrk="1" latinLnBrk="0" hangingPunct="1">
                        <a:defRPr sz="1800" kern="1200">
                          <a:solidFill>
                            <a:schemeClr val="lt1"/>
                          </a:solidFill>
                          <a:latin typeface="Verdana"/>
                        </a:defRPr>
                      </a:lvl7pPr>
                      <a:lvl8pPr marL="3200400" algn="l" defTabSz="914400" rtl="0" eaLnBrk="1" latinLnBrk="0" hangingPunct="1">
                        <a:defRPr sz="1800" kern="1200">
                          <a:solidFill>
                            <a:schemeClr val="lt1"/>
                          </a:solidFill>
                          <a:latin typeface="Verdana"/>
                        </a:defRPr>
                      </a:lvl8pPr>
                      <a:lvl9pPr marL="3657600" algn="l" defTabSz="914400" rtl="0" eaLnBrk="1" latinLnBrk="0" hangingPunct="1">
                        <a:defRPr sz="1800" kern="1200">
                          <a:solidFill>
                            <a:schemeClr val="lt1"/>
                          </a:solidFill>
                          <a:latin typeface="Verdana"/>
                        </a:defRPr>
                      </a:lvl9pPr>
                    </a:lstStyle>
                    <a:p>
                      <a:r>
                        <a:rPr lang="en-US" altLang="zh-CN" sz="1200" b="1" dirty="0">
                          <a:solidFill>
                            <a:schemeClr val="tx1"/>
                          </a:solidFill>
                          <a:latin typeface="+mj-ea"/>
                          <a:ea typeface="+mj-ea"/>
                        </a:rPr>
                        <a:t>……</a:t>
                      </a:r>
                      <a:endParaRPr lang="zh-CN" altLang="en-US" sz="1200" b="1" dirty="0">
                        <a:solidFill>
                          <a:schemeClr val="tx1"/>
                        </a:solidFill>
                        <a:latin typeface="+mj-ea"/>
                        <a:ea typeface="+mj-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5000"/>
                      </a:schemeClr>
                    </a:solidFill>
                  </a:tcPr>
                </a:tc>
                <a:extLst>
                  <a:ext uri="{0D108BD9-81ED-4DB2-BD59-A6C34878D82A}">
                    <a16:rowId xmlns:a16="http://schemas.microsoft.com/office/drawing/2014/main" val="3833535765"/>
                  </a:ext>
                </a:extLst>
              </a:tr>
            </a:tbl>
          </a:graphicData>
        </a:graphic>
      </p:graphicFrame>
      <p:cxnSp>
        <p:nvCxnSpPr>
          <p:cNvPr id="35" name="连接符: 肘形 34">
            <a:extLst>
              <a:ext uri="{FF2B5EF4-FFF2-40B4-BE49-F238E27FC236}">
                <a16:creationId xmlns:a16="http://schemas.microsoft.com/office/drawing/2014/main" id="{32EBAE08-47C7-DD4F-130E-FB243B555214}"/>
              </a:ext>
            </a:extLst>
          </p:cNvPr>
          <p:cNvCxnSpPr>
            <a:cxnSpLocks/>
            <a:endCxn id="33" idx="0"/>
          </p:cNvCxnSpPr>
          <p:nvPr/>
        </p:nvCxnSpPr>
        <p:spPr>
          <a:xfrm rot="10800000" flipV="1">
            <a:off x="1514860" y="2470826"/>
            <a:ext cx="1919005" cy="304238"/>
          </a:xfrm>
          <a:prstGeom prst="bentConnector2">
            <a:avLst/>
          </a:prstGeom>
          <a:ln>
            <a:solidFill>
              <a:schemeClr val="accent2">
                <a:lumMod val="75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49" name="文本框 48">
            <a:extLst>
              <a:ext uri="{FF2B5EF4-FFF2-40B4-BE49-F238E27FC236}">
                <a16:creationId xmlns:a16="http://schemas.microsoft.com/office/drawing/2014/main" id="{04B0CCA9-9099-BABC-E358-12D4F8CFC3E6}"/>
              </a:ext>
            </a:extLst>
          </p:cNvPr>
          <p:cNvSpPr txBox="1"/>
          <p:nvPr/>
        </p:nvSpPr>
        <p:spPr>
          <a:xfrm>
            <a:off x="2731677" y="4332853"/>
            <a:ext cx="1637896"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赋能计划能力外壳，</a:t>
            </a:r>
            <a:endParaRPr kumimoji="0" lang="en-US" altLang="zh-CN"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化解职能冲突</a:t>
            </a:r>
          </a:p>
        </p:txBody>
      </p:sp>
      <p:sp>
        <p:nvSpPr>
          <p:cNvPr id="59" name="文本框 58">
            <a:extLst>
              <a:ext uri="{FF2B5EF4-FFF2-40B4-BE49-F238E27FC236}">
                <a16:creationId xmlns:a16="http://schemas.microsoft.com/office/drawing/2014/main" id="{3A0B3225-D13C-4B5E-8B75-B3596270BC3C}"/>
              </a:ext>
            </a:extLst>
          </p:cNvPr>
          <p:cNvSpPr txBox="1"/>
          <p:nvPr/>
        </p:nvSpPr>
        <p:spPr>
          <a:xfrm>
            <a:off x="7169876" y="3372567"/>
            <a:ext cx="4503845" cy="1384995"/>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所谓数据模型和业务算法最直接的例子就是我们用</a:t>
            </a:r>
            <a:r>
              <a:rPr kumimoji="0" lang="en-US" altLang="zh-CN"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excel</a:t>
            </a:r>
            <a:r>
              <a:rPr kumimoji="0" lang="zh-CN" altLang="en-US"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来做计划，我们如何抽象产品，</a:t>
            </a:r>
            <a:r>
              <a:rPr kumimoji="0" lang="en-US" altLang="zh-CN"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BOM</a:t>
            </a:r>
            <a:r>
              <a:rPr kumimoji="0" lang="zh-CN" altLang="en-US"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，需求和供应（数据模型）以及如何计算（业务算法）</a:t>
            </a:r>
            <a:endParaRPr kumimoji="0" lang="en-US" altLang="zh-CN"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最佳实践不是标杆本身，而是标杆案例在最佳实践的数据模型和业务算法上作对了什么，哪些还需要加强。</a:t>
            </a:r>
          </a:p>
        </p:txBody>
      </p:sp>
      <p:sp>
        <p:nvSpPr>
          <p:cNvPr id="65" name="箭头: 左 64">
            <a:extLst>
              <a:ext uri="{FF2B5EF4-FFF2-40B4-BE49-F238E27FC236}">
                <a16:creationId xmlns:a16="http://schemas.microsoft.com/office/drawing/2014/main" id="{09DBB08C-2359-4AD9-CB1D-FEEF7B08E243}"/>
              </a:ext>
            </a:extLst>
          </p:cNvPr>
          <p:cNvSpPr/>
          <p:nvPr/>
        </p:nvSpPr>
        <p:spPr>
          <a:xfrm>
            <a:off x="2733675" y="3780176"/>
            <a:ext cx="1386876" cy="606855"/>
          </a:xfrm>
          <a:prstGeom prst="leftArrow">
            <a:avLst/>
          </a:prstGeom>
          <a:solidFill>
            <a:srgbClr val="7030A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000000"/>
              </a:solidFill>
              <a:effectLst/>
              <a:uLnTx/>
              <a:uFillTx/>
              <a:latin typeface="Arial" panose="020B0604020202020204"/>
              <a:ea typeface="黑体" panose="02010609060101010101" pitchFamily="49" charset="-122"/>
              <a:cs typeface="+mn-cs"/>
            </a:endParaRPr>
          </a:p>
        </p:txBody>
      </p:sp>
      <p:sp>
        <p:nvSpPr>
          <p:cNvPr id="73" name="文本框 72">
            <a:extLst>
              <a:ext uri="{FF2B5EF4-FFF2-40B4-BE49-F238E27FC236}">
                <a16:creationId xmlns:a16="http://schemas.microsoft.com/office/drawing/2014/main" id="{BB8A5B82-2A9A-ADF8-A582-9066FBF58F21}"/>
              </a:ext>
            </a:extLst>
          </p:cNvPr>
          <p:cNvSpPr txBox="1"/>
          <p:nvPr/>
        </p:nvSpPr>
        <p:spPr>
          <a:xfrm>
            <a:off x="6787299" y="5298020"/>
            <a:ext cx="4809792"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因此，最佳实践的差距，本质上是数据模型精度与业务算法效能的差距。下一页，我们将深入探究：为何这两者能成为决定最佳实践的本质。</a:t>
            </a:r>
          </a:p>
        </p:txBody>
      </p:sp>
      <p:sp>
        <p:nvSpPr>
          <p:cNvPr id="77" name="文本框 76">
            <a:extLst>
              <a:ext uri="{FF2B5EF4-FFF2-40B4-BE49-F238E27FC236}">
                <a16:creationId xmlns:a16="http://schemas.microsoft.com/office/drawing/2014/main" id="{C27569F6-C027-9013-893B-2A26CB3653FC}"/>
              </a:ext>
            </a:extLst>
          </p:cNvPr>
          <p:cNvSpPr txBox="1"/>
          <p:nvPr/>
        </p:nvSpPr>
        <p:spPr>
          <a:xfrm>
            <a:off x="7669422" y="2308889"/>
            <a:ext cx="3927669"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“剥离‘外壳’，方见‘内核’——流程的卓越，本质是</a:t>
            </a:r>
            <a:r>
              <a:rPr kumimoji="0" lang="zh-CN" altLang="en-US"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数据模型与业务算法</a:t>
            </a:r>
            <a:r>
              <a:rPr kumimoji="0" lang="zh-CN" altLang="zh-CN"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卓越。”</a:t>
            </a:r>
            <a:endParaRPr kumimoji="0" lang="zh-CN" altLang="en-US"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Tree>
    <p:extLst>
      <p:ext uri="{BB962C8B-B14F-4D97-AF65-F5344CB8AC3E}">
        <p14:creationId xmlns:p14="http://schemas.microsoft.com/office/powerpoint/2010/main" val="20065307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
                                            <p:graphicEl>
                                              <a:dgm id="{7334EA3C-9BFE-4623-805B-9200ACE1C5D3}"/>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2">
                                            <p:graphicEl>
                                              <a:dgm id="{F7A5BCF7-C215-4D38-BAFC-34826E4FCF13}"/>
                                            </p:graphic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2">
                                            <p:graphicEl>
                                              <a:dgm id="{416A8C35-4983-4523-9744-B49062F42318}"/>
                                            </p:graphic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2">
                                            <p:graphicEl>
                                              <a:dgm id="{F5355ED1-C96C-4C18-BBB7-7E429619FD18}"/>
                                            </p:graphic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2" grpId="0" uiExpand="1">
        <p:bldSub>
          <a:bldDgm bld="lvlOne"/>
        </p:bldSub>
      </p:bldGraphic>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4E5CF4B-4A69-8B2B-52FB-100A80570F5B}"/>
              </a:ext>
            </a:extLst>
          </p:cNvPr>
          <p:cNvSpPr>
            <a:spLocks noGrp="1"/>
          </p:cNvSpPr>
          <p:nvPr>
            <p:ph type="title"/>
          </p:nvPr>
        </p:nvSpPr>
        <p:spPr/>
        <p:txBody>
          <a:bodyPr/>
          <a:lstStyle/>
          <a:p>
            <a:r>
              <a:rPr lang="zh-CN" altLang="en-US" dirty="0">
                <a:latin typeface="+mj-ea"/>
              </a:rPr>
              <a:t>最佳方案的本质：驱动业务的智能双核</a:t>
            </a:r>
            <a:endParaRPr lang="zh-CN" altLang="en-US" dirty="0"/>
          </a:p>
        </p:txBody>
      </p:sp>
      <p:grpSp>
        <p:nvGrpSpPr>
          <p:cNvPr id="7" name="组合 6">
            <a:extLst>
              <a:ext uri="{FF2B5EF4-FFF2-40B4-BE49-F238E27FC236}">
                <a16:creationId xmlns:a16="http://schemas.microsoft.com/office/drawing/2014/main" id="{BDDA1EAF-CB43-2730-0C6C-D735552973F0}"/>
              </a:ext>
            </a:extLst>
          </p:cNvPr>
          <p:cNvGrpSpPr/>
          <p:nvPr/>
        </p:nvGrpSpPr>
        <p:grpSpPr>
          <a:xfrm>
            <a:off x="647699" y="1267874"/>
            <a:ext cx="10952630" cy="3423654"/>
            <a:chOff x="647699" y="1267874"/>
            <a:chExt cx="10952630" cy="3423654"/>
          </a:xfrm>
        </p:grpSpPr>
        <p:pic>
          <p:nvPicPr>
            <p:cNvPr id="3" name="图形 2">
              <a:extLst>
                <a:ext uri="{FF2B5EF4-FFF2-40B4-BE49-F238E27FC236}">
                  <a16:creationId xmlns:a16="http://schemas.microsoft.com/office/drawing/2014/main" id="{74059212-75A5-17DC-78CA-24ECDCE09660}"/>
                </a:ext>
              </a:extLst>
            </p:cNvPr>
            <p:cNvPicPr>
              <a:picLocks noChangeAspect="1"/>
            </p:cNvPicPr>
            <p:nvPr>
              <p:custDataLst>
                <p:tags r:id="rId1"/>
              </p:custDataLst>
            </p:nvPr>
          </p:nvPicPr>
          <p:blipFill>
            <a:blip r:embed="rId5">
              <a:extLst>
                <a:ext uri="{96DAC541-7B7A-43D3-8B79-37D633B846F1}">
                  <asvg:svgBlip xmlns:asvg="http://schemas.microsoft.com/office/drawing/2016/SVG/main" r:embed="rId6"/>
                </a:ext>
              </a:extLst>
            </a:blip>
            <a:stretch>
              <a:fillRect/>
            </a:stretch>
          </p:blipFill>
          <p:spPr>
            <a:xfrm rot="10800000">
              <a:off x="3998255" y="1763059"/>
              <a:ext cx="3560683" cy="2928469"/>
            </a:xfrm>
            <a:prstGeom prst="rect">
              <a:avLst/>
            </a:prstGeom>
          </p:spPr>
        </p:pic>
        <p:sp>
          <p:nvSpPr>
            <p:cNvPr id="4" name="Body-1">
              <a:extLst>
                <a:ext uri="{FF2B5EF4-FFF2-40B4-BE49-F238E27FC236}">
                  <a16:creationId xmlns:a16="http://schemas.microsoft.com/office/drawing/2014/main" id="{43582FFE-9534-C44C-7BC5-BA7E52AAF597}"/>
                </a:ext>
              </a:extLst>
            </p:cNvPr>
            <p:cNvSpPr txBox="1"/>
            <p:nvPr>
              <p:custDataLst>
                <p:tags r:id="rId2"/>
              </p:custDataLst>
            </p:nvPr>
          </p:nvSpPr>
          <p:spPr>
            <a:xfrm>
              <a:off x="647699" y="1267874"/>
              <a:ext cx="3271139" cy="819185"/>
            </a:xfrm>
            <a:prstGeom prst="rect">
              <a:avLst/>
            </a:prstGeom>
            <a:noFill/>
          </p:spPr>
          <p:txBody>
            <a:bodyPr wrap="square" rtlCol="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kumimoji="1" lang="zh-CN" altLang="en-US" sz="1600" b="1" dirty="0">
                  <a:solidFill>
                    <a:srgbClr val="0070C0"/>
                  </a:solidFill>
                  <a:latin typeface="微软雅黑" panose="020B0503020204020204" pitchFamily="34" charset="-122"/>
                  <a:ea typeface="微软雅黑" panose="020B0503020204020204" pitchFamily="34" charset="-122"/>
                  <a:sym typeface="Arial" panose="020B0604020202020204" pitchFamily="34" charset="0"/>
                </a:rPr>
                <a:t>数据模型</a:t>
              </a:r>
              <a:r>
                <a:rPr kumimoji="1" lang="en-US" altLang="zh-CN" sz="1600" b="1" dirty="0">
                  <a:solidFill>
                    <a:srgbClr val="0070C0"/>
                  </a:solidFill>
                  <a:latin typeface="微软雅黑" panose="020B0503020204020204" pitchFamily="34" charset="-122"/>
                  <a:ea typeface="微软雅黑" panose="020B0503020204020204" pitchFamily="34" charset="-122"/>
                  <a:sym typeface="Arial" panose="020B0604020202020204" pitchFamily="34" charset="0"/>
                </a:rPr>
                <a:t>-</a:t>
              </a:r>
              <a:r>
                <a:rPr kumimoji="1" lang="zh-CN" altLang="en-US" sz="1600" b="1" dirty="0">
                  <a:solidFill>
                    <a:srgbClr val="0070C0"/>
                  </a:solidFill>
                  <a:latin typeface="微软雅黑" panose="020B0503020204020204" pitchFamily="34" charset="-122"/>
                  <a:ea typeface="微软雅黑" panose="020B0503020204020204" pitchFamily="34" charset="-122"/>
                  <a:sym typeface="Arial" panose="020B0604020202020204" pitchFamily="34" charset="0"/>
                </a:rPr>
                <a:t>感知与执行</a:t>
              </a:r>
              <a:endParaRPr kumimoji="1" lang="en-US" altLang="zh-CN" sz="1600" b="1" dirty="0">
                <a:solidFill>
                  <a:srgbClr val="0070C0"/>
                </a:solidFill>
                <a:latin typeface="微软雅黑" panose="020B0503020204020204" pitchFamily="34" charset="-122"/>
                <a:ea typeface="微软雅黑" panose="020B0503020204020204" pitchFamily="34" charset="-122"/>
                <a:sym typeface="Arial" panose="020B0604020202020204" pitchFamily="34" charset="0"/>
              </a:endParaRPr>
            </a:p>
            <a:p>
              <a:pPr marL="285750" indent="-285750">
                <a:lnSpc>
                  <a:spcPct val="150000"/>
                </a:lnSpc>
                <a:buFont typeface="Arial" panose="020B0604020202020204" pitchFamily="34" charset="0"/>
                <a:buChar char="•"/>
              </a:pPr>
              <a:r>
                <a:rPr kumimoji="1" lang="zh-CN" altLang="en-US" sz="1400" b="1"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数据模型</a:t>
              </a:r>
              <a:r>
                <a:rPr kumimoji="1" lang="zh-CN" altLang="en-US"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定义了业务中至关重要的</a:t>
              </a:r>
              <a:r>
                <a:rPr kumimoji="1" lang="zh-CN" altLang="en-US" sz="1400" b="1"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对象</a:t>
              </a:r>
              <a:r>
                <a:rPr kumimoji="1" lang="zh-CN" altLang="en-US"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、它们的</a:t>
              </a:r>
              <a:r>
                <a:rPr kumimoji="1" lang="zh-CN" altLang="en-US" sz="1400" b="1"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属性</a:t>
              </a:r>
              <a:r>
                <a:rPr kumimoji="1" lang="zh-CN" altLang="en-US"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以及它们之间的</a:t>
              </a:r>
              <a:r>
                <a:rPr kumimoji="1" lang="zh-CN" altLang="en-US" sz="1400" b="1"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关系</a:t>
              </a:r>
              <a:r>
                <a:rPr kumimoji="1" lang="zh-CN" altLang="en-US"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。它回答了业务“是什么”，包括：</a:t>
              </a:r>
            </a:p>
            <a:p>
              <a:pPr marL="285750" indent="-285750">
                <a:lnSpc>
                  <a:spcPct val="150000"/>
                </a:lnSpc>
                <a:buFont typeface="Arial" panose="020B0604020202020204" pitchFamily="34" charset="0"/>
                <a:buChar char="•"/>
              </a:pPr>
              <a:r>
                <a:rPr kumimoji="1" lang="zh-CN" altLang="en-US" sz="1400" b="1" dirty="0">
                  <a:latin typeface="微软雅黑" panose="020B0503020204020204" pitchFamily="34" charset="-122"/>
                  <a:ea typeface="微软雅黑" panose="020B0503020204020204" pitchFamily="34" charset="-122"/>
                  <a:sym typeface="Arial" panose="020B0604020202020204" pitchFamily="34" charset="0"/>
                </a:rPr>
                <a:t>对象</a:t>
              </a:r>
              <a:r>
                <a:rPr kumimoji="1" lang="zh-CN" altLang="en-US" sz="1400" dirty="0">
                  <a:latin typeface="微软雅黑" panose="020B0503020204020204" pitchFamily="34" charset="-122"/>
                  <a:ea typeface="微软雅黑" panose="020B0503020204020204" pitchFamily="34" charset="-122"/>
                  <a:sym typeface="Arial" panose="020B0604020202020204" pitchFamily="34" charset="0"/>
                </a:rPr>
                <a:t>（实体）</a:t>
              </a:r>
              <a:r>
                <a:rPr kumimoji="1" lang="zh-CN" altLang="en-US"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定义：明确定义业务中的核心实体（如产品、客户、订单等）</a:t>
              </a:r>
            </a:p>
            <a:p>
              <a:pPr marL="285750" indent="-285750">
                <a:lnSpc>
                  <a:spcPct val="150000"/>
                </a:lnSpc>
                <a:buFont typeface="Arial" panose="020B0604020202020204" pitchFamily="34" charset="0"/>
                <a:buChar char="•"/>
              </a:pPr>
              <a:r>
                <a:rPr kumimoji="1" lang="zh-CN" altLang="en-US" sz="1400" b="1"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属性规范</a:t>
              </a:r>
              <a:r>
                <a:rPr kumimoji="1" lang="zh-CN" altLang="en-US"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：精确规范每个实体的属性及其数据类型</a:t>
              </a:r>
            </a:p>
            <a:p>
              <a:pPr marL="285750" indent="-285750">
                <a:lnSpc>
                  <a:spcPct val="150000"/>
                </a:lnSpc>
                <a:buFont typeface="Arial" panose="020B0604020202020204" pitchFamily="34" charset="0"/>
                <a:buChar char="•"/>
              </a:pPr>
              <a:r>
                <a:rPr kumimoji="1" lang="zh-CN" altLang="en-US" sz="1400" b="1"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关系建模</a:t>
              </a:r>
              <a:r>
                <a:rPr kumimoji="1" lang="zh-CN" altLang="en-US"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：建立实体之间的关系及其约束条件</a:t>
              </a:r>
            </a:p>
            <a:p>
              <a:pPr marL="285750" indent="-285750">
                <a:lnSpc>
                  <a:spcPct val="150000"/>
                </a:lnSpc>
                <a:buFont typeface="Arial" panose="020B0604020202020204" pitchFamily="34" charset="0"/>
                <a:buChar char="•"/>
              </a:pPr>
              <a:r>
                <a:rPr kumimoji="1" lang="zh-CN" altLang="en-US" sz="1400" b="1"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状态描述</a:t>
              </a:r>
              <a:r>
                <a:rPr kumimoji="1" lang="zh-CN" altLang="en-US"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：定义实体可能的状态及状态转换规则</a:t>
              </a:r>
              <a:endParaRPr kumimoji="1" lang="en-US" altLang="zh-CN"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5" name="Body-2">
              <a:extLst>
                <a:ext uri="{FF2B5EF4-FFF2-40B4-BE49-F238E27FC236}">
                  <a16:creationId xmlns:a16="http://schemas.microsoft.com/office/drawing/2014/main" id="{0D5CD101-2DD7-8AC7-AE31-E1CA6C954880}"/>
                </a:ext>
              </a:extLst>
            </p:cNvPr>
            <p:cNvSpPr txBox="1"/>
            <p:nvPr>
              <p:custDataLst>
                <p:tags r:id="rId3"/>
              </p:custDataLst>
            </p:nvPr>
          </p:nvSpPr>
          <p:spPr>
            <a:xfrm>
              <a:off x="7775387" y="1353466"/>
              <a:ext cx="3824942" cy="819185"/>
            </a:xfrm>
            <a:prstGeom prst="rect">
              <a:avLst/>
            </a:prstGeom>
            <a:noFill/>
          </p:spPr>
          <p:txBody>
            <a:bodyPr wrap="square" rtlCol="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kumimoji="1" lang="zh-CN" altLang="en-US" sz="1600" b="1" dirty="0">
                  <a:solidFill>
                    <a:srgbClr val="0070C0"/>
                  </a:solidFill>
                  <a:latin typeface="微软雅黑" panose="020B0503020204020204" pitchFamily="34" charset="-122"/>
                  <a:ea typeface="微软雅黑" panose="020B0503020204020204" pitchFamily="34" charset="-122"/>
                  <a:sym typeface="Arial" panose="020B0604020202020204" pitchFamily="34" charset="0"/>
                </a:rPr>
                <a:t>业务算法 </a:t>
              </a:r>
              <a:r>
                <a:rPr kumimoji="1" lang="en-US" altLang="zh-CN" sz="1600" b="1" dirty="0">
                  <a:solidFill>
                    <a:srgbClr val="0070C0"/>
                  </a:solidFill>
                  <a:latin typeface="微软雅黑" panose="020B0503020204020204" pitchFamily="34" charset="-122"/>
                  <a:ea typeface="微软雅黑" panose="020B0503020204020204" pitchFamily="34" charset="-122"/>
                  <a:sym typeface="Arial" panose="020B0604020202020204" pitchFamily="34" charset="0"/>
                </a:rPr>
                <a:t>– </a:t>
              </a:r>
              <a:r>
                <a:rPr kumimoji="1" lang="zh-CN" altLang="en-US" sz="1600" b="1" dirty="0">
                  <a:solidFill>
                    <a:srgbClr val="0070C0"/>
                  </a:solidFill>
                  <a:latin typeface="微软雅黑" panose="020B0503020204020204" pitchFamily="34" charset="-122"/>
                  <a:ea typeface="微软雅黑" panose="020B0503020204020204" pitchFamily="34" charset="-122"/>
                  <a:sym typeface="Arial" panose="020B0604020202020204" pitchFamily="34" charset="0"/>
                </a:rPr>
                <a:t>分析与决策</a:t>
              </a:r>
              <a:endParaRPr kumimoji="1" lang="en-US" altLang="zh-CN" sz="1600" b="1" dirty="0">
                <a:solidFill>
                  <a:srgbClr val="0070C0"/>
                </a:solidFill>
                <a:latin typeface="微软雅黑" panose="020B0503020204020204" pitchFamily="34" charset="-122"/>
                <a:ea typeface="微软雅黑" panose="020B0503020204020204" pitchFamily="34" charset="-122"/>
                <a:sym typeface="Arial" panose="020B0604020202020204" pitchFamily="34" charset="0"/>
              </a:endParaRPr>
            </a:p>
            <a:p>
              <a:pPr marL="285750" indent="-285750">
                <a:lnSpc>
                  <a:spcPct val="150000"/>
                </a:lnSpc>
                <a:buFont typeface="Arial" panose="020B0604020202020204" pitchFamily="34" charset="0"/>
                <a:buChar char="•"/>
              </a:pPr>
              <a:r>
                <a:rPr kumimoji="1" lang="zh-CN" altLang="en-US" sz="1400" b="1"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业务算法</a:t>
              </a:r>
              <a:r>
                <a:rPr kumimoji="1" lang="zh-CN" altLang="en-US"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封装了业务的动态决策逻辑和规则。它回答了业务“怎么做”，包括：</a:t>
              </a:r>
            </a:p>
            <a:p>
              <a:pPr marL="285750" indent="-285750">
                <a:lnSpc>
                  <a:spcPct val="150000"/>
                </a:lnSpc>
                <a:buFont typeface="Arial" panose="020B0604020202020204" pitchFamily="34" charset="0"/>
                <a:buChar char="•"/>
              </a:pPr>
              <a:r>
                <a:rPr kumimoji="1" lang="zh-CN" altLang="en-US" sz="1400" b="1"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决策逻辑</a:t>
              </a:r>
              <a:r>
                <a:rPr kumimoji="1" lang="zh-CN" altLang="en-US"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：将业务决策规则转化为可计算的算法</a:t>
              </a:r>
            </a:p>
            <a:p>
              <a:pPr marL="285750" indent="-285750">
                <a:lnSpc>
                  <a:spcPct val="150000"/>
                </a:lnSpc>
                <a:buFont typeface="Arial" panose="020B0604020202020204" pitchFamily="34" charset="0"/>
                <a:buChar char="•"/>
              </a:pPr>
              <a:r>
                <a:rPr kumimoji="1" lang="zh-CN" altLang="en-US" sz="1400" b="1"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优化目标</a:t>
              </a:r>
              <a:r>
                <a:rPr kumimoji="1" lang="zh-CN" altLang="en-US"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：明确定义业务优化的目标和约束条件</a:t>
              </a:r>
            </a:p>
            <a:p>
              <a:pPr marL="285750" indent="-285750">
                <a:lnSpc>
                  <a:spcPct val="150000"/>
                </a:lnSpc>
                <a:buFont typeface="Arial" panose="020B0604020202020204" pitchFamily="34" charset="0"/>
                <a:buChar char="•"/>
              </a:pPr>
              <a:r>
                <a:rPr kumimoji="1" lang="zh-CN" altLang="en-US" sz="1400" b="1"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计算过程</a:t>
              </a:r>
              <a:r>
                <a:rPr kumimoji="1" lang="zh-CN" altLang="en-US"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：将业务推理过程转化为可执行的计算步骤</a:t>
              </a:r>
            </a:p>
            <a:p>
              <a:pPr marL="285750" indent="-285750">
                <a:lnSpc>
                  <a:spcPct val="150000"/>
                </a:lnSpc>
                <a:buFont typeface="Arial" panose="020B0604020202020204" pitchFamily="34" charset="0"/>
                <a:buChar char="•"/>
              </a:pPr>
              <a:r>
                <a:rPr kumimoji="1" lang="zh-CN" altLang="en-US" sz="1400" b="1"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自适应机制：</a:t>
              </a:r>
              <a:r>
                <a:rPr kumimoji="1" lang="zh-CN" altLang="en-US"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rPr>
                <a:t>设计算法根据业务变化的自调整机制</a:t>
              </a:r>
              <a:endParaRPr kumimoji="1" lang="en-US" altLang="zh-CN" sz="1400" dirty="0">
                <a:solidFill>
                  <a:schemeClr val="tx1"/>
                </a:solidFill>
                <a:latin typeface="微软雅黑" panose="020B0503020204020204" pitchFamily="34" charset="-122"/>
                <a:ea typeface="微软雅黑" panose="020B0503020204020204" pitchFamily="34" charset="-122"/>
                <a:sym typeface="Arial" panose="020B0604020202020204" pitchFamily="34" charset="0"/>
              </a:endParaRPr>
            </a:p>
          </p:txBody>
        </p:sp>
      </p:grpSp>
      <p:sp>
        <p:nvSpPr>
          <p:cNvPr id="6" name="文本框 5">
            <a:extLst>
              <a:ext uri="{FF2B5EF4-FFF2-40B4-BE49-F238E27FC236}">
                <a16:creationId xmlns:a16="http://schemas.microsoft.com/office/drawing/2014/main" id="{E2F7B09A-E890-DD5A-15E2-83CFB1CCCE26}"/>
              </a:ext>
            </a:extLst>
          </p:cNvPr>
          <p:cNvSpPr txBox="1"/>
          <p:nvPr/>
        </p:nvSpPr>
        <p:spPr>
          <a:xfrm>
            <a:off x="1391920" y="6108286"/>
            <a:ext cx="10083800" cy="584775"/>
          </a:xfrm>
          <a:prstGeom prst="rect">
            <a:avLst/>
          </a:prstGeom>
          <a:noFill/>
        </p:spPr>
        <p:txBody>
          <a:bodyPr wrap="square" rtlCol="0">
            <a:spAutoFit/>
          </a:bodyPr>
          <a:lstStyle/>
          <a:p>
            <a:r>
              <a:rPr lang="zh-CN" altLang="en-US" sz="1600" i="0" dirty="0">
                <a:effectLst/>
                <a:latin typeface="+mj-ea"/>
                <a:ea typeface="+mj-ea"/>
              </a:rPr>
              <a:t>构建卓越的供应链计划能力，</a:t>
            </a:r>
            <a:r>
              <a:rPr lang="zh-CN" altLang="en-US" sz="1600" b="1" i="0" dirty="0">
                <a:solidFill>
                  <a:srgbClr val="0070C0"/>
                </a:solidFill>
                <a:effectLst/>
                <a:latin typeface="+mj-ea"/>
                <a:ea typeface="+mj-ea"/>
              </a:rPr>
              <a:t>其核心工程</a:t>
            </a:r>
            <a:r>
              <a:rPr lang="zh-CN" altLang="en-US" sz="1600" i="0" dirty="0">
                <a:effectLst/>
                <a:latin typeface="+mj-ea"/>
                <a:ea typeface="+mj-ea"/>
              </a:rPr>
              <a:t>就是为我们的企业精准‘</a:t>
            </a:r>
            <a:r>
              <a:rPr lang="zh-CN" altLang="en-US" sz="1600" b="1" i="0" dirty="0">
                <a:solidFill>
                  <a:srgbClr val="0070C0"/>
                </a:solidFill>
                <a:effectLst/>
                <a:latin typeface="+mj-ea"/>
                <a:ea typeface="+mj-ea"/>
              </a:rPr>
              <a:t>定义</a:t>
            </a:r>
            <a:r>
              <a:rPr lang="zh-CN" altLang="en-US" sz="1600" i="0" dirty="0">
                <a:effectLst/>
                <a:latin typeface="+mj-ea"/>
                <a:ea typeface="+mj-ea"/>
              </a:rPr>
              <a:t>’</a:t>
            </a:r>
            <a:r>
              <a:rPr lang="zh-CN" altLang="en-US" sz="1600" b="1" i="0" dirty="0">
                <a:effectLst/>
                <a:latin typeface="+mj-ea"/>
                <a:ea typeface="+mj-ea"/>
              </a:rPr>
              <a:t>数据模型</a:t>
            </a:r>
            <a:r>
              <a:rPr lang="zh-CN" altLang="en-US" sz="1600" i="0" dirty="0">
                <a:effectLst/>
                <a:latin typeface="+mj-ea"/>
                <a:ea typeface="+mj-ea"/>
              </a:rPr>
              <a:t>，并智慧‘</a:t>
            </a:r>
            <a:r>
              <a:rPr lang="zh-CN" altLang="en-US" sz="1600" b="1" i="0" dirty="0">
                <a:solidFill>
                  <a:srgbClr val="0070C0"/>
                </a:solidFill>
                <a:effectLst/>
                <a:latin typeface="+mj-ea"/>
                <a:ea typeface="+mj-ea"/>
              </a:rPr>
              <a:t>设计</a:t>
            </a:r>
            <a:r>
              <a:rPr lang="zh-CN" altLang="en-US" sz="1600" i="0" dirty="0">
                <a:effectLst/>
                <a:latin typeface="+mj-ea"/>
                <a:ea typeface="+mj-ea"/>
              </a:rPr>
              <a:t>’</a:t>
            </a:r>
            <a:r>
              <a:rPr lang="zh-CN" altLang="en-US" sz="1600" b="1" i="0" dirty="0">
                <a:effectLst/>
                <a:latin typeface="+mj-ea"/>
                <a:ea typeface="+mj-ea"/>
              </a:rPr>
              <a:t>业务算法</a:t>
            </a:r>
            <a:r>
              <a:rPr lang="zh-CN" altLang="en-US" sz="1600" i="0" dirty="0">
                <a:effectLst/>
                <a:latin typeface="+mj-ea"/>
                <a:ea typeface="+mj-ea"/>
              </a:rPr>
              <a:t>。</a:t>
            </a:r>
            <a:endParaRPr lang="en-US" altLang="zh-CN" sz="1600" i="0" dirty="0">
              <a:effectLst/>
              <a:latin typeface="+mj-ea"/>
              <a:ea typeface="+mj-ea"/>
            </a:endParaRPr>
          </a:p>
          <a:p>
            <a:r>
              <a:rPr lang="zh-CN" altLang="en-US" sz="1600" i="0" dirty="0">
                <a:effectLst/>
                <a:latin typeface="+mj-ea"/>
                <a:ea typeface="+mj-ea"/>
              </a:rPr>
              <a:t>这不再是简单的流程优化，而是为业务安装一个可持续进化的</a:t>
            </a:r>
            <a:r>
              <a:rPr lang="zh-CN" altLang="en-US" sz="1600" b="1" i="0" dirty="0">
                <a:solidFill>
                  <a:srgbClr val="0070C0"/>
                </a:solidFill>
                <a:effectLst/>
                <a:latin typeface="+mj-ea"/>
                <a:ea typeface="+mj-ea"/>
              </a:rPr>
              <a:t>‘数字大脑’</a:t>
            </a:r>
            <a:endParaRPr lang="zh-CN" altLang="en-US" sz="1600" b="1" dirty="0">
              <a:solidFill>
                <a:srgbClr val="0070C0"/>
              </a:solidFill>
              <a:latin typeface="+mj-ea"/>
              <a:ea typeface="+mj-ea"/>
            </a:endParaRPr>
          </a:p>
        </p:txBody>
      </p:sp>
    </p:spTree>
    <p:extLst>
      <p:ext uri="{BB962C8B-B14F-4D97-AF65-F5344CB8AC3E}">
        <p14:creationId xmlns:p14="http://schemas.microsoft.com/office/powerpoint/2010/main" val="194111291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BE2486E-7D18-E586-7568-61B07DEE6393}"/>
              </a:ext>
            </a:extLst>
          </p:cNvPr>
          <p:cNvSpPr>
            <a:spLocks noGrp="1"/>
          </p:cNvSpPr>
          <p:nvPr>
            <p:ph type="title"/>
          </p:nvPr>
        </p:nvSpPr>
        <p:spPr/>
        <p:txBody>
          <a:bodyPr/>
          <a:lstStyle/>
          <a:p>
            <a:r>
              <a:rPr lang="zh-CN" altLang="en-US" dirty="0"/>
              <a:t>无法产出业务方案的能力盲区</a:t>
            </a:r>
          </a:p>
        </p:txBody>
      </p:sp>
      <p:grpSp>
        <p:nvGrpSpPr>
          <p:cNvPr id="84" name="组合 83">
            <a:extLst>
              <a:ext uri="{FF2B5EF4-FFF2-40B4-BE49-F238E27FC236}">
                <a16:creationId xmlns:a16="http://schemas.microsoft.com/office/drawing/2014/main" id="{430249DC-6745-9B09-9FBC-CC0044D41AF4}"/>
              </a:ext>
            </a:extLst>
          </p:cNvPr>
          <p:cNvGrpSpPr>
            <a:grpSpLocks noChangeAspect="1"/>
          </p:cNvGrpSpPr>
          <p:nvPr>
            <p:custDataLst>
              <p:tags r:id="rId1"/>
            </p:custDataLst>
          </p:nvPr>
        </p:nvGrpSpPr>
        <p:grpSpPr>
          <a:xfrm>
            <a:off x="1540817" y="1698171"/>
            <a:ext cx="8808985" cy="4154993"/>
            <a:chOff x="1060346" y="1660841"/>
            <a:chExt cx="10071308" cy="3132697"/>
          </a:xfrm>
        </p:grpSpPr>
        <p:grpSp>
          <p:nvGrpSpPr>
            <p:cNvPr id="85" name="组合 84">
              <a:extLst>
                <a:ext uri="{FF2B5EF4-FFF2-40B4-BE49-F238E27FC236}">
                  <a16:creationId xmlns:a16="http://schemas.microsoft.com/office/drawing/2014/main" id="{C608EAC1-55C3-300F-D574-1D067B5AA8C4}"/>
                </a:ext>
              </a:extLst>
            </p:cNvPr>
            <p:cNvGrpSpPr/>
            <p:nvPr/>
          </p:nvGrpSpPr>
          <p:grpSpPr>
            <a:xfrm>
              <a:off x="1060346" y="1660841"/>
              <a:ext cx="4521408" cy="3132697"/>
              <a:chOff x="1060346" y="1660841"/>
              <a:chExt cx="4521408" cy="3132697"/>
            </a:xfrm>
          </p:grpSpPr>
          <p:sp>
            <p:nvSpPr>
              <p:cNvPr id="91" name="1">
                <a:extLst>
                  <a:ext uri="{FF2B5EF4-FFF2-40B4-BE49-F238E27FC236}">
                    <a16:creationId xmlns:a16="http://schemas.microsoft.com/office/drawing/2014/main" id="{0F32D8CC-0817-A133-1902-940715B3E8BE}"/>
                  </a:ext>
                </a:extLst>
              </p:cNvPr>
              <p:cNvSpPr/>
              <p:nvPr>
                <p:custDataLst>
                  <p:tags r:id="rId6"/>
                </p:custDataLst>
              </p:nvPr>
            </p:nvSpPr>
            <p:spPr>
              <a:xfrm>
                <a:off x="1188472" y="1795470"/>
                <a:ext cx="4393282" cy="2998068"/>
              </a:xfrm>
              <a:prstGeom prst="roundRect">
                <a:avLst>
                  <a:gd name="adj" fmla="val 740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a:latin typeface="+mj-ea"/>
                  <a:ea typeface="+mj-ea"/>
                </a:endParaRPr>
              </a:p>
            </p:txBody>
          </p:sp>
          <p:sp>
            <p:nvSpPr>
              <p:cNvPr id="92" name="1">
                <a:extLst>
                  <a:ext uri="{FF2B5EF4-FFF2-40B4-BE49-F238E27FC236}">
                    <a16:creationId xmlns:a16="http://schemas.microsoft.com/office/drawing/2014/main" id="{91AED86A-7F26-71EA-5FA5-ED6FE53BFD2E}"/>
                  </a:ext>
                </a:extLst>
              </p:cNvPr>
              <p:cNvSpPr/>
              <p:nvPr>
                <p:custDataLst>
                  <p:tags r:id="rId7"/>
                </p:custDataLst>
              </p:nvPr>
            </p:nvSpPr>
            <p:spPr>
              <a:xfrm>
                <a:off x="1060346" y="1660841"/>
                <a:ext cx="2269409" cy="437913"/>
              </a:xfrm>
              <a:prstGeom prst="round2DiagRect">
                <a:avLst>
                  <a:gd name="adj1" fmla="val 50000"/>
                  <a:gd name="adj2" fmla="val 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a:latin typeface="+mj-ea"/>
                  <a:ea typeface="+mj-ea"/>
                </a:endParaRPr>
              </a:p>
            </p:txBody>
          </p:sp>
          <p:sp>
            <p:nvSpPr>
              <p:cNvPr id="93" name="Title-1">
                <a:extLst>
                  <a:ext uri="{FF2B5EF4-FFF2-40B4-BE49-F238E27FC236}">
                    <a16:creationId xmlns:a16="http://schemas.microsoft.com/office/drawing/2014/main" id="{17D18D4A-49F5-B1B8-3719-2BC719CF992C}"/>
                  </a:ext>
                </a:extLst>
              </p:cNvPr>
              <p:cNvSpPr txBox="1"/>
              <p:nvPr>
                <p:custDataLst>
                  <p:tags r:id="rId8"/>
                </p:custDataLst>
              </p:nvPr>
            </p:nvSpPr>
            <p:spPr>
              <a:xfrm>
                <a:off x="1188472" y="1695131"/>
                <a:ext cx="2141283" cy="369332"/>
              </a:xfrm>
              <a:prstGeom prst="rect">
                <a:avLst/>
              </a:prstGeom>
              <a:noFill/>
            </p:spPr>
            <p:txBody>
              <a:bodyPr wrap="square" rtlCol="0">
                <a:noAutofit/>
              </a:bodyPr>
              <a:lstStyle/>
              <a:p>
                <a:r>
                  <a:rPr lang="zh-CN" altLang="en-US" b="1" dirty="0">
                    <a:solidFill>
                      <a:schemeClr val="bg1"/>
                    </a:solidFill>
                    <a:latin typeface="+mj-ea"/>
                    <a:ea typeface="+mj-ea"/>
                  </a:rPr>
                  <a:t> 业务专家的盲区</a:t>
                </a:r>
              </a:p>
            </p:txBody>
          </p:sp>
          <p:sp>
            <p:nvSpPr>
              <p:cNvPr id="94" name="Body-1">
                <a:extLst>
                  <a:ext uri="{FF2B5EF4-FFF2-40B4-BE49-F238E27FC236}">
                    <a16:creationId xmlns:a16="http://schemas.microsoft.com/office/drawing/2014/main" id="{9231287B-F5A6-1B5E-637B-529F73C91668}"/>
                  </a:ext>
                </a:extLst>
              </p:cNvPr>
              <p:cNvSpPr>
                <a:spLocks/>
              </p:cNvSpPr>
              <p:nvPr>
                <p:custDataLst>
                  <p:tags r:id="rId9"/>
                </p:custDataLst>
              </p:nvPr>
            </p:nvSpPr>
            <p:spPr>
              <a:xfrm>
                <a:off x="1482547" y="2064464"/>
                <a:ext cx="4001185" cy="272907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endParaRPr kumimoji="0" lang="en-US" altLang="zh-CN" sz="1400" b="1" i="0" u="none" strike="noStrike" kern="1200" cap="none" spc="0" normalizeH="0" baseline="0" noProof="0" dirty="0">
                  <a:ln>
                    <a:noFill/>
                  </a:ln>
                  <a:solidFill>
                    <a:schemeClr val="tx2">
                      <a:lumMod val="75000"/>
                      <a:lumOff val="25000"/>
                    </a:schemeClr>
                  </a:solidFill>
                  <a:effectLst/>
                  <a:uLnTx/>
                  <a:uFillTx/>
                  <a:latin typeface="+mj-ea"/>
                  <a:ea typeface="+mj-ea"/>
                  <a:cs typeface="+mn-cs"/>
                </a:endParaRP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精通流程但缺乏抽象能力：擅长描述“是什么”和“为什么”，但无法精确表述“如何计算”</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熟悉痛点但缺乏技术实现路径：了解业务问题，但缺乏将问题转化为技术解决方案的能力</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经验丰富但缺乏算法思维：依赖经验决策，难以将经验转化为可复用的算法模型</a:t>
                </a:r>
                <a:endParaRPr kumimoji="0" lang="en-GB" altLang="zh-CN" sz="1400" b="1" i="0" u="none" strike="noStrike" kern="1200" cap="none" spc="0" normalizeH="0" baseline="0" noProof="0" dirty="0">
                  <a:ln>
                    <a:noFill/>
                  </a:ln>
                  <a:solidFill>
                    <a:schemeClr val="tx2">
                      <a:lumMod val="75000"/>
                      <a:lumOff val="25000"/>
                    </a:schemeClr>
                  </a:solidFill>
                  <a:effectLst/>
                  <a:uLnTx/>
                  <a:uFillTx/>
                  <a:latin typeface="+mj-ea"/>
                  <a:ea typeface="+mj-ea"/>
                  <a:cs typeface="+mn-cs"/>
                </a:endParaRPr>
              </a:p>
            </p:txBody>
          </p:sp>
        </p:grpSp>
        <p:grpSp>
          <p:nvGrpSpPr>
            <p:cNvPr id="86" name="组合 85">
              <a:extLst>
                <a:ext uri="{FF2B5EF4-FFF2-40B4-BE49-F238E27FC236}">
                  <a16:creationId xmlns:a16="http://schemas.microsoft.com/office/drawing/2014/main" id="{03B4D9C1-9938-3E53-1A48-3494082618EB}"/>
                </a:ext>
              </a:extLst>
            </p:cNvPr>
            <p:cNvGrpSpPr/>
            <p:nvPr/>
          </p:nvGrpSpPr>
          <p:grpSpPr>
            <a:xfrm>
              <a:off x="6610246" y="1660841"/>
              <a:ext cx="4521408" cy="3132697"/>
              <a:chOff x="6610246" y="1660841"/>
              <a:chExt cx="4521408" cy="3132697"/>
            </a:xfrm>
          </p:grpSpPr>
          <p:sp>
            <p:nvSpPr>
              <p:cNvPr id="87" name="2">
                <a:extLst>
                  <a:ext uri="{FF2B5EF4-FFF2-40B4-BE49-F238E27FC236}">
                    <a16:creationId xmlns:a16="http://schemas.microsoft.com/office/drawing/2014/main" id="{42E15DFC-DD45-0973-E91A-5D2FB71E1823}"/>
                  </a:ext>
                </a:extLst>
              </p:cNvPr>
              <p:cNvSpPr/>
              <p:nvPr>
                <p:custDataLst>
                  <p:tags r:id="rId2"/>
                </p:custDataLst>
              </p:nvPr>
            </p:nvSpPr>
            <p:spPr>
              <a:xfrm>
                <a:off x="6738372" y="1795470"/>
                <a:ext cx="4393282" cy="2998068"/>
              </a:xfrm>
              <a:prstGeom prst="roundRect">
                <a:avLst>
                  <a:gd name="adj" fmla="val 7405"/>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a:latin typeface="+mj-ea"/>
                  <a:ea typeface="+mj-ea"/>
                </a:endParaRPr>
              </a:p>
            </p:txBody>
          </p:sp>
          <p:sp>
            <p:nvSpPr>
              <p:cNvPr id="88" name="2">
                <a:extLst>
                  <a:ext uri="{FF2B5EF4-FFF2-40B4-BE49-F238E27FC236}">
                    <a16:creationId xmlns:a16="http://schemas.microsoft.com/office/drawing/2014/main" id="{68EE7E91-2D7A-82F7-8730-21A776C3BBA8}"/>
                  </a:ext>
                </a:extLst>
              </p:cNvPr>
              <p:cNvSpPr/>
              <p:nvPr>
                <p:custDataLst>
                  <p:tags r:id="rId3"/>
                </p:custDataLst>
              </p:nvPr>
            </p:nvSpPr>
            <p:spPr>
              <a:xfrm>
                <a:off x="6610246" y="1660841"/>
                <a:ext cx="2269409" cy="437913"/>
              </a:xfrm>
              <a:prstGeom prst="round2DiagRect">
                <a:avLst>
                  <a:gd name="adj1" fmla="val 50000"/>
                  <a:gd name="adj2" fmla="val 0"/>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a:latin typeface="+mj-ea"/>
                  <a:ea typeface="+mj-ea"/>
                </a:endParaRPr>
              </a:p>
            </p:txBody>
          </p:sp>
          <p:sp>
            <p:nvSpPr>
              <p:cNvPr id="89" name="Title-2">
                <a:extLst>
                  <a:ext uri="{FF2B5EF4-FFF2-40B4-BE49-F238E27FC236}">
                    <a16:creationId xmlns:a16="http://schemas.microsoft.com/office/drawing/2014/main" id="{515DAC1D-0B69-CC2A-5D94-7BDC75EDCCAF}"/>
                  </a:ext>
                </a:extLst>
              </p:cNvPr>
              <p:cNvSpPr txBox="1"/>
              <p:nvPr>
                <p:custDataLst>
                  <p:tags r:id="rId4"/>
                </p:custDataLst>
              </p:nvPr>
            </p:nvSpPr>
            <p:spPr>
              <a:xfrm>
                <a:off x="6738372" y="1695131"/>
                <a:ext cx="2141283" cy="369332"/>
              </a:xfrm>
              <a:prstGeom prst="rect">
                <a:avLst/>
              </a:prstGeom>
              <a:noFill/>
            </p:spPr>
            <p:txBody>
              <a:bodyPr wrap="square" rtlCol="0">
                <a:noAutofit/>
              </a:bodyPr>
              <a:lstStyle/>
              <a:p>
                <a:r>
                  <a:rPr lang="en-US" altLang="zh-CN" b="1">
                    <a:solidFill>
                      <a:schemeClr val="bg1"/>
                    </a:solidFill>
                    <a:latin typeface="+mj-ea"/>
                    <a:ea typeface="+mj-ea"/>
                  </a:rPr>
                  <a:t> IT</a:t>
                </a:r>
                <a:r>
                  <a:rPr lang="zh-CN" altLang="en-US" b="1">
                    <a:solidFill>
                      <a:schemeClr val="bg1"/>
                    </a:solidFill>
                    <a:latin typeface="+mj-ea"/>
                    <a:ea typeface="+mj-ea"/>
                  </a:rPr>
                  <a:t>专家的局限</a:t>
                </a:r>
                <a:endParaRPr lang="zh-CN" altLang="en-US" b="1" dirty="0">
                  <a:solidFill>
                    <a:schemeClr val="bg1"/>
                  </a:solidFill>
                  <a:latin typeface="+mj-ea"/>
                  <a:ea typeface="+mj-ea"/>
                </a:endParaRPr>
              </a:p>
            </p:txBody>
          </p:sp>
          <p:sp>
            <p:nvSpPr>
              <p:cNvPr id="90" name="Body-2">
                <a:extLst>
                  <a:ext uri="{FF2B5EF4-FFF2-40B4-BE49-F238E27FC236}">
                    <a16:creationId xmlns:a16="http://schemas.microsoft.com/office/drawing/2014/main" id="{3C79BD48-F2E4-A830-7666-25D2F76AF6B5}"/>
                  </a:ext>
                </a:extLst>
              </p:cNvPr>
              <p:cNvSpPr>
                <a:spLocks/>
              </p:cNvSpPr>
              <p:nvPr>
                <p:custDataLst>
                  <p:tags r:id="rId5"/>
                </p:custDataLst>
              </p:nvPr>
            </p:nvSpPr>
            <p:spPr>
              <a:xfrm>
                <a:off x="7032447" y="2064464"/>
                <a:ext cx="4001185" cy="272907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30000"/>
                  </a:lnSpc>
                  <a:buSzPct val="100000"/>
                  <a:buFont typeface="Arial" panose="020B0604020202020204" pitchFamily="34" charset="0"/>
                  <a:buChar char="•"/>
                  <a:defRPr/>
                </a:pPr>
                <a:endParaRPr kumimoji="0" lang="en-US" altLang="zh-CN" sz="1400" b="1" i="0" u="none" strike="noStrike" kern="1200" cap="none" spc="0" normalizeH="0" baseline="0" noProof="0" dirty="0">
                  <a:ln>
                    <a:noFill/>
                  </a:ln>
                  <a:solidFill>
                    <a:schemeClr val="tx2">
                      <a:lumMod val="75000"/>
                      <a:lumOff val="25000"/>
                    </a:schemeClr>
                  </a:solidFill>
                  <a:effectLst/>
                  <a:uLnTx/>
                  <a:uFillTx/>
                  <a:latin typeface="+mj-ea"/>
                  <a:ea typeface="+mj-ea"/>
                  <a:cs typeface="+mn-cs"/>
                </a:endParaRPr>
              </a:p>
              <a:p>
                <a:pPr marL="285750" indent="-285750" defTabSz="913765">
                  <a:lnSpc>
                    <a:spcPct val="130000"/>
                  </a:lnSpc>
                  <a:buSzPct val="100000"/>
                  <a:buFont typeface="Arial" panose="020B0604020202020204" pitchFamily="34" charset="0"/>
                  <a:buChar char="•"/>
                  <a:defRPr/>
                </a:pP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精通技术但缺乏业务深度：擅长回答“如何实现”，但无法判断“为何这样设计最优”</a:t>
                </a:r>
              </a:p>
              <a:p>
                <a:pPr marL="285750" indent="-285750" defTabSz="913765">
                  <a:lnSpc>
                    <a:spcPct val="130000"/>
                  </a:lnSpc>
                  <a:buSzPct val="100000"/>
                  <a:buFont typeface="Arial" panose="020B0604020202020204" pitchFamily="34" charset="0"/>
                  <a:buChar char="•"/>
                  <a:defRPr/>
                </a:pP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熟悉工具但缺乏业务洞察：掌握技术工具，但缺乏对业务第一性原理的理解</a:t>
                </a:r>
              </a:p>
              <a:p>
                <a:pPr marL="285750" indent="-285750" defTabSz="913765">
                  <a:lnSpc>
                    <a:spcPct val="130000"/>
                  </a:lnSpc>
                  <a:buSzPct val="100000"/>
                  <a:buFont typeface="Arial" panose="020B0604020202020204" pitchFamily="34" charset="0"/>
                  <a:buChar char="•"/>
                  <a:defRPr/>
                </a:pP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实现功能但缺乏价值优化：关注功能实现，缺乏业务价值最优化视角</a:t>
                </a:r>
                <a:endParaRPr kumimoji="0" lang="en-GB" altLang="zh-CN" sz="1400" b="1" i="0" u="none" strike="noStrike" kern="1200" cap="none" spc="0" normalizeH="0" baseline="0" noProof="0" dirty="0">
                  <a:ln>
                    <a:noFill/>
                  </a:ln>
                  <a:solidFill>
                    <a:schemeClr val="tx2">
                      <a:lumMod val="75000"/>
                      <a:lumOff val="25000"/>
                    </a:schemeClr>
                  </a:solidFill>
                  <a:effectLst/>
                  <a:uLnTx/>
                  <a:uFillTx/>
                  <a:latin typeface="+mj-ea"/>
                  <a:ea typeface="+mj-ea"/>
                  <a:cs typeface="+mn-cs"/>
                </a:endParaRPr>
              </a:p>
            </p:txBody>
          </p:sp>
        </p:grpSp>
      </p:grpSp>
      <p:sp>
        <p:nvSpPr>
          <p:cNvPr id="95" name="文本框 94">
            <a:extLst>
              <a:ext uri="{FF2B5EF4-FFF2-40B4-BE49-F238E27FC236}">
                <a16:creationId xmlns:a16="http://schemas.microsoft.com/office/drawing/2014/main" id="{7E9084BA-B8DD-AF1B-6CA0-8EA0265BAF19}"/>
              </a:ext>
            </a:extLst>
          </p:cNvPr>
          <p:cNvSpPr txBox="1"/>
          <p:nvPr/>
        </p:nvSpPr>
        <p:spPr>
          <a:xfrm>
            <a:off x="1713243" y="834013"/>
            <a:ext cx="7732208" cy="369332"/>
          </a:xfrm>
          <a:prstGeom prst="rect">
            <a:avLst/>
          </a:prstGeom>
          <a:noFill/>
        </p:spPr>
        <p:txBody>
          <a:bodyPr wrap="square" rtlCol="0">
            <a:spAutoFit/>
          </a:bodyPr>
          <a:lstStyle/>
          <a:p>
            <a:r>
              <a:rPr lang="zh-CN" altLang="en-US" b="1" dirty="0">
                <a:latin typeface="+mj-ea"/>
                <a:ea typeface="+mj-ea"/>
              </a:rPr>
              <a:t>业务专家和</a:t>
            </a:r>
            <a:r>
              <a:rPr lang="en-US" altLang="zh-CN" b="1" dirty="0">
                <a:latin typeface="+mj-ea"/>
                <a:ea typeface="+mj-ea"/>
              </a:rPr>
              <a:t>IT</a:t>
            </a:r>
            <a:r>
              <a:rPr lang="zh-CN" altLang="en-US" b="1" dirty="0">
                <a:latin typeface="+mj-ea"/>
                <a:ea typeface="+mj-ea"/>
              </a:rPr>
              <a:t>专家各自存在能力盲区，无法独立产出真正的业务方案</a:t>
            </a:r>
          </a:p>
        </p:txBody>
      </p:sp>
      <p:sp>
        <p:nvSpPr>
          <p:cNvPr id="96" name="文本框 95">
            <a:extLst>
              <a:ext uri="{FF2B5EF4-FFF2-40B4-BE49-F238E27FC236}">
                <a16:creationId xmlns:a16="http://schemas.microsoft.com/office/drawing/2014/main" id="{406D5FE6-BC68-5A1F-5106-DAF32C5DA751}"/>
              </a:ext>
            </a:extLst>
          </p:cNvPr>
          <p:cNvSpPr txBox="1"/>
          <p:nvPr/>
        </p:nvSpPr>
        <p:spPr>
          <a:xfrm>
            <a:off x="1174157" y="6112114"/>
            <a:ext cx="9843685" cy="369332"/>
          </a:xfrm>
          <a:prstGeom prst="rect">
            <a:avLst/>
          </a:prstGeom>
          <a:noFill/>
        </p:spPr>
        <p:txBody>
          <a:bodyPr wrap="square" rtlCol="0">
            <a:spAutoFit/>
          </a:bodyPr>
          <a:lstStyle/>
          <a:p>
            <a:r>
              <a:rPr lang="zh-CN" altLang="en-US" b="1" dirty="0">
                <a:latin typeface="+mj-ea"/>
                <a:ea typeface="+mj-ea"/>
              </a:rPr>
              <a:t>这种割裂导致企业投入重金却收效甚微，真正的业务方案需要超越这种割裂的“三位一体”能力</a:t>
            </a:r>
          </a:p>
        </p:txBody>
      </p:sp>
    </p:spTree>
    <p:extLst>
      <p:ext uri="{BB962C8B-B14F-4D97-AF65-F5344CB8AC3E}">
        <p14:creationId xmlns:p14="http://schemas.microsoft.com/office/powerpoint/2010/main" val="263966901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5EDCABE-4471-B4FE-8B1D-1FEC208AE04D}"/>
              </a:ext>
            </a:extLst>
          </p:cNvPr>
          <p:cNvSpPr>
            <a:spLocks noGrp="1"/>
          </p:cNvSpPr>
          <p:nvPr>
            <p:ph type="title"/>
          </p:nvPr>
        </p:nvSpPr>
        <p:spPr/>
        <p:txBody>
          <a:bodyPr/>
          <a:lstStyle/>
          <a:p>
            <a:r>
              <a:rPr lang="zh-CN" altLang="en-US" dirty="0"/>
              <a:t>三位一体的融合内化机制</a:t>
            </a:r>
          </a:p>
        </p:txBody>
      </p:sp>
      <p:pic>
        <p:nvPicPr>
          <p:cNvPr id="36" name="图片 35">
            <a:extLst>
              <a:ext uri="{FF2B5EF4-FFF2-40B4-BE49-F238E27FC236}">
                <a16:creationId xmlns:a16="http://schemas.microsoft.com/office/drawing/2014/main" id="{AA6BEF52-BBD0-5D3D-21C8-64DD553182A8}"/>
              </a:ext>
            </a:extLst>
          </p:cNvPr>
          <p:cNvPicPr>
            <a:picLocks noChangeAspect="1"/>
          </p:cNvPicPr>
          <p:nvPr/>
        </p:nvPicPr>
        <p:blipFill>
          <a:blip r:embed="rId2">
            <a:duotone>
              <a:prstClr val="black"/>
              <a:schemeClr val="accent2">
                <a:tint val="45000"/>
                <a:satMod val="400000"/>
              </a:schemeClr>
            </a:duotone>
          </a:blip>
          <a:stretch>
            <a:fillRect/>
          </a:stretch>
        </p:blipFill>
        <p:spPr>
          <a:xfrm>
            <a:off x="2423742" y="803564"/>
            <a:ext cx="6823696" cy="5810596"/>
          </a:xfrm>
          <a:prstGeom prst="rect">
            <a:avLst/>
          </a:prstGeom>
        </p:spPr>
      </p:pic>
    </p:spTree>
    <p:extLst>
      <p:ext uri="{BB962C8B-B14F-4D97-AF65-F5344CB8AC3E}">
        <p14:creationId xmlns:p14="http://schemas.microsoft.com/office/powerpoint/2010/main" val="318993938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1FC3948-6043-846D-D9DF-053A7ACFE068}"/>
              </a:ext>
            </a:extLst>
          </p:cNvPr>
          <p:cNvSpPr>
            <a:spLocks noGrp="1"/>
          </p:cNvSpPr>
          <p:nvPr>
            <p:ph type="title"/>
          </p:nvPr>
        </p:nvSpPr>
        <p:spPr/>
        <p:txBody>
          <a:bodyPr/>
          <a:lstStyle/>
          <a:p>
            <a:r>
              <a:rPr lang="zh-CN" altLang="en-US" dirty="0">
                <a:latin typeface="+mj-ea"/>
              </a:rPr>
              <a:t>获得最佳实践的方法论</a:t>
            </a:r>
          </a:p>
        </p:txBody>
      </p:sp>
      <p:grpSp>
        <p:nvGrpSpPr>
          <p:cNvPr id="5" name="组合 4">
            <a:extLst>
              <a:ext uri="{FF2B5EF4-FFF2-40B4-BE49-F238E27FC236}">
                <a16:creationId xmlns:a16="http://schemas.microsoft.com/office/drawing/2014/main" id="{A8114AC6-D733-5457-9B2B-E09752CDDD79}"/>
              </a:ext>
            </a:extLst>
          </p:cNvPr>
          <p:cNvGrpSpPr>
            <a:grpSpLocks noChangeAspect="1"/>
          </p:cNvGrpSpPr>
          <p:nvPr>
            <p:custDataLst>
              <p:tags r:id="rId1"/>
            </p:custDataLst>
          </p:nvPr>
        </p:nvGrpSpPr>
        <p:grpSpPr>
          <a:xfrm>
            <a:off x="471964" y="1385093"/>
            <a:ext cx="11396365" cy="4573098"/>
            <a:chOff x="696855" y="980742"/>
            <a:chExt cx="8784844" cy="4530268"/>
          </a:xfrm>
        </p:grpSpPr>
        <p:grpSp>
          <p:nvGrpSpPr>
            <p:cNvPr id="6" name="组合 5">
              <a:extLst>
                <a:ext uri="{FF2B5EF4-FFF2-40B4-BE49-F238E27FC236}">
                  <a16:creationId xmlns:a16="http://schemas.microsoft.com/office/drawing/2014/main" id="{D963E23C-FF25-A802-EC7A-5620F088495D}"/>
                </a:ext>
              </a:extLst>
            </p:cNvPr>
            <p:cNvGrpSpPr/>
            <p:nvPr/>
          </p:nvGrpSpPr>
          <p:grpSpPr>
            <a:xfrm>
              <a:off x="696855" y="1025150"/>
              <a:ext cx="2513330" cy="4264125"/>
              <a:chOff x="696855" y="1025150"/>
              <a:chExt cx="2513330" cy="4264125"/>
            </a:xfrm>
          </p:grpSpPr>
          <p:grpSp>
            <p:nvGrpSpPr>
              <p:cNvPr id="35" name="组合 34">
                <a:extLst>
                  <a:ext uri="{FF2B5EF4-FFF2-40B4-BE49-F238E27FC236}">
                    <a16:creationId xmlns:a16="http://schemas.microsoft.com/office/drawing/2014/main" id="{4FA4651F-DB45-842D-3E50-625F27CDEDD6}"/>
                  </a:ext>
                </a:extLst>
              </p:cNvPr>
              <p:cNvGrpSpPr/>
              <p:nvPr/>
            </p:nvGrpSpPr>
            <p:grpSpPr>
              <a:xfrm>
                <a:off x="1075794" y="2868312"/>
                <a:ext cx="1892166" cy="2420963"/>
                <a:chOff x="1386227" y="3136948"/>
                <a:chExt cx="1892166" cy="2420963"/>
              </a:xfrm>
            </p:grpSpPr>
            <p:sp>
              <p:nvSpPr>
                <p:cNvPr id="39" name="1">
                  <a:extLst>
                    <a:ext uri="{FF2B5EF4-FFF2-40B4-BE49-F238E27FC236}">
                      <a16:creationId xmlns:a16="http://schemas.microsoft.com/office/drawing/2014/main" id="{1E6EE5BC-CDBB-E307-567A-3A39F07F7A86}"/>
                    </a:ext>
                  </a:extLst>
                </p:cNvPr>
                <p:cNvSpPr/>
                <p:nvPr>
                  <p:custDataLst>
                    <p:tags r:id="rId20"/>
                  </p:custDataLst>
                </p:nvPr>
              </p:nvSpPr>
              <p:spPr bwMode="auto">
                <a:xfrm>
                  <a:off x="1386227" y="3136948"/>
                  <a:ext cx="1663083" cy="1121376"/>
                </a:xfrm>
                <a:custGeom>
                  <a:avLst/>
                  <a:gdLst>
                    <a:gd name="T0" fmla="*/ 445 w 657"/>
                    <a:gd name="T1" fmla="*/ 443 h 443"/>
                    <a:gd name="T2" fmla="*/ 0 w 657"/>
                    <a:gd name="T3" fmla="*/ 443 h 443"/>
                    <a:gd name="T4" fmla="*/ 211 w 657"/>
                    <a:gd name="T5" fmla="*/ 220 h 443"/>
                    <a:gd name="T6" fmla="*/ 0 w 657"/>
                    <a:gd name="T7" fmla="*/ 0 h 443"/>
                    <a:gd name="T8" fmla="*/ 445 w 657"/>
                    <a:gd name="T9" fmla="*/ 0 h 443"/>
                    <a:gd name="T10" fmla="*/ 657 w 657"/>
                    <a:gd name="T11" fmla="*/ 220 h 443"/>
                    <a:gd name="T12" fmla="*/ 445 w 657"/>
                    <a:gd name="T13" fmla="*/ 443 h 443"/>
                  </a:gdLst>
                  <a:ahLst/>
                  <a:cxnLst>
                    <a:cxn ang="0">
                      <a:pos x="T0" y="T1"/>
                    </a:cxn>
                    <a:cxn ang="0">
                      <a:pos x="T2" y="T3"/>
                    </a:cxn>
                    <a:cxn ang="0">
                      <a:pos x="T4" y="T5"/>
                    </a:cxn>
                    <a:cxn ang="0">
                      <a:pos x="T6" y="T7"/>
                    </a:cxn>
                    <a:cxn ang="0">
                      <a:pos x="T8" y="T9"/>
                    </a:cxn>
                    <a:cxn ang="0">
                      <a:pos x="T10" y="T11"/>
                    </a:cxn>
                    <a:cxn ang="0">
                      <a:pos x="T12" y="T13"/>
                    </a:cxn>
                  </a:cxnLst>
                  <a:rect l="0" t="0" r="r" b="b"/>
                  <a:pathLst>
                    <a:path w="657" h="443">
                      <a:moveTo>
                        <a:pt x="445" y="443"/>
                      </a:moveTo>
                      <a:lnTo>
                        <a:pt x="0" y="443"/>
                      </a:lnTo>
                      <a:lnTo>
                        <a:pt x="211" y="220"/>
                      </a:lnTo>
                      <a:lnTo>
                        <a:pt x="0" y="0"/>
                      </a:lnTo>
                      <a:lnTo>
                        <a:pt x="445" y="0"/>
                      </a:lnTo>
                      <a:lnTo>
                        <a:pt x="657" y="220"/>
                      </a:lnTo>
                      <a:lnTo>
                        <a:pt x="445" y="443"/>
                      </a:lnTo>
                      <a:close/>
                    </a:path>
                  </a:pathLst>
                </a:custGeom>
                <a:solidFill>
                  <a:schemeClr val="accent1"/>
                </a:solidFill>
                <a:ln>
                  <a:noFill/>
                </a:ln>
              </p:spPr>
              <p:txBody>
                <a:bodyPr vert="horz" wrap="square" lIns="162460" tIns="81231" rIns="162460" bIns="81231" numCol="1" anchor="ctr" anchorCtr="0" compatLnSpc="1"/>
                <a:lstStyle/>
                <a:p>
                  <a:pPr marL="0" marR="0" lvl="0" indent="0" algn="ctr" defTabSz="1624713" rtl="0" eaLnBrk="1" fontAlgn="auto" latinLnBrk="0" hangingPunct="1">
                    <a:lnSpc>
                      <a:spcPct val="100000"/>
                    </a:lnSpc>
                    <a:spcBef>
                      <a:spcPts val="0"/>
                    </a:spcBef>
                    <a:spcAft>
                      <a:spcPts val="0"/>
                    </a:spcAft>
                    <a:buClrTx/>
                    <a:buSzTx/>
                    <a:buFontTx/>
                    <a:buNone/>
                    <a:tabLst/>
                    <a:defRPr/>
                  </a:pPr>
                  <a:endParaRPr kumimoji="0" lang="zh-CN" altLang="en-US" sz="1773" b="0" i="0" u="none" strike="noStrike" kern="0" cap="none" spc="0" normalizeH="0" baseline="0" noProof="0">
                    <a:ln>
                      <a:noFill/>
                    </a:ln>
                    <a:solidFill>
                      <a:srgbClr val="4674C1"/>
                    </a:solidFill>
                    <a:effectLst/>
                    <a:uLnTx/>
                    <a:uFillTx/>
                    <a:latin typeface="微软雅黑" panose="020B0503020204020204" pitchFamily="34" charset="-122"/>
                    <a:ea typeface="微软雅黑" panose="020B0503020204020204" pitchFamily="34" charset="-122"/>
                    <a:cs typeface="+mn-cs"/>
                  </a:endParaRPr>
                </a:p>
              </p:txBody>
            </p:sp>
            <p:sp>
              <p:nvSpPr>
                <p:cNvPr id="40" name="1">
                  <a:extLst>
                    <a:ext uri="{FF2B5EF4-FFF2-40B4-BE49-F238E27FC236}">
                      <a16:creationId xmlns:a16="http://schemas.microsoft.com/office/drawing/2014/main" id="{B906A00C-FB0F-92EA-1DA3-38D7B90F8138}"/>
                    </a:ext>
                  </a:extLst>
                </p:cNvPr>
                <p:cNvSpPr/>
                <p:nvPr>
                  <p:custDataLst>
                    <p:tags r:id="rId21"/>
                  </p:custDataLst>
                </p:nvPr>
              </p:nvSpPr>
              <p:spPr bwMode="auto">
                <a:xfrm>
                  <a:off x="1508104" y="3136948"/>
                  <a:ext cx="1770289" cy="2420963"/>
                </a:xfrm>
                <a:custGeom>
                  <a:avLst/>
                  <a:gdLst>
                    <a:gd name="T0" fmla="*/ 205 w 419"/>
                    <a:gd name="T1" fmla="*/ 0 h 661"/>
                    <a:gd name="T2" fmla="*/ 419 w 419"/>
                    <a:gd name="T3" fmla="*/ 220 h 661"/>
                    <a:gd name="T4" fmla="*/ 0 w 419"/>
                    <a:gd name="T5" fmla="*/ 661 h 661"/>
                    <a:gd name="connsiteX0" fmla="*/ 11584 w 16691"/>
                    <a:gd name="connsiteY0" fmla="*/ 0 h 14469"/>
                    <a:gd name="connsiteX1" fmla="*/ 16691 w 16691"/>
                    <a:gd name="connsiteY1" fmla="*/ 3328 h 14469"/>
                    <a:gd name="connsiteX2" fmla="*/ 0 w 16691"/>
                    <a:gd name="connsiteY2" fmla="*/ 14469 h 14469"/>
                  </a:gdLst>
                  <a:ahLst/>
                  <a:cxnLst>
                    <a:cxn ang="0">
                      <a:pos x="connsiteX0" y="connsiteY0"/>
                    </a:cxn>
                    <a:cxn ang="0">
                      <a:pos x="connsiteX1" y="connsiteY1"/>
                    </a:cxn>
                    <a:cxn ang="0">
                      <a:pos x="connsiteX2" y="connsiteY2"/>
                    </a:cxn>
                  </a:cxnLst>
                  <a:rect l="l" t="t" r="r" b="b"/>
                  <a:pathLst>
                    <a:path w="16691" h="14469">
                      <a:moveTo>
                        <a:pt x="11584" y="0"/>
                      </a:moveTo>
                      <a:lnTo>
                        <a:pt x="16691" y="3328"/>
                      </a:lnTo>
                      <a:lnTo>
                        <a:pt x="0" y="14469"/>
                      </a:lnTo>
                    </a:path>
                  </a:pathLst>
                </a:custGeom>
                <a:noFill/>
                <a:ln w="34925" cap="flat">
                  <a:solidFill>
                    <a:schemeClr val="accent1"/>
                  </a:solidFill>
                  <a:prstDash val="solid"/>
                  <a:miter lim="800000"/>
                  <a:headEnd type="none"/>
                  <a:tailEnd type="none" w="sm" len="sm"/>
                </a:ln>
                <a:extLst>
                  <a:ext uri="{909E8E84-426E-40DD-AFC4-6F175D3DCCD1}">
                    <a14:hiddenFill xmlns:a14="http://schemas.microsoft.com/office/drawing/2010/main">
                      <a:solidFill>
                        <a:srgbClr val="FFFFFF"/>
                      </a:solidFill>
                    </a14:hiddenFill>
                  </a:ext>
                </a:extLst>
              </p:spPr>
              <p:txBody>
                <a:bodyPr vert="horz" wrap="square" lIns="162460" tIns="81231" rIns="162460" bIns="81231" numCol="1" anchor="t" anchorCtr="0" compatLnSpc="1"/>
                <a:lstStyle/>
                <a:p>
                  <a:pPr marL="0" marR="0" lvl="0" indent="0" algn="l" defTabSz="1624713" rtl="0" eaLnBrk="1" fontAlgn="auto" latinLnBrk="0" hangingPunct="1">
                    <a:lnSpc>
                      <a:spcPct val="100000"/>
                    </a:lnSpc>
                    <a:spcBef>
                      <a:spcPts val="0"/>
                    </a:spcBef>
                    <a:spcAft>
                      <a:spcPts val="0"/>
                    </a:spcAft>
                    <a:buClrTx/>
                    <a:buSzTx/>
                    <a:buFontTx/>
                    <a:buNone/>
                    <a:tabLst/>
                    <a:defRPr/>
                  </a:pPr>
                  <a:endParaRPr kumimoji="0" lang="zh-CN" altLang="en-US" sz="3200" b="0" i="0" u="none" strike="noStrike" kern="0" cap="none" spc="0" normalizeH="0" baseline="0" noProof="0">
                    <a:ln>
                      <a:noFill/>
                    </a:ln>
                    <a:solidFill>
                      <a:srgbClr val="4674C1"/>
                    </a:solidFill>
                    <a:effectLst/>
                    <a:uLnTx/>
                    <a:uFillTx/>
                    <a:latin typeface="微软雅黑" panose="020B0503020204020204" pitchFamily="34" charset="-122"/>
                    <a:ea typeface="微软雅黑" panose="020B0503020204020204" pitchFamily="34" charset="-122"/>
                    <a:cs typeface="+mn-cs"/>
                  </a:endParaRPr>
                </a:p>
              </p:txBody>
            </p:sp>
          </p:grpSp>
          <p:grpSp>
            <p:nvGrpSpPr>
              <p:cNvPr id="36" name="组合 35">
                <a:extLst>
                  <a:ext uri="{FF2B5EF4-FFF2-40B4-BE49-F238E27FC236}">
                    <a16:creationId xmlns:a16="http://schemas.microsoft.com/office/drawing/2014/main" id="{B65B7B00-8D70-6CD3-47A5-2FF38449C99C}"/>
                  </a:ext>
                </a:extLst>
              </p:cNvPr>
              <p:cNvGrpSpPr/>
              <p:nvPr/>
            </p:nvGrpSpPr>
            <p:grpSpPr>
              <a:xfrm>
                <a:off x="696855" y="1025150"/>
                <a:ext cx="2513330" cy="1482919"/>
                <a:chOff x="696855" y="1025150"/>
                <a:chExt cx="2513330" cy="1482919"/>
              </a:xfrm>
            </p:grpSpPr>
            <p:sp>
              <p:nvSpPr>
                <p:cNvPr id="37" name="Title-1">
                  <a:extLst>
                    <a:ext uri="{FF2B5EF4-FFF2-40B4-BE49-F238E27FC236}">
                      <a16:creationId xmlns:a16="http://schemas.microsoft.com/office/drawing/2014/main" id="{B0F22777-C032-C315-211B-BE54556B5F00}"/>
                    </a:ext>
                  </a:extLst>
                </p:cNvPr>
                <p:cNvSpPr txBox="1"/>
                <p:nvPr>
                  <p:custDataLst>
                    <p:tags r:id="rId18"/>
                  </p:custDataLst>
                </p:nvPr>
              </p:nvSpPr>
              <p:spPr>
                <a:xfrm>
                  <a:off x="944954" y="1025150"/>
                  <a:ext cx="2265231" cy="369332"/>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4674C1"/>
                      </a:solidFill>
                      <a:effectLst/>
                      <a:uLnTx/>
                      <a:uFillTx/>
                      <a:latin typeface="微软雅黑" panose="020B0503020204020204" pitchFamily="34" charset="-122"/>
                      <a:ea typeface="微软雅黑" panose="020B0503020204020204" pitchFamily="34" charset="-122"/>
                      <a:cs typeface="+mn-cs"/>
                    </a:rPr>
                    <a:t>学习（站在巨人肩上）：</a:t>
                  </a:r>
                </a:p>
              </p:txBody>
            </p:sp>
            <p:sp>
              <p:nvSpPr>
                <p:cNvPr id="38" name="Body-1">
                  <a:extLst>
                    <a:ext uri="{FF2B5EF4-FFF2-40B4-BE49-F238E27FC236}">
                      <a16:creationId xmlns:a16="http://schemas.microsoft.com/office/drawing/2014/main" id="{7B46702D-4E23-492E-4E3A-0B2DBFE1E541}"/>
                    </a:ext>
                  </a:extLst>
                </p:cNvPr>
                <p:cNvSpPr>
                  <a:spLocks/>
                </p:cNvSpPr>
                <p:nvPr>
                  <p:custDataLst>
                    <p:tags r:id="rId19"/>
                  </p:custDataLst>
                </p:nvPr>
              </p:nvSpPr>
              <p:spPr>
                <a:xfrm>
                  <a:off x="696855" y="1452989"/>
                  <a:ext cx="2219007" cy="10550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3765" rtl="0" eaLnBrk="1" fontAlgn="auto" latinLnBrk="0" hangingPunct="1">
                    <a:lnSpc>
                      <a:spcPct val="130000"/>
                    </a:lnSpc>
                    <a:spcBef>
                      <a:spcPts val="0"/>
                    </a:spcBef>
                    <a:spcAft>
                      <a:spcPts val="0"/>
                    </a:spcAft>
                    <a:buClrTx/>
                    <a:buSzPct val="100000"/>
                    <a:buFontTx/>
                    <a:buNone/>
                    <a:tabLst/>
                    <a:defRPr/>
                  </a:pPr>
                  <a:r>
                    <a:rPr kumimoji="0" lang="zh-CN" altLang="en-US" sz="12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需要解构</a:t>
                  </a:r>
                  <a:r>
                    <a:rPr lang="zh-CN" altLang="en-US" sz="1200" b="1" dirty="0">
                      <a:solidFill>
                        <a:srgbClr val="FFFFFF"/>
                      </a:solidFill>
                      <a:latin typeface="微软雅黑" panose="020B0503020204020204" pitchFamily="34" charset="-122"/>
                      <a:ea typeface="微软雅黑" panose="020B0503020204020204" pitchFamily="34" charset="-122"/>
                    </a:rPr>
                    <a:t>范式</a:t>
                  </a:r>
                  <a:r>
                    <a:rPr kumimoji="0" lang="zh-CN" altLang="en-US" sz="12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：系统学习并解析领先者（巨人）的核心‘数据模型’定义与‘业务算法’逻辑。</a:t>
                  </a:r>
                  <a:endParaRPr kumimoji="0" lang="en-GB" altLang="zh-CN" sz="12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grpSp>
        </p:grpSp>
        <p:grpSp>
          <p:nvGrpSpPr>
            <p:cNvPr id="7" name="组合 6">
              <a:extLst>
                <a:ext uri="{FF2B5EF4-FFF2-40B4-BE49-F238E27FC236}">
                  <a16:creationId xmlns:a16="http://schemas.microsoft.com/office/drawing/2014/main" id="{3679FD16-4300-D19F-6B5F-B93AFA295C15}"/>
                </a:ext>
              </a:extLst>
            </p:cNvPr>
            <p:cNvGrpSpPr/>
            <p:nvPr/>
          </p:nvGrpSpPr>
          <p:grpSpPr>
            <a:xfrm>
              <a:off x="3309433" y="986648"/>
              <a:ext cx="3189898" cy="4302627"/>
              <a:chOff x="3309433" y="986648"/>
              <a:chExt cx="3189898" cy="4302627"/>
            </a:xfrm>
          </p:grpSpPr>
          <p:grpSp>
            <p:nvGrpSpPr>
              <p:cNvPr id="29" name="组合 28">
                <a:extLst>
                  <a:ext uri="{FF2B5EF4-FFF2-40B4-BE49-F238E27FC236}">
                    <a16:creationId xmlns:a16="http://schemas.microsoft.com/office/drawing/2014/main" id="{921B363A-5150-2541-98F0-75D376AA3055}"/>
                  </a:ext>
                </a:extLst>
              </p:cNvPr>
              <p:cNvGrpSpPr/>
              <p:nvPr/>
            </p:nvGrpSpPr>
            <p:grpSpPr>
              <a:xfrm>
                <a:off x="4332663" y="2868312"/>
                <a:ext cx="1892166" cy="2420963"/>
                <a:chOff x="1386227" y="3136948"/>
                <a:chExt cx="1892166" cy="2420963"/>
              </a:xfrm>
            </p:grpSpPr>
            <p:sp>
              <p:nvSpPr>
                <p:cNvPr id="33" name="3">
                  <a:extLst>
                    <a:ext uri="{FF2B5EF4-FFF2-40B4-BE49-F238E27FC236}">
                      <a16:creationId xmlns:a16="http://schemas.microsoft.com/office/drawing/2014/main" id="{610B5DE9-8C34-16C5-A44A-5F38A11BEB21}"/>
                    </a:ext>
                  </a:extLst>
                </p:cNvPr>
                <p:cNvSpPr/>
                <p:nvPr>
                  <p:custDataLst>
                    <p:tags r:id="rId16"/>
                  </p:custDataLst>
                </p:nvPr>
              </p:nvSpPr>
              <p:spPr bwMode="auto">
                <a:xfrm>
                  <a:off x="1386227" y="3136948"/>
                  <a:ext cx="1663083" cy="1121376"/>
                </a:xfrm>
                <a:custGeom>
                  <a:avLst/>
                  <a:gdLst>
                    <a:gd name="T0" fmla="*/ 445 w 657"/>
                    <a:gd name="T1" fmla="*/ 443 h 443"/>
                    <a:gd name="T2" fmla="*/ 0 w 657"/>
                    <a:gd name="T3" fmla="*/ 443 h 443"/>
                    <a:gd name="T4" fmla="*/ 211 w 657"/>
                    <a:gd name="T5" fmla="*/ 220 h 443"/>
                    <a:gd name="T6" fmla="*/ 0 w 657"/>
                    <a:gd name="T7" fmla="*/ 0 h 443"/>
                    <a:gd name="T8" fmla="*/ 445 w 657"/>
                    <a:gd name="T9" fmla="*/ 0 h 443"/>
                    <a:gd name="T10" fmla="*/ 657 w 657"/>
                    <a:gd name="T11" fmla="*/ 220 h 443"/>
                    <a:gd name="T12" fmla="*/ 445 w 657"/>
                    <a:gd name="T13" fmla="*/ 443 h 443"/>
                  </a:gdLst>
                  <a:ahLst/>
                  <a:cxnLst>
                    <a:cxn ang="0">
                      <a:pos x="T0" y="T1"/>
                    </a:cxn>
                    <a:cxn ang="0">
                      <a:pos x="T2" y="T3"/>
                    </a:cxn>
                    <a:cxn ang="0">
                      <a:pos x="T4" y="T5"/>
                    </a:cxn>
                    <a:cxn ang="0">
                      <a:pos x="T6" y="T7"/>
                    </a:cxn>
                    <a:cxn ang="0">
                      <a:pos x="T8" y="T9"/>
                    </a:cxn>
                    <a:cxn ang="0">
                      <a:pos x="T10" y="T11"/>
                    </a:cxn>
                    <a:cxn ang="0">
                      <a:pos x="T12" y="T13"/>
                    </a:cxn>
                  </a:cxnLst>
                  <a:rect l="0" t="0" r="r" b="b"/>
                  <a:pathLst>
                    <a:path w="657" h="443">
                      <a:moveTo>
                        <a:pt x="445" y="443"/>
                      </a:moveTo>
                      <a:lnTo>
                        <a:pt x="0" y="443"/>
                      </a:lnTo>
                      <a:lnTo>
                        <a:pt x="211" y="220"/>
                      </a:lnTo>
                      <a:lnTo>
                        <a:pt x="0" y="0"/>
                      </a:lnTo>
                      <a:lnTo>
                        <a:pt x="445" y="0"/>
                      </a:lnTo>
                      <a:lnTo>
                        <a:pt x="657" y="220"/>
                      </a:lnTo>
                      <a:lnTo>
                        <a:pt x="445" y="443"/>
                      </a:lnTo>
                      <a:close/>
                    </a:path>
                  </a:pathLst>
                </a:custGeom>
                <a:solidFill>
                  <a:schemeClr val="accent3"/>
                </a:solidFill>
                <a:ln>
                  <a:noFill/>
                </a:ln>
              </p:spPr>
              <p:txBody>
                <a:bodyPr vert="horz" wrap="square" lIns="162460" tIns="81231" rIns="162460" bIns="81231" numCol="1" anchor="ctr" anchorCtr="0" compatLnSpc="1"/>
                <a:lstStyle/>
                <a:p>
                  <a:pPr marL="0" marR="0" lvl="0" indent="0" algn="ctr" defTabSz="1624713" rtl="0" eaLnBrk="1" fontAlgn="auto" latinLnBrk="0" hangingPunct="1">
                    <a:lnSpc>
                      <a:spcPct val="100000"/>
                    </a:lnSpc>
                    <a:spcBef>
                      <a:spcPts val="0"/>
                    </a:spcBef>
                    <a:spcAft>
                      <a:spcPts val="0"/>
                    </a:spcAft>
                    <a:buClrTx/>
                    <a:buSzTx/>
                    <a:buFontTx/>
                    <a:buNone/>
                    <a:tabLst/>
                    <a:defRPr/>
                  </a:pPr>
                  <a:endParaRPr kumimoji="0" lang="zh-CN" altLang="en-US" sz="1773" b="0" i="0" u="none" strike="noStrike" kern="0" cap="none" spc="0" normalizeH="0" baseline="0" noProof="0">
                    <a:ln>
                      <a:noFill/>
                    </a:ln>
                    <a:solidFill>
                      <a:srgbClr val="4674C1"/>
                    </a:solidFill>
                    <a:effectLst/>
                    <a:uLnTx/>
                    <a:uFillTx/>
                    <a:latin typeface="微软雅黑" panose="020B0503020204020204" pitchFamily="34" charset="-122"/>
                    <a:ea typeface="微软雅黑" panose="020B0503020204020204" pitchFamily="34" charset="-122"/>
                    <a:cs typeface="+mn-cs"/>
                  </a:endParaRPr>
                </a:p>
              </p:txBody>
            </p:sp>
            <p:sp>
              <p:nvSpPr>
                <p:cNvPr id="34" name="3">
                  <a:extLst>
                    <a:ext uri="{FF2B5EF4-FFF2-40B4-BE49-F238E27FC236}">
                      <a16:creationId xmlns:a16="http://schemas.microsoft.com/office/drawing/2014/main" id="{C065F77F-68AB-32BB-30F9-EBC35EA99521}"/>
                    </a:ext>
                  </a:extLst>
                </p:cNvPr>
                <p:cNvSpPr/>
                <p:nvPr>
                  <p:custDataLst>
                    <p:tags r:id="rId17"/>
                  </p:custDataLst>
                </p:nvPr>
              </p:nvSpPr>
              <p:spPr bwMode="auto">
                <a:xfrm>
                  <a:off x="1508104" y="3136948"/>
                  <a:ext cx="1770289" cy="2420963"/>
                </a:xfrm>
                <a:custGeom>
                  <a:avLst/>
                  <a:gdLst>
                    <a:gd name="T0" fmla="*/ 205 w 419"/>
                    <a:gd name="T1" fmla="*/ 0 h 661"/>
                    <a:gd name="T2" fmla="*/ 419 w 419"/>
                    <a:gd name="T3" fmla="*/ 220 h 661"/>
                    <a:gd name="T4" fmla="*/ 0 w 419"/>
                    <a:gd name="T5" fmla="*/ 661 h 661"/>
                    <a:gd name="connsiteX0" fmla="*/ 11584 w 16691"/>
                    <a:gd name="connsiteY0" fmla="*/ 0 h 14469"/>
                    <a:gd name="connsiteX1" fmla="*/ 16691 w 16691"/>
                    <a:gd name="connsiteY1" fmla="*/ 3328 h 14469"/>
                    <a:gd name="connsiteX2" fmla="*/ 0 w 16691"/>
                    <a:gd name="connsiteY2" fmla="*/ 14469 h 14469"/>
                  </a:gdLst>
                  <a:ahLst/>
                  <a:cxnLst>
                    <a:cxn ang="0">
                      <a:pos x="connsiteX0" y="connsiteY0"/>
                    </a:cxn>
                    <a:cxn ang="0">
                      <a:pos x="connsiteX1" y="connsiteY1"/>
                    </a:cxn>
                    <a:cxn ang="0">
                      <a:pos x="connsiteX2" y="connsiteY2"/>
                    </a:cxn>
                  </a:cxnLst>
                  <a:rect l="l" t="t" r="r" b="b"/>
                  <a:pathLst>
                    <a:path w="16691" h="14469">
                      <a:moveTo>
                        <a:pt x="11584" y="0"/>
                      </a:moveTo>
                      <a:lnTo>
                        <a:pt x="16691" y="3328"/>
                      </a:lnTo>
                      <a:lnTo>
                        <a:pt x="0" y="14469"/>
                      </a:lnTo>
                    </a:path>
                  </a:pathLst>
                </a:custGeom>
                <a:noFill/>
                <a:ln w="34925" cap="flat">
                  <a:solidFill>
                    <a:schemeClr val="accent3"/>
                  </a:solidFill>
                  <a:prstDash val="solid"/>
                  <a:miter lim="800000"/>
                  <a:headEnd type="none"/>
                  <a:tailEnd type="none" w="sm" len="sm"/>
                </a:ln>
                <a:extLst>
                  <a:ext uri="{909E8E84-426E-40DD-AFC4-6F175D3DCCD1}">
                    <a14:hiddenFill xmlns:a14="http://schemas.microsoft.com/office/drawing/2010/main">
                      <a:solidFill>
                        <a:srgbClr val="FFFFFF"/>
                      </a:solidFill>
                    </a14:hiddenFill>
                  </a:ext>
                </a:extLst>
              </p:spPr>
              <p:txBody>
                <a:bodyPr vert="horz" wrap="square" lIns="162460" tIns="81231" rIns="162460" bIns="81231" numCol="1" anchor="t" anchorCtr="0" compatLnSpc="1"/>
                <a:lstStyle/>
                <a:p>
                  <a:pPr marL="0" marR="0" lvl="0" indent="0" algn="l" defTabSz="1624713" rtl="0" eaLnBrk="1" fontAlgn="auto" latinLnBrk="0" hangingPunct="1">
                    <a:lnSpc>
                      <a:spcPct val="100000"/>
                    </a:lnSpc>
                    <a:spcBef>
                      <a:spcPts val="0"/>
                    </a:spcBef>
                    <a:spcAft>
                      <a:spcPts val="0"/>
                    </a:spcAft>
                    <a:buClrTx/>
                    <a:buSzTx/>
                    <a:buFontTx/>
                    <a:buNone/>
                    <a:tabLst/>
                    <a:defRPr/>
                  </a:pPr>
                  <a:endParaRPr kumimoji="0" lang="zh-CN" altLang="en-US" sz="3200" b="0" i="0" u="none" strike="noStrike" kern="0" cap="none" spc="0" normalizeH="0" baseline="0" noProof="0">
                    <a:ln>
                      <a:noFill/>
                    </a:ln>
                    <a:solidFill>
                      <a:srgbClr val="4674C1"/>
                    </a:solidFill>
                    <a:effectLst/>
                    <a:uLnTx/>
                    <a:uFillTx/>
                    <a:latin typeface="微软雅黑" panose="020B0503020204020204" pitchFamily="34" charset="-122"/>
                    <a:ea typeface="微软雅黑" panose="020B0503020204020204" pitchFamily="34" charset="-122"/>
                    <a:cs typeface="+mn-cs"/>
                  </a:endParaRPr>
                </a:p>
              </p:txBody>
            </p:sp>
          </p:grpSp>
          <p:grpSp>
            <p:nvGrpSpPr>
              <p:cNvPr id="30" name="组合 29">
                <a:extLst>
                  <a:ext uri="{FF2B5EF4-FFF2-40B4-BE49-F238E27FC236}">
                    <a16:creationId xmlns:a16="http://schemas.microsoft.com/office/drawing/2014/main" id="{5E7CFFC9-B903-218B-18FA-A2B6E11A8B37}"/>
                  </a:ext>
                </a:extLst>
              </p:cNvPr>
              <p:cNvGrpSpPr/>
              <p:nvPr/>
            </p:nvGrpSpPr>
            <p:grpSpPr>
              <a:xfrm>
                <a:off x="3309433" y="986648"/>
                <a:ext cx="3189898" cy="1506497"/>
                <a:chOff x="2878" y="986648"/>
                <a:chExt cx="3189898" cy="1506497"/>
              </a:xfrm>
            </p:grpSpPr>
            <p:sp>
              <p:nvSpPr>
                <p:cNvPr id="31" name="Title-3">
                  <a:extLst>
                    <a:ext uri="{FF2B5EF4-FFF2-40B4-BE49-F238E27FC236}">
                      <a16:creationId xmlns:a16="http://schemas.microsoft.com/office/drawing/2014/main" id="{F08FC243-7112-7664-0415-3019EB7A5EDE}"/>
                    </a:ext>
                  </a:extLst>
                </p:cNvPr>
                <p:cNvSpPr txBox="1"/>
                <p:nvPr>
                  <p:custDataLst>
                    <p:tags r:id="rId14"/>
                  </p:custDataLst>
                </p:nvPr>
              </p:nvSpPr>
              <p:spPr>
                <a:xfrm>
                  <a:off x="2878" y="986648"/>
                  <a:ext cx="3189898" cy="369332"/>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A5A5A5"/>
                      </a:solidFill>
                      <a:effectLst/>
                      <a:uLnTx/>
                      <a:uFillTx/>
                      <a:latin typeface="微软雅黑" panose="020B0503020204020204" pitchFamily="34" charset="-122"/>
                      <a:ea typeface="微软雅黑" panose="020B0503020204020204" pitchFamily="34" charset="-122"/>
                      <a:cs typeface="+mn-cs"/>
                    </a:rPr>
                    <a:t>迭代优化（数据分析与理论修正）：</a:t>
                  </a:r>
                </a:p>
              </p:txBody>
            </p:sp>
            <p:sp>
              <p:nvSpPr>
                <p:cNvPr id="32" name="Body-3">
                  <a:extLst>
                    <a:ext uri="{FF2B5EF4-FFF2-40B4-BE49-F238E27FC236}">
                      <a16:creationId xmlns:a16="http://schemas.microsoft.com/office/drawing/2014/main" id="{AD1307C2-7CA6-C05B-E65A-677A0B042E8A}"/>
                    </a:ext>
                  </a:extLst>
                </p:cNvPr>
                <p:cNvSpPr>
                  <a:spLocks/>
                </p:cNvSpPr>
                <p:nvPr>
                  <p:custDataLst>
                    <p:tags r:id="rId15"/>
                  </p:custDataLst>
                </p:nvPr>
              </p:nvSpPr>
              <p:spPr>
                <a:xfrm>
                  <a:off x="352597" y="1438065"/>
                  <a:ext cx="2336594" cy="10550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3765" rtl="0" eaLnBrk="1" fontAlgn="auto" latinLnBrk="0" hangingPunct="1">
                    <a:lnSpc>
                      <a:spcPct val="130000"/>
                    </a:lnSpc>
                    <a:spcBef>
                      <a:spcPts val="0"/>
                    </a:spcBef>
                    <a:spcAft>
                      <a:spcPts val="0"/>
                    </a:spcAft>
                    <a:buClrTx/>
                    <a:buSzPct val="100000"/>
                    <a:buFontTx/>
                    <a:buNone/>
                    <a:tabLst/>
                    <a:defRPr/>
                  </a:pPr>
                  <a:r>
                    <a:rPr kumimoji="0" lang="zh-CN" altLang="en-US" sz="12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反馈校准：基于实践反馈数据，持续迭代和优化‘数据模型’的精度与‘业务算法’的参数与逻辑</a:t>
                  </a:r>
                  <a:endParaRPr kumimoji="0" lang="en-GB" altLang="zh-CN" sz="12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grpSp>
        </p:grpSp>
        <p:grpSp>
          <p:nvGrpSpPr>
            <p:cNvPr id="8" name="组合 7">
              <a:extLst>
                <a:ext uri="{FF2B5EF4-FFF2-40B4-BE49-F238E27FC236}">
                  <a16:creationId xmlns:a16="http://schemas.microsoft.com/office/drawing/2014/main" id="{78A03CF3-A343-AA04-40F3-C490845E85B6}"/>
                </a:ext>
              </a:extLst>
            </p:cNvPr>
            <p:cNvGrpSpPr/>
            <p:nvPr/>
          </p:nvGrpSpPr>
          <p:grpSpPr>
            <a:xfrm>
              <a:off x="7165872" y="980742"/>
              <a:ext cx="2315827" cy="4308533"/>
              <a:chOff x="7165872" y="980742"/>
              <a:chExt cx="2315827" cy="4308533"/>
            </a:xfrm>
          </p:grpSpPr>
          <p:grpSp>
            <p:nvGrpSpPr>
              <p:cNvPr id="23" name="组合 22">
                <a:extLst>
                  <a:ext uri="{FF2B5EF4-FFF2-40B4-BE49-F238E27FC236}">
                    <a16:creationId xmlns:a16="http://schemas.microsoft.com/office/drawing/2014/main" id="{047449BD-2B04-0157-7CC4-E080F0FD756B}"/>
                  </a:ext>
                </a:extLst>
              </p:cNvPr>
              <p:cNvGrpSpPr/>
              <p:nvPr/>
            </p:nvGrpSpPr>
            <p:grpSpPr>
              <a:xfrm>
                <a:off x="7589533" y="2868312"/>
                <a:ext cx="1892166" cy="2420963"/>
                <a:chOff x="1386227" y="3136948"/>
                <a:chExt cx="1892166" cy="2420963"/>
              </a:xfrm>
            </p:grpSpPr>
            <p:sp>
              <p:nvSpPr>
                <p:cNvPr id="27" name="5">
                  <a:extLst>
                    <a:ext uri="{FF2B5EF4-FFF2-40B4-BE49-F238E27FC236}">
                      <a16:creationId xmlns:a16="http://schemas.microsoft.com/office/drawing/2014/main" id="{A9B606B7-E3F2-FAE9-E5E4-81C29ED5C72F}"/>
                    </a:ext>
                  </a:extLst>
                </p:cNvPr>
                <p:cNvSpPr/>
                <p:nvPr>
                  <p:custDataLst>
                    <p:tags r:id="rId12"/>
                  </p:custDataLst>
                </p:nvPr>
              </p:nvSpPr>
              <p:spPr bwMode="auto">
                <a:xfrm>
                  <a:off x="1386227" y="3136948"/>
                  <a:ext cx="1663083" cy="1121376"/>
                </a:xfrm>
                <a:custGeom>
                  <a:avLst/>
                  <a:gdLst>
                    <a:gd name="T0" fmla="*/ 445 w 657"/>
                    <a:gd name="T1" fmla="*/ 443 h 443"/>
                    <a:gd name="T2" fmla="*/ 0 w 657"/>
                    <a:gd name="T3" fmla="*/ 443 h 443"/>
                    <a:gd name="T4" fmla="*/ 211 w 657"/>
                    <a:gd name="T5" fmla="*/ 220 h 443"/>
                    <a:gd name="T6" fmla="*/ 0 w 657"/>
                    <a:gd name="T7" fmla="*/ 0 h 443"/>
                    <a:gd name="T8" fmla="*/ 445 w 657"/>
                    <a:gd name="T9" fmla="*/ 0 h 443"/>
                    <a:gd name="T10" fmla="*/ 657 w 657"/>
                    <a:gd name="T11" fmla="*/ 220 h 443"/>
                    <a:gd name="T12" fmla="*/ 445 w 657"/>
                    <a:gd name="T13" fmla="*/ 443 h 443"/>
                  </a:gdLst>
                  <a:ahLst/>
                  <a:cxnLst>
                    <a:cxn ang="0">
                      <a:pos x="T0" y="T1"/>
                    </a:cxn>
                    <a:cxn ang="0">
                      <a:pos x="T2" y="T3"/>
                    </a:cxn>
                    <a:cxn ang="0">
                      <a:pos x="T4" y="T5"/>
                    </a:cxn>
                    <a:cxn ang="0">
                      <a:pos x="T6" y="T7"/>
                    </a:cxn>
                    <a:cxn ang="0">
                      <a:pos x="T8" y="T9"/>
                    </a:cxn>
                    <a:cxn ang="0">
                      <a:pos x="T10" y="T11"/>
                    </a:cxn>
                    <a:cxn ang="0">
                      <a:pos x="T12" y="T13"/>
                    </a:cxn>
                  </a:cxnLst>
                  <a:rect l="0" t="0" r="r" b="b"/>
                  <a:pathLst>
                    <a:path w="657" h="443">
                      <a:moveTo>
                        <a:pt x="445" y="443"/>
                      </a:moveTo>
                      <a:lnTo>
                        <a:pt x="0" y="443"/>
                      </a:lnTo>
                      <a:lnTo>
                        <a:pt x="211" y="220"/>
                      </a:lnTo>
                      <a:lnTo>
                        <a:pt x="0" y="0"/>
                      </a:lnTo>
                      <a:lnTo>
                        <a:pt x="445" y="0"/>
                      </a:lnTo>
                      <a:lnTo>
                        <a:pt x="657" y="220"/>
                      </a:lnTo>
                      <a:lnTo>
                        <a:pt x="445" y="443"/>
                      </a:lnTo>
                      <a:close/>
                    </a:path>
                  </a:pathLst>
                </a:custGeom>
                <a:solidFill>
                  <a:schemeClr val="accent5"/>
                </a:solidFill>
                <a:ln>
                  <a:noFill/>
                </a:ln>
              </p:spPr>
              <p:txBody>
                <a:bodyPr vert="horz" wrap="square" lIns="162460" tIns="81231" rIns="162460" bIns="81231" numCol="1" anchor="ctr" anchorCtr="0" compatLnSpc="1"/>
                <a:lstStyle/>
                <a:p>
                  <a:pPr marL="0" marR="0" lvl="0" indent="0" algn="ctr" defTabSz="1624713" rtl="0" eaLnBrk="1" fontAlgn="auto" latinLnBrk="0" hangingPunct="1">
                    <a:lnSpc>
                      <a:spcPct val="100000"/>
                    </a:lnSpc>
                    <a:spcBef>
                      <a:spcPts val="0"/>
                    </a:spcBef>
                    <a:spcAft>
                      <a:spcPts val="0"/>
                    </a:spcAft>
                    <a:buClrTx/>
                    <a:buSzTx/>
                    <a:buFontTx/>
                    <a:buNone/>
                    <a:tabLst/>
                    <a:defRPr/>
                  </a:pPr>
                  <a:endParaRPr kumimoji="0" lang="zh-CN" altLang="en-US" sz="1773" b="0" i="0" u="none" strike="noStrike" kern="0" cap="none" spc="0" normalizeH="0" baseline="0" noProof="0">
                    <a:ln>
                      <a:noFill/>
                    </a:ln>
                    <a:solidFill>
                      <a:srgbClr val="4674C1"/>
                    </a:solidFill>
                    <a:effectLst/>
                    <a:uLnTx/>
                    <a:uFillTx/>
                    <a:latin typeface="微软雅黑" panose="020B0503020204020204" pitchFamily="34" charset="-122"/>
                    <a:ea typeface="微软雅黑" panose="020B0503020204020204" pitchFamily="34" charset="-122"/>
                    <a:cs typeface="+mn-cs"/>
                  </a:endParaRPr>
                </a:p>
              </p:txBody>
            </p:sp>
            <p:sp>
              <p:nvSpPr>
                <p:cNvPr id="28" name="5">
                  <a:extLst>
                    <a:ext uri="{FF2B5EF4-FFF2-40B4-BE49-F238E27FC236}">
                      <a16:creationId xmlns:a16="http://schemas.microsoft.com/office/drawing/2014/main" id="{01840012-664F-8E0A-16E4-0297D548FFA6}"/>
                    </a:ext>
                  </a:extLst>
                </p:cNvPr>
                <p:cNvSpPr/>
                <p:nvPr>
                  <p:custDataLst>
                    <p:tags r:id="rId13"/>
                  </p:custDataLst>
                </p:nvPr>
              </p:nvSpPr>
              <p:spPr bwMode="auto">
                <a:xfrm>
                  <a:off x="1508104" y="3136948"/>
                  <a:ext cx="1770289" cy="2420963"/>
                </a:xfrm>
                <a:custGeom>
                  <a:avLst/>
                  <a:gdLst>
                    <a:gd name="T0" fmla="*/ 205 w 419"/>
                    <a:gd name="T1" fmla="*/ 0 h 661"/>
                    <a:gd name="T2" fmla="*/ 419 w 419"/>
                    <a:gd name="T3" fmla="*/ 220 h 661"/>
                    <a:gd name="T4" fmla="*/ 0 w 419"/>
                    <a:gd name="T5" fmla="*/ 661 h 661"/>
                    <a:gd name="connsiteX0" fmla="*/ 11584 w 16691"/>
                    <a:gd name="connsiteY0" fmla="*/ 0 h 14469"/>
                    <a:gd name="connsiteX1" fmla="*/ 16691 w 16691"/>
                    <a:gd name="connsiteY1" fmla="*/ 3328 h 14469"/>
                    <a:gd name="connsiteX2" fmla="*/ 0 w 16691"/>
                    <a:gd name="connsiteY2" fmla="*/ 14469 h 14469"/>
                  </a:gdLst>
                  <a:ahLst/>
                  <a:cxnLst>
                    <a:cxn ang="0">
                      <a:pos x="connsiteX0" y="connsiteY0"/>
                    </a:cxn>
                    <a:cxn ang="0">
                      <a:pos x="connsiteX1" y="connsiteY1"/>
                    </a:cxn>
                    <a:cxn ang="0">
                      <a:pos x="connsiteX2" y="connsiteY2"/>
                    </a:cxn>
                  </a:cxnLst>
                  <a:rect l="l" t="t" r="r" b="b"/>
                  <a:pathLst>
                    <a:path w="16691" h="14469">
                      <a:moveTo>
                        <a:pt x="11584" y="0"/>
                      </a:moveTo>
                      <a:lnTo>
                        <a:pt x="16691" y="3328"/>
                      </a:lnTo>
                      <a:lnTo>
                        <a:pt x="0" y="14469"/>
                      </a:lnTo>
                    </a:path>
                  </a:pathLst>
                </a:custGeom>
                <a:noFill/>
                <a:ln w="34925" cap="flat">
                  <a:solidFill>
                    <a:schemeClr val="accent5"/>
                  </a:solidFill>
                  <a:prstDash val="solid"/>
                  <a:miter lim="800000"/>
                  <a:headEnd type="none"/>
                  <a:tailEnd type="none" w="sm" len="sm"/>
                </a:ln>
                <a:extLst>
                  <a:ext uri="{909E8E84-426E-40DD-AFC4-6F175D3DCCD1}">
                    <a14:hiddenFill xmlns:a14="http://schemas.microsoft.com/office/drawing/2010/main">
                      <a:solidFill>
                        <a:srgbClr val="FFFFFF"/>
                      </a:solidFill>
                    </a14:hiddenFill>
                  </a:ext>
                </a:extLst>
              </p:spPr>
              <p:txBody>
                <a:bodyPr vert="horz" wrap="square" lIns="162460" tIns="81231" rIns="162460" bIns="81231" numCol="1" anchor="t" anchorCtr="0" compatLnSpc="1"/>
                <a:lstStyle/>
                <a:p>
                  <a:pPr marL="0" marR="0" lvl="0" indent="0" algn="l" defTabSz="1624713" rtl="0" eaLnBrk="1" fontAlgn="auto" latinLnBrk="0" hangingPunct="1">
                    <a:lnSpc>
                      <a:spcPct val="100000"/>
                    </a:lnSpc>
                    <a:spcBef>
                      <a:spcPts val="0"/>
                    </a:spcBef>
                    <a:spcAft>
                      <a:spcPts val="0"/>
                    </a:spcAft>
                    <a:buClrTx/>
                    <a:buSzTx/>
                    <a:buFontTx/>
                    <a:buNone/>
                    <a:tabLst/>
                    <a:defRPr/>
                  </a:pPr>
                  <a:endParaRPr kumimoji="0" lang="zh-CN" altLang="en-US" sz="3200" b="0" i="0" u="none" strike="noStrike" kern="0" cap="none" spc="0" normalizeH="0" baseline="0" noProof="0">
                    <a:ln>
                      <a:noFill/>
                    </a:ln>
                    <a:solidFill>
                      <a:srgbClr val="4674C1"/>
                    </a:solidFill>
                    <a:effectLst/>
                    <a:uLnTx/>
                    <a:uFillTx/>
                    <a:latin typeface="微软雅黑" panose="020B0503020204020204" pitchFamily="34" charset="-122"/>
                    <a:ea typeface="微软雅黑" panose="020B0503020204020204" pitchFamily="34" charset="-122"/>
                    <a:cs typeface="+mn-cs"/>
                  </a:endParaRPr>
                </a:p>
              </p:txBody>
            </p:sp>
          </p:grpSp>
          <p:grpSp>
            <p:nvGrpSpPr>
              <p:cNvPr id="24" name="组合 23">
                <a:extLst>
                  <a:ext uri="{FF2B5EF4-FFF2-40B4-BE49-F238E27FC236}">
                    <a16:creationId xmlns:a16="http://schemas.microsoft.com/office/drawing/2014/main" id="{C1932785-BC76-900D-197B-277EFE3F231E}"/>
                  </a:ext>
                </a:extLst>
              </p:cNvPr>
              <p:cNvGrpSpPr/>
              <p:nvPr/>
            </p:nvGrpSpPr>
            <p:grpSpPr>
              <a:xfrm>
                <a:off x="7165872" y="980742"/>
                <a:ext cx="2086743" cy="1481381"/>
                <a:chOff x="566352" y="980742"/>
                <a:chExt cx="2086743" cy="1481381"/>
              </a:xfrm>
            </p:grpSpPr>
            <p:sp>
              <p:nvSpPr>
                <p:cNvPr id="25" name="Title-5">
                  <a:extLst>
                    <a:ext uri="{FF2B5EF4-FFF2-40B4-BE49-F238E27FC236}">
                      <a16:creationId xmlns:a16="http://schemas.microsoft.com/office/drawing/2014/main" id="{6FDE1F9C-D069-BDBD-072C-4A4680BA72C3}"/>
                    </a:ext>
                  </a:extLst>
                </p:cNvPr>
                <p:cNvSpPr txBox="1"/>
                <p:nvPr>
                  <p:custDataLst>
                    <p:tags r:id="rId10"/>
                  </p:custDataLst>
                </p:nvPr>
              </p:nvSpPr>
              <p:spPr>
                <a:xfrm>
                  <a:off x="566352" y="980742"/>
                  <a:ext cx="2023006" cy="369332"/>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5D9CD3"/>
                      </a:solidFill>
                      <a:effectLst/>
                      <a:uLnTx/>
                      <a:uFillTx/>
                      <a:latin typeface="微软雅黑" panose="020B0503020204020204" pitchFamily="34" charset="-122"/>
                      <a:ea typeface="微软雅黑" panose="020B0503020204020204" pitchFamily="34" charset="-122"/>
                      <a:cs typeface="+mn-cs"/>
                    </a:rPr>
                    <a:t>超越（范式革命）：</a:t>
                  </a:r>
                </a:p>
              </p:txBody>
            </p:sp>
            <p:sp>
              <p:nvSpPr>
                <p:cNvPr id="26" name="Body-5">
                  <a:extLst>
                    <a:ext uri="{FF2B5EF4-FFF2-40B4-BE49-F238E27FC236}">
                      <a16:creationId xmlns:a16="http://schemas.microsoft.com/office/drawing/2014/main" id="{3A4894B2-83EC-A77E-BD84-F87C5DF59718}"/>
                    </a:ext>
                  </a:extLst>
                </p:cNvPr>
                <p:cNvSpPr>
                  <a:spLocks/>
                </p:cNvSpPr>
                <p:nvPr>
                  <p:custDataLst>
                    <p:tags r:id="rId11"/>
                  </p:custDataLst>
                </p:nvPr>
              </p:nvSpPr>
              <p:spPr>
                <a:xfrm>
                  <a:off x="630089" y="1407043"/>
                  <a:ext cx="2023006" cy="10550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3765" rtl="0" eaLnBrk="1" fontAlgn="auto" latinLnBrk="0" hangingPunct="1">
                    <a:lnSpc>
                      <a:spcPct val="130000"/>
                    </a:lnSpc>
                    <a:spcBef>
                      <a:spcPts val="0"/>
                    </a:spcBef>
                    <a:spcAft>
                      <a:spcPts val="0"/>
                    </a:spcAft>
                    <a:buClrTx/>
                    <a:buSzPct val="100000"/>
                    <a:buFontTx/>
                    <a:buNone/>
                    <a:tabLst/>
                    <a:defRPr/>
                  </a:pPr>
                  <a:r>
                    <a:rPr kumimoji="0" lang="zh-CN" altLang="en-US" sz="12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树立新标：将经过验证的创新‘内核’体系化、产品化，成为行业新的最佳实践标杆</a:t>
                  </a:r>
                  <a:endParaRPr kumimoji="0" lang="en-GB" altLang="zh-CN" sz="12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grpSp>
        </p:grpSp>
        <p:grpSp>
          <p:nvGrpSpPr>
            <p:cNvPr id="9" name="组合 8">
              <a:extLst>
                <a:ext uri="{FF2B5EF4-FFF2-40B4-BE49-F238E27FC236}">
                  <a16:creationId xmlns:a16="http://schemas.microsoft.com/office/drawing/2014/main" id="{21995F26-6487-81EE-3886-0475C1520E4B}"/>
                </a:ext>
              </a:extLst>
            </p:cNvPr>
            <p:cNvGrpSpPr/>
            <p:nvPr/>
          </p:nvGrpSpPr>
          <p:grpSpPr>
            <a:xfrm>
              <a:off x="2089352" y="1568725"/>
              <a:ext cx="2521318" cy="3856472"/>
              <a:chOff x="2089352" y="1568725"/>
              <a:chExt cx="2521318" cy="3856472"/>
            </a:xfrm>
          </p:grpSpPr>
          <p:grpSp>
            <p:nvGrpSpPr>
              <p:cNvPr id="17" name="组合 16">
                <a:extLst>
                  <a:ext uri="{FF2B5EF4-FFF2-40B4-BE49-F238E27FC236}">
                    <a16:creationId xmlns:a16="http://schemas.microsoft.com/office/drawing/2014/main" id="{DD094A70-72EE-A414-AB52-738E81018501}"/>
                  </a:ext>
                </a:extLst>
              </p:cNvPr>
              <p:cNvGrpSpPr/>
              <p:nvPr/>
            </p:nvGrpSpPr>
            <p:grpSpPr>
              <a:xfrm flipV="1">
                <a:off x="2710302" y="1568725"/>
                <a:ext cx="1892166" cy="2420963"/>
                <a:chOff x="1386227" y="3136948"/>
                <a:chExt cx="1892166" cy="2420963"/>
              </a:xfrm>
            </p:grpSpPr>
            <p:sp>
              <p:nvSpPr>
                <p:cNvPr id="21" name="2">
                  <a:extLst>
                    <a:ext uri="{FF2B5EF4-FFF2-40B4-BE49-F238E27FC236}">
                      <a16:creationId xmlns:a16="http://schemas.microsoft.com/office/drawing/2014/main" id="{E95EF0A4-811D-A000-EB6F-5EBDAFE931C9}"/>
                    </a:ext>
                  </a:extLst>
                </p:cNvPr>
                <p:cNvSpPr/>
                <p:nvPr>
                  <p:custDataLst>
                    <p:tags r:id="rId8"/>
                  </p:custDataLst>
                </p:nvPr>
              </p:nvSpPr>
              <p:spPr bwMode="auto">
                <a:xfrm>
                  <a:off x="1386227" y="3136948"/>
                  <a:ext cx="1663083" cy="1121376"/>
                </a:xfrm>
                <a:custGeom>
                  <a:avLst/>
                  <a:gdLst>
                    <a:gd name="T0" fmla="*/ 445 w 657"/>
                    <a:gd name="T1" fmla="*/ 443 h 443"/>
                    <a:gd name="T2" fmla="*/ 0 w 657"/>
                    <a:gd name="T3" fmla="*/ 443 h 443"/>
                    <a:gd name="T4" fmla="*/ 211 w 657"/>
                    <a:gd name="T5" fmla="*/ 220 h 443"/>
                    <a:gd name="T6" fmla="*/ 0 w 657"/>
                    <a:gd name="T7" fmla="*/ 0 h 443"/>
                    <a:gd name="T8" fmla="*/ 445 w 657"/>
                    <a:gd name="T9" fmla="*/ 0 h 443"/>
                    <a:gd name="T10" fmla="*/ 657 w 657"/>
                    <a:gd name="T11" fmla="*/ 220 h 443"/>
                    <a:gd name="T12" fmla="*/ 445 w 657"/>
                    <a:gd name="T13" fmla="*/ 443 h 443"/>
                  </a:gdLst>
                  <a:ahLst/>
                  <a:cxnLst>
                    <a:cxn ang="0">
                      <a:pos x="T0" y="T1"/>
                    </a:cxn>
                    <a:cxn ang="0">
                      <a:pos x="T2" y="T3"/>
                    </a:cxn>
                    <a:cxn ang="0">
                      <a:pos x="T4" y="T5"/>
                    </a:cxn>
                    <a:cxn ang="0">
                      <a:pos x="T6" y="T7"/>
                    </a:cxn>
                    <a:cxn ang="0">
                      <a:pos x="T8" y="T9"/>
                    </a:cxn>
                    <a:cxn ang="0">
                      <a:pos x="T10" y="T11"/>
                    </a:cxn>
                    <a:cxn ang="0">
                      <a:pos x="T12" y="T13"/>
                    </a:cxn>
                  </a:cxnLst>
                  <a:rect l="0" t="0" r="r" b="b"/>
                  <a:pathLst>
                    <a:path w="657" h="443">
                      <a:moveTo>
                        <a:pt x="445" y="443"/>
                      </a:moveTo>
                      <a:lnTo>
                        <a:pt x="0" y="443"/>
                      </a:lnTo>
                      <a:lnTo>
                        <a:pt x="211" y="220"/>
                      </a:lnTo>
                      <a:lnTo>
                        <a:pt x="0" y="0"/>
                      </a:lnTo>
                      <a:lnTo>
                        <a:pt x="445" y="0"/>
                      </a:lnTo>
                      <a:lnTo>
                        <a:pt x="657" y="220"/>
                      </a:lnTo>
                      <a:lnTo>
                        <a:pt x="445" y="443"/>
                      </a:lnTo>
                      <a:close/>
                    </a:path>
                  </a:pathLst>
                </a:custGeom>
                <a:solidFill>
                  <a:schemeClr val="accent2"/>
                </a:solidFill>
                <a:ln>
                  <a:noFill/>
                </a:ln>
              </p:spPr>
              <p:txBody>
                <a:bodyPr vert="horz" wrap="square" lIns="162460" tIns="81231" rIns="162460" bIns="81231" numCol="1" anchor="ctr" anchorCtr="0" compatLnSpc="1"/>
                <a:lstStyle/>
                <a:p>
                  <a:pPr marL="0" marR="0" lvl="0" indent="0" algn="ctr" defTabSz="1624713" rtl="0" eaLnBrk="1" fontAlgn="auto" latinLnBrk="0" hangingPunct="1">
                    <a:lnSpc>
                      <a:spcPct val="100000"/>
                    </a:lnSpc>
                    <a:spcBef>
                      <a:spcPts val="0"/>
                    </a:spcBef>
                    <a:spcAft>
                      <a:spcPts val="0"/>
                    </a:spcAft>
                    <a:buClrTx/>
                    <a:buSzTx/>
                    <a:buFontTx/>
                    <a:buNone/>
                    <a:tabLst/>
                    <a:defRPr/>
                  </a:pPr>
                  <a:endParaRPr kumimoji="0" lang="zh-CN" altLang="en-US" sz="1773" b="0" i="0" u="none" strike="noStrike" kern="0" cap="none" spc="0" normalizeH="0" baseline="0" noProof="0">
                    <a:ln>
                      <a:noFill/>
                    </a:ln>
                    <a:solidFill>
                      <a:srgbClr val="4674C1"/>
                    </a:solidFill>
                    <a:effectLst/>
                    <a:uLnTx/>
                    <a:uFillTx/>
                    <a:latin typeface="微软雅黑" panose="020B0503020204020204" pitchFamily="34" charset="-122"/>
                    <a:ea typeface="微软雅黑" panose="020B0503020204020204" pitchFamily="34" charset="-122"/>
                    <a:cs typeface="+mn-cs"/>
                  </a:endParaRPr>
                </a:p>
              </p:txBody>
            </p:sp>
            <p:sp>
              <p:nvSpPr>
                <p:cNvPr id="22" name="2">
                  <a:extLst>
                    <a:ext uri="{FF2B5EF4-FFF2-40B4-BE49-F238E27FC236}">
                      <a16:creationId xmlns:a16="http://schemas.microsoft.com/office/drawing/2014/main" id="{05ACC851-5C97-F702-9CBC-E20CA5290778}"/>
                    </a:ext>
                  </a:extLst>
                </p:cNvPr>
                <p:cNvSpPr/>
                <p:nvPr>
                  <p:custDataLst>
                    <p:tags r:id="rId9"/>
                  </p:custDataLst>
                </p:nvPr>
              </p:nvSpPr>
              <p:spPr bwMode="auto">
                <a:xfrm>
                  <a:off x="1508104" y="3136948"/>
                  <a:ext cx="1770289" cy="2420963"/>
                </a:xfrm>
                <a:custGeom>
                  <a:avLst/>
                  <a:gdLst>
                    <a:gd name="T0" fmla="*/ 205 w 419"/>
                    <a:gd name="T1" fmla="*/ 0 h 661"/>
                    <a:gd name="T2" fmla="*/ 419 w 419"/>
                    <a:gd name="T3" fmla="*/ 220 h 661"/>
                    <a:gd name="T4" fmla="*/ 0 w 419"/>
                    <a:gd name="T5" fmla="*/ 661 h 661"/>
                    <a:gd name="connsiteX0" fmla="*/ 11584 w 16691"/>
                    <a:gd name="connsiteY0" fmla="*/ 0 h 14469"/>
                    <a:gd name="connsiteX1" fmla="*/ 16691 w 16691"/>
                    <a:gd name="connsiteY1" fmla="*/ 3328 h 14469"/>
                    <a:gd name="connsiteX2" fmla="*/ 0 w 16691"/>
                    <a:gd name="connsiteY2" fmla="*/ 14469 h 14469"/>
                  </a:gdLst>
                  <a:ahLst/>
                  <a:cxnLst>
                    <a:cxn ang="0">
                      <a:pos x="connsiteX0" y="connsiteY0"/>
                    </a:cxn>
                    <a:cxn ang="0">
                      <a:pos x="connsiteX1" y="connsiteY1"/>
                    </a:cxn>
                    <a:cxn ang="0">
                      <a:pos x="connsiteX2" y="connsiteY2"/>
                    </a:cxn>
                  </a:cxnLst>
                  <a:rect l="l" t="t" r="r" b="b"/>
                  <a:pathLst>
                    <a:path w="16691" h="14469">
                      <a:moveTo>
                        <a:pt x="11584" y="0"/>
                      </a:moveTo>
                      <a:lnTo>
                        <a:pt x="16691" y="3328"/>
                      </a:lnTo>
                      <a:lnTo>
                        <a:pt x="0" y="14469"/>
                      </a:lnTo>
                    </a:path>
                  </a:pathLst>
                </a:custGeom>
                <a:noFill/>
                <a:ln w="34925" cap="flat">
                  <a:solidFill>
                    <a:schemeClr val="accent2"/>
                  </a:solidFill>
                  <a:prstDash val="solid"/>
                  <a:miter lim="800000"/>
                  <a:headEnd type="none"/>
                  <a:tailEnd type="none" w="sm" len="sm"/>
                </a:ln>
                <a:extLst>
                  <a:ext uri="{909E8E84-426E-40DD-AFC4-6F175D3DCCD1}">
                    <a14:hiddenFill xmlns:a14="http://schemas.microsoft.com/office/drawing/2010/main">
                      <a:solidFill>
                        <a:srgbClr val="FFFFFF"/>
                      </a:solidFill>
                    </a14:hiddenFill>
                  </a:ext>
                </a:extLst>
              </p:spPr>
              <p:txBody>
                <a:bodyPr vert="horz" wrap="square" lIns="162460" tIns="81231" rIns="162460" bIns="81231" numCol="1" anchor="t" anchorCtr="0" compatLnSpc="1"/>
                <a:lstStyle/>
                <a:p>
                  <a:pPr marL="0" marR="0" lvl="0" indent="0" algn="l" defTabSz="1624713" rtl="0" eaLnBrk="1" fontAlgn="auto" latinLnBrk="0" hangingPunct="1">
                    <a:lnSpc>
                      <a:spcPct val="100000"/>
                    </a:lnSpc>
                    <a:spcBef>
                      <a:spcPts val="0"/>
                    </a:spcBef>
                    <a:spcAft>
                      <a:spcPts val="0"/>
                    </a:spcAft>
                    <a:buClrTx/>
                    <a:buSzTx/>
                    <a:buFontTx/>
                    <a:buNone/>
                    <a:tabLst/>
                    <a:defRPr/>
                  </a:pPr>
                  <a:endParaRPr kumimoji="0" lang="zh-CN" altLang="en-US" sz="3200" b="0" i="0" u="none" strike="noStrike" kern="0" cap="none" spc="0" normalizeH="0" baseline="0" noProof="0">
                    <a:ln>
                      <a:noFill/>
                    </a:ln>
                    <a:solidFill>
                      <a:srgbClr val="4674C1"/>
                    </a:solidFill>
                    <a:effectLst/>
                    <a:uLnTx/>
                    <a:uFillTx/>
                    <a:latin typeface="微软雅黑" panose="020B0503020204020204" pitchFamily="34" charset="-122"/>
                    <a:ea typeface="微软雅黑" panose="020B0503020204020204" pitchFamily="34" charset="-122"/>
                    <a:cs typeface="+mn-cs"/>
                  </a:endParaRPr>
                </a:p>
              </p:txBody>
            </p:sp>
          </p:grpSp>
          <p:grpSp>
            <p:nvGrpSpPr>
              <p:cNvPr id="18" name="组合 17">
                <a:extLst>
                  <a:ext uri="{FF2B5EF4-FFF2-40B4-BE49-F238E27FC236}">
                    <a16:creationId xmlns:a16="http://schemas.microsoft.com/office/drawing/2014/main" id="{774EC6FF-11AC-39F2-4363-6F40F4CCAA30}"/>
                  </a:ext>
                </a:extLst>
              </p:cNvPr>
              <p:cNvGrpSpPr/>
              <p:nvPr/>
            </p:nvGrpSpPr>
            <p:grpSpPr>
              <a:xfrm>
                <a:off x="2089352" y="4120347"/>
                <a:ext cx="2521318" cy="1304850"/>
                <a:chOff x="446641" y="1566094"/>
                <a:chExt cx="2521318" cy="1304850"/>
              </a:xfrm>
            </p:grpSpPr>
            <p:sp>
              <p:nvSpPr>
                <p:cNvPr id="19" name="Title-2">
                  <a:extLst>
                    <a:ext uri="{FF2B5EF4-FFF2-40B4-BE49-F238E27FC236}">
                      <a16:creationId xmlns:a16="http://schemas.microsoft.com/office/drawing/2014/main" id="{CC8911E7-80E2-D5F7-CBB0-B50B97B56E52}"/>
                    </a:ext>
                  </a:extLst>
                </p:cNvPr>
                <p:cNvSpPr txBox="1"/>
                <p:nvPr>
                  <p:custDataLst>
                    <p:tags r:id="rId6"/>
                  </p:custDataLst>
                </p:nvPr>
              </p:nvSpPr>
              <p:spPr>
                <a:xfrm>
                  <a:off x="944953" y="1566094"/>
                  <a:ext cx="2023006" cy="369332"/>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EB7E3B"/>
                      </a:solidFill>
                      <a:effectLst/>
                      <a:uLnTx/>
                      <a:uFillTx/>
                      <a:latin typeface="微软雅黑" panose="020B0503020204020204" pitchFamily="34" charset="-122"/>
                      <a:ea typeface="微软雅黑" panose="020B0503020204020204" pitchFamily="34" charset="-122"/>
                      <a:cs typeface="+mn-cs"/>
                    </a:rPr>
                    <a:t>实践（实验与观察）：</a:t>
                  </a:r>
                </a:p>
              </p:txBody>
            </p:sp>
            <p:sp>
              <p:nvSpPr>
                <p:cNvPr id="20" name="Body-2">
                  <a:extLst>
                    <a:ext uri="{FF2B5EF4-FFF2-40B4-BE49-F238E27FC236}">
                      <a16:creationId xmlns:a16="http://schemas.microsoft.com/office/drawing/2014/main" id="{354EFC72-3E1E-0246-9C60-CCC60BE90D25}"/>
                    </a:ext>
                  </a:extLst>
                </p:cNvPr>
                <p:cNvSpPr>
                  <a:spLocks/>
                </p:cNvSpPr>
                <p:nvPr>
                  <p:custDataLst>
                    <p:tags r:id="rId7"/>
                  </p:custDataLst>
                </p:nvPr>
              </p:nvSpPr>
              <p:spPr>
                <a:xfrm>
                  <a:off x="446641" y="1815864"/>
                  <a:ext cx="2440162" cy="10550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3765" rtl="0" eaLnBrk="1" fontAlgn="auto" latinLnBrk="0" hangingPunct="1">
                    <a:lnSpc>
                      <a:spcPct val="130000"/>
                    </a:lnSpc>
                    <a:spcBef>
                      <a:spcPts val="0"/>
                    </a:spcBef>
                    <a:spcAft>
                      <a:spcPts val="0"/>
                    </a:spcAft>
                    <a:buClrTx/>
                    <a:buSzPct val="100000"/>
                    <a:buFontTx/>
                    <a:buNone/>
                    <a:tabLst/>
                    <a:defRPr/>
                  </a:pPr>
                  <a:r>
                    <a:rPr kumimoji="0" lang="zh-CN" altLang="en-US" sz="12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需要本土化验证：在真实业务场景中测试、验证并校准借鉴而来的‘数据模型’与‘业务算法’的有效性。</a:t>
                  </a:r>
                  <a:endParaRPr kumimoji="0" lang="en-GB" altLang="zh-CN" sz="12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grpSp>
        </p:grpSp>
        <p:grpSp>
          <p:nvGrpSpPr>
            <p:cNvPr id="10" name="组合 9">
              <a:extLst>
                <a:ext uri="{FF2B5EF4-FFF2-40B4-BE49-F238E27FC236}">
                  <a16:creationId xmlns:a16="http://schemas.microsoft.com/office/drawing/2014/main" id="{DF444F6C-9AC8-55F4-62BE-0E97442FD3C6}"/>
                </a:ext>
              </a:extLst>
            </p:cNvPr>
            <p:cNvGrpSpPr/>
            <p:nvPr/>
          </p:nvGrpSpPr>
          <p:grpSpPr>
            <a:xfrm>
              <a:off x="5203334" y="1568725"/>
              <a:ext cx="2713891" cy="3942285"/>
              <a:chOff x="5203334" y="1568725"/>
              <a:chExt cx="2713891" cy="3942285"/>
            </a:xfrm>
          </p:grpSpPr>
          <p:grpSp>
            <p:nvGrpSpPr>
              <p:cNvPr id="11" name="组合 10">
                <a:extLst>
                  <a:ext uri="{FF2B5EF4-FFF2-40B4-BE49-F238E27FC236}">
                    <a16:creationId xmlns:a16="http://schemas.microsoft.com/office/drawing/2014/main" id="{5266160A-40F7-44E8-5BF8-774B8014AF75}"/>
                  </a:ext>
                </a:extLst>
              </p:cNvPr>
              <p:cNvGrpSpPr/>
              <p:nvPr/>
            </p:nvGrpSpPr>
            <p:grpSpPr>
              <a:xfrm flipV="1">
                <a:off x="5967171" y="1568725"/>
                <a:ext cx="1892166" cy="2420963"/>
                <a:chOff x="1386227" y="3136948"/>
                <a:chExt cx="1892166" cy="2420963"/>
              </a:xfrm>
            </p:grpSpPr>
            <p:sp>
              <p:nvSpPr>
                <p:cNvPr id="15" name="4">
                  <a:extLst>
                    <a:ext uri="{FF2B5EF4-FFF2-40B4-BE49-F238E27FC236}">
                      <a16:creationId xmlns:a16="http://schemas.microsoft.com/office/drawing/2014/main" id="{68118429-F1A2-CDC9-DAE6-D6F910BD705D}"/>
                    </a:ext>
                  </a:extLst>
                </p:cNvPr>
                <p:cNvSpPr/>
                <p:nvPr>
                  <p:custDataLst>
                    <p:tags r:id="rId4"/>
                  </p:custDataLst>
                </p:nvPr>
              </p:nvSpPr>
              <p:spPr bwMode="auto">
                <a:xfrm>
                  <a:off x="1386227" y="3136948"/>
                  <a:ext cx="1663083" cy="1121376"/>
                </a:xfrm>
                <a:custGeom>
                  <a:avLst/>
                  <a:gdLst>
                    <a:gd name="T0" fmla="*/ 445 w 657"/>
                    <a:gd name="T1" fmla="*/ 443 h 443"/>
                    <a:gd name="T2" fmla="*/ 0 w 657"/>
                    <a:gd name="T3" fmla="*/ 443 h 443"/>
                    <a:gd name="T4" fmla="*/ 211 w 657"/>
                    <a:gd name="T5" fmla="*/ 220 h 443"/>
                    <a:gd name="T6" fmla="*/ 0 w 657"/>
                    <a:gd name="T7" fmla="*/ 0 h 443"/>
                    <a:gd name="T8" fmla="*/ 445 w 657"/>
                    <a:gd name="T9" fmla="*/ 0 h 443"/>
                    <a:gd name="T10" fmla="*/ 657 w 657"/>
                    <a:gd name="T11" fmla="*/ 220 h 443"/>
                    <a:gd name="T12" fmla="*/ 445 w 657"/>
                    <a:gd name="T13" fmla="*/ 443 h 443"/>
                  </a:gdLst>
                  <a:ahLst/>
                  <a:cxnLst>
                    <a:cxn ang="0">
                      <a:pos x="T0" y="T1"/>
                    </a:cxn>
                    <a:cxn ang="0">
                      <a:pos x="T2" y="T3"/>
                    </a:cxn>
                    <a:cxn ang="0">
                      <a:pos x="T4" y="T5"/>
                    </a:cxn>
                    <a:cxn ang="0">
                      <a:pos x="T6" y="T7"/>
                    </a:cxn>
                    <a:cxn ang="0">
                      <a:pos x="T8" y="T9"/>
                    </a:cxn>
                    <a:cxn ang="0">
                      <a:pos x="T10" y="T11"/>
                    </a:cxn>
                    <a:cxn ang="0">
                      <a:pos x="T12" y="T13"/>
                    </a:cxn>
                  </a:cxnLst>
                  <a:rect l="0" t="0" r="r" b="b"/>
                  <a:pathLst>
                    <a:path w="657" h="443">
                      <a:moveTo>
                        <a:pt x="445" y="443"/>
                      </a:moveTo>
                      <a:lnTo>
                        <a:pt x="0" y="443"/>
                      </a:lnTo>
                      <a:lnTo>
                        <a:pt x="211" y="220"/>
                      </a:lnTo>
                      <a:lnTo>
                        <a:pt x="0" y="0"/>
                      </a:lnTo>
                      <a:lnTo>
                        <a:pt x="445" y="0"/>
                      </a:lnTo>
                      <a:lnTo>
                        <a:pt x="657" y="220"/>
                      </a:lnTo>
                      <a:lnTo>
                        <a:pt x="445" y="443"/>
                      </a:lnTo>
                      <a:close/>
                    </a:path>
                  </a:pathLst>
                </a:custGeom>
                <a:solidFill>
                  <a:schemeClr val="accent4"/>
                </a:solidFill>
                <a:ln>
                  <a:noFill/>
                </a:ln>
              </p:spPr>
              <p:txBody>
                <a:bodyPr vert="horz" wrap="square" lIns="162460" tIns="81231" rIns="162460" bIns="81231" numCol="1" anchor="ctr" anchorCtr="0" compatLnSpc="1"/>
                <a:lstStyle/>
                <a:p>
                  <a:pPr marL="0" marR="0" lvl="0" indent="0" algn="ctr" defTabSz="1624713" rtl="0" eaLnBrk="1" fontAlgn="auto" latinLnBrk="0" hangingPunct="1">
                    <a:lnSpc>
                      <a:spcPct val="100000"/>
                    </a:lnSpc>
                    <a:spcBef>
                      <a:spcPts val="0"/>
                    </a:spcBef>
                    <a:spcAft>
                      <a:spcPts val="0"/>
                    </a:spcAft>
                    <a:buClrTx/>
                    <a:buSzTx/>
                    <a:buFontTx/>
                    <a:buNone/>
                    <a:tabLst/>
                    <a:defRPr/>
                  </a:pPr>
                  <a:endParaRPr kumimoji="0" lang="zh-CN" altLang="en-US" sz="1773" b="0" i="0" u="none" strike="noStrike" kern="0" cap="none" spc="0" normalizeH="0" baseline="0" noProof="0">
                    <a:ln>
                      <a:noFill/>
                    </a:ln>
                    <a:solidFill>
                      <a:srgbClr val="4674C1"/>
                    </a:solidFill>
                    <a:effectLst/>
                    <a:uLnTx/>
                    <a:uFillTx/>
                    <a:latin typeface="微软雅黑" panose="020B0503020204020204" pitchFamily="34" charset="-122"/>
                    <a:ea typeface="微软雅黑" panose="020B0503020204020204" pitchFamily="34" charset="-122"/>
                    <a:cs typeface="+mn-cs"/>
                  </a:endParaRPr>
                </a:p>
              </p:txBody>
            </p:sp>
            <p:sp>
              <p:nvSpPr>
                <p:cNvPr id="16" name="4">
                  <a:extLst>
                    <a:ext uri="{FF2B5EF4-FFF2-40B4-BE49-F238E27FC236}">
                      <a16:creationId xmlns:a16="http://schemas.microsoft.com/office/drawing/2014/main" id="{7452D56B-4717-425F-469A-0B5B4BD3A93E}"/>
                    </a:ext>
                  </a:extLst>
                </p:cNvPr>
                <p:cNvSpPr/>
                <p:nvPr>
                  <p:custDataLst>
                    <p:tags r:id="rId5"/>
                  </p:custDataLst>
                </p:nvPr>
              </p:nvSpPr>
              <p:spPr bwMode="auto">
                <a:xfrm>
                  <a:off x="1508104" y="3136948"/>
                  <a:ext cx="1770289" cy="2420963"/>
                </a:xfrm>
                <a:custGeom>
                  <a:avLst/>
                  <a:gdLst>
                    <a:gd name="T0" fmla="*/ 205 w 419"/>
                    <a:gd name="T1" fmla="*/ 0 h 661"/>
                    <a:gd name="T2" fmla="*/ 419 w 419"/>
                    <a:gd name="T3" fmla="*/ 220 h 661"/>
                    <a:gd name="T4" fmla="*/ 0 w 419"/>
                    <a:gd name="T5" fmla="*/ 661 h 661"/>
                    <a:gd name="connsiteX0" fmla="*/ 11584 w 16691"/>
                    <a:gd name="connsiteY0" fmla="*/ 0 h 14469"/>
                    <a:gd name="connsiteX1" fmla="*/ 16691 w 16691"/>
                    <a:gd name="connsiteY1" fmla="*/ 3328 h 14469"/>
                    <a:gd name="connsiteX2" fmla="*/ 0 w 16691"/>
                    <a:gd name="connsiteY2" fmla="*/ 14469 h 14469"/>
                  </a:gdLst>
                  <a:ahLst/>
                  <a:cxnLst>
                    <a:cxn ang="0">
                      <a:pos x="connsiteX0" y="connsiteY0"/>
                    </a:cxn>
                    <a:cxn ang="0">
                      <a:pos x="connsiteX1" y="connsiteY1"/>
                    </a:cxn>
                    <a:cxn ang="0">
                      <a:pos x="connsiteX2" y="connsiteY2"/>
                    </a:cxn>
                  </a:cxnLst>
                  <a:rect l="l" t="t" r="r" b="b"/>
                  <a:pathLst>
                    <a:path w="16691" h="14469">
                      <a:moveTo>
                        <a:pt x="11584" y="0"/>
                      </a:moveTo>
                      <a:lnTo>
                        <a:pt x="16691" y="3328"/>
                      </a:lnTo>
                      <a:lnTo>
                        <a:pt x="0" y="14469"/>
                      </a:lnTo>
                    </a:path>
                  </a:pathLst>
                </a:custGeom>
                <a:noFill/>
                <a:ln w="34925" cap="flat">
                  <a:solidFill>
                    <a:schemeClr val="accent4"/>
                  </a:solidFill>
                  <a:prstDash val="solid"/>
                  <a:miter lim="800000"/>
                  <a:headEnd type="none"/>
                  <a:tailEnd type="none" w="sm" len="sm"/>
                </a:ln>
                <a:extLst>
                  <a:ext uri="{909E8E84-426E-40DD-AFC4-6F175D3DCCD1}">
                    <a14:hiddenFill xmlns:a14="http://schemas.microsoft.com/office/drawing/2010/main">
                      <a:solidFill>
                        <a:srgbClr val="FFFFFF"/>
                      </a:solidFill>
                    </a14:hiddenFill>
                  </a:ext>
                </a:extLst>
              </p:spPr>
              <p:txBody>
                <a:bodyPr vert="horz" wrap="square" lIns="162460" tIns="81231" rIns="162460" bIns="81231" numCol="1" anchor="t" anchorCtr="0" compatLnSpc="1"/>
                <a:lstStyle/>
                <a:p>
                  <a:pPr marL="0" marR="0" lvl="0" indent="0" algn="l" defTabSz="1624713" rtl="0" eaLnBrk="1" fontAlgn="auto" latinLnBrk="0" hangingPunct="1">
                    <a:lnSpc>
                      <a:spcPct val="100000"/>
                    </a:lnSpc>
                    <a:spcBef>
                      <a:spcPts val="0"/>
                    </a:spcBef>
                    <a:spcAft>
                      <a:spcPts val="0"/>
                    </a:spcAft>
                    <a:buClrTx/>
                    <a:buSzTx/>
                    <a:buFontTx/>
                    <a:buNone/>
                    <a:tabLst/>
                    <a:defRPr/>
                  </a:pPr>
                  <a:endParaRPr kumimoji="0" lang="zh-CN" altLang="en-US" sz="3200" b="0" i="0" u="none" strike="noStrike" kern="0" cap="none" spc="0" normalizeH="0" baseline="0" noProof="0">
                    <a:ln>
                      <a:noFill/>
                    </a:ln>
                    <a:solidFill>
                      <a:srgbClr val="4674C1"/>
                    </a:solidFill>
                    <a:effectLst/>
                    <a:uLnTx/>
                    <a:uFillTx/>
                    <a:latin typeface="微软雅黑" panose="020B0503020204020204" pitchFamily="34" charset="-122"/>
                    <a:ea typeface="微软雅黑" panose="020B0503020204020204" pitchFamily="34" charset="-122"/>
                    <a:cs typeface="+mn-cs"/>
                  </a:endParaRPr>
                </a:p>
              </p:txBody>
            </p:sp>
          </p:grpSp>
          <p:grpSp>
            <p:nvGrpSpPr>
              <p:cNvPr id="12" name="组合 11">
                <a:extLst>
                  <a:ext uri="{FF2B5EF4-FFF2-40B4-BE49-F238E27FC236}">
                    <a16:creationId xmlns:a16="http://schemas.microsoft.com/office/drawing/2014/main" id="{EEA4DBA2-1447-55A8-90FC-9267E013BFAD}"/>
                  </a:ext>
                </a:extLst>
              </p:cNvPr>
              <p:cNvGrpSpPr/>
              <p:nvPr/>
            </p:nvGrpSpPr>
            <p:grpSpPr>
              <a:xfrm>
                <a:off x="5203334" y="4120347"/>
                <a:ext cx="2713891" cy="1390663"/>
                <a:chOff x="254068" y="1566094"/>
                <a:chExt cx="2713891" cy="1390663"/>
              </a:xfrm>
            </p:grpSpPr>
            <p:sp>
              <p:nvSpPr>
                <p:cNvPr id="13" name="Title-4">
                  <a:extLst>
                    <a:ext uri="{FF2B5EF4-FFF2-40B4-BE49-F238E27FC236}">
                      <a16:creationId xmlns:a16="http://schemas.microsoft.com/office/drawing/2014/main" id="{631F9E08-171D-C918-16C5-8F623988407B}"/>
                    </a:ext>
                  </a:extLst>
                </p:cNvPr>
                <p:cNvSpPr txBox="1"/>
                <p:nvPr>
                  <p:custDataLst>
                    <p:tags r:id="rId2"/>
                  </p:custDataLst>
                </p:nvPr>
              </p:nvSpPr>
              <p:spPr>
                <a:xfrm>
                  <a:off x="569010" y="1566094"/>
                  <a:ext cx="2398949" cy="369332"/>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FDBF2E"/>
                      </a:solidFill>
                      <a:effectLst/>
                      <a:uLnTx/>
                      <a:uFillTx/>
                      <a:latin typeface="微软雅黑" panose="020B0503020204020204" pitchFamily="34" charset="-122"/>
                      <a:ea typeface="微软雅黑" panose="020B0503020204020204" pitchFamily="34" charset="-122"/>
                      <a:cs typeface="+mn-cs"/>
                    </a:rPr>
                    <a:t>创新（提出新理论</a:t>
                  </a:r>
                  <a:r>
                    <a:rPr kumimoji="0" lang="en-US" altLang="zh-CN" sz="1600" b="1" i="0" u="none" strike="noStrike" kern="1200" cap="none" spc="0" normalizeH="0" baseline="0" noProof="0" dirty="0">
                      <a:ln>
                        <a:noFill/>
                      </a:ln>
                      <a:solidFill>
                        <a:srgbClr val="FDBF2E"/>
                      </a:solidFill>
                      <a:effectLst/>
                      <a:uLnTx/>
                      <a:uFillTx/>
                      <a:latin typeface="微软雅黑" panose="020B0503020204020204" pitchFamily="34" charset="-122"/>
                      <a:ea typeface="微软雅黑" panose="020B0503020204020204" pitchFamily="34" charset="-122"/>
                      <a:cs typeface="+mn-cs"/>
                    </a:rPr>
                    <a:t>/</a:t>
                  </a:r>
                  <a:r>
                    <a:rPr kumimoji="0" lang="zh-CN" altLang="en-US" sz="1600" b="1" i="0" u="none" strike="noStrike" kern="1200" cap="none" spc="0" normalizeH="0" baseline="0" noProof="0" dirty="0">
                      <a:ln>
                        <a:noFill/>
                      </a:ln>
                      <a:solidFill>
                        <a:srgbClr val="FDBF2E"/>
                      </a:solidFill>
                      <a:effectLst/>
                      <a:uLnTx/>
                      <a:uFillTx/>
                      <a:latin typeface="微软雅黑" panose="020B0503020204020204" pitchFamily="34" charset="-122"/>
                      <a:ea typeface="微软雅黑" panose="020B0503020204020204" pitchFamily="34" charset="-122"/>
                      <a:cs typeface="+mn-cs"/>
                    </a:rPr>
                    <a:t>新方法）：</a:t>
                  </a:r>
                </a:p>
              </p:txBody>
            </p:sp>
            <p:sp>
              <p:nvSpPr>
                <p:cNvPr id="14" name="Body-4">
                  <a:extLst>
                    <a:ext uri="{FF2B5EF4-FFF2-40B4-BE49-F238E27FC236}">
                      <a16:creationId xmlns:a16="http://schemas.microsoft.com/office/drawing/2014/main" id="{5618C71B-BBCF-C297-E559-D4A9C06005E7}"/>
                    </a:ext>
                  </a:extLst>
                </p:cNvPr>
                <p:cNvSpPr>
                  <a:spLocks/>
                </p:cNvSpPr>
                <p:nvPr>
                  <p:custDataLst>
                    <p:tags r:id="rId3"/>
                  </p:custDataLst>
                </p:nvPr>
              </p:nvSpPr>
              <p:spPr>
                <a:xfrm>
                  <a:off x="254068" y="1901677"/>
                  <a:ext cx="2713891" cy="10550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3765" rtl="0" eaLnBrk="1" fontAlgn="auto" latinLnBrk="0" hangingPunct="1">
                    <a:lnSpc>
                      <a:spcPct val="130000"/>
                    </a:lnSpc>
                    <a:spcBef>
                      <a:spcPts val="0"/>
                    </a:spcBef>
                    <a:spcAft>
                      <a:spcPts val="0"/>
                    </a:spcAft>
                    <a:buClrTx/>
                    <a:buSzPct val="100000"/>
                    <a:buFontTx/>
                    <a:buNone/>
                    <a:tabLst/>
                    <a:defRPr/>
                  </a:pPr>
                  <a:r>
                    <a:rPr kumimoji="0" lang="zh-CN" altLang="en-US" sz="12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范式创新：结合独特业务洞察，突破原有框架，研发更具竞争力的新‘数据模型’或新‘业务算法’。</a:t>
                  </a:r>
                  <a:endParaRPr kumimoji="0" lang="en-GB" altLang="zh-CN" sz="12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grpSp>
        </p:grpSp>
      </p:grpSp>
    </p:spTree>
    <p:extLst>
      <p:ext uri="{BB962C8B-B14F-4D97-AF65-F5344CB8AC3E}">
        <p14:creationId xmlns:p14="http://schemas.microsoft.com/office/powerpoint/2010/main" val="325044904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1FC3948-6043-846D-D9DF-053A7ACFE068}"/>
              </a:ext>
            </a:extLst>
          </p:cNvPr>
          <p:cNvSpPr>
            <a:spLocks noGrp="1"/>
          </p:cNvSpPr>
          <p:nvPr>
            <p:ph type="title"/>
          </p:nvPr>
        </p:nvSpPr>
        <p:spPr/>
        <p:txBody>
          <a:bodyPr/>
          <a:lstStyle/>
          <a:p>
            <a:r>
              <a:rPr lang="zh-CN" altLang="en-US" dirty="0">
                <a:latin typeface="+mj-ea"/>
              </a:rPr>
              <a:t>获得最佳实践的方法论</a:t>
            </a:r>
          </a:p>
        </p:txBody>
      </p:sp>
      <p:grpSp>
        <p:nvGrpSpPr>
          <p:cNvPr id="3" name="组合 2">
            <a:extLst>
              <a:ext uri="{FF2B5EF4-FFF2-40B4-BE49-F238E27FC236}">
                <a16:creationId xmlns:a16="http://schemas.microsoft.com/office/drawing/2014/main" id="{C5944EEA-89FA-2E84-6B8B-80AB04BC0AA6}"/>
              </a:ext>
            </a:extLst>
          </p:cNvPr>
          <p:cNvGrpSpPr>
            <a:grpSpLocks noChangeAspect="1"/>
          </p:cNvGrpSpPr>
          <p:nvPr>
            <p:custDataLst>
              <p:tags r:id="rId1"/>
            </p:custDataLst>
          </p:nvPr>
        </p:nvGrpSpPr>
        <p:grpSpPr>
          <a:xfrm>
            <a:off x="659628" y="1124350"/>
            <a:ext cx="11472607" cy="5398705"/>
            <a:chOff x="574088" y="1148532"/>
            <a:chExt cx="11472607" cy="5398705"/>
          </a:xfrm>
        </p:grpSpPr>
        <p:grpSp>
          <p:nvGrpSpPr>
            <p:cNvPr id="4" name="组合 3">
              <a:extLst>
                <a:ext uri="{FF2B5EF4-FFF2-40B4-BE49-F238E27FC236}">
                  <a16:creationId xmlns:a16="http://schemas.microsoft.com/office/drawing/2014/main" id="{BCE883AB-CC43-432E-91EF-86ED38731237}"/>
                </a:ext>
              </a:extLst>
            </p:cNvPr>
            <p:cNvGrpSpPr/>
            <p:nvPr/>
          </p:nvGrpSpPr>
          <p:grpSpPr>
            <a:xfrm>
              <a:off x="5420838" y="1148532"/>
              <a:ext cx="5615833" cy="1628906"/>
              <a:chOff x="5420838" y="1148532"/>
              <a:chExt cx="5615833" cy="1628906"/>
            </a:xfrm>
          </p:grpSpPr>
          <p:sp>
            <p:nvSpPr>
              <p:cNvPr id="61" name="1">
                <a:extLst>
                  <a:ext uri="{FF2B5EF4-FFF2-40B4-BE49-F238E27FC236}">
                    <a16:creationId xmlns:a16="http://schemas.microsoft.com/office/drawing/2014/main" id="{4D3612A4-690C-2780-9879-80F1EF24492B}"/>
                  </a:ext>
                </a:extLst>
              </p:cNvPr>
              <p:cNvSpPr/>
              <p:nvPr>
                <p:custDataLst>
                  <p:tags r:id="rId18"/>
                </p:custDataLst>
              </p:nvPr>
            </p:nvSpPr>
            <p:spPr>
              <a:xfrm flipH="1" flipV="1">
                <a:off x="6664183" y="1465172"/>
                <a:ext cx="987796" cy="326232"/>
              </a:xfrm>
              <a:custGeom>
                <a:avLst/>
                <a:gdLst>
                  <a:gd name="connsiteX0" fmla="*/ 526256 w 557600"/>
                  <a:gd name="connsiteY0" fmla="*/ 0 h 335446"/>
                  <a:gd name="connsiteX1" fmla="*/ 500062 w 557600"/>
                  <a:gd name="connsiteY1" fmla="*/ 314325 h 335446"/>
                  <a:gd name="connsiteX2" fmla="*/ 0 w 557600"/>
                  <a:gd name="connsiteY2" fmla="*/ 321469 h 335446"/>
                  <a:gd name="connsiteX0" fmla="*/ 578644 w 591859"/>
                  <a:gd name="connsiteY0" fmla="*/ 0 h 352115"/>
                  <a:gd name="connsiteX1" fmla="*/ 500062 w 591859"/>
                  <a:gd name="connsiteY1" fmla="*/ 330994 h 352115"/>
                  <a:gd name="connsiteX2" fmla="*/ 0 w 591859"/>
                  <a:gd name="connsiteY2" fmla="*/ 338138 h 352115"/>
                  <a:gd name="connsiteX0" fmla="*/ 578644 w 578844"/>
                  <a:gd name="connsiteY0" fmla="*/ 0 h 352115"/>
                  <a:gd name="connsiteX1" fmla="*/ 500062 w 578844"/>
                  <a:gd name="connsiteY1" fmla="*/ 330994 h 352115"/>
                  <a:gd name="connsiteX2" fmla="*/ 0 w 578844"/>
                  <a:gd name="connsiteY2" fmla="*/ 338138 h 352115"/>
                  <a:gd name="connsiteX0" fmla="*/ 578644 w 615825"/>
                  <a:gd name="connsiteY0" fmla="*/ 0 h 348419"/>
                  <a:gd name="connsiteX1" fmla="*/ 576262 w 615825"/>
                  <a:gd name="connsiteY1" fmla="*/ 326232 h 348419"/>
                  <a:gd name="connsiteX2" fmla="*/ 0 w 615825"/>
                  <a:gd name="connsiteY2" fmla="*/ 338138 h 348419"/>
                  <a:gd name="connsiteX0" fmla="*/ 578644 w 578644"/>
                  <a:gd name="connsiteY0" fmla="*/ 0 h 348419"/>
                  <a:gd name="connsiteX1" fmla="*/ 576262 w 578644"/>
                  <a:gd name="connsiteY1" fmla="*/ 326232 h 348419"/>
                  <a:gd name="connsiteX2" fmla="*/ 0 w 578644"/>
                  <a:gd name="connsiteY2" fmla="*/ 338138 h 348419"/>
                  <a:gd name="connsiteX0" fmla="*/ 578644 w 578644"/>
                  <a:gd name="connsiteY0" fmla="*/ 0 h 338138"/>
                  <a:gd name="connsiteX1" fmla="*/ 576262 w 578644"/>
                  <a:gd name="connsiteY1" fmla="*/ 326232 h 338138"/>
                  <a:gd name="connsiteX2" fmla="*/ 0 w 578644"/>
                  <a:gd name="connsiteY2" fmla="*/ 338138 h 338138"/>
                  <a:gd name="connsiteX0" fmla="*/ 600075 w 600075"/>
                  <a:gd name="connsiteY0" fmla="*/ 0 h 326232"/>
                  <a:gd name="connsiteX1" fmla="*/ 597693 w 600075"/>
                  <a:gd name="connsiteY1" fmla="*/ 326232 h 326232"/>
                  <a:gd name="connsiteX2" fmla="*/ 0 w 600075"/>
                  <a:gd name="connsiteY2" fmla="*/ 321469 h 326232"/>
                  <a:gd name="connsiteX0" fmla="*/ 600075 w 600075"/>
                  <a:gd name="connsiteY0" fmla="*/ 0 h 326232"/>
                  <a:gd name="connsiteX1" fmla="*/ 597693 w 600075"/>
                  <a:gd name="connsiteY1" fmla="*/ 326232 h 326232"/>
                  <a:gd name="connsiteX2" fmla="*/ 0 w 600075"/>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1928812 w 1928812"/>
                  <a:gd name="connsiteY0" fmla="*/ 0 h 326232"/>
                  <a:gd name="connsiteX1" fmla="*/ 1745455 w 1928812"/>
                  <a:gd name="connsiteY1" fmla="*/ 326232 h 326232"/>
                  <a:gd name="connsiteX2" fmla="*/ 0 w 1928812"/>
                  <a:gd name="connsiteY2" fmla="*/ 314325 h 326232"/>
                  <a:gd name="connsiteX0" fmla="*/ 3100387 w 3100387"/>
                  <a:gd name="connsiteY0" fmla="*/ 0 h 326232"/>
                  <a:gd name="connsiteX1" fmla="*/ 2917030 w 3100387"/>
                  <a:gd name="connsiteY1" fmla="*/ 326232 h 326232"/>
                  <a:gd name="connsiteX2" fmla="*/ 0 w 3100387"/>
                  <a:gd name="connsiteY2" fmla="*/ 319088 h 326232"/>
                  <a:gd name="connsiteX0" fmla="*/ 3109912 w 3109912"/>
                  <a:gd name="connsiteY0" fmla="*/ 0 h 334963"/>
                  <a:gd name="connsiteX1" fmla="*/ 2926555 w 3109912"/>
                  <a:gd name="connsiteY1" fmla="*/ 326232 h 334963"/>
                  <a:gd name="connsiteX2" fmla="*/ 0 w 3109912"/>
                  <a:gd name="connsiteY2" fmla="*/ 334963 h 334963"/>
                  <a:gd name="connsiteX0" fmla="*/ 3116262 w 3116262"/>
                  <a:gd name="connsiteY0" fmla="*/ 0 h 326232"/>
                  <a:gd name="connsiteX1" fmla="*/ 2932905 w 3116262"/>
                  <a:gd name="connsiteY1" fmla="*/ 326232 h 326232"/>
                  <a:gd name="connsiteX2" fmla="*/ 0 w 3116262"/>
                  <a:gd name="connsiteY2" fmla="*/ 325438 h 326232"/>
                  <a:gd name="connsiteX0" fmla="*/ 1484454 w 1484454"/>
                  <a:gd name="connsiteY0" fmla="*/ 0 h 326232"/>
                  <a:gd name="connsiteX1" fmla="*/ 1301097 w 1484454"/>
                  <a:gd name="connsiteY1" fmla="*/ 326232 h 326232"/>
                  <a:gd name="connsiteX2" fmla="*/ 0 w 1484454"/>
                  <a:gd name="connsiteY2" fmla="*/ 325438 h 326232"/>
                </a:gdLst>
                <a:ahLst/>
                <a:cxnLst>
                  <a:cxn ang="0">
                    <a:pos x="connsiteX0" y="connsiteY0"/>
                  </a:cxn>
                  <a:cxn ang="0">
                    <a:pos x="connsiteX1" y="connsiteY1"/>
                  </a:cxn>
                  <a:cxn ang="0">
                    <a:pos x="connsiteX2" y="connsiteY2"/>
                  </a:cxn>
                </a:cxnLst>
                <a:rect l="l" t="t" r="r" b="b"/>
                <a:pathLst>
                  <a:path w="1484454" h="326232">
                    <a:moveTo>
                      <a:pt x="1484454" y="0"/>
                    </a:moveTo>
                    <a:cubicBezTo>
                      <a:pt x="1298518" y="332779"/>
                      <a:pt x="1484056" y="-1189"/>
                      <a:pt x="1301097" y="326232"/>
                    </a:cubicBezTo>
                    <a:lnTo>
                      <a:pt x="0" y="325438"/>
                    </a:ln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1">
                <a:extLst>
                  <a:ext uri="{FF2B5EF4-FFF2-40B4-BE49-F238E27FC236}">
                    <a16:creationId xmlns:a16="http://schemas.microsoft.com/office/drawing/2014/main" id="{C69F4B84-56D8-314A-FF9A-A3E28A058599}"/>
                  </a:ext>
                </a:extLst>
              </p:cNvPr>
              <p:cNvSpPr/>
              <p:nvPr>
                <p:custDataLst>
                  <p:tags r:id="rId19"/>
                </p:custDataLst>
              </p:nvPr>
            </p:nvSpPr>
            <p:spPr>
              <a:xfrm rot="2700000" flipH="1">
                <a:off x="5286680" y="1282690"/>
                <a:ext cx="1628906" cy="1360590"/>
              </a:xfrm>
              <a:custGeom>
                <a:avLst/>
                <a:gdLst>
                  <a:gd name="connsiteX0" fmla="*/ 70205 w 1628906"/>
                  <a:gd name="connsiteY0" fmla="*/ 520 h 1360590"/>
                  <a:gd name="connsiteX1" fmla="*/ 953667 w 1628906"/>
                  <a:gd name="connsiteY1" fmla="*/ 113175 h 1360590"/>
                  <a:gd name="connsiteX2" fmla="*/ 985041 w 1628906"/>
                  <a:gd name="connsiteY2" fmla="*/ 126704 h 1360590"/>
                  <a:gd name="connsiteX3" fmla="*/ 993956 w 1628906"/>
                  <a:gd name="connsiteY3" fmla="*/ 214514 h 1360590"/>
                  <a:gd name="connsiteX4" fmla="*/ 953153 w 1628906"/>
                  <a:gd name="connsiteY4" fmla="*/ 264239 h 1360590"/>
                  <a:gd name="connsiteX5" fmla="*/ 952433 w 1628906"/>
                  <a:gd name="connsiteY5" fmla="*/ 265149 h 1360590"/>
                  <a:gd name="connsiteX6" fmla="*/ 962924 w 1628906"/>
                  <a:gd name="connsiteY6" fmla="*/ 352547 h 1360590"/>
                  <a:gd name="connsiteX7" fmla="*/ 1576962 w 1628906"/>
                  <a:gd name="connsiteY7" fmla="*/ 1198361 h 1360590"/>
                  <a:gd name="connsiteX8" fmla="*/ 1628906 w 1628906"/>
                  <a:gd name="connsiteY8" fmla="*/ 1360590 h 1360590"/>
                  <a:gd name="connsiteX9" fmla="*/ 912551 w 1628906"/>
                  <a:gd name="connsiteY9" fmla="*/ 1360590 h 1360590"/>
                  <a:gd name="connsiteX10" fmla="*/ 882474 w 1628906"/>
                  <a:gd name="connsiteY10" fmla="*/ 1289522 h 1360590"/>
                  <a:gd name="connsiteX11" fmla="*/ 532423 w 1628906"/>
                  <a:gd name="connsiteY11" fmla="*/ 872958 h 1360590"/>
                  <a:gd name="connsiteX12" fmla="*/ 446700 w 1628906"/>
                  <a:gd name="connsiteY12" fmla="*/ 883417 h 1360590"/>
                  <a:gd name="connsiteX13" fmla="*/ 406583 w 1628906"/>
                  <a:gd name="connsiteY13" fmla="*/ 932285 h 1360590"/>
                  <a:gd name="connsiteX14" fmla="*/ 379270 w 1628906"/>
                  <a:gd name="connsiteY14" fmla="*/ 951524 h 1360590"/>
                  <a:gd name="connsiteX15" fmla="*/ 299772 w 1628906"/>
                  <a:gd name="connsiteY15" fmla="*/ 913767 h 1360590"/>
                  <a:gd name="connsiteX16" fmla="*/ 199647 w 1628906"/>
                  <a:gd name="connsiteY16" fmla="*/ 632385 h 1360590"/>
                  <a:gd name="connsiteX17" fmla="*/ 20829 w 1628906"/>
                  <a:gd name="connsiteY17" fmla="*/ 130151 h 1360590"/>
                  <a:gd name="connsiteX18" fmla="*/ 3684 w 1628906"/>
                  <a:gd name="connsiteY18" fmla="*/ 83338 h 1360590"/>
                  <a:gd name="connsiteX19" fmla="*/ 512 w 1628906"/>
                  <a:gd name="connsiteY19" fmla="*/ 54276 h 1360590"/>
                  <a:gd name="connsiteX20" fmla="*/ 70205 w 1628906"/>
                  <a:gd name="connsiteY20" fmla="*/ 520 h 1360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8906" h="1360590">
                    <a:moveTo>
                      <a:pt x="70205" y="520"/>
                    </a:moveTo>
                    <a:lnTo>
                      <a:pt x="953667" y="113175"/>
                    </a:lnTo>
                    <a:cubicBezTo>
                      <a:pt x="965171" y="114684"/>
                      <a:pt x="976041" y="119366"/>
                      <a:pt x="985041" y="126704"/>
                    </a:cubicBezTo>
                    <a:cubicBezTo>
                      <a:pt x="1011752" y="148481"/>
                      <a:pt x="1015748" y="187799"/>
                      <a:pt x="993956" y="214514"/>
                    </a:cubicBezTo>
                    <a:lnTo>
                      <a:pt x="953153" y="264239"/>
                    </a:lnTo>
                    <a:cubicBezTo>
                      <a:pt x="952911" y="264549"/>
                      <a:pt x="952654" y="264841"/>
                      <a:pt x="952433" y="265149"/>
                    </a:cubicBezTo>
                    <a:cubicBezTo>
                      <a:pt x="931190" y="292189"/>
                      <a:pt x="935887" y="331319"/>
                      <a:pt x="962924" y="352547"/>
                    </a:cubicBezTo>
                    <a:cubicBezTo>
                      <a:pt x="1233916" y="563776"/>
                      <a:pt x="1448919" y="861343"/>
                      <a:pt x="1576962" y="1198361"/>
                    </a:cubicBezTo>
                    <a:lnTo>
                      <a:pt x="1628906" y="1360590"/>
                    </a:lnTo>
                    <a:lnTo>
                      <a:pt x="912551" y="1360590"/>
                    </a:lnTo>
                    <a:lnTo>
                      <a:pt x="882474" y="1289522"/>
                    </a:lnTo>
                    <a:cubicBezTo>
                      <a:pt x="802323" y="1127376"/>
                      <a:pt x="685611" y="987928"/>
                      <a:pt x="532423" y="872958"/>
                    </a:cubicBezTo>
                    <a:cubicBezTo>
                      <a:pt x="505678" y="852828"/>
                      <a:pt x="467823" y="857440"/>
                      <a:pt x="446700" y="883417"/>
                    </a:cubicBezTo>
                    <a:lnTo>
                      <a:pt x="406583" y="932285"/>
                    </a:lnTo>
                    <a:cubicBezTo>
                      <a:pt x="399399" y="941065"/>
                      <a:pt x="389969" y="947718"/>
                      <a:pt x="379270" y="951524"/>
                    </a:cubicBezTo>
                    <a:cubicBezTo>
                      <a:pt x="346902" y="963065"/>
                      <a:pt x="311293" y="946158"/>
                      <a:pt x="299772" y="913767"/>
                    </a:cubicBezTo>
                    <a:lnTo>
                      <a:pt x="199647" y="632385"/>
                    </a:lnTo>
                    <a:lnTo>
                      <a:pt x="20829" y="130151"/>
                    </a:lnTo>
                    <a:lnTo>
                      <a:pt x="3684" y="83338"/>
                    </a:lnTo>
                    <a:cubicBezTo>
                      <a:pt x="341" y="74046"/>
                      <a:pt x="-757" y="64084"/>
                      <a:pt x="512" y="54276"/>
                    </a:cubicBezTo>
                    <a:cubicBezTo>
                      <a:pt x="4919" y="20187"/>
                      <a:pt x="36121" y="-3887"/>
                      <a:pt x="70205" y="520"/>
                    </a:cubicBezTo>
                    <a:close/>
                  </a:path>
                </a:pathLst>
              </a:custGeom>
              <a:gradFill flip="none" rotWithShape="1">
                <a:gsLst>
                  <a:gs pos="100000">
                    <a:schemeClr val="accent1"/>
                  </a:gs>
                  <a:gs pos="0">
                    <a:schemeClr val="accent1">
                      <a:lumMod val="60000"/>
                      <a:lumOff val="40000"/>
                    </a:schemeClr>
                  </a:gs>
                </a:gsLst>
                <a:lin ang="0" scaled="1"/>
                <a:tileRect/>
              </a:gradFill>
              <a:ln w="9525" cap="flat">
                <a:noFill/>
                <a:prstDash val="solid"/>
                <a:miter/>
              </a:ln>
              <a:effectLst>
                <a:outerShdw blurRad="101600" dist="127000" dir="5400000" sx="102000" sy="102000" algn="ctr" rotWithShape="0">
                  <a:schemeClr val="accent1">
                    <a:alpha val="20000"/>
                  </a:schemeClr>
                </a:outerShdw>
              </a:effectLst>
            </p:spPr>
            <p:txBody>
              <a:bodyPr rot="0" spcFirstLastPara="0" vert="horz" wrap="square" lIns="91440" tIns="45720" rIns="91440" bIns="45720" numCol="1" spcCol="0" rtlCol="0" fromWordArt="0" anchor="ctr" anchorCtr="0" forceAA="0" compatLnSpc="1">
                <a:norm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3" name="Title-1">
                <a:extLst>
                  <a:ext uri="{FF2B5EF4-FFF2-40B4-BE49-F238E27FC236}">
                    <a16:creationId xmlns:a16="http://schemas.microsoft.com/office/drawing/2014/main" id="{5C923740-3944-BEE0-FB65-BFD1A24A0682}"/>
                  </a:ext>
                </a:extLst>
              </p:cNvPr>
              <p:cNvSpPr txBox="1"/>
              <p:nvPr>
                <p:custDataLst>
                  <p:tags r:id="rId20"/>
                </p:custDataLst>
              </p:nvPr>
            </p:nvSpPr>
            <p:spPr>
              <a:xfrm>
                <a:off x="7651979" y="1281937"/>
                <a:ext cx="3105106" cy="369332"/>
              </a:xfrm>
              <a:prstGeom prst="rect">
                <a:avLst/>
              </a:prstGeom>
              <a:noFill/>
            </p:spPr>
            <p:txBody>
              <a:bodyPr wrap="square" rtlCol="0">
                <a:noAutofit/>
              </a:bodyPr>
              <a:lstStyle/>
              <a:p>
                <a:r>
                  <a:rPr lang="zh-CN" altLang="en-US" b="1" dirty="0">
                    <a:solidFill>
                      <a:schemeClr val="accent1"/>
                    </a:solidFill>
                    <a:latin typeface="微软雅黑" panose="020B0503020204020204" pitchFamily="34" charset="-122"/>
                    <a:ea typeface="微软雅黑" panose="020B0503020204020204" pitchFamily="34" charset="-122"/>
                  </a:rPr>
                  <a:t>学习范式（站在巨人肩上）：</a:t>
                </a:r>
              </a:p>
            </p:txBody>
          </p:sp>
          <p:sp>
            <p:nvSpPr>
              <p:cNvPr id="64" name="Body-1">
                <a:extLst>
                  <a:ext uri="{FF2B5EF4-FFF2-40B4-BE49-F238E27FC236}">
                    <a16:creationId xmlns:a16="http://schemas.microsoft.com/office/drawing/2014/main" id="{E6E03873-BC45-882B-7157-57C0D3D44DC1}"/>
                  </a:ext>
                </a:extLst>
              </p:cNvPr>
              <p:cNvSpPr>
                <a:spLocks/>
              </p:cNvSpPr>
              <p:nvPr>
                <p:custDataLst>
                  <p:tags r:id="rId21"/>
                </p:custDataLst>
              </p:nvPr>
            </p:nvSpPr>
            <p:spPr>
              <a:xfrm>
                <a:off x="7651979" y="1660354"/>
                <a:ext cx="3384692" cy="736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pP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rPr>
                  <a:t>需要解构范式：系统学习并解析领先者（巨人）的核心‘数据模型’定义与‘业务算法’逻辑。</a:t>
                </a:r>
                <a:endParaRPr lang="en-GB" altLang="zh-CN" sz="1400"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grpSp>
          <p:nvGrpSpPr>
            <p:cNvPr id="41" name="组合 40">
              <a:extLst>
                <a:ext uri="{FF2B5EF4-FFF2-40B4-BE49-F238E27FC236}">
                  <a16:creationId xmlns:a16="http://schemas.microsoft.com/office/drawing/2014/main" id="{E1737AAE-F448-CC8E-2B90-21A88A2CC4CB}"/>
                </a:ext>
              </a:extLst>
            </p:cNvPr>
            <p:cNvGrpSpPr/>
            <p:nvPr/>
          </p:nvGrpSpPr>
          <p:grpSpPr>
            <a:xfrm>
              <a:off x="6821291" y="2181035"/>
              <a:ext cx="3935794" cy="1882229"/>
              <a:chOff x="6821291" y="2181035"/>
              <a:chExt cx="3935794" cy="1882229"/>
            </a:xfrm>
          </p:grpSpPr>
          <p:sp>
            <p:nvSpPr>
              <p:cNvPr id="57" name="2">
                <a:extLst>
                  <a:ext uri="{FF2B5EF4-FFF2-40B4-BE49-F238E27FC236}">
                    <a16:creationId xmlns:a16="http://schemas.microsoft.com/office/drawing/2014/main" id="{204DF0E6-FBC5-C69D-521C-40755254D7AC}"/>
                  </a:ext>
                </a:extLst>
              </p:cNvPr>
              <p:cNvSpPr/>
              <p:nvPr>
                <p:custDataLst>
                  <p:tags r:id="rId14"/>
                </p:custDataLst>
              </p:nvPr>
            </p:nvSpPr>
            <p:spPr>
              <a:xfrm flipH="1">
                <a:off x="7807987" y="3088968"/>
                <a:ext cx="459518" cy="46755"/>
              </a:xfrm>
              <a:custGeom>
                <a:avLst/>
                <a:gdLst>
                  <a:gd name="connsiteX0" fmla="*/ 526256 w 557600"/>
                  <a:gd name="connsiteY0" fmla="*/ 0 h 335446"/>
                  <a:gd name="connsiteX1" fmla="*/ 500062 w 557600"/>
                  <a:gd name="connsiteY1" fmla="*/ 314325 h 335446"/>
                  <a:gd name="connsiteX2" fmla="*/ 0 w 557600"/>
                  <a:gd name="connsiteY2" fmla="*/ 321469 h 335446"/>
                  <a:gd name="connsiteX0" fmla="*/ 578644 w 591859"/>
                  <a:gd name="connsiteY0" fmla="*/ 0 h 352115"/>
                  <a:gd name="connsiteX1" fmla="*/ 500062 w 591859"/>
                  <a:gd name="connsiteY1" fmla="*/ 330994 h 352115"/>
                  <a:gd name="connsiteX2" fmla="*/ 0 w 591859"/>
                  <a:gd name="connsiteY2" fmla="*/ 338138 h 352115"/>
                  <a:gd name="connsiteX0" fmla="*/ 578644 w 578844"/>
                  <a:gd name="connsiteY0" fmla="*/ 0 h 352115"/>
                  <a:gd name="connsiteX1" fmla="*/ 500062 w 578844"/>
                  <a:gd name="connsiteY1" fmla="*/ 330994 h 352115"/>
                  <a:gd name="connsiteX2" fmla="*/ 0 w 578844"/>
                  <a:gd name="connsiteY2" fmla="*/ 338138 h 352115"/>
                  <a:gd name="connsiteX0" fmla="*/ 578644 w 615825"/>
                  <a:gd name="connsiteY0" fmla="*/ 0 h 348419"/>
                  <a:gd name="connsiteX1" fmla="*/ 576262 w 615825"/>
                  <a:gd name="connsiteY1" fmla="*/ 326232 h 348419"/>
                  <a:gd name="connsiteX2" fmla="*/ 0 w 615825"/>
                  <a:gd name="connsiteY2" fmla="*/ 338138 h 348419"/>
                  <a:gd name="connsiteX0" fmla="*/ 578644 w 578644"/>
                  <a:gd name="connsiteY0" fmla="*/ 0 h 348419"/>
                  <a:gd name="connsiteX1" fmla="*/ 576262 w 578644"/>
                  <a:gd name="connsiteY1" fmla="*/ 326232 h 348419"/>
                  <a:gd name="connsiteX2" fmla="*/ 0 w 578644"/>
                  <a:gd name="connsiteY2" fmla="*/ 338138 h 348419"/>
                  <a:gd name="connsiteX0" fmla="*/ 578644 w 578644"/>
                  <a:gd name="connsiteY0" fmla="*/ 0 h 338138"/>
                  <a:gd name="connsiteX1" fmla="*/ 576262 w 578644"/>
                  <a:gd name="connsiteY1" fmla="*/ 326232 h 338138"/>
                  <a:gd name="connsiteX2" fmla="*/ 0 w 578644"/>
                  <a:gd name="connsiteY2" fmla="*/ 338138 h 338138"/>
                  <a:gd name="connsiteX0" fmla="*/ 600075 w 600075"/>
                  <a:gd name="connsiteY0" fmla="*/ 0 h 326232"/>
                  <a:gd name="connsiteX1" fmla="*/ 597693 w 600075"/>
                  <a:gd name="connsiteY1" fmla="*/ 326232 h 326232"/>
                  <a:gd name="connsiteX2" fmla="*/ 0 w 600075"/>
                  <a:gd name="connsiteY2" fmla="*/ 321469 h 326232"/>
                  <a:gd name="connsiteX0" fmla="*/ 600075 w 600075"/>
                  <a:gd name="connsiteY0" fmla="*/ 0 h 326232"/>
                  <a:gd name="connsiteX1" fmla="*/ 597693 w 600075"/>
                  <a:gd name="connsiteY1" fmla="*/ 326232 h 326232"/>
                  <a:gd name="connsiteX2" fmla="*/ 0 w 600075"/>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1928812 w 1928812"/>
                  <a:gd name="connsiteY0" fmla="*/ 0 h 326232"/>
                  <a:gd name="connsiteX1" fmla="*/ 1745455 w 1928812"/>
                  <a:gd name="connsiteY1" fmla="*/ 326232 h 326232"/>
                  <a:gd name="connsiteX2" fmla="*/ 0 w 1928812"/>
                  <a:gd name="connsiteY2" fmla="*/ 314325 h 326232"/>
                  <a:gd name="connsiteX0" fmla="*/ 3100387 w 3100387"/>
                  <a:gd name="connsiteY0" fmla="*/ 0 h 326232"/>
                  <a:gd name="connsiteX1" fmla="*/ 2917030 w 3100387"/>
                  <a:gd name="connsiteY1" fmla="*/ 326232 h 326232"/>
                  <a:gd name="connsiteX2" fmla="*/ 0 w 3100387"/>
                  <a:gd name="connsiteY2" fmla="*/ 319088 h 326232"/>
                  <a:gd name="connsiteX0" fmla="*/ 3109912 w 3109912"/>
                  <a:gd name="connsiteY0" fmla="*/ 0 h 334963"/>
                  <a:gd name="connsiteX1" fmla="*/ 2926555 w 3109912"/>
                  <a:gd name="connsiteY1" fmla="*/ 326232 h 334963"/>
                  <a:gd name="connsiteX2" fmla="*/ 0 w 3109912"/>
                  <a:gd name="connsiteY2" fmla="*/ 334963 h 334963"/>
                  <a:gd name="connsiteX0" fmla="*/ 3116262 w 3116262"/>
                  <a:gd name="connsiteY0" fmla="*/ 0 h 326232"/>
                  <a:gd name="connsiteX1" fmla="*/ 2932905 w 3116262"/>
                  <a:gd name="connsiteY1" fmla="*/ 326232 h 326232"/>
                  <a:gd name="connsiteX2" fmla="*/ 0 w 3116262"/>
                  <a:gd name="connsiteY2" fmla="*/ 325438 h 326232"/>
                  <a:gd name="connsiteX0" fmla="*/ 1484454 w 1484454"/>
                  <a:gd name="connsiteY0" fmla="*/ 0 h 326232"/>
                  <a:gd name="connsiteX1" fmla="*/ 1301097 w 1484454"/>
                  <a:gd name="connsiteY1" fmla="*/ 326232 h 326232"/>
                  <a:gd name="connsiteX2" fmla="*/ 0 w 1484454"/>
                  <a:gd name="connsiteY2" fmla="*/ 325438 h 326232"/>
                </a:gdLst>
                <a:ahLst/>
                <a:cxnLst>
                  <a:cxn ang="0">
                    <a:pos x="connsiteX0" y="connsiteY0"/>
                  </a:cxn>
                  <a:cxn ang="0">
                    <a:pos x="connsiteX1" y="connsiteY1"/>
                  </a:cxn>
                  <a:cxn ang="0">
                    <a:pos x="connsiteX2" y="connsiteY2"/>
                  </a:cxn>
                </a:cxnLst>
                <a:rect l="l" t="t" r="r" b="b"/>
                <a:pathLst>
                  <a:path w="1484454" h="326232">
                    <a:moveTo>
                      <a:pt x="1484454" y="0"/>
                    </a:moveTo>
                    <a:cubicBezTo>
                      <a:pt x="1298518" y="332779"/>
                      <a:pt x="1484056" y="-1189"/>
                      <a:pt x="1301097" y="326232"/>
                    </a:cubicBezTo>
                    <a:lnTo>
                      <a:pt x="0" y="325438"/>
                    </a:ln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2">
                <a:extLst>
                  <a:ext uri="{FF2B5EF4-FFF2-40B4-BE49-F238E27FC236}">
                    <a16:creationId xmlns:a16="http://schemas.microsoft.com/office/drawing/2014/main" id="{0E494B97-76E0-4EA9-BCAA-49D0CB9D8EB0}"/>
                  </a:ext>
                </a:extLst>
              </p:cNvPr>
              <p:cNvSpPr/>
              <p:nvPr>
                <p:custDataLst>
                  <p:tags r:id="rId15"/>
                </p:custDataLst>
              </p:nvPr>
            </p:nvSpPr>
            <p:spPr>
              <a:xfrm rot="7067999" flipH="1">
                <a:off x="6687133" y="2315193"/>
                <a:ext cx="1628906" cy="1360590"/>
              </a:xfrm>
              <a:custGeom>
                <a:avLst/>
                <a:gdLst>
                  <a:gd name="connsiteX0" fmla="*/ 70205 w 1628906"/>
                  <a:gd name="connsiteY0" fmla="*/ 520 h 1360590"/>
                  <a:gd name="connsiteX1" fmla="*/ 953667 w 1628906"/>
                  <a:gd name="connsiteY1" fmla="*/ 113175 h 1360590"/>
                  <a:gd name="connsiteX2" fmla="*/ 985041 w 1628906"/>
                  <a:gd name="connsiteY2" fmla="*/ 126704 h 1360590"/>
                  <a:gd name="connsiteX3" fmla="*/ 993956 w 1628906"/>
                  <a:gd name="connsiteY3" fmla="*/ 214514 h 1360590"/>
                  <a:gd name="connsiteX4" fmla="*/ 953153 w 1628906"/>
                  <a:gd name="connsiteY4" fmla="*/ 264239 h 1360590"/>
                  <a:gd name="connsiteX5" fmla="*/ 952433 w 1628906"/>
                  <a:gd name="connsiteY5" fmla="*/ 265149 h 1360590"/>
                  <a:gd name="connsiteX6" fmla="*/ 962924 w 1628906"/>
                  <a:gd name="connsiteY6" fmla="*/ 352547 h 1360590"/>
                  <a:gd name="connsiteX7" fmla="*/ 1576962 w 1628906"/>
                  <a:gd name="connsiteY7" fmla="*/ 1198361 h 1360590"/>
                  <a:gd name="connsiteX8" fmla="*/ 1628906 w 1628906"/>
                  <a:gd name="connsiteY8" fmla="*/ 1360590 h 1360590"/>
                  <a:gd name="connsiteX9" fmla="*/ 912551 w 1628906"/>
                  <a:gd name="connsiteY9" fmla="*/ 1360590 h 1360590"/>
                  <a:gd name="connsiteX10" fmla="*/ 882474 w 1628906"/>
                  <a:gd name="connsiteY10" fmla="*/ 1289522 h 1360590"/>
                  <a:gd name="connsiteX11" fmla="*/ 532423 w 1628906"/>
                  <a:gd name="connsiteY11" fmla="*/ 872958 h 1360590"/>
                  <a:gd name="connsiteX12" fmla="*/ 446700 w 1628906"/>
                  <a:gd name="connsiteY12" fmla="*/ 883417 h 1360590"/>
                  <a:gd name="connsiteX13" fmla="*/ 406583 w 1628906"/>
                  <a:gd name="connsiteY13" fmla="*/ 932285 h 1360590"/>
                  <a:gd name="connsiteX14" fmla="*/ 379270 w 1628906"/>
                  <a:gd name="connsiteY14" fmla="*/ 951524 h 1360590"/>
                  <a:gd name="connsiteX15" fmla="*/ 299772 w 1628906"/>
                  <a:gd name="connsiteY15" fmla="*/ 913767 h 1360590"/>
                  <a:gd name="connsiteX16" fmla="*/ 199647 w 1628906"/>
                  <a:gd name="connsiteY16" fmla="*/ 632385 h 1360590"/>
                  <a:gd name="connsiteX17" fmla="*/ 20829 w 1628906"/>
                  <a:gd name="connsiteY17" fmla="*/ 130151 h 1360590"/>
                  <a:gd name="connsiteX18" fmla="*/ 3684 w 1628906"/>
                  <a:gd name="connsiteY18" fmla="*/ 83338 h 1360590"/>
                  <a:gd name="connsiteX19" fmla="*/ 512 w 1628906"/>
                  <a:gd name="connsiteY19" fmla="*/ 54276 h 1360590"/>
                  <a:gd name="connsiteX20" fmla="*/ 70205 w 1628906"/>
                  <a:gd name="connsiteY20" fmla="*/ 520 h 1360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8906" h="1360590">
                    <a:moveTo>
                      <a:pt x="70205" y="520"/>
                    </a:moveTo>
                    <a:lnTo>
                      <a:pt x="953667" y="113175"/>
                    </a:lnTo>
                    <a:cubicBezTo>
                      <a:pt x="965171" y="114684"/>
                      <a:pt x="976041" y="119366"/>
                      <a:pt x="985041" y="126704"/>
                    </a:cubicBezTo>
                    <a:cubicBezTo>
                      <a:pt x="1011752" y="148481"/>
                      <a:pt x="1015748" y="187799"/>
                      <a:pt x="993956" y="214514"/>
                    </a:cubicBezTo>
                    <a:lnTo>
                      <a:pt x="953153" y="264239"/>
                    </a:lnTo>
                    <a:cubicBezTo>
                      <a:pt x="952911" y="264549"/>
                      <a:pt x="952654" y="264841"/>
                      <a:pt x="952433" y="265149"/>
                    </a:cubicBezTo>
                    <a:cubicBezTo>
                      <a:pt x="931190" y="292189"/>
                      <a:pt x="935887" y="331319"/>
                      <a:pt x="962924" y="352547"/>
                    </a:cubicBezTo>
                    <a:cubicBezTo>
                      <a:pt x="1233916" y="563776"/>
                      <a:pt x="1448919" y="861343"/>
                      <a:pt x="1576962" y="1198361"/>
                    </a:cubicBezTo>
                    <a:lnTo>
                      <a:pt x="1628906" y="1360590"/>
                    </a:lnTo>
                    <a:lnTo>
                      <a:pt x="912551" y="1360590"/>
                    </a:lnTo>
                    <a:lnTo>
                      <a:pt x="882474" y="1289522"/>
                    </a:lnTo>
                    <a:cubicBezTo>
                      <a:pt x="802323" y="1127376"/>
                      <a:pt x="685611" y="987928"/>
                      <a:pt x="532423" y="872958"/>
                    </a:cubicBezTo>
                    <a:cubicBezTo>
                      <a:pt x="505678" y="852828"/>
                      <a:pt x="467823" y="857440"/>
                      <a:pt x="446700" y="883417"/>
                    </a:cubicBezTo>
                    <a:lnTo>
                      <a:pt x="406583" y="932285"/>
                    </a:lnTo>
                    <a:cubicBezTo>
                      <a:pt x="399399" y="941065"/>
                      <a:pt x="389969" y="947718"/>
                      <a:pt x="379270" y="951524"/>
                    </a:cubicBezTo>
                    <a:cubicBezTo>
                      <a:pt x="346902" y="963065"/>
                      <a:pt x="311293" y="946158"/>
                      <a:pt x="299772" y="913767"/>
                    </a:cubicBezTo>
                    <a:lnTo>
                      <a:pt x="199647" y="632385"/>
                    </a:lnTo>
                    <a:lnTo>
                      <a:pt x="20829" y="130151"/>
                    </a:lnTo>
                    <a:lnTo>
                      <a:pt x="3684" y="83338"/>
                    </a:lnTo>
                    <a:cubicBezTo>
                      <a:pt x="341" y="74046"/>
                      <a:pt x="-757" y="64084"/>
                      <a:pt x="512" y="54276"/>
                    </a:cubicBezTo>
                    <a:cubicBezTo>
                      <a:pt x="4919" y="20187"/>
                      <a:pt x="36121" y="-3887"/>
                      <a:pt x="70205" y="520"/>
                    </a:cubicBezTo>
                    <a:close/>
                  </a:path>
                </a:pathLst>
              </a:custGeom>
              <a:gradFill flip="none" rotWithShape="1">
                <a:gsLst>
                  <a:gs pos="100000">
                    <a:schemeClr val="accent2"/>
                  </a:gs>
                  <a:gs pos="0">
                    <a:schemeClr val="accent2">
                      <a:lumMod val="60000"/>
                      <a:lumOff val="40000"/>
                    </a:schemeClr>
                  </a:gs>
                </a:gsLst>
                <a:lin ang="0" scaled="1"/>
                <a:tileRect/>
              </a:gradFill>
              <a:ln w="9525" cap="flat">
                <a:noFill/>
                <a:prstDash val="solid"/>
                <a:miter/>
              </a:ln>
              <a:effectLst>
                <a:outerShdw blurRad="101600" dist="127000" dir="5400000" sx="102000" sy="102000" algn="ctr" rotWithShape="0">
                  <a:schemeClr val="accent2">
                    <a:alpha val="20000"/>
                  </a:schemeClr>
                </a:outerShdw>
              </a:effectLst>
            </p:spPr>
            <p:txBody>
              <a:bodyPr rot="0" spcFirstLastPara="0" vert="horz" wrap="square" lIns="91440" tIns="45720" rIns="91440" bIns="45720" numCol="1" spcCol="0" rtlCol="0" fromWordArt="0" anchor="ctr" anchorCtr="0" forceAA="0" compatLnSpc="1">
                <a:norm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dirty="0"/>
              </a:p>
            </p:txBody>
          </p:sp>
          <p:sp>
            <p:nvSpPr>
              <p:cNvPr id="59" name="Title-2">
                <a:extLst>
                  <a:ext uri="{FF2B5EF4-FFF2-40B4-BE49-F238E27FC236}">
                    <a16:creationId xmlns:a16="http://schemas.microsoft.com/office/drawing/2014/main" id="{31868FBE-B6E1-5A20-E7A8-326561A193DC}"/>
                  </a:ext>
                </a:extLst>
              </p:cNvPr>
              <p:cNvSpPr txBox="1"/>
              <p:nvPr>
                <p:custDataLst>
                  <p:tags r:id="rId16"/>
                </p:custDataLst>
              </p:nvPr>
            </p:nvSpPr>
            <p:spPr>
              <a:xfrm>
                <a:off x="8267505" y="2906439"/>
                <a:ext cx="2455200" cy="369332"/>
              </a:xfrm>
              <a:prstGeom prst="rect">
                <a:avLst/>
              </a:prstGeom>
              <a:noFill/>
            </p:spPr>
            <p:txBody>
              <a:bodyPr wrap="square" rtlCol="0">
                <a:noAutofit/>
              </a:bodyPr>
              <a:lstStyle/>
              <a:p>
                <a:r>
                  <a:rPr lang="zh-CN" altLang="en-US" b="1" dirty="0">
                    <a:solidFill>
                      <a:schemeClr val="accent2"/>
                    </a:solidFill>
                    <a:latin typeface="微软雅黑" panose="020B0503020204020204" pitchFamily="34" charset="-122"/>
                    <a:ea typeface="微软雅黑" panose="020B0503020204020204" pitchFamily="34" charset="-122"/>
                  </a:rPr>
                  <a:t>实践（实验与观察）：</a:t>
                </a:r>
              </a:p>
            </p:txBody>
          </p:sp>
          <p:sp>
            <p:nvSpPr>
              <p:cNvPr id="60" name="Body-2">
                <a:extLst>
                  <a:ext uri="{FF2B5EF4-FFF2-40B4-BE49-F238E27FC236}">
                    <a16:creationId xmlns:a16="http://schemas.microsoft.com/office/drawing/2014/main" id="{58884723-F032-CFB9-0603-05EC10132529}"/>
                  </a:ext>
                </a:extLst>
              </p:cNvPr>
              <p:cNvSpPr>
                <a:spLocks/>
              </p:cNvSpPr>
              <p:nvPr>
                <p:custDataLst>
                  <p:tags r:id="rId17"/>
                </p:custDataLst>
              </p:nvPr>
            </p:nvSpPr>
            <p:spPr>
              <a:xfrm>
                <a:off x="8301885" y="3326719"/>
                <a:ext cx="2455200" cy="736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pP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rPr>
                  <a:t>需要本土化验证：在真实业务场景中测试、验证并校准借鉴而来的‘数据模型’与‘业务算法’的有效性。</a:t>
                </a:r>
                <a:endParaRPr lang="en-GB" altLang="zh-CN" sz="1400"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grpSp>
          <p:nvGrpSpPr>
            <p:cNvPr id="42" name="组合 41">
              <a:extLst>
                <a:ext uri="{FF2B5EF4-FFF2-40B4-BE49-F238E27FC236}">
                  <a16:creationId xmlns:a16="http://schemas.microsoft.com/office/drawing/2014/main" id="{EAD4707C-E760-ABAD-CB7D-009E0F6153E4}"/>
                </a:ext>
              </a:extLst>
            </p:cNvPr>
            <p:cNvGrpSpPr/>
            <p:nvPr/>
          </p:nvGrpSpPr>
          <p:grpSpPr>
            <a:xfrm>
              <a:off x="6135915" y="3943695"/>
              <a:ext cx="5910780" cy="2603542"/>
              <a:chOff x="6135915" y="3943695"/>
              <a:chExt cx="5910780" cy="2603542"/>
            </a:xfrm>
          </p:grpSpPr>
          <p:sp>
            <p:nvSpPr>
              <p:cNvPr id="53" name="3">
                <a:extLst>
                  <a:ext uri="{FF2B5EF4-FFF2-40B4-BE49-F238E27FC236}">
                    <a16:creationId xmlns:a16="http://schemas.microsoft.com/office/drawing/2014/main" id="{266F137C-E56F-8A03-40CF-54B67E4EA31F}"/>
                  </a:ext>
                </a:extLst>
              </p:cNvPr>
              <p:cNvSpPr/>
              <p:nvPr>
                <p:custDataLst>
                  <p:tags r:id="rId10"/>
                </p:custDataLst>
              </p:nvPr>
            </p:nvSpPr>
            <p:spPr>
              <a:xfrm flipH="1">
                <a:off x="7314089" y="4652774"/>
                <a:ext cx="987796" cy="326232"/>
              </a:xfrm>
              <a:custGeom>
                <a:avLst/>
                <a:gdLst>
                  <a:gd name="connsiteX0" fmla="*/ 526256 w 557600"/>
                  <a:gd name="connsiteY0" fmla="*/ 0 h 335446"/>
                  <a:gd name="connsiteX1" fmla="*/ 500062 w 557600"/>
                  <a:gd name="connsiteY1" fmla="*/ 314325 h 335446"/>
                  <a:gd name="connsiteX2" fmla="*/ 0 w 557600"/>
                  <a:gd name="connsiteY2" fmla="*/ 321469 h 335446"/>
                  <a:gd name="connsiteX0" fmla="*/ 578644 w 591859"/>
                  <a:gd name="connsiteY0" fmla="*/ 0 h 352115"/>
                  <a:gd name="connsiteX1" fmla="*/ 500062 w 591859"/>
                  <a:gd name="connsiteY1" fmla="*/ 330994 h 352115"/>
                  <a:gd name="connsiteX2" fmla="*/ 0 w 591859"/>
                  <a:gd name="connsiteY2" fmla="*/ 338138 h 352115"/>
                  <a:gd name="connsiteX0" fmla="*/ 578644 w 578844"/>
                  <a:gd name="connsiteY0" fmla="*/ 0 h 352115"/>
                  <a:gd name="connsiteX1" fmla="*/ 500062 w 578844"/>
                  <a:gd name="connsiteY1" fmla="*/ 330994 h 352115"/>
                  <a:gd name="connsiteX2" fmla="*/ 0 w 578844"/>
                  <a:gd name="connsiteY2" fmla="*/ 338138 h 352115"/>
                  <a:gd name="connsiteX0" fmla="*/ 578644 w 615825"/>
                  <a:gd name="connsiteY0" fmla="*/ 0 h 348419"/>
                  <a:gd name="connsiteX1" fmla="*/ 576262 w 615825"/>
                  <a:gd name="connsiteY1" fmla="*/ 326232 h 348419"/>
                  <a:gd name="connsiteX2" fmla="*/ 0 w 615825"/>
                  <a:gd name="connsiteY2" fmla="*/ 338138 h 348419"/>
                  <a:gd name="connsiteX0" fmla="*/ 578644 w 578644"/>
                  <a:gd name="connsiteY0" fmla="*/ 0 h 348419"/>
                  <a:gd name="connsiteX1" fmla="*/ 576262 w 578644"/>
                  <a:gd name="connsiteY1" fmla="*/ 326232 h 348419"/>
                  <a:gd name="connsiteX2" fmla="*/ 0 w 578644"/>
                  <a:gd name="connsiteY2" fmla="*/ 338138 h 348419"/>
                  <a:gd name="connsiteX0" fmla="*/ 578644 w 578644"/>
                  <a:gd name="connsiteY0" fmla="*/ 0 h 338138"/>
                  <a:gd name="connsiteX1" fmla="*/ 576262 w 578644"/>
                  <a:gd name="connsiteY1" fmla="*/ 326232 h 338138"/>
                  <a:gd name="connsiteX2" fmla="*/ 0 w 578644"/>
                  <a:gd name="connsiteY2" fmla="*/ 338138 h 338138"/>
                  <a:gd name="connsiteX0" fmla="*/ 600075 w 600075"/>
                  <a:gd name="connsiteY0" fmla="*/ 0 h 326232"/>
                  <a:gd name="connsiteX1" fmla="*/ 597693 w 600075"/>
                  <a:gd name="connsiteY1" fmla="*/ 326232 h 326232"/>
                  <a:gd name="connsiteX2" fmla="*/ 0 w 600075"/>
                  <a:gd name="connsiteY2" fmla="*/ 321469 h 326232"/>
                  <a:gd name="connsiteX0" fmla="*/ 600075 w 600075"/>
                  <a:gd name="connsiteY0" fmla="*/ 0 h 326232"/>
                  <a:gd name="connsiteX1" fmla="*/ 597693 w 600075"/>
                  <a:gd name="connsiteY1" fmla="*/ 326232 h 326232"/>
                  <a:gd name="connsiteX2" fmla="*/ 0 w 600075"/>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1928812 w 1928812"/>
                  <a:gd name="connsiteY0" fmla="*/ 0 h 326232"/>
                  <a:gd name="connsiteX1" fmla="*/ 1745455 w 1928812"/>
                  <a:gd name="connsiteY1" fmla="*/ 326232 h 326232"/>
                  <a:gd name="connsiteX2" fmla="*/ 0 w 1928812"/>
                  <a:gd name="connsiteY2" fmla="*/ 314325 h 326232"/>
                  <a:gd name="connsiteX0" fmla="*/ 3100387 w 3100387"/>
                  <a:gd name="connsiteY0" fmla="*/ 0 h 326232"/>
                  <a:gd name="connsiteX1" fmla="*/ 2917030 w 3100387"/>
                  <a:gd name="connsiteY1" fmla="*/ 326232 h 326232"/>
                  <a:gd name="connsiteX2" fmla="*/ 0 w 3100387"/>
                  <a:gd name="connsiteY2" fmla="*/ 319088 h 326232"/>
                  <a:gd name="connsiteX0" fmla="*/ 3109912 w 3109912"/>
                  <a:gd name="connsiteY0" fmla="*/ 0 h 334963"/>
                  <a:gd name="connsiteX1" fmla="*/ 2926555 w 3109912"/>
                  <a:gd name="connsiteY1" fmla="*/ 326232 h 334963"/>
                  <a:gd name="connsiteX2" fmla="*/ 0 w 3109912"/>
                  <a:gd name="connsiteY2" fmla="*/ 334963 h 334963"/>
                  <a:gd name="connsiteX0" fmla="*/ 3116262 w 3116262"/>
                  <a:gd name="connsiteY0" fmla="*/ 0 h 326232"/>
                  <a:gd name="connsiteX1" fmla="*/ 2932905 w 3116262"/>
                  <a:gd name="connsiteY1" fmla="*/ 326232 h 326232"/>
                  <a:gd name="connsiteX2" fmla="*/ 0 w 3116262"/>
                  <a:gd name="connsiteY2" fmla="*/ 325438 h 326232"/>
                  <a:gd name="connsiteX0" fmla="*/ 1484454 w 1484454"/>
                  <a:gd name="connsiteY0" fmla="*/ 0 h 326232"/>
                  <a:gd name="connsiteX1" fmla="*/ 1301097 w 1484454"/>
                  <a:gd name="connsiteY1" fmla="*/ 326232 h 326232"/>
                  <a:gd name="connsiteX2" fmla="*/ 0 w 1484454"/>
                  <a:gd name="connsiteY2" fmla="*/ 325438 h 326232"/>
                </a:gdLst>
                <a:ahLst/>
                <a:cxnLst>
                  <a:cxn ang="0">
                    <a:pos x="connsiteX0" y="connsiteY0"/>
                  </a:cxn>
                  <a:cxn ang="0">
                    <a:pos x="connsiteX1" y="connsiteY1"/>
                  </a:cxn>
                  <a:cxn ang="0">
                    <a:pos x="connsiteX2" y="connsiteY2"/>
                  </a:cxn>
                </a:cxnLst>
                <a:rect l="l" t="t" r="r" b="b"/>
                <a:pathLst>
                  <a:path w="1484454" h="326232">
                    <a:moveTo>
                      <a:pt x="1484454" y="0"/>
                    </a:moveTo>
                    <a:cubicBezTo>
                      <a:pt x="1298518" y="332779"/>
                      <a:pt x="1484056" y="-1189"/>
                      <a:pt x="1301097" y="326232"/>
                    </a:cubicBezTo>
                    <a:lnTo>
                      <a:pt x="0" y="325438"/>
                    </a:ln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3">
                <a:extLst>
                  <a:ext uri="{FF2B5EF4-FFF2-40B4-BE49-F238E27FC236}">
                    <a16:creationId xmlns:a16="http://schemas.microsoft.com/office/drawing/2014/main" id="{76CC7FB2-032E-6EA6-CD7B-BD82B6A2FA19}"/>
                  </a:ext>
                </a:extLst>
              </p:cNvPr>
              <p:cNvSpPr/>
              <p:nvPr>
                <p:custDataLst>
                  <p:tags r:id="rId11"/>
                </p:custDataLst>
              </p:nvPr>
            </p:nvSpPr>
            <p:spPr>
              <a:xfrm rot="11375999" flipH="1">
                <a:off x="6135915" y="3943695"/>
                <a:ext cx="1628906" cy="1360590"/>
              </a:xfrm>
              <a:custGeom>
                <a:avLst/>
                <a:gdLst>
                  <a:gd name="connsiteX0" fmla="*/ 70205 w 1628906"/>
                  <a:gd name="connsiteY0" fmla="*/ 520 h 1360590"/>
                  <a:gd name="connsiteX1" fmla="*/ 953667 w 1628906"/>
                  <a:gd name="connsiteY1" fmla="*/ 113175 h 1360590"/>
                  <a:gd name="connsiteX2" fmla="*/ 985041 w 1628906"/>
                  <a:gd name="connsiteY2" fmla="*/ 126704 h 1360590"/>
                  <a:gd name="connsiteX3" fmla="*/ 993956 w 1628906"/>
                  <a:gd name="connsiteY3" fmla="*/ 214514 h 1360590"/>
                  <a:gd name="connsiteX4" fmla="*/ 953153 w 1628906"/>
                  <a:gd name="connsiteY4" fmla="*/ 264239 h 1360590"/>
                  <a:gd name="connsiteX5" fmla="*/ 952433 w 1628906"/>
                  <a:gd name="connsiteY5" fmla="*/ 265149 h 1360590"/>
                  <a:gd name="connsiteX6" fmla="*/ 962924 w 1628906"/>
                  <a:gd name="connsiteY6" fmla="*/ 352547 h 1360590"/>
                  <a:gd name="connsiteX7" fmla="*/ 1576962 w 1628906"/>
                  <a:gd name="connsiteY7" fmla="*/ 1198361 h 1360590"/>
                  <a:gd name="connsiteX8" fmla="*/ 1628906 w 1628906"/>
                  <a:gd name="connsiteY8" fmla="*/ 1360590 h 1360590"/>
                  <a:gd name="connsiteX9" fmla="*/ 912551 w 1628906"/>
                  <a:gd name="connsiteY9" fmla="*/ 1360590 h 1360590"/>
                  <a:gd name="connsiteX10" fmla="*/ 882474 w 1628906"/>
                  <a:gd name="connsiteY10" fmla="*/ 1289522 h 1360590"/>
                  <a:gd name="connsiteX11" fmla="*/ 532423 w 1628906"/>
                  <a:gd name="connsiteY11" fmla="*/ 872958 h 1360590"/>
                  <a:gd name="connsiteX12" fmla="*/ 446700 w 1628906"/>
                  <a:gd name="connsiteY12" fmla="*/ 883417 h 1360590"/>
                  <a:gd name="connsiteX13" fmla="*/ 406583 w 1628906"/>
                  <a:gd name="connsiteY13" fmla="*/ 932285 h 1360590"/>
                  <a:gd name="connsiteX14" fmla="*/ 379270 w 1628906"/>
                  <a:gd name="connsiteY14" fmla="*/ 951524 h 1360590"/>
                  <a:gd name="connsiteX15" fmla="*/ 299772 w 1628906"/>
                  <a:gd name="connsiteY15" fmla="*/ 913767 h 1360590"/>
                  <a:gd name="connsiteX16" fmla="*/ 199647 w 1628906"/>
                  <a:gd name="connsiteY16" fmla="*/ 632385 h 1360590"/>
                  <a:gd name="connsiteX17" fmla="*/ 20829 w 1628906"/>
                  <a:gd name="connsiteY17" fmla="*/ 130151 h 1360590"/>
                  <a:gd name="connsiteX18" fmla="*/ 3684 w 1628906"/>
                  <a:gd name="connsiteY18" fmla="*/ 83338 h 1360590"/>
                  <a:gd name="connsiteX19" fmla="*/ 512 w 1628906"/>
                  <a:gd name="connsiteY19" fmla="*/ 54276 h 1360590"/>
                  <a:gd name="connsiteX20" fmla="*/ 70205 w 1628906"/>
                  <a:gd name="connsiteY20" fmla="*/ 520 h 1360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8906" h="1360590">
                    <a:moveTo>
                      <a:pt x="70205" y="520"/>
                    </a:moveTo>
                    <a:lnTo>
                      <a:pt x="953667" y="113175"/>
                    </a:lnTo>
                    <a:cubicBezTo>
                      <a:pt x="965171" y="114684"/>
                      <a:pt x="976041" y="119366"/>
                      <a:pt x="985041" y="126704"/>
                    </a:cubicBezTo>
                    <a:cubicBezTo>
                      <a:pt x="1011752" y="148481"/>
                      <a:pt x="1015748" y="187799"/>
                      <a:pt x="993956" y="214514"/>
                    </a:cubicBezTo>
                    <a:lnTo>
                      <a:pt x="953153" y="264239"/>
                    </a:lnTo>
                    <a:cubicBezTo>
                      <a:pt x="952911" y="264549"/>
                      <a:pt x="952654" y="264841"/>
                      <a:pt x="952433" y="265149"/>
                    </a:cubicBezTo>
                    <a:cubicBezTo>
                      <a:pt x="931190" y="292189"/>
                      <a:pt x="935887" y="331319"/>
                      <a:pt x="962924" y="352547"/>
                    </a:cubicBezTo>
                    <a:cubicBezTo>
                      <a:pt x="1233916" y="563776"/>
                      <a:pt x="1448919" y="861343"/>
                      <a:pt x="1576962" y="1198361"/>
                    </a:cubicBezTo>
                    <a:lnTo>
                      <a:pt x="1628906" y="1360590"/>
                    </a:lnTo>
                    <a:lnTo>
                      <a:pt x="912551" y="1360590"/>
                    </a:lnTo>
                    <a:lnTo>
                      <a:pt x="882474" y="1289522"/>
                    </a:lnTo>
                    <a:cubicBezTo>
                      <a:pt x="802323" y="1127376"/>
                      <a:pt x="685611" y="987928"/>
                      <a:pt x="532423" y="872958"/>
                    </a:cubicBezTo>
                    <a:cubicBezTo>
                      <a:pt x="505678" y="852828"/>
                      <a:pt x="467823" y="857440"/>
                      <a:pt x="446700" y="883417"/>
                    </a:cubicBezTo>
                    <a:lnTo>
                      <a:pt x="406583" y="932285"/>
                    </a:lnTo>
                    <a:cubicBezTo>
                      <a:pt x="399399" y="941065"/>
                      <a:pt x="389969" y="947718"/>
                      <a:pt x="379270" y="951524"/>
                    </a:cubicBezTo>
                    <a:cubicBezTo>
                      <a:pt x="346902" y="963065"/>
                      <a:pt x="311293" y="946158"/>
                      <a:pt x="299772" y="913767"/>
                    </a:cubicBezTo>
                    <a:lnTo>
                      <a:pt x="199647" y="632385"/>
                    </a:lnTo>
                    <a:lnTo>
                      <a:pt x="20829" y="130151"/>
                    </a:lnTo>
                    <a:lnTo>
                      <a:pt x="3684" y="83338"/>
                    </a:lnTo>
                    <a:cubicBezTo>
                      <a:pt x="341" y="74046"/>
                      <a:pt x="-757" y="64084"/>
                      <a:pt x="512" y="54276"/>
                    </a:cubicBezTo>
                    <a:cubicBezTo>
                      <a:pt x="4919" y="20187"/>
                      <a:pt x="36121" y="-3887"/>
                      <a:pt x="70205" y="520"/>
                    </a:cubicBezTo>
                    <a:close/>
                  </a:path>
                </a:pathLst>
              </a:custGeom>
              <a:gradFill flip="none" rotWithShape="1">
                <a:gsLst>
                  <a:gs pos="100000">
                    <a:schemeClr val="accent3"/>
                  </a:gs>
                  <a:gs pos="0">
                    <a:schemeClr val="accent3">
                      <a:lumMod val="60000"/>
                      <a:lumOff val="40000"/>
                    </a:schemeClr>
                  </a:gs>
                </a:gsLst>
                <a:lin ang="0" scaled="0"/>
                <a:tileRect/>
              </a:gradFill>
              <a:ln w="9525" cap="flat">
                <a:noFill/>
                <a:prstDash val="solid"/>
                <a:miter/>
              </a:ln>
              <a:effectLst>
                <a:outerShdw blurRad="101600" dist="127000" dir="5400000" sx="102000" sy="102000" algn="ctr" rotWithShape="0">
                  <a:schemeClr val="accent3">
                    <a:alpha val="20000"/>
                  </a:schemeClr>
                </a:outerShdw>
              </a:effectLst>
            </p:spPr>
            <p:txBody>
              <a:bodyPr rot="0" spcFirstLastPara="0" vert="horz" wrap="square" lIns="91440" tIns="45720" rIns="91440" bIns="45720" numCol="1" spcCol="0" rtlCol="0" fromWordArt="0" anchor="ctr" anchorCtr="0" forceAA="0" compatLnSpc="1">
                <a:norm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5" name="Title-3">
                <a:extLst>
                  <a:ext uri="{FF2B5EF4-FFF2-40B4-BE49-F238E27FC236}">
                    <a16:creationId xmlns:a16="http://schemas.microsoft.com/office/drawing/2014/main" id="{16D0549C-B57E-BEB3-7BA0-397A662CCDC8}"/>
                  </a:ext>
                </a:extLst>
              </p:cNvPr>
              <p:cNvSpPr txBox="1"/>
              <p:nvPr>
                <p:custDataLst>
                  <p:tags r:id="rId12"/>
                </p:custDataLst>
              </p:nvPr>
            </p:nvSpPr>
            <p:spPr>
              <a:xfrm>
                <a:off x="8267505" y="4743256"/>
                <a:ext cx="3779190" cy="369332"/>
              </a:xfrm>
              <a:prstGeom prst="rect">
                <a:avLst/>
              </a:prstGeom>
              <a:noFill/>
            </p:spPr>
            <p:txBody>
              <a:bodyPr wrap="square" rtlCol="0">
                <a:noAutofit/>
              </a:bodyPr>
              <a:lstStyle/>
              <a:p>
                <a:r>
                  <a:rPr lang="zh-CN" altLang="en-US" b="1">
                    <a:solidFill>
                      <a:schemeClr val="accent3"/>
                    </a:solidFill>
                    <a:latin typeface="微软雅黑" panose="020B0503020204020204" pitchFamily="34" charset="-122"/>
                    <a:ea typeface="微软雅黑" panose="020B0503020204020204" pitchFamily="34" charset="-122"/>
                  </a:rPr>
                  <a:t>迭代优化（数据分析与理论修正）：</a:t>
                </a:r>
                <a:endParaRPr lang="zh-CN" altLang="en-US" b="1" dirty="0">
                  <a:solidFill>
                    <a:schemeClr val="accent3"/>
                  </a:solidFill>
                  <a:latin typeface="微软雅黑" panose="020B0503020204020204" pitchFamily="34" charset="-122"/>
                  <a:ea typeface="微软雅黑" panose="020B0503020204020204" pitchFamily="34" charset="-122"/>
                </a:endParaRPr>
              </a:p>
            </p:txBody>
          </p:sp>
          <p:sp>
            <p:nvSpPr>
              <p:cNvPr id="56" name="Body-3">
                <a:extLst>
                  <a:ext uri="{FF2B5EF4-FFF2-40B4-BE49-F238E27FC236}">
                    <a16:creationId xmlns:a16="http://schemas.microsoft.com/office/drawing/2014/main" id="{C8AF638F-3441-9B10-88A6-3288C452A7B7}"/>
                  </a:ext>
                </a:extLst>
              </p:cNvPr>
              <p:cNvSpPr>
                <a:spLocks/>
              </p:cNvSpPr>
              <p:nvPr>
                <p:custDataLst>
                  <p:tags r:id="rId13"/>
                </p:custDataLst>
              </p:nvPr>
            </p:nvSpPr>
            <p:spPr>
              <a:xfrm>
                <a:off x="8361651" y="5200766"/>
                <a:ext cx="2985798" cy="13464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dirty="0">
                    <a:ln>
                      <a:noFill/>
                    </a:ln>
                    <a:solidFill>
                      <a:schemeClr val="tx1">
                        <a:lumMod val="75000"/>
                        <a:lumOff val="25000"/>
                      </a:schemeClr>
                    </a:solidFill>
                    <a:effectLst/>
                    <a:uLnTx/>
                    <a:uFillTx/>
                    <a:latin typeface="微软雅黑" panose="020B0503020204020204" pitchFamily="34" charset="-122"/>
                    <a:ea typeface="微软雅黑" panose="020B0503020204020204" pitchFamily="34" charset="-122"/>
                    <a:cs typeface="+mn-cs"/>
                  </a:rPr>
                  <a:t>反馈校准：基于实践反馈数据，持续迭代和优化‘数据模型’的精度与‘业务算法’的参数与逻辑</a:t>
                </a:r>
                <a:endParaRPr kumimoji="0" lang="en-GB" altLang="zh-CN" sz="1400" b="0" i="0" u="none" strike="noStrike" kern="1200" cap="none" spc="0" normalizeH="0" baseline="0" noProof="0" dirty="0">
                  <a:ln>
                    <a:noFill/>
                  </a:ln>
                  <a:solidFill>
                    <a:schemeClr val="tx1">
                      <a:lumMod val="75000"/>
                      <a:lumOff val="25000"/>
                    </a:schemeClr>
                  </a:solidFill>
                  <a:effectLst/>
                  <a:uLnTx/>
                  <a:uFillTx/>
                  <a:latin typeface="微软雅黑" panose="020B0503020204020204" pitchFamily="34" charset="-122"/>
                  <a:ea typeface="微软雅黑" panose="020B0503020204020204" pitchFamily="34" charset="-122"/>
                  <a:cs typeface="+mn-cs"/>
                </a:endParaRPr>
              </a:p>
            </p:txBody>
          </p:sp>
        </p:grpSp>
        <p:grpSp>
          <p:nvGrpSpPr>
            <p:cNvPr id="43" name="组合 42">
              <a:extLst>
                <a:ext uri="{FF2B5EF4-FFF2-40B4-BE49-F238E27FC236}">
                  <a16:creationId xmlns:a16="http://schemas.microsoft.com/office/drawing/2014/main" id="{046733DA-0853-6EAC-007A-50D839DC16A3}"/>
                </a:ext>
              </a:extLst>
            </p:cNvPr>
            <p:cNvGrpSpPr/>
            <p:nvPr/>
          </p:nvGrpSpPr>
          <p:grpSpPr>
            <a:xfrm>
              <a:off x="873739" y="2290817"/>
              <a:ext cx="4649173" cy="1581452"/>
              <a:chOff x="873739" y="2290817"/>
              <a:chExt cx="4649173" cy="1581452"/>
            </a:xfrm>
          </p:grpSpPr>
          <p:sp>
            <p:nvSpPr>
              <p:cNvPr id="49" name="5">
                <a:extLst>
                  <a:ext uri="{FF2B5EF4-FFF2-40B4-BE49-F238E27FC236}">
                    <a16:creationId xmlns:a16="http://schemas.microsoft.com/office/drawing/2014/main" id="{FF8B61A5-D69A-562D-1FA4-7A93DB9A90A4}"/>
                  </a:ext>
                </a:extLst>
              </p:cNvPr>
              <p:cNvSpPr/>
              <p:nvPr>
                <p:custDataLst>
                  <p:tags r:id="rId6"/>
                </p:custDataLst>
              </p:nvPr>
            </p:nvSpPr>
            <p:spPr>
              <a:xfrm flipV="1">
                <a:off x="3337199" y="3070620"/>
                <a:ext cx="987796" cy="326232"/>
              </a:xfrm>
              <a:custGeom>
                <a:avLst/>
                <a:gdLst>
                  <a:gd name="connsiteX0" fmla="*/ 526256 w 557600"/>
                  <a:gd name="connsiteY0" fmla="*/ 0 h 335446"/>
                  <a:gd name="connsiteX1" fmla="*/ 500062 w 557600"/>
                  <a:gd name="connsiteY1" fmla="*/ 314325 h 335446"/>
                  <a:gd name="connsiteX2" fmla="*/ 0 w 557600"/>
                  <a:gd name="connsiteY2" fmla="*/ 321469 h 335446"/>
                  <a:gd name="connsiteX0" fmla="*/ 578644 w 591859"/>
                  <a:gd name="connsiteY0" fmla="*/ 0 h 352115"/>
                  <a:gd name="connsiteX1" fmla="*/ 500062 w 591859"/>
                  <a:gd name="connsiteY1" fmla="*/ 330994 h 352115"/>
                  <a:gd name="connsiteX2" fmla="*/ 0 w 591859"/>
                  <a:gd name="connsiteY2" fmla="*/ 338138 h 352115"/>
                  <a:gd name="connsiteX0" fmla="*/ 578644 w 578844"/>
                  <a:gd name="connsiteY0" fmla="*/ 0 h 352115"/>
                  <a:gd name="connsiteX1" fmla="*/ 500062 w 578844"/>
                  <a:gd name="connsiteY1" fmla="*/ 330994 h 352115"/>
                  <a:gd name="connsiteX2" fmla="*/ 0 w 578844"/>
                  <a:gd name="connsiteY2" fmla="*/ 338138 h 352115"/>
                  <a:gd name="connsiteX0" fmla="*/ 578644 w 615825"/>
                  <a:gd name="connsiteY0" fmla="*/ 0 h 348419"/>
                  <a:gd name="connsiteX1" fmla="*/ 576262 w 615825"/>
                  <a:gd name="connsiteY1" fmla="*/ 326232 h 348419"/>
                  <a:gd name="connsiteX2" fmla="*/ 0 w 615825"/>
                  <a:gd name="connsiteY2" fmla="*/ 338138 h 348419"/>
                  <a:gd name="connsiteX0" fmla="*/ 578644 w 578644"/>
                  <a:gd name="connsiteY0" fmla="*/ 0 h 348419"/>
                  <a:gd name="connsiteX1" fmla="*/ 576262 w 578644"/>
                  <a:gd name="connsiteY1" fmla="*/ 326232 h 348419"/>
                  <a:gd name="connsiteX2" fmla="*/ 0 w 578644"/>
                  <a:gd name="connsiteY2" fmla="*/ 338138 h 348419"/>
                  <a:gd name="connsiteX0" fmla="*/ 578644 w 578644"/>
                  <a:gd name="connsiteY0" fmla="*/ 0 h 338138"/>
                  <a:gd name="connsiteX1" fmla="*/ 576262 w 578644"/>
                  <a:gd name="connsiteY1" fmla="*/ 326232 h 338138"/>
                  <a:gd name="connsiteX2" fmla="*/ 0 w 578644"/>
                  <a:gd name="connsiteY2" fmla="*/ 338138 h 338138"/>
                  <a:gd name="connsiteX0" fmla="*/ 600075 w 600075"/>
                  <a:gd name="connsiteY0" fmla="*/ 0 h 326232"/>
                  <a:gd name="connsiteX1" fmla="*/ 597693 w 600075"/>
                  <a:gd name="connsiteY1" fmla="*/ 326232 h 326232"/>
                  <a:gd name="connsiteX2" fmla="*/ 0 w 600075"/>
                  <a:gd name="connsiteY2" fmla="*/ 321469 h 326232"/>
                  <a:gd name="connsiteX0" fmla="*/ 600075 w 600075"/>
                  <a:gd name="connsiteY0" fmla="*/ 0 h 326232"/>
                  <a:gd name="connsiteX1" fmla="*/ 597693 w 600075"/>
                  <a:gd name="connsiteY1" fmla="*/ 326232 h 326232"/>
                  <a:gd name="connsiteX2" fmla="*/ 0 w 600075"/>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1928812 w 1928812"/>
                  <a:gd name="connsiteY0" fmla="*/ 0 h 326232"/>
                  <a:gd name="connsiteX1" fmla="*/ 1745455 w 1928812"/>
                  <a:gd name="connsiteY1" fmla="*/ 326232 h 326232"/>
                  <a:gd name="connsiteX2" fmla="*/ 0 w 1928812"/>
                  <a:gd name="connsiteY2" fmla="*/ 314325 h 326232"/>
                  <a:gd name="connsiteX0" fmla="*/ 3100387 w 3100387"/>
                  <a:gd name="connsiteY0" fmla="*/ 0 h 326232"/>
                  <a:gd name="connsiteX1" fmla="*/ 2917030 w 3100387"/>
                  <a:gd name="connsiteY1" fmla="*/ 326232 h 326232"/>
                  <a:gd name="connsiteX2" fmla="*/ 0 w 3100387"/>
                  <a:gd name="connsiteY2" fmla="*/ 319088 h 326232"/>
                  <a:gd name="connsiteX0" fmla="*/ 3109912 w 3109912"/>
                  <a:gd name="connsiteY0" fmla="*/ 0 h 334963"/>
                  <a:gd name="connsiteX1" fmla="*/ 2926555 w 3109912"/>
                  <a:gd name="connsiteY1" fmla="*/ 326232 h 334963"/>
                  <a:gd name="connsiteX2" fmla="*/ 0 w 3109912"/>
                  <a:gd name="connsiteY2" fmla="*/ 334963 h 334963"/>
                  <a:gd name="connsiteX0" fmla="*/ 3116262 w 3116262"/>
                  <a:gd name="connsiteY0" fmla="*/ 0 h 326232"/>
                  <a:gd name="connsiteX1" fmla="*/ 2932905 w 3116262"/>
                  <a:gd name="connsiteY1" fmla="*/ 326232 h 326232"/>
                  <a:gd name="connsiteX2" fmla="*/ 0 w 3116262"/>
                  <a:gd name="connsiteY2" fmla="*/ 325438 h 326232"/>
                  <a:gd name="connsiteX0" fmla="*/ 1484454 w 1484454"/>
                  <a:gd name="connsiteY0" fmla="*/ 0 h 326232"/>
                  <a:gd name="connsiteX1" fmla="*/ 1301097 w 1484454"/>
                  <a:gd name="connsiteY1" fmla="*/ 326232 h 326232"/>
                  <a:gd name="connsiteX2" fmla="*/ 0 w 1484454"/>
                  <a:gd name="connsiteY2" fmla="*/ 325438 h 326232"/>
                </a:gdLst>
                <a:ahLst/>
                <a:cxnLst>
                  <a:cxn ang="0">
                    <a:pos x="connsiteX0" y="connsiteY0"/>
                  </a:cxn>
                  <a:cxn ang="0">
                    <a:pos x="connsiteX1" y="connsiteY1"/>
                  </a:cxn>
                  <a:cxn ang="0">
                    <a:pos x="connsiteX2" y="connsiteY2"/>
                  </a:cxn>
                </a:cxnLst>
                <a:rect l="l" t="t" r="r" b="b"/>
                <a:pathLst>
                  <a:path w="1484454" h="326232">
                    <a:moveTo>
                      <a:pt x="1484454" y="0"/>
                    </a:moveTo>
                    <a:cubicBezTo>
                      <a:pt x="1298518" y="332779"/>
                      <a:pt x="1484056" y="-1189"/>
                      <a:pt x="1301097" y="326232"/>
                    </a:cubicBezTo>
                    <a:lnTo>
                      <a:pt x="0" y="325438"/>
                    </a:ln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5">
                <a:extLst>
                  <a:ext uri="{FF2B5EF4-FFF2-40B4-BE49-F238E27FC236}">
                    <a16:creationId xmlns:a16="http://schemas.microsoft.com/office/drawing/2014/main" id="{E2686831-8C1E-3A2E-5F4F-7EE0BDDDE310}"/>
                  </a:ext>
                </a:extLst>
              </p:cNvPr>
              <p:cNvSpPr/>
              <p:nvPr>
                <p:custDataLst>
                  <p:tags r:id="rId7"/>
                </p:custDataLst>
              </p:nvPr>
            </p:nvSpPr>
            <p:spPr>
              <a:xfrm rot="19992001" flipH="1">
                <a:off x="3894006" y="2290817"/>
                <a:ext cx="1628906" cy="1360590"/>
              </a:xfrm>
              <a:custGeom>
                <a:avLst/>
                <a:gdLst>
                  <a:gd name="connsiteX0" fmla="*/ 70205 w 1628906"/>
                  <a:gd name="connsiteY0" fmla="*/ 520 h 1360590"/>
                  <a:gd name="connsiteX1" fmla="*/ 953667 w 1628906"/>
                  <a:gd name="connsiteY1" fmla="*/ 113175 h 1360590"/>
                  <a:gd name="connsiteX2" fmla="*/ 985041 w 1628906"/>
                  <a:gd name="connsiteY2" fmla="*/ 126704 h 1360590"/>
                  <a:gd name="connsiteX3" fmla="*/ 993956 w 1628906"/>
                  <a:gd name="connsiteY3" fmla="*/ 214514 h 1360590"/>
                  <a:gd name="connsiteX4" fmla="*/ 953153 w 1628906"/>
                  <a:gd name="connsiteY4" fmla="*/ 264239 h 1360590"/>
                  <a:gd name="connsiteX5" fmla="*/ 952433 w 1628906"/>
                  <a:gd name="connsiteY5" fmla="*/ 265149 h 1360590"/>
                  <a:gd name="connsiteX6" fmla="*/ 962924 w 1628906"/>
                  <a:gd name="connsiteY6" fmla="*/ 352547 h 1360590"/>
                  <a:gd name="connsiteX7" fmla="*/ 1576962 w 1628906"/>
                  <a:gd name="connsiteY7" fmla="*/ 1198361 h 1360590"/>
                  <a:gd name="connsiteX8" fmla="*/ 1628906 w 1628906"/>
                  <a:gd name="connsiteY8" fmla="*/ 1360590 h 1360590"/>
                  <a:gd name="connsiteX9" fmla="*/ 912551 w 1628906"/>
                  <a:gd name="connsiteY9" fmla="*/ 1360590 h 1360590"/>
                  <a:gd name="connsiteX10" fmla="*/ 882474 w 1628906"/>
                  <a:gd name="connsiteY10" fmla="*/ 1289522 h 1360590"/>
                  <a:gd name="connsiteX11" fmla="*/ 532423 w 1628906"/>
                  <a:gd name="connsiteY11" fmla="*/ 872958 h 1360590"/>
                  <a:gd name="connsiteX12" fmla="*/ 446700 w 1628906"/>
                  <a:gd name="connsiteY12" fmla="*/ 883417 h 1360590"/>
                  <a:gd name="connsiteX13" fmla="*/ 406583 w 1628906"/>
                  <a:gd name="connsiteY13" fmla="*/ 932285 h 1360590"/>
                  <a:gd name="connsiteX14" fmla="*/ 379270 w 1628906"/>
                  <a:gd name="connsiteY14" fmla="*/ 951524 h 1360590"/>
                  <a:gd name="connsiteX15" fmla="*/ 299772 w 1628906"/>
                  <a:gd name="connsiteY15" fmla="*/ 913767 h 1360590"/>
                  <a:gd name="connsiteX16" fmla="*/ 199647 w 1628906"/>
                  <a:gd name="connsiteY16" fmla="*/ 632385 h 1360590"/>
                  <a:gd name="connsiteX17" fmla="*/ 20829 w 1628906"/>
                  <a:gd name="connsiteY17" fmla="*/ 130151 h 1360590"/>
                  <a:gd name="connsiteX18" fmla="*/ 3684 w 1628906"/>
                  <a:gd name="connsiteY18" fmla="*/ 83338 h 1360590"/>
                  <a:gd name="connsiteX19" fmla="*/ 512 w 1628906"/>
                  <a:gd name="connsiteY19" fmla="*/ 54276 h 1360590"/>
                  <a:gd name="connsiteX20" fmla="*/ 70205 w 1628906"/>
                  <a:gd name="connsiteY20" fmla="*/ 520 h 1360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8906" h="1360590">
                    <a:moveTo>
                      <a:pt x="70205" y="520"/>
                    </a:moveTo>
                    <a:lnTo>
                      <a:pt x="953667" y="113175"/>
                    </a:lnTo>
                    <a:cubicBezTo>
                      <a:pt x="965171" y="114684"/>
                      <a:pt x="976041" y="119366"/>
                      <a:pt x="985041" y="126704"/>
                    </a:cubicBezTo>
                    <a:cubicBezTo>
                      <a:pt x="1011752" y="148481"/>
                      <a:pt x="1015748" y="187799"/>
                      <a:pt x="993956" y="214514"/>
                    </a:cubicBezTo>
                    <a:lnTo>
                      <a:pt x="953153" y="264239"/>
                    </a:lnTo>
                    <a:cubicBezTo>
                      <a:pt x="952911" y="264549"/>
                      <a:pt x="952654" y="264841"/>
                      <a:pt x="952433" y="265149"/>
                    </a:cubicBezTo>
                    <a:cubicBezTo>
                      <a:pt x="931190" y="292189"/>
                      <a:pt x="935887" y="331319"/>
                      <a:pt x="962924" y="352547"/>
                    </a:cubicBezTo>
                    <a:cubicBezTo>
                      <a:pt x="1233916" y="563776"/>
                      <a:pt x="1448919" y="861343"/>
                      <a:pt x="1576962" y="1198361"/>
                    </a:cubicBezTo>
                    <a:lnTo>
                      <a:pt x="1628906" y="1360590"/>
                    </a:lnTo>
                    <a:lnTo>
                      <a:pt x="912551" y="1360590"/>
                    </a:lnTo>
                    <a:lnTo>
                      <a:pt x="882474" y="1289522"/>
                    </a:lnTo>
                    <a:cubicBezTo>
                      <a:pt x="802323" y="1127376"/>
                      <a:pt x="685611" y="987928"/>
                      <a:pt x="532423" y="872958"/>
                    </a:cubicBezTo>
                    <a:cubicBezTo>
                      <a:pt x="505678" y="852828"/>
                      <a:pt x="467823" y="857440"/>
                      <a:pt x="446700" y="883417"/>
                    </a:cubicBezTo>
                    <a:lnTo>
                      <a:pt x="406583" y="932285"/>
                    </a:lnTo>
                    <a:cubicBezTo>
                      <a:pt x="399399" y="941065"/>
                      <a:pt x="389969" y="947718"/>
                      <a:pt x="379270" y="951524"/>
                    </a:cubicBezTo>
                    <a:cubicBezTo>
                      <a:pt x="346902" y="963065"/>
                      <a:pt x="311293" y="946158"/>
                      <a:pt x="299772" y="913767"/>
                    </a:cubicBezTo>
                    <a:lnTo>
                      <a:pt x="199647" y="632385"/>
                    </a:lnTo>
                    <a:lnTo>
                      <a:pt x="20829" y="130151"/>
                    </a:lnTo>
                    <a:lnTo>
                      <a:pt x="3684" y="83338"/>
                    </a:lnTo>
                    <a:cubicBezTo>
                      <a:pt x="341" y="74046"/>
                      <a:pt x="-757" y="64084"/>
                      <a:pt x="512" y="54276"/>
                    </a:cubicBezTo>
                    <a:cubicBezTo>
                      <a:pt x="4919" y="20187"/>
                      <a:pt x="36121" y="-3887"/>
                      <a:pt x="70205" y="520"/>
                    </a:cubicBezTo>
                    <a:close/>
                  </a:path>
                </a:pathLst>
              </a:custGeom>
              <a:gradFill flip="none" rotWithShape="1">
                <a:gsLst>
                  <a:gs pos="100000">
                    <a:schemeClr val="accent5"/>
                  </a:gs>
                  <a:gs pos="0">
                    <a:schemeClr val="accent5">
                      <a:lumMod val="60000"/>
                      <a:lumOff val="40000"/>
                    </a:schemeClr>
                  </a:gs>
                </a:gsLst>
                <a:lin ang="0" scaled="1"/>
                <a:tileRect/>
              </a:gradFill>
              <a:ln w="9525" cap="flat">
                <a:noFill/>
                <a:prstDash val="solid"/>
                <a:miter/>
              </a:ln>
              <a:effectLst>
                <a:outerShdw blurRad="101600" dist="127000" dir="5400000" sx="102000" sy="102000" algn="ctr" rotWithShape="0">
                  <a:schemeClr val="accent5">
                    <a:alpha val="20000"/>
                  </a:schemeClr>
                </a:outerShdw>
              </a:effectLst>
            </p:spPr>
            <p:txBody>
              <a:bodyPr rot="0" spcFirstLastPara="0" vert="horz" wrap="square" lIns="91440" tIns="45720" rIns="91440" bIns="45720" numCol="1" spcCol="0" rtlCol="0" fromWordArt="0" anchor="ctr" anchorCtr="0" forceAA="0" compatLnSpc="1">
                <a:norm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1" name="Title-5">
                <a:extLst>
                  <a:ext uri="{FF2B5EF4-FFF2-40B4-BE49-F238E27FC236}">
                    <a16:creationId xmlns:a16="http://schemas.microsoft.com/office/drawing/2014/main" id="{309EC5C2-1288-DE6C-89FF-BE89905F7B19}"/>
                  </a:ext>
                </a:extLst>
              </p:cNvPr>
              <p:cNvSpPr txBox="1"/>
              <p:nvPr>
                <p:custDataLst>
                  <p:tags r:id="rId8"/>
                </p:custDataLst>
              </p:nvPr>
            </p:nvSpPr>
            <p:spPr>
              <a:xfrm>
                <a:off x="873739" y="2885954"/>
                <a:ext cx="2455200" cy="369332"/>
              </a:xfrm>
              <a:prstGeom prst="rect">
                <a:avLst/>
              </a:prstGeom>
              <a:noFill/>
            </p:spPr>
            <p:txBody>
              <a:bodyPr wrap="square" rtlCol="0">
                <a:noAutofit/>
              </a:bodyPr>
              <a:lstStyle/>
              <a:p>
                <a:pPr algn="r"/>
                <a:r>
                  <a:rPr lang="zh-CN" altLang="en-US" b="1" dirty="0">
                    <a:solidFill>
                      <a:schemeClr val="accent5"/>
                    </a:solidFill>
                    <a:latin typeface="微软雅黑" panose="020B0503020204020204" pitchFamily="34" charset="-122"/>
                    <a:ea typeface="微软雅黑" panose="020B0503020204020204" pitchFamily="34" charset="-122"/>
                  </a:rPr>
                  <a:t>超越（范式革命）：</a:t>
                </a:r>
              </a:p>
            </p:txBody>
          </p:sp>
          <p:sp>
            <p:nvSpPr>
              <p:cNvPr id="52" name="Body-5">
                <a:extLst>
                  <a:ext uri="{FF2B5EF4-FFF2-40B4-BE49-F238E27FC236}">
                    <a16:creationId xmlns:a16="http://schemas.microsoft.com/office/drawing/2014/main" id="{148EE27A-02CD-31E4-51CF-311664060422}"/>
                  </a:ext>
                </a:extLst>
              </p:cNvPr>
              <p:cNvSpPr>
                <a:spLocks/>
              </p:cNvSpPr>
              <p:nvPr>
                <p:custDataLst>
                  <p:tags r:id="rId9"/>
                </p:custDataLst>
              </p:nvPr>
            </p:nvSpPr>
            <p:spPr>
              <a:xfrm>
                <a:off x="873740" y="3135724"/>
                <a:ext cx="2455200" cy="736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r" defTabSz="913765">
                  <a:lnSpc>
                    <a:spcPct val="130000"/>
                  </a:lnSpc>
                  <a:buSzPct val="100000"/>
                </a:pP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rPr>
                  <a:t>树立新标：将经过验证的创新‘内核’体系化、产品化，成为行业新的最佳实践标杆</a:t>
                </a:r>
                <a:endParaRPr lang="en-GB" altLang="zh-CN" sz="1400"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grpSp>
          <p:nvGrpSpPr>
            <p:cNvPr id="44" name="组合 43">
              <a:extLst>
                <a:ext uri="{FF2B5EF4-FFF2-40B4-BE49-F238E27FC236}">
                  <a16:creationId xmlns:a16="http://schemas.microsoft.com/office/drawing/2014/main" id="{5CE0B0A7-34DB-2823-C77D-8F0B19CF96AC}"/>
                </a:ext>
              </a:extLst>
            </p:cNvPr>
            <p:cNvGrpSpPr/>
            <p:nvPr/>
          </p:nvGrpSpPr>
          <p:grpSpPr>
            <a:xfrm>
              <a:off x="574088" y="3794534"/>
              <a:ext cx="5337379" cy="1823005"/>
              <a:chOff x="574088" y="3794534"/>
              <a:chExt cx="5337379" cy="1823005"/>
            </a:xfrm>
          </p:grpSpPr>
          <p:sp>
            <p:nvSpPr>
              <p:cNvPr id="45" name="4">
                <a:extLst>
                  <a:ext uri="{FF2B5EF4-FFF2-40B4-BE49-F238E27FC236}">
                    <a16:creationId xmlns:a16="http://schemas.microsoft.com/office/drawing/2014/main" id="{4EA0B922-571D-7FE2-FAC3-4A36E8B11D80}"/>
                  </a:ext>
                </a:extLst>
              </p:cNvPr>
              <p:cNvSpPr/>
              <p:nvPr>
                <p:custDataLst>
                  <p:tags r:id="rId2"/>
                </p:custDataLst>
              </p:nvPr>
            </p:nvSpPr>
            <p:spPr>
              <a:xfrm>
                <a:off x="3720663" y="4489658"/>
                <a:ext cx="987796" cy="326232"/>
              </a:xfrm>
              <a:custGeom>
                <a:avLst/>
                <a:gdLst>
                  <a:gd name="connsiteX0" fmla="*/ 526256 w 557600"/>
                  <a:gd name="connsiteY0" fmla="*/ 0 h 335446"/>
                  <a:gd name="connsiteX1" fmla="*/ 500062 w 557600"/>
                  <a:gd name="connsiteY1" fmla="*/ 314325 h 335446"/>
                  <a:gd name="connsiteX2" fmla="*/ 0 w 557600"/>
                  <a:gd name="connsiteY2" fmla="*/ 321469 h 335446"/>
                  <a:gd name="connsiteX0" fmla="*/ 578644 w 591859"/>
                  <a:gd name="connsiteY0" fmla="*/ 0 h 352115"/>
                  <a:gd name="connsiteX1" fmla="*/ 500062 w 591859"/>
                  <a:gd name="connsiteY1" fmla="*/ 330994 h 352115"/>
                  <a:gd name="connsiteX2" fmla="*/ 0 w 591859"/>
                  <a:gd name="connsiteY2" fmla="*/ 338138 h 352115"/>
                  <a:gd name="connsiteX0" fmla="*/ 578644 w 578844"/>
                  <a:gd name="connsiteY0" fmla="*/ 0 h 352115"/>
                  <a:gd name="connsiteX1" fmla="*/ 500062 w 578844"/>
                  <a:gd name="connsiteY1" fmla="*/ 330994 h 352115"/>
                  <a:gd name="connsiteX2" fmla="*/ 0 w 578844"/>
                  <a:gd name="connsiteY2" fmla="*/ 338138 h 352115"/>
                  <a:gd name="connsiteX0" fmla="*/ 578644 w 615825"/>
                  <a:gd name="connsiteY0" fmla="*/ 0 h 348419"/>
                  <a:gd name="connsiteX1" fmla="*/ 576262 w 615825"/>
                  <a:gd name="connsiteY1" fmla="*/ 326232 h 348419"/>
                  <a:gd name="connsiteX2" fmla="*/ 0 w 615825"/>
                  <a:gd name="connsiteY2" fmla="*/ 338138 h 348419"/>
                  <a:gd name="connsiteX0" fmla="*/ 578644 w 578644"/>
                  <a:gd name="connsiteY0" fmla="*/ 0 h 348419"/>
                  <a:gd name="connsiteX1" fmla="*/ 576262 w 578644"/>
                  <a:gd name="connsiteY1" fmla="*/ 326232 h 348419"/>
                  <a:gd name="connsiteX2" fmla="*/ 0 w 578644"/>
                  <a:gd name="connsiteY2" fmla="*/ 338138 h 348419"/>
                  <a:gd name="connsiteX0" fmla="*/ 578644 w 578644"/>
                  <a:gd name="connsiteY0" fmla="*/ 0 h 338138"/>
                  <a:gd name="connsiteX1" fmla="*/ 576262 w 578644"/>
                  <a:gd name="connsiteY1" fmla="*/ 326232 h 338138"/>
                  <a:gd name="connsiteX2" fmla="*/ 0 w 578644"/>
                  <a:gd name="connsiteY2" fmla="*/ 338138 h 338138"/>
                  <a:gd name="connsiteX0" fmla="*/ 600075 w 600075"/>
                  <a:gd name="connsiteY0" fmla="*/ 0 h 326232"/>
                  <a:gd name="connsiteX1" fmla="*/ 597693 w 600075"/>
                  <a:gd name="connsiteY1" fmla="*/ 326232 h 326232"/>
                  <a:gd name="connsiteX2" fmla="*/ 0 w 600075"/>
                  <a:gd name="connsiteY2" fmla="*/ 321469 h 326232"/>
                  <a:gd name="connsiteX0" fmla="*/ 600075 w 600075"/>
                  <a:gd name="connsiteY0" fmla="*/ 0 h 326232"/>
                  <a:gd name="connsiteX1" fmla="*/ 597693 w 600075"/>
                  <a:gd name="connsiteY1" fmla="*/ 326232 h 326232"/>
                  <a:gd name="connsiteX2" fmla="*/ 0 w 600075"/>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781050 w 781050"/>
                  <a:gd name="connsiteY0" fmla="*/ 0 h 326232"/>
                  <a:gd name="connsiteX1" fmla="*/ 597693 w 781050"/>
                  <a:gd name="connsiteY1" fmla="*/ 326232 h 326232"/>
                  <a:gd name="connsiteX2" fmla="*/ 0 w 781050"/>
                  <a:gd name="connsiteY2" fmla="*/ 321469 h 326232"/>
                  <a:gd name="connsiteX0" fmla="*/ 1928812 w 1928812"/>
                  <a:gd name="connsiteY0" fmla="*/ 0 h 326232"/>
                  <a:gd name="connsiteX1" fmla="*/ 1745455 w 1928812"/>
                  <a:gd name="connsiteY1" fmla="*/ 326232 h 326232"/>
                  <a:gd name="connsiteX2" fmla="*/ 0 w 1928812"/>
                  <a:gd name="connsiteY2" fmla="*/ 314325 h 326232"/>
                  <a:gd name="connsiteX0" fmla="*/ 3100387 w 3100387"/>
                  <a:gd name="connsiteY0" fmla="*/ 0 h 326232"/>
                  <a:gd name="connsiteX1" fmla="*/ 2917030 w 3100387"/>
                  <a:gd name="connsiteY1" fmla="*/ 326232 h 326232"/>
                  <a:gd name="connsiteX2" fmla="*/ 0 w 3100387"/>
                  <a:gd name="connsiteY2" fmla="*/ 319088 h 326232"/>
                  <a:gd name="connsiteX0" fmla="*/ 3109912 w 3109912"/>
                  <a:gd name="connsiteY0" fmla="*/ 0 h 334963"/>
                  <a:gd name="connsiteX1" fmla="*/ 2926555 w 3109912"/>
                  <a:gd name="connsiteY1" fmla="*/ 326232 h 334963"/>
                  <a:gd name="connsiteX2" fmla="*/ 0 w 3109912"/>
                  <a:gd name="connsiteY2" fmla="*/ 334963 h 334963"/>
                  <a:gd name="connsiteX0" fmla="*/ 3116262 w 3116262"/>
                  <a:gd name="connsiteY0" fmla="*/ 0 h 326232"/>
                  <a:gd name="connsiteX1" fmla="*/ 2932905 w 3116262"/>
                  <a:gd name="connsiteY1" fmla="*/ 326232 h 326232"/>
                  <a:gd name="connsiteX2" fmla="*/ 0 w 3116262"/>
                  <a:gd name="connsiteY2" fmla="*/ 325438 h 326232"/>
                  <a:gd name="connsiteX0" fmla="*/ 1484454 w 1484454"/>
                  <a:gd name="connsiteY0" fmla="*/ 0 h 326232"/>
                  <a:gd name="connsiteX1" fmla="*/ 1301097 w 1484454"/>
                  <a:gd name="connsiteY1" fmla="*/ 326232 h 326232"/>
                  <a:gd name="connsiteX2" fmla="*/ 0 w 1484454"/>
                  <a:gd name="connsiteY2" fmla="*/ 325438 h 326232"/>
                </a:gdLst>
                <a:ahLst/>
                <a:cxnLst>
                  <a:cxn ang="0">
                    <a:pos x="connsiteX0" y="connsiteY0"/>
                  </a:cxn>
                  <a:cxn ang="0">
                    <a:pos x="connsiteX1" y="connsiteY1"/>
                  </a:cxn>
                  <a:cxn ang="0">
                    <a:pos x="connsiteX2" y="connsiteY2"/>
                  </a:cxn>
                </a:cxnLst>
                <a:rect l="l" t="t" r="r" b="b"/>
                <a:pathLst>
                  <a:path w="1484454" h="326232">
                    <a:moveTo>
                      <a:pt x="1484454" y="0"/>
                    </a:moveTo>
                    <a:cubicBezTo>
                      <a:pt x="1298518" y="332779"/>
                      <a:pt x="1484056" y="-1189"/>
                      <a:pt x="1301097" y="326232"/>
                    </a:cubicBezTo>
                    <a:lnTo>
                      <a:pt x="0" y="325438"/>
                    </a:ln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4">
                <a:extLst>
                  <a:ext uri="{FF2B5EF4-FFF2-40B4-BE49-F238E27FC236}">
                    <a16:creationId xmlns:a16="http://schemas.microsoft.com/office/drawing/2014/main" id="{9444582F-DCE0-79DE-C449-F92ACFEFD399}"/>
                  </a:ext>
                </a:extLst>
              </p:cNvPr>
              <p:cNvSpPr/>
              <p:nvPr>
                <p:custDataLst>
                  <p:tags r:id="rId3"/>
                </p:custDataLst>
              </p:nvPr>
            </p:nvSpPr>
            <p:spPr>
              <a:xfrm rot="15684000" flipH="1">
                <a:off x="4416719" y="3928692"/>
                <a:ext cx="1628906" cy="1360590"/>
              </a:xfrm>
              <a:custGeom>
                <a:avLst/>
                <a:gdLst>
                  <a:gd name="connsiteX0" fmla="*/ 70205 w 1628906"/>
                  <a:gd name="connsiteY0" fmla="*/ 520 h 1360590"/>
                  <a:gd name="connsiteX1" fmla="*/ 953667 w 1628906"/>
                  <a:gd name="connsiteY1" fmla="*/ 113175 h 1360590"/>
                  <a:gd name="connsiteX2" fmla="*/ 985041 w 1628906"/>
                  <a:gd name="connsiteY2" fmla="*/ 126704 h 1360590"/>
                  <a:gd name="connsiteX3" fmla="*/ 993956 w 1628906"/>
                  <a:gd name="connsiteY3" fmla="*/ 214514 h 1360590"/>
                  <a:gd name="connsiteX4" fmla="*/ 953153 w 1628906"/>
                  <a:gd name="connsiteY4" fmla="*/ 264239 h 1360590"/>
                  <a:gd name="connsiteX5" fmla="*/ 952433 w 1628906"/>
                  <a:gd name="connsiteY5" fmla="*/ 265149 h 1360590"/>
                  <a:gd name="connsiteX6" fmla="*/ 962924 w 1628906"/>
                  <a:gd name="connsiteY6" fmla="*/ 352547 h 1360590"/>
                  <a:gd name="connsiteX7" fmla="*/ 1576962 w 1628906"/>
                  <a:gd name="connsiteY7" fmla="*/ 1198361 h 1360590"/>
                  <a:gd name="connsiteX8" fmla="*/ 1628906 w 1628906"/>
                  <a:gd name="connsiteY8" fmla="*/ 1360590 h 1360590"/>
                  <a:gd name="connsiteX9" fmla="*/ 912551 w 1628906"/>
                  <a:gd name="connsiteY9" fmla="*/ 1360590 h 1360590"/>
                  <a:gd name="connsiteX10" fmla="*/ 882474 w 1628906"/>
                  <a:gd name="connsiteY10" fmla="*/ 1289522 h 1360590"/>
                  <a:gd name="connsiteX11" fmla="*/ 532423 w 1628906"/>
                  <a:gd name="connsiteY11" fmla="*/ 872958 h 1360590"/>
                  <a:gd name="connsiteX12" fmla="*/ 446700 w 1628906"/>
                  <a:gd name="connsiteY12" fmla="*/ 883417 h 1360590"/>
                  <a:gd name="connsiteX13" fmla="*/ 406583 w 1628906"/>
                  <a:gd name="connsiteY13" fmla="*/ 932285 h 1360590"/>
                  <a:gd name="connsiteX14" fmla="*/ 379270 w 1628906"/>
                  <a:gd name="connsiteY14" fmla="*/ 951524 h 1360590"/>
                  <a:gd name="connsiteX15" fmla="*/ 299772 w 1628906"/>
                  <a:gd name="connsiteY15" fmla="*/ 913767 h 1360590"/>
                  <a:gd name="connsiteX16" fmla="*/ 199647 w 1628906"/>
                  <a:gd name="connsiteY16" fmla="*/ 632385 h 1360590"/>
                  <a:gd name="connsiteX17" fmla="*/ 20829 w 1628906"/>
                  <a:gd name="connsiteY17" fmla="*/ 130151 h 1360590"/>
                  <a:gd name="connsiteX18" fmla="*/ 3684 w 1628906"/>
                  <a:gd name="connsiteY18" fmla="*/ 83338 h 1360590"/>
                  <a:gd name="connsiteX19" fmla="*/ 512 w 1628906"/>
                  <a:gd name="connsiteY19" fmla="*/ 54276 h 1360590"/>
                  <a:gd name="connsiteX20" fmla="*/ 70205 w 1628906"/>
                  <a:gd name="connsiteY20" fmla="*/ 520 h 1360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8906" h="1360590">
                    <a:moveTo>
                      <a:pt x="70205" y="520"/>
                    </a:moveTo>
                    <a:lnTo>
                      <a:pt x="953667" y="113175"/>
                    </a:lnTo>
                    <a:cubicBezTo>
                      <a:pt x="965171" y="114684"/>
                      <a:pt x="976041" y="119366"/>
                      <a:pt x="985041" y="126704"/>
                    </a:cubicBezTo>
                    <a:cubicBezTo>
                      <a:pt x="1011752" y="148481"/>
                      <a:pt x="1015748" y="187799"/>
                      <a:pt x="993956" y="214514"/>
                    </a:cubicBezTo>
                    <a:lnTo>
                      <a:pt x="953153" y="264239"/>
                    </a:lnTo>
                    <a:cubicBezTo>
                      <a:pt x="952911" y="264549"/>
                      <a:pt x="952654" y="264841"/>
                      <a:pt x="952433" y="265149"/>
                    </a:cubicBezTo>
                    <a:cubicBezTo>
                      <a:pt x="931190" y="292189"/>
                      <a:pt x="935887" y="331319"/>
                      <a:pt x="962924" y="352547"/>
                    </a:cubicBezTo>
                    <a:cubicBezTo>
                      <a:pt x="1233916" y="563776"/>
                      <a:pt x="1448919" y="861343"/>
                      <a:pt x="1576962" y="1198361"/>
                    </a:cubicBezTo>
                    <a:lnTo>
                      <a:pt x="1628906" y="1360590"/>
                    </a:lnTo>
                    <a:lnTo>
                      <a:pt x="912551" y="1360590"/>
                    </a:lnTo>
                    <a:lnTo>
                      <a:pt x="882474" y="1289522"/>
                    </a:lnTo>
                    <a:cubicBezTo>
                      <a:pt x="802323" y="1127376"/>
                      <a:pt x="685611" y="987928"/>
                      <a:pt x="532423" y="872958"/>
                    </a:cubicBezTo>
                    <a:cubicBezTo>
                      <a:pt x="505678" y="852828"/>
                      <a:pt x="467823" y="857440"/>
                      <a:pt x="446700" y="883417"/>
                    </a:cubicBezTo>
                    <a:lnTo>
                      <a:pt x="406583" y="932285"/>
                    </a:lnTo>
                    <a:cubicBezTo>
                      <a:pt x="399399" y="941065"/>
                      <a:pt x="389969" y="947718"/>
                      <a:pt x="379270" y="951524"/>
                    </a:cubicBezTo>
                    <a:cubicBezTo>
                      <a:pt x="346902" y="963065"/>
                      <a:pt x="311293" y="946158"/>
                      <a:pt x="299772" y="913767"/>
                    </a:cubicBezTo>
                    <a:lnTo>
                      <a:pt x="199647" y="632385"/>
                    </a:lnTo>
                    <a:lnTo>
                      <a:pt x="20829" y="130151"/>
                    </a:lnTo>
                    <a:lnTo>
                      <a:pt x="3684" y="83338"/>
                    </a:lnTo>
                    <a:cubicBezTo>
                      <a:pt x="341" y="74046"/>
                      <a:pt x="-757" y="64084"/>
                      <a:pt x="512" y="54276"/>
                    </a:cubicBezTo>
                    <a:cubicBezTo>
                      <a:pt x="4919" y="20187"/>
                      <a:pt x="36121" y="-3887"/>
                      <a:pt x="70205" y="520"/>
                    </a:cubicBezTo>
                    <a:close/>
                  </a:path>
                </a:pathLst>
              </a:custGeom>
              <a:gradFill flip="none" rotWithShape="1">
                <a:gsLst>
                  <a:gs pos="100000">
                    <a:schemeClr val="accent4"/>
                  </a:gs>
                  <a:gs pos="0">
                    <a:schemeClr val="accent4">
                      <a:lumMod val="60000"/>
                      <a:lumOff val="40000"/>
                    </a:schemeClr>
                  </a:gs>
                </a:gsLst>
                <a:lin ang="0" scaled="1"/>
                <a:tileRect/>
              </a:gradFill>
              <a:ln w="9525" cap="flat">
                <a:noFill/>
                <a:prstDash val="solid"/>
                <a:miter/>
              </a:ln>
              <a:effectLst>
                <a:outerShdw blurRad="101600" dist="127000" dir="5400000" sx="102000" sy="102000" algn="ctr" rotWithShape="0">
                  <a:schemeClr val="accent4">
                    <a:alpha val="20000"/>
                  </a:schemeClr>
                </a:outerShdw>
              </a:effectLst>
            </p:spPr>
            <p:txBody>
              <a:bodyPr rot="0" spcFirstLastPara="0" vert="horz" wrap="square" lIns="91440" tIns="45720" rIns="91440" bIns="45720" numCol="1" spcCol="0" rtlCol="0" fromWordArt="0" anchor="ctr" anchorCtr="0" forceAA="0" compatLnSpc="1">
                <a:norm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7" name="Title-4">
                <a:extLst>
                  <a:ext uri="{FF2B5EF4-FFF2-40B4-BE49-F238E27FC236}">
                    <a16:creationId xmlns:a16="http://schemas.microsoft.com/office/drawing/2014/main" id="{5B470032-D335-1DF9-3B98-51DF1B93A997}"/>
                  </a:ext>
                </a:extLst>
              </p:cNvPr>
              <p:cNvSpPr txBox="1"/>
              <p:nvPr>
                <p:custDataLst>
                  <p:tags r:id="rId4"/>
                </p:custDataLst>
              </p:nvPr>
            </p:nvSpPr>
            <p:spPr>
              <a:xfrm>
                <a:off x="574088" y="4493666"/>
                <a:ext cx="3172739" cy="434256"/>
              </a:xfrm>
              <a:prstGeom prst="rect">
                <a:avLst/>
              </a:prstGeom>
              <a:noFill/>
            </p:spPr>
            <p:txBody>
              <a:bodyPr wrap="square" rtlCol="0">
                <a:noAutofit/>
              </a:bodyPr>
              <a:lstStyle/>
              <a:p>
                <a:pPr algn="r"/>
                <a:r>
                  <a:rPr lang="zh-CN" altLang="en-US" b="1" dirty="0">
                    <a:solidFill>
                      <a:schemeClr val="accent4"/>
                    </a:solidFill>
                    <a:latin typeface="微软雅黑" panose="020B0503020204020204" pitchFamily="34" charset="-122"/>
                    <a:ea typeface="微软雅黑" panose="020B0503020204020204" pitchFamily="34" charset="-122"/>
                  </a:rPr>
                  <a:t>创新（提出新理论</a:t>
                </a:r>
                <a:r>
                  <a:rPr lang="en-US" altLang="zh-CN" b="1" dirty="0">
                    <a:solidFill>
                      <a:schemeClr val="accent4"/>
                    </a:solidFill>
                    <a:latin typeface="微软雅黑" panose="020B0503020204020204" pitchFamily="34" charset="-122"/>
                    <a:ea typeface="微软雅黑" panose="020B0503020204020204" pitchFamily="34" charset="-122"/>
                  </a:rPr>
                  <a:t>/</a:t>
                </a:r>
                <a:r>
                  <a:rPr lang="zh-CN" altLang="en-US" b="1" dirty="0">
                    <a:solidFill>
                      <a:schemeClr val="accent4"/>
                    </a:solidFill>
                    <a:latin typeface="微软雅黑" panose="020B0503020204020204" pitchFamily="34" charset="-122"/>
                    <a:ea typeface="微软雅黑" panose="020B0503020204020204" pitchFamily="34" charset="-122"/>
                  </a:rPr>
                  <a:t>新方法）：</a:t>
                </a:r>
              </a:p>
            </p:txBody>
          </p:sp>
          <p:sp>
            <p:nvSpPr>
              <p:cNvPr id="48" name="Body-4">
                <a:extLst>
                  <a:ext uri="{FF2B5EF4-FFF2-40B4-BE49-F238E27FC236}">
                    <a16:creationId xmlns:a16="http://schemas.microsoft.com/office/drawing/2014/main" id="{DCEA5856-4EB3-DCF8-F16A-D206744825B0}"/>
                  </a:ext>
                </a:extLst>
              </p:cNvPr>
              <p:cNvSpPr>
                <a:spLocks/>
              </p:cNvSpPr>
              <p:nvPr>
                <p:custDataLst>
                  <p:tags r:id="rId5"/>
                </p:custDataLst>
              </p:nvPr>
            </p:nvSpPr>
            <p:spPr>
              <a:xfrm>
                <a:off x="793001" y="4880994"/>
                <a:ext cx="2926195" cy="7365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r" defTabSz="913765">
                  <a:lnSpc>
                    <a:spcPct val="130000"/>
                  </a:lnSpc>
                  <a:buSzPct val="100000"/>
                </a:pP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rPr>
                  <a:t>范式创新：结合独特业务洞察，突破原有框架，研发更具竞争力的新‘数据模型’或新‘业务算法’。</a:t>
                </a:r>
                <a:endParaRPr lang="en-GB" altLang="zh-CN" sz="1400"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2192981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48245D4-BCC2-B067-0E68-25342F8B609D}"/>
              </a:ext>
            </a:extLst>
          </p:cNvPr>
          <p:cNvSpPr>
            <a:spLocks noGrp="1"/>
          </p:cNvSpPr>
          <p:nvPr>
            <p:ph type="title"/>
          </p:nvPr>
        </p:nvSpPr>
        <p:spPr>
          <a:xfrm>
            <a:off x="666750" y="-416687"/>
            <a:ext cx="10858500" cy="1028700"/>
          </a:xfrm>
        </p:spPr>
        <p:txBody>
          <a:bodyPr/>
          <a:lstStyle/>
          <a:p>
            <a:r>
              <a:rPr lang="zh-CN" altLang="en-US" b="1" i="0" dirty="0">
                <a:effectLst/>
                <a:latin typeface="PingFang SC"/>
              </a:rPr>
              <a:t>个人和组织的进阶路径</a:t>
            </a:r>
            <a:endParaRPr lang="zh-CN" altLang="en-US" dirty="0"/>
          </a:p>
        </p:txBody>
      </p:sp>
      <p:grpSp>
        <p:nvGrpSpPr>
          <p:cNvPr id="244" name="组合 01">
            <a:extLst>
              <a:ext uri="{FF2B5EF4-FFF2-40B4-BE49-F238E27FC236}">
                <a16:creationId xmlns:a16="http://schemas.microsoft.com/office/drawing/2014/main" id="{771642FE-20D2-681C-E447-F42B016894EA}"/>
              </a:ext>
            </a:extLst>
          </p:cNvPr>
          <p:cNvGrpSpPr>
            <a:grpSpLocks noChangeAspect="1"/>
          </p:cNvGrpSpPr>
          <p:nvPr>
            <p:custDataLst>
              <p:tags r:id="rId1"/>
            </p:custDataLst>
          </p:nvPr>
        </p:nvGrpSpPr>
        <p:grpSpPr>
          <a:xfrm>
            <a:off x="66040" y="848360"/>
            <a:ext cx="11724639" cy="5528199"/>
            <a:chOff x="1085481" y="1483533"/>
            <a:chExt cx="9559968" cy="4322360"/>
          </a:xfrm>
        </p:grpSpPr>
        <p:grpSp>
          <p:nvGrpSpPr>
            <p:cNvPr id="245" name="组合 01">
              <a:extLst>
                <a:ext uri="{FF2B5EF4-FFF2-40B4-BE49-F238E27FC236}">
                  <a16:creationId xmlns:a16="http://schemas.microsoft.com/office/drawing/2014/main" id="{994BA804-0F59-AFDF-520A-63700775DE65}"/>
                </a:ext>
              </a:extLst>
            </p:cNvPr>
            <p:cNvGrpSpPr/>
            <p:nvPr/>
          </p:nvGrpSpPr>
          <p:grpSpPr>
            <a:xfrm>
              <a:off x="1085481" y="1552051"/>
              <a:ext cx="3233091" cy="3885208"/>
              <a:chOff x="2099929" y="1330379"/>
              <a:chExt cx="3233091" cy="3885208"/>
            </a:xfrm>
          </p:grpSpPr>
          <p:sp>
            <p:nvSpPr>
              <p:cNvPr id="280" name="1">
                <a:extLst>
                  <a:ext uri="{FF2B5EF4-FFF2-40B4-BE49-F238E27FC236}">
                    <a16:creationId xmlns:a16="http://schemas.microsoft.com/office/drawing/2014/main" id="{F339A6EF-817B-DA12-D80B-06280E260CBF}"/>
                  </a:ext>
                </a:extLst>
              </p:cNvPr>
              <p:cNvSpPr/>
              <p:nvPr/>
            </p:nvSpPr>
            <p:spPr>
              <a:xfrm>
                <a:off x="4161806" y="1687587"/>
                <a:ext cx="1171214" cy="3528000"/>
              </a:xfrm>
              <a:prstGeom prst="arc">
                <a:avLst>
                  <a:gd name="adj1" fmla="val 16529617"/>
                  <a:gd name="adj2" fmla="val 109100"/>
                </a:avLst>
              </a:prstGeom>
              <a:ln w="7620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281" name="1">
                <a:extLst>
                  <a:ext uri="{FF2B5EF4-FFF2-40B4-BE49-F238E27FC236}">
                    <a16:creationId xmlns:a16="http://schemas.microsoft.com/office/drawing/2014/main" id="{E371DA2D-CA7E-B643-A994-007F6CB5359F}"/>
                  </a:ext>
                </a:extLst>
              </p:cNvPr>
              <p:cNvSpPr>
                <a:spLocks noChangeAspect="1"/>
              </p:cNvSpPr>
              <p:nvPr/>
            </p:nvSpPr>
            <p:spPr>
              <a:xfrm>
                <a:off x="4473263" y="1330379"/>
                <a:ext cx="612000" cy="612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82" name="Body-1">
                <a:extLst>
                  <a:ext uri="{FF2B5EF4-FFF2-40B4-BE49-F238E27FC236}">
                    <a16:creationId xmlns:a16="http://schemas.microsoft.com/office/drawing/2014/main" id="{DE17AFA4-3B74-41BA-826A-F79C9F8F49CA}"/>
                  </a:ext>
                </a:extLst>
              </p:cNvPr>
              <p:cNvSpPr txBox="1"/>
              <p:nvPr>
                <p:custDataLst>
                  <p:tags r:id="rId14"/>
                </p:custDataLst>
              </p:nvPr>
            </p:nvSpPr>
            <p:spPr>
              <a:xfrm flipH="1">
                <a:off x="2244922" y="1747920"/>
                <a:ext cx="2449352" cy="1503817"/>
              </a:xfrm>
              <a:prstGeom prst="rect">
                <a:avLst/>
              </a:prstGeom>
              <a:noFill/>
            </p:spPr>
            <p:txBody>
              <a:bodyPr wrap="square" rtlCol="0">
                <a:spAutoFit/>
              </a:bodyPr>
              <a:lstStyle/>
              <a:p>
                <a:pPr marL="171450" marR="0" lvl="0" indent="-1714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1" lang="zh-CN" altLang="en-US" sz="1000" b="1"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目标：</a:t>
                </a:r>
                <a:r>
                  <a:rPr kumimoji="1" lang="zh-CN" altLang="en-US" sz="100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不是记忆知识点，而是理解巨人（行业标杆）的“思维模型”。</a:t>
                </a:r>
              </a:p>
              <a:p>
                <a:pPr marL="171450" marR="0" lvl="0" indent="-1714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1" lang="zh-CN" altLang="en-US" sz="1000" b="1"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关键行动：</a:t>
                </a:r>
                <a:r>
                  <a:rPr kumimoji="1" lang="zh-CN" altLang="en-US" sz="100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深度解构</a:t>
                </a:r>
                <a:r>
                  <a:rPr kumimoji="1" lang="en-US" altLang="zh-CN" sz="100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APICS/SCOR</a:t>
                </a:r>
                <a:r>
                  <a:rPr kumimoji="1" lang="zh-CN" altLang="en-US" sz="100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模型或</a:t>
                </a:r>
                <a:r>
                  <a:rPr kumimoji="1" lang="en-US" altLang="zh-CN" sz="100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SAP/Oracle/Kinaxis/Blue Yonder</a:t>
                </a:r>
                <a:r>
                  <a:rPr kumimoji="1" lang="zh-CN" altLang="en-US" sz="100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等顶级系统的核心数据模型（如何定义“客户”、“订单”、“库存”）和业务算法（如何计算“安全库存”、“最优排程”）。</a:t>
                </a:r>
              </a:p>
              <a:p>
                <a:pPr marL="171450" marR="0" lvl="0" indent="-1714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1" lang="zh-CN" altLang="en-US" sz="1000" b="1"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价值：</a:t>
                </a:r>
                <a:r>
                  <a:rPr kumimoji="1" lang="zh-CN" altLang="en-US" sz="100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避免从零开始，站在巨人的肩膀上，建立一个正确的、高起点的认知框架。这是后续所有创新的“基石”。</a:t>
                </a:r>
              </a:p>
            </p:txBody>
          </p:sp>
          <p:sp>
            <p:nvSpPr>
              <p:cNvPr id="283" name="Title-1">
                <a:extLst>
                  <a:ext uri="{FF2B5EF4-FFF2-40B4-BE49-F238E27FC236}">
                    <a16:creationId xmlns:a16="http://schemas.microsoft.com/office/drawing/2014/main" id="{75473C47-2447-9005-F92B-96ADDB02292B}"/>
                  </a:ext>
                </a:extLst>
              </p:cNvPr>
              <p:cNvSpPr txBox="1"/>
              <p:nvPr>
                <p:custDataLst>
                  <p:tags r:id="rId15"/>
                </p:custDataLst>
              </p:nvPr>
            </p:nvSpPr>
            <p:spPr>
              <a:xfrm>
                <a:off x="2099929" y="1368685"/>
                <a:ext cx="2245725" cy="20454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zh-CN" sz="1100" b="1" dirty="0">
                    <a:effectLst/>
                    <a:ea typeface="微软雅黑" panose="020B0503020204020204" pitchFamily="34" charset="-122"/>
                    <a:cs typeface="Times New Roman" panose="02020603050405020304" pitchFamily="18" charset="0"/>
                  </a:rPr>
                  <a:t>第一阶段：系统化学习（认知底座）</a:t>
                </a:r>
                <a:endParaRPr kumimoji="1" lang="zh-CN" altLang="en-US" sz="1100" b="1" i="0" u="none" strike="noStrike" kern="1200" cap="none" spc="0" normalizeH="0" baseline="0" noProof="0" dirty="0">
                  <a:ln>
                    <a:noFill/>
                  </a:ln>
                  <a:solidFill>
                    <a:srgbClr val="FFFFFF">
                      <a:lumMod val="90000"/>
                      <a:lumOff val="10000"/>
                    </a:srgbClr>
                  </a:solidFill>
                  <a:effectLst/>
                  <a:uLnTx/>
                  <a:uFillTx/>
                  <a:latin typeface="微软雅黑" panose="020B0503020204020204" pitchFamily="34" charset="-122"/>
                  <a:ea typeface="微软雅黑" panose="020B0503020204020204" pitchFamily="34" charset="-122"/>
                  <a:cs typeface="+mn-cs"/>
                </a:endParaRPr>
              </a:p>
            </p:txBody>
          </p:sp>
          <p:sp>
            <p:nvSpPr>
              <p:cNvPr id="284" name="1">
                <a:extLst>
                  <a:ext uri="{FF2B5EF4-FFF2-40B4-BE49-F238E27FC236}">
                    <a16:creationId xmlns:a16="http://schemas.microsoft.com/office/drawing/2014/main" id="{7A4FF59C-A239-5C02-BB24-A08DB58570CA}"/>
                  </a:ext>
                </a:extLst>
              </p:cNvPr>
              <p:cNvSpPr>
                <a:spLocks noChangeAspect="1"/>
              </p:cNvSpPr>
              <p:nvPr/>
            </p:nvSpPr>
            <p:spPr>
              <a:xfrm>
                <a:off x="4545263" y="1402379"/>
                <a:ext cx="468000" cy="46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85" name="Index-1">
                <a:extLst>
                  <a:ext uri="{FF2B5EF4-FFF2-40B4-BE49-F238E27FC236}">
                    <a16:creationId xmlns:a16="http://schemas.microsoft.com/office/drawing/2014/main" id="{FDBCBA26-C7EF-C0BF-AF58-41CFB1A2EA2A}"/>
                  </a:ext>
                </a:extLst>
              </p:cNvPr>
              <p:cNvSpPr txBox="1"/>
              <p:nvPr>
                <p:custDataLst>
                  <p:tags r:id="rId16"/>
                </p:custDataLst>
              </p:nvPr>
            </p:nvSpPr>
            <p:spPr>
              <a:xfrm>
                <a:off x="4365070" y="1507263"/>
                <a:ext cx="786431" cy="19361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sz="1100" b="1" i="0" u="none" strike="noStrike" kern="1200" cap="none" spc="0" normalizeH="0" baseline="0" noProof="0" dirty="0">
                    <a:ln>
                      <a:noFill/>
                    </a:ln>
                    <a:solidFill>
                      <a:srgbClr val="FFFFFF">
                        <a:lumMod val="90000"/>
                        <a:lumOff val="10000"/>
                      </a:srgbClr>
                    </a:solidFill>
                    <a:effectLst/>
                    <a:uLnTx/>
                    <a:uFillTx/>
                    <a:latin typeface="微软雅黑" panose="020B0503020204020204" pitchFamily="34" charset="-122"/>
                    <a:ea typeface="微软雅黑" panose="020B0503020204020204" pitchFamily="34" charset="-122"/>
                    <a:cs typeface="+mn-cs"/>
                  </a:rPr>
                  <a:t>01</a:t>
                </a:r>
                <a:endParaRPr kumimoji="1" lang="zh-CN" altLang="en-US" sz="1100" b="1" i="0" u="none" strike="noStrike" kern="1200" cap="none" spc="0" normalizeH="0" baseline="0" noProof="0" dirty="0">
                  <a:ln>
                    <a:noFill/>
                  </a:ln>
                  <a:solidFill>
                    <a:srgbClr val="FFFFFF">
                      <a:lumMod val="90000"/>
                      <a:lumOff val="10000"/>
                    </a:srgbClr>
                  </a:solidFill>
                  <a:effectLst/>
                  <a:uLnTx/>
                  <a:uFillTx/>
                  <a:latin typeface="微软雅黑" panose="020B0503020204020204" pitchFamily="34" charset="-122"/>
                  <a:ea typeface="微软雅黑" panose="020B0503020204020204" pitchFamily="34" charset="-122"/>
                  <a:cs typeface="+mn-cs"/>
                </a:endParaRPr>
              </a:p>
            </p:txBody>
          </p:sp>
        </p:grpSp>
        <p:grpSp>
          <p:nvGrpSpPr>
            <p:cNvPr id="246" name="组合 02">
              <a:extLst>
                <a:ext uri="{FF2B5EF4-FFF2-40B4-BE49-F238E27FC236}">
                  <a16:creationId xmlns:a16="http://schemas.microsoft.com/office/drawing/2014/main" id="{9D733692-C316-1FEE-88E9-1B2D1872DED1}"/>
                </a:ext>
              </a:extLst>
            </p:cNvPr>
            <p:cNvGrpSpPr/>
            <p:nvPr/>
          </p:nvGrpSpPr>
          <p:grpSpPr>
            <a:xfrm>
              <a:off x="1594845" y="1907488"/>
              <a:ext cx="3945756" cy="3885207"/>
              <a:chOff x="2880349" y="1685816"/>
              <a:chExt cx="3945756" cy="3885207"/>
            </a:xfrm>
          </p:grpSpPr>
          <p:sp>
            <p:nvSpPr>
              <p:cNvPr id="274" name="2">
                <a:extLst>
                  <a:ext uri="{FF2B5EF4-FFF2-40B4-BE49-F238E27FC236}">
                    <a16:creationId xmlns:a16="http://schemas.microsoft.com/office/drawing/2014/main" id="{1D99D463-294A-E054-CFE9-E530610DB63C}"/>
                  </a:ext>
                </a:extLst>
              </p:cNvPr>
              <p:cNvSpPr/>
              <p:nvPr/>
            </p:nvSpPr>
            <p:spPr>
              <a:xfrm flipV="1">
                <a:off x="5654891" y="1685816"/>
                <a:ext cx="1171214" cy="3528000"/>
              </a:xfrm>
              <a:prstGeom prst="arc">
                <a:avLst>
                  <a:gd name="adj1" fmla="val 16529617"/>
                  <a:gd name="adj2" fmla="val 109100"/>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275" name="2">
                <a:extLst>
                  <a:ext uri="{FF2B5EF4-FFF2-40B4-BE49-F238E27FC236}">
                    <a16:creationId xmlns:a16="http://schemas.microsoft.com/office/drawing/2014/main" id="{7AB9B354-39ED-8691-4B54-04CF503EBC51}"/>
                  </a:ext>
                </a:extLst>
              </p:cNvPr>
              <p:cNvSpPr>
                <a:spLocks noChangeAspect="1"/>
              </p:cNvSpPr>
              <p:nvPr/>
            </p:nvSpPr>
            <p:spPr>
              <a:xfrm flipV="1">
                <a:off x="5966348" y="4959023"/>
                <a:ext cx="612000" cy="612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76" name="Body-2">
                <a:extLst>
                  <a:ext uri="{FF2B5EF4-FFF2-40B4-BE49-F238E27FC236}">
                    <a16:creationId xmlns:a16="http://schemas.microsoft.com/office/drawing/2014/main" id="{D12D5F8C-85C4-7A8E-AA1B-D85CB5091361}"/>
                  </a:ext>
                </a:extLst>
              </p:cNvPr>
              <p:cNvSpPr txBox="1"/>
              <p:nvPr>
                <p:custDataLst>
                  <p:tags r:id="rId11"/>
                </p:custDataLst>
              </p:nvPr>
            </p:nvSpPr>
            <p:spPr>
              <a:xfrm flipH="1">
                <a:off x="2880349" y="3941363"/>
                <a:ext cx="3037371" cy="1331106"/>
              </a:xfrm>
              <a:prstGeom prst="rect">
                <a:avLst/>
              </a:prstGeom>
              <a:noFill/>
            </p:spPr>
            <p:txBody>
              <a:bodyPr wrap="square" rtlCol="0">
                <a:spAutoFit/>
              </a:bodyPr>
              <a:lstStyle/>
              <a:p>
                <a:pPr marL="171450" lvl="0" indent="-171450">
                  <a:lnSpc>
                    <a:spcPct val="115000"/>
                  </a:lnSpc>
                  <a:spcAft>
                    <a:spcPts val="800"/>
                  </a:spcAft>
                  <a:buSzPts val="1000"/>
                  <a:buFont typeface="Arial" panose="020B0604020202020204" pitchFamily="34" charset="0"/>
                  <a:buChar char="•"/>
                  <a:tabLst>
                    <a:tab pos="457200" algn="l"/>
                  </a:tabLst>
                </a:pPr>
                <a:r>
                  <a:rPr lang="zh-CN" altLang="zh-CN" sz="1000" b="1" kern="100" dirty="0">
                    <a:effectLst/>
                    <a:latin typeface="等线" panose="02010600030101010101" pitchFamily="2" charset="-122"/>
                    <a:ea typeface="微软雅黑" panose="020B0503020204020204" pitchFamily="34" charset="-122"/>
                    <a:cs typeface="Times New Roman" panose="02020603050405020304" pitchFamily="18" charset="0"/>
                  </a:rPr>
                  <a:t>目标</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：在真实、复杂甚至混乱的业务场景中检验和质疑所学理论。</a:t>
                </a:r>
                <a:endParaRPr lang="zh-CN" altLang="zh-CN" sz="1000" kern="100" dirty="0">
                  <a:effectLst/>
                  <a:latin typeface="等线" panose="02010600030101010101" pitchFamily="2" charset="-122"/>
                  <a:ea typeface="等线" panose="02010600030101010101" pitchFamily="2" charset="-122"/>
                  <a:cs typeface="Times New Roman" panose="02020603050405020304" pitchFamily="18" charset="0"/>
                </a:endParaRPr>
              </a:p>
              <a:p>
                <a:pPr marL="171450" lvl="0" indent="-171450">
                  <a:lnSpc>
                    <a:spcPct val="115000"/>
                  </a:lnSpc>
                  <a:spcAft>
                    <a:spcPts val="800"/>
                  </a:spcAft>
                  <a:buSzPts val="1000"/>
                  <a:buFont typeface="Arial" panose="020B0604020202020204" pitchFamily="34" charset="0"/>
                  <a:buChar char="•"/>
                  <a:tabLst>
                    <a:tab pos="457200" algn="l"/>
                  </a:tabLst>
                </a:pPr>
                <a:r>
                  <a:rPr lang="zh-CN" altLang="zh-CN" sz="1000" b="1" kern="100" dirty="0">
                    <a:effectLst/>
                    <a:latin typeface="等线" panose="02010600030101010101" pitchFamily="2" charset="-122"/>
                    <a:ea typeface="微软雅黑" panose="020B0503020204020204" pitchFamily="34" charset="-122"/>
                    <a:cs typeface="Times New Roman" panose="02020603050405020304" pitchFamily="18" charset="0"/>
                  </a:rPr>
                  <a:t>关键行动：</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主动投身于如并购整合、系统切换、紧急救火等高难度项目。你会发现理论模型与现实世界的差距，从而引发深度思考：为什么这个数据模型在这里不适用？这个算法的前提条件是什么？</a:t>
                </a:r>
                <a:endParaRPr lang="zh-CN" altLang="zh-CN" sz="1000" kern="100" dirty="0">
                  <a:effectLst/>
                  <a:latin typeface="等线" panose="02010600030101010101" pitchFamily="2" charset="-122"/>
                  <a:ea typeface="等线" panose="02010600030101010101" pitchFamily="2" charset="-122"/>
                  <a:cs typeface="Times New Roman" panose="02020603050405020304" pitchFamily="18" charset="0"/>
                </a:endParaRPr>
              </a:p>
              <a:p>
                <a:pPr marL="171450" lvl="0" indent="-171450">
                  <a:lnSpc>
                    <a:spcPct val="115000"/>
                  </a:lnSpc>
                  <a:spcAft>
                    <a:spcPts val="800"/>
                  </a:spcAft>
                  <a:buSzPts val="1000"/>
                  <a:buFont typeface="Arial" panose="020B0604020202020204" pitchFamily="34" charset="0"/>
                  <a:buChar char="•"/>
                  <a:tabLst>
                    <a:tab pos="457200" algn="l"/>
                  </a:tabLst>
                </a:pPr>
                <a:r>
                  <a:rPr lang="zh-CN" altLang="zh-CN" sz="1000" b="1" kern="100" dirty="0">
                    <a:effectLst/>
                    <a:latin typeface="等线" panose="02010600030101010101" pitchFamily="2" charset="-122"/>
                    <a:ea typeface="微软雅黑" panose="020B0503020204020204" pitchFamily="34" charset="-122"/>
                    <a:cs typeface="Times New Roman" panose="02020603050405020304" pitchFamily="18" charset="0"/>
                  </a:rPr>
                  <a:t>价值：</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将死的知识变为活的洞察，培养</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质疑精神</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和</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解决问题</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的能力。这是理论联系实际的关键一环。</a:t>
                </a:r>
                <a:endParaRPr lang="zh-CN" altLang="zh-CN" sz="1000" kern="100" dirty="0">
                  <a:effectLst/>
                  <a:latin typeface="等线" panose="02010600030101010101" pitchFamily="2" charset="-122"/>
                  <a:ea typeface="等线" panose="02010600030101010101" pitchFamily="2" charset="-122"/>
                  <a:cs typeface="Times New Roman" panose="02020603050405020304" pitchFamily="18" charset="0"/>
                </a:endParaRPr>
              </a:p>
            </p:txBody>
          </p:sp>
          <p:sp>
            <p:nvSpPr>
              <p:cNvPr id="277" name="Title-2">
                <a:extLst>
                  <a:ext uri="{FF2B5EF4-FFF2-40B4-BE49-F238E27FC236}">
                    <a16:creationId xmlns:a16="http://schemas.microsoft.com/office/drawing/2014/main" id="{C463151F-0DA9-5AE9-7BE5-15B2FB67DBC5}"/>
                  </a:ext>
                </a:extLst>
              </p:cNvPr>
              <p:cNvSpPr txBox="1"/>
              <p:nvPr>
                <p:custDataLst>
                  <p:tags r:id="rId12"/>
                </p:custDataLst>
              </p:nvPr>
            </p:nvSpPr>
            <p:spPr>
              <a:xfrm>
                <a:off x="3125649" y="3600111"/>
                <a:ext cx="2387443" cy="215074"/>
              </a:xfrm>
              <a:prstGeom prst="rect">
                <a:avLst/>
              </a:prstGeom>
              <a:noFill/>
            </p:spPr>
            <p:txBody>
              <a:bodyPr wrap="square" rtlCol="0">
                <a:spAutoFit/>
              </a:bodyPr>
              <a:lstStyle/>
              <a:p>
                <a:pPr>
                  <a:lnSpc>
                    <a:spcPct val="115000"/>
                  </a:lnSpc>
                  <a:spcAft>
                    <a:spcPts val="800"/>
                  </a:spcAft>
                </a:pPr>
                <a:r>
                  <a:rPr lang="zh-CN" altLang="zh-CN" sz="1100" b="1" kern="100" dirty="0">
                    <a:effectLst/>
                    <a:latin typeface="等线" panose="02010600030101010101" pitchFamily="2" charset="-122"/>
                    <a:ea typeface="微软雅黑" panose="020B0503020204020204" pitchFamily="34" charset="-122"/>
                    <a:cs typeface="Times New Roman" panose="02020603050405020304" pitchFamily="18" charset="0"/>
                  </a:rPr>
                  <a:t>第二阶段：复杂场景淬炼（实践验证）</a:t>
                </a:r>
                <a:endParaRPr lang="zh-CN" altLang="zh-CN" sz="1100" kern="100" dirty="0">
                  <a:effectLst/>
                  <a:latin typeface="等线" panose="02010600030101010101" pitchFamily="2" charset="-122"/>
                  <a:ea typeface="等线" panose="02010600030101010101" pitchFamily="2" charset="-122"/>
                  <a:cs typeface="Times New Roman" panose="02020603050405020304" pitchFamily="18" charset="0"/>
                </a:endParaRPr>
              </a:p>
            </p:txBody>
          </p:sp>
          <p:sp>
            <p:nvSpPr>
              <p:cNvPr id="278" name="2">
                <a:extLst>
                  <a:ext uri="{FF2B5EF4-FFF2-40B4-BE49-F238E27FC236}">
                    <a16:creationId xmlns:a16="http://schemas.microsoft.com/office/drawing/2014/main" id="{131CA44F-EBF0-7DAD-87A7-B7BED3CDAB73}"/>
                  </a:ext>
                </a:extLst>
              </p:cNvPr>
              <p:cNvSpPr>
                <a:spLocks noChangeAspect="1"/>
              </p:cNvSpPr>
              <p:nvPr/>
            </p:nvSpPr>
            <p:spPr>
              <a:xfrm flipV="1">
                <a:off x="6038347" y="5031022"/>
                <a:ext cx="468000" cy="46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79" name="Index-2">
                <a:extLst>
                  <a:ext uri="{FF2B5EF4-FFF2-40B4-BE49-F238E27FC236}">
                    <a16:creationId xmlns:a16="http://schemas.microsoft.com/office/drawing/2014/main" id="{9159D3C5-F4D4-46C1-DD9F-A7AB8527C442}"/>
                  </a:ext>
                </a:extLst>
              </p:cNvPr>
              <p:cNvSpPr txBox="1"/>
              <p:nvPr>
                <p:custDataLst>
                  <p:tags r:id="rId13"/>
                </p:custDataLst>
              </p:nvPr>
            </p:nvSpPr>
            <p:spPr>
              <a:xfrm>
                <a:off x="5879131" y="5176820"/>
                <a:ext cx="786431" cy="19361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sz="1100" b="1" i="0" u="none" strike="noStrike" kern="1200" cap="none" spc="0" normalizeH="0" baseline="0" noProof="0" dirty="0">
                    <a:ln>
                      <a:noFill/>
                    </a:ln>
                    <a:solidFill>
                      <a:srgbClr val="FFFFFF">
                        <a:lumMod val="90000"/>
                        <a:lumOff val="10000"/>
                      </a:srgbClr>
                    </a:solidFill>
                    <a:effectLst/>
                    <a:uLnTx/>
                    <a:uFillTx/>
                    <a:latin typeface="微软雅黑" panose="020B0503020204020204" pitchFamily="34" charset="-122"/>
                    <a:ea typeface="微软雅黑" panose="020B0503020204020204" pitchFamily="34" charset="-122"/>
                    <a:cs typeface="+mn-cs"/>
                  </a:rPr>
                  <a:t>02</a:t>
                </a:r>
                <a:endParaRPr kumimoji="1" lang="zh-CN" altLang="en-US" sz="1100" b="1" i="0" u="none" strike="noStrike" kern="1200" cap="none" spc="0" normalizeH="0" baseline="0" noProof="0" dirty="0">
                  <a:ln>
                    <a:noFill/>
                  </a:ln>
                  <a:solidFill>
                    <a:srgbClr val="FFFFFF">
                      <a:lumMod val="90000"/>
                      <a:lumOff val="10000"/>
                    </a:srgbClr>
                  </a:solidFill>
                  <a:effectLst/>
                  <a:uLnTx/>
                  <a:uFillTx/>
                  <a:latin typeface="微软雅黑" panose="020B0503020204020204" pitchFamily="34" charset="-122"/>
                  <a:ea typeface="微软雅黑" panose="020B0503020204020204" pitchFamily="34" charset="-122"/>
                  <a:cs typeface="+mn-cs"/>
                </a:endParaRPr>
              </a:p>
            </p:txBody>
          </p:sp>
        </p:grpSp>
        <p:grpSp>
          <p:nvGrpSpPr>
            <p:cNvPr id="247" name="组合 03">
              <a:extLst>
                <a:ext uri="{FF2B5EF4-FFF2-40B4-BE49-F238E27FC236}">
                  <a16:creationId xmlns:a16="http://schemas.microsoft.com/office/drawing/2014/main" id="{E93D28C4-0DE3-CE29-4F45-E832745CE9CB}"/>
                </a:ext>
              </a:extLst>
            </p:cNvPr>
            <p:cNvGrpSpPr/>
            <p:nvPr/>
          </p:nvGrpSpPr>
          <p:grpSpPr>
            <a:xfrm>
              <a:off x="4245245" y="1552051"/>
              <a:ext cx="2765687" cy="3885208"/>
              <a:chOff x="2567333" y="1330379"/>
              <a:chExt cx="2765687" cy="3885208"/>
            </a:xfrm>
          </p:grpSpPr>
          <p:sp>
            <p:nvSpPr>
              <p:cNvPr id="268" name="3">
                <a:extLst>
                  <a:ext uri="{FF2B5EF4-FFF2-40B4-BE49-F238E27FC236}">
                    <a16:creationId xmlns:a16="http://schemas.microsoft.com/office/drawing/2014/main" id="{82BA4D5B-3423-F006-5141-9B9CCF7E4781}"/>
                  </a:ext>
                </a:extLst>
              </p:cNvPr>
              <p:cNvSpPr/>
              <p:nvPr/>
            </p:nvSpPr>
            <p:spPr>
              <a:xfrm>
                <a:off x="4161806" y="1687587"/>
                <a:ext cx="1171214" cy="3528000"/>
              </a:xfrm>
              <a:prstGeom prst="arc">
                <a:avLst>
                  <a:gd name="adj1" fmla="val 16529617"/>
                  <a:gd name="adj2" fmla="val 109100"/>
                </a:avLst>
              </a:prstGeom>
              <a:ln w="76200">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269" name="3">
                <a:extLst>
                  <a:ext uri="{FF2B5EF4-FFF2-40B4-BE49-F238E27FC236}">
                    <a16:creationId xmlns:a16="http://schemas.microsoft.com/office/drawing/2014/main" id="{932E402B-184A-D4A3-7AEF-77F88F5490DE}"/>
                  </a:ext>
                </a:extLst>
              </p:cNvPr>
              <p:cNvSpPr>
                <a:spLocks noChangeAspect="1"/>
              </p:cNvSpPr>
              <p:nvPr/>
            </p:nvSpPr>
            <p:spPr>
              <a:xfrm>
                <a:off x="4473263" y="1330379"/>
                <a:ext cx="612000" cy="612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70" name="Body-3">
                <a:extLst>
                  <a:ext uri="{FF2B5EF4-FFF2-40B4-BE49-F238E27FC236}">
                    <a16:creationId xmlns:a16="http://schemas.microsoft.com/office/drawing/2014/main" id="{B5E31B60-F9C1-355C-2AB8-D37D10F3FA7A}"/>
                  </a:ext>
                </a:extLst>
              </p:cNvPr>
              <p:cNvSpPr txBox="1"/>
              <p:nvPr>
                <p:custDataLst>
                  <p:tags r:id="rId8"/>
                </p:custDataLst>
              </p:nvPr>
            </p:nvSpPr>
            <p:spPr>
              <a:xfrm flipH="1">
                <a:off x="2612612" y="1762757"/>
                <a:ext cx="2393550" cy="1648202"/>
              </a:xfrm>
              <a:prstGeom prst="rect">
                <a:avLst/>
              </a:prstGeom>
              <a:noFill/>
            </p:spPr>
            <p:txBody>
              <a:bodyPr wrap="square" rtlCol="0">
                <a:spAutoFit/>
              </a:bodyPr>
              <a:lstStyle/>
              <a:p>
                <a:pPr marL="171450" marR="0" lvl="0" indent="-1714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1" lang="zh-CN" altLang="en-US" sz="1000" b="1"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目标：</a:t>
                </a:r>
                <a:r>
                  <a:rPr kumimoji="1" lang="zh-CN" altLang="en-US" sz="100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从理论的“使用者”转变为</a:t>
                </a:r>
                <a:endParaRPr kumimoji="1" lang="en-US" altLang="zh-CN" sz="100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endParaRPr>
              </a:p>
              <a:p>
                <a:pPr marR="0" lvl="0" algn="l" defTabSz="914400" rtl="0" eaLnBrk="1" fontAlgn="auto" latinLnBrk="0" hangingPunct="1">
                  <a:lnSpc>
                    <a:spcPct val="120000"/>
                  </a:lnSpc>
                  <a:spcBef>
                    <a:spcPts val="0"/>
                  </a:spcBef>
                  <a:spcAft>
                    <a:spcPts val="0"/>
                  </a:spcAft>
                  <a:buClrTx/>
                  <a:buSzTx/>
                  <a:tabLst/>
                  <a:defRPr/>
                </a:pPr>
                <a:r>
                  <a:rPr kumimoji="1" lang="zh-CN" altLang="en-US" sz="100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              业务的“架构师”。</a:t>
                </a:r>
              </a:p>
              <a:p>
                <a:pPr marL="171450" marR="0" lvl="0" indent="-1714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1" lang="zh-CN" altLang="en-US" sz="1000" b="1"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关键行动：</a:t>
                </a:r>
                <a:r>
                  <a:rPr kumimoji="1" lang="zh-CN" altLang="en-US" sz="100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不满足于使用系统，而要持续追问其底层设计逻辑。掌握“数据模型”就意味着掌握了业务的静态逻辑（实体关系）；掌握“业务算法”就意味着掌握了业务的动态流程（规则流转）。在此基础上，不断迭代优化自己的解决方案。</a:t>
                </a:r>
              </a:p>
              <a:p>
                <a:pPr marL="171450" marR="0" lvl="0" indent="-1714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1" lang="zh-CN" altLang="en-US" sz="1000" b="1"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价值：</a:t>
                </a:r>
                <a:r>
                  <a:rPr kumimoji="1" lang="zh-CN" altLang="en-US" sz="100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这是从“知其然”到“知其所以然”的根本性跃迁。从此，你不再是被动遵循流程，而是可以主动设计和驱动流程再造。</a:t>
                </a:r>
              </a:p>
            </p:txBody>
          </p:sp>
          <p:sp>
            <p:nvSpPr>
              <p:cNvPr id="271" name="Title-3">
                <a:extLst>
                  <a:ext uri="{FF2B5EF4-FFF2-40B4-BE49-F238E27FC236}">
                    <a16:creationId xmlns:a16="http://schemas.microsoft.com/office/drawing/2014/main" id="{DAFBB26D-9299-02B2-8F6F-3CE179F4FA86}"/>
                  </a:ext>
                </a:extLst>
              </p:cNvPr>
              <p:cNvSpPr txBox="1"/>
              <p:nvPr>
                <p:custDataLst>
                  <p:tags r:id="rId9"/>
                </p:custDataLst>
              </p:nvPr>
            </p:nvSpPr>
            <p:spPr>
              <a:xfrm>
                <a:off x="2567333" y="1369987"/>
                <a:ext cx="2027094" cy="3369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100" b="1" i="0" u="none" strike="noStrike" kern="1200" cap="none" spc="0" normalizeH="0" baseline="0" noProof="0" dirty="0">
                    <a:ln>
                      <a:noFill/>
                    </a:ln>
                    <a:solidFill>
                      <a:srgbClr val="FFFFFF">
                        <a:lumMod val="90000"/>
                        <a:lumOff val="10000"/>
                      </a:srgbClr>
                    </a:solidFill>
                    <a:effectLst/>
                    <a:uLnTx/>
                    <a:uFillTx/>
                    <a:latin typeface="微软雅黑" panose="020B0503020204020204" pitchFamily="34" charset="-122"/>
                    <a:ea typeface="微软雅黑" panose="020B0503020204020204" pitchFamily="34" charset="-122"/>
                    <a:cs typeface="+mn-cs"/>
                  </a:rPr>
                  <a:t>第三阶段：深度解构与迭代优化（能力跃迁关键）</a:t>
                </a:r>
              </a:p>
            </p:txBody>
          </p:sp>
          <p:sp>
            <p:nvSpPr>
              <p:cNvPr id="272" name="3">
                <a:extLst>
                  <a:ext uri="{FF2B5EF4-FFF2-40B4-BE49-F238E27FC236}">
                    <a16:creationId xmlns:a16="http://schemas.microsoft.com/office/drawing/2014/main" id="{8DC5EB3F-1C3F-DDCC-E7BA-DC5AA5A7D90C}"/>
                  </a:ext>
                </a:extLst>
              </p:cNvPr>
              <p:cNvSpPr>
                <a:spLocks noChangeAspect="1"/>
              </p:cNvSpPr>
              <p:nvPr/>
            </p:nvSpPr>
            <p:spPr>
              <a:xfrm>
                <a:off x="4545263" y="1402379"/>
                <a:ext cx="468000" cy="46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73" name="Index-3">
                <a:extLst>
                  <a:ext uri="{FF2B5EF4-FFF2-40B4-BE49-F238E27FC236}">
                    <a16:creationId xmlns:a16="http://schemas.microsoft.com/office/drawing/2014/main" id="{66EC6544-2E19-21BB-DF29-0798B90E9A3F}"/>
                  </a:ext>
                </a:extLst>
              </p:cNvPr>
              <p:cNvSpPr txBox="1"/>
              <p:nvPr>
                <p:custDataLst>
                  <p:tags r:id="rId10"/>
                </p:custDataLst>
              </p:nvPr>
            </p:nvSpPr>
            <p:spPr>
              <a:xfrm>
                <a:off x="4390538" y="1524550"/>
                <a:ext cx="786431" cy="19361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sz="1100" b="1" i="0" u="none" strike="noStrike" kern="1200" cap="none" spc="0" normalizeH="0" baseline="0" noProof="0" dirty="0">
                    <a:ln>
                      <a:noFill/>
                    </a:ln>
                    <a:solidFill>
                      <a:srgbClr val="FFFFFF">
                        <a:lumMod val="90000"/>
                        <a:lumOff val="10000"/>
                      </a:srgbClr>
                    </a:solidFill>
                    <a:effectLst/>
                    <a:uLnTx/>
                    <a:uFillTx/>
                    <a:latin typeface="微软雅黑" panose="020B0503020204020204" pitchFamily="34" charset="-122"/>
                    <a:ea typeface="微软雅黑" panose="020B0503020204020204" pitchFamily="34" charset="-122"/>
                    <a:cs typeface="+mn-cs"/>
                  </a:rPr>
                  <a:t>03</a:t>
                </a:r>
                <a:endParaRPr kumimoji="1" lang="zh-CN" altLang="en-US" sz="1100" b="1" i="0" u="none" strike="noStrike" kern="1200" cap="none" spc="0" normalizeH="0" baseline="0" noProof="0" dirty="0">
                  <a:ln>
                    <a:noFill/>
                  </a:ln>
                  <a:solidFill>
                    <a:srgbClr val="FFFFFF">
                      <a:lumMod val="90000"/>
                      <a:lumOff val="10000"/>
                    </a:srgbClr>
                  </a:solidFill>
                  <a:effectLst/>
                  <a:uLnTx/>
                  <a:uFillTx/>
                  <a:latin typeface="微软雅黑" panose="020B0503020204020204" pitchFamily="34" charset="-122"/>
                  <a:ea typeface="微软雅黑" panose="020B0503020204020204" pitchFamily="34" charset="-122"/>
                  <a:cs typeface="+mn-cs"/>
                </a:endParaRPr>
              </a:p>
            </p:txBody>
          </p:sp>
        </p:grpSp>
        <p:grpSp>
          <p:nvGrpSpPr>
            <p:cNvPr id="248" name="组合 04">
              <a:extLst>
                <a:ext uri="{FF2B5EF4-FFF2-40B4-BE49-F238E27FC236}">
                  <a16:creationId xmlns:a16="http://schemas.microsoft.com/office/drawing/2014/main" id="{AD499D98-CF33-86C7-55D9-63A30F51A4D5}"/>
                </a:ext>
              </a:extLst>
            </p:cNvPr>
            <p:cNvGrpSpPr/>
            <p:nvPr/>
          </p:nvGrpSpPr>
          <p:grpSpPr>
            <a:xfrm>
              <a:off x="5487299" y="1886475"/>
              <a:ext cx="3226263" cy="3919418"/>
              <a:chOff x="4080443" y="1664803"/>
              <a:chExt cx="3226263" cy="3919418"/>
            </a:xfrm>
          </p:grpSpPr>
          <p:sp>
            <p:nvSpPr>
              <p:cNvPr id="262" name="4">
                <a:extLst>
                  <a:ext uri="{FF2B5EF4-FFF2-40B4-BE49-F238E27FC236}">
                    <a16:creationId xmlns:a16="http://schemas.microsoft.com/office/drawing/2014/main" id="{B32C76F2-88DC-D902-CB8C-2295548C20FA}"/>
                  </a:ext>
                </a:extLst>
              </p:cNvPr>
              <p:cNvSpPr/>
              <p:nvPr/>
            </p:nvSpPr>
            <p:spPr>
              <a:xfrm flipV="1">
                <a:off x="6135492" y="1664803"/>
                <a:ext cx="1171214" cy="3528000"/>
              </a:xfrm>
              <a:prstGeom prst="arc">
                <a:avLst>
                  <a:gd name="adj1" fmla="val 16529617"/>
                  <a:gd name="adj2" fmla="val 109100"/>
                </a:avLst>
              </a:prstGeom>
              <a:ln w="7620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263" name="4">
                <a:extLst>
                  <a:ext uri="{FF2B5EF4-FFF2-40B4-BE49-F238E27FC236}">
                    <a16:creationId xmlns:a16="http://schemas.microsoft.com/office/drawing/2014/main" id="{E079AC99-CE5F-E284-1873-2E824DA82EC7}"/>
                  </a:ext>
                </a:extLst>
              </p:cNvPr>
              <p:cNvSpPr>
                <a:spLocks noChangeAspect="1"/>
              </p:cNvSpPr>
              <p:nvPr/>
            </p:nvSpPr>
            <p:spPr>
              <a:xfrm flipV="1">
                <a:off x="6572132" y="4972221"/>
                <a:ext cx="612000" cy="612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64" name="Body-4">
                <a:extLst>
                  <a:ext uri="{FF2B5EF4-FFF2-40B4-BE49-F238E27FC236}">
                    <a16:creationId xmlns:a16="http://schemas.microsoft.com/office/drawing/2014/main" id="{3E08EB10-C692-54C4-F38F-23C6AD9D5BCB}"/>
                  </a:ext>
                </a:extLst>
              </p:cNvPr>
              <p:cNvSpPr txBox="1"/>
              <p:nvPr>
                <p:custDataLst>
                  <p:tags r:id="rId5"/>
                </p:custDataLst>
              </p:nvPr>
            </p:nvSpPr>
            <p:spPr>
              <a:xfrm flipH="1">
                <a:off x="4080443" y="3972509"/>
                <a:ext cx="2809775" cy="1192736"/>
              </a:xfrm>
              <a:prstGeom prst="rect">
                <a:avLst/>
              </a:prstGeom>
              <a:noFill/>
            </p:spPr>
            <p:txBody>
              <a:bodyPr wrap="square" rtlCol="0">
                <a:spAutoFit/>
              </a:bodyPr>
              <a:lstStyle/>
              <a:p>
                <a:pPr marL="171450" lvl="0" indent="-171450">
                  <a:lnSpc>
                    <a:spcPct val="115000"/>
                  </a:lnSpc>
                  <a:spcAft>
                    <a:spcPts val="800"/>
                  </a:spcAft>
                  <a:buSzPts val="1000"/>
                  <a:buFont typeface="Arial" panose="020B0604020202020204" pitchFamily="34" charset="0"/>
                  <a:buChar char="•"/>
                  <a:tabLst>
                    <a:tab pos="457200" algn="l"/>
                  </a:tabLst>
                </a:pPr>
                <a:r>
                  <a:rPr lang="zh-CN" altLang="zh-CN" sz="1000" b="1" kern="100" dirty="0">
                    <a:effectLst/>
                    <a:latin typeface="等线" panose="02010600030101010101" pitchFamily="2" charset="-122"/>
                    <a:ea typeface="微软雅黑" panose="020B0503020204020204" pitchFamily="34" charset="-122"/>
                    <a:cs typeface="Times New Roman" panose="02020603050405020304" pitchFamily="18" charset="0"/>
                  </a:rPr>
                  <a:t>目标：</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博采众长，从</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解题者</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变为</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命题者</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endParaRPr lang="zh-CN" altLang="zh-CN" sz="1000" kern="100" dirty="0">
                  <a:effectLst/>
                  <a:latin typeface="等线" panose="02010600030101010101" pitchFamily="2" charset="-122"/>
                  <a:ea typeface="等线" panose="02010600030101010101" pitchFamily="2" charset="-122"/>
                  <a:cs typeface="Times New Roman" panose="02020603050405020304" pitchFamily="18" charset="0"/>
                </a:endParaRPr>
              </a:p>
              <a:p>
                <a:pPr marL="171450" lvl="0" indent="-171450">
                  <a:lnSpc>
                    <a:spcPct val="115000"/>
                  </a:lnSpc>
                  <a:spcAft>
                    <a:spcPts val="800"/>
                  </a:spcAft>
                  <a:buSzPts val="1000"/>
                  <a:buFont typeface="Arial" panose="020B0604020202020204" pitchFamily="34" charset="0"/>
                  <a:buChar char="•"/>
                  <a:tabLst>
                    <a:tab pos="457200" algn="l"/>
                  </a:tabLst>
                </a:pPr>
                <a:r>
                  <a:rPr lang="zh-CN" altLang="zh-CN" sz="1000" b="1" kern="100" dirty="0">
                    <a:effectLst/>
                    <a:latin typeface="等线" panose="02010600030101010101" pitchFamily="2" charset="-122"/>
                    <a:ea typeface="微软雅黑" panose="020B0503020204020204" pitchFamily="34" charset="-122"/>
                    <a:cs typeface="Times New Roman" panose="02020603050405020304" pitchFamily="18" charset="0"/>
                  </a:rPr>
                  <a:t>关键行动：</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广泛研究不同厂商和标杆的方案，在对比中理解优劣。结合自身业务的独特洞察，针对现有方案无法解决的痛点，进行创造性设计，提出新的数据模型或业务算法。</a:t>
                </a:r>
                <a:endParaRPr lang="zh-CN" altLang="zh-CN" sz="1000" kern="100" dirty="0">
                  <a:effectLst/>
                  <a:latin typeface="等线" panose="02010600030101010101" pitchFamily="2" charset="-122"/>
                  <a:ea typeface="等线" panose="02010600030101010101" pitchFamily="2" charset="-122"/>
                  <a:cs typeface="Times New Roman" panose="02020603050405020304" pitchFamily="18" charset="0"/>
                </a:endParaRPr>
              </a:p>
              <a:p>
                <a:pPr marL="171450" lvl="0" indent="-171450">
                  <a:lnSpc>
                    <a:spcPct val="115000"/>
                  </a:lnSpc>
                  <a:spcAft>
                    <a:spcPts val="800"/>
                  </a:spcAft>
                  <a:buSzPts val="1000"/>
                  <a:buFont typeface="Arial" panose="020B0604020202020204" pitchFamily="34" charset="0"/>
                  <a:buChar char="•"/>
                  <a:tabLst>
                    <a:tab pos="457200" algn="l"/>
                  </a:tabLst>
                </a:pPr>
                <a:r>
                  <a:rPr lang="zh-CN" altLang="zh-CN" sz="1000" b="1" kern="100" dirty="0">
                    <a:effectLst/>
                    <a:latin typeface="等线" panose="02010600030101010101" pitchFamily="2" charset="-122"/>
                    <a:ea typeface="微软雅黑" panose="020B0503020204020204" pitchFamily="34" charset="-122"/>
                    <a:cs typeface="Times New Roman" panose="02020603050405020304" pitchFamily="18" charset="0"/>
                  </a:rPr>
                  <a:t>价值：</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不再局限于模仿，开始形成自己的核心竞争力和</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规则定义</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能力。</a:t>
                </a:r>
                <a:endParaRPr lang="zh-CN" altLang="zh-CN" sz="1000" kern="100" dirty="0">
                  <a:effectLst/>
                  <a:latin typeface="等线" panose="02010600030101010101" pitchFamily="2" charset="-122"/>
                  <a:ea typeface="等线" panose="02010600030101010101" pitchFamily="2" charset="-122"/>
                  <a:cs typeface="Times New Roman" panose="02020603050405020304" pitchFamily="18" charset="0"/>
                </a:endParaRPr>
              </a:p>
            </p:txBody>
          </p:sp>
          <p:sp>
            <p:nvSpPr>
              <p:cNvPr id="265" name="Title-4">
                <a:extLst>
                  <a:ext uri="{FF2B5EF4-FFF2-40B4-BE49-F238E27FC236}">
                    <a16:creationId xmlns:a16="http://schemas.microsoft.com/office/drawing/2014/main" id="{BC753B9B-C524-0F84-7CEE-DF0EC2E493ED}"/>
                  </a:ext>
                </a:extLst>
              </p:cNvPr>
              <p:cNvSpPr txBox="1"/>
              <p:nvPr>
                <p:custDataLst>
                  <p:tags r:id="rId6"/>
                </p:custDataLst>
              </p:nvPr>
            </p:nvSpPr>
            <p:spPr>
              <a:xfrm>
                <a:off x="4179706" y="3573713"/>
                <a:ext cx="2880078" cy="215074"/>
              </a:xfrm>
              <a:prstGeom prst="rect">
                <a:avLst/>
              </a:prstGeom>
              <a:noFill/>
            </p:spPr>
            <p:txBody>
              <a:bodyPr wrap="square" rtlCol="0">
                <a:spAutoFit/>
              </a:bodyPr>
              <a:lstStyle/>
              <a:p>
                <a:pPr>
                  <a:lnSpc>
                    <a:spcPct val="115000"/>
                  </a:lnSpc>
                  <a:spcAft>
                    <a:spcPts val="800"/>
                  </a:spcAft>
                </a:pPr>
                <a:r>
                  <a:rPr lang="zh-CN" altLang="zh-CN" sz="1100" b="1" kern="100" dirty="0">
                    <a:effectLst/>
                    <a:latin typeface="等线" panose="02010600030101010101" pitchFamily="2" charset="-122"/>
                    <a:ea typeface="微软雅黑" panose="020B0503020204020204" pitchFamily="34" charset="-122"/>
                    <a:cs typeface="Times New Roman" panose="02020603050405020304" pitchFamily="18" charset="0"/>
                  </a:rPr>
                  <a:t>第四阶段：跨界融合与创新（定义规则）</a:t>
                </a:r>
                <a:endParaRPr lang="zh-CN" altLang="zh-CN" sz="1100" kern="100" dirty="0">
                  <a:effectLst/>
                  <a:latin typeface="等线" panose="02010600030101010101" pitchFamily="2" charset="-122"/>
                  <a:ea typeface="等线" panose="02010600030101010101" pitchFamily="2" charset="-122"/>
                  <a:cs typeface="Times New Roman" panose="02020603050405020304" pitchFamily="18" charset="0"/>
                </a:endParaRPr>
              </a:p>
            </p:txBody>
          </p:sp>
          <p:sp>
            <p:nvSpPr>
              <p:cNvPr id="266" name="4">
                <a:extLst>
                  <a:ext uri="{FF2B5EF4-FFF2-40B4-BE49-F238E27FC236}">
                    <a16:creationId xmlns:a16="http://schemas.microsoft.com/office/drawing/2014/main" id="{02F720A8-B182-F783-1389-0876A9A466B6}"/>
                  </a:ext>
                </a:extLst>
              </p:cNvPr>
              <p:cNvSpPr>
                <a:spLocks noChangeAspect="1"/>
              </p:cNvSpPr>
              <p:nvPr/>
            </p:nvSpPr>
            <p:spPr>
              <a:xfrm flipV="1">
                <a:off x="6645018" y="5057647"/>
                <a:ext cx="468000" cy="46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67" name="Index-4">
                <a:extLst>
                  <a:ext uri="{FF2B5EF4-FFF2-40B4-BE49-F238E27FC236}">
                    <a16:creationId xmlns:a16="http://schemas.microsoft.com/office/drawing/2014/main" id="{A2EA1E48-F533-49A1-0AC7-508FF0E58AB9}"/>
                  </a:ext>
                </a:extLst>
              </p:cNvPr>
              <p:cNvSpPr txBox="1"/>
              <p:nvPr>
                <p:custDataLst>
                  <p:tags r:id="rId7"/>
                </p:custDataLst>
              </p:nvPr>
            </p:nvSpPr>
            <p:spPr>
              <a:xfrm>
                <a:off x="6484916" y="5199897"/>
                <a:ext cx="786431" cy="19361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sz="1100" b="1" i="0" u="none" strike="noStrike" kern="1200" cap="none" spc="0" normalizeH="0" baseline="0" noProof="0" dirty="0">
                    <a:ln>
                      <a:noFill/>
                    </a:ln>
                    <a:solidFill>
                      <a:srgbClr val="FFFFFF">
                        <a:lumMod val="90000"/>
                        <a:lumOff val="10000"/>
                      </a:srgbClr>
                    </a:solidFill>
                    <a:effectLst/>
                    <a:uLnTx/>
                    <a:uFillTx/>
                    <a:latin typeface="微软雅黑" panose="020B0503020204020204" pitchFamily="34" charset="-122"/>
                    <a:ea typeface="微软雅黑" panose="020B0503020204020204" pitchFamily="34" charset="-122"/>
                    <a:cs typeface="+mn-cs"/>
                  </a:rPr>
                  <a:t>04</a:t>
                </a:r>
                <a:endParaRPr kumimoji="1" lang="zh-CN" altLang="en-US" sz="1100" b="1" i="0" u="none" strike="noStrike" kern="1200" cap="none" spc="0" normalizeH="0" baseline="0" noProof="0" dirty="0">
                  <a:ln>
                    <a:noFill/>
                  </a:ln>
                  <a:solidFill>
                    <a:srgbClr val="FFFFFF">
                      <a:lumMod val="90000"/>
                      <a:lumOff val="10000"/>
                    </a:srgbClr>
                  </a:solidFill>
                  <a:effectLst/>
                  <a:uLnTx/>
                  <a:uFillTx/>
                  <a:latin typeface="微软雅黑" panose="020B0503020204020204" pitchFamily="34" charset="-122"/>
                  <a:ea typeface="微软雅黑" panose="020B0503020204020204" pitchFamily="34" charset="-122"/>
                  <a:cs typeface="+mn-cs"/>
                </a:endParaRPr>
              </a:p>
            </p:txBody>
          </p:sp>
        </p:grpSp>
        <p:grpSp>
          <p:nvGrpSpPr>
            <p:cNvPr id="249" name="组合 05">
              <a:extLst>
                <a:ext uri="{FF2B5EF4-FFF2-40B4-BE49-F238E27FC236}">
                  <a16:creationId xmlns:a16="http://schemas.microsoft.com/office/drawing/2014/main" id="{89AC95FD-D923-1C14-A366-E3CD52E9CBE2}"/>
                </a:ext>
              </a:extLst>
            </p:cNvPr>
            <p:cNvGrpSpPr/>
            <p:nvPr/>
          </p:nvGrpSpPr>
          <p:grpSpPr>
            <a:xfrm>
              <a:off x="6854881" y="1483533"/>
              <a:ext cx="3224350" cy="3920069"/>
              <a:chOff x="2484609" y="1261861"/>
              <a:chExt cx="3224350" cy="3920069"/>
            </a:xfrm>
          </p:grpSpPr>
          <p:sp>
            <p:nvSpPr>
              <p:cNvPr id="256" name="5">
                <a:extLst>
                  <a:ext uri="{FF2B5EF4-FFF2-40B4-BE49-F238E27FC236}">
                    <a16:creationId xmlns:a16="http://schemas.microsoft.com/office/drawing/2014/main" id="{C77CC3EC-F007-8199-2765-B702A59825C4}"/>
                  </a:ext>
                </a:extLst>
              </p:cNvPr>
              <p:cNvSpPr/>
              <p:nvPr/>
            </p:nvSpPr>
            <p:spPr>
              <a:xfrm>
                <a:off x="4537744" y="1653930"/>
                <a:ext cx="1171215" cy="3528000"/>
              </a:xfrm>
              <a:prstGeom prst="arc">
                <a:avLst>
                  <a:gd name="adj1" fmla="val 16529617"/>
                  <a:gd name="adj2" fmla="val 109100"/>
                </a:avLst>
              </a:prstGeom>
              <a:ln w="76200">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257" name="5">
                <a:extLst>
                  <a:ext uri="{FF2B5EF4-FFF2-40B4-BE49-F238E27FC236}">
                    <a16:creationId xmlns:a16="http://schemas.microsoft.com/office/drawing/2014/main" id="{9AC5523F-16A1-685D-ADFC-59456A4BF609}"/>
                  </a:ext>
                </a:extLst>
              </p:cNvPr>
              <p:cNvSpPr>
                <a:spLocks noChangeAspect="1"/>
              </p:cNvSpPr>
              <p:nvPr/>
            </p:nvSpPr>
            <p:spPr>
              <a:xfrm>
                <a:off x="4764955" y="1261861"/>
                <a:ext cx="612000" cy="612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58" name="Body-5">
                <a:extLst>
                  <a:ext uri="{FF2B5EF4-FFF2-40B4-BE49-F238E27FC236}">
                    <a16:creationId xmlns:a16="http://schemas.microsoft.com/office/drawing/2014/main" id="{B997F733-5D4D-F96F-0164-78D014EEEE61}"/>
                  </a:ext>
                </a:extLst>
              </p:cNvPr>
              <p:cNvSpPr txBox="1"/>
              <p:nvPr>
                <p:custDataLst>
                  <p:tags r:id="rId2"/>
                </p:custDataLst>
              </p:nvPr>
            </p:nvSpPr>
            <p:spPr>
              <a:xfrm flipH="1">
                <a:off x="2494139" y="1777891"/>
                <a:ext cx="2322381" cy="1303482"/>
              </a:xfrm>
              <a:prstGeom prst="rect">
                <a:avLst/>
              </a:prstGeom>
              <a:noFill/>
            </p:spPr>
            <p:txBody>
              <a:bodyPr wrap="square" rtlCol="0">
                <a:spAutoFit/>
              </a:bodyPr>
              <a:lstStyle/>
              <a:p>
                <a:pPr marL="171450" lvl="0" indent="-171450">
                  <a:lnSpc>
                    <a:spcPct val="115000"/>
                  </a:lnSpc>
                  <a:spcAft>
                    <a:spcPts val="800"/>
                  </a:spcAft>
                  <a:buSzPts val="1000"/>
                  <a:buFont typeface="Arial" panose="020B0604020202020204" pitchFamily="34" charset="0"/>
                  <a:buChar char="•"/>
                  <a:tabLst>
                    <a:tab pos="457200" algn="l"/>
                  </a:tabLst>
                </a:pPr>
                <a:r>
                  <a:rPr lang="zh-CN" altLang="zh-CN" sz="1000" b="1" kern="100" dirty="0">
                    <a:effectLst/>
                    <a:latin typeface="等线" panose="02010600030101010101" pitchFamily="2" charset="-122"/>
                    <a:ea typeface="微软雅黑" panose="020B0503020204020204" pitchFamily="34" charset="-122"/>
                    <a:cs typeface="Times New Roman" panose="02020603050405020304" pitchFamily="18" charset="0"/>
                  </a:rPr>
                  <a:t>目标：</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将个人或团队的能力，转化为组织的可复制、可持续的体系能力</a:t>
                </a:r>
                <a:endParaRPr lang="zh-CN" altLang="zh-CN" sz="1000" kern="100" dirty="0">
                  <a:effectLst/>
                  <a:latin typeface="等线" panose="02010600030101010101" pitchFamily="2" charset="-122"/>
                  <a:ea typeface="等线" panose="02010600030101010101" pitchFamily="2" charset="-122"/>
                  <a:cs typeface="Times New Roman" panose="02020603050405020304" pitchFamily="18" charset="0"/>
                </a:endParaRPr>
              </a:p>
              <a:p>
                <a:pPr marL="171450" lvl="0" indent="-171450">
                  <a:lnSpc>
                    <a:spcPct val="115000"/>
                  </a:lnSpc>
                  <a:spcAft>
                    <a:spcPts val="800"/>
                  </a:spcAft>
                  <a:buSzPts val="1000"/>
                  <a:buFont typeface="Arial" panose="020B0604020202020204" pitchFamily="34" charset="0"/>
                  <a:buChar char="•"/>
                  <a:tabLst>
                    <a:tab pos="457200" algn="l"/>
                  </a:tabLst>
                </a:pPr>
                <a:r>
                  <a:rPr lang="zh-CN" altLang="zh-CN" sz="1000" b="1" kern="100" dirty="0">
                    <a:effectLst/>
                    <a:latin typeface="等线" panose="02010600030101010101" pitchFamily="2" charset="-122"/>
                    <a:ea typeface="微软雅黑" panose="020B0503020204020204" pitchFamily="34" charset="-122"/>
                    <a:cs typeface="Times New Roman" panose="02020603050405020304" pitchFamily="18" charset="0"/>
                  </a:rPr>
                  <a:t>关键行动：</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将成功的经验沉淀为方法论、工具、培训和产品。核心是回答</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组织如何获得持续产生新方案的能力</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，而不仅仅是</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如何解决某个问题</a:t>
                </a:r>
                <a:r>
                  <a:rPr lang="en-US"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r>
                  <a:rPr lang="zh-CN" altLang="zh-CN" sz="1000" kern="100" dirty="0">
                    <a:effectLst/>
                    <a:latin typeface="等线" panose="02010600030101010101" pitchFamily="2" charset="-122"/>
                    <a:ea typeface="微软雅黑" panose="020B0503020204020204" pitchFamily="34" charset="-122"/>
                    <a:cs typeface="Times New Roman" panose="02020603050405020304" pitchFamily="18" charset="0"/>
                  </a:rPr>
                  <a:t>。</a:t>
                </a:r>
                <a:endParaRPr lang="zh-CN" altLang="zh-CN" sz="1000" kern="100" dirty="0">
                  <a:effectLst/>
                  <a:latin typeface="等线" panose="02010600030101010101" pitchFamily="2" charset="-122"/>
                  <a:ea typeface="等线" panose="02010600030101010101" pitchFamily="2" charset="-122"/>
                  <a:cs typeface="Times New Roman" panose="02020603050405020304" pitchFamily="18" charset="0"/>
                </a:endParaRPr>
              </a:p>
              <a:p>
                <a:pPr marL="171450" indent="-171450">
                  <a:buFont typeface="Arial" panose="020B0604020202020204" pitchFamily="34" charset="0"/>
                  <a:buChar char="•"/>
                </a:pPr>
                <a:r>
                  <a:rPr lang="zh-CN" altLang="zh-CN" sz="1000" b="1" dirty="0">
                    <a:effectLst/>
                    <a:ea typeface="微软雅黑" panose="020B0503020204020204" pitchFamily="34" charset="-122"/>
                    <a:cs typeface="Times New Roman" panose="02020603050405020304" pitchFamily="18" charset="0"/>
                  </a:rPr>
                  <a:t>价值：</a:t>
                </a:r>
                <a:r>
                  <a:rPr lang="zh-CN" altLang="zh-CN" sz="1000" dirty="0">
                    <a:effectLst/>
                    <a:ea typeface="微软雅黑" panose="020B0503020204020204" pitchFamily="34" charset="-122"/>
                    <a:cs typeface="Times New Roman" panose="02020603050405020304" pitchFamily="18" charset="0"/>
                  </a:rPr>
                  <a:t>实现从</a:t>
                </a:r>
                <a:r>
                  <a:rPr lang="en-US" altLang="zh-CN" sz="1000" dirty="0">
                    <a:effectLst/>
                    <a:ea typeface="微软雅黑" panose="020B0503020204020204" pitchFamily="34" charset="-122"/>
                    <a:cs typeface="Times New Roman" panose="02020603050405020304" pitchFamily="18" charset="0"/>
                  </a:rPr>
                  <a:t>“</a:t>
                </a:r>
                <a:r>
                  <a:rPr lang="zh-CN" altLang="zh-CN" sz="1000" dirty="0">
                    <a:effectLst/>
                    <a:ea typeface="微软雅黑" panose="020B0503020204020204" pitchFamily="34" charset="-122"/>
                    <a:cs typeface="Times New Roman" panose="02020603050405020304" pitchFamily="18" charset="0"/>
                  </a:rPr>
                  <a:t>技术优势</a:t>
                </a:r>
                <a:r>
                  <a:rPr lang="en-US" altLang="zh-CN" sz="1000" dirty="0">
                    <a:effectLst/>
                    <a:ea typeface="微软雅黑" panose="020B0503020204020204" pitchFamily="34" charset="-122"/>
                    <a:cs typeface="Times New Roman" panose="02020603050405020304" pitchFamily="18" charset="0"/>
                  </a:rPr>
                  <a:t>”</a:t>
                </a:r>
                <a:r>
                  <a:rPr lang="zh-CN" altLang="zh-CN" sz="1000" dirty="0">
                    <a:effectLst/>
                    <a:ea typeface="微软雅黑" panose="020B0503020204020204" pitchFamily="34" charset="-122"/>
                    <a:cs typeface="Times New Roman" panose="02020603050405020304" pitchFamily="18" charset="0"/>
                  </a:rPr>
                  <a:t>到</a:t>
                </a:r>
                <a:r>
                  <a:rPr lang="en-US" altLang="zh-CN" sz="1000" dirty="0">
                    <a:effectLst/>
                    <a:ea typeface="微软雅黑" panose="020B0503020204020204" pitchFamily="34" charset="-122"/>
                    <a:cs typeface="Times New Roman" panose="02020603050405020304" pitchFamily="18" charset="0"/>
                  </a:rPr>
                  <a:t>“</a:t>
                </a:r>
                <a:r>
                  <a:rPr lang="zh-CN" altLang="zh-CN" sz="1000" dirty="0">
                    <a:effectLst/>
                    <a:ea typeface="微软雅黑" panose="020B0503020204020204" pitchFamily="34" charset="-122"/>
                    <a:cs typeface="Times New Roman" panose="02020603050405020304" pitchFamily="18" charset="0"/>
                  </a:rPr>
                  <a:t>能力优势</a:t>
                </a:r>
                <a:r>
                  <a:rPr lang="en-US" altLang="zh-CN" sz="1000" dirty="0">
                    <a:effectLst/>
                    <a:ea typeface="微软雅黑" panose="020B0503020204020204" pitchFamily="34" charset="-122"/>
                    <a:cs typeface="Times New Roman" panose="02020603050405020304" pitchFamily="18" charset="0"/>
                  </a:rPr>
                  <a:t>”</a:t>
                </a:r>
                <a:r>
                  <a:rPr lang="zh-CN" altLang="zh-CN" sz="1000" dirty="0">
                    <a:effectLst/>
                    <a:ea typeface="微软雅黑" panose="020B0503020204020204" pitchFamily="34" charset="-122"/>
                    <a:cs typeface="Times New Roman" panose="02020603050405020304" pitchFamily="18" charset="0"/>
                  </a:rPr>
                  <a:t>的最终跃迁，成为行业新的标杆</a:t>
                </a:r>
                <a:endParaRPr kumimoji="1" lang="zh-CN" altLang="en-US" sz="1000" b="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endParaRPr>
              </a:p>
            </p:txBody>
          </p:sp>
          <p:sp>
            <p:nvSpPr>
              <p:cNvPr id="259" name="Title-5">
                <a:extLst>
                  <a:ext uri="{FF2B5EF4-FFF2-40B4-BE49-F238E27FC236}">
                    <a16:creationId xmlns:a16="http://schemas.microsoft.com/office/drawing/2014/main" id="{76915C8A-E3AD-7B0B-6D3E-C67F731FD836}"/>
                  </a:ext>
                </a:extLst>
              </p:cNvPr>
              <p:cNvSpPr txBox="1"/>
              <p:nvPr>
                <p:custDataLst>
                  <p:tags r:id="rId3"/>
                </p:custDataLst>
              </p:nvPr>
            </p:nvSpPr>
            <p:spPr>
              <a:xfrm>
                <a:off x="2484609" y="1381506"/>
                <a:ext cx="2012266" cy="367281"/>
              </a:xfrm>
              <a:prstGeom prst="rect">
                <a:avLst/>
              </a:prstGeom>
              <a:noFill/>
            </p:spPr>
            <p:txBody>
              <a:bodyPr wrap="square" rtlCol="0">
                <a:spAutoFit/>
              </a:bodyPr>
              <a:lstStyle/>
              <a:p>
                <a:pPr>
                  <a:lnSpc>
                    <a:spcPct val="115000"/>
                  </a:lnSpc>
                  <a:spcAft>
                    <a:spcPts val="800"/>
                  </a:spcAft>
                </a:pPr>
                <a:r>
                  <a:rPr lang="zh-CN" altLang="zh-CN" sz="1100" b="1" kern="100" dirty="0">
                    <a:effectLst/>
                    <a:latin typeface="等线" panose="02010600030101010101" pitchFamily="2" charset="-122"/>
                    <a:ea typeface="微软雅黑" panose="020B0503020204020204" pitchFamily="34" charset="-122"/>
                    <a:cs typeface="Times New Roman" panose="02020603050405020304" pitchFamily="18" charset="0"/>
                  </a:rPr>
                  <a:t>第五阶段：体系赋能与超越（生态建设）</a:t>
                </a:r>
                <a:endParaRPr lang="zh-CN" altLang="zh-CN" sz="1100" kern="100" dirty="0">
                  <a:effectLst/>
                  <a:latin typeface="等线" panose="02010600030101010101" pitchFamily="2" charset="-122"/>
                  <a:ea typeface="等线" panose="02010600030101010101" pitchFamily="2" charset="-122"/>
                  <a:cs typeface="Times New Roman" panose="02020603050405020304" pitchFamily="18" charset="0"/>
                </a:endParaRPr>
              </a:p>
            </p:txBody>
          </p:sp>
          <p:sp>
            <p:nvSpPr>
              <p:cNvPr id="260" name="5">
                <a:extLst>
                  <a:ext uri="{FF2B5EF4-FFF2-40B4-BE49-F238E27FC236}">
                    <a16:creationId xmlns:a16="http://schemas.microsoft.com/office/drawing/2014/main" id="{6F08B2E9-0F63-179A-A62F-59C9FB97E7E4}"/>
                  </a:ext>
                </a:extLst>
              </p:cNvPr>
              <p:cNvSpPr>
                <a:spLocks noChangeAspect="1"/>
              </p:cNvSpPr>
              <p:nvPr/>
            </p:nvSpPr>
            <p:spPr>
              <a:xfrm>
                <a:off x="4836955" y="1333861"/>
                <a:ext cx="468000" cy="46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zh-CN" altLang="en-US" sz="11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61" name="Index-5">
                <a:extLst>
                  <a:ext uri="{FF2B5EF4-FFF2-40B4-BE49-F238E27FC236}">
                    <a16:creationId xmlns:a16="http://schemas.microsoft.com/office/drawing/2014/main" id="{A770F2C1-F10E-A9D5-C47B-AEFDB66B9768}"/>
                  </a:ext>
                </a:extLst>
              </p:cNvPr>
              <p:cNvSpPr txBox="1"/>
              <p:nvPr>
                <p:custDataLst>
                  <p:tags r:id="rId4"/>
                </p:custDataLst>
              </p:nvPr>
            </p:nvSpPr>
            <p:spPr>
              <a:xfrm>
                <a:off x="4691330" y="1478725"/>
                <a:ext cx="786431" cy="19361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sz="1100" b="1" i="0" u="none" strike="noStrike" kern="1200" cap="none" spc="0" normalizeH="0" baseline="0" noProof="0" dirty="0">
                    <a:ln>
                      <a:noFill/>
                    </a:ln>
                    <a:solidFill>
                      <a:srgbClr val="FFFFFF">
                        <a:lumMod val="90000"/>
                        <a:lumOff val="10000"/>
                      </a:srgbClr>
                    </a:solidFill>
                    <a:effectLst/>
                    <a:uLnTx/>
                    <a:uFillTx/>
                    <a:latin typeface="微软雅黑" panose="020B0503020204020204" pitchFamily="34" charset="-122"/>
                    <a:ea typeface="微软雅黑" panose="020B0503020204020204" pitchFamily="34" charset="-122"/>
                    <a:cs typeface="+mn-cs"/>
                  </a:rPr>
                  <a:t>05</a:t>
                </a:r>
                <a:endParaRPr kumimoji="1" lang="zh-CN" altLang="en-US" sz="1100" b="1" i="0" u="none" strike="noStrike" kern="1200" cap="none" spc="0" normalizeH="0" baseline="0" noProof="0" dirty="0">
                  <a:ln>
                    <a:noFill/>
                  </a:ln>
                  <a:solidFill>
                    <a:srgbClr val="FFFFFF">
                      <a:lumMod val="90000"/>
                      <a:lumOff val="10000"/>
                    </a:srgbClr>
                  </a:solidFill>
                  <a:effectLst/>
                  <a:uLnTx/>
                  <a:uFillTx/>
                  <a:latin typeface="微软雅黑" panose="020B0503020204020204" pitchFamily="34" charset="-122"/>
                  <a:ea typeface="微软雅黑" panose="020B0503020204020204" pitchFamily="34" charset="-122"/>
                  <a:cs typeface="+mn-cs"/>
                </a:endParaRPr>
              </a:p>
            </p:txBody>
          </p:sp>
        </p:grpSp>
        <p:sp>
          <p:nvSpPr>
            <p:cNvPr id="255" name="0">
              <a:extLst>
                <a:ext uri="{FF2B5EF4-FFF2-40B4-BE49-F238E27FC236}">
                  <a16:creationId xmlns:a16="http://schemas.microsoft.com/office/drawing/2014/main" id="{BFEE6883-47F1-F455-EB51-E8501809D6BB}"/>
                </a:ext>
              </a:extLst>
            </p:cNvPr>
            <p:cNvSpPr/>
            <p:nvPr/>
          </p:nvSpPr>
          <p:spPr>
            <a:xfrm>
              <a:off x="1440100" y="3618990"/>
              <a:ext cx="9205349" cy="85486"/>
            </a:xfrm>
            <a:custGeom>
              <a:avLst/>
              <a:gdLst>
                <a:gd name="connsiteX0" fmla="*/ 3671415 w 3725621"/>
                <a:gd name="connsiteY0" fmla="*/ 108414 h 108414"/>
                <a:gd name="connsiteX1" fmla="*/ 54207 w 3725621"/>
                <a:gd name="connsiteY1" fmla="*/ 108414 h 108414"/>
                <a:gd name="connsiteX2" fmla="*/ 0 w 3725621"/>
                <a:gd name="connsiteY2" fmla="*/ 54207 h 108414"/>
                <a:gd name="connsiteX3" fmla="*/ 54207 w 3725621"/>
                <a:gd name="connsiteY3" fmla="*/ 0 h 108414"/>
                <a:gd name="connsiteX4" fmla="*/ 3671415 w 3725621"/>
                <a:gd name="connsiteY4" fmla="*/ 0 h 108414"/>
                <a:gd name="connsiteX5" fmla="*/ 3725622 w 3725621"/>
                <a:gd name="connsiteY5" fmla="*/ 54207 h 108414"/>
                <a:gd name="connsiteX6" fmla="*/ 3671415 w 3725621"/>
                <a:gd name="connsiteY6" fmla="*/ 108414 h 108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5621" h="108414">
                  <a:moveTo>
                    <a:pt x="3671415" y="108414"/>
                  </a:moveTo>
                  <a:lnTo>
                    <a:pt x="54207" y="108414"/>
                  </a:lnTo>
                  <a:cubicBezTo>
                    <a:pt x="24269" y="108414"/>
                    <a:pt x="0" y="84145"/>
                    <a:pt x="0" y="54207"/>
                  </a:cubicBezTo>
                  <a:cubicBezTo>
                    <a:pt x="0" y="24269"/>
                    <a:pt x="24269" y="0"/>
                    <a:pt x="54207" y="0"/>
                  </a:cubicBezTo>
                  <a:lnTo>
                    <a:pt x="3671415" y="0"/>
                  </a:lnTo>
                  <a:cubicBezTo>
                    <a:pt x="3701353" y="0"/>
                    <a:pt x="3725622" y="24270"/>
                    <a:pt x="3725622" y="54207"/>
                  </a:cubicBezTo>
                  <a:cubicBezTo>
                    <a:pt x="3725622" y="84145"/>
                    <a:pt x="3701353" y="108414"/>
                    <a:pt x="3671415" y="108414"/>
                  </a:cubicBezTo>
                  <a:close/>
                </a:path>
              </a:pathLst>
            </a:custGeom>
            <a:solidFill>
              <a:schemeClr val="accent1"/>
            </a:solidFill>
            <a:ln w="222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100" b="0"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grpSp>
    </p:spTree>
    <p:extLst>
      <p:ext uri="{BB962C8B-B14F-4D97-AF65-F5344CB8AC3E}">
        <p14:creationId xmlns:p14="http://schemas.microsoft.com/office/powerpoint/2010/main" val="407309556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74AE45D-DE4A-C41E-421C-2540860E21C0}"/>
              </a:ext>
            </a:extLst>
          </p:cNvPr>
          <p:cNvSpPr>
            <a:spLocks noGrp="1"/>
          </p:cNvSpPr>
          <p:nvPr>
            <p:ph type="title"/>
          </p:nvPr>
        </p:nvSpPr>
        <p:spPr/>
        <p:txBody>
          <a:bodyPr/>
          <a:lstStyle/>
          <a:p>
            <a:r>
              <a:rPr lang="zh-CN" altLang="en-US" dirty="0"/>
              <a:t>获得最佳方案过程中的四阶认知和能力跃迁</a:t>
            </a:r>
          </a:p>
        </p:txBody>
      </p:sp>
      <p:grpSp>
        <p:nvGrpSpPr>
          <p:cNvPr id="140" name="组合 139">
            <a:extLst>
              <a:ext uri="{FF2B5EF4-FFF2-40B4-BE49-F238E27FC236}">
                <a16:creationId xmlns:a16="http://schemas.microsoft.com/office/drawing/2014/main" id="{D37CD4E5-5DCF-933E-F4A9-A9A85CC0C9D6}"/>
              </a:ext>
            </a:extLst>
          </p:cNvPr>
          <p:cNvGrpSpPr>
            <a:grpSpLocks noChangeAspect="1"/>
          </p:cNvGrpSpPr>
          <p:nvPr>
            <p:custDataLst>
              <p:tags r:id="rId1"/>
            </p:custDataLst>
          </p:nvPr>
        </p:nvGrpSpPr>
        <p:grpSpPr>
          <a:xfrm>
            <a:off x="948148" y="1269618"/>
            <a:ext cx="11243852" cy="5274918"/>
            <a:chOff x="1303817" y="1026160"/>
            <a:chExt cx="10250262" cy="5274918"/>
          </a:xfrm>
        </p:grpSpPr>
        <p:grpSp>
          <p:nvGrpSpPr>
            <p:cNvPr id="141" name="组合 140">
              <a:extLst>
                <a:ext uri="{FF2B5EF4-FFF2-40B4-BE49-F238E27FC236}">
                  <a16:creationId xmlns:a16="http://schemas.microsoft.com/office/drawing/2014/main" id="{E986044C-5DE5-BE04-4E81-486C02912E1A}"/>
                </a:ext>
              </a:extLst>
            </p:cNvPr>
            <p:cNvGrpSpPr/>
            <p:nvPr/>
          </p:nvGrpSpPr>
          <p:grpSpPr>
            <a:xfrm>
              <a:off x="3485174" y="1026160"/>
              <a:ext cx="5221651" cy="5206182"/>
              <a:chOff x="3485174" y="1026160"/>
              <a:chExt cx="5221651" cy="5206182"/>
            </a:xfrm>
          </p:grpSpPr>
          <p:sp>
            <p:nvSpPr>
              <p:cNvPr id="167" name="0">
                <a:extLst>
                  <a:ext uri="{FF2B5EF4-FFF2-40B4-BE49-F238E27FC236}">
                    <a16:creationId xmlns:a16="http://schemas.microsoft.com/office/drawing/2014/main" id="{5F9B40F9-795F-D444-B898-6B922FBFA9D6}"/>
                  </a:ext>
                </a:extLst>
              </p:cNvPr>
              <p:cNvSpPr/>
              <p:nvPr/>
            </p:nvSpPr>
            <p:spPr>
              <a:xfrm flipV="1">
                <a:off x="4188821" y="1026160"/>
                <a:ext cx="4518004" cy="5206182"/>
              </a:xfrm>
              <a:prstGeom prst="trapezoid">
                <a:avLst>
                  <a:gd name="adj" fmla="val 43084"/>
                </a:avLst>
              </a:prstGeom>
              <a:solidFill>
                <a:schemeClr val="accent1">
                  <a:lumMod val="20000"/>
                  <a:lumOff val="80000"/>
                  <a:alpha val="2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cs typeface="+mn-cs"/>
                  </a:rPr>
                  <a:t> </a:t>
                </a:r>
                <a:endParaRPr kumimoji="0" lang="zh-CN" altLang="en-US" sz="1600" b="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68" name="0">
                <a:extLst>
                  <a:ext uri="{FF2B5EF4-FFF2-40B4-BE49-F238E27FC236}">
                    <a16:creationId xmlns:a16="http://schemas.microsoft.com/office/drawing/2014/main" id="{6AC72D33-9356-E4A1-1A55-3D9FA8E33F60}"/>
                  </a:ext>
                </a:extLst>
              </p:cNvPr>
              <p:cNvSpPr/>
              <p:nvPr/>
            </p:nvSpPr>
            <p:spPr>
              <a:xfrm flipV="1">
                <a:off x="3485174" y="1026160"/>
                <a:ext cx="4969804" cy="5206182"/>
              </a:xfrm>
              <a:prstGeom prst="trapezoid">
                <a:avLst>
                  <a:gd name="adj" fmla="val 43084"/>
                </a:avLst>
              </a:prstGeom>
              <a:solidFill>
                <a:schemeClr val="accent1">
                  <a:lumMod val="20000"/>
                  <a:lumOff val="80000"/>
                  <a:alpha val="2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cs typeface="+mn-cs"/>
                  </a:rPr>
                  <a:t> </a:t>
                </a:r>
                <a:endParaRPr kumimoji="0" lang="zh-CN" altLang="en-US" sz="1600" b="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69" name="0">
                <a:extLst>
                  <a:ext uri="{FF2B5EF4-FFF2-40B4-BE49-F238E27FC236}">
                    <a16:creationId xmlns:a16="http://schemas.microsoft.com/office/drawing/2014/main" id="{F56FA8DB-6971-1242-4F49-541902898688}"/>
                  </a:ext>
                </a:extLst>
              </p:cNvPr>
              <p:cNvSpPr/>
              <p:nvPr/>
            </p:nvSpPr>
            <p:spPr>
              <a:xfrm flipV="1">
                <a:off x="4601475" y="1251913"/>
                <a:ext cx="3618626" cy="2013660"/>
              </a:xfrm>
              <a:custGeom>
                <a:avLst/>
                <a:gdLst>
                  <a:gd name="connsiteX0" fmla="*/ 264021 w 3583662"/>
                  <a:gd name="connsiteY0" fmla="*/ 0 h 2032756"/>
                  <a:gd name="connsiteX1" fmla="*/ 273737 w 3583662"/>
                  <a:gd name="connsiteY1" fmla="*/ 10917 h 2032756"/>
                  <a:gd name="connsiteX2" fmla="*/ 2927671 w 3583662"/>
                  <a:gd name="connsiteY2" fmla="*/ 1133596 h 2032756"/>
                  <a:gd name="connsiteX3" fmla="*/ 3100241 w 3583662"/>
                  <a:gd name="connsiteY3" fmla="*/ 1129641 h 2032756"/>
                  <a:gd name="connsiteX4" fmla="*/ 3201615 w 3583662"/>
                  <a:gd name="connsiteY4" fmla="*/ 1122656 h 2032756"/>
                  <a:gd name="connsiteX5" fmla="*/ 3583662 w 3583662"/>
                  <a:gd name="connsiteY5" fmla="*/ 1973573 h 2032756"/>
                  <a:gd name="connsiteX6" fmla="*/ 3490869 w 3583662"/>
                  <a:gd name="connsiteY6" fmla="*/ 1990145 h 2032756"/>
                  <a:gd name="connsiteX7" fmla="*/ 2927671 w 3583662"/>
                  <a:gd name="connsiteY7" fmla="*/ 2032756 h 2032756"/>
                  <a:gd name="connsiteX8" fmla="*/ 73969 w 3583662"/>
                  <a:gd name="connsiteY8" fmla="*/ 686959 h 2032756"/>
                  <a:gd name="connsiteX9" fmla="*/ 0 w 3583662"/>
                  <a:gd name="connsiteY9" fmla="*/ 588042 h 2032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3662" h="2032756">
                    <a:moveTo>
                      <a:pt x="264021" y="0"/>
                    </a:moveTo>
                    <a:lnTo>
                      <a:pt x="273737" y="10917"/>
                    </a:lnTo>
                    <a:cubicBezTo>
                      <a:pt x="945820" y="703335"/>
                      <a:pt x="1886499" y="1133596"/>
                      <a:pt x="2927671" y="1133596"/>
                    </a:cubicBezTo>
                    <a:cubicBezTo>
                      <a:pt x="2985514" y="1133596"/>
                      <a:pt x="3043047" y="1132268"/>
                      <a:pt x="3100241" y="1129641"/>
                    </a:cubicBezTo>
                    <a:lnTo>
                      <a:pt x="3201615" y="1122656"/>
                    </a:lnTo>
                    <a:lnTo>
                      <a:pt x="3583662" y="1973573"/>
                    </a:lnTo>
                    <a:lnTo>
                      <a:pt x="3490869" y="1990145"/>
                    </a:lnTo>
                    <a:cubicBezTo>
                      <a:pt x="3307232" y="2018204"/>
                      <a:pt x="3119151" y="2032756"/>
                      <a:pt x="2927671" y="2032756"/>
                    </a:cubicBezTo>
                    <a:cubicBezTo>
                      <a:pt x="1778792" y="2032756"/>
                      <a:pt x="752271" y="1508871"/>
                      <a:pt x="73969" y="686959"/>
                    </a:cubicBezTo>
                    <a:lnTo>
                      <a:pt x="0" y="588042"/>
                    </a:lnTo>
                    <a:close/>
                  </a:path>
                </a:pathLst>
              </a:custGeom>
              <a:solidFill>
                <a:schemeClr val="accent6">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70" name="0">
                <a:extLst>
                  <a:ext uri="{FF2B5EF4-FFF2-40B4-BE49-F238E27FC236}">
                    <a16:creationId xmlns:a16="http://schemas.microsoft.com/office/drawing/2014/main" id="{26DFCC07-AB28-CD18-89E2-A61A4D136598}"/>
                  </a:ext>
                </a:extLst>
              </p:cNvPr>
              <p:cNvSpPr/>
              <p:nvPr/>
            </p:nvSpPr>
            <p:spPr>
              <a:xfrm flipV="1">
                <a:off x="5015236" y="2518238"/>
                <a:ext cx="2685574" cy="1523334"/>
              </a:xfrm>
              <a:custGeom>
                <a:avLst/>
                <a:gdLst>
                  <a:gd name="connsiteX0" fmla="*/ 264021 w 3583662"/>
                  <a:gd name="connsiteY0" fmla="*/ 0 h 2032756"/>
                  <a:gd name="connsiteX1" fmla="*/ 273737 w 3583662"/>
                  <a:gd name="connsiteY1" fmla="*/ 10917 h 2032756"/>
                  <a:gd name="connsiteX2" fmla="*/ 2927671 w 3583662"/>
                  <a:gd name="connsiteY2" fmla="*/ 1133596 h 2032756"/>
                  <a:gd name="connsiteX3" fmla="*/ 3100241 w 3583662"/>
                  <a:gd name="connsiteY3" fmla="*/ 1129641 h 2032756"/>
                  <a:gd name="connsiteX4" fmla="*/ 3201615 w 3583662"/>
                  <a:gd name="connsiteY4" fmla="*/ 1122656 h 2032756"/>
                  <a:gd name="connsiteX5" fmla="*/ 3583662 w 3583662"/>
                  <a:gd name="connsiteY5" fmla="*/ 1973573 h 2032756"/>
                  <a:gd name="connsiteX6" fmla="*/ 3490869 w 3583662"/>
                  <a:gd name="connsiteY6" fmla="*/ 1990145 h 2032756"/>
                  <a:gd name="connsiteX7" fmla="*/ 2927671 w 3583662"/>
                  <a:gd name="connsiteY7" fmla="*/ 2032756 h 2032756"/>
                  <a:gd name="connsiteX8" fmla="*/ 73969 w 3583662"/>
                  <a:gd name="connsiteY8" fmla="*/ 686959 h 2032756"/>
                  <a:gd name="connsiteX9" fmla="*/ 0 w 3583662"/>
                  <a:gd name="connsiteY9" fmla="*/ 588042 h 2032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3662" h="2032756">
                    <a:moveTo>
                      <a:pt x="264021" y="0"/>
                    </a:moveTo>
                    <a:lnTo>
                      <a:pt x="273737" y="10917"/>
                    </a:lnTo>
                    <a:cubicBezTo>
                      <a:pt x="945820" y="703335"/>
                      <a:pt x="1886499" y="1133596"/>
                      <a:pt x="2927671" y="1133596"/>
                    </a:cubicBezTo>
                    <a:cubicBezTo>
                      <a:pt x="2985514" y="1133596"/>
                      <a:pt x="3043047" y="1132268"/>
                      <a:pt x="3100241" y="1129641"/>
                    </a:cubicBezTo>
                    <a:lnTo>
                      <a:pt x="3201615" y="1122656"/>
                    </a:lnTo>
                    <a:lnTo>
                      <a:pt x="3583662" y="1973573"/>
                    </a:lnTo>
                    <a:lnTo>
                      <a:pt x="3490869" y="1990145"/>
                    </a:lnTo>
                    <a:cubicBezTo>
                      <a:pt x="3307232" y="2018204"/>
                      <a:pt x="3119151" y="2032756"/>
                      <a:pt x="2927671" y="2032756"/>
                    </a:cubicBezTo>
                    <a:cubicBezTo>
                      <a:pt x="1778792" y="2032756"/>
                      <a:pt x="752271" y="1508871"/>
                      <a:pt x="73969" y="686959"/>
                    </a:cubicBezTo>
                    <a:lnTo>
                      <a:pt x="0" y="588042"/>
                    </a:lnTo>
                    <a:close/>
                  </a:path>
                </a:pathLst>
              </a:custGeom>
              <a:solidFill>
                <a:schemeClr val="accent5">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71" name="0">
                <a:extLst>
                  <a:ext uri="{FF2B5EF4-FFF2-40B4-BE49-F238E27FC236}">
                    <a16:creationId xmlns:a16="http://schemas.microsoft.com/office/drawing/2014/main" id="{95BAE3BB-8455-5CA4-583E-6412F4E991DB}"/>
                  </a:ext>
                </a:extLst>
              </p:cNvPr>
              <p:cNvSpPr/>
              <p:nvPr/>
            </p:nvSpPr>
            <p:spPr>
              <a:xfrm flipV="1">
                <a:off x="5326171" y="3495533"/>
                <a:ext cx="1938999" cy="1144721"/>
              </a:xfrm>
              <a:custGeom>
                <a:avLst/>
                <a:gdLst>
                  <a:gd name="connsiteX0" fmla="*/ 224699 w 2587424"/>
                  <a:gd name="connsiteY0" fmla="*/ 0 h 1527529"/>
                  <a:gd name="connsiteX1" fmla="*/ 344169 w 2587424"/>
                  <a:gd name="connsiteY1" fmla="*/ 119130 h 1527529"/>
                  <a:gd name="connsiteX2" fmla="*/ 2314805 w 2587424"/>
                  <a:gd name="connsiteY2" fmla="*/ 958805 h 1527529"/>
                  <a:gd name="connsiteX3" fmla="*/ 2337827 w 2587424"/>
                  <a:gd name="connsiteY3" fmla="*/ 959444 h 1527529"/>
                  <a:gd name="connsiteX4" fmla="*/ 2587424 w 2587424"/>
                  <a:gd name="connsiteY4" fmla="*/ 1515360 h 1527529"/>
                  <a:gd name="connsiteX5" fmla="*/ 2327195 w 2587424"/>
                  <a:gd name="connsiteY5" fmla="*/ 1527529 h 1527529"/>
                  <a:gd name="connsiteX6" fmla="*/ 183102 w 2587424"/>
                  <a:gd name="connsiteY6" fmla="*/ 683042 h 1527529"/>
                  <a:gd name="connsiteX7" fmla="*/ 0 w 2587424"/>
                  <a:gd name="connsiteY7" fmla="*/ 500461 h 1527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7424" h="1527529">
                    <a:moveTo>
                      <a:pt x="224699" y="0"/>
                    </a:moveTo>
                    <a:lnTo>
                      <a:pt x="344169" y="119130"/>
                    </a:lnTo>
                    <a:cubicBezTo>
                      <a:pt x="885211" y="609015"/>
                      <a:pt x="1567939" y="917268"/>
                      <a:pt x="2314805" y="958805"/>
                    </a:cubicBezTo>
                    <a:lnTo>
                      <a:pt x="2337827" y="959444"/>
                    </a:lnTo>
                    <a:lnTo>
                      <a:pt x="2587424" y="1515360"/>
                    </a:lnTo>
                    <a:lnTo>
                      <a:pt x="2327195" y="1527529"/>
                    </a:lnTo>
                    <a:cubicBezTo>
                      <a:pt x="1512746" y="1527529"/>
                      <a:pt x="765762" y="1210611"/>
                      <a:pt x="183102" y="683042"/>
                    </a:cubicBezTo>
                    <a:lnTo>
                      <a:pt x="0" y="500461"/>
                    </a:lnTo>
                    <a:close/>
                  </a:path>
                </a:pathLst>
              </a:cu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72" name="0">
                <a:extLst>
                  <a:ext uri="{FF2B5EF4-FFF2-40B4-BE49-F238E27FC236}">
                    <a16:creationId xmlns:a16="http://schemas.microsoft.com/office/drawing/2014/main" id="{59766B4E-1380-2C43-173B-CF625539053F}"/>
                  </a:ext>
                </a:extLst>
              </p:cNvPr>
              <p:cNvSpPr/>
              <p:nvPr/>
            </p:nvSpPr>
            <p:spPr>
              <a:xfrm flipV="1">
                <a:off x="5632046" y="4269383"/>
                <a:ext cx="1284036" cy="979957"/>
              </a:xfrm>
              <a:custGeom>
                <a:avLst/>
                <a:gdLst>
                  <a:gd name="connsiteX0" fmla="*/ 204280 w 1788663"/>
                  <a:gd name="connsiteY0" fmla="*/ 0 h 1335665"/>
                  <a:gd name="connsiteX1" fmla="*/ 277504 w 1788663"/>
                  <a:gd name="connsiteY1" fmla="*/ 97921 h 1335665"/>
                  <a:gd name="connsiteX2" fmla="*/ 1494527 w 1788663"/>
                  <a:gd name="connsiteY2" fmla="*/ 831384 h 1335665"/>
                  <a:gd name="connsiteX3" fmla="*/ 1567231 w 1788663"/>
                  <a:gd name="connsiteY3" fmla="*/ 842480 h 1335665"/>
                  <a:gd name="connsiteX4" fmla="*/ 1788663 w 1788663"/>
                  <a:gd name="connsiteY4" fmla="*/ 1335665 h 1335665"/>
                  <a:gd name="connsiteX5" fmla="*/ 1764367 w 1788663"/>
                  <a:gd name="connsiteY5" fmla="*/ 1334438 h 1335665"/>
                  <a:gd name="connsiteX6" fmla="*/ 64288 w 1788663"/>
                  <a:gd name="connsiteY6" fmla="*/ 525718 h 1335665"/>
                  <a:gd name="connsiteX7" fmla="*/ 0 w 1788663"/>
                  <a:gd name="connsiteY7" fmla="*/ 454983 h 133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8663" h="1335665">
                    <a:moveTo>
                      <a:pt x="204280" y="0"/>
                    </a:moveTo>
                    <a:lnTo>
                      <a:pt x="277504" y="97921"/>
                    </a:lnTo>
                    <a:cubicBezTo>
                      <a:pt x="582032" y="466923"/>
                      <a:pt x="1008153" y="731858"/>
                      <a:pt x="1494527" y="831384"/>
                    </a:cubicBezTo>
                    <a:lnTo>
                      <a:pt x="1567231" y="842480"/>
                    </a:lnTo>
                    <a:lnTo>
                      <a:pt x="1788663" y="1335665"/>
                    </a:lnTo>
                    <a:lnTo>
                      <a:pt x="1764367" y="1334438"/>
                    </a:lnTo>
                    <a:cubicBezTo>
                      <a:pt x="1102958" y="1267268"/>
                      <a:pt x="509343" y="970773"/>
                      <a:pt x="64288" y="525718"/>
                    </a:cubicBezTo>
                    <a:lnTo>
                      <a:pt x="0" y="454983"/>
                    </a:lnTo>
                    <a:close/>
                  </a:path>
                </a:pathLst>
              </a:cu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73" name="0">
                <a:extLst>
                  <a:ext uri="{FF2B5EF4-FFF2-40B4-BE49-F238E27FC236}">
                    <a16:creationId xmlns:a16="http://schemas.microsoft.com/office/drawing/2014/main" id="{EF6E4354-C6B0-E9ED-5578-F46FF8CD803B}"/>
                  </a:ext>
                </a:extLst>
              </p:cNvPr>
              <p:cNvSpPr/>
              <p:nvPr/>
            </p:nvSpPr>
            <p:spPr>
              <a:xfrm flipV="1">
                <a:off x="6024144" y="5464693"/>
                <a:ext cx="371050" cy="429168"/>
              </a:xfrm>
              <a:custGeom>
                <a:avLst/>
                <a:gdLst>
                  <a:gd name="connsiteX0" fmla="*/ 27987 w 495134"/>
                  <a:gd name="connsiteY0" fmla="*/ 0 h 572687"/>
                  <a:gd name="connsiteX1" fmla="*/ 64934 w 495134"/>
                  <a:gd name="connsiteY1" fmla="*/ 44780 h 572687"/>
                  <a:gd name="connsiteX2" fmla="*/ 281796 w 495134"/>
                  <a:gd name="connsiteY2" fmla="*/ 161700 h 572687"/>
                  <a:gd name="connsiteX3" fmla="*/ 315111 w 495134"/>
                  <a:gd name="connsiteY3" fmla="*/ 165058 h 572687"/>
                  <a:gd name="connsiteX4" fmla="*/ 495134 w 495134"/>
                  <a:gd name="connsiteY4" fmla="*/ 566014 h 572687"/>
                  <a:gd name="connsiteX5" fmla="*/ 428942 w 495134"/>
                  <a:gd name="connsiteY5" fmla="*/ 572687 h 572687"/>
                  <a:gd name="connsiteX6" fmla="*/ 0 w 495134"/>
                  <a:gd name="connsiteY6" fmla="*/ 143744 h 572687"/>
                  <a:gd name="connsiteX7" fmla="*/ 8715 w 495134"/>
                  <a:gd name="connsiteY7" fmla="*/ 57297 h 572687"/>
                  <a:gd name="connsiteX8" fmla="*/ 23169 w 495134"/>
                  <a:gd name="connsiteY8" fmla="*/ 10731 h 57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134" h="572687">
                    <a:moveTo>
                      <a:pt x="27987" y="0"/>
                    </a:moveTo>
                    <a:lnTo>
                      <a:pt x="64934" y="44780"/>
                    </a:lnTo>
                    <a:cubicBezTo>
                      <a:pt x="123152" y="102997"/>
                      <a:pt x="198026" y="144558"/>
                      <a:pt x="281796" y="161700"/>
                    </a:cubicBezTo>
                    <a:lnTo>
                      <a:pt x="315111" y="165058"/>
                    </a:lnTo>
                    <a:lnTo>
                      <a:pt x="495134" y="566014"/>
                    </a:lnTo>
                    <a:lnTo>
                      <a:pt x="428942" y="572687"/>
                    </a:lnTo>
                    <a:cubicBezTo>
                      <a:pt x="192043" y="572687"/>
                      <a:pt x="0" y="380643"/>
                      <a:pt x="0" y="143744"/>
                    </a:cubicBezTo>
                    <a:cubicBezTo>
                      <a:pt x="0" y="114132"/>
                      <a:pt x="3000" y="85220"/>
                      <a:pt x="8715" y="57297"/>
                    </a:cubicBezTo>
                    <a:lnTo>
                      <a:pt x="23169" y="10731"/>
                    </a:lnTo>
                    <a:close/>
                  </a:path>
                </a:pathLst>
              </a:cu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74" name="0">
                <a:extLst>
                  <a:ext uri="{FF2B5EF4-FFF2-40B4-BE49-F238E27FC236}">
                    <a16:creationId xmlns:a16="http://schemas.microsoft.com/office/drawing/2014/main" id="{B02E70B8-0386-BAFA-CC65-D5550999EA92}"/>
                  </a:ext>
                </a:extLst>
              </p:cNvPr>
              <p:cNvSpPr/>
              <p:nvPr/>
            </p:nvSpPr>
            <p:spPr>
              <a:xfrm flipV="1">
                <a:off x="5865676" y="4898809"/>
                <a:ext cx="775472" cy="829295"/>
              </a:xfrm>
              <a:custGeom>
                <a:avLst/>
                <a:gdLst>
                  <a:gd name="connsiteX0" fmla="*/ 150713 w 1034799"/>
                  <a:gd name="connsiteY0" fmla="*/ 0 h 1106621"/>
                  <a:gd name="connsiteX1" fmla="*/ 183454 w 1034799"/>
                  <a:gd name="connsiteY1" fmla="*/ 105474 h 1106621"/>
                  <a:gd name="connsiteX2" fmla="*/ 761328 w 1034799"/>
                  <a:gd name="connsiteY2" fmla="*/ 579440 h 1106621"/>
                  <a:gd name="connsiteX3" fmla="*/ 804300 w 1034799"/>
                  <a:gd name="connsiteY3" fmla="*/ 585999 h 1106621"/>
                  <a:gd name="connsiteX4" fmla="*/ 1034799 w 1034799"/>
                  <a:gd name="connsiteY4" fmla="*/ 1099379 h 1106621"/>
                  <a:gd name="connsiteX5" fmla="*/ 1019109 w 1034799"/>
                  <a:gd name="connsiteY5" fmla="*/ 1101773 h 1106621"/>
                  <a:gd name="connsiteX6" fmla="*/ 923107 w 1034799"/>
                  <a:gd name="connsiteY6" fmla="*/ 1106621 h 1106621"/>
                  <a:gd name="connsiteX7" fmla="*/ 3241 w 1034799"/>
                  <a:gd name="connsiteY7" fmla="*/ 356908 h 1106621"/>
                  <a:gd name="connsiteX8" fmla="*/ 0 w 1034799"/>
                  <a:gd name="connsiteY8" fmla="*/ 335676 h 1106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4799" h="1106621">
                    <a:moveTo>
                      <a:pt x="150713" y="0"/>
                    </a:moveTo>
                    <a:lnTo>
                      <a:pt x="183454" y="105474"/>
                    </a:lnTo>
                    <a:cubicBezTo>
                      <a:pt x="285006" y="345569"/>
                      <a:pt x="500047" y="525975"/>
                      <a:pt x="761328" y="579440"/>
                    </a:cubicBezTo>
                    <a:lnTo>
                      <a:pt x="804300" y="585999"/>
                    </a:lnTo>
                    <a:lnTo>
                      <a:pt x="1034799" y="1099379"/>
                    </a:lnTo>
                    <a:lnTo>
                      <a:pt x="1019109" y="1101773"/>
                    </a:lnTo>
                    <a:cubicBezTo>
                      <a:pt x="987544" y="1104979"/>
                      <a:pt x="955518" y="1106621"/>
                      <a:pt x="923107" y="1106621"/>
                    </a:cubicBezTo>
                    <a:cubicBezTo>
                      <a:pt x="469364" y="1106621"/>
                      <a:pt x="90793" y="784768"/>
                      <a:pt x="3241" y="356908"/>
                    </a:cubicBezTo>
                    <a:lnTo>
                      <a:pt x="0" y="335676"/>
                    </a:lnTo>
                    <a:close/>
                  </a:path>
                </a:pathLst>
              </a:cu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75" name="0">
                <a:extLst>
                  <a:ext uri="{FF2B5EF4-FFF2-40B4-BE49-F238E27FC236}">
                    <a16:creationId xmlns:a16="http://schemas.microsoft.com/office/drawing/2014/main" id="{0F2E1CF8-9A64-AAB9-0769-7C6178F71508}"/>
                  </a:ext>
                </a:extLst>
              </p:cNvPr>
              <p:cNvSpPr/>
              <p:nvPr/>
            </p:nvSpPr>
            <p:spPr>
              <a:xfrm flipV="1">
                <a:off x="4587641" y="2551403"/>
                <a:ext cx="3128901" cy="1031078"/>
              </a:xfrm>
              <a:custGeom>
                <a:avLst/>
                <a:gdLst>
                  <a:gd name="connsiteX0" fmla="*/ 1993366 w 4175243"/>
                  <a:gd name="connsiteY0" fmla="*/ 0 h 1375883"/>
                  <a:gd name="connsiteX1" fmla="*/ 3541008 w 4175243"/>
                  <a:gd name="connsiteY1" fmla="*/ 253769 h 1375883"/>
                  <a:gd name="connsiteX2" fmla="*/ 3697237 w 4175243"/>
                  <a:gd name="connsiteY2" fmla="*/ 316481 h 1375883"/>
                  <a:gd name="connsiteX3" fmla="*/ 4175243 w 4175243"/>
                  <a:gd name="connsiteY3" fmla="*/ 1375883 h 1375883"/>
                  <a:gd name="connsiteX4" fmla="*/ 4148061 w 4175243"/>
                  <a:gd name="connsiteY4" fmla="*/ 1353903 h 1375883"/>
                  <a:gd name="connsiteX5" fmla="*/ 1978458 w 4175243"/>
                  <a:gd name="connsiteY5" fmla="*/ 758685 h 1375883"/>
                  <a:gd name="connsiteX6" fmla="*/ 103790 w 4175243"/>
                  <a:gd name="connsiteY6" fmla="*/ 1170292 h 1375883"/>
                  <a:gd name="connsiteX7" fmla="*/ 0 w 4175243"/>
                  <a:gd name="connsiteY7" fmla="*/ 1229696 h 1375883"/>
                  <a:gd name="connsiteX8" fmla="*/ 439151 w 4175243"/>
                  <a:gd name="connsiteY8" fmla="*/ 256407 h 1375883"/>
                  <a:gd name="connsiteX9" fmla="*/ 445724 w 4175243"/>
                  <a:gd name="connsiteY9" fmla="*/ 253769 h 1375883"/>
                  <a:gd name="connsiteX10" fmla="*/ 1993366 w 4175243"/>
                  <a:gd name="connsiteY10" fmla="*/ 0 h 1375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5243" h="1375883">
                    <a:moveTo>
                      <a:pt x="1993366" y="0"/>
                    </a:moveTo>
                    <a:cubicBezTo>
                      <a:pt x="2566648" y="0"/>
                      <a:pt x="3099225" y="93552"/>
                      <a:pt x="3541008" y="253769"/>
                    </a:cubicBezTo>
                    <a:lnTo>
                      <a:pt x="3697237" y="316481"/>
                    </a:lnTo>
                    <a:lnTo>
                      <a:pt x="4175243" y="1375883"/>
                    </a:lnTo>
                    <a:lnTo>
                      <a:pt x="4148061" y="1353903"/>
                    </a:lnTo>
                    <a:cubicBezTo>
                      <a:pt x="3660052" y="993121"/>
                      <a:pt x="2870030" y="758685"/>
                      <a:pt x="1978458" y="758685"/>
                    </a:cubicBezTo>
                    <a:cubicBezTo>
                      <a:pt x="1248991" y="758685"/>
                      <a:pt x="587503" y="915621"/>
                      <a:pt x="103790" y="1170292"/>
                    </a:cubicBezTo>
                    <a:lnTo>
                      <a:pt x="0" y="1229696"/>
                    </a:lnTo>
                    <a:lnTo>
                      <a:pt x="439151" y="256407"/>
                    </a:lnTo>
                    <a:lnTo>
                      <a:pt x="445724" y="253769"/>
                    </a:lnTo>
                    <a:cubicBezTo>
                      <a:pt x="887507" y="93552"/>
                      <a:pt x="1420085" y="0"/>
                      <a:pt x="1993366" y="0"/>
                    </a:cubicBezTo>
                    <a:close/>
                  </a:path>
                </a:pathLst>
              </a:custGeom>
              <a:solidFill>
                <a:schemeClr val="accent5"/>
              </a:solidFill>
              <a:ln w="22225">
                <a:solidFill>
                  <a:schemeClr val="bg1">
                    <a:alpha val="36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76" name="0">
                <a:extLst>
                  <a:ext uri="{FF2B5EF4-FFF2-40B4-BE49-F238E27FC236}">
                    <a16:creationId xmlns:a16="http://schemas.microsoft.com/office/drawing/2014/main" id="{8D93E85F-A272-F1C7-481F-329EFE52084E}"/>
                  </a:ext>
                </a:extLst>
              </p:cNvPr>
              <p:cNvSpPr/>
              <p:nvPr/>
            </p:nvSpPr>
            <p:spPr>
              <a:xfrm flipV="1">
                <a:off x="5012653" y="3495534"/>
                <a:ext cx="2274497" cy="775999"/>
              </a:xfrm>
              <a:custGeom>
                <a:avLst/>
                <a:gdLst>
                  <a:gd name="connsiteX0" fmla="*/ 1426223 w 3035116"/>
                  <a:gd name="connsiteY0" fmla="*/ 0 h 1035503"/>
                  <a:gd name="connsiteX1" fmla="*/ 2603617 w 3035116"/>
                  <a:gd name="connsiteY1" fmla="*/ 179340 h 1035503"/>
                  <a:gd name="connsiteX2" fmla="*/ 2657736 w 3035116"/>
                  <a:gd name="connsiteY2" fmla="*/ 199118 h 1035503"/>
                  <a:gd name="connsiteX3" fmla="*/ 3035116 w 3035116"/>
                  <a:gd name="connsiteY3" fmla="*/ 1035503 h 1035503"/>
                  <a:gd name="connsiteX4" fmla="*/ 2978096 w 3035116"/>
                  <a:gd name="connsiteY4" fmla="*/ 994533 h 1035503"/>
                  <a:gd name="connsiteX5" fmla="*/ 1411315 w 3035116"/>
                  <a:gd name="connsiteY5" fmla="*/ 570725 h 1035503"/>
                  <a:gd name="connsiteX6" fmla="*/ 1884 w 3035116"/>
                  <a:gd name="connsiteY6" fmla="*/ 901143 h 1035503"/>
                  <a:gd name="connsiteX7" fmla="*/ 0 w 3035116"/>
                  <a:gd name="connsiteY7" fmla="*/ 902261 h 1035503"/>
                  <a:gd name="connsiteX8" fmla="*/ 337820 w 3035116"/>
                  <a:gd name="connsiteY8" fmla="*/ 153552 h 1035503"/>
                  <a:gd name="connsiteX9" fmla="*/ 464751 w 3035116"/>
                  <a:gd name="connsiteY9" fmla="*/ 116770 h 1035503"/>
                  <a:gd name="connsiteX10" fmla="*/ 1426223 w 3035116"/>
                  <a:gd name="connsiteY10" fmla="*/ 0 h 1035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35116" h="1035503">
                    <a:moveTo>
                      <a:pt x="1426223" y="0"/>
                    </a:moveTo>
                    <a:cubicBezTo>
                      <a:pt x="1852535" y="0"/>
                      <a:pt x="2253622" y="64967"/>
                      <a:pt x="2603617" y="179340"/>
                    </a:cubicBezTo>
                    <a:lnTo>
                      <a:pt x="2657736" y="199118"/>
                    </a:lnTo>
                    <a:lnTo>
                      <a:pt x="3035116" y="1035503"/>
                    </a:lnTo>
                    <a:lnTo>
                      <a:pt x="2978096" y="994533"/>
                    </a:lnTo>
                    <a:cubicBezTo>
                      <a:pt x="2577122" y="732683"/>
                      <a:pt x="2023181" y="570725"/>
                      <a:pt x="1411315" y="570725"/>
                    </a:cubicBezTo>
                    <a:cubicBezTo>
                      <a:pt x="875933" y="570725"/>
                      <a:pt x="384899" y="694724"/>
                      <a:pt x="1884" y="901143"/>
                    </a:cubicBezTo>
                    <a:lnTo>
                      <a:pt x="0" y="902261"/>
                    </a:lnTo>
                    <a:lnTo>
                      <a:pt x="337820" y="153552"/>
                    </a:lnTo>
                    <a:lnTo>
                      <a:pt x="464751" y="116770"/>
                    </a:lnTo>
                    <a:cubicBezTo>
                      <a:pt x="760269" y="41579"/>
                      <a:pt x="1085174" y="0"/>
                      <a:pt x="1426223" y="0"/>
                    </a:cubicBezTo>
                    <a:close/>
                  </a:path>
                </a:pathLst>
              </a:custGeom>
              <a:solidFill>
                <a:schemeClr val="accent4"/>
              </a:solidFill>
              <a:ln w="22225">
                <a:solidFill>
                  <a:schemeClr val="bg1">
                    <a:alpha val="36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77" name="0">
                <a:extLst>
                  <a:ext uri="{FF2B5EF4-FFF2-40B4-BE49-F238E27FC236}">
                    <a16:creationId xmlns:a16="http://schemas.microsoft.com/office/drawing/2014/main" id="{90F17A5B-9907-69B8-311D-1410E1C08373}"/>
                  </a:ext>
                </a:extLst>
              </p:cNvPr>
              <p:cNvSpPr/>
              <p:nvPr/>
            </p:nvSpPr>
            <p:spPr>
              <a:xfrm flipV="1">
                <a:off x="5322856" y="4253770"/>
                <a:ext cx="1617024" cy="596168"/>
              </a:xfrm>
              <a:custGeom>
                <a:avLst/>
                <a:gdLst>
                  <a:gd name="connsiteX0" fmla="*/ 1012286 w 2157777"/>
                  <a:gd name="connsiteY0" fmla="*/ 0 h 795534"/>
                  <a:gd name="connsiteX1" fmla="*/ 1829807 w 2157777"/>
                  <a:gd name="connsiteY1" fmla="*/ 116770 h 795534"/>
                  <a:gd name="connsiteX2" fmla="*/ 1855461 w 2157777"/>
                  <a:gd name="connsiteY2" fmla="*/ 125513 h 795534"/>
                  <a:gd name="connsiteX3" fmla="*/ 2157777 w 2157777"/>
                  <a:gd name="connsiteY3" fmla="*/ 795534 h 795534"/>
                  <a:gd name="connsiteX4" fmla="*/ 2111711 w 2157777"/>
                  <a:gd name="connsiteY4" fmla="*/ 769077 h 795534"/>
                  <a:gd name="connsiteX5" fmla="*/ 1058338 w 2157777"/>
                  <a:gd name="connsiteY5" fmla="*/ 521957 h 795534"/>
                  <a:gd name="connsiteX6" fmla="*/ 4966 w 2157777"/>
                  <a:gd name="connsiteY6" fmla="*/ 769077 h 795534"/>
                  <a:gd name="connsiteX7" fmla="*/ 0 w 2157777"/>
                  <a:gd name="connsiteY7" fmla="*/ 771929 h 795534"/>
                  <a:gd name="connsiteX8" fmla="*/ 308951 w 2157777"/>
                  <a:gd name="connsiteY8" fmla="*/ 87202 h 795534"/>
                  <a:gd name="connsiteX9" fmla="*/ 387730 w 2157777"/>
                  <a:gd name="connsiteY9" fmla="*/ 66803 h 795534"/>
                  <a:gd name="connsiteX10" fmla="*/ 1012286 w 2157777"/>
                  <a:gd name="connsiteY10" fmla="*/ 0 h 79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7777" h="795534">
                    <a:moveTo>
                      <a:pt x="1012286" y="0"/>
                    </a:moveTo>
                    <a:cubicBezTo>
                      <a:pt x="1302273" y="0"/>
                      <a:pt x="1578534" y="41579"/>
                      <a:pt x="1829807" y="116770"/>
                    </a:cubicBezTo>
                    <a:lnTo>
                      <a:pt x="1855461" y="125513"/>
                    </a:lnTo>
                    <a:lnTo>
                      <a:pt x="2157777" y="795534"/>
                    </a:lnTo>
                    <a:lnTo>
                      <a:pt x="2111711" y="769077"/>
                    </a:lnTo>
                    <a:cubicBezTo>
                      <a:pt x="1811019" y="613058"/>
                      <a:pt x="1448531" y="521957"/>
                      <a:pt x="1058338" y="521957"/>
                    </a:cubicBezTo>
                    <a:cubicBezTo>
                      <a:pt x="668146" y="521957"/>
                      <a:pt x="305657" y="613058"/>
                      <a:pt x="4966" y="769077"/>
                    </a:cubicBezTo>
                    <a:lnTo>
                      <a:pt x="0" y="771929"/>
                    </a:lnTo>
                    <a:lnTo>
                      <a:pt x="308951" y="87202"/>
                    </a:lnTo>
                    <a:lnTo>
                      <a:pt x="387730" y="66803"/>
                    </a:lnTo>
                    <a:cubicBezTo>
                      <a:pt x="585027" y="23388"/>
                      <a:pt x="794796" y="0"/>
                      <a:pt x="1012286" y="0"/>
                    </a:cubicBezTo>
                    <a:close/>
                  </a:path>
                </a:pathLst>
              </a:custGeom>
              <a:solidFill>
                <a:schemeClr val="accent3"/>
              </a:solidFill>
              <a:ln w="22225">
                <a:solidFill>
                  <a:schemeClr val="bg1">
                    <a:alpha val="36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78" name="0">
                <a:extLst>
                  <a:ext uri="{FF2B5EF4-FFF2-40B4-BE49-F238E27FC236}">
                    <a16:creationId xmlns:a16="http://schemas.microsoft.com/office/drawing/2014/main" id="{0EAC2E38-9E7F-9408-F2E8-A9E46B4434D2}"/>
                  </a:ext>
                </a:extLst>
              </p:cNvPr>
              <p:cNvSpPr/>
              <p:nvPr/>
            </p:nvSpPr>
            <p:spPr>
              <a:xfrm flipV="1">
                <a:off x="5622329" y="4906047"/>
                <a:ext cx="1015512" cy="429273"/>
              </a:xfrm>
              <a:custGeom>
                <a:avLst/>
                <a:gdLst>
                  <a:gd name="connsiteX0" fmla="*/ 612665 w 1355111"/>
                  <a:gd name="connsiteY0" fmla="*/ 0 h 572827"/>
                  <a:gd name="connsiteX1" fmla="*/ 980965 w 1355111"/>
                  <a:gd name="connsiteY1" fmla="*/ 30188 h 572827"/>
                  <a:gd name="connsiteX2" fmla="*/ 1123738 w 1355111"/>
                  <a:gd name="connsiteY2" fmla="*/ 60037 h 572827"/>
                  <a:gd name="connsiteX3" fmla="*/ 1355111 w 1355111"/>
                  <a:gd name="connsiteY3" fmla="*/ 572827 h 572827"/>
                  <a:gd name="connsiteX4" fmla="*/ 1296811 w 1355111"/>
                  <a:gd name="connsiteY4" fmla="*/ 548037 h 572827"/>
                  <a:gd name="connsiteX5" fmla="*/ 658717 w 1355111"/>
                  <a:gd name="connsiteY5" fmla="*/ 434327 h 572827"/>
                  <a:gd name="connsiteX6" fmla="*/ 20624 w 1355111"/>
                  <a:gd name="connsiteY6" fmla="*/ 548037 h 572827"/>
                  <a:gd name="connsiteX7" fmla="*/ 0 w 1355111"/>
                  <a:gd name="connsiteY7" fmla="*/ 556807 h 572827"/>
                  <a:gd name="connsiteX8" fmla="*/ 236909 w 1355111"/>
                  <a:gd name="connsiteY8" fmla="*/ 31747 h 572827"/>
                  <a:gd name="connsiteX9" fmla="*/ 244365 w 1355111"/>
                  <a:gd name="connsiteY9" fmla="*/ 30188 h 572827"/>
                  <a:gd name="connsiteX10" fmla="*/ 612665 w 1355111"/>
                  <a:gd name="connsiteY10" fmla="*/ 0 h 57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5111" h="572827">
                    <a:moveTo>
                      <a:pt x="612665" y="0"/>
                    </a:moveTo>
                    <a:cubicBezTo>
                      <a:pt x="738826" y="0"/>
                      <a:pt x="862001" y="10395"/>
                      <a:pt x="980965" y="30188"/>
                    </a:cubicBezTo>
                    <a:lnTo>
                      <a:pt x="1123738" y="60037"/>
                    </a:lnTo>
                    <a:lnTo>
                      <a:pt x="1355111" y="572827"/>
                    </a:lnTo>
                    <a:lnTo>
                      <a:pt x="1296811" y="548037"/>
                    </a:lnTo>
                    <a:cubicBezTo>
                      <a:pt x="1100686" y="474817"/>
                      <a:pt x="885059" y="434327"/>
                      <a:pt x="658717" y="434327"/>
                    </a:cubicBezTo>
                    <a:cubicBezTo>
                      <a:pt x="432376" y="434327"/>
                      <a:pt x="216748" y="474817"/>
                      <a:pt x="20624" y="548037"/>
                    </a:cubicBezTo>
                    <a:lnTo>
                      <a:pt x="0" y="556807"/>
                    </a:lnTo>
                    <a:lnTo>
                      <a:pt x="236909" y="31747"/>
                    </a:lnTo>
                    <a:lnTo>
                      <a:pt x="244365" y="30188"/>
                    </a:lnTo>
                    <a:cubicBezTo>
                      <a:pt x="363330" y="10395"/>
                      <a:pt x="486505" y="0"/>
                      <a:pt x="612665" y="0"/>
                    </a:cubicBezTo>
                    <a:close/>
                  </a:path>
                </a:pathLst>
              </a:custGeom>
              <a:solidFill>
                <a:schemeClr val="accent2"/>
              </a:solidFill>
              <a:ln w="22225">
                <a:solidFill>
                  <a:schemeClr val="bg1">
                    <a:alpha val="36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79" name="0">
                <a:extLst>
                  <a:ext uri="{FF2B5EF4-FFF2-40B4-BE49-F238E27FC236}">
                    <a16:creationId xmlns:a16="http://schemas.microsoft.com/office/drawing/2014/main" id="{B233BB32-369E-202F-BDAB-350148A2D51B}"/>
                  </a:ext>
                </a:extLst>
              </p:cNvPr>
              <p:cNvSpPr/>
              <p:nvPr/>
            </p:nvSpPr>
            <p:spPr>
              <a:xfrm flipV="1">
                <a:off x="5867958" y="5467470"/>
                <a:ext cx="522112" cy="324681"/>
              </a:xfrm>
              <a:custGeom>
                <a:avLst/>
                <a:gdLst>
                  <a:gd name="connsiteX0" fmla="*/ 284895 w 696713"/>
                  <a:gd name="connsiteY0" fmla="*/ 0 h 433258"/>
                  <a:gd name="connsiteX1" fmla="*/ 437464 w 696713"/>
                  <a:gd name="connsiteY1" fmla="*/ 7672 h 433258"/>
                  <a:gd name="connsiteX2" fmla="*/ 509636 w 696713"/>
                  <a:gd name="connsiteY2" fmla="*/ 18640 h 433258"/>
                  <a:gd name="connsiteX3" fmla="*/ 696713 w 696713"/>
                  <a:gd name="connsiteY3" fmla="*/ 433258 h 433258"/>
                  <a:gd name="connsiteX4" fmla="*/ 600712 w 696713"/>
                  <a:gd name="connsiteY4" fmla="*/ 406574 h 433258"/>
                  <a:gd name="connsiteX5" fmla="*/ 330947 w 696713"/>
                  <a:gd name="connsiteY5" fmla="*/ 377177 h 433258"/>
                  <a:gd name="connsiteX6" fmla="*/ 61182 w 696713"/>
                  <a:gd name="connsiteY6" fmla="*/ 406574 h 433258"/>
                  <a:gd name="connsiteX7" fmla="*/ 0 w 696713"/>
                  <a:gd name="connsiteY7" fmla="*/ 423580 h 433258"/>
                  <a:gd name="connsiteX8" fmla="*/ 188944 w 696713"/>
                  <a:gd name="connsiteY8" fmla="*/ 4825 h 43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6713" h="433258">
                    <a:moveTo>
                      <a:pt x="284895" y="0"/>
                    </a:moveTo>
                    <a:cubicBezTo>
                      <a:pt x="336403" y="0"/>
                      <a:pt x="387300" y="2599"/>
                      <a:pt x="437464" y="7672"/>
                    </a:cubicBezTo>
                    <a:lnTo>
                      <a:pt x="509636" y="18640"/>
                    </a:lnTo>
                    <a:lnTo>
                      <a:pt x="696713" y="433258"/>
                    </a:lnTo>
                    <a:lnTo>
                      <a:pt x="600712" y="406574"/>
                    </a:lnTo>
                    <a:cubicBezTo>
                      <a:pt x="513576" y="387299"/>
                      <a:pt x="423355" y="377177"/>
                      <a:pt x="330947" y="377177"/>
                    </a:cubicBezTo>
                    <a:cubicBezTo>
                      <a:pt x="238540" y="377177"/>
                      <a:pt x="148319" y="387299"/>
                      <a:pt x="61182" y="406574"/>
                    </a:cubicBezTo>
                    <a:lnTo>
                      <a:pt x="0" y="423580"/>
                    </a:lnTo>
                    <a:lnTo>
                      <a:pt x="188944" y="4825"/>
                    </a:lnTo>
                    <a:close/>
                  </a:path>
                </a:pathLst>
              </a:custGeom>
              <a:solidFill>
                <a:schemeClr val="accent1"/>
              </a:solidFill>
              <a:ln w="22225">
                <a:solidFill>
                  <a:schemeClr val="bg1">
                    <a:alpha val="36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80" name="0">
                <a:extLst>
                  <a:ext uri="{FF2B5EF4-FFF2-40B4-BE49-F238E27FC236}">
                    <a16:creationId xmlns:a16="http://schemas.microsoft.com/office/drawing/2014/main" id="{A6DF251E-2AAD-AD38-23C3-DF72B5E4598C}"/>
                  </a:ext>
                </a:extLst>
              </p:cNvPr>
              <p:cNvSpPr/>
              <p:nvPr/>
            </p:nvSpPr>
            <p:spPr>
              <a:xfrm flipV="1">
                <a:off x="4084082" y="1294927"/>
                <a:ext cx="4136019" cy="1362958"/>
              </a:xfrm>
              <a:custGeom>
                <a:avLst/>
                <a:gdLst>
                  <a:gd name="connsiteX0" fmla="*/ 1993366 w 4175243"/>
                  <a:gd name="connsiteY0" fmla="*/ 0 h 1375883"/>
                  <a:gd name="connsiteX1" fmla="*/ 3541008 w 4175243"/>
                  <a:gd name="connsiteY1" fmla="*/ 253769 h 1375883"/>
                  <a:gd name="connsiteX2" fmla="*/ 3697237 w 4175243"/>
                  <a:gd name="connsiteY2" fmla="*/ 316481 h 1375883"/>
                  <a:gd name="connsiteX3" fmla="*/ 4175243 w 4175243"/>
                  <a:gd name="connsiteY3" fmla="*/ 1375883 h 1375883"/>
                  <a:gd name="connsiteX4" fmla="*/ 4148061 w 4175243"/>
                  <a:gd name="connsiteY4" fmla="*/ 1353903 h 1375883"/>
                  <a:gd name="connsiteX5" fmla="*/ 1978458 w 4175243"/>
                  <a:gd name="connsiteY5" fmla="*/ 758685 h 1375883"/>
                  <a:gd name="connsiteX6" fmla="*/ 103790 w 4175243"/>
                  <a:gd name="connsiteY6" fmla="*/ 1170292 h 1375883"/>
                  <a:gd name="connsiteX7" fmla="*/ 0 w 4175243"/>
                  <a:gd name="connsiteY7" fmla="*/ 1229696 h 1375883"/>
                  <a:gd name="connsiteX8" fmla="*/ 439151 w 4175243"/>
                  <a:gd name="connsiteY8" fmla="*/ 256407 h 1375883"/>
                  <a:gd name="connsiteX9" fmla="*/ 445724 w 4175243"/>
                  <a:gd name="connsiteY9" fmla="*/ 253769 h 1375883"/>
                  <a:gd name="connsiteX10" fmla="*/ 1993366 w 4175243"/>
                  <a:gd name="connsiteY10" fmla="*/ 0 h 1375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5243" h="1375883">
                    <a:moveTo>
                      <a:pt x="1993366" y="0"/>
                    </a:moveTo>
                    <a:cubicBezTo>
                      <a:pt x="2566648" y="0"/>
                      <a:pt x="3099225" y="93552"/>
                      <a:pt x="3541008" y="253769"/>
                    </a:cubicBezTo>
                    <a:lnTo>
                      <a:pt x="3697237" y="316481"/>
                    </a:lnTo>
                    <a:lnTo>
                      <a:pt x="4175243" y="1375883"/>
                    </a:lnTo>
                    <a:lnTo>
                      <a:pt x="4148061" y="1353903"/>
                    </a:lnTo>
                    <a:cubicBezTo>
                      <a:pt x="3660052" y="993121"/>
                      <a:pt x="2870030" y="758685"/>
                      <a:pt x="1978458" y="758685"/>
                    </a:cubicBezTo>
                    <a:cubicBezTo>
                      <a:pt x="1248991" y="758685"/>
                      <a:pt x="587503" y="915621"/>
                      <a:pt x="103790" y="1170292"/>
                    </a:cubicBezTo>
                    <a:lnTo>
                      <a:pt x="0" y="1229696"/>
                    </a:lnTo>
                    <a:lnTo>
                      <a:pt x="439151" y="256407"/>
                    </a:lnTo>
                    <a:lnTo>
                      <a:pt x="445724" y="253769"/>
                    </a:lnTo>
                    <a:cubicBezTo>
                      <a:pt x="887507" y="93552"/>
                      <a:pt x="1420085" y="0"/>
                      <a:pt x="1993366" y="0"/>
                    </a:cubicBezTo>
                    <a:close/>
                  </a:path>
                </a:pathLst>
              </a:custGeom>
              <a:solidFill>
                <a:schemeClr val="accent6"/>
              </a:solidFill>
              <a:ln w="22225">
                <a:solidFill>
                  <a:schemeClr val="bg1">
                    <a:alpha val="36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grpSp>
        <p:grpSp>
          <p:nvGrpSpPr>
            <p:cNvPr id="142" name="组合 141">
              <a:extLst>
                <a:ext uri="{FF2B5EF4-FFF2-40B4-BE49-F238E27FC236}">
                  <a16:creationId xmlns:a16="http://schemas.microsoft.com/office/drawing/2014/main" id="{F7CB6680-8231-2F8D-B21B-4235D2FA9E62}"/>
                </a:ext>
              </a:extLst>
            </p:cNvPr>
            <p:cNvGrpSpPr/>
            <p:nvPr/>
          </p:nvGrpSpPr>
          <p:grpSpPr>
            <a:xfrm>
              <a:off x="1303817" y="1409565"/>
              <a:ext cx="3139149" cy="1777851"/>
              <a:chOff x="1303817" y="1409565"/>
              <a:chExt cx="3139149" cy="1777851"/>
            </a:xfrm>
          </p:grpSpPr>
          <p:sp>
            <p:nvSpPr>
              <p:cNvPr id="163" name="1">
                <a:extLst>
                  <a:ext uri="{FF2B5EF4-FFF2-40B4-BE49-F238E27FC236}">
                    <a16:creationId xmlns:a16="http://schemas.microsoft.com/office/drawing/2014/main" id="{A4062E6F-CC8C-B094-F263-169C582DFEA8}"/>
                  </a:ext>
                </a:extLst>
              </p:cNvPr>
              <p:cNvSpPr/>
              <p:nvPr/>
            </p:nvSpPr>
            <p:spPr>
              <a:xfrm flipH="1">
                <a:off x="4204932" y="1857389"/>
                <a:ext cx="238034" cy="238034"/>
              </a:xfrm>
              <a:prstGeom prst="ellipse">
                <a:avLst/>
              </a:prstGeom>
              <a:solidFill>
                <a:schemeClr val="accent6"/>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cxnSp>
            <p:nvCxnSpPr>
              <p:cNvPr id="164" name="1">
                <a:extLst>
                  <a:ext uri="{FF2B5EF4-FFF2-40B4-BE49-F238E27FC236}">
                    <a16:creationId xmlns:a16="http://schemas.microsoft.com/office/drawing/2014/main" id="{9AFFA474-8900-2362-70C6-D086B199D903}"/>
                  </a:ext>
                </a:extLst>
              </p:cNvPr>
              <p:cNvCxnSpPr>
                <a:cxnSpLocks/>
                <a:stCxn id="163" idx="6"/>
              </p:cNvCxnSpPr>
              <p:nvPr/>
            </p:nvCxnSpPr>
            <p:spPr>
              <a:xfrm flipH="1">
                <a:off x="3440320" y="1976406"/>
                <a:ext cx="764612"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165" name="Title-1">
                <a:extLst>
                  <a:ext uri="{FF2B5EF4-FFF2-40B4-BE49-F238E27FC236}">
                    <a16:creationId xmlns:a16="http://schemas.microsoft.com/office/drawing/2014/main" id="{55182C77-8A11-6EEA-14AB-F63306058004}"/>
                  </a:ext>
                </a:extLst>
              </p:cNvPr>
              <p:cNvSpPr txBox="1"/>
              <p:nvPr>
                <p:custDataLst>
                  <p:tags r:id="rId10"/>
                </p:custDataLst>
              </p:nvPr>
            </p:nvSpPr>
            <p:spPr>
              <a:xfrm flipH="1">
                <a:off x="1303817" y="1409565"/>
                <a:ext cx="22726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72AC4C"/>
                    </a:solidFill>
                    <a:effectLst/>
                    <a:uLnTx/>
                    <a:uFillTx/>
                    <a:latin typeface="微软雅黑" panose="020B0503020204020204" pitchFamily="34" charset="-122"/>
                    <a:ea typeface="微软雅黑" panose="020B0503020204020204" pitchFamily="34" charset="-122"/>
                    <a:cs typeface="+mn-cs"/>
                  </a:rPr>
                  <a:t>超越：体系赋能与新标</a:t>
                </a:r>
              </a:p>
            </p:txBody>
          </p:sp>
          <p:sp>
            <p:nvSpPr>
              <p:cNvPr id="166" name="Body-1">
                <a:extLst>
                  <a:ext uri="{FF2B5EF4-FFF2-40B4-BE49-F238E27FC236}">
                    <a16:creationId xmlns:a16="http://schemas.microsoft.com/office/drawing/2014/main" id="{3F8EEB33-B563-5798-847B-453E749F4DC7}"/>
                  </a:ext>
                </a:extLst>
              </p:cNvPr>
              <p:cNvSpPr txBox="1"/>
              <p:nvPr>
                <p:custDataLst>
                  <p:tags r:id="rId11"/>
                </p:custDataLst>
              </p:nvPr>
            </p:nvSpPr>
            <p:spPr>
              <a:xfrm flipH="1">
                <a:off x="1507065" y="2002092"/>
                <a:ext cx="2238693" cy="1185324"/>
              </a:xfrm>
              <a:prstGeom prst="rect">
                <a:avLst/>
              </a:prstGeom>
              <a:noFill/>
            </p:spPr>
            <p:txBody>
              <a:bodyPr wrap="square" rtlCol="0">
                <a:spAutoFit/>
              </a:bodyPr>
              <a:lstStyle/>
              <a:p>
                <a:pPr marL="285750" marR="0" lvl="0" indent="-28575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dirty="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rPr>
                  <a:t>行动：树立新标、产品化、体系化、</a:t>
                </a:r>
              </a:p>
              <a:p>
                <a:pPr marL="285750" marR="0" lvl="0" indent="-28575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dirty="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rPr>
                  <a:t>能力：规模化复制的组织赋能</a:t>
                </a:r>
                <a:endParaRPr kumimoji="0" lang="en-US" altLang="zh-CN" sz="1400" b="0" i="0" u="none" strike="noStrike" kern="1200" cap="none" spc="0" normalizeH="0" baseline="0" noProof="0" dirty="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endParaRPr>
              </a:p>
            </p:txBody>
          </p:sp>
        </p:grpSp>
        <p:grpSp>
          <p:nvGrpSpPr>
            <p:cNvPr id="143" name="组合 142">
              <a:extLst>
                <a:ext uri="{FF2B5EF4-FFF2-40B4-BE49-F238E27FC236}">
                  <a16:creationId xmlns:a16="http://schemas.microsoft.com/office/drawing/2014/main" id="{5CA2231F-46D1-B46A-91F8-0BFC04B959F7}"/>
                </a:ext>
              </a:extLst>
            </p:cNvPr>
            <p:cNvGrpSpPr/>
            <p:nvPr/>
          </p:nvGrpSpPr>
          <p:grpSpPr>
            <a:xfrm>
              <a:off x="7387649" y="2683571"/>
              <a:ext cx="4166430" cy="1020189"/>
              <a:chOff x="7387649" y="2683571"/>
              <a:chExt cx="4166430" cy="1020189"/>
            </a:xfrm>
          </p:grpSpPr>
          <p:sp>
            <p:nvSpPr>
              <p:cNvPr id="159" name="2">
                <a:extLst>
                  <a:ext uri="{FF2B5EF4-FFF2-40B4-BE49-F238E27FC236}">
                    <a16:creationId xmlns:a16="http://schemas.microsoft.com/office/drawing/2014/main" id="{C59FBF59-338B-EA30-4222-95ADCA6AC94F}"/>
                  </a:ext>
                </a:extLst>
              </p:cNvPr>
              <p:cNvSpPr/>
              <p:nvPr/>
            </p:nvSpPr>
            <p:spPr>
              <a:xfrm>
                <a:off x="7387649" y="2933886"/>
                <a:ext cx="238034" cy="238034"/>
              </a:xfrm>
              <a:prstGeom prst="ellipse">
                <a:avLst/>
              </a:prstGeom>
              <a:solidFill>
                <a:schemeClr val="accent5"/>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cxnSp>
            <p:nvCxnSpPr>
              <p:cNvPr id="160" name="2">
                <a:extLst>
                  <a:ext uri="{FF2B5EF4-FFF2-40B4-BE49-F238E27FC236}">
                    <a16:creationId xmlns:a16="http://schemas.microsoft.com/office/drawing/2014/main" id="{2E2F25AB-888A-B0F8-2A6E-682BE4E97D49}"/>
                  </a:ext>
                </a:extLst>
              </p:cNvPr>
              <p:cNvCxnSpPr>
                <a:cxnSpLocks/>
                <a:stCxn id="159" idx="6"/>
              </p:cNvCxnSpPr>
              <p:nvPr/>
            </p:nvCxnSpPr>
            <p:spPr>
              <a:xfrm>
                <a:off x="7625683" y="3052903"/>
                <a:ext cx="764612" cy="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61" name="Title-2">
                <a:extLst>
                  <a:ext uri="{FF2B5EF4-FFF2-40B4-BE49-F238E27FC236}">
                    <a16:creationId xmlns:a16="http://schemas.microsoft.com/office/drawing/2014/main" id="{C8CAAF43-88A2-8E71-CFA0-B108CF4F0BEF}"/>
                  </a:ext>
                </a:extLst>
              </p:cNvPr>
              <p:cNvSpPr txBox="1"/>
              <p:nvPr>
                <p:custDataLst>
                  <p:tags r:id="rId8"/>
                </p:custDataLst>
              </p:nvPr>
            </p:nvSpPr>
            <p:spPr>
              <a:xfrm>
                <a:off x="8529583" y="2683571"/>
                <a:ext cx="227269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a:ln>
                      <a:noFill/>
                    </a:ln>
                    <a:solidFill>
                      <a:srgbClr val="5D9CD3"/>
                    </a:solidFill>
                    <a:effectLst/>
                    <a:uLnTx/>
                    <a:uFillTx/>
                    <a:latin typeface="微软雅黑" panose="020B0503020204020204" pitchFamily="34" charset="-122"/>
                    <a:ea typeface="微软雅黑" panose="020B0503020204020204" pitchFamily="34" charset="-122"/>
                    <a:cs typeface="+mn-cs"/>
                  </a:rPr>
                  <a:t>创新：跨界融合与突破</a:t>
                </a:r>
                <a:endParaRPr kumimoji="0" lang="zh-CN" altLang="en-US" sz="1800" b="1" i="0" u="none" strike="noStrike" kern="1200" cap="none" spc="0" normalizeH="0" baseline="0" noProof="0" dirty="0">
                  <a:ln>
                    <a:noFill/>
                  </a:ln>
                  <a:solidFill>
                    <a:srgbClr val="5D9CD3"/>
                  </a:solidFill>
                  <a:effectLst/>
                  <a:uLnTx/>
                  <a:uFillTx/>
                  <a:latin typeface="微软雅黑" panose="020B0503020204020204" pitchFamily="34" charset="-122"/>
                  <a:ea typeface="微软雅黑" panose="020B0503020204020204" pitchFamily="34" charset="-122"/>
                  <a:cs typeface="+mn-cs"/>
                </a:endParaRPr>
              </a:p>
            </p:txBody>
          </p:sp>
          <p:sp>
            <p:nvSpPr>
              <p:cNvPr id="162" name="Body-2">
                <a:extLst>
                  <a:ext uri="{FF2B5EF4-FFF2-40B4-BE49-F238E27FC236}">
                    <a16:creationId xmlns:a16="http://schemas.microsoft.com/office/drawing/2014/main" id="{485B7B15-6902-8C76-7B25-7117ED1BD602}"/>
                  </a:ext>
                </a:extLst>
              </p:cNvPr>
              <p:cNvSpPr txBox="1"/>
              <p:nvPr>
                <p:custDataLst>
                  <p:tags r:id="rId9"/>
                </p:custDataLst>
              </p:nvPr>
            </p:nvSpPr>
            <p:spPr>
              <a:xfrm>
                <a:off x="8529583" y="3078589"/>
                <a:ext cx="3024496" cy="625171"/>
              </a:xfrm>
              <a:prstGeom prst="rect">
                <a:avLst/>
              </a:prstGeom>
              <a:noFill/>
            </p:spPr>
            <p:txBody>
              <a:bodyPr wrap="square" rtlCol="0">
                <a:spAutoFit/>
              </a:bodyPr>
              <a:lstStyle/>
              <a:p>
                <a:pPr marL="285750" marR="0" lvl="0" indent="-28575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dirty="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rPr>
                  <a:t>行动：范式创新、研究新模型和算法</a:t>
                </a:r>
              </a:p>
              <a:p>
                <a:pPr marL="285750" marR="0" lvl="0" indent="-28575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dirty="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rPr>
                  <a:t>能力：定义新规则的创新能力</a:t>
                </a:r>
                <a:endParaRPr kumimoji="0" lang="en-US" altLang="zh-CN" sz="1400" b="0" i="0" u="none" strike="noStrike" kern="1200" cap="none" spc="0" normalizeH="0" baseline="0" noProof="0" dirty="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endParaRPr>
              </a:p>
            </p:txBody>
          </p:sp>
        </p:grpSp>
        <p:grpSp>
          <p:nvGrpSpPr>
            <p:cNvPr id="144" name="组合 143">
              <a:extLst>
                <a:ext uri="{FF2B5EF4-FFF2-40B4-BE49-F238E27FC236}">
                  <a16:creationId xmlns:a16="http://schemas.microsoft.com/office/drawing/2014/main" id="{83BA1EFF-04EC-52AE-CC6A-7A162731A805}"/>
                </a:ext>
              </a:extLst>
            </p:cNvPr>
            <p:cNvGrpSpPr/>
            <p:nvPr/>
          </p:nvGrpSpPr>
          <p:grpSpPr>
            <a:xfrm>
              <a:off x="1354491" y="3358488"/>
              <a:ext cx="3919327" cy="1038009"/>
              <a:chOff x="1354491" y="3358488"/>
              <a:chExt cx="3919327" cy="1038009"/>
            </a:xfrm>
          </p:grpSpPr>
          <p:sp>
            <p:nvSpPr>
              <p:cNvPr id="155" name="3">
                <a:extLst>
                  <a:ext uri="{FF2B5EF4-FFF2-40B4-BE49-F238E27FC236}">
                    <a16:creationId xmlns:a16="http://schemas.microsoft.com/office/drawing/2014/main" id="{4B2200DA-A615-C074-3201-959F85C53BFE}"/>
                  </a:ext>
                </a:extLst>
              </p:cNvPr>
              <p:cNvSpPr/>
              <p:nvPr/>
            </p:nvSpPr>
            <p:spPr>
              <a:xfrm flipH="1">
                <a:off x="5035784" y="3754190"/>
                <a:ext cx="238034" cy="238034"/>
              </a:xfrm>
              <a:prstGeom prst="ellipse">
                <a:avLst/>
              </a:prstGeom>
              <a:solidFill>
                <a:schemeClr val="accent4"/>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cxnSp>
            <p:nvCxnSpPr>
              <p:cNvPr id="156" name="3">
                <a:extLst>
                  <a:ext uri="{FF2B5EF4-FFF2-40B4-BE49-F238E27FC236}">
                    <a16:creationId xmlns:a16="http://schemas.microsoft.com/office/drawing/2014/main" id="{E4BE8A60-1C85-FC32-4ECD-20A7E33DECB1}"/>
                  </a:ext>
                </a:extLst>
              </p:cNvPr>
              <p:cNvCxnSpPr>
                <a:cxnSpLocks/>
                <a:stCxn id="155" idx="6"/>
              </p:cNvCxnSpPr>
              <p:nvPr/>
            </p:nvCxnSpPr>
            <p:spPr>
              <a:xfrm flipH="1">
                <a:off x="4271172" y="3873207"/>
                <a:ext cx="764612"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57" name="Title-3">
                <a:extLst>
                  <a:ext uri="{FF2B5EF4-FFF2-40B4-BE49-F238E27FC236}">
                    <a16:creationId xmlns:a16="http://schemas.microsoft.com/office/drawing/2014/main" id="{97B48C88-A14D-5947-BB18-EA58B6E092DA}"/>
                  </a:ext>
                </a:extLst>
              </p:cNvPr>
              <p:cNvSpPr txBox="1"/>
              <p:nvPr>
                <p:custDataLst>
                  <p:tags r:id="rId6"/>
                </p:custDataLst>
              </p:nvPr>
            </p:nvSpPr>
            <p:spPr>
              <a:xfrm flipH="1">
                <a:off x="1354491" y="3358488"/>
                <a:ext cx="290399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FDBF2E"/>
                    </a:solidFill>
                    <a:effectLst/>
                    <a:uLnTx/>
                    <a:uFillTx/>
                    <a:latin typeface="微软雅黑" panose="020B0503020204020204" pitchFamily="34" charset="-122"/>
                    <a:ea typeface="微软雅黑" panose="020B0503020204020204" pitchFamily="34" charset="-122"/>
                    <a:cs typeface="+mn-cs"/>
                  </a:rPr>
                  <a:t>迭代优化：深度解构直达内核</a:t>
                </a:r>
              </a:p>
            </p:txBody>
          </p:sp>
          <p:sp>
            <p:nvSpPr>
              <p:cNvPr id="158" name="Body-3">
                <a:extLst>
                  <a:ext uri="{FF2B5EF4-FFF2-40B4-BE49-F238E27FC236}">
                    <a16:creationId xmlns:a16="http://schemas.microsoft.com/office/drawing/2014/main" id="{F5005087-EE2E-9749-7232-3795CD0CE5A4}"/>
                  </a:ext>
                </a:extLst>
              </p:cNvPr>
              <p:cNvSpPr txBox="1"/>
              <p:nvPr>
                <p:custDataLst>
                  <p:tags r:id="rId7"/>
                </p:custDataLst>
              </p:nvPr>
            </p:nvSpPr>
            <p:spPr>
              <a:xfrm flipH="1">
                <a:off x="1555635" y="3771326"/>
                <a:ext cx="2758538" cy="625171"/>
              </a:xfrm>
              <a:prstGeom prst="rect">
                <a:avLst/>
              </a:prstGeom>
              <a:noFill/>
            </p:spPr>
            <p:txBody>
              <a:bodyPr wrap="square" rtlCol="0">
                <a:spAutoFit/>
              </a:bodyPr>
              <a:lstStyle/>
              <a:p>
                <a:pPr marL="285750" marR="0" lvl="0" indent="-28575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rPr>
                  <a:t>行动：反馈校正持续优化</a:t>
                </a:r>
              </a:p>
              <a:p>
                <a:pPr marL="285750" marR="0" lvl="0" indent="-28575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rPr>
                  <a:t>能力：构架师思维直抵内核</a:t>
                </a:r>
                <a:endParaRPr kumimoji="0" lang="en-US" altLang="zh-CN" sz="1400" b="0" i="0" u="none" strike="noStrike" kern="1200" cap="none" spc="0" normalizeH="0" baseline="0" noProof="0" dirty="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endParaRPr>
              </a:p>
            </p:txBody>
          </p:sp>
        </p:grpSp>
        <p:grpSp>
          <p:nvGrpSpPr>
            <p:cNvPr id="145" name="组合 144">
              <a:extLst>
                <a:ext uri="{FF2B5EF4-FFF2-40B4-BE49-F238E27FC236}">
                  <a16:creationId xmlns:a16="http://schemas.microsoft.com/office/drawing/2014/main" id="{0E47720E-089A-85AF-F9F3-CADD6C01BBC4}"/>
                </a:ext>
              </a:extLst>
            </p:cNvPr>
            <p:cNvGrpSpPr/>
            <p:nvPr/>
          </p:nvGrpSpPr>
          <p:grpSpPr>
            <a:xfrm>
              <a:off x="6734208" y="4138919"/>
              <a:ext cx="4524494" cy="1191113"/>
              <a:chOff x="6734208" y="4138919"/>
              <a:chExt cx="4524494" cy="1191113"/>
            </a:xfrm>
          </p:grpSpPr>
          <p:sp>
            <p:nvSpPr>
              <p:cNvPr id="151" name="4">
                <a:extLst>
                  <a:ext uri="{FF2B5EF4-FFF2-40B4-BE49-F238E27FC236}">
                    <a16:creationId xmlns:a16="http://schemas.microsoft.com/office/drawing/2014/main" id="{B444F4CA-C6A6-668B-A821-3FDCB405453C}"/>
                  </a:ext>
                </a:extLst>
              </p:cNvPr>
              <p:cNvSpPr/>
              <p:nvPr/>
            </p:nvSpPr>
            <p:spPr>
              <a:xfrm>
                <a:off x="6734208" y="4396497"/>
                <a:ext cx="238034" cy="238034"/>
              </a:xfrm>
              <a:prstGeom prst="ellipse">
                <a:avLst/>
              </a:prstGeom>
              <a:solidFill>
                <a:schemeClr val="accent3"/>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cxnSp>
            <p:nvCxnSpPr>
              <p:cNvPr id="152" name="4">
                <a:extLst>
                  <a:ext uri="{FF2B5EF4-FFF2-40B4-BE49-F238E27FC236}">
                    <a16:creationId xmlns:a16="http://schemas.microsoft.com/office/drawing/2014/main" id="{04DEAE8F-4392-CEC5-87E4-EACC4CAE008B}"/>
                  </a:ext>
                </a:extLst>
              </p:cNvPr>
              <p:cNvCxnSpPr>
                <a:cxnSpLocks/>
                <a:stCxn id="151" idx="6"/>
              </p:cNvCxnSpPr>
              <p:nvPr/>
            </p:nvCxnSpPr>
            <p:spPr>
              <a:xfrm>
                <a:off x="6972242" y="4515514"/>
                <a:ext cx="764612"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153" name="Title-4">
                <a:extLst>
                  <a:ext uri="{FF2B5EF4-FFF2-40B4-BE49-F238E27FC236}">
                    <a16:creationId xmlns:a16="http://schemas.microsoft.com/office/drawing/2014/main" id="{212CA905-4EB2-161F-88AA-7CD88DFA496C}"/>
                  </a:ext>
                </a:extLst>
              </p:cNvPr>
              <p:cNvSpPr txBox="1"/>
              <p:nvPr>
                <p:custDataLst>
                  <p:tags r:id="rId4"/>
                </p:custDataLst>
              </p:nvPr>
            </p:nvSpPr>
            <p:spPr>
              <a:xfrm>
                <a:off x="8529583" y="4138919"/>
                <a:ext cx="227269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A5A5A5"/>
                    </a:solidFill>
                    <a:effectLst/>
                    <a:uLnTx/>
                    <a:uFillTx/>
                    <a:latin typeface="微软雅黑" panose="020B0503020204020204" pitchFamily="34" charset="-122"/>
                    <a:ea typeface="微软雅黑" panose="020B0503020204020204" pitchFamily="34" charset="-122"/>
                    <a:cs typeface="+mn-cs"/>
                  </a:rPr>
                  <a:t>实践：复杂场景中淬炼</a:t>
                </a:r>
              </a:p>
            </p:txBody>
          </p:sp>
          <p:sp>
            <p:nvSpPr>
              <p:cNvPr id="154" name="Body-4">
                <a:extLst>
                  <a:ext uri="{FF2B5EF4-FFF2-40B4-BE49-F238E27FC236}">
                    <a16:creationId xmlns:a16="http://schemas.microsoft.com/office/drawing/2014/main" id="{7DF85790-F045-B0E0-B35E-3C189C42EBB8}"/>
                  </a:ext>
                </a:extLst>
              </p:cNvPr>
              <p:cNvSpPr txBox="1"/>
              <p:nvPr>
                <p:custDataLst>
                  <p:tags r:id="rId5"/>
                </p:custDataLst>
              </p:nvPr>
            </p:nvSpPr>
            <p:spPr>
              <a:xfrm>
                <a:off x="8498508" y="4704861"/>
                <a:ext cx="2760194" cy="625171"/>
              </a:xfrm>
              <a:prstGeom prst="rect">
                <a:avLst/>
              </a:prstGeom>
              <a:noFill/>
            </p:spPr>
            <p:txBody>
              <a:bodyPr wrap="square" rtlCol="0">
                <a:spAutoFit/>
              </a:bodyPr>
              <a:lstStyle/>
              <a:p>
                <a:pPr marL="285750" marR="0" lvl="0" indent="-28575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dirty="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rPr>
                  <a:t>行动：本土化验证与校准</a:t>
                </a:r>
              </a:p>
              <a:p>
                <a:pPr marL="285750" marR="0" lvl="0" indent="-28575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dirty="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rPr>
                  <a:t>能力：实际检验与质疑精神</a:t>
                </a:r>
                <a:endParaRPr kumimoji="0" lang="en-US" altLang="zh-CN" sz="1400" b="0" i="0" u="none" strike="noStrike" kern="1200" cap="none" spc="0" normalizeH="0" baseline="0" noProof="0" dirty="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endParaRPr>
              </a:p>
            </p:txBody>
          </p:sp>
        </p:grpSp>
        <p:grpSp>
          <p:nvGrpSpPr>
            <p:cNvPr id="146" name="组合 145">
              <a:extLst>
                <a:ext uri="{FF2B5EF4-FFF2-40B4-BE49-F238E27FC236}">
                  <a16:creationId xmlns:a16="http://schemas.microsoft.com/office/drawing/2014/main" id="{824DC492-7DC1-15F7-F8B6-56307215352F}"/>
                </a:ext>
              </a:extLst>
            </p:cNvPr>
            <p:cNvGrpSpPr/>
            <p:nvPr/>
          </p:nvGrpSpPr>
          <p:grpSpPr>
            <a:xfrm>
              <a:off x="1566631" y="5211960"/>
              <a:ext cx="4474538" cy="1089118"/>
              <a:chOff x="1566631" y="5211960"/>
              <a:chExt cx="4474538" cy="1089118"/>
            </a:xfrm>
          </p:grpSpPr>
          <p:sp>
            <p:nvSpPr>
              <p:cNvPr id="147" name="5">
                <a:extLst>
                  <a:ext uri="{FF2B5EF4-FFF2-40B4-BE49-F238E27FC236}">
                    <a16:creationId xmlns:a16="http://schemas.microsoft.com/office/drawing/2014/main" id="{6C4C271C-B062-BAFB-6AC3-B244FC45A000}"/>
                  </a:ext>
                </a:extLst>
              </p:cNvPr>
              <p:cNvSpPr/>
              <p:nvPr/>
            </p:nvSpPr>
            <p:spPr>
              <a:xfrm flipH="1">
                <a:off x="5803135" y="5527750"/>
                <a:ext cx="238034" cy="238034"/>
              </a:xfrm>
              <a:prstGeom prst="ellipse">
                <a:avLst/>
              </a:prstGeom>
              <a:solidFill>
                <a:schemeClr val="accent1"/>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cxnSp>
            <p:nvCxnSpPr>
              <p:cNvPr id="148" name="5">
                <a:extLst>
                  <a:ext uri="{FF2B5EF4-FFF2-40B4-BE49-F238E27FC236}">
                    <a16:creationId xmlns:a16="http://schemas.microsoft.com/office/drawing/2014/main" id="{1D7D0C28-9676-4456-8F61-FAD1818D6F44}"/>
                  </a:ext>
                </a:extLst>
              </p:cNvPr>
              <p:cNvCxnSpPr>
                <a:cxnSpLocks/>
                <a:stCxn id="147" idx="6"/>
              </p:cNvCxnSpPr>
              <p:nvPr/>
            </p:nvCxnSpPr>
            <p:spPr>
              <a:xfrm flipH="1">
                <a:off x="5038523" y="5646767"/>
                <a:ext cx="764612"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9" name="Title-5">
                <a:extLst>
                  <a:ext uri="{FF2B5EF4-FFF2-40B4-BE49-F238E27FC236}">
                    <a16:creationId xmlns:a16="http://schemas.microsoft.com/office/drawing/2014/main" id="{7907076C-76C1-D32C-0C3B-2CE8DBBDDB50}"/>
                  </a:ext>
                </a:extLst>
              </p:cNvPr>
              <p:cNvSpPr txBox="1"/>
              <p:nvPr>
                <p:custDataLst>
                  <p:tags r:id="rId2"/>
                </p:custDataLst>
              </p:nvPr>
            </p:nvSpPr>
            <p:spPr>
              <a:xfrm flipH="1">
                <a:off x="1656627" y="5211960"/>
                <a:ext cx="248312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4674C1"/>
                    </a:solidFill>
                    <a:effectLst/>
                    <a:uLnTx/>
                    <a:uFillTx/>
                    <a:latin typeface="微软雅黑" panose="020B0503020204020204" pitchFamily="34" charset="-122"/>
                    <a:ea typeface="微软雅黑" panose="020B0503020204020204" pitchFamily="34" charset="-122"/>
                    <a:cs typeface="+mn-cs"/>
                  </a:rPr>
                  <a:t>学习：站在巨人的肩膀上</a:t>
                </a:r>
              </a:p>
            </p:txBody>
          </p:sp>
          <p:sp>
            <p:nvSpPr>
              <p:cNvPr id="150" name="Body-5">
                <a:extLst>
                  <a:ext uri="{FF2B5EF4-FFF2-40B4-BE49-F238E27FC236}">
                    <a16:creationId xmlns:a16="http://schemas.microsoft.com/office/drawing/2014/main" id="{55B1AF5B-DC4A-F214-86A8-A81103DD695B}"/>
                  </a:ext>
                </a:extLst>
              </p:cNvPr>
              <p:cNvSpPr txBox="1"/>
              <p:nvPr>
                <p:custDataLst>
                  <p:tags r:id="rId3"/>
                </p:custDataLst>
              </p:nvPr>
            </p:nvSpPr>
            <p:spPr>
              <a:xfrm flipH="1">
                <a:off x="1566631" y="5675907"/>
                <a:ext cx="3392171" cy="625171"/>
              </a:xfrm>
              <a:prstGeom prst="rect">
                <a:avLst/>
              </a:prstGeom>
              <a:noFill/>
            </p:spPr>
            <p:txBody>
              <a:bodyPr wrap="square" rtlCol="0">
                <a:spAutoFit/>
              </a:bodyPr>
              <a:lstStyle/>
              <a:p>
                <a:pPr marL="285750" marR="0" lvl="0" indent="-28575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dirty="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rPr>
                  <a:t>行动：解构标杆数据模型和业务算法</a:t>
                </a:r>
              </a:p>
              <a:p>
                <a:pPr marL="285750" marR="0" lvl="0" indent="-28575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dirty="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rPr>
                  <a:t>能力：构建坚实认知底座</a:t>
                </a:r>
                <a:endParaRPr kumimoji="0" lang="en-US" altLang="zh-CN" sz="1400" b="0" i="0" u="none" strike="noStrike" kern="1200" cap="none" spc="0" normalizeH="0" baseline="0" noProof="0" dirty="0">
                  <a:ln>
                    <a:noFill/>
                  </a:ln>
                  <a:solidFill>
                    <a:srgbClr val="FFFFFF">
                      <a:lumMod val="65000"/>
                      <a:lumOff val="35000"/>
                    </a:srgbClr>
                  </a:solidFill>
                  <a:effectLst/>
                  <a:uLnTx/>
                  <a:uFillTx/>
                  <a:latin typeface="微软雅黑" panose="020B0503020204020204" pitchFamily="34" charset="-122"/>
                  <a:ea typeface="微软雅黑" panose="020B0503020204020204" pitchFamily="34" charset="-122"/>
                  <a:cs typeface="+mn-cs"/>
                </a:endParaRPr>
              </a:p>
            </p:txBody>
          </p:sp>
        </p:grpSp>
      </p:grpSp>
    </p:spTree>
    <p:extLst>
      <p:ext uri="{BB962C8B-B14F-4D97-AF65-F5344CB8AC3E}">
        <p14:creationId xmlns:p14="http://schemas.microsoft.com/office/powerpoint/2010/main" val="407680505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84B316F-0697-8B67-C6C1-A5ADD8A3C1AB}"/>
              </a:ext>
            </a:extLst>
          </p:cNvPr>
          <p:cNvSpPr>
            <a:spLocks noGrp="1"/>
          </p:cNvSpPr>
          <p:nvPr>
            <p:ph type="title"/>
          </p:nvPr>
        </p:nvSpPr>
        <p:spPr/>
        <p:txBody>
          <a:bodyPr/>
          <a:lstStyle/>
          <a:p>
            <a:r>
              <a:rPr lang="zh-CN" altLang="en-US" b="1" i="0" dirty="0">
                <a:effectLst/>
                <a:latin typeface="PingFang SC"/>
              </a:rPr>
              <a:t>支撑获得最佳实践能力的四大深层要素</a:t>
            </a:r>
            <a:endParaRPr lang="zh-CN" altLang="en-US" dirty="0"/>
          </a:p>
        </p:txBody>
      </p:sp>
      <p:grpSp>
        <p:nvGrpSpPr>
          <p:cNvPr id="173" name="组合 5">
            <a:extLst>
              <a:ext uri="{FF2B5EF4-FFF2-40B4-BE49-F238E27FC236}">
                <a16:creationId xmlns:a16="http://schemas.microsoft.com/office/drawing/2014/main" id="{CD16979E-2A0E-4587-5345-54C9C265EDF9}"/>
              </a:ext>
            </a:extLst>
          </p:cNvPr>
          <p:cNvGrpSpPr>
            <a:grpSpLocks noChangeAspect="1"/>
          </p:cNvGrpSpPr>
          <p:nvPr>
            <p:custDataLst>
              <p:tags r:id="rId1"/>
            </p:custDataLst>
          </p:nvPr>
        </p:nvGrpSpPr>
        <p:grpSpPr>
          <a:xfrm>
            <a:off x="599294" y="1664536"/>
            <a:ext cx="11217657" cy="4045894"/>
            <a:chOff x="1161948" y="1426092"/>
            <a:chExt cx="11217657" cy="4045894"/>
          </a:xfrm>
        </p:grpSpPr>
        <p:grpSp>
          <p:nvGrpSpPr>
            <p:cNvPr id="174" name="组合 0">
              <a:extLst>
                <a:ext uri="{FF2B5EF4-FFF2-40B4-BE49-F238E27FC236}">
                  <a16:creationId xmlns:a16="http://schemas.microsoft.com/office/drawing/2014/main" id="{8A564FB8-5B58-2AFB-C370-5028F3400B58}"/>
                </a:ext>
              </a:extLst>
            </p:cNvPr>
            <p:cNvGrpSpPr/>
            <p:nvPr/>
          </p:nvGrpSpPr>
          <p:grpSpPr>
            <a:xfrm>
              <a:off x="4540470" y="1873648"/>
              <a:ext cx="3111060" cy="3111060"/>
              <a:chOff x="4527800" y="1840060"/>
              <a:chExt cx="3111060" cy="3111060"/>
            </a:xfrm>
          </p:grpSpPr>
          <p:sp>
            <p:nvSpPr>
              <p:cNvPr id="195" name="0">
                <a:extLst>
                  <a:ext uri="{FF2B5EF4-FFF2-40B4-BE49-F238E27FC236}">
                    <a16:creationId xmlns:a16="http://schemas.microsoft.com/office/drawing/2014/main" id="{B5D4AEB6-1622-D039-1735-123E65A8CF10}"/>
                  </a:ext>
                </a:extLst>
              </p:cNvPr>
              <p:cNvSpPr/>
              <p:nvPr/>
            </p:nvSpPr>
            <p:spPr>
              <a:xfrm rot="2700000">
                <a:off x="4527800" y="1840060"/>
                <a:ext cx="3111060" cy="3111060"/>
              </a:xfrm>
              <a:prstGeom prst="roundRect">
                <a:avLst/>
              </a:prstGeom>
              <a:gradFill flip="none" rotWithShape="1">
                <a:gsLst>
                  <a:gs pos="0">
                    <a:schemeClr val="bg1"/>
                  </a:gs>
                  <a:gs pos="100000">
                    <a:schemeClr val="accent1">
                      <a:lumMod val="20000"/>
                      <a:lumOff val="80000"/>
                    </a:schemeClr>
                  </a:gs>
                </a:gsLst>
                <a:path path="circle">
                  <a:fillToRect l="100000" t="100000"/>
                </a:path>
                <a:tileRect r="-100000" b="-100000"/>
              </a:gradFill>
              <a:ln>
                <a:noFill/>
              </a:ln>
              <a:effectLst>
                <a:outerShdw blurRad="254000" dist="2540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mn-cs"/>
                  <a:sym typeface="Microsoft YaHei" panose="020B0503020204020204" pitchFamily="34" charset="-122"/>
                </a:endParaRPr>
              </a:p>
            </p:txBody>
          </p:sp>
          <p:sp>
            <p:nvSpPr>
              <p:cNvPr id="196" name="0">
                <a:extLst>
                  <a:ext uri="{FF2B5EF4-FFF2-40B4-BE49-F238E27FC236}">
                    <a16:creationId xmlns:a16="http://schemas.microsoft.com/office/drawing/2014/main" id="{17D2728A-92EE-328F-6881-48B5C53BFFA6}"/>
                  </a:ext>
                </a:extLst>
              </p:cNvPr>
              <p:cNvSpPr/>
              <p:nvPr/>
            </p:nvSpPr>
            <p:spPr>
              <a:xfrm rot="2700000">
                <a:off x="5159436" y="2471697"/>
                <a:ext cx="1847789" cy="1847786"/>
              </a:xfrm>
              <a:prstGeom prst="roundRect">
                <a:avLst/>
              </a:prstGeom>
              <a:gradFill>
                <a:gsLst>
                  <a:gs pos="0">
                    <a:schemeClr val="accent1">
                      <a:lumMod val="20000"/>
                      <a:lumOff val="80000"/>
                    </a:schemeClr>
                  </a:gs>
                  <a:gs pos="100000">
                    <a:schemeClr val="accent1">
                      <a:lumMod val="40000"/>
                      <a:lumOff val="60000"/>
                    </a:schemeClr>
                  </a:gs>
                </a:gsLst>
                <a:lin ang="0" scaled="0"/>
              </a:gradFill>
              <a:ln>
                <a:noFill/>
              </a:ln>
              <a:effectLst>
                <a:outerShdw blurRad="254000" dist="2540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mn-cs"/>
                  <a:sym typeface="Microsoft YaHei" panose="020B0503020204020204" pitchFamily="34" charset="-122"/>
                </a:endParaRPr>
              </a:p>
            </p:txBody>
          </p:sp>
          <p:sp>
            <p:nvSpPr>
              <p:cNvPr id="197" name="Title-0">
                <a:extLst>
                  <a:ext uri="{FF2B5EF4-FFF2-40B4-BE49-F238E27FC236}">
                    <a16:creationId xmlns:a16="http://schemas.microsoft.com/office/drawing/2014/main" id="{89884FED-9793-A91C-1AD8-98B1ACAC48BF}"/>
                  </a:ext>
                </a:extLst>
              </p:cNvPr>
              <p:cNvSpPr txBox="1"/>
              <p:nvPr>
                <p:custDataLst>
                  <p:tags r:id="rId10"/>
                </p:custDataLst>
              </p:nvPr>
            </p:nvSpPr>
            <p:spPr>
              <a:xfrm>
                <a:off x="5338564" y="3020437"/>
                <a:ext cx="1489532"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4674C1"/>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驱动成长的引擎</a:t>
                </a:r>
              </a:p>
            </p:txBody>
          </p:sp>
        </p:grpSp>
        <p:grpSp>
          <p:nvGrpSpPr>
            <p:cNvPr id="175" name="组合 3">
              <a:extLst>
                <a:ext uri="{FF2B5EF4-FFF2-40B4-BE49-F238E27FC236}">
                  <a16:creationId xmlns:a16="http://schemas.microsoft.com/office/drawing/2014/main" id="{6A23FDC7-655C-02D4-F19B-0EA5EE814C0B}"/>
                </a:ext>
              </a:extLst>
            </p:cNvPr>
            <p:cNvGrpSpPr/>
            <p:nvPr/>
          </p:nvGrpSpPr>
          <p:grpSpPr>
            <a:xfrm>
              <a:off x="6991763" y="1747138"/>
              <a:ext cx="5387842" cy="939369"/>
              <a:chOff x="6979093" y="1713550"/>
              <a:chExt cx="5387842" cy="939369"/>
            </a:xfrm>
          </p:grpSpPr>
          <p:sp>
            <p:nvSpPr>
              <p:cNvPr id="191" name="Title-3">
                <a:extLst>
                  <a:ext uri="{FF2B5EF4-FFF2-40B4-BE49-F238E27FC236}">
                    <a16:creationId xmlns:a16="http://schemas.microsoft.com/office/drawing/2014/main" id="{E09C7FA2-132F-7AAB-2B5E-EE277099F3C8}"/>
                  </a:ext>
                </a:extLst>
              </p:cNvPr>
              <p:cNvSpPr txBox="1"/>
              <p:nvPr>
                <p:custDataLst>
                  <p:tags r:id="rId8"/>
                </p:custDataLst>
              </p:nvPr>
            </p:nvSpPr>
            <p:spPr>
              <a:xfrm>
                <a:off x="7952734" y="1713550"/>
                <a:ext cx="4304488" cy="400110"/>
              </a:xfrm>
              <a:prstGeom prst="rect">
                <a:avLst/>
              </a:prstGeom>
              <a:noFill/>
            </p:spPr>
            <p:txBody>
              <a:bodyPr wrap="square" rtlCol="0">
                <a:spAutoFit/>
              </a:bodyPr>
              <a:lstStyle>
                <a:defPPr>
                  <a:defRPr lang="zh-CN"/>
                </a:defPPr>
                <a:lvl1pPr algn="ctr">
                  <a:defRPr sz="2400" b="1">
                    <a:gradFill flip="none" rotWithShape="1">
                      <a:gsLst>
                        <a:gs pos="0">
                          <a:schemeClr val="accent4">
                            <a:lumMod val="90000"/>
                            <a:lumOff val="10000"/>
                          </a:schemeClr>
                        </a:gs>
                        <a:gs pos="80000">
                          <a:schemeClr val="accent4">
                            <a:lumMod val="90000"/>
                          </a:schemeClr>
                        </a:gs>
                      </a:gsLst>
                      <a:lin ang="13500000" scaled="1"/>
                      <a:tileRect/>
                    </a:gradFill>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gradFill>
                      <a:gsLst>
                        <a:gs pos="0">
                          <a:srgbClr val="4674C1"/>
                        </a:gs>
                        <a:gs pos="100000">
                          <a:srgbClr val="4674C1">
                            <a:lumMod val="75000"/>
                          </a:srgbClr>
                        </a:gs>
                      </a:gsLst>
                      <a:lin ang="13500000" scaled="1"/>
                    </a:gradFill>
                    <a:effectLst/>
                    <a:uLnTx/>
                    <a:uFillTx/>
                    <a:latin typeface="微软雅黑" panose="020B0503020204020204" pitchFamily="34" charset="-122"/>
                    <a:ea typeface="微软雅黑" panose="020B0503020204020204" pitchFamily="34" charset="-122"/>
                    <a:cs typeface="+mn-cs"/>
                  </a:rPr>
                  <a:t>在高速公路上换轮胎”的魄力与韧性</a:t>
                </a:r>
              </a:p>
            </p:txBody>
          </p:sp>
          <p:sp>
            <p:nvSpPr>
              <p:cNvPr id="192" name="Body-3">
                <a:extLst>
                  <a:ext uri="{FF2B5EF4-FFF2-40B4-BE49-F238E27FC236}">
                    <a16:creationId xmlns:a16="http://schemas.microsoft.com/office/drawing/2014/main" id="{1831477A-6BCC-E673-9DD5-E9AC0D209643}"/>
                  </a:ext>
                </a:extLst>
              </p:cNvPr>
              <p:cNvSpPr txBox="1"/>
              <p:nvPr>
                <p:custDataLst>
                  <p:tags r:id="rId9"/>
                </p:custDataLst>
              </p:nvPr>
            </p:nvSpPr>
            <p:spPr>
              <a:xfrm>
                <a:off x="8465471" y="2113660"/>
                <a:ext cx="3901464" cy="523220"/>
              </a:xfrm>
              <a:prstGeom prst="rect">
                <a:avLst/>
              </a:prstGeom>
              <a:ln>
                <a:noFill/>
              </a:ln>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500"/>
                  </a:spcBef>
                  <a:spcAft>
                    <a:spcPts val="0"/>
                  </a:spcAft>
                  <a:buClrTx/>
                  <a:buSzTx/>
                  <a:buFontTx/>
                  <a:buNone/>
                  <a:tabLst/>
                  <a:defRPr/>
                </a:pPr>
                <a:r>
                  <a:rPr kumimoji="0" lang="zh-CN" altLang="en-US" sz="1400" b="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 敢于在业务永不停歇的运营中推动深刻变革，能承受巨大的压力并坚持到底。</a:t>
                </a:r>
                <a:endParaRPr kumimoji="0" lang="en-US" altLang="zh-CN"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93" name="3">
                <a:extLst>
                  <a:ext uri="{FF2B5EF4-FFF2-40B4-BE49-F238E27FC236}">
                    <a16:creationId xmlns:a16="http://schemas.microsoft.com/office/drawing/2014/main" id="{E7B7FE0C-F480-29F9-72B5-680CAEE4E526}"/>
                  </a:ext>
                </a:extLst>
              </p:cNvPr>
              <p:cNvSpPr/>
              <p:nvPr/>
            </p:nvSpPr>
            <p:spPr>
              <a:xfrm>
                <a:off x="6979093" y="1788991"/>
                <a:ext cx="863928" cy="863928"/>
              </a:xfrm>
              <a:prstGeom prst="ellipse">
                <a:avLst/>
              </a:prstGeom>
              <a:gradFill>
                <a:gsLst>
                  <a:gs pos="0">
                    <a:schemeClr val="accent2"/>
                  </a:gs>
                  <a:gs pos="100000">
                    <a:schemeClr val="accent1"/>
                  </a:gs>
                </a:gsLst>
              </a:gradFill>
              <a:ln>
                <a:noFill/>
              </a:ln>
              <a:effectLst>
                <a:outerShdw blurRad="254000" dist="2540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mn-cs"/>
                  <a:sym typeface="Microsoft YaHei" panose="020B0503020204020204" pitchFamily="34" charset="-122"/>
                </a:endParaRPr>
              </a:p>
            </p:txBody>
          </p:sp>
          <p:pic>
            <p:nvPicPr>
              <p:cNvPr id="194" name="3" descr="上升趋势条形图 纯色填充">
                <a:extLst>
                  <a:ext uri="{FF2B5EF4-FFF2-40B4-BE49-F238E27FC236}">
                    <a16:creationId xmlns:a16="http://schemas.microsoft.com/office/drawing/2014/main" id="{283B0F8E-ED86-3EFE-1D50-F76BCB69E2A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7161382" y="1971280"/>
                <a:ext cx="499351" cy="499351"/>
              </a:xfrm>
              <a:prstGeom prst="rect">
                <a:avLst/>
              </a:prstGeom>
            </p:spPr>
          </p:pic>
        </p:grpSp>
        <p:grpSp>
          <p:nvGrpSpPr>
            <p:cNvPr id="176" name="组合 1">
              <a:extLst>
                <a:ext uri="{FF2B5EF4-FFF2-40B4-BE49-F238E27FC236}">
                  <a16:creationId xmlns:a16="http://schemas.microsoft.com/office/drawing/2014/main" id="{09B68EA7-6C60-9883-E2CC-8E2CD3A1C513}"/>
                </a:ext>
              </a:extLst>
            </p:cNvPr>
            <p:cNvGrpSpPr/>
            <p:nvPr/>
          </p:nvGrpSpPr>
          <p:grpSpPr>
            <a:xfrm>
              <a:off x="1237740" y="1426092"/>
              <a:ext cx="3962497" cy="1402475"/>
              <a:chOff x="1225070" y="1392504"/>
              <a:chExt cx="3962497" cy="1402475"/>
            </a:xfrm>
          </p:grpSpPr>
          <p:sp>
            <p:nvSpPr>
              <p:cNvPr id="187" name="Title-1">
                <a:extLst>
                  <a:ext uri="{FF2B5EF4-FFF2-40B4-BE49-F238E27FC236}">
                    <a16:creationId xmlns:a16="http://schemas.microsoft.com/office/drawing/2014/main" id="{48DE5E10-FD79-3751-73A0-A66F1E1C53ED}"/>
                  </a:ext>
                </a:extLst>
              </p:cNvPr>
              <p:cNvSpPr txBox="1"/>
              <p:nvPr>
                <p:custDataLst>
                  <p:tags r:id="rId6"/>
                </p:custDataLst>
              </p:nvPr>
            </p:nvSpPr>
            <p:spPr>
              <a:xfrm flipH="1">
                <a:off x="1385604" y="1392504"/>
                <a:ext cx="2147665" cy="400110"/>
              </a:xfrm>
              <a:prstGeom prst="rect">
                <a:avLst/>
              </a:prstGeom>
              <a:noFill/>
            </p:spPr>
            <p:txBody>
              <a:bodyPr wrap="square" rtlCol="0">
                <a:spAutoFit/>
              </a:bodyPr>
              <a:lstStyle>
                <a:defPPr>
                  <a:defRPr lang="zh-CN"/>
                </a:defPPr>
                <a:lvl1pPr algn="ctr">
                  <a:defRPr sz="2400" b="1">
                    <a:gradFill flip="none" rotWithShape="1">
                      <a:gsLst>
                        <a:gs pos="0">
                          <a:schemeClr val="accent4">
                            <a:lumMod val="90000"/>
                            <a:lumOff val="10000"/>
                          </a:schemeClr>
                        </a:gs>
                        <a:gs pos="80000">
                          <a:schemeClr val="accent4">
                            <a:lumMod val="90000"/>
                          </a:schemeClr>
                        </a:gs>
                      </a:gsLst>
                      <a:lin ang="13500000" scaled="1"/>
                      <a:tileRect/>
                    </a:gradFill>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gradFill>
                      <a:gsLst>
                        <a:gs pos="0">
                          <a:srgbClr val="4674C1"/>
                        </a:gs>
                        <a:gs pos="100000">
                          <a:srgbClr val="4674C1">
                            <a:lumMod val="75000"/>
                          </a:srgbClr>
                        </a:gs>
                      </a:gsLst>
                      <a:lin ang="13500000" scaled="1"/>
                    </a:gradFill>
                    <a:effectLst/>
                    <a:uLnTx/>
                    <a:uFillTx/>
                    <a:latin typeface="微软雅黑" panose="020B0503020204020204" pitchFamily="34" charset="-122"/>
                    <a:ea typeface="微软雅黑" panose="020B0503020204020204" pitchFamily="34" charset="-122"/>
                    <a:cs typeface="+mn-cs"/>
                  </a:rPr>
                  <a:t>疯魔般的痴迷</a:t>
                </a:r>
              </a:p>
            </p:txBody>
          </p:sp>
          <p:sp>
            <p:nvSpPr>
              <p:cNvPr id="188" name="Body-1">
                <a:extLst>
                  <a:ext uri="{FF2B5EF4-FFF2-40B4-BE49-F238E27FC236}">
                    <a16:creationId xmlns:a16="http://schemas.microsoft.com/office/drawing/2014/main" id="{ACAC3CE8-67B6-B6FA-E427-9182CFAE6018}"/>
                  </a:ext>
                </a:extLst>
              </p:cNvPr>
              <p:cNvSpPr txBox="1"/>
              <p:nvPr>
                <p:custDataLst>
                  <p:tags r:id="rId7"/>
                </p:custDataLst>
              </p:nvPr>
            </p:nvSpPr>
            <p:spPr>
              <a:xfrm flipH="1">
                <a:off x="1225070" y="2056315"/>
                <a:ext cx="2805141" cy="738664"/>
              </a:xfrm>
              <a:prstGeom prst="rect">
                <a:avLst/>
              </a:prstGeom>
              <a:ln>
                <a:noFill/>
              </a:ln>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500"/>
                  </a:spcBef>
                  <a:spcAft>
                    <a:spcPts val="0"/>
                  </a:spcAft>
                  <a:buClrTx/>
                  <a:buSzTx/>
                  <a:buFontTx/>
                  <a:buNone/>
                  <a:tabLst/>
                  <a:defRPr/>
                </a:pPr>
                <a:r>
                  <a:rPr kumimoji="0" lang="zh-CN" altLang="en-US" sz="1400" b="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 对“为什么”抱有极致的好奇心，愿意为理解本质而付出远超常人的努力。</a:t>
                </a:r>
                <a:endParaRPr kumimoji="0" lang="en-US" altLang="zh-CN"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89" name="1">
                <a:extLst>
                  <a:ext uri="{FF2B5EF4-FFF2-40B4-BE49-F238E27FC236}">
                    <a16:creationId xmlns:a16="http://schemas.microsoft.com/office/drawing/2014/main" id="{9D995DF7-6F6D-8FD4-1E86-E31DD17D1287}"/>
                  </a:ext>
                </a:extLst>
              </p:cNvPr>
              <p:cNvSpPr/>
              <p:nvPr/>
            </p:nvSpPr>
            <p:spPr>
              <a:xfrm>
                <a:off x="4323639" y="1788991"/>
                <a:ext cx="863928" cy="863928"/>
              </a:xfrm>
              <a:prstGeom prst="ellipse">
                <a:avLst/>
              </a:prstGeom>
              <a:gradFill>
                <a:gsLst>
                  <a:gs pos="0">
                    <a:schemeClr val="accent2"/>
                  </a:gs>
                  <a:gs pos="100000">
                    <a:schemeClr val="accent1"/>
                  </a:gs>
                </a:gsLst>
                <a:lin ang="0" scaled="0"/>
              </a:gradFill>
              <a:ln>
                <a:noFill/>
              </a:ln>
              <a:effectLst>
                <a:outerShdw blurRad="254000" dist="2540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Microsoft YaHei" panose="020B0503020204020204" pitchFamily="34" charset="-122"/>
                  <a:ea typeface="Microsoft YaHei" panose="020B0503020204020204" pitchFamily="34" charset="-122"/>
                  <a:cs typeface="+mn-cs"/>
                  <a:sym typeface="Microsoft YaHei" panose="020B0503020204020204" pitchFamily="34" charset="-122"/>
                </a:endParaRPr>
              </a:p>
            </p:txBody>
          </p:sp>
          <p:pic>
            <p:nvPicPr>
              <p:cNvPr id="190" name="1" descr="通讯簿 纯色填充">
                <a:extLst>
                  <a:ext uri="{FF2B5EF4-FFF2-40B4-BE49-F238E27FC236}">
                    <a16:creationId xmlns:a16="http://schemas.microsoft.com/office/drawing/2014/main" id="{B9D90FA7-FDF2-1B35-A12A-67B7B70A78F9}"/>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4525060" y="1990412"/>
                <a:ext cx="461087" cy="461087"/>
              </a:xfrm>
              <a:prstGeom prst="rect">
                <a:avLst/>
              </a:prstGeom>
            </p:spPr>
          </p:pic>
        </p:grpSp>
        <p:grpSp>
          <p:nvGrpSpPr>
            <p:cNvPr id="177" name="组合 4">
              <a:extLst>
                <a:ext uri="{FF2B5EF4-FFF2-40B4-BE49-F238E27FC236}">
                  <a16:creationId xmlns:a16="http://schemas.microsoft.com/office/drawing/2014/main" id="{BF0915CF-7A9F-6832-2138-2EB9A9FFA3E7}"/>
                </a:ext>
              </a:extLst>
            </p:cNvPr>
            <p:cNvGrpSpPr/>
            <p:nvPr/>
          </p:nvGrpSpPr>
          <p:grpSpPr>
            <a:xfrm>
              <a:off x="6991763" y="4096051"/>
              <a:ext cx="4038289" cy="1160492"/>
              <a:chOff x="6979093" y="4062463"/>
              <a:chExt cx="4038289" cy="1160492"/>
            </a:xfrm>
          </p:grpSpPr>
          <p:sp>
            <p:nvSpPr>
              <p:cNvPr id="183" name="4">
                <a:extLst>
                  <a:ext uri="{FF2B5EF4-FFF2-40B4-BE49-F238E27FC236}">
                    <a16:creationId xmlns:a16="http://schemas.microsoft.com/office/drawing/2014/main" id="{9CC15EDF-9703-07E4-E743-AFD220A14426}"/>
                  </a:ext>
                </a:extLst>
              </p:cNvPr>
              <p:cNvSpPr/>
              <p:nvPr/>
            </p:nvSpPr>
            <p:spPr>
              <a:xfrm>
                <a:off x="6979093" y="4137904"/>
                <a:ext cx="863928" cy="863928"/>
              </a:xfrm>
              <a:prstGeom prst="ellipse">
                <a:avLst/>
              </a:prstGeom>
              <a:gradFill>
                <a:gsLst>
                  <a:gs pos="0">
                    <a:schemeClr val="accent2"/>
                  </a:gs>
                  <a:gs pos="100000">
                    <a:schemeClr val="accent1"/>
                  </a:gs>
                </a:gsLst>
              </a:gradFill>
              <a:ln>
                <a:noFill/>
              </a:ln>
              <a:effectLst>
                <a:outerShdw blurRad="254000" dist="2540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mn-cs"/>
                  <a:sym typeface="Microsoft YaHei" panose="020B0503020204020204" pitchFamily="34" charset="-122"/>
                </a:endParaRPr>
              </a:p>
            </p:txBody>
          </p:sp>
          <p:sp>
            <p:nvSpPr>
              <p:cNvPr id="184" name="Title-4">
                <a:extLst>
                  <a:ext uri="{FF2B5EF4-FFF2-40B4-BE49-F238E27FC236}">
                    <a16:creationId xmlns:a16="http://schemas.microsoft.com/office/drawing/2014/main" id="{7E73AD60-C3C7-9569-2CA4-794A809AF605}"/>
                  </a:ext>
                </a:extLst>
              </p:cNvPr>
              <p:cNvSpPr txBox="1"/>
              <p:nvPr>
                <p:custDataLst>
                  <p:tags r:id="rId4"/>
                </p:custDataLst>
              </p:nvPr>
            </p:nvSpPr>
            <p:spPr>
              <a:xfrm>
                <a:off x="8212241" y="4062463"/>
                <a:ext cx="2805140" cy="400110"/>
              </a:xfrm>
              <a:prstGeom prst="rect">
                <a:avLst/>
              </a:prstGeom>
              <a:noFill/>
            </p:spPr>
            <p:txBody>
              <a:bodyPr wrap="square" rtlCol="0">
                <a:spAutoFit/>
              </a:bodyPr>
              <a:lstStyle>
                <a:defPPr>
                  <a:defRPr lang="zh-CN"/>
                </a:defPPr>
                <a:lvl1pPr algn="ctr">
                  <a:defRPr sz="2400" b="1">
                    <a:gradFill flip="none" rotWithShape="1">
                      <a:gsLst>
                        <a:gs pos="0">
                          <a:schemeClr val="accent4">
                            <a:lumMod val="90000"/>
                            <a:lumOff val="10000"/>
                          </a:schemeClr>
                        </a:gs>
                        <a:gs pos="80000">
                          <a:schemeClr val="accent4">
                            <a:lumMod val="90000"/>
                          </a:schemeClr>
                        </a:gs>
                      </a:gsLst>
                      <a:lin ang="13500000" scaled="1"/>
                      <a:tileRect/>
                    </a:gradFill>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gradFill>
                      <a:gsLst>
                        <a:gs pos="0">
                          <a:srgbClr val="4674C1"/>
                        </a:gs>
                        <a:gs pos="100000">
                          <a:srgbClr val="4674C1">
                            <a:lumMod val="75000"/>
                          </a:srgbClr>
                        </a:gs>
                      </a:gsLst>
                      <a:lin ang="13500000" scaled="1"/>
                    </a:gradFill>
                    <a:effectLst/>
                    <a:uLnTx/>
                    <a:uFillTx/>
                    <a:latin typeface="微软雅黑" panose="020B0503020204020204" pitchFamily="34" charset="-122"/>
                    <a:ea typeface="微软雅黑" panose="020B0503020204020204" pitchFamily="34" charset="-122"/>
                    <a:cs typeface="+mn-cs"/>
                  </a:rPr>
                  <a:t>价值驱动的长期主义</a:t>
                </a:r>
              </a:p>
            </p:txBody>
          </p:sp>
          <p:sp>
            <p:nvSpPr>
              <p:cNvPr id="185" name="Body-4">
                <a:extLst>
                  <a:ext uri="{FF2B5EF4-FFF2-40B4-BE49-F238E27FC236}">
                    <a16:creationId xmlns:a16="http://schemas.microsoft.com/office/drawing/2014/main" id="{824FAC1D-57FD-20C2-7057-BAA6E3690147}"/>
                  </a:ext>
                </a:extLst>
              </p:cNvPr>
              <p:cNvSpPr txBox="1"/>
              <p:nvPr>
                <p:custDataLst>
                  <p:tags r:id="rId5"/>
                </p:custDataLst>
              </p:nvPr>
            </p:nvSpPr>
            <p:spPr>
              <a:xfrm>
                <a:off x="8212241" y="4484291"/>
                <a:ext cx="2805141" cy="738664"/>
              </a:xfrm>
              <a:prstGeom prst="rect">
                <a:avLst/>
              </a:prstGeom>
              <a:ln>
                <a:noFill/>
              </a:ln>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500"/>
                  </a:spcBef>
                  <a:spcAft>
                    <a:spcPts val="0"/>
                  </a:spcAft>
                  <a:buClrTx/>
                  <a:buSzTx/>
                  <a:buFontTx/>
                  <a:buNone/>
                  <a:tabLst/>
                  <a:defRPr/>
                </a:pPr>
                <a:r>
                  <a:rPr kumimoji="0" lang="zh-CN" altLang="en-US" sz="1400" b="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 超越个人短期得失，以创造长期价值、解决重大难题为根本驱动力。</a:t>
                </a:r>
                <a:endParaRPr kumimoji="0" lang="en-US" altLang="zh-CN"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pic>
            <p:nvPicPr>
              <p:cNvPr id="186" name="4" descr="雇员徽章 纯色填充">
                <a:extLst>
                  <a:ext uri="{FF2B5EF4-FFF2-40B4-BE49-F238E27FC236}">
                    <a16:creationId xmlns:a16="http://schemas.microsoft.com/office/drawing/2014/main" id="{6F35A977-BE9C-98DB-A471-524C1C585415}"/>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7161382" y="4320193"/>
                <a:ext cx="499351" cy="499351"/>
              </a:xfrm>
              <a:prstGeom prst="rect">
                <a:avLst/>
              </a:prstGeom>
            </p:spPr>
          </p:pic>
        </p:grpSp>
        <p:grpSp>
          <p:nvGrpSpPr>
            <p:cNvPr id="178" name="组合 2">
              <a:extLst>
                <a:ext uri="{FF2B5EF4-FFF2-40B4-BE49-F238E27FC236}">
                  <a16:creationId xmlns:a16="http://schemas.microsoft.com/office/drawing/2014/main" id="{DE59E612-6C8C-FFB0-18DB-7D9D38C931D2}"/>
                </a:ext>
              </a:extLst>
            </p:cNvPr>
            <p:cNvGrpSpPr/>
            <p:nvPr/>
          </p:nvGrpSpPr>
          <p:grpSpPr>
            <a:xfrm>
              <a:off x="1161948" y="4096051"/>
              <a:ext cx="4038289" cy="1375935"/>
              <a:chOff x="1149278" y="4062463"/>
              <a:chExt cx="4038289" cy="1375935"/>
            </a:xfrm>
          </p:grpSpPr>
          <p:sp>
            <p:nvSpPr>
              <p:cNvPr id="179" name="2">
                <a:extLst>
                  <a:ext uri="{FF2B5EF4-FFF2-40B4-BE49-F238E27FC236}">
                    <a16:creationId xmlns:a16="http://schemas.microsoft.com/office/drawing/2014/main" id="{E69F1CC5-A70F-382A-5B5D-D776C8F4E8C2}"/>
                  </a:ext>
                </a:extLst>
              </p:cNvPr>
              <p:cNvSpPr/>
              <p:nvPr/>
            </p:nvSpPr>
            <p:spPr>
              <a:xfrm>
                <a:off x="4323639" y="4137904"/>
                <a:ext cx="863928" cy="863928"/>
              </a:xfrm>
              <a:prstGeom prst="ellipse">
                <a:avLst/>
              </a:prstGeom>
              <a:gradFill>
                <a:gsLst>
                  <a:gs pos="0">
                    <a:schemeClr val="accent2"/>
                  </a:gs>
                  <a:gs pos="100000">
                    <a:schemeClr val="accent1"/>
                  </a:gs>
                </a:gsLst>
              </a:gradFill>
              <a:ln>
                <a:noFill/>
              </a:ln>
              <a:effectLst>
                <a:outerShdw blurRad="254000" dist="2540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Microsoft YaHei" panose="020B0503020204020204" pitchFamily="34" charset="-122"/>
                  <a:ea typeface="Microsoft YaHei" panose="020B0503020204020204" pitchFamily="34" charset="-122"/>
                  <a:cs typeface="+mn-cs"/>
                  <a:sym typeface="Microsoft YaHei" panose="020B0503020204020204" pitchFamily="34" charset="-122"/>
                </a:endParaRPr>
              </a:p>
            </p:txBody>
          </p:sp>
          <p:sp>
            <p:nvSpPr>
              <p:cNvPr id="180" name="Title-2">
                <a:extLst>
                  <a:ext uri="{FF2B5EF4-FFF2-40B4-BE49-F238E27FC236}">
                    <a16:creationId xmlns:a16="http://schemas.microsoft.com/office/drawing/2014/main" id="{7EE8B30D-313D-8F38-417F-40D27967BCBA}"/>
                  </a:ext>
                </a:extLst>
              </p:cNvPr>
              <p:cNvSpPr txBox="1"/>
              <p:nvPr>
                <p:custDataLst>
                  <p:tags r:id="rId2"/>
                </p:custDataLst>
              </p:nvPr>
            </p:nvSpPr>
            <p:spPr>
              <a:xfrm flipH="1">
                <a:off x="1225070" y="4062463"/>
                <a:ext cx="2729349" cy="400110"/>
              </a:xfrm>
              <a:prstGeom prst="rect">
                <a:avLst/>
              </a:prstGeom>
              <a:noFill/>
            </p:spPr>
            <p:txBody>
              <a:bodyPr wrap="square" rtlCol="0">
                <a:spAutoFit/>
              </a:bodyPr>
              <a:lstStyle>
                <a:defPPr>
                  <a:defRPr lang="zh-CN"/>
                </a:defPPr>
                <a:lvl1pPr algn="ctr">
                  <a:defRPr sz="2400" b="1">
                    <a:gradFill flip="none" rotWithShape="1">
                      <a:gsLst>
                        <a:gs pos="0">
                          <a:schemeClr val="accent4">
                            <a:lumMod val="90000"/>
                            <a:lumOff val="10000"/>
                          </a:schemeClr>
                        </a:gs>
                        <a:gs pos="80000">
                          <a:schemeClr val="accent4">
                            <a:lumMod val="90000"/>
                          </a:schemeClr>
                        </a:gs>
                      </a:gsLst>
                      <a:lin ang="13500000" scaled="1"/>
                      <a:tileRect/>
                    </a:gradFill>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gradFill>
                      <a:gsLst>
                        <a:gs pos="0">
                          <a:srgbClr val="4674C1"/>
                        </a:gs>
                        <a:gs pos="100000">
                          <a:srgbClr val="4674C1">
                            <a:lumMod val="75000"/>
                          </a:srgbClr>
                        </a:gs>
                      </a:gsLst>
                      <a:lin ang="13500000" scaled="1"/>
                    </a:gradFill>
                    <a:effectLst/>
                    <a:uLnTx/>
                    <a:uFillTx/>
                    <a:latin typeface="微软雅黑" panose="020B0503020204020204" pitchFamily="34" charset="-122"/>
                    <a:ea typeface="微软雅黑" panose="020B0503020204020204" pitchFamily="34" charset="-122"/>
                    <a:cs typeface="+mn-cs"/>
                  </a:rPr>
                  <a:t>系统思维与破壁能力</a:t>
                </a:r>
              </a:p>
            </p:txBody>
          </p:sp>
          <p:sp>
            <p:nvSpPr>
              <p:cNvPr id="181" name="Body-2">
                <a:extLst>
                  <a:ext uri="{FF2B5EF4-FFF2-40B4-BE49-F238E27FC236}">
                    <a16:creationId xmlns:a16="http://schemas.microsoft.com/office/drawing/2014/main" id="{37A128AD-77A9-A04E-58A5-2F9478517537}"/>
                  </a:ext>
                </a:extLst>
              </p:cNvPr>
              <p:cNvSpPr txBox="1"/>
              <p:nvPr>
                <p:custDataLst>
                  <p:tags r:id="rId3"/>
                </p:custDataLst>
              </p:nvPr>
            </p:nvSpPr>
            <p:spPr>
              <a:xfrm flipH="1">
                <a:off x="1149278" y="4484291"/>
                <a:ext cx="2805141" cy="954107"/>
              </a:xfrm>
              <a:prstGeom prst="rect">
                <a:avLst/>
              </a:prstGeom>
              <a:ln>
                <a:noFill/>
              </a:ln>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500"/>
                  </a:spcBef>
                  <a:spcAft>
                    <a:spcPts val="0"/>
                  </a:spcAft>
                  <a:buClrTx/>
                  <a:buSzTx/>
                  <a:buFontTx/>
                  <a:buNone/>
                  <a:tabLst/>
                  <a:defRPr/>
                </a:pPr>
                <a:r>
                  <a:rPr kumimoji="0" lang="zh-CN" altLang="en-US" sz="1400" b="0" i="0" u="none" strike="noStrike" kern="1200" cap="none" spc="0" normalizeH="0" baseline="0" noProof="0" dirty="0">
                    <a:ln>
                      <a:noFill/>
                    </a:ln>
                    <a:solidFill>
                      <a:srgbClr val="FFFFFF">
                        <a:lumMod val="75000"/>
                        <a:lumOff val="25000"/>
                      </a:srgbClr>
                    </a:solidFill>
                    <a:effectLst/>
                    <a:uLnTx/>
                    <a:uFillTx/>
                    <a:latin typeface="微软雅黑" panose="020B0503020204020204" pitchFamily="34" charset="-122"/>
                    <a:ea typeface="微软雅黑" panose="020B0503020204020204" pitchFamily="34" charset="-122"/>
                    <a:cs typeface="+mn-cs"/>
                  </a:rPr>
                  <a:t> 致力于打通认知壁垒（业务、技术、财务）、系统壁垒（不同系统间的隔阂）和组织壁垒（部门墙），构建端到端的全局视野。</a:t>
                </a:r>
                <a:endParaRPr kumimoji="0" lang="en-US" altLang="zh-CN"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pic>
            <p:nvPicPr>
              <p:cNvPr id="182" name="2" descr="收件箱选中 纯色填充">
                <a:extLst>
                  <a:ext uri="{FF2B5EF4-FFF2-40B4-BE49-F238E27FC236}">
                    <a16:creationId xmlns:a16="http://schemas.microsoft.com/office/drawing/2014/main" id="{DE883A7B-C5D9-51C3-1DB4-C74DCE19552E}"/>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4505928" y="4320193"/>
                <a:ext cx="499351" cy="499351"/>
              </a:xfrm>
              <a:prstGeom prst="rect">
                <a:avLst/>
              </a:prstGeom>
            </p:spPr>
          </p:pic>
        </p:grpSp>
      </p:grpSp>
    </p:spTree>
    <p:extLst>
      <p:ext uri="{BB962C8B-B14F-4D97-AF65-F5344CB8AC3E}">
        <p14:creationId xmlns:p14="http://schemas.microsoft.com/office/powerpoint/2010/main" val="446302817"/>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0623034-945B-0F2E-ACEA-723FEB19D72F}"/>
              </a:ext>
            </a:extLst>
          </p:cNvPr>
          <p:cNvSpPr>
            <a:spLocks noGrp="1"/>
          </p:cNvSpPr>
          <p:nvPr>
            <p:ph type="title"/>
          </p:nvPr>
        </p:nvSpPr>
        <p:spPr/>
        <p:txBody>
          <a:bodyPr>
            <a:normAutofit/>
          </a:bodyPr>
          <a:lstStyle/>
          <a:p>
            <a:r>
              <a:rPr lang="zh-CN" altLang="en-US" b="1" i="0" dirty="0">
                <a:effectLst/>
                <a:latin typeface="PingFang SC"/>
              </a:rPr>
              <a:t>锻造数字内核：三位一体的能力是驱动转型的非连续引擎</a:t>
            </a:r>
            <a:endParaRPr lang="zh-CN" altLang="en-US" dirty="0">
              <a:latin typeface="Arial" panose="020B0604020202020204" pitchFamily="34" charset="0"/>
              <a:ea typeface="微软雅黑" panose="020B0503020204020204" pitchFamily="34" charset="-122"/>
            </a:endParaRPr>
          </a:p>
        </p:txBody>
      </p:sp>
      <p:grpSp>
        <p:nvGrpSpPr>
          <p:cNvPr id="4" name="组合 3">
            <a:extLst>
              <a:ext uri="{FF2B5EF4-FFF2-40B4-BE49-F238E27FC236}">
                <a16:creationId xmlns:a16="http://schemas.microsoft.com/office/drawing/2014/main" id="{94FCB0EE-6AE2-F6CA-5488-CC017FBE2E7A}"/>
              </a:ext>
            </a:extLst>
          </p:cNvPr>
          <p:cNvGrpSpPr>
            <a:grpSpLocks noChangeAspect="1"/>
          </p:cNvGrpSpPr>
          <p:nvPr>
            <p:custDataLst>
              <p:tags r:id="rId1"/>
            </p:custDataLst>
          </p:nvPr>
        </p:nvGrpSpPr>
        <p:grpSpPr>
          <a:xfrm>
            <a:off x="590112" y="992805"/>
            <a:ext cx="7582049" cy="4213772"/>
            <a:chOff x="-339883" y="490549"/>
            <a:chExt cx="12871766" cy="6885014"/>
          </a:xfrm>
        </p:grpSpPr>
        <p:grpSp>
          <p:nvGrpSpPr>
            <p:cNvPr id="5" name="组合 1">
              <a:extLst>
                <a:ext uri="{FF2B5EF4-FFF2-40B4-BE49-F238E27FC236}">
                  <a16:creationId xmlns:a16="http://schemas.microsoft.com/office/drawing/2014/main" id="{2127EA96-D515-CEE1-9290-34253A70FC9E}"/>
                </a:ext>
              </a:extLst>
            </p:cNvPr>
            <p:cNvGrpSpPr/>
            <p:nvPr/>
          </p:nvGrpSpPr>
          <p:grpSpPr>
            <a:xfrm>
              <a:off x="-339882" y="490549"/>
              <a:ext cx="5089526" cy="2999581"/>
              <a:chOff x="-339881" y="150499"/>
              <a:chExt cx="5089526" cy="2999581"/>
            </a:xfrm>
          </p:grpSpPr>
          <p:cxnSp>
            <p:nvCxnSpPr>
              <p:cNvPr id="24" name="1">
                <a:extLst>
                  <a:ext uri="{FF2B5EF4-FFF2-40B4-BE49-F238E27FC236}">
                    <a16:creationId xmlns:a16="http://schemas.microsoft.com/office/drawing/2014/main" id="{61FC207D-E28D-17F2-9919-255221E1A039}"/>
                  </a:ext>
                </a:extLst>
              </p:cNvPr>
              <p:cNvCxnSpPr>
                <a:cxnSpLocks/>
              </p:cNvCxnSpPr>
              <p:nvPr/>
            </p:nvCxnSpPr>
            <p:spPr>
              <a:xfrm flipH="1" flipV="1">
                <a:off x="3456788" y="631045"/>
                <a:ext cx="1292857" cy="472643"/>
              </a:xfrm>
              <a:prstGeom prst="line">
                <a:avLst/>
              </a:prstGeom>
              <a:ln w="25400">
                <a:gradFill>
                  <a:gsLst>
                    <a:gs pos="0">
                      <a:schemeClr val="accent2">
                        <a:alpha val="0"/>
                      </a:schemeClr>
                    </a:gs>
                    <a:gs pos="100000">
                      <a:schemeClr val="accent2"/>
                    </a:gs>
                  </a:gsLst>
                  <a:lin ang="0" scaled="0"/>
                </a:gradFill>
                <a:tailEnd type="oval"/>
              </a:ln>
            </p:spPr>
            <p:style>
              <a:lnRef idx="1">
                <a:schemeClr val="accent1"/>
              </a:lnRef>
              <a:fillRef idx="0">
                <a:schemeClr val="accent1"/>
              </a:fillRef>
              <a:effectRef idx="0">
                <a:schemeClr val="accent1"/>
              </a:effectRef>
              <a:fontRef idx="minor">
                <a:schemeClr val="tx1"/>
              </a:fontRef>
            </p:style>
          </p:cxnSp>
          <p:sp>
            <p:nvSpPr>
              <p:cNvPr id="25" name="1">
                <a:extLst>
                  <a:ext uri="{FF2B5EF4-FFF2-40B4-BE49-F238E27FC236}">
                    <a16:creationId xmlns:a16="http://schemas.microsoft.com/office/drawing/2014/main" id="{6EA813B6-BA97-2647-EB1E-A68516352ADB}"/>
                  </a:ext>
                </a:extLst>
              </p:cNvPr>
              <p:cNvSpPr/>
              <p:nvPr/>
            </p:nvSpPr>
            <p:spPr>
              <a:xfrm>
                <a:off x="1023281" y="151504"/>
                <a:ext cx="2448664" cy="479541"/>
              </a:xfrm>
              <a:prstGeom prst="roundRect">
                <a:avLst>
                  <a:gd name="adj" fmla="val 50000"/>
                </a:avLst>
              </a:prstGeom>
              <a:solidFill>
                <a:schemeClr val="accent2">
                  <a:lumMod val="50000"/>
                  <a:lumOff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ea"/>
                  <a:sym typeface="+mn-lt"/>
                </a:endParaRPr>
              </a:p>
            </p:txBody>
          </p:sp>
          <p:sp>
            <p:nvSpPr>
              <p:cNvPr id="26" name="Body-1">
                <a:extLst>
                  <a:ext uri="{FF2B5EF4-FFF2-40B4-BE49-F238E27FC236}">
                    <a16:creationId xmlns:a16="http://schemas.microsoft.com/office/drawing/2014/main" id="{32577427-0BFB-1916-5874-2F3E8EFA38BD}"/>
                  </a:ext>
                </a:extLst>
              </p:cNvPr>
              <p:cNvSpPr txBox="1"/>
              <p:nvPr>
                <p:custDataLst>
                  <p:tags r:id="rId7"/>
                </p:custDataLst>
              </p:nvPr>
            </p:nvSpPr>
            <p:spPr>
              <a:xfrm>
                <a:off x="-339881" y="931028"/>
                <a:ext cx="3988944" cy="2219052"/>
              </a:xfrm>
              <a:prstGeom prst="rect">
                <a:avLst/>
              </a:prstGeom>
              <a:noFill/>
            </p:spPr>
            <p:txBody>
              <a:bodyPr wrap="square" rtlCol="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1" lang="zh-CN" altLang="en-US" sz="1000" b="1" i="0" u="none" strike="noStrike" kern="1200" cap="none" spc="0" normalizeH="0" baseline="0" noProof="0" dirty="0">
                    <a:ln>
                      <a:noFill/>
                    </a:ln>
                    <a:solidFill>
                      <a:srgbClr val="EB7E3B">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rPr>
                  <a:t>核心内涵：远超熟悉流程，必须能洞察供应链、计划等领域的核心理论，理解其与真实世界的差距</a:t>
                </a:r>
                <a:endParaRPr kumimoji="1" lang="en-US" altLang="zh-CN" sz="1000" b="1" i="0" u="none" strike="noStrike" kern="1200" cap="none" spc="0" normalizeH="0" baseline="0" noProof="0" dirty="0">
                  <a:ln>
                    <a:noFill/>
                  </a:ln>
                  <a:solidFill>
                    <a:srgbClr val="EB7E3B">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endParaRPr>
              </a:p>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1" lang="zh-CN" altLang="en-US" sz="1000" b="1" i="0" u="none" strike="noStrike" kern="1200" cap="none" spc="0" normalizeH="0" baseline="0" noProof="0" dirty="0">
                    <a:ln>
                      <a:noFill/>
                    </a:ln>
                    <a:solidFill>
                      <a:srgbClr val="EB7E3B">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rPr>
                  <a:t>关键思维模式：“业务应该怎样运行。”</a:t>
                </a:r>
                <a:endParaRPr kumimoji="1" lang="en-US" altLang="zh-CN" sz="1000" b="1" i="0" u="none" strike="noStrike" kern="1200" cap="none" spc="0" normalizeH="0" baseline="0" noProof="0" dirty="0">
                  <a:ln>
                    <a:noFill/>
                  </a:ln>
                  <a:solidFill>
                    <a:srgbClr val="EB7E3B">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endParaRPr>
              </a:p>
            </p:txBody>
          </p:sp>
          <p:sp>
            <p:nvSpPr>
              <p:cNvPr id="27" name="Title-1">
                <a:extLst>
                  <a:ext uri="{FF2B5EF4-FFF2-40B4-BE49-F238E27FC236}">
                    <a16:creationId xmlns:a16="http://schemas.microsoft.com/office/drawing/2014/main" id="{B16251EA-5194-F5CB-8EE4-1FCF6B93F604}"/>
                  </a:ext>
                </a:extLst>
              </p:cNvPr>
              <p:cNvSpPr txBox="1"/>
              <p:nvPr>
                <p:custDataLst>
                  <p:tags r:id="rId8"/>
                </p:custDataLst>
              </p:nvPr>
            </p:nvSpPr>
            <p:spPr>
              <a:xfrm>
                <a:off x="1085236" y="150499"/>
                <a:ext cx="2448662" cy="381453"/>
              </a:xfrm>
              <a:prstGeom prst="rect">
                <a:avLst/>
              </a:prstGeom>
              <a:noFill/>
            </p:spPr>
            <p:txBody>
              <a:bodyPr wrap="square" rtlCol="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深度业务解构力：</a:t>
                </a:r>
              </a:p>
            </p:txBody>
          </p:sp>
        </p:grpSp>
        <p:grpSp>
          <p:nvGrpSpPr>
            <p:cNvPr id="6" name="组合 3">
              <a:extLst>
                <a:ext uri="{FF2B5EF4-FFF2-40B4-BE49-F238E27FC236}">
                  <a16:creationId xmlns:a16="http://schemas.microsoft.com/office/drawing/2014/main" id="{10C4BB42-C336-9D70-40A5-8A96DEFFC058}"/>
                </a:ext>
              </a:extLst>
            </p:cNvPr>
            <p:cNvGrpSpPr/>
            <p:nvPr/>
          </p:nvGrpSpPr>
          <p:grpSpPr>
            <a:xfrm>
              <a:off x="-339883" y="4004391"/>
              <a:ext cx="4694885" cy="3371172"/>
              <a:chOff x="-324361" y="1556268"/>
              <a:chExt cx="4694885" cy="3371172"/>
            </a:xfrm>
          </p:grpSpPr>
          <p:cxnSp>
            <p:nvCxnSpPr>
              <p:cNvPr id="20" name="3">
                <a:extLst>
                  <a:ext uri="{FF2B5EF4-FFF2-40B4-BE49-F238E27FC236}">
                    <a16:creationId xmlns:a16="http://schemas.microsoft.com/office/drawing/2014/main" id="{C40848C0-8507-3C52-87CE-E6C4E2ABD334}"/>
                  </a:ext>
                </a:extLst>
              </p:cNvPr>
              <p:cNvCxnSpPr>
                <a:cxnSpLocks/>
              </p:cNvCxnSpPr>
              <p:nvPr/>
            </p:nvCxnSpPr>
            <p:spPr>
              <a:xfrm flipH="1">
                <a:off x="3549420" y="2085642"/>
                <a:ext cx="821104" cy="0"/>
              </a:xfrm>
              <a:prstGeom prst="line">
                <a:avLst/>
              </a:prstGeom>
              <a:ln w="25400">
                <a:gradFill>
                  <a:gsLst>
                    <a:gs pos="67000">
                      <a:srgbClr val="0070C0">
                        <a:lumMod val="98000"/>
                      </a:srgbClr>
                    </a:gs>
                    <a:gs pos="4000">
                      <a:schemeClr val="accent5">
                        <a:lumMod val="60000"/>
                        <a:lumOff val="40000"/>
                      </a:schemeClr>
                    </a:gs>
                    <a:gs pos="100000">
                      <a:schemeClr val="accent5">
                        <a:lumMod val="50000"/>
                      </a:schemeClr>
                    </a:gs>
                  </a:gsLst>
                  <a:lin ang="0" scaled="0"/>
                </a:gradFill>
                <a:tailEnd type="oval"/>
              </a:ln>
            </p:spPr>
            <p:style>
              <a:lnRef idx="1">
                <a:schemeClr val="accent1"/>
              </a:lnRef>
              <a:fillRef idx="0">
                <a:schemeClr val="accent1"/>
              </a:fillRef>
              <a:effectRef idx="0">
                <a:schemeClr val="accent1"/>
              </a:effectRef>
              <a:fontRef idx="minor">
                <a:schemeClr val="tx1"/>
              </a:fontRef>
            </p:style>
          </p:cxnSp>
          <p:sp>
            <p:nvSpPr>
              <p:cNvPr id="21" name="3">
                <a:extLst>
                  <a:ext uri="{FF2B5EF4-FFF2-40B4-BE49-F238E27FC236}">
                    <a16:creationId xmlns:a16="http://schemas.microsoft.com/office/drawing/2014/main" id="{9AF6977C-B6C8-45A4-CD73-D800F8C65CA0}"/>
                  </a:ext>
                </a:extLst>
              </p:cNvPr>
              <p:cNvSpPr/>
              <p:nvPr/>
            </p:nvSpPr>
            <p:spPr>
              <a:xfrm>
                <a:off x="990058" y="1592499"/>
                <a:ext cx="2436312" cy="479541"/>
              </a:xfrm>
              <a:prstGeom prst="roundRect">
                <a:avLst>
                  <a:gd name="adj" fmla="val 50000"/>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ea"/>
                  <a:sym typeface="+mn-lt"/>
                </a:endParaRPr>
              </a:p>
            </p:txBody>
          </p:sp>
          <p:sp>
            <p:nvSpPr>
              <p:cNvPr id="22" name="Body-3">
                <a:extLst>
                  <a:ext uri="{FF2B5EF4-FFF2-40B4-BE49-F238E27FC236}">
                    <a16:creationId xmlns:a16="http://schemas.microsoft.com/office/drawing/2014/main" id="{93ACF525-B319-CC18-1BCE-CFDF3B5F6264}"/>
                  </a:ext>
                </a:extLst>
              </p:cNvPr>
              <p:cNvSpPr txBox="1"/>
              <p:nvPr>
                <p:custDataLst>
                  <p:tags r:id="rId5"/>
                </p:custDataLst>
              </p:nvPr>
            </p:nvSpPr>
            <p:spPr>
              <a:xfrm>
                <a:off x="-324361" y="2131316"/>
                <a:ext cx="4160862" cy="2796124"/>
              </a:xfrm>
              <a:prstGeom prst="rect">
                <a:avLst/>
              </a:prstGeom>
              <a:noFill/>
            </p:spPr>
            <p:txBody>
              <a:bodyPr wrap="square" rtlCol="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1" lang="zh-CN" altLang="en-US" sz="1000" b="1" i="0" u="none" strike="noStrike" kern="1200" cap="none" spc="0" normalizeH="0" baseline="0" noProof="0" dirty="0">
                    <a:ln>
                      <a:noFill/>
                    </a:ln>
                    <a:solidFill>
                      <a:srgbClr val="4674C1">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rPr>
                  <a:t>核心内涵：将企业视为复杂适应系统，并能为其设计“数字孪生体”的能力。它要求规划数据、规则与流程如何协同，以实现端到端价值流最优化。</a:t>
                </a:r>
                <a:endParaRPr kumimoji="1" lang="en-US" altLang="zh-CN" sz="1000" b="1" i="0" u="none" strike="noStrike" kern="1200" cap="none" spc="0" normalizeH="0" baseline="0" noProof="0" dirty="0">
                  <a:ln>
                    <a:noFill/>
                  </a:ln>
                  <a:solidFill>
                    <a:srgbClr val="4674C1">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endParaRPr>
              </a:p>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1" lang="zh-CN" altLang="en-US" sz="1000" b="1" i="0" u="none" strike="noStrike" kern="1200" cap="none" spc="0" normalizeH="0" baseline="0" noProof="0" dirty="0">
                    <a:ln>
                      <a:noFill/>
                    </a:ln>
                    <a:solidFill>
                      <a:srgbClr val="4674C1">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rPr>
                  <a:t>关键思维模式：“如何设计一个能自动趋近目标的有机整体？”，而非“如何完成我的任务？”</a:t>
                </a:r>
                <a:endParaRPr kumimoji="1" lang="en-US" altLang="zh-CN" sz="1000" b="1" i="0" u="none" strike="noStrike" kern="1200" cap="none" spc="0" normalizeH="0" baseline="0" noProof="0" dirty="0">
                  <a:ln>
                    <a:noFill/>
                  </a:ln>
                  <a:solidFill>
                    <a:srgbClr val="4674C1">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endParaRPr>
              </a:p>
            </p:txBody>
          </p:sp>
          <p:sp>
            <p:nvSpPr>
              <p:cNvPr id="23" name="Title-3">
                <a:extLst>
                  <a:ext uri="{FF2B5EF4-FFF2-40B4-BE49-F238E27FC236}">
                    <a16:creationId xmlns:a16="http://schemas.microsoft.com/office/drawing/2014/main" id="{3A65E8E4-9087-D70A-B2B1-B909508B8E97}"/>
                  </a:ext>
                </a:extLst>
              </p:cNvPr>
              <p:cNvSpPr txBox="1"/>
              <p:nvPr>
                <p:custDataLst>
                  <p:tags r:id="rId6"/>
                </p:custDataLst>
              </p:nvPr>
            </p:nvSpPr>
            <p:spPr>
              <a:xfrm>
                <a:off x="1035998" y="1556268"/>
                <a:ext cx="2436312" cy="351758"/>
              </a:xfrm>
              <a:prstGeom prst="rect">
                <a:avLst/>
              </a:prstGeom>
              <a:noFill/>
            </p:spPr>
            <p:txBody>
              <a:bodyPr wrap="square" rtlCol="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系统架构思维力：</a:t>
                </a:r>
              </a:p>
            </p:txBody>
          </p:sp>
        </p:grpSp>
        <p:grpSp>
          <p:nvGrpSpPr>
            <p:cNvPr id="7" name="组合 2">
              <a:extLst>
                <a:ext uri="{FF2B5EF4-FFF2-40B4-BE49-F238E27FC236}">
                  <a16:creationId xmlns:a16="http://schemas.microsoft.com/office/drawing/2014/main" id="{CA8F6CC6-060E-4DA1-FED6-A602D99E3455}"/>
                </a:ext>
              </a:extLst>
            </p:cNvPr>
            <p:cNvGrpSpPr/>
            <p:nvPr/>
          </p:nvGrpSpPr>
          <p:grpSpPr>
            <a:xfrm>
              <a:off x="7764645" y="2843863"/>
              <a:ext cx="4767238" cy="2752455"/>
              <a:chOff x="7764645" y="1116661"/>
              <a:chExt cx="4767238" cy="2752455"/>
            </a:xfrm>
          </p:grpSpPr>
          <p:cxnSp>
            <p:nvCxnSpPr>
              <p:cNvPr id="16" name="2">
                <a:extLst>
                  <a:ext uri="{FF2B5EF4-FFF2-40B4-BE49-F238E27FC236}">
                    <a16:creationId xmlns:a16="http://schemas.microsoft.com/office/drawing/2014/main" id="{2A2DDB3D-723A-FFF5-7EFA-D3B335E5584B}"/>
                  </a:ext>
                </a:extLst>
              </p:cNvPr>
              <p:cNvCxnSpPr>
                <a:cxnSpLocks/>
              </p:cNvCxnSpPr>
              <p:nvPr/>
            </p:nvCxnSpPr>
            <p:spPr>
              <a:xfrm>
                <a:off x="7764645" y="1438557"/>
                <a:ext cx="821104" cy="0"/>
              </a:xfrm>
              <a:prstGeom prst="line">
                <a:avLst/>
              </a:prstGeom>
              <a:ln w="25400">
                <a:gradFill>
                  <a:gsLst>
                    <a:gs pos="0">
                      <a:schemeClr val="accent3">
                        <a:lumMod val="75000"/>
                      </a:schemeClr>
                    </a:gs>
                    <a:gs pos="100000">
                      <a:schemeClr val="accent3">
                        <a:lumMod val="50000"/>
                      </a:schemeClr>
                    </a:gs>
                  </a:gsLst>
                  <a:lin ang="0" scaled="0"/>
                </a:gradFill>
                <a:tailEnd type="oval"/>
              </a:ln>
            </p:spPr>
            <p:style>
              <a:lnRef idx="1">
                <a:schemeClr val="accent1"/>
              </a:lnRef>
              <a:fillRef idx="0">
                <a:schemeClr val="accent1"/>
              </a:fillRef>
              <a:effectRef idx="0">
                <a:schemeClr val="accent1"/>
              </a:effectRef>
              <a:fontRef idx="minor">
                <a:schemeClr val="tx1"/>
              </a:fontRef>
            </p:style>
          </p:cxnSp>
          <p:sp>
            <p:nvSpPr>
              <p:cNvPr id="17" name="2">
                <a:extLst>
                  <a:ext uri="{FF2B5EF4-FFF2-40B4-BE49-F238E27FC236}">
                    <a16:creationId xmlns:a16="http://schemas.microsoft.com/office/drawing/2014/main" id="{CE3DFCEF-88F2-152E-B8EB-83FC61A838EB}"/>
                  </a:ext>
                </a:extLst>
              </p:cNvPr>
              <p:cNvSpPr/>
              <p:nvPr/>
            </p:nvSpPr>
            <p:spPr>
              <a:xfrm>
                <a:off x="8707773" y="1116661"/>
                <a:ext cx="2562309" cy="643791"/>
              </a:xfrm>
              <a:prstGeom prst="roundRect">
                <a:avLst>
                  <a:gd name="adj" fmla="val 50000"/>
                </a:avLst>
              </a:prstGeom>
              <a:solidFill>
                <a:schemeClr val="accent3"/>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ea"/>
                  <a:sym typeface="+mn-lt"/>
                </a:endParaRPr>
              </a:p>
            </p:txBody>
          </p:sp>
          <p:sp>
            <p:nvSpPr>
              <p:cNvPr id="18" name="Body-2">
                <a:extLst>
                  <a:ext uri="{FF2B5EF4-FFF2-40B4-BE49-F238E27FC236}">
                    <a16:creationId xmlns:a16="http://schemas.microsoft.com/office/drawing/2014/main" id="{3DEA5E61-430E-3D34-32B3-3CFA10526490}"/>
                  </a:ext>
                </a:extLst>
              </p:cNvPr>
              <p:cNvSpPr txBox="1"/>
              <p:nvPr>
                <p:custDataLst>
                  <p:tags r:id="rId3"/>
                </p:custDataLst>
              </p:nvPr>
            </p:nvSpPr>
            <p:spPr>
              <a:xfrm>
                <a:off x="8202116" y="1888248"/>
                <a:ext cx="4329767" cy="1980868"/>
              </a:xfrm>
              <a:prstGeom prst="rect">
                <a:avLst/>
              </a:prstGeom>
              <a:noFill/>
            </p:spPr>
            <p:txBody>
              <a:bodyPr wrap="square" rtlCol="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1" lang="zh-CN" altLang="en-US" sz="1000" b="1" i="0" u="none" strike="noStrike" kern="1200" cap="none" spc="0" normalizeH="0" baseline="0" noProof="0" dirty="0">
                    <a:ln>
                      <a:noFill/>
                    </a:ln>
                    <a:solidFill>
                      <a:srgbClr val="A5A5A5">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rPr>
                  <a:t>核心内涵：远超使用软件，必须能穿透界面，直抵</a:t>
                </a:r>
                <a:r>
                  <a:rPr kumimoji="1" lang="en-US" altLang="zh-CN" sz="1000" b="1" i="0" u="none" strike="noStrike" kern="1200" cap="none" spc="0" normalizeH="0" baseline="0" noProof="0" dirty="0">
                    <a:ln>
                      <a:noFill/>
                    </a:ln>
                    <a:solidFill>
                      <a:srgbClr val="A5A5A5">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rPr>
                  <a:t>ERP</a:t>
                </a:r>
                <a:r>
                  <a:rPr kumimoji="1" lang="zh-CN" altLang="en-US" sz="1000" b="1" i="0" u="none" strike="noStrike" kern="1200" cap="none" spc="0" normalizeH="0" baseline="0" noProof="0" dirty="0">
                    <a:ln>
                      <a:noFill/>
                    </a:ln>
                    <a:solidFill>
                      <a:srgbClr val="A5A5A5">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rPr>
                  <a:t>、</a:t>
                </a:r>
                <a:r>
                  <a:rPr kumimoji="1" lang="en-US" altLang="zh-CN" sz="1000" b="1" i="0" u="none" strike="noStrike" kern="1200" cap="none" spc="0" normalizeH="0" baseline="0" noProof="0" dirty="0">
                    <a:ln>
                      <a:noFill/>
                    </a:ln>
                    <a:solidFill>
                      <a:srgbClr val="A5A5A5">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rPr>
                  <a:t>APS</a:t>
                </a:r>
                <a:r>
                  <a:rPr kumimoji="1" lang="zh-CN" altLang="en-US" sz="1000" b="1" i="0" u="none" strike="noStrike" kern="1200" cap="none" spc="0" normalizeH="0" baseline="0" noProof="0" dirty="0">
                    <a:ln>
                      <a:noFill/>
                    </a:ln>
                    <a:solidFill>
                      <a:srgbClr val="A5A5A5">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rPr>
                  <a:t>等系统的数据模型与算法内核，理解其设计哲学与固有缺陷</a:t>
                </a:r>
              </a:p>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1" lang="zh-CN" altLang="en-US" sz="1000" b="1" i="0" u="none" strike="noStrike" kern="1200" cap="none" spc="0" normalizeH="0" baseline="0" noProof="0" dirty="0">
                    <a:ln>
                      <a:noFill/>
                    </a:ln>
                    <a:solidFill>
                      <a:srgbClr val="A5A5A5">
                        <a:lumMod val="60000"/>
                        <a:lumOff val="40000"/>
                      </a:srgbClr>
                    </a:solidFill>
                    <a:effectLst/>
                    <a:uLnTx/>
                    <a:uFillTx/>
                    <a:latin typeface="微软雅黑" panose="020B0503020204020204" pitchFamily="34" charset="-122"/>
                    <a:ea typeface="微软雅黑" panose="020B0503020204020204" pitchFamily="34" charset="-122"/>
                    <a:cs typeface="+mn-cs"/>
                    <a:sym typeface="Arial" panose="020B0604020202020204" pitchFamily="34" charset="0"/>
                  </a:rPr>
                  <a:t>关键思维模式：“技术如何从根本上改变游戏规则？”，而非“这个功能如何实现？”</a:t>
                </a:r>
              </a:p>
            </p:txBody>
          </p:sp>
          <p:sp>
            <p:nvSpPr>
              <p:cNvPr id="19" name="Title-2">
                <a:extLst>
                  <a:ext uri="{FF2B5EF4-FFF2-40B4-BE49-F238E27FC236}">
                    <a16:creationId xmlns:a16="http://schemas.microsoft.com/office/drawing/2014/main" id="{9D354BC3-B7F5-D409-763B-8F21B76310ED}"/>
                  </a:ext>
                </a:extLst>
              </p:cNvPr>
              <p:cNvSpPr txBox="1"/>
              <p:nvPr>
                <p:custDataLst>
                  <p:tags r:id="rId4"/>
                </p:custDataLst>
              </p:nvPr>
            </p:nvSpPr>
            <p:spPr>
              <a:xfrm>
                <a:off x="8834722" y="1244458"/>
                <a:ext cx="2435360" cy="378289"/>
              </a:xfrm>
              <a:prstGeom prst="rect">
                <a:avLst/>
              </a:prstGeom>
              <a:noFill/>
            </p:spPr>
            <p:txBody>
              <a:bodyPr wrap="square" rtlCol="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深度技术洞察力：</a:t>
                </a:r>
              </a:p>
            </p:txBody>
          </p:sp>
        </p:grpSp>
        <p:sp>
          <p:nvSpPr>
            <p:cNvPr id="8" name="0">
              <a:extLst>
                <a:ext uri="{FF2B5EF4-FFF2-40B4-BE49-F238E27FC236}">
                  <a16:creationId xmlns:a16="http://schemas.microsoft.com/office/drawing/2014/main" id="{058C944B-4965-9975-757C-DEE84E6CBA1C}"/>
                </a:ext>
              </a:extLst>
            </p:cNvPr>
            <p:cNvSpPr/>
            <p:nvPr/>
          </p:nvSpPr>
          <p:spPr>
            <a:xfrm flipV="1">
              <a:off x="3820978" y="1242885"/>
              <a:ext cx="4550043" cy="4550029"/>
            </a:xfrm>
            <a:prstGeom prst="arc">
              <a:avLst>
                <a:gd name="adj1" fmla="val 7269933"/>
                <a:gd name="adj2" fmla="val 10092442"/>
              </a:avLst>
            </a:prstGeom>
            <a:ln w="31750">
              <a:gradFill>
                <a:gsLst>
                  <a:gs pos="27000">
                    <a:schemeClr val="accent1">
                      <a:alpha val="0"/>
                    </a:schemeClr>
                  </a:gs>
                  <a:gs pos="100000">
                    <a:schemeClr val="accent1"/>
                  </a:gs>
                </a:gsLst>
                <a:lin ang="5400000" scaled="1"/>
              </a:gradFill>
              <a:head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ea"/>
                <a:sym typeface="+mn-lt"/>
              </a:endParaRPr>
            </a:p>
          </p:txBody>
        </p:sp>
        <p:sp>
          <p:nvSpPr>
            <p:cNvPr id="9" name="0">
              <a:extLst>
                <a:ext uri="{FF2B5EF4-FFF2-40B4-BE49-F238E27FC236}">
                  <a16:creationId xmlns:a16="http://schemas.microsoft.com/office/drawing/2014/main" id="{BF7132E5-E9E9-7829-2F0E-E8188615063D}"/>
                </a:ext>
              </a:extLst>
            </p:cNvPr>
            <p:cNvSpPr/>
            <p:nvPr/>
          </p:nvSpPr>
          <p:spPr>
            <a:xfrm flipV="1">
              <a:off x="3820978" y="1242885"/>
              <a:ext cx="4550043" cy="4550029"/>
            </a:xfrm>
            <a:prstGeom prst="arc">
              <a:avLst>
                <a:gd name="adj1" fmla="val 957933"/>
                <a:gd name="adj2" fmla="val 3742040"/>
              </a:avLst>
            </a:prstGeom>
            <a:ln w="31750">
              <a:gradFill>
                <a:gsLst>
                  <a:gs pos="90000">
                    <a:schemeClr val="accent1">
                      <a:alpha val="0"/>
                    </a:schemeClr>
                  </a:gs>
                  <a:gs pos="18000">
                    <a:schemeClr val="accent1"/>
                  </a:gs>
                </a:gsLst>
                <a:lin ang="5400000" scaled="1"/>
              </a:gradFill>
              <a:head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ea"/>
                <a:sym typeface="+mn-lt"/>
              </a:endParaRPr>
            </a:p>
          </p:txBody>
        </p:sp>
        <p:sp>
          <p:nvSpPr>
            <p:cNvPr id="10" name="0">
              <a:extLst>
                <a:ext uri="{FF2B5EF4-FFF2-40B4-BE49-F238E27FC236}">
                  <a16:creationId xmlns:a16="http://schemas.microsoft.com/office/drawing/2014/main" id="{FE1F480D-B720-524B-1F0F-2912F0565B7E}"/>
                </a:ext>
              </a:extLst>
            </p:cNvPr>
            <p:cNvSpPr/>
            <p:nvPr/>
          </p:nvSpPr>
          <p:spPr>
            <a:xfrm flipH="1">
              <a:off x="3820978" y="1242885"/>
              <a:ext cx="4550043" cy="4550029"/>
            </a:xfrm>
            <a:prstGeom prst="arc">
              <a:avLst>
                <a:gd name="adj1" fmla="val 3876692"/>
                <a:gd name="adj2" fmla="val 6956782"/>
              </a:avLst>
            </a:prstGeom>
            <a:ln w="31750">
              <a:gradFill>
                <a:gsLst>
                  <a:gs pos="100000">
                    <a:schemeClr val="accent1">
                      <a:alpha val="0"/>
                    </a:schemeClr>
                  </a:gs>
                  <a:gs pos="0">
                    <a:schemeClr val="accent1"/>
                  </a:gs>
                </a:gsLst>
                <a:lin ang="10800000" scaled="0"/>
              </a:gradFill>
              <a:head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cs typeface="+mn-ea"/>
                <a:sym typeface="+mn-lt"/>
              </a:endParaRPr>
            </a:p>
          </p:txBody>
        </p:sp>
        <p:sp>
          <p:nvSpPr>
            <p:cNvPr id="11" name="0">
              <a:extLst>
                <a:ext uri="{FF2B5EF4-FFF2-40B4-BE49-F238E27FC236}">
                  <a16:creationId xmlns:a16="http://schemas.microsoft.com/office/drawing/2014/main" id="{4276F47D-6817-00C4-BC56-D722FC05F4C0}"/>
                </a:ext>
              </a:extLst>
            </p:cNvPr>
            <p:cNvSpPr/>
            <p:nvPr/>
          </p:nvSpPr>
          <p:spPr>
            <a:xfrm>
              <a:off x="4871668" y="1515228"/>
              <a:ext cx="2448663" cy="2448663"/>
            </a:xfrm>
            <a:prstGeom prst="ellipse">
              <a:avLst/>
            </a:prstGeom>
            <a:gradFill>
              <a:gsLst>
                <a:gs pos="100000">
                  <a:schemeClr val="accent2"/>
                </a:gs>
                <a:gs pos="32000">
                  <a:schemeClr val="accent2">
                    <a:lumMod val="60000"/>
                    <a:lumOff val="40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ea"/>
                <a:sym typeface="+mn-lt"/>
              </a:endParaRPr>
            </a:p>
          </p:txBody>
        </p:sp>
        <p:sp>
          <p:nvSpPr>
            <p:cNvPr id="12" name="0">
              <a:extLst>
                <a:ext uri="{FF2B5EF4-FFF2-40B4-BE49-F238E27FC236}">
                  <a16:creationId xmlns:a16="http://schemas.microsoft.com/office/drawing/2014/main" id="{FC14DE62-0D7C-7DF5-DECD-C7B3DC8DF0DB}"/>
                </a:ext>
              </a:extLst>
            </p:cNvPr>
            <p:cNvSpPr/>
            <p:nvPr/>
          </p:nvSpPr>
          <p:spPr>
            <a:xfrm>
              <a:off x="5814796" y="2938021"/>
              <a:ext cx="2448663" cy="2448663"/>
            </a:xfrm>
            <a:prstGeom prst="ellipse">
              <a:avLst/>
            </a:prstGeom>
            <a:gradFill>
              <a:gsLst>
                <a:gs pos="100000">
                  <a:schemeClr val="accent3"/>
                </a:gs>
                <a:gs pos="32000">
                  <a:schemeClr val="accent3">
                    <a:lumMod val="60000"/>
                    <a:lumOff val="40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cs typeface="+mn-ea"/>
                <a:sym typeface="+mn-lt"/>
              </a:endParaRPr>
            </a:p>
          </p:txBody>
        </p:sp>
        <p:sp>
          <p:nvSpPr>
            <p:cNvPr id="13" name="0">
              <a:extLst>
                <a:ext uri="{FF2B5EF4-FFF2-40B4-BE49-F238E27FC236}">
                  <a16:creationId xmlns:a16="http://schemas.microsoft.com/office/drawing/2014/main" id="{468B6095-8DA0-9C01-1B38-CC224F1D1311}"/>
                </a:ext>
              </a:extLst>
            </p:cNvPr>
            <p:cNvSpPr/>
            <p:nvPr/>
          </p:nvSpPr>
          <p:spPr>
            <a:xfrm>
              <a:off x="3928540" y="2951115"/>
              <a:ext cx="2448663" cy="2448663"/>
            </a:xfrm>
            <a:prstGeom prst="ellipse">
              <a:avLst/>
            </a:prstGeom>
            <a:gradFill flip="none" rotWithShape="1">
              <a:gsLst>
                <a:gs pos="100000">
                  <a:schemeClr val="accent1"/>
                </a:gs>
                <a:gs pos="32000">
                  <a:schemeClr val="accent1">
                    <a:lumMod val="60000"/>
                    <a:lumOff val="40000"/>
                  </a:schemeClr>
                </a:gs>
              </a:gsLst>
              <a:lin ang="81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cs typeface="+mn-ea"/>
                <a:sym typeface="+mn-lt"/>
              </a:endParaRPr>
            </a:p>
          </p:txBody>
        </p:sp>
        <p:sp>
          <p:nvSpPr>
            <p:cNvPr id="14" name="0">
              <a:extLst>
                <a:ext uri="{FF2B5EF4-FFF2-40B4-BE49-F238E27FC236}">
                  <a16:creationId xmlns:a16="http://schemas.microsoft.com/office/drawing/2014/main" id="{241F0F4A-C2D6-7C49-711F-1B657DFCF3A3}"/>
                </a:ext>
              </a:extLst>
            </p:cNvPr>
            <p:cNvSpPr/>
            <p:nvPr/>
          </p:nvSpPr>
          <p:spPr>
            <a:xfrm>
              <a:off x="5142596" y="2591836"/>
              <a:ext cx="1928327" cy="192832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5" name="Title-0">
              <a:extLst>
                <a:ext uri="{FF2B5EF4-FFF2-40B4-BE49-F238E27FC236}">
                  <a16:creationId xmlns:a16="http://schemas.microsoft.com/office/drawing/2014/main" id="{56C317E7-6482-F413-B11D-C8FE011197FE}"/>
                </a:ext>
              </a:extLst>
            </p:cNvPr>
            <p:cNvSpPr txBox="1"/>
            <p:nvPr>
              <p:custDataLst>
                <p:tags r:id="rId2"/>
              </p:custDataLst>
            </p:nvPr>
          </p:nvSpPr>
          <p:spPr>
            <a:xfrm>
              <a:off x="5365232" y="3056364"/>
              <a:ext cx="1339254" cy="965322"/>
            </a:xfrm>
            <a:prstGeom prst="rect">
              <a:avLst/>
            </a:prstGeom>
            <a:noFill/>
          </p:spPr>
          <p:txBody>
            <a:bodyPr wrap="square" rtlCol="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内化融合</a:t>
              </a:r>
            </a:p>
          </p:txBody>
        </p:sp>
      </p:grpSp>
      <p:pic>
        <p:nvPicPr>
          <p:cNvPr id="31" name="图片 30">
            <a:extLst>
              <a:ext uri="{FF2B5EF4-FFF2-40B4-BE49-F238E27FC236}">
                <a16:creationId xmlns:a16="http://schemas.microsoft.com/office/drawing/2014/main" id="{65912CB4-2DE6-5213-8AFA-0561F8756462}"/>
              </a:ext>
            </a:extLst>
          </p:cNvPr>
          <p:cNvPicPr>
            <a:picLocks noChangeAspect="1"/>
          </p:cNvPicPr>
          <p:nvPr/>
        </p:nvPicPr>
        <p:blipFill>
          <a:blip r:embed="rId10"/>
          <a:stretch>
            <a:fillRect/>
          </a:stretch>
        </p:blipFill>
        <p:spPr>
          <a:xfrm>
            <a:off x="8438061" y="784913"/>
            <a:ext cx="3314170" cy="5711420"/>
          </a:xfrm>
          <a:prstGeom prst="roundRect">
            <a:avLst>
              <a:gd name="adj" fmla="val 4167"/>
            </a:avLst>
          </a:prstGeom>
          <a:solidFill>
            <a:srgbClr val="FFFFFF"/>
          </a:solidFill>
          <a:ln w="76200" cap="sq">
            <a:solidFill>
              <a:srgbClr val="EAEAEA"/>
            </a:solidFill>
            <a:miter lim="800000"/>
          </a:ln>
          <a:effectLst>
            <a:reflection blurRad="12700" stA="33000" endPos="28000" dist="5000" dir="5400000" sy="-100000" algn="bl" rotWithShape="0"/>
          </a:effectLst>
          <a:scene3d>
            <a:camera prst="orthographicFront"/>
            <a:lightRig rig="threePt" dir="t">
              <a:rot lat="0" lon="0" rev="2700000"/>
            </a:lightRig>
          </a:scene3d>
          <a:sp3d contourW="6350">
            <a:bevelT h="38100"/>
            <a:contourClr>
              <a:srgbClr val="C0C0C0"/>
            </a:contourClr>
          </a:sp3d>
        </p:spPr>
      </p:pic>
      <p:sp>
        <p:nvSpPr>
          <p:cNvPr id="32" name="文本框 31">
            <a:extLst>
              <a:ext uri="{FF2B5EF4-FFF2-40B4-BE49-F238E27FC236}">
                <a16:creationId xmlns:a16="http://schemas.microsoft.com/office/drawing/2014/main" id="{F28A534E-F27F-EDB9-F4A3-6EBA8A0999D2}"/>
              </a:ext>
            </a:extLst>
          </p:cNvPr>
          <p:cNvSpPr txBox="1"/>
          <p:nvPr/>
        </p:nvSpPr>
        <p:spPr>
          <a:xfrm>
            <a:off x="1677038" y="5502413"/>
            <a:ext cx="6628073" cy="954107"/>
          </a:xfrm>
          <a:prstGeom prst="rect">
            <a:avLst/>
          </a:prstGeom>
          <a:noFill/>
        </p:spPr>
        <p:txBody>
          <a:bodyPr wrap="square" rtlCol="0">
            <a:spAutoFit/>
          </a:bodyPr>
          <a:lstStyle/>
          <a:p>
            <a:pPr marR="0" lvl="0" algn="l" defTabSz="914400" rtl="0" eaLnBrk="1" fontAlgn="auto" latinLnBrk="0" hangingPunct="1">
              <a:lnSpc>
                <a:spcPct val="100000"/>
              </a:lnSpc>
              <a:spcBef>
                <a:spcPts val="0"/>
              </a:spcBef>
              <a:spcAft>
                <a:spcPts val="0"/>
              </a:spcAft>
              <a:buClrTx/>
              <a:buSzTx/>
              <a:tabLst/>
              <a:defRPr/>
            </a:pPr>
            <a:r>
              <a:rPr kumimoji="0" lang="zh-CN" altLang="en-US"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内化融合的三位一体能力是</a:t>
            </a:r>
            <a:r>
              <a:rPr kumimoji="0" lang="zh-CN" altLang="en-US" sz="1400" b="1" i="0" u="none" strike="noStrike" kern="1200" cap="none" spc="0" normalizeH="0" baseline="0" noProof="0" dirty="0">
                <a:ln>
                  <a:noFill/>
                </a:ln>
                <a:solidFill>
                  <a:srgbClr val="3366FF"/>
                </a:solidFill>
                <a:effectLst/>
                <a:uLnTx/>
                <a:uFillTx/>
                <a:latin typeface="微软雅黑" panose="020B0503020204020204" pitchFamily="34" charset="-122"/>
                <a:ea typeface="微软雅黑" panose="020B0503020204020204" pitchFamily="34" charset="-122"/>
                <a:cs typeface="+mn-cs"/>
              </a:rPr>
              <a:t>必须的、基因突变的、稀缺能力，是引擎</a:t>
            </a:r>
            <a:r>
              <a:rPr kumimoji="0" lang="zh-CN" altLang="en-US"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a:t>
            </a:r>
            <a:endParaRPr kumimoji="0" lang="en-US" altLang="zh-CN"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迭代式不断试错寻找终点，需要内化融合的三位一体数字化能力。</a:t>
            </a:r>
            <a:endParaRPr kumimoji="0" lang="en-US" altLang="zh-CN"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穿越周期后可以以终为始，小步快跑，帮助企业缩短变革周期，这就是“总设计师”</a:t>
            </a:r>
            <a:endParaRPr kumimoji="0" lang="en-US" altLang="zh-CN" sz="1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3" name="文本框 2">
            <a:extLst>
              <a:ext uri="{FF2B5EF4-FFF2-40B4-BE49-F238E27FC236}">
                <a16:creationId xmlns:a16="http://schemas.microsoft.com/office/drawing/2014/main" id="{F5C92EB9-DF26-6597-1008-7A4BC9D7F702}"/>
              </a:ext>
            </a:extLst>
          </p:cNvPr>
          <p:cNvSpPr txBox="1"/>
          <p:nvPr/>
        </p:nvSpPr>
        <p:spPr>
          <a:xfrm>
            <a:off x="3733910" y="584103"/>
            <a:ext cx="4457801" cy="954107"/>
          </a:xfrm>
          <a:prstGeom prst="rect">
            <a:avLst/>
          </a:prstGeom>
          <a:noFill/>
        </p:spPr>
        <p:txBody>
          <a:bodyPr wrap="square" rtlCol="0">
            <a:spAutoFit/>
          </a:bodyPr>
          <a:lstStyle/>
          <a:p>
            <a:r>
              <a:rPr lang="zh-CN" altLang="en-US" sz="1400" b="0" i="0" dirty="0">
                <a:effectLst/>
                <a:latin typeface="+mj-ea"/>
                <a:ea typeface="+mj-ea"/>
              </a:rPr>
              <a:t>当这三种能力深度内化融合，意味着团队能同时</a:t>
            </a:r>
            <a:r>
              <a:rPr lang="zh-CN" altLang="en-US" sz="1400" b="1" i="0" dirty="0">
                <a:solidFill>
                  <a:srgbClr val="3366FF"/>
                </a:solidFill>
                <a:effectLst/>
                <a:latin typeface="+mj-ea"/>
                <a:ea typeface="+mj-ea"/>
              </a:rPr>
              <a:t>定义业务的‘应然’（业务解构力）、设计实现的‘使然’（系统架构力）、并驾驭技术的‘突然’（技术洞察力）</a:t>
            </a:r>
            <a:r>
              <a:rPr lang="zh-CN" altLang="en-US" sz="1400" b="0" i="0" dirty="0">
                <a:effectLst/>
                <a:latin typeface="+mj-ea"/>
                <a:ea typeface="+mj-ea"/>
              </a:rPr>
              <a:t>，从而具备为企业‘编写数字基因’的能力。</a:t>
            </a:r>
            <a:endParaRPr lang="zh-CN" altLang="en-US" sz="1400" dirty="0">
              <a:latin typeface="+mj-ea"/>
              <a:ea typeface="+mj-ea"/>
            </a:endParaRPr>
          </a:p>
        </p:txBody>
      </p:sp>
    </p:spTree>
    <p:extLst>
      <p:ext uri="{BB962C8B-B14F-4D97-AF65-F5344CB8AC3E}">
        <p14:creationId xmlns:p14="http://schemas.microsoft.com/office/powerpoint/2010/main" val="29962792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E6CDF73-6B44-09DF-045D-DC879FC0242A}"/>
              </a:ext>
            </a:extLst>
          </p:cNvPr>
          <p:cNvSpPr>
            <a:spLocks noGrp="1"/>
          </p:cNvSpPr>
          <p:nvPr>
            <p:ph type="title"/>
          </p:nvPr>
        </p:nvSpPr>
        <p:spPr/>
        <p:txBody>
          <a:bodyPr/>
          <a:lstStyle/>
          <a:p>
            <a:pPr algn="l" fontAlgn="auto"/>
            <a:r>
              <a:rPr lang="zh-CN" altLang="en-US" b="1" i="0" dirty="0">
                <a:effectLst/>
                <a:latin typeface="PingFang SC"/>
              </a:rPr>
              <a:t>跃迁路径：从能力“基因突变”到组织整体进化</a:t>
            </a:r>
            <a:endParaRPr lang="zh-CN" altLang="en-US" b="0" i="0" dirty="0">
              <a:effectLst/>
              <a:latin typeface="PingFang SC"/>
            </a:endParaRPr>
          </a:p>
        </p:txBody>
      </p:sp>
      <p:sp>
        <p:nvSpPr>
          <p:cNvPr id="4" name="文本框 3">
            <a:extLst>
              <a:ext uri="{FF2B5EF4-FFF2-40B4-BE49-F238E27FC236}">
                <a16:creationId xmlns:a16="http://schemas.microsoft.com/office/drawing/2014/main" id="{BE703D79-9670-F2E4-05C1-AFD74A38FB44}"/>
              </a:ext>
            </a:extLst>
          </p:cNvPr>
          <p:cNvSpPr txBox="1"/>
          <p:nvPr/>
        </p:nvSpPr>
        <p:spPr>
          <a:xfrm>
            <a:off x="563880" y="721698"/>
            <a:ext cx="11381946" cy="738664"/>
          </a:xfrm>
          <a:prstGeom prst="rect">
            <a:avLst/>
          </a:prstGeom>
          <a:noFill/>
        </p:spPr>
        <p:txBody>
          <a:bodyPr wrap="square">
            <a:spAutoFit/>
          </a:bodyPr>
          <a:lstStyle/>
          <a:p>
            <a:r>
              <a:rPr lang="zh-CN" altLang="en-US" sz="1400" dirty="0">
                <a:latin typeface="+mj-ea"/>
                <a:ea typeface="+mj-ea"/>
              </a:rPr>
              <a:t>现代供应链是一个</a:t>
            </a:r>
            <a:r>
              <a:rPr lang="zh-CN" altLang="en-US" sz="1400" b="1" dirty="0">
                <a:latin typeface="+mj-ea"/>
                <a:ea typeface="+mj-ea"/>
              </a:rPr>
              <a:t>复杂适应性系统</a:t>
            </a:r>
            <a:r>
              <a:rPr lang="zh-CN" altLang="en-US" sz="1400" dirty="0">
                <a:latin typeface="+mj-ea"/>
                <a:ea typeface="+mj-ea"/>
              </a:rPr>
              <a:t>，它动态、非线性且充满不确定性。</a:t>
            </a:r>
            <a:r>
              <a:rPr lang="zh-CN" altLang="en-US" sz="1400" b="1" dirty="0">
                <a:solidFill>
                  <a:srgbClr val="C00000"/>
                </a:solidFill>
                <a:latin typeface="+mj-ea"/>
                <a:ea typeface="+mj-ea"/>
              </a:rPr>
              <a:t>传统的</a:t>
            </a:r>
            <a:r>
              <a:rPr lang="zh-CN" altLang="en-US" sz="1400" dirty="0">
                <a:latin typeface="+mj-ea"/>
                <a:ea typeface="+mj-ea"/>
              </a:rPr>
              <a:t>、基于</a:t>
            </a:r>
            <a:r>
              <a:rPr lang="zh-CN" altLang="en-US" sz="1400" b="1" dirty="0">
                <a:solidFill>
                  <a:srgbClr val="C00000"/>
                </a:solidFill>
                <a:latin typeface="+mj-ea"/>
                <a:ea typeface="+mj-ea"/>
              </a:rPr>
              <a:t>固定流程</a:t>
            </a:r>
            <a:r>
              <a:rPr lang="zh-CN" altLang="en-US" sz="1400" dirty="0">
                <a:latin typeface="+mj-ea"/>
                <a:ea typeface="+mj-ea"/>
              </a:rPr>
              <a:t>和</a:t>
            </a:r>
            <a:r>
              <a:rPr lang="zh-CN" altLang="en-US" sz="1400" b="1" dirty="0">
                <a:solidFill>
                  <a:srgbClr val="C00000"/>
                </a:solidFill>
                <a:latin typeface="+mj-ea"/>
                <a:ea typeface="+mj-ea"/>
              </a:rPr>
              <a:t>被动响应</a:t>
            </a:r>
            <a:r>
              <a:rPr lang="zh-CN" altLang="en-US" sz="1400" dirty="0">
                <a:latin typeface="+mj-ea"/>
                <a:ea typeface="+mj-ea"/>
              </a:rPr>
              <a:t>的能力模型</a:t>
            </a:r>
            <a:r>
              <a:rPr lang="zh-CN" altLang="en-US" sz="1400" b="1" dirty="0">
                <a:solidFill>
                  <a:srgbClr val="C00000"/>
                </a:solidFill>
                <a:latin typeface="+mj-ea"/>
                <a:ea typeface="+mj-ea"/>
              </a:rPr>
              <a:t>已然失效</a:t>
            </a:r>
            <a:r>
              <a:rPr lang="zh-CN" altLang="en-US" sz="1400" dirty="0">
                <a:latin typeface="+mj-ea"/>
                <a:ea typeface="+mj-ea"/>
              </a:rPr>
              <a:t>。企业需要一种能够像生命体一样</a:t>
            </a:r>
            <a:r>
              <a:rPr lang="zh-CN" altLang="en-US" sz="1400" b="1" dirty="0">
                <a:solidFill>
                  <a:srgbClr val="3366FF"/>
                </a:solidFill>
                <a:latin typeface="+mj-ea"/>
                <a:ea typeface="+mj-ea"/>
              </a:rPr>
              <a:t>感知环境、智能决策、自我进化</a:t>
            </a:r>
            <a:r>
              <a:rPr lang="zh-CN" altLang="en-US" sz="1400" dirty="0">
                <a:latin typeface="+mj-ea"/>
                <a:ea typeface="+mj-ea"/>
              </a:rPr>
              <a:t>的全新能力内核。这种能力的本质，是让企业</a:t>
            </a:r>
            <a:r>
              <a:rPr lang="zh-CN" altLang="en-US" sz="1400" b="1" dirty="0">
                <a:solidFill>
                  <a:srgbClr val="C00000"/>
                </a:solidFill>
                <a:latin typeface="+mj-ea"/>
                <a:ea typeface="+mj-ea"/>
              </a:rPr>
              <a:t>从“被规则驱动”</a:t>
            </a:r>
            <a:r>
              <a:rPr lang="zh-CN" altLang="en-US" sz="1400" dirty="0">
                <a:latin typeface="+mj-ea"/>
                <a:ea typeface="+mj-ea"/>
              </a:rPr>
              <a:t>变为“</a:t>
            </a:r>
            <a:r>
              <a:rPr lang="zh-CN" altLang="en-US" sz="1400" b="1" dirty="0">
                <a:solidFill>
                  <a:srgbClr val="C00000"/>
                </a:solidFill>
                <a:latin typeface="+mj-ea"/>
                <a:ea typeface="+mj-ea"/>
              </a:rPr>
              <a:t>用算法治理</a:t>
            </a:r>
            <a:r>
              <a:rPr lang="zh-CN" altLang="en-US" sz="1400" dirty="0">
                <a:latin typeface="+mj-ea"/>
                <a:ea typeface="+mj-ea"/>
              </a:rPr>
              <a:t>”。</a:t>
            </a:r>
            <a:endParaRPr lang="en-US" altLang="zh-CN" sz="1400" dirty="0">
              <a:latin typeface="+mj-ea"/>
              <a:ea typeface="+mj-ea"/>
            </a:endParaRPr>
          </a:p>
          <a:p>
            <a:endParaRPr lang="zh-CN" altLang="en-US" sz="1400" dirty="0">
              <a:latin typeface="+mj-ea"/>
              <a:ea typeface="+mj-ea"/>
            </a:endParaRPr>
          </a:p>
        </p:txBody>
      </p:sp>
      <p:graphicFrame>
        <p:nvGraphicFramePr>
          <p:cNvPr id="7" name="表格 6">
            <a:extLst>
              <a:ext uri="{FF2B5EF4-FFF2-40B4-BE49-F238E27FC236}">
                <a16:creationId xmlns:a16="http://schemas.microsoft.com/office/drawing/2014/main" id="{1711CA67-BB7C-9013-6EFD-6FD0B52D4D94}"/>
              </a:ext>
            </a:extLst>
          </p:cNvPr>
          <p:cNvGraphicFramePr>
            <a:graphicFrameLocks noGrp="1"/>
          </p:cNvGraphicFramePr>
          <p:nvPr>
            <p:extLst>
              <p:ext uri="{D42A27DB-BD31-4B8C-83A1-F6EECF244321}">
                <p14:modId xmlns:p14="http://schemas.microsoft.com/office/powerpoint/2010/main" val="2407873052"/>
              </p:ext>
            </p:extLst>
          </p:nvPr>
        </p:nvGraphicFramePr>
        <p:xfrm>
          <a:off x="866346" y="1358900"/>
          <a:ext cx="9923410" cy="5260388"/>
        </p:xfrm>
        <a:graphic>
          <a:graphicData uri="http://schemas.openxmlformats.org/drawingml/2006/table">
            <a:tbl>
              <a:tblPr/>
              <a:tblGrid>
                <a:gridCol w="2354347">
                  <a:extLst>
                    <a:ext uri="{9D8B030D-6E8A-4147-A177-3AD203B41FA5}">
                      <a16:colId xmlns:a16="http://schemas.microsoft.com/office/drawing/2014/main" val="1504189345"/>
                    </a:ext>
                  </a:extLst>
                </a:gridCol>
                <a:gridCol w="1937975">
                  <a:extLst>
                    <a:ext uri="{9D8B030D-6E8A-4147-A177-3AD203B41FA5}">
                      <a16:colId xmlns:a16="http://schemas.microsoft.com/office/drawing/2014/main" val="1097352545"/>
                    </a:ext>
                  </a:extLst>
                </a:gridCol>
                <a:gridCol w="3868249">
                  <a:extLst>
                    <a:ext uri="{9D8B030D-6E8A-4147-A177-3AD203B41FA5}">
                      <a16:colId xmlns:a16="http://schemas.microsoft.com/office/drawing/2014/main" val="361501178"/>
                    </a:ext>
                  </a:extLst>
                </a:gridCol>
                <a:gridCol w="1762839">
                  <a:extLst>
                    <a:ext uri="{9D8B030D-6E8A-4147-A177-3AD203B41FA5}">
                      <a16:colId xmlns:a16="http://schemas.microsoft.com/office/drawing/2014/main" val="1992820064"/>
                    </a:ext>
                  </a:extLst>
                </a:gridCol>
              </a:tblGrid>
              <a:tr h="226653">
                <a:tc>
                  <a:txBody>
                    <a:bodyPr/>
                    <a:lstStyle/>
                    <a:p>
                      <a:r>
                        <a:rPr lang="zh-CN" altLang="en-US" sz="1200" b="1">
                          <a:solidFill>
                            <a:srgbClr val="FFFFFF"/>
                          </a:solidFill>
                          <a:latin typeface="+mj-ea"/>
                          <a:ea typeface="+mj-ea"/>
                        </a:rPr>
                        <a:t>阶段</a:t>
                      </a:r>
                    </a:p>
                  </a:txBody>
                  <a:tcPr marL="66717" marR="66717" marT="33359" marB="33359" anchor="ctr">
                    <a:lnL>
                      <a:solidFill>
                        <a:srgbClr val="1C3879"/>
                      </a:solidFill>
                      <a:prstDash val="solid"/>
                    </a:lnL>
                    <a:lnR>
                      <a:solidFill>
                        <a:srgbClr val="FFFFFF"/>
                      </a:solidFill>
                      <a:prstDash val="solid"/>
                    </a:lnR>
                    <a:lnT>
                      <a:solidFill>
                        <a:srgbClr val="1C3879"/>
                      </a:solidFill>
                      <a:prstDash val="solid"/>
                    </a:lnT>
                    <a:lnB>
                      <a:solidFill>
                        <a:srgbClr val="1C3879"/>
                      </a:solidFill>
                      <a:prstDash val="solid"/>
                    </a:lnB>
                    <a:solidFill>
                      <a:srgbClr val="1C3879"/>
                    </a:solidFill>
                  </a:tcPr>
                </a:tc>
                <a:tc>
                  <a:txBody>
                    <a:bodyPr/>
                    <a:lstStyle/>
                    <a:p>
                      <a:r>
                        <a:rPr lang="zh-CN" altLang="en-US" sz="1200" b="1" dirty="0">
                          <a:solidFill>
                            <a:srgbClr val="FFFFFF"/>
                          </a:solidFill>
                          <a:latin typeface="+mj-ea"/>
                          <a:ea typeface="+mj-ea"/>
                        </a:rPr>
                        <a:t>核心任务</a:t>
                      </a:r>
                    </a:p>
                  </a:txBody>
                  <a:tcPr marL="66717" marR="66717" marT="33359" marB="33359" anchor="ctr">
                    <a:lnL>
                      <a:solidFill>
                        <a:srgbClr val="FFFFFF"/>
                      </a:solidFill>
                      <a:prstDash val="solid"/>
                    </a:lnL>
                    <a:lnR>
                      <a:solidFill>
                        <a:srgbClr val="FFFFFF"/>
                      </a:solidFill>
                      <a:prstDash val="solid"/>
                    </a:lnR>
                    <a:lnT>
                      <a:solidFill>
                        <a:srgbClr val="1C3879"/>
                      </a:solidFill>
                      <a:prstDash val="solid"/>
                    </a:lnT>
                    <a:lnB>
                      <a:solidFill>
                        <a:srgbClr val="1C3879"/>
                      </a:solidFill>
                      <a:prstDash val="solid"/>
                    </a:lnB>
                    <a:solidFill>
                      <a:srgbClr val="1C3879"/>
                    </a:solidFill>
                  </a:tcPr>
                </a:tc>
                <a:tc>
                  <a:txBody>
                    <a:bodyPr/>
                    <a:lstStyle/>
                    <a:p>
                      <a:r>
                        <a:rPr lang="zh-CN" altLang="en-US" sz="1200" b="1">
                          <a:solidFill>
                            <a:srgbClr val="FFFFFF"/>
                          </a:solidFill>
                          <a:latin typeface="+mj-ea"/>
                          <a:ea typeface="+mj-ea"/>
                        </a:rPr>
                        <a:t>关键行动</a:t>
                      </a:r>
                    </a:p>
                  </a:txBody>
                  <a:tcPr marL="66717" marR="66717" marT="33359" marB="33359" anchor="ctr">
                    <a:lnL>
                      <a:solidFill>
                        <a:srgbClr val="FFFFFF"/>
                      </a:solidFill>
                      <a:prstDash val="solid"/>
                    </a:lnL>
                    <a:lnR>
                      <a:solidFill>
                        <a:srgbClr val="FFFFFF"/>
                      </a:solidFill>
                      <a:prstDash val="solid"/>
                    </a:lnR>
                    <a:lnT>
                      <a:solidFill>
                        <a:srgbClr val="1C3879"/>
                      </a:solidFill>
                      <a:prstDash val="solid"/>
                    </a:lnT>
                    <a:lnB>
                      <a:solidFill>
                        <a:srgbClr val="1C3879"/>
                      </a:solidFill>
                      <a:prstDash val="solid"/>
                    </a:lnB>
                    <a:solidFill>
                      <a:srgbClr val="1C3879"/>
                    </a:solidFill>
                  </a:tcPr>
                </a:tc>
                <a:tc>
                  <a:txBody>
                    <a:bodyPr/>
                    <a:lstStyle/>
                    <a:p>
                      <a:r>
                        <a:rPr lang="zh-CN" altLang="en-US" sz="1200" b="1">
                          <a:solidFill>
                            <a:srgbClr val="FFFFFF"/>
                          </a:solidFill>
                          <a:latin typeface="+mj-ea"/>
                          <a:ea typeface="+mj-ea"/>
                        </a:rPr>
                        <a:t>预期成果</a:t>
                      </a:r>
                    </a:p>
                  </a:txBody>
                  <a:tcPr marL="66717" marR="66717" marT="33359" marB="33359" anchor="ctr">
                    <a:lnL>
                      <a:solidFill>
                        <a:srgbClr val="FFFFFF"/>
                      </a:solidFill>
                      <a:prstDash val="solid"/>
                    </a:lnL>
                    <a:lnR>
                      <a:solidFill>
                        <a:srgbClr val="1C3879"/>
                      </a:solidFill>
                      <a:prstDash val="solid"/>
                    </a:lnR>
                    <a:lnT>
                      <a:solidFill>
                        <a:srgbClr val="1C3879"/>
                      </a:solidFill>
                      <a:prstDash val="solid"/>
                    </a:lnT>
                    <a:lnB>
                      <a:solidFill>
                        <a:srgbClr val="1C3879"/>
                      </a:solidFill>
                      <a:prstDash val="solid"/>
                    </a:lnB>
                    <a:solidFill>
                      <a:srgbClr val="1C3879"/>
                    </a:solidFill>
                  </a:tcPr>
                </a:tc>
                <a:extLst>
                  <a:ext uri="{0D108BD9-81ED-4DB2-BD59-A6C34878D82A}">
                    <a16:rowId xmlns:a16="http://schemas.microsoft.com/office/drawing/2014/main" val="1902435324"/>
                  </a:ext>
                </a:extLst>
              </a:tr>
              <a:tr h="1926552">
                <a:tc>
                  <a:txBody>
                    <a:bodyPr/>
                    <a:lstStyle/>
                    <a:p>
                      <a:r>
                        <a:rPr lang="en-US" altLang="zh-CN" sz="1200" b="1" dirty="0">
                          <a:solidFill>
                            <a:srgbClr val="000000"/>
                          </a:solidFill>
                          <a:latin typeface="+mj-ea"/>
                          <a:ea typeface="+mj-ea"/>
                        </a:rPr>
                        <a:t>1. </a:t>
                      </a:r>
                      <a:r>
                        <a:rPr lang="zh-CN" altLang="en-US" sz="1200" b="1" dirty="0">
                          <a:solidFill>
                            <a:srgbClr val="000000"/>
                          </a:solidFill>
                          <a:latin typeface="+mj-ea"/>
                          <a:ea typeface="+mj-ea"/>
                        </a:rPr>
                        <a:t>基因突变 </a:t>
                      </a:r>
                      <a:r>
                        <a:rPr lang="en-US" altLang="zh-CN" sz="1200" b="1" dirty="0">
                          <a:solidFill>
                            <a:srgbClr val="000000"/>
                          </a:solidFill>
                          <a:latin typeface="+mj-ea"/>
                          <a:ea typeface="+mj-ea"/>
                        </a:rPr>
                        <a:t>(</a:t>
                      </a:r>
                      <a:r>
                        <a:rPr lang="zh-CN" altLang="en-US" sz="1200" b="1" dirty="0">
                          <a:solidFill>
                            <a:srgbClr val="000000"/>
                          </a:solidFill>
                          <a:latin typeface="+mj-ea"/>
                          <a:ea typeface="+mj-ea"/>
                        </a:rPr>
                        <a:t>培育“能力奇点”</a:t>
                      </a:r>
                      <a:r>
                        <a:rPr lang="en-US" altLang="zh-CN" sz="1200" b="1" dirty="0">
                          <a:solidFill>
                            <a:srgbClr val="000000"/>
                          </a:solidFill>
                          <a:latin typeface="+mj-ea"/>
                          <a:ea typeface="+mj-ea"/>
                        </a:rPr>
                        <a:t>)</a:t>
                      </a:r>
                      <a:endParaRPr lang="zh-CN" altLang="en-US" sz="1200" b="1" dirty="0">
                        <a:solidFill>
                          <a:srgbClr val="000000"/>
                        </a:solidFill>
                        <a:latin typeface="+mj-ea"/>
                        <a:ea typeface="+mj-ea"/>
                      </a:endParaRPr>
                    </a:p>
                  </a:txBody>
                  <a:tcPr marL="66717" marR="66717" marT="33359" marB="33359" anchor="ctr">
                    <a:lnL>
                      <a:solidFill>
                        <a:srgbClr val="1C3879"/>
                      </a:solidFill>
                      <a:prstDash val="solid"/>
                    </a:lnL>
                    <a:lnR>
                      <a:solidFill>
                        <a:srgbClr val="1C3879"/>
                      </a:solidFill>
                      <a:prstDash val="solid"/>
                    </a:lnR>
                    <a:lnT>
                      <a:solidFill>
                        <a:srgbClr val="1C3879"/>
                      </a:solidFill>
                      <a:prstDash val="solid"/>
                    </a:lnT>
                    <a:lnB>
                      <a:solidFill>
                        <a:srgbClr val="FFFFFF"/>
                      </a:solidFill>
                      <a:prstDash val="solid"/>
                    </a:lnB>
                    <a:solidFill>
                      <a:srgbClr val="C5D5ED"/>
                    </a:solidFill>
                  </a:tcPr>
                </a:tc>
                <a:tc>
                  <a:txBody>
                    <a:bodyPr/>
                    <a:lstStyle/>
                    <a:p>
                      <a:pPr algn="l"/>
                      <a:r>
                        <a:rPr lang="zh-CN" altLang="en-US" sz="1100" b="1" dirty="0">
                          <a:solidFill>
                            <a:schemeClr val="tx1"/>
                          </a:solidFill>
                          <a:latin typeface="+mj-ea"/>
                          <a:ea typeface="+mj-ea"/>
                        </a:rPr>
                        <a:t>诱发根本性能力革新</a:t>
                      </a:r>
                      <a:endParaRPr lang="zh-CN" altLang="en-US" sz="1100" dirty="0">
                        <a:solidFill>
                          <a:schemeClr val="tx1"/>
                        </a:solidFill>
                        <a:latin typeface="+mj-ea"/>
                        <a:ea typeface="+mj-ea"/>
                      </a:endParaRPr>
                    </a:p>
                  </a:txBody>
                  <a:tcPr marL="66717" marR="66717" marT="33359" marB="33359" anchor="ctr">
                    <a:lnL>
                      <a:solidFill>
                        <a:srgbClr val="1C3879"/>
                      </a:solidFill>
                      <a:prstDash val="solid"/>
                    </a:lnL>
                    <a:lnR>
                      <a:solidFill>
                        <a:srgbClr val="FFFFFF"/>
                      </a:solidFill>
                      <a:prstDash val="solid"/>
                    </a:lnR>
                    <a:lnT>
                      <a:solidFill>
                        <a:srgbClr val="1C3879"/>
                      </a:solidFill>
                      <a:prstDash val="solid"/>
                    </a:lnT>
                    <a:lnB>
                      <a:solidFill>
                        <a:srgbClr val="FFFFFF"/>
                      </a:solidFill>
                      <a:prstDash val="solid"/>
                    </a:lnB>
                    <a:noFill/>
                  </a:tcPr>
                </a:tc>
                <a:tc>
                  <a:txBody>
                    <a:bodyPr/>
                    <a:lstStyle/>
                    <a:p>
                      <a:pPr algn="l"/>
                      <a:r>
                        <a:rPr lang="zh-CN" altLang="en-US" sz="1100" b="0" i="0" dirty="0">
                          <a:effectLst/>
                          <a:latin typeface="+mj-ea"/>
                          <a:ea typeface="+mj-ea"/>
                        </a:rPr>
                        <a:t>鉴于‘三位一体’能力的极度稀缺性，传统培养模式无法满足</a:t>
                      </a:r>
                      <a:r>
                        <a:rPr lang="zh-CN" altLang="en-US" sz="1100" b="1" i="0" dirty="0">
                          <a:solidFill>
                            <a:srgbClr val="C00000"/>
                          </a:solidFill>
                          <a:effectLst/>
                          <a:latin typeface="+mj-ea"/>
                          <a:ea typeface="+mj-ea"/>
                        </a:rPr>
                        <a:t>紧迫的变革需求</a:t>
                      </a:r>
                      <a:r>
                        <a:rPr lang="zh-CN" altLang="en-US" sz="1100" b="0" i="0" dirty="0">
                          <a:effectLst/>
                          <a:latin typeface="+mj-ea"/>
                          <a:ea typeface="+mj-ea"/>
                        </a:rPr>
                        <a:t>，必须采取非连续性的</a:t>
                      </a:r>
                      <a:r>
                        <a:rPr lang="zh-CN" altLang="en-US" sz="1100" b="1" i="0" dirty="0">
                          <a:solidFill>
                            <a:srgbClr val="3366FF"/>
                          </a:solidFill>
                          <a:effectLst/>
                          <a:latin typeface="+mj-ea"/>
                          <a:ea typeface="+mj-ea"/>
                        </a:rPr>
                        <a:t>‘基因突变’策略：</a:t>
                      </a:r>
                      <a:endParaRPr lang="en-US" altLang="zh-CN" sz="1100" b="1" i="0" dirty="0">
                        <a:solidFill>
                          <a:srgbClr val="3366FF"/>
                        </a:solidFill>
                        <a:effectLst/>
                        <a:latin typeface="+mj-ea"/>
                        <a:ea typeface="+mj-ea"/>
                      </a:endParaRPr>
                    </a:p>
                    <a:p>
                      <a:pPr lvl="1" algn="l"/>
                      <a:r>
                        <a:rPr lang="en-US" altLang="zh-CN" sz="1100" dirty="0">
                          <a:solidFill>
                            <a:schemeClr val="tx1"/>
                          </a:solidFill>
                          <a:latin typeface="+mj-ea"/>
                          <a:ea typeface="+mj-ea"/>
                        </a:rPr>
                        <a:t>-</a:t>
                      </a:r>
                      <a:r>
                        <a:rPr lang="zh-CN" altLang="en-US" sz="1100" b="1" dirty="0">
                          <a:solidFill>
                            <a:schemeClr val="tx1"/>
                          </a:solidFill>
                          <a:latin typeface="+mj-ea"/>
                          <a:ea typeface="+mj-ea"/>
                        </a:rPr>
                        <a:t>选定突破点</a:t>
                      </a:r>
                      <a:r>
                        <a:rPr lang="zh-CN" altLang="en-US" sz="1100" dirty="0">
                          <a:solidFill>
                            <a:schemeClr val="tx1"/>
                          </a:solidFill>
                          <a:latin typeface="+mj-ea"/>
                          <a:ea typeface="+mj-ea"/>
                        </a:rPr>
                        <a:t>：在关键业务场景（如需求预测、库存优化）引入新的算法内核。</a:t>
                      </a:r>
                      <a:br>
                        <a:rPr lang="zh-CN" altLang="en-US" sz="1100" dirty="0">
                          <a:solidFill>
                            <a:schemeClr val="tx1"/>
                          </a:solidFill>
                          <a:latin typeface="+mj-ea"/>
                          <a:ea typeface="+mj-ea"/>
                        </a:rPr>
                      </a:br>
                      <a:r>
                        <a:rPr lang="en-US" altLang="zh-CN" sz="1100" dirty="0">
                          <a:solidFill>
                            <a:schemeClr val="tx1"/>
                          </a:solidFill>
                          <a:latin typeface="+mj-ea"/>
                          <a:ea typeface="+mj-ea"/>
                        </a:rPr>
                        <a:t>- </a:t>
                      </a:r>
                      <a:r>
                        <a:rPr lang="zh-CN" altLang="en-US" sz="1100" b="1" dirty="0">
                          <a:solidFill>
                            <a:schemeClr val="tx1"/>
                          </a:solidFill>
                          <a:latin typeface="+mj-ea"/>
                          <a:ea typeface="+mj-ea"/>
                        </a:rPr>
                        <a:t>组建精英团队</a:t>
                      </a:r>
                      <a:r>
                        <a:rPr lang="zh-CN" altLang="en-US" sz="1100" dirty="0">
                          <a:solidFill>
                            <a:schemeClr val="tx1"/>
                          </a:solidFill>
                          <a:latin typeface="+mj-ea"/>
                          <a:ea typeface="+mj-ea"/>
                        </a:rPr>
                        <a:t>：由具备“三位一体”能力的“总设计师”领衔，进行闭环实践。</a:t>
                      </a:r>
                      <a:br>
                        <a:rPr lang="zh-CN" altLang="en-US" sz="1100" dirty="0">
                          <a:solidFill>
                            <a:schemeClr val="tx1"/>
                          </a:solidFill>
                          <a:latin typeface="+mj-ea"/>
                          <a:ea typeface="+mj-ea"/>
                        </a:rPr>
                      </a:br>
                      <a:r>
                        <a:rPr lang="en-US" altLang="zh-CN" sz="1100" dirty="0">
                          <a:solidFill>
                            <a:schemeClr val="tx1"/>
                          </a:solidFill>
                          <a:latin typeface="+mj-ea"/>
                          <a:ea typeface="+mj-ea"/>
                        </a:rPr>
                        <a:t>- </a:t>
                      </a:r>
                      <a:r>
                        <a:rPr lang="zh-CN" altLang="en-US" sz="1100" b="1" dirty="0">
                          <a:solidFill>
                            <a:schemeClr val="tx1"/>
                          </a:solidFill>
                          <a:latin typeface="+mj-ea"/>
                          <a:ea typeface="+mj-ea"/>
                        </a:rPr>
                        <a:t>重构决策逻辑</a:t>
                      </a:r>
                      <a:r>
                        <a:rPr lang="zh-CN" altLang="en-US" sz="1100" dirty="0">
                          <a:solidFill>
                            <a:schemeClr val="tx1"/>
                          </a:solidFill>
                          <a:latin typeface="+mj-ea"/>
                          <a:ea typeface="+mj-ea"/>
                        </a:rPr>
                        <a:t>：将管理经验转化为可迭代、可优化的</a:t>
                      </a:r>
                      <a:r>
                        <a:rPr lang="zh-CN" altLang="en-US" sz="1100" b="1" dirty="0">
                          <a:solidFill>
                            <a:schemeClr val="tx1"/>
                          </a:solidFill>
                          <a:latin typeface="+mj-ea"/>
                          <a:ea typeface="+mj-ea"/>
                        </a:rPr>
                        <a:t>数据模型与业务算法</a:t>
                      </a:r>
                      <a:r>
                        <a:rPr lang="zh-CN" altLang="en-US" sz="1100" dirty="0">
                          <a:solidFill>
                            <a:schemeClr val="tx1"/>
                          </a:solidFill>
                          <a:latin typeface="+mj-ea"/>
                          <a:ea typeface="+mj-ea"/>
                        </a:rPr>
                        <a:t>。</a:t>
                      </a:r>
                    </a:p>
                  </a:txBody>
                  <a:tcPr marL="66717" marR="66717" marT="33359" marB="33359" anchor="ctr">
                    <a:lnL>
                      <a:solidFill>
                        <a:srgbClr val="FFFFFF"/>
                      </a:solidFill>
                      <a:prstDash val="solid"/>
                    </a:lnL>
                    <a:lnR>
                      <a:solidFill>
                        <a:srgbClr val="FFFFFF"/>
                      </a:solidFill>
                      <a:prstDash val="solid"/>
                    </a:lnR>
                    <a:lnT>
                      <a:solidFill>
                        <a:srgbClr val="1C3879"/>
                      </a:solidFill>
                      <a:prstDash val="solid"/>
                    </a:lnT>
                    <a:lnB>
                      <a:solidFill>
                        <a:srgbClr val="FFFFFF"/>
                      </a:solidFill>
                      <a:prstDash val="solid"/>
                    </a:lnB>
                    <a:noFill/>
                  </a:tcPr>
                </a:tc>
                <a:tc>
                  <a:txBody>
                    <a:bodyPr/>
                    <a:lstStyle/>
                    <a:p>
                      <a:pPr algn="l"/>
                      <a:r>
                        <a:rPr lang="zh-CN" altLang="en-US" sz="1100" dirty="0">
                          <a:solidFill>
                            <a:schemeClr val="tx1"/>
                          </a:solidFill>
                          <a:latin typeface="+mj-ea"/>
                          <a:ea typeface="+mj-ea"/>
                        </a:rPr>
                        <a:t>打造组织内的“能力样板间”，验证新模式的可行性与价值，完成核心能力的</a:t>
                      </a:r>
                      <a:r>
                        <a:rPr lang="zh-CN" altLang="en-US" sz="1100" b="1" dirty="0">
                          <a:solidFill>
                            <a:schemeClr val="tx1"/>
                          </a:solidFill>
                          <a:latin typeface="+mj-ea"/>
                          <a:ea typeface="+mj-ea"/>
                        </a:rPr>
                        <a:t>非连续性跃迁</a:t>
                      </a:r>
                      <a:r>
                        <a:rPr lang="zh-CN" altLang="en-US" sz="1100" dirty="0">
                          <a:solidFill>
                            <a:schemeClr val="tx1"/>
                          </a:solidFill>
                          <a:latin typeface="+mj-ea"/>
                          <a:ea typeface="+mj-ea"/>
                        </a:rPr>
                        <a:t>。</a:t>
                      </a:r>
                    </a:p>
                  </a:txBody>
                  <a:tcPr marL="66717" marR="66717" marT="33359" marB="33359" anchor="ctr">
                    <a:lnL>
                      <a:solidFill>
                        <a:srgbClr val="FFFFFF"/>
                      </a:solidFill>
                      <a:prstDash val="solid"/>
                    </a:lnL>
                    <a:lnR>
                      <a:solidFill>
                        <a:srgbClr val="1C3879"/>
                      </a:solidFill>
                      <a:prstDash val="solid"/>
                    </a:lnR>
                    <a:lnT>
                      <a:solidFill>
                        <a:srgbClr val="1C3879"/>
                      </a:solidFill>
                      <a:prstDash val="solid"/>
                    </a:lnT>
                    <a:lnB>
                      <a:solidFill>
                        <a:srgbClr val="FFFFFF"/>
                      </a:solidFill>
                      <a:prstDash val="solid"/>
                    </a:lnB>
                    <a:noFill/>
                  </a:tcPr>
                </a:tc>
                <a:extLst>
                  <a:ext uri="{0D108BD9-81ED-4DB2-BD59-A6C34878D82A}">
                    <a16:rowId xmlns:a16="http://schemas.microsoft.com/office/drawing/2014/main" val="2193565830"/>
                  </a:ext>
                </a:extLst>
              </a:tr>
              <a:tr h="2619455">
                <a:tc>
                  <a:txBody>
                    <a:bodyPr/>
                    <a:lstStyle/>
                    <a:p>
                      <a:r>
                        <a:rPr lang="en-US" altLang="zh-CN" sz="1200" b="1" dirty="0">
                          <a:solidFill>
                            <a:srgbClr val="000000"/>
                          </a:solidFill>
                          <a:latin typeface="+mj-ea"/>
                          <a:ea typeface="+mj-ea"/>
                        </a:rPr>
                        <a:t>2. </a:t>
                      </a:r>
                      <a:r>
                        <a:rPr lang="zh-CN" altLang="en-US" sz="1200" b="1" dirty="0">
                          <a:solidFill>
                            <a:srgbClr val="000000"/>
                          </a:solidFill>
                          <a:latin typeface="+mj-ea"/>
                          <a:ea typeface="+mj-ea"/>
                        </a:rPr>
                        <a:t>有机扩散 </a:t>
                      </a:r>
                      <a:r>
                        <a:rPr lang="en-US" altLang="zh-CN" sz="1200" b="1" dirty="0">
                          <a:solidFill>
                            <a:srgbClr val="000000"/>
                          </a:solidFill>
                          <a:latin typeface="+mj-ea"/>
                          <a:ea typeface="+mj-ea"/>
                        </a:rPr>
                        <a:t>(</a:t>
                      </a:r>
                      <a:r>
                        <a:rPr lang="zh-CN" altLang="en-US" sz="1200" b="1" dirty="0">
                          <a:solidFill>
                            <a:srgbClr val="000000"/>
                          </a:solidFill>
                          <a:latin typeface="+mj-ea"/>
                          <a:ea typeface="+mj-ea"/>
                        </a:rPr>
                        <a:t>实现整体跃迁</a:t>
                      </a:r>
                      <a:r>
                        <a:rPr lang="en-US" altLang="zh-CN" sz="1200" b="1" dirty="0">
                          <a:solidFill>
                            <a:srgbClr val="000000"/>
                          </a:solidFill>
                          <a:latin typeface="+mj-ea"/>
                          <a:ea typeface="+mj-ea"/>
                        </a:rPr>
                        <a:t>)</a:t>
                      </a:r>
                      <a:endParaRPr lang="zh-CN" altLang="en-US" sz="1200" b="1" dirty="0">
                        <a:solidFill>
                          <a:srgbClr val="000000"/>
                        </a:solidFill>
                        <a:latin typeface="+mj-ea"/>
                        <a:ea typeface="+mj-ea"/>
                      </a:endParaRPr>
                    </a:p>
                  </a:txBody>
                  <a:tcPr marL="66717" marR="66717" marT="33359" marB="33359" anchor="ctr">
                    <a:lnL>
                      <a:solidFill>
                        <a:srgbClr val="1C3879"/>
                      </a:solidFill>
                      <a:prstDash val="solid"/>
                    </a:lnL>
                    <a:lnR>
                      <a:solidFill>
                        <a:srgbClr val="1C3879"/>
                      </a:solidFill>
                      <a:prstDash val="solid"/>
                    </a:lnR>
                    <a:lnT>
                      <a:solidFill>
                        <a:srgbClr val="FFFFFF"/>
                      </a:solidFill>
                      <a:prstDash val="solid"/>
                    </a:lnT>
                    <a:lnB>
                      <a:solidFill>
                        <a:srgbClr val="1C3879"/>
                      </a:solidFill>
                      <a:prstDash val="solid"/>
                    </a:lnB>
                    <a:solidFill>
                      <a:srgbClr val="C5D5ED"/>
                    </a:solidFill>
                  </a:tcPr>
                </a:tc>
                <a:tc>
                  <a:txBody>
                    <a:bodyPr/>
                    <a:lstStyle/>
                    <a:p>
                      <a:pPr algn="l"/>
                      <a:r>
                        <a:rPr lang="zh-CN" altLang="en-US" sz="1100" b="1" dirty="0">
                          <a:solidFill>
                            <a:schemeClr val="tx1"/>
                          </a:solidFill>
                          <a:latin typeface="+mj-ea"/>
                          <a:ea typeface="+mj-ea"/>
                        </a:rPr>
                        <a:t>将突变能力规模化复制</a:t>
                      </a:r>
                      <a:endParaRPr lang="zh-CN" altLang="en-US" sz="1100" dirty="0">
                        <a:solidFill>
                          <a:schemeClr val="tx1"/>
                        </a:solidFill>
                        <a:latin typeface="+mj-ea"/>
                        <a:ea typeface="+mj-ea"/>
                      </a:endParaRPr>
                    </a:p>
                  </a:txBody>
                  <a:tcPr marL="66717" marR="66717" marT="33359" marB="33359" anchor="ctr">
                    <a:lnL>
                      <a:solidFill>
                        <a:srgbClr val="1C3879"/>
                      </a:solidFill>
                      <a:prstDash val="solid"/>
                    </a:lnL>
                    <a:lnR>
                      <a:solidFill>
                        <a:srgbClr val="FFFFFF"/>
                      </a:solidFill>
                      <a:prstDash val="solid"/>
                    </a:lnR>
                    <a:lnT>
                      <a:solidFill>
                        <a:srgbClr val="FFFFFF"/>
                      </a:solidFill>
                      <a:prstDash val="solid"/>
                    </a:lnT>
                    <a:lnB>
                      <a:solidFill>
                        <a:srgbClr val="1C3879"/>
                      </a:solidFill>
                      <a:prstDash val="solid"/>
                    </a:lnB>
                    <a:noFill/>
                  </a:tcPr>
                </a:tc>
                <a:tc>
                  <a:txBody>
                    <a:bodyPr/>
                    <a:lstStyle/>
                    <a:p>
                      <a:pPr marL="171450" indent="-171450">
                        <a:buFontTx/>
                        <a:buChar char="-"/>
                      </a:pPr>
                      <a:r>
                        <a:rPr lang="zh-CN" altLang="en-US" sz="1100" b="1" dirty="0">
                          <a:solidFill>
                            <a:schemeClr val="tx1"/>
                          </a:solidFill>
                          <a:latin typeface="+mj-ea"/>
                          <a:ea typeface="+mj-ea"/>
                        </a:rPr>
                        <a:t>产品化封装</a:t>
                      </a:r>
                      <a:r>
                        <a:rPr lang="zh-CN" altLang="en-US" sz="1100" dirty="0">
                          <a:solidFill>
                            <a:schemeClr val="tx1"/>
                          </a:solidFill>
                          <a:latin typeface="+mj-ea"/>
                          <a:ea typeface="+mj-ea"/>
                        </a:rPr>
                        <a:t>：将成功的算法与实践沉淀为</a:t>
                      </a:r>
                      <a:r>
                        <a:rPr lang="zh-CN" altLang="en-US" sz="1100" b="1" dirty="0">
                          <a:solidFill>
                            <a:schemeClr val="tx1"/>
                          </a:solidFill>
                          <a:latin typeface="+mj-ea"/>
                          <a:ea typeface="+mj-ea"/>
                        </a:rPr>
                        <a:t>可复用的工具、平台与方法论</a:t>
                      </a:r>
                      <a:r>
                        <a:rPr lang="zh-CN" altLang="en-US" sz="1100" dirty="0">
                          <a:solidFill>
                            <a:schemeClr val="tx1"/>
                          </a:solidFill>
                          <a:latin typeface="+mj-ea"/>
                          <a:ea typeface="+mj-ea"/>
                        </a:rPr>
                        <a:t>（如供应链控制塔）。</a:t>
                      </a:r>
                      <a:endParaRPr lang="en-US" altLang="zh-CN" sz="1100" dirty="0">
                        <a:solidFill>
                          <a:schemeClr val="tx1"/>
                        </a:solidFill>
                        <a:latin typeface="+mj-ea"/>
                        <a:ea typeface="+mj-ea"/>
                      </a:endParaRPr>
                    </a:p>
                    <a:p>
                      <a:pPr marL="171450" indent="-171450">
                        <a:buFontTx/>
                        <a:buChar char="-"/>
                      </a:pPr>
                      <a:r>
                        <a:rPr lang="en-US" altLang="zh-CN" sz="1100" dirty="0">
                          <a:solidFill>
                            <a:schemeClr val="tx1"/>
                          </a:solidFill>
                          <a:latin typeface="+mj-ea"/>
                          <a:ea typeface="+mj-ea"/>
                        </a:rPr>
                        <a:t> </a:t>
                      </a:r>
                      <a:r>
                        <a:rPr lang="zh-CN" altLang="en-US" sz="1100" b="1" dirty="0">
                          <a:solidFill>
                            <a:schemeClr val="tx1"/>
                          </a:solidFill>
                          <a:latin typeface="+mj-ea"/>
                          <a:ea typeface="+mj-ea"/>
                        </a:rPr>
                        <a:t>体系化赋能</a:t>
                      </a:r>
                      <a:r>
                        <a:rPr lang="zh-CN" altLang="en-US" sz="1100" dirty="0">
                          <a:solidFill>
                            <a:schemeClr val="tx1"/>
                          </a:solidFill>
                          <a:latin typeface="+mj-ea"/>
                          <a:ea typeface="+mj-ea"/>
                        </a:rPr>
                        <a:t>：通过新的流程、组织和绩效体系，将新能力植入组织运营的“毛细血管”。</a:t>
                      </a:r>
                      <a:endParaRPr lang="en-US" altLang="zh-CN" sz="1100" dirty="0">
                        <a:solidFill>
                          <a:schemeClr val="tx1"/>
                        </a:solidFill>
                        <a:latin typeface="+mj-ea"/>
                        <a:ea typeface="+mj-ea"/>
                      </a:endParaRPr>
                    </a:p>
                    <a:p>
                      <a:pPr marL="171450" indent="-171450">
                        <a:buFontTx/>
                        <a:buChar char="-"/>
                      </a:pPr>
                      <a:r>
                        <a:rPr lang="zh-CN" altLang="en-US" sz="1100" b="1" i="0" dirty="0">
                          <a:effectLst/>
                          <a:latin typeface="+mj-ea"/>
                          <a:ea typeface="+mj-ea"/>
                        </a:rPr>
                        <a:t>文化浸润与机制保障</a:t>
                      </a:r>
                      <a:r>
                        <a:rPr lang="zh-CN" altLang="en-US" sz="1100" dirty="0">
                          <a:solidFill>
                            <a:schemeClr val="tx1"/>
                          </a:solidFill>
                          <a:latin typeface="+mj-ea"/>
                          <a:ea typeface="+mj-ea"/>
                        </a:rPr>
                        <a:t>：</a:t>
                      </a:r>
                      <a:endParaRPr lang="en-US" altLang="zh-CN" sz="1100" dirty="0">
                        <a:solidFill>
                          <a:schemeClr val="tx1"/>
                        </a:solidFill>
                        <a:latin typeface="+mj-ea"/>
                        <a:ea typeface="+mj-ea"/>
                      </a:endParaRPr>
                    </a:p>
                    <a:p>
                      <a:pPr marL="628617" lvl="1" indent="-171450">
                        <a:buFont typeface="Arial" panose="020B0604020202020204" pitchFamily="34" charset="0"/>
                        <a:buChar char="•"/>
                      </a:pPr>
                      <a:r>
                        <a:rPr lang="zh-CN" altLang="en-US" sz="1100" b="1" i="0" kern="1200" dirty="0">
                          <a:solidFill>
                            <a:schemeClr val="tx1"/>
                          </a:solidFill>
                          <a:effectLst/>
                          <a:latin typeface="+mj-ea"/>
                          <a:ea typeface="+mj-ea"/>
                          <a:cs typeface="+mn-cs"/>
                        </a:rPr>
                        <a:t>树立内部标杆</a:t>
                      </a:r>
                      <a:r>
                        <a:rPr lang="zh-CN" altLang="en-US" sz="1100" b="0" i="0" kern="1200" dirty="0">
                          <a:solidFill>
                            <a:schemeClr val="tx1"/>
                          </a:solidFill>
                          <a:effectLst/>
                          <a:latin typeface="+mj-ea"/>
                          <a:ea typeface="+mj-ea"/>
                          <a:cs typeface="+mn-cs"/>
                        </a:rPr>
                        <a:t>：宣传由“突变”团队取得的成功及其背后的工作方法。</a:t>
                      </a:r>
                    </a:p>
                    <a:p>
                      <a:pPr marL="628617" lvl="1" indent="-171450">
                        <a:buFont typeface="Arial" panose="020B0604020202020204" pitchFamily="34" charset="0"/>
                        <a:buChar char="•"/>
                      </a:pPr>
                      <a:r>
                        <a:rPr lang="zh-CN" altLang="en-US" sz="1100" b="1" i="0" kern="1200" dirty="0">
                          <a:solidFill>
                            <a:schemeClr val="tx1"/>
                          </a:solidFill>
                          <a:effectLst/>
                          <a:latin typeface="+mj-ea"/>
                          <a:ea typeface="+mj-ea"/>
                          <a:cs typeface="+mn-cs"/>
                        </a:rPr>
                        <a:t>组织分享与研讨</a:t>
                      </a:r>
                      <a:r>
                        <a:rPr lang="zh-CN" altLang="en-US" sz="1100" b="0" i="0" kern="1200" dirty="0">
                          <a:solidFill>
                            <a:schemeClr val="tx1"/>
                          </a:solidFill>
                          <a:effectLst/>
                          <a:latin typeface="+mj-ea"/>
                          <a:ea typeface="+mj-ea"/>
                          <a:cs typeface="+mn-cs"/>
                        </a:rPr>
                        <a:t>：让“突变”团队的核心成员定期分享经验，回答疑问。</a:t>
                      </a:r>
                    </a:p>
                    <a:p>
                      <a:pPr marL="628617" lvl="1" indent="-171450">
                        <a:buFont typeface="Arial" panose="020B0604020202020204" pitchFamily="34" charset="0"/>
                        <a:buChar char="•"/>
                      </a:pPr>
                      <a:r>
                        <a:rPr lang="zh-CN" altLang="en-US" sz="1100" b="1" i="0" kern="1200" dirty="0">
                          <a:solidFill>
                            <a:schemeClr val="tx1"/>
                          </a:solidFill>
                          <a:effectLst/>
                          <a:latin typeface="+mj-ea"/>
                          <a:ea typeface="+mj-ea"/>
                          <a:cs typeface="+mn-cs"/>
                        </a:rPr>
                        <a:t>领导者持续背书</a:t>
                      </a:r>
                      <a:r>
                        <a:rPr lang="zh-CN" altLang="en-US" sz="1100" b="0" i="0" kern="1200" dirty="0">
                          <a:solidFill>
                            <a:schemeClr val="tx1"/>
                          </a:solidFill>
                          <a:effectLst/>
                          <a:latin typeface="+mj-ea"/>
                          <a:ea typeface="+mj-ea"/>
                          <a:cs typeface="+mn-cs"/>
                        </a:rPr>
                        <a:t>：高层管理者在各种场合不断重复和强化新理念的价值</a:t>
                      </a:r>
                      <a:r>
                        <a:rPr lang="zh-CN" altLang="en-US" sz="1100" dirty="0">
                          <a:solidFill>
                            <a:schemeClr val="tx1"/>
                          </a:solidFill>
                          <a:latin typeface="+mj-ea"/>
                          <a:ea typeface="+mj-ea"/>
                        </a:rPr>
                        <a:t>。</a:t>
                      </a:r>
                      <a:endParaRPr lang="en-US" altLang="zh-CN" sz="1100" dirty="0">
                        <a:solidFill>
                          <a:schemeClr val="tx1"/>
                        </a:solidFill>
                        <a:latin typeface="+mj-ea"/>
                        <a:ea typeface="+mj-ea"/>
                      </a:endParaRPr>
                    </a:p>
                    <a:p>
                      <a:pPr marL="628617" lvl="1" indent="-171450">
                        <a:buFont typeface="Arial" panose="020B0604020202020204" pitchFamily="34" charset="0"/>
                        <a:buChar char="•"/>
                      </a:pPr>
                      <a:r>
                        <a:rPr lang="zh-CN" altLang="en-US" sz="1100" b="1" dirty="0">
                          <a:solidFill>
                            <a:schemeClr val="tx1"/>
                          </a:solidFill>
                          <a:latin typeface="+mj-ea"/>
                          <a:ea typeface="+mj-ea"/>
                        </a:rPr>
                        <a:t>流程机制：</a:t>
                      </a:r>
                      <a:r>
                        <a:rPr lang="zh-CN" altLang="en-US" sz="1100" dirty="0">
                          <a:solidFill>
                            <a:schemeClr val="tx1"/>
                          </a:solidFill>
                          <a:latin typeface="+mj-ea"/>
                          <a:ea typeface="+mj-ea"/>
                        </a:rPr>
                        <a:t>将验证成功的“数据模型”和“业务算法”固化为新的标准操作流程。</a:t>
                      </a:r>
                    </a:p>
                    <a:p>
                      <a:pPr marL="628617" lvl="1" indent="-171450">
                        <a:buFont typeface="Arial" panose="020B0604020202020204" pitchFamily="34" charset="0"/>
                        <a:buChar char="•"/>
                      </a:pPr>
                      <a:r>
                        <a:rPr lang="zh-CN" altLang="en-US" sz="1100" b="1" dirty="0">
                          <a:solidFill>
                            <a:schemeClr val="tx1"/>
                          </a:solidFill>
                          <a:latin typeface="+mj-ea"/>
                          <a:ea typeface="+mj-ea"/>
                        </a:rPr>
                        <a:t>组织机制：</a:t>
                      </a:r>
                      <a:r>
                        <a:rPr lang="zh-CN" altLang="en-US" sz="1100" dirty="0">
                          <a:solidFill>
                            <a:schemeClr val="tx1"/>
                          </a:solidFill>
                          <a:latin typeface="+mj-ea"/>
                          <a:ea typeface="+mj-ea"/>
                        </a:rPr>
                        <a:t>考虑设立新的角色或团队如数字化转型团队并明确其在协同中的职责。</a:t>
                      </a:r>
                    </a:p>
                    <a:p>
                      <a:pPr marL="628617" lvl="1" indent="-171450">
                        <a:buFont typeface="Arial" panose="020B0604020202020204" pitchFamily="34" charset="0"/>
                        <a:buChar char="•"/>
                      </a:pPr>
                      <a:r>
                        <a:rPr lang="zh-CN" altLang="en-US" sz="1100" b="1" dirty="0">
                          <a:solidFill>
                            <a:schemeClr val="tx1"/>
                          </a:solidFill>
                          <a:latin typeface="+mj-ea"/>
                          <a:ea typeface="+mj-ea"/>
                        </a:rPr>
                        <a:t>绩效机制</a:t>
                      </a:r>
                      <a:r>
                        <a:rPr lang="zh-CN" altLang="en-US" sz="1100" dirty="0">
                          <a:solidFill>
                            <a:schemeClr val="tx1"/>
                          </a:solidFill>
                          <a:latin typeface="+mj-ea"/>
                          <a:ea typeface="+mj-ea"/>
                        </a:rPr>
                        <a:t>：将新能力的应用效果（如算法决策的准确性、对业务目标的贡献度）纳入关键绩效指标进行衡量</a:t>
                      </a:r>
                    </a:p>
                  </a:txBody>
                  <a:tcPr marL="66717" marR="66717" marT="33359" marB="33359" anchor="ctr">
                    <a:lnL>
                      <a:solidFill>
                        <a:srgbClr val="FFFFFF"/>
                      </a:solidFill>
                      <a:prstDash val="solid"/>
                    </a:lnL>
                    <a:lnR>
                      <a:solidFill>
                        <a:srgbClr val="FFFFFF"/>
                      </a:solidFill>
                      <a:prstDash val="solid"/>
                    </a:lnR>
                    <a:lnT>
                      <a:solidFill>
                        <a:srgbClr val="FFFFFF"/>
                      </a:solidFill>
                      <a:prstDash val="solid"/>
                    </a:lnT>
                    <a:lnB>
                      <a:solidFill>
                        <a:srgbClr val="1C3879"/>
                      </a:solidFill>
                      <a:prstDash val="solid"/>
                    </a:lnB>
                    <a:noFill/>
                  </a:tcPr>
                </a:tc>
                <a:tc>
                  <a:txBody>
                    <a:bodyPr/>
                    <a:lstStyle/>
                    <a:p>
                      <a:pPr algn="l"/>
                      <a:r>
                        <a:rPr lang="zh-CN" altLang="en-US" sz="1100" dirty="0">
                          <a:solidFill>
                            <a:schemeClr val="tx1"/>
                          </a:solidFill>
                          <a:latin typeface="+mj-ea"/>
                          <a:ea typeface="+mj-ea"/>
                        </a:rPr>
                        <a:t>使局部成功的“优质基因”取代旧有模式，实现组织在</a:t>
                      </a:r>
                      <a:r>
                        <a:rPr lang="zh-CN" altLang="en-US" sz="1100" b="1" dirty="0">
                          <a:solidFill>
                            <a:schemeClr val="tx1"/>
                          </a:solidFill>
                          <a:latin typeface="+mj-ea"/>
                          <a:ea typeface="+mj-ea"/>
                        </a:rPr>
                        <a:t>认知、行为与绩效</a:t>
                      </a:r>
                      <a:r>
                        <a:rPr lang="zh-CN" altLang="en-US" sz="1100" dirty="0">
                          <a:solidFill>
                            <a:schemeClr val="tx1"/>
                          </a:solidFill>
                          <a:latin typeface="+mj-ea"/>
                          <a:ea typeface="+mj-ea"/>
                        </a:rPr>
                        <a:t>上的整体跃迁，构建</a:t>
                      </a:r>
                      <a:r>
                        <a:rPr lang="zh-CN" altLang="en-US" sz="1100" b="1" dirty="0">
                          <a:solidFill>
                            <a:schemeClr val="tx1"/>
                          </a:solidFill>
                          <a:latin typeface="+mj-ea"/>
                          <a:ea typeface="+mj-ea"/>
                        </a:rPr>
                        <a:t>自适应</a:t>
                      </a:r>
                      <a:r>
                        <a:rPr lang="zh-CN" altLang="en-US" sz="1100" dirty="0">
                          <a:solidFill>
                            <a:schemeClr val="tx1"/>
                          </a:solidFill>
                          <a:latin typeface="+mj-ea"/>
                          <a:ea typeface="+mj-ea"/>
                        </a:rPr>
                        <a:t>的供应链体系。</a:t>
                      </a:r>
                    </a:p>
                  </a:txBody>
                  <a:tcPr marL="66717" marR="66717" marT="33359" marB="33359" anchor="ctr">
                    <a:lnL>
                      <a:solidFill>
                        <a:srgbClr val="FFFFFF"/>
                      </a:solidFill>
                      <a:prstDash val="solid"/>
                    </a:lnL>
                    <a:lnR>
                      <a:solidFill>
                        <a:srgbClr val="1C3879"/>
                      </a:solidFill>
                      <a:prstDash val="solid"/>
                    </a:lnR>
                    <a:lnT>
                      <a:solidFill>
                        <a:srgbClr val="FFFFFF"/>
                      </a:solidFill>
                      <a:prstDash val="solid"/>
                    </a:lnT>
                    <a:lnB>
                      <a:solidFill>
                        <a:srgbClr val="1C3879"/>
                      </a:solidFill>
                      <a:prstDash val="solid"/>
                    </a:lnB>
                    <a:noFill/>
                  </a:tcPr>
                </a:tc>
                <a:extLst>
                  <a:ext uri="{0D108BD9-81ED-4DB2-BD59-A6C34878D82A}">
                    <a16:rowId xmlns:a16="http://schemas.microsoft.com/office/drawing/2014/main" val="2123756874"/>
                  </a:ext>
                </a:extLst>
              </a:tr>
            </a:tbl>
          </a:graphicData>
        </a:graphic>
      </p:graphicFrame>
    </p:spTree>
    <p:extLst>
      <p:ext uri="{BB962C8B-B14F-4D97-AF65-F5344CB8AC3E}">
        <p14:creationId xmlns:p14="http://schemas.microsoft.com/office/powerpoint/2010/main" val="135120038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98B63AD-10BE-ADDC-ACDD-5F896705E873}"/>
              </a:ext>
            </a:extLst>
          </p:cNvPr>
          <p:cNvSpPr>
            <a:spLocks noGrp="1"/>
          </p:cNvSpPr>
          <p:nvPr>
            <p:ph type="title" idx="4294967295"/>
          </p:nvPr>
        </p:nvSpPr>
        <p:spPr>
          <a:xfrm>
            <a:off x="1333500" y="-315913"/>
            <a:ext cx="10858500" cy="900113"/>
          </a:xfrm>
        </p:spPr>
        <p:txBody>
          <a:bodyPr/>
          <a:lstStyle/>
          <a:p>
            <a:r>
              <a:rPr lang="zh-CN" altLang="en-US" dirty="0">
                <a:latin typeface="+mj-ea"/>
              </a:rPr>
              <a:t>如何加快供应链数字化转型</a:t>
            </a:r>
          </a:p>
        </p:txBody>
      </p:sp>
      <p:sp>
        <p:nvSpPr>
          <p:cNvPr id="3" name="文本框 2">
            <a:extLst>
              <a:ext uri="{FF2B5EF4-FFF2-40B4-BE49-F238E27FC236}">
                <a16:creationId xmlns:a16="http://schemas.microsoft.com/office/drawing/2014/main" id="{EE635B17-F210-7327-5AD0-968413AE9A95}"/>
              </a:ext>
            </a:extLst>
          </p:cNvPr>
          <p:cNvSpPr txBox="1"/>
          <p:nvPr/>
        </p:nvSpPr>
        <p:spPr>
          <a:xfrm>
            <a:off x="1401156" y="797330"/>
            <a:ext cx="8763676"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rgbClr val="FFFFFF"/>
                </a:solidFill>
                <a:effectLst/>
                <a:uLnTx/>
                <a:uFillTx/>
                <a:latin typeface="+mj-ea"/>
                <a:ea typeface="+mj-ea"/>
                <a:cs typeface="+mn-cs"/>
              </a:rPr>
              <a:t>这是一套以</a:t>
            </a:r>
            <a:r>
              <a:rPr kumimoji="0" lang="zh-CN" altLang="en-US" sz="2000" b="1" i="0" u="none" strike="noStrike" kern="1200" cap="none" spc="0" normalizeH="0" baseline="0" noProof="0" dirty="0">
                <a:ln>
                  <a:noFill/>
                </a:ln>
                <a:solidFill>
                  <a:srgbClr val="FFFFFF"/>
                </a:solidFill>
                <a:effectLst/>
                <a:uLnTx/>
                <a:uFillTx/>
                <a:latin typeface="+mj-ea"/>
                <a:ea typeface="+mj-ea"/>
                <a:cs typeface="+mn-cs"/>
              </a:rPr>
              <a:t>​“总设计师”和精英团为基础</a:t>
            </a:r>
            <a:r>
              <a:rPr kumimoji="0" lang="zh-CN" altLang="en-US" sz="2000" b="0" i="0" u="none" strike="noStrike" kern="1200" cap="none" spc="0" normalizeH="0" baseline="0" noProof="0" dirty="0">
                <a:ln>
                  <a:noFill/>
                </a:ln>
                <a:solidFill>
                  <a:srgbClr val="FFFFFF"/>
                </a:solidFill>
                <a:effectLst/>
                <a:uLnTx/>
                <a:uFillTx/>
                <a:latin typeface="+mj-ea"/>
                <a:ea typeface="+mj-ea"/>
                <a:cs typeface="+mn-cs"/>
              </a:rPr>
              <a:t>，以 ​</a:t>
            </a:r>
            <a:r>
              <a:rPr kumimoji="0" lang="zh-CN" altLang="en-US" sz="2000" b="1" i="0" u="none" strike="noStrike" kern="1200" cap="none" spc="0" normalizeH="0" baseline="0" noProof="0" dirty="0">
                <a:ln>
                  <a:noFill/>
                </a:ln>
                <a:solidFill>
                  <a:srgbClr val="FFFFFF"/>
                </a:solidFill>
                <a:effectLst/>
                <a:uLnTx/>
                <a:uFillTx/>
                <a:latin typeface="+mj-ea"/>
                <a:ea typeface="+mj-ea"/>
                <a:cs typeface="+mn-cs"/>
              </a:rPr>
              <a:t>​“三位一体能力”​</a:t>
            </a:r>
            <a:r>
              <a:rPr kumimoji="0" lang="zh-CN" altLang="en-US" sz="2000" b="0" i="0" u="none" strike="noStrike" kern="1200" cap="none" spc="0" normalizeH="0" baseline="0" noProof="0" dirty="0">
                <a:ln>
                  <a:noFill/>
                </a:ln>
                <a:solidFill>
                  <a:srgbClr val="FFFFFF"/>
                </a:solidFill>
                <a:effectLst/>
                <a:uLnTx/>
                <a:uFillTx/>
                <a:latin typeface="+mj-ea"/>
                <a:ea typeface="+mj-ea"/>
                <a:cs typeface="+mn-cs"/>
              </a:rPr>
              <a:t>​ 为核心，通过 ​</a:t>
            </a:r>
            <a:r>
              <a:rPr kumimoji="0" lang="zh-CN" altLang="en-US" sz="2000" b="1" i="0" u="none" strike="noStrike" kern="1200" cap="none" spc="0" normalizeH="0" baseline="0" noProof="0" dirty="0">
                <a:ln>
                  <a:noFill/>
                </a:ln>
                <a:solidFill>
                  <a:srgbClr val="FFFFFF"/>
                </a:solidFill>
                <a:effectLst/>
                <a:uLnTx/>
                <a:uFillTx/>
                <a:latin typeface="+mj-ea"/>
                <a:ea typeface="+mj-ea"/>
                <a:cs typeface="+mn-cs"/>
              </a:rPr>
              <a:t>​“蓝图设计</a:t>
            </a:r>
            <a:r>
              <a:rPr kumimoji="0" lang="en-US" altLang="zh-CN" sz="2000" b="1" i="0" u="none" strike="noStrike" kern="1200" cap="none" spc="0" normalizeH="0" baseline="0" noProof="0" dirty="0">
                <a:ln>
                  <a:noFill/>
                </a:ln>
                <a:solidFill>
                  <a:srgbClr val="FFFFFF"/>
                </a:solidFill>
                <a:effectLst/>
                <a:uLnTx/>
                <a:uFillTx/>
                <a:latin typeface="+mj-ea"/>
                <a:ea typeface="+mj-ea"/>
                <a:cs typeface="+mn-cs"/>
              </a:rPr>
              <a:t>-</a:t>
            </a:r>
            <a:r>
              <a:rPr kumimoji="0" lang="zh-CN" altLang="en-US" sz="2000" b="1" i="0" u="none" strike="noStrike" kern="1200" cap="none" spc="0" normalizeH="0" baseline="0" noProof="0" dirty="0">
                <a:ln>
                  <a:noFill/>
                </a:ln>
                <a:solidFill>
                  <a:srgbClr val="FFFFFF"/>
                </a:solidFill>
                <a:effectLst/>
                <a:uLnTx/>
                <a:uFillTx/>
                <a:latin typeface="+mj-ea"/>
                <a:ea typeface="+mj-ea"/>
                <a:cs typeface="+mn-cs"/>
              </a:rPr>
              <a:t>奇点突破</a:t>
            </a:r>
            <a:r>
              <a:rPr kumimoji="0" lang="en-US" altLang="zh-CN" sz="2000" b="1" i="0" u="none" strike="noStrike" kern="1200" cap="none" spc="0" normalizeH="0" baseline="0" noProof="0" dirty="0">
                <a:ln>
                  <a:noFill/>
                </a:ln>
                <a:solidFill>
                  <a:srgbClr val="FFFFFF"/>
                </a:solidFill>
                <a:effectLst/>
                <a:uLnTx/>
                <a:uFillTx/>
                <a:latin typeface="+mj-ea"/>
                <a:ea typeface="+mj-ea"/>
                <a:cs typeface="+mn-cs"/>
              </a:rPr>
              <a:t>-</a:t>
            </a:r>
            <a:r>
              <a:rPr kumimoji="0" lang="zh-CN" altLang="en-US" sz="2000" b="1" i="0" u="none" strike="noStrike" kern="1200" cap="none" spc="0" normalizeH="0" baseline="0" noProof="0" dirty="0">
                <a:ln>
                  <a:noFill/>
                </a:ln>
                <a:solidFill>
                  <a:srgbClr val="FFFFFF"/>
                </a:solidFill>
                <a:effectLst/>
                <a:uLnTx/>
                <a:uFillTx/>
                <a:latin typeface="+mj-ea"/>
                <a:ea typeface="+mj-ea"/>
                <a:cs typeface="+mn-cs"/>
              </a:rPr>
              <a:t>价值验证</a:t>
            </a:r>
            <a:r>
              <a:rPr kumimoji="0" lang="en-US" altLang="zh-CN" sz="2000" b="1" i="0" u="none" strike="noStrike" kern="1200" cap="none" spc="0" normalizeH="0" baseline="0" noProof="0" dirty="0">
                <a:ln>
                  <a:noFill/>
                </a:ln>
                <a:solidFill>
                  <a:srgbClr val="FFFFFF"/>
                </a:solidFill>
                <a:effectLst/>
                <a:uLnTx/>
                <a:uFillTx/>
                <a:latin typeface="+mj-ea"/>
                <a:ea typeface="+mj-ea"/>
                <a:cs typeface="+mn-cs"/>
              </a:rPr>
              <a:t>-</a:t>
            </a:r>
            <a:r>
              <a:rPr kumimoji="0" lang="zh-CN" altLang="en-US" sz="2000" b="1" i="0" u="none" strike="noStrike" kern="1200" cap="none" spc="0" normalizeH="0" baseline="0" noProof="0" dirty="0">
                <a:ln>
                  <a:noFill/>
                </a:ln>
                <a:solidFill>
                  <a:srgbClr val="FFFFFF"/>
                </a:solidFill>
                <a:effectLst/>
                <a:uLnTx/>
                <a:uFillTx/>
                <a:latin typeface="+mj-ea"/>
                <a:ea typeface="+mj-ea"/>
                <a:cs typeface="+mn-cs"/>
              </a:rPr>
              <a:t>有机扩散”​</a:t>
            </a:r>
            <a:r>
              <a:rPr kumimoji="0" lang="zh-CN" altLang="en-US" sz="2000" b="0" i="0" u="none" strike="noStrike" kern="1200" cap="none" spc="0" normalizeH="0" baseline="0" noProof="0" dirty="0">
                <a:ln>
                  <a:noFill/>
                </a:ln>
                <a:solidFill>
                  <a:srgbClr val="FFFFFF"/>
                </a:solidFill>
                <a:effectLst/>
                <a:uLnTx/>
                <a:uFillTx/>
                <a:latin typeface="+mj-ea"/>
                <a:ea typeface="+mj-ea"/>
                <a:cs typeface="+mn-cs"/>
              </a:rPr>
              <a:t>​ 路径，为企业构建</a:t>
            </a:r>
            <a:r>
              <a:rPr kumimoji="0" lang="zh-CN" altLang="en-US" sz="2000" b="1" i="0" u="none" strike="noStrike" kern="1200" cap="none" spc="0" normalizeH="0" baseline="0" noProof="0" dirty="0">
                <a:ln>
                  <a:noFill/>
                </a:ln>
                <a:solidFill>
                  <a:srgbClr val="FFFFFF"/>
                </a:solidFill>
                <a:effectLst/>
                <a:uLnTx/>
                <a:uFillTx/>
                <a:latin typeface="+mj-ea"/>
                <a:ea typeface="+mj-ea"/>
                <a:cs typeface="+mn-cs"/>
              </a:rPr>
              <a:t>内生性数字化能力</a:t>
            </a:r>
            <a:r>
              <a:rPr kumimoji="0" lang="zh-CN" altLang="en-US" sz="2000" b="0" i="0" u="none" strike="noStrike" kern="1200" cap="none" spc="0" normalizeH="0" baseline="0" noProof="0" dirty="0">
                <a:ln>
                  <a:noFill/>
                </a:ln>
                <a:solidFill>
                  <a:srgbClr val="FFFFFF"/>
                </a:solidFill>
                <a:effectLst/>
                <a:uLnTx/>
                <a:uFillTx/>
                <a:latin typeface="+mj-ea"/>
                <a:ea typeface="+mj-ea"/>
                <a:cs typeface="+mn-cs"/>
              </a:rPr>
              <a:t>的完整方法论</a:t>
            </a:r>
          </a:p>
        </p:txBody>
      </p:sp>
      <p:grpSp>
        <p:nvGrpSpPr>
          <p:cNvPr id="4" name="组合 3">
            <a:extLst>
              <a:ext uri="{FF2B5EF4-FFF2-40B4-BE49-F238E27FC236}">
                <a16:creationId xmlns:a16="http://schemas.microsoft.com/office/drawing/2014/main" id="{693A4102-F554-54CA-51EF-E7D48858803E}"/>
              </a:ext>
            </a:extLst>
          </p:cNvPr>
          <p:cNvGrpSpPr>
            <a:grpSpLocks noChangeAspect="1"/>
          </p:cNvGrpSpPr>
          <p:nvPr>
            <p:custDataLst>
              <p:tags r:id="rId1"/>
            </p:custDataLst>
          </p:nvPr>
        </p:nvGrpSpPr>
        <p:grpSpPr>
          <a:xfrm>
            <a:off x="921640" y="2042809"/>
            <a:ext cx="10260010" cy="4569591"/>
            <a:chOff x="0" y="1008475"/>
            <a:chExt cx="12666765" cy="5641509"/>
          </a:xfrm>
        </p:grpSpPr>
        <p:grpSp>
          <p:nvGrpSpPr>
            <p:cNvPr id="5" name="组合 0">
              <a:extLst>
                <a:ext uri="{FF2B5EF4-FFF2-40B4-BE49-F238E27FC236}">
                  <a16:creationId xmlns:a16="http://schemas.microsoft.com/office/drawing/2014/main" id="{FBD06728-625E-384C-9596-7096A85BDC73}"/>
                </a:ext>
              </a:extLst>
            </p:cNvPr>
            <p:cNvGrpSpPr/>
            <p:nvPr/>
          </p:nvGrpSpPr>
          <p:grpSpPr>
            <a:xfrm>
              <a:off x="0" y="1008475"/>
              <a:ext cx="12141200" cy="5096929"/>
              <a:chOff x="0" y="1008475"/>
              <a:chExt cx="12141200" cy="5096929"/>
            </a:xfrm>
          </p:grpSpPr>
          <p:sp>
            <p:nvSpPr>
              <p:cNvPr id="18" name="0">
                <a:extLst>
                  <a:ext uri="{FF2B5EF4-FFF2-40B4-BE49-F238E27FC236}">
                    <a16:creationId xmlns:a16="http://schemas.microsoft.com/office/drawing/2014/main" id="{1CE10BF3-DB99-40B9-C644-D0194A4358EF}"/>
                  </a:ext>
                </a:extLst>
              </p:cNvPr>
              <p:cNvSpPr/>
              <p:nvPr/>
            </p:nvSpPr>
            <p:spPr>
              <a:xfrm flipV="1">
                <a:off x="3760225" y="1008475"/>
                <a:ext cx="4671550" cy="4671548"/>
              </a:xfrm>
              <a:prstGeom prst="ellipse">
                <a:avLst/>
              </a:prstGeom>
              <a:gradFill flip="none" rotWithShape="1">
                <a:gsLst>
                  <a:gs pos="32000">
                    <a:schemeClr val="accent1">
                      <a:lumMod val="60000"/>
                      <a:lumOff val="40000"/>
                      <a:alpha val="0"/>
                    </a:schemeClr>
                  </a:gs>
                  <a:gs pos="80000">
                    <a:schemeClr val="accent1">
                      <a:lumMod val="40000"/>
                      <a:lumOff val="60000"/>
                      <a:alpha val="0"/>
                    </a:schemeClr>
                  </a:gs>
                  <a:gs pos="100000">
                    <a:schemeClr val="accent1">
                      <a:lumMod val="100000"/>
                    </a:schemeClr>
                  </a:gs>
                </a:gsLst>
                <a:path path="circle">
                  <a:fillToRect l="50000" t="-80000" r="50000" b="18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white"/>
                  </a:solidFill>
                  <a:effectLst/>
                  <a:uLnTx/>
                  <a:uFillTx/>
                  <a:latin typeface="+mj-ea"/>
                  <a:ea typeface="+mj-ea"/>
                  <a:cs typeface="+mn-cs"/>
                </a:endParaRPr>
              </a:p>
            </p:txBody>
          </p:sp>
          <p:sp>
            <p:nvSpPr>
              <p:cNvPr id="19" name="0">
                <a:extLst>
                  <a:ext uri="{FF2B5EF4-FFF2-40B4-BE49-F238E27FC236}">
                    <a16:creationId xmlns:a16="http://schemas.microsoft.com/office/drawing/2014/main" id="{F6542678-22BD-FCBB-2B04-F3BCDCB25287}"/>
                  </a:ext>
                </a:extLst>
              </p:cNvPr>
              <p:cNvSpPr/>
              <p:nvPr/>
            </p:nvSpPr>
            <p:spPr>
              <a:xfrm>
                <a:off x="65314" y="2004844"/>
                <a:ext cx="12075886" cy="4100560"/>
              </a:xfrm>
              <a:prstGeom prst="ellipse">
                <a:avLst/>
              </a:prstGeom>
              <a:gradFill>
                <a:gsLst>
                  <a:gs pos="0">
                    <a:schemeClr val="accent1">
                      <a:lumMod val="20000"/>
                      <a:lumOff val="80000"/>
                      <a:alpha val="0"/>
                    </a:schemeClr>
                  </a:gs>
                  <a:gs pos="100000">
                    <a:schemeClr val="accent1">
                      <a:alpha val="46000"/>
                      <a:lumMod val="28000"/>
                      <a:lumOff val="72000"/>
                    </a:schemeClr>
                  </a:gs>
                </a:gsLst>
                <a:lin ang="5400000" scaled="1"/>
              </a:gradFill>
              <a:ln>
                <a:noFill/>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mj-ea"/>
                  <a:ea typeface="+mj-ea"/>
                  <a:cs typeface="Calibri" panose="020F0502020204030204"/>
                </a:endParaRPr>
              </a:p>
            </p:txBody>
          </p:sp>
          <p:sp>
            <p:nvSpPr>
              <p:cNvPr id="20" name="0">
                <a:extLst>
                  <a:ext uri="{FF2B5EF4-FFF2-40B4-BE49-F238E27FC236}">
                    <a16:creationId xmlns:a16="http://schemas.microsoft.com/office/drawing/2014/main" id="{C7382497-F47E-7205-1A8E-D06B19EE12CC}"/>
                  </a:ext>
                </a:extLst>
              </p:cNvPr>
              <p:cNvSpPr/>
              <p:nvPr/>
            </p:nvSpPr>
            <p:spPr>
              <a:xfrm>
                <a:off x="992521" y="1519454"/>
                <a:ext cx="10206958" cy="2657078"/>
              </a:xfrm>
              <a:custGeom>
                <a:avLst/>
                <a:gdLst>
                  <a:gd name="connsiteX0" fmla="*/ 5323454 w 10646908"/>
                  <a:gd name="connsiteY0" fmla="*/ 154323 h 3022358"/>
                  <a:gd name="connsiteX1" fmla="*/ 1227089 w 10646908"/>
                  <a:gd name="connsiteY1" fmla="*/ 1317166 h 3022358"/>
                  <a:gd name="connsiteX2" fmla="*/ 5323454 w 10646908"/>
                  <a:gd name="connsiteY2" fmla="*/ 2480009 h 3022358"/>
                  <a:gd name="connsiteX3" fmla="*/ 9419819 w 10646908"/>
                  <a:gd name="connsiteY3" fmla="*/ 1317166 h 3022358"/>
                  <a:gd name="connsiteX4" fmla="*/ 5323454 w 10646908"/>
                  <a:gd name="connsiteY4" fmla="*/ 154323 h 3022358"/>
                  <a:gd name="connsiteX5" fmla="*/ 5323454 w 10646908"/>
                  <a:gd name="connsiteY5" fmla="*/ 0 h 3022358"/>
                  <a:gd name="connsiteX6" fmla="*/ 10646908 w 10646908"/>
                  <a:gd name="connsiteY6" fmla="*/ 1511179 h 3022358"/>
                  <a:gd name="connsiteX7" fmla="*/ 5323454 w 10646908"/>
                  <a:gd name="connsiteY7" fmla="*/ 3022358 h 3022358"/>
                  <a:gd name="connsiteX8" fmla="*/ 0 w 10646908"/>
                  <a:gd name="connsiteY8" fmla="*/ 1511179 h 3022358"/>
                  <a:gd name="connsiteX9" fmla="*/ 5323454 w 10646908"/>
                  <a:gd name="connsiteY9" fmla="*/ 0 h 302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46908" h="3022358">
                    <a:moveTo>
                      <a:pt x="5323454" y="154323"/>
                    </a:moveTo>
                    <a:cubicBezTo>
                      <a:pt x="3061094" y="154323"/>
                      <a:pt x="1227089" y="674946"/>
                      <a:pt x="1227089" y="1317166"/>
                    </a:cubicBezTo>
                    <a:cubicBezTo>
                      <a:pt x="1227089" y="1959386"/>
                      <a:pt x="3061094" y="2480009"/>
                      <a:pt x="5323454" y="2480009"/>
                    </a:cubicBezTo>
                    <a:cubicBezTo>
                      <a:pt x="7585814" y="2480009"/>
                      <a:pt x="9419819" y="1959386"/>
                      <a:pt x="9419819" y="1317166"/>
                    </a:cubicBezTo>
                    <a:cubicBezTo>
                      <a:pt x="9419819" y="674946"/>
                      <a:pt x="7585814" y="154323"/>
                      <a:pt x="5323454" y="154323"/>
                    </a:cubicBezTo>
                    <a:close/>
                    <a:moveTo>
                      <a:pt x="5323454" y="0"/>
                    </a:moveTo>
                    <a:cubicBezTo>
                      <a:pt x="8263516" y="0"/>
                      <a:pt x="10646908" y="676578"/>
                      <a:pt x="10646908" y="1511179"/>
                    </a:cubicBezTo>
                    <a:cubicBezTo>
                      <a:pt x="10646908" y="2345780"/>
                      <a:pt x="8263516" y="3022358"/>
                      <a:pt x="5323454" y="3022358"/>
                    </a:cubicBezTo>
                    <a:cubicBezTo>
                      <a:pt x="2383392" y="3022358"/>
                      <a:pt x="0" y="2345780"/>
                      <a:pt x="0" y="1511179"/>
                    </a:cubicBezTo>
                    <a:cubicBezTo>
                      <a:pt x="0" y="676578"/>
                      <a:pt x="2383392" y="0"/>
                      <a:pt x="5323454" y="0"/>
                    </a:cubicBezTo>
                    <a:close/>
                  </a:path>
                </a:pathLst>
              </a:custGeom>
              <a:gradFill>
                <a:gsLst>
                  <a:gs pos="0">
                    <a:schemeClr val="accent1">
                      <a:lumMod val="20000"/>
                      <a:lumOff val="80000"/>
                      <a:alpha val="0"/>
                    </a:schemeClr>
                  </a:gs>
                  <a:gs pos="92000">
                    <a:schemeClr val="accent1">
                      <a:lumMod val="24000"/>
                      <a:lumOff val="76000"/>
                    </a:schemeClr>
                  </a:gs>
                </a:gsLst>
                <a:lin ang="5400000" scaled="1"/>
              </a:gradFill>
              <a:ln>
                <a:noFill/>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rgbClr val="FFFFFF"/>
                  </a:solidFill>
                  <a:effectLst/>
                  <a:uLnTx/>
                  <a:uFillTx/>
                  <a:latin typeface="+mj-ea"/>
                  <a:ea typeface="+mj-ea"/>
                  <a:cs typeface="Calibri" panose="020F0502020204030204"/>
                </a:endParaRPr>
              </a:p>
            </p:txBody>
          </p:sp>
          <p:sp>
            <p:nvSpPr>
              <p:cNvPr id="21" name="0">
                <a:extLst>
                  <a:ext uri="{FF2B5EF4-FFF2-40B4-BE49-F238E27FC236}">
                    <a16:creationId xmlns:a16="http://schemas.microsoft.com/office/drawing/2014/main" id="{01E88260-5196-699D-89D6-E35D290FECE3}"/>
                  </a:ext>
                </a:extLst>
              </p:cNvPr>
              <p:cNvSpPr/>
              <p:nvPr/>
            </p:nvSpPr>
            <p:spPr>
              <a:xfrm>
                <a:off x="3003495" y="1846384"/>
                <a:ext cx="6185010" cy="1362568"/>
              </a:xfrm>
              <a:prstGeom prst="ellipse">
                <a:avLst/>
              </a:prstGeom>
              <a:gradFill>
                <a:gsLst>
                  <a:gs pos="0">
                    <a:schemeClr val="accent1">
                      <a:lumMod val="20000"/>
                      <a:lumOff val="80000"/>
                      <a:alpha val="0"/>
                    </a:schemeClr>
                  </a:gs>
                  <a:gs pos="92000">
                    <a:schemeClr val="accent1">
                      <a:lumMod val="33000"/>
                      <a:lumOff val="67000"/>
                    </a:schemeClr>
                  </a:gs>
                </a:gsLst>
                <a:lin ang="5400000" scaled="1"/>
              </a:gradFill>
              <a:ln>
                <a:noFill/>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rgbClr val="FFFFFF"/>
                  </a:solidFill>
                  <a:effectLst/>
                  <a:uLnTx/>
                  <a:uFillTx/>
                  <a:latin typeface="+mj-ea"/>
                  <a:ea typeface="+mj-ea"/>
                  <a:cs typeface="Calibri" panose="020F0502020204030204"/>
                </a:endParaRPr>
              </a:p>
            </p:txBody>
          </p:sp>
          <p:sp>
            <p:nvSpPr>
              <p:cNvPr id="22" name="0">
                <a:extLst>
                  <a:ext uri="{FF2B5EF4-FFF2-40B4-BE49-F238E27FC236}">
                    <a16:creationId xmlns:a16="http://schemas.microsoft.com/office/drawing/2014/main" id="{D1CFAB90-B3B6-5993-D508-B3BA79F9E5C2}"/>
                  </a:ext>
                </a:extLst>
              </p:cNvPr>
              <p:cNvSpPr/>
              <p:nvPr/>
            </p:nvSpPr>
            <p:spPr>
              <a:xfrm>
                <a:off x="0" y="4025533"/>
                <a:ext cx="12075886" cy="2050280"/>
              </a:xfrm>
              <a:custGeom>
                <a:avLst/>
                <a:gdLst>
                  <a:gd name="connsiteX0" fmla="*/ 0 w 12075886"/>
                  <a:gd name="connsiteY0" fmla="*/ 2050280 h 4100560"/>
                  <a:gd name="connsiteX1" fmla="*/ 6037943 w 12075886"/>
                  <a:gd name="connsiteY1" fmla="*/ 0 h 4100560"/>
                  <a:gd name="connsiteX2" fmla="*/ 12075886 w 12075886"/>
                  <a:gd name="connsiteY2" fmla="*/ 2050280 h 4100560"/>
                  <a:gd name="connsiteX3" fmla="*/ 6037943 w 12075886"/>
                  <a:gd name="connsiteY3" fmla="*/ 4100560 h 4100560"/>
                  <a:gd name="connsiteX4" fmla="*/ 0 w 12075886"/>
                  <a:gd name="connsiteY4" fmla="*/ 2050280 h 4100560"/>
                  <a:gd name="connsiteX0" fmla="*/ 6037943 w 12075886"/>
                  <a:gd name="connsiteY0" fmla="*/ 0 h 4100560"/>
                  <a:gd name="connsiteX1" fmla="*/ 12075886 w 12075886"/>
                  <a:gd name="connsiteY1" fmla="*/ 2050280 h 4100560"/>
                  <a:gd name="connsiteX2" fmla="*/ 6037943 w 12075886"/>
                  <a:gd name="connsiteY2" fmla="*/ 4100560 h 4100560"/>
                  <a:gd name="connsiteX3" fmla="*/ 0 w 12075886"/>
                  <a:gd name="connsiteY3" fmla="*/ 2050280 h 4100560"/>
                  <a:gd name="connsiteX4" fmla="*/ 6129383 w 12075886"/>
                  <a:gd name="connsiteY4" fmla="*/ 91440 h 4100560"/>
                  <a:gd name="connsiteX0" fmla="*/ 6037943 w 12075886"/>
                  <a:gd name="connsiteY0" fmla="*/ 0 h 4100560"/>
                  <a:gd name="connsiteX1" fmla="*/ 12075886 w 12075886"/>
                  <a:gd name="connsiteY1" fmla="*/ 2050280 h 4100560"/>
                  <a:gd name="connsiteX2" fmla="*/ 6037943 w 12075886"/>
                  <a:gd name="connsiteY2" fmla="*/ 4100560 h 4100560"/>
                  <a:gd name="connsiteX3" fmla="*/ 0 w 12075886"/>
                  <a:gd name="connsiteY3" fmla="*/ 2050280 h 4100560"/>
                  <a:gd name="connsiteX0" fmla="*/ 12075886 w 12075886"/>
                  <a:gd name="connsiteY0" fmla="*/ 0 h 2050280"/>
                  <a:gd name="connsiteX1" fmla="*/ 6037943 w 12075886"/>
                  <a:gd name="connsiteY1" fmla="*/ 2050280 h 2050280"/>
                  <a:gd name="connsiteX2" fmla="*/ 0 w 12075886"/>
                  <a:gd name="connsiteY2" fmla="*/ 0 h 2050280"/>
                </a:gdLst>
                <a:ahLst/>
                <a:cxnLst>
                  <a:cxn ang="0">
                    <a:pos x="connsiteX0" y="connsiteY0"/>
                  </a:cxn>
                  <a:cxn ang="0">
                    <a:pos x="connsiteX1" y="connsiteY1"/>
                  </a:cxn>
                  <a:cxn ang="0">
                    <a:pos x="connsiteX2" y="connsiteY2"/>
                  </a:cxn>
                </a:cxnLst>
                <a:rect l="l" t="t" r="r" b="b"/>
                <a:pathLst>
                  <a:path w="12075886" h="2050280">
                    <a:moveTo>
                      <a:pt x="12075886" y="0"/>
                    </a:moveTo>
                    <a:cubicBezTo>
                      <a:pt x="12075886" y="1132338"/>
                      <a:pt x="9372607" y="2050280"/>
                      <a:pt x="6037943" y="2050280"/>
                    </a:cubicBezTo>
                    <a:cubicBezTo>
                      <a:pt x="2703279" y="2050280"/>
                      <a:pt x="0" y="1132338"/>
                      <a:pt x="0" y="0"/>
                    </a:cubicBezTo>
                  </a:path>
                </a:pathLst>
              </a:custGeom>
              <a:noFill/>
              <a:ln>
                <a:gradFill flip="none" rotWithShape="1">
                  <a:gsLst>
                    <a:gs pos="0">
                      <a:schemeClr val="accent2">
                        <a:alpha val="0"/>
                      </a:schemeClr>
                    </a:gs>
                    <a:gs pos="51400">
                      <a:schemeClr val="accent3">
                        <a:alpha val="49000"/>
                      </a:schemeClr>
                    </a:gs>
                    <a:gs pos="100000">
                      <a:schemeClr val="accent2">
                        <a:alpha val="0"/>
                      </a:schemeClr>
                    </a:gs>
                  </a:gsLst>
                  <a:lin ang="0" scaled="1"/>
                  <a:tileRect/>
                </a:gradFill>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rgbClr val="FFFFFF"/>
                  </a:solidFill>
                  <a:effectLst/>
                  <a:uLnTx/>
                  <a:uFillTx/>
                  <a:latin typeface="+mj-ea"/>
                  <a:ea typeface="+mj-ea"/>
                  <a:cs typeface="Calibri" panose="020F0502020204030204"/>
                </a:endParaRPr>
              </a:p>
            </p:txBody>
          </p:sp>
          <p:sp>
            <p:nvSpPr>
              <p:cNvPr id="23" name="0">
                <a:extLst>
                  <a:ext uri="{FF2B5EF4-FFF2-40B4-BE49-F238E27FC236}">
                    <a16:creationId xmlns:a16="http://schemas.microsoft.com/office/drawing/2014/main" id="{4CB126B6-5FB7-946C-4CA8-E30935012333}"/>
                  </a:ext>
                </a:extLst>
              </p:cNvPr>
              <p:cNvSpPr/>
              <p:nvPr/>
            </p:nvSpPr>
            <p:spPr>
              <a:xfrm>
                <a:off x="0" y="2111670"/>
                <a:ext cx="12075886" cy="2050280"/>
              </a:xfrm>
              <a:custGeom>
                <a:avLst/>
                <a:gdLst>
                  <a:gd name="connsiteX0" fmla="*/ 0 w 12075886"/>
                  <a:gd name="connsiteY0" fmla="*/ 2050280 h 4100560"/>
                  <a:gd name="connsiteX1" fmla="*/ 6037943 w 12075886"/>
                  <a:gd name="connsiteY1" fmla="*/ 0 h 4100560"/>
                  <a:gd name="connsiteX2" fmla="*/ 12075886 w 12075886"/>
                  <a:gd name="connsiteY2" fmla="*/ 2050280 h 4100560"/>
                  <a:gd name="connsiteX3" fmla="*/ 6037943 w 12075886"/>
                  <a:gd name="connsiteY3" fmla="*/ 4100560 h 4100560"/>
                  <a:gd name="connsiteX4" fmla="*/ 0 w 12075886"/>
                  <a:gd name="connsiteY4" fmla="*/ 2050280 h 4100560"/>
                  <a:gd name="connsiteX0" fmla="*/ 6037943 w 12075886"/>
                  <a:gd name="connsiteY0" fmla="*/ 0 h 4100560"/>
                  <a:gd name="connsiteX1" fmla="*/ 12075886 w 12075886"/>
                  <a:gd name="connsiteY1" fmla="*/ 2050280 h 4100560"/>
                  <a:gd name="connsiteX2" fmla="*/ 6037943 w 12075886"/>
                  <a:gd name="connsiteY2" fmla="*/ 4100560 h 4100560"/>
                  <a:gd name="connsiteX3" fmla="*/ 0 w 12075886"/>
                  <a:gd name="connsiteY3" fmla="*/ 2050280 h 4100560"/>
                  <a:gd name="connsiteX4" fmla="*/ 6129383 w 12075886"/>
                  <a:gd name="connsiteY4" fmla="*/ 91440 h 4100560"/>
                  <a:gd name="connsiteX0" fmla="*/ 6037943 w 12075886"/>
                  <a:gd name="connsiteY0" fmla="*/ 0 h 4100560"/>
                  <a:gd name="connsiteX1" fmla="*/ 12075886 w 12075886"/>
                  <a:gd name="connsiteY1" fmla="*/ 2050280 h 4100560"/>
                  <a:gd name="connsiteX2" fmla="*/ 6037943 w 12075886"/>
                  <a:gd name="connsiteY2" fmla="*/ 4100560 h 4100560"/>
                  <a:gd name="connsiteX3" fmla="*/ 0 w 12075886"/>
                  <a:gd name="connsiteY3" fmla="*/ 2050280 h 4100560"/>
                  <a:gd name="connsiteX0" fmla="*/ 12075886 w 12075886"/>
                  <a:gd name="connsiteY0" fmla="*/ 0 h 2050280"/>
                  <a:gd name="connsiteX1" fmla="*/ 6037943 w 12075886"/>
                  <a:gd name="connsiteY1" fmla="*/ 2050280 h 2050280"/>
                  <a:gd name="connsiteX2" fmla="*/ 0 w 12075886"/>
                  <a:gd name="connsiteY2" fmla="*/ 0 h 2050280"/>
                </a:gdLst>
                <a:ahLst/>
                <a:cxnLst>
                  <a:cxn ang="0">
                    <a:pos x="connsiteX0" y="connsiteY0"/>
                  </a:cxn>
                  <a:cxn ang="0">
                    <a:pos x="connsiteX1" y="connsiteY1"/>
                  </a:cxn>
                  <a:cxn ang="0">
                    <a:pos x="connsiteX2" y="connsiteY2"/>
                  </a:cxn>
                </a:cxnLst>
                <a:rect l="l" t="t" r="r" b="b"/>
                <a:pathLst>
                  <a:path w="12075886" h="2050280">
                    <a:moveTo>
                      <a:pt x="12075886" y="0"/>
                    </a:moveTo>
                    <a:cubicBezTo>
                      <a:pt x="12075886" y="1132338"/>
                      <a:pt x="9372607" y="2050280"/>
                      <a:pt x="6037943" y="2050280"/>
                    </a:cubicBezTo>
                    <a:cubicBezTo>
                      <a:pt x="2703279" y="2050280"/>
                      <a:pt x="0" y="1132338"/>
                      <a:pt x="0" y="0"/>
                    </a:cubicBezTo>
                  </a:path>
                </a:pathLst>
              </a:custGeom>
              <a:noFill/>
              <a:ln>
                <a:gradFill flip="none" rotWithShape="1">
                  <a:gsLst>
                    <a:gs pos="0">
                      <a:schemeClr val="accent2">
                        <a:alpha val="0"/>
                      </a:schemeClr>
                    </a:gs>
                    <a:gs pos="51400">
                      <a:schemeClr val="accent3"/>
                    </a:gs>
                    <a:gs pos="100000">
                      <a:schemeClr val="accent2">
                        <a:alpha val="0"/>
                      </a:schemeClr>
                    </a:gs>
                  </a:gsLst>
                  <a:lin ang="0" scaled="1"/>
                  <a:tileRect/>
                </a:gradFill>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rgbClr val="FFFFFF"/>
                  </a:solidFill>
                  <a:effectLst/>
                  <a:uLnTx/>
                  <a:uFillTx/>
                  <a:latin typeface="+mj-ea"/>
                  <a:ea typeface="+mj-ea"/>
                  <a:cs typeface="Calibri" panose="020F0502020204030204"/>
                </a:endParaRPr>
              </a:p>
            </p:txBody>
          </p:sp>
          <p:sp>
            <p:nvSpPr>
              <p:cNvPr id="24" name="Title-0">
                <a:extLst>
                  <a:ext uri="{FF2B5EF4-FFF2-40B4-BE49-F238E27FC236}">
                    <a16:creationId xmlns:a16="http://schemas.microsoft.com/office/drawing/2014/main" id="{091C6F15-36B7-594F-580F-B041F36E14D1}"/>
                  </a:ext>
                </a:extLst>
              </p:cNvPr>
              <p:cNvSpPr/>
              <p:nvPr>
                <p:custDataLst>
                  <p:tags r:id="rId10"/>
                </p:custDataLst>
              </p:nvPr>
            </p:nvSpPr>
            <p:spPr>
              <a:xfrm>
                <a:off x="4823962" y="1925678"/>
                <a:ext cx="2665743" cy="6807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FFFFFF"/>
                    </a:solidFill>
                    <a:effectLst/>
                    <a:uLnTx/>
                    <a:uFillTx/>
                    <a:latin typeface="+mj-ea"/>
                    <a:ea typeface="+mj-ea"/>
                    <a:cs typeface="+mn-cs"/>
                    <a:sym typeface="Arial" panose="020B0604020202020204" pitchFamily="34" charset="0"/>
                  </a:rPr>
                  <a:t>建立持续建设的能力</a:t>
                </a:r>
                <a:endParaRPr kumimoji="0" lang="en-US" altLang="zh-CN" sz="2800" b="1" i="0" u="none" strike="noStrike" kern="1200" cap="none" spc="0" normalizeH="0" baseline="0" noProof="0" dirty="0">
                  <a:ln>
                    <a:noFill/>
                  </a:ln>
                  <a:solidFill>
                    <a:srgbClr val="FFFFFF"/>
                  </a:solidFill>
                  <a:effectLst/>
                  <a:uLnTx/>
                  <a:uFillTx/>
                  <a:latin typeface="+mj-ea"/>
                  <a:ea typeface="+mj-ea"/>
                  <a:cs typeface="+mn-cs"/>
                  <a:sym typeface="Arial" panose="020B0604020202020204" pitchFamily="34" charset="0"/>
                </a:endParaRPr>
              </a:p>
            </p:txBody>
          </p:sp>
        </p:grpSp>
        <p:grpSp>
          <p:nvGrpSpPr>
            <p:cNvPr id="6" name="组合 01">
              <a:extLst>
                <a:ext uri="{FF2B5EF4-FFF2-40B4-BE49-F238E27FC236}">
                  <a16:creationId xmlns:a16="http://schemas.microsoft.com/office/drawing/2014/main" id="{72ADBBAC-C84A-07E0-5004-E5215471F41B}"/>
                </a:ext>
              </a:extLst>
            </p:cNvPr>
            <p:cNvGrpSpPr/>
            <p:nvPr/>
          </p:nvGrpSpPr>
          <p:grpSpPr>
            <a:xfrm>
              <a:off x="137873" y="2266058"/>
              <a:ext cx="2909436" cy="2934816"/>
              <a:chOff x="137873" y="2266058"/>
              <a:chExt cx="2909436" cy="2934816"/>
            </a:xfrm>
          </p:grpSpPr>
          <p:sp>
            <p:nvSpPr>
              <p:cNvPr id="16" name="Title-1">
                <a:extLst>
                  <a:ext uri="{FF2B5EF4-FFF2-40B4-BE49-F238E27FC236}">
                    <a16:creationId xmlns:a16="http://schemas.microsoft.com/office/drawing/2014/main" id="{58EA44A6-3441-E074-C83A-8F6F2AC472DF}"/>
                  </a:ext>
                </a:extLst>
              </p:cNvPr>
              <p:cNvSpPr/>
              <p:nvPr>
                <p:custDataLst>
                  <p:tags r:id="rId8"/>
                </p:custDataLst>
              </p:nvPr>
            </p:nvSpPr>
            <p:spPr>
              <a:xfrm>
                <a:off x="992521" y="2266058"/>
                <a:ext cx="1419412" cy="1362568"/>
              </a:xfrm>
              <a:prstGeom prst="ellipse">
                <a:avLst/>
              </a:prstGeom>
              <a:gradFill flip="none" rotWithShape="1">
                <a:gsLst>
                  <a:gs pos="0">
                    <a:schemeClr val="accent4">
                      <a:lumMod val="20000"/>
                      <a:lumOff val="80000"/>
                    </a:schemeClr>
                  </a:gs>
                  <a:gs pos="50000">
                    <a:schemeClr val="accent4">
                      <a:lumMod val="60000"/>
                      <a:lumOff val="40000"/>
                    </a:schemeClr>
                  </a:gs>
                  <a:gs pos="100000">
                    <a:schemeClr val="accent4"/>
                  </a:gs>
                </a:gsLst>
                <a:path path="circle">
                  <a:fillToRect r="100000" b="100000"/>
                </a:path>
                <a:tileRect l="-100000" t="-100000"/>
              </a:gradFill>
              <a:ln>
                <a:noFill/>
              </a:ln>
              <a:effectLst>
                <a:outerShdw blurRad="406400" dist="127000" dir="2700000" algn="tl" rotWithShape="0">
                  <a:schemeClr val="accent4">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12303A"/>
                    </a:solidFill>
                    <a:effectLst/>
                    <a:uLnTx/>
                    <a:uFillTx/>
                    <a:latin typeface="+mj-ea"/>
                    <a:ea typeface="+mj-ea"/>
                    <a:cs typeface="+mn-cs"/>
                  </a:rPr>
                  <a:t>阶段一​</a:t>
                </a:r>
              </a:p>
            </p:txBody>
          </p:sp>
          <p:sp>
            <p:nvSpPr>
              <p:cNvPr id="17" name="Body-1">
                <a:extLst>
                  <a:ext uri="{FF2B5EF4-FFF2-40B4-BE49-F238E27FC236}">
                    <a16:creationId xmlns:a16="http://schemas.microsoft.com/office/drawing/2014/main" id="{98FBAED5-6BAC-65E8-D477-9BC41723FFF1}"/>
                  </a:ext>
                </a:extLst>
              </p:cNvPr>
              <p:cNvSpPr/>
              <p:nvPr>
                <p:custDataLst>
                  <p:tags r:id="rId9"/>
                </p:custDataLst>
              </p:nvPr>
            </p:nvSpPr>
            <p:spPr>
              <a:xfrm>
                <a:off x="137873" y="4122970"/>
                <a:ext cx="2909436" cy="10779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20000"/>
                  </a:lnSpc>
                  <a:spcBef>
                    <a:spcPts val="0"/>
                  </a:spcBef>
                  <a:spcAft>
                    <a:spcPts val="0"/>
                  </a:spcAft>
                  <a:buClrTx/>
                  <a:buSzPct val="100000"/>
                  <a:buFont typeface="Arial" panose="020B0604020202020204" pitchFamily="34" charset="0"/>
                  <a:buChar char="•"/>
                  <a:tabLst/>
                  <a:defRPr/>
                </a:pPr>
                <a:r>
                  <a:rPr kumimoji="0" lang="zh-CN" altLang="en-US" sz="1600" b="1" i="0" u="none" strike="noStrike" kern="1200" cap="none" spc="0" normalizeH="0" baseline="0" noProof="0" dirty="0">
                    <a:ln>
                      <a:noFill/>
                    </a:ln>
                    <a:solidFill>
                      <a:srgbClr val="FFFFFF"/>
                    </a:solidFill>
                    <a:effectLst/>
                    <a:uLnTx/>
                    <a:uFillTx/>
                    <a:latin typeface="+mj-ea"/>
                    <a:ea typeface="+mj-ea"/>
                    <a:cs typeface="+mn-cs"/>
                  </a:rPr>
                  <a:t>动作：组建总设计师和</a:t>
                </a:r>
                <a:r>
                  <a:rPr lang="zh-CN" altLang="en-US" sz="1600" b="1" dirty="0">
                    <a:solidFill>
                      <a:srgbClr val="FFFFFF"/>
                    </a:solidFill>
                    <a:latin typeface="+mj-ea"/>
                    <a:ea typeface="+mj-ea"/>
                  </a:rPr>
                  <a:t>精英</a:t>
                </a:r>
                <a:r>
                  <a:rPr kumimoji="0" lang="zh-CN" altLang="en-US" sz="1600" b="1" i="0" u="none" strike="noStrike" kern="1200" cap="none" spc="0" normalizeH="0" baseline="0" noProof="0" dirty="0">
                    <a:ln>
                      <a:noFill/>
                    </a:ln>
                    <a:solidFill>
                      <a:srgbClr val="FFFFFF"/>
                    </a:solidFill>
                    <a:effectLst/>
                    <a:uLnTx/>
                    <a:uFillTx/>
                    <a:latin typeface="+mj-ea"/>
                    <a:ea typeface="+mj-ea"/>
                    <a:cs typeface="+mn-cs"/>
                  </a:rPr>
                  <a:t>团队</a:t>
                </a:r>
                <a:endParaRPr kumimoji="0" lang="en-US" altLang="zh-CN" sz="1600" b="1" i="0" u="none" strike="noStrike" kern="1200" cap="none" spc="0" normalizeH="0" baseline="0" noProof="0" dirty="0">
                  <a:ln>
                    <a:noFill/>
                  </a:ln>
                  <a:solidFill>
                    <a:srgbClr val="FFFFFF"/>
                  </a:solidFill>
                  <a:effectLst/>
                  <a:uLnTx/>
                  <a:uFillTx/>
                  <a:latin typeface="+mj-ea"/>
                  <a:ea typeface="+mj-ea"/>
                  <a:cs typeface="+mn-cs"/>
                </a:endParaRPr>
              </a:p>
              <a:p>
                <a:pPr marL="285750" marR="0" lvl="0" indent="-285750" defTabSz="913765" rtl="0" eaLnBrk="1" fontAlgn="auto" latinLnBrk="0" hangingPunct="1">
                  <a:lnSpc>
                    <a:spcPct val="120000"/>
                  </a:lnSpc>
                  <a:spcBef>
                    <a:spcPts val="0"/>
                  </a:spcBef>
                  <a:spcAft>
                    <a:spcPts val="0"/>
                  </a:spcAft>
                  <a:buClrTx/>
                  <a:buSzPct val="100000"/>
                  <a:buFont typeface="Arial" panose="020B0604020202020204" pitchFamily="34" charset="0"/>
                  <a:buChar char="•"/>
                  <a:tabLst/>
                  <a:defRPr/>
                </a:pPr>
                <a:r>
                  <a:rPr lang="zh-CN" altLang="en-US" sz="1600" b="1" i="0" dirty="0">
                    <a:solidFill>
                      <a:schemeClr val="tx1"/>
                    </a:solidFill>
                    <a:effectLst/>
                    <a:latin typeface="+mj-ea"/>
                    <a:ea typeface="+mj-ea"/>
                  </a:rPr>
                  <a:t>产出：明确的转型领导核心与能力基准</a:t>
                </a:r>
                <a:endParaRPr kumimoji="0" lang="en-GB" altLang="zh-CN" sz="1600" b="1" i="0" u="none" strike="noStrike" kern="1200" cap="none" spc="0" normalizeH="0" baseline="0" noProof="0" dirty="0">
                  <a:ln>
                    <a:noFill/>
                  </a:ln>
                  <a:solidFill>
                    <a:schemeClr val="tx1"/>
                  </a:solidFill>
                  <a:effectLst/>
                  <a:uLnTx/>
                  <a:uFillTx/>
                  <a:latin typeface="+mj-ea"/>
                  <a:ea typeface="+mj-ea"/>
                  <a:cs typeface="+mn-cs"/>
                </a:endParaRPr>
              </a:p>
            </p:txBody>
          </p:sp>
        </p:grpSp>
        <p:grpSp>
          <p:nvGrpSpPr>
            <p:cNvPr id="7" name="组合 02">
              <a:extLst>
                <a:ext uri="{FF2B5EF4-FFF2-40B4-BE49-F238E27FC236}">
                  <a16:creationId xmlns:a16="http://schemas.microsoft.com/office/drawing/2014/main" id="{125953B6-0038-B561-A153-09AE43602904}"/>
                </a:ext>
              </a:extLst>
            </p:cNvPr>
            <p:cNvGrpSpPr/>
            <p:nvPr/>
          </p:nvGrpSpPr>
          <p:grpSpPr>
            <a:xfrm>
              <a:off x="3164891" y="3344249"/>
              <a:ext cx="3135448" cy="3305735"/>
              <a:chOff x="4803191" y="3344249"/>
              <a:chExt cx="3135448" cy="3305735"/>
            </a:xfrm>
          </p:grpSpPr>
          <p:sp>
            <p:nvSpPr>
              <p:cNvPr id="14" name="Body-2">
                <a:extLst>
                  <a:ext uri="{FF2B5EF4-FFF2-40B4-BE49-F238E27FC236}">
                    <a16:creationId xmlns:a16="http://schemas.microsoft.com/office/drawing/2014/main" id="{2E88853F-76E4-DE2F-7D2B-38C43CD2EFA7}"/>
                  </a:ext>
                </a:extLst>
              </p:cNvPr>
              <p:cNvSpPr/>
              <p:nvPr>
                <p:custDataLst>
                  <p:tags r:id="rId6"/>
                </p:custDataLst>
              </p:nvPr>
            </p:nvSpPr>
            <p:spPr>
              <a:xfrm>
                <a:off x="4803191" y="5245030"/>
                <a:ext cx="3135448" cy="14049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20000"/>
                  </a:lnSpc>
                  <a:buSzPct val="100000"/>
                  <a:buFont typeface="Arial" panose="020B0604020202020204" pitchFamily="34" charset="0"/>
                  <a:buChar char="•"/>
                </a:pPr>
                <a:r>
                  <a:rPr lang="zh-CN" altLang="en-US" sz="1600" b="1" dirty="0">
                    <a:solidFill>
                      <a:srgbClr val="FFFFFF"/>
                    </a:solidFill>
                    <a:latin typeface="+mj-ea"/>
                    <a:ea typeface="+mj-ea"/>
                  </a:rPr>
                  <a:t>动作：设计蓝图（高屋建瓴到毛细血管）</a:t>
                </a:r>
                <a:endParaRPr lang="en-US" altLang="zh-CN" sz="1600" b="1" dirty="0">
                  <a:solidFill>
                    <a:srgbClr val="FFFFFF"/>
                  </a:solidFill>
                  <a:latin typeface="+mj-ea"/>
                  <a:ea typeface="+mj-ea"/>
                </a:endParaRPr>
              </a:p>
              <a:p>
                <a:pPr marL="285750" indent="-285750" algn="l">
                  <a:buFont typeface="Arial" panose="020B0604020202020204" pitchFamily="34" charset="0"/>
                  <a:buChar char="•"/>
                </a:pPr>
                <a:r>
                  <a:rPr lang="zh-CN" altLang="en-US" sz="1600" b="1" dirty="0">
                    <a:solidFill>
                      <a:srgbClr val="FFFFFF"/>
                    </a:solidFill>
                    <a:latin typeface="+mj-ea"/>
                    <a:ea typeface="+mj-ea"/>
                  </a:rPr>
                  <a:t>产出：</a:t>
                </a:r>
                <a:r>
                  <a:rPr lang="zh-CN" altLang="en-US" sz="1600" b="1" i="0" dirty="0">
                    <a:solidFill>
                      <a:schemeClr val="tx1"/>
                    </a:solidFill>
                    <a:effectLst/>
                    <a:latin typeface="+mj-ea"/>
                    <a:ea typeface="+mj-ea"/>
                  </a:rPr>
                  <a:t>企业级的“数字孪生”顶层架构与实施路线图。</a:t>
                </a:r>
                <a:endParaRPr lang="zh-CN" altLang="en-US" sz="1600" b="0" i="0" dirty="0">
                  <a:solidFill>
                    <a:schemeClr val="tx1"/>
                  </a:solidFill>
                  <a:effectLst/>
                  <a:latin typeface="+mj-ea"/>
                  <a:ea typeface="+mj-ea"/>
                </a:endParaRPr>
              </a:p>
              <a:p>
                <a:br>
                  <a:rPr lang="zh-CN" altLang="en-US" sz="1600" dirty="0">
                    <a:latin typeface="+mj-ea"/>
                    <a:ea typeface="+mj-ea"/>
                  </a:rPr>
                </a:br>
                <a:endParaRPr lang="en-GB" altLang="zh-CN" sz="1600" b="1" dirty="0">
                  <a:solidFill>
                    <a:srgbClr val="FFFFFF"/>
                  </a:solidFill>
                  <a:latin typeface="+mj-ea"/>
                  <a:ea typeface="+mj-ea"/>
                </a:endParaRPr>
              </a:p>
            </p:txBody>
          </p:sp>
          <p:sp>
            <p:nvSpPr>
              <p:cNvPr id="15" name="Title-2">
                <a:extLst>
                  <a:ext uri="{FF2B5EF4-FFF2-40B4-BE49-F238E27FC236}">
                    <a16:creationId xmlns:a16="http://schemas.microsoft.com/office/drawing/2014/main" id="{0E9515A6-C8FB-2255-6E91-F2D5F56FBBAA}"/>
                  </a:ext>
                </a:extLst>
              </p:cNvPr>
              <p:cNvSpPr/>
              <p:nvPr>
                <p:custDataLst>
                  <p:tags r:id="rId7"/>
                </p:custDataLst>
              </p:nvPr>
            </p:nvSpPr>
            <p:spPr>
              <a:xfrm>
                <a:off x="5414715" y="3344249"/>
                <a:ext cx="1422262" cy="1362568"/>
              </a:xfrm>
              <a:prstGeom prst="ellipse">
                <a:avLst/>
              </a:prstGeom>
              <a:gradFill flip="none" rotWithShape="1">
                <a:gsLst>
                  <a:gs pos="0">
                    <a:schemeClr val="accent4">
                      <a:lumMod val="20000"/>
                      <a:lumOff val="80000"/>
                    </a:schemeClr>
                  </a:gs>
                  <a:gs pos="50000">
                    <a:schemeClr val="accent4">
                      <a:lumMod val="60000"/>
                      <a:lumOff val="40000"/>
                    </a:schemeClr>
                  </a:gs>
                  <a:gs pos="100000">
                    <a:schemeClr val="accent4"/>
                  </a:gs>
                </a:gsLst>
                <a:path path="circle">
                  <a:fillToRect r="100000" b="100000"/>
                </a:path>
                <a:tileRect l="-100000" t="-100000"/>
              </a:gradFill>
              <a:ln>
                <a:noFill/>
              </a:ln>
              <a:effectLst>
                <a:outerShdw blurRad="406400" dist="127000" dir="2700000" algn="tl" rotWithShape="0">
                  <a:schemeClr val="accent4">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12303A"/>
                    </a:solidFill>
                    <a:effectLst/>
                    <a:uLnTx/>
                    <a:uFillTx/>
                    <a:latin typeface="+mj-ea"/>
                    <a:ea typeface="+mj-ea"/>
                    <a:cs typeface="+mn-cs"/>
                  </a:rPr>
                  <a:t>阶段二​</a:t>
                </a:r>
              </a:p>
            </p:txBody>
          </p:sp>
        </p:grpSp>
        <p:grpSp>
          <p:nvGrpSpPr>
            <p:cNvPr id="8" name="组合 03">
              <a:extLst>
                <a:ext uri="{FF2B5EF4-FFF2-40B4-BE49-F238E27FC236}">
                  <a16:creationId xmlns:a16="http://schemas.microsoft.com/office/drawing/2014/main" id="{D024B993-04A9-8B84-7DE5-68C99D4A734D}"/>
                </a:ext>
              </a:extLst>
            </p:cNvPr>
            <p:cNvGrpSpPr/>
            <p:nvPr/>
          </p:nvGrpSpPr>
          <p:grpSpPr>
            <a:xfrm>
              <a:off x="6644618" y="3344249"/>
              <a:ext cx="3135449" cy="2953224"/>
              <a:chOff x="5057118" y="3344249"/>
              <a:chExt cx="3135449" cy="2953224"/>
            </a:xfrm>
          </p:grpSpPr>
          <p:sp>
            <p:nvSpPr>
              <p:cNvPr id="12" name="Body-3">
                <a:extLst>
                  <a:ext uri="{FF2B5EF4-FFF2-40B4-BE49-F238E27FC236}">
                    <a16:creationId xmlns:a16="http://schemas.microsoft.com/office/drawing/2014/main" id="{C756450B-4563-AEB7-22F0-954D3D95838E}"/>
                  </a:ext>
                </a:extLst>
              </p:cNvPr>
              <p:cNvSpPr/>
              <p:nvPr>
                <p:custDataLst>
                  <p:tags r:id="rId4"/>
                </p:custDataLst>
              </p:nvPr>
            </p:nvSpPr>
            <p:spPr>
              <a:xfrm>
                <a:off x="5057118" y="5219569"/>
                <a:ext cx="3135449" cy="10779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20000"/>
                  </a:lnSpc>
                  <a:spcBef>
                    <a:spcPts val="0"/>
                  </a:spcBef>
                  <a:spcAft>
                    <a:spcPts val="0"/>
                  </a:spcAft>
                  <a:buClrTx/>
                  <a:buSzPct val="100000"/>
                  <a:buFont typeface="Arial" panose="020B0604020202020204" pitchFamily="34" charset="0"/>
                  <a:buChar char="•"/>
                  <a:tabLst/>
                  <a:defRPr/>
                </a:pPr>
                <a:r>
                  <a:rPr kumimoji="0" lang="zh-CN" altLang="en-US" sz="1600" b="1" i="0" u="none" strike="noStrike" kern="1200" cap="none" spc="0" normalizeH="0" baseline="0" noProof="0" dirty="0">
                    <a:ln>
                      <a:noFill/>
                    </a:ln>
                    <a:solidFill>
                      <a:schemeClr val="tx1"/>
                    </a:solidFill>
                    <a:effectLst/>
                    <a:uLnTx/>
                    <a:uFillTx/>
                    <a:latin typeface="+mj-ea"/>
                    <a:ea typeface="+mj-ea"/>
                    <a:cs typeface="+mn-cs"/>
                  </a:rPr>
                  <a:t>动作：奇点突破与价值验证</a:t>
                </a:r>
                <a:endParaRPr kumimoji="0" lang="en-US" altLang="zh-CN" sz="1600" b="1" i="0" u="none" strike="noStrike" kern="1200" cap="none" spc="0" normalizeH="0" baseline="0" noProof="0" dirty="0">
                  <a:ln>
                    <a:noFill/>
                  </a:ln>
                  <a:solidFill>
                    <a:schemeClr val="tx1"/>
                  </a:solidFill>
                  <a:effectLst/>
                  <a:uLnTx/>
                  <a:uFillTx/>
                  <a:latin typeface="+mj-ea"/>
                  <a:ea typeface="+mj-ea"/>
                  <a:cs typeface="+mn-cs"/>
                </a:endParaRPr>
              </a:p>
              <a:p>
                <a:pPr marL="285750" marR="0" lvl="0" indent="-285750" defTabSz="913765" rtl="0" eaLnBrk="1" fontAlgn="auto" latinLnBrk="0" hangingPunct="1">
                  <a:lnSpc>
                    <a:spcPct val="120000"/>
                  </a:lnSpc>
                  <a:spcBef>
                    <a:spcPts val="0"/>
                  </a:spcBef>
                  <a:spcAft>
                    <a:spcPts val="0"/>
                  </a:spcAft>
                  <a:buClrTx/>
                  <a:buSzPct val="100000"/>
                  <a:buFont typeface="Arial" panose="020B0604020202020204" pitchFamily="34" charset="0"/>
                  <a:buChar char="•"/>
                  <a:tabLst/>
                  <a:defRPr/>
                </a:pPr>
                <a:r>
                  <a:rPr lang="zh-CN" altLang="en-US" sz="1600" b="1" dirty="0">
                    <a:solidFill>
                      <a:schemeClr val="tx1"/>
                    </a:solidFill>
                    <a:latin typeface="+mj-ea"/>
                    <a:ea typeface="+mj-ea"/>
                  </a:rPr>
                  <a:t>产出：</a:t>
                </a:r>
                <a:r>
                  <a:rPr lang="zh-CN" altLang="en-US" sz="1600" b="1" i="0" dirty="0">
                    <a:solidFill>
                      <a:schemeClr val="tx1"/>
                    </a:solidFill>
                    <a:effectLst/>
                    <a:latin typeface="+mj-ea"/>
                    <a:ea typeface="+mj-ea"/>
                  </a:rPr>
                  <a:t>经过实践验证的“能力样板间”与可量化的价值证据。</a:t>
                </a:r>
                <a:endParaRPr kumimoji="0" lang="en-GB" altLang="zh-CN" sz="1600" b="1" i="0" u="none" strike="noStrike" kern="1200" cap="none" spc="0" normalizeH="0" baseline="0" noProof="0" dirty="0">
                  <a:ln>
                    <a:noFill/>
                  </a:ln>
                  <a:solidFill>
                    <a:schemeClr val="tx1"/>
                  </a:solidFill>
                  <a:effectLst/>
                  <a:uLnTx/>
                  <a:uFillTx/>
                  <a:latin typeface="+mj-ea"/>
                  <a:ea typeface="+mj-ea"/>
                  <a:cs typeface="+mn-cs"/>
                </a:endParaRPr>
              </a:p>
            </p:txBody>
          </p:sp>
          <p:sp>
            <p:nvSpPr>
              <p:cNvPr id="13" name="Title-3">
                <a:extLst>
                  <a:ext uri="{FF2B5EF4-FFF2-40B4-BE49-F238E27FC236}">
                    <a16:creationId xmlns:a16="http://schemas.microsoft.com/office/drawing/2014/main" id="{5F9EBDA4-E1AC-3ECB-716A-705DCE652284}"/>
                  </a:ext>
                </a:extLst>
              </p:cNvPr>
              <p:cNvSpPr/>
              <p:nvPr>
                <p:custDataLst>
                  <p:tags r:id="rId5"/>
                </p:custDataLst>
              </p:nvPr>
            </p:nvSpPr>
            <p:spPr>
              <a:xfrm>
                <a:off x="5414716" y="3344249"/>
                <a:ext cx="1429560" cy="1362568"/>
              </a:xfrm>
              <a:prstGeom prst="ellipse">
                <a:avLst/>
              </a:prstGeom>
              <a:gradFill flip="none" rotWithShape="1">
                <a:gsLst>
                  <a:gs pos="0">
                    <a:schemeClr val="accent4">
                      <a:lumMod val="20000"/>
                      <a:lumOff val="80000"/>
                    </a:schemeClr>
                  </a:gs>
                  <a:gs pos="50000">
                    <a:schemeClr val="accent4">
                      <a:lumMod val="60000"/>
                      <a:lumOff val="40000"/>
                    </a:schemeClr>
                  </a:gs>
                  <a:gs pos="100000">
                    <a:schemeClr val="accent4"/>
                  </a:gs>
                </a:gsLst>
                <a:path path="circle">
                  <a:fillToRect r="100000" b="100000"/>
                </a:path>
                <a:tileRect l="-100000" t="-100000"/>
              </a:gradFill>
              <a:ln>
                <a:noFill/>
              </a:ln>
              <a:effectLst>
                <a:outerShdw blurRad="406400" dist="127000" dir="2700000" algn="tl" rotWithShape="0">
                  <a:schemeClr val="accent4">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12303A"/>
                    </a:solidFill>
                    <a:effectLst/>
                    <a:uLnTx/>
                    <a:uFillTx/>
                    <a:latin typeface="+mj-ea"/>
                    <a:ea typeface="+mj-ea"/>
                    <a:cs typeface="+mn-cs"/>
                  </a:rPr>
                  <a:t>阶段三​</a:t>
                </a:r>
              </a:p>
            </p:txBody>
          </p:sp>
        </p:grpSp>
        <p:grpSp>
          <p:nvGrpSpPr>
            <p:cNvPr id="9" name="组合 04">
              <a:extLst>
                <a:ext uri="{FF2B5EF4-FFF2-40B4-BE49-F238E27FC236}">
                  <a16:creationId xmlns:a16="http://schemas.microsoft.com/office/drawing/2014/main" id="{16DC4C0A-4EE9-F208-1298-1C9A4DFFFB0E}"/>
                </a:ext>
              </a:extLst>
            </p:cNvPr>
            <p:cNvGrpSpPr/>
            <p:nvPr/>
          </p:nvGrpSpPr>
          <p:grpSpPr>
            <a:xfrm>
              <a:off x="9848216" y="2266058"/>
              <a:ext cx="2818549" cy="2954307"/>
              <a:chOff x="9848216" y="2266058"/>
              <a:chExt cx="2818549" cy="2954307"/>
            </a:xfrm>
          </p:grpSpPr>
          <p:sp>
            <p:nvSpPr>
              <p:cNvPr id="10" name="Title-4">
                <a:extLst>
                  <a:ext uri="{FF2B5EF4-FFF2-40B4-BE49-F238E27FC236}">
                    <a16:creationId xmlns:a16="http://schemas.microsoft.com/office/drawing/2014/main" id="{84F7653F-7A7E-A0AF-4A0D-9E5F39BDC5B7}"/>
                  </a:ext>
                </a:extLst>
              </p:cNvPr>
              <p:cNvSpPr/>
              <p:nvPr>
                <p:custDataLst>
                  <p:tags r:id="rId2"/>
                </p:custDataLst>
              </p:nvPr>
            </p:nvSpPr>
            <p:spPr>
              <a:xfrm>
                <a:off x="9848216" y="2266058"/>
                <a:ext cx="1429560" cy="1362568"/>
              </a:xfrm>
              <a:prstGeom prst="ellipse">
                <a:avLst/>
              </a:prstGeom>
              <a:gradFill flip="none" rotWithShape="1">
                <a:gsLst>
                  <a:gs pos="0">
                    <a:schemeClr val="accent4">
                      <a:lumMod val="20000"/>
                      <a:lumOff val="80000"/>
                    </a:schemeClr>
                  </a:gs>
                  <a:gs pos="50000">
                    <a:schemeClr val="accent4">
                      <a:lumMod val="60000"/>
                      <a:lumOff val="40000"/>
                    </a:schemeClr>
                  </a:gs>
                  <a:gs pos="100000">
                    <a:schemeClr val="accent4"/>
                  </a:gs>
                </a:gsLst>
                <a:path path="circle">
                  <a:fillToRect r="100000" b="100000"/>
                </a:path>
                <a:tileRect l="-100000" t="-100000"/>
              </a:gradFill>
              <a:ln>
                <a:noFill/>
              </a:ln>
              <a:effectLst>
                <a:outerShdw blurRad="406400" dist="127000" dir="2700000" algn="tl" rotWithShape="0">
                  <a:schemeClr val="accent4">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12303A"/>
                    </a:solidFill>
                    <a:effectLst/>
                    <a:uLnTx/>
                    <a:uFillTx/>
                    <a:latin typeface="+mj-ea"/>
                    <a:ea typeface="+mj-ea"/>
                    <a:cs typeface="+mn-cs"/>
                  </a:rPr>
                  <a:t>阶段四​</a:t>
                </a:r>
              </a:p>
            </p:txBody>
          </p:sp>
          <p:sp>
            <p:nvSpPr>
              <p:cNvPr id="11" name="Body-4">
                <a:extLst>
                  <a:ext uri="{FF2B5EF4-FFF2-40B4-BE49-F238E27FC236}">
                    <a16:creationId xmlns:a16="http://schemas.microsoft.com/office/drawing/2014/main" id="{9D4FD382-0E04-D7E4-CD2A-F01DCF7DDB1D}"/>
                  </a:ext>
                </a:extLst>
              </p:cNvPr>
              <p:cNvSpPr/>
              <p:nvPr>
                <p:custDataLst>
                  <p:tags r:id="rId3"/>
                </p:custDataLst>
              </p:nvPr>
            </p:nvSpPr>
            <p:spPr>
              <a:xfrm>
                <a:off x="10204414" y="4142461"/>
                <a:ext cx="2462351" cy="10779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20000"/>
                  </a:lnSpc>
                  <a:spcBef>
                    <a:spcPts val="0"/>
                  </a:spcBef>
                  <a:spcAft>
                    <a:spcPts val="0"/>
                  </a:spcAft>
                  <a:buClrTx/>
                  <a:buSzPct val="100000"/>
                  <a:buFont typeface="Arial" panose="020B0604020202020204" pitchFamily="34" charset="0"/>
                  <a:buChar char="•"/>
                  <a:tabLst/>
                  <a:defRPr/>
                </a:pPr>
                <a:r>
                  <a:rPr kumimoji="0" lang="zh-CN" altLang="en-US" sz="1600" b="1" i="0" u="none" strike="noStrike" kern="1200" cap="none" spc="0" normalizeH="0" baseline="0" noProof="0" dirty="0">
                    <a:ln>
                      <a:noFill/>
                    </a:ln>
                    <a:solidFill>
                      <a:schemeClr val="tx1"/>
                    </a:solidFill>
                    <a:effectLst/>
                    <a:uLnTx/>
                    <a:uFillTx/>
                    <a:latin typeface="+mj-ea"/>
                    <a:ea typeface="+mj-ea"/>
                    <a:cs typeface="+mn-cs"/>
                  </a:rPr>
                  <a:t>动作：有机扩散</a:t>
                </a:r>
                <a:endParaRPr kumimoji="0" lang="en-US" altLang="zh-CN" sz="1600" b="1" i="0" u="none" strike="noStrike" kern="1200" cap="none" spc="0" normalizeH="0" baseline="0" noProof="0" dirty="0">
                  <a:ln>
                    <a:noFill/>
                  </a:ln>
                  <a:solidFill>
                    <a:schemeClr val="tx1"/>
                  </a:solidFill>
                  <a:effectLst/>
                  <a:uLnTx/>
                  <a:uFillTx/>
                  <a:latin typeface="+mj-ea"/>
                  <a:ea typeface="+mj-ea"/>
                  <a:cs typeface="+mn-cs"/>
                </a:endParaRPr>
              </a:p>
              <a:p>
                <a:pPr marL="285750" marR="0" lvl="0" indent="-285750" defTabSz="913765" rtl="0" eaLnBrk="1" fontAlgn="auto" latinLnBrk="0" hangingPunct="1">
                  <a:lnSpc>
                    <a:spcPct val="120000"/>
                  </a:lnSpc>
                  <a:spcBef>
                    <a:spcPts val="0"/>
                  </a:spcBef>
                  <a:spcAft>
                    <a:spcPts val="0"/>
                  </a:spcAft>
                  <a:buClrTx/>
                  <a:buSzPct val="100000"/>
                  <a:buFont typeface="Arial" panose="020B0604020202020204" pitchFamily="34" charset="0"/>
                  <a:buChar char="•"/>
                  <a:tabLst/>
                  <a:defRPr/>
                </a:pPr>
                <a:r>
                  <a:rPr lang="zh-CN" altLang="en-US" sz="1600" b="1" dirty="0">
                    <a:solidFill>
                      <a:schemeClr val="tx1"/>
                    </a:solidFill>
                    <a:latin typeface="+mj-ea"/>
                    <a:ea typeface="+mj-ea"/>
                  </a:rPr>
                  <a:t>产出：</a:t>
                </a:r>
                <a:r>
                  <a:rPr lang="zh-CN" altLang="en-US" sz="1600" b="1" i="0" dirty="0">
                    <a:solidFill>
                      <a:schemeClr val="tx1"/>
                    </a:solidFill>
                    <a:effectLst/>
                    <a:latin typeface="+mj-ea"/>
                    <a:ea typeface="+mj-ea"/>
                  </a:rPr>
                  <a:t>产出：可规模化复制的体系、工具与新组织能力</a:t>
                </a:r>
                <a:endParaRPr kumimoji="0" lang="en-GB" altLang="zh-CN" sz="1600" b="1" i="0" u="none" strike="noStrike" kern="1200" cap="none" spc="0" normalizeH="0" baseline="0" noProof="0" dirty="0">
                  <a:ln>
                    <a:noFill/>
                  </a:ln>
                  <a:solidFill>
                    <a:schemeClr val="tx1"/>
                  </a:solidFill>
                  <a:effectLst/>
                  <a:uLnTx/>
                  <a:uFillTx/>
                  <a:latin typeface="+mj-ea"/>
                  <a:ea typeface="+mj-ea"/>
                  <a:cs typeface="+mn-cs"/>
                </a:endParaRPr>
              </a:p>
            </p:txBody>
          </p:sp>
        </p:grpSp>
      </p:grpSp>
    </p:spTree>
    <p:extLst>
      <p:ext uri="{BB962C8B-B14F-4D97-AF65-F5344CB8AC3E}">
        <p14:creationId xmlns:p14="http://schemas.microsoft.com/office/powerpoint/2010/main" val="403918405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2479475-CDD5-627D-8BF3-C336103791B6}"/>
              </a:ext>
            </a:extLst>
          </p:cNvPr>
          <p:cNvSpPr>
            <a:spLocks noGrp="1"/>
          </p:cNvSpPr>
          <p:nvPr>
            <p:ph type="ctrTitle"/>
          </p:nvPr>
        </p:nvSpPr>
        <p:spPr/>
        <p:txBody>
          <a:bodyPr/>
          <a:lstStyle/>
          <a:p>
            <a:r>
              <a:rPr lang="zh-CN" altLang="en-US" dirty="0"/>
              <a:t>新能力需要新范式</a:t>
            </a:r>
          </a:p>
        </p:txBody>
      </p:sp>
    </p:spTree>
    <p:extLst>
      <p:ext uri="{BB962C8B-B14F-4D97-AF65-F5344CB8AC3E}">
        <p14:creationId xmlns:p14="http://schemas.microsoft.com/office/powerpoint/2010/main" val="362586468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96B7C7C-C5EA-CCEE-27D9-7D63A29F1BAC}"/>
              </a:ext>
            </a:extLst>
          </p:cNvPr>
          <p:cNvSpPr>
            <a:spLocks noGrp="1"/>
          </p:cNvSpPr>
          <p:nvPr>
            <p:ph type="title"/>
          </p:nvPr>
        </p:nvSpPr>
        <p:spPr>
          <a:xfrm>
            <a:off x="1023036" y="-448447"/>
            <a:ext cx="10858500" cy="1028700"/>
          </a:xfrm>
        </p:spPr>
        <p:txBody>
          <a:bodyPr/>
          <a:lstStyle/>
          <a:p>
            <a:r>
              <a:rPr lang="en-US" altLang="zh-CN" dirty="0">
                <a:latin typeface="Arial" panose="020B0604020202020204" pitchFamily="34" charset="0"/>
                <a:ea typeface="微软雅黑" panose="020B0503020204020204" pitchFamily="34" charset="-122"/>
              </a:rPr>
              <a:t>    SCM/Planning &amp; Control Course and Trend</a:t>
            </a:r>
            <a:endParaRPr lang="zh-CN" altLang="en-US" dirty="0">
              <a:latin typeface="Arial" panose="020B0604020202020204" pitchFamily="34" charset="0"/>
              <a:ea typeface="微软雅黑" panose="020B0503020204020204" pitchFamily="34" charset="-122"/>
            </a:endParaRPr>
          </a:p>
        </p:txBody>
      </p:sp>
      <p:graphicFrame>
        <p:nvGraphicFramePr>
          <p:cNvPr id="4" name="图示 3">
            <a:extLst>
              <a:ext uri="{FF2B5EF4-FFF2-40B4-BE49-F238E27FC236}">
                <a16:creationId xmlns:a16="http://schemas.microsoft.com/office/drawing/2014/main" id="{D76F575E-2FE2-208D-315A-5FE0239A30A4}"/>
              </a:ext>
            </a:extLst>
          </p:cNvPr>
          <p:cNvGraphicFramePr/>
          <p:nvPr>
            <p:extLst>
              <p:ext uri="{D42A27DB-BD31-4B8C-83A1-F6EECF244321}">
                <p14:modId xmlns:p14="http://schemas.microsoft.com/office/powerpoint/2010/main" val="4278740356"/>
              </p:ext>
            </p:extLst>
          </p:nvPr>
        </p:nvGraphicFramePr>
        <p:xfrm>
          <a:off x="599786" y="1295263"/>
          <a:ext cx="11521382" cy="359183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5" name="图示 4">
            <a:extLst>
              <a:ext uri="{FF2B5EF4-FFF2-40B4-BE49-F238E27FC236}">
                <a16:creationId xmlns:a16="http://schemas.microsoft.com/office/drawing/2014/main" id="{42F9C651-CF89-F157-9D45-0D4ED699AFC4}"/>
              </a:ext>
            </a:extLst>
          </p:cNvPr>
          <p:cNvGraphicFramePr/>
          <p:nvPr>
            <p:extLst>
              <p:ext uri="{D42A27DB-BD31-4B8C-83A1-F6EECF244321}">
                <p14:modId xmlns:p14="http://schemas.microsoft.com/office/powerpoint/2010/main" val="1754389741"/>
              </p:ext>
            </p:extLst>
          </p:nvPr>
        </p:nvGraphicFramePr>
        <p:xfrm>
          <a:off x="1821034" y="4727945"/>
          <a:ext cx="8549931" cy="147732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31010756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graphicEl>
                                              <a:dgm id="{66CE83E3-510F-490C-9F7F-4096296FB3BA}"/>
                                            </p:graphicEl>
                                          </p:spTgt>
                                        </p:tgtEl>
                                        <p:attrNameLst>
                                          <p:attrName>style.visibility</p:attrName>
                                        </p:attrNameLst>
                                      </p:cBhvr>
                                      <p:to>
                                        <p:strVal val="visible"/>
                                      </p:to>
                                    </p:set>
                                    <p:animEffect transition="in" filter="fade">
                                      <p:cBhvr>
                                        <p:cTn id="7" dur="500"/>
                                        <p:tgtEl>
                                          <p:spTgt spid="5">
                                            <p:graphicEl>
                                              <a:dgm id="{66CE83E3-510F-490C-9F7F-4096296FB3BA}"/>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graphicEl>
                                              <a:dgm id="{D83B52ED-BA55-4FDB-A3F6-E89F0EA99AB9}"/>
                                            </p:graphicEl>
                                          </p:spTgt>
                                        </p:tgtEl>
                                        <p:attrNameLst>
                                          <p:attrName>style.visibility</p:attrName>
                                        </p:attrNameLst>
                                      </p:cBhvr>
                                      <p:to>
                                        <p:strVal val="visible"/>
                                      </p:to>
                                    </p:set>
                                    <p:animEffect transition="in" filter="fade">
                                      <p:cBhvr>
                                        <p:cTn id="12" dur="500"/>
                                        <p:tgtEl>
                                          <p:spTgt spid="5">
                                            <p:graphicEl>
                                              <a:dgm id="{D83B52ED-BA55-4FDB-A3F6-E89F0EA99AB9}"/>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graphicEl>
                                              <a:dgm id="{1828D8E1-C219-4B7E-8590-076F20971C54}"/>
                                            </p:graphicEl>
                                          </p:spTgt>
                                        </p:tgtEl>
                                        <p:attrNameLst>
                                          <p:attrName>style.visibility</p:attrName>
                                        </p:attrNameLst>
                                      </p:cBhvr>
                                      <p:to>
                                        <p:strVal val="visible"/>
                                      </p:to>
                                    </p:set>
                                    <p:animEffect transition="in" filter="fade">
                                      <p:cBhvr>
                                        <p:cTn id="17" dur="500"/>
                                        <p:tgtEl>
                                          <p:spTgt spid="5">
                                            <p:graphicEl>
                                              <a:dgm id="{1828D8E1-C219-4B7E-8590-076F20971C54}"/>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Sub>
          <a:bldDgm bld="one"/>
        </p:bldSub>
      </p:bldGraphic>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54EDD66-8E3E-17BF-BAEF-F4B77AB2C503}"/>
              </a:ext>
            </a:extLst>
          </p:cNvPr>
          <p:cNvSpPr>
            <a:spLocks noGrp="1"/>
          </p:cNvSpPr>
          <p:nvPr>
            <p:ph type="title"/>
          </p:nvPr>
        </p:nvSpPr>
        <p:spPr>
          <a:xfrm>
            <a:off x="886690" y="151746"/>
            <a:ext cx="10714759" cy="457201"/>
          </a:xfrm>
        </p:spPr>
        <p:txBody>
          <a:bodyPr>
            <a:normAutofit/>
          </a:bodyPr>
          <a:lstStyle/>
          <a:p>
            <a:r>
              <a:rPr lang="zh-CN" altLang="en-US" dirty="0"/>
              <a:t>转型范式的演进 </a:t>
            </a:r>
            <a:r>
              <a:rPr lang="en-US" altLang="zh-CN" dirty="0"/>
              <a:t>—— </a:t>
            </a:r>
            <a:r>
              <a:rPr lang="zh-CN" altLang="en-US" dirty="0"/>
              <a:t>从被动响应到主动驾驭的能力重构</a:t>
            </a:r>
          </a:p>
        </p:txBody>
      </p:sp>
      <p:grpSp>
        <p:nvGrpSpPr>
          <p:cNvPr id="3" name="组合 2">
            <a:extLst>
              <a:ext uri="{FF2B5EF4-FFF2-40B4-BE49-F238E27FC236}">
                <a16:creationId xmlns:a16="http://schemas.microsoft.com/office/drawing/2014/main" id="{767D4A17-041F-6A19-D6CB-9BCD4F7C7D54}"/>
              </a:ext>
            </a:extLst>
          </p:cNvPr>
          <p:cNvGrpSpPr>
            <a:grpSpLocks noChangeAspect="1"/>
          </p:cNvGrpSpPr>
          <p:nvPr>
            <p:custDataLst>
              <p:tags r:id="rId1"/>
            </p:custDataLst>
          </p:nvPr>
        </p:nvGrpSpPr>
        <p:grpSpPr>
          <a:xfrm>
            <a:off x="773208" y="1376960"/>
            <a:ext cx="10737474" cy="3876358"/>
            <a:chOff x="1117601" y="2665437"/>
            <a:chExt cx="10737474" cy="3549456"/>
          </a:xfrm>
        </p:grpSpPr>
        <p:grpSp>
          <p:nvGrpSpPr>
            <p:cNvPr id="4" name="组合 3">
              <a:extLst>
                <a:ext uri="{FF2B5EF4-FFF2-40B4-BE49-F238E27FC236}">
                  <a16:creationId xmlns:a16="http://schemas.microsoft.com/office/drawing/2014/main" id="{D95EB744-4688-B1AB-58E9-B72FBD48C3F8}"/>
                </a:ext>
              </a:extLst>
            </p:cNvPr>
            <p:cNvGrpSpPr/>
            <p:nvPr/>
          </p:nvGrpSpPr>
          <p:grpSpPr>
            <a:xfrm>
              <a:off x="1117601" y="2665437"/>
              <a:ext cx="8518344" cy="3505673"/>
              <a:chOff x="1117601" y="2665437"/>
              <a:chExt cx="8518344" cy="3505673"/>
            </a:xfrm>
          </p:grpSpPr>
          <p:cxnSp>
            <p:nvCxnSpPr>
              <p:cNvPr id="18" name="1">
                <a:extLst>
                  <a:ext uri="{FF2B5EF4-FFF2-40B4-BE49-F238E27FC236}">
                    <a16:creationId xmlns:a16="http://schemas.microsoft.com/office/drawing/2014/main" id="{DE290A3A-07D2-8CCD-7019-BF62A7B7915F}"/>
                  </a:ext>
                </a:extLst>
              </p:cNvPr>
              <p:cNvCxnSpPr>
                <a:cxnSpLocks noChangeShapeType="1"/>
              </p:cNvCxnSpPr>
              <p:nvPr>
                <p:custDataLst>
                  <p:tags r:id="rId13"/>
                </p:custDataLst>
              </p:nvPr>
            </p:nvCxnSpPr>
            <p:spPr bwMode="auto">
              <a:xfrm>
                <a:off x="2556054" y="3277155"/>
                <a:ext cx="7079891" cy="0"/>
              </a:xfrm>
              <a:prstGeom prst="line">
                <a:avLst/>
              </a:prstGeom>
              <a:noFill/>
              <a:ln w="44450" cap="rnd">
                <a:solidFill>
                  <a:schemeClr val="tx2">
                    <a:lumMod val="75000"/>
                    <a:lumOff val="25000"/>
                  </a:schemeClr>
                </a:solidFill>
                <a:prstDash val="solid"/>
                <a:round/>
                <a:tailEnd type="none" w="lg" len="lg"/>
              </a:ln>
              <a:extLst>
                <a:ext uri="{909E8E84-426E-40DD-AFC4-6F175D3DCCD1}">
                  <a14:hiddenFill xmlns:a14="http://schemas.microsoft.com/office/drawing/2010/main">
                    <a:noFill/>
                  </a14:hiddenFill>
                </a:ext>
              </a:extLst>
            </p:spPr>
          </p:cxnSp>
          <p:grpSp>
            <p:nvGrpSpPr>
              <p:cNvPr id="19" name="组合 18">
                <a:extLst>
                  <a:ext uri="{FF2B5EF4-FFF2-40B4-BE49-F238E27FC236}">
                    <a16:creationId xmlns:a16="http://schemas.microsoft.com/office/drawing/2014/main" id="{5E086FB3-6268-1C6C-356C-C7E27264AF68}"/>
                  </a:ext>
                </a:extLst>
              </p:cNvPr>
              <p:cNvGrpSpPr/>
              <p:nvPr/>
            </p:nvGrpSpPr>
            <p:grpSpPr>
              <a:xfrm>
                <a:off x="1117601" y="2665437"/>
                <a:ext cx="3595592" cy="3505673"/>
                <a:chOff x="1117601" y="2665437"/>
                <a:chExt cx="3595592" cy="3505673"/>
              </a:xfrm>
            </p:grpSpPr>
            <p:sp>
              <p:nvSpPr>
                <p:cNvPr id="20" name="1">
                  <a:extLst>
                    <a:ext uri="{FF2B5EF4-FFF2-40B4-BE49-F238E27FC236}">
                      <a16:creationId xmlns:a16="http://schemas.microsoft.com/office/drawing/2014/main" id="{B579AD98-9A14-191E-BE99-48617451891D}"/>
                    </a:ext>
                  </a:extLst>
                </p:cNvPr>
                <p:cNvSpPr/>
                <p:nvPr>
                  <p:custDataLst>
                    <p:tags r:id="rId14"/>
                  </p:custDataLst>
                </p:nvPr>
              </p:nvSpPr>
              <p:spPr>
                <a:xfrm rot="5400000">
                  <a:off x="2385415" y="2211250"/>
                  <a:ext cx="329640" cy="1260000"/>
                </a:xfrm>
                <a:prstGeom prst="homePlate">
                  <a:avLst>
                    <a:gd name="adj" fmla="val 40586"/>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400" dirty="0">
                    <a:latin typeface="+mj-ea"/>
                    <a:ea typeface="+mj-ea"/>
                  </a:endParaRPr>
                </a:p>
              </p:txBody>
            </p:sp>
            <p:sp>
              <p:nvSpPr>
                <p:cNvPr id="21" name="1">
                  <a:extLst>
                    <a:ext uri="{FF2B5EF4-FFF2-40B4-BE49-F238E27FC236}">
                      <a16:creationId xmlns:a16="http://schemas.microsoft.com/office/drawing/2014/main" id="{6934A1A5-6E21-2673-16CC-AD61083F1DE9}"/>
                    </a:ext>
                  </a:extLst>
                </p:cNvPr>
                <p:cNvSpPr/>
                <p:nvPr>
                  <p:custDataLst>
                    <p:tags r:id="rId15"/>
                  </p:custDataLst>
                </p:nvPr>
              </p:nvSpPr>
              <p:spPr>
                <a:xfrm>
                  <a:off x="2413180" y="3134280"/>
                  <a:ext cx="285750" cy="285750"/>
                </a:xfrm>
                <a:prstGeom prst="diamond">
                  <a:avLst/>
                </a:prstGeom>
                <a:solidFill>
                  <a:schemeClr val="bg1"/>
                </a:solid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mj-ea"/>
                    <a:ea typeface="+mj-ea"/>
                  </a:endParaRPr>
                </a:p>
              </p:txBody>
            </p:sp>
            <p:sp>
              <p:nvSpPr>
                <p:cNvPr id="22" name="Title-1">
                  <a:extLst>
                    <a:ext uri="{FF2B5EF4-FFF2-40B4-BE49-F238E27FC236}">
                      <a16:creationId xmlns:a16="http://schemas.microsoft.com/office/drawing/2014/main" id="{DA65B263-6B83-05D1-DE32-8063DEE5CFE3}"/>
                    </a:ext>
                  </a:extLst>
                </p:cNvPr>
                <p:cNvSpPr txBox="1"/>
                <p:nvPr>
                  <p:custDataLst>
                    <p:tags r:id="rId16"/>
                  </p:custDataLst>
                </p:nvPr>
              </p:nvSpPr>
              <p:spPr>
                <a:xfrm>
                  <a:off x="1646181" y="3485515"/>
                  <a:ext cx="1878167" cy="369332"/>
                </a:xfrm>
                <a:prstGeom prst="rect">
                  <a:avLst/>
                </a:prstGeom>
                <a:noFill/>
              </p:spPr>
              <p:txBody>
                <a:bodyPr wrap="square" rtlCol="0">
                  <a:noAutofit/>
                </a:bodyPr>
                <a:lstStyle/>
                <a:p>
                  <a:pPr algn="ctr"/>
                  <a:r>
                    <a:rPr lang="en-US" altLang="zh-CN" sz="1400" b="1" dirty="0">
                      <a:solidFill>
                        <a:schemeClr val="accent1"/>
                      </a:solidFill>
                      <a:latin typeface="+mj-ea"/>
                      <a:ea typeface="+mj-ea"/>
                    </a:rPr>
                    <a:t>1. </a:t>
                  </a:r>
                  <a:r>
                    <a:rPr lang="zh-CN" altLang="en-US" sz="1400" b="1" dirty="0">
                      <a:solidFill>
                        <a:schemeClr val="accent1"/>
                      </a:solidFill>
                      <a:latin typeface="+mj-ea"/>
                      <a:ea typeface="+mj-ea"/>
                    </a:rPr>
                    <a:t>问题</a:t>
                  </a:r>
                  <a:r>
                    <a:rPr lang="en-US" altLang="zh-CN" sz="1400" b="1" dirty="0">
                      <a:solidFill>
                        <a:schemeClr val="accent1"/>
                      </a:solidFill>
                      <a:latin typeface="+mj-ea"/>
                      <a:ea typeface="+mj-ea"/>
                    </a:rPr>
                    <a:t>/KPI</a:t>
                  </a:r>
                  <a:r>
                    <a:rPr lang="zh-CN" altLang="en-US" sz="1400" b="1" dirty="0">
                      <a:solidFill>
                        <a:schemeClr val="accent1"/>
                      </a:solidFill>
                      <a:latin typeface="+mj-ea"/>
                      <a:ea typeface="+mj-ea"/>
                    </a:rPr>
                    <a:t>驱动</a:t>
                  </a:r>
                </a:p>
              </p:txBody>
            </p:sp>
            <p:sp>
              <p:nvSpPr>
                <p:cNvPr id="23" name="Body-1">
                  <a:extLst>
                    <a:ext uri="{FF2B5EF4-FFF2-40B4-BE49-F238E27FC236}">
                      <a16:creationId xmlns:a16="http://schemas.microsoft.com/office/drawing/2014/main" id="{1F39C219-A156-6EB1-912D-36F122EF564D}"/>
                    </a:ext>
                  </a:extLst>
                </p:cNvPr>
                <p:cNvSpPr>
                  <a:spLocks/>
                </p:cNvSpPr>
                <p:nvPr>
                  <p:custDataLst>
                    <p:tags r:id="rId17"/>
                  </p:custDataLst>
                </p:nvPr>
              </p:nvSpPr>
              <p:spPr>
                <a:xfrm>
                  <a:off x="1117601" y="3888873"/>
                  <a:ext cx="3595592" cy="22822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a:t>
                  </a:r>
                  <a:r>
                    <a:rPr kumimoji="0" lang="zh-CN" altLang="en-US" sz="1200" b="1" i="0" u="none" strike="noStrike" kern="1200" cap="none" spc="0" normalizeH="0" baseline="0" noProof="0" dirty="0">
                      <a:ln>
                        <a:noFill/>
                      </a:ln>
                      <a:solidFill>
                        <a:srgbClr val="00B050"/>
                      </a:solidFill>
                      <a:effectLst/>
                      <a:uLnTx/>
                      <a:uFillTx/>
                      <a:latin typeface="+mj-ea"/>
                      <a:ea typeface="+mj-ea"/>
                      <a:cs typeface="+mn-cs"/>
                    </a:rPr>
                    <a:t>解决的核心问题</a:t>
                  </a:r>
                  <a:r>
                    <a:rPr kumimoji="0" lang="zh-CN" altLang="en-US" sz="1200" b="1" i="0" u="none" strike="noStrike" kern="1200" cap="none" spc="0" normalizeH="0" baseline="0" noProof="0" dirty="0">
                      <a:ln>
                        <a:noFill/>
                      </a:ln>
                      <a:solidFill>
                        <a:schemeClr val="tx2">
                          <a:lumMod val="75000"/>
                          <a:lumOff val="25000"/>
                        </a:schemeClr>
                      </a:solidFill>
                      <a:effectLst/>
                      <a:uLnTx/>
                      <a:uFillTx/>
                      <a:latin typeface="+mj-ea"/>
                      <a:ea typeface="+mj-ea"/>
                      <a:cs typeface="+mn-cs"/>
                    </a:rPr>
                    <a:t>：</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​​解决了 ​​“</a:t>
                  </a:r>
                  <a:r>
                    <a:rPr kumimoji="0" lang="zh-CN" altLang="en-US" sz="1200" b="1" i="0" u="none" strike="noStrike" kern="1200" cap="none" spc="0" normalizeH="0" baseline="0" noProof="0" dirty="0">
                      <a:ln>
                        <a:noFill/>
                      </a:ln>
                      <a:solidFill>
                        <a:srgbClr val="00B050"/>
                      </a:solidFill>
                      <a:effectLst/>
                      <a:uLnTx/>
                      <a:uFillTx/>
                      <a:latin typeface="+mj-ea"/>
                      <a:ea typeface="+mj-ea"/>
                      <a:cs typeface="+mn-cs"/>
                    </a:rPr>
                    <a:t>有无标准</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 的问题。企业首次能够用统一的语言衡量绩效，知道“我们在哪”，从而结束“拍脑袋”决策，进行</a:t>
                  </a:r>
                  <a:r>
                    <a:rPr kumimoji="0" lang="zh-CN" altLang="en-US" sz="1200" b="1" i="0" u="none" strike="noStrike" kern="1200" cap="none" spc="0" normalizeH="0" baseline="0" noProof="0" dirty="0">
                      <a:ln>
                        <a:noFill/>
                      </a:ln>
                      <a:solidFill>
                        <a:srgbClr val="00B050"/>
                      </a:solidFill>
                      <a:effectLst/>
                      <a:uLnTx/>
                      <a:uFillTx/>
                      <a:latin typeface="+mj-ea"/>
                      <a:ea typeface="+mj-ea"/>
                      <a:cs typeface="+mn-cs"/>
                    </a:rPr>
                    <a:t>基于数据</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的改进。</a:t>
                  </a:r>
                </a:p>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200" b="1" i="0" u="none" strike="noStrike" kern="1200" cap="none" spc="0" normalizeH="0" baseline="0" noProof="0" dirty="0">
                      <a:ln>
                        <a:noFill/>
                      </a:ln>
                      <a:solidFill>
                        <a:srgbClr val="C00000"/>
                      </a:solidFill>
                      <a:effectLst/>
                      <a:uLnTx/>
                      <a:uFillTx/>
                      <a:latin typeface="+mj-ea"/>
                      <a:ea typeface="+mj-ea"/>
                      <a:cs typeface="+mn-cs"/>
                    </a:rPr>
                    <a:t>​引发的新问题</a:t>
                  </a:r>
                  <a:r>
                    <a:rPr kumimoji="0" lang="en-US" altLang="zh-CN" sz="1200" b="1" i="0" u="none" strike="noStrike" kern="1200" cap="none" spc="0" normalizeH="0" baseline="0" noProof="0" dirty="0">
                      <a:ln>
                        <a:noFill/>
                      </a:ln>
                      <a:solidFill>
                        <a:srgbClr val="C00000"/>
                      </a:solidFill>
                      <a:effectLst/>
                      <a:uLnTx/>
                      <a:uFillTx/>
                      <a:latin typeface="+mj-ea"/>
                      <a:ea typeface="+mj-ea"/>
                      <a:cs typeface="+mn-cs"/>
                    </a:rPr>
                    <a:t>/</a:t>
                  </a:r>
                  <a:r>
                    <a:rPr kumimoji="0" lang="zh-CN" altLang="en-US" sz="1200" b="1" i="0" u="none" strike="noStrike" kern="1200" cap="none" spc="0" normalizeH="0" baseline="0" noProof="0" dirty="0">
                      <a:ln>
                        <a:noFill/>
                      </a:ln>
                      <a:solidFill>
                        <a:srgbClr val="C00000"/>
                      </a:solidFill>
                      <a:effectLst/>
                      <a:uLnTx/>
                      <a:uFillTx/>
                      <a:latin typeface="+mj-ea"/>
                      <a:ea typeface="+mj-ea"/>
                      <a:cs typeface="+mn-cs"/>
                    </a:rPr>
                    <a:t>局限性：</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导致了 ​​“与战略脱节”​​ 的困境。各部门为了优化自己的</a:t>
                  </a:r>
                  <a:r>
                    <a:rPr kumimoji="0" lang="en-US" altLang="zh-CN"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KPI</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（如采购降低单价、生产减少换线）而工作，但这些</a:t>
                  </a:r>
                  <a:r>
                    <a:rPr kumimoji="0" lang="zh-CN" altLang="en-US" sz="1200" b="1" i="0" u="none" strike="noStrike" kern="1200" cap="none" spc="0" normalizeH="0" baseline="0" noProof="0" dirty="0">
                      <a:ln>
                        <a:noFill/>
                      </a:ln>
                      <a:solidFill>
                        <a:srgbClr val="C00000"/>
                      </a:solidFill>
                      <a:effectLst/>
                      <a:uLnTx/>
                      <a:uFillTx/>
                      <a:latin typeface="+mj-ea"/>
                      <a:ea typeface="+mj-ea"/>
                      <a:cs typeface="+mn-cs"/>
                    </a:rPr>
                    <a:t>局部优化</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常常相互冲突，损害了公司整体</a:t>
                  </a:r>
                  <a:r>
                    <a:rPr kumimoji="0" lang="zh-CN" altLang="en-US" sz="1200" b="1" i="0" u="none" strike="noStrike" kern="1200" cap="none" spc="0" normalizeH="0" baseline="0" noProof="0" dirty="0">
                      <a:ln>
                        <a:noFill/>
                      </a:ln>
                      <a:solidFill>
                        <a:srgbClr val="C00000"/>
                      </a:solidFill>
                      <a:effectLst/>
                      <a:uLnTx/>
                      <a:uFillTx/>
                      <a:latin typeface="+mj-ea"/>
                      <a:ea typeface="+mj-ea"/>
                      <a:cs typeface="+mn-cs"/>
                    </a:rPr>
                    <a:t>战略利益</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。企业不知道“要去哪”。</a:t>
                  </a:r>
                  <a:endParaRPr kumimoji="0" lang="en-GB" altLang="zh-CN" sz="1200" b="0" i="0" u="none" strike="noStrike" kern="1200" cap="none" spc="0" normalizeH="0" baseline="0" noProof="0" dirty="0">
                    <a:ln>
                      <a:noFill/>
                    </a:ln>
                    <a:solidFill>
                      <a:schemeClr val="tx2">
                        <a:lumMod val="75000"/>
                        <a:lumOff val="25000"/>
                      </a:schemeClr>
                    </a:solidFill>
                    <a:effectLst/>
                    <a:uLnTx/>
                    <a:uFillTx/>
                    <a:latin typeface="+mj-ea"/>
                    <a:ea typeface="+mj-ea"/>
                    <a:cs typeface="+mn-cs"/>
                  </a:endParaRPr>
                </a:p>
              </p:txBody>
            </p:sp>
            <p:sp>
              <p:nvSpPr>
                <p:cNvPr id="24" name="Index-1">
                  <a:extLst>
                    <a:ext uri="{FF2B5EF4-FFF2-40B4-BE49-F238E27FC236}">
                      <a16:creationId xmlns:a16="http://schemas.microsoft.com/office/drawing/2014/main" id="{EB876EB5-F5E9-9718-7EF1-840527EC88D3}"/>
                    </a:ext>
                  </a:extLst>
                </p:cNvPr>
                <p:cNvSpPr txBox="1"/>
                <p:nvPr>
                  <p:custDataLst>
                    <p:tags r:id="rId18"/>
                  </p:custDataLst>
                </p:nvPr>
              </p:nvSpPr>
              <p:spPr>
                <a:xfrm>
                  <a:off x="1830235" y="2665437"/>
                  <a:ext cx="1440000" cy="494460"/>
                </a:xfrm>
                <a:prstGeom prst="rect">
                  <a:avLst/>
                </a:prstGeom>
                <a:noFill/>
              </p:spPr>
              <p:txBody>
                <a:bodyPr wrap="square" rtlCol="0">
                  <a:noAutofit/>
                </a:bodyPr>
                <a:lstStyle/>
                <a:p>
                  <a:pPr algn="ctr"/>
                  <a:r>
                    <a:rPr lang="en-US" altLang="zh-CN" sz="1200" b="1" dirty="0">
                      <a:solidFill>
                        <a:schemeClr val="bg1"/>
                      </a:solidFill>
                      <a:latin typeface="+mj-ea"/>
                      <a:ea typeface="+mj-ea"/>
                    </a:rPr>
                    <a:t>2010</a:t>
                  </a:r>
                  <a:r>
                    <a:rPr lang="zh-CN" altLang="en-US" sz="1200" b="1" dirty="0">
                      <a:solidFill>
                        <a:schemeClr val="bg1"/>
                      </a:solidFill>
                      <a:latin typeface="+mj-ea"/>
                      <a:ea typeface="+mj-ea"/>
                    </a:rPr>
                    <a:t>之前</a:t>
                  </a:r>
                </a:p>
              </p:txBody>
            </p:sp>
            <p:sp>
              <p:nvSpPr>
                <p:cNvPr id="25" name="1">
                  <a:extLst>
                    <a:ext uri="{FF2B5EF4-FFF2-40B4-BE49-F238E27FC236}">
                      <a16:creationId xmlns:a16="http://schemas.microsoft.com/office/drawing/2014/main" id="{DEBA38E6-E2F2-57E6-D8B8-75AA9BF75882}"/>
                    </a:ext>
                  </a:extLst>
                </p:cNvPr>
                <p:cNvSpPr/>
                <p:nvPr>
                  <p:custDataLst>
                    <p:tags r:id="rId19"/>
                  </p:custDataLst>
                </p:nvPr>
              </p:nvSpPr>
              <p:spPr>
                <a:xfrm>
                  <a:off x="4220287" y="3211670"/>
                  <a:ext cx="209550" cy="130969"/>
                </a:xfrm>
                <a:prstGeom prst="chevron">
                  <a:avLst>
                    <a:gd name="adj" fmla="val 47728"/>
                  </a:avLst>
                </a:prstGeom>
                <a:solidFill>
                  <a:schemeClr val="tx2">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1400">
                    <a:latin typeface="+mj-ea"/>
                    <a:ea typeface="+mj-ea"/>
                  </a:endParaRPr>
                </a:p>
              </p:txBody>
            </p:sp>
          </p:grpSp>
        </p:grpSp>
        <p:grpSp>
          <p:nvGrpSpPr>
            <p:cNvPr id="5" name="组合 4">
              <a:extLst>
                <a:ext uri="{FF2B5EF4-FFF2-40B4-BE49-F238E27FC236}">
                  <a16:creationId xmlns:a16="http://schemas.microsoft.com/office/drawing/2014/main" id="{83470C32-E659-4F17-1D49-79A592799FA5}"/>
                </a:ext>
              </a:extLst>
            </p:cNvPr>
            <p:cNvGrpSpPr/>
            <p:nvPr/>
          </p:nvGrpSpPr>
          <p:grpSpPr>
            <a:xfrm>
              <a:off x="4802875" y="2695103"/>
              <a:ext cx="3394617" cy="3476006"/>
              <a:chOff x="4802875" y="2695103"/>
              <a:chExt cx="3394617" cy="3476006"/>
            </a:xfrm>
          </p:grpSpPr>
          <p:sp>
            <p:nvSpPr>
              <p:cNvPr id="12" name="2">
                <a:extLst>
                  <a:ext uri="{FF2B5EF4-FFF2-40B4-BE49-F238E27FC236}">
                    <a16:creationId xmlns:a16="http://schemas.microsoft.com/office/drawing/2014/main" id="{44F64C7A-C09D-735E-66C1-A30B7FDEEC07}"/>
                  </a:ext>
                </a:extLst>
              </p:cNvPr>
              <p:cNvSpPr/>
              <p:nvPr>
                <p:custDataLst>
                  <p:tags r:id="rId7"/>
                </p:custDataLst>
              </p:nvPr>
            </p:nvSpPr>
            <p:spPr>
              <a:xfrm rot="5400000">
                <a:off x="5931177" y="2229923"/>
                <a:ext cx="329640" cy="1260000"/>
              </a:xfrm>
              <a:prstGeom prst="homePlate">
                <a:avLst>
                  <a:gd name="adj" fmla="val 4058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400" dirty="0">
                  <a:latin typeface="+mj-ea"/>
                  <a:ea typeface="+mj-ea"/>
                </a:endParaRPr>
              </a:p>
            </p:txBody>
          </p:sp>
          <p:sp>
            <p:nvSpPr>
              <p:cNvPr id="13" name="2">
                <a:extLst>
                  <a:ext uri="{FF2B5EF4-FFF2-40B4-BE49-F238E27FC236}">
                    <a16:creationId xmlns:a16="http://schemas.microsoft.com/office/drawing/2014/main" id="{A8F168FD-904D-2699-9873-9D9587903B49}"/>
                  </a:ext>
                </a:extLst>
              </p:cNvPr>
              <p:cNvSpPr/>
              <p:nvPr>
                <p:custDataLst>
                  <p:tags r:id="rId8"/>
                </p:custDataLst>
              </p:nvPr>
            </p:nvSpPr>
            <p:spPr>
              <a:xfrm>
                <a:off x="5955056" y="3134280"/>
                <a:ext cx="285750" cy="285750"/>
              </a:xfrm>
              <a:prstGeom prst="diamond">
                <a:avLst/>
              </a:prstGeom>
              <a:solidFill>
                <a:schemeClr val="bg1"/>
              </a:solidFill>
              <a:ln w="2857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mj-ea"/>
                  <a:ea typeface="+mj-ea"/>
                </a:endParaRPr>
              </a:p>
            </p:txBody>
          </p:sp>
          <p:sp>
            <p:nvSpPr>
              <p:cNvPr id="14" name="Title-2">
                <a:extLst>
                  <a:ext uri="{FF2B5EF4-FFF2-40B4-BE49-F238E27FC236}">
                    <a16:creationId xmlns:a16="http://schemas.microsoft.com/office/drawing/2014/main" id="{E858B40E-24C5-855C-8770-866292455D34}"/>
                  </a:ext>
                </a:extLst>
              </p:cNvPr>
              <p:cNvSpPr txBox="1"/>
              <p:nvPr>
                <p:custDataLst>
                  <p:tags r:id="rId9"/>
                </p:custDataLst>
              </p:nvPr>
            </p:nvSpPr>
            <p:spPr>
              <a:xfrm>
                <a:off x="5156912" y="3529567"/>
                <a:ext cx="1878167" cy="369332"/>
              </a:xfrm>
              <a:prstGeom prst="rect">
                <a:avLst/>
              </a:prstGeom>
              <a:noFill/>
            </p:spPr>
            <p:txBody>
              <a:bodyPr wrap="square" rtlCol="0">
                <a:noAutofit/>
              </a:bodyPr>
              <a:lstStyle/>
              <a:p>
                <a:pPr algn="ctr"/>
                <a:r>
                  <a:rPr lang="zh-CN" altLang="en-US" sz="1400" b="1" dirty="0">
                    <a:solidFill>
                      <a:schemeClr val="accent2"/>
                    </a:solidFill>
                    <a:latin typeface="+mj-ea"/>
                    <a:ea typeface="+mj-ea"/>
                  </a:rPr>
                  <a:t>​</a:t>
                </a:r>
                <a:r>
                  <a:rPr lang="en-US" altLang="zh-CN" sz="1400" b="1" dirty="0">
                    <a:solidFill>
                      <a:schemeClr val="accent2"/>
                    </a:solidFill>
                    <a:latin typeface="+mj-ea"/>
                    <a:ea typeface="+mj-ea"/>
                  </a:rPr>
                  <a:t>2. </a:t>
                </a:r>
                <a:r>
                  <a:rPr lang="zh-CN" altLang="en-US" sz="1400" b="1" dirty="0">
                    <a:solidFill>
                      <a:schemeClr val="accent2"/>
                    </a:solidFill>
                    <a:latin typeface="+mj-ea"/>
                    <a:ea typeface="+mj-ea"/>
                  </a:rPr>
                  <a:t>战略驱动</a:t>
                </a:r>
              </a:p>
            </p:txBody>
          </p:sp>
          <p:sp>
            <p:nvSpPr>
              <p:cNvPr id="15" name="Body-2">
                <a:extLst>
                  <a:ext uri="{FF2B5EF4-FFF2-40B4-BE49-F238E27FC236}">
                    <a16:creationId xmlns:a16="http://schemas.microsoft.com/office/drawing/2014/main" id="{3F150323-5622-E93F-7BDB-1269F917B25C}"/>
                  </a:ext>
                </a:extLst>
              </p:cNvPr>
              <p:cNvSpPr>
                <a:spLocks/>
              </p:cNvSpPr>
              <p:nvPr>
                <p:custDataLst>
                  <p:tags r:id="rId10"/>
                </p:custDataLst>
              </p:nvPr>
            </p:nvSpPr>
            <p:spPr>
              <a:xfrm>
                <a:off x="4802875" y="3888874"/>
                <a:ext cx="3394617" cy="22822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a:t>
                </a:r>
                <a:r>
                  <a:rPr kumimoji="0" lang="zh-CN" altLang="en-US" sz="1200" b="1" i="0" u="none" strike="noStrike" kern="1200" cap="none" spc="0" normalizeH="0" baseline="0" noProof="0" dirty="0">
                    <a:ln>
                      <a:noFill/>
                    </a:ln>
                    <a:solidFill>
                      <a:schemeClr val="tx2">
                        <a:lumMod val="75000"/>
                        <a:lumOff val="25000"/>
                      </a:schemeClr>
                    </a:solidFill>
                    <a:effectLst/>
                    <a:uLnTx/>
                    <a:uFillTx/>
                    <a:latin typeface="+mj-ea"/>
                    <a:ea typeface="+mj-ea"/>
                    <a:cs typeface="+mn-cs"/>
                  </a:rPr>
                  <a:t>解决的核心问题</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 解决了 ​​“</a:t>
                </a:r>
                <a:r>
                  <a:rPr kumimoji="0" lang="zh-CN" altLang="en-US" sz="1200" b="1" i="0" u="none" strike="noStrike" kern="1200" cap="none" spc="0" normalizeH="0" baseline="0" noProof="0" dirty="0">
                    <a:ln>
                      <a:noFill/>
                    </a:ln>
                    <a:solidFill>
                      <a:srgbClr val="00B050"/>
                    </a:solidFill>
                    <a:effectLst/>
                    <a:uLnTx/>
                    <a:uFillTx/>
                    <a:latin typeface="+mj-ea"/>
                    <a:ea typeface="+mj-ea"/>
                    <a:cs typeface="+mn-cs"/>
                  </a:rPr>
                  <a:t>方向对齐</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 的问题。它将运营改进的起点从内部的“问题”提升到外部的“战略”，确保所有努力都指向统一的战略目标，明确了“</a:t>
                </a:r>
                <a:r>
                  <a:rPr kumimoji="0" lang="zh-CN" altLang="en-US" sz="1200" b="1" i="0" u="none" strike="noStrike" kern="1200" cap="none" spc="0" normalizeH="0" baseline="0" noProof="0" dirty="0">
                    <a:ln>
                      <a:noFill/>
                    </a:ln>
                    <a:solidFill>
                      <a:srgbClr val="00B050"/>
                    </a:solidFill>
                    <a:effectLst/>
                    <a:uLnTx/>
                    <a:uFillTx/>
                    <a:latin typeface="+mj-ea"/>
                    <a:ea typeface="+mj-ea"/>
                    <a:cs typeface="+mn-cs"/>
                  </a:rPr>
                  <a:t>要去哪</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a:t>
                </a:r>
              </a:p>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200" b="1" i="0" u="none" strike="noStrike" kern="1200" cap="none" spc="0" normalizeH="0" baseline="0" noProof="0" dirty="0">
                    <a:ln>
                      <a:noFill/>
                    </a:ln>
                    <a:solidFill>
                      <a:srgbClr val="C00000"/>
                    </a:solidFill>
                    <a:effectLst/>
                    <a:uLnTx/>
                    <a:uFillTx/>
                    <a:latin typeface="+mj-ea"/>
                    <a:ea typeface="+mj-ea"/>
                    <a:cs typeface="+mn-cs"/>
                  </a:rPr>
                  <a:t>​引发的新问题</a:t>
                </a:r>
                <a:r>
                  <a:rPr kumimoji="0" lang="en-US" altLang="zh-CN" sz="1200" b="1" i="0" u="none" strike="noStrike" kern="1200" cap="none" spc="0" normalizeH="0" baseline="0" noProof="0" dirty="0">
                    <a:ln>
                      <a:noFill/>
                    </a:ln>
                    <a:solidFill>
                      <a:srgbClr val="C00000"/>
                    </a:solidFill>
                    <a:effectLst/>
                    <a:uLnTx/>
                    <a:uFillTx/>
                    <a:latin typeface="+mj-ea"/>
                    <a:ea typeface="+mj-ea"/>
                    <a:cs typeface="+mn-cs"/>
                  </a:rPr>
                  <a:t>/</a:t>
                </a:r>
                <a:r>
                  <a:rPr kumimoji="0" lang="zh-CN" altLang="en-US" sz="1200" b="1" i="0" u="none" strike="noStrike" kern="1200" cap="none" spc="0" normalizeH="0" baseline="0" noProof="0" dirty="0">
                    <a:ln>
                      <a:noFill/>
                    </a:ln>
                    <a:solidFill>
                      <a:srgbClr val="C00000"/>
                    </a:solidFill>
                    <a:effectLst/>
                    <a:uLnTx/>
                    <a:uFillTx/>
                    <a:latin typeface="+mj-ea"/>
                    <a:ea typeface="+mj-ea"/>
                    <a:cs typeface="+mn-cs"/>
                  </a:rPr>
                  <a:t>局限性：</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 暴露了 ​​“变革复杂”​​ 的挑战。宏伟的战略蓝图在落地时，因涉及复杂的组织、流程、系统变革而举步维艰。企业发现</a:t>
                </a:r>
                <a:r>
                  <a:rPr kumimoji="0" lang="zh-CN" altLang="en-US" sz="1200" b="1" i="0" u="none" strike="noStrike" kern="1200" cap="none" spc="0" normalizeH="0" baseline="0" noProof="0" dirty="0">
                    <a:ln>
                      <a:noFill/>
                    </a:ln>
                    <a:solidFill>
                      <a:srgbClr val="C00000"/>
                    </a:solidFill>
                    <a:effectLst/>
                    <a:uLnTx/>
                    <a:uFillTx/>
                    <a:latin typeface="+mj-ea"/>
                    <a:ea typeface="+mj-ea"/>
                    <a:cs typeface="+mn-cs"/>
                  </a:rPr>
                  <a:t>“知道去哪”</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和“</a:t>
                </a:r>
                <a:r>
                  <a:rPr kumimoji="0" lang="zh-CN" altLang="en-US" sz="1200" b="1" i="0" u="none" strike="noStrike" kern="1200" cap="none" spc="0" normalizeH="0" baseline="0" noProof="0" dirty="0">
                    <a:ln>
                      <a:noFill/>
                    </a:ln>
                    <a:solidFill>
                      <a:srgbClr val="C00000"/>
                    </a:solidFill>
                    <a:effectLst/>
                    <a:uLnTx/>
                    <a:uFillTx/>
                    <a:latin typeface="+mj-ea"/>
                    <a:ea typeface="+mj-ea"/>
                    <a:cs typeface="+mn-cs"/>
                  </a:rPr>
                  <a:t>能走到那里</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”之间存在着</a:t>
                </a:r>
                <a:r>
                  <a:rPr kumimoji="0" lang="zh-CN" altLang="en-US" sz="1200" b="1" i="0" u="none" strike="noStrike" kern="1200" cap="none" spc="0" normalizeH="0" baseline="0" noProof="0" dirty="0">
                    <a:ln>
                      <a:noFill/>
                    </a:ln>
                    <a:solidFill>
                      <a:srgbClr val="C00000"/>
                    </a:solidFill>
                    <a:effectLst/>
                    <a:uLnTx/>
                    <a:uFillTx/>
                    <a:latin typeface="+mj-ea"/>
                    <a:ea typeface="+mj-ea"/>
                    <a:cs typeface="+mn-cs"/>
                  </a:rPr>
                  <a:t>巨大的鸿沟</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a:t>
                </a:r>
                <a:endParaRPr kumimoji="0" lang="en-GB" altLang="zh-CN" sz="1200" b="0" i="0" u="none" strike="noStrike" kern="1200" cap="none" spc="0" normalizeH="0" baseline="0" noProof="0" dirty="0">
                  <a:ln>
                    <a:noFill/>
                  </a:ln>
                  <a:solidFill>
                    <a:schemeClr val="tx2">
                      <a:lumMod val="75000"/>
                      <a:lumOff val="25000"/>
                    </a:schemeClr>
                  </a:solidFill>
                  <a:effectLst/>
                  <a:uLnTx/>
                  <a:uFillTx/>
                  <a:latin typeface="+mj-ea"/>
                  <a:ea typeface="+mj-ea"/>
                  <a:cs typeface="+mn-cs"/>
                </a:endParaRPr>
              </a:p>
            </p:txBody>
          </p:sp>
          <p:sp>
            <p:nvSpPr>
              <p:cNvPr id="16" name="Index-2">
                <a:extLst>
                  <a:ext uri="{FF2B5EF4-FFF2-40B4-BE49-F238E27FC236}">
                    <a16:creationId xmlns:a16="http://schemas.microsoft.com/office/drawing/2014/main" id="{0CBBB8B5-3ED7-CD3F-FB47-8A50EFFAD415}"/>
                  </a:ext>
                </a:extLst>
              </p:cNvPr>
              <p:cNvSpPr txBox="1"/>
              <p:nvPr>
                <p:custDataLst>
                  <p:tags r:id="rId11"/>
                </p:custDataLst>
              </p:nvPr>
            </p:nvSpPr>
            <p:spPr>
              <a:xfrm>
                <a:off x="5542352" y="2705988"/>
                <a:ext cx="1107289" cy="265307"/>
              </a:xfrm>
              <a:prstGeom prst="rect">
                <a:avLst/>
              </a:prstGeom>
              <a:noFill/>
            </p:spPr>
            <p:txBody>
              <a:bodyPr wrap="square" rtlCol="0">
                <a:noAutofit/>
              </a:bodyPr>
              <a:lstStyle/>
              <a:p>
                <a:pPr algn="ctr"/>
                <a:r>
                  <a:rPr lang="en-US" altLang="zh-CN" sz="1200" b="1" dirty="0">
                    <a:solidFill>
                      <a:schemeClr val="bg1"/>
                    </a:solidFill>
                    <a:latin typeface="+mj-ea"/>
                    <a:ea typeface="+mj-ea"/>
                  </a:rPr>
                  <a:t>2010-2015</a:t>
                </a:r>
                <a:endParaRPr lang="zh-CN" altLang="en-US" sz="1200" b="1" dirty="0">
                  <a:solidFill>
                    <a:schemeClr val="bg1"/>
                  </a:solidFill>
                  <a:latin typeface="+mj-ea"/>
                  <a:ea typeface="+mj-ea"/>
                </a:endParaRPr>
              </a:p>
            </p:txBody>
          </p:sp>
          <p:sp>
            <p:nvSpPr>
              <p:cNvPr id="17" name="2">
                <a:extLst>
                  <a:ext uri="{FF2B5EF4-FFF2-40B4-BE49-F238E27FC236}">
                    <a16:creationId xmlns:a16="http://schemas.microsoft.com/office/drawing/2014/main" id="{32E27C82-0F21-8E03-33F1-4DF72C2FD335}"/>
                  </a:ext>
                </a:extLst>
              </p:cNvPr>
              <p:cNvSpPr/>
              <p:nvPr>
                <p:custDataLst>
                  <p:tags r:id="rId12"/>
                </p:custDataLst>
              </p:nvPr>
            </p:nvSpPr>
            <p:spPr>
              <a:xfrm>
                <a:off x="7762163" y="3211670"/>
                <a:ext cx="209550" cy="130969"/>
              </a:xfrm>
              <a:prstGeom prst="chevron">
                <a:avLst>
                  <a:gd name="adj" fmla="val 47728"/>
                </a:avLst>
              </a:prstGeom>
              <a:solidFill>
                <a:schemeClr val="tx2">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1400">
                  <a:latin typeface="+mj-ea"/>
                  <a:ea typeface="+mj-ea"/>
                </a:endParaRPr>
              </a:p>
            </p:txBody>
          </p:sp>
        </p:grpSp>
        <p:grpSp>
          <p:nvGrpSpPr>
            <p:cNvPr id="6" name="组合 5">
              <a:extLst>
                <a:ext uri="{FF2B5EF4-FFF2-40B4-BE49-F238E27FC236}">
                  <a16:creationId xmlns:a16="http://schemas.microsoft.com/office/drawing/2014/main" id="{C2757CC3-127A-B014-28F6-D720EB8F85E5}"/>
                </a:ext>
              </a:extLst>
            </p:cNvPr>
            <p:cNvGrpSpPr/>
            <p:nvPr/>
          </p:nvGrpSpPr>
          <p:grpSpPr>
            <a:xfrm>
              <a:off x="8197492" y="2724193"/>
              <a:ext cx="3657583" cy="3490700"/>
              <a:chOff x="8197492" y="2724193"/>
              <a:chExt cx="3657583" cy="3490700"/>
            </a:xfrm>
          </p:grpSpPr>
          <p:sp>
            <p:nvSpPr>
              <p:cNvPr id="7" name="3">
                <a:extLst>
                  <a:ext uri="{FF2B5EF4-FFF2-40B4-BE49-F238E27FC236}">
                    <a16:creationId xmlns:a16="http://schemas.microsoft.com/office/drawing/2014/main" id="{A8478DC5-B6A3-A8EA-81AE-113EB306E6D1}"/>
                  </a:ext>
                </a:extLst>
              </p:cNvPr>
              <p:cNvSpPr/>
              <p:nvPr>
                <p:custDataLst>
                  <p:tags r:id="rId2"/>
                </p:custDataLst>
              </p:nvPr>
            </p:nvSpPr>
            <p:spPr>
              <a:xfrm rot="5400000">
                <a:off x="9471125" y="2259013"/>
                <a:ext cx="329640" cy="1260000"/>
              </a:xfrm>
              <a:prstGeom prst="homePlate">
                <a:avLst>
                  <a:gd name="adj" fmla="val 4058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400">
                  <a:latin typeface="+mj-ea"/>
                  <a:ea typeface="+mj-ea"/>
                </a:endParaRPr>
              </a:p>
            </p:txBody>
          </p:sp>
          <p:sp>
            <p:nvSpPr>
              <p:cNvPr id="8" name="3">
                <a:extLst>
                  <a:ext uri="{FF2B5EF4-FFF2-40B4-BE49-F238E27FC236}">
                    <a16:creationId xmlns:a16="http://schemas.microsoft.com/office/drawing/2014/main" id="{FFE1396C-46C6-A5F9-D367-035F5713B51E}"/>
                  </a:ext>
                </a:extLst>
              </p:cNvPr>
              <p:cNvSpPr/>
              <p:nvPr>
                <p:custDataLst>
                  <p:tags r:id="rId3"/>
                </p:custDataLst>
              </p:nvPr>
            </p:nvSpPr>
            <p:spPr>
              <a:xfrm>
                <a:off x="9493071" y="3134280"/>
                <a:ext cx="285750" cy="285750"/>
              </a:xfrm>
              <a:prstGeom prst="diamond">
                <a:avLst/>
              </a:prstGeom>
              <a:solidFill>
                <a:schemeClr val="bg1"/>
              </a:solid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mj-ea"/>
                  <a:ea typeface="+mj-ea"/>
                </a:endParaRPr>
              </a:p>
            </p:txBody>
          </p:sp>
          <p:sp>
            <p:nvSpPr>
              <p:cNvPr id="9" name="Title-3">
                <a:extLst>
                  <a:ext uri="{FF2B5EF4-FFF2-40B4-BE49-F238E27FC236}">
                    <a16:creationId xmlns:a16="http://schemas.microsoft.com/office/drawing/2014/main" id="{FB724FAB-8CD9-CFDD-BD49-EEB8FCE6F001}"/>
                  </a:ext>
                </a:extLst>
              </p:cNvPr>
              <p:cNvSpPr txBox="1"/>
              <p:nvPr>
                <p:custDataLst>
                  <p:tags r:id="rId4"/>
                </p:custDataLst>
              </p:nvPr>
            </p:nvSpPr>
            <p:spPr>
              <a:xfrm>
                <a:off x="8696862" y="3551552"/>
                <a:ext cx="1878167" cy="369332"/>
              </a:xfrm>
              <a:prstGeom prst="rect">
                <a:avLst/>
              </a:prstGeom>
              <a:noFill/>
            </p:spPr>
            <p:txBody>
              <a:bodyPr wrap="square" rtlCol="0">
                <a:noAutofit/>
              </a:bodyPr>
              <a:lstStyle/>
              <a:p>
                <a:pPr algn="ctr"/>
                <a:r>
                  <a:rPr lang="zh-CN" altLang="en-US" sz="1400" b="1" dirty="0">
                    <a:solidFill>
                      <a:schemeClr val="accent3"/>
                    </a:solidFill>
                    <a:latin typeface="+mj-ea"/>
                    <a:ea typeface="+mj-ea"/>
                  </a:rPr>
                  <a:t>​</a:t>
                </a:r>
                <a:r>
                  <a:rPr lang="en-US" altLang="zh-CN" sz="1400" b="1" dirty="0">
                    <a:solidFill>
                      <a:schemeClr val="accent3"/>
                    </a:solidFill>
                    <a:latin typeface="+mj-ea"/>
                    <a:ea typeface="+mj-ea"/>
                  </a:rPr>
                  <a:t>3. </a:t>
                </a:r>
                <a:r>
                  <a:rPr lang="zh-CN" altLang="en-US" sz="1400" b="1" dirty="0">
                    <a:solidFill>
                      <a:schemeClr val="accent3"/>
                    </a:solidFill>
                    <a:latin typeface="+mj-ea"/>
                    <a:ea typeface="+mj-ea"/>
                  </a:rPr>
                  <a:t>技术驱动</a:t>
                </a:r>
              </a:p>
            </p:txBody>
          </p:sp>
          <p:sp>
            <p:nvSpPr>
              <p:cNvPr id="10" name="Body-3">
                <a:extLst>
                  <a:ext uri="{FF2B5EF4-FFF2-40B4-BE49-F238E27FC236}">
                    <a16:creationId xmlns:a16="http://schemas.microsoft.com/office/drawing/2014/main" id="{DB6D973F-180C-D433-FF1F-24BC62003A46}"/>
                  </a:ext>
                </a:extLst>
              </p:cNvPr>
              <p:cNvSpPr>
                <a:spLocks/>
              </p:cNvSpPr>
              <p:nvPr>
                <p:custDataLst>
                  <p:tags r:id="rId5"/>
                </p:custDataLst>
              </p:nvPr>
            </p:nvSpPr>
            <p:spPr>
              <a:xfrm>
                <a:off x="8197492" y="3888874"/>
                <a:ext cx="3657583" cy="23260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200" b="1" i="0" u="none" strike="noStrike" kern="1200" cap="none" spc="0" normalizeH="0" baseline="0" noProof="0" dirty="0">
                    <a:ln>
                      <a:noFill/>
                    </a:ln>
                    <a:solidFill>
                      <a:schemeClr val="tx2">
                        <a:lumMod val="75000"/>
                        <a:lumOff val="25000"/>
                      </a:schemeClr>
                    </a:solidFill>
                    <a:effectLst/>
                    <a:uLnTx/>
                    <a:uFillTx/>
                    <a:latin typeface="+mj-ea"/>
                    <a:ea typeface="+mj-ea"/>
                    <a:cs typeface="+mn-cs"/>
                  </a:rPr>
                  <a:t>​解决的核心问题：</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 提供了 ​​“</a:t>
                </a:r>
                <a:r>
                  <a:rPr kumimoji="0" lang="zh-CN" altLang="en-US" sz="1200" b="1" i="0" u="none" strike="noStrike" kern="1200" cap="none" spc="0" normalizeH="0" baseline="0" noProof="0" dirty="0">
                    <a:ln>
                      <a:noFill/>
                    </a:ln>
                    <a:solidFill>
                      <a:srgbClr val="00B050"/>
                    </a:solidFill>
                    <a:effectLst/>
                    <a:uLnTx/>
                    <a:uFillTx/>
                    <a:latin typeface="+mj-ea"/>
                    <a:ea typeface="+mj-ea"/>
                    <a:cs typeface="+mn-cs"/>
                  </a:rPr>
                  <a:t>实现手段</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 的新答案。数字化技术（如</a:t>
                </a:r>
                <a:r>
                  <a:rPr kumimoji="0" lang="en-US" altLang="zh-CN"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AI</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、大数据）为解决上述复杂的变革难题提供了强大的新工具，让人们看到了实现战略蓝图、甚至进行跨越式发展的可能。</a:t>
                </a:r>
              </a:p>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a:t>
                </a:r>
                <a:r>
                  <a:rPr kumimoji="0" lang="zh-CN" altLang="en-US" sz="1200" b="1" i="0" u="none" strike="noStrike" kern="1200" cap="none" spc="0" normalizeH="0" baseline="0" noProof="0" dirty="0">
                    <a:ln>
                      <a:noFill/>
                    </a:ln>
                    <a:solidFill>
                      <a:srgbClr val="C00000"/>
                    </a:solidFill>
                    <a:effectLst/>
                    <a:uLnTx/>
                    <a:uFillTx/>
                    <a:latin typeface="+mj-ea"/>
                    <a:ea typeface="+mj-ea"/>
                    <a:cs typeface="+mn-cs"/>
                  </a:rPr>
                  <a:t>引发的新问题</a:t>
                </a:r>
                <a:r>
                  <a:rPr kumimoji="0" lang="en-US" altLang="zh-CN" sz="1200" b="1" i="0" u="none" strike="noStrike" kern="1200" cap="none" spc="0" normalizeH="0" baseline="0" noProof="0" dirty="0">
                    <a:ln>
                      <a:noFill/>
                    </a:ln>
                    <a:solidFill>
                      <a:srgbClr val="C00000"/>
                    </a:solidFill>
                    <a:effectLst/>
                    <a:uLnTx/>
                    <a:uFillTx/>
                    <a:latin typeface="+mj-ea"/>
                    <a:ea typeface="+mj-ea"/>
                    <a:cs typeface="+mn-cs"/>
                  </a:rPr>
                  <a:t>/</a:t>
                </a:r>
                <a:r>
                  <a:rPr kumimoji="0" lang="zh-CN" altLang="en-US" sz="1200" b="1" i="0" u="none" strike="noStrike" kern="1200" cap="none" spc="0" normalizeH="0" baseline="0" noProof="0" dirty="0">
                    <a:ln>
                      <a:noFill/>
                    </a:ln>
                    <a:solidFill>
                      <a:srgbClr val="C00000"/>
                    </a:solidFill>
                    <a:effectLst/>
                    <a:uLnTx/>
                    <a:uFillTx/>
                    <a:latin typeface="+mj-ea"/>
                    <a:ea typeface="+mj-ea"/>
                    <a:cs typeface="+mn-cs"/>
                  </a:rPr>
                  <a:t>局限性：</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 导致了 ​​“能力空心化”​​ 的危机。企业过度依赖外部技术供应商和解决方案，自身</a:t>
                </a:r>
                <a:r>
                  <a:rPr kumimoji="0" lang="zh-CN" altLang="en-US" sz="1200" b="1" i="0" u="none" strike="noStrike" kern="1200" cap="none" spc="0" normalizeH="0" baseline="0" noProof="0" dirty="0">
                    <a:ln>
                      <a:noFill/>
                    </a:ln>
                    <a:solidFill>
                      <a:srgbClr val="C00000"/>
                    </a:solidFill>
                    <a:effectLst/>
                    <a:uLnTx/>
                    <a:uFillTx/>
                    <a:latin typeface="+mj-ea"/>
                    <a:ea typeface="+mj-ea"/>
                    <a:cs typeface="+mn-cs"/>
                  </a:rPr>
                  <a:t>并未形成驾驭</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这些技术的</a:t>
                </a:r>
                <a:r>
                  <a:rPr kumimoji="0" lang="zh-CN" altLang="en-US" sz="1200" b="1" i="0" u="none" strike="noStrike" kern="1200" cap="none" spc="0" normalizeH="0" baseline="0" noProof="0" dirty="0">
                    <a:ln>
                      <a:noFill/>
                    </a:ln>
                    <a:solidFill>
                      <a:srgbClr val="C00000"/>
                    </a:solidFill>
                    <a:effectLst/>
                    <a:uLnTx/>
                    <a:uFillTx/>
                    <a:latin typeface="+mj-ea"/>
                    <a:ea typeface="+mj-ea"/>
                    <a:cs typeface="+mn-cs"/>
                  </a:rPr>
                  <a:t>核心能力</a:t>
                </a:r>
                <a:r>
                  <a:rPr kumimoji="0" lang="zh-CN" altLang="en-US" sz="1200" b="0" i="0" u="none" strike="noStrike" kern="1200" cap="none" spc="0" normalizeH="0" baseline="0" noProof="0" dirty="0">
                    <a:ln>
                      <a:noFill/>
                    </a:ln>
                    <a:solidFill>
                      <a:schemeClr val="tx2">
                        <a:lumMod val="75000"/>
                        <a:lumOff val="25000"/>
                      </a:schemeClr>
                    </a:solidFill>
                    <a:effectLst/>
                    <a:uLnTx/>
                    <a:uFillTx/>
                    <a:latin typeface="+mj-ea"/>
                    <a:ea typeface="+mj-ea"/>
                    <a:cs typeface="+mn-cs"/>
                  </a:rPr>
                  <a:t>。当业务变化或技术更新时，企业面临“被套牢”和“重复投资”的风险。​</a:t>
                </a:r>
                <a:endParaRPr kumimoji="0" lang="en-GB" altLang="zh-CN" sz="1200" b="0" i="0" u="none" strike="noStrike" kern="1200" cap="none" spc="0" normalizeH="0" baseline="0" noProof="0" dirty="0">
                  <a:ln>
                    <a:noFill/>
                  </a:ln>
                  <a:solidFill>
                    <a:schemeClr val="tx2">
                      <a:lumMod val="75000"/>
                      <a:lumOff val="25000"/>
                    </a:schemeClr>
                  </a:solidFill>
                  <a:effectLst/>
                  <a:uLnTx/>
                  <a:uFillTx/>
                  <a:latin typeface="+mj-ea"/>
                  <a:ea typeface="+mj-ea"/>
                  <a:cs typeface="+mn-cs"/>
                </a:endParaRPr>
              </a:p>
            </p:txBody>
          </p:sp>
          <p:sp>
            <p:nvSpPr>
              <p:cNvPr id="11" name="Index-3">
                <a:extLst>
                  <a:ext uri="{FF2B5EF4-FFF2-40B4-BE49-F238E27FC236}">
                    <a16:creationId xmlns:a16="http://schemas.microsoft.com/office/drawing/2014/main" id="{54ED9C4F-21C8-144A-4601-FE4A8E9C071C}"/>
                  </a:ext>
                </a:extLst>
              </p:cNvPr>
              <p:cNvSpPr txBox="1"/>
              <p:nvPr>
                <p:custDataLst>
                  <p:tags r:id="rId6"/>
                </p:custDataLst>
              </p:nvPr>
            </p:nvSpPr>
            <p:spPr>
              <a:xfrm>
                <a:off x="8915945" y="2741072"/>
                <a:ext cx="1440000" cy="525664"/>
              </a:xfrm>
              <a:prstGeom prst="rect">
                <a:avLst/>
              </a:prstGeom>
              <a:noFill/>
            </p:spPr>
            <p:txBody>
              <a:bodyPr wrap="square" rtlCol="0">
                <a:noAutofit/>
              </a:bodyPr>
              <a:lstStyle/>
              <a:p>
                <a:pPr algn="ctr"/>
                <a:r>
                  <a:rPr lang="en-US" altLang="zh-CN" sz="1200" b="1" dirty="0">
                    <a:solidFill>
                      <a:schemeClr val="bg1"/>
                    </a:solidFill>
                    <a:latin typeface="+mj-ea"/>
                    <a:ea typeface="+mj-ea"/>
                  </a:rPr>
                  <a:t>2015-2020s</a:t>
                </a:r>
                <a:endParaRPr lang="zh-CN" altLang="en-US" sz="1200" b="1" dirty="0">
                  <a:solidFill>
                    <a:schemeClr val="bg1"/>
                  </a:solidFill>
                  <a:latin typeface="+mj-ea"/>
                  <a:ea typeface="+mj-ea"/>
                </a:endParaRPr>
              </a:p>
            </p:txBody>
          </p:sp>
        </p:grpSp>
      </p:grpSp>
      <p:sp>
        <p:nvSpPr>
          <p:cNvPr id="26" name="文本框 25">
            <a:extLst>
              <a:ext uri="{FF2B5EF4-FFF2-40B4-BE49-F238E27FC236}">
                <a16:creationId xmlns:a16="http://schemas.microsoft.com/office/drawing/2014/main" id="{93F15FA3-409D-C9B4-19B9-1370E5FB0FFA}"/>
              </a:ext>
            </a:extLst>
          </p:cNvPr>
          <p:cNvSpPr txBox="1"/>
          <p:nvPr/>
        </p:nvSpPr>
        <p:spPr>
          <a:xfrm>
            <a:off x="696480" y="5201211"/>
            <a:ext cx="7851149" cy="307777"/>
          </a:xfrm>
          <a:prstGeom prst="rect">
            <a:avLst/>
          </a:prstGeom>
          <a:noFill/>
        </p:spPr>
        <p:txBody>
          <a:bodyPr wrap="square" rtlCol="0">
            <a:spAutoFit/>
          </a:bodyPr>
          <a:lstStyle>
            <a:defPPr>
              <a:defRPr lang="zh-CN"/>
            </a:defPPr>
            <a:lvl1pPr>
              <a:defRPr sz="1600" b="1">
                <a:latin typeface="+mj-ea"/>
                <a:ea typeface="+mj-ea"/>
              </a:defRPr>
            </a:lvl1pPr>
          </a:lstStyle>
          <a:p>
            <a:r>
              <a:rPr lang="zh-CN" altLang="en-US" dirty="0"/>
              <a:t>全球供应链管理领先的企业实践</a:t>
            </a:r>
            <a:endParaRPr lang="en-US" altLang="zh-CN" dirty="0"/>
          </a:p>
        </p:txBody>
      </p:sp>
      <p:sp>
        <p:nvSpPr>
          <p:cNvPr id="27" name="文本框 26">
            <a:extLst>
              <a:ext uri="{FF2B5EF4-FFF2-40B4-BE49-F238E27FC236}">
                <a16:creationId xmlns:a16="http://schemas.microsoft.com/office/drawing/2014/main" id="{B76AF163-2718-F1C9-B9A4-04DA1A88DE14}"/>
              </a:ext>
            </a:extLst>
          </p:cNvPr>
          <p:cNvSpPr txBox="1"/>
          <p:nvPr/>
        </p:nvSpPr>
        <p:spPr>
          <a:xfrm>
            <a:off x="645459" y="776941"/>
            <a:ext cx="5175623" cy="338554"/>
          </a:xfrm>
          <a:prstGeom prst="rect">
            <a:avLst/>
          </a:prstGeom>
          <a:noFill/>
        </p:spPr>
        <p:txBody>
          <a:bodyPr wrap="square" rtlCol="0">
            <a:spAutoFit/>
          </a:bodyPr>
          <a:lstStyle/>
          <a:p>
            <a:r>
              <a:rPr lang="zh-CN" altLang="en-US" sz="1600" b="1" dirty="0">
                <a:latin typeface="+mj-ea"/>
                <a:ea typeface="+mj-ea"/>
              </a:rPr>
              <a:t>全球企业转型方法论的升级迭代</a:t>
            </a:r>
          </a:p>
        </p:txBody>
      </p:sp>
      <p:sp>
        <p:nvSpPr>
          <p:cNvPr id="28" name="文本框 27">
            <a:extLst>
              <a:ext uri="{FF2B5EF4-FFF2-40B4-BE49-F238E27FC236}">
                <a16:creationId xmlns:a16="http://schemas.microsoft.com/office/drawing/2014/main" id="{850BE0CC-85B5-4979-6228-F1C9E1FD0319}"/>
              </a:ext>
            </a:extLst>
          </p:cNvPr>
          <p:cNvSpPr txBox="1"/>
          <p:nvPr/>
        </p:nvSpPr>
        <p:spPr>
          <a:xfrm>
            <a:off x="1105647" y="5725459"/>
            <a:ext cx="6560074" cy="830997"/>
          </a:xfrm>
          <a:prstGeom prst="rect">
            <a:avLst/>
          </a:prstGeom>
          <a:noFill/>
        </p:spPr>
        <p:txBody>
          <a:bodyPr wrap="square" rtlCol="0">
            <a:spAutoFit/>
          </a:bodyPr>
          <a:lstStyle/>
          <a:p>
            <a:r>
              <a:rPr lang="en-US" altLang="zh-CN" sz="1200" b="1" dirty="0">
                <a:latin typeface="+mj-ea"/>
                <a:ea typeface="+mj-ea"/>
              </a:rPr>
              <a:t>2001-2015</a:t>
            </a:r>
            <a:r>
              <a:rPr lang="zh-CN" altLang="en-US" sz="1200" b="1" dirty="0">
                <a:latin typeface="+mj-ea"/>
                <a:ea typeface="+mj-ea"/>
              </a:rPr>
              <a:t>多次变革：国内第一之后从以产供销转型需求驱动、海外并购、夺魁、产业链并购、优化</a:t>
            </a:r>
            <a:r>
              <a:rPr lang="en-US" altLang="zh-CN" sz="1200" b="1" dirty="0">
                <a:latin typeface="+mj-ea"/>
                <a:ea typeface="+mj-ea"/>
              </a:rPr>
              <a:t>. </a:t>
            </a:r>
            <a:r>
              <a:rPr lang="zh-CN" altLang="en-US" sz="1200" b="1" dirty="0">
                <a:latin typeface="+mj-ea"/>
                <a:ea typeface="+mj-ea"/>
              </a:rPr>
              <a:t>所有工厂，分销中心的日常运营全部自动化。从问题驱动到</a:t>
            </a:r>
            <a:r>
              <a:rPr lang="en-US" altLang="zh-CN" sz="1200" b="1" dirty="0">
                <a:latin typeface="+mj-ea"/>
                <a:ea typeface="+mj-ea"/>
              </a:rPr>
              <a:t>KPI</a:t>
            </a:r>
            <a:r>
              <a:rPr lang="zh-CN" altLang="en-US" sz="1200" b="1" dirty="0">
                <a:latin typeface="+mj-ea"/>
                <a:ea typeface="+mj-ea"/>
              </a:rPr>
              <a:t>驱动。</a:t>
            </a:r>
            <a:r>
              <a:rPr lang="zh-CN" altLang="en-US" sz="1200" b="1" dirty="0">
                <a:solidFill>
                  <a:srgbClr val="C00000"/>
                </a:solidFill>
                <a:latin typeface="+mj-ea"/>
                <a:ea typeface="+mj-ea"/>
              </a:rPr>
              <a:t>挑战</a:t>
            </a:r>
            <a:r>
              <a:rPr lang="zh-CN" altLang="en-US" sz="1200" b="1" dirty="0">
                <a:latin typeface="+mj-ea"/>
                <a:ea typeface="+mj-ea"/>
              </a:rPr>
              <a:t>：</a:t>
            </a:r>
            <a:r>
              <a:rPr lang="zh-CN" altLang="en-US" sz="1200" b="1" dirty="0">
                <a:solidFill>
                  <a:srgbClr val="C00000"/>
                </a:solidFill>
                <a:latin typeface="+mj-ea"/>
                <a:ea typeface="+mj-ea"/>
              </a:rPr>
              <a:t>局部而非整体。</a:t>
            </a:r>
            <a:endParaRPr lang="en-US" altLang="zh-CN" sz="1200" b="1" dirty="0">
              <a:solidFill>
                <a:srgbClr val="C00000"/>
              </a:solidFill>
              <a:latin typeface="+mj-ea"/>
              <a:ea typeface="+mj-ea"/>
            </a:endParaRPr>
          </a:p>
          <a:p>
            <a:endParaRPr lang="zh-CN" altLang="en-US" sz="1200" b="1" dirty="0">
              <a:latin typeface="+mj-ea"/>
              <a:ea typeface="+mj-ea"/>
            </a:endParaRPr>
          </a:p>
        </p:txBody>
      </p:sp>
      <p:sp>
        <p:nvSpPr>
          <p:cNvPr id="30" name="文本框 29">
            <a:extLst>
              <a:ext uri="{FF2B5EF4-FFF2-40B4-BE49-F238E27FC236}">
                <a16:creationId xmlns:a16="http://schemas.microsoft.com/office/drawing/2014/main" id="{2CCD8E15-788F-5EB2-EF32-0C469B42CD12}"/>
              </a:ext>
            </a:extLst>
          </p:cNvPr>
          <p:cNvSpPr txBox="1"/>
          <p:nvPr/>
        </p:nvSpPr>
        <p:spPr>
          <a:xfrm>
            <a:off x="8127410" y="5725458"/>
            <a:ext cx="3108960" cy="646331"/>
          </a:xfrm>
          <a:prstGeom prst="rect">
            <a:avLst/>
          </a:prstGeom>
          <a:noFill/>
        </p:spPr>
        <p:txBody>
          <a:bodyPr wrap="square" rtlCol="0">
            <a:spAutoFit/>
          </a:bodyPr>
          <a:lstStyle/>
          <a:p>
            <a:r>
              <a:rPr lang="zh-CN" altLang="en-US" sz="1200" b="1" dirty="0">
                <a:latin typeface="+mj-ea"/>
                <a:ea typeface="+mj-ea"/>
              </a:rPr>
              <a:t>全面数字化和生态赋能：成绩斐然的同时也面临着</a:t>
            </a:r>
            <a:r>
              <a:rPr lang="zh-CN" altLang="en-US" sz="1200" b="1" dirty="0">
                <a:solidFill>
                  <a:srgbClr val="C00000"/>
                </a:solidFill>
                <a:latin typeface="+mj-ea"/>
                <a:ea typeface="+mj-ea"/>
              </a:rPr>
              <a:t>挑战：我们在哪，我们如何成为全球的供应链领导企业</a:t>
            </a:r>
          </a:p>
        </p:txBody>
      </p:sp>
    </p:spTree>
    <p:extLst>
      <p:ext uri="{BB962C8B-B14F-4D97-AF65-F5344CB8AC3E}">
        <p14:creationId xmlns:p14="http://schemas.microsoft.com/office/powerpoint/2010/main" val="258017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26"/>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28"/>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8" grpId="0"/>
      <p:bldP spid="30"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E1B470C-B12A-855B-1551-E55C76336812}"/>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转型范式的不成熟引起“死亡循环”</a:t>
            </a:r>
          </a:p>
        </p:txBody>
      </p:sp>
      <p:grpSp>
        <p:nvGrpSpPr>
          <p:cNvPr id="146" name="组合 01">
            <a:extLst>
              <a:ext uri="{FF2B5EF4-FFF2-40B4-BE49-F238E27FC236}">
                <a16:creationId xmlns:a16="http://schemas.microsoft.com/office/drawing/2014/main" id="{3FB4762B-11EB-656D-D679-25940D82F611}"/>
              </a:ext>
            </a:extLst>
          </p:cNvPr>
          <p:cNvGrpSpPr>
            <a:grpSpLocks noChangeAspect="1"/>
          </p:cNvGrpSpPr>
          <p:nvPr>
            <p:custDataLst>
              <p:tags r:id="rId1"/>
            </p:custDataLst>
          </p:nvPr>
        </p:nvGrpSpPr>
        <p:grpSpPr>
          <a:xfrm>
            <a:off x="337450" y="1210962"/>
            <a:ext cx="11648905" cy="4258962"/>
            <a:chOff x="618976" y="1445044"/>
            <a:chExt cx="11037879" cy="3910619"/>
          </a:xfrm>
        </p:grpSpPr>
        <p:grpSp>
          <p:nvGrpSpPr>
            <p:cNvPr id="147" name="组合 06">
              <a:extLst>
                <a:ext uri="{FF2B5EF4-FFF2-40B4-BE49-F238E27FC236}">
                  <a16:creationId xmlns:a16="http://schemas.microsoft.com/office/drawing/2014/main" id="{ECECD627-5217-B219-B786-529FCE7A6483}"/>
                </a:ext>
              </a:extLst>
            </p:cNvPr>
            <p:cNvGrpSpPr/>
            <p:nvPr/>
          </p:nvGrpSpPr>
          <p:grpSpPr>
            <a:xfrm>
              <a:off x="5591611" y="1445044"/>
              <a:ext cx="6065244" cy="1700304"/>
              <a:chOff x="5591611" y="1445044"/>
              <a:chExt cx="6065244" cy="1700304"/>
            </a:xfrm>
          </p:grpSpPr>
          <p:sp>
            <p:nvSpPr>
              <p:cNvPr id="188" name="6">
                <a:extLst>
                  <a:ext uri="{FF2B5EF4-FFF2-40B4-BE49-F238E27FC236}">
                    <a16:creationId xmlns:a16="http://schemas.microsoft.com/office/drawing/2014/main" id="{EB32CDBA-F7A9-B2B2-77B4-D325AFAE83B4}"/>
                  </a:ext>
                </a:extLst>
              </p:cNvPr>
              <p:cNvSpPr/>
              <p:nvPr/>
            </p:nvSpPr>
            <p:spPr>
              <a:xfrm rot="543687">
                <a:off x="5591611" y="1638935"/>
                <a:ext cx="1748121" cy="1506413"/>
              </a:xfrm>
              <a:custGeom>
                <a:avLst/>
                <a:gdLst>
                  <a:gd name="connsiteX0" fmla="*/ 520188 w 1561278"/>
                  <a:gd name="connsiteY0" fmla="*/ 7274 h 1345860"/>
                  <a:gd name="connsiteX1" fmla="*/ 616958 w 1561278"/>
                  <a:gd name="connsiteY1" fmla="*/ 0 h 1345860"/>
                  <a:gd name="connsiteX2" fmla="*/ 1558532 w 1561278"/>
                  <a:gd name="connsiteY2" fmla="*/ 1264925 h 1345860"/>
                  <a:gd name="connsiteX3" fmla="*/ 1561278 w 1561278"/>
                  <a:gd name="connsiteY3" fmla="*/ 1345860 h 1345860"/>
                  <a:gd name="connsiteX4" fmla="*/ 1510471 w 1561278"/>
                  <a:gd name="connsiteY4" fmla="*/ 1241283 h 1345860"/>
                  <a:gd name="connsiteX5" fmla="*/ 32483 w 1561278"/>
                  <a:gd name="connsiteY5" fmla="*/ 343778 h 1345860"/>
                  <a:gd name="connsiteX6" fmla="*/ 0 w 1561278"/>
                  <a:gd name="connsiteY6" fmla="*/ 341932 h 1345860"/>
                  <a:gd name="connsiteX7" fmla="*/ 14921 w 1561278"/>
                  <a:gd name="connsiteY7" fmla="*/ 321744 h 1345860"/>
                  <a:gd name="connsiteX8" fmla="*/ 520188 w 1561278"/>
                  <a:gd name="connsiteY8" fmla="*/ 7274 h 1345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1278" h="1345860">
                    <a:moveTo>
                      <a:pt x="520188" y="7274"/>
                    </a:moveTo>
                    <a:cubicBezTo>
                      <a:pt x="552005" y="2464"/>
                      <a:pt x="584288" y="0"/>
                      <a:pt x="616958" y="0"/>
                    </a:cubicBezTo>
                    <a:cubicBezTo>
                      <a:pt x="1107005" y="0"/>
                      <a:pt x="1510065" y="554435"/>
                      <a:pt x="1558532" y="1264925"/>
                    </a:cubicBezTo>
                    <a:lnTo>
                      <a:pt x="1561278" y="1345860"/>
                    </a:lnTo>
                    <a:lnTo>
                      <a:pt x="1510471" y="1241283"/>
                    </a:lnTo>
                    <a:cubicBezTo>
                      <a:pt x="1233785" y="745864"/>
                      <a:pt x="678366" y="408587"/>
                      <a:pt x="32483" y="343778"/>
                    </a:cubicBezTo>
                    <a:lnTo>
                      <a:pt x="0" y="341932"/>
                    </a:lnTo>
                    <a:lnTo>
                      <a:pt x="14921" y="321744"/>
                    </a:lnTo>
                    <a:cubicBezTo>
                      <a:pt x="155153" y="149458"/>
                      <a:pt x="329284" y="36136"/>
                      <a:pt x="520188" y="7274"/>
                    </a:cubicBezTo>
                    <a:close/>
                  </a:path>
                </a:pathLst>
              </a:custGeom>
              <a:gradFill flip="none" rotWithShape="1">
                <a:gsLst>
                  <a:gs pos="18000">
                    <a:schemeClr val="accent1"/>
                  </a:gs>
                  <a:gs pos="100000">
                    <a:schemeClr val="accent2"/>
                  </a:gs>
                </a:gsLst>
                <a:lin ang="10800000" scaled="1"/>
                <a:tileRect/>
              </a:gradFill>
              <a:ln>
                <a:noFill/>
              </a:ln>
              <a:effectLst>
                <a:outerShdw blurRad="114300" dist="50800" dir="8100000" algn="tr" rotWithShape="0">
                  <a:schemeClr val="accent3">
                    <a:alpha val="20000"/>
                  </a:schemeClr>
                </a:outerShdw>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defPPr>
                  <a:defRPr lang="zh-CN"/>
                </a:defPPr>
                <a:lvl1pPr marL="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1pPr>
                <a:lvl2pPr marL="457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2pPr>
                <a:lvl3pPr marL="914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3pPr>
                <a:lvl4pPr marL="1371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4pPr>
                <a:lvl5pPr marL="18288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5pPr>
                <a:lvl6pPr marL="22860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6pPr>
                <a:lvl7pPr marL="2743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7pPr>
                <a:lvl8pPr marL="3200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8pPr>
                <a:lvl9pPr marL="3657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9pPr>
              </a:lstStyle>
              <a:p>
                <a:pPr algn="ctr"/>
                <a:endParaRPr lang="zh-CN" altLang="en-US" b="1">
                  <a:latin typeface="+mn-ea"/>
                  <a:ea typeface="+mn-ea"/>
                  <a:sym typeface="微软雅黑" panose="020B0503020204020204" charset="-122"/>
                </a:endParaRPr>
              </a:p>
            </p:txBody>
          </p:sp>
          <p:sp>
            <p:nvSpPr>
              <p:cNvPr id="189" name="6">
                <a:extLst>
                  <a:ext uri="{FF2B5EF4-FFF2-40B4-BE49-F238E27FC236}">
                    <a16:creationId xmlns:a16="http://schemas.microsoft.com/office/drawing/2014/main" id="{FE43DC6D-0C90-1CB4-1B52-9AFD006A8B90}"/>
                  </a:ext>
                </a:extLst>
              </p:cNvPr>
              <p:cNvSpPr/>
              <p:nvPr/>
            </p:nvSpPr>
            <p:spPr>
              <a:xfrm flipH="1">
                <a:off x="8547667" y="1445044"/>
                <a:ext cx="3054425" cy="1107739"/>
              </a:xfrm>
              <a:prstGeom prst="rect">
                <a:avLst/>
              </a:prstGeom>
              <a:solidFill>
                <a:schemeClr val="accent1">
                  <a:lumMod val="20000"/>
                  <a:lumOff val="80000"/>
                  <a:alpha val="3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b="1">
                  <a:latin typeface="+mn-ea"/>
                </a:endParaRPr>
              </a:p>
            </p:txBody>
          </p:sp>
          <p:cxnSp>
            <p:nvCxnSpPr>
              <p:cNvPr id="190" name="6">
                <a:extLst>
                  <a:ext uri="{FF2B5EF4-FFF2-40B4-BE49-F238E27FC236}">
                    <a16:creationId xmlns:a16="http://schemas.microsoft.com/office/drawing/2014/main" id="{BC3DF0DF-BFC1-658B-69AF-6C7F8783DCB4}"/>
                  </a:ext>
                </a:extLst>
              </p:cNvPr>
              <p:cNvCxnSpPr>
                <a:cxnSpLocks/>
              </p:cNvCxnSpPr>
              <p:nvPr/>
            </p:nvCxnSpPr>
            <p:spPr>
              <a:xfrm>
                <a:off x="7688704" y="1986497"/>
                <a:ext cx="640080" cy="0"/>
              </a:xfrm>
              <a:prstGeom prst="line">
                <a:avLst/>
              </a:prstGeom>
              <a:ln>
                <a:solidFill>
                  <a:schemeClr val="accent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91" name="6">
                <a:extLst>
                  <a:ext uri="{FF2B5EF4-FFF2-40B4-BE49-F238E27FC236}">
                    <a16:creationId xmlns:a16="http://schemas.microsoft.com/office/drawing/2014/main" id="{039F9D9B-B74C-919D-786D-B574A3EE3106}"/>
                  </a:ext>
                </a:extLst>
              </p:cNvPr>
              <p:cNvSpPr/>
              <p:nvPr/>
            </p:nvSpPr>
            <p:spPr>
              <a:xfrm flipH="1">
                <a:off x="8547667" y="1445044"/>
                <a:ext cx="82532" cy="1107739"/>
              </a:xfrm>
              <a:prstGeom prst="rect">
                <a:avLst/>
              </a:prstGeom>
              <a:gradFill flip="none" rotWithShape="1">
                <a:gsLst>
                  <a:gs pos="18000">
                    <a:schemeClr val="accent1"/>
                  </a:gs>
                  <a:gs pos="100000">
                    <a:schemeClr val="accent2"/>
                  </a:gs>
                </a:gsLst>
                <a:lin ang="16200000" scaled="1"/>
                <a:tileRect/>
              </a:gradFill>
              <a:ln>
                <a:noFill/>
              </a:ln>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p>
                <a:pPr algn="ctr"/>
                <a:endParaRPr lang="zh-CN" altLang="en-US" b="1">
                  <a:solidFill>
                    <a:srgbClr val="FFFFFF"/>
                  </a:solidFill>
                  <a:latin typeface="+mn-ea"/>
                  <a:cs typeface="+mn-ea"/>
                </a:endParaRPr>
              </a:p>
            </p:txBody>
          </p:sp>
          <p:sp>
            <p:nvSpPr>
              <p:cNvPr id="192" name="Index-6">
                <a:extLst>
                  <a:ext uri="{FF2B5EF4-FFF2-40B4-BE49-F238E27FC236}">
                    <a16:creationId xmlns:a16="http://schemas.microsoft.com/office/drawing/2014/main" id="{C3C0F03F-F278-D05F-BA82-75A8DE135ECB}"/>
                  </a:ext>
                </a:extLst>
              </p:cNvPr>
              <p:cNvSpPr/>
              <p:nvPr>
                <p:custDataLst>
                  <p:tags r:id="rId17"/>
                </p:custDataLst>
              </p:nvPr>
            </p:nvSpPr>
            <p:spPr>
              <a:xfrm>
                <a:off x="6169786" y="1715228"/>
                <a:ext cx="358552" cy="358552"/>
              </a:xfrm>
              <a:prstGeom prst="ellipse">
                <a:avLst/>
              </a:prstGeom>
              <a:solidFill>
                <a:schemeClr val="bg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rgbClr val="FF0000"/>
                    </a:solidFill>
                    <a:latin typeface="Arial" panose="020B0604020202020204" pitchFamily="34" charset="0"/>
                    <a:ea typeface="微软雅黑" panose="020B0503020204020204" pitchFamily="34" charset="-122"/>
                  </a:rPr>
                  <a:t>6</a:t>
                </a:r>
                <a:endParaRPr lang="zh-CN" altLang="en-US" sz="2400" b="1" dirty="0">
                  <a:solidFill>
                    <a:srgbClr val="FF0000"/>
                  </a:solidFill>
                  <a:latin typeface="Arial" panose="020B0604020202020204" pitchFamily="34" charset="0"/>
                  <a:ea typeface="微软雅黑" panose="020B0503020204020204" pitchFamily="34" charset="-122"/>
                </a:endParaRPr>
              </a:p>
            </p:txBody>
          </p:sp>
          <p:sp>
            <p:nvSpPr>
              <p:cNvPr id="193" name="Body-6">
                <a:extLst>
                  <a:ext uri="{FF2B5EF4-FFF2-40B4-BE49-F238E27FC236}">
                    <a16:creationId xmlns:a16="http://schemas.microsoft.com/office/drawing/2014/main" id="{0C252552-4B50-8DF9-AA8D-42D5E0E48F72}"/>
                  </a:ext>
                </a:extLst>
              </p:cNvPr>
              <p:cNvSpPr/>
              <p:nvPr>
                <p:custDataLst>
                  <p:tags r:id="rId18"/>
                </p:custDataLst>
              </p:nvPr>
            </p:nvSpPr>
            <p:spPr>
              <a:xfrm flipH="1">
                <a:off x="8792373" y="1718187"/>
                <a:ext cx="2824266" cy="7111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defTabSz="913765">
                  <a:lnSpc>
                    <a:spcPct val="120000"/>
                  </a:lnSpc>
                  <a:buSzPct val="100000"/>
                  <a:defRPr/>
                </a:pPr>
                <a:r>
                  <a:rPr lang="zh-CN" altLang="en-US" sz="1400" b="1" i="0" dirty="0">
                    <a:solidFill>
                      <a:schemeClr val="tx1"/>
                    </a:solidFill>
                    <a:effectLst/>
                    <a:latin typeface="+mj-ea"/>
                    <a:ea typeface="+mj-ea"/>
                  </a:rPr>
                  <a:t>企业因缺乏成功范式，不断复制上述全套错误，使“死亡循环”代码被持续粘贴。</a:t>
                </a:r>
                <a:endParaRPr lang="zh-CN" altLang="en-US" sz="1400" b="1" dirty="0">
                  <a:solidFill>
                    <a:schemeClr val="tx1"/>
                  </a:solidFill>
                  <a:latin typeface="+mj-ea"/>
                  <a:ea typeface="+mj-ea"/>
                </a:endParaRPr>
              </a:p>
            </p:txBody>
          </p:sp>
          <p:sp>
            <p:nvSpPr>
              <p:cNvPr id="194" name="Title-6">
                <a:extLst>
                  <a:ext uri="{FF2B5EF4-FFF2-40B4-BE49-F238E27FC236}">
                    <a16:creationId xmlns:a16="http://schemas.microsoft.com/office/drawing/2014/main" id="{41C9F6D5-A562-9A12-22C2-82C3FD53B987}"/>
                  </a:ext>
                </a:extLst>
              </p:cNvPr>
              <p:cNvSpPr/>
              <p:nvPr>
                <p:custDataLst>
                  <p:tags r:id="rId19"/>
                </p:custDataLst>
              </p:nvPr>
            </p:nvSpPr>
            <p:spPr>
              <a:xfrm flipH="1">
                <a:off x="8787141" y="1580330"/>
                <a:ext cx="2869714" cy="2382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1" indent="0" defTabSz="914400" rtl="0" eaLnBrk="1" fontAlgn="auto" latinLnBrk="0" hangingPunct="1">
                  <a:lnSpc>
                    <a:spcPct val="100000"/>
                  </a:lnSpc>
                  <a:spcBef>
                    <a:spcPts val="0"/>
                  </a:spcBef>
                  <a:spcAft>
                    <a:spcPts val="0"/>
                  </a:spcAft>
                  <a:buClrTx/>
                  <a:buSzTx/>
                  <a:buFontTx/>
                  <a:buNone/>
                  <a:defRPr/>
                </a:pPr>
                <a:r>
                  <a:rPr lang="zh-CN" altLang="en-US" b="1" i="0" dirty="0">
                    <a:solidFill>
                      <a:srgbClr val="C00000"/>
                    </a:solidFill>
                    <a:effectLst/>
                    <a:latin typeface="+mj-ea"/>
                    <a:ea typeface="+mj-ea"/>
                  </a:rPr>
                  <a:t>错误模式的病毒式复制</a:t>
                </a:r>
                <a:endParaRPr kumimoji="0" lang="en-US" altLang="zh-CN" b="1" i="0" u="none" strike="noStrike" kern="1200" cap="none" spc="0" normalizeH="0" baseline="0" noProof="0" dirty="0">
                  <a:ln>
                    <a:noFill/>
                  </a:ln>
                  <a:solidFill>
                    <a:srgbClr val="C00000"/>
                  </a:solidFill>
                  <a:effectLst/>
                  <a:uLnTx/>
                  <a:uFillTx/>
                  <a:latin typeface="+mj-ea"/>
                  <a:ea typeface="+mj-ea"/>
                  <a:sym typeface="Arial" panose="020B0604020202020204" pitchFamily="34" charset="0"/>
                </a:endParaRPr>
              </a:p>
            </p:txBody>
          </p:sp>
        </p:grpSp>
        <p:grpSp>
          <p:nvGrpSpPr>
            <p:cNvPr id="148" name="组合 05">
              <a:extLst>
                <a:ext uri="{FF2B5EF4-FFF2-40B4-BE49-F238E27FC236}">
                  <a16:creationId xmlns:a16="http://schemas.microsoft.com/office/drawing/2014/main" id="{FF709319-C2C2-4054-AE4B-AEE6AB95D27B}"/>
                </a:ext>
              </a:extLst>
            </p:cNvPr>
            <p:cNvGrpSpPr/>
            <p:nvPr/>
          </p:nvGrpSpPr>
          <p:grpSpPr>
            <a:xfrm>
              <a:off x="6451809" y="2436573"/>
              <a:ext cx="5205046" cy="1748121"/>
              <a:chOff x="6451809" y="2436573"/>
              <a:chExt cx="5205046" cy="1748121"/>
            </a:xfrm>
          </p:grpSpPr>
          <p:sp>
            <p:nvSpPr>
              <p:cNvPr id="181" name="5">
                <a:extLst>
                  <a:ext uri="{FF2B5EF4-FFF2-40B4-BE49-F238E27FC236}">
                    <a16:creationId xmlns:a16="http://schemas.microsoft.com/office/drawing/2014/main" id="{1E1FC392-B055-FCFA-6FA9-07857E3CB926}"/>
                  </a:ext>
                </a:extLst>
              </p:cNvPr>
              <p:cNvSpPr/>
              <p:nvPr/>
            </p:nvSpPr>
            <p:spPr>
              <a:xfrm rot="4323684">
                <a:off x="6330955" y="2557427"/>
                <a:ext cx="1748121" cy="1506413"/>
              </a:xfrm>
              <a:custGeom>
                <a:avLst/>
                <a:gdLst>
                  <a:gd name="connsiteX0" fmla="*/ 520188 w 1561278"/>
                  <a:gd name="connsiteY0" fmla="*/ 7274 h 1345860"/>
                  <a:gd name="connsiteX1" fmla="*/ 616958 w 1561278"/>
                  <a:gd name="connsiteY1" fmla="*/ 0 h 1345860"/>
                  <a:gd name="connsiteX2" fmla="*/ 1558532 w 1561278"/>
                  <a:gd name="connsiteY2" fmla="*/ 1264925 h 1345860"/>
                  <a:gd name="connsiteX3" fmla="*/ 1561278 w 1561278"/>
                  <a:gd name="connsiteY3" fmla="*/ 1345860 h 1345860"/>
                  <a:gd name="connsiteX4" fmla="*/ 1510471 w 1561278"/>
                  <a:gd name="connsiteY4" fmla="*/ 1241283 h 1345860"/>
                  <a:gd name="connsiteX5" fmla="*/ 32483 w 1561278"/>
                  <a:gd name="connsiteY5" fmla="*/ 343778 h 1345860"/>
                  <a:gd name="connsiteX6" fmla="*/ 0 w 1561278"/>
                  <a:gd name="connsiteY6" fmla="*/ 341932 h 1345860"/>
                  <a:gd name="connsiteX7" fmla="*/ 14921 w 1561278"/>
                  <a:gd name="connsiteY7" fmla="*/ 321744 h 1345860"/>
                  <a:gd name="connsiteX8" fmla="*/ 520188 w 1561278"/>
                  <a:gd name="connsiteY8" fmla="*/ 7274 h 1345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1278" h="1345860">
                    <a:moveTo>
                      <a:pt x="520188" y="7274"/>
                    </a:moveTo>
                    <a:cubicBezTo>
                      <a:pt x="552005" y="2464"/>
                      <a:pt x="584288" y="0"/>
                      <a:pt x="616958" y="0"/>
                    </a:cubicBezTo>
                    <a:cubicBezTo>
                      <a:pt x="1107005" y="0"/>
                      <a:pt x="1510065" y="554435"/>
                      <a:pt x="1558532" y="1264925"/>
                    </a:cubicBezTo>
                    <a:lnTo>
                      <a:pt x="1561278" y="1345860"/>
                    </a:lnTo>
                    <a:lnTo>
                      <a:pt x="1510471" y="1241283"/>
                    </a:lnTo>
                    <a:cubicBezTo>
                      <a:pt x="1233785" y="745864"/>
                      <a:pt x="678366" y="408587"/>
                      <a:pt x="32483" y="343778"/>
                    </a:cubicBezTo>
                    <a:lnTo>
                      <a:pt x="0" y="341932"/>
                    </a:lnTo>
                    <a:lnTo>
                      <a:pt x="14921" y="321744"/>
                    </a:lnTo>
                    <a:cubicBezTo>
                      <a:pt x="155153" y="149458"/>
                      <a:pt x="329284" y="36136"/>
                      <a:pt x="520188" y="7274"/>
                    </a:cubicBezTo>
                    <a:close/>
                  </a:path>
                </a:pathLst>
              </a:custGeom>
              <a:gradFill>
                <a:gsLst>
                  <a:gs pos="18000">
                    <a:schemeClr val="accent2"/>
                  </a:gs>
                  <a:gs pos="100000">
                    <a:schemeClr val="accent3"/>
                  </a:gs>
                </a:gsLst>
                <a:lin ang="2700000" scaled="0"/>
              </a:gradFill>
              <a:ln>
                <a:noFill/>
              </a:ln>
              <a:effectLst>
                <a:outerShdw blurRad="114300" dist="50800" dir="8100000" algn="tr" rotWithShape="0">
                  <a:schemeClr val="accent3">
                    <a:alpha val="20000"/>
                  </a:schemeClr>
                </a:outerShdw>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defPPr>
                  <a:defRPr lang="zh-CN"/>
                </a:defPPr>
                <a:lvl1pPr marL="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1pPr>
                <a:lvl2pPr marL="457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2pPr>
                <a:lvl3pPr marL="914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3pPr>
                <a:lvl4pPr marL="1371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4pPr>
                <a:lvl5pPr marL="18288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5pPr>
                <a:lvl6pPr marL="22860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6pPr>
                <a:lvl7pPr marL="2743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7pPr>
                <a:lvl8pPr marL="3200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8pPr>
                <a:lvl9pPr marL="3657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9pPr>
              </a:lstStyle>
              <a:p>
                <a:pPr algn="ctr"/>
                <a:endParaRPr lang="zh-CN" altLang="en-US" b="1">
                  <a:latin typeface="+mn-ea"/>
                  <a:ea typeface="+mn-ea"/>
                  <a:sym typeface="微软雅黑" panose="020B0503020204020204" charset="-122"/>
                </a:endParaRPr>
              </a:p>
            </p:txBody>
          </p:sp>
          <p:sp>
            <p:nvSpPr>
              <p:cNvPr id="182" name="5">
                <a:extLst>
                  <a:ext uri="{FF2B5EF4-FFF2-40B4-BE49-F238E27FC236}">
                    <a16:creationId xmlns:a16="http://schemas.microsoft.com/office/drawing/2014/main" id="{F20F8517-B0B9-9B8E-A967-8800644C5DE7}"/>
                  </a:ext>
                </a:extLst>
              </p:cNvPr>
              <p:cNvSpPr/>
              <p:nvPr/>
            </p:nvSpPr>
            <p:spPr>
              <a:xfrm flipH="1">
                <a:off x="8547667" y="2846484"/>
                <a:ext cx="3054425" cy="1107739"/>
              </a:xfrm>
              <a:prstGeom prst="rect">
                <a:avLst/>
              </a:prstGeom>
              <a:solidFill>
                <a:schemeClr val="accent1">
                  <a:lumMod val="20000"/>
                  <a:lumOff val="80000"/>
                  <a:alpha val="3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b="1">
                  <a:latin typeface="+mn-ea"/>
                </a:endParaRPr>
              </a:p>
            </p:txBody>
          </p:sp>
          <p:sp>
            <p:nvSpPr>
              <p:cNvPr id="183" name="5">
                <a:extLst>
                  <a:ext uri="{FF2B5EF4-FFF2-40B4-BE49-F238E27FC236}">
                    <a16:creationId xmlns:a16="http://schemas.microsoft.com/office/drawing/2014/main" id="{9776BA7E-3320-F6F3-216A-82612C6043C4}"/>
                  </a:ext>
                </a:extLst>
              </p:cNvPr>
              <p:cNvSpPr/>
              <p:nvPr/>
            </p:nvSpPr>
            <p:spPr>
              <a:xfrm flipH="1">
                <a:off x="8547667" y="2846484"/>
                <a:ext cx="82532" cy="1107739"/>
              </a:xfrm>
              <a:prstGeom prst="rect">
                <a:avLst/>
              </a:prstGeom>
              <a:gradFill>
                <a:gsLst>
                  <a:gs pos="18000">
                    <a:schemeClr val="accent2"/>
                  </a:gs>
                  <a:gs pos="100000">
                    <a:schemeClr val="accent3"/>
                  </a:gs>
                </a:gsLst>
                <a:lin ang="162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b="1">
                  <a:latin typeface="+mn-ea"/>
                </a:endParaRPr>
              </a:p>
            </p:txBody>
          </p:sp>
          <p:cxnSp>
            <p:nvCxnSpPr>
              <p:cNvPr id="184" name="5">
                <a:extLst>
                  <a:ext uri="{FF2B5EF4-FFF2-40B4-BE49-F238E27FC236}">
                    <a16:creationId xmlns:a16="http://schemas.microsoft.com/office/drawing/2014/main" id="{390045B6-12C5-E99A-F235-F62AF871436A}"/>
                  </a:ext>
                </a:extLst>
              </p:cNvPr>
              <p:cNvCxnSpPr>
                <a:cxnSpLocks/>
              </p:cNvCxnSpPr>
              <p:nvPr/>
            </p:nvCxnSpPr>
            <p:spPr>
              <a:xfrm>
                <a:off x="7881985" y="3391172"/>
                <a:ext cx="446799" cy="0"/>
              </a:xfrm>
              <a:prstGeom prst="line">
                <a:avLst/>
              </a:prstGeom>
              <a:ln>
                <a:solidFill>
                  <a:schemeClr val="accent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85" name="Index-5">
                <a:extLst>
                  <a:ext uri="{FF2B5EF4-FFF2-40B4-BE49-F238E27FC236}">
                    <a16:creationId xmlns:a16="http://schemas.microsoft.com/office/drawing/2014/main" id="{3061E921-1EF0-52EB-3400-17E1BBB6FB9D}"/>
                  </a:ext>
                </a:extLst>
              </p:cNvPr>
              <p:cNvSpPr/>
              <p:nvPr>
                <p:custDataLst>
                  <p:tags r:id="rId14"/>
                </p:custDataLst>
              </p:nvPr>
            </p:nvSpPr>
            <p:spPr>
              <a:xfrm>
                <a:off x="7424687" y="2846484"/>
                <a:ext cx="358552" cy="358552"/>
              </a:xfrm>
              <a:prstGeom prst="ellipse">
                <a:avLst/>
              </a:prstGeom>
              <a:solidFill>
                <a:schemeClr val="bg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accent3"/>
                    </a:solidFill>
                    <a:latin typeface="Arial" panose="020B0604020202020204" pitchFamily="34" charset="0"/>
                    <a:ea typeface="微软雅黑" panose="020B0503020204020204" pitchFamily="34" charset="-122"/>
                  </a:rPr>
                  <a:t>5</a:t>
                </a:r>
                <a:endParaRPr lang="zh-CN" altLang="en-US" sz="2400" b="1" dirty="0">
                  <a:solidFill>
                    <a:schemeClr val="accent3"/>
                  </a:solidFill>
                  <a:latin typeface="Arial" panose="020B0604020202020204" pitchFamily="34" charset="0"/>
                  <a:ea typeface="微软雅黑" panose="020B0503020204020204" pitchFamily="34" charset="-122"/>
                </a:endParaRPr>
              </a:p>
            </p:txBody>
          </p:sp>
          <p:sp>
            <p:nvSpPr>
              <p:cNvPr id="186" name="Body-5">
                <a:extLst>
                  <a:ext uri="{FF2B5EF4-FFF2-40B4-BE49-F238E27FC236}">
                    <a16:creationId xmlns:a16="http://schemas.microsoft.com/office/drawing/2014/main" id="{AA3A7F7B-7F23-5A46-D840-3FDE2643DB95}"/>
                  </a:ext>
                </a:extLst>
              </p:cNvPr>
              <p:cNvSpPr/>
              <p:nvPr>
                <p:custDataLst>
                  <p:tags r:id="rId15"/>
                </p:custDataLst>
              </p:nvPr>
            </p:nvSpPr>
            <p:spPr>
              <a:xfrm flipH="1">
                <a:off x="8805207" y="3158167"/>
                <a:ext cx="2824266" cy="7111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20000"/>
                  </a:lnSpc>
                  <a:spcBef>
                    <a:spcPts val="0"/>
                  </a:spcBef>
                  <a:spcAft>
                    <a:spcPts val="0"/>
                  </a:spcAft>
                  <a:buClrTx/>
                  <a:buSzPct val="100000"/>
                  <a:buFontTx/>
                  <a:buNone/>
                  <a:defRPr/>
                </a:pPr>
                <a:r>
                  <a:rPr lang="zh-CN" altLang="en-US" sz="1400" b="1" i="0" dirty="0">
                    <a:solidFill>
                      <a:schemeClr val="tx1"/>
                    </a:solidFill>
                    <a:effectLst/>
                    <a:latin typeface="+mj-ea"/>
                    <a:ea typeface="+mj-ea"/>
                  </a:rPr>
                  <a:t>从业者在错误的路径和系统中积累无效经验，无法形成真正的“三位一体”数字化能力。</a:t>
                </a:r>
                <a:endParaRPr lang="en-US" altLang="zh-CN" sz="1300" b="1" dirty="0">
                  <a:solidFill>
                    <a:schemeClr val="tx1"/>
                  </a:solidFill>
                  <a:latin typeface="+mj-ea"/>
                  <a:ea typeface="+mj-ea"/>
                </a:endParaRPr>
              </a:p>
            </p:txBody>
          </p:sp>
          <p:sp>
            <p:nvSpPr>
              <p:cNvPr id="187" name="Title-5">
                <a:extLst>
                  <a:ext uri="{FF2B5EF4-FFF2-40B4-BE49-F238E27FC236}">
                    <a16:creationId xmlns:a16="http://schemas.microsoft.com/office/drawing/2014/main" id="{D8EEE01E-77BA-351B-2AC6-212F54E3A0B5}"/>
                  </a:ext>
                </a:extLst>
              </p:cNvPr>
              <p:cNvSpPr/>
              <p:nvPr>
                <p:custDataLst>
                  <p:tags r:id="rId16"/>
                </p:custDataLst>
              </p:nvPr>
            </p:nvSpPr>
            <p:spPr>
              <a:xfrm flipH="1">
                <a:off x="8787141" y="2981770"/>
                <a:ext cx="2869714" cy="2382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lvl="1"/>
                <a:r>
                  <a:rPr lang="zh-CN" altLang="en-US" b="1" dirty="0">
                    <a:solidFill>
                      <a:srgbClr val="C00000"/>
                    </a:solidFill>
                    <a:latin typeface="Arial" panose="020B0604020202020204" pitchFamily="34" charset="0"/>
                    <a:ea typeface="微软雅黑" panose="020B0503020204020204" pitchFamily="34" charset="-122"/>
                    <a:sym typeface="Arial" panose="020B0604020202020204" pitchFamily="34" charset="0"/>
                  </a:rPr>
                  <a:t>人才与能力建设误区：</a:t>
                </a:r>
                <a:endParaRPr lang="en-US" altLang="zh-CN" b="1" dirty="0">
                  <a:solidFill>
                    <a:srgbClr val="C00000"/>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49" name="组合 04">
              <a:extLst>
                <a:ext uri="{FF2B5EF4-FFF2-40B4-BE49-F238E27FC236}">
                  <a16:creationId xmlns:a16="http://schemas.microsoft.com/office/drawing/2014/main" id="{EB38868D-5BAB-FB99-453C-0899E6168048}"/>
                </a:ext>
              </a:extLst>
            </p:cNvPr>
            <p:cNvGrpSpPr/>
            <p:nvPr/>
          </p:nvGrpSpPr>
          <p:grpSpPr>
            <a:xfrm>
              <a:off x="6090668" y="3432555"/>
              <a:ext cx="5566187" cy="1923108"/>
              <a:chOff x="6090668" y="3432555"/>
              <a:chExt cx="5566187" cy="1923108"/>
            </a:xfrm>
          </p:grpSpPr>
          <p:sp>
            <p:nvSpPr>
              <p:cNvPr id="174" name="4">
                <a:extLst>
                  <a:ext uri="{FF2B5EF4-FFF2-40B4-BE49-F238E27FC236}">
                    <a16:creationId xmlns:a16="http://schemas.microsoft.com/office/drawing/2014/main" id="{A36AD161-E500-65CA-EA5E-05A68949A96B}"/>
                  </a:ext>
                </a:extLst>
              </p:cNvPr>
              <p:cNvSpPr/>
              <p:nvPr/>
            </p:nvSpPr>
            <p:spPr>
              <a:xfrm rot="7803683">
                <a:off x="5969814" y="3553409"/>
                <a:ext cx="1748121" cy="1506413"/>
              </a:xfrm>
              <a:custGeom>
                <a:avLst/>
                <a:gdLst>
                  <a:gd name="connsiteX0" fmla="*/ 520188 w 1561278"/>
                  <a:gd name="connsiteY0" fmla="*/ 7274 h 1345860"/>
                  <a:gd name="connsiteX1" fmla="*/ 616958 w 1561278"/>
                  <a:gd name="connsiteY1" fmla="*/ 0 h 1345860"/>
                  <a:gd name="connsiteX2" fmla="*/ 1558532 w 1561278"/>
                  <a:gd name="connsiteY2" fmla="*/ 1264925 h 1345860"/>
                  <a:gd name="connsiteX3" fmla="*/ 1561278 w 1561278"/>
                  <a:gd name="connsiteY3" fmla="*/ 1345860 h 1345860"/>
                  <a:gd name="connsiteX4" fmla="*/ 1510471 w 1561278"/>
                  <a:gd name="connsiteY4" fmla="*/ 1241283 h 1345860"/>
                  <a:gd name="connsiteX5" fmla="*/ 32483 w 1561278"/>
                  <a:gd name="connsiteY5" fmla="*/ 343778 h 1345860"/>
                  <a:gd name="connsiteX6" fmla="*/ 0 w 1561278"/>
                  <a:gd name="connsiteY6" fmla="*/ 341932 h 1345860"/>
                  <a:gd name="connsiteX7" fmla="*/ 14921 w 1561278"/>
                  <a:gd name="connsiteY7" fmla="*/ 321744 h 1345860"/>
                  <a:gd name="connsiteX8" fmla="*/ 520188 w 1561278"/>
                  <a:gd name="connsiteY8" fmla="*/ 7274 h 1345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1278" h="1345860">
                    <a:moveTo>
                      <a:pt x="520188" y="7274"/>
                    </a:moveTo>
                    <a:cubicBezTo>
                      <a:pt x="552005" y="2464"/>
                      <a:pt x="584288" y="0"/>
                      <a:pt x="616958" y="0"/>
                    </a:cubicBezTo>
                    <a:cubicBezTo>
                      <a:pt x="1107005" y="0"/>
                      <a:pt x="1510065" y="554435"/>
                      <a:pt x="1558532" y="1264925"/>
                    </a:cubicBezTo>
                    <a:lnTo>
                      <a:pt x="1561278" y="1345860"/>
                    </a:lnTo>
                    <a:lnTo>
                      <a:pt x="1510471" y="1241283"/>
                    </a:lnTo>
                    <a:cubicBezTo>
                      <a:pt x="1233785" y="745864"/>
                      <a:pt x="678366" y="408587"/>
                      <a:pt x="32483" y="343778"/>
                    </a:cubicBezTo>
                    <a:lnTo>
                      <a:pt x="0" y="341932"/>
                    </a:lnTo>
                    <a:lnTo>
                      <a:pt x="14921" y="321744"/>
                    </a:lnTo>
                    <a:cubicBezTo>
                      <a:pt x="155153" y="149458"/>
                      <a:pt x="329284" y="36136"/>
                      <a:pt x="520188" y="7274"/>
                    </a:cubicBezTo>
                    <a:close/>
                  </a:path>
                </a:pathLst>
              </a:custGeom>
              <a:gradFill flip="none" rotWithShape="1">
                <a:gsLst>
                  <a:gs pos="18000">
                    <a:schemeClr val="accent1"/>
                  </a:gs>
                  <a:gs pos="100000">
                    <a:schemeClr val="accent2"/>
                  </a:gs>
                </a:gsLst>
                <a:lin ang="10800000" scaled="1"/>
                <a:tileRect/>
              </a:gradFill>
              <a:ln>
                <a:noFill/>
              </a:ln>
              <a:effectLst>
                <a:outerShdw blurRad="114300" dist="50800" dir="8100000" algn="tr" rotWithShape="0">
                  <a:schemeClr val="accent3">
                    <a:alpha val="20000"/>
                  </a:schemeClr>
                </a:outerShdw>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defPPr>
                  <a:defRPr lang="zh-CN"/>
                </a:defPPr>
                <a:lvl1pPr marL="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1pPr>
                <a:lvl2pPr marL="457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2pPr>
                <a:lvl3pPr marL="914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3pPr>
                <a:lvl4pPr marL="1371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4pPr>
                <a:lvl5pPr marL="18288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5pPr>
                <a:lvl6pPr marL="22860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6pPr>
                <a:lvl7pPr marL="2743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7pPr>
                <a:lvl8pPr marL="3200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8pPr>
                <a:lvl9pPr marL="3657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9pPr>
              </a:lstStyle>
              <a:p>
                <a:pPr algn="ctr"/>
                <a:endParaRPr lang="zh-CN" altLang="en-US" b="1">
                  <a:latin typeface="+mn-ea"/>
                  <a:ea typeface="+mn-ea"/>
                  <a:sym typeface="微软雅黑" panose="020B0503020204020204" charset="-122"/>
                </a:endParaRPr>
              </a:p>
            </p:txBody>
          </p:sp>
          <p:sp>
            <p:nvSpPr>
              <p:cNvPr id="175" name="4">
                <a:extLst>
                  <a:ext uri="{FF2B5EF4-FFF2-40B4-BE49-F238E27FC236}">
                    <a16:creationId xmlns:a16="http://schemas.microsoft.com/office/drawing/2014/main" id="{FD928A43-54A8-F375-30EC-19F231A8790E}"/>
                  </a:ext>
                </a:extLst>
              </p:cNvPr>
              <p:cNvSpPr/>
              <p:nvPr/>
            </p:nvSpPr>
            <p:spPr>
              <a:xfrm flipH="1">
                <a:off x="8547667" y="4247924"/>
                <a:ext cx="3054425" cy="1107739"/>
              </a:xfrm>
              <a:prstGeom prst="rect">
                <a:avLst/>
              </a:prstGeom>
              <a:solidFill>
                <a:schemeClr val="accent1">
                  <a:lumMod val="20000"/>
                  <a:lumOff val="80000"/>
                  <a:alpha val="3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b="1">
                  <a:latin typeface="+mn-ea"/>
                </a:endParaRPr>
              </a:p>
            </p:txBody>
          </p:sp>
          <p:sp>
            <p:nvSpPr>
              <p:cNvPr id="176" name="4">
                <a:extLst>
                  <a:ext uri="{FF2B5EF4-FFF2-40B4-BE49-F238E27FC236}">
                    <a16:creationId xmlns:a16="http://schemas.microsoft.com/office/drawing/2014/main" id="{C9119AF7-6312-6121-7397-D8BD9693D71B}"/>
                  </a:ext>
                </a:extLst>
              </p:cNvPr>
              <p:cNvSpPr/>
              <p:nvPr/>
            </p:nvSpPr>
            <p:spPr>
              <a:xfrm flipH="1">
                <a:off x="8547667" y="4247924"/>
                <a:ext cx="82532" cy="1107739"/>
              </a:xfrm>
              <a:prstGeom prst="rect">
                <a:avLst/>
              </a:prstGeom>
              <a:gradFill flip="none" rotWithShape="1">
                <a:gsLst>
                  <a:gs pos="18000">
                    <a:schemeClr val="accent1"/>
                  </a:gs>
                  <a:gs pos="100000">
                    <a:schemeClr val="accent2"/>
                  </a:gs>
                </a:gsLst>
                <a:lin ang="16200000" scaled="1"/>
                <a:tileRect/>
              </a:gradFill>
              <a:ln>
                <a:noFill/>
              </a:ln>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p>
                <a:pPr algn="ctr"/>
                <a:endParaRPr lang="zh-CN" altLang="en-US" b="1">
                  <a:solidFill>
                    <a:srgbClr val="FFFFFF"/>
                  </a:solidFill>
                  <a:latin typeface="+mn-ea"/>
                  <a:cs typeface="+mn-ea"/>
                </a:endParaRPr>
              </a:p>
            </p:txBody>
          </p:sp>
          <p:cxnSp>
            <p:nvCxnSpPr>
              <p:cNvPr id="177" name="4">
                <a:extLst>
                  <a:ext uri="{FF2B5EF4-FFF2-40B4-BE49-F238E27FC236}">
                    <a16:creationId xmlns:a16="http://schemas.microsoft.com/office/drawing/2014/main" id="{B8DEC574-339A-5747-4583-58860C9D0F2A}"/>
                  </a:ext>
                </a:extLst>
              </p:cNvPr>
              <p:cNvCxnSpPr>
                <a:cxnSpLocks/>
              </p:cNvCxnSpPr>
              <p:nvPr/>
            </p:nvCxnSpPr>
            <p:spPr>
              <a:xfrm>
                <a:off x="7688704" y="4814208"/>
                <a:ext cx="640080" cy="0"/>
              </a:xfrm>
              <a:prstGeom prst="line">
                <a:avLst/>
              </a:prstGeom>
              <a:ln>
                <a:solidFill>
                  <a:schemeClr val="accent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78" name="Index-4">
                <a:extLst>
                  <a:ext uri="{FF2B5EF4-FFF2-40B4-BE49-F238E27FC236}">
                    <a16:creationId xmlns:a16="http://schemas.microsoft.com/office/drawing/2014/main" id="{D3C97B13-7305-569D-532C-31D564F30AF7}"/>
                  </a:ext>
                </a:extLst>
              </p:cNvPr>
              <p:cNvSpPr/>
              <p:nvPr>
                <p:custDataLst>
                  <p:tags r:id="rId11"/>
                </p:custDataLst>
              </p:nvPr>
            </p:nvSpPr>
            <p:spPr>
              <a:xfrm>
                <a:off x="7130813" y="4315461"/>
                <a:ext cx="358552" cy="358552"/>
              </a:xfrm>
              <a:prstGeom prst="ellipse">
                <a:avLst/>
              </a:prstGeom>
              <a:solidFill>
                <a:schemeClr val="bg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rgbClr val="FF0000"/>
                    </a:solidFill>
                    <a:latin typeface="Arial" panose="020B0604020202020204" pitchFamily="34" charset="0"/>
                    <a:ea typeface="微软雅黑" panose="020B0503020204020204" pitchFamily="34" charset="-122"/>
                  </a:rPr>
                  <a:t>4</a:t>
                </a:r>
                <a:endParaRPr lang="zh-CN" altLang="en-US" sz="2400" b="1" dirty="0">
                  <a:solidFill>
                    <a:srgbClr val="FF0000"/>
                  </a:solidFill>
                  <a:latin typeface="Arial" panose="020B0604020202020204" pitchFamily="34" charset="0"/>
                  <a:ea typeface="微软雅黑" panose="020B0503020204020204" pitchFamily="34" charset="-122"/>
                </a:endParaRPr>
              </a:p>
            </p:txBody>
          </p:sp>
          <p:sp>
            <p:nvSpPr>
              <p:cNvPr id="179" name="Body-4">
                <a:extLst>
                  <a:ext uri="{FF2B5EF4-FFF2-40B4-BE49-F238E27FC236}">
                    <a16:creationId xmlns:a16="http://schemas.microsoft.com/office/drawing/2014/main" id="{98C753BF-FFC3-4392-5257-ABBF97972D3A}"/>
                  </a:ext>
                </a:extLst>
              </p:cNvPr>
              <p:cNvSpPr/>
              <p:nvPr>
                <p:custDataLst>
                  <p:tags r:id="rId12"/>
                </p:custDataLst>
              </p:nvPr>
            </p:nvSpPr>
            <p:spPr>
              <a:xfrm flipH="1">
                <a:off x="8764492" y="4563778"/>
                <a:ext cx="2824266" cy="70284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20000"/>
                  </a:lnSpc>
                  <a:spcBef>
                    <a:spcPts val="0"/>
                  </a:spcBef>
                  <a:spcAft>
                    <a:spcPts val="0"/>
                  </a:spcAft>
                  <a:buClrTx/>
                  <a:buSzPct val="100000"/>
                  <a:buFontTx/>
                  <a:buNone/>
                  <a:defRPr/>
                </a:pPr>
                <a:r>
                  <a:rPr lang="zh-CN" altLang="en-US" sz="1400" b="1" i="0" dirty="0">
                    <a:solidFill>
                      <a:schemeClr val="tx1"/>
                    </a:solidFill>
                    <a:effectLst/>
                    <a:latin typeface="+mj-ea"/>
                    <a:ea typeface="+mj-ea"/>
                  </a:rPr>
                  <a:t>受限于乙方推广和甲方经验不足等因素，采用并不适配的工具去解决相应问题</a:t>
                </a:r>
                <a:endParaRPr lang="en-US" altLang="zh-CN" sz="1300" b="1" dirty="0">
                  <a:solidFill>
                    <a:schemeClr val="tx1"/>
                  </a:solidFill>
                  <a:latin typeface="+mj-ea"/>
                  <a:ea typeface="+mj-ea"/>
                </a:endParaRPr>
              </a:p>
            </p:txBody>
          </p:sp>
          <p:sp>
            <p:nvSpPr>
              <p:cNvPr id="180" name="Title-4">
                <a:extLst>
                  <a:ext uri="{FF2B5EF4-FFF2-40B4-BE49-F238E27FC236}">
                    <a16:creationId xmlns:a16="http://schemas.microsoft.com/office/drawing/2014/main" id="{22A33799-A3A6-D3B1-9072-A3DCD63D5BC3}"/>
                  </a:ext>
                </a:extLst>
              </p:cNvPr>
              <p:cNvSpPr/>
              <p:nvPr>
                <p:custDataLst>
                  <p:tags r:id="rId13"/>
                </p:custDataLst>
              </p:nvPr>
            </p:nvSpPr>
            <p:spPr>
              <a:xfrm flipH="1">
                <a:off x="8787141" y="4383210"/>
                <a:ext cx="2869714" cy="2382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1" indent="0" defTabSz="914400" rtl="0" eaLnBrk="1" fontAlgn="auto" latinLnBrk="0" hangingPunct="1">
                  <a:lnSpc>
                    <a:spcPct val="100000"/>
                  </a:lnSpc>
                  <a:spcBef>
                    <a:spcPts val="0"/>
                  </a:spcBef>
                  <a:spcAft>
                    <a:spcPts val="0"/>
                  </a:spcAft>
                  <a:buClrTx/>
                  <a:buSzTx/>
                  <a:buFontTx/>
                  <a:buNone/>
                  <a:defRPr/>
                </a:pPr>
                <a:r>
                  <a:rPr lang="zh-CN" altLang="en-US" b="1" dirty="0">
                    <a:solidFill>
                      <a:srgbClr val="C00000"/>
                    </a:solidFill>
                    <a:latin typeface="Arial" panose="020B0604020202020204" pitchFamily="34" charset="0"/>
                    <a:ea typeface="微软雅黑" panose="020B0503020204020204" pitchFamily="34" charset="-122"/>
                    <a:sym typeface="Arial" panose="020B0604020202020204" pitchFamily="34" charset="0"/>
                  </a:rPr>
                  <a:t>工具与场景错配：</a:t>
                </a:r>
                <a:endParaRPr kumimoji="0" lang="en-US" altLang="zh-CN" b="1" i="0" u="none" strike="noStrike" kern="1200" cap="none" spc="0" normalizeH="0" baseline="0" noProof="0" dirty="0">
                  <a:ln>
                    <a:noFill/>
                  </a:ln>
                  <a:solidFill>
                    <a:srgbClr val="C00000"/>
                  </a:solidFill>
                  <a:effectLst/>
                  <a:uLnTx/>
                  <a:uFillTx/>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50" name="组合 03">
              <a:extLst>
                <a:ext uri="{FF2B5EF4-FFF2-40B4-BE49-F238E27FC236}">
                  <a16:creationId xmlns:a16="http://schemas.microsoft.com/office/drawing/2014/main" id="{5BE5D1D6-8E0A-5650-FD78-1F8902AC707E}"/>
                </a:ext>
              </a:extLst>
            </p:cNvPr>
            <p:cNvGrpSpPr/>
            <p:nvPr/>
          </p:nvGrpSpPr>
          <p:grpSpPr>
            <a:xfrm>
              <a:off x="618976" y="3712652"/>
              <a:ext cx="5970038" cy="1643011"/>
              <a:chOff x="618976" y="3712652"/>
              <a:chExt cx="5970038" cy="1643011"/>
            </a:xfrm>
          </p:grpSpPr>
          <p:sp>
            <p:nvSpPr>
              <p:cNvPr id="167" name="3">
                <a:extLst>
                  <a:ext uri="{FF2B5EF4-FFF2-40B4-BE49-F238E27FC236}">
                    <a16:creationId xmlns:a16="http://schemas.microsoft.com/office/drawing/2014/main" id="{C6BE6993-D897-006D-C7AF-07AFEF14E31A}"/>
                  </a:ext>
                </a:extLst>
              </p:cNvPr>
              <p:cNvSpPr/>
              <p:nvPr/>
            </p:nvSpPr>
            <p:spPr>
              <a:xfrm rot="11343684">
                <a:off x="4840893" y="3712652"/>
                <a:ext cx="1748121" cy="1506413"/>
              </a:xfrm>
              <a:custGeom>
                <a:avLst/>
                <a:gdLst>
                  <a:gd name="connsiteX0" fmla="*/ 520188 w 1561278"/>
                  <a:gd name="connsiteY0" fmla="*/ 7274 h 1345860"/>
                  <a:gd name="connsiteX1" fmla="*/ 616958 w 1561278"/>
                  <a:gd name="connsiteY1" fmla="*/ 0 h 1345860"/>
                  <a:gd name="connsiteX2" fmla="*/ 1558532 w 1561278"/>
                  <a:gd name="connsiteY2" fmla="*/ 1264925 h 1345860"/>
                  <a:gd name="connsiteX3" fmla="*/ 1561278 w 1561278"/>
                  <a:gd name="connsiteY3" fmla="*/ 1345860 h 1345860"/>
                  <a:gd name="connsiteX4" fmla="*/ 1510471 w 1561278"/>
                  <a:gd name="connsiteY4" fmla="*/ 1241283 h 1345860"/>
                  <a:gd name="connsiteX5" fmla="*/ 32483 w 1561278"/>
                  <a:gd name="connsiteY5" fmla="*/ 343778 h 1345860"/>
                  <a:gd name="connsiteX6" fmla="*/ 0 w 1561278"/>
                  <a:gd name="connsiteY6" fmla="*/ 341932 h 1345860"/>
                  <a:gd name="connsiteX7" fmla="*/ 14921 w 1561278"/>
                  <a:gd name="connsiteY7" fmla="*/ 321744 h 1345860"/>
                  <a:gd name="connsiteX8" fmla="*/ 520188 w 1561278"/>
                  <a:gd name="connsiteY8" fmla="*/ 7274 h 1345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1278" h="1345860">
                    <a:moveTo>
                      <a:pt x="520188" y="7274"/>
                    </a:moveTo>
                    <a:cubicBezTo>
                      <a:pt x="552005" y="2464"/>
                      <a:pt x="584288" y="0"/>
                      <a:pt x="616958" y="0"/>
                    </a:cubicBezTo>
                    <a:cubicBezTo>
                      <a:pt x="1107005" y="0"/>
                      <a:pt x="1510065" y="554435"/>
                      <a:pt x="1558532" y="1264925"/>
                    </a:cubicBezTo>
                    <a:lnTo>
                      <a:pt x="1561278" y="1345860"/>
                    </a:lnTo>
                    <a:lnTo>
                      <a:pt x="1510471" y="1241283"/>
                    </a:lnTo>
                    <a:cubicBezTo>
                      <a:pt x="1233785" y="745864"/>
                      <a:pt x="678366" y="408587"/>
                      <a:pt x="32483" y="343778"/>
                    </a:cubicBezTo>
                    <a:lnTo>
                      <a:pt x="0" y="341932"/>
                    </a:lnTo>
                    <a:lnTo>
                      <a:pt x="14921" y="321744"/>
                    </a:lnTo>
                    <a:cubicBezTo>
                      <a:pt x="155153" y="149458"/>
                      <a:pt x="329284" y="36136"/>
                      <a:pt x="520188" y="7274"/>
                    </a:cubicBezTo>
                    <a:close/>
                  </a:path>
                </a:pathLst>
              </a:custGeom>
              <a:gradFill>
                <a:gsLst>
                  <a:gs pos="18000">
                    <a:schemeClr val="accent2"/>
                  </a:gs>
                  <a:gs pos="100000">
                    <a:schemeClr val="accent3"/>
                  </a:gs>
                </a:gsLst>
                <a:lin ang="2700000" scaled="0"/>
              </a:gradFill>
              <a:ln>
                <a:noFill/>
              </a:ln>
              <a:effectLst>
                <a:outerShdw blurRad="114300" dist="50800" dir="8100000" algn="tr" rotWithShape="0">
                  <a:schemeClr val="accent3">
                    <a:alpha val="20000"/>
                  </a:schemeClr>
                </a:outerShdw>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defPPr>
                  <a:defRPr lang="zh-CN"/>
                </a:defPPr>
                <a:lvl1pPr marL="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1pPr>
                <a:lvl2pPr marL="457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2pPr>
                <a:lvl3pPr marL="914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3pPr>
                <a:lvl4pPr marL="1371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4pPr>
                <a:lvl5pPr marL="18288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5pPr>
                <a:lvl6pPr marL="22860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6pPr>
                <a:lvl7pPr marL="2743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7pPr>
                <a:lvl8pPr marL="3200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8pPr>
                <a:lvl9pPr marL="3657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9pPr>
              </a:lstStyle>
              <a:p>
                <a:pPr algn="ctr"/>
                <a:endParaRPr lang="zh-CN" altLang="en-US" b="1">
                  <a:latin typeface="+mn-ea"/>
                  <a:ea typeface="+mn-ea"/>
                  <a:sym typeface="微软雅黑" panose="020B0503020204020204" charset="-122"/>
                </a:endParaRPr>
              </a:p>
            </p:txBody>
          </p:sp>
          <p:sp>
            <p:nvSpPr>
              <p:cNvPr id="168" name="3">
                <a:extLst>
                  <a:ext uri="{FF2B5EF4-FFF2-40B4-BE49-F238E27FC236}">
                    <a16:creationId xmlns:a16="http://schemas.microsoft.com/office/drawing/2014/main" id="{15ACA906-B594-4062-DE45-DEFEC68F49E3}"/>
                  </a:ext>
                </a:extLst>
              </p:cNvPr>
              <p:cNvSpPr/>
              <p:nvPr/>
            </p:nvSpPr>
            <p:spPr>
              <a:xfrm>
                <a:off x="673739" y="4247924"/>
                <a:ext cx="3054425" cy="1107739"/>
              </a:xfrm>
              <a:prstGeom prst="rect">
                <a:avLst/>
              </a:prstGeom>
              <a:solidFill>
                <a:schemeClr val="accent1">
                  <a:lumMod val="20000"/>
                  <a:lumOff val="80000"/>
                  <a:alpha val="3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b="1">
                  <a:latin typeface="+mn-ea"/>
                </a:endParaRPr>
              </a:p>
            </p:txBody>
          </p:sp>
          <p:sp>
            <p:nvSpPr>
              <p:cNvPr id="169" name="3">
                <a:extLst>
                  <a:ext uri="{FF2B5EF4-FFF2-40B4-BE49-F238E27FC236}">
                    <a16:creationId xmlns:a16="http://schemas.microsoft.com/office/drawing/2014/main" id="{082088F7-5931-451F-B302-640545439CAB}"/>
                  </a:ext>
                </a:extLst>
              </p:cNvPr>
              <p:cNvSpPr/>
              <p:nvPr/>
            </p:nvSpPr>
            <p:spPr>
              <a:xfrm>
                <a:off x="3645632" y="4247924"/>
                <a:ext cx="82532" cy="1107739"/>
              </a:xfrm>
              <a:prstGeom prst="rect">
                <a:avLst/>
              </a:prstGeom>
              <a:gradFill>
                <a:gsLst>
                  <a:gs pos="18000">
                    <a:schemeClr val="accent2"/>
                  </a:gs>
                  <a:gs pos="100000">
                    <a:schemeClr val="accent3"/>
                  </a:gs>
                </a:gsLst>
                <a:lin ang="162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b="1">
                  <a:latin typeface="+mn-ea"/>
                </a:endParaRPr>
              </a:p>
            </p:txBody>
          </p:sp>
          <p:cxnSp>
            <p:nvCxnSpPr>
              <p:cNvPr id="170" name="3">
                <a:extLst>
                  <a:ext uri="{FF2B5EF4-FFF2-40B4-BE49-F238E27FC236}">
                    <a16:creationId xmlns:a16="http://schemas.microsoft.com/office/drawing/2014/main" id="{DED2BCCB-5CAF-D9DC-BF03-1FFC128E87D6}"/>
                  </a:ext>
                </a:extLst>
              </p:cNvPr>
              <p:cNvCxnSpPr>
                <a:cxnSpLocks/>
              </p:cNvCxnSpPr>
              <p:nvPr/>
            </p:nvCxnSpPr>
            <p:spPr>
              <a:xfrm flipH="1">
                <a:off x="3878313" y="4809888"/>
                <a:ext cx="640080" cy="0"/>
              </a:xfrm>
              <a:prstGeom prst="line">
                <a:avLst/>
              </a:prstGeom>
              <a:ln>
                <a:solidFill>
                  <a:schemeClr val="accent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71" name="Index-3">
                <a:extLst>
                  <a:ext uri="{FF2B5EF4-FFF2-40B4-BE49-F238E27FC236}">
                    <a16:creationId xmlns:a16="http://schemas.microsoft.com/office/drawing/2014/main" id="{861EF61D-B8CA-DFBB-D1BA-F9FD0A66EF6B}"/>
                  </a:ext>
                </a:extLst>
              </p:cNvPr>
              <p:cNvSpPr/>
              <p:nvPr>
                <p:custDataLst>
                  <p:tags r:id="rId8"/>
                </p:custDataLst>
              </p:nvPr>
            </p:nvSpPr>
            <p:spPr>
              <a:xfrm>
                <a:off x="5612137" y="4791528"/>
                <a:ext cx="358552" cy="358552"/>
              </a:xfrm>
              <a:prstGeom prst="ellipse">
                <a:avLst/>
              </a:prstGeom>
              <a:solidFill>
                <a:schemeClr val="bg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accent3"/>
                    </a:solidFill>
                    <a:latin typeface="Arial" panose="020B0604020202020204" pitchFamily="34" charset="0"/>
                    <a:ea typeface="微软雅黑" panose="020B0503020204020204" pitchFamily="34" charset="-122"/>
                  </a:rPr>
                  <a:t>3</a:t>
                </a:r>
                <a:endParaRPr lang="zh-CN" altLang="en-US" sz="2400" b="1" dirty="0">
                  <a:solidFill>
                    <a:schemeClr val="accent3"/>
                  </a:solidFill>
                  <a:latin typeface="Arial" panose="020B0604020202020204" pitchFamily="34" charset="0"/>
                  <a:ea typeface="微软雅黑" panose="020B0503020204020204" pitchFamily="34" charset="-122"/>
                </a:endParaRPr>
              </a:p>
            </p:txBody>
          </p:sp>
          <p:sp>
            <p:nvSpPr>
              <p:cNvPr id="172" name="Body-3">
                <a:extLst>
                  <a:ext uri="{FF2B5EF4-FFF2-40B4-BE49-F238E27FC236}">
                    <a16:creationId xmlns:a16="http://schemas.microsoft.com/office/drawing/2014/main" id="{32D29F8B-39CA-9C8D-0D6D-0C4D8FBAE143}"/>
                  </a:ext>
                </a:extLst>
              </p:cNvPr>
              <p:cNvSpPr/>
              <p:nvPr>
                <p:custDataLst>
                  <p:tags r:id="rId9"/>
                </p:custDataLst>
              </p:nvPr>
            </p:nvSpPr>
            <p:spPr>
              <a:xfrm>
                <a:off x="724427" y="4502355"/>
                <a:ext cx="2824266" cy="7111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20000"/>
                  </a:lnSpc>
                  <a:spcBef>
                    <a:spcPts val="0"/>
                  </a:spcBef>
                  <a:spcAft>
                    <a:spcPts val="0"/>
                  </a:spcAft>
                  <a:buClrTx/>
                  <a:buSzPct val="100000"/>
                  <a:buFontTx/>
                  <a:buNone/>
                  <a:defRPr/>
                </a:pPr>
                <a:r>
                  <a:rPr lang="zh-CN" altLang="en-US" sz="1400" b="1" i="0" dirty="0">
                    <a:solidFill>
                      <a:schemeClr val="tx1"/>
                    </a:solidFill>
                    <a:effectLst/>
                    <a:latin typeface="+mj-ea"/>
                    <a:ea typeface="+mj-ea"/>
                  </a:rPr>
                  <a:t>采用自上而下的错误顺序，从上层计划（如</a:t>
                </a:r>
                <a:r>
                  <a:rPr lang="en-US" altLang="zh-CN" sz="1400" b="1" i="0" dirty="0">
                    <a:solidFill>
                      <a:schemeClr val="tx1"/>
                    </a:solidFill>
                    <a:effectLst/>
                    <a:latin typeface="+mj-ea"/>
                    <a:ea typeface="+mj-ea"/>
                  </a:rPr>
                  <a:t>S&amp;OP</a:t>
                </a:r>
                <a:r>
                  <a:rPr lang="zh-CN" altLang="en-US" sz="1400" b="1" i="0" dirty="0">
                    <a:solidFill>
                      <a:schemeClr val="tx1"/>
                    </a:solidFill>
                    <a:effectLst/>
                    <a:latin typeface="+mj-ea"/>
                    <a:ea typeface="+mj-ea"/>
                  </a:rPr>
                  <a:t>）开始设计，导致方案与执行脱节</a:t>
                </a:r>
                <a:endParaRPr kumimoji="0" lang="zh-CN" altLang="en-US" sz="1300" b="1" i="0" u="none" strike="noStrike" kern="1200" cap="none" spc="0" normalizeH="0" baseline="0" noProof="0" dirty="0">
                  <a:ln>
                    <a:noFill/>
                  </a:ln>
                  <a:solidFill>
                    <a:schemeClr val="tx1"/>
                  </a:solidFill>
                  <a:effectLst/>
                  <a:uLnTx/>
                  <a:uFillTx/>
                  <a:latin typeface="+mj-ea"/>
                  <a:ea typeface="+mj-ea"/>
                </a:endParaRPr>
              </a:p>
            </p:txBody>
          </p:sp>
          <p:sp>
            <p:nvSpPr>
              <p:cNvPr id="173" name="Title-3">
                <a:extLst>
                  <a:ext uri="{FF2B5EF4-FFF2-40B4-BE49-F238E27FC236}">
                    <a16:creationId xmlns:a16="http://schemas.microsoft.com/office/drawing/2014/main" id="{31D2AB94-AF7A-2772-CBA2-C36BB4A1AC77}"/>
                  </a:ext>
                </a:extLst>
              </p:cNvPr>
              <p:cNvSpPr/>
              <p:nvPr>
                <p:custDataLst>
                  <p:tags r:id="rId10"/>
                </p:custDataLst>
              </p:nvPr>
            </p:nvSpPr>
            <p:spPr>
              <a:xfrm>
                <a:off x="618976" y="4383210"/>
                <a:ext cx="2869714" cy="2382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1" indent="0" algn="r" defTabSz="914400" rtl="0" eaLnBrk="1" fontAlgn="auto" latinLnBrk="0" hangingPunct="1">
                  <a:lnSpc>
                    <a:spcPct val="100000"/>
                  </a:lnSpc>
                  <a:spcBef>
                    <a:spcPts val="0"/>
                  </a:spcBef>
                  <a:spcAft>
                    <a:spcPts val="0"/>
                  </a:spcAft>
                  <a:buClrTx/>
                  <a:buSzTx/>
                  <a:buFontTx/>
                  <a:buNone/>
                  <a:defRPr/>
                </a:pPr>
                <a:r>
                  <a:rPr kumimoji="0" lang="zh-CN" altLang="en-US" b="1" i="0" u="none" strike="noStrike" kern="1200" cap="none" spc="0" normalizeH="0" baseline="0" noProof="0" dirty="0">
                    <a:ln>
                      <a:noFill/>
                    </a:ln>
                    <a:solidFill>
                      <a:srgbClr val="C00000"/>
                    </a:solidFill>
                    <a:effectLst/>
                    <a:uLnTx/>
                    <a:uFillTx/>
                    <a:latin typeface="Arial" panose="020B0604020202020204" pitchFamily="34" charset="0"/>
                    <a:ea typeface="微软雅黑" panose="020B0503020204020204" pitchFamily="34" charset="-122"/>
                    <a:sym typeface="Arial" panose="020B0604020202020204" pitchFamily="34" charset="0"/>
                  </a:rPr>
                  <a:t>实施路径误区：</a:t>
                </a:r>
                <a:endParaRPr kumimoji="0" lang="en-US" altLang="zh-CN" b="1" i="0" u="none" strike="noStrike" kern="1200" cap="none" spc="0" normalizeH="0" baseline="0" noProof="0" dirty="0">
                  <a:ln>
                    <a:noFill/>
                  </a:ln>
                  <a:solidFill>
                    <a:srgbClr val="C00000"/>
                  </a:solidFill>
                  <a:effectLst/>
                  <a:uLnTx/>
                  <a:uFillTx/>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51" name="组合 02">
              <a:extLst>
                <a:ext uri="{FF2B5EF4-FFF2-40B4-BE49-F238E27FC236}">
                  <a16:creationId xmlns:a16="http://schemas.microsoft.com/office/drawing/2014/main" id="{6CD5F46B-0FFF-75EA-0581-59F2786D5FF9}"/>
                </a:ext>
              </a:extLst>
            </p:cNvPr>
            <p:cNvGrpSpPr/>
            <p:nvPr/>
          </p:nvGrpSpPr>
          <p:grpSpPr>
            <a:xfrm>
              <a:off x="618976" y="2752927"/>
              <a:ext cx="5121215" cy="1748121"/>
              <a:chOff x="618976" y="2752927"/>
              <a:chExt cx="5121215" cy="1748121"/>
            </a:xfrm>
          </p:grpSpPr>
          <p:sp>
            <p:nvSpPr>
              <p:cNvPr id="160" name="2">
                <a:extLst>
                  <a:ext uri="{FF2B5EF4-FFF2-40B4-BE49-F238E27FC236}">
                    <a16:creationId xmlns:a16="http://schemas.microsoft.com/office/drawing/2014/main" id="{C399E116-03F5-F0BB-CE69-F3784C0CA46C}"/>
                  </a:ext>
                </a:extLst>
              </p:cNvPr>
              <p:cNvSpPr/>
              <p:nvPr/>
            </p:nvSpPr>
            <p:spPr>
              <a:xfrm rot="15063684">
                <a:off x="4112924" y="2873781"/>
                <a:ext cx="1748121" cy="1506413"/>
              </a:xfrm>
              <a:custGeom>
                <a:avLst/>
                <a:gdLst>
                  <a:gd name="connsiteX0" fmla="*/ 520188 w 1561278"/>
                  <a:gd name="connsiteY0" fmla="*/ 7274 h 1345860"/>
                  <a:gd name="connsiteX1" fmla="*/ 616958 w 1561278"/>
                  <a:gd name="connsiteY1" fmla="*/ 0 h 1345860"/>
                  <a:gd name="connsiteX2" fmla="*/ 1558532 w 1561278"/>
                  <a:gd name="connsiteY2" fmla="*/ 1264925 h 1345860"/>
                  <a:gd name="connsiteX3" fmla="*/ 1561278 w 1561278"/>
                  <a:gd name="connsiteY3" fmla="*/ 1345860 h 1345860"/>
                  <a:gd name="connsiteX4" fmla="*/ 1510471 w 1561278"/>
                  <a:gd name="connsiteY4" fmla="*/ 1241283 h 1345860"/>
                  <a:gd name="connsiteX5" fmla="*/ 32483 w 1561278"/>
                  <a:gd name="connsiteY5" fmla="*/ 343778 h 1345860"/>
                  <a:gd name="connsiteX6" fmla="*/ 0 w 1561278"/>
                  <a:gd name="connsiteY6" fmla="*/ 341932 h 1345860"/>
                  <a:gd name="connsiteX7" fmla="*/ 14921 w 1561278"/>
                  <a:gd name="connsiteY7" fmla="*/ 321744 h 1345860"/>
                  <a:gd name="connsiteX8" fmla="*/ 520188 w 1561278"/>
                  <a:gd name="connsiteY8" fmla="*/ 7274 h 1345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1278" h="1345860">
                    <a:moveTo>
                      <a:pt x="520188" y="7274"/>
                    </a:moveTo>
                    <a:cubicBezTo>
                      <a:pt x="552005" y="2464"/>
                      <a:pt x="584288" y="0"/>
                      <a:pt x="616958" y="0"/>
                    </a:cubicBezTo>
                    <a:cubicBezTo>
                      <a:pt x="1107005" y="0"/>
                      <a:pt x="1510065" y="554435"/>
                      <a:pt x="1558532" y="1264925"/>
                    </a:cubicBezTo>
                    <a:lnTo>
                      <a:pt x="1561278" y="1345860"/>
                    </a:lnTo>
                    <a:lnTo>
                      <a:pt x="1510471" y="1241283"/>
                    </a:lnTo>
                    <a:cubicBezTo>
                      <a:pt x="1233785" y="745864"/>
                      <a:pt x="678366" y="408587"/>
                      <a:pt x="32483" y="343778"/>
                    </a:cubicBezTo>
                    <a:lnTo>
                      <a:pt x="0" y="341932"/>
                    </a:lnTo>
                    <a:lnTo>
                      <a:pt x="14921" y="321744"/>
                    </a:lnTo>
                    <a:cubicBezTo>
                      <a:pt x="155153" y="149458"/>
                      <a:pt x="329284" y="36136"/>
                      <a:pt x="520188" y="7274"/>
                    </a:cubicBezTo>
                    <a:close/>
                  </a:path>
                </a:pathLst>
              </a:custGeom>
              <a:gradFill flip="none" rotWithShape="1">
                <a:gsLst>
                  <a:gs pos="18000">
                    <a:schemeClr val="accent1"/>
                  </a:gs>
                  <a:gs pos="100000">
                    <a:schemeClr val="accent2"/>
                  </a:gs>
                </a:gsLst>
                <a:lin ang="10800000" scaled="1"/>
                <a:tileRect/>
              </a:gradFill>
              <a:ln>
                <a:noFill/>
              </a:ln>
              <a:effectLst>
                <a:outerShdw blurRad="114300" dist="50800" dir="8100000" algn="tr" rotWithShape="0">
                  <a:schemeClr val="accent3">
                    <a:alpha val="20000"/>
                  </a:schemeClr>
                </a:outerShdw>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defPPr>
                  <a:defRPr lang="zh-CN"/>
                </a:defPPr>
                <a:lvl1pPr marL="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1pPr>
                <a:lvl2pPr marL="457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2pPr>
                <a:lvl3pPr marL="914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3pPr>
                <a:lvl4pPr marL="1371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4pPr>
                <a:lvl5pPr marL="18288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5pPr>
                <a:lvl6pPr marL="22860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6pPr>
                <a:lvl7pPr marL="2743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7pPr>
                <a:lvl8pPr marL="3200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8pPr>
                <a:lvl9pPr marL="3657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9pPr>
              </a:lstStyle>
              <a:p>
                <a:pPr algn="ctr"/>
                <a:endParaRPr lang="zh-CN" altLang="en-US" b="1">
                  <a:latin typeface="+mn-ea"/>
                  <a:ea typeface="+mn-ea"/>
                  <a:sym typeface="微软雅黑" panose="020B0503020204020204" charset="-122"/>
                </a:endParaRPr>
              </a:p>
            </p:txBody>
          </p:sp>
          <p:sp>
            <p:nvSpPr>
              <p:cNvPr id="161" name="2">
                <a:extLst>
                  <a:ext uri="{FF2B5EF4-FFF2-40B4-BE49-F238E27FC236}">
                    <a16:creationId xmlns:a16="http://schemas.microsoft.com/office/drawing/2014/main" id="{EAF9D5EB-8DDE-01AF-4D62-6FDA206F125A}"/>
                  </a:ext>
                </a:extLst>
              </p:cNvPr>
              <p:cNvSpPr/>
              <p:nvPr/>
            </p:nvSpPr>
            <p:spPr>
              <a:xfrm>
                <a:off x="673739" y="2846484"/>
                <a:ext cx="3054425" cy="1107739"/>
              </a:xfrm>
              <a:prstGeom prst="rect">
                <a:avLst/>
              </a:prstGeom>
              <a:solidFill>
                <a:schemeClr val="accent1">
                  <a:lumMod val="20000"/>
                  <a:lumOff val="80000"/>
                  <a:alpha val="3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b="1">
                  <a:latin typeface="+mn-ea"/>
                </a:endParaRPr>
              </a:p>
            </p:txBody>
          </p:sp>
          <p:sp>
            <p:nvSpPr>
              <p:cNvPr id="162" name="2">
                <a:extLst>
                  <a:ext uri="{FF2B5EF4-FFF2-40B4-BE49-F238E27FC236}">
                    <a16:creationId xmlns:a16="http://schemas.microsoft.com/office/drawing/2014/main" id="{DE1B4990-2E29-65EE-2BDC-64853E2424F4}"/>
                  </a:ext>
                </a:extLst>
              </p:cNvPr>
              <p:cNvSpPr/>
              <p:nvPr/>
            </p:nvSpPr>
            <p:spPr>
              <a:xfrm>
                <a:off x="3645632" y="2846484"/>
                <a:ext cx="82532" cy="1107739"/>
              </a:xfrm>
              <a:prstGeom prst="rect">
                <a:avLst/>
              </a:prstGeom>
              <a:gradFill flip="none" rotWithShape="1">
                <a:gsLst>
                  <a:gs pos="18000">
                    <a:schemeClr val="accent1"/>
                  </a:gs>
                  <a:gs pos="100000">
                    <a:schemeClr val="accent2"/>
                  </a:gs>
                </a:gsLst>
                <a:lin ang="16200000" scaled="1"/>
                <a:tileRect/>
              </a:gradFill>
              <a:ln>
                <a:noFill/>
              </a:ln>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p>
                <a:pPr algn="ctr"/>
                <a:endParaRPr lang="zh-CN" altLang="en-US" b="1">
                  <a:solidFill>
                    <a:srgbClr val="FFFFFF"/>
                  </a:solidFill>
                  <a:latin typeface="+mn-ea"/>
                  <a:cs typeface="+mn-ea"/>
                </a:endParaRPr>
              </a:p>
            </p:txBody>
          </p:sp>
          <p:cxnSp>
            <p:nvCxnSpPr>
              <p:cNvPr id="163" name="2">
                <a:extLst>
                  <a:ext uri="{FF2B5EF4-FFF2-40B4-BE49-F238E27FC236}">
                    <a16:creationId xmlns:a16="http://schemas.microsoft.com/office/drawing/2014/main" id="{C1EF4794-8022-423F-C2D0-80B354866359}"/>
                  </a:ext>
                </a:extLst>
              </p:cNvPr>
              <p:cNvCxnSpPr>
                <a:cxnSpLocks/>
              </p:cNvCxnSpPr>
              <p:nvPr/>
            </p:nvCxnSpPr>
            <p:spPr>
              <a:xfrm flipH="1">
                <a:off x="3878313" y="3386852"/>
                <a:ext cx="446799" cy="0"/>
              </a:xfrm>
              <a:prstGeom prst="line">
                <a:avLst/>
              </a:prstGeom>
              <a:ln>
                <a:solidFill>
                  <a:schemeClr val="accent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64" name="Index-2">
                <a:extLst>
                  <a:ext uri="{FF2B5EF4-FFF2-40B4-BE49-F238E27FC236}">
                    <a16:creationId xmlns:a16="http://schemas.microsoft.com/office/drawing/2014/main" id="{66189E39-3F50-778C-6440-9D342C07B594}"/>
                  </a:ext>
                </a:extLst>
              </p:cNvPr>
              <p:cNvSpPr/>
              <p:nvPr>
                <p:custDataLst>
                  <p:tags r:id="rId5"/>
                </p:custDataLst>
              </p:nvPr>
            </p:nvSpPr>
            <p:spPr>
              <a:xfrm>
                <a:off x="4418684" y="3694757"/>
                <a:ext cx="358552" cy="358552"/>
              </a:xfrm>
              <a:prstGeom prst="ellipse">
                <a:avLst/>
              </a:prstGeom>
              <a:solidFill>
                <a:schemeClr val="bg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rgbClr val="FF0000"/>
                    </a:solidFill>
                    <a:latin typeface="Arial" panose="020B0604020202020204" pitchFamily="34" charset="0"/>
                    <a:ea typeface="微软雅黑" panose="020B0503020204020204" pitchFamily="34" charset="-122"/>
                  </a:rPr>
                  <a:t>2</a:t>
                </a:r>
                <a:endParaRPr lang="zh-CN" altLang="en-US" sz="2400" b="1" dirty="0">
                  <a:solidFill>
                    <a:srgbClr val="FF0000"/>
                  </a:solidFill>
                  <a:latin typeface="Arial" panose="020B0604020202020204" pitchFamily="34" charset="0"/>
                  <a:ea typeface="微软雅黑" panose="020B0503020204020204" pitchFamily="34" charset="-122"/>
                </a:endParaRPr>
              </a:p>
            </p:txBody>
          </p:sp>
          <p:sp>
            <p:nvSpPr>
              <p:cNvPr id="165" name="Body-2">
                <a:extLst>
                  <a:ext uri="{FF2B5EF4-FFF2-40B4-BE49-F238E27FC236}">
                    <a16:creationId xmlns:a16="http://schemas.microsoft.com/office/drawing/2014/main" id="{2ADB5D70-86D8-7B0E-4D16-DAEDD4E6A52B}"/>
                  </a:ext>
                </a:extLst>
              </p:cNvPr>
              <p:cNvSpPr/>
              <p:nvPr>
                <p:custDataLst>
                  <p:tags r:id="rId6"/>
                </p:custDataLst>
              </p:nvPr>
            </p:nvSpPr>
            <p:spPr>
              <a:xfrm>
                <a:off x="711925" y="3152761"/>
                <a:ext cx="2824266" cy="7111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20000"/>
                  </a:lnSpc>
                  <a:spcBef>
                    <a:spcPts val="0"/>
                  </a:spcBef>
                  <a:spcAft>
                    <a:spcPts val="0"/>
                  </a:spcAft>
                  <a:buClrTx/>
                  <a:buSzPct val="100000"/>
                  <a:buFontTx/>
                  <a:buNone/>
                  <a:defRPr/>
                </a:pPr>
                <a:r>
                  <a:rPr lang="zh-CN" altLang="en-US" sz="1400" b="1" i="0" dirty="0">
                    <a:solidFill>
                      <a:schemeClr val="tx1"/>
                    </a:solidFill>
                    <a:effectLst/>
                    <a:latin typeface="+mj-ea"/>
                    <a:ea typeface="+mj-ea"/>
                  </a:rPr>
                  <a:t>误以为接受组织调整和系统建设就能获得核心能力，而非进行根本性的能力重构。</a:t>
                </a:r>
                <a:endParaRPr kumimoji="0" lang="zh-CN" altLang="en-US" sz="1400" b="1" i="0" u="none" strike="noStrike" kern="1200" cap="none" spc="0" normalizeH="0" baseline="0" noProof="0" dirty="0">
                  <a:ln>
                    <a:noFill/>
                  </a:ln>
                  <a:solidFill>
                    <a:schemeClr val="tx1"/>
                  </a:solidFill>
                  <a:effectLst/>
                  <a:uLnTx/>
                  <a:uFillTx/>
                  <a:latin typeface="+mj-ea"/>
                  <a:ea typeface="+mj-ea"/>
                </a:endParaRPr>
              </a:p>
            </p:txBody>
          </p:sp>
          <p:sp>
            <p:nvSpPr>
              <p:cNvPr id="166" name="Title-2">
                <a:extLst>
                  <a:ext uri="{FF2B5EF4-FFF2-40B4-BE49-F238E27FC236}">
                    <a16:creationId xmlns:a16="http://schemas.microsoft.com/office/drawing/2014/main" id="{92A1E960-D160-9B7D-B8E0-C7DD7FDE9AE2}"/>
                  </a:ext>
                </a:extLst>
              </p:cNvPr>
              <p:cNvSpPr/>
              <p:nvPr>
                <p:custDataLst>
                  <p:tags r:id="rId7"/>
                </p:custDataLst>
              </p:nvPr>
            </p:nvSpPr>
            <p:spPr>
              <a:xfrm>
                <a:off x="618976" y="2981770"/>
                <a:ext cx="2869714" cy="2382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1" indent="0" algn="r" defTabSz="914400" rtl="0" eaLnBrk="1" fontAlgn="auto" latinLnBrk="0" hangingPunct="1">
                  <a:lnSpc>
                    <a:spcPct val="100000"/>
                  </a:lnSpc>
                  <a:spcBef>
                    <a:spcPts val="0"/>
                  </a:spcBef>
                  <a:spcAft>
                    <a:spcPts val="0"/>
                  </a:spcAft>
                  <a:buClrTx/>
                  <a:buSzTx/>
                  <a:buFontTx/>
                  <a:buNone/>
                  <a:defRPr/>
                </a:pPr>
                <a:r>
                  <a:rPr kumimoji="0" lang="zh-CN" altLang="en-US" b="1" i="0" u="none" strike="noStrike" kern="1200" cap="none" spc="0" normalizeH="0" baseline="0" noProof="0" dirty="0">
                    <a:ln>
                      <a:noFill/>
                    </a:ln>
                    <a:solidFill>
                      <a:srgbClr val="C00000"/>
                    </a:solidFill>
                    <a:effectLst/>
                    <a:uLnTx/>
                    <a:uFillTx/>
                    <a:latin typeface="Arial" panose="020B0604020202020204" pitchFamily="34" charset="0"/>
                    <a:ea typeface="微软雅黑" panose="020B0503020204020204" pitchFamily="34" charset="-122"/>
                    <a:sym typeface="Arial" panose="020B0604020202020204" pitchFamily="34" charset="0"/>
                  </a:rPr>
                  <a:t>企业战略认知误区：</a:t>
                </a:r>
                <a:endParaRPr kumimoji="0" lang="en-US" altLang="zh-CN" b="1" i="0" u="none" strike="noStrike" kern="1200" cap="none" spc="0" normalizeH="0" baseline="0" noProof="0" dirty="0">
                  <a:ln>
                    <a:noFill/>
                  </a:ln>
                  <a:solidFill>
                    <a:srgbClr val="C00000"/>
                  </a:solidFill>
                  <a:effectLst/>
                  <a:uLnTx/>
                  <a:uFillTx/>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52" name="组合 01">
              <a:extLst>
                <a:ext uri="{FF2B5EF4-FFF2-40B4-BE49-F238E27FC236}">
                  <a16:creationId xmlns:a16="http://schemas.microsoft.com/office/drawing/2014/main" id="{3AAECC89-39FD-24CD-F3B6-6E0622070605}"/>
                </a:ext>
              </a:extLst>
            </p:cNvPr>
            <p:cNvGrpSpPr/>
            <p:nvPr/>
          </p:nvGrpSpPr>
          <p:grpSpPr>
            <a:xfrm>
              <a:off x="618976" y="1445044"/>
              <a:ext cx="5455341" cy="2026610"/>
              <a:chOff x="618976" y="1445044"/>
              <a:chExt cx="5455341" cy="2026610"/>
            </a:xfrm>
          </p:grpSpPr>
          <p:sp>
            <p:nvSpPr>
              <p:cNvPr id="153" name="1">
                <a:extLst>
                  <a:ext uri="{FF2B5EF4-FFF2-40B4-BE49-F238E27FC236}">
                    <a16:creationId xmlns:a16="http://schemas.microsoft.com/office/drawing/2014/main" id="{16CBC217-E67E-5D2A-1A05-19FC85D186E1}"/>
                  </a:ext>
                </a:extLst>
              </p:cNvPr>
              <p:cNvSpPr/>
              <p:nvPr/>
            </p:nvSpPr>
            <p:spPr>
              <a:xfrm rot="18483684">
                <a:off x="4447050" y="1844387"/>
                <a:ext cx="1748121" cy="1506413"/>
              </a:xfrm>
              <a:custGeom>
                <a:avLst/>
                <a:gdLst>
                  <a:gd name="connsiteX0" fmla="*/ 520188 w 1561278"/>
                  <a:gd name="connsiteY0" fmla="*/ 7274 h 1345860"/>
                  <a:gd name="connsiteX1" fmla="*/ 616958 w 1561278"/>
                  <a:gd name="connsiteY1" fmla="*/ 0 h 1345860"/>
                  <a:gd name="connsiteX2" fmla="*/ 1558532 w 1561278"/>
                  <a:gd name="connsiteY2" fmla="*/ 1264925 h 1345860"/>
                  <a:gd name="connsiteX3" fmla="*/ 1561278 w 1561278"/>
                  <a:gd name="connsiteY3" fmla="*/ 1345860 h 1345860"/>
                  <a:gd name="connsiteX4" fmla="*/ 1510471 w 1561278"/>
                  <a:gd name="connsiteY4" fmla="*/ 1241283 h 1345860"/>
                  <a:gd name="connsiteX5" fmla="*/ 32483 w 1561278"/>
                  <a:gd name="connsiteY5" fmla="*/ 343778 h 1345860"/>
                  <a:gd name="connsiteX6" fmla="*/ 0 w 1561278"/>
                  <a:gd name="connsiteY6" fmla="*/ 341932 h 1345860"/>
                  <a:gd name="connsiteX7" fmla="*/ 14921 w 1561278"/>
                  <a:gd name="connsiteY7" fmla="*/ 321744 h 1345860"/>
                  <a:gd name="connsiteX8" fmla="*/ 520188 w 1561278"/>
                  <a:gd name="connsiteY8" fmla="*/ 7274 h 1345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1278" h="1345860">
                    <a:moveTo>
                      <a:pt x="520188" y="7274"/>
                    </a:moveTo>
                    <a:cubicBezTo>
                      <a:pt x="552005" y="2464"/>
                      <a:pt x="584288" y="0"/>
                      <a:pt x="616958" y="0"/>
                    </a:cubicBezTo>
                    <a:cubicBezTo>
                      <a:pt x="1107005" y="0"/>
                      <a:pt x="1510065" y="554435"/>
                      <a:pt x="1558532" y="1264925"/>
                    </a:cubicBezTo>
                    <a:lnTo>
                      <a:pt x="1561278" y="1345860"/>
                    </a:lnTo>
                    <a:lnTo>
                      <a:pt x="1510471" y="1241283"/>
                    </a:lnTo>
                    <a:cubicBezTo>
                      <a:pt x="1233785" y="745864"/>
                      <a:pt x="678366" y="408587"/>
                      <a:pt x="32483" y="343778"/>
                    </a:cubicBezTo>
                    <a:lnTo>
                      <a:pt x="0" y="341932"/>
                    </a:lnTo>
                    <a:lnTo>
                      <a:pt x="14921" y="321744"/>
                    </a:lnTo>
                    <a:cubicBezTo>
                      <a:pt x="155153" y="149458"/>
                      <a:pt x="329284" y="36136"/>
                      <a:pt x="520188" y="7274"/>
                    </a:cubicBezTo>
                    <a:close/>
                  </a:path>
                </a:pathLst>
              </a:custGeom>
              <a:gradFill>
                <a:gsLst>
                  <a:gs pos="18000">
                    <a:schemeClr val="accent2"/>
                  </a:gs>
                  <a:gs pos="100000">
                    <a:schemeClr val="accent3"/>
                  </a:gs>
                </a:gsLst>
                <a:lin ang="2700000" scaled="0"/>
              </a:gradFill>
              <a:ln>
                <a:noFill/>
              </a:ln>
              <a:effectLst>
                <a:outerShdw blurRad="114300" dist="50800" dir="8100000" algn="tr" rotWithShape="0">
                  <a:schemeClr val="accent3">
                    <a:alpha val="20000"/>
                  </a:schemeClr>
                </a:outerShdw>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defPPr>
                  <a:defRPr lang="zh-CN"/>
                </a:defPPr>
                <a:lvl1pPr marL="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1pPr>
                <a:lvl2pPr marL="457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2pPr>
                <a:lvl3pPr marL="914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3pPr>
                <a:lvl4pPr marL="1371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4pPr>
                <a:lvl5pPr marL="18288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5pPr>
                <a:lvl6pPr marL="22860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6pPr>
                <a:lvl7pPr marL="2743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7pPr>
                <a:lvl8pPr marL="3200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8pPr>
                <a:lvl9pPr marL="3657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9pPr>
              </a:lstStyle>
              <a:p>
                <a:pPr algn="ctr"/>
                <a:endParaRPr lang="zh-CN" altLang="en-US" b="1">
                  <a:latin typeface="+mn-ea"/>
                  <a:ea typeface="+mn-ea"/>
                  <a:sym typeface="微软雅黑" panose="020B0503020204020204" charset="-122"/>
                </a:endParaRPr>
              </a:p>
            </p:txBody>
          </p:sp>
          <p:sp>
            <p:nvSpPr>
              <p:cNvPr id="154" name="1">
                <a:extLst>
                  <a:ext uri="{FF2B5EF4-FFF2-40B4-BE49-F238E27FC236}">
                    <a16:creationId xmlns:a16="http://schemas.microsoft.com/office/drawing/2014/main" id="{B5AC31FB-7E8A-C373-E067-591C5F73927A}"/>
                  </a:ext>
                </a:extLst>
              </p:cNvPr>
              <p:cNvSpPr/>
              <p:nvPr/>
            </p:nvSpPr>
            <p:spPr>
              <a:xfrm>
                <a:off x="673739" y="1445044"/>
                <a:ext cx="3054425" cy="1107739"/>
              </a:xfrm>
              <a:prstGeom prst="rect">
                <a:avLst/>
              </a:prstGeom>
              <a:solidFill>
                <a:schemeClr val="accent1">
                  <a:lumMod val="20000"/>
                  <a:lumOff val="80000"/>
                  <a:alpha val="3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mj-ea"/>
                  <a:ea typeface="+mj-ea"/>
                </a:endParaRPr>
              </a:p>
            </p:txBody>
          </p:sp>
          <p:sp>
            <p:nvSpPr>
              <p:cNvPr id="155" name="1">
                <a:extLst>
                  <a:ext uri="{FF2B5EF4-FFF2-40B4-BE49-F238E27FC236}">
                    <a16:creationId xmlns:a16="http://schemas.microsoft.com/office/drawing/2014/main" id="{D23819AF-240E-4D42-F072-A0C04E19157D}"/>
                  </a:ext>
                </a:extLst>
              </p:cNvPr>
              <p:cNvSpPr/>
              <p:nvPr/>
            </p:nvSpPr>
            <p:spPr>
              <a:xfrm>
                <a:off x="3645632" y="1445044"/>
                <a:ext cx="82532" cy="1107739"/>
              </a:xfrm>
              <a:prstGeom prst="rect">
                <a:avLst/>
              </a:prstGeom>
              <a:gradFill flip="none" rotWithShape="1">
                <a:gsLst>
                  <a:gs pos="18000">
                    <a:schemeClr val="accent2"/>
                  </a:gs>
                  <a:gs pos="100000">
                    <a:schemeClr val="accent3"/>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b="1">
                  <a:latin typeface="+mn-ea"/>
                </a:endParaRPr>
              </a:p>
            </p:txBody>
          </p:sp>
          <p:sp>
            <p:nvSpPr>
              <p:cNvPr id="156" name="Index-1">
                <a:extLst>
                  <a:ext uri="{FF2B5EF4-FFF2-40B4-BE49-F238E27FC236}">
                    <a16:creationId xmlns:a16="http://schemas.microsoft.com/office/drawing/2014/main" id="{A2E16413-384E-3A91-0108-71BEF525EC4F}"/>
                  </a:ext>
                </a:extLst>
              </p:cNvPr>
              <p:cNvSpPr/>
              <p:nvPr>
                <p:custDataLst>
                  <p:tags r:id="rId2"/>
                </p:custDataLst>
              </p:nvPr>
            </p:nvSpPr>
            <p:spPr>
              <a:xfrm>
                <a:off x="4703209" y="2212865"/>
                <a:ext cx="358552" cy="358552"/>
              </a:xfrm>
              <a:prstGeom prst="ellipse">
                <a:avLst/>
              </a:prstGeom>
              <a:solidFill>
                <a:schemeClr val="bg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accent3"/>
                    </a:solidFill>
                    <a:latin typeface="Arial" panose="020B0604020202020204" pitchFamily="34" charset="0"/>
                    <a:ea typeface="微软雅黑" panose="020B0503020204020204" pitchFamily="34" charset="-122"/>
                  </a:rPr>
                  <a:t>1</a:t>
                </a:r>
                <a:endParaRPr lang="zh-CN" altLang="en-US" sz="2400" b="1" dirty="0">
                  <a:solidFill>
                    <a:schemeClr val="accent3"/>
                  </a:solidFill>
                  <a:latin typeface="Arial" panose="020B0604020202020204" pitchFamily="34" charset="0"/>
                  <a:ea typeface="微软雅黑" panose="020B0503020204020204" pitchFamily="34" charset="-122"/>
                </a:endParaRPr>
              </a:p>
            </p:txBody>
          </p:sp>
          <p:sp>
            <p:nvSpPr>
              <p:cNvPr id="157" name="Body-1">
                <a:extLst>
                  <a:ext uri="{FF2B5EF4-FFF2-40B4-BE49-F238E27FC236}">
                    <a16:creationId xmlns:a16="http://schemas.microsoft.com/office/drawing/2014/main" id="{3978D7B8-18A7-7D94-C2C9-3CB62456EA98}"/>
                  </a:ext>
                </a:extLst>
              </p:cNvPr>
              <p:cNvSpPr/>
              <p:nvPr>
                <p:custDataLst>
                  <p:tags r:id="rId3"/>
                </p:custDataLst>
              </p:nvPr>
            </p:nvSpPr>
            <p:spPr>
              <a:xfrm>
                <a:off x="729477" y="1890963"/>
                <a:ext cx="2974281" cy="7111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20000"/>
                  </a:lnSpc>
                  <a:spcBef>
                    <a:spcPts val="0"/>
                  </a:spcBef>
                  <a:spcAft>
                    <a:spcPts val="0"/>
                  </a:spcAft>
                  <a:buClrTx/>
                  <a:buSzPct val="100000"/>
                  <a:buFontTx/>
                  <a:buNone/>
                  <a:defRPr/>
                </a:pPr>
                <a:r>
                  <a:rPr kumimoji="0" lang="zh-CN" altLang="en-US" sz="1400" b="1" i="0" u="none" strike="noStrike" kern="1200" cap="none" spc="0" normalizeH="0" baseline="0" noProof="0" dirty="0">
                    <a:ln>
                      <a:noFill/>
                    </a:ln>
                    <a:solidFill>
                      <a:schemeClr val="tx1">
                        <a:lumMod val="65000"/>
                        <a:lumOff val="35000"/>
                      </a:schemeClr>
                    </a:solidFill>
                    <a:effectLst/>
                    <a:uLnTx/>
                    <a:uFillTx/>
                    <a:latin typeface="Arial" panose="020B0604020202020204" pitchFamily="34" charset="0"/>
                    <a:ea typeface="微软雅黑" panose="020B0503020204020204" pitchFamily="34" charset="-122"/>
                  </a:rPr>
                  <a:t>输出的组织、流程、工具方案缺乏落地性，其建议本身可能存在偏离</a:t>
                </a:r>
                <a:endParaRPr lang="en-US" altLang="zh-CN" sz="1400" b="1" dirty="0">
                  <a:solidFill>
                    <a:schemeClr val="tx1">
                      <a:lumMod val="65000"/>
                      <a:lumOff val="35000"/>
                    </a:schemeClr>
                  </a:solidFill>
                  <a:latin typeface="Arial" panose="020B0604020202020204" pitchFamily="34" charset="0"/>
                  <a:ea typeface="微软雅黑" panose="020B0503020204020204" pitchFamily="34" charset="-122"/>
                </a:endParaRPr>
              </a:p>
            </p:txBody>
          </p:sp>
          <p:sp>
            <p:nvSpPr>
              <p:cNvPr id="158" name="Title-1">
                <a:extLst>
                  <a:ext uri="{FF2B5EF4-FFF2-40B4-BE49-F238E27FC236}">
                    <a16:creationId xmlns:a16="http://schemas.microsoft.com/office/drawing/2014/main" id="{7D7B0748-9DF1-9E95-099A-8261B5485470}"/>
                  </a:ext>
                </a:extLst>
              </p:cNvPr>
              <p:cNvSpPr/>
              <p:nvPr>
                <p:custDataLst>
                  <p:tags r:id="rId4"/>
                </p:custDataLst>
              </p:nvPr>
            </p:nvSpPr>
            <p:spPr>
              <a:xfrm>
                <a:off x="618976" y="1580330"/>
                <a:ext cx="2869714" cy="2382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1" indent="0" algn="r" defTabSz="914400" rtl="0" eaLnBrk="1" fontAlgn="auto" latinLnBrk="0" hangingPunct="1">
                  <a:lnSpc>
                    <a:spcPct val="100000"/>
                  </a:lnSpc>
                  <a:spcBef>
                    <a:spcPts val="0"/>
                  </a:spcBef>
                  <a:spcAft>
                    <a:spcPts val="0"/>
                  </a:spcAft>
                  <a:buClrTx/>
                  <a:buSzTx/>
                  <a:buFontTx/>
                  <a:buNone/>
                  <a:defRPr/>
                </a:pPr>
                <a:r>
                  <a:rPr lang="zh-CN" altLang="en-US" b="1" i="0" dirty="0">
                    <a:solidFill>
                      <a:srgbClr val="C00000"/>
                    </a:solidFill>
                    <a:effectLst/>
                    <a:latin typeface="+mj-ea"/>
                    <a:ea typeface="+mj-ea"/>
                  </a:rPr>
                  <a:t>专家方法论脱离实践</a:t>
                </a:r>
                <a:r>
                  <a:rPr kumimoji="0" lang="zh-CN" altLang="en-US" b="1" i="0" u="none" strike="noStrike" kern="1200" cap="none" spc="0" normalizeH="0" baseline="0" noProof="0" dirty="0">
                    <a:ln>
                      <a:noFill/>
                    </a:ln>
                    <a:solidFill>
                      <a:srgbClr val="C00000"/>
                    </a:solidFill>
                    <a:effectLst/>
                    <a:uLnTx/>
                    <a:uFillTx/>
                    <a:latin typeface="Arial" panose="020B0604020202020204" pitchFamily="34" charset="0"/>
                    <a:ea typeface="微软雅黑" panose="020B0503020204020204" pitchFamily="34" charset="-122"/>
                    <a:sym typeface="Arial" panose="020B0604020202020204" pitchFamily="34" charset="0"/>
                  </a:rPr>
                  <a:t>：</a:t>
                </a:r>
                <a:endParaRPr kumimoji="0" lang="en-US" altLang="zh-CN" b="1" i="0" u="none" strike="noStrike" kern="1200" cap="none" spc="0" normalizeH="0" baseline="0" noProof="0" dirty="0">
                  <a:ln>
                    <a:noFill/>
                  </a:ln>
                  <a:solidFill>
                    <a:srgbClr val="C00000"/>
                  </a:solidFill>
                  <a:effectLst/>
                  <a:uLnTx/>
                  <a:uFillTx/>
                  <a:latin typeface="Arial" panose="020B0604020202020204" pitchFamily="34" charset="0"/>
                  <a:ea typeface="微软雅黑" panose="020B0503020204020204" pitchFamily="34" charset="-122"/>
                  <a:sym typeface="Arial" panose="020B0604020202020204" pitchFamily="34" charset="0"/>
                </a:endParaRPr>
              </a:p>
            </p:txBody>
          </p:sp>
          <p:cxnSp>
            <p:nvCxnSpPr>
              <p:cNvPr id="159" name="1">
                <a:extLst>
                  <a:ext uri="{FF2B5EF4-FFF2-40B4-BE49-F238E27FC236}">
                    <a16:creationId xmlns:a16="http://schemas.microsoft.com/office/drawing/2014/main" id="{08FE3CA9-DB09-E769-10CC-189F78CEA3CE}"/>
                  </a:ext>
                </a:extLst>
              </p:cNvPr>
              <p:cNvCxnSpPr>
                <a:cxnSpLocks/>
              </p:cNvCxnSpPr>
              <p:nvPr/>
            </p:nvCxnSpPr>
            <p:spPr>
              <a:xfrm flipH="1">
                <a:off x="3878313" y="1982177"/>
                <a:ext cx="640080" cy="0"/>
              </a:xfrm>
              <a:prstGeom prst="line">
                <a:avLst/>
              </a:prstGeom>
              <a:ln>
                <a:solidFill>
                  <a:schemeClr val="accent1"/>
                </a:solidFill>
                <a:headEnd type="none"/>
                <a:tailEnd type="oval"/>
              </a:ln>
            </p:spPr>
            <p:style>
              <a:lnRef idx="1">
                <a:schemeClr val="accent1"/>
              </a:lnRef>
              <a:fillRef idx="0">
                <a:schemeClr val="accent1"/>
              </a:fillRef>
              <a:effectRef idx="0">
                <a:schemeClr val="accent1"/>
              </a:effectRef>
              <a:fontRef idx="minor">
                <a:schemeClr val="tx1"/>
              </a:fontRef>
            </p:style>
          </p:cxnSp>
        </p:grpSp>
      </p:grpSp>
      <p:sp>
        <p:nvSpPr>
          <p:cNvPr id="195" name="椭圆 194">
            <a:extLst>
              <a:ext uri="{FF2B5EF4-FFF2-40B4-BE49-F238E27FC236}">
                <a16:creationId xmlns:a16="http://schemas.microsoft.com/office/drawing/2014/main" id="{CB1089BD-2AB9-3391-F635-1F5CF3C52C60}"/>
              </a:ext>
            </a:extLst>
          </p:cNvPr>
          <p:cNvSpPr/>
          <p:nvPr/>
        </p:nvSpPr>
        <p:spPr>
          <a:xfrm>
            <a:off x="5290989" y="2637174"/>
            <a:ext cx="1773738" cy="1455536"/>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sz="2000" b="1" dirty="0">
                <a:latin typeface="Arial" panose="020B0604020202020204" pitchFamily="34" charset="0"/>
                <a:ea typeface="微软雅黑" panose="020B0503020204020204" pitchFamily="34" charset="-122"/>
              </a:rPr>
              <a:t>死亡循环</a:t>
            </a:r>
          </a:p>
        </p:txBody>
      </p:sp>
    </p:spTree>
    <p:extLst>
      <p:ext uri="{BB962C8B-B14F-4D97-AF65-F5344CB8AC3E}">
        <p14:creationId xmlns:p14="http://schemas.microsoft.com/office/powerpoint/2010/main" val="155521274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78FAEB94-70F5-2D01-F6BA-ADD1780BBDC3}"/>
              </a:ext>
            </a:extLst>
          </p:cNvPr>
          <p:cNvSpPr>
            <a:spLocks noGrp="1"/>
          </p:cNvSpPr>
          <p:nvPr>
            <p:ph type="title"/>
          </p:nvPr>
        </p:nvSpPr>
        <p:spPr/>
        <p:txBody>
          <a:bodyPr>
            <a:normAutofit/>
          </a:bodyPr>
          <a:lstStyle/>
          <a:p>
            <a:r>
              <a:rPr lang="zh-CN" altLang="en-US" dirty="0">
                <a:latin typeface="Arial" panose="020B0604020202020204" pitchFamily="34" charset="0"/>
                <a:ea typeface="微软雅黑" panose="020B0503020204020204" pitchFamily="34" charset="-122"/>
              </a:rPr>
              <a:t>转型范式的不成熟带来转型的痛点，不断的迭代迎来机遇</a:t>
            </a:r>
          </a:p>
        </p:txBody>
      </p:sp>
      <p:grpSp>
        <p:nvGrpSpPr>
          <p:cNvPr id="27" name="组合 3">
            <a:extLst>
              <a:ext uri="{FF2B5EF4-FFF2-40B4-BE49-F238E27FC236}">
                <a16:creationId xmlns:a16="http://schemas.microsoft.com/office/drawing/2014/main" id="{10EB7DB0-6B3E-0842-75D3-2EA448688528}"/>
              </a:ext>
            </a:extLst>
          </p:cNvPr>
          <p:cNvGrpSpPr>
            <a:grpSpLocks noChangeAspect="1"/>
          </p:cNvGrpSpPr>
          <p:nvPr>
            <p:custDataLst>
              <p:tags r:id="rId1"/>
            </p:custDataLst>
          </p:nvPr>
        </p:nvGrpSpPr>
        <p:grpSpPr>
          <a:xfrm>
            <a:off x="1461946" y="970398"/>
            <a:ext cx="9138636" cy="5298378"/>
            <a:chOff x="1094466" y="1804137"/>
            <a:chExt cx="5605124" cy="3249726"/>
          </a:xfrm>
        </p:grpSpPr>
        <p:grpSp>
          <p:nvGrpSpPr>
            <p:cNvPr id="28" name="组合 1">
              <a:extLst>
                <a:ext uri="{FF2B5EF4-FFF2-40B4-BE49-F238E27FC236}">
                  <a16:creationId xmlns:a16="http://schemas.microsoft.com/office/drawing/2014/main" id="{F9DBFF7A-AD2A-F25C-566E-AA0F8433E48C}"/>
                </a:ext>
              </a:extLst>
            </p:cNvPr>
            <p:cNvGrpSpPr/>
            <p:nvPr/>
          </p:nvGrpSpPr>
          <p:grpSpPr>
            <a:xfrm>
              <a:off x="1094466" y="1804138"/>
              <a:ext cx="2922779" cy="3249725"/>
              <a:chOff x="660400" y="2229530"/>
              <a:chExt cx="2039907" cy="3319932"/>
            </a:xfrm>
          </p:grpSpPr>
          <p:sp>
            <p:nvSpPr>
              <p:cNvPr id="36" name="1">
                <a:extLst>
                  <a:ext uri="{FF2B5EF4-FFF2-40B4-BE49-F238E27FC236}">
                    <a16:creationId xmlns:a16="http://schemas.microsoft.com/office/drawing/2014/main" id="{D9CF7E76-06E8-A9FD-341D-1A41B81DC980}"/>
                  </a:ext>
                </a:extLst>
              </p:cNvPr>
              <p:cNvSpPr/>
              <p:nvPr/>
            </p:nvSpPr>
            <p:spPr>
              <a:xfrm>
                <a:off x="660400" y="2229530"/>
                <a:ext cx="2039907" cy="3319932"/>
              </a:xfrm>
              <a:prstGeom prst="homePlate">
                <a:avLst>
                  <a:gd name="adj" fmla="val 21858"/>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800" b="1">
                  <a:latin typeface="+mn-ea"/>
                  <a:sym typeface="Microsoft YaHei" panose="020B0503020204020204" pitchFamily="34" charset="-122"/>
                </a:endParaRPr>
              </a:p>
            </p:txBody>
          </p:sp>
          <p:sp>
            <p:nvSpPr>
              <p:cNvPr id="37" name="Index-1">
                <a:extLst>
                  <a:ext uri="{FF2B5EF4-FFF2-40B4-BE49-F238E27FC236}">
                    <a16:creationId xmlns:a16="http://schemas.microsoft.com/office/drawing/2014/main" id="{2A70507F-6679-237E-85BC-18B60CD1729D}"/>
                  </a:ext>
                </a:extLst>
              </p:cNvPr>
              <p:cNvSpPr txBox="1"/>
              <p:nvPr>
                <p:custDataLst>
                  <p:tags r:id="rId5"/>
                </p:custDataLst>
              </p:nvPr>
            </p:nvSpPr>
            <p:spPr>
              <a:xfrm>
                <a:off x="888126" y="2632472"/>
                <a:ext cx="1060998" cy="250707"/>
              </a:xfrm>
              <a:prstGeom prst="rect">
                <a:avLst/>
              </a:prstGeom>
              <a:noFill/>
            </p:spPr>
            <p:txBody>
              <a:bodyPr wrap="square" lIns="0" rIns="0" rtlCol="0">
                <a:spAutoFit/>
              </a:bodyPr>
              <a:lstStyle/>
              <a:p>
                <a:pPr>
                  <a:spcAft>
                    <a:spcPts val="300"/>
                  </a:spcAft>
                </a:pPr>
                <a:endParaRPr lang="zh-CN" altLang="en-US" sz="2000" b="1" i="0" dirty="0">
                  <a:solidFill>
                    <a:schemeClr val="accent1"/>
                  </a:solidFill>
                  <a:effectLst/>
                  <a:latin typeface="+mn-ea"/>
                  <a:sym typeface="Microsoft YaHei" panose="020B0503020204020204" pitchFamily="34" charset="-122"/>
                </a:endParaRPr>
              </a:p>
            </p:txBody>
          </p:sp>
          <p:sp>
            <p:nvSpPr>
              <p:cNvPr id="38" name="Title-1">
                <a:extLst>
                  <a:ext uri="{FF2B5EF4-FFF2-40B4-BE49-F238E27FC236}">
                    <a16:creationId xmlns:a16="http://schemas.microsoft.com/office/drawing/2014/main" id="{4454B70B-6C04-62B9-E4AA-ED5E580BBA5F}"/>
                  </a:ext>
                </a:extLst>
              </p:cNvPr>
              <p:cNvSpPr txBox="1"/>
              <p:nvPr>
                <p:custDataLst>
                  <p:tags r:id="rId6"/>
                </p:custDataLst>
              </p:nvPr>
            </p:nvSpPr>
            <p:spPr>
              <a:xfrm>
                <a:off x="888127" y="2952077"/>
                <a:ext cx="1421272" cy="327847"/>
              </a:xfrm>
              <a:prstGeom prst="rect">
                <a:avLst/>
              </a:prstGeom>
              <a:noFill/>
            </p:spPr>
            <p:txBody>
              <a:bodyPr wrap="square" lIns="0" rIns="0" rtlCol="0">
                <a:spAutoFit/>
              </a:bodyPr>
              <a:lstStyle/>
              <a:p>
                <a:pPr>
                  <a:spcAft>
                    <a:spcPts val="300"/>
                  </a:spcAft>
                </a:pPr>
                <a:r>
                  <a:rPr lang="zh-CN" altLang="en-US" sz="2800" b="1" i="0">
                    <a:solidFill>
                      <a:schemeClr val="accent1"/>
                    </a:solidFill>
                    <a:effectLst/>
                    <a:latin typeface="Arial" panose="020B0604020202020204" pitchFamily="34" charset="0"/>
                    <a:ea typeface="微软雅黑" panose="020B0503020204020204" pitchFamily="34" charset="-122"/>
                    <a:sym typeface="Microsoft YaHei" panose="020B0503020204020204" pitchFamily="34" charset="-122"/>
                  </a:rPr>
                  <a:t>转型之困：</a:t>
                </a:r>
                <a:endParaRPr lang="zh-CN" altLang="en-US" sz="2800" b="1" i="0" dirty="0">
                  <a:solidFill>
                    <a:schemeClr val="accent1"/>
                  </a:solidFill>
                  <a:effectLst/>
                  <a:latin typeface="Arial" panose="020B0604020202020204" pitchFamily="34" charset="0"/>
                  <a:ea typeface="微软雅黑" panose="020B0503020204020204" pitchFamily="34" charset="-122"/>
                  <a:sym typeface="Microsoft YaHei" panose="020B0503020204020204" pitchFamily="34" charset="-122"/>
                </a:endParaRPr>
              </a:p>
            </p:txBody>
          </p:sp>
          <p:sp>
            <p:nvSpPr>
              <p:cNvPr id="39" name="Body-1">
                <a:extLst>
                  <a:ext uri="{FF2B5EF4-FFF2-40B4-BE49-F238E27FC236}">
                    <a16:creationId xmlns:a16="http://schemas.microsoft.com/office/drawing/2014/main" id="{1BC64DCB-4CF7-7382-DAC5-5A5119A5A7D8}"/>
                  </a:ext>
                </a:extLst>
              </p:cNvPr>
              <p:cNvSpPr txBox="1"/>
              <p:nvPr>
                <p:custDataLst>
                  <p:tags r:id="rId7"/>
                </p:custDataLst>
              </p:nvPr>
            </p:nvSpPr>
            <p:spPr>
              <a:xfrm>
                <a:off x="888126" y="3464803"/>
                <a:ext cx="1405480" cy="1180891"/>
              </a:xfrm>
              <a:prstGeom prst="rect">
                <a:avLst/>
              </a:prstGeom>
              <a:noFill/>
            </p:spPr>
            <p:txBody>
              <a:bodyPr wrap="square" lIns="0" rIns="0" rtlCol="0">
                <a:spAutoFit/>
              </a:bodyPr>
              <a:lstStyle/>
              <a:p>
                <a:pPr>
                  <a:lnSpc>
                    <a:spcPct val="150000"/>
                  </a:lnSpc>
                  <a:buSzPct val="80000"/>
                </a:pPr>
                <a:r>
                  <a:rPr lang="zh-CN" altLang="en-US" sz="2000" b="1" i="0" dirty="0">
                    <a:solidFill>
                      <a:schemeClr val="accent1"/>
                    </a:solidFill>
                    <a:effectLst/>
                    <a:latin typeface="Arial" panose="020B0604020202020204" pitchFamily="34" charset="0"/>
                    <a:ea typeface="微软雅黑" panose="020B0503020204020204" pitchFamily="34" charset="-122"/>
                    <a:sym typeface="Microsoft YaHei" panose="020B0503020204020204" pitchFamily="34" charset="-122"/>
                  </a:rPr>
                  <a:t>组织重组≠能力提升</a:t>
                </a:r>
              </a:p>
              <a:p>
                <a:pPr>
                  <a:lnSpc>
                    <a:spcPct val="150000"/>
                  </a:lnSpc>
                  <a:buSzPct val="80000"/>
                </a:pPr>
                <a:r>
                  <a:rPr lang="zh-CN" altLang="en-US" sz="2000" b="1" i="0" dirty="0">
                    <a:solidFill>
                      <a:schemeClr val="accent1"/>
                    </a:solidFill>
                    <a:effectLst/>
                    <a:latin typeface="Arial" panose="020B0604020202020204" pitchFamily="34" charset="0"/>
                    <a:ea typeface="微软雅黑" panose="020B0503020204020204" pitchFamily="34" charset="-122"/>
                    <a:sym typeface="Microsoft YaHei" panose="020B0503020204020204" pitchFamily="34" charset="-122"/>
                  </a:rPr>
                  <a:t>系统堆砌≠业务优化</a:t>
                </a:r>
              </a:p>
              <a:p>
                <a:pPr>
                  <a:lnSpc>
                    <a:spcPct val="150000"/>
                  </a:lnSpc>
                  <a:buSzPct val="80000"/>
                </a:pPr>
                <a:r>
                  <a:rPr lang="zh-CN" altLang="en-US" sz="2000" b="1" i="0" dirty="0">
                    <a:solidFill>
                      <a:schemeClr val="accent1"/>
                    </a:solidFill>
                    <a:effectLst/>
                    <a:latin typeface="Arial" panose="020B0604020202020204" pitchFamily="34" charset="0"/>
                    <a:ea typeface="微软雅黑" panose="020B0503020204020204" pitchFamily="34" charset="-122"/>
                    <a:sym typeface="Microsoft YaHei" panose="020B0503020204020204" pitchFamily="34" charset="-122"/>
                  </a:rPr>
                  <a:t>项目上线≈知识衰退</a:t>
                </a:r>
              </a:p>
              <a:p>
                <a:pPr>
                  <a:lnSpc>
                    <a:spcPct val="150000"/>
                  </a:lnSpc>
                  <a:buSzPct val="80000"/>
                </a:pPr>
                <a:r>
                  <a:rPr lang="zh-CN" altLang="en-US" sz="2000" b="1" i="0" dirty="0">
                    <a:solidFill>
                      <a:schemeClr val="accent1"/>
                    </a:solidFill>
                    <a:effectLst/>
                    <a:latin typeface="Arial" panose="020B0604020202020204" pitchFamily="34" charset="0"/>
                    <a:ea typeface="微软雅黑" panose="020B0503020204020204" pitchFamily="34" charset="-122"/>
                    <a:sym typeface="Microsoft YaHei" panose="020B0503020204020204" pitchFamily="34" charset="-122"/>
                  </a:rPr>
                  <a:t>数据孤岛→决策延迟</a:t>
                </a:r>
              </a:p>
            </p:txBody>
          </p:sp>
          <p:cxnSp>
            <p:nvCxnSpPr>
              <p:cNvPr id="40" name="1">
                <a:extLst>
                  <a:ext uri="{FF2B5EF4-FFF2-40B4-BE49-F238E27FC236}">
                    <a16:creationId xmlns:a16="http://schemas.microsoft.com/office/drawing/2014/main" id="{AD7D91CC-A8AD-F206-D24C-FBD2712BD662}"/>
                  </a:ext>
                </a:extLst>
              </p:cNvPr>
              <p:cNvCxnSpPr>
                <a:cxnSpLocks/>
              </p:cNvCxnSpPr>
              <p:nvPr/>
            </p:nvCxnSpPr>
            <p:spPr>
              <a:xfrm>
                <a:off x="888126" y="3367787"/>
                <a:ext cx="1253477" cy="0"/>
              </a:xfrm>
              <a:prstGeom prst="line">
                <a:avLst/>
              </a:prstGeom>
            </p:spPr>
            <p:style>
              <a:lnRef idx="2">
                <a:schemeClr val="accent1"/>
              </a:lnRef>
              <a:fillRef idx="0">
                <a:schemeClr val="accent1"/>
              </a:fillRef>
              <a:effectRef idx="1">
                <a:schemeClr val="accent1"/>
              </a:effectRef>
              <a:fontRef idx="minor">
                <a:schemeClr val="tx1"/>
              </a:fontRef>
            </p:style>
          </p:cxnSp>
          <p:sp>
            <p:nvSpPr>
              <p:cNvPr id="41" name="1">
                <a:extLst>
                  <a:ext uri="{FF2B5EF4-FFF2-40B4-BE49-F238E27FC236}">
                    <a16:creationId xmlns:a16="http://schemas.microsoft.com/office/drawing/2014/main" id="{307971F3-26CF-4953-139B-FE3ABBD03F21}"/>
                  </a:ext>
                </a:extLst>
              </p:cNvPr>
              <p:cNvSpPr/>
              <p:nvPr/>
            </p:nvSpPr>
            <p:spPr>
              <a:xfrm rot="5400000">
                <a:off x="1151928" y="4692813"/>
                <a:ext cx="180027" cy="707630"/>
              </a:xfrm>
              <a:prstGeom prst="chevron">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400" b="1">
                  <a:solidFill>
                    <a:schemeClr val="tx1"/>
                  </a:solidFill>
                  <a:latin typeface="+mn-ea"/>
                  <a:sym typeface="Microsoft YaHei" panose="020B0503020204020204" pitchFamily="34" charset="-122"/>
                </a:endParaRPr>
              </a:p>
            </p:txBody>
          </p:sp>
        </p:grpSp>
        <p:grpSp>
          <p:nvGrpSpPr>
            <p:cNvPr id="29" name="组合 2">
              <a:extLst>
                <a:ext uri="{FF2B5EF4-FFF2-40B4-BE49-F238E27FC236}">
                  <a16:creationId xmlns:a16="http://schemas.microsoft.com/office/drawing/2014/main" id="{31D8702E-C1B1-6BCD-7D60-4CCB84A13A81}"/>
                </a:ext>
              </a:extLst>
            </p:cNvPr>
            <p:cNvGrpSpPr/>
            <p:nvPr/>
          </p:nvGrpSpPr>
          <p:grpSpPr>
            <a:xfrm>
              <a:off x="3543020" y="1804137"/>
              <a:ext cx="3156570" cy="3249726"/>
              <a:chOff x="9558100" y="2219650"/>
              <a:chExt cx="2203078" cy="3319933"/>
            </a:xfrm>
          </p:grpSpPr>
          <p:sp>
            <p:nvSpPr>
              <p:cNvPr id="30" name="2">
                <a:extLst>
                  <a:ext uri="{FF2B5EF4-FFF2-40B4-BE49-F238E27FC236}">
                    <a16:creationId xmlns:a16="http://schemas.microsoft.com/office/drawing/2014/main" id="{791F1D1E-916E-0B62-C709-B0D885F7C237}"/>
                  </a:ext>
                </a:extLst>
              </p:cNvPr>
              <p:cNvSpPr/>
              <p:nvPr/>
            </p:nvSpPr>
            <p:spPr>
              <a:xfrm>
                <a:off x="9558100" y="2219650"/>
                <a:ext cx="2203078" cy="3319933"/>
              </a:xfrm>
              <a:custGeom>
                <a:avLst/>
                <a:gdLst>
                  <a:gd name="connsiteX0" fmla="*/ 0 w 2058464"/>
                  <a:gd name="connsiteY0" fmla="*/ 0 h 2466125"/>
                  <a:gd name="connsiteX1" fmla="*/ 1632959 w 2058464"/>
                  <a:gd name="connsiteY1" fmla="*/ 0 h 2466125"/>
                  <a:gd name="connsiteX2" fmla="*/ 2058464 w 2058464"/>
                  <a:gd name="connsiteY2" fmla="*/ 1233063 h 2466125"/>
                  <a:gd name="connsiteX3" fmla="*/ 1632959 w 2058464"/>
                  <a:gd name="connsiteY3" fmla="*/ 2466125 h 2466125"/>
                  <a:gd name="connsiteX4" fmla="*/ 0 w 2058464"/>
                  <a:gd name="connsiteY4" fmla="*/ 2466125 h 2466125"/>
                  <a:gd name="connsiteX5" fmla="*/ 425505 w 2058464"/>
                  <a:gd name="connsiteY5" fmla="*/ 1233063 h 2466125"/>
                  <a:gd name="connsiteX6" fmla="*/ 0 w 2058464"/>
                  <a:gd name="connsiteY6" fmla="*/ 0 h 2466125"/>
                  <a:gd name="connsiteX0" fmla="*/ 0 w 1632959"/>
                  <a:gd name="connsiteY0" fmla="*/ 0 h 2466125"/>
                  <a:gd name="connsiteX1" fmla="*/ 1632959 w 1632959"/>
                  <a:gd name="connsiteY1" fmla="*/ 0 h 2466125"/>
                  <a:gd name="connsiteX2" fmla="*/ 1629839 w 1632959"/>
                  <a:gd name="connsiteY2" fmla="*/ 1223538 h 2466125"/>
                  <a:gd name="connsiteX3" fmla="*/ 1632959 w 1632959"/>
                  <a:gd name="connsiteY3" fmla="*/ 2466125 h 2466125"/>
                  <a:gd name="connsiteX4" fmla="*/ 0 w 1632959"/>
                  <a:gd name="connsiteY4" fmla="*/ 2466125 h 2466125"/>
                  <a:gd name="connsiteX5" fmla="*/ 425505 w 1632959"/>
                  <a:gd name="connsiteY5" fmla="*/ 1233063 h 2466125"/>
                  <a:gd name="connsiteX6" fmla="*/ 0 w 1632959"/>
                  <a:gd name="connsiteY6" fmla="*/ 0 h 2466125"/>
                  <a:gd name="connsiteX0" fmla="*/ 0 w 1677464"/>
                  <a:gd name="connsiteY0" fmla="*/ 0 h 2466125"/>
                  <a:gd name="connsiteX1" fmla="*/ 1632959 w 1677464"/>
                  <a:gd name="connsiteY1" fmla="*/ 0 h 2466125"/>
                  <a:gd name="connsiteX2" fmla="*/ 1677464 w 1677464"/>
                  <a:gd name="connsiteY2" fmla="*/ 1233063 h 2466125"/>
                  <a:gd name="connsiteX3" fmla="*/ 1632959 w 1677464"/>
                  <a:gd name="connsiteY3" fmla="*/ 2466125 h 2466125"/>
                  <a:gd name="connsiteX4" fmla="*/ 0 w 1677464"/>
                  <a:gd name="connsiteY4" fmla="*/ 2466125 h 2466125"/>
                  <a:gd name="connsiteX5" fmla="*/ 425505 w 1677464"/>
                  <a:gd name="connsiteY5" fmla="*/ 1233063 h 2466125"/>
                  <a:gd name="connsiteX6" fmla="*/ 0 w 1677464"/>
                  <a:gd name="connsiteY6" fmla="*/ 0 h 2466125"/>
                  <a:gd name="connsiteX0" fmla="*/ 0 w 1639364"/>
                  <a:gd name="connsiteY0" fmla="*/ 0 h 2466125"/>
                  <a:gd name="connsiteX1" fmla="*/ 1632959 w 1639364"/>
                  <a:gd name="connsiteY1" fmla="*/ 0 h 2466125"/>
                  <a:gd name="connsiteX2" fmla="*/ 1639364 w 1639364"/>
                  <a:gd name="connsiteY2" fmla="*/ 1242588 h 2466125"/>
                  <a:gd name="connsiteX3" fmla="*/ 1632959 w 1639364"/>
                  <a:gd name="connsiteY3" fmla="*/ 2466125 h 2466125"/>
                  <a:gd name="connsiteX4" fmla="*/ 0 w 1639364"/>
                  <a:gd name="connsiteY4" fmla="*/ 2466125 h 2466125"/>
                  <a:gd name="connsiteX5" fmla="*/ 425505 w 1639364"/>
                  <a:gd name="connsiteY5" fmla="*/ 1233063 h 2466125"/>
                  <a:gd name="connsiteX6" fmla="*/ 0 w 1639364"/>
                  <a:gd name="connsiteY6" fmla="*/ 0 h 2466125"/>
                  <a:gd name="connsiteX0" fmla="*/ 0 w 1639364"/>
                  <a:gd name="connsiteY0" fmla="*/ 0 h 2466125"/>
                  <a:gd name="connsiteX1" fmla="*/ 1632959 w 1639364"/>
                  <a:gd name="connsiteY1" fmla="*/ 0 h 2466125"/>
                  <a:gd name="connsiteX2" fmla="*/ 1639364 w 1639364"/>
                  <a:gd name="connsiteY2" fmla="*/ 1242588 h 2466125"/>
                  <a:gd name="connsiteX3" fmla="*/ 1632959 w 1639364"/>
                  <a:gd name="connsiteY3" fmla="*/ 2466125 h 2466125"/>
                  <a:gd name="connsiteX4" fmla="*/ 0 w 1639364"/>
                  <a:gd name="connsiteY4" fmla="*/ 2466125 h 2466125"/>
                  <a:gd name="connsiteX5" fmla="*/ 385004 w 1639364"/>
                  <a:gd name="connsiteY5" fmla="*/ 1224976 h 2466125"/>
                  <a:gd name="connsiteX6" fmla="*/ 0 w 1639364"/>
                  <a:gd name="connsiteY6" fmla="*/ 0 h 2466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9364" h="2466125">
                    <a:moveTo>
                      <a:pt x="0" y="0"/>
                    </a:moveTo>
                    <a:lnTo>
                      <a:pt x="1632959" y="0"/>
                    </a:lnTo>
                    <a:lnTo>
                      <a:pt x="1639364" y="1242588"/>
                    </a:lnTo>
                    <a:lnTo>
                      <a:pt x="1632959" y="2466125"/>
                    </a:lnTo>
                    <a:lnTo>
                      <a:pt x="0" y="2466125"/>
                    </a:lnTo>
                    <a:lnTo>
                      <a:pt x="385004" y="1224976"/>
                    </a:lnTo>
                    <a:lnTo>
                      <a:pt x="0" y="0"/>
                    </a:lnTo>
                    <a:close/>
                  </a:path>
                </a:pathLst>
              </a:cu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800" b="1">
                  <a:solidFill>
                    <a:schemeClr val="tx1"/>
                  </a:solidFill>
                  <a:latin typeface="+mn-ea"/>
                  <a:sym typeface="Microsoft YaHei" panose="020B0503020204020204" pitchFamily="34" charset="-122"/>
                </a:endParaRPr>
              </a:p>
            </p:txBody>
          </p:sp>
          <p:sp>
            <p:nvSpPr>
              <p:cNvPr id="31" name="Index-2">
                <a:extLst>
                  <a:ext uri="{FF2B5EF4-FFF2-40B4-BE49-F238E27FC236}">
                    <a16:creationId xmlns:a16="http://schemas.microsoft.com/office/drawing/2014/main" id="{4DA8A166-178C-63C8-8BFD-9FE722CDD71A}"/>
                  </a:ext>
                </a:extLst>
              </p:cNvPr>
              <p:cNvSpPr txBox="1"/>
              <p:nvPr>
                <p:custDataLst>
                  <p:tags r:id="rId2"/>
                </p:custDataLst>
              </p:nvPr>
            </p:nvSpPr>
            <p:spPr>
              <a:xfrm>
                <a:off x="10208587" y="2632472"/>
                <a:ext cx="1486514" cy="250707"/>
              </a:xfrm>
              <a:prstGeom prst="rect">
                <a:avLst/>
              </a:prstGeom>
              <a:noFill/>
            </p:spPr>
            <p:txBody>
              <a:bodyPr wrap="square" lIns="0" rIns="0" rtlCol="0">
                <a:spAutoFit/>
              </a:bodyPr>
              <a:lstStyle/>
              <a:p>
                <a:pPr>
                  <a:spcAft>
                    <a:spcPts val="300"/>
                  </a:spcAft>
                </a:pPr>
                <a:endParaRPr lang="zh-CN" altLang="en-US" sz="2000" b="1" i="0" dirty="0">
                  <a:solidFill>
                    <a:schemeClr val="bg1"/>
                  </a:solidFill>
                  <a:effectLst/>
                  <a:latin typeface="+mn-ea"/>
                  <a:sym typeface="Microsoft YaHei" panose="020B0503020204020204" pitchFamily="34" charset="-122"/>
                </a:endParaRPr>
              </a:p>
            </p:txBody>
          </p:sp>
          <p:sp>
            <p:nvSpPr>
              <p:cNvPr id="32" name="Title-2">
                <a:extLst>
                  <a:ext uri="{FF2B5EF4-FFF2-40B4-BE49-F238E27FC236}">
                    <a16:creationId xmlns:a16="http://schemas.microsoft.com/office/drawing/2014/main" id="{4237DA96-C32F-D266-D9F7-967F0179E672}"/>
                  </a:ext>
                </a:extLst>
              </p:cNvPr>
              <p:cNvSpPr txBox="1"/>
              <p:nvPr>
                <p:custDataLst>
                  <p:tags r:id="rId3"/>
                </p:custDataLst>
              </p:nvPr>
            </p:nvSpPr>
            <p:spPr>
              <a:xfrm>
                <a:off x="10208587" y="2952077"/>
                <a:ext cx="1486514" cy="327847"/>
              </a:xfrm>
              <a:prstGeom prst="rect">
                <a:avLst/>
              </a:prstGeom>
              <a:noFill/>
            </p:spPr>
            <p:txBody>
              <a:bodyPr wrap="square" lIns="0" rIns="0" rtlCol="0">
                <a:spAutoFit/>
              </a:bodyPr>
              <a:lstStyle/>
              <a:p>
                <a:pPr>
                  <a:spcAft>
                    <a:spcPts val="300"/>
                  </a:spcAft>
                </a:pPr>
                <a:r>
                  <a:rPr lang="zh-CN" altLang="en-US" sz="2800" b="1" i="0">
                    <a:solidFill>
                      <a:schemeClr val="bg1"/>
                    </a:solidFill>
                    <a:effectLst/>
                    <a:latin typeface="Arial" panose="020B0604020202020204" pitchFamily="34" charset="0"/>
                    <a:ea typeface="微软雅黑" panose="020B0503020204020204" pitchFamily="34" charset="-122"/>
                    <a:sym typeface="Microsoft YaHei" panose="020B0503020204020204" pitchFamily="34" charset="-122"/>
                  </a:rPr>
                  <a:t>新范式之路：</a:t>
                </a:r>
                <a:endParaRPr lang="zh-CN" altLang="en-US" sz="2800" b="1" i="0" dirty="0">
                  <a:solidFill>
                    <a:schemeClr val="bg1"/>
                  </a:solidFill>
                  <a:effectLst/>
                  <a:latin typeface="Arial" panose="020B0604020202020204" pitchFamily="34" charset="0"/>
                  <a:ea typeface="微软雅黑" panose="020B0503020204020204" pitchFamily="34" charset="-122"/>
                  <a:sym typeface="Microsoft YaHei" panose="020B0503020204020204" pitchFamily="34" charset="-122"/>
                </a:endParaRPr>
              </a:p>
            </p:txBody>
          </p:sp>
          <p:sp>
            <p:nvSpPr>
              <p:cNvPr id="33" name="Body-2">
                <a:extLst>
                  <a:ext uri="{FF2B5EF4-FFF2-40B4-BE49-F238E27FC236}">
                    <a16:creationId xmlns:a16="http://schemas.microsoft.com/office/drawing/2014/main" id="{BD86C8C1-123B-1C22-5DAA-D168B64433F8}"/>
                  </a:ext>
                </a:extLst>
              </p:cNvPr>
              <p:cNvSpPr txBox="1"/>
              <p:nvPr>
                <p:custDataLst>
                  <p:tags r:id="rId4"/>
                </p:custDataLst>
              </p:nvPr>
            </p:nvSpPr>
            <p:spPr>
              <a:xfrm>
                <a:off x="10208587" y="3464803"/>
                <a:ext cx="1405480" cy="1180891"/>
              </a:xfrm>
              <a:prstGeom prst="rect">
                <a:avLst/>
              </a:prstGeom>
              <a:noFill/>
            </p:spPr>
            <p:txBody>
              <a:bodyPr wrap="square" lIns="0" rIns="0" rtlCol="0">
                <a:spAutoFit/>
              </a:bodyPr>
              <a:lstStyle/>
              <a:p>
                <a:pPr>
                  <a:lnSpc>
                    <a:spcPct val="150000"/>
                  </a:lnSpc>
                  <a:buSzPct val="80000"/>
                </a:pPr>
                <a:r>
                  <a:rPr lang="zh-CN" altLang="en-US" sz="2000" b="1" i="0" dirty="0">
                    <a:solidFill>
                      <a:schemeClr val="bg1"/>
                    </a:solidFill>
                    <a:effectLst/>
                    <a:latin typeface="Arial" panose="020B0604020202020204" pitchFamily="34" charset="0"/>
                    <a:ea typeface="微软雅黑" panose="020B0503020204020204" pitchFamily="34" charset="-122"/>
                    <a:sym typeface="Microsoft YaHei" panose="020B0503020204020204" pitchFamily="34" charset="-122"/>
                  </a:rPr>
                  <a:t>战略可执行</a:t>
                </a:r>
              </a:p>
              <a:p>
                <a:pPr>
                  <a:lnSpc>
                    <a:spcPct val="150000"/>
                  </a:lnSpc>
                  <a:buSzPct val="80000"/>
                </a:pPr>
                <a:r>
                  <a:rPr lang="zh-CN" altLang="en-US" sz="2000" b="1" i="0" dirty="0">
                    <a:solidFill>
                      <a:schemeClr val="bg1"/>
                    </a:solidFill>
                    <a:effectLst/>
                    <a:latin typeface="Arial" panose="020B0604020202020204" pitchFamily="34" charset="0"/>
                    <a:ea typeface="微软雅黑" panose="020B0503020204020204" pitchFamily="34" charset="-122"/>
                    <a:sym typeface="Microsoft YaHei" panose="020B0503020204020204" pitchFamily="34" charset="-122"/>
                  </a:rPr>
                  <a:t>运营自动化</a:t>
                </a:r>
              </a:p>
              <a:p>
                <a:pPr>
                  <a:lnSpc>
                    <a:spcPct val="150000"/>
                  </a:lnSpc>
                  <a:buSzPct val="80000"/>
                </a:pPr>
                <a:r>
                  <a:rPr lang="zh-CN" altLang="en-US" sz="2000" b="1" i="0" dirty="0">
                    <a:solidFill>
                      <a:schemeClr val="bg1"/>
                    </a:solidFill>
                    <a:effectLst/>
                    <a:latin typeface="Arial" panose="020B0604020202020204" pitchFamily="34" charset="0"/>
                    <a:ea typeface="微软雅黑" panose="020B0503020204020204" pitchFamily="34" charset="-122"/>
                    <a:sym typeface="Microsoft YaHei" panose="020B0503020204020204" pitchFamily="34" charset="-122"/>
                  </a:rPr>
                  <a:t>决策智能化</a:t>
                </a:r>
              </a:p>
              <a:p>
                <a:pPr>
                  <a:lnSpc>
                    <a:spcPct val="150000"/>
                  </a:lnSpc>
                  <a:buSzPct val="80000"/>
                </a:pPr>
                <a:r>
                  <a:rPr lang="zh-CN" altLang="en-US" sz="2000" b="1" i="0" dirty="0">
                    <a:solidFill>
                      <a:schemeClr val="bg1"/>
                    </a:solidFill>
                    <a:effectLst/>
                    <a:latin typeface="Arial" panose="020B0604020202020204" pitchFamily="34" charset="0"/>
                    <a:ea typeface="微软雅黑" panose="020B0503020204020204" pitchFamily="34" charset="-122"/>
                    <a:sym typeface="Microsoft YaHei" panose="020B0503020204020204" pitchFamily="34" charset="-122"/>
                  </a:rPr>
                  <a:t>生态可协同</a:t>
                </a:r>
              </a:p>
            </p:txBody>
          </p:sp>
          <p:cxnSp>
            <p:nvCxnSpPr>
              <p:cNvPr id="34" name="2">
                <a:extLst>
                  <a:ext uri="{FF2B5EF4-FFF2-40B4-BE49-F238E27FC236}">
                    <a16:creationId xmlns:a16="http://schemas.microsoft.com/office/drawing/2014/main" id="{688085A8-133C-79D5-604E-3D210842E993}"/>
                  </a:ext>
                </a:extLst>
              </p:cNvPr>
              <p:cNvCxnSpPr>
                <a:cxnSpLocks/>
              </p:cNvCxnSpPr>
              <p:nvPr/>
            </p:nvCxnSpPr>
            <p:spPr>
              <a:xfrm>
                <a:off x="10208587" y="3367787"/>
                <a:ext cx="1253477"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sp>
            <p:nvSpPr>
              <p:cNvPr id="35" name="2">
                <a:extLst>
                  <a:ext uri="{FF2B5EF4-FFF2-40B4-BE49-F238E27FC236}">
                    <a16:creationId xmlns:a16="http://schemas.microsoft.com/office/drawing/2014/main" id="{2FD3F82F-60F1-A442-89DE-1755D804861A}"/>
                  </a:ext>
                </a:extLst>
              </p:cNvPr>
              <p:cNvSpPr/>
              <p:nvPr/>
            </p:nvSpPr>
            <p:spPr>
              <a:xfrm rot="5400000">
                <a:off x="10472389" y="4692813"/>
                <a:ext cx="180027" cy="707630"/>
              </a:xfrm>
              <a:prstGeom prst="chevron">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400" b="1">
                  <a:solidFill>
                    <a:schemeClr val="tx1"/>
                  </a:solidFill>
                  <a:latin typeface="+mn-ea"/>
                  <a:sym typeface="Microsoft YaHei" panose="020B0503020204020204" pitchFamily="34" charset="-122"/>
                </a:endParaRPr>
              </a:p>
            </p:txBody>
          </p:sp>
        </p:grpSp>
      </p:grpSp>
    </p:spTree>
    <p:extLst>
      <p:ext uri="{BB962C8B-B14F-4D97-AF65-F5344CB8AC3E}">
        <p14:creationId xmlns:p14="http://schemas.microsoft.com/office/powerpoint/2010/main" val="60501757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8F71F26-5E67-2531-CC3C-CC4CA5D83F06}"/>
              </a:ext>
            </a:extLst>
          </p:cNvPr>
          <p:cNvSpPr>
            <a:spLocks noGrp="1"/>
          </p:cNvSpPr>
          <p:nvPr>
            <p:ph type="title"/>
          </p:nvPr>
        </p:nvSpPr>
        <p:spPr/>
        <p:txBody>
          <a:bodyPr/>
          <a:lstStyle/>
          <a:p>
            <a:r>
              <a:rPr lang="zh-CN" altLang="en-US" dirty="0"/>
              <a:t>数字化升维解决“人”的问题</a:t>
            </a:r>
          </a:p>
        </p:txBody>
      </p:sp>
      <p:graphicFrame>
        <p:nvGraphicFramePr>
          <p:cNvPr id="3" name="表格 2">
            <a:extLst>
              <a:ext uri="{FF2B5EF4-FFF2-40B4-BE49-F238E27FC236}">
                <a16:creationId xmlns:a16="http://schemas.microsoft.com/office/drawing/2014/main" id="{BEDDC541-8C3A-AAB9-F8C0-3F105A0D8A70}"/>
              </a:ext>
            </a:extLst>
          </p:cNvPr>
          <p:cNvGraphicFramePr>
            <a:graphicFrameLocks noGrp="1"/>
          </p:cNvGraphicFramePr>
          <p:nvPr>
            <p:extLst>
              <p:ext uri="{D42A27DB-BD31-4B8C-83A1-F6EECF244321}">
                <p14:modId xmlns:p14="http://schemas.microsoft.com/office/powerpoint/2010/main" val="223730155"/>
              </p:ext>
            </p:extLst>
          </p:nvPr>
        </p:nvGraphicFramePr>
        <p:xfrm>
          <a:off x="1308371" y="904672"/>
          <a:ext cx="9434314" cy="5229427"/>
        </p:xfrm>
        <a:graphic>
          <a:graphicData uri="http://schemas.openxmlformats.org/drawingml/2006/table">
            <a:tbl>
              <a:tblPr/>
              <a:tblGrid>
                <a:gridCol w="1672934">
                  <a:extLst>
                    <a:ext uri="{9D8B030D-6E8A-4147-A177-3AD203B41FA5}">
                      <a16:colId xmlns:a16="http://schemas.microsoft.com/office/drawing/2014/main" val="853203985"/>
                    </a:ext>
                  </a:extLst>
                </a:gridCol>
                <a:gridCol w="3880690">
                  <a:extLst>
                    <a:ext uri="{9D8B030D-6E8A-4147-A177-3AD203B41FA5}">
                      <a16:colId xmlns:a16="http://schemas.microsoft.com/office/drawing/2014/main" val="3805423103"/>
                    </a:ext>
                  </a:extLst>
                </a:gridCol>
                <a:gridCol w="3880690">
                  <a:extLst>
                    <a:ext uri="{9D8B030D-6E8A-4147-A177-3AD203B41FA5}">
                      <a16:colId xmlns:a16="http://schemas.microsoft.com/office/drawing/2014/main" val="1976393287"/>
                    </a:ext>
                  </a:extLst>
                </a:gridCol>
              </a:tblGrid>
              <a:tr h="440137">
                <a:tc>
                  <a:txBody>
                    <a:bodyPr/>
                    <a:lstStyle/>
                    <a:p>
                      <a:pPr fontAlgn="t"/>
                      <a:r>
                        <a:rPr lang="zh-CN" altLang="en-US" sz="1600" b="1">
                          <a:solidFill>
                            <a:srgbClr val="000000"/>
                          </a:solidFill>
                          <a:effectLst/>
                          <a:latin typeface="+mj-ea"/>
                          <a:ea typeface="+mj-ea"/>
                        </a:rPr>
                        <a:t>核心概念</a:t>
                      </a:r>
                    </a:p>
                  </a:txBody>
                  <a:tcPr marL="26768" marR="26768" marT="17845" marB="17845">
                    <a:lnL>
                      <a:solidFill>
                        <a:srgbClr val="769FCD"/>
                      </a:solidFill>
                      <a:prstDash val="solid"/>
                    </a:lnL>
                    <a:lnR>
                      <a:solidFill>
                        <a:srgbClr val="DDDDDD"/>
                      </a:solidFill>
                      <a:prstDash val="solid"/>
                    </a:lnR>
                    <a:lnT>
                      <a:solidFill>
                        <a:srgbClr val="769FCD"/>
                      </a:solidFill>
                      <a:prstDash val="solid"/>
                    </a:lnT>
                    <a:lnB>
                      <a:solidFill>
                        <a:srgbClr val="769FCD"/>
                      </a:solidFill>
                      <a:prstDash val="solid"/>
                    </a:lnB>
                    <a:solidFill>
                      <a:srgbClr val="769FCD"/>
                    </a:solidFill>
                  </a:tcPr>
                </a:tc>
                <a:tc>
                  <a:txBody>
                    <a:bodyPr/>
                    <a:lstStyle/>
                    <a:p>
                      <a:pPr fontAlgn="t"/>
                      <a:r>
                        <a:rPr lang="zh-CN" altLang="en-US" sz="1600" b="1">
                          <a:solidFill>
                            <a:srgbClr val="000000"/>
                          </a:solidFill>
                          <a:effectLst/>
                          <a:latin typeface="+mj-ea"/>
                          <a:ea typeface="+mj-ea"/>
                        </a:rPr>
                        <a:t>定义与内涵</a:t>
                      </a:r>
                    </a:p>
                  </a:txBody>
                  <a:tcPr marL="26768" marR="26768" marT="17845" marB="17845">
                    <a:lnL>
                      <a:solidFill>
                        <a:srgbClr val="DDDDDD"/>
                      </a:solidFill>
                      <a:prstDash val="solid"/>
                    </a:lnL>
                    <a:lnR>
                      <a:solidFill>
                        <a:srgbClr val="DDDDDD"/>
                      </a:solidFill>
                      <a:prstDash val="solid"/>
                    </a:lnR>
                    <a:lnT>
                      <a:solidFill>
                        <a:srgbClr val="769FCD"/>
                      </a:solidFill>
                      <a:prstDash val="solid"/>
                    </a:lnT>
                    <a:lnB>
                      <a:solidFill>
                        <a:srgbClr val="769FCD"/>
                      </a:solidFill>
                      <a:prstDash val="solid"/>
                    </a:lnB>
                    <a:solidFill>
                      <a:srgbClr val="769FCD"/>
                    </a:solidFill>
                  </a:tcPr>
                </a:tc>
                <a:tc>
                  <a:txBody>
                    <a:bodyPr/>
                    <a:lstStyle/>
                    <a:p>
                      <a:pPr fontAlgn="t"/>
                      <a:r>
                        <a:rPr lang="zh-CN" altLang="en-US" sz="1600" b="1" dirty="0">
                          <a:solidFill>
                            <a:srgbClr val="000000"/>
                          </a:solidFill>
                          <a:effectLst/>
                          <a:latin typeface="+mj-ea"/>
                          <a:ea typeface="+mj-ea"/>
                        </a:rPr>
                        <a:t>解决的“人”的问题</a:t>
                      </a:r>
                    </a:p>
                  </a:txBody>
                  <a:tcPr marL="26768" marR="26768" marT="17845" marB="17845">
                    <a:lnL>
                      <a:solidFill>
                        <a:srgbClr val="DDDDDD"/>
                      </a:solidFill>
                      <a:prstDash val="solid"/>
                    </a:lnL>
                    <a:lnR>
                      <a:solidFill>
                        <a:srgbClr val="769FCD"/>
                      </a:solidFill>
                      <a:prstDash val="solid"/>
                    </a:lnR>
                    <a:lnT>
                      <a:solidFill>
                        <a:srgbClr val="769FCD"/>
                      </a:solidFill>
                      <a:prstDash val="solid"/>
                    </a:lnT>
                    <a:lnB>
                      <a:solidFill>
                        <a:srgbClr val="769FCD"/>
                      </a:solidFill>
                      <a:prstDash val="solid"/>
                    </a:lnB>
                    <a:solidFill>
                      <a:srgbClr val="769FCD"/>
                    </a:solidFill>
                  </a:tcPr>
                </a:tc>
                <a:extLst>
                  <a:ext uri="{0D108BD9-81ED-4DB2-BD59-A6C34878D82A}">
                    <a16:rowId xmlns:a16="http://schemas.microsoft.com/office/drawing/2014/main" val="1240705283"/>
                  </a:ext>
                </a:extLst>
              </a:tr>
              <a:tr h="842975">
                <a:tc>
                  <a:txBody>
                    <a:bodyPr/>
                    <a:lstStyle/>
                    <a:p>
                      <a:pPr fontAlgn="t"/>
                      <a:r>
                        <a:rPr lang="en-US" sz="1600" b="1">
                          <a:solidFill>
                            <a:srgbClr val="000000"/>
                          </a:solidFill>
                          <a:effectLst/>
                          <a:latin typeface="+mj-ea"/>
                          <a:ea typeface="+mj-ea"/>
                        </a:rPr>
                        <a:t>N² </a:t>
                      </a:r>
                      <a:r>
                        <a:rPr lang="zh-CN" altLang="en-US" sz="1600" b="1">
                          <a:solidFill>
                            <a:srgbClr val="000000"/>
                          </a:solidFill>
                          <a:effectLst/>
                          <a:latin typeface="+mj-ea"/>
                          <a:ea typeface="+mj-ea"/>
                        </a:rPr>
                        <a:t>复杂度</a:t>
                      </a:r>
                    </a:p>
                  </a:txBody>
                  <a:tcPr marL="26768" marR="26768" marT="17845" marB="17845">
                    <a:lnL>
                      <a:solidFill>
                        <a:srgbClr val="769FCD"/>
                      </a:solidFill>
                      <a:prstDash val="solid"/>
                    </a:lnL>
                    <a:lnR>
                      <a:solidFill>
                        <a:srgbClr val="769FCD"/>
                      </a:solidFill>
                      <a:prstDash val="solid"/>
                    </a:lnR>
                    <a:lnT>
                      <a:solidFill>
                        <a:srgbClr val="769FCD"/>
                      </a:solidFill>
                      <a:prstDash val="solid"/>
                    </a:lnT>
                    <a:lnB>
                      <a:solidFill>
                        <a:srgbClr val="DDDDDD"/>
                      </a:solidFill>
                      <a:prstDash val="solid"/>
                    </a:lnB>
                    <a:solidFill>
                      <a:srgbClr val="B9D7EA"/>
                    </a:solidFill>
                  </a:tcPr>
                </a:tc>
                <a:tc>
                  <a:txBody>
                    <a:bodyPr/>
                    <a:lstStyle/>
                    <a:p>
                      <a:pPr fontAlgn="t"/>
                      <a:r>
                        <a:rPr lang="zh-CN" altLang="en-US" sz="1400" b="0">
                          <a:solidFill>
                            <a:schemeClr val="tx1"/>
                          </a:solidFill>
                          <a:effectLst/>
                          <a:latin typeface="+mj-ea"/>
                          <a:ea typeface="+mj-ea"/>
                        </a:rPr>
                        <a:t>协同关系随节点数呈指数级爆发，超越人力极限。</a:t>
                      </a:r>
                    </a:p>
                  </a:txBody>
                  <a:tcPr marL="26768" marR="26768" marT="17845" marB="17845">
                    <a:lnL>
                      <a:solidFill>
                        <a:srgbClr val="769FCD"/>
                      </a:solidFill>
                      <a:prstDash val="solid"/>
                    </a:lnL>
                    <a:lnR>
                      <a:solidFill>
                        <a:srgbClr val="DDDDDD"/>
                      </a:solidFill>
                      <a:prstDash val="solid"/>
                    </a:lnR>
                    <a:lnT>
                      <a:solidFill>
                        <a:srgbClr val="769FCD"/>
                      </a:solidFill>
                      <a:prstDash val="solid"/>
                    </a:lnT>
                    <a:lnB>
                      <a:solidFill>
                        <a:srgbClr val="DDDDDD"/>
                      </a:solidFill>
                      <a:prstDash val="solid"/>
                    </a:lnB>
                    <a:noFill/>
                  </a:tcPr>
                </a:tc>
                <a:tc>
                  <a:txBody>
                    <a:bodyPr/>
                    <a:lstStyle/>
                    <a:p>
                      <a:pPr fontAlgn="t"/>
                      <a:r>
                        <a:rPr lang="zh-CN" altLang="en-US" sz="1400" b="0">
                          <a:solidFill>
                            <a:schemeClr val="tx1"/>
                          </a:solidFill>
                          <a:effectLst/>
                          <a:latin typeface="+mj-ea"/>
                          <a:ea typeface="+mj-ea"/>
                        </a:rPr>
                        <a:t>消除因信息过载导致的沟通瘫痪和决策延误。</a:t>
                      </a:r>
                    </a:p>
                  </a:txBody>
                  <a:tcPr marL="26768" marR="26768" marT="17845" marB="17845">
                    <a:lnL>
                      <a:solidFill>
                        <a:srgbClr val="DDDDDD"/>
                      </a:solidFill>
                      <a:prstDash val="solid"/>
                    </a:lnL>
                    <a:lnR>
                      <a:solidFill>
                        <a:srgbClr val="769FCD"/>
                      </a:solidFill>
                      <a:prstDash val="solid"/>
                    </a:lnR>
                    <a:lnT>
                      <a:solidFill>
                        <a:srgbClr val="769FCD"/>
                      </a:solidFill>
                      <a:prstDash val="solid"/>
                    </a:lnT>
                    <a:lnB>
                      <a:solidFill>
                        <a:srgbClr val="DDDDDD"/>
                      </a:solidFill>
                      <a:prstDash val="solid"/>
                    </a:lnB>
                    <a:noFill/>
                  </a:tcPr>
                </a:tc>
                <a:extLst>
                  <a:ext uri="{0D108BD9-81ED-4DB2-BD59-A6C34878D82A}">
                    <a16:rowId xmlns:a16="http://schemas.microsoft.com/office/drawing/2014/main" val="3025278263"/>
                  </a:ext>
                </a:extLst>
              </a:tr>
              <a:tr h="708695">
                <a:tc>
                  <a:txBody>
                    <a:bodyPr/>
                    <a:lstStyle/>
                    <a:p>
                      <a:pPr fontAlgn="t"/>
                      <a:r>
                        <a:rPr lang="zh-CN" altLang="en-US" sz="1600" b="1">
                          <a:solidFill>
                            <a:srgbClr val="000000"/>
                          </a:solidFill>
                          <a:effectLst/>
                          <a:latin typeface="+mj-ea"/>
                          <a:ea typeface="+mj-ea"/>
                        </a:rPr>
                        <a:t>三位一体能力</a:t>
                      </a:r>
                    </a:p>
                  </a:txBody>
                  <a:tcPr marL="26768" marR="26768" marT="17845" marB="17845">
                    <a:lnL>
                      <a:solidFill>
                        <a:srgbClr val="769FCD"/>
                      </a:solidFill>
                      <a:prstDash val="solid"/>
                    </a:lnL>
                    <a:lnR>
                      <a:solidFill>
                        <a:srgbClr val="769FCD"/>
                      </a:solidFill>
                      <a:prstDash val="solid"/>
                    </a:lnR>
                    <a:lnT>
                      <a:solidFill>
                        <a:srgbClr val="DDDDDD"/>
                      </a:solidFill>
                      <a:prstDash val="solid"/>
                    </a:lnT>
                    <a:lnB>
                      <a:solidFill>
                        <a:srgbClr val="DDDDDD"/>
                      </a:solidFill>
                      <a:prstDash val="solid"/>
                    </a:lnB>
                    <a:solidFill>
                      <a:srgbClr val="B9D7EA"/>
                    </a:solidFill>
                  </a:tcPr>
                </a:tc>
                <a:tc>
                  <a:txBody>
                    <a:bodyPr/>
                    <a:lstStyle/>
                    <a:p>
                      <a:pPr fontAlgn="t"/>
                      <a:r>
                        <a:rPr lang="zh-CN" altLang="en-US" sz="1400" b="0">
                          <a:solidFill>
                            <a:schemeClr val="tx1"/>
                          </a:solidFill>
                          <a:effectLst/>
                          <a:latin typeface="+mj-ea"/>
                          <a:ea typeface="+mj-ea"/>
                        </a:rPr>
                        <a:t>业务解构</a:t>
                      </a:r>
                      <a:r>
                        <a:rPr lang="en-US" altLang="zh-CN" sz="1400" b="0">
                          <a:solidFill>
                            <a:schemeClr val="tx1"/>
                          </a:solidFill>
                          <a:effectLst/>
                          <a:latin typeface="+mj-ea"/>
                          <a:ea typeface="+mj-ea"/>
                        </a:rPr>
                        <a:t>+</a:t>
                      </a:r>
                      <a:r>
                        <a:rPr lang="zh-CN" altLang="en-US" sz="1400" b="0">
                          <a:solidFill>
                            <a:schemeClr val="tx1"/>
                          </a:solidFill>
                          <a:effectLst/>
                          <a:latin typeface="+mj-ea"/>
                          <a:ea typeface="+mj-ea"/>
                        </a:rPr>
                        <a:t>技术洞察</a:t>
                      </a:r>
                      <a:r>
                        <a:rPr lang="en-US" altLang="zh-CN" sz="1400" b="0">
                          <a:solidFill>
                            <a:schemeClr val="tx1"/>
                          </a:solidFill>
                          <a:effectLst/>
                          <a:latin typeface="+mj-ea"/>
                          <a:ea typeface="+mj-ea"/>
                        </a:rPr>
                        <a:t>+</a:t>
                      </a:r>
                      <a:r>
                        <a:rPr lang="zh-CN" altLang="en-US" sz="1400" b="0">
                          <a:solidFill>
                            <a:schemeClr val="tx1"/>
                          </a:solidFill>
                          <a:effectLst/>
                          <a:latin typeface="+mj-ea"/>
                          <a:ea typeface="+mj-ea"/>
                        </a:rPr>
                        <a:t>系统架构的融合能力。</a:t>
                      </a:r>
                    </a:p>
                  </a:txBody>
                  <a:tcPr marL="26768" marR="26768" marT="17845" marB="17845">
                    <a:lnL>
                      <a:solidFill>
                        <a:srgbClr val="769FCD"/>
                      </a:solidFill>
                      <a:prstDash val="solid"/>
                    </a:lnL>
                    <a:lnR>
                      <a:solidFill>
                        <a:srgbClr val="DDDDDD"/>
                      </a:solidFill>
                      <a:prstDash val="solid"/>
                    </a:lnR>
                    <a:lnT>
                      <a:solidFill>
                        <a:srgbClr val="DDDDDD"/>
                      </a:solidFill>
                      <a:prstDash val="solid"/>
                    </a:lnT>
                    <a:lnB>
                      <a:solidFill>
                        <a:srgbClr val="DDDDDD"/>
                      </a:solidFill>
                      <a:prstDash val="solid"/>
                    </a:lnB>
                    <a:noFill/>
                  </a:tcPr>
                </a:tc>
                <a:tc>
                  <a:txBody>
                    <a:bodyPr/>
                    <a:lstStyle/>
                    <a:p>
                      <a:pPr fontAlgn="t"/>
                      <a:r>
                        <a:rPr lang="zh-CN" altLang="en-US" sz="1400" b="0">
                          <a:solidFill>
                            <a:schemeClr val="tx1"/>
                          </a:solidFill>
                          <a:effectLst/>
                          <a:latin typeface="+mj-ea"/>
                          <a:ea typeface="+mj-ea"/>
                        </a:rPr>
                        <a:t>解决业务与</a:t>
                      </a:r>
                      <a:r>
                        <a:rPr lang="en-US" altLang="zh-CN" sz="1400" b="0">
                          <a:solidFill>
                            <a:schemeClr val="tx1"/>
                          </a:solidFill>
                          <a:effectLst/>
                          <a:latin typeface="+mj-ea"/>
                          <a:ea typeface="+mj-ea"/>
                        </a:rPr>
                        <a:t>IT“</a:t>
                      </a:r>
                      <a:r>
                        <a:rPr lang="zh-CN" altLang="en-US" sz="1400" b="0">
                          <a:solidFill>
                            <a:schemeClr val="tx1"/>
                          </a:solidFill>
                          <a:effectLst/>
                          <a:latin typeface="+mj-ea"/>
                          <a:ea typeface="+mj-ea"/>
                        </a:rPr>
                        <a:t>鸡同鸭讲”的巴别塔困境。</a:t>
                      </a:r>
                    </a:p>
                  </a:txBody>
                  <a:tcPr marL="26768" marR="26768" marT="17845" marB="17845">
                    <a:lnL>
                      <a:solidFill>
                        <a:srgbClr val="DDDDDD"/>
                      </a:solidFill>
                      <a:prstDash val="solid"/>
                    </a:lnL>
                    <a:lnR>
                      <a:solidFill>
                        <a:srgbClr val="769FCD"/>
                      </a:solidFill>
                      <a:prstDash val="solid"/>
                    </a:lnR>
                    <a:lnT>
                      <a:solidFill>
                        <a:srgbClr val="DDDDDD"/>
                      </a:solidFill>
                      <a:prstDash val="solid"/>
                    </a:lnT>
                    <a:lnB>
                      <a:solidFill>
                        <a:srgbClr val="DDDDDD"/>
                      </a:solidFill>
                      <a:prstDash val="solid"/>
                    </a:lnB>
                    <a:noFill/>
                  </a:tcPr>
                </a:tc>
                <a:extLst>
                  <a:ext uri="{0D108BD9-81ED-4DB2-BD59-A6C34878D82A}">
                    <a16:rowId xmlns:a16="http://schemas.microsoft.com/office/drawing/2014/main" val="3715360152"/>
                  </a:ext>
                </a:extLst>
              </a:tr>
              <a:tr h="842975">
                <a:tc>
                  <a:txBody>
                    <a:bodyPr/>
                    <a:lstStyle/>
                    <a:p>
                      <a:pPr fontAlgn="t"/>
                      <a:r>
                        <a:rPr lang="zh-CN" altLang="en-US" sz="1600" b="1">
                          <a:solidFill>
                            <a:srgbClr val="000000"/>
                          </a:solidFill>
                          <a:effectLst/>
                          <a:latin typeface="+mj-ea"/>
                          <a:ea typeface="+mj-ea"/>
                        </a:rPr>
                        <a:t>算法立法</a:t>
                      </a:r>
                    </a:p>
                  </a:txBody>
                  <a:tcPr marL="26768" marR="26768" marT="17845" marB="17845">
                    <a:lnL>
                      <a:solidFill>
                        <a:srgbClr val="769FCD"/>
                      </a:solidFill>
                      <a:prstDash val="solid"/>
                    </a:lnL>
                    <a:lnR>
                      <a:solidFill>
                        <a:srgbClr val="769FCD"/>
                      </a:solidFill>
                      <a:prstDash val="solid"/>
                    </a:lnR>
                    <a:lnT>
                      <a:solidFill>
                        <a:srgbClr val="DDDDDD"/>
                      </a:solidFill>
                      <a:prstDash val="solid"/>
                    </a:lnT>
                    <a:lnB>
                      <a:solidFill>
                        <a:srgbClr val="DDDDDD"/>
                      </a:solidFill>
                      <a:prstDash val="solid"/>
                    </a:lnB>
                    <a:solidFill>
                      <a:srgbClr val="B9D7EA"/>
                    </a:solidFill>
                  </a:tcPr>
                </a:tc>
                <a:tc>
                  <a:txBody>
                    <a:bodyPr/>
                    <a:lstStyle/>
                    <a:p>
                      <a:pPr fontAlgn="t"/>
                      <a:r>
                        <a:rPr lang="zh-CN" altLang="en-US" sz="1400" b="0">
                          <a:solidFill>
                            <a:schemeClr val="tx1"/>
                          </a:solidFill>
                          <a:effectLst/>
                          <a:latin typeface="+mj-ea"/>
                          <a:ea typeface="+mj-ea"/>
                        </a:rPr>
                        <a:t>将商业规则固化为不可违抗的代码逻辑。</a:t>
                      </a:r>
                    </a:p>
                  </a:txBody>
                  <a:tcPr marL="26768" marR="26768" marT="17845" marB="17845">
                    <a:lnL>
                      <a:solidFill>
                        <a:srgbClr val="769FCD"/>
                      </a:solidFill>
                      <a:prstDash val="solid"/>
                    </a:lnL>
                    <a:lnR>
                      <a:solidFill>
                        <a:srgbClr val="DDDDDD"/>
                      </a:solidFill>
                      <a:prstDash val="solid"/>
                    </a:lnR>
                    <a:lnT>
                      <a:solidFill>
                        <a:srgbClr val="DDDDDD"/>
                      </a:solidFill>
                      <a:prstDash val="solid"/>
                    </a:lnT>
                    <a:lnB>
                      <a:solidFill>
                        <a:srgbClr val="DDDDDD"/>
                      </a:solidFill>
                      <a:prstDash val="solid"/>
                    </a:lnB>
                    <a:noFill/>
                  </a:tcPr>
                </a:tc>
                <a:tc>
                  <a:txBody>
                    <a:bodyPr/>
                    <a:lstStyle/>
                    <a:p>
                      <a:pPr fontAlgn="t"/>
                      <a:r>
                        <a:rPr lang="zh-CN" altLang="en-US" sz="1400" b="0">
                          <a:solidFill>
                            <a:schemeClr val="tx1"/>
                          </a:solidFill>
                          <a:effectLst/>
                          <a:latin typeface="+mj-ea"/>
                          <a:ea typeface="+mj-ea"/>
                        </a:rPr>
                        <a:t>消除基于人情、权力的“灰色博弈”和“插队”。</a:t>
                      </a:r>
                    </a:p>
                  </a:txBody>
                  <a:tcPr marL="26768" marR="26768" marT="17845" marB="17845">
                    <a:lnL>
                      <a:solidFill>
                        <a:srgbClr val="DDDDDD"/>
                      </a:solidFill>
                      <a:prstDash val="solid"/>
                    </a:lnL>
                    <a:lnR>
                      <a:solidFill>
                        <a:srgbClr val="769FCD"/>
                      </a:solidFill>
                      <a:prstDash val="solid"/>
                    </a:lnR>
                    <a:lnT>
                      <a:solidFill>
                        <a:srgbClr val="DDDDDD"/>
                      </a:solidFill>
                      <a:prstDash val="solid"/>
                    </a:lnT>
                    <a:lnB>
                      <a:solidFill>
                        <a:srgbClr val="DDDDDD"/>
                      </a:solidFill>
                      <a:prstDash val="solid"/>
                    </a:lnB>
                    <a:noFill/>
                  </a:tcPr>
                </a:tc>
                <a:extLst>
                  <a:ext uri="{0D108BD9-81ED-4DB2-BD59-A6C34878D82A}">
                    <a16:rowId xmlns:a16="http://schemas.microsoft.com/office/drawing/2014/main" val="3431089219"/>
                  </a:ext>
                </a:extLst>
              </a:tr>
              <a:tr h="842975">
                <a:tc>
                  <a:txBody>
                    <a:bodyPr/>
                    <a:lstStyle/>
                    <a:p>
                      <a:pPr fontAlgn="t"/>
                      <a:r>
                        <a:rPr lang="zh-CN" altLang="en-US" sz="1600" b="1">
                          <a:solidFill>
                            <a:srgbClr val="000000"/>
                          </a:solidFill>
                          <a:effectLst/>
                          <a:latin typeface="+mj-ea"/>
                          <a:ea typeface="+mj-ea"/>
                        </a:rPr>
                        <a:t>模型确权</a:t>
                      </a:r>
                    </a:p>
                  </a:txBody>
                  <a:tcPr marL="26768" marR="26768" marT="17845" marB="17845">
                    <a:lnL>
                      <a:solidFill>
                        <a:srgbClr val="769FCD"/>
                      </a:solidFill>
                      <a:prstDash val="solid"/>
                    </a:lnL>
                    <a:lnR>
                      <a:solidFill>
                        <a:srgbClr val="769FCD"/>
                      </a:solidFill>
                      <a:prstDash val="solid"/>
                    </a:lnR>
                    <a:lnT>
                      <a:solidFill>
                        <a:srgbClr val="DDDDDD"/>
                      </a:solidFill>
                      <a:prstDash val="solid"/>
                    </a:lnT>
                    <a:lnB>
                      <a:solidFill>
                        <a:srgbClr val="DDDDDD"/>
                      </a:solidFill>
                      <a:prstDash val="solid"/>
                    </a:lnB>
                    <a:solidFill>
                      <a:srgbClr val="B9D7EA"/>
                    </a:solidFill>
                  </a:tcPr>
                </a:tc>
                <a:tc>
                  <a:txBody>
                    <a:bodyPr/>
                    <a:lstStyle/>
                    <a:p>
                      <a:pPr fontAlgn="t"/>
                      <a:r>
                        <a:rPr lang="zh-CN" altLang="en-US" sz="1400" b="0">
                          <a:solidFill>
                            <a:schemeClr val="tx1"/>
                          </a:solidFill>
                          <a:effectLst/>
                          <a:latin typeface="+mj-ea"/>
                          <a:ea typeface="+mj-ea"/>
                        </a:rPr>
                        <a:t>通过数据模型定义资源归属和操作权限。</a:t>
                      </a:r>
                    </a:p>
                  </a:txBody>
                  <a:tcPr marL="26768" marR="26768" marT="17845" marB="17845">
                    <a:lnL>
                      <a:solidFill>
                        <a:srgbClr val="769FCD"/>
                      </a:solidFill>
                      <a:prstDash val="solid"/>
                    </a:lnL>
                    <a:lnR>
                      <a:solidFill>
                        <a:srgbClr val="DDDDDD"/>
                      </a:solidFill>
                      <a:prstDash val="solid"/>
                    </a:lnR>
                    <a:lnT>
                      <a:solidFill>
                        <a:srgbClr val="DDDDDD"/>
                      </a:solidFill>
                      <a:prstDash val="solid"/>
                    </a:lnT>
                    <a:lnB>
                      <a:solidFill>
                        <a:srgbClr val="DDDDDD"/>
                      </a:solidFill>
                      <a:prstDash val="solid"/>
                    </a:lnB>
                    <a:noFill/>
                  </a:tcPr>
                </a:tc>
                <a:tc>
                  <a:txBody>
                    <a:bodyPr/>
                    <a:lstStyle/>
                    <a:p>
                      <a:pPr fontAlgn="t"/>
                      <a:r>
                        <a:rPr lang="zh-CN" altLang="en-US" sz="1400" b="0">
                          <a:solidFill>
                            <a:schemeClr val="tx1"/>
                          </a:solidFill>
                          <a:effectLst/>
                          <a:latin typeface="+mj-ea"/>
                          <a:ea typeface="+mj-ea"/>
                        </a:rPr>
                        <a:t>解决“数据孤岛”和“私有账本”导致的权力割据。</a:t>
                      </a:r>
                    </a:p>
                  </a:txBody>
                  <a:tcPr marL="26768" marR="26768" marT="17845" marB="17845">
                    <a:lnL>
                      <a:solidFill>
                        <a:srgbClr val="DDDDDD"/>
                      </a:solidFill>
                      <a:prstDash val="solid"/>
                    </a:lnL>
                    <a:lnR>
                      <a:solidFill>
                        <a:srgbClr val="769FCD"/>
                      </a:solidFill>
                      <a:prstDash val="solid"/>
                    </a:lnR>
                    <a:lnT>
                      <a:solidFill>
                        <a:srgbClr val="DDDDDD"/>
                      </a:solidFill>
                      <a:prstDash val="solid"/>
                    </a:lnT>
                    <a:lnB>
                      <a:solidFill>
                        <a:srgbClr val="DDDDDD"/>
                      </a:solidFill>
                      <a:prstDash val="solid"/>
                    </a:lnB>
                    <a:noFill/>
                  </a:tcPr>
                </a:tc>
                <a:extLst>
                  <a:ext uri="{0D108BD9-81ED-4DB2-BD59-A6C34878D82A}">
                    <a16:rowId xmlns:a16="http://schemas.microsoft.com/office/drawing/2014/main" val="2224560449"/>
                  </a:ext>
                </a:extLst>
              </a:tr>
              <a:tr h="842975">
                <a:tc>
                  <a:txBody>
                    <a:bodyPr/>
                    <a:lstStyle/>
                    <a:p>
                      <a:pPr fontAlgn="t"/>
                      <a:r>
                        <a:rPr lang="zh-CN" altLang="en-US" sz="1600" b="1">
                          <a:solidFill>
                            <a:srgbClr val="000000"/>
                          </a:solidFill>
                          <a:effectLst/>
                          <a:latin typeface="+mj-ea"/>
                          <a:ea typeface="+mj-ea"/>
                        </a:rPr>
                        <a:t>自动化闭环</a:t>
                      </a:r>
                    </a:p>
                  </a:txBody>
                  <a:tcPr marL="26768" marR="26768" marT="17845" marB="17845">
                    <a:lnL>
                      <a:solidFill>
                        <a:srgbClr val="769FCD"/>
                      </a:solidFill>
                      <a:prstDash val="solid"/>
                    </a:lnL>
                    <a:lnR>
                      <a:solidFill>
                        <a:srgbClr val="769FCD"/>
                      </a:solidFill>
                      <a:prstDash val="solid"/>
                    </a:lnR>
                    <a:lnT>
                      <a:solidFill>
                        <a:srgbClr val="DDDDDD"/>
                      </a:solidFill>
                      <a:prstDash val="solid"/>
                    </a:lnT>
                    <a:lnB>
                      <a:solidFill>
                        <a:srgbClr val="DDDDDD"/>
                      </a:solidFill>
                      <a:prstDash val="solid"/>
                    </a:lnB>
                    <a:solidFill>
                      <a:srgbClr val="B9D7EA"/>
                    </a:solidFill>
                  </a:tcPr>
                </a:tc>
                <a:tc>
                  <a:txBody>
                    <a:bodyPr/>
                    <a:lstStyle/>
                    <a:p>
                      <a:pPr fontAlgn="t"/>
                      <a:r>
                        <a:rPr lang="zh-CN" altLang="en-US" sz="1400" b="0">
                          <a:solidFill>
                            <a:schemeClr val="tx1"/>
                          </a:solidFill>
                          <a:effectLst/>
                          <a:latin typeface="+mj-ea"/>
                          <a:ea typeface="+mj-ea"/>
                        </a:rPr>
                        <a:t>决策与执行的无缝连接，</a:t>
                      </a:r>
                      <a:r>
                        <a:rPr lang="en-US" altLang="zh-CN" sz="1400" b="0">
                          <a:solidFill>
                            <a:schemeClr val="tx1"/>
                          </a:solidFill>
                          <a:effectLst/>
                          <a:latin typeface="+mj-ea"/>
                          <a:ea typeface="+mj-ea"/>
                        </a:rPr>
                        <a:t>S&amp;OE</a:t>
                      </a:r>
                      <a:r>
                        <a:rPr lang="zh-CN" altLang="en-US" sz="1400" b="0">
                          <a:solidFill>
                            <a:schemeClr val="tx1"/>
                          </a:solidFill>
                          <a:effectLst/>
                          <a:latin typeface="+mj-ea"/>
                          <a:ea typeface="+mj-ea"/>
                        </a:rPr>
                        <a:t>层面的全自动。</a:t>
                      </a:r>
                    </a:p>
                  </a:txBody>
                  <a:tcPr marL="26768" marR="26768" marT="17845" marB="17845">
                    <a:lnL>
                      <a:solidFill>
                        <a:srgbClr val="769FCD"/>
                      </a:solidFill>
                      <a:prstDash val="solid"/>
                    </a:lnL>
                    <a:lnR>
                      <a:solidFill>
                        <a:srgbClr val="DDDDDD"/>
                      </a:solidFill>
                      <a:prstDash val="solid"/>
                    </a:lnR>
                    <a:lnT>
                      <a:solidFill>
                        <a:srgbClr val="DDDDDD"/>
                      </a:solidFill>
                      <a:prstDash val="solid"/>
                    </a:lnT>
                    <a:lnB>
                      <a:solidFill>
                        <a:srgbClr val="DDDDDD"/>
                      </a:solidFill>
                      <a:prstDash val="solid"/>
                    </a:lnB>
                    <a:noFill/>
                  </a:tcPr>
                </a:tc>
                <a:tc>
                  <a:txBody>
                    <a:bodyPr/>
                    <a:lstStyle/>
                    <a:p>
                      <a:pPr fontAlgn="t"/>
                      <a:r>
                        <a:rPr lang="zh-CN" altLang="en-US" sz="1400" b="0" dirty="0">
                          <a:solidFill>
                            <a:schemeClr val="tx1"/>
                          </a:solidFill>
                          <a:effectLst/>
                          <a:latin typeface="+mj-ea"/>
                          <a:ea typeface="+mj-ea"/>
                        </a:rPr>
                        <a:t>戳破“工厂执行力差”的谎言，消除人为干预的噪音。</a:t>
                      </a:r>
                    </a:p>
                  </a:txBody>
                  <a:tcPr marL="26768" marR="26768" marT="17845" marB="17845">
                    <a:lnL>
                      <a:solidFill>
                        <a:srgbClr val="DDDDDD"/>
                      </a:solidFill>
                      <a:prstDash val="solid"/>
                    </a:lnL>
                    <a:lnR>
                      <a:solidFill>
                        <a:srgbClr val="769FCD"/>
                      </a:solidFill>
                      <a:prstDash val="solid"/>
                    </a:lnR>
                    <a:lnT>
                      <a:solidFill>
                        <a:srgbClr val="DDDDDD"/>
                      </a:solidFill>
                      <a:prstDash val="solid"/>
                    </a:lnT>
                    <a:lnB>
                      <a:solidFill>
                        <a:srgbClr val="DDDDDD"/>
                      </a:solidFill>
                      <a:prstDash val="solid"/>
                    </a:lnB>
                    <a:noFill/>
                  </a:tcPr>
                </a:tc>
                <a:extLst>
                  <a:ext uri="{0D108BD9-81ED-4DB2-BD59-A6C34878D82A}">
                    <a16:rowId xmlns:a16="http://schemas.microsoft.com/office/drawing/2014/main" val="3457995717"/>
                  </a:ext>
                </a:extLst>
              </a:tr>
              <a:tr h="708695">
                <a:tc>
                  <a:txBody>
                    <a:bodyPr/>
                    <a:lstStyle/>
                    <a:p>
                      <a:pPr fontAlgn="t"/>
                      <a:r>
                        <a:rPr lang="zh-CN" altLang="en-US" sz="1600" b="1" dirty="0">
                          <a:solidFill>
                            <a:srgbClr val="000000"/>
                          </a:solidFill>
                          <a:effectLst/>
                          <a:latin typeface="+mj-ea"/>
                          <a:ea typeface="+mj-ea"/>
                        </a:rPr>
                        <a:t>双核驱动</a:t>
                      </a:r>
                    </a:p>
                  </a:txBody>
                  <a:tcPr marL="26768" marR="26768" marT="17845" marB="17845">
                    <a:lnL>
                      <a:solidFill>
                        <a:srgbClr val="769FCD"/>
                      </a:solidFill>
                      <a:prstDash val="solid"/>
                    </a:lnL>
                    <a:lnR>
                      <a:solidFill>
                        <a:srgbClr val="769FCD"/>
                      </a:solidFill>
                      <a:prstDash val="solid"/>
                    </a:lnR>
                    <a:lnT>
                      <a:solidFill>
                        <a:srgbClr val="DDDDDD"/>
                      </a:solidFill>
                      <a:prstDash val="solid"/>
                    </a:lnT>
                    <a:lnB>
                      <a:solidFill>
                        <a:srgbClr val="769FCD"/>
                      </a:solidFill>
                      <a:prstDash val="solid"/>
                    </a:lnB>
                    <a:solidFill>
                      <a:srgbClr val="B9D7EA"/>
                    </a:solidFill>
                  </a:tcPr>
                </a:tc>
                <a:tc>
                  <a:txBody>
                    <a:bodyPr/>
                    <a:lstStyle/>
                    <a:p>
                      <a:pPr fontAlgn="t"/>
                      <a:r>
                        <a:rPr lang="zh-CN" altLang="en-US" sz="1400" b="0">
                          <a:solidFill>
                            <a:schemeClr val="tx1"/>
                          </a:solidFill>
                          <a:effectLst/>
                          <a:latin typeface="+mj-ea"/>
                          <a:ea typeface="+mj-ea"/>
                        </a:rPr>
                        <a:t>总设计师（逻辑）</a:t>
                      </a:r>
                      <a:r>
                        <a:rPr lang="en-US" altLang="zh-CN" sz="1400" b="0">
                          <a:solidFill>
                            <a:schemeClr val="tx1"/>
                          </a:solidFill>
                          <a:effectLst/>
                          <a:latin typeface="+mj-ea"/>
                          <a:ea typeface="+mj-ea"/>
                        </a:rPr>
                        <a:t>+ </a:t>
                      </a:r>
                      <a:r>
                        <a:rPr lang="zh-CN" altLang="en-US" sz="1400" b="0">
                          <a:solidFill>
                            <a:schemeClr val="tx1"/>
                          </a:solidFill>
                          <a:effectLst/>
                          <a:latin typeface="+mj-ea"/>
                          <a:ea typeface="+mj-ea"/>
                        </a:rPr>
                        <a:t>卓越领导力（意志）。</a:t>
                      </a:r>
                    </a:p>
                  </a:txBody>
                  <a:tcPr marL="26768" marR="26768" marT="17845" marB="17845">
                    <a:lnL>
                      <a:solidFill>
                        <a:srgbClr val="769FCD"/>
                      </a:solidFill>
                      <a:prstDash val="solid"/>
                    </a:lnL>
                    <a:lnR>
                      <a:solidFill>
                        <a:srgbClr val="DDDDDD"/>
                      </a:solidFill>
                      <a:prstDash val="solid"/>
                    </a:lnR>
                    <a:lnT>
                      <a:solidFill>
                        <a:srgbClr val="DDDDDD"/>
                      </a:solidFill>
                      <a:prstDash val="solid"/>
                    </a:lnT>
                    <a:lnB>
                      <a:solidFill>
                        <a:srgbClr val="769FCD"/>
                      </a:solidFill>
                      <a:prstDash val="solid"/>
                    </a:lnB>
                    <a:noFill/>
                  </a:tcPr>
                </a:tc>
                <a:tc>
                  <a:txBody>
                    <a:bodyPr/>
                    <a:lstStyle/>
                    <a:p>
                      <a:pPr fontAlgn="t"/>
                      <a:r>
                        <a:rPr lang="zh-CN" altLang="en-US" sz="1400" b="0" dirty="0">
                          <a:solidFill>
                            <a:schemeClr val="tx1"/>
                          </a:solidFill>
                          <a:effectLst/>
                          <a:latin typeface="+mj-ea"/>
                          <a:ea typeface="+mj-ea"/>
                        </a:rPr>
                        <a:t>解决“懂的人没权，有权的人不懂”的变革死结。</a:t>
                      </a:r>
                    </a:p>
                  </a:txBody>
                  <a:tcPr marL="26768" marR="26768" marT="17845" marB="17845">
                    <a:lnL>
                      <a:solidFill>
                        <a:srgbClr val="DDDDDD"/>
                      </a:solidFill>
                      <a:prstDash val="solid"/>
                    </a:lnL>
                    <a:lnR>
                      <a:solidFill>
                        <a:srgbClr val="769FCD"/>
                      </a:solidFill>
                      <a:prstDash val="solid"/>
                    </a:lnR>
                    <a:lnT>
                      <a:solidFill>
                        <a:srgbClr val="DDDDDD"/>
                      </a:solidFill>
                      <a:prstDash val="solid"/>
                    </a:lnT>
                    <a:lnB>
                      <a:solidFill>
                        <a:srgbClr val="769FCD"/>
                      </a:solidFill>
                      <a:prstDash val="solid"/>
                    </a:lnB>
                    <a:noFill/>
                  </a:tcPr>
                </a:tc>
                <a:extLst>
                  <a:ext uri="{0D108BD9-81ED-4DB2-BD59-A6C34878D82A}">
                    <a16:rowId xmlns:a16="http://schemas.microsoft.com/office/drawing/2014/main" val="2220124151"/>
                  </a:ext>
                </a:extLst>
              </a:tr>
            </a:tbl>
          </a:graphicData>
        </a:graphic>
      </p:graphicFrame>
    </p:spTree>
    <p:extLst>
      <p:ext uri="{BB962C8B-B14F-4D97-AF65-F5344CB8AC3E}">
        <p14:creationId xmlns:p14="http://schemas.microsoft.com/office/powerpoint/2010/main" val="185325594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646691B7-4531-8EF0-E7CE-FABE724BE224}"/>
              </a:ext>
            </a:extLst>
          </p:cNvPr>
          <p:cNvSpPr>
            <a:spLocks noGrp="1"/>
          </p:cNvSpPr>
          <p:nvPr>
            <p:ph type="title"/>
          </p:nvPr>
        </p:nvSpPr>
        <p:spPr/>
        <p:txBody>
          <a:bodyPr/>
          <a:lstStyle/>
          <a:p>
            <a:r>
              <a:rPr lang="zh-CN" altLang="en-US" dirty="0"/>
              <a:t>工业管理范式</a:t>
            </a:r>
            <a:r>
              <a:rPr lang="en-US" altLang="zh-CN" dirty="0">
                <a:sym typeface="Wingdings" panose="05000000000000000000" pitchFamily="2" charset="2"/>
              </a:rPr>
              <a:t></a:t>
            </a:r>
            <a:r>
              <a:rPr lang="zh-CN" altLang="en-US" dirty="0">
                <a:sym typeface="Wingdings" panose="05000000000000000000" pitchFamily="2" charset="2"/>
              </a:rPr>
              <a:t>数字智能范式</a:t>
            </a:r>
            <a:endParaRPr lang="zh-CN" altLang="en-US" dirty="0"/>
          </a:p>
        </p:txBody>
      </p:sp>
      <p:graphicFrame>
        <p:nvGraphicFramePr>
          <p:cNvPr id="3" name="表格 2">
            <a:extLst>
              <a:ext uri="{FF2B5EF4-FFF2-40B4-BE49-F238E27FC236}">
                <a16:creationId xmlns:a16="http://schemas.microsoft.com/office/drawing/2014/main" id="{0D5FBCC5-B7B9-17C3-53CA-FD644C0AC0DB}"/>
              </a:ext>
            </a:extLst>
          </p:cNvPr>
          <p:cNvGraphicFramePr>
            <a:graphicFrameLocks noGrp="1"/>
          </p:cNvGraphicFramePr>
          <p:nvPr>
            <p:extLst>
              <p:ext uri="{D42A27DB-BD31-4B8C-83A1-F6EECF244321}">
                <p14:modId xmlns:p14="http://schemas.microsoft.com/office/powerpoint/2010/main" val="207523376"/>
              </p:ext>
            </p:extLst>
          </p:nvPr>
        </p:nvGraphicFramePr>
        <p:xfrm>
          <a:off x="660400" y="1346200"/>
          <a:ext cx="10858500" cy="4361327"/>
        </p:xfrm>
        <a:graphic>
          <a:graphicData uri="http://schemas.openxmlformats.org/drawingml/2006/table">
            <a:tbl>
              <a:tblPr firstRow="1" firstCol="1"/>
              <a:tblGrid>
                <a:gridCol w="1505858">
                  <a:extLst>
                    <a:ext uri="{9D8B030D-6E8A-4147-A177-3AD203B41FA5}">
                      <a16:colId xmlns:a16="http://schemas.microsoft.com/office/drawing/2014/main" val="2512533879"/>
                    </a:ext>
                  </a:extLst>
                </a:gridCol>
                <a:gridCol w="4676321">
                  <a:extLst>
                    <a:ext uri="{9D8B030D-6E8A-4147-A177-3AD203B41FA5}">
                      <a16:colId xmlns:a16="http://schemas.microsoft.com/office/drawing/2014/main" val="3044179662"/>
                    </a:ext>
                  </a:extLst>
                </a:gridCol>
                <a:gridCol w="4676321">
                  <a:extLst>
                    <a:ext uri="{9D8B030D-6E8A-4147-A177-3AD203B41FA5}">
                      <a16:colId xmlns:a16="http://schemas.microsoft.com/office/drawing/2014/main" val="3041887164"/>
                    </a:ext>
                  </a:extLst>
                </a:gridCol>
              </a:tblGrid>
              <a:tr h="594727">
                <a:tc>
                  <a:txBody>
                    <a:bodyPr/>
                    <a:lstStyle/>
                    <a:p>
                      <a:r>
                        <a:rPr lang="zh-CN" altLang="en-US" b="1" dirty="0">
                          <a:solidFill>
                            <a:srgbClr val="FFFFFF"/>
                          </a:solidFill>
                          <a:latin typeface="+mj-ea"/>
                          <a:ea typeface="+mj-ea"/>
                        </a:rPr>
                        <a:t>核心维度</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A7C"/>
                    </a:solidFill>
                  </a:tcPr>
                </a:tc>
                <a:tc>
                  <a:txBody>
                    <a:bodyPr/>
                    <a:lstStyle/>
                    <a:p>
                      <a:r>
                        <a:rPr lang="zh-CN" altLang="en-US" b="1" dirty="0">
                          <a:solidFill>
                            <a:srgbClr val="FFFFFF"/>
                          </a:solidFill>
                          <a:latin typeface="+mj-ea"/>
                          <a:ea typeface="+mj-ea"/>
                        </a:rPr>
                        <a:t>旧范式 </a:t>
                      </a:r>
                      <a:r>
                        <a:rPr lang="en-US" altLang="zh-CN" b="1" dirty="0">
                          <a:solidFill>
                            <a:srgbClr val="FFFFFF"/>
                          </a:solidFill>
                          <a:latin typeface="+mj-ea"/>
                          <a:ea typeface="+mj-ea"/>
                        </a:rPr>
                        <a:t>(</a:t>
                      </a:r>
                      <a:r>
                        <a:rPr lang="en-US" b="1" dirty="0">
                          <a:solidFill>
                            <a:srgbClr val="FFFFFF"/>
                          </a:solidFill>
                          <a:latin typeface="+mj-ea"/>
                          <a:ea typeface="+mj-ea"/>
                        </a:rPr>
                        <a:t>Industrial Paradigm)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A7C"/>
                    </a:solidFill>
                  </a:tcPr>
                </a:tc>
                <a:tc>
                  <a:txBody>
                    <a:bodyPr/>
                    <a:lstStyle/>
                    <a:p>
                      <a:r>
                        <a:rPr lang="zh-CN" altLang="en-US" b="1" dirty="0">
                          <a:solidFill>
                            <a:srgbClr val="FFFFFF"/>
                          </a:solidFill>
                          <a:latin typeface="+mj-ea"/>
                          <a:ea typeface="+mj-ea"/>
                        </a:rPr>
                        <a:t>新范式 </a:t>
                      </a:r>
                      <a:r>
                        <a:rPr lang="en-US" altLang="zh-CN" b="1" dirty="0">
                          <a:solidFill>
                            <a:srgbClr val="FFFFFF"/>
                          </a:solidFill>
                          <a:latin typeface="+mj-ea"/>
                          <a:ea typeface="+mj-ea"/>
                        </a:rPr>
                        <a:t>(</a:t>
                      </a:r>
                      <a:r>
                        <a:rPr lang="en-US" b="1" dirty="0">
                          <a:solidFill>
                            <a:srgbClr val="FFFFFF"/>
                          </a:solidFill>
                          <a:latin typeface="+mj-ea"/>
                          <a:ea typeface="+mj-ea"/>
                        </a:rPr>
                        <a:t>Digital Intelligence Paradigm)</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A7C"/>
                    </a:solidFill>
                  </a:tcPr>
                </a:tc>
                <a:extLst>
                  <a:ext uri="{0D108BD9-81ED-4DB2-BD59-A6C34878D82A}">
                    <a16:rowId xmlns:a16="http://schemas.microsoft.com/office/drawing/2014/main" val="3458799774"/>
                  </a:ext>
                </a:extLst>
              </a:tr>
              <a:tr h="941650">
                <a:tc>
                  <a:txBody>
                    <a:bodyPr/>
                    <a:lstStyle/>
                    <a:p>
                      <a:pPr marL="0" algn="l" defTabSz="914332" rtl="0" eaLnBrk="1" latinLnBrk="0" hangingPunct="1"/>
                      <a:r>
                        <a:rPr lang="zh-CN" altLang="en-US" sz="1800" b="1" kern="1200" dirty="0">
                          <a:solidFill>
                            <a:srgbClr val="FFFFFF"/>
                          </a:solidFill>
                          <a:latin typeface="+mj-ea"/>
                          <a:ea typeface="+mj-ea"/>
                          <a:cs typeface="+mn-cs"/>
                        </a:rPr>
                        <a:t>驱动核心</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A7C"/>
                    </a:solidFill>
                  </a:tcPr>
                </a:tc>
                <a:tc>
                  <a:txBody>
                    <a:bodyPr/>
                    <a:lstStyle/>
                    <a:p>
                      <a:r>
                        <a:rPr lang="zh-CN" altLang="en-US" sz="1600" b="1">
                          <a:solidFill>
                            <a:schemeClr val="tx1"/>
                          </a:solidFill>
                          <a:latin typeface="+mj-ea"/>
                          <a:ea typeface="+mj-ea"/>
                        </a:rPr>
                        <a:t>流程驱动</a:t>
                      </a:r>
                      <a:r>
                        <a:rPr lang="zh-CN" altLang="en-US" sz="1600">
                          <a:solidFill>
                            <a:schemeClr val="tx1"/>
                          </a:solidFill>
                          <a:latin typeface="+mj-ea"/>
                          <a:ea typeface="+mj-ea"/>
                        </a:rPr>
                        <a:t> </a:t>
                      </a:r>
                      <a:r>
                        <a:rPr lang="en-US" altLang="zh-CN" sz="1600">
                          <a:solidFill>
                            <a:schemeClr val="tx1"/>
                          </a:solidFill>
                          <a:latin typeface="+mj-ea"/>
                          <a:ea typeface="+mj-ea"/>
                        </a:rPr>
                        <a:t>(</a:t>
                      </a:r>
                      <a:r>
                        <a:rPr lang="en-US" sz="1600">
                          <a:solidFill>
                            <a:schemeClr val="tx1"/>
                          </a:solidFill>
                          <a:latin typeface="+mj-ea"/>
                          <a:ea typeface="+mj-ea"/>
                        </a:rPr>
                        <a:t>Process-Driven)</a:t>
                      </a:r>
                    </a:p>
                    <a:p>
                      <a:r>
                        <a:rPr lang="zh-CN" altLang="en-US" sz="1600">
                          <a:solidFill>
                            <a:schemeClr val="tx1"/>
                          </a:solidFill>
                          <a:latin typeface="+mj-ea"/>
                          <a:ea typeface="+mj-ea"/>
                        </a:rPr>
                        <a:t>依赖静态</a:t>
                      </a:r>
                      <a:r>
                        <a:rPr lang="en-US" sz="1600">
                          <a:solidFill>
                            <a:schemeClr val="tx1"/>
                          </a:solidFill>
                          <a:latin typeface="+mj-ea"/>
                          <a:ea typeface="+mj-ea"/>
                        </a:rPr>
                        <a:t>SOP，</a:t>
                      </a:r>
                      <a:r>
                        <a:rPr lang="zh-CN" altLang="en-US" sz="1600">
                          <a:solidFill>
                            <a:schemeClr val="tx1"/>
                          </a:solidFill>
                          <a:latin typeface="+mj-ea"/>
                          <a:ea typeface="+mj-ea"/>
                        </a:rPr>
                        <a:t>面对变化反应僵化</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1600" b="1">
                          <a:solidFill>
                            <a:schemeClr val="tx1"/>
                          </a:solidFill>
                          <a:latin typeface="+mj-ea"/>
                          <a:ea typeface="+mj-ea"/>
                        </a:rPr>
                        <a:t>算法驱动</a:t>
                      </a:r>
                      <a:r>
                        <a:rPr lang="zh-CN" altLang="en-US" sz="1600">
                          <a:solidFill>
                            <a:schemeClr val="tx1"/>
                          </a:solidFill>
                          <a:latin typeface="+mj-ea"/>
                          <a:ea typeface="+mj-ea"/>
                        </a:rPr>
                        <a:t> </a:t>
                      </a:r>
                      <a:r>
                        <a:rPr lang="en-US" altLang="zh-CN" sz="1600">
                          <a:solidFill>
                            <a:schemeClr val="tx1"/>
                          </a:solidFill>
                          <a:latin typeface="+mj-ea"/>
                          <a:ea typeface="+mj-ea"/>
                        </a:rPr>
                        <a:t>(Algorithm-Driven)</a:t>
                      </a:r>
                    </a:p>
                    <a:p>
                      <a:r>
                        <a:rPr lang="zh-CN" altLang="en-US" sz="1600">
                          <a:solidFill>
                            <a:schemeClr val="tx1"/>
                          </a:solidFill>
                          <a:latin typeface="+mj-ea"/>
                          <a:ea typeface="+mj-ea"/>
                        </a:rPr>
                        <a:t>依赖动态业务规则与数据模型，实时响应波动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41371618"/>
                  </a:ext>
                </a:extLst>
              </a:tr>
              <a:tr h="941650">
                <a:tc>
                  <a:txBody>
                    <a:bodyPr/>
                    <a:lstStyle/>
                    <a:p>
                      <a:pPr marL="0" algn="l" defTabSz="914332" rtl="0" eaLnBrk="1" latinLnBrk="0" hangingPunct="1"/>
                      <a:r>
                        <a:rPr lang="zh-CN" altLang="en-US" sz="1800" b="1" kern="1200" dirty="0">
                          <a:solidFill>
                            <a:srgbClr val="FFFFFF"/>
                          </a:solidFill>
                          <a:latin typeface="+mj-ea"/>
                          <a:ea typeface="+mj-ea"/>
                          <a:cs typeface="+mn-cs"/>
                        </a:rPr>
                        <a:t>执行模式</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A7C"/>
                    </a:solidFill>
                  </a:tcPr>
                </a:tc>
                <a:tc>
                  <a:txBody>
                    <a:bodyPr/>
                    <a:lstStyle/>
                    <a:p>
                      <a:r>
                        <a:rPr lang="zh-CN" altLang="en-US" sz="1600" b="1">
                          <a:solidFill>
                            <a:schemeClr val="tx1"/>
                          </a:solidFill>
                          <a:latin typeface="+mj-ea"/>
                          <a:ea typeface="+mj-ea"/>
                        </a:rPr>
                        <a:t>人拉肩扛</a:t>
                      </a:r>
                      <a:r>
                        <a:rPr lang="zh-CN" altLang="en-US" sz="1600">
                          <a:solidFill>
                            <a:schemeClr val="tx1"/>
                          </a:solidFill>
                          <a:latin typeface="+mj-ea"/>
                          <a:ea typeface="+mj-ea"/>
                        </a:rPr>
                        <a:t> </a:t>
                      </a:r>
                      <a:r>
                        <a:rPr lang="en-US" altLang="zh-CN" sz="1600">
                          <a:solidFill>
                            <a:schemeClr val="tx1"/>
                          </a:solidFill>
                          <a:latin typeface="+mj-ea"/>
                          <a:ea typeface="+mj-ea"/>
                        </a:rPr>
                        <a:t>(</a:t>
                      </a:r>
                      <a:r>
                        <a:rPr lang="en-US" sz="1600">
                          <a:solidFill>
                            <a:schemeClr val="tx1"/>
                          </a:solidFill>
                          <a:latin typeface="+mj-ea"/>
                          <a:ea typeface="+mj-ea"/>
                        </a:rPr>
                        <a:t>Manual Heroics)</a:t>
                      </a:r>
                    </a:p>
                    <a:p>
                      <a:r>
                        <a:rPr lang="zh-CN" altLang="en-US" sz="1600">
                          <a:solidFill>
                            <a:schemeClr val="tx1"/>
                          </a:solidFill>
                          <a:latin typeface="+mj-ea"/>
                          <a:ea typeface="+mj-ea"/>
                        </a:rPr>
                        <a:t>靠“英雄”员工救火，经验不可复制，效率低</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1600" b="1">
                          <a:solidFill>
                            <a:schemeClr val="tx1"/>
                          </a:solidFill>
                          <a:latin typeface="+mj-ea"/>
                          <a:ea typeface="+mj-ea"/>
                        </a:rPr>
                        <a:t>数字大脑</a:t>
                      </a:r>
                      <a:r>
                        <a:rPr lang="zh-CN" altLang="en-US" sz="1600">
                          <a:solidFill>
                            <a:schemeClr val="tx1"/>
                          </a:solidFill>
                          <a:latin typeface="+mj-ea"/>
                          <a:ea typeface="+mj-ea"/>
                        </a:rPr>
                        <a:t> </a:t>
                      </a:r>
                      <a:r>
                        <a:rPr lang="en-US" altLang="zh-CN" sz="1600">
                          <a:solidFill>
                            <a:schemeClr val="tx1"/>
                          </a:solidFill>
                          <a:latin typeface="+mj-ea"/>
                          <a:ea typeface="+mj-ea"/>
                        </a:rPr>
                        <a:t>(</a:t>
                      </a:r>
                      <a:r>
                        <a:rPr lang="en-US" sz="1600">
                          <a:solidFill>
                            <a:schemeClr val="tx1"/>
                          </a:solidFill>
                          <a:latin typeface="+mj-ea"/>
                          <a:ea typeface="+mj-ea"/>
                        </a:rPr>
                        <a:t>Digital Brain)</a:t>
                      </a:r>
                    </a:p>
                    <a:p>
                      <a:r>
                        <a:rPr lang="zh-CN" altLang="en-US" sz="1600">
                          <a:solidFill>
                            <a:schemeClr val="tx1"/>
                          </a:solidFill>
                          <a:latin typeface="+mj-ea"/>
                          <a:ea typeface="+mj-ea"/>
                        </a:rPr>
                        <a:t>靠“系统”自动决策，能力固化于算法，精准高效</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98388515"/>
                  </a:ext>
                </a:extLst>
              </a:tr>
              <a:tr h="941650">
                <a:tc>
                  <a:txBody>
                    <a:bodyPr/>
                    <a:lstStyle/>
                    <a:p>
                      <a:pPr marL="0" algn="l" defTabSz="914332" rtl="0" eaLnBrk="1" latinLnBrk="0" hangingPunct="1"/>
                      <a:r>
                        <a:rPr lang="zh-CN" altLang="en-US" sz="1800" b="1" kern="1200" dirty="0">
                          <a:solidFill>
                            <a:srgbClr val="FFFFFF"/>
                          </a:solidFill>
                          <a:latin typeface="+mj-ea"/>
                          <a:ea typeface="+mj-ea"/>
                          <a:cs typeface="+mn-cs"/>
                        </a:rPr>
                        <a:t>建设路径</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A7C"/>
                    </a:solidFill>
                  </a:tcPr>
                </a:tc>
                <a:tc>
                  <a:txBody>
                    <a:bodyPr/>
                    <a:lstStyle/>
                    <a:p>
                      <a:r>
                        <a:rPr lang="en-US" sz="1600" b="1">
                          <a:solidFill>
                            <a:schemeClr val="tx1"/>
                          </a:solidFill>
                          <a:latin typeface="+mj-ea"/>
                          <a:ea typeface="+mj-ea"/>
                        </a:rPr>
                        <a:t>S&amp;OP </a:t>
                      </a:r>
                      <a:r>
                        <a:rPr lang="zh-CN" altLang="en-US" sz="1600" b="1">
                          <a:solidFill>
                            <a:schemeClr val="tx1"/>
                          </a:solidFill>
                          <a:latin typeface="+mj-ea"/>
                          <a:ea typeface="+mj-ea"/>
                        </a:rPr>
                        <a:t>先行</a:t>
                      </a:r>
                      <a:r>
                        <a:rPr lang="zh-CN" altLang="en-US" sz="1600">
                          <a:solidFill>
                            <a:schemeClr val="tx1"/>
                          </a:solidFill>
                          <a:latin typeface="+mj-ea"/>
                          <a:ea typeface="+mj-ea"/>
                        </a:rPr>
                        <a:t> </a:t>
                      </a:r>
                      <a:r>
                        <a:rPr lang="en-US" altLang="zh-CN" sz="1600">
                          <a:solidFill>
                            <a:schemeClr val="tx1"/>
                          </a:solidFill>
                          <a:latin typeface="+mj-ea"/>
                          <a:ea typeface="+mj-ea"/>
                        </a:rPr>
                        <a:t>(</a:t>
                      </a:r>
                      <a:r>
                        <a:rPr lang="en-US" sz="1600">
                          <a:solidFill>
                            <a:schemeClr val="tx1"/>
                          </a:solidFill>
                          <a:latin typeface="+mj-ea"/>
                          <a:ea typeface="+mj-ea"/>
                        </a:rPr>
                        <a:t>Top-Down)</a:t>
                      </a:r>
                    </a:p>
                    <a:p>
                      <a:r>
                        <a:rPr lang="zh-CN" altLang="en-US" sz="1600">
                          <a:solidFill>
                            <a:schemeClr val="tx1"/>
                          </a:solidFill>
                          <a:latin typeface="+mj-ea"/>
                          <a:ea typeface="+mj-ea"/>
                        </a:rPr>
                        <a:t>空中楼阁，底层数据悬空，战略无法落地</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600" b="1">
                          <a:solidFill>
                            <a:schemeClr val="tx1"/>
                          </a:solidFill>
                          <a:latin typeface="+mj-ea"/>
                          <a:ea typeface="+mj-ea"/>
                        </a:rPr>
                        <a:t>S&amp;OE </a:t>
                      </a:r>
                      <a:r>
                        <a:rPr lang="zh-CN" altLang="en-US" sz="1600" b="1">
                          <a:solidFill>
                            <a:schemeClr val="tx1"/>
                          </a:solidFill>
                          <a:latin typeface="+mj-ea"/>
                          <a:ea typeface="+mj-ea"/>
                        </a:rPr>
                        <a:t>先行</a:t>
                      </a:r>
                      <a:r>
                        <a:rPr lang="zh-CN" altLang="en-US" sz="1600">
                          <a:solidFill>
                            <a:schemeClr val="tx1"/>
                          </a:solidFill>
                          <a:latin typeface="+mj-ea"/>
                          <a:ea typeface="+mj-ea"/>
                        </a:rPr>
                        <a:t> </a:t>
                      </a:r>
                      <a:r>
                        <a:rPr lang="en-US" altLang="zh-CN" sz="1600">
                          <a:solidFill>
                            <a:schemeClr val="tx1"/>
                          </a:solidFill>
                          <a:latin typeface="+mj-ea"/>
                          <a:ea typeface="+mj-ea"/>
                        </a:rPr>
                        <a:t>(</a:t>
                      </a:r>
                      <a:r>
                        <a:rPr lang="en-US" sz="1600">
                          <a:solidFill>
                            <a:schemeClr val="tx1"/>
                          </a:solidFill>
                          <a:latin typeface="+mj-ea"/>
                          <a:ea typeface="+mj-ea"/>
                        </a:rPr>
                        <a:t>Bottom-Up)</a:t>
                      </a:r>
                    </a:p>
                    <a:p>
                      <a:r>
                        <a:rPr lang="zh-CN" altLang="en-US" sz="1600">
                          <a:solidFill>
                            <a:schemeClr val="tx1"/>
                          </a:solidFill>
                          <a:latin typeface="+mj-ea"/>
                          <a:ea typeface="+mj-ea"/>
                        </a:rPr>
                        <a:t>先夯实底层执行确定性，再向上构建战术与战略</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68542094"/>
                  </a:ext>
                </a:extLst>
              </a:tr>
              <a:tr h="941650">
                <a:tc>
                  <a:txBody>
                    <a:bodyPr/>
                    <a:lstStyle/>
                    <a:p>
                      <a:pPr marL="0" algn="l" defTabSz="914332" rtl="0" eaLnBrk="1" latinLnBrk="0" hangingPunct="1"/>
                      <a:r>
                        <a:rPr lang="zh-CN" altLang="en-US" sz="1800" b="1" kern="1200" dirty="0">
                          <a:solidFill>
                            <a:srgbClr val="FFFFFF"/>
                          </a:solidFill>
                          <a:latin typeface="+mj-ea"/>
                          <a:ea typeface="+mj-ea"/>
                          <a:cs typeface="+mn-cs"/>
                        </a:rPr>
                        <a:t>应对思维</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A7C"/>
                    </a:solidFill>
                  </a:tcPr>
                </a:tc>
                <a:tc>
                  <a:txBody>
                    <a:bodyPr/>
                    <a:lstStyle/>
                    <a:p>
                      <a:r>
                        <a:rPr lang="zh-CN" altLang="en-US" sz="1600" b="1" dirty="0">
                          <a:solidFill>
                            <a:schemeClr val="tx1"/>
                          </a:solidFill>
                          <a:latin typeface="+mj-ea"/>
                          <a:ea typeface="+mj-ea"/>
                        </a:rPr>
                        <a:t>管理确定性</a:t>
                      </a:r>
                      <a:r>
                        <a:rPr lang="zh-CN" altLang="en-US" sz="1600" dirty="0">
                          <a:solidFill>
                            <a:schemeClr val="tx1"/>
                          </a:solidFill>
                          <a:latin typeface="+mj-ea"/>
                          <a:ea typeface="+mj-ea"/>
                        </a:rPr>
                        <a:t> </a:t>
                      </a:r>
                      <a:r>
                        <a:rPr lang="en-US" altLang="zh-CN" sz="1600" dirty="0">
                          <a:solidFill>
                            <a:schemeClr val="tx1"/>
                          </a:solidFill>
                          <a:latin typeface="+mj-ea"/>
                          <a:ea typeface="+mj-ea"/>
                        </a:rPr>
                        <a:t>(</a:t>
                      </a:r>
                      <a:r>
                        <a:rPr lang="en-US" sz="1600" dirty="0">
                          <a:solidFill>
                            <a:schemeClr val="tx1"/>
                          </a:solidFill>
                          <a:latin typeface="+mj-ea"/>
                          <a:ea typeface="+mj-ea"/>
                        </a:rPr>
                        <a:t>Manage Certainty)</a:t>
                      </a:r>
                    </a:p>
                    <a:p>
                      <a:r>
                        <a:rPr lang="zh-CN" altLang="en-US" sz="1600" dirty="0">
                          <a:solidFill>
                            <a:schemeClr val="tx1"/>
                          </a:solidFill>
                          <a:latin typeface="+mj-ea"/>
                          <a:ea typeface="+mj-ea"/>
                        </a:rPr>
                        <a:t>试图消除波动，无力应对复杂网络</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1600" b="1" dirty="0">
                          <a:solidFill>
                            <a:schemeClr val="tx1"/>
                          </a:solidFill>
                          <a:latin typeface="+mj-ea"/>
                          <a:ea typeface="+mj-ea"/>
                        </a:rPr>
                        <a:t>驾驭 </a:t>
                      </a:r>
                      <a:r>
                        <a:rPr lang="en-US" sz="1600" b="1" dirty="0">
                          <a:solidFill>
                            <a:schemeClr val="tx1"/>
                          </a:solidFill>
                          <a:latin typeface="+mj-ea"/>
                          <a:ea typeface="+mj-ea"/>
                        </a:rPr>
                        <a:t>N² </a:t>
                      </a:r>
                      <a:r>
                        <a:rPr lang="zh-CN" altLang="en-US" sz="1600" b="1" dirty="0">
                          <a:solidFill>
                            <a:schemeClr val="tx1"/>
                          </a:solidFill>
                          <a:latin typeface="+mj-ea"/>
                          <a:ea typeface="+mj-ea"/>
                        </a:rPr>
                        <a:t>复杂度</a:t>
                      </a:r>
                      <a:r>
                        <a:rPr lang="zh-CN" altLang="en-US" sz="1600" dirty="0">
                          <a:solidFill>
                            <a:schemeClr val="tx1"/>
                          </a:solidFill>
                          <a:latin typeface="+mj-ea"/>
                          <a:ea typeface="+mj-ea"/>
                        </a:rPr>
                        <a:t> </a:t>
                      </a:r>
                      <a:r>
                        <a:rPr lang="en-US" altLang="zh-CN" sz="1600" dirty="0">
                          <a:solidFill>
                            <a:schemeClr val="tx1"/>
                          </a:solidFill>
                          <a:latin typeface="+mj-ea"/>
                          <a:ea typeface="+mj-ea"/>
                        </a:rPr>
                        <a:t>(</a:t>
                      </a:r>
                      <a:r>
                        <a:rPr lang="en-US" sz="1600" dirty="0">
                          <a:solidFill>
                            <a:schemeClr val="tx1"/>
                          </a:solidFill>
                          <a:latin typeface="+mj-ea"/>
                          <a:ea typeface="+mj-ea"/>
                        </a:rPr>
                        <a:t>Master Complexity)</a:t>
                      </a:r>
                    </a:p>
                    <a:p>
                      <a:r>
                        <a:rPr lang="zh-CN" altLang="en-US" sz="1600" dirty="0">
                          <a:solidFill>
                            <a:schemeClr val="tx1"/>
                          </a:solidFill>
                          <a:latin typeface="+mj-ea"/>
                          <a:ea typeface="+mj-ea"/>
                        </a:rPr>
                        <a:t>利用高维模型降维打击，拥抱并利用不确定性</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87667816"/>
                  </a:ext>
                </a:extLst>
              </a:tr>
            </a:tbl>
          </a:graphicData>
        </a:graphic>
      </p:graphicFrame>
    </p:spTree>
    <p:extLst>
      <p:ext uri="{BB962C8B-B14F-4D97-AF65-F5344CB8AC3E}">
        <p14:creationId xmlns:p14="http://schemas.microsoft.com/office/powerpoint/2010/main" val="184052433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E387772-D93E-3B91-9531-6C3253721E0D}"/>
              </a:ext>
            </a:extLst>
          </p:cNvPr>
          <p:cNvSpPr>
            <a:spLocks noGrp="1"/>
          </p:cNvSpPr>
          <p:nvPr>
            <p:ph type="title"/>
          </p:nvPr>
        </p:nvSpPr>
        <p:spPr/>
        <p:txBody>
          <a:bodyPr/>
          <a:lstStyle/>
          <a:p>
            <a:r>
              <a:rPr lang="zh-CN" altLang="en-US" dirty="0">
                <a:solidFill>
                  <a:schemeClr val="bg1"/>
                </a:solidFill>
                <a:latin typeface="+mj-ea"/>
              </a:rPr>
              <a:t>能力</a:t>
            </a:r>
            <a:r>
              <a:rPr lang="zh-CN" altLang="en-US" dirty="0">
                <a:latin typeface="+mj-ea"/>
              </a:rPr>
              <a:t>驱动的转型范式</a:t>
            </a:r>
            <a:r>
              <a:rPr lang="en-US" altLang="zh-CN" dirty="0">
                <a:solidFill>
                  <a:schemeClr val="bg1"/>
                </a:solidFill>
                <a:latin typeface="+mj-ea"/>
              </a:rPr>
              <a:t>-</a:t>
            </a:r>
            <a:r>
              <a:rPr lang="zh-CN" altLang="en-US" dirty="0">
                <a:solidFill>
                  <a:schemeClr val="bg1"/>
                </a:solidFill>
                <a:latin typeface="+mj-ea"/>
              </a:rPr>
              <a:t>能力驱动，以终为始，小步快跑</a:t>
            </a:r>
            <a:endParaRPr lang="zh-CN" altLang="en-US" dirty="0"/>
          </a:p>
        </p:txBody>
      </p:sp>
      <p:grpSp>
        <p:nvGrpSpPr>
          <p:cNvPr id="21" name="组合 20">
            <a:extLst>
              <a:ext uri="{FF2B5EF4-FFF2-40B4-BE49-F238E27FC236}">
                <a16:creationId xmlns:a16="http://schemas.microsoft.com/office/drawing/2014/main" id="{BED7A439-7444-E28D-A78E-D6112DEFF056}"/>
              </a:ext>
            </a:extLst>
          </p:cNvPr>
          <p:cNvGrpSpPr/>
          <p:nvPr/>
        </p:nvGrpSpPr>
        <p:grpSpPr>
          <a:xfrm>
            <a:off x="741386" y="1057584"/>
            <a:ext cx="1881718" cy="5328716"/>
            <a:chOff x="866346" y="955352"/>
            <a:chExt cx="2630561" cy="5490995"/>
          </a:xfrm>
        </p:grpSpPr>
        <p:sp>
          <p:nvSpPr>
            <p:cNvPr id="3" name="矩形 2">
              <a:extLst>
                <a:ext uri="{FF2B5EF4-FFF2-40B4-BE49-F238E27FC236}">
                  <a16:creationId xmlns:a16="http://schemas.microsoft.com/office/drawing/2014/main" id="{73151ED9-7E36-ADFC-0F7E-271D30CD192E}"/>
                </a:ext>
              </a:extLst>
            </p:cNvPr>
            <p:cNvSpPr/>
            <p:nvPr/>
          </p:nvSpPr>
          <p:spPr>
            <a:xfrm>
              <a:off x="948342" y="955352"/>
              <a:ext cx="2447511" cy="660951"/>
            </a:xfrm>
            <a:prstGeom prst="rect">
              <a:avLst/>
            </a:prstGeom>
            <a:solidFill>
              <a:schemeClr val="accent3"/>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解码企业战略</a:t>
              </a:r>
              <a:endParaRPr kumimoji="0" lang="en-US" altLang="zh-CN"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4" name="矩形 3">
              <a:extLst>
                <a:ext uri="{FF2B5EF4-FFF2-40B4-BE49-F238E27FC236}">
                  <a16:creationId xmlns:a16="http://schemas.microsoft.com/office/drawing/2014/main" id="{75329FBF-E8C5-2CD1-F779-A7F14A3A03A9}"/>
                </a:ext>
              </a:extLst>
            </p:cNvPr>
            <p:cNvSpPr/>
            <p:nvPr/>
          </p:nvSpPr>
          <p:spPr>
            <a:xfrm>
              <a:off x="928810" y="4077290"/>
              <a:ext cx="2489752" cy="540000"/>
            </a:xfrm>
            <a:prstGeom prst="rect">
              <a:avLst/>
            </a:prstGeom>
            <a:solidFill>
              <a:schemeClr val="accent3"/>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规划转型路径</a:t>
              </a:r>
            </a:p>
          </p:txBody>
        </p:sp>
        <p:sp>
          <p:nvSpPr>
            <p:cNvPr id="5" name="矩形 4">
              <a:extLst>
                <a:ext uri="{FF2B5EF4-FFF2-40B4-BE49-F238E27FC236}">
                  <a16:creationId xmlns:a16="http://schemas.microsoft.com/office/drawing/2014/main" id="{C18F1811-9648-ECC2-842F-505E9EFB5C65}"/>
                </a:ext>
              </a:extLst>
            </p:cNvPr>
            <p:cNvSpPr/>
            <p:nvPr/>
          </p:nvSpPr>
          <p:spPr>
            <a:xfrm>
              <a:off x="919948" y="5006451"/>
              <a:ext cx="2529508" cy="540000"/>
            </a:xfrm>
            <a:prstGeom prst="rect">
              <a:avLst/>
            </a:prstGeom>
            <a:solidFill>
              <a:schemeClr val="accent3"/>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变革管理与敏捷实施</a:t>
              </a:r>
            </a:p>
          </p:txBody>
        </p:sp>
        <p:sp>
          <p:nvSpPr>
            <p:cNvPr id="6" name="矩形 5">
              <a:extLst>
                <a:ext uri="{FF2B5EF4-FFF2-40B4-BE49-F238E27FC236}">
                  <a16:creationId xmlns:a16="http://schemas.microsoft.com/office/drawing/2014/main" id="{1104FE5B-879C-E949-00DA-3041F6CF76A5}"/>
                </a:ext>
              </a:extLst>
            </p:cNvPr>
            <p:cNvSpPr/>
            <p:nvPr/>
          </p:nvSpPr>
          <p:spPr>
            <a:xfrm>
              <a:off x="866346" y="5906347"/>
              <a:ext cx="2630561" cy="540000"/>
            </a:xfrm>
            <a:prstGeom prst="rect">
              <a:avLst/>
            </a:prstGeom>
            <a:solidFill>
              <a:schemeClr val="accent3"/>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内化优化能力</a:t>
              </a:r>
            </a:p>
          </p:txBody>
        </p:sp>
        <p:cxnSp>
          <p:nvCxnSpPr>
            <p:cNvPr id="10" name="连接符: 肘形 9">
              <a:extLst>
                <a:ext uri="{FF2B5EF4-FFF2-40B4-BE49-F238E27FC236}">
                  <a16:creationId xmlns:a16="http://schemas.microsoft.com/office/drawing/2014/main" id="{75F788CD-15C3-F6C8-A68A-C94026FB4BF2}"/>
                </a:ext>
              </a:extLst>
            </p:cNvPr>
            <p:cNvCxnSpPr>
              <a:cxnSpLocks/>
              <a:stCxn id="6" idx="3"/>
              <a:endCxn id="3" idx="3"/>
            </p:cNvCxnSpPr>
            <p:nvPr/>
          </p:nvCxnSpPr>
          <p:spPr>
            <a:xfrm flipH="1" flipV="1">
              <a:off x="3395852" y="1285828"/>
              <a:ext cx="101054" cy="4890520"/>
            </a:xfrm>
            <a:prstGeom prst="bentConnector3">
              <a:avLst>
                <a:gd name="adj1" fmla="val -316239"/>
              </a:avLst>
            </a:prstGeom>
            <a:ln w="127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9" name="矩形 18">
              <a:extLst>
                <a:ext uri="{FF2B5EF4-FFF2-40B4-BE49-F238E27FC236}">
                  <a16:creationId xmlns:a16="http://schemas.microsoft.com/office/drawing/2014/main" id="{463A3AC5-7FCE-1B27-FD8C-1DA97FB62F15}"/>
                </a:ext>
              </a:extLst>
            </p:cNvPr>
            <p:cNvSpPr/>
            <p:nvPr/>
          </p:nvSpPr>
          <p:spPr>
            <a:xfrm>
              <a:off x="950486" y="1958228"/>
              <a:ext cx="2447511" cy="660951"/>
            </a:xfrm>
            <a:prstGeom prst="rect">
              <a:avLst/>
            </a:prstGeom>
            <a:solidFill>
              <a:schemeClr val="accent3"/>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定义供应</a:t>
              </a:r>
              <a:r>
                <a:rPr kumimoji="0" lang="zh-CN" altLang="en-US" sz="1400" b="1"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rPr>
                <a:t>链能力</a:t>
              </a:r>
              <a:endParaRPr kumimoji="0" lang="en-US" altLang="zh-CN"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20" name="矩形 19">
              <a:extLst>
                <a:ext uri="{FF2B5EF4-FFF2-40B4-BE49-F238E27FC236}">
                  <a16:creationId xmlns:a16="http://schemas.microsoft.com/office/drawing/2014/main" id="{1EF7ED88-B1ED-DD79-1260-4C22A965FD74}"/>
                </a:ext>
              </a:extLst>
            </p:cNvPr>
            <p:cNvSpPr/>
            <p:nvPr/>
          </p:nvSpPr>
          <p:spPr>
            <a:xfrm>
              <a:off x="952631" y="2997046"/>
              <a:ext cx="2447511" cy="660951"/>
            </a:xfrm>
            <a:prstGeom prst="rect">
              <a:avLst/>
            </a:prstGeom>
            <a:solidFill>
              <a:schemeClr val="accent3"/>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探寻全球最佳方案</a:t>
              </a:r>
              <a:endParaRPr kumimoji="0" lang="en-US" altLang="zh-CN"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grpSp>
      <p:graphicFrame>
        <p:nvGraphicFramePr>
          <p:cNvPr id="22" name="表格 21">
            <a:extLst>
              <a:ext uri="{FF2B5EF4-FFF2-40B4-BE49-F238E27FC236}">
                <a16:creationId xmlns:a16="http://schemas.microsoft.com/office/drawing/2014/main" id="{497C0539-0D07-29B3-0C9B-FC40A1861693}"/>
              </a:ext>
            </a:extLst>
          </p:cNvPr>
          <p:cNvGraphicFramePr>
            <a:graphicFrameLocks noGrp="1"/>
          </p:cNvGraphicFramePr>
          <p:nvPr>
            <p:extLst>
              <p:ext uri="{D42A27DB-BD31-4B8C-83A1-F6EECF244321}">
                <p14:modId xmlns:p14="http://schemas.microsoft.com/office/powerpoint/2010/main" val="2725180324"/>
              </p:ext>
            </p:extLst>
          </p:nvPr>
        </p:nvGraphicFramePr>
        <p:xfrm>
          <a:off x="3019736" y="602345"/>
          <a:ext cx="9062017" cy="5915203"/>
        </p:xfrm>
        <a:graphic>
          <a:graphicData uri="http://schemas.openxmlformats.org/drawingml/2006/table">
            <a:tbl>
              <a:tblPr/>
              <a:tblGrid>
                <a:gridCol w="1337432">
                  <a:extLst>
                    <a:ext uri="{9D8B030D-6E8A-4147-A177-3AD203B41FA5}">
                      <a16:colId xmlns:a16="http://schemas.microsoft.com/office/drawing/2014/main" val="3024547675"/>
                    </a:ext>
                  </a:extLst>
                </a:gridCol>
                <a:gridCol w="2442517">
                  <a:extLst>
                    <a:ext uri="{9D8B030D-6E8A-4147-A177-3AD203B41FA5}">
                      <a16:colId xmlns:a16="http://schemas.microsoft.com/office/drawing/2014/main" val="3423427042"/>
                    </a:ext>
                  </a:extLst>
                </a:gridCol>
                <a:gridCol w="3194429">
                  <a:extLst>
                    <a:ext uri="{9D8B030D-6E8A-4147-A177-3AD203B41FA5}">
                      <a16:colId xmlns:a16="http://schemas.microsoft.com/office/drawing/2014/main" val="2289897294"/>
                    </a:ext>
                  </a:extLst>
                </a:gridCol>
                <a:gridCol w="2087639">
                  <a:extLst>
                    <a:ext uri="{9D8B030D-6E8A-4147-A177-3AD203B41FA5}">
                      <a16:colId xmlns:a16="http://schemas.microsoft.com/office/drawing/2014/main" val="2425110031"/>
                    </a:ext>
                  </a:extLst>
                </a:gridCol>
              </a:tblGrid>
              <a:tr h="164796">
                <a:tc>
                  <a:txBody>
                    <a:bodyPr/>
                    <a:lstStyle/>
                    <a:p>
                      <a:pPr fontAlgn="t"/>
                      <a:r>
                        <a:rPr lang="zh-CN" altLang="en-US" sz="1200" b="1" dirty="0">
                          <a:solidFill>
                            <a:srgbClr val="FFFFFF"/>
                          </a:solidFill>
                          <a:effectLst/>
                          <a:latin typeface="+mj-ea"/>
                          <a:ea typeface="+mj-ea"/>
                        </a:rPr>
                        <a:t>步骤</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accent3">
                        <a:lumMod val="75000"/>
                      </a:schemeClr>
                    </a:solidFill>
                  </a:tcPr>
                </a:tc>
                <a:tc>
                  <a:txBody>
                    <a:bodyPr/>
                    <a:lstStyle/>
                    <a:p>
                      <a:pPr fontAlgn="t"/>
                      <a:r>
                        <a:rPr lang="zh-CN" altLang="en-US" sz="1200" b="1" dirty="0">
                          <a:solidFill>
                            <a:srgbClr val="FFFFFF"/>
                          </a:solidFill>
                          <a:effectLst/>
                          <a:latin typeface="+mj-ea"/>
                          <a:ea typeface="+mj-ea"/>
                        </a:rPr>
                        <a:t>核心目标</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accent3">
                        <a:lumMod val="75000"/>
                      </a:schemeClr>
                    </a:solidFill>
                  </a:tcPr>
                </a:tc>
                <a:tc>
                  <a:txBody>
                    <a:bodyPr/>
                    <a:lstStyle/>
                    <a:p>
                      <a:pPr fontAlgn="t"/>
                      <a:r>
                        <a:rPr lang="zh-CN" altLang="en-US" sz="1200" b="1">
                          <a:solidFill>
                            <a:srgbClr val="FFFFFF"/>
                          </a:solidFill>
                          <a:effectLst/>
                          <a:latin typeface="+mj-ea"/>
                          <a:ea typeface="+mj-ea"/>
                        </a:rPr>
                        <a:t>关键活动与方法论</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accent3">
                        <a:lumMod val="75000"/>
                      </a:schemeClr>
                    </a:solidFill>
                  </a:tcPr>
                </a:tc>
                <a:tc>
                  <a:txBody>
                    <a:bodyPr/>
                    <a:lstStyle/>
                    <a:p>
                      <a:pPr fontAlgn="t"/>
                      <a:r>
                        <a:rPr lang="zh-CN" altLang="en-US" sz="1200" b="1" dirty="0">
                          <a:solidFill>
                            <a:srgbClr val="FFFFFF"/>
                          </a:solidFill>
                          <a:effectLst/>
                          <a:latin typeface="+mj-ea"/>
                          <a:ea typeface="+mj-ea"/>
                        </a:rPr>
                        <a:t>核心产出物</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accent3">
                        <a:lumMod val="75000"/>
                      </a:schemeClr>
                    </a:solidFill>
                  </a:tcPr>
                </a:tc>
                <a:extLst>
                  <a:ext uri="{0D108BD9-81ED-4DB2-BD59-A6C34878D82A}">
                    <a16:rowId xmlns:a16="http://schemas.microsoft.com/office/drawing/2014/main" val="3752792710"/>
                  </a:ext>
                </a:extLst>
              </a:tr>
              <a:tr h="819826">
                <a:tc>
                  <a:txBody>
                    <a:bodyPr/>
                    <a:lstStyle/>
                    <a:p>
                      <a:pPr fontAlgn="t"/>
                      <a:r>
                        <a:rPr lang="en-US" altLang="zh-CN" sz="1100" b="1" dirty="0">
                          <a:solidFill>
                            <a:srgbClr val="000000"/>
                          </a:solidFill>
                          <a:effectLst/>
                          <a:latin typeface="+mj-ea"/>
                          <a:ea typeface="+mj-ea"/>
                        </a:rPr>
                        <a:t>1. </a:t>
                      </a:r>
                      <a:r>
                        <a:rPr lang="zh-CN" altLang="en-US" sz="1100" b="1" dirty="0">
                          <a:solidFill>
                            <a:srgbClr val="000000"/>
                          </a:solidFill>
                          <a:effectLst/>
                          <a:latin typeface="+mj-ea"/>
                          <a:ea typeface="+mj-ea"/>
                        </a:rPr>
                        <a:t>解码企业战略</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accent3">
                        <a:lumMod val="40000"/>
                        <a:lumOff val="60000"/>
                      </a:schemeClr>
                    </a:solidFill>
                  </a:tcPr>
                </a:tc>
                <a:tc>
                  <a:txBody>
                    <a:bodyPr/>
                    <a:lstStyle/>
                    <a:p>
                      <a:pPr fontAlgn="t"/>
                      <a:r>
                        <a:rPr lang="zh-CN" altLang="en-US" sz="1100" b="1" dirty="0">
                          <a:solidFill>
                            <a:schemeClr val="bg1"/>
                          </a:solidFill>
                          <a:effectLst/>
                          <a:latin typeface="+mj-ea"/>
                          <a:ea typeface="+mj-ea"/>
                        </a:rPr>
                        <a:t>理解“为什么”</a:t>
                      </a:r>
                      <a:br>
                        <a:rPr lang="zh-CN" altLang="en-US" sz="1100" dirty="0">
                          <a:solidFill>
                            <a:schemeClr val="bg1"/>
                          </a:solidFill>
                          <a:effectLst/>
                          <a:latin typeface="+mj-ea"/>
                          <a:ea typeface="+mj-ea"/>
                        </a:rPr>
                      </a:br>
                      <a:r>
                        <a:rPr lang="zh-CN" altLang="en-US" sz="1100" dirty="0">
                          <a:solidFill>
                            <a:schemeClr val="bg1"/>
                          </a:solidFill>
                          <a:effectLst/>
                          <a:latin typeface="+mj-ea"/>
                          <a:ea typeface="+mj-ea"/>
                        </a:rPr>
                        <a:t>确保供应链所有举措与公司总体方向同频共振。</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fontAlgn="t"/>
                      <a:r>
                        <a:rPr lang="en-US" altLang="zh-CN" sz="1100" dirty="0">
                          <a:solidFill>
                            <a:schemeClr val="bg1"/>
                          </a:solidFill>
                          <a:effectLst/>
                          <a:latin typeface="+mj-ea"/>
                          <a:ea typeface="+mj-ea"/>
                        </a:rPr>
                        <a:t>• </a:t>
                      </a:r>
                      <a:r>
                        <a:rPr lang="zh-CN" altLang="en-US" sz="1100" b="1" dirty="0">
                          <a:solidFill>
                            <a:schemeClr val="bg1"/>
                          </a:solidFill>
                          <a:effectLst/>
                          <a:latin typeface="+mj-ea"/>
                          <a:ea typeface="+mj-ea"/>
                        </a:rPr>
                        <a:t>战略框架分析</a:t>
                      </a:r>
                      <a:r>
                        <a:rPr lang="zh-CN" altLang="en-US" sz="1100" dirty="0">
                          <a:solidFill>
                            <a:schemeClr val="bg1"/>
                          </a:solidFill>
                          <a:effectLst/>
                          <a:latin typeface="+mj-ea"/>
                          <a:ea typeface="+mj-ea"/>
                        </a:rPr>
                        <a:t>：运用定位派、资源基础观等理论，深入解读企业竞争战略（如成本领先、产品创新）</a:t>
                      </a:r>
                      <a:endParaRPr lang="en-US" altLang="zh-CN" sz="1100" dirty="0">
                        <a:solidFill>
                          <a:schemeClr val="bg1"/>
                        </a:solidFill>
                        <a:effectLst/>
                        <a:latin typeface="+mj-ea"/>
                        <a:ea typeface="+mj-ea"/>
                      </a:endParaRPr>
                    </a:p>
                    <a:p>
                      <a:pPr lvl="0" fontAlgn="t"/>
                      <a:r>
                        <a:rPr lang="en-US" altLang="zh-CN" sz="1100" dirty="0">
                          <a:solidFill>
                            <a:schemeClr val="bg1"/>
                          </a:solidFill>
                          <a:effectLst/>
                          <a:latin typeface="+mj-ea"/>
                          <a:ea typeface="+mj-ea"/>
                        </a:rPr>
                        <a:t>• </a:t>
                      </a:r>
                      <a:r>
                        <a:rPr lang="zh-CN" altLang="en-US" sz="1100" b="1" dirty="0">
                          <a:solidFill>
                            <a:schemeClr val="bg1"/>
                          </a:solidFill>
                          <a:effectLst/>
                          <a:latin typeface="+mj-ea"/>
                          <a:ea typeface="+mj-ea"/>
                        </a:rPr>
                        <a:t>高层访谈与共创</a:t>
                      </a:r>
                      <a:r>
                        <a:rPr lang="zh-CN" altLang="en-US" sz="1100" dirty="0">
                          <a:solidFill>
                            <a:schemeClr val="bg1"/>
                          </a:solidFill>
                          <a:effectLst/>
                          <a:latin typeface="+mj-ea"/>
                          <a:ea typeface="+mj-ea"/>
                        </a:rPr>
                        <a:t>：与最高管理层对齐，理解战略背后的深层意图与期望。</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fontAlgn="t"/>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供应链战略输入文档</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，明确供应链需要支撑的公司级战略目标与挑战。</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965041064"/>
                  </a:ext>
                </a:extLst>
              </a:tr>
              <a:tr h="979693">
                <a:tc>
                  <a:txBody>
                    <a:bodyPr/>
                    <a:lstStyle/>
                    <a:p>
                      <a:pPr fontAlgn="t"/>
                      <a:r>
                        <a:rPr lang="en-US" altLang="zh-CN" sz="1100" b="1" dirty="0">
                          <a:solidFill>
                            <a:srgbClr val="000000"/>
                          </a:solidFill>
                          <a:effectLst/>
                          <a:latin typeface="+mj-ea"/>
                          <a:ea typeface="+mj-ea"/>
                        </a:rPr>
                        <a:t>2. </a:t>
                      </a:r>
                      <a:r>
                        <a:rPr lang="zh-CN" altLang="en-US" sz="1100" b="1" dirty="0">
                          <a:solidFill>
                            <a:srgbClr val="000000"/>
                          </a:solidFill>
                          <a:effectLst/>
                          <a:latin typeface="+mj-ea"/>
                          <a:ea typeface="+mj-ea"/>
                        </a:rPr>
                        <a:t>定义供应链能力</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accent3">
                        <a:lumMod val="40000"/>
                        <a:lumOff val="60000"/>
                      </a:schemeClr>
                    </a:solidFill>
                  </a:tcPr>
                </a:tc>
                <a:tc>
                  <a:txBody>
                    <a:bodyPr/>
                    <a:lstStyle/>
                    <a:p>
                      <a:pPr fontAlgn="t"/>
                      <a:r>
                        <a:rPr lang="zh-CN" altLang="en-US" sz="1100" b="1">
                          <a:solidFill>
                            <a:schemeClr val="bg1"/>
                          </a:solidFill>
                          <a:effectLst/>
                          <a:latin typeface="+mj-ea"/>
                          <a:ea typeface="+mj-ea"/>
                        </a:rPr>
                        <a:t>明确“做什么”</a:t>
                      </a:r>
                      <a:br>
                        <a:rPr lang="zh-CN" altLang="en-US" sz="1100">
                          <a:solidFill>
                            <a:schemeClr val="bg1"/>
                          </a:solidFill>
                          <a:effectLst/>
                          <a:latin typeface="+mj-ea"/>
                          <a:ea typeface="+mj-ea"/>
                        </a:rPr>
                      </a:br>
                      <a:r>
                        <a:rPr lang="zh-CN" altLang="en-US" sz="1100">
                          <a:solidFill>
                            <a:schemeClr val="bg1"/>
                          </a:solidFill>
                          <a:effectLst/>
                          <a:latin typeface="+mj-ea"/>
                          <a:ea typeface="+mj-ea"/>
                        </a:rPr>
                        <a:t>将企业战略翻译为供应链必须具备的核心能力清单。</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fontAlgn="t"/>
                      <a:r>
                        <a:rPr lang="en-US" altLang="zh-CN" sz="1100">
                          <a:solidFill>
                            <a:schemeClr val="bg1"/>
                          </a:solidFill>
                          <a:effectLst/>
                          <a:latin typeface="+mj-ea"/>
                          <a:ea typeface="+mj-ea"/>
                        </a:rPr>
                        <a:t>• </a:t>
                      </a:r>
                      <a:r>
                        <a:rPr lang="zh-CN" altLang="en-US" sz="1100" b="1">
                          <a:solidFill>
                            <a:schemeClr val="bg1"/>
                          </a:solidFill>
                          <a:effectLst/>
                          <a:latin typeface="+mj-ea"/>
                          <a:ea typeface="+mj-ea"/>
                        </a:rPr>
                        <a:t>战略</a:t>
                      </a:r>
                      <a:r>
                        <a:rPr lang="en-US" altLang="zh-CN" sz="1100" b="1">
                          <a:solidFill>
                            <a:schemeClr val="bg1"/>
                          </a:solidFill>
                          <a:effectLst/>
                          <a:latin typeface="+mj-ea"/>
                          <a:ea typeface="+mj-ea"/>
                        </a:rPr>
                        <a:t>-</a:t>
                      </a:r>
                      <a:r>
                        <a:rPr lang="zh-CN" altLang="en-US" sz="1100" b="1">
                          <a:solidFill>
                            <a:schemeClr val="bg1"/>
                          </a:solidFill>
                          <a:effectLst/>
                          <a:latin typeface="+mj-ea"/>
                          <a:ea typeface="+mj-ea"/>
                        </a:rPr>
                        <a:t>能力映射</a:t>
                      </a:r>
                      <a:r>
                        <a:rPr lang="zh-CN" altLang="en-US" sz="1100">
                          <a:solidFill>
                            <a:schemeClr val="bg1"/>
                          </a:solidFill>
                          <a:effectLst/>
                          <a:latin typeface="+mj-ea"/>
                          <a:ea typeface="+mj-ea"/>
                        </a:rPr>
                        <a:t>：将战略目标转化为具体的、可衡量的能力需求（如：为支撑“产品创新”，需具备“新品快速导入与敏捷供应链”能力）。</a:t>
                      </a:r>
                      <a:br>
                        <a:rPr lang="zh-CN" altLang="en-US" sz="1100">
                          <a:solidFill>
                            <a:schemeClr val="bg1"/>
                          </a:solidFill>
                          <a:effectLst/>
                          <a:latin typeface="+mj-ea"/>
                          <a:ea typeface="+mj-ea"/>
                        </a:rPr>
                      </a:br>
                      <a:r>
                        <a:rPr lang="en-US" altLang="zh-CN" sz="1100">
                          <a:solidFill>
                            <a:schemeClr val="bg1"/>
                          </a:solidFill>
                          <a:effectLst/>
                          <a:latin typeface="+mj-ea"/>
                          <a:ea typeface="+mj-ea"/>
                        </a:rPr>
                        <a:t>• </a:t>
                      </a:r>
                      <a:r>
                        <a:rPr lang="zh-CN" altLang="en-US" sz="1100" b="1">
                          <a:solidFill>
                            <a:schemeClr val="bg1"/>
                          </a:solidFill>
                          <a:effectLst/>
                          <a:latin typeface="+mj-ea"/>
                          <a:ea typeface="+mj-ea"/>
                        </a:rPr>
                        <a:t>能力蓝图规划</a:t>
                      </a:r>
                      <a:r>
                        <a:rPr lang="zh-CN" altLang="en-US" sz="1100">
                          <a:solidFill>
                            <a:schemeClr val="bg1"/>
                          </a:solidFill>
                          <a:effectLst/>
                          <a:latin typeface="+mj-ea"/>
                          <a:ea typeface="+mj-ea"/>
                        </a:rPr>
                        <a:t>：绘制未来</a:t>
                      </a:r>
                      <a:r>
                        <a:rPr lang="en-US" altLang="zh-CN" sz="1100">
                          <a:solidFill>
                            <a:schemeClr val="bg1"/>
                          </a:solidFill>
                          <a:effectLst/>
                          <a:latin typeface="+mj-ea"/>
                          <a:ea typeface="+mj-ea"/>
                        </a:rPr>
                        <a:t>3-5</a:t>
                      </a:r>
                      <a:r>
                        <a:rPr lang="zh-CN" altLang="en-US" sz="1100">
                          <a:solidFill>
                            <a:schemeClr val="bg1"/>
                          </a:solidFill>
                          <a:effectLst/>
                          <a:latin typeface="+mj-ea"/>
                          <a:ea typeface="+mj-ea"/>
                        </a:rPr>
                        <a:t>年供应链的“</a:t>
                      </a:r>
                      <a:r>
                        <a:rPr lang="en-US" altLang="zh-CN" sz="1100">
                          <a:solidFill>
                            <a:schemeClr val="bg1"/>
                          </a:solidFill>
                          <a:effectLst/>
                          <a:latin typeface="+mj-ea"/>
                          <a:ea typeface="+mj-ea"/>
                        </a:rPr>
                        <a:t>To-Be”</a:t>
                      </a:r>
                      <a:r>
                        <a:rPr lang="zh-CN" altLang="en-US" sz="1100">
                          <a:solidFill>
                            <a:schemeClr val="bg1"/>
                          </a:solidFill>
                          <a:effectLst/>
                          <a:latin typeface="+mj-ea"/>
                          <a:ea typeface="+mj-ea"/>
                        </a:rPr>
                        <a:t>能力蓝图。</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fontAlgn="t"/>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供应链核心能力蓝图</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，清晰列出为支撑战略必须构建的跨部门、端到端能力。</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814288672"/>
                  </a:ext>
                </a:extLst>
              </a:tr>
              <a:tr h="979693">
                <a:tc>
                  <a:txBody>
                    <a:bodyPr/>
                    <a:lstStyle/>
                    <a:p>
                      <a:pPr fontAlgn="t"/>
                      <a:r>
                        <a:rPr lang="en-US" altLang="zh-CN" sz="1100" b="1" dirty="0">
                          <a:solidFill>
                            <a:srgbClr val="000000"/>
                          </a:solidFill>
                          <a:effectLst/>
                          <a:latin typeface="+mj-ea"/>
                          <a:ea typeface="+mj-ea"/>
                        </a:rPr>
                        <a:t>3. </a:t>
                      </a:r>
                      <a:r>
                        <a:rPr lang="zh-CN" altLang="en-US" sz="1100" b="1" dirty="0">
                          <a:solidFill>
                            <a:srgbClr val="000000"/>
                          </a:solidFill>
                          <a:effectLst/>
                          <a:latin typeface="+mj-ea"/>
                          <a:ea typeface="+mj-ea"/>
                        </a:rPr>
                        <a:t>探寻全球最佳方案</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accent3">
                        <a:lumMod val="40000"/>
                        <a:lumOff val="60000"/>
                      </a:schemeClr>
                    </a:solidFill>
                  </a:tcPr>
                </a:tc>
                <a:tc>
                  <a:txBody>
                    <a:bodyPr/>
                    <a:lstStyle/>
                    <a:p>
                      <a:pPr marL="0" marR="0" lvl="0" indent="0" algn="l" defTabSz="914332" rtl="0" eaLnBrk="1" fontAlgn="t" latinLnBrk="0" hangingPunct="1">
                        <a:lnSpc>
                          <a:spcPct val="100000"/>
                        </a:lnSpc>
                        <a:spcBef>
                          <a:spcPts val="0"/>
                        </a:spcBef>
                        <a:spcAft>
                          <a:spcPts val="0"/>
                        </a:spcAft>
                        <a:buClrTx/>
                        <a:buSzTx/>
                        <a:buFontTx/>
                        <a:buNone/>
                        <a:tabLst/>
                        <a:defRPr/>
                      </a:pPr>
                      <a:r>
                        <a:rPr kumimoji="0" lang="zh-CN" altLang="en-US" sz="11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设计“如何最好的做”：</a:t>
                      </a:r>
                      <a:endParaRPr kumimoji="0" lang="en-US" altLang="zh-CN" sz="11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a:p>
                      <a:pPr marL="0" marR="0" lvl="0" indent="0" algn="l" defTabSz="914332" rtl="0" eaLnBrk="1" fontAlgn="t"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找出对应能力的全球最佳实践，定义未来</a:t>
                      </a:r>
                      <a:r>
                        <a:rPr kumimoji="0" lang="en-US" altLang="zh-CN" sz="11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to-be</a:t>
                      </a:r>
                      <a:r>
                        <a:rPr kumimoji="0" lang="zh-CN" altLang="en-US" sz="11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的理想状态</a:t>
                      </a:r>
                      <a:endParaRPr kumimoji="0" lang="en-US" altLang="zh-CN" sz="11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lvl="0" indent="0" algn="l" defTabSz="914332" rtl="0" eaLnBrk="1" fontAlgn="t"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 </a:t>
                      </a:r>
                      <a:r>
                        <a:rPr kumimoji="0" lang="zh-CN" altLang="en-US" sz="11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解构卓越内核：穿透</a:t>
                      </a:r>
                      <a:r>
                        <a:rPr kumimoji="0" lang="zh-CN" altLang="en-US" sz="11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全球领先实践的“</a:t>
                      </a:r>
                      <a:r>
                        <a:rPr kumimoji="0" lang="zh-CN" altLang="en-US" sz="11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流程外壳</a:t>
                      </a:r>
                      <a:r>
                        <a:rPr kumimoji="0" lang="zh-CN" altLang="en-US" sz="11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a:t>
                      </a:r>
                      <a:r>
                        <a:rPr kumimoji="0" lang="zh-CN" altLang="en-US" sz="11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萃取</a:t>
                      </a:r>
                      <a:r>
                        <a:rPr kumimoji="0" lang="zh-CN" altLang="en-US" sz="11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其实现卓越绩效的底层逻辑</a:t>
                      </a:r>
                      <a:r>
                        <a:rPr kumimoji="0" lang="en-US" altLang="zh-CN" sz="11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a:t>
                      </a:r>
                      <a:r>
                        <a:rPr kumimoji="0" lang="zh-CN" altLang="en-US" sz="11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即精准的</a:t>
                      </a:r>
                      <a:r>
                        <a:rPr kumimoji="0" lang="zh-CN" altLang="en-US" sz="11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业务模型（数据模型）</a:t>
                      </a:r>
                      <a:r>
                        <a:rPr kumimoji="0" lang="zh-CN" altLang="en-US" sz="11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 与高效的业务规则与商业智慧（</a:t>
                      </a:r>
                      <a:r>
                        <a:rPr kumimoji="0" lang="zh-CN" altLang="en-US" sz="11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业务算法</a:t>
                      </a:r>
                      <a:r>
                        <a:rPr kumimoji="0" lang="zh-CN" altLang="en-US" sz="11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a:t>
                      </a:r>
                    </a:p>
                    <a:p>
                      <a:pPr marL="0" marR="0" lvl="0" indent="0" algn="l" defTabSz="914332" rtl="0" eaLnBrk="1" fontAlgn="t" latinLnBrk="0" hangingPunct="1">
                        <a:lnSpc>
                          <a:spcPct val="100000"/>
                        </a:lnSpc>
                        <a:spcBef>
                          <a:spcPts val="0"/>
                        </a:spcBef>
                        <a:spcAft>
                          <a:spcPts val="0"/>
                        </a:spcAft>
                        <a:buClrTx/>
                        <a:buSzTx/>
                        <a:buFontTx/>
                        <a:buNone/>
                        <a:tabLst/>
                        <a:defRPr/>
                      </a:pPr>
                      <a:r>
                        <a:rPr kumimoji="0" lang="zh-CN" altLang="en-US" sz="11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场景化设计与创新：</a:t>
                      </a:r>
                      <a:r>
                        <a:rPr kumimoji="0" lang="zh-CN" altLang="en-US" sz="11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基于企业独特的战略与能力蓝图，对萃取出的内核进行批判性评估与适配性重构，设计出专属的、更具竞争力的最优方案。</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lvl="0" indent="0" algn="l" defTabSz="914332" rtl="0" eaLnBrk="1" fontAlgn="t" latinLnBrk="0" hangingPunct="1">
                        <a:lnSpc>
                          <a:spcPct val="100000"/>
                        </a:lnSpc>
                        <a:spcBef>
                          <a:spcPts val="0"/>
                        </a:spcBef>
                        <a:spcAft>
                          <a:spcPts val="0"/>
                        </a:spcAft>
                        <a:buClrTx/>
                        <a:buSzTx/>
                        <a:buFontTx/>
                        <a:buNone/>
                        <a:tabLst/>
                        <a:defRPr/>
                      </a:pP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未来业务流程蓝图</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数据模型架构图</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业务算法逻辑库</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468948305"/>
                  </a:ext>
                </a:extLst>
              </a:tr>
              <a:tr h="843877">
                <a:tc>
                  <a:txBody>
                    <a:bodyPr/>
                    <a:lstStyle/>
                    <a:p>
                      <a:pPr fontAlgn="t"/>
                      <a:r>
                        <a:rPr lang="en-US" altLang="zh-CN" sz="1100" b="1">
                          <a:solidFill>
                            <a:srgbClr val="000000"/>
                          </a:solidFill>
                          <a:effectLst/>
                          <a:latin typeface="+mj-ea"/>
                          <a:ea typeface="+mj-ea"/>
                        </a:rPr>
                        <a:t>4. </a:t>
                      </a:r>
                      <a:r>
                        <a:rPr lang="zh-CN" altLang="en-US" sz="1100" b="1">
                          <a:solidFill>
                            <a:srgbClr val="000000"/>
                          </a:solidFill>
                          <a:effectLst/>
                          <a:latin typeface="+mj-ea"/>
                          <a:ea typeface="+mj-ea"/>
                        </a:rPr>
                        <a:t>规划实施路径</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accent3">
                        <a:lumMod val="40000"/>
                        <a:lumOff val="60000"/>
                      </a:schemeClr>
                    </a:solidFill>
                  </a:tcPr>
                </a:tc>
                <a:tc>
                  <a:txBody>
                    <a:bodyPr/>
                    <a:lstStyle/>
                    <a:p>
                      <a:pPr fontAlgn="t"/>
                      <a:r>
                        <a:rPr lang="zh-CN" altLang="en-US" sz="1100" b="1">
                          <a:solidFill>
                            <a:schemeClr val="bg1"/>
                          </a:solidFill>
                          <a:effectLst/>
                          <a:latin typeface="+mj-ea"/>
                          <a:ea typeface="+mj-ea"/>
                        </a:rPr>
                        <a:t>规划“路线图”</a:t>
                      </a:r>
                      <a:br>
                        <a:rPr lang="zh-CN" altLang="en-US" sz="1100">
                          <a:solidFill>
                            <a:schemeClr val="bg1"/>
                          </a:solidFill>
                          <a:effectLst/>
                          <a:latin typeface="+mj-ea"/>
                          <a:ea typeface="+mj-ea"/>
                        </a:rPr>
                      </a:br>
                      <a:r>
                        <a:rPr lang="zh-CN" altLang="en-US" sz="1100">
                          <a:solidFill>
                            <a:schemeClr val="bg1"/>
                          </a:solidFill>
                          <a:effectLst/>
                          <a:latin typeface="+mj-ea"/>
                          <a:ea typeface="+mj-ea"/>
                        </a:rPr>
                        <a:t>基于现状与目标的差距，制定务实、分阶段的实施计划。</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fontAlgn="t"/>
                      <a:r>
                        <a:rPr lang="en-US" altLang="zh-CN" sz="1100" dirty="0">
                          <a:solidFill>
                            <a:schemeClr val="bg1"/>
                          </a:solidFill>
                          <a:effectLst/>
                          <a:latin typeface="+mj-ea"/>
                          <a:ea typeface="+mj-ea"/>
                        </a:rPr>
                        <a:t>• </a:t>
                      </a:r>
                      <a:r>
                        <a:rPr lang="zh-CN" altLang="en-US" sz="1100" b="1" dirty="0">
                          <a:solidFill>
                            <a:schemeClr val="bg1"/>
                          </a:solidFill>
                          <a:effectLst/>
                          <a:latin typeface="+mj-ea"/>
                          <a:ea typeface="+mj-ea"/>
                        </a:rPr>
                        <a:t>差距分析与成熟度评估</a:t>
                      </a:r>
                      <a:r>
                        <a:rPr lang="zh-CN" altLang="en-US" sz="1100" dirty="0">
                          <a:solidFill>
                            <a:schemeClr val="bg1"/>
                          </a:solidFill>
                          <a:effectLst/>
                          <a:latin typeface="+mj-ea"/>
                          <a:ea typeface="+mj-ea"/>
                        </a:rPr>
                        <a:t>：评估当前能力（</a:t>
                      </a:r>
                      <a:r>
                        <a:rPr lang="en-US" altLang="zh-CN" sz="1100" dirty="0">
                          <a:solidFill>
                            <a:schemeClr val="bg1"/>
                          </a:solidFill>
                          <a:effectLst/>
                          <a:latin typeface="+mj-ea"/>
                          <a:ea typeface="+mj-ea"/>
                        </a:rPr>
                        <a:t>As-Is</a:t>
                      </a:r>
                      <a:r>
                        <a:rPr lang="zh-CN" altLang="en-US" sz="1100" dirty="0">
                          <a:solidFill>
                            <a:schemeClr val="bg1"/>
                          </a:solidFill>
                          <a:effectLst/>
                          <a:latin typeface="+mj-ea"/>
                          <a:ea typeface="+mj-ea"/>
                        </a:rPr>
                        <a:t>）与未来蓝图（</a:t>
                      </a:r>
                      <a:r>
                        <a:rPr lang="en-US" altLang="zh-CN" sz="1100" dirty="0">
                          <a:solidFill>
                            <a:schemeClr val="bg1"/>
                          </a:solidFill>
                          <a:effectLst/>
                          <a:latin typeface="+mj-ea"/>
                          <a:ea typeface="+mj-ea"/>
                        </a:rPr>
                        <a:t>To-Be</a:t>
                      </a:r>
                      <a:r>
                        <a:rPr lang="zh-CN" altLang="en-US" sz="1100" dirty="0">
                          <a:solidFill>
                            <a:schemeClr val="bg1"/>
                          </a:solidFill>
                          <a:effectLst/>
                          <a:latin typeface="+mj-ea"/>
                          <a:ea typeface="+mj-ea"/>
                        </a:rPr>
                        <a:t>）的差距，确定优先级。</a:t>
                      </a:r>
                      <a:br>
                        <a:rPr lang="zh-CN" altLang="en-US" sz="1100" dirty="0">
                          <a:solidFill>
                            <a:schemeClr val="bg1"/>
                          </a:solidFill>
                          <a:effectLst/>
                          <a:latin typeface="+mj-ea"/>
                          <a:ea typeface="+mj-ea"/>
                        </a:rPr>
                      </a:br>
                      <a:r>
                        <a:rPr lang="en-US" altLang="zh-CN" sz="1100" dirty="0">
                          <a:solidFill>
                            <a:schemeClr val="bg1"/>
                          </a:solidFill>
                          <a:effectLst/>
                          <a:latin typeface="+mj-ea"/>
                          <a:ea typeface="+mj-ea"/>
                        </a:rPr>
                        <a:t>• </a:t>
                      </a:r>
                      <a:r>
                        <a:rPr lang="zh-CN" altLang="en-US" sz="1100" b="1" dirty="0">
                          <a:solidFill>
                            <a:schemeClr val="bg1"/>
                          </a:solidFill>
                          <a:effectLst/>
                          <a:latin typeface="+mj-ea"/>
                          <a:ea typeface="+mj-ea"/>
                        </a:rPr>
                        <a:t>路线图制定</a:t>
                      </a:r>
                      <a:r>
                        <a:rPr lang="zh-CN" altLang="en-US" sz="1100" dirty="0">
                          <a:solidFill>
                            <a:schemeClr val="bg1"/>
                          </a:solidFill>
                          <a:effectLst/>
                          <a:latin typeface="+mj-ea"/>
                          <a:ea typeface="+mj-ea"/>
                        </a:rPr>
                        <a:t>：规划分阶段的实施路线图，奇点定位、明确每个阶段的里程碑、投资和预期价值。</a:t>
                      </a:r>
                      <a:endParaRPr lang="en-US" altLang="zh-CN" sz="1100" dirty="0">
                        <a:solidFill>
                          <a:schemeClr val="bg1"/>
                        </a:solidFill>
                        <a:effectLst/>
                        <a:latin typeface="+mj-ea"/>
                        <a:ea typeface="+mj-ea"/>
                      </a:endParaRPr>
                    </a:p>
                    <a:p>
                      <a:pPr fontAlgn="t"/>
                      <a:r>
                        <a:rPr lang="zh-CN" altLang="en-US" sz="1100" dirty="0">
                          <a:solidFill>
                            <a:schemeClr val="bg1"/>
                          </a:solidFill>
                          <a:effectLst/>
                          <a:latin typeface="+mj-ea"/>
                          <a:ea typeface="+mj-ea"/>
                        </a:rPr>
                        <a:t>自然推导出组织构架和应用构架。</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fontAlgn="t"/>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供应链数字化转型路线图</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，包含详细的项目计划、资源需求和投资回报分析。</a:t>
                      </a:r>
                      <a:endParaRPr lang="en-US" altLang="zh-CN" sz="1100" dirty="0">
                        <a:solidFill>
                          <a:schemeClr val="bg1"/>
                        </a:solidFill>
                        <a:effectLst/>
                        <a:latin typeface="+mj-ea"/>
                        <a:ea typeface="+mj-ea"/>
                      </a:endParaRPr>
                    </a:p>
                    <a:p>
                      <a:pPr fontAlgn="t"/>
                      <a:r>
                        <a:rPr lang="zh-CN" altLang="en-US" sz="1100" dirty="0">
                          <a:solidFill>
                            <a:schemeClr val="bg1"/>
                          </a:solidFill>
                          <a:effectLst/>
                          <a:latin typeface="+mj-ea"/>
                          <a:ea typeface="+mj-ea"/>
                        </a:rPr>
                        <a:t>组织与流程重构，应用架构调整。</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8630483"/>
                  </a:ext>
                </a:extLst>
              </a:tr>
              <a:tr h="843877">
                <a:tc>
                  <a:txBody>
                    <a:bodyPr/>
                    <a:lstStyle/>
                    <a:p>
                      <a:pPr fontAlgn="t"/>
                      <a:r>
                        <a:rPr lang="en-US" altLang="zh-CN" sz="1100" b="1">
                          <a:solidFill>
                            <a:srgbClr val="000000"/>
                          </a:solidFill>
                          <a:effectLst/>
                          <a:latin typeface="+mj-ea"/>
                          <a:ea typeface="+mj-ea"/>
                        </a:rPr>
                        <a:t>5. </a:t>
                      </a:r>
                      <a:r>
                        <a:rPr lang="zh-CN" altLang="en-US" sz="1100" b="1">
                          <a:solidFill>
                            <a:srgbClr val="000000"/>
                          </a:solidFill>
                          <a:effectLst/>
                          <a:latin typeface="+mj-ea"/>
                          <a:ea typeface="+mj-ea"/>
                        </a:rPr>
                        <a:t>敏捷实施与变革</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accent3">
                        <a:lumMod val="40000"/>
                        <a:lumOff val="60000"/>
                      </a:schemeClr>
                    </a:solidFill>
                  </a:tcPr>
                </a:tc>
                <a:tc>
                  <a:txBody>
                    <a:bodyPr/>
                    <a:lstStyle/>
                    <a:p>
                      <a:pPr fontAlgn="t"/>
                      <a:r>
                        <a:rPr lang="zh-CN" altLang="en-US" sz="1100" b="1">
                          <a:solidFill>
                            <a:schemeClr val="bg1"/>
                          </a:solidFill>
                          <a:effectLst/>
                          <a:latin typeface="+mj-ea"/>
                          <a:ea typeface="+mj-ea"/>
                        </a:rPr>
                        <a:t>确保“做成功”</a:t>
                      </a:r>
                      <a:br>
                        <a:rPr lang="zh-CN" altLang="en-US" sz="1100">
                          <a:solidFill>
                            <a:schemeClr val="bg1"/>
                          </a:solidFill>
                          <a:effectLst/>
                          <a:latin typeface="+mj-ea"/>
                          <a:ea typeface="+mj-ea"/>
                        </a:rPr>
                      </a:br>
                      <a:r>
                        <a:rPr lang="zh-CN" altLang="en-US" sz="1100">
                          <a:solidFill>
                            <a:schemeClr val="bg1"/>
                          </a:solidFill>
                          <a:effectLst/>
                          <a:latin typeface="+mj-ea"/>
                          <a:ea typeface="+mj-ea"/>
                        </a:rPr>
                        <a:t>以敏捷方式交付价值，并通过强有力的变革管理克服阻力。</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fontAlgn="t"/>
                      <a:r>
                        <a:rPr lang="en-US" altLang="zh-CN" sz="1100">
                          <a:solidFill>
                            <a:schemeClr val="bg1"/>
                          </a:solidFill>
                          <a:effectLst/>
                          <a:latin typeface="+mj-ea"/>
                          <a:ea typeface="+mj-ea"/>
                        </a:rPr>
                        <a:t>• </a:t>
                      </a:r>
                      <a:r>
                        <a:rPr lang="zh-CN" altLang="en-US" sz="1100" b="1">
                          <a:solidFill>
                            <a:schemeClr val="bg1"/>
                          </a:solidFill>
                          <a:effectLst/>
                          <a:latin typeface="+mj-ea"/>
                          <a:ea typeface="+mj-ea"/>
                        </a:rPr>
                        <a:t>敏捷项目实施</a:t>
                      </a:r>
                      <a:r>
                        <a:rPr lang="zh-CN" altLang="en-US" sz="1100">
                          <a:solidFill>
                            <a:schemeClr val="bg1"/>
                          </a:solidFill>
                          <a:effectLst/>
                          <a:latin typeface="+mj-ea"/>
                          <a:ea typeface="+mj-ea"/>
                        </a:rPr>
                        <a:t>：采用“小步快跑”的迭代模式，快速验证假设，持续交付可用的业务价值。</a:t>
                      </a:r>
                      <a:br>
                        <a:rPr lang="zh-CN" altLang="en-US" sz="1100">
                          <a:solidFill>
                            <a:schemeClr val="bg1"/>
                          </a:solidFill>
                          <a:effectLst/>
                          <a:latin typeface="+mj-ea"/>
                          <a:ea typeface="+mj-ea"/>
                        </a:rPr>
                      </a:br>
                      <a:r>
                        <a:rPr lang="en-US" altLang="zh-CN" sz="1100">
                          <a:solidFill>
                            <a:schemeClr val="bg1"/>
                          </a:solidFill>
                          <a:effectLst/>
                          <a:latin typeface="+mj-ea"/>
                          <a:ea typeface="+mj-ea"/>
                        </a:rPr>
                        <a:t>• </a:t>
                      </a:r>
                      <a:r>
                        <a:rPr lang="zh-CN" altLang="en-US" sz="1100" b="1">
                          <a:solidFill>
                            <a:schemeClr val="bg1"/>
                          </a:solidFill>
                          <a:effectLst/>
                          <a:latin typeface="+mj-ea"/>
                          <a:ea typeface="+mj-ea"/>
                        </a:rPr>
                        <a:t>变革领导力</a:t>
                      </a:r>
                      <a:r>
                        <a:rPr lang="zh-CN" altLang="en-US" sz="1100">
                          <a:solidFill>
                            <a:schemeClr val="bg1"/>
                          </a:solidFill>
                          <a:effectLst/>
                          <a:latin typeface="+mj-ea"/>
                          <a:ea typeface="+mj-ea"/>
                        </a:rPr>
                        <a:t>：高层亲自推动，持续沟通愿景，赋能团队，重塑激励机制，管理变革阻力。</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fontAlgn="t"/>
                      <a:r>
                        <a:rPr lang="zh-CN" altLang="en-US" sz="1100" dirty="0">
                          <a:solidFill>
                            <a:schemeClr val="bg1"/>
                          </a:solidFill>
                          <a:effectLst/>
                          <a:latin typeface="+mj-ea"/>
                          <a:ea typeface="+mj-ea"/>
                        </a:rPr>
                        <a:t>可用的系统功能模块、逐步提升的业务绩效指标、具备新能力的团队。</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037481310"/>
                  </a:ext>
                </a:extLst>
              </a:tr>
              <a:tr h="979693">
                <a:tc>
                  <a:txBody>
                    <a:bodyPr/>
                    <a:lstStyle/>
                    <a:p>
                      <a:pPr fontAlgn="t"/>
                      <a:r>
                        <a:rPr lang="en-US" altLang="zh-CN" sz="1100" b="1" dirty="0">
                          <a:solidFill>
                            <a:srgbClr val="000000"/>
                          </a:solidFill>
                          <a:effectLst/>
                          <a:latin typeface="+mj-ea"/>
                          <a:ea typeface="+mj-ea"/>
                        </a:rPr>
                        <a:t>6. </a:t>
                      </a:r>
                      <a:r>
                        <a:rPr lang="zh-CN" altLang="en-US" sz="1100" b="1" dirty="0">
                          <a:solidFill>
                            <a:srgbClr val="000000"/>
                          </a:solidFill>
                          <a:effectLst/>
                          <a:latin typeface="+mj-ea"/>
                          <a:ea typeface="+mj-ea"/>
                        </a:rPr>
                        <a:t>内化优化能力</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accent3">
                        <a:lumMod val="40000"/>
                        <a:lumOff val="60000"/>
                      </a:schemeClr>
                    </a:solidFill>
                  </a:tcPr>
                </a:tc>
                <a:tc>
                  <a:txBody>
                    <a:bodyPr/>
                    <a:lstStyle/>
                    <a:p>
                      <a:pPr fontAlgn="t"/>
                      <a:r>
                        <a:rPr lang="zh-CN" altLang="en-US" sz="1100" b="1" dirty="0">
                          <a:solidFill>
                            <a:schemeClr val="bg1"/>
                          </a:solidFill>
                          <a:effectLst/>
                          <a:latin typeface="+mj-ea"/>
                          <a:ea typeface="+mj-ea"/>
                        </a:rPr>
                        <a:t>实现“自适应”</a:t>
                      </a:r>
                      <a:br>
                        <a:rPr lang="zh-CN" altLang="en-US" sz="1100" dirty="0">
                          <a:solidFill>
                            <a:schemeClr val="bg1"/>
                          </a:solidFill>
                          <a:effectLst/>
                          <a:latin typeface="+mj-ea"/>
                          <a:ea typeface="+mj-ea"/>
                        </a:rPr>
                      </a:br>
                      <a:r>
                        <a:rPr lang="zh-CN" altLang="en-US" sz="1100" dirty="0">
                          <a:solidFill>
                            <a:schemeClr val="bg1"/>
                          </a:solidFill>
                          <a:effectLst/>
                          <a:latin typeface="+mj-ea"/>
                          <a:ea typeface="+mj-ea"/>
                        </a:rPr>
                        <a:t>将项目成果转化为组织固有的、可持续的自我优化机制。</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fontAlgn="t"/>
                      <a:r>
                        <a:rPr lang="en-US" altLang="zh-CN" sz="1100">
                          <a:solidFill>
                            <a:schemeClr val="bg1"/>
                          </a:solidFill>
                          <a:effectLst/>
                          <a:latin typeface="+mj-ea"/>
                          <a:ea typeface="+mj-ea"/>
                        </a:rPr>
                        <a:t>• </a:t>
                      </a:r>
                      <a:r>
                        <a:rPr lang="zh-CN" altLang="en-US" sz="1100" b="1">
                          <a:solidFill>
                            <a:schemeClr val="bg1"/>
                          </a:solidFill>
                          <a:effectLst/>
                          <a:latin typeface="+mj-ea"/>
                          <a:ea typeface="+mj-ea"/>
                        </a:rPr>
                        <a:t>能力转移与知识管理</a:t>
                      </a:r>
                      <a:r>
                        <a:rPr lang="zh-CN" altLang="en-US" sz="1100">
                          <a:solidFill>
                            <a:schemeClr val="bg1"/>
                          </a:solidFill>
                          <a:effectLst/>
                          <a:latin typeface="+mj-ea"/>
                          <a:ea typeface="+mj-ea"/>
                        </a:rPr>
                        <a:t>：将项目知识和最佳实践固化到组织流程、绩效考核和培训体系中。</a:t>
                      </a:r>
                      <a:br>
                        <a:rPr lang="zh-CN" altLang="en-US" sz="1100">
                          <a:solidFill>
                            <a:schemeClr val="bg1"/>
                          </a:solidFill>
                          <a:effectLst/>
                          <a:latin typeface="+mj-ea"/>
                          <a:ea typeface="+mj-ea"/>
                        </a:rPr>
                      </a:br>
                      <a:r>
                        <a:rPr lang="en-US" altLang="zh-CN" sz="1100">
                          <a:solidFill>
                            <a:schemeClr val="bg1"/>
                          </a:solidFill>
                          <a:effectLst/>
                          <a:latin typeface="+mj-ea"/>
                          <a:ea typeface="+mj-ea"/>
                        </a:rPr>
                        <a:t>• </a:t>
                      </a:r>
                      <a:r>
                        <a:rPr lang="zh-CN" altLang="en-US" sz="1100" b="1">
                          <a:solidFill>
                            <a:schemeClr val="bg1"/>
                          </a:solidFill>
                          <a:effectLst/>
                          <a:latin typeface="+mj-ea"/>
                          <a:ea typeface="+mj-ea"/>
                        </a:rPr>
                        <a:t>建立持续优化循环</a:t>
                      </a:r>
                      <a:r>
                        <a:rPr lang="zh-CN" altLang="en-US" sz="1100">
                          <a:solidFill>
                            <a:schemeClr val="bg1"/>
                          </a:solidFill>
                          <a:effectLst/>
                          <a:latin typeface="+mj-ea"/>
                          <a:ea typeface="+mj-ea"/>
                        </a:rPr>
                        <a:t>：利用系统数据建立业务绩效看板，定期复盘，形成“衡量</a:t>
                      </a:r>
                      <a:r>
                        <a:rPr lang="en-US" altLang="zh-CN" sz="1100">
                          <a:solidFill>
                            <a:schemeClr val="bg1"/>
                          </a:solidFill>
                          <a:effectLst/>
                          <a:latin typeface="+mj-ea"/>
                          <a:ea typeface="+mj-ea"/>
                        </a:rPr>
                        <a:t>-</a:t>
                      </a:r>
                      <a:r>
                        <a:rPr lang="zh-CN" altLang="en-US" sz="1100">
                          <a:solidFill>
                            <a:schemeClr val="bg1"/>
                          </a:solidFill>
                          <a:effectLst/>
                          <a:latin typeface="+mj-ea"/>
                          <a:ea typeface="+mj-ea"/>
                        </a:rPr>
                        <a:t>分析</a:t>
                      </a:r>
                      <a:r>
                        <a:rPr lang="en-US" altLang="zh-CN" sz="1100">
                          <a:solidFill>
                            <a:schemeClr val="bg1"/>
                          </a:solidFill>
                          <a:effectLst/>
                          <a:latin typeface="+mj-ea"/>
                          <a:ea typeface="+mj-ea"/>
                        </a:rPr>
                        <a:t>-</a:t>
                      </a:r>
                      <a:r>
                        <a:rPr lang="zh-CN" altLang="en-US" sz="1100">
                          <a:solidFill>
                            <a:schemeClr val="bg1"/>
                          </a:solidFill>
                          <a:effectLst/>
                          <a:latin typeface="+mj-ea"/>
                          <a:ea typeface="+mj-ea"/>
                        </a:rPr>
                        <a:t>改进”的闭环文化。</a:t>
                      </a: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fontAlgn="t"/>
                      <a:r>
                        <a:rPr lang="zh-CN" altLang="en-US" sz="1100" b="0" i="0" kern="1200" dirty="0">
                          <a:solidFill>
                            <a:schemeClr val="bg1"/>
                          </a:solidFill>
                          <a:effectLst/>
                          <a:latin typeface="+mj-ea"/>
                          <a:ea typeface="+mj-ea"/>
                          <a:cs typeface="+mn-cs"/>
                        </a:rPr>
                        <a:t>一个能够自我诊断、自我优化、持续进化的“活”的供应链组织</a:t>
                      </a:r>
                      <a:endParaRPr lang="zh-CN" altLang="en-US" sz="1100" dirty="0">
                        <a:solidFill>
                          <a:schemeClr val="bg1"/>
                        </a:solidFill>
                        <a:effectLst/>
                        <a:latin typeface="+mj-ea"/>
                        <a:ea typeface="+mj-ea"/>
                      </a:endParaRPr>
                    </a:p>
                  </a:txBody>
                  <a:tcPr marL="19511" marR="19511" marT="16259" marB="16259">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2940205919"/>
                  </a:ext>
                </a:extLst>
              </a:tr>
            </a:tbl>
          </a:graphicData>
        </a:graphic>
      </p:graphicFrame>
      <p:cxnSp>
        <p:nvCxnSpPr>
          <p:cNvPr id="15" name="连接符: 肘形 14">
            <a:extLst>
              <a:ext uri="{FF2B5EF4-FFF2-40B4-BE49-F238E27FC236}">
                <a16:creationId xmlns:a16="http://schemas.microsoft.com/office/drawing/2014/main" id="{C5238EF9-9148-A687-93A1-68D33B6BA181}"/>
              </a:ext>
            </a:extLst>
          </p:cNvPr>
          <p:cNvCxnSpPr>
            <a:cxnSpLocks/>
            <a:stCxn id="3" idx="2"/>
            <a:endCxn id="19" idx="0"/>
          </p:cNvCxnSpPr>
          <p:nvPr/>
        </p:nvCxnSpPr>
        <p:spPr>
          <a:xfrm rot="16200000" flipH="1">
            <a:off x="1510286" y="1864144"/>
            <a:ext cx="331820" cy="1534"/>
          </a:xfrm>
          <a:prstGeom prst="bentConnector3">
            <a:avLst/>
          </a:prstGeom>
          <a:ln w="127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连接符: 肘形 16">
            <a:extLst>
              <a:ext uri="{FF2B5EF4-FFF2-40B4-BE49-F238E27FC236}">
                <a16:creationId xmlns:a16="http://schemas.microsoft.com/office/drawing/2014/main" id="{FA5CF907-2FDC-2C54-1D33-A055EC4BAE49}"/>
              </a:ext>
            </a:extLst>
          </p:cNvPr>
          <p:cNvCxnSpPr>
            <a:cxnSpLocks/>
            <a:stCxn id="19" idx="2"/>
            <a:endCxn id="20" idx="0"/>
          </p:cNvCxnSpPr>
          <p:nvPr/>
        </p:nvCxnSpPr>
        <p:spPr>
          <a:xfrm rot="16200000" flipH="1">
            <a:off x="1494380" y="2854821"/>
            <a:ext cx="366700" cy="1534"/>
          </a:xfrm>
          <a:prstGeom prst="bentConnector3">
            <a:avLst/>
          </a:prstGeom>
          <a:ln w="127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连接符: 肘形 23">
            <a:extLst>
              <a:ext uri="{FF2B5EF4-FFF2-40B4-BE49-F238E27FC236}">
                <a16:creationId xmlns:a16="http://schemas.microsoft.com/office/drawing/2014/main" id="{21F0BB7B-6DEB-A210-E67D-25403D6DE5B6}"/>
              </a:ext>
            </a:extLst>
          </p:cNvPr>
          <p:cNvCxnSpPr>
            <a:cxnSpLocks/>
            <a:stCxn id="20" idx="2"/>
            <a:endCxn id="4" idx="0"/>
          </p:cNvCxnSpPr>
          <p:nvPr/>
        </p:nvCxnSpPr>
        <p:spPr>
          <a:xfrm rot="5400000">
            <a:off x="1474080" y="3882840"/>
            <a:ext cx="406902" cy="1932"/>
          </a:xfrm>
          <a:prstGeom prst="bentConnector3">
            <a:avLst>
              <a:gd name="adj1" fmla="val 50000"/>
            </a:avLst>
          </a:prstGeom>
          <a:ln w="127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28" name="连接符: 肘形 27">
            <a:extLst>
              <a:ext uri="{FF2B5EF4-FFF2-40B4-BE49-F238E27FC236}">
                <a16:creationId xmlns:a16="http://schemas.microsoft.com/office/drawing/2014/main" id="{4FB56568-2AB7-9CDD-B235-9D24F07E85C9}"/>
              </a:ext>
            </a:extLst>
          </p:cNvPr>
          <p:cNvCxnSpPr>
            <a:cxnSpLocks/>
          </p:cNvCxnSpPr>
          <p:nvPr/>
        </p:nvCxnSpPr>
        <p:spPr>
          <a:xfrm rot="5400000">
            <a:off x="1471978" y="4799162"/>
            <a:ext cx="406902" cy="1932"/>
          </a:xfrm>
          <a:prstGeom prst="bentConnector3">
            <a:avLst>
              <a:gd name="adj1" fmla="val 50000"/>
            </a:avLst>
          </a:prstGeom>
          <a:ln w="127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连接符: 肘形 28">
            <a:extLst>
              <a:ext uri="{FF2B5EF4-FFF2-40B4-BE49-F238E27FC236}">
                <a16:creationId xmlns:a16="http://schemas.microsoft.com/office/drawing/2014/main" id="{28C4010E-C25E-E84D-8572-529775D248F9}"/>
              </a:ext>
            </a:extLst>
          </p:cNvPr>
          <p:cNvCxnSpPr>
            <a:cxnSpLocks/>
            <a:stCxn id="5" idx="2"/>
            <a:endCxn id="6" idx="0"/>
          </p:cNvCxnSpPr>
          <p:nvPr/>
        </p:nvCxnSpPr>
        <p:spPr>
          <a:xfrm rot="5400000">
            <a:off x="1508715" y="5686529"/>
            <a:ext cx="349260" cy="2200"/>
          </a:xfrm>
          <a:prstGeom prst="bentConnector3">
            <a:avLst>
              <a:gd name="adj1" fmla="val 50000"/>
            </a:avLst>
          </a:prstGeom>
          <a:ln w="12700">
            <a:solidFill>
              <a:schemeClr val="bg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6916970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C59B94A-72D2-827F-A97E-A769008525CC}"/>
              </a:ext>
            </a:extLst>
          </p:cNvPr>
          <p:cNvSpPr>
            <a:spLocks noGrp="1"/>
          </p:cNvSpPr>
          <p:nvPr>
            <p:ph type="title"/>
          </p:nvPr>
        </p:nvSpPr>
        <p:spPr/>
        <p:txBody>
          <a:bodyPr/>
          <a:lstStyle/>
          <a:p>
            <a:r>
              <a:rPr lang="zh-CN" altLang="en-US" dirty="0">
                <a:solidFill>
                  <a:schemeClr val="bg1"/>
                </a:solidFill>
              </a:rPr>
              <a:t>战略解读</a:t>
            </a:r>
          </a:p>
        </p:txBody>
      </p:sp>
      <p:graphicFrame>
        <p:nvGraphicFramePr>
          <p:cNvPr id="4" name="表格 3">
            <a:extLst>
              <a:ext uri="{FF2B5EF4-FFF2-40B4-BE49-F238E27FC236}">
                <a16:creationId xmlns:a16="http://schemas.microsoft.com/office/drawing/2014/main" id="{EA647402-24CE-E405-C98E-8797F24D645C}"/>
              </a:ext>
            </a:extLst>
          </p:cNvPr>
          <p:cNvGraphicFramePr>
            <a:graphicFrameLocks noGrp="1"/>
          </p:cNvGraphicFramePr>
          <p:nvPr>
            <p:extLst>
              <p:ext uri="{D42A27DB-BD31-4B8C-83A1-F6EECF244321}">
                <p14:modId xmlns:p14="http://schemas.microsoft.com/office/powerpoint/2010/main" val="4188795333"/>
              </p:ext>
            </p:extLst>
          </p:nvPr>
        </p:nvGraphicFramePr>
        <p:xfrm>
          <a:off x="1124543" y="959836"/>
          <a:ext cx="10714760" cy="4590093"/>
        </p:xfrm>
        <a:graphic>
          <a:graphicData uri="http://schemas.openxmlformats.org/drawingml/2006/table">
            <a:tbl>
              <a:tblPr/>
              <a:tblGrid>
                <a:gridCol w="2065854">
                  <a:extLst>
                    <a:ext uri="{9D8B030D-6E8A-4147-A177-3AD203B41FA5}">
                      <a16:colId xmlns:a16="http://schemas.microsoft.com/office/drawing/2014/main" val="1952461084"/>
                    </a:ext>
                  </a:extLst>
                </a:gridCol>
                <a:gridCol w="2806900">
                  <a:extLst>
                    <a:ext uri="{9D8B030D-6E8A-4147-A177-3AD203B41FA5}">
                      <a16:colId xmlns:a16="http://schemas.microsoft.com/office/drawing/2014/main" val="3847601638"/>
                    </a:ext>
                  </a:extLst>
                </a:gridCol>
                <a:gridCol w="5842006">
                  <a:extLst>
                    <a:ext uri="{9D8B030D-6E8A-4147-A177-3AD203B41FA5}">
                      <a16:colId xmlns:a16="http://schemas.microsoft.com/office/drawing/2014/main" val="3716962979"/>
                    </a:ext>
                  </a:extLst>
                </a:gridCol>
              </a:tblGrid>
              <a:tr h="257809">
                <a:tc>
                  <a:txBody>
                    <a:bodyPr/>
                    <a:lstStyle/>
                    <a:p>
                      <a:r>
                        <a:rPr lang="zh-CN" altLang="en-US" sz="1400" b="1" dirty="0">
                          <a:solidFill>
                            <a:srgbClr val="FFFFFF"/>
                          </a:solidFill>
                          <a:latin typeface="+mj-ea"/>
                          <a:ea typeface="+mj-ea"/>
                        </a:rPr>
                        <a:t>战略理论框架</a:t>
                      </a:r>
                    </a:p>
                  </a:txBody>
                  <a:tcPr marL="56861" marR="56861" marT="28431" marB="28431" anchor="ctr">
                    <a:lnL>
                      <a:solidFill>
                        <a:srgbClr val="004A7C"/>
                      </a:solidFill>
                      <a:prstDash val="solid"/>
                    </a:lnL>
                    <a:lnR>
                      <a:solidFill>
                        <a:srgbClr val="004A7C"/>
                      </a:solidFill>
                      <a:prstDash val="solid"/>
                    </a:lnR>
                    <a:lnT>
                      <a:solidFill>
                        <a:srgbClr val="004A7C"/>
                      </a:solidFill>
                      <a:prstDash val="solid"/>
                    </a:lnT>
                    <a:lnB>
                      <a:solidFill>
                        <a:srgbClr val="004A7C"/>
                      </a:solidFill>
                      <a:prstDash val="solid"/>
                    </a:lnB>
                    <a:solidFill>
                      <a:srgbClr val="004A7C"/>
                    </a:solidFill>
                  </a:tcPr>
                </a:tc>
                <a:tc>
                  <a:txBody>
                    <a:bodyPr/>
                    <a:lstStyle/>
                    <a:p>
                      <a:r>
                        <a:rPr lang="zh-CN" altLang="en-US" sz="1400" b="1" dirty="0">
                          <a:solidFill>
                            <a:srgbClr val="FFFFFF"/>
                          </a:solidFill>
                          <a:latin typeface="+mj-ea"/>
                          <a:ea typeface="+mj-ea"/>
                        </a:rPr>
                        <a:t>战略要点</a:t>
                      </a:r>
                    </a:p>
                  </a:txBody>
                  <a:tcPr marL="56861" marR="56861" marT="28431" marB="28431" anchor="ctr">
                    <a:lnL w="9525" cap="flat" cmpd="sng" algn="ctr">
                      <a:solidFill>
                        <a:srgbClr val="004A7C"/>
                      </a:solidFill>
                      <a:prstDash val="solid"/>
                      <a:round/>
                      <a:headEnd type="none" w="med" len="med"/>
                      <a:tailEnd type="none" w="med" len="med"/>
                    </a:lnL>
                    <a:lnR w="9525" cap="flat" cmpd="sng" algn="ctr">
                      <a:solidFill>
                        <a:srgbClr val="004A7C"/>
                      </a:solidFill>
                      <a:prstDash val="solid"/>
                      <a:round/>
                      <a:headEnd type="none" w="med" len="med"/>
                      <a:tailEnd type="none" w="med" len="med"/>
                    </a:lnR>
                    <a:lnT>
                      <a:solidFill>
                        <a:srgbClr val="004A7C"/>
                      </a:solidFill>
                      <a:prstDash val="solid"/>
                    </a:lnT>
                    <a:lnB w="9525" cap="flat" cmpd="sng" algn="ctr">
                      <a:solidFill>
                        <a:srgbClr val="004A7C"/>
                      </a:solidFill>
                      <a:prstDash val="solid"/>
                      <a:round/>
                      <a:headEnd type="none" w="med" len="med"/>
                      <a:tailEnd type="none" w="med" len="med"/>
                    </a:lnB>
                    <a:solidFill>
                      <a:srgbClr val="004A7C"/>
                    </a:solidFill>
                  </a:tcPr>
                </a:tc>
                <a:tc>
                  <a:txBody>
                    <a:bodyPr/>
                    <a:lstStyle/>
                    <a:p>
                      <a:r>
                        <a:rPr lang="en-US" altLang="zh-CN" sz="1400" b="1" dirty="0">
                          <a:solidFill>
                            <a:srgbClr val="FFFFFF"/>
                          </a:solidFill>
                          <a:latin typeface="+mj-ea"/>
                          <a:ea typeface="+mj-ea"/>
                        </a:rPr>
                        <a:t>DJI</a:t>
                      </a:r>
                      <a:r>
                        <a:rPr lang="zh-CN" altLang="en-US" sz="1400" b="1" dirty="0">
                          <a:solidFill>
                            <a:srgbClr val="FFFFFF"/>
                          </a:solidFill>
                          <a:latin typeface="+mj-ea"/>
                          <a:ea typeface="+mj-ea"/>
                        </a:rPr>
                        <a:t>（例子）战略解读</a:t>
                      </a:r>
                    </a:p>
                  </a:txBody>
                  <a:tcPr marL="56861" marR="56861" marT="28431" marB="28431" anchor="ctr">
                    <a:lnL w="9525" cap="flat" cmpd="sng" algn="ctr">
                      <a:solidFill>
                        <a:srgbClr val="004A7C"/>
                      </a:solidFill>
                      <a:prstDash val="solid"/>
                      <a:round/>
                      <a:headEnd type="none" w="med" len="med"/>
                      <a:tailEnd type="none" w="med" len="med"/>
                    </a:lnL>
                    <a:lnR>
                      <a:solidFill>
                        <a:srgbClr val="004A7C"/>
                      </a:solidFill>
                      <a:prstDash val="solid"/>
                    </a:lnR>
                    <a:lnT>
                      <a:solidFill>
                        <a:srgbClr val="004A7C"/>
                      </a:solidFill>
                      <a:prstDash val="solid"/>
                    </a:lnT>
                    <a:lnB w="9525" cap="flat" cmpd="sng" algn="ctr">
                      <a:solidFill>
                        <a:srgbClr val="004A7C"/>
                      </a:solidFill>
                      <a:prstDash val="solid"/>
                      <a:round/>
                      <a:headEnd type="none" w="med" len="med"/>
                      <a:tailEnd type="none" w="med" len="med"/>
                    </a:lnB>
                    <a:solidFill>
                      <a:srgbClr val="004A7C"/>
                    </a:solidFill>
                  </a:tcPr>
                </a:tc>
                <a:extLst>
                  <a:ext uri="{0D108BD9-81ED-4DB2-BD59-A6C34878D82A}">
                    <a16:rowId xmlns:a16="http://schemas.microsoft.com/office/drawing/2014/main" val="1441922741"/>
                  </a:ext>
                </a:extLst>
              </a:tr>
              <a:tr h="1285676">
                <a:tc>
                  <a:txBody>
                    <a:bodyPr/>
                    <a:lstStyle/>
                    <a:p>
                      <a:r>
                        <a:rPr lang="zh-CN" altLang="en-US" sz="1400" b="1" dirty="0">
                          <a:solidFill>
                            <a:srgbClr val="000000"/>
                          </a:solidFill>
                          <a:latin typeface="+mj-ea"/>
                          <a:ea typeface="+mj-ea"/>
                        </a:rPr>
                        <a:t>定位学派 </a:t>
                      </a:r>
                      <a:r>
                        <a:rPr lang="en-US" altLang="zh-CN" sz="1400" b="1" dirty="0">
                          <a:solidFill>
                            <a:srgbClr val="000000"/>
                          </a:solidFill>
                          <a:latin typeface="+mj-ea"/>
                          <a:ea typeface="+mj-ea"/>
                        </a:rPr>
                        <a:t>(</a:t>
                      </a:r>
                      <a:r>
                        <a:rPr lang="en-US" sz="1400" b="1" dirty="0">
                          <a:solidFill>
                            <a:srgbClr val="000000"/>
                          </a:solidFill>
                          <a:latin typeface="+mj-ea"/>
                          <a:ea typeface="+mj-ea"/>
                        </a:rPr>
                        <a:t>Positioning School)</a:t>
                      </a:r>
                    </a:p>
                    <a:p>
                      <a:r>
                        <a:rPr lang="zh-CN" altLang="en-US" sz="1400" b="1" dirty="0">
                          <a:solidFill>
                            <a:srgbClr val="000000"/>
                          </a:solidFill>
                          <a:latin typeface="+mj-ea"/>
                          <a:ea typeface="+mj-ea"/>
                        </a:rPr>
                        <a:t>决定“在哪打”</a:t>
                      </a:r>
                      <a:endParaRPr lang="en-US" sz="1400" b="1" dirty="0">
                        <a:solidFill>
                          <a:srgbClr val="000000"/>
                        </a:solidFill>
                        <a:latin typeface="+mj-ea"/>
                        <a:ea typeface="+mj-ea"/>
                      </a:endParaRPr>
                    </a:p>
                  </a:txBody>
                  <a:tcPr marL="56861" marR="56861" marT="28431" marB="28431" anchor="ctr">
                    <a:lnL>
                      <a:solidFill>
                        <a:srgbClr val="004A7C"/>
                      </a:solidFill>
                      <a:prstDash val="solid"/>
                    </a:lnL>
                    <a:lnR>
                      <a:solidFill>
                        <a:srgbClr val="004A7C"/>
                      </a:solidFill>
                      <a:prstDash val="solid"/>
                    </a:lnR>
                    <a:lnT>
                      <a:solidFill>
                        <a:srgbClr val="004A7C"/>
                      </a:solidFill>
                      <a:prstDash val="solid"/>
                    </a:lnT>
                    <a:lnB>
                      <a:solidFill>
                        <a:srgbClr val="004A7C"/>
                      </a:solidFill>
                      <a:prstDash val="solid"/>
                    </a:lnB>
                    <a:solidFill>
                      <a:srgbClr val="CEDBE4"/>
                    </a:solidFill>
                  </a:tcPr>
                </a:tc>
                <a:tc>
                  <a:txBody>
                    <a:bodyPr/>
                    <a:lstStyle/>
                    <a:p>
                      <a:r>
                        <a:rPr lang="zh-CN" altLang="en-US" sz="1200" dirty="0">
                          <a:solidFill>
                            <a:schemeClr val="bg1"/>
                          </a:solidFill>
                          <a:latin typeface="+mj-ea"/>
                          <a:ea typeface="+mj-ea"/>
                        </a:rPr>
                        <a:t>选择有吸引力的赛道，并通过独特的活动系统建立防御性定位。</a:t>
                      </a:r>
                    </a:p>
                  </a:txBody>
                  <a:tcPr marL="56861" marR="56861" marT="28431" marB="28431" anchor="ctr">
                    <a:lnL w="9525" cap="flat" cmpd="sng" algn="ctr">
                      <a:solidFill>
                        <a:srgbClr val="004A7C"/>
                      </a:solidFill>
                      <a:prstDash val="solid"/>
                      <a:round/>
                      <a:headEnd type="none" w="med" len="med"/>
                      <a:tailEnd type="none" w="med" len="med"/>
                    </a:lnL>
                    <a:lnR w="9525" cap="flat" cmpd="sng" algn="ctr">
                      <a:solidFill>
                        <a:srgbClr val="004A7C"/>
                      </a:solidFill>
                      <a:prstDash val="solid"/>
                      <a:round/>
                      <a:headEnd type="none" w="med" len="med"/>
                      <a:tailEnd type="none" w="med" len="med"/>
                    </a:lnR>
                    <a:lnT w="9525" cap="flat" cmpd="sng" algn="ctr">
                      <a:solidFill>
                        <a:srgbClr val="004A7C"/>
                      </a:solidFill>
                      <a:prstDash val="solid"/>
                      <a:round/>
                      <a:headEnd type="none" w="med" len="med"/>
                      <a:tailEnd type="none" w="med" len="med"/>
                    </a:lnT>
                    <a:lnB w="9525" cap="flat" cmpd="sng" algn="ctr">
                      <a:solidFill>
                        <a:srgbClr val="004A7C"/>
                      </a:solidFill>
                      <a:prstDash val="solid"/>
                      <a:round/>
                      <a:headEnd type="none" w="med" len="med"/>
                      <a:tailEnd type="none" w="med" len="med"/>
                    </a:lnB>
                    <a:noFill/>
                  </a:tcPr>
                </a:tc>
                <a:tc>
                  <a:txBody>
                    <a:bodyPr/>
                    <a:lstStyle/>
                    <a:p>
                      <a:r>
                        <a:rPr lang="zh-CN" altLang="en-US" sz="1200" b="1" dirty="0">
                          <a:solidFill>
                            <a:schemeClr val="bg1"/>
                          </a:solidFill>
                          <a:latin typeface="+mj-ea"/>
                          <a:ea typeface="+mj-ea"/>
                        </a:rPr>
                        <a:t>阶段性市场定位：</a:t>
                      </a:r>
                      <a:r>
                        <a:rPr lang="zh-CN" altLang="en-US" sz="1200" dirty="0">
                          <a:solidFill>
                            <a:schemeClr val="bg1"/>
                          </a:solidFill>
                          <a:latin typeface="+mj-ea"/>
                          <a:ea typeface="+mj-ea"/>
                        </a:rPr>
                        <a:t> 从专业极客到消费级航拍，再到行业解决方案和空间智能平台。</a:t>
                      </a:r>
                      <a:br>
                        <a:rPr lang="zh-CN" altLang="en-US" sz="1200" dirty="0">
                          <a:solidFill>
                            <a:schemeClr val="bg1"/>
                          </a:solidFill>
                          <a:latin typeface="+mj-ea"/>
                          <a:ea typeface="+mj-ea"/>
                        </a:rPr>
                      </a:br>
                      <a:r>
                        <a:rPr lang="zh-CN" altLang="en-US" sz="1200" b="1" dirty="0">
                          <a:solidFill>
                            <a:schemeClr val="bg1"/>
                          </a:solidFill>
                          <a:latin typeface="+mj-ea"/>
                          <a:ea typeface="+mj-ea"/>
                        </a:rPr>
                        <a:t>差异化与成本领先结合：</a:t>
                      </a:r>
                      <a:r>
                        <a:rPr lang="zh-CN" altLang="en-US" sz="1200" dirty="0">
                          <a:solidFill>
                            <a:schemeClr val="bg1"/>
                          </a:solidFill>
                          <a:latin typeface="+mj-ea"/>
                          <a:ea typeface="+mj-ea"/>
                        </a:rPr>
                        <a:t> 通过技术整合和供应链控制，同时实现产品差异化和成本优势。</a:t>
                      </a:r>
                    </a:p>
                  </a:txBody>
                  <a:tcPr marL="56861" marR="56861" marT="28431" marB="28431" anchor="ctr">
                    <a:lnL w="9525" cap="flat" cmpd="sng" algn="ctr">
                      <a:solidFill>
                        <a:srgbClr val="004A7C"/>
                      </a:solidFill>
                      <a:prstDash val="solid"/>
                      <a:round/>
                      <a:headEnd type="none" w="med" len="med"/>
                      <a:tailEnd type="none" w="med" len="med"/>
                    </a:lnL>
                    <a:lnR>
                      <a:solidFill>
                        <a:srgbClr val="004A7C"/>
                      </a:solidFill>
                      <a:prstDash val="solid"/>
                    </a:lnR>
                    <a:lnT w="9525" cap="flat" cmpd="sng" algn="ctr">
                      <a:solidFill>
                        <a:srgbClr val="004A7C"/>
                      </a:solidFill>
                      <a:prstDash val="solid"/>
                      <a:round/>
                      <a:headEnd type="none" w="med" len="med"/>
                      <a:tailEnd type="none" w="med" len="med"/>
                    </a:lnT>
                    <a:lnB w="9525" cap="flat" cmpd="sng" algn="ctr">
                      <a:solidFill>
                        <a:srgbClr val="004A7C"/>
                      </a:solidFill>
                      <a:prstDash val="solid"/>
                      <a:round/>
                      <a:headEnd type="none" w="med" len="med"/>
                      <a:tailEnd type="none" w="med" len="med"/>
                    </a:lnB>
                    <a:noFill/>
                  </a:tcPr>
                </a:tc>
                <a:extLst>
                  <a:ext uri="{0D108BD9-81ED-4DB2-BD59-A6C34878D82A}">
                    <a16:rowId xmlns:a16="http://schemas.microsoft.com/office/drawing/2014/main" val="1107871944"/>
                  </a:ext>
                </a:extLst>
              </a:tr>
              <a:tr h="1131395">
                <a:tc>
                  <a:txBody>
                    <a:bodyPr/>
                    <a:lstStyle/>
                    <a:p>
                      <a:r>
                        <a:rPr lang="zh-CN" altLang="en-US" sz="1400" b="1" dirty="0">
                          <a:solidFill>
                            <a:srgbClr val="000000"/>
                          </a:solidFill>
                          <a:latin typeface="+mj-ea"/>
                          <a:ea typeface="+mj-ea"/>
                        </a:rPr>
                        <a:t>资源基础观 </a:t>
                      </a:r>
                      <a:r>
                        <a:rPr lang="en-US" altLang="zh-CN" sz="1400" b="1" dirty="0">
                          <a:solidFill>
                            <a:srgbClr val="000000"/>
                          </a:solidFill>
                          <a:latin typeface="+mj-ea"/>
                          <a:ea typeface="+mj-ea"/>
                        </a:rPr>
                        <a:t>(</a:t>
                      </a:r>
                      <a:r>
                        <a:rPr lang="en-US" sz="1400" b="1" dirty="0">
                          <a:solidFill>
                            <a:srgbClr val="000000"/>
                          </a:solidFill>
                          <a:latin typeface="+mj-ea"/>
                          <a:ea typeface="+mj-ea"/>
                        </a:rPr>
                        <a:t>Resource-Based View, RBV)</a:t>
                      </a:r>
                    </a:p>
                    <a:p>
                      <a:r>
                        <a:rPr lang="zh-CN" altLang="en-US" sz="1400" b="1" dirty="0">
                          <a:solidFill>
                            <a:srgbClr val="000000"/>
                          </a:solidFill>
                          <a:latin typeface="+mj-ea"/>
                          <a:ea typeface="+mj-ea"/>
                        </a:rPr>
                        <a:t>决定凭什么赢</a:t>
                      </a:r>
                      <a:endParaRPr lang="en-US" sz="1400" b="1" dirty="0">
                        <a:solidFill>
                          <a:srgbClr val="000000"/>
                        </a:solidFill>
                        <a:latin typeface="+mj-ea"/>
                        <a:ea typeface="+mj-ea"/>
                      </a:endParaRPr>
                    </a:p>
                  </a:txBody>
                  <a:tcPr marL="56861" marR="56861" marT="28431" marB="28431" anchor="ctr">
                    <a:lnL>
                      <a:solidFill>
                        <a:srgbClr val="004A7C"/>
                      </a:solidFill>
                      <a:prstDash val="solid"/>
                    </a:lnL>
                    <a:lnR>
                      <a:solidFill>
                        <a:srgbClr val="004A7C"/>
                      </a:solidFill>
                      <a:prstDash val="solid"/>
                    </a:lnR>
                    <a:lnT>
                      <a:solidFill>
                        <a:srgbClr val="004A7C"/>
                      </a:solidFill>
                      <a:prstDash val="solid"/>
                    </a:lnT>
                    <a:lnB>
                      <a:solidFill>
                        <a:srgbClr val="004A7C"/>
                      </a:solidFill>
                      <a:prstDash val="solid"/>
                    </a:lnB>
                    <a:solidFill>
                      <a:srgbClr val="CEDBE4"/>
                    </a:solidFill>
                  </a:tcPr>
                </a:tc>
                <a:tc>
                  <a:txBody>
                    <a:bodyPr/>
                    <a:lstStyle/>
                    <a:p>
                      <a:r>
                        <a:rPr lang="zh-CN" altLang="en-US" sz="1200">
                          <a:solidFill>
                            <a:schemeClr val="bg1"/>
                          </a:solidFill>
                          <a:latin typeface="+mj-ea"/>
                          <a:ea typeface="+mj-ea"/>
                        </a:rPr>
                        <a:t>识别、培育并有效利用那些有价值、稀缺、难以模仿且组织得当的内部资源。</a:t>
                      </a:r>
                    </a:p>
                  </a:txBody>
                  <a:tcPr marL="56861" marR="56861" marT="28431" marB="28431" anchor="ctr">
                    <a:lnL w="9525" cap="flat" cmpd="sng" algn="ctr">
                      <a:solidFill>
                        <a:srgbClr val="004A7C"/>
                      </a:solidFill>
                      <a:prstDash val="solid"/>
                      <a:round/>
                      <a:headEnd type="none" w="med" len="med"/>
                      <a:tailEnd type="none" w="med" len="med"/>
                    </a:lnL>
                    <a:lnR w="9525" cap="flat" cmpd="sng" algn="ctr">
                      <a:solidFill>
                        <a:srgbClr val="004A7C"/>
                      </a:solidFill>
                      <a:prstDash val="solid"/>
                      <a:round/>
                      <a:headEnd type="none" w="med" len="med"/>
                      <a:tailEnd type="none" w="med" len="med"/>
                    </a:lnR>
                    <a:lnT w="9525" cap="flat" cmpd="sng" algn="ctr">
                      <a:solidFill>
                        <a:srgbClr val="004A7C"/>
                      </a:solidFill>
                      <a:prstDash val="solid"/>
                      <a:round/>
                      <a:headEnd type="none" w="med" len="med"/>
                      <a:tailEnd type="none" w="med" len="med"/>
                    </a:lnT>
                    <a:lnB w="9525" cap="flat" cmpd="sng" algn="ctr">
                      <a:solidFill>
                        <a:srgbClr val="004A7C"/>
                      </a:solidFill>
                      <a:prstDash val="solid"/>
                      <a:round/>
                      <a:headEnd type="none" w="med" len="med"/>
                      <a:tailEnd type="none" w="med" len="med"/>
                    </a:lnB>
                    <a:noFill/>
                  </a:tcPr>
                </a:tc>
                <a:tc>
                  <a:txBody>
                    <a:bodyPr/>
                    <a:lstStyle/>
                    <a:p>
                      <a:r>
                        <a:rPr lang="en-US" altLang="zh-CN" sz="1200" b="1" dirty="0">
                          <a:solidFill>
                            <a:schemeClr val="bg1"/>
                          </a:solidFill>
                          <a:latin typeface="+mj-ea"/>
                          <a:ea typeface="+mj-ea"/>
                        </a:rPr>
                        <a:t>VRIN </a:t>
                      </a:r>
                      <a:r>
                        <a:rPr lang="zh-CN" altLang="en-US" sz="1200" b="1" dirty="0">
                          <a:solidFill>
                            <a:schemeClr val="bg1"/>
                          </a:solidFill>
                          <a:latin typeface="+mj-ea"/>
                          <a:ea typeface="+mj-ea"/>
                        </a:rPr>
                        <a:t>资源：</a:t>
                      </a:r>
                      <a:r>
                        <a:rPr lang="zh-CN" altLang="en-US" sz="1200" dirty="0">
                          <a:solidFill>
                            <a:schemeClr val="bg1"/>
                          </a:solidFill>
                          <a:latin typeface="+mj-ea"/>
                          <a:ea typeface="+mj-ea"/>
                        </a:rPr>
                        <a:t> 核心的</a:t>
                      </a:r>
                      <a:r>
                        <a:rPr lang="en-US" altLang="zh-CN" sz="1200" dirty="0">
                          <a:solidFill>
                            <a:schemeClr val="bg1"/>
                          </a:solidFill>
                          <a:latin typeface="+mj-ea"/>
                          <a:ea typeface="+mj-ea"/>
                        </a:rPr>
                        <a:t>AI</a:t>
                      </a:r>
                      <a:r>
                        <a:rPr lang="zh-CN" altLang="en-US" sz="1200" dirty="0">
                          <a:solidFill>
                            <a:schemeClr val="bg1"/>
                          </a:solidFill>
                          <a:latin typeface="+mj-ea"/>
                          <a:ea typeface="+mj-ea"/>
                        </a:rPr>
                        <a:t>算法、技术专利组合、强大的研发文化。</a:t>
                      </a:r>
                      <a:br>
                        <a:rPr lang="zh-CN" altLang="en-US" sz="1200" dirty="0">
                          <a:solidFill>
                            <a:schemeClr val="bg1"/>
                          </a:solidFill>
                          <a:latin typeface="+mj-ea"/>
                          <a:ea typeface="+mj-ea"/>
                        </a:rPr>
                      </a:br>
                      <a:r>
                        <a:rPr lang="zh-CN" altLang="en-US" sz="1200" b="1" dirty="0">
                          <a:solidFill>
                            <a:schemeClr val="bg1"/>
                          </a:solidFill>
                          <a:latin typeface="+mj-ea"/>
                          <a:ea typeface="+mj-ea"/>
                        </a:rPr>
                        <a:t>创新飞轮：</a:t>
                      </a:r>
                      <a:r>
                        <a:rPr lang="zh-CN" altLang="en-US" sz="1200" dirty="0">
                          <a:solidFill>
                            <a:schemeClr val="bg1"/>
                          </a:solidFill>
                          <a:latin typeface="+mj-ea"/>
                          <a:ea typeface="+mj-ea"/>
                        </a:rPr>
                        <a:t> 形成“研发→专利→产品→数据→再研发”的闭环，持续强化核心资源。</a:t>
                      </a:r>
                    </a:p>
                  </a:txBody>
                  <a:tcPr marL="56861" marR="56861" marT="28431" marB="28431" anchor="ctr">
                    <a:lnL w="9525" cap="flat" cmpd="sng" algn="ctr">
                      <a:solidFill>
                        <a:srgbClr val="004A7C"/>
                      </a:solidFill>
                      <a:prstDash val="solid"/>
                      <a:round/>
                      <a:headEnd type="none" w="med" len="med"/>
                      <a:tailEnd type="none" w="med" len="med"/>
                    </a:lnL>
                    <a:lnR>
                      <a:solidFill>
                        <a:srgbClr val="004A7C"/>
                      </a:solidFill>
                      <a:prstDash val="solid"/>
                    </a:lnR>
                    <a:lnT w="9525" cap="flat" cmpd="sng" algn="ctr">
                      <a:solidFill>
                        <a:srgbClr val="004A7C"/>
                      </a:solidFill>
                      <a:prstDash val="solid"/>
                      <a:round/>
                      <a:headEnd type="none" w="med" len="med"/>
                      <a:tailEnd type="none" w="med" len="med"/>
                    </a:lnT>
                    <a:lnB w="9525" cap="flat" cmpd="sng" algn="ctr">
                      <a:solidFill>
                        <a:srgbClr val="004A7C"/>
                      </a:solidFill>
                      <a:prstDash val="solid"/>
                      <a:round/>
                      <a:headEnd type="none" w="med" len="med"/>
                      <a:tailEnd type="none" w="med" len="med"/>
                    </a:lnB>
                    <a:noFill/>
                  </a:tcPr>
                </a:tc>
                <a:extLst>
                  <a:ext uri="{0D108BD9-81ED-4DB2-BD59-A6C34878D82A}">
                    <a16:rowId xmlns:a16="http://schemas.microsoft.com/office/drawing/2014/main" val="1013678235"/>
                  </a:ext>
                </a:extLst>
              </a:tr>
              <a:tr h="1902800">
                <a:tc>
                  <a:txBody>
                    <a:bodyPr/>
                    <a:lstStyle/>
                    <a:p>
                      <a:r>
                        <a:rPr lang="zh-CN" altLang="en-US" sz="1400" b="1" dirty="0">
                          <a:solidFill>
                            <a:srgbClr val="000000"/>
                          </a:solidFill>
                          <a:latin typeface="+mj-ea"/>
                          <a:ea typeface="+mj-ea"/>
                        </a:rPr>
                        <a:t>成长矩阵 </a:t>
                      </a:r>
                      <a:r>
                        <a:rPr lang="en-US" altLang="zh-CN" sz="1400" b="1" dirty="0">
                          <a:solidFill>
                            <a:srgbClr val="000000"/>
                          </a:solidFill>
                          <a:latin typeface="+mj-ea"/>
                          <a:ea typeface="+mj-ea"/>
                        </a:rPr>
                        <a:t>(</a:t>
                      </a:r>
                      <a:r>
                        <a:rPr lang="en-US" sz="1400" b="1" dirty="0">
                          <a:solidFill>
                            <a:srgbClr val="000000"/>
                          </a:solidFill>
                          <a:latin typeface="+mj-ea"/>
                          <a:ea typeface="+mj-ea"/>
                        </a:rPr>
                        <a:t>Ansoff Matrix)</a:t>
                      </a:r>
                    </a:p>
                    <a:p>
                      <a:r>
                        <a:rPr lang="zh-CN" altLang="en-US" sz="1400" b="1" dirty="0">
                          <a:solidFill>
                            <a:srgbClr val="000000"/>
                          </a:solidFill>
                          <a:latin typeface="+mj-ea"/>
                          <a:ea typeface="+mj-ea"/>
                        </a:rPr>
                        <a:t>决定如何推进</a:t>
                      </a:r>
                      <a:endParaRPr lang="en-US" sz="1400" b="1" dirty="0">
                        <a:solidFill>
                          <a:srgbClr val="000000"/>
                        </a:solidFill>
                        <a:latin typeface="+mj-ea"/>
                        <a:ea typeface="+mj-ea"/>
                      </a:endParaRPr>
                    </a:p>
                  </a:txBody>
                  <a:tcPr marL="56861" marR="56861" marT="28431" marB="28431" anchor="ctr">
                    <a:lnL>
                      <a:solidFill>
                        <a:srgbClr val="004A7C"/>
                      </a:solidFill>
                      <a:prstDash val="solid"/>
                    </a:lnL>
                    <a:lnR>
                      <a:solidFill>
                        <a:srgbClr val="004A7C"/>
                      </a:solidFill>
                      <a:prstDash val="solid"/>
                    </a:lnR>
                    <a:lnT>
                      <a:solidFill>
                        <a:srgbClr val="004A7C"/>
                      </a:solidFill>
                      <a:prstDash val="solid"/>
                    </a:lnT>
                    <a:lnB>
                      <a:solidFill>
                        <a:srgbClr val="004A7C"/>
                      </a:solidFill>
                      <a:prstDash val="solid"/>
                    </a:lnB>
                    <a:solidFill>
                      <a:srgbClr val="CEDBE4"/>
                    </a:solidFill>
                  </a:tcPr>
                </a:tc>
                <a:tc>
                  <a:txBody>
                    <a:bodyPr/>
                    <a:lstStyle/>
                    <a:p>
                      <a:r>
                        <a:rPr lang="zh-CN" altLang="en-US" sz="1200" dirty="0">
                          <a:solidFill>
                            <a:schemeClr val="bg1"/>
                          </a:solidFill>
                          <a:latin typeface="+mj-ea"/>
                          <a:ea typeface="+mj-ea"/>
                        </a:rPr>
                        <a:t>系统规划增长路径，平衡现有市场渗透与新兴市场</a:t>
                      </a:r>
                      <a:r>
                        <a:rPr lang="en-US" altLang="zh-CN" sz="1200" dirty="0">
                          <a:solidFill>
                            <a:schemeClr val="bg1"/>
                          </a:solidFill>
                          <a:latin typeface="+mj-ea"/>
                          <a:ea typeface="+mj-ea"/>
                        </a:rPr>
                        <a:t>/</a:t>
                      </a:r>
                      <a:r>
                        <a:rPr lang="zh-CN" altLang="en-US" sz="1200" dirty="0">
                          <a:solidFill>
                            <a:schemeClr val="bg1"/>
                          </a:solidFill>
                          <a:latin typeface="+mj-ea"/>
                          <a:ea typeface="+mj-ea"/>
                        </a:rPr>
                        <a:t>产品开拓的风险。</a:t>
                      </a:r>
                    </a:p>
                  </a:txBody>
                  <a:tcPr marL="56861" marR="56861" marT="28431" marB="28431" anchor="ctr">
                    <a:lnL w="9525" cap="flat" cmpd="sng" algn="ctr">
                      <a:solidFill>
                        <a:srgbClr val="004A7C"/>
                      </a:solidFill>
                      <a:prstDash val="solid"/>
                      <a:round/>
                      <a:headEnd type="none" w="med" len="med"/>
                      <a:tailEnd type="none" w="med" len="med"/>
                    </a:lnL>
                    <a:lnR w="9525" cap="flat" cmpd="sng" algn="ctr">
                      <a:solidFill>
                        <a:srgbClr val="004A7C"/>
                      </a:solidFill>
                      <a:prstDash val="solid"/>
                      <a:round/>
                      <a:headEnd type="none" w="med" len="med"/>
                      <a:tailEnd type="none" w="med" len="med"/>
                    </a:lnR>
                    <a:lnT w="9525" cap="flat" cmpd="sng" algn="ctr">
                      <a:solidFill>
                        <a:srgbClr val="004A7C"/>
                      </a:solidFill>
                      <a:prstDash val="solid"/>
                      <a:round/>
                      <a:headEnd type="none" w="med" len="med"/>
                      <a:tailEnd type="none" w="med" len="med"/>
                    </a:lnT>
                    <a:lnB>
                      <a:solidFill>
                        <a:srgbClr val="004A7C"/>
                      </a:solidFill>
                      <a:prstDash val="solid"/>
                    </a:lnB>
                    <a:noFill/>
                  </a:tcPr>
                </a:tc>
                <a:tc>
                  <a:txBody>
                    <a:bodyPr/>
                    <a:lstStyle/>
                    <a:p>
                      <a:r>
                        <a:rPr lang="zh-CN" altLang="en-US" sz="1200" b="1" dirty="0">
                          <a:solidFill>
                            <a:schemeClr val="bg1"/>
                          </a:solidFill>
                          <a:latin typeface="+mj-ea"/>
                          <a:ea typeface="+mj-ea"/>
                        </a:rPr>
                        <a:t>产品开发：</a:t>
                      </a:r>
                      <a:r>
                        <a:rPr lang="zh-CN" altLang="en-US" sz="1200" dirty="0">
                          <a:solidFill>
                            <a:schemeClr val="bg1"/>
                          </a:solidFill>
                          <a:latin typeface="+mj-ea"/>
                          <a:ea typeface="+mj-ea"/>
                        </a:rPr>
                        <a:t> 在消费级市场推出</a:t>
                      </a:r>
                      <a:r>
                        <a:rPr lang="en-US" altLang="zh-CN" sz="1200" dirty="0">
                          <a:solidFill>
                            <a:schemeClr val="bg1"/>
                          </a:solidFill>
                          <a:latin typeface="+mj-ea"/>
                          <a:ea typeface="+mj-ea"/>
                        </a:rPr>
                        <a:t>Phantom, Mavic, Inspire</a:t>
                      </a:r>
                      <a:r>
                        <a:rPr lang="zh-CN" altLang="en-US" sz="1200" dirty="0">
                          <a:solidFill>
                            <a:schemeClr val="bg1"/>
                          </a:solidFill>
                          <a:latin typeface="+mj-ea"/>
                          <a:ea typeface="+mj-ea"/>
                        </a:rPr>
                        <a:t>等系列产品，迭代升级。</a:t>
                      </a:r>
                      <a:br>
                        <a:rPr lang="zh-CN" altLang="en-US" sz="1200" dirty="0">
                          <a:solidFill>
                            <a:schemeClr val="bg1"/>
                          </a:solidFill>
                          <a:latin typeface="+mj-ea"/>
                          <a:ea typeface="+mj-ea"/>
                        </a:rPr>
                      </a:br>
                      <a:r>
                        <a:rPr lang="zh-CN" altLang="en-US" sz="1200" b="1" dirty="0">
                          <a:solidFill>
                            <a:schemeClr val="bg1"/>
                          </a:solidFill>
                          <a:latin typeface="+mj-ea"/>
                          <a:ea typeface="+mj-ea"/>
                        </a:rPr>
                        <a:t>市场开发：</a:t>
                      </a:r>
                      <a:r>
                        <a:rPr lang="zh-CN" altLang="en-US" sz="1200" dirty="0">
                          <a:solidFill>
                            <a:schemeClr val="bg1"/>
                          </a:solidFill>
                          <a:latin typeface="+mj-ea"/>
                          <a:ea typeface="+mj-ea"/>
                        </a:rPr>
                        <a:t> 从北美市场起步，拓展至全球市场；从航拍到农业、测绘等行业应用。</a:t>
                      </a:r>
                      <a:br>
                        <a:rPr lang="zh-CN" altLang="en-US" sz="1200" dirty="0">
                          <a:solidFill>
                            <a:schemeClr val="bg1"/>
                          </a:solidFill>
                          <a:latin typeface="+mj-ea"/>
                          <a:ea typeface="+mj-ea"/>
                        </a:rPr>
                      </a:br>
                      <a:r>
                        <a:rPr lang="zh-CN" altLang="en-US" sz="1200" b="1" dirty="0">
                          <a:solidFill>
                            <a:schemeClr val="bg1"/>
                          </a:solidFill>
                          <a:latin typeface="+mj-ea"/>
                          <a:ea typeface="+mj-ea"/>
                        </a:rPr>
                        <a:t>多元化：</a:t>
                      </a:r>
                      <a:r>
                        <a:rPr lang="zh-CN" altLang="en-US" sz="1200" dirty="0">
                          <a:solidFill>
                            <a:schemeClr val="bg1"/>
                          </a:solidFill>
                          <a:latin typeface="+mj-ea"/>
                          <a:ea typeface="+mj-ea"/>
                        </a:rPr>
                        <a:t> 进军手持云台、教育机器人、运载无人机（如</a:t>
                      </a:r>
                      <a:r>
                        <a:rPr lang="en-US" altLang="zh-CN" sz="1200" dirty="0" err="1">
                          <a:solidFill>
                            <a:schemeClr val="bg1"/>
                          </a:solidFill>
                          <a:latin typeface="+mj-ea"/>
                          <a:ea typeface="+mj-ea"/>
                        </a:rPr>
                        <a:t>FlyCart</a:t>
                      </a:r>
                      <a:r>
                        <a:rPr lang="en-US" altLang="zh-CN" sz="1200" dirty="0">
                          <a:solidFill>
                            <a:schemeClr val="bg1"/>
                          </a:solidFill>
                          <a:latin typeface="+mj-ea"/>
                          <a:ea typeface="+mj-ea"/>
                        </a:rPr>
                        <a:t> 100</a:t>
                      </a:r>
                      <a:r>
                        <a:rPr lang="zh-CN" altLang="en-US" sz="1200" dirty="0">
                          <a:solidFill>
                            <a:schemeClr val="bg1"/>
                          </a:solidFill>
                          <a:latin typeface="+mj-ea"/>
                          <a:ea typeface="+mj-ea"/>
                        </a:rPr>
                        <a:t>）、具身智能机器人等领域。</a:t>
                      </a:r>
                    </a:p>
                  </a:txBody>
                  <a:tcPr marL="56861" marR="56861" marT="28431" marB="28431" anchor="ctr">
                    <a:lnL w="9525" cap="flat" cmpd="sng" algn="ctr">
                      <a:solidFill>
                        <a:srgbClr val="004A7C"/>
                      </a:solidFill>
                      <a:prstDash val="solid"/>
                      <a:round/>
                      <a:headEnd type="none" w="med" len="med"/>
                      <a:tailEnd type="none" w="med" len="med"/>
                    </a:lnL>
                    <a:lnR>
                      <a:solidFill>
                        <a:srgbClr val="004A7C"/>
                      </a:solidFill>
                      <a:prstDash val="solid"/>
                    </a:lnR>
                    <a:lnT w="9525" cap="flat" cmpd="sng" algn="ctr">
                      <a:solidFill>
                        <a:srgbClr val="004A7C"/>
                      </a:solidFill>
                      <a:prstDash val="solid"/>
                      <a:round/>
                      <a:headEnd type="none" w="med" len="med"/>
                      <a:tailEnd type="none" w="med" len="med"/>
                    </a:lnT>
                    <a:lnB>
                      <a:solidFill>
                        <a:srgbClr val="004A7C"/>
                      </a:solidFill>
                      <a:prstDash val="solid"/>
                    </a:lnB>
                    <a:noFill/>
                  </a:tcPr>
                </a:tc>
                <a:extLst>
                  <a:ext uri="{0D108BD9-81ED-4DB2-BD59-A6C34878D82A}">
                    <a16:rowId xmlns:a16="http://schemas.microsoft.com/office/drawing/2014/main" val="550769805"/>
                  </a:ext>
                </a:extLst>
              </a:tr>
            </a:tbl>
          </a:graphicData>
        </a:graphic>
      </p:graphicFrame>
      <p:sp>
        <p:nvSpPr>
          <p:cNvPr id="6" name="文本框 5">
            <a:extLst>
              <a:ext uri="{FF2B5EF4-FFF2-40B4-BE49-F238E27FC236}">
                <a16:creationId xmlns:a16="http://schemas.microsoft.com/office/drawing/2014/main" id="{2F4BD7C7-5D90-D1FF-1AB9-8247E604EC21}"/>
              </a:ext>
            </a:extLst>
          </p:cNvPr>
          <p:cNvSpPr txBox="1"/>
          <p:nvPr/>
        </p:nvSpPr>
        <p:spPr>
          <a:xfrm>
            <a:off x="1541437" y="5702021"/>
            <a:ext cx="9109126"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战略内核： 技术领先</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竞争方式： 差异化为主，成本优势为辅的混合战略</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增长路径： 产品深化 </a:t>
            </a:r>
            <a:r>
              <a:rPr kumimoji="0" lang="en-US" altLang="zh-CN"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 </a:t>
            </a:r>
            <a:r>
              <a:rPr kumimoji="0" lang="zh-CN" altLang="en-US"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市场拓展 </a:t>
            </a:r>
            <a:r>
              <a:rPr kumimoji="0" lang="en-US" altLang="zh-CN"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 </a:t>
            </a:r>
            <a:r>
              <a:rPr kumimoji="0" lang="zh-CN" altLang="en-US"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生态构建</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防御壁垒： 专利、品牌、规模经济和系统生态</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6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Tree>
    <p:extLst>
      <p:ext uri="{BB962C8B-B14F-4D97-AF65-F5344CB8AC3E}">
        <p14:creationId xmlns:p14="http://schemas.microsoft.com/office/powerpoint/2010/main" val="374759278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65B07093-7CB8-A0F3-F11F-DC5819ABB47D}"/>
              </a:ext>
            </a:extLst>
          </p:cNvPr>
          <p:cNvSpPr>
            <a:spLocks noGrp="1"/>
          </p:cNvSpPr>
          <p:nvPr>
            <p:ph type="title"/>
          </p:nvPr>
        </p:nvSpPr>
        <p:spPr/>
        <p:txBody>
          <a:bodyPr/>
          <a:lstStyle/>
          <a:p>
            <a:r>
              <a:rPr lang="zh-CN" altLang="en-US" dirty="0"/>
              <a:t>各职能需要具备的</a:t>
            </a:r>
            <a:r>
              <a:rPr lang="en-US" altLang="zh-CN" dirty="0"/>
              <a:t>to-be</a:t>
            </a:r>
            <a:r>
              <a:rPr lang="zh-CN" altLang="en-US" dirty="0"/>
              <a:t>能力以支撑战略</a:t>
            </a:r>
          </a:p>
        </p:txBody>
      </p:sp>
      <p:graphicFrame>
        <p:nvGraphicFramePr>
          <p:cNvPr id="3" name="表格 2">
            <a:extLst>
              <a:ext uri="{FF2B5EF4-FFF2-40B4-BE49-F238E27FC236}">
                <a16:creationId xmlns:a16="http://schemas.microsoft.com/office/drawing/2014/main" id="{5DFE39C6-2C1C-D902-5443-433981E72EB3}"/>
              </a:ext>
            </a:extLst>
          </p:cNvPr>
          <p:cNvGraphicFramePr>
            <a:graphicFrameLocks noGrp="1"/>
          </p:cNvGraphicFramePr>
          <p:nvPr>
            <p:extLst>
              <p:ext uri="{D42A27DB-BD31-4B8C-83A1-F6EECF244321}">
                <p14:modId xmlns:p14="http://schemas.microsoft.com/office/powerpoint/2010/main" val="2943838430"/>
              </p:ext>
            </p:extLst>
          </p:nvPr>
        </p:nvGraphicFramePr>
        <p:xfrm>
          <a:off x="978765" y="799081"/>
          <a:ext cx="10442715" cy="5871884"/>
        </p:xfrm>
        <a:graphic>
          <a:graphicData uri="http://schemas.openxmlformats.org/drawingml/2006/table">
            <a:tbl>
              <a:tblPr/>
              <a:tblGrid>
                <a:gridCol w="1805839">
                  <a:extLst>
                    <a:ext uri="{9D8B030D-6E8A-4147-A177-3AD203B41FA5}">
                      <a16:colId xmlns:a16="http://schemas.microsoft.com/office/drawing/2014/main" val="3744947333"/>
                    </a:ext>
                  </a:extLst>
                </a:gridCol>
                <a:gridCol w="4006637">
                  <a:extLst>
                    <a:ext uri="{9D8B030D-6E8A-4147-A177-3AD203B41FA5}">
                      <a16:colId xmlns:a16="http://schemas.microsoft.com/office/drawing/2014/main" val="400410687"/>
                    </a:ext>
                  </a:extLst>
                </a:gridCol>
                <a:gridCol w="4630239">
                  <a:extLst>
                    <a:ext uri="{9D8B030D-6E8A-4147-A177-3AD203B41FA5}">
                      <a16:colId xmlns:a16="http://schemas.microsoft.com/office/drawing/2014/main" val="1067123392"/>
                    </a:ext>
                  </a:extLst>
                </a:gridCol>
              </a:tblGrid>
              <a:tr h="141631">
                <a:tc>
                  <a:txBody>
                    <a:bodyPr/>
                    <a:lstStyle/>
                    <a:p>
                      <a:pPr algn="l" fontAlgn="base" latinLnBrk="0"/>
                      <a:r>
                        <a:rPr lang="zh-CN" altLang="en-US" sz="1200" b="1" dirty="0">
                          <a:solidFill>
                            <a:srgbClr val="FFFFFF"/>
                          </a:solidFill>
                          <a:effectLst/>
                          <a:latin typeface="+mj-ea"/>
                          <a:ea typeface="+mj-ea"/>
                        </a:rPr>
                        <a:t>核心职能</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algn="l" fontAlgn="base" latinLnBrk="0"/>
                      <a:r>
                        <a:rPr lang="zh-CN" altLang="en-US" sz="1200" b="1">
                          <a:solidFill>
                            <a:srgbClr val="FFFFFF"/>
                          </a:solidFill>
                          <a:effectLst/>
                          <a:latin typeface="+mj-ea"/>
                          <a:ea typeface="+mj-ea"/>
                        </a:rPr>
                        <a:t>战略使命</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algn="l" fontAlgn="base" latinLnBrk="0"/>
                      <a:r>
                        <a:rPr lang="zh-CN" altLang="en-US" sz="1200" b="1">
                          <a:solidFill>
                            <a:srgbClr val="FFFFFF"/>
                          </a:solidFill>
                          <a:effectLst/>
                          <a:latin typeface="+mj-ea"/>
                          <a:ea typeface="+mj-ea"/>
                        </a:rPr>
                        <a:t>关键任务与能力要求</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extLst>
                  <a:ext uri="{0D108BD9-81ED-4DB2-BD59-A6C34878D82A}">
                    <a16:rowId xmlns:a16="http://schemas.microsoft.com/office/drawing/2014/main" val="1171601047"/>
                  </a:ext>
                </a:extLst>
              </a:tr>
              <a:tr h="531812">
                <a:tc>
                  <a:txBody>
                    <a:bodyPr/>
                    <a:lstStyle/>
                    <a:p>
                      <a:pPr algn="l" fontAlgn="base" latinLnBrk="0"/>
                      <a:r>
                        <a:rPr lang="zh-CN" altLang="en-US" sz="1200" b="1" dirty="0">
                          <a:solidFill>
                            <a:srgbClr val="000000"/>
                          </a:solidFill>
                          <a:effectLst/>
                          <a:latin typeface="+mj-ea"/>
                          <a:ea typeface="+mj-ea"/>
                        </a:rPr>
                        <a:t>​研发与产业化​</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200" dirty="0">
                          <a:solidFill>
                            <a:schemeClr val="bg1"/>
                          </a:solidFill>
                          <a:effectLst/>
                          <a:latin typeface="+mj-ea"/>
                          <a:ea typeface="+mj-ea"/>
                        </a:rPr>
                        <a:t>​</a:t>
                      </a:r>
                      <a:r>
                        <a:rPr lang="zh-CN" altLang="en-US" sz="1200" b="1" dirty="0">
                          <a:solidFill>
                            <a:schemeClr val="bg1"/>
                          </a:solidFill>
                          <a:effectLst/>
                          <a:latin typeface="+mj-ea"/>
                          <a:ea typeface="+mj-ea"/>
                        </a:rPr>
                        <a:t>构筑并持续强化技术领先的绝对壁垒</a:t>
                      </a:r>
                      <a:r>
                        <a:rPr lang="zh-CN" altLang="en-US" sz="1200" dirty="0">
                          <a:solidFill>
                            <a:schemeClr val="bg1"/>
                          </a:solidFill>
                          <a:effectLst/>
                          <a:latin typeface="+mj-ea"/>
                          <a:ea typeface="+mj-ea"/>
                        </a:rPr>
                        <a:t>​</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en-US" altLang="zh-CN" sz="1200" dirty="0">
                          <a:solidFill>
                            <a:schemeClr val="bg1"/>
                          </a:solidFill>
                          <a:effectLst/>
                          <a:latin typeface="+mj-ea"/>
                          <a:ea typeface="+mj-ea"/>
                        </a:rPr>
                        <a:t>• </a:t>
                      </a:r>
                      <a:r>
                        <a:rPr lang="zh-CN" altLang="en-US" sz="1200" dirty="0">
                          <a:solidFill>
                            <a:schemeClr val="bg1"/>
                          </a:solidFill>
                          <a:effectLst/>
                          <a:latin typeface="+mj-ea"/>
                          <a:ea typeface="+mj-ea"/>
                        </a:rPr>
                        <a:t>攻坚</a:t>
                      </a:r>
                      <a:r>
                        <a:rPr lang="en-US" altLang="zh-CN" sz="1200" dirty="0">
                          <a:solidFill>
                            <a:schemeClr val="bg1"/>
                          </a:solidFill>
                          <a:effectLst/>
                          <a:latin typeface="+mj-ea"/>
                          <a:ea typeface="+mj-ea"/>
                        </a:rPr>
                        <a:t>VRIN</a:t>
                      </a:r>
                      <a:r>
                        <a:rPr lang="zh-CN" altLang="en-US" sz="1200" dirty="0">
                          <a:solidFill>
                            <a:schemeClr val="bg1"/>
                          </a:solidFill>
                          <a:effectLst/>
                          <a:latin typeface="+mj-ea"/>
                          <a:ea typeface="+mj-ea"/>
                        </a:rPr>
                        <a:t>资源，构建专利组合。</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dirty="0">
                          <a:solidFill>
                            <a:schemeClr val="bg1"/>
                          </a:solidFill>
                          <a:effectLst/>
                          <a:latin typeface="+mj-ea"/>
                          <a:ea typeface="+mj-ea"/>
                        </a:rPr>
                        <a:t>驱动“创新飞轮”，实现技术产品化。</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dirty="0">
                          <a:solidFill>
                            <a:schemeClr val="bg1"/>
                          </a:solidFill>
                          <a:effectLst/>
                          <a:latin typeface="+mj-ea"/>
                          <a:ea typeface="+mj-ea"/>
                        </a:rPr>
                        <a:t>设计为制造与成本服务（</a:t>
                      </a:r>
                      <a:r>
                        <a:rPr lang="en-US" altLang="zh-CN" sz="1200" dirty="0">
                          <a:solidFill>
                            <a:schemeClr val="bg1"/>
                          </a:solidFill>
                          <a:effectLst/>
                          <a:latin typeface="+mj-ea"/>
                          <a:ea typeface="+mj-ea"/>
                        </a:rPr>
                        <a:t>DFM/DFA</a:t>
                      </a:r>
                      <a:r>
                        <a:rPr lang="zh-CN" altLang="en-US" sz="1200" dirty="0">
                          <a:solidFill>
                            <a:schemeClr val="bg1"/>
                          </a:solidFill>
                          <a:effectLst/>
                          <a:latin typeface="+mj-ea"/>
                          <a:ea typeface="+mj-ea"/>
                        </a:rPr>
                        <a:t>）。</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80146339"/>
                  </a:ext>
                </a:extLst>
              </a:tr>
              <a:tr h="531812">
                <a:tc>
                  <a:txBody>
                    <a:bodyPr/>
                    <a:lstStyle/>
                    <a:p>
                      <a:pPr algn="l" fontAlgn="base" latinLnBrk="0"/>
                      <a:r>
                        <a:rPr lang="zh-CN" altLang="en-US" sz="1200" b="1">
                          <a:solidFill>
                            <a:srgbClr val="000000"/>
                          </a:solidFill>
                          <a:effectLst/>
                          <a:latin typeface="+mj-ea"/>
                          <a:ea typeface="+mj-ea"/>
                        </a:rPr>
                        <a:t>​营销与销售​</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200" dirty="0">
                          <a:solidFill>
                            <a:schemeClr val="bg1"/>
                          </a:solidFill>
                          <a:effectLst/>
                          <a:latin typeface="+mj-ea"/>
                          <a:ea typeface="+mj-ea"/>
                        </a:rPr>
                        <a:t>​</a:t>
                      </a:r>
                      <a:r>
                        <a:rPr lang="zh-CN" altLang="en-US" sz="1200" b="1" dirty="0">
                          <a:solidFill>
                            <a:schemeClr val="bg1"/>
                          </a:solidFill>
                          <a:effectLst/>
                          <a:latin typeface="+mj-ea"/>
                          <a:ea typeface="+mj-ea"/>
                        </a:rPr>
                        <a:t>将技术优势转化为市场统治力和品牌溢价</a:t>
                      </a:r>
                      <a:r>
                        <a:rPr lang="zh-CN" altLang="en-US" sz="1200" dirty="0">
                          <a:solidFill>
                            <a:schemeClr val="bg1"/>
                          </a:solidFill>
                          <a:effectLst/>
                          <a:latin typeface="+mj-ea"/>
                          <a:ea typeface="+mj-ea"/>
                        </a:rPr>
                        <a:t>​</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en-US" altLang="zh-CN" sz="1200" dirty="0">
                          <a:solidFill>
                            <a:schemeClr val="bg1"/>
                          </a:solidFill>
                          <a:effectLst/>
                          <a:latin typeface="+mj-ea"/>
                          <a:ea typeface="+mj-ea"/>
                        </a:rPr>
                        <a:t>• </a:t>
                      </a:r>
                      <a:r>
                        <a:rPr lang="zh-CN" altLang="en-US" sz="1200" dirty="0">
                          <a:solidFill>
                            <a:schemeClr val="bg1"/>
                          </a:solidFill>
                          <a:effectLst/>
                          <a:latin typeface="+mj-ea"/>
                          <a:ea typeface="+mj-ea"/>
                        </a:rPr>
                        <a:t>精准定义“在哪打”和“怎么打”。</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dirty="0">
                          <a:solidFill>
                            <a:schemeClr val="bg1"/>
                          </a:solidFill>
                          <a:effectLst/>
                          <a:latin typeface="+mj-ea"/>
                          <a:ea typeface="+mj-ea"/>
                        </a:rPr>
                        <a:t>传递“混合战略”价值。</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dirty="0">
                          <a:solidFill>
                            <a:schemeClr val="bg1"/>
                          </a:solidFill>
                          <a:effectLst/>
                          <a:latin typeface="+mj-ea"/>
                          <a:ea typeface="+mj-ea"/>
                        </a:rPr>
                        <a:t>执行市场开发。</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2595118"/>
                  </a:ext>
                </a:extLst>
              </a:tr>
              <a:tr h="731124">
                <a:tc>
                  <a:txBody>
                    <a:bodyPr/>
                    <a:lstStyle/>
                    <a:p>
                      <a:pPr algn="l" fontAlgn="base" latinLnBrk="0"/>
                      <a:r>
                        <a:rPr lang="zh-CN" altLang="en-US" sz="1200" b="1">
                          <a:solidFill>
                            <a:srgbClr val="000000"/>
                          </a:solidFill>
                          <a:effectLst/>
                          <a:latin typeface="+mj-ea"/>
                          <a:ea typeface="+mj-ea"/>
                        </a:rPr>
                        <a:t>​制造​</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200">
                          <a:solidFill>
                            <a:schemeClr val="bg1"/>
                          </a:solidFill>
                          <a:effectLst/>
                          <a:latin typeface="+mj-ea"/>
                          <a:ea typeface="+mj-ea"/>
                        </a:rPr>
                        <a:t>​</a:t>
                      </a:r>
                      <a:r>
                        <a:rPr lang="zh-CN" altLang="en-US" sz="1200" b="1">
                          <a:solidFill>
                            <a:schemeClr val="bg1"/>
                          </a:solidFill>
                          <a:effectLst/>
                          <a:latin typeface="+mj-ea"/>
                          <a:ea typeface="+mj-ea"/>
                        </a:rPr>
                        <a:t>将技术成果通过精益生产转化为质量与成本的竞争优势</a:t>
                      </a:r>
                      <a:r>
                        <a:rPr lang="zh-CN" altLang="en-US" sz="1200">
                          <a:solidFill>
                            <a:schemeClr val="bg1"/>
                          </a:solidFill>
                          <a:effectLst/>
                          <a:latin typeface="+mj-ea"/>
                          <a:ea typeface="+mj-ea"/>
                        </a:rPr>
                        <a:t>​</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en-US" altLang="zh-CN" sz="1200" dirty="0">
                          <a:solidFill>
                            <a:schemeClr val="bg1"/>
                          </a:solidFill>
                          <a:effectLst/>
                          <a:latin typeface="+mj-ea"/>
                          <a:ea typeface="+mj-ea"/>
                        </a:rPr>
                        <a:t>• ​</a:t>
                      </a:r>
                      <a:r>
                        <a:rPr lang="zh-CN" altLang="en-US" sz="1200" b="1" dirty="0">
                          <a:solidFill>
                            <a:schemeClr val="bg1"/>
                          </a:solidFill>
                          <a:effectLst/>
                          <a:latin typeface="+mj-ea"/>
                          <a:ea typeface="+mj-ea"/>
                        </a:rPr>
                        <a:t>实现“成本优势”：​</a:t>
                      </a:r>
                      <a:r>
                        <a:rPr lang="zh-CN" altLang="en-US" sz="1200" dirty="0">
                          <a:solidFill>
                            <a:schemeClr val="bg1"/>
                          </a:solidFill>
                          <a:effectLst/>
                          <a:latin typeface="+mj-ea"/>
                          <a:ea typeface="+mj-ea"/>
                        </a:rPr>
                        <a:t>​ 通过规模经济与精益制造，极致降低成本。</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b="1" dirty="0">
                          <a:solidFill>
                            <a:schemeClr val="bg1"/>
                          </a:solidFill>
                          <a:effectLst/>
                          <a:latin typeface="+mj-ea"/>
                          <a:ea typeface="+mj-ea"/>
                        </a:rPr>
                        <a:t>保障“差异化”质量：​</a:t>
                      </a:r>
                      <a:r>
                        <a:rPr lang="zh-CN" altLang="en-US" sz="1200" dirty="0">
                          <a:solidFill>
                            <a:schemeClr val="bg1"/>
                          </a:solidFill>
                          <a:effectLst/>
                          <a:latin typeface="+mj-ea"/>
                          <a:ea typeface="+mj-ea"/>
                        </a:rPr>
                        <a:t>​ 建立超越行业标准的极致质量管理体系。</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b="1" dirty="0">
                          <a:solidFill>
                            <a:schemeClr val="bg1"/>
                          </a:solidFill>
                          <a:effectLst/>
                          <a:latin typeface="+mj-ea"/>
                          <a:ea typeface="+mj-ea"/>
                        </a:rPr>
                        <a:t>支持产品多元化：​</a:t>
                      </a:r>
                      <a:r>
                        <a:rPr lang="zh-CN" altLang="en-US" sz="1200" dirty="0">
                          <a:solidFill>
                            <a:schemeClr val="bg1"/>
                          </a:solidFill>
                          <a:effectLst/>
                          <a:latin typeface="+mj-ea"/>
                          <a:ea typeface="+mj-ea"/>
                        </a:rPr>
                        <a:t>​ 构建柔性生产能力，实现快速换线与共线生产。</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71253235"/>
                  </a:ext>
                </a:extLst>
              </a:tr>
              <a:tr h="930436">
                <a:tc>
                  <a:txBody>
                    <a:bodyPr/>
                    <a:lstStyle/>
                    <a:p>
                      <a:pPr algn="l" fontAlgn="base" latinLnBrk="0"/>
                      <a:r>
                        <a:rPr lang="zh-CN" altLang="en-US" sz="1200" b="1">
                          <a:solidFill>
                            <a:srgbClr val="000000"/>
                          </a:solidFill>
                          <a:effectLst/>
                          <a:latin typeface="+mj-ea"/>
                          <a:ea typeface="+mj-ea"/>
                        </a:rPr>
                        <a:t>​采购​</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200">
                          <a:solidFill>
                            <a:schemeClr val="bg1"/>
                          </a:solidFill>
                          <a:effectLst/>
                          <a:latin typeface="+mj-ea"/>
                          <a:ea typeface="+mj-ea"/>
                        </a:rPr>
                        <a:t>​</a:t>
                      </a:r>
                      <a:r>
                        <a:rPr lang="zh-CN" altLang="en-US" sz="1200" b="1">
                          <a:solidFill>
                            <a:schemeClr val="bg1"/>
                          </a:solidFill>
                          <a:effectLst/>
                          <a:latin typeface="+mj-ea"/>
                          <a:ea typeface="+mj-ea"/>
                        </a:rPr>
                        <a:t>构建坚韧、高效、创新的供应商生态系统</a:t>
                      </a:r>
                      <a:r>
                        <a:rPr lang="zh-CN" altLang="en-US" sz="1200">
                          <a:solidFill>
                            <a:schemeClr val="bg1"/>
                          </a:solidFill>
                          <a:effectLst/>
                          <a:latin typeface="+mj-ea"/>
                          <a:ea typeface="+mj-ea"/>
                        </a:rPr>
                        <a:t>​</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en-US" altLang="zh-CN" sz="1200" dirty="0">
                          <a:solidFill>
                            <a:schemeClr val="bg1"/>
                          </a:solidFill>
                          <a:effectLst/>
                          <a:latin typeface="+mj-ea"/>
                          <a:ea typeface="+mj-ea"/>
                        </a:rPr>
                        <a:t>• ​</a:t>
                      </a:r>
                      <a:r>
                        <a:rPr lang="zh-CN" altLang="en-US" sz="1200" b="1" dirty="0">
                          <a:solidFill>
                            <a:schemeClr val="bg1"/>
                          </a:solidFill>
                          <a:effectLst/>
                          <a:latin typeface="+mj-ea"/>
                          <a:ea typeface="+mj-ea"/>
                        </a:rPr>
                        <a:t>战略寻源与垂直整合：​</a:t>
                      </a:r>
                      <a:r>
                        <a:rPr lang="zh-CN" altLang="en-US" sz="1200" dirty="0">
                          <a:solidFill>
                            <a:schemeClr val="bg1"/>
                          </a:solidFill>
                          <a:effectLst/>
                          <a:latin typeface="+mj-ea"/>
                          <a:ea typeface="+mj-ea"/>
                        </a:rPr>
                        <a:t>​ 对核心部件掌控，对通用部件建立多元供应体系。</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b="1" dirty="0">
                          <a:solidFill>
                            <a:schemeClr val="bg1"/>
                          </a:solidFill>
                          <a:effectLst/>
                          <a:latin typeface="+mj-ea"/>
                          <a:ea typeface="+mj-ea"/>
                        </a:rPr>
                        <a:t>供应商关系管理：​</a:t>
                      </a:r>
                      <a:r>
                        <a:rPr lang="zh-CN" altLang="en-US" sz="1200" dirty="0">
                          <a:solidFill>
                            <a:schemeClr val="bg1"/>
                          </a:solidFill>
                          <a:effectLst/>
                          <a:latin typeface="+mj-ea"/>
                          <a:ea typeface="+mj-ea"/>
                        </a:rPr>
                        <a:t>​ 与核心供应商建立战略合作伙伴关系，共同创新。</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b="1" dirty="0">
                          <a:solidFill>
                            <a:schemeClr val="bg1"/>
                          </a:solidFill>
                          <a:effectLst/>
                          <a:latin typeface="+mj-ea"/>
                          <a:ea typeface="+mj-ea"/>
                        </a:rPr>
                        <a:t>总拥有成本管理：​</a:t>
                      </a:r>
                      <a:r>
                        <a:rPr lang="zh-CN" altLang="en-US" sz="1200" dirty="0">
                          <a:solidFill>
                            <a:schemeClr val="bg1"/>
                          </a:solidFill>
                          <a:effectLst/>
                          <a:latin typeface="+mj-ea"/>
                          <a:ea typeface="+mj-ea"/>
                        </a:rPr>
                        <a:t>​ 超越单价，关注全生命周期的综合成本与价值。</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21553365"/>
                  </a:ext>
                </a:extLst>
              </a:tr>
              <a:tr h="830780">
                <a:tc>
                  <a:txBody>
                    <a:bodyPr/>
                    <a:lstStyle/>
                    <a:p>
                      <a:pPr algn="l" fontAlgn="base" latinLnBrk="0"/>
                      <a:r>
                        <a:rPr lang="zh-CN" altLang="en-US" sz="1200" b="1">
                          <a:solidFill>
                            <a:srgbClr val="000000"/>
                          </a:solidFill>
                          <a:effectLst/>
                          <a:latin typeface="+mj-ea"/>
                          <a:ea typeface="+mj-ea"/>
                        </a:rPr>
                        <a:t>​质量​</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200">
                          <a:solidFill>
                            <a:schemeClr val="bg1"/>
                          </a:solidFill>
                          <a:effectLst/>
                          <a:latin typeface="+mj-ea"/>
                          <a:ea typeface="+mj-ea"/>
                        </a:rPr>
                        <a:t>​</a:t>
                      </a:r>
                      <a:r>
                        <a:rPr lang="zh-CN" altLang="en-US" sz="1200" b="1">
                          <a:solidFill>
                            <a:schemeClr val="bg1"/>
                          </a:solidFill>
                          <a:effectLst/>
                          <a:latin typeface="+mj-ea"/>
                          <a:ea typeface="+mj-ea"/>
                        </a:rPr>
                        <a:t>确保产品与服务完美兑现品牌承诺，支撑品牌溢价</a:t>
                      </a:r>
                      <a:r>
                        <a:rPr lang="zh-CN" altLang="en-US" sz="1200">
                          <a:solidFill>
                            <a:schemeClr val="bg1"/>
                          </a:solidFill>
                          <a:effectLst/>
                          <a:latin typeface="+mj-ea"/>
                          <a:ea typeface="+mj-ea"/>
                        </a:rPr>
                        <a:t>​</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en-US" altLang="zh-CN" sz="1200" dirty="0">
                          <a:solidFill>
                            <a:schemeClr val="bg1"/>
                          </a:solidFill>
                          <a:effectLst/>
                          <a:latin typeface="+mj-ea"/>
                          <a:ea typeface="+mj-ea"/>
                        </a:rPr>
                        <a:t>• ​</a:t>
                      </a:r>
                      <a:r>
                        <a:rPr lang="zh-CN" altLang="en-US" sz="1200" b="1" dirty="0">
                          <a:solidFill>
                            <a:schemeClr val="bg1"/>
                          </a:solidFill>
                          <a:effectLst/>
                          <a:latin typeface="+mj-ea"/>
                          <a:ea typeface="+mj-ea"/>
                        </a:rPr>
                        <a:t>预防性质量保证：​</a:t>
                      </a:r>
                      <a:r>
                        <a:rPr lang="zh-CN" altLang="en-US" sz="1200" dirty="0">
                          <a:solidFill>
                            <a:schemeClr val="bg1"/>
                          </a:solidFill>
                          <a:effectLst/>
                          <a:latin typeface="+mj-ea"/>
                          <a:ea typeface="+mj-ea"/>
                        </a:rPr>
                        <a:t>​ 将质量标准前置到产品设计与供应商管理环节。</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b="1" dirty="0">
                          <a:solidFill>
                            <a:schemeClr val="bg1"/>
                          </a:solidFill>
                          <a:effectLst/>
                          <a:latin typeface="+mj-ea"/>
                          <a:ea typeface="+mj-ea"/>
                        </a:rPr>
                        <a:t>全流程质量控制：​</a:t>
                      </a:r>
                      <a:r>
                        <a:rPr lang="zh-CN" altLang="en-US" sz="1200" dirty="0">
                          <a:solidFill>
                            <a:schemeClr val="bg1"/>
                          </a:solidFill>
                          <a:effectLst/>
                          <a:latin typeface="+mj-ea"/>
                          <a:ea typeface="+mj-ea"/>
                        </a:rPr>
                        <a:t>​ 建立从进料、制程到成品的全流程质量监控体系。</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b="1" dirty="0">
                          <a:solidFill>
                            <a:schemeClr val="bg1"/>
                          </a:solidFill>
                          <a:effectLst/>
                          <a:latin typeface="+mj-ea"/>
                          <a:ea typeface="+mj-ea"/>
                        </a:rPr>
                        <a:t>持续改进文化：​</a:t>
                      </a:r>
                      <a:r>
                        <a:rPr lang="zh-CN" altLang="en-US" sz="1200" dirty="0">
                          <a:solidFill>
                            <a:schemeClr val="bg1"/>
                          </a:solidFill>
                          <a:effectLst/>
                          <a:latin typeface="+mj-ea"/>
                          <a:ea typeface="+mj-ea"/>
                        </a:rPr>
                        <a:t>​ 推动根本原因分析，驱动质量问题的持续改进。</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11088479"/>
                  </a:ext>
                </a:extLst>
              </a:tr>
              <a:tr h="930436">
                <a:tc>
                  <a:txBody>
                    <a:bodyPr/>
                    <a:lstStyle/>
                    <a:p>
                      <a:pPr algn="l" fontAlgn="base" latinLnBrk="0"/>
                      <a:r>
                        <a:rPr lang="zh-CN" altLang="en-US" sz="1200" b="1">
                          <a:solidFill>
                            <a:srgbClr val="000000"/>
                          </a:solidFill>
                          <a:effectLst/>
                          <a:latin typeface="+mj-ea"/>
                          <a:ea typeface="+mj-ea"/>
                        </a:rPr>
                        <a:t>​物流与仓储​</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200">
                          <a:solidFill>
                            <a:schemeClr val="bg1"/>
                          </a:solidFill>
                          <a:effectLst/>
                          <a:latin typeface="+mj-ea"/>
                          <a:ea typeface="+mj-ea"/>
                        </a:rPr>
                        <a:t>​</a:t>
                      </a:r>
                      <a:r>
                        <a:rPr lang="zh-CN" altLang="en-US" sz="1200" b="1">
                          <a:solidFill>
                            <a:schemeClr val="bg1"/>
                          </a:solidFill>
                          <a:effectLst/>
                          <a:latin typeface="+mj-ea"/>
                          <a:ea typeface="+mj-ea"/>
                        </a:rPr>
                        <a:t>构建敏捷、可靠、可视的全球交付网络</a:t>
                      </a:r>
                      <a:r>
                        <a:rPr lang="zh-CN" altLang="en-US" sz="1200">
                          <a:solidFill>
                            <a:schemeClr val="bg1"/>
                          </a:solidFill>
                          <a:effectLst/>
                          <a:latin typeface="+mj-ea"/>
                          <a:ea typeface="+mj-ea"/>
                        </a:rPr>
                        <a:t>​</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en-US" altLang="zh-CN" sz="1200" dirty="0">
                          <a:solidFill>
                            <a:schemeClr val="bg1"/>
                          </a:solidFill>
                          <a:effectLst/>
                          <a:latin typeface="+mj-ea"/>
                          <a:ea typeface="+mj-ea"/>
                        </a:rPr>
                        <a:t>• ​</a:t>
                      </a:r>
                      <a:r>
                        <a:rPr lang="zh-CN" altLang="en-US" sz="1200" b="1" dirty="0">
                          <a:solidFill>
                            <a:schemeClr val="bg1"/>
                          </a:solidFill>
                          <a:effectLst/>
                          <a:latin typeface="+mj-ea"/>
                          <a:ea typeface="+mj-ea"/>
                        </a:rPr>
                        <a:t>网络优化：​</a:t>
                      </a:r>
                      <a:r>
                        <a:rPr lang="zh-CN" altLang="en-US" sz="1200" dirty="0">
                          <a:solidFill>
                            <a:schemeClr val="bg1"/>
                          </a:solidFill>
                          <a:effectLst/>
                          <a:latin typeface="+mj-ea"/>
                          <a:ea typeface="+mj-ea"/>
                        </a:rPr>
                        <a:t>​ 合理布局仓库与配送中心，平衡效率、成本与响应速度。</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b="1" dirty="0">
                          <a:solidFill>
                            <a:schemeClr val="bg1"/>
                          </a:solidFill>
                          <a:effectLst/>
                          <a:latin typeface="+mj-ea"/>
                          <a:ea typeface="+mj-ea"/>
                        </a:rPr>
                        <a:t>运输管理：​</a:t>
                      </a:r>
                      <a:r>
                        <a:rPr lang="zh-CN" altLang="en-US" sz="1200" dirty="0">
                          <a:solidFill>
                            <a:schemeClr val="bg1"/>
                          </a:solidFill>
                          <a:effectLst/>
                          <a:latin typeface="+mj-ea"/>
                          <a:ea typeface="+mj-ea"/>
                        </a:rPr>
                        <a:t>​ 优化运输模式与路径，确保货物安全、准时、低成本送达。</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b="1" dirty="0">
                          <a:solidFill>
                            <a:schemeClr val="bg1"/>
                          </a:solidFill>
                          <a:effectLst/>
                          <a:latin typeface="+mj-ea"/>
                          <a:ea typeface="+mj-ea"/>
                        </a:rPr>
                        <a:t>库存可视性与管理：​</a:t>
                      </a:r>
                      <a:r>
                        <a:rPr lang="zh-CN" altLang="en-US" sz="1200" dirty="0">
                          <a:solidFill>
                            <a:schemeClr val="bg1"/>
                          </a:solidFill>
                          <a:effectLst/>
                          <a:latin typeface="+mj-ea"/>
                          <a:ea typeface="+mj-ea"/>
                        </a:rPr>
                        <a:t>​ 实现端到端库存可视，优化库存水平与周转效率。</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74152107"/>
                  </a:ext>
                </a:extLst>
              </a:tr>
              <a:tr h="631467">
                <a:tc>
                  <a:txBody>
                    <a:bodyPr/>
                    <a:lstStyle/>
                    <a:p>
                      <a:pPr algn="l" fontAlgn="base" latinLnBrk="0"/>
                      <a:r>
                        <a:rPr lang="zh-CN" altLang="en-US" sz="1200" b="1">
                          <a:solidFill>
                            <a:srgbClr val="000000"/>
                          </a:solidFill>
                          <a:effectLst/>
                          <a:latin typeface="+mj-ea"/>
                          <a:ea typeface="+mj-ea"/>
                        </a:rPr>
                        <a:t>​财务与资本管理​</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200">
                          <a:solidFill>
                            <a:schemeClr val="bg1"/>
                          </a:solidFill>
                          <a:effectLst/>
                          <a:latin typeface="+mj-ea"/>
                          <a:ea typeface="+mj-ea"/>
                        </a:rPr>
                        <a:t>​</a:t>
                      </a:r>
                      <a:r>
                        <a:rPr lang="zh-CN" altLang="en-US" sz="1200" b="1">
                          <a:solidFill>
                            <a:schemeClr val="bg1"/>
                          </a:solidFill>
                          <a:effectLst/>
                          <a:latin typeface="+mj-ea"/>
                          <a:ea typeface="+mj-ea"/>
                        </a:rPr>
                        <a:t>确保战略投入的效力，成为业务决策的导航仪</a:t>
                      </a:r>
                      <a:r>
                        <a:rPr lang="zh-CN" altLang="en-US" sz="1200">
                          <a:solidFill>
                            <a:schemeClr val="bg1"/>
                          </a:solidFill>
                          <a:effectLst/>
                          <a:latin typeface="+mj-ea"/>
                          <a:ea typeface="+mj-ea"/>
                        </a:rPr>
                        <a:t>​</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en-US" altLang="zh-CN" sz="1200" dirty="0">
                          <a:solidFill>
                            <a:schemeClr val="bg1"/>
                          </a:solidFill>
                          <a:effectLst/>
                          <a:latin typeface="+mj-ea"/>
                          <a:ea typeface="+mj-ea"/>
                        </a:rPr>
                        <a:t>• </a:t>
                      </a:r>
                      <a:r>
                        <a:rPr lang="zh-CN" altLang="en-US" sz="1200" dirty="0">
                          <a:solidFill>
                            <a:schemeClr val="bg1"/>
                          </a:solidFill>
                          <a:effectLst/>
                          <a:latin typeface="+mj-ea"/>
                          <a:ea typeface="+mj-ea"/>
                        </a:rPr>
                        <a:t>战略性资源配置与投资回报分析。</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dirty="0">
                          <a:solidFill>
                            <a:schemeClr val="bg1"/>
                          </a:solidFill>
                          <a:effectLst/>
                          <a:latin typeface="+mj-ea"/>
                          <a:ea typeface="+mj-ea"/>
                        </a:rPr>
                        <a:t>集成业务规划的财务评估与情景模拟。</a:t>
                      </a:r>
                      <a:br>
                        <a:rPr lang="zh-CN" altLang="en-US" sz="1200" dirty="0">
                          <a:solidFill>
                            <a:schemeClr val="bg1"/>
                          </a:solidFill>
                          <a:effectLst/>
                          <a:latin typeface="+mj-ea"/>
                          <a:ea typeface="+mj-ea"/>
                        </a:rPr>
                      </a:br>
                      <a:r>
                        <a:rPr lang="en-US" altLang="zh-CN" sz="1200" dirty="0">
                          <a:solidFill>
                            <a:schemeClr val="bg1"/>
                          </a:solidFill>
                          <a:effectLst/>
                          <a:latin typeface="+mj-ea"/>
                          <a:ea typeface="+mj-ea"/>
                        </a:rPr>
                        <a:t>• </a:t>
                      </a:r>
                      <a:r>
                        <a:rPr lang="zh-CN" altLang="en-US" sz="1200" dirty="0">
                          <a:solidFill>
                            <a:schemeClr val="bg1"/>
                          </a:solidFill>
                          <a:effectLst/>
                          <a:latin typeface="+mj-ea"/>
                          <a:ea typeface="+mj-ea"/>
                        </a:rPr>
                        <a:t>绩效导向的资源配置与成本控制。</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70743874"/>
                  </a:ext>
                </a:extLst>
              </a:tr>
              <a:tr h="232843">
                <a:tc>
                  <a:txBody>
                    <a:bodyPr/>
                    <a:lstStyle/>
                    <a:p>
                      <a:pPr algn="l" fontAlgn="base" latinLnBrk="0"/>
                      <a:r>
                        <a:rPr lang="zh-CN" altLang="en-US" sz="1200" b="1" dirty="0">
                          <a:solidFill>
                            <a:srgbClr val="000000"/>
                          </a:solidFill>
                          <a:effectLst/>
                          <a:latin typeface="+mj-ea"/>
                          <a:ea typeface="+mj-ea"/>
                        </a:rPr>
                        <a:t>​合作伙伴与生态建设​</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200" dirty="0">
                          <a:solidFill>
                            <a:schemeClr val="bg1"/>
                          </a:solidFill>
                          <a:effectLst/>
                          <a:latin typeface="+mj-ea"/>
                          <a:ea typeface="+mj-ea"/>
                        </a:rPr>
                        <a:t>​</a:t>
                      </a:r>
                      <a:r>
                        <a:rPr lang="zh-CN" altLang="en-US" sz="1200" b="1" dirty="0">
                          <a:solidFill>
                            <a:schemeClr val="bg1"/>
                          </a:solidFill>
                          <a:effectLst/>
                          <a:latin typeface="+mj-ea"/>
                          <a:ea typeface="+mj-ea"/>
                        </a:rPr>
                        <a:t>延伸企业能力边界，共同构建系统生态壁垒</a:t>
                      </a:r>
                      <a:r>
                        <a:rPr lang="zh-CN" altLang="en-US" sz="1200" dirty="0">
                          <a:solidFill>
                            <a:schemeClr val="bg1"/>
                          </a:solidFill>
                          <a:effectLst/>
                          <a:latin typeface="+mj-ea"/>
                          <a:ea typeface="+mj-ea"/>
                        </a:rPr>
                        <a:t>​</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en-US" altLang="zh-CN" sz="1200" dirty="0">
                          <a:solidFill>
                            <a:schemeClr val="bg1"/>
                          </a:solidFill>
                          <a:effectLst/>
                          <a:latin typeface="+mj-ea"/>
                          <a:ea typeface="+mj-ea"/>
                        </a:rPr>
                        <a:t>• </a:t>
                      </a:r>
                      <a:r>
                        <a:rPr lang="zh-CN" altLang="en-US" sz="1200" dirty="0">
                          <a:solidFill>
                            <a:schemeClr val="bg1"/>
                          </a:solidFill>
                          <a:effectLst/>
                          <a:latin typeface="+mj-ea"/>
                          <a:ea typeface="+mj-ea"/>
                        </a:rPr>
                        <a:t>强化生态系统，协同市场拓展与创新</a:t>
                      </a:r>
                    </a:p>
                  </a:txBody>
                  <a:tcPr marL="29535" marR="30766" marT="15383" marB="1538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91732323"/>
                  </a:ext>
                </a:extLst>
              </a:tr>
            </a:tbl>
          </a:graphicData>
        </a:graphic>
      </p:graphicFrame>
    </p:spTree>
    <p:extLst>
      <p:ext uri="{BB962C8B-B14F-4D97-AF65-F5344CB8AC3E}">
        <p14:creationId xmlns:p14="http://schemas.microsoft.com/office/powerpoint/2010/main" val="268220228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65B07093-7CB8-A0F3-F11F-DC5819ABB47D}"/>
              </a:ext>
            </a:extLst>
          </p:cNvPr>
          <p:cNvSpPr>
            <a:spLocks noGrp="1"/>
          </p:cNvSpPr>
          <p:nvPr>
            <p:ph type="title"/>
          </p:nvPr>
        </p:nvSpPr>
        <p:spPr/>
        <p:txBody>
          <a:bodyPr/>
          <a:lstStyle/>
          <a:p>
            <a:r>
              <a:rPr lang="zh-CN" altLang="en-US" dirty="0"/>
              <a:t>计划需要的能力</a:t>
            </a:r>
          </a:p>
        </p:txBody>
      </p:sp>
      <p:graphicFrame>
        <p:nvGraphicFramePr>
          <p:cNvPr id="3" name="表格 2">
            <a:extLst>
              <a:ext uri="{FF2B5EF4-FFF2-40B4-BE49-F238E27FC236}">
                <a16:creationId xmlns:a16="http://schemas.microsoft.com/office/drawing/2014/main" id="{5DFE39C6-2C1C-D902-5443-433981E72EB3}"/>
              </a:ext>
            </a:extLst>
          </p:cNvPr>
          <p:cNvGraphicFramePr>
            <a:graphicFrameLocks noGrp="1"/>
          </p:cNvGraphicFramePr>
          <p:nvPr/>
        </p:nvGraphicFramePr>
        <p:xfrm>
          <a:off x="820312" y="690059"/>
          <a:ext cx="11100935" cy="6009253"/>
        </p:xfrm>
        <a:graphic>
          <a:graphicData uri="http://schemas.openxmlformats.org/drawingml/2006/table">
            <a:tbl>
              <a:tblPr/>
              <a:tblGrid>
                <a:gridCol w="1474848">
                  <a:extLst>
                    <a:ext uri="{9D8B030D-6E8A-4147-A177-3AD203B41FA5}">
                      <a16:colId xmlns:a16="http://schemas.microsoft.com/office/drawing/2014/main" val="3744947333"/>
                    </a:ext>
                  </a:extLst>
                </a:gridCol>
                <a:gridCol w="1620139">
                  <a:extLst>
                    <a:ext uri="{9D8B030D-6E8A-4147-A177-3AD203B41FA5}">
                      <a16:colId xmlns:a16="http://schemas.microsoft.com/office/drawing/2014/main" val="400410687"/>
                    </a:ext>
                  </a:extLst>
                </a:gridCol>
                <a:gridCol w="3754961">
                  <a:extLst>
                    <a:ext uri="{9D8B030D-6E8A-4147-A177-3AD203B41FA5}">
                      <a16:colId xmlns:a16="http://schemas.microsoft.com/office/drawing/2014/main" val="1067123392"/>
                    </a:ext>
                  </a:extLst>
                </a:gridCol>
                <a:gridCol w="4250987">
                  <a:extLst>
                    <a:ext uri="{9D8B030D-6E8A-4147-A177-3AD203B41FA5}">
                      <a16:colId xmlns:a16="http://schemas.microsoft.com/office/drawing/2014/main" val="1776387778"/>
                    </a:ext>
                  </a:extLst>
                </a:gridCol>
              </a:tblGrid>
              <a:tr h="207724">
                <a:tc>
                  <a:txBody>
                    <a:bodyPr/>
                    <a:lstStyle/>
                    <a:p>
                      <a:pPr algn="l" fontAlgn="base" latinLnBrk="0"/>
                      <a:r>
                        <a:rPr lang="zh-CN" altLang="en-US" sz="1200" b="1" dirty="0">
                          <a:solidFill>
                            <a:srgbClr val="FFFFFF"/>
                          </a:solidFill>
                          <a:effectLst/>
                          <a:latin typeface="+mj-ea"/>
                          <a:ea typeface="+mj-ea"/>
                        </a:rPr>
                        <a:t>核心职能</a:t>
                      </a:r>
                    </a:p>
                  </a:txBody>
                  <a:tcPr marL="29535" marR="30766" marT="15383" marB="15383" anchor="ctr">
                    <a:lnL>
                      <a:noFill/>
                    </a:lnL>
                    <a:lnR>
                      <a:noFill/>
                    </a:lnR>
                    <a:lnT>
                      <a:solidFill>
                        <a:srgbClr val="1C3879"/>
                      </a:solidFill>
                      <a:prstDash val="solid"/>
                    </a:lnT>
                    <a:lnB w="7144" cap="flat" cmpd="sng" algn="ctr">
                      <a:solidFill>
                        <a:srgbClr val="1C3879"/>
                      </a:solidFill>
                      <a:prstDash val="solid"/>
                      <a:round/>
                      <a:headEnd type="none" w="med" len="med"/>
                      <a:tailEnd type="none" w="med" len="med"/>
                    </a:lnB>
                    <a:solidFill>
                      <a:srgbClr val="1C3879"/>
                    </a:solidFill>
                  </a:tcPr>
                </a:tc>
                <a:tc>
                  <a:txBody>
                    <a:bodyPr/>
                    <a:lstStyle/>
                    <a:p>
                      <a:pPr algn="l" fontAlgn="base" latinLnBrk="0"/>
                      <a:r>
                        <a:rPr lang="zh-CN" altLang="en-US" sz="1200" b="1">
                          <a:solidFill>
                            <a:srgbClr val="FFFFFF"/>
                          </a:solidFill>
                          <a:effectLst/>
                          <a:latin typeface="+mj-ea"/>
                          <a:ea typeface="+mj-ea"/>
                        </a:rPr>
                        <a:t>战略使命</a:t>
                      </a:r>
                    </a:p>
                  </a:txBody>
                  <a:tcPr marL="29535" marR="30766" marT="15383" marB="15383" anchor="ctr">
                    <a:lnL>
                      <a:noFill/>
                    </a:lnL>
                    <a:lnR>
                      <a:noFill/>
                    </a:lnR>
                    <a:lnT>
                      <a:solidFill>
                        <a:srgbClr val="1C3879"/>
                      </a:solidFill>
                      <a:prstDash val="solid"/>
                    </a:lnT>
                    <a:lnB w="7144" cap="flat" cmpd="sng" algn="ctr">
                      <a:solidFill>
                        <a:srgbClr val="1C3879"/>
                      </a:solidFill>
                      <a:prstDash val="solid"/>
                      <a:round/>
                      <a:headEnd type="none" w="med" len="med"/>
                      <a:tailEnd type="none" w="med" len="med"/>
                    </a:lnB>
                    <a:solidFill>
                      <a:srgbClr val="1C3879"/>
                    </a:solidFill>
                  </a:tcPr>
                </a:tc>
                <a:tc>
                  <a:txBody>
                    <a:bodyPr/>
                    <a:lstStyle/>
                    <a:p>
                      <a:pPr algn="l" fontAlgn="base" latinLnBrk="0"/>
                      <a:r>
                        <a:rPr lang="zh-CN" altLang="en-US" sz="1200" b="1" dirty="0">
                          <a:solidFill>
                            <a:srgbClr val="FFFFFF"/>
                          </a:solidFill>
                          <a:effectLst/>
                          <a:latin typeface="+mj-ea"/>
                          <a:ea typeface="+mj-ea"/>
                        </a:rPr>
                        <a:t>关键任务与能力要求</a:t>
                      </a:r>
                    </a:p>
                  </a:txBody>
                  <a:tcPr marL="29535" marR="30766" marT="15383" marB="15383" anchor="ctr">
                    <a:lnL>
                      <a:noFill/>
                    </a:lnL>
                    <a:lnR>
                      <a:noFill/>
                    </a:lnR>
                    <a:lnT>
                      <a:solidFill>
                        <a:srgbClr val="1C3879"/>
                      </a:solidFill>
                      <a:prstDash val="solid"/>
                    </a:lnT>
                    <a:lnB w="7144" cap="flat" cmpd="sng" algn="ctr">
                      <a:solidFill>
                        <a:srgbClr val="1C3879"/>
                      </a:solidFill>
                      <a:prstDash val="solid"/>
                      <a:round/>
                      <a:headEnd type="none" w="med" len="med"/>
                      <a:tailEnd type="none" w="med" len="med"/>
                    </a:lnB>
                    <a:solidFill>
                      <a:srgbClr val="1C3879"/>
                    </a:solidFill>
                  </a:tcPr>
                </a:tc>
                <a:tc>
                  <a:txBody>
                    <a:bodyPr/>
                    <a:lstStyle/>
                    <a:p>
                      <a:pPr algn="l" fontAlgn="base" latinLnBrk="0"/>
                      <a:r>
                        <a:rPr lang="zh-CN" altLang="en-US" sz="1200" dirty="0">
                          <a:solidFill>
                            <a:schemeClr val="bg1"/>
                          </a:solidFill>
                          <a:effectLst/>
                          <a:latin typeface="+mj-ea"/>
                          <a:ea typeface="+mj-ea"/>
                        </a:rPr>
                        <a:t>​</a:t>
                      </a:r>
                      <a:r>
                        <a:rPr lang="zh-CN" altLang="en-US" sz="1200" b="1" dirty="0">
                          <a:solidFill>
                            <a:schemeClr val="bg1"/>
                          </a:solidFill>
                          <a:effectLst/>
                          <a:latin typeface="+mj-ea"/>
                          <a:ea typeface="+mj-ea"/>
                        </a:rPr>
                        <a:t>关键计划流程融合与输出（新增的“计划”维度）​</a:t>
                      </a:r>
                      <a:r>
                        <a:rPr lang="zh-CN" altLang="en-US" sz="1200" dirty="0">
                          <a:solidFill>
                            <a:schemeClr val="bg1"/>
                          </a:solidFill>
                          <a:effectLst/>
                          <a:latin typeface="+mj-ea"/>
                          <a:ea typeface="+mj-ea"/>
                        </a:rPr>
                        <a:t>​</a:t>
                      </a:r>
                    </a:p>
                  </a:txBody>
                  <a:tcPr marL="31999" marR="33332" marT="16666" marB="16666" anchor="ctr">
                    <a:lnL>
                      <a:noFill/>
                    </a:lnL>
                    <a:lnR>
                      <a:noFill/>
                    </a:lnR>
                    <a:lnT>
                      <a:solidFill>
                        <a:srgbClr val="1C3879"/>
                      </a:solidFill>
                      <a:prstDash val="solid"/>
                    </a:lnT>
                    <a:lnB w="12700" cap="flat" cmpd="sng" algn="ctr">
                      <a:solidFill>
                        <a:schemeClr val="tx1"/>
                      </a:solidFill>
                      <a:prstDash val="solid"/>
                      <a:round/>
                      <a:headEnd type="none" w="med" len="med"/>
                      <a:tailEnd type="none" w="med" len="med"/>
                    </a:lnB>
                    <a:solidFill>
                      <a:schemeClr val="accent2">
                        <a:lumMod val="50000"/>
                      </a:schemeClr>
                    </a:solidFill>
                  </a:tcPr>
                </a:tc>
                <a:extLst>
                  <a:ext uri="{0D108BD9-81ED-4DB2-BD59-A6C34878D82A}">
                    <a16:rowId xmlns:a16="http://schemas.microsoft.com/office/drawing/2014/main" val="1171601047"/>
                  </a:ext>
                </a:extLst>
              </a:tr>
              <a:tr h="499693">
                <a:tc>
                  <a:txBody>
                    <a:bodyPr/>
                    <a:lstStyle/>
                    <a:p>
                      <a:pPr algn="l" fontAlgn="base" latinLnBrk="0"/>
                      <a:r>
                        <a:rPr lang="zh-CN" altLang="en-US" sz="1200" b="1" dirty="0">
                          <a:solidFill>
                            <a:srgbClr val="000000"/>
                          </a:solidFill>
                          <a:effectLst/>
                          <a:latin typeface="+mj-ea"/>
                          <a:ea typeface="+mj-ea"/>
                        </a:rPr>
                        <a:t>​研发与产业化​</a:t>
                      </a:r>
                    </a:p>
                  </a:txBody>
                  <a:tcPr marL="29535" marR="30766" marT="15383" marB="15383" anchor="ctr">
                    <a:lnL>
                      <a:noFill/>
                    </a:lnL>
                    <a:lnR>
                      <a:noFill/>
                    </a:lnR>
                    <a:lnT w="7144" cap="flat" cmpd="sng" algn="ctr">
                      <a:solidFill>
                        <a:srgbClr val="1C3879"/>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rgbClr val="C5D5ED"/>
                    </a:solidFill>
                  </a:tcPr>
                </a:tc>
                <a:tc>
                  <a:txBody>
                    <a:bodyPr/>
                    <a:lstStyle/>
                    <a:p>
                      <a:pPr algn="l" fontAlgn="base" latinLnBrk="0"/>
                      <a:r>
                        <a:rPr lang="zh-CN" altLang="en-US" sz="1000" dirty="0">
                          <a:solidFill>
                            <a:schemeClr val="bg1"/>
                          </a:solidFill>
                          <a:effectLst/>
                          <a:latin typeface="+mj-ea"/>
                          <a:ea typeface="+mj-ea"/>
                        </a:rPr>
                        <a:t>​</a:t>
                      </a:r>
                      <a:r>
                        <a:rPr lang="zh-CN" altLang="en-US" sz="1000" b="1" dirty="0">
                          <a:solidFill>
                            <a:schemeClr val="bg1"/>
                          </a:solidFill>
                          <a:effectLst/>
                          <a:latin typeface="+mj-ea"/>
                          <a:ea typeface="+mj-ea"/>
                        </a:rPr>
                        <a:t>构筑并持续强化技术领先的绝对壁垒</a:t>
                      </a:r>
                      <a:r>
                        <a:rPr lang="zh-CN" altLang="en-US" sz="1000" dirty="0">
                          <a:solidFill>
                            <a:schemeClr val="bg1"/>
                          </a:solidFill>
                          <a:effectLst/>
                          <a:latin typeface="+mj-ea"/>
                          <a:ea typeface="+mj-ea"/>
                        </a:rPr>
                        <a:t>​</a:t>
                      </a:r>
                    </a:p>
                  </a:txBody>
                  <a:tcPr marL="29535" marR="30766" marT="15383" marB="15383" anchor="ctr">
                    <a:lnL>
                      <a:noFill/>
                    </a:lnL>
                    <a:lnR>
                      <a:noFill/>
                    </a:lnR>
                    <a:lnT w="7144" cap="flat" cmpd="sng" algn="ctr">
                      <a:solidFill>
                        <a:srgbClr val="1C3879"/>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a:solidFill>
                            <a:schemeClr val="bg1"/>
                          </a:solidFill>
                          <a:effectLst/>
                          <a:latin typeface="+mj-ea"/>
                          <a:ea typeface="+mj-ea"/>
                        </a:rPr>
                        <a:t>• </a:t>
                      </a:r>
                      <a:r>
                        <a:rPr lang="zh-CN" altLang="en-US" sz="1000">
                          <a:solidFill>
                            <a:schemeClr val="bg1"/>
                          </a:solidFill>
                          <a:effectLst/>
                          <a:latin typeface="+mj-ea"/>
                          <a:ea typeface="+mj-ea"/>
                        </a:rPr>
                        <a:t>攻坚</a:t>
                      </a:r>
                      <a:r>
                        <a:rPr lang="en-US" altLang="zh-CN" sz="1000">
                          <a:solidFill>
                            <a:schemeClr val="bg1"/>
                          </a:solidFill>
                          <a:effectLst/>
                          <a:latin typeface="+mj-ea"/>
                          <a:ea typeface="+mj-ea"/>
                        </a:rPr>
                        <a:t>VRIN</a:t>
                      </a:r>
                      <a:r>
                        <a:rPr lang="zh-CN" altLang="en-US" sz="1000">
                          <a:solidFill>
                            <a:schemeClr val="bg1"/>
                          </a:solidFill>
                          <a:effectLst/>
                          <a:latin typeface="+mj-ea"/>
                          <a:ea typeface="+mj-ea"/>
                        </a:rPr>
                        <a:t>资源，构建专利组合。</a:t>
                      </a:r>
                      <a:br>
                        <a:rPr lang="zh-CN" altLang="en-US" sz="1000">
                          <a:solidFill>
                            <a:schemeClr val="bg1"/>
                          </a:solidFill>
                          <a:effectLst/>
                          <a:latin typeface="+mj-ea"/>
                          <a:ea typeface="+mj-ea"/>
                        </a:rPr>
                      </a:br>
                      <a:r>
                        <a:rPr lang="en-US" altLang="zh-CN" sz="1000">
                          <a:solidFill>
                            <a:schemeClr val="bg1"/>
                          </a:solidFill>
                          <a:effectLst/>
                          <a:latin typeface="+mj-ea"/>
                          <a:ea typeface="+mj-ea"/>
                        </a:rPr>
                        <a:t>• </a:t>
                      </a:r>
                      <a:r>
                        <a:rPr lang="zh-CN" altLang="en-US" sz="1000">
                          <a:solidFill>
                            <a:schemeClr val="bg1"/>
                          </a:solidFill>
                          <a:effectLst/>
                          <a:latin typeface="+mj-ea"/>
                          <a:ea typeface="+mj-ea"/>
                        </a:rPr>
                        <a:t>驱动“创新飞轮”，实现技术产品化。</a:t>
                      </a:r>
                      <a:br>
                        <a:rPr lang="zh-CN" altLang="en-US" sz="1000">
                          <a:solidFill>
                            <a:schemeClr val="bg1"/>
                          </a:solidFill>
                          <a:effectLst/>
                          <a:latin typeface="+mj-ea"/>
                          <a:ea typeface="+mj-ea"/>
                        </a:rPr>
                      </a:br>
                      <a:r>
                        <a:rPr lang="en-US" altLang="zh-CN" sz="1000">
                          <a:solidFill>
                            <a:schemeClr val="bg1"/>
                          </a:solidFill>
                          <a:effectLst/>
                          <a:latin typeface="+mj-ea"/>
                          <a:ea typeface="+mj-ea"/>
                        </a:rPr>
                        <a:t>• </a:t>
                      </a:r>
                      <a:r>
                        <a:rPr lang="zh-CN" altLang="en-US" sz="1000">
                          <a:solidFill>
                            <a:schemeClr val="bg1"/>
                          </a:solidFill>
                          <a:effectLst/>
                          <a:latin typeface="+mj-ea"/>
                          <a:ea typeface="+mj-ea"/>
                        </a:rPr>
                        <a:t>设计为制造与成本服务（</a:t>
                      </a:r>
                      <a:r>
                        <a:rPr lang="en-US" altLang="zh-CN" sz="1000">
                          <a:solidFill>
                            <a:schemeClr val="bg1"/>
                          </a:solidFill>
                          <a:effectLst/>
                          <a:latin typeface="+mj-ea"/>
                          <a:ea typeface="+mj-ea"/>
                        </a:rPr>
                        <a:t>DFM/DFA</a:t>
                      </a:r>
                      <a:r>
                        <a:rPr lang="zh-CN" altLang="en-US" sz="1000">
                          <a:solidFill>
                            <a:schemeClr val="bg1"/>
                          </a:solidFill>
                          <a:effectLst/>
                          <a:latin typeface="+mj-ea"/>
                          <a:ea typeface="+mj-ea"/>
                        </a:rPr>
                        <a:t>）。</a:t>
                      </a:r>
                    </a:p>
                  </a:txBody>
                  <a:tcPr marL="29535" marR="30766" marT="15383" marB="15383" anchor="ctr">
                    <a:lnL>
                      <a:noFill/>
                    </a:lnL>
                    <a:lnR w="12700" cap="flat" cmpd="sng" algn="ctr">
                      <a:solidFill>
                        <a:schemeClr val="tx1"/>
                      </a:solidFill>
                      <a:prstDash val="solid"/>
                      <a:round/>
                      <a:headEnd type="none" w="med" len="med"/>
                      <a:tailEnd type="none" w="med" len="med"/>
                    </a:lnR>
                    <a:lnT w="7144" cap="flat" cmpd="sng" algn="ctr">
                      <a:solidFill>
                        <a:srgbClr val="1C3879"/>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dirty="0">
                          <a:solidFill>
                            <a:schemeClr val="tx1"/>
                          </a:solidFill>
                          <a:effectLst/>
                          <a:latin typeface="+mj-ea"/>
                          <a:ea typeface="+mj-ea"/>
                        </a:rPr>
                        <a:t>• ​</a:t>
                      </a:r>
                      <a:r>
                        <a:rPr lang="zh-CN" altLang="en-US" sz="1000" b="1" dirty="0">
                          <a:solidFill>
                            <a:schemeClr val="tx1"/>
                          </a:solidFill>
                          <a:effectLst/>
                          <a:latin typeface="+mj-ea"/>
                          <a:ea typeface="+mj-ea"/>
                        </a:rPr>
                        <a:t>新产品引入计划：​</a:t>
                      </a:r>
                      <a:r>
                        <a:rPr lang="zh-CN" altLang="en-US" sz="1000" dirty="0">
                          <a:solidFill>
                            <a:schemeClr val="tx1"/>
                          </a:solidFill>
                          <a:effectLst/>
                          <a:latin typeface="+mj-ea"/>
                          <a:ea typeface="+mj-ea"/>
                        </a:rPr>
                        <a:t>​ 主导制定技术路线图与新产品导入（</a:t>
                      </a:r>
                      <a:r>
                        <a:rPr lang="en-US" altLang="zh-CN" sz="1000" dirty="0">
                          <a:solidFill>
                            <a:schemeClr val="tx1"/>
                          </a:solidFill>
                          <a:effectLst/>
                          <a:latin typeface="+mj-ea"/>
                          <a:ea typeface="+mj-ea"/>
                        </a:rPr>
                        <a:t>NPI</a:t>
                      </a:r>
                      <a:r>
                        <a:rPr lang="zh-CN" altLang="en-US" sz="1000" dirty="0">
                          <a:solidFill>
                            <a:schemeClr val="tx1"/>
                          </a:solidFill>
                          <a:effectLst/>
                          <a:latin typeface="+mj-ea"/>
                          <a:ea typeface="+mj-ea"/>
                        </a:rPr>
                        <a:t>）计划，为需求与供应计划提供输入。</a:t>
                      </a:r>
                      <a:br>
                        <a:rPr lang="zh-CN" altLang="en-US" sz="1000" dirty="0">
                          <a:solidFill>
                            <a:schemeClr val="tx1"/>
                          </a:solidFill>
                          <a:effectLst/>
                          <a:latin typeface="+mj-ea"/>
                          <a:ea typeface="+mj-ea"/>
                        </a:rPr>
                      </a:br>
                      <a:r>
                        <a:rPr lang="en-US" altLang="zh-CN" sz="1000" dirty="0">
                          <a:solidFill>
                            <a:schemeClr val="tx1"/>
                          </a:solidFill>
                          <a:effectLst/>
                          <a:latin typeface="+mj-ea"/>
                          <a:ea typeface="+mj-ea"/>
                        </a:rPr>
                        <a:t>• ​</a:t>
                      </a:r>
                      <a:r>
                        <a:rPr lang="zh-CN" altLang="en-US" sz="1000" b="1" dirty="0">
                          <a:solidFill>
                            <a:schemeClr val="tx1"/>
                          </a:solidFill>
                          <a:effectLst/>
                          <a:latin typeface="+mj-ea"/>
                          <a:ea typeface="+mj-ea"/>
                        </a:rPr>
                        <a:t>资源规划：​</a:t>
                      </a:r>
                      <a:r>
                        <a:rPr lang="zh-CN" altLang="en-US" sz="1000" dirty="0">
                          <a:solidFill>
                            <a:schemeClr val="tx1"/>
                          </a:solidFill>
                          <a:effectLst/>
                          <a:latin typeface="+mj-ea"/>
                          <a:ea typeface="+mj-ea"/>
                        </a:rPr>
                        <a:t>​ 评估并规划实现技术蓝图所需的研发资源（人力、设备）。</a:t>
                      </a:r>
                    </a:p>
                  </a:txBody>
                  <a:tcPr marL="31999" marR="33332" marT="16666" marB="166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080146339"/>
                  </a:ext>
                </a:extLst>
              </a:tr>
              <a:tr h="618434">
                <a:tc>
                  <a:txBody>
                    <a:bodyPr/>
                    <a:lstStyle/>
                    <a:p>
                      <a:pPr algn="l" fontAlgn="base" latinLnBrk="0"/>
                      <a:r>
                        <a:rPr lang="zh-CN" altLang="en-US" sz="1200" b="1">
                          <a:solidFill>
                            <a:srgbClr val="000000"/>
                          </a:solidFill>
                          <a:effectLst/>
                          <a:latin typeface="+mj-ea"/>
                          <a:ea typeface="+mj-ea"/>
                        </a:rPr>
                        <a:t>​营销与销售​</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rgbClr val="C5D5ED"/>
                    </a:solidFill>
                  </a:tcPr>
                </a:tc>
                <a:tc>
                  <a:txBody>
                    <a:bodyPr/>
                    <a:lstStyle/>
                    <a:p>
                      <a:pPr algn="l" fontAlgn="base" latinLnBrk="0"/>
                      <a:r>
                        <a:rPr lang="zh-CN" altLang="en-US" sz="1000" dirty="0">
                          <a:solidFill>
                            <a:schemeClr val="bg1"/>
                          </a:solidFill>
                          <a:effectLst/>
                          <a:latin typeface="+mj-ea"/>
                          <a:ea typeface="+mj-ea"/>
                        </a:rPr>
                        <a:t>​</a:t>
                      </a:r>
                      <a:r>
                        <a:rPr lang="zh-CN" altLang="en-US" sz="1000" b="1" dirty="0">
                          <a:solidFill>
                            <a:schemeClr val="bg1"/>
                          </a:solidFill>
                          <a:effectLst/>
                          <a:latin typeface="+mj-ea"/>
                          <a:ea typeface="+mj-ea"/>
                        </a:rPr>
                        <a:t>将技术优势转化为市场统治力和品牌溢价</a:t>
                      </a:r>
                      <a:r>
                        <a:rPr lang="zh-CN" altLang="en-US" sz="1000" dirty="0">
                          <a:solidFill>
                            <a:schemeClr val="bg1"/>
                          </a:solidFill>
                          <a:effectLst/>
                          <a:latin typeface="+mj-ea"/>
                          <a:ea typeface="+mj-ea"/>
                        </a:rPr>
                        <a:t>​</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dirty="0">
                          <a:solidFill>
                            <a:schemeClr val="bg1"/>
                          </a:solidFill>
                          <a:effectLst/>
                          <a:latin typeface="+mj-ea"/>
                          <a:ea typeface="+mj-ea"/>
                        </a:rPr>
                        <a:t>• </a:t>
                      </a:r>
                      <a:r>
                        <a:rPr lang="zh-CN" altLang="en-US" sz="1000" dirty="0">
                          <a:solidFill>
                            <a:schemeClr val="bg1"/>
                          </a:solidFill>
                          <a:effectLst/>
                          <a:latin typeface="+mj-ea"/>
                          <a:ea typeface="+mj-ea"/>
                        </a:rPr>
                        <a:t>精准定义“在哪打”和“怎么打”。</a:t>
                      </a:r>
                      <a:br>
                        <a:rPr lang="zh-CN" altLang="en-US" sz="1000" dirty="0">
                          <a:solidFill>
                            <a:schemeClr val="bg1"/>
                          </a:solidFill>
                          <a:effectLst/>
                          <a:latin typeface="+mj-ea"/>
                          <a:ea typeface="+mj-ea"/>
                        </a:rPr>
                      </a:br>
                      <a:r>
                        <a:rPr lang="en-US" altLang="zh-CN" sz="1000" dirty="0">
                          <a:solidFill>
                            <a:schemeClr val="bg1"/>
                          </a:solidFill>
                          <a:effectLst/>
                          <a:latin typeface="+mj-ea"/>
                          <a:ea typeface="+mj-ea"/>
                        </a:rPr>
                        <a:t>• </a:t>
                      </a:r>
                      <a:r>
                        <a:rPr lang="zh-CN" altLang="en-US" sz="1000" dirty="0">
                          <a:solidFill>
                            <a:schemeClr val="bg1"/>
                          </a:solidFill>
                          <a:effectLst/>
                          <a:latin typeface="+mj-ea"/>
                          <a:ea typeface="+mj-ea"/>
                        </a:rPr>
                        <a:t>传递“混合战略”价值。</a:t>
                      </a:r>
                      <a:br>
                        <a:rPr lang="zh-CN" altLang="en-US" sz="1000" dirty="0">
                          <a:solidFill>
                            <a:schemeClr val="bg1"/>
                          </a:solidFill>
                          <a:effectLst/>
                          <a:latin typeface="+mj-ea"/>
                          <a:ea typeface="+mj-ea"/>
                        </a:rPr>
                      </a:br>
                      <a:r>
                        <a:rPr lang="en-US" altLang="zh-CN" sz="1000" dirty="0">
                          <a:solidFill>
                            <a:schemeClr val="bg1"/>
                          </a:solidFill>
                          <a:effectLst/>
                          <a:latin typeface="+mj-ea"/>
                          <a:ea typeface="+mj-ea"/>
                        </a:rPr>
                        <a:t>• </a:t>
                      </a:r>
                      <a:r>
                        <a:rPr lang="zh-CN" altLang="en-US" sz="1000" dirty="0">
                          <a:solidFill>
                            <a:schemeClr val="bg1"/>
                          </a:solidFill>
                          <a:effectLst/>
                          <a:latin typeface="+mj-ea"/>
                          <a:ea typeface="+mj-ea"/>
                        </a:rPr>
                        <a:t>执行市场开发。</a:t>
                      </a:r>
                    </a:p>
                  </a:txBody>
                  <a:tcPr marL="29535" marR="30766" marT="15383" marB="15383" anchor="ctr">
                    <a:lnL>
                      <a:noFill/>
                    </a:lnL>
                    <a:lnR w="12700" cap="flat" cmpd="sng" algn="ctr">
                      <a:solidFill>
                        <a:schemeClr val="tx1"/>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a:solidFill>
                            <a:schemeClr val="tx1"/>
                          </a:solidFill>
                          <a:effectLst/>
                          <a:latin typeface="+mj-ea"/>
                          <a:ea typeface="+mj-ea"/>
                        </a:rPr>
                        <a:t>• ​</a:t>
                      </a:r>
                      <a:r>
                        <a:rPr lang="zh-CN" altLang="en-US" sz="1000" b="1">
                          <a:solidFill>
                            <a:schemeClr val="tx1"/>
                          </a:solidFill>
                          <a:effectLst/>
                          <a:latin typeface="+mj-ea"/>
                          <a:ea typeface="+mj-ea"/>
                        </a:rPr>
                        <a:t>需求计划：​</a:t>
                      </a:r>
                      <a:r>
                        <a:rPr lang="zh-CN" altLang="en-US" sz="1000">
                          <a:solidFill>
                            <a:schemeClr val="tx1"/>
                          </a:solidFill>
                          <a:effectLst/>
                          <a:latin typeface="+mj-ea"/>
                          <a:ea typeface="+mj-ea"/>
                        </a:rPr>
                        <a:t>​ ​</a:t>
                      </a:r>
                      <a:r>
                        <a:rPr lang="zh-CN" altLang="en-US" sz="1000" b="1">
                          <a:solidFill>
                            <a:schemeClr val="tx1"/>
                          </a:solidFill>
                          <a:effectLst/>
                          <a:latin typeface="+mj-ea"/>
                          <a:ea typeface="+mj-ea"/>
                        </a:rPr>
                        <a:t>主导</a:t>
                      </a:r>
                      <a:r>
                        <a:rPr lang="zh-CN" altLang="en-US" sz="1000">
                          <a:solidFill>
                            <a:schemeClr val="tx1"/>
                          </a:solidFill>
                          <a:effectLst/>
                          <a:latin typeface="+mj-ea"/>
                          <a:ea typeface="+mj-ea"/>
                        </a:rPr>
                        <a:t>生成、维护并负责销售预测（</a:t>
                      </a:r>
                      <a:r>
                        <a:rPr lang="en-US" altLang="zh-CN" sz="1000">
                          <a:solidFill>
                            <a:schemeClr val="tx1"/>
                          </a:solidFill>
                          <a:effectLst/>
                          <a:latin typeface="+mj-ea"/>
                          <a:ea typeface="+mj-ea"/>
                        </a:rPr>
                        <a:t>Sales Forecast</a:t>
                      </a:r>
                      <a:r>
                        <a:rPr lang="zh-CN" altLang="en-US" sz="1000">
                          <a:solidFill>
                            <a:schemeClr val="tx1"/>
                          </a:solidFill>
                          <a:effectLst/>
                          <a:latin typeface="+mj-ea"/>
                          <a:ea typeface="+mj-ea"/>
                        </a:rPr>
                        <a:t>），并将其转化为统一的需求计划（</a:t>
                      </a:r>
                      <a:r>
                        <a:rPr lang="en-US" altLang="zh-CN" sz="1000">
                          <a:solidFill>
                            <a:schemeClr val="tx1"/>
                          </a:solidFill>
                          <a:effectLst/>
                          <a:latin typeface="+mj-ea"/>
                          <a:ea typeface="+mj-ea"/>
                        </a:rPr>
                        <a:t>Demand Plan</a:t>
                      </a:r>
                      <a:r>
                        <a:rPr lang="zh-CN" altLang="en-US" sz="1000">
                          <a:solidFill>
                            <a:schemeClr val="tx1"/>
                          </a:solidFill>
                          <a:effectLst/>
                          <a:latin typeface="+mj-ea"/>
                          <a:ea typeface="+mj-ea"/>
                        </a:rPr>
                        <a:t>）。</a:t>
                      </a:r>
                      <a:br>
                        <a:rPr lang="zh-CN" altLang="en-US" sz="1000">
                          <a:solidFill>
                            <a:schemeClr val="tx1"/>
                          </a:solidFill>
                          <a:effectLst/>
                          <a:latin typeface="+mj-ea"/>
                          <a:ea typeface="+mj-ea"/>
                        </a:rPr>
                      </a:br>
                      <a:r>
                        <a:rPr lang="en-US" altLang="zh-CN" sz="1000">
                          <a:solidFill>
                            <a:schemeClr val="tx1"/>
                          </a:solidFill>
                          <a:effectLst/>
                          <a:latin typeface="+mj-ea"/>
                          <a:ea typeface="+mj-ea"/>
                        </a:rPr>
                        <a:t>• ​</a:t>
                      </a:r>
                      <a:r>
                        <a:rPr lang="zh-CN" altLang="en-US" sz="1000" b="1">
                          <a:solidFill>
                            <a:schemeClr val="tx1"/>
                          </a:solidFill>
                          <a:effectLst/>
                          <a:latin typeface="+mj-ea"/>
                          <a:ea typeface="+mj-ea"/>
                        </a:rPr>
                        <a:t>集成业务规划（</a:t>
                      </a:r>
                      <a:r>
                        <a:rPr lang="en-US" altLang="zh-CN" sz="1000" b="1">
                          <a:solidFill>
                            <a:schemeClr val="tx1"/>
                          </a:solidFill>
                          <a:effectLst/>
                          <a:latin typeface="+mj-ea"/>
                          <a:ea typeface="+mj-ea"/>
                        </a:rPr>
                        <a:t>IBP</a:t>
                      </a:r>
                      <a:r>
                        <a:rPr lang="zh-CN" altLang="en-US" sz="1000" b="1">
                          <a:solidFill>
                            <a:schemeClr val="tx1"/>
                          </a:solidFill>
                          <a:effectLst/>
                          <a:latin typeface="+mj-ea"/>
                          <a:ea typeface="+mj-ea"/>
                        </a:rPr>
                        <a:t>）输入：​</a:t>
                      </a:r>
                      <a:r>
                        <a:rPr lang="zh-CN" altLang="en-US" sz="1000">
                          <a:solidFill>
                            <a:schemeClr val="tx1"/>
                          </a:solidFill>
                          <a:effectLst/>
                          <a:latin typeface="+mj-ea"/>
                          <a:ea typeface="+mj-ea"/>
                        </a:rPr>
                        <a:t>​ 在</a:t>
                      </a:r>
                      <a:r>
                        <a:rPr lang="en-US" altLang="zh-CN" sz="1000">
                          <a:solidFill>
                            <a:schemeClr val="tx1"/>
                          </a:solidFill>
                          <a:effectLst/>
                          <a:latin typeface="+mj-ea"/>
                          <a:ea typeface="+mj-ea"/>
                        </a:rPr>
                        <a:t>S&amp;OP/IBP</a:t>
                      </a:r>
                      <a:r>
                        <a:rPr lang="zh-CN" altLang="en-US" sz="1000">
                          <a:solidFill>
                            <a:schemeClr val="tx1"/>
                          </a:solidFill>
                          <a:effectLst/>
                          <a:latin typeface="+mj-ea"/>
                          <a:ea typeface="+mj-ea"/>
                        </a:rPr>
                        <a:t>会议上代表市场需求，汇报业绩并预测未来变化。</a:t>
                      </a:r>
                    </a:p>
                  </a:txBody>
                  <a:tcPr marL="31999" marR="33332" marT="16666" marB="166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172595118"/>
                  </a:ext>
                </a:extLst>
              </a:tr>
              <a:tr h="908062">
                <a:tc>
                  <a:txBody>
                    <a:bodyPr/>
                    <a:lstStyle/>
                    <a:p>
                      <a:pPr algn="l" fontAlgn="base" latinLnBrk="0"/>
                      <a:r>
                        <a:rPr lang="zh-CN" altLang="en-US" sz="1200" b="1">
                          <a:solidFill>
                            <a:srgbClr val="000000"/>
                          </a:solidFill>
                          <a:effectLst/>
                          <a:latin typeface="+mj-ea"/>
                          <a:ea typeface="+mj-ea"/>
                        </a:rPr>
                        <a:t>​制造​</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rgbClr val="C5D5ED"/>
                    </a:solidFill>
                  </a:tcPr>
                </a:tc>
                <a:tc>
                  <a:txBody>
                    <a:bodyPr/>
                    <a:lstStyle/>
                    <a:p>
                      <a:pPr algn="l" fontAlgn="base" latinLnBrk="0"/>
                      <a:r>
                        <a:rPr lang="zh-CN" altLang="en-US" sz="1000">
                          <a:solidFill>
                            <a:schemeClr val="bg1"/>
                          </a:solidFill>
                          <a:effectLst/>
                          <a:latin typeface="+mj-ea"/>
                          <a:ea typeface="+mj-ea"/>
                        </a:rPr>
                        <a:t>​</a:t>
                      </a:r>
                      <a:r>
                        <a:rPr lang="zh-CN" altLang="en-US" sz="1000" b="1">
                          <a:solidFill>
                            <a:schemeClr val="bg1"/>
                          </a:solidFill>
                          <a:effectLst/>
                          <a:latin typeface="+mj-ea"/>
                          <a:ea typeface="+mj-ea"/>
                        </a:rPr>
                        <a:t>将技术成果通过精益生产转化为质量与成本的竞争优势</a:t>
                      </a:r>
                      <a:r>
                        <a:rPr lang="zh-CN" altLang="en-US" sz="1000">
                          <a:solidFill>
                            <a:schemeClr val="bg1"/>
                          </a:solidFill>
                          <a:effectLst/>
                          <a:latin typeface="+mj-ea"/>
                          <a:ea typeface="+mj-ea"/>
                        </a:rPr>
                        <a:t>​</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dirty="0">
                          <a:solidFill>
                            <a:schemeClr val="bg1"/>
                          </a:solidFill>
                          <a:effectLst/>
                          <a:latin typeface="+mj-ea"/>
                          <a:ea typeface="+mj-ea"/>
                        </a:rPr>
                        <a:t>• ​</a:t>
                      </a:r>
                      <a:r>
                        <a:rPr lang="zh-CN" altLang="en-US" sz="1000" b="1" dirty="0">
                          <a:solidFill>
                            <a:schemeClr val="bg1"/>
                          </a:solidFill>
                          <a:effectLst/>
                          <a:latin typeface="+mj-ea"/>
                          <a:ea typeface="+mj-ea"/>
                        </a:rPr>
                        <a:t>实现“成本优势”：​</a:t>
                      </a:r>
                      <a:r>
                        <a:rPr lang="zh-CN" altLang="en-US" sz="1000" dirty="0">
                          <a:solidFill>
                            <a:schemeClr val="bg1"/>
                          </a:solidFill>
                          <a:effectLst/>
                          <a:latin typeface="+mj-ea"/>
                          <a:ea typeface="+mj-ea"/>
                        </a:rPr>
                        <a:t>​ 通过规模经济与精益制造，极致降低成本。</a:t>
                      </a:r>
                      <a:br>
                        <a:rPr lang="zh-CN" altLang="en-US" sz="1000" dirty="0">
                          <a:solidFill>
                            <a:schemeClr val="bg1"/>
                          </a:solidFill>
                          <a:effectLst/>
                          <a:latin typeface="+mj-ea"/>
                          <a:ea typeface="+mj-ea"/>
                        </a:rPr>
                      </a:br>
                      <a:r>
                        <a:rPr lang="en-US" altLang="zh-CN" sz="1000" dirty="0">
                          <a:solidFill>
                            <a:schemeClr val="bg1"/>
                          </a:solidFill>
                          <a:effectLst/>
                          <a:latin typeface="+mj-ea"/>
                          <a:ea typeface="+mj-ea"/>
                        </a:rPr>
                        <a:t>• ​</a:t>
                      </a:r>
                      <a:r>
                        <a:rPr lang="zh-CN" altLang="en-US" sz="1000" b="1" dirty="0">
                          <a:solidFill>
                            <a:schemeClr val="bg1"/>
                          </a:solidFill>
                          <a:effectLst/>
                          <a:latin typeface="+mj-ea"/>
                          <a:ea typeface="+mj-ea"/>
                        </a:rPr>
                        <a:t>保障“差异化”质量：​</a:t>
                      </a:r>
                      <a:r>
                        <a:rPr lang="zh-CN" altLang="en-US" sz="1000" dirty="0">
                          <a:solidFill>
                            <a:schemeClr val="bg1"/>
                          </a:solidFill>
                          <a:effectLst/>
                          <a:latin typeface="+mj-ea"/>
                          <a:ea typeface="+mj-ea"/>
                        </a:rPr>
                        <a:t>​ 建立超越行业标准的极致质量管理体系。</a:t>
                      </a:r>
                      <a:br>
                        <a:rPr lang="zh-CN" altLang="en-US" sz="1000" dirty="0">
                          <a:solidFill>
                            <a:schemeClr val="bg1"/>
                          </a:solidFill>
                          <a:effectLst/>
                          <a:latin typeface="+mj-ea"/>
                          <a:ea typeface="+mj-ea"/>
                        </a:rPr>
                      </a:br>
                      <a:r>
                        <a:rPr lang="en-US" altLang="zh-CN" sz="1000" dirty="0">
                          <a:solidFill>
                            <a:schemeClr val="bg1"/>
                          </a:solidFill>
                          <a:effectLst/>
                          <a:latin typeface="+mj-ea"/>
                          <a:ea typeface="+mj-ea"/>
                        </a:rPr>
                        <a:t>• ​</a:t>
                      </a:r>
                      <a:r>
                        <a:rPr lang="zh-CN" altLang="en-US" sz="1000" b="1" dirty="0">
                          <a:solidFill>
                            <a:schemeClr val="bg1"/>
                          </a:solidFill>
                          <a:effectLst/>
                          <a:latin typeface="+mj-ea"/>
                          <a:ea typeface="+mj-ea"/>
                        </a:rPr>
                        <a:t>支持产品多元化：​</a:t>
                      </a:r>
                      <a:r>
                        <a:rPr lang="zh-CN" altLang="en-US" sz="1000" dirty="0">
                          <a:solidFill>
                            <a:schemeClr val="bg1"/>
                          </a:solidFill>
                          <a:effectLst/>
                          <a:latin typeface="+mj-ea"/>
                          <a:ea typeface="+mj-ea"/>
                        </a:rPr>
                        <a:t>​ 构建柔性生产能力，实现快速换线与共线生产。</a:t>
                      </a:r>
                    </a:p>
                  </a:txBody>
                  <a:tcPr marL="29535" marR="30766" marT="15383" marB="15383" anchor="ctr">
                    <a:lnL>
                      <a:noFill/>
                    </a:lnL>
                    <a:lnR w="12700" cap="flat" cmpd="sng" algn="ctr">
                      <a:solidFill>
                        <a:schemeClr val="tx1"/>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a:solidFill>
                            <a:schemeClr val="tx1"/>
                          </a:solidFill>
                          <a:effectLst/>
                          <a:latin typeface="+mj-ea"/>
                          <a:ea typeface="+mj-ea"/>
                        </a:rPr>
                        <a:t>• ​</a:t>
                      </a:r>
                      <a:r>
                        <a:rPr lang="zh-CN" altLang="en-US" sz="1000" b="1">
                          <a:solidFill>
                            <a:schemeClr val="tx1"/>
                          </a:solidFill>
                          <a:effectLst/>
                          <a:latin typeface="+mj-ea"/>
                          <a:ea typeface="+mj-ea"/>
                        </a:rPr>
                        <a:t>供应计划：​</a:t>
                      </a:r>
                      <a:r>
                        <a:rPr lang="zh-CN" altLang="en-US" sz="1000">
                          <a:solidFill>
                            <a:schemeClr val="tx1"/>
                          </a:solidFill>
                          <a:effectLst/>
                          <a:latin typeface="+mj-ea"/>
                          <a:ea typeface="+mj-ea"/>
                        </a:rPr>
                        <a:t>​ ​</a:t>
                      </a:r>
                      <a:r>
                        <a:rPr lang="zh-CN" altLang="en-US" sz="1000" b="1">
                          <a:solidFill>
                            <a:schemeClr val="tx1"/>
                          </a:solidFill>
                          <a:effectLst/>
                          <a:latin typeface="+mj-ea"/>
                          <a:ea typeface="+mj-ea"/>
                        </a:rPr>
                        <a:t>主导</a:t>
                      </a:r>
                      <a:r>
                        <a:rPr lang="zh-CN" altLang="en-US" sz="1000">
                          <a:solidFill>
                            <a:schemeClr val="tx1"/>
                          </a:solidFill>
                          <a:effectLst/>
                          <a:latin typeface="+mj-ea"/>
                          <a:ea typeface="+mj-ea"/>
                        </a:rPr>
                        <a:t>制定可行的主生产计划（</a:t>
                      </a:r>
                      <a:r>
                        <a:rPr lang="en-US" altLang="zh-CN" sz="1000">
                          <a:solidFill>
                            <a:schemeClr val="tx1"/>
                          </a:solidFill>
                          <a:effectLst/>
                          <a:latin typeface="+mj-ea"/>
                          <a:ea typeface="+mj-ea"/>
                        </a:rPr>
                        <a:t>MPS</a:t>
                      </a:r>
                      <a:r>
                        <a:rPr lang="zh-CN" altLang="en-US" sz="1000">
                          <a:solidFill>
                            <a:schemeClr val="tx1"/>
                          </a:solidFill>
                          <a:effectLst/>
                          <a:latin typeface="+mj-ea"/>
                          <a:ea typeface="+mj-ea"/>
                        </a:rPr>
                        <a:t>），将需求计划转化为制造策略，并负责粗能力规划（</a:t>
                      </a:r>
                      <a:r>
                        <a:rPr lang="en-US" altLang="zh-CN" sz="1000">
                          <a:solidFill>
                            <a:schemeClr val="tx1"/>
                          </a:solidFill>
                          <a:effectLst/>
                          <a:latin typeface="+mj-ea"/>
                          <a:ea typeface="+mj-ea"/>
                        </a:rPr>
                        <a:t>RCCP</a:t>
                      </a:r>
                      <a:r>
                        <a:rPr lang="zh-CN" altLang="en-US" sz="1000">
                          <a:solidFill>
                            <a:schemeClr val="tx1"/>
                          </a:solidFill>
                          <a:effectLst/>
                          <a:latin typeface="+mj-ea"/>
                          <a:ea typeface="+mj-ea"/>
                        </a:rPr>
                        <a:t>）。</a:t>
                      </a:r>
                      <a:br>
                        <a:rPr lang="zh-CN" altLang="en-US" sz="1000">
                          <a:solidFill>
                            <a:schemeClr val="tx1"/>
                          </a:solidFill>
                          <a:effectLst/>
                          <a:latin typeface="+mj-ea"/>
                          <a:ea typeface="+mj-ea"/>
                        </a:rPr>
                      </a:br>
                      <a:r>
                        <a:rPr lang="en-US" altLang="zh-CN" sz="1000">
                          <a:solidFill>
                            <a:schemeClr val="tx1"/>
                          </a:solidFill>
                          <a:effectLst/>
                          <a:latin typeface="+mj-ea"/>
                          <a:ea typeface="+mj-ea"/>
                        </a:rPr>
                        <a:t>• ​</a:t>
                      </a:r>
                      <a:r>
                        <a:rPr lang="zh-CN" altLang="en-US" sz="1000" b="1">
                          <a:solidFill>
                            <a:schemeClr val="tx1"/>
                          </a:solidFill>
                          <a:effectLst/>
                          <a:latin typeface="+mj-ea"/>
                          <a:ea typeface="+mj-ea"/>
                        </a:rPr>
                        <a:t>详细排程：​</a:t>
                      </a:r>
                      <a:r>
                        <a:rPr lang="zh-CN" altLang="en-US" sz="1000">
                          <a:solidFill>
                            <a:schemeClr val="tx1"/>
                          </a:solidFill>
                          <a:effectLst/>
                          <a:latin typeface="+mj-ea"/>
                          <a:ea typeface="+mj-ea"/>
                        </a:rPr>
                        <a:t>​ 制定车间级别的详细作业计划，优化产能利用率和交付准时率。</a:t>
                      </a:r>
                    </a:p>
                  </a:txBody>
                  <a:tcPr marL="31999" marR="33332" marT="16666" marB="166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471253235"/>
                  </a:ext>
                </a:extLst>
              </a:tr>
              <a:tr h="908062">
                <a:tc>
                  <a:txBody>
                    <a:bodyPr/>
                    <a:lstStyle/>
                    <a:p>
                      <a:pPr algn="l" fontAlgn="base" latinLnBrk="0"/>
                      <a:r>
                        <a:rPr lang="zh-CN" altLang="en-US" sz="1200" b="1">
                          <a:solidFill>
                            <a:srgbClr val="000000"/>
                          </a:solidFill>
                          <a:effectLst/>
                          <a:latin typeface="+mj-ea"/>
                          <a:ea typeface="+mj-ea"/>
                        </a:rPr>
                        <a:t>​采购​</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rgbClr val="C5D5ED"/>
                    </a:solidFill>
                  </a:tcPr>
                </a:tc>
                <a:tc>
                  <a:txBody>
                    <a:bodyPr/>
                    <a:lstStyle/>
                    <a:p>
                      <a:pPr algn="l" fontAlgn="base" latinLnBrk="0"/>
                      <a:r>
                        <a:rPr lang="zh-CN" altLang="en-US" sz="1000">
                          <a:solidFill>
                            <a:schemeClr val="bg1"/>
                          </a:solidFill>
                          <a:effectLst/>
                          <a:latin typeface="+mj-ea"/>
                          <a:ea typeface="+mj-ea"/>
                        </a:rPr>
                        <a:t>​</a:t>
                      </a:r>
                      <a:r>
                        <a:rPr lang="zh-CN" altLang="en-US" sz="1000" b="1">
                          <a:solidFill>
                            <a:schemeClr val="bg1"/>
                          </a:solidFill>
                          <a:effectLst/>
                          <a:latin typeface="+mj-ea"/>
                          <a:ea typeface="+mj-ea"/>
                        </a:rPr>
                        <a:t>构建坚韧、高效、创新的供应商生态系统</a:t>
                      </a:r>
                      <a:r>
                        <a:rPr lang="zh-CN" altLang="en-US" sz="1000">
                          <a:solidFill>
                            <a:schemeClr val="bg1"/>
                          </a:solidFill>
                          <a:effectLst/>
                          <a:latin typeface="+mj-ea"/>
                          <a:ea typeface="+mj-ea"/>
                        </a:rPr>
                        <a:t>​</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dirty="0">
                          <a:solidFill>
                            <a:schemeClr val="bg1"/>
                          </a:solidFill>
                          <a:effectLst/>
                          <a:latin typeface="+mj-ea"/>
                          <a:ea typeface="+mj-ea"/>
                        </a:rPr>
                        <a:t>• ​</a:t>
                      </a:r>
                      <a:r>
                        <a:rPr lang="zh-CN" altLang="en-US" sz="1000" b="1" dirty="0">
                          <a:solidFill>
                            <a:schemeClr val="bg1"/>
                          </a:solidFill>
                          <a:effectLst/>
                          <a:latin typeface="+mj-ea"/>
                          <a:ea typeface="+mj-ea"/>
                        </a:rPr>
                        <a:t>战略寻源与垂直整合：​</a:t>
                      </a:r>
                      <a:r>
                        <a:rPr lang="zh-CN" altLang="en-US" sz="1000" dirty="0">
                          <a:solidFill>
                            <a:schemeClr val="bg1"/>
                          </a:solidFill>
                          <a:effectLst/>
                          <a:latin typeface="+mj-ea"/>
                          <a:ea typeface="+mj-ea"/>
                        </a:rPr>
                        <a:t>​ 对核心部件掌控，对通用部件建立多元供应体系。</a:t>
                      </a:r>
                      <a:br>
                        <a:rPr lang="zh-CN" altLang="en-US" sz="1000" dirty="0">
                          <a:solidFill>
                            <a:schemeClr val="bg1"/>
                          </a:solidFill>
                          <a:effectLst/>
                          <a:latin typeface="+mj-ea"/>
                          <a:ea typeface="+mj-ea"/>
                        </a:rPr>
                      </a:br>
                      <a:r>
                        <a:rPr lang="en-US" altLang="zh-CN" sz="1000" dirty="0">
                          <a:solidFill>
                            <a:schemeClr val="bg1"/>
                          </a:solidFill>
                          <a:effectLst/>
                          <a:latin typeface="+mj-ea"/>
                          <a:ea typeface="+mj-ea"/>
                        </a:rPr>
                        <a:t>• ​</a:t>
                      </a:r>
                      <a:r>
                        <a:rPr lang="zh-CN" altLang="en-US" sz="1000" b="1" dirty="0">
                          <a:solidFill>
                            <a:schemeClr val="bg1"/>
                          </a:solidFill>
                          <a:effectLst/>
                          <a:latin typeface="+mj-ea"/>
                          <a:ea typeface="+mj-ea"/>
                        </a:rPr>
                        <a:t>供应商关系管理：​</a:t>
                      </a:r>
                      <a:r>
                        <a:rPr lang="zh-CN" altLang="en-US" sz="1000" dirty="0">
                          <a:solidFill>
                            <a:schemeClr val="bg1"/>
                          </a:solidFill>
                          <a:effectLst/>
                          <a:latin typeface="+mj-ea"/>
                          <a:ea typeface="+mj-ea"/>
                        </a:rPr>
                        <a:t>​ 与核心供应商建立战略合作伙伴关系，共同创新。</a:t>
                      </a:r>
                      <a:br>
                        <a:rPr lang="zh-CN" altLang="en-US" sz="1000" dirty="0">
                          <a:solidFill>
                            <a:schemeClr val="bg1"/>
                          </a:solidFill>
                          <a:effectLst/>
                          <a:latin typeface="+mj-ea"/>
                          <a:ea typeface="+mj-ea"/>
                        </a:rPr>
                      </a:br>
                      <a:r>
                        <a:rPr lang="en-US" altLang="zh-CN" sz="1000" dirty="0">
                          <a:solidFill>
                            <a:schemeClr val="bg1"/>
                          </a:solidFill>
                          <a:effectLst/>
                          <a:latin typeface="+mj-ea"/>
                          <a:ea typeface="+mj-ea"/>
                        </a:rPr>
                        <a:t>• ​</a:t>
                      </a:r>
                      <a:r>
                        <a:rPr lang="zh-CN" altLang="en-US" sz="1000" b="1" dirty="0">
                          <a:solidFill>
                            <a:schemeClr val="bg1"/>
                          </a:solidFill>
                          <a:effectLst/>
                          <a:latin typeface="+mj-ea"/>
                          <a:ea typeface="+mj-ea"/>
                        </a:rPr>
                        <a:t>总拥有成本管理：​</a:t>
                      </a:r>
                      <a:r>
                        <a:rPr lang="zh-CN" altLang="en-US" sz="1000" dirty="0">
                          <a:solidFill>
                            <a:schemeClr val="bg1"/>
                          </a:solidFill>
                          <a:effectLst/>
                          <a:latin typeface="+mj-ea"/>
                          <a:ea typeface="+mj-ea"/>
                        </a:rPr>
                        <a:t>​ 超越单价，关注全生命周期的综合成本与价值。</a:t>
                      </a:r>
                    </a:p>
                  </a:txBody>
                  <a:tcPr marL="29535" marR="30766" marT="15383" marB="15383" anchor="ctr">
                    <a:lnL>
                      <a:noFill/>
                    </a:lnL>
                    <a:lnR w="12700" cap="flat" cmpd="sng" algn="ctr">
                      <a:solidFill>
                        <a:schemeClr val="tx1"/>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a:solidFill>
                            <a:schemeClr val="tx1"/>
                          </a:solidFill>
                          <a:effectLst/>
                          <a:latin typeface="+mj-ea"/>
                          <a:ea typeface="+mj-ea"/>
                        </a:rPr>
                        <a:t>• ​</a:t>
                      </a:r>
                      <a:r>
                        <a:rPr lang="zh-CN" altLang="en-US" sz="1000" b="1">
                          <a:solidFill>
                            <a:schemeClr val="tx1"/>
                          </a:solidFill>
                          <a:effectLst/>
                          <a:latin typeface="+mj-ea"/>
                          <a:ea typeface="+mj-ea"/>
                        </a:rPr>
                        <a:t>物料计划：​</a:t>
                      </a:r>
                      <a:r>
                        <a:rPr lang="zh-CN" altLang="en-US" sz="1000">
                          <a:solidFill>
                            <a:schemeClr val="tx1"/>
                          </a:solidFill>
                          <a:effectLst/>
                          <a:latin typeface="+mj-ea"/>
                          <a:ea typeface="+mj-ea"/>
                        </a:rPr>
                        <a:t>​ 将主生产计划（</a:t>
                      </a:r>
                      <a:r>
                        <a:rPr lang="en-US" altLang="zh-CN" sz="1000">
                          <a:solidFill>
                            <a:schemeClr val="tx1"/>
                          </a:solidFill>
                          <a:effectLst/>
                          <a:latin typeface="+mj-ea"/>
                          <a:ea typeface="+mj-ea"/>
                        </a:rPr>
                        <a:t>MPS</a:t>
                      </a:r>
                      <a:r>
                        <a:rPr lang="zh-CN" altLang="en-US" sz="1000">
                          <a:solidFill>
                            <a:schemeClr val="tx1"/>
                          </a:solidFill>
                          <a:effectLst/>
                          <a:latin typeface="+mj-ea"/>
                          <a:ea typeface="+mj-ea"/>
                        </a:rPr>
                        <a:t>）转化为精确的物料需求计划（</a:t>
                      </a:r>
                      <a:r>
                        <a:rPr lang="en-US" altLang="zh-CN" sz="1000">
                          <a:solidFill>
                            <a:schemeClr val="tx1"/>
                          </a:solidFill>
                          <a:effectLst/>
                          <a:latin typeface="+mj-ea"/>
                          <a:ea typeface="+mj-ea"/>
                        </a:rPr>
                        <a:t>MRP</a:t>
                      </a:r>
                      <a:r>
                        <a:rPr lang="zh-CN" altLang="en-US" sz="1000">
                          <a:solidFill>
                            <a:schemeClr val="tx1"/>
                          </a:solidFill>
                          <a:effectLst/>
                          <a:latin typeface="+mj-ea"/>
                          <a:ea typeface="+mj-ea"/>
                        </a:rPr>
                        <a:t>），确保原材料和部件的准时可得性。</a:t>
                      </a:r>
                      <a:br>
                        <a:rPr lang="zh-CN" altLang="en-US" sz="1000">
                          <a:solidFill>
                            <a:schemeClr val="tx1"/>
                          </a:solidFill>
                          <a:effectLst/>
                          <a:latin typeface="+mj-ea"/>
                          <a:ea typeface="+mj-ea"/>
                        </a:rPr>
                      </a:br>
                      <a:r>
                        <a:rPr lang="en-US" altLang="zh-CN" sz="1000">
                          <a:solidFill>
                            <a:schemeClr val="tx1"/>
                          </a:solidFill>
                          <a:effectLst/>
                          <a:latin typeface="+mj-ea"/>
                          <a:ea typeface="+mj-ea"/>
                        </a:rPr>
                        <a:t>• ​</a:t>
                      </a:r>
                      <a:r>
                        <a:rPr lang="zh-CN" altLang="en-US" sz="1000" b="1">
                          <a:solidFill>
                            <a:schemeClr val="tx1"/>
                          </a:solidFill>
                          <a:effectLst/>
                          <a:latin typeface="+mj-ea"/>
                          <a:ea typeface="+mj-ea"/>
                        </a:rPr>
                        <a:t>供应商协同计划：​</a:t>
                      </a:r>
                      <a:r>
                        <a:rPr lang="zh-CN" altLang="en-US" sz="1000">
                          <a:solidFill>
                            <a:schemeClr val="tx1"/>
                          </a:solidFill>
                          <a:effectLst/>
                          <a:latin typeface="+mj-ea"/>
                          <a:ea typeface="+mj-ea"/>
                        </a:rPr>
                        <a:t>​ 与关键供应商共享预测与计划，将其产能纳入整体供应体系。</a:t>
                      </a:r>
                    </a:p>
                  </a:txBody>
                  <a:tcPr marL="31999" marR="33332" marT="16666" marB="166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521553365"/>
                  </a:ext>
                </a:extLst>
              </a:tr>
              <a:tr h="908062">
                <a:tc>
                  <a:txBody>
                    <a:bodyPr/>
                    <a:lstStyle/>
                    <a:p>
                      <a:pPr algn="l" fontAlgn="base" latinLnBrk="0"/>
                      <a:r>
                        <a:rPr lang="zh-CN" altLang="en-US" sz="1200" b="1">
                          <a:solidFill>
                            <a:srgbClr val="000000"/>
                          </a:solidFill>
                          <a:effectLst/>
                          <a:latin typeface="+mj-ea"/>
                          <a:ea typeface="+mj-ea"/>
                        </a:rPr>
                        <a:t>​质量​</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rgbClr val="C5D5ED"/>
                    </a:solidFill>
                  </a:tcPr>
                </a:tc>
                <a:tc>
                  <a:txBody>
                    <a:bodyPr/>
                    <a:lstStyle/>
                    <a:p>
                      <a:pPr algn="l" fontAlgn="base" latinLnBrk="0"/>
                      <a:r>
                        <a:rPr lang="zh-CN" altLang="en-US" sz="1000">
                          <a:solidFill>
                            <a:schemeClr val="bg1"/>
                          </a:solidFill>
                          <a:effectLst/>
                          <a:latin typeface="+mj-ea"/>
                          <a:ea typeface="+mj-ea"/>
                        </a:rPr>
                        <a:t>​</a:t>
                      </a:r>
                      <a:r>
                        <a:rPr lang="zh-CN" altLang="en-US" sz="1000" b="1">
                          <a:solidFill>
                            <a:schemeClr val="bg1"/>
                          </a:solidFill>
                          <a:effectLst/>
                          <a:latin typeface="+mj-ea"/>
                          <a:ea typeface="+mj-ea"/>
                        </a:rPr>
                        <a:t>确保产品与服务完美兑现品牌承诺，支撑品牌溢价</a:t>
                      </a:r>
                      <a:r>
                        <a:rPr lang="zh-CN" altLang="en-US" sz="1000">
                          <a:solidFill>
                            <a:schemeClr val="bg1"/>
                          </a:solidFill>
                          <a:effectLst/>
                          <a:latin typeface="+mj-ea"/>
                          <a:ea typeface="+mj-ea"/>
                        </a:rPr>
                        <a:t>​</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dirty="0">
                          <a:solidFill>
                            <a:schemeClr val="bg1"/>
                          </a:solidFill>
                          <a:effectLst/>
                          <a:latin typeface="+mj-ea"/>
                          <a:ea typeface="+mj-ea"/>
                        </a:rPr>
                        <a:t>• ​</a:t>
                      </a:r>
                      <a:r>
                        <a:rPr lang="zh-CN" altLang="en-US" sz="1000" b="1" dirty="0">
                          <a:solidFill>
                            <a:schemeClr val="bg1"/>
                          </a:solidFill>
                          <a:effectLst/>
                          <a:latin typeface="+mj-ea"/>
                          <a:ea typeface="+mj-ea"/>
                        </a:rPr>
                        <a:t>预防性质量保证：​</a:t>
                      </a:r>
                      <a:r>
                        <a:rPr lang="zh-CN" altLang="en-US" sz="1000" dirty="0">
                          <a:solidFill>
                            <a:schemeClr val="bg1"/>
                          </a:solidFill>
                          <a:effectLst/>
                          <a:latin typeface="+mj-ea"/>
                          <a:ea typeface="+mj-ea"/>
                        </a:rPr>
                        <a:t>​ 将质量标准前置到产品设计与供应商管理环节。</a:t>
                      </a:r>
                      <a:br>
                        <a:rPr lang="zh-CN" altLang="en-US" sz="1000" dirty="0">
                          <a:solidFill>
                            <a:schemeClr val="bg1"/>
                          </a:solidFill>
                          <a:effectLst/>
                          <a:latin typeface="+mj-ea"/>
                          <a:ea typeface="+mj-ea"/>
                        </a:rPr>
                      </a:br>
                      <a:r>
                        <a:rPr lang="en-US" altLang="zh-CN" sz="1000" dirty="0">
                          <a:solidFill>
                            <a:schemeClr val="bg1"/>
                          </a:solidFill>
                          <a:effectLst/>
                          <a:latin typeface="+mj-ea"/>
                          <a:ea typeface="+mj-ea"/>
                        </a:rPr>
                        <a:t>• ​</a:t>
                      </a:r>
                      <a:r>
                        <a:rPr lang="zh-CN" altLang="en-US" sz="1000" b="1" dirty="0">
                          <a:solidFill>
                            <a:schemeClr val="bg1"/>
                          </a:solidFill>
                          <a:effectLst/>
                          <a:latin typeface="+mj-ea"/>
                          <a:ea typeface="+mj-ea"/>
                        </a:rPr>
                        <a:t>全流程质量控制：​</a:t>
                      </a:r>
                      <a:r>
                        <a:rPr lang="zh-CN" altLang="en-US" sz="1000" dirty="0">
                          <a:solidFill>
                            <a:schemeClr val="bg1"/>
                          </a:solidFill>
                          <a:effectLst/>
                          <a:latin typeface="+mj-ea"/>
                          <a:ea typeface="+mj-ea"/>
                        </a:rPr>
                        <a:t>​ 建立从进料、制程到成品的全流程质量监控体系。</a:t>
                      </a:r>
                      <a:br>
                        <a:rPr lang="zh-CN" altLang="en-US" sz="1000" dirty="0">
                          <a:solidFill>
                            <a:schemeClr val="bg1"/>
                          </a:solidFill>
                          <a:effectLst/>
                          <a:latin typeface="+mj-ea"/>
                          <a:ea typeface="+mj-ea"/>
                        </a:rPr>
                      </a:br>
                      <a:r>
                        <a:rPr lang="en-US" altLang="zh-CN" sz="1000" dirty="0">
                          <a:solidFill>
                            <a:schemeClr val="bg1"/>
                          </a:solidFill>
                          <a:effectLst/>
                          <a:latin typeface="+mj-ea"/>
                          <a:ea typeface="+mj-ea"/>
                        </a:rPr>
                        <a:t>• ​</a:t>
                      </a:r>
                      <a:r>
                        <a:rPr lang="zh-CN" altLang="en-US" sz="1000" b="1" dirty="0">
                          <a:solidFill>
                            <a:schemeClr val="bg1"/>
                          </a:solidFill>
                          <a:effectLst/>
                          <a:latin typeface="+mj-ea"/>
                          <a:ea typeface="+mj-ea"/>
                        </a:rPr>
                        <a:t>持续改进文化：​</a:t>
                      </a:r>
                      <a:r>
                        <a:rPr lang="zh-CN" altLang="en-US" sz="1000" dirty="0">
                          <a:solidFill>
                            <a:schemeClr val="bg1"/>
                          </a:solidFill>
                          <a:effectLst/>
                          <a:latin typeface="+mj-ea"/>
                          <a:ea typeface="+mj-ea"/>
                        </a:rPr>
                        <a:t>​ 推动根本原因分析，驱动质量问题的持续改进。</a:t>
                      </a:r>
                    </a:p>
                  </a:txBody>
                  <a:tcPr marL="29535" marR="30766" marT="15383" marB="15383" anchor="ctr">
                    <a:lnL>
                      <a:noFill/>
                    </a:lnL>
                    <a:lnR w="12700" cap="flat" cmpd="sng" algn="ctr">
                      <a:solidFill>
                        <a:schemeClr val="tx1"/>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a:solidFill>
                            <a:schemeClr val="tx1"/>
                          </a:solidFill>
                          <a:effectLst/>
                          <a:latin typeface="+mj-ea"/>
                          <a:ea typeface="+mj-ea"/>
                        </a:rPr>
                        <a:t>• ​</a:t>
                      </a:r>
                      <a:r>
                        <a:rPr lang="zh-CN" altLang="en-US" sz="1000" b="1">
                          <a:solidFill>
                            <a:schemeClr val="tx1"/>
                          </a:solidFill>
                          <a:effectLst/>
                          <a:latin typeface="+mj-ea"/>
                          <a:ea typeface="+mj-ea"/>
                        </a:rPr>
                        <a:t>质量规划：​</a:t>
                      </a:r>
                      <a:r>
                        <a:rPr lang="zh-CN" altLang="en-US" sz="1000">
                          <a:solidFill>
                            <a:schemeClr val="tx1"/>
                          </a:solidFill>
                          <a:effectLst/>
                          <a:latin typeface="+mj-ea"/>
                          <a:ea typeface="+mj-ea"/>
                        </a:rPr>
                        <a:t>​ 将质量标准融入生产与采购计划，规划检验资源，确保计划不因质量问题而中断。</a:t>
                      </a:r>
                    </a:p>
                  </a:txBody>
                  <a:tcPr marL="31999" marR="33332" marT="16666" marB="166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511088479"/>
                  </a:ext>
                </a:extLst>
              </a:tr>
              <a:tr h="908062">
                <a:tc>
                  <a:txBody>
                    <a:bodyPr/>
                    <a:lstStyle/>
                    <a:p>
                      <a:pPr algn="l" fontAlgn="base" latinLnBrk="0"/>
                      <a:r>
                        <a:rPr lang="zh-CN" altLang="en-US" sz="1200" b="1">
                          <a:solidFill>
                            <a:srgbClr val="000000"/>
                          </a:solidFill>
                          <a:effectLst/>
                          <a:latin typeface="+mj-ea"/>
                          <a:ea typeface="+mj-ea"/>
                        </a:rPr>
                        <a:t>​物流与仓储​</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rgbClr val="C5D5ED"/>
                    </a:solidFill>
                  </a:tcPr>
                </a:tc>
                <a:tc>
                  <a:txBody>
                    <a:bodyPr/>
                    <a:lstStyle/>
                    <a:p>
                      <a:pPr algn="l" fontAlgn="base" latinLnBrk="0"/>
                      <a:r>
                        <a:rPr lang="zh-CN" altLang="en-US" sz="1000">
                          <a:solidFill>
                            <a:schemeClr val="bg1"/>
                          </a:solidFill>
                          <a:effectLst/>
                          <a:latin typeface="+mj-ea"/>
                          <a:ea typeface="+mj-ea"/>
                        </a:rPr>
                        <a:t>​</a:t>
                      </a:r>
                      <a:r>
                        <a:rPr lang="zh-CN" altLang="en-US" sz="1000" b="1">
                          <a:solidFill>
                            <a:schemeClr val="bg1"/>
                          </a:solidFill>
                          <a:effectLst/>
                          <a:latin typeface="+mj-ea"/>
                          <a:ea typeface="+mj-ea"/>
                        </a:rPr>
                        <a:t>构建敏捷、可靠、可视的全球交付网络</a:t>
                      </a:r>
                      <a:r>
                        <a:rPr lang="zh-CN" altLang="en-US" sz="1000">
                          <a:solidFill>
                            <a:schemeClr val="bg1"/>
                          </a:solidFill>
                          <a:effectLst/>
                          <a:latin typeface="+mj-ea"/>
                          <a:ea typeface="+mj-ea"/>
                        </a:rPr>
                        <a:t>​</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dirty="0">
                          <a:solidFill>
                            <a:schemeClr val="bg1"/>
                          </a:solidFill>
                          <a:effectLst/>
                          <a:latin typeface="+mj-ea"/>
                          <a:ea typeface="+mj-ea"/>
                        </a:rPr>
                        <a:t>• ​</a:t>
                      </a:r>
                      <a:r>
                        <a:rPr lang="zh-CN" altLang="en-US" sz="1000" b="1" dirty="0">
                          <a:solidFill>
                            <a:schemeClr val="bg1"/>
                          </a:solidFill>
                          <a:effectLst/>
                          <a:latin typeface="+mj-ea"/>
                          <a:ea typeface="+mj-ea"/>
                        </a:rPr>
                        <a:t>网络优化：​</a:t>
                      </a:r>
                      <a:r>
                        <a:rPr lang="zh-CN" altLang="en-US" sz="1000" dirty="0">
                          <a:solidFill>
                            <a:schemeClr val="bg1"/>
                          </a:solidFill>
                          <a:effectLst/>
                          <a:latin typeface="+mj-ea"/>
                          <a:ea typeface="+mj-ea"/>
                        </a:rPr>
                        <a:t>​ 合理布局仓库与配送中心，平衡效率、成本与响应速度。</a:t>
                      </a:r>
                      <a:br>
                        <a:rPr lang="zh-CN" altLang="en-US" sz="1000" dirty="0">
                          <a:solidFill>
                            <a:schemeClr val="bg1"/>
                          </a:solidFill>
                          <a:effectLst/>
                          <a:latin typeface="+mj-ea"/>
                          <a:ea typeface="+mj-ea"/>
                        </a:rPr>
                      </a:br>
                      <a:r>
                        <a:rPr lang="en-US" altLang="zh-CN" sz="1000" dirty="0">
                          <a:solidFill>
                            <a:schemeClr val="bg1"/>
                          </a:solidFill>
                          <a:effectLst/>
                          <a:latin typeface="+mj-ea"/>
                          <a:ea typeface="+mj-ea"/>
                        </a:rPr>
                        <a:t>• ​</a:t>
                      </a:r>
                      <a:r>
                        <a:rPr lang="zh-CN" altLang="en-US" sz="1000" b="1" dirty="0">
                          <a:solidFill>
                            <a:schemeClr val="bg1"/>
                          </a:solidFill>
                          <a:effectLst/>
                          <a:latin typeface="+mj-ea"/>
                          <a:ea typeface="+mj-ea"/>
                        </a:rPr>
                        <a:t>运输管理：​</a:t>
                      </a:r>
                      <a:r>
                        <a:rPr lang="zh-CN" altLang="en-US" sz="1000" dirty="0">
                          <a:solidFill>
                            <a:schemeClr val="bg1"/>
                          </a:solidFill>
                          <a:effectLst/>
                          <a:latin typeface="+mj-ea"/>
                          <a:ea typeface="+mj-ea"/>
                        </a:rPr>
                        <a:t>​ 优化运输模式与路径，确保货物安全、准时、低成本送达。</a:t>
                      </a:r>
                      <a:br>
                        <a:rPr lang="zh-CN" altLang="en-US" sz="1000" dirty="0">
                          <a:solidFill>
                            <a:schemeClr val="bg1"/>
                          </a:solidFill>
                          <a:effectLst/>
                          <a:latin typeface="+mj-ea"/>
                          <a:ea typeface="+mj-ea"/>
                        </a:rPr>
                      </a:br>
                      <a:r>
                        <a:rPr lang="en-US" altLang="zh-CN" sz="1000" dirty="0">
                          <a:solidFill>
                            <a:schemeClr val="bg1"/>
                          </a:solidFill>
                          <a:effectLst/>
                          <a:latin typeface="+mj-ea"/>
                          <a:ea typeface="+mj-ea"/>
                        </a:rPr>
                        <a:t>• ​</a:t>
                      </a:r>
                      <a:r>
                        <a:rPr lang="zh-CN" altLang="en-US" sz="1000" b="1" dirty="0">
                          <a:solidFill>
                            <a:schemeClr val="bg1"/>
                          </a:solidFill>
                          <a:effectLst/>
                          <a:latin typeface="+mj-ea"/>
                          <a:ea typeface="+mj-ea"/>
                        </a:rPr>
                        <a:t>库存可视性与管理：​</a:t>
                      </a:r>
                      <a:r>
                        <a:rPr lang="zh-CN" altLang="en-US" sz="1000" dirty="0">
                          <a:solidFill>
                            <a:schemeClr val="bg1"/>
                          </a:solidFill>
                          <a:effectLst/>
                          <a:latin typeface="+mj-ea"/>
                          <a:ea typeface="+mj-ea"/>
                        </a:rPr>
                        <a:t>​ 实现端到端库存可视，优化库存水平与周转效率。</a:t>
                      </a:r>
                    </a:p>
                  </a:txBody>
                  <a:tcPr marL="29535" marR="30766" marT="15383" marB="15383" anchor="ctr">
                    <a:lnL>
                      <a:noFill/>
                    </a:lnL>
                    <a:lnR w="12700" cap="flat" cmpd="sng" algn="ctr">
                      <a:solidFill>
                        <a:schemeClr val="tx1"/>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dirty="0">
                          <a:solidFill>
                            <a:schemeClr val="tx1"/>
                          </a:solidFill>
                          <a:effectLst/>
                          <a:latin typeface="+mj-ea"/>
                          <a:ea typeface="+mj-ea"/>
                        </a:rPr>
                        <a:t>• ​</a:t>
                      </a:r>
                      <a:r>
                        <a:rPr lang="zh-CN" altLang="en-US" sz="1000" b="1" dirty="0">
                          <a:solidFill>
                            <a:schemeClr val="tx1"/>
                          </a:solidFill>
                          <a:effectLst/>
                          <a:latin typeface="+mj-ea"/>
                          <a:ea typeface="+mj-ea"/>
                        </a:rPr>
                        <a:t>分销需求计划（</a:t>
                      </a:r>
                      <a:r>
                        <a:rPr lang="en-US" altLang="zh-CN" sz="1000" b="1" dirty="0">
                          <a:solidFill>
                            <a:schemeClr val="tx1"/>
                          </a:solidFill>
                          <a:effectLst/>
                          <a:latin typeface="+mj-ea"/>
                          <a:ea typeface="+mj-ea"/>
                        </a:rPr>
                        <a:t>DRP</a:t>
                      </a:r>
                      <a:r>
                        <a:rPr lang="zh-CN" altLang="en-US" sz="1000" b="1" dirty="0">
                          <a:solidFill>
                            <a:schemeClr val="tx1"/>
                          </a:solidFill>
                          <a:effectLst/>
                          <a:latin typeface="+mj-ea"/>
                          <a:ea typeface="+mj-ea"/>
                        </a:rPr>
                        <a:t>）：​</a:t>
                      </a:r>
                      <a:r>
                        <a:rPr lang="zh-CN" altLang="en-US" sz="1000" dirty="0">
                          <a:solidFill>
                            <a:schemeClr val="tx1"/>
                          </a:solidFill>
                          <a:effectLst/>
                          <a:latin typeface="+mj-ea"/>
                          <a:ea typeface="+mj-ea"/>
                        </a:rPr>
                        <a:t>​ 制定库存部署与补货需求计划，优化网络库存水平。</a:t>
                      </a:r>
                      <a:br>
                        <a:rPr lang="zh-CN" altLang="en-US" sz="1000" dirty="0">
                          <a:solidFill>
                            <a:schemeClr val="tx1"/>
                          </a:solidFill>
                          <a:effectLst/>
                          <a:latin typeface="+mj-ea"/>
                          <a:ea typeface="+mj-ea"/>
                        </a:rPr>
                      </a:br>
                      <a:r>
                        <a:rPr lang="en-US" altLang="zh-CN" sz="1000" dirty="0">
                          <a:solidFill>
                            <a:schemeClr val="tx1"/>
                          </a:solidFill>
                          <a:effectLst/>
                          <a:latin typeface="+mj-ea"/>
                          <a:ea typeface="+mj-ea"/>
                        </a:rPr>
                        <a:t>• ​</a:t>
                      </a:r>
                      <a:r>
                        <a:rPr lang="zh-CN" altLang="en-US" sz="1000" b="1" dirty="0">
                          <a:solidFill>
                            <a:schemeClr val="tx1"/>
                          </a:solidFill>
                          <a:effectLst/>
                          <a:latin typeface="+mj-ea"/>
                          <a:ea typeface="+mj-ea"/>
                        </a:rPr>
                        <a:t>运输与仓储计划：​</a:t>
                      </a:r>
                      <a:r>
                        <a:rPr lang="zh-CN" altLang="en-US" sz="1000" dirty="0">
                          <a:solidFill>
                            <a:schemeClr val="tx1"/>
                          </a:solidFill>
                          <a:effectLst/>
                          <a:latin typeface="+mj-ea"/>
                          <a:ea typeface="+mj-ea"/>
                        </a:rPr>
                        <a:t>​ 根据供应计划和客户需求，规划运输负载与仓储容量。</a:t>
                      </a:r>
                    </a:p>
                  </a:txBody>
                  <a:tcPr marL="31999" marR="33332" marT="16666" marB="166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174152107"/>
                  </a:ext>
                </a:extLst>
              </a:tr>
              <a:tr h="618434">
                <a:tc>
                  <a:txBody>
                    <a:bodyPr/>
                    <a:lstStyle/>
                    <a:p>
                      <a:pPr algn="l" fontAlgn="base" latinLnBrk="0"/>
                      <a:r>
                        <a:rPr lang="zh-CN" altLang="en-US" sz="1200" b="1">
                          <a:solidFill>
                            <a:srgbClr val="000000"/>
                          </a:solidFill>
                          <a:effectLst/>
                          <a:latin typeface="+mj-ea"/>
                          <a:ea typeface="+mj-ea"/>
                        </a:rPr>
                        <a:t>​财务与资本管理​</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rgbClr val="C5D5ED"/>
                    </a:solidFill>
                  </a:tcPr>
                </a:tc>
                <a:tc>
                  <a:txBody>
                    <a:bodyPr/>
                    <a:lstStyle/>
                    <a:p>
                      <a:pPr algn="l" fontAlgn="base" latinLnBrk="0"/>
                      <a:r>
                        <a:rPr lang="zh-CN" altLang="en-US" sz="1000">
                          <a:solidFill>
                            <a:schemeClr val="bg1"/>
                          </a:solidFill>
                          <a:effectLst/>
                          <a:latin typeface="+mj-ea"/>
                          <a:ea typeface="+mj-ea"/>
                        </a:rPr>
                        <a:t>​</a:t>
                      </a:r>
                      <a:r>
                        <a:rPr lang="zh-CN" altLang="en-US" sz="1000" b="1">
                          <a:solidFill>
                            <a:schemeClr val="bg1"/>
                          </a:solidFill>
                          <a:effectLst/>
                          <a:latin typeface="+mj-ea"/>
                          <a:ea typeface="+mj-ea"/>
                        </a:rPr>
                        <a:t>确保战略投入的效力，成为业务决策的导航仪</a:t>
                      </a:r>
                      <a:r>
                        <a:rPr lang="zh-CN" altLang="en-US" sz="1000">
                          <a:solidFill>
                            <a:schemeClr val="bg1"/>
                          </a:solidFill>
                          <a:effectLst/>
                          <a:latin typeface="+mj-ea"/>
                          <a:ea typeface="+mj-ea"/>
                        </a:rPr>
                        <a:t>​</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dirty="0">
                          <a:solidFill>
                            <a:schemeClr val="bg1"/>
                          </a:solidFill>
                          <a:effectLst/>
                          <a:latin typeface="+mj-ea"/>
                          <a:ea typeface="+mj-ea"/>
                        </a:rPr>
                        <a:t>• </a:t>
                      </a:r>
                      <a:r>
                        <a:rPr lang="zh-CN" altLang="en-US" sz="1000" dirty="0">
                          <a:solidFill>
                            <a:schemeClr val="bg1"/>
                          </a:solidFill>
                          <a:effectLst/>
                          <a:latin typeface="+mj-ea"/>
                          <a:ea typeface="+mj-ea"/>
                        </a:rPr>
                        <a:t>战略性资源配置与投资回报分析。</a:t>
                      </a:r>
                      <a:br>
                        <a:rPr lang="zh-CN" altLang="en-US" sz="1000" dirty="0">
                          <a:solidFill>
                            <a:schemeClr val="bg1"/>
                          </a:solidFill>
                          <a:effectLst/>
                          <a:latin typeface="+mj-ea"/>
                          <a:ea typeface="+mj-ea"/>
                        </a:rPr>
                      </a:br>
                      <a:r>
                        <a:rPr lang="en-US" altLang="zh-CN" sz="1000" dirty="0">
                          <a:solidFill>
                            <a:schemeClr val="bg1"/>
                          </a:solidFill>
                          <a:effectLst/>
                          <a:latin typeface="+mj-ea"/>
                          <a:ea typeface="+mj-ea"/>
                        </a:rPr>
                        <a:t>• </a:t>
                      </a:r>
                      <a:r>
                        <a:rPr lang="zh-CN" altLang="en-US" sz="1000" dirty="0">
                          <a:solidFill>
                            <a:schemeClr val="bg1"/>
                          </a:solidFill>
                          <a:effectLst/>
                          <a:latin typeface="+mj-ea"/>
                          <a:ea typeface="+mj-ea"/>
                        </a:rPr>
                        <a:t>集成业务规划的财务评估与情景模拟。</a:t>
                      </a:r>
                      <a:br>
                        <a:rPr lang="zh-CN" altLang="en-US" sz="1000" dirty="0">
                          <a:solidFill>
                            <a:schemeClr val="bg1"/>
                          </a:solidFill>
                          <a:effectLst/>
                          <a:latin typeface="+mj-ea"/>
                          <a:ea typeface="+mj-ea"/>
                        </a:rPr>
                      </a:br>
                      <a:r>
                        <a:rPr lang="en-US" altLang="zh-CN" sz="1000" dirty="0">
                          <a:solidFill>
                            <a:schemeClr val="bg1"/>
                          </a:solidFill>
                          <a:effectLst/>
                          <a:latin typeface="+mj-ea"/>
                          <a:ea typeface="+mj-ea"/>
                        </a:rPr>
                        <a:t>• </a:t>
                      </a:r>
                      <a:r>
                        <a:rPr lang="zh-CN" altLang="en-US" sz="1000" dirty="0">
                          <a:solidFill>
                            <a:schemeClr val="bg1"/>
                          </a:solidFill>
                          <a:effectLst/>
                          <a:latin typeface="+mj-ea"/>
                          <a:ea typeface="+mj-ea"/>
                        </a:rPr>
                        <a:t>绩效导向的资源配置与成本控制。</a:t>
                      </a:r>
                    </a:p>
                  </a:txBody>
                  <a:tcPr marL="29535" marR="30766" marT="15383" marB="15383" anchor="ctr">
                    <a:lnL>
                      <a:noFill/>
                    </a:lnL>
                    <a:lnR w="12700" cap="flat" cmpd="sng" algn="ctr">
                      <a:solidFill>
                        <a:schemeClr val="tx1"/>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algn="l" fontAlgn="base" latinLnBrk="0"/>
                      <a:r>
                        <a:rPr lang="en-US" altLang="zh-CN" sz="1000">
                          <a:solidFill>
                            <a:schemeClr val="tx1"/>
                          </a:solidFill>
                          <a:effectLst/>
                          <a:latin typeface="+mj-ea"/>
                          <a:ea typeface="+mj-ea"/>
                        </a:rPr>
                        <a:t>• ​</a:t>
                      </a:r>
                      <a:r>
                        <a:rPr lang="zh-CN" altLang="en-US" sz="1000" b="1">
                          <a:solidFill>
                            <a:schemeClr val="tx1"/>
                          </a:solidFill>
                          <a:effectLst/>
                          <a:latin typeface="+mj-ea"/>
                          <a:ea typeface="+mj-ea"/>
                        </a:rPr>
                        <a:t>集成业务规划（</a:t>
                      </a:r>
                      <a:r>
                        <a:rPr lang="en-US" altLang="zh-CN" sz="1000" b="1">
                          <a:solidFill>
                            <a:schemeClr val="tx1"/>
                          </a:solidFill>
                          <a:effectLst/>
                          <a:latin typeface="+mj-ea"/>
                          <a:ea typeface="+mj-ea"/>
                        </a:rPr>
                        <a:t>IBP</a:t>
                      </a:r>
                      <a:r>
                        <a:rPr lang="zh-CN" altLang="en-US" sz="1000" b="1">
                          <a:solidFill>
                            <a:schemeClr val="tx1"/>
                          </a:solidFill>
                          <a:effectLst/>
                          <a:latin typeface="+mj-ea"/>
                          <a:ea typeface="+mj-ea"/>
                        </a:rPr>
                        <a:t>）集成：​</a:t>
                      </a:r>
                      <a:r>
                        <a:rPr lang="zh-CN" altLang="en-US" sz="1000">
                          <a:solidFill>
                            <a:schemeClr val="tx1"/>
                          </a:solidFill>
                          <a:effectLst/>
                          <a:latin typeface="+mj-ea"/>
                          <a:ea typeface="+mj-ea"/>
                        </a:rPr>
                        <a:t>​ ​</a:t>
                      </a:r>
                      <a:r>
                        <a:rPr lang="zh-CN" altLang="en-US" sz="1000" b="1">
                          <a:solidFill>
                            <a:schemeClr val="tx1"/>
                          </a:solidFill>
                          <a:effectLst/>
                          <a:latin typeface="+mj-ea"/>
                          <a:ea typeface="+mj-ea"/>
                        </a:rPr>
                        <a:t>主导</a:t>
                      </a:r>
                      <a:r>
                        <a:rPr lang="zh-CN" altLang="en-US" sz="1000">
                          <a:solidFill>
                            <a:schemeClr val="tx1"/>
                          </a:solidFill>
                          <a:effectLst/>
                          <a:latin typeface="+mj-ea"/>
                          <a:ea typeface="+mj-ea"/>
                        </a:rPr>
                        <a:t>将运营计划（需求计划、供应计划）转化为财务计划（预算、预测），评估其财务可行性，并进行情景模拟。</a:t>
                      </a:r>
                      <a:br>
                        <a:rPr lang="zh-CN" altLang="en-US" sz="1000">
                          <a:solidFill>
                            <a:schemeClr val="tx1"/>
                          </a:solidFill>
                          <a:effectLst/>
                          <a:latin typeface="+mj-ea"/>
                          <a:ea typeface="+mj-ea"/>
                        </a:rPr>
                      </a:br>
                      <a:r>
                        <a:rPr lang="en-US" altLang="zh-CN" sz="1000">
                          <a:solidFill>
                            <a:schemeClr val="tx1"/>
                          </a:solidFill>
                          <a:effectLst/>
                          <a:latin typeface="+mj-ea"/>
                          <a:ea typeface="+mj-ea"/>
                        </a:rPr>
                        <a:t>• ​</a:t>
                      </a:r>
                      <a:r>
                        <a:rPr lang="zh-CN" altLang="en-US" sz="1000" b="1">
                          <a:solidFill>
                            <a:schemeClr val="tx1"/>
                          </a:solidFill>
                          <a:effectLst/>
                          <a:latin typeface="+mj-ea"/>
                          <a:ea typeface="+mj-ea"/>
                        </a:rPr>
                        <a:t>绩效管理：​</a:t>
                      </a:r>
                      <a:r>
                        <a:rPr lang="zh-CN" altLang="en-US" sz="1000">
                          <a:solidFill>
                            <a:schemeClr val="tx1"/>
                          </a:solidFill>
                          <a:effectLst/>
                          <a:latin typeface="+mj-ea"/>
                          <a:ea typeface="+mj-ea"/>
                        </a:rPr>
                        <a:t>​ 建立计划与实绩（</a:t>
                      </a:r>
                      <a:r>
                        <a:rPr lang="en-US" altLang="zh-CN" sz="1000">
                          <a:solidFill>
                            <a:schemeClr val="tx1"/>
                          </a:solidFill>
                          <a:effectLst/>
                          <a:latin typeface="+mj-ea"/>
                          <a:ea typeface="+mj-ea"/>
                        </a:rPr>
                        <a:t>PvA</a:t>
                      </a:r>
                      <a:r>
                        <a:rPr lang="zh-CN" altLang="en-US" sz="1000">
                          <a:solidFill>
                            <a:schemeClr val="tx1"/>
                          </a:solidFill>
                          <a:effectLst/>
                          <a:latin typeface="+mj-ea"/>
                          <a:ea typeface="+mj-ea"/>
                        </a:rPr>
                        <a:t>）分析机制，监控关键财务与运营指标的执行偏差。</a:t>
                      </a:r>
                    </a:p>
                  </a:txBody>
                  <a:tcPr marL="31999" marR="33332" marT="16666" marB="166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570743874"/>
                  </a:ext>
                </a:extLst>
              </a:tr>
              <a:tr h="324858">
                <a:tc>
                  <a:txBody>
                    <a:bodyPr/>
                    <a:lstStyle/>
                    <a:p>
                      <a:pPr algn="l" fontAlgn="base" latinLnBrk="0"/>
                      <a:r>
                        <a:rPr lang="zh-CN" altLang="en-US" sz="1200" b="1" dirty="0">
                          <a:solidFill>
                            <a:srgbClr val="000000"/>
                          </a:solidFill>
                          <a:effectLst/>
                          <a:latin typeface="+mj-ea"/>
                          <a:ea typeface="+mj-ea"/>
                        </a:rPr>
                        <a:t>​合作伙伴与生态建设​</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a:solidFill>
                        <a:srgbClr val="1C3879"/>
                      </a:solidFill>
                      <a:prstDash val="solid"/>
                    </a:lnB>
                    <a:solidFill>
                      <a:srgbClr val="C5D5ED"/>
                    </a:solidFill>
                  </a:tcPr>
                </a:tc>
                <a:tc>
                  <a:txBody>
                    <a:bodyPr/>
                    <a:lstStyle/>
                    <a:p>
                      <a:pPr algn="l" fontAlgn="base" latinLnBrk="0"/>
                      <a:r>
                        <a:rPr lang="zh-CN" altLang="en-US" sz="1000">
                          <a:solidFill>
                            <a:schemeClr val="bg1"/>
                          </a:solidFill>
                          <a:effectLst/>
                          <a:latin typeface="+mj-ea"/>
                          <a:ea typeface="+mj-ea"/>
                        </a:rPr>
                        <a:t>​</a:t>
                      </a:r>
                      <a:r>
                        <a:rPr lang="zh-CN" altLang="en-US" sz="1000" b="1">
                          <a:solidFill>
                            <a:schemeClr val="bg1"/>
                          </a:solidFill>
                          <a:effectLst/>
                          <a:latin typeface="+mj-ea"/>
                          <a:ea typeface="+mj-ea"/>
                        </a:rPr>
                        <a:t>延伸企业能力边界，共同构建系统生态壁垒</a:t>
                      </a:r>
                      <a:r>
                        <a:rPr lang="zh-CN" altLang="en-US" sz="1000">
                          <a:solidFill>
                            <a:schemeClr val="bg1"/>
                          </a:solidFill>
                          <a:effectLst/>
                          <a:latin typeface="+mj-ea"/>
                          <a:ea typeface="+mj-ea"/>
                        </a:rPr>
                        <a:t>​</a:t>
                      </a:r>
                    </a:p>
                  </a:txBody>
                  <a:tcPr marL="29535" marR="30766" marT="15383" marB="15383" anchor="ctr">
                    <a:lnL>
                      <a:noFill/>
                    </a:lnL>
                    <a:lnR>
                      <a:noFill/>
                    </a:lnR>
                    <a:lnT w="2381" cap="flat" cmpd="sng" algn="ctr">
                      <a:solidFill>
                        <a:srgbClr val="DDDDDD"/>
                      </a:solidFill>
                      <a:prstDash val="solid"/>
                      <a:round/>
                      <a:headEnd type="none" w="med" len="med"/>
                      <a:tailEnd type="none" w="med" len="med"/>
                    </a:lnT>
                    <a:lnB>
                      <a:solidFill>
                        <a:srgbClr val="1C3879"/>
                      </a:solidFill>
                      <a:prstDash val="solid"/>
                    </a:lnB>
                    <a:noFill/>
                  </a:tcPr>
                </a:tc>
                <a:tc>
                  <a:txBody>
                    <a:bodyPr/>
                    <a:lstStyle/>
                    <a:p>
                      <a:pPr algn="l" fontAlgn="base" latinLnBrk="0"/>
                      <a:r>
                        <a:rPr lang="en-US" altLang="zh-CN" sz="1000" dirty="0">
                          <a:solidFill>
                            <a:schemeClr val="bg1"/>
                          </a:solidFill>
                          <a:effectLst/>
                          <a:latin typeface="+mj-ea"/>
                          <a:ea typeface="+mj-ea"/>
                        </a:rPr>
                        <a:t>• </a:t>
                      </a:r>
                      <a:r>
                        <a:rPr lang="zh-CN" altLang="en-US" sz="1000" dirty="0">
                          <a:solidFill>
                            <a:schemeClr val="bg1"/>
                          </a:solidFill>
                          <a:effectLst/>
                          <a:latin typeface="+mj-ea"/>
                          <a:ea typeface="+mj-ea"/>
                        </a:rPr>
                        <a:t>强化生态系统，协同市场拓展与创新</a:t>
                      </a:r>
                    </a:p>
                  </a:txBody>
                  <a:tcPr marL="29535" marR="30766" marT="15383" marB="15383" anchor="ctr">
                    <a:lnL>
                      <a:noFill/>
                    </a:lnL>
                    <a:lnR w="12700" cap="flat" cmpd="sng" algn="ctr">
                      <a:solidFill>
                        <a:schemeClr val="tx1"/>
                      </a:solidFill>
                      <a:prstDash val="solid"/>
                      <a:round/>
                      <a:headEnd type="none" w="med" len="med"/>
                      <a:tailEnd type="none" w="med" len="med"/>
                    </a:lnR>
                    <a:lnT w="2381" cap="flat" cmpd="sng" algn="ctr">
                      <a:solidFill>
                        <a:srgbClr val="DDDDDD"/>
                      </a:solidFill>
                      <a:prstDash val="solid"/>
                      <a:round/>
                      <a:headEnd type="none" w="med" len="med"/>
                      <a:tailEnd type="none" w="med" len="med"/>
                    </a:lnT>
                    <a:lnB>
                      <a:solidFill>
                        <a:srgbClr val="1C3879"/>
                      </a:solidFill>
                      <a:prstDash val="solid"/>
                    </a:lnB>
                    <a:noFill/>
                  </a:tcPr>
                </a:tc>
                <a:tc>
                  <a:txBody>
                    <a:bodyPr/>
                    <a:lstStyle/>
                    <a:p>
                      <a:pPr algn="l" fontAlgn="base" latinLnBrk="0"/>
                      <a:r>
                        <a:rPr lang="en-US" altLang="zh-CN" sz="1000" dirty="0">
                          <a:solidFill>
                            <a:schemeClr val="tx1"/>
                          </a:solidFill>
                          <a:effectLst/>
                          <a:latin typeface="+mj-ea"/>
                          <a:ea typeface="+mj-ea"/>
                        </a:rPr>
                        <a:t>• ​</a:t>
                      </a:r>
                      <a:r>
                        <a:rPr lang="zh-CN" altLang="en-US" sz="1000" b="1" dirty="0">
                          <a:solidFill>
                            <a:schemeClr val="tx1"/>
                          </a:solidFill>
                          <a:effectLst/>
                          <a:latin typeface="+mj-ea"/>
                          <a:ea typeface="+mj-ea"/>
                        </a:rPr>
                        <a:t>生态协同计划：​</a:t>
                      </a:r>
                      <a:r>
                        <a:rPr lang="zh-CN" altLang="en-US" sz="1000" dirty="0">
                          <a:solidFill>
                            <a:schemeClr val="tx1"/>
                          </a:solidFill>
                          <a:effectLst/>
                          <a:latin typeface="+mj-ea"/>
                          <a:ea typeface="+mj-ea"/>
                        </a:rPr>
                        <a:t>​ 将核心合作伙伴的能力与计划纳入公司的整体供需网络，共同规划与应对市场变化。</a:t>
                      </a:r>
                    </a:p>
                  </a:txBody>
                  <a:tcPr marL="31999" marR="33332" marT="16666" marB="166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991732323"/>
                  </a:ext>
                </a:extLst>
              </a:tr>
            </a:tbl>
          </a:graphicData>
        </a:graphic>
      </p:graphicFrame>
    </p:spTree>
    <p:extLst>
      <p:ext uri="{BB962C8B-B14F-4D97-AF65-F5344CB8AC3E}">
        <p14:creationId xmlns:p14="http://schemas.microsoft.com/office/powerpoint/2010/main" val="333720646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A0F7C038-E151-9169-9D84-2BC5511EFB09}"/>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智能业务规划</a:t>
            </a:r>
            <a:r>
              <a:rPr lang="en-US" altLang="zh-CN" dirty="0">
                <a:latin typeface="Arial" panose="020B0604020202020204" pitchFamily="34" charset="0"/>
                <a:ea typeface="微软雅黑" panose="020B0503020204020204" pitchFamily="34" charset="-122"/>
              </a:rPr>
              <a:t>IBP(Intelligent Business Planning)</a:t>
            </a:r>
            <a:endParaRPr lang="zh-CN" altLang="en-US" dirty="0">
              <a:latin typeface="Arial" panose="020B0604020202020204" pitchFamily="34" charset="0"/>
              <a:ea typeface="微软雅黑" panose="020B0503020204020204" pitchFamily="34" charset="-122"/>
            </a:endParaRPr>
          </a:p>
        </p:txBody>
      </p:sp>
      <p:grpSp>
        <p:nvGrpSpPr>
          <p:cNvPr id="27" name="组合 26">
            <a:extLst>
              <a:ext uri="{FF2B5EF4-FFF2-40B4-BE49-F238E27FC236}">
                <a16:creationId xmlns:a16="http://schemas.microsoft.com/office/drawing/2014/main" id="{9BB8235D-F742-15AE-019D-D002AC8161CA}"/>
              </a:ext>
            </a:extLst>
          </p:cNvPr>
          <p:cNvGrpSpPr>
            <a:grpSpLocks noChangeAspect="1"/>
          </p:cNvGrpSpPr>
          <p:nvPr>
            <p:custDataLst>
              <p:tags r:id="rId1"/>
            </p:custDataLst>
          </p:nvPr>
        </p:nvGrpSpPr>
        <p:grpSpPr>
          <a:xfrm>
            <a:off x="1084274" y="697342"/>
            <a:ext cx="10951782" cy="3411139"/>
            <a:chOff x="675644" y="1079309"/>
            <a:chExt cx="10607089" cy="3411139"/>
          </a:xfrm>
        </p:grpSpPr>
        <p:grpSp>
          <p:nvGrpSpPr>
            <p:cNvPr id="28" name="组合 27">
              <a:extLst>
                <a:ext uri="{FF2B5EF4-FFF2-40B4-BE49-F238E27FC236}">
                  <a16:creationId xmlns:a16="http://schemas.microsoft.com/office/drawing/2014/main" id="{02C209E6-3956-3199-254B-0EBBCB36B749}"/>
                </a:ext>
              </a:extLst>
            </p:cNvPr>
            <p:cNvGrpSpPr>
              <a:grpSpLocks/>
            </p:cNvGrpSpPr>
            <p:nvPr/>
          </p:nvGrpSpPr>
          <p:grpSpPr>
            <a:xfrm>
              <a:off x="675644" y="2493117"/>
              <a:ext cx="10139082" cy="1092215"/>
              <a:chOff x="6278556" y="1757898"/>
              <a:chExt cx="10139082" cy="1092215"/>
            </a:xfrm>
          </p:grpSpPr>
          <p:sp>
            <p:nvSpPr>
              <p:cNvPr id="37" name="2">
                <a:extLst>
                  <a:ext uri="{FF2B5EF4-FFF2-40B4-BE49-F238E27FC236}">
                    <a16:creationId xmlns:a16="http://schemas.microsoft.com/office/drawing/2014/main" id="{A961792F-868E-F6CF-4A3B-114482744452}"/>
                  </a:ext>
                </a:extLst>
              </p:cNvPr>
              <p:cNvSpPr/>
              <p:nvPr>
                <p:custDataLst>
                  <p:tags r:id="rId16"/>
                </p:custDataLst>
              </p:nvPr>
            </p:nvSpPr>
            <p:spPr>
              <a:xfrm>
                <a:off x="8012106" y="1757898"/>
                <a:ext cx="8405532" cy="109221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38" name="Title-2">
                <a:extLst>
                  <a:ext uri="{FF2B5EF4-FFF2-40B4-BE49-F238E27FC236}">
                    <a16:creationId xmlns:a16="http://schemas.microsoft.com/office/drawing/2014/main" id="{142A17F7-6180-CE57-0F92-4279D4B3B56B}"/>
                  </a:ext>
                </a:extLst>
              </p:cNvPr>
              <p:cNvSpPr/>
              <p:nvPr>
                <p:custDataLst>
                  <p:tags r:id="rId17"/>
                </p:custDataLst>
              </p:nvPr>
            </p:nvSpPr>
            <p:spPr>
              <a:xfrm>
                <a:off x="6278556" y="1757898"/>
                <a:ext cx="1733550" cy="1092215"/>
              </a:xfrm>
              <a:prstGeom prst="rect">
                <a:avLst/>
              </a:prstGeom>
              <a:solidFill>
                <a:schemeClr val="accent2"/>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ctr" defTabSz="913765"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cs"/>
                  </a:rPr>
                  <a:t>综合预测：</a:t>
                </a:r>
                <a:endParaRPr kumimoji="0" lang="zh-CN" altLang="en-US" sz="16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39" name="Body-2">
                <a:extLst>
                  <a:ext uri="{FF2B5EF4-FFF2-40B4-BE49-F238E27FC236}">
                    <a16:creationId xmlns:a16="http://schemas.microsoft.com/office/drawing/2014/main" id="{6DEB0E88-8D42-4916-EFA3-F52BB48CBA76}"/>
                  </a:ext>
                </a:extLst>
              </p:cNvPr>
              <p:cNvSpPr txBox="1"/>
              <p:nvPr>
                <p:custDataLst>
                  <p:tags r:id="rId18"/>
                </p:custDataLst>
              </p:nvPr>
            </p:nvSpPr>
            <p:spPr>
              <a:xfrm>
                <a:off x="8092415" y="1759148"/>
                <a:ext cx="8133977" cy="1070742"/>
              </a:xfrm>
              <a:prstGeom prst="rect">
                <a:avLst/>
              </a:prstGeom>
              <a:noFill/>
            </p:spPr>
            <p:txBody>
              <a:bodyPr wrap="square" rtlCol="0">
                <a:spAutoFit/>
              </a:bodyPr>
              <a:lstStyle>
                <a:defPPr>
                  <a:defRPr lang="zh-CN"/>
                </a:defPPr>
                <a:lvl1pPr>
                  <a:lnSpc>
                    <a:spcPct val="120000"/>
                  </a:lnSpc>
                  <a:defRPr sz="1400">
                    <a:latin typeface="Arial" panose="020B0604020202020204" pitchFamily="34" charset="0"/>
                    <a:ea typeface="Microsoft YaHei" panose="020B0503020204020204" pitchFamily="34" charset="-122"/>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核心功能：</a:t>
                </a:r>
                <a:endParaRPr kumimoji="0" lang="en-US" altLang="zh-CN"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各职能收集聚合历史数据</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分析综合预测</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发布综合预测</a:t>
                </a:r>
              </a:p>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意义：</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代表部门间沟通，将统计预测与各部门知识结合，形成更全面的视图。强调跨职能数据聚合。</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pSp>
        <p:grpSp>
          <p:nvGrpSpPr>
            <p:cNvPr id="29" name="组合 28">
              <a:extLst>
                <a:ext uri="{FF2B5EF4-FFF2-40B4-BE49-F238E27FC236}">
                  <a16:creationId xmlns:a16="http://schemas.microsoft.com/office/drawing/2014/main" id="{E47D0DC2-C531-D367-A6F7-9FE085F749EA}"/>
                </a:ext>
              </a:extLst>
            </p:cNvPr>
            <p:cNvGrpSpPr>
              <a:grpSpLocks/>
            </p:cNvGrpSpPr>
            <p:nvPr/>
          </p:nvGrpSpPr>
          <p:grpSpPr>
            <a:xfrm>
              <a:off x="675644" y="1079309"/>
              <a:ext cx="10607089" cy="1407340"/>
              <a:chOff x="675644" y="1779802"/>
              <a:chExt cx="10607089" cy="1407340"/>
            </a:xfrm>
          </p:grpSpPr>
          <p:sp>
            <p:nvSpPr>
              <p:cNvPr id="34" name="1">
                <a:extLst>
                  <a:ext uri="{FF2B5EF4-FFF2-40B4-BE49-F238E27FC236}">
                    <a16:creationId xmlns:a16="http://schemas.microsoft.com/office/drawing/2014/main" id="{E3313CDD-C2B2-6E63-3E00-6F32897F6EE9}"/>
                  </a:ext>
                </a:extLst>
              </p:cNvPr>
              <p:cNvSpPr/>
              <p:nvPr>
                <p:custDataLst>
                  <p:tags r:id="rId13"/>
                </p:custDataLst>
              </p:nvPr>
            </p:nvSpPr>
            <p:spPr>
              <a:xfrm>
                <a:off x="2409194" y="1779802"/>
                <a:ext cx="8405532" cy="137974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35" name="Title-1">
                <a:extLst>
                  <a:ext uri="{FF2B5EF4-FFF2-40B4-BE49-F238E27FC236}">
                    <a16:creationId xmlns:a16="http://schemas.microsoft.com/office/drawing/2014/main" id="{AC9B27E5-D352-51A9-D187-C576271084DA}"/>
                  </a:ext>
                </a:extLst>
              </p:cNvPr>
              <p:cNvSpPr/>
              <p:nvPr>
                <p:custDataLst>
                  <p:tags r:id="rId14"/>
                </p:custDataLst>
              </p:nvPr>
            </p:nvSpPr>
            <p:spPr>
              <a:xfrm>
                <a:off x="675644" y="1779803"/>
                <a:ext cx="1743347" cy="1378800"/>
              </a:xfrm>
              <a:prstGeom prst="rect">
                <a:avLst/>
              </a:prstGeom>
              <a:solidFill>
                <a:schemeClr val="accent1"/>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ctr" defTabSz="913765"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cs"/>
                  </a:rPr>
                  <a:t>统计预测：</a:t>
                </a:r>
                <a:endParaRPr kumimoji="0" lang="zh-CN" altLang="en-US" sz="16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36" name="Body-1">
                <a:extLst>
                  <a:ext uri="{FF2B5EF4-FFF2-40B4-BE49-F238E27FC236}">
                    <a16:creationId xmlns:a16="http://schemas.microsoft.com/office/drawing/2014/main" id="{11CB3B06-0742-B01A-86AB-8F839BB92950}"/>
                  </a:ext>
                </a:extLst>
              </p:cNvPr>
              <p:cNvSpPr txBox="1"/>
              <p:nvPr>
                <p:custDataLst>
                  <p:tags r:id="rId15"/>
                </p:custDataLst>
              </p:nvPr>
            </p:nvSpPr>
            <p:spPr>
              <a:xfrm>
                <a:off x="2489503" y="1784001"/>
                <a:ext cx="8793230" cy="1403141"/>
              </a:xfrm>
              <a:prstGeom prst="rect">
                <a:avLst/>
              </a:prstGeom>
              <a:noFill/>
            </p:spPr>
            <p:txBody>
              <a:bodyPr wrap="square" rtlCol="0">
                <a:spAutoFit/>
              </a:bodyPr>
              <a:lstStyle>
                <a:defPPr>
                  <a:defRPr lang="zh-CN"/>
                </a:defPPr>
                <a:lvl1pPr algn="ctr">
                  <a:lnSpc>
                    <a:spcPct val="150000"/>
                  </a:lnSpc>
                  <a:defRPr sz="1200">
                    <a:solidFill>
                      <a:schemeClr val="bg1">
                        <a:lumMod val="50000"/>
                      </a:schemeClr>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核心功能：</a:t>
                </a:r>
                <a:endParaRPr kumimoji="0" lang="en-US" altLang="zh-CN"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742950" marR="0" lvl="1"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历史数据清晰和汇总、</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742950" marR="0" lvl="1"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拟合与预测计算，使用多种模型并行模拟。</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742950" marR="0" lvl="1"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预测模型评估与分析</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742950" marR="0" lvl="1"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统计预测分解</a:t>
                </a:r>
              </a:p>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意义：</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这是规划的“心脏”，提供客观、量化的预测基础，确保规划始于可靠数据。图标象征核心驱动力。</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pSp>
        <p:grpSp>
          <p:nvGrpSpPr>
            <p:cNvPr id="30" name="组合 29">
              <a:extLst>
                <a:ext uri="{FF2B5EF4-FFF2-40B4-BE49-F238E27FC236}">
                  <a16:creationId xmlns:a16="http://schemas.microsoft.com/office/drawing/2014/main" id="{0FBC994A-AC3E-BFE6-2810-77A6EF2C43FB}"/>
                </a:ext>
              </a:extLst>
            </p:cNvPr>
            <p:cNvGrpSpPr/>
            <p:nvPr/>
          </p:nvGrpSpPr>
          <p:grpSpPr>
            <a:xfrm>
              <a:off x="675644" y="3597116"/>
              <a:ext cx="10139082" cy="893332"/>
              <a:chOff x="675644" y="2861897"/>
              <a:chExt cx="10139082" cy="893332"/>
            </a:xfrm>
          </p:grpSpPr>
          <p:sp>
            <p:nvSpPr>
              <p:cNvPr id="31" name="3">
                <a:extLst>
                  <a:ext uri="{FF2B5EF4-FFF2-40B4-BE49-F238E27FC236}">
                    <a16:creationId xmlns:a16="http://schemas.microsoft.com/office/drawing/2014/main" id="{7B90E7D1-18E2-A4CD-0EA1-44796B233E63}"/>
                  </a:ext>
                </a:extLst>
              </p:cNvPr>
              <p:cNvSpPr/>
              <p:nvPr>
                <p:custDataLst>
                  <p:tags r:id="rId10"/>
                </p:custDataLst>
              </p:nvPr>
            </p:nvSpPr>
            <p:spPr>
              <a:xfrm>
                <a:off x="2409194" y="2878515"/>
                <a:ext cx="8405532" cy="876714"/>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32" name="Title-3">
                <a:extLst>
                  <a:ext uri="{FF2B5EF4-FFF2-40B4-BE49-F238E27FC236}">
                    <a16:creationId xmlns:a16="http://schemas.microsoft.com/office/drawing/2014/main" id="{9D72D80C-9013-66BA-1328-93C9623AE1D7}"/>
                  </a:ext>
                </a:extLst>
              </p:cNvPr>
              <p:cNvSpPr/>
              <p:nvPr>
                <p:custDataLst>
                  <p:tags r:id="rId11"/>
                </p:custDataLst>
              </p:nvPr>
            </p:nvSpPr>
            <p:spPr>
              <a:xfrm>
                <a:off x="675644" y="2878515"/>
                <a:ext cx="1733550" cy="876714"/>
              </a:xfrm>
              <a:prstGeom prst="rect">
                <a:avLst/>
              </a:prstGeom>
              <a:solidFill>
                <a:schemeClr val="accent3"/>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ctr" defTabSz="913765"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cs"/>
                  </a:rPr>
                  <a:t>共识预测：</a:t>
                </a:r>
                <a:endParaRPr kumimoji="0" lang="en-US" altLang="zh-CN" sz="16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33" name="Body-3">
                <a:extLst>
                  <a:ext uri="{FF2B5EF4-FFF2-40B4-BE49-F238E27FC236}">
                    <a16:creationId xmlns:a16="http://schemas.microsoft.com/office/drawing/2014/main" id="{3ACFE545-9EEA-70AC-D775-C9E555189CE0}"/>
                  </a:ext>
                </a:extLst>
              </p:cNvPr>
              <p:cNvSpPr txBox="1"/>
              <p:nvPr>
                <p:custDataLst>
                  <p:tags r:id="rId12"/>
                </p:custDataLst>
              </p:nvPr>
            </p:nvSpPr>
            <p:spPr>
              <a:xfrm>
                <a:off x="2489503" y="2861897"/>
                <a:ext cx="7703393" cy="886076"/>
              </a:xfrm>
              <a:prstGeom prst="rect">
                <a:avLst/>
              </a:prstGeom>
              <a:noFill/>
            </p:spPr>
            <p:txBody>
              <a:bodyPr wrap="square" rtlCol="0">
                <a:spAutoFit/>
              </a:bodyPr>
              <a:lstStyle>
                <a:defPPr>
                  <a:defRPr lang="zh-CN"/>
                </a:defPPr>
                <a:lvl1pPr>
                  <a:lnSpc>
                    <a:spcPct val="120000"/>
                  </a:lnSpc>
                  <a:defRPr sz="1400">
                    <a:latin typeface="Arial" panose="020B0604020202020204" pitchFamily="34" charset="0"/>
                    <a:ea typeface="Microsoft YaHei" panose="020B0503020204020204" pitchFamily="34" charset="-122"/>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核心功能</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分解比率确定</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权重系数确定”达成“基线共识预测达成发布”。</a:t>
                </a:r>
              </a:p>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意义：</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这是协同决策的关键阶段，平衡不同部门利益，形成一致同意的预测基线。</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pSp>
      </p:grpSp>
      <p:grpSp>
        <p:nvGrpSpPr>
          <p:cNvPr id="53" name="组合 52">
            <a:extLst>
              <a:ext uri="{FF2B5EF4-FFF2-40B4-BE49-F238E27FC236}">
                <a16:creationId xmlns:a16="http://schemas.microsoft.com/office/drawing/2014/main" id="{75D9D35C-084B-AC41-53BF-497BEB43CBFD}"/>
              </a:ext>
            </a:extLst>
          </p:cNvPr>
          <p:cNvGrpSpPr>
            <a:grpSpLocks noChangeAspect="1"/>
          </p:cNvGrpSpPr>
          <p:nvPr>
            <p:custDataLst>
              <p:tags r:id="rId2"/>
            </p:custDataLst>
          </p:nvPr>
        </p:nvGrpSpPr>
        <p:grpSpPr>
          <a:xfrm>
            <a:off x="1084274" y="4105100"/>
            <a:ext cx="10468566" cy="1014477"/>
            <a:chOff x="675644" y="1616370"/>
            <a:chExt cx="10996708" cy="798156"/>
          </a:xfrm>
        </p:grpSpPr>
        <p:sp>
          <p:nvSpPr>
            <p:cNvPr id="54" name="1">
              <a:extLst>
                <a:ext uri="{FF2B5EF4-FFF2-40B4-BE49-F238E27FC236}">
                  <a16:creationId xmlns:a16="http://schemas.microsoft.com/office/drawing/2014/main" id="{4A896D95-719F-067E-D345-6C34CF85A99D}"/>
                </a:ext>
              </a:extLst>
            </p:cNvPr>
            <p:cNvSpPr/>
            <p:nvPr>
              <p:custDataLst>
                <p:tags r:id="rId7"/>
              </p:custDataLst>
            </p:nvPr>
          </p:nvSpPr>
          <p:spPr>
            <a:xfrm>
              <a:off x="2409194" y="1640339"/>
              <a:ext cx="9263158" cy="7741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55" name="Title-1">
              <a:extLst>
                <a:ext uri="{FF2B5EF4-FFF2-40B4-BE49-F238E27FC236}">
                  <a16:creationId xmlns:a16="http://schemas.microsoft.com/office/drawing/2014/main" id="{F2DA858F-BE15-B972-C24C-D0896BEFFA9C}"/>
                </a:ext>
              </a:extLst>
            </p:cNvPr>
            <p:cNvSpPr/>
            <p:nvPr>
              <p:custDataLst>
                <p:tags r:id="rId8"/>
              </p:custDataLst>
            </p:nvPr>
          </p:nvSpPr>
          <p:spPr>
            <a:xfrm>
              <a:off x="675644" y="1640339"/>
              <a:ext cx="1880184" cy="774187"/>
            </a:xfrm>
            <a:prstGeom prst="rect">
              <a:avLst/>
            </a:prstGeom>
            <a:solidFill>
              <a:schemeClr val="accent1"/>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ctr" defTabSz="913765"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需求塑造：</a:t>
              </a:r>
            </a:p>
          </p:txBody>
        </p:sp>
        <p:sp>
          <p:nvSpPr>
            <p:cNvPr id="56" name="Body-1">
              <a:extLst>
                <a:ext uri="{FF2B5EF4-FFF2-40B4-BE49-F238E27FC236}">
                  <a16:creationId xmlns:a16="http://schemas.microsoft.com/office/drawing/2014/main" id="{7BE48D46-FBD0-3EB4-2934-C2A803B2F37A}"/>
                </a:ext>
              </a:extLst>
            </p:cNvPr>
            <p:cNvSpPr txBox="1"/>
            <p:nvPr>
              <p:custDataLst>
                <p:tags r:id="rId9"/>
              </p:custDataLst>
            </p:nvPr>
          </p:nvSpPr>
          <p:spPr>
            <a:xfrm>
              <a:off x="2642930" y="1616370"/>
              <a:ext cx="8846429" cy="723588"/>
            </a:xfrm>
            <a:prstGeom prst="rect">
              <a:avLst/>
            </a:prstGeom>
            <a:noFill/>
          </p:spPr>
          <p:txBody>
            <a:bodyPr wrap="square" rtlCol="0">
              <a:spAutoFit/>
            </a:bodyPr>
            <a:lstStyle>
              <a:defPPr>
                <a:defRPr lang="zh-CN"/>
              </a:defPPr>
              <a:lvl1pPr algn="ctr">
                <a:lnSpc>
                  <a:spcPct val="150000"/>
                </a:lnSpc>
                <a:defRPr sz="1200">
                  <a:solidFill>
                    <a:schemeClr val="bg1">
                      <a:lumMod val="50000"/>
                    </a:schemeClr>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核心功能：</a:t>
              </a:r>
              <a:endParaRPr kumimoji="0" lang="en-US" altLang="zh-CN"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742950" marR="0" lvl="1"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事件活动归类：市场情报、竞品分析、新品发布、促销</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742950" marR="0" lvl="1"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使用模型（如线性、指数、巴斯扩散）分析“潜在商机”。</a:t>
              </a:r>
            </a:p>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意义：</a:t>
              </a:r>
              <a:r>
                <a:rPr kumimoji="0" lang="zh-CN" altLang="en-US" sz="1400" b="0" i="0" u="none" strike="noStrike" kern="1200" cap="none" spc="0" normalizeH="0" baseline="0" noProof="0" dirty="0">
                  <a:ln>
                    <a:noFill/>
                  </a:ln>
                  <a:solidFill>
                    <a:prstClr val="black"/>
                  </a:solidFill>
                  <a:effectLst/>
                  <a:uLnTx/>
                  <a:uFillTx/>
                  <a:latin typeface="Arial" panose="020B0604020202020204" pitchFamily="34" charset="0"/>
                  <a:ea typeface="黑体" panose="02010609060101010101" pitchFamily="49" charset="-122"/>
                  <a:cs typeface="+mn-cs"/>
                </a:rPr>
                <a:t>此阶段主动影响需求（如通过促销），而不仅是被动预测，提升规划的前瞻性。</a:t>
              </a:r>
              <a:endParaRPr kumimoji="0" lang="en-US" altLang="zh-CN" sz="1100" b="0" i="0" u="none" strike="noStrike" kern="1200" cap="none" spc="0" normalizeH="0" baseline="0" noProof="0" dirty="0">
                <a:ln>
                  <a:noFill/>
                </a:ln>
                <a:solidFill>
                  <a:prstClr val="black"/>
                </a:solidFill>
                <a:effectLst/>
                <a:uLnTx/>
                <a:uFillTx/>
                <a:latin typeface="Arial" panose="020B0604020202020204" pitchFamily="34" charset="0"/>
                <a:ea typeface="黑体" panose="02010609060101010101" pitchFamily="49" charset="-122"/>
                <a:cs typeface="+mn-cs"/>
              </a:endParaRPr>
            </a:p>
          </p:txBody>
        </p:sp>
      </p:grpSp>
      <p:grpSp>
        <p:nvGrpSpPr>
          <p:cNvPr id="57" name="组合 56">
            <a:extLst>
              <a:ext uri="{FF2B5EF4-FFF2-40B4-BE49-F238E27FC236}">
                <a16:creationId xmlns:a16="http://schemas.microsoft.com/office/drawing/2014/main" id="{AF5A4D2D-2484-7DCE-5B21-6B6B456A6DD1}"/>
              </a:ext>
            </a:extLst>
          </p:cNvPr>
          <p:cNvGrpSpPr>
            <a:grpSpLocks noChangeAspect="1"/>
          </p:cNvGrpSpPr>
          <p:nvPr>
            <p:custDataLst>
              <p:tags r:id="rId3"/>
            </p:custDataLst>
          </p:nvPr>
        </p:nvGrpSpPr>
        <p:grpSpPr>
          <a:xfrm>
            <a:off x="1084275" y="5144123"/>
            <a:ext cx="10468565" cy="1501227"/>
            <a:chOff x="675644" y="1747907"/>
            <a:chExt cx="10632141" cy="1454857"/>
          </a:xfrm>
        </p:grpSpPr>
        <p:sp>
          <p:nvSpPr>
            <p:cNvPr id="58" name="1">
              <a:extLst>
                <a:ext uri="{FF2B5EF4-FFF2-40B4-BE49-F238E27FC236}">
                  <a16:creationId xmlns:a16="http://schemas.microsoft.com/office/drawing/2014/main" id="{382F9844-9BE7-52F0-CEB5-1F277EA18351}"/>
                </a:ext>
              </a:extLst>
            </p:cNvPr>
            <p:cNvSpPr/>
            <p:nvPr>
              <p:custDataLst>
                <p:tags r:id="rId4"/>
              </p:custDataLst>
            </p:nvPr>
          </p:nvSpPr>
          <p:spPr>
            <a:xfrm>
              <a:off x="2409195" y="1747907"/>
              <a:ext cx="8898590" cy="1442641"/>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59" name="Title-1">
              <a:extLst>
                <a:ext uri="{FF2B5EF4-FFF2-40B4-BE49-F238E27FC236}">
                  <a16:creationId xmlns:a16="http://schemas.microsoft.com/office/drawing/2014/main" id="{D835866D-5F85-9F30-47FE-B87D9BB37D00}"/>
                </a:ext>
              </a:extLst>
            </p:cNvPr>
            <p:cNvSpPr/>
            <p:nvPr>
              <p:custDataLst>
                <p:tags r:id="rId5"/>
              </p:custDataLst>
            </p:nvPr>
          </p:nvSpPr>
          <p:spPr>
            <a:xfrm>
              <a:off x="675644" y="1747907"/>
              <a:ext cx="1817852" cy="1442640"/>
            </a:xfrm>
            <a:prstGeom prst="rect">
              <a:avLst/>
            </a:prstGeom>
            <a:solidFill>
              <a:schemeClr val="accent2">
                <a:lumMod val="75000"/>
              </a:schemeClr>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ctr" defTabSz="913765"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财务规划：</a:t>
              </a:r>
            </a:p>
          </p:txBody>
        </p:sp>
        <p:sp>
          <p:nvSpPr>
            <p:cNvPr id="60" name="Body-1">
              <a:extLst>
                <a:ext uri="{FF2B5EF4-FFF2-40B4-BE49-F238E27FC236}">
                  <a16:creationId xmlns:a16="http://schemas.microsoft.com/office/drawing/2014/main" id="{E64BC307-BED5-B175-E2AB-F6C3D72640B4}"/>
                </a:ext>
              </a:extLst>
            </p:cNvPr>
            <p:cNvSpPr txBox="1"/>
            <p:nvPr>
              <p:custDataLst>
                <p:tags r:id="rId6"/>
              </p:custDataLst>
            </p:nvPr>
          </p:nvSpPr>
          <p:spPr>
            <a:xfrm>
              <a:off x="2610770" y="1799623"/>
              <a:ext cx="8649204" cy="1403141"/>
            </a:xfrm>
            <a:prstGeom prst="rect">
              <a:avLst/>
            </a:prstGeom>
            <a:noFill/>
          </p:spPr>
          <p:txBody>
            <a:bodyPr wrap="square" rtlCol="0">
              <a:spAutoFit/>
            </a:bodyPr>
            <a:lstStyle>
              <a:defPPr>
                <a:defRPr lang="zh-CN"/>
              </a:defPPr>
              <a:lvl1pPr algn="ctr">
                <a:lnSpc>
                  <a:spcPct val="150000"/>
                </a:lnSpc>
                <a:defRPr sz="1200">
                  <a:solidFill>
                    <a:schemeClr val="bg1">
                      <a:lumMod val="50000"/>
                    </a:schemeClr>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核心功能：</a:t>
              </a:r>
              <a:endParaRPr kumimoji="0" lang="en-US" altLang="zh-CN"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742950" marR="0" lvl="1"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数据整合与财务建模</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742950" marR="0" lvl="1"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财务评估与模拟</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742950" marR="0" lvl="1"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集成对账与差距分析</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742950" marR="0" lvl="1"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管理业务评审与决策</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意义</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：图标象征战略决策者，这是规划的落地环节，将需求转化为财务目标，确保与公司战略一致，并管理执行风险。</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pSp>
    </p:spTree>
    <p:extLst>
      <p:ext uri="{BB962C8B-B14F-4D97-AF65-F5344CB8AC3E}">
        <p14:creationId xmlns:p14="http://schemas.microsoft.com/office/powerpoint/2010/main" val="73101767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4E43449-1520-2F7B-121A-960E4A638AE7}"/>
              </a:ext>
            </a:extLst>
          </p:cNvPr>
          <p:cNvSpPr>
            <a:spLocks noGrp="1"/>
          </p:cNvSpPr>
          <p:nvPr>
            <p:ph type="title"/>
          </p:nvPr>
        </p:nvSpPr>
        <p:spPr>
          <a:xfrm>
            <a:off x="929529" y="88114"/>
            <a:ext cx="10858500" cy="565883"/>
          </a:xfrm>
        </p:spPr>
        <p:txBody>
          <a:bodyPr/>
          <a:lstStyle/>
          <a:p>
            <a:r>
              <a:rPr lang="en-US" altLang="zh-CN" dirty="0"/>
              <a:t>IBP</a:t>
            </a:r>
            <a:r>
              <a:rPr lang="zh-CN" altLang="en-US" dirty="0"/>
              <a:t>详细流程</a:t>
            </a:r>
          </a:p>
        </p:txBody>
      </p:sp>
      <p:pic>
        <p:nvPicPr>
          <p:cNvPr id="3" name="图片 2">
            <a:extLst>
              <a:ext uri="{FF2B5EF4-FFF2-40B4-BE49-F238E27FC236}">
                <a16:creationId xmlns:a16="http://schemas.microsoft.com/office/drawing/2014/main" id="{929CF438-88E9-0724-4A2E-E0C57C7159F3}"/>
              </a:ext>
            </a:extLst>
          </p:cNvPr>
          <p:cNvPicPr>
            <a:picLocks noChangeAspect="1"/>
          </p:cNvPicPr>
          <p:nvPr/>
        </p:nvPicPr>
        <p:blipFill>
          <a:blip r:embed="rId2"/>
          <a:stretch>
            <a:fillRect/>
          </a:stretch>
        </p:blipFill>
        <p:spPr>
          <a:xfrm>
            <a:off x="802758" y="750810"/>
            <a:ext cx="4231758" cy="6019076"/>
          </a:xfrm>
          <a:prstGeom prst="rect">
            <a:avLst/>
          </a:prstGeom>
        </p:spPr>
      </p:pic>
      <p:graphicFrame>
        <p:nvGraphicFramePr>
          <p:cNvPr id="8" name="表格 7">
            <a:extLst>
              <a:ext uri="{FF2B5EF4-FFF2-40B4-BE49-F238E27FC236}">
                <a16:creationId xmlns:a16="http://schemas.microsoft.com/office/drawing/2014/main" id="{EE7B0B24-B8F7-CE6D-F606-E4AE6F9C1BCB}"/>
              </a:ext>
            </a:extLst>
          </p:cNvPr>
          <p:cNvGraphicFramePr>
            <a:graphicFrameLocks noGrp="1"/>
          </p:cNvGraphicFramePr>
          <p:nvPr/>
        </p:nvGraphicFramePr>
        <p:xfrm>
          <a:off x="5257800" y="690664"/>
          <a:ext cx="6390167" cy="6142366"/>
        </p:xfrm>
        <a:graphic>
          <a:graphicData uri="http://schemas.openxmlformats.org/drawingml/2006/table">
            <a:tbl>
              <a:tblPr/>
              <a:tblGrid>
                <a:gridCol w="966654">
                  <a:extLst>
                    <a:ext uri="{9D8B030D-6E8A-4147-A177-3AD203B41FA5}">
                      <a16:colId xmlns:a16="http://schemas.microsoft.com/office/drawing/2014/main" val="3416808548"/>
                    </a:ext>
                  </a:extLst>
                </a:gridCol>
                <a:gridCol w="1355878">
                  <a:extLst>
                    <a:ext uri="{9D8B030D-6E8A-4147-A177-3AD203B41FA5}">
                      <a16:colId xmlns:a16="http://schemas.microsoft.com/office/drawing/2014/main" val="1342427952"/>
                    </a:ext>
                  </a:extLst>
                </a:gridCol>
                <a:gridCol w="1030449">
                  <a:extLst>
                    <a:ext uri="{9D8B030D-6E8A-4147-A177-3AD203B41FA5}">
                      <a16:colId xmlns:a16="http://schemas.microsoft.com/office/drawing/2014/main" val="3302158438"/>
                    </a:ext>
                  </a:extLst>
                </a:gridCol>
                <a:gridCol w="1922624">
                  <a:extLst>
                    <a:ext uri="{9D8B030D-6E8A-4147-A177-3AD203B41FA5}">
                      <a16:colId xmlns:a16="http://schemas.microsoft.com/office/drawing/2014/main" val="3748287726"/>
                    </a:ext>
                  </a:extLst>
                </a:gridCol>
                <a:gridCol w="1114562">
                  <a:extLst>
                    <a:ext uri="{9D8B030D-6E8A-4147-A177-3AD203B41FA5}">
                      <a16:colId xmlns:a16="http://schemas.microsoft.com/office/drawing/2014/main" val="962824805"/>
                    </a:ext>
                  </a:extLst>
                </a:gridCol>
              </a:tblGrid>
              <a:tr h="148100">
                <a:tc>
                  <a:txBody>
                    <a:bodyPr/>
                    <a:lstStyle/>
                    <a:p>
                      <a:r>
                        <a:rPr lang="zh-CN" altLang="en-US" sz="800" b="1" dirty="0">
                          <a:solidFill>
                            <a:srgbClr val="FFFFFF"/>
                          </a:solidFill>
                          <a:latin typeface="+mj-ea"/>
                          <a:ea typeface="+mj-ea"/>
                        </a:rPr>
                        <a:t>阶段</a:t>
                      </a:r>
                    </a:p>
                  </a:txBody>
                  <a:tcPr marL="19856" marR="19856" marT="9928" marB="9928" anchor="ctr">
                    <a:lnL>
                      <a:noFill/>
                    </a:lnL>
                    <a:lnR>
                      <a:noFill/>
                    </a:lnR>
                    <a:lnT>
                      <a:solidFill>
                        <a:srgbClr val="430A5D"/>
                      </a:solidFill>
                      <a:prstDash val="solid"/>
                    </a:lnT>
                    <a:lnB>
                      <a:solidFill>
                        <a:srgbClr val="430A5D"/>
                      </a:solidFill>
                      <a:prstDash val="solid"/>
                    </a:lnB>
                    <a:solidFill>
                      <a:srgbClr val="430A5D"/>
                    </a:solidFill>
                  </a:tcPr>
                </a:tc>
                <a:tc>
                  <a:txBody>
                    <a:bodyPr/>
                    <a:lstStyle/>
                    <a:p>
                      <a:r>
                        <a:rPr lang="zh-CN" altLang="en-US" sz="800" b="1">
                          <a:solidFill>
                            <a:srgbClr val="FFFFFF"/>
                          </a:solidFill>
                          <a:latin typeface="+mj-ea"/>
                          <a:ea typeface="+mj-ea"/>
                        </a:rPr>
                        <a:t>核心活动</a:t>
                      </a:r>
                      <a:r>
                        <a:rPr lang="en-US" altLang="zh-CN" sz="800" b="1">
                          <a:solidFill>
                            <a:srgbClr val="FFFFFF"/>
                          </a:solidFill>
                          <a:latin typeface="+mj-ea"/>
                          <a:ea typeface="+mj-ea"/>
                        </a:rPr>
                        <a:t>/</a:t>
                      </a:r>
                      <a:r>
                        <a:rPr lang="zh-CN" altLang="en-US" sz="800" b="1">
                          <a:solidFill>
                            <a:srgbClr val="FFFFFF"/>
                          </a:solidFill>
                          <a:latin typeface="+mj-ea"/>
                          <a:ea typeface="+mj-ea"/>
                        </a:rPr>
                        <a:t>步骤</a:t>
                      </a:r>
                    </a:p>
                  </a:txBody>
                  <a:tcPr marL="19856" marR="19856" marT="9928" marB="9928" anchor="ctr">
                    <a:lnL>
                      <a:noFill/>
                    </a:lnL>
                    <a:lnR>
                      <a:noFill/>
                    </a:lnR>
                    <a:lnT>
                      <a:solidFill>
                        <a:srgbClr val="430A5D"/>
                      </a:solidFill>
                      <a:prstDash val="solid"/>
                    </a:lnT>
                    <a:lnB>
                      <a:solidFill>
                        <a:srgbClr val="430A5D"/>
                      </a:solidFill>
                      <a:prstDash val="solid"/>
                    </a:lnB>
                    <a:solidFill>
                      <a:srgbClr val="430A5D"/>
                    </a:solidFill>
                  </a:tcPr>
                </a:tc>
                <a:tc>
                  <a:txBody>
                    <a:bodyPr/>
                    <a:lstStyle/>
                    <a:p>
                      <a:r>
                        <a:rPr lang="zh-CN" altLang="en-US" sz="800" b="1" dirty="0">
                          <a:solidFill>
                            <a:srgbClr val="FFFFFF"/>
                          </a:solidFill>
                          <a:latin typeface="+mj-ea"/>
                          <a:ea typeface="+mj-ea"/>
                        </a:rPr>
                        <a:t>操作</a:t>
                      </a:r>
                    </a:p>
                  </a:txBody>
                  <a:tcPr marL="19856" marR="19856" marT="9928" marB="9928" anchor="ctr">
                    <a:lnL>
                      <a:noFill/>
                    </a:lnL>
                    <a:lnR>
                      <a:noFill/>
                    </a:lnR>
                    <a:lnT>
                      <a:solidFill>
                        <a:srgbClr val="430A5D"/>
                      </a:solidFill>
                      <a:prstDash val="solid"/>
                    </a:lnT>
                    <a:lnB>
                      <a:solidFill>
                        <a:srgbClr val="430A5D"/>
                      </a:solidFill>
                      <a:prstDash val="solid"/>
                    </a:lnB>
                    <a:solidFill>
                      <a:srgbClr val="430A5D"/>
                    </a:solidFill>
                  </a:tcPr>
                </a:tc>
                <a:tc>
                  <a:txBody>
                    <a:bodyPr/>
                    <a:lstStyle/>
                    <a:p>
                      <a:r>
                        <a:rPr lang="zh-CN" altLang="en-US" sz="800" b="1">
                          <a:solidFill>
                            <a:srgbClr val="FFFFFF"/>
                          </a:solidFill>
                          <a:latin typeface="+mj-ea"/>
                          <a:ea typeface="+mj-ea"/>
                        </a:rPr>
                        <a:t>原子级活动描述</a:t>
                      </a:r>
                    </a:p>
                  </a:txBody>
                  <a:tcPr marL="19856" marR="19856" marT="9928" marB="9928" anchor="ctr">
                    <a:lnL>
                      <a:noFill/>
                    </a:lnL>
                    <a:lnR>
                      <a:noFill/>
                    </a:lnR>
                    <a:lnT>
                      <a:solidFill>
                        <a:srgbClr val="430A5D"/>
                      </a:solidFill>
                      <a:prstDash val="solid"/>
                    </a:lnT>
                    <a:lnB>
                      <a:solidFill>
                        <a:srgbClr val="430A5D"/>
                      </a:solidFill>
                      <a:prstDash val="solid"/>
                    </a:lnB>
                    <a:solidFill>
                      <a:srgbClr val="430A5D"/>
                    </a:solidFill>
                  </a:tcPr>
                </a:tc>
                <a:tc>
                  <a:txBody>
                    <a:bodyPr/>
                    <a:lstStyle/>
                    <a:p>
                      <a:r>
                        <a:rPr lang="zh-CN" altLang="en-US" sz="800" b="1">
                          <a:solidFill>
                            <a:srgbClr val="FFFFFF"/>
                          </a:solidFill>
                          <a:latin typeface="+mj-ea"/>
                          <a:ea typeface="+mj-ea"/>
                        </a:rPr>
                        <a:t>核心输出</a:t>
                      </a:r>
                    </a:p>
                  </a:txBody>
                  <a:tcPr marL="19856" marR="19856" marT="9928" marB="9928" anchor="ctr">
                    <a:lnL>
                      <a:noFill/>
                    </a:lnL>
                    <a:lnR>
                      <a:noFill/>
                    </a:lnR>
                    <a:lnT>
                      <a:solidFill>
                        <a:srgbClr val="430A5D"/>
                      </a:solidFill>
                      <a:prstDash val="solid"/>
                    </a:lnT>
                    <a:lnB>
                      <a:solidFill>
                        <a:srgbClr val="430A5D"/>
                      </a:solidFill>
                      <a:prstDash val="solid"/>
                    </a:lnB>
                    <a:solidFill>
                      <a:srgbClr val="430A5D"/>
                    </a:solidFill>
                  </a:tcPr>
                </a:tc>
                <a:extLst>
                  <a:ext uri="{0D108BD9-81ED-4DB2-BD59-A6C34878D82A}">
                    <a16:rowId xmlns:a16="http://schemas.microsoft.com/office/drawing/2014/main" val="2506002017"/>
                  </a:ext>
                </a:extLst>
              </a:tr>
              <a:tr h="762271">
                <a:tc rowSpan="3">
                  <a:txBody>
                    <a:bodyPr/>
                    <a:lstStyle/>
                    <a:p>
                      <a:r>
                        <a:rPr lang="zh-CN" altLang="en-US" sz="800" b="1" dirty="0">
                          <a:solidFill>
                            <a:srgbClr val="000000"/>
                          </a:solidFill>
                          <a:latin typeface="+mj-ea"/>
                          <a:ea typeface="+mj-ea"/>
                        </a:rPr>
                        <a:t>第一阶段：统计预测生成</a:t>
                      </a:r>
                    </a:p>
                  </a:txBody>
                  <a:tcPr marL="19856" marR="19856" marT="9928" marB="9928" anchor="ctr">
                    <a:lnL>
                      <a:noFill/>
                    </a:lnL>
                    <a:lnR>
                      <a:noFill/>
                    </a:lnR>
                    <a:lnT>
                      <a:solidFill>
                        <a:srgbClr val="430A5D"/>
                      </a:solidFill>
                      <a:prstDash val="solid"/>
                    </a:lnT>
                    <a:lnB>
                      <a:solidFill>
                        <a:srgbClr val="430A5D"/>
                      </a:solidFill>
                      <a:prstDash val="solid"/>
                    </a:lnB>
                    <a:solidFill>
                      <a:srgbClr val="F1EAFF"/>
                    </a:solidFill>
                  </a:tcPr>
                </a:tc>
                <a:tc>
                  <a:txBody>
                    <a:bodyPr/>
                    <a:lstStyle/>
                    <a:p>
                      <a:r>
                        <a:rPr lang="zh-CN" altLang="en-US" sz="800" b="1">
                          <a:solidFill>
                            <a:srgbClr val="000000"/>
                          </a:solidFill>
                          <a:latin typeface="+mj-ea"/>
                          <a:ea typeface="+mj-ea"/>
                        </a:rPr>
                        <a:t>数据清洗与预处理</a:t>
                      </a:r>
                      <a:endParaRPr lang="zh-CN" altLang="en-US" sz="800">
                        <a:solidFill>
                          <a:srgbClr val="000000"/>
                        </a:solidFill>
                        <a:latin typeface="+mj-ea"/>
                        <a:ea typeface="+mj-ea"/>
                      </a:endParaRP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en-US" sz="800">
                          <a:solidFill>
                            <a:srgbClr val="000000"/>
                          </a:solidFill>
                          <a:latin typeface="+mj-ea"/>
                          <a:ea typeface="+mj-ea"/>
                        </a:rPr>
                        <a:t>Demand Planning </a:t>
                      </a:r>
                      <a:r>
                        <a:rPr lang="zh-CN" altLang="en-US" sz="800">
                          <a:solidFill>
                            <a:srgbClr val="000000"/>
                          </a:solidFill>
                          <a:latin typeface="+mj-ea"/>
                          <a:ea typeface="+mj-ea"/>
                        </a:rPr>
                        <a:t>工作台 </a:t>
                      </a:r>
                      <a:r>
                        <a:rPr lang="en-US" altLang="zh-CN" sz="800">
                          <a:solidFill>
                            <a:srgbClr val="000000"/>
                          </a:solidFill>
                          <a:latin typeface="+mj-ea"/>
                          <a:ea typeface="+mj-ea"/>
                        </a:rPr>
                        <a:t>- “</a:t>
                      </a:r>
                      <a:r>
                        <a:rPr lang="zh-CN" altLang="en-US" sz="800">
                          <a:solidFill>
                            <a:srgbClr val="000000"/>
                          </a:solidFill>
                          <a:latin typeface="+mj-ea"/>
                          <a:ea typeface="+mj-ea"/>
                        </a:rPr>
                        <a:t>历史数据调整”功能</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b="1">
                          <a:solidFill>
                            <a:srgbClr val="000000"/>
                          </a:solidFill>
                          <a:latin typeface="+mj-ea"/>
                          <a:ea typeface="+mj-ea"/>
                        </a:rPr>
                        <a:t>异常值检测与调整：</a:t>
                      </a:r>
                      <a:r>
                        <a:rPr lang="zh-CN" altLang="en-US" sz="800">
                          <a:solidFill>
                            <a:srgbClr val="000000"/>
                          </a:solidFill>
                          <a:latin typeface="+mj-ea"/>
                          <a:ea typeface="+mj-ea"/>
                        </a:rPr>
                        <a:t> 系统自动识别（如</a:t>
                      </a:r>
                      <a:r>
                        <a:rPr lang="en-US" altLang="zh-CN" sz="800">
                          <a:solidFill>
                            <a:srgbClr val="000000"/>
                          </a:solidFill>
                          <a:latin typeface="+mj-ea"/>
                          <a:ea typeface="+mj-ea"/>
                        </a:rPr>
                        <a:t>N</a:t>
                      </a:r>
                      <a:r>
                        <a:rPr lang="zh-CN" altLang="en-US" sz="800">
                          <a:solidFill>
                            <a:srgbClr val="000000"/>
                          </a:solidFill>
                          <a:latin typeface="+mj-ea"/>
                          <a:ea typeface="+mj-ea"/>
                        </a:rPr>
                        <a:t>个标准差外的点），规划员手动调整或标记为异常。</a:t>
                      </a:r>
                      <a:br>
                        <a:rPr lang="zh-CN" altLang="en-US" sz="800">
                          <a:solidFill>
                            <a:srgbClr val="000000"/>
                          </a:solidFill>
                          <a:latin typeface="+mj-ea"/>
                          <a:ea typeface="+mj-ea"/>
                        </a:rPr>
                      </a:br>
                      <a:r>
                        <a:rPr lang="zh-CN" altLang="en-US" sz="800" b="1">
                          <a:solidFill>
                            <a:srgbClr val="000000"/>
                          </a:solidFill>
                          <a:latin typeface="+mj-ea"/>
                          <a:ea typeface="+mj-ea"/>
                        </a:rPr>
                        <a:t>因果因子回填：</a:t>
                      </a:r>
                      <a:r>
                        <a:rPr lang="zh-CN" altLang="en-US" sz="800">
                          <a:solidFill>
                            <a:srgbClr val="000000"/>
                          </a:solidFill>
                          <a:latin typeface="+mj-ea"/>
                          <a:ea typeface="+mj-ea"/>
                        </a:rPr>
                        <a:t> 为历史数据打标签（如关联促销活动），为因果模型提供输入。</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a:solidFill>
                            <a:srgbClr val="000000"/>
                          </a:solidFill>
                          <a:latin typeface="+mj-ea"/>
                          <a:ea typeface="+mj-ea"/>
                        </a:rPr>
                        <a:t>干净、可用于建模的历史数据序列</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extLst>
                  <a:ext uri="{0D108BD9-81ED-4DB2-BD59-A6C34878D82A}">
                    <a16:rowId xmlns:a16="http://schemas.microsoft.com/office/drawing/2014/main" val="674246322"/>
                  </a:ext>
                </a:extLst>
              </a:tr>
              <a:tr h="1081532">
                <a:tc vMerge="1">
                  <a:txBody>
                    <a:bodyPr/>
                    <a:lstStyle/>
                    <a:p>
                      <a:endParaRPr lang="zh-CN" altLang="en-US" sz="800" dirty="0">
                        <a:solidFill>
                          <a:schemeClr val="bg1"/>
                        </a:solidFill>
                        <a:latin typeface="+mj-ea"/>
                        <a:ea typeface="+mj-ea"/>
                      </a:endParaRPr>
                    </a:p>
                  </a:txBody>
                  <a:tcPr marL="19856" marR="19856" marT="9928" marB="9928" anchor="ctr">
                    <a:lnL>
                      <a:noFill/>
                    </a:lnL>
                    <a:lnR>
                      <a:noFill/>
                    </a:lnR>
                    <a:lnT>
                      <a:noFill/>
                    </a:lnT>
                    <a:lnB>
                      <a:noFill/>
                    </a:lnB>
                    <a:noFill/>
                  </a:tcPr>
                </a:tc>
                <a:tc>
                  <a:txBody>
                    <a:bodyPr/>
                    <a:lstStyle/>
                    <a:p>
                      <a:r>
                        <a:rPr lang="zh-CN" altLang="en-US" sz="800" b="1">
                          <a:solidFill>
                            <a:srgbClr val="000000"/>
                          </a:solidFill>
                          <a:latin typeface="+mj-ea"/>
                          <a:ea typeface="+mj-ea"/>
                        </a:rPr>
                        <a:t>自动模型选择与拟合（</a:t>
                      </a:r>
                      <a:r>
                        <a:rPr lang="en-US" altLang="zh-CN" sz="800" b="1">
                          <a:solidFill>
                            <a:srgbClr val="000000"/>
                          </a:solidFill>
                          <a:latin typeface="+mj-ea"/>
                          <a:ea typeface="+mj-ea"/>
                        </a:rPr>
                        <a:t>Best Fit</a:t>
                      </a:r>
                      <a:r>
                        <a:rPr lang="zh-CN" altLang="en-US" sz="800" b="1">
                          <a:solidFill>
                            <a:srgbClr val="000000"/>
                          </a:solidFill>
                          <a:latin typeface="+mj-ea"/>
                          <a:ea typeface="+mj-ea"/>
                        </a:rPr>
                        <a:t>）</a:t>
                      </a:r>
                      <a:endParaRPr lang="zh-CN" altLang="en-US" sz="800">
                        <a:solidFill>
                          <a:srgbClr val="000000"/>
                        </a:solidFill>
                        <a:latin typeface="+mj-ea"/>
                        <a:ea typeface="+mj-ea"/>
                      </a:endParaRP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a:solidFill>
                            <a:srgbClr val="000000"/>
                          </a:solidFill>
                          <a:latin typeface="+mj-ea"/>
                          <a:ea typeface="+mj-ea"/>
                        </a:rPr>
                        <a:t>运行 “</a:t>
                      </a:r>
                      <a:r>
                        <a:rPr lang="en-US" sz="800">
                          <a:solidFill>
                            <a:srgbClr val="000000"/>
                          </a:solidFill>
                          <a:latin typeface="+mj-ea"/>
                          <a:ea typeface="+mj-ea"/>
                        </a:rPr>
                        <a:t>Best Fit” </a:t>
                      </a:r>
                      <a:r>
                        <a:rPr lang="zh-CN" altLang="en-US" sz="800">
                          <a:solidFill>
                            <a:srgbClr val="000000"/>
                          </a:solidFill>
                          <a:latin typeface="+mj-ea"/>
                          <a:ea typeface="+mj-ea"/>
                        </a:rPr>
                        <a:t>功能</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b="1" dirty="0">
                          <a:solidFill>
                            <a:srgbClr val="000000"/>
                          </a:solidFill>
                          <a:latin typeface="+mj-ea"/>
                          <a:ea typeface="+mj-ea"/>
                        </a:rPr>
                        <a:t>模型库遍历：</a:t>
                      </a:r>
                      <a:r>
                        <a:rPr lang="zh-CN" altLang="en-US" sz="800" dirty="0">
                          <a:solidFill>
                            <a:srgbClr val="000000"/>
                          </a:solidFill>
                          <a:latin typeface="+mj-ea"/>
                          <a:ea typeface="+mj-ea"/>
                        </a:rPr>
                        <a:t> 使用历史数据（如近</a:t>
                      </a:r>
                      <a:r>
                        <a:rPr lang="en-US" altLang="zh-CN" sz="800" dirty="0">
                          <a:solidFill>
                            <a:srgbClr val="000000"/>
                          </a:solidFill>
                          <a:latin typeface="+mj-ea"/>
                          <a:ea typeface="+mj-ea"/>
                        </a:rPr>
                        <a:t>24</a:t>
                      </a:r>
                      <a:r>
                        <a:rPr lang="zh-CN" altLang="en-US" sz="800" dirty="0">
                          <a:solidFill>
                            <a:srgbClr val="000000"/>
                          </a:solidFill>
                          <a:latin typeface="+mj-ea"/>
                          <a:ea typeface="+mj-ea"/>
                        </a:rPr>
                        <a:t>个月）对多种模型（指数平滑、</a:t>
                      </a:r>
                      <a:r>
                        <a:rPr lang="en-US" altLang="zh-CN" sz="800" dirty="0">
                          <a:solidFill>
                            <a:srgbClr val="000000"/>
                          </a:solidFill>
                          <a:latin typeface="+mj-ea"/>
                          <a:ea typeface="+mj-ea"/>
                        </a:rPr>
                        <a:t>ARIMA</a:t>
                      </a:r>
                      <a:r>
                        <a:rPr lang="zh-CN" altLang="en-US" sz="800" dirty="0">
                          <a:solidFill>
                            <a:srgbClr val="000000"/>
                          </a:solidFill>
                          <a:latin typeface="+mj-ea"/>
                          <a:ea typeface="+mj-ea"/>
                        </a:rPr>
                        <a:t>等）进行拟合。</a:t>
                      </a:r>
                      <a:br>
                        <a:rPr lang="zh-CN" altLang="en-US" sz="800" dirty="0">
                          <a:solidFill>
                            <a:srgbClr val="000000"/>
                          </a:solidFill>
                          <a:latin typeface="+mj-ea"/>
                          <a:ea typeface="+mj-ea"/>
                        </a:rPr>
                      </a:br>
                      <a:r>
                        <a:rPr lang="en-US" altLang="zh-CN" sz="800" b="1" dirty="0">
                          <a:solidFill>
                            <a:srgbClr val="000000"/>
                          </a:solidFill>
                          <a:latin typeface="+mj-ea"/>
                          <a:ea typeface="+mj-ea"/>
                        </a:rPr>
                        <a:t>ex-post</a:t>
                      </a:r>
                      <a:r>
                        <a:rPr lang="zh-CN" altLang="en-US" sz="800" b="1" dirty="0">
                          <a:solidFill>
                            <a:srgbClr val="000000"/>
                          </a:solidFill>
                          <a:latin typeface="+mj-ea"/>
                          <a:ea typeface="+mj-ea"/>
                        </a:rPr>
                        <a:t>模拟：</a:t>
                      </a:r>
                      <a:r>
                        <a:rPr lang="zh-CN" altLang="en-US" sz="800" dirty="0">
                          <a:solidFill>
                            <a:srgbClr val="000000"/>
                          </a:solidFill>
                          <a:latin typeface="+mj-ea"/>
                          <a:ea typeface="+mj-ea"/>
                        </a:rPr>
                        <a:t> 将近期数据（如近</a:t>
                      </a:r>
                      <a:r>
                        <a:rPr lang="en-US" altLang="zh-CN" sz="800" dirty="0">
                          <a:solidFill>
                            <a:srgbClr val="000000"/>
                          </a:solidFill>
                          <a:latin typeface="+mj-ea"/>
                          <a:ea typeface="+mj-ea"/>
                        </a:rPr>
                        <a:t>6</a:t>
                      </a:r>
                      <a:r>
                        <a:rPr lang="zh-CN" altLang="en-US" sz="800" dirty="0">
                          <a:solidFill>
                            <a:srgbClr val="000000"/>
                          </a:solidFill>
                          <a:latin typeface="+mj-ea"/>
                          <a:ea typeface="+mj-ea"/>
                        </a:rPr>
                        <a:t>个月）“藏起”进行预测，并与真实值对比。</a:t>
                      </a:r>
                      <a:br>
                        <a:rPr lang="zh-CN" altLang="en-US" sz="800" dirty="0">
                          <a:solidFill>
                            <a:srgbClr val="000000"/>
                          </a:solidFill>
                          <a:latin typeface="+mj-ea"/>
                          <a:ea typeface="+mj-ea"/>
                        </a:rPr>
                      </a:br>
                      <a:r>
                        <a:rPr lang="zh-CN" altLang="en-US" sz="800" b="1" dirty="0">
                          <a:solidFill>
                            <a:srgbClr val="000000"/>
                          </a:solidFill>
                          <a:latin typeface="+mj-ea"/>
                          <a:ea typeface="+mj-ea"/>
                        </a:rPr>
                        <a:t>精度评估：</a:t>
                      </a:r>
                      <a:r>
                        <a:rPr lang="zh-CN" altLang="en-US" sz="800" dirty="0">
                          <a:solidFill>
                            <a:srgbClr val="000000"/>
                          </a:solidFill>
                          <a:latin typeface="+mj-ea"/>
                          <a:ea typeface="+mj-ea"/>
                        </a:rPr>
                        <a:t> 计算每个模型的</a:t>
                      </a:r>
                      <a:r>
                        <a:rPr lang="en-US" altLang="zh-CN" sz="800" dirty="0">
                          <a:solidFill>
                            <a:srgbClr val="000000"/>
                          </a:solidFill>
                          <a:latin typeface="+mj-ea"/>
                          <a:ea typeface="+mj-ea"/>
                        </a:rPr>
                        <a:t>MAPE</a:t>
                      </a:r>
                      <a:r>
                        <a:rPr lang="zh-CN" altLang="en-US" sz="800" dirty="0">
                          <a:solidFill>
                            <a:srgbClr val="000000"/>
                          </a:solidFill>
                          <a:latin typeface="+mj-ea"/>
                          <a:ea typeface="+mj-ea"/>
                        </a:rPr>
                        <a:t>、</a:t>
                      </a:r>
                      <a:r>
                        <a:rPr lang="en-US" altLang="zh-CN" sz="800" dirty="0">
                          <a:solidFill>
                            <a:srgbClr val="000000"/>
                          </a:solidFill>
                          <a:latin typeface="+mj-ea"/>
                          <a:ea typeface="+mj-ea"/>
                        </a:rPr>
                        <a:t>Bias</a:t>
                      </a:r>
                      <a:r>
                        <a:rPr lang="zh-CN" altLang="en-US" sz="800" dirty="0">
                          <a:solidFill>
                            <a:srgbClr val="000000"/>
                          </a:solidFill>
                          <a:latin typeface="+mj-ea"/>
                          <a:ea typeface="+mj-ea"/>
                        </a:rPr>
                        <a:t>等指标，自动选择最佳模型。</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dirty="0">
                          <a:solidFill>
                            <a:srgbClr val="000000"/>
                          </a:solidFill>
                          <a:latin typeface="+mj-ea"/>
                          <a:ea typeface="+mj-ea"/>
                        </a:rPr>
                        <a:t>系统自动选择的最佳预测模型</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extLst>
                  <a:ext uri="{0D108BD9-81ED-4DB2-BD59-A6C34878D82A}">
                    <a16:rowId xmlns:a16="http://schemas.microsoft.com/office/drawing/2014/main" val="2107823204"/>
                  </a:ext>
                </a:extLst>
              </a:tr>
              <a:tr h="657535">
                <a:tc vMerge="1">
                  <a:txBody>
                    <a:bodyPr/>
                    <a:lstStyle/>
                    <a:p>
                      <a:endParaRPr lang="zh-CN" altLang="en-US" sz="800" dirty="0">
                        <a:solidFill>
                          <a:schemeClr val="bg1"/>
                        </a:solidFill>
                        <a:latin typeface="+mj-ea"/>
                        <a:ea typeface="+mj-ea"/>
                      </a:endParaRPr>
                    </a:p>
                  </a:txBody>
                  <a:tcPr marL="19856" marR="19856" marT="9928" marB="9928" anchor="ctr">
                    <a:lnL>
                      <a:noFill/>
                    </a:lnL>
                    <a:lnR>
                      <a:noFill/>
                    </a:lnR>
                    <a:lnT>
                      <a:noFill/>
                    </a:lnT>
                    <a:lnB>
                      <a:noFill/>
                    </a:lnB>
                    <a:noFill/>
                  </a:tcPr>
                </a:tc>
                <a:tc>
                  <a:txBody>
                    <a:bodyPr/>
                    <a:lstStyle/>
                    <a:p>
                      <a:r>
                        <a:rPr lang="zh-CN" altLang="en-US" sz="800" b="1">
                          <a:solidFill>
                            <a:srgbClr val="000000"/>
                          </a:solidFill>
                          <a:latin typeface="+mj-ea"/>
                          <a:ea typeface="+mj-ea"/>
                        </a:rPr>
                        <a:t>统计预测评审与人工调整</a:t>
                      </a:r>
                      <a:endParaRPr lang="zh-CN" altLang="en-US" sz="800">
                        <a:solidFill>
                          <a:srgbClr val="000000"/>
                        </a:solidFill>
                        <a:latin typeface="+mj-ea"/>
                        <a:ea typeface="+mj-ea"/>
                      </a:endParaRP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en-US" sz="800">
                          <a:solidFill>
                            <a:srgbClr val="000000"/>
                          </a:solidFill>
                          <a:latin typeface="+mj-ea"/>
                          <a:ea typeface="+mj-ea"/>
                        </a:rPr>
                        <a:t>“Statistical Forecast” </a:t>
                      </a:r>
                      <a:r>
                        <a:rPr lang="zh-CN" altLang="en-US" sz="800">
                          <a:solidFill>
                            <a:srgbClr val="000000"/>
                          </a:solidFill>
                          <a:latin typeface="+mj-ea"/>
                          <a:ea typeface="+mj-ea"/>
                        </a:rPr>
                        <a:t>视图</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b="1">
                          <a:solidFill>
                            <a:srgbClr val="000000"/>
                          </a:solidFill>
                          <a:latin typeface="+mj-ea"/>
                          <a:ea typeface="+mj-ea"/>
                        </a:rPr>
                        <a:t>模型覆盖：</a:t>
                      </a:r>
                      <a:r>
                        <a:rPr lang="zh-CN" altLang="en-US" sz="800">
                          <a:solidFill>
                            <a:srgbClr val="000000"/>
                          </a:solidFill>
                          <a:latin typeface="+mj-ea"/>
                          <a:ea typeface="+mj-ea"/>
                        </a:rPr>
                        <a:t> 人工覆盖自动选择的模型。</a:t>
                      </a:r>
                      <a:br>
                        <a:rPr lang="zh-CN" altLang="en-US" sz="800">
                          <a:solidFill>
                            <a:srgbClr val="000000"/>
                          </a:solidFill>
                          <a:latin typeface="+mj-ea"/>
                          <a:ea typeface="+mj-ea"/>
                        </a:rPr>
                      </a:br>
                      <a:r>
                        <a:rPr lang="zh-CN" altLang="en-US" sz="800" b="1">
                          <a:solidFill>
                            <a:srgbClr val="000000"/>
                          </a:solidFill>
                          <a:latin typeface="+mj-ea"/>
                          <a:ea typeface="+mj-ea"/>
                        </a:rPr>
                        <a:t>参数微调：</a:t>
                      </a:r>
                      <a:r>
                        <a:rPr lang="zh-CN" altLang="en-US" sz="800">
                          <a:solidFill>
                            <a:srgbClr val="000000"/>
                          </a:solidFill>
                          <a:latin typeface="+mj-ea"/>
                          <a:ea typeface="+mj-ea"/>
                        </a:rPr>
                        <a:t> 手动调整模型参数（如平滑系数</a:t>
                      </a:r>
                      <a:r>
                        <a:rPr lang="en-US" altLang="zh-CN" sz="800">
                          <a:solidFill>
                            <a:srgbClr val="000000"/>
                          </a:solidFill>
                          <a:latin typeface="+mj-ea"/>
                          <a:ea typeface="+mj-ea"/>
                        </a:rPr>
                        <a:t>α</a:t>
                      </a:r>
                      <a:r>
                        <a:rPr lang="zh-CN" altLang="en-US" sz="800">
                          <a:solidFill>
                            <a:srgbClr val="000000"/>
                          </a:solidFill>
                          <a:latin typeface="+mj-ea"/>
                          <a:ea typeface="+mj-ea"/>
                        </a:rPr>
                        <a:t>）。</a:t>
                      </a:r>
                      <a:br>
                        <a:rPr lang="zh-CN" altLang="en-US" sz="800">
                          <a:solidFill>
                            <a:srgbClr val="000000"/>
                          </a:solidFill>
                          <a:latin typeface="+mj-ea"/>
                          <a:ea typeface="+mj-ea"/>
                        </a:rPr>
                      </a:br>
                      <a:r>
                        <a:rPr lang="zh-CN" altLang="en-US" sz="800" b="1">
                          <a:solidFill>
                            <a:srgbClr val="000000"/>
                          </a:solidFill>
                          <a:latin typeface="+mj-ea"/>
                          <a:ea typeface="+mj-ea"/>
                        </a:rPr>
                        <a:t>批量应用：</a:t>
                      </a:r>
                      <a:r>
                        <a:rPr lang="zh-CN" altLang="en-US" sz="800">
                          <a:solidFill>
                            <a:srgbClr val="000000"/>
                          </a:solidFill>
                          <a:latin typeface="+mj-ea"/>
                          <a:ea typeface="+mj-ea"/>
                        </a:rPr>
                        <a:t> 将验证后的模型设置批量应用到相似产品。</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a:solidFill>
                            <a:srgbClr val="000000"/>
                          </a:solidFill>
                          <a:latin typeface="+mj-ea"/>
                          <a:ea typeface="+mj-ea"/>
                        </a:rPr>
                        <a:t>经过审核和优化的统计预测（基线预测）</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extLst>
                  <a:ext uri="{0D108BD9-81ED-4DB2-BD59-A6C34878D82A}">
                    <a16:rowId xmlns:a16="http://schemas.microsoft.com/office/drawing/2014/main" val="2955361375"/>
                  </a:ext>
                </a:extLst>
              </a:tr>
              <a:tr h="655851">
                <a:tc rowSpan="2">
                  <a:txBody>
                    <a:bodyPr/>
                    <a:lstStyle/>
                    <a:p>
                      <a:r>
                        <a:rPr lang="zh-CN" altLang="en-US" sz="800" b="1" dirty="0">
                          <a:solidFill>
                            <a:srgbClr val="000000"/>
                          </a:solidFill>
                          <a:latin typeface="+mj-ea"/>
                          <a:ea typeface="+mj-ea"/>
                        </a:rPr>
                        <a:t>第二阶段：综合预测与事件调整</a:t>
                      </a:r>
                    </a:p>
                  </a:txBody>
                  <a:tcPr marL="19856" marR="19856" marT="9928" marB="9928" anchor="ctr">
                    <a:lnL>
                      <a:noFill/>
                    </a:lnL>
                    <a:lnR>
                      <a:noFill/>
                    </a:lnR>
                    <a:lnT>
                      <a:solidFill>
                        <a:srgbClr val="430A5D"/>
                      </a:solidFill>
                      <a:prstDash val="solid"/>
                    </a:lnT>
                    <a:lnB>
                      <a:solidFill>
                        <a:srgbClr val="430A5D"/>
                      </a:solidFill>
                      <a:prstDash val="solid"/>
                    </a:lnB>
                    <a:solidFill>
                      <a:srgbClr val="F1EAFF"/>
                    </a:solidFill>
                  </a:tcPr>
                </a:tc>
                <a:tc>
                  <a:txBody>
                    <a:bodyPr/>
                    <a:lstStyle/>
                    <a:p>
                      <a:r>
                        <a:rPr lang="zh-CN" altLang="en-US" sz="800" b="1">
                          <a:solidFill>
                            <a:srgbClr val="000000"/>
                          </a:solidFill>
                          <a:latin typeface="+mj-ea"/>
                          <a:ea typeface="+mj-ea"/>
                        </a:rPr>
                        <a:t>预测分解与聚合</a:t>
                      </a:r>
                      <a:endParaRPr lang="zh-CN" altLang="en-US" sz="800">
                        <a:solidFill>
                          <a:srgbClr val="000000"/>
                        </a:solidFill>
                        <a:latin typeface="+mj-ea"/>
                        <a:ea typeface="+mj-ea"/>
                      </a:endParaRP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a:solidFill>
                            <a:srgbClr val="000000"/>
                          </a:solidFill>
                          <a:latin typeface="+mj-ea"/>
                          <a:ea typeface="+mj-ea"/>
                        </a:rPr>
                        <a:t>配置 </a:t>
                      </a:r>
                      <a:r>
                        <a:rPr lang="en-US" sz="800">
                          <a:solidFill>
                            <a:srgbClr val="000000"/>
                          </a:solidFill>
                          <a:latin typeface="+mj-ea"/>
                          <a:ea typeface="+mj-ea"/>
                        </a:rPr>
                        <a:t>Disaggregation Profiles</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b="1">
                          <a:solidFill>
                            <a:srgbClr val="000000"/>
                          </a:solidFill>
                          <a:latin typeface="+mj-ea"/>
                          <a:ea typeface="+mj-ea"/>
                        </a:rPr>
                        <a:t>分解：</a:t>
                      </a:r>
                      <a:r>
                        <a:rPr lang="zh-CN" altLang="en-US" sz="800">
                          <a:solidFill>
                            <a:srgbClr val="000000"/>
                          </a:solidFill>
                          <a:latin typeface="+mj-ea"/>
                          <a:ea typeface="+mj-ea"/>
                        </a:rPr>
                        <a:t> 将高层级预测（产品族）按规则（历史比例、未来权重）分解到低层级（</a:t>
                      </a:r>
                      <a:r>
                        <a:rPr lang="en-US" altLang="zh-CN" sz="800">
                          <a:solidFill>
                            <a:srgbClr val="000000"/>
                          </a:solidFill>
                          <a:latin typeface="+mj-ea"/>
                          <a:ea typeface="+mj-ea"/>
                        </a:rPr>
                        <a:t>SKU</a:t>
                      </a:r>
                      <a:r>
                        <a:rPr lang="zh-CN" altLang="en-US" sz="800">
                          <a:solidFill>
                            <a:srgbClr val="000000"/>
                          </a:solidFill>
                          <a:latin typeface="+mj-ea"/>
                          <a:ea typeface="+mj-ea"/>
                        </a:rPr>
                        <a:t>）。</a:t>
                      </a:r>
                      <a:br>
                        <a:rPr lang="zh-CN" altLang="en-US" sz="800">
                          <a:solidFill>
                            <a:srgbClr val="000000"/>
                          </a:solidFill>
                          <a:latin typeface="+mj-ea"/>
                          <a:ea typeface="+mj-ea"/>
                        </a:rPr>
                      </a:br>
                      <a:r>
                        <a:rPr lang="zh-CN" altLang="en-US" sz="800" b="1">
                          <a:solidFill>
                            <a:srgbClr val="000000"/>
                          </a:solidFill>
                          <a:latin typeface="+mj-ea"/>
                          <a:ea typeface="+mj-ea"/>
                        </a:rPr>
                        <a:t>聚合：</a:t>
                      </a:r>
                      <a:r>
                        <a:rPr lang="zh-CN" altLang="en-US" sz="800">
                          <a:solidFill>
                            <a:srgbClr val="000000"/>
                          </a:solidFill>
                          <a:latin typeface="+mj-ea"/>
                          <a:ea typeface="+mj-ea"/>
                        </a:rPr>
                        <a:t> 将不同来源（各销售区域）的详细预测汇总成总预测。</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a:solidFill>
                            <a:srgbClr val="000000"/>
                          </a:solidFill>
                          <a:latin typeface="+mj-ea"/>
                          <a:ea typeface="+mj-ea"/>
                        </a:rPr>
                        <a:t>初步的综合预测（整合上下级输入）</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extLst>
                  <a:ext uri="{0D108BD9-81ED-4DB2-BD59-A6C34878D82A}">
                    <a16:rowId xmlns:a16="http://schemas.microsoft.com/office/drawing/2014/main" val="1209413091"/>
                  </a:ext>
                </a:extLst>
              </a:tr>
              <a:tr h="657535">
                <a:tc vMerge="1">
                  <a:txBody>
                    <a:bodyPr/>
                    <a:lstStyle/>
                    <a:p>
                      <a:endParaRPr lang="zh-CN" altLang="en-US" sz="800" dirty="0">
                        <a:solidFill>
                          <a:schemeClr val="bg1"/>
                        </a:solidFill>
                        <a:latin typeface="+mj-ea"/>
                        <a:ea typeface="+mj-ea"/>
                      </a:endParaRPr>
                    </a:p>
                  </a:txBody>
                  <a:tcPr marL="19856" marR="19856" marT="9928" marB="9928" anchor="ctr">
                    <a:lnL>
                      <a:noFill/>
                    </a:lnL>
                    <a:lnR>
                      <a:noFill/>
                    </a:lnR>
                    <a:lnT>
                      <a:noFill/>
                    </a:lnT>
                    <a:lnB>
                      <a:noFill/>
                    </a:lnB>
                    <a:noFill/>
                  </a:tcPr>
                </a:tc>
                <a:tc>
                  <a:txBody>
                    <a:bodyPr/>
                    <a:lstStyle/>
                    <a:p>
                      <a:r>
                        <a:rPr lang="zh-CN" altLang="en-US" sz="800" b="1">
                          <a:solidFill>
                            <a:srgbClr val="000000"/>
                          </a:solidFill>
                          <a:latin typeface="+mj-ea"/>
                          <a:ea typeface="+mj-ea"/>
                        </a:rPr>
                        <a:t>事件管理（需求塑造）</a:t>
                      </a:r>
                      <a:endParaRPr lang="zh-CN" altLang="en-US" sz="800">
                        <a:solidFill>
                          <a:srgbClr val="000000"/>
                        </a:solidFill>
                        <a:latin typeface="+mj-ea"/>
                        <a:ea typeface="+mj-ea"/>
                      </a:endParaRP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en-US" sz="800">
                          <a:solidFill>
                            <a:srgbClr val="000000"/>
                          </a:solidFill>
                          <a:latin typeface="+mj-ea"/>
                          <a:ea typeface="+mj-ea"/>
                        </a:rPr>
                        <a:t>Event Management </a:t>
                      </a:r>
                      <a:r>
                        <a:rPr lang="zh-CN" altLang="en-US" sz="800">
                          <a:solidFill>
                            <a:srgbClr val="000000"/>
                          </a:solidFill>
                          <a:latin typeface="+mj-ea"/>
                          <a:ea typeface="+mj-ea"/>
                        </a:rPr>
                        <a:t>模块</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b="1">
                          <a:solidFill>
                            <a:srgbClr val="000000"/>
                          </a:solidFill>
                          <a:latin typeface="+mj-ea"/>
                          <a:ea typeface="+mj-ea"/>
                        </a:rPr>
                        <a:t>定义事件：</a:t>
                      </a:r>
                      <a:r>
                        <a:rPr lang="zh-CN" altLang="en-US" sz="800">
                          <a:solidFill>
                            <a:srgbClr val="000000"/>
                          </a:solidFill>
                          <a:latin typeface="+mj-ea"/>
                          <a:ea typeface="+mj-ea"/>
                        </a:rPr>
                        <a:t> 创建事件（如促销），明确影响范围和时间。</a:t>
                      </a:r>
                      <a:br>
                        <a:rPr lang="zh-CN" altLang="en-US" sz="800">
                          <a:solidFill>
                            <a:srgbClr val="000000"/>
                          </a:solidFill>
                          <a:latin typeface="+mj-ea"/>
                          <a:ea typeface="+mj-ea"/>
                        </a:rPr>
                      </a:br>
                      <a:r>
                        <a:rPr lang="zh-CN" altLang="en-US" sz="800" b="1">
                          <a:solidFill>
                            <a:srgbClr val="000000"/>
                          </a:solidFill>
                          <a:latin typeface="+mj-ea"/>
                          <a:ea typeface="+mj-ea"/>
                        </a:rPr>
                        <a:t>量化影响：</a:t>
                      </a:r>
                      <a:r>
                        <a:rPr lang="zh-CN" altLang="en-US" sz="800">
                          <a:solidFill>
                            <a:srgbClr val="000000"/>
                          </a:solidFill>
                          <a:latin typeface="+mj-ea"/>
                          <a:ea typeface="+mj-ea"/>
                        </a:rPr>
                        <a:t> 通过</a:t>
                      </a:r>
                      <a:r>
                        <a:rPr lang="zh-CN" altLang="en-US" sz="800" b="1">
                          <a:solidFill>
                            <a:srgbClr val="000000"/>
                          </a:solidFill>
                          <a:latin typeface="+mj-ea"/>
                          <a:ea typeface="+mj-ea"/>
                        </a:rPr>
                        <a:t>历史相似性</a:t>
                      </a:r>
                      <a:r>
                        <a:rPr lang="zh-CN" altLang="en-US" sz="800">
                          <a:solidFill>
                            <a:srgbClr val="000000"/>
                          </a:solidFill>
                          <a:latin typeface="+mj-ea"/>
                          <a:ea typeface="+mj-ea"/>
                        </a:rPr>
                        <a:t>自动计算或</a:t>
                      </a:r>
                      <a:r>
                        <a:rPr lang="zh-CN" altLang="en-US" sz="800" b="1">
                          <a:solidFill>
                            <a:srgbClr val="000000"/>
                          </a:solidFill>
                          <a:latin typeface="+mj-ea"/>
                          <a:ea typeface="+mj-ea"/>
                        </a:rPr>
                        <a:t>手动输入</a:t>
                      </a:r>
                      <a:r>
                        <a:rPr lang="zh-CN" altLang="en-US" sz="800">
                          <a:solidFill>
                            <a:srgbClr val="000000"/>
                          </a:solidFill>
                          <a:latin typeface="+mj-ea"/>
                          <a:ea typeface="+mj-ea"/>
                        </a:rPr>
                        <a:t>预期增量。</a:t>
                      </a:r>
                      <a:br>
                        <a:rPr lang="zh-CN" altLang="en-US" sz="800">
                          <a:solidFill>
                            <a:srgbClr val="000000"/>
                          </a:solidFill>
                          <a:latin typeface="+mj-ea"/>
                          <a:ea typeface="+mj-ea"/>
                        </a:rPr>
                      </a:br>
                      <a:r>
                        <a:rPr lang="zh-CN" altLang="en-US" sz="800" b="1">
                          <a:solidFill>
                            <a:srgbClr val="000000"/>
                          </a:solidFill>
                          <a:latin typeface="+mj-ea"/>
                          <a:ea typeface="+mj-ea"/>
                        </a:rPr>
                        <a:t>生成调整量：</a:t>
                      </a:r>
                      <a:r>
                        <a:rPr lang="zh-CN" altLang="en-US" sz="800">
                          <a:solidFill>
                            <a:srgbClr val="000000"/>
                          </a:solidFill>
                          <a:latin typeface="+mj-ea"/>
                          <a:ea typeface="+mj-ea"/>
                        </a:rPr>
                        <a:t> 事件生成独立的“增量预测”。</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a:solidFill>
                            <a:srgbClr val="000000"/>
                          </a:solidFill>
                          <a:latin typeface="+mj-ea"/>
                          <a:ea typeface="+mj-ea"/>
                        </a:rPr>
                        <a:t>事件驱动的、量化的预测调整项 </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extLst>
                  <a:ext uri="{0D108BD9-81ED-4DB2-BD59-A6C34878D82A}">
                    <a16:rowId xmlns:a16="http://schemas.microsoft.com/office/drawing/2014/main" val="3361676373"/>
                  </a:ext>
                </a:extLst>
              </a:tr>
              <a:tr h="784894">
                <a:tc rowSpan="3">
                  <a:txBody>
                    <a:bodyPr/>
                    <a:lstStyle/>
                    <a:p>
                      <a:r>
                        <a:rPr lang="zh-CN" altLang="en-US" sz="800" b="1" dirty="0">
                          <a:solidFill>
                            <a:srgbClr val="000000"/>
                          </a:solidFill>
                          <a:latin typeface="+mj-ea"/>
                          <a:ea typeface="+mj-ea"/>
                        </a:rPr>
                        <a:t>第三阶段：共识预测生成</a:t>
                      </a:r>
                    </a:p>
                  </a:txBody>
                  <a:tcPr marL="19856" marR="19856" marT="9928" marB="9928" anchor="ctr">
                    <a:lnL>
                      <a:noFill/>
                    </a:lnL>
                    <a:lnR>
                      <a:noFill/>
                    </a:lnR>
                    <a:lnT>
                      <a:solidFill>
                        <a:srgbClr val="430A5D"/>
                      </a:solidFill>
                      <a:prstDash val="solid"/>
                    </a:lnT>
                    <a:lnB>
                      <a:solidFill>
                        <a:srgbClr val="430A5D"/>
                      </a:solidFill>
                      <a:prstDash val="solid"/>
                    </a:lnB>
                    <a:solidFill>
                      <a:srgbClr val="F1EAFF"/>
                    </a:solidFill>
                  </a:tcPr>
                </a:tc>
                <a:tc>
                  <a:txBody>
                    <a:bodyPr/>
                    <a:lstStyle/>
                    <a:p>
                      <a:r>
                        <a:rPr lang="zh-CN" altLang="en-US" sz="800" b="1">
                          <a:solidFill>
                            <a:srgbClr val="000000"/>
                          </a:solidFill>
                          <a:latin typeface="+mj-ea"/>
                          <a:ea typeface="+mj-ea"/>
                        </a:rPr>
                        <a:t>需求协同工作台</a:t>
                      </a:r>
                      <a:endParaRPr lang="zh-CN" altLang="en-US" sz="800">
                        <a:solidFill>
                          <a:srgbClr val="000000"/>
                        </a:solidFill>
                        <a:latin typeface="+mj-ea"/>
                        <a:ea typeface="+mj-ea"/>
                      </a:endParaRP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en-US" sz="800">
                          <a:solidFill>
                            <a:srgbClr val="000000"/>
                          </a:solidFill>
                          <a:latin typeface="+mj-ea"/>
                          <a:ea typeface="+mj-ea"/>
                        </a:rPr>
                        <a:t>Collaborative Demand Planning </a:t>
                      </a:r>
                      <a:r>
                        <a:rPr lang="zh-CN" altLang="en-US" sz="800">
                          <a:solidFill>
                            <a:srgbClr val="000000"/>
                          </a:solidFill>
                          <a:latin typeface="+mj-ea"/>
                          <a:ea typeface="+mj-ea"/>
                        </a:rPr>
                        <a:t>工作台</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b="1">
                          <a:solidFill>
                            <a:srgbClr val="000000"/>
                          </a:solidFill>
                          <a:latin typeface="+mj-ea"/>
                          <a:ea typeface="+mj-ea"/>
                        </a:rPr>
                        <a:t>对比分析：</a:t>
                      </a:r>
                      <a:r>
                        <a:rPr lang="zh-CN" altLang="en-US" sz="800">
                          <a:solidFill>
                            <a:srgbClr val="000000"/>
                          </a:solidFill>
                          <a:latin typeface="+mj-ea"/>
                          <a:ea typeface="+mj-ea"/>
                        </a:rPr>
                        <a:t> 并排显示统计预测、综合预测、事件预测，突出差异。</a:t>
                      </a:r>
                      <a:br>
                        <a:rPr lang="zh-CN" altLang="en-US" sz="800">
                          <a:solidFill>
                            <a:srgbClr val="000000"/>
                          </a:solidFill>
                          <a:latin typeface="+mj-ea"/>
                          <a:ea typeface="+mj-ea"/>
                        </a:rPr>
                      </a:br>
                      <a:r>
                        <a:rPr lang="zh-CN" altLang="en-US" sz="800" b="1">
                          <a:solidFill>
                            <a:srgbClr val="000000"/>
                          </a:solidFill>
                          <a:latin typeface="+mj-ea"/>
                          <a:ea typeface="+mj-ea"/>
                        </a:rPr>
                        <a:t>偏差根本原因分析：</a:t>
                      </a:r>
                      <a:r>
                        <a:rPr lang="zh-CN" altLang="en-US" sz="800">
                          <a:solidFill>
                            <a:srgbClr val="000000"/>
                          </a:solidFill>
                          <a:latin typeface="+mj-ea"/>
                          <a:ea typeface="+mj-ea"/>
                        </a:rPr>
                        <a:t> 团队成员在系统内添加评论解释差异。</a:t>
                      </a:r>
                      <a:br>
                        <a:rPr lang="zh-CN" altLang="en-US" sz="800">
                          <a:solidFill>
                            <a:srgbClr val="000000"/>
                          </a:solidFill>
                          <a:latin typeface="+mj-ea"/>
                          <a:ea typeface="+mj-ea"/>
                        </a:rPr>
                      </a:br>
                      <a:r>
                        <a:rPr lang="zh-CN" altLang="en-US" sz="800" b="1">
                          <a:solidFill>
                            <a:srgbClr val="000000"/>
                          </a:solidFill>
                          <a:latin typeface="+mj-ea"/>
                          <a:ea typeface="+mj-ea"/>
                        </a:rPr>
                        <a:t>多轮评审：</a:t>
                      </a:r>
                      <a:r>
                        <a:rPr lang="zh-CN" altLang="en-US" sz="800">
                          <a:solidFill>
                            <a:srgbClr val="000000"/>
                          </a:solidFill>
                          <a:latin typeface="+mj-ea"/>
                          <a:ea typeface="+mj-ea"/>
                        </a:rPr>
                        <a:t> 通过工作流驱动评审流程，记录所有讨论。</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a:solidFill>
                            <a:srgbClr val="000000"/>
                          </a:solidFill>
                          <a:latin typeface="+mj-ea"/>
                          <a:ea typeface="+mj-ea"/>
                        </a:rPr>
                        <a:t>经过充分协同和评阅的预测数据</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extLst>
                  <a:ext uri="{0D108BD9-81ED-4DB2-BD59-A6C34878D82A}">
                    <a16:rowId xmlns:a16="http://schemas.microsoft.com/office/drawing/2014/main" val="767004783"/>
                  </a:ext>
                </a:extLst>
              </a:tr>
              <a:tr h="549431">
                <a:tc vMerge="1">
                  <a:txBody>
                    <a:bodyPr/>
                    <a:lstStyle/>
                    <a:p>
                      <a:endParaRPr lang="zh-CN" altLang="en-US" sz="800">
                        <a:solidFill>
                          <a:schemeClr val="bg1"/>
                        </a:solidFill>
                        <a:latin typeface="+mj-ea"/>
                        <a:ea typeface="+mj-ea"/>
                      </a:endParaRPr>
                    </a:p>
                  </a:txBody>
                  <a:tcPr marL="19856" marR="19856" marT="9928" marB="9928" anchor="ctr">
                    <a:lnL>
                      <a:noFill/>
                    </a:lnL>
                    <a:lnR>
                      <a:noFill/>
                    </a:lnR>
                    <a:lnT>
                      <a:noFill/>
                    </a:lnT>
                    <a:lnB>
                      <a:noFill/>
                    </a:lnB>
                    <a:noFill/>
                  </a:tcPr>
                </a:tc>
                <a:tc>
                  <a:txBody>
                    <a:bodyPr/>
                    <a:lstStyle/>
                    <a:p>
                      <a:r>
                        <a:rPr lang="zh-CN" altLang="en-US" sz="800" b="1">
                          <a:solidFill>
                            <a:srgbClr val="000000"/>
                          </a:solidFill>
                          <a:latin typeface="+mj-ea"/>
                          <a:ea typeface="+mj-ea"/>
                        </a:rPr>
                        <a:t>应用权重与生成共识</a:t>
                      </a:r>
                      <a:endParaRPr lang="zh-CN" altLang="en-US" sz="800">
                        <a:solidFill>
                          <a:srgbClr val="000000"/>
                        </a:solidFill>
                        <a:latin typeface="+mj-ea"/>
                        <a:ea typeface="+mj-ea"/>
                      </a:endParaRP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a:solidFill>
                            <a:srgbClr val="000000"/>
                          </a:solidFill>
                          <a:latin typeface="+mj-ea"/>
                          <a:ea typeface="+mj-ea"/>
                        </a:rPr>
                        <a:t>配置 </a:t>
                      </a:r>
                      <a:r>
                        <a:rPr lang="en-US" sz="800">
                          <a:solidFill>
                            <a:srgbClr val="000000"/>
                          </a:solidFill>
                          <a:latin typeface="+mj-ea"/>
                          <a:ea typeface="+mj-ea"/>
                        </a:rPr>
                        <a:t>Consensus Forecast Weighting</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b="1">
                          <a:solidFill>
                            <a:srgbClr val="000000"/>
                          </a:solidFill>
                          <a:latin typeface="+mj-ea"/>
                          <a:ea typeface="+mj-ea"/>
                        </a:rPr>
                        <a:t>静态权重：</a:t>
                      </a:r>
                      <a:r>
                        <a:rPr lang="zh-CN" altLang="en-US" sz="800">
                          <a:solidFill>
                            <a:srgbClr val="000000"/>
                          </a:solidFill>
                          <a:latin typeface="+mj-ea"/>
                          <a:ea typeface="+mj-ea"/>
                        </a:rPr>
                        <a:t> 设置固定权重（如统计</a:t>
                      </a:r>
                      <a:r>
                        <a:rPr lang="en-US" altLang="zh-CN" sz="800">
                          <a:solidFill>
                            <a:srgbClr val="000000"/>
                          </a:solidFill>
                          <a:latin typeface="+mj-ea"/>
                          <a:ea typeface="+mj-ea"/>
                        </a:rPr>
                        <a:t>60%</a:t>
                      </a:r>
                      <a:r>
                        <a:rPr lang="zh-CN" altLang="en-US" sz="800">
                          <a:solidFill>
                            <a:srgbClr val="000000"/>
                          </a:solidFill>
                          <a:latin typeface="+mj-ea"/>
                          <a:ea typeface="+mj-ea"/>
                        </a:rPr>
                        <a:t>，销售</a:t>
                      </a:r>
                      <a:r>
                        <a:rPr lang="en-US" altLang="zh-CN" sz="800">
                          <a:solidFill>
                            <a:srgbClr val="000000"/>
                          </a:solidFill>
                          <a:latin typeface="+mj-ea"/>
                          <a:ea typeface="+mj-ea"/>
                        </a:rPr>
                        <a:t>40%</a:t>
                      </a:r>
                      <a:r>
                        <a:rPr lang="zh-CN" altLang="en-US" sz="800">
                          <a:solidFill>
                            <a:srgbClr val="000000"/>
                          </a:solidFill>
                          <a:latin typeface="+mj-ea"/>
                          <a:ea typeface="+mj-ea"/>
                        </a:rPr>
                        <a:t>）。</a:t>
                      </a:r>
                      <a:br>
                        <a:rPr lang="zh-CN" altLang="en-US" sz="800">
                          <a:solidFill>
                            <a:srgbClr val="000000"/>
                          </a:solidFill>
                          <a:latin typeface="+mj-ea"/>
                          <a:ea typeface="+mj-ea"/>
                        </a:rPr>
                      </a:br>
                      <a:r>
                        <a:rPr lang="zh-CN" altLang="en-US" sz="800" b="1">
                          <a:solidFill>
                            <a:srgbClr val="000000"/>
                          </a:solidFill>
                          <a:latin typeface="+mj-ea"/>
                          <a:ea typeface="+mj-ea"/>
                        </a:rPr>
                        <a:t>动态</a:t>
                      </a:r>
                      <a:r>
                        <a:rPr lang="en-US" altLang="zh-CN" sz="800" b="1">
                          <a:solidFill>
                            <a:srgbClr val="000000"/>
                          </a:solidFill>
                          <a:latin typeface="+mj-ea"/>
                          <a:ea typeface="+mj-ea"/>
                        </a:rPr>
                        <a:t>/</a:t>
                      </a:r>
                      <a:r>
                        <a:rPr lang="zh-CN" altLang="en-US" sz="800" b="1">
                          <a:solidFill>
                            <a:srgbClr val="000000"/>
                          </a:solidFill>
                          <a:latin typeface="+mj-ea"/>
                          <a:ea typeface="+mj-ea"/>
                        </a:rPr>
                        <a:t>滚动权重：</a:t>
                      </a:r>
                      <a:r>
                        <a:rPr lang="zh-CN" altLang="en-US" sz="800">
                          <a:solidFill>
                            <a:srgbClr val="000000"/>
                          </a:solidFill>
                          <a:latin typeface="+mj-ea"/>
                          <a:ea typeface="+mj-ea"/>
                        </a:rPr>
                        <a:t> 在不同时间区间使用不同权重（如近期重统计，远期重销售）。</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a:solidFill>
                            <a:srgbClr val="000000"/>
                          </a:solidFill>
                          <a:latin typeface="+mj-ea"/>
                          <a:ea typeface="+mj-ea"/>
                        </a:rPr>
                        <a:t>系统计算出的、加权的共识预测值</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extLst>
                  <a:ext uri="{0D108BD9-81ED-4DB2-BD59-A6C34878D82A}">
                    <a16:rowId xmlns:a16="http://schemas.microsoft.com/office/drawing/2014/main" val="1265285634"/>
                  </a:ext>
                </a:extLst>
              </a:tr>
              <a:tr h="657535">
                <a:tc vMerge="1">
                  <a:txBody>
                    <a:bodyPr/>
                    <a:lstStyle/>
                    <a:p>
                      <a:endParaRPr lang="zh-CN" altLang="en-US" sz="800" dirty="0">
                        <a:solidFill>
                          <a:schemeClr val="bg1"/>
                        </a:solidFill>
                        <a:latin typeface="+mj-ea"/>
                        <a:ea typeface="+mj-ea"/>
                      </a:endParaRPr>
                    </a:p>
                  </a:txBody>
                  <a:tcPr marL="19856" marR="19856" marT="9928" marB="9928" anchor="ctr">
                    <a:lnL>
                      <a:noFill/>
                    </a:lnL>
                    <a:lnR>
                      <a:noFill/>
                    </a:lnR>
                    <a:lnT>
                      <a:noFill/>
                    </a:lnT>
                    <a:lnB>
                      <a:noFill/>
                    </a:lnB>
                    <a:noFill/>
                  </a:tcPr>
                </a:tc>
                <a:tc>
                  <a:txBody>
                    <a:bodyPr/>
                    <a:lstStyle/>
                    <a:p>
                      <a:r>
                        <a:rPr lang="zh-CN" altLang="en-US" sz="800" b="1">
                          <a:solidFill>
                            <a:srgbClr val="000000"/>
                          </a:solidFill>
                          <a:latin typeface="+mj-ea"/>
                          <a:ea typeface="+mj-ea"/>
                        </a:rPr>
                        <a:t>最终批准与发布</a:t>
                      </a:r>
                      <a:endParaRPr lang="zh-CN" altLang="en-US" sz="800">
                        <a:solidFill>
                          <a:srgbClr val="000000"/>
                        </a:solidFill>
                        <a:latin typeface="+mj-ea"/>
                        <a:ea typeface="+mj-ea"/>
                      </a:endParaRP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dirty="0">
                          <a:solidFill>
                            <a:srgbClr val="000000"/>
                          </a:solidFill>
                          <a:latin typeface="+mj-ea"/>
                          <a:ea typeface="+mj-ea"/>
                        </a:rPr>
                        <a:t>需求评审会议 </a:t>
                      </a:r>
                      <a:r>
                        <a:rPr lang="en-US" altLang="zh-CN" sz="800" dirty="0">
                          <a:solidFill>
                            <a:srgbClr val="000000"/>
                          </a:solidFill>
                          <a:latin typeface="+mj-ea"/>
                          <a:ea typeface="+mj-ea"/>
                        </a:rPr>
                        <a:t>/ </a:t>
                      </a:r>
                      <a:r>
                        <a:rPr lang="zh-CN" altLang="en-US" sz="800" dirty="0">
                          <a:solidFill>
                            <a:srgbClr val="000000"/>
                          </a:solidFill>
                          <a:latin typeface="+mj-ea"/>
                          <a:ea typeface="+mj-ea"/>
                        </a:rPr>
                        <a:t>手动覆盖功能 </a:t>
                      </a:r>
                      <a:r>
                        <a:rPr lang="en-US" altLang="zh-CN" sz="800" dirty="0">
                          <a:solidFill>
                            <a:srgbClr val="000000"/>
                          </a:solidFill>
                          <a:latin typeface="+mj-ea"/>
                          <a:ea typeface="+mj-ea"/>
                        </a:rPr>
                        <a:t>/ </a:t>
                      </a:r>
                      <a:r>
                        <a:rPr lang="zh-CN" altLang="en-US" sz="800" dirty="0">
                          <a:solidFill>
                            <a:srgbClr val="000000"/>
                          </a:solidFill>
                          <a:latin typeface="+mj-ea"/>
                          <a:ea typeface="+mj-ea"/>
                        </a:rPr>
                        <a:t>发布功能</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b="1">
                          <a:solidFill>
                            <a:srgbClr val="000000"/>
                          </a:solidFill>
                          <a:latin typeface="+mj-ea"/>
                          <a:ea typeface="+mj-ea"/>
                        </a:rPr>
                        <a:t>需求评审会议：</a:t>
                      </a:r>
                      <a:r>
                        <a:rPr lang="zh-CN" altLang="en-US" sz="800">
                          <a:solidFill>
                            <a:srgbClr val="000000"/>
                          </a:solidFill>
                          <a:latin typeface="+mj-ea"/>
                          <a:ea typeface="+mj-ea"/>
                        </a:rPr>
                        <a:t> 基于协同工作台的分析进行最终评审。</a:t>
                      </a:r>
                      <a:br>
                        <a:rPr lang="zh-CN" altLang="en-US" sz="800">
                          <a:solidFill>
                            <a:srgbClr val="000000"/>
                          </a:solidFill>
                          <a:latin typeface="+mj-ea"/>
                          <a:ea typeface="+mj-ea"/>
                        </a:rPr>
                      </a:br>
                      <a:r>
                        <a:rPr lang="zh-CN" altLang="en-US" sz="800" b="1">
                          <a:solidFill>
                            <a:srgbClr val="000000"/>
                          </a:solidFill>
                          <a:latin typeface="+mj-ea"/>
                          <a:ea typeface="+mj-ea"/>
                        </a:rPr>
                        <a:t>最终覆盖：</a:t>
                      </a:r>
                      <a:r>
                        <a:rPr lang="zh-CN" altLang="en-US" sz="800">
                          <a:solidFill>
                            <a:srgbClr val="000000"/>
                          </a:solidFill>
                          <a:latin typeface="+mj-ea"/>
                          <a:ea typeface="+mj-ea"/>
                        </a:rPr>
                        <a:t> 根据会议决策进行最终手动调整。</a:t>
                      </a:r>
                      <a:br>
                        <a:rPr lang="zh-CN" altLang="en-US" sz="800">
                          <a:solidFill>
                            <a:srgbClr val="000000"/>
                          </a:solidFill>
                          <a:latin typeface="+mj-ea"/>
                          <a:ea typeface="+mj-ea"/>
                        </a:rPr>
                      </a:br>
                      <a:r>
                        <a:rPr lang="zh-CN" altLang="en-US" sz="800" b="1">
                          <a:solidFill>
                            <a:srgbClr val="000000"/>
                          </a:solidFill>
                          <a:latin typeface="+mj-ea"/>
                          <a:ea typeface="+mj-ea"/>
                        </a:rPr>
                        <a:t>发布：</a:t>
                      </a:r>
                      <a:r>
                        <a:rPr lang="zh-CN" altLang="en-US" sz="800">
                          <a:solidFill>
                            <a:srgbClr val="000000"/>
                          </a:solidFill>
                          <a:latin typeface="+mj-ea"/>
                          <a:ea typeface="+mj-ea"/>
                        </a:rPr>
                        <a:t> 锁定并正式发布预测，数据</a:t>
                      </a:r>
                      <a:r>
                        <a:rPr lang="zh-CN" altLang="en-US" sz="800" b="1">
                          <a:solidFill>
                            <a:srgbClr val="000000"/>
                          </a:solidFill>
                          <a:latin typeface="+mj-ea"/>
                          <a:ea typeface="+mj-ea"/>
                        </a:rPr>
                        <a:t>实时</a:t>
                      </a:r>
                      <a:r>
                        <a:rPr lang="zh-CN" altLang="en-US" sz="800">
                          <a:solidFill>
                            <a:srgbClr val="000000"/>
                          </a:solidFill>
                          <a:latin typeface="+mj-ea"/>
                          <a:ea typeface="+mj-ea"/>
                        </a:rPr>
                        <a:t>推送至供应计划模块。</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tc>
                  <a:txBody>
                    <a:bodyPr/>
                    <a:lstStyle/>
                    <a:p>
                      <a:r>
                        <a:rPr lang="zh-CN" altLang="en-US" sz="800" b="1" dirty="0">
                          <a:solidFill>
                            <a:srgbClr val="000000"/>
                          </a:solidFill>
                          <a:latin typeface="+mj-ea"/>
                          <a:ea typeface="+mj-ea"/>
                        </a:rPr>
                        <a:t>最终批准的共识预测</a:t>
                      </a:r>
                      <a:r>
                        <a:rPr lang="zh-CN" altLang="en-US" sz="800" dirty="0">
                          <a:solidFill>
                            <a:srgbClr val="000000"/>
                          </a:solidFill>
                          <a:latin typeface="+mj-ea"/>
                          <a:ea typeface="+mj-ea"/>
                        </a:rPr>
                        <a:t>（驱动供应链）</a:t>
                      </a:r>
                    </a:p>
                  </a:txBody>
                  <a:tcPr marL="19856" marR="19856" marT="9928" marB="9928" anchor="ctr">
                    <a:lnL>
                      <a:noFill/>
                    </a:lnL>
                    <a:lnR>
                      <a:noFill/>
                    </a:lnR>
                    <a:lnT>
                      <a:solidFill>
                        <a:srgbClr val="430A5D"/>
                      </a:solidFill>
                      <a:prstDash val="solid"/>
                    </a:lnT>
                    <a:lnB>
                      <a:solidFill>
                        <a:srgbClr val="430A5D"/>
                      </a:solidFill>
                      <a:prstDash val="solid"/>
                    </a:lnB>
                    <a:solidFill>
                      <a:srgbClr val="FFFFFF"/>
                    </a:solidFill>
                  </a:tcPr>
                </a:tc>
                <a:extLst>
                  <a:ext uri="{0D108BD9-81ED-4DB2-BD59-A6C34878D82A}">
                    <a16:rowId xmlns:a16="http://schemas.microsoft.com/office/drawing/2014/main" val="1563474541"/>
                  </a:ext>
                </a:extLst>
              </a:tr>
            </a:tbl>
          </a:graphicData>
        </a:graphic>
      </p:graphicFrame>
    </p:spTree>
    <p:extLst>
      <p:ext uri="{BB962C8B-B14F-4D97-AF65-F5344CB8AC3E}">
        <p14:creationId xmlns:p14="http://schemas.microsoft.com/office/powerpoint/2010/main" val="11368306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8A6B8700-F3FD-6E17-841C-3A18DAEF4A2F}"/>
              </a:ext>
            </a:extLst>
          </p:cNvPr>
          <p:cNvSpPr>
            <a:spLocks noGrp="1"/>
          </p:cNvSpPr>
          <p:nvPr>
            <p:ph type="title"/>
          </p:nvPr>
        </p:nvSpPr>
        <p:spPr/>
        <p:txBody>
          <a:bodyPr/>
          <a:lstStyle/>
          <a:p>
            <a:r>
              <a:rPr lang="zh-CN" altLang="en-US" dirty="0"/>
              <a:t>智能战术规划</a:t>
            </a:r>
            <a:r>
              <a:rPr lang="en-US" altLang="zh-CN" dirty="0"/>
              <a:t>ITP(Intelligent Tactical Planning)</a:t>
            </a:r>
            <a:endParaRPr lang="zh-CN" altLang="en-US" dirty="0"/>
          </a:p>
        </p:txBody>
      </p:sp>
      <p:grpSp>
        <p:nvGrpSpPr>
          <p:cNvPr id="2" name="组合 1">
            <a:extLst>
              <a:ext uri="{FF2B5EF4-FFF2-40B4-BE49-F238E27FC236}">
                <a16:creationId xmlns:a16="http://schemas.microsoft.com/office/drawing/2014/main" id="{6B949145-7275-890D-61F0-914B9021BF82}"/>
              </a:ext>
            </a:extLst>
          </p:cNvPr>
          <p:cNvGrpSpPr>
            <a:grpSpLocks noChangeAspect="1"/>
          </p:cNvGrpSpPr>
          <p:nvPr>
            <p:custDataLst>
              <p:tags r:id="rId1"/>
            </p:custDataLst>
          </p:nvPr>
        </p:nvGrpSpPr>
        <p:grpSpPr>
          <a:xfrm>
            <a:off x="1028122" y="1148350"/>
            <a:ext cx="10545418" cy="4678648"/>
            <a:chOff x="675644" y="1047413"/>
            <a:chExt cx="5253720" cy="3763678"/>
          </a:xfrm>
        </p:grpSpPr>
        <p:grpSp>
          <p:nvGrpSpPr>
            <p:cNvPr id="4" name="组合 3">
              <a:extLst>
                <a:ext uri="{FF2B5EF4-FFF2-40B4-BE49-F238E27FC236}">
                  <a16:creationId xmlns:a16="http://schemas.microsoft.com/office/drawing/2014/main" id="{8E3BDE72-8997-1E44-E8F3-FEF2564C332A}"/>
                </a:ext>
              </a:extLst>
            </p:cNvPr>
            <p:cNvGrpSpPr>
              <a:grpSpLocks/>
            </p:cNvGrpSpPr>
            <p:nvPr/>
          </p:nvGrpSpPr>
          <p:grpSpPr>
            <a:xfrm>
              <a:off x="675644" y="2650839"/>
              <a:ext cx="5253720" cy="1215104"/>
              <a:chOff x="6278556" y="1915620"/>
              <a:chExt cx="5253720" cy="1215104"/>
            </a:xfrm>
          </p:grpSpPr>
          <p:sp>
            <p:nvSpPr>
              <p:cNvPr id="29" name="2">
                <a:extLst>
                  <a:ext uri="{FF2B5EF4-FFF2-40B4-BE49-F238E27FC236}">
                    <a16:creationId xmlns:a16="http://schemas.microsoft.com/office/drawing/2014/main" id="{06EBAC61-5F61-0905-AB5A-3E0576560AA0}"/>
                  </a:ext>
                </a:extLst>
              </p:cNvPr>
              <p:cNvSpPr/>
              <p:nvPr>
                <p:custDataLst>
                  <p:tags r:id="rId8"/>
                </p:custDataLst>
              </p:nvPr>
            </p:nvSpPr>
            <p:spPr>
              <a:xfrm>
                <a:off x="7180946" y="1956281"/>
                <a:ext cx="4351330" cy="116736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30" name="Title-2">
                <a:extLst>
                  <a:ext uri="{FF2B5EF4-FFF2-40B4-BE49-F238E27FC236}">
                    <a16:creationId xmlns:a16="http://schemas.microsoft.com/office/drawing/2014/main" id="{E5814B62-C1AC-C1DA-D70A-C75B47CA19C4}"/>
                  </a:ext>
                </a:extLst>
              </p:cNvPr>
              <p:cNvSpPr/>
              <p:nvPr>
                <p:custDataLst>
                  <p:tags r:id="rId9"/>
                </p:custDataLst>
              </p:nvPr>
            </p:nvSpPr>
            <p:spPr>
              <a:xfrm>
                <a:off x="6278556" y="1963358"/>
                <a:ext cx="872889" cy="1167366"/>
              </a:xfrm>
              <a:prstGeom prst="rect">
                <a:avLst/>
              </a:prstGeom>
              <a:solidFill>
                <a:schemeClr val="accent2"/>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ctr" defTabSz="913765" rtl="0" eaLnBrk="1" fontAlgn="auto" latinLnBrk="0" hangingPunct="1">
                  <a:lnSpc>
                    <a:spcPct val="100000"/>
                  </a:lnSpc>
                  <a:spcBef>
                    <a:spcPts val="0"/>
                  </a:spcBef>
                  <a:spcAft>
                    <a:spcPts val="0"/>
                  </a:spcAft>
                  <a:buClrTx/>
                  <a:buSzTx/>
                  <a:buFontTx/>
                  <a:buNone/>
                  <a:tabLst/>
                  <a:defRPr/>
                </a:pPr>
                <a:r>
                  <a:rPr kumimoji="0" lang="en-US" altLang="zh-CN" sz="16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MPS</a:t>
                </a:r>
                <a:r>
                  <a:rPr kumimoji="0" lang="zh-CN" altLang="en-US" sz="16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（主生产计划）</a:t>
                </a:r>
              </a:p>
            </p:txBody>
          </p:sp>
          <p:sp>
            <p:nvSpPr>
              <p:cNvPr id="31" name="Body-2">
                <a:extLst>
                  <a:ext uri="{FF2B5EF4-FFF2-40B4-BE49-F238E27FC236}">
                    <a16:creationId xmlns:a16="http://schemas.microsoft.com/office/drawing/2014/main" id="{822D99AC-1767-FD13-B84C-331FFA2E1D2A}"/>
                  </a:ext>
                </a:extLst>
              </p:cNvPr>
              <p:cNvSpPr txBox="1"/>
              <p:nvPr>
                <p:custDataLst>
                  <p:tags r:id="rId10"/>
                </p:custDataLst>
              </p:nvPr>
            </p:nvSpPr>
            <p:spPr>
              <a:xfrm>
                <a:off x="7223695" y="1915620"/>
                <a:ext cx="4060179" cy="1155870"/>
              </a:xfrm>
              <a:prstGeom prst="rect">
                <a:avLst/>
              </a:prstGeom>
              <a:noFill/>
            </p:spPr>
            <p:txBody>
              <a:bodyPr wrap="square" rtlCol="0">
                <a:spAutoFit/>
              </a:bodyPr>
              <a:lstStyle>
                <a:defPPr>
                  <a:defRPr lang="zh-CN"/>
                </a:defPPr>
                <a:lvl1pPr>
                  <a:lnSpc>
                    <a:spcPct val="120000"/>
                  </a:lnSpc>
                  <a:defRPr sz="1400">
                    <a:latin typeface="Arial" panose="020B0604020202020204" pitchFamily="34" charset="0"/>
                    <a:ea typeface="Microsoft YaHei" panose="020B0503020204020204" pitchFamily="34" charset="-122"/>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核心功能：</a:t>
                </a:r>
                <a:endParaRPr kumimoji="0" lang="en-US" altLang="zh-CN"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协同模拟分析：基于 </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MRP Netting </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的输出，进行多版本模拟（如“</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what-if”</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分析），优化产销协同（即销售与生产的匹配）。</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优化策略：在战略优先的前提下，实现公平公正的深度优化，平衡成本、交期和资源利用率。</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价值链整合：通过维度规划生成预测承诺，形成销售计划和供应计划，并转化为 </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IOP </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的约束性指导，确保计划与实际运营衔接。</a:t>
                </a:r>
              </a:p>
              <a:p>
                <a:pPr marL="0" marR="0" lvl="0" indent="0" algn="l" defTabSz="914400" rtl="0" eaLnBrk="1" fontAlgn="auto" latinLnBrk="0" hangingPunct="1">
                  <a:lnSpc>
                    <a:spcPct val="12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意义：</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MPS </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充当了战术规划的“大脑”，将需求转化为具体指导，确保计划既符合战略目标，又具备可操作性。</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pSp>
        <p:grpSp>
          <p:nvGrpSpPr>
            <p:cNvPr id="5" name="组合 4">
              <a:extLst>
                <a:ext uri="{FF2B5EF4-FFF2-40B4-BE49-F238E27FC236}">
                  <a16:creationId xmlns:a16="http://schemas.microsoft.com/office/drawing/2014/main" id="{23212109-DAD7-FF49-23F7-131EDB934688}"/>
                </a:ext>
              </a:extLst>
            </p:cNvPr>
            <p:cNvGrpSpPr>
              <a:grpSpLocks/>
            </p:cNvGrpSpPr>
            <p:nvPr/>
          </p:nvGrpSpPr>
          <p:grpSpPr>
            <a:xfrm>
              <a:off x="675645" y="1047413"/>
              <a:ext cx="5253719" cy="1616709"/>
              <a:chOff x="675645" y="1747906"/>
              <a:chExt cx="5253719" cy="1616709"/>
            </a:xfrm>
          </p:grpSpPr>
          <p:sp>
            <p:nvSpPr>
              <p:cNvPr id="26" name="1">
                <a:extLst>
                  <a:ext uri="{FF2B5EF4-FFF2-40B4-BE49-F238E27FC236}">
                    <a16:creationId xmlns:a16="http://schemas.microsoft.com/office/drawing/2014/main" id="{3D970A3A-0CF2-254F-C14C-46B4458B6D84}"/>
                  </a:ext>
                </a:extLst>
              </p:cNvPr>
              <p:cNvSpPr/>
              <p:nvPr>
                <p:custDataLst>
                  <p:tags r:id="rId5"/>
                </p:custDataLst>
              </p:nvPr>
            </p:nvSpPr>
            <p:spPr>
              <a:xfrm>
                <a:off x="1582113" y="1747906"/>
                <a:ext cx="4347251" cy="1616709"/>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27" name="Title-1">
                <a:extLst>
                  <a:ext uri="{FF2B5EF4-FFF2-40B4-BE49-F238E27FC236}">
                    <a16:creationId xmlns:a16="http://schemas.microsoft.com/office/drawing/2014/main" id="{3E7184A1-0A51-18B0-EAC0-45FE3CCEA681}"/>
                  </a:ext>
                </a:extLst>
              </p:cNvPr>
              <p:cNvSpPr/>
              <p:nvPr>
                <p:custDataLst>
                  <p:tags r:id="rId6"/>
                </p:custDataLst>
              </p:nvPr>
            </p:nvSpPr>
            <p:spPr>
              <a:xfrm>
                <a:off x="675645" y="1747906"/>
                <a:ext cx="872889" cy="1616709"/>
              </a:xfrm>
              <a:prstGeom prst="rect">
                <a:avLst/>
              </a:prstGeom>
              <a:solidFill>
                <a:schemeClr val="accent1"/>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ctr" defTabSz="913765" rtl="0" eaLnBrk="1" fontAlgn="auto" latinLnBrk="0" hangingPunct="1">
                  <a:lnSpc>
                    <a:spcPct val="100000"/>
                  </a:lnSpc>
                  <a:spcBef>
                    <a:spcPts val="0"/>
                  </a:spcBef>
                  <a:spcAft>
                    <a:spcPts val="0"/>
                  </a:spcAft>
                  <a:buClrTx/>
                  <a:buSzTx/>
                  <a:buFontTx/>
                  <a:buNone/>
                  <a:tabLst/>
                  <a:defRPr/>
                </a:pPr>
                <a:r>
                  <a:rPr kumimoji="0" lang="en-US" altLang="zh-CN" sz="16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MRP Netting</a:t>
                </a:r>
                <a:r>
                  <a:rPr kumimoji="0" lang="zh-CN" altLang="en-US" sz="16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（每周净需求计算）</a:t>
                </a:r>
              </a:p>
            </p:txBody>
          </p:sp>
          <p:sp>
            <p:nvSpPr>
              <p:cNvPr id="28" name="Body-1">
                <a:extLst>
                  <a:ext uri="{FF2B5EF4-FFF2-40B4-BE49-F238E27FC236}">
                    <a16:creationId xmlns:a16="http://schemas.microsoft.com/office/drawing/2014/main" id="{7AF2A639-89CD-ADBD-1EAA-DBFEAD227431}"/>
                  </a:ext>
                </a:extLst>
              </p:cNvPr>
              <p:cNvSpPr txBox="1"/>
              <p:nvPr>
                <p:custDataLst>
                  <p:tags r:id="rId7"/>
                </p:custDataLst>
              </p:nvPr>
            </p:nvSpPr>
            <p:spPr>
              <a:xfrm>
                <a:off x="1613979" y="1806987"/>
                <a:ext cx="3881858" cy="1485263"/>
              </a:xfrm>
              <a:prstGeom prst="rect">
                <a:avLst/>
              </a:prstGeom>
              <a:noFill/>
            </p:spPr>
            <p:txBody>
              <a:bodyPr wrap="square" rtlCol="0">
                <a:spAutoFit/>
              </a:bodyPr>
              <a:lstStyle>
                <a:defPPr>
                  <a:defRPr lang="zh-CN"/>
                </a:defPPr>
                <a:lvl1pPr algn="ctr">
                  <a:lnSpc>
                    <a:spcPct val="150000"/>
                  </a:lnSpc>
                  <a:defRPr sz="1200">
                    <a:solidFill>
                      <a:schemeClr val="bg1">
                        <a:lumMod val="50000"/>
                      </a:schemeClr>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核心功能：</a:t>
                </a:r>
              </a:p>
              <a:p>
                <a:pPr marL="628650" marR="0" lvl="1" indent="-1714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预测准确性提升：通过 </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Planning BOM </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细化预测，减少不确定性，降低跨部门协同的复杂度。</a:t>
                </a:r>
              </a:p>
              <a:p>
                <a:pPr marL="628650" marR="0" lvl="1" indent="-1714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预测冲减：动态调整预测以反映实际需求，更先进的做法是将此过程集成到 </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IOP</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 </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Intelligent Operational Planning</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，智能运营规划）中，实现更前瞻性的调整。</a:t>
                </a:r>
              </a:p>
              <a:p>
                <a:pPr marL="628650" marR="0" lvl="1" indent="-1714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高效计算与瓶颈识别：利用内存计算、并行计算等高性能技术，实现分钟级计算速度。同时，结合维度规划、替换料方案等专利，快速识别物料和资源瓶颈，并将结果分发给供应商、第三方物流（</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3PL</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）及内外工厂，确保供应端及时响应。</a:t>
                </a:r>
              </a:p>
              <a:p>
                <a:pPr marL="0" marR="0" lvl="0" indent="0" algn="l" defTabSz="914400" rtl="0" eaLnBrk="1" fontAlgn="auto" latinLnBrk="0" hangingPunct="1">
                  <a:lnSpc>
                    <a:spcPct val="12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意义：</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MRP Netting </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是 </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ITP </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的基础，确保物料需求计划快速、准确，为后续规划提供可靠输入。</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pSp>
        <p:grpSp>
          <p:nvGrpSpPr>
            <p:cNvPr id="22" name="组合 21">
              <a:extLst>
                <a:ext uri="{FF2B5EF4-FFF2-40B4-BE49-F238E27FC236}">
                  <a16:creationId xmlns:a16="http://schemas.microsoft.com/office/drawing/2014/main" id="{A843314D-0A56-2B6E-E9B6-641E01270C3C}"/>
                </a:ext>
              </a:extLst>
            </p:cNvPr>
            <p:cNvGrpSpPr/>
            <p:nvPr/>
          </p:nvGrpSpPr>
          <p:grpSpPr>
            <a:xfrm>
              <a:off x="675644" y="3894900"/>
              <a:ext cx="5253720" cy="916191"/>
              <a:chOff x="675644" y="3159681"/>
              <a:chExt cx="5253720" cy="916191"/>
            </a:xfrm>
          </p:grpSpPr>
          <p:sp>
            <p:nvSpPr>
              <p:cNvPr id="23" name="3">
                <a:extLst>
                  <a:ext uri="{FF2B5EF4-FFF2-40B4-BE49-F238E27FC236}">
                    <a16:creationId xmlns:a16="http://schemas.microsoft.com/office/drawing/2014/main" id="{2F595A55-5CD1-326D-AC77-CA362BE7C807}"/>
                  </a:ext>
                </a:extLst>
              </p:cNvPr>
              <p:cNvSpPr/>
              <p:nvPr>
                <p:custDataLst>
                  <p:tags r:id="rId2"/>
                </p:custDataLst>
              </p:nvPr>
            </p:nvSpPr>
            <p:spPr>
              <a:xfrm>
                <a:off x="1578034" y="3159681"/>
                <a:ext cx="4351330" cy="916191"/>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24" name="Title-3">
                <a:extLst>
                  <a:ext uri="{FF2B5EF4-FFF2-40B4-BE49-F238E27FC236}">
                    <a16:creationId xmlns:a16="http://schemas.microsoft.com/office/drawing/2014/main" id="{46089832-C6B4-45BA-2A1E-EAF2A6043678}"/>
                  </a:ext>
                </a:extLst>
              </p:cNvPr>
              <p:cNvSpPr/>
              <p:nvPr>
                <p:custDataLst>
                  <p:tags r:id="rId3"/>
                </p:custDataLst>
              </p:nvPr>
            </p:nvSpPr>
            <p:spPr>
              <a:xfrm>
                <a:off x="675644" y="3159681"/>
                <a:ext cx="872889" cy="916190"/>
              </a:xfrm>
              <a:prstGeom prst="rect">
                <a:avLst/>
              </a:prstGeom>
              <a:solidFill>
                <a:schemeClr val="accent3"/>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ctr" defTabSz="913765"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供应商协同</a:t>
                </a:r>
                <a:endParaRPr kumimoji="0" lang="en-US" altLang="zh-CN" sz="16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25" name="Body-3">
                <a:extLst>
                  <a:ext uri="{FF2B5EF4-FFF2-40B4-BE49-F238E27FC236}">
                    <a16:creationId xmlns:a16="http://schemas.microsoft.com/office/drawing/2014/main" id="{C7166B3A-0CFD-D684-D99F-9C7762BB7E8B}"/>
                  </a:ext>
                </a:extLst>
              </p:cNvPr>
              <p:cNvSpPr txBox="1"/>
              <p:nvPr>
                <p:custDataLst>
                  <p:tags r:id="rId4"/>
                </p:custDataLst>
              </p:nvPr>
            </p:nvSpPr>
            <p:spPr>
              <a:xfrm>
                <a:off x="1613979" y="3261380"/>
                <a:ext cx="3924973" cy="712792"/>
              </a:xfrm>
              <a:prstGeom prst="rect">
                <a:avLst/>
              </a:prstGeom>
              <a:noFill/>
            </p:spPr>
            <p:txBody>
              <a:bodyPr wrap="square" rtlCol="0">
                <a:spAutoFit/>
              </a:bodyPr>
              <a:lstStyle>
                <a:defPPr>
                  <a:defRPr lang="zh-CN"/>
                </a:defPPr>
                <a:lvl1pPr>
                  <a:lnSpc>
                    <a:spcPct val="120000"/>
                  </a:lnSpc>
                  <a:defRPr sz="1400">
                    <a:latin typeface="Arial" panose="020B0604020202020204" pitchFamily="34" charset="0"/>
                    <a:ea typeface="Microsoft YaHei" panose="020B0503020204020204" pitchFamily="34" charset="-122"/>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核心功能：</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滚动协同：动态管理采购订单（</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PO</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）、未来到料（</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SR</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）、零件预测、供应承诺、预计到达时间（</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ETA</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）和收货挂钩（</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GR pegging</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），形成“协同协奏”（即像音乐一样和谐配合）。</a:t>
                </a:r>
              </a:p>
              <a:p>
                <a:pPr marL="0" marR="0" lvl="0" indent="0" algn="l" defTabSz="914400" rtl="0" eaLnBrk="1" fontAlgn="auto" latinLnBrk="0" hangingPunct="1">
                  <a:lnSpc>
                    <a:spcPct val="12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意义：</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供应商协同是 </a:t>
                </a:r>
                <a:r>
                  <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ITP </a:t>
                </a:r>
                <a:r>
                  <a:rPr kumimoji="0" lang="zh-CN" altLang="en-US"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的落地环节，通过信息共享和实时更新，减少延迟和库存风险，提升整个供应链的敏捷性。</a:t>
                </a:r>
                <a:endParaRPr kumimoji="0" lang="en-US" altLang="zh-CN" sz="12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pSp>
      </p:grpSp>
    </p:spTree>
    <p:extLst>
      <p:ext uri="{BB962C8B-B14F-4D97-AF65-F5344CB8AC3E}">
        <p14:creationId xmlns:p14="http://schemas.microsoft.com/office/powerpoint/2010/main" val="831196055"/>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5C25EAEC-41DF-E89C-69F3-695039221E46}"/>
              </a:ext>
            </a:extLst>
          </p:cNvPr>
          <p:cNvGrpSpPr>
            <a:grpSpLocks noChangeAspect="1"/>
          </p:cNvGrpSpPr>
          <p:nvPr>
            <p:custDataLst>
              <p:tags r:id="rId1"/>
            </p:custDataLst>
          </p:nvPr>
        </p:nvGrpSpPr>
        <p:grpSpPr>
          <a:xfrm>
            <a:off x="699271" y="1231493"/>
            <a:ext cx="10632116" cy="4623018"/>
            <a:chOff x="675644" y="1328330"/>
            <a:chExt cx="7162045" cy="3383973"/>
          </a:xfrm>
        </p:grpSpPr>
        <p:grpSp>
          <p:nvGrpSpPr>
            <p:cNvPr id="4" name="组合 3">
              <a:extLst>
                <a:ext uri="{FF2B5EF4-FFF2-40B4-BE49-F238E27FC236}">
                  <a16:creationId xmlns:a16="http://schemas.microsoft.com/office/drawing/2014/main" id="{0F180DBF-823A-B2D9-329D-329B24A078BE}"/>
                </a:ext>
              </a:extLst>
            </p:cNvPr>
            <p:cNvGrpSpPr>
              <a:grpSpLocks/>
            </p:cNvGrpSpPr>
            <p:nvPr/>
          </p:nvGrpSpPr>
          <p:grpSpPr>
            <a:xfrm>
              <a:off x="675644" y="2147091"/>
              <a:ext cx="7162045" cy="1771948"/>
              <a:chOff x="6278556" y="1411872"/>
              <a:chExt cx="7162045" cy="1771948"/>
            </a:xfrm>
          </p:grpSpPr>
          <p:sp>
            <p:nvSpPr>
              <p:cNvPr id="13" name="2">
                <a:extLst>
                  <a:ext uri="{FF2B5EF4-FFF2-40B4-BE49-F238E27FC236}">
                    <a16:creationId xmlns:a16="http://schemas.microsoft.com/office/drawing/2014/main" id="{791154C2-27C6-C789-0B59-4234D48796BA}"/>
                  </a:ext>
                </a:extLst>
              </p:cNvPr>
              <p:cNvSpPr/>
              <p:nvPr>
                <p:custDataLst>
                  <p:tags r:id="rId8"/>
                </p:custDataLst>
              </p:nvPr>
            </p:nvSpPr>
            <p:spPr>
              <a:xfrm>
                <a:off x="7491079" y="1439602"/>
                <a:ext cx="5949522" cy="174421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1"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14" name="Title-2">
                <a:extLst>
                  <a:ext uri="{FF2B5EF4-FFF2-40B4-BE49-F238E27FC236}">
                    <a16:creationId xmlns:a16="http://schemas.microsoft.com/office/drawing/2014/main" id="{19F3542A-2A70-5E14-8C97-89D49F34BAA5}"/>
                  </a:ext>
                </a:extLst>
              </p:cNvPr>
              <p:cNvSpPr/>
              <p:nvPr>
                <p:custDataLst>
                  <p:tags r:id="rId9"/>
                </p:custDataLst>
              </p:nvPr>
            </p:nvSpPr>
            <p:spPr>
              <a:xfrm>
                <a:off x="6278556" y="1439601"/>
                <a:ext cx="1212523" cy="1744219"/>
              </a:xfrm>
              <a:prstGeom prst="rect">
                <a:avLst/>
              </a:prstGeom>
              <a:solidFill>
                <a:schemeClr val="accent2"/>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ctr" defTabSz="913765"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cs"/>
                  </a:rPr>
                  <a:t>确保承诺</a:t>
                </a:r>
                <a:endParaRPr kumimoji="0" lang="zh-CN" altLang="en-US" sz="20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5" name="Body-2">
                <a:extLst>
                  <a:ext uri="{FF2B5EF4-FFF2-40B4-BE49-F238E27FC236}">
                    <a16:creationId xmlns:a16="http://schemas.microsoft.com/office/drawing/2014/main" id="{2EC8A512-6E4A-BF56-04E7-50C0C2C75694}"/>
                  </a:ext>
                </a:extLst>
              </p:cNvPr>
              <p:cNvSpPr txBox="1"/>
              <p:nvPr>
                <p:custDataLst>
                  <p:tags r:id="rId10"/>
                </p:custDataLst>
              </p:nvPr>
            </p:nvSpPr>
            <p:spPr>
              <a:xfrm>
                <a:off x="7652727" y="1411872"/>
                <a:ext cx="5242238" cy="1754707"/>
              </a:xfrm>
              <a:prstGeom prst="rect">
                <a:avLst/>
              </a:prstGeom>
              <a:noFill/>
            </p:spPr>
            <p:txBody>
              <a:bodyPr wrap="square" rtlCol="0">
                <a:spAutoFit/>
              </a:bodyPr>
              <a:lstStyle>
                <a:defPPr>
                  <a:defRPr lang="zh-CN"/>
                </a:defPPr>
                <a:lvl1pPr>
                  <a:lnSpc>
                    <a:spcPct val="120000"/>
                  </a:lnSpc>
                  <a:defRPr sz="1400">
                    <a:latin typeface="Arial" panose="020B0604020202020204" pitchFamily="34" charset="0"/>
                    <a:ea typeface="Microsoft YaHei" panose="020B0503020204020204" pitchFamily="34" charset="-122"/>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利用优先级进行软预留 </a:t>
                </a:r>
              </a:p>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承诺需要预留供给和资源，但由于供应和约束条件可能存在波动，必须能够灵活适应这些变化，因此不宜采用 </a:t>
                </a:r>
                <a:r>
                  <a:rPr kumimoji="0" lang="en-US" altLang="zh-CN" sz="14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Pegging</a:t>
                </a:r>
                <a:r>
                  <a:rPr kumimoji="0" lang="zh-CN" altLang="en-US" sz="14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（刚性预留）方式。</a:t>
                </a:r>
                <a:endParaRPr kumimoji="0" lang="en-US" altLang="zh-CN" sz="14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计划订单、未来到料和现有库存之间往往难以建立精确的跟踪关系。因此，预留机制更适合采用基于优先级的软预留，这种方式也为优化提供了更大空间。关键是要确保已承诺需求的优先级高于新需求的优先级。</a:t>
                </a:r>
              </a:p>
              <a:p>
                <a:pPr marL="0" marR="0" lvl="0" indent="0" algn="l" defTabSz="914400" rtl="0" eaLnBrk="1" fontAlgn="auto" latinLnBrk="0" hangingPunct="1">
                  <a:lnSpc>
                    <a:spcPct val="12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资源置换 </a:t>
                </a:r>
              </a:p>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紧急插单不应直接插入现有生产队列，而应通过资源置换的方式进行处理，这样可以明确指定影响范围并有效控制其波及效应。</a:t>
                </a:r>
                <a:endParaRPr kumimoji="0" lang="en-US" altLang="zh-CN"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pSp>
        <p:grpSp>
          <p:nvGrpSpPr>
            <p:cNvPr id="5" name="组合 4">
              <a:extLst>
                <a:ext uri="{FF2B5EF4-FFF2-40B4-BE49-F238E27FC236}">
                  <a16:creationId xmlns:a16="http://schemas.microsoft.com/office/drawing/2014/main" id="{A604DC63-D5D7-6294-CE9C-ACB884470B49}"/>
                </a:ext>
              </a:extLst>
            </p:cNvPr>
            <p:cNvGrpSpPr>
              <a:grpSpLocks/>
            </p:cNvGrpSpPr>
            <p:nvPr/>
          </p:nvGrpSpPr>
          <p:grpSpPr>
            <a:xfrm>
              <a:off x="675644" y="1328330"/>
              <a:ext cx="7162045" cy="833626"/>
              <a:chOff x="675644" y="2028823"/>
              <a:chExt cx="7162045" cy="833626"/>
            </a:xfrm>
          </p:grpSpPr>
          <p:sp>
            <p:nvSpPr>
              <p:cNvPr id="10" name="1">
                <a:extLst>
                  <a:ext uri="{FF2B5EF4-FFF2-40B4-BE49-F238E27FC236}">
                    <a16:creationId xmlns:a16="http://schemas.microsoft.com/office/drawing/2014/main" id="{376E613B-0390-4250-2D66-C91342B13F0F}"/>
                  </a:ext>
                </a:extLst>
              </p:cNvPr>
              <p:cNvSpPr/>
              <p:nvPr>
                <p:custDataLst>
                  <p:tags r:id="rId5"/>
                </p:custDataLst>
              </p:nvPr>
            </p:nvSpPr>
            <p:spPr>
              <a:xfrm>
                <a:off x="1888167" y="2028823"/>
                <a:ext cx="5949522" cy="83362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1"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11" name="Title-1">
                <a:extLst>
                  <a:ext uri="{FF2B5EF4-FFF2-40B4-BE49-F238E27FC236}">
                    <a16:creationId xmlns:a16="http://schemas.microsoft.com/office/drawing/2014/main" id="{F7BC1B6A-EC1C-7CAB-F263-DC983A9C6677}"/>
                  </a:ext>
                </a:extLst>
              </p:cNvPr>
              <p:cNvSpPr/>
              <p:nvPr>
                <p:custDataLst>
                  <p:tags r:id="rId6"/>
                </p:custDataLst>
              </p:nvPr>
            </p:nvSpPr>
            <p:spPr>
              <a:xfrm>
                <a:off x="675644" y="2028823"/>
                <a:ext cx="1212523" cy="833626"/>
              </a:xfrm>
              <a:prstGeom prst="rect">
                <a:avLst/>
              </a:prstGeom>
              <a:solidFill>
                <a:schemeClr val="accent1"/>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ctr" defTabSz="913765" rtl="0" eaLnBrk="1" fontAlgn="auto" latinLnBrk="0" hangingPunct="1">
                  <a:lnSpc>
                    <a:spcPct val="100000"/>
                  </a:lnSpc>
                  <a:spcBef>
                    <a:spcPts val="0"/>
                  </a:spcBef>
                  <a:spcAft>
                    <a:spcPts val="0"/>
                  </a:spcAft>
                  <a:buClrTx/>
                  <a:buSzTx/>
                  <a:buFontTx/>
                  <a:buNone/>
                  <a:tabLst/>
                  <a:defRPr/>
                </a:pPr>
                <a:r>
                  <a:rPr kumimoji="0" lang="en-US" altLang="zh-CN" sz="2000" b="1"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cs"/>
                  </a:rPr>
                  <a:t>E2E</a:t>
                </a: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cs"/>
                  </a:rPr>
                  <a:t>一体化设计</a:t>
                </a:r>
                <a:endParaRPr kumimoji="0" lang="zh-CN" altLang="en-US" sz="20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2" name="Body-1">
                <a:extLst>
                  <a:ext uri="{FF2B5EF4-FFF2-40B4-BE49-F238E27FC236}">
                    <a16:creationId xmlns:a16="http://schemas.microsoft.com/office/drawing/2014/main" id="{B7C5BABA-249C-C345-3CC6-23CEF8BE5596}"/>
                  </a:ext>
                </a:extLst>
              </p:cNvPr>
              <p:cNvSpPr txBox="1"/>
              <p:nvPr>
                <p:custDataLst>
                  <p:tags r:id="rId7"/>
                </p:custDataLst>
              </p:nvPr>
            </p:nvSpPr>
            <p:spPr>
              <a:xfrm>
                <a:off x="2040394" y="2065811"/>
                <a:ext cx="3649579" cy="619259"/>
              </a:xfrm>
              <a:prstGeom prst="rect">
                <a:avLst/>
              </a:prstGeom>
              <a:noFill/>
            </p:spPr>
            <p:txBody>
              <a:bodyPr wrap="square" rtlCol="0">
                <a:spAutoFit/>
              </a:bodyPr>
              <a:lstStyle>
                <a:defPPr>
                  <a:defRPr lang="zh-CN"/>
                </a:defPPr>
                <a:lvl1pPr algn="ctr">
                  <a:lnSpc>
                    <a:spcPct val="150000"/>
                  </a:lnSpc>
                  <a:defRPr sz="1200">
                    <a:solidFill>
                      <a:schemeClr val="bg1">
                        <a:lumMod val="50000"/>
                      </a:schemeClr>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横向对齐</a:t>
                </a:r>
              </a:p>
              <a:p>
                <a:pPr marL="742950" marR="0" lvl="1"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统一需求，供应和约束的计算范围</a:t>
                </a:r>
                <a:r>
                  <a:rPr kumimoji="0" lang="en-US" altLang="zh-CN"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a:t>
                </a:r>
              </a:p>
              <a:p>
                <a:pPr marL="742950" marR="0" lvl="1"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统一需求和供应，约束的智能化分配规则</a:t>
                </a:r>
                <a:endParaRPr kumimoji="0" lang="en-US" altLang="zh-CN" sz="17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pSp>
        <p:grpSp>
          <p:nvGrpSpPr>
            <p:cNvPr id="6" name="组合 5">
              <a:extLst>
                <a:ext uri="{FF2B5EF4-FFF2-40B4-BE49-F238E27FC236}">
                  <a16:creationId xmlns:a16="http://schemas.microsoft.com/office/drawing/2014/main" id="{E62E44BA-315D-51B0-A1E1-B7C74FE175C4}"/>
                </a:ext>
              </a:extLst>
            </p:cNvPr>
            <p:cNvGrpSpPr/>
            <p:nvPr/>
          </p:nvGrpSpPr>
          <p:grpSpPr>
            <a:xfrm>
              <a:off x="675644" y="3938116"/>
              <a:ext cx="7162045" cy="774187"/>
              <a:chOff x="675644" y="3202897"/>
              <a:chExt cx="7162045" cy="774187"/>
            </a:xfrm>
          </p:grpSpPr>
          <p:sp>
            <p:nvSpPr>
              <p:cNvPr id="7" name="3">
                <a:extLst>
                  <a:ext uri="{FF2B5EF4-FFF2-40B4-BE49-F238E27FC236}">
                    <a16:creationId xmlns:a16="http://schemas.microsoft.com/office/drawing/2014/main" id="{2035A6D6-AD41-877F-DA5D-412178CDD655}"/>
                  </a:ext>
                </a:extLst>
              </p:cNvPr>
              <p:cNvSpPr/>
              <p:nvPr>
                <p:custDataLst>
                  <p:tags r:id="rId2"/>
                </p:custDataLst>
              </p:nvPr>
            </p:nvSpPr>
            <p:spPr>
              <a:xfrm>
                <a:off x="1888167" y="3202897"/>
                <a:ext cx="5949522" cy="774187"/>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1"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8" name="Title-3">
                <a:extLst>
                  <a:ext uri="{FF2B5EF4-FFF2-40B4-BE49-F238E27FC236}">
                    <a16:creationId xmlns:a16="http://schemas.microsoft.com/office/drawing/2014/main" id="{8BA34F70-4F74-9A29-4C33-177A68CDB843}"/>
                  </a:ext>
                </a:extLst>
              </p:cNvPr>
              <p:cNvSpPr/>
              <p:nvPr>
                <p:custDataLst>
                  <p:tags r:id="rId3"/>
                </p:custDataLst>
              </p:nvPr>
            </p:nvSpPr>
            <p:spPr>
              <a:xfrm>
                <a:off x="675644" y="3202897"/>
                <a:ext cx="1212523" cy="774187"/>
              </a:xfrm>
              <a:prstGeom prst="rect">
                <a:avLst/>
              </a:prstGeom>
              <a:solidFill>
                <a:schemeClr val="accent3"/>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ctr" defTabSz="913765"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mn-cs"/>
                  </a:rPr>
                  <a:t>优化资源，加速交付</a:t>
                </a:r>
                <a:endParaRPr kumimoji="0" lang="en-US" altLang="zh-CN" sz="20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9" name="Body-3">
                <a:extLst>
                  <a:ext uri="{FF2B5EF4-FFF2-40B4-BE49-F238E27FC236}">
                    <a16:creationId xmlns:a16="http://schemas.microsoft.com/office/drawing/2014/main" id="{5DF97943-1D6E-4226-1D0E-42A4B9652DAC}"/>
                  </a:ext>
                </a:extLst>
              </p:cNvPr>
              <p:cNvSpPr txBox="1"/>
              <p:nvPr>
                <p:custDataLst>
                  <p:tags r:id="rId4"/>
                </p:custDataLst>
              </p:nvPr>
            </p:nvSpPr>
            <p:spPr>
              <a:xfrm>
                <a:off x="2049815" y="3343183"/>
                <a:ext cx="4684223" cy="430018"/>
              </a:xfrm>
              <a:prstGeom prst="rect">
                <a:avLst/>
              </a:prstGeom>
              <a:noFill/>
            </p:spPr>
            <p:txBody>
              <a:bodyPr wrap="square" rtlCol="0">
                <a:spAutoFit/>
              </a:bodyPr>
              <a:lstStyle>
                <a:defPPr>
                  <a:defRPr lang="zh-CN"/>
                </a:defPPr>
                <a:lvl1pPr>
                  <a:lnSpc>
                    <a:spcPct val="120000"/>
                  </a:lnSpc>
                  <a:defRPr sz="1400">
                    <a:latin typeface="Arial" panose="020B0604020202020204" pitchFamily="34" charset="0"/>
                    <a:ea typeface="Microsoft YaHei" panose="020B0503020204020204" pitchFamily="34" charset="-122"/>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在不影响承诺交期的前提下把资源优化给优先级低的订单和新订单来加速交付速度</a:t>
                </a:r>
              </a:p>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依次解决资源最大化利用</a:t>
                </a:r>
                <a:endParaRPr kumimoji="0" lang="en-US" altLang="zh-CN"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pSp>
      </p:grpSp>
      <p:sp>
        <p:nvSpPr>
          <p:cNvPr id="16" name="标题 15">
            <a:extLst>
              <a:ext uri="{FF2B5EF4-FFF2-40B4-BE49-F238E27FC236}">
                <a16:creationId xmlns:a16="http://schemas.microsoft.com/office/drawing/2014/main" id="{B9936F5B-AC4E-FC68-5DD9-C65E258FAAB7}"/>
              </a:ext>
            </a:extLst>
          </p:cNvPr>
          <p:cNvSpPr>
            <a:spLocks noGrp="1"/>
          </p:cNvSpPr>
          <p:nvPr>
            <p:ph type="title"/>
          </p:nvPr>
        </p:nvSpPr>
        <p:spPr/>
        <p:txBody>
          <a:bodyPr/>
          <a:lstStyle/>
          <a:p>
            <a:r>
              <a:rPr lang="zh-CN" altLang="en-US" dirty="0"/>
              <a:t>智能运营计划</a:t>
            </a:r>
            <a:r>
              <a:rPr lang="en-US" altLang="zh-CN" dirty="0"/>
              <a:t>IOP(Intelligent Operation Planning)</a:t>
            </a:r>
            <a:endParaRPr lang="zh-CN" altLang="en-US" dirty="0"/>
          </a:p>
        </p:txBody>
      </p:sp>
    </p:spTree>
    <p:extLst>
      <p:ext uri="{BB962C8B-B14F-4D97-AF65-F5344CB8AC3E}">
        <p14:creationId xmlns:p14="http://schemas.microsoft.com/office/powerpoint/2010/main" val="1867859732"/>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5D84B53-99AB-67C3-317F-16EA84D2E800}"/>
              </a:ext>
            </a:extLst>
          </p:cNvPr>
          <p:cNvSpPr>
            <a:spLocks noGrp="1"/>
          </p:cNvSpPr>
          <p:nvPr>
            <p:ph type="title"/>
          </p:nvPr>
        </p:nvSpPr>
        <p:spPr/>
        <p:txBody>
          <a:bodyPr vert="horz" lIns="91440" tIns="45720" rIns="91440" bIns="45720" rtlCol="0" anchor="b">
            <a:normAutofit/>
          </a:bodyPr>
          <a:lstStyle/>
          <a:p>
            <a:r>
              <a:rPr lang="en-US" altLang="zh-CN" dirty="0">
                <a:latin typeface="+mj-ea"/>
              </a:rPr>
              <a:t>  IPS(Intelligent Planning Solution)</a:t>
            </a:r>
            <a:endParaRPr lang="zh-CN" altLang="en-US" dirty="0">
              <a:latin typeface="+mj-ea"/>
            </a:endParaRPr>
          </a:p>
        </p:txBody>
      </p:sp>
      <p:sp>
        <p:nvSpPr>
          <p:cNvPr id="4" name="圆角矩形 2">
            <a:extLst>
              <a:ext uri="{FF2B5EF4-FFF2-40B4-BE49-F238E27FC236}">
                <a16:creationId xmlns:a16="http://schemas.microsoft.com/office/drawing/2014/main" id="{DEA48CE4-F40D-4BB2-A437-29463E8E6639}"/>
              </a:ext>
            </a:extLst>
          </p:cNvPr>
          <p:cNvSpPr/>
          <p:nvPr/>
        </p:nvSpPr>
        <p:spPr>
          <a:xfrm>
            <a:off x="5012899" y="1384002"/>
            <a:ext cx="836295" cy="720090"/>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srgbClr val="000000"/>
                </a:solidFill>
                <a:effectLst/>
                <a:uLnTx/>
                <a:uFillTx/>
                <a:latin typeface="+mj-ea"/>
                <a:ea typeface="+mj-ea"/>
                <a:cs typeface="+mn-cs"/>
              </a:rPr>
              <a:t>战术规划</a:t>
            </a:r>
            <a:r>
              <a:rPr kumimoji="0" lang="en-US" altLang="zh-CN" sz="1200" b="1" i="0" u="none" strike="noStrike" kern="1200" cap="none" spc="0" normalizeH="0" baseline="0" noProof="0" dirty="0">
                <a:ln>
                  <a:noFill/>
                </a:ln>
                <a:solidFill>
                  <a:srgbClr val="000000"/>
                </a:solidFill>
                <a:effectLst/>
                <a:uLnTx/>
                <a:uFillTx/>
                <a:latin typeface="+mj-ea"/>
                <a:ea typeface="+mj-ea"/>
                <a:cs typeface="+mn-cs"/>
              </a:rPr>
              <a:t>(ITP)-MRP</a:t>
            </a:r>
            <a:endParaRPr kumimoji="0" lang="zh-CN" altLang="en-US" sz="1200" b="1" i="0" u="none" strike="noStrike" kern="1200" cap="none" spc="0" normalizeH="0" baseline="0" noProof="0" dirty="0">
              <a:ln>
                <a:noFill/>
              </a:ln>
              <a:solidFill>
                <a:srgbClr val="000000"/>
              </a:solidFill>
              <a:effectLst/>
              <a:uLnTx/>
              <a:uFillTx/>
              <a:latin typeface="+mj-ea"/>
              <a:ea typeface="+mj-ea"/>
              <a:cs typeface="+mn-cs"/>
            </a:endParaRPr>
          </a:p>
        </p:txBody>
      </p:sp>
      <p:sp>
        <p:nvSpPr>
          <p:cNvPr id="5" name="圆角矩形 2">
            <a:extLst>
              <a:ext uri="{FF2B5EF4-FFF2-40B4-BE49-F238E27FC236}">
                <a16:creationId xmlns:a16="http://schemas.microsoft.com/office/drawing/2014/main" id="{750E6A97-A900-9A67-AD9F-988DC33E0DD2}"/>
              </a:ext>
            </a:extLst>
          </p:cNvPr>
          <p:cNvSpPr/>
          <p:nvPr/>
        </p:nvSpPr>
        <p:spPr>
          <a:xfrm>
            <a:off x="2562202" y="1393289"/>
            <a:ext cx="836295" cy="720090"/>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1200" b="1" noProof="0" dirty="0">
                <a:solidFill>
                  <a:srgbClr val="000000"/>
                </a:solidFill>
                <a:latin typeface="+mj-ea"/>
                <a:ea typeface="+mj-ea"/>
              </a:rPr>
              <a:t>供应商协同</a:t>
            </a:r>
            <a:endParaRPr kumimoji="0" lang="zh-CN" altLang="en-US" sz="1200" b="1" i="0" u="none" strike="noStrike" kern="1200" cap="none" spc="0" normalizeH="0" baseline="0" noProof="0" dirty="0">
              <a:ln>
                <a:noFill/>
              </a:ln>
              <a:solidFill>
                <a:srgbClr val="000000"/>
              </a:solidFill>
              <a:effectLst/>
              <a:uLnTx/>
              <a:uFillTx/>
              <a:latin typeface="+mj-ea"/>
              <a:ea typeface="+mj-ea"/>
            </a:endParaRPr>
          </a:p>
        </p:txBody>
      </p:sp>
      <p:grpSp>
        <p:nvGrpSpPr>
          <p:cNvPr id="6" name="组合 5">
            <a:extLst>
              <a:ext uri="{FF2B5EF4-FFF2-40B4-BE49-F238E27FC236}">
                <a16:creationId xmlns:a16="http://schemas.microsoft.com/office/drawing/2014/main" id="{92655559-E16C-5D42-64AA-372EA8B6DB67}"/>
              </a:ext>
            </a:extLst>
          </p:cNvPr>
          <p:cNvGrpSpPr/>
          <p:nvPr/>
        </p:nvGrpSpPr>
        <p:grpSpPr>
          <a:xfrm>
            <a:off x="3371947" y="1505957"/>
            <a:ext cx="2722919" cy="335722"/>
            <a:chOff x="3398497" y="1174449"/>
            <a:chExt cx="2722919" cy="335722"/>
          </a:xfrm>
        </p:grpSpPr>
        <p:cxnSp>
          <p:nvCxnSpPr>
            <p:cNvPr id="7" name="直接箭头连接符 6">
              <a:extLst>
                <a:ext uri="{FF2B5EF4-FFF2-40B4-BE49-F238E27FC236}">
                  <a16:creationId xmlns:a16="http://schemas.microsoft.com/office/drawing/2014/main" id="{4C450326-D5C8-25EB-1B2D-55492899AECD}"/>
                </a:ext>
              </a:extLst>
            </p:cNvPr>
            <p:cNvCxnSpPr>
              <a:cxnSpLocks/>
            </p:cNvCxnSpPr>
            <p:nvPr/>
          </p:nvCxnSpPr>
          <p:spPr>
            <a:xfrm flipH="1">
              <a:off x="3398497" y="1500884"/>
              <a:ext cx="1614402" cy="92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DA65CD5A-9910-1757-56F9-A796D6DB3AE5}"/>
                </a:ext>
              </a:extLst>
            </p:cNvPr>
            <p:cNvSpPr txBox="1"/>
            <p:nvPr/>
          </p:nvSpPr>
          <p:spPr>
            <a:xfrm>
              <a:off x="3670719" y="1174449"/>
              <a:ext cx="2450697"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物料需求计划</a:t>
              </a:r>
            </a:p>
          </p:txBody>
        </p:sp>
      </p:grpSp>
      <p:sp>
        <p:nvSpPr>
          <p:cNvPr id="9" name="圆角矩形 2">
            <a:extLst>
              <a:ext uri="{FF2B5EF4-FFF2-40B4-BE49-F238E27FC236}">
                <a16:creationId xmlns:a16="http://schemas.microsoft.com/office/drawing/2014/main" id="{90378B0D-9917-CBFB-B6A5-799955702B55}"/>
              </a:ext>
            </a:extLst>
          </p:cNvPr>
          <p:cNvSpPr/>
          <p:nvPr/>
        </p:nvSpPr>
        <p:spPr>
          <a:xfrm>
            <a:off x="7774898" y="1376507"/>
            <a:ext cx="1084289" cy="720090"/>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srgbClr val="000000"/>
                </a:solidFill>
                <a:effectLst/>
                <a:uLnTx/>
                <a:uFillTx/>
                <a:latin typeface="+mj-ea"/>
                <a:ea typeface="+mj-ea"/>
                <a:cs typeface="+mn-cs"/>
              </a:rPr>
              <a:t>生产管理</a:t>
            </a:r>
            <a:endParaRPr kumimoji="0" lang="en-US" altLang="zh-CN" sz="1200" b="1" i="0" u="none" strike="noStrike" kern="1200" cap="none" spc="0" normalizeH="0" baseline="0" noProof="0" dirty="0">
              <a:ln>
                <a:noFill/>
              </a:ln>
              <a:solidFill>
                <a:srgbClr val="000000"/>
              </a:solidFill>
              <a:effectLst/>
              <a:uLnTx/>
              <a:uFillTx/>
              <a:latin typeface="+mj-ea"/>
              <a:ea typeface="+mj-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solidFill>
                  <a:srgbClr val="000000"/>
                </a:solidFill>
                <a:effectLst/>
                <a:uLnTx/>
                <a:uFillTx/>
                <a:latin typeface="+mj-ea"/>
                <a:ea typeface="+mj-ea"/>
                <a:cs typeface="+mn-cs"/>
              </a:rPr>
              <a:t>ERP-PP</a:t>
            </a:r>
          </a:p>
        </p:txBody>
      </p:sp>
      <p:sp>
        <p:nvSpPr>
          <p:cNvPr id="10" name="圆角矩形 2">
            <a:extLst>
              <a:ext uri="{FF2B5EF4-FFF2-40B4-BE49-F238E27FC236}">
                <a16:creationId xmlns:a16="http://schemas.microsoft.com/office/drawing/2014/main" id="{6903542A-7990-4C65-6079-00521EDE3A6E}"/>
              </a:ext>
            </a:extLst>
          </p:cNvPr>
          <p:cNvSpPr/>
          <p:nvPr/>
        </p:nvSpPr>
        <p:spPr>
          <a:xfrm>
            <a:off x="5012899" y="2456642"/>
            <a:ext cx="836295" cy="720090"/>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srgbClr val="000000"/>
                </a:solidFill>
                <a:effectLst/>
                <a:uLnTx/>
                <a:uFillTx/>
                <a:latin typeface="+mj-ea"/>
                <a:ea typeface="+mj-ea"/>
                <a:cs typeface="+mn-cs"/>
              </a:rPr>
              <a:t>战术规划</a:t>
            </a:r>
            <a:r>
              <a:rPr kumimoji="0" lang="en-US" altLang="zh-CN" sz="1200" b="1" i="0" u="none" strike="noStrike" kern="1200" cap="none" spc="0" normalizeH="0" baseline="0" noProof="0" dirty="0">
                <a:ln>
                  <a:noFill/>
                </a:ln>
                <a:solidFill>
                  <a:srgbClr val="000000"/>
                </a:solidFill>
                <a:effectLst/>
                <a:uLnTx/>
                <a:uFillTx/>
                <a:latin typeface="+mj-ea"/>
                <a:ea typeface="+mj-ea"/>
                <a:cs typeface="+mn-cs"/>
              </a:rPr>
              <a:t>(ITP)-</a:t>
            </a:r>
            <a:r>
              <a:rPr kumimoji="0" lang="zh-CN" altLang="en-US" sz="1200" b="1" i="0" u="none" strike="noStrike" kern="1200" cap="none" spc="0" normalizeH="0" baseline="0" noProof="0" dirty="0">
                <a:ln>
                  <a:noFill/>
                </a:ln>
                <a:solidFill>
                  <a:srgbClr val="000000"/>
                </a:solidFill>
                <a:effectLst/>
                <a:uLnTx/>
                <a:uFillTx/>
                <a:latin typeface="+mj-ea"/>
                <a:ea typeface="+mj-ea"/>
                <a:cs typeface="+mn-cs"/>
              </a:rPr>
              <a:t>主计划</a:t>
            </a:r>
            <a:endParaRPr kumimoji="0" lang="zh-CN" altLang="en-US" sz="1200" b="0" i="0" u="none" strike="noStrike" kern="1200" cap="none" spc="0" normalizeH="0" baseline="0" noProof="0" dirty="0">
              <a:ln>
                <a:noFill/>
              </a:ln>
              <a:solidFill>
                <a:srgbClr val="000000"/>
              </a:solidFill>
              <a:effectLst/>
              <a:uLnTx/>
              <a:uFillTx/>
              <a:latin typeface="+mj-ea"/>
              <a:ea typeface="+mj-ea"/>
              <a:cs typeface="+mn-cs"/>
            </a:endParaRPr>
          </a:p>
        </p:txBody>
      </p:sp>
      <p:grpSp>
        <p:nvGrpSpPr>
          <p:cNvPr id="11" name="组合 10">
            <a:extLst>
              <a:ext uri="{FF2B5EF4-FFF2-40B4-BE49-F238E27FC236}">
                <a16:creationId xmlns:a16="http://schemas.microsoft.com/office/drawing/2014/main" id="{41E0900B-EC43-73F1-B70E-DCC2609F10D8}"/>
              </a:ext>
            </a:extLst>
          </p:cNvPr>
          <p:cNvGrpSpPr/>
          <p:nvPr/>
        </p:nvGrpSpPr>
        <p:grpSpPr>
          <a:xfrm>
            <a:off x="2980349" y="2113379"/>
            <a:ext cx="2216450" cy="703308"/>
            <a:chOff x="2980349" y="2070994"/>
            <a:chExt cx="2216450" cy="703308"/>
          </a:xfrm>
        </p:grpSpPr>
        <p:cxnSp>
          <p:nvCxnSpPr>
            <p:cNvPr id="12" name="连接符: 肘形 11">
              <a:extLst>
                <a:ext uri="{FF2B5EF4-FFF2-40B4-BE49-F238E27FC236}">
                  <a16:creationId xmlns:a16="http://schemas.microsoft.com/office/drawing/2014/main" id="{6A2E7CB4-BC2C-42E4-5572-C0DF4E8F00D9}"/>
                </a:ext>
              </a:extLst>
            </p:cNvPr>
            <p:cNvCxnSpPr>
              <a:stCxn id="5" idx="2"/>
              <a:endCxn id="10" idx="1"/>
            </p:cNvCxnSpPr>
            <p:nvPr/>
          </p:nvCxnSpPr>
          <p:spPr>
            <a:xfrm rot="16200000" flipH="1">
              <a:off x="3644970" y="1406373"/>
              <a:ext cx="703308" cy="2032549"/>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816C2567-0044-4E1F-63D4-CC3A1F1C36E1}"/>
                </a:ext>
              </a:extLst>
            </p:cNvPr>
            <p:cNvSpPr txBox="1"/>
            <p:nvPr/>
          </p:nvSpPr>
          <p:spPr>
            <a:xfrm>
              <a:off x="3043983" y="2277523"/>
              <a:ext cx="215281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供应</a:t>
              </a:r>
              <a:r>
                <a:rPr lang="zh-CN" altLang="en-US" sz="1200" dirty="0">
                  <a:solidFill>
                    <a:srgbClr val="FFFFFF"/>
                  </a:solidFill>
                  <a:latin typeface="+mj-ea"/>
                  <a:ea typeface="+mj-ea"/>
                </a:rPr>
                <a:t>承诺（</a:t>
              </a:r>
              <a:r>
                <a:rPr lang="en-US" altLang="zh-CN" sz="1200" dirty="0">
                  <a:solidFill>
                    <a:srgbClr val="FFFFFF"/>
                  </a:solidFill>
                  <a:latin typeface="+mj-ea"/>
                  <a:ea typeface="+mj-ea"/>
                </a:rPr>
                <a:t>Supply Commit)</a:t>
              </a:r>
              <a:endParaRPr kumimoji="0" lang="en-US" altLang="zh-CN" sz="1200" b="0" i="0" u="none" strike="noStrike" kern="1200" cap="none" spc="0" normalizeH="0" baseline="0" noProof="0" dirty="0">
                <a:ln>
                  <a:noFill/>
                </a:ln>
                <a:solidFill>
                  <a:srgbClr val="FFFFFF"/>
                </a:solidFill>
                <a:effectLst/>
                <a:uLnTx/>
                <a:uFillTx/>
                <a:latin typeface="+mj-ea"/>
                <a:ea typeface="+mj-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mj-ea"/>
                  <a:ea typeface="+mj-ea"/>
                  <a:cs typeface="+mn-cs"/>
                </a:rPr>
                <a:t>Pegging</a:t>
              </a: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关系</a:t>
              </a:r>
            </a:p>
          </p:txBody>
        </p:sp>
      </p:grpSp>
      <p:grpSp>
        <p:nvGrpSpPr>
          <p:cNvPr id="14" name="组合 13">
            <a:extLst>
              <a:ext uri="{FF2B5EF4-FFF2-40B4-BE49-F238E27FC236}">
                <a16:creationId xmlns:a16="http://schemas.microsoft.com/office/drawing/2014/main" id="{C348E63F-E72A-316D-7259-A5469DB3A220}"/>
              </a:ext>
            </a:extLst>
          </p:cNvPr>
          <p:cNvGrpSpPr/>
          <p:nvPr/>
        </p:nvGrpSpPr>
        <p:grpSpPr>
          <a:xfrm>
            <a:off x="5849194" y="2096598"/>
            <a:ext cx="2467849" cy="720090"/>
            <a:chOff x="5849194" y="2096598"/>
            <a:chExt cx="2467849" cy="720090"/>
          </a:xfrm>
        </p:grpSpPr>
        <p:sp>
          <p:nvSpPr>
            <p:cNvPr id="15" name="文本框 14">
              <a:extLst>
                <a:ext uri="{FF2B5EF4-FFF2-40B4-BE49-F238E27FC236}">
                  <a16:creationId xmlns:a16="http://schemas.microsoft.com/office/drawing/2014/main" id="{F4F15713-97E1-B804-6E42-EDF0072C747A}"/>
                </a:ext>
              </a:extLst>
            </p:cNvPr>
            <p:cNvSpPr txBox="1"/>
            <p:nvPr/>
          </p:nvSpPr>
          <p:spPr>
            <a:xfrm>
              <a:off x="6176702" y="2437519"/>
              <a:ext cx="187377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能力约束</a:t>
              </a:r>
            </a:p>
          </p:txBody>
        </p:sp>
        <p:cxnSp>
          <p:nvCxnSpPr>
            <p:cNvPr id="16" name="连接符: 肘形 15">
              <a:extLst>
                <a:ext uri="{FF2B5EF4-FFF2-40B4-BE49-F238E27FC236}">
                  <a16:creationId xmlns:a16="http://schemas.microsoft.com/office/drawing/2014/main" id="{81196C79-B699-62C9-7607-97E79A9A68D5}"/>
                </a:ext>
              </a:extLst>
            </p:cNvPr>
            <p:cNvCxnSpPr>
              <a:cxnSpLocks/>
              <a:stCxn id="9" idx="2"/>
              <a:endCxn id="10" idx="3"/>
            </p:cNvCxnSpPr>
            <p:nvPr/>
          </p:nvCxnSpPr>
          <p:spPr>
            <a:xfrm rot="5400000">
              <a:off x="6723074" y="1222718"/>
              <a:ext cx="720090" cy="2467849"/>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grpSp>
      <p:grpSp>
        <p:nvGrpSpPr>
          <p:cNvPr id="17" name="组合 16">
            <a:extLst>
              <a:ext uri="{FF2B5EF4-FFF2-40B4-BE49-F238E27FC236}">
                <a16:creationId xmlns:a16="http://schemas.microsoft.com/office/drawing/2014/main" id="{33A1FC95-D304-D82D-B796-618C3B87471C}"/>
              </a:ext>
            </a:extLst>
          </p:cNvPr>
          <p:cNvGrpSpPr/>
          <p:nvPr/>
        </p:nvGrpSpPr>
        <p:grpSpPr>
          <a:xfrm>
            <a:off x="2980350" y="2113380"/>
            <a:ext cx="2450697" cy="1063353"/>
            <a:chOff x="2991642" y="2302736"/>
            <a:chExt cx="2450697" cy="1063353"/>
          </a:xfrm>
        </p:grpSpPr>
        <p:cxnSp>
          <p:nvCxnSpPr>
            <p:cNvPr id="18" name="连接符: 肘形 17">
              <a:extLst>
                <a:ext uri="{FF2B5EF4-FFF2-40B4-BE49-F238E27FC236}">
                  <a16:creationId xmlns:a16="http://schemas.microsoft.com/office/drawing/2014/main" id="{8CE2D50C-32C4-C502-84ED-6700B83CF298}"/>
                </a:ext>
              </a:extLst>
            </p:cNvPr>
            <p:cNvCxnSpPr>
              <a:cxnSpLocks/>
              <a:stCxn id="10" idx="2"/>
              <a:endCxn id="5" idx="2"/>
            </p:cNvCxnSpPr>
            <p:nvPr/>
          </p:nvCxnSpPr>
          <p:spPr>
            <a:xfrm rot="5400000" flipH="1">
              <a:off x="3685314" y="1609064"/>
              <a:ext cx="1063353" cy="2450697"/>
            </a:xfrm>
            <a:prstGeom prst="bentConnector3">
              <a:avLst>
                <a:gd name="adj1" fmla="val -26763"/>
              </a:avLst>
            </a:prstGeom>
            <a:ln>
              <a:tailEnd type="triangle"/>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84874A6A-C7D6-500D-F3DC-9B6B732E9E95}"/>
                </a:ext>
              </a:extLst>
            </p:cNvPr>
            <p:cNvSpPr txBox="1"/>
            <p:nvPr/>
          </p:nvSpPr>
          <p:spPr>
            <a:xfrm>
              <a:off x="3127207" y="3029583"/>
              <a:ext cx="214160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重新规划（</a:t>
              </a:r>
              <a:r>
                <a:rPr kumimoji="0" lang="en-US" altLang="zh-CN" sz="1200" b="0" i="0" u="none" strike="noStrike" kern="1200" cap="none" spc="0" normalizeH="0" baseline="0" noProof="0" dirty="0">
                  <a:ln>
                    <a:noFill/>
                  </a:ln>
                  <a:solidFill>
                    <a:srgbClr val="FFFFFF"/>
                  </a:solidFill>
                  <a:effectLst/>
                  <a:uLnTx/>
                  <a:uFillTx/>
                  <a:latin typeface="+mj-ea"/>
                  <a:ea typeface="+mj-ea"/>
                  <a:cs typeface="+mn-cs"/>
                </a:rPr>
                <a:t>Reschedule)</a:t>
              </a:r>
              <a:endParaRPr kumimoji="0" lang="zh-CN" altLang="en-US" sz="1200" b="0" i="0" u="none" strike="noStrike" kern="1200" cap="none" spc="0" normalizeH="0" baseline="0" noProof="0" dirty="0">
                <a:ln>
                  <a:noFill/>
                </a:ln>
                <a:solidFill>
                  <a:srgbClr val="FFFFFF"/>
                </a:solidFill>
                <a:effectLst/>
                <a:uLnTx/>
                <a:uFillTx/>
                <a:latin typeface="+mj-ea"/>
                <a:ea typeface="+mj-ea"/>
                <a:cs typeface="+mn-cs"/>
              </a:endParaRPr>
            </a:p>
          </p:txBody>
        </p:sp>
      </p:grpSp>
      <p:grpSp>
        <p:nvGrpSpPr>
          <p:cNvPr id="20" name="组合 19">
            <a:extLst>
              <a:ext uri="{FF2B5EF4-FFF2-40B4-BE49-F238E27FC236}">
                <a16:creationId xmlns:a16="http://schemas.microsoft.com/office/drawing/2014/main" id="{73F604BB-AE79-3CC2-D285-06EABBB57090}"/>
              </a:ext>
            </a:extLst>
          </p:cNvPr>
          <p:cNvGrpSpPr/>
          <p:nvPr/>
        </p:nvGrpSpPr>
        <p:grpSpPr>
          <a:xfrm>
            <a:off x="5431047" y="2096597"/>
            <a:ext cx="2885996" cy="1080135"/>
            <a:chOff x="5431047" y="2096597"/>
            <a:chExt cx="2885996" cy="1080135"/>
          </a:xfrm>
        </p:grpSpPr>
        <p:cxnSp>
          <p:nvCxnSpPr>
            <p:cNvPr id="21" name="连接符: 肘形 20">
              <a:extLst>
                <a:ext uri="{FF2B5EF4-FFF2-40B4-BE49-F238E27FC236}">
                  <a16:creationId xmlns:a16="http://schemas.microsoft.com/office/drawing/2014/main" id="{2881CE89-C0EA-9199-A817-C68DFB8EE70E}"/>
                </a:ext>
              </a:extLst>
            </p:cNvPr>
            <p:cNvCxnSpPr>
              <a:cxnSpLocks/>
              <a:stCxn id="10" idx="2"/>
              <a:endCxn id="9" idx="2"/>
            </p:cNvCxnSpPr>
            <p:nvPr/>
          </p:nvCxnSpPr>
          <p:spPr>
            <a:xfrm rot="5400000" flipH="1" flipV="1">
              <a:off x="6333977" y="1193667"/>
              <a:ext cx="1080135" cy="2885996"/>
            </a:xfrm>
            <a:prstGeom prst="bentConnector3">
              <a:avLst>
                <a:gd name="adj1" fmla="val -26347"/>
              </a:avLst>
            </a:prstGeom>
            <a:ln>
              <a:tailEnd type="triangle"/>
            </a:ln>
          </p:spPr>
          <p:style>
            <a:lnRef idx="1">
              <a:schemeClr val="accent1"/>
            </a:lnRef>
            <a:fillRef idx="0">
              <a:schemeClr val="accent1"/>
            </a:fillRef>
            <a:effectRef idx="0">
              <a:schemeClr val="accent1"/>
            </a:effectRef>
            <a:fontRef idx="minor">
              <a:schemeClr val="tx1"/>
            </a:fontRef>
          </p:style>
        </p:cxnSp>
        <p:sp>
          <p:nvSpPr>
            <p:cNvPr id="22" name="文本框 21">
              <a:extLst>
                <a:ext uri="{FF2B5EF4-FFF2-40B4-BE49-F238E27FC236}">
                  <a16:creationId xmlns:a16="http://schemas.microsoft.com/office/drawing/2014/main" id="{86977389-8BFE-A245-BC1D-AAD17685449A}"/>
                </a:ext>
              </a:extLst>
            </p:cNvPr>
            <p:cNvSpPr txBox="1"/>
            <p:nvPr/>
          </p:nvSpPr>
          <p:spPr>
            <a:xfrm>
              <a:off x="6209782" y="2838644"/>
              <a:ext cx="187377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能力规划</a:t>
              </a:r>
            </a:p>
          </p:txBody>
        </p:sp>
      </p:grpSp>
      <p:sp>
        <p:nvSpPr>
          <p:cNvPr id="23" name="圆角矩形 2">
            <a:extLst>
              <a:ext uri="{FF2B5EF4-FFF2-40B4-BE49-F238E27FC236}">
                <a16:creationId xmlns:a16="http://schemas.microsoft.com/office/drawing/2014/main" id="{653302B5-169B-B67F-DC81-DCFB198A46D0}"/>
              </a:ext>
            </a:extLst>
          </p:cNvPr>
          <p:cNvSpPr/>
          <p:nvPr/>
        </p:nvSpPr>
        <p:spPr>
          <a:xfrm>
            <a:off x="4770655" y="3896823"/>
            <a:ext cx="1350761" cy="543392"/>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1200" b="1" dirty="0">
                <a:solidFill>
                  <a:srgbClr val="000000"/>
                </a:solidFill>
                <a:latin typeface="+mj-ea"/>
                <a:ea typeface="+mj-ea"/>
              </a:rPr>
              <a:t>运营规划（</a:t>
            </a:r>
            <a:r>
              <a:rPr lang="en-US" altLang="zh-CN" sz="1200" b="1" dirty="0">
                <a:solidFill>
                  <a:srgbClr val="000000"/>
                </a:solidFill>
                <a:latin typeface="+mj-ea"/>
                <a:ea typeface="+mj-ea"/>
              </a:rPr>
              <a:t>IOP)</a:t>
            </a:r>
            <a:endParaRPr kumimoji="0" lang="zh-CN" altLang="en-US" sz="1200" b="0" i="0" u="none" strike="noStrike" kern="1200" cap="none" spc="0" normalizeH="0" baseline="0" noProof="0" dirty="0">
              <a:ln>
                <a:noFill/>
              </a:ln>
              <a:solidFill>
                <a:srgbClr val="000000"/>
              </a:solidFill>
              <a:effectLst/>
              <a:uLnTx/>
              <a:uFillTx/>
              <a:latin typeface="+mj-ea"/>
              <a:ea typeface="+mj-ea"/>
            </a:endParaRPr>
          </a:p>
        </p:txBody>
      </p:sp>
      <p:grpSp>
        <p:nvGrpSpPr>
          <p:cNvPr id="24" name="组合 23">
            <a:extLst>
              <a:ext uri="{FF2B5EF4-FFF2-40B4-BE49-F238E27FC236}">
                <a16:creationId xmlns:a16="http://schemas.microsoft.com/office/drawing/2014/main" id="{0BEBDF43-28A7-08DB-8023-18BB00DAB410}"/>
              </a:ext>
            </a:extLst>
          </p:cNvPr>
          <p:cNvGrpSpPr/>
          <p:nvPr/>
        </p:nvGrpSpPr>
        <p:grpSpPr>
          <a:xfrm>
            <a:off x="5431047" y="3176732"/>
            <a:ext cx="3855360" cy="751524"/>
            <a:chOff x="5431047" y="3176732"/>
            <a:chExt cx="3855360" cy="751524"/>
          </a:xfrm>
        </p:grpSpPr>
        <p:cxnSp>
          <p:nvCxnSpPr>
            <p:cNvPr id="25" name="直接箭头连接符 24">
              <a:extLst>
                <a:ext uri="{FF2B5EF4-FFF2-40B4-BE49-F238E27FC236}">
                  <a16:creationId xmlns:a16="http://schemas.microsoft.com/office/drawing/2014/main" id="{9777E0EA-767B-4841-8927-B9CA5CB71B14}"/>
                </a:ext>
              </a:extLst>
            </p:cNvPr>
            <p:cNvCxnSpPr>
              <a:stCxn id="10" idx="2"/>
              <a:endCxn id="23" idx="0"/>
            </p:cNvCxnSpPr>
            <p:nvPr/>
          </p:nvCxnSpPr>
          <p:spPr>
            <a:xfrm>
              <a:off x="5431047" y="3176732"/>
              <a:ext cx="14989" cy="72009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B17D6DBD-EB08-DF23-2AEC-3A994A3CF7CB}"/>
                </a:ext>
              </a:extLst>
            </p:cNvPr>
            <p:cNvSpPr txBox="1"/>
            <p:nvPr/>
          </p:nvSpPr>
          <p:spPr>
            <a:xfrm>
              <a:off x="5849194" y="3466591"/>
              <a:ext cx="343721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dirty="0">
                  <a:solidFill>
                    <a:srgbClr val="FFFFFF"/>
                  </a:solidFill>
                  <a:latin typeface="+mj-ea"/>
                  <a:ea typeface="+mj-ea"/>
                </a:rPr>
                <a:t>物料和资源配额</a:t>
              </a:r>
              <a:endParaRPr kumimoji="0" lang="en-US" altLang="zh-CN" sz="1200" b="0" i="0" u="none" strike="noStrike" kern="1200" cap="none" spc="0" normalizeH="0" baseline="0" noProof="0" dirty="0">
                <a:ln>
                  <a:noFill/>
                </a:ln>
                <a:solidFill>
                  <a:srgbClr val="FFFFFF"/>
                </a:solidFill>
                <a:effectLst/>
                <a:uLnTx/>
                <a:uFillTx/>
                <a:latin typeface="+mj-ea"/>
                <a:ea typeface="+mj-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mj-ea"/>
                  <a:ea typeface="+mj-ea"/>
                  <a:cs typeface="+mn-cs"/>
                </a:rPr>
                <a:t>Supply &amp; Capacity allotment</a:t>
              </a:r>
              <a:endParaRPr kumimoji="0" lang="zh-CN" altLang="en-US" sz="1200" b="0" i="0" u="none" strike="noStrike" kern="1200" cap="none" spc="0" normalizeH="0" baseline="0" noProof="0" dirty="0">
                <a:ln>
                  <a:noFill/>
                </a:ln>
                <a:solidFill>
                  <a:srgbClr val="FFFFFF"/>
                </a:solidFill>
                <a:effectLst/>
                <a:uLnTx/>
                <a:uFillTx/>
                <a:latin typeface="+mj-ea"/>
                <a:ea typeface="+mj-ea"/>
                <a:cs typeface="+mn-cs"/>
              </a:endParaRPr>
            </a:p>
          </p:txBody>
        </p:sp>
      </p:grpSp>
      <p:grpSp>
        <p:nvGrpSpPr>
          <p:cNvPr id="27" name="组合 26">
            <a:extLst>
              <a:ext uri="{FF2B5EF4-FFF2-40B4-BE49-F238E27FC236}">
                <a16:creationId xmlns:a16="http://schemas.microsoft.com/office/drawing/2014/main" id="{B6B9AE65-63D0-5C5A-A803-5C1D748E1C24}"/>
              </a:ext>
            </a:extLst>
          </p:cNvPr>
          <p:cNvGrpSpPr/>
          <p:nvPr/>
        </p:nvGrpSpPr>
        <p:grpSpPr>
          <a:xfrm>
            <a:off x="5849194" y="1428122"/>
            <a:ext cx="1925703" cy="303029"/>
            <a:chOff x="5849194" y="1169669"/>
            <a:chExt cx="1740065" cy="323597"/>
          </a:xfrm>
        </p:grpSpPr>
        <p:cxnSp>
          <p:nvCxnSpPr>
            <p:cNvPr id="28" name="连接符: 肘形 27">
              <a:extLst>
                <a:ext uri="{FF2B5EF4-FFF2-40B4-BE49-F238E27FC236}">
                  <a16:creationId xmlns:a16="http://schemas.microsoft.com/office/drawing/2014/main" id="{FC855B30-869F-A917-E21B-3481F6FA245D}"/>
                </a:ext>
              </a:extLst>
            </p:cNvPr>
            <p:cNvCxnSpPr>
              <a:cxnSpLocks/>
            </p:cNvCxnSpPr>
            <p:nvPr/>
          </p:nvCxnSpPr>
          <p:spPr>
            <a:xfrm flipV="1">
              <a:off x="5849194" y="1486599"/>
              <a:ext cx="1740065" cy="6667"/>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7BB05121-1260-AC6E-6AF2-B7EA2967D163}"/>
                </a:ext>
              </a:extLst>
            </p:cNvPr>
            <p:cNvSpPr txBox="1"/>
            <p:nvPr/>
          </p:nvSpPr>
          <p:spPr>
            <a:xfrm>
              <a:off x="6079485" y="1169669"/>
              <a:ext cx="1099619" cy="295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dirty="0">
                  <a:solidFill>
                    <a:srgbClr val="FFFFFF"/>
                  </a:solidFill>
                  <a:latin typeface="+mj-ea"/>
                  <a:ea typeface="+mj-ea"/>
                </a:rPr>
                <a:t>能力需求计划</a:t>
              </a:r>
              <a:endParaRPr kumimoji="0" lang="zh-CN" altLang="en-US" sz="1200" b="0" i="0" u="none" strike="noStrike" kern="1200" cap="none" spc="0" normalizeH="0" baseline="0" noProof="0" dirty="0">
                <a:ln>
                  <a:noFill/>
                </a:ln>
                <a:solidFill>
                  <a:srgbClr val="FFFFFF"/>
                </a:solidFill>
                <a:effectLst/>
                <a:uLnTx/>
                <a:uFillTx/>
                <a:latin typeface="+mj-ea"/>
                <a:ea typeface="+mj-ea"/>
                <a:cs typeface="+mn-cs"/>
              </a:endParaRPr>
            </a:p>
          </p:txBody>
        </p:sp>
      </p:grpSp>
      <p:sp>
        <p:nvSpPr>
          <p:cNvPr id="30" name="圆角矩形 2">
            <a:extLst>
              <a:ext uri="{FF2B5EF4-FFF2-40B4-BE49-F238E27FC236}">
                <a16:creationId xmlns:a16="http://schemas.microsoft.com/office/drawing/2014/main" id="{FB73E025-0ACE-E18D-B229-B9B31057FF48}"/>
              </a:ext>
            </a:extLst>
          </p:cNvPr>
          <p:cNvSpPr/>
          <p:nvPr/>
        </p:nvSpPr>
        <p:spPr>
          <a:xfrm>
            <a:off x="2562201" y="5186582"/>
            <a:ext cx="836295" cy="543393"/>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050" b="1" noProof="0" dirty="0">
                <a:solidFill>
                  <a:srgbClr val="000000"/>
                </a:solidFill>
                <a:latin typeface="+mj-ea"/>
                <a:ea typeface="+mj-ea"/>
              </a:rPr>
              <a:t>IBP/CRM/</a:t>
            </a:r>
            <a:r>
              <a:rPr lang="zh-CN" altLang="en-US" sz="1050" b="1" noProof="0" dirty="0">
                <a:solidFill>
                  <a:srgbClr val="000000"/>
                </a:solidFill>
                <a:latin typeface="+mj-ea"/>
                <a:ea typeface="+mj-ea"/>
              </a:rPr>
              <a:t>订单管理</a:t>
            </a:r>
            <a:endParaRPr kumimoji="0" lang="zh-CN" altLang="en-US" sz="1050" b="1" i="0" u="none" strike="noStrike" kern="1200" cap="none" spc="0" normalizeH="0" baseline="0" noProof="0" dirty="0">
              <a:ln>
                <a:noFill/>
              </a:ln>
              <a:solidFill>
                <a:srgbClr val="000000"/>
              </a:solidFill>
              <a:effectLst/>
              <a:uLnTx/>
              <a:uFillTx/>
              <a:latin typeface="+mj-ea"/>
              <a:ea typeface="+mj-ea"/>
            </a:endParaRPr>
          </a:p>
        </p:txBody>
      </p:sp>
      <p:grpSp>
        <p:nvGrpSpPr>
          <p:cNvPr id="31" name="组合 30">
            <a:extLst>
              <a:ext uri="{FF2B5EF4-FFF2-40B4-BE49-F238E27FC236}">
                <a16:creationId xmlns:a16="http://schemas.microsoft.com/office/drawing/2014/main" id="{6754C4DC-F406-9052-C1C5-06F43AD97EF3}"/>
              </a:ext>
            </a:extLst>
          </p:cNvPr>
          <p:cNvGrpSpPr/>
          <p:nvPr/>
        </p:nvGrpSpPr>
        <p:grpSpPr>
          <a:xfrm>
            <a:off x="2980349" y="2113379"/>
            <a:ext cx="1837616" cy="2055140"/>
            <a:chOff x="2980349" y="2113379"/>
            <a:chExt cx="1837616" cy="2055140"/>
          </a:xfrm>
        </p:grpSpPr>
        <p:cxnSp>
          <p:nvCxnSpPr>
            <p:cNvPr id="32" name="连接符: 肘形 31">
              <a:extLst>
                <a:ext uri="{FF2B5EF4-FFF2-40B4-BE49-F238E27FC236}">
                  <a16:creationId xmlns:a16="http://schemas.microsoft.com/office/drawing/2014/main" id="{3765A8BF-BA65-8B9E-E458-D3C6444289F8}"/>
                </a:ext>
              </a:extLst>
            </p:cNvPr>
            <p:cNvCxnSpPr>
              <a:stCxn id="5" idx="2"/>
              <a:endCxn id="23" idx="1"/>
            </p:cNvCxnSpPr>
            <p:nvPr/>
          </p:nvCxnSpPr>
          <p:spPr>
            <a:xfrm rot="16200000" flipH="1">
              <a:off x="2847932" y="2245796"/>
              <a:ext cx="2055140" cy="1790305"/>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26D577D7-C1E0-D23F-33BE-AAE3D913776E}"/>
                </a:ext>
              </a:extLst>
            </p:cNvPr>
            <p:cNvSpPr txBox="1"/>
            <p:nvPr/>
          </p:nvSpPr>
          <p:spPr>
            <a:xfrm>
              <a:off x="3181549" y="3565342"/>
              <a:ext cx="163641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mj-ea"/>
                  <a:ea typeface="+mj-ea"/>
                  <a:cs typeface="+mn-cs"/>
                </a:rPr>
                <a:t>Supply Commit/ETA/ASN</a:t>
              </a:r>
              <a:endParaRPr kumimoji="0" lang="zh-CN" altLang="en-US" sz="1200" b="0" i="0" u="none" strike="noStrike" kern="1200" cap="none" spc="0" normalizeH="0" baseline="0" noProof="0" dirty="0">
                <a:ln>
                  <a:noFill/>
                </a:ln>
                <a:solidFill>
                  <a:srgbClr val="FFFFFF"/>
                </a:solidFill>
                <a:effectLst/>
                <a:uLnTx/>
                <a:uFillTx/>
                <a:latin typeface="+mj-ea"/>
                <a:ea typeface="+mj-ea"/>
                <a:cs typeface="+mn-cs"/>
              </a:endParaRPr>
            </a:p>
          </p:txBody>
        </p:sp>
      </p:grpSp>
      <p:grpSp>
        <p:nvGrpSpPr>
          <p:cNvPr id="34" name="组合 33">
            <a:extLst>
              <a:ext uri="{FF2B5EF4-FFF2-40B4-BE49-F238E27FC236}">
                <a16:creationId xmlns:a16="http://schemas.microsoft.com/office/drawing/2014/main" id="{6816A442-87DF-7DAF-A231-661CC934F565}"/>
              </a:ext>
            </a:extLst>
          </p:cNvPr>
          <p:cNvGrpSpPr/>
          <p:nvPr/>
        </p:nvGrpSpPr>
        <p:grpSpPr>
          <a:xfrm>
            <a:off x="6121416" y="2096598"/>
            <a:ext cx="2195627" cy="2090480"/>
            <a:chOff x="6121416" y="2124541"/>
            <a:chExt cx="2195627" cy="2090480"/>
          </a:xfrm>
        </p:grpSpPr>
        <p:cxnSp>
          <p:nvCxnSpPr>
            <p:cNvPr id="35" name="连接符: 肘形 34">
              <a:extLst>
                <a:ext uri="{FF2B5EF4-FFF2-40B4-BE49-F238E27FC236}">
                  <a16:creationId xmlns:a16="http://schemas.microsoft.com/office/drawing/2014/main" id="{9E212A50-085D-3E31-E841-D12424B59DBE}"/>
                </a:ext>
              </a:extLst>
            </p:cNvPr>
            <p:cNvCxnSpPr>
              <a:cxnSpLocks/>
              <a:stCxn id="9" idx="2"/>
              <a:endCxn id="23" idx="3"/>
            </p:cNvCxnSpPr>
            <p:nvPr/>
          </p:nvCxnSpPr>
          <p:spPr>
            <a:xfrm rot="5400000">
              <a:off x="6183269" y="2062688"/>
              <a:ext cx="2071922" cy="2195627"/>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30E041BC-5907-BF25-2523-AAE210C86121}"/>
                </a:ext>
              </a:extLst>
            </p:cNvPr>
            <p:cNvSpPr txBox="1"/>
            <p:nvPr/>
          </p:nvSpPr>
          <p:spPr>
            <a:xfrm>
              <a:off x="6290246" y="3938022"/>
              <a:ext cx="1499437"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dirty="0">
                  <a:solidFill>
                    <a:srgbClr val="FFFFFF"/>
                  </a:solidFill>
                  <a:latin typeface="+mj-ea"/>
                  <a:ea typeface="+mj-ea"/>
                </a:rPr>
                <a:t>能力规划</a:t>
              </a:r>
              <a:endParaRPr kumimoji="0" lang="zh-CN" altLang="en-US" sz="1200" b="0" i="0" u="none" strike="noStrike" kern="1200" cap="none" spc="0" normalizeH="0" baseline="0" noProof="0" dirty="0">
                <a:ln>
                  <a:noFill/>
                </a:ln>
                <a:solidFill>
                  <a:srgbClr val="FFFFFF"/>
                </a:solidFill>
                <a:effectLst/>
                <a:uLnTx/>
                <a:uFillTx/>
                <a:latin typeface="+mj-ea"/>
                <a:ea typeface="+mj-ea"/>
                <a:cs typeface="+mn-cs"/>
              </a:endParaRPr>
            </a:p>
          </p:txBody>
        </p:sp>
      </p:grpSp>
      <p:grpSp>
        <p:nvGrpSpPr>
          <p:cNvPr id="37" name="组合 36">
            <a:extLst>
              <a:ext uri="{FF2B5EF4-FFF2-40B4-BE49-F238E27FC236}">
                <a16:creationId xmlns:a16="http://schemas.microsoft.com/office/drawing/2014/main" id="{182F946C-20D6-3F89-0436-99B18A607123}"/>
              </a:ext>
            </a:extLst>
          </p:cNvPr>
          <p:cNvGrpSpPr/>
          <p:nvPr/>
        </p:nvGrpSpPr>
        <p:grpSpPr>
          <a:xfrm>
            <a:off x="5446036" y="2096599"/>
            <a:ext cx="2871007" cy="2498479"/>
            <a:chOff x="5446036" y="2085666"/>
            <a:chExt cx="2871007" cy="2375591"/>
          </a:xfrm>
        </p:grpSpPr>
        <p:cxnSp>
          <p:nvCxnSpPr>
            <p:cNvPr id="38" name="连接符: 肘形 37">
              <a:extLst>
                <a:ext uri="{FF2B5EF4-FFF2-40B4-BE49-F238E27FC236}">
                  <a16:creationId xmlns:a16="http://schemas.microsoft.com/office/drawing/2014/main" id="{E62C83EC-493E-36C8-5758-09C12D2E43B5}"/>
                </a:ext>
              </a:extLst>
            </p:cNvPr>
            <p:cNvCxnSpPr>
              <a:cxnSpLocks/>
              <a:stCxn id="23" idx="2"/>
              <a:endCxn id="9" idx="2"/>
            </p:cNvCxnSpPr>
            <p:nvPr/>
          </p:nvCxnSpPr>
          <p:spPr>
            <a:xfrm rot="5400000" flipH="1" flipV="1">
              <a:off x="5767366" y="1764336"/>
              <a:ext cx="2228347" cy="2871007"/>
            </a:xfrm>
            <a:prstGeom prst="bentConnector3">
              <a:avLst>
                <a:gd name="adj1" fmla="val -9754"/>
              </a:avLst>
            </a:prstGeom>
            <a:ln>
              <a:tailEnd type="triangle"/>
            </a:ln>
          </p:spPr>
          <p:style>
            <a:lnRef idx="1">
              <a:schemeClr val="accent1"/>
            </a:lnRef>
            <a:fillRef idx="0">
              <a:schemeClr val="accent1"/>
            </a:fillRef>
            <a:effectRef idx="0">
              <a:schemeClr val="accent1"/>
            </a:effectRef>
            <a:fontRef idx="minor">
              <a:schemeClr val="tx1"/>
            </a:fontRef>
          </p:style>
        </p:cxnSp>
        <p:sp>
          <p:nvSpPr>
            <p:cNvPr id="39" name="文本框 38">
              <a:extLst>
                <a:ext uri="{FF2B5EF4-FFF2-40B4-BE49-F238E27FC236}">
                  <a16:creationId xmlns:a16="http://schemas.microsoft.com/office/drawing/2014/main" id="{E5B3ED4C-978B-0D80-10EB-31F04D80C27A}"/>
                </a:ext>
              </a:extLst>
            </p:cNvPr>
            <p:cNvSpPr txBox="1"/>
            <p:nvPr/>
          </p:nvSpPr>
          <p:spPr>
            <a:xfrm>
              <a:off x="6209782" y="4197882"/>
              <a:ext cx="2093906" cy="2633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工单</a:t>
              </a:r>
            </a:p>
          </p:txBody>
        </p:sp>
      </p:grpSp>
      <p:grpSp>
        <p:nvGrpSpPr>
          <p:cNvPr id="40" name="组合 39">
            <a:extLst>
              <a:ext uri="{FF2B5EF4-FFF2-40B4-BE49-F238E27FC236}">
                <a16:creationId xmlns:a16="http://schemas.microsoft.com/office/drawing/2014/main" id="{B9FFEBB8-D89A-6EB7-6E00-3CA1D28047A3}"/>
              </a:ext>
            </a:extLst>
          </p:cNvPr>
          <p:cNvGrpSpPr/>
          <p:nvPr/>
        </p:nvGrpSpPr>
        <p:grpSpPr>
          <a:xfrm>
            <a:off x="2958115" y="2113379"/>
            <a:ext cx="2487921" cy="2510779"/>
            <a:chOff x="2958115" y="2113379"/>
            <a:chExt cx="2487921" cy="2510779"/>
          </a:xfrm>
        </p:grpSpPr>
        <p:cxnSp>
          <p:nvCxnSpPr>
            <p:cNvPr id="41" name="连接符: 肘形 40">
              <a:extLst>
                <a:ext uri="{FF2B5EF4-FFF2-40B4-BE49-F238E27FC236}">
                  <a16:creationId xmlns:a16="http://schemas.microsoft.com/office/drawing/2014/main" id="{BB3ADC78-81F3-3557-C555-9F6A76591D61}"/>
                </a:ext>
              </a:extLst>
            </p:cNvPr>
            <p:cNvCxnSpPr>
              <a:stCxn id="23" idx="2"/>
              <a:endCxn id="5" idx="2"/>
            </p:cNvCxnSpPr>
            <p:nvPr/>
          </p:nvCxnSpPr>
          <p:spPr>
            <a:xfrm rot="5400000" flipH="1">
              <a:off x="3049775" y="2043954"/>
              <a:ext cx="2326836" cy="2465686"/>
            </a:xfrm>
            <a:prstGeom prst="bentConnector3">
              <a:avLst>
                <a:gd name="adj1" fmla="val -9824"/>
              </a:avLst>
            </a:prstGeom>
            <a:ln>
              <a:tailEnd type="triangle"/>
            </a:ln>
          </p:spPr>
          <p:style>
            <a:lnRef idx="1">
              <a:schemeClr val="accent1"/>
            </a:lnRef>
            <a:fillRef idx="0">
              <a:schemeClr val="accent1"/>
            </a:fillRef>
            <a:effectRef idx="0">
              <a:schemeClr val="accent1"/>
            </a:effectRef>
            <a:fontRef idx="minor">
              <a:schemeClr val="tx1"/>
            </a:fontRef>
          </p:style>
        </p:cxnSp>
        <p:sp>
          <p:nvSpPr>
            <p:cNvPr id="42" name="文本框 41">
              <a:extLst>
                <a:ext uri="{FF2B5EF4-FFF2-40B4-BE49-F238E27FC236}">
                  <a16:creationId xmlns:a16="http://schemas.microsoft.com/office/drawing/2014/main" id="{A1B52B52-71B4-B983-0E04-4AB85AE6F101}"/>
                </a:ext>
              </a:extLst>
            </p:cNvPr>
            <p:cNvSpPr txBox="1"/>
            <p:nvPr/>
          </p:nvSpPr>
          <p:spPr>
            <a:xfrm>
              <a:off x="2958115" y="4347159"/>
              <a:ext cx="206892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mj-ea"/>
                  <a:ea typeface="+mj-ea"/>
                  <a:cs typeface="+mn-cs"/>
                </a:rPr>
                <a:t>Rescheduled</a:t>
              </a: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 </a:t>
              </a:r>
              <a:r>
                <a:rPr kumimoji="0" lang="en-US" altLang="zh-CN" sz="1200" b="0" i="0" u="none" strike="noStrike" kern="1200" cap="none" spc="0" normalizeH="0" baseline="0" noProof="0" dirty="0">
                  <a:ln>
                    <a:noFill/>
                  </a:ln>
                  <a:solidFill>
                    <a:srgbClr val="FFFFFF"/>
                  </a:solidFill>
                  <a:effectLst/>
                  <a:uLnTx/>
                  <a:uFillTx/>
                  <a:latin typeface="+mj-ea"/>
                  <a:ea typeface="+mj-ea"/>
                  <a:cs typeface="+mn-cs"/>
                </a:rPr>
                <a:t>Commit</a:t>
              </a:r>
              <a:endParaRPr kumimoji="0" lang="zh-CN" altLang="en-US" sz="1200" b="0" i="0" u="none" strike="noStrike" kern="1200" cap="none" spc="0" normalizeH="0" baseline="0" noProof="0" dirty="0">
                <a:ln>
                  <a:noFill/>
                </a:ln>
                <a:solidFill>
                  <a:srgbClr val="FFFFFF"/>
                </a:solidFill>
                <a:effectLst/>
                <a:uLnTx/>
                <a:uFillTx/>
                <a:latin typeface="+mj-ea"/>
                <a:ea typeface="+mj-ea"/>
                <a:cs typeface="+mn-cs"/>
              </a:endParaRPr>
            </a:p>
          </p:txBody>
        </p:sp>
      </p:grpSp>
      <p:grpSp>
        <p:nvGrpSpPr>
          <p:cNvPr id="43" name="组合 42">
            <a:extLst>
              <a:ext uri="{FF2B5EF4-FFF2-40B4-BE49-F238E27FC236}">
                <a16:creationId xmlns:a16="http://schemas.microsoft.com/office/drawing/2014/main" id="{52636AB2-C093-13C5-3CC7-D1A8F4BF2390}"/>
              </a:ext>
            </a:extLst>
          </p:cNvPr>
          <p:cNvGrpSpPr/>
          <p:nvPr/>
        </p:nvGrpSpPr>
        <p:grpSpPr>
          <a:xfrm>
            <a:off x="3398496" y="4440215"/>
            <a:ext cx="2047540" cy="1018064"/>
            <a:chOff x="3398496" y="4440215"/>
            <a:chExt cx="2047540" cy="1018064"/>
          </a:xfrm>
        </p:grpSpPr>
        <p:cxnSp>
          <p:nvCxnSpPr>
            <p:cNvPr id="44" name="连接符: 肘形 43">
              <a:extLst>
                <a:ext uri="{FF2B5EF4-FFF2-40B4-BE49-F238E27FC236}">
                  <a16:creationId xmlns:a16="http://schemas.microsoft.com/office/drawing/2014/main" id="{EEAAD956-36B6-AD7C-D71D-D54A5AB5FA6D}"/>
                </a:ext>
              </a:extLst>
            </p:cNvPr>
            <p:cNvCxnSpPr>
              <a:stCxn id="23" idx="2"/>
              <a:endCxn id="30" idx="3"/>
            </p:cNvCxnSpPr>
            <p:nvPr/>
          </p:nvCxnSpPr>
          <p:spPr>
            <a:xfrm rot="5400000">
              <a:off x="3913234" y="3925477"/>
              <a:ext cx="1018064" cy="2047540"/>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45" name="文本框 44">
              <a:extLst>
                <a:ext uri="{FF2B5EF4-FFF2-40B4-BE49-F238E27FC236}">
                  <a16:creationId xmlns:a16="http://schemas.microsoft.com/office/drawing/2014/main" id="{95D1B145-DD59-41E5-1663-AC60D873E140}"/>
                </a:ext>
              </a:extLst>
            </p:cNvPr>
            <p:cNvSpPr txBox="1"/>
            <p:nvPr/>
          </p:nvSpPr>
          <p:spPr>
            <a:xfrm>
              <a:off x="3457594" y="5061061"/>
              <a:ext cx="1914577"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交付计划</a:t>
              </a:r>
            </a:p>
          </p:txBody>
        </p:sp>
      </p:grpSp>
      <p:sp>
        <p:nvSpPr>
          <p:cNvPr id="46" name="圆角矩形 2">
            <a:extLst>
              <a:ext uri="{FF2B5EF4-FFF2-40B4-BE49-F238E27FC236}">
                <a16:creationId xmlns:a16="http://schemas.microsoft.com/office/drawing/2014/main" id="{B228A9D6-6EF4-930E-CE99-8D44B8DE234E}"/>
              </a:ext>
            </a:extLst>
          </p:cNvPr>
          <p:cNvSpPr/>
          <p:nvPr/>
        </p:nvSpPr>
        <p:spPr>
          <a:xfrm>
            <a:off x="2562200" y="6167343"/>
            <a:ext cx="836295" cy="543393"/>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1200" b="1" dirty="0">
                <a:solidFill>
                  <a:srgbClr val="000000"/>
                </a:solidFill>
                <a:latin typeface="+mj-ea"/>
                <a:ea typeface="+mj-ea"/>
              </a:rPr>
              <a:t>物流（</a:t>
            </a:r>
            <a:r>
              <a:rPr lang="en-US" altLang="zh-CN" sz="1200" b="1" dirty="0">
                <a:solidFill>
                  <a:srgbClr val="000000"/>
                </a:solidFill>
                <a:latin typeface="+mj-ea"/>
                <a:ea typeface="+mj-ea"/>
              </a:rPr>
              <a:t>GL</a:t>
            </a:r>
            <a:r>
              <a:rPr lang="zh-CN" altLang="en-US" sz="1200" b="1" dirty="0">
                <a:solidFill>
                  <a:srgbClr val="000000"/>
                </a:solidFill>
                <a:latin typeface="+mj-ea"/>
                <a:ea typeface="+mj-ea"/>
              </a:rPr>
              <a:t>）</a:t>
            </a:r>
            <a:endParaRPr kumimoji="0" lang="zh-CN" altLang="en-US" sz="1200" b="1" i="0" u="none" strike="noStrike" kern="1200" cap="none" spc="0" normalizeH="0" baseline="0" noProof="0" dirty="0">
              <a:ln>
                <a:noFill/>
              </a:ln>
              <a:solidFill>
                <a:srgbClr val="000000"/>
              </a:solidFill>
              <a:effectLst/>
              <a:uLnTx/>
              <a:uFillTx/>
              <a:latin typeface="+mj-ea"/>
              <a:ea typeface="+mj-ea"/>
            </a:endParaRPr>
          </a:p>
        </p:txBody>
      </p:sp>
      <p:grpSp>
        <p:nvGrpSpPr>
          <p:cNvPr id="47" name="组合 46">
            <a:extLst>
              <a:ext uri="{FF2B5EF4-FFF2-40B4-BE49-F238E27FC236}">
                <a16:creationId xmlns:a16="http://schemas.microsoft.com/office/drawing/2014/main" id="{35CE55EC-ABC0-9872-F3CF-8F77A11A80D7}"/>
              </a:ext>
            </a:extLst>
          </p:cNvPr>
          <p:cNvGrpSpPr/>
          <p:nvPr/>
        </p:nvGrpSpPr>
        <p:grpSpPr>
          <a:xfrm>
            <a:off x="3398496" y="4440215"/>
            <a:ext cx="2047541" cy="1998825"/>
            <a:chOff x="3398496" y="4440215"/>
            <a:chExt cx="2047541" cy="1998825"/>
          </a:xfrm>
        </p:grpSpPr>
        <p:cxnSp>
          <p:nvCxnSpPr>
            <p:cNvPr id="48" name="连接符: 肘形 47">
              <a:extLst>
                <a:ext uri="{FF2B5EF4-FFF2-40B4-BE49-F238E27FC236}">
                  <a16:creationId xmlns:a16="http://schemas.microsoft.com/office/drawing/2014/main" id="{4114F769-EBE3-78F4-D475-AA4CB34EBD22}"/>
                </a:ext>
              </a:extLst>
            </p:cNvPr>
            <p:cNvCxnSpPr>
              <a:stCxn id="23" idx="2"/>
              <a:endCxn id="46" idx="3"/>
            </p:cNvCxnSpPr>
            <p:nvPr/>
          </p:nvCxnSpPr>
          <p:spPr>
            <a:xfrm rot="5400000">
              <a:off x="3422854" y="4415857"/>
              <a:ext cx="1998825" cy="2047541"/>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6370BE1F-FAED-2F1F-3C7F-605C7A75A60E}"/>
                </a:ext>
              </a:extLst>
            </p:cNvPr>
            <p:cNvSpPr txBox="1"/>
            <p:nvPr/>
          </p:nvSpPr>
          <p:spPr>
            <a:xfrm>
              <a:off x="3569352" y="6057560"/>
              <a:ext cx="1774577"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发货通知</a:t>
              </a:r>
            </a:p>
          </p:txBody>
        </p:sp>
      </p:grpSp>
      <p:sp>
        <p:nvSpPr>
          <p:cNvPr id="50" name="圆角矩形 2">
            <a:extLst>
              <a:ext uri="{FF2B5EF4-FFF2-40B4-BE49-F238E27FC236}">
                <a16:creationId xmlns:a16="http://schemas.microsoft.com/office/drawing/2014/main" id="{8C6D8CC7-8A02-4CD1-9D39-0382BCECF588}"/>
              </a:ext>
            </a:extLst>
          </p:cNvPr>
          <p:cNvSpPr/>
          <p:nvPr/>
        </p:nvSpPr>
        <p:spPr>
          <a:xfrm>
            <a:off x="7852109" y="5165607"/>
            <a:ext cx="971321" cy="543393"/>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solidFill>
                  <a:srgbClr val="000000"/>
                </a:solidFill>
                <a:effectLst/>
                <a:uLnTx/>
                <a:uFillTx/>
                <a:latin typeface="+mj-ea"/>
                <a:ea typeface="+mj-ea"/>
                <a:cs typeface="+mn-cs"/>
              </a:rPr>
              <a:t>IOP</a:t>
            </a:r>
            <a:r>
              <a:rPr kumimoji="0" lang="en-US" altLang="zh-CN" sz="1200" b="0" i="0" u="none" strike="noStrike" kern="1200" cap="none" spc="0" normalizeH="0" baseline="0" noProof="0" dirty="0">
                <a:ln>
                  <a:noFill/>
                </a:ln>
                <a:solidFill>
                  <a:srgbClr val="000000"/>
                </a:solidFill>
                <a:effectLst/>
                <a:uLnTx/>
                <a:uFillTx/>
                <a:latin typeface="+mj-ea"/>
                <a:ea typeface="+mj-ea"/>
                <a:cs typeface="+mn-cs"/>
              </a:rPr>
              <a:t>- </a:t>
            </a:r>
            <a:r>
              <a:rPr lang="en-US" altLang="zh-CN" sz="1200" b="1" dirty="0">
                <a:solidFill>
                  <a:srgbClr val="000000"/>
                </a:solidFill>
                <a:latin typeface="+mj-ea"/>
                <a:ea typeface="+mj-ea"/>
              </a:rPr>
              <a:t>Call</a:t>
            </a:r>
            <a:r>
              <a:rPr lang="zh-CN" altLang="en-US" sz="1200" b="1" dirty="0">
                <a:solidFill>
                  <a:srgbClr val="000000"/>
                </a:solidFill>
                <a:latin typeface="+mj-ea"/>
                <a:ea typeface="+mj-ea"/>
              </a:rPr>
              <a:t>料</a:t>
            </a:r>
            <a:endParaRPr kumimoji="0" lang="zh-CN" altLang="en-US" sz="1200" b="1" i="0" u="none" strike="noStrike" kern="1200" cap="none" spc="0" normalizeH="0" baseline="0" noProof="0" dirty="0">
              <a:ln>
                <a:noFill/>
              </a:ln>
              <a:solidFill>
                <a:srgbClr val="000000"/>
              </a:solidFill>
              <a:effectLst/>
              <a:uLnTx/>
              <a:uFillTx/>
              <a:latin typeface="+mj-ea"/>
              <a:ea typeface="+mj-ea"/>
            </a:endParaRPr>
          </a:p>
        </p:txBody>
      </p:sp>
      <p:grpSp>
        <p:nvGrpSpPr>
          <p:cNvPr id="51" name="组合 50">
            <a:extLst>
              <a:ext uri="{FF2B5EF4-FFF2-40B4-BE49-F238E27FC236}">
                <a16:creationId xmlns:a16="http://schemas.microsoft.com/office/drawing/2014/main" id="{E35AD943-A095-E7FE-6E7A-E1D3A79B6134}"/>
              </a:ext>
            </a:extLst>
          </p:cNvPr>
          <p:cNvGrpSpPr/>
          <p:nvPr/>
        </p:nvGrpSpPr>
        <p:grpSpPr>
          <a:xfrm>
            <a:off x="6514147" y="4902981"/>
            <a:ext cx="2125770" cy="534581"/>
            <a:chOff x="6520132" y="4692844"/>
            <a:chExt cx="2125770" cy="534581"/>
          </a:xfrm>
        </p:grpSpPr>
        <p:cxnSp>
          <p:nvCxnSpPr>
            <p:cNvPr id="52" name="连接符: 肘形 51">
              <a:extLst>
                <a:ext uri="{FF2B5EF4-FFF2-40B4-BE49-F238E27FC236}">
                  <a16:creationId xmlns:a16="http://schemas.microsoft.com/office/drawing/2014/main" id="{B0397E25-B673-FE3D-8BE9-F64F84026677}"/>
                </a:ext>
              </a:extLst>
            </p:cNvPr>
            <p:cNvCxnSpPr>
              <a:cxnSpLocks/>
              <a:stCxn id="50" idx="1"/>
              <a:endCxn id="68" idx="3"/>
            </p:cNvCxnSpPr>
            <p:nvPr/>
          </p:nvCxnSpPr>
          <p:spPr>
            <a:xfrm rot="10800000" flipV="1">
              <a:off x="6520132" y="5227167"/>
              <a:ext cx="1337962" cy="258"/>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53" name="文本框 52">
              <a:extLst>
                <a:ext uri="{FF2B5EF4-FFF2-40B4-BE49-F238E27FC236}">
                  <a16:creationId xmlns:a16="http://schemas.microsoft.com/office/drawing/2014/main" id="{16A08B54-EB37-A825-3E6A-60999B7CC68F}"/>
                </a:ext>
              </a:extLst>
            </p:cNvPr>
            <p:cNvSpPr txBox="1"/>
            <p:nvPr/>
          </p:nvSpPr>
          <p:spPr>
            <a:xfrm>
              <a:off x="6551996" y="4692844"/>
              <a:ext cx="209390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dirty="0">
                  <a:solidFill>
                    <a:srgbClr val="FFFFFF"/>
                  </a:solidFill>
                  <a:latin typeface="+mj-ea"/>
                  <a:ea typeface="+mj-ea"/>
                </a:rPr>
                <a:t>拉料信号</a:t>
              </a:r>
              <a:endParaRPr lang="en-US" altLang="zh-CN" sz="1200" dirty="0">
                <a:solidFill>
                  <a:srgbClr val="FFFFFF"/>
                </a:solidFill>
                <a:latin typeface="+mj-ea"/>
                <a:ea typeface="+mj-ea"/>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dirty="0">
                  <a:solidFill>
                    <a:srgbClr val="FFFFFF"/>
                  </a:solidFill>
                  <a:latin typeface="+mj-ea"/>
                  <a:ea typeface="+mj-ea"/>
                </a:rPr>
                <a:t>转储单</a:t>
              </a:r>
              <a:endParaRPr kumimoji="0" lang="zh-CN" altLang="en-US" sz="1200" b="0" i="0" u="none" strike="noStrike" kern="1200" cap="none" spc="0" normalizeH="0" baseline="0" noProof="0" dirty="0">
                <a:ln>
                  <a:noFill/>
                </a:ln>
                <a:solidFill>
                  <a:srgbClr val="FFFFFF"/>
                </a:solidFill>
                <a:effectLst/>
                <a:uLnTx/>
                <a:uFillTx/>
                <a:latin typeface="+mj-ea"/>
                <a:ea typeface="+mj-ea"/>
                <a:cs typeface="+mn-cs"/>
              </a:endParaRPr>
            </a:p>
          </p:txBody>
        </p:sp>
      </p:grpSp>
      <p:sp>
        <p:nvSpPr>
          <p:cNvPr id="54" name="圆角矩形 2">
            <a:extLst>
              <a:ext uri="{FF2B5EF4-FFF2-40B4-BE49-F238E27FC236}">
                <a16:creationId xmlns:a16="http://schemas.microsoft.com/office/drawing/2014/main" id="{44B18D14-4A80-1C9A-5DDB-7B0246374828}"/>
              </a:ext>
            </a:extLst>
          </p:cNvPr>
          <p:cNvSpPr/>
          <p:nvPr/>
        </p:nvSpPr>
        <p:spPr>
          <a:xfrm>
            <a:off x="9693737" y="6003972"/>
            <a:ext cx="836295" cy="543393"/>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solidFill>
                  <a:srgbClr val="000000"/>
                </a:solidFill>
                <a:effectLst/>
                <a:uLnTx/>
                <a:uFillTx/>
                <a:latin typeface="+mj-ea"/>
                <a:ea typeface="+mj-ea"/>
                <a:cs typeface="+mn-cs"/>
              </a:rPr>
              <a:t>MES</a:t>
            </a:r>
            <a:endParaRPr kumimoji="0" lang="zh-CN" altLang="en-US" sz="1200" b="1" i="0" u="none" strike="noStrike" kern="1200" cap="none" spc="0" normalizeH="0" baseline="0" noProof="0" dirty="0">
              <a:ln>
                <a:noFill/>
              </a:ln>
              <a:solidFill>
                <a:srgbClr val="000000"/>
              </a:solidFill>
              <a:effectLst/>
              <a:uLnTx/>
              <a:uFillTx/>
              <a:latin typeface="+mj-ea"/>
              <a:ea typeface="+mj-ea"/>
              <a:cs typeface="+mn-cs"/>
            </a:endParaRPr>
          </a:p>
        </p:txBody>
      </p:sp>
      <p:sp>
        <p:nvSpPr>
          <p:cNvPr id="55" name="圆角矩形 2">
            <a:extLst>
              <a:ext uri="{FF2B5EF4-FFF2-40B4-BE49-F238E27FC236}">
                <a16:creationId xmlns:a16="http://schemas.microsoft.com/office/drawing/2014/main" id="{80A27F88-CFA6-E79D-C73E-5180AB036579}"/>
              </a:ext>
            </a:extLst>
          </p:cNvPr>
          <p:cNvSpPr/>
          <p:nvPr/>
        </p:nvSpPr>
        <p:spPr>
          <a:xfrm>
            <a:off x="9429819" y="3874425"/>
            <a:ext cx="1364135" cy="543393"/>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solidFill>
                  <a:srgbClr val="000000"/>
                </a:solidFill>
                <a:effectLst/>
                <a:uLnTx/>
                <a:uFillTx/>
                <a:latin typeface="+mj-ea"/>
                <a:ea typeface="+mj-ea"/>
                <a:cs typeface="+mn-cs"/>
              </a:rPr>
              <a:t>IOP – </a:t>
            </a:r>
            <a:r>
              <a:rPr lang="zh-CN" altLang="en-US" sz="1200" b="1" dirty="0">
                <a:solidFill>
                  <a:srgbClr val="000000"/>
                </a:solidFill>
                <a:latin typeface="+mj-ea"/>
                <a:ea typeface="+mj-ea"/>
              </a:rPr>
              <a:t>调度（</a:t>
            </a:r>
            <a:r>
              <a:rPr kumimoji="0" lang="en-US" altLang="zh-CN" sz="1200" b="1" i="0" u="none" strike="noStrike" kern="1200" cap="none" spc="0" normalizeH="0" baseline="0" noProof="0" dirty="0">
                <a:ln>
                  <a:noFill/>
                </a:ln>
                <a:solidFill>
                  <a:srgbClr val="000000"/>
                </a:solidFill>
                <a:effectLst/>
                <a:uLnTx/>
                <a:uFillTx/>
                <a:latin typeface="+mj-ea"/>
                <a:ea typeface="+mj-ea"/>
                <a:cs typeface="+mn-cs"/>
              </a:rPr>
              <a:t>Detailed Scheduling</a:t>
            </a:r>
            <a:r>
              <a:rPr kumimoji="0" lang="zh-CN" altLang="en-US" sz="1200" b="1" i="0" u="none" strike="noStrike" kern="1200" cap="none" spc="0" normalizeH="0" baseline="0" noProof="0" dirty="0">
                <a:ln>
                  <a:noFill/>
                </a:ln>
                <a:solidFill>
                  <a:srgbClr val="000000"/>
                </a:solidFill>
                <a:effectLst/>
                <a:uLnTx/>
                <a:uFillTx/>
                <a:latin typeface="+mj-ea"/>
                <a:ea typeface="+mj-ea"/>
                <a:cs typeface="+mn-cs"/>
              </a:rPr>
              <a:t>）</a:t>
            </a:r>
          </a:p>
        </p:txBody>
      </p:sp>
      <p:grpSp>
        <p:nvGrpSpPr>
          <p:cNvPr id="56" name="组合 55">
            <a:extLst>
              <a:ext uri="{FF2B5EF4-FFF2-40B4-BE49-F238E27FC236}">
                <a16:creationId xmlns:a16="http://schemas.microsoft.com/office/drawing/2014/main" id="{1538731E-5826-9B9E-E139-8A4D12479861}"/>
              </a:ext>
            </a:extLst>
          </p:cNvPr>
          <p:cNvGrpSpPr/>
          <p:nvPr/>
        </p:nvGrpSpPr>
        <p:grpSpPr>
          <a:xfrm>
            <a:off x="8577001" y="1736552"/>
            <a:ext cx="1581798" cy="2137873"/>
            <a:chOff x="8577001" y="1736552"/>
            <a:chExt cx="1581798" cy="2137873"/>
          </a:xfrm>
        </p:grpSpPr>
        <p:cxnSp>
          <p:nvCxnSpPr>
            <p:cNvPr id="57" name="连接符: 肘形 56">
              <a:extLst>
                <a:ext uri="{FF2B5EF4-FFF2-40B4-BE49-F238E27FC236}">
                  <a16:creationId xmlns:a16="http://schemas.microsoft.com/office/drawing/2014/main" id="{628ADF5B-92AE-DBE3-B8E0-634904CA3790}"/>
                </a:ext>
              </a:extLst>
            </p:cNvPr>
            <p:cNvCxnSpPr>
              <a:stCxn id="9" idx="3"/>
              <a:endCxn id="55" idx="0"/>
            </p:cNvCxnSpPr>
            <p:nvPr/>
          </p:nvCxnSpPr>
          <p:spPr>
            <a:xfrm>
              <a:off x="8859187" y="1736552"/>
              <a:ext cx="1252700" cy="2137873"/>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58" name="文本框 57">
              <a:extLst>
                <a:ext uri="{FF2B5EF4-FFF2-40B4-BE49-F238E27FC236}">
                  <a16:creationId xmlns:a16="http://schemas.microsoft.com/office/drawing/2014/main" id="{EB16396D-BF23-2542-0CEC-E6120370D703}"/>
                </a:ext>
              </a:extLst>
            </p:cNvPr>
            <p:cNvSpPr txBox="1"/>
            <p:nvPr/>
          </p:nvSpPr>
          <p:spPr>
            <a:xfrm>
              <a:off x="8577001" y="2491916"/>
              <a:ext cx="1581798"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工单</a:t>
              </a:r>
            </a:p>
          </p:txBody>
        </p:sp>
      </p:grpSp>
      <p:grpSp>
        <p:nvGrpSpPr>
          <p:cNvPr id="59" name="组合 58">
            <a:extLst>
              <a:ext uri="{FF2B5EF4-FFF2-40B4-BE49-F238E27FC236}">
                <a16:creationId xmlns:a16="http://schemas.microsoft.com/office/drawing/2014/main" id="{D7305B4A-A0F0-91C1-3D49-730A227EF419}"/>
              </a:ext>
            </a:extLst>
          </p:cNvPr>
          <p:cNvGrpSpPr/>
          <p:nvPr/>
        </p:nvGrpSpPr>
        <p:grpSpPr>
          <a:xfrm>
            <a:off x="10111885" y="4417818"/>
            <a:ext cx="1543143" cy="1586154"/>
            <a:chOff x="10111885" y="4417818"/>
            <a:chExt cx="1543143" cy="1586154"/>
          </a:xfrm>
        </p:grpSpPr>
        <p:cxnSp>
          <p:nvCxnSpPr>
            <p:cNvPr id="60" name="连接符: 肘形 59">
              <a:extLst>
                <a:ext uri="{FF2B5EF4-FFF2-40B4-BE49-F238E27FC236}">
                  <a16:creationId xmlns:a16="http://schemas.microsoft.com/office/drawing/2014/main" id="{8486AA02-CBEC-9EC4-2C38-367DA268E4FA}"/>
                </a:ext>
              </a:extLst>
            </p:cNvPr>
            <p:cNvCxnSpPr>
              <a:stCxn id="55" idx="2"/>
              <a:endCxn id="54" idx="0"/>
            </p:cNvCxnSpPr>
            <p:nvPr/>
          </p:nvCxnSpPr>
          <p:spPr>
            <a:xfrm rot="5400000">
              <a:off x="9318809" y="5210894"/>
              <a:ext cx="1586154" cy="2"/>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17F24E29-F2E3-0848-1226-01A43C8CCD11}"/>
                </a:ext>
              </a:extLst>
            </p:cNvPr>
            <p:cNvSpPr txBox="1"/>
            <p:nvPr/>
          </p:nvSpPr>
          <p:spPr>
            <a:xfrm>
              <a:off x="10111885" y="4649205"/>
              <a:ext cx="154314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工单排序</a:t>
              </a:r>
            </a:p>
          </p:txBody>
        </p:sp>
      </p:grpSp>
      <p:grpSp>
        <p:nvGrpSpPr>
          <p:cNvPr id="62" name="组合 61">
            <a:extLst>
              <a:ext uri="{FF2B5EF4-FFF2-40B4-BE49-F238E27FC236}">
                <a16:creationId xmlns:a16="http://schemas.microsoft.com/office/drawing/2014/main" id="{F1D423EC-4474-796F-5662-54DD30C36EC4}"/>
              </a:ext>
            </a:extLst>
          </p:cNvPr>
          <p:cNvGrpSpPr/>
          <p:nvPr/>
        </p:nvGrpSpPr>
        <p:grpSpPr>
          <a:xfrm>
            <a:off x="8812138" y="4417819"/>
            <a:ext cx="1406547" cy="1019486"/>
            <a:chOff x="8812138" y="4417819"/>
            <a:chExt cx="1406547" cy="1019486"/>
          </a:xfrm>
        </p:grpSpPr>
        <p:cxnSp>
          <p:nvCxnSpPr>
            <p:cNvPr id="63" name="连接符: 肘形 62">
              <a:extLst>
                <a:ext uri="{FF2B5EF4-FFF2-40B4-BE49-F238E27FC236}">
                  <a16:creationId xmlns:a16="http://schemas.microsoft.com/office/drawing/2014/main" id="{0CED379F-F94A-8192-484E-E1FAA3B1FC3A}"/>
                </a:ext>
              </a:extLst>
            </p:cNvPr>
            <p:cNvCxnSpPr>
              <a:cxnSpLocks/>
              <a:stCxn id="55" idx="2"/>
              <a:endCxn id="50" idx="3"/>
            </p:cNvCxnSpPr>
            <p:nvPr/>
          </p:nvCxnSpPr>
          <p:spPr>
            <a:xfrm rot="5400000">
              <a:off x="8957916" y="4283333"/>
              <a:ext cx="1019486" cy="1288457"/>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1491E300-F4B7-284A-BA51-A692A62F6D84}"/>
                </a:ext>
              </a:extLst>
            </p:cNvPr>
            <p:cNvSpPr txBox="1"/>
            <p:nvPr/>
          </p:nvSpPr>
          <p:spPr>
            <a:xfrm>
              <a:off x="8812138" y="4787705"/>
              <a:ext cx="1406547"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排序</a:t>
              </a:r>
              <a:endParaRPr kumimoji="0" lang="en-US" altLang="zh-CN" sz="1200" b="0" i="0" u="none" strike="noStrike" kern="1200" cap="none" spc="0" normalizeH="0" baseline="0" noProof="0" dirty="0">
                <a:ln>
                  <a:noFill/>
                </a:ln>
                <a:solidFill>
                  <a:srgbClr val="FFFFFF"/>
                </a:solidFill>
                <a:effectLst/>
                <a:uLnTx/>
                <a:uFillTx/>
                <a:latin typeface="+mj-ea"/>
                <a:ea typeface="+mj-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工单行项目</a:t>
              </a:r>
              <a:endParaRPr kumimoji="0" lang="en-US" altLang="zh-CN" sz="1200" b="0" i="0" u="none" strike="noStrike" kern="1200" cap="none" spc="0" normalizeH="0" baseline="0" noProof="0" dirty="0">
                <a:ln>
                  <a:noFill/>
                </a:ln>
                <a:solidFill>
                  <a:srgbClr val="FFFFFF"/>
                </a:solidFill>
                <a:effectLst/>
                <a:uLnTx/>
                <a:uFillTx/>
                <a:latin typeface="+mj-ea"/>
                <a:ea typeface="+mj-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dirty="0">
                  <a:solidFill>
                    <a:srgbClr val="FFFFFF"/>
                  </a:solidFill>
                  <a:latin typeface="+mj-ea"/>
                  <a:ea typeface="+mj-ea"/>
                </a:rPr>
                <a:t>地点</a:t>
              </a:r>
              <a:endParaRPr kumimoji="0" lang="zh-CN" altLang="en-US" sz="1200" b="0" i="0" u="none" strike="noStrike" kern="1200" cap="none" spc="0" normalizeH="0" baseline="0" noProof="0" dirty="0">
                <a:ln>
                  <a:noFill/>
                </a:ln>
                <a:solidFill>
                  <a:srgbClr val="FFFFFF"/>
                </a:solidFill>
                <a:effectLst/>
                <a:uLnTx/>
                <a:uFillTx/>
                <a:latin typeface="+mj-ea"/>
                <a:ea typeface="+mj-ea"/>
                <a:cs typeface="+mn-cs"/>
              </a:endParaRPr>
            </a:p>
          </p:txBody>
        </p:sp>
      </p:grpSp>
      <p:grpSp>
        <p:nvGrpSpPr>
          <p:cNvPr id="65" name="组合 64">
            <a:extLst>
              <a:ext uri="{FF2B5EF4-FFF2-40B4-BE49-F238E27FC236}">
                <a16:creationId xmlns:a16="http://schemas.microsoft.com/office/drawing/2014/main" id="{093C5CE1-7FC3-021D-7218-31B45263350C}"/>
              </a:ext>
            </a:extLst>
          </p:cNvPr>
          <p:cNvGrpSpPr/>
          <p:nvPr/>
        </p:nvGrpSpPr>
        <p:grpSpPr>
          <a:xfrm>
            <a:off x="6096000" y="5709000"/>
            <a:ext cx="2241770" cy="589301"/>
            <a:chOff x="7443409" y="3515070"/>
            <a:chExt cx="2241770" cy="589301"/>
          </a:xfrm>
        </p:grpSpPr>
        <p:cxnSp>
          <p:nvCxnSpPr>
            <p:cNvPr id="66" name="连接符: 肘形 65">
              <a:extLst>
                <a:ext uri="{FF2B5EF4-FFF2-40B4-BE49-F238E27FC236}">
                  <a16:creationId xmlns:a16="http://schemas.microsoft.com/office/drawing/2014/main" id="{7EAB330A-DF4B-50FE-EE5D-9A910F54C1DB}"/>
                </a:ext>
              </a:extLst>
            </p:cNvPr>
            <p:cNvCxnSpPr>
              <a:cxnSpLocks/>
              <a:stCxn id="68" idx="2"/>
              <a:endCxn id="50" idx="2"/>
            </p:cNvCxnSpPr>
            <p:nvPr/>
          </p:nvCxnSpPr>
          <p:spPr>
            <a:xfrm rot="5400000" flipH="1" flipV="1">
              <a:off x="8564165" y="2394314"/>
              <a:ext cx="258" cy="2241770"/>
            </a:xfrm>
            <a:prstGeom prst="bentConnector3">
              <a:avLst>
                <a:gd name="adj1" fmla="val -88604651"/>
              </a:avLst>
            </a:prstGeom>
            <a:ln>
              <a:tailEnd type="triangle"/>
            </a:ln>
          </p:spPr>
          <p:style>
            <a:lnRef idx="1">
              <a:schemeClr val="accent1"/>
            </a:lnRef>
            <a:fillRef idx="0">
              <a:schemeClr val="accent1"/>
            </a:fillRef>
            <a:effectRef idx="0">
              <a:schemeClr val="accent1"/>
            </a:effectRef>
            <a:fontRef idx="minor">
              <a:schemeClr val="tx1"/>
            </a:fontRef>
          </p:style>
        </p:cxnSp>
        <p:sp>
          <p:nvSpPr>
            <p:cNvPr id="67" name="文本框 66">
              <a:extLst>
                <a:ext uri="{FF2B5EF4-FFF2-40B4-BE49-F238E27FC236}">
                  <a16:creationId xmlns:a16="http://schemas.microsoft.com/office/drawing/2014/main" id="{35AD34A6-148D-6C07-7F72-8E85D83CFDAB}"/>
                </a:ext>
              </a:extLst>
            </p:cNvPr>
            <p:cNvSpPr txBox="1"/>
            <p:nvPr/>
          </p:nvSpPr>
          <p:spPr>
            <a:xfrm>
              <a:off x="8040472" y="3827372"/>
              <a:ext cx="1127344"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转储状态</a:t>
              </a:r>
            </a:p>
          </p:txBody>
        </p:sp>
      </p:grpSp>
      <p:sp>
        <p:nvSpPr>
          <p:cNvPr id="68" name="圆角矩形 2">
            <a:extLst>
              <a:ext uri="{FF2B5EF4-FFF2-40B4-BE49-F238E27FC236}">
                <a16:creationId xmlns:a16="http://schemas.microsoft.com/office/drawing/2014/main" id="{6FAC6E6A-79D4-9B76-CFF8-0ED692574F14}"/>
              </a:ext>
            </a:extLst>
          </p:cNvPr>
          <p:cNvSpPr/>
          <p:nvPr/>
        </p:nvSpPr>
        <p:spPr>
          <a:xfrm>
            <a:off x="5677852" y="5165865"/>
            <a:ext cx="836295" cy="543393"/>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solidFill>
                  <a:srgbClr val="000000"/>
                </a:solidFill>
                <a:effectLst/>
                <a:uLnTx/>
                <a:uFillTx/>
                <a:latin typeface="+mj-ea"/>
                <a:ea typeface="+mj-ea"/>
                <a:cs typeface="+mn-cs"/>
              </a:rPr>
              <a:t>WMS</a:t>
            </a:r>
            <a:endParaRPr kumimoji="0" lang="zh-CN" altLang="en-US" sz="1200" b="1" i="0" u="none" strike="noStrike" kern="1200" cap="none" spc="0" normalizeH="0" baseline="0" noProof="0" dirty="0">
              <a:ln>
                <a:noFill/>
              </a:ln>
              <a:solidFill>
                <a:srgbClr val="000000"/>
              </a:solidFill>
              <a:effectLst/>
              <a:uLnTx/>
              <a:uFillTx/>
              <a:latin typeface="+mj-ea"/>
              <a:ea typeface="+mj-ea"/>
              <a:cs typeface="+mn-cs"/>
            </a:endParaRPr>
          </a:p>
        </p:txBody>
      </p:sp>
      <p:grpSp>
        <p:nvGrpSpPr>
          <p:cNvPr id="69" name="组合 68">
            <a:extLst>
              <a:ext uri="{FF2B5EF4-FFF2-40B4-BE49-F238E27FC236}">
                <a16:creationId xmlns:a16="http://schemas.microsoft.com/office/drawing/2014/main" id="{E85DEA29-EBC8-C519-7E68-01DF6C545426}"/>
              </a:ext>
            </a:extLst>
          </p:cNvPr>
          <p:cNvGrpSpPr/>
          <p:nvPr/>
        </p:nvGrpSpPr>
        <p:grpSpPr>
          <a:xfrm>
            <a:off x="8311182" y="2096597"/>
            <a:ext cx="1051893" cy="3037216"/>
            <a:chOff x="8311182" y="2096597"/>
            <a:chExt cx="1051893" cy="3037216"/>
          </a:xfrm>
        </p:grpSpPr>
        <p:cxnSp>
          <p:nvCxnSpPr>
            <p:cNvPr id="70" name="直接箭头连接符 69">
              <a:extLst>
                <a:ext uri="{FF2B5EF4-FFF2-40B4-BE49-F238E27FC236}">
                  <a16:creationId xmlns:a16="http://schemas.microsoft.com/office/drawing/2014/main" id="{62E64E3C-460F-0080-1BE6-0A3A27C5683B}"/>
                </a:ext>
              </a:extLst>
            </p:cNvPr>
            <p:cNvCxnSpPr>
              <a:cxnSpLocks/>
              <a:endCxn id="9" idx="2"/>
            </p:cNvCxnSpPr>
            <p:nvPr/>
          </p:nvCxnSpPr>
          <p:spPr>
            <a:xfrm flipV="1">
              <a:off x="8311182" y="2096597"/>
              <a:ext cx="5861" cy="303721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71" name="文本框 70">
              <a:extLst>
                <a:ext uri="{FF2B5EF4-FFF2-40B4-BE49-F238E27FC236}">
                  <a16:creationId xmlns:a16="http://schemas.microsoft.com/office/drawing/2014/main" id="{3F5ADB90-F4F4-B056-0233-57B2CBB1017C}"/>
                </a:ext>
              </a:extLst>
            </p:cNvPr>
            <p:cNvSpPr txBox="1"/>
            <p:nvPr/>
          </p:nvSpPr>
          <p:spPr>
            <a:xfrm>
              <a:off x="8374932" y="4530387"/>
              <a:ext cx="98814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dirty="0">
                  <a:solidFill>
                    <a:srgbClr val="FFFFFF"/>
                  </a:solidFill>
                  <a:latin typeface="+mj-ea"/>
                  <a:ea typeface="+mj-ea"/>
                </a:rPr>
                <a:t>工单状态</a:t>
              </a:r>
              <a:endParaRPr kumimoji="0" lang="zh-CN" altLang="en-US" sz="1200" b="0" i="0" u="none" strike="noStrike" kern="1200" cap="none" spc="0" normalizeH="0" baseline="0" noProof="0" dirty="0">
                <a:ln>
                  <a:noFill/>
                </a:ln>
                <a:solidFill>
                  <a:srgbClr val="FFFFFF"/>
                </a:solidFill>
                <a:effectLst/>
                <a:uLnTx/>
                <a:uFillTx/>
                <a:latin typeface="+mj-ea"/>
                <a:ea typeface="+mj-ea"/>
                <a:cs typeface="+mn-cs"/>
              </a:endParaRPr>
            </a:p>
          </p:txBody>
        </p:sp>
      </p:grpSp>
      <p:grpSp>
        <p:nvGrpSpPr>
          <p:cNvPr id="72" name="组合 71">
            <a:extLst>
              <a:ext uri="{FF2B5EF4-FFF2-40B4-BE49-F238E27FC236}">
                <a16:creationId xmlns:a16="http://schemas.microsoft.com/office/drawing/2014/main" id="{3D3F5988-DBA5-3D40-71DF-E5FB937C8A9D}"/>
              </a:ext>
            </a:extLst>
          </p:cNvPr>
          <p:cNvGrpSpPr/>
          <p:nvPr/>
        </p:nvGrpSpPr>
        <p:grpSpPr>
          <a:xfrm>
            <a:off x="8859187" y="1736552"/>
            <a:ext cx="3172940" cy="4539117"/>
            <a:chOff x="8859187" y="1736552"/>
            <a:chExt cx="3172940" cy="4539117"/>
          </a:xfrm>
        </p:grpSpPr>
        <p:cxnSp>
          <p:nvCxnSpPr>
            <p:cNvPr id="73" name="连接符: 肘形 72">
              <a:extLst>
                <a:ext uri="{FF2B5EF4-FFF2-40B4-BE49-F238E27FC236}">
                  <a16:creationId xmlns:a16="http://schemas.microsoft.com/office/drawing/2014/main" id="{1F0306A3-CC8A-78A0-B3A6-8DBBA0171BCB}"/>
                </a:ext>
              </a:extLst>
            </p:cNvPr>
            <p:cNvCxnSpPr>
              <a:stCxn id="9" idx="3"/>
              <a:endCxn id="54" idx="3"/>
            </p:cNvCxnSpPr>
            <p:nvPr/>
          </p:nvCxnSpPr>
          <p:spPr>
            <a:xfrm>
              <a:off x="8859187" y="1736552"/>
              <a:ext cx="1670845" cy="4539117"/>
            </a:xfrm>
            <a:prstGeom prst="bentConnector3">
              <a:avLst>
                <a:gd name="adj1" fmla="val 16285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A9F20726-4453-D9F1-DE7A-F4C60B05FA65}"/>
                </a:ext>
              </a:extLst>
            </p:cNvPr>
            <p:cNvSpPr txBox="1"/>
            <p:nvPr/>
          </p:nvSpPr>
          <p:spPr>
            <a:xfrm>
              <a:off x="10781621" y="3274706"/>
              <a:ext cx="1250506"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工单流程</a:t>
              </a:r>
            </a:p>
          </p:txBody>
        </p:sp>
      </p:grpSp>
      <p:sp>
        <p:nvSpPr>
          <p:cNvPr id="75" name="圆角矩形 2">
            <a:extLst>
              <a:ext uri="{FF2B5EF4-FFF2-40B4-BE49-F238E27FC236}">
                <a16:creationId xmlns:a16="http://schemas.microsoft.com/office/drawing/2014/main" id="{B3A19D84-111C-577B-943C-745AFDD1B658}"/>
              </a:ext>
            </a:extLst>
          </p:cNvPr>
          <p:cNvSpPr/>
          <p:nvPr/>
        </p:nvSpPr>
        <p:spPr>
          <a:xfrm>
            <a:off x="909437" y="3004278"/>
            <a:ext cx="836295" cy="543393"/>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solidFill>
                  <a:srgbClr val="000000"/>
                </a:solidFill>
                <a:effectLst/>
                <a:uLnTx/>
                <a:uFillTx/>
                <a:latin typeface="+mj-ea"/>
                <a:ea typeface="+mj-ea"/>
                <a:cs typeface="+mn-cs"/>
              </a:rPr>
              <a:t>ERP- MM</a:t>
            </a:r>
            <a:endParaRPr kumimoji="0" lang="zh-CN" altLang="en-US" sz="1200" b="1" i="0" u="none" strike="noStrike" kern="1200" cap="none" spc="0" normalizeH="0" baseline="0" noProof="0" dirty="0">
              <a:ln>
                <a:noFill/>
              </a:ln>
              <a:solidFill>
                <a:srgbClr val="000000"/>
              </a:solidFill>
              <a:effectLst/>
              <a:uLnTx/>
              <a:uFillTx/>
              <a:latin typeface="+mj-ea"/>
              <a:ea typeface="+mj-ea"/>
              <a:cs typeface="+mn-cs"/>
            </a:endParaRPr>
          </a:p>
        </p:txBody>
      </p:sp>
      <p:grpSp>
        <p:nvGrpSpPr>
          <p:cNvPr id="76" name="组合 75">
            <a:extLst>
              <a:ext uri="{FF2B5EF4-FFF2-40B4-BE49-F238E27FC236}">
                <a16:creationId xmlns:a16="http://schemas.microsoft.com/office/drawing/2014/main" id="{E6076724-CF21-72A7-D68F-F25F4C432B0B}"/>
              </a:ext>
            </a:extLst>
          </p:cNvPr>
          <p:cNvGrpSpPr/>
          <p:nvPr/>
        </p:nvGrpSpPr>
        <p:grpSpPr>
          <a:xfrm>
            <a:off x="2020056" y="3176732"/>
            <a:ext cx="3410992" cy="2009850"/>
            <a:chOff x="4952116" y="3120713"/>
            <a:chExt cx="5186521" cy="2009850"/>
          </a:xfrm>
        </p:grpSpPr>
        <p:cxnSp>
          <p:nvCxnSpPr>
            <p:cNvPr id="77" name="连接符: 肘形 76">
              <a:extLst>
                <a:ext uri="{FF2B5EF4-FFF2-40B4-BE49-F238E27FC236}">
                  <a16:creationId xmlns:a16="http://schemas.microsoft.com/office/drawing/2014/main" id="{61E72D35-26D4-16CD-1A54-11EF4E8A8599}"/>
                </a:ext>
              </a:extLst>
            </p:cNvPr>
            <p:cNvCxnSpPr>
              <a:cxnSpLocks/>
              <a:stCxn id="10" idx="2"/>
              <a:endCxn id="30" idx="0"/>
            </p:cNvCxnSpPr>
            <p:nvPr/>
          </p:nvCxnSpPr>
          <p:spPr>
            <a:xfrm rot="5400000">
              <a:off x="7270530" y="2262456"/>
              <a:ext cx="2009850" cy="3726364"/>
            </a:xfrm>
            <a:prstGeom prst="bentConnector3">
              <a:avLst>
                <a:gd name="adj1" fmla="val 13789"/>
              </a:avLst>
            </a:prstGeom>
            <a:ln>
              <a:tailEnd type="triangle"/>
            </a:ln>
          </p:spPr>
          <p:style>
            <a:lnRef idx="1">
              <a:schemeClr val="accent1"/>
            </a:lnRef>
            <a:fillRef idx="0">
              <a:schemeClr val="accent1"/>
            </a:fillRef>
            <a:effectRef idx="0">
              <a:schemeClr val="accent1"/>
            </a:effectRef>
            <a:fontRef idx="minor">
              <a:schemeClr val="tx1"/>
            </a:fontRef>
          </p:style>
        </p:cxnSp>
        <p:sp>
          <p:nvSpPr>
            <p:cNvPr id="78" name="文本框 77">
              <a:extLst>
                <a:ext uri="{FF2B5EF4-FFF2-40B4-BE49-F238E27FC236}">
                  <a16:creationId xmlns:a16="http://schemas.microsoft.com/office/drawing/2014/main" id="{40C0AB39-2739-7792-C370-F1595A981524}"/>
                </a:ext>
              </a:extLst>
            </p:cNvPr>
            <p:cNvSpPr txBox="1"/>
            <p:nvPr/>
          </p:nvSpPr>
          <p:spPr>
            <a:xfrm>
              <a:off x="4952116" y="4395247"/>
              <a:ext cx="174348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dirty="0">
                  <a:solidFill>
                    <a:srgbClr val="FFFFFF"/>
                  </a:solidFill>
                  <a:latin typeface="+mj-ea"/>
                  <a:ea typeface="+mj-ea"/>
                </a:rPr>
                <a:t>成品预测承诺</a:t>
              </a:r>
              <a:endParaRPr kumimoji="0" lang="zh-CN" altLang="en-US" sz="1200" b="0" i="0" u="none" strike="noStrike" kern="1200" cap="none" spc="0" normalizeH="0" baseline="0" noProof="0" dirty="0">
                <a:ln>
                  <a:noFill/>
                </a:ln>
                <a:solidFill>
                  <a:srgbClr val="FFFFFF"/>
                </a:solidFill>
                <a:effectLst/>
                <a:uLnTx/>
                <a:uFillTx/>
                <a:latin typeface="+mj-ea"/>
                <a:ea typeface="+mj-ea"/>
                <a:cs typeface="+mn-cs"/>
              </a:endParaRPr>
            </a:p>
          </p:txBody>
        </p:sp>
      </p:grpSp>
      <p:grpSp>
        <p:nvGrpSpPr>
          <p:cNvPr id="79" name="组合 78">
            <a:extLst>
              <a:ext uri="{FF2B5EF4-FFF2-40B4-BE49-F238E27FC236}">
                <a16:creationId xmlns:a16="http://schemas.microsoft.com/office/drawing/2014/main" id="{F790F451-36F6-0CFF-4502-91A5613740ED}"/>
              </a:ext>
            </a:extLst>
          </p:cNvPr>
          <p:cNvGrpSpPr/>
          <p:nvPr/>
        </p:nvGrpSpPr>
        <p:grpSpPr>
          <a:xfrm>
            <a:off x="689981" y="1384003"/>
            <a:ext cx="4741066" cy="4074277"/>
            <a:chOff x="689981" y="1384003"/>
            <a:chExt cx="4741066" cy="4074277"/>
          </a:xfrm>
        </p:grpSpPr>
        <p:cxnSp>
          <p:nvCxnSpPr>
            <p:cNvPr id="80" name="连接符: 肘形 79">
              <a:extLst>
                <a:ext uri="{FF2B5EF4-FFF2-40B4-BE49-F238E27FC236}">
                  <a16:creationId xmlns:a16="http://schemas.microsoft.com/office/drawing/2014/main" id="{0D88AED4-AD84-9029-33A0-5039504AF28D}"/>
                </a:ext>
              </a:extLst>
            </p:cNvPr>
            <p:cNvCxnSpPr>
              <a:stCxn id="30" idx="1"/>
              <a:endCxn id="4" idx="0"/>
            </p:cNvCxnSpPr>
            <p:nvPr/>
          </p:nvCxnSpPr>
          <p:spPr>
            <a:xfrm rot="10800000" flipH="1">
              <a:off x="2562201" y="1384003"/>
              <a:ext cx="2868846" cy="4074277"/>
            </a:xfrm>
            <a:prstGeom prst="bentConnector4">
              <a:avLst>
                <a:gd name="adj1" fmla="val -65871"/>
                <a:gd name="adj2" fmla="val 105611"/>
              </a:avLst>
            </a:prstGeom>
            <a:ln>
              <a:tailEnd type="triangle"/>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32D90406-C109-9D34-FF06-CA3C169F0FD6}"/>
                </a:ext>
              </a:extLst>
            </p:cNvPr>
            <p:cNvSpPr txBox="1"/>
            <p:nvPr/>
          </p:nvSpPr>
          <p:spPr>
            <a:xfrm>
              <a:off x="689981" y="3963012"/>
              <a:ext cx="1418534"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一致性预测</a:t>
              </a:r>
              <a:endParaRPr kumimoji="0" lang="en-US" altLang="zh-CN" sz="1200" b="0" i="0" u="none" strike="noStrike" kern="1200" cap="none" spc="0" normalizeH="0" baseline="0" noProof="0" dirty="0">
                <a:ln>
                  <a:noFill/>
                </a:ln>
                <a:solidFill>
                  <a:srgbClr val="FFFFFF"/>
                </a:solidFill>
                <a:effectLst/>
                <a:uLnTx/>
                <a:uFillTx/>
                <a:latin typeface="+mj-ea"/>
                <a:ea typeface="+mj-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dirty="0">
                  <a:solidFill>
                    <a:srgbClr val="FFFFFF"/>
                  </a:solidFill>
                  <a:latin typeface="+mj-ea"/>
                  <a:ea typeface="+mj-ea"/>
                </a:rPr>
                <a:t>补货需求单</a:t>
              </a:r>
              <a:endParaRPr kumimoji="0" lang="en-US" altLang="zh-CN" sz="1200" b="0" i="0" u="none" strike="noStrike" kern="1200" cap="none" spc="0" normalizeH="0" baseline="0" noProof="0" dirty="0">
                <a:ln>
                  <a:noFill/>
                </a:ln>
                <a:solidFill>
                  <a:srgbClr val="FFFFFF"/>
                </a:solidFill>
                <a:effectLst/>
                <a:uLnTx/>
                <a:uFillTx/>
                <a:latin typeface="+mj-ea"/>
                <a:ea typeface="+mj-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dirty="0">
                  <a:solidFill>
                    <a:srgbClr val="FFFFFF"/>
                  </a:solidFill>
                  <a:latin typeface="+mj-ea"/>
                  <a:ea typeface="+mj-ea"/>
                </a:rPr>
                <a:t>销售订单</a:t>
              </a:r>
              <a:endParaRPr kumimoji="0" lang="en-US" altLang="zh-CN" sz="1200" b="0" i="0" u="none" strike="noStrike" kern="1200" cap="none" spc="0" normalizeH="0" baseline="0" noProof="0" dirty="0">
                <a:ln>
                  <a:noFill/>
                </a:ln>
                <a:solidFill>
                  <a:srgbClr val="FFFFFF"/>
                </a:solidFill>
                <a:effectLst/>
                <a:uLnTx/>
                <a:uFillTx/>
                <a:latin typeface="+mj-ea"/>
                <a:ea typeface="+mj-ea"/>
                <a:cs typeface="+mn-cs"/>
              </a:endParaRPr>
            </a:p>
          </p:txBody>
        </p:sp>
      </p:grpSp>
      <p:grpSp>
        <p:nvGrpSpPr>
          <p:cNvPr id="82" name="组合 81">
            <a:extLst>
              <a:ext uri="{FF2B5EF4-FFF2-40B4-BE49-F238E27FC236}">
                <a16:creationId xmlns:a16="http://schemas.microsoft.com/office/drawing/2014/main" id="{3A1C0F5F-BBDC-C1E2-6196-26A92DBE7F04}"/>
              </a:ext>
            </a:extLst>
          </p:cNvPr>
          <p:cNvGrpSpPr/>
          <p:nvPr/>
        </p:nvGrpSpPr>
        <p:grpSpPr>
          <a:xfrm>
            <a:off x="756425" y="1384003"/>
            <a:ext cx="4674622" cy="1891973"/>
            <a:chOff x="756425" y="1384003"/>
            <a:chExt cx="4674622" cy="1891973"/>
          </a:xfrm>
        </p:grpSpPr>
        <p:sp>
          <p:nvSpPr>
            <p:cNvPr id="83" name="文本框 82">
              <a:extLst>
                <a:ext uri="{FF2B5EF4-FFF2-40B4-BE49-F238E27FC236}">
                  <a16:creationId xmlns:a16="http://schemas.microsoft.com/office/drawing/2014/main" id="{5C5180CD-98E4-C284-A368-A466C1D79519}"/>
                </a:ext>
              </a:extLst>
            </p:cNvPr>
            <p:cNvSpPr txBox="1"/>
            <p:nvPr/>
          </p:nvSpPr>
          <p:spPr>
            <a:xfrm>
              <a:off x="756425" y="1932800"/>
              <a:ext cx="155555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dirty="0">
                  <a:solidFill>
                    <a:srgbClr val="FFFFFF"/>
                  </a:solidFill>
                  <a:latin typeface="+mj-ea"/>
                  <a:ea typeface="+mj-ea"/>
                </a:rPr>
                <a:t>库存（</a:t>
              </a:r>
              <a:r>
                <a:rPr lang="en-US" altLang="zh-CN" sz="1200" dirty="0">
                  <a:solidFill>
                    <a:srgbClr val="FFFFFF"/>
                  </a:solidFill>
                  <a:latin typeface="+mj-ea"/>
                  <a:ea typeface="+mj-ea"/>
                </a:rPr>
                <a:t>OH</a:t>
              </a:r>
              <a:r>
                <a:rPr lang="zh-CN" altLang="en-US" sz="1200" dirty="0">
                  <a:solidFill>
                    <a:srgbClr val="FFFFFF"/>
                  </a:solidFill>
                  <a:latin typeface="+mj-ea"/>
                  <a:ea typeface="+mj-ea"/>
                </a:rPr>
                <a:t>）</a:t>
              </a:r>
              <a:endParaRPr kumimoji="0" lang="en-US" altLang="zh-CN" sz="1200" b="0" i="0" u="none" strike="noStrike" kern="1200" cap="none" spc="0" normalizeH="0" baseline="0" noProof="0" dirty="0">
                <a:ln>
                  <a:noFill/>
                </a:ln>
                <a:solidFill>
                  <a:srgbClr val="FFFFFF"/>
                </a:solidFill>
                <a:effectLst/>
                <a:uLnTx/>
                <a:uFillTx/>
                <a:latin typeface="+mj-ea"/>
                <a:ea typeface="+mj-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计划到料</a:t>
              </a:r>
              <a:r>
                <a:rPr kumimoji="0" lang="en-US" altLang="zh-CN" sz="1200" b="0" i="0" u="none" strike="noStrike" kern="1200" cap="none" spc="0" normalizeH="0" baseline="0" noProof="0" dirty="0">
                  <a:ln>
                    <a:noFill/>
                  </a:ln>
                  <a:solidFill>
                    <a:srgbClr val="FFFFFF"/>
                  </a:solidFill>
                  <a:effectLst/>
                  <a:uLnTx/>
                  <a:uFillTx/>
                  <a:latin typeface="+mj-ea"/>
                  <a:ea typeface="+mj-ea"/>
                  <a:cs typeface="+mn-cs"/>
                </a:rPr>
                <a:t>(SR)</a:t>
              </a:r>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dirty="0">
                  <a:solidFill>
                    <a:srgbClr val="FFFFFF"/>
                  </a:solidFill>
                  <a:latin typeface="+mj-ea"/>
                  <a:ea typeface="+mj-ea"/>
                </a:rPr>
                <a:t>主数据（</a:t>
              </a:r>
              <a:r>
                <a:rPr lang="en-US" altLang="zh-CN" sz="1200" dirty="0">
                  <a:solidFill>
                    <a:srgbClr val="FFFFFF"/>
                  </a:solidFill>
                  <a:latin typeface="+mj-ea"/>
                  <a:ea typeface="+mj-ea"/>
                </a:rPr>
                <a:t>MD)</a:t>
              </a:r>
              <a:endParaRPr kumimoji="0" lang="zh-CN" altLang="en-US" sz="1200" b="0" i="0" u="none" strike="noStrike" kern="1200" cap="none" spc="0" normalizeH="0" baseline="0" noProof="0" dirty="0">
                <a:ln>
                  <a:noFill/>
                </a:ln>
                <a:solidFill>
                  <a:srgbClr val="FFFFFF"/>
                </a:solidFill>
                <a:effectLst/>
                <a:uLnTx/>
                <a:uFillTx/>
                <a:latin typeface="+mj-ea"/>
                <a:ea typeface="+mj-ea"/>
                <a:cs typeface="+mn-cs"/>
              </a:endParaRPr>
            </a:p>
          </p:txBody>
        </p:sp>
        <p:cxnSp>
          <p:nvCxnSpPr>
            <p:cNvPr id="84" name="连接符: 肘形 83">
              <a:extLst>
                <a:ext uri="{FF2B5EF4-FFF2-40B4-BE49-F238E27FC236}">
                  <a16:creationId xmlns:a16="http://schemas.microsoft.com/office/drawing/2014/main" id="{797714AE-0DAF-6B9E-444A-BC8AF183C03E}"/>
                </a:ext>
              </a:extLst>
            </p:cNvPr>
            <p:cNvCxnSpPr>
              <a:cxnSpLocks/>
              <a:stCxn id="75" idx="1"/>
              <a:endCxn id="4" idx="0"/>
            </p:cNvCxnSpPr>
            <p:nvPr/>
          </p:nvCxnSpPr>
          <p:spPr>
            <a:xfrm rot="10800000" flipH="1">
              <a:off x="909437" y="1384003"/>
              <a:ext cx="4521610" cy="1891973"/>
            </a:xfrm>
            <a:prstGeom prst="bentConnector4">
              <a:avLst>
                <a:gd name="adj1" fmla="val -5056"/>
                <a:gd name="adj2" fmla="val 112083"/>
              </a:avLst>
            </a:prstGeom>
            <a:ln>
              <a:tailEnd type="triangle"/>
            </a:ln>
          </p:spPr>
          <p:style>
            <a:lnRef idx="1">
              <a:schemeClr val="accent1"/>
            </a:lnRef>
            <a:fillRef idx="0">
              <a:schemeClr val="accent1"/>
            </a:fillRef>
            <a:effectRef idx="0">
              <a:schemeClr val="accent1"/>
            </a:effectRef>
            <a:fontRef idx="minor">
              <a:schemeClr val="tx1"/>
            </a:fontRef>
          </p:style>
        </p:cxnSp>
      </p:grpSp>
      <p:grpSp>
        <p:nvGrpSpPr>
          <p:cNvPr id="87" name="组合 86">
            <a:extLst>
              <a:ext uri="{FF2B5EF4-FFF2-40B4-BE49-F238E27FC236}">
                <a16:creationId xmlns:a16="http://schemas.microsoft.com/office/drawing/2014/main" id="{BC25D6C2-508B-0DA0-9BC9-7B72CF3738E7}"/>
              </a:ext>
            </a:extLst>
          </p:cNvPr>
          <p:cNvGrpSpPr/>
          <p:nvPr/>
        </p:nvGrpSpPr>
        <p:grpSpPr>
          <a:xfrm>
            <a:off x="1991554" y="3864551"/>
            <a:ext cx="2779102" cy="1322031"/>
            <a:chOff x="1991554" y="3864551"/>
            <a:chExt cx="2779102" cy="1322031"/>
          </a:xfrm>
        </p:grpSpPr>
        <p:cxnSp>
          <p:nvCxnSpPr>
            <p:cNvPr id="85" name="连接符: 肘形 84">
              <a:extLst>
                <a:ext uri="{FF2B5EF4-FFF2-40B4-BE49-F238E27FC236}">
                  <a16:creationId xmlns:a16="http://schemas.microsoft.com/office/drawing/2014/main" id="{06663C8C-9151-0204-8F4D-97282C087597}"/>
                </a:ext>
              </a:extLst>
            </p:cNvPr>
            <p:cNvCxnSpPr>
              <a:stCxn id="30" idx="0"/>
              <a:endCxn id="23" idx="1"/>
            </p:cNvCxnSpPr>
            <p:nvPr/>
          </p:nvCxnSpPr>
          <p:spPr>
            <a:xfrm rot="5400000" flipH="1" flipV="1">
              <a:off x="3366471" y="3782398"/>
              <a:ext cx="1018063" cy="1790306"/>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86" name="文本框 85">
              <a:extLst>
                <a:ext uri="{FF2B5EF4-FFF2-40B4-BE49-F238E27FC236}">
                  <a16:creationId xmlns:a16="http://schemas.microsoft.com/office/drawing/2014/main" id="{DA683F70-C8FE-FC15-FEF3-266E7F7DC1D2}"/>
                </a:ext>
              </a:extLst>
            </p:cNvPr>
            <p:cNvSpPr txBox="1"/>
            <p:nvPr/>
          </p:nvSpPr>
          <p:spPr>
            <a:xfrm>
              <a:off x="1991554" y="3864551"/>
              <a:ext cx="1418534"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rgbClr val="FFFFFF"/>
                  </a:solidFill>
                  <a:effectLst/>
                  <a:uLnTx/>
                  <a:uFillTx/>
                  <a:latin typeface="+mj-ea"/>
                  <a:ea typeface="+mj-ea"/>
                  <a:cs typeface="+mn-cs"/>
                </a:rPr>
                <a:t>补货需求单</a:t>
              </a:r>
              <a:endParaRPr kumimoji="0" lang="en-US" altLang="zh-CN" sz="1200" b="0" i="0" u="none" strike="noStrike" kern="1200" cap="none" spc="0" normalizeH="0" baseline="0" noProof="0" dirty="0">
                <a:ln>
                  <a:noFill/>
                </a:ln>
                <a:solidFill>
                  <a:srgbClr val="FFFFFF"/>
                </a:solidFill>
                <a:effectLst/>
                <a:uLnTx/>
                <a:uFillTx/>
                <a:latin typeface="+mj-ea"/>
                <a:ea typeface="+mj-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dirty="0">
                  <a:solidFill>
                    <a:srgbClr val="FFFFFF"/>
                  </a:solidFill>
                  <a:latin typeface="+mj-ea"/>
                  <a:ea typeface="+mj-ea"/>
                </a:rPr>
                <a:t>销售订单</a:t>
              </a:r>
              <a:endParaRPr kumimoji="0" lang="en-US" altLang="zh-CN" sz="1200" b="0" i="0" u="none" strike="noStrike" kern="1200" cap="none" spc="0" normalizeH="0" baseline="0" noProof="0" dirty="0">
                <a:ln>
                  <a:noFill/>
                </a:ln>
                <a:solidFill>
                  <a:srgbClr val="FFFFFF"/>
                </a:solidFill>
                <a:effectLst/>
                <a:uLnTx/>
                <a:uFillTx/>
                <a:latin typeface="+mj-ea"/>
                <a:ea typeface="+mj-ea"/>
                <a:cs typeface="+mn-cs"/>
              </a:endParaRPr>
            </a:p>
          </p:txBody>
        </p:sp>
      </p:grpSp>
    </p:spTree>
    <p:extLst>
      <p:ext uri="{BB962C8B-B14F-4D97-AF65-F5344CB8AC3E}">
        <p14:creationId xmlns:p14="http://schemas.microsoft.com/office/powerpoint/2010/main" val="1728490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0"/>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75"/>
                                        </p:tgtEl>
                                        <p:attrNameLst>
                                          <p:attrName>style.visibility</p:attrName>
                                        </p:attrNameLst>
                                      </p:cBhvr>
                                      <p:to>
                                        <p:strVal val="visible"/>
                                      </p:to>
                                    </p:set>
                                    <p:animEffect transition="in" filter="fade">
                                      <p:cBhvr>
                                        <p:cTn id="16" dur="500"/>
                                        <p:tgtEl>
                                          <p:spTgt spid="75"/>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8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79"/>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500"/>
                                        <p:tgtEl>
                                          <p:spTgt spid="6"/>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fade">
                                      <p:cBhvr>
                                        <p:cTn id="38" dur="500"/>
                                        <p:tgtEl>
                                          <p:spTgt spid="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500"/>
                                        <p:tgtEl>
                                          <p:spTgt spid="27"/>
                                        </p:tgtEl>
                                      </p:cBhvr>
                                    </p:animEffec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0"/>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nodeType="clickEffect">
                                  <p:stCondLst>
                                    <p:cond delay="0"/>
                                  </p:stCondLst>
                                  <p:childTnLst>
                                    <p:set>
                                      <p:cBhvr>
                                        <p:cTn id="51" dur="1" fill="hold">
                                          <p:stCondLst>
                                            <p:cond delay="0"/>
                                          </p:stCondLst>
                                        </p:cTn>
                                        <p:tgtEl>
                                          <p:spTgt spid="11"/>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500"/>
                                        <p:tgtEl>
                                          <p:spTgt spid="14"/>
                                        </p:tgtEl>
                                      </p:cBhvr>
                                    </p:animEffec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17"/>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fade">
                                      <p:cBhvr>
                                        <p:cTn id="65" dur="500"/>
                                        <p:tgtEl>
                                          <p:spTgt spid="20"/>
                                        </p:tgtEl>
                                      </p:cBhvr>
                                    </p:animEffect>
                                  </p:childTnLst>
                                </p:cTn>
                              </p:par>
                            </p:childTnLst>
                          </p:cTn>
                        </p:par>
                      </p:childTnLst>
                    </p:cTn>
                  </p:par>
                  <p:par>
                    <p:cTn id="66" fill="hold">
                      <p:stCondLst>
                        <p:cond delay="indefinite"/>
                      </p:stCondLst>
                      <p:childTnLst>
                        <p:par>
                          <p:cTn id="67" fill="hold">
                            <p:stCondLst>
                              <p:cond delay="0"/>
                            </p:stCondLst>
                            <p:childTnLst>
                              <p:par>
                                <p:cTn id="68" presetID="1" presetClass="entr" presetSubtype="0" fill="hold" nodeType="clickEffect">
                                  <p:stCondLst>
                                    <p:cond delay="0"/>
                                  </p:stCondLst>
                                  <p:childTnLst>
                                    <p:set>
                                      <p:cBhvr>
                                        <p:cTn id="69" dur="1" fill="hold">
                                          <p:stCondLst>
                                            <p:cond delay="0"/>
                                          </p:stCondLst>
                                        </p:cTn>
                                        <p:tgtEl>
                                          <p:spTgt spid="76"/>
                                        </p:tgtEl>
                                        <p:attrNameLst>
                                          <p:attrName>style.visibility</p:attrName>
                                        </p:attrNameLst>
                                      </p:cBhvr>
                                      <p:to>
                                        <p:strVal val="visible"/>
                                      </p:to>
                                    </p:set>
                                  </p:childTnLst>
                                </p:cTn>
                              </p:par>
                            </p:childTnLst>
                          </p:cTn>
                        </p:par>
                      </p:childTnLst>
                    </p:cTn>
                  </p:par>
                  <p:par>
                    <p:cTn id="70" fill="hold">
                      <p:stCondLst>
                        <p:cond delay="indefinite"/>
                      </p:stCondLst>
                      <p:childTnLst>
                        <p:par>
                          <p:cTn id="71" fill="hold">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23"/>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1" presetClass="entr" presetSubtype="0" fill="hold" nodeType="clickEffect">
                                  <p:stCondLst>
                                    <p:cond delay="0"/>
                                  </p:stCondLst>
                                  <p:childTnLst>
                                    <p:set>
                                      <p:cBhvr>
                                        <p:cTn id="77" dur="1" fill="hold">
                                          <p:stCondLst>
                                            <p:cond delay="0"/>
                                          </p:stCondLst>
                                        </p:cTn>
                                        <p:tgtEl>
                                          <p:spTgt spid="87"/>
                                        </p:tgtEl>
                                        <p:attrNameLst>
                                          <p:attrName>style.visibility</p:attrName>
                                        </p:attrNameLst>
                                      </p:cBhvr>
                                      <p:to>
                                        <p:strVal val="visible"/>
                                      </p:to>
                                    </p:se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4"/>
                                        </p:tgtEl>
                                        <p:attrNameLst>
                                          <p:attrName>style.visibility</p:attrName>
                                        </p:attrNameLst>
                                      </p:cBhvr>
                                      <p:to>
                                        <p:strVal val="visible"/>
                                      </p:to>
                                    </p:set>
                                    <p:animEffect transition="in" filter="fade">
                                      <p:cBhvr>
                                        <p:cTn id="82" dur="500"/>
                                        <p:tgtEl>
                                          <p:spTgt spid="2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31"/>
                                        </p:tgtEl>
                                        <p:attrNameLst>
                                          <p:attrName>style.visibility</p:attrName>
                                        </p:attrNameLst>
                                      </p:cBhvr>
                                      <p:to>
                                        <p:strVal val="visible"/>
                                      </p:to>
                                    </p:set>
                                    <p:animEffect transition="in" filter="fade">
                                      <p:cBhvr>
                                        <p:cTn id="87" dur="500"/>
                                        <p:tgtEl>
                                          <p:spTgt spid="31"/>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34"/>
                                        </p:tgtEl>
                                        <p:attrNameLst>
                                          <p:attrName>style.visibility</p:attrName>
                                        </p:attrNameLst>
                                      </p:cBhvr>
                                      <p:to>
                                        <p:strVal val="visible"/>
                                      </p:to>
                                    </p:set>
                                    <p:animEffect transition="in" filter="fade">
                                      <p:cBhvr>
                                        <p:cTn id="92" dur="500"/>
                                        <p:tgtEl>
                                          <p:spTgt spid="34"/>
                                        </p:tgtEl>
                                      </p:cBhvr>
                                    </p:animEffect>
                                  </p:childTnLst>
                                </p:cTn>
                              </p:par>
                            </p:childTnLst>
                          </p:cTn>
                        </p:par>
                      </p:childTnLst>
                    </p:cTn>
                  </p:par>
                  <p:par>
                    <p:cTn id="93" fill="hold">
                      <p:stCondLst>
                        <p:cond delay="indefinite"/>
                      </p:stCondLst>
                      <p:childTnLst>
                        <p:par>
                          <p:cTn id="94" fill="hold">
                            <p:stCondLst>
                              <p:cond delay="0"/>
                            </p:stCondLst>
                            <p:childTnLst>
                              <p:par>
                                <p:cTn id="95" presetID="1" presetClass="entr" presetSubtype="0" fill="hold" nodeType="clickEffect">
                                  <p:stCondLst>
                                    <p:cond delay="0"/>
                                  </p:stCondLst>
                                  <p:childTnLst>
                                    <p:set>
                                      <p:cBhvr>
                                        <p:cTn id="96" dur="1" fill="hold">
                                          <p:stCondLst>
                                            <p:cond delay="0"/>
                                          </p:stCondLst>
                                        </p:cTn>
                                        <p:tgtEl>
                                          <p:spTgt spid="40"/>
                                        </p:tgtEl>
                                        <p:attrNameLst>
                                          <p:attrName>style.visibility</p:attrName>
                                        </p:attrNameLst>
                                      </p:cBhvr>
                                      <p:to>
                                        <p:strVal val="visible"/>
                                      </p:to>
                                    </p:set>
                                  </p:childTnLst>
                                </p:cTn>
                              </p:par>
                            </p:childTnLst>
                          </p:cTn>
                        </p:par>
                      </p:childTnLst>
                    </p:cTn>
                  </p:par>
                  <p:par>
                    <p:cTn id="97" fill="hold">
                      <p:stCondLst>
                        <p:cond delay="indefinite"/>
                      </p:stCondLst>
                      <p:childTnLst>
                        <p:par>
                          <p:cTn id="98" fill="hold">
                            <p:stCondLst>
                              <p:cond delay="0"/>
                            </p:stCondLst>
                            <p:childTnLst>
                              <p:par>
                                <p:cTn id="99" presetID="1" presetClass="entr" presetSubtype="0" fill="hold" nodeType="clickEffect">
                                  <p:stCondLst>
                                    <p:cond delay="0"/>
                                  </p:stCondLst>
                                  <p:childTnLst>
                                    <p:set>
                                      <p:cBhvr>
                                        <p:cTn id="100" dur="1" fill="hold">
                                          <p:stCondLst>
                                            <p:cond delay="0"/>
                                          </p:stCondLst>
                                        </p:cTn>
                                        <p:tgtEl>
                                          <p:spTgt spid="37"/>
                                        </p:tgtEl>
                                        <p:attrNameLst>
                                          <p:attrName>style.visibility</p:attrName>
                                        </p:attrNameLst>
                                      </p:cBhvr>
                                      <p:to>
                                        <p:strVal val="visible"/>
                                      </p:to>
                                    </p:set>
                                  </p:childTnLst>
                                </p:cTn>
                              </p:par>
                            </p:childTnLst>
                          </p:cTn>
                        </p:par>
                      </p:childTnLst>
                    </p:cTn>
                  </p:par>
                  <p:par>
                    <p:cTn id="101" fill="hold">
                      <p:stCondLst>
                        <p:cond delay="indefinite"/>
                      </p:stCondLst>
                      <p:childTnLst>
                        <p:par>
                          <p:cTn id="102" fill="hold">
                            <p:stCondLst>
                              <p:cond delay="0"/>
                            </p:stCondLst>
                            <p:childTnLst>
                              <p:par>
                                <p:cTn id="103" presetID="1" presetClass="entr" presetSubtype="0" fill="hold" nodeType="clickEffect">
                                  <p:stCondLst>
                                    <p:cond delay="0"/>
                                  </p:stCondLst>
                                  <p:childTnLst>
                                    <p:set>
                                      <p:cBhvr>
                                        <p:cTn id="104" dur="1" fill="hold">
                                          <p:stCondLst>
                                            <p:cond delay="0"/>
                                          </p:stCondLst>
                                        </p:cTn>
                                        <p:tgtEl>
                                          <p:spTgt spid="43"/>
                                        </p:tgtEl>
                                        <p:attrNameLst>
                                          <p:attrName>style.visibility</p:attrName>
                                        </p:attrNameLst>
                                      </p:cBhvr>
                                      <p:to>
                                        <p:strVal val="visible"/>
                                      </p:to>
                                    </p:set>
                                  </p:childTnLst>
                                </p:cTn>
                              </p:par>
                            </p:childTnLst>
                          </p:cTn>
                        </p:par>
                      </p:childTnLst>
                    </p:cTn>
                  </p:par>
                  <p:par>
                    <p:cTn id="105" fill="hold">
                      <p:stCondLst>
                        <p:cond delay="indefinite"/>
                      </p:stCondLst>
                      <p:childTnLst>
                        <p:par>
                          <p:cTn id="106" fill="hold">
                            <p:stCondLst>
                              <p:cond delay="0"/>
                            </p:stCondLst>
                            <p:childTnLst>
                              <p:par>
                                <p:cTn id="107" presetID="1" presetClass="entr" presetSubtype="0" fill="hold" grpId="0" nodeType="clickEffect">
                                  <p:stCondLst>
                                    <p:cond delay="0"/>
                                  </p:stCondLst>
                                  <p:childTnLst>
                                    <p:set>
                                      <p:cBhvr>
                                        <p:cTn id="108" dur="1" fill="hold">
                                          <p:stCondLst>
                                            <p:cond delay="0"/>
                                          </p:stCondLst>
                                        </p:cTn>
                                        <p:tgtEl>
                                          <p:spTgt spid="46"/>
                                        </p:tgtEl>
                                        <p:attrNameLst>
                                          <p:attrName>style.visibility</p:attrName>
                                        </p:attrNameLst>
                                      </p:cBhvr>
                                      <p:to>
                                        <p:strVal val="visible"/>
                                      </p:to>
                                    </p:set>
                                  </p:childTnLst>
                                </p:cTn>
                              </p:par>
                            </p:childTnLst>
                          </p:cTn>
                        </p:par>
                      </p:childTnLst>
                    </p:cTn>
                  </p:par>
                  <p:par>
                    <p:cTn id="109" fill="hold">
                      <p:stCondLst>
                        <p:cond delay="indefinite"/>
                      </p:stCondLst>
                      <p:childTnLst>
                        <p:par>
                          <p:cTn id="110" fill="hold">
                            <p:stCondLst>
                              <p:cond delay="0"/>
                            </p:stCondLst>
                            <p:childTnLst>
                              <p:par>
                                <p:cTn id="111" presetID="1" presetClass="entr" presetSubtype="0" fill="hold" nodeType="clickEffect">
                                  <p:stCondLst>
                                    <p:cond delay="0"/>
                                  </p:stCondLst>
                                  <p:childTnLst>
                                    <p:set>
                                      <p:cBhvr>
                                        <p:cTn id="112" dur="1" fill="hold">
                                          <p:stCondLst>
                                            <p:cond delay="0"/>
                                          </p:stCondLst>
                                        </p:cTn>
                                        <p:tgtEl>
                                          <p:spTgt spid="47"/>
                                        </p:tgtEl>
                                        <p:attrNameLst>
                                          <p:attrName>style.visibility</p:attrName>
                                        </p:attrNameLst>
                                      </p:cBhvr>
                                      <p:to>
                                        <p:strVal val="visible"/>
                                      </p:to>
                                    </p:set>
                                  </p:childTnLst>
                                </p:cTn>
                              </p:par>
                            </p:childTnLst>
                          </p:cTn>
                        </p:par>
                      </p:childTnLst>
                    </p:cTn>
                  </p:par>
                  <p:par>
                    <p:cTn id="113" fill="hold">
                      <p:stCondLst>
                        <p:cond delay="indefinite"/>
                      </p:stCondLst>
                      <p:childTnLst>
                        <p:par>
                          <p:cTn id="114" fill="hold">
                            <p:stCondLst>
                              <p:cond delay="0"/>
                            </p:stCondLst>
                            <p:childTnLst>
                              <p:par>
                                <p:cTn id="115" presetID="1" presetClass="entr" presetSubtype="0" fill="hold" grpId="0" nodeType="clickEffect">
                                  <p:stCondLst>
                                    <p:cond delay="0"/>
                                  </p:stCondLst>
                                  <p:childTnLst>
                                    <p:set>
                                      <p:cBhvr>
                                        <p:cTn id="116" dur="1" fill="hold">
                                          <p:stCondLst>
                                            <p:cond delay="0"/>
                                          </p:stCondLst>
                                        </p:cTn>
                                        <p:tgtEl>
                                          <p:spTgt spid="55"/>
                                        </p:tgtEl>
                                        <p:attrNameLst>
                                          <p:attrName>style.visibility</p:attrName>
                                        </p:attrNameLst>
                                      </p:cBhvr>
                                      <p:to>
                                        <p:strVal val="visible"/>
                                      </p:to>
                                    </p:set>
                                  </p:childTnLst>
                                </p:cTn>
                              </p:par>
                            </p:childTnLst>
                          </p:cTn>
                        </p:par>
                      </p:childTnLst>
                    </p:cTn>
                  </p:par>
                  <p:par>
                    <p:cTn id="117" fill="hold">
                      <p:stCondLst>
                        <p:cond delay="indefinite"/>
                      </p:stCondLst>
                      <p:childTnLst>
                        <p:par>
                          <p:cTn id="118" fill="hold">
                            <p:stCondLst>
                              <p:cond delay="0"/>
                            </p:stCondLst>
                            <p:childTnLst>
                              <p:par>
                                <p:cTn id="119" presetID="1" presetClass="entr" presetSubtype="0" fill="hold" nodeType="clickEffect">
                                  <p:stCondLst>
                                    <p:cond delay="0"/>
                                  </p:stCondLst>
                                  <p:childTnLst>
                                    <p:set>
                                      <p:cBhvr>
                                        <p:cTn id="120" dur="1" fill="hold">
                                          <p:stCondLst>
                                            <p:cond delay="0"/>
                                          </p:stCondLst>
                                        </p:cTn>
                                        <p:tgtEl>
                                          <p:spTgt spid="56"/>
                                        </p:tgtEl>
                                        <p:attrNameLst>
                                          <p:attrName>style.visibility</p:attrName>
                                        </p:attrNameLst>
                                      </p:cBhvr>
                                      <p:to>
                                        <p:strVal val="visible"/>
                                      </p:to>
                                    </p:set>
                                  </p:childTnLst>
                                </p:cTn>
                              </p:par>
                            </p:childTnLst>
                          </p:cTn>
                        </p:par>
                      </p:childTnLst>
                    </p:cTn>
                  </p:par>
                  <p:par>
                    <p:cTn id="121" fill="hold">
                      <p:stCondLst>
                        <p:cond delay="indefinite"/>
                      </p:stCondLst>
                      <p:childTnLst>
                        <p:par>
                          <p:cTn id="122" fill="hold">
                            <p:stCondLst>
                              <p:cond delay="0"/>
                            </p:stCondLst>
                            <p:childTnLst>
                              <p:par>
                                <p:cTn id="123" presetID="1" presetClass="entr" presetSubtype="0" fill="hold" grpId="0" nodeType="clickEffect">
                                  <p:stCondLst>
                                    <p:cond delay="0"/>
                                  </p:stCondLst>
                                  <p:childTnLst>
                                    <p:set>
                                      <p:cBhvr>
                                        <p:cTn id="124" dur="1" fill="hold">
                                          <p:stCondLst>
                                            <p:cond delay="0"/>
                                          </p:stCondLst>
                                        </p:cTn>
                                        <p:tgtEl>
                                          <p:spTgt spid="54"/>
                                        </p:tgtEl>
                                        <p:attrNameLst>
                                          <p:attrName>style.visibility</p:attrName>
                                        </p:attrNameLst>
                                      </p:cBhvr>
                                      <p:to>
                                        <p:strVal val="visible"/>
                                      </p:to>
                                    </p:set>
                                  </p:childTnLst>
                                </p:cTn>
                              </p:par>
                            </p:childTnLst>
                          </p:cTn>
                        </p:par>
                      </p:childTnLst>
                    </p:cTn>
                  </p:par>
                  <p:par>
                    <p:cTn id="125" fill="hold">
                      <p:stCondLst>
                        <p:cond delay="indefinite"/>
                      </p:stCondLst>
                      <p:childTnLst>
                        <p:par>
                          <p:cTn id="126" fill="hold">
                            <p:stCondLst>
                              <p:cond delay="0"/>
                            </p:stCondLst>
                            <p:childTnLst>
                              <p:par>
                                <p:cTn id="127" presetID="1" presetClass="entr" presetSubtype="0" fill="hold" nodeType="clickEffect">
                                  <p:stCondLst>
                                    <p:cond delay="0"/>
                                  </p:stCondLst>
                                  <p:childTnLst>
                                    <p:set>
                                      <p:cBhvr>
                                        <p:cTn id="128" dur="1" fill="hold">
                                          <p:stCondLst>
                                            <p:cond delay="0"/>
                                          </p:stCondLst>
                                        </p:cTn>
                                        <p:tgtEl>
                                          <p:spTgt spid="59"/>
                                        </p:tgtEl>
                                        <p:attrNameLst>
                                          <p:attrName>style.visibility</p:attrName>
                                        </p:attrNameLst>
                                      </p:cBhvr>
                                      <p:to>
                                        <p:strVal val="visible"/>
                                      </p:to>
                                    </p:set>
                                  </p:childTnLst>
                                </p:cTn>
                              </p:par>
                            </p:childTnLst>
                          </p:cTn>
                        </p:par>
                      </p:childTnLst>
                    </p:cTn>
                  </p:par>
                  <p:par>
                    <p:cTn id="129" fill="hold">
                      <p:stCondLst>
                        <p:cond delay="indefinite"/>
                      </p:stCondLst>
                      <p:childTnLst>
                        <p:par>
                          <p:cTn id="130" fill="hold">
                            <p:stCondLst>
                              <p:cond delay="0"/>
                            </p:stCondLst>
                            <p:childTnLst>
                              <p:par>
                                <p:cTn id="131" presetID="1" presetClass="entr" presetSubtype="0" fill="hold" grpId="0" nodeType="clickEffect">
                                  <p:stCondLst>
                                    <p:cond delay="0"/>
                                  </p:stCondLst>
                                  <p:childTnLst>
                                    <p:set>
                                      <p:cBhvr>
                                        <p:cTn id="132" dur="1" fill="hold">
                                          <p:stCondLst>
                                            <p:cond delay="0"/>
                                          </p:stCondLst>
                                        </p:cTn>
                                        <p:tgtEl>
                                          <p:spTgt spid="50"/>
                                        </p:tgtEl>
                                        <p:attrNameLst>
                                          <p:attrName>style.visibility</p:attrName>
                                        </p:attrNameLst>
                                      </p:cBhvr>
                                      <p:to>
                                        <p:strVal val="visible"/>
                                      </p:to>
                                    </p:set>
                                  </p:childTnLst>
                                </p:cTn>
                              </p:par>
                            </p:childTnLst>
                          </p:cTn>
                        </p:par>
                      </p:childTnLst>
                    </p:cTn>
                  </p:par>
                  <p:par>
                    <p:cTn id="133" fill="hold">
                      <p:stCondLst>
                        <p:cond delay="indefinite"/>
                      </p:stCondLst>
                      <p:childTnLst>
                        <p:par>
                          <p:cTn id="134" fill="hold">
                            <p:stCondLst>
                              <p:cond delay="0"/>
                            </p:stCondLst>
                            <p:childTnLst>
                              <p:par>
                                <p:cTn id="135" presetID="1" presetClass="entr" presetSubtype="0" fill="hold" nodeType="clickEffect">
                                  <p:stCondLst>
                                    <p:cond delay="0"/>
                                  </p:stCondLst>
                                  <p:childTnLst>
                                    <p:set>
                                      <p:cBhvr>
                                        <p:cTn id="136" dur="1" fill="hold">
                                          <p:stCondLst>
                                            <p:cond delay="0"/>
                                          </p:stCondLst>
                                        </p:cTn>
                                        <p:tgtEl>
                                          <p:spTgt spid="62"/>
                                        </p:tgtEl>
                                        <p:attrNameLst>
                                          <p:attrName>style.visibility</p:attrName>
                                        </p:attrNameLst>
                                      </p:cBhvr>
                                      <p:to>
                                        <p:strVal val="visible"/>
                                      </p:to>
                                    </p:set>
                                  </p:childTnLst>
                                </p:cTn>
                              </p:par>
                            </p:childTnLst>
                          </p:cTn>
                        </p:par>
                      </p:childTnLst>
                    </p:cTn>
                  </p:par>
                  <p:par>
                    <p:cTn id="137" fill="hold">
                      <p:stCondLst>
                        <p:cond delay="indefinite"/>
                      </p:stCondLst>
                      <p:childTnLst>
                        <p:par>
                          <p:cTn id="138" fill="hold">
                            <p:stCondLst>
                              <p:cond delay="0"/>
                            </p:stCondLst>
                            <p:childTnLst>
                              <p:par>
                                <p:cTn id="139" presetID="1" presetClass="entr" presetSubtype="0" fill="hold" grpId="0" nodeType="clickEffect">
                                  <p:stCondLst>
                                    <p:cond delay="0"/>
                                  </p:stCondLst>
                                  <p:childTnLst>
                                    <p:set>
                                      <p:cBhvr>
                                        <p:cTn id="140" dur="1" fill="hold">
                                          <p:stCondLst>
                                            <p:cond delay="0"/>
                                          </p:stCondLst>
                                        </p:cTn>
                                        <p:tgtEl>
                                          <p:spTgt spid="68"/>
                                        </p:tgtEl>
                                        <p:attrNameLst>
                                          <p:attrName>style.visibility</p:attrName>
                                        </p:attrNameLst>
                                      </p:cBhvr>
                                      <p:to>
                                        <p:strVal val="visible"/>
                                      </p:to>
                                    </p:set>
                                  </p:childTnLst>
                                </p:cTn>
                              </p:par>
                            </p:childTnLst>
                          </p:cTn>
                        </p:par>
                      </p:childTnLst>
                    </p:cTn>
                  </p:par>
                  <p:par>
                    <p:cTn id="141" fill="hold">
                      <p:stCondLst>
                        <p:cond delay="indefinite"/>
                      </p:stCondLst>
                      <p:childTnLst>
                        <p:par>
                          <p:cTn id="142" fill="hold">
                            <p:stCondLst>
                              <p:cond delay="0"/>
                            </p:stCondLst>
                            <p:childTnLst>
                              <p:par>
                                <p:cTn id="143" presetID="1" presetClass="entr" presetSubtype="0" fill="hold" nodeType="clickEffect">
                                  <p:stCondLst>
                                    <p:cond delay="0"/>
                                  </p:stCondLst>
                                  <p:childTnLst>
                                    <p:set>
                                      <p:cBhvr>
                                        <p:cTn id="144" dur="1" fill="hold">
                                          <p:stCondLst>
                                            <p:cond delay="0"/>
                                          </p:stCondLst>
                                        </p:cTn>
                                        <p:tgtEl>
                                          <p:spTgt spid="51"/>
                                        </p:tgtEl>
                                        <p:attrNameLst>
                                          <p:attrName>style.visibility</p:attrName>
                                        </p:attrNameLst>
                                      </p:cBhvr>
                                      <p:to>
                                        <p:strVal val="visible"/>
                                      </p:to>
                                    </p:set>
                                  </p:childTnLst>
                                </p:cTn>
                              </p:par>
                            </p:childTnLst>
                          </p:cTn>
                        </p:par>
                      </p:childTnLst>
                    </p:cTn>
                  </p:par>
                  <p:par>
                    <p:cTn id="145" fill="hold">
                      <p:stCondLst>
                        <p:cond delay="indefinite"/>
                      </p:stCondLst>
                      <p:childTnLst>
                        <p:par>
                          <p:cTn id="146" fill="hold">
                            <p:stCondLst>
                              <p:cond delay="0"/>
                            </p:stCondLst>
                            <p:childTnLst>
                              <p:par>
                                <p:cTn id="147" presetID="1" presetClass="entr" presetSubtype="0" fill="hold" nodeType="clickEffect">
                                  <p:stCondLst>
                                    <p:cond delay="0"/>
                                  </p:stCondLst>
                                  <p:childTnLst>
                                    <p:set>
                                      <p:cBhvr>
                                        <p:cTn id="148" dur="1" fill="hold">
                                          <p:stCondLst>
                                            <p:cond delay="0"/>
                                          </p:stCondLst>
                                        </p:cTn>
                                        <p:tgtEl>
                                          <p:spTgt spid="65"/>
                                        </p:tgtEl>
                                        <p:attrNameLst>
                                          <p:attrName>style.visibility</p:attrName>
                                        </p:attrNameLst>
                                      </p:cBhvr>
                                      <p:to>
                                        <p:strVal val="visible"/>
                                      </p:to>
                                    </p:set>
                                  </p:childTnLst>
                                </p:cTn>
                              </p:par>
                            </p:childTnLst>
                          </p:cTn>
                        </p:par>
                      </p:childTnLst>
                    </p:cTn>
                  </p:par>
                  <p:par>
                    <p:cTn id="149" fill="hold">
                      <p:stCondLst>
                        <p:cond delay="indefinite"/>
                      </p:stCondLst>
                      <p:childTnLst>
                        <p:par>
                          <p:cTn id="150" fill="hold">
                            <p:stCondLst>
                              <p:cond delay="0"/>
                            </p:stCondLst>
                            <p:childTnLst>
                              <p:par>
                                <p:cTn id="151" presetID="10" presetClass="entr" presetSubtype="0" fill="hold" nodeType="clickEffect">
                                  <p:stCondLst>
                                    <p:cond delay="0"/>
                                  </p:stCondLst>
                                  <p:childTnLst>
                                    <p:set>
                                      <p:cBhvr>
                                        <p:cTn id="152" dur="1" fill="hold">
                                          <p:stCondLst>
                                            <p:cond delay="0"/>
                                          </p:stCondLst>
                                        </p:cTn>
                                        <p:tgtEl>
                                          <p:spTgt spid="69"/>
                                        </p:tgtEl>
                                        <p:attrNameLst>
                                          <p:attrName>style.visibility</p:attrName>
                                        </p:attrNameLst>
                                      </p:cBhvr>
                                      <p:to>
                                        <p:strVal val="visible"/>
                                      </p:to>
                                    </p:set>
                                    <p:animEffect transition="in" filter="fade">
                                      <p:cBhvr>
                                        <p:cTn id="153" dur="500"/>
                                        <p:tgtEl>
                                          <p:spTgt spid="69"/>
                                        </p:tgtEl>
                                      </p:cBhvr>
                                    </p:animEffect>
                                  </p:childTnLst>
                                </p:cTn>
                              </p:par>
                            </p:childTnLst>
                          </p:cTn>
                        </p:par>
                      </p:childTnLst>
                    </p:cTn>
                  </p:par>
                  <p:par>
                    <p:cTn id="154" fill="hold">
                      <p:stCondLst>
                        <p:cond delay="indefinite"/>
                      </p:stCondLst>
                      <p:childTnLst>
                        <p:par>
                          <p:cTn id="155" fill="hold">
                            <p:stCondLst>
                              <p:cond delay="0"/>
                            </p:stCondLst>
                            <p:childTnLst>
                              <p:par>
                                <p:cTn id="156" presetID="10" presetClass="entr" presetSubtype="0" fill="hold" nodeType="clickEffect">
                                  <p:stCondLst>
                                    <p:cond delay="0"/>
                                  </p:stCondLst>
                                  <p:childTnLst>
                                    <p:set>
                                      <p:cBhvr>
                                        <p:cTn id="157" dur="1" fill="hold">
                                          <p:stCondLst>
                                            <p:cond delay="0"/>
                                          </p:stCondLst>
                                        </p:cTn>
                                        <p:tgtEl>
                                          <p:spTgt spid="72"/>
                                        </p:tgtEl>
                                        <p:attrNameLst>
                                          <p:attrName>style.visibility</p:attrName>
                                        </p:attrNameLst>
                                      </p:cBhvr>
                                      <p:to>
                                        <p:strVal val="visible"/>
                                      </p:to>
                                    </p:set>
                                    <p:animEffect transition="in" filter="fade">
                                      <p:cBhvr>
                                        <p:cTn id="158"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9" grpId="0" animBg="1"/>
      <p:bldP spid="10" grpId="0" animBg="1"/>
      <p:bldP spid="23" grpId="0" animBg="1"/>
      <p:bldP spid="30" grpId="0" animBg="1"/>
      <p:bldP spid="46" grpId="0" animBg="1"/>
      <p:bldP spid="50" grpId="0" animBg="1"/>
      <p:bldP spid="54" grpId="0" animBg="1"/>
      <p:bldP spid="55" grpId="0" animBg="1"/>
      <p:bldP spid="68" grpId="0" animBg="1"/>
      <p:bldP spid="75"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99A0732-441B-98D0-80A9-0525F5D91758}"/>
              </a:ext>
            </a:extLst>
          </p:cNvPr>
          <p:cNvSpPr>
            <a:spLocks noGrp="1"/>
          </p:cNvSpPr>
          <p:nvPr>
            <p:ph type="title"/>
          </p:nvPr>
        </p:nvSpPr>
        <p:spPr/>
        <p:txBody>
          <a:bodyPr vert="horz" lIns="91440" tIns="45720" rIns="91440" bIns="45720" rtlCol="0" anchor="b">
            <a:normAutofit/>
          </a:bodyPr>
          <a:lstStyle/>
          <a:p>
            <a:r>
              <a:rPr lang="en-US" altLang="zh-CN" dirty="0">
                <a:solidFill>
                  <a:schemeClr val="bg1"/>
                </a:solidFill>
                <a:latin typeface="Arial" panose="020B0604020202020204" pitchFamily="34" charset="0"/>
                <a:ea typeface="微软雅黑" panose="020B0503020204020204" pitchFamily="34" charset="-122"/>
              </a:rPr>
              <a:t>IPS – Operation Frequency</a:t>
            </a:r>
            <a:endParaRPr lang="zh-CN" altLang="en-US" dirty="0">
              <a:solidFill>
                <a:schemeClr val="bg1"/>
              </a:solidFill>
              <a:latin typeface="Arial" panose="020B0604020202020204" pitchFamily="34" charset="0"/>
              <a:ea typeface="微软雅黑" panose="020B0503020204020204" pitchFamily="34" charset="-122"/>
            </a:endParaRPr>
          </a:p>
        </p:txBody>
      </p:sp>
      <p:sp>
        <p:nvSpPr>
          <p:cNvPr id="4" name="矩形 3">
            <a:extLst>
              <a:ext uri="{FF2B5EF4-FFF2-40B4-BE49-F238E27FC236}">
                <a16:creationId xmlns:a16="http://schemas.microsoft.com/office/drawing/2014/main" id="{DEB119BC-3056-B91B-531A-F8A8569AA649}"/>
              </a:ext>
            </a:extLst>
          </p:cNvPr>
          <p:cNvSpPr/>
          <p:nvPr/>
        </p:nvSpPr>
        <p:spPr>
          <a:xfrm>
            <a:off x="4141250" y="1043031"/>
            <a:ext cx="8050750" cy="5795436"/>
          </a:xfrm>
          <a:prstGeom prst="rect">
            <a:avLst/>
          </a:prstGeom>
          <a:solidFill>
            <a:schemeClr val="bg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cxnSp>
        <p:nvCxnSpPr>
          <p:cNvPr id="5" name="直接连接符 4">
            <a:extLst>
              <a:ext uri="{FF2B5EF4-FFF2-40B4-BE49-F238E27FC236}">
                <a16:creationId xmlns:a16="http://schemas.microsoft.com/office/drawing/2014/main" id="{5172F9E2-A9B8-BFFA-A81E-3723D1083A97}"/>
              </a:ext>
            </a:extLst>
          </p:cNvPr>
          <p:cNvCxnSpPr>
            <a:cxnSpLocks/>
          </p:cNvCxnSpPr>
          <p:nvPr/>
        </p:nvCxnSpPr>
        <p:spPr>
          <a:xfrm>
            <a:off x="58057" y="3388176"/>
            <a:ext cx="12133943" cy="52730"/>
          </a:xfrm>
          <a:prstGeom prst="line">
            <a:avLst/>
          </a:prstGeom>
          <a:ln>
            <a:headEnd type="none"/>
            <a:tailEnd type="none"/>
          </a:ln>
        </p:spPr>
        <p:style>
          <a:lnRef idx="3">
            <a:schemeClr val="accent3"/>
          </a:lnRef>
          <a:fillRef idx="0">
            <a:schemeClr val="accent3"/>
          </a:fillRef>
          <a:effectRef idx="2">
            <a:schemeClr val="accent3"/>
          </a:effectRef>
          <a:fontRef idx="minor">
            <a:schemeClr val="tx1"/>
          </a:fontRef>
        </p:style>
      </p:cxnSp>
      <p:grpSp>
        <p:nvGrpSpPr>
          <p:cNvPr id="6" name="组合 5">
            <a:extLst>
              <a:ext uri="{FF2B5EF4-FFF2-40B4-BE49-F238E27FC236}">
                <a16:creationId xmlns:a16="http://schemas.microsoft.com/office/drawing/2014/main" id="{BC3FB157-A76E-C32A-DC9A-F2E6E5D964DE}"/>
              </a:ext>
            </a:extLst>
          </p:cNvPr>
          <p:cNvGrpSpPr/>
          <p:nvPr/>
        </p:nvGrpSpPr>
        <p:grpSpPr>
          <a:xfrm>
            <a:off x="4740296" y="3669968"/>
            <a:ext cx="6928352" cy="3138424"/>
            <a:chOff x="1347309" y="1183074"/>
            <a:chExt cx="9419194" cy="4480378"/>
          </a:xfrm>
        </p:grpSpPr>
        <p:sp>
          <p:nvSpPr>
            <p:cNvPr id="7" name="矩形 6">
              <a:extLst>
                <a:ext uri="{FF2B5EF4-FFF2-40B4-BE49-F238E27FC236}">
                  <a16:creationId xmlns:a16="http://schemas.microsoft.com/office/drawing/2014/main" id="{861E9E0D-7D8C-5834-C194-8CE685E2E013}"/>
                </a:ext>
              </a:extLst>
            </p:cNvPr>
            <p:cNvSpPr/>
            <p:nvPr/>
          </p:nvSpPr>
          <p:spPr>
            <a:xfrm>
              <a:off x="9041620" y="3253339"/>
              <a:ext cx="1724883" cy="563819"/>
            </a:xfrm>
            <a:prstGeom prst="rect">
              <a:avLst/>
            </a:prstGeom>
            <a:solidFill>
              <a:schemeClr val="accent1">
                <a:lumMod val="75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r>
                <a:rPr lang="en-US" altLang="zh-CN" sz="1200" b="1" dirty="0">
                  <a:ln w="0"/>
                  <a:solidFill>
                    <a:schemeClr val="bg2">
                      <a:lumMod val="20000"/>
                      <a:lumOff val="80000"/>
                    </a:schemeClr>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rPr>
                <a:t>Delivery Plan</a:t>
              </a:r>
              <a:endParaRPr lang="zh-CN" altLang="en-US" sz="1200" b="1" dirty="0">
                <a:ln w="0"/>
                <a:solidFill>
                  <a:schemeClr val="bg2">
                    <a:lumMod val="20000"/>
                    <a:lumOff val="80000"/>
                  </a:schemeClr>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endParaRPr>
            </a:p>
          </p:txBody>
        </p:sp>
        <p:sp>
          <p:nvSpPr>
            <p:cNvPr id="8" name="矩形 7">
              <a:extLst>
                <a:ext uri="{FF2B5EF4-FFF2-40B4-BE49-F238E27FC236}">
                  <a16:creationId xmlns:a16="http://schemas.microsoft.com/office/drawing/2014/main" id="{3D151C39-683E-0612-343B-426EF8A0CB97}"/>
                </a:ext>
              </a:extLst>
            </p:cNvPr>
            <p:cNvSpPr/>
            <p:nvPr/>
          </p:nvSpPr>
          <p:spPr>
            <a:xfrm>
              <a:off x="6203414" y="3253341"/>
              <a:ext cx="1836272" cy="571064"/>
            </a:xfrm>
            <a:prstGeom prst="rect">
              <a:avLst/>
            </a:prstGeom>
            <a:solidFill>
              <a:schemeClr val="accent1">
                <a:lumMod val="7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r>
                <a:rPr lang="en-US" altLang="zh-CN" sz="1200" b="1" dirty="0">
                  <a:ln w="0"/>
                  <a:solidFill>
                    <a:schemeClr val="bg2">
                      <a:lumMod val="20000"/>
                      <a:lumOff val="80000"/>
                    </a:schemeClr>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rPr>
                <a:t>Replenishment Plan</a:t>
              </a:r>
              <a:endParaRPr lang="zh-CN" altLang="en-US" sz="1200" b="1" dirty="0">
                <a:ln w="0"/>
                <a:solidFill>
                  <a:schemeClr val="bg2">
                    <a:lumMod val="20000"/>
                    <a:lumOff val="80000"/>
                  </a:schemeClr>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endParaRPr>
            </a:p>
          </p:txBody>
        </p:sp>
        <p:sp>
          <p:nvSpPr>
            <p:cNvPr id="9" name="矩形 8">
              <a:extLst>
                <a:ext uri="{FF2B5EF4-FFF2-40B4-BE49-F238E27FC236}">
                  <a16:creationId xmlns:a16="http://schemas.microsoft.com/office/drawing/2014/main" id="{BAAA1518-8798-2219-C939-C064E4236A1F}"/>
                </a:ext>
              </a:extLst>
            </p:cNvPr>
            <p:cNvSpPr/>
            <p:nvPr/>
          </p:nvSpPr>
          <p:spPr>
            <a:xfrm>
              <a:off x="3646631" y="3260586"/>
              <a:ext cx="1724883" cy="563819"/>
            </a:xfrm>
            <a:prstGeom prst="rect">
              <a:avLst/>
            </a:prstGeom>
            <a:solidFill>
              <a:schemeClr val="accent1">
                <a:lumMod val="7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r>
                <a:rPr lang="en-US" altLang="zh-CN" sz="1200" b="1" dirty="0">
                  <a:ln w="0"/>
                  <a:solidFill>
                    <a:schemeClr val="bg2">
                      <a:lumMod val="20000"/>
                      <a:lumOff val="80000"/>
                    </a:schemeClr>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rPr>
                <a:t>Factory Plan</a:t>
              </a:r>
              <a:endParaRPr lang="zh-CN" altLang="en-US" sz="1200" b="1" dirty="0">
                <a:ln w="0"/>
                <a:solidFill>
                  <a:schemeClr val="bg2">
                    <a:lumMod val="20000"/>
                    <a:lumOff val="80000"/>
                  </a:schemeClr>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endParaRPr>
            </a:p>
          </p:txBody>
        </p:sp>
        <p:sp>
          <p:nvSpPr>
            <p:cNvPr id="10" name="矩形 9">
              <a:extLst>
                <a:ext uri="{FF2B5EF4-FFF2-40B4-BE49-F238E27FC236}">
                  <a16:creationId xmlns:a16="http://schemas.microsoft.com/office/drawing/2014/main" id="{70507FA1-C660-4081-99A5-367C4D7C5ADD}"/>
                </a:ext>
              </a:extLst>
            </p:cNvPr>
            <p:cNvSpPr/>
            <p:nvPr/>
          </p:nvSpPr>
          <p:spPr>
            <a:xfrm>
              <a:off x="1347309" y="3253340"/>
              <a:ext cx="1724883" cy="563819"/>
            </a:xfrm>
            <a:prstGeom prst="rect">
              <a:avLst/>
            </a:prstGeom>
            <a:solidFill>
              <a:schemeClr val="accent1">
                <a:lumMod val="7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r>
                <a:rPr lang="en-US" altLang="zh-CN" sz="1200" b="1" dirty="0">
                  <a:ln w="0"/>
                  <a:solidFill>
                    <a:schemeClr val="bg2">
                      <a:lumMod val="20000"/>
                      <a:lumOff val="80000"/>
                    </a:schemeClr>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rPr>
                <a:t>Delivery Notes</a:t>
              </a:r>
              <a:endParaRPr lang="zh-CN" altLang="en-US" sz="1200" b="1" dirty="0">
                <a:ln w="0"/>
                <a:solidFill>
                  <a:schemeClr val="bg2">
                    <a:lumMod val="20000"/>
                    <a:lumOff val="80000"/>
                  </a:schemeClr>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endParaRPr>
            </a:p>
          </p:txBody>
        </p:sp>
        <p:sp>
          <p:nvSpPr>
            <p:cNvPr id="11" name="椭圆 10">
              <a:extLst>
                <a:ext uri="{FF2B5EF4-FFF2-40B4-BE49-F238E27FC236}">
                  <a16:creationId xmlns:a16="http://schemas.microsoft.com/office/drawing/2014/main" id="{1F4653DD-D553-479C-5682-69F0F6A2D976}"/>
                </a:ext>
              </a:extLst>
            </p:cNvPr>
            <p:cNvSpPr/>
            <p:nvPr/>
          </p:nvSpPr>
          <p:spPr>
            <a:xfrm>
              <a:off x="3480474" y="4094962"/>
              <a:ext cx="2064992" cy="682783"/>
            </a:xfrm>
            <a:prstGeom prst="ellipse">
              <a:avLst/>
            </a:prstGeom>
            <a:solidFill>
              <a:schemeClr val="tx1">
                <a:lumMod val="75000"/>
                <a:lumOff val="2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r>
                <a:rPr lang="en-US" altLang="zh-CN" sz="1200" b="1" dirty="0">
                  <a:ln w="0"/>
                  <a:solidFill>
                    <a:schemeClr val="bg1"/>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rPr>
                <a:t>Detailed Scheduling</a:t>
              </a:r>
              <a:endParaRPr lang="zh-CN" altLang="en-US" sz="1200" b="1" dirty="0">
                <a:ln w="0"/>
                <a:solidFill>
                  <a:schemeClr val="bg1"/>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endParaRPr>
            </a:p>
          </p:txBody>
        </p:sp>
        <p:sp>
          <p:nvSpPr>
            <p:cNvPr id="12" name="椭圆 11">
              <a:extLst>
                <a:ext uri="{FF2B5EF4-FFF2-40B4-BE49-F238E27FC236}">
                  <a16:creationId xmlns:a16="http://schemas.microsoft.com/office/drawing/2014/main" id="{9E82232E-AC75-9625-7917-D55B5A2E3F73}"/>
                </a:ext>
              </a:extLst>
            </p:cNvPr>
            <p:cNvSpPr/>
            <p:nvPr/>
          </p:nvSpPr>
          <p:spPr>
            <a:xfrm>
              <a:off x="3679088" y="5099633"/>
              <a:ext cx="1724882" cy="563819"/>
            </a:xfrm>
            <a:prstGeom prst="ellipse">
              <a:avLst/>
            </a:prstGeom>
            <a:solidFill>
              <a:srgbClr val="002060"/>
            </a:solidFill>
            <a:ln>
              <a:solidFill>
                <a:srgbClr val="002060"/>
              </a:solidFill>
            </a:ln>
          </p:spPr>
          <p:style>
            <a:lnRef idx="2">
              <a:schemeClr val="accent4">
                <a:shade val="50000"/>
              </a:schemeClr>
            </a:lnRef>
            <a:fillRef idx="1">
              <a:schemeClr val="accent4"/>
            </a:fillRef>
            <a:effectRef idx="0">
              <a:schemeClr val="accent4"/>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r>
                <a:rPr lang="en-US" altLang="zh-CN" sz="1200" b="1" dirty="0">
                  <a:ln w="0"/>
                  <a:solidFill>
                    <a:schemeClr val="bg1"/>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rPr>
                <a:t>Call</a:t>
              </a:r>
              <a:endParaRPr lang="zh-CN" altLang="en-US" sz="1200" b="1" dirty="0">
                <a:ln w="0"/>
                <a:solidFill>
                  <a:schemeClr val="bg1"/>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endParaRPr>
            </a:p>
          </p:txBody>
        </p:sp>
        <p:sp>
          <p:nvSpPr>
            <p:cNvPr id="13" name="椭圆 12">
              <a:extLst>
                <a:ext uri="{FF2B5EF4-FFF2-40B4-BE49-F238E27FC236}">
                  <a16:creationId xmlns:a16="http://schemas.microsoft.com/office/drawing/2014/main" id="{453F44E4-083E-3C53-CFEF-949B7A215D22}"/>
                </a:ext>
              </a:extLst>
            </p:cNvPr>
            <p:cNvSpPr/>
            <p:nvPr/>
          </p:nvSpPr>
          <p:spPr>
            <a:xfrm>
              <a:off x="4618078" y="1183074"/>
              <a:ext cx="2452465" cy="1110469"/>
            </a:xfrm>
            <a:prstGeom prst="ellipse">
              <a:avLst/>
            </a:prstGeom>
            <a:solidFill>
              <a:schemeClr val="accent1">
                <a:lumMod val="7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r>
                <a:rPr lang="en-US" altLang="zh-CN" sz="1200" b="1" dirty="0">
                  <a:ln w="0"/>
                  <a:solidFill>
                    <a:schemeClr val="bg2">
                      <a:lumMod val="20000"/>
                      <a:lumOff val="80000"/>
                    </a:schemeClr>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rPr>
                <a:t>IOP</a:t>
              </a:r>
              <a:endParaRPr lang="zh-CN" altLang="en-US" sz="1200" b="1" dirty="0">
                <a:ln w="0"/>
                <a:solidFill>
                  <a:schemeClr val="bg2">
                    <a:lumMod val="20000"/>
                    <a:lumOff val="80000"/>
                  </a:schemeClr>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endParaRPr>
            </a:p>
          </p:txBody>
        </p:sp>
        <p:cxnSp>
          <p:nvCxnSpPr>
            <p:cNvPr id="14" name="连接符: 肘形 13">
              <a:extLst>
                <a:ext uri="{FF2B5EF4-FFF2-40B4-BE49-F238E27FC236}">
                  <a16:creationId xmlns:a16="http://schemas.microsoft.com/office/drawing/2014/main" id="{0391A407-61B5-BA1D-1590-57B3B9CC70A9}"/>
                </a:ext>
              </a:extLst>
            </p:cNvPr>
            <p:cNvCxnSpPr>
              <a:stCxn id="13" idx="2"/>
              <a:endCxn id="10" idx="0"/>
            </p:cNvCxnSpPr>
            <p:nvPr/>
          </p:nvCxnSpPr>
          <p:spPr>
            <a:xfrm rot="10800000" flipV="1">
              <a:off x="2209752" y="1738308"/>
              <a:ext cx="2408327" cy="1515031"/>
            </a:xfrm>
            <a:prstGeom prst="bentConnector2">
              <a:avLst/>
            </a:prstGeom>
            <a:ln>
              <a:solidFill>
                <a:schemeClr val="tx2"/>
              </a:solidFill>
              <a:tailEnd type="triangle"/>
            </a:ln>
          </p:spPr>
          <p:style>
            <a:lnRef idx="2">
              <a:schemeClr val="accent1"/>
            </a:lnRef>
            <a:fillRef idx="0">
              <a:schemeClr val="accent1"/>
            </a:fillRef>
            <a:effectRef idx="1">
              <a:schemeClr val="accent1"/>
            </a:effectRef>
            <a:fontRef idx="minor">
              <a:schemeClr val="tx1"/>
            </a:fontRef>
          </p:style>
        </p:cxnSp>
        <p:cxnSp>
          <p:nvCxnSpPr>
            <p:cNvPr id="15" name="连接符: 肘形 14">
              <a:extLst>
                <a:ext uri="{FF2B5EF4-FFF2-40B4-BE49-F238E27FC236}">
                  <a16:creationId xmlns:a16="http://schemas.microsoft.com/office/drawing/2014/main" id="{751CB942-0E79-C765-B03F-55E8CEF5EBAC}"/>
                </a:ext>
              </a:extLst>
            </p:cNvPr>
            <p:cNvCxnSpPr>
              <a:cxnSpLocks/>
              <a:stCxn id="13" idx="4"/>
              <a:endCxn id="9" idx="0"/>
            </p:cNvCxnSpPr>
            <p:nvPr/>
          </p:nvCxnSpPr>
          <p:spPr>
            <a:xfrm rot="5400000">
              <a:off x="4693171" y="2109445"/>
              <a:ext cx="967043" cy="1335238"/>
            </a:xfrm>
            <a:prstGeom prst="bentConnector3">
              <a:avLst>
                <a:gd name="adj1" fmla="val 50000"/>
              </a:avLst>
            </a:prstGeom>
            <a:ln>
              <a:solidFill>
                <a:schemeClr val="tx2"/>
              </a:solidFill>
              <a:tailEnd type="triangle"/>
            </a:ln>
          </p:spPr>
          <p:style>
            <a:lnRef idx="2">
              <a:schemeClr val="accent1"/>
            </a:lnRef>
            <a:fillRef idx="0">
              <a:schemeClr val="accent1"/>
            </a:fillRef>
            <a:effectRef idx="1">
              <a:schemeClr val="accent1"/>
            </a:effectRef>
            <a:fontRef idx="minor">
              <a:schemeClr val="tx1"/>
            </a:fontRef>
          </p:style>
        </p:cxnSp>
        <p:cxnSp>
          <p:nvCxnSpPr>
            <p:cNvPr id="16" name="连接符: 肘形 15">
              <a:extLst>
                <a:ext uri="{FF2B5EF4-FFF2-40B4-BE49-F238E27FC236}">
                  <a16:creationId xmlns:a16="http://schemas.microsoft.com/office/drawing/2014/main" id="{BF42595A-625E-AFFA-F202-534239BE2AF4}"/>
                </a:ext>
              </a:extLst>
            </p:cNvPr>
            <p:cNvCxnSpPr>
              <a:cxnSpLocks/>
              <a:stCxn id="13" idx="4"/>
              <a:endCxn id="8" idx="0"/>
            </p:cNvCxnSpPr>
            <p:nvPr/>
          </p:nvCxnSpPr>
          <p:spPr>
            <a:xfrm rot="16200000" flipH="1">
              <a:off x="6003031" y="2134822"/>
              <a:ext cx="959798" cy="1277239"/>
            </a:xfrm>
            <a:prstGeom prst="bentConnector3">
              <a:avLst/>
            </a:prstGeom>
            <a:ln>
              <a:solidFill>
                <a:schemeClr val="tx2"/>
              </a:solidFill>
              <a:tailEnd type="triangle"/>
            </a:ln>
          </p:spPr>
          <p:style>
            <a:lnRef idx="2">
              <a:schemeClr val="accent1"/>
            </a:lnRef>
            <a:fillRef idx="0">
              <a:schemeClr val="accent1"/>
            </a:fillRef>
            <a:effectRef idx="1">
              <a:schemeClr val="accent1"/>
            </a:effectRef>
            <a:fontRef idx="minor">
              <a:schemeClr val="tx1"/>
            </a:fontRef>
          </p:style>
        </p:cxnSp>
        <p:cxnSp>
          <p:nvCxnSpPr>
            <p:cNvPr id="17" name="连接符: 肘形 16">
              <a:extLst>
                <a:ext uri="{FF2B5EF4-FFF2-40B4-BE49-F238E27FC236}">
                  <a16:creationId xmlns:a16="http://schemas.microsoft.com/office/drawing/2014/main" id="{BB2E077A-FEEA-D4CA-BFE9-C9266EFC564D}"/>
                </a:ext>
              </a:extLst>
            </p:cNvPr>
            <p:cNvCxnSpPr>
              <a:stCxn id="13" idx="6"/>
              <a:endCxn id="7" idx="0"/>
            </p:cNvCxnSpPr>
            <p:nvPr/>
          </p:nvCxnSpPr>
          <p:spPr>
            <a:xfrm>
              <a:off x="7070543" y="1738309"/>
              <a:ext cx="2833519" cy="1515030"/>
            </a:xfrm>
            <a:prstGeom prst="bentConnector2">
              <a:avLst/>
            </a:prstGeom>
            <a:ln>
              <a:solidFill>
                <a:schemeClr val="tx2"/>
              </a:solidFill>
              <a:tailEnd type="triangle"/>
            </a:ln>
          </p:spPr>
          <p:style>
            <a:lnRef idx="2">
              <a:schemeClr val="accent1"/>
            </a:lnRef>
            <a:fillRef idx="0">
              <a:schemeClr val="accent1"/>
            </a:fillRef>
            <a:effectRef idx="1">
              <a:schemeClr val="accent1"/>
            </a:effectRef>
            <a:fontRef idx="minor">
              <a:schemeClr val="tx1"/>
            </a:fontRef>
          </p:style>
        </p:cxnSp>
        <p:cxnSp>
          <p:nvCxnSpPr>
            <p:cNvPr id="18" name="连接符: 肘形 17">
              <a:extLst>
                <a:ext uri="{FF2B5EF4-FFF2-40B4-BE49-F238E27FC236}">
                  <a16:creationId xmlns:a16="http://schemas.microsoft.com/office/drawing/2014/main" id="{4F0EFE69-10E2-23B2-8D61-9AF553F03643}"/>
                </a:ext>
              </a:extLst>
            </p:cNvPr>
            <p:cNvCxnSpPr>
              <a:cxnSpLocks/>
              <a:stCxn id="9" idx="2"/>
              <a:endCxn id="11" idx="0"/>
            </p:cNvCxnSpPr>
            <p:nvPr/>
          </p:nvCxnSpPr>
          <p:spPr>
            <a:xfrm rot="16200000" flipH="1">
              <a:off x="4375743" y="3957734"/>
              <a:ext cx="270556" cy="3898"/>
            </a:xfrm>
            <a:prstGeom prst="bentConnector3">
              <a:avLst>
                <a:gd name="adj1" fmla="val 50000"/>
              </a:avLst>
            </a:prstGeom>
            <a:ln>
              <a:solidFill>
                <a:schemeClr val="tx2"/>
              </a:solidFill>
              <a:tailEnd type="triangle"/>
            </a:ln>
          </p:spPr>
          <p:style>
            <a:lnRef idx="2">
              <a:schemeClr val="accent1"/>
            </a:lnRef>
            <a:fillRef idx="0">
              <a:schemeClr val="accent1"/>
            </a:fillRef>
            <a:effectRef idx="1">
              <a:schemeClr val="accent1"/>
            </a:effectRef>
            <a:fontRef idx="minor">
              <a:schemeClr val="tx1"/>
            </a:fontRef>
          </p:style>
        </p:cxnSp>
        <p:cxnSp>
          <p:nvCxnSpPr>
            <p:cNvPr id="19" name="连接符: 肘形 18">
              <a:extLst>
                <a:ext uri="{FF2B5EF4-FFF2-40B4-BE49-F238E27FC236}">
                  <a16:creationId xmlns:a16="http://schemas.microsoft.com/office/drawing/2014/main" id="{EC27E264-3BBF-D270-0D58-929EF333D009}"/>
                </a:ext>
              </a:extLst>
            </p:cNvPr>
            <p:cNvCxnSpPr>
              <a:cxnSpLocks/>
            </p:cNvCxnSpPr>
            <p:nvPr/>
          </p:nvCxnSpPr>
          <p:spPr>
            <a:xfrm rot="5400000">
              <a:off x="4312721" y="4974300"/>
              <a:ext cx="392706" cy="17266"/>
            </a:xfrm>
            <a:prstGeom prst="bentConnector3">
              <a:avLst>
                <a:gd name="adj1" fmla="val 111914"/>
              </a:avLst>
            </a:prstGeom>
            <a:ln>
              <a:solidFill>
                <a:schemeClr val="tx2"/>
              </a:solidFill>
              <a:tailEnd type="triangle"/>
            </a:ln>
          </p:spPr>
          <p:style>
            <a:lnRef idx="2">
              <a:schemeClr val="accent1"/>
            </a:lnRef>
            <a:fillRef idx="0">
              <a:schemeClr val="accent1"/>
            </a:fillRef>
            <a:effectRef idx="1">
              <a:schemeClr val="accent1"/>
            </a:effectRef>
            <a:fontRef idx="minor">
              <a:schemeClr val="tx1"/>
            </a:fontRef>
          </p:style>
        </p:cxnSp>
      </p:grpSp>
      <p:sp>
        <p:nvSpPr>
          <p:cNvPr id="20" name="椭圆 19">
            <a:extLst>
              <a:ext uri="{FF2B5EF4-FFF2-40B4-BE49-F238E27FC236}">
                <a16:creationId xmlns:a16="http://schemas.microsoft.com/office/drawing/2014/main" id="{47B376A0-A757-5E24-7A9C-E95B0C7D6BFB}"/>
              </a:ext>
            </a:extLst>
          </p:cNvPr>
          <p:cNvSpPr/>
          <p:nvPr/>
        </p:nvSpPr>
        <p:spPr>
          <a:xfrm>
            <a:off x="7146131" y="1246291"/>
            <a:ext cx="1803927" cy="777864"/>
          </a:xfrm>
          <a:prstGeom prst="ellipse">
            <a:avLst/>
          </a:prstGeom>
          <a:solidFill>
            <a:schemeClr val="accent1">
              <a:lumMod val="40000"/>
              <a:lumOff val="60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r>
              <a:rPr lang="en-US" altLang="zh-CN" sz="1200" b="1" dirty="0">
                <a:ln w="0"/>
                <a:solidFill>
                  <a:schemeClr val="tx1"/>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rPr>
              <a:t>ITP - MRP</a:t>
            </a:r>
            <a:endParaRPr lang="zh-CN" altLang="en-US" sz="1200" b="1" dirty="0">
              <a:ln w="0"/>
              <a:solidFill>
                <a:schemeClr val="tx1"/>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endParaRPr>
          </a:p>
        </p:txBody>
      </p:sp>
      <p:sp>
        <p:nvSpPr>
          <p:cNvPr id="21" name="椭圆 20">
            <a:extLst>
              <a:ext uri="{FF2B5EF4-FFF2-40B4-BE49-F238E27FC236}">
                <a16:creationId xmlns:a16="http://schemas.microsoft.com/office/drawing/2014/main" id="{46FB948A-BBBD-27D7-D2C1-B3A23A917F2B}"/>
              </a:ext>
            </a:extLst>
          </p:cNvPr>
          <p:cNvSpPr/>
          <p:nvPr/>
        </p:nvSpPr>
        <p:spPr>
          <a:xfrm>
            <a:off x="7148707" y="2162121"/>
            <a:ext cx="1803927" cy="777864"/>
          </a:xfrm>
          <a:prstGeom prst="ellipse">
            <a:avLst/>
          </a:prstGeom>
          <a:solidFill>
            <a:schemeClr val="accent1">
              <a:lumMod val="40000"/>
              <a:lumOff val="60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r>
              <a:rPr lang="en-US" altLang="zh-CN" sz="1200" b="1" dirty="0">
                <a:ln w="0"/>
                <a:solidFill>
                  <a:schemeClr val="tx1"/>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rPr>
              <a:t>ITP – Closed-Loop MRP</a:t>
            </a:r>
            <a:endParaRPr lang="zh-CN" altLang="en-US" sz="1200" b="1" dirty="0">
              <a:ln w="0"/>
              <a:solidFill>
                <a:schemeClr val="tx1"/>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endParaRPr>
          </a:p>
        </p:txBody>
      </p:sp>
      <p:sp>
        <p:nvSpPr>
          <p:cNvPr id="22" name="椭圆 21">
            <a:extLst>
              <a:ext uri="{FF2B5EF4-FFF2-40B4-BE49-F238E27FC236}">
                <a16:creationId xmlns:a16="http://schemas.microsoft.com/office/drawing/2014/main" id="{2E3B0580-D1E5-3DC4-E13C-526B70B1CE34}"/>
              </a:ext>
            </a:extLst>
          </p:cNvPr>
          <p:cNvSpPr/>
          <p:nvPr/>
        </p:nvSpPr>
        <p:spPr>
          <a:xfrm>
            <a:off x="4257364" y="1852245"/>
            <a:ext cx="1800000" cy="561452"/>
          </a:xfrm>
          <a:prstGeom prst="ellipse">
            <a:avLst/>
          </a:prstGeom>
          <a:solidFill>
            <a:schemeClr val="accent1">
              <a:lumMod val="40000"/>
              <a:lumOff val="60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r>
              <a:rPr lang="en-US" altLang="zh-CN" sz="1200" b="1" dirty="0">
                <a:ln w="0"/>
                <a:solidFill>
                  <a:schemeClr val="tx1"/>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rPr>
              <a:t>Supplier Collaboration</a:t>
            </a:r>
            <a:endParaRPr lang="zh-CN" altLang="en-US" sz="1200" b="1" dirty="0">
              <a:ln w="0"/>
              <a:solidFill>
                <a:schemeClr val="tx1"/>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endParaRPr>
          </a:p>
        </p:txBody>
      </p:sp>
      <p:sp>
        <p:nvSpPr>
          <p:cNvPr id="23" name="椭圆 22">
            <a:extLst>
              <a:ext uri="{FF2B5EF4-FFF2-40B4-BE49-F238E27FC236}">
                <a16:creationId xmlns:a16="http://schemas.microsoft.com/office/drawing/2014/main" id="{58B1E6CC-86FE-1C6E-0615-A873EEAD4B8B}"/>
              </a:ext>
            </a:extLst>
          </p:cNvPr>
          <p:cNvSpPr/>
          <p:nvPr/>
        </p:nvSpPr>
        <p:spPr>
          <a:xfrm>
            <a:off x="10298527" y="1852243"/>
            <a:ext cx="1800000" cy="561453"/>
          </a:xfrm>
          <a:prstGeom prst="ellipse">
            <a:avLst/>
          </a:prstGeom>
          <a:solidFill>
            <a:schemeClr val="accent1">
              <a:lumMod val="40000"/>
              <a:lumOff val="60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r>
              <a:rPr lang="en-US" altLang="zh-CN" sz="1200" b="1" dirty="0">
                <a:ln w="0"/>
                <a:solidFill>
                  <a:schemeClr val="tx1"/>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rPr>
              <a:t>Capacity Planning</a:t>
            </a:r>
            <a:endParaRPr lang="zh-CN" altLang="en-US" sz="1200" b="1" dirty="0">
              <a:ln w="0"/>
              <a:solidFill>
                <a:schemeClr val="tx1"/>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endParaRPr>
          </a:p>
        </p:txBody>
      </p:sp>
      <p:cxnSp>
        <p:nvCxnSpPr>
          <p:cNvPr id="24" name="连接符: 肘形 23">
            <a:extLst>
              <a:ext uri="{FF2B5EF4-FFF2-40B4-BE49-F238E27FC236}">
                <a16:creationId xmlns:a16="http://schemas.microsoft.com/office/drawing/2014/main" id="{BE7CE2E2-FA0B-CD26-3005-C55BC328EDA3}"/>
              </a:ext>
            </a:extLst>
          </p:cNvPr>
          <p:cNvCxnSpPr>
            <a:cxnSpLocks/>
            <a:stCxn id="20" idx="2"/>
            <a:endCxn id="22" idx="0"/>
          </p:cNvCxnSpPr>
          <p:nvPr/>
        </p:nvCxnSpPr>
        <p:spPr>
          <a:xfrm rot="10800000" flipV="1">
            <a:off x="5157365" y="1635223"/>
            <a:ext cx="1988767" cy="217022"/>
          </a:xfrm>
          <a:prstGeom prst="bentConnector2">
            <a:avLst/>
          </a:prstGeom>
          <a:ln w="12700">
            <a:solidFill>
              <a:schemeClr val="tx2"/>
            </a:solidFill>
            <a:headEnd type="none"/>
            <a:tailEnd type="triangle"/>
          </a:ln>
        </p:spPr>
        <p:style>
          <a:lnRef idx="1">
            <a:schemeClr val="accent2"/>
          </a:lnRef>
          <a:fillRef idx="0">
            <a:schemeClr val="accent2"/>
          </a:fillRef>
          <a:effectRef idx="0">
            <a:schemeClr val="accent2"/>
          </a:effectRef>
          <a:fontRef idx="minor">
            <a:schemeClr val="tx1"/>
          </a:fontRef>
        </p:style>
      </p:cxnSp>
      <p:cxnSp>
        <p:nvCxnSpPr>
          <p:cNvPr id="25" name="连接符: 肘形 24">
            <a:extLst>
              <a:ext uri="{FF2B5EF4-FFF2-40B4-BE49-F238E27FC236}">
                <a16:creationId xmlns:a16="http://schemas.microsoft.com/office/drawing/2014/main" id="{7026BC1C-5803-3C76-B25D-5FBECD2F898A}"/>
              </a:ext>
            </a:extLst>
          </p:cNvPr>
          <p:cNvCxnSpPr>
            <a:cxnSpLocks/>
            <a:stCxn id="20" idx="6"/>
            <a:endCxn id="23" idx="0"/>
          </p:cNvCxnSpPr>
          <p:nvPr/>
        </p:nvCxnSpPr>
        <p:spPr>
          <a:xfrm>
            <a:off x="8950058" y="1635223"/>
            <a:ext cx="2248469" cy="217020"/>
          </a:xfrm>
          <a:prstGeom prst="bentConnector2">
            <a:avLst/>
          </a:prstGeom>
          <a:ln w="12700">
            <a:solidFill>
              <a:schemeClr val="tx2"/>
            </a:solidFill>
            <a:headEnd type="none"/>
            <a:tailEnd type="triangle"/>
          </a:ln>
        </p:spPr>
        <p:style>
          <a:lnRef idx="1">
            <a:schemeClr val="accent2"/>
          </a:lnRef>
          <a:fillRef idx="0">
            <a:schemeClr val="accent2"/>
          </a:fillRef>
          <a:effectRef idx="0">
            <a:schemeClr val="accent2"/>
          </a:effectRef>
          <a:fontRef idx="minor">
            <a:schemeClr val="tx1"/>
          </a:fontRef>
        </p:style>
      </p:cxnSp>
      <p:cxnSp>
        <p:nvCxnSpPr>
          <p:cNvPr id="26" name="连接符: 肘形 25">
            <a:extLst>
              <a:ext uri="{FF2B5EF4-FFF2-40B4-BE49-F238E27FC236}">
                <a16:creationId xmlns:a16="http://schemas.microsoft.com/office/drawing/2014/main" id="{FA336A70-C090-8577-33ED-932B201FB6C2}"/>
              </a:ext>
            </a:extLst>
          </p:cNvPr>
          <p:cNvCxnSpPr>
            <a:cxnSpLocks/>
            <a:stCxn id="22" idx="4"/>
            <a:endCxn id="21" idx="2"/>
          </p:cNvCxnSpPr>
          <p:nvPr/>
        </p:nvCxnSpPr>
        <p:spPr>
          <a:xfrm rot="16200000" flipH="1">
            <a:off x="6084357" y="1486703"/>
            <a:ext cx="137356" cy="1991343"/>
          </a:xfrm>
          <a:prstGeom prst="bentConnector2">
            <a:avLst/>
          </a:prstGeom>
          <a:ln w="12700">
            <a:solidFill>
              <a:schemeClr val="tx2"/>
            </a:solidFill>
            <a:headEnd type="none"/>
            <a:tailEnd type="triangle"/>
          </a:ln>
        </p:spPr>
        <p:style>
          <a:lnRef idx="1">
            <a:schemeClr val="accent2"/>
          </a:lnRef>
          <a:fillRef idx="0">
            <a:schemeClr val="accent2"/>
          </a:fillRef>
          <a:effectRef idx="0">
            <a:schemeClr val="accent2"/>
          </a:effectRef>
          <a:fontRef idx="minor">
            <a:schemeClr val="tx1"/>
          </a:fontRef>
        </p:style>
      </p:cxnSp>
      <p:cxnSp>
        <p:nvCxnSpPr>
          <p:cNvPr id="27" name="连接符: 肘形 26">
            <a:extLst>
              <a:ext uri="{FF2B5EF4-FFF2-40B4-BE49-F238E27FC236}">
                <a16:creationId xmlns:a16="http://schemas.microsoft.com/office/drawing/2014/main" id="{9679E774-8D0E-983C-ACE6-2BDFE080FE2C}"/>
              </a:ext>
            </a:extLst>
          </p:cNvPr>
          <p:cNvCxnSpPr>
            <a:cxnSpLocks/>
            <a:stCxn id="23" idx="4"/>
            <a:endCxn id="21" idx="6"/>
          </p:cNvCxnSpPr>
          <p:nvPr/>
        </p:nvCxnSpPr>
        <p:spPr>
          <a:xfrm rot="5400000">
            <a:off x="10006903" y="1359428"/>
            <a:ext cx="137357" cy="2245893"/>
          </a:xfrm>
          <a:prstGeom prst="bentConnector2">
            <a:avLst/>
          </a:prstGeom>
          <a:ln w="12700">
            <a:solidFill>
              <a:schemeClr val="tx2"/>
            </a:solidFill>
            <a:headEnd type="none"/>
            <a:tailEnd type="triangle"/>
          </a:ln>
        </p:spPr>
        <p:style>
          <a:lnRef idx="1">
            <a:schemeClr val="accent2"/>
          </a:lnRef>
          <a:fillRef idx="0">
            <a:schemeClr val="accent2"/>
          </a:fillRef>
          <a:effectRef idx="0">
            <a:schemeClr val="accent2"/>
          </a:effectRef>
          <a:fontRef idx="minor">
            <a:schemeClr val="tx1"/>
          </a:fontRef>
        </p:style>
      </p:cxnSp>
      <p:sp>
        <p:nvSpPr>
          <p:cNvPr id="28" name="矩形 27">
            <a:extLst>
              <a:ext uri="{FF2B5EF4-FFF2-40B4-BE49-F238E27FC236}">
                <a16:creationId xmlns:a16="http://schemas.microsoft.com/office/drawing/2014/main" id="{A7278224-43FD-F0F3-9BAB-69C0843CC0DB}"/>
              </a:ext>
            </a:extLst>
          </p:cNvPr>
          <p:cNvSpPr/>
          <p:nvPr/>
        </p:nvSpPr>
        <p:spPr>
          <a:xfrm>
            <a:off x="7413719" y="3127874"/>
            <a:ext cx="1268749" cy="394945"/>
          </a:xfrm>
          <a:prstGeom prst="rect">
            <a:avLst/>
          </a:prstGeom>
          <a:solidFill>
            <a:schemeClr val="bg2">
              <a:lumMod val="75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r>
              <a:rPr lang="en-US" altLang="zh-CN" sz="1200" b="1" dirty="0">
                <a:ln w="0"/>
                <a:solidFill>
                  <a:schemeClr val="bg2">
                    <a:lumMod val="20000"/>
                    <a:lumOff val="80000"/>
                  </a:schemeClr>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rPr>
              <a:t>Allotment </a:t>
            </a:r>
            <a:endParaRPr lang="zh-CN" altLang="en-US" sz="1200" b="1" dirty="0">
              <a:ln w="0"/>
              <a:solidFill>
                <a:schemeClr val="bg2">
                  <a:lumMod val="20000"/>
                  <a:lumOff val="80000"/>
                </a:schemeClr>
              </a:solidFill>
              <a:effectLst>
                <a:outerShdw blurRad="38100" dist="19050" dir="2700000" algn="tl" rotWithShape="0">
                  <a:schemeClr val="dk1">
                    <a:alpha val="40000"/>
                  </a:schemeClr>
                </a:outerShdw>
              </a:effectLst>
              <a:latin typeface="Arial" panose="020B0604020202020204" pitchFamily="34" charset="0"/>
              <a:ea typeface="微软雅黑" panose="020B0503020204020204" pitchFamily="34" charset="-122"/>
            </a:endParaRPr>
          </a:p>
        </p:txBody>
      </p:sp>
      <p:cxnSp>
        <p:nvCxnSpPr>
          <p:cNvPr id="29" name="连接符: 肘形 28">
            <a:extLst>
              <a:ext uri="{FF2B5EF4-FFF2-40B4-BE49-F238E27FC236}">
                <a16:creationId xmlns:a16="http://schemas.microsoft.com/office/drawing/2014/main" id="{25DD4CD8-5705-BD29-2F08-89BC75E86E3D}"/>
              </a:ext>
            </a:extLst>
          </p:cNvPr>
          <p:cNvCxnSpPr>
            <a:cxnSpLocks/>
            <a:stCxn id="21" idx="4"/>
            <a:endCxn id="28" idx="0"/>
          </p:cNvCxnSpPr>
          <p:nvPr/>
        </p:nvCxnSpPr>
        <p:spPr>
          <a:xfrm rot="5400000">
            <a:off x="7955439" y="3032641"/>
            <a:ext cx="187889" cy="2577"/>
          </a:xfrm>
          <a:prstGeom prst="bentConnector3">
            <a:avLst>
              <a:gd name="adj1" fmla="val 50000"/>
            </a:avLst>
          </a:prstGeom>
          <a:ln w="12700">
            <a:solidFill>
              <a:schemeClr val="tx2"/>
            </a:solidFill>
            <a:headEnd type="none"/>
            <a:tailEnd type="triangle"/>
          </a:ln>
        </p:spPr>
        <p:style>
          <a:lnRef idx="1">
            <a:schemeClr val="accent2"/>
          </a:lnRef>
          <a:fillRef idx="0">
            <a:schemeClr val="accent2"/>
          </a:fillRef>
          <a:effectRef idx="0">
            <a:schemeClr val="accent2"/>
          </a:effectRef>
          <a:fontRef idx="minor">
            <a:schemeClr val="tx1"/>
          </a:fontRef>
        </p:style>
      </p:cxnSp>
      <p:cxnSp>
        <p:nvCxnSpPr>
          <p:cNvPr id="30" name="连接符: 肘形 29">
            <a:extLst>
              <a:ext uri="{FF2B5EF4-FFF2-40B4-BE49-F238E27FC236}">
                <a16:creationId xmlns:a16="http://schemas.microsoft.com/office/drawing/2014/main" id="{08AFFC9B-34D2-2753-4EB1-42D36AD09B15}"/>
              </a:ext>
            </a:extLst>
          </p:cNvPr>
          <p:cNvCxnSpPr>
            <a:cxnSpLocks/>
            <a:stCxn id="28" idx="2"/>
            <a:endCxn id="13" idx="0"/>
          </p:cNvCxnSpPr>
          <p:nvPr/>
        </p:nvCxnSpPr>
        <p:spPr>
          <a:xfrm rot="16200000" flipH="1">
            <a:off x="7974521" y="3596392"/>
            <a:ext cx="147149" cy="2"/>
          </a:xfrm>
          <a:prstGeom prst="bentConnector3">
            <a:avLst>
              <a:gd name="adj1" fmla="val 50000"/>
            </a:avLst>
          </a:prstGeom>
          <a:ln w="12700">
            <a:solidFill>
              <a:schemeClr val="tx2"/>
            </a:solidFill>
            <a:headEnd type="none"/>
            <a:tailEnd type="triangle"/>
          </a:ln>
        </p:spPr>
        <p:style>
          <a:lnRef idx="1">
            <a:schemeClr val="accent2"/>
          </a:lnRef>
          <a:fillRef idx="0">
            <a:schemeClr val="accent2"/>
          </a:fillRef>
          <a:effectRef idx="0">
            <a:schemeClr val="accent2"/>
          </a:effectRef>
          <a:fontRef idx="minor">
            <a:schemeClr val="tx1"/>
          </a:fontRef>
        </p:style>
      </p:cxnSp>
      <p:sp>
        <p:nvSpPr>
          <p:cNvPr id="31" name="矩形 30">
            <a:extLst>
              <a:ext uri="{FF2B5EF4-FFF2-40B4-BE49-F238E27FC236}">
                <a16:creationId xmlns:a16="http://schemas.microsoft.com/office/drawing/2014/main" id="{6F9152B3-831F-6285-103E-CB35712B67AC}"/>
              </a:ext>
            </a:extLst>
          </p:cNvPr>
          <p:cNvSpPr/>
          <p:nvPr/>
        </p:nvSpPr>
        <p:spPr>
          <a:xfrm>
            <a:off x="10122" y="1043031"/>
            <a:ext cx="4131127" cy="2371509"/>
          </a:xfrm>
          <a:prstGeom prst="rect">
            <a:avLst/>
          </a:prstGeom>
          <a:solidFill>
            <a:schemeClr val="accent1">
              <a:lumMod val="60000"/>
              <a:lumOff val="40000"/>
            </a:schemeClr>
          </a:solidFill>
        </p:spPr>
        <p:style>
          <a:lnRef idx="2">
            <a:schemeClr val="accent2">
              <a:shade val="15000"/>
            </a:schemeClr>
          </a:lnRef>
          <a:fillRef idx="1">
            <a:schemeClr val="accent2"/>
          </a:fillRef>
          <a:effectRef idx="0">
            <a:schemeClr val="accent2"/>
          </a:effectRef>
          <a:fontRef idx="minor">
            <a:schemeClr val="lt1"/>
          </a:fontRef>
        </p:style>
        <p:txBody>
          <a:bodyPr rtlCol="0" anchor="ctr"/>
          <a:lstStyle/>
          <a:p>
            <a:r>
              <a:rPr lang="zh-CN" altLang="en-US" sz="1400" b="1" dirty="0">
                <a:solidFill>
                  <a:schemeClr val="bg2"/>
                </a:solidFill>
                <a:latin typeface="Arial" panose="020B0604020202020204" pitchFamily="34" charset="0"/>
                <a:ea typeface="微软雅黑" panose="020B0503020204020204" pitchFamily="34" charset="-122"/>
              </a:rPr>
              <a:t>战略到战术层：</a:t>
            </a:r>
            <a:endParaRPr lang="en-US" altLang="zh-CN" sz="1400" b="1" dirty="0">
              <a:solidFill>
                <a:schemeClr val="bg2"/>
              </a:solidFill>
              <a:latin typeface="Arial" panose="020B0604020202020204" pitchFamily="34" charset="0"/>
              <a:ea typeface="微软雅黑" panose="020B0503020204020204" pitchFamily="34" charset="-122"/>
            </a:endParaRPr>
          </a:p>
          <a:p>
            <a:r>
              <a:rPr lang="en-US" altLang="zh-CN" sz="1400" b="1" dirty="0">
                <a:solidFill>
                  <a:schemeClr val="bg2"/>
                </a:solidFill>
                <a:latin typeface="Arial" panose="020B0604020202020204" pitchFamily="34" charset="0"/>
                <a:ea typeface="微软雅黑" panose="020B0503020204020204" pitchFamily="34" charset="-122"/>
              </a:rPr>
              <a:t>  </a:t>
            </a:r>
            <a:r>
              <a:rPr lang="zh-CN" altLang="en-US" sz="1400" b="1" dirty="0">
                <a:solidFill>
                  <a:schemeClr val="bg2"/>
                </a:solidFill>
                <a:latin typeface="Arial" panose="020B0604020202020204" pitchFamily="34" charset="0"/>
                <a:ea typeface="微软雅黑" panose="020B0503020204020204" pitchFamily="34" charset="-122"/>
              </a:rPr>
              <a:t>固定频次：</a:t>
            </a:r>
            <a:endParaRPr lang="en-US" altLang="zh-CN" sz="1400" b="1" dirty="0">
              <a:solidFill>
                <a:schemeClr val="bg2"/>
              </a:solidFill>
              <a:latin typeface="Arial" panose="020B0604020202020204" pitchFamily="34" charset="0"/>
              <a:ea typeface="微软雅黑" panose="020B0503020204020204" pitchFamily="34" charset="-122"/>
            </a:endParaRPr>
          </a:p>
          <a:p>
            <a:pPr marL="742950" lvl="1" indent="-285750">
              <a:buFont typeface="Arial" panose="020B0604020202020204" pitchFamily="34" charset="0"/>
              <a:buChar char="•"/>
            </a:pPr>
            <a:r>
              <a:rPr lang="en-US" altLang="zh-CN" sz="1400" b="1" dirty="0">
                <a:solidFill>
                  <a:schemeClr val="bg2"/>
                </a:solidFill>
                <a:latin typeface="Arial" panose="020B0604020202020204" pitchFamily="34" charset="0"/>
                <a:ea typeface="微软雅黑" panose="020B0503020204020204" pitchFamily="34" charset="-122"/>
              </a:rPr>
              <a:t>MRP </a:t>
            </a:r>
            <a:r>
              <a:rPr lang="zh-CN" altLang="en-US" sz="1400" b="1" dirty="0">
                <a:solidFill>
                  <a:schemeClr val="bg2"/>
                </a:solidFill>
                <a:latin typeface="Arial" panose="020B0604020202020204" pitchFamily="34" charset="0"/>
                <a:ea typeface="微软雅黑" panose="020B0503020204020204" pitchFamily="34" charset="-122"/>
              </a:rPr>
              <a:t>每周一次备料，备资源</a:t>
            </a:r>
            <a:r>
              <a:rPr lang="en-US" altLang="zh-CN" sz="1400" b="1" dirty="0">
                <a:solidFill>
                  <a:schemeClr val="bg2"/>
                </a:solidFill>
                <a:latin typeface="Arial" panose="020B0604020202020204" pitchFamily="34" charset="0"/>
                <a:ea typeface="微软雅黑" panose="020B0503020204020204" pitchFamily="34" charset="-122"/>
              </a:rPr>
              <a:t>,</a:t>
            </a:r>
            <a:r>
              <a:rPr lang="zh-CN" altLang="en-US" sz="1400" b="1" dirty="0">
                <a:solidFill>
                  <a:schemeClr val="bg2"/>
                </a:solidFill>
                <a:latin typeface="Arial" panose="020B0604020202020204" pitchFamily="34" charset="0"/>
                <a:ea typeface="微软雅黑" panose="020B0503020204020204" pitchFamily="34" charset="-122"/>
              </a:rPr>
              <a:t>识别瓶颈。</a:t>
            </a:r>
            <a:endParaRPr lang="en-US" altLang="zh-CN" sz="1400" b="1" dirty="0">
              <a:solidFill>
                <a:schemeClr val="bg2"/>
              </a:solidFill>
              <a:latin typeface="Arial" panose="020B0604020202020204" pitchFamily="34" charset="0"/>
              <a:ea typeface="微软雅黑" panose="020B0503020204020204" pitchFamily="34" charset="-122"/>
            </a:endParaRPr>
          </a:p>
          <a:p>
            <a:pPr marL="742950" lvl="1" indent="-285750">
              <a:buFont typeface="Arial" panose="020B0604020202020204" pitchFamily="34" charset="0"/>
              <a:buChar char="•"/>
            </a:pPr>
            <a:r>
              <a:rPr lang="en-US" altLang="zh-CN" sz="1400" b="1" dirty="0">
                <a:solidFill>
                  <a:schemeClr val="bg2"/>
                </a:solidFill>
                <a:latin typeface="Arial" panose="020B0604020202020204" pitchFamily="34" charset="0"/>
                <a:ea typeface="微软雅黑" panose="020B0503020204020204" pitchFamily="34" charset="-122"/>
              </a:rPr>
              <a:t>MP </a:t>
            </a:r>
            <a:r>
              <a:rPr lang="zh-CN" altLang="en-US" sz="1400" b="1" dirty="0">
                <a:solidFill>
                  <a:schemeClr val="bg2"/>
                </a:solidFill>
                <a:latin typeface="Arial" panose="020B0604020202020204" pitchFamily="34" charset="0"/>
                <a:ea typeface="微软雅黑" panose="020B0503020204020204" pitchFamily="34" charset="-122"/>
              </a:rPr>
              <a:t>每周一次产销协同的发布物料和产能计划及配额。</a:t>
            </a:r>
            <a:endParaRPr lang="en-US" altLang="zh-CN" sz="1400" b="1" dirty="0">
              <a:solidFill>
                <a:schemeClr val="bg2"/>
              </a:solidFill>
              <a:latin typeface="Arial" panose="020B0604020202020204" pitchFamily="34" charset="0"/>
              <a:ea typeface="微软雅黑" panose="020B0503020204020204" pitchFamily="34" charset="-122"/>
            </a:endParaRPr>
          </a:p>
          <a:p>
            <a:r>
              <a:rPr lang="en-US" altLang="zh-CN" sz="1400" b="1" dirty="0">
                <a:solidFill>
                  <a:schemeClr val="bg2"/>
                </a:solidFill>
                <a:latin typeface="Arial" panose="020B0604020202020204" pitchFamily="34" charset="0"/>
                <a:ea typeface="微软雅黑" panose="020B0503020204020204" pitchFamily="34" charset="-122"/>
              </a:rPr>
              <a:t>  By Demand:</a:t>
            </a:r>
          </a:p>
          <a:p>
            <a:pPr lvl="1"/>
            <a:r>
              <a:rPr lang="zh-CN" altLang="en-US" sz="1400" b="1" dirty="0">
                <a:solidFill>
                  <a:schemeClr val="bg2"/>
                </a:solidFill>
                <a:latin typeface="Arial" panose="020B0604020202020204" pitchFamily="34" charset="0"/>
                <a:ea typeface="微软雅黑" panose="020B0503020204020204" pitchFamily="34" charset="-122"/>
              </a:rPr>
              <a:t>环境变化时可一键加</a:t>
            </a:r>
            <a:r>
              <a:rPr lang="en-US" altLang="zh-CN" sz="1400" b="1" dirty="0">
                <a:solidFill>
                  <a:schemeClr val="bg2"/>
                </a:solidFill>
                <a:latin typeface="Arial" panose="020B0604020202020204" pitchFamily="34" charset="0"/>
                <a:ea typeface="微软雅黑" panose="020B0503020204020204" pitchFamily="34" charset="-122"/>
              </a:rPr>
              <a:t>RUN, </a:t>
            </a:r>
            <a:r>
              <a:rPr lang="zh-CN" altLang="en-US" sz="1400" b="1" dirty="0">
                <a:solidFill>
                  <a:schemeClr val="bg2"/>
                </a:solidFill>
                <a:latin typeface="Arial" panose="020B0604020202020204" pitchFamily="34" charset="0"/>
                <a:ea typeface="微软雅黑" panose="020B0503020204020204" pitchFamily="34" charset="-122"/>
              </a:rPr>
              <a:t>也可适时</a:t>
            </a:r>
            <a:r>
              <a:rPr lang="en-US" altLang="zh-CN" sz="1400" b="1" dirty="0">
                <a:solidFill>
                  <a:schemeClr val="bg2"/>
                </a:solidFill>
                <a:latin typeface="Arial" panose="020B0604020202020204" pitchFamily="34" charset="0"/>
                <a:ea typeface="微软雅黑" panose="020B0503020204020204" pitchFamily="34" charset="-122"/>
              </a:rPr>
              <a:t>What-if</a:t>
            </a:r>
          </a:p>
          <a:p>
            <a:endParaRPr lang="zh-CN" altLang="en-US" sz="1600" dirty="0">
              <a:solidFill>
                <a:schemeClr val="bg2"/>
              </a:solidFill>
              <a:latin typeface="Arial" panose="020B0604020202020204" pitchFamily="34" charset="0"/>
              <a:ea typeface="微软雅黑" panose="020B0503020204020204" pitchFamily="34" charset="-122"/>
            </a:endParaRPr>
          </a:p>
        </p:txBody>
      </p:sp>
      <p:sp>
        <p:nvSpPr>
          <p:cNvPr id="32" name="矩形 31">
            <a:extLst>
              <a:ext uri="{FF2B5EF4-FFF2-40B4-BE49-F238E27FC236}">
                <a16:creationId xmlns:a16="http://schemas.microsoft.com/office/drawing/2014/main" id="{0B4AC5D0-A397-9E59-6453-E6D0716E0697}"/>
              </a:ext>
            </a:extLst>
          </p:cNvPr>
          <p:cNvSpPr/>
          <p:nvPr/>
        </p:nvSpPr>
        <p:spPr>
          <a:xfrm>
            <a:off x="12701" y="3414541"/>
            <a:ext cx="4131127" cy="3423926"/>
          </a:xfrm>
          <a:prstGeom prst="rect">
            <a:avLst/>
          </a:prstGeom>
          <a:solidFill>
            <a:schemeClr val="accent1">
              <a:lumMod val="75000"/>
            </a:schemeClr>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r>
              <a:rPr lang="zh-CN" altLang="en-US" sz="1400" b="1" dirty="0">
                <a:solidFill>
                  <a:schemeClr val="bg2"/>
                </a:solidFill>
                <a:latin typeface="Arial" panose="020B0604020202020204" pitchFamily="34" charset="0"/>
                <a:ea typeface="微软雅黑" panose="020B0503020204020204" pitchFamily="34" charset="-122"/>
              </a:rPr>
              <a:t>战术到执行层：</a:t>
            </a:r>
            <a:endParaRPr lang="en-US" altLang="zh-CN" sz="1400" b="1" dirty="0">
              <a:solidFill>
                <a:schemeClr val="bg2"/>
              </a:solidFill>
              <a:latin typeface="Arial" panose="020B0604020202020204" pitchFamily="34" charset="0"/>
              <a:ea typeface="微软雅黑" panose="020B0503020204020204" pitchFamily="34" charset="-122"/>
            </a:endParaRPr>
          </a:p>
          <a:p>
            <a:r>
              <a:rPr lang="en-US" altLang="zh-CN" sz="1400" b="1" dirty="0">
                <a:solidFill>
                  <a:schemeClr val="bg2"/>
                </a:solidFill>
                <a:latin typeface="Arial" panose="020B0604020202020204" pitchFamily="34" charset="0"/>
                <a:ea typeface="微软雅黑" panose="020B0503020204020204" pitchFamily="34" charset="-122"/>
              </a:rPr>
              <a:t>  </a:t>
            </a:r>
            <a:r>
              <a:rPr lang="zh-CN" altLang="en-US" sz="1400" b="1" dirty="0">
                <a:solidFill>
                  <a:schemeClr val="bg2"/>
                </a:solidFill>
                <a:latin typeface="Arial" panose="020B0604020202020204" pitchFamily="34" charset="0"/>
                <a:ea typeface="微软雅黑" panose="020B0503020204020204" pitchFamily="34" charset="-122"/>
              </a:rPr>
              <a:t>固定频次：</a:t>
            </a:r>
            <a:endParaRPr lang="en-US" altLang="zh-CN" sz="1400" b="1" dirty="0">
              <a:solidFill>
                <a:schemeClr val="bg2"/>
              </a:solidFill>
              <a:latin typeface="Arial" panose="020B0604020202020204" pitchFamily="34" charset="0"/>
              <a:ea typeface="微软雅黑" panose="020B0503020204020204" pitchFamily="34" charset="-122"/>
            </a:endParaRPr>
          </a:p>
          <a:p>
            <a:pPr marL="742950" lvl="1" indent="-285750">
              <a:buFont typeface="Arial" panose="020B0604020202020204" pitchFamily="34" charset="0"/>
              <a:buChar char="•"/>
            </a:pPr>
            <a:r>
              <a:rPr lang="en-US" altLang="zh-CN" sz="1400" b="1" dirty="0">
                <a:solidFill>
                  <a:schemeClr val="bg2"/>
                </a:solidFill>
                <a:latin typeface="Arial" panose="020B0604020202020204" pitchFamily="34" charset="0"/>
                <a:ea typeface="微软雅黑" panose="020B0503020204020204" pitchFamily="34" charset="-122"/>
              </a:rPr>
              <a:t>Execution Planning</a:t>
            </a:r>
            <a:r>
              <a:rPr lang="zh-CN" altLang="en-US" sz="1400" b="1" dirty="0">
                <a:solidFill>
                  <a:schemeClr val="bg2"/>
                </a:solidFill>
                <a:latin typeface="Arial" panose="020B0604020202020204" pitchFamily="34" charset="0"/>
                <a:ea typeface="微软雅黑" panose="020B0503020204020204" pitchFamily="34" charset="-122"/>
              </a:rPr>
              <a:t>，</a:t>
            </a:r>
            <a:r>
              <a:rPr lang="en-US" altLang="zh-CN" sz="1400" b="1" dirty="0">
                <a:solidFill>
                  <a:schemeClr val="bg2"/>
                </a:solidFill>
                <a:latin typeface="Arial" panose="020B0604020202020204" pitchFamily="34" charset="0"/>
                <a:ea typeface="微软雅黑" panose="020B0503020204020204" pitchFamily="34" charset="-122"/>
              </a:rPr>
              <a:t>Detailed Scheduling, CALL </a:t>
            </a:r>
            <a:r>
              <a:rPr lang="zh-CN" altLang="en-US" sz="1400" b="1" dirty="0">
                <a:solidFill>
                  <a:schemeClr val="bg2"/>
                </a:solidFill>
                <a:latin typeface="Arial" panose="020B0604020202020204" pitchFamily="34" charset="0"/>
                <a:ea typeface="微软雅黑" panose="020B0503020204020204" pitchFamily="34" charset="-122"/>
              </a:rPr>
              <a:t> </a:t>
            </a:r>
            <a:r>
              <a:rPr lang="en-US" altLang="zh-CN" sz="1400" b="1" dirty="0">
                <a:solidFill>
                  <a:schemeClr val="bg2"/>
                </a:solidFill>
                <a:latin typeface="Arial" panose="020B0604020202020204" pitchFamily="34" charset="0"/>
                <a:ea typeface="微软雅黑" panose="020B0503020204020204" pitchFamily="34" charset="-122"/>
              </a:rPr>
              <a:t>4</a:t>
            </a:r>
            <a:r>
              <a:rPr lang="zh-CN" altLang="en-US" sz="1400" b="1" dirty="0">
                <a:solidFill>
                  <a:schemeClr val="bg2"/>
                </a:solidFill>
                <a:latin typeface="Arial" panose="020B0604020202020204" pitchFamily="34" charset="0"/>
                <a:ea typeface="微软雅黑" panose="020B0503020204020204" pitchFamily="34" charset="-122"/>
              </a:rPr>
              <a:t>次</a:t>
            </a:r>
            <a:r>
              <a:rPr lang="en-US" altLang="zh-CN" sz="1400" b="1" dirty="0">
                <a:solidFill>
                  <a:schemeClr val="bg2"/>
                </a:solidFill>
                <a:latin typeface="Arial" panose="020B0604020202020204" pitchFamily="34" charset="0"/>
                <a:ea typeface="微软雅黑" panose="020B0503020204020204" pitchFamily="34" charset="-122"/>
              </a:rPr>
              <a:t>+/DAY </a:t>
            </a:r>
            <a:r>
              <a:rPr lang="zh-CN" altLang="en-US" sz="1400" b="1" dirty="0">
                <a:solidFill>
                  <a:schemeClr val="bg2"/>
                </a:solidFill>
                <a:latin typeface="Arial" panose="020B0604020202020204" pitchFamily="34" charset="0"/>
                <a:ea typeface="微软雅黑" panose="020B0503020204020204" pitchFamily="34" charset="-122"/>
              </a:rPr>
              <a:t>配合生产节奏</a:t>
            </a:r>
            <a:endParaRPr lang="en-US" altLang="zh-CN" sz="1400" b="1" dirty="0">
              <a:solidFill>
                <a:schemeClr val="bg2"/>
              </a:solidFill>
              <a:latin typeface="Arial" panose="020B0604020202020204" pitchFamily="34" charset="0"/>
              <a:ea typeface="微软雅黑" panose="020B0503020204020204" pitchFamily="34" charset="-122"/>
            </a:endParaRPr>
          </a:p>
          <a:p>
            <a:pPr marL="742950" lvl="1" indent="-285750">
              <a:buFont typeface="Arial" panose="020B0604020202020204" pitchFamily="34" charset="0"/>
              <a:buChar char="•"/>
            </a:pPr>
            <a:r>
              <a:rPr lang="en-US" altLang="zh-CN" sz="1400" b="1" dirty="0">
                <a:solidFill>
                  <a:schemeClr val="bg2"/>
                </a:solidFill>
                <a:latin typeface="Arial" panose="020B0604020202020204" pitchFamily="34" charset="0"/>
                <a:ea typeface="微软雅黑" panose="020B0503020204020204" pitchFamily="34" charset="-122"/>
              </a:rPr>
              <a:t>Delivery Notes</a:t>
            </a:r>
            <a:r>
              <a:rPr lang="zh-CN" altLang="en-US" sz="1400" b="1" dirty="0">
                <a:solidFill>
                  <a:schemeClr val="bg2"/>
                </a:solidFill>
                <a:latin typeface="Arial" panose="020B0604020202020204" pitchFamily="34" charset="0"/>
                <a:ea typeface="微软雅黑" panose="020B0503020204020204" pitchFamily="34" charset="-122"/>
              </a:rPr>
              <a:t>可以更为频繁 </a:t>
            </a:r>
            <a:r>
              <a:rPr lang="en-US" altLang="zh-CN" sz="1400" b="1" dirty="0">
                <a:solidFill>
                  <a:schemeClr val="bg2"/>
                </a:solidFill>
                <a:latin typeface="Arial" panose="020B0604020202020204" pitchFamily="34" charset="0"/>
                <a:ea typeface="微软雅黑" panose="020B0503020204020204" pitchFamily="34" charset="-122"/>
              </a:rPr>
              <a:t>10</a:t>
            </a:r>
            <a:r>
              <a:rPr lang="zh-CN" altLang="en-US" sz="1400" b="1" dirty="0">
                <a:solidFill>
                  <a:schemeClr val="bg2"/>
                </a:solidFill>
                <a:latin typeface="Arial" panose="020B0604020202020204" pitchFamily="34" charset="0"/>
                <a:ea typeface="微软雅黑" panose="020B0503020204020204" pitchFamily="34" charset="-122"/>
              </a:rPr>
              <a:t>次</a:t>
            </a:r>
            <a:r>
              <a:rPr lang="en-US" altLang="zh-CN" sz="1400" b="1" dirty="0">
                <a:solidFill>
                  <a:schemeClr val="bg2"/>
                </a:solidFill>
                <a:latin typeface="Arial" panose="020B0604020202020204" pitchFamily="34" charset="0"/>
                <a:ea typeface="微软雅黑" panose="020B0503020204020204" pitchFamily="34" charset="-122"/>
              </a:rPr>
              <a:t>+/DAY</a:t>
            </a:r>
          </a:p>
          <a:p>
            <a:pPr marL="742950" lvl="1" indent="-285750">
              <a:buFont typeface="Arial" panose="020B0604020202020204" pitchFamily="34" charset="0"/>
              <a:buChar char="•"/>
            </a:pPr>
            <a:endParaRPr lang="en-US" altLang="zh-CN" sz="1400" b="1" dirty="0">
              <a:solidFill>
                <a:schemeClr val="bg2"/>
              </a:solidFill>
              <a:latin typeface="Arial" panose="020B0604020202020204" pitchFamily="34" charset="0"/>
              <a:ea typeface="微软雅黑" panose="020B0503020204020204" pitchFamily="34" charset="-122"/>
            </a:endParaRPr>
          </a:p>
          <a:p>
            <a:r>
              <a:rPr lang="en-US" altLang="zh-CN" sz="1400" b="1" dirty="0">
                <a:solidFill>
                  <a:schemeClr val="bg2"/>
                </a:solidFill>
                <a:latin typeface="Arial" panose="020B0604020202020204" pitchFamily="34" charset="0"/>
                <a:ea typeface="微软雅黑" panose="020B0503020204020204" pitchFamily="34" charset="-122"/>
              </a:rPr>
              <a:t> By Demand:</a:t>
            </a:r>
          </a:p>
          <a:p>
            <a:pPr lvl="1"/>
            <a:r>
              <a:rPr lang="zh-CN" altLang="en-US" sz="1400" b="1" dirty="0">
                <a:solidFill>
                  <a:schemeClr val="bg2"/>
                </a:solidFill>
                <a:latin typeface="Arial" panose="020B0604020202020204" pitchFamily="34" charset="0"/>
                <a:ea typeface="微软雅黑" panose="020B0503020204020204" pitchFamily="34" charset="-122"/>
              </a:rPr>
              <a:t>环境变化时可一键加</a:t>
            </a:r>
            <a:r>
              <a:rPr lang="en-US" altLang="zh-CN" sz="1400" b="1" dirty="0">
                <a:solidFill>
                  <a:schemeClr val="bg2"/>
                </a:solidFill>
                <a:latin typeface="Arial" panose="020B0604020202020204" pitchFamily="34" charset="0"/>
                <a:ea typeface="微软雅黑" panose="020B0503020204020204" pitchFamily="34" charset="-122"/>
              </a:rPr>
              <a:t>RUN, </a:t>
            </a:r>
            <a:r>
              <a:rPr lang="zh-CN" altLang="en-US" sz="1400" b="1" dirty="0">
                <a:solidFill>
                  <a:schemeClr val="bg2"/>
                </a:solidFill>
                <a:latin typeface="Arial" panose="020B0604020202020204" pitchFamily="34" charset="0"/>
                <a:ea typeface="微软雅黑" panose="020B0503020204020204" pitchFamily="34" charset="-122"/>
              </a:rPr>
              <a:t>也可适时</a:t>
            </a:r>
            <a:r>
              <a:rPr lang="en-US" altLang="zh-CN" sz="1400" b="1" dirty="0">
                <a:solidFill>
                  <a:schemeClr val="bg2"/>
                </a:solidFill>
                <a:latin typeface="Arial" panose="020B0604020202020204" pitchFamily="34" charset="0"/>
                <a:ea typeface="微软雅黑" panose="020B0503020204020204" pitchFamily="34" charset="-122"/>
              </a:rPr>
              <a:t>What-if</a:t>
            </a:r>
          </a:p>
        </p:txBody>
      </p:sp>
    </p:spTree>
    <p:extLst>
      <p:ext uri="{BB962C8B-B14F-4D97-AF65-F5344CB8AC3E}">
        <p14:creationId xmlns:p14="http://schemas.microsoft.com/office/powerpoint/2010/main" val="1873715262"/>
      </p:ext>
    </p:extLst>
  </p:cSld>
  <p:clrMapOvr>
    <a:overrideClrMapping bg1="dk1" tx1="lt1" bg2="dk2" tx2="lt2" accent1="accent1" accent2="accent2" accent3="accent3" accent4="accent4" accent5="accent5" accent6="accent6" hlink="hlink" folHlink="folHlink"/>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13CC98A-ADC3-FBE3-0C62-DCF2D73BBD99}"/>
              </a:ext>
            </a:extLst>
          </p:cNvPr>
          <p:cNvSpPr>
            <a:spLocks noGrp="1"/>
          </p:cNvSpPr>
          <p:nvPr>
            <p:ph type="title"/>
          </p:nvPr>
        </p:nvSpPr>
        <p:spPr/>
        <p:txBody>
          <a:bodyPr/>
          <a:lstStyle/>
          <a:p>
            <a:r>
              <a:rPr lang="en-US" altLang="zh-CN" dirty="0"/>
              <a:t>One Plan best</a:t>
            </a:r>
            <a:r>
              <a:rPr lang="zh-CN" altLang="en-US" dirty="0"/>
              <a:t> </a:t>
            </a:r>
            <a:r>
              <a:rPr lang="en-US" altLang="zh-CN" dirty="0"/>
              <a:t>practice</a:t>
            </a:r>
            <a:r>
              <a:rPr lang="zh-CN" altLang="en-US" dirty="0"/>
              <a:t>清单</a:t>
            </a:r>
          </a:p>
        </p:txBody>
      </p:sp>
      <p:graphicFrame>
        <p:nvGraphicFramePr>
          <p:cNvPr id="3" name="表格 2">
            <a:extLst>
              <a:ext uri="{FF2B5EF4-FFF2-40B4-BE49-F238E27FC236}">
                <a16:creationId xmlns:a16="http://schemas.microsoft.com/office/drawing/2014/main" id="{68AC11D1-1743-780F-1334-5A081E4B09E2}"/>
              </a:ext>
            </a:extLst>
          </p:cNvPr>
          <p:cNvGraphicFramePr>
            <a:graphicFrameLocks noGrp="1"/>
          </p:cNvGraphicFramePr>
          <p:nvPr/>
        </p:nvGraphicFramePr>
        <p:xfrm>
          <a:off x="630186" y="805123"/>
          <a:ext cx="3780530" cy="5247753"/>
        </p:xfrm>
        <a:graphic>
          <a:graphicData uri="http://schemas.openxmlformats.org/drawingml/2006/table">
            <a:tbl>
              <a:tblPr/>
              <a:tblGrid>
                <a:gridCol w="553147">
                  <a:extLst>
                    <a:ext uri="{9D8B030D-6E8A-4147-A177-3AD203B41FA5}">
                      <a16:colId xmlns:a16="http://schemas.microsoft.com/office/drawing/2014/main" val="3000063367"/>
                    </a:ext>
                  </a:extLst>
                </a:gridCol>
                <a:gridCol w="872235">
                  <a:extLst>
                    <a:ext uri="{9D8B030D-6E8A-4147-A177-3AD203B41FA5}">
                      <a16:colId xmlns:a16="http://schemas.microsoft.com/office/drawing/2014/main" val="3412983864"/>
                    </a:ext>
                  </a:extLst>
                </a:gridCol>
                <a:gridCol w="1177574">
                  <a:extLst>
                    <a:ext uri="{9D8B030D-6E8A-4147-A177-3AD203B41FA5}">
                      <a16:colId xmlns:a16="http://schemas.microsoft.com/office/drawing/2014/main" val="733793633"/>
                    </a:ext>
                  </a:extLst>
                </a:gridCol>
                <a:gridCol w="1177574">
                  <a:extLst>
                    <a:ext uri="{9D8B030D-6E8A-4147-A177-3AD203B41FA5}">
                      <a16:colId xmlns:a16="http://schemas.microsoft.com/office/drawing/2014/main" val="421268309"/>
                    </a:ext>
                  </a:extLst>
                </a:gridCol>
              </a:tblGrid>
              <a:tr h="122044">
                <a:tc>
                  <a:txBody>
                    <a:bodyPr/>
                    <a:lstStyle/>
                    <a:p>
                      <a:r>
                        <a:rPr lang="en-US" altLang="zh-CN" sz="600" dirty="0"/>
                        <a:t>One Plan</a:t>
                      </a:r>
                      <a:r>
                        <a:rPr lang="zh-CN" altLang="en-US" sz="600" dirty="0"/>
                        <a:t>层级</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功能</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子功能</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描述</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98465072"/>
                  </a:ext>
                </a:extLst>
              </a:tr>
              <a:tr h="305110">
                <a:tc rowSpan="22">
                  <a:txBody>
                    <a:bodyPr/>
                    <a:lstStyle/>
                    <a:p>
                      <a:r>
                        <a:rPr lang="en-US" altLang="zh-CN" sz="600" dirty="0"/>
                        <a:t>IBP</a:t>
                      </a:r>
                      <a:endParaRPr lang="zh-CN" altLang="en-US" sz="600" dirty="0"/>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r>
                        <a:rPr lang="zh-CN" altLang="en-US" sz="600" b="1" dirty="0"/>
                        <a:t>战略规划集成</a:t>
                      </a:r>
                      <a:endParaRPr lang="zh-CN" altLang="en-US" sz="600" dirty="0"/>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业务战略输入</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将公司战略（如成本领先、差异化）转化为可量化的计划目标，为</a:t>
                      </a:r>
                      <a:r>
                        <a:rPr lang="en-US" altLang="zh-CN" sz="600"/>
                        <a:t>IBP</a:t>
                      </a:r>
                      <a:r>
                        <a:rPr lang="zh-CN" altLang="en-US" sz="600"/>
                        <a:t>提供方向。</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97002114"/>
                  </a:ext>
                </a:extLst>
              </a:tr>
              <a:tr h="213577">
                <a:tc vMerge="1">
                  <a:txBody>
                    <a:bodyPr/>
                    <a:lstStyle/>
                    <a:p>
                      <a:endParaRPr lang="zh-CN" altLang="en-US" sz="600" dirty="0"/>
                    </a:p>
                  </a:txBody>
                  <a:tcPr marL="30511" marR="30511" marT="15255" marB="15255" anchor="ctr">
                    <a:lnL>
                      <a:noFill/>
                    </a:lnL>
                    <a:lnR>
                      <a:noFill/>
                    </a:lnR>
                    <a:lnT>
                      <a:noFill/>
                    </a:lnT>
                    <a:lnB>
                      <a:noFill/>
                    </a:lnB>
                    <a:noFill/>
                  </a:tcPr>
                </a:tc>
                <a:tc vMerge="1">
                  <a:txBody>
                    <a:bodyPr/>
                    <a:lstStyle/>
                    <a:p>
                      <a:endParaRPr lang="zh-CN" altLang="en-US" sz="600" dirty="0"/>
                    </a:p>
                  </a:txBody>
                  <a:tcPr marL="30511" marR="30511" marT="15255" marB="15255" anchor="ctr">
                    <a:lnL>
                      <a:noFill/>
                    </a:lnL>
                    <a:lnR>
                      <a:noFill/>
                    </a:lnR>
                    <a:lnT>
                      <a:noFill/>
                    </a:lnT>
                    <a:lnB>
                      <a:noFill/>
                    </a:lnB>
                    <a:noFill/>
                  </a:tcPr>
                </a:tc>
                <a:tc>
                  <a:txBody>
                    <a:bodyPr/>
                    <a:lstStyle/>
                    <a:p>
                      <a:r>
                        <a:rPr lang="zh-CN" altLang="en-US" sz="600"/>
                        <a:t>战略边界管理</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定义决策边界（如投资限额、产能约束），确保计划在战略范围内。</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1045199"/>
                  </a:ext>
                </a:extLst>
              </a:tr>
              <a:tr h="268076">
                <a:tc vMerge="1">
                  <a:txBody>
                    <a:bodyPr/>
                    <a:lstStyle/>
                    <a:p>
                      <a:endParaRPr lang="zh-CN" altLang="en-US" sz="600" dirty="0"/>
                    </a:p>
                  </a:txBody>
                  <a:tcPr marL="30511" marR="30511" marT="15255" marB="15255" anchor="ctr">
                    <a:lnL>
                      <a:noFill/>
                    </a:lnL>
                    <a:lnR>
                      <a:noFill/>
                    </a:lnR>
                    <a:lnT>
                      <a:noFill/>
                    </a:lnT>
                    <a:lnB>
                      <a:noFill/>
                    </a:lnB>
                    <a:noFill/>
                  </a:tcPr>
                </a:tc>
                <a:tc rowSpan="3">
                  <a:txBody>
                    <a:bodyPr/>
                    <a:lstStyle/>
                    <a:p>
                      <a:r>
                        <a:rPr lang="zh-CN" altLang="en-US" sz="600" b="1" dirty="0"/>
                        <a:t>产品管理评审</a:t>
                      </a:r>
                      <a:endParaRPr lang="zh-CN" altLang="en-US" sz="600" dirty="0"/>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新产品引入计划</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主导技术路线图和</a:t>
                      </a:r>
                      <a:r>
                        <a:rPr lang="en-US" altLang="zh-CN" sz="600"/>
                        <a:t>NPI</a:t>
                      </a:r>
                      <a:r>
                        <a:rPr lang="zh-CN" altLang="en-US" sz="600"/>
                        <a:t>（新产品导入）计划，为需求和供应计划提供输入。</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70730262"/>
                  </a:ext>
                </a:extLst>
              </a:tr>
              <a:tr h="213577">
                <a:tc vMerge="1">
                  <a:txBody>
                    <a:bodyPr/>
                    <a:lstStyle/>
                    <a:p>
                      <a:endParaRPr lang="zh-CN" altLang="en-US" sz="600" dirty="0"/>
                    </a:p>
                  </a:txBody>
                  <a:tcPr marL="30511" marR="30511" marT="15255" marB="15255" anchor="ctr">
                    <a:lnL>
                      <a:noFill/>
                    </a:lnL>
                    <a:lnR>
                      <a:noFill/>
                    </a:lnR>
                    <a:lnT>
                      <a:noFill/>
                    </a:lnT>
                    <a:lnB>
                      <a:noFill/>
                    </a:lnB>
                    <a:noFill/>
                  </a:tcPr>
                </a:tc>
                <a:tc vMerge="1">
                  <a:txBody>
                    <a:bodyPr/>
                    <a:lstStyle/>
                    <a:p>
                      <a:endParaRPr lang="zh-CN" altLang="en-US" sz="600" dirty="0"/>
                    </a:p>
                  </a:txBody>
                  <a:tcPr marL="30511" marR="30511" marT="15255" marB="15255" anchor="ctr">
                    <a:lnL>
                      <a:noFill/>
                    </a:lnL>
                    <a:lnR>
                      <a:noFill/>
                    </a:lnR>
                    <a:lnT>
                      <a:noFill/>
                    </a:lnT>
                    <a:lnB>
                      <a:noFill/>
                    </a:lnB>
                    <a:noFill/>
                  </a:tcPr>
                </a:tc>
                <a:tc>
                  <a:txBody>
                    <a:bodyPr/>
                    <a:lstStyle/>
                    <a:p>
                      <a:r>
                        <a:rPr lang="zh-CN" altLang="en-US" sz="600"/>
                        <a:t>产品组合管理</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管理产品生命周期，评估产品上市、退市对计划的影响。</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29101033"/>
                  </a:ext>
                </a:extLst>
              </a:tr>
              <a:tr h="213577">
                <a:tc vMerge="1">
                  <a:txBody>
                    <a:bodyPr/>
                    <a:lstStyle/>
                    <a:p>
                      <a:endParaRPr lang="zh-CN" altLang="en-US" sz="600" dirty="0"/>
                    </a:p>
                  </a:txBody>
                  <a:tcPr marL="30511" marR="30511" marT="15255" marB="15255" anchor="ctr">
                    <a:lnL>
                      <a:noFill/>
                    </a:lnL>
                    <a:lnR>
                      <a:noFill/>
                    </a:lnR>
                    <a:lnT>
                      <a:noFill/>
                    </a:lnT>
                    <a:lnB>
                      <a:noFill/>
                    </a:lnB>
                    <a:noFill/>
                  </a:tcPr>
                </a:tc>
                <a:tc vMerge="1">
                  <a:txBody>
                    <a:bodyPr/>
                    <a:lstStyle/>
                    <a:p>
                      <a:endParaRPr lang="zh-CN" altLang="en-US" sz="600" dirty="0"/>
                    </a:p>
                  </a:txBody>
                  <a:tcPr marL="30511" marR="30511" marT="15255" marB="15255" anchor="ctr">
                    <a:lnL>
                      <a:noFill/>
                    </a:lnL>
                    <a:lnR>
                      <a:noFill/>
                    </a:lnR>
                    <a:lnT>
                      <a:noFill/>
                    </a:lnT>
                    <a:lnB>
                      <a:noFill/>
                    </a:lnB>
                    <a:noFill/>
                  </a:tcPr>
                </a:tc>
                <a:tc>
                  <a:txBody>
                    <a:bodyPr/>
                    <a:lstStyle/>
                    <a:p>
                      <a:r>
                        <a:rPr lang="zh-CN" altLang="en-US" sz="600"/>
                        <a:t>资源规划</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评估并规划研发资源（人力、设备）以支持技术蓝图。</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88410144"/>
                  </a:ext>
                </a:extLst>
              </a:tr>
              <a:tr h="275394">
                <a:tc vMerge="1">
                  <a:txBody>
                    <a:bodyPr/>
                    <a:lstStyle/>
                    <a:p>
                      <a:endParaRPr lang="zh-CN" altLang="en-US" sz="600"/>
                    </a:p>
                  </a:txBody>
                  <a:tcPr marL="30511" marR="30511" marT="15255" marB="15255" anchor="ctr">
                    <a:lnL>
                      <a:noFill/>
                    </a:lnL>
                    <a:lnR>
                      <a:noFill/>
                    </a:lnR>
                    <a:lnT>
                      <a:noFill/>
                    </a:lnT>
                    <a:lnB>
                      <a:noFill/>
                    </a:lnB>
                    <a:noFill/>
                  </a:tcPr>
                </a:tc>
                <a:tc rowSpan="5">
                  <a:txBody>
                    <a:bodyPr/>
                    <a:lstStyle/>
                    <a:p>
                      <a:r>
                        <a:rPr lang="zh-CN" altLang="en-US" sz="600" b="1" dirty="0"/>
                        <a:t>需求评审</a:t>
                      </a:r>
                      <a:endParaRPr lang="zh-CN" altLang="en-US" sz="600" dirty="0"/>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统计预测</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通过异常值处理、因果因素分析和预测模型生成基线预测。</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9005821"/>
                  </a:ext>
                </a:extLst>
              </a:tr>
              <a:tr h="213577">
                <a:tc vMerge="1">
                  <a:txBody>
                    <a:bodyPr/>
                    <a:lstStyle/>
                    <a:p>
                      <a:endParaRPr lang="zh-CN" altLang="en-US" sz="600" dirty="0"/>
                    </a:p>
                  </a:txBody>
                  <a:tcPr marL="30511" marR="30511" marT="15255" marB="15255" anchor="ctr">
                    <a:lnL>
                      <a:noFill/>
                    </a:lnL>
                    <a:lnR>
                      <a:noFill/>
                    </a:lnR>
                    <a:lnT>
                      <a:noFill/>
                    </a:lnT>
                    <a:lnB>
                      <a:noFill/>
                    </a:lnB>
                    <a:noFill/>
                  </a:tcPr>
                </a:tc>
                <a:tc vMerge="1">
                  <a:txBody>
                    <a:bodyPr/>
                    <a:lstStyle/>
                    <a:p>
                      <a:endParaRPr lang="zh-CN" altLang="en-US" sz="600" dirty="0"/>
                    </a:p>
                  </a:txBody>
                  <a:tcPr marL="30511" marR="30511" marT="15255" marB="15255" anchor="ctr">
                    <a:lnL>
                      <a:noFill/>
                    </a:lnL>
                    <a:lnR>
                      <a:noFill/>
                    </a:lnR>
                    <a:lnT>
                      <a:noFill/>
                    </a:lnT>
                    <a:lnB>
                      <a:noFill/>
                    </a:lnB>
                    <a:noFill/>
                  </a:tcPr>
                </a:tc>
                <a:tc>
                  <a:txBody>
                    <a:bodyPr/>
                    <a:lstStyle/>
                    <a:p>
                      <a:r>
                        <a:rPr lang="zh-CN" altLang="en-US" sz="600"/>
                        <a:t>综合预测</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整合财务、营销等部门的预测输入，形成统一视图。</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22535510"/>
                  </a:ext>
                </a:extLst>
              </a:tr>
              <a:tr h="213577">
                <a:tc vMerge="1">
                  <a:txBody>
                    <a:bodyPr/>
                    <a:lstStyle/>
                    <a:p>
                      <a:endParaRPr lang="zh-CN" altLang="en-US" sz="600"/>
                    </a:p>
                  </a:txBody>
                  <a:tcPr marL="30511" marR="30511" marT="15255" marB="15255" anchor="ctr">
                    <a:lnL>
                      <a:noFill/>
                    </a:lnL>
                    <a:lnR>
                      <a:noFill/>
                    </a:lnR>
                    <a:lnT>
                      <a:noFill/>
                    </a:lnT>
                    <a:lnB>
                      <a:noFill/>
                    </a:lnB>
                    <a:noFill/>
                  </a:tcPr>
                </a:tc>
                <a:tc vMerge="1">
                  <a:txBody>
                    <a:bodyPr/>
                    <a:lstStyle/>
                    <a:p>
                      <a:endParaRPr lang="zh-CN" altLang="en-US" sz="600" dirty="0"/>
                    </a:p>
                  </a:txBody>
                  <a:tcPr marL="30511" marR="30511" marT="15255" marB="15255" anchor="ctr">
                    <a:lnL>
                      <a:noFill/>
                    </a:lnL>
                    <a:lnR>
                      <a:noFill/>
                    </a:lnR>
                    <a:lnT>
                      <a:noFill/>
                    </a:lnT>
                    <a:lnB>
                      <a:noFill/>
                    </a:lnB>
                    <a:noFill/>
                  </a:tcPr>
                </a:tc>
                <a:tc>
                  <a:txBody>
                    <a:bodyPr/>
                    <a:lstStyle/>
                    <a:p>
                      <a:r>
                        <a:rPr lang="zh-CN" altLang="en-US" sz="600" dirty="0"/>
                        <a:t>需求塑造</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基于新品发布、促销等活动调整预测，模拟需求变化。</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58850613"/>
                  </a:ext>
                </a:extLst>
              </a:tr>
              <a:tr h="0">
                <a:tc vMerge="1">
                  <a:txBody>
                    <a:bodyPr/>
                    <a:lstStyle/>
                    <a:p>
                      <a:endParaRPr lang="zh-CN" altLang="en-US" sz="600"/>
                    </a:p>
                  </a:txBody>
                  <a:tcPr marL="30511" marR="30511" marT="15255" marB="15255" anchor="ctr">
                    <a:lnL>
                      <a:noFill/>
                    </a:lnL>
                    <a:lnR>
                      <a:noFill/>
                    </a:lnR>
                    <a:lnT>
                      <a:noFill/>
                    </a:lnT>
                    <a:lnB>
                      <a:noFill/>
                    </a:lnB>
                    <a:noFill/>
                  </a:tcPr>
                </a:tc>
                <a:tc vMerge="1">
                  <a:txBody>
                    <a:bodyPr/>
                    <a:lstStyle/>
                    <a:p>
                      <a:endParaRPr lang="zh-CN" altLang="en-US" sz="600"/>
                    </a:p>
                  </a:txBody>
                  <a:tcPr marL="30511" marR="30511" marT="15255" marB="15255" anchor="ctr">
                    <a:lnL>
                      <a:noFill/>
                    </a:lnL>
                    <a:lnR>
                      <a:noFill/>
                    </a:lnR>
                    <a:lnT>
                      <a:noFill/>
                    </a:lnT>
                    <a:lnB>
                      <a:noFill/>
                    </a:lnB>
                    <a:noFill/>
                  </a:tcPr>
                </a:tc>
                <a:tc>
                  <a:txBody>
                    <a:bodyPr/>
                    <a:lstStyle/>
                    <a:p>
                      <a:r>
                        <a:rPr lang="zh-CN" altLang="en-US" sz="600"/>
                        <a:t>一致性预测</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加权整合统计预测和综合预测，形成共识预测。</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40582663"/>
                  </a:ext>
                </a:extLst>
              </a:tr>
              <a:tr h="213577">
                <a:tc vMerge="1">
                  <a:txBody>
                    <a:bodyPr/>
                    <a:lstStyle/>
                    <a:p>
                      <a:endParaRPr lang="zh-CN" altLang="en-US" sz="600" dirty="0"/>
                    </a:p>
                  </a:txBody>
                  <a:tcPr marL="30511" marR="30511" marT="15255" marB="15255" anchor="ctr">
                    <a:lnL>
                      <a:noFill/>
                    </a:lnL>
                    <a:lnR>
                      <a:noFill/>
                    </a:lnR>
                    <a:lnT>
                      <a:noFill/>
                    </a:lnT>
                    <a:lnB>
                      <a:noFill/>
                    </a:lnB>
                    <a:noFill/>
                  </a:tcPr>
                </a:tc>
                <a:tc vMerge="1">
                  <a:txBody>
                    <a:bodyPr/>
                    <a:lstStyle/>
                    <a:p>
                      <a:endParaRPr lang="zh-CN" altLang="en-US" sz="600" dirty="0"/>
                    </a:p>
                  </a:txBody>
                  <a:tcPr marL="30511" marR="30511" marT="15255" marB="15255" anchor="ctr">
                    <a:lnL>
                      <a:noFill/>
                    </a:lnL>
                    <a:lnR>
                      <a:noFill/>
                    </a:lnR>
                    <a:lnT>
                      <a:noFill/>
                    </a:lnT>
                    <a:lnB>
                      <a:noFill/>
                    </a:lnB>
                    <a:noFill/>
                  </a:tcPr>
                </a:tc>
                <a:tc>
                  <a:txBody>
                    <a:bodyPr/>
                    <a:lstStyle/>
                    <a:p>
                      <a:r>
                        <a:rPr lang="zh-CN" altLang="en-US" sz="600"/>
                        <a:t>预测分解</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将聚合预测分解到</a:t>
                      </a:r>
                      <a:r>
                        <a:rPr lang="en-US" altLang="zh-CN" sz="600" dirty="0"/>
                        <a:t>SKU</a:t>
                      </a:r>
                      <a:r>
                        <a:rPr lang="zh-CN" altLang="en-US" sz="600" dirty="0"/>
                        <a:t>或详细层级，供下游计划使用。 </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14482001"/>
                  </a:ext>
                </a:extLst>
              </a:tr>
              <a:tr h="305110">
                <a:tc vMerge="1">
                  <a:txBody>
                    <a:bodyPr/>
                    <a:lstStyle/>
                    <a:p>
                      <a:endParaRPr lang="zh-CN" altLang="en-US" sz="600"/>
                    </a:p>
                  </a:txBody>
                  <a:tcPr marL="30511" marR="30511" marT="15255" marB="15255" anchor="ctr">
                    <a:lnL>
                      <a:noFill/>
                    </a:lnL>
                    <a:lnR>
                      <a:noFill/>
                    </a:lnR>
                    <a:lnT>
                      <a:noFill/>
                    </a:lnT>
                    <a:lnB>
                      <a:noFill/>
                    </a:lnB>
                    <a:noFill/>
                  </a:tcPr>
                </a:tc>
                <a:tc rowSpan="3">
                  <a:txBody>
                    <a:bodyPr/>
                    <a:lstStyle/>
                    <a:p>
                      <a:r>
                        <a:rPr lang="zh-CN" altLang="en-US" sz="600" b="1" dirty="0"/>
                        <a:t>供应评审</a:t>
                      </a:r>
                      <a:endParaRPr lang="zh-CN" altLang="en-US" sz="600" dirty="0"/>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聚合供应计划 </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制定主生产计划（</a:t>
                      </a:r>
                      <a:r>
                        <a:rPr lang="en-US" altLang="zh-CN" sz="600"/>
                        <a:t>MPS</a:t>
                      </a:r>
                      <a:r>
                        <a:rPr lang="zh-CN" altLang="en-US" sz="600"/>
                        <a:t>），将需求转化为制造策略，进行粗能力规划（</a:t>
                      </a:r>
                      <a:r>
                        <a:rPr lang="en-US" altLang="zh-CN" sz="600"/>
                        <a:t>RCCP</a:t>
                      </a:r>
                      <a:r>
                        <a:rPr lang="zh-CN" altLang="en-US" sz="600"/>
                        <a:t>）。</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5721216"/>
                  </a:ext>
                </a:extLst>
              </a:tr>
              <a:tr h="213577">
                <a:tc vMerge="1">
                  <a:txBody>
                    <a:bodyPr/>
                    <a:lstStyle/>
                    <a:p>
                      <a:endParaRPr lang="zh-CN" altLang="en-US" sz="600" dirty="0"/>
                    </a:p>
                  </a:txBody>
                  <a:tcPr marL="30511" marR="30511" marT="15255" marB="15255" anchor="ctr">
                    <a:lnL>
                      <a:noFill/>
                    </a:lnL>
                    <a:lnR>
                      <a:noFill/>
                    </a:lnR>
                    <a:lnT>
                      <a:noFill/>
                    </a:lnT>
                    <a:lnB>
                      <a:noFill/>
                    </a:lnB>
                    <a:noFill/>
                  </a:tcPr>
                </a:tc>
                <a:tc vMerge="1">
                  <a:txBody>
                    <a:bodyPr/>
                    <a:lstStyle/>
                    <a:p>
                      <a:endParaRPr lang="zh-CN" altLang="en-US" sz="600" dirty="0"/>
                    </a:p>
                  </a:txBody>
                  <a:tcPr marL="30511" marR="30511" marT="15255" marB="15255" anchor="ctr">
                    <a:lnL>
                      <a:noFill/>
                    </a:lnL>
                    <a:lnR>
                      <a:noFill/>
                    </a:lnR>
                    <a:lnT>
                      <a:noFill/>
                    </a:lnT>
                    <a:lnB>
                      <a:noFill/>
                    </a:lnB>
                    <a:noFill/>
                  </a:tcPr>
                </a:tc>
                <a:tc>
                  <a:txBody>
                    <a:bodyPr/>
                    <a:lstStyle/>
                    <a:p>
                      <a:r>
                        <a:rPr lang="zh-CN" altLang="en-US" sz="600"/>
                        <a:t>资源需求规划</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评估长期资源（如产能、人力）需求，支持战略决策。</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44540580"/>
                  </a:ext>
                </a:extLst>
              </a:tr>
              <a:tr h="213577">
                <a:tc vMerge="1">
                  <a:txBody>
                    <a:bodyPr/>
                    <a:lstStyle/>
                    <a:p>
                      <a:endParaRPr lang="zh-CN" altLang="en-US" sz="600"/>
                    </a:p>
                  </a:txBody>
                  <a:tcPr marL="30511" marR="30511" marT="15255" marB="15255" anchor="ctr">
                    <a:lnL>
                      <a:noFill/>
                    </a:lnL>
                    <a:lnR>
                      <a:noFill/>
                    </a:lnR>
                    <a:lnT>
                      <a:noFill/>
                    </a:lnT>
                    <a:lnB>
                      <a:noFill/>
                    </a:lnB>
                    <a:noFill/>
                  </a:tcPr>
                </a:tc>
                <a:tc vMerge="1">
                  <a:txBody>
                    <a:bodyPr/>
                    <a:lstStyle/>
                    <a:p>
                      <a:endParaRPr lang="zh-CN" altLang="en-US" sz="600" dirty="0"/>
                    </a:p>
                  </a:txBody>
                  <a:tcPr marL="30511" marR="30511" marT="15255" marB="15255" anchor="ctr">
                    <a:lnL>
                      <a:noFill/>
                    </a:lnL>
                    <a:lnR>
                      <a:noFill/>
                    </a:lnR>
                    <a:lnT>
                      <a:noFill/>
                    </a:lnT>
                    <a:lnB>
                      <a:noFill/>
                    </a:lnB>
                    <a:noFill/>
                  </a:tcPr>
                </a:tc>
                <a:tc>
                  <a:txBody>
                    <a:bodyPr/>
                    <a:lstStyle/>
                    <a:p>
                      <a:r>
                        <a:rPr lang="zh-CN" altLang="en-US" sz="600"/>
                        <a:t>供应链网络优化</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设计供应链网络（如工厂布局、仓库位置）以支持聚合计划。</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74110579"/>
                  </a:ext>
                </a:extLst>
              </a:tr>
              <a:tr h="213577">
                <a:tc vMerge="1">
                  <a:txBody>
                    <a:bodyPr/>
                    <a:lstStyle/>
                    <a:p>
                      <a:endParaRPr lang="zh-CN" altLang="en-US" sz="600" dirty="0"/>
                    </a:p>
                  </a:txBody>
                  <a:tcPr marL="30511" marR="30511" marT="15255" marB="15255" anchor="ctr">
                    <a:lnL>
                      <a:noFill/>
                    </a:lnL>
                    <a:lnR>
                      <a:noFill/>
                    </a:lnR>
                    <a:lnT>
                      <a:noFill/>
                    </a:lnT>
                    <a:lnB>
                      <a:noFill/>
                    </a:lnB>
                    <a:noFill/>
                  </a:tcPr>
                </a:tc>
                <a:tc rowSpan="3">
                  <a:txBody>
                    <a:bodyPr/>
                    <a:lstStyle/>
                    <a:p>
                      <a:r>
                        <a:rPr lang="zh-CN" altLang="en-US" sz="600" b="1" dirty="0"/>
                        <a:t>财务集成</a:t>
                      </a:r>
                      <a:endParaRPr lang="zh-CN" altLang="en-US" sz="600" dirty="0"/>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财务规划</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将运营计划（需求、供应）转化为财务计划（预算、预测）。</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39342891"/>
                  </a:ext>
                </a:extLst>
              </a:tr>
              <a:tr h="213577">
                <a:tc vMerge="1">
                  <a:txBody>
                    <a:bodyPr/>
                    <a:lstStyle/>
                    <a:p>
                      <a:endParaRPr lang="zh-CN" altLang="en-US" sz="600"/>
                    </a:p>
                  </a:txBody>
                  <a:tcPr marL="30511" marR="30511" marT="15255" marB="15255" anchor="ctr">
                    <a:lnL>
                      <a:noFill/>
                    </a:lnL>
                    <a:lnR>
                      <a:noFill/>
                    </a:lnR>
                    <a:lnT>
                      <a:noFill/>
                    </a:lnT>
                    <a:lnB>
                      <a:noFill/>
                    </a:lnB>
                    <a:noFill/>
                  </a:tcPr>
                </a:tc>
                <a:tc vMerge="1">
                  <a:txBody>
                    <a:bodyPr/>
                    <a:lstStyle/>
                    <a:p>
                      <a:endParaRPr lang="zh-CN" altLang="en-US" sz="600"/>
                    </a:p>
                  </a:txBody>
                  <a:tcPr marL="30511" marR="30511" marT="15255" marB="15255" anchor="ctr">
                    <a:lnL>
                      <a:noFill/>
                    </a:lnL>
                    <a:lnR>
                      <a:noFill/>
                    </a:lnR>
                    <a:lnT>
                      <a:noFill/>
                    </a:lnT>
                    <a:lnB>
                      <a:noFill/>
                    </a:lnB>
                    <a:noFill/>
                  </a:tcPr>
                </a:tc>
                <a:tc>
                  <a:txBody>
                    <a:bodyPr/>
                    <a:lstStyle/>
                    <a:p>
                      <a:r>
                        <a:rPr lang="zh-CN" altLang="en-US" sz="600" dirty="0"/>
                        <a:t>情景模拟</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评估不同计划场景的财务影响（如利润、现金流）。</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72959686"/>
                  </a:ext>
                </a:extLst>
              </a:tr>
              <a:tr h="213577">
                <a:tc vMerge="1">
                  <a:txBody>
                    <a:bodyPr/>
                    <a:lstStyle/>
                    <a:p>
                      <a:endParaRPr lang="zh-CN" altLang="en-US" sz="600" dirty="0"/>
                    </a:p>
                  </a:txBody>
                  <a:tcPr marL="30511" marR="30511" marT="15255" marB="15255" anchor="ctr">
                    <a:lnL>
                      <a:noFill/>
                    </a:lnL>
                    <a:lnR>
                      <a:noFill/>
                    </a:lnR>
                    <a:lnT>
                      <a:noFill/>
                    </a:lnT>
                    <a:lnB>
                      <a:noFill/>
                    </a:lnB>
                    <a:noFill/>
                  </a:tcPr>
                </a:tc>
                <a:tc vMerge="1">
                  <a:txBody>
                    <a:bodyPr/>
                    <a:lstStyle/>
                    <a:p>
                      <a:endParaRPr lang="zh-CN" altLang="en-US" sz="600" dirty="0"/>
                    </a:p>
                  </a:txBody>
                  <a:tcPr marL="30511" marR="30511" marT="15255" marB="15255" anchor="ctr">
                    <a:lnL>
                      <a:noFill/>
                    </a:lnL>
                    <a:lnR>
                      <a:noFill/>
                    </a:lnR>
                    <a:lnT>
                      <a:noFill/>
                    </a:lnT>
                    <a:lnB>
                      <a:noFill/>
                    </a:lnB>
                    <a:noFill/>
                  </a:tcPr>
                </a:tc>
                <a:tc>
                  <a:txBody>
                    <a:bodyPr/>
                    <a:lstStyle/>
                    <a:p>
                      <a:r>
                        <a:rPr lang="zh-CN" altLang="en-US" sz="600"/>
                        <a:t>集成对账与差异分析</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比较计划与实际财务绩效，识别偏差。</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7670825"/>
                  </a:ext>
                </a:extLst>
              </a:tr>
              <a:tr h="213577">
                <a:tc vMerge="1">
                  <a:txBody>
                    <a:bodyPr/>
                    <a:lstStyle/>
                    <a:p>
                      <a:endParaRPr lang="zh-CN" altLang="en-US" sz="600" dirty="0"/>
                    </a:p>
                  </a:txBody>
                  <a:tcPr marL="30511" marR="30511" marT="15255" marB="15255" anchor="ctr">
                    <a:lnL>
                      <a:noFill/>
                    </a:lnL>
                    <a:lnR>
                      <a:noFill/>
                    </a:lnR>
                    <a:lnT>
                      <a:noFill/>
                    </a:lnT>
                    <a:lnB>
                      <a:noFill/>
                    </a:lnB>
                    <a:noFill/>
                  </a:tcPr>
                </a:tc>
                <a:tc rowSpan="2">
                  <a:txBody>
                    <a:bodyPr/>
                    <a:lstStyle/>
                    <a:p>
                      <a:r>
                        <a:rPr lang="zh-CN" altLang="en-US" sz="600" b="1" dirty="0"/>
                        <a:t>集成协调评审</a:t>
                      </a:r>
                      <a:endParaRPr lang="zh-CN" altLang="en-US" sz="600" dirty="0"/>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跨职能对齐</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协调产品、需求、供应计划，确保一致性。</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85785645"/>
                  </a:ext>
                </a:extLst>
              </a:tr>
              <a:tr h="213577">
                <a:tc vMerge="1">
                  <a:txBody>
                    <a:bodyPr/>
                    <a:lstStyle/>
                    <a:p>
                      <a:endParaRPr lang="zh-CN" altLang="en-US" sz="600" dirty="0"/>
                    </a:p>
                  </a:txBody>
                  <a:tcPr marL="30511" marR="30511" marT="15255" marB="15255" anchor="ctr">
                    <a:lnL>
                      <a:noFill/>
                    </a:lnL>
                    <a:lnR>
                      <a:noFill/>
                    </a:lnR>
                    <a:lnT>
                      <a:noFill/>
                    </a:lnT>
                    <a:lnB>
                      <a:noFill/>
                    </a:lnB>
                    <a:noFill/>
                  </a:tcPr>
                </a:tc>
                <a:tc vMerge="1">
                  <a:txBody>
                    <a:bodyPr/>
                    <a:lstStyle/>
                    <a:p>
                      <a:endParaRPr lang="zh-CN" altLang="en-US" sz="600" dirty="0"/>
                    </a:p>
                  </a:txBody>
                  <a:tcPr marL="30511" marR="30511" marT="15255" marB="15255" anchor="ctr">
                    <a:lnL>
                      <a:noFill/>
                    </a:lnL>
                    <a:lnR>
                      <a:noFill/>
                    </a:lnR>
                    <a:lnT>
                      <a:noFill/>
                    </a:lnT>
                    <a:lnB>
                      <a:noFill/>
                    </a:lnB>
                    <a:noFill/>
                  </a:tcPr>
                </a:tc>
                <a:tc>
                  <a:txBody>
                    <a:bodyPr/>
                    <a:lstStyle/>
                    <a:p>
                      <a:r>
                        <a:rPr lang="zh-CN" altLang="en-US" sz="600"/>
                        <a:t>差距分析</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识别计划与战略目标的差距，提出行动方案。</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74449969"/>
                  </a:ext>
                </a:extLst>
              </a:tr>
              <a:tr h="213577">
                <a:tc vMerge="1">
                  <a:txBody>
                    <a:bodyPr/>
                    <a:lstStyle/>
                    <a:p>
                      <a:endParaRPr lang="zh-CN" altLang="en-US" sz="600" dirty="0"/>
                    </a:p>
                  </a:txBody>
                  <a:tcPr marL="30511" marR="30511" marT="15255" marB="15255" anchor="ctr">
                    <a:lnL>
                      <a:noFill/>
                    </a:lnL>
                    <a:lnR>
                      <a:noFill/>
                    </a:lnR>
                    <a:lnT>
                      <a:noFill/>
                    </a:lnT>
                    <a:lnB>
                      <a:noFill/>
                    </a:lnB>
                    <a:noFill/>
                  </a:tcPr>
                </a:tc>
                <a:tc rowSpan="2">
                  <a:txBody>
                    <a:bodyPr/>
                    <a:lstStyle/>
                    <a:p>
                      <a:r>
                        <a:rPr lang="zh-CN" altLang="en-US" sz="600" b="1" dirty="0"/>
                        <a:t>管理业务评审</a:t>
                      </a:r>
                      <a:endParaRPr lang="zh-CN" altLang="en-US" sz="600" dirty="0"/>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领导决策</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高管团队评审并批准</a:t>
                      </a:r>
                      <a:r>
                        <a:rPr lang="en-US" altLang="zh-CN" sz="600"/>
                        <a:t>IBP</a:t>
                      </a:r>
                      <a:r>
                        <a:rPr lang="zh-CN" altLang="en-US" sz="600"/>
                        <a:t>计划，分配资源。 </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75605973"/>
                  </a:ext>
                </a:extLst>
              </a:tr>
              <a:tr h="213577">
                <a:tc vMerge="1">
                  <a:txBody>
                    <a:bodyPr/>
                    <a:lstStyle/>
                    <a:p>
                      <a:endParaRPr lang="zh-CN" altLang="en-US" sz="600" dirty="0"/>
                    </a:p>
                  </a:txBody>
                  <a:tcPr marL="30511" marR="30511" marT="15255" marB="15255" anchor="ctr">
                    <a:lnL>
                      <a:noFill/>
                    </a:lnL>
                    <a:lnR>
                      <a:noFill/>
                    </a:lnR>
                    <a:lnT>
                      <a:noFill/>
                    </a:lnT>
                    <a:lnB>
                      <a:noFill/>
                    </a:lnB>
                    <a:noFill/>
                  </a:tcPr>
                </a:tc>
                <a:tc vMerge="1">
                  <a:txBody>
                    <a:bodyPr/>
                    <a:lstStyle/>
                    <a:p>
                      <a:endParaRPr lang="zh-CN" altLang="en-US" sz="600" dirty="0"/>
                    </a:p>
                  </a:txBody>
                  <a:tcPr marL="30511" marR="30511" marT="15255" marB="15255" anchor="ctr">
                    <a:lnL>
                      <a:noFill/>
                    </a:lnL>
                    <a:lnR>
                      <a:noFill/>
                    </a:lnR>
                    <a:lnT>
                      <a:noFill/>
                    </a:lnT>
                    <a:lnB>
                      <a:noFill/>
                    </a:lnB>
                    <a:noFill/>
                  </a:tcPr>
                </a:tc>
                <a:tc>
                  <a:txBody>
                    <a:bodyPr/>
                    <a:lstStyle/>
                    <a:p>
                      <a:r>
                        <a:rPr lang="zh-CN" altLang="en-US" sz="600"/>
                        <a:t>绩效管理</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监控关键指标（如收入、库存周转率），驱动改进。</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43144358"/>
                  </a:ext>
                </a:extLst>
              </a:tr>
              <a:tr h="213577">
                <a:tc vMerge="1">
                  <a:txBody>
                    <a:bodyPr/>
                    <a:lstStyle/>
                    <a:p>
                      <a:endParaRPr lang="zh-CN" altLang="en-US" sz="600" dirty="0"/>
                    </a:p>
                  </a:txBody>
                  <a:tcPr marL="30511" marR="30511" marT="15255" marB="15255" anchor="ctr">
                    <a:lnL>
                      <a:noFill/>
                    </a:lnL>
                    <a:lnR>
                      <a:noFill/>
                    </a:lnR>
                    <a:lnT>
                      <a:noFill/>
                    </a:lnT>
                    <a:lnB>
                      <a:noFill/>
                    </a:lnB>
                    <a:noFill/>
                  </a:tcPr>
                </a:tc>
                <a:tc rowSpan="2">
                  <a:txBody>
                    <a:bodyPr/>
                    <a:lstStyle/>
                    <a:p>
                      <a:r>
                        <a:rPr lang="zh-CN" altLang="en-US" sz="600" b="1" dirty="0"/>
                        <a:t>情景规划与</a:t>
                      </a:r>
                      <a:r>
                        <a:rPr lang="en-US" sz="600" b="1" dirty="0"/>
                        <a:t>What-if</a:t>
                      </a:r>
                      <a:r>
                        <a:rPr lang="zh-CN" altLang="en-US" sz="600" b="1" dirty="0"/>
                        <a:t>分析</a:t>
                      </a:r>
                      <a:endParaRPr lang="zh-CN" altLang="en-US" sz="600" dirty="0"/>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业务情景建模</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模拟市场变化、供应中断等场景，评估风险与机会。</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5671131"/>
                  </a:ext>
                </a:extLst>
              </a:tr>
              <a:tr h="122044">
                <a:tc vMerge="1">
                  <a:txBody>
                    <a:bodyPr/>
                    <a:lstStyle/>
                    <a:p>
                      <a:endParaRPr lang="zh-CN" altLang="en-US" sz="600" dirty="0"/>
                    </a:p>
                  </a:txBody>
                  <a:tcPr marL="30511" marR="30511" marT="15255" marB="15255" anchor="ctr">
                    <a:lnL>
                      <a:noFill/>
                    </a:lnL>
                    <a:lnR>
                      <a:noFill/>
                    </a:lnR>
                    <a:lnT>
                      <a:noFill/>
                    </a:lnT>
                    <a:lnB>
                      <a:noFill/>
                    </a:lnB>
                    <a:noFill/>
                  </a:tcPr>
                </a:tc>
                <a:tc vMerge="1">
                  <a:txBody>
                    <a:bodyPr/>
                    <a:lstStyle/>
                    <a:p>
                      <a:endParaRPr lang="zh-CN" altLang="en-US" sz="600" dirty="0"/>
                    </a:p>
                  </a:txBody>
                  <a:tcPr marL="30511" marR="30511" marT="15255" marB="15255" anchor="ctr">
                    <a:lnL>
                      <a:noFill/>
                    </a:lnL>
                    <a:lnR>
                      <a:noFill/>
                    </a:lnR>
                    <a:lnT>
                      <a:noFill/>
                    </a:lnT>
                    <a:lnB>
                      <a:noFill/>
                    </a:lnB>
                    <a:noFill/>
                  </a:tcPr>
                </a:tc>
                <a:tc>
                  <a:txBody>
                    <a:bodyPr/>
                    <a:lstStyle/>
                    <a:p>
                      <a:r>
                        <a:rPr lang="zh-CN" altLang="en-US" sz="600" dirty="0"/>
                        <a:t>决策支持</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提供推荐行动方案，支持领导决策。</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7580936"/>
                  </a:ext>
                </a:extLst>
              </a:tr>
            </a:tbl>
          </a:graphicData>
        </a:graphic>
      </p:graphicFrame>
      <p:graphicFrame>
        <p:nvGraphicFramePr>
          <p:cNvPr id="4" name="表格 3">
            <a:extLst>
              <a:ext uri="{FF2B5EF4-FFF2-40B4-BE49-F238E27FC236}">
                <a16:creationId xmlns:a16="http://schemas.microsoft.com/office/drawing/2014/main" id="{06E5A79F-158F-7760-254C-2EA2539561CD}"/>
              </a:ext>
            </a:extLst>
          </p:cNvPr>
          <p:cNvGraphicFramePr>
            <a:graphicFrameLocks noGrp="1"/>
          </p:cNvGraphicFramePr>
          <p:nvPr/>
        </p:nvGraphicFramePr>
        <p:xfrm>
          <a:off x="4481519" y="805123"/>
          <a:ext cx="3569746" cy="5222546"/>
        </p:xfrm>
        <a:graphic>
          <a:graphicData uri="http://schemas.openxmlformats.org/drawingml/2006/table">
            <a:tbl>
              <a:tblPr/>
              <a:tblGrid>
                <a:gridCol w="559291">
                  <a:extLst>
                    <a:ext uri="{9D8B030D-6E8A-4147-A177-3AD203B41FA5}">
                      <a16:colId xmlns:a16="http://schemas.microsoft.com/office/drawing/2014/main" val="360473737"/>
                    </a:ext>
                  </a:extLst>
                </a:gridCol>
                <a:gridCol w="1016491">
                  <a:extLst>
                    <a:ext uri="{9D8B030D-6E8A-4147-A177-3AD203B41FA5}">
                      <a16:colId xmlns:a16="http://schemas.microsoft.com/office/drawing/2014/main" val="2983648138"/>
                    </a:ext>
                  </a:extLst>
                </a:gridCol>
                <a:gridCol w="996982">
                  <a:extLst>
                    <a:ext uri="{9D8B030D-6E8A-4147-A177-3AD203B41FA5}">
                      <a16:colId xmlns:a16="http://schemas.microsoft.com/office/drawing/2014/main" val="2644753157"/>
                    </a:ext>
                  </a:extLst>
                </a:gridCol>
                <a:gridCol w="996982">
                  <a:extLst>
                    <a:ext uri="{9D8B030D-6E8A-4147-A177-3AD203B41FA5}">
                      <a16:colId xmlns:a16="http://schemas.microsoft.com/office/drawing/2014/main" val="2477220789"/>
                    </a:ext>
                  </a:extLst>
                </a:gridCol>
              </a:tblGrid>
              <a:tr h="134330">
                <a:tc>
                  <a:txBody>
                    <a:bodyPr/>
                    <a:lstStyle/>
                    <a:p>
                      <a:r>
                        <a:rPr lang="en-US" altLang="zh-CN" sz="600" dirty="0"/>
                        <a:t>One Plan</a:t>
                      </a:r>
                      <a:r>
                        <a:rPr lang="zh-CN" altLang="en-US" sz="600" dirty="0"/>
                        <a:t>层级</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功能</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子功能</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描述</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77453659"/>
                  </a:ext>
                </a:extLst>
              </a:tr>
              <a:tr h="335825">
                <a:tc rowSpan="22">
                  <a:txBody>
                    <a:bodyPr/>
                    <a:lstStyle/>
                    <a:p>
                      <a:r>
                        <a:rPr lang="en-US" altLang="zh-CN" sz="600" dirty="0"/>
                        <a:t>ITP</a:t>
                      </a:r>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3">
                  <a:txBody>
                    <a:bodyPr/>
                    <a:lstStyle/>
                    <a:p>
                      <a:r>
                        <a:rPr lang="zh-CN" altLang="en-US" sz="600" b="1" dirty="0"/>
                        <a:t>主计划</a:t>
                      </a:r>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主生产计划制定</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将</a:t>
                      </a:r>
                      <a:r>
                        <a:rPr lang="en-US" altLang="zh-CN" sz="600"/>
                        <a:t>IBP</a:t>
                      </a:r>
                      <a:r>
                        <a:rPr lang="zh-CN" altLang="en-US" sz="600"/>
                        <a:t>的聚合供应计划分解为详细的生产计划（按周或日），考虑产能约束。 </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5196905"/>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endParaRPr lang="zh-CN" altLang="en-US" sz="700"/>
                    </a:p>
                  </a:txBody>
                  <a:tcPr marL="33583" marR="33583" marT="16791" marB="16791" anchor="ctr">
                    <a:lnL>
                      <a:noFill/>
                    </a:lnL>
                    <a:lnR>
                      <a:noFill/>
                    </a:lnR>
                    <a:lnT>
                      <a:noFill/>
                    </a:lnT>
                    <a:lnB>
                      <a:noFill/>
                    </a:lnB>
                    <a:noFill/>
                  </a:tcPr>
                </a:tc>
                <a:tc>
                  <a:txBody>
                    <a:bodyPr/>
                    <a:lstStyle/>
                    <a:p>
                      <a:r>
                        <a:rPr lang="zh-CN" altLang="en-US" sz="600" dirty="0"/>
                        <a:t>需求供应平衡</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在计划时栅内重新平衡需求与供应，匹配资源。 </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57195044"/>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endParaRPr lang="zh-CN" altLang="en-US" sz="700" dirty="0"/>
                    </a:p>
                  </a:txBody>
                  <a:tcPr marL="33583" marR="33583" marT="16791" marB="16791" anchor="ctr">
                    <a:lnL>
                      <a:noFill/>
                    </a:lnL>
                    <a:lnR>
                      <a:noFill/>
                    </a:lnR>
                    <a:lnT>
                      <a:noFill/>
                    </a:lnT>
                    <a:lnB>
                      <a:noFill/>
                    </a:lnB>
                    <a:noFill/>
                  </a:tcPr>
                </a:tc>
                <a:tc>
                  <a:txBody>
                    <a:bodyPr/>
                    <a:lstStyle/>
                    <a:p>
                      <a:r>
                        <a:rPr lang="zh-CN" altLang="en-US" sz="600"/>
                        <a:t>可承诺量计算</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基于主计划计算</a:t>
                      </a:r>
                      <a:r>
                        <a:rPr lang="en-US" altLang="zh-CN" sz="600"/>
                        <a:t>ATP</a:t>
                      </a:r>
                      <a:r>
                        <a:rPr lang="zh-CN" altLang="en-US" sz="600"/>
                        <a:t>，支持订单承诺。</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98887550"/>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3">
                  <a:txBody>
                    <a:bodyPr/>
                    <a:lstStyle/>
                    <a:p>
                      <a:r>
                        <a:rPr lang="zh-CN" altLang="en-US" sz="600" b="1" dirty="0"/>
                        <a:t>物料需求计划</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净需求计算</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考虑在库库存、计划收货和需求，计算净需求。</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76359544"/>
                  </a:ext>
                </a:extLst>
              </a:tr>
              <a:tr h="64741">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采购计划生成</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为原材料和组件生成采购建议，考虑提前期和批量规则。</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54722117"/>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生产订单建议</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生成制造订单，支持多层级</a:t>
                      </a:r>
                      <a:r>
                        <a:rPr lang="en-US" altLang="zh-CN" sz="600" dirty="0"/>
                        <a:t>BOM</a:t>
                      </a:r>
                      <a:r>
                        <a:rPr lang="zh-CN" altLang="en-US" sz="600" dirty="0"/>
                        <a:t>分解。</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56552154"/>
                  </a:ext>
                </a:extLst>
              </a:tr>
              <a:tr h="226043">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3">
                  <a:txBody>
                    <a:bodyPr/>
                    <a:lstStyle/>
                    <a:p>
                      <a:r>
                        <a:rPr lang="zh-CN" altLang="en-US" sz="600" b="1" dirty="0"/>
                        <a:t>产能规划</a:t>
                      </a:r>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细能力规划 </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详细评估工作中心产能，确保计划可行。</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48541273"/>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瓶颈识别</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识别产能、物料或物流瓶颈，提出优化方案。</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57183345"/>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资源分配</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应用分配策略（如</a:t>
                      </a:r>
                      <a:r>
                        <a:rPr lang="en-US" altLang="zh-CN" sz="600"/>
                        <a:t>FIFS</a:t>
                      </a:r>
                      <a:r>
                        <a:rPr lang="zh-CN" altLang="en-US" sz="600"/>
                        <a:t>、公平份额）分配资源给订单。</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04776626"/>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r>
                        <a:rPr lang="zh-CN" altLang="en-US" sz="600" b="1" dirty="0"/>
                        <a:t>库存优化</a:t>
                      </a:r>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安全库存计算</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基于需求变异性和服务水平目标，优化安全库存水平。</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58010896"/>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库存策略管理</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制定</a:t>
                      </a:r>
                      <a:r>
                        <a:rPr lang="en-US" altLang="zh-CN" sz="600"/>
                        <a:t>ABC</a:t>
                      </a:r>
                      <a:r>
                        <a:rPr lang="zh-CN" altLang="en-US" sz="600"/>
                        <a:t>分类、再订货点等策略，优化库存周转。</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63027430"/>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3">
                  <a:txBody>
                    <a:bodyPr/>
                    <a:lstStyle/>
                    <a:p>
                      <a:r>
                        <a:rPr lang="zh-CN" altLang="en-US" sz="600" b="1" dirty="0"/>
                        <a:t>供应商协同</a:t>
                      </a:r>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供应计划共享</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将主计划共享给供应商，获取交付承诺。</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36736582"/>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承诺管理</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管理供应商的</a:t>
                      </a:r>
                      <a:r>
                        <a:rPr lang="en-US" altLang="zh-CN" sz="600"/>
                        <a:t>ETA</a:t>
                      </a:r>
                      <a:r>
                        <a:rPr lang="zh-CN" altLang="en-US" sz="600"/>
                        <a:t>、</a:t>
                      </a:r>
                      <a:r>
                        <a:rPr lang="en-US" altLang="zh-CN" sz="600"/>
                        <a:t>ASN</a:t>
                      </a:r>
                      <a:r>
                        <a:rPr lang="zh-CN" altLang="en-US" sz="600"/>
                        <a:t>，实现供需关联。</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36354941"/>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协同补货需求</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实施</a:t>
                      </a:r>
                      <a:r>
                        <a:rPr lang="en-US" altLang="zh-CN" sz="600"/>
                        <a:t>VMI</a:t>
                      </a:r>
                      <a:r>
                        <a:rPr lang="zh-CN" altLang="en-US" sz="600"/>
                        <a:t>、</a:t>
                      </a:r>
                      <a:r>
                        <a:rPr lang="en-US" altLang="zh-CN" sz="600"/>
                        <a:t>JIT</a:t>
                      </a:r>
                      <a:r>
                        <a:rPr lang="zh-CN" altLang="en-US" sz="600"/>
                        <a:t>等模式，降低库存风险。</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8162224"/>
                  </a:ext>
                </a:extLst>
              </a:tr>
              <a:tr h="134330">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r>
                        <a:rPr lang="zh-CN" altLang="en-US" sz="600" b="1" dirty="0"/>
                        <a:t>需求执行</a:t>
                      </a:r>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订单管理</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处理短期订单变化，调整需求计划。</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92939463"/>
                  </a:ext>
                </a:extLst>
              </a:tr>
              <a:tr h="134330">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异常需求处理</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监控需求偏差，触发重新计划。</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42364404"/>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r>
                        <a:rPr lang="zh-CN" altLang="en-US" sz="600" b="1" dirty="0"/>
                        <a:t>供应执行</a:t>
                      </a:r>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供应计划调整</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基于实际产能或物料情况，调整供应计划。</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323788"/>
                  </a:ext>
                </a:extLst>
              </a:tr>
              <a:tr h="134330">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紧急变更处理</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处理插单、取消订单等紧急变化。</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75533678"/>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r>
                        <a:rPr lang="zh-CN" altLang="en-US" sz="600" b="1" dirty="0"/>
                        <a:t>集成战术评审</a:t>
                      </a:r>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周度评审会议</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跨职能团队评审计划执行情况，确保与</a:t>
                      </a:r>
                      <a:r>
                        <a:rPr lang="en-US" altLang="zh-CN" sz="600"/>
                        <a:t>IBP</a:t>
                      </a:r>
                      <a:r>
                        <a:rPr lang="zh-CN" altLang="en-US" sz="600"/>
                        <a:t>对齐。</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21054338"/>
                  </a:ext>
                </a:extLst>
              </a:tr>
              <a:tr h="235078">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偏差上报</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当计划无法平衡时，上报问题给</a:t>
                      </a:r>
                      <a:r>
                        <a:rPr lang="en-US" altLang="zh-CN" sz="600"/>
                        <a:t>IBP</a:t>
                      </a:r>
                      <a:r>
                        <a:rPr lang="zh-CN" altLang="en-US" sz="600"/>
                        <a:t>层。</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0038827"/>
                  </a:ext>
                </a:extLst>
              </a:tr>
              <a:tr h="134330">
                <a:tc vMerge="1">
                  <a:txBody>
                    <a:bodyPr/>
                    <a:lstStyle/>
                    <a:p>
                      <a:endParaRPr lang="zh-CN" altLang="en-US" sz="60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r>
                        <a:rPr lang="en-US" altLang="zh-CN" sz="600" dirty="0"/>
                        <a:t>IOP</a:t>
                      </a:r>
                      <a:r>
                        <a:rPr lang="zh-CN" altLang="en-US" sz="600" dirty="0"/>
                        <a:t>协同</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主计划与排程衔接 </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将主计划输出为配额</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97865347"/>
                  </a:ext>
                </a:extLst>
              </a:tr>
              <a:tr h="235078">
                <a:tc vMerge="1">
                  <a:txBody>
                    <a:bodyPr/>
                    <a:lstStyle/>
                    <a:p>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endParaRPr lang="zh-CN" altLang="en-US" sz="600" dirty="0"/>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物料与产能同步</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确保物料计划与产能计划协同，避免短缺或过剩。</a:t>
                      </a:r>
                    </a:p>
                  </a:txBody>
                  <a:tcPr marL="33583" marR="33583" marT="16791" marB="167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63660469"/>
                  </a:ext>
                </a:extLst>
              </a:tr>
            </a:tbl>
          </a:graphicData>
        </a:graphic>
      </p:graphicFrame>
      <p:graphicFrame>
        <p:nvGraphicFramePr>
          <p:cNvPr id="6" name="表格 5">
            <a:extLst>
              <a:ext uri="{FF2B5EF4-FFF2-40B4-BE49-F238E27FC236}">
                <a16:creationId xmlns:a16="http://schemas.microsoft.com/office/drawing/2014/main" id="{B95C95A5-8710-7C35-3550-F7317C22F32F}"/>
              </a:ext>
            </a:extLst>
          </p:cNvPr>
          <p:cNvGraphicFramePr>
            <a:graphicFrameLocks noGrp="1"/>
          </p:cNvGraphicFramePr>
          <p:nvPr/>
        </p:nvGraphicFramePr>
        <p:xfrm>
          <a:off x="8209707" y="805123"/>
          <a:ext cx="3569745" cy="5222548"/>
        </p:xfrm>
        <a:graphic>
          <a:graphicData uri="http://schemas.openxmlformats.org/drawingml/2006/table">
            <a:tbl>
              <a:tblPr/>
              <a:tblGrid>
                <a:gridCol w="834400">
                  <a:extLst>
                    <a:ext uri="{9D8B030D-6E8A-4147-A177-3AD203B41FA5}">
                      <a16:colId xmlns:a16="http://schemas.microsoft.com/office/drawing/2014/main" val="4285416577"/>
                    </a:ext>
                  </a:extLst>
                </a:gridCol>
                <a:gridCol w="834400">
                  <a:extLst>
                    <a:ext uri="{9D8B030D-6E8A-4147-A177-3AD203B41FA5}">
                      <a16:colId xmlns:a16="http://schemas.microsoft.com/office/drawing/2014/main" val="1779759682"/>
                    </a:ext>
                  </a:extLst>
                </a:gridCol>
                <a:gridCol w="593547">
                  <a:extLst>
                    <a:ext uri="{9D8B030D-6E8A-4147-A177-3AD203B41FA5}">
                      <a16:colId xmlns:a16="http://schemas.microsoft.com/office/drawing/2014/main" val="2450578208"/>
                    </a:ext>
                  </a:extLst>
                </a:gridCol>
                <a:gridCol w="1307398">
                  <a:extLst>
                    <a:ext uri="{9D8B030D-6E8A-4147-A177-3AD203B41FA5}">
                      <a16:colId xmlns:a16="http://schemas.microsoft.com/office/drawing/2014/main" val="1902651323"/>
                    </a:ext>
                  </a:extLst>
                </a:gridCol>
              </a:tblGrid>
              <a:tr h="198992">
                <a:tc>
                  <a:txBody>
                    <a:bodyPr/>
                    <a:lstStyle/>
                    <a:p>
                      <a:r>
                        <a:rPr lang="en-US" altLang="zh-CN" sz="600" dirty="0"/>
                        <a:t>One Plan </a:t>
                      </a:r>
                      <a:r>
                        <a:rPr lang="zh-CN" altLang="en-US" sz="600" dirty="0"/>
                        <a:t>层级</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功能模块</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子功能</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描述</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9207084"/>
                  </a:ext>
                </a:extLst>
              </a:tr>
              <a:tr h="278891">
                <a:tc rowSpan="20">
                  <a:txBody>
                    <a:bodyPr/>
                    <a:lstStyle/>
                    <a:p>
                      <a:r>
                        <a:rPr lang="en-US" altLang="zh-CN" sz="600" dirty="0"/>
                        <a:t>IOP</a:t>
                      </a:r>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3">
                  <a:txBody>
                    <a:bodyPr/>
                    <a:lstStyle/>
                    <a:p>
                      <a:r>
                        <a:rPr lang="zh-CN" altLang="en-US" sz="600" b="1" dirty="0"/>
                        <a:t>详细排程</a:t>
                      </a:r>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作业计划生成</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基于主计划生成详细的工序计划，指定机台、产线和顺序。</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13540092"/>
                  </a:ext>
                </a:extLst>
              </a:tr>
              <a:tr h="278891">
                <a:tc vMerge="1">
                  <a:txBody>
                    <a:bodyPr/>
                    <a:lstStyle/>
                    <a:p>
                      <a:endParaRPr lang="zh-CN" altLang="en-US" sz="600"/>
                    </a:p>
                  </a:txBody>
                  <a:tcPr marL="37908" marR="37908" marT="18954" marB="18954" anchor="ctr">
                    <a:lnL>
                      <a:noFill/>
                    </a:lnL>
                    <a:lnR>
                      <a:noFill/>
                    </a:lnR>
                    <a:lnT>
                      <a:noFill/>
                    </a:lnT>
                    <a:lnB>
                      <a:noFill/>
                    </a:lnB>
                    <a:noFill/>
                  </a:tcPr>
                </a:tc>
                <a:tc vMerge="1">
                  <a:txBody>
                    <a:bodyPr/>
                    <a:lstStyle/>
                    <a:p>
                      <a:endParaRPr lang="zh-CN" altLang="en-US" sz="60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有限产能排程</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考虑实时产能约束，优化作业顺序和资源利用。</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80172831"/>
                  </a:ext>
                </a:extLst>
              </a:tr>
              <a:tr h="278891">
                <a:tc vMerge="1">
                  <a:txBody>
                    <a:bodyPr/>
                    <a:lstStyle/>
                    <a:p>
                      <a:endParaRPr lang="zh-CN" altLang="en-US" sz="600"/>
                    </a:p>
                  </a:txBody>
                  <a:tcPr marL="37908" marR="37908" marT="18954" marB="18954" anchor="ctr">
                    <a:lnL>
                      <a:noFill/>
                    </a:lnL>
                    <a:lnR>
                      <a:noFill/>
                    </a:lnR>
                    <a:lnT>
                      <a:noFill/>
                    </a:lnT>
                    <a:lnB>
                      <a:noFill/>
                    </a:lnB>
                    <a:noFill/>
                  </a:tcPr>
                </a:tc>
                <a:tc vMerge="1">
                  <a:txBody>
                    <a:bodyPr/>
                    <a:lstStyle/>
                    <a:p>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插单处理</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通过资源置换方式处理紧急订单，控制影响范围。 </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01633325"/>
                  </a:ext>
                </a:extLst>
              </a:tr>
              <a:tr h="278891">
                <a:tc vMerge="1">
                  <a:txBody>
                    <a:bodyPr/>
                    <a:lstStyle/>
                    <a:p>
                      <a:endParaRPr lang="zh-CN" altLang="en-US" sz="600"/>
                    </a:p>
                  </a:txBody>
                  <a:tcPr marL="37908" marR="37908" marT="18954" marB="18954" anchor="ctr">
                    <a:lnL>
                      <a:noFill/>
                    </a:lnL>
                    <a:lnR>
                      <a:noFill/>
                    </a:lnR>
                    <a:lnT>
                      <a:noFill/>
                    </a:lnT>
                    <a:lnB>
                      <a:noFill/>
                    </a:lnB>
                    <a:noFill/>
                  </a:tcPr>
                </a:tc>
                <a:tc rowSpan="3">
                  <a:txBody>
                    <a:bodyPr/>
                    <a:lstStyle/>
                    <a:p>
                      <a:r>
                        <a:rPr lang="zh-CN" altLang="en-US" sz="600" b="1" dirty="0"/>
                        <a:t>工单管理</a:t>
                      </a:r>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工单创建与发布</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将计划转化为可执行的工单，包括材料清单和工艺路线。</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46005448"/>
                  </a:ext>
                </a:extLst>
              </a:tr>
              <a:tr h="278891">
                <a:tc vMerge="1">
                  <a:txBody>
                    <a:bodyPr/>
                    <a:lstStyle/>
                    <a:p>
                      <a:endParaRPr lang="zh-CN" altLang="en-US" sz="600"/>
                    </a:p>
                  </a:txBody>
                  <a:tcPr marL="37908" marR="37908" marT="18954" marB="18954" anchor="ctr">
                    <a:lnL>
                      <a:noFill/>
                    </a:lnL>
                    <a:lnR>
                      <a:noFill/>
                    </a:lnR>
                    <a:lnT>
                      <a:noFill/>
                    </a:lnT>
                    <a:lnB>
                      <a:noFill/>
                    </a:lnB>
                    <a:noFill/>
                  </a:tcPr>
                </a:tc>
                <a:tc vMerge="1">
                  <a:txBody>
                    <a:bodyPr/>
                    <a:lstStyle/>
                    <a:p>
                      <a:endParaRPr lang="zh-CN" altLang="en-US" sz="60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工单优先级调度</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基于交期、优先级规则动态调度工单。</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99873156"/>
                  </a:ext>
                </a:extLst>
              </a:tr>
              <a:tr h="278891">
                <a:tc vMerge="1">
                  <a:txBody>
                    <a:bodyPr/>
                    <a:lstStyle/>
                    <a:p>
                      <a:endParaRPr lang="zh-CN" altLang="en-US" sz="600"/>
                    </a:p>
                  </a:txBody>
                  <a:tcPr marL="37908" marR="37908" marT="18954" marB="18954" anchor="ctr">
                    <a:lnL>
                      <a:noFill/>
                    </a:lnL>
                    <a:lnR>
                      <a:noFill/>
                    </a:lnR>
                    <a:lnT>
                      <a:noFill/>
                    </a:lnT>
                    <a:lnB>
                      <a:noFill/>
                    </a:lnB>
                    <a:noFill/>
                  </a:tcPr>
                </a:tc>
                <a:tc vMerge="1">
                  <a:txBody>
                    <a:bodyPr/>
                    <a:lstStyle/>
                    <a:p>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工单状态跟踪</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监控工单进度（如开始、完成、暂停）。</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92038440"/>
                  </a:ext>
                </a:extLst>
              </a:tr>
              <a:tr h="278891">
                <a:tc vMerge="1">
                  <a:txBody>
                    <a:bodyPr/>
                    <a:lstStyle/>
                    <a:p>
                      <a:endParaRPr lang="zh-CN" altLang="en-US" sz="600"/>
                    </a:p>
                  </a:txBody>
                  <a:tcPr marL="37908" marR="37908" marT="18954" marB="18954" anchor="ctr">
                    <a:lnL>
                      <a:noFill/>
                    </a:lnL>
                    <a:lnR>
                      <a:noFill/>
                    </a:lnR>
                    <a:lnT>
                      <a:noFill/>
                    </a:lnT>
                    <a:lnB>
                      <a:noFill/>
                    </a:lnB>
                    <a:noFill/>
                  </a:tcPr>
                </a:tc>
                <a:tc rowSpan="3">
                  <a:txBody>
                    <a:bodyPr/>
                    <a:lstStyle/>
                    <a:p>
                      <a:r>
                        <a:rPr lang="zh-CN" altLang="en-US" sz="600" b="1" dirty="0"/>
                        <a:t>物料配送</a:t>
                      </a:r>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600"/>
                        <a:t>Call</a:t>
                      </a:r>
                      <a:r>
                        <a:rPr lang="zh-CN" altLang="en-US" sz="600"/>
                        <a:t>料管理</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根据排程计划自动触发物料配送，确保线边库存。</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5023962"/>
                  </a:ext>
                </a:extLst>
              </a:tr>
              <a:tr h="159365">
                <a:tc vMerge="1">
                  <a:txBody>
                    <a:bodyPr/>
                    <a:lstStyle/>
                    <a:p>
                      <a:endParaRPr lang="zh-CN" altLang="en-US" sz="600"/>
                    </a:p>
                  </a:txBody>
                  <a:tcPr marL="37908" marR="37908" marT="18954" marB="18954" anchor="ctr">
                    <a:lnL>
                      <a:noFill/>
                    </a:lnL>
                    <a:lnR>
                      <a:noFill/>
                    </a:lnR>
                    <a:lnT>
                      <a:noFill/>
                    </a:lnT>
                    <a:lnB>
                      <a:noFill/>
                    </a:lnB>
                    <a:noFill/>
                  </a:tcPr>
                </a:tc>
                <a:tc vMerge="1">
                  <a:txBody>
                    <a:bodyPr/>
                    <a:lstStyle/>
                    <a:p>
                      <a:endParaRPr lang="zh-CN" altLang="en-US" sz="60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拉式系统执行</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实施看板或电子信号驱动物料移动。</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70920831"/>
                  </a:ext>
                </a:extLst>
              </a:tr>
              <a:tr h="159365">
                <a:tc vMerge="1">
                  <a:txBody>
                    <a:bodyPr/>
                    <a:lstStyle/>
                    <a:p>
                      <a:endParaRPr lang="zh-CN" altLang="en-US" sz="600"/>
                    </a:p>
                  </a:txBody>
                  <a:tcPr marL="37908" marR="37908" marT="18954" marB="18954" anchor="ctr">
                    <a:lnL>
                      <a:noFill/>
                    </a:lnL>
                    <a:lnR>
                      <a:noFill/>
                    </a:lnR>
                    <a:lnT>
                      <a:noFill/>
                    </a:lnT>
                    <a:lnB>
                      <a:noFill/>
                    </a:lnB>
                    <a:noFill/>
                  </a:tcPr>
                </a:tc>
                <a:tc vMerge="1">
                  <a:txBody>
                    <a:bodyPr/>
                    <a:lstStyle/>
                    <a:p>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物料齐套检查</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确保工单所需物料可用，避免停产。</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7018390"/>
                  </a:ext>
                </a:extLst>
              </a:tr>
              <a:tr h="278891">
                <a:tc vMerge="1">
                  <a:txBody>
                    <a:bodyPr/>
                    <a:lstStyle/>
                    <a:p>
                      <a:endParaRPr lang="zh-CN" altLang="en-US" sz="600"/>
                    </a:p>
                  </a:txBody>
                  <a:tcPr marL="37908" marR="37908" marT="18954" marB="18954" anchor="ctr">
                    <a:lnL>
                      <a:noFill/>
                    </a:lnL>
                    <a:lnR>
                      <a:noFill/>
                    </a:lnR>
                    <a:lnT>
                      <a:noFill/>
                    </a:lnT>
                    <a:lnB>
                      <a:noFill/>
                    </a:lnB>
                    <a:noFill/>
                  </a:tcPr>
                </a:tc>
                <a:tc rowSpan="2">
                  <a:txBody>
                    <a:bodyPr/>
                    <a:lstStyle/>
                    <a:p>
                      <a:r>
                        <a:rPr lang="zh-CN" altLang="en-US" sz="600" b="1" dirty="0"/>
                        <a:t>运输计划</a:t>
                      </a:r>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运输调度</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优化车辆路线和装载计划，降低运输成本。</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90234441"/>
                  </a:ext>
                </a:extLst>
              </a:tr>
              <a:tr h="159365">
                <a:tc vMerge="1">
                  <a:txBody>
                    <a:bodyPr/>
                    <a:lstStyle/>
                    <a:p>
                      <a:endParaRPr lang="zh-CN" altLang="en-US" sz="600"/>
                    </a:p>
                  </a:txBody>
                  <a:tcPr marL="37908" marR="37908" marT="18954" marB="18954" anchor="ctr">
                    <a:lnL>
                      <a:noFill/>
                    </a:lnL>
                    <a:lnR>
                      <a:noFill/>
                    </a:lnR>
                    <a:lnT>
                      <a:noFill/>
                    </a:lnT>
                    <a:lnB>
                      <a:noFill/>
                    </a:lnB>
                    <a:noFill/>
                  </a:tcPr>
                </a:tc>
                <a:tc vMerge="1">
                  <a:txBody>
                    <a:bodyPr/>
                    <a:lstStyle/>
                    <a:p>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交付执行</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监控在途货物，确保准时交付。</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16480247"/>
                  </a:ext>
                </a:extLst>
              </a:tr>
              <a:tr h="258690">
                <a:tc vMerge="1">
                  <a:txBody>
                    <a:bodyPr/>
                    <a:lstStyle/>
                    <a:p>
                      <a:endParaRPr lang="zh-CN" altLang="en-US" sz="600"/>
                    </a:p>
                  </a:txBody>
                  <a:tcPr marL="37908" marR="37908" marT="18954" marB="18954" anchor="ctr">
                    <a:lnL>
                      <a:noFill/>
                    </a:lnL>
                    <a:lnR>
                      <a:noFill/>
                    </a:lnR>
                    <a:lnT>
                      <a:noFill/>
                    </a:lnT>
                    <a:lnB>
                      <a:noFill/>
                    </a:lnB>
                    <a:noFill/>
                  </a:tcPr>
                </a:tc>
                <a:tc rowSpan="3">
                  <a:txBody>
                    <a:bodyPr/>
                    <a:lstStyle/>
                    <a:p>
                      <a:r>
                        <a:rPr lang="zh-CN" altLang="en-US" sz="600" b="1" dirty="0"/>
                        <a:t>实时监控与控制</a:t>
                      </a:r>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仪表盘可视化</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显示关键指标（如</a:t>
                      </a:r>
                      <a:r>
                        <a:rPr lang="en-US" altLang="zh-CN" sz="600"/>
                        <a:t>OEE</a:t>
                      </a:r>
                      <a:r>
                        <a:rPr lang="zh-CN" altLang="en-US" sz="600"/>
                        <a:t>、交付准时率）。</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3204998"/>
                  </a:ext>
                </a:extLst>
              </a:tr>
              <a:tr h="222932">
                <a:tc vMerge="1">
                  <a:txBody>
                    <a:bodyPr/>
                    <a:lstStyle/>
                    <a:p>
                      <a:endParaRPr lang="zh-CN" altLang="en-US" sz="600"/>
                    </a:p>
                  </a:txBody>
                  <a:tcPr marL="37908" marR="37908" marT="18954" marB="18954" anchor="ctr">
                    <a:lnL>
                      <a:noFill/>
                    </a:lnL>
                    <a:lnR>
                      <a:noFill/>
                    </a:lnR>
                    <a:lnT>
                      <a:noFill/>
                    </a:lnT>
                    <a:lnB>
                      <a:noFill/>
                    </a:lnB>
                    <a:noFill/>
                  </a:tcPr>
                </a:tc>
                <a:tc vMerge="1">
                  <a:txBody>
                    <a:bodyPr/>
                    <a:lstStyle/>
                    <a:p>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异常警报</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实时检测偏差（如设备故障、物料短缺），发送警报。</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1336495"/>
                  </a:ext>
                </a:extLst>
              </a:tr>
              <a:tr h="278891">
                <a:tc vMerge="1">
                  <a:txBody>
                    <a:bodyPr/>
                    <a:lstStyle/>
                    <a:p>
                      <a:endParaRPr lang="zh-CN" altLang="en-US" sz="600"/>
                    </a:p>
                  </a:txBody>
                  <a:tcPr marL="37908" marR="37908" marT="18954" marB="18954" anchor="ctr">
                    <a:lnL>
                      <a:noFill/>
                    </a:lnL>
                    <a:lnR>
                      <a:noFill/>
                    </a:lnR>
                    <a:lnT>
                      <a:noFill/>
                    </a:lnT>
                    <a:lnB>
                      <a:noFill/>
                    </a:lnB>
                    <a:noFill/>
                  </a:tcPr>
                </a:tc>
                <a:tc vMerge="1">
                  <a:txBody>
                    <a:bodyPr/>
                    <a:lstStyle/>
                    <a:p>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根因分析</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通过</a:t>
                      </a:r>
                      <a:r>
                        <a:rPr lang="en-US" altLang="zh-CN" sz="600"/>
                        <a:t>Pegging</a:t>
                      </a:r>
                      <a:r>
                        <a:rPr lang="zh-CN" altLang="en-US" sz="600"/>
                        <a:t>追溯问题根源，支持快速决策。</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35635366"/>
                  </a:ext>
                </a:extLst>
              </a:tr>
              <a:tr h="278891">
                <a:tc vMerge="1">
                  <a:txBody>
                    <a:bodyPr/>
                    <a:lstStyle/>
                    <a:p>
                      <a:endParaRPr lang="zh-CN" altLang="en-US" sz="600"/>
                    </a:p>
                  </a:txBody>
                  <a:tcPr marL="37908" marR="37908" marT="18954" marB="18954" anchor="ctr">
                    <a:lnL>
                      <a:noFill/>
                    </a:lnL>
                    <a:lnR>
                      <a:noFill/>
                    </a:lnR>
                    <a:lnT>
                      <a:noFill/>
                    </a:lnT>
                    <a:lnB>
                      <a:noFill/>
                    </a:lnB>
                    <a:noFill/>
                  </a:tcPr>
                </a:tc>
                <a:tc rowSpan="2">
                  <a:txBody>
                    <a:bodyPr/>
                    <a:lstStyle/>
                    <a:p>
                      <a:r>
                        <a:rPr lang="zh-CN" altLang="en-US" sz="600" b="1" dirty="0"/>
                        <a:t>绩效追踪</a:t>
                      </a:r>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日度</a:t>
                      </a:r>
                      <a:r>
                        <a:rPr lang="en-US" sz="600"/>
                        <a:t>KPI</a:t>
                      </a:r>
                      <a:r>
                        <a:rPr lang="zh-CN" altLang="en-US" sz="600"/>
                        <a:t>报告</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跟踪日绩效（如产量、质量偏差），用于改进。</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52926790"/>
                  </a:ext>
                </a:extLst>
              </a:tr>
              <a:tr h="278891">
                <a:tc vMerge="1">
                  <a:txBody>
                    <a:bodyPr/>
                    <a:lstStyle/>
                    <a:p>
                      <a:endParaRPr lang="zh-CN" altLang="en-US" sz="600"/>
                    </a:p>
                  </a:txBody>
                  <a:tcPr marL="37908" marR="37908" marT="18954" marB="18954" anchor="ctr">
                    <a:lnL>
                      <a:noFill/>
                    </a:lnL>
                    <a:lnR>
                      <a:noFill/>
                    </a:lnR>
                    <a:lnT>
                      <a:noFill/>
                    </a:lnT>
                    <a:lnB>
                      <a:noFill/>
                    </a:lnB>
                    <a:noFill/>
                  </a:tcPr>
                </a:tc>
                <a:tc vMerge="1">
                  <a:txBody>
                    <a:bodyPr/>
                    <a:lstStyle/>
                    <a:p>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执行反馈</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将实际执行数据反馈给</a:t>
                      </a:r>
                      <a:r>
                        <a:rPr lang="en-US" altLang="zh-CN" sz="600"/>
                        <a:t>ITP</a:t>
                      </a:r>
                      <a:r>
                        <a:rPr lang="zh-CN" altLang="en-US" sz="600"/>
                        <a:t>和</a:t>
                      </a:r>
                      <a:r>
                        <a:rPr lang="en-US" altLang="zh-CN" sz="600"/>
                        <a:t>IBP</a:t>
                      </a:r>
                      <a:r>
                        <a:rPr lang="zh-CN" altLang="en-US" sz="600"/>
                        <a:t>层，闭环优化。</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9228643"/>
                  </a:ext>
                </a:extLst>
              </a:tr>
              <a:tr h="278891">
                <a:tc vMerge="1">
                  <a:txBody>
                    <a:bodyPr/>
                    <a:lstStyle/>
                    <a:p>
                      <a:endParaRPr lang="zh-CN" altLang="en-US" sz="600"/>
                    </a:p>
                  </a:txBody>
                  <a:tcPr marL="37908" marR="37908" marT="18954" marB="18954" anchor="ctr">
                    <a:lnL>
                      <a:noFill/>
                    </a:lnL>
                    <a:lnR>
                      <a:noFill/>
                    </a:lnR>
                    <a:lnT>
                      <a:noFill/>
                    </a:lnT>
                    <a:lnB>
                      <a:noFill/>
                    </a:lnB>
                    <a:noFill/>
                  </a:tcPr>
                </a:tc>
                <a:tc>
                  <a:txBody>
                    <a:bodyPr/>
                    <a:lstStyle/>
                    <a:p>
                      <a:r>
                        <a:rPr lang="zh-CN" altLang="en-US" sz="600" b="1" dirty="0"/>
                        <a:t>动态响应</a:t>
                      </a:r>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600"/>
                        <a:t>What-if</a:t>
                      </a:r>
                      <a:r>
                        <a:rPr lang="zh-CN" altLang="en-US" sz="600"/>
                        <a:t>模拟</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在运营层模拟变化（如机器停机），评估影响。</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59399651"/>
                  </a:ext>
                </a:extLst>
              </a:tr>
              <a:tr h="278891">
                <a:tc vMerge="1">
                  <a:txBody>
                    <a:bodyPr/>
                    <a:lstStyle/>
                    <a:p>
                      <a:endParaRPr lang="zh-CN" altLang="en-US" sz="600"/>
                    </a:p>
                  </a:txBody>
                  <a:tcPr marL="37908" marR="37908" marT="18954" marB="18954" anchor="ctr">
                    <a:lnL>
                      <a:noFill/>
                    </a:lnL>
                    <a:lnR>
                      <a:noFill/>
                    </a:lnR>
                    <a:lnT>
                      <a:noFill/>
                    </a:lnT>
                    <a:lnB>
                      <a:noFill/>
                    </a:lnB>
                    <a:noFill/>
                  </a:tcPr>
                </a:tc>
                <a:tc>
                  <a:txBody>
                    <a:bodyPr/>
                    <a:lstStyle/>
                    <a:p>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重排产优化</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基于实时事件重新排产，最小化 </a:t>
                      </a:r>
                      <a:r>
                        <a:rPr lang="en-US" sz="600"/>
                        <a:t>disruption。</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63156880"/>
                  </a:ext>
                </a:extLst>
              </a:tr>
              <a:tr h="278891">
                <a:tc vMerge="1">
                  <a:txBody>
                    <a:bodyPr/>
                    <a:lstStyle/>
                    <a:p>
                      <a:endParaRPr lang="zh-CN" altLang="en-US" sz="600"/>
                    </a:p>
                  </a:txBody>
                  <a:tcPr marL="37908" marR="37908" marT="18954" marB="18954" anchor="ctr">
                    <a:lnL>
                      <a:noFill/>
                    </a:lnL>
                    <a:lnR>
                      <a:noFill/>
                    </a:lnR>
                    <a:lnT>
                      <a:noFill/>
                    </a:lnT>
                    <a:lnB>
                      <a:noFill/>
                    </a:lnB>
                    <a:noFill/>
                  </a:tcPr>
                </a:tc>
                <a:tc>
                  <a:txBody>
                    <a:bodyPr/>
                    <a:lstStyle/>
                    <a:p>
                      <a:r>
                        <a:rPr lang="en-US" sz="600" b="1" dirty="0"/>
                        <a:t> </a:t>
                      </a:r>
                      <a:r>
                        <a:rPr lang="zh-CN" altLang="en-US" sz="600" b="1" dirty="0"/>
                        <a:t>执行反馈</a:t>
                      </a:r>
                      <a:endParaRPr lang="zh-CN" altLang="en-US" sz="600" dirty="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a:t>生产活动控制</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通过</a:t>
                      </a:r>
                      <a:r>
                        <a:rPr lang="en-US" altLang="zh-CN" sz="600" dirty="0"/>
                        <a:t>MES</a:t>
                      </a:r>
                      <a:r>
                        <a:rPr lang="zh-CN" altLang="en-US" sz="600" dirty="0"/>
                        <a:t>集成，执行工单并收集数据。</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54117721"/>
                  </a:ext>
                </a:extLst>
              </a:tr>
              <a:tr h="159365">
                <a:tc vMerge="1">
                  <a:txBody>
                    <a:bodyPr/>
                    <a:lstStyle/>
                    <a:p>
                      <a:endParaRPr lang="zh-CN" altLang="en-US" sz="600" dirty="0"/>
                    </a:p>
                  </a:txBody>
                  <a:tcPr marL="37908" marR="37908" marT="18954" marB="18954" anchor="ctr">
                    <a:lnL>
                      <a:noFill/>
                    </a:lnL>
                    <a:lnR>
                      <a:noFill/>
                    </a:lnR>
                    <a:lnT>
                      <a:noFill/>
                    </a:lnT>
                    <a:lnB>
                      <a:noFill/>
                    </a:lnB>
                    <a:noFill/>
                  </a:tcPr>
                </a:tc>
                <a:tc>
                  <a:txBody>
                    <a:bodyPr/>
                    <a:lstStyle/>
                    <a:p>
                      <a:endParaRPr lang="zh-CN" altLang="en-US" sz="600"/>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质量集成</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600" dirty="0"/>
                        <a:t>监控生产质量，触发返工或调整。</a:t>
                      </a:r>
                    </a:p>
                  </a:txBody>
                  <a:tcPr marL="37908" marR="37908" marT="18954" marB="1895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63416381"/>
                  </a:ext>
                </a:extLst>
              </a:tr>
            </a:tbl>
          </a:graphicData>
        </a:graphic>
      </p:graphicFrame>
    </p:spTree>
    <p:extLst>
      <p:ext uri="{BB962C8B-B14F-4D97-AF65-F5344CB8AC3E}">
        <p14:creationId xmlns:p14="http://schemas.microsoft.com/office/powerpoint/2010/main" val="270152547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766E0D7-0583-C6E2-DEAC-99709C301A9E}"/>
              </a:ext>
            </a:extLst>
          </p:cNvPr>
          <p:cNvSpPr>
            <a:spLocks noGrp="1"/>
          </p:cNvSpPr>
          <p:nvPr>
            <p:ph type="title"/>
          </p:nvPr>
        </p:nvSpPr>
        <p:spPr/>
        <p:txBody>
          <a:bodyPr/>
          <a:lstStyle/>
          <a:p>
            <a:r>
              <a:rPr lang="zh-CN" altLang="en-US" dirty="0">
                <a:solidFill>
                  <a:schemeClr val="bg1"/>
                </a:solidFill>
                <a:latin typeface="Arial" panose="020B0604020202020204" pitchFamily="34" charset="0"/>
                <a:ea typeface="微软雅黑" panose="020B0503020204020204" pitchFamily="34" charset="-122"/>
              </a:rPr>
              <a:t>“难”，从业务方案到模型算法的剥丝抽茧</a:t>
            </a:r>
          </a:p>
        </p:txBody>
      </p:sp>
      <p:graphicFrame>
        <p:nvGraphicFramePr>
          <p:cNvPr id="4" name="图示 3">
            <a:extLst>
              <a:ext uri="{FF2B5EF4-FFF2-40B4-BE49-F238E27FC236}">
                <a16:creationId xmlns:a16="http://schemas.microsoft.com/office/drawing/2014/main" id="{72D30ABE-79EC-C933-8FF3-00CDEB2C08F5}"/>
              </a:ext>
            </a:extLst>
          </p:cNvPr>
          <p:cNvGraphicFramePr/>
          <p:nvPr>
            <p:extLst>
              <p:ext uri="{D42A27DB-BD31-4B8C-83A1-F6EECF244321}">
                <p14:modId xmlns:p14="http://schemas.microsoft.com/office/powerpoint/2010/main" val="1144031691"/>
              </p:ext>
            </p:extLst>
          </p:nvPr>
        </p:nvGraphicFramePr>
        <p:xfrm>
          <a:off x="816023" y="755072"/>
          <a:ext cx="10969200" cy="562555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文本框 2">
            <a:extLst>
              <a:ext uri="{FF2B5EF4-FFF2-40B4-BE49-F238E27FC236}">
                <a16:creationId xmlns:a16="http://schemas.microsoft.com/office/drawing/2014/main" id="{F9F4CF69-45FF-FA08-4C96-F9D38F69A45B}"/>
              </a:ext>
            </a:extLst>
          </p:cNvPr>
          <p:cNvSpPr txBox="1"/>
          <p:nvPr/>
        </p:nvSpPr>
        <p:spPr>
          <a:xfrm>
            <a:off x="2438400" y="6422189"/>
            <a:ext cx="6629400" cy="369332"/>
          </a:xfrm>
          <a:prstGeom prst="rect">
            <a:avLst/>
          </a:prstGeom>
          <a:noFill/>
        </p:spPr>
        <p:txBody>
          <a:bodyPr wrap="square" rtlCol="0">
            <a:spAutoFit/>
          </a:bodyPr>
          <a:lstStyle/>
          <a:p>
            <a:r>
              <a:rPr lang="zh-CN" altLang="en-US" b="1" dirty="0">
                <a:solidFill>
                  <a:schemeClr val="bg1"/>
                </a:solidFill>
                <a:latin typeface="Arial" panose="020B0604020202020204" pitchFamily="34" charset="0"/>
                <a:ea typeface="微软雅黑" panose="020B0503020204020204" pitchFamily="34" charset="-122"/>
              </a:rPr>
              <a:t>这些是世界难题，我们已经有了颠覆性的最佳实践</a:t>
            </a:r>
          </a:p>
        </p:txBody>
      </p:sp>
    </p:spTree>
    <p:extLst>
      <p:ext uri="{BB962C8B-B14F-4D97-AF65-F5344CB8AC3E}">
        <p14:creationId xmlns:p14="http://schemas.microsoft.com/office/powerpoint/2010/main" val="1440495133"/>
      </p:ext>
    </p:extLst>
  </p:cSld>
  <p:clrMapOvr>
    <a:overrideClrMapping bg1="dk1" tx1="lt1" bg2="dk2" tx2="lt2" accent1="accent1" accent2="accent2" accent3="accent3" accent4="accent4" accent5="accent5" accent6="accent6" hlink="hlink" folHlink="folHlink"/>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89EFF35-FD1E-46DF-8468-4AB5AC7786AF}"/>
              </a:ext>
            </a:extLst>
          </p:cNvPr>
          <p:cNvSpPr>
            <a:spLocks noGrp="1"/>
          </p:cNvSpPr>
          <p:nvPr>
            <p:ph type="ctrTitle"/>
          </p:nvPr>
        </p:nvSpPr>
        <p:spPr>
          <a:xfrm>
            <a:off x="4391124" y="1326968"/>
            <a:ext cx="6749372" cy="2587173"/>
          </a:xfrm>
        </p:spPr>
        <p:txBody>
          <a:bodyPr/>
          <a:lstStyle/>
          <a:p>
            <a:pPr algn="ctr"/>
            <a:r>
              <a:rPr lang="en-US" altLang="zh-CN" sz="4000" dirty="0">
                <a:latin typeface="Arial" panose="020B0604020202020204" pitchFamily="34" charset="0"/>
                <a:ea typeface="微软雅黑" panose="020B0503020204020204" pitchFamily="34" charset="-122"/>
              </a:rPr>
              <a:t>IOP</a:t>
            </a:r>
            <a:br>
              <a:rPr lang="en-US" altLang="zh-CN" sz="3600" dirty="0">
                <a:latin typeface="Arial" panose="020B0604020202020204" pitchFamily="34" charset="0"/>
                <a:ea typeface="微软雅黑" panose="020B0503020204020204" pitchFamily="34" charset="-122"/>
              </a:rPr>
            </a:br>
            <a:r>
              <a:rPr lang="en-US" altLang="zh-CN" sz="3600" dirty="0">
                <a:latin typeface="Arial" panose="020B0604020202020204" pitchFamily="34" charset="0"/>
                <a:ea typeface="微软雅黑" panose="020B0503020204020204" pitchFamily="34" charset="-122"/>
              </a:rPr>
              <a:t>Intelligent Operational Planning</a:t>
            </a:r>
            <a:endParaRPr lang="zh-CN" altLang="en-US"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3166334289"/>
      </p:ext>
    </p:extLst>
  </p:cSld>
  <p:clrMapOvr>
    <a:overrideClrMapping bg1="lt1" tx1="dk1" bg2="lt2" tx2="dk2" accent1="accent1" accent2="accent2" accent3="accent3" accent4="accent4" accent5="accent5" accent6="accent6" hlink="hlink" folHlink="folHlink"/>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id="{900D69FE-BCA5-9A7A-EB05-61C17C2671DE}"/>
              </a:ext>
            </a:extLst>
          </p:cNvPr>
          <p:cNvSpPr txBox="1"/>
          <p:nvPr/>
        </p:nvSpPr>
        <p:spPr>
          <a:xfrm>
            <a:off x="400316" y="295325"/>
            <a:ext cx="6106602" cy="461665"/>
          </a:xfrm>
          <a:prstGeom prst="rect">
            <a:avLst/>
          </a:prstGeom>
          <a:noFill/>
        </p:spPr>
        <p:txBody>
          <a:bodyPr wrap="square" rtlCol="0">
            <a:spAutoFit/>
          </a:bodyPr>
          <a:lstStyle/>
          <a:p>
            <a:r>
              <a:rPr lang="zh-CN" altLang="en-US" sz="2400" b="1" dirty="0">
                <a:latin typeface="Arial" panose="020B0604020202020204" pitchFamily="34" charset="0"/>
                <a:ea typeface="微软雅黑" panose="020B0503020204020204" pitchFamily="34" charset="-122"/>
              </a:rPr>
              <a:t>关键业务变革点</a:t>
            </a:r>
          </a:p>
        </p:txBody>
      </p:sp>
      <p:grpSp>
        <p:nvGrpSpPr>
          <p:cNvPr id="3" name="组合 2">
            <a:extLst>
              <a:ext uri="{FF2B5EF4-FFF2-40B4-BE49-F238E27FC236}">
                <a16:creationId xmlns:a16="http://schemas.microsoft.com/office/drawing/2014/main" id="{5C25EAEC-41DF-E89C-69F3-695039221E46}"/>
              </a:ext>
            </a:extLst>
          </p:cNvPr>
          <p:cNvGrpSpPr>
            <a:grpSpLocks noChangeAspect="1"/>
          </p:cNvGrpSpPr>
          <p:nvPr>
            <p:custDataLst>
              <p:tags r:id="rId1"/>
            </p:custDataLst>
          </p:nvPr>
        </p:nvGrpSpPr>
        <p:grpSpPr>
          <a:xfrm>
            <a:off x="699271" y="1247442"/>
            <a:ext cx="10632116" cy="4717243"/>
            <a:chOff x="675644" y="1328330"/>
            <a:chExt cx="7162045" cy="3452944"/>
          </a:xfrm>
        </p:grpSpPr>
        <p:grpSp>
          <p:nvGrpSpPr>
            <p:cNvPr id="4" name="组合 3">
              <a:extLst>
                <a:ext uri="{FF2B5EF4-FFF2-40B4-BE49-F238E27FC236}">
                  <a16:creationId xmlns:a16="http://schemas.microsoft.com/office/drawing/2014/main" id="{0F180DBF-823A-B2D9-329D-329B24A078BE}"/>
                </a:ext>
              </a:extLst>
            </p:cNvPr>
            <p:cNvGrpSpPr>
              <a:grpSpLocks/>
            </p:cNvGrpSpPr>
            <p:nvPr/>
          </p:nvGrpSpPr>
          <p:grpSpPr>
            <a:xfrm>
              <a:off x="675644" y="2250005"/>
              <a:ext cx="7162045" cy="1669034"/>
              <a:chOff x="6278556" y="1514786"/>
              <a:chExt cx="7162045" cy="1669034"/>
            </a:xfrm>
          </p:grpSpPr>
          <p:sp>
            <p:nvSpPr>
              <p:cNvPr id="13" name="2">
                <a:extLst>
                  <a:ext uri="{FF2B5EF4-FFF2-40B4-BE49-F238E27FC236}">
                    <a16:creationId xmlns:a16="http://schemas.microsoft.com/office/drawing/2014/main" id="{791154C2-27C6-C789-0B59-4234D48796BA}"/>
                  </a:ext>
                </a:extLst>
              </p:cNvPr>
              <p:cNvSpPr/>
              <p:nvPr>
                <p:custDataLst>
                  <p:tags r:id="rId8"/>
                </p:custDataLst>
              </p:nvPr>
            </p:nvSpPr>
            <p:spPr>
              <a:xfrm>
                <a:off x="8012106" y="1533417"/>
                <a:ext cx="5428495" cy="1650403"/>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400" b="1">
                  <a:latin typeface="+mj-ea"/>
                  <a:ea typeface="+mj-ea"/>
                </a:endParaRPr>
              </a:p>
            </p:txBody>
          </p:sp>
          <p:sp>
            <p:nvSpPr>
              <p:cNvPr id="14" name="Title-2">
                <a:extLst>
                  <a:ext uri="{FF2B5EF4-FFF2-40B4-BE49-F238E27FC236}">
                    <a16:creationId xmlns:a16="http://schemas.microsoft.com/office/drawing/2014/main" id="{19F3542A-2A70-5E14-8C97-89D49F34BAA5}"/>
                  </a:ext>
                </a:extLst>
              </p:cNvPr>
              <p:cNvSpPr/>
              <p:nvPr>
                <p:custDataLst>
                  <p:tags r:id="rId9"/>
                </p:custDataLst>
              </p:nvPr>
            </p:nvSpPr>
            <p:spPr>
              <a:xfrm>
                <a:off x="6278556" y="1533417"/>
                <a:ext cx="1733550" cy="1650403"/>
              </a:xfrm>
              <a:prstGeom prst="rect">
                <a:avLst/>
              </a:prstGeom>
              <a:solidFill>
                <a:schemeClr val="accent2"/>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algn="ctr" defTabSz="913765"/>
                <a:r>
                  <a:rPr lang="zh-CN" altLang="en-US" sz="2000" b="1">
                    <a:solidFill>
                      <a:srgbClr val="FFFFFF"/>
                    </a:solidFill>
                    <a:latin typeface="+mj-ea"/>
                    <a:ea typeface="+mj-ea"/>
                  </a:rPr>
                  <a:t>确保承诺</a:t>
                </a:r>
                <a:endParaRPr lang="zh-CN" altLang="en-US" sz="2000" b="1" dirty="0">
                  <a:solidFill>
                    <a:srgbClr val="FFFFFF"/>
                  </a:solidFill>
                  <a:latin typeface="+mj-ea"/>
                  <a:ea typeface="+mj-ea"/>
                </a:endParaRPr>
              </a:p>
            </p:txBody>
          </p:sp>
          <p:sp>
            <p:nvSpPr>
              <p:cNvPr id="15" name="Body-2">
                <a:extLst>
                  <a:ext uri="{FF2B5EF4-FFF2-40B4-BE49-F238E27FC236}">
                    <a16:creationId xmlns:a16="http://schemas.microsoft.com/office/drawing/2014/main" id="{2EC8A512-6E4A-BF56-04E7-50C0C2C75694}"/>
                  </a:ext>
                </a:extLst>
              </p:cNvPr>
              <p:cNvSpPr txBox="1"/>
              <p:nvPr>
                <p:custDataLst>
                  <p:tags r:id="rId10"/>
                </p:custDataLst>
              </p:nvPr>
            </p:nvSpPr>
            <p:spPr>
              <a:xfrm>
                <a:off x="8133949" y="1514786"/>
                <a:ext cx="5242238" cy="1565465"/>
              </a:xfrm>
              <a:prstGeom prst="rect">
                <a:avLst/>
              </a:prstGeom>
              <a:noFill/>
            </p:spPr>
            <p:txBody>
              <a:bodyPr wrap="square" rtlCol="0">
                <a:spAutoFit/>
              </a:bodyPr>
              <a:lstStyle>
                <a:defPPr>
                  <a:defRPr lang="zh-CN"/>
                </a:defPPr>
                <a:lvl1pPr>
                  <a:lnSpc>
                    <a:spcPct val="120000"/>
                  </a:lnSpc>
                  <a:defRPr sz="1400">
                    <a:latin typeface="Arial" panose="020B0604020202020204" pitchFamily="34" charset="0"/>
                    <a:ea typeface="Microsoft YaHei" panose="020B0503020204020204" pitchFamily="34" charset="-122"/>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r>
                  <a:rPr lang="zh-CN" altLang="en-US" b="1" dirty="0">
                    <a:solidFill>
                      <a:schemeClr val="bg1"/>
                    </a:solidFill>
                    <a:latin typeface="+mj-ea"/>
                    <a:ea typeface="+mj-ea"/>
                  </a:rPr>
                  <a:t>利用优先级进行软预留 </a:t>
                </a:r>
              </a:p>
              <a:p>
                <a:pPr marL="285750" indent="-285750">
                  <a:buFont typeface="Arial" panose="020B0604020202020204" pitchFamily="34" charset="0"/>
                  <a:buChar char="•"/>
                </a:pPr>
                <a:r>
                  <a:rPr lang="zh-CN" altLang="en-US" b="1" dirty="0">
                    <a:solidFill>
                      <a:schemeClr val="bg1"/>
                    </a:solidFill>
                    <a:latin typeface="+mj-ea"/>
                    <a:ea typeface="+mj-ea"/>
                  </a:rPr>
                  <a:t>承诺需要预留供给和资源，但由于供应和约束条件可能存在波动，必须能够灵活适应这些变化，因此不宜采用 </a:t>
                </a:r>
                <a:r>
                  <a:rPr lang="en-US" altLang="zh-CN" b="1" dirty="0">
                    <a:solidFill>
                      <a:schemeClr val="bg1"/>
                    </a:solidFill>
                    <a:latin typeface="+mj-ea"/>
                    <a:ea typeface="+mj-ea"/>
                  </a:rPr>
                  <a:t>Pegging</a:t>
                </a:r>
                <a:r>
                  <a:rPr lang="zh-CN" altLang="en-US" b="1" dirty="0">
                    <a:solidFill>
                      <a:schemeClr val="bg1"/>
                    </a:solidFill>
                    <a:latin typeface="+mj-ea"/>
                    <a:ea typeface="+mj-ea"/>
                  </a:rPr>
                  <a:t>（刚性预留）方式。计划订单、未来到料和现有库存之间往往难以建立精确的跟踪关系。因此，预留机制更适合采用基于优先级的软预留，这种方式也为优化提供了更大空间。关键是要确保已承诺需求的优先级高于新需求的优先级。</a:t>
                </a:r>
              </a:p>
              <a:p>
                <a:r>
                  <a:rPr lang="zh-CN" altLang="en-US" b="1" dirty="0">
                    <a:solidFill>
                      <a:schemeClr val="bg1"/>
                    </a:solidFill>
                    <a:latin typeface="+mj-ea"/>
                    <a:ea typeface="+mj-ea"/>
                  </a:rPr>
                  <a:t>资源置换 </a:t>
                </a:r>
              </a:p>
              <a:p>
                <a:pPr marL="285750" indent="-285750">
                  <a:buFont typeface="Arial" panose="020B0604020202020204" pitchFamily="34" charset="0"/>
                  <a:buChar char="•"/>
                </a:pPr>
                <a:r>
                  <a:rPr lang="zh-CN" altLang="en-US" b="1" dirty="0">
                    <a:solidFill>
                      <a:schemeClr val="bg1"/>
                    </a:solidFill>
                    <a:latin typeface="+mj-ea"/>
                    <a:ea typeface="+mj-ea"/>
                  </a:rPr>
                  <a:t>紧急插单不应直接插入现有生产队列，而应通过资源置换的方式进行处理，这样可以明确指定影响范围并有效控制其波及效应。</a:t>
                </a:r>
                <a:endParaRPr lang="en-US" altLang="zh-CN" b="1" dirty="0">
                  <a:solidFill>
                    <a:schemeClr val="bg1"/>
                  </a:solidFill>
                  <a:latin typeface="+mj-ea"/>
                  <a:ea typeface="+mj-ea"/>
                </a:endParaRPr>
              </a:p>
            </p:txBody>
          </p:sp>
        </p:grpSp>
        <p:grpSp>
          <p:nvGrpSpPr>
            <p:cNvPr id="5" name="组合 4">
              <a:extLst>
                <a:ext uri="{FF2B5EF4-FFF2-40B4-BE49-F238E27FC236}">
                  <a16:creationId xmlns:a16="http://schemas.microsoft.com/office/drawing/2014/main" id="{A604DC63-D5D7-6294-CE9C-ACB884470B49}"/>
                </a:ext>
              </a:extLst>
            </p:cNvPr>
            <p:cNvGrpSpPr>
              <a:grpSpLocks/>
            </p:cNvGrpSpPr>
            <p:nvPr/>
          </p:nvGrpSpPr>
          <p:grpSpPr>
            <a:xfrm>
              <a:off x="675644" y="1328330"/>
              <a:ext cx="7162045" cy="833626"/>
              <a:chOff x="675644" y="2028823"/>
              <a:chExt cx="7162045" cy="833626"/>
            </a:xfrm>
          </p:grpSpPr>
          <p:sp>
            <p:nvSpPr>
              <p:cNvPr id="10" name="1">
                <a:extLst>
                  <a:ext uri="{FF2B5EF4-FFF2-40B4-BE49-F238E27FC236}">
                    <a16:creationId xmlns:a16="http://schemas.microsoft.com/office/drawing/2014/main" id="{376E613B-0390-4250-2D66-C91342B13F0F}"/>
                  </a:ext>
                </a:extLst>
              </p:cNvPr>
              <p:cNvSpPr/>
              <p:nvPr>
                <p:custDataLst>
                  <p:tags r:id="rId5"/>
                </p:custDataLst>
              </p:nvPr>
            </p:nvSpPr>
            <p:spPr>
              <a:xfrm>
                <a:off x="2409194" y="2028823"/>
                <a:ext cx="5428495" cy="83362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400" b="1">
                  <a:latin typeface="+mj-ea"/>
                  <a:ea typeface="+mj-ea"/>
                </a:endParaRPr>
              </a:p>
            </p:txBody>
          </p:sp>
          <p:sp>
            <p:nvSpPr>
              <p:cNvPr id="11" name="Title-1">
                <a:extLst>
                  <a:ext uri="{FF2B5EF4-FFF2-40B4-BE49-F238E27FC236}">
                    <a16:creationId xmlns:a16="http://schemas.microsoft.com/office/drawing/2014/main" id="{F7BC1B6A-EC1C-7CAB-F263-DC983A9C6677}"/>
                  </a:ext>
                </a:extLst>
              </p:cNvPr>
              <p:cNvSpPr/>
              <p:nvPr>
                <p:custDataLst>
                  <p:tags r:id="rId6"/>
                </p:custDataLst>
              </p:nvPr>
            </p:nvSpPr>
            <p:spPr>
              <a:xfrm>
                <a:off x="675644" y="2028823"/>
                <a:ext cx="1733550" cy="833626"/>
              </a:xfrm>
              <a:prstGeom prst="rect">
                <a:avLst/>
              </a:prstGeom>
              <a:solidFill>
                <a:schemeClr val="accent1"/>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algn="ctr" defTabSz="913765"/>
                <a:r>
                  <a:rPr lang="en-US" altLang="zh-CN" sz="2000" b="1">
                    <a:solidFill>
                      <a:srgbClr val="FFFFFF"/>
                    </a:solidFill>
                    <a:latin typeface="+mj-ea"/>
                    <a:ea typeface="+mj-ea"/>
                  </a:rPr>
                  <a:t>E2E</a:t>
                </a:r>
                <a:r>
                  <a:rPr lang="zh-CN" altLang="en-US" sz="2000" b="1">
                    <a:solidFill>
                      <a:srgbClr val="FFFFFF"/>
                    </a:solidFill>
                    <a:latin typeface="+mj-ea"/>
                    <a:ea typeface="+mj-ea"/>
                  </a:rPr>
                  <a:t>一体化设计</a:t>
                </a:r>
                <a:endParaRPr lang="zh-CN" altLang="en-US" sz="2000" b="1" dirty="0">
                  <a:solidFill>
                    <a:srgbClr val="FFFFFF"/>
                  </a:solidFill>
                  <a:latin typeface="+mj-ea"/>
                  <a:ea typeface="+mj-ea"/>
                </a:endParaRPr>
              </a:p>
            </p:txBody>
          </p:sp>
          <p:sp>
            <p:nvSpPr>
              <p:cNvPr id="12" name="Body-1">
                <a:extLst>
                  <a:ext uri="{FF2B5EF4-FFF2-40B4-BE49-F238E27FC236}">
                    <a16:creationId xmlns:a16="http://schemas.microsoft.com/office/drawing/2014/main" id="{B7C5BABA-249C-C345-3CC6-23CEF8BE5596}"/>
                  </a:ext>
                </a:extLst>
              </p:cNvPr>
              <p:cNvSpPr txBox="1"/>
              <p:nvPr>
                <p:custDataLst>
                  <p:tags r:id="rId7"/>
                </p:custDataLst>
              </p:nvPr>
            </p:nvSpPr>
            <p:spPr>
              <a:xfrm>
                <a:off x="2563245" y="2105318"/>
                <a:ext cx="3649579" cy="619259"/>
              </a:xfrm>
              <a:prstGeom prst="rect">
                <a:avLst/>
              </a:prstGeom>
              <a:noFill/>
            </p:spPr>
            <p:txBody>
              <a:bodyPr wrap="square" rtlCol="0">
                <a:spAutoFit/>
              </a:bodyPr>
              <a:lstStyle>
                <a:defPPr>
                  <a:defRPr lang="zh-CN"/>
                </a:defPPr>
                <a:lvl1pPr algn="ctr">
                  <a:lnSpc>
                    <a:spcPct val="150000"/>
                  </a:lnSpc>
                  <a:defRPr sz="1200">
                    <a:solidFill>
                      <a:schemeClr val="bg1">
                        <a:lumMod val="50000"/>
                      </a:schemeClr>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lgn="l">
                  <a:lnSpc>
                    <a:spcPct val="120000"/>
                  </a:lnSpc>
                </a:pPr>
                <a:r>
                  <a:rPr lang="zh-CN" altLang="en-US" sz="1400" b="1" dirty="0">
                    <a:solidFill>
                      <a:schemeClr val="bg1"/>
                    </a:solidFill>
                    <a:latin typeface="+mj-ea"/>
                    <a:ea typeface="+mj-ea"/>
                  </a:rPr>
                  <a:t>横向对齐</a:t>
                </a:r>
              </a:p>
              <a:p>
                <a:pPr marL="742950" lvl="1" indent="-285750">
                  <a:lnSpc>
                    <a:spcPct val="120000"/>
                  </a:lnSpc>
                  <a:buFont typeface="Arial" panose="020B0604020202020204" pitchFamily="34" charset="0"/>
                  <a:buChar char="•"/>
                </a:pPr>
                <a:r>
                  <a:rPr lang="zh-CN" altLang="en-US" sz="1400" b="1" dirty="0">
                    <a:solidFill>
                      <a:schemeClr val="bg1"/>
                    </a:solidFill>
                    <a:latin typeface="+mj-ea"/>
                    <a:ea typeface="+mj-ea"/>
                  </a:rPr>
                  <a:t>统一需求，供应和约束的计算范围</a:t>
                </a:r>
                <a:r>
                  <a:rPr lang="en-US" altLang="zh-CN" sz="1400" b="1" dirty="0">
                    <a:solidFill>
                      <a:schemeClr val="bg1"/>
                    </a:solidFill>
                    <a:latin typeface="+mj-ea"/>
                    <a:ea typeface="+mj-ea"/>
                  </a:rPr>
                  <a:t>.</a:t>
                </a:r>
              </a:p>
              <a:p>
                <a:pPr marL="742950" lvl="1" indent="-285750">
                  <a:lnSpc>
                    <a:spcPct val="120000"/>
                  </a:lnSpc>
                  <a:buFont typeface="Arial" panose="020B0604020202020204" pitchFamily="34" charset="0"/>
                  <a:buChar char="•"/>
                </a:pPr>
                <a:r>
                  <a:rPr lang="zh-CN" altLang="en-US" sz="1400" b="1" dirty="0">
                    <a:solidFill>
                      <a:schemeClr val="bg1"/>
                    </a:solidFill>
                    <a:latin typeface="+mj-ea"/>
                    <a:ea typeface="+mj-ea"/>
                  </a:rPr>
                  <a:t>统一需求和供应，约束的智能化分配规则</a:t>
                </a:r>
                <a:endParaRPr lang="en-US" altLang="zh-CN" sz="1700" b="1" dirty="0">
                  <a:solidFill>
                    <a:schemeClr val="bg1"/>
                  </a:solidFill>
                  <a:latin typeface="+mj-ea"/>
                  <a:ea typeface="+mj-ea"/>
                </a:endParaRPr>
              </a:p>
            </p:txBody>
          </p:sp>
        </p:grpSp>
        <p:grpSp>
          <p:nvGrpSpPr>
            <p:cNvPr id="6" name="组合 5">
              <a:extLst>
                <a:ext uri="{FF2B5EF4-FFF2-40B4-BE49-F238E27FC236}">
                  <a16:creationId xmlns:a16="http://schemas.microsoft.com/office/drawing/2014/main" id="{E62E44BA-315D-51B0-A1E1-B7C74FE175C4}"/>
                </a:ext>
              </a:extLst>
            </p:cNvPr>
            <p:cNvGrpSpPr/>
            <p:nvPr/>
          </p:nvGrpSpPr>
          <p:grpSpPr>
            <a:xfrm>
              <a:off x="675644" y="4007087"/>
              <a:ext cx="7162045" cy="774187"/>
              <a:chOff x="675644" y="3271868"/>
              <a:chExt cx="7162045" cy="774187"/>
            </a:xfrm>
          </p:grpSpPr>
          <p:sp>
            <p:nvSpPr>
              <p:cNvPr id="7" name="3">
                <a:extLst>
                  <a:ext uri="{FF2B5EF4-FFF2-40B4-BE49-F238E27FC236}">
                    <a16:creationId xmlns:a16="http://schemas.microsoft.com/office/drawing/2014/main" id="{2035A6D6-AD41-877F-DA5D-412178CDD655}"/>
                  </a:ext>
                </a:extLst>
              </p:cNvPr>
              <p:cNvSpPr/>
              <p:nvPr>
                <p:custDataLst>
                  <p:tags r:id="rId2"/>
                </p:custDataLst>
              </p:nvPr>
            </p:nvSpPr>
            <p:spPr>
              <a:xfrm>
                <a:off x="2409194" y="3271868"/>
                <a:ext cx="5428495" cy="774187"/>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400" b="1">
                  <a:latin typeface="+mj-ea"/>
                  <a:ea typeface="+mj-ea"/>
                </a:endParaRPr>
              </a:p>
            </p:txBody>
          </p:sp>
          <p:sp>
            <p:nvSpPr>
              <p:cNvPr id="8" name="Title-3">
                <a:extLst>
                  <a:ext uri="{FF2B5EF4-FFF2-40B4-BE49-F238E27FC236}">
                    <a16:creationId xmlns:a16="http://schemas.microsoft.com/office/drawing/2014/main" id="{8BA34F70-4F74-9A29-4C33-177A68CDB843}"/>
                  </a:ext>
                </a:extLst>
              </p:cNvPr>
              <p:cNvSpPr/>
              <p:nvPr>
                <p:custDataLst>
                  <p:tags r:id="rId3"/>
                </p:custDataLst>
              </p:nvPr>
            </p:nvSpPr>
            <p:spPr>
              <a:xfrm>
                <a:off x="675644" y="3271868"/>
                <a:ext cx="1733550" cy="774187"/>
              </a:xfrm>
              <a:prstGeom prst="rect">
                <a:avLst/>
              </a:prstGeom>
              <a:solidFill>
                <a:schemeClr val="accent3"/>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algn="ctr" defTabSz="913765"/>
                <a:r>
                  <a:rPr lang="zh-CN" altLang="en-US" sz="2000" b="1">
                    <a:solidFill>
                      <a:srgbClr val="FFFFFF"/>
                    </a:solidFill>
                    <a:latin typeface="+mj-ea"/>
                    <a:ea typeface="+mj-ea"/>
                  </a:rPr>
                  <a:t>优化资源，加速交付</a:t>
                </a:r>
                <a:endParaRPr lang="en-US" altLang="zh-CN" sz="2000" b="1" dirty="0">
                  <a:solidFill>
                    <a:srgbClr val="FFFFFF"/>
                  </a:solidFill>
                  <a:latin typeface="+mj-ea"/>
                  <a:ea typeface="+mj-ea"/>
                </a:endParaRPr>
              </a:p>
            </p:txBody>
          </p:sp>
          <p:sp>
            <p:nvSpPr>
              <p:cNvPr id="9" name="Body-3">
                <a:extLst>
                  <a:ext uri="{FF2B5EF4-FFF2-40B4-BE49-F238E27FC236}">
                    <a16:creationId xmlns:a16="http://schemas.microsoft.com/office/drawing/2014/main" id="{5DF97943-1D6E-4226-1D0E-42A4B9652DAC}"/>
                  </a:ext>
                </a:extLst>
              </p:cNvPr>
              <p:cNvSpPr txBox="1"/>
              <p:nvPr>
                <p:custDataLst>
                  <p:tags r:id="rId4"/>
                </p:custDataLst>
              </p:nvPr>
            </p:nvSpPr>
            <p:spPr>
              <a:xfrm>
                <a:off x="2531037" y="3422605"/>
                <a:ext cx="4684223" cy="430018"/>
              </a:xfrm>
              <a:prstGeom prst="rect">
                <a:avLst/>
              </a:prstGeom>
              <a:noFill/>
            </p:spPr>
            <p:txBody>
              <a:bodyPr wrap="square" rtlCol="0">
                <a:spAutoFit/>
              </a:bodyPr>
              <a:lstStyle>
                <a:defPPr>
                  <a:defRPr lang="zh-CN"/>
                </a:defPPr>
                <a:lvl1pPr>
                  <a:lnSpc>
                    <a:spcPct val="120000"/>
                  </a:lnSpc>
                  <a:defRPr sz="1400">
                    <a:latin typeface="Arial" panose="020B0604020202020204" pitchFamily="34" charset="0"/>
                    <a:ea typeface="Microsoft YaHei" panose="020B0503020204020204" pitchFamily="34" charset="-122"/>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285750" indent="-285750">
                  <a:buFont typeface="Arial" panose="020B0604020202020204" pitchFamily="34" charset="0"/>
                  <a:buChar char="•"/>
                </a:pPr>
                <a:r>
                  <a:rPr lang="zh-CN" altLang="en-US" b="1" dirty="0">
                    <a:solidFill>
                      <a:schemeClr val="bg1"/>
                    </a:solidFill>
                    <a:latin typeface="+mj-ea"/>
                    <a:ea typeface="+mj-ea"/>
                  </a:rPr>
                  <a:t>在不影响承诺交期的前提下把资源优化给优先级低的订单和新订单来加速交付速度</a:t>
                </a:r>
              </a:p>
              <a:p>
                <a:pPr marL="285750" indent="-285750">
                  <a:buFont typeface="Arial" panose="020B0604020202020204" pitchFamily="34" charset="0"/>
                  <a:buChar char="•"/>
                </a:pPr>
                <a:r>
                  <a:rPr lang="zh-CN" altLang="en-US" b="1" dirty="0">
                    <a:solidFill>
                      <a:schemeClr val="bg1"/>
                    </a:solidFill>
                    <a:latin typeface="+mj-ea"/>
                    <a:ea typeface="+mj-ea"/>
                  </a:rPr>
                  <a:t>依次解决资源最大化利用</a:t>
                </a:r>
                <a:endParaRPr lang="en-US" altLang="zh-CN" b="1" dirty="0">
                  <a:solidFill>
                    <a:schemeClr val="bg1"/>
                  </a:solidFill>
                  <a:latin typeface="+mj-ea"/>
                  <a:ea typeface="+mj-ea"/>
                </a:endParaRPr>
              </a:p>
            </p:txBody>
          </p:sp>
        </p:grpSp>
      </p:grpSp>
    </p:spTree>
    <p:extLst>
      <p:ext uri="{BB962C8B-B14F-4D97-AF65-F5344CB8AC3E}">
        <p14:creationId xmlns:p14="http://schemas.microsoft.com/office/powerpoint/2010/main" val="185547525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文本框 1">
            <a:extLst>
              <a:ext uri="{FF2B5EF4-FFF2-40B4-BE49-F238E27FC236}">
                <a16:creationId xmlns:a16="http://schemas.microsoft.com/office/drawing/2014/main" id="{900D69FE-BCA5-9A7A-EB05-61C17C2671DE}"/>
              </a:ext>
            </a:extLst>
          </p:cNvPr>
          <p:cNvSpPr txBox="1"/>
          <p:nvPr/>
        </p:nvSpPr>
        <p:spPr>
          <a:xfrm>
            <a:off x="1423074" y="174072"/>
            <a:ext cx="9191137" cy="461665"/>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400" b="1" dirty="0">
                <a:latin typeface="Arial" panose="020B0604020202020204" pitchFamily="34" charset="0"/>
                <a:ea typeface="微软雅黑" panose="020B0503020204020204" pitchFamily="34" charset="-122"/>
              </a:rPr>
              <a:t>概念解读</a:t>
            </a:r>
          </a:p>
        </p:txBody>
      </p:sp>
      <p:grpSp>
        <p:nvGrpSpPr>
          <p:cNvPr id="77" name="组合 76">
            <a:extLst>
              <a:ext uri="{FF2B5EF4-FFF2-40B4-BE49-F238E27FC236}">
                <a16:creationId xmlns:a16="http://schemas.microsoft.com/office/drawing/2014/main" id="{DCD65C6B-E4DF-C8C3-AE0C-FCC2B85BF95F}"/>
              </a:ext>
            </a:extLst>
          </p:cNvPr>
          <p:cNvGrpSpPr>
            <a:grpSpLocks noChangeAspect="1"/>
          </p:cNvGrpSpPr>
          <p:nvPr>
            <p:custDataLst>
              <p:tags r:id="rId1"/>
            </p:custDataLst>
          </p:nvPr>
        </p:nvGrpSpPr>
        <p:grpSpPr>
          <a:xfrm>
            <a:off x="1071935" y="1005477"/>
            <a:ext cx="10199691" cy="5580594"/>
            <a:chOff x="1081271" y="1800049"/>
            <a:chExt cx="4892915" cy="5025715"/>
          </a:xfrm>
        </p:grpSpPr>
        <p:grpSp>
          <p:nvGrpSpPr>
            <p:cNvPr id="78" name="组合 77">
              <a:extLst>
                <a:ext uri="{FF2B5EF4-FFF2-40B4-BE49-F238E27FC236}">
                  <a16:creationId xmlns:a16="http://schemas.microsoft.com/office/drawing/2014/main" id="{EFC8646A-A95E-A16A-6B0E-2FC554DC76D1}"/>
                </a:ext>
              </a:extLst>
            </p:cNvPr>
            <p:cNvGrpSpPr/>
            <p:nvPr/>
          </p:nvGrpSpPr>
          <p:grpSpPr>
            <a:xfrm>
              <a:off x="1086810" y="1800049"/>
              <a:ext cx="4877969" cy="1533910"/>
              <a:chOff x="909643" y="1140079"/>
              <a:chExt cx="4877969" cy="1533910"/>
            </a:xfrm>
          </p:grpSpPr>
          <p:sp>
            <p:nvSpPr>
              <p:cNvPr id="91" name="1">
                <a:extLst>
                  <a:ext uri="{FF2B5EF4-FFF2-40B4-BE49-F238E27FC236}">
                    <a16:creationId xmlns:a16="http://schemas.microsoft.com/office/drawing/2014/main" id="{D12D599F-1867-5160-1C6E-988E2688D49B}"/>
                  </a:ext>
                </a:extLst>
              </p:cNvPr>
              <p:cNvSpPr/>
              <p:nvPr>
                <p:custDataLst>
                  <p:tags r:id="rId12"/>
                </p:custDataLst>
              </p:nvPr>
            </p:nvSpPr>
            <p:spPr>
              <a:xfrm>
                <a:off x="909643" y="1141058"/>
                <a:ext cx="4877969" cy="1532930"/>
              </a:xfrm>
              <a:prstGeom prst="rect">
                <a:avLst/>
              </a:prstGeom>
              <a:solidFill>
                <a:schemeClr val="bg1"/>
              </a:solidFill>
              <a:ln w="6350">
                <a:solidFill>
                  <a:schemeClr val="tx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a:solidFill>
                    <a:srgbClr val="000000"/>
                  </a:solidFill>
                </a:endParaRPr>
              </a:p>
            </p:txBody>
          </p:sp>
          <p:sp>
            <p:nvSpPr>
              <p:cNvPr id="92" name="Title-1">
                <a:extLst>
                  <a:ext uri="{FF2B5EF4-FFF2-40B4-BE49-F238E27FC236}">
                    <a16:creationId xmlns:a16="http://schemas.microsoft.com/office/drawing/2014/main" id="{90781000-E146-AD98-D9D9-DA602D4480BE}"/>
                  </a:ext>
                </a:extLst>
              </p:cNvPr>
              <p:cNvSpPr>
                <a:spLocks/>
              </p:cNvSpPr>
              <p:nvPr>
                <p:custDataLst>
                  <p:tags r:id="rId13"/>
                </p:custDataLst>
              </p:nvPr>
            </p:nvSpPr>
            <p:spPr>
              <a:xfrm>
                <a:off x="1495060" y="1140079"/>
                <a:ext cx="3960000" cy="5258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lvl="1"/>
                <a:r>
                  <a:rPr lang="zh-CN" altLang="en-US" b="1">
                    <a:solidFill>
                      <a:schemeClr val="accent1"/>
                    </a:solidFill>
                    <a:latin typeface="Arial" panose="020B0604020202020204" pitchFamily="34" charset="0"/>
                    <a:ea typeface="黑体" panose="02010609060101010101" pitchFamily="49" charset="-122"/>
                    <a:sym typeface="Arial" panose="020B0604020202020204" pitchFamily="34" charset="0"/>
                  </a:rPr>
                  <a:t>软预留（</a:t>
                </a:r>
                <a:r>
                  <a:rPr lang="en-US" altLang="zh-CN" b="1">
                    <a:solidFill>
                      <a:schemeClr val="accent1"/>
                    </a:solidFill>
                    <a:latin typeface="Arial" panose="020B0604020202020204" pitchFamily="34" charset="0"/>
                    <a:ea typeface="黑体" panose="02010609060101010101" pitchFamily="49" charset="-122"/>
                    <a:sym typeface="Arial" panose="020B0604020202020204" pitchFamily="34" charset="0"/>
                  </a:rPr>
                  <a:t>Soft Reservation</a:t>
                </a:r>
                <a:r>
                  <a:rPr lang="zh-CN" altLang="en-US" b="1">
                    <a:solidFill>
                      <a:schemeClr val="accent1"/>
                    </a:solidFill>
                    <a:latin typeface="Arial" panose="020B0604020202020204" pitchFamily="34" charset="0"/>
                    <a:ea typeface="黑体" panose="02010609060101010101" pitchFamily="49" charset="-122"/>
                    <a:sym typeface="Arial" panose="020B0604020202020204" pitchFamily="34" charset="0"/>
                  </a:rPr>
                  <a:t>）：</a:t>
                </a:r>
                <a:endParaRPr lang="en-US" altLang="zh-CN" b="1" dirty="0">
                  <a:solidFill>
                    <a:schemeClr val="accent1"/>
                  </a:solidFill>
                  <a:latin typeface="Arial" panose="020B0604020202020204" pitchFamily="34" charset="0"/>
                  <a:ea typeface="黑体" panose="02010609060101010101" pitchFamily="49" charset="-122"/>
                  <a:sym typeface="Arial" panose="020B0604020202020204" pitchFamily="34" charset="0"/>
                </a:endParaRPr>
              </a:p>
            </p:txBody>
          </p:sp>
          <p:sp>
            <p:nvSpPr>
              <p:cNvPr id="93" name="Body-1">
                <a:extLst>
                  <a:ext uri="{FF2B5EF4-FFF2-40B4-BE49-F238E27FC236}">
                    <a16:creationId xmlns:a16="http://schemas.microsoft.com/office/drawing/2014/main" id="{6B5481FD-F9EA-76DE-B122-4C97B2D790E4}"/>
                  </a:ext>
                </a:extLst>
              </p:cNvPr>
              <p:cNvSpPr>
                <a:spLocks/>
              </p:cNvSpPr>
              <p:nvPr>
                <p:custDataLst>
                  <p:tags r:id="rId14"/>
                </p:custDataLst>
              </p:nvPr>
            </p:nvSpPr>
            <p:spPr>
              <a:xfrm>
                <a:off x="1495060" y="1654869"/>
                <a:ext cx="3960000" cy="8441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20000"/>
                  </a:lnSpc>
                  <a:buSzPct val="100000"/>
                  <a:defRPr/>
                </a:pPr>
                <a:r>
                  <a:rPr kumimoji="0" lang="zh-CN" altLang="en-US" sz="1400" b="0" i="0" u="none" strike="noStrike" kern="1200" cap="none" spc="0" normalizeH="0" baseline="0" noProof="0">
                    <a:ln>
                      <a:noFill/>
                    </a:ln>
                    <a:solidFill>
                      <a:schemeClr val="tx1"/>
                    </a:solidFill>
                    <a:effectLst/>
                    <a:uLnTx/>
                    <a:uFillTx/>
                    <a:latin typeface="Arial" panose="020B0604020202020204" pitchFamily="34" charset="0"/>
                    <a:ea typeface="黑体" panose="02010609060101010101" pitchFamily="49" charset="-122"/>
                  </a:rPr>
                  <a:t>其核心在于动态和灵活。它并非物理上锁定资源，而是通过一套规则（最常见的就是优先级）来影响资源分配决策。 当资源充足时，所有需求都能满足；当资源紧张时，系统会依据优先级决定分配的先后顺序。这就像机场的贵宾通道，乘客（需求）并没有一个固定的座位（资源）被锁死，但能保证在登机时（资源分配时）获得优先权。</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endParaRPr>
              </a:p>
            </p:txBody>
          </p:sp>
          <p:sp>
            <p:nvSpPr>
              <p:cNvPr id="94" name="Index-1">
                <a:extLst>
                  <a:ext uri="{FF2B5EF4-FFF2-40B4-BE49-F238E27FC236}">
                    <a16:creationId xmlns:a16="http://schemas.microsoft.com/office/drawing/2014/main" id="{B6446DB9-6121-E39D-9E0A-363FB3AE3412}"/>
                  </a:ext>
                </a:extLst>
              </p:cNvPr>
              <p:cNvSpPr txBox="1"/>
              <p:nvPr>
                <p:custDataLst>
                  <p:tags r:id="rId15"/>
                </p:custDataLst>
              </p:nvPr>
            </p:nvSpPr>
            <p:spPr>
              <a:xfrm>
                <a:off x="937872" y="1141058"/>
                <a:ext cx="270066" cy="415762"/>
              </a:xfrm>
              <a:prstGeom prst="rect">
                <a:avLst/>
              </a:prstGeom>
              <a:solidFill>
                <a:schemeClr val="accent1"/>
              </a:solidFill>
              <a:effectLst/>
            </p:spPr>
            <p:txBody>
              <a:bodyPr wrap="none" rtlCol="0">
                <a:spAutoFit/>
              </a:bodyPr>
              <a:lstStyle>
                <a:defPPr>
                  <a:defRPr lang="zh-CN"/>
                </a:defPPr>
                <a:lvl1pPr algn="ctr">
                  <a:defRPr sz="2800" b="1">
                    <a:solidFill>
                      <a:srgbClr val="FFFFFF"/>
                    </a:solidFill>
                  </a:defRPr>
                </a:lvl1pPr>
              </a:lstStyle>
              <a:p>
                <a:r>
                  <a:rPr lang="en-US" altLang="zh-CN" sz="2400" dirty="0">
                    <a:latin typeface="+mj-ea"/>
                    <a:ea typeface="+mj-ea"/>
                  </a:rPr>
                  <a:t>01</a:t>
                </a:r>
                <a:endParaRPr lang="zh-CN" altLang="en-US" sz="2400" dirty="0">
                  <a:latin typeface="+mj-ea"/>
                  <a:ea typeface="+mj-ea"/>
                </a:endParaRPr>
              </a:p>
            </p:txBody>
          </p:sp>
          <p:cxnSp>
            <p:nvCxnSpPr>
              <p:cNvPr id="95" name="1">
                <a:extLst>
                  <a:ext uri="{FF2B5EF4-FFF2-40B4-BE49-F238E27FC236}">
                    <a16:creationId xmlns:a16="http://schemas.microsoft.com/office/drawing/2014/main" id="{1F82AD30-12E6-5C9E-1C37-A20C8B775198}"/>
                  </a:ext>
                </a:extLst>
              </p:cNvPr>
              <p:cNvCxnSpPr>
                <a:cxnSpLocks/>
              </p:cNvCxnSpPr>
              <p:nvPr>
                <p:custDataLst>
                  <p:tags r:id="rId16"/>
                </p:custDataLst>
              </p:nvPr>
            </p:nvCxnSpPr>
            <p:spPr>
              <a:xfrm>
                <a:off x="909645" y="2673989"/>
                <a:ext cx="4877967"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79" name="组合 78">
              <a:extLst>
                <a:ext uri="{FF2B5EF4-FFF2-40B4-BE49-F238E27FC236}">
                  <a16:creationId xmlns:a16="http://schemas.microsoft.com/office/drawing/2014/main" id="{6DE2F41D-061B-D8B4-DC97-C9C593B1FAF1}"/>
                </a:ext>
              </a:extLst>
            </p:cNvPr>
            <p:cNvGrpSpPr>
              <a:grpSpLocks/>
            </p:cNvGrpSpPr>
            <p:nvPr/>
          </p:nvGrpSpPr>
          <p:grpSpPr>
            <a:xfrm>
              <a:off x="1086810" y="3519111"/>
              <a:ext cx="4877969" cy="1538840"/>
              <a:chOff x="6669090" y="1140079"/>
              <a:chExt cx="4877969" cy="1538840"/>
            </a:xfrm>
          </p:grpSpPr>
          <p:sp>
            <p:nvSpPr>
              <p:cNvPr id="86" name="2">
                <a:extLst>
                  <a:ext uri="{FF2B5EF4-FFF2-40B4-BE49-F238E27FC236}">
                    <a16:creationId xmlns:a16="http://schemas.microsoft.com/office/drawing/2014/main" id="{9D8606EF-EC6C-5E7B-71E5-A5E16F4F4868}"/>
                  </a:ext>
                </a:extLst>
              </p:cNvPr>
              <p:cNvSpPr/>
              <p:nvPr>
                <p:custDataLst>
                  <p:tags r:id="rId7"/>
                </p:custDataLst>
              </p:nvPr>
            </p:nvSpPr>
            <p:spPr>
              <a:xfrm>
                <a:off x="6669090" y="1140079"/>
                <a:ext cx="4877969" cy="1532930"/>
              </a:xfrm>
              <a:prstGeom prst="rect">
                <a:avLst/>
              </a:prstGeom>
              <a:solidFill>
                <a:schemeClr val="bg1"/>
              </a:solidFill>
              <a:ln w="6350">
                <a:solidFill>
                  <a:schemeClr val="tx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a:solidFill>
                    <a:srgbClr val="000000"/>
                  </a:solidFill>
                </a:endParaRPr>
              </a:p>
            </p:txBody>
          </p:sp>
          <p:sp>
            <p:nvSpPr>
              <p:cNvPr id="87" name="Body-2">
                <a:extLst>
                  <a:ext uri="{FF2B5EF4-FFF2-40B4-BE49-F238E27FC236}">
                    <a16:creationId xmlns:a16="http://schemas.microsoft.com/office/drawing/2014/main" id="{127D7045-102B-D482-D1D3-3EF4A660498F}"/>
                  </a:ext>
                </a:extLst>
              </p:cNvPr>
              <p:cNvSpPr>
                <a:spLocks/>
              </p:cNvSpPr>
              <p:nvPr>
                <p:custDataLst>
                  <p:tags r:id="rId8"/>
                </p:custDataLst>
              </p:nvPr>
            </p:nvSpPr>
            <p:spPr>
              <a:xfrm>
                <a:off x="7252747" y="1535895"/>
                <a:ext cx="3960000" cy="1143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20000"/>
                  </a:lnSpc>
                  <a:buSzPct val="100000"/>
                  <a:defRPr/>
                </a:pPr>
                <a:r>
                  <a:rPr kumimoji="0" lang="zh-CN" altLang="en-US" sz="1400" b="0" i="0" u="none" strike="noStrike" kern="1200" cap="none" spc="0" normalizeH="0" baseline="0" noProof="0">
                    <a:ln>
                      <a:noFill/>
                    </a:ln>
                    <a:solidFill>
                      <a:schemeClr val="tx1"/>
                    </a:solidFill>
                    <a:effectLst/>
                    <a:uLnTx/>
                    <a:uFillTx/>
                    <a:latin typeface="Arial" panose="020B0604020202020204" pitchFamily="34" charset="0"/>
                    <a:ea typeface="黑体" panose="02010609060101010101" pitchFamily="49" charset="-122"/>
                  </a:rPr>
                  <a:t>这通常指在系统内建立明确的、一对一的刚性关联（例如，将特定的工单需求与特定的采购订单或库存批次绑定）。 这种方式在供应稳定、需求明确时很有效，但缺乏弹性，无法应对波动。</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endParaRPr>
              </a:p>
            </p:txBody>
          </p:sp>
          <p:sp>
            <p:nvSpPr>
              <p:cNvPr id="88" name="Title-2">
                <a:extLst>
                  <a:ext uri="{FF2B5EF4-FFF2-40B4-BE49-F238E27FC236}">
                    <a16:creationId xmlns:a16="http://schemas.microsoft.com/office/drawing/2014/main" id="{AB6BA471-DFF0-3288-8BCA-8E82C25AE295}"/>
                  </a:ext>
                </a:extLst>
              </p:cNvPr>
              <p:cNvSpPr>
                <a:spLocks/>
              </p:cNvSpPr>
              <p:nvPr>
                <p:custDataLst>
                  <p:tags r:id="rId9"/>
                </p:custDataLst>
              </p:nvPr>
            </p:nvSpPr>
            <p:spPr>
              <a:xfrm>
                <a:off x="7252747" y="1145011"/>
                <a:ext cx="3960000" cy="390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ct val="120000"/>
                  </a:lnSpc>
                </a:pPr>
                <a:r>
                  <a:rPr lang="en-US" altLang="zh-CN" b="1">
                    <a:solidFill>
                      <a:schemeClr val="accent2"/>
                    </a:solidFill>
                    <a:latin typeface="Arial" panose="020B0604020202020204" pitchFamily="34" charset="0"/>
                    <a:ea typeface="黑体" panose="02010609060101010101" pitchFamily="49" charset="-122"/>
                    <a:sym typeface="Arial" panose="020B0604020202020204" pitchFamily="34" charset="0"/>
                  </a:rPr>
                  <a:t>Pegging</a:t>
                </a:r>
                <a:r>
                  <a:rPr lang="zh-CN" altLang="en-US" b="1">
                    <a:solidFill>
                      <a:schemeClr val="accent2"/>
                    </a:solidFill>
                    <a:latin typeface="Arial" panose="020B0604020202020204" pitchFamily="34" charset="0"/>
                    <a:ea typeface="黑体" panose="02010609060101010101" pitchFamily="49" charset="-122"/>
                    <a:sym typeface="Arial" panose="020B0604020202020204" pitchFamily="34" charset="0"/>
                  </a:rPr>
                  <a:t>（刚性预留）：</a:t>
                </a:r>
                <a:endParaRPr lang="en-US" altLang="zh-CN" b="1" dirty="0">
                  <a:solidFill>
                    <a:schemeClr val="accent2"/>
                  </a:solidFill>
                  <a:latin typeface="Arial" panose="020B0604020202020204" pitchFamily="34" charset="0"/>
                  <a:ea typeface="黑体" panose="02010609060101010101" pitchFamily="49" charset="-122"/>
                  <a:sym typeface="Arial" panose="020B0604020202020204" pitchFamily="34" charset="0"/>
                </a:endParaRPr>
              </a:p>
            </p:txBody>
          </p:sp>
          <p:sp>
            <p:nvSpPr>
              <p:cNvPr id="89" name="Index-2">
                <a:extLst>
                  <a:ext uri="{FF2B5EF4-FFF2-40B4-BE49-F238E27FC236}">
                    <a16:creationId xmlns:a16="http://schemas.microsoft.com/office/drawing/2014/main" id="{7E44389C-1370-DB7E-04AB-A93A8E2CDC63}"/>
                  </a:ext>
                </a:extLst>
              </p:cNvPr>
              <p:cNvSpPr txBox="1"/>
              <p:nvPr>
                <p:custDataLst>
                  <p:tags r:id="rId10"/>
                </p:custDataLst>
              </p:nvPr>
            </p:nvSpPr>
            <p:spPr>
              <a:xfrm>
                <a:off x="6690853" y="1162806"/>
                <a:ext cx="270066" cy="415762"/>
              </a:xfrm>
              <a:prstGeom prst="rect">
                <a:avLst/>
              </a:prstGeom>
              <a:solidFill>
                <a:srgbClr val="EB7E3B"/>
              </a:solidFill>
              <a:effectLst/>
            </p:spPr>
            <p:txBody>
              <a:bodyPr wrap="none" rtlCol="0">
                <a:spAutoFit/>
              </a:bodyPr>
              <a:lstStyle>
                <a:defPPr>
                  <a:defRPr lang="zh-CN"/>
                </a:defPPr>
                <a:lvl1pPr algn="ctr">
                  <a:defRPr sz="2400" b="1">
                    <a:solidFill>
                      <a:srgbClr val="FFFFFF"/>
                    </a:solidFill>
                    <a:latin typeface="+mj-ea"/>
                    <a:ea typeface="+mj-ea"/>
                  </a:defRPr>
                </a:lvl1pPr>
              </a:lstStyle>
              <a:p>
                <a:r>
                  <a:rPr lang="en-US" altLang="zh-CN" dirty="0"/>
                  <a:t>02</a:t>
                </a:r>
                <a:endParaRPr lang="zh-CN" altLang="en-US" dirty="0"/>
              </a:p>
            </p:txBody>
          </p:sp>
          <p:cxnSp>
            <p:nvCxnSpPr>
              <p:cNvPr id="90" name="2">
                <a:extLst>
                  <a:ext uri="{FF2B5EF4-FFF2-40B4-BE49-F238E27FC236}">
                    <a16:creationId xmlns:a16="http://schemas.microsoft.com/office/drawing/2014/main" id="{B4B7D665-33A6-473B-2FBD-5B485F5F3C8F}"/>
                  </a:ext>
                </a:extLst>
              </p:cNvPr>
              <p:cNvCxnSpPr>
                <a:cxnSpLocks/>
              </p:cNvCxnSpPr>
              <p:nvPr>
                <p:custDataLst>
                  <p:tags r:id="rId11"/>
                </p:custDataLst>
              </p:nvPr>
            </p:nvCxnSpPr>
            <p:spPr>
              <a:xfrm>
                <a:off x="6669092" y="2673009"/>
                <a:ext cx="4877967"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80" name="组合 79">
              <a:extLst>
                <a:ext uri="{FF2B5EF4-FFF2-40B4-BE49-F238E27FC236}">
                  <a16:creationId xmlns:a16="http://schemas.microsoft.com/office/drawing/2014/main" id="{960E7C05-30AA-C7DD-EFD4-984C4684C400}"/>
                </a:ext>
              </a:extLst>
            </p:cNvPr>
            <p:cNvGrpSpPr>
              <a:grpSpLocks/>
            </p:cNvGrpSpPr>
            <p:nvPr/>
          </p:nvGrpSpPr>
          <p:grpSpPr>
            <a:xfrm>
              <a:off x="1081271" y="5286924"/>
              <a:ext cx="4892915" cy="1538840"/>
              <a:chOff x="6654145" y="2859140"/>
              <a:chExt cx="4892915" cy="1538840"/>
            </a:xfrm>
          </p:grpSpPr>
          <p:sp>
            <p:nvSpPr>
              <p:cNvPr id="81" name="3">
                <a:extLst>
                  <a:ext uri="{FF2B5EF4-FFF2-40B4-BE49-F238E27FC236}">
                    <a16:creationId xmlns:a16="http://schemas.microsoft.com/office/drawing/2014/main" id="{8F9825C3-30F5-242F-4F01-CFB053574DF2}"/>
                  </a:ext>
                </a:extLst>
              </p:cNvPr>
              <p:cNvSpPr/>
              <p:nvPr>
                <p:custDataLst>
                  <p:tags r:id="rId2"/>
                </p:custDataLst>
              </p:nvPr>
            </p:nvSpPr>
            <p:spPr>
              <a:xfrm>
                <a:off x="6669063" y="2860122"/>
                <a:ext cx="4863526" cy="1537858"/>
              </a:xfrm>
              <a:prstGeom prst="rect">
                <a:avLst/>
              </a:prstGeom>
              <a:solidFill>
                <a:schemeClr val="bg1"/>
              </a:solidFill>
              <a:ln w="6350">
                <a:solidFill>
                  <a:schemeClr val="tx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a:solidFill>
                    <a:srgbClr val="000000"/>
                  </a:solidFill>
                </a:endParaRPr>
              </a:p>
            </p:txBody>
          </p:sp>
          <p:sp>
            <p:nvSpPr>
              <p:cNvPr id="82" name="Title-3">
                <a:extLst>
                  <a:ext uri="{FF2B5EF4-FFF2-40B4-BE49-F238E27FC236}">
                    <a16:creationId xmlns:a16="http://schemas.microsoft.com/office/drawing/2014/main" id="{CCB79643-55AD-EB3C-2542-15D130273D58}"/>
                  </a:ext>
                </a:extLst>
              </p:cNvPr>
              <p:cNvSpPr>
                <a:spLocks/>
              </p:cNvSpPr>
              <p:nvPr>
                <p:custDataLst>
                  <p:tags r:id="rId3"/>
                </p:custDataLst>
              </p:nvPr>
            </p:nvSpPr>
            <p:spPr>
              <a:xfrm>
                <a:off x="7252747" y="2859140"/>
                <a:ext cx="3960000" cy="3922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ct val="120000"/>
                  </a:lnSpc>
                </a:pPr>
                <a:r>
                  <a:rPr lang="zh-CN" altLang="en-US" b="1">
                    <a:solidFill>
                      <a:schemeClr val="accent3"/>
                    </a:solidFill>
                    <a:latin typeface="Arial" panose="020B0604020202020204" pitchFamily="34" charset="0"/>
                    <a:ea typeface="黑体" panose="02010609060101010101" pitchFamily="49" charset="-122"/>
                    <a:sym typeface="Arial" panose="020B0604020202020204" pitchFamily="34" charset="0"/>
                  </a:rPr>
                  <a:t>资源置换（</a:t>
                </a:r>
                <a:r>
                  <a:rPr lang="en-US" altLang="zh-CN" b="1">
                    <a:solidFill>
                      <a:schemeClr val="accent3"/>
                    </a:solidFill>
                    <a:latin typeface="Arial" panose="020B0604020202020204" pitchFamily="34" charset="0"/>
                    <a:ea typeface="黑体" panose="02010609060101010101" pitchFamily="49" charset="-122"/>
                    <a:sym typeface="Arial" panose="020B0604020202020204" pitchFamily="34" charset="0"/>
                  </a:rPr>
                  <a:t>Resource Replacement / Swapping</a:t>
                </a:r>
                <a:r>
                  <a:rPr lang="zh-CN" altLang="en-US" b="1">
                    <a:solidFill>
                      <a:schemeClr val="accent3"/>
                    </a:solidFill>
                    <a:latin typeface="Arial" panose="020B0604020202020204" pitchFamily="34" charset="0"/>
                    <a:ea typeface="黑体" panose="02010609060101010101" pitchFamily="49" charset="-122"/>
                    <a:sym typeface="Arial" panose="020B0604020202020204" pitchFamily="34" charset="0"/>
                  </a:rPr>
                  <a:t>）：</a:t>
                </a:r>
                <a:endParaRPr lang="en-US" altLang="zh-CN" b="1" dirty="0">
                  <a:solidFill>
                    <a:schemeClr val="accent3"/>
                  </a:solidFill>
                  <a:latin typeface="Arial" panose="020B0604020202020204" pitchFamily="34" charset="0"/>
                  <a:ea typeface="黑体" panose="02010609060101010101" pitchFamily="49" charset="-122"/>
                  <a:sym typeface="Arial" panose="020B0604020202020204" pitchFamily="34" charset="0"/>
                </a:endParaRPr>
              </a:p>
            </p:txBody>
          </p:sp>
          <p:sp>
            <p:nvSpPr>
              <p:cNvPr id="83" name="Body-3">
                <a:extLst>
                  <a:ext uri="{FF2B5EF4-FFF2-40B4-BE49-F238E27FC236}">
                    <a16:creationId xmlns:a16="http://schemas.microsoft.com/office/drawing/2014/main" id="{54C9E8B8-BDDD-F506-40D6-180953C56C12}"/>
                  </a:ext>
                </a:extLst>
              </p:cNvPr>
              <p:cNvSpPr>
                <a:spLocks/>
              </p:cNvSpPr>
              <p:nvPr>
                <p:custDataLst>
                  <p:tags r:id="rId4"/>
                </p:custDataLst>
              </p:nvPr>
            </p:nvSpPr>
            <p:spPr>
              <a:xfrm>
                <a:off x="7252747" y="3251089"/>
                <a:ext cx="3960000" cy="11468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20000"/>
                  </a:lnSpc>
                  <a:buSzPct val="100000"/>
                  <a:defRPr/>
                </a:pPr>
                <a:r>
                  <a:rPr kumimoji="0" lang="zh-CN" altLang="en-US" sz="1400" b="0" i="0" u="none" strike="noStrike" kern="1200" cap="none" spc="0" normalizeH="0" baseline="0" noProof="0">
                    <a:ln>
                      <a:noFill/>
                    </a:ln>
                    <a:solidFill>
                      <a:schemeClr val="tx1"/>
                    </a:solidFill>
                    <a:effectLst/>
                    <a:uLnTx/>
                    <a:uFillTx/>
                    <a:latin typeface="Arial" panose="020B0604020202020204" pitchFamily="34" charset="0"/>
                    <a:ea typeface="黑体" panose="02010609060101010101" pitchFamily="49" charset="-122"/>
                  </a:rPr>
                  <a:t>这指的是一种计划调整策略。当有更高优先级的任务（如紧急插单）进入时，不是简单地将它塞进现有计划导致所有后续计划顺延，而是评估当前已分配的资源，选择性地将较低优先级的任务所占用的资源（如机器时间段、物料）释放出来，分配给这个高优先级任务。 被置换出来的任务则重新进行排期。这样做的好处是能够最大限度地控制紧急插单对整体计划产生的“涟漪效应”</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endParaRPr>
              </a:p>
            </p:txBody>
          </p:sp>
          <p:sp>
            <p:nvSpPr>
              <p:cNvPr id="84" name="Index-3">
                <a:extLst>
                  <a:ext uri="{FF2B5EF4-FFF2-40B4-BE49-F238E27FC236}">
                    <a16:creationId xmlns:a16="http://schemas.microsoft.com/office/drawing/2014/main" id="{9D5AC49B-8D0A-D943-3726-732F9D4F2886}"/>
                  </a:ext>
                </a:extLst>
              </p:cNvPr>
              <p:cNvSpPr txBox="1"/>
              <p:nvPr>
                <p:custDataLst>
                  <p:tags r:id="rId5"/>
                </p:custDataLst>
              </p:nvPr>
            </p:nvSpPr>
            <p:spPr>
              <a:xfrm>
                <a:off x="6654145" y="2860122"/>
                <a:ext cx="270066" cy="415762"/>
              </a:xfrm>
              <a:prstGeom prst="rect">
                <a:avLst/>
              </a:prstGeom>
              <a:solidFill>
                <a:schemeClr val="accent3"/>
              </a:solidFill>
              <a:effectLst/>
            </p:spPr>
            <p:txBody>
              <a:bodyPr wrap="none" rtlCol="0">
                <a:spAutoFit/>
              </a:bodyPr>
              <a:lstStyle>
                <a:defPPr>
                  <a:defRPr lang="zh-CN"/>
                </a:defPPr>
                <a:lvl1pPr algn="ctr">
                  <a:defRPr sz="2800" b="1">
                    <a:solidFill>
                      <a:srgbClr val="FFFFFF"/>
                    </a:solidFill>
                  </a:defRPr>
                </a:lvl1pPr>
              </a:lstStyle>
              <a:p>
                <a:r>
                  <a:rPr lang="en-US" altLang="zh-CN" sz="2400" dirty="0">
                    <a:latin typeface="+mj-ea"/>
                    <a:ea typeface="+mj-ea"/>
                  </a:rPr>
                  <a:t>03</a:t>
                </a:r>
                <a:endParaRPr lang="zh-CN" altLang="en-US" sz="2400" dirty="0">
                  <a:latin typeface="+mj-ea"/>
                  <a:ea typeface="+mj-ea"/>
                </a:endParaRPr>
              </a:p>
            </p:txBody>
          </p:sp>
          <p:cxnSp>
            <p:nvCxnSpPr>
              <p:cNvPr id="85" name="3">
                <a:extLst>
                  <a:ext uri="{FF2B5EF4-FFF2-40B4-BE49-F238E27FC236}">
                    <a16:creationId xmlns:a16="http://schemas.microsoft.com/office/drawing/2014/main" id="{ABD822B8-168C-046B-171F-CECE29044428}"/>
                  </a:ext>
                </a:extLst>
              </p:cNvPr>
              <p:cNvCxnSpPr>
                <a:cxnSpLocks/>
              </p:cNvCxnSpPr>
              <p:nvPr>
                <p:custDataLst>
                  <p:tags r:id="rId6"/>
                </p:custDataLst>
              </p:nvPr>
            </p:nvCxnSpPr>
            <p:spPr>
              <a:xfrm flipV="1">
                <a:off x="6674127" y="4383418"/>
                <a:ext cx="4872933" cy="14561"/>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6840678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2"/>
          <p:cNvSpPr>
            <a:spLocks noGrp="1"/>
          </p:cNvSpPr>
          <p:nvPr>
            <p:ph type="title" idx="4294967295"/>
          </p:nvPr>
        </p:nvSpPr>
        <p:spPr>
          <a:xfrm>
            <a:off x="557212" y="40958"/>
            <a:ext cx="11077575" cy="520700"/>
          </a:xfrm>
          <a:prstGeom prst="rect">
            <a:avLst/>
          </a:prstGeom>
        </p:spPr>
        <p:txBody>
          <a:bodyPr vert="horz" lIns="91440" tIns="45720" rIns="91440" bIns="45720" rtlCol="0" anchor="b">
            <a:normAutofit/>
          </a:bodyPr>
          <a:lstStyle/>
          <a:p>
            <a:r>
              <a:rPr lang="en-US" altLang="zh-CN" sz="2400" dirty="0">
                <a:solidFill>
                  <a:schemeClr val="tx1"/>
                </a:solidFill>
                <a:latin typeface="+mj-ea"/>
              </a:rPr>
              <a:t>IOP – </a:t>
            </a:r>
            <a:r>
              <a:rPr kumimoji="0" lang="en-US" altLang="zh-CN" sz="2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j-cs"/>
              </a:rPr>
              <a:t>IPS </a:t>
            </a:r>
            <a:r>
              <a:rPr kumimoji="0" lang="zh-CN" altLang="en-US" sz="24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j-cs"/>
              </a:rPr>
              <a:t>情景演示</a:t>
            </a:r>
            <a:endParaRPr lang="en-US" altLang="zh-CN" sz="2400" dirty="0">
              <a:solidFill>
                <a:schemeClr val="tx1"/>
              </a:solidFill>
              <a:latin typeface="+mj-ea"/>
            </a:endParaRPr>
          </a:p>
        </p:txBody>
      </p:sp>
      <p:sp>
        <p:nvSpPr>
          <p:cNvPr id="3" name="Freeform 8"/>
          <p:cNvSpPr/>
          <p:nvPr/>
        </p:nvSpPr>
        <p:spPr>
          <a:xfrm>
            <a:off x="4146551" y="1686984"/>
            <a:ext cx="5738284" cy="806451"/>
          </a:xfrm>
          <a:custGeom>
            <a:avLst/>
            <a:gdLst>
              <a:gd name="connsiteX0" fmla="*/ 134387 w 806306"/>
              <a:gd name="connsiteY0" fmla="*/ 0 h 5737036"/>
              <a:gd name="connsiteX1" fmla="*/ 671919 w 806306"/>
              <a:gd name="connsiteY1" fmla="*/ 0 h 5737036"/>
              <a:gd name="connsiteX2" fmla="*/ 766945 w 806306"/>
              <a:gd name="connsiteY2" fmla="*/ 39361 h 5737036"/>
              <a:gd name="connsiteX3" fmla="*/ 806306 w 806306"/>
              <a:gd name="connsiteY3" fmla="*/ 134387 h 5737036"/>
              <a:gd name="connsiteX4" fmla="*/ 806306 w 806306"/>
              <a:gd name="connsiteY4" fmla="*/ 5737036 h 5737036"/>
              <a:gd name="connsiteX5" fmla="*/ 806306 w 806306"/>
              <a:gd name="connsiteY5" fmla="*/ 5737036 h 5737036"/>
              <a:gd name="connsiteX6" fmla="*/ 806306 w 806306"/>
              <a:gd name="connsiteY6" fmla="*/ 5737036 h 5737036"/>
              <a:gd name="connsiteX7" fmla="*/ 0 w 806306"/>
              <a:gd name="connsiteY7" fmla="*/ 5737036 h 5737036"/>
              <a:gd name="connsiteX8" fmla="*/ 0 w 806306"/>
              <a:gd name="connsiteY8" fmla="*/ 5737036 h 5737036"/>
              <a:gd name="connsiteX9" fmla="*/ 0 w 806306"/>
              <a:gd name="connsiteY9" fmla="*/ 5737036 h 5737036"/>
              <a:gd name="connsiteX10" fmla="*/ 0 w 806306"/>
              <a:gd name="connsiteY10" fmla="*/ 134387 h 5737036"/>
              <a:gd name="connsiteX11" fmla="*/ 39361 w 806306"/>
              <a:gd name="connsiteY11" fmla="*/ 39361 h 5737036"/>
              <a:gd name="connsiteX12" fmla="*/ 134387 w 806306"/>
              <a:gd name="connsiteY12" fmla="*/ 0 h 573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6306" h="5737036">
                <a:moveTo>
                  <a:pt x="806306" y="956194"/>
                </a:moveTo>
                <a:lnTo>
                  <a:pt x="806306" y="4780842"/>
                </a:lnTo>
                <a:cubicBezTo>
                  <a:pt x="806306" y="5034442"/>
                  <a:pt x="804316" y="5277654"/>
                  <a:pt x="800774" y="5456971"/>
                </a:cubicBezTo>
                <a:cubicBezTo>
                  <a:pt x="797232" y="5636288"/>
                  <a:pt x="792428" y="5737032"/>
                  <a:pt x="787419" y="5737032"/>
                </a:cubicBezTo>
                <a:lnTo>
                  <a:pt x="0" y="5737032"/>
                </a:lnTo>
                <a:lnTo>
                  <a:pt x="0" y="5737032"/>
                </a:lnTo>
                <a:lnTo>
                  <a:pt x="0" y="5737032"/>
                </a:lnTo>
                <a:lnTo>
                  <a:pt x="0" y="4"/>
                </a:lnTo>
                <a:lnTo>
                  <a:pt x="0" y="4"/>
                </a:lnTo>
                <a:lnTo>
                  <a:pt x="0" y="4"/>
                </a:lnTo>
                <a:lnTo>
                  <a:pt x="787419" y="4"/>
                </a:lnTo>
                <a:cubicBezTo>
                  <a:pt x="792428" y="4"/>
                  <a:pt x="797232" y="100748"/>
                  <a:pt x="800774" y="280065"/>
                </a:cubicBezTo>
                <a:cubicBezTo>
                  <a:pt x="804316" y="459382"/>
                  <a:pt x="806306" y="702594"/>
                  <a:pt x="806306" y="956194"/>
                </a:cubicBezTo>
                <a:close/>
              </a:path>
            </a:pathLst>
          </a:custGeom>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247651" tIns="163185" rIns="287011" bIns="163187" spcCol="1270" anchor="ctr"/>
          <a:lstStyle/>
          <a:p>
            <a:pPr marL="228594" lvl="1" indent="-228594" defTabSz="888978">
              <a:lnSpc>
                <a:spcPct val="90000"/>
              </a:lnSpc>
              <a:spcBef>
                <a:spcPct val="0"/>
              </a:spcBef>
              <a:spcAft>
                <a:spcPct val="15000"/>
              </a:spcAft>
              <a:buFontTx/>
              <a:buChar char="•"/>
              <a:defRPr/>
            </a:pPr>
            <a:r>
              <a:rPr lang="zh-CN" altLang="en-US" sz="2000" b="1" dirty="0">
                <a:solidFill>
                  <a:srgbClr val="000000">
                    <a:hueOff val="0"/>
                    <a:satOff val="0"/>
                    <a:lumOff val="0"/>
                    <a:alphaOff val="0"/>
                  </a:srgbClr>
                </a:solidFill>
                <a:latin typeface="+mj-ea"/>
                <a:ea typeface="+mj-ea"/>
              </a:rPr>
              <a:t>不同的供应和需求数据源</a:t>
            </a:r>
            <a:endParaRPr lang="en-US" altLang="zh-CN" sz="2000" b="1" dirty="0">
              <a:solidFill>
                <a:srgbClr val="000000">
                  <a:hueOff val="0"/>
                  <a:satOff val="0"/>
                  <a:lumOff val="0"/>
                  <a:alphaOff val="0"/>
                </a:srgbClr>
              </a:solidFill>
              <a:latin typeface="+mj-ea"/>
              <a:ea typeface="+mj-ea"/>
            </a:endParaRPr>
          </a:p>
          <a:p>
            <a:pPr marL="228594" lvl="1" indent="-228594" defTabSz="888978">
              <a:lnSpc>
                <a:spcPct val="90000"/>
              </a:lnSpc>
              <a:spcBef>
                <a:spcPct val="0"/>
              </a:spcBef>
              <a:spcAft>
                <a:spcPct val="15000"/>
              </a:spcAft>
              <a:buFontTx/>
              <a:buChar char="•"/>
              <a:defRPr/>
            </a:pPr>
            <a:r>
              <a:rPr lang="zh-CN" altLang="en-US" sz="2000" b="1" dirty="0">
                <a:solidFill>
                  <a:srgbClr val="000000">
                    <a:hueOff val="0"/>
                    <a:satOff val="0"/>
                    <a:lumOff val="0"/>
                    <a:alphaOff val="0"/>
                  </a:srgbClr>
                </a:solidFill>
                <a:latin typeface="+mj-ea"/>
                <a:ea typeface="+mj-ea"/>
              </a:rPr>
              <a:t>不同的供需匹配逻辑</a:t>
            </a:r>
            <a:endParaRPr lang="en-US" sz="2000" b="1" dirty="0">
              <a:solidFill>
                <a:srgbClr val="000000">
                  <a:hueOff val="0"/>
                  <a:satOff val="0"/>
                  <a:lumOff val="0"/>
                  <a:alphaOff val="0"/>
                </a:srgbClr>
              </a:solidFill>
              <a:latin typeface="+mj-ea"/>
              <a:ea typeface="+mj-ea"/>
            </a:endParaRPr>
          </a:p>
        </p:txBody>
      </p:sp>
      <p:sp>
        <p:nvSpPr>
          <p:cNvPr id="4" name="Freeform 9"/>
          <p:cNvSpPr/>
          <p:nvPr/>
        </p:nvSpPr>
        <p:spPr>
          <a:xfrm>
            <a:off x="2006601" y="1585384"/>
            <a:ext cx="2139951" cy="1007533"/>
          </a:xfrm>
          <a:custGeom>
            <a:avLst/>
            <a:gdLst>
              <a:gd name="connsiteX0" fmla="*/ 0 w 2139394"/>
              <a:gd name="connsiteY0" fmla="*/ 167984 h 1007882"/>
              <a:gd name="connsiteX1" fmla="*/ 49202 w 2139394"/>
              <a:gd name="connsiteY1" fmla="*/ 49201 h 1007882"/>
              <a:gd name="connsiteX2" fmla="*/ 167985 w 2139394"/>
              <a:gd name="connsiteY2" fmla="*/ 0 h 1007882"/>
              <a:gd name="connsiteX3" fmla="*/ 1971410 w 2139394"/>
              <a:gd name="connsiteY3" fmla="*/ 0 h 1007882"/>
              <a:gd name="connsiteX4" fmla="*/ 2090193 w 2139394"/>
              <a:gd name="connsiteY4" fmla="*/ 49202 h 1007882"/>
              <a:gd name="connsiteX5" fmla="*/ 2139394 w 2139394"/>
              <a:gd name="connsiteY5" fmla="*/ 167985 h 1007882"/>
              <a:gd name="connsiteX6" fmla="*/ 2139394 w 2139394"/>
              <a:gd name="connsiteY6" fmla="*/ 839898 h 1007882"/>
              <a:gd name="connsiteX7" fmla="*/ 2090193 w 2139394"/>
              <a:gd name="connsiteY7" fmla="*/ 958681 h 1007882"/>
              <a:gd name="connsiteX8" fmla="*/ 1971410 w 2139394"/>
              <a:gd name="connsiteY8" fmla="*/ 1007882 h 1007882"/>
              <a:gd name="connsiteX9" fmla="*/ 167984 w 2139394"/>
              <a:gd name="connsiteY9" fmla="*/ 1007882 h 1007882"/>
              <a:gd name="connsiteX10" fmla="*/ 49201 w 2139394"/>
              <a:gd name="connsiteY10" fmla="*/ 958681 h 1007882"/>
              <a:gd name="connsiteX11" fmla="*/ 0 w 2139394"/>
              <a:gd name="connsiteY11" fmla="*/ 839898 h 1007882"/>
              <a:gd name="connsiteX12" fmla="*/ 0 w 2139394"/>
              <a:gd name="connsiteY12" fmla="*/ 167984 h 100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9394" h="1007882">
                <a:moveTo>
                  <a:pt x="0" y="167984"/>
                </a:moveTo>
                <a:cubicBezTo>
                  <a:pt x="0" y="123432"/>
                  <a:pt x="17698" y="80704"/>
                  <a:pt x="49202" y="49201"/>
                </a:cubicBezTo>
                <a:cubicBezTo>
                  <a:pt x="80705" y="17698"/>
                  <a:pt x="123433" y="0"/>
                  <a:pt x="167985" y="0"/>
                </a:cubicBezTo>
                <a:lnTo>
                  <a:pt x="1971410" y="0"/>
                </a:lnTo>
                <a:cubicBezTo>
                  <a:pt x="2015962" y="0"/>
                  <a:pt x="2058690" y="17698"/>
                  <a:pt x="2090193" y="49202"/>
                </a:cubicBezTo>
                <a:cubicBezTo>
                  <a:pt x="2121696" y="80705"/>
                  <a:pt x="2139394" y="123433"/>
                  <a:pt x="2139394" y="167985"/>
                </a:cubicBezTo>
                <a:lnTo>
                  <a:pt x="2139394" y="839898"/>
                </a:lnTo>
                <a:cubicBezTo>
                  <a:pt x="2139394" y="884450"/>
                  <a:pt x="2121696" y="927178"/>
                  <a:pt x="2090193" y="958681"/>
                </a:cubicBezTo>
                <a:cubicBezTo>
                  <a:pt x="2058690" y="990184"/>
                  <a:pt x="2015962" y="1007882"/>
                  <a:pt x="1971410" y="1007882"/>
                </a:cubicBezTo>
                <a:lnTo>
                  <a:pt x="167984" y="1007882"/>
                </a:lnTo>
                <a:cubicBezTo>
                  <a:pt x="123432" y="1007882"/>
                  <a:pt x="80704" y="990184"/>
                  <a:pt x="49201" y="958681"/>
                </a:cubicBezTo>
                <a:cubicBezTo>
                  <a:pt x="17698" y="927178"/>
                  <a:pt x="0" y="884450"/>
                  <a:pt x="0" y="839898"/>
                </a:cubicBezTo>
                <a:lnTo>
                  <a:pt x="0" y="167984"/>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125401" tIns="87301" rIns="125401" bIns="87301" anchor="ctr"/>
          <a:lstStyle/>
          <a:p>
            <a:pPr algn="ctr" defTabSz="888978" fontAlgn="base">
              <a:lnSpc>
                <a:spcPct val="90000"/>
              </a:lnSpc>
              <a:spcBef>
                <a:spcPct val="0"/>
              </a:spcBef>
              <a:spcAft>
                <a:spcPct val="35000"/>
              </a:spcAft>
            </a:pPr>
            <a:r>
              <a:rPr lang="zh-CN" altLang="en-US" sz="2000" b="1" dirty="0">
                <a:solidFill>
                  <a:srgbClr val="FFFFFF"/>
                </a:solidFill>
                <a:latin typeface="+mj-ea"/>
                <a:ea typeface="+mj-ea"/>
              </a:rPr>
              <a:t>数据和逻辑不一致</a:t>
            </a:r>
            <a:endParaRPr lang="en-US" sz="2000" b="1" dirty="0">
              <a:solidFill>
                <a:srgbClr val="FFFFFF"/>
              </a:solidFill>
              <a:latin typeface="+mj-ea"/>
              <a:ea typeface="+mj-ea"/>
            </a:endParaRPr>
          </a:p>
        </p:txBody>
      </p:sp>
      <p:sp>
        <p:nvSpPr>
          <p:cNvPr id="5" name="Freeform 11"/>
          <p:cNvSpPr/>
          <p:nvPr/>
        </p:nvSpPr>
        <p:spPr>
          <a:xfrm>
            <a:off x="2006601" y="2643718"/>
            <a:ext cx="2139951" cy="1007533"/>
          </a:xfrm>
          <a:custGeom>
            <a:avLst/>
            <a:gdLst>
              <a:gd name="connsiteX0" fmla="*/ 0 w 2139394"/>
              <a:gd name="connsiteY0" fmla="*/ 167984 h 1007882"/>
              <a:gd name="connsiteX1" fmla="*/ 49202 w 2139394"/>
              <a:gd name="connsiteY1" fmla="*/ 49201 h 1007882"/>
              <a:gd name="connsiteX2" fmla="*/ 167985 w 2139394"/>
              <a:gd name="connsiteY2" fmla="*/ 0 h 1007882"/>
              <a:gd name="connsiteX3" fmla="*/ 1971410 w 2139394"/>
              <a:gd name="connsiteY3" fmla="*/ 0 h 1007882"/>
              <a:gd name="connsiteX4" fmla="*/ 2090193 w 2139394"/>
              <a:gd name="connsiteY4" fmla="*/ 49202 h 1007882"/>
              <a:gd name="connsiteX5" fmla="*/ 2139394 w 2139394"/>
              <a:gd name="connsiteY5" fmla="*/ 167985 h 1007882"/>
              <a:gd name="connsiteX6" fmla="*/ 2139394 w 2139394"/>
              <a:gd name="connsiteY6" fmla="*/ 839898 h 1007882"/>
              <a:gd name="connsiteX7" fmla="*/ 2090193 w 2139394"/>
              <a:gd name="connsiteY7" fmla="*/ 958681 h 1007882"/>
              <a:gd name="connsiteX8" fmla="*/ 1971410 w 2139394"/>
              <a:gd name="connsiteY8" fmla="*/ 1007882 h 1007882"/>
              <a:gd name="connsiteX9" fmla="*/ 167984 w 2139394"/>
              <a:gd name="connsiteY9" fmla="*/ 1007882 h 1007882"/>
              <a:gd name="connsiteX10" fmla="*/ 49201 w 2139394"/>
              <a:gd name="connsiteY10" fmla="*/ 958681 h 1007882"/>
              <a:gd name="connsiteX11" fmla="*/ 0 w 2139394"/>
              <a:gd name="connsiteY11" fmla="*/ 839898 h 1007882"/>
              <a:gd name="connsiteX12" fmla="*/ 0 w 2139394"/>
              <a:gd name="connsiteY12" fmla="*/ 167984 h 100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9394" h="1007882">
                <a:moveTo>
                  <a:pt x="0" y="167984"/>
                </a:moveTo>
                <a:cubicBezTo>
                  <a:pt x="0" y="123432"/>
                  <a:pt x="17698" y="80704"/>
                  <a:pt x="49202" y="49201"/>
                </a:cubicBezTo>
                <a:cubicBezTo>
                  <a:pt x="80705" y="17698"/>
                  <a:pt x="123433" y="0"/>
                  <a:pt x="167985" y="0"/>
                </a:cubicBezTo>
                <a:lnTo>
                  <a:pt x="1971410" y="0"/>
                </a:lnTo>
                <a:cubicBezTo>
                  <a:pt x="2015962" y="0"/>
                  <a:pt x="2058690" y="17698"/>
                  <a:pt x="2090193" y="49202"/>
                </a:cubicBezTo>
                <a:cubicBezTo>
                  <a:pt x="2121696" y="80705"/>
                  <a:pt x="2139394" y="123433"/>
                  <a:pt x="2139394" y="167985"/>
                </a:cubicBezTo>
                <a:lnTo>
                  <a:pt x="2139394" y="839898"/>
                </a:lnTo>
                <a:cubicBezTo>
                  <a:pt x="2139394" y="884450"/>
                  <a:pt x="2121696" y="927178"/>
                  <a:pt x="2090193" y="958681"/>
                </a:cubicBezTo>
                <a:cubicBezTo>
                  <a:pt x="2058690" y="990184"/>
                  <a:pt x="2015962" y="1007882"/>
                  <a:pt x="1971410" y="1007882"/>
                </a:cubicBezTo>
                <a:lnTo>
                  <a:pt x="167984" y="1007882"/>
                </a:lnTo>
                <a:cubicBezTo>
                  <a:pt x="123432" y="1007882"/>
                  <a:pt x="80704" y="990184"/>
                  <a:pt x="49201" y="958681"/>
                </a:cubicBezTo>
                <a:cubicBezTo>
                  <a:pt x="17698" y="927178"/>
                  <a:pt x="0" y="884450"/>
                  <a:pt x="0" y="839898"/>
                </a:cubicBezTo>
                <a:lnTo>
                  <a:pt x="0" y="167984"/>
                </a:lnTo>
                <a:close/>
              </a:path>
            </a:pathLst>
          </a:custGeom>
          <a:gradFill flip="none" rotWithShape="1">
            <a:gsLst>
              <a:gs pos="0">
                <a:schemeClr val="accent2"/>
              </a:gs>
              <a:gs pos="100000">
                <a:schemeClr val="accent2">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r>
              <a:rPr lang="zh-CN" altLang="en-US" b="1" dirty="0">
                <a:solidFill>
                  <a:schemeClr val="tx1"/>
                </a:solidFill>
                <a:latin typeface="+mj-ea"/>
                <a:ea typeface="+mj-ea"/>
              </a:rPr>
              <a:t>场景</a:t>
            </a:r>
            <a:r>
              <a:rPr lang="en-US" altLang="zh-CN" b="1" dirty="0">
                <a:solidFill>
                  <a:schemeClr val="tx1"/>
                </a:solidFill>
                <a:latin typeface="+mj-ea"/>
                <a:ea typeface="+mj-ea"/>
              </a:rPr>
              <a:t> #2</a:t>
            </a:r>
          </a:p>
        </p:txBody>
      </p:sp>
      <p:sp>
        <p:nvSpPr>
          <p:cNvPr id="6" name="Freeform 13"/>
          <p:cNvSpPr/>
          <p:nvPr/>
        </p:nvSpPr>
        <p:spPr>
          <a:xfrm>
            <a:off x="2006601" y="3702051"/>
            <a:ext cx="2139951" cy="1007533"/>
          </a:xfrm>
          <a:custGeom>
            <a:avLst/>
            <a:gdLst>
              <a:gd name="connsiteX0" fmla="*/ 0 w 2139394"/>
              <a:gd name="connsiteY0" fmla="*/ 167984 h 1007882"/>
              <a:gd name="connsiteX1" fmla="*/ 49202 w 2139394"/>
              <a:gd name="connsiteY1" fmla="*/ 49201 h 1007882"/>
              <a:gd name="connsiteX2" fmla="*/ 167985 w 2139394"/>
              <a:gd name="connsiteY2" fmla="*/ 0 h 1007882"/>
              <a:gd name="connsiteX3" fmla="*/ 1971410 w 2139394"/>
              <a:gd name="connsiteY3" fmla="*/ 0 h 1007882"/>
              <a:gd name="connsiteX4" fmla="*/ 2090193 w 2139394"/>
              <a:gd name="connsiteY4" fmla="*/ 49202 h 1007882"/>
              <a:gd name="connsiteX5" fmla="*/ 2139394 w 2139394"/>
              <a:gd name="connsiteY5" fmla="*/ 167985 h 1007882"/>
              <a:gd name="connsiteX6" fmla="*/ 2139394 w 2139394"/>
              <a:gd name="connsiteY6" fmla="*/ 839898 h 1007882"/>
              <a:gd name="connsiteX7" fmla="*/ 2090193 w 2139394"/>
              <a:gd name="connsiteY7" fmla="*/ 958681 h 1007882"/>
              <a:gd name="connsiteX8" fmla="*/ 1971410 w 2139394"/>
              <a:gd name="connsiteY8" fmla="*/ 1007882 h 1007882"/>
              <a:gd name="connsiteX9" fmla="*/ 167984 w 2139394"/>
              <a:gd name="connsiteY9" fmla="*/ 1007882 h 1007882"/>
              <a:gd name="connsiteX10" fmla="*/ 49201 w 2139394"/>
              <a:gd name="connsiteY10" fmla="*/ 958681 h 1007882"/>
              <a:gd name="connsiteX11" fmla="*/ 0 w 2139394"/>
              <a:gd name="connsiteY11" fmla="*/ 839898 h 1007882"/>
              <a:gd name="connsiteX12" fmla="*/ 0 w 2139394"/>
              <a:gd name="connsiteY12" fmla="*/ 167984 h 100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9394" h="1007882">
                <a:moveTo>
                  <a:pt x="0" y="167984"/>
                </a:moveTo>
                <a:cubicBezTo>
                  <a:pt x="0" y="123432"/>
                  <a:pt x="17698" y="80704"/>
                  <a:pt x="49202" y="49201"/>
                </a:cubicBezTo>
                <a:cubicBezTo>
                  <a:pt x="80705" y="17698"/>
                  <a:pt x="123433" y="0"/>
                  <a:pt x="167985" y="0"/>
                </a:cubicBezTo>
                <a:lnTo>
                  <a:pt x="1971410" y="0"/>
                </a:lnTo>
                <a:cubicBezTo>
                  <a:pt x="2015962" y="0"/>
                  <a:pt x="2058690" y="17698"/>
                  <a:pt x="2090193" y="49202"/>
                </a:cubicBezTo>
                <a:cubicBezTo>
                  <a:pt x="2121696" y="80705"/>
                  <a:pt x="2139394" y="123433"/>
                  <a:pt x="2139394" y="167985"/>
                </a:cubicBezTo>
                <a:lnTo>
                  <a:pt x="2139394" y="839898"/>
                </a:lnTo>
                <a:cubicBezTo>
                  <a:pt x="2139394" y="884450"/>
                  <a:pt x="2121696" y="927178"/>
                  <a:pt x="2090193" y="958681"/>
                </a:cubicBezTo>
                <a:cubicBezTo>
                  <a:pt x="2058690" y="990184"/>
                  <a:pt x="2015962" y="1007882"/>
                  <a:pt x="1971410" y="1007882"/>
                </a:cubicBezTo>
                <a:lnTo>
                  <a:pt x="167984" y="1007882"/>
                </a:lnTo>
                <a:cubicBezTo>
                  <a:pt x="123432" y="1007882"/>
                  <a:pt x="80704" y="990184"/>
                  <a:pt x="49201" y="958681"/>
                </a:cubicBezTo>
                <a:cubicBezTo>
                  <a:pt x="17698" y="927178"/>
                  <a:pt x="0" y="884450"/>
                  <a:pt x="0" y="839898"/>
                </a:cubicBezTo>
                <a:lnTo>
                  <a:pt x="0" y="167984"/>
                </a:lnTo>
                <a:close/>
              </a:path>
            </a:pathLst>
          </a:custGeom>
          <a:gradFill flip="none" rotWithShape="1">
            <a:gsLst>
              <a:gs pos="0">
                <a:schemeClr val="accent3"/>
              </a:gs>
              <a:gs pos="100000">
                <a:schemeClr val="accent3">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r>
              <a:rPr lang="zh-CN" altLang="en-US" b="1" dirty="0">
                <a:solidFill>
                  <a:schemeClr val="tx1"/>
                </a:solidFill>
                <a:latin typeface="+mj-ea"/>
                <a:ea typeface="+mj-ea"/>
              </a:rPr>
              <a:t>场景</a:t>
            </a:r>
            <a:r>
              <a:rPr lang="en-US" altLang="zh-CN" b="1" dirty="0">
                <a:solidFill>
                  <a:schemeClr val="tx1"/>
                </a:solidFill>
                <a:latin typeface="+mj-ea"/>
                <a:ea typeface="+mj-ea"/>
              </a:rPr>
              <a:t> #3</a:t>
            </a:r>
          </a:p>
        </p:txBody>
      </p:sp>
    </p:spTree>
    <p:extLst>
      <p:ext uri="{BB962C8B-B14F-4D97-AF65-F5344CB8AC3E}">
        <p14:creationId xmlns:p14="http://schemas.microsoft.com/office/powerpoint/2010/main" val="2473071127"/>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直接箭头连接符 6">
            <a:extLst>
              <a:ext uri="{C183D7F6-B498-43B3-948B-1728B52AA6E4}">
                <adec:decorative xmlns:adec="http://schemas.microsoft.com/office/drawing/2017/decorative" val="1"/>
              </a:ext>
            </a:extLst>
          </p:cNvPr>
          <p:cNvCxnSpPr/>
          <p:nvPr/>
        </p:nvCxnSpPr>
        <p:spPr>
          <a:xfrm>
            <a:off x="1227667" y="3378200"/>
            <a:ext cx="93345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 name="直接箭头连接符 13" descr="Date"/>
          <p:cNvCxnSpPr>
            <a:stCxn id="26631" idx="2"/>
          </p:cNvCxnSpPr>
          <p:nvPr/>
        </p:nvCxnSpPr>
        <p:spPr>
          <a:xfrm flipH="1">
            <a:off x="4320117" y="2659544"/>
            <a:ext cx="1" cy="69325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 name="直接箭头连接符 15"/>
          <p:cNvCxnSpPr>
            <a:cxnSpLocks/>
            <a:stCxn id="26632" idx="2"/>
          </p:cNvCxnSpPr>
          <p:nvPr/>
        </p:nvCxnSpPr>
        <p:spPr>
          <a:xfrm>
            <a:off x="6817785" y="2625315"/>
            <a:ext cx="0" cy="75288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23"/>
          <p:cNvCxnSpPr/>
          <p:nvPr/>
        </p:nvCxnSpPr>
        <p:spPr>
          <a:xfrm flipV="1">
            <a:off x="3266017" y="3378201"/>
            <a:ext cx="0" cy="67310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35"/>
          <p:cNvCxnSpPr/>
          <p:nvPr/>
        </p:nvCxnSpPr>
        <p:spPr>
          <a:xfrm flipV="1">
            <a:off x="3266017" y="4254500"/>
            <a:ext cx="0" cy="67098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6631" name="矩形 27"/>
          <p:cNvSpPr/>
          <p:nvPr/>
        </p:nvSpPr>
        <p:spPr>
          <a:xfrm>
            <a:off x="3600451" y="2290234"/>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rgbClr val="FFFFFF"/>
                </a:solidFill>
                <a:latin typeface="+mj-ea"/>
                <a:ea typeface="+mj-ea"/>
              </a:rPr>
              <a:t>需求</a:t>
            </a:r>
            <a:r>
              <a:rPr lang="en-US" altLang="zh-CN" sz="1600" b="1" dirty="0">
                <a:solidFill>
                  <a:srgbClr val="FFFFFF"/>
                </a:solidFill>
                <a:latin typeface="+mj-ea"/>
                <a:ea typeface="+mj-ea"/>
              </a:rPr>
              <a:t>1</a:t>
            </a:r>
            <a:endParaRPr lang="zh-CN" altLang="en-US" sz="1600" b="1" dirty="0">
              <a:solidFill>
                <a:srgbClr val="FFFFFF"/>
              </a:solidFill>
              <a:latin typeface="+mj-ea"/>
              <a:ea typeface="+mj-ea"/>
            </a:endParaRPr>
          </a:p>
        </p:txBody>
      </p:sp>
      <p:sp>
        <p:nvSpPr>
          <p:cNvPr id="26632" name="矩形 38"/>
          <p:cNvSpPr/>
          <p:nvPr/>
        </p:nvSpPr>
        <p:spPr>
          <a:xfrm>
            <a:off x="6098118" y="2256005"/>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rgbClr val="FFFFFF"/>
                </a:solidFill>
                <a:latin typeface="+mj-ea"/>
                <a:ea typeface="+mj-ea"/>
              </a:rPr>
              <a:t>需求</a:t>
            </a:r>
            <a:r>
              <a:rPr lang="en-US" altLang="zh-CN" sz="1600" b="1" dirty="0">
                <a:solidFill>
                  <a:srgbClr val="FFFFFF"/>
                </a:solidFill>
                <a:latin typeface="+mj-ea"/>
                <a:ea typeface="+mj-ea"/>
              </a:rPr>
              <a:t>2</a:t>
            </a:r>
            <a:endParaRPr lang="zh-CN" altLang="en-US" sz="1600" b="1" dirty="0">
              <a:solidFill>
                <a:srgbClr val="FFFFFF"/>
              </a:solidFill>
              <a:latin typeface="+mj-ea"/>
              <a:ea typeface="+mj-ea"/>
            </a:endParaRPr>
          </a:p>
        </p:txBody>
      </p:sp>
      <p:sp>
        <p:nvSpPr>
          <p:cNvPr id="26633" name="矩形 28"/>
          <p:cNvSpPr/>
          <p:nvPr/>
        </p:nvSpPr>
        <p:spPr>
          <a:xfrm>
            <a:off x="1682751" y="3570817"/>
            <a:ext cx="1392767" cy="369310"/>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rgbClr val="FFFFFF"/>
                </a:solidFill>
                <a:latin typeface="+mj-ea"/>
                <a:ea typeface="+mj-ea"/>
              </a:rPr>
              <a:t>库存</a:t>
            </a:r>
            <a:r>
              <a:rPr lang="en-US" altLang="zh-CN" sz="1600" b="1" dirty="0">
                <a:solidFill>
                  <a:srgbClr val="FFFFFF"/>
                </a:solidFill>
                <a:latin typeface="+mj-ea"/>
                <a:ea typeface="+mj-ea"/>
              </a:rPr>
              <a:t>A</a:t>
            </a:r>
            <a:endParaRPr lang="zh-CN" altLang="en-US" sz="1600" b="1" dirty="0">
              <a:solidFill>
                <a:srgbClr val="FFFFFF"/>
              </a:solidFill>
              <a:latin typeface="+mj-ea"/>
              <a:ea typeface="+mj-ea"/>
            </a:endParaRPr>
          </a:p>
        </p:txBody>
      </p:sp>
      <p:sp>
        <p:nvSpPr>
          <p:cNvPr id="26634" name="矩形 41"/>
          <p:cNvSpPr/>
          <p:nvPr/>
        </p:nvSpPr>
        <p:spPr>
          <a:xfrm>
            <a:off x="1682751" y="4385733"/>
            <a:ext cx="1392767"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rgbClr val="FFFFFF"/>
                </a:solidFill>
                <a:latin typeface="+mj-ea"/>
                <a:ea typeface="+mj-ea"/>
              </a:rPr>
              <a:t>库存</a:t>
            </a:r>
            <a:r>
              <a:rPr lang="en-US" altLang="zh-CN" sz="1600" b="1" dirty="0">
                <a:solidFill>
                  <a:srgbClr val="FFFFFF"/>
                </a:solidFill>
                <a:latin typeface="+mj-ea"/>
                <a:ea typeface="+mj-ea"/>
              </a:rPr>
              <a:t>B</a:t>
            </a:r>
            <a:endParaRPr lang="zh-CN" altLang="en-US" sz="1600" b="1" dirty="0">
              <a:solidFill>
                <a:srgbClr val="FFFFFF"/>
              </a:solidFill>
              <a:latin typeface="+mj-ea"/>
              <a:ea typeface="+mj-ea"/>
            </a:endParaRPr>
          </a:p>
        </p:txBody>
      </p:sp>
      <p:sp>
        <p:nvSpPr>
          <p:cNvPr id="11" name="Line 58"/>
          <p:cNvSpPr/>
          <p:nvPr/>
        </p:nvSpPr>
        <p:spPr>
          <a:xfrm flipH="1">
            <a:off x="3266018" y="2995085"/>
            <a:ext cx="3551767" cy="781049"/>
          </a:xfrm>
          <a:prstGeom prst="line">
            <a:avLst/>
          </a:prstGeom>
          <a:ln>
            <a:solidFill>
              <a:schemeClr val="tx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latin typeface="+mj-ea"/>
              <a:ea typeface="+mj-ea"/>
            </a:endParaRPr>
          </a:p>
        </p:txBody>
      </p:sp>
      <p:sp>
        <p:nvSpPr>
          <p:cNvPr id="12" name="Line 58"/>
          <p:cNvSpPr/>
          <p:nvPr/>
        </p:nvSpPr>
        <p:spPr>
          <a:xfrm flipH="1">
            <a:off x="3274485" y="2995084"/>
            <a:ext cx="3543300" cy="2224616"/>
          </a:xfrm>
          <a:prstGeom prst="line">
            <a:avLst/>
          </a:prstGeom>
          <a:ln>
            <a:solidFill>
              <a:schemeClr val="tx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latin typeface="+mj-ea"/>
              <a:ea typeface="+mj-ea"/>
            </a:endParaRPr>
          </a:p>
        </p:txBody>
      </p:sp>
      <p:sp>
        <p:nvSpPr>
          <p:cNvPr id="13" name="矩形标注 12"/>
          <p:cNvSpPr/>
          <p:nvPr/>
        </p:nvSpPr>
        <p:spPr>
          <a:xfrm>
            <a:off x="6115051" y="1363133"/>
            <a:ext cx="1439333" cy="567267"/>
          </a:xfrm>
          <a:prstGeom prst="wedgeRectCallout">
            <a:avLst>
              <a:gd name="adj1" fmla="val 782"/>
              <a:gd name="adj2" fmla="val 90562"/>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b="1" dirty="0">
                <a:solidFill>
                  <a:srgbClr val="FFFFFF"/>
                </a:solidFill>
                <a:latin typeface="+mj-ea"/>
                <a:ea typeface="+mj-ea"/>
                <a:cs typeface="微软雅黑" panose="020B0503020204020204" pitchFamily="34" charset="-122"/>
              </a:rPr>
              <a:t>交付计划</a:t>
            </a:r>
          </a:p>
        </p:txBody>
      </p:sp>
      <p:sp>
        <p:nvSpPr>
          <p:cNvPr id="14" name="矩形标注 13"/>
          <p:cNvSpPr/>
          <p:nvPr/>
        </p:nvSpPr>
        <p:spPr>
          <a:xfrm>
            <a:off x="3562351" y="1422400"/>
            <a:ext cx="1439333" cy="508000"/>
          </a:xfrm>
          <a:prstGeom prst="wedgeRectCallout">
            <a:avLst>
              <a:gd name="adj1" fmla="val 782"/>
              <a:gd name="adj2" fmla="val 90562"/>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dirty="0">
                <a:solidFill>
                  <a:srgbClr val="FFFFFF"/>
                </a:solidFill>
                <a:latin typeface="+mj-ea"/>
                <a:ea typeface="+mj-ea"/>
                <a:cs typeface="微软雅黑" panose="020B0503020204020204" pitchFamily="34" charset="-122"/>
              </a:rPr>
              <a:t>交付计划</a:t>
            </a:r>
          </a:p>
        </p:txBody>
      </p:sp>
      <p:sp>
        <p:nvSpPr>
          <p:cNvPr id="15" name="Line 58"/>
          <p:cNvSpPr/>
          <p:nvPr/>
        </p:nvSpPr>
        <p:spPr>
          <a:xfrm flipH="1">
            <a:off x="3274484" y="2950633"/>
            <a:ext cx="1007533" cy="1651000"/>
          </a:xfrm>
          <a:prstGeom prst="line">
            <a:avLst/>
          </a:prstGeom>
          <a:ln w="9525" cap="flat" cmpd="sng">
            <a:solidFill>
              <a:schemeClr val="tx1"/>
            </a:solidFill>
            <a:prstDash val="dashDot"/>
            <a:headEnd type="none" w="med" len="med"/>
            <a:tailEnd type="triangle" w="med" len="med"/>
          </a:ln>
        </p:spPr>
        <p:txBody>
          <a:bodyPr/>
          <a:lstStyle/>
          <a:p>
            <a:endParaRPr lang="zh-CN" altLang="en-US">
              <a:latin typeface="+mj-ea"/>
              <a:ea typeface="+mj-ea"/>
            </a:endParaRPr>
          </a:p>
        </p:txBody>
      </p:sp>
      <p:sp>
        <p:nvSpPr>
          <p:cNvPr id="16" name="Line 58"/>
          <p:cNvSpPr/>
          <p:nvPr/>
        </p:nvSpPr>
        <p:spPr>
          <a:xfrm flipH="1">
            <a:off x="3266018" y="2971801"/>
            <a:ext cx="999065" cy="804332"/>
          </a:xfrm>
          <a:prstGeom prst="line">
            <a:avLst/>
          </a:prstGeom>
          <a:ln w="9525" cap="flat" cmpd="sng">
            <a:solidFill>
              <a:schemeClr val="tx1"/>
            </a:solidFill>
            <a:prstDash val="solid"/>
            <a:headEnd type="none" w="med" len="med"/>
            <a:tailEnd type="triangle" w="med" len="med"/>
          </a:ln>
        </p:spPr>
        <p:txBody>
          <a:bodyPr/>
          <a:lstStyle/>
          <a:p>
            <a:endParaRPr lang="zh-CN" altLang="en-US">
              <a:latin typeface="+mj-ea"/>
              <a:ea typeface="+mj-ea"/>
            </a:endParaRPr>
          </a:p>
        </p:txBody>
      </p:sp>
      <p:sp>
        <p:nvSpPr>
          <p:cNvPr id="17" name="Line 58"/>
          <p:cNvSpPr/>
          <p:nvPr/>
        </p:nvSpPr>
        <p:spPr>
          <a:xfrm flipH="1">
            <a:off x="3266018" y="2940049"/>
            <a:ext cx="1007533" cy="1651001"/>
          </a:xfrm>
          <a:prstGeom prst="line">
            <a:avLst/>
          </a:prstGeom>
          <a:ln>
            <a:solidFill>
              <a:schemeClr val="tx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latin typeface="+mj-ea"/>
              <a:ea typeface="+mj-ea"/>
            </a:endParaRPr>
          </a:p>
        </p:txBody>
      </p:sp>
      <p:sp>
        <p:nvSpPr>
          <p:cNvPr id="18" name="矩形标注 17"/>
          <p:cNvSpPr/>
          <p:nvPr/>
        </p:nvSpPr>
        <p:spPr>
          <a:xfrm>
            <a:off x="3562351" y="1420408"/>
            <a:ext cx="1439333" cy="510117"/>
          </a:xfrm>
          <a:prstGeom prst="wedgeRectCallout">
            <a:avLst>
              <a:gd name="adj1" fmla="val 782"/>
              <a:gd name="adj2" fmla="val 90562"/>
            </a:avLst>
          </a:prstGeom>
          <a:solidFill>
            <a:srgbClr val="66009B"/>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467" b="1" dirty="0">
                <a:solidFill>
                  <a:srgbClr val="FFFFFF"/>
                </a:solidFill>
                <a:latin typeface="+mj-ea"/>
                <a:ea typeface="+mj-ea"/>
                <a:cs typeface="微软雅黑" panose="020B0503020204020204" pitchFamily="34" charset="-122"/>
              </a:rPr>
              <a:t>生产计划</a:t>
            </a:r>
          </a:p>
        </p:txBody>
      </p:sp>
      <p:sp>
        <p:nvSpPr>
          <p:cNvPr id="19" name="TextBox 74"/>
          <p:cNvSpPr txBox="1"/>
          <p:nvPr/>
        </p:nvSpPr>
        <p:spPr>
          <a:xfrm>
            <a:off x="8303683" y="2044013"/>
            <a:ext cx="4188884" cy="861752"/>
          </a:xfrm>
          <a:prstGeom prst="rect">
            <a:avLst/>
          </a:prstGeom>
          <a:no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600" dirty="0">
                <a:latin typeface="+mj-ea"/>
                <a:ea typeface="+mj-ea"/>
              </a:rPr>
              <a:t>生产计划：</a:t>
            </a:r>
            <a:endParaRPr lang="en-US" altLang="zh-CN" sz="1600" dirty="0">
              <a:latin typeface="+mj-ea"/>
              <a:ea typeface="+mj-ea"/>
            </a:endParaRPr>
          </a:p>
          <a:p>
            <a:pPr defTabSz="1217476" eaLnBrk="1" hangingPunct="1">
              <a:spcBef>
                <a:spcPct val="0"/>
              </a:spcBef>
            </a:pPr>
            <a:r>
              <a:rPr lang="en-US" altLang="zh-CN" sz="1600" dirty="0">
                <a:latin typeface="+mj-ea"/>
                <a:ea typeface="+mj-ea"/>
              </a:rPr>
              <a:t> </a:t>
            </a:r>
            <a:r>
              <a:rPr lang="zh-CN" altLang="en-US" sz="1600" dirty="0">
                <a:latin typeface="+mj-ea"/>
                <a:ea typeface="+mj-ea"/>
              </a:rPr>
              <a:t>需求</a:t>
            </a:r>
            <a:r>
              <a:rPr lang="en-US" altLang="zh-CN" sz="1600" dirty="0">
                <a:latin typeface="+mj-ea"/>
                <a:ea typeface="+mj-ea"/>
              </a:rPr>
              <a:t>1</a:t>
            </a:r>
            <a:r>
              <a:rPr lang="zh-CN" altLang="en-US" sz="1600" dirty="0">
                <a:latin typeface="+mj-ea"/>
                <a:ea typeface="+mj-ea"/>
              </a:rPr>
              <a:t>立即安排生产</a:t>
            </a:r>
            <a:endParaRPr lang="en-US" altLang="zh-CN" sz="1600" dirty="0">
              <a:latin typeface="+mj-ea"/>
              <a:ea typeface="+mj-ea"/>
            </a:endParaRPr>
          </a:p>
          <a:p>
            <a:pPr defTabSz="1217476" eaLnBrk="1" hangingPunct="1">
              <a:spcBef>
                <a:spcPct val="0"/>
              </a:spcBef>
            </a:pPr>
            <a:r>
              <a:rPr lang="en-US" altLang="zh-CN" sz="1600" dirty="0">
                <a:latin typeface="+mj-ea"/>
                <a:ea typeface="+mj-ea"/>
              </a:rPr>
              <a:t> </a:t>
            </a:r>
            <a:r>
              <a:rPr lang="zh-CN" altLang="en-US" sz="1600" dirty="0">
                <a:latin typeface="+mj-ea"/>
                <a:ea typeface="+mj-ea"/>
              </a:rPr>
              <a:t>需求</a:t>
            </a:r>
            <a:r>
              <a:rPr lang="en-US" altLang="zh-CN" sz="1600" dirty="0">
                <a:latin typeface="+mj-ea"/>
                <a:ea typeface="+mj-ea"/>
              </a:rPr>
              <a:t>2</a:t>
            </a:r>
            <a:r>
              <a:rPr lang="zh-CN" altLang="en-US" sz="1600" dirty="0">
                <a:latin typeface="+mj-ea"/>
                <a:ea typeface="+mj-ea"/>
              </a:rPr>
              <a:t>短缺</a:t>
            </a:r>
          </a:p>
        </p:txBody>
      </p:sp>
      <p:cxnSp>
        <p:nvCxnSpPr>
          <p:cNvPr id="20" name="直接连接符 7"/>
          <p:cNvCxnSpPr/>
          <p:nvPr/>
        </p:nvCxnSpPr>
        <p:spPr>
          <a:xfrm>
            <a:off x="5541433" y="1329268"/>
            <a:ext cx="0" cy="4068233"/>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1" name="圆角矩形标注 20"/>
          <p:cNvSpPr/>
          <p:nvPr/>
        </p:nvSpPr>
        <p:spPr>
          <a:xfrm>
            <a:off x="5651501" y="5372100"/>
            <a:ext cx="1392767" cy="609600"/>
          </a:xfrm>
          <a:prstGeom prst="wedgeRoundRectCallout">
            <a:avLst>
              <a:gd name="adj1" fmla="val -56580"/>
              <a:gd name="adj2" fmla="val -105809"/>
              <a:gd name="adj3" fmla="val 16667"/>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b="1" dirty="0">
                <a:solidFill>
                  <a:srgbClr val="FFFFFF"/>
                </a:solidFill>
                <a:latin typeface="+mj-ea"/>
                <a:ea typeface="+mj-ea"/>
                <a:cs typeface="黑体" panose="02010609060101010101" charset="-122"/>
              </a:rPr>
              <a:t>生产计划窗口</a:t>
            </a:r>
          </a:p>
        </p:txBody>
      </p:sp>
      <p:sp>
        <p:nvSpPr>
          <p:cNvPr id="22" name="圆角矩形 21"/>
          <p:cNvSpPr/>
          <p:nvPr/>
        </p:nvSpPr>
        <p:spPr>
          <a:xfrm>
            <a:off x="7808382" y="3784600"/>
            <a:ext cx="4001495" cy="1164167"/>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defTabSz="1217476" fontAlgn="base">
              <a:spcBef>
                <a:spcPct val="0"/>
              </a:spcBef>
              <a:spcAft>
                <a:spcPct val="0"/>
              </a:spcAft>
              <a:defRPr/>
            </a:pPr>
            <a:r>
              <a:rPr lang="zh-CN" altLang="en-US" sz="1600" b="1" dirty="0">
                <a:solidFill>
                  <a:schemeClr val="tx1"/>
                </a:solidFill>
                <a:latin typeface="+mj-ea"/>
                <a:ea typeface="+mj-ea"/>
                <a:cs typeface="Arial Unicode MS" charset="0"/>
              </a:rPr>
              <a:t>需求范围不一致引发交付和生产矛盾：</a:t>
            </a:r>
            <a:endParaRPr lang="en-US" altLang="zh-CN" sz="1600" b="1" dirty="0">
              <a:solidFill>
                <a:schemeClr val="tx1"/>
              </a:solidFill>
              <a:latin typeface="+mj-ea"/>
              <a:ea typeface="+mj-ea"/>
              <a:cs typeface="Arial Unicode MS" charset="0"/>
            </a:endParaRPr>
          </a:p>
          <a:p>
            <a:pPr marL="742950" lvl="1" indent="-285750" defTabSz="1217476" fontAlgn="base">
              <a:spcBef>
                <a:spcPct val="0"/>
              </a:spcBef>
              <a:spcAft>
                <a:spcPct val="0"/>
              </a:spcAft>
              <a:buFont typeface="Arial" panose="020B0604020202020204" pitchFamily="34" charset="0"/>
              <a:buChar char="•"/>
              <a:defRPr/>
            </a:pPr>
            <a:r>
              <a:rPr lang="zh-CN" altLang="en-US" sz="1600" dirty="0">
                <a:solidFill>
                  <a:schemeClr val="tx1"/>
                </a:solidFill>
                <a:latin typeface="+mj-ea"/>
                <a:ea typeface="+mj-ea"/>
                <a:cs typeface="Arial Unicode MS" charset="0"/>
              </a:rPr>
              <a:t>交付计划考虑所有订单</a:t>
            </a:r>
            <a:endParaRPr lang="en-US" altLang="zh-CN" sz="1600" dirty="0">
              <a:solidFill>
                <a:schemeClr val="tx1"/>
              </a:solidFill>
              <a:latin typeface="+mj-ea"/>
              <a:ea typeface="+mj-ea"/>
              <a:cs typeface="Arial Unicode MS" charset="0"/>
            </a:endParaRPr>
          </a:p>
          <a:p>
            <a:pPr marL="742950" lvl="1" indent="-285750" defTabSz="1217476" fontAlgn="base">
              <a:spcBef>
                <a:spcPct val="0"/>
              </a:spcBef>
              <a:spcAft>
                <a:spcPct val="0"/>
              </a:spcAft>
              <a:buFont typeface="Arial" panose="020B0604020202020204" pitchFamily="34" charset="0"/>
              <a:buChar char="•"/>
              <a:defRPr/>
            </a:pPr>
            <a:r>
              <a:rPr lang="zh-CN" altLang="en-US" sz="1600" dirty="0">
                <a:solidFill>
                  <a:schemeClr val="tx1"/>
                </a:solidFill>
                <a:latin typeface="+mj-ea"/>
                <a:ea typeface="+mj-ea"/>
                <a:cs typeface="Arial Unicode MS" charset="0"/>
              </a:rPr>
              <a:t>生产计划只考虑近期会发的订单</a:t>
            </a:r>
          </a:p>
        </p:txBody>
      </p:sp>
      <p:sp>
        <p:nvSpPr>
          <p:cNvPr id="23" name="TextBox 39"/>
          <p:cNvSpPr txBox="1"/>
          <p:nvPr/>
        </p:nvSpPr>
        <p:spPr>
          <a:xfrm>
            <a:off x="3233699" y="3510342"/>
            <a:ext cx="1568045" cy="369310"/>
          </a:xfrm>
          <a:prstGeom prst="rect">
            <a:avLst/>
          </a:prstGeom>
          <a:noFill/>
          <a:scene3d>
            <a:camera prst="orthographicFront">
              <a:rot lat="1195241" lon="109017" rev="3619146"/>
            </a:camera>
            <a:lightRig rig="threePt" dir="t"/>
          </a:scene3d>
        </p:spPr>
        <p:txBody>
          <a:bodyPr lIns="121899" tIns="60949" rIns="121899" bIns="60949">
            <a:spAutoFit/>
          </a:bodyPr>
          <a:lstStyle/>
          <a:p>
            <a:pPr defTabSz="1219170">
              <a:defRPr/>
            </a:pPr>
            <a:r>
              <a:rPr lang="en-US" altLang="zh-CN" sz="1600" dirty="0" err="1">
                <a:latin typeface="+mj-ea"/>
                <a:ea typeface="+mj-ea"/>
              </a:rPr>
              <a:t>unkitted</a:t>
            </a:r>
            <a:endParaRPr lang="zh-CN" altLang="en-US" sz="1600" dirty="0">
              <a:latin typeface="+mj-ea"/>
              <a:ea typeface="+mj-ea"/>
            </a:endParaRPr>
          </a:p>
        </p:txBody>
      </p:sp>
      <p:sp>
        <p:nvSpPr>
          <p:cNvPr id="26648" name="Title 44"/>
          <p:cNvSpPr>
            <a:spLocks noGrp="1"/>
          </p:cNvSpPr>
          <p:nvPr>
            <p:ph type="title" idx="4294967295"/>
          </p:nvPr>
        </p:nvSpPr>
        <p:spPr>
          <a:xfrm>
            <a:off x="1116013" y="165100"/>
            <a:ext cx="11075987" cy="520700"/>
          </a:xfrm>
          <a:prstGeom prst="rect">
            <a:avLst/>
          </a:prstGeom>
        </p:spPr>
        <p:txBody>
          <a:bodyPr vert="horz" lIns="91440" tIns="45720" rIns="91440" bIns="45720" rtlCol="0" anchor="b">
            <a:normAutofit/>
          </a:bodyPr>
          <a:lstStyle/>
          <a:p>
            <a:r>
              <a:rPr lang="zh-CN" altLang="en-US" sz="2400" dirty="0">
                <a:solidFill>
                  <a:schemeClr val="tx1"/>
                </a:solidFill>
                <a:latin typeface="+mj-ea"/>
              </a:rPr>
              <a:t>场景</a:t>
            </a:r>
            <a:r>
              <a:rPr lang="en-US" altLang="zh-CN" sz="2400" dirty="0">
                <a:solidFill>
                  <a:schemeClr val="tx1"/>
                </a:solidFill>
                <a:latin typeface="+mj-ea"/>
              </a:rPr>
              <a:t> #1: </a:t>
            </a:r>
            <a:r>
              <a:rPr lang="zh-CN" altLang="en-US" dirty="0">
                <a:latin typeface="+mj-ea"/>
              </a:rPr>
              <a:t>挑战</a:t>
            </a:r>
            <a:r>
              <a:rPr lang="en-US" altLang="zh-CN" sz="2400" dirty="0">
                <a:solidFill>
                  <a:schemeClr val="tx1"/>
                </a:solidFill>
                <a:latin typeface="+mj-ea"/>
              </a:rPr>
              <a:t> A</a:t>
            </a:r>
          </a:p>
        </p:txBody>
      </p:sp>
      <p:sp>
        <p:nvSpPr>
          <p:cNvPr id="26649" name="矩形 41"/>
          <p:cNvSpPr/>
          <p:nvPr/>
        </p:nvSpPr>
        <p:spPr>
          <a:xfrm>
            <a:off x="1682751" y="5120217"/>
            <a:ext cx="1392767"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rgbClr val="FFFFFF"/>
                </a:solidFill>
                <a:latin typeface="+mj-ea"/>
                <a:ea typeface="+mj-ea"/>
              </a:rPr>
              <a:t>库存</a:t>
            </a:r>
            <a:r>
              <a:rPr lang="en-US" altLang="zh-CN" sz="1600" b="1" dirty="0">
                <a:solidFill>
                  <a:srgbClr val="FFFFFF"/>
                </a:solidFill>
                <a:latin typeface="+mj-ea"/>
                <a:ea typeface="+mj-ea"/>
              </a:rPr>
              <a:t>C</a:t>
            </a:r>
            <a:endParaRPr lang="zh-CN" altLang="en-US" sz="1600" b="1" dirty="0">
              <a:solidFill>
                <a:srgbClr val="FFFFFF"/>
              </a:solidFill>
              <a:latin typeface="+mj-ea"/>
              <a:ea typeface="+mj-ea"/>
            </a:endParaRPr>
          </a:p>
        </p:txBody>
      </p:sp>
      <p:cxnSp>
        <p:nvCxnSpPr>
          <p:cNvPr id="26" name="直接箭头连接符 35"/>
          <p:cNvCxnSpPr/>
          <p:nvPr/>
        </p:nvCxnSpPr>
        <p:spPr>
          <a:xfrm flipV="1">
            <a:off x="3274484" y="5005917"/>
            <a:ext cx="0" cy="67098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7" name="TextBox 33"/>
          <p:cNvSpPr txBox="1"/>
          <p:nvPr/>
        </p:nvSpPr>
        <p:spPr>
          <a:xfrm>
            <a:off x="8303683" y="844651"/>
            <a:ext cx="4188884" cy="861752"/>
          </a:xfrm>
          <a:prstGeom prst="rect">
            <a:avLst/>
          </a:prstGeom>
          <a:no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600" dirty="0">
                <a:latin typeface="+mj-ea"/>
                <a:ea typeface="+mj-ea"/>
              </a:rPr>
              <a:t>交付计划：</a:t>
            </a:r>
            <a:endParaRPr lang="en-US" altLang="zh-CN" sz="1600" dirty="0">
              <a:latin typeface="+mj-ea"/>
              <a:ea typeface="+mj-ea"/>
            </a:endParaRPr>
          </a:p>
          <a:p>
            <a:pPr defTabSz="1217476" eaLnBrk="1" hangingPunct="1">
              <a:spcBef>
                <a:spcPct val="0"/>
              </a:spcBef>
            </a:pPr>
            <a:r>
              <a:rPr lang="zh-CN" altLang="en-US" sz="1600" dirty="0">
                <a:latin typeface="+mj-ea"/>
                <a:ea typeface="+mj-ea"/>
              </a:rPr>
              <a:t>需求</a:t>
            </a:r>
            <a:r>
              <a:rPr lang="en-US" altLang="zh-CN" sz="1600" dirty="0">
                <a:latin typeface="+mj-ea"/>
                <a:ea typeface="+mj-ea"/>
              </a:rPr>
              <a:t>1</a:t>
            </a:r>
            <a:r>
              <a:rPr lang="zh-CN" altLang="en-US" sz="1600" dirty="0">
                <a:latin typeface="+mj-ea"/>
                <a:ea typeface="+mj-ea"/>
              </a:rPr>
              <a:t>短缺</a:t>
            </a:r>
            <a:r>
              <a:rPr lang="en-US" altLang="zh-CN" sz="1600" dirty="0">
                <a:latin typeface="+mj-ea"/>
                <a:ea typeface="+mj-ea"/>
              </a:rPr>
              <a:t>: Order No Supply</a:t>
            </a:r>
          </a:p>
          <a:p>
            <a:pPr defTabSz="1217476" eaLnBrk="1" hangingPunct="1">
              <a:spcBef>
                <a:spcPct val="0"/>
              </a:spcBef>
            </a:pPr>
            <a:r>
              <a:rPr lang="zh-CN" altLang="en-US" sz="1600" dirty="0">
                <a:latin typeface="+mj-ea"/>
                <a:ea typeface="+mj-ea"/>
              </a:rPr>
              <a:t>需求</a:t>
            </a:r>
            <a:r>
              <a:rPr lang="en-US" altLang="zh-CN" sz="1600" dirty="0">
                <a:latin typeface="+mj-ea"/>
                <a:ea typeface="+mj-ea"/>
              </a:rPr>
              <a:t>2: </a:t>
            </a:r>
            <a:r>
              <a:rPr lang="zh-CN" altLang="en-US" sz="1600" dirty="0">
                <a:latin typeface="+mj-ea"/>
                <a:ea typeface="+mj-ea"/>
              </a:rPr>
              <a:t>在</a:t>
            </a:r>
            <a:r>
              <a:rPr lang="en-US" altLang="zh-CN" sz="1600" dirty="0">
                <a:latin typeface="+mj-ea"/>
                <a:ea typeface="+mj-ea"/>
              </a:rPr>
              <a:t>Day11</a:t>
            </a:r>
            <a:r>
              <a:rPr lang="zh-CN" altLang="en-US" sz="1600" dirty="0">
                <a:latin typeface="+mj-ea"/>
                <a:ea typeface="+mj-ea"/>
              </a:rPr>
              <a:t>交付</a:t>
            </a:r>
          </a:p>
        </p:txBody>
      </p:sp>
      <p:sp>
        <p:nvSpPr>
          <p:cNvPr id="26652" name="文本框 1"/>
          <p:cNvSpPr txBox="1"/>
          <p:nvPr/>
        </p:nvSpPr>
        <p:spPr>
          <a:xfrm>
            <a:off x="3522134" y="916518"/>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latin typeface="+mj-ea"/>
                <a:ea typeface="+mj-ea"/>
                <a:cs typeface="Arial" panose="020B0604020202020204" pitchFamily="34" charset="0"/>
              </a:rPr>
              <a:t>第</a:t>
            </a:r>
            <a:r>
              <a:rPr lang="en-US" altLang="zh-CN" sz="1733" b="1" dirty="0">
                <a:latin typeface="+mj-ea"/>
                <a:ea typeface="+mj-ea"/>
                <a:cs typeface="Arial" panose="020B0604020202020204" pitchFamily="34" charset="0"/>
              </a:rPr>
              <a:t>10</a:t>
            </a:r>
            <a:r>
              <a:rPr lang="zh-CN" altLang="en-US" sz="1733" b="1" dirty="0">
                <a:latin typeface="+mj-ea"/>
                <a:ea typeface="+mj-ea"/>
                <a:cs typeface="Arial" panose="020B0604020202020204" pitchFamily="34" charset="0"/>
              </a:rPr>
              <a:t>天</a:t>
            </a:r>
            <a:endParaRPr lang="zh-CN" altLang="en-US" sz="1733" b="1" dirty="0">
              <a:latin typeface="+mj-ea"/>
              <a:ea typeface="+mj-ea"/>
            </a:endParaRPr>
          </a:p>
        </p:txBody>
      </p:sp>
      <p:sp>
        <p:nvSpPr>
          <p:cNvPr id="26653" name="文本框 1"/>
          <p:cNvSpPr txBox="1"/>
          <p:nvPr/>
        </p:nvSpPr>
        <p:spPr>
          <a:xfrm>
            <a:off x="6060018" y="889001"/>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latin typeface="+mj-ea"/>
                <a:ea typeface="+mj-ea"/>
                <a:cs typeface="Arial" panose="020B0604020202020204" pitchFamily="34" charset="0"/>
              </a:rPr>
              <a:t>第</a:t>
            </a:r>
            <a:r>
              <a:rPr lang="en-US" altLang="zh-CN" sz="1733" b="1" dirty="0">
                <a:latin typeface="+mj-ea"/>
                <a:ea typeface="+mj-ea"/>
                <a:cs typeface="Arial" panose="020B0604020202020204" pitchFamily="34" charset="0"/>
              </a:rPr>
              <a:t>11</a:t>
            </a:r>
            <a:r>
              <a:rPr lang="zh-CN" altLang="en-US" sz="1733" b="1" dirty="0">
                <a:latin typeface="+mj-ea"/>
                <a:ea typeface="+mj-ea"/>
                <a:cs typeface="Arial" panose="020B0604020202020204" pitchFamily="34" charset="0"/>
              </a:rPr>
              <a:t>天</a:t>
            </a:r>
            <a:endParaRPr lang="zh-CN" altLang="en-US" sz="1733" b="1" dirty="0">
              <a:latin typeface="+mj-ea"/>
              <a:ea typeface="+mj-ea"/>
            </a:endParaRPr>
          </a:p>
        </p:txBody>
      </p:sp>
      <p:sp>
        <p:nvSpPr>
          <p:cNvPr id="26654" name="TextBox 30"/>
          <p:cNvSpPr txBox="1"/>
          <p:nvPr/>
        </p:nvSpPr>
        <p:spPr>
          <a:xfrm>
            <a:off x="252943" y="880502"/>
            <a:ext cx="3159124" cy="1354195"/>
          </a:xfrm>
          <a:prstGeom prst="rect">
            <a:avLst/>
          </a:prstGeom>
          <a:no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600" b="1" dirty="0">
                <a:latin typeface="+mj-ea"/>
                <a:ea typeface="+mj-ea"/>
              </a:rPr>
              <a:t>场景</a:t>
            </a:r>
            <a:r>
              <a:rPr lang="en-US" altLang="zh-CN" sz="1600" b="1" dirty="0">
                <a:latin typeface="+mj-ea"/>
                <a:ea typeface="+mj-ea"/>
              </a:rPr>
              <a:t>:</a:t>
            </a:r>
          </a:p>
          <a:p>
            <a:pPr marL="0" indent="0" defTabSz="1217476" eaLnBrk="1" hangingPunct="1">
              <a:spcBef>
                <a:spcPct val="0"/>
              </a:spcBef>
            </a:pPr>
            <a:r>
              <a:rPr lang="zh-CN" altLang="en-US" sz="1600" dirty="0">
                <a:latin typeface="+mj-ea"/>
                <a:ea typeface="+mj-ea"/>
              </a:rPr>
              <a:t>需求</a:t>
            </a:r>
            <a:r>
              <a:rPr lang="en-US" altLang="zh-CN" sz="1600" dirty="0">
                <a:latin typeface="+mj-ea"/>
                <a:ea typeface="+mj-ea"/>
              </a:rPr>
              <a:t>1</a:t>
            </a:r>
            <a:r>
              <a:rPr lang="zh-CN" altLang="en-US" sz="1600" dirty="0">
                <a:latin typeface="+mj-ea"/>
                <a:ea typeface="+mj-ea"/>
              </a:rPr>
              <a:t>由</a:t>
            </a:r>
            <a:r>
              <a:rPr lang="en-US" altLang="zh-CN" sz="1600" dirty="0">
                <a:latin typeface="+mj-ea"/>
                <a:ea typeface="+mj-ea"/>
              </a:rPr>
              <a:t>A</a:t>
            </a:r>
            <a:r>
              <a:rPr lang="zh-CN" altLang="en-US" sz="1600" dirty="0">
                <a:latin typeface="+mj-ea"/>
                <a:ea typeface="+mj-ea"/>
              </a:rPr>
              <a:t>和</a:t>
            </a:r>
            <a:r>
              <a:rPr lang="en-US" altLang="zh-CN" sz="1600" dirty="0">
                <a:latin typeface="+mj-ea"/>
                <a:ea typeface="+mj-ea"/>
              </a:rPr>
              <a:t>B</a:t>
            </a:r>
            <a:r>
              <a:rPr lang="zh-CN" altLang="en-US" sz="1600" dirty="0">
                <a:latin typeface="+mj-ea"/>
                <a:ea typeface="+mj-ea"/>
              </a:rPr>
              <a:t>生产</a:t>
            </a:r>
            <a:endParaRPr lang="en-US" altLang="zh-CN" sz="1600" dirty="0">
              <a:latin typeface="+mj-ea"/>
              <a:ea typeface="+mj-ea"/>
            </a:endParaRPr>
          </a:p>
          <a:p>
            <a:pPr marL="0" indent="0" defTabSz="1217476" eaLnBrk="1" hangingPunct="1">
              <a:spcBef>
                <a:spcPct val="0"/>
              </a:spcBef>
            </a:pPr>
            <a:r>
              <a:rPr lang="zh-CN" altLang="en-US" sz="1600" dirty="0">
                <a:latin typeface="+mj-ea"/>
                <a:ea typeface="+mj-ea"/>
              </a:rPr>
              <a:t>需求</a:t>
            </a:r>
            <a:r>
              <a:rPr lang="en-US" altLang="zh-CN" sz="1600" dirty="0">
                <a:latin typeface="+mj-ea"/>
                <a:ea typeface="+mj-ea"/>
              </a:rPr>
              <a:t>2</a:t>
            </a:r>
            <a:r>
              <a:rPr lang="zh-CN" altLang="en-US" sz="1600" dirty="0">
                <a:latin typeface="+mj-ea"/>
                <a:ea typeface="+mj-ea"/>
              </a:rPr>
              <a:t>由</a:t>
            </a:r>
            <a:r>
              <a:rPr lang="en-US" altLang="zh-CN" sz="1600" dirty="0">
                <a:latin typeface="+mj-ea"/>
                <a:ea typeface="+mj-ea"/>
              </a:rPr>
              <a:t>A</a:t>
            </a:r>
            <a:r>
              <a:rPr lang="zh-CN" altLang="en-US" sz="1600" dirty="0">
                <a:latin typeface="+mj-ea"/>
                <a:ea typeface="+mj-ea"/>
              </a:rPr>
              <a:t>和</a:t>
            </a:r>
            <a:r>
              <a:rPr lang="en-US" altLang="zh-CN" sz="1600" dirty="0">
                <a:latin typeface="+mj-ea"/>
                <a:ea typeface="+mj-ea"/>
              </a:rPr>
              <a:t>C</a:t>
            </a:r>
            <a:r>
              <a:rPr lang="zh-CN" altLang="en-US" sz="1600" dirty="0">
                <a:latin typeface="+mj-ea"/>
                <a:ea typeface="+mj-ea"/>
              </a:rPr>
              <a:t>生产</a:t>
            </a:r>
            <a:endParaRPr lang="en-US" altLang="zh-CN" sz="1600" dirty="0">
              <a:latin typeface="+mj-ea"/>
              <a:ea typeface="+mj-ea"/>
            </a:endParaRPr>
          </a:p>
          <a:p>
            <a:pPr marL="0" indent="0" defTabSz="1217476" eaLnBrk="1" hangingPunct="1">
              <a:spcBef>
                <a:spcPct val="0"/>
              </a:spcBef>
            </a:pPr>
            <a:r>
              <a:rPr lang="zh-CN" altLang="en-US" sz="1600" dirty="0">
                <a:latin typeface="+mj-ea"/>
                <a:ea typeface="+mj-ea"/>
              </a:rPr>
              <a:t>需求</a:t>
            </a:r>
            <a:r>
              <a:rPr lang="en-US" altLang="zh-CN" sz="1600" dirty="0">
                <a:latin typeface="+mj-ea"/>
                <a:ea typeface="+mj-ea"/>
              </a:rPr>
              <a:t>2</a:t>
            </a:r>
            <a:r>
              <a:rPr lang="zh-CN" altLang="en-US" sz="1600" dirty="0">
                <a:latin typeface="+mj-ea"/>
                <a:ea typeface="+mj-ea"/>
              </a:rPr>
              <a:t>的优先级高于需求</a:t>
            </a:r>
            <a:r>
              <a:rPr lang="en-US" altLang="zh-CN" sz="1600" dirty="0">
                <a:latin typeface="+mj-ea"/>
                <a:ea typeface="+mj-ea"/>
              </a:rPr>
              <a:t>1</a:t>
            </a:r>
          </a:p>
          <a:p>
            <a:pPr marL="0" indent="0" defTabSz="1217476" eaLnBrk="1" hangingPunct="1">
              <a:spcBef>
                <a:spcPct val="0"/>
              </a:spcBef>
            </a:pPr>
            <a:r>
              <a:rPr lang="zh-CN" altLang="en-US" sz="1600" dirty="0">
                <a:latin typeface="+mj-ea"/>
                <a:ea typeface="+mj-ea"/>
              </a:rPr>
              <a:t>库存</a:t>
            </a:r>
            <a:r>
              <a:rPr lang="en-US" altLang="zh-CN" sz="1600" dirty="0">
                <a:latin typeface="+mj-ea"/>
                <a:ea typeface="+mj-ea"/>
              </a:rPr>
              <a:t>A</a:t>
            </a:r>
            <a:r>
              <a:rPr lang="zh-CN" altLang="en-US" sz="1600" dirty="0">
                <a:latin typeface="+mj-ea"/>
                <a:ea typeface="+mj-ea"/>
              </a:rPr>
              <a:t>只能满足其中一笔需求</a:t>
            </a:r>
            <a:endParaRPr lang="en-US" altLang="zh-CN" sz="1600" dirty="0">
              <a:latin typeface="+mj-ea"/>
              <a:ea typeface="+mj-ea"/>
            </a:endParaRPr>
          </a:p>
        </p:txBody>
      </p:sp>
      <p:sp>
        <p:nvSpPr>
          <p:cNvPr id="31" name="TextBox 34"/>
          <p:cNvSpPr txBox="1"/>
          <p:nvPr/>
        </p:nvSpPr>
        <p:spPr>
          <a:xfrm>
            <a:off x="4396318" y="1898651"/>
            <a:ext cx="2377017" cy="338554"/>
          </a:xfrm>
          <a:prstGeom prst="rect">
            <a:avLst/>
          </a:prstGeom>
          <a:noFill/>
        </p:spPr>
        <p:txBody>
          <a:bodyPr>
            <a:spAutoFit/>
          </a:bodyPr>
          <a:lstStyle/>
          <a:p>
            <a:pPr algn="ctr" defTabSz="1219170">
              <a:defRPr/>
            </a:pPr>
            <a:r>
              <a:rPr lang="zh-CN" altLang="en-US" sz="1600" u="sng" dirty="0">
                <a:latin typeface="+mj-ea"/>
                <a:ea typeface="+mj-ea"/>
                <a:cs typeface="Arial" panose="020B0604020202020204" pitchFamily="34" charset="0"/>
              </a:rPr>
              <a:t>需求发货日期</a:t>
            </a:r>
            <a:endParaRPr lang="en-US" sz="1600" u="sng" dirty="0">
              <a:latin typeface="+mj-ea"/>
              <a:ea typeface="+mj-ea"/>
              <a:cs typeface="Arial" panose="020B0604020202020204" pitchFamily="34" charset="0"/>
            </a:endParaRPr>
          </a:p>
        </p:txBody>
      </p:sp>
      <p:sp>
        <p:nvSpPr>
          <p:cNvPr id="32" name="Line 58"/>
          <p:cNvSpPr/>
          <p:nvPr/>
        </p:nvSpPr>
        <p:spPr>
          <a:xfrm flipH="1">
            <a:off x="3274485" y="2989109"/>
            <a:ext cx="967316" cy="781049"/>
          </a:xfrm>
          <a:prstGeom prst="line">
            <a:avLst/>
          </a:prstGeom>
          <a:ln>
            <a:solidFill>
              <a:schemeClr val="tx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latin typeface="+mj-ea"/>
              <a:ea typeface="+mj-ea"/>
            </a:endParaRPr>
          </a:p>
        </p:txBody>
      </p:sp>
      <p:sp>
        <p:nvSpPr>
          <p:cNvPr id="7" name="文本框 6">
            <a:extLst>
              <a:ext uri="{FF2B5EF4-FFF2-40B4-BE49-F238E27FC236}">
                <a16:creationId xmlns:a16="http://schemas.microsoft.com/office/drawing/2014/main" id="{564FB8C1-EF05-73E2-E404-CFB9DFBD6372}"/>
              </a:ext>
            </a:extLst>
          </p:cNvPr>
          <p:cNvSpPr txBox="1"/>
          <p:nvPr/>
        </p:nvSpPr>
        <p:spPr>
          <a:xfrm>
            <a:off x="10650574" y="3141010"/>
            <a:ext cx="1302564" cy="338554"/>
          </a:xfrm>
          <a:prstGeom prst="rect">
            <a:avLst/>
          </a:prstGeom>
          <a:noFill/>
        </p:spPr>
        <p:txBody>
          <a:bodyPr wrap="square" rtlCol="0">
            <a:spAutoFit/>
          </a:bodyPr>
          <a:lstStyle/>
          <a:p>
            <a:r>
              <a:rPr lang="zh-CN" altLang="en-US" sz="1600" b="1" dirty="0">
                <a:solidFill>
                  <a:schemeClr val="tx2">
                    <a:lumMod val="60000"/>
                    <a:lumOff val="40000"/>
                  </a:schemeClr>
                </a:solidFill>
                <a:latin typeface="+mj-ea"/>
                <a:ea typeface="+mj-ea"/>
              </a:rPr>
              <a:t>需求日期</a:t>
            </a:r>
          </a:p>
        </p:txBody>
      </p:sp>
    </p:spTree>
    <p:custDataLst>
      <p:tags r:id="rId1"/>
    </p:custDataLst>
    <p:extLst>
      <p:ext uri="{BB962C8B-B14F-4D97-AF65-F5344CB8AC3E}">
        <p14:creationId xmlns:p14="http://schemas.microsoft.com/office/powerpoint/2010/main" val="1239777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xit" presetSubtype="10" fill="hold" grpId="0" nodeType="clickEffect">
                                  <p:stCondLst>
                                    <p:cond delay="0"/>
                                  </p:stCondLst>
                                  <p:childTnLst>
                                    <p:animEffect transition="out" filter="blinds(horizontal)">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par>
                                <p:cTn id="8" presetID="10" presetClass="entr" presetSubtype="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23" presetClass="entr" presetSubtype="16"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500" fill="hold"/>
                                        <p:tgtEl>
                                          <p:spTgt spid="11"/>
                                        </p:tgtEl>
                                        <p:attrNameLst>
                                          <p:attrName>ppt_w</p:attrName>
                                        </p:attrNameLst>
                                      </p:cBhvr>
                                      <p:tavLst>
                                        <p:tav tm="0">
                                          <p:val>
                                            <p:fltVal val="0"/>
                                          </p:val>
                                        </p:tav>
                                        <p:tav tm="100000">
                                          <p:val>
                                            <p:strVal val="#ppt_w"/>
                                          </p:val>
                                        </p:tav>
                                      </p:tavLst>
                                    </p:anim>
                                    <p:anim calcmode="lin" valueType="num">
                                      <p:cBhvr>
                                        <p:cTn id="14" dur="500" fill="hold"/>
                                        <p:tgtEl>
                                          <p:spTgt spid="11"/>
                                        </p:tgtEl>
                                        <p:attrNameLst>
                                          <p:attrName>ppt_h</p:attrName>
                                        </p:attrNameLst>
                                      </p:cBhvr>
                                      <p:tavLst>
                                        <p:tav tm="0">
                                          <p:val>
                                            <p:fltVal val="0"/>
                                          </p:val>
                                        </p:tav>
                                        <p:tav tm="100000">
                                          <p:val>
                                            <p:strVal val="#ppt_h"/>
                                          </p:val>
                                        </p:tav>
                                      </p:tavLst>
                                    </p:anim>
                                  </p:childTnLst>
                                </p:cTn>
                              </p:par>
                              <p:par>
                                <p:cTn id="15" presetID="23" presetClass="entr" presetSubtype="16" fill="hold" nodeType="with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p:cTn id="17" dur="500" fill="hold"/>
                                        <p:tgtEl>
                                          <p:spTgt spid="12"/>
                                        </p:tgtEl>
                                        <p:attrNameLst>
                                          <p:attrName>ppt_w</p:attrName>
                                        </p:attrNameLst>
                                      </p:cBhvr>
                                      <p:tavLst>
                                        <p:tav tm="0">
                                          <p:val>
                                            <p:fltVal val="0"/>
                                          </p:val>
                                        </p:tav>
                                        <p:tav tm="100000">
                                          <p:val>
                                            <p:strVal val="#ppt_w"/>
                                          </p:val>
                                        </p:tav>
                                      </p:tavLst>
                                    </p:anim>
                                    <p:anim calcmode="lin" valueType="num">
                                      <p:cBhvr>
                                        <p:cTn id="18" dur="500" fill="hold"/>
                                        <p:tgtEl>
                                          <p:spTgt spid="12"/>
                                        </p:tgtEl>
                                        <p:attrNameLst>
                                          <p:attrName>ppt_h</p:attrName>
                                        </p:attrNameLst>
                                      </p:cBhvr>
                                      <p:tavLst>
                                        <p:tav tm="0">
                                          <p:val>
                                            <p:fltVal val="0"/>
                                          </p:val>
                                        </p:tav>
                                        <p:tav tm="100000">
                                          <p:val>
                                            <p:strVal val="#ppt_h"/>
                                          </p:val>
                                        </p:tav>
                                      </p:tavLst>
                                    </p:anim>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par>
                                <p:cTn id="24" presetID="23" presetClass="entr" presetSubtype="16" fill="hold" nodeType="withEffect">
                                  <p:stCondLst>
                                    <p:cond delay="0"/>
                                  </p:stCondLst>
                                  <p:childTnLst>
                                    <p:set>
                                      <p:cBhvr>
                                        <p:cTn id="25" dur="1" fill="hold">
                                          <p:stCondLst>
                                            <p:cond delay="0"/>
                                          </p:stCondLst>
                                        </p:cTn>
                                        <p:tgtEl>
                                          <p:spTgt spid="15"/>
                                        </p:tgtEl>
                                        <p:attrNameLst>
                                          <p:attrName>style.visibility</p:attrName>
                                        </p:attrNameLst>
                                      </p:cBhvr>
                                      <p:to>
                                        <p:strVal val="visible"/>
                                      </p:to>
                                    </p:set>
                                    <p:anim calcmode="lin" valueType="num">
                                      <p:cBhvr>
                                        <p:cTn id="26" dur="500" fill="hold"/>
                                        <p:tgtEl>
                                          <p:spTgt spid="15"/>
                                        </p:tgtEl>
                                        <p:attrNameLst>
                                          <p:attrName>ppt_w</p:attrName>
                                        </p:attrNameLst>
                                      </p:cBhvr>
                                      <p:tavLst>
                                        <p:tav tm="0">
                                          <p:val>
                                            <p:fltVal val="0"/>
                                          </p:val>
                                        </p:tav>
                                        <p:tav tm="100000">
                                          <p:val>
                                            <p:strVal val="#ppt_w"/>
                                          </p:val>
                                        </p:tav>
                                      </p:tavLst>
                                    </p:anim>
                                    <p:anim calcmode="lin" valueType="num">
                                      <p:cBhvr>
                                        <p:cTn id="27" dur="500" fill="hold"/>
                                        <p:tgtEl>
                                          <p:spTgt spid="15"/>
                                        </p:tgtEl>
                                        <p:attrNameLst>
                                          <p:attrName>ppt_h</p:attrName>
                                        </p:attrNameLst>
                                      </p:cBhvr>
                                      <p:tavLst>
                                        <p:tav tm="0">
                                          <p:val>
                                            <p:fltVal val="0"/>
                                          </p:val>
                                        </p:tav>
                                        <p:tav tm="100000">
                                          <p:val>
                                            <p:strVal val="#ppt_h"/>
                                          </p:val>
                                        </p:tav>
                                      </p:tavLst>
                                    </p:anim>
                                  </p:childTnLst>
                                </p:cTn>
                              </p:par>
                              <p:par>
                                <p:cTn id="28" presetID="23" presetClass="entr" presetSubtype="16" fill="hold" nodeType="withEffect">
                                  <p:stCondLst>
                                    <p:cond delay="0"/>
                                  </p:stCondLst>
                                  <p:childTnLst>
                                    <p:set>
                                      <p:cBhvr>
                                        <p:cTn id="29" dur="1" fill="hold">
                                          <p:stCondLst>
                                            <p:cond delay="0"/>
                                          </p:stCondLst>
                                        </p:cTn>
                                        <p:tgtEl>
                                          <p:spTgt spid="32"/>
                                        </p:tgtEl>
                                        <p:attrNameLst>
                                          <p:attrName>style.visibility</p:attrName>
                                        </p:attrNameLst>
                                      </p:cBhvr>
                                      <p:to>
                                        <p:strVal val="visible"/>
                                      </p:to>
                                    </p:set>
                                    <p:anim calcmode="lin" valueType="num">
                                      <p:cBhvr>
                                        <p:cTn id="30" dur="500" fill="hold"/>
                                        <p:tgtEl>
                                          <p:spTgt spid="32"/>
                                        </p:tgtEl>
                                        <p:attrNameLst>
                                          <p:attrName>ppt_w</p:attrName>
                                        </p:attrNameLst>
                                      </p:cBhvr>
                                      <p:tavLst>
                                        <p:tav tm="0">
                                          <p:val>
                                            <p:fltVal val="0"/>
                                          </p:val>
                                        </p:tav>
                                        <p:tav tm="100000">
                                          <p:val>
                                            <p:strVal val="#ppt_w"/>
                                          </p:val>
                                        </p:tav>
                                      </p:tavLst>
                                    </p:anim>
                                    <p:anim calcmode="lin" valueType="num">
                                      <p:cBhvr>
                                        <p:cTn id="31" dur="500" fill="hold"/>
                                        <p:tgtEl>
                                          <p:spTgt spid="32"/>
                                        </p:tgtEl>
                                        <p:attrNameLst>
                                          <p:attrName>ppt_h</p:attrName>
                                        </p:attrNameLst>
                                      </p:cBhvr>
                                      <p:tavLst>
                                        <p:tav tm="0">
                                          <p:val>
                                            <p:fltVal val="0"/>
                                          </p:val>
                                        </p:tav>
                                        <p:tav tm="100000">
                                          <p:val>
                                            <p:strVal val="#ppt_h"/>
                                          </p:val>
                                        </p:tav>
                                      </p:tavLst>
                                    </p:anim>
                                  </p:childTnLst>
                                </p:cTn>
                              </p:par>
                              <p:par>
                                <p:cTn id="32" presetID="22" presetClass="entr" presetSubtype="4" fill="hold" nodeType="withEffect">
                                  <p:stCondLst>
                                    <p:cond delay="0"/>
                                  </p:stCondLst>
                                  <p:childTnLst>
                                    <p:set>
                                      <p:cBhvr>
                                        <p:cTn id="33" dur="1" fill="hold">
                                          <p:stCondLst>
                                            <p:cond delay="0"/>
                                          </p:stCondLst>
                                        </p:cTn>
                                        <p:tgtEl>
                                          <p:spTgt spid="23"/>
                                        </p:tgtEl>
                                        <p:attrNameLst>
                                          <p:attrName>style.visibility</p:attrName>
                                        </p:attrNameLst>
                                      </p:cBhvr>
                                      <p:to>
                                        <p:strVal val="visible"/>
                                      </p:to>
                                    </p:set>
                                    <p:animEffect transition="in" filter="wipe(down)">
                                      <p:cBhvr>
                                        <p:cTn id="34" dur="500"/>
                                        <p:tgtEl>
                                          <p:spTgt spid="23"/>
                                        </p:tgtEl>
                                      </p:cBhvr>
                                    </p:animEffect>
                                  </p:childTnLst>
                                </p:cTn>
                              </p:par>
                              <p:par>
                                <p:cTn id="35" presetID="3" presetClass="entr" presetSubtype="10" fill="hold" grpId="0" nodeType="with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blinds(horizontal)">
                                      <p:cBhvr>
                                        <p:cTn id="37" dur="500"/>
                                        <p:tgtEl>
                                          <p:spTgt spid="27"/>
                                        </p:tgtEl>
                                      </p:cBhvr>
                                    </p:animEffect>
                                  </p:childTnLst>
                                </p:cTn>
                              </p:par>
                            </p:childTnLst>
                          </p:cTn>
                        </p:par>
                      </p:childTnLst>
                    </p:cTn>
                  </p:par>
                  <p:par>
                    <p:cTn id="38" fill="hold">
                      <p:stCondLst>
                        <p:cond delay="indefinite"/>
                      </p:stCondLst>
                      <p:childTnLst>
                        <p:par>
                          <p:cTn id="39" fill="hold">
                            <p:stCondLst>
                              <p:cond delay="0"/>
                            </p:stCondLst>
                            <p:childTnLst>
                              <p:par>
                                <p:cTn id="40" presetID="31" presetClass="exit" presetSubtype="0" fill="hold" grpId="1" nodeType="clickEffect">
                                  <p:stCondLst>
                                    <p:cond delay="0"/>
                                  </p:stCondLst>
                                  <p:childTnLst>
                                    <p:anim calcmode="lin" valueType="num">
                                      <p:cBhvr>
                                        <p:cTn id="41" dur="1000"/>
                                        <p:tgtEl>
                                          <p:spTgt spid="13"/>
                                        </p:tgtEl>
                                        <p:attrNameLst>
                                          <p:attrName>ppt_w</p:attrName>
                                        </p:attrNameLst>
                                      </p:cBhvr>
                                      <p:tavLst>
                                        <p:tav tm="0">
                                          <p:val>
                                            <p:strVal val="ppt_w"/>
                                          </p:val>
                                        </p:tav>
                                        <p:tav tm="100000">
                                          <p:val>
                                            <p:fltVal val="0"/>
                                          </p:val>
                                        </p:tav>
                                      </p:tavLst>
                                    </p:anim>
                                    <p:anim calcmode="lin" valueType="num">
                                      <p:cBhvr>
                                        <p:cTn id="42" dur="1000"/>
                                        <p:tgtEl>
                                          <p:spTgt spid="13"/>
                                        </p:tgtEl>
                                        <p:attrNameLst>
                                          <p:attrName>ppt_h</p:attrName>
                                        </p:attrNameLst>
                                      </p:cBhvr>
                                      <p:tavLst>
                                        <p:tav tm="0">
                                          <p:val>
                                            <p:strVal val="ppt_h"/>
                                          </p:val>
                                        </p:tav>
                                        <p:tav tm="100000">
                                          <p:val>
                                            <p:fltVal val="0"/>
                                          </p:val>
                                        </p:tav>
                                      </p:tavLst>
                                    </p:anim>
                                    <p:anim calcmode="lin" valueType="num">
                                      <p:cBhvr>
                                        <p:cTn id="43" dur="1000"/>
                                        <p:tgtEl>
                                          <p:spTgt spid="13"/>
                                        </p:tgtEl>
                                        <p:attrNameLst>
                                          <p:attrName>style.rotation</p:attrName>
                                        </p:attrNameLst>
                                      </p:cBhvr>
                                      <p:tavLst>
                                        <p:tav tm="0">
                                          <p:val>
                                            <p:fltVal val="0"/>
                                          </p:val>
                                        </p:tav>
                                        <p:tav tm="100000">
                                          <p:val>
                                            <p:fltVal val="90"/>
                                          </p:val>
                                        </p:tav>
                                      </p:tavLst>
                                    </p:anim>
                                    <p:animEffect transition="out" filter="fade">
                                      <p:cBhvr>
                                        <p:cTn id="44" dur="1000"/>
                                        <p:tgtEl>
                                          <p:spTgt spid="13"/>
                                        </p:tgtEl>
                                      </p:cBhvr>
                                    </p:animEffect>
                                    <p:set>
                                      <p:cBhvr>
                                        <p:cTn id="45" dur="1" fill="hold">
                                          <p:stCondLst>
                                            <p:cond delay="999"/>
                                          </p:stCondLst>
                                        </p:cTn>
                                        <p:tgtEl>
                                          <p:spTgt spid="13"/>
                                        </p:tgtEl>
                                        <p:attrNameLst>
                                          <p:attrName>style.visibility</p:attrName>
                                        </p:attrNameLst>
                                      </p:cBhvr>
                                      <p:to>
                                        <p:strVal val="hidden"/>
                                      </p:to>
                                    </p:set>
                                  </p:childTnLst>
                                </p:cTn>
                              </p:par>
                              <p:par>
                                <p:cTn id="46" presetID="31" presetClass="exit" presetSubtype="0" fill="hold" nodeType="withEffect">
                                  <p:stCondLst>
                                    <p:cond delay="0"/>
                                  </p:stCondLst>
                                  <p:childTnLst>
                                    <p:anim calcmode="lin" valueType="num">
                                      <p:cBhvr>
                                        <p:cTn id="47" dur="1000"/>
                                        <p:tgtEl>
                                          <p:spTgt spid="32"/>
                                        </p:tgtEl>
                                        <p:attrNameLst>
                                          <p:attrName>ppt_w</p:attrName>
                                        </p:attrNameLst>
                                      </p:cBhvr>
                                      <p:tavLst>
                                        <p:tav tm="0">
                                          <p:val>
                                            <p:strVal val="ppt_w"/>
                                          </p:val>
                                        </p:tav>
                                        <p:tav tm="100000">
                                          <p:val>
                                            <p:fltVal val="0"/>
                                          </p:val>
                                        </p:tav>
                                      </p:tavLst>
                                    </p:anim>
                                    <p:anim calcmode="lin" valueType="num">
                                      <p:cBhvr>
                                        <p:cTn id="48" dur="1000"/>
                                        <p:tgtEl>
                                          <p:spTgt spid="32"/>
                                        </p:tgtEl>
                                        <p:attrNameLst>
                                          <p:attrName>ppt_h</p:attrName>
                                        </p:attrNameLst>
                                      </p:cBhvr>
                                      <p:tavLst>
                                        <p:tav tm="0">
                                          <p:val>
                                            <p:strVal val="ppt_h"/>
                                          </p:val>
                                        </p:tav>
                                        <p:tav tm="100000">
                                          <p:val>
                                            <p:fltVal val="0"/>
                                          </p:val>
                                        </p:tav>
                                      </p:tavLst>
                                    </p:anim>
                                    <p:anim calcmode="lin" valueType="num">
                                      <p:cBhvr>
                                        <p:cTn id="49" dur="1000"/>
                                        <p:tgtEl>
                                          <p:spTgt spid="32"/>
                                        </p:tgtEl>
                                        <p:attrNameLst>
                                          <p:attrName>style.rotation</p:attrName>
                                        </p:attrNameLst>
                                      </p:cBhvr>
                                      <p:tavLst>
                                        <p:tav tm="0">
                                          <p:val>
                                            <p:fltVal val="0"/>
                                          </p:val>
                                        </p:tav>
                                        <p:tav tm="100000">
                                          <p:val>
                                            <p:fltVal val="90"/>
                                          </p:val>
                                        </p:tav>
                                      </p:tavLst>
                                    </p:anim>
                                    <p:animEffect transition="out" filter="fade">
                                      <p:cBhvr>
                                        <p:cTn id="50" dur="1000"/>
                                        <p:tgtEl>
                                          <p:spTgt spid="32"/>
                                        </p:tgtEl>
                                      </p:cBhvr>
                                    </p:animEffect>
                                    <p:set>
                                      <p:cBhvr>
                                        <p:cTn id="51" dur="1" fill="hold">
                                          <p:stCondLst>
                                            <p:cond delay="999"/>
                                          </p:stCondLst>
                                        </p:cTn>
                                        <p:tgtEl>
                                          <p:spTgt spid="32"/>
                                        </p:tgtEl>
                                        <p:attrNameLst>
                                          <p:attrName>style.visibility</p:attrName>
                                        </p:attrNameLst>
                                      </p:cBhvr>
                                      <p:to>
                                        <p:strVal val="hidden"/>
                                      </p:to>
                                    </p:set>
                                  </p:childTnLst>
                                </p:cTn>
                              </p:par>
                              <p:par>
                                <p:cTn id="52" presetID="31" presetClass="exit" presetSubtype="0" fill="hold" nodeType="withEffect">
                                  <p:stCondLst>
                                    <p:cond delay="0"/>
                                  </p:stCondLst>
                                  <p:childTnLst>
                                    <p:anim calcmode="lin" valueType="num">
                                      <p:cBhvr>
                                        <p:cTn id="53" dur="1000"/>
                                        <p:tgtEl>
                                          <p:spTgt spid="11"/>
                                        </p:tgtEl>
                                        <p:attrNameLst>
                                          <p:attrName>ppt_w</p:attrName>
                                        </p:attrNameLst>
                                      </p:cBhvr>
                                      <p:tavLst>
                                        <p:tav tm="0">
                                          <p:val>
                                            <p:strVal val="ppt_w"/>
                                          </p:val>
                                        </p:tav>
                                        <p:tav tm="100000">
                                          <p:val>
                                            <p:fltVal val="0"/>
                                          </p:val>
                                        </p:tav>
                                      </p:tavLst>
                                    </p:anim>
                                    <p:anim calcmode="lin" valueType="num">
                                      <p:cBhvr>
                                        <p:cTn id="54" dur="1000"/>
                                        <p:tgtEl>
                                          <p:spTgt spid="11"/>
                                        </p:tgtEl>
                                        <p:attrNameLst>
                                          <p:attrName>ppt_h</p:attrName>
                                        </p:attrNameLst>
                                      </p:cBhvr>
                                      <p:tavLst>
                                        <p:tav tm="0">
                                          <p:val>
                                            <p:strVal val="ppt_h"/>
                                          </p:val>
                                        </p:tav>
                                        <p:tav tm="100000">
                                          <p:val>
                                            <p:fltVal val="0"/>
                                          </p:val>
                                        </p:tav>
                                      </p:tavLst>
                                    </p:anim>
                                    <p:anim calcmode="lin" valueType="num">
                                      <p:cBhvr>
                                        <p:cTn id="55" dur="1000"/>
                                        <p:tgtEl>
                                          <p:spTgt spid="11"/>
                                        </p:tgtEl>
                                        <p:attrNameLst>
                                          <p:attrName>style.rotation</p:attrName>
                                        </p:attrNameLst>
                                      </p:cBhvr>
                                      <p:tavLst>
                                        <p:tav tm="0">
                                          <p:val>
                                            <p:fltVal val="0"/>
                                          </p:val>
                                        </p:tav>
                                        <p:tav tm="100000">
                                          <p:val>
                                            <p:fltVal val="90"/>
                                          </p:val>
                                        </p:tav>
                                      </p:tavLst>
                                    </p:anim>
                                    <p:animEffect transition="out" filter="fade">
                                      <p:cBhvr>
                                        <p:cTn id="56" dur="1000"/>
                                        <p:tgtEl>
                                          <p:spTgt spid="11"/>
                                        </p:tgtEl>
                                      </p:cBhvr>
                                    </p:animEffect>
                                    <p:set>
                                      <p:cBhvr>
                                        <p:cTn id="57" dur="1" fill="hold">
                                          <p:stCondLst>
                                            <p:cond delay="999"/>
                                          </p:stCondLst>
                                        </p:cTn>
                                        <p:tgtEl>
                                          <p:spTgt spid="11"/>
                                        </p:tgtEl>
                                        <p:attrNameLst>
                                          <p:attrName>style.visibility</p:attrName>
                                        </p:attrNameLst>
                                      </p:cBhvr>
                                      <p:to>
                                        <p:strVal val="hidden"/>
                                      </p:to>
                                    </p:set>
                                  </p:childTnLst>
                                </p:cTn>
                              </p:par>
                              <p:par>
                                <p:cTn id="58" presetID="31" presetClass="exit" presetSubtype="0" fill="hold" nodeType="withEffect">
                                  <p:stCondLst>
                                    <p:cond delay="0"/>
                                  </p:stCondLst>
                                  <p:childTnLst>
                                    <p:anim calcmode="lin" valueType="num">
                                      <p:cBhvr>
                                        <p:cTn id="59" dur="1000"/>
                                        <p:tgtEl>
                                          <p:spTgt spid="12"/>
                                        </p:tgtEl>
                                        <p:attrNameLst>
                                          <p:attrName>ppt_w</p:attrName>
                                        </p:attrNameLst>
                                      </p:cBhvr>
                                      <p:tavLst>
                                        <p:tav tm="0">
                                          <p:val>
                                            <p:strVal val="ppt_w"/>
                                          </p:val>
                                        </p:tav>
                                        <p:tav tm="100000">
                                          <p:val>
                                            <p:fltVal val="0"/>
                                          </p:val>
                                        </p:tav>
                                      </p:tavLst>
                                    </p:anim>
                                    <p:anim calcmode="lin" valueType="num">
                                      <p:cBhvr>
                                        <p:cTn id="60" dur="1000"/>
                                        <p:tgtEl>
                                          <p:spTgt spid="12"/>
                                        </p:tgtEl>
                                        <p:attrNameLst>
                                          <p:attrName>ppt_h</p:attrName>
                                        </p:attrNameLst>
                                      </p:cBhvr>
                                      <p:tavLst>
                                        <p:tav tm="0">
                                          <p:val>
                                            <p:strVal val="ppt_h"/>
                                          </p:val>
                                        </p:tav>
                                        <p:tav tm="100000">
                                          <p:val>
                                            <p:fltVal val="0"/>
                                          </p:val>
                                        </p:tav>
                                      </p:tavLst>
                                    </p:anim>
                                    <p:anim calcmode="lin" valueType="num">
                                      <p:cBhvr>
                                        <p:cTn id="61" dur="1000"/>
                                        <p:tgtEl>
                                          <p:spTgt spid="12"/>
                                        </p:tgtEl>
                                        <p:attrNameLst>
                                          <p:attrName>style.rotation</p:attrName>
                                        </p:attrNameLst>
                                      </p:cBhvr>
                                      <p:tavLst>
                                        <p:tav tm="0">
                                          <p:val>
                                            <p:fltVal val="0"/>
                                          </p:val>
                                        </p:tav>
                                        <p:tav tm="100000">
                                          <p:val>
                                            <p:fltVal val="90"/>
                                          </p:val>
                                        </p:tav>
                                      </p:tavLst>
                                    </p:anim>
                                    <p:animEffect transition="out" filter="fade">
                                      <p:cBhvr>
                                        <p:cTn id="62" dur="1000"/>
                                        <p:tgtEl>
                                          <p:spTgt spid="12"/>
                                        </p:tgtEl>
                                      </p:cBhvr>
                                    </p:animEffect>
                                    <p:set>
                                      <p:cBhvr>
                                        <p:cTn id="63" dur="1" fill="hold">
                                          <p:stCondLst>
                                            <p:cond delay="999"/>
                                          </p:stCondLst>
                                        </p:cTn>
                                        <p:tgtEl>
                                          <p:spTgt spid="12"/>
                                        </p:tgtEl>
                                        <p:attrNameLst>
                                          <p:attrName>style.visibility</p:attrName>
                                        </p:attrNameLst>
                                      </p:cBhvr>
                                      <p:to>
                                        <p:strVal val="hidden"/>
                                      </p:to>
                                    </p:set>
                                  </p:childTnLst>
                                </p:cTn>
                              </p:par>
                              <p:par>
                                <p:cTn id="64" presetID="31" presetClass="exit" presetSubtype="0" fill="hold" grpId="1" nodeType="withEffect">
                                  <p:stCondLst>
                                    <p:cond delay="0"/>
                                  </p:stCondLst>
                                  <p:childTnLst>
                                    <p:anim calcmode="lin" valueType="num">
                                      <p:cBhvr>
                                        <p:cTn id="65" dur="1000"/>
                                        <p:tgtEl>
                                          <p:spTgt spid="14"/>
                                        </p:tgtEl>
                                        <p:attrNameLst>
                                          <p:attrName>ppt_w</p:attrName>
                                        </p:attrNameLst>
                                      </p:cBhvr>
                                      <p:tavLst>
                                        <p:tav tm="0">
                                          <p:val>
                                            <p:strVal val="ppt_w"/>
                                          </p:val>
                                        </p:tav>
                                        <p:tav tm="100000">
                                          <p:val>
                                            <p:fltVal val="0"/>
                                          </p:val>
                                        </p:tav>
                                      </p:tavLst>
                                    </p:anim>
                                    <p:anim calcmode="lin" valueType="num">
                                      <p:cBhvr>
                                        <p:cTn id="66" dur="1000"/>
                                        <p:tgtEl>
                                          <p:spTgt spid="14"/>
                                        </p:tgtEl>
                                        <p:attrNameLst>
                                          <p:attrName>ppt_h</p:attrName>
                                        </p:attrNameLst>
                                      </p:cBhvr>
                                      <p:tavLst>
                                        <p:tav tm="0">
                                          <p:val>
                                            <p:strVal val="ppt_h"/>
                                          </p:val>
                                        </p:tav>
                                        <p:tav tm="100000">
                                          <p:val>
                                            <p:fltVal val="0"/>
                                          </p:val>
                                        </p:tav>
                                      </p:tavLst>
                                    </p:anim>
                                    <p:anim calcmode="lin" valueType="num">
                                      <p:cBhvr>
                                        <p:cTn id="67" dur="1000"/>
                                        <p:tgtEl>
                                          <p:spTgt spid="14"/>
                                        </p:tgtEl>
                                        <p:attrNameLst>
                                          <p:attrName>style.rotation</p:attrName>
                                        </p:attrNameLst>
                                      </p:cBhvr>
                                      <p:tavLst>
                                        <p:tav tm="0">
                                          <p:val>
                                            <p:fltVal val="0"/>
                                          </p:val>
                                        </p:tav>
                                        <p:tav tm="100000">
                                          <p:val>
                                            <p:fltVal val="90"/>
                                          </p:val>
                                        </p:tav>
                                      </p:tavLst>
                                    </p:anim>
                                    <p:animEffect transition="out" filter="fade">
                                      <p:cBhvr>
                                        <p:cTn id="68" dur="1000"/>
                                        <p:tgtEl>
                                          <p:spTgt spid="14"/>
                                        </p:tgtEl>
                                      </p:cBhvr>
                                    </p:animEffect>
                                    <p:set>
                                      <p:cBhvr>
                                        <p:cTn id="69" dur="1" fill="hold">
                                          <p:stCondLst>
                                            <p:cond delay="999"/>
                                          </p:stCondLst>
                                        </p:cTn>
                                        <p:tgtEl>
                                          <p:spTgt spid="14"/>
                                        </p:tgtEl>
                                        <p:attrNameLst>
                                          <p:attrName>style.visibility</p:attrName>
                                        </p:attrNameLst>
                                      </p:cBhvr>
                                      <p:to>
                                        <p:strVal val="hidden"/>
                                      </p:to>
                                    </p:set>
                                  </p:childTnLst>
                                </p:cTn>
                              </p:par>
                              <p:par>
                                <p:cTn id="70" presetID="31" presetClass="exit" presetSubtype="0" fill="hold" nodeType="withEffect">
                                  <p:stCondLst>
                                    <p:cond delay="0"/>
                                  </p:stCondLst>
                                  <p:childTnLst>
                                    <p:anim calcmode="lin" valueType="num">
                                      <p:cBhvr>
                                        <p:cTn id="71" dur="1000"/>
                                        <p:tgtEl>
                                          <p:spTgt spid="15"/>
                                        </p:tgtEl>
                                        <p:attrNameLst>
                                          <p:attrName>ppt_w</p:attrName>
                                        </p:attrNameLst>
                                      </p:cBhvr>
                                      <p:tavLst>
                                        <p:tav tm="0">
                                          <p:val>
                                            <p:strVal val="ppt_w"/>
                                          </p:val>
                                        </p:tav>
                                        <p:tav tm="100000">
                                          <p:val>
                                            <p:fltVal val="0"/>
                                          </p:val>
                                        </p:tav>
                                      </p:tavLst>
                                    </p:anim>
                                    <p:anim calcmode="lin" valueType="num">
                                      <p:cBhvr>
                                        <p:cTn id="72" dur="1000"/>
                                        <p:tgtEl>
                                          <p:spTgt spid="15"/>
                                        </p:tgtEl>
                                        <p:attrNameLst>
                                          <p:attrName>ppt_h</p:attrName>
                                        </p:attrNameLst>
                                      </p:cBhvr>
                                      <p:tavLst>
                                        <p:tav tm="0">
                                          <p:val>
                                            <p:strVal val="ppt_h"/>
                                          </p:val>
                                        </p:tav>
                                        <p:tav tm="100000">
                                          <p:val>
                                            <p:fltVal val="0"/>
                                          </p:val>
                                        </p:tav>
                                      </p:tavLst>
                                    </p:anim>
                                    <p:anim calcmode="lin" valueType="num">
                                      <p:cBhvr>
                                        <p:cTn id="73" dur="1000"/>
                                        <p:tgtEl>
                                          <p:spTgt spid="15"/>
                                        </p:tgtEl>
                                        <p:attrNameLst>
                                          <p:attrName>style.rotation</p:attrName>
                                        </p:attrNameLst>
                                      </p:cBhvr>
                                      <p:tavLst>
                                        <p:tav tm="0">
                                          <p:val>
                                            <p:fltVal val="0"/>
                                          </p:val>
                                        </p:tav>
                                        <p:tav tm="100000">
                                          <p:val>
                                            <p:fltVal val="90"/>
                                          </p:val>
                                        </p:tav>
                                      </p:tavLst>
                                    </p:anim>
                                    <p:animEffect transition="out" filter="fade">
                                      <p:cBhvr>
                                        <p:cTn id="74" dur="1000"/>
                                        <p:tgtEl>
                                          <p:spTgt spid="15"/>
                                        </p:tgtEl>
                                      </p:cBhvr>
                                    </p:animEffect>
                                    <p:set>
                                      <p:cBhvr>
                                        <p:cTn id="75" dur="1" fill="hold">
                                          <p:stCondLst>
                                            <p:cond delay="999"/>
                                          </p:stCondLst>
                                        </p:cTn>
                                        <p:tgtEl>
                                          <p:spTgt spid="15"/>
                                        </p:tgtEl>
                                        <p:attrNameLst>
                                          <p:attrName>style.visibility</p:attrName>
                                        </p:attrNameLst>
                                      </p:cBhvr>
                                      <p:to>
                                        <p:strVal val="hidden"/>
                                      </p:to>
                                    </p:set>
                                  </p:childTnLst>
                                </p:cTn>
                              </p:par>
                              <p:par>
                                <p:cTn id="76" presetID="31" presetClass="exit" presetSubtype="0" fill="hold" nodeType="withEffect">
                                  <p:stCondLst>
                                    <p:cond delay="0"/>
                                  </p:stCondLst>
                                  <p:childTnLst>
                                    <p:anim calcmode="lin" valueType="num">
                                      <p:cBhvr>
                                        <p:cTn id="77" dur="1000"/>
                                        <p:tgtEl>
                                          <p:spTgt spid="23"/>
                                        </p:tgtEl>
                                        <p:attrNameLst>
                                          <p:attrName>ppt_w</p:attrName>
                                        </p:attrNameLst>
                                      </p:cBhvr>
                                      <p:tavLst>
                                        <p:tav tm="0">
                                          <p:val>
                                            <p:strVal val="ppt_w"/>
                                          </p:val>
                                        </p:tav>
                                        <p:tav tm="100000">
                                          <p:val>
                                            <p:fltVal val="0"/>
                                          </p:val>
                                        </p:tav>
                                      </p:tavLst>
                                    </p:anim>
                                    <p:anim calcmode="lin" valueType="num">
                                      <p:cBhvr>
                                        <p:cTn id="78" dur="1000"/>
                                        <p:tgtEl>
                                          <p:spTgt spid="23"/>
                                        </p:tgtEl>
                                        <p:attrNameLst>
                                          <p:attrName>ppt_h</p:attrName>
                                        </p:attrNameLst>
                                      </p:cBhvr>
                                      <p:tavLst>
                                        <p:tav tm="0">
                                          <p:val>
                                            <p:strVal val="ppt_h"/>
                                          </p:val>
                                        </p:tav>
                                        <p:tav tm="100000">
                                          <p:val>
                                            <p:fltVal val="0"/>
                                          </p:val>
                                        </p:tav>
                                      </p:tavLst>
                                    </p:anim>
                                    <p:anim calcmode="lin" valueType="num">
                                      <p:cBhvr>
                                        <p:cTn id="79" dur="1000"/>
                                        <p:tgtEl>
                                          <p:spTgt spid="23"/>
                                        </p:tgtEl>
                                        <p:attrNameLst>
                                          <p:attrName>style.rotation</p:attrName>
                                        </p:attrNameLst>
                                      </p:cBhvr>
                                      <p:tavLst>
                                        <p:tav tm="0">
                                          <p:val>
                                            <p:fltVal val="0"/>
                                          </p:val>
                                        </p:tav>
                                        <p:tav tm="100000">
                                          <p:val>
                                            <p:fltVal val="90"/>
                                          </p:val>
                                        </p:tav>
                                      </p:tavLst>
                                    </p:anim>
                                    <p:animEffect transition="out" filter="fade">
                                      <p:cBhvr>
                                        <p:cTn id="80" dur="1000"/>
                                        <p:tgtEl>
                                          <p:spTgt spid="23"/>
                                        </p:tgtEl>
                                      </p:cBhvr>
                                    </p:animEffect>
                                    <p:set>
                                      <p:cBhvr>
                                        <p:cTn id="81" dur="1" fill="hold">
                                          <p:stCondLst>
                                            <p:cond delay="999"/>
                                          </p:stCondLst>
                                        </p:cTn>
                                        <p:tgtEl>
                                          <p:spTgt spid="23"/>
                                        </p:tgtEl>
                                        <p:attrNameLst>
                                          <p:attrName>style.visibility</p:attrName>
                                        </p:attrNameLst>
                                      </p:cBhvr>
                                      <p:to>
                                        <p:strVal val="hidden"/>
                                      </p:to>
                                    </p:se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18"/>
                                        </p:tgtEl>
                                        <p:attrNameLst>
                                          <p:attrName>style.visibility</p:attrName>
                                        </p:attrNameLst>
                                      </p:cBhvr>
                                      <p:to>
                                        <p:strVal val="visible"/>
                                      </p:to>
                                    </p:set>
                                    <p:animEffect transition="in" filter="fade">
                                      <p:cBhvr>
                                        <p:cTn id="86" dur="500"/>
                                        <p:tgtEl>
                                          <p:spTgt spid="18"/>
                                        </p:tgtEl>
                                      </p:cBhvr>
                                    </p:animEffect>
                                  </p:childTnLst>
                                </p:cTn>
                              </p:par>
                              <p:par>
                                <p:cTn id="87" presetID="3" presetClass="entr" presetSubtype="10" fill="hold" nodeType="withEffect">
                                  <p:stCondLst>
                                    <p:cond delay="0"/>
                                  </p:stCondLst>
                                  <p:childTnLst>
                                    <p:set>
                                      <p:cBhvr>
                                        <p:cTn id="88" dur="1" fill="hold">
                                          <p:stCondLst>
                                            <p:cond delay="0"/>
                                          </p:stCondLst>
                                        </p:cTn>
                                        <p:tgtEl>
                                          <p:spTgt spid="20"/>
                                        </p:tgtEl>
                                        <p:attrNameLst>
                                          <p:attrName>style.visibility</p:attrName>
                                        </p:attrNameLst>
                                      </p:cBhvr>
                                      <p:to>
                                        <p:strVal val="visible"/>
                                      </p:to>
                                    </p:set>
                                    <p:animEffect transition="in" filter="blinds(horizontal)">
                                      <p:cBhvr>
                                        <p:cTn id="89" dur="500"/>
                                        <p:tgtEl>
                                          <p:spTgt spid="20"/>
                                        </p:tgtEl>
                                      </p:cBhvr>
                                    </p:animEffect>
                                  </p:childTnLst>
                                </p:cTn>
                              </p:par>
                              <p:par>
                                <p:cTn id="90" presetID="3" presetClass="entr" presetSubtype="10" fill="hold" grpId="0" nodeType="withEffect">
                                  <p:stCondLst>
                                    <p:cond delay="0"/>
                                  </p:stCondLst>
                                  <p:childTnLst>
                                    <p:set>
                                      <p:cBhvr>
                                        <p:cTn id="91" dur="1" fill="hold">
                                          <p:stCondLst>
                                            <p:cond delay="0"/>
                                          </p:stCondLst>
                                        </p:cTn>
                                        <p:tgtEl>
                                          <p:spTgt spid="21"/>
                                        </p:tgtEl>
                                        <p:attrNameLst>
                                          <p:attrName>style.visibility</p:attrName>
                                        </p:attrNameLst>
                                      </p:cBhvr>
                                      <p:to>
                                        <p:strVal val="visible"/>
                                      </p:to>
                                    </p:set>
                                    <p:animEffect transition="in" filter="blinds(horizontal)">
                                      <p:cBhvr>
                                        <p:cTn id="92" dur="500"/>
                                        <p:tgtEl>
                                          <p:spTgt spid="21"/>
                                        </p:tgtEl>
                                      </p:cBhvr>
                                    </p:animEffect>
                                  </p:childTnLst>
                                </p:cTn>
                              </p:par>
                            </p:childTnLst>
                          </p:cTn>
                        </p:par>
                      </p:childTnLst>
                    </p:cTn>
                  </p:par>
                  <p:par>
                    <p:cTn id="93" fill="hold">
                      <p:stCondLst>
                        <p:cond delay="indefinite"/>
                      </p:stCondLst>
                      <p:childTnLst>
                        <p:par>
                          <p:cTn id="94" fill="hold">
                            <p:stCondLst>
                              <p:cond delay="0"/>
                            </p:stCondLst>
                            <p:childTnLst>
                              <p:par>
                                <p:cTn id="95" presetID="23" presetClass="entr" presetSubtype="16" fill="hold" nodeType="clickEffect">
                                  <p:stCondLst>
                                    <p:cond delay="0"/>
                                  </p:stCondLst>
                                  <p:childTnLst>
                                    <p:set>
                                      <p:cBhvr>
                                        <p:cTn id="96" dur="1" fill="hold">
                                          <p:stCondLst>
                                            <p:cond delay="0"/>
                                          </p:stCondLst>
                                        </p:cTn>
                                        <p:tgtEl>
                                          <p:spTgt spid="16"/>
                                        </p:tgtEl>
                                        <p:attrNameLst>
                                          <p:attrName>style.visibility</p:attrName>
                                        </p:attrNameLst>
                                      </p:cBhvr>
                                      <p:to>
                                        <p:strVal val="visible"/>
                                      </p:to>
                                    </p:set>
                                    <p:anim calcmode="lin" valueType="num">
                                      <p:cBhvr>
                                        <p:cTn id="97" dur="500" fill="hold"/>
                                        <p:tgtEl>
                                          <p:spTgt spid="16"/>
                                        </p:tgtEl>
                                        <p:attrNameLst>
                                          <p:attrName>ppt_w</p:attrName>
                                        </p:attrNameLst>
                                      </p:cBhvr>
                                      <p:tavLst>
                                        <p:tav tm="0">
                                          <p:val>
                                            <p:fltVal val="0"/>
                                          </p:val>
                                        </p:tav>
                                        <p:tav tm="100000">
                                          <p:val>
                                            <p:strVal val="#ppt_w"/>
                                          </p:val>
                                        </p:tav>
                                      </p:tavLst>
                                    </p:anim>
                                    <p:anim calcmode="lin" valueType="num">
                                      <p:cBhvr>
                                        <p:cTn id="98" dur="500" fill="hold"/>
                                        <p:tgtEl>
                                          <p:spTgt spid="16"/>
                                        </p:tgtEl>
                                        <p:attrNameLst>
                                          <p:attrName>ppt_h</p:attrName>
                                        </p:attrNameLst>
                                      </p:cBhvr>
                                      <p:tavLst>
                                        <p:tav tm="0">
                                          <p:val>
                                            <p:fltVal val="0"/>
                                          </p:val>
                                        </p:tav>
                                        <p:tav tm="100000">
                                          <p:val>
                                            <p:strVal val="#ppt_h"/>
                                          </p:val>
                                        </p:tav>
                                      </p:tavLst>
                                    </p:anim>
                                  </p:childTnLst>
                                </p:cTn>
                              </p:par>
                              <p:par>
                                <p:cTn id="99" presetID="23" presetClass="entr" presetSubtype="16" fill="hold" nodeType="withEffect">
                                  <p:stCondLst>
                                    <p:cond delay="0"/>
                                  </p:stCondLst>
                                  <p:childTnLst>
                                    <p:set>
                                      <p:cBhvr>
                                        <p:cTn id="100" dur="1" fill="hold">
                                          <p:stCondLst>
                                            <p:cond delay="0"/>
                                          </p:stCondLst>
                                        </p:cTn>
                                        <p:tgtEl>
                                          <p:spTgt spid="17"/>
                                        </p:tgtEl>
                                        <p:attrNameLst>
                                          <p:attrName>style.visibility</p:attrName>
                                        </p:attrNameLst>
                                      </p:cBhvr>
                                      <p:to>
                                        <p:strVal val="visible"/>
                                      </p:to>
                                    </p:set>
                                    <p:anim calcmode="lin" valueType="num">
                                      <p:cBhvr>
                                        <p:cTn id="101" dur="500" fill="hold"/>
                                        <p:tgtEl>
                                          <p:spTgt spid="17"/>
                                        </p:tgtEl>
                                        <p:attrNameLst>
                                          <p:attrName>ppt_w</p:attrName>
                                        </p:attrNameLst>
                                      </p:cBhvr>
                                      <p:tavLst>
                                        <p:tav tm="0">
                                          <p:val>
                                            <p:fltVal val="0"/>
                                          </p:val>
                                        </p:tav>
                                        <p:tav tm="100000">
                                          <p:val>
                                            <p:strVal val="#ppt_w"/>
                                          </p:val>
                                        </p:tav>
                                      </p:tavLst>
                                    </p:anim>
                                    <p:anim calcmode="lin" valueType="num">
                                      <p:cBhvr>
                                        <p:cTn id="102" dur="500" fill="hold"/>
                                        <p:tgtEl>
                                          <p:spTgt spid="17"/>
                                        </p:tgtEl>
                                        <p:attrNameLst>
                                          <p:attrName>ppt_h</p:attrName>
                                        </p:attrNameLst>
                                      </p:cBhvr>
                                      <p:tavLst>
                                        <p:tav tm="0">
                                          <p:val>
                                            <p:fltVal val="0"/>
                                          </p:val>
                                        </p:tav>
                                        <p:tav tm="100000">
                                          <p:val>
                                            <p:strVal val="#ppt_h"/>
                                          </p:val>
                                        </p:tav>
                                      </p:tavLst>
                                    </p:anim>
                                  </p:childTnLst>
                                </p:cTn>
                              </p:par>
                              <p:par>
                                <p:cTn id="103" presetID="6" presetClass="entr" presetSubtype="16" fill="hold" grpId="0" nodeType="withEffect">
                                  <p:stCondLst>
                                    <p:cond delay="0"/>
                                  </p:stCondLst>
                                  <p:childTnLst>
                                    <p:set>
                                      <p:cBhvr>
                                        <p:cTn id="104" dur="1" fill="hold">
                                          <p:stCondLst>
                                            <p:cond delay="0"/>
                                          </p:stCondLst>
                                        </p:cTn>
                                        <p:tgtEl>
                                          <p:spTgt spid="19"/>
                                        </p:tgtEl>
                                        <p:attrNameLst>
                                          <p:attrName>style.visibility</p:attrName>
                                        </p:attrNameLst>
                                      </p:cBhvr>
                                      <p:to>
                                        <p:strVal val="visible"/>
                                      </p:to>
                                    </p:set>
                                    <p:animEffect transition="in" filter="circle(in)">
                                      <p:cBhvr>
                                        <p:cTn id="105" dur="2000"/>
                                        <p:tgtEl>
                                          <p:spTgt spid="19"/>
                                        </p:tgtEl>
                                      </p:cBhvr>
                                    </p:animEffect>
                                  </p:childTnLst>
                                </p:cTn>
                              </p:par>
                            </p:childTnLst>
                          </p:cTn>
                        </p:par>
                      </p:childTnLst>
                    </p:cTn>
                  </p:par>
                  <p:par>
                    <p:cTn id="106" fill="hold">
                      <p:stCondLst>
                        <p:cond delay="indefinite"/>
                      </p:stCondLst>
                      <p:childTnLst>
                        <p:par>
                          <p:cTn id="107" fill="hold">
                            <p:stCondLst>
                              <p:cond delay="0"/>
                            </p:stCondLst>
                            <p:childTnLst>
                              <p:par>
                                <p:cTn id="108" presetID="3" presetClass="entr" presetSubtype="10" fill="hold" grpId="0" nodeType="clickEffect">
                                  <p:stCondLst>
                                    <p:cond delay="0"/>
                                  </p:stCondLst>
                                  <p:childTnLst>
                                    <p:set>
                                      <p:cBhvr>
                                        <p:cTn id="109" dur="1" fill="hold">
                                          <p:stCondLst>
                                            <p:cond delay="0"/>
                                          </p:stCondLst>
                                        </p:cTn>
                                        <p:tgtEl>
                                          <p:spTgt spid="22"/>
                                        </p:tgtEl>
                                        <p:attrNameLst>
                                          <p:attrName>style.visibility</p:attrName>
                                        </p:attrNameLst>
                                      </p:cBhvr>
                                      <p:to>
                                        <p:strVal val="visible"/>
                                      </p:to>
                                    </p:set>
                                    <p:animEffect transition="in" filter="blinds(horizontal)">
                                      <p:cBhvr>
                                        <p:cTn id="11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8" grpId="0" animBg="1"/>
      <p:bldP spid="19" grpId="0"/>
      <p:bldP spid="21" grpId="0" animBg="1"/>
      <p:bldP spid="22" grpId="0" animBg="1"/>
      <p:bldP spid="27" grpId="0"/>
      <p:bldP spid="31"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直接箭头连接符 6"/>
          <p:cNvCxnSpPr/>
          <p:nvPr/>
        </p:nvCxnSpPr>
        <p:spPr>
          <a:xfrm>
            <a:off x="1081618" y="3524251"/>
            <a:ext cx="9334500" cy="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4" name="直接箭头连接符 13"/>
          <p:cNvCxnSpPr/>
          <p:nvPr/>
        </p:nvCxnSpPr>
        <p:spPr>
          <a:xfrm>
            <a:off x="3810000" y="2686051"/>
            <a:ext cx="0" cy="83820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15"/>
          <p:cNvCxnSpPr>
            <a:stCxn id="27657" idx="2"/>
          </p:cNvCxnSpPr>
          <p:nvPr/>
        </p:nvCxnSpPr>
        <p:spPr>
          <a:xfrm>
            <a:off x="6851651" y="2646844"/>
            <a:ext cx="0" cy="877408"/>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23"/>
          <p:cNvCxnSpPr/>
          <p:nvPr/>
        </p:nvCxnSpPr>
        <p:spPr>
          <a:xfrm flipV="1">
            <a:off x="3119967" y="3524251"/>
            <a:ext cx="0" cy="67310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7" name="直接箭头连接符 34"/>
          <p:cNvCxnSpPr>
            <a:stCxn id="27659" idx="0"/>
          </p:cNvCxnSpPr>
          <p:nvPr/>
        </p:nvCxnSpPr>
        <p:spPr>
          <a:xfrm flipV="1">
            <a:off x="5341410" y="3524251"/>
            <a:ext cx="17991" cy="76835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8" name="直接箭头连接符 35"/>
          <p:cNvCxnSpPr/>
          <p:nvPr/>
        </p:nvCxnSpPr>
        <p:spPr>
          <a:xfrm flipV="1">
            <a:off x="3119967" y="4400551"/>
            <a:ext cx="0" cy="670984"/>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7656" name="矩形 27"/>
          <p:cNvSpPr/>
          <p:nvPr/>
        </p:nvSpPr>
        <p:spPr>
          <a:xfrm>
            <a:off x="3160185" y="2277534"/>
            <a:ext cx="1441449"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rgbClr val="FFFFFF"/>
                </a:solidFill>
                <a:latin typeface="+mj-ea"/>
                <a:ea typeface="+mj-ea"/>
              </a:rPr>
              <a:t>需求</a:t>
            </a:r>
            <a:r>
              <a:rPr lang="en-US" altLang="zh-CN" sz="1600" b="1" dirty="0">
                <a:solidFill>
                  <a:srgbClr val="FFFFFF"/>
                </a:solidFill>
                <a:latin typeface="+mj-ea"/>
                <a:ea typeface="+mj-ea"/>
              </a:rPr>
              <a:t>1</a:t>
            </a:r>
            <a:endParaRPr lang="zh-CN" altLang="en-US" sz="1600" b="1" dirty="0">
              <a:solidFill>
                <a:srgbClr val="FFFFFF"/>
              </a:solidFill>
              <a:latin typeface="+mj-ea"/>
              <a:ea typeface="+mj-ea"/>
            </a:endParaRPr>
          </a:p>
        </p:txBody>
      </p:sp>
      <p:sp>
        <p:nvSpPr>
          <p:cNvPr id="27657" name="矩形 38"/>
          <p:cNvSpPr/>
          <p:nvPr/>
        </p:nvSpPr>
        <p:spPr>
          <a:xfrm>
            <a:off x="6131984" y="2277534"/>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rgbClr val="FFFFFF"/>
                </a:solidFill>
                <a:latin typeface="+mj-ea"/>
                <a:ea typeface="+mj-ea"/>
              </a:rPr>
              <a:t>需求</a:t>
            </a:r>
            <a:r>
              <a:rPr lang="en-US" altLang="zh-CN" sz="1600" b="1" dirty="0">
                <a:solidFill>
                  <a:srgbClr val="FFFFFF"/>
                </a:solidFill>
                <a:latin typeface="+mj-ea"/>
                <a:ea typeface="+mj-ea"/>
              </a:rPr>
              <a:t>2</a:t>
            </a:r>
            <a:endParaRPr lang="zh-CN" altLang="en-US" sz="1600" b="1" dirty="0">
              <a:solidFill>
                <a:srgbClr val="FFFFFF"/>
              </a:solidFill>
              <a:latin typeface="+mj-ea"/>
              <a:ea typeface="+mj-ea"/>
            </a:endParaRPr>
          </a:p>
        </p:txBody>
      </p:sp>
      <p:sp>
        <p:nvSpPr>
          <p:cNvPr id="27658" name="矩形 28"/>
          <p:cNvSpPr/>
          <p:nvPr/>
        </p:nvSpPr>
        <p:spPr>
          <a:xfrm>
            <a:off x="1536701" y="3716867"/>
            <a:ext cx="1392767" cy="369310"/>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rgbClr val="FFFFFF"/>
                </a:solidFill>
                <a:latin typeface="+mj-ea"/>
                <a:ea typeface="+mj-ea"/>
              </a:rPr>
              <a:t>库存</a:t>
            </a:r>
            <a:r>
              <a:rPr lang="en-US" altLang="zh-CN" sz="1600" b="1" dirty="0">
                <a:solidFill>
                  <a:srgbClr val="FFFFFF"/>
                </a:solidFill>
                <a:latin typeface="+mj-ea"/>
                <a:ea typeface="+mj-ea"/>
              </a:rPr>
              <a:t>A</a:t>
            </a:r>
            <a:endParaRPr lang="zh-CN" altLang="en-US" sz="1600" b="1" dirty="0">
              <a:solidFill>
                <a:srgbClr val="FFFFFF"/>
              </a:solidFill>
              <a:latin typeface="+mj-ea"/>
              <a:ea typeface="+mj-ea"/>
            </a:endParaRPr>
          </a:p>
        </p:txBody>
      </p:sp>
      <p:sp>
        <p:nvSpPr>
          <p:cNvPr id="27659" name="矩形 40"/>
          <p:cNvSpPr/>
          <p:nvPr/>
        </p:nvSpPr>
        <p:spPr>
          <a:xfrm>
            <a:off x="4586818" y="4292601"/>
            <a:ext cx="1509183"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b="1" dirty="0">
                <a:solidFill>
                  <a:srgbClr val="FFFFFF"/>
                </a:solidFill>
                <a:latin typeface="+mj-ea"/>
                <a:ea typeface="+mj-ea"/>
              </a:rPr>
              <a:t>计划到货</a:t>
            </a:r>
            <a:r>
              <a:rPr lang="en-US" altLang="zh-CN" sz="1600" b="1" dirty="0">
                <a:solidFill>
                  <a:srgbClr val="FFFFFF"/>
                </a:solidFill>
                <a:latin typeface="+mj-ea"/>
                <a:ea typeface="+mj-ea"/>
              </a:rPr>
              <a:t>C</a:t>
            </a:r>
            <a:endParaRPr lang="zh-CN" altLang="en-US" sz="1600" b="1" dirty="0">
              <a:solidFill>
                <a:srgbClr val="FFFFFF"/>
              </a:solidFill>
              <a:latin typeface="+mj-ea"/>
              <a:ea typeface="+mj-ea"/>
            </a:endParaRPr>
          </a:p>
        </p:txBody>
      </p:sp>
      <p:sp>
        <p:nvSpPr>
          <p:cNvPr id="27660" name="矩形 41"/>
          <p:cNvSpPr/>
          <p:nvPr/>
        </p:nvSpPr>
        <p:spPr>
          <a:xfrm>
            <a:off x="1536701" y="4531784"/>
            <a:ext cx="1392767"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rgbClr val="FFFFFF"/>
                </a:solidFill>
                <a:latin typeface="+mj-ea"/>
                <a:ea typeface="+mj-ea"/>
              </a:rPr>
              <a:t>库存</a:t>
            </a:r>
            <a:r>
              <a:rPr lang="en-US" altLang="zh-CN" sz="1600" b="1" dirty="0">
                <a:solidFill>
                  <a:srgbClr val="FFFFFF"/>
                </a:solidFill>
                <a:latin typeface="+mj-ea"/>
                <a:ea typeface="+mj-ea"/>
              </a:rPr>
              <a:t>B</a:t>
            </a:r>
            <a:endParaRPr lang="zh-CN" altLang="en-US" sz="1600" b="1" dirty="0">
              <a:solidFill>
                <a:srgbClr val="FFFFFF"/>
              </a:solidFill>
              <a:latin typeface="+mj-ea"/>
              <a:ea typeface="+mj-ea"/>
            </a:endParaRPr>
          </a:p>
        </p:txBody>
      </p:sp>
      <p:sp>
        <p:nvSpPr>
          <p:cNvPr id="14" name="Line 58"/>
          <p:cNvSpPr/>
          <p:nvPr/>
        </p:nvSpPr>
        <p:spPr>
          <a:xfrm flipH="1">
            <a:off x="3119967" y="3141133"/>
            <a:ext cx="3689351" cy="781051"/>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latin typeface="+mj-ea"/>
              <a:ea typeface="+mj-ea"/>
            </a:endParaRPr>
          </a:p>
        </p:txBody>
      </p:sp>
      <p:sp>
        <p:nvSpPr>
          <p:cNvPr id="15" name="Line 58"/>
          <p:cNvSpPr/>
          <p:nvPr/>
        </p:nvSpPr>
        <p:spPr>
          <a:xfrm flipH="1">
            <a:off x="5520267" y="3141133"/>
            <a:ext cx="1289051" cy="1151467"/>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latin typeface="+mj-ea"/>
              <a:ea typeface="+mj-ea"/>
            </a:endParaRPr>
          </a:p>
        </p:txBody>
      </p:sp>
      <p:sp>
        <p:nvSpPr>
          <p:cNvPr id="16" name="矩形标注 15"/>
          <p:cNvSpPr/>
          <p:nvPr/>
        </p:nvSpPr>
        <p:spPr>
          <a:xfrm>
            <a:off x="6076951" y="1515534"/>
            <a:ext cx="1441451" cy="560917"/>
          </a:xfrm>
          <a:prstGeom prst="wedgeRectCallout">
            <a:avLst>
              <a:gd name="adj1" fmla="val 782"/>
              <a:gd name="adj2" fmla="val 90562"/>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b="1" dirty="0">
                <a:solidFill>
                  <a:srgbClr val="FFFFFF"/>
                </a:solidFill>
                <a:latin typeface="+mj-ea"/>
                <a:ea typeface="+mj-ea"/>
                <a:cs typeface="微软雅黑" panose="020B0503020204020204" pitchFamily="34" charset="-122"/>
              </a:rPr>
              <a:t>交付计划</a:t>
            </a:r>
          </a:p>
        </p:txBody>
      </p:sp>
      <p:sp>
        <p:nvSpPr>
          <p:cNvPr id="17" name="矩形标注 16"/>
          <p:cNvSpPr/>
          <p:nvPr/>
        </p:nvSpPr>
        <p:spPr>
          <a:xfrm>
            <a:off x="3147484" y="1534584"/>
            <a:ext cx="1439333" cy="560917"/>
          </a:xfrm>
          <a:prstGeom prst="wedgeRectCallout">
            <a:avLst>
              <a:gd name="adj1" fmla="val 782"/>
              <a:gd name="adj2" fmla="val 90562"/>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b="1" dirty="0">
                <a:solidFill>
                  <a:srgbClr val="FFFFFF"/>
                </a:solidFill>
                <a:latin typeface="+mj-ea"/>
                <a:ea typeface="+mj-ea"/>
                <a:cs typeface="微软雅黑" panose="020B0503020204020204" pitchFamily="34" charset="-122"/>
              </a:rPr>
              <a:t>交付计划</a:t>
            </a:r>
          </a:p>
        </p:txBody>
      </p:sp>
      <p:sp>
        <p:nvSpPr>
          <p:cNvPr id="18" name="Line 58"/>
          <p:cNvSpPr/>
          <p:nvPr/>
        </p:nvSpPr>
        <p:spPr>
          <a:xfrm flipH="1">
            <a:off x="3119968" y="3141134"/>
            <a:ext cx="690033" cy="1648884"/>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a:lstStyle/>
          <a:p>
            <a:endParaRPr lang="zh-CN" altLang="en-US">
              <a:latin typeface="+mj-ea"/>
              <a:ea typeface="+mj-ea"/>
            </a:endParaRPr>
          </a:p>
        </p:txBody>
      </p:sp>
      <p:sp>
        <p:nvSpPr>
          <p:cNvPr id="20" name="Line 58"/>
          <p:cNvSpPr/>
          <p:nvPr/>
        </p:nvSpPr>
        <p:spPr>
          <a:xfrm flipH="1">
            <a:off x="3119968" y="2645834"/>
            <a:ext cx="690033" cy="1276351"/>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latin typeface="+mj-ea"/>
              <a:ea typeface="+mj-ea"/>
            </a:endParaRPr>
          </a:p>
        </p:txBody>
      </p:sp>
      <p:sp>
        <p:nvSpPr>
          <p:cNvPr id="21" name="Line 58"/>
          <p:cNvSpPr/>
          <p:nvPr/>
        </p:nvSpPr>
        <p:spPr>
          <a:xfrm flipH="1">
            <a:off x="3119967" y="2654489"/>
            <a:ext cx="690033" cy="2051049"/>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latin typeface="+mj-ea"/>
              <a:ea typeface="+mj-ea"/>
            </a:endParaRPr>
          </a:p>
        </p:txBody>
      </p:sp>
      <p:sp>
        <p:nvSpPr>
          <p:cNvPr id="22" name="TextBox 74"/>
          <p:cNvSpPr txBox="1"/>
          <p:nvPr/>
        </p:nvSpPr>
        <p:spPr>
          <a:xfrm>
            <a:off x="7823201" y="2436284"/>
            <a:ext cx="4146551" cy="861752"/>
          </a:xfrm>
          <a:prstGeom prst="rect">
            <a:avLst/>
          </a:prstGeom>
          <a:no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600" b="1" dirty="0">
                <a:solidFill>
                  <a:schemeClr val="bg1"/>
                </a:solidFill>
                <a:latin typeface="+mj-ea"/>
                <a:ea typeface="+mj-ea"/>
              </a:rPr>
              <a:t>生产计划</a:t>
            </a:r>
            <a:endParaRPr lang="en-US" altLang="zh-CN" sz="1600" b="1" dirty="0">
              <a:solidFill>
                <a:schemeClr val="bg1"/>
              </a:solidFill>
              <a:latin typeface="+mj-ea"/>
              <a:ea typeface="+mj-ea"/>
            </a:endParaRPr>
          </a:p>
          <a:p>
            <a:pPr defTabSz="1217476" eaLnBrk="1" hangingPunct="1">
              <a:spcBef>
                <a:spcPct val="0"/>
              </a:spcBef>
            </a:pPr>
            <a:r>
              <a:rPr lang="en-US" altLang="zh-CN" sz="1600" dirty="0">
                <a:solidFill>
                  <a:schemeClr val="bg1"/>
                </a:solidFill>
                <a:latin typeface="+mj-ea"/>
                <a:ea typeface="+mj-ea"/>
              </a:rPr>
              <a:t> </a:t>
            </a: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立即安排生产</a:t>
            </a:r>
            <a:endParaRPr lang="en-US" altLang="zh-CN" sz="1600" dirty="0">
              <a:solidFill>
                <a:schemeClr val="bg1"/>
              </a:solidFill>
              <a:latin typeface="+mj-ea"/>
              <a:ea typeface="+mj-ea"/>
            </a:endParaRPr>
          </a:p>
          <a:p>
            <a:pPr defTabSz="1217476" eaLnBrk="1" hangingPunct="1">
              <a:spcBef>
                <a:spcPct val="0"/>
              </a:spcBef>
            </a:pPr>
            <a:r>
              <a:rPr lang="en-US" altLang="zh-CN" sz="1600" dirty="0">
                <a:solidFill>
                  <a:schemeClr val="bg1"/>
                </a:solidFill>
                <a:latin typeface="+mj-ea"/>
                <a:ea typeface="+mj-ea"/>
              </a:rPr>
              <a:t> </a:t>
            </a: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短缺</a:t>
            </a:r>
          </a:p>
        </p:txBody>
      </p:sp>
      <p:cxnSp>
        <p:nvCxnSpPr>
          <p:cNvPr id="23" name="直接连接符 7"/>
          <p:cNvCxnSpPr/>
          <p:nvPr/>
        </p:nvCxnSpPr>
        <p:spPr>
          <a:xfrm>
            <a:off x="7535333" y="1509185"/>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4" name="圆角矩形 23"/>
          <p:cNvSpPr/>
          <p:nvPr/>
        </p:nvSpPr>
        <p:spPr>
          <a:xfrm>
            <a:off x="7713133" y="3856857"/>
            <a:ext cx="3799417" cy="1409700"/>
          </a:xfrm>
          <a:prstGeom prst="round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defTabSz="1217476" fontAlgn="base">
              <a:spcBef>
                <a:spcPct val="0"/>
              </a:spcBef>
              <a:spcAft>
                <a:spcPct val="0"/>
              </a:spcAft>
              <a:defRPr/>
            </a:pPr>
            <a:r>
              <a:rPr lang="zh-CN" altLang="en-US" sz="1600" b="1" dirty="0">
                <a:solidFill>
                  <a:schemeClr val="bg1"/>
                </a:solidFill>
                <a:latin typeface="+mj-ea"/>
                <a:ea typeface="+mj-ea"/>
                <a:cs typeface="Arial Unicode MS" charset="0"/>
              </a:rPr>
              <a:t>供应不一致引发交付和生产矛盾：</a:t>
            </a:r>
            <a:endParaRPr lang="en-US" altLang="zh-CN" sz="1600" b="1" dirty="0">
              <a:solidFill>
                <a:schemeClr val="bg1"/>
              </a:solidFill>
              <a:latin typeface="+mj-ea"/>
              <a:ea typeface="+mj-ea"/>
              <a:cs typeface="Arial Unicode MS" charset="0"/>
            </a:endParaRPr>
          </a:p>
          <a:p>
            <a:pPr marL="742950" lvl="1" indent="-285750" defTabSz="1217476" fontAlgn="base">
              <a:spcBef>
                <a:spcPct val="0"/>
              </a:spcBef>
              <a:spcAft>
                <a:spcPct val="0"/>
              </a:spcAft>
              <a:buFont typeface="Arial" panose="020B0604020202020204" pitchFamily="34" charset="0"/>
              <a:buChar char="•"/>
              <a:defRPr/>
            </a:pPr>
            <a:r>
              <a:rPr lang="zh-CN" altLang="en-US" sz="1600" dirty="0">
                <a:solidFill>
                  <a:schemeClr val="bg1"/>
                </a:solidFill>
                <a:latin typeface="+mj-ea"/>
                <a:ea typeface="+mj-ea"/>
                <a:cs typeface="Arial Unicode MS" charset="0"/>
              </a:rPr>
              <a:t>交付计划考虑所有供应</a:t>
            </a:r>
            <a:endParaRPr lang="en-US" altLang="zh-CN" sz="1600" dirty="0">
              <a:solidFill>
                <a:schemeClr val="bg1"/>
              </a:solidFill>
              <a:latin typeface="+mj-ea"/>
              <a:ea typeface="+mj-ea"/>
              <a:cs typeface="Arial Unicode MS" charset="0"/>
            </a:endParaRPr>
          </a:p>
          <a:p>
            <a:pPr marL="742950" lvl="1" indent="-285750" defTabSz="1217476" fontAlgn="base">
              <a:spcBef>
                <a:spcPct val="0"/>
              </a:spcBef>
              <a:spcAft>
                <a:spcPct val="0"/>
              </a:spcAft>
              <a:buFont typeface="Arial" panose="020B0604020202020204" pitchFamily="34" charset="0"/>
              <a:buChar char="•"/>
              <a:defRPr/>
            </a:pPr>
            <a:r>
              <a:rPr lang="zh-CN" altLang="en-US" sz="1600" dirty="0">
                <a:solidFill>
                  <a:schemeClr val="bg1"/>
                </a:solidFill>
                <a:latin typeface="+mj-ea"/>
                <a:ea typeface="+mj-ea"/>
                <a:cs typeface="Arial Unicode MS" charset="0"/>
              </a:rPr>
              <a:t>生产计划只考虑在手库存</a:t>
            </a:r>
          </a:p>
        </p:txBody>
      </p:sp>
      <p:sp>
        <p:nvSpPr>
          <p:cNvPr id="25" name="矩形标注 24"/>
          <p:cNvSpPr/>
          <p:nvPr/>
        </p:nvSpPr>
        <p:spPr>
          <a:xfrm>
            <a:off x="6103504" y="1541698"/>
            <a:ext cx="1439333" cy="508000"/>
          </a:xfrm>
          <a:prstGeom prst="wedgeRectCallout">
            <a:avLst>
              <a:gd name="adj1" fmla="val 782"/>
              <a:gd name="adj2" fmla="val 90562"/>
            </a:avLst>
          </a:prstGeom>
          <a:solidFill>
            <a:srgbClr val="66009B"/>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b="1" dirty="0">
                <a:solidFill>
                  <a:srgbClr val="FFFFFF"/>
                </a:solidFill>
                <a:latin typeface="+mj-ea"/>
                <a:ea typeface="+mj-ea"/>
                <a:cs typeface="微软雅黑" panose="020B0503020204020204" pitchFamily="34" charset="-122"/>
              </a:rPr>
              <a:t>生产计划</a:t>
            </a:r>
          </a:p>
        </p:txBody>
      </p:sp>
      <p:sp>
        <p:nvSpPr>
          <p:cNvPr id="26" name="Line 58"/>
          <p:cNvSpPr/>
          <p:nvPr/>
        </p:nvSpPr>
        <p:spPr>
          <a:xfrm flipH="1">
            <a:off x="3119967" y="2686051"/>
            <a:ext cx="3689351" cy="1236133"/>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a:lstStyle/>
          <a:p>
            <a:endParaRPr lang="zh-CN" altLang="en-US">
              <a:latin typeface="+mj-ea"/>
              <a:ea typeface="+mj-ea"/>
            </a:endParaRPr>
          </a:p>
        </p:txBody>
      </p:sp>
      <p:sp>
        <p:nvSpPr>
          <p:cNvPr id="27" name="TextBox 8"/>
          <p:cNvSpPr txBox="1"/>
          <p:nvPr/>
        </p:nvSpPr>
        <p:spPr>
          <a:xfrm>
            <a:off x="4521158" y="2788253"/>
            <a:ext cx="1527941" cy="369310"/>
          </a:xfrm>
          <a:prstGeom prst="rect">
            <a:avLst/>
          </a:prstGeom>
          <a:noFill/>
          <a:scene3d>
            <a:camera prst="orthographicFront">
              <a:rot lat="1195241" lon="109017" rev="919146"/>
            </a:camera>
            <a:lightRig rig="threePt" dir="t"/>
          </a:scene3d>
        </p:spPr>
        <p:txBody>
          <a:bodyPr lIns="121899" tIns="60949" rIns="121899" bIns="60949">
            <a:spAutoFit/>
          </a:bodyPr>
          <a:lstStyle/>
          <a:p>
            <a:pPr defTabSz="1219170">
              <a:defRPr/>
            </a:pPr>
            <a:r>
              <a:rPr lang="zh-CN" altLang="en-US" sz="1600" dirty="0">
                <a:solidFill>
                  <a:schemeClr val="bg1"/>
                </a:solidFill>
                <a:latin typeface="+mj-ea"/>
                <a:ea typeface="+mj-ea"/>
              </a:rPr>
              <a:t>不齐套</a:t>
            </a:r>
          </a:p>
        </p:txBody>
      </p:sp>
      <p:sp>
        <p:nvSpPr>
          <p:cNvPr id="28" name="矩形标注 27"/>
          <p:cNvSpPr/>
          <p:nvPr/>
        </p:nvSpPr>
        <p:spPr>
          <a:xfrm>
            <a:off x="3168651" y="1550687"/>
            <a:ext cx="1439333" cy="510117"/>
          </a:xfrm>
          <a:prstGeom prst="wedgeRectCallout">
            <a:avLst>
              <a:gd name="adj1" fmla="val 782"/>
              <a:gd name="adj2" fmla="val 90562"/>
            </a:avLst>
          </a:prstGeom>
          <a:solidFill>
            <a:srgbClr val="66009B"/>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b="1" dirty="0">
                <a:solidFill>
                  <a:srgbClr val="FFFFFF"/>
                </a:solidFill>
                <a:latin typeface="+mj-ea"/>
                <a:ea typeface="+mj-ea"/>
                <a:cs typeface="微软雅黑" panose="020B0503020204020204" pitchFamily="34" charset="-122"/>
              </a:rPr>
              <a:t>生产计划</a:t>
            </a:r>
          </a:p>
        </p:txBody>
      </p:sp>
      <p:sp>
        <p:nvSpPr>
          <p:cNvPr id="27676" name="Title 37"/>
          <p:cNvSpPr>
            <a:spLocks noGrp="1"/>
          </p:cNvSpPr>
          <p:nvPr>
            <p:ph type="title" idx="4294967295"/>
          </p:nvPr>
        </p:nvSpPr>
        <p:spPr>
          <a:xfrm>
            <a:off x="1116013" y="157163"/>
            <a:ext cx="11075987" cy="520700"/>
          </a:xfrm>
          <a:prstGeom prst="rect">
            <a:avLst/>
          </a:prstGeom>
        </p:spPr>
        <p:txBody>
          <a:bodyPr vert="horz" wrap="square" lIns="121920" tIns="60960" rIns="121920" bIns="60960" anchor="ctr" anchorCtr="0">
            <a:normAutofit/>
          </a:bodyPr>
          <a:lstStyle/>
          <a:p>
            <a:pPr eaLnBrk="1" hangingPunct="1"/>
            <a:r>
              <a:rPr lang="zh-CN" altLang="en-US" b="1" dirty="0">
                <a:solidFill>
                  <a:schemeClr val="bg1"/>
                </a:solidFill>
                <a:latin typeface="+mj-ea"/>
              </a:rPr>
              <a:t>场景</a:t>
            </a:r>
            <a:r>
              <a:rPr lang="en-US" altLang="zh-CN" b="1" dirty="0">
                <a:solidFill>
                  <a:schemeClr val="bg1"/>
                </a:solidFill>
                <a:latin typeface="+mj-ea"/>
              </a:rPr>
              <a:t>#1: </a:t>
            </a:r>
            <a:r>
              <a:rPr lang="zh-CN" altLang="en-US" dirty="0">
                <a:solidFill>
                  <a:schemeClr val="bg1"/>
                </a:solidFill>
                <a:latin typeface="+mj-ea"/>
              </a:rPr>
              <a:t>挑战</a:t>
            </a:r>
            <a:r>
              <a:rPr lang="en-US" altLang="zh-CN" b="1" dirty="0">
                <a:solidFill>
                  <a:schemeClr val="bg1"/>
                </a:solidFill>
                <a:latin typeface="+mj-ea"/>
              </a:rPr>
              <a:t> B</a:t>
            </a:r>
          </a:p>
        </p:txBody>
      </p:sp>
      <p:sp>
        <p:nvSpPr>
          <p:cNvPr id="30" name="TextBox 43"/>
          <p:cNvSpPr txBox="1"/>
          <p:nvPr/>
        </p:nvSpPr>
        <p:spPr>
          <a:xfrm>
            <a:off x="7823201" y="1509184"/>
            <a:ext cx="4146551" cy="861752"/>
          </a:xfrm>
          <a:prstGeom prst="rect">
            <a:avLst/>
          </a:prstGeom>
          <a:no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600" b="1" dirty="0">
                <a:solidFill>
                  <a:schemeClr val="bg1"/>
                </a:solidFill>
                <a:latin typeface="+mj-ea"/>
                <a:ea typeface="+mj-ea"/>
              </a:rPr>
              <a:t>交付计划</a:t>
            </a:r>
            <a:endParaRPr lang="en-US" altLang="zh-CN" sz="1600" b="1" dirty="0">
              <a:solidFill>
                <a:schemeClr val="bg1"/>
              </a:solidFill>
              <a:latin typeface="+mj-ea"/>
              <a:ea typeface="+mj-ea"/>
            </a:endParaRPr>
          </a:p>
          <a:p>
            <a:pPr marL="0" indent="0" defTabSz="1217476" eaLnBrk="1" hangingPunct="1">
              <a:spcBef>
                <a:spcPct val="0"/>
              </a:spcBef>
            </a:pPr>
            <a:r>
              <a:rPr lang="en-US" altLang="zh-CN" sz="1600" dirty="0">
                <a:solidFill>
                  <a:schemeClr val="bg1"/>
                </a:solidFill>
                <a:latin typeface="+mj-ea"/>
                <a:ea typeface="+mj-ea"/>
              </a:rPr>
              <a:t> </a:t>
            </a: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缺料</a:t>
            </a:r>
            <a:r>
              <a:rPr lang="en-US" altLang="zh-CN" sz="1600" dirty="0">
                <a:solidFill>
                  <a:schemeClr val="bg1"/>
                </a:solidFill>
                <a:latin typeface="+mj-ea"/>
                <a:ea typeface="+mj-ea"/>
              </a:rPr>
              <a:t>: Order No Supply</a:t>
            </a:r>
          </a:p>
          <a:p>
            <a:pPr marL="0" indent="0" defTabSz="1217476" eaLnBrk="1" hangingPunct="1">
              <a:spcBef>
                <a:spcPct val="0"/>
              </a:spcBef>
            </a:pPr>
            <a:r>
              <a:rPr lang="en-US" altLang="zh-CN" sz="1600" dirty="0">
                <a:solidFill>
                  <a:schemeClr val="bg1"/>
                </a:solidFill>
                <a:latin typeface="+mj-ea"/>
                <a:ea typeface="+mj-ea"/>
              </a:rPr>
              <a:t> </a:t>
            </a:r>
            <a:r>
              <a:rPr lang="zh-CN" altLang="en-US" sz="1600" dirty="0">
                <a:solidFill>
                  <a:schemeClr val="bg1"/>
                </a:solidFill>
                <a:latin typeface="+mj-ea"/>
                <a:ea typeface="+mj-ea"/>
              </a:rPr>
              <a:t>需求</a:t>
            </a:r>
            <a:r>
              <a:rPr lang="en-US" altLang="zh-CN" sz="1600" dirty="0">
                <a:solidFill>
                  <a:schemeClr val="bg1"/>
                </a:solidFill>
                <a:latin typeface="+mj-ea"/>
                <a:ea typeface="+mj-ea"/>
              </a:rPr>
              <a:t>2: </a:t>
            </a:r>
            <a:r>
              <a:rPr lang="zh-CN" altLang="en-US" sz="1600" dirty="0">
                <a:solidFill>
                  <a:schemeClr val="bg1"/>
                </a:solidFill>
                <a:latin typeface="+mj-ea"/>
                <a:ea typeface="+mj-ea"/>
              </a:rPr>
              <a:t>第</a:t>
            </a:r>
            <a:r>
              <a:rPr lang="en-US" altLang="zh-CN" sz="1600" dirty="0">
                <a:solidFill>
                  <a:schemeClr val="bg1"/>
                </a:solidFill>
                <a:latin typeface="+mj-ea"/>
                <a:ea typeface="+mj-ea"/>
              </a:rPr>
              <a:t>4</a:t>
            </a:r>
            <a:r>
              <a:rPr lang="zh-CN" altLang="en-US" sz="1600" dirty="0">
                <a:solidFill>
                  <a:schemeClr val="bg1"/>
                </a:solidFill>
                <a:latin typeface="+mj-ea"/>
                <a:ea typeface="+mj-ea"/>
              </a:rPr>
              <a:t>天交付</a:t>
            </a:r>
          </a:p>
        </p:txBody>
      </p:sp>
      <p:cxnSp>
        <p:nvCxnSpPr>
          <p:cNvPr id="31" name="直接连接符 7"/>
          <p:cNvCxnSpPr/>
          <p:nvPr/>
        </p:nvCxnSpPr>
        <p:spPr>
          <a:xfrm>
            <a:off x="6068484" y="1534585"/>
            <a:ext cx="0" cy="4070351"/>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接连接符 7"/>
          <p:cNvCxnSpPr/>
          <p:nvPr/>
        </p:nvCxnSpPr>
        <p:spPr>
          <a:xfrm>
            <a:off x="4586817" y="1572685"/>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接连接符 7"/>
          <p:cNvCxnSpPr/>
          <p:nvPr/>
        </p:nvCxnSpPr>
        <p:spPr>
          <a:xfrm>
            <a:off x="3147484" y="1490134"/>
            <a:ext cx="0" cy="2034117"/>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7681" name="文本框 1"/>
          <p:cNvSpPr txBox="1"/>
          <p:nvPr/>
        </p:nvSpPr>
        <p:spPr>
          <a:xfrm>
            <a:off x="1413934" y="956734"/>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1</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27682" name="文本框 1"/>
          <p:cNvSpPr txBox="1"/>
          <p:nvPr/>
        </p:nvSpPr>
        <p:spPr>
          <a:xfrm>
            <a:off x="3064934" y="950385"/>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2</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27683" name="文本框 1"/>
          <p:cNvSpPr txBox="1"/>
          <p:nvPr/>
        </p:nvSpPr>
        <p:spPr>
          <a:xfrm>
            <a:off x="4576234" y="937685"/>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3</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27684" name="文本框 1"/>
          <p:cNvSpPr txBox="1"/>
          <p:nvPr/>
        </p:nvSpPr>
        <p:spPr>
          <a:xfrm>
            <a:off x="6019801" y="922867"/>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4</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38" name="TextBox 45"/>
          <p:cNvSpPr txBox="1"/>
          <p:nvPr/>
        </p:nvSpPr>
        <p:spPr>
          <a:xfrm>
            <a:off x="4464052" y="3947585"/>
            <a:ext cx="1822449" cy="338554"/>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en-US" altLang="zh-CN" sz="1600" dirty="0">
                <a:solidFill>
                  <a:schemeClr val="bg1"/>
                </a:solidFill>
                <a:latin typeface="+mj-ea"/>
                <a:ea typeface="+mj-ea"/>
                <a:cs typeface="Arial" panose="020B0604020202020204" pitchFamily="34" charset="0"/>
              </a:rPr>
              <a:t>Not accessible</a:t>
            </a:r>
            <a:endParaRPr lang="zh-CN" altLang="en-US" sz="2400" dirty="0">
              <a:solidFill>
                <a:schemeClr val="bg1"/>
              </a:solidFill>
              <a:latin typeface="+mj-ea"/>
              <a:ea typeface="+mj-ea"/>
            </a:endParaRPr>
          </a:p>
        </p:txBody>
      </p:sp>
      <p:sp>
        <p:nvSpPr>
          <p:cNvPr id="39" name="Line 58"/>
          <p:cNvSpPr/>
          <p:nvPr/>
        </p:nvSpPr>
        <p:spPr>
          <a:xfrm flipH="1">
            <a:off x="3147485" y="3141133"/>
            <a:ext cx="662516" cy="694267"/>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a:lstStyle/>
          <a:p>
            <a:endParaRPr lang="zh-CN" altLang="en-US">
              <a:latin typeface="+mj-ea"/>
              <a:ea typeface="+mj-ea"/>
            </a:endParaRPr>
          </a:p>
        </p:txBody>
      </p:sp>
      <p:sp>
        <p:nvSpPr>
          <p:cNvPr id="2" name="文本框 1">
            <a:extLst>
              <a:ext uri="{FF2B5EF4-FFF2-40B4-BE49-F238E27FC236}">
                <a16:creationId xmlns:a16="http://schemas.microsoft.com/office/drawing/2014/main" id="{7897A37D-9ECE-8F26-911F-79AF64E5A3D8}"/>
              </a:ext>
            </a:extLst>
          </p:cNvPr>
          <p:cNvSpPr txBox="1"/>
          <p:nvPr/>
        </p:nvSpPr>
        <p:spPr>
          <a:xfrm>
            <a:off x="10500621" y="3304118"/>
            <a:ext cx="1302564" cy="338554"/>
          </a:xfrm>
          <a:prstGeom prst="rect">
            <a:avLst/>
          </a:prstGeom>
          <a:noFill/>
        </p:spPr>
        <p:txBody>
          <a:bodyPr wrap="square" rtlCol="0">
            <a:spAutoFit/>
          </a:bodyPr>
          <a:lstStyle/>
          <a:p>
            <a:r>
              <a:rPr lang="zh-CN" altLang="en-US" sz="1600" b="1" dirty="0">
                <a:solidFill>
                  <a:schemeClr val="bg1"/>
                </a:solidFill>
                <a:latin typeface="+mj-ea"/>
                <a:ea typeface="+mj-ea"/>
              </a:rPr>
              <a:t>需求日期</a:t>
            </a:r>
          </a:p>
        </p:txBody>
      </p:sp>
      <p:sp>
        <p:nvSpPr>
          <p:cNvPr id="9" name="TextBox 30">
            <a:extLst>
              <a:ext uri="{FF2B5EF4-FFF2-40B4-BE49-F238E27FC236}">
                <a16:creationId xmlns:a16="http://schemas.microsoft.com/office/drawing/2014/main" id="{8076669B-2425-BE72-CA18-DDF6DD82DFAE}"/>
              </a:ext>
            </a:extLst>
          </p:cNvPr>
          <p:cNvSpPr txBox="1"/>
          <p:nvPr/>
        </p:nvSpPr>
        <p:spPr>
          <a:xfrm>
            <a:off x="103189" y="1689390"/>
            <a:ext cx="3159124" cy="1354195"/>
          </a:xfrm>
          <a:prstGeom prst="rect">
            <a:avLst/>
          </a:prstGeom>
          <a:no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600" b="1" dirty="0">
                <a:solidFill>
                  <a:schemeClr val="bg1"/>
                </a:solidFill>
                <a:latin typeface="+mj-ea"/>
                <a:ea typeface="+mj-ea"/>
              </a:rPr>
              <a:t>场景</a:t>
            </a:r>
            <a:r>
              <a:rPr lang="en-US" altLang="zh-CN" sz="1600" b="1" dirty="0">
                <a:solidFill>
                  <a:schemeClr val="bg1"/>
                </a:solidFill>
                <a:latin typeface="+mj-ea"/>
                <a:ea typeface="+mj-ea"/>
              </a:rPr>
              <a:t>:</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B</a:t>
            </a:r>
            <a:r>
              <a:rPr lang="zh-CN" altLang="en-US" sz="1600" dirty="0">
                <a:solidFill>
                  <a:schemeClr val="bg1"/>
                </a:solidFill>
                <a:latin typeface="+mj-ea"/>
                <a:ea typeface="+mj-ea"/>
              </a:rPr>
              <a:t>生产</a:t>
            </a:r>
            <a:endParaRPr lang="en-US" altLang="zh-CN" sz="1600" dirty="0">
              <a:solidFill>
                <a:schemeClr val="bg1"/>
              </a:solidFill>
              <a:latin typeface="+mj-ea"/>
              <a:ea typeface="+mj-ea"/>
            </a:endParaRP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C</a:t>
            </a:r>
            <a:r>
              <a:rPr lang="zh-CN" altLang="en-US" sz="1600" dirty="0">
                <a:solidFill>
                  <a:schemeClr val="bg1"/>
                </a:solidFill>
                <a:latin typeface="+mj-ea"/>
                <a:ea typeface="+mj-ea"/>
              </a:rPr>
              <a:t>生产</a:t>
            </a:r>
            <a:endParaRPr lang="en-US" altLang="zh-CN" sz="1600" dirty="0">
              <a:solidFill>
                <a:schemeClr val="bg1"/>
              </a:solidFill>
              <a:latin typeface="+mj-ea"/>
              <a:ea typeface="+mj-ea"/>
            </a:endParaRP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的优先级高于需求</a:t>
            </a:r>
            <a:r>
              <a:rPr lang="en-US" altLang="zh-CN" sz="1600" dirty="0">
                <a:solidFill>
                  <a:schemeClr val="bg1"/>
                </a:solidFill>
                <a:latin typeface="+mj-ea"/>
                <a:ea typeface="+mj-ea"/>
              </a:rPr>
              <a:t>1</a:t>
            </a:r>
          </a:p>
          <a:p>
            <a:pPr marL="0" indent="0" defTabSz="1217476" eaLnBrk="1" hangingPunct="1">
              <a:spcBef>
                <a:spcPct val="0"/>
              </a:spcBef>
            </a:pPr>
            <a:r>
              <a:rPr lang="zh-CN" altLang="en-US" sz="1600" dirty="0">
                <a:solidFill>
                  <a:schemeClr val="bg1"/>
                </a:solidFill>
                <a:latin typeface="+mj-ea"/>
                <a:ea typeface="+mj-ea"/>
              </a:rPr>
              <a:t>库存</a:t>
            </a:r>
            <a:r>
              <a:rPr lang="en-US" altLang="zh-CN" sz="1600" dirty="0">
                <a:solidFill>
                  <a:schemeClr val="bg1"/>
                </a:solidFill>
                <a:latin typeface="+mj-ea"/>
                <a:ea typeface="+mj-ea"/>
              </a:rPr>
              <a:t>A</a:t>
            </a:r>
            <a:r>
              <a:rPr lang="zh-CN" altLang="en-US" sz="1600" dirty="0">
                <a:solidFill>
                  <a:schemeClr val="bg1"/>
                </a:solidFill>
                <a:latin typeface="+mj-ea"/>
                <a:ea typeface="+mj-ea"/>
              </a:rPr>
              <a:t>只能满足其中一笔需求</a:t>
            </a:r>
            <a:endParaRPr lang="en-US" altLang="zh-CN" sz="1600" dirty="0">
              <a:solidFill>
                <a:schemeClr val="bg1"/>
              </a:solidFill>
              <a:latin typeface="+mj-ea"/>
              <a:ea typeface="+mj-ea"/>
            </a:endParaRPr>
          </a:p>
        </p:txBody>
      </p:sp>
    </p:spTree>
    <p:custDataLst>
      <p:tags r:id="rId1"/>
    </p:custData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23" presetClass="entr" presetSubtype="16"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 calcmode="lin" valueType="num">
                                      <p:cBhvr>
                                        <p:cTn id="10" dur="500" fill="hold"/>
                                        <p:tgtEl>
                                          <p:spTgt spid="14"/>
                                        </p:tgtEl>
                                        <p:attrNameLst>
                                          <p:attrName>ppt_w</p:attrName>
                                        </p:attrNameLst>
                                      </p:cBhvr>
                                      <p:tavLst>
                                        <p:tav tm="0">
                                          <p:val>
                                            <p:fltVal val="0"/>
                                          </p:val>
                                        </p:tav>
                                        <p:tav tm="100000">
                                          <p:val>
                                            <p:strVal val="#ppt_w"/>
                                          </p:val>
                                        </p:tav>
                                      </p:tavLst>
                                    </p:anim>
                                    <p:anim calcmode="lin" valueType="num">
                                      <p:cBhvr>
                                        <p:cTn id="11" dur="500" fill="hold"/>
                                        <p:tgtEl>
                                          <p:spTgt spid="14"/>
                                        </p:tgtEl>
                                        <p:attrNameLst>
                                          <p:attrName>ppt_h</p:attrName>
                                        </p:attrNameLst>
                                      </p:cBhvr>
                                      <p:tavLst>
                                        <p:tav tm="0">
                                          <p:val>
                                            <p:fltVal val="0"/>
                                          </p:val>
                                        </p:tav>
                                        <p:tav tm="100000">
                                          <p:val>
                                            <p:strVal val="#ppt_h"/>
                                          </p:val>
                                        </p:tav>
                                      </p:tavLst>
                                    </p:anim>
                                  </p:childTnLst>
                                </p:cTn>
                              </p:par>
                              <p:par>
                                <p:cTn id="12" presetID="23" presetClass="entr" presetSubtype="16" fill="hold"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p:cTn id="14" dur="500" fill="hold"/>
                                        <p:tgtEl>
                                          <p:spTgt spid="15"/>
                                        </p:tgtEl>
                                        <p:attrNameLst>
                                          <p:attrName>ppt_w</p:attrName>
                                        </p:attrNameLst>
                                      </p:cBhvr>
                                      <p:tavLst>
                                        <p:tav tm="0">
                                          <p:val>
                                            <p:fltVal val="0"/>
                                          </p:val>
                                        </p:tav>
                                        <p:tav tm="100000">
                                          <p:val>
                                            <p:strVal val="#ppt_w"/>
                                          </p:val>
                                        </p:tav>
                                      </p:tavLst>
                                    </p:anim>
                                    <p:anim calcmode="lin" valueType="num">
                                      <p:cBhvr>
                                        <p:cTn id="15" dur="500" fill="hold"/>
                                        <p:tgtEl>
                                          <p:spTgt spid="15"/>
                                        </p:tgtEl>
                                        <p:attrNameLst>
                                          <p:attrName>ppt_h</p:attrName>
                                        </p:attrNameLst>
                                      </p:cBhvr>
                                      <p:tavLst>
                                        <p:tav tm="0">
                                          <p:val>
                                            <p:fltVal val="0"/>
                                          </p:val>
                                        </p:tav>
                                        <p:tav tm="100000">
                                          <p:val>
                                            <p:strVal val="#ppt_h"/>
                                          </p:val>
                                        </p:tav>
                                      </p:tavLst>
                                    </p:anim>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23" presetClass="entr" presetSubtype="16" fill="hold"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p:cTn id="23" dur="500" fill="hold"/>
                                        <p:tgtEl>
                                          <p:spTgt spid="18"/>
                                        </p:tgtEl>
                                        <p:attrNameLst>
                                          <p:attrName>ppt_w</p:attrName>
                                        </p:attrNameLst>
                                      </p:cBhvr>
                                      <p:tavLst>
                                        <p:tav tm="0">
                                          <p:val>
                                            <p:fltVal val="0"/>
                                          </p:val>
                                        </p:tav>
                                        <p:tav tm="100000">
                                          <p:val>
                                            <p:strVal val="#ppt_w"/>
                                          </p:val>
                                        </p:tav>
                                      </p:tavLst>
                                    </p:anim>
                                    <p:anim calcmode="lin" valueType="num">
                                      <p:cBhvr>
                                        <p:cTn id="24" dur="500" fill="hold"/>
                                        <p:tgtEl>
                                          <p:spTgt spid="18"/>
                                        </p:tgtEl>
                                        <p:attrNameLst>
                                          <p:attrName>ppt_h</p:attrName>
                                        </p:attrNameLst>
                                      </p:cBhvr>
                                      <p:tavLst>
                                        <p:tav tm="0">
                                          <p:val>
                                            <p:fltVal val="0"/>
                                          </p:val>
                                        </p:tav>
                                        <p:tav tm="100000">
                                          <p:val>
                                            <p:strVal val="#ppt_h"/>
                                          </p:val>
                                        </p:tav>
                                      </p:tavLst>
                                    </p:anim>
                                  </p:childTnLst>
                                </p:cTn>
                              </p:par>
                              <p:par>
                                <p:cTn id="25" presetID="23" presetClass="entr" presetSubtype="16" fill="hold" nodeType="withEffect">
                                  <p:stCondLst>
                                    <p:cond delay="0"/>
                                  </p:stCondLst>
                                  <p:childTnLst>
                                    <p:set>
                                      <p:cBhvr>
                                        <p:cTn id="26" dur="1" fill="hold">
                                          <p:stCondLst>
                                            <p:cond delay="0"/>
                                          </p:stCondLst>
                                        </p:cTn>
                                        <p:tgtEl>
                                          <p:spTgt spid="39"/>
                                        </p:tgtEl>
                                        <p:attrNameLst>
                                          <p:attrName>style.visibility</p:attrName>
                                        </p:attrNameLst>
                                      </p:cBhvr>
                                      <p:to>
                                        <p:strVal val="visible"/>
                                      </p:to>
                                    </p:set>
                                    <p:anim calcmode="lin" valueType="num">
                                      <p:cBhvr>
                                        <p:cTn id="27" dur="500" fill="hold"/>
                                        <p:tgtEl>
                                          <p:spTgt spid="39"/>
                                        </p:tgtEl>
                                        <p:attrNameLst>
                                          <p:attrName>ppt_w</p:attrName>
                                        </p:attrNameLst>
                                      </p:cBhvr>
                                      <p:tavLst>
                                        <p:tav tm="0">
                                          <p:val>
                                            <p:fltVal val="0"/>
                                          </p:val>
                                        </p:tav>
                                        <p:tav tm="100000">
                                          <p:val>
                                            <p:strVal val="#ppt_w"/>
                                          </p:val>
                                        </p:tav>
                                      </p:tavLst>
                                    </p:anim>
                                    <p:anim calcmode="lin" valueType="num">
                                      <p:cBhvr>
                                        <p:cTn id="28" dur="500" fill="hold"/>
                                        <p:tgtEl>
                                          <p:spTgt spid="39"/>
                                        </p:tgtEl>
                                        <p:attrNameLst>
                                          <p:attrName>ppt_h</p:attrName>
                                        </p:attrNameLst>
                                      </p:cBhvr>
                                      <p:tavLst>
                                        <p:tav tm="0">
                                          <p:val>
                                            <p:fltVal val="0"/>
                                          </p:val>
                                        </p:tav>
                                        <p:tav tm="100000">
                                          <p:val>
                                            <p:strVal val="#ppt_h"/>
                                          </p:val>
                                        </p:tav>
                                      </p:tavLst>
                                    </p:anim>
                                  </p:childTnLst>
                                </p:cTn>
                              </p:par>
                              <p:par>
                                <p:cTn id="29" presetID="6" presetClass="entr" presetSubtype="16" fill="hold" grpId="0" nodeType="with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circle(in)">
                                      <p:cBhvr>
                                        <p:cTn id="31" dur="2000"/>
                                        <p:tgtEl>
                                          <p:spTgt spid="30"/>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xit" presetSubtype="10" fill="hold" grpId="1" nodeType="clickEffect">
                                  <p:stCondLst>
                                    <p:cond delay="0"/>
                                  </p:stCondLst>
                                  <p:childTnLst>
                                    <p:animEffect transition="out" filter="blinds(horizontal)">
                                      <p:cBhvr>
                                        <p:cTn id="35" dur="500"/>
                                        <p:tgtEl>
                                          <p:spTgt spid="16"/>
                                        </p:tgtEl>
                                      </p:cBhvr>
                                    </p:animEffect>
                                    <p:set>
                                      <p:cBhvr>
                                        <p:cTn id="36" dur="1" fill="hold">
                                          <p:stCondLst>
                                            <p:cond delay="499"/>
                                          </p:stCondLst>
                                        </p:cTn>
                                        <p:tgtEl>
                                          <p:spTgt spid="16"/>
                                        </p:tgtEl>
                                        <p:attrNameLst>
                                          <p:attrName>style.visibility</p:attrName>
                                        </p:attrNameLst>
                                      </p:cBhvr>
                                      <p:to>
                                        <p:strVal val="hidden"/>
                                      </p:to>
                                    </p:set>
                                  </p:childTnLst>
                                </p:cTn>
                              </p:par>
                              <p:par>
                                <p:cTn id="37" presetID="3" presetClass="exit" presetSubtype="10" fill="hold" nodeType="withEffect">
                                  <p:stCondLst>
                                    <p:cond delay="0"/>
                                  </p:stCondLst>
                                  <p:childTnLst>
                                    <p:animEffect transition="out" filter="blinds(horizontal)">
                                      <p:cBhvr>
                                        <p:cTn id="38" dur="500"/>
                                        <p:tgtEl>
                                          <p:spTgt spid="14"/>
                                        </p:tgtEl>
                                      </p:cBhvr>
                                    </p:animEffect>
                                    <p:set>
                                      <p:cBhvr>
                                        <p:cTn id="39" dur="1" fill="hold">
                                          <p:stCondLst>
                                            <p:cond delay="499"/>
                                          </p:stCondLst>
                                        </p:cTn>
                                        <p:tgtEl>
                                          <p:spTgt spid="14"/>
                                        </p:tgtEl>
                                        <p:attrNameLst>
                                          <p:attrName>style.visibility</p:attrName>
                                        </p:attrNameLst>
                                      </p:cBhvr>
                                      <p:to>
                                        <p:strVal val="hidden"/>
                                      </p:to>
                                    </p:set>
                                  </p:childTnLst>
                                </p:cTn>
                              </p:par>
                              <p:par>
                                <p:cTn id="40" presetID="3" presetClass="exit" presetSubtype="10" fill="hold" nodeType="withEffect">
                                  <p:stCondLst>
                                    <p:cond delay="0"/>
                                  </p:stCondLst>
                                  <p:childTnLst>
                                    <p:animEffect transition="out" filter="blinds(horizontal)">
                                      <p:cBhvr>
                                        <p:cTn id="41" dur="500"/>
                                        <p:tgtEl>
                                          <p:spTgt spid="15"/>
                                        </p:tgtEl>
                                      </p:cBhvr>
                                    </p:animEffect>
                                    <p:set>
                                      <p:cBhvr>
                                        <p:cTn id="42" dur="1" fill="hold">
                                          <p:stCondLst>
                                            <p:cond delay="499"/>
                                          </p:stCondLst>
                                        </p:cTn>
                                        <p:tgtEl>
                                          <p:spTgt spid="15"/>
                                        </p:tgtEl>
                                        <p:attrNameLst>
                                          <p:attrName>style.visibility</p:attrName>
                                        </p:attrNameLst>
                                      </p:cBhvr>
                                      <p:to>
                                        <p:strVal val="hidden"/>
                                      </p:to>
                                    </p:set>
                                  </p:childTnLst>
                                </p:cTn>
                              </p:par>
                              <p:par>
                                <p:cTn id="43" presetID="3" presetClass="exit" presetSubtype="10" fill="hold" nodeType="withEffect">
                                  <p:stCondLst>
                                    <p:cond delay="0"/>
                                  </p:stCondLst>
                                  <p:childTnLst>
                                    <p:animEffect transition="out" filter="blinds(horizontal)">
                                      <p:cBhvr>
                                        <p:cTn id="44" dur="500"/>
                                        <p:tgtEl>
                                          <p:spTgt spid="39"/>
                                        </p:tgtEl>
                                      </p:cBhvr>
                                    </p:animEffect>
                                    <p:set>
                                      <p:cBhvr>
                                        <p:cTn id="45" dur="1" fill="hold">
                                          <p:stCondLst>
                                            <p:cond delay="499"/>
                                          </p:stCondLst>
                                        </p:cTn>
                                        <p:tgtEl>
                                          <p:spTgt spid="39"/>
                                        </p:tgtEl>
                                        <p:attrNameLst>
                                          <p:attrName>style.visibility</p:attrName>
                                        </p:attrNameLst>
                                      </p:cBhvr>
                                      <p:to>
                                        <p:strVal val="hidden"/>
                                      </p:to>
                                    </p:set>
                                  </p:childTnLst>
                                </p:cTn>
                              </p:par>
                              <p:par>
                                <p:cTn id="46" presetID="3" presetClass="exit" presetSubtype="10" fill="hold" nodeType="withEffect">
                                  <p:stCondLst>
                                    <p:cond delay="0"/>
                                  </p:stCondLst>
                                  <p:childTnLst>
                                    <p:animEffect transition="out" filter="blinds(horizontal)">
                                      <p:cBhvr>
                                        <p:cTn id="47" dur="500"/>
                                        <p:tgtEl>
                                          <p:spTgt spid="17"/>
                                        </p:tgtEl>
                                      </p:cBhvr>
                                    </p:animEffect>
                                    <p:set>
                                      <p:cBhvr>
                                        <p:cTn id="48" dur="1" fill="hold">
                                          <p:stCondLst>
                                            <p:cond delay="499"/>
                                          </p:stCondLst>
                                        </p:cTn>
                                        <p:tgtEl>
                                          <p:spTgt spid="17"/>
                                        </p:tgtEl>
                                        <p:attrNameLst>
                                          <p:attrName>style.visibility</p:attrName>
                                        </p:attrNameLst>
                                      </p:cBhvr>
                                      <p:to>
                                        <p:strVal val="hidden"/>
                                      </p:to>
                                    </p:set>
                                  </p:childTnLst>
                                </p:cTn>
                              </p:par>
                              <p:par>
                                <p:cTn id="49" presetID="3" presetClass="exit" presetSubtype="10" fill="hold" nodeType="withEffect">
                                  <p:stCondLst>
                                    <p:cond delay="0"/>
                                  </p:stCondLst>
                                  <p:childTnLst>
                                    <p:animEffect transition="out" filter="blinds(horizontal)">
                                      <p:cBhvr>
                                        <p:cTn id="50" dur="500"/>
                                        <p:tgtEl>
                                          <p:spTgt spid="18"/>
                                        </p:tgtEl>
                                      </p:cBhvr>
                                    </p:animEffect>
                                    <p:set>
                                      <p:cBhvr>
                                        <p:cTn id="51" dur="1" fill="hold">
                                          <p:stCondLst>
                                            <p:cond delay="499"/>
                                          </p:stCondLst>
                                        </p:cTn>
                                        <p:tgtEl>
                                          <p:spTgt spid="18"/>
                                        </p:tgtEl>
                                        <p:attrNameLst>
                                          <p:attrName>style.visibility</p:attrName>
                                        </p:attrNameLst>
                                      </p:cBhvr>
                                      <p:to>
                                        <p:strVal val="hidden"/>
                                      </p:to>
                                    </p:set>
                                  </p:childTnLst>
                                </p:cTn>
                              </p:par>
                              <p:par>
                                <p:cTn id="52" presetID="3" presetClass="exit" presetSubtype="10" fill="hold" nodeType="withEffect">
                                  <p:stCondLst>
                                    <p:cond delay="0"/>
                                  </p:stCondLst>
                                  <p:childTnLst>
                                    <p:animEffect transition="out" filter="blinds(horizontal)">
                                      <p:cBhvr>
                                        <p:cTn id="53" dur="500"/>
                                        <p:tgtEl>
                                          <p:spTgt spid="7"/>
                                        </p:tgtEl>
                                      </p:cBhvr>
                                    </p:animEffect>
                                    <p:set>
                                      <p:cBhvr>
                                        <p:cTn id="54" dur="1" fill="hold">
                                          <p:stCondLst>
                                            <p:cond delay="499"/>
                                          </p:stCondLst>
                                        </p:cTn>
                                        <p:tgtEl>
                                          <p:spTgt spid="7"/>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5"/>
                                        </p:tgtEl>
                                        <p:attrNameLst>
                                          <p:attrName>style.visibility</p:attrName>
                                        </p:attrNameLst>
                                      </p:cBhvr>
                                      <p:to>
                                        <p:strVal val="visible"/>
                                      </p:to>
                                    </p:set>
                                    <p:animEffect transition="in" filter="fade">
                                      <p:cBhvr>
                                        <p:cTn id="59" dur="500"/>
                                        <p:tgtEl>
                                          <p:spTgt spid="25"/>
                                        </p:tgtEl>
                                      </p:cBhvr>
                                    </p:animEffect>
                                  </p:childTnLst>
                                </p:cTn>
                              </p:par>
                              <p:par>
                                <p:cTn id="60" presetID="23" presetClass="entr" presetSubtype="16" fill="hold" nodeType="withEffect">
                                  <p:stCondLst>
                                    <p:cond delay="0"/>
                                  </p:stCondLst>
                                  <p:childTnLst>
                                    <p:set>
                                      <p:cBhvr>
                                        <p:cTn id="61" dur="1" fill="hold">
                                          <p:stCondLst>
                                            <p:cond delay="0"/>
                                          </p:stCondLst>
                                        </p:cTn>
                                        <p:tgtEl>
                                          <p:spTgt spid="26"/>
                                        </p:tgtEl>
                                        <p:attrNameLst>
                                          <p:attrName>style.visibility</p:attrName>
                                        </p:attrNameLst>
                                      </p:cBhvr>
                                      <p:to>
                                        <p:strVal val="visible"/>
                                      </p:to>
                                    </p:set>
                                    <p:anim calcmode="lin" valueType="num">
                                      <p:cBhvr>
                                        <p:cTn id="62" dur="500" fill="hold"/>
                                        <p:tgtEl>
                                          <p:spTgt spid="26"/>
                                        </p:tgtEl>
                                        <p:attrNameLst>
                                          <p:attrName>ppt_w</p:attrName>
                                        </p:attrNameLst>
                                      </p:cBhvr>
                                      <p:tavLst>
                                        <p:tav tm="0">
                                          <p:val>
                                            <p:fltVal val="0"/>
                                          </p:val>
                                        </p:tav>
                                        <p:tav tm="100000">
                                          <p:val>
                                            <p:strVal val="#ppt_w"/>
                                          </p:val>
                                        </p:tav>
                                      </p:tavLst>
                                    </p:anim>
                                    <p:anim calcmode="lin" valueType="num">
                                      <p:cBhvr>
                                        <p:cTn id="63" dur="500" fill="hold"/>
                                        <p:tgtEl>
                                          <p:spTgt spid="26"/>
                                        </p:tgtEl>
                                        <p:attrNameLst>
                                          <p:attrName>ppt_h</p:attrName>
                                        </p:attrNameLst>
                                      </p:cBhvr>
                                      <p:tavLst>
                                        <p:tav tm="0">
                                          <p:val>
                                            <p:fltVal val="0"/>
                                          </p:val>
                                        </p:tav>
                                        <p:tav tm="100000">
                                          <p:val>
                                            <p:strVal val="#ppt_h"/>
                                          </p:val>
                                        </p:tav>
                                      </p:tavLst>
                                    </p:anim>
                                  </p:childTnLst>
                                </p:cTn>
                              </p:par>
                              <p:par>
                                <p:cTn id="64" presetID="10" presetClass="entr" presetSubtype="0" fill="hold" grpId="0" nodeType="withEffect">
                                  <p:stCondLst>
                                    <p:cond delay="0"/>
                                  </p:stCondLst>
                                  <p:childTnLst>
                                    <p:set>
                                      <p:cBhvr>
                                        <p:cTn id="65" dur="1" fill="hold">
                                          <p:stCondLst>
                                            <p:cond delay="0"/>
                                          </p:stCondLst>
                                        </p:cTn>
                                        <p:tgtEl>
                                          <p:spTgt spid="38"/>
                                        </p:tgtEl>
                                        <p:attrNameLst>
                                          <p:attrName>style.visibility</p:attrName>
                                        </p:attrNameLst>
                                      </p:cBhvr>
                                      <p:to>
                                        <p:strVal val="visible"/>
                                      </p:to>
                                    </p:set>
                                    <p:animEffect transition="in" filter="fade">
                                      <p:cBhvr>
                                        <p:cTn id="66" dur="500"/>
                                        <p:tgtEl>
                                          <p:spTgt spid="38"/>
                                        </p:tgtEl>
                                      </p:cBhvr>
                                    </p:animEffect>
                                  </p:childTnLst>
                                </p:cTn>
                              </p:par>
                            </p:childTnLst>
                          </p:cTn>
                        </p:par>
                        <p:par>
                          <p:cTn id="67" fill="hold">
                            <p:stCondLst>
                              <p:cond delay="500"/>
                            </p:stCondLst>
                            <p:childTnLst>
                              <p:par>
                                <p:cTn id="68" presetID="22" presetClass="entr" presetSubtype="4" fill="hold" nodeType="afterEffect">
                                  <p:stCondLst>
                                    <p:cond delay="0"/>
                                  </p:stCondLst>
                                  <p:childTnLst>
                                    <p:set>
                                      <p:cBhvr>
                                        <p:cTn id="69" dur="1" fill="hold">
                                          <p:stCondLst>
                                            <p:cond delay="0"/>
                                          </p:stCondLst>
                                        </p:cTn>
                                        <p:tgtEl>
                                          <p:spTgt spid="27"/>
                                        </p:tgtEl>
                                        <p:attrNameLst>
                                          <p:attrName>style.visibility</p:attrName>
                                        </p:attrNameLst>
                                      </p:cBhvr>
                                      <p:to>
                                        <p:strVal val="visible"/>
                                      </p:to>
                                    </p:set>
                                    <p:animEffect transition="in" filter="wipe(down)">
                                      <p:cBhvr>
                                        <p:cTn id="70" dur="500"/>
                                        <p:tgtEl>
                                          <p:spTgt spid="27"/>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8"/>
                                        </p:tgtEl>
                                        <p:attrNameLst>
                                          <p:attrName>style.visibility</p:attrName>
                                        </p:attrNameLst>
                                      </p:cBhvr>
                                      <p:to>
                                        <p:strVal val="visible"/>
                                      </p:to>
                                    </p:set>
                                    <p:animEffect transition="in" filter="fade">
                                      <p:cBhvr>
                                        <p:cTn id="75" dur="500"/>
                                        <p:tgtEl>
                                          <p:spTgt spid="28"/>
                                        </p:tgtEl>
                                      </p:cBhvr>
                                    </p:animEffect>
                                  </p:childTnLst>
                                </p:cTn>
                              </p:par>
                              <p:par>
                                <p:cTn id="76" presetID="23" presetClass="entr" presetSubtype="16" fill="hold"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p:cTn id="78" dur="500" fill="hold"/>
                                        <p:tgtEl>
                                          <p:spTgt spid="20"/>
                                        </p:tgtEl>
                                        <p:attrNameLst>
                                          <p:attrName>ppt_w</p:attrName>
                                        </p:attrNameLst>
                                      </p:cBhvr>
                                      <p:tavLst>
                                        <p:tav tm="0">
                                          <p:val>
                                            <p:fltVal val="0"/>
                                          </p:val>
                                        </p:tav>
                                        <p:tav tm="100000">
                                          <p:val>
                                            <p:strVal val="#ppt_w"/>
                                          </p:val>
                                        </p:tav>
                                      </p:tavLst>
                                    </p:anim>
                                    <p:anim calcmode="lin" valueType="num">
                                      <p:cBhvr>
                                        <p:cTn id="79" dur="500" fill="hold"/>
                                        <p:tgtEl>
                                          <p:spTgt spid="20"/>
                                        </p:tgtEl>
                                        <p:attrNameLst>
                                          <p:attrName>ppt_h</p:attrName>
                                        </p:attrNameLst>
                                      </p:cBhvr>
                                      <p:tavLst>
                                        <p:tav tm="0">
                                          <p:val>
                                            <p:fltVal val="0"/>
                                          </p:val>
                                        </p:tav>
                                        <p:tav tm="100000">
                                          <p:val>
                                            <p:strVal val="#ppt_h"/>
                                          </p:val>
                                        </p:tav>
                                      </p:tavLst>
                                    </p:anim>
                                  </p:childTnLst>
                                </p:cTn>
                              </p:par>
                              <p:par>
                                <p:cTn id="80" presetID="23" presetClass="entr" presetSubtype="16" fill="hold"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p:cTn id="82" dur="500" fill="hold"/>
                                        <p:tgtEl>
                                          <p:spTgt spid="21"/>
                                        </p:tgtEl>
                                        <p:attrNameLst>
                                          <p:attrName>ppt_w</p:attrName>
                                        </p:attrNameLst>
                                      </p:cBhvr>
                                      <p:tavLst>
                                        <p:tav tm="0">
                                          <p:val>
                                            <p:fltVal val="0"/>
                                          </p:val>
                                        </p:tav>
                                        <p:tav tm="100000">
                                          <p:val>
                                            <p:strVal val="#ppt_w"/>
                                          </p:val>
                                        </p:tav>
                                      </p:tavLst>
                                    </p:anim>
                                    <p:anim calcmode="lin" valueType="num">
                                      <p:cBhvr>
                                        <p:cTn id="83" dur="500" fill="hold"/>
                                        <p:tgtEl>
                                          <p:spTgt spid="21"/>
                                        </p:tgtEl>
                                        <p:attrNameLst>
                                          <p:attrName>ppt_h</p:attrName>
                                        </p:attrNameLst>
                                      </p:cBhvr>
                                      <p:tavLst>
                                        <p:tav tm="0">
                                          <p:val>
                                            <p:fltVal val="0"/>
                                          </p:val>
                                        </p:tav>
                                        <p:tav tm="100000">
                                          <p:val>
                                            <p:strVal val="#ppt_h"/>
                                          </p:val>
                                        </p:tav>
                                      </p:tavLst>
                                    </p:anim>
                                  </p:childTnLst>
                                </p:cTn>
                              </p:par>
                              <p:par>
                                <p:cTn id="84" presetID="6" presetClass="entr" presetSubtype="16"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Effect transition="in" filter="circle(in)">
                                      <p:cBhvr>
                                        <p:cTn id="86" dur="2000"/>
                                        <p:tgtEl>
                                          <p:spTgt spid="22"/>
                                        </p:tgtEl>
                                      </p:cBhvr>
                                    </p:animEffect>
                                  </p:childTnLst>
                                </p:cTn>
                              </p:par>
                            </p:childTnLst>
                          </p:cTn>
                        </p:par>
                      </p:childTnLst>
                    </p:cTn>
                  </p:par>
                  <p:par>
                    <p:cTn id="87" fill="hold">
                      <p:stCondLst>
                        <p:cond delay="indefinite"/>
                      </p:stCondLst>
                      <p:childTnLst>
                        <p:par>
                          <p:cTn id="88" fill="hold">
                            <p:stCondLst>
                              <p:cond delay="0"/>
                            </p:stCondLst>
                            <p:childTnLst>
                              <p:par>
                                <p:cTn id="89" presetID="3" presetClass="entr" presetSubtype="10" fill="hold" grpId="0" nodeType="clickEffect">
                                  <p:stCondLst>
                                    <p:cond delay="0"/>
                                  </p:stCondLst>
                                  <p:childTnLst>
                                    <p:set>
                                      <p:cBhvr>
                                        <p:cTn id="90" dur="1" fill="hold">
                                          <p:stCondLst>
                                            <p:cond delay="0"/>
                                          </p:stCondLst>
                                        </p:cTn>
                                        <p:tgtEl>
                                          <p:spTgt spid="24"/>
                                        </p:tgtEl>
                                        <p:attrNameLst>
                                          <p:attrName>style.visibility</p:attrName>
                                        </p:attrNameLst>
                                      </p:cBhvr>
                                      <p:to>
                                        <p:strVal val="visible"/>
                                      </p:to>
                                    </p:set>
                                    <p:animEffect transition="in" filter="blinds(horizontal)">
                                      <p:cBhvr>
                                        <p:cTn id="91"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6" grpId="1" animBg="1"/>
      <p:bldP spid="17" grpId="0" animBg="1"/>
      <p:bldP spid="22" grpId="0"/>
      <p:bldP spid="24" grpId="0" animBg="1"/>
      <p:bldP spid="25" grpId="0" animBg="1"/>
      <p:bldP spid="28" grpId="0" animBg="1"/>
      <p:bldP spid="30" grpId="0"/>
      <p:bldP spid="38"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直接箭头连接符 6"/>
          <p:cNvCxnSpPr/>
          <p:nvPr/>
        </p:nvCxnSpPr>
        <p:spPr>
          <a:xfrm>
            <a:off x="988485" y="3524251"/>
            <a:ext cx="9334500" cy="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3" name="直接箭头连接符 13"/>
          <p:cNvCxnSpPr/>
          <p:nvPr/>
        </p:nvCxnSpPr>
        <p:spPr>
          <a:xfrm>
            <a:off x="3776133" y="2645834"/>
            <a:ext cx="0" cy="87841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4" name="直接箭头连接符 15"/>
          <p:cNvCxnSpPr>
            <a:stCxn id="28681" idx="2"/>
          </p:cNvCxnSpPr>
          <p:nvPr/>
        </p:nvCxnSpPr>
        <p:spPr>
          <a:xfrm>
            <a:off x="6764867" y="2623561"/>
            <a:ext cx="0" cy="839306"/>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23"/>
          <p:cNvCxnSpPr/>
          <p:nvPr/>
        </p:nvCxnSpPr>
        <p:spPr>
          <a:xfrm flipV="1">
            <a:off x="3026833" y="3524251"/>
            <a:ext cx="0" cy="67310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34"/>
          <p:cNvCxnSpPr>
            <a:stCxn id="11" idx="0"/>
          </p:cNvCxnSpPr>
          <p:nvPr/>
        </p:nvCxnSpPr>
        <p:spPr>
          <a:xfrm flipH="1" flipV="1">
            <a:off x="5272617" y="3549651"/>
            <a:ext cx="1" cy="74295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7" name="直接箭头连接符 35"/>
          <p:cNvCxnSpPr/>
          <p:nvPr/>
        </p:nvCxnSpPr>
        <p:spPr>
          <a:xfrm flipV="1">
            <a:off x="3026833" y="4400551"/>
            <a:ext cx="0" cy="670984"/>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8680" name="矩形 27"/>
          <p:cNvSpPr/>
          <p:nvPr/>
        </p:nvSpPr>
        <p:spPr>
          <a:xfrm>
            <a:off x="3060700" y="2277534"/>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mj-ea"/>
                <a:ea typeface="+mj-ea"/>
              </a:rPr>
              <a:t>需求</a:t>
            </a:r>
            <a:r>
              <a:rPr lang="en-US" altLang="zh-CN" sz="1600" dirty="0">
                <a:solidFill>
                  <a:srgbClr val="FFFFFF"/>
                </a:solidFill>
                <a:latin typeface="+mj-ea"/>
                <a:ea typeface="+mj-ea"/>
              </a:rPr>
              <a:t>1</a:t>
            </a:r>
            <a:endParaRPr lang="zh-CN" altLang="en-US" sz="1600" dirty="0">
              <a:solidFill>
                <a:srgbClr val="FFFFFF"/>
              </a:solidFill>
              <a:latin typeface="+mj-ea"/>
              <a:ea typeface="+mj-ea"/>
            </a:endParaRPr>
          </a:p>
        </p:txBody>
      </p:sp>
      <p:sp>
        <p:nvSpPr>
          <p:cNvPr id="28681" name="矩形 38"/>
          <p:cNvSpPr/>
          <p:nvPr/>
        </p:nvSpPr>
        <p:spPr>
          <a:xfrm>
            <a:off x="6045200" y="2254251"/>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mj-ea"/>
                <a:ea typeface="+mj-ea"/>
              </a:rPr>
              <a:t>需求</a:t>
            </a:r>
            <a:r>
              <a:rPr lang="en-US" altLang="zh-CN" sz="1600" dirty="0">
                <a:solidFill>
                  <a:srgbClr val="FFFFFF"/>
                </a:solidFill>
                <a:latin typeface="+mj-ea"/>
                <a:ea typeface="+mj-ea"/>
              </a:rPr>
              <a:t>2</a:t>
            </a:r>
            <a:endParaRPr lang="zh-CN" altLang="en-US" sz="1600" dirty="0">
              <a:solidFill>
                <a:srgbClr val="FFFFFF"/>
              </a:solidFill>
              <a:latin typeface="+mj-ea"/>
              <a:ea typeface="+mj-ea"/>
            </a:endParaRPr>
          </a:p>
        </p:txBody>
      </p:sp>
      <p:sp>
        <p:nvSpPr>
          <p:cNvPr id="28682" name="矩形 28"/>
          <p:cNvSpPr/>
          <p:nvPr/>
        </p:nvSpPr>
        <p:spPr>
          <a:xfrm>
            <a:off x="1443567" y="3716867"/>
            <a:ext cx="1392767" cy="369310"/>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mj-ea"/>
                <a:ea typeface="+mj-ea"/>
              </a:rPr>
              <a:t>库存</a:t>
            </a:r>
            <a:r>
              <a:rPr lang="en-US" altLang="zh-CN" sz="1600" dirty="0">
                <a:solidFill>
                  <a:srgbClr val="FFFFFF"/>
                </a:solidFill>
                <a:latin typeface="+mj-ea"/>
                <a:ea typeface="+mj-ea"/>
              </a:rPr>
              <a:t>A</a:t>
            </a:r>
            <a:endParaRPr lang="zh-CN" altLang="en-US" sz="1600" dirty="0">
              <a:solidFill>
                <a:srgbClr val="FFFFFF"/>
              </a:solidFill>
              <a:latin typeface="+mj-ea"/>
              <a:ea typeface="+mj-ea"/>
            </a:endParaRPr>
          </a:p>
        </p:txBody>
      </p:sp>
      <p:sp>
        <p:nvSpPr>
          <p:cNvPr id="11" name="矩形 10"/>
          <p:cNvSpPr/>
          <p:nvPr/>
        </p:nvSpPr>
        <p:spPr>
          <a:xfrm>
            <a:off x="4493684" y="4292601"/>
            <a:ext cx="1557867"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rgbClr val="FFFFFF"/>
                </a:solidFill>
                <a:latin typeface="+mj-ea"/>
                <a:ea typeface="+mj-ea"/>
              </a:rPr>
              <a:t>计划到货</a:t>
            </a:r>
            <a:r>
              <a:rPr lang="en-US" altLang="zh-CN" sz="1600" dirty="0">
                <a:solidFill>
                  <a:srgbClr val="FFFFFF"/>
                </a:solidFill>
                <a:latin typeface="+mj-ea"/>
                <a:ea typeface="+mj-ea"/>
              </a:rPr>
              <a:t>C</a:t>
            </a:r>
            <a:endParaRPr lang="zh-CN" altLang="en-US" sz="1600" dirty="0">
              <a:solidFill>
                <a:srgbClr val="FFFFFF"/>
              </a:solidFill>
              <a:latin typeface="+mj-ea"/>
              <a:ea typeface="+mj-ea"/>
            </a:endParaRPr>
          </a:p>
        </p:txBody>
      </p:sp>
      <p:sp>
        <p:nvSpPr>
          <p:cNvPr id="28684" name="矩形 41"/>
          <p:cNvSpPr/>
          <p:nvPr/>
        </p:nvSpPr>
        <p:spPr>
          <a:xfrm>
            <a:off x="1443567" y="4531784"/>
            <a:ext cx="1392767"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mj-ea"/>
                <a:ea typeface="+mj-ea"/>
              </a:rPr>
              <a:t>库存</a:t>
            </a:r>
            <a:r>
              <a:rPr lang="en-US" altLang="zh-CN" sz="1600" dirty="0">
                <a:solidFill>
                  <a:srgbClr val="FFFFFF"/>
                </a:solidFill>
                <a:latin typeface="+mj-ea"/>
                <a:ea typeface="+mj-ea"/>
              </a:rPr>
              <a:t>B</a:t>
            </a:r>
            <a:endParaRPr lang="zh-CN" altLang="en-US" sz="1600" dirty="0">
              <a:solidFill>
                <a:srgbClr val="FFFFFF"/>
              </a:solidFill>
              <a:latin typeface="+mj-ea"/>
              <a:ea typeface="+mj-ea"/>
            </a:endParaRPr>
          </a:p>
        </p:txBody>
      </p:sp>
      <p:sp>
        <p:nvSpPr>
          <p:cNvPr id="13" name="Line 58"/>
          <p:cNvSpPr/>
          <p:nvPr/>
        </p:nvSpPr>
        <p:spPr>
          <a:xfrm flipH="1">
            <a:off x="3026833" y="2969685"/>
            <a:ext cx="3718984" cy="952500"/>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latin typeface="+mj-ea"/>
              <a:ea typeface="+mj-ea"/>
            </a:endParaRPr>
          </a:p>
        </p:txBody>
      </p:sp>
      <p:sp>
        <p:nvSpPr>
          <p:cNvPr id="14" name="Line 58"/>
          <p:cNvSpPr/>
          <p:nvPr/>
        </p:nvSpPr>
        <p:spPr>
          <a:xfrm flipH="1">
            <a:off x="5272617" y="2969684"/>
            <a:ext cx="1473200" cy="1227667"/>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latin typeface="+mj-ea"/>
              <a:ea typeface="+mj-ea"/>
            </a:endParaRPr>
          </a:p>
        </p:txBody>
      </p:sp>
      <p:sp>
        <p:nvSpPr>
          <p:cNvPr id="15" name="矩形标注 14"/>
          <p:cNvSpPr/>
          <p:nvPr/>
        </p:nvSpPr>
        <p:spPr>
          <a:xfrm>
            <a:off x="6049434" y="1420284"/>
            <a:ext cx="1435100" cy="628651"/>
          </a:xfrm>
          <a:prstGeom prst="wedgeRectCallout">
            <a:avLst>
              <a:gd name="adj1" fmla="val 782"/>
              <a:gd name="adj2" fmla="val 90562"/>
            </a:avLst>
          </a:prstGeom>
          <a:ln>
            <a:noFill/>
          </a:ln>
        </p:spPr>
        <p:style>
          <a:lnRef idx="2">
            <a:schemeClr val="accent6">
              <a:shade val="50000"/>
            </a:schemeClr>
          </a:lnRef>
          <a:fillRef idx="1">
            <a:schemeClr val="accent6"/>
          </a:fillRef>
          <a:effectRef idx="0">
            <a:schemeClr val="accent6"/>
          </a:effectRef>
          <a:fontRef idx="minor">
            <a:schemeClr val="lt1"/>
          </a:fontRef>
        </p:style>
        <p:txBody>
          <a:bodyPr lIns="121899" tIns="60949" rIns="121899" bIns="60949" anchor="ctr"/>
          <a:lstStyle/>
          <a:p>
            <a:pPr algn="ctr" defTabSz="1217476" fontAlgn="base">
              <a:spcBef>
                <a:spcPct val="0"/>
              </a:spcBef>
              <a:spcAft>
                <a:spcPct val="0"/>
              </a:spcAft>
              <a:defRPr/>
            </a:pPr>
            <a:r>
              <a:rPr lang="en-US" altLang="zh-CN" sz="1600" b="1" dirty="0">
                <a:solidFill>
                  <a:srgbClr val="FFFFFF"/>
                </a:solidFill>
                <a:latin typeface="+mj-ea"/>
                <a:ea typeface="+mj-ea"/>
                <a:cs typeface="微软雅黑" panose="020B0503020204020204" pitchFamily="34" charset="-122"/>
              </a:rPr>
              <a:t>IPS</a:t>
            </a:r>
            <a:endParaRPr lang="zh-CN" altLang="en-US" sz="1600" b="1" dirty="0">
              <a:solidFill>
                <a:srgbClr val="FFFFFF"/>
              </a:solidFill>
              <a:latin typeface="+mj-ea"/>
              <a:ea typeface="+mj-ea"/>
              <a:cs typeface="微软雅黑" panose="020B0503020204020204" pitchFamily="34" charset="-122"/>
            </a:endParaRPr>
          </a:p>
        </p:txBody>
      </p:sp>
      <p:sp>
        <p:nvSpPr>
          <p:cNvPr id="16" name="矩形标注 15"/>
          <p:cNvSpPr/>
          <p:nvPr/>
        </p:nvSpPr>
        <p:spPr>
          <a:xfrm>
            <a:off x="3026833" y="1420284"/>
            <a:ext cx="1466851" cy="628651"/>
          </a:xfrm>
          <a:prstGeom prst="wedgeRectCallout">
            <a:avLst>
              <a:gd name="adj1" fmla="val 782"/>
              <a:gd name="adj2" fmla="val 90562"/>
            </a:avLst>
          </a:prstGeom>
          <a:ln>
            <a:noFill/>
          </a:ln>
        </p:spPr>
        <p:style>
          <a:lnRef idx="2">
            <a:schemeClr val="accent6">
              <a:shade val="50000"/>
            </a:schemeClr>
          </a:lnRef>
          <a:fillRef idx="1">
            <a:schemeClr val="accent6"/>
          </a:fillRef>
          <a:effectRef idx="0">
            <a:schemeClr val="accent6"/>
          </a:effectRef>
          <a:fontRef idx="minor">
            <a:schemeClr val="lt1"/>
          </a:fontRef>
        </p:style>
        <p:txBody>
          <a:bodyPr lIns="121899" tIns="60949" rIns="121899" bIns="60949" anchor="ctr"/>
          <a:lstStyle/>
          <a:p>
            <a:pPr algn="ctr" defTabSz="1217476" fontAlgn="base">
              <a:spcBef>
                <a:spcPct val="0"/>
              </a:spcBef>
              <a:spcAft>
                <a:spcPct val="0"/>
              </a:spcAft>
              <a:defRPr/>
            </a:pPr>
            <a:r>
              <a:rPr lang="en-US" altLang="zh-CN" sz="1600" b="1" dirty="0">
                <a:solidFill>
                  <a:srgbClr val="FFFFFF"/>
                </a:solidFill>
                <a:latin typeface="+mj-ea"/>
                <a:ea typeface="+mj-ea"/>
                <a:cs typeface="微软雅黑" panose="020B0503020204020204" pitchFamily="34" charset="-122"/>
              </a:rPr>
              <a:t>IPS</a:t>
            </a:r>
            <a:endParaRPr lang="zh-CN" altLang="en-US" sz="1600" b="1" dirty="0">
              <a:solidFill>
                <a:srgbClr val="FFFFFF"/>
              </a:solidFill>
              <a:latin typeface="+mj-ea"/>
              <a:ea typeface="+mj-ea"/>
              <a:cs typeface="微软雅黑" panose="020B0503020204020204" pitchFamily="34" charset="-122"/>
            </a:endParaRPr>
          </a:p>
        </p:txBody>
      </p:sp>
      <p:sp>
        <p:nvSpPr>
          <p:cNvPr id="17" name="Line 58"/>
          <p:cNvSpPr/>
          <p:nvPr/>
        </p:nvSpPr>
        <p:spPr>
          <a:xfrm flipH="1">
            <a:off x="3026834" y="2645833"/>
            <a:ext cx="749300" cy="2144184"/>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a:lstStyle/>
          <a:p>
            <a:endParaRPr lang="zh-CN" altLang="en-US">
              <a:latin typeface="+mj-ea"/>
              <a:ea typeface="+mj-ea"/>
            </a:endParaRPr>
          </a:p>
        </p:txBody>
      </p:sp>
      <p:sp>
        <p:nvSpPr>
          <p:cNvPr id="18" name="TextBox 26"/>
          <p:cNvSpPr txBox="1"/>
          <p:nvPr/>
        </p:nvSpPr>
        <p:spPr>
          <a:xfrm rot="21031543">
            <a:off x="2522741" y="2863095"/>
            <a:ext cx="1488092" cy="338532"/>
          </a:xfrm>
          <a:prstGeom prst="rect">
            <a:avLst/>
          </a:prstGeom>
          <a:noFill/>
          <a:scene3d>
            <a:camera prst="orthographicFront">
              <a:rot lat="1195241" lon="109017" rev="3619146"/>
            </a:camera>
            <a:lightRig rig="threePt" dir="t"/>
          </a:scene3d>
        </p:spPr>
        <p:txBody>
          <a:bodyPr lIns="121899" tIns="60949" rIns="121899" bIns="60949">
            <a:spAutoFit/>
          </a:bodyPr>
          <a:lstStyle/>
          <a:p>
            <a:pPr defTabSz="1219170">
              <a:defRPr/>
            </a:pPr>
            <a:r>
              <a:rPr lang="zh-CN" altLang="en-US" sz="1400" dirty="0">
                <a:solidFill>
                  <a:schemeClr val="bg1"/>
                </a:solidFill>
                <a:latin typeface="+mj-ea"/>
                <a:ea typeface="+mj-ea"/>
              </a:rPr>
              <a:t>不齐套</a:t>
            </a:r>
          </a:p>
        </p:txBody>
      </p:sp>
      <p:sp>
        <p:nvSpPr>
          <p:cNvPr id="28691" name="Title 30"/>
          <p:cNvSpPr>
            <a:spLocks noGrp="1"/>
          </p:cNvSpPr>
          <p:nvPr>
            <p:ph type="title" idx="4294967295"/>
          </p:nvPr>
        </p:nvSpPr>
        <p:spPr>
          <a:xfrm>
            <a:off x="1116013" y="133350"/>
            <a:ext cx="11075987" cy="520700"/>
          </a:xfrm>
          <a:prstGeom prst="rect">
            <a:avLst/>
          </a:prstGeom>
        </p:spPr>
        <p:txBody>
          <a:bodyPr vert="horz" wrap="square" lIns="121920" tIns="60960" rIns="121920" bIns="60960" anchor="ctr" anchorCtr="0">
            <a:normAutofit/>
          </a:bodyPr>
          <a:lstStyle/>
          <a:p>
            <a:pPr eaLnBrk="1" hangingPunct="1"/>
            <a:r>
              <a:rPr lang="zh-CN" altLang="en-US" dirty="0">
                <a:solidFill>
                  <a:schemeClr val="bg1"/>
                </a:solidFill>
                <a:latin typeface="+mj-ea"/>
              </a:rPr>
              <a:t>场景</a:t>
            </a:r>
            <a:r>
              <a:rPr lang="en-US" altLang="zh-CN" b="1" dirty="0">
                <a:solidFill>
                  <a:schemeClr val="bg1"/>
                </a:solidFill>
                <a:latin typeface="+mj-ea"/>
              </a:rPr>
              <a:t> #1: </a:t>
            </a:r>
            <a:r>
              <a:rPr lang="zh-CN" altLang="en-US" b="1" dirty="0">
                <a:solidFill>
                  <a:schemeClr val="bg1"/>
                </a:solidFill>
                <a:latin typeface="+mj-ea"/>
              </a:rPr>
              <a:t>挑战</a:t>
            </a:r>
            <a:r>
              <a:rPr lang="en-US" altLang="zh-CN" b="1" dirty="0">
                <a:solidFill>
                  <a:schemeClr val="bg1"/>
                </a:solidFill>
                <a:latin typeface="+mj-ea"/>
              </a:rPr>
              <a:t>A &amp; B </a:t>
            </a:r>
            <a:r>
              <a:rPr lang="zh-CN" altLang="en-US" dirty="0">
                <a:solidFill>
                  <a:schemeClr val="bg1"/>
                </a:solidFill>
                <a:latin typeface="+mj-ea"/>
              </a:rPr>
              <a:t>的方案</a:t>
            </a:r>
            <a:endParaRPr lang="en-US" altLang="zh-CN" b="1" dirty="0">
              <a:solidFill>
                <a:schemeClr val="bg1"/>
              </a:solidFill>
              <a:latin typeface="+mj-ea"/>
            </a:endParaRPr>
          </a:p>
        </p:txBody>
      </p:sp>
      <p:sp>
        <p:nvSpPr>
          <p:cNvPr id="20" name="TextBox 24"/>
          <p:cNvSpPr txBox="1"/>
          <p:nvPr/>
        </p:nvSpPr>
        <p:spPr>
          <a:xfrm>
            <a:off x="7736417" y="2277534"/>
            <a:ext cx="4188883" cy="861752"/>
          </a:xfrm>
          <a:prstGeom prst="rect">
            <a:avLst/>
          </a:prstGeom>
          <a:no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600" dirty="0">
                <a:solidFill>
                  <a:schemeClr val="bg1"/>
                </a:solidFill>
                <a:latin typeface="+mj-ea"/>
                <a:ea typeface="+mj-ea"/>
              </a:rPr>
              <a:t>生产计划</a:t>
            </a:r>
            <a:r>
              <a:rPr lang="en-US" altLang="zh-CN" sz="1600" dirty="0">
                <a:solidFill>
                  <a:schemeClr val="bg1"/>
                </a:solidFill>
                <a:latin typeface="+mj-ea"/>
                <a:ea typeface="+mj-ea"/>
              </a:rPr>
              <a:t> </a:t>
            </a:r>
            <a:r>
              <a:rPr lang="zh-CN" altLang="en-US" sz="1600" dirty="0">
                <a:solidFill>
                  <a:schemeClr val="bg1"/>
                </a:solidFill>
                <a:latin typeface="+mj-ea"/>
                <a:ea typeface="+mj-ea"/>
              </a:rPr>
              <a:t>：</a:t>
            </a:r>
            <a:endParaRPr lang="en-US" altLang="zh-CN" sz="1600" dirty="0">
              <a:solidFill>
                <a:schemeClr val="bg1"/>
              </a:solidFill>
              <a:latin typeface="+mj-ea"/>
              <a:ea typeface="+mj-ea"/>
            </a:endParaRPr>
          </a:p>
          <a:p>
            <a:pPr marL="0" indent="0" defTabSz="1217476" eaLnBrk="1" hangingPunct="1">
              <a:spcBef>
                <a:spcPct val="0"/>
              </a:spcBef>
              <a:buNone/>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短缺无法进行安排生产</a:t>
            </a:r>
            <a:endParaRPr lang="en-US" altLang="zh-CN" sz="1600" dirty="0">
              <a:solidFill>
                <a:schemeClr val="bg1"/>
              </a:solidFill>
              <a:latin typeface="+mj-ea"/>
              <a:ea typeface="+mj-ea"/>
            </a:endParaRPr>
          </a:p>
          <a:p>
            <a:pPr marL="0" indent="0" defTabSz="1217476" eaLnBrk="1" hangingPunct="1">
              <a:spcBef>
                <a:spcPct val="0"/>
              </a:spcBef>
              <a:buNone/>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第三天安排生产</a:t>
            </a:r>
            <a:endParaRPr lang="en-US" altLang="zh-CN" sz="1600" dirty="0">
              <a:solidFill>
                <a:schemeClr val="bg1"/>
              </a:solidFill>
              <a:latin typeface="+mj-ea"/>
              <a:ea typeface="+mj-ea"/>
            </a:endParaRPr>
          </a:p>
        </p:txBody>
      </p:sp>
      <p:sp>
        <p:nvSpPr>
          <p:cNvPr id="21" name="TextBox 25"/>
          <p:cNvSpPr txBox="1"/>
          <p:nvPr/>
        </p:nvSpPr>
        <p:spPr>
          <a:xfrm>
            <a:off x="7736417" y="1187451"/>
            <a:ext cx="4188883" cy="861752"/>
          </a:xfrm>
          <a:prstGeom prst="rect">
            <a:avLst/>
          </a:prstGeom>
          <a:no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600" b="1" dirty="0">
                <a:solidFill>
                  <a:schemeClr val="bg1"/>
                </a:solidFill>
                <a:latin typeface="+mj-ea"/>
                <a:ea typeface="+mj-ea"/>
              </a:rPr>
              <a:t>交付计划</a:t>
            </a:r>
            <a:endParaRPr lang="en-US" altLang="zh-CN" sz="1600" b="1" dirty="0">
              <a:solidFill>
                <a:schemeClr val="bg1"/>
              </a:solidFill>
              <a:latin typeface="+mj-ea"/>
              <a:ea typeface="+mj-ea"/>
            </a:endParaRPr>
          </a:p>
          <a:p>
            <a:pPr marL="0" indent="0" defTabSz="1217476" eaLnBrk="1" hangingPunct="1">
              <a:spcBef>
                <a:spcPct val="0"/>
              </a:spcBef>
            </a:pPr>
            <a:r>
              <a:rPr lang="en-US" altLang="zh-CN" sz="1600" dirty="0">
                <a:solidFill>
                  <a:schemeClr val="bg1"/>
                </a:solidFill>
                <a:latin typeface="+mj-ea"/>
                <a:ea typeface="+mj-ea"/>
              </a:rPr>
              <a:t> </a:t>
            </a: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短缺</a:t>
            </a:r>
            <a:endParaRPr lang="en-US" altLang="zh-CN" sz="1600" dirty="0">
              <a:solidFill>
                <a:schemeClr val="bg1"/>
              </a:solidFill>
              <a:latin typeface="+mj-ea"/>
              <a:ea typeface="+mj-ea"/>
            </a:endParaRPr>
          </a:p>
          <a:p>
            <a:pPr marL="0" indent="0" defTabSz="1217476" eaLnBrk="1" hangingPunct="1">
              <a:spcBef>
                <a:spcPct val="0"/>
              </a:spcBef>
            </a:pPr>
            <a:r>
              <a:rPr lang="en-US" altLang="zh-CN" sz="1600" dirty="0">
                <a:solidFill>
                  <a:schemeClr val="bg1"/>
                </a:solidFill>
                <a:latin typeface="+mj-ea"/>
                <a:ea typeface="+mj-ea"/>
              </a:rPr>
              <a:t> </a:t>
            </a:r>
            <a:r>
              <a:rPr lang="zh-CN" altLang="en-US" sz="1600" dirty="0">
                <a:solidFill>
                  <a:schemeClr val="bg1"/>
                </a:solidFill>
                <a:latin typeface="+mj-ea"/>
                <a:ea typeface="+mj-ea"/>
              </a:rPr>
              <a:t>需求</a:t>
            </a:r>
            <a:r>
              <a:rPr lang="en-US" altLang="zh-CN" sz="1600" dirty="0">
                <a:solidFill>
                  <a:schemeClr val="bg1"/>
                </a:solidFill>
                <a:latin typeface="+mj-ea"/>
                <a:ea typeface="+mj-ea"/>
              </a:rPr>
              <a:t>2 </a:t>
            </a:r>
            <a:r>
              <a:rPr lang="zh-CN" altLang="en-US" sz="1600" dirty="0">
                <a:solidFill>
                  <a:schemeClr val="bg1"/>
                </a:solidFill>
                <a:latin typeface="+mj-ea"/>
                <a:ea typeface="+mj-ea"/>
              </a:rPr>
              <a:t>在第</a:t>
            </a:r>
            <a:r>
              <a:rPr lang="en-US" altLang="zh-CN" sz="1600" dirty="0">
                <a:solidFill>
                  <a:schemeClr val="bg1"/>
                </a:solidFill>
                <a:latin typeface="+mj-ea"/>
                <a:ea typeface="+mj-ea"/>
              </a:rPr>
              <a:t>4</a:t>
            </a:r>
            <a:r>
              <a:rPr lang="zh-CN" altLang="en-US" sz="1600" dirty="0">
                <a:solidFill>
                  <a:schemeClr val="bg1"/>
                </a:solidFill>
                <a:latin typeface="+mj-ea"/>
                <a:ea typeface="+mj-ea"/>
              </a:rPr>
              <a:t>天交付</a:t>
            </a:r>
            <a:endParaRPr lang="en-US" altLang="zh-CN" sz="1600" dirty="0">
              <a:solidFill>
                <a:schemeClr val="bg1"/>
              </a:solidFill>
              <a:latin typeface="+mj-ea"/>
              <a:ea typeface="+mj-ea"/>
            </a:endParaRPr>
          </a:p>
        </p:txBody>
      </p:sp>
      <p:sp>
        <p:nvSpPr>
          <p:cNvPr id="22" name="圆角矩形 24"/>
          <p:cNvSpPr/>
          <p:nvPr/>
        </p:nvSpPr>
        <p:spPr>
          <a:xfrm>
            <a:off x="7736417" y="3613152"/>
            <a:ext cx="3793067" cy="1665817"/>
          </a:xfrm>
          <a:prstGeom prst="round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defTabSz="1219170">
              <a:defRPr/>
            </a:pPr>
            <a:r>
              <a:rPr lang="zh-CN" altLang="en-US" sz="1600" b="1" kern="0" dirty="0">
                <a:solidFill>
                  <a:schemeClr val="bg1"/>
                </a:solidFill>
                <a:latin typeface="+mj-ea"/>
                <a:ea typeface="+mj-ea"/>
              </a:rPr>
              <a:t>交付和生产协同：</a:t>
            </a:r>
            <a:endParaRPr lang="en-US" altLang="zh-CN" sz="1600" b="1" kern="0" dirty="0">
              <a:solidFill>
                <a:schemeClr val="bg1"/>
              </a:solidFill>
              <a:latin typeface="+mj-ea"/>
              <a:ea typeface="+mj-ea"/>
            </a:endParaRPr>
          </a:p>
          <a:p>
            <a:pPr defTabSz="1219170">
              <a:defRPr/>
            </a:pPr>
            <a:r>
              <a:rPr lang="zh-CN" altLang="en-US" sz="1600" kern="0" dirty="0">
                <a:solidFill>
                  <a:schemeClr val="bg1"/>
                </a:solidFill>
                <a:latin typeface="+mj-ea"/>
                <a:ea typeface="+mj-ea"/>
              </a:rPr>
              <a:t>统一需求和供应数据源</a:t>
            </a:r>
            <a:r>
              <a:rPr lang="en-US" altLang="zh-CN" sz="1600" kern="0" dirty="0">
                <a:solidFill>
                  <a:schemeClr val="bg1"/>
                </a:solidFill>
                <a:latin typeface="+mj-ea"/>
                <a:ea typeface="+mj-ea"/>
              </a:rPr>
              <a:t>  </a:t>
            </a:r>
          </a:p>
        </p:txBody>
      </p:sp>
      <p:cxnSp>
        <p:nvCxnSpPr>
          <p:cNvPr id="23" name="直接连接符 7"/>
          <p:cNvCxnSpPr/>
          <p:nvPr/>
        </p:nvCxnSpPr>
        <p:spPr>
          <a:xfrm>
            <a:off x="7442200" y="1509185"/>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4" name="直接连接符 7"/>
          <p:cNvCxnSpPr/>
          <p:nvPr/>
        </p:nvCxnSpPr>
        <p:spPr>
          <a:xfrm>
            <a:off x="6051551" y="1534585"/>
            <a:ext cx="0" cy="4070351"/>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5" name="直接连接符 7"/>
          <p:cNvCxnSpPr/>
          <p:nvPr/>
        </p:nvCxnSpPr>
        <p:spPr>
          <a:xfrm>
            <a:off x="4493684" y="1572685"/>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6" name="直接连接符 7"/>
          <p:cNvCxnSpPr/>
          <p:nvPr/>
        </p:nvCxnSpPr>
        <p:spPr>
          <a:xfrm>
            <a:off x="3054351" y="1490134"/>
            <a:ext cx="0" cy="2034117"/>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8699" name="文本框 1"/>
          <p:cNvSpPr txBox="1"/>
          <p:nvPr/>
        </p:nvSpPr>
        <p:spPr>
          <a:xfrm>
            <a:off x="1320801" y="969434"/>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1</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28700" name="文本框 1"/>
          <p:cNvSpPr txBox="1"/>
          <p:nvPr/>
        </p:nvSpPr>
        <p:spPr>
          <a:xfrm>
            <a:off x="2971801" y="950385"/>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2</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28701" name="文本框 1"/>
          <p:cNvSpPr txBox="1"/>
          <p:nvPr/>
        </p:nvSpPr>
        <p:spPr>
          <a:xfrm>
            <a:off x="4495801" y="937685"/>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3</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28702" name="文本框 1"/>
          <p:cNvSpPr txBox="1"/>
          <p:nvPr/>
        </p:nvSpPr>
        <p:spPr>
          <a:xfrm>
            <a:off x="6009218" y="950385"/>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4</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32" name="Line 58"/>
          <p:cNvSpPr/>
          <p:nvPr/>
        </p:nvSpPr>
        <p:spPr>
          <a:xfrm flipH="1">
            <a:off x="3054351" y="2645834"/>
            <a:ext cx="721783" cy="1276351"/>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a:lstStyle/>
          <a:p>
            <a:endParaRPr lang="zh-CN" altLang="en-US" dirty="0">
              <a:latin typeface="+mj-ea"/>
              <a:ea typeface="+mj-ea"/>
            </a:endParaRPr>
          </a:p>
        </p:txBody>
      </p:sp>
      <p:sp>
        <p:nvSpPr>
          <p:cNvPr id="8" name="文本框 7">
            <a:extLst>
              <a:ext uri="{FF2B5EF4-FFF2-40B4-BE49-F238E27FC236}">
                <a16:creationId xmlns:a16="http://schemas.microsoft.com/office/drawing/2014/main" id="{83AFF52D-6370-2BC3-C248-6BDBA833DDE8}"/>
              </a:ext>
            </a:extLst>
          </p:cNvPr>
          <p:cNvSpPr txBox="1"/>
          <p:nvPr/>
        </p:nvSpPr>
        <p:spPr>
          <a:xfrm>
            <a:off x="10500621" y="3304118"/>
            <a:ext cx="1302564" cy="338554"/>
          </a:xfrm>
          <a:prstGeom prst="rect">
            <a:avLst/>
          </a:prstGeom>
          <a:noFill/>
        </p:spPr>
        <p:txBody>
          <a:bodyPr wrap="square" rtlCol="0">
            <a:spAutoFit/>
          </a:bodyPr>
          <a:lstStyle/>
          <a:p>
            <a:r>
              <a:rPr lang="zh-CN" altLang="en-US" sz="1600" b="1" dirty="0">
                <a:solidFill>
                  <a:schemeClr val="bg1"/>
                </a:solidFill>
                <a:latin typeface="+mj-ea"/>
                <a:ea typeface="+mj-ea"/>
              </a:rPr>
              <a:t>需求日期</a:t>
            </a:r>
          </a:p>
        </p:txBody>
      </p:sp>
      <p:sp>
        <p:nvSpPr>
          <p:cNvPr id="9" name="TextBox 30">
            <a:extLst>
              <a:ext uri="{FF2B5EF4-FFF2-40B4-BE49-F238E27FC236}">
                <a16:creationId xmlns:a16="http://schemas.microsoft.com/office/drawing/2014/main" id="{37B15513-B7AD-3339-D733-B9C56336DDFC}"/>
              </a:ext>
            </a:extLst>
          </p:cNvPr>
          <p:cNvSpPr txBox="1"/>
          <p:nvPr/>
        </p:nvSpPr>
        <p:spPr>
          <a:xfrm>
            <a:off x="93664" y="1492958"/>
            <a:ext cx="3159124" cy="1354195"/>
          </a:xfrm>
          <a:prstGeom prst="rect">
            <a:avLst/>
          </a:prstGeom>
          <a:no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Font typeface="Arial" panose="020B0604020202020204" pitchFamily="34" charset="0"/>
              <a:buNone/>
            </a:pPr>
            <a:r>
              <a:rPr lang="zh-CN" altLang="en-US" sz="1600" b="1" dirty="0">
                <a:solidFill>
                  <a:srgbClr val="FFFFFF"/>
                </a:solidFill>
                <a:latin typeface="微软雅黑" panose="020B0503020204020204" pitchFamily="34" charset="-122"/>
                <a:ea typeface="微软雅黑" panose="020B0503020204020204" pitchFamily="34" charset="-122"/>
              </a:rPr>
              <a:t>场景</a:t>
            </a:r>
            <a:r>
              <a:rPr lang="en-US" altLang="zh-CN" sz="1600" b="1" dirty="0">
                <a:solidFill>
                  <a:srgbClr val="FFFFFF"/>
                </a:solidFill>
                <a:latin typeface="微软雅黑" panose="020B0503020204020204" pitchFamily="34" charset="-122"/>
                <a:ea typeface="微软雅黑" panose="020B0503020204020204" pitchFamily="34" charset="-122"/>
              </a:rPr>
              <a:t>:</a:t>
            </a:r>
          </a:p>
          <a:p>
            <a:pPr marL="0" indent="0" defTabSz="1217476" eaLnBrk="1" hangingPunct="1">
              <a:spcBef>
                <a:spcPct val="0"/>
              </a:spcBef>
            </a:pPr>
            <a:r>
              <a:rPr lang="zh-CN" altLang="en-US" sz="1600" dirty="0">
                <a:solidFill>
                  <a:srgbClr val="FFFFFF"/>
                </a:solidFill>
                <a:latin typeface="微软雅黑" panose="020B0503020204020204" pitchFamily="34" charset="-122"/>
                <a:ea typeface="微软雅黑" panose="020B0503020204020204" pitchFamily="34" charset="-122"/>
              </a:rPr>
              <a:t>需求</a:t>
            </a:r>
            <a:r>
              <a:rPr lang="en-US" altLang="zh-CN" sz="1600" dirty="0">
                <a:solidFill>
                  <a:srgbClr val="FFFFFF"/>
                </a:solidFill>
                <a:latin typeface="微软雅黑" panose="020B0503020204020204" pitchFamily="34" charset="-122"/>
                <a:ea typeface="微软雅黑" panose="020B0503020204020204" pitchFamily="34" charset="-122"/>
              </a:rPr>
              <a:t>1</a:t>
            </a:r>
            <a:r>
              <a:rPr lang="zh-CN" altLang="en-US" sz="1600" dirty="0">
                <a:solidFill>
                  <a:srgbClr val="FFFFFF"/>
                </a:solidFill>
                <a:latin typeface="微软雅黑" panose="020B0503020204020204" pitchFamily="34" charset="-122"/>
                <a:ea typeface="微软雅黑" panose="020B0503020204020204" pitchFamily="34" charset="-122"/>
              </a:rPr>
              <a:t>由</a:t>
            </a:r>
            <a:r>
              <a:rPr lang="en-US" altLang="zh-CN" sz="1600" dirty="0">
                <a:solidFill>
                  <a:srgbClr val="FFFFFF"/>
                </a:solidFill>
                <a:latin typeface="微软雅黑" panose="020B0503020204020204" pitchFamily="34" charset="-122"/>
                <a:ea typeface="微软雅黑" panose="020B0503020204020204" pitchFamily="34" charset="-122"/>
              </a:rPr>
              <a:t>A</a:t>
            </a:r>
            <a:r>
              <a:rPr lang="zh-CN" altLang="en-US" sz="1600" dirty="0">
                <a:solidFill>
                  <a:srgbClr val="FFFFFF"/>
                </a:solidFill>
                <a:latin typeface="微软雅黑" panose="020B0503020204020204" pitchFamily="34" charset="-122"/>
                <a:ea typeface="微软雅黑" panose="020B0503020204020204" pitchFamily="34" charset="-122"/>
              </a:rPr>
              <a:t>和</a:t>
            </a:r>
            <a:r>
              <a:rPr lang="en-US" altLang="zh-CN" sz="1600" dirty="0">
                <a:solidFill>
                  <a:srgbClr val="FFFFFF"/>
                </a:solidFill>
                <a:latin typeface="微软雅黑" panose="020B0503020204020204" pitchFamily="34" charset="-122"/>
                <a:ea typeface="微软雅黑" panose="020B0503020204020204" pitchFamily="34" charset="-122"/>
              </a:rPr>
              <a:t>B</a:t>
            </a:r>
            <a:r>
              <a:rPr lang="zh-CN" altLang="en-US" sz="1600" dirty="0">
                <a:solidFill>
                  <a:srgbClr val="FFFFFF"/>
                </a:solidFill>
                <a:latin typeface="微软雅黑" panose="020B0503020204020204" pitchFamily="34" charset="-122"/>
                <a:ea typeface="微软雅黑" panose="020B0503020204020204" pitchFamily="34" charset="-122"/>
              </a:rPr>
              <a:t>生产</a:t>
            </a:r>
            <a:endParaRPr lang="en-US" altLang="zh-CN" sz="1600" dirty="0">
              <a:solidFill>
                <a:srgbClr val="FFFFFF"/>
              </a:solidFill>
              <a:latin typeface="微软雅黑" panose="020B0503020204020204" pitchFamily="34" charset="-122"/>
              <a:ea typeface="微软雅黑" panose="020B0503020204020204" pitchFamily="34" charset="-122"/>
            </a:endParaRPr>
          </a:p>
          <a:p>
            <a:pPr marL="0" indent="0" defTabSz="1217476" eaLnBrk="1" hangingPunct="1">
              <a:spcBef>
                <a:spcPct val="0"/>
              </a:spcBef>
            </a:pPr>
            <a:r>
              <a:rPr lang="zh-CN" altLang="en-US" sz="1600" dirty="0">
                <a:solidFill>
                  <a:srgbClr val="FFFFFF"/>
                </a:solidFill>
                <a:latin typeface="微软雅黑" panose="020B0503020204020204" pitchFamily="34" charset="-122"/>
                <a:ea typeface="微软雅黑" panose="020B0503020204020204" pitchFamily="34" charset="-122"/>
              </a:rPr>
              <a:t>需求</a:t>
            </a:r>
            <a:r>
              <a:rPr lang="en-US" altLang="zh-CN" sz="1600" dirty="0">
                <a:solidFill>
                  <a:srgbClr val="FFFFFF"/>
                </a:solidFill>
                <a:latin typeface="微软雅黑" panose="020B0503020204020204" pitchFamily="34" charset="-122"/>
                <a:ea typeface="微软雅黑" panose="020B0503020204020204" pitchFamily="34" charset="-122"/>
              </a:rPr>
              <a:t>2</a:t>
            </a:r>
            <a:r>
              <a:rPr lang="zh-CN" altLang="en-US" sz="1600" dirty="0">
                <a:solidFill>
                  <a:srgbClr val="FFFFFF"/>
                </a:solidFill>
                <a:latin typeface="微软雅黑" panose="020B0503020204020204" pitchFamily="34" charset="-122"/>
                <a:ea typeface="微软雅黑" panose="020B0503020204020204" pitchFamily="34" charset="-122"/>
              </a:rPr>
              <a:t>由</a:t>
            </a:r>
            <a:r>
              <a:rPr lang="en-US" altLang="zh-CN" sz="1600" dirty="0">
                <a:solidFill>
                  <a:srgbClr val="FFFFFF"/>
                </a:solidFill>
                <a:latin typeface="微软雅黑" panose="020B0503020204020204" pitchFamily="34" charset="-122"/>
                <a:ea typeface="微软雅黑" panose="020B0503020204020204" pitchFamily="34" charset="-122"/>
              </a:rPr>
              <a:t>A</a:t>
            </a:r>
            <a:r>
              <a:rPr lang="zh-CN" altLang="en-US" sz="1600" dirty="0">
                <a:solidFill>
                  <a:srgbClr val="FFFFFF"/>
                </a:solidFill>
                <a:latin typeface="微软雅黑" panose="020B0503020204020204" pitchFamily="34" charset="-122"/>
                <a:ea typeface="微软雅黑" panose="020B0503020204020204" pitchFamily="34" charset="-122"/>
              </a:rPr>
              <a:t>和</a:t>
            </a:r>
            <a:r>
              <a:rPr lang="en-US" altLang="zh-CN" sz="1600" dirty="0">
                <a:solidFill>
                  <a:srgbClr val="FFFFFF"/>
                </a:solidFill>
                <a:latin typeface="微软雅黑" panose="020B0503020204020204" pitchFamily="34" charset="-122"/>
                <a:ea typeface="微软雅黑" panose="020B0503020204020204" pitchFamily="34" charset="-122"/>
              </a:rPr>
              <a:t>C</a:t>
            </a:r>
            <a:r>
              <a:rPr lang="zh-CN" altLang="en-US" sz="1600" dirty="0">
                <a:solidFill>
                  <a:srgbClr val="FFFFFF"/>
                </a:solidFill>
                <a:latin typeface="微软雅黑" panose="020B0503020204020204" pitchFamily="34" charset="-122"/>
                <a:ea typeface="微软雅黑" panose="020B0503020204020204" pitchFamily="34" charset="-122"/>
              </a:rPr>
              <a:t>生产</a:t>
            </a:r>
            <a:endParaRPr lang="en-US" altLang="zh-CN" sz="1600" dirty="0">
              <a:solidFill>
                <a:srgbClr val="FFFFFF"/>
              </a:solidFill>
              <a:latin typeface="微软雅黑" panose="020B0503020204020204" pitchFamily="34" charset="-122"/>
              <a:ea typeface="微软雅黑" panose="020B0503020204020204" pitchFamily="34" charset="-122"/>
            </a:endParaRPr>
          </a:p>
          <a:p>
            <a:pPr marL="0" indent="0" defTabSz="1217476" eaLnBrk="1" hangingPunct="1">
              <a:spcBef>
                <a:spcPct val="0"/>
              </a:spcBef>
            </a:pPr>
            <a:r>
              <a:rPr lang="zh-CN" altLang="en-US" sz="1600" dirty="0">
                <a:solidFill>
                  <a:srgbClr val="FFFFFF"/>
                </a:solidFill>
                <a:latin typeface="微软雅黑" panose="020B0503020204020204" pitchFamily="34" charset="-122"/>
                <a:ea typeface="微软雅黑" panose="020B0503020204020204" pitchFamily="34" charset="-122"/>
              </a:rPr>
              <a:t>需求</a:t>
            </a:r>
            <a:r>
              <a:rPr lang="en-US" altLang="zh-CN" sz="1600" dirty="0">
                <a:solidFill>
                  <a:srgbClr val="FFFFFF"/>
                </a:solidFill>
                <a:latin typeface="微软雅黑" panose="020B0503020204020204" pitchFamily="34" charset="-122"/>
                <a:ea typeface="微软雅黑" panose="020B0503020204020204" pitchFamily="34" charset="-122"/>
              </a:rPr>
              <a:t>2</a:t>
            </a:r>
            <a:r>
              <a:rPr lang="zh-CN" altLang="en-US" sz="1600" dirty="0">
                <a:solidFill>
                  <a:srgbClr val="FFFFFF"/>
                </a:solidFill>
                <a:latin typeface="微软雅黑" panose="020B0503020204020204" pitchFamily="34" charset="-122"/>
                <a:ea typeface="微软雅黑" panose="020B0503020204020204" pitchFamily="34" charset="-122"/>
              </a:rPr>
              <a:t>的优先级高于需求</a:t>
            </a:r>
            <a:r>
              <a:rPr lang="en-US" altLang="zh-CN" sz="1600" dirty="0">
                <a:solidFill>
                  <a:srgbClr val="FFFFFF"/>
                </a:solidFill>
                <a:latin typeface="微软雅黑" panose="020B0503020204020204" pitchFamily="34" charset="-122"/>
                <a:ea typeface="微软雅黑" panose="020B0503020204020204" pitchFamily="34" charset="-122"/>
              </a:rPr>
              <a:t>1</a:t>
            </a:r>
          </a:p>
          <a:p>
            <a:pPr marL="0" indent="0" defTabSz="1217476" eaLnBrk="1" hangingPunct="1">
              <a:spcBef>
                <a:spcPct val="0"/>
              </a:spcBef>
            </a:pPr>
            <a:r>
              <a:rPr lang="zh-CN" altLang="en-US" sz="1600" dirty="0">
                <a:solidFill>
                  <a:srgbClr val="FFFFFF"/>
                </a:solidFill>
                <a:latin typeface="微软雅黑" panose="020B0503020204020204" pitchFamily="34" charset="-122"/>
                <a:ea typeface="微软雅黑" panose="020B0503020204020204" pitchFamily="34" charset="-122"/>
              </a:rPr>
              <a:t>库存</a:t>
            </a:r>
            <a:r>
              <a:rPr lang="en-US" altLang="zh-CN" sz="1600" dirty="0">
                <a:solidFill>
                  <a:srgbClr val="FFFFFF"/>
                </a:solidFill>
                <a:latin typeface="微软雅黑" panose="020B0503020204020204" pitchFamily="34" charset="-122"/>
                <a:ea typeface="微软雅黑" panose="020B0503020204020204" pitchFamily="34" charset="-122"/>
              </a:rPr>
              <a:t>A</a:t>
            </a:r>
            <a:r>
              <a:rPr lang="zh-CN" altLang="en-US" sz="1600" dirty="0">
                <a:solidFill>
                  <a:srgbClr val="FFFFFF"/>
                </a:solidFill>
                <a:latin typeface="微软雅黑" panose="020B0503020204020204" pitchFamily="34" charset="-122"/>
                <a:ea typeface="微软雅黑" panose="020B0503020204020204" pitchFamily="34" charset="-122"/>
              </a:rPr>
              <a:t>只能满足其中一笔需求</a:t>
            </a:r>
            <a:endParaRPr lang="en-US" altLang="zh-CN" sz="1600" dirty="0">
              <a:solidFill>
                <a:srgbClr val="FFFFFF"/>
              </a:solidFill>
              <a:latin typeface="微软雅黑" panose="020B0503020204020204" pitchFamily="34" charset="-122"/>
              <a:ea typeface="微软雅黑" panose="020B0503020204020204" pitchFamily="34" charset="-122"/>
            </a:endParaRPr>
          </a:p>
        </p:txBody>
      </p:sp>
    </p:spTree>
    <p:custDataLst>
      <p:tags r:id="rId1"/>
    </p:custData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mph" presetSubtype="0" fill="hold" grpId="0" nodeType="clickEffect">
                                  <p:stCondLst>
                                    <p:cond delay="0"/>
                                  </p:stCondLst>
                                  <p:childTnLst>
                                    <p:animEffect transition="out" filter="fade">
                                      <p:cBhvr>
                                        <p:cTn id="6" dur="500" tmFilter="0, 0; .2, .5; .8, .5; 1, 0"/>
                                        <p:tgtEl>
                                          <p:spTgt spid="11"/>
                                        </p:tgtEl>
                                      </p:cBhvr>
                                    </p:animEffect>
                                    <p:animScale>
                                      <p:cBhvr>
                                        <p:cTn id="7" dur="250" autoRev="1" fill="hold"/>
                                        <p:tgtEl>
                                          <p:spTgt spid="11"/>
                                        </p:tgtEl>
                                      </p:cBhvr>
                                      <p:by x="105000" y="105000"/>
                                    </p:animScale>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par>
                                <p:cTn id="13" presetID="23" presetClass="entr" presetSubtype="16"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fltVal val="0"/>
                                          </p:val>
                                        </p:tav>
                                        <p:tav tm="100000">
                                          <p:val>
                                            <p:strVal val="#ppt_w"/>
                                          </p:val>
                                        </p:tav>
                                      </p:tavLst>
                                    </p:anim>
                                    <p:anim calcmode="lin" valueType="num">
                                      <p:cBhvr>
                                        <p:cTn id="16" dur="500" fill="hold"/>
                                        <p:tgtEl>
                                          <p:spTgt spid="13"/>
                                        </p:tgtEl>
                                        <p:attrNameLst>
                                          <p:attrName>ppt_h</p:attrName>
                                        </p:attrNameLst>
                                      </p:cBhvr>
                                      <p:tavLst>
                                        <p:tav tm="0">
                                          <p:val>
                                            <p:fltVal val="0"/>
                                          </p:val>
                                        </p:tav>
                                        <p:tav tm="100000">
                                          <p:val>
                                            <p:strVal val="#ppt_h"/>
                                          </p:val>
                                        </p:tav>
                                      </p:tavLst>
                                    </p:anim>
                                  </p:childTnLst>
                                </p:cTn>
                              </p:par>
                              <p:par>
                                <p:cTn id="17" presetID="23" presetClass="entr" presetSubtype="16"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fltVal val="0"/>
                                          </p:val>
                                        </p:tav>
                                        <p:tav tm="100000">
                                          <p:val>
                                            <p:strVal val="#ppt_w"/>
                                          </p:val>
                                        </p:tav>
                                      </p:tavLst>
                                    </p:anim>
                                    <p:anim calcmode="lin" valueType="num">
                                      <p:cBhvr>
                                        <p:cTn id="20" dur="500" fill="hold"/>
                                        <p:tgtEl>
                                          <p:spTgt spid="14"/>
                                        </p:tgtEl>
                                        <p:attrNameLst>
                                          <p:attrName>ppt_h</p:attrName>
                                        </p:attrNameLst>
                                      </p:cBhvr>
                                      <p:tavLst>
                                        <p:tav tm="0">
                                          <p:val>
                                            <p:fltVal val="0"/>
                                          </p:val>
                                        </p:tav>
                                        <p:tav tm="100000">
                                          <p:val>
                                            <p:strVal val="#ppt_h"/>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fade">
                                      <p:cBhvr>
                                        <p:cTn id="25" dur="500"/>
                                        <p:tgtEl>
                                          <p:spTgt spid="16"/>
                                        </p:tgtEl>
                                      </p:cBhvr>
                                    </p:animEffect>
                                  </p:childTnLst>
                                </p:cTn>
                              </p:par>
                              <p:par>
                                <p:cTn id="26" presetID="23" presetClass="entr" presetSubtype="16" fill="hold" nodeType="withEffect">
                                  <p:stCondLst>
                                    <p:cond delay="0"/>
                                  </p:stCondLst>
                                  <p:childTnLst>
                                    <p:set>
                                      <p:cBhvr>
                                        <p:cTn id="27" dur="1" fill="hold">
                                          <p:stCondLst>
                                            <p:cond delay="0"/>
                                          </p:stCondLst>
                                        </p:cTn>
                                        <p:tgtEl>
                                          <p:spTgt spid="32"/>
                                        </p:tgtEl>
                                        <p:attrNameLst>
                                          <p:attrName>style.visibility</p:attrName>
                                        </p:attrNameLst>
                                      </p:cBhvr>
                                      <p:to>
                                        <p:strVal val="visible"/>
                                      </p:to>
                                    </p:set>
                                    <p:anim calcmode="lin" valueType="num">
                                      <p:cBhvr>
                                        <p:cTn id="28" dur="500" fill="hold"/>
                                        <p:tgtEl>
                                          <p:spTgt spid="32"/>
                                        </p:tgtEl>
                                        <p:attrNameLst>
                                          <p:attrName>ppt_w</p:attrName>
                                        </p:attrNameLst>
                                      </p:cBhvr>
                                      <p:tavLst>
                                        <p:tav tm="0">
                                          <p:val>
                                            <p:fltVal val="0"/>
                                          </p:val>
                                        </p:tav>
                                        <p:tav tm="100000">
                                          <p:val>
                                            <p:strVal val="#ppt_w"/>
                                          </p:val>
                                        </p:tav>
                                      </p:tavLst>
                                    </p:anim>
                                    <p:anim calcmode="lin" valueType="num">
                                      <p:cBhvr>
                                        <p:cTn id="29" dur="500" fill="hold"/>
                                        <p:tgtEl>
                                          <p:spTgt spid="32"/>
                                        </p:tgtEl>
                                        <p:attrNameLst>
                                          <p:attrName>ppt_h</p:attrName>
                                        </p:attrNameLst>
                                      </p:cBhvr>
                                      <p:tavLst>
                                        <p:tav tm="0">
                                          <p:val>
                                            <p:fltVal val="0"/>
                                          </p:val>
                                        </p:tav>
                                        <p:tav tm="100000">
                                          <p:val>
                                            <p:strVal val="#ppt_h"/>
                                          </p:val>
                                        </p:tav>
                                      </p:tavLst>
                                    </p:anim>
                                  </p:childTnLst>
                                </p:cTn>
                              </p:par>
                              <p:par>
                                <p:cTn id="30" presetID="23" presetClass="entr" presetSubtype="16"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 calcmode="lin" valueType="num">
                                      <p:cBhvr>
                                        <p:cTn id="32" dur="500" fill="hold"/>
                                        <p:tgtEl>
                                          <p:spTgt spid="17"/>
                                        </p:tgtEl>
                                        <p:attrNameLst>
                                          <p:attrName>ppt_w</p:attrName>
                                        </p:attrNameLst>
                                      </p:cBhvr>
                                      <p:tavLst>
                                        <p:tav tm="0">
                                          <p:val>
                                            <p:fltVal val="0"/>
                                          </p:val>
                                        </p:tav>
                                        <p:tav tm="100000">
                                          <p:val>
                                            <p:strVal val="#ppt_w"/>
                                          </p:val>
                                        </p:tav>
                                      </p:tavLst>
                                    </p:anim>
                                    <p:anim calcmode="lin" valueType="num">
                                      <p:cBhvr>
                                        <p:cTn id="33" dur="500" fill="hold"/>
                                        <p:tgtEl>
                                          <p:spTgt spid="17"/>
                                        </p:tgtEl>
                                        <p:attrNameLst>
                                          <p:attrName>ppt_h</p:attrName>
                                        </p:attrNameLst>
                                      </p:cBhvr>
                                      <p:tavLst>
                                        <p:tav tm="0">
                                          <p:val>
                                            <p:fltVal val="0"/>
                                          </p:val>
                                        </p:tav>
                                        <p:tav tm="100000">
                                          <p:val>
                                            <p:strVal val="#ppt_h"/>
                                          </p:val>
                                        </p:tav>
                                      </p:tavLst>
                                    </p:anim>
                                  </p:childTnLst>
                                </p:cTn>
                              </p:par>
                              <p:par>
                                <p:cTn id="34" presetID="22" presetClass="entr" presetSubtype="4" fill="hold" nodeType="with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wipe(down)">
                                      <p:cBhvr>
                                        <p:cTn id="36" dur="500"/>
                                        <p:tgtEl>
                                          <p:spTgt spid="18"/>
                                        </p:tgtEl>
                                      </p:cBhvr>
                                    </p:animEffect>
                                  </p:childTnLst>
                                </p:cTn>
                              </p:par>
                              <p:par>
                                <p:cTn id="37" presetID="3" presetClass="entr" presetSubtype="10"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blinds(horizontal)">
                                      <p:cBhvr>
                                        <p:cTn id="39" dur="500"/>
                                        <p:tgtEl>
                                          <p:spTgt spid="21"/>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circle(in)">
                                      <p:cBhvr>
                                        <p:cTn id="4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5" grpId="0" animBg="1"/>
      <p:bldP spid="16" grpId="0" animBg="1"/>
      <p:bldP spid="20" grpId="0"/>
      <p:bldP spid="21"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53"/>
          <p:cNvSpPr/>
          <p:nvPr/>
        </p:nvSpPr>
        <p:spPr>
          <a:xfrm>
            <a:off x="3005667" y="4914900"/>
            <a:ext cx="4660900" cy="1066800"/>
          </a:xfrm>
          <a:prstGeom prst="rect">
            <a:avLst/>
          </a:prstGeom>
          <a:solidFill>
            <a:schemeClr val="accent3">
              <a:lumMod val="75000"/>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a:defRPr/>
            </a:pPr>
            <a:r>
              <a:rPr lang="zh-CN" altLang="en-US" dirty="0">
                <a:solidFill>
                  <a:schemeClr val="bg1"/>
                </a:solidFill>
                <a:latin typeface="+mj-ea"/>
                <a:ea typeface="+mj-ea"/>
              </a:rPr>
              <a:t>缺料补货需求</a:t>
            </a:r>
            <a:endParaRPr lang="en-US" dirty="0">
              <a:solidFill>
                <a:schemeClr val="bg1"/>
              </a:solidFill>
              <a:latin typeface="+mj-ea"/>
              <a:ea typeface="+mj-ea"/>
            </a:endParaRPr>
          </a:p>
        </p:txBody>
      </p:sp>
      <p:cxnSp>
        <p:nvCxnSpPr>
          <p:cNvPr id="4" name="直接箭头连接符 6"/>
          <p:cNvCxnSpPr/>
          <p:nvPr/>
        </p:nvCxnSpPr>
        <p:spPr>
          <a:xfrm>
            <a:off x="960967" y="3367617"/>
            <a:ext cx="9330267" cy="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13"/>
          <p:cNvCxnSpPr>
            <a:stCxn id="29704" idx="2"/>
          </p:cNvCxnSpPr>
          <p:nvPr/>
        </p:nvCxnSpPr>
        <p:spPr>
          <a:xfrm flipH="1">
            <a:off x="4290484" y="2538895"/>
            <a:ext cx="1059" cy="854123"/>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15"/>
          <p:cNvCxnSpPr>
            <a:stCxn id="29705" idx="2"/>
          </p:cNvCxnSpPr>
          <p:nvPr/>
        </p:nvCxnSpPr>
        <p:spPr>
          <a:xfrm>
            <a:off x="6546851" y="2526067"/>
            <a:ext cx="0" cy="87740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7" name="直接箭头连接符 23"/>
          <p:cNvCxnSpPr/>
          <p:nvPr/>
        </p:nvCxnSpPr>
        <p:spPr>
          <a:xfrm flipV="1">
            <a:off x="2999317" y="3367618"/>
            <a:ext cx="0" cy="67310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8" name="直接箭头连接符 35"/>
          <p:cNvCxnSpPr/>
          <p:nvPr/>
        </p:nvCxnSpPr>
        <p:spPr>
          <a:xfrm flipV="1">
            <a:off x="2999317" y="4243917"/>
            <a:ext cx="0" cy="670984"/>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9704" name="矩形 8"/>
          <p:cNvSpPr/>
          <p:nvPr/>
        </p:nvSpPr>
        <p:spPr>
          <a:xfrm>
            <a:off x="3570818" y="2169585"/>
            <a:ext cx="1441449"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endParaRPr lang="zh-CN" altLang="en-US" sz="1600" dirty="0">
              <a:solidFill>
                <a:schemeClr val="bg1"/>
              </a:solidFill>
              <a:latin typeface="+mj-ea"/>
              <a:ea typeface="+mj-ea"/>
            </a:endParaRPr>
          </a:p>
        </p:txBody>
      </p:sp>
      <p:sp>
        <p:nvSpPr>
          <p:cNvPr id="29705" name="矩形 9"/>
          <p:cNvSpPr/>
          <p:nvPr/>
        </p:nvSpPr>
        <p:spPr>
          <a:xfrm>
            <a:off x="5827184" y="2156757"/>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endParaRPr lang="zh-CN" altLang="en-US" sz="1600" dirty="0">
              <a:solidFill>
                <a:schemeClr val="bg1"/>
              </a:solidFill>
              <a:latin typeface="+mj-ea"/>
              <a:ea typeface="+mj-ea"/>
            </a:endParaRPr>
          </a:p>
        </p:txBody>
      </p:sp>
      <p:sp>
        <p:nvSpPr>
          <p:cNvPr id="29706" name="矩形 10"/>
          <p:cNvSpPr/>
          <p:nvPr/>
        </p:nvSpPr>
        <p:spPr>
          <a:xfrm>
            <a:off x="1416052" y="3560235"/>
            <a:ext cx="1390649" cy="369310"/>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库存</a:t>
            </a:r>
            <a:r>
              <a:rPr lang="en-US" altLang="zh-CN" sz="1600" dirty="0">
                <a:solidFill>
                  <a:schemeClr val="bg1"/>
                </a:solidFill>
                <a:latin typeface="+mj-ea"/>
                <a:ea typeface="+mj-ea"/>
              </a:rPr>
              <a:t>A</a:t>
            </a:r>
            <a:endParaRPr lang="zh-CN" altLang="en-US" sz="1600" dirty="0">
              <a:solidFill>
                <a:schemeClr val="bg1"/>
              </a:solidFill>
              <a:latin typeface="+mj-ea"/>
              <a:ea typeface="+mj-ea"/>
            </a:endParaRPr>
          </a:p>
        </p:txBody>
      </p:sp>
      <p:sp>
        <p:nvSpPr>
          <p:cNvPr id="12" name="矩形 11"/>
          <p:cNvSpPr/>
          <p:nvPr/>
        </p:nvSpPr>
        <p:spPr>
          <a:xfrm>
            <a:off x="3581401" y="4940300"/>
            <a:ext cx="1361017" cy="369310"/>
          </a:xfrm>
          <a:prstGeom prst="rect">
            <a:avLst/>
          </a:prstGeom>
          <a:solidFill>
            <a:schemeClr val="accent3">
              <a:lumMod val="20000"/>
              <a:lumOff val="80000"/>
              <a:alpha val="50000"/>
            </a:schemeClr>
          </a:solidFill>
        </p:spPr>
        <p:txBody>
          <a:bodyPr lIns="121899" tIns="60949" rIns="121899" bIns="60949">
            <a:spAutoFit/>
          </a:bodyPr>
          <a:lstStyle/>
          <a:p>
            <a:pPr algn="ctr" defTabSz="1217476" fontAlgn="base">
              <a:spcBef>
                <a:spcPct val="0"/>
              </a:spcBef>
              <a:spcAft>
                <a:spcPct val="0"/>
              </a:spcAft>
              <a:defRPr/>
            </a:pPr>
            <a:r>
              <a:rPr lang="zh-CN" altLang="en-US" sz="1600" dirty="0">
                <a:solidFill>
                  <a:schemeClr val="bg1"/>
                </a:solidFill>
                <a:latin typeface="+mj-ea"/>
                <a:ea typeface="+mj-ea"/>
                <a:cs typeface="微软雅黑" panose="020B0503020204020204" pitchFamily="34" charset="-122"/>
              </a:rPr>
              <a:t>补货需求</a:t>
            </a:r>
            <a:r>
              <a:rPr lang="en-US" altLang="zh-CN" sz="1600" dirty="0">
                <a:solidFill>
                  <a:schemeClr val="bg1"/>
                </a:solidFill>
                <a:latin typeface="+mj-ea"/>
                <a:ea typeface="+mj-ea"/>
                <a:cs typeface="微软雅黑" panose="020B0503020204020204" pitchFamily="34" charset="-122"/>
              </a:rPr>
              <a:t> C</a:t>
            </a:r>
            <a:endParaRPr lang="zh-CN" altLang="en-US" sz="1600" dirty="0">
              <a:solidFill>
                <a:schemeClr val="bg1"/>
              </a:solidFill>
              <a:latin typeface="+mj-ea"/>
              <a:ea typeface="+mj-ea"/>
              <a:cs typeface="微软雅黑" panose="020B0503020204020204" pitchFamily="34" charset="-122"/>
            </a:endParaRPr>
          </a:p>
        </p:txBody>
      </p:sp>
      <p:sp>
        <p:nvSpPr>
          <p:cNvPr id="29708" name="矩形 12"/>
          <p:cNvSpPr/>
          <p:nvPr/>
        </p:nvSpPr>
        <p:spPr>
          <a:xfrm>
            <a:off x="1416052" y="4375151"/>
            <a:ext cx="1390649"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库存</a:t>
            </a:r>
            <a:r>
              <a:rPr lang="en-US" altLang="zh-CN" sz="1600" dirty="0">
                <a:solidFill>
                  <a:schemeClr val="bg1"/>
                </a:solidFill>
                <a:latin typeface="+mj-ea"/>
                <a:ea typeface="+mj-ea"/>
              </a:rPr>
              <a:t>B</a:t>
            </a:r>
            <a:endParaRPr lang="zh-CN" altLang="en-US" sz="1600" dirty="0">
              <a:solidFill>
                <a:schemeClr val="bg1"/>
              </a:solidFill>
              <a:latin typeface="+mj-ea"/>
              <a:ea typeface="+mj-ea"/>
            </a:endParaRPr>
          </a:p>
        </p:txBody>
      </p:sp>
      <p:sp>
        <p:nvSpPr>
          <p:cNvPr id="14" name="Line 58"/>
          <p:cNvSpPr>
            <a:spLocks noChangeShapeType="1"/>
          </p:cNvSpPr>
          <p:nvPr/>
        </p:nvSpPr>
        <p:spPr bwMode="auto">
          <a:xfrm>
            <a:off x="6548967" y="2997200"/>
            <a:ext cx="213784" cy="2006600"/>
          </a:xfrm>
          <a:prstGeom prst="line">
            <a:avLst/>
          </a:prstGeom>
          <a:ln>
            <a:solidFill>
              <a:schemeClr val="bg1"/>
            </a:solidFill>
            <a:tailEnd type="triangle" w="med" len="med"/>
          </a:ln>
        </p:spPr>
        <p:style>
          <a:lnRef idx="2">
            <a:schemeClr val="accent1"/>
          </a:lnRef>
          <a:fillRef idx="0">
            <a:schemeClr val="accent1"/>
          </a:fillRef>
          <a:effectRef idx="1">
            <a:schemeClr val="accent1"/>
          </a:effectRef>
          <a:fontRef idx="minor">
            <a:schemeClr val="tx1"/>
          </a:fontRef>
        </p:style>
        <p:txBody>
          <a:bodyPr lIns="162504" tIns="81251" rIns="162504" bIns="81251"/>
          <a:lstStyle/>
          <a:p>
            <a:pPr defTabSz="1219170">
              <a:defRPr/>
            </a:pPr>
            <a:endParaRPr lang="zh-CN" altLang="en-US" sz="2400" kern="0">
              <a:latin typeface="+mj-ea"/>
              <a:ea typeface="+mj-ea"/>
            </a:endParaRPr>
          </a:p>
        </p:txBody>
      </p:sp>
      <p:sp>
        <p:nvSpPr>
          <p:cNvPr id="15" name="Line 58"/>
          <p:cNvSpPr>
            <a:spLocks noChangeShapeType="1"/>
          </p:cNvSpPr>
          <p:nvPr/>
        </p:nvSpPr>
        <p:spPr bwMode="auto">
          <a:xfrm flipH="1">
            <a:off x="2980267" y="2992967"/>
            <a:ext cx="3543300" cy="781051"/>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lIns="162504" tIns="81251" rIns="162504" bIns="81251"/>
          <a:lstStyle/>
          <a:p>
            <a:pPr defTabSz="1219170">
              <a:defRPr/>
            </a:pPr>
            <a:endParaRPr lang="zh-CN" altLang="en-US" sz="2400" kern="0">
              <a:latin typeface="+mj-ea"/>
              <a:ea typeface="+mj-ea"/>
            </a:endParaRPr>
          </a:p>
        </p:txBody>
      </p:sp>
      <p:sp>
        <p:nvSpPr>
          <p:cNvPr id="16" name="矩形标注 15"/>
          <p:cNvSpPr/>
          <p:nvPr/>
        </p:nvSpPr>
        <p:spPr>
          <a:xfrm>
            <a:off x="3088218" y="1358900"/>
            <a:ext cx="2328333" cy="508000"/>
          </a:xfrm>
          <a:prstGeom prst="wedgeRectCallout">
            <a:avLst>
              <a:gd name="adj1" fmla="val 782"/>
              <a:gd name="adj2" fmla="val 90562"/>
            </a:avLst>
          </a:prstGeom>
          <a:ln>
            <a:noFill/>
          </a:ln>
        </p:spPr>
        <p:style>
          <a:lnRef idx="2">
            <a:schemeClr val="accent2">
              <a:shade val="50000"/>
            </a:schemeClr>
          </a:lnRef>
          <a:fillRef idx="1">
            <a:schemeClr val="accent2"/>
          </a:fillRef>
          <a:effectRef idx="0">
            <a:schemeClr val="accent2"/>
          </a:effectRef>
          <a:fontRef idx="minor">
            <a:schemeClr val="lt1"/>
          </a:fontRef>
        </p:style>
        <p:txBody>
          <a:bodyPr lIns="121899" tIns="60949" rIns="121899" bIns="60949" anchor="ctr"/>
          <a:lstStyle/>
          <a:p>
            <a:pPr algn="ctr" defTabSz="1217476" fontAlgn="base">
              <a:spcBef>
                <a:spcPct val="0"/>
              </a:spcBef>
              <a:spcAft>
                <a:spcPct val="0"/>
              </a:spcAft>
              <a:defRPr/>
            </a:pPr>
            <a:r>
              <a:rPr lang="en-US" altLang="zh-CN" sz="2000" dirty="0">
                <a:solidFill>
                  <a:schemeClr val="tx1"/>
                </a:solidFill>
                <a:latin typeface="+mj-ea"/>
                <a:ea typeface="+mj-ea"/>
                <a:cs typeface="微软雅黑" panose="020B0503020204020204" pitchFamily="34" charset="-122"/>
              </a:rPr>
              <a:t>MRP</a:t>
            </a:r>
            <a:endParaRPr lang="zh-CN" altLang="en-US" sz="1333" dirty="0">
              <a:solidFill>
                <a:schemeClr val="tx1"/>
              </a:solidFill>
              <a:latin typeface="+mj-ea"/>
              <a:ea typeface="+mj-ea"/>
              <a:cs typeface="微软雅黑" panose="020B0503020204020204" pitchFamily="34" charset="-122"/>
            </a:endParaRPr>
          </a:p>
        </p:txBody>
      </p:sp>
      <p:sp>
        <p:nvSpPr>
          <p:cNvPr id="17" name="矩形标注 16"/>
          <p:cNvSpPr/>
          <p:nvPr/>
        </p:nvSpPr>
        <p:spPr>
          <a:xfrm>
            <a:off x="5416552" y="1358901"/>
            <a:ext cx="2250017" cy="522817"/>
          </a:xfrm>
          <a:prstGeom prst="wedgeRectCallout">
            <a:avLst>
              <a:gd name="adj1" fmla="val 782"/>
              <a:gd name="adj2" fmla="val 90562"/>
            </a:avLst>
          </a:prstGeom>
          <a:ln>
            <a:noFill/>
          </a:ln>
        </p:spPr>
        <p:style>
          <a:lnRef idx="2">
            <a:schemeClr val="accent2">
              <a:shade val="50000"/>
            </a:schemeClr>
          </a:lnRef>
          <a:fillRef idx="1">
            <a:schemeClr val="accent2"/>
          </a:fillRef>
          <a:effectRef idx="0">
            <a:schemeClr val="accent2"/>
          </a:effectRef>
          <a:fontRef idx="minor">
            <a:schemeClr val="lt1"/>
          </a:fontRef>
        </p:style>
        <p:txBody>
          <a:bodyPr lIns="121899" tIns="60949" rIns="121899" bIns="60949" anchor="ctr"/>
          <a:lstStyle/>
          <a:p>
            <a:pPr algn="ctr" defTabSz="1217476" fontAlgn="base">
              <a:spcBef>
                <a:spcPct val="0"/>
              </a:spcBef>
              <a:spcAft>
                <a:spcPct val="0"/>
              </a:spcAft>
              <a:defRPr/>
            </a:pPr>
            <a:r>
              <a:rPr lang="en-US" altLang="zh-CN" sz="2000" dirty="0">
                <a:solidFill>
                  <a:schemeClr val="tx1"/>
                </a:solidFill>
                <a:latin typeface="+mj-ea"/>
                <a:ea typeface="+mj-ea"/>
                <a:cs typeface="微软雅黑" panose="020B0503020204020204" pitchFamily="34" charset="-122"/>
              </a:rPr>
              <a:t>MRP</a:t>
            </a:r>
            <a:endParaRPr lang="zh-CN" altLang="en-US" sz="1333" dirty="0">
              <a:solidFill>
                <a:schemeClr val="tx1"/>
              </a:solidFill>
              <a:latin typeface="+mj-ea"/>
              <a:ea typeface="+mj-ea"/>
              <a:cs typeface="微软雅黑" panose="020B0503020204020204" pitchFamily="34" charset="-122"/>
            </a:endParaRPr>
          </a:p>
        </p:txBody>
      </p:sp>
      <p:sp>
        <p:nvSpPr>
          <p:cNvPr id="18" name="Line 58"/>
          <p:cNvSpPr>
            <a:spLocks noChangeShapeType="1"/>
          </p:cNvSpPr>
          <p:nvPr/>
        </p:nvSpPr>
        <p:spPr bwMode="auto">
          <a:xfrm flipH="1">
            <a:off x="3943352" y="2529418"/>
            <a:ext cx="319617" cy="2465917"/>
          </a:xfrm>
          <a:prstGeom prst="line">
            <a:avLst/>
          </a:prstGeom>
          <a:ln>
            <a:solidFill>
              <a:schemeClr val="bg1"/>
            </a:solidFill>
            <a:tailEnd type="triangle" w="med" len="med"/>
          </a:ln>
        </p:spPr>
        <p:style>
          <a:lnRef idx="2">
            <a:schemeClr val="accent1"/>
          </a:lnRef>
          <a:fillRef idx="0">
            <a:schemeClr val="accent1"/>
          </a:fillRef>
          <a:effectRef idx="1">
            <a:schemeClr val="accent1"/>
          </a:effectRef>
          <a:fontRef idx="minor">
            <a:schemeClr val="tx1"/>
          </a:fontRef>
        </p:style>
        <p:txBody>
          <a:bodyPr lIns="162504" tIns="81251" rIns="162504" bIns="81251"/>
          <a:lstStyle/>
          <a:p>
            <a:pPr defTabSz="1624713">
              <a:defRPr/>
            </a:pPr>
            <a:endParaRPr lang="zh-CN" altLang="en-US" sz="3200" kern="0" dirty="0">
              <a:latin typeface="+mj-ea"/>
              <a:ea typeface="+mj-ea"/>
            </a:endParaRPr>
          </a:p>
        </p:txBody>
      </p:sp>
      <p:sp>
        <p:nvSpPr>
          <p:cNvPr id="20" name="矩形标注 19"/>
          <p:cNvSpPr/>
          <p:nvPr/>
        </p:nvSpPr>
        <p:spPr>
          <a:xfrm>
            <a:off x="5923936" y="1351652"/>
            <a:ext cx="1439333" cy="510117"/>
          </a:xfrm>
          <a:prstGeom prst="wedgeRectCallout">
            <a:avLst>
              <a:gd name="adj1" fmla="val 782"/>
              <a:gd name="adj2" fmla="val 90562"/>
            </a:avLst>
          </a:prstGeom>
          <a:ln>
            <a:noFill/>
          </a:ln>
        </p:spPr>
        <p:style>
          <a:lnRef idx="2">
            <a:schemeClr val="accent4">
              <a:shade val="50000"/>
            </a:schemeClr>
          </a:lnRef>
          <a:fillRef idx="1">
            <a:schemeClr val="accent4"/>
          </a:fillRef>
          <a:effectRef idx="0">
            <a:schemeClr val="accent4"/>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dirty="0">
                <a:solidFill>
                  <a:schemeClr val="tx1"/>
                </a:solidFill>
                <a:latin typeface="+mj-ea"/>
                <a:ea typeface="+mj-ea"/>
                <a:cs typeface="微软雅黑" panose="020B0503020204020204" pitchFamily="34" charset="-122"/>
              </a:rPr>
              <a:t>生产计划</a:t>
            </a:r>
          </a:p>
        </p:txBody>
      </p:sp>
      <p:sp>
        <p:nvSpPr>
          <p:cNvPr id="21" name="Line 58"/>
          <p:cNvSpPr>
            <a:spLocks noChangeShapeType="1"/>
          </p:cNvSpPr>
          <p:nvPr/>
        </p:nvSpPr>
        <p:spPr bwMode="auto">
          <a:xfrm flipH="1">
            <a:off x="3005667" y="2997200"/>
            <a:ext cx="3517900" cy="1583267"/>
          </a:xfrm>
          <a:prstGeom prst="line">
            <a:avLst/>
          </a:prstGeom>
          <a:ln>
            <a:solidFill>
              <a:schemeClr val="bg1"/>
            </a:solidFill>
            <a:tailEnd type="triangle" w="med" len="med"/>
          </a:ln>
        </p:spPr>
        <p:style>
          <a:lnRef idx="2">
            <a:schemeClr val="accent1"/>
          </a:lnRef>
          <a:fillRef idx="0">
            <a:schemeClr val="accent1"/>
          </a:fillRef>
          <a:effectRef idx="1">
            <a:schemeClr val="accent1"/>
          </a:effectRef>
          <a:fontRef idx="minor">
            <a:schemeClr val="tx1"/>
          </a:fontRef>
        </p:style>
        <p:txBody>
          <a:bodyPr lIns="162504" tIns="81251" rIns="162504" bIns="81251"/>
          <a:lstStyle/>
          <a:p>
            <a:pPr defTabSz="1624713">
              <a:defRPr/>
            </a:pPr>
            <a:endParaRPr lang="zh-CN" altLang="en-US" sz="3200" kern="0" dirty="0">
              <a:latin typeface="+mj-ea"/>
              <a:ea typeface="+mj-ea"/>
            </a:endParaRPr>
          </a:p>
        </p:txBody>
      </p:sp>
      <p:sp>
        <p:nvSpPr>
          <p:cNvPr id="22" name="Line 58"/>
          <p:cNvSpPr>
            <a:spLocks noChangeShapeType="1"/>
          </p:cNvSpPr>
          <p:nvPr/>
        </p:nvSpPr>
        <p:spPr bwMode="auto">
          <a:xfrm flipH="1">
            <a:off x="3005667" y="2529417"/>
            <a:ext cx="1272117" cy="1244600"/>
          </a:xfrm>
          <a:prstGeom prst="line">
            <a:avLst/>
          </a:prstGeom>
          <a:ln w="19050" cap="flat" cmpd="sng" algn="ctr">
            <a:solidFill>
              <a:schemeClr val="bg1"/>
            </a:solidFill>
            <a:prstDash val="dash"/>
            <a:round/>
            <a:headEnd type="none" w="med" len="med"/>
            <a:tailEnd type="triangle" w="med" len="med"/>
          </a:ln>
        </p:spPr>
        <p:style>
          <a:lnRef idx="0">
            <a:scrgbClr r="0" g="0" b="0"/>
          </a:lnRef>
          <a:fillRef idx="0">
            <a:scrgbClr r="0" g="0" b="0"/>
          </a:fillRef>
          <a:effectRef idx="0">
            <a:scrgbClr r="0" g="0" b="0"/>
          </a:effectRef>
          <a:fontRef idx="minor">
            <a:schemeClr val="tx1"/>
          </a:fontRef>
        </p:style>
        <p:txBody>
          <a:bodyPr lIns="162504" tIns="81251" rIns="162504" bIns="81251"/>
          <a:lstStyle/>
          <a:p>
            <a:pPr defTabSz="1219170">
              <a:defRPr/>
            </a:pPr>
            <a:endParaRPr lang="zh-CN" altLang="en-US" sz="2400" kern="0">
              <a:latin typeface="+mj-ea"/>
              <a:ea typeface="+mj-ea"/>
            </a:endParaRPr>
          </a:p>
        </p:txBody>
      </p:sp>
      <p:sp>
        <p:nvSpPr>
          <p:cNvPr id="23" name="矩形标注 22"/>
          <p:cNvSpPr/>
          <p:nvPr/>
        </p:nvSpPr>
        <p:spPr>
          <a:xfrm>
            <a:off x="3724399" y="1366105"/>
            <a:ext cx="1248957" cy="508000"/>
          </a:xfrm>
          <a:prstGeom prst="wedgeRectCallout">
            <a:avLst>
              <a:gd name="adj1" fmla="val 899"/>
              <a:gd name="adj2" fmla="val 86668"/>
            </a:avLst>
          </a:prstGeom>
          <a:ln>
            <a:noFill/>
          </a:ln>
        </p:spPr>
        <p:style>
          <a:lnRef idx="2">
            <a:schemeClr val="accent4">
              <a:shade val="50000"/>
            </a:schemeClr>
          </a:lnRef>
          <a:fillRef idx="1">
            <a:schemeClr val="accent4"/>
          </a:fillRef>
          <a:effectRef idx="0">
            <a:schemeClr val="accent4"/>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dirty="0">
                <a:solidFill>
                  <a:schemeClr val="tx1"/>
                </a:solidFill>
                <a:latin typeface="+mj-ea"/>
                <a:ea typeface="+mj-ea"/>
                <a:cs typeface="微软雅黑" panose="020B0503020204020204" pitchFamily="34" charset="-122"/>
              </a:rPr>
              <a:t>生产计划</a:t>
            </a:r>
          </a:p>
        </p:txBody>
      </p:sp>
      <p:sp>
        <p:nvSpPr>
          <p:cNvPr id="24" name="TextBox 48"/>
          <p:cNvSpPr txBox="1"/>
          <p:nvPr/>
        </p:nvSpPr>
        <p:spPr>
          <a:xfrm>
            <a:off x="8077200" y="753533"/>
            <a:ext cx="3454400" cy="902854"/>
          </a:xfrm>
          <a:prstGeom prst="rect">
            <a:avLst/>
          </a:prstGeom>
          <a:no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en-US" altLang="zh-CN" sz="1867" b="1" dirty="0">
                <a:solidFill>
                  <a:schemeClr val="bg1"/>
                </a:solidFill>
                <a:latin typeface="+mj-ea"/>
                <a:ea typeface="+mj-ea"/>
              </a:rPr>
              <a:t>MRP:</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需要补货需求</a:t>
            </a:r>
            <a:r>
              <a:rPr lang="en-US" altLang="zh-CN" sz="1600" dirty="0">
                <a:solidFill>
                  <a:schemeClr val="bg1"/>
                </a:solidFill>
                <a:latin typeface="+mj-ea"/>
                <a:ea typeface="+mj-ea"/>
              </a:rPr>
              <a:t>C</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需要补货需求</a:t>
            </a:r>
            <a:r>
              <a:rPr lang="en-US" altLang="zh-CN" sz="1600" dirty="0">
                <a:solidFill>
                  <a:schemeClr val="bg1"/>
                </a:solidFill>
                <a:latin typeface="+mj-ea"/>
                <a:ea typeface="+mj-ea"/>
              </a:rPr>
              <a:t>A</a:t>
            </a:r>
            <a:endParaRPr lang="zh-CN" altLang="en-US" sz="1600" dirty="0">
              <a:solidFill>
                <a:schemeClr val="bg1"/>
              </a:solidFill>
              <a:latin typeface="+mj-ea"/>
              <a:ea typeface="+mj-ea"/>
            </a:endParaRPr>
          </a:p>
        </p:txBody>
      </p:sp>
      <p:sp>
        <p:nvSpPr>
          <p:cNvPr id="25" name="TextBox 74"/>
          <p:cNvSpPr txBox="1"/>
          <p:nvPr/>
        </p:nvSpPr>
        <p:spPr>
          <a:xfrm>
            <a:off x="8100486" y="1496974"/>
            <a:ext cx="4240537" cy="1846637"/>
          </a:xfrm>
          <a:prstGeom prst="rect">
            <a:avLst/>
          </a:prstGeom>
          <a:no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600" b="1" dirty="0">
                <a:solidFill>
                  <a:schemeClr val="bg1"/>
                </a:solidFill>
                <a:latin typeface="+mj-ea"/>
                <a:ea typeface="+mj-ea"/>
              </a:rPr>
              <a:t>生产计划</a:t>
            </a:r>
            <a:r>
              <a:rPr lang="en-US" altLang="zh-CN" sz="1600" b="1" dirty="0">
                <a:solidFill>
                  <a:schemeClr val="bg1"/>
                </a:solidFill>
                <a:latin typeface="+mj-ea"/>
                <a:ea typeface="+mj-ea"/>
              </a:rPr>
              <a:t>: </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工单下达，立即安排生产</a:t>
            </a:r>
            <a:endParaRPr lang="en-US" altLang="zh-CN" sz="1600" dirty="0">
              <a:solidFill>
                <a:schemeClr val="bg1"/>
              </a:solidFill>
              <a:latin typeface="+mj-ea"/>
              <a:ea typeface="+mj-ea"/>
            </a:endParaRP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需要</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C</a:t>
            </a:r>
            <a:r>
              <a:rPr lang="zh-CN" altLang="en-US" sz="1600" dirty="0">
                <a:solidFill>
                  <a:schemeClr val="bg1"/>
                </a:solidFill>
                <a:latin typeface="+mj-ea"/>
                <a:ea typeface="+mj-ea"/>
              </a:rPr>
              <a:t>补货需求</a:t>
            </a:r>
            <a:endParaRPr lang="en-US" altLang="zh-CN" sz="1600" dirty="0">
              <a:solidFill>
                <a:schemeClr val="bg1"/>
              </a:solidFill>
              <a:latin typeface="+mj-ea"/>
              <a:ea typeface="+mj-ea"/>
            </a:endParaRPr>
          </a:p>
          <a:p>
            <a:pPr marL="0" indent="0" defTabSz="1217476" eaLnBrk="1" hangingPunct="1">
              <a:spcBef>
                <a:spcPct val="0"/>
              </a:spcBef>
            </a:pPr>
            <a:r>
              <a:rPr lang="en-US" altLang="zh-CN" sz="1600" dirty="0">
                <a:solidFill>
                  <a:schemeClr val="bg1"/>
                </a:solidFill>
                <a:latin typeface="+mj-ea"/>
                <a:ea typeface="+mj-ea"/>
              </a:rPr>
              <a:t>The Shortage A from Production Planning process  is earlier than the reported shortage. It will impact delivery speed of DEMAND2</a:t>
            </a:r>
          </a:p>
        </p:txBody>
      </p:sp>
      <p:sp>
        <p:nvSpPr>
          <p:cNvPr id="26" name="圆角矩形 25"/>
          <p:cNvSpPr/>
          <p:nvPr/>
        </p:nvSpPr>
        <p:spPr>
          <a:xfrm>
            <a:off x="8011585" y="3663951"/>
            <a:ext cx="3611033" cy="1619251"/>
          </a:xfrm>
          <a:prstGeom prst="round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lvl1pPr marL="284480" indent="-284480" defTabSz="913130">
              <a:defRPr kumimoji="1" sz="2400">
                <a:solidFill>
                  <a:schemeClr val="tx1"/>
                </a:solidFill>
                <a:latin typeface="Calibri" panose="020F0502020204030204" pitchFamily="34" charset="0"/>
                <a:ea typeface="宋体" panose="02010600030101010101" pitchFamily="2" charset="-122"/>
              </a:defRPr>
            </a:lvl1pPr>
            <a:lvl2pPr marL="742950" indent="-285750" defTabSz="913130">
              <a:defRPr kumimoji="1" sz="2400">
                <a:solidFill>
                  <a:schemeClr val="tx1"/>
                </a:solidFill>
                <a:latin typeface="Calibri" panose="020F0502020204030204" pitchFamily="34" charset="0"/>
                <a:ea typeface="宋体" panose="02010600030101010101" pitchFamily="2" charset="-122"/>
              </a:defRPr>
            </a:lvl2pPr>
            <a:lvl3pPr marL="1143000" indent="-228600" defTabSz="913130">
              <a:defRPr kumimoji="1" sz="2400">
                <a:solidFill>
                  <a:schemeClr val="tx1"/>
                </a:solidFill>
                <a:latin typeface="Calibri" panose="020F0502020204030204" pitchFamily="34" charset="0"/>
                <a:ea typeface="宋体" panose="02010600030101010101" pitchFamily="2" charset="-122"/>
              </a:defRPr>
            </a:lvl3pPr>
            <a:lvl4pPr marL="1600200" indent="-228600" defTabSz="913130">
              <a:defRPr kumimoji="1" sz="2400">
                <a:solidFill>
                  <a:schemeClr val="tx1"/>
                </a:solidFill>
                <a:latin typeface="Calibri" panose="020F0502020204030204" pitchFamily="34" charset="0"/>
                <a:ea typeface="宋体" panose="02010600030101010101" pitchFamily="2" charset="-122"/>
              </a:defRPr>
            </a:lvl4pPr>
            <a:lvl5pPr marL="2057400" indent="-228600" defTabSz="913130">
              <a:defRPr kumimoji="1" sz="2400">
                <a:solidFill>
                  <a:schemeClr val="tx1"/>
                </a:solidFill>
                <a:latin typeface="Calibri" panose="020F0502020204030204" pitchFamily="34" charset="0"/>
                <a:ea typeface="宋体" panose="02010600030101010101" pitchFamily="2" charset="-122"/>
              </a:defRPr>
            </a:lvl5pPr>
            <a:lvl6pPr marL="25146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6pPr>
            <a:lvl7pPr marL="29718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7pPr>
            <a:lvl8pPr marL="34290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8pPr>
            <a:lvl9pPr marL="38862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9pPr>
          </a:lstStyle>
          <a:p>
            <a:pPr marL="0" indent="0" defTabSz="1217476" fontAlgn="base">
              <a:spcBef>
                <a:spcPct val="0"/>
              </a:spcBef>
              <a:spcAft>
                <a:spcPct val="0"/>
              </a:spcAft>
              <a:defRPr/>
            </a:pPr>
            <a:r>
              <a:rPr kumimoji="0" lang="en-US" altLang="zh-CN" sz="1600" b="1" dirty="0">
                <a:solidFill>
                  <a:schemeClr val="bg1"/>
                </a:solidFill>
                <a:latin typeface="+mj-ea"/>
                <a:ea typeface="+mj-ea"/>
              </a:rPr>
              <a:t>MRP: </a:t>
            </a:r>
            <a:r>
              <a:rPr kumimoji="0" lang="zh-CN" altLang="en-US" sz="1600" dirty="0">
                <a:solidFill>
                  <a:schemeClr val="bg1"/>
                </a:solidFill>
                <a:latin typeface="+mj-ea"/>
                <a:ea typeface="+mj-ea"/>
              </a:rPr>
              <a:t>不齐套也会占料，因为采购需求也是供应。</a:t>
            </a:r>
            <a:endParaRPr kumimoji="0" lang="en-US" altLang="zh-CN" sz="1600" dirty="0">
              <a:solidFill>
                <a:schemeClr val="bg1"/>
              </a:solidFill>
              <a:latin typeface="+mj-ea"/>
              <a:ea typeface="+mj-ea"/>
            </a:endParaRPr>
          </a:p>
          <a:p>
            <a:pPr marL="0" indent="0" defTabSz="1217476" fontAlgn="base">
              <a:spcBef>
                <a:spcPct val="0"/>
              </a:spcBef>
              <a:spcAft>
                <a:spcPct val="0"/>
              </a:spcAft>
              <a:defRPr/>
            </a:pPr>
            <a:r>
              <a:rPr kumimoji="0" lang="zh-CN" altLang="en-US" sz="1600" b="1" dirty="0">
                <a:solidFill>
                  <a:schemeClr val="bg1"/>
                </a:solidFill>
                <a:latin typeface="+mj-ea"/>
                <a:ea typeface="+mj-ea"/>
              </a:rPr>
              <a:t>生产计划</a:t>
            </a:r>
            <a:r>
              <a:rPr kumimoji="0" lang="en-US" altLang="zh-CN" sz="1600" b="1" dirty="0">
                <a:solidFill>
                  <a:schemeClr val="bg1"/>
                </a:solidFill>
                <a:latin typeface="+mj-ea"/>
                <a:ea typeface="+mj-ea"/>
              </a:rPr>
              <a:t>:</a:t>
            </a:r>
            <a:r>
              <a:rPr kumimoji="0" lang="zh-CN" altLang="en-US" sz="1600" dirty="0">
                <a:solidFill>
                  <a:schemeClr val="bg1"/>
                </a:solidFill>
                <a:latin typeface="+mj-ea"/>
                <a:ea typeface="+mj-ea"/>
              </a:rPr>
              <a:t>不齐套不占料，采购需求不为供应</a:t>
            </a:r>
            <a:endParaRPr kumimoji="0" lang="en-US" altLang="zh-CN" sz="1600" dirty="0">
              <a:solidFill>
                <a:schemeClr val="bg1"/>
              </a:solidFill>
              <a:latin typeface="+mj-ea"/>
              <a:ea typeface="+mj-ea"/>
            </a:endParaRPr>
          </a:p>
        </p:txBody>
      </p:sp>
      <p:sp>
        <p:nvSpPr>
          <p:cNvPr id="29722" name="Title 34"/>
          <p:cNvSpPr>
            <a:spLocks noGrp="1"/>
          </p:cNvSpPr>
          <p:nvPr>
            <p:ph type="title" idx="4294967295"/>
          </p:nvPr>
        </p:nvSpPr>
        <p:spPr>
          <a:xfrm>
            <a:off x="1116013" y="123825"/>
            <a:ext cx="11075987" cy="520700"/>
          </a:xfrm>
          <a:prstGeom prst="rect">
            <a:avLst/>
          </a:prstGeom>
        </p:spPr>
        <p:txBody>
          <a:bodyPr vert="horz" wrap="square" lIns="121920" tIns="60960" rIns="121920" bIns="60960" anchor="ctr" anchorCtr="0">
            <a:normAutofit/>
          </a:bodyPr>
          <a:lstStyle/>
          <a:p>
            <a:pPr eaLnBrk="1" hangingPunct="1"/>
            <a:r>
              <a:rPr lang="zh-CN" altLang="en-US" dirty="0">
                <a:solidFill>
                  <a:schemeClr val="bg1"/>
                </a:solidFill>
                <a:latin typeface="+mj-ea"/>
              </a:rPr>
              <a:t>场景</a:t>
            </a:r>
            <a:r>
              <a:rPr lang="en-US" altLang="zh-CN" b="1" dirty="0">
                <a:solidFill>
                  <a:schemeClr val="bg1"/>
                </a:solidFill>
                <a:latin typeface="+mj-ea"/>
              </a:rPr>
              <a:t> #1: </a:t>
            </a:r>
            <a:r>
              <a:rPr lang="zh-CN" altLang="en-US" dirty="0">
                <a:solidFill>
                  <a:schemeClr val="bg1"/>
                </a:solidFill>
                <a:latin typeface="+mj-ea"/>
              </a:rPr>
              <a:t>挑战</a:t>
            </a:r>
            <a:r>
              <a:rPr lang="en-US" altLang="zh-CN" b="1" dirty="0">
                <a:solidFill>
                  <a:schemeClr val="bg1"/>
                </a:solidFill>
                <a:latin typeface="+mj-ea"/>
              </a:rPr>
              <a:t> C</a:t>
            </a:r>
          </a:p>
        </p:txBody>
      </p:sp>
      <p:sp>
        <p:nvSpPr>
          <p:cNvPr id="28" name="矩形 27"/>
          <p:cNvSpPr/>
          <p:nvPr/>
        </p:nvSpPr>
        <p:spPr>
          <a:xfrm>
            <a:off x="5820834" y="4938184"/>
            <a:ext cx="1363133" cy="369310"/>
          </a:xfrm>
          <a:prstGeom prst="rect">
            <a:avLst/>
          </a:prstGeom>
          <a:solidFill>
            <a:schemeClr val="accent3">
              <a:lumMod val="20000"/>
              <a:lumOff val="80000"/>
              <a:alpha val="50000"/>
            </a:schemeClr>
          </a:solidFill>
        </p:spPr>
        <p:txBody>
          <a:bodyPr lIns="121899" tIns="60949" rIns="121899" bIns="60949">
            <a:spAutoFit/>
          </a:bodyPr>
          <a:lstStyle/>
          <a:p>
            <a:pPr algn="ctr" defTabSz="1217476" fontAlgn="base">
              <a:spcBef>
                <a:spcPct val="0"/>
              </a:spcBef>
              <a:spcAft>
                <a:spcPct val="0"/>
              </a:spcAft>
              <a:defRPr/>
            </a:pPr>
            <a:r>
              <a:rPr lang="zh-CN" altLang="en-US" sz="1600" dirty="0">
                <a:solidFill>
                  <a:schemeClr val="bg1"/>
                </a:solidFill>
                <a:latin typeface="+mj-ea"/>
                <a:ea typeface="+mj-ea"/>
                <a:cs typeface="微软雅黑" panose="020B0503020204020204" pitchFamily="34" charset="-122"/>
              </a:rPr>
              <a:t>补货需求</a:t>
            </a:r>
            <a:r>
              <a:rPr lang="en-US" altLang="zh-CN" sz="1600" dirty="0">
                <a:solidFill>
                  <a:schemeClr val="bg1"/>
                </a:solidFill>
                <a:latin typeface="+mj-ea"/>
                <a:ea typeface="+mj-ea"/>
                <a:cs typeface="微软雅黑" panose="020B0503020204020204" pitchFamily="34" charset="-122"/>
              </a:rPr>
              <a:t>A</a:t>
            </a:r>
            <a:endParaRPr lang="zh-CN" altLang="en-US" sz="1600" dirty="0">
              <a:solidFill>
                <a:schemeClr val="bg1"/>
              </a:solidFill>
              <a:latin typeface="+mj-ea"/>
              <a:ea typeface="+mj-ea"/>
              <a:cs typeface="微软雅黑" panose="020B0503020204020204" pitchFamily="34" charset="-122"/>
            </a:endParaRPr>
          </a:p>
        </p:txBody>
      </p:sp>
      <p:sp>
        <p:nvSpPr>
          <p:cNvPr id="29" name="Line 58"/>
          <p:cNvSpPr>
            <a:spLocks noChangeShapeType="1"/>
          </p:cNvSpPr>
          <p:nvPr/>
        </p:nvSpPr>
        <p:spPr bwMode="auto">
          <a:xfrm flipH="1">
            <a:off x="3005667" y="2529418"/>
            <a:ext cx="1272117" cy="1030817"/>
          </a:xfrm>
          <a:prstGeom prst="line">
            <a:avLst/>
          </a:prstGeom>
          <a:ln>
            <a:solidFill>
              <a:schemeClr val="bg1"/>
            </a:solidFill>
            <a:tailEnd type="triangle" w="med" len="med"/>
          </a:ln>
        </p:spPr>
        <p:style>
          <a:lnRef idx="2">
            <a:schemeClr val="accent1"/>
          </a:lnRef>
          <a:fillRef idx="0">
            <a:schemeClr val="accent1"/>
          </a:fillRef>
          <a:effectRef idx="1">
            <a:schemeClr val="accent1"/>
          </a:effectRef>
          <a:fontRef idx="minor">
            <a:schemeClr val="tx1"/>
          </a:fontRef>
        </p:style>
        <p:txBody>
          <a:bodyPr lIns="162504" tIns="81251" rIns="162504" bIns="81251"/>
          <a:lstStyle/>
          <a:p>
            <a:pPr defTabSz="1219170">
              <a:defRPr/>
            </a:pPr>
            <a:endParaRPr lang="zh-CN" altLang="en-US" sz="2400" kern="0">
              <a:latin typeface="+mj-ea"/>
              <a:ea typeface="+mj-ea"/>
            </a:endParaRPr>
          </a:p>
        </p:txBody>
      </p:sp>
      <p:cxnSp>
        <p:nvCxnSpPr>
          <p:cNvPr id="30" name="直接箭头连接符 4"/>
          <p:cNvCxnSpPr>
            <a:cxnSpLocks/>
            <a:stCxn id="18" idx="0"/>
            <a:endCxn id="12" idx="0"/>
          </p:cNvCxnSpPr>
          <p:nvPr/>
        </p:nvCxnSpPr>
        <p:spPr>
          <a:xfrm flipH="1">
            <a:off x="4261910" y="2529418"/>
            <a:ext cx="1059" cy="2410882"/>
          </a:xfrm>
          <a:prstGeom prst="straightConnector1">
            <a:avLst/>
          </a:prstGeom>
          <a:ln w="19050" cap="flat" cmpd="sng" algn="ctr">
            <a:solidFill>
              <a:schemeClr val="bg1"/>
            </a:solidFill>
            <a:prstDash val="dash"/>
            <a:round/>
            <a:headEnd type="none" w="med" len="med"/>
            <a:tailEnd type="triangle" w="med" len="med"/>
          </a:ln>
        </p:spPr>
        <p:style>
          <a:lnRef idx="0">
            <a:scrgbClr r="0" g="0" b="0"/>
          </a:lnRef>
          <a:fillRef idx="0">
            <a:scrgbClr r="0" g="0" b="0"/>
          </a:fillRef>
          <a:effectRef idx="0">
            <a:scrgbClr r="0" g="0" b="0"/>
          </a:effectRef>
          <a:fontRef idx="minor">
            <a:schemeClr val="tx1"/>
          </a:fontRef>
        </p:style>
      </p:cxnSp>
      <p:sp>
        <p:nvSpPr>
          <p:cNvPr id="31" name="矩形 30"/>
          <p:cNvSpPr/>
          <p:nvPr/>
        </p:nvSpPr>
        <p:spPr>
          <a:xfrm>
            <a:off x="3539067" y="5611284"/>
            <a:ext cx="1363133" cy="369310"/>
          </a:xfrm>
          <a:prstGeom prst="rect">
            <a:avLst/>
          </a:prstGeom>
          <a:solidFill>
            <a:schemeClr val="accent4">
              <a:alpha val="50000"/>
            </a:schemeClr>
          </a:solidFill>
        </p:spPr>
        <p:txBody>
          <a:bodyPr lIns="121899" tIns="60949" rIns="121899" bIns="60949">
            <a:spAutoFit/>
          </a:bodyPr>
          <a:lstStyle/>
          <a:p>
            <a:pPr algn="ctr" defTabSz="1217476" fontAlgn="base">
              <a:spcBef>
                <a:spcPct val="0"/>
              </a:spcBef>
              <a:spcAft>
                <a:spcPct val="0"/>
              </a:spcAft>
              <a:defRPr/>
            </a:pPr>
            <a:r>
              <a:rPr lang="zh-CN" altLang="en-US" sz="1600" dirty="0">
                <a:solidFill>
                  <a:schemeClr val="bg1"/>
                </a:solidFill>
                <a:latin typeface="+mj-ea"/>
                <a:ea typeface="+mj-ea"/>
                <a:cs typeface="微软雅黑" panose="020B0503020204020204" pitchFamily="34" charset="-122"/>
              </a:rPr>
              <a:t>补货需求 </a:t>
            </a:r>
            <a:r>
              <a:rPr lang="en-US" altLang="zh-CN" sz="1600" dirty="0">
                <a:solidFill>
                  <a:schemeClr val="bg1"/>
                </a:solidFill>
                <a:latin typeface="+mj-ea"/>
                <a:ea typeface="+mj-ea"/>
                <a:cs typeface="微软雅黑" panose="020B0503020204020204" pitchFamily="34" charset="-122"/>
              </a:rPr>
              <a:t>A</a:t>
            </a:r>
            <a:endParaRPr lang="zh-CN" altLang="en-US" sz="1600" dirty="0">
              <a:solidFill>
                <a:schemeClr val="bg1"/>
              </a:solidFill>
              <a:latin typeface="+mj-ea"/>
              <a:ea typeface="+mj-ea"/>
              <a:cs typeface="微软雅黑" panose="020B0503020204020204" pitchFamily="34" charset="-122"/>
            </a:endParaRPr>
          </a:p>
        </p:txBody>
      </p:sp>
      <p:cxnSp>
        <p:nvCxnSpPr>
          <p:cNvPr id="32" name="直接箭头连接符 43"/>
          <p:cNvCxnSpPr>
            <a:cxnSpLocks/>
            <a:stCxn id="29704" idx="2"/>
          </p:cNvCxnSpPr>
          <p:nvPr/>
        </p:nvCxnSpPr>
        <p:spPr>
          <a:xfrm>
            <a:off x="4291543" y="2538895"/>
            <a:ext cx="455424" cy="3042756"/>
          </a:xfrm>
          <a:prstGeom prst="straightConnector1">
            <a:avLst/>
          </a:prstGeom>
          <a:ln w="19050" cap="flat" cmpd="sng" algn="ctr">
            <a:solidFill>
              <a:schemeClr val="bg1"/>
            </a:solidFill>
            <a:prstDash val="dash"/>
            <a:round/>
            <a:headEnd type="none" w="med" len="med"/>
            <a:tailEnd type="triangle" w="med" len="med"/>
          </a:ln>
        </p:spPr>
        <p:style>
          <a:lnRef idx="0">
            <a:scrgbClr r="0" g="0" b="0"/>
          </a:lnRef>
          <a:fillRef idx="0">
            <a:scrgbClr r="0" g="0" b="0"/>
          </a:fillRef>
          <a:effectRef idx="0">
            <a:scrgbClr r="0" g="0" b="0"/>
          </a:effectRef>
          <a:fontRef idx="minor">
            <a:schemeClr val="tx1"/>
          </a:fontRef>
        </p:style>
      </p:cxnSp>
      <p:cxnSp>
        <p:nvCxnSpPr>
          <p:cNvPr id="33" name="直接箭头连接符 11"/>
          <p:cNvCxnSpPr>
            <a:cxnSpLocks/>
            <a:stCxn id="29705" idx="2"/>
          </p:cNvCxnSpPr>
          <p:nvPr/>
        </p:nvCxnSpPr>
        <p:spPr>
          <a:xfrm flipH="1">
            <a:off x="2992966" y="2526067"/>
            <a:ext cx="3553885" cy="1283807"/>
          </a:xfrm>
          <a:prstGeom prst="straightConnector1">
            <a:avLst/>
          </a:prstGeom>
          <a:ln>
            <a:solidFill>
              <a:schemeClr val="bg1"/>
            </a:solidFill>
            <a:tailEnd type="triangle"/>
          </a:ln>
        </p:spPr>
        <p:style>
          <a:lnRef idx="2">
            <a:schemeClr val="accent1"/>
          </a:lnRef>
          <a:fillRef idx="0">
            <a:schemeClr val="accent1"/>
          </a:fillRef>
          <a:effectRef idx="1">
            <a:schemeClr val="accent1"/>
          </a:effectRef>
          <a:fontRef idx="minor">
            <a:schemeClr val="tx1"/>
          </a:fontRef>
        </p:style>
      </p:cxnSp>
      <p:cxnSp>
        <p:nvCxnSpPr>
          <p:cNvPr id="34" name="直接箭头连接符 45"/>
          <p:cNvCxnSpPr/>
          <p:nvPr/>
        </p:nvCxnSpPr>
        <p:spPr>
          <a:xfrm flipH="1">
            <a:off x="3015345" y="2491397"/>
            <a:ext cx="3549651" cy="2091267"/>
          </a:xfrm>
          <a:prstGeom prst="straightConnector1">
            <a:avLst/>
          </a:prstGeom>
          <a:ln>
            <a:solidFill>
              <a:schemeClr val="bg1"/>
            </a:solidFill>
            <a:tailEnd type="triangle"/>
          </a:ln>
        </p:spPr>
        <p:style>
          <a:lnRef idx="2">
            <a:schemeClr val="accent1"/>
          </a:lnRef>
          <a:fillRef idx="0">
            <a:schemeClr val="accent1"/>
          </a:fillRef>
          <a:effectRef idx="1">
            <a:schemeClr val="accent1"/>
          </a:effectRef>
          <a:fontRef idx="minor">
            <a:schemeClr val="tx1"/>
          </a:fontRef>
        </p:style>
      </p:cxnSp>
      <p:cxnSp>
        <p:nvCxnSpPr>
          <p:cNvPr id="35" name="直接连接符 7"/>
          <p:cNvCxnSpPr/>
          <p:nvPr/>
        </p:nvCxnSpPr>
        <p:spPr>
          <a:xfrm>
            <a:off x="3088217" y="1109134"/>
            <a:ext cx="0" cy="2199217"/>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6" name="直接连接符 7"/>
          <p:cNvCxnSpPr/>
          <p:nvPr/>
        </p:nvCxnSpPr>
        <p:spPr>
          <a:xfrm>
            <a:off x="5446184" y="1109134"/>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接连接符 7"/>
          <p:cNvCxnSpPr/>
          <p:nvPr/>
        </p:nvCxnSpPr>
        <p:spPr>
          <a:xfrm>
            <a:off x="7666567" y="1109134"/>
            <a:ext cx="0" cy="4070351"/>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9733" name="文本框 1"/>
          <p:cNvSpPr txBox="1"/>
          <p:nvPr/>
        </p:nvSpPr>
        <p:spPr>
          <a:xfrm>
            <a:off x="1411817" y="850901"/>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1</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29734" name="文本框 1"/>
          <p:cNvSpPr txBox="1"/>
          <p:nvPr/>
        </p:nvSpPr>
        <p:spPr>
          <a:xfrm>
            <a:off x="3547534" y="850901"/>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2</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29735" name="文本框 1"/>
          <p:cNvSpPr txBox="1"/>
          <p:nvPr/>
        </p:nvSpPr>
        <p:spPr>
          <a:xfrm>
            <a:off x="5820834" y="831851"/>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3</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9" name="文本框 8">
            <a:extLst>
              <a:ext uri="{FF2B5EF4-FFF2-40B4-BE49-F238E27FC236}">
                <a16:creationId xmlns:a16="http://schemas.microsoft.com/office/drawing/2014/main" id="{5CF1EA1B-8593-C2CD-6447-3D9E1B51D716}"/>
              </a:ext>
            </a:extLst>
          </p:cNvPr>
          <p:cNvSpPr txBox="1"/>
          <p:nvPr/>
        </p:nvSpPr>
        <p:spPr>
          <a:xfrm>
            <a:off x="10291234" y="3259723"/>
            <a:ext cx="1302564" cy="338554"/>
          </a:xfrm>
          <a:prstGeom prst="rect">
            <a:avLst/>
          </a:prstGeom>
          <a:noFill/>
        </p:spPr>
        <p:txBody>
          <a:bodyPr wrap="square" rtlCol="0">
            <a:spAutoFit/>
          </a:bodyPr>
          <a:lstStyle/>
          <a:p>
            <a:r>
              <a:rPr lang="zh-CN" altLang="en-US" sz="1600" b="1" dirty="0">
                <a:solidFill>
                  <a:schemeClr val="bg1"/>
                </a:solidFill>
                <a:latin typeface="+mj-ea"/>
                <a:ea typeface="+mj-ea"/>
              </a:rPr>
              <a:t>需求日期</a:t>
            </a:r>
          </a:p>
        </p:txBody>
      </p:sp>
      <p:sp>
        <p:nvSpPr>
          <p:cNvPr id="27" name="TextBox 30">
            <a:extLst>
              <a:ext uri="{FF2B5EF4-FFF2-40B4-BE49-F238E27FC236}">
                <a16:creationId xmlns:a16="http://schemas.microsoft.com/office/drawing/2014/main" id="{A404D1D8-FDE2-BF6A-05DF-2B3D64DE4F7F}"/>
              </a:ext>
            </a:extLst>
          </p:cNvPr>
          <p:cNvSpPr txBox="1"/>
          <p:nvPr/>
        </p:nvSpPr>
        <p:spPr>
          <a:xfrm>
            <a:off x="62086" y="1468428"/>
            <a:ext cx="3159124" cy="1354195"/>
          </a:xfrm>
          <a:prstGeom prst="rect">
            <a:avLst/>
          </a:prstGeom>
          <a:no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600" b="1" dirty="0">
                <a:solidFill>
                  <a:schemeClr val="bg1"/>
                </a:solidFill>
                <a:latin typeface="+mj-ea"/>
                <a:ea typeface="+mj-ea"/>
              </a:rPr>
              <a:t>场景</a:t>
            </a:r>
            <a:r>
              <a:rPr lang="en-US" altLang="zh-CN" sz="1600" b="1" dirty="0">
                <a:solidFill>
                  <a:schemeClr val="bg1"/>
                </a:solidFill>
                <a:latin typeface="+mj-ea"/>
                <a:ea typeface="+mj-ea"/>
              </a:rPr>
              <a:t>:</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C</a:t>
            </a:r>
            <a:r>
              <a:rPr lang="zh-CN" altLang="en-US" sz="1600" dirty="0">
                <a:solidFill>
                  <a:schemeClr val="bg1"/>
                </a:solidFill>
                <a:latin typeface="+mj-ea"/>
                <a:ea typeface="+mj-ea"/>
              </a:rPr>
              <a:t>生产</a:t>
            </a:r>
            <a:endParaRPr lang="en-US" altLang="zh-CN" sz="1600" dirty="0">
              <a:solidFill>
                <a:schemeClr val="bg1"/>
              </a:solidFill>
              <a:latin typeface="+mj-ea"/>
              <a:ea typeface="+mj-ea"/>
            </a:endParaRP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B</a:t>
            </a:r>
            <a:r>
              <a:rPr lang="zh-CN" altLang="en-US" sz="1600" dirty="0">
                <a:solidFill>
                  <a:schemeClr val="bg1"/>
                </a:solidFill>
                <a:latin typeface="+mj-ea"/>
                <a:ea typeface="+mj-ea"/>
              </a:rPr>
              <a:t>生产</a:t>
            </a:r>
            <a:endParaRPr lang="en-US" altLang="zh-CN" sz="1600" dirty="0">
              <a:solidFill>
                <a:schemeClr val="bg1"/>
              </a:solidFill>
              <a:latin typeface="+mj-ea"/>
              <a:ea typeface="+mj-ea"/>
            </a:endParaRP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的优先级高于需求</a:t>
            </a:r>
            <a:r>
              <a:rPr lang="en-US" altLang="zh-CN" sz="1600" dirty="0">
                <a:solidFill>
                  <a:schemeClr val="bg1"/>
                </a:solidFill>
                <a:latin typeface="+mj-ea"/>
                <a:ea typeface="+mj-ea"/>
              </a:rPr>
              <a:t>2</a:t>
            </a:r>
          </a:p>
          <a:p>
            <a:pPr marL="0" indent="0" defTabSz="1217476" eaLnBrk="1" hangingPunct="1">
              <a:spcBef>
                <a:spcPct val="0"/>
              </a:spcBef>
            </a:pPr>
            <a:r>
              <a:rPr lang="zh-CN" altLang="en-US" sz="1600" dirty="0">
                <a:solidFill>
                  <a:schemeClr val="bg1"/>
                </a:solidFill>
                <a:latin typeface="+mj-ea"/>
                <a:ea typeface="+mj-ea"/>
              </a:rPr>
              <a:t>库存</a:t>
            </a:r>
            <a:r>
              <a:rPr lang="en-US" altLang="zh-CN" sz="1600" dirty="0">
                <a:solidFill>
                  <a:schemeClr val="bg1"/>
                </a:solidFill>
                <a:latin typeface="+mj-ea"/>
                <a:ea typeface="+mj-ea"/>
              </a:rPr>
              <a:t>A</a:t>
            </a:r>
            <a:r>
              <a:rPr lang="zh-CN" altLang="en-US" sz="1600" dirty="0">
                <a:solidFill>
                  <a:schemeClr val="bg1"/>
                </a:solidFill>
                <a:latin typeface="+mj-ea"/>
                <a:ea typeface="+mj-ea"/>
              </a:rPr>
              <a:t>只能满足其中一笔需求</a:t>
            </a:r>
            <a:endParaRPr lang="en-US" altLang="zh-CN" sz="1600" dirty="0">
              <a:solidFill>
                <a:schemeClr val="bg1"/>
              </a:solidFill>
              <a:latin typeface="+mj-ea"/>
              <a:ea typeface="+mj-ea"/>
            </a:endParaRPr>
          </a:p>
        </p:txBody>
      </p:sp>
    </p:spTree>
    <p:custDataLst>
      <p:tags r:id="rId1"/>
    </p:custData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10" presetClass="entr" presetSubtype="0" fill="hold" nodeType="withEffect">
                                  <p:stCondLst>
                                    <p:cond delay="0"/>
                                  </p:stCondLst>
                                  <p:childTnLst>
                                    <p:set>
                                      <p:cBhvr>
                                        <p:cTn id="8" dur="1" fill="hold">
                                          <p:stCondLst>
                                            <p:cond delay="0"/>
                                          </p:stCondLst>
                                        </p:cTn>
                                        <p:tgtEl>
                                          <p:spTgt spid="18"/>
                                        </p:tgtEl>
                                        <p:attrNameLst>
                                          <p:attrName>style.visibility</p:attrName>
                                        </p:attrNameLst>
                                      </p:cBhvr>
                                      <p:to>
                                        <p:strVal val="visible"/>
                                      </p:to>
                                    </p:set>
                                    <p:animEffect transition="in" filter="fade">
                                      <p:cBhvr>
                                        <p:cTn id="9" dur="500"/>
                                        <p:tgtEl>
                                          <p:spTgt spid="18"/>
                                        </p:tgtEl>
                                      </p:cBhvr>
                                    </p:animEffect>
                                  </p:childTnLst>
                                </p:cTn>
                              </p:par>
                              <p:par>
                                <p:cTn id="10" presetID="1" presetClass="entr" presetSubtype="0" fill="hold" nodeType="withEffect">
                                  <p:stCondLst>
                                    <p:cond delay="0"/>
                                  </p:stCondLst>
                                  <p:childTnLst>
                                    <p:set>
                                      <p:cBhvr>
                                        <p:cTn id="11" dur="1" fill="hold">
                                          <p:stCondLst>
                                            <p:cond delay="0"/>
                                          </p:stCondLst>
                                        </p:cTn>
                                        <p:tgtEl>
                                          <p:spTgt spid="18"/>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2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17"/>
                                        </p:tgtEl>
                                        <p:attrNameLst>
                                          <p:attrName>style.visibility</p:attrName>
                                        </p:attrNameLst>
                                      </p:cBhvr>
                                      <p:to>
                                        <p:strVal val="visible"/>
                                      </p:to>
                                    </p:set>
                                  </p:childTnLst>
                                </p:cTn>
                              </p:par>
                              <p:par>
                                <p:cTn id="18" presetID="10" presetClass="entr" presetSubtype="0" fill="hold" nodeType="with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par>
                                <p:cTn id="21" presetID="10" presetClass="entr" presetSubtype="0"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fade">
                                      <p:cBhvr>
                                        <p:cTn id="23" dur="500"/>
                                        <p:tgtEl>
                                          <p:spTgt spid="21"/>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xit" presetSubtype="0" fill="hold" nodeType="clickEffect">
                                  <p:stCondLst>
                                    <p:cond delay="0"/>
                                  </p:stCondLst>
                                  <p:childTnLst>
                                    <p:animEffect transition="out" filter="fade">
                                      <p:cBhvr>
                                        <p:cTn id="27" dur="500"/>
                                        <p:tgtEl>
                                          <p:spTgt spid="15"/>
                                        </p:tgtEl>
                                      </p:cBhvr>
                                    </p:animEffect>
                                    <p:set>
                                      <p:cBhvr>
                                        <p:cTn id="28" dur="1" fill="hold">
                                          <p:stCondLst>
                                            <p:cond delay="499"/>
                                          </p:stCondLst>
                                        </p:cTn>
                                        <p:tgtEl>
                                          <p:spTgt spid="15"/>
                                        </p:tgtEl>
                                        <p:attrNameLst>
                                          <p:attrName>style.visibility</p:attrName>
                                        </p:attrNameLst>
                                      </p:cBhvr>
                                      <p:to>
                                        <p:strVal val="hidden"/>
                                      </p:to>
                                    </p:set>
                                  </p:childTnLst>
                                </p:cTn>
                              </p:par>
                              <p:par>
                                <p:cTn id="29" presetID="10" presetClass="entr" presetSubtype="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fade">
                                      <p:cBhvr>
                                        <p:cTn id="34" dur="500"/>
                                        <p:tgtEl>
                                          <p:spTgt spid="24"/>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xit" presetSubtype="0" fill="hold" grpId="1" nodeType="clickEffect">
                                  <p:stCondLst>
                                    <p:cond delay="0"/>
                                  </p:stCondLst>
                                  <p:childTnLst>
                                    <p:animEffect transition="out" filter="fade">
                                      <p:cBhvr>
                                        <p:cTn id="38" dur="500"/>
                                        <p:tgtEl>
                                          <p:spTgt spid="16"/>
                                        </p:tgtEl>
                                      </p:cBhvr>
                                    </p:animEffect>
                                    <p:set>
                                      <p:cBhvr>
                                        <p:cTn id="39" dur="1" fill="hold">
                                          <p:stCondLst>
                                            <p:cond delay="499"/>
                                          </p:stCondLst>
                                        </p:cTn>
                                        <p:tgtEl>
                                          <p:spTgt spid="16"/>
                                        </p:tgtEl>
                                        <p:attrNameLst>
                                          <p:attrName>style.visibility</p:attrName>
                                        </p:attrNameLst>
                                      </p:cBhvr>
                                      <p:to>
                                        <p:strVal val="hidden"/>
                                      </p:to>
                                    </p:set>
                                  </p:childTnLst>
                                </p:cTn>
                              </p:par>
                              <p:par>
                                <p:cTn id="40" presetID="10" presetClass="exit" presetSubtype="0" fill="hold" nodeType="withEffect">
                                  <p:stCondLst>
                                    <p:cond delay="0"/>
                                  </p:stCondLst>
                                  <p:childTnLst>
                                    <p:animEffect transition="out" filter="fade">
                                      <p:cBhvr>
                                        <p:cTn id="41" dur="500"/>
                                        <p:tgtEl>
                                          <p:spTgt spid="22"/>
                                        </p:tgtEl>
                                      </p:cBhvr>
                                    </p:animEffect>
                                    <p:set>
                                      <p:cBhvr>
                                        <p:cTn id="42" dur="1" fill="hold">
                                          <p:stCondLst>
                                            <p:cond delay="499"/>
                                          </p:stCondLst>
                                        </p:cTn>
                                        <p:tgtEl>
                                          <p:spTgt spid="22"/>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17"/>
                                        </p:tgtEl>
                                      </p:cBhvr>
                                    </p:animEffect>
                                    <p:set>
                                      <p:cBhvr>
                                        <p:cTn id="45" dur="1" fill="hold">
                                          <p:stCondLst>
                                            <p:cond delay="499"/>
                                          </p:stCondLst>
                                        </p:cTn>
                                        <p:tgtEl>
                                          <p:spTgt spid="17"/>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15"/>
                                        </p:tgtEl>
                                      </p:cBhvr>
                                    </p:animEffect>
                                    <p:set>
                                      <p:cBhvr>
                                        <p:cTn id="48" dur="1" fill="hold">
                                          <p:stCondLst>
                                            <p:cond delay="499"/>
                                          </p:stCondLst>
                                        </p:cTn>
                                        <p:tgtEl>
                                          <p:spTgt spid="15"/>
                                        </p:tgtEl>
                                        <p:attrNameLst>
                                          <p:attrName>style.visibility</p:attrName>
                                        </p:attrNameLst>
                                      </p:cBhvr>
                                      <p:to>
                                        <p:strVal val="hidden"/>
                                      </p:to>
                                    </p:set>
                                  </p:childTnLst>
                                </p:cTn>
                              </p:par>
                              <p:par>
                                <p:cTn id="49" presetID="10" presetClass="exit" presetSubtype="0" fill="hold" nodeType="withEffect">
                                  <p:stCondLst>
                                    <p:cond delay="0"/>
                                  </p:stCondLst>
                                  <p:childTnLst>
                                    <p:animEffect transition="out" filter="fade">
                                      <p:cBhvr>
                                        <p:cTn id="50" dur="500"/>
                                        <p:tgtEl>
                                          <p:spTgt spid="21"/>
                                        </p:tgtEl>
                                      </p:cBhvr>
                                    </p:animEffect>
                                    <p:set>
                                      <p:cBhvr>
                                        <p:cTn id="51" dur="1" fill="hold">
                                          <p:stCondLst>
                                            <p:cond delay="499"/>
                                          </p:stCondLst>
                                        </p:cTn>
                                        <p:tgtEl>
                                          <p:spTgt spid="21"/>
                                        </p:tgtEl>
                                        <p:attrNameLst>
                                          <p:attrName>style.visibility</p:attrName>
                                        </p:attrNameLst>
                                      </p:cBhvr>
                                      <p:to>
                                        <p:strVal val="hidden"/>
                                      </p:to>
                                    </p:set>
                                  </p:childTnLst>
                                </p:cTn>
                              </p:par>
                              <p:par>
                                <p:cTn id="52" presetID="10" presetClass="exit" presetSubtype="0" fill="hold" nodeType="withEffect">
                                  <p:stCondLst>
                                    <p:cond delay="0"/>
                                  </p:stCondLst>
                                  <p:childTnLst>
                                    <p:animEffect transition="out" filter="fade">
                                      <p:cBhvr>
                                        <p:cTn id="53" dur="500"/>
                                        <p:tgtEl>
                                          <p:spTgt spid="18"/>
                                        </p:tgtEl>
                                      </p:cBhvr>
                                    </p:animEffect>
                                    <p:set>
                                      <p:cBhvr>
                                        <p:cTn id="54" dur="1" fill="hold">
                                          <p:stCondLst>
                                            <p:cond delay="499"/>
                                          </p:stCondLst>
                                        </p:cTn>
                                        <p:tgtEl>
                                          <p:spTgt spid="18"/>
                                        </p:tgtEl>
                                        <p:attrNameLst>
                                          <p:attrName>style.visibility</p:attrName>
                                        </p:attrNameLst>
                                      </p:cBhvr>
                                      <p:to>
                                        <p:strVal val="hidden"/>
                                      </p:to>
                                    </p:set>
                                  </p:childTnLst>
                                </p:cTn>
                              </p:par>
                              <p:par>
                                <p:cTn id="55" presetID="10" presetClass="exit" presetSubtype="0" fill="hold" nodeType="withEffect">
                                  <p:stCondLst>
                                    <p:cond delay="0"/>
                                  </p:stCondLst>
                                  <p:childTnLst>
                                    <p:animEffect transition="out" filter="fade">
                                      <p:cBhvr>
                                        <p:cTn id="56" dur="500"/>
                                        <p:tgtEl>
                                          <p:spTgt spid="14"/>
                                        </p:tgtEl>
                                      </p:cBhvr>
                                    </p:animEffect>
                                    <p:set>
                                      <p:cBhvr>
                                        <p:cTn id="57" dur="1" fill="hold">
                                          <p:stCondLst>
                                            <p:cond delay="499"/>
                                          </p:stCondLst>
                                        </p:cTn>
                                        <p:tgtEl>
                                          <p:spTgt spid="14"/>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3"/>
                                        </p:tgtEl>
                                        <p:attrNameLst>
                                          <p:attrName>style.visibility</p:attrName>
                                        </p:attrNameLst>
                                      </p:cBhvr>
                                      <p:to>
                                        <p:strVal val="visible"/>
                                      </p:to>
                                    </p:set>
                                    <p:animEffect transition="in" filter="fade">
                                      <p:cBhvr>
                                        <p:cTn id="62" dur="500"/>
                                        <p:tgtEl>
                                          <p:spTgt spid="23"/>
                                        </p:tgtEl>
                                      </p:cBhvr>
                                    </p:animEffect>
                                  </p:childTnLst>
                                </p:cTn>
                              </p:par>
                              <p:par>
                                <p:cTn id="63" presetID="10" presetClass="entr" presetSubtype="0" fill="hold" nodeType="withEffect">
                                  <p:stCondLst>
                                    <p:cond delay="0"/>
                                  </p:stCondLst>
                                  <p:childTnLst>
                                    <p:set>
                                      <p:cBhvr>
                                        <p:cTn id="64" dur="1" fill="hold">
                                          <p:stCondLst>
                                            <p:cond delay="0"/>
                                          </p:stCondLst>
                                        </p:cTn>
                                        <p:tgtEl>
                                          <p:spTgt spid="29"/>
                                        </p:tgtEl>
                                        <p:attrNameLst>
                                          <p:attrName>style.visibility</p:attrName>
                                        </p:attrNameLst>
                                      </p:cBhvr>
                                      <p:to>
                                        <p:strVal val="visible"/>
                                      </p:to>
                                    </p:set>
                                    <p:animEffect transition="in" filter="fade">
                                      <p:cBhvr>
                                        <p:cTn id="65" dur="500"/>
                                        <p:tgtEl>
                                          <p:spTgt spid="29"/>
                                        </p:tgtEl>
                                      </p:cBhvr>
                                    </p:animEffect>
                                  </p:childTnLst>
                                </p:cTn>
                              </p:par>
                              <p:par>
                                <p:cTn id="66" presetID="10" presetClass="entr" presetSubtype="0" fill="hold" nodeType="withEffect">
                                  <p:stCondLst>
                                    <p:cond delay="0"/>
                                  </p:stCondLst>
                                  <p:childTnLst>
                                    <p:set>
                                      <p:cBhvr>
                                        <p:cTn id="67" dur="1" fill="hold">
                                          <p:stCondLst>
                                            <p:cond delay="0"/>
                                          </p:stCondLst>
                                        </p:cTn>
                                        <p:tgtEl>
                                          <p:spTgt spid="30"/>
                                        </p:tgtEl>
                                        <p:attrNameLst>
                                          <p:attrName>style.visibility</p:attrName>
                                        </p:attrNameLst>
                                      </p:cBhvr>
                                      <p:to>
                                        <p:strVal val="visible"/>
                                      </p:to>
                                    </p:set>
                                    <p:animEffect transition="in" filter="fade">
                                      <p:cBhvr>
                                        <p:cTn id="68" dur="500"/>
                                        <p:tgtEl>
                                          <p:spTgt spid="30"/>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xit" presetSubtype="0" fill="hold" nodeType="clickEffect">
                                  <p:stCondLst>
                                    <p:cond delay="0"/>
                                  </p:stCondLst>
                                  <p:childTnLst>
                                    <p:animEffect transition="out" filter="fade">
                                      <p:cBhvr>
                                        <p:cTn id="72" dur="500"/>
                                        <p:tgtEl>
                                          <p:spTgt spid="29"/>
                                        </p:tgtEl>
                                      </p:cBhvr>
                                    </p:animEffect>
                                    <p:set>
                                      <p:cBhvr>
                                        <p:cTn id="73" dur="1" fill="hold">
                                          <p:stCondLst>
                                            <p:cond delay="499"/>
                                          </p:stCondLst>
                                        </p:cTn>
                                        <p:tgtEl>
                                          <p:spTgt spid="29"/>
                                        </p:tgtEl>
                                        <p:attrNameLst>
                                          <p:attrName>style.visibility</p:attrName>
                                        </p:attrNameLst>
                                      </p:cBhvr>
                                      <p:to>
                                        <p:strVal val="hidden"/>
                                      </p:to>
                                    </p:se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0"/>
                                        </p:tgtEl>
                                        <p:attrNameLst>
                                          <p:attrName>style.visibility</p:attrName>
                                        </p:attrNameLst>
                                      </p:cBhvr>
                                      <p:to>
                                        <p:strVal val="visible"/>
                                      </p:to>
                                    </p:set>
                                    <p:animEffect transition="in" filter="fade">
                                      <p:cBhvr>
                                        <p:cTn id="78" dur="500"/>
                                        <p:tgtEl>
                                          <p:spTgt spid="20"/>
                                        </p:tgtEl>
                                      </p:cBhvr>
                                    </p:animEffect>
                                  </p:childTnLst>
                                </p:cTn>
                              </p:par>
                              <p:par>
                                <p:cTn id="79" presetID="10" presetClass="entr" presetSubtype="0" fill="hold" nodeType="withEffect">
                                  <p:stCondLst>
                                    <p:cond delay="0"/>
                                  </p:stCondLst>
                                  <p:childTnLst>
                                    <p:set>
                                      <p:cBhvr>
                                        <p:cTn id="80" dur="1" fill="hold">
                                          <p:stCondLst>
                                            <p:cond delay="0"/>
                                          </p:stCondLst>
                                        </p:cTn>
                                        <p:tgtEl>
                                          <p:spTgt spid="33"/>
                                        </p:tgtEl>
                                        <p:attrNameLst>
                                          <p:attrName>style.visibility</p:attrName>
                                        </p:attrNameLst>
                                      </p:cBhvr>
                                      <p:to>
                                        <p:strVal val="visible"/>
                                      </p:to>
                                    </p:set>
                                    <p:animEffect transition="in" filter="fade">
                                      <p:cBhvr>
                                        <p:cTn id="81" dur="500"/>
                                        <p:tgtEl>
                                          <p:spTgt spid="33"/>
                                        </p:tgtEl>
                                      </p:cBhvr>
                                    </p:animEffect>
                                  </p:childTnLst>
                                </p:cTn>
                              </p:par>
                              <p:par>
                                <p:cTn id="82" presetID="10" presetClass="entr" presetSubtype="0" fill="hold" nodeType="withEffect">
                                  <p:stCondLst>
                                    <p:cond delay="0"/>
                                  </p:stCondLst>
                                  <p:childTnLst>
                                    <p:set>
                                      <p:cBhvr>
                                        <p:cTn id="83" dur="1" fill="hold">
                                          <p:stCondLst>
                                            <p:cond delay="0"/>
                                          </p:stCondLst>
                                        </p:cTn>
                                        <p:tgtEl>
                                          <p:spTgt spid="34"/>
                                        </p:tgtEl>
                                        <p:attrNameLst>
                                          <p:attrName>style.visibility</p:attrName>
                                        </p:attrNameLst>
                                      </p:cBhvr>
                                      <p:to>
                                        <p:strVal val="visible"/>
                                      </p:to>
                                    </p:set>
                                    <p:animEffect transition="in" filter="fade">
                                      <p:cBhvr>
                                        <p:cTn id="84" dur="500"/>
                                        <p:tgtEl>
                                          <p:spTgt spid="34"/>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25"/>
                                        </p:tgtEl>
                                        <p:attrNameLst>
                                          <p:attrName>style.visibility</p:attrName>
                                        </p:attrNameLst>
                                      </p:cBhvr>
                                      <p:to>
                                        <p:strVal val="visible"/>
                                      </p:to>
                                    </p:set>
                                    <p:animEffect transition="in" filter="fade">
                                      <p:cBhvr>
                                        <p:cTn id="87" dur="500"/>
                                        <p:tgtEl>
                                          <p:spTgt spid="25"/>
                                        </p:tgtEl>
                                      </p:cBhvr>
                                    </p:animEffect>
                                  </p:childTnLst>
                                </p:cTn>
                              </p:par>
                              <p:par>
                                <p:cTn id="88" presetID="10" presetClass="entr" presetSubtype="0" fill="hold" nodeType="withEffect">
                                  <p:stCondLst>
                                    <p:cond delay="0"/>
                                  </p:stCondLst>
                                  <p:childTnLst>
                                    <p:set>
                                      <p:cBhvr>
                                        <p:cTn id="89" dur="1" fill="hold">
                                          <p:stCondLst>
                                            <p:cond delay="0"/>
                                          </p:stCondLst>
                                        </p:cTn>
                                        <p:tgtEl>
                                          <p:spTgt spid="32"/>
                                        </p:tgtEl>
                                        <p:attrNameLst>
                                          <p:attrName>style.visibility</p:attrName>
                                        </p:attrNameLst>
                                      </p:cBhvr>
                                      <p:to>
                                        <p:strVal val="visible"/>
                                      </p:to>
                                    </p:set>
                                    <p:animEffect transition="in" filter="fade">
                                      <p:cBhvr>
                                        <p:cTn id="90" dur="500"/>
                                        <p:tgtEl>
                                          <p:spTgt spid="32"/>
                                        </p:tgtEl>
                                      </p:cBhvr>
                                    </p:animEffect>
                                  </p:childTnLst>
                                </p:cTn>
                              </p:par>
                              <p:par>
                                <p:cTn id="91" presetID="3" presetClass="entr" presetSubtype="10" fill="hold" grpId="0" nodeType="withEffect">
                                  <p:stCondLst>
                                    <p:cond delay="0"/>
                                  </p:stCondLst>
                                  <p:childTnLst>
                                    <p:set>
                                      <p:cBhvr>
                                        <p:cTn id="92" dur="1" fill="hold">
                                          <p:stCondLst>
                                            <p:cond delay="0"/>
                                          </p:stCondLst>
                                        </p:cTn>
                                        <p:tgtEl>
                                          <p:spTgt spid="31"/>
                                        </p:tgtEl>
                                        <p:attrNameLst>
                                          <p:attrName>style.visibility</p:attrName>
                                        </p:attrNameLst>
                                      </p:cBhvr>
                                      <p:to>
                                        <p:strVal val="visible"/>
                                      </p:to>
                                    </p:set>
                                    <p:animEffect transition="in" filter="blinds(horizontal)">
                                      <p:cBhvr>
                                        <p:cTn id="93" dur="500"/>
                                        <p:tgtEl>
                                          <p:spTgt spid="31"/>
                                        </p:tgtEl>
                                      </p:cBhvr>
                                    </p:animEffect>
                                  </p:childTnLst>
                                </p:cTn>
                              </p:par>
                              <p:par>
                                <p:cTn id="94" presetID="1" presetClass="entr" presetSubtype="0" fill="hold" nodeType="withEffect">
                                  <p:stCondLst>
                                    <p:cond delay="0"/>
                                  </p:stCondLst>
                                  <p:childTnLst>
                                    <p:set>
                                      <p:cBhvr>
                                        <p:cTn id="95" dur="1" fill="hold">
                                          <p:stCondLst>
                                            <p:cond delay="0"/>
                                          </p:stCondLst>
                                        </p:cTn>
                                        <p:tgtEl>
                                          <p:spTgt spid="32"/>
                                        </p:tgtEl>
                                        <p:attrNameLst>
                                          <p:attrName>style.visibility</p:attrName>
                                        </p:attrNameLst>
                                      </p:cBhvr>
                                      <p:to>
                                        <p:strVal val="visible"/>
                                      </p:to>
                                    </p:set>
                                  </p:childTnLst>
                                </p:cTn>
                              </p:par>
                              <p:par>
                                <p:cTn id="96" presetID="3" presetClass="entr" presetSubtype="10"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Effect transition="in" filter="blinds(horizontal)">
                                      <p:cBhvr>
                                        <p:cTn id="98"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6" grpId="1" animBg="1"/>
      <p:bldP spid="17" grpId="0" animBg="1"/>
      <p:bldP spid="17" grpId="1" animBg="1"/>
      <p:bldP spid="20" grpId="0" animBg="1"/>
      <p:bldP spid="23" grpId="0" animBg="1"/>
      <p:bldP spid="24" grpId="0"/>
      <p:bldP spid="25" grpId="0"/>
      <p:bldP spid="26" grpId="0" animBg="1"/>
      <p:bldP spid="31"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59"/>
          <p:cNvSpPr/>
          <p:nvPr/>
        </p:nvSpPr>
        <p:spPr>
          <a:xfrm>
            <a:off x="3005667" y="4955117"/>
            <a:ext cx="4660900" cy="951734"/>
          </a:xfrm>
          <a:prstGeom prst="rect">
            <a:avLst/>
          </a:prstGeom>
          <a:solidFill>
            <a:schemeClr val="accent3">
              <a:lumMod val="75000"/>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a:defRPr/>
            </a:pPr>
            <a:r>
              <a:rPr lang="zh-CN" altLang="en-US" sz="2000" dirty="0">
                <a:solidFill>
                  <a:prstClr val="white"/>
                </a:solidFill>
                <a:latin typeface="+mj-ea"/>
                <a:ea typeface="+mj-ea"/>
              </a:rPr>
              <a:t>缺料补货需求</a:t>
            </a:r>
            <a:endParaRPr lang="en-US" sz="2000" dirty="0">
              <a:solidFill>
                <a:prstClr val="white"/>
              </a:solidFill>
              <a:latin typeface="+mj-ea"/>
              <a:ea typeface="+mj-ea"/>
            </a:endParaRPr>
          </a:p>
        </p:txBody>
      </p:sp>
      <p:cxnSp>
        <p:nvCxnSpPr>
          <p:cNvPr id="3" name="直接箭头连接符 6"/>
          <p:cNvCxnSpPr/>
          <p:nvPr/>
        </p:nvCxnSpPr>
        <p:spPr>
          <a:xfrm>
            <a:off x="986367" y="3503084"/>
            <a:ext cx="9332384" cy="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4" name="直接箭头连接符 13"/>
          <p:cNvCxnSpPr>
            <a:cxnSpLocks/>
            <a:stCxn id="32" idx="0"/>
          </p:cNvCxnSpPr>
          <p:nvPr/>
        </p:nvCxnSpPr>
        <p:spPr>
          <a:xfrm flipH="1">
            <a:off x="4252384" y="2624668"/>
            <a:ext cx="1" cy="878417"/>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15"/>
          <p:cNvCxnSpPr>
            <a:stCxn id="30729" idx="2"/>
          </p:cNvCxnSpPr>
          <p:nvPr/>
        </p:nvCxnSpPr>
        <p:spPr>
          <a:xfrm>
            <a:off x="6617759" y="2636261"/>
            <a:ext cx="9525" cy="902808"/>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23"/>
          <p:cNvCxnSpPr/>
          <p:nvPr/>
        </p:nvCxnSpPr>
        <p:spPr>
          <a:xfrm flipV="1">
            <a:off x="3024717" y="3503085"/>
            <a:ext cx="0" cy="67310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7" name="直接箭头连接符 35"/>
          <p:cNvCxnSpPr/>
          <p:nvPr/>
        </p:nvCxnSpPr>
        <p:spPr>
          <a:xfrm flipV="1">
            <a:off x="3024717" y="4379385"/>
            <a:ext cx="0" cy="67310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728" name="矩形 7"/>
          <p:cNvSpPr/>
          <p:nvPr/>
        </p:nvSpPr>
        <p:spPr>
          <a:xfrm>
            <a:off x="3581400" y="2256367"/>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mj-ea"/>
                <a:ea typeface="+mj-ea"/>
              </a:rPr>
              <a:t>需求</a:t>
            </a:r>
            <a:r>
              <a:rPr lang="en-US" altLang="zh-CN" sz="1600" dirty="0">
                <a:solidFill>
                  <a:srgbClr val="FFFFFF"/>
                </a:solidFill>
                <a:latin typeface="+mj-ea"/>
                <a:ea typeface="+mj-ea"/>
              </a:rPr>
              <a:t>1</a:t>
            </a:r>
            <a:endParaRPr lang="zh-CN" altLang="en-US" sz="1600" dirty="0">
              <a:solidFill>
                <a:srgbClr val="FFFFFF"/>
              </a:solidFill>
              <a:latin typeface="+mj-ea"/>
              <a:ea typeface="+mj-ea"/>
            </a:endParaRPr>
          </a:p>
        </p:txBody>
      </p:sp>
      <p:sp>
        <p:nvSpPr>
          <p:cNvPr id="30729" name="矩形 8"/>
          <p:cNvSpPr/>
          <p:nvPr/>
        </p:nvSpPr>
        <p:spPr>
          <a:xfrm>
            <a:off x="5897033" y="2266951"/>
            <a:ext cx="1441451"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mj-ea"/>
                <a:ea typeface="+mj-ea"/>
              </a:rPr>
              <a:t>需求</a:t>
            </a:r>
            <a:r>
              <a:rPr lang="en-US" altLang="zh-CN" sz="1600" dirty="0">
                <a:solidFill>
                  <a:srgbClr val="FFFFFF"/>
                </a:solidFill>
                <a:latin typeface="+mj-ea"/>
                <a:ea typeface="+mj-ea"/>
              </a:rPr>
              <a:t>2</a:t>
            </a:r>
            <a:endParaRPr lang="zh-CN" altLang="en-US" sz="1600" dirty="0">
              <a:solidFill>
                <a:srgbClr val="FFFFFF"/>
              </a:solidFill>
              <a:latin typeface="+mj-ea"/>
              <a:ea typeface="+mj-ea"/>
            </a:endParaRPr>
          </a:p>
        </p:txBody>
      </p:sp>
      <p:sp>
        <p:nvSpPr>
          <p:cNvPr id="30730" name="矩形 9"/>
          <p:cNvSpPr/>
          <p:nvPr/>
        </p:nvSpPr>
        <p:spPr>
          <a:xfrm>
            <a:off x="1443567" y="3695700"/>
            <a:ext cx="1390651" cy="369310"/>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库存</a:t>
            </a:r>
            <a:r>
              <a:rPr lang="en-US" altLang="zh-CN" sz="1600" dirty="0">
                <a:solidFill>
                  <a:schemeClr val="bg1"/>
                </a:solidFill>
                <a:latin typeface="+mj-ea"/>
                <a:ea typeface="+mj-ea"/>
              </a:rPr>
              <a:t>A</a:t>
            </a:r>
            <a:endParaRPr lang="zh-CN" altLang="en-US" sz="1600" dirty="0">
              <a:solidFill>
                <a:schemeClr val="bg1"/>
              </a:solidFill>
              <a:latin typeface="+mj-ea"/>
              <a:ea typeface="+mj-ea"/>
            </a:endParaRPr>
          </a:p>
        </p:txBody>
      </p:sp>
      <p:sp>
        <p:nvSpPr>
          <p:cNvPr id="11" name="矩形 10"/>
          <p:cNvSpPr/>
          <p:nvPr/>
        </p:nvSpPr>
        <p:spPr>
          <a:xfrm>
            <a:off x="3456519" y="5522143"/>
            <a:ext cx="1553633" cy="369310"/>
          </a:xfrm>
          <a:prstGeom prst="rect">
            <a:avLst/>
          </a:prstGeom>
          <a:solidFill>
            <a:schemeClr val="accent3">
              <a:lumMod val="20000"/>
              <a:lumOff val="80000"/>
              <a:alpha val="50000"/>
            </a:schemeClr>
          </a:solidFill>
        </p:spPr>
        <p:txBody>
          <a:bodyPr lIns="121899" tIns="60949" rIns="121899" bIns="60949">
            <a:spAutoFit/>
          </a:bodyPr>
          <a:lstStyle/>
          <a:p>
            <a:pPr algn="ctr" defTabSz="1217476" fontAlgn="base">
              <a:spcBef>
                <a:spcPct val="0"/>
              </a:spcBef>
              <a:spcAft>
                <a:spcPct val="0"/>
              </a:spcAft>
              <a:defRPr/>
            </a:pPr>
            <a:r>
              <a:rPr lang="zh-CN" altLang="en-US" sz="1600" dirty="0">
                <a:solidFill>
                  <a:schemeClr val="bg1"/>
                </a:solidFill>
                <a:latin typeface="+mj-ea"/>
                <a:ea typeface="+mj-ea"/>
                <a:cs typeface="微软雅黑" panose="020B0503020204020204" pitchFamily="34" charset="-122"/>
              </a:rPr>
              <a:t>补货需求 </a:t>
            </a:r>
            <a:r>
              <a:rPr lang="en-US" altLang="zh-CN" sz="1600" dirty="0">
                <a:solidFill>
                  <a:schemeClr val="bg1"/>
                </a:solidFill>
                <a:latin typeface="+mj-ea"/>
                <a:ea typeface="+mj-ea"/>
                <a:cs typeface="微软雅黑" panose="020B0503020204020204" pitchFamily="34" charset="-122"/>
              </a:rPr>
              <a:t>C</a:t>
            </a:r>
          </a:p>
        </p:txBody>
      </p:sp>
      <p:sp>
        <p:nvSpPr>
          <p:cNvPr id="30732" name="矩形 11"/>
          <p:cNvSpPr/>
          <p:nvPr/>
        </p:nvSpPr>
        <p:spPr>
          <a:xfrm>
            <a:off x="1443567" y="4510617"/>
            <a:ext cx="1390651"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库存</a:t>
            </a:r>
            <a:r>
              <a:rPr lang="en-US" altLang="zh-CN" sz="1600" dirty="0">
                <a:solidFill>
                  <a:schemeClr val="bg1"/>
                </a:solidFill>
                <a:latin typeface="+mj-ea"/>
                <a:ea typeface="+mj-ea"/>
              </a:rPr>
              <a:t>B</a:t>
            </a:r>
            <a:endParaRPr lang="zh-CN" altLang="en-US" sz="1600" dirty="0">
              <a:solidFill>
                <a:schemeClr val="bg1"/>
              </a:solidFill>
              <a:latin typeface="+mj-ea"/>
              <a:ea typeface="+mj-ea"/>
            </a:endParaRPr>
          </a:p>
        </p:txBody>
      </p:sp>
      <p:sp>
        <p:nvSpPr>
          <p:cNvPr id="13" name="Line 58"/>
          <p:cNvSpPr>
            <a:spLocks noChangeShapeType="1"/>
          </p:cNvSpPr>
          <p:nvPr/>
        </p:nvSpPr>
        <p:spPr bwMode="auto">
          <a:xfrm flipH="1">
            <a:off x="3024718" y="3009900"/>
            <a:ext cx="3545417" cy="823384"/>
          </a:xfrm>
          <a:prstGeom prst="line">
            <a:avLst/>
          </a:prstGeom>
          <a:ln>
            <a:solidFill>
              <a:schemeClr val="bg1"/>
            </a:solidFill>
            <a:tailEnd type="triangle" w="med" len="med"/>
          </a:ln>
        </p:spPr>
        <p:style>
          <a:lnRef idx="2">
            <a:schemeClr val="accent1"/>
          </a:lnRef>
          <a:fillRef idx="0">
            <a:schemeClr val="accent1"/>
          </a:fillRef>
          <a:effectRef idx="1">
            <a:schemeClr val="accent1"/>
          </a:effectRef>
          <a:fontRef idx="minor">
            <a:schemeClr val="tx1"/>
          </a:fontRef>
        </p:style>
        <p:txBody>
          <a:bodyPr lIns="162504" tIns="81251" rIns="162504" bIns="81251"/>
          <a:lstStyle/>
          <a:p>
            <a:pPr defTabSz="1219170">
              <a:defRPr/>
            </a:pPr>
            <a:endParaRPr lang="zh-CN" altLang="en-US" sz="2400" kern="0">
              <a:solidFill>
                <a:sysClr val="windowText" lastClr="000000"/>
              </a:solidFill>
              <a:latin typeface="+mj-ea"/>
              <a:ea typeface="+mj-ea"/>
            </a:endParaRPr>
          </a:p>
        </p:txBody>
      </p:sp>
      <p:sp>
        <p:nvSpPr>
          <p:cNvPr id="14" name="Line 58"/>
          <p:cNvSpPr>
            <a:spLocks noChangeShapeType="1"/>
          </p:cNvSpPr>
          <p:nvPr/>
        </p:nvSpPr>
        <p:spPr bwMode="auto">
          <a:xfrm flipH="1">
            <a:off x="3024718" y="3009900"/>
            <a:ext cx="3560233" cy="1729317"/>
          </a:xfrm>
          <a:prstGeom prst="line">
            <a:avLst/>
          </a:prstGeom>
          <a:ln>
            <a:tailEnd type="triangle" w="med" len="med"/>
          </a:ln>
        </p:spPr>
        <p:style>
          <a:lnRef idx="2">
            <a:schemeClr val="accent1"/>
          </a:lnRef>
          <a:fillRef idx="0">
            <a:schemeClr val="accent1"/>
          </a:fillRef>
          <a:effectRef idx="1">
            <a:schemeClr val="accent1"/>
          </a:effectRef>
          <a:fontRef idx="minor">
            <a:schemeClr val="tx1"/>
          </a:fontRef>
        </p:style>
        <p:txBody>
          <a:bodyPr lIns="162504" tIns="81251" rIns="162504" bIns="81251"/>
          <a:lstStyle/>
          <a:p>
            <a:pPr defTabSz="1219170">
              <a:defRPr/>
            </a:pPr>
            <a:endParaRPr lang="zh-CN" altLang="en-US" sz="2400" kern="0">
              <a:solidFill>
                <a:sysClr val="windowText" lastClr="000000"/>
              </a:solidFill>
              <a:latin typeface="+mj-ea"/>
              <a:ea typeface="+mj-ea"/>
            </a:endParaRPr>
          </a:p>
        </p:txBody>
      </p:sp>
      <p:sp>
        <p:nvSpPr>
          <p:cNvPr id="15" name="矩形标注 14"/>
          <p:cNvSpPr/>
          <p:nvPr/>
        </p:nvSpPr>
        <p:spPr>
          <a:xfrm>
            <a:off x="5740401" y="1386418"/>
            <a:ext cx="1629833" cy="615951"/>
          </a:xfrm>
          <a:prstGeom prst="wedgeRectCallout">
            <a:avLst>
              <a:gd name="adj1" fmla="val 782"/>
              <a:gd name="adj2" fmla="val 90562"/>
            </a:avLst>
          </a:prstGeom>
          <a:ln>
            <a:noFill/>
          </a:ln>
        </p:spPr>
        <p:style>
          <a:lnRef idx="2">
            <a:schemeClr val="accent6">
              <a:shade val="50000"/>
            </a:schemeClr>
          </a:lnRef>
          <a:fillRef idx="1">
            <a:schemeClr val="accent6"/>
          </a:fillRef>
          <a:effectRef idx="0">
            <a:schemeClr val="accent6"/>
          </a:effectRef>
          <a:fontRef idx="minor">
            <a:schemeClr val="lt1"/>
          </a:fontRef>
        </p:style>
        <p:txBody>
          <a:bodyPr lIns="121899" tIns="60949" rIns="121899" bIns="60949" anchor="ctr"/>
          <a:lstStyle/>
          <a:p>
            <a:pPr algn="ctr" defTabSz="1217476" fontAlgn="base">
              <a:spcBef>
                <a:spcPct val="0"/>
              </a:spcBef>
              <a:spcAft>
                <a:spcPct val="0"/>
              </a:spcAft>
              <a:defRPr/>
            </a:pPr>
            <a:r>
              <a:rPr lang="en-US" altLang="zh-CN" sz="1867" b="1" dirty="0">
                <a:solidFill>
                  <a:srgbClr val="FFFFFF"/>
                </a:solidFill>
                <a:latin typeface="+mj-ea"/>
                <a:ea typeface="+mj-ea"/>
                <a:cs typeface="微软雅黑" panose="020B0503020204020204" pitchFamily="34" charset="-122"/>
              </a:rPr>
              <a:t>IPS</a:t>
            </a:r>
            <a:endParaRPr lang="zh-CN" altLang="en-US" sz="1867" b="1" dirty="0">
              <a:solidFill>
                <a:srgbClr val="FFFFFF"/>
              </a:solidFill>
              <a:latin typeface="+mj-ea"/>
              <a:ea typeface="+mj-ea"/>
              <a:cs typeface="微软雅黑" panose="020B0503020204020204" pitchFamily="34" charset="-122"/>
            </a:endParaRPr>
          </a:p>
        </p:txBody>
      </p:sp>
      <p:sp>
        <p:nvSpPr>
          <p:cNvPr id="16" name="矩形标注 15"/>
          <p:cNvSpPr/>
          <p:nvPr/>
        </p:nvSpPr>
        <p:spPr>
          <a:xfrm>
            <a:off x="3416302" y="1370945"/>
            <a:ext cx="1631951" cy="622300"/>
          </a:xfrm>
          <a:prstGeom prst="wedgeRectCallout">
            <a:avLst>
              <a:gd name="adj1" fmla="val 782"/>
              <a:gd name="adj2" fmla="val 90562"/>
            </a:avLst>
          </a:prstGeom>
          <a:ln>
            <a:noFill/>
          </a:ln>
        </p:spPr>
        <p:style>
          <a:lnRef idx="2">
            <a:schemeClr val="accent6">
              <a:shade val="50000"/>
            </a:schemeClr>
          </a:lnRef>
          <a:fillRef idx="1">
            <a:schemeClr val="accent6"/>
          </a:fillRef>
          <a:effectRef idx="0">
            <a:schemeClr val="accent6"/>
          </a:effectRef>
          <a:fontRef idx="minor">
            <a:schemeClr val="lt1"/>
          </a:fontRef>
        </p:style>
        <p:txBody>
          <a:bodyPr lIns="121899" tIns="60949" rIns="121899" bIns="60949" anchor="ctr"/>
          <a:lstStyle/>
          <a:p>
            <a:pPr algn="ctr" defTabSz="1217476" fontAlgn="base">
              <a:spcBef>
                <a:spcPct val="0"/>
              </a:spcBef>
              <a:spcAft>
                <a:spcPct val="0"/>
              </a:spcAft>
              <a:defRPr/>
            </a:pPr>
            <a:r>
              <a:rPr lang="en-US" altLang="zh-CN" sz="1867" b="1" dirty="0">
                <a:solidFill>
                  <a:srgbClr val="FFFFFF"/>
                </a:solidFill>
                <a:latin typeface="+mj-ea"/>
                <a:ea typeface="+mj-ea"/>
                <a:cs typeface="微软雅黑" panose="020B0503020204020204" pitchFamily="34" charset="-122"/>
              </a:rPr>
              <a:t>IPS</a:t>
            </a:r>
            <a:endParaRPr lang="zh-CN" altLang="en-US" sz="1867" b="1" dirty="0">
              <a:solidFill>
                <a:srgbClr val="FFFFFF"/>
              </a:solidFill>
              <a:latin typeface="+mj-ea"/>
              <a:ea typeface="+mj-ea"/>
              <a:cs typeface="微软雅黑" panose="020B0503020204020204" pitchFamily="34" charset="-122"/>
            </a:endParaRPr>
          </a:p>
        </p:txBody>
      </p:sp>
      <p:sp>
        <p:nvSpPr>
          <p:cNvPr id="17" name="TextBox 33"/>
          <p:cNvSpPr txBox="1"/>
          <p:nvPr/>
        </p:nvSpPr>
        <p:spPr>
          <a:xfrm>
            <a:off x="7998667" y="1261536"/>
            <a:ext cx="3950878" cy="1107973"/>
          </a:xfrm>
          <a:prstGeom prst="rect">
            <a:avLst/>
          </a:prstGeom>
          <a:noFill/>
        </p:spPr>
        <p:txBody>
          <a:bodyPr wrap="square" lIns="121899" tIns="60949" rIns="121899" bIns="60949">
            <a:spAutoFit/>
          </a:bodyPr>
          <a:lstStyle/>
          <a:p>
            <a:pPr defTabSz="1219170">
              <a:defRPr/>
            </a:pPr>
            <a:r>
              <a:rPr lang="en-US" altLang="zh-CN" sz="1600" b="1" kern="0" dirty="0">
                <a:solidFill>
                  <a:schemeClr val="bg1"/>
                </a:solidFill>
                <a:latin typeface="+mj-ea"/>
                <a:ea typeface="+mj-ea"/>
                <a:cs typeface="Arial Unicode MS" panose="020B0604020202020204" pitchFamily="34" charset="-122"/>
              </a:rPr>
              <a:t>IPS:</a:t>
            </a:r>
          </a:p>
          <a:p>
            <a:pPr marL="380990" indent="-380990" defTabSz="1219170">
              <a:buFont typeface="Arial" panose="020B0604020202020204" pitchFamily="34" charset="0"/>
              <a:buChar char="•"/>
              <a:defRPr/>
            </a:pPr>
            <a:r>
              <a:rPr lang="zh-CN" altLang="en-US" sz="1600" kern="0" dirty="0">
                <a:solidFill>
                  <a:schemeClr val="bg1"/>
                </a:solidFill>
                <a:latin typeface="+mj-ea"/>
                <a:ea typeface="+mj-ea"/>
                <a:cs typeface="Arial Unicode MS" panose="020B0604020202020204" pitchFamily="34" charset="-122"/>
              </a:rPr>
              <a:t>需求</a:t>
            </a:r>
            <a:r>
              <a:rPr lang="en-US" altLang="zh-CN" sz="1600" kern="0" dirty="0">
                <a:solidFill>
                  <a:schemeClr val="bg1"/>
                </a:solidFill>
                <a:latin typeface="+mj-ea"/>
                <a:ea typeface="+mj-ea"/>
                <a:cs typeface="Arial Unicode MS" panose="020B0604020202020204" pitchFamily="34" charset="-122"/>
              </a:rPr>
              <a:t>2</a:t>
            </a:r>
            <a:r>
              <a:rPr lang="zh-CN" altLang="en-US" sz="1600" kern="0" dirty="0">
                <a:solidFill>
                  <a:schemeClr val="bg1"/>
                </a:solidFill>
                <a:latin typeface="+mj-ea"/>
                <a:ea typeface="+mj-ea"/>
                <a:cs typeface="Arial Unicode MS" panose="020B0604020202020204" pitchFamily="34" charset="-122"/>
              </a:rPr>
              <a:t>工单下达立即生产</a:t>
            </a:r>
            <a:r>
              <a:rPr lang="en-US" altLang="zh-CN" sz="1600" kern="0" dirty="0">
                <a:solidFill>
                  <a:schemeClr val="bg1"/>
                </a:solidFill>
                <a:latin typeface="+mj-ea"/>
                <a:ea typeface="+mj-ea"/>
                <a:cs typeface="Arial Unicode MS" panose="020B0604020202020204" pitchFamily="34" charset="-122"/>
              </a:rPr>
              <a:t>.</a:t>
            </a:r>
          </a:p>
          <a:p>
            <a:pPr marL="380990" indent="-380990" defTabSz="1219170">
              <a:buFont typeface="Arial" panose="020B0604020202020204" pitchFamily="34" charset="0"/>
              <a:buChar char="•"/>
              <a:defRPr/>
            </a:pPr>
            <a:r>
              <a:rPr lang="zh-CN" altLang="en-US" sz="1600" kern="0" dirty="0">
                <a:solidFill>
                  <a:schemeClr val="bg1"/>
                </a:solidFill>
                <a:latin typeface="+mj-ea"/>
                <a:ea typeface="+mj-ea"/>
                <a:cs typeface="Arial Unicode MS" panose="020B0604020202020204" pitchFamily="34" charset="-122"/>
              </a:rPr>
              <a:t>需求</a:t>
            </a:r>
            <a:r>
              <a:rPr lang="en-US" altLang="zh-CN" sz="1600" kern="0" dirty="0">
                <a:solidFill>
                  <a:schemeClr val="bg1"/>
                </a:solidFill>
                <a:latin typeface="+mj-ea"/>
                <a:ea typeface="+mj-ea"/>
                <a:cs typeface="Arial Unicode MS" panose="020B0604020202020204" pitchFamily="34" charset="-122"/>
              </a:rPr>
              <a:t>1 </a:t>
            </a:r>
            <a:r>
              <a:rPr lang="zh-CN" altLang="en-US" sz="1600" kern="0" dirty="0">
                <a:solidFill>
                  <a:schemeClr val="bg1"/>
                </a:solidFill>
                <a:latin typeface="+mj-ea"/>
                <a:ea typeface="+mj-ea"/>
                <a:cs typeface="Arial Unicode MS" panose="020B0604020202020204" pitchFamily="34" charset="-122"/>
              </a:rPr>
              <a:t>需要</a:t>
            </a:r>
            <a:r>
              <a:rPr lang="en-US" altLang="zh-CN" sz="1600" kern="0" dirty="0">
                <a:solidFill>
                  <a:schemeClr val="bg1"/>
                </a:solidFill>
                <a:latin typeface="+mj-ea"/>
                <a:ea typeface="+mj-ea"/>
                <a:cs typeface="Arial Unicode MS" panose="020B0604020202020204" pitchFamily="34" charset="-122"/>
              </a:rPr>
              <a:t>A</a:t>
            </a:r>
            <a:r>
              <a:rPr lang="zh-CN" altLang="en-US" sz="1600" kern="0" dirty="0">
                <a:solidFill>
                  <a:schemeClr val="bg1"/>
                </a:solidFill>
                <a:latin typeface="+mj-ea"/>
                <a:ea typeface="+mj-ea"/>
                <a:cs typeface="Arial Unicode MS" panose="020B0604020202020204" pitchFamily="34" charset="-122"/>
              </a:rPr>
              <a:t>和</a:t>
            </a:r>
            <a:r>
              <a:rPr lang="en-US" altLang="zh-CN" sz="1600" kern="0" dirty="0">
                <a:solidFill>
                  <a:schemeClr val="bg1"/>
                </a:solidFill>
                <a:latin typeface="+mj-ea"/>
                <a:ea typeface="+mj-ea"/>
                <a:cs typeface="Arial Unicode MS" panose="020B0604020202020204" pitchFamily="34" charset="-122"/>
              </a:rPr>
              <a:t>C</a:t>
            </a:r>
            <a:r>
              <a:rPr lang="zh-CN" altLang="en-US" sz="1600" kern="0" dirty="0">
                <a:solidFill>
                  <a:schemeClr val="bg1"/>
                </a:solidFill>
                <a:latin typeface="+mj-ea"/>
                <a:ea typeface="+mj-ea"/>
                <a:cs typeface="Arial Unicode MS" panose="020B0604020202020204" pitchFamily="34" charset="-122"/>
              </a:rPr>
              <a:t>的补货需求</a:t>
            </a:r>
            <a:endParaRPr lang="en-US" altLang="zh-CN" sz="1600" kern="0" dirty="0">
              <a:solidFill>
                <a:schemeClr val="bg1"/>
              </a:solidFill>
              <a:latin typeface="+mj-ea"/>
              <a:ea typeface="+mj-ea"/>
              <a:cs typeface="Arial Unicode MS" panose="020B0604020202020204" pitchFamily="34" charset="-122"/>
            </a:endParaRPr>
          </a:p>
          <a:p>
            <a:pPr marL="380990" indent="-380990" defTabSz="1219170">
              <a:buFont typeface="Arial" panose="020B0604020202020204" pitchFamily="34" charset="0"/>
              <a:buChar char="•"/>
              <a:defRPr/>
            </a:pPr>
            <a:r>
              <a:rPr lang="zh-CN" altLang="en-US" sz="1600" kern="0" dirty="0">
                <a:solidFill>
                  <a:schemeClr val="bg1"/>
                </a:solidFill>
                <a:latin typeface="+mj-ea"/>
                <a:ea typeface="+mj-ea"/>
                <a:cs typeface="Arial Unicode MS" panose="020B0604020202020204" pitchFamily="34" charset="-122"/>
              </a:rPr>
              <a:t>生产计划与采购计划协同</a:t>
            </a:r>
            <a:endParaRPr lang="en-US" altLang="zh-CN" sz="1600" kern="0" dirty="0">
              <a:solidFill>
                <a:schemeClr val="bg1"/>
              </a:solidFill>
              <a:latin typeface="+mj-ea"/>
              <a:ea typeface="+mj-ea"/>
              <a:cs typeface="Arial Unicode MS" panose="020B0604020202020204" pitchFamily="34" charset="-122"/>
            </a:endParaRPr>
          </a:p>
        </p:txBody>
      </p:sp>
      <p:sp>
        <p:nvSpPr>
          <p:cNvPr id="30746" name="Title 52"/>
          <p:cNvSpPr>
            <a:spLocks noGrp="1"/>
          </p:cNvSpPr>
          <p:nvPr>
            <p:ph type="title" idx="4294967295"/>
          </p:nvPr>
        </p:nvSpPr>
        <p:spPr>
          <a:xfrm>
            <a:off x="1116013" y="223838"/>
            <a:ext cx="11075987" cy="520700"/>
          </a:xfrm>
          <a:prstGeom prst="rect">
            <a:avLst/>
          </a:prstGeom>
        </p:spPr>
        <p:txBody>
          <a:bodyPr vert="horz" wrap="square" lIns="121920" tIns="60960" rIns="121920" bIns="60960" anchor="ctr" anchorCtr="0">
            <a:normAutofit/>
          </a:bodyPr>
          <a:lstStyle/>
          <a:p>
            <a:pPr eaLnBrk="1" hangingPunct="1"/>
            <a:r>
              <a:rPr lang="zh-CN" altLang="en-US" b="1" dirty="0">
                <a:solidFill>
                  <a:schemeClr val="bg1"/>
                </a:solidFill>
                <a:latin typeface="+mj-ea"/>
              </a:rPr>
              <a:t>场景</a:t>
            </a:r>
            <a:r>
              <a:rPr lang="en-US" altLang="zh-CN" b="1" dirty="0">
                <a:solidFill>
                  <a:schemeClr val="bg1"/>
                </a:solidFill>
                <a:latin typeface="+mj-ea"/>
              </a:rPr>
              <a:t> #1: </a:t>
            </a:r>
            <a:r>
              <a:rPr lang="zh-CN" altLang="en-US" dirty="0">
                <a:solidFill>
                  <a:schemeClr val="bg1"/>
                </a:solidFill>
                <a:latin typeface="+mj-ea"/>
              </a:rPr>
              <a:t>挑战</a:t>
            </a:r>
            <a:r>
              <a:rPr lang="en-US" altLang="zh-CN" dirty="0">
                <a:solidFill>
                  <a:schemeClr val="bg1"/>
                </a:solidFill>
                <a:latin typeface="+mj-ea"/>
              </a:rPr>
              <a:t>C</a:t>
            </a:r>
            <a:r>
              <a:rPr lang="zh-CN" altLang="en-US" dirty="0">
                <a:solidFill>
                  <a:schemeClr val="bg1"/>
                </a:solidFill>
                <a:latin typeface="+mj-ea"/>
              </a:rPr>
              <a:t>的方案</a:t>
            </a:r>
            <a:endParaRPr lang="en-US" altLang="zh-CN" b="1" dirty="0">
              <a:solidFill>
                <a:schemeClr val="bg1"/>
              </a:solidFill>
              <a:latin typeface="+mj-ea"/>
            </a:endParaRPr>
          </a:p>
        </p:txBody>
      </p:sp>
      <p:sp>
        <p:nvSpPr>
          <p:cNvPr id="28" name="圆角矩形 5"/>
          <p:cNvSpPr/>
          <p:nvPr/>
        </p:nvSpPr>
        <p:spPr>
          <a:xfrm>
            <a:off x="7922683" y="4034254"/>
            <a:ext cx="3560233" cy="1962151"/>
          </a:xfrm>
          <a:prstGeom prst="round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defTabSz="1219170">
              <a:defRPr/>
            </a:pPr>
            <a:r>
              <a:rPr lang="zh-CN" altLang="en-US" sz="1600" kern="0" dirty="0">
                <a:solidFill>
                  <a:schemeClr val="bg1"/>
                </a:solidFill>
                <a:latin typeface="+mj-ea"/>
                <a:ea typeface="+mj-ea"/>
              </a:rPr>
              <a:t>统一采购计划和生产计划的数据源和逻辑</a:t>
            </a:r>
            <a:endParaRPr lang="en-US" altLang="zh-CN" sz="1600" kern="0" dirty="0">
              <a:solidFill>
                <a:schemeClr val="bg1"/>
              </a:solidFill>
              <a:latin typeface="+mj-ea"/>
              <a:ea typeface="+mj-ea"/>
            </a:endParaRPr>
          </a:p>
        </p:txBody>
      </p:sp>
      <p:sp>
        <p:nvSpPr>
          <p:cNvPr id="30" name="矩形 29"/>
          <p:cNvSpPr/>
          <p:nvPr/>
        </p:nvSpPr>
        <p:spPr>
          <a:xfrm>
            <a:off x="3443818" y="4959351"/>
            <a:ext cx="1553633" cy="369310"/>
          </a:xfrm>
          <a:prstGeom prst="rect">
            <a:avLst/>
          </a:prstGeom>
          <a:solidFill>
            <a:schemeClr val="accent3">
              <a:lumMod val="20000"/>
              <a:lumOff val="80000"/>
              <a:alpha val="50000"/>
            </a:schemeClr>
          </a:solidFill>
        </p:spPr>
        <p:txBody>
          <a:bodyPr lIns="121899" tIns="60949" rIns="121899" bIns="60949">
            <a:spAutoFit/>
          </a:bodyPr>
          <a:lstStyle/>
          <a:p>
            <a:pPr algn="ctr" defTabSz="1217476" fontAlgn="base">
              <a:spcBef>
                <a:spcPct val="0"/>
              </a:spcBef>
              <a:spcAft>
                <a:spcPct val="0"/>
              </a:spcAft>
              <a:defRPr/>
            </a:pPr>
            <a:r>
              <a:rPr lang="zh-CN" altLang="en-US" sz="1600" dirty="0">
                <a:solidFill>
                  <a:schemeClr val="bg1"/>
                </a:solidFill>
                <a:latin typeface="+mj-ea"/>
                <a:ea typeface="+mj-ea"/>
                <a:cs typeface="微软雅黑" panose="020B0503020204020204" pitchFamily="34" charset="-122"/>
              </a:rPr>
              <a:t>补货需求</a:t>
            </a:r>
            <a:r>
              <a:rPr lang="en-US" altLang="zh-CN" sz="1600" dirty="0">
                <a:solidFill>
                  <a:schemeClr val="bg1"/>
                </a:solidFill>
                <a:latin typeface="+mj-ea"/>
                <a:ea typeface="+mj-ea"/>
                <a:cs typeface="微软雅黑" panose="020B0503020204020204" pitchFamily="34" charset="-122"/>
              </a:rPr>
              <a:t> A</a:t>
            </a:r>
            <a:endParaRPr lang="zh-CN" altLang="en-US" sz="1600" dirty="0">
              <a:solidFill>
                <a:schemeClr val="bg1"/>
              </a:solidFill>
              <a:latin typeface="+mj-ea"/>
              <a:ea typeface="+mj-ea"/>
              <a:cs typeface="微软雅黑" panose="020B0503020204020204" pitchFamily="34" charset="-122"/>
            </a:endParaRPr>
          </a:p>
        </p:txBody>
      </p:sp>
      <p:sp>
        <p:nvSpPr>
          <p:cNvPr id="31" name="Line 58"/>
          <p:cNvSpPr>
            <a:spLocks noChangeShapeType="1"/>
          </p:cNvSpPr>
          <p:nvPr/>
        </p:nvSpPr>
        <p:spPr bwMode="auto">
          <a:xfrm flipH="1">
            <a:off x="3884085" y="2624667"/>
            <a:ext cx="368300" cy="2334684"/>
          </a:xfrm>
          <a:prstGeom prst="line">
            <a:avLst/>
          </a:prstGeom>
          <a:ln>
            <a:tailEnd type="triangle" w="med" len="med"/>
          </a:ln>
        </p:spPr>
        <p:style>
          <a:lnRef idx="1">
            <a:schemeClr val="accent1"/>
          </a:lnRef>
          <a:fillRef idx="0">
            <a:schemeClr val="accent1"/>
          </a:fillRef>
          <a:effectRef idx="0">
            <a:schemeClr val="accent1"/>
          </a:effectRef>
          <a:fontRef idx="minor">
            <a:schemeClr val="tx1"/>
          </a:fontRef>
        </p:style>
        <p:txBody>
          <a:bodyPr lIns="162504" tIns="81251" rIns="162504" bIns="81251"/>
          <a:lstStyle/>
          <a:p>
            <a:pPr defTabSz="1219170">
              <a:defRPr/>
            </a:pPr>
            <a:endParaRPr lang="zh-CN" altLang="en-US" sz="2400" kern="0">
              <a:solidFill>
                <a:sysClr val="windowText" lastClr="000000"/>
              </a:solidFill>
              <a:latin typeface="+mj-ea"/>
              <a:ea typeface="+mj-ea"/>
            </a:endParaRPr>
          </a:p>
        </p:txBody>
      </p:sp>
      <p:sp>
        <p:nvSpPr>
          <p:cNvPr id="32" name="Line 58"/>
          <p:cNvSpPr>
            <a:spLocks noChangeShapeType="1"/>
          </p:cNvSpPr>
          <p:nvPr/>
        </p:nvSpPr>
        <p:spPr bwMode="auto">
          <a:xfrm>
            <a:off x="4252385" y="2624668"/>
            <a:ext cx="528630" cy="2910415"/>
          </a:xfrm>
          <a:prstGeom prst="line">
            <a:avLst/>
          </a:prstGeom>
          <a:ln>
            <a:tailEnd type="triangle" w="med" len="med"/>
          </a:ln>
        </p:spPr>
        <p:style>
          <a:lnRef idx="2">
            <a:schemeClr val="accent1"/>
          </a:lnRef>
          <a:fillRef idx="0">
            <a:schemeClr val="accent1"/>
          </a:fillRef>
          <a:effectRef idx="1">
            <a:schemeClr val="accent1"/>
          </a:effectRef>
          <a:fontRef idx="minor">
            <a:schemeClr val="tx1"/>
          </a:fontRef>
        </p:style>
        <p:txBody>
          <a:bodyPr lIns="162504" tIns="81251" rIns="162504" bIns="81251"/>
          <a:lstStyle/>
          <a:p>
            <a:pPr defTabSz="1219170">
              <a:defRPr/>
            </a:pPr>
            <a:endParaRPr lang="zh-CN" altLang="en-US" sz="2400" kern="0" dirty="0">
              <a:solidFill>
                <a:sysClr val="windowText" lastClr="000000"/>
              </a:solidFill>
              <a:latin typeface="+mj-ea"/>
              <a:ea typeface="+mj-ea"/>
            </a:endParaRPr>
          </a:p>
        </p:txBody>
      </p:sp>
      <p:cxnSp>
        <p:nvCxnSpPr>
          <p:cNvPr id="33" name="直接连接符 7"/>
          <p:cNvCxnSpPr/>
          <p:nvPr/>
        </p:nvCxnSpPr>
        <p:spPr>
          <a:xfrm>
            <a:off x="3052361" y="1149352"/>
            <a:ext cx="0" cy="2199217"/>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4" name="直接连接符 7"/>
          <p:cNvCxnSpPr/>
          <p:nvPr/>
        </p:nvCxnSpPr>
        <p:spPr>
          <a:xfrm>
            <a:off x="5446184" y="1149352"/>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5" name="直接连接符 7"/>
          <p:cNvCxnSpPr/>
          <p:nvPr/>
        </p:nvCxnSpPr>
        <p:spPr>
          <a:xfrm>
            <a:off x="7666567" y="1149351"/>
            <a:ext cx="0" cy="4070351"/>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0" name="Line 58"/>
          <p:cNvSpPr>
            <a:spLocks noChangeShapeType="1"/>
          </p:cNvSpPr>
          <p:nvPr/>
        </p:nvSpPr>
        <p:spPr bwMode="auto">
          <a:xfrm flipH="1">
            <a:off x="3088218" y="2624668"/>
            <a:ext cx="1132417" cy="1208617"/>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lIns="162504" tIns="81251" rIns="162504" bIns="81251"/>
          <a:lstStyle/>
          <a:p>
            <a:pPr defTabSz="1219170">
              <a:defRPr/>
            </a:pPr>
            <a:endParaRPr lang="zh-CN" altLang="en-US" sz="2400" kern="0">
              <a:solidFill>
                <a:sysClr val="windowText" lastClr="000000"/>
              </a:solidFill>
              <a:latin typeface="+mj-ea"/>
              <a:ea typeface="+mj-ea"/>
            </a:endParaRPr>
          </a:p>
        </p:txBody>
      </p:sp>
      <p:sp>
        <p:nvSpPr>
          <p:cNvPr id="8" name="文本框 7">
            <a:extLst>
              <a:ext uri="{FF2B5EF4-FFF2-40B4-BE49-F238E27FC236}">
                <a16:creationId xmlns:a16="http://schemas.microsoft.com/office/drawing/2014/main" id="{10096E1D-BA05-DF0F-D668-9ED24E94B8EB}"/>
              </a:ext>
            </a:extLst>
          </p:cNvPr>
          <p:cNvSpPr txBox="1"/>
          <p:nvPr/>
        </p:nvSpPr>
        <p:spPr>
          <a:xfrm>
            <a:off x="10500621" y="3304118"/>
            <a:ext cx="1302564" cy="338554"/>
          </a:xfrm>
          <a:prstGeom prst="rect">
            <a:avLst/>
          </a:prstGeom>
          <a:noFill/>
        </p:spPr>
        <p:txBody>
          <a:bodyPr wrap="square" rtlCol="0">
            <a:spAutoFit/>
          </a:bodyPr>
          <a:lstStyle/>
          <a:p>
            <a:r>
              <a:rPr lang="zh-CN" altLang="en-US" sz="1600" dirty="0">
                <a:solidFill>
                  <a:schemeClr val="bg1"/>
                </a:solidFill>
                <a:latin typeface="+mj-ea"/>
                <a:ea typeface="+mj-ea"/>
              </a:rPr>
              <a:t>需求日期</a:t>
            </a:r>
          </a:p>
        </p:txBody>
      </p:sp>
      <p:sp>
        <p:nvSpPr>
          <p:cNvPr id="9" name="文本框 1">
            <a:extLst>
              <a:ext uri="{FF2B5EF4-FFF2-40B4-BE49-F238E27FC236}">
                <a16:creationId xmlns:a16="http://schemas.microsoft.com/office/drawing/2014/main" id="{CA9FB627-5C0D-8E3E-64C3-6EFDBABC3649}"/>
              </a:ext>
            </a:extLst>
          </p:cNvPr>
          <p:cNvSpPr txBox="1"/>
          <p:nvPr/>
        </p:nvSpPr>
        <p:spPr>
          <a:xfrm>
            <a:off x="1411817" y="850901"/>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1</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10" name="文本框 1">
            <a:extLst>
              <a:ext uri="{FF2B5EF4-FFF2-40B4-BE49-F238E27FC236}">
                <a16:creationId xmlns:a16="http://schemas.microsoft.com/office/drawing/2014/main" id="{D7AE3889-5042-4FD7-D4F4-753A9263EDA0}"/>
              </a:ext>
            </a:extLst>
          </p:cNvPr>
          <p:cNvSpPr txBox="1"/>
          <p:nvPr/>
        </p:nvSpPr>
        <p:spPr>
          <a:xfrm>
            <a:off x="3547534" y="850901"/>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2</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12" name="文本框 1">
            <a:extLst>
              <a:ext uri="{FF2B5EF4-FFF2-40B4-BE49-F238E27FC236}">
                <a16:creationId xmlns:a16="http://schemas.microsoft.com/office/drawing/2014/main" id="{949E7EF3-16A9-11DE-19BE-E7693C98741F}"/>
              </a:ext>
            </a:extLst>
          </p:cNvPr>
          <p:cNvSpPr txBox="1"/>
          <p:nvPr/>
        </p:nvSpPr>
        <p:spPr>
          <a:xfrm>
            <a:off x="5820834" y="831851"/>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3</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18" name="TextBox 30">
            <a:extLst>
              <a:ext uri="{FF2B5EF4-FFF2-40B4-BE49-F238E27FC236}">
                <a16:creationId xmlns:a16="http://schemas.microsoft.com/office/drawing/2014/main" id="{FFBE3BF8-5CC9-0D3C-8071-5B27D1E20290}"/>
              </a:ext>
            </a:extLst>
          </p:cNvPr>
          <p:cNvSpPr txBox="1"/>
          <p:nvPr/>
        </p:nvSpPr>
        <p:spPr>
          <a:xfrm>
            <a:off x="62086" y="1468428"/>
            <a:ext cx="3159124" cy="1354195"/>
          </a:xfrm>
          <a:prstGeom prst="rect">
            <a:avLst/>
          </a:prstGeom>
          <a:no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600" b="1" dirty="0">
                <a:solidFill>
                  <a:schemeClr val="bg1"/>
                </a:solidFill>
                <a:latin typeface="+mj-ea"/>
                <a:ea typeface="+mj-ea"/>
              </a:rPr>
              <a:t>场景</a:t>
            </a:r>
            <a:r>
              <a:rPr lang="en-US" altLang="zh-CN" sz="1600" b="1" dirty="0">
                <a:solidFill>
                  <a:schemeClr val="bg1"/>
                </a:solidFill>
                <a:latin typeface="+mj-ea"/>
                <a:ea typeface="+mj-ea"/>
              </a:rPr>
              <a:t>:</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C</a:t>
            </a:r>
            <a:r>
              <a:rPr lang="zh-CN" altLang="en-US" sz="1600" dirty="0">
                <a:solidFill>
                  <a:schemeClr val="bg1"/>
                </a:solidFill>
                <a:latin typeface="+mj-ea"/>
                <a:ea typeface="+mj-ea"/>
              </a:rPr>
              <a:t>生产</a:t>
            </a:r>
            <a:endParaRPr lang="en-US" altLang="zh-CN" sz="1600" dirty="0">
              <a:solidFill>
                <a:schemeClr val="bg1"/>
              </a:solidFill>
              <a:latin typeface="+mj-ea"/>
              <a:ea typeface="+mj-ea"/>
            </a:endParaRP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B</a:t>
            </a:r>
            <a:r>
              <a:rPr lang="zh-CN" altLang="en-US" sz="1600" dirty="0">
                <a:solidFill>
                  <a:schemeClr val="bg1"/>
                </a:solidFill>
                <a:latin typeface="+mj-ea"/>
                <a:ea typeface="+mj-ea"/>
              </a:rPr>
              <a:t>生产</a:t>
            </a:r>
            <a:endParaRPr lang="en-US" altLang="zh-CN" sz="1600" dirty="0">
              <a:solidFill>
                <a:schemeClr val="bg1"/>
              </a:solidFill>
              <a:latin typeface="+mj-ea"/>
              <a:ea typeface="+mj-ea"/>
            </a:endParaRP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的优先级高于需求</a:t>
            </a:r>
            <a:r>
              <a:rPr lang="en-US" altLang="zh-CN" sz="1600" dirty="0">
                <a:solidFill>
                  <a:schemeClr val="bg1"/>
                </a:solidFill>
                <a:latin typeface="+mj-ea"/>
                <a:ea typeface="+mj-ea"/>
              </a:rPr>
              <a:t>2</a:t>
            </a:r>
          </a:p>
          <a:p>
            <a:pPr marL="0" indent="0" defTabSz="1217476" eaLnBrk="1" hangingPunct="1">
              <a:spcBef>
                <a:spcPct val="0"/>
              </a:spcBef>
            </a:pPr>
            <a:r>
              <a:rPr lang="zh-CN" altLang="en-US" sz="1600" dirty="0">
                <a:solidFill>
                  <a:schemeClr val="bg1"/>
                </a:solidFill>
                <a:latin typeface="+mj-ea"/>
                <a:ea typeface="+mj-ea"/>
              </a:rPr>
              <a:t>库存</a:t>
            </a:r>
            <a:r>
              <a:rPr lang="en-US" altLang="zh-CN" sz="1600" dirty="0">
                <a:solidFill>
                  <a:schemeClr val="bg1"/>
                </a:solidFill>
                <a:latin typeface="+mj-ea"/>
                <a:ea typeface="+mj-ea"/>
              </a:rPr>
              <a:t>A</a:t>
            </a:r>
            <a:r>
              <a:rPr lang="zh-CN" altLang="en-US" sz="1600" dirty="0">
                <a:solidFill>
                  <a:schemeClr val="bg1"/>
                </a:solidFill>
                <a:latin typeface="+mj-ea"/>
                <a:ea typeface="+mj-ea"/>
              </a:rPr>
              <a:t>只能满足其中一笔需求</a:t>
            </a:r>
            <a:endParaRPr lang="en-US" altLang="zh-CN" sz="1600" dirty="0">
              <a:solidFill>
                <a:schemeClr val="bg1"/>
              </a:solidFill>
              <a:latin typeface="+mj-ea"/>
              <a:ea typeface="+mj-ea"/>
            </a:endParaRPr>
          </a:p>
        </p:txBody>
      </p:sp>
    </p:spTree>
    <p:custDataLst>
      <p:tags r:id="rId1"/>
    </p:custData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fade">
                                      <p:cBhvr>
                                        <p:cTn id="10" dur="500"/>
                                        <p:tgtEl>
                                          <p:spTgt spid="40"/>
                                        </p:tgtEl>
                                      </p:cBhvr>
                                    </p:animEffect>
                                  </p:childTnLst>
                                </p:cTn>
                              </p:par>
                              <p:par>
                                <p:cTn id="11" presetID="10" presetClass="entr" presetSubtype="0" fill="hold" nodeType="withEffect">
                                  <p:stCondLst>
                                    <p:cond delay="0"/>
                                  </p:stCondLst>
                                  <p:childTnLst>
                                    <p:set>
                                      <p:cBhvr>
                                        <p:cTn id="12" dur="1" fill="hold">
                                          <p:stCondLst>
                                            <p:cond delay="0"/>
                                          </p:stCondLst>
                                        </p:cTn>
                                        <p:tgtEl>
                                          <p:spTgt spid="32"/>
                                        </p:tgtEl>
                                        <p:attrNameLst>
                                          <p:attrName>style.visibility</p:attrName>
                                        </p:attrNameLst>
                                      </p:cBhvr>
                                      <p:to>
                                        <p:strVal val="visible"/>
                                      </p:to>
                                    </p:set>
                                    <p:animEffect transition="in" filter="fade">
                                      <p:cBhvr>
                                        <p:cTn id="13" dur="500"/>
                                        <p:tgtEl>
                                          <p:spTgt spid="32"/>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nodeType="clickEffect">
                                  <p:stCondLst>
                                    <p:cond delay="0"/>
                                  </p:stCondLst>
                                  <p:childTnLst>
                                    <p:animEffect transition="out" filter="fade">
                                      <p:cBhvr>
                                        <p:cTn id="17" dur="500"/>
                                        <p:tgtEl>
                                          <p:spTgt spid="40"/>
                                        </p:tgtEl>
                                      </p:cBhvr>
                                    </p:animEffect>
                                    <p:set>
                                      <p:cBhvr>
                                        <p:cTn id="18" dur="1" fill="hold">
                                          <p:stCondLst>
                                            <p:cond delay="499"/>
                                          </p:stCondLst>
                                        </p:cTn>
                                        <p:tgtEl>
                                          <p:spTgt spid="40"/>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par>
                                <p:cTn id="27" presetID="10" presetClass="entr" presetSubtype="0" fill="hold" nodeType="with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10" presetClass="entr" presetSubtype="0" fill="hold" nodeType="with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直接箭头连接符 6"/>
          <p:cNvCxnSpPr/>
          <p:nvPr/>
        </p:nvCxnSpPr>
        <p:spPr>
          <a:xfrm>
            <a:off x="349251" y="3642784"/>
            <a:ext cx="9810751" cy="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3" name="直接箭头连接符 13"/>
          <p:cNvCxnSpPr>
            <a:stCxn id="31751" idx="2"/>
          </p:cNvCxnSpPr>
          <p:nvPr/>
        </p:nvCxnSpPr>
        <p:spPr>
          <a:xfrm flipH="1">
            <a:off x="3266017" y="2778077"/>
            <a:ext cx="25401" cy="83719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4" name="直接箭头连接符 15"/>
          <p:cNvCxnSpPr/>
          <p:nvPr/>
        </p:nvCxnSpPr>
        <p:spPr>
          <a:xfrm flipH="1">
            <a:off x="5276851" y="2770718"/>
            <a:ext cx="0" cy="886884"/>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23"/>
          <p:cNvCxnSpPr/>
          <p:nvPr/>
        </p:nvCxnSpPr>
        <p:spPr>
          <a:xfrm flipV="1">
            <a:off x="2129367" y="3642785"/>
            <a:ext cx="0" cy="67310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35"/>
          <p:cNvCxnSpPr/>
          <p:nvPr/>
        </p:nvCxnSpPr>
        <p:spPr>
          <a:xfrm flipV="1">
            <a:off x="2129367" y="4519084"/>
            <a:ext cx="0" cy="670984"/>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31751" name="矩形 6"/>
          <p:cNvSpPr/>
          <p:nvPr/>
        </p:nvSpPr>
        <p:spPr>
          <a:xfrm>
            <a:off x="2571751" y="2408767"/>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endParaRPr lang="en-US" altLang="zh-CN" sz="933" dirty="0">
              <a:solidFill>
                <a:schemeClr val="bg1"/>
              </a:solidFill>
              <a:latin typeface="+mj-ea"/>
              <a:ea typeface="+mj-ea"/>
            </a:endParaRPr>
          </a:p>
        </p:txBody>
      </p:sp>
      <p:sp>
        <p:nvSpPr>
          <p:cNvPr id="31752" name="矩形 38"/>
          <p:cNvSpPr/>
          <p:nvPr/>
        </p:nvSpPr>
        <p:spPr>
          <a:xfrm>
            <a:off x="4559300" y="2400301"/>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p>
        </p:txBody>
      </p:sp>
      <p:sp>
        <p:nvSpPr>
          <p:cNvPr id="31753" name="矩形 28"/>
          <p:cNvSpPr/>
          <p:nvPr/>
        </p:nvSpPr>
        <p:spPr>
          <a:xfrm>
            <a:off x="546100" y="3835401"/>
            <a:ext cx="1390651" cy="369310"/>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库存</a:t>
            </a:r>
            <a:r>
              <a:rPr lang="en-US" altLang="zh-CN" sz="1600" dirty="0">
                <a:solidFill>
                  <a:schemeClr val="bg1"/>
                </a:solidFill>
                <a:latin typeface="+mj-ea"/>
                <a:ea typeface="+mj-ea"/>
              </a:rPr>
              <a:t>A 200</a:t>
            </a:r>
            <a:endParaRPr lang="zh-CN" altLang="en-US" sz="1600" dirty="0">
              <a:solidFill>
                <a:schemeClr val="bg1"/>
              </a:solidFill>
              <a:latin typeface="+mj-ea"/>
              <a:ea typeface="+mj-ea"/>
            </a:endParaRPr>
          </a:p>
        </p:txBody>
      </p:sp>
      <p:sp>
        <p:nvSpPr>
          <p:cNvPr id="31754" name="矩形 41"/>
          <p:cNvSpPr/>
          <p:nvPr/>
        </p:nvSpPr>
        <p:spPr>
          <a:xfrm>
            <a:off x="546100" y="4648200"/>
            <a:ext cx="1390651"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库存</a:t>
            </a:r>
            <a:r>
              <a:rPr lang="en-US" altLang="zh-CN" sz="1600" dirty="0">
                <a:solidFill>
                  <a:schemeClr val="bg1"/>
                </a:solidFill>
                <a:latin typeface="+mj-ea"/>
                <a:ea typeface="+mj-ea"/>
              </a:rPr>
              <a:t> B</a:t>
            </a:r>
            <a:endParaRPr lang="zh-CN" altLang="en-US" sz="1600" dirty="0">
              <a:solidFill>
                <a:schemeClr val="bg1"/>
              </a:solidFill>
              <a:latin typeface="+mj-ea"/>
              <a:ea typeface="+mj-ea"/>
            </a:endParaRPr>
          </a:p>
        </p:txBody>
      </p:sp>
      <p:sp>
        <p:nvSpPr>
          <p:cNvPr id="11" name="TextBox 47"/>
          <p:cNvSpPr txBox="1"/>
          <p:nvPr/>
        </p:nvSpPr>
        <p:spPr>
          <a:xfrm>
            <a:off x="858310" y="5589806"/>
            <a:ext cx="6258984" cy="1200306"/>
          </a:xfrm>
          <a:prstGeom prst="rect">
            <a:avLst/>
          </a:prstGeom>
          <a:noFill/>
        </p:spPr>
        <p:txBody>
          <a:bodyPr lIns="121899" tIns="60949" rIns="121899" bIns="60949">
            <a:spAutoFit/>
          </a:bodyPr>
          <a:lstStyle/>
          <a:p>
            <a:pPr defTabSz="1219170">
              <a:defRPr/>
            </a:pPr>
            <a:r>
              <a:rPr lang="zh-CN" altLang="en-US" sz="1400" b="1" dirty="0">
                <a:solidFill>
                  <a:schemeClr val="bg1"/>
                </a:solidFill>
                <a:latin typeface="+mj-ea"/>
                <a:ea typeface="+mj-ea"/>
              </a:rPr>
              <a:t>场景</a:t>
            </a:r>
            <a:r>
              <a:rPr lang="en-US" altLang="zh-CN" sz="1400" b="1" dirty="0">
                <a:solidFill>
                  <a:schemeClr val="bg1"/>
                </a:solidFill>
                <a:latin typeface="+mj-ea"/>
                <a:ea typeface="+mj-ea"/>
              </a:rPr>
              <a:t>:</a:t>
            </a:r>
          </a:p>
          <a:p>
            <a:pPr marL="171869" indent="-171869" defTabSz="1219170">
              <a:buFont typeface="Arial" panose="020B0604020202020204" pitchFamily="34" charset="0"/>
              <a:buChar char="•"/>
              <a:defRPr/>
            </a:pPr>
            <a:r>
              <a:rPr lang="zh-CN" altLang="en-US" sz="1400" dirty="0">
                <a:solidFill>
                  <a:schemeClr val="bg1"/>
                </a:solidFill>
                <a:latin typeface="+mj-ea"/>
                <a:ea typeface="+mj-ea"/>
              </a:rPr>
              <a:t>需求</a:t>
            </a:r>
            <a:r>
              <a:rPr lang="en-US" altLang="zh-CN" sz="1400" dirty="0">
                <a:solidFill>
                  <a:schemeClr val="bg1"/>
                </a:solidFill>
                <a:latin typeface="+mj-ea"/>
                <a:ea typeface="+mj-ea"/>
              </a:rPr>
              <a:t>1</a:t>
            </a:r>
            <a:r>
              <a:rPr lang="zh-CN" altLang="en-US" sz="1400" dirty="0">
                <a:solidFill>
                  <a:schemeClr val="bg1"/>
                </a:solidFill>
                <a:latin typeface="+mj-ea"/>
                <a:ea typeface="+mj-ea"/>
              </a:rPr>
              <a:t>由</a:t>
            </a:r>
            <a:r>
              <a:rPr lang="en-US" altLang="zh-CN" sz="1400" dirty="0">
                <a:solidFill>
                  <a:schemeClr val="bg1"/>
                </a:solidFill>
                <a:latin typeface="+mj-ea"/>
                <a:ea typeface="+mj-ea"/>
              </a:rPr>
              <a:t>A</a:t>
            </a:r>
            <a:r>
              <a:rPr lang="zh-CN" altLang="en-US" sz="1400" dirty="0">
                <a:solidFill>
                  <a:schemeClr val="bg1"/>
                </a:solidFill>
                <a:latin typeface="+mj-ea"/>
                <a:ea typeface="+mj-ea"/>
              </a:rPr>
              <a:t>和</a:t>
            </a:r>
            <a:r>
              <a:rPr lang="en-US" altLang="zh-CN" sz="1400" dirty="0">
                <a:solidFill>
                  <a:schemeClr val="bg1"/>
                </a:solidFill>
                <a:latin typeface="+mj-ea"/>
                <a:ea typeface="+mj-ea"/>
              </a:rPr>
              <a:t>B</a:t>
            </a:r>
            <a:r>
              <a:rPr lang="zh-CN" altLang="en-US" sz="1400" dirty="0">
                <a:solidFill>
                  <a:schemeClr val="bg1"/>
                </a:solidFill>
                <a:latin typeface="+mj-ea"/>
                <a:ea typeface="+mj-ea"/>
              </a:rPr>
              <a:t>生产</a:t>
            </a:r>
            <a:r>
              <a:rPr lang="en-US" altLang="zh-CN" sz="1400" dirty="0">
                <a:solidFill>
                  <a:schemeClr val="bg1"/>
                </a:solidFill>
                <a:latin typeface="+mj-ea"/>
                <a:ea typeface="+mj-ea"/>
              </a:rPr>
              <a:t>, </a:t>
            </a:r>
            <a:r>
              <a:rPr lang="zh-CN" altLang="en-US" sz="1400" dirty="0">
                <a:solidFill>
                  <a:schemeClr val="bg1"/>
                </a:solidFill>
                <a:latin typeface="+mj-ea"/>
                <a:ea typeface="+mj-ea"/>
              </a:rPr>
              <a:t>数量</a:t>
            </a:r>
            <a:r>
              <a:rPr lang="en-US" altLang="zh-CN" sz="1400" dirty="0">
                <a:solidFill>
                  <a:schemeClr val="bg1"/>
                </a:solidFill>
                <a:latin typeface="+mj-ea"/>
                <a:ea typeface="+mj-ea"/>
              </a:rPr>
              <a:t>100</a:t>
            </a:r>
          </a:p>
          <a:p>
            <a:pPr marL="171869" indent="-171869" defTabSz="1219170">
              <a:buFont typeface="Arial" panose="020B0604020202020204" pitchFamily="34" charset="0"/>
              <a:buChar char="•"/>
              <a:defRPr/>
            </a:pPr>
            <a:r>
              <a:rPr lang="zh-CN" altLang="en-US" sz="1400" dirty="0">
                <a:solidFill>
                  <a:schemeClr val="bg1"/>
                </a:solidFill>
                <a:latin typeface="+mj-ea"/>
                <a:ea typeface="+mj-ea"/>
              </a:rPr>
              <a:t>需求</a:t>
            </a:r>
            <a:r>
              <a:rPr lang="en-US" altLang="zh-CN" sz="1400" dirty="0">
                <a:solidFill>
                  <a:schemeClr val="bg1"/>
                </a:solidFill>
                <a:latin typeface="+mj-ea"/>
                <a:ea typeface="+mj-ea"/>
              </a:rPr>
              <a:t>2</a:t>
            </a:r>
            <a:r>
              <a:rPr lang="zh-CN" altLang="en-US" sz="1400" dirty="0">
                <a:solidFill>
                  <a:schemeClr val="bg1"/>
                </a:solidFill>
                <a:latin typeface="+mj-ea"/>
                <a:ea typeface="+mj-ea"/>
              </a:rPr>
              <a:t>由</a:t>
            </a:r>
            <a:r>
              <a:rPr lang="en-US" altLang="zh-CN" sz="1400" dirty="0">
                <a:solidFill>
                  <a:schemeClr val="bg1"/>
                </a:solidFill>
                <a:latin typeface="+mj-ea"/>
                <a:ea typeface="+mj-ea"/>
              </a:rPr>
              <a:t>A</a:t>
            </a:r>
            <a:r>
              <a:rPr lang="zh-CN" altLang="en-US" sz="1400" dirty="0">
                <a:solidFill>
                  <a:schemeClr val="bg1"/>
                </a:solidFill>
                <a:latin typeface="+mj-ea"/>
                <a:ea typeface="+mj-ea"/>
              </a:rPr>
              <a:t>和</a:t>
            </a:r>
            <a:r>
              <a:rPr lang="en-US" altLang="zh-CN" sz="1400" dirty="0">
                <a:solidFill>
                  <a:schemeClr val="bg1"/>
                </a:solidFill>
                <a:latin typeface="+mj-ea"/>
                <a:ea typeface="+mj-ea"/>
              </a:rPr>
              <a:t>C</a:t>
            </a:r>
            <a:r>
              <a:rPr lang="zh-CN" altLang="en-US" sz="1400" dirty="0">
                <a:solidFill>
                  <a:schemeClr val="bg1"/>
                </a:solidFill>
                <a:latin typeface="+mj-ea"/>
                <a:ea typeface="+mj-ea"/>
              </a:rPr>
              <a:t>生产</a:t>
            </a:r>
            <a:r>
              <a:rPr lang="en-US" altLang="zh-CN" sz="1400" dirty="0">
                <a:solidFill>
                  <a:schemeClr val="bg1"/>
                </a:solidFill>
                <a:latin typeface="+mj-ea"/>
                <a:ea typeface="+mj-ea"/>
              </a:rPr>
              <a:t>, </a:t>
            </a:r>
            <a:r>
              <a:rPr lang="zh-CN" altLang="en-US" sz="1400" dirty="0">
                <a:solidFill>
                  <a:schemeClr val="bg1"/>
                </a:solidFill>
                <a:latin typeface="+mj-ea"/>
                <a:ea typeface="+mj-ea"/>
              </a:rPr>
              <a:t>数量</a:t>
            </a:r>
            <a:r>
              <a:rPr lang="en-US" altLang="zh-CN" sz="1400" dirty="0">
                <a:solidFill>
                  <a:schemeClr val="bg1"/>
                </a:solidFill>
                <a:latin typeface="+mj-ea"/>
                <a:ea typeface="+mj-ea"/>
              </a:rPr>
              <a:t>100</a:t>
            </a:r>
          </a:p>
          <a:p>
            <a:pPr marL="171869" indent="-171869" defTabSz="1219170">
              <a:buFont typeface="Arial" panose="020B0604020202020204" pitchFamily="34" charset="0"/>
              <a:buChar char="•"/>
              <a:defRPr/>
            </a:pPr>
            <a:r>
              <a:rPr lang="zh-CN" altLang="en-US" sz="1400" dirty="0">
                <a:solidFill>
                  <a:schemeClr val="bg1"/>
                </a:solidFill>
                <a:latin typeface="+mj-ea"/>
                <a:ea typeface="+mj-ea"/>
              </a:rPr>
              <a:t>需求</a:t>
            </a:r>
            <a:r>
              <a:rPr lang="en-US" altLang="zh-CN" sz="1400" dirty="0">
                <a:solidFill>
                  <a:schemeClr val="bg1"/>
                </a:solidFill>
                <a:latin typeface="+mj-ea"/>
                <a:ea typeface="+mj-ea"/>
              </a:rPr>
              <a:t>2</a:t>
            </a:r>
            <a:r>
              <a:rPr lang="zh-CN" altLang="en-US" sz="1400" dirty="0">
                <a:solidFill>
                  <a:schemeClr val="bg1"/>
                </a:solidFill>
                <a:latin typeface="+mj-ea"/>
                <a:ea typeface="+mj-ea"/>
              </a:rPr>
              <a:t>的优先级高于需求</a:t>
            </a:r>
            <a:r>
              <a:rPr lang="en-US" altLang="zh-CN" sz="1400" dirty="0">
                <a:solidFill>
                  <a:schemeClr val="bg1"/>
                </a:solidFill>
                <a:latin typeface="+mj-ea"/>
                <a:ea typeface="+mj-ea"/>
              </a:rPr>
              <a:t>1</a:t>
            </a:r>
          </a:p>
          <a:p>
            <a:pPr marL="171869" indent="-171869" defTabSz="1219170">
              <a:buFont typeface="Arial" panose="020B0604020202020204" pitchFamily="34" charset="0"/>
              <a:buChar char="•"/>
              <a:defRPr/>
            </a:pPr>
            <a:r>
              <a:rPr lang="zh-CN" altLang="en-US" sz="1400" dirty="0">
                <a:solidFill>
                  <a:schemeClr val="bg1"/>
                </a:solidFill>
                <a:latin typeface="+mj-ea"/>
                <a:ea typeface="+mj-ea"/>
              </a:rPr>
              <a:t>库存</a:t>
            </a:r>
            <a:r>
              <a:rPr lang="en-US" altLang="zh-CN" sz="1400" dirty="0">
                <a:solidFill>
                  <a:schemeClr val="bg1"/>
                </a:solidFill>
                <a:latin typeface="+mj-ea"/>
                <a:ea typeface="+mj-ea"/>
              </a:rPr>
              <a:t>A : 200; </a:t>
            </a:r>
            <a:r>
              <a:rPr lang="zh-CN" altLang="en-US" sz="1400" dirty="0">
                <a:solidFill>
                  <a:schemeClr val="bg1"/>
                </a:solidFill>
                <a:latin typeface="+mj-ea"/>
                <a:ea typeface="+mj-ea"/>
              </a:rPr>
              <a:t>库存</a:t>
            </a:r>
            <a:r>
              <a:rPr lang="en-US" altLang="zh-CN" sz="1400" dirty="0">
                <a:solidFill>
                  <a:schemeClr val="bg1"/>
                </a:solidFill>
                <a:latin typeface="+mj-ea"/>
                <a:ea typeface="+mj-ea"/>
              </a:rPr>
              <a:t>B: </a:t>
            </a:r>
            <a:r>
              <a:rPr lang="zh-CN" altLang="en-US" sz="1400" dirty="0">
                <a:solidFill>
                  <a:schemeClr val="bg1"/>
                </a:solidFill>
                <a:latin typeface="+mj-ea"/>
                <a:ea typeface="+mj-ea"/>
              </a:rPr>
              <a:t>足量</a:t>
            </a:r>
            <a:endParaRPr lang="en-US" altLang="zh-CN" sz="1400" dirty="0">
              <a:solidFill>
                <a:schemeClr val="bg1"/>
              </a:solidFill>
              <a:latin typeface="+mj-ea"/>
              <a:ea typeface="+mj-ea"/>
            </a:endParaRPr>
          </a:p>
        </p:txBody>
      </p:sp>
      <p:sp>
        <p:nvSpPr>
          <p:cNvPr id="12" name="Line 58"/>
          <p:cNvSpPr/>
          <p:nvPr/>
        </p:nvSpPr>
        <p:spPr>
          <a:xfrm flipH="1">
            <a:off x="2129367" y="2770717"/>
            <a:ext cx="1138767" cy="1270000"/>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solidFill>
                <a:schemeClr val="bg1"/>
              </a:solidFill>
              <a:latin typeface="+mj-ea"/>
              <a:ea typeface="+mj-ea"/>
            </a:endParaRPr>
          </a:p>
        </p:txBody>
      </p:sp>
      <p:sp>
        <p:nvSpPr>
          <p:cNvPr id="13" name="Line 58"/>
          <p:cNvSpPr/>
          <p:nvPr/>
        </p:nvSpPr>
        <p:spPr>
          <a:xfrm flipH="1">
            <a:off x="2129367" y="2770717"/>
            <a:ext cx="1138767" cy="2082800"/>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solidFill>
                <a:schemeClr val="bg1"/>
              </a:solidFill>
              <a:latin typeface="+mj-ea"/>
              <a:ea typeface="+mj-ea"/>
            </a:endParaRPr>
          </a:p>
        </p:txBody>
      </p:sp>
      <p:cxnSp>
        <p:nvCxnSpPr>
          <p:cNvPr id="14" name="直接连接符 7"/>
          <p:cNvCxnSpPr/>
          <p:nvPr/>
        </p:nvCxnSpPr>
        <p:spPr>
          <a:xfrm>
            <a:off x="6256867" y="1640418"/>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5" name="矩形标注 14"/>
          <p:cNvSpPr/>
          <p:nvPr/>
        </p:nvSpPr>
        <p:spPr>
          <a:xfrm>
            <a:off x="4610100" y="1680633"/>
            <a:ext cx="1439333" cy="508000"/>
          </a:xfrm>
          <a:prstGeom prst="wedgeRectCallout">
            <a:avLst>
              <a:gd name="adj1" fmla="val 782"/>
              <a:gd name="adj2" fmla="val 90562"/>
            </a:avLst>
          </a:prstGeom>
          <a:solidFill>
            <a:srgbClr val="66009B"/>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dirty="0">
                <a:solidFill>
                  <a:schemeClr val="bg1"/>
                </a:solidFill>
                <a:latin typeface="+mj-ea"/>
                <a:ea typeface="+mj-ea"/>
                <a:cs typeface="微软雅黑" panose="020B0503020204020204" pitchFamily="34" charset="-122"/>
              </a:rPr>
              <a:t>生产计划</a:t>
            </a:r>
          </a:p>
        </p:txBody>
      </p:sp>
      <p:sp>
        <p:nvSpPr>
          <p:cNvPr id="16" name="Line 58"/>
          <p:cNvSpPr/>
          <p:nvPr/>
        </p:nvSpPr>
        <p:spPr>
          <a:xfrm flipH="1">
            <a:off x="2129367" y="2770718"/>
            <a:ext cx="3147484" cy="1299633"/>
          </a:xfrm>
          <a:prstGeom prst="line">
            <a:avLst/>
          </a:prstGeom>
          <a:ln w="19050" cap="flat" cmpd="sng" algn="ctr">
            <a:solidFill>
              <a:schemeClr val="bg1"/>
            </a:solidFill>
            <a:prstDash val="dash"/>
            <a:round/>
            <a:headEnd type="none" w="med" len="med"/>
            <a:tailEnd type="triangle" w="med" len="med"/>
          </a:ln>
        </p:spPr>
        <p:style>
          <a:lnRef idx="0">
            <a:scrgbClr r="0" g="0" b="0"/>
          </a:lnRef>
          <a:fillRef idx="0">
            <a:scrgbClr r="0" g="0" b="0"/>
          </a:fillRef>
          <a:effectRef idx="0">
            <a:scrgbClr r="0" g="0" b="0"/>
          </a:effectRef>
          <a:fontRef idx="minor">
            <a:schemeClr val="tx1"/>
          </a:fontRef>
        </p:style>
        <p:txBody>
          <a:bodyPr/>
          <a:lstStyle/>
          <a:p>
            <a:endParaRPr lang="zh-CN" altLang="en-US">
              <a:solidFill>
                <a:schemeClr val="bg1"/>
              </a:solidFill>
              <a:latin typeface="+mj-ea"/>
              <a:ea typeface="+mj-ea"/>
            </a:endParaRPr>
          </a:p>
        </p:txBody>
      </p:sp>
      <p:sp>
        <p:nvSpPr>
          <p:cNvPr id="17" name="TextBox 8"/>
          <p:cNvSpPr txBox="1"/>
          <p:nvPr/>
        </p:nvSpPr>
        <p:spPr>
          <a:xfrm rot="21233561">
            <a:off x="3280843" y="3258927"/>
            <a:ext cx="1527941" cy="369310"/>
          </a:xfrm>
          <a:prstGeom prst="rect">
            <a:avLst/>
          </a:prstGeom>
          <a:noFill/>
          <a:scene3d>
            <a:camera prst="orthographicFront">
              <a:rot lat="1195241" lon="109017" rev="919146"/>
            </a:camera>
            <a:lightRig rig="threePt" dir="t"/>
          </a:scene3d>
        </p:spPr>
        <p:txBody>
          <a:bodyPr lIns="121899" tIns="60949" rIns="121899" bIns="60949">
            <a:spAutoFit/>
          </a:bodyPr>
          <a:lstStyle/>
          <a:p>
            <a:pPr defTabSz="1219170">
              <a:defRPr/>
            </a:pPr>
            <a:r>
              <a:rPr lang="zh-CN" altLang="en-US" sz="1600" dirty="0">
                <a:ln w="0"/>
                <a:solidFill>
                  <a:schemeClr val="bg1"/>
                </a:solidFill>
                <a:effectLst>
                  <a:outerShdw blurRad="38100" dist="25400" dir="5400000" algn="ctr" rotWithShape="0">
                    <a:srgbClr val="6E747A">
                      <a:alpha val="43000"/>
                    </a:srgbClr>
                  </a:outerShdw>
                </a:effectLst>
                <a:latin typeface="+mj-ea"/>
                <a:ea typeface="+mj-ea"/>
              </a:rPr>
              <a:t>不齐套</a:t>
            </a:r>
          </a:p>
        </p:txBody>
      </p:sp>
      <p:sp>
        <p:nvSpPr>
          <p:cNvPr id="18" name="矩形标注 17"/>
          <p:cNvSpPr/>
          <p:nvPr/>
        </p:nvSpPr>
        <p:spPr>
          <a:xfrm>
            <a:off x="2546351" y="1663700"/>
            <a:ext cx="1441451" cy="508000"/>
          </a:xfrm>
          <a:prstGeom prst="wedgeRectCallout">
            <a:avLst>
              <a:gd name="adj1" fmla="val 782"/>
              <a:gd name="adj2" fmla="val 90562"/>
            </a:avLst>
          </a:prstGeom>
          <a:solidFill>
            <a:srgbClr val="66009B"/>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dirty="0">
                <a:solidFill>
                  <a:schemeClr val="bg1"/>
                </a:solidFill>
                <a:latin typeface="+mj-ea"/>
                <a:ea typeface="+mj-ea"/>
                <a:cs typeface="微软雅黑" panose="020B0503020204020204" pitchFamily="34" charset="-122"/>
              </a:rPr>
              <a:t>生产计划</a:t>
            </a:r>
          </a:p>
        </p:txBody>
      </p:sp>
      <p:sp>
        <p:nvSpPr>
          <p:cNvPr id="31763" name="Title 37"/>
          <p:cNvSpPr>
            <a:spLocks noGrp="1"/>
          </p:cNvSpPr>
          <p:nvPr>
            <p:ph type="title" idx="4294967295"/>
          </p:nvPr>
        </p:nvSpPr>
        <p:spPr>
          <a:xfrm>
            <a:off x="1116013" y="204788"/>
            <a:ext cx="11075987" cy="520700"/>
          </a:xfrm>
          <a:prstGeom prst="rect">
            <a:avLst/>
          </a:prstGeom>
        </p:spPr>
        <p:txBody>
          <a:bodyPr vert="horz" wrap="square" lIns="121920" tIns="60960" rIns="121920" bIns="60960" anchor="ctr" anchorCtr="0">
            <a:normAutofit/>
          </a:bodyPr>
          <a:lstStyle/>
          <a:p>
            <a:pPr eaLnBrk="1" hangingPunct="1"/>
            <a:r>
              <a:rPr lang="zh-CN" altLang="en-US" dirty="0">
                <a:solidFill>
                  <a:schemeClr val="bg1"/>
                </a:solidFill>
                <a:latin typeface="+mj-ea"/>
              </a:rPr>
              <a:t>场景</a:t>
            </a:r>
            <a:r>
              <a:rPr lang="en-US" altLang="zh-CN" b="1" dirty="0">
                <a:solidFill>
                  <a:schemeClr val="bg1"/>
                </a:solidFill>
                <a:latin typeface="+mj-ea"/>
              </a:rPr>
              <a:t> #1: </a:t>
            </a:r>
            <a:r>
              <a:rPr lang="zh-CN" altLang="en-US" dirty="0">
                <a:solidFill>
                  <a:schemeClr val="bg1"/>
                </a:solidFill>
                <a:latin typeface="+mj-ea"/>
              </a:rPr>
              <a:t>挑战</a:t>
            </a:r>
            <a:r>
              <a:rPr lang="en-US" altLang="zh-CN" b="1" dirty="0">
                <a:solidFill>
                  <a:schemeClr val="bg1"/>
                </a:solidFill>
                <a:latin typeface="+mj-ea"/>
              </a:rPr>
              <a:t> D</a:t>
            </a:r>
            <a:r>
              <a:rPr lang="zh-CN" altLang="en-US" b="1" dirty="0">
                <a:solidFill>
                  <a:schemeClr val="bg1"/>
                </a:solidFill>
                <a:latin typeface="+mj-ea"/>
              </a:rPr>
              <a:t>、第</a:t>
            </a:r>
            <a:r>
              <a:rPr lang="en-US" altLang="zh-CN" b="1" dirty="0">
                <a:solidFill>
                  <a:schemeClr val="bg1"/>
                </a:solidFill>
                <a:latin typeface="+mj-ea"/>
              </a:rPr>
              <a:t>1</a:t>
            </a:r>
            <a:r>
              <a:rPr lang="zh-CN" altLang="en-US" b="1" dirty="0">
                <a:solidFill>
                  <a:schemeClr val="bg1"/>
                </a:solidFill>
                <a:latin typeface="+mj-ea"/>
              </a:rPr>
              <a:t>天</a:t>
            </a:r>
            <a:endParaRPr lang="en-US" altLang="zh-CN" b="1" dirty="0">
              <a:solidFill>
                <a:schemeClr val="bg1"/>
              </a:solidFill>
              <a:latin typeface="+mj-ea"/>
            </a:endParaRPr>
          </a:p>
        </p:txBody>
      </p:sp>
      <p:sp>
        <p:nvSpPr>
          <p:cNvPr id="20" name="圆角矩形 19"/>
          <p:cNvSpPr/>
          <p:nvPr/>
        </p:nvSpPr>
        <p:spPr>
          <a:xfrm>
            <a:off x="8266851" y="812179"/>
            <a:ext cx="3835400" cy="2567517"/>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lvl1pPr defTabSz="913130">
              <a:defRPr kumimoji="1" sz="2400">
                <a:solidFill>
                  <a:schemeClr val="tx1"/>
                </a:solidFill>
                <a:latin typeface="Calibri" panose="020F0502020204030204" pitchFamily="34" charset="0"/>
                <a:ea typeface="宋体" panose="02010600030101010101" pitchFamily="2" charset="-122"/>
              </a:defRPr>
            </a:lvl1pPr>
            <a:lvl2pPr marL="742950" indent="-285750" defTabSz="913130">
              <a:defRPr kumimoji="1" sz="2400">
                <a:solidFill>
                  <a:schemeClr val="tx1"/>
                </a:solidFill>
                <a:latin typeface="Calibri" panose="020F0502020204030204" pitchFamily="34" charset="0"/>
                <a:ea typeface="宋体" panose="02010600030101010101" pitchFamily="2" charset="-122"/>
              </a:defRPr>
            </a:lvl2pPr>
            <a:lvl3pPr marL="1143000" indent="-228600" defTabSz="913130">
              <a:defRPr kumimoji="1" sz="2400">
                <a:solidFill>
                  <a:schemeClr val="tx1"/>
                </a:solidFill>
                <a:latin typeface="Calibri" panose="020F0502020204030204" pitchFamily="34" charset="0"/>
                <a:ea typeface="宋体" panose="02010600030101010101" pitchFamily="2" charset="-122"/>
              </a:defRPr>
            </a:lvl3pPr>
            <a:lvl4pPr marL="1600200" indent="-228600" defTabSz="913130">
              <a:defRPr kumimoji="1" sz="2400">
                <a:solidFill>
                  <a:schemeClr val="tx1"/>
                </a:solidFill>
                <a:latin typeface="Calibri" panose="020F0502020204030204" pitchFamily="34" charset="0"/>
                <a:ea typeface="宋体" panose="02010600030101010101" pitchFamily="2" charset="-122"/>
              </a:defRPr>
            </a:lvl4pPr>
            <a:lvl5pPr marL="2057400" indent="-228600" defTabSz="913130">
              <a:defRPr kumimoji="1" sz="2400">
                <a:solidFill>
                  <a:schemeClr val="tx1"/>
                </a:solidFill>
                <a:latin typeface="Calibri" panose="020F0502020204030204" pitchFamily="34" charset="0"/>
                <a:ea typeface="宋体" panose="02010600030101010101" pitchFamily="2" charset="-122"/>
              </a:defRPr>
            </a:lvl5pPr>
            <a:lvl6pPr marL="25146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6pPr>
            <a:lvl7pPr marL="29718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7pPr>
            <a:lvl8pPr marL="34290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8pPr>
            <a:lvl9pPr marL="38862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9pPr>
          </a:lstStyle>
          <a:p>
            <a:pPr defTabSz="1217476" fontAlgn="base">
              <a:spcBef>
                <a:spcPct val="0"/>
              </a:spcBef>
              <a:spcAft>
                <a:spcPct val="0"/>
              </a:spcAft>
              <a:defRPr/>
            </a:pPr>
            <a:r>
              <a:rPr kumimoji="0" lang="zh-CN" altLang="en-US" sz="1600" dirty="0">
                <a:solidFill>
                  <a:schemeClr val="bg1"/>
                </a:solidFill>
                <a:latin typeface="+mj-ea"/>
                <a:ea typeface="+mj-ea"/>
              </a:rPr>
              <a:t>第一天生产计划：</a:t>
            </a:r>
            <a:endParaRPr kumimoji="0" lang="en-US" altLang="zh-CN" sz="1600" dirty="0">
              <a:solidFill>
                <a:schemeClr val="bg1"/>
              </a:solidFill>
              <a:latin typeface="+mj-ea"/>
              <a:ea typeface="+mj-ea"/>
            </a:endParaRPr>
          </a:p>
          <a:p>
            <a:pPr marL="285750" indent="-285750"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需求</a:t>
            </a:r>
            <a:r>
              <a:rPr kumimoji="0" lang="en-US" altLang="zh-CN" sz="1600" dirty="0">
                <a:solidFill>
                  <a:schemeClr val="bg1"/>
                </a:solidFill>
                <a:latin typeface="+mj-ea"/>
                <a:ea typeface="+mj-ea"/>
              </a:rPr>
              <a:t>1</a:t>
            </a:r>
            <a:r>
              <a:rPr kumimoji="0" lang="zh-CN" altLang="en-US" sz="1600" dirty="0">
                <a:solidFill>
                  <a:schemeClr val="bg1"/>
                </a:solidFill>
                <a:latin typeface="+mj-ea"/>
                <a:ea typeface="+mj-ea"/>
              </a:rPr>
              <a:t>驱动工单下达</a:t>
            </a:r>
            <a:endParaRPr kumimoji="0" lang="en-US" altLang="zh-CN" sz="1600" dirty="0">
              <a:solidFill>
                <a:schemeClr val="bg1"/>
              </a:solidFill>
              <a:latin typeface="+mj-ea"/>
              <a:ea typeface="+mj-ea"/>
            </a:endParaRPr>
          </a:p>
          <a:p>
            <a:pPr marL="285750" indent="-285750"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库存</a:t>
            </a:r>
            <a:r>
              <a:rPr kumimoji="0" lang="en-US" altLang="zh-CN" sz="1600" dirty="0">
                <a:solidFill>
                  <a:schemeClr val="bg1"/>
                </a:solidFill>
                <a:latin typeface="+mj-ea"/>
                <a:ea typeface="+mj-ea"/>
              </a:rPr>
              <a:t>A</a:t>
            </a:r>
            <a:r>
              <a:rPr kumimoji="0" lang="zh-CN" altLang="en-US" sz="1600" dirty="0">
                <a:solidFill>
                  <a:schemeClr val="bg1"/>
                </a:solidFill>
                <a:latin typeface="+mj-ea"/>
                <a:ea typeface="+mj-ea"/>
              </a:rPr>
              <a:t>和库存</a:t>
            </a:r>
            <a:r>
              <a:rPr kumimoji="0" lang="en-US" altLang="zh-CN" sz="1600" dirty="0">
                <a:solidFill>
                  <a:schemeClr val="bg1"/>
                </a:solidFill>
                <a:latin typeface="+mj-ea"/>
                <a:ea typeface="+mj-ea"/>
              </a:rPr>
              <a:t>B</a:t>
            </a:r>
            <a:r>
              <a:rPr kumimoji="0" lang="zh-CN" altLang="en-US" sz="1600" dirty="0">
                <a:solidFill>
                  <a:schemeClr val="bg1"/>
                </a:solidFill>
                <a:latin typeface="+mj-ea"/>
                <a:ea typeface="+mj-ea"/>
              </a:rPr>
              <a:t>分别</a:t>
            </a:r>
            <a:r>
              <a:rPr kumimoji="0" lang="en-US" altLang="zh-CN" sz="1600" dirty="0">
                <a:solidFill>
                  <a:schemeClr val="bg1"/>
                </a:solidFill>
                <a:latin typeface="+mj-ea"/>
                <a:ea typeface="+mj-ea"/>
              </a:rPr>
              <a:t>pegging</a:t>
            </a:r>
            <a:r>
              <a:rPr kumimoji="0" lang="zh-CN" altLang="en-US" sz="1600" dirty="0">
                <a:solidFill>
                  <a:schemeClr val="bg1"/>
                </a:solidFill>
                <a:latin typeface="+mj-ea"/>
                <a:ea typeface="+mj-ea"/>
              </a:rPr>
              <a:t>并消耗</a:t>
            </a:r>
            <a:r>
              <a:rPr kumimoji="0" lang="en-US" altLang="zh-CN" sz="1600" dirty="0">
                <a:solidFill>
                  <a:schemeClr val="bg1"/>
                </a:solidFill>
                <a:latin typeface="+mj-ea"/>
                <a:ea typeface="+mj-ea"/>
              </a:rPr>
              <a:t>100B </a:t>
            </a:r>
          </a:p>
          <a:p>
            <a:pPr marL="285750" indent="-285750"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需求</a:t>
            </a:r>
            <a:r>
              <a:rPr kumimoji="0" lang="en-US" altLang="zh-CN" sz="1600" dirty="0">
                <a:solidFill>
                  <a:schemeClr val="bg1"/>
                </a:solidFill>
                <a:latin typeface="+mj-ea"/>
                <a:ea typeface="+mj-ea"/>
              </a:rPr>
              <a:t>2</a:t>
            </a:r>
            <a:r>
              <a:rPr kumimoji="0" lang="zh-CN" altLang="en-US" sz="1600" dirty="0">
                <a:solidFill>
                  <a:schemeClr val="bg1"/>
                </a:solidFill>
                <a:latin typeface="+mj-ea"/>
                <a:ea typeface="+mj-ea"/>
              </a:rPr>
              <a:t>缺料 </a:t>
            </a:r>
            <a:r>
              <a:rPr kumimoji="0" lang="en-US" altLang="zh-CN" sz="1600" dirty="0">
                <a:solidFill>
                  <a:schemeClr val="bg1"/>
                </a:solidFill>
                <a:latin typeface="+mj-ea"/>
                <a:ea typeface="+mj-ea"/>
              </a:rPr>
              <a:t>C 100</a:t>
            </a:r>
          </a:p>
          <a:p>
            <a:pPr marL="285750" indent="-285750"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发现第三天有计划到货</a:t>
            </a:r>
            <a:r>
              <a:rPr kumimoji="0" lang="en-US" altLang="zh-CN" sz="1600" dirty="0">
                <a:solidFill>
                  <a:schemeClr val="bg1"/>
                </a:solidFill>
                <a:latin typeface="+mj-ea"/>
                <a:ea typeface="+mj-ea"/>
              </a:rPr>
              <a:t>C 100</a:t>
            </a:r>
          </a:p>
          <a:p>
            <a:pPr marL="285750" indent="-285750"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需求</a:t>
            </a:r>
            <a:r>
              <a:rPr kumimoji="0" lang="en-US" altLang="zh-CN" sz="1600" dirty="0">
                <a:solidFill>
                  <a:schemeClr val="bg1"/>
                </a:solidFill>
                <a:latin typeface="+mj-ea"/>
                <a:ea typeface="+mj-ea"/>
              </a:rPr>
              <a:t>2</a:t>
            </a:r>
            <a:r>
              <a:rPr kumimoji="0" lang="zh-CN" altLang="en-US" sz="1600" dirty="0">
                <a:solidFill>
                  <a:schemeClr val="bg1"/>
                </a:solidFill>
                <a:latin typeface="+mj-ea"/>
                <a:ea typeface="+mj-ea"/>
              </a:rPr>
              <a:t>可以在第</a:t>
            </a:r>
            <a:r>
              <a:rPr kumimoji="0" lang="en-US" altLang="zh-CN" sz="1600" dirty="0">
                <a:solidFill>
                  <a:schemeClr val="bg1"/>
                </a:solidFill>
                <a:latin typeface="+mj-ea"/>
                <a:ea typeface="+mj-ea"/>
              </a:rPr>
              <a:t>3</a:t>
            </a:r>
            <a:r>
              <a:rPr kumimoji="0" lang="zh-CN" altLang="en-US" sz="1600" dirty="0">
                <a:solidFill>
                  <a:schemeClr val="bg1"/>
                </a:solidFill>
                <a:latin typeface="+mj-ea"/>
                <a:ea typeface="+mj-ea"/>
              </a:rPr>
              <a:t>天发货</a:t>
            </a:r>
            <a:endParaRPr kumimoji="0" lang="en-US" altLang="zh-CN" sz="1600" dirty="0">
              <a:solidFill>
                <a:schemeClr val="bg1"/>
              </a:solidFill>
              <a:latin typeface="+mj-ea"/>
              <a:ea typeface="+mj-ea"/>
            </a:endParaRPr>
          </a:p>
        </p:txBody>
      </p:sp>
      <p:sp>
        <p:nvSpPr>
          <p:cNvPr id="31765" name="矩形 26"/>
          <p:cNvSpPr/>
          <p:nvPr/>
        </p:nvSpPr>
        <p:spPr>
          <a:xfrm>
            <a:off x="4459818" y="4411134"/>
            <a:ext cx="1672167"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chemeClr val="bg1"/>
                </a:solidFill>
                <a:latin typeface="+mj-ea"/>
                <a:ea typeface="+mj-ea"/>
              </a:rPr>
              <a:t>计划到货 </a:t>
            </a:r>
            <a:r>
              <a:rPr lang="en-US" altLang="zh-CN" sz="1600" dirty="0">
                <a:solidFill>
                  <a:schemeClr val="bg1"/>
                </a:solidFill>
                <a:latin typeface="+mj-ea"/>
                <a:ea typeface="+mj-ea"/>
              </a:rPr>
              <a:t>C 100</a:t>
            </a:r>
          </a:p>
        </p:txBody>
      </p:sp>
      <p:cxnSp>
        <p:nvCxnSpPr>
          <p:cNvPr id="22" name="直接箭头连接符 29"/>
          <p:cNvCxnSpPr>
            <a:stCxn id="31765" idx="0"/>
          </p:cNvCxnSpPr>
          <p:nvPr/>
        </p:nvCxnSpPr>
        <p:spPr>
          <a:xfrm flipH="1" flipV="1">
            <a:off x="5276851" y="3602567"/>
            <a:ext cx="19051" cy="80856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3" name="TextBox 4"/>
          <p:cNvSpPr txBox="1"/>
          <p:nvPr/>
        </p:nvSpPr>
        <p:spPr>
          <a:xfrm>
            <a:off x="4301067" y="4070351"/>
            <a:ext cx="1955800" cy="338554"/>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en-US" altLang="zh-CN" sz="1600" dirty="0">
                <a:solidFill>
                  <a:schemeClr val="bg1"/>
                </a:solidFill>
                <a:latin typeface="+mj-ea"/>
                <a:ea typeface="+mj-ea"/>
                <a:cs typeface="Arial" panose="020B0604020202020204" pitchFamily="34" charset="0"/>
              </a:rPr>
              <a:t>Not accessible</a:t>
            </a:r>
            <a:endParaRPr lang="zh-CN" altLang="en-US" sz="2400" dirty="0">
              <a:solidFill>
                <a:schemeClr val="bg1"/>
              </a:solidFill>
              <a:latin typeface="+mj-ea"/>
              <a:ea typeface="+mj-ea"/>
            </a:endParaRPr>
          </a:p>
        </p:txBody>
      </p:sp>
      <p:sp>
        <p:nvSpPr>
          <p:cNvPr id="24" name="Line 58"/>
          <p:cNvSpPr/>
          <p:nvPr/>
        </p:nvSpPr>
        <p:spPr>
          <a:xfrm flipH="1">
            <a:off x="5105400" y="2770718"/>
            <a:ext cx="171451" cy="1638300"/>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a:lstStyle/>
          <a:p>
            <a:endParaRPr lang="zh-CN" altLang="en-US">
              <a:solidFill>
                <a:schemeClr val="bg1"/>
              </a:solidFill>
              <a:latin typeface="+mj-ea"/>
              <a:ea typeface="+mj-ea"/>
            </a:endParaRPr>
          </a:p>
        </p:txBody>
      </p:sp>
      <p:cxnSp>
        <p:nvCxnSpPr>
          <p:cNvPr id="26" name="直接连接符 30"/>
          <p:cNvCxnSpPr/>
          <p:nvPr/>
        </p:nvCxnSpPr>
        <p:spPr>
          <a:xfrm>
            <a:off x="2135717" y="1739900"/>
            <a:ext cx="0" cy="1862667"/>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9" name="直接连接符 7"/>
          <p:cNvCxnSpPr/>
          <p:nvPr/>
        </p:nvCxnSpPr>
        <p:spPr>
          <a:xfrm>
            <a:off x="4301067" y="1640418"/>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0" name="直接连接符 7"/>
          <p:cNvCxnSpPr/>
          <p:nvPr/>
        </p:nvCxnSpPr>
        <p:spPr>
          <a:xfrm>
            <a:off x="8108951" y="1631951"/>
            <a:ext cx="0" cy="4013200"/>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1776" name="矩形 30"/>
          <p:cNvSpPr/>
          <p:nvPr/>
        </p:nvSpPr>
        <p:spPr>
          <a:xfrm>
            <a:off x="6290734" y="4411134"/>
            <a:ext cx="1818217" cy="634020"/>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chemeClr val="bg1"/>
                </a:solidFill>
                <a:latin typeface="+mj-ea"/>
                <a:ea typeface="+mj-ea"/>
              </a:rPr>
              <a:t>计划到货 </a:t>
            </a:r>
            <a:r>
              <a:rPr lang="en-US" altLang="zh-CN" sz="1600" dirty="0">
                <a:solidFill>
                  <a:schemeClr val="bg1"/>
                </a:solidFill>
                <a:latin typeface="+mj-ea"/>
                <a:ea typeface="+mj-ea"/>
              </a:rPr>
              <a:t>A</a:t>
            </a:r>
          </a:p>
          <a:p>
            <a:pPr marL="0" indent="0" algn="ctr" defTabSz="1217476" eaLnBrk="1" hangingPunct="1">
              <a:buNone/>
            </a:pPr>
            <a:r>
              <a:rPr lang="en-US" altLang="zh-CN" sz="1600" dirty="0">
                <a:solidFill>
                  <a:schemeClr val="bg1"/>
                </a:solidFill>
                <a:latin typeface="+mj-ea"/>
                <a:ea typeface="+mj-ea"/>
              </a:rPr>
              <a:t>100</a:t>
            </a:r>
            <a:endParaRPr lang="zh-CN" altLang="en-US" sz="1600" dirty="0">
              <a:solidFill>
                <a:schemeClr val="bg1"/>
              </a:solidFill>
              <a:latin typeface="+mj-ea"/>
              <a:ea typeface="+mj-ea"/>
            </a:endParaRPr>
          </a:p>
        </p:txBody>
      </p:sp>
      <p:cxnSp>
        <p:nvCxnSpPr>
          <p:cNvPr id="33" name="直接箭头连接符 29"/>
          <p:cNvCxnSpPr/>
          <p:nvPr/>
        </p:nvCxnSpPr>
        <p:spPr>
          <a:xfrm flipV="1">
            <a:off x="7124700" y="3642785"/>
            <a:ext cx="0" cy="80221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A4AB85A5-9F00-4AB0-E92E-6CE0996B4DD7}"/>
              </a:ext>
            </a:extLst>
          </p:cNvPr>
          <p:cNvSpPr txBox="1"/>
          <p:nvPr/>
        </p:nvSpPr>
        <p:spPr>
          <a:xfrm>
            <a:off x="10160002" y="3472935"/>
            <a:ext cx="1302564" cy="338554"/>
          </a:xfrm>
          <a:prstGeom prst="rect">
            <a:avLst/>
          </a:prstGeom>
          <a:noFill/>
        </p:spPr>
        <p:txBody>
          <a:bodyPr wrap="square" rtlCol="0">
            <a:spAutoFit/>
          </a:bodyPr>
          <a:lstStyle/>
          <a:p>
            <a:r>
              <a:rPr lang="en-US" altLang="zh-CN" sz="1600" dirty="0">
                <a:solidFill>
                  <a:schemeClr val="bg1"/>
                </a:solidFill>
                <a:latin typeface="+mj-ea"/>
                <a:ea typeface="+mj-ea"/>
              </a:rPr>
              <a:t>Time</a:t>
            </a:r>
            <a:endParaRPr lang="zh-CN" altLang="en-US" sz="1600" dirty="0">
              <a:solidFill>
                <a:schemeClr val="bg1"/>
              </a:solidFill>
              <a:latin typeface="+mj-ea"/>
              <a:ea typeface="+mj-ea"/>
            </a:endParaRPr>
          </a:p>
        </p:txBody>
      </p:sp>
      <p:sp>
        <p:nvSpPr>
          <p:cNvPr id="7" name="文本框 1">
            <a:extLst>
              <a:ext uri="{FF2B5EF4-FFF2-40B4-BE49-F238E27FC236}">
                <a16:creationId xmlns:a16="http://schemas.microsoft.com/office/drawing/2014/main" id="{E1F4D09C-7065-7FDA-03A6-57C5E7E893A0}"/>
              </a:ext>
            </a:extLst>
          </p:cNvPr>
          <p:cNvSpPr txBox="1"/>
          <p:nvPr/>
        </p:nvSpPr>
        <p:spPr>
          <a:xfrm>
            <a:off x="858310" y="999216"/>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1</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8" name="文本框 1">
            <a:extLst>
              <a:ext uri="{FF2B5EF4-FFF2-40B4-BE49-F238E27FC236}">
                <a16:creationId xmlns:a16="http://schemas.microsoft.com/office/drawing/2014/main" id="{C7E5B238-CBE5-0821-512D-442837EB4136}"/>
              </a:ext>
            </a:extLst>
          </p:cNvPr>
          <p:cNvSpPr txBox="1"/>
          <p:nvPr/>
        </p:nvSpPr>
        <p:spPr>
          <a:xfrm>
            <a:off x="2509310" y="980167"/>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2</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10" name="文本框 1">
            <a:extLst>
              <a:ext uri="{FF2B5EF4-FFF2-40B4-BE49-F238E27FC236}">
                <a16:creationId xmlns:a16="http://schemas.microsoft.com/office/drawing/2014/main" id="{BCA1168E-891C-029E-EFCA-8C1A229811D3}"/>
              </a:ext>
            </a:extLst>
          </p:cNvPr>
          <p:cNvSpPr txBox="1"/>
          <p:nvPr/>
        </p:nvSpPr>
        <p:spPr>
          <a:xfrm>
            <a:off x="4411133" y="987426"/>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3</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19" name="文本框 1">
            <a:extLst>
              <a:ext uri="{FF2B5EF4-FFF2-40B4-BE49-F238E27FC236}">
                <a16:creationId xmlns:a16="http://schemas.microsoft.com/office/drawing/2014/main" id="{3AD6163F-5AD9-65B3-1CA1-B75FB8393332}"/>
              </a:ext>
            </a:extLst>
          </p:cNvPr>
          <p:cNvSpPr txBox="1"/>
          <p:nvPr/>
        </p:nvSpPr>
        <p:spPr>
          <a:xfrm>
            <a:off x="6105734" y="1010072"/>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4</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Tree>
    <p:custDataLst>
      <p:tags r:id="rId1"/>
    </p:custData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23" presetClass="entr" presetSubtype="16"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p:cTn id="12" dur="500" fill="hold"/>
                                        <p:tgtEl>
                                          <p:spTgt spid="16"/>
                                        </p:tgtEl>
                                        <p:attrNameLst>
                                          <p:attrName>ppt_w</p:attrName>
                                        </p:attrNameLst>
                                      </p:cBhvr>
                                      <p:tavLst>
                                        <p:tav tm="0">
                                          <p:val>
                                            <p:fltVal val="0"/>
                                          </p:val>
                                        </p:tav>
                                        <p:tav tm="100000">
                                          <p:val>
                                            <p:strVal val="#ppt_w"/>
                                          </p:val>
                                        </p:tav>
                                      </p:tavLst>
                                    </p:anim>
                                    <p:anim calcmode="lin" valueType="num">
                                      <p:cBhvr>
                                        <p:cTn id="13" dur="500" fill="hold"/>
                                        <p:tgtEl>
                                          <p:spTgt spid="16"/>
                                        </p:tgtEl>
                                        <p:attrNameLst>
                                          <p:attrName>ppt_h</p:attrName>
                                        </p:attrNameLst>
                                      </p:cBhvr>
                                      <p:tavLst>
                                        <p:tav tm="0">
                                          <p:val>
                                            <p:fltVal val="0"/>
                                          </p:val>
                                        </p:tav>
                                        <p:tav tm="100000">
                                          <p:val>
                                            <p:strVal val="#ppt_h"/>
                                          </p:val>
                                        </p:tav>
                                      </p:tavLst>
                                    </p:anim>
                                  </p:childTnLst>
                                </p:cTn>
                              </p:par>
                            </p:childTnLst>
                          </p:cTn>
                        </p:par>
                        <p:par>
                          <p:cTn id="14" fill="hold">
                            <p:stCondLst>
                              <p:cond delay="500"/>
                            </p:stCondLst>
                            <p:childTnLst>
                              <p:par>
                                <p:cTn id="15" presetID="22" presetClass="entr" presetSubtype="4"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wipe(down)">
                                      <p:cBhvr>
                                        <p:cTn id="17" dur="500"/>
                                        <p:tgtEl>
                                          <p:spTgt spid="17"/>
                                        </p:tgtEl>
                                      </p:cBhvr>
                                    </p:animEffect>
                                  </p:childTnLst>
                                </p:cTn>
                              </p:par>
                              <p:par>
                                <p:cTn id="18" presetID="23" presetClass="entr" presetSubtype="16" fill="hold" nodeType="withEffect">
                                  <p:stCondLst>
                                    <p:cond delay="0"/>
                                  </p:stCondLst>
                                  <p:childTnLst>
                                    <p:set>
                                      <p:cBhvr>
                                        <p:cTn id="19" dur="1" fill="hold">
                                          <p:stCondLst>
                                            <p:cond delay="0"/>
                                          </p:stCondLst>
                                        </p:cTn>
                                        <p:tgtEl>
                                          <p:spTgt spid="24"/>
                                        </p:tgtEl>
                                        <p:attrNameLst>
                                          <p:attrName>style.visibility</p:attrName>
                                        </p:attrNameLst>
                                      </p:cBhvr>
                                      <p:to>
                                        <p:strVal val="visible"/>
                                      </p:to>
                                    </p:set>
                                    <p:anim calcmode="lin" valueType="num">
                                      <p:cBhvr>
                                        <p:cTn id="20" dur="500" fill="hold"/>
                                        <p:tgtEl>
                                          <p:spTgt spid="24"/>
                                        </p:tgtEl>
                                        <p:attrNameLst>
                                          <p:attrName>ppt_w</p:attrName>
                                        </p:attrNameLst>
                                      </p:cBhvr>
                                      <p:tavLst>
                                        <p:tav tm="0">
                                          <p:val>
                                            <p:fltVal val="0"/>
                                          </p:val>
                                        </p:tav>
                                        <p:tav tm="100000">
                                          <p:val>
                                            <p:strVal val="#ppt_w"/>
                                          </p:val>
                                        </p:tav>
                                      </p:tavLst>
                                    </p:anim>
                                    <p:anim calcmode="lin" valueType="num">
                                      <p:cBhvr>
                                        <p:cTn id="21" dur="500" fill="hold"/>
                                        <p:tgtEl>
                                          <p:spTgt spid="24"/>
                                        </p:tgtEl>
                                        <p:attrNameLst>
                                          <p:attrName>ppt_h</p:attrName>
                                        </p:attrNameLst>
                                      </p:cBhvr>
                                      <p:tavLst>
                                        <p:tav tm="0">
                                          <p:val>
                                            <p:fltVal val="0"/>
                                          </p:val>
                                        </p:tav>
                                        <p:tav tm="100000">
                                          <p:val>
                                            <p:strVal val="#ppt_h"/>
                                          </p:val>
                                        </p:tav>
                                      </p:tavLst>
                                    </p:anim>
                                  </p:childTnLst>
                                </p:cTn>
                              </p:par>
                              <p:par>
                                <p:cTn id="22" presetID="10" presetClass="entr" presetSubtype="0" fill="hold" grpId="0" nodeType="with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fade">
                                      <p:cBhvr>
                                        <p:cTn id="24" dur="500"/>
                                        <p:tgtEl>
                                          <p:spTgt spid="23"/>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500"/>
                                        <p:tgtEl>
                                          <p:spTgt spid="18"/>
                                        </p:tgtEl>
                                      </p:cBhvr>
                                    </p:animEffect>
                                  </p:childTnLst>
                                </p:cTn>
                              </p:par>
                              <p:par>
                                <p:cTn id="30" presetID="23" presetClass="entr" presetSubtype="16" fill="hold" nodeType="with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p:cTn id="32" dur="500" fill="hold"/>
                                        <p:tgtEl>
                                          <p:spTgt spid="12"/>
                                        </p:tgtEl>
                                        <p:attrNameLst>
                                          <p:attrName>ppt_w</p:attrName>
                                        </p:attrNameLst>
                                      </p:cBhvr>
                                      <p:tavLst>
                                        <p:tav tm="0">
                                          <p:val>
                                            <p:fltVal val="0"/>
                                          </p:val>
                                        </p:tav>
                                        <p:tav tm="100000">
                                          <p:val>
                                            <p:strVal val="#ppt_w"/>
                                          </p:val>
                                        </p:tav>
                                      </p:tavLst>
                                    </p:anim>
                                    <p:anim calcmode="lin" valueType="num">
                                      <p:cBhvr>
                                        <p:cTn id="33" dur="500" fill="hold"/>
                                        <p:tgtEl>
                                          <p:spTgt spid="12"/>
                                        </p:tgtEl>
                                        <p:attrNameLst>
                                          <p:attrName>ppt_h</p:attrName>
                                        </p:attrNameLst>
                                      </p:cBhvr>
                                      <p:tavLst>
                                        <p:tav tm="0">
                                          <p:val>
                                            <p:fltVal val="0"/>
                                          </p:val>
                                        </p:tav>
                                        <p:tav tm="100000">
                                          <p:val>
                                            <p:strVal val="#ppt_h"/>
                                          </p:val>
                                        </p:tav>
                                      </p:tavLst>
                                    </p:anim>
                                  </p:childTnLst>
                                </p:cTn>
                              </p:par>
                              <p:par>
                                <p:cTn id="34" presetID="23" presetClass="entr" presetSubtype="16" fill="hold" nodeType="withEffect">
                                  <p:stCondLst>
                                    <p:cond delay="0"/>
                                  </p:stCondLst>
                                  <p:childTnLst>
                                    <p:set>
                                      <p:cBhvr>
                                        <p:cTn id="35" dur="1" fill="hold">
                                          <p:stCondLst>
                                            <p:cond delay="0"/>
                                          </p:stCondLst>
                                        </p:cTn>
                                        <p:tgtEl>
                                          <p:spTgt spid="13"/>
                                        </p:tgtEl>
                                        <p:attrNameLst>
                                          <p:attrName>style.visibility</p:attrName>
                                        </p:attrNameLst>
                                      </p:cBhvr>
                                      <p:to>
                                        <p:strVal val="visible"/>
                                      </p:to>
                                    </p:set>
                                    <p:anim calcmode="lin" valueType="num">
                                      <p:cBhvr>
                                        <p:cTn id="36" dur="500" fill="hold"/>
                                        <p:tgtEl>
                                          <p:spTgt spid="13"/>
                                        </p:tgtEl>
                                        <p:attrNameLst>
                                          <p:attrName>ppt_w</p:attrName>
                                        </p:attrNameLst>
                                      </p:cBhvr>
                                      <p:tavLst>
                                        <p:tav tm="0">
                                          <p:val>
                                            <p:fltVal val="0"/>
                                          </p:val>
                                        </p:tav>
                                        <p:tav tm="100000">
                                          <p:val>
                                            <p:strVal val="#ppt_w"/>
                                          </p:val>
                                        </p:tav>
                                      </p:tavLst>
                                    </p:anim>
                                    <p:anim calcmode="lin" valueType="num">
                                      <p:cBhvr>
                                        <p:cTn id="37" dur="500" fill="hold"/>
                                        <p:tgtEl>
                                          <p:spTgt spid="13"/>
                                        </p:tgtEl>
                                        <p:attrNameLst>
                                          <p:attrName>ppt_h</p:attrName>
                                        </p:attrNameLst>
                                      </p:cBhvr>
                                      <p:tavLst>
                                        <p:tav tm="0">
                                          <p:val>
                                            <p:fltVal val="0"/>
                                          </p:val>
                                        </p:tav>
                                        <p:tav tm="100000">
                                          <p:val>
                                            <p:strVal val="#ppt_h"/>
                                          </p:val>
                                        </p:tav>
                                      </p:tavLst>
                                    </p:anim>
                                  </p:childTnLst>
                                </p:cTn>
                              </p:par>
                            </p:childTnLst>
                          </p:cTn>
                        </p:par>
                      </p:childTnLst>
                    </p:cTn>
                  </p:par>
                  <p:par>
                    <p:cTn id="38" fill="hold">
                      <p:stCondLst>
                        <p:cond delay="indefinite"/>
                      </p:stCondLst>
                      <p:childTnLst>
                        <p:par>
                          <p:cTn id="39" fill="hold">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blinds(horizontal)">
                                      <p:cBhvr>
                                        <p:cTn id="4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8" grpId="0" animBg="1"/>
      <p:bldP spid="20" grpId="0"/>
      <p:bldP spid="23"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直接箭头连接符 6"/>
          <p:cNvCxnSpPr/>
          <p:nvPr/>
        </p:nvCxnSpPr>
        <p:spPr>
          <a:xfrm>
            <a:off x="1426634" y="3589867"/>
            <a:ext cx="9334500" cy="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3" name="直接箭头连接符 13"/>
          <p:cNvCxnSpPr/>
          <p:nvPr/>
        </p:nvCxnSpPr>
        <p:spPr>
          <a:xfrm>
            <a:off x="5600701" y="2711452"/>
            <a:ext cx="6351" cy="87841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4" name="直接箭头连接符 15"/>
          <p:cNvCxnSpPr/>
          <p:nvPr/>
        </p:nvCxnSpPr>
        <p:spPr>
          <a:xfrm>
            <a:off x="7084484" y="2711452"/>
            <a:ext cx="0" cy="87841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23"/>
          <p:cNvCxnSpPr/>
          <p:nvPr/>
        </p:nvCxnSpPr>
        <p:spPr>
          <a:xfrm flipV="1">
            <a:off x="3314700" y="3589867"/>
            <a:ext cx="0" cy="67310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35"/>
          <p:cNvCxnSpPr/>
          <p:nvPr/>
        </p:nvCxnSpPr>
        <p:spPr>
          <a:xfrm flipV="1">
            <a:off x="3314700" y="4466167"/>
            <a:ext cx="0" cy="670984"/>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32775" name="矩形 27"/>
          <p:cNvSpPr/>
          <p:nvPr/>
        </p:nvSpPr>
        <p:spPr>
          <a:xfrm>
            <a:off x="4940300" y="2328334"/>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endParaRPr lang="zh-CN" altLang="en-US" sz="1600" dirty="0">
              <a:solidFill>
                <a:schemeClr val="bg1"/>
              </a:solidFill>
              <a:latin typeface="+mj-ea"/>
              <a:ea typeface="+mj-ea"/>
            </a:endParaRPr>
          </a:p>
        </p:txBody>
      </p:sp>
      <p:sp>
        <p:nvSpPr>
          <p:cNvPr id="32776" name="矩形 38"/>
          <p:cNvSpPr/>
          <p:nvPr/>
        </p:nvSpPr>
        <p:spPr>
          <a:xfrm>
            <a:off x="6453718" y="2328334"/>
            <a:ext cx="1439333" cy="369310"/>
          </a:xfrm>
          <a:prstGeom prst="rect">
            <a:avLst/>
          </a:prstGeom>
          <a:solidFill>
            <a:schemeClr val="accent1"/>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需求</a:t>
            </a:r>
            <a:r>
              <a:rPr lang="en-US" altLang="zh-CN" sz="1600" dirty="0">
                <a:solidFill>
                  <a:schemeClr val="bg1"/>
                </a:solidFill>
                <a:latin typeface="+mj-ea"/>
                <a:ea typeface="+mj-ea"/>
              </a:rPr>
              <a:t>3</a:t>
            </a:r>
            <a:endParaRPr lang="zh-CN" altLang="en-US" sz="1600" dirty="0">
              <a:solidFill>
                <a:schemeClr val="bg1"/>
              </a:solidFill>
              <a:latin typeface="+mj-ea"/>
              <a:ea typeface="+mj-ea"/>
            </a:endParaRPr>
          </a:p>
        </p:txBody>
      </p:sp>
      <p:sp>
        <p:nvSpPr>
          <p:cNvPr id="32777" name="矩形 28"/>
          <p:cNvSpPr/>
          <p:nvPr/>
        </p:nvSpPr>
        <p:spPr>
          <a:xfrm>
            <a:off x="1924052" y="3782485"/>
            <a:ext cx="1390649" cy="615531"/>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库存</a:t>
            </a:r>
            <a:r>
              <a:rPr lang="en-US" altLang="zh-CN" sz="1600" dirty="0">
                <a:solidFill>
                  <a:schemeClr val="bg1"/>
                </a:solidFill>
                <a:latin typeface="+mj-ea"/>
                <a:ea typeface="+mj-ea"/>
              </a:rPr>
              <a:t> A</a:t>
            </a:r>
          </a:p>
          <a:p>
            <a:pPr marL="0" indent="0" algn="ctr" defTabSz="1217476" eaLnBrk="1" hangingPunct="1">
              <a:spcBef>
                <a:spcPct val="0"/>
              </a:spcBef>
              <a:buNone/>
            </a:pPr>
            <a:r>
              <a:rPr lang="en-US" altLang="zh-CN" sz="1600" dirty="0">
                <a:solidFill>
                  <a:schemeClr val="bg1"/>
                </a:solidFill>
                <a:latin typeface="+mj-ea"/>
                <a:ea typeface="+mj-ea"/>
              </a:rPr>
              <a:t>100</a:t>
            </a:r>
            <a:endParaRPr lang="zh-CN" altLang="en-US" sz="1600" dirty="0">
              <a:solidFill>
                <a:schemeClr val="bg1"/>
              </a:solidFill>
              <a:latin typeface="+mj-ea"/>
              <a:ea typeface="+mj-ea"/>
            </a:endParaRPr>
          </a:p>
        </p:txBody>
      </p:sp>
      <p:sp>
        <p:nvSpPr>
          <p:cNvPr id="32778" name="矩形 41"/>
          <p:cNvSpPr/>
          <p:nvPr/>
        </p:nvSpPr>
        <p:spPr>
          <a:xfrm>
            <a:off x="1924052" y="4597400"/>
            <a:ext cx="1390649"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库存</a:t>
            </a:r>
            <a:r>
              <a:rPr lang="en-US" altLang="zh-CN" sz="1600" dirty="0">
                <a:solidFill>
                  <a:schemeClr val="bg1"/>
                </a:solidFill>
                <a:latin typeface="+mj-ea"/>
                <a:ea typeface="+mj-ea"/>
              </a:rPr>
              <a:t> B</a:t>
            </a:r>
            <a:endParaRPr lang="zh-CN" altLang="en-US" sz="1600" dirty="0">
              <a:solidFill>
                <a:schemeClr val="bg1"/>
              </a:solidFill>
              <a:latin typeface="+mj-ea"/>
              <a:ea typeface="+mj-ea"/>
            </a:endParaRPr>
          </a:p>
        </p:txBody>
      </p:sp>
      <p:sp>
        <p:nvSpPr>
          <p:cNvPr id="12" name="Line 58"/>
          <p:cNvSpPr/>
          <p:nvPr/>
        </p:nvSpPr>
        <p:spPr>
          <a:xfrm flipH="1">
            <a:off x="3285067" y="3155951"/>
            <a:ext cx="3731684" cy="895349"/>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solidFill>
                <a:schemeClr val="bg1"/>
              </a:solidFill>
              <a:latin typeface="+mj-ea"/>
              <a:ea typeface="+mj-ea"/>
            </a:endParaRPr>
          </a:p>
        </p:txBody>
      </p:sp>
      <p:sp>
        <p:nvSpPr>
          <p:cNvPr id="13" name="Line 58"/>
          <p:cNvSpPr/>
          <p:nvPr/>
        </p:nvSpPr>
        <p:spPr>
          <a:xfrm flipH="1">
            <a:off x="3285068" y="3117852"/>
            <a:ext cx="3799417" cy="1695449"/>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solidFill>
                <a:schemeClr val="bg1"/>
              </a:solidFill>
              <a:latin typeface="+mj-ea"/>
              <a:ea typeface="+mj-ea"/>
            </a:endParaRPr>
          </a:p>
        </p:txBody>
      </p:sp>
      <p:cxnSp>
        <p:nvCxnSpPr>
          <p:cNvPr id="14" name="直接连接符 7"/>
          <p:cNvCxnSpPr/>
          <p:nvPr/>
        </p:nvCxnSpPr>
        <p:spPr>
          <a:xfrm>
            <a:off x="7909984" y="1498600"/>
            <a:ext cx="0" cy="4013200"/>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5" name="矩形标注 14"/>
          <p:cNvSpPr/>
          <p:nvPr/>
        </p:nvSpPr>
        <p:spPr>
          <a:xfrm>
            <a:off x="6417734" y="1600200"/>
            <a:ext cx="1369484" cy="508000"/>
          </a:xfrm>
          <a:prstGeom prst="wedgeRectCallout">
            <a:avLst>
              <a:gd name="adj1" fmla="val 782"/>
              <a:gd name="adj2" fmla="val 90562"/>
            </a:avLst>
          </a:prstGeom>
          <a:solidFill>
            <a:srgbClr val="66009B"/>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dirty="0">
                <a:solidFill>
                  <a:schemeClr val="bg1"/>
                </a:solidFill>
                <a:latin typeface="+mj-ea"/>
                <a:ea typeface="+mj-ea"/>
                <a:cs typeface="微软雅黑" panose="020B0503020204020204" pitchFamily="34" charset="-122"/>
              </a:rPr>
              <a:t>生产计划</a:t>
            </a:r>
          </a:p>
        </p:txBody>
      </p:sp>
      <p:sp>
        <p:nvSpPr>
          <p:cNvPr id="16" name="Line 58"/>
          <p:cNvSpPr/>
          <p:nvPr/>
        </p:nvSpPr>
        <p:spPr>
          <a:xfrm flipH="1">
            <a:off x="3285067" y="3117852"/>
            <a:ext cx="2281767" cy="908049"/>
          </a:xfrm>
          <a:prstGeom prst="line">
            <a:avLst/>
          </a:prstGeom>
          <a:ln w="19050" cap="flat" cmpd="sng" algn="ctr">
            <a:solidFill>
              <a:schemeClr val="bg1"/>
            </a:solidFill>
            <a:prstDash val="dash"/>
            <a:round/>
            <a:headEnd type="none" w="med" len="med"/>
            <a:tailEnd type="triangle" w="med" len="med"/>
          </a:ln>
        </p:spPr>
        <p:style>
          <a:lnRef idx="0">
            <a:scrgbClr r="0" g="0" b="0"/>
          </a:lnRef>
          <a:fillRef idx="0">
            <a:scrgbClr r="0" g="0" b="0"/>
          </a:fillRef>
          <a:effectRef idx="0">
            <a:scrgbClr r="0" g="0" b="0"/>
          </a:effectRef>
          <a:fontRef idx="minor">
            <a:schemeClr val="tx1"/>
          </a:fontRef>
        </p:style>
        <p:txBody>
          <a:bodyPr/>
          <a:lstStyle/>
          <a:p>
            <a:endParaRPr lang="zh-CN" altLang="en-US">
              <a:solidFill>
                <a:schemeClr val="bg1"/>
              </a:solidFill>
              <a:latin typeface="+mj-ea"/>
              <a:ea typeface="+mj-ea"/>
            </a:endParaRPr>
          </a:p>
        </p:txBody>
      </p:sp>
      <p:sp>
        <p:nvSpPr>
          <p:cNvPr id="17" name="TextBox 8"/>
          <p:cNvSpPr txBox="1"/>
          <p:nvPr/>
        </p:nvSpPr>
        <p:spPr>
          <a:xfrm>
            <a:off x="3832848" y="3117554"/>
            <a:ext cx="1527941" cy="369310"/>
          </a:xfrm>
          <a:prstGeom prst="rect">
            <a:avLst/>
          </a:prstGeom>
          <a:noFill/>
          <a:scene3d>
            <a:camera prst="orthographicFront">
              <a:rot lat="905603" lon="27023" rev="1494456"/>
            </a:camera>
            <a:lightRig rig="threePt" dir="t"/>
          </a:scene3d>
        </p:spPr>
        <p:txBody>
          <a:bodyPr lIns="121899" tIns="60949" rIns="121899" bIns="60949">
            <a:spAutoFit/>
          </a:bodyPr>
          <a:lstStyle/>
          <a:p>
            <a:pPr defTabSz="1219170">
              <a:defRPr/>
            </a:pPr>
            <a:r>
              <a:rPr lang="zh-CN" altLang="en-US" sz="1600" dirty="0">
                <a:solidFill>
                  <a:schemeClr val="bg1"/>
                </a:solidFill>
                <a:latin typeface="+mj-ea"/>
                <a:ea typeface="+mj-ea"/>
              </a:rPr>
              <a:t>不齐套</a:t>
            </a:r>
          </a:p>
        </p:txBody>
      </p:sp>
      <p:sp>
        <p:nvSpPr>
          <p:cNvPr id="18" name="矩形标注 17"/>
          <p:cNvSpPr/>
          <p:nvPr/>
        </p:nvSpPr>
        <p:spPr>
          <a:xfrm>
            <a:off x="4874685" y="1600200"/>
            <a:ext cx="1485900" cy="508000"/>
          </a:xfrm>
          <a:prstGeom prst="wedgeRectCallout">
            <a:avLst>
              <a:gd name="adj1" fmla="val 782"/>
              <a:gd name="adj2" fmla="val 90562"/>
            </a:avLst>
          </a:prstGeom>
          <a:solidFill>
            <a:srgbClr val="66009B"/>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dirty="0">
                <a:solidFill>
                  <a:schemeClr val="bg1"/>
                </a:solidFill>
                <a:latin typeface="+mj-ea"/>
                <a:ea typeface="+mj-ea"/>
                <a:cs typeface="微软雅黑" panose="020B0503020204020204" pitchFamily="34" charset="-122"/>
              </a:rPr>
              <a:t>生产计划</a:t>
            </a:r>
          </a:p>
        </p:txBody>
      </p:sp>
      <p:sp>
        <p:nvSpPr>
          <p:cNvPr id="19" name="圆角矩形 18"/>
          <p:cNvSpPr/>
          <p:nvPr/>
        </p:nvSpPr>
        <p:spPr>
          <a:xfrm>
            <a:off x="8083551" y="929218"/>
            <a:ext cx="4055533" cy="2567517"/>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lvl1pPr defTabSz="913130">
              <a:defRPr kumimoji="1" sz="2400">
                <a:solidFill>
                  <a:schemeClr val="tx1"/>
                </a:solidFill>
                <a:latin typeface="Calibri" panose="020F0502020204030204" pitchFamily="34" charset="0"/>
                <a:ea typeface="宋体" panose="02010600030101010101" pitchFamily="2" charset="-122"/>
              </a:defRPr>
            </a:lvl1pPr>
            <a:lvl2pPr marL="742950" indent="-285750" defTabSz="913130">
              <a:defRPr kumimoji="1" sz="2400">
                <a:solidFill>
                  <a:schemeClr val="tx1"/>
                </a:solidFill>
                <a:latin typeface="Calibri" panose="020F0502020204030204" pitchFamily="34" charset="0"/>
                <a:ea typeface="宋体" panose="02010600030101010101" pitchFamily="2" charset="-122"/>
              </a:defRPr>
            </a:lvl2pPr>
            <a:lvl3pPr marL="1143000" indent="-228600" defTabSz="913130">
              <a:defRPr kumimoji="1" sz="2400">
                <a:solidFill>
                  <a:schemeClr val="tx1"/>
                </a:solidFill>
                <a:latin typeface="Calibri" panose="020F0502020204030204" pitchFamily="34" charset="0"/>
                <a:ea typeface="宋体" panose="02010600030101010101" pitchFamily="2" charset="-122"/>
              </a:defRPr>
            </a:lvl3pPr>
            <a:lvl4pPr marL="1600200" indent="-228600" defTabSz="913130">
              <a:defRPr kumimoji="1" sz="2400">
                <a:solidFill>
                  <a:schemeClr val="tx1"/>
                </a:solidFill>
                <a:latin typeface="Calibri" panose="020F0502020204030204" pitchFamily="34" charset="0"/>
                <a:ea typeface="宋体" panose="02010600030101010101" pitchFamily="2" charset="-122"/>
              </a:defRPr>
            </a:lvl4pPr>
            <a:lvl5pPr marL="2057400" indent="-228600" defTabSz="913130">
              <a:defRPr kumimoji="1" sz="2400">
                <a:solidFill>
                  <a:schemeClr val="tx1"/>
                </a:solidFill>
                <a:latin typeface="Calibri" panose="020F0502020204030204" pitchFamily="34" charset="0"/>
                <a:ea typeface="宋体" panose="02010600030101010101" pitchFamily="2" charset="-122"/>
              </a:defRPr>
            </a:lvl5pPr>
            <a:lvl6pPr marL="25146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6pPr>
            <a:lvl7pPr marL="29718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7pPr>
            <a:lvl8pPr marL="34290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8pPr>
            <a:lvl9pPr marL="38862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9pPr>
          </a:lstStyle>
          <a:p>
            <a:pPr defTabSz="1217476" fontAlgn="base">
              <a:spcBef>
                <a:spcPct val="0"/>
              </a:spcBef>
              <a:spcAft>
                <a:spcPct val="0"/>
              </a:spcAft>
              <a:defRPr/>
            </a:pPr>
            <a:r>
              <a:rPr kumimoji="0" lang="zh-CN" altLang="en-US" sz="1600" dirty="0">
                <a:solidFill>
                  <a:schemeClr val="bg1"/>
                </a:solidFill>
                <a:latin typeface="+mj-ea"/>
                <a:ea typeface="+mj-ea"/>
              </a:rPr>
              <a:t>第二天的计划：</a:t>
            </a:r>
            <a:endParaRPr kumimoji="0" lang="en-US" altLang="zh-CN" sz="1600" dirty="0">
              <a:solidFill>
                <a:schemeClr val="bg1"/>
              </a:solidFill>
              <a:latin typeface="+mj-ea"/>
              <a:ea typeface="+mj-ea"/>
            </a:endParaRPr>
          </a:p>
          <a:p>
            <a:pPr defTabSz="1217476" fontAlgn="base">
              <a:spcBef>
                <a:spcPct val="0"/>
              </a:spcBef>
              <a:spcAft>
                <a:spcPct val="0"/>
              </a:spcAft>
              <a:defRPr/>
            </a:pPr>
            <a:r>
              <a:rPr kumimoji="0" lang="zh-CN" altLang="en-US" sz="1600" dirty="0">
                <a:solidFill>
                  <a:schemeClr val="bg1"/>
                </a:solidFill>
                <a:latin typeface="+mj-ea"/>
                <a:ea typeface="+mj-ea"/>
              </a:rPr>
              <a:t>需求</a:t>
            </a:r>
            <a:r>
              <a:rPr kumimoji="0" lang="en-US" altLang="zh-CN" sz="1600" dirty="0">
                <a:solidFill>
                  <a:schemeClr val="bg1"/>
                </a:solidFill>
                <a:latin typeface="+mj-ea"/>
                <a:ea typeface="+mj-ea"/>
              </a:rPr>
              <a:t>2 </a:t>
            </a:r>
            <a:r>
              <a:rPr kumimoji="0" lang="zh-CN" altLang="en-US" sz="1600" dirty="0">
                <a:solidFill>
                  <a:schemeClr val="bg1"/>
                </a:solidFill>
                <a:latin typeface="+mj-ea"/>
                <a:ea typeface="+mj-ea"/>
              </a:rPr>
              <a:t>不齐套</a:t>
            </a:r>
            <a:r>
              <a:rPr kumimoji="0" lang="en-US" altLang="zh-CN" sz="1600" dirty="0">
                <a:solidFill>
                  <a:schemeClr val="bg1"/>
                </a:solidFill>
                <a:latin typeface="+mj-ea"/>
                <a:ea typeface="+mj-ea"/>
              </a:rPr>
              <a:t>,</a:t>
            </a:r>
            <a:r>
              <a:rPr kumimoji="0" lang="zh-CN" altLang="en-US" sz="1600" dirty="0">
                <a:solidFill>
                  <a:schemeClr val="bg1"/>
                </a:solidFill>
                <a:latin typeface="+mj-ea"/>
                <a:ea typeface="+mj-ea"/>
              </a:rPr>
              <a:t> </a:t>
            </a:r>
            <a:r>
              <a:rPr kumimoji="0" lang="en-US" altLang="zh-CN" sz="1600" dirty="0">
                <a:solidFill>
                  <a:schemeClr val="bg1"/>
                </a:solidFill>
                <a:latin typeface="+mj-ea"/>
                <a:ea typeface="+mj-ea"/>
              </a:rPr>
              <a:t>A </a:t>
            </a:r>
            <a:r>
              <a:rPr kumimoji="0" lang="zh-CN" altLang="en-US" sz="1600" dirty="0">
                <a:solidFill>
                  <a:schemeClr val="bg1"/>
                </a:solidFill>
                <a:latin typeface="+mj-ea"/>
                <a:ea typeface="+mj-ea"/>
              </a:rPr>
              <a:t>会被需求</a:t>
            </a:r>
            <a:r>
              <a:rPr kumimoji="0" lang="en-US" altLang="zh-CN" sz="1600" dirty="0">
                <a:solidFill>
                  <a:schemeClr val="bg1"/>
                </a:solidFill>
                <a:latin typeface="+mj-ea"/>
                <a:ea typeface="+mj-ea"/>
              </a:rPr>
              <a:t>3</a:t>
            </a:r>
            <a:r>
              <a:rPr kumimoji="0" lang="zh-CN" altLang="en-US" sz="1600" dirty="0">
                <a:solidFill>
                  <a:schemeClr val="bg1"/>
                </a:solidFill>
                <a:latin typeface="+mj-ea"/>
                <a:ea typeface="+mj-ea"/>
              </a:rPr>
              <a:t>抢走</a:t>
            </a:r>
            <a:endParaRPr kumimoji="0" lang="en-US" altLang="zh-CN" sz="1600" dirty="0">
              <a:solidFill>
                <a:schemeClr val="bg1"/>
              </a:solidFill>
              <a:latin typeface="+mj-ea"/>
              <a:ea typeface="+mj-ea"/>
            </a:endParaRPr>
          </a:p>
          <a:p>
            <a:pPr defTabSz="1217476" fontAlgn="base">
              <a:spcBef>
                <a:spcPct val="0"/>
              </a:spcBef>
              <a:spcAft>
                <a:spcPct val="0"/>
              </a:spcAft>
              <a:defRPr/>
            </a:pPr>
            <a:endParaRPr kumimoji="0" lang="en-US" altLang="zh-CN" sz="1600" u="sng" dirty="0">
              <a:solidFill>
                <a:schemeClr val="bg1"/>
              </a:solidFill>
              <a:latin typeface="+mj-ea"/>
              <a:ea typeface="+mj-ea"/>
            </a:endParaRPr>
          </a:p>
          <a:p>
            <a:pPr defTabSz="1217476" fontAlgn="base">
              <a:spcBef>
                <a:spcPct val="0"/>
              </a:spcBef>
              <a:spcAft>
                <a:spcPct val="0"/>
              </a:spcAft>
              <a:defRPr/>
            </a:pPr>
            <a:r>
              <a:rPr kumimoji="0" lang="zh-CN" altLang="en-US" sz="1600" u="sng" dirty="0">
                <a:solidFill>
                  <a:schemeClr val="bg1"/>
                </a:solidFill>
                <a:latin typeface="+mj-ea"/>
                <a:ea typeface="+mj-ea"/>
              </a:rPr>
              <a:t>需求</a:t>
            </a:r>
            <a:r>
              <a:rPr kumimoji="0" lang="en-US" altLang="zh-CN" sz="1600" u="sng" dirty="0">
                <a:solidFill>
                  <a:schemeClr val="bg1"/>
                </a:solidFill>
                <a:latin typeface="+mj-ea"/>
                <a:ea typeface="+mj-ea"/>
              </a:rPr>
              <a:t>3 </a:t>
            </a:r>
            <a:r>
              <a:rPr kumimoji="0" lang="zh-CN" altLang="en-US" sz="1600" u="sng" dirty="0">
                <a:solidFill>
                  <a:schemeClr val="bg1"/>
                </a:solidFill>
                <a:latin typeface="+mj-ea"/>
                <a:ea typeface="+mj-ea"/>
              </a:rPr>
              <a:t>工单下达</a:t>
            </a:r>
            <a:endParaRPr kumimoji="0" lang="en-US" altLang="zh-CN" sz="1600" u="sng" dirty="0">
              <a:solidFill>
                <a:schemeClr val="bg1"/>
              </a:solidFill>
              <a:latin typeface="+mj-ea"/>
              <a:ea typeface="+mj-ea"/>
            </a:endParaRPr>
          </a:p>
          <a:p>
            <a:pPr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库存</a:t>
            </a:r>
            <a:r>
              <a:rPr kumimoji="0" lang="en-US" altLang="zh-CN" sz="1600" dirty="0">
                <a:solidFill>
                  <a:schemeClr val="bg1"/>
                </a:solidFill>
                <a:latin typeface="+mj-ea"/>
                <a:ea typeface="+mj-ea"/>
              </a:rPr>
              <a:t>A</a:t>
            </a:r>
            <a:r>
              <a:rPr kumimoji="0" lang="zh-CN" altLang="en-US" sz="1600" dirty="0">
                <a:solidFill>
                  <a:schemeClr val="bg1"/>
                </a:solidFill>
                <a:latin typeface="+mj-ea"/>
                <a:ea typeface="+mj-ea"/>
              </a:rPr>
              <a:t>消耗</a:t>
            </a:r>
            <a:r>
              <a:rPr kumimoji="0" lang="en-US" altLang="zh-CN" sz="1600" dirty="0">
                <a:solidFill>
                  <a:schemeClr val="bg1"/>
                </a:solidFill>
                <a:latin typeface="+mj-ea"/>
                <a:ea typeface="+mj-ea"/>
              </a:rPr>
              <a:t>100</a:t>
            </a:r>
          </a:p>
          <a:p>
            <a:pPr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库存</a:t>
            </a:r>
            <a:r>
              <a:rPr kumimoji="0" lang="en-US" altLang="zh-CN" sz="1600" dirty="0">
                <a:solidFill>
                  <a:schemeClr val="bg1"/>
                </a:solidFill>
                <a:latin typeface="+mj-ea"/>
                <a:ea typeface="+mj-ea"/>
              </a:rPr>
              <a:t>B</a:t>
            </a:r>
            <a:r>
              <a:rPr kumimoji="0" lang="zh-CN" altLang="en-US" sz="1600" dirty="0">
                <a:solidFill>
                  <a:schemeClr val="bg1"/>
                </a:solidFill>
                <a:latin typeface="+mj-ea"/>
                <a:ea typeface="+mj-ea"/>
              </a:rPr>
              <a:t>消耗</a:t>
            </a:r>
            <a:r>
              <a:rPr kumimoji="0" lang="en-US" altLang="zh-CN" sz="1600" dirty="0">
                <a:solidFill>
                  <a:schemeClr val="bg1"/>
                </a:solidFill>
                <a:latin typeface="+mj-ea"/>
                <a:ea typeface="+mj-ea"/>
              </a:rPr>
              <a:t>100</a:t>
            </a:r>
          </a:p>
          <a:p>
            <a:pPr defTabSz="1217476" fontAlgn="base">
              <a:spcBef>
                <a:spcPct val="0"/>
              </a:spcBef>
              <a:spcAft>
                <a:spcPct val="0"/>
              </a:spcAft>
              <a:defRPr/>
            </a:pPr>
            <a:r>
              <a:rPr kumimoji="0" lang="zh-CN" altLang="en-US" sz="1600" u="sng" dirty="0">
                <a:solidFill>
                  <a:schemeClr val="bg1"/>
                </a:solidFill>
                <a:latin typeface="+mj-ea"/>
                <a:ea typeface="+mj-ea"/>
              </a:rPr>
              <a:t>需求</a:t>
            </a:r>
            <a:r>
              <a:rPr kumimoji="0" lang="en-US" altLang="zh-CN" sz="1600" u="sng" dirty="0">
                <a:solidFill>
                  <a:schemeClr val="bg1"/>
                </a:solidFill>
                <a:latin typeface="+mj-ea"/>
                <a:ea typeface="+mj-ea"/>
              </a:rPr>
              <a:t>2</a:t>
            </a:r>
            <a:r>
              <a:rPr kumimoji="0" lang="zh-CN" altLang="en-US" sz="1600" u="sng" dirty="0">
                <a:solidFill>
                  <a:schemeClr val="bg1"/>
                </a:solidFill>
                <a:latin typeface="+mj-ea"/>
                <a:ea typeface="+mj-ea"/>
              </a:rPr>
              <a:t>报缺</a:t>
            </a:r>
            <a:endParaRPr kumimoji="0" lang="en-US" altLang="zh-CN" sz="1600" u="sng" dirty="0">
              <a:solidFill>
                <a:schemeClr val="bg1"/>
              </a:solidFill>
              <a:latin typeface="+mj-ea"/>
              <a:ea typeface="+mj-ea"/>
            </a:endParaRPr>
          </a:p>
          <a:p>
            <a:pPr defTabSz="1217476" fontAlgn="base">
              <a:spcBef>
                <a:spcPct val="0"/>
              </a:spcBef>
              <a:spcAft>
                <a:spcPct val="0"/>
              </a:spcAft>
              <a:defRPr/>
            </a:pPr>
            <a:r>
              <a:rPr kumimoji="0" lang="en-US" altLang="zh-CN" sz="1600" u="sng" dirty="0">
                <a:solidFill>
                  <a:schemeClr val="bg1"/>
                </a:solidFill>
                <a:latin typeface="+mj-ea"/>
                <a:ea typeface="+mj-ea"/>
              </a:rPr>
              <a:t>A</a:t>
            </a:r>
            <a:r>
              <a:rPr kumimoji="0" lang="zh-CN" altLang="en-US" sz="1600" u="sng" dirty="0">
                <a:solidFill>
                  <a:schemeClr val="bg1"/>
                </a:solidFill>
                <a:latin typeface="+mj-ea"/>
                <a:ea typeface="+mj-ea"/>
              </a:rPr>
              <a:t>和</a:t>
            </a:r>
            <a:r>
              <a:rPr kumimoji="0" lang="en-US" altLang="zh-CN" sz="1600" u="sng" dirty="0">
                <a:solidFill>
                  <a:schemeClr val="bg1"/>
                </a:solidFill>
                <a:latin typeface="+mj-ea"/>
                <a:ea typeface="+mj-ea"/>
              </a:rPr>
              <a:t>C</a:t>
            </a:r>
            <a:r>
              <a:rPr kumimoji="0" lang="zh-CN" altLang="en-US" sz="1600" u="sng" dirty="0">
                <a:solidFill>
                  <a:schemeClr val="bg1"/>
                </a:solidFill>
                <a:latin typeface="+mj-ea"/>
                <a:ea typeface="+mj-ea"/>
              </a:rPr>
              <a:t>分别报缺补货</a:t>
            </a:r>
            <a:endParaRPr kumimoji="0" lang="en-US" altLang="zh-CN" sz="1600" u="sng" dirty="0">
              <a:solidFill>
                <a:schemeClr val="bg1"/>
              </a:solidFill>
              <a:latin typeface="+mj-ea"/>
              <a:ea typeface="+mj-ea"/>
            </a:endParaRPr>
          </a:p>
        </p:txBody>
      </p:sp>
      <p:cxnSp>
        <p:nvCxnSpPr>
          <p:cNvPr id="20" name="直接箭头连接符 25"/>
          <p:cNvCxnSpPr>
            <a:stCxn id="21" idx="2"/>
          </p:cNvCxnSpPr>
          <p:nvPr/>
        </p:nvCxnSpPr>
        <p:spPr>
          <a:xfrm flipH="1">
            <a:off x="4099985" y="2701877"/>
            <a:ext cx="29633" cy="852008"/>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1" name="矩形 20"/>
          <p:cNvSpPr/>
          <p:nvPr/>
        </p:nvSpPr>
        <p:spPr>
          <a:xfrm>
            <a:off x="3409951" y="2332567"/>
            <a:ext cx="1439333" cy="369310"/>
          </a:xfrm>
          <a:prstGeom prst="rect">
            <a:avLst/>
          </a:prstGeom>
          <a:solidFill>
            <a:schemeClr val="accent6"/>
          </a:solidFill>
        </p:spPr>
        <p:txBody>
          <a:bodyPr lIns="121899" tIns="60949" rIns="121899" bIns="60949">
            <a:spAutoFit/>
          </a:bodyPr>
          <a:lstStyle/>
          <a:p>
            <a:pPr algn="ctr" defTabSz="1217476" fontAlgn="base">
              <a:spcBef>
                <a:spcPct val="0"/>
              </a:spcBef>
              <a:spcAft>
                <a:spcPct val="0"/>
              </a:spcAft>
              <a:defRPr/>
            </a:pPr>
            <a:r>
              <a:rPr lang="zh-CN" altLang="en-US" sz="1600" dirty="0">
                <a:solidFill>
                  <a:schemeClr val="bg1"/>
                </a:solidFill>
                <a:latin typeface="+mj-ea"/>
                <a:ea typeface="+mj-ea"/>
                <a:cs typeface="微软雅黑" panose="020B0503020204020204" pitchFamily="34" charset="-122"/>
              </a:rPr>
              <a:t>需求</a:t>
            </a:r>
            <a:r>
              <a:rPr lang="en-US" altLang="zh-CN" sz="1600" dirty="0">
                <a:solidFill>
                  <a:schemeClr val="bg1"/>
                </a:solidFill>
                <a:latin typeface="+mj-ea"/>
                <a:ea typeface="+mj-ea"/>
                <a:cs typeface="微软雅黑" panose="020B0503020204020204" pitchFamily="34" charset="-122"/>
              </a:rPr>
              <a:t>1</a:t>
            </a:r>
            <a:endParaRPr lang="zh-CN" altLang="en-US" sz="1600" dirty="0">
              <a:solidFill>
                <a:schemeClr val="bg1"/>
              </a:solidFill>
              <a:latin typeface="+mj-ea"/>
              <a:ea typeface="+mj-ea"/>
              <a:cs typeface="微软雅黑" panose="020B0503020204020204" pitchFamily="34" charset="-122"/>
            </a:endParaRPr>
          </a:p>
        </p:txBody>
      </p:sp>
      <p:sp>
        <p:nvSpPr>
          <p:cNvPr id="32790" name="矩形 30"/>
          <p:cNvSpPr/>
          <p:nvPr/>
        </p:nvSpPr>
        <p:spPr>
          <a:xfrm>
            <a:off x="4874685" y="4417485"/>
            <a:ext cx="1534583" cy="584775"/>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chemeClr val="bg1"/>
                </a:solidFill>
                <a:latin typeface="+mj-ea"/>
                <a:ea typeface="+mj-ea"/>
              </a:rPr>
              <a:t>计划到货</a:t>
            </a:r>
            <a:r>
              <a:rPr lang="en-US" altLang="zh-CN" sz="1600" dirty="0">
                <a:solidFill>
                  <a:schemeClr val="bg1"/>
                </a:solidFill>
                <a:latin typeface="+mj-ea"/>
                <a:ea typeface="+mj-ea"/>
              </a:rPr>
              <a:t>C 100</a:t>
            </a:r>
            <a:endParaRPr lang="zh-CN" altLang="en-US" sz="1600" dirty="0">
              <a:solidFill>
                <a:schemeClr val="bg1"/>
              </a:solidFill>
              <a:latin typeface="+mj-ea"/>
              <a:ea typeface="+mj-ea"/>
            </a:endParaRPr>
          </a:p>
        </p:txBody>
      </p:sp>
      <p:cxnSp>
        <p:nvCxnSpPr>
          <p:cNvPr id="23" name="直接箭头连接符 31"/>
          <p:cNvCxnSpPr/>
          <p:nvPr/>
        </p:nvCxnSpPr>
        <p:spPr>
          <a:xfrm flipV="1">
            <a:off x="5598584" y="3589868"/>
            <a:ext cx="8467" cy="82761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32792" name="TextBox 32"/>
          <p:cNvSpPr txBox="1"/>
          <p:nvPr/>
        </p:nvSpPr>
        <p:spPr>
          <a:xfrm>
            <a:off x="4836585" y="3926418"/>
            <a:ext cx="1680633" cy="338554"/>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en-US" altLang="zh-CN" sz="1600" dirty="0">
                <a:solidFill>
                  <a:schemeClr val="bg1"/>
                </a:solidFill>
                <a:latin typeface="+mj-ea"/>
                <a:ea typeface="+mj-ea"/>
                <a:cs typeface="Arial" panose="020B0604020202020204" pitchFamily="34" charset="0"/>
              </a:rPr>
              <a:t>Not accessible</a:t>
            </a:r>
            <a:endParaRPr lang="zh-CN" altLang="en-US" sz="2400" dirty="0">
              <a:solidFill>
                <a:schemeClr val="bg1"/>
              </a:solidFill>
              <a:latin typeface="+mj-ea"/>
              <a:ea typeface="+mj-ea"/>
            </a:endParaRPr>
          </a:p>
        </p:txBody>
      </p:sp>
      <p:grpSp>
        <p:nvGrpSpPr>
          <p:cNvPr id="32793" name="Group 70"/>
          <p:cNvGrpSpPr/>
          <p:nvPr/>
        </p:nvGrpSpPr>
        <p:grpSpPr>
          <a:xfrm>
            <a:off x="543984" y="1598084"/>
            <a:ext cx="2912533" cy="1071529"/>
            <a:chOff x="9122784" y="5273876"/>
            <a:chExt cx="2913049" cy="1071652"/>
          </a:xfrm>
        </p:grpSpPr>
        <p:sp>
          <p:nvSpPr>
            <p:cNvPr id="26" name="矩形 25"/>
            <p:cNvSpPr/>
            <p:nvPr/>
          </p:nvSpPr>
          <p:spPr>
            <a:xfrm>
              <a:off x="9122784" y="5282344"/>
              <a:ext cx="1200362" cy="328247"/>
            </a:xfrm>
            <a:prstGeom prst="rect">
              <a:avLst/>
            </a:prstGeom>
            <a:solidFill>
              <a:schemeClr val="accent6"/>
            </a:solidFill>
          </p:spPr>
          <p:txBody>
            <a:bodyPr lIns="121899" tIns="60949" rIns="121899" bIns="60949">
              <a:spAutoFit/>
            </a:bodyPr>
            <a:lstStyle/>
            <a:p>
              <a:pPr algn="ctr" defTabSz="1217476" fontAlgn="base">
                <a:spcBef>
                  <a:spcPct val="0"/>
                </a:spcBef>
                <a:spcAft>
                  <a:spcPct val="0"/>
                </a:spcAft>
                <a:defRPr/>
              </a:pPr>
              <a:r>
                <a:rPr lang="zh-CN" altLang="en-US" sz="1333" b="1" dirty="0">
                  <a:solidFill>
                    <a:schemeClr val="bg1"/>
                  </a:solidFill>
                  <a:latin typeface="+mj-ea"/>
                  <a:ea typeface="+mj-ea"/>
                  <a:cs typeface="微软雅黑" panose="020B0503020204020204" pitchFamily="34" charset="-122"/>
                </a:rPr>
                <a:t>需求</a:t>
              </a:r>
              <a:r>
                <a:rPr lang="en-US" altLang="zh-CN" sz="1333" b="1" dirty="0">
                  <a:solidFill>
                    <a:schemeClr val="bg1"/>
                  </a:solidFill>
                  <a:latin typeface="+mj-ea"/>
                  <a:ea typeface="+mj-ea"/>
                  <a:cs typeface="微软雅黑" panose="020B0503020204020204" pitchFamily="34" charset="-122"/>
                </a:rPr>
                <a:t>1</a:t>
              </a:r>
              <a:endParaRPr lang="zh-CN" altLang="en-US" sz="1333" b="1" dirty="0">
                <a:solidFill>
                  <a:schemeClr val="bg1"/>
                </a:solidFill>
                <a:latin typeface="+mj-ea"/>
                <a:ea typeface="+mj-ea"/>
                <a:cs typeface="微软雅黑" panose="020B0503020204020204" pitchFamily="34" charset="-122"/>
              </a:endParaRPr>
            </a:p>
          </p:txBody>
        </p:sp>
        <p:sp>
          <p:nvSpPr>
            <p:cNvPr id="32806" name="TextBox 3"/>
            <p:cNvSpPr txBox="1"/>
            <p:nvPr/>
          </p:nvSpPr>
          <p:spPr>
            <a:xfrm>
              <a:off x="10350669" y="5273876"/>
              <a:ext cx="1674580" cy="297488"/>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333" dirty="0">
                  <a:solidFill>
                    <a:schemeClr val="bg1"/>
                  </a:solidFill>
                  <a:latin typeface="+mj-ea"/>
                  <a:ea typeface="+mj-ea"/>
                  <a:cs typeface="Arial" panose="020B0604020202020204" pitchFamily="34" charset="0"/>
                </a:rPr>
                <a:t>工单下达</a:t>
              </a:r>
              <a:endParaRPr lang="zh-CN" altLang="en-US" sz="1333" dirty="0">
                <a:solidFill>
                  <a:schemeClr val="bg1"/>
                </a:solidFill>
                <a:latin typeface="+mj-ea"/>
                <a:ea typeface="+mj-ea"/>
              </a:endParaRPr>
            </a:p>
          </p:txBody>
        </p:sp>
        <p:sp>
          <p:nvSpPr>
            <p:cNvPr id="32807" name="矩形 49"/>
            <p:cNvSpPr/>
            <p:nvPr/>
          </p:nvSpPr>
          <p:spPr>
            <a:xfrm>
              <a:off x="9122784" y="5646865"/>
              <a:ext cx="1200587" cy="328247"/>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333" b="1" dirty="0">
                  <a:solidFill>
                    <a:schemeClr val="bg1"/>
                  </a:solidFill>
                  <a:latin typeface="+mj-ea"/>
                  <a:ea typeface="+mj-ea"/>
                </a:rPr>
                <a:t>需求</a:t>
              </a:r>
              <a:r>
                <a:rPr lang="en-US" altLang="zh-CN" sz="1333" b="1" dirty="0">
                  <a:solidFill>
                    <a:schemeClr val="bg1"/>
                  </a:solidFill>
                  <a:latin typeface="+mj-ea"/>
                  <a:ea typeface="+mj-ea"/>
                </a:rPr>
                <a:t>2</a:t>
              </a:r>
              <a:endParaRPr lang="zh-CN" altLang="en-US" sz="1333" b="1" dirty="0">
                <a:solidFill>
                  <a:schemeClr val="bg1"/>
                </a:solidFill>
                <a:latin typeface="+mj-ea"/>
                <a:ea typeface="+mj-ea"/>
              </a:endParaRPr>
            </a:p>
          </p:txBody>
        </p:sp>
        <p:sp>
          <p:nvSpPr>
            <p:cNvPr id="32808" name="TextBox 50"/>
            <p:cNvSpPr txBox="1"/>
            <p:nvPr/>
          </p:nvSpPr>
          <p:spPr>
            <a:xfrm>
              <a:off x="10361254" y="5669737"/>
              <a:ext cx="1674579" cy="297488"/>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en-US" altLang="zh-CN" sz="1333" dirty="0">
                  <a:solidFill>
                    <a:schemeClr val="bg1"/>
                  </a:solidFill>
                  <a:latin typeface="+mj-ea"/>
                  <a:ea typeface="+mj-ea"/>
                  <a:cs typeface="Arial" panose="020B0604020202020204" pitchFamily="34" charset="0"/>
                </a:rPr>
                <a:t>Backlog order</a:t>
              </a:r>
              <a:endParaRPr lang="zh-CN" altLang="en-US" sz="1333" dirty="0">
                <a:solidFill>
                  <a:schemeClr val="bg1"/>
                </a:solidFill>
                <a:latin typeface="+mj-ea"/>
                <a:ea typeface="+mj-ea"/>
              </a:endParaRPr>
            </a:p>
          </p:txBody>
        </p:sp>
        <p:sp>
          <p:nvSpPr>
            <p:cNvPr id="32809" name="矩形 51"/>
            <p:cNvSpPr/>
            <p:nvPr/>
          </p:nvSpPr>
          <p:spPr>
            <a:xfrm>
              <a:off x="9122784" y="6017281"/>
              <a:ext cx="1200587" cy="328247"/>
            </a:xfrm>
            <a:prstGeom prst="rect">
              <a:avLst/>
            </a:prstGeom>
            <a:solidFill>
              <a:schemeClr val="accent1"/>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333" b="1" dirty="0">
                  <a:solidFill>
                    <a:schemeClr val="bg1"/>
                  </a:solidFill>
                  <a:latin typeface="+mj-ea"/>
                  <a:ea typeface="+mj-ea"/>
                </a:rPr>
                <a:t>需求</a:t>
              </a:r>
              <a:r>
                <a:rPr lang="en-US" altLang="zh-CN" sz="1333" b="1" dirty="0">
                  <a:solidFill>
                    <a:schemeClr val="bg1"/>
                  </a:solidFill>
                  <a:latin typeface="+mj-ea"/>
                  <a:ea typeface="+mj-ea"/>
                </a:rPr>
                <a:t>3</a:t>
              </a:r>
              <a:endParaRPr lang="zh-CN" altLang="en-US" sz="1333" b="1" dirty="0">
                <a:solidFill>
                  <a:schemeClr val="bg1"/>
                </a:solidFill>
                <a:latin typeface="+mj-ea"/>
                <a:ea typeface="+mj-ea"/>
              </a:endParaRPr>
            </a:p>
          </p:txBody>
        </p:sp>
        <p:sp>
          <p:nvSpPr>
            <p:cNvPr id="32810" name="TextBox 52"/>
            <p:cNvSpPr txBox="1"/>
            <p:nvPr/>
          </p:nvSpPr>
          <p:spPr>
            <a:xfrm>
              <a:off x="10350669" y="6016910"/>
              <a:ext cx="1674580" cy="297488"/>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333" dirty="0">
                  <a:solidFill>
                    <a:schemeClr val="bg1"/>
                  </a:solidFill>
                  <a:latin typeface="+mj-ea"/>
                  <a:ea typeface="+mj-ea"/>
                  <a:cs typeface="Arial" panose="020B0604020202020204" pitchFamily="34" charset="0"/>
                </a:rPr>
                <a:t>新订单</a:t>
              </a:r>
              <a:endParaRPr lang="zh-CN" altLang="en-US" sz="1333" dirty="0">
                <a:solidFill>
                  <a:schemeClr val="bg1"/>
                </a:solidFill>
                <a:latin typeface="+mj-ea"/>
                <a:ea typeface="+mj-ea"/>
              </a:endParaRPr>
            </a:p>
          </p:txBody>
        </p:sp>
      </p:grpSp>
      <p:sp>
        <p:nvSpPr>
          <p:cNvPr id="32794" name="Title 37"/>
          <p:cNvSpPr>
            <a:spLocks noGrp="1"/>
          </p:cNvSpPr>
          <p:nvPr>
            <p:ph type="title" idx="4294967295"/>
          </p:nvPr>
        </p:nvSpPr>
        <p:spPr>
          <a:xfrm>
            <a:off x="1120775" y="185738"/>
            <a:ext cx="11071225" cy="520700"/>
          </a:xfrm>
          <a:prstGeom prst="rect">
            <a:avLst/>
          </a:prstGeom>
        </p:spPr>
        <p:txBody>
          <a:bodyPr vert="horz" wrap="square" lIns="121920" tIns="60960" rIns="121920" bIns="60960" anchor="ctr" anchorCtr="0">
            <a:normAutofit/>
          </a:bodyPr>
          <a:lstStyle/>
          <a:p>
            <a:pPr eaLnBrk="1" hangingPunct="1"/>
            <a:r>
              <a:rPr lang="zh-CN" altLang="en-US" dirty="0">
                <a:solidFill>
                  <a:schemeClr val="bg1"/>
                </a:solidFill>
                <a:latin typeface="+mj-ea"/>
              </a:rPr>
              <a:t>场景</a:t>
            </a:r>
            <a:r>
              <a:rPr lang="en-US" altLang="zh-CN" b="1" dirty="0">
                <a:solidFill>
                  <a:schemeClr val="bg1"/>
                </a:solidFill>
                <a:latin typeface="+mj-ea"/>
              </a:rPr>
              <a:t> #1: </a:t>
            </a:r>
            <a:r>
              <a:rPr lang="zh-CN" altLang="en-US" dirty="0">
                <a:solidFill>
                  <a:schemeClr val="bg1"/>
                </a:solidFill>
                <a:latin typeface="+mj-ea"/>
              </a:rPr>
              <a:t>挑战</a:t>
            </a:r>
            <a:r>
              <a:rPr lang="en-US" altLang="zh-CN" b="1" dirty="0">
                <a:solidFill>
                  <a:schemeClr val="bg1"/>
                </a:solidFill>
                <a:latin typeface="+mj-ea"/>
              </a:rPr>
              <a:t> D</a:t>
            </a:r>
            <a:r>
              <a:rPr lang="zh-CN" altLang="en-US" b="1" dirty="0">
                <a:solidFill>
                  <a:schemeClr val="bg1"/>
                </a:solidFill>
                <a:latin typeface="+mj-ea"/>
              </a:rPr>
              <a:t>，第</a:t>
            </a:r>
            <a:r>
              <a:rPr lang="en-US" altLang="zh-CN" b="1" dirty="0">
                <a:solidFill>
                  <a:schemeClr val="bg1"/>
                </a:solidFill>
                <a:latin typeface="+mj-ea"/>
              </a:rPr>
              <a:t>2</a:t>
            </a:r>
            <a:r>
              <a:rPr lang="zh-CN" altLang="en-US" b="1" dirty="0">
                <a:solidFill>
                  <a:schemeClr val="bg1"/>
                </a:solidFill>
                <a:latin typeface="+mj-ea"/>
              </a:rPr>
              <a:t>天</a:t>
            </a:r>
            <a:endParaRPr lang="en-US" altLang="zh-CN" b="1" dirty="0">
              <a:solidFill>
                <a:schemeClr val="bg1"/>
              </a:solidFill>
              <a:latin typeface="+mj-ea"/>
            </a:endParaRPr>
          </a:p>
        </p:txBody>
      </p:sp>
      <p:cxnSp>
        <p:nvCxnSpPr>
          <p:cNvPr id="36" name="直接连接符 7"/>
          <p:cNvCxnSpPr/>
          <p:nvPr/>
        </p:nvCxnSpPr>
        <p:spPr>
          <a:xfrm>
            <a:off x="3327400" y="1498600"/>
            <a:ext cx="0" cy="2091267"/>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接连接符 7"/>
          <p:cNvCxnSpPr/>
          <p:nvPr/>
        </p:nvCxnSpPr>
        <p:spPr>
          <a:xfrm flipH="1">
            <a:off x="4874684" y="1498600"/>
            <a:ext cx="0" cy="4013200"/>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接连接符 7"/>
          <p:cNvCxnSpPr/>
          <p:nvPr/>
        </p:nvCxnSpPr>
        <p:spPr>
          <a:xfrm>
            <a:off x="6409267" y="1498600"/>
            <a:ext cx="0" cy="4013200"/>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2802" name="矩形 30"/>
          <p:cNvSpPr/>
          <p:nvPr/>
        </p:nvSpPr>
        <p:spPr>
          <a:xfrm>
            <a:off x="6424085" y="4417485"/>
            <a:ext cx="1483783" cy="584775"/>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chemeClr val="bg1"/>
                </a:solidFill>
                <a:latin typeface="+mj-ea"/>
                <a:ea typeface="+mj-ea"/>
              </a:rPr>
              <a:t>计划到货</a:t>
            </a:r>
            <a:r>
              <a:rPr lang="en-US" altLang="zh-CN" sz="1600" dirty="0">
                <a:solidFill>
                  <a:schemeClr val="bg1"/>
                </a:solidFill>
                <a:latin typeface="+mj-ea"/>
                <a:ea typeface="+mj-ea"/>
              </a:rPr>
              <a:t>A 100</a:t>
            </a:r>
            <a:endParaRPr lang="zh-CN" altLang="en-US" sz="1600" dirty="0">
              <a:solidFill>
                <a:schemeClr val="bg1"/>
              </a:solidFill>
              <a:latin typeface="+mj-ea"/>
              <a:ea typeface="+mj-ea"/>
            </a:endParaRPr>
          </a:p>
        </p:txBody>
      </p:sp>
      <p:cxnSp>
        <p:nvCxnSpPr>
          <p:cNvPr id="41" name="直接箭头连接符 31"/>
          <p:cNvCxnSpPr/>
          <p:nvPr/>
        </p:nvCxnSpPr>
        <p:spPr>
          <a:xfrm flipV="1">
            <a:off x="7069667" y="3575052"/>
            <a:ext cx="10584" cy="82761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32804" name="TextBox 61"/>
          <p:cNvSpPr txBox="1"/>
          <p:nvPr/>
        </p:nvSpPr>
        <p:spPr>
          <a:xfrm>
            <a:off x="6337301" y="3913718"/>
            <a:ext cx="1739900" cy="338554"/>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en-US" altLang="zh-CN" sz="1600" dirty="0">
                <a:solidFill>
                  <a:schemeClr val="bg1"/>
                </a:solidFill>
                <a:latin typeface="+mj-ea"/>
                <a:ea typeface="+mj-ea"/>
                <a:cs typeface="Arial" panose="020B0604020202020204" pitchFamily="34" charset="0"/>
              </a:rPr>
              <a:t>Not accessible</a:t>
            </a:r>
            <a:endParaRPr lang="zh-CN" altLang="en-US" sz="2400" dirty="0">
              <a:solidFill>
                <a:schemeClr val="bg1"/>
              </a:solidFill>
              <a:latin typeface="+mj-ea"/>
              <a:ea typeface="+mj-ea"/>
            </a:endParaRPr>
          </a:p>
        </p:txBody>
      </p:sp>
      <p:sp>
        <p:nvSpPr>
          <p:cNvPr id="8" name="文本框 7">
            <a:extLst>
              <a:ext uri="{FF2B5EF4-FFF2-40B4-BE49-F238E27FC236}">
                <a16:creationId xmlns:a16="http://schemas.microsoft.com/office/drawing/2014/main" id="{10096E1D-BA05-DF0F-D668-9ED24E94B8EB}"/>
              </a:ext>
            </a:extLst>
          </p:cNvPr>
          <p:cNvSpPr txBox="1"/>
          <p:nvPr/>
        </p:nvSpPr>
        <p:spPr>
          <a:xfrm>
            <a:off x="10761134" y="3418959"/>
            <a:ext cx="1302564" cy="338554"/>
          </a:xfrm>
          <a:prstGeom prst="rect">
            <a:avLst/>
          </a:prstGeom>
          <a:noFill/>
        </p:spPr>
        <p:txBody>
          <a:bodyPr wrap="square" rtlCol="0">
            <a:spAutoFit/>
          </a:bodyPr>
          <a:lstStyle>
            <a:defPPr>
              <a:defRPr lang="zh-CN"/>
            </a:defPPr>
            <a:lvl1pPr marL="0" lvl="0"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1pPr>
            <a:lvl2pPr marL="457200" lvl="1"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2pPr>
            <a:lvl3pPr marL="914400" lvl="2"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3pPr>
            <a:lvl4pPr marL="1371600" lvl="3"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4pPr>
            <a:lvl5pPr marL="1828800" lvl="4"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5pPr>
            <a:lvl6pPr marL="2286000" lvl="5"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6pPr>
            <a:lvl7pPr marL="2743200" lvl="6"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7pPr>
            <a:lvl8pPr marL="3200400" lvl="7"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8pPr>
            <a:lvl9pPr marL="3657600" lvl="8"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9pPr>
          </a:lstStyle>
          <a:p>
            <a:r>
              <a:rPr lang="zh-CN" altLang="en-US" sz="1600" dirty="0">
                <a:solidFill>
                  <a:schemeClr val="bg1"/>
                </a:solidFill>
                <a:latin typeface="+mj-ea"/>
                <a:ea typeface="+mj-ea"/>
              </a:rPr>
              <a:t>需求日期</a:t>
            </a:r>
          </a:p>
        </p:txBody>
      </p:sp>
      <p:sp>
        <p:nvSpPr>
          <p:cNvPr id="9" name="文本框 8">
            <a:extLst>
              <a:ext uri="{FF2B5EF4-FFF2-40B4-BE49-F238E27FC236}">
                <a16:creationId xmlns:a16="http://schemas.microsoft.com/office/drawing/2014/main" id="{2438C881-797A-6FD9-106E-E4BAC25F6D05}"/>
              </a:ext>
            </a:extLst>
          </p:cNvPr>
          <p:cNvSpPr txBox="1"/>
          <p:nvPr/>
        </p:nvSpPr>
        <p:spPr>
          <a:xfrm>
            <a:off x="784848" y="5172839"/>
            <a:ext cx="6096000" cy="1600438"/>
          </a:xfrm>
          <a:prstGeom prst="rect">
            <a:avLst/>
          </a:prstGeom>
          <a:noFill/>
        </p:spPr>
        <p:txBody>
          <a:bodyPr wrap="square">
            <a:spAutoFit/>
          </a:bodyPr>
          <a:lstStyle/>
          <a:p>
            <a:pPr defTabSz="1219170">
              <a:defRPr/>
            </a:pPr>
            <a:r>
              <a:rPr lang="zh-CN" altLang="en-US" sz="1800" b="1" dirty="0">
                <a:solidFill>
                  <a:schemeClr val="bg1"/>
                </a:solidFill>
                <a:latin typeface="+mj-ea"/>
                <a:ea typeface="+mj-ea"/>
              </a:rPr>
              <a:t>场景</a:t>
            </a:r>
            <a:r>
              <a:rPr lang="en-US" altLang="zh-CN" sz="1800" b="1" dirty="0">
                <a:solidFill>
                  <a:schemeClr val="bg1"/>
                </a:solidFill>
                <a:latin typeface="+mj-ea"/>
                <a:ea typeface="+mj-ea"/>
              </a:rPr>
              <a:t>:</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B</a:t>
            </a:r>
            <a:r>
              <a:rPr lang="zh-CN" altLang="en-US" sz="1600" dirty="0">
                <a:solidFill>
                  <a:schemeClr val="bg1"/>
                </a:solidFill>
                <a:latin typeface="+mj-ea"/>
                <a:ea typeface="+mj-ea"/>
              </a:rPr>
              <a:t>生产</a:t>
            </a:r>
            <a:r>
              <a:rPr lang="en-US" altLang="zh-CN" sz="1600" dirty="0">
                <a:solidFill>
                  <a:schemeClr val="bg1"/>
                </a:solidFill>
                <a:latin typeface="+mj-ea"/>
                <a:ea typeface="+mj-ea"/>
              </a:rPr>
              <a:t>, </a:t>
            </a:r>
            <a:r>
              <a:rPr lang="zh-CN" altLang="en-US" sz="1600" dirty="0">
                <a:solidFill>
                  <a:schemeClr val="bg1"/>
                </a:solidFill>
                <a:latin typeface="+mj-ea"/>
                <a:ea typeface="+mj-ea"/>
              </a:rPr>
              <a:t>数量</a:t>
            </a:r>
            <a:r>
              <a:rPr lang="en-US" altLang="zh-CN" sz="1600" dirty="0">
                <a:solidFill>
                  <a:schemeClr val="bg1"/>
                </a:solidFill>
                <a:latin typeface="+mj-ea"/>
                <a:ea typeface="+mj-ea"/>
              </a:rPr>
              <a:t>100</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C</a:t>
            </a:r>
            <a:r>
              <a:rPr lang="zh-CN" altLang="en-US" sz="1600" dirty="0">
                <a:solidFill>
                  <a:schemeClr val="bg1"/>
                </a:solidFill>
                <a:latin typeface="+mj-ea"/>
                <a:ea typeface="+mj-ea"/>
              </a:rPr>
              <a:t>生产</a:t>
            </a:r>
            <a:r>
              <a:rPr lang="en-US" altLang="zh-CN" sz="1600" dirty="0">
                <a:solidFill>
                  <a:schemeClr val="bg1"/>
                </a:solidFill>
                <a:latin typeface="+mj-ea"/>
                <a:ea typeface="+mj-ea"/>
              </a:rPr>
              <a:t>, </a:t>
            </a:r>
            <a:r>
              <a:rPr lang="zh-CN" altLang="en-US" sz="1600" dirty="0">
                <a:solidFill>
                  <a:schemeClr val="bg1"/>
                </a:solidFill>
                <a:latin typeface="+mj-ea"/>
                <a:ea typeface="+mj-ea"/>
              </a:rPr>
              <a:t>数量</a:t>
            </a:r>
            <a:r>
              <a:rPr lang="en-US" altLang="zh-CN" sz="1600" dirty="0">
                <a:solidFill>
                  <a:schemeClr val="bg1"/>
                </a:solidFill>
                <a:latin typeface="+mj-ea"/>
                <a:ea typeface="+mj-ea"/>
              </a:rPr>
              <a:t>100</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3</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B</a:t>
            </a:r>
            <a:r>
              <a:rPr lang="zh-CN" altLang="en-US" sz="1600" dirty="0">
                <a:solidFill>
                  <a:schemeClr val="bg1"/>
                </a:solidFill>
                <a:latin typeface="+mj-ea"/>
                <a:ea typeface="+mj-ea"/>
              </a:rPr>
              <a:t>生产</a:t>
            </a:r>
            <a:r>
              <a:rPr lang="en-US" altLang="zh-CN" sz="1600" dirty="0">
                <a:solidFill>
                  <a:schemeClr val="bg1"/>
                </a:solidFill>
                <a:latin typeface="+mj-ea"/>
                <a:ea typeface="+mj-ea"/>
              </a:rPr>
              <a:t>, </a:t>
            </a:r>
            <a:r>
              <a:rPr lang="zh-CN" altLang="en-US" sz="1600" dirty="0">
                <a:solidFill>
                  <a:schemeClr val="bg1"/>
                </a:solidFill>
                <a:latin typeface="+mj-ea"/>
                <a:ea typeface="+mj-ea"/>
              </a:rPr>
              <a:t>数量</a:t>
            </a:r>
            <a:r>
              <a:rPr lang="en-US" altLang="zh-CN" sz="1600" dirty="0">
                <a:solidFill>
                  <a:schemeClr val="bg1"/>
                </a:solidFill>
                <a:latin typeface="+mj-ea"/>
                <a:ea typeface="+mj-ea"/>
              </a:rPr>
              <a:t>100</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的优先级高于需求</a:t>
            </a:r>
            <a:r>
              <a:rPr lang="en-US" altLang="zh-CN" sz="1600" dirty="0">
                <a:solidFill>
                  <a:schemeClr val="bg1"/>
                </a:solidFill>
                <a:latin typeface="+mj-ea"/>
                <a:ea typeface="+mj-ea"/>
              </a:rPr>
              <a:t>1</a:t>
            </a: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高于需求</a:t>
            </a:r>
            <a:r>
              <a:rPr lang="en-US" altLang="zh-CN" sz="1600" dirty="0">
                <a:solidFill>
                  <a:schemeClr val="bg1"/>
                </a:solidFill>
                <a:latin typeface="+mj-ea"/>
                <a:ea typeface="+mj-ea"/>
              </a:rPr>
              <a:t>3</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库存</a:t>
            </a:r>
            <a:r>
              <a:rPr lang="en-US" altLang="zh-CN" sz="1600" dirty="0">
                <a:solidFill>
                  <a:schemeClr val="bg1"/>
                </a:solidFill>
                <a:latin typeface="+mj-ea"/>
                <a:ea typeface="+mj-ea"/>
              </a:rPr>
              <a:t>A : 200; </a:t>
            </a:r>
            <a:r>
              <a:rPr lang="zh-CN" altLang="en-US" sz="1600" dirty="0">
                <a:solidFill>
                  <a:schemeClr val="bg1"/>
                </a:solidFill>
                <a:latin typeface="+mj-ea"/>
                <a:ea typeface="+mj-ea"/>
              </a:rPr>
              <a:t>库存</a:t>
            </a:r>
            <a:r>
              <a:rPr lang="en-US" altLang="zh-CN" sz="1600" dirty="0">
                <a:solidFill>
                  <a:schemeClr val="bg1"/>
                </a:solidFill>
                <a:latin typeface="+mj-ea"/>
                <a:ea typeface="+mj-ea"/>
              </a:rPr>
              <a:t>B: </a:t>
            </a:r>
            <a:r>
              <a:rPr lang="zh-CN" altLang="en-US" sz="1600" dirty="0">
                <a:solidFill>
                  <a:schemeClr val="bg1"/>
                </a:solidFill>
                <a:latin typeface="+mj-ea"/>
                <a:ea typeface="+mj-ea"/>
              </a:rPr>
              <a:t>足量</a:t>
            </a:r>
            <a:endParaRPr lang="en-US" altLang="zh-CN" sz="1600" dirty="0">
              <a:solidFill>
                <a:schemeClr val="bg1"/>
              </a:solidFill>
              <a:latin typeface="+mj-ea"/>
              <a:ea typeface="+mj-ea"/>
            </a:endParaRPr>
          </a:p>
        </p:txBody>
      </p:sp>
      <p:sp>
        <p:nvSpPr>
          <p:cNvPr id="10" name="文本框 1">
            <a:extLst>
              <a:ext uri="{FF2B5EF4-FFF2-40B4-BE49-F238E27FC236}">
                <a16:creationId xmlns:a16="http://schemas.microsoft.com/office/drawing/2014/main" id="{773372A6-71FE-8C07-872A-4DE582D9CBED}"/>
              </a:ext>
            </a:extLst>
          </p:cNvPr>
          <p:cNvSpPr txBox="1"/>
          <p:nvPr/>
        </p:nvSpPr>
        <p:spPr>
          <a:xfrm>
            <a:off x="1444254" y="998335"/>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1</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22" name="文本框 1">
            <a:extLst>
              <a:ext uri="{FF2B5EF4-FFF2-40B4-BE49-F238E27FC236}">
                <a16:creationId xmlns:a16="http://schemas.microsoft.com/office/drawing/2014/main" id="{01C93B8E-CA9B-1B1A-F7EC-C735E7706B60}"/>
              </a:ext>
            </a:extLst>
          </p:cNvPr>
          <p:cNvSpPr txBox="1"/>
          <p:nvPr/>
        </p:nvSpPr>
        <p:spPr>
          <a:xfrm>
            <a:off x="3118537" y="1002850"/>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2</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24" name="文本框 1">
            <a:extLst>
              <a:ext uri="{FF2B5EF4-FFF2-40B4-BE49-F238E27FC236}">
                <a16:creationId xmlns:a16="http://schemas.microsoft.com/office/drawing/2014/main" id="{A4C4339D-C3AC-A0AA-A2E4-809A7449CE65}"/>
              </a:ext>
            </a:extLst>
          </p:cNvPr>
          <p:cNvSpPr txBox="1"/>
          <p:nvPr/>
        </p:nvSpPr>
        <p:spPr>
          <a:xfrm>
            <a:off x="4849284" y="1016630"/>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3</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25" name="文本框 1">
            <a:extLst>
              <a:ext uri="{FF2B5EF4-FFF2-40B4-BE49-F238E27FC236}">
                <a16:creationId xmlns:a16="http://schemas.microsoft.com/office/drawing/2014/main" id="{CFF0A0AA-8AD7-97B3-DE05-A0FD642DF61F}"/>
              </a:ext>
            </a:extLst>
          </p:cNvPr>
          <p:cNvSpPr txBox="1"/>
          <p:nvPr/>
        </p:nvSpPr>
        <p:spPr>
          <a:xfrm>
            <a:off x="6372226" y="998335"/>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4</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Tree>
    <p:custDataLst>
      <p:tags r:id="rId1"/>
    </p:custData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23" presetClass="entr" presetSubtype="16"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 calcmode="lin" valueType="num">
                                      <p:cBhvr>
                                        <p:cTn id="10" dur="500" fill="hold"/>
                                        <p:tgtEl>
                                          <p:spTgt spid="16"/>
                                        </p:tgtEl>
                                        <p:attrNameLst>
                                          <p:attrName>ppt_w</p:attrName>
                                        </p:attrNameLst>
                                      </p:cBhvr>
                                      <p:tavLst>
                                        <p:tav tm="0">
                                          <p:val>
                                            <p:fltVal val="0"/>
                                          </p:val>
                                        </p:tav>
                                        <p:tav tm="100000">
                                          <p:val>
                                            <p:strVal val="#ppt_w"/>
                                          </p:val>
                                        </p:tav>
                                      </p:tavLst>
                                    </p:anim>
                                    <p:anim calcmode="lin" valueType="num">
                                      <p:cBhvr>
                                        <p:cTn id="11" dur="500" fill="hold"/>
                                        <p:tgtEl>
                                          <p:spTgt spid="16"/>
                                        </p:tgtEl>
                                        <p:attrNameLst>
                                          <p:attrName>ppt_h</p:attrName>
                                        </p:attrNameLst>
                                      </p:cBhvr>
                                      <p:tavLst>
                                        <p:tav tm="0">
                                          <p:val>
                                            <p:fltVal val="0"/>
                                          </p:val>
                                        </p:tav>
                                        <p:tav tm="100000">
                                          <p:val>
                                            <p:strVal val="#ppt_h"/>
                                          </p:val>
                                        </p:tav>
                                      </p:tavLst>
                                    </p:anim>
                                  </p:childTnLst>
                                </p:cTn>
                              </p:par>
                            </p:childTnLst>
                          </p:cTn>
                        </p:par>
                        <p:par>
                          <p:cTn id="12" fill="hold">
                            <p:stCondLst>
                              <p:cond delay="500"/>
                            </p:stCondLst>
                            <p:childTnLst>
                              <p:par>
                                <p:cTn id="13" presetID="22" presetClass="entr" presetSubtype="4"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wipe(down)">
                                      <p:cBhvr>
                                        <p:cTn id="15" dur="500"/>
                                        <p:tgtEl>
                                          <p:spTgt spid="17"/>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par>
                                <p:cTn id="21" presetID="23" presetClass="entr" presetSubtype="16"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ppt_w</p:attrName>
                                        </p:attrNameLst>
                                      </p:cBhvr>
                                      <p:tavLst>
                                        <p:tav tm="0">
                                          <p:val>
                                            <p:fltVal val="0"/>
                                          </p:val>
                                        </p:tav>
                                        <p:tav tm="100000">
                                          <p:val>
                                            <p:strVal val="#ppt_w"/>
                                          </p:val>
                                        </p:tav>
                                      </p:tavLst>
                                    </p:anim>
                                    <p:anim calcmode="lin" valueType="num">
                                      <p:cBhvr>
                                        <p:cTn id="24" dur="500" fill="hold"/>
                                        <p:tgtEl>
                                          <p:spTgt spid="12"/>
                                        </p:tgtEl>
                                        <p:attrNameLst>
                                          <p:attrName>ppt_h</p:attrName>
                                        </p:attrNameLst>
                                      </p:cBhvr>
                                      <p:tavLst>
                                        <p:tav tm="0">
                                          <p:val>
                                            <p:fltVal val="0"/>
                                          </p:val>
                                        </p:tav>
                                        <p:tav tm="100000">
                                          <p:val>
                                            <p:strVal val="#ppt_h"/>
                                          </p:val>
                                        </p:tav>
                                      </p:tavLst>
                                    </p:anim>
                                  </p:childTnLst>
                                </p:cTn>
                              </p:par>
                              <p:par>
                                <p:cTn id="25" presetID="23" presetClass="entr" presetSubtype="16" fill="hold" nodeType="with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p:cTn id="27" dur="500" fill="hold"/>
                                        <p:tgtEl>
                                          <p:spTgt spid="13"/>
                                        </p:tgtEl>
                                        <p:attrNameLst>
                                          <p:attrName>ppt_w</p:attrName>
                                        </p:attrNameLst>
                                      </p:cBhvr>
                                      <p:tavLst>
                                        <p:tav tm="0">
                                          <p:val>
                                            <p:fltVal val="0"/>
                                          </p:val>
                                        </p:tav>
                                        <p:tav tm="100000">
                                          <p:val>
                                            <p:strVal val="#ppt_w"/>
                                          </p:val>
                                        </p:tav>
                                      </p:tavLst>
                                    </p:anim>
                                    <p:anim calcmode="lin" valueType="num">
                                      <p:cBhvr>
                                        <p:cTn id="28" dur="500" fill="hold"/>
                                        <p:tgtEl>
                                          <p:spTgt spid="13"/>
                                        </p:tgtEl>
                                        <p:attrNameLst>
                                          <p:attrName>ppt_h</p:attrName>
                                        </p:attrNameLst>
                                      </p:cBhvr>
                                      <p:tavLst>
                                        <p:tav tm="0">
                                          <p:val>
                                            <p:fltVal val="0"/>
                                          </p:val>
                                        </p:tav>
                                        <p:tav tm="100000">
                                          <p:val>
                                            <p:strVal val="#ppt_h"/>
                                          </p:val>
                                        </p:tav>
                                      </p:tavLst>
                                    </p:anim>
                                  </p:childTnLst>
                                </p:cTn>
                              </p:par>
                              <p:par>
                                <p:cTn id="29" presetID="42" presetClass="entr" presetSubtype="0" fill="hold" grpId="0" nodeType="withEffect">
                                  <p:stCondLst>
                                    <p:cond delay="0"/>
                                  </p:stCondLst>
                                  <p:iterate type="lt">
                                    <p:tmPct val="0"/>
                                  </p:iterate>
                                  <p:childTnLst>
                                    <p:set>
                                      <p:cBhvr>
                                        <p:cTn id="30" dur="1" fill="hold">
                                          <p:stCondLst>
                                            <p:cond delay="0"/>
                                          </p:stCondLst>
                                        </p:cTn>
                                        <p:tgtEl>
                                          <p:spTgt spid="19"/>
                                        </p:tgtEl>
                                        <p:attrNameLst>
                                          <p:attrName>style.visibility</p:attrName>
                                        </p:attrNameLst>
                                      </p:cBhvr>
                                      <p:to>
                                        <p:strVal val="visible"/>
                                      </p:to>
                                    </p:set>
                                    <p:animEffect transition="in" filter="fade">
                                      <p:cBhvr>
                                        <p:cTn id="31" dur="1000"/>
                                        <p:tgtEl>
                                          <p:spTgt spid="19"/>
                                        </p:tgtEl>
                                      </p:cBhvr>
                                    </p:animEffect>
                                    <p:anim calcmode="lin" valueType="num">
                                      <p:cBhvr>
                                        <p:cTn id="32" dur="1000" fill="hold"/>
                                        <p:tgtEl>
                                          <p:spTgt spid="19"/>
                                        </p:tgtEl>
                                        <p:attrNameLst>
                                          <p:attrName>ppt_x</p:attrName>
                                        </p:attrNameLst>
                                      </p:cBhvr>
                                      <p:tavLst>
                                        <p:tav tm="0">
                                          <p:val>
                                            <p:strVal val="#ppt_x"/>
                                          </p:val>
                                        </p:tav>
                                        <p:tav tm="100000">
                                          <p:val>
                                            <p:strVal val="#ppt_x"/>
                                          </p:val>
                                        </p:tav>
                                      </p:tavLst>
                                    </p:anim>
                                    <p:anim calcmode="lin" valueType="num">
                                      <p:cBhvr>
                                        <p:cTn id="33"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8" grpId="0" animBg="1"/>
      <p:bldP spid="19"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直接箭头连接符 6"/>
          <p:cNvCxnSpPr/>
          <p:nvPr/>
        </p:nvCxnSpPr>
        <p:spPr>
          <a:xfrm>
            <a:off x="1187451" y="3748617"/>
            <a:ext cx="9334500" cy="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3" name="直接箭头连接符 13"/>
          <p:cNvCxnSpPr/>
          <p:nvPr/>
        </p:nvCxnSpPr>
        <p:spPr>
          <a:xfrm>
            <a:off x="5361518" y="2870201"/>
            <a:ext cx="6351" cy="87841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4" name="直接箭头连接符 15"/>
          <p:cNvCxnSpPr/>
          <p:nvPr/>
        </p:nvCxnSpPr>
        <p:spPr>
          <a:xfrm>
            <a:off x="6805084" y="2870201"/>
            <a:ext cx="0" cy="87841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23"/>
          <p:cNvCxnSpPr/>
          <p:nvPr/>
        </p:nvCxnSpPr>
        <p:spPr>
          <a:xfrm flipV="1">
            <a:off x="3075517" y="3748618"/>
            <a:ext cx="0" cy="67310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35"/>
          <p:cNvCxnSpPr/>
          <p:nvPr/>
        </p:nvCxnSpPr>
        <p:spPr>
          <a:xfrm flipV="1">
            <a:off x="3075517" y="4624917"/>
            <a:ext cx="0" cy="670984"/>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33799" name="矩形 27"/>
          <p:cNvSpPr/>
          <p:nvPr/>
        </p:nvSpPr>
        <p:spPr>
          <a:xfrm>
            <a:off x="4663018" y="2478618"/>
            <a:ext cx="1441449"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endParaRPr lang="zh-CN" altLang="en-US" sz="1600" dirty="0">
              <a:solidFill>
                <a:schemeClr val="bg1"/>
              </a:solidFill>
              <a:latin typeface="+mj-ea"/>
              <a:ea typeface="+mj-ea"/>
            </a:endParaRPr>
          </a:p>
        </p:txBody>
      </p:sp>
      <p:sp>
        <p:nvSpPr>
          <p:cNvPr id="8" name="矩形 7"/>
          <p:cNvSpPr/>
          <p:nvPr/>
        </p:nvSpPr>
        <p:spPr>
          <a:xfrm>
            <a:off x="6201834" y="2470151"/>
            <a:ext cx="1439333" cy="369310"/>
          </a:xfrm>
          <a:prstGeom prst="rect">
            <a:avLst/>
          </a:prstGeom>
          <a:solidFill>
            <a:schemeClr val="accent6"/>
          </a:solidFill>
        </p:spPr>
        <p:txBody>
          <a:bodyPr lIns="121899" tIns="60949" rIns="121899" bIns="60949">
            <a:spAutoFit/>
          </a:bodyPr>
          <a:lstStyle/>
          <a:p>
            <a:pPr algn="ctr" defTabSz="1217476" fontAlgn="base">
              <a:spcBef>
                <a:spcPct val="0"/>
              </a:spcBef>
              <a:spcAft>
                <a:spcPct val="0"/>
              </a:spcAft>
              <a:defRPr/>
            </a:pPr>
            <a:r>
              <a:rPr lang="zh-CN" altLang="en-US" sz="1600" dirty="0">
                <a:solidFill>
                  <a:schemeClr val="bg1"/>
                </a:solidFill>
                <a:latin typeface="+mj-ea"/>
                <a:ea typeface="+mj-ea"/>
                <a:cs typeface="微软雅黑" panose="020B0503020204020204" pitchFamily="34" charset="-122"/>
              </a:rPr>
              <a:t>需求</a:t>
            </a:r>
            <a:r>
              <a:rPr lang="en-US" altLang="zh-CN" sz="1600" dirty="0">
                <a:solidFill>
                  <a:schemeClr val="bg1"/>
                </a:solidFill>
                <a:latin typeface="+mj-ea"/>
                <a:ea typeface="+mj-ea"/>
                <a:cs typeface="微软雅黑" panose="020B0503020204020204" pitchFamily="34" charset="-122"/>
              </a:rPr>
              <a:t>3</a:t>
            </a:r>
            <a:endParaRPr lang="zh-CN" altLang="en-US" sz="1600" dirty="0">
              <a:solidFill>
                <a:schemeClr val="bg1"/>
              </a:solidFill>
              <a:latin typeface="+mj-ea"/>
              <a:ea typeface="+mj-ea"/>
              <a:cs typeface="微软雅黑" panose="020B0503020204020204" pitchFamily="34" charset="-122"/>
            </a:endParaRPr>
          </a:p>
        </p:txBody>
      </p:sp>
      <p:sp>
        <p:nvSpPr>
          <p:cNvPr id="33801" name="矩形 28"/>
          <p:cNvSpPr/>
          <p:nvPr/>
        </p:nvSpPr>
        <p:spPr>
          <a:xfrm>
            <a:off x="1684867" y="3941234"/>
            <a:ext cx="1390651" cy="348856"/>
          </a:xfrm>
          <a:prstGeom prst="rect">
            <a:avLst/>
          </a:prstGeom>
          <a:solidFill>
            <a:schemeClr val="accent2"/>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467" dirty="0">
                <a:solidFill>
                  <a:schemeClr val="bg1"/>
                </a:solidFill>
                <a:latin typeface="+mj-ea"/>
                <a:ea typeface="+mj-ea"/>
              </a:rPr>
              <a:t>库存</a:t>
            </a:r>
            <a:r>
              <a:rPr lang="en-US" altLang="zh-CN" sz="1467" dirty="0">
                <a:solidFill>
                  <a:schemeClr val="bg1"/>
                </a:solidFill>
                <a:latin typeface="+mj-ea"/>
                <a:ea typeface="+mj-ea"/>
              </a:rPr>
              <a:t>A 0</a:t>
            </a:r>
            <a:endParaRPr lang="zh-CN" altLang="en-US" sz="1467" dirty="0">
              <a:solidFill>
                <a:schemeClr val="bg1"/>
              </a:solidFill>
              <a:latin typeface="+mj-ea"/>
              <a:ea typeface="+mj-ea"/>
            </a:endParaRPr>
          </a:p>
        </p:txBody>
      </p:sp>
      <p:sp>
        <p:nvSpPr>
          <p:cNvPr id="33802" name="矩形 41"/>
          <p:cNvSpPr/>
          <p:nvPr/>
        </p:nvSpPr>
        <p:spPr>
          <a:xfrm>
            <a:off x="1684867" y="4756151"/>
            <a:ext cx="1390651"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库存</a:t>
            </a:r>
            <a:r>
              <a:rPr lang="en-US" altLang="zh-CN" sz="1600" dirty="0">
                <a:solidFill>
                  <a:schemeClr val="bg1"/>
                </a:solidFill>
                <a:latin typeface="+mj-ea"/>
                <a:ea typeface="+mj-ea"/>
              </a:rPr>
              <a:t> B</a:t>
            </a:r>
            <a:endParaRPr lang="zh-CN" altLang="en-US" sz="1600" dirty="0">
              <a:solidFill>
                <a:schemeClr val="bg1"/>
              </a:solidFill>
              <a:latin typeface="+mj-ea"/>
              <a:ea typeface="+mj-ea"/>
            </a:endParaRPr>
          </a:p>
        </p:txBody>
      </p:sp>
      <p:cxnSp>
        <p:nvCxnSpPr>
          <p:cNvPr id="12" name="直接连接符 7"/>
          <p:cNvCxnSpPr/>
          <p:nvPr/>
        </p:nvCxnSpPr>
        <p:spPr>
          <a:xfrm>
            <a:off x="7647517" y="1657351"/>
            <a:ext cx="0" cy="4013200"/>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3" name="Line 58"/>
          <p:cNvSpPr/>
          <p:nvPr/>
        </p:nvSpPr>
        <p:spPr>
          <a:xfrm flipH="1">
            <a:off x="5122333" y="3062817"/>
            <a:ext cx="239184" cy="1513416"/>
          </a:xfrm>
          <a:prstGeom prst="line">
            <a:avLst/>
          </a:prstGeom>
          <a:ln w="19050" cap="flat" cmpd="sng" algn="ctr">
            <a:solidFill>
              <a:schemeClr val="bg1"/>
            </a:solidFill>
            <a:prstDash val="dash"/>
            <a:round/>
            <a:headEnd type="none" w="med" len="med"/>
            <a:tailEnd type="triangle" w="med" len="med"/>
          </a:ln>
        </p:spPr>
        <p:style>
          <a:lnRef idx="0">
            <a:scrgbClr r="0" g="0" b="0"/>
          </a:lnRef>
          <a:fillRef idx="0">
            <a:scrgbClr r="0" g="0" b="0"/>
          </a:fillRef>
          <a:effectRef idx="0">
            <a:scrgbClr r="0" g="0" b="0"/>
          </a:effectRef>
          <a:fontRef idx="minor">
            <a:schemeClr val="tx1"/>
          </a:fontRef>
        </p:style>
        <p:txBody>
          <a:bodyPr/>
          <a:lstStyle/>
          <a:p>
            <a:endParaRPr lang="zh-CN" altLang="en-US">
              <a:solidFill>
                <a:schemeClr val="bg1"/>
              </a:solidFill>
              <a:latin typeface="+mj-ea"/>
              <a:ea typeface="+mj-ea"/>
            </a:endParaRPr>
          </a:p>
        </p:txBody>
      </p:sp>
      <p:sp>
        <p:nvSpPr>
          <p:cNvPr id="14" name="TextBox 8"/>
          <p:cNvSpPr txBox="1"/>
          <p:nvPr/>
        </p:nvSpPr>
        <p:spPr>
          <a:xfrm rot="1341718">
            <a:off x="4358691" y="3873695"/>
            <a:ext cx="1527941" cy="369310"/>
          </a:xfrm>
          <a:prstGeom prst="rect">
            <a:avLst/>
          </a:prstGeom>
          <a:noFill/>
          <a:scene3d>
            <a:camera prst="orthographicFront">
              <a:rot lat="905603" lon="27023" rev="1494456"/>
            </a:camera>
            <a:lightRig rig="threePt" dir="t"/>
          </a:scene3d>
        </p:spPr>
        <p:txBody>
          <a:bodyPr lIns="121899" tIns="60949" rIns="121899" bIns="60949">
            <a:spAutoFit/>
          </a:bodyPr>
          <a:lstStyle/>
          <a:p>
            <a:pPr defTabSz="1219170">
              <a:defRPr/>
            </a:pPr>
            <a:r>
              <a:rPr lang="zh-CN" altLang="en-US" sz="1600" dirty="0">
                <a:solidFill>
                  <a:schemeClr val="bg1"/>
                </a:solidFill>
                <a:latin typeface="+mj-ea"/>
                <a:ea typeface="+mj-ea"/>
              </a:rPr>
              <a:t>不齐套</a:t>
            </a:r>
          </a:p>
        </p:txBody>
      </p:sp>
      <p:sp>
        <p:nvSpPr>
          <p:cNvPr id="15" name="矩形标注 14"/>
          <p:cNvSpPr/>
          <p:nvPr/>
        </p:nvSpPr>
        <p:spPr>
          <a:xfrm>
            <a:off x="4640793" y="1775388"/>
            <a:ext cx="1485900" cy="508000"/>
          </a:xfrm>
          <a:prstGeom prst="wedgeRectCallout">
            <a:avLst>
              <a:gd name="adj1" fmla="val 782"/>
              <a:gd name="adj2" fmla="val 90562"/>
            </a:avLst>
          </a:prstGeom>
          <a:solidFill>
            <a:srgbClr val="66009B"/>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dirty="0">
                <a:solidFill>
                  <a:schemeClr val="bg1"/>
                </a:solidFill>
                <a:latin typeface="+mj-ea"/>
                <a:ea typeface="+mj-ea"/>
                <a:cs typeface="微软雅黑" panose="020B0503020204020204" pitchFamily="34" charset="-122"/>
              </a:rPr>
              <a:t>生产计划</a:t>
            </a:r>
          </a:p>
        </p:txBody>
      </p:sp>
      <p:sp>
        <p:nvSpPr>
          <p:cNvPr id="16" name="圆角矩形 15"/>
          <p:cNvSpPr/>
          <p:nvPr/>
        </p:nvSpPr>
        <p:spPr>
          <a:xfrm>
            <a:off x="7844367" y="1316567"/>
            <a:ext cx="4055533" cy="2252133"/>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lvl1pPr defTabSz="913130">
              <a:defRPr kumimoji="1" sz="2400">
                <a:solidFill>
                  <a:schemeClr val="tx1"/>
                </a:solidFill>
                <a:latin typeface="Calibri" panose="020F0502020204030204" pitchFamily="34" charset="0"/>
                <a:ea typeface="宋体" panose="02010600030101010101" pitchFamily="2" charset="-122"/>
              </a:defRPr>
            </a:lvl1pPr>
            <a:lvl2pPr marL="742950" indent="-285750" defTabSz="913130">
              <a:defRPr kumimoji="1" sz="2400">
                <a:solidFill>
                  <a:schemeClr val="tx1"/>
                </a:solidFill>
                <a:latin typeface="Calibri" panose="020F0502020204030204" pitchFamily="34" charset="0"/>
                <a:ea typeface="宋体" panose="02010600030101010101" pitchFamily="2" charset="-122"/>
              </a:defRPr>
            </a:lvl2pPr>
            <a:lvl3pPr marL="1143000" indent="-228600" defTabSz="913130">
              <a:defRPr kumimoji="1" sz="2400">
                <a:solidFill>
                  <a:schemeClr val="tx1"/>
                </a:solidFill>
                <a:latin typeface="Calibri" panose="020F0502020204030204" pitchFamily="34" charset="0"/>
                <a:ea typeface="宋体" panose="02010600030101010101" pitchFamily="2" charset="-122"/>
              </a:defRPr>
            </a:lvl3pPr>
            <a:lvl4pPr marL="1600200" indent="-228600" defTabSz="913130">
              <a:defRPr kumimoji="1" sz="2400">
                <a:solidFill>
                  <a:schemeClr val="tx1"/>
                </a:solidFill>
                <a:latin typeface="Calibri" panose="020F0502020204030204" pitchFamily="34" charset="0"/>
                <a:ea typeface="宋体" panose="02010600030101010101" pitchFamily="2" charset="-122"/>
              </a:defRPr>
            </a:lvl4pPr>
            <a:lvl5pPr marL="2057400" indent="-228600" defTabSz="913130">
              <a:defRPr kumimoji="1" sz="2400">
                <a:solidFill>
                  <a:schemeClr val="tx1"/>
                </a:solidFill>
                <a:latin typeface="Calibri" panose="020F0502020204030204" pitchFamily="34" charset="0"/>
                <a:ea typeface="宋体" panose="02010600030101010101" pitchFamily="2" charset="-122"/>
              </a:defRPr>
            </a:lvl5pPr>
            <a:lvl6pPr marL="25146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6pPr>
            <a:lvl7pPr marL="29718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7pPr>
            <a:lvl8pPr marL="34290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8pPr>
            <a:lvl9pPr marL="38862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9pPr>
          </a:lstStyle>
          <a:p>
            <a:pPr defTabSz="1217476" fontAlgn="base">
              <a:spcBef>
                <a:spcPct val="0"/>
              </a:spcBef>
              <a:spcAft>
                <a:spcPct val="0"/>
              </a:spcAft>
              <a:defRPr/>
            </a:pPr>
            <a:r>
              <a:rPr kumimoji="0" lang="zh-CN" altLang="en-US" sz="1600" dirty="0">
                <a:solidFill>
                  <a:schemeClr val="bg1"/>
                </a:solidFill>
                <a:latin typeface="+mj-ea"/>
                <a:ea typeface="+mj-ea"/>
              </a:rPr>
              <a:t>第三天的生产计划：</a:t>
            </a:r>
            <a:endParaRPr kumimoji="0" lang="en-US" altLang="zh-CN" sz="1600" dirty="0">
              <a:solidFill>
                <a:schemeClr val="bg1"/>
              </a:solidFill>
              <a:latin typeface="+mj-ea"/>
              <a:ea typeface="+mj-ea"/>
            </a:endParaRPr>
          </a:p>
          <a:p>
            <a:pPr marL="285750" indent="-285750"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虽然</a:t>
            </a:r>
            <a:r>
              <a:rPr kumimoji="0" lang="en-US" altLang="zh-CN" sz="1600" dirty="0">
                <a:solidFill>
                  <a:schemeClr val="bg1"/>
                </a:solidFill>
                <a:latin typeface="+mj-ea"/>
                <a:ea typeface="+mj-ea"/>
              </a:rPr>
              <a:t>C</a:t>
            </a:r>
            <a:r>
              <a:rPr kumimoji="0" lang="zh-CN" altLang="en-US" sz="1600" dirty="0">
                <a:solidFill>
                  <a:schemeClr val="bg1"/>
                </a:solidFill>
                <a:latin typeface="+mj-ea"/>
                <a:ea typeface="+mj-ea"/>
              </a:rPr>
              <a:t>已经到货但是需求</a:t>
            </a:r>
            <a:r>
              <a:rPr kumimoji="0" lang="en-US" altLang="zh-CN" sz="1600" dirty="0">
                <a:solidFill>
                  <a:schemeClr val="bg1"/>
                </a:solidFill>
                <a:latin typeface="+mj-ea"/>
                <a:ea typeface="+mj-ea"/>
              </a:rPr>
              <a:t>2</a:t>
            </a:r>
            <a:r>
              <a:rPr kumimoji="0" lang="zh-CN" altLang="en-US" sz="1600" dirty="0">
                <a:solidFill>
                  <a:schemeClr val="bg1"/>
                </a:solidFill>
                <a:latin typeface="+mj-ea"/>
                <a:ea typeface="+mj-ea"/>
              </a:rPr>
              <a:t>还是不齐套</a:t>
            </a:r>
            <a:r>
              <a:rPr kumimoji="0" lang="en-US" altLang="zh-CN" sz="1600" dirty="0">
                <a:solidFill>
                  <a:schemeClr val="bg1"/>
                </a:solidFill>
                <a:latin typeface="+mj-ea"/>
                <a:ea typeface="+mj-ea"/>
              </a:rPr>
              <a:t>, </a:t>
            </a:r>
          </a:p>
          <a:p>
            <a:pPr marL="285750" indent="-285750"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不仅不能按时，而且交期到底在哪天已经不知道了</a:t>
            </a:r>
            <a:endParaRPr kumimoji="0" lang="en-US" altLang="zh-CN" sz="1600" dirty="0">
              <a:solidFill>
                <a:schemeClr val="bg1"/>
              </a:solidFill>
              <a:latin typeface="+mj-ea"/>
              <a:ea typeface="+mj-ea"/>
            </a:endParaRPr>
          </a:p>
          <a:p>
            <a:pPr marL="285750" indent="-285750"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这种情况会不断地发生</a:t>
            </a:r>
            <a:endParaRPr kumimoji="0" lang="en-US" altLang="zh-CN" sz="1600" dirty="0">
              <a:solidFill>
                <a:schemeClr val="bg1"/>
              </a:solidFill>
              <a:latin typeface="+mj-ea"/>
              <a:ea typeface="+mj-ea"/>
            </a:endParaRPr>
          </a:p>
        </p:txBody>
      </p:sp>
      <p:cxnSp>
        <p:nvCxnSpPr>
          <p:cNvPr id="17" name="直接箭头连接符 25"/>
          <p:cNvCxnSpPr>
            <a:stCxn id="18" idx="2"/>
          </p:cNvCxnSpPr>
          <p:nvPr/>
        </p:nvCxnSpPr>
        <p:spPr>
          <a:xfrm flipH="1">
            <a:off x="3845984" y="2854277"/>
            <a:ext cx="1" cy="852008"/>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8" name="矩形 17"/>
          <p:cNvSpPr/>
          <p:nvPr/>
        </p:nvSpPr>
        <p:spPr>
          <a:xfrm>
            <a:off x="3126318" y="2484967"/>
            <a:ext cx="1439333" cy="369310"/>
          </a:xfrm>
          <a:prstGeom prst="rect">
            <a:avLst/>
          </a:prstGeom>
          <a:solidFill>
            <a:schemeClr val="accent6"/>
          </a:solidFill>
        </p:spPr>
        <p:txBody>
          <a:bodyPr lIns="121899" tIns="60949" rIns="121899" bIns="60949">
            <a:spAutoFit/>
          </a:bodyPr>
          <a:lstStyle/>
          <a:p>
            <a:pPr algn="ctr" defTabSz="1217476" fontAlgn="base">
              <a:spcBef>
                <a:spcPct val="0"/>
              </a:spcBef>
              <a:spcAft>
                <a:spcPct val="0"/>
              </a:spcAft>
              <a:defRPr/>
            </a:pPr>
            <a:r>
              <a:rPr lang="zh-CN" altLang="en-US" sz="1600" dirty="0">
                <a:solidFill>
                  <a:schemeClr val="bg1"/>
                </a:solidFill>
                <a:latin typeface="+mj-ea"/>
                <a:ea typeface="+mj-ea"/>
                <a:cs typeface="微软雅黑" panose="020B0503020204020204" pitchFamily="34" charset="-122"/>
              </a:rPr>
              <a:t>需求</a:t>
            </a:r>
            <a:r>
              <a:rPr lang="en-US" altLang="zh-CN" sz="1600" dirty="0">
                <a:solidFill>
                  <a:schemeClr val="bg1"/>
                </a:solidFill>
                <a:latin typeface="+mj-ea"/>
                <a:ea typeface="+mj-ea"/>
                <a:cs typeface="微软雅黑" panose="020B0503020204020204" pitchFamily="34" charset="-122"/>
              </a:rPr>
              <a:t>1</a:t>
            </a:r>
            <a:endParaRPr lang="zh-CN" altLang="en-US" sz="1600" dirty="0">
              <a:solidFill>
                <a:schemeClr val="bg1"/>
              </a:solidFill>
              <a:latin typeface="+mj-ea"/>
              <a:ea typeface="+mj-ea"/>
              <a:cs typeface="微软雅黑" panose="020B0503020204020204" pitchFamily="34" charset="-122"/>
            </a:endParaRPr>
          </a:p>
        </p:txBody>
      </p:sp>
      <p:sp>
        <p:nvSpPr>
          <p:cNvPr id="33811" name="矩形 30"/>
          <p:cNvSpPr/>
          <p:nvPr/>
        </p:nvSpPr>
        <p:spPr>
          <a:xfrm>
            <a:off x="4552950" y="4576234"/>
            <a:ext cx="1617135" cy="634020"/>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chemeClr val="bg1"/>
                </a:solidFill>
                <a:latin typeface="+mj-ea"/>
                <a:ea typeface="+mj-ea"/>
              </a:rPr>
              <a:t>计划到货</a:t>
            </a:r>
            <a:r>
              <a:rPr lang="en-US" altLang="zh-CN" sz="1600" dirty="0">
                <a:solidFill>
                  <a:schemeClr val="bg1"/>
                </a:solidFill>
                <a:latin typeface="+mj-ea"/>
                <a:ea typeface="+mj-ea"/>
              </a:rPr>
              <a:t>C</a:t>
            </a:r>
          </a:p>
          <a:p>
            <a:pPr marL="0" indent="0" algn="ctr" defTabSz="1217476" eaLnBrk="1" hangingPunct="1">
              <a:buNone/>
            </a:pPr>
            <a:r>
              <a:rPr lang="en-US" altLang="zh-CN" sz="1600" dirty="0">
                <a:solidFill>
                  <a:schemeClr val="bg1"/>
                </a:solidFill>
                <a:latin typeface="+mj-ea"/>
                <a:ea typeface="+mj-ea"/>
              </a:rPr>
              <a:t>100</a:t>
            </a:r>
            <a:endParaRPr lang="zh-CN" altLang="en-US" sz="1600" dirty="0">
              <a:solidFill>
                <a:schemeClr val="bg1"/>
              </a:solidFill>
              <a:latin typeface="+mj-ea"/>
              <a:ea typeface="+mj-ea"/>
            </a:endParaRPr>
          </a:p>
        </p:txBody>
      </p:sp>
      <p:cxnSp>
        <p:nvCxnSpPr>
          <p:cNvPr id="20" name="直接箭头连接符 31"/>
          <p:cNvCxnSpPr/>
          <p:nvPr/>
        </p:nvCxnSpPr>
        <p:spPr>
          <a:xfrm flipV="1">
            <a:off x="5359400" y="3748618"/>
            <a:ext cx="8467" cy="82761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33814" name="Title 37"/>
          <p:cNvSpPr>
            <a:spLocks noGrp="1"/>
          </p:cNvSpPr>
          <p:nvPr>
            <p:ph type="title" idx="4294967295"/>
          </p:nvPr>
        </p:nvSpPr>
        <p:spPr>
          <a:xfrm>
            <a:off x="1119188" y="228600"/>
            <a:ext cx="11072812" cy="520700"/>
          </a:xfrm>
          <a:prstGeom prst="rect">
            <a:avLst/>
          </a:prstGeom>
        </p:spPr>
        <p:txBody>
          <a:bodyPr vert="horz" wrap="square" lIns="121920" tIns="60960" rIns="121920" bIns="60960" anchor="ctr" anchorCtr="0">
            <a:normAutofit/>
          </a:bodyPr>
          <a:lstStyle/>
          <a:p>
            <a:pPr eaLnBrk="1" hangingPunct="1"/>
            <a:r>
              <a:rPr lang="zh-CN" altLang="en-US" dirty="0">
                <a:solidFill>
                  <a:schemeClr val="bg1"/>
                </a:solidFill>
                <a:latin typeface="+mj-ea"/>
              </a:rPr>
              <a:t>场景</a:t>
            </a:r>
            <a:r>
              <a:rPr lang="en-US" altLang="zh-CN" b="1" dirty="0">
                <a:solidFill>
                  <a:schemeClr val="bg1"/>
                </a:solidFill>
                <a:latin typeface="+mj-ea"/>
              </a:rPr>
              <a:t> #1: </a:t>
            </a:r>
            <a:r>
              <a:rPr lang="zh-CN" altLang="en-US" dirty="0">
                <a:solidFill>
                  <a:schemeClr val="bg1"/>
                </a:solidFill>
                <a:latin typeface="+mj-ea"/>
              </a:rPr>
              <a:t>挑战</a:t>
            </a:r>
            <a:r>
              <a:rPr lang="en-US" altLang="zh-CN" b="1" dirty="0">
                <a:solidFill>
                  <a:schemeClr val="bg1"/>
                </a:solidFill>
                <a:latin typeface="+mj-ea"/>
              </a:rPr>
              <a:t> D</a:t>
            </a:r>
            <a:r>
              <a:rPr lang="zh-CN" altLang="en-US" b="1" dirty="0">
                <a:solidFill>
                  <a:schemeClr val="bg1"/>
                </a:solidFill>
                <a:latin typeface="+mj-ea"/>
              </a:rPr>
              <a:t>，第</a:t>
            </a:r>
            <a:r>
              <a:rPr lang="en-US" altLang="zh-CN" dirty="0">
                <a:solidFill>
                  <a:schemeClr val="bg1"/>
                </a:solidFill>
                <a:latin typeface="+mj-ea"/>
              </a:rPr>
              <a:t>3</a:t>
            </a:r>
            <a:r>
              <a:rPr lang="zh-CN" altLang="en-US" b="1" dirty="0">
                <a:solidFill>
                  <a:schemeClr val="bg1"/>
                </a:solidFill>
                <a:latin typeface="+mj-ea"/>
              </a:rPr>
              <a:t>天</a:t>
            </a:r>
            <a:endParaRPr lang="en-US" altLang="zh-CN" b="1" dirty="0">
              <a:solidFill>
                <a:schemeClr val="bg1"/>
              </a:solidFill>
              <a:latin typeface="+mj-ea"/>
            </a:endParaRPr>
          </a:p>
        </p:txBody>
      </p:sp>
      <p:cxnSp>
        <p:nvCxnSpPr>
          <p:cNvPr id="32" name="直接连接符 7"/>
          <p:cNvCxnSpPr/>
          <p:nvPr/>
        </p:nvCxnSpPr>
        <p:spPr>
          <a:xfrm>
            <a:off x="3088217" y="1657351"/>
            <a:ext cx="0" cy="2091267"/>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接连接符 7"/>
          <p:cNvCxnSpPr/>
          <p:nvPr/>
        </p:nvCxnSpPr>
        <p:spPr>
          <a:xfrm flipH="1">
            <a:off x="4635500" y="1657351"/>
            <a:ext cx="0" cy="4013200"/>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4" name="直接连接符 7"/>
          <p:cNvCxnSpPr/>
          <p:nvPr/>
        </p:nvCxnSpPr>
        <p:spPr>
          <a:xfrm>
            <a:off x="6170084" y="1657351"/>
            <a:ext cx="0" cy="4013200"/>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6" name="圆角矩形 45"/>
          <p:cNvSpPr/>
          <p:nvPr/>
        </p:nvSpPr>
        <p:spPr>
          <a:xfrm>
            <a:off x="7808384" y="4042834"/>
            <a:ext cx="4091517" cy="1424517"/>
          </a:xfrm>
          <a:prstGeom prst="round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lvl1pPr marL="284480" indent="-284480" defTabSz="913130">
              <a:defRPr kumimoji="1" sz="2400">
                <a:solidFill>
                  <a:schemeClr val="tx1"/>
                </a:solidFill>
                <a:latin typeface="Calibri" panose="020F0502020204030204" pitchFamily="34" charset="0"/>
                <a:ea typeface="宋体" panose="02010600030101010101" pitchFamily="2" charset="-122"/>
              </a:defRPr>
            </a:lvl1pPr>
            <a:lvl2pPr marL="742950" indent="-285750" defTabSz="913130">
              <a:defRPr kumimoji="1" sz="2400">
                <a:solidFill>
                  <a:schemeClr val="tx1"/>
                </a:solidFill>
                <a:latin typeface="Calibri" panose="020F0502020204030204" pitchFamily="34" charset="0"/>
                <a:ea typeface="宋体" panose="02010600030101010101" pitchFamily="2" charset="-122"/>
              </a:defRPr>
            </a:lvl2pPr>
            <a:lvl3pPr marL="1143000" indent="-228600" defTabSz="913130">
              <a:defRPr kumimoji="1" sz="2400">
                <a:solidFill>
                  <a:schemeClr val="tx1"/>
                </a:solidFill>
                <a:latin typeface="Calibri" panose="020F0502020204030204" pitchFamily="34" charset="0"/>
                <a:ea typeface="宋体" panose="02010600030101010101" pitchFamily="2" charset="-122"/>
              </a:defRPr>
            </a:lvl3pPr>
            <a:lvl4pPr marL="1600200" indent="-228600" defTabSz="913130">
              <a:defRPr kumimoji="1" sz="2400">
                <a:solidFill>
                  <a:schemeClr val="tx1"/>
                </a:solidFill>
                <a:latin typeface="Calibri" panose="020F0502020204030204" pitchFamily="34" charset="0"/>
                <a:ea typeface="宋体" panose="02010600030101010101" pitchFamily="2" charset="-122"/>
              </a:defRPr>
            </a:lvl4pPr>
            <a:lvl5pPr marL="2057400" indent="-228600" defTabSz="913130">
              <a:defRPr kumimoji="1" sz="2400">
                <a:solidFill>
                  <a:schemeClr val="tx1"/>
                </a:solidFill>
                <a:latin typeface="Calibri" panose="020F0502020204030204" pitchFamily="34" charset="0"/>
                <a:ea typeface="宋体" panose="02010600030101010101" pitchFamily="2" charset="-122"/>
              </a:defRPr>
            </a:lvl5pPr>
            <a:lvl6pPr marL="25146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6pPr>
            <a:lvl7pPr marL="29718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7pPr>
            <a:lvl8pPr marL="34290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8pPr>
            <a:lvl9pPr marL="38862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9pPr>
          </a:lstStyle>
          <a:p>
            <a:pPr marL="0" indent="0" defTabSz="1217476" fontAlgn="base">
              <a:spcBef>
                <a:spcPct val="0"/>
              </a:spcBef>
              <a:spcAft>
                <a:spcPct val="0"/>
              </a:spcAft>
              <a:defRPr/>
            </a:pPr>
            <a:r>
              <a:rPr kumimoji="0" lang="zh-CN" altLang="en-US" sz="1600" dirty="0">
                <a:solidFill>
                  <a:schemeClr val="bg1"/>
                </a:solidFill>
                <a:latin typeface="+mj-ea"/>
                <a:ea typeface="+mj-ea"/>
              </a:rPr>
              <a:t>当生产计划不考虑未来供应时会影响交付速度</a:t>
            </a:r>
            <a:endParaRPr kumimoji="0" lang="en-US" altLang="zh-CN" sz="1600" dirty="0">
              <a:solidFill>
                <a:schemeClr val="bg1"/>
              </a:solidFill>
              <a:latin typeface="+mj-ea"/>
              <a:ea typeface="+mj-ea"/>
            </a:endParaRPr>
          </a:p>
        </p:txBody>
      </p:sp>
      <p:sp>
        <p:nvSpPr>
          <p:cNvPr id="37" name="Line 58"/>
          <p:cNvSpPr/>
          <p:nvPr/>
        </p:nvSpPr>
        <p:spPr>
          <a:xfrm flipH="1">
            <a:off x="3045885" y="3062818"/>
            <a:ext cx="2313516" cy="1147233"/>
          </a:xfrm>
          <a:prstGeom prst="line">
            <a:avLst/>
          </a:prstGeom>
          <a:ln w="19050" cap="flat" cmpd="sng" algn="ctr">
            <a:solidFill>
              <a:schemeClr val="bg1"/>
            </a:solidFill>
            <a:prstDash val="dash"/>
            <a:round/>
            <a:headEnd type="none" w="med" len="med"/>
            <a:tailEnd type="triangle" w="med" len="med"/>
          </a:ln>
        </p:spPr>
        <p:style>
          <a:lnRef idx="0">
            <a:scrgbClr r="0" g="0" b="0"/>
          </a:lnRef>
          <a:fillRef idx="0">
            <a:scrgbClr r="0" g="0" b="0"/>
          </a:fillRef>
          <a:effectRef idx="0">
            <a:scrgbClr r="0" g="0" b="0"/>
          </a:effectRef>
          <a:fontRef idx="minor">
            <a:schemeClr val="tx1"/>
          </a:fontRef>
        </p:style>
        <p:txBody>
          <a:bodyPr/>
          <a:lstStyle/>
          <a:p>
            <a:endParaRPr lang="zh-CN" altLang="en-US">
              <a:solidFill>
                <a:schemeClr val="bg1"/>
              </a:solidFill>
              <a:latin typeface="+mj-ea"/>
              <a:ea typeface="+mj-ea"/>
            </a:endParaRPr>
          </a:p>
        </p:txBody>
      </p:sp>
      <p:sp>
        <p:nvSpPr>
          <p:cNvPr id="33824" name="矩形 30"/>
          <p:cNvSpPr/>
          <p:nvPr/>
        </p:nvSpPr>
        <p:spPr>
          <a:xfrm>
            <a:off x="6230037" y="4585879"/>
            <a:ext cx="1369732" cy="584775"/>
          </a:xfrm>
          <a:prstGeom prst="rect">
            <a:avLst/>
          </a:prstGeom>
          <a:solidFill>
            <a:srgbClr val="00B050">
              <a:alpha val="50195"/>
            </a:srgbClr>
          </a:solidFill>
          <a:ln w="9525">
            <a:noFill/>
          </a:ln>
        </p:spPr>
        <p:txBody>
          <a:bodyPr wrap="square">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chemeClr val="bg1"/>
                </a:solidFill>
                <a:latin typeface="+mj-ea"/>
                <a:ea typeface="+mj-ea"/>
              </a:rPr>
              <a:t>计划到货</a:t>
            </a:r>
            <a:r>
              <a:rPr lang="en-US" altLang="zh-CN" sz="1600" dirty="0">
                <a:solidFill>
                  <a:schemeClr val="bg1"/>
                </a:solidFill>
                <a:latin typeface="+mj-ea"/>
                <a:ea typeface="+mj-ea"/>
              </a:rPr>
              <a:t>A 100</a:t>
            </a:r>
            <a:endParaRPr lang="zh-CN" altLang="en-US" sz="1600" dirty="0">
              <a:solidFill>
                <a:schemeClr val="bg1"/>
              </a:solidFill>
              <a:latin typeface="+mj-ea"/>
              <a:ea typeface="+mj-ea"/>
            </a:endParaRPr>
          </a:p>
        </p:txBody>
      </p:sp>
      <p:cxnSp>
        <p:nvCxnSpPr>
          <p:cNvPr id="39" name="直接箭头连接符 31"/>
          <p:cNvCxnSpPr/>
          <p:nvPr/>
        </p:nvCxnSpPr>
        <p:spPr>
          <a:xfrm flipV="1">
            <a:off x="6790267" y="3733801"/>
            <a:ext cx="8467" cy="82761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 name="文本框 7">
            <a:extLst>
              <a:ext uri="{FF2B5EF4-FFF2-40B4-BE49-F238E27FC236}">
                <a16:creationId xmlns:a16="http://schemas.microsoft.com/office/drawing/2014/main" id="{10096E1D-BA05-DF0F-D668-9ED24E94B8EB}"/>
              </a:ext>
            </a:extLst>
          </p:cNvPr>
          <p:cNvSpPr txBox="1"/>
          <p:nvPr/>
        </p:nvSpPr>
        <p:spPr>
          <a:xfrm>
            <a:off x="10539065" y="3557172"/>
            <a:ext cx="1302564" cy="338554"/>
          </a:xfrm>
          <a:prstGeom prst="rect">
            <a:avLst/>
          </a:prstGeom>
          <a:noFill/>
        </p:spPr>
        <p:txBody>
          <a:bodyPr wrap="square" rtlCol="0">
            <a:spAutoFit/>
          </a:bodyPr>
          <a:lstStyle>
            <a:defPPr>
              <a:defRPr lang="zh-CN"/>
            </a:defPPr>
            <a:lvl1pPr marL="0" lvl="0"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1pPr>
            <a:lvl2pPr marL="457200" lvl="1"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2pPr>
            <a:lvl3pPr marL="914400" lvl="2"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3pPr>
            <a:lvl4pPr marL="1371600" lvl="3"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4pPr>
            <a:lvl5pPr marL="1828800" lvl="4"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5pPr>
            <a:lvl6pPr marL="2286000" lvl="5"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6pPr>
            <a:lvl7pPr marL="2743200" lvl="6"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7pPr>
            <a:lvl8pPr marL="3200400" lvl="7"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8pPr>
            <a:lvl9pPr marL="3657600" lvl="8"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9pPr>
          </a:lstStyle>
          <a:p>
            <a:r>
              <a:rPr lang="zh-CN" altLang="en-US" sz="1600" b="1" dirty="0">
                <a:solidFill>
                  <a:schemeClr val="bg1"/>
                </a:solidFill>
                <a:latin typeface="+mj-ea"/>
                <a:ea typeface="+mj-ea"/>
              </a:rPr>
              <a:t>需求日期</a:t>
            </a:r>
          </a:p>
        </p:txBody>
      </p:sp>
      <p:grpSp>
        <p:nvGrpSpPr>
          <p:cNvPr id="24" name="Group 70">
            <a:extLst>
              <a:ext uri="{FF2B5EF4-FFF2-40B4-BE49-F238E27FC236}">
                <a16:creationId xmlns:a16="http://schemas.microsoft.com/office/drawing/2014/main" id="{1B7C8B2E-83D3-6FA1-DFC9-2250F98C9789}"/>
              </a:ext>
            </a:extLst>
          </p:cNvPr>
          <p:cNvGrpSpPr/>
          <p:nvPr/>
        </p:nvGrpSpPr>
        <p:grpSpPr>
          <a:xfrm>
            <a:off x="543984" y="1598084"/>
            <a:ext cx="2912533" cy="1071529"/>
            <a:chOff x="9122784" y="5273876"/>
            <a:chExt cx="2913049" cy="1071652"/>
          </a:xfrm>
        </p:grpSpPr>
        <p:sp>
          <p:nvSpPr>
            <p:cNvPr id="25" name="矩形 24">
              <a:extLst>
                <a:ext uri="{FF2B5EF4-FFF2-40B4-BE49-F238E27FC236}">
                  <a16:creationId xmlns:a16="http://schemas.microsoft.com/office/drawing/2014/main" id="{4A72B6E2-A2B2-0B98-E6B0-EADF6ECC0E4C}"/>
                </a:ext>
              </a:extLst>
            </p:cNvPr>
            <p:cNvSpPr/>
            <p:nvPr/>
          </p:nvSpPr>
          <p:spPr>
            <a:xfrm>
              <a:off x="9122784" y="5282344"/>
              <a:ext cx="1200362" cy="328247"/>
            </a:xfrm>
            <a:prstGeom prst="rect">
              <a:avLst/>
            </a:prstGeom>
            <a:solidFill>
              <a:schemeClr val="accent6"/>
            </a:solidFill>
          </p:spPr>
          <p:txBody>
            <a:bodyPr lIns="121899" tIns="60949" rIns="121899" bIns="60949">
              <a:spAutoFit/>
            </a:bodyPr>
            <a:lstStyle/>
            <a:p>
              <a:pPr algn="ctr" defTabSz="1217476" fontAlgn="base">
                <a:spcBef>
                  <a:spcPct val="0"/>
                </a:spcBef>
                <a:spcAft>
                  <a:spcPct val="0"/>
                </a:spcAft>
                <a:defRPr/>
              </a:pPr>
              <a:r>
                <a:rPr lang="zh-CN" altLang="en-US" sz="1333" b="1" dirty="0">
                  <a:solidFill>
                    <a:schemeClr val="bg1"/>
                  </a:solidFill>
                  <a:latin typeface="+mj-ea"/>
                  <a:ea typeface="+mj-ea"/>
                  <a:cs typeface="微软雅黑" panose="020B0503020204020204" pitchFamily="34" charset="-122"/>
                </a:rPr>
                <a:t>需求</a:t>
              </a:r>
              <a:r>
                <a:rPr lang="en-US" altLang="zh-CN" sz="1333" b="1" dirty="0">
                  <a:solidFill>
                    <a:schemeClr val="bg1"/>
                  </a:solidFill>
                  <a:latin typeface="+mj-ea"/>
                  <a:ea typeface="+mj-ea"/>
                  <a:cs typeface="微软雅黑" panose="020B0503020204020204" pitchFamily="34" charset="-122"/>
                </a:rPr>
                <a:t>1</a:t>
              </a:r>
              <a:endParaRPr lang="zh-CN" altLang="en-US" sz="1333" b="1" dirty="0">
                <a:solidFill>
                  <a:schemeClr val="bg1"/>
                </a:solidFill>
                <a:latin typeface="+mj-ea"/>
                <a:ea typeface="+mj-ea"/>
                <a:cs typeface="微软雅黑" panose="020B0503020204020204" pitchFamily="34" charset="-122"/>
              </a:endParaRPr>
            </a:p>
          </p:txBody>
        </p:sp>
        <p:sp>
          <p:nvSpPr>
            <p:cNvPr id="27" name="TextBox 3">
              <a:extLst>
                <a:ext uri="{FF2B5EF4-FFF2-40B4-BE49-F238E27FC236}">
                  <a16:creationId xmlns:a16="http://schemas.microsoft.com/office/drawing/2014/main" id="{0DC7D6C6-0E94-B760-40F7-91CEC0E462F2}"/>
                </a:ext>
              </a:extLst>
            </p:cNvPr>
            <p:cNvSpPr txBox="1"/>
            <p:nvPr/>
          </p:nvSpPr>
          <p:spPr>
            <a:xfrm>
              <a:off x="10350669" y="5273876"/>
              <a:ext cx="1674580" cy="297488"/>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333" dirty="0">
                  <a:solidFill>
                    <a:schemeClr val="bg1"/>
                  </a:solidFill>
                  <a:latin typeface="+mj-ea"/>
                  <a:ea typeface="+mj-ea"/>
                  <a:cs typeface="Arial" panose="020B0604020202020204" pitchFamily="34" charset="0"/>
                </a:rPr>
                <a:t>工单下达</a:t>
              </a:r>
              <a:endParaRPr lang="zh-CN" altLang="en-US" sz="1333" dirty="0">
                <a:solidFill>
                  <a:schemeClr val="bg1"/>
                </a:solidFill>
                <a:latin typeface="+mj-ea"/>
                <a:ea typeface="+mj-ea"/>
              </a:endParaRPr>
            </a:p>
          </p:txBody>
        </p:sp>
        <p:sp>
          <p:nvSpPr>
            <p:cNvPr id="28" name="矩形 49">
              <a:extLst>
                <a:ext uri="{FF2B5EF4-FFF2-40B4-BE49-F238E27FC236}">
                  <a16:creationId xmlns:a16="http://schemas.microsoft.com/office/drawing/2014/main" id="{D66DEC46-F87D-2E72-4FA4-043D8FE9B148}"/>
                </a:ext>
              </a:extLst>
            </p:cNvPr>
            <p:cNvSpPr/>
            <p:nvPr/>
          </p:nvSpPr>
          <p:spPr>
            <a:xfrm>
              <a:off x="9122784" y="5646865"/>
              <a:ext cx="1200587" cy="328247"/>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333" b="1" dirty="0">
                  <a:solidFill>
                    <a:schemeClr val="bg1"/>
                  </a:solidFill>
                  <a:latin typeface="+mj-ea"/>
                  <a:ea typeface="+mj-ea"/>
                </a:rPr>
                <a:t>需求</a:t>
              </a:r>
              <a:r>
                <a:rPr lang="en-US" altLang="zh-CN" sz="1333" b="1" dirty="0">
                  <a:solidFill>
                    <a:schemeClr val="bg1"/>
                  </a:solidFill>
                  <a:latin typeface="+mj-ea"/>
                  <a:ea typeface="+mj-ea"/>
                </a:rPr>
                <a:t>2</a:t>
              </a:r>
              <a:endParaRPr lang="zh-CN" altLang="en-US" sz="1333" b="1" dirty="0">
                <a:solidFill>
                  <a:schemeClr val="bg1"/>
                </a:solidFill>
                <a:latin typeface="+mj-ea"/>
                <a:ea typeface="+mj-ea"/>
              </a:endParaRPr>
            </a:p>
          </p:txBody>
        </p:sp>
        <p:sp>
          <p:nvSpPr>
            <p:cNvPr id="29" name="TextBox 50">
              <a:extLst>
                <a:ext uri="{FF2B5EF4-FFF2-40B4-BE49-F238E27FC236}">
                  <a16:creationId xmlns:a16="http://schemas.microsoft.com/office/drawing/2014/main" id="{D642816E-AC4F-A7D7-53FB-7AE70610F643}"/>
                </a:ext>
              </a:extLst>
            </p:cNvPr>
            <p:cNvSpPr txBox="1"/>
            <p:nvPr/>
          </p:nvSpPr>
          <p:spPr>
            <a:xfrm>
              <a:off x="10361254" y="5669737"/>
              <a:ext cx="1674579" cy="297488"/>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en-US" altLang="zh-CN" sz="1333" dirty="0">
                  <a:solidFill>
                    <a:schemeClr val="bg1"/>
                  </a:solidFill>
                  <a:latin typeface="+mj-ea"/>
                  <a:ea typeface="+mj-ea"/>
                  <a:cs typeface="Arial" panose="020B0604020202020204" pitchFamily="34" charset="0"/>
                </a:rPr>
                <a:t>Backlog order</a:t>
              </a:r>
              <a:endParaRPr lang="zh-CN" altLang="en-US" sz="1333" dirty="0">
                <a:solidFill>
                  <a:schemeClr val="bg1"/>
                </a:solidFill>
                <a:latin typeface="+mj-ea"/>
                <a:ea typeface="+mj-ea"/>
              </a:endParaRPr>
            </a:p>
          </p:txBody>
        </p:sp>
        <p:sp>
          <p:nvSpPr>
            <p:cNvPr id="30" name="矩形 51">
              <a:extLst>
                <a:ext uri="{FF2B5EF4-FFF2-40B4-BE49-F238E27FC236}">
                  <a16:creationId xmlns:a16="http://schemas.microsoft.com/office/drawing/2014/main" id="{75C2ED00-8C36-F654-7BAD-AD23B05B0CB2}"/>
                </a:ext>
              </a:extLst>
            </p:cNvPr>
            <p:cNvSpPr/>
            <p:nvPr/>
          </p:nvSpPr>
          <p:spPr>
            <a:xfrm>
              <a:off x="9122784" y="6017281"/>
              <a:ext cx="1200587" cy="328247"/>
            </a:xfrm>
            <a:prstGeom prst="rect">
              <a:avLst/>
            </a:prstGeom>
            <a:solidFill>
              <a:schemeClr val="accent1"/>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333" b="1" dirty="0">
                  <a:solidFill>
                    <a:schemeClr val="bg1"/>
                  </a:solidFill>
                  <a:latin typeface="+mj-ea"/>
                  <a:ea typeface="+mj-ea"/>
                </a:rPr>
                <a:t>需求</a:t>
              </a:r>
              <a:r>
                <a:rPr lang="en-US" altLang="zh-CN" sz="1333" b="1" dirty="0">
                  <a:solidFill>
                    <a:schemeClr val="bg1"/>
                  </a:solidFill>
                  <a:latin typeface="+mj-ea"/>
                  <a:ea typeface="+mj-ea"/>
                </a:rPr>
                <a:t>3</a:t>
              </a:r>
              <a:endParaRPr lang="zh-CN" altLang="en-US" sz="1333" b="1" dirty="0">
                <a:solidFill>
                  <a:schemeClr val="bg1"/>
                </a:solidFill>
                <a:latin typeface="+mj-ea"/>
                <a:ea typeface="+mj-ea"/>
              </a:endParaRPr>
            </a:p>
          </p:txBody>
        </p:sp>
        <p:sp>
          <p:nvSpPr>
            <p:cNvPr id="31" name="TextBox 52">
              <a:extLst>
                <a:ext uri="{FF2B5EF4-FFF2-40B4-BE49-F238E27FC236}">
                  <a16:creationId xmlns:a16="http://schemas.microsoft.com/office/drawing/2014/main" id="{33E5C7C3-E5D7-9902-FA13-67F5F65BB5ED}"/>
                </a:ext>
              </a:extLst>
            </p:cNvPr>
            <p:cNvSpPr txBox="1"/>
            <p:nvPr/>
          </p:nvSpPr>
          <p:spPr>
            <a:xfrm>
              <a:off x="10350669" y="6016910"/>
              <a:ext cx="1674580" cy="297488"/>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333" dirty="0">
                  <a:solidFill>
                    <a:schemeClr val="bg1"/>
                  </a:solidFill>
                  <a:latin typeface="+mj-ea"/>
                  <a:ea typeface="+mj-ea"/>
                  <a:cs typeface="Arial" panose="020B0604020202020204" pitchFamily="34" charset="0"/>
                </a:rPr>
                <a:t>新订单</a:t>
              </a:r>
              <a:endParaRPr lang="zh-CN" altLang="en-US" sz="1333" dirty="0">
                <a:solidFill>
                  <a:schemeClr val="bg1"/>
                </a:solidFill>
                <a:latin typeface="+mj-ea"/>
                <a:ea typeface="+mj-ea"/>
              </a:endParaRPr>
            </a:p>
          </p:txBody>
        </p:sp>
      </p:grpSp>
      <p:sp>
        <p:nvSpPr>
          <p:cNvPr id="38" name="文本框 1">
            <a:extLst>
              <a:ext uri="{FF2B5EF4-FFF2-40B4-BE49-F238E27FC236}">
                <a16:creationId xmlns:a16="http://schemas.microsoft.com/office/drawing/2014/main" id="{5B81B803-24B4-9844-58E1-00E74F242D57}"/>
              </a:ext>
            </a:extLst>
          </p:cNvPr>
          <p:cNvSpPr txBox="1"/>
          <p:nvPr/>
        </p:nvSpPr>
        <p:spPr>
          <a:xfrm>
            <a:off x="1444254" y="998335"/>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1</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40" name="文本框 1">
            <a:extLst>
              <a:ext uri="{FF2B5EF4-FFF2-40B4-BE49-F238E27FC236}">
                <a16:creationId xmlns:a16="http://schemas.microsoft.com/office/drawing/2014/main" id="{AE4EC6D4-6B8B-7D4B-2C1F-61D0FD8A6272}"/>
              </a:ext>
            </a:extLst>
          </p:cNvPr>
          <p:cNvSpPr txBox="1"/>
          <p:nvPr/>
        </p:nvSpPr>
        <p:spPr>
          <a:xfrm>
            <a:off x="3118537" y="1002850"/>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2</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41" name="文本框 1">
            <a:extLst>
              <a:ext uri="{FF2B5EF4-FFF2-40B4-BE49-F238E27FC236}">
                <a16:creationId xmlns:a16="http://schemas.microsoft.com/office/drawing/2014/main" id="{C6FA4361-0749-C93F-2B88-1161902D6831}"/>
              </a:ext>
            </a:extLst>
          </p:cNvPr>
          <p:cNvSpPr txBox="1"/>
          <p:nvPr/>
        </p:nvSpPr>
        <p:spPr>
          <a:xfrm>
            <a:off x="4849284" y="1016630"/>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3</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42" name="文本框 1">
            <a:extLst>
              <a:ext uri="{FF2B5EF4-FFF2-40B4-BE49-F238E27FC236}">
                <a16:creationId xmlns:a16="http://schemas.microsoft.com/office/drawing/2014/main" id="{0FD822F4-C993-E64E-E854-9834CB7CA6FF}"/>
              </a:ext>
            </a:extLst>
          </p:cNvPr>
          <p:cNvSpPr txBox="1"/>
          <p:nvPr/>
        </p:nvSpPr>
        <p:spPr>
          <a:xfrm>
            <a:off x="6372226" y="998335"/>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4</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43" name="文本框 42">
            <a:extLst>
              <a:ext uri="{FF2B5EF4-FFF2-40B4-BE49-F238E27FC236}">
                <a16:creationId xmlns:a16="http://schemas.microsoft.com/office/drawing/2014/main" id="{5D4DC240-E485-4C37-FFC3-CF2A06B1C337}"/>
              </a:ext>
            </a:extLst>
          </p:cNvPr>
          <p:cNvSpPr txBox="1"/>
          <p:nvPr/>
        </p:nvSpPr>
        <p:spPr>
          <a:xfrm>
            <a:off x="797984" y="5262911"/>
            <a:ext cx="6096000" cy="1600438"/>
          </a:xfrm>
          <a:prstGeom prst="rect">
            <a:avLst/>
          </a:prstGeom>
          <a:noFill/>
        </p:spPr>
        <p:txBody>
          <a:bodyPr wrap="square">
            <a:spAutoFit/>
          </a:bodyPr>
          <a:lstStyle/>
          <a:p>
            <a:pPr defTabSz="1219170">
              <a:defRPr/>
            </a:pPr>
            <a:r>
              <a:rPr lang="zh-CN" altLang="en-US" sz="1800" b="1" dirty="0">
                <a:solidFill>
                  <a:schemeClr val="bg1"/>
                </a:solidFill>
                <a:latin typeface="+mj-ea"/>
                <a:ea typeface="+mj-ea"/>
              </a:rPr>
              <a:t>场景</a:t>
            </a:r>
            <a:r>
              <a:rPr lang="en-US" altLang="zh-CN" sz="1800" b="1" dirty="0">
                <a:solidFill>
                  <a:schemeClr val="bg1"/>
                </a:solidFill>
                <a:latin typeface="+mj-ea"/>
                <a:ea typeface="+mj-ea"/>
              </a:rPr>
              <a:t>:</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B</a:t>
            </a:r>
            <a:r>
              <a:rPr lang="zh-CN" altLang="en-US" sz="1600" dirty="0">
                <a:solidFill>
                  <a:schemeClr val="bg1"/>
                </a:solidFill>
                <a:latin typeface="+mj-ea"/>
                <a:ea typeface="+mj-ea"/>
              </a:rPr>
              <a:t>生产</a:t>
            </a:r>
            <a:r>
              <a:rPr lang="en-US" altLang="zh-CN" sz="1600" dirty="0">
                <a:solidFill>
                  <a:schemeClr val="bg1"/>
                </a:solidFill>
                <a:latin typeface="+mj-ea"/>
                <a:ea typeface="+mj-ea"/>
              </a:rPr>
              <a:t>, </a:t>
            </a:r>
            <a:r>
              <a:rPr lang="zh-CN" altLang="en-US" sz="1600" dirty="0">
                <a:solidFill>
                  <a:schemeClr val="bg1"/>
                </a:solidFill>
                <a:latin typeface="+mj-ea"/>
                <a:ea typeface="+mj-ea"/>
              </a:rPr>
              <a:t>数量</a:t>
            </a:r>
            <a:r>
              <a:rPr lang="en-US" altLang="zh-CN" sz="1600" dirty="0">
                <a:solidFill>
                  <a:schemeClr val="bg1"/>
                </a:solidFill>
                <a:latin typeface="+mj-ea"/>
                <a:ea typeface="+mj-ea"/>
              </a:rPr>
              <a:t>100</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C</a:t>
            </a:r>
            <a:r>
              <a:rPr lang="zh-CN" altLang="en-US" sz="1600" dirty="0">
                <a:solidFill>
                  <a:schemeClr val="bg1"/>
                </a:solidFill>
                <a:latin typeface="+mj-ea"/>
                <a:ea typeface="+mj-ea"/>
              </a:rPr>
              <a:t>生产</a:t>
            </a:r>
            <a:r>
              <a:rPr lang="en-US" altLang="zh-CN" sz="1600" dirty="0">
                <a:solidFill>
                  <a:schemeClr val="bg1"/>
                </a:solidFill>
                <a:latin typeface="+mj-ea"/>
                <a:ea typeface="+mj-ea"/>
              </a:rPr>
              <a:t>, </a:t>
            </a:r>
            <a:r>
              <a:rPr lang="zh-CN" altLang="en-US" sz="1600" dirty="0">
                <a:solidFill>
                  <a:schemeClr val="bg1"/>
                </a:solidFill>
                <a:latin typeface="+mj-ea"/>
                <a:ea typeface="+mj-ea"/>
              </a:rPr>
              <a:t>数量</a:t>
            </a:r>
            <a:r>
              <a:rPr lang="en-US" altLang="zh-CN" sz="1600" dirty="0">
                <a:solidFill>
                  <a:schemeClr val="bg1"/>
                </a:solidFill>
                <a:latin typeface="+mj-ea"/>
                <a:ea typeface="+mj-ea"/>
              </a:rPr>
              <a:t>100</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3</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B</a:t>
            </a:r>
            <a:r>
              <a:rPr lang="zh-CN" altLang="en-US" sz="1600" dirty="0">
                <a:solidFill>
                  <a:schemeClr val="bg1"/>
                </a:solidFill>
                <a:latin typeface="+mj-ea"/>
                <a:ea typeface="+mj-ea"/>
              </a:rPr>
              <a:t>生产</a:t>
            </a:r>
            <a:r>
              <a:rPr lang="en-US" altLang="zh-CN" sz="1600" dirty="0">
                <a:solidFill>
                  <a:schemeClr val="bg1"/>
                </a:solidFill>
                <a:latin typeface="+mj-ea"/>
                <a:ea typeface="+mj-ea"/>
              </a:rPr>
              <a:t>, </a:t>
            </a:r>
            <a:r>
              <a:rPr lang="zh-CN" altLang="en-US" sz="1600" dirty="0">
                <a:solidFill>
                  <a:schemeClr val="bg1"/>
                </a:solidFill>
                <a:latin typeface="+mj-ea"/>
                <a:ea typeface="+mj-ea"/>
              </a:rPr>
              <a:t>数量</a:t>
            </a:r>
            <a:r>
              <a:rPr lang="en-US" altLang="zh-CN" sz="1600" dirty="0">
                <a:solidFill>
                  <a:schemeClr val="bg1"/>
                </a:solidFill>
                <a:latin typeface="+mj-ea"/>
                <a:ea typeface="+mj-ea"/>
              </a:rPr>
              <a:t>100</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的优先级高于需求</a:t>
            </a:r>
            <a:r>
              <a:rPr lang="en-US" altLang="zh-CN" sz="1600" dirty="0">
                <a:solidFill>
                  <a:schemeClr val="bg1"/>
                </a:solidFill>
                <a:latin typeface="+mj-ea"/>
                <a:ea typeface="+mj-ea"/>
              </a:rPr>
              <a:t>1</a:t>
            </a: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高于需求</a:t>
            </a:r>
            <a:r>
              <a:rPr lang="en-US" altLang="zh-CN" sz="1600" dirty="0">
                <a:solidFill>
                  <a:schemeClr val="bg1"/>
                </a:solidFill>
                <a:latin typeface="+mj-ea"/>
                <a:ea typeface="+mj-ea"/>
              </a:rPr>
              <a:t>3</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库存</a:t>
            </a:r>
            <a:r>
              <a:rPr lang="en-US" altLang="zh-CN" sz="1600" dirty="0">
                <a:solidFill>
                  <a:schemeClr val="bg1"/>
                </a:solidFill>
                <a:latin typeface="+mj-ea"/>
                <a:ea typeface="+mj-ea"/>
              </a:rPr>
              <a:t>A : 200; </a:t>
            </a:r>
            <a:r>
              <a:rPr lang="zh-CN" altLang="en-US" sz="1600" dirty="0">
                <a:solidFill>
                  <a:schemeClr val="bg1"/>
                </a:solidFill>
                <a:latin typeface="+mj-ea"/>
                <a:ea typeface="+mj-ea"/>
              </a:rPr>
              <a:t>库存</a:t>
            </a:r>
            <a:r>
              <a:rPr lang="en-US" altLang="zh-CN" sz="1600" dirty="0">
                <a:solidFill>
                  <a:schemeClr val="bg1"/>
                </a:solidFill>
                <a:latin typeface="+mj-ea"/>
                <a:ea typeface="+mj-ea"/>
              </a:rPr>
              <a:t>B: </a:t>
            </a:r>
            <a:r>
              <a:rPr lang="zh-CN" altLang="en-US" sz="1600" dirty="0">
                <a:solidFill>
                  <a:schemeClr val="bg1"/>
                </a:solidFill>
                <a:latin typeface="+mj-ea"/>
                <a:ea typeface="+mj-ea"/>
              </a:rPr>
              <a:t>足量</a:t>
            </a:r>
            <a:endParaRPr lang="en-US" altLang="zh-CN" sz="1600" dirty="0">
              <a:solidFill>
                <a:schemeClr val="bg1"/>
              </a:solidFill>
              <a:latin typeface="+mj-ea"/>
              <a:ea typeface="+mj-ea"/>
            </a:endParaRPr>
          </a:p>
        </p:txBody>
      </p:sp>
    </p:spTree>
    <p:custDataLst>
      <p:tags r:id="rId1"/>
    </p:custDataLst>
    <p:extLst>
      <p:ext uri="{BB962C8B-B14F-4D97-AF65-F5344CB8AC3E}">
        <p14:creationId xmlns:p14="http://schemas.microsoft.com/office/powerpoint/2010/main" val="250397338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23" presetClass="entr" presetSubtype="16"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 calcmode="lin" valueType="num">
                                      <p:cBhvr>
                                        <p:cTn id="10" dur="500" fill="hold"/>
                                        <p:tgtEl>
                                          <p:spTgt spid="13"/>
                                        </p:tgtEl>
                                        <p:attrNameLst>
                                          <p:attrName>ppt_w</p:attrName>
                                        </p:attrNameLst>
                                      </p:cBhvr>
                                      <p:tavLst>
                                        <p:tav tm="0">
                                          <p:val>
                                            <p:fltVal val="0"/>
                                          </p:val>
                                        </p:tav>
                                        <p:tav tm="100000">
                                          <p:val>
                                            <p:strVal val="#ppt_w"/>
                                          </p:val>
                                        </p:tav>
                                      </p:tavLst>
                                    </p:anim>
                                    <p:anim calcmode="lin" valueType="num">
                                      <p:cBhvr>
                                        <p:cTn id="11" dur="500" fill="hold"/>
                                        <p:tgtEl>
                                          <p:spTgt spid="13"/>
                                        </p:tgtEl>
                                        <p:attrNameLst>
                                          <p:attrName>ppt_h</p:attrName>
                                        </p:attrNameLst>
                                      </p:cBhvr>
                                      <p:tavLst>
                                        <p:tav tm="0">
                                          <p:val>
                                            <p:fltVal val="0"/>
                                          </p:val>
                                        </p:tav>
                                        <p:tav tm="100000">
                                          <p:val>
                                            <p:strVal val="#ppt_h"/>
                                          </p:val>
                                        </p:tav>
                                      </p:tavLst>
                                    </p:anim>
                                  </p:childTnLst>
                                </p:cTn>
                              </p:par>
                              <p:par>
                                <p:cTn id="12" presetID="23" presetClass="entr" presetSubtype="16" fill="hold" nodeType="withEffect">
                                  <p:stCondLst>
                                    <p:cond delay="0"/>
                                  </p:stCondLst>
                                  <p:childTnLst>
                                    <p:set>
                                      <p:cBhvr>
                                        <p:cTn id="13" dur="1" fill="hold">
                                          <p:stCondLst>
                                            <p:cond delay="0"/>
                                          </p:stCondLst>
                                        </p:cTn>
                                        <p:tgtEl>
                                          <p:spTgt spid="37"/>
                                        </p:tgtEl>
                                        <p:attrNameLst>
                                          <p:attrName>style.visibility</p:attrName>
                                        </p:attrNameLst>
                                      </p:cBhvr>
                                      <p:to>
                                        <p:strVal val="visible"/>
                                      </p:to>
                                    </p:set>
                                    <p:anim calcmode="lin" valueType="num">
                                      <p:cBhvr>
                                        <p:cTn id="14" dur="500" fill="hold"/>
                                        <p:tgtEl>
                                          <p:spTgt spid="37"/>
                                        </p:tgtEl>
                                        <p:attrNameLst>
                                          <p:attrName>ppt_w</p:attrName>
                                        </p:attrNameLst>
                                      </p:cBhvr>
                                      <p:tavLst>
                                        <p:tav tm="0">
                                          <p:val>
                                            <p:fltVal val="0"/>
                                          </p:val>
                                        </p:tav>
                                        <p:tav tm="100000">
                                          <p:val>
                                            <p:strVal val="#ppt_w"/>
                                          </p:val>
                                        </p:tav>
                                      </p:tavLst>
                                    </p:anim>
                                    <p:anim calcmode="lin" valueType="num">
                                      <p:cBhvr>
                                        <p:cTn id="15" dur="500" fill="hold"/>
                                        <p:tgtEl>
                                          <p:spTgt spid="37"/>
                                        </p:tgtEl>
                                        <p:attrNameLst>
                                          <p:attrName>ppt_h</p:attrName>
                                        </p:attrNameLst>
                                      </p:cBhvr>
                                      <p:tavLst>
                                        <p:tav tm="0">
                                          <p:val>
                                            <p:fltVal val="0"/>
                                          </p:val>
                                        </p:tav>
                                        <p:tav tm="100000">
                                          <p:val>
                                            <p:strVal val="#ppt_h"/>
                                          </p:val>
                                        </p:tav>
                                      </p:tavLst>
                                    </p:anim>
                                  </p:childTnLst>
                                </p:cTn>
                              </p:par>
                            </p:childTnLst>
                          </p:cTn>
                        </p:par>
                        <p:par>
                          <p:cTn id="16" fill="hold">
                            <p:stCondLst>
                              <p:cond delay="500"/>
                            </p:stCondLst>
                            <p:childTnLst>
                              <p:par>
                                <p:cTn id="17" presetID="22" presetClass="entr" presetSubtype="4"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down)">
                                      <p:cBhvr>
                                        <p:cTn id="19" dur="500"/>
                                        <p:tgtEl>
                                          <p:spTgt spid="14"/>
                                        </p:tgtEl>
                                      </p:cBhvr>
                                    </p:animEffect>
                                  </p:childTnLst>
                                </p:cTn>
                              </p:par>
                              <p:par>
                                <p:cTn id="20" presetID="42" presetClass="entr" presetSubtype="0" fill="hold" grpId="0" nodeType="withEffect">
                                  <p:stCondLst>
                                    <p:cond delay="0"/>
                                  </p:stCondLst>
                                  <p:iterate type="lt">
                                    <p:tmPct val="0"/>
                                  </p:iterate>
                                  <p:childTnLst>
                                    <p:set>
                                      <p:cBhvr>
                                        <p:cTn id="21" dur="1" fill="hold">
                                          <p:stCondLst>
                                            <p:cond delay="0"/>
                                          </p:stCondLst>
                                        </p:cTn>
                                        <p:tgtEl>
                                          <p:spTgt spid="16"/>
                                        </p:tgtEl>
                                        <p:attrNameLst>
                                          <p:attrName>style.visibility</p:attrName>
                                        </p:attrNameLst>
                                      </p:cBhvr>
                                      <p:to>
                                        <p:strVal val="visible"/>
                                      </p:to>
                                    </p:set>
                                    <p:animEffect transition="in" filter="fade">
                                      <p:cBhvr>
                                        <p:cTn id="22" dur="1000"/>
                                        <p:tgtEl>
                                          <p:spTgt spid="16"/>
                                        </p:tgtEl>
                                      </p:cBhvr>
                                    </p:animEffect>
                                    <p:anim calcmode="lin" valueType="num">
                                      <p:cBhvr>
                                        <p:cTn id="23" dur="1000" fill="hold"/>
                                        <p:tgtEl>
                                          <p:spTgt spid="16"/>
                                        </p:tgtEl>
                                        <p:attrNameLst>
                                          <p:attrName>ppt_x</p:attrName>
                                        </p:attrNameLst>
                                      </p:cBhvr>
                                      <p:tavLst>
                                        <p:tav tm="0">
                                          <p:val>
                                            <p:strVal val="#ppt_x"/>
                                          </p:val>
                                        </p:tav>
                                        <p:tav tm="100000">
                                          <p:val>
                                            <p:strVal val="#ppt_x"/>
                                          </p:val>
                                        </p:tav>
                                      </p:tavLst>
                                    </p:anim>
                                    <p:anim calcmode="lin" valueType="num">
                                      <p:cBhvr>
                                        <p:cTn id="24"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iterate type="lt">
                                    <p:tmPct val="0"/>
                                  </p:iterate>
                                  <p:childTnLst>
                                    <p:set>
                                      <p:cBhvr>
                                        <p:cTn id="28" dur="1" fill="hold">
                                          <p:stCondLst>
                                            <p:cond delay="0"/>
                                          </p:stCondLst>
                                        </p:cTn>
                                        <p:tgtEl>
                                          <p:spTgt spid="36"/>
                                        </p:tgtEl>
                                        <p:attrNameLst>
                                          <p:attrName>style.visibility</p:attrName>
                                        </p:attrNameLst>
                                      </p:cBhvr>
                                      <p:to>
                                        <p:strVal val="visible"/>
                                      </p:to>
                                    </p:set>
                                    <p:animEffect transition="in" filter="fade">
                                      <p:cBhvr>
                                        <p:cTn id="29" dur="1000"/>
                                        <p:tgtEl>
                                          <p:spTgt spid="36"/>
                                        </p:tgtEl>
                                      </p:cBhvr>
                                    </p:animEffect>
                                    <p:anim calcmode="lin" valueType="num">
                                      <p:cBhvr>
                                        <p:cTn id="30" dur="1000" fill="hold"/>
                                        <p:tgtEl>
                                          <p:spTgt spid="36"/>
                                        </p:tgtEl>
                                        <p:attrNameLst>
                                          <p:attrName>ppt_x</p:attrName>
                                        </p:attrNameLst>
                                      </p:cBhvr>
                                      <p:tavLst>
                                        <p:tav tm="0">
                                          <p:val>
                                            <p:strVal val="#ppt_x"/>
                                          </p:val>
                                        </p:tav>
                                        <p:tav tm="100000">
                                          <p:val>
                                            <p:strVal val="#ppt_x"/>
                                          </p:val>
                                        </p:tav>
                                      </p:tavLst>
                                    </p:anim>
                                    <p:anim calcmode="lin" valueType="num">
                                      <p:cBhvr>
                                        <p:cTn id="31"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p:bldP spid="36"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直接箭头连接符 6"/>
          <p:cNvCxnSpPr/>
          <p:nvPr/>
        </p:nvCxnSpPr>
        <p:spPr>
          <a:xfrm>
            <a:off x="370418" y="3524251"/>
            <a:ext cx="10045700" cy="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3" name="直接箭头连接符 13"/>
          <p:cNvCxnSpPr>
            <a:stCxn id="34823" idx="2"/>
          </p:cNvCxnSpPr>
          <p:nvPr/>
        </p:nvCxnSpPr>
        <p:spPr>
          <a:xfrm flipH="1">
            <a:off x="3348568" y="2646844"/>
            <a:ext cx="29633" cy="824491"/>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4" name="直接箭头连接符 15"/>
          <p:cNvCxnSpPr/>
          <p:nvPr/>
        </p:nvCxnSpPr>
        <p:spPr>
          <a:xfrm>
            <a:off x="5249333" y="2690285"/>
            <a:ext cx="0" cy="85301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23"/>
          <p:cNvCxnSpPr>
            <a:cxnSpLocks/>
          </p:cNvCxnSpPr>
          <p:nvPr/>
        </p:nvCxnSpPr>
        <p:spPr>
          <a:xfrm flipV="1">
            <a:off x="2459567" y="3495300"/>
            <a:ext cx="0" cy="850218"/>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35"/>
          <p:cNvCxnSpPr/>
          <p:nvPr/>
        </p:nvCxnSpPr>
        <p:spPr>
          <a:xfrm flipV="1">
            <a:off x="2459567" y="4401608"/>
            <a:ext cx="0" cy="670984"/>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34823" name="矩形 27"/>
          <p:cNvSpPr/>
          <p:nvPr/>
        </p:nvSpPr>
        <p:spPr>
          <a:xfrm>
            <a:off x="2658534" y="2277534"/>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endParaRPr lang="zh-CN" altLang="en-US" sz="1600" dirty="0">
              <a:solidFill>
                <a:schemeClr val="bg1"/>
              </a:solidFill>
              <a:latin typeface="+mj-ea"/>
              <a:ea typeface="+mj-ea"/>
            </a:endParaRPr>
          </a:p>
        </p:txBody>
      </p:sp>
      <p:sp>
        <p:nvSpPr>
          <p:cNvPr id="34824" name="矩形 38"/>
          <p:cNvSpPr/>
          <p:nvPr/>
        </p:nvSpPr>
        <p:spPr>
          <a:xfrm>
            <a:off x="4548718" y="2307167"/>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endParaRPr lang="zh-CN" altLang="en-US" sz="1600" dirty="0">
              <a:solidFill>
                <a:schemeClr val="bg1"/>
              </a:solidFill>
              <a:latin typeface="+mj-ea"/>
              <a:ea typeface="+mj-ea"/>
            </a:endParaRPr>
          </a:p>
        </p:txBody>
      </p:sp>
      <p:sp>
        <p:nvSpPr>
          <p:cNvPr id="34825" name="矩形 28"/>
          <p:cNvSpPr/>
          <p:nvPr/>
        </p:nvSpPr>
        <p:spPr>
          <a:xfrm>
            <a:off x="855133" y="3716867"/>
            <a:ext cx="1390651" cy="615531"/>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chemeClr val="bg1"/>
                </a:solidFill>
                <a:latin typeface="+mj-ea"/>
                <a:ea typeface="+mj-ea"/>
              </a:rPr>
              <a:t>库存</a:t>
            </a:r>
            <a:r>
              <a:rPr lang="en-US" altLang="zh-CN" sz="1600" b="1" dirty="0">
                <a:solidFill>
                  <a:schemeClr val="bg1"/>
                </a:solidFill>
                <a:latin typeface="+mj-ea"/>
                <a:ea typeface="+mj-ea"/>
              </a:rPr>
              <a:t> A</a:t>
            </a:r>
          </a:p>
          <a:p>
            <a:pPr marL="0" indent="0" algn="ctr" defTabSz="1217476" eaLnBrk="1" hangingPunct="1">
              <a:spcBef>
                <a:spcPct val="0"/>
              </a:spcBef>
              <a:buNone/>
            </a:pPr>
            <a:r>
              <a:rPr lang="en-US" altLang="zh-CN" sz="1600" b="1" dirty="0">
                <a:solidFill>
                  <a:schemeClr val="bg1"/>
                </a:solidFill>
                <a:latin typeface="+mj-ea"/>
                <a:ea typeface="+mj-ea"/>
              </a:rPr>
              <a:t>200</a:t>
            </a:r>
            <a:endParaRPr lang="zh-CN" altLang="en-US" sz="1600" b="1" dirty="0">
              <a:solidFill>
                <a:schemeClr val="bg1"/>
              </a:solidFill>
              <a:latin typeface="+mj-ea"/>
              <a:ea typeface="+mj-ea"/>
            </a:endParaRPr>
          </a:p>
        </p:txBody>
      </p:sp>
      <p:sp>
        <p:nvSpPr>
          <p:cNvPr id="34826" name="矩形 41"/>
          <p:cNvSpPr/>
          <p:nvPr/>
        </p:nvSpPr>
        <p:spPr>
          <a:xfrm>
            <a:off x="855133" y="4531784"/>
            <a:ext cx="1390651"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库存</a:t>
            </a:r>
            <a:r>
              <a:rPr lang="en-US" altLang="zh-CN" sz="1600" dirty="0">
                <a:solidFill>
                  <a:schemeClr val="bg1"/>
                </a:solidFill>
                <a:latin typeface="+mj-ea"/>
                <a:ea typeface="+mj-ea"/>
              </a:rPr>
              <a:t> B</a:t>
            </a:r>
            <a:endParaRPr lang="zh-CN" altLang="en-US" sz="1600" dirty="0">
              <a:solidFill>
                <a:schemeClr val="bg1"/>
              </a:solidFill>
              <a:latin typeface="+mj-ea"/>
              <a:ea typeface="+mj-ea"/>
            </a:endParaRPr>
          </a:p>
        </p:txBody>
      </p:sp>
      <p:sp>
        <p:nvSpPr>
          <p:cNvPr id="11" name="Line 58"/>
          <p:cNvSpPr/>
          <p:nvPr/>
        </p:nvSpPr>
        <p:spPr>
          <a:xfrm flipH="1">
            <a:off x="2459567" y="2645834"/>
            <a:ext cx="891117" cy="1242484"/>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solidFill>
                <a:schemeClr val="bg1"/>
              </a:solidFill>
              <a:latin typeface="+mj-ea"/>
              <a:ea typeface="+mj-ea"/>
            </a:endParaRPr>
          </a:p>
        </p:txBody>
      </p:sp>
      <p:sp>
        <p:nvSpPr>
          <p:cNvPr id="12" name="Line 58"/>
          <p:cNvSpPr/>
          <p:nvPr/>
        </p:nvSpPr>
        <p:spPr>
          <a:xfrm flipH="1">
            <a:off x="2438401" y="2645833"/>
            <a:ext cx="920751" cy="2091267"/>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solidFill>
                <a:schemeClr val="bg1"/>
              </a:solidFill>
              <a:latin typeface="+mj-ea"/>
              <a:ea typeface="+mj-ea"/>
            </a:endParaRPr>
          </a:p>
        </p:txBody>
      </p:sp>
      <p:cxnSp>
        <p:nvCxnSpPr>
          <p:cNvPr id="13" name="直接连接符 7"/>
          <p:cNvCxnSpPr/>
          <p:nvPr/>
        </p:nvCxnSpPr>
        <p:spPr>
          <a:xfrm>
            <a:off x="6189133" y="1473201"/>
            <a:ext cx="0" cy="4070351"/>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4" name="矩形标注 13"/>
          <p:cNvSpPr/>
          <p:nvPr/>
        </p:nvSpPr>
        <p:spPr>
          <a:xfrm>
            <a:off x="4540251" y="1509184"/>
            <a:ext cx="1441451" cy="508000"/>
          </a:xfrm>
          <a:prstGeom prst="wedgeRectCallout">
            <a:avLst>
              <a:gd name="adj1" fmla="val 782"/>
              <a:gd name="adj2" fmla="val 90562"/>
            </a:avLst>
          </a:prstGeom>
          <a:ln>
            <a:noFill/>
          </a:ln>
        </p:spPr>
        <p:style>
          <a:lnRef idx="2">
            <a:schemeClr val="accent6">
              <a:shade val="50000"/>
            </a:schemeClr>
          </a:lnRef>
          <a:fillRef idx="1">
            <a:schemeClr val="accent6"/>
          </a:fillRef>
          <a:effectRef idx="0">
            <a:schemeClr val="accent6"/>
          </a:effectRef>
          <a:fontRef idx="minor">
            <a:schemeClr val="lt1"/>
          </a:fontRef>
        </p:style>
        <p:txBody>
          <a:bodyPr lIns="121899" tIns="60949" rIns="121899" bIns="60949" anchor="ctr"/>
          <a:lstStyle/>
          <a:p>
            <a:pPr algn="ctr" defTabSz="1217476"/>
            <a:r>
              <a:rPr lang="en-US" altLang="zh-CN" sz="1867" b="1" dirty="0">
                <a:solidFill>
                  <a:schemeClr val="bg1"/>
                </a:solidFill>
                <a:latin typeface="+mj-ea"/>
                <a:ea typeface="+mj-ea"/>
              </a:rPr>
              <a:t>IPS</a:t>
            </a:r>
            <a:endParaRPr lang="zh-CN" altLang="en-US" sz="1867" b="1" dirty="0">
              <a:solidFill>
                <a:schemeClr val="bg1"/>
              </a:solidFill>
              <a:latin typeface="+mj-ea"/>
              <a:ea typeface="+mj-ea"/>
            </a:endParaRPr>
          </a:p>
        </p:txBody>
      </p:sp>
      <p:sp>
        <p:nvSpPr>
          <p:cNvPr id="15" name="矩形标注 14"/>
          <p:cNvSpPr/>
          <p:nvPr/>
        </p:nvSpPr>
        <p:spPr>
          <a:xfrm>
            <a:off x="2664884" y="1545167"/>
            <a:ext cx="1439333" cy="510117"/>
          </a:xfrm>
          <a:prstGeom prst="wedgeRectCallout">
            <a:avLst>
              <a:gd name="adj1" fmla="val 782"/>
              <a:gd name="adj2" fmla="val 90562"/>
            </a:avLst>
          </a:prstGeom>
          <a:ln>
            <a:noFill/>
          </a:ln>
        </p:spPr>
        <p:style>
          <a:lnRef idx="2">
            <a:schemeClr val="accent6">
              <a:shade val="50000"/>
            </a:schemeClr>
          </a:lnRef>
          <a:fillRef idx="1">
            <a:schemeClr val="accent6"/>
          </a:fillRef>
          <a:effectRef idx="0">
            <a:schemeClr val="accent6"/>
          </a:effectRef>
          <a:fontRef idx="minor">
            <a:schemeClr val="lt1"/>
          </a:fontRef>
        </p:style>
        <p:txBody>
          <a:bodyPr lIns="121899" tIns="60949" rIns="121899" bIns="60949" anchor="ctr"/>
          <a:lstStyle/>
          <a:p>
            <a:pPr algn="ctr" defTabSz="1217476"/>
            <a:r>
              <a:rPr lang="en-US" altLang="zh-CN" sz="1867" b="1" dirty="0">
                <a:solidFill>
                  <a:schemeClr val="bg1"/>
                </a:solidFill>
                <a:latin typeface="+mj-ea"/>
                <a:ea typeface="+mj-ea"/>
              </a:rPr>
              <a:t>IPS</a:t>
            </a:r>
            <a:endParaRPr lang="zh-CN" altLang="en-US" sz="1867" b="1" dirty="0">
              <a:solidFill>
                <a:schemeClr val="bg1"/>
              </a:solidFill>
              <a:latin typeface="+mj-ea"/>
              <a:ea typeface="+mj-ea"/>
            </a:endParaRPr>
          </a:p>
        </p:txBody>
      </p:sp>
      <p:sp>
        <p:nvSpPr>
          <p:cNvPr id="34832" name="Title 37"/>
          <p:cNvSpPr>
            <a:spLocks noGrp="1"/>
          </p:cNvSpPr>
          <p:nvPr>
            <p:ph type="title" idx="4294967295"/>
          </p:nvPr>
        </p:nvSpPr>
        <p:spPr>
          <a:xfrm>
            <a:off x="1116013" y="179388"/>
            <a:ext cx="11075987" cy="520700"/>
          </a:xfrm>
          <a:prstGeom prst="rect">
            <a:avLst/>
          </a:prstGeom>
        </p:spPr>
        <p:txBody>
          <a:bodyPr vert="horz" wrap="square" lIns="121920" tIns="60960" rIns="121920" bIns="60960" anchor="ctr" anchorCtr="0">
            <a:normAutofit/>
          </a:bodyPr>
          <a:lstStyle/>
          <a:p>
            <a:pPr eaLnBrk="1" hangingPunct="1"/>
            <a:r>
              <a:rPr lang="zh-CN" altLang="en-US" b="1" dirty="0">
                <a:solidFill>
                  <a:schemeClr val="bg1"/>
                </a:solidFill>
                <a:latin typeface="+mj-ea"/>
              </a:rPr>
              <a:t>场景</a:t>
            </a:r>
            <a:r>
              <a:rPr lang="en-US" altLang="zh-CN" b="1" dirty="0">
                <a:solidFill>
                  <a:schemeClr val="bg1"/>
                </a:solidFill>
                <a:latin typeface="+mj-ea"/>
              </a:rPr>
              <a:t> #1: </a:t>
            </a:r>
            <a:r>
              <a:rPr lang="zh-CN" altLang="en-US" b="1" dirty="0">
                <a:solidFill>
                  <a:schemeClr val="bg1"/>
                </a:solidFill>
                <a:latin typeface="+mj-ea"/>
              </a:rPr>
              <a:t>方案</a:t>
            </a:r>
            <a:endParaRPr lang="en-US" altLang="zh-CN" b="1" dirty="0">
              <a:solidFill>
                <a:schemeClr val="bg1"/>
              </a:solidFill>
              <a:latin typeface="+mj-ea"/>
            </a:endParaRPr>
          </a:p>
        </p:txBody>
      </p:sp>
      <p:sp>
        <p:nvSpPr>
          <p:cNvPr id="17" name="圆角矩形 16"/>
          <p:cNvSpPr/>
          <p:nvPr/>
        </p:nvSpPr>
        <p:spPr>
          <a:xfrm>
            <a:off x="8235951" y="1318721"/>
            <a:ext cx="3797300" cy="222038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lvl1pPr defTabSz="913130">
              <a:defRPr kumimoji="1" sz="2400">
                <a:solidFill>
                  <a:schemeClr val="tx1"/>
                </a:solidFill>
                <a:latin typeface="Calibri" panose="020F0502020204030204" pitchFamily="34" charset="0"/>
                <a:ea typeface="宋体" panose="02010600030101010101" pitchFamily="2" charset="-122"/>
              </a:defRPr>
            </a:lvl1pPr>
            <a:lvl2pPr marL="742950" indent="-285750" defTabSz="913130">
              <a:defRPr kumimoji="1" sz="2400">
                <a:solidFill>
                  <a:schemeClr val="tx1"/>
                </a:solidFill>
                <a:latin typeface="Calibri" panose="020F0502020204030204" pitchFamily="34" charset="0"/>
                <a:ea typeface="宋体" panose="02010600030101010101" pitchFamily="2" charset="-122"/>
              </a:defRPr>
            </a:lvl2pPr>
            <a:lvl3pPr marL="1143000" indent="-228600" defTabSz="913130">
              <a:defRPr kumimoji="1" sz="2400">
                <a:solidFill>
                  <a:schemeClr val="tx1"/>
                </a:solidFill>
                <a:latin typeface="Calibri" panose="020F0502020204030204" pitchFamily="34" charset="0"/>
                <a:ea typeface="宋体" panose="02010600030101010101" pitchFamily="2" charset="-122"/>
              </a:defRPr>
            </a:lvl3pPr>
            <a:lvl4pPr marL="1600200" indent="-228600" defTabSz="913130">
              <a:defRPr kumimoji="1" sz="2400">
                <a:solidFill>
                  <a:schemeClr val="tx1"/>
                </a:solidFill>
                <a:latin typeface="Calibri" panose="020F0502020204030204" pitchFamily="34" charset="0"/>
                <a:ea typeface="宋体" panose="02010600030101010101" pitchFamily="2" charset="-122"/>
              </a:defRPr>
            </a:lvl4pPr>
            <a:lvl5pPr marL="2057400" indent="-228600" defTabSz="913130">
              <a:defRPr kumimoji="1" sz="2400">
                <a:solidFill>
                  <a:schemeClr val="tx1"/>
                </a:solidFill>
                <a:latin typeface="Calibri" panose="020F0502020204030204" pitchFamily="34" charset="0"/>
                <a:ea typeface="宋体" panose="02010600030101010101" pitchFamily="2" charset="-122"/>
              </a:defRPr>
            </a:lvl5pPr>
            <a:lvl6pPr marL="25146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6pPr>
            <a:lvl7pPr marL="29718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7pPr>
            <a:lvl8pPr marL="34290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8pPr>
            <a:lvl9pPr marL="38862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9pPr>
          </a:lstStyle>
          <a:p>
            <a:pPr defTabSz="1217476" fontAlgn="base">
              <a:spcBef>
                <a:spcPct val="0"/>
              </a:spcBef>
              <a:spcAft>
                <a:spcPct val="0"/>
              </a:spcAft>
              <a:defRPr/>
            </a:pPr>
            <a:r>
              <a:rPr kumimoji="0" lang="en-US" altLang="zh-CN" sz="1600" dirty="0">
                <a:solidFill>
                  <a:schemeClr val="bg1"/>
                </a:solidFill>
                <a:latin typeface="+mj-ea"/>
                <a:ea typeface="+mj-ea"/>
              </a:rPr>
              <a:t>IPS</a:t>
            </a:r>
            <a:r>
              <a:rPr kumimoji="0" lang="zh-CN" altLang="en-US" sz="1600" dirty="0">
                <a:solidFill>
                  <a:schemeClr val="bg1"/>
                </a:solidFill>
                <a:latin typeface="+mj-ea"/>
                <a:ea typeface="+mj-ea"/>
              </a:rPr>
              <a:t>：</a:t>
            </a:r>
            <a:endParaRPr kumimoji="0" lang="en-US" altLang="zh-CN" sz="1600" dirty="0">
              <a:solidFill>
                <a:schemeClr val="bg1"/>
              </a:solidFill>
              <a:latin typeface="+mj-ea"/>
              <a:ea typeface="+mj-ea"/>
            </a:endParaRPr>
          </a:p>
          <a:p>
            <a:pPr defTabSz="1217476" fontAlgn="base">
              <a:spcBef>
                <a:spcPct val="0"/>
              </a:spcBef>
              <a:spcAft>
                <a:spcPct val="0"/>
              </a:spcAft>
              <a:defRPr/>
            </a:pPr>
            <a:r>
              <a:rPr kumimoji="0" lang="zh-CN" altLang="en-US" sz="1600" u="sng" dirty="0">
                <a:solidFill>
                  <a:schemeClr val="bg1"/>
                </a:solidFill>
                <a:latin typeface="+mj-ea"/>
                <a:ea typeface="+mj-ea"/>
              </a:rPr>
              <a:t>需求</a:t>
            </a:r>
            <a:r>
              <a:rPr kumimoji="0" lang="en-US" altLang="zh-CN" sz="1600" u="sng" dirty="0">
                <a:solidFill>
                  <a:schemeClr val="bg1"/>
                </a:solidFill>
                <a:latin typeface="+mj-ea"/>
                <a:ea typeface="+mj-ea"/>
              </a:rPr>
              <a:t>1</a:t>
            </a:r>
            <a:r>
              <a:rPr kumimoji="0" lang="zh-CN" altLang="en-US" sz="1600" u="sng" dirty="0">
                <a:solidFill>
                  <a:schemeClr val="bg1"/>
                </a:solidFill>
                <a:latin typeface="+mj-ea"/>
                <a:ea typeface="+mj-ea"/>
              </a:rPr>
              <a:t>工单下达</a:t>
            </a:r>
            <a:endParaRPr kumimoji="0" lang="en-US" altLang="zh-CN" sz="1600" u="sng" dirty="0">
              <a:solidFill>
                <a:schemeClr val="bg1"/>
              </a:solidFill>
              <a:latin typeface="+mj-ea"/>
              <a:ea typeface="+mj-ea"/>
            </a:endParaRPr>
          </a:p>
          <a:p>
            <a:pPr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库存</a:t>
            </a:r>
            <a:r>
              <a:rPr kumimoji="0" lang="en-US" altLang="zh-CN" sz="1600" dirty="0">
                <a:solidFill>
                  <a:schemeClr val="bg1"/>
                </a:solidFill>
                <a:latin typeface="+mj-ea"/>
                <a:ea typeface="+mj-ea"/>
              </a:rPr>
              <a:t>A</a:t>
            </a:r>
            <a:r>
              <a:rPr kumimoji="0" lang="zh-CN" altLang="en-US" sz="1600" dirty="0">
                <a:solidFill>
                  <a:schemeClr val="bg1"/>
                </a:solidFill>
                <a:latin typeface="+mj-ea"/>
                <a:ea typeface="+mj-ea"/>
              </a:rPr>
              <a:t>消耗</a:t>
            </a:r>
            <a:r>
              <a:rPr kumimoji="0" lang="en-US" altLang="zh-CN" sz="1600" dirty="0">
                <a:solidFill>
                  <a:schemeClr val="bg1"/>
                </a:solidFill>
                <a:latin typeface="+mj-ea"/>
                <a:ea typeface="+mj-ea"/>
              </a:rPr>
              <a:t>100</a:t>
            </a:r>
          </a:p>
          <a:p>
            <a:pPr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库存</a:t>
            </a:r>
            <a:r>
              <a:rPr kumimoji="0" lang="en-US" altLang="zh-CN" sz="1600" dirty="0">
                <a:solidFill>
                  <a:schemeClr val="bg1"/>
                </a:solidFill>
                <a:latin typeface="+mj-ea"/>
                <a:ea typeface="+mj-ea"/>
              </a:rPr>
              <a:t>B</a:t>
            </a:r>
            <a:r>
              <a:rPr kumimoji="0" lang="zh-CN" altLang="en-US" sz="1600" dirty="0">
                <a:solidFill>
                  <a:schemeClr val="bg1"/>
                </a:solidFill>
                <a:latin typeface="+mj-ea"/>
                <a:ea typeface="+mj-ea"/>
              </a:rPr>
              <a:t>消耗</a:t>
            </a:r>
            <a:r>
              <a:rPr kumimoji="0" lang="en-US" altLang="zh-CN" sz="1600" dirty="0">
                <a:solidFill>
                  <a:schemeClr val="bg1"/>
                </a:solidFill>
                <a:latin typeface="+mj-ea"/>
                <a:ea typeface="+mj-ea"/>
              </a:rPr>
              <a:t>100</a:t>
            </a:r>
          </a:p>
          <a:p>
            <a:pPr defTabSz="1217476" fontAlgn="base">
              <a:spcBef>
                <a:spcPct val="0"/>
              </a:spcBef>
              <a:spcAft>
                <a:spcPct val="0"/>
              </a:spcAft>
              <a:defRPr/>
            </a:pPr>
            <a:r>
              <a:rPr kumimoji="0" lang="zh-CN" altLang="en-US" sz="1600" u="sng" dirty="0">
                <a:solidFill>
                  <a:schemeClr val="bg1"/>
                </a:solidFill>
                <a:latin typeface="+mj-ea"/>
                <a:ea typeface="+mj-ea"/>
              </a:rPr>
              <a:t>需求</a:t>
            </a:r>
            <a:r>
              <a:rPr kumimoji="0" lang="en-US" altLang="zh-CN" sz="1600" u="sng" dirty="0">
                <a:solidFill>
                  <a:schemeClr val="bg1"/>
                </a:solidFill>
                <a:latin typeface="+mj-ea"/>
                <a:ea typeface="+mj-ea"/>
              </a:rPr>
              <a:t>2 </a:t>
            </a:r>
          </a:p>
          <a:p>
            <a:pPr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库存</a:t>
            </a:r>
            <a:r>
              <a:rPr kumimoji="0" lang="en-US" altLang="zh-CN" sz="1600" dirty="0">
                <a:solidFill>
                  <a:schemeClr val="bg1"/>
                </a:solidFill>
                <a:latin typeface="+mj-ea"/>
                <a:ea typeface="+mj-ea"/>
              </a:rPr>
              <a:t>A</a:t>
            </a:r>
            <a:r>
              <a:rPr kumimoji="0" lang="zh-CN" altLang="en-US" sz="1600" dirty="0">
                <a:solidFill>
                  <a:schemeClr val="bg1"/>
                </a:solidFill>
                <a:latin typeface="+mj-ea"/>
                <a:ea typeface="+mj-ea"/>
              </a:rPr>
              <a:t>分配给需求</a:t>
            </a:r>
            <a:r>
              <a:rPr kumimoji="0" lang="en-US" altLang="zh-CN" sz="1600" dirty="0">
                <a:solidFill>
                  <a:schemeClr val="bg1"/>
                </a:solidFill>
                <a:latin typeface="+mj-ea"/>
                <a:ea typeface="+mj-ea"/>
              </a:rPr>
              <a:t>2 100</a:t>
            </a:r>
            <a:r>
              <a:rPr kumimoji="0" lang="zh-CN" altLang="en-US" sz="1600" dirty="0">
                <a:solidFill>
                  <a:schemeClr val="bg1"/>
                </a:solidFill>
                <a:latin typeface="+mj-ea"/>
                <a:ea typeface="+mj-ea"/>
              </a:rPr>
              <a:t>，计划到货</a:t>
            </a:r>
            <a:r>
              <a:rPr kumimoji="0" lang="en-US" altLang="zh-CN" sz="1600" dirty="0">
                <a:solidFill>
                  <a:schemeClr val="bg1"/>
                </a:solidFill>
                <a:latin typeface="+mj-ea"/>
                <a:ea typeface="+mj-ea"/>
              </a:rPr>
              <a:t>C</a:t>
            </a:r>
            <a:r>
              <a:rPr kumimoji="0" lang="zh-CN" altLang="en-US" sz="1600" dirty="0">
                <a:solidFill>
                  <a:schemeClr val="bg1"/>
                </a:solidFill>
                <a:latin typeface="+mj-ea"/>
                <a:ea typeface="+mj-ea"/>
              </a:rPr>
              <a:t>分别给需求</a:t>
            </a:r>
            <a:r>
              <a:rPr kumimoji="0" lang="en-US" altLang="zh-CN" sz="1600" dirty="0">
                <a:solidFill>
                  <a:schemeClr val="bg1"/>
                </a:solidFill>
                <a:latin typeface="+mj-ea"/>
                <a:ea typeface="+mj-ea"/>
              </a:rPr>
              <a:t>2</a:t>
            </a:r>
          </a:p>
          <a:p>
            <a:pPr defTabSz="1217476" fontAlgn="base">
              <a:spcBef>
                <a:spcPct val="0"/>
              </a:spcBef>
              <a:spcAft>
                <a:spcPct val="0"/>
              </a:spcAft>
              <a:buFont typeface="Arial" panose="020B0604020202020204" pitchFamily="34" charset="0"/>
              <a:buChar char="•"/>
              <a:defRPr/>
            </a:pPr>
            <a:r>
              <a:rPr kumimoji="0" lang="zh-CN" altLang="en-US" sz="1600" dirty="0">
                <a:solidFill>
                  <a:schemeClr val="bg1"/>
                </a:solidFill>
                <a:latin typeface="+mj-ea"/>
                <a:ea typeface="+mj-ea"/>
              </a:rPr>
              <a:t>工单将会在第</a:t>
            </a:r>
            <a:r>
              <a:rPr kumimoji="0" lang="en-US" altLang="zh-CN" sz="1600" dirty="0">
                <a:solidFill>
                  <a:schemeClr val="bg1"/>
                </a:solidFill>
                <a:latin typeface="+mj-ea"/>
                <a:ea typeface="+mj-ea"/>
              </a:rPr>
              <a:t>3</a:t>
            </a:r>
            <a:r>
              <a:rPr kumimoji="0" lang="zh-CN" altLang="en-US" sz="1600" dirty="0">
                <a:solidFill>
                  <a:schemeClr val="bg1"/>
                </a:solidFill>
                <a:latin typeface="+mj-ea"/>
                <a:ea typeface="+mj-ea"/>
              </a:rPr>
              <a:t>天下达</a:t>
            </a:r>
            <a:endParaRPr kumimoji="0" lang="en-US" altLang="zh-CN" sz="1600" dirty="0">
              <a:solidFill>
                <a:schemeClr val="bg1"/>
              </a:solidFill>
              <a:latin typeface="+mj-ea"/>
              <a:ea typeface="+mj-ea"/>
            </a:endParaRPr>
          </a:p>
        </p:txBody>
      </p:sp>
      <p:sp>
        <p:nvSpPr>
          <p:cNvPr id="34834" name="矩形 24"/>
          <p:cNvSpPr/>
          <p:nvPr/>
        </p:nvSpPr>
        <p:spPr>
          <a:xfrm>
            <a:off x="4375151" y="4292601"/>
            <a:ext cx="1803400" cy="634020"/>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chemeClr val="bg1"/>
                </a:solidFill>
                <a:latin typeface="+mj-ea"/>
                <a:ea typeface="+mj-ea"/>
              </a:rPr>
              <a:t>计划到货 </a:t>
            </a:r>
            <a:r>
              <a:rPr lang="en-US" altLang="zh-CN" sz="1600" dirty="0">
                <a:solidFill>
                  <a:schemeClr val="bg1"/>
                </a:solidFill>
                <a:latin typeface="+mj-ea"/>
                <a:ea typeface="+mj-ea"/>
              </a:rPr>
              <a:t>C</a:t>
            </a:r>
          </a:p>
          <a:p>
            <a:pPr marL="0" indent="0" algn="ctr" defTabSz="1217476" eaLnBrk="1" hangingPunct="1">
              <a:buNone/>
            </a:pPr>
            <a:r>
              <a:rPr lang="en-US" altLang="zh-CN" sz="1600" dirty="0">
                <a:solidFill>
                  <a:schemeClr val="bg1"/>
                </a:solidFill>
                <a:latin typeface="+mj-ea"/>
                <a:ea typeface="+mj-ea"/>
              </a:rPr>
              <a:t>100</a:t>
            </a:r>
            <a:endParaRPr lang="zh-CN" altLang="en-US" sz="1600" dirty="0">
              <a:solidFill>
                <a:schemeClr val="bg1"/>
              </a:solidFill>
              <a:latin typeface="+mj-ea"/>
              <a:ea typeface="+mj-ea"/>
            </a:endParaRPr>
          </a:p>
        </p:txBody>
      </p:sp>
      <p:cxnSp>
        <p:nvCxnSpPr>
          <p:cNvPr id="19" name="直接箭头连接符 25"/>
          <p:cNvCxnSpPr>
            <a:stCxn id="34834" idx="0"/>
          </p:cNvCxnSpPr>
          <p:nvPr/>
        </p:nvCxnSpPr>
        <p:spPr>
          <a:xfrm flipH="1" flipV="1">
            <a:off x="5249334" y="3524251"/>
            <a:ext cx="27517" cy="76835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0" name="Line 58"/>
          <p:cNvSpPr/>
          <p:nvPr/>
        </p:nvSpPr>
        <p:spPr>
          <a:xfrm flipH="1">
            <a:off x="4933951" y="2690285"/>
            <a:ext cx="315383" cy="1655233"/>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solidFill>
                <a:schemeClr val="bg1"/>
              </a:solidFill>
              <a:latin typeface="+mj-ea"/>
              <a:ea typeface="+mj-ea"/>
            </a:endParaRPr>
          </a:p>
        </p:txBody>
      </p:sp>
      <p:sp>
        <p:nvSpPr>
          <p:cNvPr id="21" name="Line 58"/>
          <p:cNvSpPr/>
          <p:nvPr/>
        </p:nvSpPr>
        <p:spPr>
          <a:xfrm flipH="1">
            <a:off x="2438400" y="2675467"/>
            <a:ext cx="2810933" cy="1212851"/>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solidFill>
                <a:schemeClr val="bg1"/>
              </a:solidFill>
              <a:latin typeface="+mj-ea"/>
              <a:ea typeface="+mj-ea"/>
            </a:endParaRPr>
          </a:p>
        </p:txBody>
      </p:sp>
      <p:cxnSp>
        <p:nvCxnSpPr>
          <p:cNvPr id="25" name="直接连接符 7"/>
          <p:cNvCxnSpPr/>
          <p:nvPr/>
        </p:nvCxnSpPr>
        <p:spPr>
          <a:xfrm>
            <a:off x="2459567" y="1509184"/>
            <a:ext cx="0" cy="2015067"/>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6" name="直接连接符 7"/>
          <p:cNvCxnSpPr/>
          <p:nvPr/>
        </p:nvCxnSpPr>
        <p:spPr>
          <a:xfrm>
            <a:off x="4358217" y="1473201"/>
            <a:ext cx="0" cy="4070351"/>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8" name="矩形 38"/>
          <p:cNvSpPr/>
          <p:nvPr/>
        </p:nvSpPr>
        <p:spPr>
          <a:xfrm>
            <a:off x="6347884" y="2319867"/>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chemeClr val="bg1"/>
                </a:solidFill>
                <a:latin typeface="+mj-ea"/>
                <a:ea typeface="+mj-ea"/>
              </a:rPr>
              <a:t>需求</a:t>
            </a:r>
            <a:r>
              <a:rPr lang="en-US" altLang="zh-CN" sz="1600" dirty="0">
                <a:solidFill>
                  <a:schemeClr val="bg1"/>
                </a:solidFill>
                <a:latin typeface="+mj-ea"/>
                <a:ea typeface="+mj-ea"/>
              </a:rPr>
              <a:t>3</a:t>
            </a:r>
            <a:endParaRPr lang="zh-CN" altLang="en-US" sz="1600" dirty="0">
              <a:solidFill>
                <a:schemeClr val="bg1"/>
              </a:solidFill>
              <a:latin typeface="+mj-ea"/>
              <a:ea typeface="+mj-ea"/>
            </a:endParaRPr>
          </a:p>
        </p:txBody>
      </p:sp>
      <p:cxnSp>
        <p:nvCxnSpPr>
          <p:cNvPr id="29" name="直接箭头连接符 15"/>
          <p:cNvCxnSpPr/>
          <p:nvPr/>
        </p:nvCxnSpPr>
        <p:spPr>
          <a:xfrm>
            <a:off x="6997700" y="2690285"/>
            <a:ext cx="16933" cy="853017"/>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34846" name="矩形 30"/>
          <p:cNvSpPr/>
          <p:nvPr/>
        </p:nvSpPr>
        <p:spPr>
          <a:xfrm>
            <a:off x="6216651" y="4292601"/>
            <a:ext cx="1739900" cy="634020"/>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chemeClr val="bg1"/>
                </a:solidFill>
                <a:latin typeface="+mj-ea"/>
                <a:ea typeface="+mj-ea"/>
              </a:rPr>
              <a:t>计划到货 </a:t>
            </a:r>
            <a:r>
              <a:rPr lang="en-US" altLang="zh-CN" sz="1600" dirty="0">
                <a:solidFill>
                  <a:schemeClr val="bg1"/>
                </a:solidFill>
                <a:latin typeface="+mj-ea"/>
                <a:ea typeface="+mj-ea"/>
              </a:rPr>
              <a:t>A</a:t>
            </a:r>
          </a:p>
          <a:p>
            <a:pPr marL="0" indent="0" algn="ctr" defTabSz="1217476" eaLnBrk="1" hangingPunct="1">
              <a:buNone/>
            </a:pPr>
            <a:r>
              <a:rPr lang="en-US" altLang="zh-CN" sz="1600" dirty="0">
                <a:solidFill>
                  <a:schemeClr val="bg1"/>
                </a:solidFill>
                <a:latin typeface="+mj-ea"/>
                <a:ea typeface="+mj-ea"/>
              </a:rPr>
              <a:t>100</a:t>
            </a:r>
            <a:endParaRPr lang="zh-CN" altLang="en-US" sz="1600" dirty="0">
              <a:solidFill>
                <a:schemeClr val="bg1"/>
              </a:solidFill>
              <a:latin typeface="+mj-ea"/>
              <a:ea typeface="+mj-ea"/>
            </a:endParaRPr>
          </a:p>
        </p:txBody>
      </p:sp>
      <p:cxnSp>
        <p:nvCxnSpPr>
          <p:cNvPr id="31" name="直接箭头连接符 31"/>
          <p:cNvCxnSpPr/>
          <p:nvPr/>
        </p:nvCxnSpPr>
        <p:spPr>
          <a:xfrm flipV="1">
            <a:off x="6997700" y="3543301"/>
            <a:ext cx="16933" cy="74930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32" name="矩形标注 33"/>
          <p:cNvSpPr/>
          <p:nvPr/>
        </p:nvSpPr>
        <p:spPr>
          <a:xfrm>
            <a:off x="6394451" y="1509184"/>
            <a:ext cx="1439333" cy="508000"/>
          </a:xfrm>
          <a:prstGeom prst="wedgeRectCallout">
            <a:avLst>
              <a:gd name="adj1" fmla="val -6801"/>
              <a:gd name="adj2" fmla="val 117405"/>
            </a:avLst>
          </a:prstGeom>
          <a:ln>
            <a:noFill/>
          </a:ln>
        </p:spPr>
        <p:style>
          <a:lnRef idx="2">
            <a:schemeClr val="accent6">
              <a:shade val="50000"/>
            </a:schemeClr>
          </a:lnRef>
          <a:fillRef idx="1">
            <a:schemeClr val="accent6"/>
          </a:fillRef>
          <a:effectRef idx="0">
            <a:schemeClr val="accent6"/>
          </a:effectRef>
          <a:fontRef idx="minor">
            <a:schemeClr val="lt1"/>
          </a:fontRef>
        </p:style>
        <p:txBody>
          <a:bodyPr lIns="121899" tIns="60949" rIns="121899" bIns="60949" anchor="ctr"/>
          <a:lstStyle/>
          <a:p>
            <a:pPr algn="ctr" defTabSz="1217476"/>
            <a:r>
              <a:rPr lang="en-US" altLang="zh-CN" sz="1867" b="1" dirty="0">
                <a:solidFill>
                  <a:schemeClr val="bg1"/>
                </a:solidFill>
                <a:latin typeface="+mj-ea"/>
                <a:ea typeface="+mj-ea"/>
              </a:rPr>
              <a:t>IPS</a:t>
            </a:r>
            <a:endParaRPr lang="zh-CN" altLang="en-US" sz="1867" b="1" dirty="0">
              <a:solidFill>
                <a:schemeClr val="bg1"/>
              </a:solidFill>
              <a:latin typeface="+mj-ea"/>
              <a:ea typeface="+mj-ea"/>
            </a:endParaRPr>
          </a:p>
        </p:txBody>
      </p:sp>
      <p:sp>
        <p:nvSpPr>
          <p:cNvPr id="34" name="Line 58"/>
          <p:cNvSpPr/>
          <p:nvPr/>
        </p:nvSpPr>
        <p:spPr>
          <a:xfrm flipH="1">
            <a:off x="2438401" y="2690284"/>
            <a:ext cx="4559300" cy="2046816"/>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solidFill>
                <a:schemeClr val="bg1"/>
              </a:solidFill>
              <a:latin typeface="+mj-ea"/>
              <a:ea typeface="+mj-ea"/>
            </a:endParaRPr>
          </a:p>
        </p:txBody>
      </p:sp>
      <p:sp>
        <p:nvSpPr>
          <p:cNvPr id="35" name="Line 58"/>
          <p:cNvSpPr/>
          <p:nvPr/>
        </p:nvSpPr>
        <p:spPr>
          <a:xfrm>
            <a:off x="7014633" y="2690284"/>
            <a:ext cx="389467" cy="1642533"/>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solidFill>
                <a:schemeClr val="bg1"/>
              </a:solidFill>
              <a:latin typeface="+mj-ea"/>
              <a:ea typeface="+mj-ea"/>
            </a:endParaRPr>
          </a:p>
        </p:txBody>
      </p:sp>
      <p:sp>
        <p:nvSpPr>
          <p:cNvPr id="39" name="圆角矩形 45"/>
          <p:cNvSpPr/>
          <p:nvPr/>
        </p:nvSpPr>
        <p:spPr>
          <a:xfrm>
            <a:off x="8250767" y="3471334"/>
            <a:ext cx="3795184" cy="119168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lstStyle/>
          <a:p>
            <a:pPr defTabSz="1219170">
              <a:defRPr/>
            </a:pPr>
            <a:r>
              <a:rPr lang="zh-CN" altLang="en-US" sz="1600" u="sng" dirty="0">
                <a:solidFill>
                  <a:schemeClr val="bg1"/>
                </a:solidFill>
                <a:latin typeface="+mj-ea"/>
                <a:ea typeface="+mj-ea"/>
                <a:cs typeface="Arial Unicode MS" panose="020B0604020202020204" pitchFamily="34" charset="-122"/>
              </a:rPr>
              <a:t>需求</a:t>
            </a:r>
            <a:r>
              <a:rPr lang="en-US" altLang="zh-CN" sz="1600" u="sng" dirty="0">
                <a:solidFill>
                  <a:schemeClr val="bg1"/>
                </a:solidFill>
                <a:latin typeface="+mj-ea"/>
                <a:ea typeface="+mj-ea"/>
                <a:cs typeface="Arial Unicode MS" panose="020B0604020202020204" pitchFamily="34" charset="-122"/>
              </a:rPr>
              <a:t>3</a:t>
            </a:r>
          </a:p>
          <a:p>
            <a:pPr marL="342891" indent="-342891" defTabSz="1219170">
              <a:buFont typeface="Arial" panose="020B0604020202020204" pitchFamily="34" charset="0"/>
              <a:buChar char="•"/>
              <a:defRPr/>
            </a:pPr>
            <a:r>
              <a:rPr lang="zh-CN" altLang="en-US" sz="1600" dirty="0">
                <a:solidFill>
                  <a:schemeClr val="bg1"/>
                </a:solidFill>
                <a:latin typeface="+mj-ea"/>
                <a:ea typeface="+mj-ea"/>
                <a:cs typeface="Arial Unicode MS" panose="020B0604020202020204" pitchFamily="34" charset="-122"/>
              </a:rPr>
              <a:t>库存 </a:t>
            </a:r>
            <a:r>
              <a:rPr lang="en-US" altLang="zh-CN" sz="1600" dirty="0">
                <a:solidFill>
                  <a:schemeClr val="bg1"/>
                </a:solidFill>
                <a:latin typeface="+mj-ea"/>
                <a:ea typeface="+mj-ea"/>
                <a:cs typeface="Arial Unicode MS" panose="020B0604020202020204" pitchFamily="34" charset="-122"/>
              </a:rPr>
              <a:t>B</a:t>
            </a:r>
            <a:r>
              <a:rPr lang="zh-CN" altLang="en-US" sz="1600" dirty="0">
                <a:solidFill>
                  <a:schemeClr val="bg1"/>
                </a:solidFill>
                <a:latin typeface="+mj-ea"/>
                <a:ea typeface="+mj-ea"/>
                <a:cs typeface="Arial Unicode MS" panose="020B0604020202020204" pitchFamily="34" charset="-122"/>
              </a:rPr>
              <a:t>和计划到货</a:t>
            </a:r>
            <a:r>
              <a:rPr lang="en-US" altLang="zh-CN" sz="1600" dirty="0">
                <a:solidFill>
                  <a:schemeClr val="bg1"/>
                </a:solidFill>
                <a:latin typeface="+mj-ea"/>
                <a:ea typeface="+mj-ea"/>
                <a:cs typeface="Arial Unicode MS" panose="020B0604020202020204" pitchFamily="34" charset="-122"/>
              </a:rPr>
              <a:t>A</a:t>
            </a:r>
            <a:r>
              <a:rPr lang="zh-CN" altLang="en-US" sz="1600" dirty="0">
                <a:solidFill>
                  <a:schemeClr val="bg1"/>
                </a:solidFill>
                <a:latin typeface="+mj-ea"/>
                <a:ea typeface="+mj-ea"/>
                <a:cs typeface="Arial Unicode MS" panose="020B0604020202020204" pitchFamily="34" charset="-122"/>
              </a:rPr>
              <a:t>分配给需求</a:t>
            </a:r>
            <a:r>
              <a:rPr lang="en-US" altLang="zh-CN" sz="1600" dirty="0">
                <a:solidFill>
                  <a:schemeClr val="bg1"/>
                </a:solidFill>
                <a:latin typeface="+mj-ea"/>
                <a:ea typeface="+mj-ea"/>
                <a:cs typeface="Arial Unicode MS" panose="020B0604020202020204" pitchFamily="34" charset="-122"/>
              </a:rPr>
              <a:t>3</a:t>
            </a:r>
          </a:p>
          <a:p>
            <a:pPr marL="342891" indent="-342891" defTabSz="1219170">
              <a:buFont typeface="Arial" panose="020B0604020202020204" pitchFamily="34" charset="0"/>
              <a:buChar char="•"/>
              <a:defRPr/>
            </a:pPr>
            <a:r>
              <a:rPr lang="zh-CN" altLang="en-US" sz="1600" dirty="0">
                <a:solidFill>
                  <a:schemeClr val="bg1"/>
                </a:solidFill>
                <a:latin typeface="+mj-ea"/>
                <a:ea typeface="+mj-ea"/>
                <a:cs typeface="Arial Unicode MS" panose="020B0604020202020204" pitchFamily="34" charset="-122"/>
              </a:rPr>
              <a:t>工单将会在第</a:t>
            </a:r>
            <a:r>
              <a:rPr lang="en-US" altLang="zh-CN" sz="1600" dirty="0">
                <a:solidFill>
                  <a:schemeClr val="bg1"/>
                </a:solidFill>
                <a:latin typeface="+mj-ea"/>
                <a:ea typeface="+mj-ea"/>
                <a:cs typeface="Arial Unicode MS" panose="020B0604020202020204" pitchFamily="34" charset="-122"/>
              </a:rPr>
              <a:t>3</a:t>
            </a:r>
            <a:r>
              <a:rPr lang="zh-CN" altLang="en-US" sz="1600" dirty="0">
                <a:solidFill>
                  <a:schemeClr val="bg1"/>
                </a:solidFill>
                <a:latin typeface="+mj-ea"/>
                <a:ea typeface="+mj-ea"/>
                <a:cs typeface="Arial Unicode MS" panose="020B0604020202020204" pitchFamily="34" charset="-122"/>
              </a:rPr>
              <a:t>天下达</a:t>
            </a:r>
            <a:endParaRPr lang="en-US" altLang="zh-CN" sz="1600" dirty="0">
              <a:solidFill>
                <a:schemeClr val="bg1"/>
              </a:solidFill>
              <a:latin typeface="+mj-ea"/>
              <a:ea typeface="+mj-ea"/>
              <a:cs typeface="Arial Unicode MS" panose="020B0604020202020204" pitchFamily="34" charset="-122"/>
            </a:endParaRPr>
          </a:p>
        </p:txBody>
      </p:sp>
      <p:cxnSp>
        <p:nvCxnSpPr>
          <p:cNvPr id="40" name="直接连接符 7"/>
          <p:cNvCxnSpPr/>
          <p:nvPr/>
        </p:nvCxnSpPr>
        <p:spPr>
          <a:xfrm>
            <a:off x="7998884" y="1488018"/>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10096E1D-BA05-DF0F-D668-9ED24E94B8EB}"/>
              </a:ext>
            </a:extLst>
          </p:cNvPr>
          <p:cNvSpPr txBox="1"/>
          <p:nvPr/>
        </p:nvSpPr>
        <p:spPr>
          <a:xfrm>
            <a:off x="10557934" y="3348624"/>
            <a:ext cx="1302564" cy="338554"/>
          </a:xfrm>
          <a:prstGeom prst="rect">
            <a:avLst/>
          </a:prstGeom>
          <a:noFill/>
        </p:spPr>
        <p:txBody>
          <a:bodyPr wrap="square" rtlCol="0">
            <a:spAutoFit/>
          </a:bodyPr>
          <a:lstStyle>
            <a:defPPr>
              <a:defRPr lang="zh-CN"/>
            </a:defPPr>
            <a:lvl1pPr marL="0" lvl="0"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1pPr>
            <a:lvl2pPr marL="457200" lvl="1"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2pPr>
            <a:lvl3pPr marL="914400" lvl="2"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3pPr>
            <a:lvl4pPr marL="1371600" lvl="3"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4pPr>
            <a:lvl5pPr marL="1828800" lvl="4"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5pPr>
            <a:lvl6pPr marL="2286000" lvl="5"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6pPr>
            <a:lvl7pPr marL="2743200" lvl="6"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7pPr>
            <a:lvl8pPr marL="3200400" lvl="7"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8pPr>
            <a:lvl9pPr marL="3657600" lvl="8"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9pPr>
          </a:lstStyle>
          <a:p>
            <a:r>
              <a:rPr lang="zh-CN" altLang="en-US" sz="1600" dirty="0">
                <a:solidFill>
                  <a:schemeClr val="bg1"/>
                </a:solidFill>
                <a:latin typeface="+mj-ea"/>
                <a:ea typeface="+mj-ea"/>
              </a:rPr>
              <a:t>需求日期</a:t>
            </a:r>
          </a:p>
        </p:txBody>
      </p:sp>
      <p:sp>
        <p:nvSpPr>
          <p:cNvPr id="33" name="文本框 1">
            <a:extLst>
              <a:ext uri="{FF2B5EF4-FFF2-40B4-BE49-F238E27FC236}">
                <a16:creationId xmlns:a16="http://schemas.microsoft.com/office/drawing/2014/main" id="{72A1FC28-FD81-7749-9673-D03E2B801494}"/>
              </a:ext>
            </a:extLst>
          </p:cNvPr>
          <p:cNvSpPr txBox="1"/>
          <p:nvPr/>
        </p:nvSpPr>
        <p:spPr>
          <a:xfrm>
            <a:off x="1043846" y="998335"/>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1</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41" name="文本框 1">
            <a:extLst>
              <a:ext uri="{FF2B5EF4-FFF2-40B4-BE49-F238E27FC236}">
                <a16:creationId xmlns:a16="http://schemas.microsoft.com/office/drawing/2014/main" id="{188BB894-8F41-45B4-00D9-D160F80AF10F}"/>
              </a:ext>
            </a:extLst>
          </p:cNvPr>
          <p:cNvSpPr txBox="1"/>
          <p:nvPr/>
        </p:nvSpPr>
        <p:spPr>
          <a:xfrm>
            <a:off x="2718129" y="1002850"/>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2</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42" name="文本框 1">
            <a:extLst>
              <a:ext uri="{FF2B5EF4-FFF2-40B4-BE49-F238E27FC236}">
                <a16:creationId xmlns:a16="http://schemas.microsoft.com/office/drawing/2014/main" id="{966DDE50-B2F9-D843-8334-D1030D6266E7}"/>
              </a:ext>
            </a:extLst>
          </p:cNvPr>
          <p:cNvSpPr txBox="1"/>
          <p:nvPr/>
        </p:nvSpPr>
        <p:spPr>
          <a:xfrm>
            <a:off x="4448876" y="1016630"/>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3</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43" name="文本框 1">
            <a:extLst>
              <a:ext uri="{FF2B5EF4-FFF2-40B4-BE49-F238E27FC236}">
                <a16:creationId xmlns:a16="http://schemas.microsoft.com/office/drawing/2014/main" id="{0438FDAC-B286-D725-C491-DAAB98E4DD72}"/>
              </a:ext>
            </a:extLst>
          </p:cNvPr>
          <p:cNvSpPr txBox="1"/>
          <p:nvPr/>
        </p:nvSpPr>
        <p:spPr>
          <a:xfrm>
            <a:off x="6189133" y="993130"/>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4</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46" name="文本框 45">
            <a:extLst>
              <a:ext uri="{FF2B5EF4-FFF2-40B4-BE49-F238E27FC236}">
                <a16:creationId xmlns:a16="http://schemas.microsoft.com/office/drawing/2014/main" id="{8C417A56-120F-ED99-8BDF-A5FF4028409C}"/>
              </a:ext>
            </a:extLst>
          </p:cNvPr>
          <p:cNvSpPr txBox="1"/>
          <p:nvPr/>
        </p:nvSpPr>
        <p:spPr>
          <a:xfrm>
            <a:off x="797984" y="5262911"/>
            <a:ext cx="6096000" cy="1600438"/>
          </a:xfrm>
          <a:prstGeom prst="rect">
            <a:avLst/>
          </a:prstGeom>
          <a:noFill/>
        </p:spPr>
        <p:txBody>
          <a:bodyPr wrap="square">
            <a:spAutoFit/>
          </a:bodyPr>
          <a:lstStyle/>
          <a:p>
            <a:pPr defTabSz="1219170">
              <a:defRPr/>
            </a:pPr>
            <a:r>
              <a:rPr lang="zh-CN" altLang="en-US" sz="1800" b="1" dirty="0">
                <a:solidFill>
                  <a:schemeClr val="bg1"/>
                </a:solidFill>
                <a:latin typeface="+mj-ea"/>
                <a:ea typeface="+mj-ea"/>
              </a:rPr>
              <a:t>场景</a:t>
            </a:r>
            <a:r>
              <a:rPr lang="en-US" altLang="zh-CN" sz="1800" b="1" dirty="0">
                <a:solidFill>
                  <a:schemeClr val="bg1"/>
                </a:solidFill>
                <a:latin typeface="+mj-ea"/>
                <a:ea typeface="+mj-ea"/>
              </a:rPr>
              <a:t>:</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B</a:t>
            </a:r>
            <a:r>
              <a:rPr lang="zh-CN" altLang="en-US" sz="1600" dirty="0">
                <a:solidFill>
                  <a:schemeClr val="bg1"/>
                </a:solidFill>
                <a:latin typeface="+mj-ea"/>
                <a:ea typeface="+mj-ea"/>
              </a:rPr>
              <a:t>生产</a:t>
            </a:r>
            <a:r>
              <a:rPr lang="en-US" altLang="zh-CN" sz="1600" dirty="0">
                <a:solidFill>
                  <a:schemeClr val="bg1"/>
                </a:solidFill>
                <a:latin typeface="+mj-ea"/>
                <a:ea typeface="+mj-ea"/>
              </a:rPr>
              <a:t>, </a:t>
            </a:r>
            <a:r>
              <a:rPr lang="zh-CN" altLang="en-US" sz="1600" dirty="0">
                <a:solidFill>
                  <a:schemeClr val="bg1"/>
                </a:solidFill>
                <a:latin typeface="+mj-ea"/>
                <a:ea typeface="+mj-ea"/>
              </a:rPr>
              <a:t>数量</a:t>
            </a:r>
            <a:r>
              <a:rPr lang="en-US" altLang="zh-CN" sz="1600" dirty="0">
                <a:solidFill>
                  <a:schemeClr val="bg1"/>
                </a:solidFill>
                <a:latin typeface="+mj-ea"/>
                <a:ea typeface="+mj-ea"/>
              </a:rPr>
              <a:t>100</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C</a:t>
            </a:r>
            <a:r>
              <a:rPr lang="zh-CN" altLang="en-US" sz="1600" dirty="0">
                <a:solidFill>
                  <a:schemeClr val="bg1"/>
                </a:solidFill>
                <a:latin typeface="+mj-ea"/>
                <a:ea typeface="+mj-ea"/>
              </a:rPr>
              <a:t>生产</a:t>
            </a:r>
            <a:r>
              <a:rPr lang="en-US" altLang="zh-CN" sz="1600" dirty="0">
                <a:solidFill>
                  <a:schemeClr val="bg1"/>
                </a:solidFill>
                <a:latin typeface="+mj-ea"/>
                <a:ea typeface="+mj-ea"/>
              </a:rPr>
              <a:t>, </a:t>
            </a:r>
            <a:r>
              <a:rPr lang="zh-CN" altLang="en-US" sz="1600" dirty="0">
                <a:solidFill>
                  <a:schemeClr val="bg1"/>
                </a:solidFill>
                <a:latin typeface="+mj-ea"/>
                <a:ea typeface="+mj-ea"/>
              </a:rPr>
              <a:t>数量</a:t>
            </a:r>
            <a:r>
              <a:rPr lang="en-US" altLang="zh-CN" sz="1600" dirty="0">
                <a:solidFill>
                  <a:schemeClr val="bg1"/>
                </a:solidFill>
                <a:latin typeface="+mj-ea"/>
                <a:ea typeface="+mj-ea"/>
              </a:rPr>
              <a:t>100</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3</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B</a:t>
            </a:r>
            <a:r>
              <a:rPr lang="zh-CN" altLang="en-US" sz="1600" dirty="0">
                <a:solidFill>
                  <a:schemeClr val="bg1"/>
                </a:solidFill>
                <a:latin typeface="+mj-ea"/>
                <a:ea typeface="+mj-ea"/>
              </a:rPr>
              <a:t>生产</a:t>
            </a:r>
            <a:r>
              <a:rPr lang="en-US" altLang="zh-CN" sz="1600" dirty="0">
                <a:solidFill>
                  <a:schemeClr val="bg1"/>
                </a:solidFill>
                <a:latin typeface="+mj-ea"/>
                <a:ea typeface="+mj-ea"/>
              </a:rPr>
              <a:t>, </a:t>
            </a:r>
            <a:r>
              <a:rPr lang="zh-CN" altLang="en-US" sz="1600" dirty="0">
                <a:solidFill>
                  <a:schemeClr val="bg1"/>
                </a:solidFill>
                <a:latin typeface="+mj-ea"/>
                <a:ea typeface="+mj-ea"/>
              </a:rPr>
              <a:t>数量</a:t>
            </a:r>
            <a:r>
              <a:rPr lang="en-US" altLang="zh-CN" sz="1600" dirty="0">
                <a:solidFill>
                  <a:schemeClr val="bg1"/>
                </a:solidFill>
                <a:latin typeface="+mj-ea"/>
                <a:ea typeface="+mj-ea"/>
              </a:rPr>
              <a:t>100</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的优先级高于需求</a:t>
            </a:r>
            <a:r>
              <a:rPr lang="en-US" altLang="zh-CN" sz="1600" dirty="0">
                <a:solidFill>
                  <a:schemeClr val="bg1"/>
                </a:solidFill>
                <a:latin typeface="+mj-ea"/>
                <a:ea typeface="+mj-ea"/>
              </a:rPr>
              <a:t>1</a:t>
            </a: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高于需求</a:t>
            </a:r>
            <a:r>
              <a:rPr lang="en-US" altLang="zh-CN" sz="1600" dirty="0">
                <a:solidFill>
                  <a:schemeClr val="bg1"/>
                </a:solidFill>
                <a:latin typeface="+mj-ea"/>
                <a:ea typeface="+mj-ea"/>
              </a:rPr>
              <a:t>3</a:t>
            </a:r>
          </a:p>
          <a:p>
            <a:pPr marL="171869" indent="-171869" defTabSz="1219170">
              <a:buFont typeface="Arial" panose="020B0604020202020204" pitchFamily="34" charset="0"/>
              <a:buChar char="•"/>
              <a:defRPr/>
            </a:pPr>
            <a:r>
              <a:rPr lang="zh-CN" altLang="en-US" sz="1600" dirty="0">
                <a:solidFill>
                  <a:schemeClr val="bg1"/>
                </a:solidFill>
                <a:latin typeface="+mj-ea"/>
                <a:ea typeface="+mj-ea"/>
              </a:rPr>
              <a:t>库存</a:t>
            </a:r>
            <a:r>
              <a:rPr lang="en-US" altLang="zh-CN" sz="1600" dirty="0">
                <a:solidFill>
                  <a:schemeClr val="bg1"/>
                </a:solidFill>
                <a:latin typeface="+mj-ea"/>
                <a:ea typeface="+mj-ea"/>
              </a:rPr>
              <a:t>A : 200; </a:t>
            </a:r>
            <a:r>
              <a:rPr lang="zh-CN" altLang="en-US" sz="1600" dirty="0">
                <a:solidFill>
                  <a:schemeClr val="bg1"/>
                </a:solidFill>
                <a:latin typeface="+mj-ea"/>
                <a:ea typeface="+mj-ea"/>
              </a:rPr>
              <a:t>库存</a:t>
            </a:r>
            <a:r>
              <a:rPr lang="en-US" altLang="zh-CN" sz="1600" dirty="0">
                <a:solidFill>
                  <a:schemeClr val="bg1"/>
                </a:solidFill>
                <a:latin typeface="+mj-ea"/>
                <a:ea typeface="+mj-ea"/>
              </a:rPr>
              <a:t>B: </a:t>
            </a:r>
            <a:r>
              <a:rPr lang="zh-CN" altLang="en-US" sz="1600" dirty="0">
                <a:solidFill>
                  <a:schemeClr val="bg1"/>
                </a:solidFill>
                <a:latin typeface="+mj-ea"/>
                <a:ea typeface="+mj-ea"/>
              </a:rPr>
              <a:t>足量</a:t>
            </a:r>
            <a:endParaRPr lang="en-US" altLang="zh-CN" sz="1600" dirty="0">
              <a:solidFill>
                <a:schemeClr val="bg1"/>
              </a:solidFill>
              <a:latin typeface="+mj-ea"/>
              <a:ea typeface="+mj-ea"/>
            </a:endParaRPr>
          </a:p>
        </p:txBody>
      </p:sp>
    </p:spTree>
    <p:custDataLst>
      <p:tags r:id="rId1"/>
    </p:custData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23" presetClass="entr" presetSubtype="16" fill="hold" nodeType="withEffect">
                                  <p:stCondLst>
                                    <p:cond delay="0"/>
                                  </p:stCondLst>
                                  <p:childTnLst>
                                    <p:set>
                                      <p:cBhvr>
                                        <p:cTn id="9" dur="1" fill="hold">
                                          <p:stCondLst>
                                            <p:cond delay="0"/>
                                          </p:stCondLst>
                                        </p:cTn>
                                        <p:tgtEl>
                                          <p:spTgt spid="21"/>
                                        </p:tgtEl>
                                        <p:attrNameLst>
                                          <p:attrName>style.visibility</p:attrName>
                                        </p:attrNameLst>
                                      </p:cBhvr>
                                      <p:to>
                                        <p:strVal val="visible"/>
                                      </p:to>
                                    </p:set>
                                    <p:anim calcmode="lin" valueType="num">
                                      <p:cBhvr>
                                        <p:cTn id="10" dur="500" fill="hold"/>
                                        <p:tgtEl>
                                          <p:spTgt spid="21"/>
                                        </p:tgtEl>
                                        <p:attrNameLst>
                                          <p:attrName>ppt_w</p:attrName>
                                        </p:attrNameLst>
                                      </p:cBhvr>
                                      <p:tavLst>
                                        <p:tav tm="0">
                                          <p:val>
                                            <p:fltVal val="0"/>
                                          </p:val>
                                        </p:tav>
                                        <p:tav tm="100000">
                                          <p:val>
                                            <p:strVal val="#ppt_w"/>
                                          </p:val>
                                        </p:tav>
                                      </p:tavLst>
                                    </p:anim>
                                    <p:anim calcmode="lin" valueType="num">
                                      <p:cBhvr>
                                        <p:cTn id="11" dur="500" fill="hold"/>
                                        <p:tgtEl>
                                          <p:spTgt spid="21"/>
                                        </p:tgtEl>
                                        <p:attrNameLst>
                                          <p:attrName>ppt_h</p:attrName>
                                        </p:attrNameLst>
                                      </p:cBhvr>
                                      <p:tavLst>
                                        <p:tav tm="0">
                                          <p:val>
                                            <p:fltVal val="0"/>
                                          </p:val>
                                        </p:tav>
                                        <p:tav tm="100000">
                                          <p:val>
                                            <p:strVal val="#ppt_h"/>
                                          </p:val>
                                        </p:tav>
                                      </p:tavLst>
                                    </p:anim>
                                  </p:childTnLst>
                                </p:cTn>
                              </p:par>
                              <p:par>
                                <p:cTn id="12" presetID="23" presetClass="entr" presetSubtype="16" fill="hold" nodeType="withEffect">
                                  <p:stCondLst>
                                    <p:cond delay="0"/>
                                  </p:stCondLst>
                                  <p:childTnLst>
                                    <p:set>
                                      <p:cBhvr>
                                        <p:cTn id="13" dur="1" fill="hold">
                                          <p:stCondLst>
                                            <p:cond delay="0"/>
                                          </p:stCondLst>
                                        </p:cTn>
                                        <p:tgtEl>
                                          <p:spTgt spid="20"/>
                                        </p:tgtEl>
                                        <p:attrNameLst>
                                          <p:attrName>style.visibility</p:attrName>
                                        </p:attrNameLst>
                                      </p:cBhvr>
                                      <p:to>
                                        <p:strVal val="visible"/>
                                      </p:to>
                                    </p:set>
                                    <p:anim calcmode="lin" valueType="num">
                                      <p:cBhvr>
                                        <p:cTn id="14" dur="500" fill="hold"/>
                                        <p:tgtEl>
                                          <p:spTgt spid="20"/>
                                        </p:tgtEl>
                                        <p:attrNameLst>
                                          <p:attrName>ppt_w</p:attrName>
                                        </p:attrNameLst>
                                      </p:cBhvr>
                                      <p:tavLst>
                                        <p:tav tm="0">
                                          <p:val>
                                            <p:fltVal val="0"/>
                                          </p:val>
                                        </p:tav>
                                        <p:tav tm="100000">
                                          <p:val>
                                            <p:strVal val="#ppt_w"/>
                                          </p:val>
                                        </p:tav>
                                      </p:tavLst>
                                    </p:anim>
                                    <p:anim calcmode="lin" valueType="num">
                                      <p:cBhvr>
                                        <p:cTn id="15" dur="500" fill="hold"/>
                                        <p:tgtEl>
                                          <p:spTgt spid="20"/>
                                        </p:tgtEl>
                                        <p:attrNameLst>
                                          <p:attrName>ppt_h</p:attrName>
                                        </p:attrNameLst>
                                      </p:cBhvr>
                                      <p:tavLst>
                                        <p:tav tm="0">
                                          <p:val>
                                            <p:fltVal val="0"/>
                                          </p:val>
                                        </p:tav>
                                        <p:tav tm="100000">
                                          <p:val>
                                            <p:strVal val="#ppt_h"/>
                                          </p:val>
                                        </p:tav>
                                      </p:tavLst>
                                    </p:anim>
                                  </p:childTnLst>
                                </p:cTn>
                              </p:par>
                              <p:par>
                                <p:cTn id="16" presetID="23" presetClass="entr" presetSubtype="16" fill="hold" nodeType="with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p:cTn id="18" dur="500" fill="hold"/>
                                        <p:tgtEl>
                                          <p:spTgt spid="11"/>
                                        </p:tgtEl>
                                        <p:attrNameLst>
                                          <p:attrName>ppt_w</p:attrName>
                                        </p:attrNameLst>
                                      </p:cBhvr>
                                      <p:tavLst>
                                        <p:tav tm="0">
                                          <p:val>
                                            <p:fltVal val="0"/>
                                          </p:val>
                                        </p:tav>
                                        <p:tav tm="100000">
                                          <p:val>
                                            <p:strVal val="#ppt_w"/>
                                          </p:val>
                                        </p:tav>
                                      </p:tavLst>
                                    </p:anim>
                                    <p:anim calcmode="lin" valueType="num">
                                      <p:cBhvr>
                                        <p:cTn id="19" dur="500" fill="hold"/>
                                        <p:tgtEl>
                                          <p:spTgt spid="11"/>
                                        </p:tgtEl>
                                        <p:attrNameLst>
                                          <p:attrName>ppt_h</p:attrName>
                                        </p:attrNameLst>
                                      </p:cBhvr>
                                      <p:tavLst>
                                        <p:tav tm="0">
                                          <p:val>
                                            <p:fltVal val="0"/>
                                          </p:val>
                                        </p:tav>
                                        <p:tav tm="100000">
                                          <p:val>
                                            <p:strVal val="#ppt_h"/>
                                          </p:val>
                                        </p:tav>
                                      </p:tavLst>
                                    </p:anim>
                                  </p:childTnLst>
                                </p:cTn>
                              </p:par>
                              <p:par>
                                <p:cTn id="20" presetID="10" presetClass="entr" presetSubtype="0" fill="hold" grpId="0" nodeType="with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par>
                                <p:cTn id="23" presetID="23" presetClass="entr" presetSubtype="16" fill="hold" nodeType="with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fltVal val="0"/>
                                          </p:val>
                                        </p:tav>
                                        <p:tav tm="100000">
                                          <p:val>
                                            <p:strVal val="#ppt_h"/>
                                          </p:val>
                                        </p:tav>
                                      </p:tavLst>
                                    </p:anim>
                                  </p:childTnLst>
                                </p:cTn>
                              </p:par>
                              <p:par>
                                <p:cTn id="27" presetID="42" presetClass="entr" presetSubtype="0" fill="hold" grpId="0" nodeType="withEffect">
                                  <p:stCondLst>
                                    <p:cond delay="0"/>
                                  </p:stCondLst>
                                  <p:iterate type="lt">
                                    <p:tmPct val="0"/>
                                  </p:iterate>
                                  <p:childTnLst>
                                    <p:set>
                                      <p:cBhvr>
                                        <p:cTn id="28" dur="1" fill="hold">
                                          <p:stCondLst>
                                            <p:cond delay="0"/>
                                          </p:stCondLst>
                                        </p:cTn>
                                        <p:tgtEl>
                                          <p:spTgt spid="17"/>
                                        </p:tgtEl>
                                        <p:attrNameLst>
                                          <p:attrName>style.visibility</p:attrName>
                                        </p:attrNameLst>
                                      </p:cBhvr>
                                      <p:to>
                                        <p:strVal val="visible"/>
                                      </p:to>
                                    </p:set>
                                    <p:animEffect transition="in" filter="fade">
                                      <p:cBhvr>
                                        <p:cTn id="29" dur="1000"/>
                                        <p:tgtEl>
                                          <p:spTgt spid="17"/>
                                        </p:tgtEl>
                                      </p:cBhvr>
                                    </p:animEffect>
                                    <p:anim calcmode="lin" valueType="num">
                                      <p:cBhvr>
                                        <p:cTn id="30" dur="1000" fill="hold"/>
                                        <p:tgtEl>
                                          <p:spTgt spid="17"/>
                                        </p:tgtEl>
                                        <p:attrNameLst>
                                          <p:attrName>ppt_x</p:attrName>
                                        </p:attrNameLst>
                                      </p:cBhvr>
                                      <p:tavLst>
                                        <p:tav tm="0">
                                          <p:val>
                                            <p:strVal val="#ppt_x"/>
                                          </p:val>
                                        </p:tav>
                                        <p:tav tm="100000">
                                          <p:val>
                                            <p:strVal val="#ppt_x"/>
                                          </p:val>
                                        </p:tav>
                                      </p:tavLst>
                                    </p:anim>
                                    <p:anim calcmode="lin" valueType="num">
                                      <p:cBhvr>
                                        <p:cTn id="31"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grpId="0" nodeType="clickEffect">
                                  <p:stCondLst>
                                    <p:cond delay="0"/>
                                  </p:stCondLst>
                                  <p:childTnLst>
                                    <p:set>
                                      <p:cBhvr>
                                        <p:cTn id="35" dur="1" fill="hold">
                                          <p:stCondLst>
                                            <p:cond delay="0"/>
                                          </p:stCondLst>
                                        </p:cTn>
                                        <p:tgtEl>
                                          <p:spTgt spid="32"/>
                                        </p:tgtEl>
                                        <p:attrNameLst>
                                          <p:attrName>style.visibility</p:attrName>
                                        </p:attrNameLst>
                                      </p:cBhvr>
                                      <p:to>
                                        <p:strVal val="visible"/>
                                      </p:to>
                                    </p:set>
                                    <p:animEffect transition="in" filter="blinds(horizontal)">
                                      <p:cBhvr>
                                        <p:cTn id="36" dur="500"/>
                                        <p:tgtEl>
                                          <p:spTgt spid="32"/>
                                        </p:tgtEl>
                                      </p:cBhvr>
                                    </p:animEffect>
                                  </p:childTnLst>
                                </p:cTn>
                              </p:par>
                              <p:par>
                                <p:cTn id="37" presetID="3" presetClass="entr" presetSubtype="10" fill="hold" grpId="0" nodeType="withEffect">
                                  <p:stCondLst>
                                    <p:cond delay="0"/>
                                  </p:stCondLst>
                                  <p:childTnLst>
                                    <p:set>
                                      <p:cBhvr>
                                        <p:cTn id="38" dur="1" fill="hold">
                                          <p:stCondLst>
                                            <p:cond delay="0"/>
                                          </p:stCondLst>
                                        </p:cTn>
                                        <p:tgtEl>
                                          <p:spTgt spid="28"/>
                                        </p:tgtEl>
                                        <p:attrNameLst>
                                          <p:attrName>style.visibility</p:attrName>
                                        </p:attrNameLst>
                                      </p:cBhvr>
                                      <p:to>
                                        <p:strVal val="visible"/>
                                      </p:to>
                                    </p:set>
                                    <p:animEffect transition="in" filter="blinds(horizontal)">
                                      <p:cBhvr>
                                        <p:cTn id="39" dur="500"/>
                                        <p:tgtEl>
                                          <p:spTgt spid="28"/>
                                        </p:tgtEl>
                                      </p:cBhvr>
                                    </p:animEffect>
                                  </p:childTnLst>
                                </p:cTn>
                              </p:par>
                              <p:par>
                                <p:cTn id="40" presetID="3" presetClass="entr" presetSubtype="10" fill="hold" nodeType="withEffect">
                                  <p:stCondLst>
                                    <p:cond delay="0"/>
                                  </p:stCondLst>
                                  <p:childTnLst>
                                    <p:set>
                                      <p:cBhvr>
                                        <p:cTn id="41" dur="1" fill="hold">
                                          <p:stCondLst>
                                            <p:cond delay="0"/>
                                          </p:stCondLst>
                                        </p:cTn>
                                        <p:tgtEl>
                                          <p:spTgt spid="34"/>
                                        </p:tgtEl>
                                        <p:attrNameLst>
                                          <p:attrName>style.visibility</p:attrName>
                                        </p:attrNameLst>
                                      </p:cBhvr>
                                      <p:to>
                                        <p:strVal val="visible"/>
                                      </p:to>
                                    </p:set>
                                    <p:animEffect transition="in" filter="blinds(horizontal)">
                                      <p:cBhvr>
                                        <p:cTn id="42" dur="500"/>
                                        <p:tgtEl>
                                          <p:spTgt spid="34"/>
                                        </p:tgtEl>
                                      </p:cBhvr>
                                    </p:animEffect>
                                  </p:childTnLst>
                                </p:cTn>
                              </p:par>
                              <p:par>
                                <p:cTn id="43" presetID="3" presetClass="entr" presetSubtype="10" fill="hold" nodeType="withEffect">
                                  <p:stCondLst>
                                    <p:cond delay="0"/>
                                  </p:stCondLst>
                                  <p:childTnLst>
                                    <p:set>
                                      <p:cBhvr>
                                        <p:cTn id="44" dur="1" fill="hold">
                                          <p:stCondLst>
                                            <p:cond delay="0"/>
                                          </p:stCondLst>
                                        </p:cTn>
                                        <p:tgtEl>
                                          <p:spTgt spid="35"/>
                                        </p:tgtEl>
                                        <p:attrNameLst>
                                          <p:attrName>style.visibility</p:attrName>
                                        </p:attrNameLst>
                                      </p:cBhvr>
                                      <p:to>
                                        <p:strVal val="visible"/>
                                      </p:to>
                                    </p:set>
                                    <p:animEffect transition="in" filter="blinds(horizontal)">
                                      <p:cBhvr>
                                        <p:cTn id="45" dur="500"/>
                                        <p:tgtEl>
                                          <p:spTgt spid="35"/>
                                        </p:tgtEl>
                                      </p:cBhvr>
                                    </p:animEffect>
                                  </p:childTnLst>
                                </p:cTn>
                              </p:par>
                              <p:par>
                                <p:cTn id="46" presetID="3" presetClass="entr" presetSubtype="10" fill="hold" nodeType="withEffect">
                                  <p:stCondLst>
                                    <p:cond delay="0"/>
                                  </p:stCondLst>
                                  <p:childTnLst>
                                    <p:set>
                                      <p:cBhvr>
                                        <p:cTn id="47" dur="1" fill="hold">
                                          <p:stCondLst>
                                            <p:cond delay="0"/>
                                          </p:stCondLst>
                                        </p:cTn>
                                        <p:tgtEl>
                                          <p:spTgt spid="29"/>
                                        </p:tgtEl>
                                        <p:attrNameLst>
                                          <p:attrName>style.visibility</p:attrName>
                                        </p:attrNameLst>
                                      </p:cBhvr>
                                      <p:to>
                                        <p:strVal val="visible"/>
                                      </p:to>
                                    </p:set>
                                    <p:animEffect transition="in" filter="blinds(horizontal)">
                                      <p:cBhvr>
                                        <p:cTn id="48" dur="500"/>
                                        <p:tgtEl>
                                          <p:spTgt spid="29"/>
                                        </p:tgtEl>
                                      </p:cBhvr>
                                    </p:animEffect>
                                  </p:childTnLst>
                                </p:cTn>
                              </p:par>
                              <p:par>
                                <p:cTn id="49" presetID="42" presetClass="entr" presetSubtype="0" fill="hold" grpId="0" nodeType="withEffect">
                                  <p:stCondLst>
                                    <p:cond delay="0"/>
                                  </p:stCondLst>
                                  <p:iterate type="lt">
                                    <p:tmPct val="0"/>
                                  </p:iterate>
                                  <p:childTnLst>
                                    <p:set>
                                      <p:cBhvr>
                                        <p:cTn id="50" dur="1" fill="hold">
                                          <p:stCondLst>
                                            <p:cond delay="0"/>
                                          </p:stCondLst>
                                        </p:cTn>
                                        <p:tgtEl>
                                          <p:spTgt spid="39"/>
                                        </p:tgtEl>
                                        <p:attrNameLst>
                                          <p:attrName>style.visibility</p:attrName>
                                        </p:attrNameLst>
                                      </p:cBhvr>
                                      <p:to>
                                        <p:strVal val="visible"/>
                                      </p:to>
                                    </p:set>
                                    <p:animEffect transition="in" filter="fade">
                                      <p:cBhvr>
                                        <p:cTn id="51" dur="1000"/>
                                        <p:tgtEl>
                                          <p:spTgt spid="39"/>
                                        </p:tgtEl>
                                      </p:cBhvr>
                                    </p:animEffect>
                                    <p:anim calcmode="lin" valueType="num">
                                      <p:cBhvr>
                                        <p:cTn id="52" dur="1000" fill="hold"/>
                                        <p:tgtEl>
                                          <p:spTgt spid="39"/>
                                        </p:tgtEl>
                                        <p:attrNameLst>
                                          <p:attrName>ppt_x</p:attrName>
                                        </p:attrNameLst>
                                      </p:cBhvr>
                                      <p:tavLst>
                                        <p:tav tm="0">
                                          <p:val>
                                            <p:strVal val="#ppt_x"/>
                                          </p:val>
                                        </p:tav>
                                        <p:tav tm="100000">
                                          <p:val>
                                            <p:strVal val="#ppt_x"/>
                                          </p:val>
                                        </p:tav>
                                      </p:tavLst>
                                    </p:anim>
                                    <p:anim calcmode="lin" valueType="num">
                                      <p:cBhvr>
                                        <p:cTn id="53"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p:bldP spid="28" grpId="0" animBg="1"/>
      <p:bldP spid="32" grpId="0" animBg="1"/>
      <p:bldP spid="39"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Title 2"/>
          <p:cNvSpPr>
            <a:spLocks noGrp="1"/>
          </p:cNvSpPr>
          <p:nvPr>
            <p:ph type="title" idx="4294967295"/>
          </p:nvPr>
        </p:nvSpPr>
        <p:spPr>
          <a:xfrm>
            <a:off x="1116013" y="150178"/>
            <a:ext cx="11075987" cy="520700"/>
          </a:xfrm>
          <a:prstGeom prst="rect">
            <a:avLst/>
          </a:prstGeom>
        </p:spPr>
        <p:txBody>
          <a:bodyPr vert="horz" wrap="square" lIns="121920" tIns="60960" rIns="121920" bIns="60960" anchor="ctr" anchorCtr="0">
            <a:normAutofit/>
          </a:bodyPr>
          <a:lstStyle/>
          <a:p>
            <a:pPr eaLnBrk="1" hangingPunct="1"/>
            <a:r>
              <a:rPr lang="en-US" altLang="zh-CN" b="1" dirty="0">
                <a:solidFill>
                  <a:schemeClr val="bg1"/>
                </a:solidFill>
                <a:latin typeface="+mj-ea"/>
              </a:rPr>
              <a:t>IPS </a:t>
            </a:r>
            <a:r>
              <a:rPr lang="zh-CN" altLang="en-US" b="1" dirty="0">
                <a:solidFill>
                  <a:schemeClr val="bg1"/>
                </a:solidFill>
                <a:latin typeface="+mj-ea"/>
              </a:rPr>
              <a:t>方案</a:t>
            </a:r>
            <a:r>
              <a:rPr lang="en-US" altLang="zh-CN" b="1" dirty="0">
                <a:solidFill>
                  <a:schemeClr val="bg1"/>
                </a:solidFill>
                <a:latin typeface="+mj-ea"/>
              </a:rPr>
              <a:t> – </a:t>
            </a:r>
            <a:r>
              <a:rPr lang="zh-CN" altLang="en-US" b="1" dirty="0">
                <a:solidFill>
                  <a:schemeClr val="bg1"/>
                </a:solidFill>
                <a:latin typeface="+mj-ea"/>
              </a:rPr>
              <a:t>情景演示</a:t>
            </a:r>
            <a:endParaRPr lang="en-US" altLang="zh-CN" b="1" dirty="0">
              <a:solidFill>
                <a:schemeClr val="bg1"/>
              </a:solidFill>
              <a:latin typeface="+mj-ea"/>
            </a:endParaRPr>
          </a:p>
        </p:txBody>
      </p:sp>
      <p:sp>
        <p:nvSpPr>
          <p:cNvPr id="3" name="Freeform 8"/>
          <p:cNvSpPr/>
          <p:nvPr/>
        </p:nvSpPr>
        <p:spPr>
          <a:xfrm>
            <a:off x="4093634" y="1693333"/>
            <a:ext cx="5738284" cy="806451"/>
          </a:xfrm>
          <a:custGeom>
            <a:avLst/>
            <a:gdLst>
              <a:gd name="connsiteX0" fmla="*/ 134387 w 806306"/>
              <a:gd name="connsiteY0" fmla="*/ 0 h 5737036"/>
              <a:gd name="connsiteX1" fmla="*/ 671919 w 806306"/>
              <a:gd name="connsiteY1" fmla="*/ 0 h 5737036"/>
              <a:gd name="connsiteX2" fmla="*/ 766945 w 806306"/>
              <a:gd name="connsiteY2" fmla="*/ 39361 h 5737036"/>
              <a:gd name="connsiteX3" fmla="*/ 806306 w 806306"/>
              <a:gd name="connsiteY3" fmla="*/ 134387 h 5737036"/>
              <a:gd name="connsiteX4" fmla="*/ 806306 w 806306"/>
              <a:gd name="connsiteY4" fmla="*/ 5737036 h 5737036"/>
              <a:gd name="connsiteX5" fmla="*/ 806306 w 806306"/>
              <a:gd name="connsiteY5" fmla="*/ 5737036 h 5737036"/>
              <a:gd name="connsiteX6" fmla="*/ 806306 w 806306"/>
              <a:gd name="connsiteY6" fmla="*/ 5737036 h 5737036"/>
              <a:gd name="connsiteX7" fmla="*/ 0 w 806306"/>
              <a:gd name="connsiteY7" fmla="*/ 5737036 h 5737036"/>
              <a:gd name="connsiteX8" fmla="*/ 0 w 806306"/>
              <a:gd name="connsiteY8" fmla="*/ 5737036 h 5737036"/>
              <a:gd name="connsiteX9" fmla="*/ 0 w 806306"/>
              <a:gd name="connsiteY9" fmla="*/ 5737036 h 5737036"/>
              <a:gd name="connsiteX10" fmla="*/ 0 w 806306"/>
              <a:gd name="connsiteY10" fmla="*/ 134387 h 5737036"/>
              <a:gd name="connsiteX11" fmla="*/ 39361 w 806306"/>
              <a:gd name="connsiteY11" fmla="*/ 39361 h 5737036"/>
              <a:gd name="connsiteX12" fmla="*/ 134387 w 806306"/>
              <a:gd name="connsiteY12" fmla="*/ 0 h 573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6306" h="5737036">
                <a:moveTo>
                  <a:pt x="806306" y="956194"/>
                </a:moveTo>
                <a:lnTo>
                  <a:pt x="806306" y="4780842"/>
                </a:lnTo>
                <a:cubicBezTo>
                  <a:pt x="806306" y="5034442"/>
                  <a:pt x="804316" y="5277654"/>
                  <a:pt x="800774" y="5456971"/>
                </a:cubicBezTo>
                <a:cubicBezTo>
                  <a:pt x="797232" y="5636288"/>
                  <a:pt x="792428" y="5737032"/>
                  <a:pt x="787419" y="5737032"/>
                </a:cubicBezTo>
                <a:lnTo>
                  <a:pt x="0" y="5737032"/>
                </a:lnTo>
                <a:lnTo>
                  <a:pt x="0" y="5737032"/>
                </a:lnTo>
                <a:lnTo>
                  <a:pt x="0" y="5737032"/>
                </a:lnTo>
                <a:lnTo>
                  <a:pt x="0" y="4"/>
                </a:lnTo>
                <a:lnTo>
                  <a:pt x="0" y="4"/>
                </a:lnTo>
                <a:lnTo>
                  <a:pt x="0" y="4"/>
                </a:lnTo>
                <a:lnTo>
                  <a:pt x="787419" y="4"/>
                </a:lnTo>
                <a:cubicBezTo>
                  <a:pt x="792428" y="4"/>
                  <a:pt x="797232" y="100748"/>
                  <a:pt x="800774" y="280065"/>
                </a:cubicBezTo>
                <a:cubicBezTo>
                  <a:pt x="804316" y="459382"/>
                  <a:pt x="806306" y="702594"/>
                  <a:pt x="806306" y="956194"/>
                </a:cubicBezTo>
                <a:close/>
              </a:path>
            </a:pathLst>
          </a:custGeom>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247651" tIns="163185" rIns="287011" bIns="163187" spcCol="1270" anchor="ctr"/>
          <a:lstStyle/>
          <a:p>
            <a:pPr marL="228594" lvl="1" indent="-228594" defTabSz="888978">
              <a:lnSpc>
                <a:spcPct val="90000"/>
              </a:lnSpc>
              <a:spcBef>
                <a:spcPct val="0"/>
              </a:spcBef>
              <a:spcAft>
                <a:spcPct val="15000"/>
              </a:spcAft>
              <a:buFontTx/>
              <a:buChar char="•"/>
              <a:defRPr/>
            </a:pPr>
            <a:r>
              <a:rPr lang="zh-CN" altLang="en-US" sz="2000" b="1" dirty="0">
                <a:solidFill>
                  <a:srgbClr val="000000">
                    <a:hueOff val="0"/>
                    <a:satOff val="0"/>
                    <a:lumOff val="0"/>
                    <a:alphaOff val="0"/>
                  </a:srgbClr>
                </a:solidFill>
                <a:latin typeface="+mj-ea"/>
                <a:ea typeface="+mj-ea"/>
              </a:rPr>
              <a:t>统一数据源和逻辑提高计划准确性</a:t>
            </a:r>
            <a:endParaRPr lang="en-US" altLang="zh-CN" sz="2000" b="1" dirty="0">
              <a:solidFill>
                <a:srgbClr val="000000">
                  <a:hueOff val="0"/>
                  <a:satOff val="0"/>
                  <a:lumOff val="0"/>
                  <a:alphaOff val="0"/>
                </a:srgbClr>
              </a:solidFill>
              <a:latin typeface="+mj-ea"/>
              <a:ea typeface="+mj-ea"/>
            </a:endParaRPr>
          </a:p>
        </p:txBody>
      </p:sp>
      <p:sp>
        <p:nvSpPr>
          <p:cNvPr id="4" name="Freeform 9"/>
          <p:cNvSpPr/>
          <p:nvPr/>
        </p:nvSpPr>
        <p:spPr>
          <a:xfrm>
            <a:off x="1953685" y="1591734"/>
            <a:ext cx="2139951" cy="1007533"/>
          </a:xfrm>
          <a:custGeom>
            <a:avLst/>
            <a:gdLst>
              <a:gd name="connsiteX0" fmla="*/ 0 w 2139394"/>
              <a:gd name="connsiteY0" fmla="*/ 167984 h 1007882"/>
              <a:gd name="connsiteX1" fmla="*/ 49202 w 2139394"/>
              <a:gd name="connsiteY1" fmla="*/ 49201 h 1007882"/>
              <a:gd name="connsiteX2" fmla="*/ 167985 w 2139394"/>
              <a:gd name="connsiteY2" fmla="*/ 0 h 1007882"/>
              <a:gd name="connsiteX3" fmla="*/ 1971410 w 2139394"/>
              <a:gd name="connsiteY3" fmla="*/ 0 h 1007882"/>
              <a:gd name="connsiteX4" fmla="*/ 2090193 w 2139394"/>
              <a:gd name="connsiteY4" fmla="*/ 49202 h 1007882"/>
              <a:gd name="connsiteX5" fmla="*/ 2139394 w 2139394"/>
              <a:gd name="connsiteY5" fmla="*/ 167985 h 1007882"/>
              <a:gd name="connsiteX6" fmla="*/ 2139394 w 2139394"/>
              <a:gd name="connsiteY6" fmla="*/ 839898 h 1007882"/>
              <a:gd name="connsiteX7" fmla="*/ 2090193 w 2139394"/>
              <a:gd name="connsiteY7" fmla="*/ 958681 h 1007882"/>
              <a:gd name="connsiteX8" fmla="*/ 1971410 w 2139394"/>
              <a:gd name="connsiteY8" fmla="*/ 1007882 h 1007882"/>
              <a:gd name="connsiteX9" fmla="*/ 167984 w 2139394"/>
              <a:gd name="connsiteY9" fmla="*/ 1007882 h 1007882"/>
              <a:gd name="connsiteX10" fmla="*/ 49201 w 2139394"/>
              <a:gd name="connsiteY10" fmla="*/ 958681 h 1007882"/>
              <a:gd name="connsiteX11" fmla="*/ 0 w 2139394"/>
              <a:gd name="connsiteY11" fmla="*/ 839898 h 1007882"/>
              <a:gd name="connsiteX12" fmla="*/ 0 w 2139394"/>
              <a:gd name="connsiteY12" fmla="*/ 167984 h 100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9394" h="1007882">
                <a:moveTo>
                  <a:pt x="0" y="167984"/>
                </a:moveTo>
                <a:cubicBezTo>
                  <a:pt x="0" y="123432"/>
                  <a:pt x="17698" y="80704"/>
                  <a:pt x="49202" y="49201"/>
                </a:cubicBezTo>
                <a:cubicBezTo>
                  <a:pt x="80705" y="17698"/>
                  <a:pt x="123433" y="0"/>
                  <a:pt x="167985" y="0"/>
                </a:cubicBezTo>
                <a:lnTo>
                  <a:pt x="1971410" y="0"/>
                </a:lnTo>
                <a:cubicBezTo>
                  <a:pt x="2015962" y="0"/>
                  <a:pt x="2058690" y="17698"/>
                  <a:pt x="2090193" y="49202"/>
                </a:cubicBezTo>
                <a:cubicBezTo>
                  <a:pt x="2121696" y="80705"/>
                  <a:pt x="2139394" y="123433"/>
                  <a:pt x="2139394" y="167985"/>
                </a:cubicBezTo>
                <a:lnTo>
                  <a:pt x="2139394" y="839898"/>
                </a:lnTo>
                <a:cubicBezTo>
                  <a:pt x="2139394" y="884450"/>
                  <a:pt x="2121696" y="927178"/>
                  <a:pt x="2090193" y="958681"/>
                </a:cubicBezTo>
                <a:cubicBezTo>
                  <a:pt x="2058690" y="990184"/>
                  <a:pt x="2015962" y="1007882"/>
                  <a:pt x="1971410" y="1007882"/>
                </a:cubicBezTo>
                <a:lnTo>
                  <a:pt x="167984" y="1007882"/>
                </a:lnTo>
                <a:cubicBezTo>
                  <a:pt x="123432" y="1007882"/>
                  <a:pt x="80704" y="990184"/>
                  <a:pt x="49201" y="958681"/>
                </a:cubicBezTo>
                <a:cubicBezTo>
                  <a:pt x="17698" y="927178"/>
                  <a:pt x="0" y="884450"/>
                  <a:pt x="0" y="839898"/>
                </a:cubicBezTo>
                <a:lnTo>
                  <a:pt x="0" y="167984"/>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125401" tIns="87301" rIns="125401" bIns="87301" spcCol="1270" anchor="ctr"/>
          <a:lstStyle/>
          <a:p>
            <a:pPr algn="ctr" defTabSz="888978">
              <a:lnSpc>
                <a:spcPct val="90000"/>
              </a:lnSpc>
              <a:spcBef>
                <a:spcPct val="0"/>
              </a:spcBef>
              <a:spcAft>
                <a:spcPct val="35000"/>
              </a:spcAft>
              <a:defRPr/>
            </a:pPr>
            <a:r>
              <a:rPr lang="zh-CN" altLang="en-US" sz="2000" b="1" u="sng" dirty="0">
                <a:solidFill>
                  <a:prstClr val="white"/>
                </a:solidFill>
                <a:latin typeface="+mj-ea"/>
                <a:ea typeface="+mj-ea"/>
              </a:rPr>
              <a:t>横向协同计划与执行</a:t>
            </a:r>
            <a:endParaRPr lang="en-US" altLang="zh-CN" sz="2000" b="1" u="sng" dirty="0">
              <a:solidFill>
                <a:prstClr val="white"/>
              </a:solidFill>
              <a:latin typeface="+mj-ea"/>
              <a:ea typeface="+mj-ea"/>
            </a:endParaRPr>
          </a:p>
        </p:txBody>
      </p:sp>
      <p:sp>
        <p:nvSpPr>
          <p:cNvPr id="5" name="Freeform 10"/>
          <p:cNvSpPr/>
          <p:nvPr/>
        </p:nvSpPr>
        <p:spPr>
          <a:xfrm>
            <a:off x="4093634" y="2751667"/>
            <a:ext cx="5738284" cy="806451"/>
          </a:xfrm>
          <a:custGeom>
            <a:avLst/>
            <a:gdLst>
              <a:gd name="connsiteX0" fmla="*/ 134387 w 806306"/>
              <a:gd name="connsiteY0" fmla="*/ 0 h 5737036"/>
              <a:gd name="connsiteX1" fmla="*/ 671919 w 806306"/>
              <a:gd name="connsiteY1" fmla="*/ 0 h 5737036"/>
              <a:gd name="connsiteX2" fmla="*/ 766945 w 806306"/>
              <a:gd name="connsiteY2" fmla="*/ 39361 h 5737036"/>
              <a:gd name="connsiteX3" fmla="*/ 806306 w 806306"/>
              <a:gd name="connsiteY3" fmla="*/ 134387 h 5737036"/>
              <a:gd name="connsiteX4" fmla="*/ 806306 w 806306"/>
              <a:gd name="connsiteY4" fmla="*/ 5737036 h 5737036"/>
              <a:gd name="connsiteX5" fmla="*/ 806306 w 806306"/>
              <a:gd name="connsiteY5" fmla="*/ 5737036 h 5737036"/>
              <a:gd name="connsiteX6" fmla="*/ 806306 w 806306"/>
              <a:gd name="connsiteY6" fmla="*/ 5737036 h 5737036"/>
              <a:gd name="connsiteX7" fmla="*/ 0 w 806306"/>
              <a:gd name="connsiteY7" fmla="*/ 5737036 h 5737036"/>
              <a:gd name="connsiteX8" fmla="*/ 0 w 806306"/>
              <a:gd name="connsiteY8" fmla="*/ 5737036 h 5737036"/>
              <a:gd name="connsiteX9" fmla="*/ 0 w 806306"/>
              <a:gd name="connsiteY9" fmla="*/ 5737036 h 5737036"/>
              <a:gd name="connsiteX10" fmla="*/ 0 w 806306"/>
              <a:gd name="connsiteY10" fmla="*/ 134387 h 5737036"/>
              <a:gd name="connsiteX11" fmla="*/ 39361 w 806306"/>
              <a:gd name="connsiteY11" fmla="*/ 39361 h 5737036"/>
              <a:gd name="connsiteX12" fmla="*/ 134387 w 806306"/>
              <a:gd name="connsiteY12" fmla="*/ 0 h 573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6306" h="5737036">
                <a:moveTo>
                  <a:pt x="806306" y="956194"/>
                </a:moveTo>
                <a:lnTo>
                  <a:pt x="806306" y="4780842"/>
                </a:lnTo>
                <a:cubicBezTo>
                  <a:pt x="806306" y="5034442"/>
                  <a:pt x="804316" y="5277654"/>
                  <a:pt x="800774" y="5456971"/>
                </a:cubicBezTo>
                <a:cubicBezTo>
                  <a:pt x="797232" y="5636288"/>
                  <a:pt x="792428" y="5737032"/>
                  <a:pt x="787419" y="5737032"/>
                </a:cubicBezTo>
                <a:lnTo>
                  <a:pt x="0" y="5737032"/>
                </a:lnTo>
                <a:lnTo>
                  <a:pt x="0" y="5737032"/>
                </a:lnTo>
                <a:lnTo>
                  <a:pt x="0" y="5737032"/>
                </a:lnTo>
                <a:lnTo>
                  <a:pt x="0" y="4"/>
                </a:lnTo>
                <a:lnTo>
                  <a:pt x="0" y="4"/>
                </a:lnTo>
                <a:lnTo>
                  <a:pt x="0" y="4"/>
                </a:lnTo>
                <a:lnTo>
                  <a:pt x="787419" y="4"/>
                </a:lnTo>
                <a:cubicBezTo>
                  <a:pt x="792428" y="4"/>
                  <a:pt x="797232" y="100748"/>
                  <a:pt x="800774" y="280065"/>
                </a:cubicBezTo>
                <a:cubicBezTo>
                  <a:pt x="804316" y="459382"/>
                  <a:pt x="806306" y="702594"/>
                  <a:pt x="806306" y="956194"/>
                </a:cubicBezTo>
                <a:close/>
              </a:path>
            </a:pathLst>
          </a:custGeom>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247651" tIns="163185" rIns="287011" bIns="163187" spcCol="1270" anchor="ctr"/>
          <a:lstStyle/>
          <a:p>
            <a:pPr marL="228594" lvl="1" indent="-228594" defTabSz="888978">
              <a:lnSpc>
                <a:spcPct val="90000"/>
              </a:lnSpc>
              <a:spcBef>
                <a:spcPct val="0"/>
              </a:spcBef>
              <a:spcAft>
                <a:spcPct val="15000"/>
              </a:spcAft>
              <a:buFontTx/>
              <a:buChar char="•"/>
              <a:defRPr/>
            </a:pPr>
            <a:r>
              <a:rPr lang="zh-CN" altLang="en-US" sz="2000" b="1" dirty="0">
                <a:solidFill>
                  <a:srgbClr val="000000">
                    <a:hueOff val="0"/>
                    <a:satOff val="0"/>
                    <a:lumOff val="0"/>
                    <a:alphaOff val="0"/>
                  </a:srgbClr>
                </a:solidFill>
                <a:latin typeface="+mj-ea"/>
                <a:ea typeface="+mj-ea"/>
              </a:rPr>
              <a:t>优先级存在差异</a:t>
            </a:r>
            <a:endParaRPr lang="en-US" sz="2000" dirty="0">
              <a:solidFill>
                <a:srgbClr val="000000">
                  <a:hueOff val="0"/>
                  <a:satOff val="0"/>
                  <a:lumOff val="0"/>
                  <a:alphaOff val="0"/>
                </a:srgbClr>
              </a:solidFill>
              <a:latin typeface="+mj-ea"/>
              <a:ea typeface="+mj-ea"/>
            </a:endParaRPr>
          </a:p>
        </p:txBody>
      </p:sp>
      <p:sp>
        <p:nvSpPr>
          <p:cNvPr id="6" name="Freeform 11"/>
          <p:cNvSpPr/>
          <p:nvPr/>
        </p:nvSpPr>
        <p:spPr>
          <a:xfrm>
            <a:off x="1953685" y="2650067"/>
            <a:ext cx="2139951" cy="1007533"/>
          </a:xfrm>
          <a:custGeom>
            <a:avLst/>
            <a:gdLst>
              <a:gd name="connsiteX0" fmla="*/ 0 w 2139394"/>
              <a:gd name="connsiteY0" fmla="*/ 167984 h 1007882"/>
              <a:gd name="connsiteX1" fmla="*/ 49202 w 2139394"/>
              <a:gd name="connsiteY1" fmla="*/ 49201 h 1007882"/>
              <a:gd name="connsiteX2" fmla="*/ 167985 w 2139394"/>
              <a:gd name="connsiteY2" fmla="*/ 0 h 1007882"/>
              <a:gd name="connsiteX3" fmla="*/ 1971410 w 2139394"/>
              <a:gd name="connsiteY3" fmla="*/ 0 h 1007882"/>
              <a:gd name="connsiteX4" fmla="*/ 2090193 w 2139394"/>
              <a:gd name="connsiteY4" fmla="*/ 49202 h 1007882"/>
              <a:gd name="connsiteX5" fmla="*/ 2139394 w 2139394"/>
              <a:gd name="connsiteY5" fmla="*/ 167985 h 1007882"/>
              <a:gd name="connsiteX6" fmla="*/ 2139394 w 2139394"/>
              <a:gd name="connsiteY6" fmla="*/ 839898 h 1007882"/>
              <a:gd name="connsiteX7" fmla="*/ 2090193 w 2139394"/>
              <a:gd name="connsiteY7" fmla="*/ 958681 h 1007882"/>
              <a:gd name="connsiteX8" fmla="*/ 1971410 w 2139394"/>
              <a:gd name="connsiteY8" fmla="*/ 1007882 h 1007882"/>
              <a:gd name="connsiteX9" fmla="*/ 167984 w 2139394"/>
              <a:gd name="connsiteY9" fmla="*/ 1007882 h 1007882"/>
              <a:gd name="connsiteX10" fmla="*/ 49201 w 2139394"/>
              <a:gd name="connsiteY10" fmla="*/ 958681 h 1007882"/>
              <a:gd name="connsiteX11" fmla="*/ 0 w 2139394"/>
              <a:gd name="connsiteY11" fmla="*/ 839898 h 1007882"/>
              <a:gd name="connsiteX12" fmla="*/ 0 w 2139394"/>
              <a:gd name="connsiteY12" fmla="*/ 167984 h 100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9394" h="1007882">
                <a:moveTo>
                  <a:pt x="0" y="167984"/>
                </a:moveTo>
                <a:cubicBezTo>
                  <a:pt x="0" y="123432"/>
                  <a:pt x="17698" y="80704"/>
                  <a:pt x="49202" y="49201"/>
                </a:cubicBezTo>
                <a:cubicBezTo>
                  <a:pt x="80705" y="17698"/>
                  <a:pt x="123433" y="0"/>
                  <a:pt x="167985" y="0"/>
                </a:cubicBezTo>
                <a:lnTo>
                  <a:pt x="1971410" y="0"/>
                </a:lnTo>
                <a:cubicBezTo>
                  <a:pt x="2015962" y="0"/>
                  <a:pt x="2058690" y="17698"/>
                  <a:pt x="2090193" y="49202"/>
                </a:cubicBezTo>
                <a:cubicBezTo>
                  <a:pt x="2121696" y="80705"/>
                  <a:pt x="2139394" y="123433"/>
                  <a:pt x="2139394" y="167985"/>
                </a:cubicBezTo>
                <a:lnTo>
                  <a:pt x="2139394" y="839898"/>
                </a:lnTo>
                <a:cubicBezTo>
                  <a:pt x="2139394" y="884450"/>
                  <a:pt x="2121696" y="927178"/>
                  <a:pt x="2090193" y="958681"/>
                </a:cubicBezTo>
                <a:cubicBezTo>
                  <a:pt x="2058690" y="990184"/>
                  <a:pt x="2015962" y="1007882"/>
                  <a:pt x="1971410" y="1007882"/>
                </a:cubicBezTo>
                <a:lnTo>
                  <a:pt x="167984" y="1007882"/>
                </a:lnTo>
                <a:cubicBezTo>
                  <a:pt x="123432" y="1007882"/>
                  <a:pt x="80704" y="990184"/>
                  <a:pt x="49201" y="958681"/>
                </a:cubicBezTo>
                <a:cubicBezTo>
                  <a:pt x="17698" y="927178"/>
                  <a:pt x="0" y="884450"/>
                  <a:pt x="0" y="839898"/>
                </a:cubicBezTo>
                <a:lnTo>
                  <a:pt x="0" y="167984"/>
                </a:lnTo>
                <a:close/>
              </a:path>
            </a:pathLst>
          </a:custGeom>
          <a:gradFill flip="none" rotWithShape="1">
            <a:gsLst>
              <a:gs pos="0">
                <a:schemeClr val="accent2"/>
              </a:gs>
              <a:gs pos="100000">
                <a:schemeClr val="accent2">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defTabSz="888978">
              <a:lnSpc>
                <a:spcPct val="90000"/>
              </a:lnSpc>
              <a:spcBef>
                <a:spcPct val="0"/>
              </a:spcBef>
              <a:spcAft>
                <a:spcPct val="35000"/>
              </a:spcAft>
              <a:defRPr/>
            </a:pPr>
            <a:r>
              <a:rPr lang="zh-CN" altLang="en-US" sz="2000" b="1" u="sng" dirty="0">
                <a:solidFill>
                  <a:prstClr val="white"/>
                </a:solidFill>
                <a:latin typeface="+mj-ea"/>
                <a:ea typeface="+mj-ea"/>
              </a:rPr>
              <a:t>优先级机制存在矛盾</a:t>
            </a:r>
            <a:endParaRPr lang="en-US" sz="2000" b="1" u="sng" dirty="0">
              <a:solidFill>
                <a:prstClr val="white"/>
              </a:solidFill>
              <a:latin typeface="+mj-ea"/>
              <a:ea typeface="+mj-ea"/>
            </a:endParaRPr>
          </a:p>
        </p:txBody>
      </p:sp>
      <p:sp>
        <p:nvSpPr>
          <p:cNvPr id="7" name="Freeform 14"/>
          <p:cNvSpPr/>
          <p:nvPr/>
        </p:nvSpPr>
        <p:spPr>
          <a:xfrm>
            <a:off x="1953685" y="3708400"/>
            <a:ext cx="2139951" cy="1007533"/>
          </a:xfrm>
          <a:custGeom>
            <a:avLst/>
            <a:gdLst>
              <a:gd name="connsiteX0" fmla="*/ 0 w 2139394"/>
              <a:gd name="connsiteY0" fmla="*/ 167984 h 1007882"/>
              <a:gd name="connsiteX1" fmla="*/ 49202 w 2139394"/>
              <a:gd name="connsiteY1" fmla="*/ 49201 h 1007882"/>
              <a:gd name="connsiteX2" fmla="*/ 167985 w 2139394"/>
              <a:gd name="connsiteY2" fmla="*/ 0 h 1007882"/>
              <a:gd name="connsiteX3" fmla="*/ 1971410 w 2139394"/>
              <a:gd name="connsiteY3" fmla="*/ 0 h 1007882"/>
              <a:gd name="connsiteX4" fmla="*/ 2090193 w 2139394"/>
              <a:gd name="connsiteY4" fmla="*/ 49202 h 1007882"/>
              <a:gd name="connsiteX5" fmla="*/ 2139394 w 2139394"/>
              <a:gd name="connsiteY5" fmla="*/ 167985 h 1007882"/>
              <a:gd name="connsiteX6" fmla="*/ 2139394 w 2139394"/>
              <a:gd name="connsiteY6" fmla="*/ 839898 h 1007882"/>
              <a:gd name="connsiteX7" fmla="*/ 2090193 w 2139394"/>
              <a:gd name="connsiteY7" fmla="*/ 958681 h 1007882"/>
              <a:gd name="connsiteX8" fmla="*/ 1971410 w 2139394"/>
              <a:gd name="connsiteY8" fmla="*/ 1007882 h 1007882"/>
              <a:gd name="connsiteX9" fmla="*/ 167984 w 2139394"/>
              <a:gd name="connsiteY9" fmla="*/ 1007882 h 1007882"/>
              <a:gd name="connsiteX10" fmla="*/ 49201 w 2139394"/>
              <a:gd name="connsiteY10" fmla="*/ 958681 h 1007882"/>
              <a:gd name="connsiteX11" fmla="*/ 0 w 2139394"/>
              <a:gd name="connsiteY11" fmla="*/ 839898 h 1007882"/>
              <a:gd name="connsiteX12" fmla="*/ 0 w 2139394"/>
              <a:gd name="connsiteY12" fmla="*/ 167984 h 100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9394" h="1007882">
                <a:moveTo>
                  <a:pt x="0" y="167984"/>
                </a:moveTo>
                <a:cubicBezTo>
                  <a:pt x="0" y="123432"/>
                  <a:pt x="17698" y="80704"/>
                  <a:pt x="49202" y="49201"/>
                </a:cubicBezTo>
                <a:cubicBezTo>
                  <a:pt x="80705" y="17698"/>
                  <a:pt x="123433" y="0"/>
                  <a:pt x="167985" y="0"/>
                </a:cubicBezTo>
                <a:lnTo>
                  <a:pt x="1971410" y="0"/>
                </a:lnTo>
                <a:cubicBezTo>
                  <a:pt x="2015962" y="0"/>
                  <a:pt x="2058690" y="17698"/>
                  <a:pt x="2090193" y="49202"/>
                </a:cubicBezTo>
                <a:cubicBezTo>
                  <a:pt x="2121696" y="80705"/>
                  <a:pt x="2139394" y="123433"/>
                  <a:pt x="2139394" y="167985"/>
                </a:cubicBezTo>
                <a:lnTo>
                  <a:pt x="2139394" y="839898"/>
                </a:lnTo>
                <a:cubicBezTo>
                  <a:pt x="2139394" y="884450"/>
                  <a:pt x="2121696" y="927178"/>
                  <a:pt x="2090193" y="958681"/>
                </a:cubicBezTo>
                <a:cubicBezTo>
                  <a:pt x="2058690" y="990184"/>
                  <a:pt x="2015962" y="1007882"/>
                  <a:pt x="1971410" y="1007882"/>
                </a:cubicBezTo>
                <a:lnTo>
                  <a:pt x="167984" y="1007882"/>
                </a:lnTo>
                <a:cubicBezTo>
                  <a:pt x="123432" y="1007882"/>
                  <a:pt x="80704" y="990184"/>
                  <a:pt x="49201" y="958681"/>
                </a:cubicBezTo>
                <a:cubicBezTo>
                  <a:pt x="17698" y="927178"/>
                  <a:pt x="0" y="884450"/>
                  <a:pt x="0" y="839898"/>
                </a:cubicBezTo>
                <a:lnTo>
                  <a:pt x="0" y="167984"/>
                </a:lnTo>
                <a:close/>
              </a:path>
            </a:pathLst>
          </a:custGeom>
          <a:gradFill flip="none" rotWithShape="1">
            <a:gsLst>
              <a:gs pos="0">
                <a:schemeClr val="accent3"/>
              </a:gs>
              <a:gs pos="100000">
                <a:schemeClr val="accent3">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r>
              <a:rPr lang="zh-CN" altLang="en-US" b="1" dirty="0">
                <a:latin typeface="+mj-ea"/>
                <a:ea typeface="+mj-ea"/>
              </a:rPr>
              <a:t>场景</a:t>
            </a:r>
            <a:r>
              <a:rPr lang="en-US" altLang="zh-CN" b="1" dirty="0">
                <a:latin typeface="+mj-ea"/>
                <a:ea typeface="+mj-ea"/>
              </a:rPr>
              <a:t> #3</a:t>
            </a:r>
          </a:p>
        </p:txBody>
      </p:sp>
    </p:spTree>
    <p:custDataLst>
      <p:tags r:id="rId1"/>
    </p:custDataLst>
    <p:extLst>
      <p:ext uri="{BB962C8B-B14F-4D97-AF65-F5344CB8AC3E}">
        <p14:creationId xmlns:p14="http://schemas.microsoft.com/office/powerpoint/2010/main" val="19456854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blinds(horizontal)">
                                      <p:cBhvr>
                                        <p:cTn id="10" dur="500"/>
                                        <p:tgtEl>
                                          <p:spTgt spid="5"/>
                                        </p:tgtEl>
                                      </p:cBhvr>
                                    </p:animEffect>
                                  </p:childTnLst>
                                </p:cTn>
                              </p:par>
                              <p:par>
                                <p:cTn id="11" presetID="3" presetClass="entr" presetSubtype="1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linds(horizontal)">
                                      <p:cBhvr>
                                        <p:cTn id="1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itle 37"/>
          <p:cNvSpPr>
            <a:spLocks noGrp="1"/>
          </p:cNvSpPr>
          <p:nvPr>
            <p:ph type="title" idx="4294967295"/>
          </p:nvPr>
        </p:nvSpPr>
        <p:spPr>
          <a:xfrm>
            <a:off x="1120775" y="161925"/>
            <a:ext cx="11071225" cy="520700"/>
          </a:xfrm>
          <a:prstGeom prst="rect">
            <a:avLst/>
          </a:prstGeom>
        </p:spPr>
        <p:txBody>
          <a:bodyPr vert="horz" wrap="square" lIns="121920" tIns="60960" rIns="121920" bIns="60960" anchor="ctr" anchorCtr="0">
            <a:normAutofit/>
          </a:bodyPr>
          <a:lstStyle/>
          <a:p>
            <a:pPr eaLnBrk="1" hangingPunct="1"/>
            <a:r>
              <a:rPr lang="zh-CN" altLang="en-US" b="1" dirty="0">
                <a:solidFill>
                  <a:schemeClr val="bg1"/>
                </a:solidFill>
                <a:latin typeface="+mj-ea"/>
              </a:rPr>
              <a:t>场景</a:t>
            </a:r>
            <a:r>
              <a:rPr lang="en-US" altLang="zh-CN" b="1" dirty="0">
                <a:solidFill>
                  <a:schemeClr val="bg1"/>
                </a:solidFill>
                <a:latin typeface="+mj-ea"/>
              </a:rPr>
              <a:t> #2: </a:t>
            </a:r>
            <a:r>
              <a:rPr lang="zh-CN" altLang="en-US" dirty="0">
                <a:solidFill>
                  <a:schemeClr val="bg1"/>
                </a:solidFill>
                <a:latin typeface="+mj-ea"/>
              </a:rPr>
              <a:t>挑战</a:t>
            </a:r>
            <a:r>
              <a:rPr lang="en-US" altLang="zh-CN" b="1" dirty="0">
                <a:solidFill>
                  <a:schemeClr val="bg1"/>
                </a:solidFill>
                <a:latin typeface="+mj-ea"/>
              </a:rPr>
              <a:t>E</a:t>
            </a:r>
          </a:p>
        </p:txBody>
      </p:sp>
      <p:cxnSp>
        <p:nvCxnSpPr>
          <p:cNvPr id="3" name="直接箭头连接符 38"/>
          <p:cNvCxnSpPr/>
          <p:nvPr/>
        </p:nvCxnSpPr>
        <p:spPr>
          <a:xfrm>
            <a:off x="897467" y="3473451"/>
            <a:ext cx="9334500" cy="0"/>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4" name="直接箭头连接符 39"/>
          <p:cNvCxnSpPr/>
          <p:nvPr/>
        </p:nvCxnSpPr>
        <p:spPr>
          <a:xfrm>
            <a:off x="3951817" y="2707218"/>
            <a:ext cx="0" cy="766233"/>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40"/>
          <p:cNvCxnSpPr/>
          <p:nvPr/>
        </p:nvCxnSpPr>
        <p:spPr>
          <a:xfrm>
            <a:off x="6487584" y="2707218"/>
            <a:ext cx="0" cy="766233"/>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41"/>
          <p:cNvCxnSpPr/>
          <p:nvPr/>
        </p:nvCxnSpPr>
        <p:spPr>
          <a:xfrm flipV="1">
            <a:off x="2935817" y="3473451"/>
            <a:ext cx="0" cy="673100"/>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7" name="直接箭头连接符 42"/>
          <p:cNvCxnSpPr>
            <a:cxnSpLocks/>
            <a:stCxn id="36876" idx="0"/>
          </p:cNvCxnSpPr>
          <p:nvPr/>
        </p:nvCxnSpPr>
        <p:spPr>
          <a:xfrm flipV="1">
            <a:off x="5903595" y="3473451"/>
            <a:ext cx="8255" cy="752730"/>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8" name="直接箭头连接符 43"/>
          <p:cNvCxnSpPr/>
          <p:nvPr/>
        </p:nvCxnSpPr>
        <p:spPr>
          <a:xfrm flipV="1">
            <a:off x="2935817" y="4349751"/>
            <a:ext cx="0" cy="670984"/>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36873" name="矩形 44"/>
          <p:cNvSpPr/>
          <p:nvPr/>
        </p:nvSpPr>
        <p:spPr>
          <a:xfrm>
            <a:off x="3179234" y="2353734"/>
            <a:ext cx="1200151" cy="297454"/>
          </a:xfrm>
          <a:prstGeom prst="rect">
            <a:avLst/>
          </a:prstGeom>
          <a:solidFill>
            <a:srgbClr val="0070C0"/>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333" b="1" dirty="0">
                <a:solidFill>
                  <a:schemeClr val="bg1"/>
                </a:solidFill>
                <a:latin typeface="+mj-ea"/>
                <a:ea typeface="+mj-ea"/>
              </a:rPr>
              <a:t>需求</a:t>
            </a:r>
            <a:r>
              <a:rPr lang="en-US" altLang="zh-CN" sz="1333" b="1" dirty="0">
                <a:solidFill>
                  <a:schemeClr val="bg1"/>
                </a:solidFill>
                <a:latin typeface="+mj-ea"/>
                <a:ea typeface="+mj-ea"/>
              </a:rPr>
              <a:t>1</a:t>
            </a:r>
            <a:endParaRPr lang="zh-CN" altLang="en-US" sz="1333" b="1" dirty="0">
              <a:solidFill>
                <a:schemeClr val="bg1"/>
              </a:solidFill>
              <a:latin typeface="+mj-ea"/>
              <a:ea typeface="+mj-ea"/>
            </a:endParaRPr>
          </a:p>
        </p:txBody>
      </p:sp>
      <p:sp>
        <p:nvSpPr>
          <p:cNvPr id="36874" name="矩形 45"/>
          <p:cNvSpPr/>
          <p:nvPr/>
        </p:nvSpPr>
        <p:spPr>
          <a:xfrm>
            <a:off x="6060018" y="2347385"/>
            <a:ext cx="1200149" cy="297454"/>
          </a:xfrm>
          <a:prstGeom prst="rect">
            <a:avLst/>
          </a:prstGeom>
          <a:solidFill>
            <a:srgbClr val="0070C0"/>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333" b="1" dirty="0">
                <a:solidFill>
                  <a:schemeClr val="bg1"/>
                </a:solidFill>
                <a:latin typeface="+mj-ea"/>
                <a:ea typeface="+mj-ea"/>
              </a:rPr>
              <a:t>需求</a:t>
            </a:r>
            <a:r>
              <a:rPr lang="en-US" altLang="zh-CN" sz="1333" b="1" dirty="0">
                <a:solidFill>
                  <a:schemeClr val="bg1"/>
                </a:solidFill>
                <a:latin typeface="+mj-ea"/>
                <a:ea typeface="+mj-ea"/>
              </a:rPr>
              <a:t>2</a:t>
            </a:r>
            <a:endParaRPr lang="zh-CN" altLang="en-US" sz="1333" b="1" dirty="0">
              <a:solidFill>
                <a:schemeClr val="bg1"/>
              </a:solidFill>
              <a:latin typeface="+mj-ea"/>
              <a:ea typeface="+mj-ea"/>
            </a:endParaRPr>
          </a:p>
        </p:txBody>
      </p:sp>
      <p:sp>
        <p:nvSpPr>
          <p:cNvPr id="36875" name="矩形 46"/>
          <p:cNvSpPr/>
          <p:nvPr/>
        </p:nvSpPr>
        <p:spPr>
          <a:xfrm>
            <a:off x="1354667" y="3666067"/>
            <a:ext cx="1390651" cy="338554"/>
          </a:xfrm>
          <a:prstGeom prst="rect">
            <a:avLst/>
          </a:prstGeom>
          <a:solidFill>
            <a:srgbClr val="00B050"/>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chemeClr val="bg1"/>
                </a:solidFill>
                <a:latin typeface="+mj-ea"/>
                <a:ea typeface="+mj-ea"/>
              </a:rPr>
              <a:t>库存</a:t>
            </a:r>
            <a:r>
              <a:rPr lang="en-US" altLang="zh-CN" sz="1600" b="1" dirty="0">
                <a:solidFill>
                  <a:schemeClr val="bg1"/>
                </a:solidFill>
                <a:latin typeface="+mj-ea"/>
                <a:ea typeface="+mj-ea"/>
              </a:rPr>
              <a:t> A</a:t>
            </a:r>
            <a:endParaRPr lang="zh-CN" altLang="en-US" sz="1600" b="1" dirty="0">
              <a:solidFill>
                <a:schemeClr val="bg1"/>
              </a:solidFill>
              <a:latin typeface="+mj-ea"/>
              <a:ea typeface="+mj-ea"/>
            </a:endParaRPr>
          </a:p>
        </p:txBody>
      </p:sp>
      <p:sp>
        <p:nvSpPr>
          <p:cNvPr id="36876" name="矩形 47"/>
          <p:cNvSpPr/>
          <p:nvPr/>
        </p:nvSpPr>
        <p:spPr>
          <a:xfrm>
            <a:off x="4818803" y="4226181"/>
            <a:ext cx="2169584"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chemeClr val="bg1"/>
                </a:solidFill>
                <a:latin typeface="+mj-ea"/>
                <a:ea typeface="+mj-ea"/>
              </a:rPr>
              <a:t>计划到货</a:t>
            </a:r>
            <a:r>
              <a:rPr lang="en-US" altLang="zh-CN" sz="1600" b="1" dirty="0">
                <a:solidFill>
                  <a:schemeClr val="bg1"/>
                </a:solidFill>
                <a:latin typeface="+mj-ea"/>
                <a:ea typeface="+mj-ea"/>
              </a:rPr>
              <a:t>C</a:t>
            </a:r>
            <a:endParaRPr lang="zh-CN" altLang="en-US" sz="1600" b="1" dirty="0">
              <a:solidFill>
                <a:schemeClr val="bg1"/>
              </a:solidFill>
              <a:latin typeface="+mj-ea"/>
              <a:ea typeface="+mj-ea"/>
            </a:endParaRPr>
          </a:p>
        </p:txBody>
      </p:sp>
      <p:sp>
        <p:nvSpPr>
          <p:cNvPr id="36877" name="矩形 48"/>
          <p:cNvSpPr/>
          <p:nvPr/>
        </p:nvSpPr>
        <p:spPr>
          <a:xfrm>
            <a:off x="1354667" y="4480984"/>
            <a:ext cx="1390651" cy="338554"/>
          </a:xfrm>
          <a:prstGeom prst="rect">
            <a:avLst/>
          </a:prstGeom>
          <a:solidFill>
            <a:srgbClr val="00B050"/>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chemeClr val="bg1"/>
                </a:solidFill>
                <a:latin typeface="+mj-ea"/>
                <a:ea typeface="+mj-ea"/>
              </a:rPr>
              <a:t>库存</a:t>
            </a:r>
            <a:r>
              <a:rPr lang="en-US" altLang="zh-CN" sz="1600" b="1" dirty="0">
                <a:solidFill>
                  <a:schemeClr val="bg1"/>
                </a:solidFill>
                <a:latin typeface="+mj-ea"/>
                <a:ea typeface="+mj-ea"/>
              </a:rPr>
              <a:t> B</a:t>
            </a:r>
            <a:endParaRPr lang="zh-CN" altLang="en-US" sz="1600" b="1" dirty="0">
              <a:solidFill>
                <a:schemeClr val="bg1"/>
              </a:solidFill>
              <a:latin typeface="+mj-ea"/>
              <a:ea typeface="+mj-ea"/>
            </a:endParaRPr>
          </a:p>
        </p:txBody>
      </p:sp>
      <p:sp>
        <p:nvSpPr>
          <p:cNvPr id="14" name="Line 58"/>
          <p:cNvSpPr>
            <a:spLocks noChangeShapeType="1"/>
          </p:cNvSpPr>
          <p:nvPr/>
        </p:nvSpPr>
        <p:spPr bwMode="auto">
          <a:xfrm flipH="1">
            <a:off x="2935818" y="3090333"/>
            <a:ext cx="3551767" cy="781051"/>
          </a:xfrm>
          <a:prstGeom prst="line">
            <a:avLst/>
          </a:prstGeom>
          <a:noFill/>
          <a:ln w="12700">
            <a:solidFill>
              <a:schemeClr val="bg1"/>
            </a:solidFill>
            <a:round/>
            <a:tailEnd type="triangle" w="med" len="med"/>
          </a:ln>
        </p:spPr>
        <p:txBody>
          <a:bodyPr lIns="162491" tIns="81244" rIns="162491" bIns="81244"/>
          <a:lstStyle>
            <a:defPPr>
              <a:defRPr lang="en-US"/>
            </a:defPPr>
            <a:lvl1pPr marL="0" algn="l" defTabSz="1219200" rtl="0" eaLnBrk="1" latinLnBrk="0" hangingPunct="1">
              <a:defRPr sz="2400" kern="1200">
                <a:solidFill>
                  <a:schemeClr val="tx1"/>
                </a:solidFill>
                <a:latin typeface="+mn-lt"/>
                <a:ea typeface="+mn-ea"/>
                <a:cs typeface="+mn-cs"/>
              </a:defRPr>
            </a:lvl1pPr>
            <a:lvl2pPr marL="609600" algn="l" defTabSz="1219200" rtl="0" eaLnBrk="1" latinLnBrk="0" hangingPunct="1">
              <a:defRPr sz="2400" kern="1200">
                <a:solidFill>
                  <a:schemeClr val="tx1"/>
                </a:solidFill>
                <a:latin typeface="+mn-lt"/>
                <a:ea typeface="+mn-ea"/>
                <a:cs typeface="+mn-cs"/>
              </a:defRPr>
            </a:lvl2pPr>
            <a:lvl3pPr marL="1219200" algn="l" defTabSz="1219200" rtl="0" eaLnBrk="1" latinLnBrk="0" hangingPunct="1">
              <a:defRPr sz="2400" kern="1200">
                <a:solidFill>
                  <a:schemeClr val="tx1"/>
                </a:solidFill>
                <a:latin typeface="+mn-lt"/>
                <a:ea typeface="+mn-ea"/>
                <a:cs typeface="+mn-cs"/>
              </a:defRPr>
            </a:lvl3pPr>
            <a:lvl4pPr marL="1828165" algn="l" defTabSz="1219200" rtl="0" eaLnBrk="1" latinLnBrk="0" hangingPunct="1">
              <a:defRPr sz="2400" kern="1200">
                <a:solidFill>
                  <a:schemeClr val="tx1"/>
                </a:solidFill>
                <a:latin typeface="+mn-lt"/>
                <a:ea typeface="+mn-ea"/>
                <a:cs typeface="+mn-cs"/>
              </a:defRPr>
            </a:lvl4pPr>
            <a:lvl5pPr marL="2437765" algn="l" defTabSz="1219200" rtl="0" eaLnBrk="1" latinLnBrk="0" hangingPunct="1">
              <a:defRPr sz="2400" kern="1200">
                <a:solidFill>
                  <a:schemeClr val="tx1"/>
                </a:solidFill>
                <a:latin typeface="+mn-lt"/>
                <a:ea typeface="+mn-ea"/>
                <a:cs typeface="+mn-cs"/>
              </a:defRPr>
            </a:lvl5pPr>
            <a:lvl6pPr marL="3047365" algn="l" defTabSz="1219200" rtl="0" eaLnBrk="1" latinLnBrk="0" hangingPunct="1">
              <a:defRPr sz="2400" kern="1200">
                <a:solidFill>
                  <a:schemeClr val="tx1"/>
                </a:solidFill>
                <a:latin typeface="+mn-lt"/>
                <a:ea typeface="+mn-ea"/>
                <a:cs typeface="+mn-cs"/>
              </a:defRPr>
            </a:lvl6pPr>
            <a:lvl7pPr marL="3656965" algn="l" defTabSz="1219200" rtl="0" eaLnBrk="1" latinLnBrk="0" hangingPunct="1">
              <a:defRPr sz="2400" kern="1200">
                <a:solidFill>
                  <a:schemeClr val="tx1"/>
                </a:solidFill>
                <a:latin typeface="+mn-lt"/>
                <a:ea typeface="+mn-ea"/>
                <a:cs typeface="+mn-cs"/>
              </a:defRPr>
            </a:lvl7pPr>
            <a:lvl8pPr marL="4266565" algn="l" defTabSz="1219200" rtl="0" eaLnBrk="1" latinLnBrk="0" hangingPunct="1">
              <a:defRPr sz="2400" kern="1200">
                <a:solidFill>
                  <a:schemeClr val="tx1"/>
                </a:solidFill>
                <a:latin typeface="+mn-lt"/>
                <a:ea typeface="+mn-ea"/>
                <a:cs typeface="+mn-cs"/>
              </a:defRPr>
            </a:lvl8pPr>
            <a:lvl9pPr marL="4876165" algn="l" defTabSz="1219200" rtl="0" eaLnBrk="1" latinLnBrk="0" hangingPunct="1">
              <a:defRPr sz="2400" kern="1200">
                <a:solidFill>
                  <a:schemeClr val="tx1"/>
                </a:solidFill>
                <a:latin typeface="+mn-lt"/>
                <a:ea typeface="+mn-ea"/>
                <a:cs typeface="+mn-cs"/>
              </a:defRPr>
            </a:lvl9pPr>
          </a:lstStyle>
          <a:p>
            <a:pPr defTabSz="1219170">
              <a:defRPr/>
            </a:pPr>
            <a:endParaRPr lang="zh-CN" altLang="en-US" sz="3200">
              <a:solidFill>
                <a:schemeClr val="bg1"/>
              </a:solidFill>
              <a:latin typeface="+mj-ea"/>
              <a:ea typeface="+mj-ea"/>
            </a:endParaRPr>
          </a:p>
        </p:txBody>
      </p:sp>
      <p:sp>
        <p:nvSpPr>
          <p:cNvPr id="15" name="Line 58"/>
          <p:cNvSpPr>
            <a:spLocks noChangeShapeType="1"/>
          </p:cNvSpPr>
          <p:nvPr/>
        </p:nvSpPr>
        <p:spPr bwMode="auto">
          <a:xfrm flipH="1">
            <a:off x="5911851" y="3090333"/>
            <a:ext cx="575733" cy="781051"/>
          </a:xfrm>
          <a:prstGeom prst="line">
            <a:avLst/>
          </a:prstGeom>
          <a:ln>
            <a:solidFill>
              <a:schemeClr val="bg1"/>
            </a:solidFill>
            <a:tailEnd type="triangle" w="med" len="med"/>
          </a:ln>
        </p:spPr>
        <p:style>
          <a:lnRef idx="2">
            <a:schemeClr val="accent1"/>
          </a:lnRef>
          <a:fillRef idx="0">
            <a:schemeClr val="accent1"/>
          </a:fillRef>
          <a:effectRef idx="1">
            <a:schemeClr val="accent1"/>
          </a:effectRef>
          <a:fontRef idx="minor">
            <a:schemeClr val="tx1"/>
          </a:fontRef>
        </p:style>
        <p:txBody>
          <a:bodyPr lIns="162491" tIns="81244" rIns="162491" bIns="81244"/>
          <a:lstStyle>
            <a:defPPr>
              <a:defRPr lang="en-US"/>
            </a:defPPr>
            <a:lvl1pPr marL="0" algn="l" defTabSz="1219200" rtl="0" eaLnBrk="1" latinLnBrk="0" hangingPunct="1">
              <a:defRPr sz="2400" kern="1200">
                <a:solidFill>
                  <a:schemeClr val="tx1"/>
                </a:solidFill>
                <a:latin typeface="+mn-lt"/>
                <a:ea typeface="+mn-ea"/>
                <a:cs typeface="+mn-cs"/>
              </a:defRPr>
            </a:lvl1pPr>
            <a:lvl2pPr marL="609600" algn="l" defTabSz="1219200" rtl="0" eaLnBrk="1" latinLnBrk="0" hangingPunct="1">
              <a:defRPr sz="2400" kern="1200">
                <a:solidFill>
                  <a:schemeClr val="tx1"/>
                </a:solidFill>
                <a:latin typeface="+mn-lt"/>
                <a:ea typeface="+mn-ea"/>
                <a:cs typeface="+mn-cs"/>
              </a:defRPr>
            </a:lvl2pPr>
            <a:lvl3pPr marL="1219200" algn="l" defTabSz="1219200" rtl="0" eaLnBrk="1" latinLnBrk="0" hangingPunct="1">
              <a:defRPr sz="2400" kern="1200">
                <a:solidFill>
                  <a:schemeClr val="tx1"/>
                </a:solidFill>
                <a:latin typeface="+mn-lt"/>
                <a:ea typeface="+mn-ea"/>
                <a:cs typeface="+mn-cs"/>
              </a:defRPr>
            </a:lvl3pPr>
            <a:lvl4pPr marL="1828165" algn="l" defTabSz="1219200" rtl="0" eaLnBrk="1" latinLnBrk="0" hangingPunct="1">
              <a:defRPr sz="2400" kern="1200">
                <a:solidFill>
                  <a:schemeClr val="tx1"/>
                </a:solidFill>
                <a:latin typeface="+mn-lt"/>
                <a:ea typeface="+mn-ea"/>
                <a:cs typeface="+mn-cs"/>
              </a:defRPr>
            </a:lvl4pPr>
            <a:lvl5pPr marL="2437765" algn="l" defTabSz="1219200" rtl="0" eaLnBrk="1" latinLnBrk="0" hangingPunct="1">
              <a:defRPr sz="2400" kern="1200">
                <a:solidFill>
                  <a:schemeClr val="tx1"/>
                </a:solidFill>
                <a:latin typeface="+mn-lt"/>
                <a:ea typeface="+mn-ea"/>
                <a:cs typeface="+mn-cs"/>
              </a:defRPr>
            </a:lvl5pPr>
            <a:lvl6pPr marL="3047365" algn="l" defTabSz="1219200" rtl="0" eaLnBrk="1" latinLnBrk="0" hangingPunct="1">
              <a:defRPr sz="2400" kern="1200">
                <a:solidFill>
                  <a:schemeClr val="tx1"/>
                </a:solidFill>
                <a:latin typeface="+mn-lt"/>
                <a:ea typeface="+mn-ea"/>
                <a:cs typeface="+mn-cs"/>
              </a:defRPr>
            </a:lvl6pPr>
            <a:lvl7pPr marL="3656965" algn="l" defTabSz="1219200" rtl="0" eaLnBrk="1" latinLnBrk="0" hangingPunct="1">
              <a:defRPr sz="2400" kern="1200">
                <a:solidFill>
                  <a:schemeClr val="tx1"/>
                </a:solidFill>
                <a:latin typeface="+mn-lt"/>
                <a:ea typeface="+mn-ea"/>
                <a:cs typeface="+mn-cs"/>
              </a:defRPr>
            </a:lvl7pPr>
            <a:lvl8pPr marL="4266565" algn="l" defTabSz="1219200" rtl="0" eaLnBrk="1" latinLnBrk="0" hangingPunct="1">
              <a:defRPr sz="2400" kern="1200">
                <a:solidFill>
                  <a:schemeClr val="tx1"/>
                </a:solidFill>
                <a:latin typeface="+mn-lt"/>
                <a:ea typeface="+mn-ea"/>
                <a:cs typeface="+mn-cs"/>
              </a:defRPr>
            </a:lvl8pPr>
            <a:lvl9pPr marL="4876165" algn="l" defTabSz="1219200" rtl="0" eaLnBrk="1" latinLnBrk="0" hangingPunct="1">
              <a:defRPr sz="2400" kern="1200">
                <a:solidFill>
                  <a:schemeClr val="tx1"/>
                </a:solidFill>
                <a:latin typeface="+mn-lt"/>
                <a:ea typeface="+mn-ea"/>
                <a:cs typeface="+mn-cs"/>
              </a:defRPr>
            </a:lvl9pPr>
          </a:lstStyle>
          <a:p>
            <a:pPr defTabSz="1219170">
              <a:defRPr/>
            </a:pPr>
            <a:endParaRPr lang="zh-CN" altLang="en-US" sz="3200">
              <a:solidFill>
                <a:schemeClr val="bg1"/>
              </a:solidFill>
              <a:latin typeface="+mj-ea"/>
              <a:ea typeface="+mj-ea"/>
            </a:endParaRPr>
          </a:p>
        </p:txBody>
      </p:sp>
      <p:sp>
        <p:nvSpPr>
          <p:cNvPr id="16" name="矩形标注 15"/>
          <p:cNvSpPr/>
          <p:nvPr/>
        </p:nvSpPr>
        <p:spPr>
          <a:xfrm>
            <a:off x="5784851" y="1517651"/>
            <a:ext cx="1439333" cy="508000"/>
          </a:xfrm>
          <a:prstGeom prst="wedgeRectCallout">
            <a:avLst>
              <a:gd name="adj1" fmla="val 782"/>
              <a:gd name="adj2" fmla="val 90562"/>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7476" fontAlgn="base">
              <a:spcBef>
                <a:spcPct val="0"/>
              </a:spcBef>
              <a:spcAft>
                <a:spcPct val="0"/>
              </a:spcAft>
              <a:defRPr/>
            </a:pPr>
            <a:r>
              <a:rPr lang="zh-CN" altLang="en-US" sz="1600" b="1" dirty="0">
                <a:solidFill>
                  <a:schemeClr val="bg1"/>
                </a:solidFill>
                <a:latin typeface="+mj-ea"/>
                <a:ea typeface="+mj-ea"/>
                <a:cs typeface="黑体" panose="02010609060101010101" charset="-122"/>
              </a:rPr>
              <a:t>交付计划</a:t>
            </a:r>
          </a:p>
        </p:txBody>
      </p:sp>
      <p:sp>
        <p:nvSpPr>
          <p:cNvPr id="17" name="矩形标注 16"/>
          <p:cNvSpPr/>
          <p:nvPr/>
        </p:nvSpPr>
        <p:spPr>
          <a:xfrm>
            <a:off x="3232151" y="1517651"/>
            <a:ext cx="1439333" cy="508000"/>
          </a:xfrm>
          <a:prstGeom prst="wedgeRectCallout">
            <a:avLst>
              <a:gd name="adj1" fmla="val 782"/>
              <a:gd name="adj2" fmla="val 90562"/>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7476" fontAlgn="base">
              <a:spcBef>
                <a:spcPct val="0"/>
              </a:spcBef>
              <a:spcAft>
                <a:spcPct val="0"/>
              </a:spcAft>
              <a:defRPr/>
            </a:pPr>
            <a:r>
              <a:rPr lang="zh-CN" altLang="en-US" sz="1600" b="1" dirty="0">
                <a:solidFill>
                  <a:schemeClr val="bg1"/>
                </a:solidFill>
                <a:latin typeface="+mj-ea"/>
                <a:ea typeface="+mj-ea"/>
                <a:cs typeface="黑体" panose="02010609060101010101" charset="-122"/>
              </a:rPr>
              <a:t>交付计划</a:t>
            </a:r>
          </a:p>
        </p:txBody>
      </p:sp>
      <p:sp>
        <p:nvSpPr>
          <p:cNvPr id="18" name="Line 58"/>
          <p:cNvSpPr>
            <a:spLocks noChangeShapeType="1"/>
          </p:cNvSpPr>
          <p:nvPr/>
        </p:nvSpPr>
        <p:spPr bwMode="auto">
          <a:xfrm flipH="1">
            <a:off x="2935817" y="3090334"/>
            <a:ext cx="1009651" cy="1648884"/>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lIns="162491" tIns="81244" rIns="162491" bIns="81244"/>
          <a:lstStyle>
            <a:defPPr>
              <a:defRPr lang="en-US"/>
            </a:defPPr>
            <a:lvl1pPr marL="0" algn="l" defTabSz="1219200" rtl="0" eaLnBrk="1" latinLnBrk="0" hangingPunct="1">
              <a:defRPr sz="2400" kern="1200">
                <a:solidFill>
                  <a:schemeClr val="tx1"/>
                </a:solidFill>
                <a:latin typeface="+mn-lt"/>
                <a:ea typeface="+mn-ea"/>
                <a:cs typeface="+mn-cs"/>
              </a:defRPr>
            </a:lvl1pPr>
            <a:lvl2pPr marL="609600" algn="l" defTabSz="1219200" rtl="0" eaLnBrk="1" latinLnBrk="0" hangingPunct="1">
              <a:defRPr sz="2400" kern="1200">
                <a:solidFill>
                  <a:schemeClr val="tx1"/>
                </a:solidFill>
                <a:latin typeface="+mn-lt"/>
                <a:ea typeface="+mn-ea"/>
                <a:cs typeface="+mn-cs"/>
              </a:defRPr>
            </a:lvl2pPr>
            <a:lvl3pPr marL="1219200" algn="l" defTabSz="1219200" rtl="0" eaLnBrk="1" latinLnBrk="0" hangingPunct="1">
              <a:defRPr sz="2400" kern="1200">
                <a:solidFill>
                  <a:schemeClr val="tx1"/>
                </a:solidFill>
                <a:latin typeface="+mn-lt"/>
                <a:ea typeface="+mn-ea"/>
                <a:cs typeface="+mn-cs"/>
              </a:defRPr>
            </a:lvl3pPr>
            <a:lvl4pPr marL="1828165" algn="l" defTabSz="1219200" rtl="0" eaLnBrk="1" latinLnBrk="0" hangingPunct="1">
              <a:defRPr sz="2400" kern="1200">
                <a:solidFill>
                  <a:schemeClr val="tx1"/>
                </a:solidFill>
                <a:latin typeface="+mn-lt"/>
                <a:ea typeface="+mn-ea"/>
                <a:cs typeface="+mn-cs"/>
              </a:defRPr>
            </a:lvl4pPr>
            <a:lvl5pPr marL="2437765" algn="l" defTabSz="1219200" rtl="0" eaLnBrk="1" latinLnBrk="0" hangingPunct="1">
              <a:defRPr sz="2400" kern="1200">
                <a:solidFill>
                  <a:schemeClr val="tx1"/>
                </a:solidFill>
                <a:latin typeface="+mn-lt"/>
                <a:ea typeface="+mn-ea"/>
                <a:cs typeface="+mn-cs"/>
              </a:defRPr>
            </a:lvl5pPr>
            <a:lvl6pPr marL="3047365" algn="l" defTabSz="1219200" rtl="0" eaLnBrk="1" latinLnBrk="0" hangingPunct="1">
              <a:defRPr sz="2400" kern="1200">
                <a:solidFill>
                  <a:schemeClr val="tx1"/>
                </a:solidFill>
                <a:latin typeface="+mn-lt"/>
                <a:ea typeface="+mn-ea"/>
                <a:cs typeface="+mn-cs"/>
              </a:defRPr>
            </a:lvl6pPr>
            <a:lvl7pPr marL="3656965" algn="l" defTabSz="1219200" rtl="0" eaLnBrk="1" latinLnBrk="0" hangingPunct="1">
              <a:defRPr sz="2400" kern="1200">
                <a:solidFill>
                  <a:schemeClr val="tx1"/>
                </a:solidFill>
                <a:latin typeface="+mn-lt"/>
                <a:ea typeface="+mn-ea"/>
                <a:cs typeface="+mn-cs"/>
              </a:defRPr>
            </a:lvl7pPr>
            <a:lvl8pPr marL="4266565" algn="l" defTabSz="1219200" rtl="0" eaLnBrk="1" latinLnBrk="0" hangingPunct="1">
              <a:defRPr sz="2400" kern="1200">
                <a:solidFill>
                  <a:schemeClr val="tx1"/>
                </a:solidFill>
                <a:latin typeface="+mn-lt"/>
                <a:ea typeface="+mn-ea"/>
                <a:cs typeface="+mn-cs"/>
              </a:defRPr>
            </a:lvl8pPr>
            <a:lvl9pPr marL="4876165" algn="l" defTabSz="1219200" rtl="0" eaLnBrk="1" latinLnBrk="0" hangingPunct="1">
              <a:defRPr sz="2400" kern="1200">
                <a:solidFill>
                  <a:schemeClr val="tx1"/>
                </a:solidFill>
                <a:latin typeface="+mn-lt"/>
                <a:ea typeface="+mn-ea"/>
                <a:cs typeface="+mn-cs"/>
              </a:defRPr>
            </a:lvl9pPr>
          </a:lstStyle>
          <a:p>
            <a:pPr defTabSz="1624713">
              <a:defRPr/>
            </a:pPr>
            <a:endParaRPr lang="zh-CN" altLang="en-US" sz="3200">
              <a:solidFill>
                <a:schemeClr val="bg1"/>
              </a:solidFill>
              <a:latin typeface="+mj-ea"/>
              <a:ea typeface="+mj-ea"/>
            </a:endParaRPr>
          </a:p>
        </p:txBody>
      </p:sp>
      <p:sp>
        <p:nvSpPr>
          <p:cNvPr id="19" name="TextBox 48"/>
          <p:cNvSpPr txBox="1"/>
          <p:nvPr/>
        </p:nvSpPr>
        <p:spPr>
          <a:xfrm>
            <a:off x="7480300" y="908051"/>
            <a:ext cx="4260851" cy="625684"/>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342891" indent="-342891" defTabSz="1217476" eaLnBrk="1" hangingPunct="1">
              <a:spcBef>
                <a:spcPct val="0"/>
              </a:spcBef>
            </a:pPr>
            <a:r>
              <a:rPr lang="zh-CN" altLang="en-US" sz="1733" dirty="0">
                <a:solidFill>
                  <a:schemeClr val="bg1"/>
                </a:solidFill>
                <a:latin typeface="+mj-ea"/>
                <a:ea typeface="+mj-ea"/>
              </a:rPr>
              <a:t>需求</a:t>
            </a:r>
            <a:r>
              <a:rPr lang="en-US" altLang="zh-CN" sz="1733" dirty="0">
                <a:solidFill>
                  <a:schemeClr val="bg1"/>
                </a:solidFill>
                <a:latin typeface="+mj-ea"/>
                <a:ea typeface="+mj-ea"/>
              </a:rPr>
              <a:t>2</a:t>
            </a:r>
            <a:r>
              <a:rPr lang="zh-CN" altLang="en-US" sz="1733" dirty="0">
                <a:solidFill>
                  <a:schemeClr val="bg1"/>
                </a:solidFill>
                <a:latin typeface="+mj-ea"/>
                <a:ea typeface="+mj-ea"/>
              </a:rPr>
              <a:t>交付计划依赖于</a:t>
            </a:r>
            <a:r>
              <a:rPr lang="en-US" altLang="zh-CN" sz="1733" dirty="0">
                <a:solidFill>
                  <a:schemeClr val="bg1"/>
                </a:solidFill>
                <a:latin typeface="+mj-ea"/>
                <a:ea typeface="+mj-ea"/>
              </a:rPr>
              <a:t>C</a:t>
            </a:r>
          </a:p>
          <a:p>
            <a:pPr marL="342891" indent="-342891" defTabSz="1217476" eaLnBrk="1" hangingPunct="1">
              <a:spcBef>
                <a:spcPct val="0"/>
              </a:spcBef>
            </a:pPr>
            <a:r>
              <a:rPr lang="zh-CN" altLang="en-US" sz="1733" dirty="0">
                <a:solidFill>
                  <a:schemeClr val="bg1"/>
                </a:solidFill>
                <a:latin typeface="+mj-ea"/>
                <a:ea typeface="+mj-ea"/>
              </a:rPr>
              <a:t>需求</a:t>
            </a:r>
            <a:r>
              <a:rPr lang="en-US" altLang="zh-CN" sz="1733" dirty="0">
                <a:solidFill>
                  <a:schemeClr val="bg1"/>
                </a:solidFill>
                <a:latin typeface="+mj-ea"/>
                <a:ea typeface="+mj-ea"/>
              </a:rPr>
              <a:t>1 </a:t>
            </a:r>
            <a:r>
              <a:rPr lang="zh-CN" altLang="en-US" sz="1733" dirty="0">
                <a:solidFill>
                  <a:schemeClr val="bg1"/>
                </a:solidFill>
                <a:latin typeface="+mj-ea"/>
                <a:ea typeface="+mj-ea"/>
              </a:rPr>
              <a:t>短缺补货</a:t>
            </a:r>
            <a:r>
              <a:rPr lang="en-US" altLang="zh-CN" sz="1733" dirty="0">
                <a:solidFill>
                  <a:schemeClr val="bg1"/>
                </a:solidFill>
                <a:latin typeface="+mj-ea"/>
                <a:ea typeface="+mj-ea"/>
              </a:rPr>
              <a:t>.</a:t>
            </a:r>
            <a:endParaRPr lang="zh-CN" altLang="en-US" sz="1733" dirty="0">
              <a:solidFill>
                <a:schemeClr val="bg1"/>
              </a:solidFill>
              <a:latin typeface="+mj-ea"/>
              <a:ea typeface="+mj-ea"/>
            </a:endParaRPr>
          </a:p>
        </p:txBody>
      </p:sp>
      <p:sp>
        <p:nvSpPr>
          <p:cNvPr id="22" name="圆角矩形 21"/>
          <p:cNvSpPr/>
          <p:nvPr/>
        </p:nvSpPr>
        <p:spPr>
          <a:xfrm>
            <a:off x="7613651" y="3666067"/>
            <a:ext cx="4127500" cy="1439333"/>
          </a:xfrm>
          <a:prstGeom prst="round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defTabSz="1217476" fontAlgn="base">
              <a:spcBef>
                <a:spcPct val="0"/>
              </a:spcBef>
              <a:spcAft>
                <a:spcPct val="0"/>
              </a:spcAft>
              <a:defRPr/>
            </a:pPr>
            <a:r>
              <a:rPr lang="zh-CN" altLang="en-US" sz="1600" dirty="0">
                <a:solidFill>
                  <a:schemeClr val="bg1"/>
                </a:solidFill>
                <a:latin typeface="+mj-ea"/>
                <a:ea typeface="+mj-ea"/>
                <a:cs typeface="Arial Unicode MS" charset="0"/>
              </a:rPr>
              <a:t>如何兑现承诺？</a:t>
            </a:r>
            <a:endParaRPr lang="en-US" altLang="zh-CN" sz="1600" dirty="0">
              <a:solidFill>
                <a:schemeClr val="bg1"/>
              </a:solidFill>
              <a:latin typeface="+mj-ea"/>
              <a:ea typeface="+mj-ea"/>
              <a:cs typeface="Arial Unicode MS" charset="0"/>
            </a:endParaRPr>
          </a:p>
          <a:p>
            <a:pPr defTabSz="1217476" fontAlgn="base">
              <a:spcBef>
                <a:spcPct val="0"/>
              </a:spcBef>
              <a:spcAft>
                <a:spcPct val="0"/>
              </a:spcAft>
              <a:defRPr/>
            </a:pPr>
            <a:r>
              <a:rPr lang="zh-CN" altLang="en-US" sz="1600" dirty="0">
                <a:solidFill>
                  <a:schemeClr val="bg1"/>
                </a:solidFill>
                <a:latin typeface="+mj-ea"/>
                <a:ea typeface="+mj-ea"/>
                <a:cs typeface="Arial Unicode MS" charset="0"/>
              </a:rPr>
              <a:t>却有急单应如何处理？</a:t>
            </a:r>
            <a:endParaRPr lang="en-US" altLang="zh-CN" sz="1600" dirty="0">
              <a:solidFill>
                <a:schemeClr val="bg1"/>
              </a:solidFill>
              <a:latin typeface="+mj-ea"/>
              <a:ea typeface="+mj-ea"/>
              <a:cs typeface="Arial Unicode MS" charset="0"/>
            </a:endParaRPr>
          </a:p>
        </p:txBody>
      </p:sp>
      <p:sp>
        <p:nvSpPr>
          <p:cNvPr id="23" name="TextBox 8"/>
          <p:cNvSpPr txBox="1"/>
          <p:nvPr/>
        </p:nvSpPr>
        <p:spPr>
          <a:xfrm>
            <a:off x="2840761" y="3641891"/>
            <a:ext cx="1568041" cy="379656"/>
          </a:xfrm>
          <a:prstGeom prst="rect">
            <a:avLst/>
          </a:prstGeom>
          <a:noFill/>
          <a:scene3d>
            <a:camera prst="orthographicFront">
              <a:rot lat="1195241" lon="109017" rev="3619146"/>
            </a:camera>
            <a:lightRig rig="threePt" dir="t"/>
          </a:scene3d>
        </p:spPr>
        <p:txBody>
          <a:bodyPr>
            <a:spAutoFit/>
          </a:bodyPr>
          <a:lstStyle>
            <a:defPPr>
              <a:defRPr lang="en-US"/>
            </a:defPPr>
            <a:lvl1pPr marL="0" algn="l" defTabSz="1219200" rtl="0" eaLnBrk="1" latinLnBrk="0" hangingPunct="1">
              <a:defRPr sz="2400" kern="1200">
                <a:solidFill>
                  <a:schemeClr val="tx1"/>
                </a:solidFill>
                <a:latin typeface="+mn-lt"/>
                <a:ea typeface="+mn-ea"/>
                <a:cs typeface="+mn-cs"/>
              </a:defRPr>
            </a:lvl1pPr>
            <a:lvl2pPr marL="609600" algn="l" defTabSz="1219200" rtl="0" eaLnBrk="1" latinLnBrk="0" hangingPunct="1">
              <a:defRPr sz="2400" kern="1200">
                <a:solidFill>
                  <a:schemeClr val="tx1"/>
                </a:solidFill>
                <a:latin typeface="+mn-lt"/>
                <a:ea typeface="+mn-ea"/>
                <a:cs typeface="+mn-cs"/>
              </a:defRPr>
            </a:lvl2pPr>
            <a:lvl3pPr marL="1219200" algn="l" defTabSz="1219200" rtl="0" eaLnBrk="1" latinLnBrk="0" hangingPunct="1">
              <a:defRPr sz="2400" kern="1200">
                <a:solidFill>
                  <a:schemeClr val="tx1"/>
                </a:solidFill>
                <a:latin typeface="+mn-lt"/>
                <a:ea typeface="+mn-ea"/>
                <a:cs typeface="+mn-cs"/>
              </a:defRPr>
            </a:lvl3pPr>
            <a:lvl4pPr marL="1828165" algn="l" defTabSz="1219200" rtl="0" eaLnBrk="1" latinLnBrk="0" hangingPunct="1">
              <a:defRPr sz="2400" kern="1200">
                <a:solidFill>
                  <a:schemeClr val="tx1"/>
                </a:solidFill>
                <a:latin typeface="+mn-lt"/>
                <a:ea typeface="+mn-ea"/>
                <a:cs typeface="+mn-cs"/>
              </a:defRPr>
            </a:lvl4pPr>
            <a:lvl5pPr marL="2437765" algn="l" defTabSz="1219200" rtl="0" eaLnBrk="1" latinLnBrk="0" hangingPunct="1">
              <a:defRPr sz="2400" kern="1200">
                <a:solidFill>
                  <a:schemeClr val="tx1"/>
                </a:solidFill>
                <a:latin typeface="+mn-lt"/>
                <a:ea typeface="+mn-ea"/>
                <a:cs typeface="+mn-cs"/>
              </a:defRPr>
            </a:lvl5pPr>
            <a:lvl6pPr marL="3047365" algn="l" defTabSz="1219200" rtl="0" eaLnBrk="1" latinLnBrk="0" hangingPunct="1">
              <a:defRPr sz="2400" kern="1200">
                <a:solidFill>
                  <a:schemeClr val="tx1"/>
                </a:solidFill>
                <a:latin typeface="+mn-lt"/>
                <a:ea typeface="+mn-ea"/>
                <a:cs typeface="+mn-cs"/>
              </a:defRPr>
            </a:lvl6pPr>
            <a:lvl7pPr marL="3656965" algn="l" defTabSz="1219200" rtl="0" eaLnBrk="1" latinLnBrk="0" hangingPunct="1">
              <a:defRPr sz="2400" kern="1200">
                <a:solidFill>
                  <a:schemeClr val="tx1"/>
                </a:solidFill>
                <a:latin typeface="+mn-lt"/>
                <a:ea typeface="+mn-ea"/>
                <a:cs typeface="+mn-cs"/>
              </a:defRPr>
            </a:lvl7pPr>
            <a:lvl8pPr marL="4266565" algn="l" defTabSz="1219200" rtl="0" eaLnBrk="1" latinLnBrk="0" hangingPunct="1">
              <a:defRPr sz="2400" kern="1200">
                <a:solidFill>
                  <a:schemeClr val="tx1"/>
                </a:solidFill>
                <a:latin typeface="+mn-lt"/>
                <a:ea typeface="+mn-ea"/>
                <a:cs typeface="+mn-cs"/>
              </a:defRPr>
            </a:lvl8pPr>
            <a:lvl9pPr marL="4876165" algn="l" defTabSz="1219200" rtl="0" eaLnBrk="1" latinLnBrk="0" hangingPunct="1">
              <a:defRPr sz="2400" kern="1200">
                <a:solidFill>
                  <a:schemeClr val="tx1"/>
                </a:solidFill>
                <a:latin typeface="+mn-lt"/>
                <a:ea typeface="+mn-ea"/>
                <a:cs typeface="+mn-cs"/>
              </a:defRPr>
            </a:lvl9pPr>
          </a:lstStyle>
          <a:p>
            <a:pPr defTabSz="1219170">
              <a:defRPr/>
            </a:pPr>
            <a:r>
              <a:rPr lang="en-US" altLang="zh-CN" sz="1867" dirty="0" err="1">
                <a:solidFill>
                  <a:schemeClr val="bg1"/>
                </a:solidFill>
                <a:latin typeface="+mj-ea"/>
                <a:ea typeface="+mj-ea"/>
              </a:rPr>
              <a:t>unkitted</a:t>
            </a:r>
            <a:endParaRPr lang="zh-CN" altLang="en-US" sz="1867" dirty="0">
              <a:solidFill>
                <a:schemeClr val="bg1"/>
              </a:solidFill>
              <a:latin typeface="+mj-ea"/>
              <a:ea typeface="+mj-ea"/>
            </a:endParaRPr>
          </a:p>
        </p:txBody>
      </p:sp>
      <p:sp>
        <p:nvSpPr>
          <p:cNvPr id="24" name="矩形 23"/>
          <p:cNvSpPr/>
          <p:nvPr/>
        </p:nvSpPr>
        <p:spPr>
          <a:xfrm>
            <a:off x="895351" y="2042584"/>
            <a:ext cx="783167" cy="256545"/>
          </a:xfrm>
          <a:prstGeom prst="rect">
            <a:avLst/>
          </a:prstGeom>
          <a:solidFill>
            <a:schemeClr val="accent6"/>
          </a:solidFill>
        </p:spPr>
        <p:txBody>
          <a:bodyPr>
            <a:spAutoFit/>
          </a:bodyPr>
          <a:lstStyle/>
          <a:p>
            <a:pPr algn="ctr" defTabSz="1217476" fontAlgn="base">
              <a:spcBef>
                <a:spcPct val="0"/>
              </a:spcBef>
              <a:spcAft>
                <a:spcPct val="0"/>
              </a:spcAft>
              <a:defRPr/>
            </a:pPr>
            <a:r>
              <a:rPr lang="en-US" altLang="zh-CN" sz="1067" b="1" dirty="0">
                <a:solidFill>
                  <a:schemeClr val="bg1"/>
                </a:solidFill>
                <a:latin typeface="+mj-ea"/>
                <a:ea typeface="+mj-ea"/>
                <a:cs typeface="Arial Unicode MS" charset="0"/>
              </a:rPr>
              <a:t>Cycle-1</a:t>
            </a:r>
            <a:endParaRPr lang="zh-CN" altLang="en-US" sz="1067" b="1">
              <a:solidFill>
                <a:schemeClr val="bg1"/>
              </a:solidFill>
              <a:latin typeface="+mj-ea"/>
              <a:ea typeface="+mj-ea"/>
              <a:cs typeface="Arial Unicode MS" charset="0"/>
            </a:endParaRPr>
          </a:p>
        </p:txBody>
      </p:sp>
      <p:sp>
        <p:nvSpPr>
          <p:cNvPr id="25" name="矩形 24"/>
          <p:cNvSpPr/>
          <p:nvPr/>
        </p:nvSpPr>
        <p:spPr>
          <a:xfrm>
            <a:off x="895351" y="2453217"/>
            <a:ext cx="783167" cy="256545"/>
          </a:xfrm>
          <a:prstGeom prst="rect">
            <a:avLst/>
          </a:prstGeom>
          <a:solidFill>
            <a:schemeClr val="accent6"/>
          </a:solidFill>
        </p:spPr>
        <p:txBody>
          <a:bodyPr>
            <a:spAutoFit/>
          </a:bodyPr>
          <a:lstStyle/>
          <a:p>
            <a:pPr algn="ctr" defTabSz="1217476" fontAlgn="base">
              <a:spcBef>
                <a:spcPct val="0"/>
              </a:spcBef>
              <a:spcAft>
                <a:spcPct val="0"/>
              </a:spcAft>
              <a:defRPr/>
            </a:pPr>
            <a:r>
              <a:rPr lang="en-US" altLang="zh-CN" sz="1067" b="1" dirty="0">
                <a:solidFill>
                  <a:schemeClr val="bg1"/>
                </a:solidFill>
                <a:latin typeface="+mj-ea"/>
                <a:ea typeface="+mj-ea"/>
                <a:cs typeface="Arial Unicode MS" charset="0"/>
              </a:rPr>
              <a:t>Cycle-2</a:t>
            </a:r>
            <a:endParaRPr lang="zh-CN" altLang="en-US" sz="1067" b="1">
              <a:solidFill>
                <a:schemeClr val="bg1"/>
              </a:solidFill>
              <a:latin typeface="+mj-ea"/>
              <a:ea typeface="+mj-ea"/>
              <a:cs typeface="Arial Unicode MS" charset="0"/>
            </a:endParaRPr>
          </a:p>
        </p:txBody>
      </p:sp>
      <p:sp>
        <p:nvSpPr>
          <p:cNvPr id="26" name="TextBox 43"/>
          <p:cNvSpPr txBox="1"/>
          <p:nvPr/>
        </p:nvSpPr>
        <p:spPr>
          <a:xfrm>
            <a:off x="895351" y="5473671"/>
            <a:ext cx="5520267" cy="1138751"/>
          </a:xfrm>
          <a:prstGeom prst="rect">
            <a:avLst/>
          </a:prstGeom>
          <a:noFill/>
        </p:spPr>
        <p:txBody>
          <a:bodyPr lIns="121899" tIns="60949" rIns="121899" bIns="60949">
            <a:spAutoFit/>
          </a:bodyPr>
          <a:lstStyle>
            <a:defPPr>
              <a:defRPr lang="en-US"/>
            </a:defPPr>
            <a:lvl1pPr>
              <a:defRPr sz="1400" b="1">
                <a:latin typeface="Century Gothic" panose="020B0502020202020204" pitchFamily="34" charset="0"/>
                <a:ea typeface="微软雅黑" panose="020B0503020204020204" pitchFamily="34" charset="-122"/>
              </a:defRPr>
            </a:lvl1pPr>
          </a:lstStyle>
          <a:p>
            <a:pPr defTabSz="1219170">
              <a:defRPr/>
            </a:pPr>
            <a:r>
              <a:rPr lang="zh-CN" altLang="en-US" sz="1600" dirty="0">
                <a:solidFill>
                  <a:schemeClr val="bg1"/>
                </a:solidFill>
                <a:latin typeface="+mj-ea"/>
                <a:ea typeface="+mj-ea"/>
              </a:rPr>
              <a:t>场景：</a:t>
            </a:r>
            <a:endParaRPr lang="en-US" altLang="zh-CN" sz="1600" dirty="0">
              <a:solidFill>
                <a:schemeClr val="bg1"/>
              </a:solidFill>
              <a:latin typeface="+mj-ea"/>
              <a:ea typeface="+mj-ea"/>
            </a:endParaRPr>
          </a:p>
          <a:p>
            <a:pPr marL="742950" lvl="1" indent="-285750"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和需求</a:t>
            </a:r>
            <a:r>
              <a:rPr lang="en-US" altLang="zh-CN" sz="1600" dirty="0">
                <a:solidFill>
                  <a:schemeClr val="bg1"/>
                </a:solidFill>
                <a:latin typeface="+mj-ea"/>
                <a:ea typeface="+mj-ea"/>
              </a:rPr>
              <a:t>3</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B</a:t>
            </a:r>
            <a:r>
              <a:rPr lang="zh-CN" altLang="en-US" sz="1600" dirty="0">
                <a:solidFill>
                  <a:schemeClr val="bg1"/>
                </a:solidFill>
                <a:latin typeface="+mj-ea"/>
                <a:ea typeface="+mj-ea"/>
              </a:rPr>
              <a:t>生产</a:t>
            </a:r>
            <a:r>
              <a:rPr lang="en-US" altLang="zh-CN" sz="1600" dirty="0">
                <a:solidFill>
                  <a:schemeClr val="bg1"/>
                </a:solidFill>
                <a:latin typeface="+mj-ea"/>
                <a:ea typeface="+mj-ea"/>
              </a:rPr>
              <a:t>.</a:t>
            </a:r>
          </a:p>
          <a:p>
            <a:pPr marL="742950" lvl="1" indent="-285750"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C</a:t>
            </a:r>
            <a:r>
              <a:rPr lang="zh-CN" altLang="en-US" sz="1600" dirty="0">
                <a:solidFill>
                  <a:schemeClr val="bg1"/>
                </a:solidFill>
                <a:latin typeface="+mj-ea"/>
                <a:ea typeface="+mj-ea"/>
              </a:rPr>
              <a:t>生产</a:t>
            </a:r>
            <a:endParaRPr lang="en-US" altLang="zh-CN" sz="1600" dirty="0">
              <a:solidFill>
                <a:schemeClr val="bg1"/>
              </a:solidFill>
              <a:latin typeface="+mj-ea"/>
              <a:ea typeface="+mj-ea"/>
            </a:endParaRPr>
          </a:p>
          <a:p>
            <a:pPr marL="742950" lvl="1" indent="-285750" defTabSz="1219170">
              <a:buFont typeface="Arial" panose="020B0604020202020204" pitchFamily="34" charset="0"/>
              <a:buChar char="•"/>
              <a:defRPr/>
            </a:pPr>
            <a:r>
              <a:rPr lang="zh-CN" altLang="en-US" sz="1600" dirty="0">
                <a:solidFill>
                  <a:schemeClr val="bg1"/>
                </a:solidFill>
                <a:latin typeface="+mj-ea"/>
                <a:ea typeface="+mj-ea"/>
              </a:rPr>
              <a:t>优先级：需求</a:t>
            </a:r>
            <a:r>
              <a:rPr lang="en-US" altLang="zh-CN" sz="1600" dirty="0">
                <a:solidFill>
                  <a:schemeClr val="bg1"/>
                </a:solidFill>
                <a:latin typeface="+mj-ea"/>
                <a:ea typeface="+mj-ea"/>
              </a:rPr>
              <a:t>3&gt;</a:t>
            </a:r>
            <a:r>
              <a:rPr lang="zh-CN" altLang="en-US" sz="1600" dirty="0">
                <a:solidFill>
                  <a:schemeClr val="bg1"/>
                </a:solidFill>
                <a:latin typeface="+mj-ea"/>
                <a:ea typeface="+mj-ea"/>
              </a:rPr>
              <a:t>需求</a:t>
            </a:r>
            <a:r>
              <a:rPr lang="en-US" altLang="zh-CN" sz="1600" dirty="0">
                <a:solidFill>
                  <a:schemeClr val="bg1"/>
                </a:solidFill>
                <a:latin typeface="+mj-ea"/>
                <a:ea typeface="+mj-ea"/>
              </a:rPr>
              <a:t>2&gt;</a:t>
            </a:r>
            <a:r>
              <a:rPr lang="zh-CN" altLang="en-US" sz="1600" dirty="0">
                <a:solidFill>
                  <a:schemeClr val="bg1"/>
                </a:solidFill>
                <a:latin typeface="+mj-ea"/>
                <a:ea typeface="+mj-ea"/>
              </a:rPr>
              <a:t>需求</a:t>
            </a:r>
            <a:r>
              <a:rPr lang="en-US" altLang="zh-CN" sz="1600" dirty="0">
                <a:solidFill>
                  <a:schemeClr val="bg1"/>
                </a:solidFill>
                <a:latin typeface="+mj-ea"/>
                <a:ea typeface="+mj-ea"/>
              </a:rPr>
              <a:t>1</a:t>
            </a:r>
          </a:p>
        </p:txBody>
      </p:sp>
      <p:sp>
        <p:nvSpPr>
          <p:cNvPr id="27" name="矩形 26"/>
          <p:cNvSpPr/>
          <p:nvPr/>
        </p:nvSpPr>
        <p:spPr>
          <a:xfrm>
            <a:off x="4624918" y="2355852"/>
            <a:ext cx="1200149" cy="297454"/>
          </a:xfrm>
          <a:prstGeom prst="rect">
            <a:avLst/>
          </a:prstGeom>
          <a:solidFill>
            <a:srgbClr val="0070C0"/>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333" b="1" dirty="0">
                <a:solidFill>
                  <a:schemeClr val="bg1"/>
                </a:solidFill>
                <a:latin typeface="+mj-ea"/>
                <a:ea typeface="+mj-ea"/>
              </a:rPr>
              <a:t>需求</a:t>
            </a:r>
            <a:r>
              <a:rPr lang="en-US" altLang="zh-CN" sz="1333" b="1" dirty="0">
                <a:solidFill>
                  <a:schemeClr val="bg1"/>
                </a:solidFill>
                <a:latin typeface="+mj-ea"/>
                <a:ea typeface="+mj-ea"/>
              </a:rPr>
              <a:t>3</a:t>
            </a:r>
            <a:endParaRPr lang="zh-CN" altLang="en-US" sz="1333" b="1" dirty="0">
              <a:solidFill>
                <a:schemeClr val="bg1"/>
              </a:solidFill>
              <a:latin typeface="+mj-ea"/>
              <a:ea typeface="+mj-ea"/>
            </a:endParaRPr>
          </a:p>
        </p:txBody>
      </p:sp>
      <p:cxnSp>
        <p:nvCxnSpPr>
          <p:cNvPr id="28" name="直接箭头连接符 64"/>
          <p:cNvCxnSpPr/>
          <p:nvPr/>
        </p:nvCxnSpPr>
        <p:spPr>
          <a:xfrm>
            <a:off x="5228167" y="2707218"/>
            <a:ext cx="0" cy="766233"/>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9" name="Line 58"/>
          <p:cNvSpPr>
            <a:spLocks noChangeShapeType="1"/>
          </p:cNvSpPr>
          <p:nvPr/>
        </p:nvSpPr>
        <p:spPr bwMode="auto">
          <a:xfrm flipH="1">
            <a:off x="2935818" y="3090333"/>
            <a:ext cx="2292351" cy="781051"/>
          </a:xfrm>
          <a:prstGeom prst="line">
            <a:avLst/>
          </a:prstGeom>
          <a:ln>
            <a:solidFill>
              <a:schemeClr val="bg1"/>
            </a:solidFill>
            <a:tailEnd type="triangle" w="med" len="med"/>
          </a:ln>
        </p:spPr>
        <p:style>
          <a:lnRef idx="2">
            <a:schemeClr val="accent1"/>
          </a:lnRef>
          <a:fillRef idx="0">
            <a:schemeClr val="accent1"/>
          </a:fillRef>
          <a:effectRef idx="1">
            <a:schemeClr val="accent1"/>
          </a:effectRef>
          <a:fontRef idx="minor">
            <a:schemeClr val="tx1"/>
          </a:fontRef>
        </p:style>
        <p:txBody>
          <a:bodyPr lIns="162491" tIns="81244" rIns="162491" bIns="81244"/>
          <a:lstStyle>
            <a:defPPr>
              <a:defRPr lang="en-US"/>
            </a:defPPr>
            <a:lvl1pPr marL="0" algn="l" defTabSz="1219200" rtl="0" eaLnBrk="1" latinLnBrk="0" hangingPunct="1">
              <a:defRPr sz="2400" kern="1200">
                <a:solidFill>
                  <a:schemeClr val="tx1"/>
                </a:solidFill>
                <a:latin typeface="+mn-lt"/>
                <a:ea typeface="+mn-ea"/>
                <a:cs typeface="+mn-cs"/>
              </a:defRPr>
            </a:lvl1pPr>
            <a:lvl2pPr marL="609600" algn="l" defTabSz="1219200" rtl="0" eaLnBrk="1" latinLnBrk="0" hangingPunct="1">
              <a:defRPr sz="2400" kern="1200">
                <a:solidFill>
                  <a:schemeClr val="tx1"/>
                </a:solidFill>
                <a:latin typeface="+mn-lt"/>
                <a:ea typeface="+mn-ea"/>
                <a:cs typeface="+mn-cs"/>
              </a:defRPr>
            </a:lvl2pPr>
            <a:lvl3pPr marL="1219200" algn="l" defTabSz="1219200" rtl="0" eaLnBrk="1" latinLnBrk="0" hangingPunct="1">
              <a:defRPr sz="2400" kern="1200">
                <a:solidFill>
                  <a:schemeClr val="tx1"/>
                </a:solidFill>
                <a:latin typeface="+mn-lt"/>
                <a:ea typeface="+mn-ea"/>
                <a:cs typeface="+mn-cs"/>
              </a:defRPr>
            </a:lvl3pPr>
            <a:lvl4pPr marL="1828165" algn="l" defTabSz="1219200" rtl="0" eaLnBrk="1" latinLnBrk="0" hangingPunct="1">
              <a:defRPr sz="2400" kern="1200">
                <a:solidFill>
                  <a:schemeClr val="tx1"/>
                </a:solidFill>
                <a:latin typeface="+mn-lt"/>
                <a:ea typeface="+mn-ea"/>
                <a:cs typeface="+mn-cs"/>
              </a:defRPr>
            </a:lvl4pPr>
            <a:lvl5pPr marL="2437765" algn="l" defTabSz="1219200" rtl="0" eaLnBrk="1" latinLnBrk="0" hangingPunct="1">
              <a:defRPr sz="2400" kern="1200">
                <a:solidFill>
                  <a:schemeClr val="tx1"/>
                </a:solidFill>
                <a:latin typeface="+mn-lt"/>
                <a:ea typeface="+mn-ea"/>
                <a:cs typeface="+mn-cs"/>
              </a:defRPr>
            </a:lvl5pPr>
            <a:lvl6pPr marL="3047365" algn="l" defTabSz="1219200" rtl="0" eaLnBrk="1" latinLnBrk="0" hangingPunct="1">
              <a:defRPr sz="2400" kern="1200">
                <a:solidFill>
                  <a:schemeClr val="tx1"/>
                </a:solidFill>
                <a:latin typeface="+mn-lt"/>
                <a:ea typeface="+mn-ea"/>
                <a:cs typeface="+mn-cs"/>
              </a:defRPr>
            </a:lvl6pPr>
            <a:lvl7pPr marL="3656965" algn="l" defTabSz="1219200" rtl="0" eaLnBrk="1" latinLnBrk="0" hangingPunct="1">
              <a:defRPr sz="2400" kern="1200">
                <a:solidFill>
                  <a:schemeClr val="tx1"/>
                </a:solidFill>
                <a:latin typeface="+mn-lt"/>
                <a:ea typeface="+mn-ea"/>
                <a:cs typeface="+mn-cs"/>
              </a:defRPr>
            </a:lvl7pPr>
            <a:lvl8pPr marL="4266565" algn="l" defTabSz="1219200" rtl="0" eaLnBrk="1" latinLnBrk="0" hangingPunct="1">
              <a:defRPr sz="2400" kern="1200">
                <a:solidFill>
                  <a:schemeClr val="tx1"/>
                </a:solidFill>
                <a:latin typeface="+mn-lt"/>
                <a:ea typeface="+mn-ea"/>
                <a:cs typeface="+mn-cs"/>
              </a:defRPr>
            </a:lvl8pPr>
            <a:lvl9pPr marL="4876165" algn="l" defTabSz="1219200" rtl="0" eaLnBrk="1" latinLnBrk="0" hangingPunct="1">
              <a:defRPr sz="2400" kern="1200">
                <a:solidFill>
                  <a:schemeClr val="tx1"/>
                </a:solidFill>
                <a:latin typeface="+mn-lt"/>
                <a:ea typeface="+mn-ea"/>
                <a:cs typeface="+mn-cs"/>
              </a:defRPr>
            </a:lvl9pPr>
          </a:lstStyle>
          <a:p>
            <a:pPr defTabSz="1219170">
              <a:defRPr/>
            </a:pPr>
            <a:endParaRPr lang="zh-CN" altLang="en-US" sz="3200">
              <a:solidFill>
                <a:schemeClr val="bg1"/>
              </a:solidFill>
              <a:latin typeface="+mj-ea"/>
              <a:ea typeface="+mj-ea"/>
            </a:endParaRPr>
          </a:p>
        </p:txBody>
      </p:sp>
      <p:sp>
        <p:nvSpPr>
          <p:cNvPr id="30" name="Line 58"/>
          <p:cNvSpPr>
            <a:spLocks noChangeShapeType="1"/>
          </p:cNvSpPr>
          <p:nvPr/>
        </p:nvSpPr>
        <p:spPr bwMode="auto">
          <a:xfrm flipH="1">
            <a:off x="2935818" y="3090334"/>
            <a:ext cx="2292351" cy="1648884"/>
          </a:xfrm>
          <a:prstGeom prst="line">
            <a:avLst/>
          </a:prstGeom>
          <a:ln>
            <a:solidFill>
              <a:schemeClr val="bg1"/>
            </a:solidFill>
            <a:tailEnd type="triangle" w="med" len="med"/>
          </a:ln>
        </p:spPr>
        <p:style>
          <a:lnRef idx="2">
            <a:schemeClr val="accent1"/>
          </a:lnRef>
          <a:fillRef idx="0">
            <a:schemeClr val="accent1"/>
          </a:fillRef>
          <a:effectRef idx="1">
            <a:schemeClr val="accent1"/>
          </a:effectRef>
          <a:fontRef idx="minor">
            <a:schemeClr val="tx1"/>
          </a:fontRef>
        </p:style>
        <p:txBody>
          <a:bodyPr lIns="162491" tIns="81244" rIns="162491" bIns="81244"/>
          <a:lstStyle>
            <a:defPPr>
              <a:defRPr lang="en-US"/>
            </a:defPPr>
            <a:lvl1pPr marL="0" algn="l" defTabSz="1219200" rtl="0" eaLnBrk="1" latinLnBrk="0" hangingPunct="1">
              <a:defRPr sz="2400" kern="1200">
                <a:solidFill>
                  <a:schemeClr val="tx1"/>
                </a:solidFill>
                <a:latin typeface="+mn-lt"/>
                <a:ea typeface="+mn-ea"/>
                <a:cs typeface="+mn-cs"/>
              </a:defRPr>
            </a:lvl1pPr>
            <a:lvl2pPr marL="609600" algn="l" defTabSz="1219200" rtl="0" eaLnBrk="1" latinLnBrk="0" hangingPunct="1">
              <a:defRPr sz="2400" kern="1200">
                <a:solidFill>
                  <a:schemeClr val="tx1"/>
                </a:solidFill>
                <a:latin typeface="+mn-lt"/>
                <a:ea typeface="+mn-ea"/>
                <a:cs typeface="+mn-cs"/>
              </a:defRPr>
            </a:lvl2pPr>
            <a:lvl3pPr marL="1219200" algn="l" defTabSz="1219200" rtl="0" eaLnBrk="1" latinLnBrk="0" hangingPunct="1">
              <a:defRPr sz="2400" kern="1200">
                <a:solidFill>
                  <a:schemeClr val="tx1"/>
                </a:solidFill>
                <a:latin typeface="+mn-lt"/>
                <a:ea typeface="+mn-ea"/>
                <a:cs typeface="+mn-cs"/>
              </a:defRPr>
            </a:lvl3pPr>
            <a:lvl4pPr marL="1828165" algn="l" defTabSz="1219200" rtl="0" eaLnBrk="1" latinLnBrk="0" hangingPunct="1">
              <a:defRPr sz="2400" kern="1200">
                <a:solidFill>
                  <a:schemeClr val="tx1"/>
                </a:solidFill>
                <a:latin typeface="+mn-lt"/>
                <a:ea typeface="+mn-ea"/>
                <a:cs typeface="+mn-cs"/>
              </a:defRPr>
            </a:lvl4pPr>
            <a:lvl5pPr marL="2437765" algn="l" defTabSz="1219200" rtl="0" eaLnBrk="1" latinLnBrk="0" hangingPunct="1">
              <a:defRPr sz="2400" kern="1200">
                <a:solidFill>
                  <a:schemeClr val="tx1"/>
                </a:solidFill>
                <a:latin typeface="+mn-lt"/>
                <a:ea typeface="+mn-ea"/>
                <a:cs typeface="+mn-cs"/>
              </a:defRPr>
            </a:lvl5pPr>
            <a:lvl6pPr marL="3047365" algn="l" defTabSz="1219200" rtl="0" eaLnBrk="1" latinLnBrk="0" hangingPunct="1">
              <a:defRPr sz="2400" kern="1200">
                <a:solidFill>
                  <a:schemeClr val="tx1"/>
                </a:solidFill>
                <a:latin typeface="+mn-lt"/>
                <a:ea typeface="+mn-ea"/>
                <a:cs typeface="+mn-cs"/>
              </a:defRPr>
            </a:lvl6pPr>
            <a:lvl7pPr marL="3656965" algn="l" defTabSz="1219200" rtl="0" eaLnBrk="1" latinLnBrk="0" hangingPunct="1">
              <a:defRPr sz="2400" kern="1200">
                <a:solidFill>
                  <a:schemeClr val="tx1"/>
                </a:solidFill>
                <a:latin typeface="+mn-lt"/>
                <a:ea typeface="+mn-ea"/>
                <a:cs typeface="+mn-cs"/>
              </a:defRPr>
            </a:lvl7pPr>
            <a:lvl8pPr marL="4266565" algn="l" defTabSz="1219200" rtl="0" eaLnBrk="1" latinLnBrk="0" hangingPunct="1">
              <a:defRPr sz="2400" kern="1200">
                <a:solidFill>
                  <a:schemeClr val="tx1"/>
                </a:solidFill>
                <a:latin typeface="+mn-lt"/>
                <a:ea typeface="+mn-ea"/>
                <a:cs typeface="+mn-cs"/>
              </a:defRPr>
            </a:lvl8pPr>
            <a:lvl9pPr marL="4876165" algn="l" defTabSz="1219200" rtl="0" eaLnBrk="1" latinLnBrk="0" hangingPunct="1">
              <a:defRPr sz="2400" kern="1200">
                <a:solidFill>
                  <a:schemeClr val="tx1"/>
                </a:solidFill>
                <a:latin typeface="+mn-lt"/>
                <a:ea typeface="+mn-ea"/>
                <a:cs typeface="+mn-cs"/>
              </a:defRPr>
            </a:lvl9pPr>
          </a:lstStyle>
          <a:p>
            <a:pPr defTabSz="1219170">
              <a:defRPr/>
            </a:pPr>
            <a:endParaRPr lang="zh-CN" altLang="en-US" sz="3200">
              <a:solidFill>
                <a:schemeClr val="bg1"/>
              </a:solidFill>
              <a:latin typeface="+mj-ea"/>
              <a:ea typeface="+mj-ea"/>
            </a:endParaRPr>
          </a:p>
        </p:txBody>
      </p:sp>
      <p:sp>
        <p:nvSpPr>
          <p:cNvPr id="31" name="TextBox 44"/>
          <p:cNvSpPr txBox="1"/>
          <p:nvPr/>
        </p:nvSpPr>
        <p:spPr>
          <a:xfrm>
            <a:off x="7480300" y="1631951"/>
            <a:ext cx="3454400" cy="892360"/>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286166" indent="-286166" defTabSz="1217476" eaLnBrk="1" hangingPunct="1">
              <a:spcBef>
                <a:spcPct val="0"/>
              </a:spcBef>
            </a:pPr>
            <a:r>
              <a:rPr lang="zh-CN" altLang="en-US" sz="1733" dirty="0">
                <a:solidFill>
                  <a:schemeClr val="bg1"/>
                </a:solidFill>
                <a:latin typeface="+mj-ea"/>
                <a:ea typeface="+mj-ea"/>
              </a:rPr>
              <a:t>需求</a:t>
            </a:r>
            <a:r>
              <a:rPr lang="en-US" altLang="zh-CN" sz="1733" dirty="0">
                <a:solidFill>
                  <a:schemeClr val="bg1"/>
                </a:solidFill>
                <a:latin typeface="+mj-ea"/>
                <a:ea typeface="+mj-ea"/>
              </a:rPr>
              <a:t>3 </a:t>
            </a:r>
            <a:r>
              <a:rPr lang="zh-CN" altLang="en-US" sz="1733" dirty="0">
                <a:solidFill>
                  <a:schemeClr val="bg1"/>
                </a:solidFill>
                <a:latin typeface="+mj-ea"/>
                <a:ea typeface="+mj-ea"/>
              </a:rPr>
              <a:t>今天发货</a:t>
            </a:r>
            <a:endParaRPr lang="en-US" altLang="zh-CN" sz="1733" dirty="0">
              <a:solidFill>
                <a:schemeClr val="bg1"/>
              </a:solidFill>
              <a:latin typeface="+mj-ea"/>
              <a:ea typeface="+mj-ea"/>
            </a:endParaRPr>
          </a:p>
          <a:p>
            <a:pPr marL="286166" indent="-286166" defTabSz="1217476" eaLnBrk="1" hangingPunct="1">
              <a:spcBef>
                <a:spcPct val="0"/>
              </a:spcBef>
            </a:pPr>
            <a:r>
              <a:rPr lang="zh-CN" altLang="en-US" sz="1733" dirty="0">
                <a:solidFill>
                  <a:schemeClr val="bg1"/>
                </a:solidFill>
                <a:latin typeface="+mj-ea"/>
                <a:ea typeface="+mj-ea"/>
              </a:rPr>
              <a:t>需求</a:t>
            </a:r>
            <a:r>
              <a:rPr lang="en-US" altLang="zh-CN" sz="1733" dirty="0">
                <a:solidFill>
                  <a:schemeClr val="bg1"/>
                </a:solidFill>
                <a:latin typeface="+mj-ea"/>
                <a:ea typeface="+mj-ea"/>
              </a:rPr>
              <a:t>2 </a:t>
            </a:r>
            <a:r>
              <a:rPr lang="zh-CN" altLang="en-US" sz="1733" dirty="0">
                <a:solidFill>
                  <a:schemeClr val="bg1"/>
                </a:solidFill>
                <a:latin typeface="+mj-ea"/>
                <a:ea typeface="+mj-ea"/>
              </a:rPr>
              <a:t>短缺补货</a:t>
            </a:r>
            <a:r>
              <a:rPr lang="en-US" altLang="zh-CN" sz="1733" dirty="0">
                <a:solidFill>
                  <a:schemeClr val="bg1"/>
                </a:solidFill>
                <a:latin typeface="+mj-ea"/>
                <a:ea typeface="+mj-ea"/>
              </a:rPr>
              <a:t>.</a:t>
            </a:r>
            <a:br>
              <a:rPr lang="en-US" altLang="zh-CN" sz="1733" dirty="0">
                <a:solidFill>
                  <a:schemeClr val="bg1"/>
                </a:solidFill>
                <a:latin typeface="+mj-ea"/>
                <a:ea typeface="+mj-ea"/>
              </a:rPr>
            </a:br>
            <a:r>
              <a:rPr lang="zh-CN" altLang="en-US" sz="1733" dirty="0">
                <a:solidFill>
                  <a:schemeClr val="bg1"/>
                </a:solidFill>
                <a:latin typeface="+mj-ea"/>
                <a:ea typeface="+mj-ea"/>
              </a:rPr>
              <a:t>需求</a:t>
            </a:r>
            <a:r>
              <a:rPr lang="en-US" altLang="zh-CN" sz="1733" dirty="0">
                <a:solidFill>
                  <a:schemeClr val="bg1"/>
                </a:solidFill>
                <a:latin typeface="+mj-ea"/>
                <a:ea typeface="+mj-ea"/>
              </a:rPr>
              <a:t>1 </a:t>
            </a:r>
            <a:r>
              <a:rPr lang="zh-CN" altLang="en-US" sz="1733" dirty="0">
                <a:solidFill>
                  <a:schemeClr val="bg1"/>
                </a:solidFill>
                <a:latin typeface="+mj-ea"/>
                <a:ea typeface="+mj-ea"/>
              </a:rPr>
              <a:t>短缺补货</a:t>
            </a:r>
            <a:r>
              <a:rPr lang="en-US" altLang="zh-CN" sz="1733" dirty="0">
                <a:solidFill>
                  <a:schemeClr val="bg1"/>
                </a:solidFill>
                <a:latin typeface="+mj-ea"/>
                <a:ea typeface="+mj-ea"/>
              </a:rPr>
              <a:t>.</a:t>
            </a:r>
            <a:endParaRPr lang="zh-CN" altLang="en-US" sz="1733" dirty="0">
              <a:solidFill>
                <a:schemeClr val="bg1"/>
              </a:solidFill>
              <a:latin typeface="+mj-ea"/>
              <a:ea typeface="+mj-ea"/>
            </a:endParaRPr>
          </a:p>
        </p:txBody>
      </p:sp>
      <p:sp>
        <p:nvSpPr>
          <p:cNvPr id="32" name="Line 58"/>
          <p:cNvSpPr>
            <a:spLocks noChangeShapeType="1"/>
          </p:cNvSpPr>
          <p:nvPr/>
        </p:nvSpPr>
        <p:spPr bwMode="auto">
          <a:xfrm flipH="1">
            <a:off x="2935818" y="3090334"/>
            <a:ext cx="3551767" cy="905933"/>
          </a:xfrm>
          <a:prstGeom prst="line">
            <a:avLst/>
          </a:prstGeom>
          <a:ln>
            <a:solidFill>
              <a:schemeClr val="bg1"/>
            </a:solidFill>
            <a:tailEnd type="triangle" w="med" len="med"/>
          </a:ln>
        </p:spPr>
        <p:style>
          <a:lnRef idx="2">
            <a:schemeClr val="accent1"/>
          </a:lnRef>
          <a:fillRef idx="0">
            <a:schemeClr val="accent1"/>
          </a:fillRef>
          <a:effectRef idx="1">
            <a:schemeClr val="accent1"/>
          </a:effectRef>
          <a:fontRef idx="minor">
            <a:schemeClr val="tx1"/>
          </a:fontRef>
        </p:style>
        <p:txBody>
          <a:bodyPr lIns="162491" tIns="81244" rIns="162491" bIns="81244"/>
          <a:lstStyle>
            <a:defPPr>
              <a:defRPr lang="en-US"/>
            </a:defPPr>
            <a:lvl1pPr marL="0" algn="l" defTabSz="1219200" rtl="0" eaLnBrk="1" latinLnBrk="0" hangingPunct="1">
              <a:defRPr sz="2400" kern="1200">
                <a:solidFill>
                  <a:schemeClr val="tx1"/>
                </a:solidFill>
                <a:latin typeface="+mn-lt"/>
                <a:ea typeface="+mn-ea"/>
                <a:cs typeface="+mn-cs"/>
              </a:defRPr>
            </a:lvl1pPr>
            <a:lvl2pPr marL="609600" algn="l" defTabSz="1219200" rtl="0" eaLnBrk="1" latinLnBrk="0" hangingPunct="1">
              <a:defRPr sz="2400" kern="1200">
                <a:solidFill>
                  <a:schemeClr val="tx1"/>
                </a:solidFill>
                <a:latin typeface="+mn-lt"/>
                <a:ea typeface="+mn-ea"/>
                <a:cs typeface="+mn-cs"/>
              </a:defRPr>
            </a:lvl2pPr>
            <a:lvl3pPr marL="1219200" algn="l" defTabSz="1219200" rtl="0" eaLnBrk="1" latinLnBrk="0" hangingPunct="1">
              <a:defRPr sz="2400" kern="1200">
                <a:solidFill>
                  <a:schemeClr val="tx1"/>
                </a:solidFill>
                <a:latin typeface="+mn-lt"/>
                <a:ea typeface="+mn-ea"/>
                <a:cs typeface="+mn-cs"/>
              </a:defRPr>
            </a:lvl3pPr>
            <a:lvl4pPr marL="1828165" algn="l" defTabSz="1219200" rtl="0" eaLnBrk="1" latinLnBrk="0" hangingPunct="1">
              <a:defRPr sz="2400" kern="1200">
                <a:solidFill>
                  <a:schemeClr val="tx1"/>
                </a:solidFill>
                <a:latin typeface="+mn-lt"/>
                <a:ea typeface="+mn-ea"/>
                <a:cs typeface="+mn-cs"/>
              </a:defRPr>
            </a:lvl4pPr>
            <a:lvl5pPr marL="2437765" algn="l" defTabSz="1219200" rtl="0" eaLnBrk="1" latinLnBrk="0" hangingPunct="1">
              <a:defRPr sz="2400" kern="1200">
                <a:solidFill>
                  <a:schemeClr val="tx1"/>
                </a:solidFill>
                <a:latin typeface="+mn-lt"/>
                <a:ea typeface="+mn-ea"/>
                <a:cs typeface="+mn-cs"/>
              </a:defRPr>
            </a:lvl5pPr>
            <a:lvl6pPr marL="3047365" algn="l" defTabSz="1219200" rtl="0" eaLnBrk="1" latinLnBrk="0" hangingPunct="1">
              <a:defRPr sz="2400" kern="1200">
                <a:solidFill>
                  <a:schemeClr val="tx1"/>
                </a:solidFill>
                <a:latin typeface="+mn-lt"/>
                <a:ea typeface="+mn-ea"/>
                <a:cs typeface="+mn-cs"/>
              </a:defRPr>
            </a:lvl6pPr>
            <a:lvl7pPr marL="3656965" algn="l" defTabSz="1219200" rtl="0" eaLnBrk="1" latinLnBrk="0" hangingPunct="1">
              <a:defRPr sz="2400" kern="1200">
                <a:solidFill>
                  <a:schemeClr val="tx1"/>
                </a:solidFill>
                <a:latin typeface="+mn-lt"/>
                <a:ea typeface="+mn-ea"/>
                <a:cs typeface="+mn-cs"/>
              </a:defRPr>
            </a:lvl7pPr>
            <a:lvl8pPr marL="4266565" algn="l" defTabSz="1219200" rtl="0" eaLnBrk="1" latinLnBrk="0" hangingPunct="1">
              <a:defRPr sz="2400" kern="1200">
                <a:solidFill>
                  <a:schemeClr val="tx1"/>
                </a:solidFill>
                <a:latin typeface="+mn-lt"/>
                <a:ea typeface="+mn-ea"/>
                <a:cs typeface="+mn-cs"/>
              </a:defRPr>
            </a:lvl8pPr>
            <a:lvl9pPr marL="4876165" algn="l" defTabSz="1219200" rtl="0" eaLnBrk="1" latinLnBrk="0" hangingPunct="1">
              <a:defRPr sz="2400" kern="1200">
                <a:solidFill>
                  <a:schemeClr val="tx1"/>
                </a:solidFill>
                <a:latin typeface="+mn-lt"/>
                <a:ea typeface="+mn-ea"/>
                <a:cs typeface="+mn-cs"/>
              </a:defRPr>
            </a:lvl9pPr>
          </a:lstStyle>
          <a:p>
            <a:pPr defTabSz="1624713">
              <a:defRPr/>
            </a:pPr>
            <a:endParaRPr lang="zh-CN" altLang="en-US" sz="3200" dirty="0">
              <a:solidFill>
                <a:schemeClr val="bg1"/>
              </a:solidFill>
              <a:latin typeface="+mj-ea"/>
              <a:ea typeface="+mj-ea"/>
            </a:endParaRPr>
          </a:p>
        </p:txBody>
      </p:sp>
      <p:sp>
        <p:nvSpPr>
          <p:cNvPr id="33" name="TextBox 8"/>
          <p:cNvSpPr txBox="1"/>
          <p:nvPr/>
        </p:nvSpPr>
        <p:spPr>
          <a:xfrm rot="3057702">
            <a:off x="4622841" y="3383848"/>
            <a:ext cx="1568043" cy="307777"/>
          </a:xfrm>
          <a:prstGeom prst="rect">
            <a:avLst/>
          </a:prstGeom>
          <a:noFill/>
          <a:scene3d>
            <a:camera prst="orthographicFront">
              <a:rot lat="1195241" lon="109017" rev="3619146"/>
            </a:camera>
            <a:lightRig rig="threePt" dir="t"/>
          </a:scene3d>
        </p:spPr>
        <p:txBody>
          <a:bodyPr>
            <a:spAutoFit/>
          </a:bodyPr>
          <a:lstStyle>
            <a:defPPr>
              <a:defRPr lang="en-US"/>
            </a:defPPr>
            <a:lvl1pPr marL="0" algn="l" defTabSz="1219200" rtl="0" eaLnBrk="1" latinLnBrk="0" hangingPunct="1">
              <a:defRPr sz="2400" kern="1200">
                <a:solidFill>
                  <a:schemeClr val="tx1"/>
                </a:solidFill>
                <a:latin typeface="+mn-lt"/>
                <a:ea typeface="+mn-ea"/>
                <a:cs typeface="+mn-cs"/>
              </a:defRPr>
            </a:lvl1pPr>
            <a:lvl2pPr marL="609600" algn="l" defTabSz="1219200" rtl="0" eaLnBrk="1" latinLnBrk="0" hangingPunct="1">
              <a:defRPr sz="2400" kern="1200">
                <a:solidFill>
                  <a:schemeClr val="tx1"/>
                </a:solidFill>
                <a:latin typeface="+mn-lt"/>
                <a:ea typeface="+mn-ea"/>
                <a:cs typeface="+mn-cs"/>
              </a:defRPr>
            </a:lvl2pPr>
            <a:lvl3pPr marL="1219200" algn="l" defTabSz="1219200" rtl="0" eaLnBrk="1" latinLnBrk="0" hangingPunct="1">
              <a:defRPr sz="2400" kern="1200">
                <a:solidFill>
                  <a:schemeClr val="tx1"/>
                </a:solidFill>
                <a:latin typeface="+mn-lt"/>
                <a:ea typeface="+mn-ea"/>
                <a:cs typeface="+mn-cs"/>
              </a:defRPr>
            </a:lvl3pPr>
            <a:lvl4pPr marL="1828165" algn="l" defTabSz="1219200" rtl="0" eaLnBrk="1" latinLnBrk="0" hangingPunct="1">
              <a:defRPr sz="2400" kern="1200">
                <a:solidFill>
                  <a:schemeClr val="tx1"/>
                </a:solidFill>
                <a:latin typeface="+mn-lt"/>
                <a:ea typeface="+mn-ea"/>
                <a:cs typeface="+mn-cs"/>
              </a:defRPr>
            </a:lvl4pPr>
            <a:lvl5pPr marL="2437765" algn="l" defTabSz="1219200" rtl="0" eaLnBrk="1" latinLnBrk="0" hangingPunct="1">
              <a:defRPr sz="2400" kern="1200">
                <a:solidFill>
                  <a:schemeClr val="tx1"/>
                </a:solidFill>
                <a:latin typeface="+mn-lt"/>
                <a:ea typeface="+mn-ea"/>
                <a:cs typeface="+mn-cs"/>
              </a:defRPr>
            </a:lvl5pPr>
            <a:lvl6pPr marL="3047365" algn="l" defTabSz="1219200" rtl="0" eaLnBrk="1" latinLnBrk="0" hangingPunct="1">
              <a:defRPr sz="2400" kern="1200">
                <a:solidFill>
                  <a:schemeClr val="tx1"/>
                </a:solidFill>
                <a:latin typeface="+mn-lt"/>
                <a:ea typeface="+mn-ea"/>
                <a:cs typeface="+mn-cs"/>
              </a:defRPr>
            </a:lvl6pPr>
            <a:lvl7pPr marL="3656965" algn="l" defTabSz="1219200" rtl="0" eaLnBrk="1" latinLnBrk="0" hangingPunct="1">
              <a:defRPr sz="2400" kern="1200">
                <a:solidFill>
                  <a:schemeClr val="tx1"/>
                </a:solidFill>
                <a:latin typeface="+mn-lt"/>
                <a:ea typeface="+mn-ea"/>
                <a:cs typeface="+mn-cs"/>
              </a:defRPr>
            </a:lvl7pPr>
            <a:lvl8pPr marL="4266565" algn="l" defTabSz="1219200" rtl="0" eaLnBrk="1" latinLnBrk="0" hangingPunct="1">
              <a:defRPr sz="2400" kern="1200">
                <a:solidFill>
                  <a:schemeClr val="tx1"/>
                </a:solidFill>
                <a:latin typeface="+mn-lt"/>
                <a:ea typeface="+mn-ea"/>
                <a:cs typeface="+mn-cs"/>
              </a:defRPr>
            </a:lvl8pPr>
            <a:lvl9pPr marL="4876165" algn="l" defTabSz="1219200" rtl="0" eaLnBrk="1" latinLnBrk="0" hangingPunct="1">
              <a:defRPr sz="2400" kern="1200">
                <a:solidFill>
                  <a:schemeClr val="tx1"/>
                </a:solidFill>
                <a:latin typeface="+mn-lt"/>
                <a:ea typeface="+mn-ea"/>
                <a:cs typeface="+mn-cs"/>
              </a:defRPr>
            </a:lvl9pPr>
          </a:lstStyle>
          <a:p>
            <a:pPr defTabSz="1219170">
              <a:defRPr/>
            </a:pPr>
            <a:r>
              <a:rPr lang="zh-CN" altLang="en-US" sz="1400" dirty="0">
                <a:solidFill>
                  <a:schemeClr val="bg1"/>
                </a:solidFill>
                <a:latin typeface="+mj-ea"/>
                <a:ea typeface="+mj-ea"/>
              </a:rPr>
              <a:t>不齐套</a:t>
            </a:r>
          </a:p>
        </p:txBody>
      </p:sp>
      <p:sp>
        <p:nvSpPr>
          <p:cNvPr id="34" name="Line 58"/>
          <p:cNvSpPr>
            <a:spLocks noChangeShapeType="1"/>
          </p:cNvSpPr>
          <p:nvPr/>
        </p:nvSpPr>
        <p:spPr bwMode="auto">
          <a:xfrm flipH="1">
            <a:off x="2935817" y="3107268"/>
            <a:ext cx="1009651" cy="751417"/>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lIns="162491" tIns="81244" rIns="162491" bIns="81244"/>
          <a:lstStyle>
            <a:defPPr>
              <a:defRPr lang="en-US"/>
            </a:defPPr>
            <a:lvl1pPr marL="0" algn="l" defTabSz="1219200" rtl="0" eaLnBrk="1" latinLnBrk="0" hangingPunct="1">
              <a:defRPr sz="2400" kern="1200">
                <a:solidFill>
                  <a:schemeClr val="tx1"/>
                </a:solidFill>
                <a:latin typeface="+mn-lt"/>
                <a:ea typeface="+mn-ea"/>
                <a:cs typeface="+mn-cs"/>
              </a:defRPr>
            </a:lvl1pPr>
            <a:lvl2pPr marL="609600" algn="l" defTabSz="1219200" rtl="0" eaLnBrk="1" latinLnBrk="0" hangingPunct="1">
              <a:defRPr sz="2400" kern="1200">
                <a:solidFill>
                  <a:schemeClr val="tx1"/>
                </a:solidFill>
                <a:latin typeface="+mn-lt"/>
                <a:ea typeface="+mn-ea"/>
                <a:cs typeface="+mn-cs"/>
              </a:defRPr>
            </a:lvl2pPr>
            <a:lvl3pPr marL="1219200" algn="l" defTabSz="1219200" rtl="0" eaLnBrk="1" latinLnBrk="0" hangingPunct="1">
              <a:defRPr sz="2400" kern="1200">
                <a:solidFill>
                  <a:schemeClr val="tx1"/>
                </a:solidFill>
                <a:latin typeface="+mn-lt"/>
                <a:ea typeface="+mn-ea"/>
                <a:cs typeface="+mn-cs"/>
              </a:defRPr>
            </a:lvl3pPr>
            <a:lvl4pPr marL="1828165" algn="l" defTabSz="1219200" rtl="0" eaLnBrk="1" latinLnBrk="0" hangingPunct="1">
              <a:defRPr sz="2400" kern="1200">
                <a:solidFill>
                  <a:schemeClr val="tx1"/>
                </a:solidFill>
                <a:latin typeface="+mn-lt"/>
                <a:ea typeface="+mn-ea"/>
                <a:cs typeface="+mn-cs"/>
              </a:defRPr>
            </a:lvl4pPr>
            <a:lvl5pPr marL="2437765" algn="l" defTabSz="1219200" rtl="0" eaLnBrk="1" latinLnBrk="0" hangingPunct="1">
              <a:defRPr sz="2400" kern="1200">
                <a:solidFill>
                  <a:schemeClr val="tx1"/>
                </a:solidFill>
                <a:latin typeface="+mn-lt"/>
                <a:ea typeface="+mn-ea"/>
                <a:cs typeface="+mn-cs"/>
              </a:defRPr>
            </a:lvl5pPr>
            <a:lvl6pPr marL="3047365" algn="l" defTabSz="1219200" rtl="0" eaLnBrk="1" latinLnBrk="0" hangingPunct="1">
              <a:defRPr sz="2400" kern="1200">
                <a:solidFill>
                  <a:schemeClr val="tx1"/>
                </a:solidFill>
                <a:latin typeface="+mn-lt"/>
                <a:ea typeface="+mn-ea"/>
                <a:cs typeface="+mn-cs"/>
              </a:defRPr>
            </a:lvl6pPr>
            <a:lvl7pPr marL="3656965" algn="l" defTabSz="1219200" rtl="0" eaLnBrk="1" latinLnBrk="0" hangingPunct="1">
              <a:defRPr sz="2400" kern="1200">
                <a:solidFill>
                  <a:schemeClr val="tx1"/>
                </a:solidFill>
                <a:latin typeface="+mn-lt"/>
                <a:ea typeface="+mn-ea"/>
                <a:cs typeface="+mn-cs"/>
              </a:defRPr>
            </a:lvl7pPr>
            <a:lvl8pPr marL="4266565" algn="l" defTabSz="1219200" rtl="0" eaLnBrk="1" latinLnBrk="0" hangingPunct="1">
              <a:defRPr sz="2400" kern="1200">
                <a:solidFill>
                  <a:schemeClr val="tx1"/>
                </a:solidFill>
                <a:latin typeface="+mn-lt"/>
                <a:ea typeface="+mn-ea"/>
                <a:cs typeface="+mn-cs"/>
              </a:defRPr>
            </a:lvl8pPr>
            <a:lvl9pPr marL="4876165" algn="l" defTabSz="1219200" rtl="0" eaLnBrk="1" latinLnBrk="0" hangingPunct="1">
              <a:defRPr sz="2400" kern="1200">
                <a:solidFill>
                  <a:schemeClr val="tx1"/>
                </a:solidFill>
                <a:latin typeface="+mn-lt"/>
                <a:ea typeface="+mn-ea"/>
                <a:cs typeface="+mn-cs"/>
              </a:defRPr>
            </a:lvl9pPr>
          </a:lstStyle>
          <a:p>
            <a:pPr defTabSz="1624713">
              <a:defRPr/>
            </a:pPr>
            <a:endParaRPr lang="zh-CN" altLang="en-US" sz="3200">
              <a:solidFill>
                <a:schemeClr val="bg1"/>
              </a:solidFill>
              <a:latin typeface="+mj-ea"/>
              <a:ea typeface="+mj-ea"/>
            </a:endParaRPr>
          </a:p>
        </p:txBody>
      </p:sp>
      <p:sp>
        <p:nvSpPr>
          <p:cNvPr id="35" name="TextBox 8"/>
          <p:cNvSpPr txBox="1"/>
          <p:nvPr/>
        </p:nvSpPr>
        <p:spPr>
          <a:xfrm>
            <a:off x="2838885" y="3669821"/>
            <a:ext cx="1568041" cy="379656"/>
          </a:xfrm>
          <a:prstGeom prst="rect">
            <a:avLst/>
          </a:prstGeom>
          <a:noFill/>
          <a:scene3d>
            <a:camera prst="orthographicFront">
              <a:rot lat="1195241" lon="109017" rev="3619146"/>
            </a:camera>
            <a:lightRig rig="threePt" dir="t"/>
          </a:scene3d>
        </p:spPr>
        <p:txBody>
          <a:bodyPr>
            <a:spAutoFit/>
          </a:bodyPr>
          <a:lstStyle>
            <a:defPPr>
              <a:defRPr lang="en-US"/>
            </a:defPPr>
            <a:lvl1pPr marL="0" algn="l" defTabSz="1219200" rtl="0" eaLnBrk="1" latinLnBrk="0" hangingPunct="1">
              <a:defRPr sz="2400" kern="1200">
                <a:solidFill>
                  <a:schemeClr val="tx1"/>
                </a:solidFill>
                <a:latin typeface="+mn-lt"/>
                <a:ea typeface="+mn-ea"/>
                <a:cs typeface="+mn-cs"/>
              </a:defRPr>
            </a:lvl1pPr>
            <a:lvl2pPr marL="609600" algn="l" defTabSz="1219200" rtl="0" eaLnBrk="1" latinLnBrk="0" hangingPunct="1">
              <a:defRPr sz="2400" kern="1200">
                <a:solidFill>
                  <a:schemeClr val="tx1"/>
                </a:solidFill>
                <a:latin typeface="+mn-lt"/>
                <a:ea typeface="+mn-ea"/>
                <a:cs typeface="+mn-cs"/>
              </a:defRPr>
            </a:lvl2pPr>
            <a:lvl3pPr marL="1219200" algn="l" defTabSz="1219200" rtl="0" eaLnBrk="1" latinLnBrk="0" hangingPunct="1">
              <a:defRPr sz="2400" kern="1200">
                <a:solidFill>
                  <a:schemeClr val="tx1"/>
                </a:solidFill>
                <a:latin typeface="+mn-lt"/>
                <a:ea typeface="+mn-ea"/>
                <a:cs typeface="+mn-cs"/>
              </a:defRPr>
            </a:lvl3pPr>
            <a:lvl4pPr marL="1828165" algn="l" defTabSz="1219200" rtl="0" eaLnBrk="1" latinLnBrk="0" hangingPunct="1">
              <a:defRPr sz="2400" kern="1200">
                <a:solidFill>
                  <a:schemeClr val="tx1"/>
                </a:solidFill>
                <a:latin typeface="+mn-lt"/>
                <a:ea typeface="+mn-ea"/>
                <a:cs typeface="+mn-cs"/>
              </a:defRPr>
            </a:lvl4pPr>
            <a:lvl5pPr marL="2437765" algn="l" defTabSz="1219200" rtl="0" eaLnBrk="1" latinLnBrk="0" hangingPunct="1">
              <a:defRPr sz="2400" kern="1200">
                <a:solidFill>
                  <a:schemeClr val="tx1"/>
                </a:solidFill>
                <a:latin typeface="+mn-lt"/>
                <a:ea typeface="+mn-ea"/>
                <a:cs typeface="+mn-cs"/>
              </a:defRPr>
            </a:lvl5pPr>
            <a:lvl6pPr marL="3047365" algn="l" defTabSz="1219200" rtl="0" eaLnBrk="1" latinLnBrk="0" hangingPunct="1">
              <a:defRPr sz="2400" kern="1200">
                <a:solidFill>
                  <a:schemeClr val="tx1"/>
                </a:solidFill>
                <a:latin typeface="+mn-lt"/>
                <a:ea typeface="+mn-ea"/>
                <a:cs typeface="+mn-cs"/>
              </a:defRPr>
            </a:lvl6pPr>
            <a:lvl7pPr marL="3656965" algn="l" defTabSz="1219200" rtl="0" eaLnBrk="1" latinLnBrk="0" hangingPunct="1">
              <a:defRPr sz="2400" kern="1200">
                <a:solidFill>
                  <a:schemeClr val="tx1"/>
                </a:solidFill>
                <a:latin typeface="+mn-lt"/>
                <a:ea typeface="+mn-ea"/>
                <a:cs typeface="+mn-cs"/>
              </a:defRPr>
            </a:lvl7pPr>
            <a:lvl8pPr marL="4266565" algn="l" defTabSz="1219200" rtl="0" eaLnBrk="1" latinLnBrk="0" hangingPunct="1">
              <a:defRPr sz="2400" kern="1200">
                <a:solidFill>
                  <a:schemeClr val="tx1"/>
                </a:solidFill>
                <a:latin typeface="+mn-lt"/>
                <a:ea typeface="+mn-ea"/>
                <a:cs typeface="+mn-cs"/>
              </a:defRPr>
            </a:lvl8pPr>
            <a:lvl9pPr marL="4876165" algn="l" defTabSz="1219200" rtl="0" eaLnBrk="1" latinLnBrk="0" hangingPunct="1">
              <a:defRPr sz="2400" kern="1200">
                <a:solidFill>
                  <a:schemeClr val="tx1"/>
                </a:solidFill>
                <a:latin typeface="+mn-lt"/>
                <a:ea typeface="+mn-ea"/>
                <a:cs typeface="+mn-cs"/>
              </a:defRPr>
            </a:lvl9pPr>
          </a:lstStyle>
          <a:p>
            <a:pPr defTabSz="1219170">
              <a:defRPr/>
            </a:pPr>
            <a:r>
              <a:rPr lang="en-US" altLang="zh-CN" sz="1867" dirty="0">
                <a:solidFill>
                  <a:schemeClr val="bg1"/>
                </a:solidFill>
                <a:latin typeface="+mj-ea"/>
                <a:ea typeface="+mj-ea"/>
              </a:rPr>
              <a:t>Un-kitted</a:t>
            </a:r>
            <a:endParaRPr lang="zh-CN" altLang="en-US" sz="1867" dirty="0">
              <a:solidFill>
                <a:schemeClr val="bg1"/>
              </a:solidFill>
              <a:latin typeface="+mj-ea"/>
              <a:ea typeface="+mj-ea"/>
            </a:endParaRPr>
          </a:p>
        </p:txBody>
      </p:sp>
      <p:sp>
        <p:nvSpPr>
          <p:cNvPr id="11" name="文本框 7">
            <a:extLst>
              <a:ext uri="{FF2B5EF4-FFF2-40B4-BE49-F238E27FC236}">
                <a16:creationId xmlns:a16="http://schemas.microsoft.com/office/drawing/2014/main" id="{10096E1D-BA05-DF0F-D668-9ED24E94B8EB}"/>
              </a:ext>
            </a:extLst>
          </p:cNvPr>
          <p:cNvSpPr txBox="1"/>
          <p:nvPr/>
        </p:nvSpPr>
        <p:spPr>
          <a:xfrm>
            <a:off x="10210394" y="3272559"/>
            <a:ext cx="1302564" cy="338554"/>
          </a:xfrm>
          <a:prstGeom prst="rect">
            <a:avLst/>
          </a:prstGeom>
          <a:noFill/>
        </p:spPr>
        <p:txBody>
          <a:bodyPr wrap="square" rtlCol="0">
            <a:spAutoFit/>
          </a:bodyPr>
          <a:lstStyle>
            <a:defPPr>
              <a:defRPr lang="zh-CN"/>
            </a:defPPr>
            <a:lvl1pPr marL="0" lvl="0"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1pPr>
            <a:lvl2pPr marL="457200" lvl="1"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2pPr>
            <a:lvl3pPr marL="914400" lvl="2"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3pPr>
            <a:lvl4pPr marL="1371600" lvl="3"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4pPr>
            <a:lvl5pPr marL="1828800" lvl="4"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5pPr>
            <a:lvl6pPr marL="2286000" lvl="5"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6pPr>
            <a:lvl7pPr marL="2743200" lvl="6"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7pPr>
            <a:lvl8pPr marL="3200400" lvl="7"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8pPr>
            <a:lvl9pPr marL="3657600" lvl="8"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9pPr>
          </a:lstStyle>
          <a:p>
            <a:r>
              <a:rPr lang="en-US" altLang="zh-CN" sz="1600" dirty="0">
                <a:solidFill>
                  <a:schemeClr val="bg1"/>
                </a:solidFill>
                <a:latin typeface="+mj-ea"/>
                <a:ea typeface="+mj-ea"/>
              </a:rPr>
              <a:t>Time</a:t>
            </a:r>
            <a:endParaRPr lang="zh-CN" altLang="en-US" sz="1600" dirty="0">
              <a:solidFill>
                <a:schemeClr val="bg1"/>
              </a:solidFill>
              <a:latin typeface="+mj-ea"/>
              <a:ea typeface="+mj-ea"/>
            </a:endParaRPr>
          </a:p>
        </p:txBody>
      </p:sp>
    </p:spTree>
    <p:custDataLst>
      <p:tags r:id="rId1"/>
    </p:custData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fade">
                                      <p:cBhvr>
                                        <p:cTn id="31" dur="500"/>
                                        <p:tgtEl>
                                          <p:spTgt spid="23"/>
                                        </p:tgtEl>
                                      </p:cBhvr>
                                    </p:animEffec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19"/>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0" presetClass="exit" presetSubtype="0" fill="hold" nodeType="clickEffect">
                                  <p:stCondLst>
                                    <p:cond delay="0"/>
                                  </p:stCondLst>
                                  <p:childTnLst>
                                    <p:animEffect transition="out" filter="fade">
                                      <p:cBhvr>
                                        <p:cTn id="39" dur="500"/>
                                        <p:tgtEl>
                                          <p:spTgt spid="14"/>
                                        </p:tgtEl>
                                      </p:cBhvr>
                                    </p:animEffect>
                                    <p:set>
                                      <p:cBhvr>
                                        <p:cTn id="40" dur="1" fill="hold">
                                          <p:stCondLst>
                                            <p:cond delay="499"/>
                                          </p:stCondLst>
                                        </p:cTn>
                                        <p:tgtEl>
                                          <p:spTgt spid="14"/>
                                        </p:tgtEl>
                                        <p:attrNameLst>
                                          <p:attrName>style.visibility</p:attrName>
                                        </p:attrNameLst>
                                      </p:cBhvr>
                                      <p:to>
                                        <p:strVal val="hidden"/>
                                      </p:to>
                                    </p:set>
                                  </p:childTnLst>
                                </p:cTn>
                              </p:par>
                              <p:par>
                                <p:cTn id="41" presetID="10" presetClass="exit" presetSubtype="0" fill="hold" nodeType="withEffect">
                                  <p:stCondLst>
                                    <p:cond delay="0"/>
                                  </p:stCondLst>
                                  <p:childTnLst>
                                    <p:animEffect transition="out" filter="fade">
                                      <p:cBhvr>
                                        <p:cTn id="42" dur="500"/>
                                        <p:tgtEl>
                                          <p:spTgt spid="15"/>
                                        </p:tgtEl>
                                      </p:cBhvr>
                                    </p:animEffect>
                                    <p:set>
                                      <p:cBhvr>
                                        <p:cTn id="43" dur="1" fill="hold">
                                          <p:stCondLst>
                                            <p:cond delay="499"/>
                                          </p:stCondLst>
                                        </p:cTn>
                                        <p:tgtEl>
                                          <p:spTgt spid="15"/>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0" presetClass="exit" presetSubtype="0" fill="hold" nodeType="clickEffect">
                                  <p:stCondLst>
                                    <p:cond delay="0"/>
                                  </p:stCondLst>
                                  <p:childTnLst>
                                    <p:animEffect transition="out" filter="fade">
                                      <p:cBhvr>
                                        <p:cTn id="47" dur="500"/>
                                        <p:tgtEl>
                                          <p:spTgt spid="18"/>
                                        </p:tgtEl>
                                      </p:cBhvr>
                                    </p:animEffect>
                                    <p:set>
                                      <p:cBhvr>
                                        <p:cTn id="48" dur="1" fill="hold">
                                          <p:stCondLst>
                                            <p:cond delay="499"/>
                                          </p:stCondLst>
                                        </p:cTn>
                                        <p:tgtEl>
                                          <p:spTgt spid="18"/>
                                        </p:tgtEl>
                                        <p:attrNameLst>
                                          <p:attrName>style.visibility</p:attrName>
                                        </p:attrNameLst>
                                      </p:cBhvr>
                                      <p:to>
                                        <p:strVal val="hidden"/>
                                      </p:to>
                                    </p:set>
                                  </p:childTnLst>
                                </p:cTn>
                              </p:par>
                              <p:par>
                                <p:cTn id="49" presetID="10" presetClass="exit" presetSubtype="0" fill="hold" nodeType="withEffect">
                                  <p:stCondLst>
                                    <p:cond delay="0"/>
                                  </p:stCondLst>
                                  <p:childTnLst>
                                    <p:animEffect transition="out" filter="fade">
                                      <p:cBhvr>
                                        <p:cTn id="50" dur="500"/>
                                        <p:tgtEl>
                                          <p:spTgt spid="23"/>
                                        </p:tgtEl>
                                      </p:cBhvr>
                                    </p:animEffect>
                                    <p:set>
                                      <p:cBhvr>
                                        <p:cTn id="51" dur="1" fill="hold">
                                          <p:stCondLst>
                                            <p:cond delay="499"/>
                                          </p:stCondLst>
                                        </p:cTn>
                                        <p:tgtEl>
                                          <p:spTgt spid="23"/>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5"/>
                                        </p:tgtEl>
                                        <p:attrNameLst>
                                          <p:attrName>style.visibility</p:attrName>
                                        </p:attrNameLst>
                                      </p:cBhvr>
                                      <p:to>
                                        <p:strVal val="visible"/>
                                      </p:to>
                                    </p:set>
                                    <p:animEffect transition="in" filter="fade">
                                      <p:cBhvr>
                                        <p:cTn id="56" dur="500"/>
                                        <p:tgtEl>
                                          <p:spTgt spid="2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7"/>
                                        </p:tgtEl>
                                        <p:attrNameLst>
                                          <p:attrName>style.visibility</p:attrName>
                                        </p:attrNameLst>
                                      </p:cBhvr>
                                      <p:to>
                                        <p:strVal val="visible"/>
                                      </p:to>
                                    </p:set>
                                    <p:animEffect transition="in" filter="fade">
                                      <p:cBhvr>
                                        <p:cTn id="61" dur="500"/>
                                        <p:tgtEl>
                                          <p:spTgt spid="27"/>
                                        </p:tgtEl>
                                      </p:cBhvr>
                                    </p:animEffect>
                                  </p:childTnLst>
                                </p:cTn>
                              </p:par>
                              <p:par>
                                <p:cTn id="62" presetID="10" presetClass="entr" presetSubtype="0" fill="hold" nodeType="withEffect">
                                  <p:stCondLst>
                                    <p:cond delay="0"/>
                                  </p:stCondLst>
                                  <p:childTnLst>
                                    <p:set>
                                      <p:cBhvr>
                                        <p:cTn id="63" dur="1" fill="hold">
                                          <p:stCondLst>
                                            <p:cond delay="0"/>
                                          </p:stCondLst>
                                        </p:cTn>
                                        <p:tgtEl>
                                          <p:spTgt spid="28"/>
                                        </p:tgtEl>
                                        <p:attrNameLst>
                                          <p:attrName>style.visibility</p:attrName>
                                        </p:attrNameLst>
                                      </p:cBhvr>
                                      <p:to>
                                        <p:strVal val="visible"/>
                                      </p:to>
                                    </p:set>
                                    <p:animEffect transition="in" filter="fade">
                                      <p:cBhvr>
                                        <p:cTn id="64" dur="500"/>
                                        <p:tgtEl>
                                          <p:spTgt spid="28"/>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fade">
                                      <p:cBhvr>
                                        <p:cTn id="69" dur="500"/>
                                        <p:tgtEl>
                                          <p:spTgt spid="29"/>
                                        </p:tgtEl>
                                      </p:cBhvr>
                                    </p:animEffect>
                                  </p:childTnLst>
                                </p:cTn>
                              </p:par>
                              <p:par>
                                <p:cTn id="70" presetID="10" presetClass="entr" presetSubtype="0" fill="hold" nodeType="withEffect">
                                  <p:stCondLst>
                                    <p:cond delay="0"/>
                                  </p:stCondLst>
                                  <p:childTnLst>
                                    <p:set>
                                      <p:cBhvr>
                                        <p:cTn id="71" dur="1" fill="hold">
                                          <p:stCondLst>
                                            <p:cond delay="0"/>
                                          </p:stCondLst>
                                        </p:cTn>
                                        <p:tgtEl>
                                          <p:spTgt spid="30"/>
                                        </p:tgtEl>
                                        <p:attrNameLst>
                                          <p:attrName>style.visibility</p:attrName>
                                        </p:attrNameLst>
                                      </p:cBhvr>
                                      <p:to>
                                        <p:strVal val="visible"/>
                                      </p:to>
                                    </p:set>
                                    <p:animEffect transition="in" filter="fade">
                                      <p:cBhvr>
                                        <p:cTn id="72" dur="500"/>
                                        <p:tgtEl>
                                          <p:spTgt spid="30"/>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32"/>
                                        </p:tgtEl>
                                        <p:attrNameLst>
                                          <p:attrName>style.visibility</p:attrName>
                                        </p:attrNameLst>
                                      </p:cBhvr>
                                      <p:to>
                                        <p:strVal val="visible"/>
                                      </p:to>
                                    </p:set>
                                    <p:animEffect transition="in" filter="fade">
                                      <p:cBhvr>
                                        <p:cTn id="77" dur="500"/>
                                        <p:tgtEl>
                                          <p:spTgt spid="32"/>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33"/>
                                        </p:tgtEl>
                                        <p:attrNameLst>
                                          <p:attrName>style.visibility</p:attrName>
                                        </p:attrNameLst>
                                      </p:cBhvr>
                                      <p:to>
                                        <p:strVal val="visible"/>
                                      </p:to>
                                    </p:set>
                                    <p:animEffect transition="in" filter="fade">
                                      <p:cBhvr>
                                        <p:cTn id="82" dur="500"/>
                                        <p:tgtEl>
                                          <p:spTgt spid="33"/>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34"/>
                                        </p:tgtEl>
                                        <p:attrNameLst>
                                          <p:attrName>style.visibility</p:attrName>
                                        </p:attrNameLst>
                                      </p:cBhvr>
                                      <p:to>
                                        <p:strVal val="visible"/>
                                      </p:to>
                                    </p:set>
                                    <p:animEffect transition="in" filter="fade">
                                      <p:cBhvr>
                                        <p:cTn id="87" dur="500"/>
                                        <p:tgtEl>
                                          <p:spTgt spid="34"/>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xit" presetSubtype="0" fill="hold" nodeType="clickEffect">
                                  <p:stCondLst>
                                    <p:cond delay="0"/>
                                  </p:stCondLst>
                                  <p:childTnLst>
                                    <p:animEffect transition="out" filter="fade">
                                      <p:cBhvr>
                                        <p:cTn id="96" dur="500"/>
                                        <p:tgtEl>
                                          <p:spTgt spid="34"/>
                                        </p:tgtEl>
                                      </p:cBhvr>
                                    </p:animEffect>
                                    <p:set>
                                      <p:cBhvr>
                                        <p:cTn id="97" dur="1" fill="hold">
                                          <p:stCondLst>
                                            <p:cond delay="499"/>
                                          </p:stCondLst>
                                        </p:cTn>
                                        <p:tgtEl>
                                          <p:spTgt spid="34"/>
                                        </p:tgtEl>
                                        <p:attrNameLst>
                                          <p:attrName>style.visibility</p:attrName>
                                        </p:attrNameLst>
                                      </p:cBhvr>
                                      <p:to>
                                        <p:strVal val="hidden"/>
                                      </p:to>
                                    </p:set>
                                  </p:childTnLst>
                                </p:cTn>
                              </p:par>
                              <p:par>
                                <p:cTn id="98" presetID="10" presetClass="exit" presetSubtype="0" fill="hold" nodeType="withEffect">
                                  <p:stCondLst>
                                    <p:cond delay="0"/>
                                  </p:stCondLst>
                                  <p:childTnLst>
                                    <p:animEffect transition="out" filter="fade">
                                      <p:cBhvr>
                                        <p:cTn id="99" dur="500"/>
                                        <p:tgtEl>
                                          <p:spTgt spid="35"/>
                                        </p:tgtEl>
                                      </p:cBhvr>
                                    </p:animEffect>
                                    <p:set>
                                      <p:cBhvr>
                                        <p:cTn id="100" dur="1" fill="hold">
                                          <p:stCondLst>
                                            <p:cond delay="499"/>
                                          </p:stCondLst>
                                        </p:cTn>
                                        <p:tgtEl>
                                          <p:spTgt spid="35"/>
                                        </p:tgtEl>
                                        <p:attrNameLst>
                                          <p:attrName>style.visibility</p:attrName>
                                        </p:attrNameLst>
                                      </p:cBhvr>
                                      <p:to>
                                        <p:strVal val="hidden"/>
                                      </p:to>
                                    </p:se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31"/>
                                        </p:tgtEl>
                                        <p:attrNameLst>
                                          <p:attrName>style.visibility</p:attrName>
                                        </p:attrNameLst>
                                      </p:cBhvr>
                                      <p:to>
                                        <p:strVal val="visible"/>
                                      </p:to>
                                    </p:set>
                                    <p:animEffect transition="in" filter="fade">
                                      <p:cBhvr>
                                        <p:cTn id="105" dur="500"/>
                                        <p:tgtEl>
                                          <p:spTgt spid="31"/>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22"/>
                                        </p:tgtEl>
                                        <p:attrNameLst>
                                          <p:attrName>style.visibility</p:attrName>
                                        </p:attrNameLst>
                                      </p:cBhvr>
                                      <p:to>
                                        <p:strVal val="visible"/>
                                      </p:to>
                                    </p:set>
                                    <p:animEffect transition="in" filter="fade">
                                      <p:cBhvr>
                                        <p:cTn id="11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9" grpId="0"/>
      <p:bldP spid="22" grpId="0" animBg="1"/>
      <p:bldP spid="24" grpId="0" animBg="1"/>
      <p:bldP spid="25" grpId="0" animBg="1"/>
      <p:bldP spid="27" grpId="0" animBg="1"/>
      <p:bldP spid="31"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直接箭头连接符 4"/>
          <p:cNvCxnSpPr/>
          <p:nvPr/>
        </p:nvCxnSpPr>
        <p:spPr>
          <a:xfrm>
            <a:off x="1081618" y="3524251"/>
            <a:ext cx="9334500" cy="0"/>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3" name="直接箭头连接符 5"/>
          <p:cNvCxnSpPr>
            <a:stCxn id="37896" idx="2"/>
          </p:cNvCxnSpPr>
          <p:nvPr/>
        </p:nvCxnSpPr>
        <p:spPr>
          <a:xfrm flipH="1">
            <a:off x="4165601" y="2604622"/>
            <a:ext cx="7409" cy="881530"/>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4" name="直接箭头连接符 6"/>
          <p:cNvCxnSpPr>
            <a:cxnSpLocks/>
          </p:cNvCxnSpPr>
          <p:nvPr/>
        </p:nvCxnSpPr>
        <p:spPr>
          <a:xfrm>
            <a:off x="6656387" y="2628303"/>
            <a:ext cx="15346" cy="895948"/>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7"/>
          <p:cNvCxnSpPr/>
          <p:nvPr/>
        </p:nvCxnSpPr>
        <p:spPr>
          <a:xfrm flipV="1">
            <a:off x="3119967" y="3524251"/>
            <a:ext cx="0" cy="673100"/>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8"/>
          <p:cNvCxnSpPr/>
          <p:nvPr/>
        </p:nvCxnSpPr>
        <p:spPr>
          <a:xfrm flipV="1">
            <a:off x="6096000" y="3524251"/>
            <a:ext cx="0" cy="673100"/>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7" name="直接箭头连接符 9"/>
          <p:cNvCxnSpPr/>
          <p:nvPr/>
        </p:nvCxnSpPr>
        <p:spPr>
          <a:xfrm flipV="1">
            <a:off x="3119967" y="4400551"/>
            <a:ext cx="0" cy="670984"/>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37896" name="矩形 10"/>
          <p:cNvSpPr/>
          <p:nvPr/>
        </p:nvSpPr>
        <p:spPr>
          <a:xfrm>
            <a:off x="3572934" y="2307168"/>
            <a:ext cx="1200151" cy="297454"/>
          </a:xfrm>
          <a:prstGeom prst="rect">
            <a:avLst/>
          </a:prstGeom>
          <a:solidFill>
            <a:srgbClr val="0070C0"/>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333" b="1" dirty="0">
                <a:solidFill>
                  <a:srgbClr val="FFFFFF"/>
                </a:solidFill>
                <a:latin typeface="+mj-ea"/>
                <a:ea typeface="+mj-ea"/>
              </a:rPr>
              <a:t>需求</a:t>
            </a:r>
            <a:r>
              <a:rPr lang="en-US" altLang="zh-CN" sz="1333" b="1" dirty="0">
                <a:solidFill>
                  <a:srgbClr val="FFFFFF"/>
                </a:solidFill>
                <a:latin typeface="+mj-ea"/>
                <a:ea typeface="+mj-ea"/>
              </a:rPr>
              <a:t>1</a:t>
            </a:r>
            <a:endParaRPr lang="zh-CN" altLang="en-US" sz="1333" b="1" dirty="0">
              <a:solidFill>
                <a:srgbClr val="FFFFFF"/>
              </a:solidFill>
              <a:latin typeface="+mj-ea"/>
              <a:ea typeface="+mj-ea"/>
            </a:endParaRPr>
          </a:p>
        </p:txBody>
      </p:sp>
      <p:sp>
        <p:nvSpPr>
          <p:cNvPr id="37897" name="矩形 11"/>
          <p:cNvSpPr/>
          <p:nvPr/>
        </p:nvSpPr>
        <p:spPr>
          <a:xfrm>
            <a:off x="6284384" y="2307168"/>
            <a:ext cx="1200149" cy="297454"/>
          </a:xfrm>
          <a:prstGeom prst="rect">
            <a:avLst/>
          </a:prstGeom>
          <a:solidFill>
            <a:srgbClr val="0070C0"/>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333" b="1" dirty="0">
                <a:solidFill>
                  <a:srgbClr val="FFFFFF"/>
                </a:solidFill>
                <a:latin typeface="+mj-ea"/>
                <a:ea typeface="+mj-ea"/>
              </a:rPr>
              <a:t>需求</a:t>
            </a:r>
            <a:r>
              <a:rPr lang="en-US" altLang="zh-CN" sz="1333" b="1" dirty="0">
                <a:solidFill>
                  <a:srgbClr val="FFFFFF"/>
                </a:solidFill>
                <a:latin typeface="+mj-ea"/>
                <a:ea typeface="+mj-ea"/>
              </a:rPr>
              <a:t>2</a:t>
            </a:r>
            <a:endParaRPr lang="zh-CN" altLang="en-US" sz="1333" b="1" dirty="0">
              <a:solidFill>
                <a:srgbClr val="FFFFFF"/>
              </a:solidFill>
              <a:latin typeface="+mj-ea"/>
              <a:ea typeface="+mj-ea"/>
            </a:endParaRPr>
          </a:p>
        </p:txBody>
      </p:sp>
      <p:sp>
        <p:nvSpPr>
          <p:cNvPr id="37898" name="矩形 12"/>
          <p:cNvSpPr/>
          <p:nvPr/>
        </p:nvSpPr>
        <p:spPr>
          <a:xfrm>
            <a:off x="1536701" y="3716867"/>
            <a:ext cx="1392767" cy="338554"/>
          </a:xfrm>
          <a:prstGeom prst="rect">
            <a:avLst/>
          </a:prstGeom>
          <a:solidFill>
            <a:srgbClr val="00B050"/>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rgbClr val="FFFFFF"/>
                </a:solidFill>
                <a:latin typeface="+mj-ea"/>
                <a:ea typeface="+mj-ea"/>
              </a:rPr>
              <a:t>库存</a:t>
            </a:r>
            <a:r>
              <a:rPr lang="en-US" altLang="zh-CN" sz="1600" b="1" dirty="0">
                <a:solidFill>
                  <a:srgbClr val="FFFFFF"/>
                </a:solidFill>
                <a:latin typeface="+mj-ea"/>
                <a:ea typeface="+mj-ea"/>
              </a:rPr>
              <a:t> A</a:t>
            </a:r>
            <a:endParaRPr lang="zh-CN" altLang="en-US" sz="1600" b="1" dirty="0">
              <a:solidFill>
                <a:srgbClr val="FFFFFF"/>
              </a:solidFill>
              <a:latin typeface="+mj-ea"/>
              <a:ea typeface="+mj-ea"/>
            </a:endParaRPr>
          </a:p>
        </p:txBody>
      </p:sp>
      <p:sp>
        <p:nvSpPr>
          <p:cNvPr id="37899" name="矩形 13"/>
          <p:cNvSpPr/>
          <p:nvPr/>
        </p:nvSpPr>
        <p:spPr>
          <a:xfrm>
            <a:off x="5065184" y="4292600"/>
            <a:ext cx="2006600"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rgbClr val="FFFFFF"/>
                </a:solidFill>
                <a:latin typeface="+mj-ea"/>
                <a:ea typeface="+mj-ea"/>
              </a:rPr>
              <a:t>计划到货</a:t>
            </a:r>
            <a:r>
              <a:rPr lang="en-US" altLang="zh-CN" sz="1600" b="1" dirty="0">
                <a:solidFill>
                  <a:srgbClr val="FFFFFF"/>
                </a:solidFill>
                <a:latin typeface="+mj-ea"/>
                <a:ea typeface="+mj-ea"/>
              </a:rPr>
              <a:t>C</a:t>
            </a:r>
            <a:endParaRPr lang="zh-CN" altLang="en-US" sz="1600" b="1" dirty="0">
              <a:solidFill>
                <a:srgbClr val="FFFFFF"/>
              </a:solidFill>
              <a:latin typeface="+mj-ea"/>
              <a:ea typeface="+mj-ea"/>
            </a:endParaRPr>
          </a:p>
        </p:txBody>
      </p:sp>
      <p:sp>
        <p:nvSpPr>
          <p:cNvPr id="37900" name="矩形 14"/>
          <p:cNvSpPr/>
          <p:nvPr/>
        </p:nvSpPr>
        <p:spPr>
          <a:xfrm>
            <a:off x="1536701" y="4531784"/>
            <a:ext cx="1392767" cy="338554"/>
          </a:xfrm>
          <a:prstGeom prst="rect">
            <a:avLst/>
          </a:prstGeom>
          <a:solidFill>
            <a:srgbClr val="00B050"/>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b="1" dirty="0">
                <a:solidFill>
                  <a:srgbClr val="FFFFFF"/>
                </a:solidFill>
                <a:latin typeface="+mj-ea"/>
                <a:ea typeface="+mj-ea"/>
              </a:rPr>
              <a:t>库存</a:t>
            </a:r>
            <a:r>
              <a:rPr lang="en-US" altLang="zh-CN" sz="1600" b="1" dirty="0">
                <a:solidFill>
                  <a:srgbClr val="FFFFFF"/>
                </a:solidFill>
                <a:latin typeface="+mj-ea"/>
                <a:ea typeface="+mj-ea"/>
              </a:rPr>
              <a:t> B</a:t>
            </a:r>
            <a:endParaRPr lang="zh-CN" altLang="en-US" sz="1600" b="1" dirty="0">
              <a:solidFill>
                <a:srgbClr val="FFFFFF"/>
              </a:solidFill>
              <a:latin typeface="+mj-ea"/>
              <a:ea typeface="+mj-ea"/>
            </a:endParaRPr>
          </a:p>
        </p:txBody>
      </p:sp>
      <p:sp>
        <p:nvSpPr>
          <p:cNvPr id="13" name="Line 58"/>
          <p:cNvSpPr>
            <a:spLocks noChangeShapeType="1"/>
          </p:cNvSpPr>
          <p:nvPr/>
        </p:nvSpPr>
        <p:spPr bwMode="auto">
          <a:xfrm flipH="1">
            <a:off x="3119967" y="3141133"/>
            <a:ext cx="3551767" cy="781051"/>
          </a:xfrm>
          <a:prstGeom prst="line">
            <a:avLst/>
          </a:prstGeom>
          <a:ln>
            <a:solidFill>
              <a:schemeClr val="bg1"/>
            </a:solidFill>
            <a:tailEnd type="triangle" w="med" len="med"/>
          </a:ln>
        </p:spPr>
        <p:style>
          <a:lnRef idx="2">
            <a:schemeClr val="accent1"/>
          </a:lnRef>
          <a:fillRef idx="0">
            <a:schemeClr val="accent1"/>
          </a:fillRef>
          <a:effectRef idx="1">
            <a:schemeClr val="accent1"/>
          </a:effectRef>
          <a:fontRef idx="minor">
            <a:schemeClr val="tx1"/>
          </a:fontRef>
        </p:style>
        <p:txBody>
          <a:bodyPr lIns="162491" tIns="81244" rIns="162491" bIns="81244"/>
          <a:lstStyle/>
          <a:p>
            <a:pPr defTabSz="1219170">
              <a:defRPr/>
            </a:pPr>
            <a:endParaRPr lang="zh-CN" altLang="en-US" sz="3200">
              <a:solidFill>
                <a:srgbClr val="000000"/>
              </a:solidFill>
              <a:latin typeface="+mj-ea"/>
              <a:ea typeface="+mj-ea"/>
            </a:endParaRPr>
          </a:p>
        </p:txBody>
      </p:sp>
      <p:sp>
        <p:nvSpPr>
          <p:cNvPr id="14" name="Line 58"/>
          <p:cNvSpPr>
            <a:spLocks noChangeShapeType="1"/>
          </p:cNvSpPr>
          <p:nvPr/>
        </p:nvSpPr>
        <p:spPr bwMode="auto">
          <a:xfrm flipH="1">
            <a:off x="6096000" y="3141133"/>
            <a:ext cx="575733" cy="781051"/>
          </a:xfrm>
          <a:prstGeom prst="line">
            <a:avLst/>
          </a:prstGeom>
          <a:noFill/>
          <a:ln w="9525">
            <a:solidFill>
              <a:schemeClr val="tx1"/>
            </a:solidFill>
            <a:round/>
            <a:tailEnd type="triangle" w="med" len="med"/>
          </a:ln>
        </p:spPr>
        <p:txBody>
          <a:bodyPr lIns="162491" tIns="81244" rIns="162491" bIns="81244"/>
          <a:lstStyle/>
          <a:p>
            <a:pPr defTabSz="1219170">
              <a:defRPr/>
            </a:pPr>
            <a:endParaRPr lang="zh-CN" altLang="en-US" sz="3200">
              <a:solidFill>
                <a:srgbClr val="000000"/>
              </a:solidFill>
              <a:latin typeface="+mj-ea"/>
              <a:ea typeface="+mj-ea"/>
            </a:endParaRPr>
          </a:p>
        </p:txBody>
      </p:sp>
      <p:grpSp>
        <p:nvGrpSpPr>
          <p:cNvPr id="15" name="组合 17"/>
          <p:cNvGrpSpPr/>
          <p:nvPr/>
        </p:nvGrpSpPr>
        <p:grpSpPr>
          <a:xfrm>
            <a:off x="432849" y="1477434"/>
            <a:ext cx="2111683" cy="417922"/>
            <a:chOff x="0" y="1668023"/>
            <a:chExt cx="4342049" cy="720081"/>
          </a:xfrm>
          <a:solidFill>
            <a:srgbClr val="00B050"/>
          </a:solidFill>
        </p:grpSpPr>
        <p:sp>
          <p:nvSpPr>
            <p:cNvPr id="16" name="五边形 15"/>
            <p:cNvSpPr/>
            <p:nvPr/>
          </p:nvSpPr>
          <p:spPr>
            <a:xfrm>
              <a:off x="0" y="1668023"/>
              <a:ext cx="4342049" cy="720081"/>
            </a:xfrm>
            <a:prstGeom prst="homePlat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914377">
                <a:defRPr/>
              </a:pPr>
              <a:endParaRPr lang="zh-CN" altLang="en-US" sz="1400" dirty="0">
                <a:solidFill>
                  <a:prstClr val="white"/>
                </a:solidFill>
                <a:latin typeface="+mj-ea"/>
                <a:ea typeface="+mj-ea"/>
              </a:endParaRPr>
            </a:p>
          </p:txBody>
        </p:sp>
        <p:sp>
          <p:nvSpPr>
            <p:cNvPr id="17" name="TextBox 8"/>
            <p:cNvSpPr txBox="1"/>
            <p:nvPr/>
          </p:nvSpPr>
          <p:spPr>
            <a:xfrm>
              <a:off x="784034" y="1789660"/>
              <a:ext cx="2159605" cy="382778"/>
            </a:xfrm>
            <a:prstGeom prst="rect">
              <a:avLst/>
            </a:prstGeom>
            <a:grpFill/>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77">
                <a:defRPr/>
              </a:pPr>
              <a:r>
                <a:rPr lang="en-US" altLang="zh-CN" sz="1600" b="1" dirty="0">
                  <a:solidFill>
                    <a:prstClr val="white"/>
                  </a:solidFill>
                  <a:latin typeface="+mj-ea"/>
                  <a:ea typeface="+mj-ea"/>
                </a:rPr>
                <a:t>Solution</a:t>
              </a:r>
              <a:endParaRPr lang="zh-CN" altLang="en-US" sz="1600" b="1" dirty="0">
                <a:solidFill>
                  <a:prstClr val="white"/>
                </a:solidFill>
                <a:latin typeface="+mj-ea"/>
                <a:ea typeface="+mj-ea"/>
              </a:endParaRPr>
            </a:p>
          </p:txBody>
        </p:sp>
      </p:grpSp>
      <p:sp>
        <p:nvSpPr>
          <p:cNvPr id="18" name="矩形标注 17"/>
          <p:cNvSpPr/>
          <p:nvPr/>
        </p:nvSpPr>
        <p:spPr>
          <a:xfrm>
            <a:off x="5797551" y="1477434"/>
            <a:ext cx="1610784" cy="599017"/>
          </a:xfrm>
          <a:prstGeom prst="wedgeRectCallout">
            <a:avLst>
              <a:gd name="adj1" fmla="val 782"/>
              <a:gd name="adj2" fmla="val 90562"/>
            </a:avLst>
          </a:prstGeom>
          <a:ln>
            <a:no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defTabSz="1217476" fontAlgn="base">
              <a:spcBef>
                <a:spcPct val="0"/>
              </a:spcBef>
              <a:spcAft>
                <a:spcPct val="0"/>
              </a:spcAft>
              <a:defRPr/>
            </a:pPr>
            <a:r>
              <a:rPr lang="en-US" altLang="zh-CN" sz="1600" b="1" dirty="0">
                <a:solidFill>
                  <a:srgbClr val="FFFFFF"/>
                </a:solidFill>
                <a:latin typeface="+mj-ea"/>
                <a:ea typeface="+mj-ea"/>
                <a:cs typeface="微软雅黑" panose="020B0503020204020204" pitchFamily="34" charset="-122"/>
              </a:rPr>
              <a:t>IPS</a:t>
            </a:r>
            <a:endParaRPr lang="zh-CN" altLang="en-US" sz="1600" b="1" dirty="0">
              <a:solidFill>
                <a:srgbClr val="FFFFFF"/>
              </a:solidFill>
              <a:latin typeface="+mj-ea"/>
              <a:ea typeface="+mj-ea"/>
              <a:cs typeface="微软雅黑" panose="020B0503020204020204" pitchFamily="34" charset="-122"/>
            </a:endParaRPr>
          </a:p>
        </p:txBody>
      </p:sp>
      <p:sp>
        <p:nvSpPr>
          <p:cNvPr id="19" name="矩形标注 18"/>
          <p:cNvSpPr/>
          <p:nvPr/>
        </p:nvSpPr>
        <p:spPr>
          <a:xfrm>
            <a:off x="3416301" y="1477434"/>
            <a:ext cx="1680633" cy="599017"/>
          </a:xfrm>
          <a:prstGeom prst="wedgeRectCallout">
            <a:avLst>
              <a:gd name="adj1" fmla="val 782"/>
              <a:gd name="adj2" fmla="val 90562"/>
            </a:avLst>
          </a:prstGeom>
          <a:ln>
            <a:no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defTabSz="1217476" fontAlgn="base">
              <a:spcBef>
                <a:spcPct val="0"/>
              </a:spcBef>
              <a:spcAft>
                <a:spcPct val="0"/>
              </a:spcAft>
              <a:defRPr/>
            </a:pPr>
            <a:r>
              <a:rPr lang="en-US" altLang="zh-CN" sz="1600" b="1" dirty="0">
                <a:solidFill>
                  <a:srgbClr val="FFFFFF"/>
                </a:solidFill>
                <a:latin typeface="+mj-ea"/>
                <a:ea typeface="+mj-ea"/>
                <a:cs typeface="微软雅黑" panose="020B0503020204020204" pitchFamily="34" charset="-122"/>
              </a:rPr>
              <a:t>IPS</a:t>
            </a:r>
            <a:endParaRPr lang="zh-CN" altLang="en-US" sz="1600" b="1" dirty="0">
              <a:solidFill>
                <a:srgbClr val="FFFFFF"/>
              </a:solidFill>
              <a:latin typeface="+mj-ea"/>
              <a:ea typeface="+mj-ea"/>
              <a:cs typeface="微软雅黑" panose="020B0503020204020204" pitchFamily="34" charset="-122"/>
            </a:endParaRPr>
          </a:p>
        </p:txBody>
      </p:sp>
      <p:sp>
        <p:nvSpPr>
          <p:cNvPr id="20" name="Line 58"/>
          <p:cNvSpPr>
            <a:spLocks noChangeShapeType="1"/>
          </p:cNvSpPr>
          <p:nvPr/>
        </p:nvSpPr>
        <p:spPr bwMode="auto">
          <a:xfrm flipH="1">
            <a:off x="3119967" y="3141134"/>
            <a:ext cx="1007533" cy="1648884"/>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lIns="162491" tIns="81244" rIns="162491" bIns="81244"/>
          <a:lstStyle/>
          <a:p>
            <a:pPr defTabSz="1624713">
              <a:defRPr/>
            </a:pPr>
            <a:endParaRPr lang="zh-CN" altLang="en-US" sz="3200">
              <a:solidFill>
                <a:srgbClr val="000000"/>
              </a:solidFill>
              <a:latin typeface="+mj-ea"/>
              <a:ea typeface="+mj-ea"/>
            </a:endParaRPr>
          </a:p>
        </p:txBody>
      </p:sp>
      <p:sp>
        <p:nvSpPr>
          <p:cNvPr id="22" name="TextBox 26"/>
          <p:cNvSpPr txBox="1"/>
          <p:nvPr/>
        </p:nvSpPr>
        <p:spPr>
          <a:xfrm>
            <a:off x="3080167" y="3760731"/>
            <a:ext cx="1408340" cy="307777"/>
          </a:xfrm>
          <a:prstGeom prst="rect">
            <a:avLst/>
          </a:prstGeom>
          <a:noFill/>
          <a:scene3d>
            <a:camera prst="orthographicFront">
              <a:rot lat="1195241" lon="109017" rev="3619146"/>
            </a:camera>
            <a:lightRig rig="threePt" dir="t"/>
          </a:scene3d>
        </p:spPr>
        <p:txBody>
          <a:bodyPr>
            <a:spAutoFit/>
          </a:bodyPr>
          <a:lstStyle/>
          <a:p>
            <a:pPr defTabSz="1219170">
              <a:defRPr/>
            </a:pPr>
            <a:r>
              <a:rPr lang="zh-CN" altLang="en-US" sz="1400" dirty="0">
                <a:solidFill>
                  <a:schemeClr val="bg1"/>
                </a:solidFill>
                <a:latin typeface="+mj-ea"/>
                <a:ea typeface="+mj-ea"/>
              </a:rPr>
              <a:t>不齐套</a:t>
            </a:r>
          </a:p>
        </p:txBody>
      </p:sp>
      <p:sp>
        <p:nvSpPr>
          <p:cNvPr id="23" name="矩形 22"/>
          <p:cNvSpPr/>
          <p:nvPr/>
        </p:nvSpPr>
        <p:spPr>
          <a:xfrm>
            <a:off x="1079501" y="2093384"/>
            <a:ext cx="783167" cy="256545"/>
          </a:xfrm>
          <a:prstGeom prst="rect">
            <a:avLst/>
          </a:prstGeom>
          <a:solidFill>
            <a:schemeClr val="accent6"/>
          </a:solidFill>
        </p:spPr>
        <p:txBody>
          <a:bodyPr>
            <a:spAutoFit/>
          </a:bodyPr>
          <a:lstStyle/>
          <a:p>
            <a:pPr algn="ctr" defTabSz="1217476" fontAlgn="base">
              <a:spcBef>
                <a:spcPct val="0"/>
              </a:spcBef>
              <a:spcAft>
                <a:spcPct val="0"/>
              </a:spcAft>
              <a:defRPr/>
            </a:pPr>
            <a:r>
              <a:rPr lang="en-US" altLang="zh-CN" sz="1067" b="1" dirty="0">
                <a:solidFill>
                  <a:srgbClr val="FFFFFF"/>
                </a:solidFill>
                <a:latin typeface="+mj-ea"/>
                <a:ea typeface="+mj-ea"/>
                <a:cs typeface="Arial Unicode MS" charset="0"/>
              </a:rPr>
              <a:t>Cycle-1</a:t>
            </a:r>
            <a:endParaRPr lang="zh-CN" altLang="en-US" sz="1067" b="1">
              <a:solidFill>
                <a:srgbClr val="FFFFFF"/>
              </a:solidFill>
              <a:latin typeface="+mj-ea"/>
              <a:ea typeface="+mj-ea"/>
              <a:cs typeface="Arial Unicode MS" charset="0"/>
            </a:endParaRPr>
          </a:p>
        </p:txBody>
      </p:sp>
      <p:sp>
        <p:nvSpPr>
          <p:cNvPr id="24" name="矩形 23"/>
          <p:cNvSpPr/>
          <p:nvPr/>
        </p:nvSpPr>
        <p:spPr>
          <a:xfrm>
            <a:off x="1079501" y="2501900"/>
            <a:ext cx="783167" cy="256545"/>
          </a:xfrm>
          <a:prstGeom prst="rect">
            <a:avLst/>
          </a:prstGeom>
          <a:solidFill>
            <a:schemeClr val="accent6"/>
          </a:solidFill>
        </p:spPr>
        <p:txBody>
          <a:bodyPr>
            <a:spAutoFit/>
          </a:bodyPr>
          <a:lstStyle/>
          <a:p>
            <a:pPr algn="ctr" defTabSz="1217476" fontAlgn="base">
              <a:spcBef>
                <a:spcPct val="0"/>
              </a:spcBef>
              <a:spcAft>
                <a:spcPct val="0"/>
              </a:spcAft>
              <a:defRPr/>
            </a:pPr>
            <a:r>
              <a:rPr lang="en-US" altLang="zh-CN" sz="1067" b="1" dirty="0">
                <a:solidFill>
                  <a:srgbClr val="FFFFFF"/>
                </a:solidFill>
                <a:latin typeface="+mj-ea"/>
                <a:ea typeface="+mj-ea"/>
                <a:cs typeface="Arial Unicode MS" charset="0"/>
              </a:rPr>
              <a:t>Cycle-2</a:t>
            </a:r>
            <a:endParaRPr lang="zh-CN" altLang="en-US" sz="1067" b="1">
              <a:solidFill>
                <a:srgbClr val="FFFFFF"/>
              </a:solidFill>
              <a:latin typeface="+mj-ea"/>
              <a:ea typeface="+mj-ea"/>
              <a:cs typeface="Arial Unicode MS" charset="0"/>
            </a:endParaRPr>
          </a:p>
        </p:txBody>
      </p:sp>
      <p:sp>
        <p:nvSpPr>
          <p:cNvPr id="25" name="矩形 24"/>
          <p:cNvSpPr/>
          <p:nvPr/>
        </p:nvSpPr>
        <p:spPr>
          <a:xfrm>
            <a:off x="1079501" y="2914651"/>
            <a:ext cx="783167" cy="256545"/>
          </a:xfrm>
          <a:prstGeom prst="rect">
            <a:avLst/>
          </a:prstGeom>
          <a:solidFill>
            <a:schemeClr val="accent6"/>
          </a:solidFill>
        </p:spPr>
        <p:txBody>
          <a:bodyPr>
            <a:spAutoFit/>
          </a:bodyPr>
          <a:lstStyle/>
          <a:p>
            <a:pPr algn="ctr" defTabSz="1217476" fontAlgn="base">
              <a:spcBef>
                <a:spcPct val="0"/>
              </a:spcBef>
              <a:spcAft>
                <a:spcPct val="0"/>
              </a:spcAft>
              <a:defRPr/>
            </a:pPr>
            <a:r>
              <a:rPr lang="en-US" altLang="zh-CN" sz="1067" b="1" dirty="0">
                <a:solidFill>
                  <a:srgbClr val="FFFFFF"/>
                </a:solidFill>
                <a:latin typeface="+mj-ea"/>
                <a:ea typeface="+mj-ea"/>
                <a:cs typeface="Arial Unicode MS" charset="0"/>
              </a:rPr>
              <a:t>Cycle-3</a:t>
            </a:r>
            <a:endParaRPr lang="zh-CN" altLang="en-US" sz="1067" b="1">
              <a:solidFill>
                <a:srgbClr val="FFFFFF"/>
              </a:solidFill>
              <a:latin typeface="+mj-ea"/>
              <a:ea typeface="+mj-ea"/>
              <a:cs typeface="Arial Unicode MS" charset="0"/>
            </a:endParaRPr>
          </a:p>
        </p:txBody>
      </p:sp>
      <p:sp>
        <p:nvSpPr>
          <p:cNvPr id="26" name="矩形 25"/>
          <p:cNvSpPr/>
          <p:nvPr/>
        </p:nvSpPr>
        <p:spPr>
          <a:xfrm>
            <a:off x="4946651" y="2307168"/>
            <a:ext cx="1200149" cy="297454"/>
          </a:xfrm>
          <a:prstGeom prst="rect">
            <a:avLst/>
          </a:prstGeom>
          <a:solidFill>
            <a:srgbClr val="0070C0"/>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333" b="1" dirty="0">
                <a:solidFill>
                  <a:srgbClr val="FFFFFF"/>
                </a:solidFill>
                <a:latin typeface="+mj-ea"/>
                <a:ea typeface="+mj-ea"/>
              </a:rPr>
              <a:t>需求</a:t>
            </a:r>
            <a:r>
              <a:rPr lang="en-US" altLang="zh-CN" sz="1333" b="1" dirty="0">
                <a:solidFill>
                  <a:srgbClr val="FFFFFF"/>
                </a:solidFill>
                <a:latin typeface="+mj-ea"/>
                <a:ea typeface="+mj-ea"/>
              </a:rPr>
              <a:t>3</a:t>
            </a:r>
            <a:endParaRPr lang="zh-CN" altLang="en-US" sz="1333" b="1" dirty="0">
              <a:solidFill>
                <a:srgbClr val="FFFFFF"/>
              </a:solidFill>
              <a:latin typeface="+mj-ea"/>
              <a:ea typeface="+mj-ea"/>
            </a:endParaRPr>
          </a:p>
        </p:txBody>
      </p:sp>
      <p:cxnSp>
        <p:nvCxnSpPr>
          <p:cNvPr id="27" name="直接箭头连接符 30"/>
          <p:cNvCxnSpPr>
            <a:cxnSpLocks/>
            <a:stCxn id="32" idx="2"/>
          </p:cNvCxnSpPr>
          <p:nvPr/>
        </p:nvCxnSpPr>
        <p:spPr>
          <a:xfrm>
            <a:off x="5546727" y="2604061"/>
            <a:ext cx="6347" cy="882091"/>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8" name="矩形 27"/>
          <p:cNvSpPr/>
          <p:nvPr/>
        </p:nvSpPr>
        <p:spPr>
          <a:xfrm>
            <a:off x="6290733" y="2305489"/>
            <a:ext cx="1200151" cy="297454"/>
          </a:xfrm>
          <a:prstGeom prst="rect">
            <a:avLst/>
          </a:prstGeom>
          <a:solidFill>
            <a:srgbClr val="FF0000"/>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333" b="1" dirty="0">
                <a:solidFill>
                  <a:srgbClr val="FFFFFF"/>
                </a:solidFill>
                <a:latin typeface="+mj-ea"/>
                <a:ea typeface="+mj-ea"/>
              </a:rPr>
              <a:t>需求</a:t>
            </a:r>
            <a:r>
              <a:rPr lang="en-US" altLang="zh-CN" sz="1333" b="1" dirty="0">
                <a:solidFill>
                  <a:srgbClr val="FFFFFF"/>
                </a:solidFill>
                <a:latin typeface="+mj-ea"/>
                <a:ea typeface="+mj-ea"/>
              </a:rPr>
              <a:t>2</a:t>
            </a:r>
            <a:endParaRPr lang="zh-CN" altLang="en-US" sz="1333" b="1" dirty="0">
              <a:solidFill>
                <a:srgbClr val="FFFFFF"/>
              </a:solidFill>
              <a:latin typeface="+mj-ea"/>
              <a:ea typeface="+mj-ea"/>
            </a:endParaRPr>
          </a:p>
        </p:txBody>
      </p:sp>
      <p:sp>
        <p:nvSpPr>
          <p:cNvPr id="29" name="Line 58"/>
          <p:cNvSpPr>
            <a:spLocks noChangeShapeType="1"/>
          </p:cNvSpPr>
          <p:nvPr/>
        </p:nvSpPr>
        <p:spPr bwMode="auto">
          <a:xfrm flipH="1">
            <a:off x="3139017" y="3058584"/>
            <a:ext cx="3549651" cy="863600"/>
          </a:xfrm>
          <a:prstGeom prst="line">
            <a:avLst/>
          </a:prstGeom>
          <a:ln>
            <a:solidFill>
              <a:schemeClr val="bg1"/>
            </a:solidFill>
            <a:tailEnd type="triangle" w="med" len="med"/>
          </a:ln>
        </p:spPr>
        <p:style>
          <a:lnRef idx="2">
            <a:schemeClr val="accent1"/>
          </a:lnRef>
          <a:fillRef idx="0">
            <a:schemeClr val="accent1"/>
          </a:fillRef>
          <a:effectRef idx="1">
            <a:schemeClr val="accent1"/>
          </a:effectRef>
          <a:fontRef idx="minor">
            <a:schemeClr val="tx1"/>
          </a:fontRef>
        </p:style>
        <p:txBody>
          <a:bodyPr lIns="162491" tIns="81244" rIns="162491" bIns="81244"/>
          <a:lstStyle/>
          <a:p>
            <a:pPr defTabSz="1219170">
              <a:defRPr/>
            </a:pPr>
            <a:endParaRPr lang="zh-CN" altLang="en-US" sz="3200">
              <a:solidFill>
                <a:srgbClr val="000000"/>
              </a:solidFill>
              <a:latin typeface="+mj-ea"/>
              <a:ea typeface="+mj-ea"/>
            </a:endParaRPr>
          </a:p>
        </p:txBody>
      </p:sp>
      <p:sp>
        <p:nvSpPr>
          <p:cNvPr id="30" name="Line 58"/>
          <p:cNvSpPr>
            <a:spLocks noChangeShapeType="1"/>
          </p:cNvSpPr>
          <p:nvPr/>
        </p:nvSpPr>
        <p:spPr bwMode="auto">
          <a:xfrm flipH="1">
            <a:off x="6096000" y="3058584"/>
            <a:ext cx="575733" cy="863600"/>
          </a:xfrm>
          <a:prstGeom prst="line">
            <a:avLst/>
          </a:prstGeom>
          <a:ln>
            <a:solidFill>
              <a:schemeClr val="bg1"/>
            </a:solidFill>
            <a:tailEnd type="triangle" w="med" len="med"/>
          </a:ln>
        </p:spPr>
        <p:style>
          <a:lnRef idx="2">
            <a:schemeClr val="accent1"/>
          </a:lnRef>
          <a:fillRef idx="0">
            <a:schemeClr val="accent1"/>
          </a:fillRef>
          <a:effectRef idx="1">
            <a:schemeClr val="accent1"/>
          </a:effectRef>
          <a:fontRef idx="minor">
            <a:schemeClr val="tx1"/>
          </a:fontRef>
        </p:style>
        <p:txBody>
          <a:bodyPr lIns="162491" tIns="81244" rIns="162491" bIns="81244"/>
          <a:lstStyle/>
          <a:p>
            <a:pPr defTabSz="1219170">
              <a:defRPr/>
            </a:pPr>
            <a:endParaRPr lang="zh-CN" altLang="en-US" sz="3200">
              <a:solidFill>
                <a:srgbClr val="000000"/>
              </a:solidFill>
              <a:latin typeface="+mj-ea"/>
              <a:ea typeface="+mj-ea"/>
            </a:endParaRPr>
          </a:p>
        </p:txBody>
      </p:sp>
      <p:sp>
        <p:nvSpPr>
          <p:cNvPr id="31" name="TextBox 48"/>
          <p:cNvSpPr txBox="1"/>
          <p:nvPr/>
        </p:nvSpPr>
        <p:spPr>
          <a:xfrm>
            <a:off x="8293100" y="2042584"/>
            <a:ext cx="3877733" cy="1364348"/>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733" b="1" dirty="0">
                <a:solidFill>
                  <a:schemeClr val="bg1"/>
                </a:solidFill>
                <a:latin typeface="+mj-ea"/>
                <a:ea typeface="+mj-ea"/>
              </a:rPr>
              <a:t>交付计划</a:t>
            </a:r>
            <a:r>
              <a:rPr lang="en-US" altLang="zh-CN" sz="1733" b="1" dirty="0">
                <a:solidFill>
                  <a:schemeClr val="bg1"/>
                </a:solidFill>
                <a:latin typeface="+mj-ea"/>
                <a:ea typeface="+mj-ea"/>
              </a:rPr>
              <a:t>:</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3 </a:t>
            </a:r>
            <a:r>
              <a:rPr lang="zh-CN" altLang="en-US" sz="1600" dirty="0">
                <a:solidFill>
                  <a:schemeClr val="bg1"/>
                </a:solidFill>
                <a:latin typeface="+mj-ea"/>
                <a:ea typeface="+mj-ea"/>
              </a:rPr>
              <a:t>短缺</a:t>
            </a:r>
            <a:r>
              <a:rPr lang="en-US" altLang="zh-CN" sz="1600" dirty="0">
                <a:solidFill>
                  <a:schemeClr val="bg1"/>
                </a:solidFill>
                <a:latin typeface="+mj-ea"/>
                <a:ea typeface="+mj-ea"/>
              </a:rPr>
              <a:t>.</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2 </a:t>
            </a:r>
            <a:r>
              <a:rPr lang="zh-CN" altLang="en-US" sz="1600" dirty="0">
                <a:solidFill>
                  <a:schemeClr val="bg1"/>
                </a:solidFill>
                <a:latin typeface="+mj-ea"/>
                <a:ea typeface="+mj-ea"/>
              </a:rPr>
              <a:t>依赖计划到货</a:t>
            </a:r>
            <a:r>
              <a:rPr lang="en-US" altLang="zh-CN" sz="1600" dirty="0">
                <a:solidFill>
                  <a:schemeClr val="bg1"/>
                </a:solidFill>
                <a:latin typeface="+mj-ea"/>
                <a:ea typeface="+mj-ea"/>
              </a:rPr>
              <a:t>C</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1 </a:t>
            </a:r>
            <a:r>
              <a:rPr lang="zh-CN" altLang="en-US" sz="1600" dirty="0">
                <a:solidFill>
                  <a:schemeClr val="bg1"/>
                </a:solidFill>
                <a:latin typeface="+mj-ea"/>
                <a:ea typeface="+mj-ea"/>
              </a:rPr>
              <a:t>短缺</a:t>
            </a:r>
            <a:r>
              <a:rPr lang="en-US" altLang="zh-CN" sz="1600" dirty="0">
                <a:solidFill>
                  <a:schemeClr val="bg1"/>
                </a:solidFill>
                <a:latin typeface="+mj-ea"/>
                <a:ea typeface="+mj-ea"/>
              </a:rPr>
              <a:t>.</a:t>
            </a:r>
          </a:p>
          <a:p>
            <a:pPr marL="0" indent="0" defTabSz="1217476" eaLnBrk="1" hangingPunct="1">
              <a:spcBef>
                <a:spcPct val="0"/>
              </a:spcBef>
            </a:pPr>
            <a:endParaRPr lang="en-US" altLang="zh-CN" sz="1733" b="1" dirty="0">
              <a:solidFill>
                <a:schemeClr val="bg1"/>
              </a:solidFill>
              <a:latin typeface="+mj-ea"/>
              <a:ea typeface="+mj-ea"/>
            </a:endParaRPr>
          </a:p>
        </p:txBody>
      </p:sp>
      <p:sp>
        <p:nvSpPr>
          <p:cNvPr id="32" name="矩形 31"/>
          <p:cNvSpPr/>
          <p:nvPr/>
        </p:nvSpPr>
        <p:spPr>
          <a:xfrm>
            <a:off x="4946651" y="2306607"/>
            <a:ext cx="1200151" cy="297454"/>
          </a:xfrm>
          <a:prstGeom prst="rect">
            <a:avLst/>
          </a:prstGeom>
          <a:solidFill>
            <a:schemeClr val="accent6"/>
          </a:solidFill>
        </p:spPr>
        <p:txBody>
          <a:bodyPr>
            <a:spAutoFit/>
          </a:bodyPr>
          <a:lstStyle/>
          <a:p>
            <a:pPr algn="ctr" defTabSz="1217476" fontAlgn="base">
              <a:spcBef>
                <a:spcPct val="0"/>
              </a:spcBef>
              <a:spcAft>
                <a:spcPct val="0"/>
              </a:spcAft>
              <a:defRPr/>
            </a:pPr>
            <a:r>
              <a:rPr lang="zh-CN" altLang="en-US" sz="1333" b="1" dirty="0">
                <a:solidFill>
                  <a:srgbClr val="FFFFFF"/>
                </a:solidFill>
                <a:latin typeface="+mj-ea"/>
                <a:ea typeface="+mj-ea"/>
                <a:cs typeface="微软雅黑" panose="020B0503020204020204" pitchFamily="34" charset="-122"/>
              </a:rPr>
              <a:t>需求</a:t>
            </a:r>
            <a:r>
              <a:rPr lang="en-US" altLang="zh-CN" sz="1333" b="1" dirty="0">
                <a:solidFill>
                  <a:srgbClr val="FFFFFF"/>
                </a:solidFill>
                <a:latin typeface="+mj-ea"/>
                <a:ea typeface="+mj-ea"/>
                <a:cs typeface="微软雅黑" panose="020B0503020204020204" pitchFamily="34" charset="-122"/>
              </a:rPr>
              <a:t>3</a:t>
            </a:r>
            <a:endParaRPr lang="zh-CN" altLang="en-US" sz="1333" b="1" dirty="0">
              <a:solidFill>
                <a:srgbClr val="FFFFFF"/>
              </a:solidFill>
              <a:latin typeface="+mj-ea"/>
              <a:ea typeface="+mj-ea"/>
              <a:cs typeface="微软雅黑" panose="020B0503020204020204" pitchFamily="34" charset="-122"/>
            </a:endParaRPr>
          </a:p>
        </p:txBody>
      </p:sp>
      <p:sp>
        <p:nvSpPr>
          <p:cNvPr id="33" name="TextBox 8"/>
          <p:cNvSpPr txBox="1"/>
          <p:nvPr/>
        </p:nvSpPr>
        <p:spPr>
          <a:xfrm>
            <a:off x="4334934" y="2628303"/>
            <a:ext cx="1056216" cy="420756"/>
          </a:xfrm>
          <a:prstGeom prst="rect">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067" b="1" dirty="0">
                <a:solidFill>
                  <a:schemeClr val="bg1"/>
                </a:solidFill>
                <a:latin typeface="+mj-ea"/>
                <a:ea typeface="+mj-ea"/>
              </a:rPr>
              <a:t>重新分配物料和资源</a:t>
            </a:r>
          </a:p>
        </p:txBody>
      </p:sp>
      <p:sp>
        <p:nvSpPr>
          <p:cNvPr id="34" name="Line 58"/>
          <p:cNvSpPr>
            <a:spLocks noChangeShapeType="1"/>
          </p:cNvSpPr>
          <p:nvPr/>
        </p:nvSpPr>
        <p:spPr bwMode="auto">
          <a:xfrm flipH="1">
            <a:off x="3139016" y="3049059"/>
            <a:ext cx="2452801" cy="873125"/>
          </a:xfrm>
          <a:prstGeom prst="line">
            <a:avLst/>
          </a:prstGeom>
          <a:ln>
            <a:solidFill>
              <a:schemeClr val="bg1"/>
            </a:solidFill>
            <a:tailEnd type="triangle" w="med" len="med"/>
          </a:ln>
        </p:spPr>
        <p:style>
          <a:lnRef idx="2">
            <a:schemeClr val="accent1"/>
          </a:lnRef>
          <a:fillRef idx="0">
            <a:schemeClr val="accent1"/>
          </a:fillRef>
          <a:effectRef idx="1">
            <a:schemeClr val="accent1"/>
          </a:effectRef>
          <a:fontRef idx="minor">
            <a:schemeClr val="tx1"/>
          </a:fontRef>
        </p:style>
        <p:txBody>
          <a:bodyPr lIns="162491" tIns="81244" rIns="162491" bIns="81244"/>
          <a:lstStyle/>
          <a:p>
            <a:pPr defTabSz="1219170">
              <a:defRPr/>
            </a:pPr>
            <a:endParaRPr lang="zh-CN" altLang="en-US" sz="3200">
              <a:solidFill>
                <a:srgbClr val="000000"/>
              </a:solidFill>
              <a:latin typeface="+mj-ea"/>
              <a:ea typeface="+mj-ea"/>
            </a:endParaRPr>
          </a:p>
        </p:txBody>
      </p:sp>
      <p:sp>
        <p:nvSpPr>
          <p:cNvPr id="35" name="Line 58"/>
          <p:cNvSpPr>
            <a:spLocks noChangeShapeType="1"/>
          </p:cNvSpPr>
          <p:nvPr/>
        </p:nvSpPr>
        <p:spPr bwMode="auto">
          <a:xfrm flipH="1">
            <a:off x="3139016" y="3058023"/>
            <a:ext cx="2448983" cy="1676961"/>
          </a:xfrm>
          <a:prstGeom prst="line">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txBody>
          <a:bodyPr lIns="162491" tIns="81244" rIns="162491" bIns="81244"/>
          <a:lstStyle/>
          <a:p>
            <a:pPr defTabSz="1219170">
              <a:defRPr/>
            </a:pPr>
            <a:endParaRPr lang="zh-CN" altLang="en-US" sz="3200">
              <a:solidFill>
                <a:srgbClr val="000000"/>
              </a:solidFill>
              <a:latin typeface="+mj-ea"/>
              <a:ea typeface="+mj-ea"/>
            </a:endParaRPr>
          </a:p>
        </p:txBody>
      </p:sp>
      <p:sp>
        <p:nvSpPr>
          <p:cNvPr id="36" name="TextBox 56"/>
          <p:cNvSpPr txBox="1"/>
          <p:nvPr/>
        </p:nvSpPr>
        <p:spPr>
          <a:xfrm>
            <a:off x="8312151" y="889001"/>
            <a:ext cx="3877733" cy="1364348"/>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733" b="1" dirty="0">
                <a:solidFill>
                  <a:schemeClr val="bg1"/>
                </a:solidFill>
                <a:latin typeface="+mj-ea"/>
                <a:ea typeface="+mj-ea"/>
              </a:rPr>
              <a:t>交付计划</a:t>
            </a:r>
            <a:r>
              <a:rPr lang="en-US" altLang="zh-CN" sz="1733" b="1" dirty="0">
                <a:solidFill>
                  <a:schemeClr val="bg1"/>
                </a:solidFill>
                <a:latin typeface="+mj-ea"/>
                <a:ea typeface="+mj-ea"/>
              </a:rPr>
              <a:t>:</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3  : Today</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2 </a:t>
            </a:r>
            <a:r>
              <a:rPr lang="zh-CN" altLang="en-US" sz="1600" dirty="0">
                <a:solidFill>
                  <a:schemeClr val="bg1"/>
                </a:solidFill>
                <a:latin typeface="+mj-ea"/>
                <a:ea typeface="+mj-ea"/>
              </a:rPr>
              <a:t>短缺补货</a:t>
            </a:r>
            <a:r>
              <a:rPr lang="en-US" altLang="zh-CN" sz="1600" dirty="0">
                <a:solidFill>
                  <a:schemeClr val="bg1"/>
                </a:solidFill>
                <a:latin typeface="+mj-ea"/>
                <a:ea typeface="+mj-ea"/>
              </a:rPr>
              <a:t>.</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短缺补货</a:t>
            </a:r>
            <a:r>
              <a:rPr lang="en-US" altLang="zh-CN" sz="1600" dirty="0">
                <a:solidFill>
                  <a:schemeClr val="bg1"/>
                </a:solidFill>
                <a:latin typeface="+mj-ea"/>
                <a:ea typeface="+mj-ea"/>
              </a:rPr>
              <a:t>.</a:t>
            </a:r>
          </a:p>
          <a:p>
            <a:pPr marL="0" indent="0" defTabSz="1217476" eaLnBrk="1" hangingPunct="1">
              <a:spcBef>
                <a:spcPct val="0"/>
              </a:spcBef>
            </a:pPr>
            <a:endParaRPr lang="en-US" altLang="zh-CN" sz="1733" b="1" dirty="0">
              <a:solidFill>
                <a:schemeClr val="bg1"/>
              </a:solidFill>
              <a:latin typeface="+mj-ea"/>
              <a:ea typeface="+mj-ea"/>
            </a:endParaRPr>
          </a:p>
        </p:txBody>
      </p:sp>
      <p:sp>
        <p:nvSpPr>
          <p:cNvPr id="37" name="文本框 36"/>
          <p:cNvSpPr txBox="1"/>
          <p:nvPr/>
        </p:nvSpPr>
        <p:spPr>
          <a:xfrm>
            <a:off x="6989233" y="2575985"/>
            <a:ext cx="1303867" cy="420756"/>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067" b="1" dirty="0">
                <a:solidFill>
                  <a:schemeClr val="bg1"/>
                </a:solidFill>
                <a:latin typeface="+mj-ea"/>
                <a:ea typeface="+mj-ea"/>
              </a:rPr>
              <a:t>已经的需求具备较高的优先级</a:t>
            </a:r>
          </a:p>
        </p:txBody>
      </p:sp>
      <p:sp>
        <p:nvSpPr>
          <p:cNvPr id="39" name="圆角矩形 38"/>
          <p:cNvSpPr/>
          <p:nvPr/>
        </p:nvSpPr>
        <p:spPr>
          <a:xfrm>
            <a:off x="7556501" y="3947584"/>
            <a:ext cx="4127500" cy="2347384"/>
          </a:xfrm>
          <a:prstGeom prst="round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defTabSz="1217476" fontAlgn="base">
              <a:spcBef>
                <a:spcPct val="0"/>
              </a:spcBef>
              <a:spcAft>
                <a:spcPct val="0"/>
              </a:spcAft>
              <a:defRPr/>
            </a:pPr>
            <a:r>
              <a:rPr lang="zh-CN" altLang="en-US" sz="1600" b="1" dirty="0">
                <a:solidFill>
                  <a:schemeClr val="bg1"/>
                </a:solidFill>
                <a:latin typeface="+mj-ea"/>
                <a:ea typeface="+mj-ea"/>
                <a:cs typeface="Arial Unicode MS" charset="0"/>
              </a:rPr>
              <a:t>统一优先级规则</a:t>
            </a:r>
            <a:r>
              <a:rPr lang="en-US" altLang="zh-CN" sz="1600" dirty="0">
                <a:solidFill>
                  <a:schemeClr val="bg1"/>
                </a:solidFill>
                <a:latin typeface="+mj-ea"/>
                <a:ea typeface="+mj-ea"/>
                <a:cs typeface="Arial Unicode MS" charset="0"/>
              </a:rPr>
              <a:t>(w/CTP, delivery priority, create date, RSD, qty).</a:t>
            </a:r>
          </a:p>
          <a:p>
            <a:pPr defTabSz="1217476" fontAlgn="base">
              <a:spcBef>
                <a:spcPct val="0"/>
              </a:spcBef>
              <a:spcAft>
                <a:spcPct val="0"/>
              </a:spcAft>
              <a:defRPr/>
            </a:pPr>
            <a:r>
              <a:rPr lang="zh-CN" altLang="en-US" sz="1600" b="1" dirty="0">
                <a:solidFill>
                  <a:schemeClr val="bg1"/>
                </a:solidFill>
                <a:latin typeface="+mj-ea"/>
                <a:ea typeface="+mj-ea"/>
                <a:cs typeface="Arial Unicode MS" charset="0"/>
              </a:rPr>
              <a:t>重新分配物料和资源到相应需求</a:t>
            </a:r>
            <a:r>
              <a:rPr lang="en-US" altLang="zh-CN" sz="1600" dirty="0">
                <a:solidFill>
                  <a:schemeClr val="bg1"/>
                </a:solidFill>
                <a:latin typeface="+mj-ea"/>
                <a:ea typeface="+mj-ea"/>
                <a:cs typeface="Arial Unicode MS" charset="0"/>
              </a:rPr>
              <a:t>, </a:t>
            </a:r>
            <a:r>
              <a:rPr lang="zh-CN" altLang="en-US" sz="1600" b="1" dirty="0">
                <a:solidFill>
                  <a:schemeClr val="bg1"/>
                </a:solidFill>
                <a:latin typeface="+mj-ea"/>
                <a:ea typeface="+mj-ea"/>
                <a:cs typeface="Arial Unicode MS" charset="0"/>
              </a:rPr>
              <a:t>而不是插队</a:t>
            </a:r>
            <a:endParaRPr lang="zh-CN" altLang="en-US" sz="2000" b="1" dirty="0">
              <a:solidFill>
                <a:schemeClr val="bg1"/>
              </a:solidFill>
              <a:latin typeface="+mj-ea"/>
              <a:ea typeface="+mj-ea"/>
              <a:cs typeface="Arial Unicode MS" charset="0"/>
            </a:endParaRPr>
          </a:p>
        </p:txBody>
      </p:sp>
      <p:sp>
        <p:nvSpPr>
          <p:cNvPr id="11" name="文本框 7">
            <a:extLst>
              <a:ext uri="{FF2B5EF4-FFF2-40B4-BE49-F238E27FC236}">
                <a16:creationId xmlns:a16="http://schemas.microsoft.com/office/drawing/2014/main" id="{10096E1D-BA05-DF0F-D668-9ED24E94B8EB}"/>
              </a:ext>
            </a:extLst>
          </p:cNvPr>
          <p:cNvSpPr txBox="1"/>
          <p:nvPr/>
        </p:nvSpPr>
        <p:spPr>
          <a:xfrm>
            <a:off x="10459100" y="3365840"/>
            <a:ext cx="1302564" cy="338554"/>
          </a:xfrm>
          <a:prstGeom prst="rect">
            <a:avLst/>
          </a:prstGeom>
          <a:noFill/>
        </p:spPr>
        <p:txBody>
          <a:bodyPr wrap="square" rtlCol="0">
            <a:spAutoFit/>
          </a:bodyPr>
          <a:lstStyle>
            <a:defPPr>
              <a:defRPr lang="zh-CN"/>
            </a:defPPr>
            <a:lvl1pPr marL="0" lvl="0"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1pPr>
            <a:lvl2pPr marL="457200" lvl="1"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2pPr>
            <a:lvl3pPr marL="914400" lvl="2"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3pPr>
            <a:lvl4pPr marL="1371600" lvl="3"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4pPr>
            <a:lvl5pPr marL="1828800" lvl="4"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5pPr>
            <a:lvl6pPr marL="2286000" lvl="5"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6pPr>
            <a:lvl7pPr marL="2743200" lvl="6"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7pPr>
            <a:lvl8pPr marL="3200400" lvl="7"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8pPr>
            <a:lvl9pPr marL="3657600" lvl="8"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9pPr>
          </a:lstStyle>
          <a:p>
            <a:r>
              <a:rPr lang="zh-CN" altLang="en-US" sz="1600" dirty="0">
                <a:solidFill>
                  <a:schemeClr val="bg1"/>
                </a:solidFill>
                <a:latin typeface="+mj-ea"/>
                <a:ea typeface="+mj-ea"/>
              </a:rPr>
              <a:t>需求日期</a:t>
            </a:r>
          </a:p>
        </p:txBody>
      </p:sp>
      <p:sp>
        <p:nvSpPr>
          <p:cNvPr id="8" name="Title 37">
            <a:extLst>
              <a:ext uri="{FF2B5EF4-FFF2-40B4-BE49-F238E27FC236}">
                <a16:creationId xmlns:a16="http://schemas.microsoft.com/office/drawing/2014/main" id="{7C63B281-DF3E-C9DD-B54F-0DD0E9919195}"/>
              </a:ext>
            </a:extLst>
          </p:cNvPr>
          <p:cNvSpPr>
            <a:spLocks noGrp="1"/>
          </p:cNvSpPr>
          <p:nvPr>
            <p:ph type="title" idx="4294967295"/>
          </p:nvPr>
        </p:nvSpPr>
        <p:spPr>
          <a:xfrm>
            <a:off x="1120775" y="227013"/>
            <a:ext cx="11071225" cy="520700"/>
          </a:xfrm>
          <a:prstGeom prst="rect">
            <a:avLst/>
          </a:prstGeom>
        </p:spPr>
        <p:txBody>
          <a:bodyPr vert="horz" wrap="square" lIns="121920" tIns="60960" rIns="121920" bIns="60960" anchor="ctr" anchorCtr="0">
            <a:normAutofit/>
          </a:bodyPr>
          <a:lstStyle/>
          <a:p>
            <a:pPr eaLnBrk="1" hangingPunct="1"/>
            <a:r>
              <a:rPr lang="zh-CN" altLang="en-US" b="1" dirty="0">
                <a:solidFill>
                  <a:schemeClr val="bg1"/>
                </a:solidFill>
                <a:latin typeface="+mj-ea"/>
              </a:rPr>
              <a:t>场景</a:t>
            </a:r>
            <a:r>
              <a:rPr lang="en-US" altLang="zh-CN" b="1" dirty="0">
                <a:solidFill>
                  <a:schemeClr val="bg1"/>
                </a:solidFill>
                <a:latin typeface="+mj-ea"/>
              </a:rPr>
              <a:t> #2: </a:t>
            </a:r>
            <a:r>
              <a:rPr lang="zh-CN" altLang="en-US" dirty="0">
                <a:solidFill>
                  <a:schemeClr val="bg1"/>
                </a:solidFill>
                <a:latin typeface="+mj-ea"/>
              </a:rPr>
              <a:t>挑战</a:t>
            </a:r>
            <a:r>
              <a:rPr lang="en-US" altLang="zh-CN" b="1" dirty="0">
                <a:solidFill>
                  <a:schemeClr val="bg1"/>
                </a:solidFill>
                <a:latin typeface="+mj-ea"/>
              </a:rPr>
              <a:t>E</a:t>
            </a:r>
          </a:p>
        </p:txBody>
      </p:sp>
      <p:sp>
        <p:nvSpPr>
          <p:cNvPr id="12" name="TextBox 43">
            <a:extLst>
              <a:ext uri="{FF2B5EF4-FFF2-40B4-BE49-F238E27FC236}">
                <a16:creationId xmlns:a16="http://schemas.microsoft.com/office/drawing/2014/main" id="{1715E7C4-3775-BAFC-6317-3B4AD11BE620}"/>
              </a:ext>
            </a:extLst>
          </p:cNvPr>
          <p:cNvSpPr txBox="1"/>
          <p:nvPr/>
        </p:nvSpPr>
        <p:spPr>
          <a:xfrm>
            <a:off x="895351" y="5473671"/>
            <a:ext cx="5520267" cy="1138751"/>
          </a:xfrm>
          <a:prstGeom prst="rect">
            <a:avLst/>
          </a:prstGeom>
          <a:noFill/>
        </p:spPr>
        <p:txBody>
          <a:bodyPr lIns="121899" tIns="60949" rIns="121899" bIns="60949">
            <a:spAutoFit/>
          </a:bodyPr>
          <a:lstStyle>
            <a:defPPr>
              <a:defRPr lang="en-US"/>
            </a:defPPr>
            <a:lvl1pPr>
              <a:defRPr sz="1400" b="1">
                <a:latin typeface="Century Gothic" panose="020B0502020202020204" pitchFamily="34" charset="0"/>
                <a:ea typeface="微软雅黑" panose="020B0503020204020204" pitchFamily="34" charset="-122"/>
              </a:defRPr>
            </a:lvl1pPr>
          </a:lstStyle>
          <a:p>
            <a:pPr defTabSz="1219170">
              <a:defRPr/>
            </a:pPr>
            <a:r>
              <a:rPr lang="zh-CN" altLang="en-US" sz="1600" dirty="0">
                <a:solidFill>
                  <a:schemeClr val="bg1"/>
                </a:solidFill>
                <a:latin typeface="+mj-ea"/>
                <a:ea typeface="+mj-ea"/>
              </a:rPr>
              <a:t>场景：</a:t>
            </a:r>
            <a:endParaRPr lang="en-US" altLang="zh-CN" sz="1600" dirty="0">
              <a:solidFill>
                <a:schemeClr val="bg1"/>
              </a:solidFill>
              <a:latin typeface="+mj-ea"/>
              <a:ea typeface="+mj-ea"/>
            </a:endParaRPr>
          </a:p>
          <a:p>
            <a:pPr marL="742950" lvl="1" indent="-285750"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和需求</a:t>
            </a:r>
            <a:r>
              <a:rPr lang="en-US" altLang="zh-CN" sz="1600" dirty="0">
                <a:solidFill>
                  <a:schemeClr val="bg1"/>
                </a:solidFill>
                <a:latin typeface="+mj-ea"/>
                <a:ea typeface="+mj-ea"/>
              </a:rPr>
              <a:t>3</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B</a:t>
            </a:r>
            <a:r>
              <a:rPr lang="zh-CN" altLang="en-US" sz="1600" dirty="0">
                <a:solidFill>
                  <a:schemeClr val="bg1"/>
                </a:solidFill>
                <a:latin typeface="+mj-ea"/>
                <a:ea typeface="+mj-ea"/>
              </a:rPr>
              <a:t>生产</a:t>
            </a:r>
            <a:r>
              <a:rPr lang="en-US" altLang="zh-CN" sz="1600" dirty="0">
                <a:solidFill>
                  <a:schemeClr val="bg1"/>
                </a:solidFill>
                <a:latin typeface="+mj-ea"/>
                <a:ea typeface="+mj-ea"/>
              </a:rPr>
              <a:t>.</a:t>
            </a:r>
          </a:p>
          <a:p>
            <a:pPr marL="742950" lvl="1" indent="-285750" defTabSz="1219170">
              <a:buFont typeface="Arial" panose="020B0604020202020204" pitchFamily="34" charset="0"/>
              <a:buChar char="•"/>
              <a:defRPr/>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C</a:t>
            </a:r>
            <a:r>
              <a:rPr lang="zh-CN" altLang="en-US" sz="1600" dirty="0">
                <a:solidFill>
                  <a:schemeClr val="bg1"/>
                </a:solidFill>
                <a:latin typeface="+mj-ea"/>
                <a:ea typeface="+mj-ea"/>
              </a:rPr>
              <a:t>生产</a:t>
            </a:r>
            <a:endParaRPr lang="en-US" altLang="zh-CN" sz="1600" dirty="0">
              <a:solidFill>
                <a:schemeClr val="bg1"/>
              </a:solidFill>
              <a:latin typeface="+mj-ea"/>
              <a:ea typeface="+mj-ea"/>
            </a:endParaRPr>
          </a:p>
          <a:p>
            <a:pPr marL="742950" lvl="1" indent="-285750" defTabSz="1219170">
              <a:buFont typeface="Arial" panose="020B0604020202020204" pitchFamily="34" charset="0"/>
              <a:buChar char="•"/>
              <a:defRPr/>
            </a:pPr>
            <a:r>
              <a:rPr lang="zh-CN" altLang="en-US" sz="1600" dirty="0">
                <a:solidFill>
                  <a:schemeClr val="bg1"/>
                </a:solidFill>
                <a:latin typeface="+mj-ea"/>
                <a:ea typeface="+mj-ea"/>
              </a:rPr>
              <a:t>优先级：需求</a:t>
            </a:r>
            <a:r>
              <a:rPr lang="en-US" altLang="zh-CN" sz="1600" dirty="0">
                <a:solidFill>
                  <a:schemeClr val="bg1"/>
                </a:solidFill>
                <a:latin typeface="+mj-ea"/>
                <a:ea typeface="+mj-ea"/>
              </a:rPr>
              <a:t>3&gt;</a:t>
            </a:r>
            <a:r>
              <a:rPr lang="zh-CN" altLang="en-US" sz="1600" dirty="0">
                <a:solidFill>
                  <a:schemeClr val="bg1"/>
                </a:solidFill>
                <a:latin typeface="+mj-ea"/>
                <a:ea typeface="+mj-ea"/>
              </a:rPr>
              <a:t>需求</a:t>
            </a:r>
            <a:r>
              <a:rPr lang="en-US" altLang="zh-CN" sz="1600" dirty="0">
                <a:solidFill>
                  <a:schemeClr val="bg1"/>
                </a:solidFill>
                <a:latin typeface="+mj-ea"/>
                <a:ea typeface="+mj-ea"/>
              </a:rPr>
              <a:t>2&gt;</a:t>
            </a:r>
            <a:r>
              <a:rPr lang="zh-CN" altLang="en-US" sz="1600" dirty="0">
                <a:solidFill>
                  <a:schemeClr val="bg1"/>
                </a:solidFill>
                <a:latin typeface="+mj-ea"/>
                <a:ea typeface="+mj-ea"/>
              </a:rPr>
              <a:t>需求</a:t>
            </a:r>
            <a:r>
              <a:rPr lang="en-US" altLang="zh-CN" sz="1600" dirty="0">
                <a:solidFill>
                  <a:schemeClr val="bg1"/>
                </a:solidFill>
                <a:latin typeface="+mj-ea"/>
                <a:ea typeface="+mj-ea"/>
              </a:rPr>
              <a:t>1</a:t>
            </a:r>
          </a:p>
        </p:txBody>
      </p:sp>
    </p:spTree>
    <p:custDataLst>
      <p:tags r:id="rId1"/>
    </p:custData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1" nodeType="click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childTnLst>
                          </p:cTn>
                        </p:par>
                        <p:par>
                          <p:cTn id="14" fill="hold">
                            <p:stCondLst>
                              <p:cond delay="500"/>
                            </p:stCondLst>
                            <p:childTnLst>
                              <p:par>
                                <p:cTn id="15" presetID="26" presetClass="emph" presetSubtype="0" fill="hold" grpId="0" nodeType="afterEffect">
                                  <p:stCondLst>
                                    <p:cond delay="0"/>
                                  </p:stCondLst>
                                  <p:childTnLst>
                                    <p:animEffect transition="out" filter="fade">
                                      <p:cBhvr>
                                        <p:cTn id="16" dur="500" tmFilter="0, 0; .2, .5; .8, .5; 1, 0"/>
                                        <p:tgtEl>
                                          <p:spTgt spid="18"/>
                                        </p:tgtEl>
                                      </p:cBhvr>
                                    </p:animEffect>
                                    <p:animScale>
                                      <p:cBhvr>
                                        <p:cTn id="17" dur="250" autoRev="1" fill="hold"/>
                                        <p:tgtEl>
                                          <p:spTgt spid="18"/>
                                        </p:tgtEl>
                                      </p:cBhvr>
                                      <p:by x="105000" y="105000"/>
                                    </p:animScale>
                                  </p:childTnLst>
                                </p:cTn>
                              </p:par>
                            </p:childTnLst>
                          </p:cTn>
                        </p:par>
                      </p:childTnLst>
                    </p:cTn>
                  </p:par>
                  <p:par>
                    <p:cTn id="18" fill="hold">
                      <p:stCondLst>
                        <p:cond delay="indefinite"/>
                      </p:stCondLst>
                      <p:childTnLst>
                        <p:par>
                          <p:cTn id="19" fill="hold">
                            <p:stCondLst>
                              <p:cond delay="0"/>
                            </p:stCondLst>
                            <p:childTnLst>
                              <p:par>
                                <p:cTn id="20" presetID="23" presetClass="entr" presetSubtype="16" fill="hold" nodeType="clickEffect">
                                  <p:stCondLst>
                                    <p:cond delay="0"/>
                                  </p:stCondLst>
                                  <p:childTnLst>
                                    <p:set>
                                      <p:cBhvr>
                                        <p:cTn id="21" dur="1" fill="hold">
                                          <p:stCondLst>
                                            <p:cond delay="0"/>
                                          </p:stCondLst>
                                        </p:cTn>
                                        <p:tgtEl>
                                          <p:spTgt spid="13"/>
                                        </p:tgtEl>
                                        <p:attrNameLst>
                                          <p:attrName>style.visibility</p:attrName>
                                        </p:attrNameLst>
                                      </p:cBhvr>
                                      <p:to>
                                        <p:strVal val="visible"/>
                                      </p:to>
                                    </p:set>
                                    <p:anim calcmode="lin" valueType="num">
                                      <p:cBhvr>
                                        <p:cTn id="22" dur="500" fill="hold"/>
                                        <p:tgtEl>
                                          <p:spTgt spid="13"/>
                                        </p:tgtEl>
                                        <p:attrNameLst>
                                          <p:attrName>ppt_w</p:attrName>
                                        </p:attrNameLst>
                                      </p:cBhvr>
                                      <p:tavLst>
                                        <p:tav tm="0">
                                          <p:val>
                                            <p:fltVal val="0"/>
                                          </p:val>
                                        </p:tav>
                                        <p:tav tm="100000">
                                          <p:val>
                                            <p:strVal val="#ppt_w"/>
                                          </p:val>
                                        </p:tav>
                                      </p:tavLst>
                                    </p:anim>
                                    <p:anim calcmode="lin" valueType="num">
                                      <p:cBhvr>
                                        <p:cTn id="23" dur="500" fill="hold"/>
                                        <p:tgtEl>
                                          <p:spTgt spid="13"/>
                                        </p:tgtEl>
                                        <p:attrNameLst>
                                          <p:attrName>ppt_h</p:attrName>
                                        </p:attrNameLst>
                                      </p:cBhvr>
                                      <p:tavLst>
                                        <p:tav tm="0">
                                          <p:val>
                                            <p:fltVal val="0"/>
                                          </p:val>
                                        </p:tav>
                                        <p:tav tm="100000">
                                          <p:val>
                                            <p:strVal val="#ppt_h"/>
                                          </p:val>
                                        </p:tav>
                                      </p:tavLst>
                                    </p:anim>
                                  </p:childTnLst>
                                </p:cTn>
                              </p:par>
                            </p:childTnLst>
                          </p:cTn>
                        </p:par>
                      </p:childTnLst>
                    </p:cTn>
                  </p:par>
                  <p:par>
                    <p:cTn id="24" fill="hold">
                      <p:stCondLst>
                        <p:cond delay="indefinite"/>
                      </p:stCondLst>
                      <p:childTnLst>
                        <p:par>
                          <p:cTn id="25" fill="hold">
                            <p:stCondLst>
                              <p:cond delay="0"/>
                            </p:stCondLst>
                            <p:childTnLst>
                              <p:par>
                                <p:cTn id="26" presetID="23" presetClass="entr" presetSubtype="16" fill="hold" nodeType="clickEffect">
                                  <p:stCondLst>
                                    <p:cond delay="0"/>
                                  </p:stCondLst>
                                  <p:childTnLst>
                                    <p:set>
                                      <p:cBhvr>
                                        <p:cTn id="27" dur="1" fill="hold">
                                          <p:stCondLst>
                                            <p:cond delay="0"/>
                                          </p:stCondLst>
                                        </p:cTn>
                                        <p:tgtEl>
                                          <p:spTgt spid="14"/>
                                        </p:tgtEl>
                                        <p:attrNameLst>
                                          <p:attrName>style.visibility</p:attrName>
                                        </p:attrNameLst>
                                      </p:cBhvr>
                                      <p:to>
                                        <p:strVal val="visible"/>
                                      </p:to>
                                    </p:set>
                                    <p:anim calcmode="lin" valueType="num">
                                      <p:cBhvr>
                                        <p:cTn id="28" dur="500" fill="hold"/>
                                        <p:tgtEl>
                                          <p:spTgt spid="14"/>
                                        </p:tgtEl>
                                        <p:attrNameLst>
                                          <p:attrName>ppt_w</p:attrName>
                                        </p:attrNameLst>
                                      </p:cBhvr>
                                      <p:tavLst>
                                        <p:tav tm="0">
                                          <p:val>
                                            <p:fltVal val="0"/>
                                          </p:val>
                                        </p:tav>
                                        <p:tav tm="100000">
                                          <p:val>
                                            <p:strVal val="#ppt_w"/>
                                          </p:val>
                                        </p:tav>
                                      </p:tavLst>
                                    </p:anim>
                                    <p:anim calcmode="lin" valueType="num">
                                      <p:cBhvr>
                                        <p:cTn id="29" dur="500" fill="hold"/>
                                        <p:tgtEl>
                                          <p:spTgt spid="14"/>
                                        </p:tgtEl>
                                        <p:attrNameLst>
                                          <p:attrName>ppt_h</p:attrName>
                                        </p:attrNameLst>
                                      </p:cBhvr>
                                      <p:tavLst>
                                        <p:tav tm="0">
                                          <p:val>
                                            <p:fltVal val="0"/>
                                          </p:val>
                                        </p:tav>
                                        <p:tav tm="100000">
                                          <p:val>
                                            <p:strVal val="#ppt_h"/>
                                          </p:val>
                                        </p:tav>
                                      </p:tavLst>
                                    </p:anim>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1"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childTnLst>
                          </p:cTn>
                        </p:par>
                        <p:par>
                          <p:cTn id="35" fill="hold">
                            <p:stCondLst>
                              <p:cond delay="500"/>
                            </p:stCondLst>
                            <p:childTnLst>
                              <p:par>
                                <p:cTn id="36" presetID="26" presetClass="emph" presetSubtype="0" fill="hold" grpId="0" nodeType="afterEffect">
                                  <p:stCondLst>
                                    <p:cond delay="0"/>
                                  </p:stCondLst>
                                  <p:childTnLst>
                                    <p:animEffect transition="out" filter="fade">
                                      <p:cBhvr>
                                        <p:cTn id="37" dur="500" tmFilter="0, 0; .2, .5; .8, .5; 1, 0"/>
                                        <p:tgtEl>
                                          <p:spTgt spid="19"/>
                                        </p:tgtEl>
                                      </p:cBhvr>
                                    </p:animEffect>
                                    <p:animScale>
                                      <p:cBhvr>
                                        <p:cTn id="38" dur="250" autoRev="1" fill="hold"/>
                                        <p:tgtEl>
                                          <p:spTgt spid="19"/>
                                        </p:tgtEl>
                                      </p:cBhvr>
                                      <p:by x="105000" y="105000"/>
                                    </p:animScale>
                                  </p:childTnLst>
                                </p:cTn>
                              </p:par>
                            </p:childTnLst>
                          </p:cTn>
                        </p:par>
                      </p:childTnLst>
                    </p:cTn>
                  </p:par>
                  <p:par>
                    <p:cTn id="39" fill="hold">
                      <p:stCondLst>
                        <p:cond delay="indefinite"/>
                      </p:stCondLst>
                      <p:childTnLst>
                        <p:par>
                          <p:cTn id="40" fill="hold">
                            <p:stCondLst>
                              <p:cond delay="0"/>
                            </p:stCondLst>
                            <p:childTnLst>
                              <p:par>
                                <p:cTn id="41" presetID="23" presetClass="entr" presetSubtype="16" fill="hold" nodeType="click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p:cTn id="43" dur="500" fill="hold"/>
                                        <p:tgtEl>
                                          <p:spTgt spid="20"/>
                                        </p:tgtEl>
                                        <p:attrNameLst>
                                          <p:attrName>ppt_w</p:attrName>
                                        </p:attrNameLst>
                                      </p:cBhvr>
                                      <p:tavLst>
                                        <p:tav tm="0">
                                          <p:val>
                                            <p:fltVal val="0"/>
                                          </p:val>
                                        </p:tav>
                                        <p:tav tm="100000">
                                          <p:val>
                                            <p:strVal val="#ppt_w"/>
                                          </p:val>
                                        </p:tav>
                                      </p:tavLst>
                                    </p:anim>
                                    <p:anim calcmode="lin" valueType="num">
                                      <p:cBhvr>
                                        <p:cTn id="44" dur="500" fill="hold"/>
                                        <p:tgtEl>
                                          <p:spTgt spid="20"/>
                                        </p:tgtEl>
                                        <p:attrNameLst>
                                          <p:attrName>ppt_h</p:attrName>
                                        </p:attrNameLst>
                                      </p:cBhvr>
                                      <p:tavLst>
                                        <p:tav tm="0">
                                          <p:val>
                                            <p:fltVal val="0"/>
                                          </p:val>
                                        </p:tav>
                                        <p:tav tm="100000">
                                          <p:val>
                                            <p:strVal val="#ppt_h"/>
                                          </p:val>
                                        </p:tav>
                                      </p:tavLst>
                                    </p:anim>
                                  </p:childTnLst>
                                </p:cTn>
                              </p:par>
                            </p:childTnLst>
                          </p:cTn>
                        </p:par>
                        <p:par>
                          <p:cTn id="45" fill="hold">
                            <p:stCondLst>
                              <p:cond delay="500"/>
                            </p:stCondLst>
                            <p:childTnLst>
                              <p:par>
                                <p:cTn id="46" presetID="22" presetClass="entr" presetSubtype="4" fill="hold" nodeType="after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wipe(down)">
                                      <p:cBhvr>
                                        <p:cTn id="48" dur="500"/>
                                        <p:tgtEl>
                                          <p:spTgt spid="22"/>
                                        </p:tgtEl>
                                      </p:cBhvr>
                                    </p:animEffect>
                                  </p:childTnLst>
                                </p:cTn>
                              </p:par>
                            </p:childTnLst>
                          </p:cTn>
                        </p:par>
                        <p:par>
                          <p:cTn id="49" fill="hold">
                            <p:stCondLst>
                              <p:cond delay="1000"/>
                            </p:stCondLst>
                            <p:childTnLst>
                              <p:par>
                                <p:cTn id="50" presetID="10" presetClass="entr" presetSubtype="0" fill="hold" grpId="1" nodeType="afterEffect">
                                  <p:stCondLst>
                                    <p:cond delay="0"/>
                                  </p:stCondLst>
                                  <p:childTnLst>
                                    <p:set>
                                      <p:cBhvr>
                                        <p:cTn id="51" dur="1" fill="hold">
                                          <p:stCondLst>
                                            <p:cond delay="0"/>
                                          </p:stCondLst>
                                        </p:cTn>
                                        <p:tgtEl>
                                          <p:spTgt spid="28"/>
                                        </p:tgtEl>
                                        <p:attrNameLst>
                                          <p:attrName>style.visibility</p:attrName>
                                        </p:attrNameLst>
                                      </p:cBhvr>
                                      <p:to>
                                        <p:strVal val="visible"/>
                                      </p:to>
                                    </p:set>
                                    <p:animEffect transition="in" filter="fade">
                                      <p:cBhvr>
                                        <p:cTn id="52" dur="500"/>
                                        <p:tgtEl>
                                          <p:spTgt spid="28"/>
                                        </p:tgtEl>
                                      </p:cBhvr>
                                    </p:animEffect>
                                  </p:childTnLst>
                                </p:cTn>
                              </p:par>
                            </p:childTnLst>
                          </p:cTn>
                        </p:par>
                        <p:par>
                          <p:cTn id="53" fill="hold">
                            <p:stCondLst>
                              <p:cond delay="1500"/>
                            </p:stCondLst>
                            <p:childTnLst>
                              <p:par>
                                <p:cTn id="54" presetID="27" presetClass="emph" presetSubtype="0" fill="remove" grpId="0" nodeType="afterEffect">
                                  <p:stCondLst>
                                    <p:cond delay="0"/>
                                  </p:stCondLst>
                                  <p:childTnLst>
                                    <p:animClr clrSpc="rgb" dir="cw">
                                      <p:cBhvr override="childStyle">
                                        <p:cTn id="55" dur="250" autoRev="1" fill="remove"/>
                                        <p:tgtEl>
                                          <p:spTgt spid="28"/>
                                        </p:tgtEl>
                                        <p:attrNameLst>
                                          <p:attrName>style.color</p:attrName>
                                        </p:attrNameLst>
                                      </p:cBhvr>
                                      <p:to>
                                        <a:schemeClr val="bg1"/>
                                      </p:to>
                                    </p:animClr>
                                    <p:animClr clrSpc="rgb" dir="cw">
                                      <p:cBhvr>
                                        <p:cTn id="56" dur="250" autoRev="1" fill="remove"/>
                                        <p:tgtEl>
                                          <p:spTgt spid="28"/>
                                        </p:tgtEl>
                                        <p:attrNameLst>
                                          <p:attrName>fillcolor</p:attrName>
                                        </p:attrNameLst>
                                      </p:cBhvr>
                                      <p:to>
                                        <a:schemeClr val="bg1"/>
                                      </p:to>
                                    </p:animClr>
                                    <p:set>
                                      <p:cBhvr>
                                        <p:cTn id="57" dur="250" autoRev="1" fill="remove"/>
                                        <p:tgtEl>
                                          <p:spTgt spid="28"/>
                                        </p:tgtEl>
                                        <p:attrNameLst>
                                          <p:attrName>fill.type</p:attrName>
                                        </p:attrNameLst>
                                      </p:cBhvr>
                                      <p:to>
                                        <p:strVal val="solid"/>
                                      </p:to>
                                    </p:set>
                                    <p:set>
                                      <p:cBhvr>
                                        <p:cTn id="58" dur="250" autoRev="1" fill="remove"/>
                                        <p:tgtEl>
                                          <p:spTgt spid="28"/>
                                        </p:tgtEl>
                                        <p:attrNameLst>
                                          <p:attrName>fill.on</p:attrName>
                                        </p:attrNameLst>
                                      </p:cBhvr>
                                      <p:to>
                                        <p:strVal val="tru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37"/>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0" presetClass="exit" presetSubtype="0" fill="hold" nodeType="clickEffect">
                                  <p:stCondLst>
                                    <p:cond delay="0"/>
                                  </p:stCondLst>
                                  <p:childTnLst>
                                    <p:animEffect transition="out" filter="fade">
                                      <p:cBhvr>
                                        <p:cTn id="66" dur="500"/>
                                        <p:tgtEl>
                                          <p:spTgt spid="13"/>
                                        </p:tgtEl>
                                      </p:cBhvr>
                                    </p:animEffect>
                                    <p:set>
                                      <p:cBhvr>
                                        <p:cTn id="67" dur="1" fill="hold">
                                          <p:stCondLst>
                                            <p:cond delay="499"/>
                                          </p:stCondLst>
                                        </p:cTn>
                                        <p:tgtEl>
                                          <p:spTgt spid="13"/>
                                        </p:tgtEl>
                                        <p:attrNameLst>
                                          <p:attrName>style.visibility</p:attrName>
                                        </p:attrNameLst>
                                      </p:cBhvr>
                                      <p:to>
                                        <p:strVal val="hidden"/>
                                      </p:to>
                                    </p:set>
                                  </p:childTnLst>
                                </p:cTn>
                              </p:par>
                              <p:par>
                                <p:cTn id="68" presetID="10" presetClass="exit" presetSubtype="0" fill="hold" nodeType="withEffect">
                                  <p:stCondLst>
                                    <p:cond delay="0"/>
                                  </p:stCondLst>
                                  <p:childTnLst>
                                    <p:animEffect transition="out" filter="fade">
                                      <p:cBhvr>
                                        <p:cTn id="69" dur="500"/>
                                        <p:tgtEl>
                                          <p:spTgt spid="14"/>
                                        </p:tgtEl>
                                      </p:cBhvr>
                                    </p:animEffect>
                                    <p:set>
                                      <p:cBhvr>
                                        <p:cTn id="70" dur="1" fill="hold">
                                          <p:stCondLst>
                                            <p:cond delay="499"/>
                                          </p:stCondLst>
                                        </p:cTn>
                                        <p:tgtEl>
                                          <p:spTgt spid="14"/>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20"/>
                                        </p:tgtEl>
                                      </p:cBhvr>
                                    </p:animEffect>
                                    <p:set>
                                      <p:cBhvr>
                                        <p:cTn id="73" dur="1" fill="hold">
                                          <p:stCondLst>
                                            <p:cond delay="499"/>
                                          </p:stCondLst>
                                        </p:cTn>
                                        <p:tgtEl>
                                          <p:spTgt spid="20"/>
                                        </p:tgtEl>
                                        <p:attrNameLst>
                                          <p:attrName>style.visibility</p:attrName>
                                        </p:attrNameLst>
                                      </p:cBhvr>
                                      <p:to>
                                        <p:strVal val="hidden"/>
                                      </p:to>
                                    </p:set>
                                  </p:childTnLst>
                                </p:cTn>
                              </p:par>
                              <p:par>
                                <p:cTn id="74" presetID="10" presetClass="exit" presetSubtype="0" fill="hold" nodeType="withEffect">
                                  <p:stCondLst>
                                    <p:cond delay="0"/>
                                  </p:stCondLst>
                                  <p:childTnLst>
                                    <p:animEffect transition="out" filter="fade">
                                      <p:cBhvr>
                                        <p:cTn id="75" dur="500"/>
                                        <p:tgtEl>
                                          <p:spTgt spid="22"/>
                                        </p:tgtEl>
                                      </p:cBhvr>
                                    </p:animEffect>
                                    <p:set>
                                      <p:cBhvr>
                                        <p:cTn id="76" dur="1" fill="hold">
                                          <p:stCondLst>
                                            <p:cond delay="499"/>
                                          </p:stCondLst>
                                        </p:cTn>
                                        <p:tgtEl>
                                          <p:spTgt spid="22"/>
                                        </p:tgtEl>
                                        <p:attrNameLst>
                                          <p:attrName>style.visibility</p:attrName>
                                        </p:attrNameLst>
                                      </p:cBhvr>
                                      <p:to>
                                        <p:strVal val="hidden"/>
                                      </p:to>
                                    </p:set>
                                  </p:childTnLst>
                                </p:cTn>
                              </p:par>
                              <p:par>
                                <p:cTn id="77" presetID="10" presetClass="exit" presetSubtype="0" fill="hold" grpId="0" nodeType="withEffect">
                                  <p:stCondLst>
                                    <p:cond delay="0"/>
                                  </p:stCondLst>
                                  <p:childTnLst>
                                    <p:animEffect transition="out" filter="fade">
                                      <p:cBhvr>
                                        <p:cTn id="78" dur="500"/>
                                        <p:tgtEl>
                                          <p:spTgt spid="23"/>
                                        </p:tgtEl>
                                      </p:cBhvr>
                                    </p:animEffect>
                                    <p:set>
                                      <p:cBhvr>
                                        <p:cTn id="79" dur="1" fill="hold">
                                          <p:stCondLst>
                                            <p:cond delay="499"/>
                                          </p:stCondLst>
                                        </p:cTn>
                                        <p:tgtEl>
                                          <p:spTgt spid="23"/>
                                        </p:tgtEl>
                                        <p:attrNameLst>
                                          <p:attrName>style.visibility</p:attrName>
                                        </p:attrNameLst>
                                      </p:cBhvr>
                                      <p:to>
                                        <p:strVal val="hidden"/>
                                      </p:to>
                                    </p:set>
                                  </p:childTnLst>
                                </p:cTn>
                              </p:par>
                            </p:childTnLst>
                          </p:cTn>
                        </p:par>
                        <p:par>
                          <p:cTn id="80" fill="hold">
                            <p:stCondLst>
                              <p:cond delay="500"/>
                            </p:stCondLst>
                            <p:childTnLst>
                              <p:par>
                                <p:cTn id="81" presetID="10" presetClass="entr" presetSubtype="0" fill="hold" grpId="0" nodeType="afterEffect">
                                  <p:stCondLst>
                                    <p:cond delay="0"/>
                                  </p:stCondLst>
                                  <p:childTnLst>
                                    <p:set>
                                      <p:cBhvr>
                                        <p:cTn id="82" dur="1" fill="hold">
                                          <p:stCondLst>
                                            <p:cond delay="0"/>
                                          </p:stCondLst>
                                        </p:cTn>
                                        <p:tgtEl>
                                          <p:spTgt spid="24"/>
                                        </p:tgtEl>
                                        <p:attrNameLst>
                                          <p:attrName>style.visibility</p:attrName>
                                        </p:attrNameLst>
                                      </p:cBhvr>
                                      <p:to>
                                        <p:strVal val="visible"/>
                                      </p:to>
                                    </p:set>
                                    <p:animEffect transition="in" filter="fade">
                                      <p:cBhvr>
                                        <p:cTn id="83" dur="500"/>
                                        <p:tgtEl>
                                          <p:spTgt spid="24"/>
                                        </p:tgtEl>
                                      </p:cBhvr>
                                    </p:animEffect>
                                  </p:childTnLst>
                                </p:cTn>
                              </p:par>
                            </p:childTnLst>
                          </p:cTn>
                        </p:par>
                        <p:par>
                          <p:cTn id="84" fill="hold">
                            <p:stCondLst>
                              <p:cond delay="1000"/>
                            </p:stCondLst>
                            <p:childTnLst>
                              <p:par>
                                <p:cTn id="85" presetID="42" presetClass="entr" presetSubtype="0" fill="hold" grpId="0" nodeType="afterEffect">
                                  <p:stCondLst>
                                    <p:cond delay="0"/>
                                  </p:stCondLst>
                                  <p:childTnLst>
                                    <p:set>
                                      <p:cBhvr>
                                        <p:cTn id="86" dur="1" fill="hold">
                                          <p:stCondLst>
                                            <p:cond delay="0"/>
                                          </p:stCondLst>
                                        </p:cTn>
                                        <p:tgtEl>
                                          <p:spTgt spid="26"/>
                                        </p:tgtEl>
                                        <p:attrNameLst>
                                          <p:attrName>style.visibility</p:attrName>
                                        </p:attrNameLst>
                                      </p:cBhvr>
                                      <p:to>
                                        <p:strVal val="visible"/>
                                      </p:to>
                                    </p:set>
                                    <p:animEffect transition="in" filter="fade">
                                      <p:cBhvr>
                                        <p:cTn id="87" dur="1000"/>
                                        <p:tgtEl>
                                          <p:spTgt spid="26"/>
                                        </p:tgtEl>
                                      </p:cBhvr>
                                    </p:animEffect>
                                    <p:anim calcmode="lin" valueType="num">
                                      <p:cBhvr>
                                        <p:cTn id="88" dur="1000" fill="hold"/>
                                        <p:tgtEl>
                                          <p:spTgt spid="26"/>
                                        </p:tgtEl>
                                        <p:attrNameLst>
                                          <p:attrName>ppt_x</p:attrName>
                                        </p:attrNameLst>
                                      </p:cBhvr>
                                      <p:tavLst>
                                        <p:tav tm="0">
                                          <p:val>
                                            <p:strVal val="#ppt_x"/>
                                          </p:val>
                                        </p:tav>
                                        <p:tav tm="100000">
                                          <p:val>
                                            <p:strVal val="#ppt_x"/>
                                          </p:val>
                                        </p:tav>
                                      </p:tavLst>
                                    </p:anim>
                                    <p:anim calcmode="lin" valueType="num">
                                      <p:cBhvr>
                                        <p:cTn id="89" dur="1000" fill="hold"/>
                                        <p:tgtEl>
                                          <p:spTgt spid="26"/>
                                        </p:tgtEl>
                                        <p:attrNameLst>
                                          <p:attrName>ppt_y</p:attrName>
                                        </p:attrNameLst>
                                      </p:cBhvr>
                                      <p:tavLst>
                                        <p:tav tm="0">
                                          <p:val>
                                            <p:strVal val="#ppt_y+.1"/>
                                          </p:val>
                                        </p:tav>
                                        <p:tav tm="100000">
                                          <p:val>
                                            <p:strVal val="#ppt_y"/>
                                          </p:val>
                                        </p:tav>
                                      </p:tavLst>
                                    </p:anim>
                                  </p:childTnLst>
                                </p:cTn>
                              </p:par>
                            </p:childTnLst>
                          </p:cTn>
                        </p:par>
                        <p:par>
                          <p:cTn id="90" fill="hold">
                            <p:stCondLst>
                              <p:cond delay="2000"/>
                            </p:stCondLst>
                            <p:childTnLst>
                              <p:par>
                                <p:cTn id="91" presetID="10" presetClass="entr" presetSubtype="0" fill="hold" nodeType="afterEffect">
                                  <p:stCondLst>
                                    <p:cond delay="0"/>
                                  </p:stCondLst>
                                  <p:childTnLst>
                                    <p:set>
                                      <p:cBhvr>
                                        <p:cTn id="92" dur="1" fill="hold">
                                          <p:stCondLst>
                                            <p:cond delay="0"/>
                                          </p:stCondLst>
                                        </p:cTn>
                                        <p:tgtEl>
                                          <p:spTgt spid="27"/>
                                        </p:tgtEl>
                                        <p:attrNameLst>
                                          <p:attrName>style.visibility</p:attrName>
                                        </p:attrNameLst>
                                      </p:cBhvr>
                                      <p:to>
                                        <p:strVal val="visible"/>
                                      </p:to>
                                    </p:set>
                                    <p:animEffect transition="in" filter="fade">
                                      <p:cBhvr>
                                        <p:cTn id="93" dur="500"/>
                                        <p:tgtEl>
                                          <p:spTgt spid="27"/>
                                        </p:tgtEl>
                                      </p:cBhvr>
                                    </p:animEffect>
                                  </p:childTnLst>
                                </p:cTn>
                              </p:par>
                            </p:childTnLst>
                          </p:cTn>
                        </p:par>
                      </p:childTnLst>
                    </p:cTn>
                  </p:par>
                  <p:par>
                    <p:cTn id="94" fill="hold">
                      <p:stCondLst>
                        <p:cond delay="indefinite"/>
                      </p:stCondLst>
                      <p:childTnLst>
                        <p:par>
                          <p:cTn id="95" fill="hold">
                            <p:stCondLst>
                              <p:cond delay="0"/>
                            </p:stCondLst>
                            <p:childTnLst>
                              <p:par>
                                <p:cTn id="96" presetID="23" presetClass="entr" presetSubtype="16" fill="hold" nodeType="clickEffect">
                                  <p:stCondLst>
                                    <p:cond delay="0"/>
                                  </p:stCondLst>
                                  <p:childTnLst>
                                    <p:set>
                                      <p:cBhvr>
                                        <p:cTn id="97" dur="1" fill="hold">
                                          <p:stCondLst>
                                            <p:cond delay="0"/>
                                          </p:stCondLst>
                                        </p:cTn>
                                        <p:tgtEl>
                                          <p:spTgt spid="29"/>
                                        </p:tgtEl>
                                        <p:attrNameLst>
                                          <p:attrName>style.visibility</p:attrName>
                                        </p:attrNameLst>
                                      </p:cBhvr>
                                      <p:to>
                                        <p:strVal val="visible"/>
                                      </p:to>
                                    </p:set>
                                    <p:anim calcmode="lin" valueType="num">
                                      <p:cBhvr>
                                        <p:cTn id="98" dur="500" fill="hold"/>
                                        <p:tgtEl>
                                          <p:spTgt spid="29"/>
                                        </p:tgtEl>
                                        <p:attrNameLst>
                                          <p:attrName>ppt_w</p:attrName>
                                        </p:attrNameLst>
                                      </p:cBhvr>
                                      <p:tavLst>
                                        <p:tav tm="0">
                                          <p:val>
                                            <p:fltVal val="0"/>
                                          </p:val>
                                        </p:tav>
                                        <p:tav tm="100000">
                                          <p:val>
                                            <p:strVal val="#ppt_w"/>
                                          </p:val>
                                        </p:tav>
                                      </p:tavLst>
                                    </p:anim>
                                    <p:anim calcmode="lin" valueType="num">
                                      <p:cBhvr>
                                        <p:cTn id="99" dur="500" fill="hold"/>
                                        <p:tgtEl>
                                          <p:spTgt spid="29"/>
                                        </p:tgtEl>
                                        <p:attrNameLst>
                                          <p:attrName>ppt_h</p:attrName>
                                        </p:attrNameLst>
                                      </p:cBhvr>
                                      <p:tavLst>
                                        <p:tav tm="0">
                                          <p:val>
                                            <p:fltVal val="0"/>
                                          </p:val>
                                        </p:tav>
                                        <p:tav tm="100000">
                                          <p:val>
                                            <p:strVal val="#ppt_h"/>
                                          </p:val>
                                        </p:tav>
                                      </p:tavLst>
                                    </p:anim>
                                  </p:childTnLst>
                                </p:cTn>
                              </p:par>
                            </p:childTnLst>
                          </p:cTn>
                        </p:par>
                      </p:childTnLst>
                    </p:cTn>
                  </p:par>
                  <p:par>
                    <p:cTn id="100" fill="hold">
                      <p:stCondLst>
                        <p:cond delay="indefinite"/>
                      </p:stCondLst>
                      <p:childTnLst>
                        <p:par>
                          <p:cTn id="101" fill="hold">
                            <p:stCondLst>
                              <p:cond delay="0"/>
                            </p:stCondLst>
                            <p:childTnLst>
                              <p:par>
                                <p:cTn id="102" presetID="23" presetClass="entr" presetSubtype="16" fill="hold" nodeType="clickEffect">
                                  <p:stCondLst>
                                    <p:cond delay="0"/>
                                  </p:stCondLst>
                                  <p:childTnLst>
                                    <p:set>
                                      <p:cBhvr>
                                        <p:cTn id="103" dur="1" fill="hold">
                                          <p:stCondLst>
                                            <p:cond delay="0"/>
                                          </p:stCondLst>
                                        </p:cTn>
                                        <p:tgtEl>
                                          <p:spTgt spid="30"/>
                                        </p:tgtEl>
                                        <p:attrNameLst>
                                          <p:attrName>style.visibility</p:attrName>
                                        </p:attrNameLst>
                                      </p:cBhvr>
                                      <p:to>
                                        <p:strVal val="visible"/>
                                      </p:to>
                                    </p:set>
                                    <p:anim calcmode="lin" valueType="num">
                                      <p:cBhvr>
                                        <p:cTn id="104" dur="500" fill="hold"/>
                                        <p:tgtEl>
                                          <p:spTgt spid="30"/>
                                        </p:tgtEl>
                                        <p:attrNameLst>
                                          <p:attrName>ppt_w</p:attrName>
                                        </p:attrNameLst>
                                      </p:cBhvr>
                                      <p:tavLst>
                                        <p:tav tm="0">
                                          <p:val>
                                            <p:fltVal val="0"/>
                                          </p:val>
                                        </p:tav>
                                        <p:tav tm="100000">
                                          <p:val>
                                            <p:strVal val="#ppt_w"/>
                                          </p:val>
                                        </p:tav>
                                      </p:tavLst>
                                    </p:anim>
                                    <p:anim calcmode="lin" valueType="num">
                                      <p:cBhvr>
                                        <p:cTn id="105" dur="500" fill="hold"/>
                                        <p:tgtEl>
                                          <p:spTgt spid="30"/>
                                        </p:tgtEl>
                                        <p:attrNameLst>
                                          <p:attrName>ppt_h</p:attrName>
                                        </p:attrNameLst>
                                      </p:cBhvr>
                                      <p:tavLst>
                                        <p:tav tm="0">
                                          <p:val>
                                            <p:fltVal val="0"/>
                                          </p:val>
                                        </p:tav>
                                        <p:tav tm="100000">
                                          <p:val>
                                            <p:strVal val="#ppt_h"/>
                                          </p:val>
                                        </p:tav>
                                      </p:tavLst>
                                    </p:anim>
                                  </p:childTnLst>
                                </p:cTn>
                              </p:par>
                            </p:childTnLst>
                          </p:cTn>
                        </p:par>
                        <p:par>
                          <p:cTn id="106" fill="hold">
                            <p:stCondLst>
                              <p:cond delay="500"/>
                            </p:stCondLst>
                            <p:childTnLst>
                              <p:par>
                                <p:cTn id="107" presetID="42" presetClass="entr" presetSubtype="0" fill="hold" grpId="0" nodeType="after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fade">
                                      <p:cBhvr>
                                        <p:cTn id="109" dur="1000"/>
                                        <p:tgtEl>
                                          <p:spTgt spid="31"/>
                                        </p:tgtEl>
                                      </p:cBhvr>
                                    </p:animEffect>
                                    <p:anim calcmode="lin" valueType="num">
                                      <p:cBhvr>
                                        <p:cTn id="110" dur="1000" fill="hold"/>
                                        <p:tgtEl>
                                          <p:spTgt spid="31"/>
                                        </p:tgtEl>
                                        <p:attrNameLst>
                                          <p:attrName>ppt_x</p:attrName>
                                        </p:attrNameLst>
                                      </p:cBhvr>
                                      <p:tavLst>
                                        <p:tav tm="0">
                                          <p:val>
                                            <p:strVal val="#ppt_x"/>
                                          </p:val>
                                        </p:tav>
                                        <p:tav tm="100000">
                                          <p:val>
                                            <p:strVal val="#ppt_x"/>
                                          </p:val>
                                        </p:tav>
                                      </p:tavLst>
                                    </p:anim>
                                    <p:anim calcmode="lin" valueType="num">
                                      <p:cBhvr>
                                        <p:cTn id="111"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par>
                    <p:cTn id="112" fill="hold">
                      <p:stCondLst>
                        <p:cond delay="indefinite"/>
                      </p:stCondLst>
                      <p:childTnLst>
                        <p:par>
                          <p:cTn id="113" fill="hold">
                            <p:stCondLst>
                              <p:cond delay="0"/>
                            </p:stCondLst>
                            <p:childTnLst>
                              <p:par>
                                <p:cTn id="114" presetID="10" presetClass="exit" presetSubtype="0" fill="hold" grpId="1" nodeType="clickEffect">
                                  <p:stCondLst>
                                    <p:cond delay="0"/>
                                  </p:stCondLst>
                                  <p:childTnLst>
                                    <p:animEffect transition="out" filter="fade">
                                      <p:cBhvr>
                                        <p:cTn id="115" dur="500"/>
                                        <p:tgtEl>
                                          <p:spTgt spid="24"/>
                                        </p:tgtEl>
                                      </p:cBhvr>
                                    </p:animEffect>
                                    <p:set>
                                      <p:cBhvr>
                                        <p:cTn id="116" dur="1" fill="hold">
                                          <p:stCondLst>
                                            <p:cond delay="499"/>
                                          </p:stCondLst>
                                        </p:cTn>
                                        <p:tgtEl>
                                          <p:spTgt spid="24"/>
                                        </p:tgtEl>
                                        <p:attrNameLst>
                                          <p:attrName>style.visibility</p:attrName>
                                        </p:attrNameLst>
                                      </p:cBhvr>
                                      <p:to>
                                        <p:strVal val="hidden"/>
                                      </p:to>
                                    </p:set>
                                  </p:childTnLst>
                                </p:cTn>
                              </p:par>
                              <p:par>
                                <p:cTn id="117" presetID="10" presetClass="exit" presetSubtype="0" fill="hold" nodeType="withEffect">
                                  <p:stCondLst>
                                    <p:cond delay="0"/>
                                  </p:stCondLst>
                                  <p:childTnLst>
                                    <p:animEffect transition="out" filter="fade">
                                      <p:cBhvr>
                                        <p:cTn id="118" dur="500"/>
                                        <p:tgtEl>
                                          <p:spTgt spid="29"/>
                                        </p:tgtEl>
                                      </p:cBhvr>
                                    </p:animEffect>
                                    <p:set>
                                      <p:cBhvr>
                                        <p:cTn id="119" dur="1" fill="hold">
                                          <p:stCondLst>
                                            <p:cond delay="499"/>
                                          </p:stCondLst>
                                        </p:cTn>
                                        <p:tgtEl>
                                          <p:spTgt spid="29"/>
                                        </p:tgtEl>
                                        <p:attrNameLst>
                                          <p:attrName>style.visibility</p:attrName>
                                        </p:attrNameLst>
                                      </p:cBhvr>
                                      <p:to>
                                        <p:strVal val="hidden"/>
                                      </p:to>
                                    </p:set>
                                  </p:childTnLst>
                                </p:cTn>
                              </p:par>
                              <p:par>
                                <p:cTn id="120" presetID="10" presetClass="exit" presetSubtype="0" fill="hold" nodeType="withEffect">
                                  <p:stCondLst>
                                    <p:cond delay="0"/>
                                  </p:stCondLst>
                                  <p:childTnLst>
                                    <p:animEffect transition="out" filter="fade">
                                      <p:cBhvr>
                                        <p:cTn id="121" dur="500"/>
                                        <p:tgtEl>
                                          <p:spTgt spid="30"/>
                                        </p:tgtEl>
                                      </p:cBhvr>
                                    </p:animEffect>
                                    <p:set>
                                      <p:cBhvr>
                                        <p:cTn id="122" dur="1" fill="hold">
                                          <p:stCondLst>
                                            <p:cond delay="499"/>
                                          </p:stCondLst>
                                        </p:cTn>
                                        <p:tgtEl>
                                          <p:spTgt spid="30"/>
                                        </p:tgtEl>
                                        <p:attrNameLst>
                                          <p:attrName>style.visibility</p:attrName>
                                        </p:attrNameLst>
                                      </p:cBhvr>
                                      <p:to>
                                        <p:strVal val="hidden"/>
                                      </p:to>
                                    </p:set>
                                  </p:childTnLst>
                                </p:cTn>
                              </p:par>
                              <p:par>
                                <p:cTn id="123" presetID="10" presetClass="exit" presetSubtype="0" fill="hold" grpId="1" nodeType="withEffect">
                                  <p:stCondLst>
                                    <p:cond delay="0"/>
                                  </p:stCondLst>
                                  <p:childTnLst>
                                    <p:animEffect transition="out" filter="fade">
                                      <p:cBhvr>
                                        <p:cTn id="124" dur="500"/>
                                        <p:tgtEl>
                                          <p:spTgt spid="31"/>
                                        </p:tgtEl>
                                      </p:cBhvr>
                                    </p:animEffect>
                                    <p:set>
                                      <p:cBhvr>
                                        <p:cTn id="125" dur="1" fill="hold">
                                          <p:stCondLst>
                                            <p:cond delay="499"/>
                                          </p:stCondLst>
                                        </p:cTn>
                                        <p:tgtEl>
                                          <p:spTgt spid="31"/>
                                        </p:tgtEl>
                                        <p:attrNameLst>
                                          <p:attrName>style.visibility</p:attrName>
                                        </p:attrNameLst>
                                      </p:cBhvr>
                                      <p:to>
                                        <p:strVal val="hidden"/>
                                      </p:to>
                                    </p:set>
                                  </p:childTnLst>
                                </p:cTn>
                              </p:par>
                            </p:childTnLst>
                          </p:cTn>
                        </p:par>
                        <p:par>
                          <p:cTn id="126" fill="hold">
                            <p:stCondLst>
                              <p:cond delay="500"/>
                            </p:stCondLst>
                            <p:childTnLst>
                              <p:par>
                                <p:cTn id="127" presetID="10" presetClass="entr" presetSubtype="0" fill="hold" grpId="0" nodeType="afterEffect">
                                  <p:stCondLst>
                                    <p:cond delay="0"/>
                                  </p:stCondLst>
                                  <p:childTnLst>
                                    <p:set>
                                      <p:cBhvr>
                                        <p:cTn id="128" dur="1" fill="hold">
                                          <p:stCondLst>
                                            <p:cond delay="0"/>
                                          </p:stCondLst>
                                        </p:cTn>
                                        <p:tgtEl>
                                          <p:spTgt spid="25"/>
                                        </p:tgtEl>
                                        <p:attrNameLst>
                                          <p:attrName>style.visibility</p:attrName>
                                        </p:attrNameLst>
                                      </p:cBhvr>
                                      <p:to>
                                        <p:strVal val="visible"/>
                                      </p:to>
                                    </p:set>
                                    <p:animEffect transition="in" filter="fade">
                                      <p:cBhvr>
                                        <p:cTn id="129" dur="500"/>
                                        <p:tgtEl>
                                          <p:spTgt spid="25"/>
                                        </p:tgtEl>
                                      </p:cBhvr>
                                    </p:animEffect>
                                  </p:childTnLst>
                                </p:cTn>
                              </p:par>
                            </p:childTnLst>
                          </p:cTn>
                        </p:par>
                        <p:par>
                          <p:cTn id="130" fill="hold">
                            <p:stCondLst>
                              <p:cond delay="1000"/>
                            </p:stCondLst>
                            <p:childTnLst>
                              <p:par>
                                <p:cTn id="131" presetID="10" presetClass="entr" presetSubtype="0" fill="hold" grpId="0" nodeType="afterEffect">
                                  <p:stCondLst>
                                    <p:cond delay="0"/>
                                  </p:stCondLst>
                                  <p:childTnLst>
                                    <p:set>
                                      <p:cBhvr>
                                        <p:cTn id="132" dur="1" fill="hold">
                                          <p:stCondLst>
                                            <p:cond delay="0"/>
                                          </p:stCondLst>
                                        </p:cTn>
                                        <p:tgtEl>
                                          <p:spTgt spid="32"/>
                                        </p:tgtEl>
                                        <p:attrNameLst>
                                          <p:attrName>style.visibility</p:attrName>
                                        </p:attrNameLst>
                                      </p:cBhvr>
                                      <p:to>
                                        <p:strVal val="visible"/>
                                      </p:to>
                                    </p:set>
                                    <p:animEffect transition="in" filter="fade">
                                      <p:cBhvr>
                                        <p:cTn id="133" dur="500"/>
                                        <p:tgtEl>
                                          <p:spTgt spid="32"/>
                                        </p:tgtEl>
                                      </p:cBhvr>
                                    </p:animEffect>
                                  </p:childTnLst>
                                </p:cTn>
                              </p:par>
                            </p:childTnLst>
                          </p:cTn>
                        </p:par>
                        <p:par>
                          <p:cTn id="134" fill="hold">
                            <p:stCondLst>
                              <p:cond delay="1500"/>
                            </p:stCondLst>
                            <p:childTnLst>
                              <p:par>
                                <p:cTn id="135" presetID="27" presetClass="emph" presetSubtype="0" fill="remove" grpId="1" nodeType="afterEffect">
                                  <p:stCondLst>
                                    <p:cond delay="0"/>
                                  </p:stCondLst>
                                  <p:childTnLst>
                                    <p:animClr clrSpc="rgb" dir="cw">
                                      <p:cBhvr override="childStyle">
                                        <p:cTn id="136" dur="250" autoRev="1" fill="remove"/>
                                        <p:tgtEl>
                                          <p:spTgt spid="32"/>
                                        </p:tgtEl>
                                        <p:attrNameLst>
                                          <p:attrName>style.color</p:attrName>
                                        </p:attrNameLst>
                                      </p:cBhvr>
                                      <p:to>
                                        <a:schemeClr val="bg1"/>
                                      </p:to>
                                    </p:animClr>
                                    <p:animClr clrSpc="rgb" dir="cw">
                                      <p:cBhvr>
                                        <p:cTn id="137" dur="250" autoRev="1" fill="remove"/>
                                        <p:tgtEl>
                                          <p:spTgt spid="32"/>
                                        </p:tgtEl>
                                        <p:attrNameLst>
                                          <p:attrName>fillcolor</p:attrName>
                                        </p:attrNameLst>
                                      </p:cBhvr>
                                      <p:to>
                                        <a:schemeClr val="bg1"/>
                                      </p:to>
                                    </p:animClr>
                                    <p:set>
                                      <p:cBhvr>
                                        <p:cTn id="138" dur="250" autoRev="1" fill="remove"/>
                                        <p:tgtEl>
                                          <p:spTgt spid="32"/>
                                        </p:tgtEl>
                                        <p:attrNameLst>
                                          <p:attrName>fill.type</p:attrName>
                                        </p:attrNameLst>
                                      </p:cBhvr>
                                      <p:to>
                                        <p:strVal val="solid"/>
                                      </p:to>
                                    </p:set>
                                    <p:set>
                                      <p:cBhvr>
                                        <p:cTn id="139" dur="250" autoRev="1" fill="remove"/>
                                        <p:tgtEl>
                                          <p:spTgt spid="32"/>
                                        </p:tgtEl>
                                        <p:attrNameLst>
                                          <p:attrName>fill.on</p:attrName>
                                        </p:attrNameLst>
                                      </p:cBhvr>
                                      <p:to>
                                        <p:strVal val="true"/>
                                      </p:to>
                                    </p:set>
                                  </p:childTnLst>
                                </p:cTn>
                              </p:par>
                            </p:childTnLst>
                          </p:cTn>
                        </p:par>
                        <p:par>
                          <p:cTn id="140" fill="hold">
                            <p:stCondLst>
                              <p:cond delay="2000"/>
                            </p:stCondLst>
                            <p:childTnLst>
                              <p:par>
                                <p:cTn id="141" presetID="10" presetClass="entr" presetSubtype="0" fill="hold" grpId="0" nodeType="afterEffect">
                                  <p:stCondLst>
                                    <p:cond delay="0"/>
                                  </p:stCondLst>
                                  <p:childTnLst>
                                    <p:set>
                                      <p:cBhvr>
                                        <p:cTn id="142" dur="1" fill="hold">
                                          <p:stCondLst>
                                            <p:cond delay="0"/>
                                          </p:stCondLst>
                                        </p:cTn>
                                        <p:tgtEl>
                                          <p:spTgt spid="33"/>
                                        </p:tgtEl>
                                        <p:attrNameLst>
                                          <p:attrName>style.visibility</p:attrName>
                                        </p:attrNameLst>
                                      </p:cBhvr>
                                      <p:to>
                                        <p:strVal val="visible"/>
                                      </p:to>
                                    </p:set>
                                    <p:animEffect transition="in" filter="fade">
                                      <p:cBhvr>
                                        <p:cTn id="143" dur="500"/>
                                        <p:tgtEl>
                                          <p:spTgt spid="33"/>
                                        </p:tgtEl>
                                      </p:cBhvr>
                                    </p:animEffect>
                                  </p:childTnLst>
                                </p:cTn>
                              </p:par>
                            </p:childTnLst>
                          </p:cTn>
                        </p:par>
                      </p:childTnLst>
                    </p:cTn>
                  </p:par>
                  <p:par>
                    <p:cTn id="144" fill="hold">
                      <p:stCondLst>
                        <p:cond delay="indefinite"/>
                      </p:stCondLst>
                      <p:childTnLst>
                        <p:par>
                          <p:cTn id="145" fill="hold">
                            <p:stCondLst>
                              <p:cond delay="0"/>
                            </p:stCondLst>
                            <p:childTnLst>
                              <p:par>
                                <p:cTn id="146" presetID="1" presetClass="exit" presetSubtype="0" fill="hold" grpId="1" nodeType="clickEffect">
                                  <p:stCondLst>
                                    <p:cond delay="0"/>
                                  </p:stCondLst>
                                  <p:childTnLst>
                                    <p:set>
                                      <p:cBhvr>
                                        <p:cTn id="147" dur="1" fill="hold">
                                          <p:stCondLst>
                                            <p:cond delay="0"/>
                                          </p:stCondLst>
                                        </p:cTn>
                                        <p:tgtEl>
                                          <p:spTgt spid="37"/>
                                        </p:tgtEl>
                                        <p:attrNameLst>
                                          <p:attrName>style.visibility</p:attrName>
                                        </p:attrNameLst>
                                      </p:cBhvr>
                                      <p:to>
                                        <p:strVal val="hidden"/>
                                      </p:to>
                                    </p:set>
                                  </p:childTnLst>
                                </p:cTn>
                              </p:par>
                            </p:childTnLst>
                          </p:cTn>
                        </p:par>
                      </p:childTnLst>
                    </p:cTn>
                  </p:par>
                  <p:par>
                    <p:cTn id="148" fill="hold">
                      <p:stCondLst>
                        <p:cond delay="indefinite"/>
                      </p:stCondLst>
                      <p:childTnLst>
                        <p:par>
                          <p:cTn id="149" fill="hold">
                            <p:stCondLst>
                              <p:cond delay="0"/>
                            </p:stCondLst>
                            <p:childTnLst>
                              <p:par>
                                <p:cTn id="150" presetID="23" presetClass="entr" presetSubtype="16" fill="hold" nodeType="clickEffect">
                                  <p:stCondLst>
                                    <p:cond delay="0"/>
                                  </p:stCondLst>
                                  <p:childTnLst>
                                    <p:set>
                                      <p:cBhvr>
                                        <p:cTn id="151" dur="1" fill="hold">
                                          <p:stCondLst>
                                            <p:cond delay="0"/>
                                          </p:stCondLst>
                                        </p:cTn>
                                        <p:tgtEl>
                                          <p:spTgt spid="34"/>
                                        </p:tgtEl>
                                        <p:attrNameLst>
                                          <p:attrName>style.visibility</p:attrName>
                                        </p:attrNameLst>
                                      </p:cBhvr>
                                      <p:to>
                                        <p:strVal val="visible"/>
                                      </p:to>
                                    </p:set>
                                    <p:anim calcmode="lin" valueType="num">
                                      <p:cBhvr>
                                        <p:cTn id="152" dur="500" fill="hold"/>
                                        <p:tgtEl>
                                          <p:spTgt spid="34"/>
                                        </p:tgtEl>
                                        <p:attrNameLst>
                                          <p:attrName>ppt_w</p:attrName>
                                        </p:attrNameLst>
                                      </p:cBhvr>
                                      <p:tavLst>
                                        <p:tav tm="0">
                                          <p:val>
                                            <p:fltVal val="0"/>
                                          </p:val>
                                        </p:tav>
                                        <p:tav tm="100000">
                                          <p:val>
                                            <p:strVal val="#ppt_w"/>
                                          </p:val>
                                        </p:tav>
                                      </p:tavLst>
                                    </p:anim>
                                    <p:anim calcmode="lin" valueType="num">
                                      <p:cBhvr>
                                        <p:cTn id="153" dur="500" fill="hold"/>
                                        <p:tgtEl>
                                          <p:spTgt spid="34"/>
                                        </p:tgtEl>
                                        <p:attrNameLst>
                                          <p:attrName>ppt_h</p:attrName>
                                        </p:attrNameLst>
                                      </p:cBhvr>
                                      <p:tavLst>
                                        <p:tav tm="0">
                                          <p:val>
                                            <p:fltVal val="0"/>
                                          </p:val>
                                        </p:tav>
                                        <p:tav tm="100000">
                                          <p:val>
                                            <p:strVal val="#ppt_h"/>
                                          </p:val>
                                        </p:tav>
                                      </p:tavLst>
                                    </p:anim>
                                  </p:childTnLst>
                                </p:cTn>
                              </p:par>
                            </p:childTnLst>
                          </p:cTn>
                        </p:par>
                      </p:childTnLst>
                    </p:cTn>
                  </p:par>
                  <p:par>
                    <p:cTn id="154" fill="hold">
                      <p:stCondLst>
                        <p:cond delay="indefinite"/>
                      </p:stCondLst>
                      <p:childTnLst>
                        <p:par>
                          <p:cTn id="155" fill="hold">
                            <p:stCondLst>
                              <p:cond delay="0"/>
                            </p:stCondLst>
                            <p:childTnLst>
                              <p:par>
                                <p:cTn id="156" presetID="23" presetClass="entr" presetSubtype="16" fill="hold" nodeType="clickEffect">
                                  <p:stCondLst>
                                    <p:cond delay="0"/>
                                  </p:stCondLst>
                                  <p:childTnLst>
                                    <p:set>
                                      <p:cBhvr>
                                        <p:cTn id="157" dur="1" fill="hold">
                                          <p:stCondLst>
                                            <p:cond delay="0"/>
                                          </p:stCondLst>
                                        </p:cTn>
                                        <p:tgtEl>
                                          <p:spTgt spid="35"/>
                                        </p:tgtEl>
                                        <p:attrNameLst>
                                          <p:attrName>style.visibility</p:attrName>
                                        </p:attrNameLst>
                                      </p:cBhvr>
                                      <p:to>
                                        <p:strVal val="visible"/>
                                      </p:to>
                                    </p:set>
                                    <p:anim calcmode="lin" valueType="num">
                                      <p:cBhvr>
                                        <p:cTn id="158" dur="500" fill="hold"/>
                                        <p:tgtEl>
                                          <p:spTgt spid="35"/>
                                        </p:tgtEl>
                                        <p:attrNameLst>
                                          <p:attrName>ppt_w</p:attrName>
                                        </p:attrNameLst>
                                      </p:cBhvr>
                                      <p:tavLst>
                                        <p:tav tm="0">
                                          <p:val>
                                            <p:fltVal val="0"/>
                                          </p:val>
                                        </p:tav>
                                        <p:tav tm="100000">
                                          <p:val>
                                            <p:strVal val="#ppt_w"/>
                                          </p:val>
                                        </p:tav>
                                      </p:tavLst>
                                    </p:anim>
                                    <p:anim calcmode="lin" valueType="num">
                                      <p:cBhvr>
                                        <p:cTn id="159" dur="500" fill="hold"/>
                                        <p:tgtEl>
                                          <p:spTgt spid="35"/>
                                        </p:tgtEl>
                                        <p:attrNameLst>
                                          <p:attrName>ppt_h</p:attrName>
                                        </p:attrNameLst>
                                      </p:cBhvr>
                                      <p:tavLst>
                                        <p:tav tm="0">
                                          <p:val>
                                            <p:fltVal val="0"/>
                                          </p:val>
                                        </p:tav>
                                        <p:tav tm="100000">
                                          <p:val>
                                            <p:strVal val="#ppt_h"/>
                                          </p:val>
                                        </p:tav>
                                      </p:tavLst>
                                    </p:anim>
                                  </p:childTnLst>
                                </p:cTn>
                              </p:par>
                            </p:childTnLst>
                          </p:cTn>
                        </p:par>
                        <p:par>
                          <p:cTn id="160" fill="hold">
                            <p:stCondLst>
                              <p:cond delay="500"/>
                            </p:stCondLst>
                            <p:childTnLst>
                              <p:par>
                                <p:cTn id="161" presetID="42" presetClass="entr" presetSubtype="0" fill="hold" grpId="0" nodeType="afterEffect">
                                  <p:stCondLst>
                                    <p:cond delay="0"/>
                                  </p:stCondLst>
                                  <p:childTnLst>
                                    <p:set>
                                      <p:cBhvr>
                                        <p:cTn id="162" dur="1" fill="hold">
                                          <p:stCondLst>
                                            <p:cond delay="0"/>
                                          </p:stCondLst>
                                        </p:cTn>
                                        <p:tgtEl>
                                          <p:spTgt spid="36"/>
                                        </p:tgtEl>
                                        <p:attrNameLst>
                                          <p:attrName>style.visibility</p:attrName>
                                        </p:attrNameLst>
                                      </p:cBhvr>
                                      <p:to>
                                        <p:strVal val="visible"/>
                                      </p:to>
                                    </p:set>
                                    <p:animEffect transition="in" filter="fade">
                                      <p:cBhvr>
                                        <p:cTn id="163" dur="1000"/>
                                        <p:tgtEl>
                                          <p:spTgt spid="36"/>
                                        </p:tgtEl>
                                      </p:cBhvr>
                                    </p:animEffect>
                                    <p:anim calcmode="lin" valueType="num">
                                      <p:cBhvr>
                                        <p:cTn id="164" dur="1000" fill="hold"/>
                                        <p:tgtEl>
                                          <p:spTgt spid="36"/>
                                        </p:tgtEl>
                                        <p:attrNameLst>
                                          <p:attrName>ppt_x</p:attrName>
                                        </p:attrNameLst>
                                      </p:cBhvr>
                                      <p:tavLst>
                                        <p:tav tm="0">
                                          <p:val>
                                            <p:strVal val="#ppt_x"/>
                                          </p:val>
                                        </p:tav>
                                        <p:tav tm="100000">
                                          <p:val>
                                            <p:strVal val="#ppt_x"/>
                                          </p:val>
                                        </p:tav>
                                      </p:tavLst>
                                    </p:anim>
                                    <p:anim calcmode="lin" valueType="num">
                                      <p:cBhvr>
                                        <p:cTn id="165"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19" grpId="0" animBg="1"/>
      <p:bldP spid="19" grpId="1" animBg="1"/>
      <p:bldP spid="23" grpId="0" animBg="1"/>
      <p:bldP spid="24" grpId="0" animBg="1"/>
      <p:bldP spid="24" grpId="1" animBg="1"/>
      <p:bldP spid="25" grpId="0" animBg="1"/>
      <p:bldP spid="26" grpId="0" animBg="1"/>
      <p:bldP spid="28" grpId="0" animBg="1"/>
      <p:bldP spid="28" grpId="1" animBg="1"/>
      <p:bldP spid="31" grpId="0"/>
      <p:bldP spid="31" grpId="1"/>
      <p:bldP spid="32" grpId="0" animBg="1"/>
      <p:bldP spid="32" grpId="1" animBg="1"/>
      <p:bldP spid="33" grpId="0" animBg="1"/>
      <p:bldP spid="36" grpId="0"/>
      <p:bldP spid="37" grpId="0"/>
      <p:bldP spid="37" grpId="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Title 2"/>
          <p:cNvSpPr>
            <a:spLocks noGrp="1"/>
          </p:cNvSpPr>
          <p:nvPr>
            <p:ph type="title" idx="4294967295"/>
          </p:nvPr>
        </p:nvSpPr>
        <p:spPr>
          <a:xfrm>
            <a:off x="1116013" y="148168"/>
            <a:ext cx="11075987" cy="520700"/>
          </a:xfrm>
          <a:prstGeom prst="rect">
            <a:avLst/>
          </a:prstGeom>
        </p:spPr>
        <p:txBody>
          <a:bodyPr vert="horz" wrap="square" lIns="121920" tIns="60960" rIns="121920" bIns="60960" anchor="ctr" anchorCtr="0">
            <a:normAutofit/>
          </a:bodyPr>
          <a:lstStyle/>
          <a:p>
            <a:pPr eaLnBrk="1" hangingPunct="1"/>
            <a:r>
              <a:rPr lang="en-US" altLang="zh-CN" b="1" dirty="0">
                <a:solidFill>
                  <a:schemeClr val="bg1"/>
                </a:solidFill>
                <a:latin typeface="+mj-ea"/>
              </a:rPr>
              <a:t>IPS </a:t>
            </a:r>
            <a:r>
              <a:rPr lang="zh-CN" altLang="en-US" b="1" dirty="0">
                <a:solidFill>
                  <a:schemeClr val="bg1"/>
                </a:solidFill>
                <a:latin typeface="+mj-ea"/>
              </a:rPr>
              <a:t>方案</a:t>
            </a:r>
            <a:r>
              <a:rPr lang="en-US" altLang="zh-CN" b="1" dirty="0">
                <a:solidFill>
                  <a:schemeClr val="bg1"/>
                </a:solidFill>
                <a:latin typeface="+mj-ea"/>
              </a:rPr>
              <a:t> – </a:t>
            </a:r>
            <a:r>
              <a:rPr lang="zh-CN" altLang="en-US" b="1" dirty="0">
                <a:solidFill>
                  <a:schemeClr val="bg1"/>
                </a:solidFill>
                <a:latin typeface="+mj-ea"/>
              </a:rPr>
              <a:t>情景演示</a:t>
            </a:r>
            <a:endParaRPr lang="en-US" altLang="zh-CN" b="1" dirty="0">
              <a:solidFill>
                <a:schemeClr val="bg1"/>
              </a:solidFill>
              <a:latin typeface="+mj-ea"/>
            </a:endParaRPr>
          </a:p>
        </p:txBody>
      </p:sp>
      <p:sp>
        <p:nvSpPr>
          <p:cNvPr id="3" name="Freeform 8"/>
          <p:cNvSpPr/>
          <p:nvPr/>
        </p:nvSpPr>
        <p:spPr>
          <a:xfrm>
            <a:off x="4093634" y="1559984"/>
            <a:ext cx="5738284" cy="806451"/>
          </a:xfrm>
          <a:custGeom>
            <a:avLst/>
            <a:gdLst>
              <a:gd name="connsiteX0" fmla="*/ 134387 w 806306"/>
              <a:gd name="connsiteY0" fmla="*/ 0 h 5737036"/>
              <a:gd name="connsiteX1" fmla="*/ 671919 w 806306"/>
              <a:gd name="connsiteY1" fmla="*/ 0 h 5737036"/>
              <a:gd name="connsiteX2" fmla="*/ 766945 w 806306"/>
              <a:gd name="connsiteY2" fmla="*/ 39361 h 5737036"/>
              <a:gd name="connsiteX3" fmla="*/ 806306 w 806306"/>
              <a:gd name="connsiteY3" fmla="*/ 134387 h 5737036"/>
              <a:gd name="connsiteX4" fmla="*/ 806306 w 806306"/>
              <a:gd name="connsiteY4" fmla="*/ 5737036 h 5737036"/>
              <a:gd name="connsiteX5" fmla="*/ 806306 w 806306"/>
              <a:gd name="connsiteY5" fmla="*/ 5737036 h 5737036"/>
              <a:gd name="connsiteX6" fmla="*/ 806306 w 806306"/>
              <a:gd name="connsiteY6" fmla="*/ 5737036 h 5737036"/>
              <a:gd name="connsiteX7" fmla="*/ 0 w 806306"/>
              <a:gd name="connsiteY7" fmla="*/ 5737036 h 5737036"/>
              <a:gd name="connsiteX8" fmla="*/ 0 w 806306"/>
              <a:gd name="connsiteY8" fmla="*/ 5737036 h 5737036"/>
              <a:gd name="connsiteX9" fmla="*/ 0 w 806306"/>
              <a:gd name="connsiteY9" fmla="*/ 5737036 h 5737036"/>
              <a:gd name="connsiteX10" fmla="*/ 0 w 806306"/>
              <a:gd name="connsiteY10" fmla="*/ 134387 h 5737036"/>
              <a:gd name="connsiteX11" fmla="*/ 39361 w 806306"/>
              <a:gd name="connsiteY11" fmla="*/ 39361 h 5737036"/>
              <a:gd name="connsiteX12" fmla="*/ 134387 w 806306"/>
              <a:gd name="connsiteY12" fmla="*/ 0 h 573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6306" h="5737036">
                <a:moveTo>
                  <a:pt x="806306" y="956194"/>
                </a:moveTo>
                <a:lnTo>
                  <a:pt x="806306" y="4780842"/>
                </a:lnTo>
                <a:cubicBezTo>
                  <a:pt x="806306" y="5034442"/>
                  <a:pt x="804316" y="5277654"/>
                  <a:pt x="800774" y="5456971"/>
                </a:cubicBezTo>
                <a:cubicBezTo>
                  <a:pt x="797232" y="5636288"/>
                  <a:pt x="792428" y="5737032"/>
                  <a:pt x="787419" y="5737032"/>
                </a:cubicBezTo>
                <a:lnTo>
                  <a:pt x="0" y="5737032"/>
                </a:lnTo>
                <a:lnTo>
                  <a:pt x="0" y="5737032"/>
                </a:lnTo>
                <a:lnTo>
                  <a:pt x="0" y="5737032"/>
                </a:lnTo>
                <a:lnTo>
                  <a:pt x="0" y="4"/>
                </a:lnTo>
                <a:lnTo>
                  <a:pt x="0" y="4"/>
                </a:lnTo>
                <a:lnTo>
                  <a:pt x="0" y="4"/>
                </a:lnTo>
                <a:lnTo>
                  <a:pt x="787419" y="4"/>
                </a:lnTo>
                <a:cubicBezTo>
                  <a:pt x="792428" y="4"/>
                  <a:pt x="797232" y="100748"/>
                  <a:pt x="800774" y="280065"/>
                </a:cubicBezTo>
                <a:cubicBezTo>
                  <a:pt x="804316" y="459382"/>
                  <a:pt x="806306" y="702594"/>
                  <a:pt x="806306" y="956194"/>
                </a:cubicBezTo>
                <a:close/>
              </a:path>
            </a:pathLst>
          </a:custGeom>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247651" tIns="163185" rIns="287011" bIns="163187" spcCol="1270" anchor="ctr"/>
          <a:lstStyle/>
          <a:p>
            <a:pPr marL="228594" lvl="1" indent="-228594" defTabSz="888978">
              <a:lnSpc>
                <a:spcPct val="90000"/>
              </a:lnSpc>
              <a:spcBef>
                <a:spcPct val="0"/>
              </a:spcBef>
              <a:spcAft>
                <a:spcPct val="15000"/>
              </a:spcAft>
              <a:buFontTx/>
              <a:buChar char="•"/>
              <a:defRPr/>
            </a:pPr>
            <a:r>
              <a:rPr lang="zh-CN" altLang="en-US" sz="2000" b="1" dirty="0">
                <a:solidFill>
                  <a:srgbClr val="000000">
                    <a:hueOff val="0"/>
                    <a:satOff val="0"/>
                    <a:lumOff val="0"/>
                    <a:alphaOff val="0"/>
                  </a:srgbClr>
                </a:solidFill>
                <a:latin typeface="+mj-ea"/>
                <a:ea typeface="+mj-ea"/>
              </a:rPr>
              <a:t>统一数据源和逻辑提高计划准确性</a:t>
            </a:r>
            <a:endParaRPr lang="en-US" altLang="zh-CN" sz="2000" b="1" dirty="0">
              <a:solidFill>
                <a:srgbClr val="000000">
                  <a:hueOff val="0"/>
                  <a:satOff val="0"/>
                  <a:lumOff val="0"/>
                  <a:alphaOff val="0"/>
                </a:srgbClr>
              </a:solidFill>
              <a:latin typeface="+mj-ea"/>
              <a:ea typeface="+mj-ea"/>
            </a:endParaRPr>
          </a:p>
        </p:txBody>
      </p:sp>
      <p:sp>
        <p:nvSpPr>
          <p:cNvPr id="4" name="Freeform 9"/>
          <p:cNvSpPr/>
          <p:nvPr/>
        </p:nvSpPr>
        <p:spPr>
          <a:xfrm>
            <a:off x="1953685" y="1458384"/>
            <a:ext cx="2139951" cy="1007533"/>
          </a:xfrm>
          <a:custGeom>
            <a:avLst/>
            <a:gdLst>
              <a:gd name="connsiteX0" fmla="*/ 0 w 2139394"/>
              <a:gd name="connsiteY0" fmla="*/ 167984 h 1007882"/>
              <a:gd name="connsiteX1" fmla="*/ 49202 w 2139394"/>
              <a:gd name="connsiteY1" fmla="*/ 49201 h 1007882"/>
              <a:gd name="connsiteX2" fmla="*/ 167985 w 2139394"/>
              <a:gd name="connsiteY2" fmla="*/ 0 h 1007882"/>
              <a:gd name="connsiteX3" fmla="*/ 1971410 w 2139394"/>
              <a:gd name="connsiteY3" fmla="*/ 0 h 1007882"/>
              <a:gd name="connsiteX4" fmla="*/ 2090193 w 2139394"/>
              <a:gd name="connsiteY4" fmla="*/ 49202 h 1007882"/>
              <a:gd name="connsiteX5" fmla="*/ 2139394 w 2139394"/>
              <a:gd name="connsiteY5" fmla="*/ 167985 h 1007882"/>
              <a:gd name="connsiteX6" fmla="*/ 2139394 w 2139394"/>
              <a:gd name="connsiteY6" fmla="*/ 839898 h 1007882"/>
              <a:gd name="connsiteX7" fmla="*/ 2090193 w 2139394"/>
              <a:gd name="connsiteY7" fmla="*/ 958681 h 1007882"/>
              <a:gd name="connsiteX8" fmla="*/ 1971410 w 2139394"/>
              <a:gd name="connsiteY8" fmla="*/ 1007882 h 1007882"/>
              <a:gd name="connsiteX9" fmla="*/ 167984 w 2139394"/>
              <a:gd name="connsiteY9" fmla="*/ 1007882 h 1007882"/>
              <a:gd name="connsiteX10" fmla="*/ 49201 w 2139394"/>
              <a:gd name="connsiteY10" fmla="*/ 958681 h 1007882"/>
              <a:gd name="connsiteX11" fmla="*/ 0 w 2139394"/>
              <a:gd name="connsiteY11" fmla="*/ 839898 h 1007882"/>
              <a:gd name="connsiteX12" fmla="*/ 0 w 2139394"/>
              <a:gd name="connsiteY12" fmla="*/ 167984 h 100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9394" h="1007882">
                <a:moveTo>
                  <a:pt x="0" y="167984"/>
                </a:moveTo>
                <a:cubicBezTo>
                  <a:pt x="0" y="123432"/>
                  <a:pt x="17698" y="80704"/>
                  <a:pt x="49202" y="49201"/>
                </a:cubicBezTo>
                <a:cubicBezTo>
                  <a:pt x="80705" y="17698"/>
                  <a:pt x="123433" y="0"/>
                  <a:pt x="167985" y="0"/>
                </a:cubicBezTo>
                <a:lnTo>
                  <a:pt x="1971410" y="0"/>
                </a:lnTo>
                <a:cubicBezTo>
                  <a:pt x="2015962" y="0"/>
                  <a:pt x="2058690" y="17698"/>
                  <a:pt x="2090193" y="49202"/>
                </a:cubicBezTo>
                <a:cubicBezTo>
                  <a:pt x="2121696" y="80705"/>
                  <a:pt x="2139394" y="123433"/>
                  <a:pt x="2139394" y="167985"/>
                </a:cubicBezTo>
                <a:lnTo>
                  <a:pt x="2139394" y="839898"/>
                </a:lnTo>
                <a:cubicBezTo>
                  <a:pt x="2139394" y="884450"/>
                  <a:pt x="2121696" y="927178"/>
                  <a:pt x="2090193" y="958681"/>
                </a:cubicBezTo>
                <a:cubicBezTo>
                  <a:pt x="2058690" y="990184"/>
                  <a:pt x="2015962" y="1007882"/>
                  <a:pt x="1971410" y="1007882"/>
                </a:cubicBezTo>
                <a:lnTo>
                  <a:pt x="167984" y="1007882"/>
                </a:lnTo>
                <a:cubicBezTo>
                  <a:pt x="123432" y="1007882"/>
                  <a:pt x="80704" y="990184"/>
                  <a:pt x="49201" y="958681"/>
                </a:cubicBezTo>
                <a:cubicBezTo>
                  <a:pt x="17698" y="927178"/>
                  <a:pt x="0" y="884450"/>
                  <a:pt x="0" y="839898"/>
                </a:cubicBezTo>
                <a:lnTo>
                  <a:pt x="0" y="167984"/>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125401" tIns="87301" rIns="125401" bIns="87301" spcCol="1270" anchor="ctr"/>
          <a:lstStyle/>
          <a:p>
            <a:pPr algn="ctr" defTabSz="888978">
              <a:lnSpc>
                <a:spcPct val="90000"/>
              </a:lnSpc>
              <a:spcBef>
                <a:spcPct val="0"/>
              </a:spcBef>
              <a:spcAft>
                <a:spcPct val="35000"/>
              </a:spcAft>
              <a:defRPr/>
            </a:pPr>
            <a:r>
              <a:rPr lang="zh-CN" altLang="en-US" sz="2000" b="1" u="sng" dirty="0">
                <a:solidFill>
                  <a:prstClr val="white"/>
                </a:solidFill>
                <a:latin typeface="+mj-ea"/>
                <a:ea typeface="+mj-ea"/>
              </a:rPr>
              <a:t>横向协同计划与执行</a:t>
            </a:r>
            <a:endParaRPr lang="en-US" altLang="zh-CN" sz="2000" b="1" u="sng" dirty="0">
              <a:solidFill>
                <a:prstClr val="white"/>
              </a:solidFill>
              <a:latin typeface="+mj-ea"/>
              <a:ea typeface="+mj-ea"/>
            </a:endParaRPr>
          </a:p>
        </p:txBody>
      </p:sp>
      <p:sp>
        <p:nvSpPr>
          <p:cNvPr id="6" name="Freeform 11"/>
          <p:cNvSpPr/>
          <p:nvPr/>
        </p:nvSpPr>
        <p:spPr>
          <a:xfrm>
            <a:off x="1953685" y="2516718"/>
            <a:ext cx="2139951" cy="1007533"/>
          </a:xfrm>
          <a:custGeom>
            <a:avLst/>
            <a:gdLst>
              <a:gd name="connsiteX0" fmla="*/ 0 w 2139394"/>
              <a:gd name="connsiteY0" fmla="*/ 167984 h 1007882"/>
              <a:gd name="connsiteX1" fmla="*/ 49202 w 2139394"/>
              <a:gd name="connsiteY1" fmla="*/ 49201 h 1007882"/>
              <a:gd name="connsiteX2" fmla="*/ 167985 w 2139394"/>
              <a:gd name="connsiteY2" fmla="*/ 0 h 1007882"/>
              <a:gd name="connsiteX3" fmla="*/ 1971410 w 2139394"/>
              <a:gd name="connsiteY3" fmla="*/ 0 h 1007882"/>
              <a:gd name="connsiteX4" fmla="*/ 2090193 w 2139394"/>
              <a:gd name="connsiteY4" fmla="*/ 49202 h 1007882"/>
              <a:gd name="connsiteX5" fmla="*/ 2139394 w 2139394"/>
              <a:gd name="connsiteY5" fmla="*/ 167985 h 1007882"/>
              <a:gd name="connsiteX6" fmla="*/ 2139394 w 2139394"/>
              <a:gd name="connsiteY6" fmla="*/ 839898 h 1007882"/>
              <a:gd name="connsiteX7" fmla="*/ 2090193 w 2139394"/>
              <a:gd name="connsiteY7" fmla="*/ 958681 h 1007882"/>
              <a:gd name="connsiteX8" fmla="*/ 1971410 w 2139394"/>
              <a:gd name="connsiteY8" fmla="*/ 1007882 h 1007882"/>
              <a:gd name="connsiteX9" fmla="*/ 167984 w 2139394"/>
              <a:gd name="connsiteY9" fmla="*/ 1007882 h 1007882"/>
              <a:gd name="connsiteX10" fmla="*/ 49201 w 2139394"/>
              <a:gd name="connsiteY10" fmla="*/ 958681 h 1007882"/>
              <a:gd name="connsiteX11" fmla="*/ 0 w 2139394"/>
              <a:gd name="connsiteY11" fmla="*/ 839898 h 1007882"/>
              <a:gd name="connsiteX12" fmla="*/ 0 w 2139394"/>
              <a:gd name="connsiteY12" fmla="*/ 167984 h 100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9394" h="1007882">
                <a:moveTo>
                  <a:pt x="0" y="167984"/>
                </a:moveTo>
                <a:cubicBezTo>
                  <a:pt x="0" y="123432"/>
                  <a:pt x="17698" y="80704"/>
                  <a:pt x="49202" y="49201"/>
                </a:cubicBezTo>
                <a:cubicBezTo>
                  <a:pt x="80705" y="17698"/>
                  <a:pt x="123433" y="0"/>
                  <a:pt x="167985" y="0"/>
                </a:cubicBezTo>
                <a:lnTo>
                  <a:pt x="1971410" y="0"/>
                </a:lnTo>
                <a:cubicBezTo>
                  <a:pt x="2015962" y="0"/>
                  <a:pt x="2058690" y="17698"/>
                  <a:pt x="2090193" y="49202"/>
                </a:cubicBezTo>
                <a:cubicBezTo>
                  <a:pt x="2121696" y="80705"/>
                  <a:pt x="2139394" y="123433"/>
                  <a:pt x="2139394" y="167985"/>
                </a:cubicBezTo>
                <a:lnTo>
                  <a:pt x="2139394" y="839898"/>
                </a:lnTo>
                <a:cubicBezTo>
                  <a:pt x="2139394" y="884450"/>
                  <a:pt x="2121696" y="927178"/>
                  <a:pt x="2090193" y="958681"/>
                </a:cubicBezTo>
                <a:cubicBezTo>
                  <a:pt x="2058690" y="990184"/>
                  <a:pt x="2015962" y="1007882"/>
                  <a:pt x="1971410" y="1007882"/>
                </a:cubicBezTo>
                <a:lnTo>
                  <a:pt x="167984" y="1007882"/>
                </a:lnTo>
                <a:cubicBezTo>
                  <a:pt x="123432" y="1007882"/>
                  <a:pt x="80704" y="990184"/>
                  <a:pt x="49201" y="958681"/>
                </a:cubicBezTo>
                <a:cubicBezTo>
                  <a:pt x="17698" y="927178"/>
                  <a:pt x="0" y="884450"/>
                  <a:pt x="0" y="839898"/>
                </a:cubicBezTo>
                <a:lnTo>
                  <a:pt x="0" y="167984"/>
                </a:lnTo>
                <a:close/>
              </a:path>
            </a:pathLst>
          </a:custGeom>
          <a:gradFill flip="none" rotWithShape="1">
            <a:gsLst>
              <a:gs pos="0">
                <a:schemeClr val="accent2"/>
              </a:gs>
              <a:gs pos="100000">
                <a:schemeClr val="accent2">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defTabSz="888978">
              <a:lnSpc>
                <a:spcPct val="90000"/>
              </a:lnSpc>
              <a:spcBef>
                <a:spcPct val="0"/>
              </a:spcBef>
              <a:spcAft>
                <a:spcPct val="35000"/>
              </a:spcAft>
              <a:defRPr/>
            </a:pPr>
            <a:r>
              <a:rPr lang="zh-CN" altLang="en-US" sz="1800" b="1" u="sng" dirty="0">
                <a:solidFill>
                  <a:prstClr val="white"/>
                </a:solidFill>
                <a:latin typeface="+mj-ea"/>
                <a:ea typeface="+mj-ea"/>
              </a:rPr>
              <a:t>优先级机制存在矛盾</a:t>
            </a:r>
            <a:endParaRPr lang="en-US" altLang="zh-CN" sz="1800" b="1" u="sng" dirty="0">
              <a:solidFill>
                <a:prstClr val="white"/>
              </a:solidFill>
              <a:latin typeface="+mj-ea"/>
              <a:ea typeface="+mj-ea"/>
            </a:endParaRPr>
          </a:p>
        </p:txBody>
      </p:sp>
      <p:sp>
        <p:nvSpPr>
          <p:cNvPr id="7" name="Freeform 12"/>
          <p:cNvSpPr/>
          <p:nvPr/>
        </p:nvSpPr>
        <p:spPr>
          <a:xfrm>
            <a:off x="4093634" y="3676651"/>
            <a:ext cx="5738284" cy="806451"/>
          </a:xfrm>
          <a:custGeom>
            <a:avLst/>
            <a:gdLst>
              <a:gd name="connsiteX0" fmla="*/ 134387 w 806306"/>
              <a:gd name="connsiteY0" fmla="*/ 0 h 5737036"/>
              <a:gd name="connsiteX1" fmla="*/ 671919 w 806306"/>
              <a:gd name="connsiteY1" fmla="*/ 0 h 5737036"/>
              <a:gd name="connsiteX2" fmla="*/ 766945 w 806306"/>
              <a:gd name="connsiteY2" fmla="*/ 39361 h 5737036"/>
              <a:gd name="connsiteX3" fmla="*/ 806306 w 806306"/>
              <a:gd name="connsiteY3" fmla="*/ 134387 h 5737036"/>
              <a:gd name="connsiteX4" fmla="*/ 806306 w 806306"/>
              <a:gd name="connsiteY4" fmla="*/ 5737036 h 5737036"/>
              <a:gd name="connsiteX5" fmla="*/ 806306 w 806306"/>
              <a:gd name="connsiteY5" fmla="*/ 5737036 h 5737036"/>
              <a:gd name="connsiteX6" fmla="*/ 806306 w 806306"/>
              <a:gd name="connsiteY6" fmla="*/ 5737036 h 5737036"/>
              <a:gd name="connsiteX7" fmla="*/ 0 w 806306"/>
              <a:gd name="connsiteY7" fmla="*/ 5737036 h 5737036"/>
              <a:gd name="connsiteX8" fmla="*/ 0 w 806306"/>
              <a:gd name="connsiteY8" fmla="*/ 5737036 h 5737036"/>
              <a:gd name="connsiteX9" fmla="*/ 0 w 806306"/>
              <a:gd name="connsiteY9" fmla="*/ 5737036 h 5737036"/>
              <a:gd name="connsiteX10" fmla="*/ 0 w 806306"/>
              <a:gd name="connsiteY10" fmla="*/ 134387 h 5737036"/>
              <a:gd name="connsiteX11" fmla="*/ 39361 w 806306"/>
              <a:gd name="connsiteY11" fmla="*/ 39361 h 5737036"/>
              <a:gd name="connsiteX12" fmla="*/ 134387 w 806306"/>
              <a:gd name="connsiteY12" fmla="*/ 0 h 573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6306" h="5737036">
                <a:moveTo>
                  <a:pt x="806306" y="956194"/>
                </a:moveTo>
                <a:lnTo>
                  <a:pt x="806306" y="4780842"/>
                </a:lnTo>
                <a:cubicBezTo>
                  <a:pt x="806306" y="5034442"/>
                  <a:pt x="804316" y="5277654"/>
                  <a:pt x="800774" y="5456971"/>
                </a:cubicBezTo>
                <a:cubicBezTo>
                  <a:pt x="797232" y="5636288"/>
                  <a:pt x="792428" y="5737032"/>
                  <a:pt x="787419" y="5737032"/>
                </a:cubicBezTo>
                <a:lnTo>
                  <a:pt x="0" y="5737032"/>
                </a:lnTo>
                <a:lnTo>
                  <a:pt x="0" y="5737032"/>
                </a:lnTo>
                <a:lnTo>
                  <a:pt x="0" y="5737032"/>
                </a:lnTo>
                <a:lnTo>
                  <a:pt x="0" y="4"/>
                </a:lnTo>
                <a:lnTo>
                  <a:pt x="0" y="4"/>
                </a:lnTo>
                <a:lnTo>
                  <a:pt x="0" y="4"/>
                </a:lnTo>
                <a:lnTo>
                  <a:pt x="787419" y="4"/>
                </a:lnTo>
                <a:cubicBezTo>
                  <a:pt x="792428" y="4"/>
                  <a:pt x="797232" y="100748"/>
                  <a:pt x="800774" y="280065"/>
                </a:cubicBezTo>
                <a:cubicBezTo>
                  <a:pt x="804316" y="459382"/>
                  <a:pt x="806306" y="702594"/>
                  <a:pt x="806306" y="956194"/>
                </a:cubicBezTo>
                <a:close/>
              </a:path>
            </a:pathLst>
          </a:custGeom>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247651" tIns="163185" rIns="287011" bIns="163187" spcCol="1270" anchor="ctr"/>
          <a:lstStyle/>
          <a:p>
            <a:pPr marL="228594" lvl="1" indent="-228594" defTabSz="888978">
              <a:lnSpc>
                <a:spcPct val="90000"/>
              </a:lnSpc>
              <a:spcBef>
                <a:spcPct val="0"/>
              </a:spcBef>
              <a:spcAft>
                <a:spcPct val="15000"/>
              </a:spcAft>
              <a:buFontTx/>
              <a:buChar char="•"/>
              <a:defRPr/>
            </a:pPr>
            <a:r>
              <a:rPr lang="zh-CN" altLang="en-US" sz="2000" dirty="0">
                <a:solidFill>
                  <a:srgbClr val="000000">
                    <a:hueOff val="0"/>
                    <a:satOff val="0"/>
                    <a:lumOff val="0"/>
                    <a:alphaOff val="0"/>
                  </a:srgbClr>
                </a:solidFill>
                <a:latin typeface="+mj-ea"/>
                <a:ea typeface="+mj-ea"/>
              </a:rPr>
              <a:t>如何优化交付速度</a:t>
            </a:r>
            <a:endParaRPr lang="en-US" sz="2000" dirty="0">
              <a:solidFill>
                <a:srgbClr val="000000">
                  <a:hueOff val="0"/>
                  <a:satOff val="0"/>
                  <a:lumOff val="0"/>
                  <a:alphaOff val="0"/>
                </a:srgbClr>
              </a:solidFill>
              <a:latin typeface="+mj-ea"/>
              <a:ea typeface="+mj-ea"/>
            </a:endParaRPr>
          </a:p>
        </p:txBody>
      </p:sp>
      <p:sp>
        <p:nvSpPr>
          <p:cNvPr id="8" name="Freeform 13"/>
          <p:cNvSpPr/>
          <p:nvPr/>
        </p:nvSpPr>
        <p:spPr>
          <a:xfrm>
            <a:off x="1953685" y="3575051"/>
            <a:ext cx="2139951" cy="1007533"/>
          </a:xfrm>
          <a:custGeom>
            <a:avLst/>
            <a:gdLst>
              <a:gd name="connsiteX0" fmla="*/ 0 w 2139394"/>
              <a:gd name="connsiteY0" fmla="*/ 167984 h 1007882"/>
              <a:gd name="connsiteX1" fmla="*/ 49202 w 2139394"/>
              <a:gd name="connsiteY1" fmla="*/ 49201 h 1007882"/>
              <a:gd name="connsiteX2" fmla="*/ 167985 w 2139394"/>
              <a:gd name="connsiteY2" fmla="*/ 0 h 1007882"/>
              <a:gd name="connsiteX3" fmla="*/ 1971410 w 2139394"/>
              <a:gd name="connsiteY3" fmla="*/ 0 h 1007882"/>
              <a:gd name="connsiteX4" fmla="*/ 2090193 w 2139394"/>
              <a:gd name="connsiteY4" fmla="*/ 49202 h 1007882"/>
              <a:gd name="connsiteX5" fmla="*/ 2139394 w 2139394"/>
              <a:gd name="connsiteY5" fmla="*/ 167985 h 1007882"/>
              <a:gd name="connsiteX6" fmla="*/ 2139394 w 2139394"/>
              <a:gd name="connsiteY6" fmla="*/ 839898 h 1007882"/>
              <a:gd name="connsiteX7" fmla="*/ 2090193 w 2139394"/>
              <a:gd name="connsiteY7" fmla="*/ 958681 h 1007882"/>
              <a:gd name="connsiteX8" fmla="*/ 1971410 w 2139394"/>
              <a:gd name="connsiteY8" fmla="*/ 1007882 h 1007882"/>
              <a:gd name="connsiteX9" fmla="*/ 167984 w 2139394"/>
              <a:gd name="connsiteY9" fmla="*/ 1007882 h 1007882"/>
              <a:gd name="connsiteX10" fmla="*/ 49201 w 2139394"/>
              <a:gd name="connsiteY10" fmla="*/ 958681 h 1007882"/>
              <a:gd name="connsiteX11" fmla="*/ 0 w 2139394"/>
              <a:gd name="connsiteY11" fmla="*/ 839898 h 1007882"/>
              <a:gd name="connsiteX12" fmla="*/ 0 w 2139394"/>
              <a:gd name="connsiteY12" fmla="*/ 167984 h 100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9394" h="1007882">
                <a:moveTo>
                  <a:pt x="0" y="167984"/>
                </a:moveTo>
                <a:cubicBezTo>
                  <a:pt x="0" y="123432"/>
                  <a:pt x="17698" y="80704"/>
                  <a:pt x="49202" y="49201"/>
                </a:cubicBezTo>
                <a:cubicBezTo>
                  <a:pt x="80705" y="17698"/>
                  <a:pt x="123433" y="0"/>
                  <a:pt x="167985" y="0"/>
                </a:cubicBezTo>
                <a:lnTo>
                  <a:pt x="1971410" y="0"/>
                </a:lnTo>
                <a:cubicBezTo>
                  <a:pt x="2015962" y="0"/>
                  <a:pt x="2058690" y="17698"/>
                  <a:pt x="2090193" y="49202"/>
                </a:cubicBezTo>
                <a:cubicBezTo>
                  <a:pt x="2121696" y="80705"/>
                  <a:pt x="2139394" y="123433"/>
                  <a:pt x="2139394" y="167985"/>
                </a:cubicBezTo>
                <a:lnTo>
                  <a:pt x="2139394" y="839898"/>
                </a:lnTo>
                <a:cubicBezTo>
                  <a:pt x="2139394" y="884450"/>
                  <a:pt x="2121696" y="927178"/>
                  <a:pt x="2090193" y="958681"/>
                </a:cubicBezTo>
                <a:cubicBezTo>
                  <a:pt x="2058690" y="990184"/>
                  <a:pt x="2015962" y="1007882"/>
                  <a:pt x="1971410" y="1007882"/>
                </a:cubicBezTo>
                <a:lnTo>
                  <a:pt x="167984" y="1007882"/>
                </a:lnTo>
                <a:cubicBezTo>
                  <a:pt x="123432" y="1007882"/>
                  <a:pt x="80704" y="990184"/>
                  <a:pt x="49201" y="958681"/>
                </a:cubicBezTo>
                <a:cubicBezTo>
                  <a:pt x="17698" y="927178"/>
                  <a:pt x="0" y="884450"/>
                  <a:pt x="0" y="839898"/>
                </a:cubicBezTo>
                <a:lnTo>
                  <a:pt x="0" y="167984"/>
                </a:lnTo>
                <a:close/>
              </a:path>
            </a:pathLst>
          </a:custGeom>
          <a:gradFill flip="none" rotWithShape="1">
            <a:gsLst>
              <a:gs pos="0">
                <a:schemeClr val="accent3"/>
              </a:gs>
              <a:gs pos="100000">
                <a:schemeClr val="accent3">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r>
              <a:rPr lang="zh-CN" altLang="en-US" dirty="0">
                <a:latin typeface="+mj-ea"/>
                <a:ea typeface="+mj-ea"/>
              </a:rPr>
              <a:t>平衡计划准确性和交付速度</a:t>
            </a:r>
            <a:endParaRPr lang="en-US" altLang="zh-CN" dirty="0">
              <a:latin typeface="+mj-ea"/>
              <a:ea typeface="+mj-ea"/>
            </a:endParaRPr>
          </a:p>
        </p:txBody>
      </p:sp>
      <p:sp>
        <p:nvSpPr>
          <p:cNvPr id="10" name="Freeform 10">
            <a:extLst>
              <a:ext uri="{FF2B5EF4-FFF2-40B4-BE49-F238E27FC236}">
                <a16:creationId xmlns:a16="http://schemas.microsoft.com/office/drawing/2014/main" id="{7E9F143F-2B71-485E-EF56-C2A63C284176}"/>
              </a:ext>
            </a:extLst>
          </p:cNvPr>
          <p:cNvSpPr/>
          <p:nvPr/>
        </p:nvSpPr>
        <p:spPr>
          <a:xfrm>
            <a:off x="4111174" y="2548466"/>
            <a:ext cx="5738284" cy="996951"/>
          </a:xfrm>
          <a:custGeom>
            <a:avLst/>
            <a:gdLst>
              <a:gd name="connsiteX0" fmla="*/ 134387 w 806306"/>
              <a:gd name="connsiteY0" fmla="*/ 0 h 5737036"/>
              <a:gd name="connsiteX1" fmla="*/ 671919 w 806306"/>
              <a:gd name="connsiteY1" fmla="*/ 0 h 5737036"/>
              <a:gd name="connsiteX2" fmla="*/ 766945 w 806306"/>
              <a:gd name="connsiteY2" fmla="*/ 39361 h 5737036"/>
              <a:gd name="connsiteX3" fmla="*/ 806306 w 806306"/>
              <a:gd name="connsiteY3" fmla="*/ 134387 h 5737036"/>
              <a:gd name="connsiteX4" fmla="*/ 806306 w 806306"/>
              <a:gd name="connsiteY4" fmla="*/ 5737036 h 5737036"/>
              <a:gd name="connsiteX5" fmla="*/ 806306 w 806306"/>
              <a:gd name="connsiteY5" fmla="*/ 5737036 h 5737036"/>
              <a:gd name="connsiteX6" fmla="*/ 806306 w 806306"/>
              <a:gd name="connsiteY6" fmla="*/ 5737036 h 5737036"/>
              <a:gd name="connsiteX7" fmla="*/ 0 w 806306"/>
              <a:gd name="connsiteY7" fmla="*/ 5737036 h 5737036"/>
              <a:gd name="connsiteX8" fmla="*/ 0 w 806306"/>
              <a:gd name="connsiteY8" fmla="*/ 5737036 h 5737036"/>
              <a:gd name="connsiteX9" fmla="*/ 0 w 806306"/>
              <a:gd name="connsiteY9" fmla="*/ 5737036 h 5737036"/>
              <a:gd name="connsiteX10" fmla="*/ 0 w 806306"/>
              <a:gd name="connsiteY10" fmla="*/ 134387 h 5737036"/>
              <a:gd name="connsiteX11" fmla="*/ 39361 w 806306"/>
              <a:gd name="connsiteY11" fmla="*/ 39361 h 5737036"/>
              <a:gd name="connsiteX12" fmla="*/ 134387 w 806306"/>
              <a:gd name="connsiteY12" fmla="*/ 0 h 573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6306" h="5737036">
                <a:moveTo>
                  <a:pt x="806306" y="956194"/>
                </a:moveTo>
                <a:lnTo>
                  <a:pt x="806306" y="4780842"/>
                </a:lnTo>
                <a:cubicBezTo>
                  <a:pt x="806306" y="5034442"/>
                  <a:pt x="804316" y="5277654"/>
                  <a:pt x="800774" y="5456971"/>
                </a:cubicBezTo>
                <a:cubicBezTo>
                  <a:pt x="797232" y="5636288"/>
                  <a:pt x="792428" y="5737032"/>
                  <a:pt x="787419" y="5737032"/>
                </a:cubicBezTo>
                <a:lnTo>
                  <a:pt x="0" y="5737032"/>
                </a:lnTo>
                <a:lnTo>
                  <a:pt x="0" y="5737032"/>
                </a:lnTo>
                <a:lnTo>
                  <a:pt x="0" y="5737032"/>
                </a:lnTo>
                <a:lnTo>
                  <a:pt x="0" y="4"/>
                </a:lnTo>
                <a:lnTo>
                  <a:pt x="0" y="4"/>
                </a:lnTo>
                <a:lnTo>
                  <a:pt x="0" y="4"/>
                </a:lnTo>
                <a:lnTo>
                  <a:pt x="787419" y="4"/>
                </a:lnTo>
                <a:cubicBezTo>
                  <a:pt x="792428" y="4"/>
                  <a:pt x="797232" y="100748"/>
                  <a:pt x="800774" y="280065"/>
                </a:cubicBezTo>
                <a:cubicBezTo>
                  <a:pt x="804316" y="459382"/>
                  <a:pt x="806306" y="702594"/>
                  <a:pt x="806306" y="956194"/>
                </a:cubicBezTo>
                <a:close/>
              </a:path>
            </a:pathLst>
          </a:custGeom>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247651" tIns="163185" rIns="287011" bIns="163187" anchor="ctr"/>
          <a:lstStyle/>
          <a:p>
            <a:pPr marL="228594" lvl="1" indent="-228594" defTabSz="888978">
              <a:lnSpc>
                <a:spcPct val="90000"/>
              </a:lnSpc>
              <a:spcBef>
                <a:spcPct val="0"/>
              </a:spcBef>
              <a:spcAft>
                <a:spcPct val="15000"/>
              </a:spcAft>
              <a:buFontTx/>
              <a:buChar char="•"/>
              <a:defRPr/>
            </a:pPr>
            <a:r>
              <a:rPr lang="zh-CN" altLang="en-US" sz="1800" b="1" dirty="0">
                <a:solidFill>
                  <a:srgbClr val="000000">
                    <a:hueOff val="0"/>
                    <a:satOff val="0"/>
                    <a:lumOff val="0"/>
                    <a:alphaOff val="0"/>
                  </a:srgbClr>
                </a:solidFill>
                <a:latin typeface="+mj-ea"/>
                <a:ea typeface="+mj-ea"/>
              </a:rPr>
              <a:t>优先级存在差异</a:t>
            </a:r>
            <a:endParaRPr lang="en-US" altLang="zh-CN" sz="1800" dirty="0">
              <a:solidFill>
                <a:srgbClr val="000000">
                  <a:hueOff val="0"/>
                  <a:satOff val="0"/>
                  <a:lumOff val="0"/>
                  <a:alphaOff val="0"/>
                </a:srgbClr>
              </a:solidFill>
              <a:latin typeface="+mj-ea"/>
              <a:ea typeface="+mj-ea"/>
            </a:endParaRPr>
          </a:p>
        </p:txBody>
      </p:sp>
    </p:spTree>
  </p:cSld>
  <p:clrMapOvr>
    <a:overrideClrMapping bg1="dk1" tx1="lt1" bg2="dk2" tx2="lt2" accent1="accent1" accent2="accent2" accent3="accent3" accent4="accent4" accent5="accent5" accent6="accent6" hlink="hlink" folHlink="folHlink"/>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63A3958-37BF-8824-92C9-32906B94E028}"/>
              </a:ext>
            </a:extLst>
          </p:cNvPr>
          <p:cNvSpPr>
            <a:spLocks noGrp="1"/>
          </p:cNvSpPr>
          <p:nvPr>
            <p:ph type="title"/>
          </p:nvPr>
        </p:nvSpPr>
        <p:spPr/>
        <p:txBody>
          <a:bodyPr/>
          <a:lstStyle/>
          <a:p>
            <a:r>
              <a:rPr lang="zh-CN" altLang="en-US" dirty="0">
                <a:solidFill>
                  <a:schemeClr val="bg1"/>
                </a:solidFill>
                <a:latin typeface="+mj-ea"/>
              </a:rPr>
              <a:t>保交期的物料和资源预留带来的挑战</a:t>
            </a:r>
          </a:p>
        </p:txBody>
      </p:sp>
      <p:cxnSp>
        <p:nvCxnSpPr>
          <p:cNvPr id="4" name="直接箭头连接符 6">
            <a:extLst>
              <a:ext uri="{FF2B5EF4-FFF2-40B4-BE49-F238E27FC236}">
                <a16:creationId xmlns:a16="http://schemas.microsoft.com/office/drawing/2014/main" id="{180ED46A-B303-9A3D-1CAC-CB859F9FAAFE}"/>
              </a:ext>
            </a:extLst>
          </p:cNvPr>
          <p:cNvCxnSpPr/>
          <p:nvPr/>
        </p:nvCxnSpPr>
        <p:spPr>
          <a:xfrm>
            <a:off x="893234" y="3507317"/>
            <a:ext cx="9334500" cy="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13">
            <a:extLst>
              <a:ext uri="{FF2B5EF4-FFF2-40B4-BE49-F238E27FC236}">
                <a16:creationId xmlns:a16="http://schemas.microsoft.com/office/drawing/2014/main" id="{F4C8CEBA-E445-77C0-D911-6B1A054F16B5}"/>
              </a:ext>
            </a:extLst>
          </p:cNvPr>
          <p:cNvCxnSpPr/>
          <p:nvPr/>
        </p:nvCxnSpPr>
        <p:spPr>
          <a:xfrm>
            <a:off x="3464984" y="2628901"/>
            <a:ext cx="0" cy="878417"/>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15">
            <a:extLst>
              <a:ext uri="{FF2B5EF4-FFF2-40B4-BE49-F238E27FC236}">
                <a16:creationId xmlns:a16="http://schemas.microsoft.com/office/drawing/2014/main" id="{1955E7D1-651C-6507-725E-B97A398D8BE7}"/>
              </a:ext>
            </a:extLst>
          </p:cNvPr>
          <p:cNvCxnSpPr/>
          <p:nvPr/>
        </p:nvCxnSpPr>
        <p:spPr>
          <a:xfrm>
            <a:off x="7687734" y="2628901"/>
            <a:ext cx="14817" cy="878417"/>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7" name="直接箭头连接符 23">
            <a:extLst>
              <a:ext uri="{FF2B5EF4-FFF2-40B4-BE49-F238E27FC236}">
                <a16:creationId xmlns:a16="http://schemas.microsoft.com/office/drawing/2014/main" id="{24244035-5DC7-D6AD-3FEF-5027120F1A65}"/>
              </a:ext>
            </a:extLst>
          </p:cNvPr>
          <p:cNvCxnSpPr/>
          <p:nvPr/>
        </p:nvCxnSpPr>
        <p:spPr>
          <a:xfrm flipV="1">
            <a:off x="2722033" y="3507318"/>
            <a:ext cx="0" cy="673100"/>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8" name="直接箭头连接符 35">
            <a:extLst>
              <a:ext uri="{FF2B5EF4-FFF2-40B4-BE49-F238E27FC236}">
                <a16:creationId xmlns:a16="http://schemas.microsoft.com/office/drawing/2014/main" id="{459F1F9D-24E3-C28D-87D3-A82DBBF380C3}"/>
              </a:ext>
            </a:extLst>
          </p:cNvPr>
          <p:cNvCxnSpPr/>
          <p:nvPr/>
        </p:nvCxnSpPr>
        <p:spPr>
          <a:xfrm flipV="1">
            <a:off x="2722033" y="4383617"/>
            <a:ext cx="0" cy="670984"/>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 name="矩形 27">
            <a:extLst>
              <a:ext uri="{FF2B5EF4-FFF2-40B4-BE49-F238E27FC236}">
                <a16:creationId xmlns:a16="http://schemas.microsoft.com/office/drawing/2014/main" id="{A297C071-F35C-1E96-D1A0-07BB2B6BAFCF}"/>
              </a:ext>
            </a:extLst>
          </p:cNvPr>
          <p:cNvSpPr/>
          <p:nvPr/>
        </p:nvSpPr>
        <p:spPr>
          <a:xfrm>
            <a:off x="2672927" y="2241974"/>
            <a:ext cx="1471507" cy="369310"/>
          </a:xfrm>
          <a:prstGeom prst="rect">
            <a:avLst/>
          </a:prstGeom>
          <a:solidFill>
            <a:srgbClr val="0070C0"/>
          </a:solid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algn="ctr" defTabSz="1217476" eaLnBrk="1" hangingPunct="1">
              <a:buNone/>
            </a:pPr>
            <a:r>
              <a:rPr lang="zh-CN" altLang="en-US" sz="1600" dirty="0">
                <a:solidFill>
                  <a:srgbClr val="FFFFFF"/>
                </a:solidFill>
                <a:latin typeface="+mj-ea"/>
                <a:ea typeface="+mj-ea"/>
                <a:sym typeface="+mn-ea"/>
              </a:rPr>
              <a:t>需求</a:t>
            </a:r>
            <a:r>
              <a:rPr lang="en-US" altLang="zh-CN" sz="1600" dirty="0">
                <a:solidFill>
                  <a:srgbClr val="FFFFFF"/>
                </a:solidFill>
                <a:latin typeface="+mj-ea"/>
                <a:ea typeface="+mj-ea"/>
                <a:sym typeface="+mn-ea"/>
              </a:rPr>
              <a:t>1</a:t>
            </a:r>
          </a:p>
        </p:txBody>
      </p:sp>
      <p:sp>
        <p:nvSpPr>
          <p:cNvPr id="10" name="矩形 38">
            <a:extLst>
              <a:ext uri="{FF2B5EF4-FFF2-40B4-BE49-F238E27FC236}">
                <a16:creationId xmlns:a16="http://schemas.microsoft.com/office/drawing/2014/main" id="{7CE8776A-1D00-995D-7103-C71D274BD65B}"/>
              </a:ext>
            </a:extLst>
          </p:cNvPr>
          <p:cNvSpPr/>
          <p:nvPr/>
        </p:nvSpPr>
        <p:spPr>
          <a:xfrm>
            <a:off x="6936740" y="2260601"/>
            <a:ext cx="1459653" cy="369310"/>
          </a:xfrm>
          <a:prstGeom prst="rect">
            <a:avLst/>
          </a:prstGeom>
          <a:solidFill>
            <a:srgbClr val="0070C0"/>
          </a:solid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mj-ea"/>
                <a:ea typeface="+mj-ea"/>
              </a:rPr>
              <a:t>需求</a:t>
            </a:r>
            <a:r>
              <a:rPr lang="en-US" altLang="zh-CN" sz="1600" dirty="0">
                <a:solidFill>
                  <a:srgbClr val="FFFFFF"/>
                </a:solidFill>
                <a:latin typeface="+mj-ea"/>
                <a:ea typeface="+mj-ea"/>
              </a:rPr>
              <a:t>2</a:t>
            </a:r>
            <a:endParaRPr lang="zh-CN" altLang="en-US" sz="1600" dirty="0">
              <a:solidFill>
                <a:srgbClr val="FFFFFF"/>
              </a:solidFill>
              <a:latin typeface="+mj-ea"/>
              <a:ea typeface="+mj-ea"/>
            </a:endParaRPr>
          </a:p>
        </p:txBody>
      </p:sp>
      <p:sp>
        <p:nvSpPr>
          <p:cNvPr id="11" name="矩形 28">
            <a:extLst>
              <a:ext uri="{FF2B5EF4-FFF2-40B4-BE49-F238E27FC236}">
                <a16:creationId xmlns:a16="http://schemas.microsoft.com/office/drawing/2014/main" id="{AA8E0B53-2490-9BB2-CC01-6DCB598EAF5D}"/>
              </a:ext>
            </a:extLst>
          </p:cNvPr>
          <p:cNvSpPr/>
          <p:nvPr/>
        </p:nvSpPr>
        <p:spPr>
          <a:xfrm>
            <a:off x="1300510" y="3699933"/>
            <a:ext cx="1390649" cy="369310"/>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mj-ea"/>
                <a:ea typeface="+mj-ea"/>
              </a:rPr>
              <a:t>库存</a:t>
            </a:r>
            <a:r>
              <a:rPr lang="en-US" altLang="zh-CN" sz="1600" dirty="0">
                <a:solidFill>
                  <a:srgbClr val="FFFFFF"/>
                </a:solidFill>
                <a:latin typeface="+mj-ea"/>
                <a:ea typeface="+mj-ea"/>
              </a:rPr>
              <a:t> A</a:t>
            </a:r>
            <a:endParaRPr lang="zh-CN" altLang="en-US" sz="1600" dirty="0">
              <a:solidFill>
                <a:srgbClr val="FFFFFF"/>
              </a:solidFill>
              <a:latin typeface="+mj-ea"/>
              <a:ea typeface="+mj-ea"/>
            </a:endParaRPr>
          </a:p>
        </p:txBody>
      </p:sp>
      <p:sp>
        <p:nvSpPr>
          <p:cNvPr id="12" name="矩形 41">
            <a:extLst>
              <a:ext uri="{FF2B5EF4-FFF2-40B4-BE49-F238E27FC236}">
                <a16:creationId xmlns:a16="http://schemas.microsoft.com/office/drawing/2014/main" id="{5D612D9C-B629-D79E-F408-A465BE226CB2}"/>
              </a:ext>
            </a:extLst>
          </p:cNvPr>
          <p:cNvSpPr/>
          <p:nvPr/>
        </p:nvSpPr>
        <p:spPr>
          <a:xfrm>
            <a:off x="1318438" y="4514851"/>
            <a:ext cx="1390649"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mj-ea"/>
                <a:ea typeface="+mj-ea"/>
              </a:rPr>
              <a:t>库存</a:t>
            </a:r>
            <a:r>
              <a:rPr lang="en-US" altLang="zh-CN" sz="1600" dirty="0">
                <a:solidFill>
                  <a:srgbClr val="FFFFFF"/>
                </a:solidFill>
                <a:latin typeface="+mj-ea"/>
                <a:ea typeface="+mj-ea"/>
              </a:rPr>
              <a:t> B</a:t>
            </a:r>
            <a:endParaRPr lang="zh-CN" altLang="en-US" sz="1600" dirty="0">
              <a:solidFill>
                <a:srgbClr val="FFFFFF"/>
              </a:solidFill>
              <a:latin typeface="+mj-ea"/>
              <a:ea typeface="+mj-ea"/>
            </a:endParaRPr>
          </a:p>
        </p:txBody>
      </p:sp>
      <p:sp>
        <p:nvSpPr>
          <p:cNvPr id="14" name="Line 58">
            <a:extLst>
              <a:ext uri="{FF2B5EF4-FFF2-40B4-BE49-F238E27FC236}">
                <a16:creationId xmlns:a16="http://schemas.microsoft.com/office/drawing/2014/main" id="{FD3DDD7A-024B-D09B-028F-DF0C53BB2D09}"/>
              </a:ext>
            </a:extLst>
          </p:cNvPr>
          <p:cNvSpPr/>
          <p:nvPr/>
        </p:nvSpPr>
        <p:spPr>
          <a:xfrm flipH="1">
            <a:off x="2722033" y="2628901"/>
            <a:ext cx="4936067" cy="1276351"/>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latin typeface="+mj-ea"/>
              <a:ea typeface="+mj-ea"/>
            </a:endParaRPr>
          </a:p>
        </p:txBody>
      </p:sp>
      <p:sp>
        <p:nvSpPr>
          <p:cNvPr id="15" name="Line 58">
            <a:extLst>
              <a:ext uri="{FF2B5EF4-FFF2-40B4-BE49-F238E27FC236}">
                <a16:creationId xmlns:a16="http://schemas.microsoft.com/office/drawing/2014/main" id="{E0657733-AE8E-DD2F-A964-0F9A244E5D2E}"/>
              </a:ext>
            </a:extLst>
          </p:cNvPr>
          <p:cNvSpPr/>
          <p:nvPr/>
        </p:nvSpPr>
        <p:spPr>
          <a:xfrm flipH="1">
            <a:off x="6371167" y="2628900"/>
            <a:ext cx="1286933" cy="1625600"/>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endParaRPr lang="zh-CN" altLang="en-US">
              <a:latin typeface="+mj-ea"/>
              <a:ea typeface="+mj-ea"/>
            </a:endParaRPr>
          </a:p>
        </p:txBody>
      </p:sp>
      <p:sp>
        <p:nvSpPr>
          <p:cNvPr id="16" name="矩形标注 13">
            <a:extLst>
              <a:ext uri="{FF2B5EF4-FFF2-40B4-BE49-F238E27FC236}">
                <a16:creationId xmlns:a16="http://schemas.microsoft.com/office/drawing/2014/main" id="{A8812ECF-3A50-74A0-F79C-BA771E4B30E7}"/>
              </a:ext>
            </a:extLst>
          </p:cNvPr>
          <p:cNvSpPr/>
          <p:nvPr/>
        </p:nvSpPr>
        <p:spPr>
          <a:xfrm>
            <a:off x="6972300" y="1517651"/>
            <a:ext cx="1439333" cy="510117"/>
          </a:xfrm>
          <a:prstGeom prst="wedgeRectCallout">
            <a:avLst>
              <a:gd name="adj1" fmla="val 782"/>
              <a:gd name="adj2" fmla="val 90562"/>
            </a:avLst>
          </a:prstGeom>
          <a:solidFill>
            <a:schemeClr val="bg2">
              <a:lumMod val="2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defTabSz="1217476"/>
            <a:r>
              <a:rPr lang="en-US" altLang="zh-CN" sz="1867" b="1" dirty="0">
                <a:solidFill>
                  <a:srgbClr val="FFFFFF"/>
                </a:solidFill>
                <a:latin typeface="+mj-ea"/>
                <a:ea typeface="+mj-ea"/>
              </a:rPr>
              <a:t>IPS</a:t>
            </a:r>
            <a:endParaRPr lang="zh-CN" altLang="en-US" sz="1867" b="1" dirty="0">
              <a:solidFill>
                <a:srgbClr val="FFFFFF"/>
              </a:solidFill>
              <a:latin typeface="+mj-ea"/>
              <a:ea typeface="+mj-ea"/>
            </a:endParaRPr>
          </a:p>
        </p:txBody>
      </p:sp>
      <p:sp>
        <p:nvSpPr>
          <p:cNvPr id="17" name="矩形标注 14">
            <a:extLst>
              <a:ext uri="{FF2B5EF4-FFF2-40B4-BE49-F238E27FC236}">
                <a16:creationId xmlns:a16="http://schemas.microsoft.com/office/drawing/2014/main" id="{7F4C9443-AF00-2395-0CCF-C07A1F9A3E31}"/>
              </a:ext>
            </a:extLst>
          </p:cNvPr>
          <p:cNvSpPr/>
          <p:nvPr/>
        </p:nvSpPr>
        <p:spPr>
          <a:xfrm>
            <a:off x="2743200" y="1517651"/>
            <a:ext cx="1439333" cy="510117"/>
          </a:xfrm>
          <a:prstGeom prst="wedgeRectCallout">
            <a:avLst>
              <a:gd name="adj1" fmla="val 782"/>
              <a:gd name="adj2" fmla="val 90562"/>
            </a:avLst>
          </a:prstGeom>
          <a:solidFill>
            <a:schemeClr val="bg2">
              <a:lumMod val="2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defTabSz="1217476"/>
            <a:r>
              <a:rPr lang="en-US" altLang="zh-CN" sz="1867" b="1" dirty="0">
                <a:solidFill>
                  <a:srgbClr val="FFFFFF"/>
                </a:solidFill>
                <a:latin typeface="+mj-ea"/>
                <a:ea typeface="+mj-ea"/>
              </a:rPr>
              <a:t>IPS</a:t>
            </a:r>
            <a:endParaRPr lang="zh-CN" altLang="en-US" sz="1867" b="1" dirty="0">
              <a:solidFill>
                <a:srgbClr val="FFFFFF"/>
              </a:solidFill>
              <a:latin typeface="+mj-ea"/>
              <a:ea typeface="+mj-ea"/>
            </a:endParaRPr>
          </a:p>
        </p:txBody>
      </p:sp>
      <p:sp>
        <p:nvSpPr>
          <p:cNvPr id="18" name="圆角矩形 16">
            <a:extLst>
              <a:ext uri="{FF2B5EF4-FFF2-40B4-BE49-F238E27FC236}">
                <a16:creationId xmlns:a16="http://schemas.microsoft.com/office/drawing/2014/main" id="{28790614-36E1-E0D2-05D9-098EC396F550}"/>
              </a:ext>
            </a:extLst>
          </p:cNvPr>
          <p:cNvSpPr/>
          <p:nvPr/>
        </p:nvSpPr>
        <p:spPr>
          <a:xfrm>
            <a:off x="8517204" y="1033957"/>
            <a:ext cx="3600451" cy="2243667"/>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defTabSz="1219170">
              <a:defRPr/>
            </a:pPr>
            <a:endParaRPr lang="en-US" altLang="zh-CN" sz="1400" dirty="0">
              <a:solidFill>
                <a:schemeClr val="bg1"/>
              </a:solidFill>
              <a:latin typeface="+mj-ea"/>
              <a:ea typeface="+mj-ea"/>
              <a:cs typeface="Arial Unicode MS" panose="020B0604020202020204" pitchFamily="34" charset="-122"/>
            </a:endParaRPr>
          </a:p>
          <a:p>
            <a:pPr marL="285750" indent="-285750" defTabSz="1219170">
              <a:buFont typeface="Arial" panose="020B0604020202020204" pitchFamily="34" charset="0"/>
              <a:buChar char="•"/>
              <a:defRPr/>
            </a:pPr>
            <a:r>
              <a:rPr lang="zh-CN" altLang="en-US" sz="1400" dirty="0">
                <a:solidFill>
                  <a:schemeClr val="bg1"/>
                </a:solidFill>
                <a:latin typeface="+mj-ea"/>
                <a:ea typeface="+mj-ea"/>
                <a:cs typeface="Arial Unicode MS" panose="020B0604020202020204" pitchFamily="34" charset="-122"/>
              </a:rPr>
              <a:t>需求</a:t>
            </a:r>
            <a:r>
              <a:rPr lang="en-US" altLang="zh-CN" sz="1400" dirty="0">
                <a:solidFill>
                  <a:schemeClr val="bg1"/>
                </a:solidFill>
                <a:latin typeface="+mj-ea"/>
                <a:ea typeface="+mj-ea"/>
                <a:cs typeface="Arial Unicode MS" panose="020B0604020202020204" pitchFamily="34" charset="-122"/>
              </a:rPr>
              <a:t>2</a:t>
            </a:r>
            <a:r>
              <a:rPr lang="zh-CN" altLang="en-US" sz="1400" dirty="0">
                <a:solidFill>
                  <a:schemeClr val="bg1"/>
                </a:solidFill>
                <a:latin typeface="+mj-ea"/>
                <a:ea typeface="+mj-ea"/>
                <a:cs typeface="Arial Unicode MS" panose="020B0604020202020204" pitchFamily="34" charset="-122"/>
              </a:rPr>
              <a:t>被优先满足</a:t>
            </a:r>
            <a:endParaRPr lang="en-US" altLang="zh-CN" sz="1400" dirty="0">
              <a:solidFill>
                <a:schemeClr val="bg1"/>
              </a:solidFill>
              <a:latin typeface="+mj-ea"/>
              <a:ea typeface="+mj-ea"/>
              <a:cs typeface="Arial Unicode MS" panose="020B0604020202020204" pitchFamily="34" charset="-122"/>
            </a:endParaRPr>
          </a:p>
          <a:p>
            <a:pPr marL="285750" indent="-285750" defTabSz="1219170">
              <a:buFont typeface="Arial" panose="020B0604020202020204" pitchFamily="34" charset="0"/>
              <a:buChar char="•"/>
              <a:defRPr/>
            </a:pPr>
            <a:r>
              <a:rPr lang="zh-CN" altLang="en-US" sz="1400" dirty="0">
                <a:solidFill>
                  <a:schemeClr val="bg1"/>
                </a:solidFill>
                <a:latin typeface="+mj-ea"/>
                <a:ea typeface="+mj-ea"/>
                <a:cs typeface="Arial Unicode MS" panose="020B0604020202020204" pitchFamily="34" charset="-122"/>
              </a:rPr>
              <a:t>需求</a:t>
            </a:r>
            <a:r>
              <a:rPr lang="en-US" altLang="zh-CN" sz="1400" dirty="0">
                <a:solidFill>
                  <a:schemeClr val="bg1"/>
                </a:solidFill>
                <a:latin typeface="+mj-ea"/>
                <a:ea typeface="+mj-ea"/>
                <a:cs typeface="Arial Unicode MS" panose="020B0604020202020204" pitchFamily="34" charset="-122"/>
              </a:rPr>
              <a:t>1</a:t>
            </a:r>
            <a:r>
              <a:rPr lang="zh-CN" altLang="en-US" sz="1400" dirty="0">
                <a:solidFill>
                  <a:schemeClr val="bg1"/>
                </a:solidFill>
                <a:latin typeface="+mj-ea"/>
                <a:ea typeface="+mj-ea"/>
                <a:cs typeface="Arial Unicode MS" panose="020B0604020202020204" pitchFamily="34" charset="-122"/>
              </a:rPr>
              <a:t>被次优来满足，但是交付晚了</a:t>
            </a:r>
            <a:endParaRPr lang="en-US" altLang="zh-CN" sz="1400" dirty="0">
              <a:solidFill>
                <a:schemeClr val="bg1"/>
              </a:solidFill>
              <a:latin typeface="+mj-ea"/>
              <a:ea typeface="+mj-ea"/>
              <a:cs typeface="Arial Unicode MS" panose="020B0604020202020204" pitchFamily="34" charset="-122"/>
            </a:endParaRPr>
          </a:p>
          <a:p>
            <a:pPr marL="285750" indent="-285750" defTabSz="1219170">
              <a:buFont typeface="Arial" panose="020B0604020202020204" pitchFamily="34" charset="0"/>
              <a:buChar char="•"/>
              <a:defRPr/>
            </a:pPr>
            <a:r>
              <a:rPr lang="zh-CN" altLang="en-US" sz="1400" dirty="0">
                <a:solidFill>
                  <a:schemeClr val="bg1"/>
                </a:solidFill>
                <a:latin typeface="+mj-ea"/>
                <a:ea typeface="+mj-ea"/>
                <a:cs typeface="Arial Unicode MS" panose="020B0604020202020204" pitchFamily="34" charset="-122"/>
              </a:rPr>
              <a:t>供应</a:t>
            </a:r>
            <a:r>
              <a:rPr lang="en-US" altLang="zh-CN" sz="1400" dirty="0">
                <a:solidFill>
                  <a:schemeClr val="bg1"/>
                </a:solidFill>
                <a:latin typeface="+mj-ea"/>
                <a:ea typeface="+mj-ea"/>
                <a:cs typeface="Arial Unicode MS" panose="020B0604020202020204" pitchFamily="34" charset="-122"/>
              </a:rPr>
              <a:t>A</a:t>
            </a:r>
            <a:r>
              <a:rPr lang="zh-CN" altLang="en-US" sz="1400" dirty="0">
                <a:solidFill>
                  <a:schemeClr val="bg1"/>
                </a:solidFill>
                <a:latin typeface="+mj-ea"/>
                <a:ea typeface="+mj-ea"/>
                <a:cs typeface="Arial Unicode MS" panose="020B0604020202020204" pitchFamily="34" charset="-122"/>
              </a:rPr>
              <a:t>的分配形成交叉</a:t>
            </a:r>
            <a:endParaRPr lang="en-US" altLang="zh-CN" sz="1400" dirty="0">
              <a:solidFill>
                <a:schemeClr val="bg1"/>
              </a:solidFill>
              <a:latin typeface="+mj-ea"/>
              <a:ea typeface="+mj-ea"/>
              <a:cs typeface="Arial Unicode MS" panose="020B0604020202020204" pitchFamily="34" charset="-122"/>
            </a:endParaRPr>
          </a:p>
        </p:txBody>
      </p:sp>
      <p:sp>
        <p:nvSpPr>
          <p:cNvPr id="19" name="矩形 26">
            <a:extLst>
              <a:ext uri="{FF2B5EF4-FFF2-40B4-BE49-F238E27FC236}">
                <a16:creationId xmlns:a16="http://schemas.microsoft.com/office/drawing/2014/main" id="{9A301477-F5A4-3EDF-C2D7-9CB4B4BE2301}"/>
              </a:ext>
            </a:extLst>
          </p:cNvPr>
          <p:cNvSpPr/>
          <p:nvPr/>
        </p:nvSpPr>
        <p:spPr>
          <a:xfrm>
            <a:off x="5558367" y="4254500"/>
            <a:ext cx="1384300"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rgbClr val="FFFFFF"/>
                </a:solidFill>
                <a:latin typeface="+mj-ea"/>
                <a:ea typeface="+mj-ea"/>
              </a:rPr>
              <a:t>计划到货 </a:t>
            </a:r>
            <a:r>
              <a:rPr lang="en-US" altLang="zh-CN" sz="1600" dirty="0">
                <a:solidFill>
                  <a:srgbClr val="FFFFFF"/>
                </a:solidFill>
                <a:latin typeface="+mj-ea"/>
                <a:ea typeface="+mj-ea"/>
              </a:rPr>
              <a:t>C</a:t>
            </a:r>
            <a:endParaRPr lang="zh-CN" altLang="en-US" sz="1600" dirty="0">
              <a:solidFill>
                <a:srgbClr val="FFFFFF"/>
              </a:solidFill>
              <a:latin typeface="+mj-ea"/>
              <a:ea typeface="+mj-ea"/>
            </a:endParaRPr>
          </a:p>
        </p:txBody>
      </p:sp>
      <p:cxnSp>
        <p:nvCxnSpPr>
          <p:cNvPr id="20" name="直接箭头连接符 29">
            <a:extLst>
              <a:ext uri="{FF2B5EF4-FFF2-40B4-BE49-F238E27FC236}">
                <a16:creationId xmlns:a16="http://schemas.microsoft.com/office/drawing/2014/main" id="{3AA46C42-1D2C-326A-F76B-B031C9115865}"/>
              </a:ext>
            </a:extLst>
          </p:cNvPr>
          <p:cNvCxnSpPr/>
          <p:nvPr/>
        </p:nvCxnSpPr>
        <p:spPr>
          <a:xfrm flipV="1">
            <a:off x="6371167" y="3507317"/>
            <a:ext cx="0" cy="747184"/>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1" name="矩形 31">
            <a:extLst>
              <a:ext uri="{FF2B5EF4-FFF2-40B4-BE49-F238E27FC236}">
                <a16:creationId xmlns:a16="http://schemas.microsoft.com/office/drawing/2014/main" id="{278825ED-ED1C-F7E5-5A27-808A6FD0B414}"/>
              </a:ext>
            </a:extLst>
          </p:cNvPr>
          <p:cNvSpPr/>
          <p:nvPr/>
        </p:nvSpPr>
        <p:spPr>
          <a:xfrm>
            <a:off x="4216400" y="4756151"/>
            <a:ext cx="1297517"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rgbClr val="FFFFFF"/>
                </a:solidFill>
                <a:latin typeface="+mj-ea"/>
                <a:ea typeface="+mj-ea"/>
              </a:rPr>
              <a:t>计划到货 </a:t>
            </a:r>
            <a:r>
              <a:rPr lang="en-US" altLang="zh-CN" sz="1600" dirty="0">
                <a:solidFill>
                  <a:srgbClr val="FFFFFF"/>
                </a:solidFill>
                <a:latin typeface="+mj-ea"/>
                <a:ea typeface="+mj-ea"/>
              </a:rPr>
              <a:t>A</a:t>
            </a:r>
            <a:endParaRPr lang="zh-CN" altLang="en-US" sz="1600" dirty="0">
              <a:solidFill>
                <a:srgbClr val="FFFFFF"/>
              </a:solidFill>
              <a:latin typeface="+mj-ea"/>
              <a:ea typeface="+mj-ea"/>
            </a:endParaRPr>
          </a:p>
        </p:txBody>
      </p:sp>
      <p:cxnSp>
        <p:nvCxnSpPr>
          <p:cNvPr id="22" name="直接箭头连接符 40">
            <a:extLst>
              <a:ext uri="{FF2B5EF4-FFF2-40B4-BE49-F238E27FC236}">
                <a16:creationId xmlns:a16="http://schemas.microsoft.com/office/drawing/2014/main" id="{98FBDDE1-0AEF-18E2-C35E-21FF66AB0122}"/>
              </a:ext>
            </a:extLst>
          </p:cNvPr>
          <p:cNvCxnSpPr/>
          <p:nvPr/>
        </p:nvCxnSpPr>
        <p:spPr>
          <a:xfrm flipV="1">
            <a:off x="4887384" y="3507317"/>
            <a:ext cx="0" cy="1219200"/>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3" name="Line 58">
            <a:extLst>
              <a:ext uri="{FF2B5EF4-FFF2-40B4-BE49-F238E27FC236}">
                <a16:creationId xmlns:a16="http://schemas.microsoft.com/office/drawing/2014/main" id="{EEDC3217-A347-2B6F-B9D6-775F82CEA784}"/>
              </a:ext>
            </a:extLst>
          </p:cNvPr>
          <p:cNvSpPr/>
          <p:nvPr/>
        </p:nvSpPr>
        <p:spPr>
          <a:xfrm flipH="1">
            <a:off x="2722034" y="2628901"/>
            <a:ext cx="742951" cy="1276351"/>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a:lstStyle/>
          <a:p>
            <a:endParaRPr lang="zh-CN" altLang="en-US">
              <a:latin typeface="+mj-ea"/>
              <a:ea typeface="+mj-ea"/>
            </a:endParaRPr>
          </a:p>
        </p:txBody>
      </p:sp>
      <p:sp>
        <p:nvSpPr>
          <p:cNvPr id="24" name="文本框 23">
            <a:extLst>
              <a:ext uri="{FF2B5EF4-FFF2-40B4-BE49-F238E27FC236}">
                <a16:creationId xmlns:a16="http://schemas.microsoft.com/office/drawing/2014/main" id="{16EED479-741A-F98B-66DE-45C4D76C00F0}"/>
              </a:ext>
            </a:extLst>
          </p:cNvPr>
          <p:cNvSpPr txBox="1"/>
          <p:nvPr/>
        </p:nvSpPr>
        <p:spPr>
          <a:xfrm rot="-3458914">
            <a:off x="2745318" y="2909070"/>
            <a:ext cx="916516" cy="379463"/>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en-US" altLang="zh-CN" sz="933" dirty="0">
                <a:solidFill>
                  <a:schemeClr val="bg1"/>
                </a:solidFill>
                <a:latin typeface="+mj-ea"/>
                <a:ea typeface="+mj-ea"/>
                <a:cs typeface="Arial" panose="020B0604020202020204" pitchFamily="34" charset="0"/>
              </a:rPr>
              <a:t>Reserved by DEMAND2</a:t>
            </a:r>
            <a:endParaRPr lang="zh-CN" altLang="en-US" sz="933" dirty="0">
              <a:solidFill>
                <a:schemeClr val="bg1"/>
              </a:solidFill>
              <a:latin typeface="+mj-ea"/>
              <a:ea typeface="+mj-ea"/>
            </a:endParaRPr>
          </a:p>
        </p:txBody>
      </p:sp>
      <p:cxnSp>
        <p:nvCxnSpPr>
          <p:cNvPr id="25" name="直接箭头连接符 5">
            <a:extLst>
              <a:ext uri="{FF2B5EF4-FFF2-40B4-BE49-F238E27FC236}">
                <a16:creationId xmlns:a16="http://schemas.microsoft.com/office/drawing/2014/main" id="{55B8AE45-6F3A-AAEE-2C0D-50FA27BFF33C}"/>
              </a:ext>
            </a:extLst>
          </p:cNvPr>
          <p:cNvCxnSpPr>
            <a:cxnSpLocks/>
          </p:cNvCxnSpPr>
          <p:nvPr/>
        </p:nvCxnSpPr>
        <p:spPr>
          <a:xfrm>
            <a:off x="3374814" y="2640917"/>
            <a:ext cx="1496484" cy="1041401"/>
          </a:xfrm>
          <a:prstGeom prst="straightConnector1">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cxnSp>
      <p:cxnSp>
        <p:nvCxnSpPr>
          <p:cNvPr id="26" name="直接箭头连接符 50">
            <a:extLst>
              <a:ext uri="{FF2B5EF4-FFF2-40B4-BE49-F238E27FC236}">
                <a16:creationId xmlns:a16="http://schemas.microsoft.com/office/drawing/2014/main" id="{1A67D773-9036-CDA9-E014-25A45218A556}"/>
              </a:ext>
            </a:extLst>
          </p:cNvPr>
          <p:cNvCxnSpPr>
            <a:endCxn id="12" idx="3"/>
          </p:cNvCxnSpPr>
          <p:nvPr/>
        </p:nvCxnSpPr>
        <p:spPr>
          <a:xfrm flipH="1">
            <a:off x="2709087" y="2658534"/>
            <a:ext cx="726018" cy="2040972"/>
          </a:xfrm>
          <a:prstGeom prst="straightConnector1">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cxnSp>
      <p:sp>
        <p:nvSpPr>
          <p:cNvPr id="27" name="圆角矩形标注 25">
            <a:extLst>
              <a:ext uri="{FF2B5EF4-FFF2-40B4-BE49-F238E27FC236}">
                <a16:creationId xmlns:a16="http://schemas.microsoft.com/office/drawing/2014/main" id="{B231793E-25CD-7428-9876-398F5A6B4DD8}"/>
              </a:ext>
            </a:extLst>
          </p:cNvPr>
          <p:cNvSpPr/>
          <p:nvPr/>
        </p:nvSpPr>
        <p:spPr>
          <a:xfrm>
            <a:off x="1348318" y="2241127"/>
            <a:ext cx="946151" cy="368300"/>
          </a:xfrm>
          <a:prstGeom prst="wedgeRoundRectCallout">
            <a:avLst>
              <a:gd name="adj1" fmla="val 92253"/>
              <a:gd name="adj2" fmla="val 7122"/>
              <a:gd name="adj3" fmla="val 16667"/>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en-US" altLang="zh-CN" sz="1600" dirty="0">
                <a:solidFill>
                  <a:srgbClr val="FFFFFF"/>
                </a:solidFill>
                <a:latin typeface="+mj-ea"/>
                <a:ea typeface="+mj-ea"/>
                <a:cs typeface="微软雅黑" panose="020B0503020204020204" pitchFamily="34" charset="-122"/>
              </a:rPr>
              <a:t>Late</a:t>
            </a:r>
            <a:endParaRPr lang="zh-CN" altLang="en-US" sz="1600">
              <a:solidFill>
                <a:srgbClr val="FFFFFF"/>
              </a:solidFill>
              <a:latin typeface="+mj-ea"/>
              <a:ea typeface="+mj-ea"/>
              <a:cs typeface="微软雅黑" panose="020B0503020204020204" pitchFamily="34" charset="-122"/>
            </a:endParaRPr>
          </a:p>
        </p:txBody>
      </p:sp>
      <p:cxnSp>
        <p:nvCxnSpPr>
          <p:cNvPr id="28" name="直接连接符 7">
            <a:extLst>
              <a:ext uri="{FF2B5EF4-FFF2-40B4-BE49-F238E27FC236}">
                <a16:creationId xmlns:a16="http://schemas.microsoft.com/office/drawing/2014/main" id="{4E8C0AB3-FFE3-408B-B011-8936D4FF3669}"/>
              </a:ext>
            </a:extLst>
          </p:cNvPr>
          <p:cNvCxnSpPr/>
          <p:nvPr/>
        </p:nvCxnSpPr>
        <p:spPr>
          <a:xfrm>
            <a:off x="2722033" y="1375834"/>
            <a:ext cx="0" cy="2131484"/>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9" name="直接连接符 7">
            <a:extLst>
              <a:ext uri="{FF2B5EF4-FFF2-40B4-BE49-F238E27FC236}">
                <a16:creationId xmlns:a16="http://schemas.microsoft.com/office/drawing/2014/main" id="{10AAE43C-F58C-391E-DFFC-8C6F179CD005}"/>
              </a:ext>
            </a:extLst>
          </p:cNvPr>
          <p:cNvCxnSpPr/>
          <p:nvPr/>
        </p:nvCxnSpPr>
        <p:spPr>
          <a:xfrm>
            <a:off x="4182533" y="1411818"/>
            <a:ext cx="0" cy="4070351"/>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0" name="直接连接符 7">
            <a:extLst>
              <a:ext uri="{FF2B5EF4-FFF2-40B4-BE49-F238E27FC236}">
                <a16:creationId xmlns:a16="http://schemas.microsoft.com/office/drawing/2014/main" id="{5C1C8290-688B-0042-C635-A2EC767CDBDD}"/>
              </a:ext>
            </a:extLst>
          </p:cNvPr>
          <p:cNvCxnSpPr/>
          <p:nvPr/>
        </p:nvCxnSpPr>
        <p:spPr>
          <a:xfrm>
            <a:off x="5528734" y="1473201"/>
            <a:ext cx="29633" cy="4008967"/>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接连接符 7">
            <a:extLst>
              <a:ext uri="{FF2B5EF4-FFF2-40B4-BE49-F238E27FC236}">
                <a16:creationId xmlns:a16="http://schemas.microsoft.com/office/drawing/2014/main" id="{2127C3EE-5A27-28F9-CBE7-DE6F3E421BFA}"/>
              </a:ext>
            </a:extLst>
          </p:cNvPr>
          <p:cNvCxnSpPr/>
          <p:nvPr/>
        </p:nvCxnSpPr>
        <p:spPr>
          <a:xfrm>
            <a:off x="6942667" y="1411818"/>
            <a:ext cx="0" cy="4070351"/>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接连接符 7">
            <a:extLst>
              <a:ext uri="{FF2B5EF4-FFF2-40B4-BE49-F238E27FC236}">
                <a16:creationId xmlns:a16="http://schemas.microsoft.com/office/drawing/2014/main" id="{5CAAA153-8635-80A1-C249-CD2B811CA83F}"/>
              </a:ext>
            </a:extLst>
          </p:cNvPr>
          <p:cNvCxnSpPr/>
          <p:nvPr/>
        </p:nvCxnSpPr>
        <p:spPr>
          <a:xfrm>
            <a:off x="8428567" y="1375834"/>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3" name="文本框 1">
            <a:extLst>
              <a:ext uri="{FF2B5EF4-FFF2-40B4-BE49-F238E27FC236}">
                <a16:creationId xmlns:a16="http://schemas.microsoft.com/office/drawing/2014/main" id="{7C2E9B62-3FAC-B74F-9328-50782AA1316A}"/>
              </a:ext>
            </a:extLst>
          </p:cNvPr>
          <p:cNvSpPr txBox="1"/>
          <p:nvPr/>
        </p:nvSpPr>
        <p:spPr>
          <a:xfrm>
            <a:off x="1153584" y="941918"/>
            <a:ext cx="1589616"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1</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34" name="文本框 1">
            <a:extLst>
              <a:ext uri="{FF2B5EF4-FFF2-40B4-BE49-F238E27FC236}">
                <a16:creationId xmlns:a16="http://schemas.microsoft.com/office/drawing/2014/main" id="{FE49B3BD-3137-D3A8-78A4-16B9C6F76A5F}"/>
              </a:ext>
            </a:extLst>
          </p:cNvPr>
          <p:cNvSpPr txBox="1"/>
          <p:nvPr/>
        </p:nvSpPr>
        <p:spPr>
          <a:xfrm>
            <a:off x="2580005" y="941917"/>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2</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35" name="文本框 1">
            <a:extLst>
              <a:ext uri="{FF2B5EF4-FFF2-40B4-BE49-F238E27FC236}">
                <a16:creationId xmlns:a16="http://schemas.microsoft.com/office/drawing/2014/main" id="{7F74220B-9DC9-A83E-95B6-3CF9D3C3E7B2}"/>
              </a:ext>
            </a:extLst>
          </p:cNvPr>
          <p:cNvSpPr txBox="1"/>
          <p:nvPr/>
        </p:nvSpPr>
        <p:spPr>
          <a:xfrm>
            <a:off x="5556251" y="937685"/>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4</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36" name="文本框 1">
            <a:extLst>
              <a:ext uri="{FF2B5EF4-FFF2-40B4-BE49-F238E27FC236}">
                <a16:creationId xmlns:a16="http://schemas.microsoft.com/office/drawing/2014/main" id="{4336B5FF-54FF-CC89-0B93-E6C574D6773A}"/>
              </a:ext>
            </a:extLst>
          </p:cNvPr>
          <p:cNvSpPr txBox="1"/>
          <p:nvPr/>
        </p:nvSpPr>
        <p:spPr>
          <a:xfrm>
            <a:off x="7001934" y="941918"/>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5</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37" name="文本框 7">
            <a:extLst>
              <a:ext uri="{FF2B5EF4-FFF2-40B4-BE49-F238E27FC236}">
                <a16:creationId xmlns:a16="http://schemas.microsoft.com/office/drawing/2014/main" id="{A2D7F6F8-DE35-FB16-08C1-2BAB984D497B}"/>
              </a:ext>
            </a:extLst>
          </p:cNvPr>
          <p:cNvSpPr txBox="1"/>
          <p:nvPr/>
        </p:nvSpPr>
        <p:spPr>
          <a:xfrm>
            <a:off x="10192400" y="3308407"/>
            <a:ext cx="1302564" cy="338554"/>
          </a:xfrm>
          <a:prstGeom prst="rect">
            <a:avLst/>
          </a:prstGeom>
          <a:noFill/>
        </p:spPr>
        <p:txBody>
          <a:bodyPr wrap="square" rtlCol="0">
            <a:spAutoFit/>
          </a:bodyPr>
          <a:lstStyle>
            <a:defPPr>
              <a:defRPr lang="zh-CN"/>
            </a:defPPr>
            <a:lvl1pPr marL="0" lvl="0"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1pPr>
            <a:lvl2pPr marL="457200" lvl="1"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2pPr>
            <a:lvl3pPr marL="914400" lvl="2"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3pPr>
            <a:lvl4pPr marL="1371600" lvl="3"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4pPr>
            <a:lvl5pPr marL="1828800" lvl="4"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5pPr>
            <a:lvl6pPr marL="2286000" lvl="5"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6pPr>
            <a:lvl7pPr marL="2743200" lvl="6"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7pPr>
            <a:lvl8pPr marL="3200400" lvl="7"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8pPr>
            <a:lvl9pPr marL="3657600" lvl="8"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9pPr>
          </a:lstStyle>
          <a:p>
            <a:r>
              <a:rPr lang="zh-CN" altLang="en-US" sz="1600" dirty="0">
                <a:solidFill>
                  <a:schemeClr val="bg1"/>
                </a:solidFill>
                <a:latin typeface="+mj-ea"/>
                <a:ea typeface="+mj-ea"/>
              </a:rPr>
              <a:t>需求日期</a:t>
            </a:r>
          </a:p>
        </p:txBody>
      </p:sp>
      <p:sp>
        <p:nvSpPr>
          <p:cNvPr id="3" name="文本框 1">
            <a:extLst>
              <a:ext uri="{FF2B5EF4-FFF2-40B4-BE49-F238E27FC236}">
                <a16:creationId xmlns:a16="http://schemas.microsoft.com/office/drawing/2014/main" id="{AAE23347-2A89-64AA-20F1-17019B6C2072}"/>
              </a:ext>
            </a:extLst>
          </p:cNvPr>
          <p:cNvSpPr txBox="1"/>
          <p:nvPr/>
        </p:nvSpPr>
        <p:spPr>
          <a:xfrm>
            <a:off x="4076025" y="941916"/>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3</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38" name="TextBox 30">
            <a:extLst>
              <a:ext uri="{FF2B5EF4-FFF2-40B4-BE49-F238E27FC236}">
                <a16:creationId xmlns:a16="http://schemas.microsoft.com/office/drawing/2014/main" id="{11892603-3C8F-9488-24BF-AA05C7EE9661}"/>
              </a:ext>
            </a:extLst>
          </p:cNvPr>
          <p:cNvSpPr txBox="1"/>
          <p:nvPr/>
        </p:nvSpPr>
        <p:spPr>
          <a:xfrm>
            <a:off x="991435" y="5444067"/>
            <a:ext cx="4497507" cy="1354195"/>
          </a:xfrm>
          <a:prstGeom prst="rect">
            <a:avLst/>
          </a:prstGeom>
          <a:no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600" b="1" dirty="0">
                <a:solidFill>
                  <a:schemeClr val="bg1"/>
                </a:solidFill>
                <a:latin typeface="+mj-ea"/>
                <a:ea typeface="+mj-ea"/>
              </a:rPr>
              <a:t>场景</a:t>
            </a:r>
            <a:r>
              <a:rPr lang="en-US" altLang="zh-CN" sz="1600" b="1" dirty="0">
                <a:solidFill>
                  <a:schemeClr val="bg1"/>
                </a:solidFill>
                <a:latin typeface="+mj-ea"/>
                <a:ea typeface="+mj-ea"/>
              </a:rPr>
              <a:t>:</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B</a:t>
            </a:r>
            <a:r>
              <a:rPr lang="zh-CN" altLang="en-US" sz="1600" dirty="0">
                <a:solidFill>
                  <a:schemeClr val="bg1"/>
                </a:solidFill>
                <a:latin typeface="+mj-ea"/>
                <a:ea typeface="+mj-ea"/>
              </a:rPr>
              <a:t>生产</a:t>
            </a:r>
            <a:endParaRPr lang="en-US" altLang="zh-CN" sz="1600" dirty="0">
              <a:solidFill>
                <a:schemeClr val="bg1"/>
              </a:solidFill>
              <a:latin typeface="+mj-ea"/>
              <a:ea typeface="+mj-ea"/>
            </a:endParaRP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C</a:t>
            </a:r>
            <a:r>
              <a:rPr lang="zh-CN" altLang="en-US" sz="1600" dirty="0">
                <a:solidFill>
                  <a:schemeClr val="bg1"/>
                </a:solidFill>
                <a:latin typeface="+mj-ea"/>
                <a:ea typeface="+mj-ea"/>
              </a:rPr>
              <a:t>生产</a:t>
            </a:r>
            <a:endParaRPr lang="en-US" altLang="zh-CN" sz="1600" dirty="0">
              <a:solidFill>
                <a:schemeClr val="bg1"/>
              </a:solidFill>
              <a:latin typeface="+mj-ea"/>
              <a:ea typeface="+mj-ea"/>
            </a:endParaRP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的优先级高于需求</a:t>
            </a:r>
            <a:r>
              <a:rPr lang="en-US" altLang="zh-CN" sz="1600" dirty="0">
                <a:solidFill>
                  <a:schemeClr val="bg1"/>
                </a:solidFill>
                <a:latin typeface="+mj-ea"/>
                <a:ea typeface="+mj-ea"/>
              </a:rPr>
              <a:t>1</a:t>
            </a:r>
          </a:p>
          <a:p>
            <a:pPr marL="0" indent="0" defTabSz="1217476" eaLnBrk="1" hangingPunct="1">
              <a:spcBef>
                <a:spcPct val="0"/>
              </a:spcBef>
            </a:pPr>
            <a:r>
              <a:rPr lang="zh-CN" altLang="en-US" sz="1600" dirty="0">
                <a:solidFill>
                  <a:schemeClr val="bg1"/>
                </a:solidFill>
                <a:latin typeface="+mj-ea"/>
                <a:ea typeface="+mj-ea"/>
              </a:rPr>
              <a:t>库存</a:t>
            </a:r>
            <a:r>
              <a:rPr lang="en-US" altLang="zh-CN" sz="1600" dirty="0">
                <a:solidFill>
                  <a:schemeClr val="bg1"/>
                </a:solidFill>
                <a:latin typeface="+mj-ea"/>
                <a:ea typeface="+mj-ea"/>
              </a:rPr>
              <a:t>A</a:t>
            </a:r>
            <a:r>
              <a:rPr lang="zh-CN" altLang="en-US" sz="1600" dirty="0">
                <a:solidFill>
                  <a:schemeClr val="bg1"/>
                </a:solidFill>
                <a:latin typeface="+mj-ea"/>
                <a:ea typeface="+mj-ea"/>
              </a:rPr>
              <a:t>只能满足其中一笔需求，库存</a:t>
            </a:r>
            <a:r>
              <a:rPr lang="en-US" altLang="zh-CN" sz="1600" dirty="0">
                <a:solidFill>
                  <a:schemeClr val="bg1"/>
                </a:solidFill>
                <a:latin typeface="+mj-ea"/>
                <a:ea typeface="+mj-ea"/>
              </a:rPr>
              <a:t>B</a:t>
            </a:r>
            <a:r>
              <a:rPr lang="zh-CN" altLang="en-US" sz="1600" dirty="0">
                <a:solidFill>
                  <a:schemeClr val="bg1"/>
                </a:solidFill>
                <a:latin typeface="+mj-ea"/>
                <a:ea typeface="+mj-ea"/>
              </a:rPr>
              <a:t>足够</a:t>
            </a:r>
            <a:endParaRPr lang="en-US" altLang="zh-CN" sz="1600" dirty="0">
              <a:solidFill>
                <a:schemeClr val="bg1"/>
              </a:solidFill>
              <a:latin typeface="+mj-ea"/>
              <a:ea typeface="+mj-ea"/>
            </a:endParaRPr>
          </a:p>
        </p:txBody>
      </p:sp>
    </p:spTree>
    <p:extLst>
      <p:ext uri="{BB962C8B-B14F-4D97-AF65-F5344CB8AC3E}">
        <p14:creationId xmlns:p14="http://schemas.microsoft.com/office/powerpoint/2010/main" val="99008461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23" presetClass="entr" presetSubtype="16" fill="hold" nodeType="click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childTnLst>
                                </p:cTn>
                              </p:par>
                              <p:par>
                                <p:cTn id="17" presetID="1"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3"/>
                                        </p:tgtEl>
                                        <p:attrNameLst>
                                          <p:attrName>style.visibility</p:attrName>
                                        </p:attrNameLst>
                                      </p:cBhvr>
                                      <p:to>
                                        <p:strVal val="visible"/>
                                      </p:to>
                                    </p:set>
                                  </p:childTnLst>
                                </p:cTn>
                              </p:par>
                              <p:par>
                                <p:cTn id="23" presetID="1" presetClass="entr" presetSubtype="0" fill="hold" grpId="1" nodeType="withEffect">
                                  <p:stCondLst>
                                    <p:cond delay="0"/>
                                  </p:stCondLst>
                                  <p:childTnLst>
                                    <p:set>
                                      <p:cBhvr>
                                        <p:cTn id="24" dur="1" fill="hold">
                                          <p:stCondLst>
                                            <p:cond delay="0"/>
                                          </p:stCondLst>
                                        </p:cTn>
                                        <p:tgtEl>
                                          <p:spTgt spid="2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xit" presetSubtype="0" fill="hold" grpId="0" nodeType="clickEffect">
                                  <p:stCondLst>
                                    <p:cond delay="0"/>
                                  </p:stCondLst>
                                  <p:childTnLst>
                                    <p:animEffect transition="out" filter="fade">
                                      <p:cBhvr>
                                        <p:cTn id="28" dur="500"/>
                                        <p:tgtEl>
                                          <p:spTgt spid="24"/>
                                        </p:tgtEl>
                                      </p:cBhvr>
                                    </p:animEffect>
                                    <p:set>
                                      <p:cBhvr>
                                        <p:cTn id="29" dur="1" fill="hold">
                                          <p:stCondLst>
                                            <p:cond delay="499"/>
                                          </p:stCondLst>
                                        </p:cTn>
                                        <p:tgtEl>
                                          <p:spTgt spid="24"/>
                                        </p:tgtEl>
                                        <p:attrNameLst>
                                          <p:attrName>style.visibility</p:attrName>
                                        </p:attrNameLst>
                                      </p:cBhvr>
                                      <p:to>
                                        <p:strVal val="hidden"/>
                                      </p:to>
                                    </p:set>
                                  </p:childTnLst>
                                </p:cTn>
                              </p:par>
                              <p:par>
                                <p:cTn id="30" presetID="10" presetClass="exit" presetSubtype="0" fill="hold" nodeType="withEffect">
                                  <p:stCondLst>
                                    <p:cond delay="0"/>
                                  </p:stCondLst>
                                  <p:childTnLst>
                                    <p:animEffect transition="out" filter="fade">
                                      <p:cBhvr>
                                        <p:cTn id="31" dur="500"/>
                                        <p:tgtEl>
                                          <p:spTgt spid="23"/>
                                        </p:tgtEl>
                                      </p:cBhvr>
                                    </p:animEffect>
                                    <p:set>
                                      <p:cBhvr>
                                        <p:cTn id="32" dur="1" fill="hold">
                                          <p:stCondLst>
                                            <p:cond delay="499"/>
                                          </p:stCondLst>
                                        </p:cTn>
                                        <p:tgtEl>
                                          <p:spTgt spid="23"/>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25"/>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26"/>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500"/>
                                        <p:tgtEl>
                                          <p:spTgt spid="27"/>
                                        </p:tgtEl>
                                      </p:cBhvr>
                                    </p:animEffect>
                                  </p:childTnLst>
                                </p:cTn>
                              </p:par>
                              <p:par>
                                <p:cTn id="44" presetID="42" presetClass="entr" presetSubtype="0" fill="hold" grpId="0" nodeType="withEffect">
                                  <p:stCondLst>
                                    <p:cond delay="0"/>
                                  </p:stCondLst>
                                  <p:iterate type="lt">
                                    <p:tmPct val="0"/>
                                  </p:iterate>
                                  <p:childTnLst>
                                    <p:set>
                                      <p:cBhvr>
                                        <p:cTn id="45" dur="1" fill="hold">
                                          <p:stCondLst>
                                            <p:cond delay="0"/>
                                          </p:stCondLst>
                                        </p:cTn>
                                        <p:tgtEl>
                                          <p:spTgt spid="18"/>
                                        </p:tgtEl>
                                        <p:attrNameLst>
                                          <p:attrName>style.visibility</p:attrName>
                                        </p:attrNameLst>
                                      </p:cBhvr>
                                      <p:to>
                                        <p:strVal val="visible"/>
                                      </p:to>
                                    </p:set>
                                    <p:animEffect transition="in" filter="fade">
                                      <p:cBhvr>
                                        <p:cTn id="46" dur="1000"/>
                                        <p:tgtEl>
                                          <p:spTgt spid="18"/>
                                        </p:tgtEl>
                                      </p:cBhvr>
                                    </p:animEffect>
                                    <p:anim calcmode="lin" valueType="num">
                                      <p:cBhvr>
                                        <p:cTn id="47" dur="1000" fill="hold"/>
                                        <p:tgtEl>
                                          <p:spTgt spid="18"/>
                                        </p:tgtEl>
                                        <p:attrNameLst>
                                          <p:attrName>ppt_x</p:attrName>
                                        </p:attrNameLst>
                                      </p:cBhvr>
                                      <p:tavLst>
                                        <p:tav tm="0">
                                          <p:val>
                                            <p:strVal val="#ppt_x"/>
                                          </p:val>
                                        </p:tav>
                                        <p:tav tm="100000">
                                          <p:val>
                                            <p:strVal val="#ppt_x"/>
                                          </p:val>
                                        </p:tav>
                                      </p:tavLst>
                                    </p:anim>
                                    <p:anim calcmode="lin" valueType="num">
                                      <p:cBhvr>
                                        <p:cTn id="48"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35" presetClass="emph" presetSubtype="0" fill="hold" nodeType="clickEffect">
                                  <p:stCondLst>
                                    <p:cond delay="0"/>
                                  </p:stCondLst>
                                  <p:childTnLst>
                                    <p:anim calcmode="discrete" valueType="str">
                                      <p:cBhvr>
                                        <p:cTn id="52" dur="1000" fill="hold"/>
                                        <p:tgtEl>
                                          <p:spTgt spid="25"/>
                                        </p:tgtEl>
                                        <p:attrNameLst>
                                          <p:attrName>style.visibility</p:attrName>
                                        </p:attrNameLst>
                                      </p:cBhvr>
                                      <p:tavLst>
                                        <p:tav tm="0">
                                          <p:val>
                                            <p:strVal val="hidden"/>
                                          </p:val>
                                        </p:tav>
                                        <p:tav tm="50000">
                                          <p:val>
                                            <p:strVal val="visible"/>
                                          </p:val>
                                        </p:tav>
                                      </p:tavLst>
                                    </p:anim>
                                  </p:childTnLst>
                                </p:cTn>
                              </p:par>
                            </p:childTnLst>
                          </p:cTn>
                        </p:par>
                      </p:childTnLst>
                    </p:cTn>
                  </p:par>
                  <p:par>
                    <p:cTn id="53" fill="hold">
                      <p:stCondLst>
                        <p:cond delay="indefinite"/>
                      </p:stCondLst>
                      <p:childTnLst>
                        <p:par>
                          <p:cTn id="54" fill="hold">
                            <p:stCondLst>
                              <p:cond delay="0"/>
                            </p:stCondLst>
                            <p:childTnLst>
                              <p:par>
                                <p:cTn id="55" presetID="35" presetClass="emph" presetSubtype="0" fill="hold" nodeType="clickEffect">
                                  <p:stCondLst>
                                    <p:cond delay="0"/>
                                  </p:stCondLst>
                                  <p:childTnLst>
                                    <p:anim calcmode="discrete" valueType="str">
                                      <p:cBhvr>
                                        <p:cTn id="56" dur="1000" fill="hold"/>
                                        <p:tgtEl>
                                          <p:spTgt spid="1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p:bldP spid="24" grpId="0"/>
      <p:bldP spid="24" grpId="1"/>
      <p:bldP spid="27" grpId="0" bldLvl="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E235C03-3B29-73A5-237C-8515B181658E}"/>
              </a:ext>
            </a:extLst>
          </p:cNvPr>
          <p:cNvSpPr>
            <a:spLocks noGrp="1"/>
          </p:cNvSpPr>
          <p:nvPr>
            <p:ph type="title"/>
          </p:nvPr>
        </p:nvSpPr>
        <p:spPr/>
        <p:txBody>
          <a:bodyPr/>
          <a:lstStyle/>
          <a:p>
            <a:r>
              <a:rPr lang="zh-CN" altLang="en-US" dirty="0">
                <a:solidFill>
                  <a:schemeClr val="bg1"/>
                </a:solidFill>
                <a:latin typeface="Arial" panose="020B0604020202020204" pitchFamily="34" charset="0"/>
                <a:ea typeface="微软雅黑" panose="020B0503020204020204" pitchFamily="34" charset="-122"/>
              </a:rPr>
              <a:t>物料和资源分配可以优化</a:t>
            </a:r>
          </a:p>
        </p:txBody>
      </p:sp>
      <p:cxnSp>
        <p:nvCxnSpPr>
          <p:cNvPr id="4" name="直接箭头连接符 6">
            <a:extLst>
              <a:ext uri="{FF2B5EF4-FFF2-40B4-BE49-F238E27FC236}">
                <a16:creationId xmlns:a16="http://schemas.microsoft.com/office/drawing/2014/main" id="{4A71B983-9E66-2358-3D59-FD8232581C2B}"/>
              </a:ext>
            </a:extLst>
          </p:cNvPr>
          <p:cNvCxnSpPr/>
          <p:nvPr/>
        </p:nvCxnSpPr>
        <p:spPr>
          <a:xfrm>
            <a:off x="715434" y="3558117"/>
            <a:ext cx="933450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13">
            <a:extLst>
              <a:ext uri="{FF2B5EF4-FFF2-40B4-BE49-F238E27FC236}">
                <a16:creationId xmlns:a16="http://schemas.microsoft.com/office/drawing/2014/main" id="{1E219DEB-EE6A-4C66-332A-A9B0F09F8AE4}"/>
              </a:ext>
            </a:extLst>
          </p:cNvPr>
          <p:cNvCxnSpPr>
            <a:stCxn id="22" idx="0"/>
          </p:cNvCxnSpPr>
          <p:nvPr/>
        </p:nvCxnSpPr>
        <p:spPr>
          <a:xfrm>
            <a:off x="3579285" y="2679700"/>
            <a:ext cx="6351" cy="914400"/>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15">
            <a:extLst>
              <a:ext uri="{FF2B5EF4-FFF2-40B4-BE49-F238E27FC236}">
                <a16:creationId xmlns:a16="http://schemas.microsoft.com/office/drawing/2014/main" id="{45BA285D-4646-34FB-B7B9-6FA62DC3E964}"/>
              </a:ext>
            </a:extLst>
          </p:cNvPr>
          <p:cNvCxnSpPr>
            <a:stCxn id="13" idx="0"/>
          </p:cNvCxnSpPr>
          <p:nvPr/>
        </p:nvCxnSpPr>
        <p:spPr>
          <a:xfrm>
            <a:off x="7452784" y="2679701"/>
            <a:ext cx="0" cy="878417"/>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7" name="直接箭头连接符 23">
            <a:extLst>
              <a:ext uri="{FF2B5EF4-FFF2-40B4-BE49-F238E27FC236}">
                <a16:creationId xmlns:a16="http://schemas.microsoft.com/office/drawing/2014/main" id="{616FC730-51ED-28F9-113C-0E621831CFCC}"/>
              </a:ext>
            </a:extLst>
          </p:cNvPr>
          <p:cNvCxnSpPr/>
          <p:nvPr/>
        </p:nvCxnSpPr>
        <p:spPr>
          <a:xfrm flipV="1">
            <a:off x="2755900" y="3558118"/>
            <a:ext cx="0" cy="67310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8" name="直接箭头连接符 35">
            <a:extLst>
              <a:ext uri="{FF2B5EF4-FFF2-40B4-BE49-F238E27FC236}">
                <a16:creationId xmlns:a16="http://schemas.microsoft.com/office/drawing/2014/main" id="{C1C67C48-61D2-81E7-382E-54EF6BDF0581}"/>
              </a:ext>
            </a:extLst>
          </p:cNvPr>
          <p:cNvCxnSpPr/>
          <p:nvPr/>
        </p:nvCxnSpPr>
        <p:spPr>
          <a:xfrm flipV="1">
            <a:off x="2755900" y="4434417"/>
            <a:ext cx="0" cy="670984"/>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矩形 27">
            <a:extLst>
              <a:ext uri="{FF2B5EF4-FFF2-40B4-BE49-F238E27FC236}">
                <a16:creationId xmlns:a16="http://schemas.microsoft.com/office/drawing/2014/main" id="{136DC139-B872-5540-997B-9DE6DEC4420A}"/>
              </a:ext>
            </a:extLst>
          </p:cNvPr>
          <p:cNvSpPr/>
          <p:nvPr/>
        </p:nvSpPr>
        <p:spPr>
          <a:xfrm>
            <a:off x="2878669" y="2347385"/>
            <a:ext cx="1375830" cy="369310"/>
          </a:xfrm>
          <a:prstGeom prst="rect">
            <a:avLst/>
          </a:prstGeom>
          <a:solidFill>
            <a:srgbClr val="0070C0"/>
          </a:solid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Arial" panose="020B0604020202020204" pitchFamily="34" charset="0"/>
                <a:ea typeface="微软雅黑" panose="020B0503020204020204" pitchFamily="34" charset="-122"/>
              </a:rPr>
              <a:t>需求</a:t>
            </a:r>
            <a:r>
              <a:rPr lang="en-US" altLang="zh-CN" sz="1600" dirty="0">
                <a:solidFill>
                  <a:srgbClr val="FFFFFF"/>
                </a:solidFill>
                <a:latin typeface="Arial" panose="020B0604020202020204" pitchFamily="34" charset="0"/>
                <a:ea typeface="微软雅黑" panose="020B0503020204020204" pitchFamily="34" charset="-122"/>
              </a:rPr>
              <a:t>1</a:t>
            </a:r>
            <a:endParaRPr lang="zh-CN" altLang="en-US" sz="1600" dirty="0">
              <a:solidFill>
                <a:srgbClr val="FFFFFF"/>
              </a:solidFill>
              <a:latin typeface="Arial" panose="020B0604020202020204" pitchFamily="34" charset="0"/>
              <a:ea typeface="微软雅黑" panose="020B0503020204020204" pitchFamily="34" charset="-122"/>
            </a:endParaRPr>
          </a:p>
        </p:txBody>
      </p:sp>
      <p:sp>
        <p:nvSpPr>
          <p:cNvPr id="10" name="矩形 38">
            <a:extLst>
              <a:ext uri="{FF2B5EF4-FFF2-40B4-BE49-F238E27FC236}">
                <a16:creationId xmlns:a16="http://schemas.microsoft.com/office/drawing/2014/main" id="{223BF39A-4DE7-E47C-DDF4-BFB18EF97D63}"/>
              </a:ext>
            </a:extLst>
          </p:cNvPr>
          <p:cNvSpPr/>
          <p:nvPr/>
        </p:nvSpPr>
        <p:spPr>
          <a:xfrm>
            <a:off x="6828367" y="2330451"/>
            <a:ext cx="1344084"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Arial" panose="020B0604020202020204" pitchFamily="34" charset="0"/>
                <a:ea typeface="微软雅黑" panose="020B0503020204020204" pitchFamily="34" charset="-122"/>
              </a:rPr>
              <a:t>需求</a:t>
            </a:r>
            <a:r>
              <a:rPr lang="en-US" altLang="zh-CN" sz="1600" dirty="0">
                <a:solidFill>
                  <a:srgbClr val="FFFFFF"/>
                </a:solidFill>
                <a:latin typeface="Arial" panose="020B0604020202020204" pitchFamily="34" charset="0"/>
                <a:ea typeface="微软雅黑" panose="020B0503020204020204" pitchFamily="34" charset="-122"/>
              </a:rPr>
              <a:t>2</a:t>
            </a:r>
            <a:endParaRPr lang="zh-CN" altLang="en-US" sz="1600" dirty="0">
              <a:solidFill>
                <a:srgbClr val="FFFFFF"/>
              </a:solidFill>
              <a:latin typeface="Arial" panose="020B0604020202020204" pitchFamily="34" charset="0"/>
              <a:ea typeface="微软雅黑" panose="020B0503020204020204" pitchFamily="34" charset="-122"/>
            </a:endParaRPr>
          </a:p>
        </p:txBody>
      </p:sp>
      <p:sp>
        <p:nvSpPr>
          <p:cNvPr id="11" name="矩形 28">
            <a:extLst>
              <a:ext uri="{FF2B5EF4-FFF2-40B4-BE49-F238E27FC236}">
                <a16:creationId xmlns:a16="http://schemas.microsoft.com/office/drawing/2014/main" id="{F1142D03-78B3-CBFB-4FFF-E3C0BDBF61B4}"/>
              </a:ext>
            </a:extLst>
          </p:cNvPr>
          <p:cNvSpPr/>
          <p:nvPr/>
        </p:nvSpPr>
        <p:spPr>
          <a:xfrm>
            <a:off x="1172633" y="3750733"/>
            <a:ext cx="1390651" cy="369310"/>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Arial" panose="020B0604020202020204" pitchFamily="34" charset="0"/>
                <a:ea typeface="微软雅黑" panose="020B0503020204020204" pitchFamily="34" charset="-122"/>
              </a:rPr>
              <a:t>库存</a:t>
            </a:r>
            <a:r>
              <a:rPr lang="en-US" altLang="zh-CN" sz="1600" dirty="0">
                <a:solidFill>
                  <a:srgbClr val="FFFFFF"/>
                </a:solidFill>
                <a:latin typeface="Arial" panose="020B0604020202020204" pitchFamily="34" charset="0"/>
                <a:ea typeface="微软雅黑" panose="020B0503020204020204" pitchFamily="34" charset="-122"/>
              </a:rPr>
              <a:t> A</a:t>
            </a:r>
            <a:endParaRPr lang="zh-CN" altLang="en-US" sz="1600" dirty="0">
              <a:solidFill>
                <a:srgbClr val="FFFFFF"/>
              </a:solidFill>
              <a:latin typeface="Arial" panose="020B0604020202020204" pitchFamily="34" charset="0"/>
              <a:ea typeface="微软雅黑" panose="020B0503020204020204" pitchFamily="34" charset="-122"/>
            </a:endParaRPr>
          </a:p>
        </p:txBody>
      </p:sp>
      <p:sp>
        <p:nvSpPr>
          <p:cNvPr id="12" name="矩形 41">
            <a:extLst>
              <a:ext uri="{FF2B5EF4-FFF2-40B4-BE49-F238E27FC236}">
                <a16:creationId xmlns:a16="http://schemas.microsoft.com/office/drawing/2014/main" id="{4531B493-39A0-59CA-E6A0-F874C5729CDD}"/>
              </a:ext>
            </a:extLst>
          </p:cNvPr>
          <p:cNvSpPr/>
          <p:nvPr/>
        </p:nvSpPr>
        <p:spPr>
          <a:xfrm>
            <a:off x="1172633" y="4565651"/>
            <a:ext cx="1390651"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Arial" panose="020B0604020202020204" pitchFamily="34" charset="0"/>
                <a:ea typeface="微软雅黑" panose="020B0503020204020204" pitchFamily="34" charset="-122"/>
              </a:rPr>
              <a:t>库存</a:t>
            </a:r>
            <a:r>
              <a:rPr lang="en-US" altLang="zh-CN" sz="1600" dirty="0">
                <a:solidFill>
                  <a:srgbClr val="FFFFFF"/>
                </a:solidFill>
                <a:latin typeface="Arial" panose="020B0604020202020204" pitchFamily="34" charset="0"/>
                <a:ea typeface="微软雅黑" panose="020B0503020204020204" pitchFamily="34" charset="-122"/>
              </a:rPr>
              <a:t> B</a:t>
            </a:r>
            <a:endParaRPr lang="zh-CN" altLang="en-US" sz="1600" dirty="0">
              <a:solidFill>
                <a:srgbClr val="FFFFFF"/>
              </a:solidFill>
              <a:latin typeface="Arial" panose="020B0604020202020204" pitchFamily="34" charset="0"/>
              <a:ea typeface="微软雅黑" panose="020B0503020204020204" pitchFamily="34" charset="-122"/>
            </a:endParaRPr>
          </a:p>
        </p:txBody>
      </p:sp>
      <p:sp>
        <p:nvSpPr>
          <p:cNvPr id="13" name="Line 58">
            <a:extLst>
              <a:ext uri="{FF2B5EF4-FFF2-40B4-BE49-F238E27FC236}">
                <a16:creationId xmlns:a16="http://schemas.microsoft.com/office/drawing/2014/main" id="{C930BD25-AB34-88FB-A533-E58E26F7BC4D}"/>
              </a:ext>
            </a:extLst>
          </p:cNvPr>
          <p:cNvSpPr/>
          <p:nvPr/>
        </p:nvSpPr>
        <p:spPr>
          <a:xfrm flipH="1">
            <a:off x="2755901" y="2679701"/>
            <a:ext cx="4696884" cy="1276351"/>
          </a:xfrm>
          <a:prstGeom prst="line">
            <a:avLst/>
          </a:prstGeom>
          <a:ln w="12700" cap="flat" cmpd="sng">
            <a:solidFill>
              <a:schemeClr val="bg1"/>
            </a:solidFill>
            <a:prstDash val="lgDash"/>
            <a:headEnd type="none" w="med" len="med"/>
            <a:tailEnd type="triangle" w="med" len="med"/>
          </a:ln>
        </p:spPr>
        <p:txBody>
          <a:bodyPr/>
          <a:lstStyle/>
          <a:p>
            <a:endParaRPr lang="zh-CN" altLang="en-US">
              <a:latin typeface="+mn-ea"/>
            </a:endParaRPr>
          </a:p>
        </p:txBody>
      </p:sp>
      <p:sp>
        <p:nvSpPr>
          <p:cNvPr id="14" name="Line 58">
            <a:extLst>
              <a:ext uri="{FF2B5EF4-FFF2-40B4-BE49-F238E27FC236}">
                <a16:creationId xmlns:a16="http://schemas.microsoft.com/office/drawing/2014/main" id="{A00BCABC-33BE-366C-0849-334E822C9F18}"/>
              </a:ext>
            </a:extLst>
          </p:cNvPr>
          <p:cNvSpPr/>
          <p:nvPr/>
        </p:nvSpPr>
        <p:spPr>
          <a:xfrm flipH="1">
            <a:off x="6165851" y="2679700"/>
            <a:ext cx="1286933" cy="1625600"/>
          </a:xfrm>
          <a:prstGeom prst="line">
            <a:avLst/>
          </a:prstGeom>
          <a:ln w="12700" cap="flat" cmpd="sng">
            <a:solidFill>
              <a:schemeClr val="bg1"/>
            </a:solidFill>
            <a:prstDash val="lgDash"/>
            <a:headEnd type="none" w="med" len="med"/>
            <a:tailEnd type="triangle" w="med" len="med"/>
          </a:ln>
        </p:spPr>
        <p:txBody>
          <a:bodyPr/>
          <a:lstStyle/>
          <a:p>
            <a:endParaRPr lang="zh-CN" altLang="en-US">
              <a:latin typeface="+mn-ea"/>
            </a:endParaRPr>
          </a:p>
        </p:txBody>
      </p:sp>
      <p:sp>
        <p:nvSpPr>
          <p:cNvPr id="15" name="矩形标注 12">
            <a:extLst>
              <a:ext uri="{FF2B5EF4-FFF2-40B4-BE49-F238E27FC236}">
                <a16:creationId xmlns:a16="http://schemas.microsoft.com/office/drawing/2014/main" id="{591A65C6-95C1-B4F6-C4CE-D6DF8C04F497}"/>
              </a:ext>
            </a:extLst>
          </p:cNvPr>
          <p:cNvSpPr/>
          <p:nvPr/>
        </p:nvSpPr>
        <p:spPr>
          <a:xfrm>
            <a:off x="6798734" y="1568451"/>
            <a:ext cx="1439333" cy="508000"/>
          </a:xfrm>
          <a:prstGeom prst="wedgeRectCallout">
            <a:avLst>
              <a:gd name="adj1" fmla="val 782"/>
              <a:gd name="adj2" fmla="val 90562"/>
            </a:avLst>
          </a:prstGeom>
          <a:solidFill>
            <a:schemeClr val="bg2">
              <a:lumMod val="2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defTabSz="1217476"/>
            <a:r>
              <a:rPr lang="en-US" altLang="zh-CN" sz="1867" b="1" dirty="0">
                <a:solidFill>
                  <a:srgbClr val="FFFFFF"/>
                </a:solidFill>
                <a:latin typeface="Arial" panose="020B0604020202020204" pitchFamily="34" charset="0"/>
                <a:ea typeface="微软雅黑" panose="020B0503020204020204" pitchFamily="34" charset="-122"/>
              </a:rPr>
              <a:t>IPS</a:t>
            </a:r>
            <a:endParaRPr lang="zh-CN" altLang="en-US" sz="1867" b="1" dirty="0">
              <a:solidFill>
                <a:srgbClr val="FFFFFF"/>
              </a:solidFill>
              <a:latin typeface="Arial" panose="020B0604020202020204" pitchFamily="34" charset="0"/>
              <a:ea typeface="微软雅黑" panose="020B0503020204020204" pitchFamily="34" charset="-122"/>
            </a:endParaRPr>
          </a:p>
        </p:txBody>
      </p:sp>
      <p:sp>
        <p:nvSpPr>
          <p:cNvPr id="16" name="矩形标注 13">
            <a:extLst>
              <a:ext uri="{FF2B5EF4-FFF2-40B4-BE49-F238E27FC236}">
                <a16:creationId xmlns:a16="http://schemas.microsoft.com/office/drawing/2014/main" id="{C8339CF9-8727-4744-21AA-3903DEC2C50F}"/>
              </a:ext>
            </a:extLst>
          </p:cNvPr>
          <p:cNvSpPr/>
          <p:nvPr/>
        </p:nvSpPr>
        <p:spPr>
          <a:xfrm>
            <a:off x="2844800" y="1579034"/>
            <a:ext cx="1441451" cy="510117"/>
          </a:xfrm>
          <a:prstGeom prst="wedgeRectCallout">
            <a:avLst>
              <a:gd name="adj1" fmla="val 782"/>
              <a:gd name="adj2" fmla="val 90562"/>
            </a:avLst>
          </a:prstGeom>
          <a:solidFill>
            <a:schemeClr val="bg2">
              <a:lumMod val="2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defTabSz="1217476"/>
            <a:r>
              <a:rPr lang="en-US" altLang="zh-CN" sz="1867" b="1" dirty="0">
                <a:solidFill>
                  <a:srgbClr val="FFFFFF"/>
                </a:solidFill>
                <a:latin typeface="Arial" panose="020B0604020202020204" pitchFamily="34" charset="0"/>
                <a:ea typeface="微软雅黑" panose="020B0503020204020204" pitchFamily="34" charset="-122"/>
              </a:rPr>
              <a:t>IPS</a:t>
            </a:r>
            <a:endParaRPr lang="zh-CN" altLang="en-US" sz="1867" b="1" dirty="0">
              <a:solidFill>
                <a:srgbClr val="FFFFFF"/>
              </a:solidFill>
              <a:latin typeface="Arial" panose="020B0604020202020204" pitchFamily="34" charset="0"/>
              <a:ea typeface="微软雅黑" panose="020B0503020204020204" pitchFamily="34" charset="-122"/>
            </a:endParaRPr>
          </a:p>
        </p:txBody>
      </p:sp>
      <p:sp>
        <p:nvSpPr>
          <p:cNvPr id="17" name="圆角矩形 15">
            <a:extLst>
              <a:ext uri="{FF2B5EF4-FFF2-40B4-BE49-F238E27FC236}">
                <a16:creationId xmlns:a16="http://schemas.microsoft.com/office/drawing/2014/main" id="{ED5C55E6-46A2-03F1-DAC1-243669852852}"/>
              </a:ext>
            </a:extLst>
          </p:cNvPr>
          <p:cNvSpPr/>
          <p:nvPr/>
        </p:nvSpPr>
        <p:spPr>
          <a:xfrm>
            <a:off x="8406585" y="1361018"/>
            <a:ext cx="3119967" cy="2061633"/>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defTabSz="1219170">
              <a:defRPr/>
            </a:pPr>
            <a:r>
              <a:rPr lang="en-US" altLang="zh-CN" sz="1400" dirty="0">
                <a:solidFill>
                  <a:schemeClr val="bg1"/>
                </a:solidFill>
                <a:latin typeface="Arial" panose="020B0604020202020204" pitchFamily="34" charset="0"/>
                <a:ea typeface="微软雅黑" panose="020B0503020204020204" pitchFamily="34" charset="-122"/>
                <a:cs typeface="Arial Unicode MS" panose="020B0604020202020204" pitchFamily="34" charset="-122"/>
              </a:rPr>
              <a:t>IPS</a:t>
            </a:r>
            <a:r>
              <a:rPr lang="zh-CN" altLang="en-US" sz="1400" dirty="0">
                <a:solidFill>
                  <a:schemeClr val="bg1"/>
                </a:solidFill>
                <a:latin typeface="Arial" panose="020B0604020202020204" pitchFamily="34" charset="0"/>
                <a:ea typeface="微软雅黑" panose="020B0503020204020204" pitchFamily="34" charset="-122"/>
                <a:cs typeface="Arial Unicode MS" panose="020B0604020202020204" pitchFamily="34" charset="-122"/>
              </a:rPr>
              <a:t>升级</a:t>
            </a:r>
            <a:endParaRPr lang="en-US" altLang="zh-CN" sz="1400" dirty="0">
              <a:solidFill>
                <a:schemeClr val="bg1"/>
              </a:solidFill>
              <a:latin typeface="Arial" panose="020B0604020202020204" pitchFamily="34" charset="0"/>
              <a:ea typeface="微软雅黑" panose="020B0503020204020204" pitchFamily="34" charset="-122"/>
              <a:cs typeface="Arial Unicode MS" panose="020B0604020202020204" pitchFamily="34" charset="-122"/>
            </a:endParaRPr>
          </a:p>
          <a:p>
            <a:pPr marL="342891" indent="-342891" defTabSz="1219170">
              <a:buFont typeface="Arial" panose="020B0604020202020204" pitchFamily="34" charset="0"/>
              <a:buChar char="•"/>
              <a:defRPr/>
            </a:pPr>
            <a:r>
              <a:rPr lang="zh-CN" altLang="en-US" sz="1400" dirty="0">
                <a:solidFill>
                  <a:schemeClr val="bg1"/>
                </a:solidFill>
                <a:latin typeface="Arial" panose="020B0604020202020204" pitchFamily="34" charset="0"/>
                <a:ea typeface="微软雅黑" panose="020B0503020204020204" pitchFamily="34" charset="-122"/>
                <a:cs typeface="Arial Unicode MS" panose="020B0604020202020204" pitchFamily="34" charset="-122"/>
              </a:rPr>
              <a:t>需求</a:t>
            </a:r>
            <a:r>
              <a:rPr lang="en-US" altLang="zh-CN" sz="1400" dirty="0">
                <a:solidFill>
                  <a:schemeClr val="bg1"/>
                </a:solidFill>
                <a:latin typeface="Arial" panose="020B0604020202020204" pitchFamily="34" charset="0"/>
                <a:ea typeface="微软雅黑" panose="020B0503020204020204" pitchFamily="34" charset="-122"/>
                <a:cs typeface="Arial Unicode MS" panose="020B0604020202020204" pitchFamily="34" charset="-122"/>
              </a:rPr>
              <a:t>2</a:t>
            </a:r>
            <a:r>
              <a:rPr lang="zh-CN" altLang="en-US" sz="1400" dirty="0">
                <a:solidFill>
                  <a:schemeClr val="bg1"/>
                </a:solidFill>
                <a:latin typeface="Arial" panose="020B0604020202020204" pitchFamily="34" charset="0"/>
                <a:ea typeface="微软雅黑" panose="020B0503020204020204" pitchFamily="34" charset="-122"/>
                <a:cs typeface="Arial Unicode MS" panose="020B0604020202020204" pitchFamily="34" charset="-122"/>
              </a:rPr>
              <a:t>按照优先级软分配物料和资源</a:t>
            </a:r>
            <a:endParaRPr lang="en-US" altLang="zh-CN" sz="1400" dirty="0">
              <a:solidFill>
                <a:schemeClr val="bg1"/>
              </a:solidFill>
              <a:latin typeface="Arial" panose="020B0604020202020204" pitchFamily="34" charset="0"/>
              <a:ea typeface="微软雅黑" panose="020B0503020204020204" pitchFamily="34" charset="-122"/>
              <a:cs typeface="Arial Unicode MS" panose="020B0604020202020204" pitchFamily="34" charset="-122"/>
            </a:endParaRPr>
          </a:p>
          <a:p>
            <a:pPr marL="342891" indent="-342891" defTabSz="1219170">
              <a:buFont typeface="Arial" panose="020B0604020202020204" pitchFamily="34" charset="0"/>
              <a:buChar char="•"/>
              <a:defRPr/>
            </a:pPr>
            <a:r>
              <a:rPr lang="zh-CN" altLang="en-US" sz="1400" dirty="0">
                <a:solidFill>
                  <a:schemeClr val="bg1"/>
                </a:solidFill>
                <a:latin typeface="Arial" panose="020B0604020202020204" pitchFamily="34" charset="0"/>
                <a:ea typeface="微软雅黑" panose="020B0503020204020204" pitchFamily="34" charset="-122"/>
                <a:cs typeface="Arial Unicode MS" panose="020B0604020202020204" pitchFamily="34" charset="-122"/>
              </a:rPr>
              <a:t>在影响需求</a:t>
            </a:r>
            <a:r>
              <a:rPr lang="en-US" altLang="zh-CN" sz="1400" dirty="0">
                <a:solidFill>
                  <a:schemeClr val="bg1"/>
                </a:solidFill>
                <a:latin typeface="Arial" panose="020B0604020202020204" pitchFamily="34" charset="0"/>
                <a:ea typeface="微软雅黑" panose="020B0503020204020204" pitchFamily="34" charset="-122"/>
                <a:cs typeface="Arial Unicode MS" panose="020B0604020202020204" pitchFamily="34" charset="-122"/>
              </a:rPr>
              <a:t>2</a:t>
            </a:r>
            <a:r>
              <a:rPr lang="zh-CN" altLang="en-US" sz="1400" dirty="0">
                <a:solidFill>
                  <a:schemeClr val="bg1"/>
                </a:solidFill>
                <a:latin typeface="Arial" panose="020B0604020202020204" pitchFamily="34" charset="0"/>
                <a:ea typeface="微软雅黑" panose="020B0503020204020204" pitchFamily="34" charset="-122"/>
                <a:cs typeface="Arial Unicode MS" panose="020B0604020202020204" pitchFamily="34" charset="-122"/>
              </a:rPr>
              <a:t>的交期承诺前提下，释放</a:t>
            </a:r>
            <a:r>
              <a:rPr lang="en-US" altLang="zh-CN" sz="1400" dirty="0">
                <a:solidFill>
                  <a:schemeClr val="bg1"/>
                </a:solidFill>
                <a:latin typeface="Arial" panose="020B0604020202020204" pitchFamily="34" charset="0"/>
                <a:ea typeface="微软雅黑" panose="020B0503020204020204" pitchFamily="34" charset="-122"/>
                <a:cs typeface="Arial Unicode MS" panose="020B0604020202020204" pitchFamily="34" charset="-122"/>
              </a:rPr>
              <a:t>A </a:t>
            </a:r>
            <a:r>
              <a:rPr lang="zh-CN" altLang="en-US" sz="1400" dirty="0">
                <a:solidFill>
                  <a:schemeClr val="bg1"/>
                </a:solidFill>
                <a:latin typeface="Arial" panose="020B0604020202020204" pitchFamily="34" charset="0"/>
                <a:ea typeface="微软雅黑" panose="020B0503020204020204" pitchFamily="34" charset="-122"/>
                <a:cs typeface="Arial Unicode MS" panose="020B0604020202020204" pitchFamily="34" charset="-122"/>
              </a:rPr>
              <a:t>给需求</a:t>
            </a:r>
            <a:r>
              <a:rPr lang="en-US" altLang="zh-CN" sz="1400" dirty="0">
                <a:solidFill>
                  <a:schemeClr val="bg1"/>
                </a:solidFill>
                <a:latin typeface="Arial" panose="020B0604020202020204" pitchFamily="34" charset="0"/>
                <a:ea typeface="微软雅黑" panose="020B0503020204020204" pitchFamily="34" charset="-122"/>
                <a:cs typeface="Arial Unicode MS" panose="020B0604020202020204" pitchFamily="34" charset="-122"/>
              </a:rPr>
              <a:t>1</a:t>
            </a:r>
          </a:p>
        </p:txBody>
      </p:sp>
      <p:sp>
        <p:nvSpPr>
          <p:cNvPr id="18" name="矩形 26">
            <a:extLst>
              <a:ext uri="{FF2B5EF4-FFF2-40B4-BE49-F238E27FC236}">
                <a16:creationId xmlns:a16="http://schemas.microsoft.com/office/drawing/2014/main" id="{F0F74EC9-D639-471F-7B59-96F7818F28A9}"/>
              </a:ext>
            </a:extLst>
          </p:cNvPr>
          <p:cNvSpPr/>
          <p:nvPr/>
        </p:nvSpPr>
        <p:spPr>
          <a:xfrm>
            <a:off x="5501217" y="4305300"/>
            <a:ext cx="1329267"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rgbClr val="FFFFFF"/>
                </a:solidFill>
                <a:latin typeface="Arial" panose="020B0604020202020204" pitchFamily="34" charset="0"/>
                <a:ea typeface="微软雅黑" panose="020B0503020204020204" pitchFamily="34" charset="-122"/>
              </a:rPr>
              <a:t>计划到货</a:t>
            </a:r>
            <a:r>
              <a:rPr lang="en-US" altLang="zh-CN" sz="1600" dirty="0">
                <a:solidFill>
                  <a:srgbClr val="FFFFFF"/>
                </a:solidFill>
                <a:latin typeface="Arial" panose="020B0604020202020204" pitchFamily="34" charset="0"/>
                <a:ea typeface="微软雅黑" panose="020B0503020204020204" pitchFamily="34" charset="-122"/>
              </a:rPr>
              <a:t>C</a:t>
            </a:r>
            <a:endParaRPr lang="zh-CN" altLang="en-US" sz="1600" dirty="0">
              <a:solidFill>
                <a:srgbClr val="FFFFFF"/>
              </a:solidFill>
              <a:latin typeface="Arial" panose="020B0604020202020204" pitchFamily="34" charset="0"/>
              <a:ea typeface="微软雅黑" panose="020B0503020204020204" pitchFamily="34" charset="-122"/>
            </a:endParaRPr>
          </a:p>
        </p:txBody>
      </p:sp>
      <p:cxnSp>
        <p:nvCxnSpPr>
          <p:cNvPr id="19" name="直接箭头连接符 29">
            <a:extLst>
              <a:ext uri="{FF2B5EF4-FFF2-40B4-BE49-F238E27FC236}">
                <a16:creationId xmlns:a16="http://schemas.microsoft.com/office/drawing/2014/main" id="{BAA205CC-65AA-7E3C-197A-8A1A23DA6705}"/>
              </a:ext>
            </a:extLst>
          </p:cNvPr>
          <p:cNvCxnSpPr>
            <a:stCxn id="18" idx="0"/>
          </p:cNvCxnSpPr>
          <p:nvPr/>
        </p:nvCxnSpPr>
        <p:spPr>
          <a:xfrm flipV="1">
            <a:off x="6165851" y="3564468"/>
            <a:ext cx="0" cy="740832"/>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sp>
        <p:nvSpPr>
          <p:cNvPr id="20" name="矩形 31">
            <a:extLst>
              <a:ext uri="{FF2B5EF4-FFF2-40B4-BE49-F238E27FC236}">
                <a16:creationId xmlns:a16="http://schemas.microsoft.com/office/drawing/2014/main" id="{AA227D1F-D40C-91B8-E673-4BA981AEA2C3}"/>
              </a:ext>
            </a:extLst>
          </p:cNvPr>
          <p:cNvSpPr/>
          <p:nvPr/>
        </p:nvSpPr>
        <p:spPr>
          <a:xfrm>
            <a:off x="4273551" y="4836584"/>
            <a:ext cx="1231900"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rgbClr val="FFFFFF"/>
                </a:solidFill>
                <a:latin typeface="Arial" panose="020B0604020202020204" pitchFamily="34" charset="0"/>
                <a:ea typeface="微软雅黑" panose="020B0503020204020204" pitchFamily="34" charset="-122"/>
              </a:rPr>
              <a:t>计划到货</a:t>
            </a:r>
            <a:r>
              <a:rPr lang="en-US" altLang="zh-CN" sz="1600" dirty="0">
                <a:solidFill>
                  <a:srgbClr val="FFFFFF"/>
                </a:solidFill>
                <a:latin typeface="Arial" panose="020B0604020202020204" pitchFamily="34" charset="0"/>
                <a:ea typeface="微软雅黑" panose="020B0503020204020204" pitchFamily="34" charset="-122"/>
              </a:rPr>
              <a:t>A</a:t>
            </a:r>
            <a:endParaRPr lang="zh-CN" altLang="en-US" sz="1600" dirty="0">
              <a:solidFill>
                <a:srgbClr val="FFFFFF"/>
              </a:solidFill>
              <a:latin typeface="Arial" panose="020B0604020202020204" pitchFamily="34" charset="0"/>
              <a:ea typeface="微软雅黑" panose="020B0503020204020204" pitchFamily="34" charset="-122"/>
            </a:endParaRPr>
          </a:p>
        </p:txBody>
      </p:sp>
      <p:cxnSp>
        <p:nvCxnSpPr>
          <p:cNvPr id="21" name="直接箭头连接符 40">
            <a:extLst>
              <a:ext uri="{FF2B5EF4-FFF2-40B4-BE49-F238E27FC236}">
                <a16:creationId xmlns:a16="http://schemas.microsoft.com/office/drawing/2014/main" id="{FE4EF386-C74B-9BA7-3A7E-17F4128BCF4B}"/>
              </a:ext>
            </a:extLst>
          </p:cNvPr>
          <p:cNvCxnSpPr>
            <a:stCxn id="20" idx="0"/>
          </p:cNvCxnSpPr>
          <p:nvPr/>
        </p:nvCxnSpPr>
        <p:spPr>
          <a:xfrm flipV="1">
            <a:off x="4889501" y="3558117"/>
            <a:ext cx="29632" cy="1278467"/>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sp>
        <p:nvSpPr>
          <p:cNvPr id="22" name="Line 58">
            <a:extLst>
              <a:ext uri="{FF2B5EF4-FFF2-40B4-BE49-F238E27FC236}">
                <a16:creationId xmlns:a16="http://schemas.microsoft.com/office/drawing/2014/main" id="{A08D643A-D8A5-2290-E487-4B90BF342422}"/>
              </a:ext>
            </a:extLst>
          </p:cNvPr>
          <p:cNvSpPr/>
          <p:nvPr/>
        </p:nvSpPr>
        <p:spPr>
          <a:xfrm flipH="1">
            <a:off x="2755900" y="2679701"/>
            <a:ext cx="823384" cy="1276351"/>
          </a:xfrm>
          <a:prstGeom prst="line">
            <a:avLst/>
          </a:prstGeom>
          <a:ln w="12700" cap="flat" cmpd="sng">
            <a:solidFill>
              <a:schemeClr val="bg1"/>
            </a:solidFill>
            <a:prstDash val="lgDash"/>
            <a:headEnd type="none" w="med" len="med"/>
            <a:tailEnd type="triangle" w="med" len="med"/>
          </a:ln>
        </p:spPr>
        <p:txBody>
          <a:bodyPr/>
          <a:lstStyle/>
          <a:p>
            <a:endParaRPr lang="zh-CN" altLang="en-US">
              <a:latin typeface="+mn-ea"/>
            </a:endParaRPr>
          </a:p>
        </p:txBody>
      </p:sp>
      <p:sp>
        <p:nvSpPr>
          <p:cNvPr id="23" name="文本框 22">
            <a:extLst>
              <a:ext uri="{FF2B5EF4-FFF2-40B4-BE49-F238E27FC236}">
                <a16:creationId xmlns:a16="http://schemas.microsoft.com/office/drawing/2014/main" id="{08D3A089-D5F7-07DA-708E-5DDA5CA66885}"/>
              </a:ext>
            </a:extLst>
          </p:cNvPr>
          <p:cNvSpPr txBox="1"/>
          <p:nvPr/>
        </p:nvSpPr>
        <p:spPr>
          <a:xfrm rot="-3433726">
            <a:off x="2586567" y="3027883"/>
            <a:ext cx="914400" cy="235898"/>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933" dirty="0">
                <a:solidFill>
                  <a:schemeClr val="bg1"/>
                </a:solidFill>
                <a:latin typeface="Arial" panose="020B0604020202020204" pitchFamily="34" charset="0"/>
                <a:ea typeface="微软雅黑" panose="020B0503020204020204" pitchFamily="34" charset="-122"/>
                <a:cs typeface="Arial" panose="020B0604020202020204" pitchFamily="34" charset="0"/>
              </a:rPr>
              <a:t>被需求</a:t>
            </a:r>
            <a:r>
              <a:rPr lang="en-US" altLang="zh-CN" sz="933" dirty="0">
                <a:solidFill>
                  <a:schemeClr val="bg1"/>
                </a:solidFill>
                <a:latin typeface="Arial" panose="020B0604020202020204" pitchFamily="34" charset="0"/>
                <a:ea typeface="微软雅黑" panose="020B0503020204020204" pitchFamily="34" charset="-122"/>
                <a:cs typeface="Arial" panose="020B0604020202020204" pitchFamily="34" charset="0"/>
              </a:rPr>
              <a:t>2</a:t>
            </a:r>
            <a:r>
              <a:rPr lang="zh-CN" altLang="en-US" sz="933" dirty="0">
                <a:solidFill>
                  <a:schemeClr val="bg1"/>
                </a:solidFill>
                <a:latin typeface="Arial" panose="020B0604020202020204" pitchFamily="34" charset="0"/>
                <a:ea typeface="微软雅黑" panose="020B0503020204020204" pitchFamily="34" charset="-122"/>
                <a:cs typeface="Arial" panose="020B0604020202020204" pitchFamily="34" charset="0"/>
              </a:rPr>
              <a:t>占用</a:t>
            </a:r>
            <a:endParaRPr lang="zh-CN" altLang="en-US" sz="933" dirty="0">
              <a:solidFill>
                <a:schemeClr val="bg1"/>
              </a:solidFill>
              <a:latin typeface="Arial" panose="020B0604020202020204" pitchFamily="34" charset="0"/>
              <a:ea typeface="微软雅黑" panose="020B0503020204020204" pitchFamily="34" charset="-122"/>
            </a:endParaRPr>
          </a:p>
        </p:txBody>
      </p:sp>
      <p:cxnSp>
        <p:nvCxnSpPr>
          <p:cNvPr id="24" name="直接箭头连接符 5">
            <a:extLst>
              <a:ext uri="{FF2B5EF4-FFF2-40B4-BE49-F238E27FC236}">
                <a16:creationId xmlns:a16="http://schemas.microsoft.com/office/drawing/2014/main" id="{3219F787-FE4B-227F-4377-15FDFF66D145}"/>
              </a:ext>
            </a:extLst>
          </p:cNvPr>
          <p:cNvCxnSpPr>
            <a:endCxn id="20" idx="0"/>
          </p:cNvCxnSpPr>
          <p:nvPr/>
        </p:nvCxnSpPr>
        <p:spPr>
          <a:xfrm>
            <a:off x="3653367" y="2791885"/>
            <a:ext cx="1236134" cy="2044699"/>
          </a:xfrm>
          <a:prstGeom prst="straightConnector1">
            <a:avLst/>
          </a:prstGeom>
          <a:ln w="12700" cap="flat" cmpd="sng">
            <a:solidFill>
              <a:schemeClr val="bg1"/>
            </a:solidFill>
            <a:prstDash val="lgDash"/>
            <a:headEnd type="none" w="med" len="med"/>
            <a:tailEnd type="triangle" w="med" len="med"/>
          </a:ln>
        </p:spPr>
      </p:cxnSp>
      <p:cxnSp>
        <p:nvCxnSpPr>
          <p:cNvPr id="25" name="直接箭头连接符 50">
            <a:extLst>
              <a:ext uri="{FF2B5EF4-FFF2-40B4-BE49-F238E27FC236}">
                <a16:creationId xmlns:a16="http://schemas.microsoft.com/office/drawing/2014/main" id="{6A666C4C-3661-8765-0882-52B2255C2C22}"/>
              </a:ext>
            </a:extLst>
          </p:cNvPr>
          <p:cNvCxnSpPr>
            <a:stCxn id="22" idx="0"/>
          </p:cNvCxnSpPr>
          <p:nvPr/>
        </p:nvCxnSpPr>
        <p:spPr>
          <a:xfrm flipH="1">
            <a:off x="2743201" y="2679701"/>
            <a:ext cx="836084" cy="2097617"/>
          </a:xfrm>
          <a:prstGeom prst="straightConnector1">
            <a:avLst/>
          </a:prstGeom>
          <a:ln w="12700" cap="flat" cmpd="sng">
            <a:solidFill>
              <a:schemeClr val="bg1"/>
            </a:solidFill>
            <a:prstDash val="lgDash"/>
            <a:headEnd type="none" w="med" len="med"/>
            <a:tailEnd type="triangle" w="med" len="med"/>
          </a:ln>
        </p:spPr>
      </p:cxnSp>
      <p:sp>
        <p:nvSpPr>
          <p:cNvPr id="26" name="圆角矩形标注 24">
            <a:extLst>
              <a:ext uri="{FF2B5EF4-FFF2-40B4-BE49-F238E27FC236}">
                <a16:creationId xmlns:a16="http://schemas.microsoft.com/office/drawing/2014/main" id="{BF35203F-B4A3-4701-2000-778AD95F3A2E}"/>
              </a:ext>
            </a:extLst>
          </p:cNvPr>
          <p:cNvSpPr/>
          <p:nvPr/>
        </p:nvSpPr>
        <p:spPr>
          <a:xfrm>
            <a:off x="1375833" y="1892300"/>
            <a:ext cx="1380067" cy="414867"/>
          </a:xfrm>
          <a:prstGeom prst="wedgeRoundRectCallout">
            <a:avLst>
              <a:gd name="adj1" fmla="val 86096"/>
              <a:gd name="adj2" fmla="val 93018"/>
              <a:gd name="adj3" fmla="val 16667"/>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en-US" altLang="zh-CN" sz="1600" dirty="0">
                <a:solidFill>
                  <a:srgbClr val="FFFFFF"/>
                </a:solidFill>
                <a:latin typeface="Arial" panose="020B0604020202020204" pitchFamily="34" charset="0"/>
                <a:ea typeface="微软雅黑" panose="020B0503020204020204" pitchFamily="34" charset="-122"/>
                <a:cs typeface="微软雅黑" panose="020B0503020204020204" pitchFamily="34" charset="-122"/>
              </a:rPr>
              <a:t>Late</a:t>
            </a:r>
            <a:endParaRPr lang="zh-CN" altLang="en-US" sz="1600">
              <a:solidFill>
                <a:srgbClr val="FFFFFF"/>
              </a:solidFill>
              <a:latin typeface="Arial" panose="020B0604020202020204" pitchFamily="34" charset="0"/>
              <a:ea typeface="微软雅黑" panose="020B0503020204020204" pitchFamily="34" charset="-122"/>
              <a:cs typeface="微软雅黑" panose="020B0503020204020204" pitchFamily="34" charset="-122"/>
            </a:endParaRPr>
          </a:p>
        </p:txBody>
      </p:sp>
      <p:cxnSp>
        <p:nvCxnSpPr>
          <p:cNvPr id="27" name="直接箭头连接符 3">
            <a:extLst>
              <a:ext uri="{FF2B5EF4-FFF2-40B4-BE49-F238E27FC236}">
                <a16:creationId xmlns:a16="http://schemas.microsoft.com/office/drawing/2014/main" id="{BDA8F927-FD2F-3408-78BD-CA3750794F30}"/>
              </a:ext>
            </a:extLst>
          </p:cNvPr>
          <p:cNvCxnSpPr>
            <a:stCxn id="13" idx="0"/>
          </p:cNvCxnSpPr>
          <p:nvPr/>
        </p:nvCxnSpPr>
        <p:spPr>
          <a:xfrm flipH="1">
            <a:off x="4961467" y="2679701"/>
            <a:ext cx="2491317" cy="1276351"/>
          </a:xfrm>
          <a:prstGeom prst="straightConnector1">
            <a:avLst/>
          </a:prstGeom>
          <a:ln w="12700" cap="flat" cmpd="sng">
            <a:solidFill>
              <a:schemeClr val="bg1"/>
            </a:solidFill>
            <a:prstDash val="lgDash"/>
            <a:headEnd type="none" w="med" len="med"/>
            <a:tailEnd type="triangle" w="med" len="med"/>
          </a:ln>
        </p:spPr>
      </p:cxnSp>
      <p:sp>
        <p:nvSpPr>
          <p:cNvPr id="28" name="圆角矩形标注 26">
            <a:extLst>
              <a:ext uri="{FF2B5EF4-FFF2-40B4-BE49-F238E27FC236}">
                <a16:creationId xmlns:a16="http://schemas.microsoft.com/office/drawing/2014/main" id="{39749B38-0F5E-AA2B-26E6-59E65952B8DC}"/>
              </a:ext>
            </a:extLst>
          </p:cNvPr>
          <p:cNvSpPr/>
          <p:nvPr/>
        </p:nvSpPr>
        <p:spPr>
          <a:xfrm>
            <a:off x="715434" y="2417233"/>
            <a:ext cx="2123017" cy="747184"/>
          </a:xfrm>
          <a:prstGeom prst="wedgeRoundRectCallout">
            <a:avLst>
              <a:gd name="adj1" fmla="val 70738"/>
              <a:gd name="adj2" fmla="val -32831"/>
              <a:gd name="adj3" fmla="val 16667"/>
            </a:avLst>
          </a:prstGeom>
          <a:solidFill>
            <a:srgbClr val="00B050"/>
          </a:solidFill>
          <a:ln>
            <a:solidFill>
              <a:srgbClr val="57CC00"/>
            </a:solidFill>
          </a:ln>
        </p:spPr>
        <p:style>
          <a:lnRef idx="1">
            <a:schemeClr val="dk1"/>
          </a:lnRef>
          <a:fillRef idx="2">
            <a:schemeClr val="dk1"/>
          </a:fillRef>
          <a:effectRef idx="1">
            <a:schemeClr val="dk1"/>
          </a:effectRef>
          <a:fontRef idx="minor">
            <a:schemeClr val="dk1"/>
          </a:fontRef>
        </p:style>
        <p:txBody>
          <a:bodyPr lIns="121899" tIns="60949" rIns="121899" bIns="60949" anchor="ctr"/>
          <a:lstStyle/>
          <a:p>
            <a:pPr algn="ctr" defTabSz="1217476" fontAlgn="base">
              <a:spcBef>
                <a:spcPct val="0"/>
              </a:spcBef>
              <a:spcAft>
                <a:spcPct val="0"/>
              </a:spcAft>
              <a:defRPr/>
            </a:pPr>
            <a:r>
              <a:rPr lang="zh-CN" altLang="en-US" sz="1600" dirty="0">
                <a:solidFill>
                  <a:srgbClr val="FFFFFF"/>
                </a:solidFill>
                <a:latin typeface="Arial" panose="020B0604020202020204" pitchFamily="34" charset="0"/>
                <a:ea typeface="微软雅黑" panose="020B0503020204020204" pitchFamily="34" charset="-122"/>
                <a:cs typeface="微软雅黑" panose="020B0503020204020204" pitchFamily="34" charset="-122"/>
              </a:rPr>
              <a:t>工单下达，需求满足</a:t>
            </a:r>
          </a:p>
        </p:txBody>
      </p:sp>
      <p:cxnSp>
        <p:nvCxnSpPr>
          <p:cNvPr id="29" name="直接连接符 7">
            <a:extLst>
              <a:ext uri="{FF2B5EF4-FFF2-40B4-BE49-F238E27FC236}">
                <a16:creationId xmlns:a16="http://schemas.microsoft.com/office/drawing/2014/main" id="{70BCEB3F-30EF-7C5E-9EA0-909EE83282F0}"/>
              </a:ext>
            </a:extLst>
          </p:cNvPr>
          <p:cNvCxnSpPr/>
          <p:nvPr/>
        </p:nvCxnSpPr>
        <p:spPr>
          <a:xfrm>
            <a:off x="2838451" y="1361018"/>
            <a:ext cx="0" cy="2197100"/>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0" name="直接连接符 7">
            <a:extLst>
              <a:ext uri="{FF2B5EF4-FFF2-40B4-BE49-F238E27FC236}">
                <a16:creationId xmlns:a16="http://schemas.microsoft.com/office/drawing/2014/main" id="{6DE48777-C835-2B75-06FA-B69DCFC25961}"/>
              </a:ext>
            </a:extLst>
          </p:cNvPr>
          <p:cNvCxnSpPr/>
          <p:nvPr/>
        </p:nvCxnSpPr>
        <p:spPr>
          <a:xfrm>
            <a:off x="4286251" y="1361018"/>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接连接符 7">
            <a:extLst>
              <a:ext uri="{FF2B5EF4-FFF2-40B4-BE49-F238E27FC236}">
                <a16:creationId xmlns:a16="http://schemas.microsoft.com/office/drawing/2014/main" id="{8E671C86-1424-003A-09D6-A730FDAB4852}"/>
              </a:ext>
            </a:extLst>
          </p:cNvPr>
          <p:cNvCxnSpPr/>
          <p:nvPr/>
        </p:nvCxnSpPr>
        <p:spPr>
          <a:xfrm>
            <a:off x="5505451" y="1418168"/>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接连接符 7">
            <a:extLst>
              <a:ext uri="{FF2B5EF4-FFF2-40B4-BE49-F238E27FC236}">
                <a16:creationId xmlns:a16="http://schemas.microsoft.com/office/drawing/2014/main" id="{E8B93C78-4C6A-DE74-C915-E6CB47382567}"/>
              </a:ext>
            </a:extLst>
          </p:cNvPr>
          <p:cNvCxnSpPr/>
          <p:nvPr/>
        </p:nvCxnSpPr>
        <p:spPr>
          <a:xfrm>
            <a:off x="6830484" y="1418168"/>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8" name="圆角矩形 45">
            <a:extLst>
              <a:ext uri="{FF2B5EF4-FFF2-40B4-BE49-F238E27FC236}">
                <a16:creationId xmlns:a16="http://schemas.microsoft.com/office/drawing/2014/main" id="{2EA30012-8194-209A-9607-0BC31FA38A6C}"/>
              </a:ext>
            </a:extLst>
          </p:cNvPr>
          <p:cNvSpPr/>
          <p:nvPr/>
        </p:nvSpPr>
        <p:spPr>
          <a:xfrm>
            <a:off x="8358718" y="3769784"/>
            <a:ext cx="3253317" cy="1439333"/>
          </a:xfrm>
          <a:prstGeom prst="round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marL="285750" indent="-285750" defTabSz="1219170">
              <a:buFont typeface="Arial" panose="020B0604020202020204" pitchFamily="34" charset="0"/>
              <a:buChar char="•"/>
              <a:defRPr/>
            </a:pPr>
            <a:r>
              <a:rPr lang="zh-CN" altLang="en-US" sz="1400" u="sng" kern="0" dirty="0">
                <a:solidFill>
                  <a:schemeClr val="bg1"/>
                </a:solidFill>
                <a:latin typeface="Arial" panose="020B0604020202020204" pitchFamily="34" charset="0"/>
                <a:ea typeface="微软雅黑" panose="020B0503020204020204" pitchFamily="34" charset="-122"/>
              </a:rPr>
              <a:t>软分配物料和资源</a:t>
            </a:r>
            <a:endParaRPr lang="en-US" altLang="zh-CN" sz="1400" u="sng" kern="0" dirty="0">
              <a:solidFill>
                <a:schemeClr val="bg1"/>
              </a:solidFill>
              <a:latin typeface="Arial" panose="020B0604020202020204" pitchFamily="34" charset="0"/>
              <a:ea typeface="微软雅黑" panose="020B0503020204020204" pitchFamily="34" charset="-122"/>
            </a:endParaRPr>
          </a:p>
          <a:p>
            <a:pPr marL="285750" indent="-285750" defTabSz="1219170">
              <a:buFont typeface="Arial" panose="020B0604020202020204" pitchFamily="34" charset="0"/>
              <a:buChar char="•"/>
              <a:defRPr/>
            </a:pPr>
            <a:r>
              <a:rPr lang="zh-CN" altLang="en-US" sz="1400" u="sng" kern="0" dirty="0">
                <a:solidFill>
                  <a:schemeClr val="bg1"/>
                </a:solidFill>
                <a:latin typeface="Arial" panose="020B0604020202020204" pitchFamily="34" charset="0"/>
                <a:ea typeface="微软雅黑" panose="020B0503020204020204" pitchFamily="34" charset="-122"/>
              </a:rPr>
              <a:t>在影响交期承诺的前提下释放资源给优先级低</a:t>
            </a:r>
            <a:r>
              <a:rPr lang="en-US" altLang="zh-CN" sz="1400" u="sng" kern="0" dirty="0">
                <a:solidFill>
                  <a:schemeClr val="bg1"/>
                </a:solidFill>
                <a:latin typeface="Arial" panose="020B0604020202020204" pitchFamily="34" charset="0"/>
                <a:ea typeface="微软雅黑" panose="020B0503020204020204" pitchFamily="34" charset="-122"/>
              </a:rPr>
              <a:t>/</a:t>
            </a:r>
            <a:r>
              <a:rPr lang="zh-CN" altLang="en-US" sz="1400" u="sng" kern="0" dirty="0">
                <a:solidFill>
                  <a:schemeClr val="bg1"/>
                </a:solidFill>
                <a:latin typeface="Arial" panose="020B0604020202020204" pitchFamily="34" charset="0"/>
                <a:ea typeface="微软雅黑" panose="020B0503020204020204" pitchFamily="34" charset="-122"/>
              </a:rPr>
              <a:t>新需求</a:t>
            </a:r>
            <a:endParaRPr lang="en-US" altLang="zh-CN" sz="1400" kern="0" dirty="0">
              <a:solidFill>
                <a:schemeClr val="bg1"/>
              </a:solidFill>
              <a:latin typeface="Arial" panose="020B0604020202020204" pitchFamily="34" charset="0"/>
              <a:ea typeface="微软雅黑" panose="020B0503020204020204" pitchFamily="34" charset="-122"/>
            </a:endParaRPr>
          </a:p>
        </p:txBody>
      </p:sp>
      <p:sp>
        <p:nvSpPr>
          <p:cNvPr id="40" name="圆角矩形标注 51">
            <a:extLst>
              <a:ext uri="{FF2B5EF4-FFF2-40B4-BE49-F238E27FC236}">
                <a16:creationId xmlns:a16="http://schemas.microsoft.com/office/drawing/2014/main" id="{4A8DD717-1CB2-3386-9EA2-05BE9203F556}"/>
              </a:ext>
            </a:extLst>
          </p:cNvPr>
          <p:cNvSpPr/>
          <p:nvPr/>
        </p:nvSpPr>
        <p:spPr>
          <a:xfrm>
            <a:off x="5444067" y="2307167"/>
            <a:ext cx="1380067" cy="372533"/>
          </a:xfrm>
          <a:prstGeom prst="wedgeRoundRectCallout">
            <a:avLst>
              <a:gd name="adj1" fmla="val 67310"/>
              <a:gd name="adj2" fmla="val 101445"/>
              <a:gd name="adj3" fmla="val 16667"/>
            </a:avLst>
          </a:prstGeom>
          <a:solidFill>
            <a:srgbClr val="00AA48"/>
          </a:solidFill>
          <a:ln/>
        </p:spPr>
        <p:style>
          <a:lnRef idx="1">
            <a:schemeClr val="accent6"/>
          </a:lnRef>
          <a:fillRef idx="2">
            <a:schemeClr val="accent6"/>
          </a:fillRef>
          <a:effectRef idx="1">
            <a:schemeClr val="accent6"/>
          </a:effectRef>
          <a:fontRef idx="minor">
            <a:schemeClr val="dk1"/>
          </a:fontRef>
        </p:style>
        <p:txBody>
          <a:bodyPr lIns="121899" tIns="60949" rIns="121899" bIns="60949" anchor="ctr"/>
          <a:lstStyle/>
          <a:p>
            <a:pPr algn="ctr" defTabSz="1217476" fontAlgn="base">
              <a:spcBef>
                <a:spcPct val="0"/>
              </a:spcBef>
              <a:spcAft>
                <a:spcPct val="0"/>
              </a:spcAft>
              <a:defRPr/>
            </a:pPr>
            <a:r>
              <a:rPr lang="zh-CN" altLang="en-US" sz="1600" dirty="0">
                <a:solidFill>
                  <a:srgbClr val="FFFFFF"/>
                </a:solidFill>
                <a:latin typeface="Arial" panose="020B0604020202020204" pitchFamily="34" charset="0"/>
                <a:ea typeface="微软雅黑" panose="020B0503020204020204" pitchFamily="34" charset="-122"/>
                <a:cs typeface="微软雅黑" panose="020B0503020204020204" pitchFamily="34" charset="-122"/>
              </a:rPr>
              <a:t>不影响承诺</a:t>
            </a:r>
          </a:p>
        </p:txBody>
      </p:sp>
      <p:sp>
        <p:nvSpPr>
          <p:cNvPr id="41" name="文本框 40">
            <a:extLst>
              <a:ext uri="{FF2B5EF4-FFF2-40B4-BE49-F238E27FC236}">
                <a16:creationId xmlns:a16="http://schemas.microsoft.com/office/drawing/2014/main" id="{A9EF1E1B-41AD-3E8E-A65F-7BE736245855}"/>
              </a:ext>
            </a:extLst>
          </p:cNvPr>
          <p:cNvSpPr txBox="1"/>
          <p:nvPr/>
        </p:nvSpPr>
        <p:spPr>
          <a:xfrm>
            <a:off x="10092268" y="3388840"/>
            <a:ext cx="1302564" cy="338554"/>
          </a:xfrm>
          <a:prstGeom prst="rect">
            <a:avLst/>
          </a:prstGeom>
          <a:noFill/>
        </p:spPr>
        <p:txBody>
          <a:bodyPr wrap="square" rtlCol="0">
            <a:spAutoFit/>
          </a:bodyPr>
          <a:lstStyle>
            <a:defPPr>
              <a:defRPr lang="zh-CN"/>
            </a:defPPr>
            <a:lvl1pPr marL="0" lvl="0"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1pPr>
            <a:lvl2pPr marL="457200" lvl="1"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2pPr>
            <a:lvl3pPr marL="914400" lvl="2"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3pPr>
            <a:lvl4pPr marL="1371600" lvl="3"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4pPr>
            <a:lvl5pPr marL="1828800" lvl="4"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5pPr>
            <a:lvl6pPr marL="2286000" lvl="5"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6pPr>
            <a:lvl7pPr marL="2743200" lvl="6"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7pPr>
            <a:lvl8pPr marL="3200400" lvl="7"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8pPr>
            <a:lvl9pPr marL="3657600" lvl="8"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9pPr>
          </a:lstStyle>
          <a:p>
            <a:r>
              <a:rPr lang="zh-CN" altLang="en-US" sz="1600" dirty="0">
                <a:solidFill>
                  <a:schemeClr val="bg1"/>
                </a:solidFill>
                <a:latin typeface="Arial" panose="020B0604020202020204" pitchFamily="34" charset="0"/>
                <a:ea typeface="微软雅黑" panose="020B0503020204020204" pitchFamily="34" charset="-122"/>
              </a:rPr>
              <a:t>需求日期</a:t>
            </a:r>
          </a:p>
        </p:txBody>
      </p:sp>
      <p:sp>
        <p:nvSpPr>
          <p:cNvPr id="3" name="文本框 1">
            <a:extLst>
              <a:ext uri="{FF2B5EF4-FFF2-40B4-BE49-F238E27FC236}">
                <a16:creationId xmlns:a16="http://schemas.microsoft.com/office/drawing/2014/main" id="{0B4ED3D0-7777-6567-E9FE-229B256742EC}"/>
              </a:ext>
            </a:extLst>
          </p:cNvPr>
          <p:cNvSpPr txBox="1"/>
          <p:nvPr/>
        </p:nvSpPr>
        <p:spPr>
          <a:xfrm>
            <a:off x="1153584" y="941918"/>
            <a:ext cx="1589616"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1</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42" name="文本框 1">
            <a:extLst>
              <a:ext uri="{FF2B5EF4-FFF2-40B4-BE49-F238E27FC236}">
                <a16:creationId xmlns:a16="http://schemas.microsoft.com/office/drawing/2014/main" id="{7AC49BF6-1C80-3947-B83E-834769DDE8C0}"/>
              </a:ext>
            </a:extLst>
          </p:cNvPr>
          <p:cNvSpPr txBox="1"/>
          <p:nvPr/>
        </p:nvSpPr>
        <p:spPr>
          <a:xfrm>
            <a:off x="2580005" y="941917"/>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2</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43" name="文本框 1">
            <a:extLst>
              <a:ext uri="{FF2B5EF4-FFF2-40B4-BE49-F238E27FC236}">
                <a16:creationId xmlns:a16="http://schemas.microsoft.com/office/drawing/2014/main" id="{9B1A018B-0A55-7024-8CE7-5CC08B0B6855}"/>
              </a:ext>
            </a:extLst>
          </p:cNvPr>
          <p:cNvSpPr txBox="1"/>
          <p:nvPr/>
        </p:nvSpPr>
        <p:spPr>
          <a:xfrm>
            <a:off x="5556251" y="937685"/>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4</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44" name="文本框 1">
            <a:extLst>
              <a:ext uri="{FF2B5EF4-FFF2-40B4-BE49-F238E27FC236}">
                <a16:creationId xmlns:a16="http://schemas.microsoft.com/office/drawing/2014/main" id="{42FC082A-67AF-2BE3-FC68-BA90329468C4}"/>
              </a:ext>
            </a:extLst>
          </p:cNvPr>
          <p:cNvSpPr txBox="1"/>
          <p:nvPr/>
        </p:nvSpPr>
        <p:spPr>
          <a:xfrm>
            <a:off x="7001934" y="941918"/>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5</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45" name="文本框 1">
            <a:extLst>
              <a:ext uri="{FF2B5EF4-FFF2-40B4-BE49-F238E27FC236}">
                <a16:creationId xmlns:a16="http://schemas.microsoft.com/office/drawing/2014/main" id="{1D094B49-351B-D1F5-35C2-52310FFFCBA9}"/>
              </a:ext>
            </a:extLst>
          </p:cNvPr>
          <p:cNvSpPr txBox="1"/>
          <p:nvPr/>
        </p:nvSpPr>
        <p:spPr>
          <a:xfrm>
            <a:off x="4076025" y="941916"/>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solidFill>
                  <a:schemeClr val="bg1"/>
                </a:solidFill>
                <a:latin typeface="+mj-ea"/>
                <a:ea typeface="+mj-ea"/>
                <a:cs typeface="Arial" panose="020B0604020202020204" pitchFamily="34" charset="0"/>
              </a:rPr>
              <a:t>第</a:t>
            </a:r>
            <a:r>
              <a:rPr lang="en-US" altLang="zh-CN" sz="1733" b="1" dirty="0">
                <a:solidFill>
                  <a:schemeClr val="bg1"/>
                </a:solidFill>
                <a:latin typeface="+mj-ea"/>
                <a:ea typeface="+mj-ea"/>
                <a:cs typeface="Arial" panose="020B0604020202020204" pitchFamily="34" charset="0"/>
              </a:rPr>
              <a:t>3</a:t>
            </a:r>
            <a:r>
              <a:rPr lang="zh-CN" altLang="en-US" sz="1733" b="1" dirty="0">
                <a:solidFill>
                  <a:schemeClr val="bg1"/>
                </a:solidFill>
                <a:latin typeface="+mj-ea"/>
                <a:ea typeface="+mj-ea"/>
                <a:cs typeface="Arial" panose="020B0604020202020204" pitchFamily="34" charset="0"/>
              </a:rPr>
              <a:t>天</a:t>
            </a:r>
            <a:endParaRPr lang="zh-CN" altLang="en-US" sz="1733" b="1" dirty="0">
              <a:solidFill>
                <a:schemeClr val="bg1"/>
              </a:solidFill>
              <a:latin typeface="+mj-ea"/>
              <a:ea typeface="+mj-ea"/>
            </a:endParaRPr>
          </a:p>
        </p:txBody>
      </p:sp>
      <p:sp>
        <p:nvSpPr>
          <p:cNvPr id="46" name="TextBox 30">
            <a:extLst>
              <a:ext uri="{FF2B5EF4-FFF2-40B4-BE49-F238E27FC236}">
                <a16:creationId xmlns:a16="http://schemas.microsoft.com/office/drawing/2014/main" id="{98660F0F-936E-6E8D-A2F8-868DA540E792}"/>
              </a:ext>
            </a:extLst>
          </p:cNvPr>
          <p:cNvSpPr txBox="1"/>
          <p:nvPr/>
        </p:nvSpPr>
        <p:spPr>
          <a:xfrm>
            <a:off x="991435" y="5444067"/>
            <a:ext cx="4497507" cy="1354195"/>
          </a:xfrm>
          <a:prstGeom prst="rect">
            <a:avLst/>
          </a:prstGeom>
          <a:no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1600" b="1" dirty="0">
                <a:solidFill>
                  <a:schemeClr val="bg1"/>
                </a:solidFill>
                <a:latin typeface="+mj-ea"/>
                <a:ea typeface="+mj-ea"/>
              </a:rPr>
              <a:t>场景</a:t>
            </a:r>
            <a:r>
              <a:rPr lang="en-US" altLang="zh-CN" sz="1600" b="1" dirty="0">
                <a:solidFill>
                  <a:schemeClr val="bg1"/>
                </a:solidFill>
                <a:latin typeface="+mj-ea"/>
                <a:ea typeface="+mj-ea"/>
              </a:rPr>
              <a:t>:</a:t>
            </a: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1</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B</a:t>
            </a:r>
            <a:r>
              <a:rPr lang="zh-CN" altLang="en-US" sz="1600" dirty="0">
                <a:solidFill>
                  <a:schemeClr val="bg1"/>
                </a:solidFill>
                <a:latin typeface="+mj-ea"/>
                <a:ea typeface="+mj-ea"/>
              </a:rPr>
              <a:t>生产</a:t>
            </a:r>
            <a:endParaRPr lang="en-US" altLang="zh-CN" sz="1600" dirty="0">
              <a:solidFill>
                <a:schemeClr val="bg1"/>
              </a:solidFill>
              <a:latin typeface="+mj-ea"/>
              <a:ea typeface="+mj-ea"/>
            </a:endParaRP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由</a:t>
            </a:r>
            <a:r>
              <a:rPr lang="en-US" altLang="zh-CN" sz="1600" dirty="0">
                <a:solidFill>
                  <a:schemeClr val="bg1"/>
                </a:solidFill>
                <a:latin typeface="+mj-ea"/>
                <a:ea typeface="+mj-ea"/>
              </a:rPr>
              <a:t>A</a:t>
            </a:r>
            <a:r>
              <a:rPr lang="zh-CN" altLang="en-US" sz="1600" dirty="0">
                <a:solidFill>
                  <a:schemeClr val="bg1"/>
                </a:solidFill>
                <a:latin typeface="+mj-ea"/>
                <a:ea typeface="+mj-ea"/>
              </a:rPr>
              <a:t>和</a:t>
            </a:r>
            <a:r>
              <a:rPr lang="en-US" altLang="zh-CN" sz="1600" dirty="0">
                <a:solidFill>
                  <a:schemeClr val="bg1"/>
                </a:solidFill>
                <a:latin typeface="+mj-ea"/>
                <a:ea typeface="+mj-ea"/>
              </a:rPr>
              <a:t>C</a:t>
            </a:r>
            <a:r>
              <a:rPr lang="zh-CN" altLang="en-US" sz="1600" dirty="0">
                <a:solidFill>
                  <a:schemeClr val="bg1"/>
                </a:solidFill>
                <a:latin typeface="+mj-ea"/>
                <a:ea typeface="+mj-ea"/>
              </a:rPr>
              <a:t>生产</a:t>
            </a:r>
            <a:endParaRPr lang="en-US" altLang="zh-CN" sz="1600" dirty="0">
              <a:solidFill>
                <a:schemeClr val="bg1"/>
              </a:solidFill>
              <a:latin typeface="+mj-ea"/>
              <a:ea typeface="+mj-ea"/>
            </a:endParaRPr>
          </a:p>
          <a:p>
            <a:pPr marL="0" indent="0" defTabSz="1217476" eaLnBrk="1" hangingPunct="1">
              <a:spcBef>
                <a:spcPct val="0"/>
              </a:spcBef>
            </a:pPr>
            <a:r>
              <a:rPr lang="zh-CN" altLang="en-US" sz="1600" dirty="0">
                <a:solidFill>
                  <a:schemeClr val="bg1"/>
                </a:solidFill>
                <a:latin typeface="+mj-ea"/>
                <a:ea typeface="+mj-ea"/>
              </a:rPr>
              <a:t>需求</a:t>
            </a:r>
            <a:r>
              <a:rPr lang="en-US" altLang="zh-CN" sz="1600" dirty="0">
                <a:solidFill>
                  <a:schemeClr val="bg1"/>
                </a:solidFill>
                <a:latin typeface="+mj-ea"/>
                <a:ea typeface="+mj-ea"/>
              </a:rPr>
              <a:t>2</a:t>
            </a:r>
            <a:r>
              <a:rPr lang="zh-CN" altLang="en-US" sz="1600" dirty="0">
                <a:solidFill>
                  <a:schemeClr val="bg1"/>
                </a:solidFill>
                <a:latin typeface="+mj-ea"/>
                <a:ea typeface="+mj-ea"/>
              </a:rPr>
              <a:t>的优先级高于需求</a:t>
            </a:r>
            <a:r>
              <a:rPr lang="en-US" altLang="zh-CN" sz="1600" dirty="0">
                <a:solidFill>
                  <a:schemeClr val="bg1"/>
                </a:solidFill>
                <a:latin typeface="+mj-ea"/>
                <a:ea typeface="+mj-ea"/>
              </a:rPr>
              <a:t>1</a:t>
            </a:r>
          </a:p>
          <a:p>
            <a:pPr marL="0" indent="0" defTabSz="1217476" eaLnBrk="1" hangingPunct="1">
              <a:spcBef>
                <a:spcPct val="0"/>
              </a:spcBef>
            </a:pPr>
            <a:r>
              <a:rPr lang="zh-CN" altLang="en-US" sz="1600" dirty="0">
                <a:solidFill>
                  <a:schemeClr val="bg1"/>
                </a:solidFill>
                <a:latin typeface="+mj-ea"/>
                <a:ea typeface="+mj-ea"/>
              </a:rPr>
              <a:t>库存</a:t>
            </a:r>
            <a:r>
              <a:rPr lang="en-US" altLang="zh-CN" sz="1600" dirty="0">
                <a:solidFill>
                  <a:schemeClr val="bg1"/>
                </a:solidFill>
                <a:latin typeface="+mj-ea"/>
                <a:ea typeface="+mj-ea"/>
              </a:rPr>
              <a:t>A</a:t>
            </a:r>
            <a:r>
              <a:rPr lang="zh-CN" altLang="en-US" sz="1600" dirty="0">
                <a:solidFill>
                  <a:schemeClr val="bg1"/>
                </a:solidFill>
                <a:latin typeface="+mj-ea"/>
                <a:ea typeface="+mj-ea"/>
              </a:rPr>
              <a:t>只能满足其中一笔需求，库存</a:t>
            </a:r>
            <a:r>
              <a:rPr lang="en-US" altLang="zh-CN" sz="1600" dirty="0">
                <a:solidFill>
                  <a:schemeClr val="bg1"/>
                </a:solidFill>
                <a:latin typeface="+mj-ea"/>
                <a:ea typeface="+mj-ea"/>
              </a:rPr>
              <a:t>B</a:t>
            </a:r>
            <a:r>
              <a:rPr lang="zh-CN" altLang="en-US" sz="1600" dirty="0">
                <a:solidFill>
                  <a:schemeClr val="bg1"/>
                </a:solidFill>
                <a:latin typeface="+mj-ea"/>
                <a:ea typeface="+mj-ea"/>
              </a:rPr>
              <a:t>足够</a:t>
            </a:r>
            <a:endParaRPr lang="en-US" altLang="zh-CN" sz="1600" dirty="0">
              <a:solidFill>
                <a:schemeClr val="bg1"/>
              </a:solidFill>
              <a:latin typeface="+mj-ea"/>
              <a:ea typeface="+mj-ea"/>
            </a:endParaRPr>
          </a:p>
        </p:txBody>
      </p:sp>
    </p:spTree>
    <p:extLst>
      <p:ext uri="{BB962C8B-B14F-4D97-AF65-F5344CB8AC3E}">
        <p14:creationId xmlns:p14="http://schemas.microsoft.com/office/powerpoint/2010/main" val="260250726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11" fill="hold">
                      <p:stCondLst>
                        <p:cond delay="indefinite"/>
                      </p:stCondLst>
                      <p:childTnLst>
                        <p:par>
                          <p:cTn id="12" fill="hold">
                            <p:stCondLst>
                              <p:cond delay="0"/>
                            </p:stCondLst>
                            <p:childTnLst>
                              <p:par>
                                <p:cTn id="13" presetID="23" presetClass="entr" presetSubtype="16" fill="hold" nodeType="click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p:cTn id="15" dur="500" fill="hold"/>
                                        <p:tgtEl>
                                          <p:spTgt spid="14"/>
                                        </p:tgtEl>
                                        <p:attrNameLst>
                                          <p:attrName>ppt_w</p:attrName>
                                        </p:attrNameLst>
                                      </p:cBhvr>
                                      <p:tavLst>
                                        <p:tav tm="0">
                                          <p:val>
                                            <p:fltVal val="0"/>
                                          </p:val>
                                        </p:tav>
                                        <p:tav tm="100000">
                                          <p:val>
                                            <p:strVal val="#ppt_w"/>
                                          </p:val>
                                        </p:tav>
                                      </p:tavLst>
                                    </p:anim>
                                    <p:anim calcmode="lin" valueType="num">
                                      <p:cBhvr>
                                        <p:cTn id="16" dur="500" fill="hold"/>
                                        <p:tgtEl>
                                          <p:spTgt spid="14"/>
                                        </p:tgtEl>
                                        <p:attrNameLst>
                                          <p:attrName>ppt_h</p:attrName>
                                        </p:attrNameLst>
                                      </p:cBhvr>
                                      <p:tavLst>
                                        <p:tav tm="0">
                                          <p:val>
                                            <p:fltVal val="0"/>
                                          </p:val>
                                        </p:tav>
                                        <p:tav tm="100000">
                                          <p:val>
                                            <p:strVal val="#ppt_h"/>
                                          </p:val>
                                        </p:tav>
                                      </p:tavLst>
                                    </p:anim>
                                  </p:childTnLst>
                                </p:cTn>
                              </p:par>
                              <p:par>
                                <p:cTn id="17" presetID="1"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3" presetClass="entr" presetSubtype="16" fill="hold" nodeType="clickEffect">
                                  <p:stCondLst>
                                    <p:cond delay="0"/>
                                  </p:stCondLst>
                                  <p:childTnLst>
                                    <p:set>
                                      <p:cBhvr>
                                        <p:cTn id="22" dur="1" fill="hold">
                                          <p:stCondLst>
                                            <p:cond delay="0"/>
                                          </p:stCondLst>
                                        </p:cTn>
                                        <p:tgtEl>
                                          <p:spTgt spid="22"/>
                                        </p:tgtEl>
                                        <p:attrNameLst>
                                          <p:attrName>style.visibility</p:attrName>
                                        </p:attrNameLst>
                                      </p:cBhvr>
                                      <p:to>
                                        <p:strVal val="visible"/>
                                      </p:to>
                                    </p:set>
                                    <p:anim calcmode="lin" valueType="num">
                                      <p:cBhvr>
                                        <p:cTn id="23" dur="500" fill="hold"/>
                                        <p:tgtEl>
                                          <p:spTgt spid="22"/>
                                        </p:tgtEl>
                                        <p:attrNameLst>
                                          <p:attrName>ppt_w</p:attrName>
                                        </p:attrNameLst>
                                      </p:cBhvr>
                                      <p:tavLst>
                                        <p:tav tm="0">
                                          <p:val>
                                            <p:fltVal val="0"/>
                                          </p:val>
                                        </p:tav>
                                        <p:tav tm="100000">
                                          <p:val>
                                            <p:strVal val="#ppt_w"/>
                                          </p:val>
                                        </p:tav>
                                      </p:tavLst>
                                    </p:anim>
                                    <p:anim calcmode="lin" valueType="num">
                                      <p:cBhvr>
                                        <p:cTn id="24" dur="500" fill="hold"/>
                                        <p:tgtEl>
                                          <p:spTgt spid="22"/>
                                        </p:tgtEl>
                                        <p:attrNameLst>
                                          <p:attrName>ppt_h</p:attrName>
                                        </p:attrNameLst>
                                      </p:cBhvr>
                                      <p:tavLst>
                                        <p:tav tm="0">
                                          <p:val>
                                            <p:fltVal val="0"/>
                                          </p:val>
                                        </p:tav>
                                        <p:tav tm="100000">
                                          <p:val>
                                            <p:strVal val="#ppt_h"/>
                                          </p:val>
                                        </p:tav>
                                      </p:tavLst>
                                    </p:anim>
                                  </p:childTnLst>
                                </p:cTn>
                              </p:par>
                              <p:par>
                                <p:cTn id="25" presetID="1" presetClass="entr" presetSubtype="0" fill="hold" nodeType="withEffect">
                                  <p:stCondLst>
                                    <p:cond delay="0"/>
                                  </p:stCondLst>
                                  <p:childTnLst>
                                    <p:set>
                                      <p:cBhvr>
                                        <p:cTn id="26" dur="1" fill="hold">
                                          <p:stCondLst>
                                            <p:cond delay="0"/>
                                          </p:stCondLst>
                                        </p:cTn>
                                        <p:tgtEl>
                                          <p:spTgt spid="22"/>
                                        </p:tgtEl>
                                        <p:attrNameLst>
                                          <p:attrName>style.visibility</p:attrName>
                                        </p:attrNameLst>
                                      </p:cBhvr>
                                      <p:to>
                                        <p:strVal val="visible"/>
                                      </p:to>
                                    </p:set>
                                  </p:childTnLst>
                                </p:cTn>
                              </p:par>
                              <p:par>
                                <p:cTn id="27" presetID="1" presetClass="entr" presetSubtype="0" fill="hold" grpId="1" nodeType="withEffect">
                                  <p:stCondLst>
                                    <p:cond delay="0"/>
                                  </p:stCondLst>
                                  <p:childTnLst>
                                    <p:set>
                                      <p:cBhvr>
                                        <p:cTn id="28" dur="1" fill="hold">
                                          <p:stCondLst>
                                            <p:cond delay="0"/>
                                          </p:stCondLst>
                                        </p:cTn>
                                        <p:tgtEl>
                                          <p:spTgt spid="23"/>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0" presetClass="exit" presetSubtype="0" fill="hold" grpId="0" nodeType="clickEffect">
                                  <p:stCondLst>
                                    <p:cond delay="0"/>
                                  </p:stCondLst>
                                  <p:childTnLst>
                                    <p:animEffect transition="out" filter="fade">
                                      <p:cBhvr>
                                        <p:cTn id="32" dur="500"/>
                                        <p:tgtEl>
                                          <p:spTgt spid="23"/>
                                        </p:tgtEl>
                                      </p:cBhvr>
                                    </p:animEffect>
                                    <p:set>
                                      <p:cBhvr>
                                        <p:cTn id="33" dur="1" fill="hold">
                                          <p:stCondLst>
                                            <p:cond delay="499"/>
                                          </p:stCondLst>
                                        </p:cTn>
                                        <p:tgtEl>
                                          <p:spTgt spid="23"/>
                                        </p:tgtEl>
                                        <p:attrNameLst>
                                          <p:attrName>style.visibility</p:attrName>
                                        </p:attrNameLst>
                                      </p:cBhvr>
                                      <p:to>
                                        <p:strVal val="hidden"/>
                                      </p:to>
                                    </p:set>
                                  </p:childTnLst>
                                </p:cTn>
                              </p:par>
                              <p:par>
                                <p:cTn id="34" presetID="10" presetClass="exit" presetSubtype="0" fill="hold" nodeType="withEffect">
                                  <p:stCondLst>
                                    <p:cond delay="0"/>
                                  </p:stCondLst>
                                  <p:childTnLst>
                                    <p:animEffect transition="out" filter="fade">
                                      <p:cBhvr>
                                        <p:cTn id="35" dur="500"/>
                                        <p:tgtEl>
                                          <p:spTgt spid="22"/>
                                        </p:tgtEl>
                                      </p:cBhvr>
                                    </p:animEffect>
                                    <p:set>
                                      <p:cBhvr>
                                        <p:cTn id="36" dur="1" fill="hold">
                                          <p:stCondLst>
                                            <p:cond delay="499"/>
                                          </p:stCondLst>
                                        </p:cTn>
                                        <p:tgtEl>
                                          <p:spTgt spid="22"/>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24"/>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25"/>
                                        </p:tgtEl>
                                        <p:attrNameLst>
                                          <p:attrName>style.visibility</p:attrName>
                                        </p:attrNameLst>
                                      </p:cBhvr>
                                      <p:to>
                                        <p:strVal val="visible"/>
                                      </p:to>
                                    </p:set>
                                  </p:childTnLst>
                                </p:cTn>
                              </p:par>
                              <p:par>
                                <p:cTn id="43" presetID="10" presetClass="entr" presetSubtype="0" fill="hold" grpId="0" nodeType="with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xit" presetSubtype="0" fill="hold" nodeType="clickEffect">
                                  <p:stCondLst>
                                    <p:cond delay="0"/>
                                  </p:stCondLst>
                                  <p:childTnLst>
                                    <p:animEffect transition="out" filter="fade">
                                      <p:cBhvr>
                                        <p:cTn id="49" dur="500"/>
                                        <p:tgtEl>
                                          <p:spTgt spid="13"/>
                                        </p:tgtEl>
                                      </p:cBhvr>
                                    </p:animEffect>
                                    <p:set>
                                      <p:cBhvr>
                                        <p:cTn id="50" dur="1" fill="hold">
                                          <p:stCondLst>
                                            <p:cond delay="499"/>
                                          </p:stCondLst>
                                        </p:cTn>
                                        <p:tgtEl>
                                          <p:spTgt spid="13"/>
                                        </p:tgtEl>
                                        <p:attrNameLst>
                                          <p:attrName>style.visibility</p:attrName>
                                        </p:attrNameLst>
                                      </p:cBhvr>
                                      <p:to>
                                        <p:strVal val="hidden"/>
                                      </p:to>
                                    </p:set>
                                  </p:childTnLst>
                                </p:cTn>
                              </p:par>
                              <p:par>
                                <p:cTn id="51" presetID="1" presetClass="entr" presetSubtype="0" fill="hold" nodeType="withEffect">
                                  <p:stCondLst>
                                    <p:cond delay="0"/>
                                  </p:stCondLst>
                                  <p:childTnLst>
                                    <p:set>
                                      <p:cBhvr>
                                        <p:cTn id="52" dur="1" fill="hold">
                                          <p:stCondLst>
                                            <p:cond delay="0"/>
                                          </p:stCondLst>
                                        </p:cTn>
                                        <p:tgtEl>
                                          <p:spTgt spid="27"/>
                                        </p:tgtEl>
                                        <p:attrNameLst>
                                          <p:attrName>style.visibility</p:attrName>
                                        </p:attrNameLst>
                                      </p:cBhvr>
                                      <p:to>
                                        <p:strVal val="visible"/>
                                      </p:to>
                                    </p:set>
                                  </p:childTnLst>
                                </p:cTn>
                              </p:par>
                              <p:par>
                                <p:cTn id="53" presetID="10" presetClass="entr" presetSubtype="0" fill="hold" grpId="0" nodeType="withEffect">
                                  <p:stCondLst>
                                    <p:cond delay="0"/>
                                  </p:stCondLst>
                                  <p:childTnLst>
                                    <p:set>
                                      <p:cBhvr>
                                        <p:cTn id="54" dur="1" fill="hold">
                                          <p:stCondLst>
                                            <p:cond delay="0"/>
                                          </p:stCondLst>
                                        </p:cTn>
                                        <p:tgtEl>
                                          <p:spTgt spid="40"/>
                                        </p:tgtEl>
                                        <p:attrNameLst>
                                          <p:attrName>style.visibility</p:attrName>
                                        </p:attrNameLst>
                                      </p:cBhvr>
                                      <p:to>
                                        <p:strVal val="visible"/>
                                      </p:to>
                                    </p:set>
                                    <p:animEffect transition="in" filter="fade">
                                      <p:cBhvr>
                                        <p:cTn id="55" dur="500"/>
                                        <p:tgtEl>
                                          <p:spTgt spid="40"/>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xit" presetSubtype="0" fill="hold" nodeType="clickEffect">
                                  <p:stCondLst>
                                    <p:cond delay="0"/>
                                  </p:stCondLst>
                                  <p:childTnLst>
                                    <p:animEffect transition="out" filter="fade">
                                      <p:cBhvr>
                                        <p:cTn id="59" dur="500"/>
                                        <p:tgtEl>
                                          <p:spTgt spid="24"/>
                                        </p:tgtEl>
                                      </p:cBhvr>
                                    </p:animEffect>
                                    <p:set>
                                      <p:cBhvr>
                                        <p:cTn id="60" dur="1" fill="hold">
                                          <p:stCondLst>
                                            <p:cond delay="499"/>
                                          </p:stCondLst>
                                        </p:cTn>
                                        <p:tgtEl>
                                          <p:spTgt spid="24"/>
                                        </p:tgtEl>
                                        <p:attrNameLst>
                                          <p:attrName>style.visibility</p:attrName>
                                        </p:attrNameLst>
                                      </p:cBhvr>
                                      <p:to>
                                        <p:strVal val="hidden"/>
                                      </p:to>
                                    </p:set>
                                  </p:childTnLst>
                                </p:cTn>
                              </p:par>
                              <p:par>
                                <p:cTn id="61" presetID="22" presetClass="exit" presetSubtype="4" fill="hold" grpId="1" nodeType="withEffect">
                                  <p:stCondLst>
                                    <p:cond delay="0"/>
                                  </p:stCondLst>
                                  <p:childTnLst>
                                    <p:animEffect transition="out" filter="wipe(down)">
                                      <p:cBhvr>
                                        <p:cTn id="62" dur="500"/>
                                        <p:tgtEl>
                                          <p:spTgt spid="40"/>
                                        </p:tgtEl>
                                      </p:cBhvr>
                                    </p:animEffect>
                                    <p:set>
                                      <p:cBhvr>
                                        <p:cTn id="63" dur="1" fill="hold">
                                          <p:stCondLst>
                                            <p:cond delay="499"/>
                                          </p:stCondLst>
                                        </p:cTn>
                                        <p:tgtEl>
                                          <p:spTgt spid="40"/>
                                        </p:tgtEl>
                                        <p:attrNameLst>
                                          <p:attrName>style.visibility</p:attrName>
                                        </p:attrNameLst>
                                      </p:cBhvr>
                                      <p:to>
                                        <p:strVal val="hidden"/>
                                      </p:to>
                                    </p:se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nodeType="click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fade">
                                      <p:cBhvr>
                                        <p:cTn id="68" dur="500"/>
                                        <p:tgtEl>
                                          <p:spTgt spid="22"/>
                                        </p:tgtEl>
                                      </p:cBhvr>
                                    </p:animEffect>
                                  </p:childTnLst>
                                </p:cTn>
                              </p:par>
                              <p:par>
                                <p:cTn id="69" presetID="22" presetClass="exit" presetSubtype="4" fill="hold" grpId="1" nodeType="withEffect">
                                  <p:stCondLst>
                                    <p:cond delay="0"/>
                                  </p:stCondLst>
                                  <p:childTnLst>
                                    <p:animEffect transition="out" filter="wipe(down)">
                                      <p:cBhvr>
                                        <p:cTn id="70" dur="500"/>
                                        <p:tgtEl>
                                          <p:spTgt spid="26"/>
                                        </p:tgtEl>
                                      </p:cBhvr>
                                    </p:animEffect>
                                    <p:set>
                                      <p:cBhvr>
                                        <p:cTn id="71" dur="1" fill="hold">
                                          <p:stCondLst>
                                            <p:cond delay="499"/>
                                          </p:stCondLst>
                                        </p:cTn>
                                        <p:tgtEl>
                                          <p:spTgt spid="26"/>
                                        </p:tgtEl>
                                        <p:attrNameLst>
                                          <p:attrName>style.visibility</p:attrName>
                                        </p:attrNameLst>
                                      </p:cBhvr>
                                      <p:to>
                                        <p:strVal val="hidden"/>
                                      </p:to>
                                    </p:set>
                                  </p:childTnLst>
                                </p:cTn>
                              </p:par>
                              <p:par>
                                <p:cTn id="72" presetID="10" presetClass="entr" presetSubtype="0" fill="hold" grpId="0" nodeType="withEffect">
                                  <p:stCondLst>
                                    <p:cond delay="0"/>
                                  </p:stCondLst>
                                  <p:childTnLst>
                                    <p:set>
                                      <p:cBhvr>
                                        <p:cTn id="73" dur="1" fill="hold">
                                          <p:stCondLst>
                                            <p:cond delay="0"/>
                                          </p:stCondLst>
                                        </p:cTn>
                                        <p:tgtEl>
                                          <p:spTgt spid="28"/>
                                        </p:tgtEl>
                                        <p:attrNameLst>
                                          <p:attrName>style.visibility</p:attrName>
                                        </p:attrNameLst>
                                      </p:cBhvr>
                                      <p:to>
                                        <p:strVal val="visible"/>
                                      </p:to>
                                    </p:set>
                                    <p:animEffect transition="in" filter="fade">
                                      <p:cBhvr>
                                        <p:cTn id="74" dur="500"/>
                                        <p:tgtEl>
                                          <p:spTgt spid="28"/>
                                        </p:tgtEl>
                                      </p:cBhvr>
                                    </p:animEffect>
                                  </p:childTnLst>
                                </p:cTn>
                              </p:par>
                            </p:childTnLst>
                          </p:cTn>
                        </p:par>
                      </p:childTnLst>
                    </p:cTn>
                  </p:par>
                  <p:par>
                    <p:cTn id="75" fill="hold">
                      <p:stCondLst>
                        <p:cond delay="indefinite"/>
                      </p:stCondLst>
                      <p:childTnLst>
                        <p:par>
                          <p:cTn id="76" fill="hold">
                            <p:stCondLst>
                              <p:cond delay="0"/>
                            </p:stCondLst>
                            <p:childTnLst>
                              <p:par>
                                <p:cTn id="77" presetID="3" presetClass="entr" presetSubtype="10" fill="hold" grpId="0" nodeType="clickEffect">
                                  <p:stCondLst>
                                    <p:cond delay="0"/>
                                  </p:stCondLst>
                                  <p:childTnLst>
                                    <p:set>
                                      <p:cBhvr>
                                        <p:cTn id="78" dur="1" fill="hold">
                                          <p:stCondLst>
                                            <p:cond delay="0"/>
                                          </p:stCondLst>
                                        </p:cTn>
                                        <p:tgtEl>
                                          <p:spTgt spid="17"/>
                                        </p:tgtEl>
                                        <p:attrNameLst>
                                          <p:attrName>style.visibility</p:attrName>
                                        </p:attrNameLst>
                                      </p:cBhvr>
                                      <p:to>
                                        <p:strVal val="visible"/>
                                      </p:to>
                                    </p:set>
                                    <p:animEffect transition="in" filter="blinds(horizontal)">
                                      <p:cBhvr>
                                        <p:cTn id="79" dur="500"/>
                                        <p:tgtEl>
                                          <p:spTgt spid="17"/>
                                        </p:tgtEl>
                                      </p:cBhvr>
                                    </p:animEffect>
                                  </p:childTnLst>
                                </p:cTn>
                              </p:par>
                              <p:par>
                                <p:cTn id="80" presetID="3" presetClass="entr" presetSubtype="10" fill="hold" grpId="0" nodeType="withEffect">
                                  <p:stCondLst>
                                    <p:cond delay="0"/>
                                  </p:stCondLst>
                                  <p:childTnLst>
                                    <p:set>
                                      <p:cBhvr>
                                        <p:cTn id="81" dur="1" fill="hold">
                                          <p:stCondLst>
                                            <p:cond delay="0"/>
                                          </p:stCondLst>
                                        </p:cTn>
                                        <p:tgtEl>
                                          <p:spTgt spid="38"/>
                                        </p:tgtEl>
                                        <p:attrNameLst>
                                          <p:attrName>style.visibility</p:attrName>
                                        </p:attrNameLst>
                                      </p:cBhvr>
                                      <p:to>
                                        <p:strVal val="visible"/>
                                      </p:to>
                                    </p:set>
                                    <p:animEffect transition="in" filter="blinds(horizontal)">
                                      <p:cBhvr>
                                        <p:cTn id="82"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p:bldP spid="23" grpId="0"/>
      <p:bldP spid="23" grpId="1"/>
      <p:bldP spid="26" grpId="0" animBg="1"/>
      <p:bldP spid="26" grpId="1" animBg="1"/>
      <p:bldP spid="28" grpId="0" animBg="1"/>
      <p:bldP spid="38" grpId="0" animBg="1"/>
      <p:bldP spid="40" grpId="0" animBg="1"/>
      <p:bldP spid="40" grpId="1"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63A3958-37BF-8824-92C9-32906B94E028}"/>
              </a:ext>
            </a:extLst>
          </p:cNvPr>
          <p:cNvSpPr>
            <a:spLocks noGrp="1"/>
          </p:cNvSpPr>
          <p:nvPr>
            <p:ph type="title"/>
          </p:nvPr>
        </p:nvSpPr>
        <p:spPr/>
        <p:txBody>
          <a:bodyPr/>
          <a:lstStyle/>
          <a:p>
            <a:r>
              <a:rPr lang="zh-CN" altLang="en-US" dirty="0">
                <a:solidFill>
                  <a:schemeClr val="bg1"/>
                </a:solidFill>
                <a:latin typeface="+mj-ea"/>
              </a:rPr>
              <a:t>保交期的物料和资源预留带来的挑战</a:t>
            </a:r>
          </a:p>
        </p:txBody>
      </p:sp>
      <p:cxnSp>
        <p:nvCxnSpPr>
          <p:cNvPr id="4" name="直接箭头连接符 6">
            <a:extLst>
              <a:ext uri="{FF2B5EF4-FFF2-40B4-BE49-F238E27FC236}">
                <a16:creationId xmlns:a16="http://schemas.microsoft.com/office/drawing/2014/main" id="{180ED46A-B303-9A3D-1CAC-CB859F9FAAFE}"/>
              </a:ext>
            </a:extLst>
          </p:cNvPr>
          <p:cNvCxnSpPr/>
          <p:nvPr/>
        </p:nvCxnSpPr>
        <p:spPr>
          <a:xfrm>
            <a:off x="893234" y="3507317"/>
            <a:ext cx="9334500" cy="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13">
            <a:extLst>
              <a:ext uri="{FF2B5EF4-FFF2-40B4-BE49-F238E27FC236}">
                <a16:creationId xmlns:a16="http://schemas.microsoft.com/office/drawing/2014/main" id="{F4C8CEBA-E445-77C0-D911-6B1A054F16B5}"/>
              </a:ext>
            </a:extLst>
          </p:cNvPr>
          <p:cNvCxnSpPr/>
          <p:nvPr/>
        </p:nvCxnSpPr>
        <p:spPr>
          <a:xfrm>
            <a:off x="3464984" y="2628901"/>
            <a:ext cx="0" cy="878417"/>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15">
            <a:extLst>
              <a:ext uri="{FF2B5EF4-FFF2-40B4-BE49-F238E27FC236}">
                <a16:creationId xmlns:a16="http://schemas.microsoft.com/office/drawing/2014/main" id="{1955E7D1-651C-6507-725E-B97A398D8BE7}"/>
              </a:ext>
            </a:extLst>
          </p:cNvPr>
          <p:cNvCxnSpPr/>
          <p:nvPr/>
        </p:nvCxnSpPr>
        <p:spPr>
          <a:xfrm>
            <a:off x="7687734" y="2628901"/>
            <a:ext cx="14817" cy="878417"/>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7" name="直接箭头连接符 23">
            <a:extLst>
              <a:ext uri="{FF2B5EF4-FFF2-40B4-BE49-F238E27FC236}">
                <a16:creationId xmlns:a16="http://schemas.microsoft.com/office/drawing/2014/main" id="{24244035-5DC7-D6AD-3FEF-5027120F1A65}"/>
              </a:ext>
            </a:extLst>
          </p:cNvPr>
          <p:cNvCxnSpPr/>
          <p:nvPr/>
        </p:nvCxnSpPr>
        <p:spPr>
          <a:xfrm flipV="1">
            <a:off x="2722033" y="3507318"/>
            <a:ext cx="0" cy="673100"/>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8" name="直接箭头连接符 35">
            <a:extLst>
              <a:ext uri="{FF2B5EF4-FFF2-40B4-BE49-F238E27FC236}">
                <a16:creationId xmlns:a16="http://schemas.microsoft.com/office/drawing/2014/main" id="{459F1F9D-24E3-C28D-87D3-A82DBBF380C3}"/>
              </a:ext>
            </a:extLst>
          </p:cNvPr>
          <p:cNvCxnSpPr/>
          <p:nvPr/>
        </p:nvCxnSpPr>
        <p:spPr>
          <a:xfrm flipV="1">
            <a:off x="2722033" y="4383617"/>
            <a:ext cx="0" cy="670984"/>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 name="矩形 27">
            <a:extLst>
              <a:ext uri="{FF2B5EF4-FFF2-40B4-BE49-F238E27FC236}">
                <a16:creationId xmlns:a16="http://schemas.microsoft.com/office/drawing/2014/main" id="{A297C071-F35C-1E96-D1A0-07BB2B6BAFCF}"/>
              </a:ext>
            </a:extLst>
          </p:cNvPr>
          <p:cNvSpPr/>
          <p:nvPr/>
        </p:nvSpPr>
        <p:spPr>
          <a:xfrm>
            <a:off x="2672927" y="2241974"/>
            <a:ext cx="1471507" cy="369310"/>
          </a:xfrm>
          <a:prstGeom prst="rect">
            <a:avLst/>
          </a:prstGeom>
          <a:solidFill>
            <a:srgbClr val="0070C0"/>
          </a:solid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342900" algn="ctr" defTabSz="1217476" rtl="0" eaLnBrk="1" fontAlgn="base" latinLnBrk="0" hangingPunct="1">
              <a:lnSpc>
                <a:spcPct val="100000"/>
              </a:lnSpc>
              <a:spcBef>
                <a:spcPct val="20000"/>
              </a:spcBef>
              <a:spcAft>
                <a:spcPct val="0"/>
              </a:spcAft>
              <a:buClrTx/>
              <a:buSzTx/>
              <a:buFont typeface="Arial" panose="020B0604020202020204" pitchFamily="34" charset="0"/>
              <a:buNone/>
              <a:tabLst/>
              <a:defRPr/>
            </a:pP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sym typeface="+mn-ea"/>
              </a:rPr>
              <a:t>需求</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sym typeface="+mn-ea"/>
              </a:rPr>
              <a:t>1</a:t>
            </a:r>
          </a:p>
        </p:txBody>
      </p:sp>
      <p:sp>
        <p:nvSpPr>
          <p:cNvPr id="10" name="矩形 38">
            <a:extLst>
              <a:ext uri="{FF2B5EF4-FFF2-40B4-BE49-F238E27FC236}">
                <a16:creationId xmlns:a16="http://schemas.microsoft.com/office/drawing/2014/main" id="{7CE8776A-1D00-995D-7103-C71D274BD65B}"/>
              </a:ext>
            </a:extLst>
          </p:cNvPr>
          <p:cNvSpPr/>
          <p:nvPr/>
        </p:nvSpPr>
        <p:spPr>
          <a:xfrm>
            <a:off x="6936740" y="2260601"/>
            <a:ext cx="1459653" cy="369310"/>
          </a:xfrm>
          <a:prstGeom prst="rect">
            <a:avLst/>
          </a:prstGeom>
          <a:solidFill>
            <a:srgbClr val="0070C0"/>
          </a:solid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需求</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2</a:t>
            </a:r>
            <a:endPar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p:txBody>
      </p:sp>
      <p:sp>
        <p:nvSpPr>
          <p:cNvPr id="11" name="矩形 28">
            <a:extLst>
              <a:ext uri="{FF2B5EF4-FFF2-40B4-BE49-F238E27FC236}">
                <a16:creationId xmlns:a16="http://schemas.microsoft.com/office/drawing/2014/main" id="{AA8E0B53-2490-9BB2-CC01-6DCB598EAF5D}"/>
              </a:ext>
            </a:extLst>
          </p:cNvPr>
          <p:cNvSpPr/>
          <p:nvPr/>
        </p:nvSpPr>
        <p:spPr>
          <a:xfrm>
            <a:off x="1300510" y="3699933"/>
            <a:ext cx="1390649" cy="369310"/>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库存</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 A</a:t>
            </a:r>
            <a:endPar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p:txBody>
      </p:sp>
      <p:sp>
        <p:nvSpPr>
          <p:cNvPr id="12" name="矩形 41">
            <a:extLst>
              <a:ext uri="{FF2B5EF4-FFF2-40B4-BE49-F238E27FC236}">
                <a16:creationId xmlns:a16="http://schemas.microsoft.com/office/drawing/2014/main" id="{5D612D9C-B629-D79E-F408-A465BE226CB2}"/>
              </a:ext>
            </a:extLst>
          </p:cNvPr>
          <p:cNvSpPr/>
          <p:nvPr/>
        </p:nvSpPr>
        <p:spPr>
          <a:xfrm>
            <a:off x="1318438" y="4514851"/>
            <a:ext cx="1390649"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库存</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 B</a:t>
            </a:r>
            <a:endPar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p:txBody>
      </p:sp>
      <p:sp>
        <p:nvSpPr>
          <p:cNvPr id="14" name="Line 58">
            <a:extLst>
              <a:ext uri="{FF2B5EF4-FFF2-40B4-BE49-F238E27FC236}">
                <a16:creationId xmlns:a16="http://schemas.microsoft.com/office/drawing/2014/main" id="{FD3DDD7A-024B-D09B-028F-DF0C53BB2D09}"/>
              </a:ext>
            </a:extLst>
          </p:cNvPr>
          <p:cNvSpPr/>
          <p:nvPr/>
        </p:nvSpPr>
        <p:spPr>
          <a:xfrm flipH="1">
            <a:off x="2722033" y="2628901"/>
            <a:ext cx="4936067" cy="1276351"/>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5" name="Line 58">
            <a:extLst>
              <a:ext uri="{FF2B5EF4-FFF2-40B4-BE49-F238E27FC236}">
                <a16:creationId xmlns:a16="http://schemas.microsoft.com/office/drawing/2014/main" id="{E0657733-AE8E-DD2F-A964-0F9A244E5D2E}"/>
              </a:ext>
            </a:extLst>
          </p:cNvPr>
          <p:cNvSpPr/>
          <p:nvPr/>
        </p:nvSpPr>
        <p:spPr>
          <a:xfrm flipH="1">
            <a:off x="6371167" y="2628900"/>
            <a:ext cx="1286933" cy="1625600"/>
          </a:xfrm>
          <a:prstGeom prst="line">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16" name="矩形标注 13">
            <a:extLst>
              <a:ext uri="{FF2B5EF4-FFF2-40B4-BE49-F238E27FC236}">
                <a16:creationId xmlns:a16="http://schemas.microsoft.com/office/drawing/2014/main" id="{A8812ECF-3A50-74A0-F79C-BA771E4B30E7}"/>
              </a:ext>
            </a:extLst>
          </p:cNvPr>
          <p:cNvSpPr/>
          <p:nvPr/>
        </p:nvSpPr>
        <p:spPr>
          <a:xfrm>
            <a:off x="6972300" y="1517651"/>
            <a:ext cx="1439333" cy="510117"/>
          </a:xfrm>
          <a:prstGeom prst="wedgeRectCallout">
            <a:avLst>
              <a:gd name="adj1" fmla="val 782"/>
              <a:gd name="adj2" fmla="val 90562"/>
            </a:avLst>
          </a:prstGeom>
          <a:solidFill>
            <a:schemeClr val="bg2">
              <a:lumMod val="2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marL="0" marR="0" lvl="0" indent="0" algn="ctr" defTabSz="1217476" rtl="0" eaLnBrk="1" fontAlgn="auto" latinLnBrk="0" hangingPunct="1">
              <a:lnSpc>
                <a:spcPct val="100000"/>
              </a:lnSpc>
              <a:spcBef>
                <a:spcPts val="0"/>
              </a:spcBef>
              <a:spcAft>
                <a:spcPts val="0"/>
              </a:spcAft>
              <a:buClrTx/>
              <a:buSzTx/>
              <a:buFontTx/>
              <a:buNone/>
              <a:tabLst/>
              <a:defRPr/>
            </a:pPr>
            <a:r>
              <a:rPr kumimoji="0" lang="en-US" altLang="zh-CN" sz="1867"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IPS</a:t>
            </a:r>
            <a:endParaRPr kumimoji="0" lang="zh-CN" altLang="en-US" sz="1867"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7" name="矩形标注 14">
            <a:extLst>
              <a:ext uri="{FF2B5EF4-FFF2-40B4-BE49-F238E27FC236}">
                <a16:creationId xmlns:a16="http://schemas.microsoft.com/office/drawing/2014/main" id="{7F4C9443-AF00-2395-0CCF-C07A1F9A3E31}"/>
              </a:ext>
            </a:extLst>
          </p:cNvPr>
          <p:cNvSpPr/>
          <p:nvPr/>
        </p:nvSpPr>
        <p:spPr>
          <a:xfrm>
            <a:off x="2743200" y="1517651"/>
            <a:ext cx="1439333" cy="510117"/>
          </a:xfrm>
          <a:prstGeom prst="wedgeRectCallout">
            <a:avLst>
              <a:gd name="adj1" fmla="val 782"/>
              <a:gd name="adj2" fmla="val 90562"/>
            </a:avLst>
          </a:prstGeom>
          <a:solidFill>
            <a:schemeClr val="bg2">
              <a:lumMod val="2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marL="0" marR="0" lvl="0" indent="0" algn="ctr" defTabSz="1217476" rtl="0" eaLnBrk="1" fontAlgn="auto" latinLnBrk="0" hangingPunct="1">
              <a:lnSpc>
                <a:spcPct val="100000"/>
              </a:lnSpc>
              <a:spcBef>
                <a:spcPts val="0"/>
              </a:spcBef>
              <a:spcAft>
                <a:spcPts val="0"/>
              </a:spcAft>
              <a:buClrTx/>
              <a:buSzTx/>
              <a:buFontTx/>
              <a:buNone/>
              <a:tabLst/>
              <a:defRPr/>
            </a:pPr>
            <a:r>
              <a:rPr kumimoji="0" lang="en-US" altLang="zh-CN" sz="1867"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IPS</a:t>
            </a:r>
            <a:endParaRPr kumimoji="0" lang="zh-CN" altLang="en-US" sz="1867"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8" name="圆角矩形 16">
            <a:extLst>
              <a:ext uri="{FF2B5EF4-FFF2-40B4-BE49-F238E27FC236}">
                <a16:creationId xmlns:a16="http://schemas.microsoft.com/office/drawing/2014/main" id="{28790614-36E1-E0D2-05D9-098EC396F550}"/>
              </a:ext>
            </a:extLst>
          </p:cNvPr>
          <p:cNvSpPr/>
          <p:nvPr/>
        </p:nvSpPr>
        <p:spPr>
          <a:xfrm>
            <a:off x="8517204" y="1033957"/>
            <a:ext cx="3600451" cy="2243667"/>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altLang="zh-CN"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Unicode MS" panose="020B0604020202020204" pitchFamily="34" charset="-122"/>
            </a:endParaRPr>
          </a:p>
          <a:p>
            <a:pPr marL="285750" marR="0" lvl="0" indent="-285750"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Unicode MS" panose="020B0604020202020204" pitchFamily="34" charset="-122"/>
              </a:rPr>
              <a:t>需求</a:t>
            </a:r>
            <a:r>
              <a:rPr kumimoji="0" lang="en-US" altLang="zh-CN"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Unicode MS" panose="020B0604020202020204" pitchFamily="34" charset="-122"/>
              </a:rPr>
              <a:t>2</a:t>
            </a:r>
            <a:r>
              <a:rPr kumimoji="0" lang="zh-CN" altLang="en-US"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Unicode MS" panose="020B0604020202020204" pitchFamily="34" charset="-122"/>
              </a:rPr>
              <a:t>被优先满足</a:t>
            </a:r>
            <a:endParaRPr kumimoji="0" lang="en-US" altLang="zh-CN"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Unicode MS" panose="020B0604020202020204" pitchFamily="34" charset="-122"/>
            </a:endParaRPr>
          </a:p>
          <a:p>
            <a:pPr marL="285750" marR="0" lvl="0" indent="-285750"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Unicode MS" panose="020B0604020202020204" pitchFamily="34" charset="-122"/>
              </a:rPr>
              <a:t>需求</a:t>
            </a:r>
            <a:r>
              <a:rPr kumimoji="0" lang="en-US" altLang="zh-CN"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Unicode MS" panose="020B0604020202020204" pitchFamily="34" charset="-122"/>
              </a:rPr>
              <a:t>1</a:t>
            </a:r>
            <a:r>
              <a:rPr kumimoji="0" lang="zh-CN" altLang="en-US"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Unicode MS" panose="020B0604020202020204" pitchFamily="34" charset="-122"/>
              </a:rPr>
              <a:t>被次优来满足，但是交付晚了</a:t>
            </a:r>
            <a:endParaRPr kumimoji="0" lang="en-US" altLang="zh-CN"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Unicode MS" panose="020B0604020202020204" pitchFamily="34" charset="-122"/>
            </a:endParaRPr>
          </a:p>
          <a:p>
            <a:pPr marL="285750" marR="0" lvl="0" indent="-285750"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Unicode MS" panose="020B0604020202020204" pitchFamily="34" charset="-122"/>
              </a:rPr>
              <a:t>供应</a:t>
            </a:r>
            <a:r>
              <a:rPr kumimoji="0" lang="en-US" altLang="zh-CN"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Unicode MS" panose="020B0604020202020204" pitchFamily="34" charset="-122"/>
              </a:rPr>
              <a:t>A</a:t>
            </a:r>
            <a:r>
              <a:rPr kumimoji="0" lang="zh-CN" altLang="en-US"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Unicode MS" panose="020B0604020202020204" pitchFamily="34" charset="-122"/>
              </a:rPr>
              <a:t>的分配形成交叉</a:t>
            </a:r>
            <a:endParaRPr kumimoji="0" lang="en-US" altLang="zh-CN" sz="14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Unicode MS" panose="020B0604020202020204" pitchFamily="34" charset="-122"/>
            </a:endParaRPr>
          </a:p>
        </p:txBody>
      </p:sp>
      <p:sp>
        <p:nvSpPr>
          <p:cNvPr id="19" name="矩形 26">
            <a:extLst>
              <a:ext uri="{FF2B5EF4-FFF2-40B4-BE49-F238E27FC236}">
                <a16:creationId xmlns:a16="http://schemas.microsoft.com/office/drawing/2014/main" id="{9A301477-F5A4-3EDF-C2D7-9CB4B4BE2301}"/>
              </a:ext>
            </a:extLst>
          </p:cNvPr>
          <p:cNvSpPr/>
          <p:nvPr/>
        </p:nvSpPr>
        <p:spPr>
          <a:xfrm>
            <a:off x="5558367" y="4254500"/>
            <a:ext cx="1384300"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20000"/>
              </a:spcBef>
              <a:spcAft>
                <a:spcPct val="0"/>
              </a:spcAft>
              <a:buClrTx/>
              <a:buSzTx/>
              <a:buFont typeface="Arial" panose="020B0604020202020204" pitchFamily="34" charset="0"/>
              <a:buNone/>
              <a:tabLst/>
              <a:defRPr/>
            </a:pP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计划到货 </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C</a:t>
            </a:r>
            <a:endPar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p:txBody>
      </p:sp>
      <p:cxnSp>
        <p:nvCxnSpPr>
          <p:cNvPr id="20" name="直接箭头连接符 29">
            <a:extLst>
              <a:ext uri="{FF2B5EF4-FFF2-40B4-BE49-F238E27FC236}">
                <a16:creationId xmlns:a16="http://schemas.microsoft.com/office/drawing/2014/main" id="{3AA46C42-1D2C-326A-F76B-B031C9115865}"/>
              </a:ext>
            </a:extLst>
          </p:cNvPr>
          <p:cNvCxnSpPr/>
          <p:nvPr/>
        </p:nvCxnSpPr>
        <p:spPr>
          <a:xfrm flipV="1">
            <a:off x="6371167" y="3507317"/>
            <a:ext cx="0" cy="747184"/>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1" name="矩形 31">
            <a:extLst>
              <a:ext uri="{FF2B5EF4-FFF2-40B4-BE49-F238E27FC236}">
                <a16:creationId xmlns:a16="http://schemas.microsoft.com/office/drawing/2014/main" id="{278825ED-ED1C-F7E5-5A27-808A6FD0B414}"/>
              </a:ext>
            </a:extLst>
          </p:cNvPr>
          <p:cNvSpPr/>
          <p:nvPr/>
        </p:nvSpPr>
        <p:spPr>
          <a:xfrm>
            <a:off x="4216400" y="4756151"/>
            <a:ext cx="1297517" cy="584775"/>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20000"/>
              </a:spcBef>
              <a:spcAft>
                <a:spcPct val="0"/>
              </a:spcAft>
              <a:buClrTx/>
              <a:buSzTx/>
              <a:buFont typeface="Arial" panose="020B0604020202020204" pitchFamily="34" charset="0"/>
              <a:buNone/>
              <a:tabLst/>
              <a:defRPr/>
            </a:pPr>
            <a:r>
              <a:rPr lang="zh-CN" altLang="en-US" sz="1600" dirty="0">
                <a:solidFill>
                  <a:srgbClr val="FFFFFF"/>
                </a:solidFill>
                <a:latin typeface="微软雅黑" panose="020B0503020204020204" pitchFamily="34" charset="-122"/>
                <a:ea typeface="微软雅黑" panose="020B0503020204020204" pitchFamily="34" charset="-122"/>
              </a:rPr>
              <a:t>新增</a:t>
            </a: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计划到货 </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A</a:t>
            </a:r>
            <a:endPar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p:txBody>
      </p:sp>
      <p:cxnSp>
        <p:nvCxnSpPr>
          <p:cNvPr id="22" name="直接箭头连接符 40">
            <a:extLst>
              <a:ext uri="{FF2B5EF4-FFF2-40B4-BE49-F238E27FC236}">
                <a16:creationId xmlns:a16="http://schemas.microsoft.com/office/drawing/2014/main" id="{98FBDDE1-0AEF-18E2-C35E-21FF66AB0122}"/>
              </a:ext>
            </a:extLst>
          </p:cNvPr>
          <p:cNvCxnSpPr/>
          <p:nvPr/>
        </p:nvCxnSpPr>
        <p:spPr>
          <a:xfrm flipV="1">
            <a:off x="4887384" y="3507317"/>
            <a:ext cx="0" cy="1219200"/>
          </a:xfrm>
          <a:prstGeom prst="straightConnector1">
            <a:avLst/>
          </a:prstGeom>
          <a:ln w="127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3" name="Line 58">
            <a:extLst>
              <a:ext uri="{FF2B5EF4-FFF2-40B4-BE49-F238E27FC236}">
                <a16:creationId xmlns:a16="http://schemas.microsoft.com/office/drawing/2014/main" id="{EEDC3217-A347-2B6F-B9D6-775F82CEA784}"/>
              </a:ext>
            </a:extLst>
          </p:cNvPr>
          <p:cNvSpPr/>
          <p:nvPr/>
        </p:nvSpPr>
        <p:spPr>
          <a:xfrm flipH="1">
            <a:off x="2722034" y="2628901"/>
            <a:ext cx="742951" cy="1276351"/>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4" name="文本框 23">
            <a:extLst>
              <a:ext uri="{FF2B5EF4-FFF2-40B4-BE49-F238E27FC236}">
                <a16:creationId xmlns:a16="http://schemas.microsoft.com/office/drawing/2014/main" id="{16EED479-741A-F98B-66DE-45C4D76C00F0}"/>
              </a:ext>
            </a:extLst>
          </p:cNvPr>
          <p:cNvSpPr txBox="1"/>
          <p:nvPr/>
        </p:nvSpPr>
        <p:spPr>
          <a:xfrm rot="-3458914">
            <a:off x="2745318" y="2909070"/>
            <a:ext cx="916516" cy="379463"/>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l"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en-US" altLang="zh-CN" sz="933"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Reserved by DEMAND2</a:t>
            </a:r>
            <a:endParaRPr kumimoji="1" lang="zh-CN" altLang="en-US" sz="933"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p:txBody>
      </p:sp>
      <p:cxnSp>
        <p:nvCxnSpPr>
          <p:cNvPr id="25" name="直接箭头连接符 5">
            <a:extLst>
              <a:ext uri="{FF2B5EF4-FFF2-40B4-BE49-F238E27FC236}">
                <a16:creationId xmlns:a16="http://schemas.microsoft.com/office/drawing/2014/main" id="{55B8AE45-6F3A-AAEE-2C0D-50FA27BFF33C}"/>
              </a:ext>
            </a:extLst>
          </p:cNvPr>
          <p:cNvCxnSpPr>
            <a:cxnSpLocks/>
          </p:cNvCxnSpPr>
          <p:nvPr/>
        </p:nvCxnSpPr>
        <p:spPr>
          <a:xfrm>
            <a:off x="3374814" y="2640917"/>
            <a:ext cx="1496484" cy="1041401"/>
          </a:xfrm>
          <a:prstGeom prst="straightConnector1">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cxnSp>
      <p:cxnSp>
        <p:nvCxnSpPr>
          <p:cNvPr id="26" name="直接箭头连接符 50">
            <a:extLst>
              <a:ext uri="{FF2B5EF4-FFF2-40B4-BE49-F238E27FC236}">
                <a16:creationId xmlns:a16="http://schemas.microsoft.com/office/drawing/2014/main" id="{1A67D773-9036-CDA9-E014-25A45218A556}"/>
              </a:ext>
            </a:extLst>
          </p:cNvPr>
          <p:cNvCxnSpPr>
            <a:endCxn id="12" idx="3"/>
          </p:cNvCxnSpPr>
          <p:nvPr/>
        </p:nvCxnSpPr>
        <p:spPr>
          <a:xfrm flipH="1">
            <a:off x="2709087" y="2658534"/>
            <a:ext cx="726018" cy="2040972"/>
          </a:xfrm>
          <a:prstGeom prst="straightConnector1">
            <a:avLst/>
          </a:prstGeom>
          <a:ln>
            <a:solidFill>
              <a:schemeClr val="bg1"/>
            </a:solidFill>
            <a:headEnd type="none" w="med" len="med"/>
            <a:tailEnd type="triangle" w="med" len="med"/>
          </a:ln>
        </p:spPr>
        <p:style>
          <a:lnRef idx="2">
            <a:schemeClr val="accent1"/>
          </a:lnRef>
          <a:fillRef idx="0">
            <a:schemeClr val="accent1"/>
          </a:fillRef>
          <a:effectRef idx="1">
            <a:schemeClr val="accent1"/>
          </a:effectRef>
          <a:fontRef idx="minor">
            <a:schemeClr val="tx1"/>
          </a:fontRef>
        </p:style>
      </p:cxnSp>
      <p:sp>
        <p:nvSpPr>
          <p:cNvPr id="27" name="圆角矩形标注 25">
            <a:extLst>
              <a:ext uri="{FF2B5EF4-FFF2-40B4-BE49-F238E27FC236}">
                <a16:creationId xmlns:a16="http://schemas.microsoft.com/office/drawing/2014/main" id="{B231793E-25CD-7428-9876-398F5A6B4DD8}"/>
              </a:ext>
            </a:extLst>
          </p:cNvPr>
          <p:cNvSpPr/>
          <p:nvPr/>
        </p:nvSpPr>
        <p:spPr>
          <a:xfrm>
            <a:off x="1348318" y="2241127"/>
            <a:ext cx="946151" cy="368300"/>
          </a:xfrm>
          <a:prstGeom prst="wedgeRoundRectCallout">
            <a:avLst>
              <a:gd name="adj1" fmla="val 92253"/>
              <a:gd name="adj2" fmla="val 7122"/>
              <a:gd name="adj3" fmla="val 16667"/>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marL="0" marR="0" lvl="0" indent="0" algn="ctr" defTabSz="1217476" rtl="0" eaLnBrk="1" fontAlgn="base" latinLnBrk="0" hangingPunct="1">
              <a:lnSpc>
                <a:spcPct val="100000"/>
              </a:lnSpc>
              <a:spcBef>
                <a:spcPct val="0"/>
              </a:spcBef>
              <a:spcAft>
                <a:spcPct val="0"/>
              </a:spcAft>
              <a:buClrTx/>
              <a:buSzTx/>
              <a:buFontTx/>
              <a:buNone/>
              <a:tabLst/>
              <a:defRPr/>
            </a:pPr>
            <a:r>
              <a:rPr kumimoji="0"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Late</a:t>
            </a:r>
            <a:endParaRPr kumimoji="0" lang="zh-CN" altLang="en-US" sz="1600" b="0" i="0" u="none" strike="noStrike" kern="120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p:txBody>
      </p:sp>
      <p:cxnSp>
        <p:nvCxnSpPr>
          <p:cNvPr id="28" name="直接连接符 7">
            <a:extLst>
              <a:ext uri="{FF2B5EF4-FFF2-40B4-BE49-F238E27FC236}">
                <a16:creationId xmlns:a16="http://schemas.microsoft.com/office/drawing/2014/main" id="{4E8C0AB3-FFE3-408B-B011-8936D4FF3669}"/>
              </a:ext>
            </a:extLst>
          </p:cNvPr>
          <p:cNvCxnSpPr/>
          <p:nvPr/>
        </p:nvCxnSpPr>
        <p:spPr>
          <a:xfrm>
            <a:off x="2722033" y="1375834"/>
            <a:ext cx="0" cy="2131484"/>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9" name="直接连接符 7">
            <a:extLst>
              <a:ext uri="{FF2B5EF4-FFF2-40B4-BE49-F238E27FC236}">
                <a16:creationId xmlns:a16="http://schemas.microsoft.com/office/drawing/2014/main" id="{10AAE43C-F58C-391E-DFFC-8C6F179CD005}"/>
              </a:ext>
            </a:extLst>
          </p:cNvPr>
          <p:cNvCxnSpPr/>
          <p:nvPr/>
        </p:nvCxnSpPr>
        <p:spPr>
          <a:xfrm>
            <a:off x="4182533" y="1411818"/>
            <a:ext cx="0" cy="4070351"/>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0" name="直接连接符 7">
            <a:extLst>
              <a:ext uri="{FF2B5EF4-FFF2-40B4-BE49-F238E27FC236}">
                <a16:creationId xmlns:a16="http://schemas.microsoft.com/office/drawing/2014/main" id="{5C1C8290-688B-0042-C635-A2EC767CDBDD}"/>
              </a:ext>
            </a:extLst>
          </p:cNvPr>
          <p:cNvCxnSpPr/>
          <p:nvPr/>
        </p:nvCxnSpPr>
        <p:spPr>
          <a:xfrm>
            <a:off x="5528734" y="1473201"/>
            <a:ext cx="29633" cy="4008967"/>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接连接符 7">
            <a:extLst>
              <a:ext uri="{FF2B5EF4-FFF2-40B4-BE49-F238E27FC236}">
                <a16:creationId xmlns:a16="http://schemas.microsoft.com/office/drawing/2014/main" id="{2127C3EE-5A27-28F9-CBE7-DE6F3E421BFA}"/>
              </a:ext>
            </a:extLst>
          </p:cNvPr>
          <p:cNvCxnSpPr/>
          <p:nvPr/>
        </p:nvCxnSpPr>
        <p:spPr>
          <a:xfrm>
            <a:off x="6942667" y="1411818"/>
            <a:ext cx="0" cy="4070351"/>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接连接符 7">
            <a:extLst>
              <a:ext uri="{FF2B5EF4-FFF2-40B4-BE49-F238E27FC236}">
                <a16:creationId xmlns:a16="http://schemas.microsoft.com/office/drawing/2014/main" id="{5CAAA153-8635-80A1-C249-CD2B811CA83F}"/>
              </a:ext>
            </a:extLst>
          </p:cNvPr>
          <p:cNvCxnSpPr/>
          <p:nvPr/>
        </p:nvCxnSpPr>
        <p:spPr>
          <a:xfrm>
            <a:off x="8428567" y="1375834"/>
            <a:ext cx="0" cy="4068233"/>
          </a:xfrm>
          <a:prstGeom prst="line">
            <a:avLst/>
          </a:prstGeom>
          <a:ln w="254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3" name="文本框 1">
            <a:extLst>
              <a:ext uri="{FF2B5EF4-FFF2-40B4-BE49-F238E27FC236}">
                <a16:creationId xmlns:a16="http://schemas.microsoft.com/office/drawing/2014/main" id="{7C2E9B62-3FAC-B74F-9328-50782AA1316A}"/>
              </a:ext>
            </a:extLst>
          </p:cNvPr>
          <p:cNvSpPr txBox="1"/>
          <p:nvPr/>
        </p:nvSpPr>
        <p:spPr>
          <a:xfrm>
            <a:off x="1153584" y="941918"/>
            <a:ext cx="1589616"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第</a:t>
            </a:r>
            <a:r>
              <a:rPr kumimoji="1" lang="en-US" altLang="zh-CN"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1</a:t>
            </a:r>
            <a:r>
              <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天</a:t>
            </a:r>
            <a:endPar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p:txBody>
      </p:sp>
      <p:sp>
        <p:nvSpPr>
          <p:cNvPr id="34" name="文本框 1">
            <a:extLst>
              <a:ext uri="{FF2B5EF4-FFF2-40B4-BE49-F238E27FC236}">
                <a16:creationId xmlns:a16="http://schemas.microsoft.com/office/drawing/2014/main" id="{FE49B3BD-3137-D3A8-78A4-16B9C6F76A5F}"/>
              </a:ext>
            </a:extLst>
          </p:cNvPr>
          <p:cNvSpPr txBox="1"/>
          <p:nvPr/>
        </p:nvSpPr>
        <p:spPr>
          <a:xfrm>
            <a:off x="2580005" y="941917"/>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第</a:t>
            </a:r>
            <a:r>
              <a:rPr kumimoji="1" lang="en-US" altLang="zh-CN"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2</a:t>
            </a:r>
            <a:r>
              <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天</a:t>
            </a:r>
            <a:endPar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p:txBody>
      </p:sp>
      <p:sp>
        <p:nvSpPr>
          <p:cNvPr id="35" name="文本框 1">
            <a:extLst>
              <a:ext uri="{FF2B5EF4-FFF2-40B4-BE49-F238E27FC236}">
                <a16:creationId xmlns:a16="http://schemas.microsoft.com/office/drawing/2014/main" id="{7F74220B-9DC9-A83E-95B6-3CF9D3C3E7B2}"/>
              </a:ext>
            </a:extLst>
          </p:cNvPr>
          <p:cNvSpPr txBox="1"/>
          <p:nvPr/>
        </p:nvSpPr>
        <p:spPr>
          <a:xfrm>
            <a:off x="5556251" y="937685"/>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第</a:t>
            </a:r>
            <a:r>
              <a:rPr kumimoji="1" lang="en-US" altLang="zh-CN"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4</a:t>
            </a:r>
            <a:r>
              <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天</a:t>
            </a:r>
            <a:endPar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p:txBody>
      </p:sp>
      <p:sp>
        <p:nvSpPr>
          <p:cNvPr id="36" name="文本框 1">
            <a:extLst>
              <a:ext uri="{FF2B5EF4-FFF2-40B4-BE49-F238E27FC236}">
                <a16:creationId xmlns:a16="http://schemas.microsoft.com/office/drawing/2014/main" id="{4336B5FF-54FF-CC89-0B93-E6C574D6773A}"/>
              </a:ext>
            </a:extLst>
          </p:cNvPr>
          <p:cNvSpPr txBox="1"/>
          <p:nvPr/>
        </p:nvSpPr>
        <p:spPr>
          <a:xfrm>
            <a:off x="7001934" y="941918"/>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第</a:t>
            </a:r>
            <a:r>
              <a:rPr kumimoji="1" lang="en-US" altLang="zh-CN"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5</a:t>
            </a:r>
            <a:r>
              <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天</a:t>
            </a:r>
            <a:endPar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p:txBody>
      </p:sp>
      <p:sp>
        <p:nvSpPr>
          <p:cNvPr id="37" name="文本框 7">
            <a:extLst>
              <a:ext uri="{FF2B5EF4-FFF2-40B4-BE49-F238E27FC236}">
                <a16:creationId xmlns:a16="http://schemas.microsoft.com/office/drawing/2014/main" id="{A2D7F6F8-DE35-FB16-08C1-2BAB984D497B}"/>
              </a:ext>
            </a:extLst>
          </p:cNvPr>
          <p:cNvSpPr txBox="1"/>
          <p:nvPr/>
        </p:nvSpPr>
        <p:spPr>
          <a:xfrm>
            <a:off x="10192400" y="3308407"/>
            <a:ext cx="1302564" cy="338554"/>
          </a:xfrm>
          <a:prstGeom prst="rect">
            <a:avLst/>
          </a:prstGeom>
          <a:noFill/>
        </p:spPr>
        <p:txBody>
          <a:bodyPr wrap="square" rtlCol="0">
            <a:spAutoFit/>
          </a:bodyPr>
          <a:lstStyle>
            <a:defPPr>
              <a:defRPr lang="zh-CN"/>
            </a:defPPr>
            <a:lvl1pPr marL="0" lvl="0"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1pPr>
            <a:lvl2pPr marL="457200" lvl="1"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2pPr>
            <a:lvl3pPr marL="914400" lvl="2"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3pPr>
            <a:lvl4pPr marL="1371600" lvl="3"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4pPr>
            <a:lvl5pPr marL="1828800" lvl="4"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5pPr>
            <a:lvl6pPr marL="2286000" lvl="5"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6pPr>
            <a:lvl7pPr marL="2743200" lvl="6"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7pPr>
            <a:lvl8pPr marL="3200400" lvl="7"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8pPr>
            <a:lvl9pPr marL="3657600" lvl="8"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mn-cs"/>
              </a:rPr>
              <a:t>需求日期</a:t>
            </a:r>
          </a:p>
        </p:txBody>
      </p:sp>
      <p:sp>
        <p:nvSpPr>
          <p:cNvPr id="3" name="文本框 1">
            <a:extLst>
              <a:ext uri="{FF2B5EF4-FFF2-40B4-BE49-F238E27FC236}">
                <a16:creationId xmlns:a16="http://schemas.microsoft.com/office/drawing/2014/main" id="{AAE23347-2A89-64AA-20F1-17019B6C2072}"/>
              </a:ext>
            </a:extLst>
          </p:cNvPr>
          <p:cNvSpPr txBox="1"/>
          <p:nvPr/>
        </p:nvSpPr>
        <p:spPr>
          <a:xfrm>
            <a:off x="4076025" y="941916"/>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第</a:t>
            </a:r>
            <a:r>
              <a:rPr kumimoji="1" lang="en-US" altLang="zh-CN"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3</a:t>
            </a:r>
            <a:r>
              <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cs typeface="Arial" panose="020B0604020202020204" pitchFamily="34" charset="0"/>
              </a:rPr>
              <a:t>天</a:t>
            </a:r>
            <a:endParaRPr kumimoji="1" lang="zh-CN" altLang="en-US" sz="1733"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p:txBody>
      </p:sp>
      <p:sp>
        <p:nvSpPr>
          <p:cNvPr id="38" name="TextBox 30">
            <a:extLst>
              <a:ext uri="{FF2B5EF4-FFF2-40B4-BE49-F238E27FC236}">
                <a16:creationId xmlns:a16="http://schemas.microsoft.com/office/drawing/2014/main" id="{11892603-3C8F-9488-24BF-AA05C7EE9661}"/>
              </a:ext>
            </a:extLst>
          </p:cNvPr>
          <p:cNvSpPr txBox="1"/>
          <p:nvPr/>
        </p:nvSpPr>
        <p:spPr>
          <a:xfrm>
            <a:off x="991435" y="5444067"/>
            <a:ext cx="4497507" cy="1354195"/>
          </a:xfrm>
          <a:prstGeom prst="rect">
            <a:avLst/>
          </a:prstGeom>
          <a:no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l"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zh-CN" altLang="en-US" sz="16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场景</a:t>
            </a:r>
            <a:r>
              <a:rPr kumimoji="1" lang="en-US" altLang="zh-CN" sz="1600" b="1"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a:t>
            </a:r>
          </a:p>
          <a:p>
            <a:pPr marL="0" marR="0" lvl="0" indent="0" algn="l" defTabSz="1217476"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需求</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1</a:t>
            </a: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由</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A</a:t>
            </a: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和</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B</a:t>
            </a: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生产</a:t>
            </a:r>
            <a:endPar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a:p>
            <a:pPr marL="0" marR="0" lvl="0" indent="0" algn="l" defTabSz="1217476"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需求</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2</a:t>
            </a: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由</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A</a:t>
            </a: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和</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C</a:t>
            </a: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生产</a:t>
            </a:r>
            <a:endPar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a:p>
            <a:pPr marL="0" marR="0" lvl="0" indent="0" algn="l" defTabSz="1217476"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需求</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2</a:t>
            </a: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的优先级高于需求</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1</a:t>
            </a:r>
          </a:p>
          <a:p>
            <a:pPr marL="0" marR="0" lvl="0" indent="0" algn="l" defTabSz="1217476"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库存</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A</a:t>
            </a: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只能满足其中一笔需求，库存</a:t>
            </a:r>
            <a:r>
              <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B</a:t>
            </a:r>
            <a:r>
              <a:rPr kumimoji="1" lang="zh-CN" altLang="en-US"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rPr>
              <a:t>足够</a:t>
            </a:r>
            <a:endParaRPr kumimoji="1" lang="en-US" altLang="zh-CN" sz="1600" b="0" i="0" u="none" strike="noStrike" kern="1200" cap="none" spc="0" normalizeH="0" baseline="0" noProof="0" dirty="0">
              <a:ln>
                <a:noFill/>
              </a:ln>
              <a:solidFill>
                <a:srgbClr val="FFFFFF"/>
              </a:solidFill>
              <a:effectLst/>
              <a:uLnTx/>
              <a:uFillTx/>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11541224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23" presetClass="entr" presetSubtype="16" fill="hold" nodeType="click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childTnLst>
                                </p:cTn>
                              </p:par>
                              <p:par>
                                <p:cTn id="17" presetID="1"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3"/>
                                        </p:tgtEl>
                                        <p:attrNameLst>
                                          <p:attrName>style.visibility</p:attrName>
                                        </p:attrNameLst>
                                      </p:cBhvr>
                                      <p:to>
                                        <p:strVal val="visible"/>
                                      </p:to>
                                    </p:set>
                                  </p:childTnLst>
                                </p:cTn>
                              </p:par>
                              <p:par>
                                <p:cTn id="23" presetID="1" presetClass="entr" presetSubtype="0" fill="hold" grpId="1" nodeType="withEffect">
                                  <p:stCondLst>
                                    <p:cond delay="0"/>
                                  </p:stCondLst>
                                  <p:childTnLst>
                                    <p:set>
                                      <p:cBhvr>
                                        <p:cTn id="24" dur="1" fill="hold">
                                          <p:stCondLst>
                                            <p:cond delay="0"/>
                                          </p:stCondLst>
                                        </p:cTn>
                                        <p:tgtEl>
                                          <p:spTgt spid="2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xit" presetSubtype="0" fill="hold" grpId="0" nodeType="clickEffect">
                                  <p:stCondLst>
                                    <p:cond delay="0"/>
                                  </p:stCondLst>
                                  <p:childTnLst>
                                    <p:animEffect transition="out" filter="fade">
                                      <p:cBhvr>
                                        <p:cTn id="28" dur="500"/>
                                        <p:tgtEl>
                                          <p:spTgt spid="24"/>
                                        </p:tgtEl>
                                      </p:cBhvr>
                                    </p:animEffect>
                                    <p:set>
                                      <p:cBhvr>
                                        <p:cTn id="29" dur="1" fill="hold">
                                          <p:stCondLst>
                                            <p:cond delay="499"/>
                                          </p:stCondLst>
                                        </p:cTn>
                                        <p:tgtEl>
                                          <p:spTgt spid="24"/>
                                        </p:tgtEl>
                                        <p:attrNameLst>
                                          <p:attrName>style.visibility</p:attrName>
                                        </p:attrNameLst>
                                      </p:cBhvr>
                                      <p:to>
                                        <p:strVal val="hidden"/>
                                      </p:to>
                                    </p:set>
                                  </p:childTnLst>
                                </p:cTn>
                              </p:par>
                              <p:par>
                                <p:cTn id="30" presetID="10" presetClass="exit" presetSubtype="0" fill="hold" nodeType="withEffect">
                                  <p:stCondLst>
                                    <p:cond delay="0"/>
                                  </p:stCondLst>
                                  <p:childTnLst>
                                    <p:animEffect transition="out" filter="fade">
                                      <p:cBhvr>
                                        <p:cTn id="31" dur="500"/>
                                        <p:tgtEl>
                                          <p:spTgt spid="23"/>
                                        </p:tgtEl>
                                      </p:cBhvr>
                                    </p:animEffect>
                                    <p:set>
                                      <p:cBhvr>
                                        <p:cTn id="32" dur="1" fill="hold">
                                          <p:stCondLst>
                                            <p:cond delay="499"/>
                                          </p:stCondLst>
                                        </p:cTn>
                                        <p:tgtEl>
                                          <p:spTgt spid="23"/>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25"/>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26"/>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500"/>
                                        <p:tgtEl>
                                          <p:spTgt spid="27"/>
                                        </p:tgtEl>
                                      </p:cBhvr>
                                    </p:animEffect>
                                  </p:childTnLst>
                                </p:cTn>
                              </p:par>
                              <p:par>
                                <p:cTn id="44" presetID="42" presetClass="entr" presetSubtype="0" fill="hold" grpId="0" nodeType="withEffect">
                                  <p:stCondLst>
                                    <p:cond delay="0"/>
                                  </p:stCondLst>
                                  <p:iterate type="lt">
                                    <p:tmPct val="0"/>
                                  </p:iterate>
                                  <p:childTnLst>
                                    <p:set>
                                      <p:cBhvr>
                                        <p:cTn id="45" dur="1" fill="hold">
                                          <p:stCondLst>
                                            <p:cond delay="0"/>
                                          </p:stCondLst>
                                        </p:cTn>
                                        <p:tgtEl>
                                          <p:spTgt spid="18"/>
                                        </p:tgtEl>
                                        <p:attrNameLst>
                                          <p:attrName>style.visibility</p:attrName>
                                        </p:attrNameLst>
                                      </p:cBhvr>
                                      <p:to>
                                        <p:strVal val="visible"/>
                                      </p:to>
                                    </p:set>
                                    <p:animEffect transition="in" filter="fade">
                                      <p:cBhvr>
                                        <p:cTn id="46" dur="1000"/>
                                        <p:tgtEl>
                                          <p:spTgt spid="18"/>
                                        </p:tgtEl>
                                      </p:cBhvr>
                                    </p:animEffect>
                                    <p:anim calcmode="lin" valueType="num">
                                      <p:cBhvr>
                                        <p:cTn id="47" dur="1000" fill="hold"/>
                                        <p:tgtEl>
                                          <p:spTgt spid="18"/>
                                        </p:tgtEl>
                                        <p:attrNameLst>
                                          <p:attrName>ppt_x</p:attrName>
                                        </p:attrNameLst>
                                      </p:cBhvr>
                                      <p:tavLst>
                                        <p:tav tm="0">
                                          <p:val>
                                            <p:strVal val="#ppt_x"/>
                                          </p:val>
                                        </p:tav>
                                        <p:tav tm="100000">
                                          <p:val>
                                            <p:strVal val="#ppt_x"/>
                                          </p:val>
                                        </p:tav>
                                      </p:tavLst>
                                    </p:anim>
                                    <p:anim calcmode="lin" valueType="num">
                                      <p:cBhvr>
                                        <p:cTn id="48"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35" presetClass="emph" presetSubtype="0" fill="hold" nodeType="clickEffect">
                                  <p:stCondLst>
                                    <p:cond delay="0"/>
                                  </p:stCondLst>
                                  <p:childTnLst>
                                    <p:anim calcmode="discrete" valueType="str">
                                      <p:cBhvr>
                                        <p:cTn id="52" dur="1000" fill="hold"/>
                                        <p:tgtEl>
                                          <p:spTgt spid="25"/>
                                        </p:tgtEl>
                                        <p:attrNameLst>
                                          <p:attrName>style.visibility</p:attrName>
                                        </p:attrNameLst>
                                      </p:cBhvr>
                                      <p:tavLst>
                                        <p:tav tm="0">
                                          <p:val>
                                            <p:strVal val="hidden"/>
                                          </p:val>
                                        </p:tav>
                                        <p:tav tm="50000">
                                          <p:val>
                                            <p:strVal val="visible"/>
                                          </p:val>
                                        </p:tav>
                                      </p:tavLst>
                                    </p:anim>
                                  </p:childTnLst>
                                </p:cTn>
                              </p:par>
                            </p:childTnLst>
                          </p:cTn>
                        </p:par>
                      </p:childTnLst>
                    </p:cTn>
                  </p:par>
                  <p:par>
                    <p:cTn id="53" fill="hold">
                      <p:stCondLst>
                        <p:cond delay="indefinite"/>
                      </p:stCondLst>
                      <p:childTnLst>
                        <p:par>
                          <p:cTn id="54" fill="hold">
                            <p:stCondLst>
                              <p:cond delay="0"/>
                            </p:stCondLst>
                            <p:childTnLst>
                              <p:par>
                                <p:cTn id="55" presetID="35" presetClass="emph" presetSubtype="0" fill="hold" nodeType="clickEffect">
                                  <p:stCondLst>
                                    <p:cond delay="0"/>
                                  </p:stCondLst>
                                  <p:childTnLst>
                                    <p:anim calcmode="discrete" valueType="str">
                                      <p:cBhvr>
                                        <p:cTn id="56" dur="1000" fill="hold"/>
                                        <p:tgtEl>
                                          <p:spTgt spid="1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p:bldP spid="24" grpId="0"/>
      <p:bldP spid="24" grpId="1"/>
      <p:bldP spid="27" grpId="0" bldLvl="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1241AB-25D8-E975-6A96-A444B06187BB}"/>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0F7348CC-3349-B10A-E4EF-1A397E9A2F68}"/>
              </a:ext>
            </a:extLst>
          </p:cNvPr>
          <p:cNvSpPr>
            <a:spLocks noGrp="1"/>
          </p:cNvSpPr>
          <p:nvPr>
            <p:ph type="title"/>
          </p:nvPr>
        </p:nvSpPr>
        <p:spPr>
          <a:xfrm>
            <a:off x="991435" y="14057"/>
            <a:ext cx="10714759" cy="711202"/>
          </a:xfrm>
        </p:spPr>
        <p:txBody>
          <a:bodyPr>
            <a:normAutofit/>
          </a:bodyPr>
          <a:lstStyle/>
          <a:p>
            <a:r>
              <a:rPr kumimoji="0" lang="zh-CN" altLang="en-US" sz="2400" b="1" i="0" u="none" strike="noStrike" kern="1200" cap="none" spc="0" normalizeH="0" baseline="0" noProof="0" dirty="0">
                <a:ln>
                  <a:noFill/>
                </a:ln>
                <a:solidFill>
                  <a:srgbClr val="FFFFFF"/>
                </a:solidFill>
                <a:effectLst/>
                <a:uLnTx/>
                <a:uFillTx/>
                <a:latin typeface="+mj-ea"/>
                <a:cs typeface="+mj-cs"/>
              </a:rPr>
              <a:t>物料和资源分配可以优化</a:t>
            </a:r>
            <a:r>
              <a:rPr lang="en-US" altLang="zh-CN" dirty="0">
                <a:latin typeface="+mj-ea"/>
              </a:rPr>
              <a:t>– </a:t>
            </a:r>
            <a:r>
              <a:rPr lang="zh-CN" altLang="en-US" dirty="0">
                <a:latin typeface="+mj-ea"/>
              </a:rPr>
              <a:t>供应</a:t>
            </a:r>
            <a:r>
              <a:rPr lang="en-US" altLang="zh-CN" dirty="0">
                <a:latin typeface="+mj-ea"/>
              </a:rPr>
              <a:t>pull-in</a:t>
            </a:r>
            <a:r>
              <a:rPr lang="zh-CN" altLang="en-US" dirty="0">
                <a:latin typeface="+mj-ea"/>
              </a:rPr>
              <a:t>带来的挑战</a:t>
            </a:r>
          </a:p>
        </p:txBody>
      </p:sp>
      <p:cxnSp>
        <p:nvCxnSpPr>
          <p:cNvPr id="4" name="直接箭头连接符 6">
            <a:extLst>
              <a:ext uri="{FF2B5EF4-FFF2-40B4-BE49-F238E27FC236}">
                <a16:creationId xmlns:a16="http://schemas.microsoft.com/office/drawing/2014/main" id="{E87EEB3C-3897-60A9-F925-9623C4D7249E}"/>
              </a:ext>
            </a:extLst>
          </p:cNvPr>
          <p:cNvCxnSpPr/>
          <p:nvPr/>
        </p:nvCxnSpPr>
        <p:spPr>
          <a:xfrm>
            <a:off x="715434" y="3558117"/>
            <a:ext cx="93345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13">
            <a:extLst>
              <a:ext uri="{FF2B5EF4-FFF2-40B4-BE49-F238E27FC236}">
                <a16:creationId xmlns:a16="http://schemas.microsoft.com/office/drawing/2014/main" id="{0DD3380D-9595-1C6C-9E29-0F108C6BBDED}"/>
              </a:ext>
            </a:extLst>
          </p:cNvPr>
          <p:cNvCxnSpPr>
            <a:stCxn id="22" idx="0"/>
          </p:cNvCxnSpPr>
          <p:nvPr/>
        </p:nvCxnSpPr>
        <p:spPr>
          <a:xfrm>
            <a:off x="3579285" y="2679700"/>
            <a:ext cx="6351" cy="914400"/>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15">
            <a:extLst>
              <a:ext uri="{FF2B5EF4-FFF2-40B4-BE49-F238E27FC236}">
                <a16:creationId xmlns:a16="http://schemas.microsoft.com/office/drawing/2014/main" id="{0B41DD3B-7A97-7251-2D75-4C2BB41C9C6A}"/>
              </a:ext>
            </a:extLst>
          </p:cNvPr>
          <p:cNvCxnSpPr>
            <a:cxnSpLocks/>
          </p:cNvCxnSpPr>
          <p:nvPr/>
        </p:nvCxnSpPr>
        <p:spPr>
          <a:xfrm>
            <a:off x="4934148" y="2686051"/>
            <a:ext cx="0" cy="878417"/>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 name="直接箭头连接符 23">
            <a:extLst>
              <a:ext uri="{FF2B5EF4-FFF2-40B4-BE49-F238E27FC236}">
                <a16:creationId xmlns:a16="http://schemas.microsoft.com/office/drawing/2014/main" id="{E3209A65-1FB6-DA21-4F05-622728538EDC}"/>
              </a:ext>
            </a:extLst>
          </p:cNvPr>
          <p:cNvCxnSpPr/>
          <p:nvPr/>
        </p:nvCxnSpPr>
        <p:spPr>
          <a:xfrm flipV="1">
            <a:off x="2755900" y="3558118"/>
            <a:ext cx="0" cy="673100"/>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 name="直接箭头连接符 35">
            <a:extLst>
              <a:ext uri="{FF2B5EF4-FFF2-40B4-BE49-F238E27FC236}">
                <a16:creationId xmlns:a16="http://schemas.microsoft.com/office/drawing/2014/main" id="{7555AA97-AD94-C362-09C8-1363A24EBB48}"/>
              </a:ext>
            </a:extLst>
          </p:cNvPr>
          <p:cNvCxnSpPr/>
          <p:nvPr/>
        </p:nvCxnSpPr>
        <p:spPr>
          <a:xfrm flipV="1">
            <a:off x="2755900" y="4434417"/>
            <a:ext cx="0" cy="670984"/>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 name="矩形 27">
            <a:extLst>
              <a:ext uri="{FF2B5EF4-FFF2-40B4-BE49-F238E27FC236}">
                <a16:creationId xmlns:a16="http://schemas.microsoft.com/office/drawing/2014/main" id="{8018768D-B9FC-1399-8CB3-5CD817F56D81}"/>
              </a:ext>
            </a:extLst>
          </p:cNvPr>
          <p:cNvSpPr/>
          <p:nvPr/>
        </p:nvSpPr>
        <p:spPr>
          <a:xfrm>
            <a:off x="2906869" y="2304040"/>
            <a:ext cx="1344084"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mj-ea"/>
                <a:ea typeface="+mj-ea"/>
              </a:rPr>
              <a:t>需求</a:t>
            </a:r>
            <a:r>
              <a:rPr lang="en-US" altLang="zh-CN" sz="1600" dirty="0">
                <a:solidFill>
                  <a:srgbClr val="FFFFFF"/>
                </a:solidFill>
                <a:latin typeface="+mj-ea"/>
                <a:ea typeface="+mj-ea"/>
              </a:rPr>
              <a:t>1</a:t>
            </a:r>
            <a:endParaRPr lang="zh-CN" altLang="en-US" sz="1600" dirty="0">
              <a:solidFill>
                <a:srgbClr val="FFFFFF"/>
              </a:solidFill>
              <a:latin typeface="+mj-ea"/>
              <a:ea typeface="+mj-ea"/>
            </a:endParaRPr>
          </a:p>
        </p:txBody>
      </p:sp>
      <p:sp>
        <p:nvSpPr>
          <p:cNvPr id="10" name="矩形 38">
            <a:extLst>
              <a:ext uri="{FF2B5EF4-FFF2-40B4-BE49-F238E27FC236}">
                <a16:creationId xmlns:a16="http://schemas.microsoft.com/office/drawing/2014/main" id="{681E14F1-7512-8C56-2AC1-A4CC46F5B9E1}"/>
              </a:ext>
            </a:extLst>
          </p:cNvPr>
          <p:cNvSpPr/>
          <p:nvPr/>
        </p:nvSpPr>
        <p:spPr>
          <a:xfrm>
            <a:off x="4301718" y="2300479"/>
            <a:ext cx="1344084"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mj-ea"/>
                <a:ea typeface="+mj-ea"/>
              </a:rPr>
              <a:t>需求</a:t>
            </a:r>
            <a:r>
              <a:rPr lang="en-US" altLang="zh-CN" sz="1600" dirty="0">
                <a:solidFill>
                  <a:srgbClr val="FFFFFF"/>
                </a:solidFill>
                <a:latin typeface="+mj-ea"/>
                <a:ea typeface="+mj-ea"/>
              </a:rPr>
              <a:t>2</a:t>
            </a:r>
            <a:endParaRPr lang="zh-CN" altLang="en-US" sz="1600" dirty="0">
              <a:solidFill>
                <a:srgbClr val="FFFFFF"/>
              </a:solidFill>
              <a:latin typeface="+mj-ea"/>
              <a:ea typeface="+mj-ea"/>
            </a:endParaRPr>
          </a:p>
        </p:txBody>
      </p:sp>
      <p:sp>
        <p:nvSpPr>
          <p:cNvPr id="11" name="矩形 28">
            <a:extLst>
              <a:ext uri="{FF2B5EF4-FFF2-40B4-BE49-F238E27FC236}">
                <a16:creationId xmlns:a16="http://schemas.microsoft.com/office/drawing/2014/main" id="{D6C65CAE-871C-6208-F34D-A30FCB53789C}"/>
              </a:ext>
            </a:extLst>
          </p:cNvPr>
          <p:cNvSpPr/>
          <p:nvPr/>
        </p:nvSpPr>
        <p:spPr>
          <a:xfrm>
            <a:off x="1172633" y="3750733"/>
            <a:ext cx="1390651" cy="369310"/>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mj-ea"/>
                <a:ea typeface="+mj-ea"/>
              </a:rPr>
              <a:t>库存</a:t>
            </a:r>
            <a:r>
              <a:rPr lang="en-US" altLang="zh-CN" sz="1600" dirty="0">
                <a:solidFill>
                  <a:srgbClr val="FFFFFF"/>
                </a:solidFill>
                <a:latin typeface="+mj-ea"/>
                <a:ea typeface="+mj-ea"/>
              </a:rPr>
              <a:t> A</a:t>
            </a:r>
            <a:endParaRPr lang="zh-CN" altLang="en-US" sz="1600" dirty="0">
              <a:solidFill>
                <a:srgbClr val="FFFFFF"/>
              </a:solidFill>
              <a:latin typeface="+mj-ea"/>
              <a:ea typeface="+mj-ea"/>
            </a:endParaRPr>
          </a:p>
        </p:txBody>
      </p:sp>
      <p:sp>
        <p:nvSpPr>
          <p:cNvPr id="12" name="矩形 41">
            <a:extLst>
              <a:ext uri="{FF2B5EF4-FFF2-40B4-BE49-F238E27FC236}">
                <a16:creationId xmlns:a16="http://schemas.microsoft.com/office/drawing/2014/main" id="{1635A82C-4EDD-F5B9-DC1A-08610A0641BE}"/>
              </a:ext>
            </a:extLst>
          </p:cNvPr>
          <p:cNvSpPr/>
          <p:nvPr/>
        </p:nvSpPr>
        <p:spPr>
          <a:xfrm>
            <a:off x="1172633" y="4565651"/>
            <a:ext cx="1390651"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mj-ea"/>
                <a:ea typeface="+mj-ea"/>
              </a:rPr>
              <a:t>库存</a:t>
            </a:r>
            <a:r>
              <a:rPr lang="en-US" altLang="zh-CN" sz="1600" dirty="0">
                <a:solidFill>
                  <a:srgbClr val="FFFFFF"/>
                </a:solidFill>
                <a:latin typeface="+mj-ea"/>
                <a:ea typeface="+mj-ea"/>
              </a:rPr>
              <a:t> B</a:t>
            </a:r>
            <a:endParaRPr lang="zh-CN" altLang="en-US" sz="1600" dirty="0">
              <a:solidFill>
                <a:srgbClr val="FFFFFF"/>
              </a:solidFill>
              <a:latin typeface="+mj-ea"/>
              <a:ea typeface="+mj-ea"/>
            </a:endParaRPr>
          </a:p>
        </p:txBody>
      </p:sp>
      <p:sp>
        <p:nvSpPr>
          <p:cNvPr id="13" name="Line 58">
            <a:extLst>
              <a:ext uri="{FF2B5EF4-FFF2-40B4-BE49-F238E27FC236}">
                <a16:creationId xmlns:a16="http://schemas.microsoft.com/office/drawing/2014/main" id="{5A2DECA7-DF60-7A99-D636-73BE829D8E2A}"/>
              </a:ext>
            </a:extLst>
          </p:cNvPr>
          <p:cNvSpPr/>
          <p:nvPr/>
        </p:nvSpPr>
        <p:spPr>
          <a:xfrm flipH="1">
            <a:off x="2755899" y="2669788"/>
            <a:ext cx="2180857" cy="1286264"/>
          </a:xfrm>
          <a:prstGeom prst="line">
            <a:avLst/>
          </a:prstGeom>
          <a:ln w="9525" cap="flat" cmpd="sng">
            <a:solidFill>
              <a:schemeClr val="tx1"/>
            </a:solidFill>
            <a:prstDash val="lgDash"/>
            <a:headEnd type="none" w="med" len="med"/>
            <a:tailEnd type="triangle" w="med" len="med"/>
          </a:ln>
        </p:spPr>
        <p:txBody>
          <a:bodyPr/>
          <a:lstStyle/>
          <a:p>
            <a:endParaRPr lang="zh-CN" altLang="en-US">
              <a:latin typeface="+mj-ea"/>
              <a:ea typeface="+mj-ea"/>
            </a:endParaRPr>
          </a:p>
        </p:txBody>
      </p:sp>
      <p:sp>
        <p:nvSpPr>
          <p:cNvPr id="14" name="Line 58">
            <a:extLst>
              <a:ext uri="{FF2B5EF4-FFF2-40B4-BE49-F238E27FC236}">
                <a16:creationId xmlns:a16="http://schemas.microsoft.com/office/drawing/2014/main" id="{DE2D98C8-B027-050F-CD86-F724140B50FE}"/>
              </a:ext>
            </a:extLst>
          </p:cNvPr>
          <p:cNvSpPr/>
          <p:nvPr/>
        </p:nvSpPr>
        <p:spPr>
          <a:xfrm>
            <a:off x="5003392" y="2684605"/>
            <a:ext cx="1196633" cy="1450555"/>
          </a:xfrm>
          <a:prstGeom prst="line">
            <a:avLst/>
          </a:prstGeom>
          <a:ln w="9525" cap="flat" cmpd="sng">
            <a:solidFill>
              <a:schemeClr val="tx1"/>
            </a:solidFill>
            <a:prstDash val="lgDash"/>
            <a:headEnd type="none" w="med" len="med"/>
            <a:tailEnd type="triangle" w="med" len="med"/>
          </a:ln>
        </p:spPr>
        <p:txBody>
          <a:bodyPr/>
          <a:lstStyle/>
          <a:p>
            <a:endParaRPr lang="zh-CN" altLang="en-US">
              <a:latin typeface="+mj-ea"/>
              <a:ea typeface="+mj-ea"/>
            </a:endParaRPr>
          </a:p>
        </p:txBody>
      </p:sp>
      <p:sp>
        <p:nvSpPr>
          <p:cNvPr id="15" name="矩形标注 12">
            <a:extLst>
              <a:ext uri="{FF2B5EF4-FFF2-40B4-BE49-F238E27FC236}">
                <a16:creationId xmlns:a16="http://schemas.microsoft.com/office/drawing/2014/main" id="{7179120A-B9FB-27E9-470C-A928F799C7BA}"/>
              </a:ext>
            </a:extLst>
          </p:cNvPr>
          <p:cNvSpPr/>
          <p:nvPr/>
        </p:nvSpPr>
        <p:spPr>
          <a:xfrm>
            <a:off x="4244638" y="1228669"/>
            <a:ext cx="1256579" cy="508000"/>
          </a:xfrm>
          <a:prstGeom prst="wedgeRectCallout">
            <a:avLst>
              <a:gd name="adj1" fmla="val 782"/>
              <a:gd name="adj2" fmla="val 90562"/>
            </a:avLst>
          </a:prstGeom>
          <a:solidFill>
            <a:srgbClr val="7030A0"/>
          </a:solidFill>
          <a:ln>
            <a:no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defTabSz="1217476"/>
            <a:r>
              <a:rPr lang="en-US" altLang="zh-CN" sz="1867" b="1" dirty="0">
                <a:solidFill>
                  <a:srgbClr val="FFFFFF"/>
                </a:solidFill>
                <a:latin typeface="+mj-ea"/>
                <a:ea typeface="+mj-ea"/>
              </a:rPr>
              <a:t>IPS</a:t>
            </a:r>
            <a:endParaRPr lang="zh-CN" altLang="en-US" sz="1867" b="1" dirty="0">
              <a:solidFill>
                <a:srgbClr val="FFFFFF"/>
              </a:solidFill>
              <a:latin typeface="+mj-ea"/>
              <a:ea typeface="+mj-ea"/>
            </a:endParaRPr>
          </a:p>
        </p:txBody>
      </p:sp>
      <p:sp>
        <p:nvSpPr>
          <p:cNvPr id="16" name="矩形标注 13">
            <a:extLst>
              <a:ext uri="{FF2B5EF4-FFF2-40B4-BE49-F238E27FC236}">
                <a16:creationId xmlns:a16="http://schemas.microsoft.com/office/drawing/2014/main" id="{70C8A5AC-63D1-C13E-C2A4-DF250C3D2088}"/>
              </a:ext>
            </a:extLst>
          </p:cNvPr>
          <p:cNvSpPr/>
          <p:nvPr/>
        </p:nvSpPr>
        <p:spPr>
          <a:xfrm>
            <a:off x="2873750" y="1251764"/>
            <a:ext cx="1345177" cy="510117"/>
          </a:xfrm>
          <a:prstGeom prst="wedgeRectCallout">
            <a:avLst>
              <a:gd name="adj1" fmla="val 782"/>
              <a:gd name="adj2" fmla="val 90562"/>
            </a:avLst>
          </a:prstGeom>
          <a:solidFill>
            <a:srgbClr val="7030A0"/>
          </a:solidFill>
          <a:ln>
            <a:no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defTabSz="1217476"/>
            <a:r>
              <a:rPr lang="en-US" altLang="zh-CN" sz="1867" b="1" dirty="0">
                <a:solidFill>
                  <a:srgbClr val="FFFFFF"/>
                </a:solidFill>
                <a:latin typeface="+mj-ea"/>
                <a:ea typeface="+mj-ea"/>
              </a:rPr>
              <a:t>IPS</a:t>
            </a:r>
            <a:endParaRPr lang="zh-CN" altLang="en-US" sz="1867" b="1" dirty="0">
              <a:solidFill>
                <a:srgbClr val="FFFFFF"/>
              </a:solidFill>
              <a:latin typeface="+mj-ea"/>
              <a:ea typeface="+mj-ea"/>
            </a:endParaRPr>
          </a:p>
        </p:txBody>
      </p:sp>
      <p:sp>
        <p:nvSpPr>
          <p:cNvPr id="18" name="矩形 26">
            <a:extLst>
              <a:ext uri="{FF2B5EF4-FFF2-40B4-BE49-F238E27FC236}">
                <a16:creationId xmlns:a16="http://schemas.microsoft.com/office/drawing/2014/main" id="{4F6A81DE-CCC7-846B-599E-0D15AEE680C0}"/>
              </a:ext>
            </a:extLst>
          </p:cNvPr>
          <p:cNvSpPr/>
          <p:nvPr/>
        </p:nvSpPr>
        <p:spPr>
          <a:xfrm>
            <a:off x="5501217" y="4305300"/>
            <a:ext cx="1329267"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rgbClr val="FFFFFF"/>
                </a:solidFill>
                <a:latin typeface="+mj-ea"/>
                <a:ea typeface="+mj-ea"/>
              </a:rPr>
              <a:t>计划到货 </a:t>
            </a:r>
            <a:r>
              <a:rPr lang="en-US" altLang="zh-CN" sz="1600" dirty="0">
                <a:solidFill>
                  <a:srgbClr val="FFFFFF"/>
                </a:solidFill>
                <a:latin typeface="+mj-ea"/>
                <a:ea typeface="+mj-ea"/>
              </a:rPr>
              <a:t>C</a:t>
            </a:r>
            <a:endParaRPr lang="zh-CN" altLang="en-US" sz="1600" dirty="0">
              <a:solidFill>
                <a:srgbClr val="FFFFFF"/>
              </a:solidFill>
              <a:latin typeface="+mj-ea"/>
              <a:ea typeface="+mj-ea"/>
            </a:endParaRPr>
          </a:p>
        </p:txBody>
      </p:sp>
      <p:cxnSp>
        <p:nvCxnSpPr>
          <p:cNvPr id="19" name="直接箭头连接符 29">
            <a:extLst>
              <a:ext uri="{FF2B5EF4-FFF2-40B4-BE49-F238E27FC236}">
                <a16:creationId xmlns:a16="http://schemas.microsoft.com/office/drawing/2014/main" id="{42846B11-1A54-0C6F-4852-F6751478E3FA}"/>
              </a:ext>
            </a:extLst>
          </p:cNvPr>
          <p:cNvCxnSpPr>
            <a:stCxn id="18" idx="0"/>
          </p:cNvCxnSpPr>
          <p:nvPr/>
        </p:nvCxnSpPr>
        <p:spPr>
          <a:xfrm flipV="1">
            <a:off x="6165851" y="3564468"/>
            <a:ext cx="0" cy="740832"/>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0" name="矩形 31">
            <a:extLst>
              <a:ext uri="{FF2B5EF4-FFF2-40B4-BE49-F238E27FC236}">
                <a16:creationId xmlns:a16="http://schemas.microsoft.com/office/drawing/2014/main" id="{5000F43F-57A7-B669-800E-ECA1CC042986}"/>
              </a:ext>
            </a:extLst>
          </p:cNvPr>
          <p:cNvSpPr/>
          <p:nvPr/>
        </p:nvSpPr>
        <p:spPr>
          <a:xfrm>
            <a:off x="4273551" y="4836584"/>
            <a:ext cx="1231900"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rgbClr val="FFFFFF"/>
                </a:solidFill>
                <a:latin typeface="+mj-ea"/>
                <a:ea typeface="+mj-ea"/>
              </a:rPr>
              <a:t>计划到货</a:t>
            </a:r>
            <a:r>
              <a:rPr lang="en-US" altLang="zh-CN" sz="1600" dirty="0">
                <a:solidFill>
                  <a:srgbClr val="FFFFFF"/>
                </a:solidFill>
                <a:latin typeface="+mj-ea"/>
                <a:ea typeface="+mj-ea"/>
              </a:rPr>
              <a:t>A</a:t>
            </a:r>
            <a:endParaRPr lang="zh-CN" altLang="en-US" sz="1600" dirty="0">
              <a:solidFill>
                <a:srgbClr val="FFFFFF"/>
              </a:solidFill>
              <a:latin typeface="+mj-ea"/>
              <a:ea typeface="+mj-ea"/>
            </a:endParaRPr>
          </a:p>
        </p:txBody>
      </p:sp>
      <p:cxnSp>
        <p:nvCxnSpPr>
          <p:cNvPr id="21" name="直接箭头连接符 40">
            <a:extLst>
              <a:ext uri="{FF2B5EF4-FFF2-40B4-BE49-F238E27FC236}">
                <a16:creationId xmlns:a16="http://schemas.microsoft.com/office/drawing/2014/main" id="{F5272962-31F9-0190-BFE6-72FD0799C5A6}"/>
              </a:ext>
            </a:extLst>
          </p:cNvPr>
          <p:cNvCxnSpPr>
            <a:stCxn id="20" idx="0"/>
          </p:cNvCxnSpPr>
          <p:nvPr/>
        </p:nvCxnSpPr>
        <p:spPr>
          <a:xfrm flipV="1">
            <a:off x="4889501" y="3558117"/>
            <a:ext cx="29632" cy="1278467"/>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2" name="Line 58">
            <a:extLst>
              <a:ext uri="{FF2B5EF4-FFF2-40B4-BE49-F238E27FC236}">
                <a16:creationId xmlns:a16="http://schemas.microsoft.com/office/drawing/2014/main" id="{154237A9-5914-1248-0E6C-0893B360B70B}"/>
              </a:ext>
            </a:extLst>
          </p:cNvPr>
          <p:cNvSpPr/>
          <p:nvPr/>
        </p:nvSpPr>
        <p:spPr>
          <a:xfrm flipH="1">
            <a:off x="2755900" y="2679701"/>
            <a:ext cx="823384" cy="1276351"/>
          </a:xfrm>
          <a:prstGeom prst="line">
            <a:avLst/>
          </a:prstGeom>
          <a:ln w="9525" cap="flat" cmpd="sng">
            <a:solidFill>
              <a:schemeClr val="tx1"/>
            </a:solidFill>
            <a:prstDash val="dashDot"/>
            <a:headEnd type="none" w="med" len="med"/>
            <a:tailEnd type="triangle" w="med" len="med"/>
          </a:ln>
        </p:spPr>
        <p:txBody>
          <a:bodyPr/>
          <a:lstStyle/>
          <a:p>
            <a:endParaRPr lang="zh-CN" altLang="en-US">
              <a:latin typeface="+mj-ea"/>
              <a:ea typeface="+mj-ea"/>
            </a:endParaRPr>
          </a:p>
        </p:txBody>
      </p:sp>
      <p:sp>
        <p:nvSpPr>
          <p:cNvPr id="23" name="文本框 22">
            <a:extLst>
              <a:ext uri="{FF2B5EF4-FFF2-40B4-BE49-F238E27FC236}">
                <a16:creationId xmlns:a16="http://schemas.microsoft.com/office/drawing/2014/main" id="{21799BC0-C949-FBC4-24E8-7AB15AE4C65F}"/>
              </a:ext>
            </a:extLst>
          </p:cNvPr>
          <p:cNvSpPr txBox="1"/>
          <p:nvPr/>
        </p:nvSpPr>
        <p:spPr>
          <a:xfrm rot="-3433726">
            <a:off x="2644617" y="2976176"/>
            <a:ext cx="914400" cy="235898"/>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933" dirty="0">
                <a:latin typeface="+mj-ea"/>
                <a:ea typeface="+mj-ea"/>
                <a:cs typeface="Arial" panose="020B0604020202020204" pitchFamily="34" charset="0"/>
              </a:rPr>
              <a:t>被需求</a:t>
            </a:r>
            <a:r>
              <a:rPr lang="en-US" altLang="zh-CN" sz="933" dirty="0">
                <a:latin typeface="+mj-ea"/>
                <a:ea typeface="+mj-ea"/>
                <a:cs typeface="Arial" panose="020B0604020202020204" pitchFamily="34" charset="0"/>
              </a:rPr>
              <a:t>2</a:t>
            </a:r>
            <a:r>
              <a:rPr lang="zh-CN" altLang="en-US" sz="933" dirty="0">
                <a:latin typeface="+mj-ea"/>
                <a:ea typeface="+mj-ea"/>
                <a:cs typeface="Arial" panose="020B0604020202020204" pitchFamily="34" charset="0"/>
              </a:rPr>
              <a:t>占用</a:t>
            </a:r>
            <a:endParaRPr lang="zh-CN" altLang="en-US" sz="933" dirty="0">
              <a:latin typeface="+mj-ea"/>
              <a:ea typeface="+mj-ea"/>
            </a:endParaRPr>
          </a:p>
        </p:txBody>
      </p:sp>
      <p:cxnSp>
        <p:nvCxnSpPr>
          <p:cNvPr id="24" name="直接箭头连接符 5">
            <a:extLst>
              <a:ext uri="{FF2B5EF4-FFF2-40B4-BE49-F238E27FC236}">
                <a16:creationId xmlns:a16="http://schemas.microsoft.com/office/drawing/2014/main" id="{4FA2028F-D9EC-A46D-FB50-7B1DE69FFA39}"/>
              </a:ext>
            </a:extLst>
          </p:cNvPr>
          <p:cNvCxnSpPr>
            <a:cxnSpLocks/>
            <a:stCxn id="22" idx="0"/>
            <a:endCxn id="20" idx="0"/>
          </p:cNvCxnSpPr>
          <p:nvPr/>
        </p:nvCxnSpPr>
        <p:spPr>
          <a:xfrm>
            <a:off x="3579284" y="2679701"/>
            <a:ext cx="1310217" cy="2156883"/>
          </a:xfrm>
          <a:prstGeom prst="straightConnector1">
            <a:avLst/>
          </a:prstGeom>
          <a:ln w="9525" cap="flat" cmpd="sng">
            <a:solidFill>
              <a:schemeClr val="tx1"/>
            </a:solidFill>
            <a:prstDash val="lgDash"/>
            <a:headEnd type="none" w="med" len="med"/>
            <a:tailEnd type="triangle" w="med" len="med"/>
          </a:ln>
        </p:spPr>
      </p:cxnSp>
      <p:cxnSp>
        <p:nvCxnSpPr>
          <p:cNvPr id="25" name="直接箭头连接符 50">
            <a:extLst>
              <a:ext uri="{FF2B5EF4-FFF2-40B4-BE49-F238E27FC236}">
                <a16:creationId xmlns:a16="http://schemas.microsoft.com/office/drawing/2014/main" id="{8CB2EC32-B240-15FD-EE1D-48010BF042D7}"/>
              </a:ext>
            </a:extLst>
          </p:cNvPr>
          <p:cNvCxnSpPr>
            <a:stCxn id="22" idx="0"/>
          </p:cNvCxnSpPr>
          <p:nvPr/>
        </p:nvCxnSpPr>
        <p:spPr>
          <a:xfrm flipH="1">
            <a:off x="2743201" y="2679701"/>
            <a:ext cx="836084" cy="2097617"/>
          </a:xfrm>
          <a:prstGeom prst="straightConnector1">
            <a:avLst/>
          </a:prstGeom>
          <a:ln w="9525" cap="flat" cmpd="sng">
            <a:solidFill>
              <a:schemeClr val="tx1"/>
            </a:solidFill>
            <a:prstDash val="lgDash"/>
            <a:headEnd type="none" w="med" len="med"/>
            <a:tailEnd type="triangle" w="med" len="med"/>
          </a:ln>
        </p:spPr>
      </p:cxnSp>
      <p:sp>
        <p:nvSpPr>
          <p:cNvPr id="26" name="圆角矩形标注 24">
            <a:extLst>
              <a:ext uri="{FF2B5EF4-FFF2-40B4-BE49-F238E27FC236}">
                <a16:creationId xmlns:a16="http://schemas.microsoft.com/office/drawing/2014/main" id="{C8F231C5-98F5-4873-CADA-3294DB75A058}"/>
              </a:ext>
            </a:extLst>
          </p:cNvPr>
          <p:cNvSpPr/>
          <p:nvPr/>
        </p:nvSpPr>
        <p:spPr>
          <a:xfrm>
            <a:off x="1375833" y="1892300"/>
            <a:ext cx="1380067" cy="414867"/>
          </a:xfrm>
          <a:prstGeom prst="wedgeRoundRectCallout">
            <a:avLst>
              <a:gd name="adj1" fmla="val 86096"/>
              <a:gd name="adj2" fmla="val 93018"/>
              <a:gd name="adj3" fmla="val 16667"/>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en-US" altLang="zh-CN" sz="1600" dirty="0">
                <a:solidFill>
                  <a:srgbClr val="FFFFFF"/>
                </a:solidFill>
                <a:latin typeface="+mj-ea"/>
                <a:ea typeface="+mj-ea"/>
                <a:cs typeface="微软雅黑" panose="020B0503020204020204" pitchFamily="34" charset="-122"/>
              </a:rPr>
              <a:t>Late</a:t>
            </a:r>
            <a:endParaRPr lang="zh-CN" altLang="en-US" sz="1600">
              <a:solidFill>
                <a:srgbClr val="FFFFFF"/>
              </a:solidFill>
              <a:latin typeface="+mj-ea"/>
              <a:ea typeface="+mj-ea"/>
              <a:cs typeface="微软雅黑" panose="020B0503020204020204" pitchFamily="34" charset="-122"/>
            </a:endParaRPr>
          </a:p>
        </p:txBody>
      </p:sp>
      <p:cxnSp>
        <p:nvCxnSpPr>
          <p:cNvPr id="27" name="直接箭头连接符 3">
            <a:extLst>
              <a:ext uri="{FF2B5EF4-FFF2-40B4-BE49-F238E27FC236}">
                <a16:creationId xmlns:a16="http://schemas.microsoft.com/office/drawing/2014/main" id="{C72C1348-26AF-F800-EDF8-A77E41BB89C8}"/>
              </a:ext>
            </a:extLst>
          </p:cNvPr>
          <p:cNvCxnSpPr>
            <a:cxnSpLocks/>
            <a:stCxn id="10" idx="2"/>
          </p:cNvCxnSpPr>
          <p:nvPr/>
        </p:nvCxnSpPr>
        <p:spPr>
          <a:xfrm>
            <a:off x="4973760" y="2669789"/>
            <a:ext cx="66634" cy="2133095"/>
          </a:xfrm>
          <a:prstGeom prst="straightConnector1">
            <a:avLst/>
          </a:prstGeom>
          <a:ln w="9525" cap="flat" cmpd="sng">
            <a:solidFill>
              <a:schemeClr val="tx1"/>
            </a:solidFill>
            <a:prstDash val="lgDash"/>
            <a:headEnd type="none" w="med" len="med"/>
            <a:tailEnd type="triangle" w="med" len="med"/>
          </a:ln>
        </p:spPr>
      </p:cxnSp>
      <p:sp>
        <p:nvSpPr>
          <p:cNvPr id="28" name="圆角矩形标注 26">
            <a:extLst>
              <a:ext uri="{FF2B5EF4-FFF2-40B4-BE49-F238E27FC236}">
                <a16:creationId xmlns:a16="http://schemas.microsoft.com/office/drawing/2014/main" id="{6332BE33-771C-47F2-A7F4-1F07B24456A0}"/>
              </a:ext>
            </a:extLst>
          </p:cNvPr>
          <p:cNvSpPr/>
          <p:nvPr/>
        </p:nvSpPr>
        <p:spPr>
          <a:xfrm>
            <a:off x="641730" y="2420176"/>
            <a:ext cx="2123017" cy="747184"/>
          </a:xfrm>
          <a:prstGeom prst="wedgeRoundRectCallout">
            <a:avLst>
              <a:gd name="adj1" fmla="val 70738"/>
              <a:gd name="adj2" fmla="val -32831"/>
              <a:gd name="adj3" fmla="val 16667"/>
            </a:avLst>
          </a:prstGeom>
          <a:solidFill>
            <a:srgbClr val="00B050"/>
          </a:solidFill>
          <a:ln>
            <a:solidFill>
              <a:srgbClr val="57CC00"/>
            </a:solidFill>
          </a:ln>
        </p:spPr>
        <p:style>
          <a:lnRef idx="1">
            <a:schemeClr val="dk1"/>
          </a:lnRef>
          <a:fillRef idx="2">
            <a:schemeClr val="dk1"/>
          </a:fillRef>
          <a:effectRef idx="1">
            <a:schemeClr val="dk1"/>
          </a:effectRef>
          <a:fontRef idx="minor">
            <a:schemeClr val="dk1"/>
          </a:fontRef>
        </p:style>
        <p:txBody>
          <a:bodyPr lIns="121899" tIns="60949" rIns="121899" bIns="60949" anchor="ctr"/>
          <a:lstStyle/>
          <a:p>
            <a:pPr algn="ctr" defTabSz="1217476" fontAlgn="base">
              <a:spcBef>
                <a:spcPct val="0"/>
              </a:spcBef>
              <a:spcAft>
                <a:spcPct val="0"/>
              </a:spcAft>
              <a:defRPr/>
            </a:pPr>
            <a:r>
              <a:rPr lang="en-US" altLang="zh-CN" sz="1600" dirty="0">
                <a:solidFill>
                  <a:srgbClr val="FFFFFF"/>
                </a:solidFill>
                <a:latin typeface="+mj-ea"/>
                <a:ea typeface="+mj-ea"/>
                <a:cs typeface="微软雅黑" panose="020B0503020204020204" pitchFamily="34" charset="-122"/>
              </a:rPr>
              <a:t>Met requirement and create MO</a:t>
            </a:r>
            <a:endParaRPr lang="zh-CN" altLang="en-US" sz="1600" dirty="0">
              <a:solidFill>
                <a:srgbClr val="FFFFFF"/>
              </a:solidFill>
              <a:latin typeface="+mj-ea"/>
              <a:ea typeface="+mj-ea"/>
              <a:cs typeface="微软雅黑" panose="020B0503020204020204" pitchFamily="34" charset="-122"/>
            </a:endParaRPr>
          </a:p>
        </p:txBody>
      </p:sp>
      <p:cxnSp>
        <p:nvCxnSpPr>
          <p:cNvPr id="29" name="直接连接符 7">
            <a:extLst>
              <a:ext uri="{FF2B5EF4-FFF2-40B4-BE49-F238E27FC236}">
                <a16:creationId xmlns:a16="http://schemas.microsoft.com/office/drawing/2014/main" id="{77F0E889-2DD4-9161-62C1-B158E898F23E}"/>
              </a:ext>
            </a:extLst>
          </p:cNvPr>
          <p:cNvCxnSpPr/>
          <p:nvPr/>
        </p:nvCxnSpPr>
        <p:spPr>
          <a:xfrm>
            <a:off x="2772715" y="1361018"/>
            <a:ext cx="0" cy="219710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直接连接符 7">
            <a:extLst>
              <a:ext uri="{FF2B5EF4-FFF2-40B4-BE49-F238E27FC236}">
                <a16:creationId xmlns:a16="http://schemas.microsoft.com/office/drawing/2014/main" id="{6A9B046A-1EBF-DBD5-25E2-C3EEC1524CB6}"/>
              </a:ext>
            </a:extLst>
          </p:cNvPr>
          <p:cNvCxnSpPr/>
          <p:nvPr/>
        </p:nvCxnSpPr>
        <p:spPr>
          <a:xfrm>
            <a:off x="4286251" y="1361018"/>
            <a:ext cx="0" cy="4068233"/>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直接连接符 7">
            <a:extLst>
              <a:ext uri="{FF2B5EF4-FFF2-40B4-BE49-F238E27FC236}">
                <a16:creationId xmlns:a16="http://schemas.microsoft.com/office/drawing/2014/main" id="{533067DC-78CE-65C0-4004-0BBD772D010E}"/>
              </a:ext>
            </a:extLst>
          </p:cNvPr>
          <p:cNvCxnSpPr/>
          <p:nvPr/>
        </p:nvCxnSpPr>
        <p:spPr>
          <a:xfrm>
            <a:off x="5505451" y="1418168"/>
            <a:ext cx="0" cy="4068233"/>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直接连接符 7">
            <a:extLst>
              <a:ext uri="{FF2B5EF4-FFF2-40B4-BE49-F238E27FC236}">
                <a16:creationId xmlns:a16="http://schemas.microsoft.com/office/drawing/2014/main" id="{B4495523-2B14-D925-ED6E-1B386E65AD56}"/>
              </a:ext>
            </a:extLst>
          </p:cNvPr>
          <p:cNvCxnSpPr/>
          <p:nvPr/>
        </p:nvCxnSpPr>
        <p:spPr>
          <a:xfrm>
            <a:off x="6830484" y="1418168"/>
            <a:ext cx="0" cy="4068233"/>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8" name="圆角矩形 45">
            <a:extLst>
              <a:ext uri="{FF2B5EF4-FFF2-40B4-BE49-F238E27FC236}">
                <a16:creationId xmlns:a16="http://schemas.microsoft.com/office/drawing/2014/main" id="{C9701345-1491-39F2-0BD9-B921FD79013B}"/>
              </a:ext>
            </a:extLst>
          </p:cNvPr>
          <p:cNvSpPr/>
          <p:nvPr/>
        </p:nvSpPr>
        <p:spPr>
          <a:xfrm>
            <a:off x="8358718" y="3769784"/>
            <a:ext cx="3253317" cy="1439333"/>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marL="285750" indent="-285750" defTabSz="1219170">
              <a:buFont typeface="Arial" panose="020B0604020202020204" pitchFamily="34" charset="0"/>
              <a:buChar char="•"/>
              <a:defRPr/>
            </a:pPr>
            <a:r>
              <a:rPr lang="zh-CN" altLang="en-US" sz="1400" u="sng" kern="0" dirty="0">
                <a:solidFill>
                  <a:schemeClr val="tx1"/>
                </a:solidFill>
                <a:latin typeface="+mj-ea"/>
                <a:ea typeface="+mj-ea"/>
              </a:rPr>
              <a:t>软分配物料和资源</a:t>
            </a:r>
            <a:endParaRPr lang="en-US" altLang="zh-CN" sz="1400" u="sng" kern="0" dirty="0">
              <a:solidFill>
                <a:schemeClr val="tx1"/>
              </a:solidFill>
              <a:latin typeface="+mj-ea"/>
              <a:ea typeface="+mj-ea"/>
            </a:endParaRPr>
          </a:p>
          <a:p>
            <a:pPr marL="285750" indent="-285750" defTabSz="1219170">
              <a:buFont typeface="Arial" panose="020B0604020202020204" pitchFamily="34" charset="0"/>
              <a:buChar char="•"/>
              <a:defRPr/>
            </a:pPr>
            <a:r>
              <a:rPr lang="zh-CN" altLang="en-US" sz="1400" u="sng" kern="0" dirty="0">
                <a:solidFill>
                  <a:schemeClr val="tx1"/>
                </a:solidFill>
                <a:latin typeface="+mj-ea"/>
                <a:ea typeface="+mj-ea"/>
              </a:rPr>
              <a:t>在影响交期承诺的前提下释放资源给优先级低</a:t>
            </a:r>
            <a:r>
              <a:rPr lang="en-US" altLang="zh-CN" sz="1400" u="sng" kern="0" dirty="0">
                <a:solidFill>
                  <a:schemeClr val="tx1"/>
                </a:solidFill>
                <a:latin typeface="+mj-ea"/>
                <a:ea typeface="+mj-ea"/>
              </a:rPr>
              <a:t>/</a:t>
            </a:r>
            <a:r>
              <a:rPr lang="zh-CN" altLang="en-US" sz="1400" u="sng" kern="0" dirty="0">
                <a:solidFill>
                  <a:schemeClr val="tx1"/>
                </a:solidFill>
                <a:latin typeface="+mj-ea"/>
                <a:ea typeface="+mj-ea"/>
              </a:rPr>
              <a:t>新需求</a:t>
            </a:r>
            <a:endParaRPr lang="en-US" altLang="zh-CN" sz="1400" kern="0" dirty="0">
              <a:solidFill>
                <a:schemeClr val="tx1"/>
              </a:solidFill>
              <a:latin typeface="+mj-ea"/>
              <a:ea typeface="+mj-ea"/>
            </a:endParaRPr>
          </a:p>
        </p:txBody>
      </p:sp>
      <p:sp>
        <p:nvSpPr>
          <p:cNvPr id="40" name="圆角矩形标注 51">
            <a:extLst>
              <a:ext uri="{FF2B5EF4-FFF2-40B4-BE49-F238E27FC236}">
                <a16:creationId xmlns:a16="http://schemas.microsoft.com/office/drawing/2014/main" id="{1BC90B40-ED93-BF84-7D13-9AE28C7E267B}"/>
              </a:ext>
            </a:extLst>
          </p:cNvPr>
          <p:cNvSpPr/>
          <p:nvPr/>
        </p:nvSpPr>
        <p:spPr>
          <a:xfrm>
            <a:off x="4064334" y="1699438"/>
            <a:ext cx="1380067" cy="372533"/>
          </a:xfrm>
          <a:prstGeom prst="wedgeRoundRectCallout">
            <a:avLst>
              <a:gd name="adj1" fmla="val 67310"/>
              <a:gd name="adj2" fmla="val 101445"/>
              <a:gd name="adj3" fmla="val 16667"/>
            </a:avLst>
          </a:prstGeom>
          <a:solidFill>
            <a:srgbClr val="00AA48"/>
          </a:solidFill>
          <a:ln/>
        </p:spPr>
        <p:style>
          <a:lnRef idx="1">
            <a:schemeClr val="accent6"/>
          </a:lnRef>
          <a:fillRef idx="2">
            <a:schemeClr val="accent6"/>
          </a:fillRef>
          <a:effectRef idx="1">
            <a:schemeClr val="accent6"/>
          </a:effectRef>
          <a:fontRef idx="minor">
            <a:schemeClr val="dk1"/>
          </a:fontRef>
        </p:style>
        <p:txBody>
          <a:bodyPr lIns="121899" tIns="60949" rIns="121899" bIns="60949" anchor="ctr"/>
          <a:lstStyle/>
          <a:p>
            <a:pPr algn="ctr" defTabSz="1217476" fontAlgn="base">
              <a:spcBef>
                <a:spcPct val="0"/>
              </a:spcBef>
              <a:spcAft>
                <a:spcPct val="0"/>
              </a:spcAft>
              <a:defRPr/>
            </a:pPr>
            <a:r>
              <a:rPr lang="en-US" altLang="zh-CN" sz="1600" dirty="0">
                <a:solidFill>
                  <a:srgbClr val="FFFFFF"/>
                </a:solidFill>
                <a:latin typeface="+mj-ea"/>
                <a:ea typeface="+mj-ea"/>
                <a:cs typeface="微软雅黑" panose="020B0503020204020204" pitchFamily="34" charset="-122"/>
              </a:rPr>
              <a:t>No Later</a:t>
            </a:r>
            <a:endParaRPr lang="zh-CN" altLang="en-US" sz="1600" dirty="0">
              <a:solidFill>
                <a:srgbClr val="FFFFFF"/>
              </a:solidFill>
              <a:latin typeface="+mj-ea"/>
              <a:ea typeface="+mj-ea"/>
              <a:cs typeface="微软雅黑" panose="020B0503020204020204" pitchFamily="34" charset="-122"/>
            </a:endParaRPr>
          </a:p>
        </p:txBody>
      </p:sp>
      <p:sp>
        <p:nvSpPr>
          <p:cNvPr id="41" name="文本框 40">
            <a:extLst>
              <a:ext uri="{FF2B5EF4-FFF2-40B4-BE49-F238E27FC236}">
                <a16:creationId xmlns:a16="http://schemas.microsoft.com/office/drawing/2014/main" id="{7A9545F6-7FB3-4BC3-CD70-A7DD812759C0}"/>
              </a:ext>
            </a:extLst>
          </p:cNvPr>
          <p:cNvSpPr txBox="1"/>
          <p:nvPr/>
        </p:nvSpPr>
        <p:spPr>
          <a:xfrm>
            <a:off x="10029111" y="3388840"/>
            <a:ext cx="1302564" cy="338554"/>
          </a:xfrm>
          <a:prstGeom prst="rect">
            <a:avLst/>
          </a:prstGeom>
          <a:noFill/>
        </p:spPr>
        <p:txBody>
          <a:bodyPr wrap="square" rtlCol="0">
            <a:spAutoFit/>
          </a:bodyPr>
          <a:lstStyle>
            <a:defPPr>
              <a:defRPr lang="zh-CN"/>
            </a:defPPr>
            <a:lvl1pPr marL="0" lvl="0"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1pPr>
            <a:lvl2pPr marL="457200" lvl="1"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2pPr>
            <a:lvl3pPr marL="914400" lvl="2"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3pPr>
            <a:lvl4pPr marL="1371600" lvl="3"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4pPr>
            <a:lvl5pPr marL="1828800" lvl="4"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5pPr>
            <a:lvl6pPr marL="2286000" lvl="5"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6pPr>
            <a:lvl7pPr marL="2743200" lvl="6"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7pPr>
            <a:lvl8pPr marL="3200400" lvl="7"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8pPr>
            <a:lvl9pPr marL="3657600" lvl="8"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9pPr>
          </a:lstStyle>
          <a:p>
            <a:r>
              <a:rPr lang="zh-CN" altLang="en-US" sz="1600" dirty="0">
                <a:solidFill>
                  <a:schemeClr val="tx2">
                    <a:lumMod val="60000"/>
                    <a:lumOff val="40000"/>
                  </a:schemeClr>
                </a:solidFill>
                <a:latin typeface="+mj-ea"/>
                <a:ea typeface="+mj-ea"/>
              </a:rPr>
              <a:t>需求日期</a:t>
            </a:r>
          </a:p>
        </p:txBody>
      </p:sp>
      <p:sp>
        <p:nvSpPr>
          <p:cNvPr id="3" name="文本框 2">
            <a:extLst>
              <a:ext uri="{FF2B5EF4-FFF2-40B4-BE49-F238E27FC236}">
                <a16:creationId xmlns:a16="http://schemas.microsoft.com/office/drawing/2014/main" id="{FF44EEAC-52B2-1E8E-D247-FD27C570554E}"/>
              </a:ext>
            </a:extLst>
          </p:cNvPr>
          <p:cNvSpPr txBox="1"/>
          <p:nvPr/>
        </p:nvSpPr>
        <p:spPr>
          <a:xfrm>
            <a:off x="158195" y="1373436"/>
            <a:ext cx="1104156" cy="369332"/>
          </a:xfrm>
          <a:prstGeom prst="rect">
            <a:avLst/>
          </a:prstGeom>
          <a:noFill/>
        </p:spPr>
        <p:txBody>
          <a:bodyPr wrap="square" rtlCol="0">
            <a:spAutoFit/>
          </a:bodyPr>
          <a:lstStyle/>
          <a:p>
            <a:r>
              <a:rPr lang="en-US" altLang="zh-CN" dirty="0">
                <a:latin typeface="+mj-ea"/>
                <a:ea typeface="+mj-ea"/>
              </a:rPr>
              <a:t>1</a:t>
            </a:r>
            <a:r>
              <a:rPr lang="en-US" altLang="zh-CN" baseline="30000" dirty="0">
                <a:latin typeface="+mj-ea"/>
                <a:ea typeface="+mj-ea"/>
              </a:rPr>
              <a:t>st</a:t>
            </a:r>
            <a:r>
              <a:rPr lang="en-US" altLang="zh-CN" dirty="0">
                <a:latin typeface="+mj-ea"/>
                <a:ea typeface="+mj-ea"/>
              </a:rPr>
              <a:t> RUN</a:t>
            </a:r>
            <a:endParaRPr lang="zh-CN" altLang="en-US" dirty="0">
              <a:latin typeface="+mj-ea"/>
              <a:ea typeface="+mj-ea"/>
            </a:endParaRPr>
          </a:p>
        </p:txBody>
      </p:sp>
      <p:sp>
        <p:nvSpPr>
          <p:cNvPr id="42" name="文本框 1">
            <a:extLst>
              <a:ext uri="{FF2B5EF4-FFF2-40B4-BE49-F238E27FC236}">
                <a16:creationId xmlns:a16="http://schemas.microsoft.com/office/drawing/2014/main" id="{41E56AF8-E1A9-C16B-4C14-5AA9327A3AD8}"/>
              </a:ext>
            </a:extLst>
          </p:cNvPr>
          <p:cNvSpPr txBox="1"/>
          <p:nvPr/>
        </p:nvSpPr>
        <p:spPr>
          <a:xfrm>
            <a:off x="1153584" y="941918"/>
            <a:ext cx="1589616"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latin typeface="+mj-ea"/>
                <a:ea typeface="+mj-ea"/>
                <a:cs typeface="Arial" panose="020B0604020202020204" pitchFamily="34" charset="0"/>
              </a:rPr>
              <a:t>第</a:t>
            </a:r>
            <a:r>
              <a:rPr lang="en-US" altLang="zh-CN" sz="1733" b="1" dirty="0">
                <a:latin typeface="+mj-ea"/>
                <a:ea typeface="+mj-ea"/>
                <a:cs typeface="Arial" panose="020B0604020202020204" pitchFamily="34" charset="0"/>
              </a:rPr>
              <a:t>1</a:t>
            </a:r>
            <a:r>
              <a:rPr lang="zh-CN" altLang="en-US" sz="1733" b="1" dirty="0">
                <a:latin typeface="+mj-ea"/>
                <a:ea typeface="+mj-ea"/>
                <a:cs typeface="Arial" panose="020B0604020202020204" pitchFamily="34" charset="0"/>
              </a:rPr>
              <a:t>天</a:t>
            </a:r>
            <a:endParaRPr lang="zh-CN" altLang="en-US" sz="1733" b="1" dirty="0">
              <a:latin typeface="+mj-ea"/>
              <a:ea typeface="+mj-ea"/>
            </a:endParaRPr>
          </a:p>
        </p:txBody>
      </p:sp>
      <p:sp>
        <p:nvSpPr>
          <p:cNvPr id="43" name="文本框 1">
            <a:extLst>
              <a:ext uri="{FF2B5EF4-FFF2-40B4-BE49-F238E27FC236}">
                <a16:creationId xmlns:a16="http://schemas.microsoft.com/office/drawing/2014/main" id="{264BDAF5-A6A1-30BE-1DB6-D8ED2FA8ADB0}"/>
              </a:ext>
            </a:extLst>
          </p:cNvPr>
          <p:cNvSpPr txBox="1"/>
          <p:nvPr/>
        </p:nvSpPr>
        <p:spPr>
          <a:xfrm>
            <a:off x="2580005" y="941917"/>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latin typeface="+mj-ea"/>
                <a:ea typeface="+mj-ea"/>
                <a:cs typeface="Arial" panose="020B0604020202020204" pitchFamily="34" charset="0"/>
              </a:rPr>
              <a:t>第</a:t>
            </a:r>
            <a:r>
              <a:rPr lang="en-US" altLang="zh-CN" sz="1733" b="1" dirty="0">
                <a:latin typeface="+mj-ea"/>
                <a:ea typeface="+mj-ea"/>
                <a:cs typeface="Arial" panose="020B0604020202020204" pitchFamily="34" charset="0"/>
              </a:rPr>
              <a:t>2</a:t>
            </a:r>
            <a:r>
              <a:rPr lang="zh-CN" altLang="en-US" sz="1733" b="1" dirty="0">
                <a:latin typeface="+mj-ea"/>
                <a:ea typeface="+mj-ea"/>
                <a:cs typeface="Arial" panose="020B0604020202020204" pitchFamily="34" charset="0"/>
              </a:rPr>
              <a:t>天</a:t>
            </a:r>
            <a:endParaRPr lang="zh-CN" altLang="en-US" sz="1733" b="1" dirty="0">
              <a:latin typeface="+mj-ea"/>
              <a:ea typeface="+mj-ea"/>
            </a:endParaRPr>
          </a:p>
        </p:txBody>
      </p:sp>
      <p:sp>
        <p:nvSpPr>
          <p:cNvPr id="44" name="文本框 1">
            <a:extLst>
              <a:ext uri="{FF2B5EF4-FFF2-40B4-BE49-F238E27FC236}">
                <a16:creationId xmlns:a16="http://schemas.microsoft.com/office/drawing/2014/main" id="{FE6B8CFB-91FA-CDD7-E621-2362B9FDC979}"/>
              </a:ext>
            </a:extLst>
          </p:cNvPr>
          <p:cNvSpPr txBox="1"/>
          <p:nvPr/>
        </p:nvSpPr>
        <p:spPr>
          <a:xfrm>
            <a:off x="5556251" y="937685"/>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latin typeface="+mj-ea"/>
                <a:ea typeface="+mj-ea"/>
                <a:cs typeface="Arial" panose="020B0604020202020204" pitchFamily="34" charset="0"/>
              </a:rPr>
              <a:t>第</a:t>
            </a:r>
            <a:r>
              <a:rPr lang="en-US" altLang="zh-CN" sz="1733" b="1" dirty="0">
                <a:latin typeface="+mj-ea"/>
                <a:ea typeface="+mj-ea"/>
                <a:cs typeface="Arial" panose="020B0604020202020204" pitchFamily="34" charset="0"/>
              </a:rPr>
              <a:t>4</a:t>
            </a:r>
            <a:r>
              <a:rPr lang="zh-CN" altLang="en-US" sz="1733" b="1" dirty="0">
                <a:latin typeface="+mj-ea"/>
                <a:ea typeface="+mj-ea"/>
                <a:cs typeface="Arial" panose="020B0604020202020204" pitchFamily="34" charset="0"/>
              </a:rPr>
              <a:t>天</a:t>
            </a:r>
            <a:endParaRPr lang="zh-CN" altLang="en-US" sz="1733" b="1" dirty="0">
              <a:latin typeface="+mj-ea"/>
              <a:ea typeface="+mj-ea"/>
            </a:endParaRPr>
          </a:p>
        </p:txBody>
      </p:sp>
      <p:sp>
        <p:nvSpPr>
          <p:cNvPr id="45" name="文本框 1">
            <a:extLst>
              <a:ext uri="{FF2B5EF4-FFF2-40B4-BE49-F238E27FC236}">
                <a16:creationId xmlns:a16="http://schemas.microsoft.com/office/drawing/2014/main" id="{03C57F77-31C2-5FF3-5653-AC74661CC9EC}"/>
              </a:ext>
            </a:extLst>
          </p:cNvPr>
          <p:cNvSpPr txBox="1"/>
          <p:nvPr/>
        </p:nvSpPr>
        <p:spPr>
          <a:xfrm>
            <a:off x="7001934" y="941918"/>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latin typeface="+mj-ea"/>
                <a:ea typeface="+mj-ea"/>
                <a:cs typeface="Arial" panose="020B0604020202020204" pitchFamily="34" charset="0"/>
              </a:rPr>
              <a:t>第</a:t>
            </a:r>
            <a:r>
              <a:rPr lang="en-US" altLang="zh-CN" sz="1733" b="1" dirty="0">
                <a:latin typeface="+mj-ea"/>
                <a:ea typeface="+mj-ea"/>
                <a:cs typeface="Arial" panose="020B0604020202020204" pitchFamily="34" charset="0"/>
              </a:rPr>
              <a:t>5</a:t>
            </a:r>
            <a:r>
              <a:rPr lang="zh-CN" altLang="en-US" sz="1733" b="1" dirty="0">
                <a:latin typeface="+mj-ea"/>
                <a:ea typeface="+mj-ea"/>
                <a:cs typeface="Arial" panose="020B0604020202020204" pitchFamily="34" charset="0"/>
              </a:rPr>
              <a:t>天</a:t>
            </a:r>
            <a:endParaRPr lang="zh-CN" altLang="en-US" sz="1733" b="1" dirty="0">
              <a:latin typeface="+mj-ea"/>
              <a:ea typeface="+mj-ea"/>
            </a:endParaRPr>
          </a:p>
        </p:txBody>
      </p:sp>
      <p:sp>
        <p:nvSpPr>
          <p:cNvPr id="46" name="文本框 1">
            <a:extLst>
              <a:ext uri="{FF2B5EF4-FFF2-40B4-BE49-F238E27FC236}">
                <a16:creationId xmlns:a16="http://schemas.microsoft.com/office/drawing/2014/main" id="{AA31CF59-28BC-C73F-348F-DFA476365D8D}"/>
              </a:ext>
            </a:extLst>
          </p:cNvPr>
          <p:cNvSpPr txBox="1"/>
          <p:nvPr/>
        </p:nvSpPr>
        <p:spPr>
          <a:xfrm>
            <a:off x="4076025" y="941916"/>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latin typeface="+mj-ea"/>
                <a:ea typeface="+mj-ea"/>
                <a:cs typeface="Arial" panose="020B0604020202020204" pitchFamily="34" charset="0"/>
              </a:rPr>
              <a:t>第</a:t>
            </a:r>
            <a:r>
              <a:rPr lang="en-US" altLang="zh-CN" sz="1733" b="1" dirty="0">
                <a:latin typeface="+mj-ea"/>
                <a:ea typeface="+mj-ea"/>
                <a:cs typeface="Arial" panose="020B0604020202020204" pitchFamily="34" charset="0"/>
              </a:rPr>
              <a:t>3</a:t>
            </a:r>
            <a:r>
              <a:rPr lang="zh-CN" altLang="en-US" sz="1733" b="1" dirty="0">
                <a:latin typeface="+mj-ea"/>
                <a:ea typeface="+mj-ea"/>
                <a:cs typeface="Arial" panose="020B0604020202020204" pitchFamily="34" charset="0"/>
              </a:rPr>
              <a:t>天</a:t>
            </a:r>
            <a:endParaRPr lang="zh-CN" altLang="en-US" sz="1733" b="1" dirty="0">
              <a:latin typeface="+mj-ea"/>
              <a:ea typeface="+mj-ea"/>
            </a:endParaRPr>
          </a:p>
        </p:txBody>
      </p:sp>
      <p:sp>
        <p:nvSpPr>
          <p:cNvPr id="47" name="圆角矩形 15">
            <a:extLst>
              <a:ext uri="{FF2B5EF4-FFF2-40B4-BE49-F238E27FC236}">
                <a16:creationId xmlns:a16="http://schemas.microsoft.com/office/drawing/2014/main" id="{08334DD6-520E-62A4-AF0F-21D4D4A34603}"/>
              </a:ext>
            </a:extLst>
          </p:cNvPr>
          <p:cNvSpPr/>
          <p:nvPr/>
        </p:nvSpPr>
        <p:spPr>
          <a:xfrm>
            <a:off x="8406585" y="1361018"/>
            <a:ext cx="3119967" cy="2061633"/>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defTabSz="1219170">
              <a:defRPr/>
            </a:pPr>
            <a:r>
              <a:rPr lang="en-US" altLang="zh-CN" sz="1400" dirty="0">
                <a:solidFill>
                  <a:schemeClr val="tx1"/>
                </a:solidFill>
                <a:latin typeface="+mj-ea"/>
                <a:ea typeface="+mj-ea"/>
                <a:cs typeface="Arial Unicode MS" panose="020B0604020202020204" pitchFamily="34" charset="-122"/>
              </a:rPr>
              <a:t>IPS</a:t>
            </a:r>
            <a:r>
              <a:rPr lang="zh-CN" altLang="en-US" sz="1400" dirty="0">
                <a:solidFill>
                  <a:schemeClr val="tx1"/>
                </a:solidFill>
                <a:latin typeface="+mj-ea"/>
                <a:ea typeface="+mj-ea"/>
                <a:cs typeface="Arial Unicode MS" panose="020B0604020202020204" pitchFamily="34" charset="-122"/>
              </a:rPr>
              <a:t>升级</a:t>
            </a:r>
            <a:endParaRPr lang="en-US" altLang="zh-CN" sz="1400" dirty="0">
              <a:solidFill>
                <a:schemeClr val="tx1"/>
              </a:solidFill>
              <a:latin typeface="+mj-ea"/>
              <a:ea typeface="+mj-ea"/>
              <a:cs typeface="Arial Unicode MS" panose="020B0604020202020204" pitchFamily="34" charset="-122"/>
            </a:endParaRPr>
          </a:p>
          <a:p>
            <a:pPr marL="342891" indent="-342891" defTabSz="1219170">
              <a:buFont typeface="Arial" panose="020B0604020202020204" pitchFamily="34" charset="0"/>
              <a:buChar char="•"/>
              <a:defRPr/>
            </a:pPr>
            <a:r>
              <a:rPr lang="zh-CN" altLang="en-US" sz="1400" dirty="0">
                <a:solidFill>
                  <a:schemeClr val="tx1"/>
                </a:solidFill>
                <a:latin typeface="+mj-ea"/>
                <a:ea typeface="+mj-ea"/>
                <a:cs typeface="Arial Unicode MS" panose="020B0604020202020204" pitchFamily="34" charset="-122"/>
              </a:rPr>
              <a:t>需求</a:t>
            </a:r>
            <a:r>
              <a:rPr lang="en-US" altLang="zh-CN" sz="1400" dirty="0">
                <a:solidFill>
                  <a:schemeClr val="tx1"/>
                </a:solidFill>
                <a:latin typeface="+mj-ea"/>
                <a:ea typeface="+mj-ea"/>
                <a:cs typeface="Arial Unicode MS" panose="020B0604020202020204" pitchFamily="34" charset="-122"/>
              </a:rPr>
              <a:t>2</a:t>
            </a:r>
            <a:r>
              <a:rPr lang="zh-CN" altLang="en-US" sz="1400" dirty="0">
                <a:solidFill>
                  <a:schemeClr val="tx1"/>
                </a:solidFill>
                <a:latin typeface="+mj-ea"/>
                <a:ea typeface="+mj-ea"/>
                <a:cs typeface="Arial Unicode MS" panose="020B0604020202020204" pitchFamily="34" charset="-122"/>
              </a:rPr>
              <a:t>按照优先级软分配物料和资源</a:t>
            </a:r>
            <a:endParaRPr lang="en-US" altLang="zh-CN" sz="1400" dirty="0">
              <a:solidFill>
                <a:schemeClr val="tx1"/>
              </a:solidFill>
              <a:latin typeface="+mj-ea"/>
              <a:ea typeface="+mj-ea"/>
              <a:cs typeface="Arial Unicode MS" panose="020B0604020202020204" pitchFamily="34" charset="-122"/>
            </a:endParaRPr>
          </a:p>
          <a:p>
            <a:pPr marL="342891" indent="-342891" defTabSz="1219170">
              <a:buFont typeface="Arial" panose="020B0604020202020204" pitchFamily="34" charset="0"/>
              <a:buChar char="•"/>
              <a:defRPr/>
            </a:pPr>
            <a:r>
              <a:rPr lang="zh-CN" altLang="en-US" sz="1400" dirty="0">
                <a:solidFill>
                  <a:schemeClr val="tx1"/>
                </a:solidFill>
                <a:latin typeface="+mj-ea"/>
                <a:ea typeface="+mj-ea"/>
                <a:cs typeface="Arial Unicode MS" panose="020B0604020202020204" pitchFamily="34" charset="-122"/>
              </a:rPr>
              <a:t>在影响需求</a:t>
            </a:r>
            <a:r>
              <a:rPr lang="en-US" altLang="zh-CN" sz="1400" dirty="0">
                <a:solidFill>
                  <a:schemeClr val="tx1"/>
                </a:solidFill>
                <a:latin typeface="+mj-ea"/>
                <a:ea typeface="+mj-ea"/>
                <a:cs typeface="Arial Unicode MS" panose="020B0604020202020204" pitchFamily="34" charset="-122"/>
              </a:rPr>
              <a:t>2</a:t>
            </a:r>
            <a:r>
              <a:rPr lang="zh-CN" altLang="en-US" sz="1400" dirty="0">
                <a:solidFill>
                  <a:schemeClr val="tx1"/>
                </a:solidFill>
                <a:latin typeface="+mj-ea"/>
                <a:ea typeface="+mj-ea"/>
                <a:cs typeface="Arial Unicode MS" panose="020B0604020202020204" pitchFamily="34" charset="-122"/>
              </a:rPr>
              <a:t>的交期承诺前提下，释放</a:t>
            </a:r>
            <a:r>
              <a:rPr lang="en-US" altLang="zh-CN" sz="1400" dirty="0">
                <a:solidFill>
                  <a:schemeClr val="tx1"/>
                </a:solidFill>
                <a:latin typeface="+mj-ea"/>
                <a:ea typeface="+mj-ea"/>
                <a:cs typeface="Arial Unicode MS" panose="020B0604020202020204" pitchFamily="34" charset="-122"/>
              </a:rPr>
              <a:t>A </a:t>
            </a:r>
            <a:r>
              <a:rPr lang="zh-CN" altLang="en-US" sz="1400" dirty="0">
                <a:solidFill>
                  <a:schemeClr val="tx1"/>
                </a:solidFill>
                <a:latin typeface="+mj-ea"/>
                <a:ea typeface="+mj-ea"/>
                <a:cs typeface="Arial Unicode MS" panose="020B0604020202020204" pitchFamily="34" charset="-122"/>
              </a:rPr>
              <a:t>给需求</a:t>
            </a:r>
            <a:r>
              <a:rPr lang="en-US" altLang="zh-CN" sz="1400" dirty="0">
                <a:solidFill>
                  <a:schemeClr val="tx1"/>
                </a:solidFill>
                <a:latin typeface="+mj-ea"/>
                <a:ea typeface="+mj-ea"/>
                <a:cs typeface="Arial Unicode MS" panose="020B0604020202020204" pitchFamily="34" charset="-122"/>
              </a:rPr>
              <a:t>1</a:t>
            </a:r>
          </a:p>
        </p:txBody>
      </p:sp>
      <p:sp>
        <p:nvSpPr>
          <p:cNvPr id="49" name="TextBox 30">
            <a:extLst>
              <a:ext uri="{FF2B5EF4-FFF2-40B4-BE49-F238E27FC236}">
                <a16:creationId xmlns:a16="http://schemas.microsoft.com/office/drawing/2014/main" id="{00E8C12F-2FA2-0023-370A-DF04A103602A}"/>
              </a:ext>
            </a:extLst>
          </p:cNvPr>
          <p:cNvSpPr txBox="1"/>
          <p:nvPr/>
        </p:nvSpPr>
        <p:spPr>
          <a:xfrm>
            <a:off x="991435" y="5444067"/>
            <a:ext cx="4497507" cy="1354195"/>
          </a:xfrm>
          <a:prstGeom prst="rect">
            <a:avLst/>
          </a:prstGeom>
          <a:no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Font typeface="Arial" panose="020B0604020202020204" pitchFamily="34" charset="0"/>
              <a:buNone/>
            </a:pPr>
            <a:r>
              <a:rPr lang="zh-CN" altLang="en-US" sz="1600" b="1" dirty="0">
                <a:solidFill>
                  <a:srgbClr val="FFFFFF"/>
                </a:solidFill>
                <a:latin typeface="微软雅黑" panose="020B0503020204020204" pitchFamily="34" charset="-122"/>
                <a:ea typeface="微软雅黑" panose="020B0503020204020204" pitchFamily="34" charset="-122"/>
              </a:rPr>
              <a:t>场景</a:t>
            </a:r>
            <a:r>
              <a:rPr lang="en-US" altLang="zh-CN" sz="1600" b="1" dirty="0">
                <a:solidFill>
                  <a:srgbClr val="FFFFFF"/>
                </a:solidFill>
                <a:latin typeface="微软雅黑" panose="020B0503020204020204" pitchFamily="34" charset="-122"/>
                <a:ea typeface="微软雅黑" panose="020B0503020204020204" pitchFamily="34" charset="-122"/>
              </a:rPr>
              <a:t>:</a:t>
            </a:r>
          </a:p>
          <a:p>
            <a:pPr marL="0" indent="0" defTabSz="1217476" eaLnBrk="1" hangingPunct="1">
              <a:spcBef>
                <a:spcPct val="0"/>
              </a:spcBef>
            </a:pPr>
            <a:r>
              <a:rPr lang="zh-CN" altLang="en-US" sz="1600" dirty="0">
                <a:solidFill>
                  <a:srgbClr val="FFFFFF"/>
                </a:solidFill>
                <a:latin typeface="微软雅黑" panose="020B0503020204020204" pitchFamily="34" charset="-122"/>
                <a:ea typeface="微软雅黑" panose="020B0503020204020204" pitchFamily="34" charset="-122"/>
              </a:rPr>
              <a:t>需求</a:t>
            </a:r>
            <a:r>
              <a:rPr lang="en-US" altLang="zh-CN" sz="1600" dirty="0">
                <a:solidFill>
                  <a:srgbClr val="FFFFFF"/>
                </a:solidFill>
                <a:latin typeface="微软雅黑" panose="020B0503020204020204" pitchFamily="34" charset="-122"/>
                <a:ea typeface="微软雅黑" panose="020B0503020204020204" pitchFamily="34" charset="-122"/>
              </a:rPr>
              <a:t>1</a:t>
            </a:r>
            <a:r>
              <a:rPr lang="zh-CN" altLang="en-US" sz="1600" dirty="0">
                <a:solidFill>
                  <a:srgbClr val="FFFFFF"/>
                </a:solidFill>
                <a:latin typeface="微软雅黑" panose="020B0503020204020204" pitchFamily="34" charset="-122"/>
                <a:ea typeface="微软雅黑" panose="020B0503020204020204" pitchFamily="34" charset="-122"/>
              </a:rPr>
              <a:t>由</a:t>
            </a:r>
            <a:r>
              <a:rPr lang="en-US" altLang="zh-CN" sz="1600" dirty="0">
                <a:solidFill>
                  <a:srgbClr val="FFFFFF"/>
                </a:solidFill>
                <a:latin typeface="微软雅黑" panose="020B0503020204020204" pitchFamily="34" charset="-122"/>
                <a:ea typeface="微软雅黑" panose="020B0503020204020204" pitchFamily="34" charset="-122"/>
              </a:rPr>
              <a:t>A</a:t>
            </a:r>
            <a:r>
              <a:rPr lang="zh-CN" altLang="en-US" sz="1600" dirty="0">
                <a:solidFill>
                  <a:srgbClr val="FFFFFF"/>
                </a:solidFill>
                <a:latin typeface="微软雅黑" panose="020B0503020204020204" pitchFamily="34" charset="-122"/>
                <a:ea typeface="微软雅黑" panose="020B0503020204020204" pitchFamily="34" charset="-122"/>
              </a:rPr>
              <a:t>和</a:t>
            </a:r>
            <a:r>
              <a:rPr lang="en-US" altLang="zh-CN" sz="1600" dirty="0">
                <a:solidFill>
                  <a:srgbClr val="FFFFFF"/>
                </a:solidFill>
                <a:latin typeface="微软雅黑" panose="020B0503020204020204" pitchFamily="34" charset="-122"/>
                <a:ea typeface="微软雅黑" panose="020B0503020204020204" pitchFamily="34" charset="-122"/>
              </a:rPr>
              <a:t>B</a:t>
            </a:r>
            <a:r>
              <a:rPr lang="zh-CN" altLang="en-US" sz="1600" dirty="0">
                <a:solidFill>
                  <a:srgbClr val="FFFFFF"/>
                </a:solidFill>
                <a:latin typeface="微软雅黑" panose="020B0503020204020204" pitchFamily="34" charset="-122"/>
                <a:ea typeface="微软雅黑" panose="020B0503020204020204" pitchFamily="34" charset="-122"/>
              </a:rPr>
              <a:t>生产</a:t>
            </a:r>
            <a:endParaRPr lang="en-US" altLang="zh-CN" sz="1600" dirty="0">
              <a:solidFill>
                <a:srgbClr val="FFFFFF"/>
              </a:solidFill>
              <a:latin typeface="微软雅黑" panose="020B0503020204020204" pitchFamily="34" charset="-122"/>
              <a:ea typeface="微软雅黑" panose="020B0503020204020204" pitchFamily="34" charset="-122"/>
            </a:endParaRPr>
          </a:p>
          <a:p>
            <a:pPr marL="0" indent="0" defTabSz="1217476" eaLnBrk="1" hangingPunct="1">
              <a:spcBef>
                <a:spcPct val="0"/>
              </a:spcBef>
            </a:pPr>
            <a:r>
              <a:rPr lang="zh-CN" altLang="en-US" sz="1600" dirty="0">
                <a:solidFill>
                  <a:srgbClr val="FFFFFF"/>
                </a:solidFill>
                <a:latin typeface="微软雅黑" panose="020B0503020204020204" pitchFamily="34" charset="-122"/>
                <a:ea typeface="微软雅黑" panose="020B0503020204020204" pitchFamily="34" charset="-122"/>
              </a:rPr>
              <a:t>需求</a:t>
            </a:r>
            <a:r>
              <a:rPr lang="en-US" altLang="zh-CN" sz="1600" dirty="0">
                <a:solidFill>
                  <a:srgbClr val="FFFFFF"/>
                </a:solidFill>
                <a:latin typeface="微软雅黑" panose="020B0503020204020204" pitchFamily="34" charset="-122"/>
                <a:ea typeface="微软雅黑" panose="020B0503020204020204" pitchFamily="34" charset="-122"/>
              </a:rPr>
              <a:t>2</a:t>
            </a:r>
            <a:r>
              <a:rPr lang="zh-CN" altLang="en-US" sz="1600" dirty="0">
                <a:solidFill>
                  <a:srgbClr val="FFFFFF"/>
                </a:solidFill>
                <a:latin typeface="微软雅黑" panose="020B0503020204020204" pitchFamily="34" charset="-122"/>
                <a:ea typeface="微软雅黑" panose="020B0503020204020204" pitchFamily="34" charset="-122"/>
              </a:rPr>
              <a:t>由</a:t>
            </a:r>
            <a:r>
              <a:rPr lang="en-US" altLang="zh-CN" sz="1600" dirty="0">
                <a:solidFill>
                  <a:srgbClr val="FFFFFF"/>
                </a:solidFill>
                <a:latin typeface="微软雅黑" panose="020B0503020204020204" pitchFamily="34" charset="-122"/>
                <a:ea typeface="微软雅黑" panose="020B0503020204020204" pitchFamily="34" charset="-122"/>
              </a:rPr>
              <a:t>A</a:t>
            </a:r>
            <a:r>
              <a:rPr lang="zh-CN" altLang="en-US" sz="1600" dirty="0">
                <a:solidFill>
                  <a:srgbClr val="FFFFFF"/>
                </a:solidFill>
                <a:latin typeface="微软雅黑" panose="020B0503020204020204" pitchFamily="34" charset="-122"/>
                <a:ea typeface="微软雅黑" panose="020B0503020204020204" pitchFamily="34" charset="-122"/>
              </a:rPr>
              <a:t>和</a:t>
            </a:r>
            <a:r>
              <a:rPr lang="en-US" altLang="zh-CN" sz="1600" dirty="0">
                <a:solidFill>
                  <a:srgbClr val="FFFFFF"/>
                </a:solidFill>
                <a:latin typeface="微软雅黑" panose="020B0503020204020204" pitchFamily="34" charset="-122"/>
                <a:ea typeface="微软雅黑" panose="020B0503020204020204" pitchFamily="34" charset="-122"/>
              </a:rPr>
              <a:t>C</a:t>
            </a:r>
            <a:r>
              <a:rPr lang="zh-CN" altLang="en-US" sz="1600" dirty="0">
                <a:solidFill>
                  <a:srgbClr val="FFFFFF"/>
                </a:solidFill>
                <a:latin typeface="微软雅黑" panose="020B0503020204020204" pitchFamily="34" charset="-122"/>
                <a:ea typeface="微软雅黑" panose="020B0503020204020204" pitchFamily="34" charset="-122"/>
              </a:rPr>
              <a:t>生产</a:t>
            </a:r>
            <a:endParaRPr lang="en-US" altLang="zh-CN" sz="1600" dirty="0">
              <a:solidFill>
                <a:srgbClr val="FFFFFF"/>
              </a:solidFill>
              <a:latin typeface="微软雅黑" panose="020B0503020204020204" pitchFamily="34" charset="-122"/>
              <a:ea typeface="微软雅黑" panose="020B0503020204020204" pitchFamily="34" charset="-122"/>
            </a:endParaRPr>
          </a:p>
          <a:p>
            <a:pPr marL="0" indent="0" defTabSz="1217476" eaLnBrk="1" hangingPunct="1">
              <a:spcBef>
                <a:spcPct val="0"/>
              </a:spcBef>
            </a:pPr>
            <a:r>
              <a:rPr lang="zh-CN" altLang="en-US" sz="1600" dirty="0">
                <a:solidFill>
                  <a:srgbClr val="FFFFFF"/>
                </a:solidFill>
                <a:latin typeface="微软雅黑" panose="020B0503020204020204" pitchFamily="34" charset="-122"/>
                <a:ea typeface="微软雅黑" panose="020B0503020204020204" pitchFamily="34" charset="-122"/>
              </a:rPr>
              <a:t>需求</a:t>
            </a:r>
            <a:r>
              <a:rPr lang="en-US" altLang="zh-CN" sz="1600" dirty="0">
                <a:solidFill>
                  <a:srgbClr val="FFFFFF"/>
                </a:solidFill>
                <a:latin typeface="微软雅黑" panose="020B0503020204020204" pitchFamily="34" charset="-122"/>
                <a:ea typeface="微软雅黑" panose="020B0503020204020204" pitchFamily="34" charset="-122"/>
              </a:rPr>
              <a:t>2</a:t>
            </a:r>
            <a:r>
              <a:rPr lang="zh-CN" altLang="en-US" sz="1600" dirty="0">
                <a:solidFill>
                  <a:srgbClr val="FFFFFF"/>
                </a:solidFill>
                <a:latin typeface="微软雅黑" panose="020B0503020204020204" pitchFamily="34" charset="-122"/>
                <a:ea typeface="微软雅黑" panose="020B0503020204020204" pitchFamily="34" charset="-122"/>
              </a:rPr>
              <a:t>的优先级高于需求</a:t>
            </a:r>
            <a:r>
              <a:rPr lang="en-US" altLang="zh-CN" sz="1600" dirty="0">
                <a:solidFill>
                  <a:srgbClr val="FFFFFF"/>
                </a:solidFill>
                <a:latin typeface="微软雅黑" panose="020B0503020204020204" pitchFamily="34" charset="-122"/>
                <a:ea typeface="微软雅黑" panose="020B0503020204020204" pitchFamily="34" charset="-122"/>
              </a:rPr>
              <a:t>1</a:t>
            </a:r>
          </a:p>
          <a:p>
            <a:pPr marL="0" indent="0" defTabSz="1217476" eaLnBrk="1" hangingPunct="1">
              <a:spcBef>
                <a:spcPct val="0"/>
              </a:spcBef>
            </a:pPr>
            <a:r>
              <a:rPr lang="zh-CN" altLang="en-US" sz="1600" dirty="0">
                <a:solidFill>
                  <a:srgbClr val="FFFFFF"/>
                </a:solidFill>
                <a:latin typeface="微软雅黑" panose="020B0503020204020204" pitchFamily="34" charset="-122"/>
                <a:ea typeface="微软雅黑" panose="020B0503020204020204" pitchFamily="34" charset="-122"/>
              </a:rPr>
              <a:t>库存</a:t>
            </a:r>
            <a:r>
              <a:rPr lang="en-US" altLang="zh-CN" sz="1600" dirty="0">
                <a:solidFill>
                  <a:srgbClr val="FFFFFF"/>
                </a:solidFill>
                <a:latin typeface="微软雅黑" panose="020B0503020204020204" pitchFamily="34" charset="-122"/>
                <a:ea typeface="微软雅黑" panose="020B0503020204020204" pitchFamily="34" charset="-122"/>
              </a:rPr>
              <a:t>A</a:t>
            </a:r>
            <a:r>
              <a:rPr lang="zh-CN" altLang="en-US" sz="1600" dirty="0">
                <a:solidFill>
                  <a:srgbClr val="FFFFFF"/>
                </a:solidFill>
                <a:latin typeface="微软雅黑" panose="020B0503020204020204" pitchFamily="34" charset="-122"/>
                <a:ea typeface="微软雅黑" panose="020B0503020204020204" pitchFamily="34" charset="-122"/>
              </a:rPr>
              <a:t>只能满足其中一笔需求，库存</a:t>
            </a:r>
            <a:r>
              <a:rPr lang="en-US" altLang="zh-CN" sz="1600" dirty="0">
                <a:solidFill>
                  <a:srgbClr val="FFFFFF"/>
                </a:solidFill>
                <a:latin typeface="微软雅黑" panose="020B0503020204020204" pitchFamily="34" charset="-122"/>
                <a:ea typeface="微软雅黑" panose="020B0503020204020204" pitchFamily="34" charset="-122"/>
              </a:rPr>
              <a:t>B</a:t>
            </a:r>
            <a:r>
              <a:rPr lang="zh-CN" altLang="en-US" sz="1600" dirty="0">
                <a:solidFill>
                  <a:srgbClr val="FFFFFF"/>
                </a:solidFill>
                <a:latin typeface="微软雅黑" panose="020B0503020204020204" pitchFamily="34" charset="-122"/>
                <a:ea typeface="微软雅黑" panose="020B0503020204020204" pitchFamily="34" charset="-122"/>
              </a:rPr>
              <a:t>足够</a:t>
            </a:r>
            <a:endParaRPr lang="en-US" altLang="zh-CN" sz="1600" dirty="0">
              <a:solidFill>
                <a:srgbClr val="FFFFFF"/>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61328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childTnLst>
                    </p:cTn>
                  </p:par>
                  <p:par>
                    <p:cTn id="16" fill="hold">
                      <p:stCondLst>
                        <p:cond delay="indefinite"/>
                      </p:stCondLst>
                      <p:childTnLst>
                        <p:par>
                          <p:cTn id="17" fill="hold">
                            <p:stCondLst>
                              <p:cond delay="0"/>
                            </p:stCondLst>
                            <p:childTnLst>
                              <p:par>
                                <p:cTn id="18" presetID="23" presetClass="entr" presetSubtype="16" fill="hold" nodeType="clickEffect">
                                  <p:stCondLst>
                                    <p:cond delay="0"/>
                                  </p:stCondLst>
                                  <p:childTnLst>
                                    <p:set>
                                      <p:cBhvr>
                                        <p:cTn id="19" dur="1" fill="hold">
                                          <p:stCondLst>
                                            <p:cond delay="0"/>
                                          </p:stCondLst>
                                        </p:cTn>
                                        <p:tgtEl>
                                          <p:spTgt spid="14"/>
                                        </p:tgtEl>
                                        <p:attrNameLst>
                                          <p:attrName>style.visibility</p:attrName>
                                        </p:attrNameLst>
                                      </p:cBhvr>
                                      <p:to>
                                        <p:strVal val="visible"/>
                                      </p:to>
                                    </p:set>
                                    <p:anim calcmode="lin" valueType="num">
                                      <p:cBhvr>
                                        <p:cTn id="20" dur="500" fill="hold"/>
                                        <p:tgtEl>
                                          <p:spTgt spid="14"/>
                                        </p:tgtEl>
                                        <p:attrNameLst>
                                          <p:attrName>ppt_w</p:attrName>
                                        </p:attrNameLst>
                                      </p:cBhvr>
                                      <p:tavLst>
                                        <p:tav tm="0">
                                          <p:val>
                                            <p:fltVal val="0"/>
                                          </p:val>
                                        </p:tav>
                                        <p:tav tm="100000">
                                          <p:val>
                                            <p:strVal val="#ppt_w"/>
                                          </p:val>
                                        </p:tav>
                                      </p:tavLst>
                                    </p:anim>
                                    <p:anim calcmode="lin" valueType="num">
                                      <p:cBhvr>
                                        <p:cTn id="21" dur="500" fill="hold"/>
                                        <p:tgtEl>
                                          <p:spTgt spid="14"/>
                                        </p:tgtEl>
                                        <p:attrNameLst>
                                          <p:attrName>ppt_h</p:attrName>
                                        </p:attrNameLst>
                                      </p:cBhvr>
                                      <p:tavLst>
                                        <p:tav tm="0">
                                          <p:val>
                                            <p:fltVal val="0"/>
                                          </p:val>
                                        </p:tav>
                                        <p:tav tm="100000">
                                          <p:val>
                                            <p:strVal val="#ppt_h"/>
                                          </p:val>
                                        </p:tav>
                                      </p:tavLst>
                                    </p:anim>
                                  </p:childTnLst>
                                </p:cTn>
                              </p:par>
                              <p:par>
                                <p:cTn id="22" presetID="1" presetClass="entr" presetSubtype="0" fill="hold" nodeType="withEffect">
                                  <p:stCondLst>
                                    <p:cond delay="0"/>
                                  </p:stCondLst>
                                  <p:childTnLst>
                                    <p:set>
                                      <p:cBhvr>
                                        <p:cTn id="23" dur="1" fill="hold">
                                          <p:stCondLst>
                                            <p:cond delay="0"/>
                                          </p:stCondLst>
                                        </p:cTn>
                                        <p:tgtEl>
                                          <p:spTgt spid="13"/>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23" presetClass="entr" presetSubtype="16" fill="hold" nodeType="clickEffect">
                                  <p:stCondLst>
                                    <p:cond delay="0"/>
                                  </p:stCondLst>
                                  <p:childTnLst>
                                    <p:set>
                                      <p:cBhvr>
                                        <p:cTn id="27" dur="1" fill="hold">
                                          <p:stCondLst>
                                            <p:cond delay="0"/>
                                          </p:stCondLst>
                                        </p:cTn>
                                        <p:tgtEl>
                                          <p:spTgt spid="22"/>
                                        </p:tgtEl>
                                        <p:attrNameLst>
                                          <p:attrName>style.visibility</p:attrName>
                                        </p:attrNameLst>
                                      </p:cBhvr>
                                      <p:to>
                                        <p:strVal val="visible"/>
                                      </p:to>
                                    </p:set>
                                    <p:anim calcmode="lin" valueType="num">
                                      <p:cBhvr>
                                        <p:cTn id="28" dur="500" fill="hold"/>
                                        <p:tgtEl>
                                          <p:spTgt spid="22"/>
                                        </p:tgtEl>
                                        <p:attrNameLst>
                                          <p:attrName>ppt_w</p:attrName>
                                        </p:attrNameLst>
                                      </p:cBhvr>
                                      <p:tavLst>
                                        <p:tav tm="0">
                                          <p:val>
                                            <p:fltVal val="0"/>
                                          </p:val>
                                        </p:tav>
                                        <p:tav tm="100000">
                                          <p:val>
                                            <p:strVal val="#ppt_w"/>
                                          </p:val>
                                        </p:tav>
                                      </p:tavLst>
                                    </p:anim>
                                    <p:anim calcmode="lin" valueType="num">
                                      <p:cBhvr>
                                        <p:cTn id="29" dur="500" fill="hold"/>
                                        <p:tgtEl>
                                          <p:spTgt spid="22"/>
                                        </p:tgtEl>
                                        <p:attrNameLst>
                                          <p:attrName>ppt_h</p:attrName>
                                        </p:attrNameLst>
                                      </p:cBhvr>
                                      <p:tavLst>
                                        <p:tav tm="0">
                                          <p:val>
                                            <p:fltVal val="0"/>
                                          </p:val>
                                        </p:tav>
                                        <p:tav tm="100000">
                                          <p:val>
                                            <p:strVal val="#ppt_h"/>
                                          </p:val>
                                        </p:tav>
                                      </p:tavLst>
                                    </p:anim>
                                  </p:childTnLst>
                                </p:cTn>
                              </p:par>
                              <p:par>
                                <p:cTn id="30" presetID="1" presetClass="entr" presetSubtype="0" fill="hold" nodeType="withEffect">
                                  <p:stCondLst>
                                    <p:cond delay="0"/>
                                  </p:stCondLst>
                                  <p:childTnLst>
                                    <p:set>
                                      <p:cBhvr>
                                        <p:cTn id="31" dur="1" fill="hold">
                                          <p:stCondLst>
                                            <p:cond delay="0"/>
                                          </p:stCondLst>
                                        </p:cTn>
                                        <p:tgtEl>
                                          <p:spTgt spid="22"/>
                                        </p:tgtEl>
                                        <p:attrNameLst>
                                          <p:attrName>style.visibility</p:attrName>
                                        </p:attrNameLst>
                                      </p:cBhvr>
                                      <p:to>
                                        <p:strVal val="visible"/>
                                      </p:to>
                                    </p:set>
                                  </p:childTnLst>
                                </p:cTn>
                              </p:par>
                              <p:par>
                                <p:cTn id="32" presetID="1" presetClass="entr" presetSubtype="0" fill="hold" grpId="1" nodeType="withEffect">
                                  <p:stCondLst>
                                    <p:cond delay="0"/>
                                  </p:stCondLst>
                                  <p:childTnLst>
                                    <p:set>
                                      <p:cBhvr>
                                        <p:cTn id="33" dur="1" fill="hold">
                                          <p:stCondLst>
                                            <p:cond delay="0"/>
                                          </p:stCondLst>
                                        </p:cTn>
                                        <p:tgtEl>
                                          <p:spTgt spid="23"/>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0" presetClass="exit" presetSubtype="0" fill="hold" grpId="0" nodeType="clickEffect">
                                  <p:stCondLst>
                                    <p:cond delay="0"/>
                                  </p:stCondLst>
                                  <p:childTnLst>
                                    <p:animEffect transition="out" filter="fade">
                                      <p:cBhvr>
                                        <p:cTn id="37" dur="500"/>
                                        <p:tgtEl>
                                          <p:spTgt spid="23"/>
                                        </p:tgtEl>
                                      </p:cBhvr>
                                    </p:animEffect>
                                    <p:set>
                                      <p:cBhvr>
                                        <p:cTn id="38" dur="1" fill="hold">
                                          <p:stCondLst>
                                            <p:cond delay="499"/>
                                          </p:stCondLst>
                                        </p:cTn>
                                        <p:tgtEl>
                                          <p:spTgt spid="23"/>
                                        </p:tgtEl>
                                        <p:attrNameLst>
                                          <p:attrName>style.visibility</p:attrName>
                                        </p:attrNameLst>
                                      </p:cBhvr>
                                      <p:to>
                                        <p:strVal val="hidden"/>
                                      </p:to>
                                    </p:set>
                                  </p:childTnLst>
                                </p:cTn>
                              </p:par>
                              <p:par>
                                <p:cTn id="39" presetID="10" presetClass="exit" presetSubtype="0" fill="hold" nodeType="withEffect">
                                  <p:stCondLst>
                                    <p:cond delay="0"/>
                                  </p:stCondLst>
                                  <p:childTnLst>
                                    <p:animEffect transition="out" filter="fade">
                                      <p:cBhvr>
                                        <p:cTn id="40" dur="500"/>
                                        <p:tgtEl>
                                          <p:spTgt spid="22"/>
                                        </p:tgtEl>
                                      </p:cBhvr>
                                    </p:animEffect>
                                    <p:set>
                                      <p:cBhvr>
                                        <p:cTn id="41" dur="1" fill="hold">
                                          <p:stCondLst>
                                            <p:cond delay="499"/>
                                          </p:stCondLst>
                                        </p:cTn>
                                        <p:tgtEl>
                                          <p:spTgt spid="22"/>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4"/>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25"/>
                                        </p:tgtEl>
                                        <p:attrNameLst>
                                          <p:attrName>style.visibility</p:attrName>
                                        </p:attrNameLst>
                                      </p:cBhvr>
                                      <p:to>
                                        <p:strVal val="visible"/>
                                      </p:to>
                                    </p:set>
                                  </p:childTnLst>
                                </p:cTn>
                              </p:par>
                              <p:par>
                                <p:cTn id="48" presetID="10" presetClass="entr" presetSubtype="0"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500"/>
                                        <p:tgtEl>
                                          <p:spTgt spid="26"/>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nodeType="clickEffect">
                                  <p:stCondLst>
                                    <p:cond delay="0"/>
                                  </p:stCondLst>
                                  <p:childTnLst>
                                    <p:animEffect transition="out" filter="fade">
                                      <p:cBhvr>
                                        <p:cTn id="54" dur="500"/>
                                        <p:tgtEl>
                                          <p:spTgt spid="13"/>
                                        </p:tgtEl>
                                      </p:cBhvr>
                                    </p:animEffect>
                                    <p:set>
                                      <p:cBhvr>
                                        <p:cTn id="55" dur="1" fill="hold">
                                          <p:stCondLst>
                                            <p:cond delay="499"/>
                                          </p:stCondLst>
                                        </p:cTn>
                                        <p:tgtEl>
                                          <p:spTgt spid="13"/>
                                        </p:tgtEl>
                                        <p:attrNameLst>
                                          <p:attrName>style.visibility</p:attrName>
                                        </p:attrNameLst>
                                      </p:cBhvr>
                                      <p:to>
                                        <p:strVal val="hidden"/>
                                      </p:to>
                                    </p:set>
                                  </p:childTnLst>
                                </p:cTn>
                              </p:par>
                              <p:par>
                                <p:cTn id="56" presetID="1" presetClass="entr" presetSubtype="0" fill="hold" nodeType="withEffect">
                                  <p:stCondLst>
                                    <p:cond delay="0"/>
                                  </p:stCondLst>
                                  <p:childTnLst>
                                    <p:set>
                                      <p:cBhvr>
                                        <p:cTn id="57" dur="1" fill="hold">
                                          <p:stCondLst>
                                            <p:cond delay="0"/>
                                          </p:stCondLst>
                                        </p:cTn>
                                        <p:tgtEl>
                                          <p:spTgt spid="27"/>
                                        </p:tgtEl>
                                        <p:attrNameLst>
                                          <p:attrName>style.visibility</p:attrName>
                                        </p:attrNameLst>
                                      </p:cBhvr>
                                      <p:to>
                                        <p:strVal val="visible"/>
                                      </p:to>
                                    </p:set>
                                  </p:childTnLst>
                                </p:cTn>
                              </p:par>
                              <p:par>
                                <p:cTn id="58" presetID="10" presetClass="entr" presetSubtype="0" fill="hold" grpId="0" nodeType="withEffect">
                                  <p:stCondLst>
                                    <p:cond delay="0"/>
                                  </p:stCondLst>
                                  <p:childTnLst>
                                    <p:set>
                                      <p:cBhvr>
                                        <p:cTn id="59" dur="1" fill="hold">
                                          <p:stCondLst>
                                            <p:cond delay="0"/>
                                          </p:stCondLst>
                                        </p:cTn>
                                        <p:tgtEl>
                                          <p:spTgt spid="40"/>
                                        </p:tgtEl>
                                        <p:attrNameLst>
                                          <p:attrName>style.visibility</p:attrName>
                                        </p:attrNameLst>
                                      </p:cBhvr>
                                      <p:to>
                                        <p:strVal val="visible"/>
                                      </p:to>
                                    </p:set>
                                    <p:animEffect transition="in" filter="fade">
                                      <p:cBhvr>
                                        <p:cTn id="60" dur="500"/>
                                        <p:tgtEl>
                                          <p:spTgt spid="40"/>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xit" presetSubtype="0" fill="hold" nodeType="clickEffect">
                                  <p:stCondLst>
                                    <p:cond delay="0"/>
                                  </p:stCondLst>
                                  <p:childTnLst>
                                    <p:animEffect transition="out" filter="fade">
                                      <p:cBhvr>
                                        <p:cTn id="64" dur="500"/>
                                        <p:tgtEl>
                                          <p:spTgt spid="24"/>
                                        </p:tgtEl>
                                      </p:cBhvr>
                                    </p:animEffect>
                                    <p:set>
                                      <p:cBhvr>
                                        <p:cTn id="65" dur="1" fill="hold">
                                          <p:stCondLst>
                                            <p:cond delay="499"/>
                                          </p:stCondLst>
                                        </p:cTn>
                                        <p:tgtEl>
                                          <p:spTgt spid="24"/>
                                        </p:tgtEl>
                                        <p:attrNameLst>
                                          <p:attrName>style.visibility</p:attrName>
                                        </p:attrNameLst>
                                      </p:cBhvr>
                                      <p:to>
                                        <p:strVal val="hidden"/>
                                      </p:to>
                                    </p:set>
                                  </p:childTnLst>
                                </p:cTn>
                              </p:par>
                              <p:par>
                                <p:cTn id="66" presetID="22" presetClass="exit" presetSubtype="4" fill="hold" grpId="1" nodeType="withEffect">
                                  <p:stCondLst>
                                    <p:cond delay="0"/>
                                  </p:stCondLst>
                                  <p:childTnLst>
                                    <p:animEffect transition="out" filter="wipe(down)">
                                      <p:cBhvr>
                                        <p:cTn id="67" dur="500"/>
                                        <p:tgtEl>
                                          <p:spTgt spid="40"/>
                                        </p:tgtEl>
                                      </p:cBhvr>
                                    </p:animEffect>
                                    <p:set>
                                      <p:cBhvr>
                                        <p:cTn id="68" dur="1" fill="hold">
                                          <p:stCondLst>
                                            <p:cond delay="499"/>
                                          </p:stCondLst>
                                        </p:cTn>
                                        <p:tgtEl>
                                          <p:spTgt spid="40"/>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fade">
                                      <p:cBhvr>
                                        <p:cTn id="73" dur="500"/>
                                        <p:tgtEl>
                                          <p:spTgt spid="22"/>
                                        </p:tgtEl>
                                      </p:cBhvr>
                                    </p:animEffect>
                                  </p:childTnLst>
                                </p:cTn>
                              </p:par>
                              <p:par>
                                <p:cTn id="74" presetID="22" presetClass="exit" presetSubtype="4" fill="hold" grpId="1" nodeType="withEffect">
                                  <p:stCondLst>
                                    <p:cond delay="0"/>
                                  </p:stCondLst>
                                  <p:childTnLst>
                                    <p:animEffect transition="out" filter="wipe(down)">
                                      <p:cBhvr>
                                        <p:cTn id="75" dur="500"/>
                                        <p:tgtEl>
                                          <p:spTgt spid="26"/>
                                        </p:tgtEl>
                                      </p:cBhvr>
                                    </p:animEffect>
                                    <p:set>
                                      <p:cBhvr>
                                        <p:cTn id="76" dur="1" fill="hold">
                                          <p:stCondLst>
                                            <p:cond delay="499"/>
                                          </p:stCondLst>
                                        </p:cTn>
                                        <p:tgtEl>
                                          <p:spTgt spid="26"/>
                                        </p:tgtEl>
                                        <p:attrNameLst>
                                          <p:attrName>style.visibility</p:attrName>
                                        </p:attrNameLst>
                                      </p:cBhvr>
                                      <p:to>
                                        <p:strVal val="hidden"/>
                                      </p:to>
                                    </p:set>
                                  </p:childTnLst>
                                </p:cTn>
                              </p:par>
                              <p:par>
                                <p:cTn id="77" presetID="10" presetClass="entr" presetSubtype="0"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fade">
                                      <p:cBhvr>
                                        <p:cTn id="79" dur="500"/>
                                        <p:tgtEl>
                                          <p:spTgt spid="28"/>
                                        </p:tgtEl>
                                      </p:cBhvr>
                                    </p:animEffect>
                                  </p:childTnLst>
                                </p:cTn>
                              </p:par>
                              <p:par>
                                <p:cTn id="80" presetID="3" presetClass="entr" presetSubtype="10" fill="hold" grpId="0" nodeType="withEffect">
                                  <p:stCondLst>
                                    <p:cond delay="0"/>
                                  </p:stCondLst>
                                  <p:childTnLst>
                                    <p:set>
                                      <p:cBhvr>
                                        <p:cTn id="81" dur="1" fill="hold">
                                          <p:stCondLst>
                                            <p:cond delay="0"/>
                                          </p:stCondLst>
                                        </p:cTn>
                                        <p:tgtEl>
                                          <p:spTgt spid="38"/>
                                        </p:tgtEl>
                                        <p:attrNameLst>
                                          <p:attrName>style.visibility</p:attrName>
                                        </p:attrNameLst>
                                      </p:cBhvr>
                                      <p:to>
                                        <p:strVal val="visible"/>
                                      </p:to>
                                    </p:set>
                                    <p:animEffect transition="in" filter="blinds(horizontal)">
                                      <p:cBhvr>
                                        <p:cTn id="82" dur="500"/>
                                        <p:tgtEl>
                                          <p:spTgt spid="38"/>
                                        </p:tgtEl>
                                      </p:cBhvr>
                                    </p:animEffect>
                                  </p:childTnLst>
                                </p:cTn>
                              </p:par>
                            </p:childTnLst>
                          </p:cTn>
                        </p:par>
                      </p:childTnLst>
                    </p:cTn>
                  </p:par>
                  <p:par>
                    <p:cTn id="83" fill="hold">
                      <p:stCondLst>
                        <p:cond delay="indefinite"/>
                      </p:stCondLst>
                      <p:childTnLst>
                        <p:par>
                          <p:cTn id="84" fill="hold">
                            <p:stCondLst>
                              <p:cond delay="0"/>
                            </p:stCondLst>
                            <p:childTnLst>
                              <p:par>
                                <p:cTn id="85" presetID="3" presetClass="entr" presetSubtype="10" fill="hold" grpId="0" nodeType="clickEffect">
                                  <p:stCondLst>
                                    <p:cond delay="0"/>
                                  </p:stCondLst>
                                  <p:childTnLst>
                                    <p:set>
                                      <p:cBhvr>
                                        <p:cTn id="86" dur="1" fill="hold">
                                          <p:stCondLst>
                                            <p:cond delay="0"/>
                                          </p:stCondLst>
                                        </p:cTn>
                                        <p:tgtEl>
                                          <p:spTgt spid="47"/>
                                        </p:tgtEl>
                                        <p:attrNameLst>
                                          <p:attrName>style.visibility</p:attrName>
                                        </p:attrNameLst>
                                      </p:cBhvr>
                                      <p:to>
                                        <p:strVal val="visible"/>
                                      </p:to>
                                    </p:set>
                                    <p:animEffect transition="in" filter="blinds(horizontal)">
                                      <p:cBhvr>
                                        <p:cTn id="87"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23" grpId="0"/>
      <p:bldP spid="23" grpId="1"/>
      <p:bldP spid="26" grpId="0" animBg="1"/>
      <p:bldP spid="26" grpId="1" animBg="1"/>
      <p:bldP spid="28" grpId="0" animBg="1"/>
      <p:bldP spid="38" grpId="0" animBg="1"/>
      <p:bldP spid="40" grpId="0" animBg="1"/>
      <p:bldP spid="40" grpId="1" animBg="1"/>
      <p:bldP spid="3" grpId="0"/>
      <p:bldP spid="47"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FAF2F2-FF64-5BCE-5568-23C06B4CB349}"/>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558B7D02-7140-75CD-F678-CC0558081E8F}"/>
              </a:ext>
            </a:extLst>
          </p:cNvPr>
          <p:cNvSpPr>
            <a:spLocks noGrp="1"/>
          </p:cNvSpPr>
          <p:nvPr>
            <p:ph type="title"/>
          </p:nvPr>
        </p:nvSpPr>
        <p:spPr>
          <a:xfrm>
            <a:off x="991435" y="-10749"/>
            <a:ext cx="10714759" cy="711202"/>
          </a:xfrm>
        </p:spPr>
        <p:txBody>
          <a:bodyPr>
            <a:normAutofit/>
          </a:bodyPr>
          <a:lstStyle/>
          <a:p>
            <a:r>
              <a:rPr kumimoji="0" lang="zh-CN" altLang="en-US" sz="2400" b="1" i="0" u="none" strike="noStrike" kern="1200" cap="none" spc="0" normalizeH="0" baseline="0" noProof="0" dirty="0">
                <a:ln>
                  <a:noFill/>
                </a:ln>
                <a:solidFill>
                  <a:srgbClr val="FFFFFF"/>
                </a:solidFill>
                <a:effectLst/>
                <a:uLnTx/>
                <a:uFillTx/>
                <a:latin typeface="+mj-ea"/>
                <a:cs typeface="+mj-cs"/>
              </a:rPr>
              <a:t>物料和资源分配可以优化</a:t>
            </a:r>
            <a:r>
              <a:rPr lang="en-US" altLang="zh-CN" dirty="0">
                <a:latin typeface="+mj-ea"/>
              </a:rPr>
              <a:t>– </a:t>
            </a:r>
            <a:r>
              <a:rPr lang="zh-CN" altLang="en-US" dirty="0">
                <a:latin typeface="+mj-ea"/>
              </a:rPr>
              <a:t>供应</a:t>
            </a:r>
            <a:r>
              <a:rPr lang="en-US" altLang="zh-CN" dirty="0">
                <a:latin typeface="+mj-ea"/>
              </a:rPr>
              <a:t>pull-in</a:t>
            </a:r>
            <a:r>
              <a:rPr lang="zh-CN" altLang="en-US" dirty="0">
                <a:latin typeface="+mj-ea"/>
              </a:rPr>
              <a:t>带来的挑战</a:t>
            </a:r>
            <a:endParaRPr lang="zh-CN" altLang="en-US" dirty="0">
              <a:latin typeface="Arial" panose="020B0604020202020204" pitchFamily="34" charset="0"/>
              <a:ea typeface="微软雅黑" panose="020B0503020204020204" pitchFamily="34" charset="-122"/>
            </a:endParaRPr>
          </a:p>
        </p:txBody>
      </p:sp>
      <p:cxnSp>
        <p:nvCxnSpPr>
          <p:cNvPr id="4" name="直接箭头连接符 6">
            <a:extLst>
              <a:ext uri="{FF2B5EF4-FFF2-40B4-BE49-F238E27FC236}">
                <a16:creationId xmlns:a16="http://schemas.microsoft.com/office/drawing/2014/main" id="{AB2C9ACC-0EAD-6515-1D42-0407E4BB5D3A}"/>
              </a:ext>
            </a:extLst>
          </p:cNvPr>
          <p:cNvCxnSpPr/>
          <p:nvPr/>
        </p:nvCxnSpPr>
        <p:spPr>
          <a:xfrm>
            <a:off x="715434" y="3558117"/>
            <a:ext cx="93345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13">
            <a:extLst>
              <a:ext uri="{FF2B5EF4-FFF2-40B4-BE49-F238E27FC236}">
                <a16:creationId xmlns:a16="http://schemas.microsoft.com/office/drawing/2014/main" id="{9495540E-1259-F086-7F91-FA31CB728D59}"/>
              </a:ext>
            </a:extLst>
          </p:cNvPr>
          <p:cNvCxnSpPr>
            <a:cxnSpLocks/>
          </p:cNvCxnSpPr>
          <p:nvPr/>
        </p:nvCxnSpPr>
        <p:spPr>
          <a:xfrm>
            <a:off x="3579285" y="2679700"/>
            <a:ext cx="6351" cy="914400"/>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15">
            <a:extLst>
              <a:ext uri="{FF2B5EF4-FFF2-40B4-BE49-F238E27FC236}">
                <a16:creationId xmlns:a16="http://schemas.microsoft.com/office/drawing/2014/main" id="{BB4A4D43-CE08-FC75-2070-21A82EAF4CDB}"/>
              </a:ext>
            </a:extLst>
          </p:cNvPr>
          <p:cNvCxnSpPr>
            <a:cxnSpLocks/>
          </p:cNvCxnSpPr>
          <p:nvPr/>
        </p:nvCxnSpPr>
        <p:spPr>
          <a:xfrm>
            <a:off x="5352003" y="2725208"/>
            <a:ext cx="0" cy="878417"/>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 name="直接箭头连接符 23">
            <a:extLst>
              <a:ext uri="{FF2B5EF4-FFF2-40B4-BE49-F238E27FC236}">
                <a16:creationId xmlns:a16="http://schemas.microsoft.com/office/drawing/2014/main" id="{25140B7A-3DB3-BF3D-E991-A8CD09446C23}"/>
              </a:ext>
            </a:extLst>
          </p:cNvPr>
          <p:cNvCxnSpPr/>
          <p:nvPr/>
        </p:nvCxnSpPr>
        <p:spPr>
          <a:xfrm flipV="1">
            <a:off x="2755900" y="3558118"/>
            <a:ext cx="0" cy="673100"/>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 name="直接箭头连接符 35">
            <a:extLst>
              <a:ext uri="{FF2B5EF4-FFF2-40B4-BE49-F238E27FC236}">
                <a16:creationId xmlns:a16="http://schemas.microsoft.com/office/drawing/2014/main" id="{14B16999-B6A1-F968-92E4-62ABA1F54962}"/>
              </a:ext>
            </a:extLst>
          </p:cNvPr>
          <p:cNvCxnSpPr/>
          <p:nvPr/>
        </p:nvCxnSpPr>
        <p:spPr>
          <a:xfrm flipV="1">
            <a:off x="2755900" y="4434417"/>
            <a:ext cx="0" cy="670984"/>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 name="矩形 27">
            <a:extLst>
              <a:ext uri="{FF2B5EF4-FFF2-40B4-BE49-F238E27FC236}">
                <a16:creationId xmlns:a16="http://schemas.microsoft.com/office/drawing/2014/main" id="{BC152E87-3B88-7F12-9B75-329ACC563DE3}"/>
              </a:ext>
            </a:extLst>
          </p:cNvPr>
          <p:cNvSpPr/>
          <p:nvPr/>
        </p:nvSpPr>
        <p:spPr>
          <a:xfrm>
            <a:off x="2992967" y="2347385"/>
            <a:ext cx="1344084"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en-US" altLang="zh-CN" sz="1600" dirty="0">
                <a:solidFill>
                  <a:srgbClr val="FFFFFF"/>
                </a:solidFill>
                <a:latin typeface="Arial" panose="020B0604020202020204" pitchFamily="34" charset="0"/>
                <a:ea typeface="微软雅黑" panose="020B0503020204020204" pitchFamily="34" charset="-122"/>
              </a:rPr>
              <a:t>DEMAND1</a:t>
            </a:r>
            <a:endParaRPr lang="zh-CN" altLang="en-US" sz="1600" dirty="0">
              <a:solidFill>
                <a:srgbClr val="FFFFFF"/>
              </a:solidFill>
              <a:latin typeface="Arial" panose="020B0604020202020204" pitchFamily="34" charset="0"/>
              <a:ea typeface="微软雅黑" panose="020B0503020204020204" pitchFamily="34" charset="-122"/>
            </a:endParaRPr>
          </a:p>
        </p:txBody>
      </p:sp>
      <p:sp>
        <p:nvSpPr>
          <p:cNvPr id="10" name="矩形 38">
            <a:extLst>
              <a:ext uri="{FF2B5EF4-FFF2-40B4-BE49-F238E27FC236}">
                <a16:creationId xmlns:a16="http://schemas.microsoft.com/office/drawing/2014/main" id="{A112924E-6E40-18BE-CA73-91EAC685DE27}"/>
              </a:ext>
            </a:extLst>
          </p:cNvPr>
          <p:cNvSpPr/>
          <p:nvPr/>
        </p:nvSpPr>
        <p:spPr>
          <a:xfrm>
            <a:off x="4679263" y="2319191"/>
            <a:ext cx="1344084"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en-US" altLang="zh-CN" sz="1600" dirty="0">
                <a:solidFill>
                  <a:srgbClr val="FFFFFF"/>
                </a:solidFill>
                <a:latin typeface="Arial" panose="020B0604020202020204" pitchFamily="34" charset="0"/>
                <a:ea typeface="微软雅黑" panose="020B0503020204020204" pitchFamily="34" charset="-122"/>
              </a:rPr>
              <a:t>DEMAND2</a:t>
            </a:r>
            <a:endParaRPr lang="zh-CN" altLang="en-US" sz="1600" dirty="0">
              <a:solidFill>
                <a:srgbClr val="FFFFFF"/>
              </a:solidFill>
              <a:latin typeface="Arial" panose="020B0604020202020204" pitchFamily="34" charset="0"/>
              <a:ea typeface="微软雅黑" panose="020B0503020204020204" pitchFamily="34" charset="-122"/>
            </a:endParaRPr>
          </a:p>
        </p:txBody>
      </p:sp>
      <p:sp>
        <p:nvSpPr>
          <p:cNvPr id="11" name="矩形 28">
            <a:extLst>
              <a:ext uri="{FF2B5EF4-FFF2-40B4-BE49-F238E27FC236}">
                <a16:creationId xmlns:a16="http://schemas.microsoft.com/office/drawing/2014/main" id="{EECF78E3-1099-4D92-83F7-201D2AC70EA0}"/>
              </a:ext>
            </a:extLst>
          </p:cNvPr>
          <p:cNvSpPr/>
          <p:nvPr/>
        </p:nvSpPr>
        <p:spPr>
          <a:xfrm>
            <a:off x="1172633" y="3750733"/>
            <a:ext cx="1390651" cy="369310"/>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Arial" panose="020B0604020202020204" pitchFamily="34" charset="0"/>
                <a:ea typeface="微软雅黑" panose="020B0503020204020204" pitchFamily="34" charset="-122"/>
              </a:rPr>
              <a:t>库存</a:t>
            </a:r>
            <a:r>
              <a:rPr lang="en-US" altLang="zh-CN" sz="1600" dirty="0">
                <a:solidFill>
                  <a:srgbClr val="FFFFFF"/>
                </a:solidFill>
                <a:latin typeface="Arial" panose="020B0604020202020204" pitchFamily="34" charset="0"/>
                <a:ea typeface="微软雅黑" panose="020B0503020204020204" pitchFamily="34" charset="-122"/>
              </a:rPr>
              <a:t> A</a:t>
            </a:r>
            <a:endParaRPr lang="zh-CN" altLang="en-US" sz="1600" dirty="0">
              <a:solidFill>
                <a:srgbClr val="FFFFFF"/>
              </a:solidFill>
              <a:latin typeface="Arial" panose="020B0604020202020204" pitchFamily="34" charset="0"/>
              <a:ea typeface="微软雅黑" panose="020B0503020204020204" pitchFamily="34" charset="-122"/>
            </a:endParaRPr>
          </a:p>
        </p:txBody>
      </p:sp>
      <p:sp>
        <p:nvSpPr>
          <p:cNvPr id="12" name="矩形 41">
            <a:extLst>
              <a:ext uri="{FF2B5EF4-FFF2-40B4-BE49-F238E27FC236}">
                <a16:creationId xmlns:a16="http://schemas.microsoft.com/office/drawing/2014/main" id="{178B0E5C-2F0D-07B4-29F7-B2B9CD6EC617}"/>
              </a:ext>
            </a:extLst>
          </p:cNvPr>
          <p:cNvSpPr/>
          <p:nvPr/>
        </p:nvSpPr>
        <p:spPr>
          <a:xfrm>
            <a:off x="1172633" y="4565651"/>
            <a:ext cx="1390651"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600" dirty="0">
                <a:solidFill>
                  <a:srgbClr val="FFFFFF"/>
                </a:solidFill>
                <a:latin typeface="Arial" panose="020B0604020202020204" pitchFamily="34" charset="0"/>
                <a:ea typeface="微软雅黑" panose="020B0503020204020204" pitchFamily="34" charset="-122"/>
              </a:rPr>
              <a:t>库存</a:t>
            </a:r>
            <a:r>
              <a:rPr lang="en-US" altLang="zh-CN" sz="1600" dirty="0">
                <a:solidFill>
                  <a:srgbClr val="FFFFFF"/>
                </a:solidFill>
                <a:latin typeface="Arial" panose="020B0604020202020204" pitchFamily="34" charset="0"/>
                <a:ea typeface="微软雅黑" panose="020B0503020204020204" pitchFamily="34" charset="-122"/>
              </a:rPr>
              <a:t> B</a:t>
            </a:r>
            <a:endParaRPr lang="zh-CN" altLang="en-US" sz="1600" dirty="0">
              <a:solidFill>
                <a:srgbClr val="FFFFFF"/>
              </a:solidFill>
              <a:latin typeface="Arial" panose="020B0604020202020204" pitchFamily="34" charset="0"/>
              <a:ea typeface="微软雅黑" panose="020B0503020204020204" pitchFamily="34" charset="-122"/>
            </a:endParaRPr>
          </a:p>
        </p:txBody>
      </p:sp>
      <p:sp>
        <p:nvSpPr>
          <p:cNvPr id="13" name="Line 58">
            <a:extLst>
              <a:ext uri="{FF2B5EF4-FFF2-40B4-BE49-F238E27FC236}">
                <a16:creationId xmlns:a16="http://schemas.microsoft.com/office/drawing/2014/main" id="{D21B3B12-DAD0-9FCF-1CF8-CB3433F301A0}"/>
              </a:ext>
            </a:extLst>
          </p:cNvPr>
          <p:cNvSpPr/>
          <p:nvPr/>
        </p:nvSpPr>
        <p:spPr>
          <a:xfrm flipH="1">
            <a:off x="2755900" y="2725208"/>
            <a:ext cx="2546345" cy="1230844"/>
          </a:xfrm>
          <a:prstGeom prst="line">
            <a:avLst/>
          </a:prstGeom>
          <a:ln w="9525" cap="flat" cmpd="sng">
            <a:solidFill>
              <a:schemeClr val="tx1"/>
            </a:solidFill>
            <a:prstDash val="lgDash"/>
            <a:headEnd type="none" w="med" len="med"/>
            <a:tailEnd type="triangle" w="med" len="med"/>
          </a:ln>
        </p:spPr>
        <p:txBody>
          <a:bodyPr/>
          <a:lstStyle/>
          <a:p>
            <a:endParaRPr lang="zh-CN" altLang="en-US">
              <a:latin typeface="+mn-ea"/>
            </a:endParaRPr>
          </a:p>
        </p:txBody>
      </p:sp>
      <p:sp>
        <p:nvSpPr>
          <p:cNvPr id="14" name="Line 58">
            <a:extLst>
              <a:ext uri="{FF2B5EF4-FFF2-40B4-BE49-F238E27FC236}">
                <a16:creationId xmlns:a16="http://schemas.microsoft.com/office/drawing/2014/main" id="{7EBFEF3B-FB01-8B3A-D3D2-D7C06721A915}"/>
              </a:ext>
            </a:extLst>
          </p:cNvPr>
          <p:cNvSpPr/>
          <p:nvPr/>
        </p:nvSpPr>
        <p:spPr>
          <a:xfrm flipH="1">
            <a:off x="3598943" y="2706102"/>
            <a:ext cx="1794696" cy="1470270"/>
          </a:xfrm>
          <a:prstGeom prst="line">
            <a:avLst/>
          </a:prstGeom>
          <a:ln w="9525" cap="flat" cmpd="sng">
            <a:solidFill>
              <a:schemeClr val="tx1"/>
            </a:solidFill>
            <a:prstDash val="dashDot"/>
            <a:headEnd type="none" w="med" len="med"/>
            <a:tailEnd type="triangle" w="med" len="med"/>
          </a:ln>
        </p:spPr>
        <p:txBody>
          <a:bodyPr/>
          <a:lstStyle/>
          <a:p>
            <a:endParaRPr lang="zh-CN" altLang="en-US">
              <a:latin typeface="+mn-ea"/>
            </a:endParaRPr>
          </a:p>
        </p:txBody>
      </p:sp>
      <p:sp>
        <p:nvSpPr>
          <p:cNvPr id="15" name="矩形标注 12">
            <a:extLst>
              <a:ext uri="{FF2B5EF4-FFF2-40B4-BE49-F238E27FC236}">
                <a16:creationId xmlns:a16="http://schemas.microsoft.com/office/drawing/2014/main" id="{B16D2509-5EED-99C0-BA57-833365BD3C81}"/>
              </a:ext>
            </a:extLst>
          </p:cNvPr>
          <p:cNvSpPr/>
          <p:nvPr/>
        </p:nvSpPr>
        <p:spPr>
          <a:xfrm>
            <a:off x="6798734" y="1568451"/>
            <a:ext cx="1439333" cy="508000"/>
          </a:xfrm>
          <a:prstGeom prst="wedgeRectCallout">
            <a:avLst>
              <a:gd name="adj1" fmla="val 782"/>
              <a:gd name="adj2" fmla="val 90562"/>
            </a:avLst>
          </a:prstGeom>
          <a:solidFill>
            <a:schemeClr val="bg2">
              <a:lumMod val="2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defTabSz="1217476"/>
            <a:r>
              <a:rPr lang="en-US" altLang="zh-CN" sz="1867" b="1" dirty="0">
                <a:solidFill>
                  <a:srgbClr val="FFFFFF"/>
                </a:solidFill>
                <a:latin typeface="Arial" panose="020B0604020202020204" pitchFamily="34" charset="0"/>
                <a:ea typeface="微软雅黑" panose="020B0503020204020204" pitchFamily="34" charset="-122"/>
              </a:rPr>
              <a:t>IPS</a:t>
            </a:r>
            <a:endParaRPr lang="zh-CN" altLang="en-US" sz="1867" b="1" dirty="0">
              <a:solidFill>
                <a:srgbClr val="FFFFFF"/>
              </a:solidFill>
              <a:latin typeface="Arial" panose="020B0604020202020204" pitchFamily="34" charset="0"/>
              <a:ea typeface="微软雅黑" panose="020B0503020204020204" pitchFamily="34" charset="-122"/>
            </a:endParaRPr>
          </a:p>
        </p:txBody>
      </p:sp>
      <p:sp>
        <p:nvSpPr>
          <p:cNvPr id="16" name="矩形标注 13">
            <a:extLst>
              <a:ext uri="{FF2B5EF4-FFF2-40B4-BE49-F238E27FC236}">
                <a16:creationId xmlns:a16="http://schemas.microsoft.com/office/drawing/2014/main" id="{CF41203F-9044-0E2D-C9D3-D4E1154851F9}"/>
              </a:ext>
            </a:extLst>
          </p:cNvPr>
          <p:cNvSpPr/>
          <p:nvPr/>
        </p:nvSpPr>
        <p:spPr>
          <a:xfrm>
            <a:off x="2844800" y="1579034"/>
            <a:ext cx="1441451" cy="510117"/>
          </a:xfrm>
          <a:prstGeom prst="wedgeRectCallout">
            <a:avLst>
              <a:gd name="adj1" fmla="val 782"/>
              <a:gd name="adj2" fmla="val 90562"/>
            </a:avLst>
          </a:prstGeom>
          <a:solidFill>
            <a:schemeClr val="bg2">
              <a:lumMod val="2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defTabSz="1217476"/>
            <a:r>
              <a:rPr lang="en-US" altLang="zh-CN" sz="1867" b="1" dirty="0">
                <a:solidFill>
                  <a:srgbClr val="FFFFFF"/>
                </a:solidFill>
                <a:latin typeface="Arial" panose="020B0604020202020204" pitchFamily="34" charset="0"/>
                <a:ea typeface="微软雅黑" panose="020B0503020204020204" pitchFamily="34" charset="-122"/>
              </a:rPr>
              <a:t>IPS</a:t>
            </a:r>
            <a:endParaRPr lang="zh-CN" altLang="en-US" sz="1867" b="1" dirty="0">
              <a:solidFill>
                <a:srgbClr val="FFFFFF"/>
              </a:solidFill>
              <a:latin typeface="Arial" panose="020B0604020202020204" pitchFamily="34" charset="0"/>
              <a:ea typeface="微软雅黑" panose="020B0503020204020204" pitchFamily="34" charset="-122"/>
            </a:endParaRPr>
          </a:p>
        </p:txBody>
      </p:sp>
      <p:sp>
        <p:nvSpPr>
          <p:cNvPr id="17" name="圆角矩形 15">
            <a:extLst>
              <a:ext uri="{FF2B5EF4-FFF2-40B4-BE49-F238E27FC236}">
                <a16:creationId xmlns:a16="http://schemas.microsoft.com/office/drawing/2014/main" id="{DABAE7BB-D5E4-C864-6B8F-7AD81DD8291B}"/>
              </a:ext>
            </a:extLst>
          </p:cNvPr>
          <p:cNvSpPr/>
          <p:nvPr/>
        </p:nvSpPr>
        <p:spPr>
          <a:xfrm>
            <a:off x="8406585" y="1361018"/>
            <a:ext cx="3119967" cy="2061633"/>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marL="285750" indent="-285750" defTabSz="1219170">
              <a:buFont typeface="Arial" panose="020B0604020202020204" pitchFamily="34" charset="0"/>
              <a:buChar char="•"/>
              <a:defRPr/>
            </a:pPr>
            <a:r>
              <a:rPr lang="zh-CN" altLang="en-US" sz="1400" u="sng" kern="0" dirty="0">
                <a:solidFill>
                  <a:schemeClr val="tx1"/>
                </a:solidFill>
                <a:latin typeface="Arial" panose="020B0604020202020204" pitchFamily="34" charset="0"/>
                <a:ea typeface="微软雅黑" panose="020B0503020204020204" pitchFamily="34" charset="-122"/>
              </a:rPr>
              <a:t>计划到货</a:t>
            </a:r>
            <a:r>
              <a:rPr lang="en-US" altLang="zh-CN" sz="1400" u="sng" kern="0" dirty="0">
                <a:solidFill>
                  <a:schemeClr val="tx1"/>
                </a:solidFill>
                <a:latin typeface="Arial" panose="020B0604020202020204" pitchFamily="34" charset="0"/>
                <a:ea typeface="微软雅黑" panose="020B0503020204020204" pitchFamily="34" charset="-122"/>
              </a:rPr>
              <a:t>C pull in </a:t>
            </a:r>
            <a:r>
              <a:rPr lang="zh-CN" altLang="en-US" sz="1400" u="sng" kern="0" dirty="0">
                <a:solidFill>
                  <a:schemeClr val="tx1"/>
                </a:solidFill>
                <a:latin typeface="Arial" panose="020B0604020202020204" pitchFamily="34" charset="0"/>
                <a:ea typeface="微软雅黑" panose="020B0503020204020204" pitchFamily="34" charset="-122"/>
              </a:rPr>
              <a:t>导致需求</a:t>
            </a:r>
            <a:r>
              <a:rPr lang="en-US" altLang="zh-CN" sz="1400" u="sng" kern="0" dirty="0">
                <a:solidFill>
                  <a:schemeClr val="tx1"/>
                </a:solidFill>
                <a:latin typeface="Arial" panose="020B0604020202020204" pitchFamily="34" charset="0"/>
                <a:ea typeface="微软雅黑" panose="020B0503020204020204" pitchFamily="34" charset="-122"/>
              </a:rPr>
              <a:t>2 pull in </a:t>
            </a:r>
            <a:r>
              <a:rPr lang="zh-CN" altLang="en-US" sz="1400" u="sng" kern="0" dirty="0">
                <a:solidFill>
                  <a:schemeClr val="tx1"/>
                </a:solidFill>
                <a:latin typeface="Arial" panose="020B0604020202020204" pitchFamily="34" charset="0"/>
                <a:ea typeface="微软雅黑" panose="020B0503020204020204" pitchFamily="34" charset="-122"/>
              </a:rPr>
              <a:t>但是</a:t>
            </a:r>
            <a:r>
              <a:rPr lang="en-US" altLang="zh-CN" sz="1400" u="sng" kern="0" dirty="0">
                <a:solidFill>
                  <a:schemeClr val="tx1"/>
                </a:solidFill>
                <a:latin typeface="Arial" panose="020B0604020202020204" pitchFamily="34" charset="0"/>
                <a:ea typeface="微软雅黑" panose="020B0503020204020204" pitchFamily="34" charset="-122"/>
              </a:rPr>
              <a:t> </a:t>
            </a:r>
            <a:r>
              <a:rPr lang="zh-CN" altLang="en-US" sz="1400" u="sng" kern="0" dirty="0">
                <a:solidFill>
                  <a:schemeClr val="tx1"/>
                </a:solidFill>
                <a:latin typeface="Arial" panose="020B0604020202020204" pitchFamily="34" charset="0"/>
                <a:ea typeface="微软雅黑" panose="020B0503020204020204" pitchFamily="34" charset="-122"/>
              </a:rPr>
              <a:t>需求</a:t>
            </a:r>
            <a:r>
              <a:rPr lang="en-US" altLang="zh-CN" sz="1400" u="sng" kern="0" dirty="0">
                <a:solidFill>
                  <a:schemeClr val="tx1"/>
                </a:solidFill>
                <a:latin typeface="Arial" panose="020B0604020202020204" pitchFamily="34" charset="0"/>
                <a:ea typeface="微软雅黑" panose="020B0503020204020204" pitchFamily="34" charset="-122"/>
              </a:rPr>
              <a:t>1 </a:t>
            </a:r>
            <a:r>
              <a:rPr lang="zh-CN" altLang="en-US" sz="1400" u="sng" kern="0" dirty="0">
                <a:solidFill>
                  <a:schemeClr val="tx1"/>
                </a:solidFill>
                <a:latin typeface="Arial" panose="020B0604020202020204" pitchFamily="34" charset="0"/>
                <a:ea typeface="微软雅黑" panose="020B0503020204020204" pitchFamily="34" charset="-122"/>
              </a:rPr>
              <a:t>晚了</a:t>
            </a:r>
            <a:endParaRPr lang="en-US" altLang="zh-CN" sz="1400" kern="0" dirty="0">
              <a:solidFill>
                <a:schemeClr val="tx1"/>
              </a:solidFill>
              <a:latin typeface="Arial" panose="020B0604020202020204" pitchFamily="34" charset="0"/>
              <a:ea typeface="微软雅黑" panose="020B0503020204020204" pitchFamily="34" charset="-122"/>
            </a:endParaRPr>
          </a:p>
        </p:txBody>
      </p:sp>
      <p:sp>
        <p:nvSpPr>
          <p:cNvPr id="18" name="矩形 26">
            <a:extLst>
              <a:ext uri="{FF2B5EF4-FFF2-40B4-BE49-F238E27FC236}">
                <a16:creationId xmlns:a16="http://schemas.microsoft.com/office/drawing/2014/main" id="{F9BF0FF5-83F7-EB03-EC25-1A7B14EC0C6A}"/>
              </a:ext>
            </a:extLst>
          </p:cNvPr>
          <p:cNvSpPr/>
          <p:nvPr/>
        </p:nvSpPr>
        <p:spPr>
          <a:xfrm>
            <a:off x="2918885" y="4241414"/>
            <a:ext cx="1329267"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rgbClr val="FFFFFF"/>
                </a:solidFill>
                <a:latin typeface="Arial" panose="020B0604020202020204" pitchFamily="34" charset="0"/>
                <a:ea typeface="微软雅黑" panose="020B0503020204020204" pitchFamily="34" charset="-122"/>
              </a:rPr>
              <a:t>计划到货</a:t>
            </a:r>
            <a:r>
              <a:rPr lang="en-US" altLang="zh-CN" sz="1600" dirty="0">
                <a:solidFill>
                  <a:srgbClr val="FFFFFF"/>
                </a:solidFill>
                <a:latin typeface="Arial" panose="020B0604020202020204" pitchFamily="34" charset="0"/>
                <a:ea typeface="微软雅黑" panose="020B0503020204020204" pitchFamily="34" charset="-122"/>
              </a:rPr>
              <a:t>C</a:t>
            </a:r>
            <a:endParaRPr lang="zh-CN" altLang="en-US" sz="1600" dirty="0">
              <a:solidFill>
                <a:srgbClr val="FFFFFF"/>
              </a:solidFill>
              <a:latin typeface="Arial" panose="020B0604020202020204" pitchFamily="34" charset="0"/>
              <a:ea typeface="微软雅黑" panose="020B0503020204020204" pitchFamily="34" charset="-122"/>
            </a:endParaRPr>
          </a:p>
        </p:txBody>
      </p:sp>
      <p:cxnSp>
        <p:nvCxnSpPr>
          <p:cNvPr id="19" name="直接箭头连接符 29">
            <a:extLst>
              <a:ext uri="{FF2B5EF4-FFF2-40B4-BE49-F238E27FC236}">
                <a16:creationId xmlns:a16="http://schemas.microsoft.com/office/drawing/2014/main" id="{6849DAA2-3347-19B9-1A89-B934EFD63A8A}"/>
              </a:ext>
            </a:extLst>
          </p:cNvPr>
          <p:cNvCxnSpPr>
            <a:stCxn id="18" idx="0"/>
          </p:cNvCxnSpPr>
          <p:nvPr/>
        </p:nvCxnSpPr>
        <p:spPr>
          <a:xfrm flipV="1">
            <a:off x="3583519" y="3500582"/>
            <a:ext cx="0" cy="740832"/>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0" name="矩形 31">
            <a:extLst>
              <a:ext uri="{FF2B5EF4-FFF2-40B4-BE49-F238E27FC236}">
                <a16:creationId xmlns:a16="http://schemas.microsoft.com/office/drawing/2014/main" id="{EA001D15-0F7F-149C-3717-48934711A016}"/>
              </a:ext>
            </a:extLst>
          </p:cNvPr>
          <p:cNvSpPr/>
          <p:nvPr/>
        </p:nvSpPr>
        <p:spPr>
          <a:xfrm>
            <a:off x="4273551" y="4836584"/>
            <a:ext cx="1231900" cy="338554"/>
          </a:xfrm>
          <a:prstGeom prst="rect">
            <a:avLst/>
          </a:prstGeom>
          <a:solidFill>
            <a:srgbClr val="00B050">
              <a:alpha val="50195"/>
            </a:srgbClr>
          </a:solid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buNone/>
            </a:pPr>
            <a:r>
              <a:rPr lang="zh-CN" altLang="en-US" sz="1600" dirty="0">
                <a:solidFill>
                  <a:srgbClr val="FFFFFF"/>
                </a:solidFill>
                <a:latin typeface="Arial" panose="020B0604020202020204" pitchFamily="34" charset="0"/>
                <a:ea typeface="微软雅黑" panose="020B0503020204020204" pitchFamily="34" charset="-122"/>
              </a:rPr>
              <a:t>计划到货</a:t>
            </a:r>
            <a:r>
              <a:rPr lang="en-US" altLang="zh-CN" sz="1600" dirty="0">
                <a:solidFill>
                  <a:srgbClr val="FFFFFF"/>
                </a:solidFill>
                <a:latin typeface="Arial" panose="020B0604020202020204" pitchFamily="34" charset="0"/>
                <a:ea typeface="微软雅黑" panose="020B0503020204020204" pitchFamily="34" charset="-122"/>
              </a:rPr>
              <a:t>A</a:t>
            </a:r>
            <a:endParaRPr lang="zh-CN" altLang="en-US" sz="1600" dirty="0">
              <a:solidFill>
                <a:srgbClr val="FFFFFF"/>
              </a:solidFill>
              <a:latin typeface="Arial" panose="020B0604020202020204" pitchFamily="34" charset="0"/>
              <a:ea typeface="微软雅黑" panose="020B0503020204020204" pitchFamily="34" charset="-122"/>
            </a:endParaRPr>
          </a:p>
        </p:txBody>
      </p:sp>
      <p:cxnSp>
        <p:nvCxnSpPr>
          <p:cNvPr id="21" name="直接箭头连接符 40">
            <a:extLst>
              <a:ext uri="{FF2B5EF4-FFF2-40B4-BE49-F238E27FC236}">
                <a16:creationId xmlns:a16="http://schemas.microsoft.com/office/drawing/2014/main" id="{1D832368-9B2E-0429-808C-1A98A731FEB0}"/>
              </a:ext>
            </a:extLst>
          </p:cNvPr>
          <p:cNvCxnSpPr>
            <a:stCxn id="20" idx="0"/>
          </p:cNvCxnSpPr>
          <p:nvPr/>
        </p:nvCxnSpPr>
        <p:spPr>
          <a:xfrm flipV="1">
            <a:off x="4889501" y="3558117"/>
            <a:ext cx="29632" cy="1278467"/>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CF2D5B0B-5F6F-8085-AAB5-D6211ECB2421}"/>
              </a:ext>
            </a:extLst>
          </p:cNvPr>
          <p:cNvSpPr txBox="1"/>
          <p:nvPr/>
        </p:nvSpPr>
        <p:spPr>
          <a:xfrm rot="-3433726">
            <a:off x="2734733" y="3158652"/>
            <a:ext cx="914400" cy="235898"/>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None/>
            </a:pPr>
            <a:r>
              <a:rPr lang="zh-CN" altLang="en-US" sz="933" dirty="0">
                <a:latin typeface="Arial" panose="020B0604020202020204" pitchFamily="34" charset="0"/>
                <a:ea typeface="微软雅黑" panose="020B0503020204020204" pitchFamily="34" charset="-122"/>
                <a:cs typeface="Arial" panose="020B0604020202020204" pitchFamily="34" charset="0"/>
              </a:rPr>
              <a:t>被需求</a:t>
            </a:r>
            <a:r>
              <a:rPr lang="en-US" altLang="zh-CN" sz="933" dirty="0">
                <a:latin typeface="Arial" panose="020B0604020202020204" pitchFamily="34" charset="0"/>
                <a:ea typeface="微软雅黑" panose="020B0503020204020204" pitchFamily="34" charset="-122"/>
                <a:cs typeface="Arial" panose="020B0604020202020204" pitchFamily="34" charset="0"/>
              </a:rPr>
              <a:t>2</a:t>
            </a:r>
            <a:r>
              <a:rPr lang="zh-CN" altLang="en-US" sz="933" dirty="0">
                <a:latin typeface="Arial" panose="020B0604020202020204" pitchFamily="34" charset="0"/>
                <a:ea typeface="微软雅黑" panose="020B0503020204020204" pitchFamily="34" charset="-122"/>
                <a:cs typeface="Arial" panose="020B0604020202020204" pitchFamily="34" charset="0"/>
              </a:rPr>
              <a:t>占用</a:t>
            </a:r>
            <a:endParaRPr lang="zh-CN" altLang="en-US" sz="933" dirty="0">
              <a:latin typeface="Arial" panose="020B0604020202020204" pitchFamily="34" charset="0"/>
              <a:ea typeface="微软雅黑" panose="020B0503020204020204" pitchFamily="34" charset="-122"/>
            </a:endParaRPr>
          </a:p>
        </p:txBody>
      </p:sp>
      <p:cxnSp>
        <p:nvCxnSpPr>
          <p:cNvPr id="24" name="直接箭头连接符 5">
            <a:extLst>
              <a:ext uri="{FF2B5EF4-FFF2-40B4-BE49-F238E27FC236}">
                <a16:creationId xmlns:a16="http://schemas.microsoft.com/office/drawing/2014/main" id="{1E8BF258-33B9-803D-7A38-07044B350F21}"/>
              </a:ext>
            </a:extLst>
          </p:cNvPr>
          <p:cNvCxnSpPr>
            <a:cxnSpLocks/>
            <a:endCxn id="20" idx="0"/>
          </p:cNvCxnSpPr>
          <p:nvPr/>
        </p:nvCxnSpPr>
        <p:spPr>
          <a:xfrm>
            <a:off x="3579284" y="2679701"/>
            <a:ext cx="1310217" cy="2156883"/>
          </a:xfrm>
          <a:prstGeom prst="straightConnector1">
            <a:avLst/>
          </a:prstGeom>
          <a:ln w="9525" cap="flat" cmpd="sng">
            <a:solidFill>
              <a:schemeClr val="tx1"/>
            </a:solidFill>
            <a:prstDash val="lgDash"/>
            <a:headEnd type="none" w="med" len="med"/>
            <a:tailEnd type="triangle" w="med" len="med"/>
          </a:ln>
        </p:spPr>
      </p:cxnSp>
      <p:cxnSp>
        <p:nvCxnSpPr>
          <p:cNvPr id="25" name="直接箭头连接符 50">
            <a:extLst>
              <a:ext uri="{FF2B5EF4-FFF2-40B4-BE49-F238E27FC236}">
                <a16:creationId xmlns:a16="http://schemas.microsoft.com/office/drawing/2014/main" id="{A6D9826C-EEB3-B56C-06CF-8A06B1C4940D}"/>
              </a:ext>
            </a:extLst>
          </p:cNvPr>
          <p:cNvCxnSpPr>
            <a:cxnSpLocks/>
          </p:cNvCxnSpPr>
          <p:nvPr/>
        </p:nvCxnSpPr>
        <p:spPr>
          <a:xfrm flipH="1">
            <a:off x="2761192" y="2695482"/>
            <a:ext cx="836084" cy="2097617"/>
          </a:xfrm>
          <a:prstGeom prst="straightConnector1">
            <a:avLst/>
          </a:prstGeom>
          <a:ln w="9525" cap="flat" cmpd="sng">
            <a:solidFill>
              <a:schemeClr val="tx1"/>
            </a:solidFill>
            <a:prstDash val="lgDash"/>
            <a:headEnd type="none" w="med" len="med"/>
            <a:tailEnd type="triangle" w="med" len="med"/>
          </a:ln>
        </p:spPr>
      </p:cxnSp>
      <p:sp>
        <p:nvSpPr>
          <p:cNvPr id="26" name="圆角矩形标注 24">
            <a:extLst>
              <a:ext uri="{FF2B5EF4-FFF2-40B4-BE49-F238E27FC236}">
                <a16:creationId xmlns:a16="http://schemas.microsoft.com/office/drawing/2014/main" id="{3FDC3370-4E85-26AE-DED6-F7A76206BFB3}"/>
              </a:ext>
            </a:extLst>
          </p:cNvPr>
          <p:cNvSpPr/>
          <p:nvPr/>
        </p:nvSpPr>
        <p:spPr>
          <a:xfrm>
            <a:off x="1375833" y="1892300"/>
            <a:ext cx="1380067" cy="414867"/>
          </a:xfrm>
          <a:prstGeom prst="wedgeRoundRectCallout">
            <a:avLst>
              <a:gd name="adj1" fmla="val 86096"/>
              <a:gd name="adj2" fmla="val 93018"/>
              <a:gd name="adj3" fmla="val 16667"/>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algn="ctr" defTabSz="1217476" fontAlgn="base">
              <a:spcBef>
                <a:spcPct val="0"/>
              </a:spcBef>
              <a:spcAft>
                <a:spcPct val="0"/>
              </a:spcAft>
              <a:defRPr/>
            </a:pPr>
            <a:r>
              <a:rPr lang="zh-CN" altLang="en-US" sz="1600" dirty="0">
                <a:solidFill>
                  <a:srgbClr val="FFFFFF"/>
                </a:solidFill>
                <a:latin typeface="Arial" panose="020B0604020202020204" pitchFamily="34" charset="0"/>
                <a:ea typeface="微软雅黑" panose="020B0503020204020204" pitchFamily="34" charset="-122"/>
                <a:cs typeface="微软雅黑" panose="020B0503020204020204" pitchFamily="34" charset="-122"/>
              </a:rPr>
              <a:t>交付日期</a:t>
            </a:r>
            <a:r>
              <a:rPr lang="en-US" altLang="zh-CN" sz="1600" dirty="0">
                <a:solidFill>
                  <a:srgbClr val="FFFFFF"/>
                </a:solidFill>
                <a:latin typeface="Arial" panose="020B0604020202020204" pitchFamily="34" charset="0"/>
                <a:ea typeface="微软雅黑" panose="020B0503020204020204" pitchFamily="34" charset="-122"/>
                <a:cs typeface="微软雅黑" panose="020B0503020204020204" pitchFamily="34" charset="-122"/>
              </a:rPr>
              <a:t> Late</a:t>
            </a:r>
            <a:endParaRPr lang="zh-CN" altLang="en-US" sz="1600" dirty="0">
              <a:solidFill>
                <a:srgbClr val="FFFFFF"/>
              </a:solidFill>
              <a:latin typeface="Arial" panose="020B0604020202020204" pitchFamily="34" charset="0"/>
              <a:ea typeface="微软雅黑" panose="020B0503020204020204" pitchFamily="34" charset="-122"/>
              <a:cs typeface="微软雅黑" panose="020B0503020204020204" pitchFamily="34" charset="-122"/>
            </a:endParaRPr>
          </a:p>
        </p:txBody>
      </p:sp>
      <p:cxnSp>
        <p:nvCxnSpPr>
          <p:cNvPr id="29" name="直接连接符 7">
            <a:extLst>
              <a:ext uri="{FF2B5EF4-FFF2-40B4-BE49-F238E27FC236}">
                <a16:creationId xmlns:a16="http://schemas.microsoft.com/office/drawing/2014/main" id="{64F9C202-B247-846B-DDAD-7C284DDC9613}"/>
              </a:ext>
            </a:extLst>
          </p:cNvPr>
          <p:cNvCxnSpPr/>
          <p:nvPr/>
        </p:nvCxnSpPr>
        <p:spPr>
          <a:xfrm>
            <a:off x="2772715" y="1361018"/>
            <a:ext cx="0" cy="219710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直接连接符 7">
            <a:extLst>
              <a:ext uri="{FF2B5EF4-FFF2-40B4-BE49-F238E27FC236}">
                <a16:creationId xmlns:a16="http://schemas.microsoft.com/office/drawing/2014/main" id="{65234D14-41CE-D80F-8237-EECB75E3CF2B}"/>
              </a:ext>
            </a:extLst>
          </p:cNvPr>
          <p:cNvCxnSpPr/>
          <p:nvPr/>
        </p:nvCxnSpPr>
        <p:spPr>
          <a:xfrm>
            <a:off x="4286251" y="1361018"/>
            <a:ext cx="0" cy="4068233"/>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直接连接符 7">
            <a:extLst>
              <a:ext uri="{FF2B5EF4-FFF2-40B4-BE49-F238E27FC236}">
                <a16:creationId xmlns:a16="http://schemas.microsoft.com/office/drawing/2014/main" id="{1D694F20-EFE1-AFAA-02BC-1DB1A1DD618C}"/>
              </a:ext>
            </a:extLst>
          </p:cNvPr>
          <p:cNvCxnSpPr/>
          <p:nvPr/>
        </p:nvCxnSpPr>
        <p:spPr>
          <a:xfrm>
            <a:off x="5505451" y="1418168"/>
            <a:ext cx="0" cy="4068233"/>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直接连接符 7">
            <a:extLst>
              <a:ext uri="{FF2B5EF4-FFF2-40B4-BE49-F238E27FC236}">
                <a16:creationId xmlns:a16="http://schemas.microsoft.com/office/drawing/2014/main" id="{E9DB2BD9-B8A0-AC1C-5D5F-BAB5B63D27F9}"/>
              </a:ext>
            </a:extLst>
          </p:cNvPr>
          <p:cNvCxnSpPr/>
          <p:nvPr/>
        </p:nvCxnSpPr>
        <p:spPr>
          <a:xfrm>
            <a:off x="6830484" y="1418168"/>
            <a:ext cx="0" cy="4068233"/>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8" name="圆角矩形 45">
            <a:extLst>
              <a:ext uri="{FF2B5EF4-FFF2-40B4-BE49-F238E27FC236}">
                <a16:creationId xmlns:a16="http://schemas.microsoft.com/office/drawing/2014/main" id="{86A7EC38-7CCE-1109-8BFE-949E5E852918}"/>
              </a:ext>
            </a:extLst>
          </p:cNvPr>
          <p:cNvSpPr/>
          <p:nvPr/>
        </p:nvSpPr>
        <p:spPr>
          <a:xfrm>
            <a:off x="8358718" y="3769785"/>
            <a:ext cx="3253317" cy="903816"/>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marL="285750" indent="-285750" defTabSz="1219170">
              <a:buFont typeface="Arial" panose="020B0604020202020204" pitchFamily="34" charset="0"/>
              <a:buChar char="•"/>
              <a:defRPr/>
            </a:pPr>
            <a:endParaRPr lang="en-US" altLang="zh-CN" sz="1400" kern="0" dirty="0">
              <a:solidFill>
                <a:schemeClr val="tx1"/>
              </a:solidFill>
              <a:latin typeface="+mn-ea"/>
            </a:endParaRPr>
          </a:p>
        </p:txBody>
      </p:sp>
      <p:sp>
        <p:nvSpPr>
          <p:cNvPr id="40" name="圆角矩形标注 51">
            <a:extLst>
              <a:ext uri="{FF2B5EF4-FFF2-40B4-BE49-F238E27FC236}">
                <a16:creationId xmlns:a16="http://schemas.microsoft.com/office/drawing/2014/main" id="{B732A010-D38A-2025-2321-2985BD362A6F}"/>
              </a:ext>
            </a:extLst>
          </p:cNvPr>
          <p:cNvSpPr/>
          <p:nvPr/>
        </p:nvSpPr>
        <p:spPr>
          <a:xfrm>
            <a:off x="4064334" y="1699438"/>
            <a:ext cx="1380067" cy="372533"/>
          </a:xfrm>
          <a:prstGeom prst="wedgeRoundRectCallout">
            <a:avLst>
              <a:gd name="adj1" fmla="val 67310"/>
              <a:gd name="adj2" fmla="val 101445"/>
              <a:gd name="adj3" fmla="val 16667"/>
            </a:avLst>
          </a:prstGeom>
          <a:solidFill>
            <a:srgbClr val="00AA48"/>
          </a:solidFill>
          <a:ln/>
        </p:spPr>
        <p:style>
          <a:lnRef idx="1">
            <a:schemeClr val="accent6"/>
          </a:lnRef>
          <a:fillRef idx="2">
            <a:schemeClr val="accent6"/>
          </a:fillRef>
          <a:effectRef idx="1">
            <a:schemeClr val="accent6"/>
          </a:effectRef>
          <a:fontRef idx="minor">
            <a:schemeClr val="dk1"/>
          </a:fontRef>
        </p:style>
        <p:txBody>
          <a:bodyPr lIns="121899" tIns="60949" rIns="121899" bIns="60949" anchor="ctr"/>
          <a:lstStyle/>
          <a:p>
            <a:pPr algn="ctr" defTabSz="1217476" fontAlgn="base">
              <a:spcBef>
                <a:spcPct val="0"/>
              </a:spcBef>
              <a:spcAft>
                <a:spcPct val="0"/>
              </a:spcAft>
              <a:defRPr/>
            </a:pPr>
            <a:r>
              <a:rPr lang="en-US" altLang="zh-CN" sz="1600" dirty="0">
                <a:solidFill>
                  <a:srgbClr val="FFFFFF"/>
                </a:solidFill>
                <a:latin typeface="Arial" panose="020B0604020202020204" pitchFamily="34" charset="0"/>
                <a:ea typeface="微软雅黑" panose="020B0503020204020204" pitchFamily="34" charset="-122"/>
                <a:cs typeface="微软雅黑" panose="020B0503020204020204" pitchFamily="34" charset="-122"/>
              </a:rPr>
              <a:t>PSD Pull in</a:t>
            </a:r>
            <a:endParaRPr lang="zh-CN" altLang="en-US" sz="1600" dirty="0">
              <a:solidFill>
                <a:srgbClr val="FFFFFF"/>
              </a:solidFill>
              <a:latin typeface="Arial" panose="020B0604020202020204" pitchFamily="34" charset="0"/>
              <a:ea typeface="微软雅黑" panose="020B0503020204020204" pitchFamily="34" charset="-122"/>
              <a:cs typeface="微软雅黑" panose="020B0503020204020204" pitchFamily="34" charset="-122"/>
            </a:endParaRPr>
          </a:p>
        </p:txBody>
      </p:sp>
      <p:sp>
        <p:nvSpPr>
          <p:cNvPr id="41" name="文本框 40">
            <a:extLst>
              <a:ext uri="{FF2B5EF4-FFF2-40B4-BE49-F238E27FC236}">
                <a16:creationId xmlns:a16="http://schemas.microsoft.com/office/drawing/2014/main" id="{619CAEE8-3288-A033-D600-093289211468}"/>
              </a:ext>
            </a:extLst>
          </p:cNvPr>
          <p:cNvSpPr txBox="1"/>
          <p:nvPr/>
        </p:nvSpPr>
        <p:spPr>
          <a:xfrm>
            <a:off x="10134022" y="3341694"/>
            <a:ext cx="1302564" cy="338554"/>
          </a:xfrm>
          <a:prstGeom prst="rect">
            <a:avLst/>
          </a:prstGeom>
          <a:noFill/>
        </p:spPr>
        <p:txBody>
          <a:bodyPr wrap="square" rtlCol="0">
            <a:spAutoFit/>
          </a:bodyPr>
          <a:lstStyle>
            <a:defPPr>
              <a:defRPr lang="zh-CN"/>
            </a:defPPr>
            <a:lvl1pPr marL="0" lvl="0"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1pPr>
            <a:lvl2pPr marL="457200" lvl="1"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2pPr>
            <a:lvl3pPr marL="914400" lvl="2"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3pPr>
            <a:lvl4pPr marL="1371600" lvl="3"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4pPr>
            <a:lvl5pPr marL="1828800" lvl="4"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5pPr>
            <a:lvl6pPr marL="2286000" lvl="5"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6pPr>
            <a:lvl7pPr marL="2743200" lvl="6"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7pPr>
            <a:lvl8pPr marL="3200400" lvl="7"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8pPr>
            <a:lvl9pPr marL="3657600" lvl="8" indent="0" algn="l" defTabSz="457200" rtl="0" eaLnBrk="0" fontAlgn="base" latinLnBrk="0" hangingPunct="0">
              <a:lnSpc>
                <a:spcPct val="100000"/>
              </a:lnSpc>
              <a:spcBef>
                <a:spcPct val="0"/>
              </a:spcBef>
              <a:spcAft>
                <a:spcPct val="0"/>
              </a:spcAft>
              <a:buNone/>
              <a:defRPr b="0" i="0" u="none" kern="1200" baseline="0">
                <a:solidFill>
                  <a:schemeClr val="tx1"/>
                </a:solidFill>
                <a:latin typeface="Calibri" panose="020F0502020204030204" pitchFamily="34" charset="0"/>
                <a:ea typeface="宋体" panose="02010600030101010101" pitchFamily="2" charset="-122"/>
                <a:cs typeface="+mn-cs"/>
              </a:defRPr>
            </a:lvl9pPr>
          </a:lstStyle>
          <a:p>
            <a:r>
              <a:rPr lang="zh-CN" altLang="en-US" sz="1600" dirty="0">
                <a:solidFill>
                  <a:schemeClr val="tx2">
                    <a:lumMod val="60000"/>
                    <a:lumOff val="40000"/>
                  </a:schemeClr>
                </a:solidFill>
                <a:latin typeface="Arial" panose="020B0604020202020204" pitchFamily="34" charset="0"/>
                <a:ea typeface="微软雅黑" panose="020B0503020204020204" pitchFamily="34" charset="-122"/>
              </a:rPr>
              <a:t>需求日期</a:t>
            </a:r>
          </a:p>
        </p:txBody>
      </p:sp>
      <p:sp>
        <p:nvSpPr>
          <p:cNvPr id="3" name="文本框 2">
            <a:extLst>
              <a:ext uri="{FF2B5EF4-FFF2-40B4-BE49-F238E27FC236}">
                <a16:creationId xmlns:a16="http://schemas.microsoft.com/office/drawing/2014/main" id="{7CEA33A0-2F12-4AAA-8C25-2577087F65F9}"/>
              </a:ext>
            </a:extLst>
          </p:cNvPr>
          <p:cNvSpPr txBox="1"/>
          <p:nvPr/>
        </p:nvSpPr>
        <p:spPr>
          <a:xfrm>
            <a:off x="83430" y="1412594"/>
            <a:ext cx="1839940"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2</a:t>
            </a:r>
            <a:r>
              <a:rPr lang="en-US" altLang="zh-CN" baseline="30000" dirty="0">
                <a:latin typeface="Arial" panose="020B0604020202020204" pitchFamily="34" charset="0"/>
                <a:ea typeface="微软雅黑" panose="020B0503020204020204" pitchFamily="34" charset="-122"/>
              </a:rPr>
              <a:t>nd</a:t>
            </a:r>
            <a:r>
              <a:rPr lang="en-US" altLang="zh-CN" dirty="0">
                <a:latin typeface="Arial" panose="020B0604020202020204" pitchFamily="34" charset="0"/>
                <a:ea typeface="微软雅黑" panose="020B0503020204020204" pitchFamily="34" charset="-122"/>
              </a:rPr>
              <a:t>  RUN</a:t>
            </a:r>
            <a:endParaRPr lang="zh-CN" altLang="en-US" dirty="0">
              <a:latin typeface="Arial" panose="020B0604020202020204" pitchFamily="34" charset="0"/>
              <a:ea typeface="微软雅黑" panose="020B0503020204020204" pitchFamily="34" charset="-122"/>
            </a:endParaRPr>
          </a:p>
        </p:txBody>
      </p:sp>
      <p:sp>
        <p:nvSpPr>
          <p:cNvPr id="42" name="文本框 41">
            <a:extLst>
              <a:ext uri="{FF2B5EF4-FFF2-40B4-BE49-F238E27FC236}">
                <a16:creationId xmlns:a16="http://schemas.microsoft.com/office/drawing/2014/main" id="{8F6B8CA9-E19A-7131-AD97-399B83A981F9}"/>
              </a:ext>
            </a:extLst>
          </p:cNvPr>
          <p:cNvSpPr txBox="1"/>
          <p:nvPr/>
        </p:nvSpPr>
        <p:spPr>
          <a:xfrm>
            <a:off x="8417820" y="3902370"/>
            <a:ext cx="2851313" cy="646331"/>
          </a:xfrm>
          <a:prstGeom prst="rect">
            <a:avLst/>
          </a:prstGeom>
          <a:noFill/>
        </p:spPr>
        <p:txBody>
          <a:bodyPr wrap="square" rtlCol="0">
            <a:spAutoFit/>
          </a:bodyPr>
          <a:lstStyle/>
          <a:p>
            <a:r>
              <a:rPr lang="zh-CN" altLang="en-US" dirty="0">
                <a:latin typeface="Arial" panose="020B0604020202020204" pitchFamily="34" charset="0"/>
                <a:ea typeface="微软雅黑" panose="020B0503020204020204" pitchFamily="34" charset="-122"/>
              </a:rPr>
              <a:t>最近的交付日期应该作为第二优先级</a:t>
            </a:r>
          </a:p>
        </p:txBody>
      </p:sp>
      <p:sp>
        <p:nvSpPr>
          <p:cNvPr id="22" name="文本框 1">
            <a:extLst>
              <a:ext uri="{FF2B5EF4-FFF2-40B4-BE49-F238E27FC236}">
                <a16:creationId xmlns:a16="http://schemas.microsoft.com/office/drawing/2014/main" id="{C58A9471-ECF8-6BEA-19A8-31B98DF40776}"/>
              </a:ext>
            </a:extLst>
          </p:cNvPr>
          <p:cNvSpPr txBox="1"/>
          <p:nvPr/>
        </p:nvSpPr>
        <p:spPr>
          <a:xfrm>
            <a:off x="1153584" y="941918"/>
            <a:ext cx="1589616"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latin typeface="+mj-ea"/>
                <a:ea typeface="+mj-ea"/>
                <a:cs typeface="Arial" panose="020B0604020202020204" pitchFamily="34" charset="0"/>
              </a:rPr>
              <a:t>第</a:t>
            </a:r>
            <a:r>
              <a:rPr lang="en-US" altLang="zh-CN" sz="1733" b="1" dirty="0">
                <a:latin typeface="+mj-ea"/>
                <a:ea typeface="+mj-ea"/>
                <a:cs typeface="Arial" panose="020B0604020202020204" pitchFamily="34" charset="0"/>
              </a:rPr>
              <a:t>1</a:t>
            </a:r>
            <a:r>
              <a:rPr lang="zh-CN" altLang="en-US" sz="1733" b="1" dirty="0">
                <a:latin typeface="+mj-ea"/>
                <a:ea typeface="+mj-ea"/>
                <a:cs typeface="Arial" panose="020B0604020202020204" pitchFamily="34" charset="0"/>
              </a:rPr>
              <a:t>天</a:t>
            </a:r>
            <a:endParaRPr lang="zh-CN" altLang="en-US" sz="1733" b="1" dirty="0">
              <a:latin typeface="+mj-ea"/>
              <a:ea typeface="+mj-ea"/>
            </a:endParaRPr>
          </a:p>
        </p:txBody>
      </p:sp>
      <p:sp>
        <p:nvSpPr>
          <p:cNvPr id="27" name="文本框 1">
            <a:extLst>
              <a:ext uri="{FF2B5EF4-FFF2-40B4-BE49-F238E27FC236}">
                <a16:creationId xmlns:a16="http://schemas.microsoft.com/office/drawing/2014/main" id="{75770B2E-0EC9-EA12-A6F2-20D45E5083E5}"/>
              </a:ext>
            </a:extLst>
          </p:cNvPr>
          <p:cNvSpPr txBox="1"/>
          <p:nvPr/>
        </p:nvSpPr>
        <p:spPr>
          <a:xfrm>
            <a:off x="2580005" y="941917"/>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latin typeface="+mj-ea"/>
                <a:ea typeface="+mj-ea"/>
                <a:cs typeface="Arial" panose="020B0604020202020204" pitchFamily="34" charset="0"/>
              </a:rPr>
              <a:t>第</a:t>
            </a:r>
            <a:r>
              <a:rPr lang="en-US" altLang="zh-CN" sz="1733" b="1" dirty="0">
                <a:latin typeface="+mj-ea"/>
                <a:ea typeface="+mj-ea"/>
                <a:cs typeface="Arial" panose="020B0604020202020204" pitchFamily="34" charset="0"/>
              </a:rPr>
              <a:t>2</a:t>
            </a:r>
            <a:r>
              <a:rPr lang="zh-CN" altLang="en-US" sz="1733" b="1" dirty="0">
                <a:latin typeface="+mj-ea"/>
                <a:ea typeface="+mj-ea"/>
                <a:cs typeface="Arial" panose="020B0604020202020204" pitchFamily="34" charset="0"/>
              </a:rPr>
              <a:t>天</a:t>
            </a:r>
            <a:endParaRPr lang="zh-CN" altLang="en-US" sz="1733" b="1" dirty="0">
              <a:latin typeface="+mj-ea"/>
              <a:ea typeface="+mj-ea"/>
            </a:endParaRPr>
          </a:p>
        </p:txBody>
      </p:sp>
      <p:sp>
        <p:nvSpPr>
          <p:cNvPr id="28" name="文本框 1">
            <a:extLst>
              <a:ext uri="{FF2B5EF4-FFF2-40B4-BE49-F238E27FC236}">
                <a16:creationId xmlns:a16="http://schemas.microsoft.com/office/drawing/2014/main" id="{40F3057E-D250-4CC4-3C1A-2DBCAA4FE5C2}"/>
              </a:ext>
            </a:extLst>
          </p:cNvPr>
          <p:cNvSpPr txBox="1"/>
          <p:nvPr/>
        </p:nvSpPr>
        <p:spPr>
          <a:xfrm>
            <a:off x="5556251" y="937685"/>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latin typeface="+mj-ea"/>
                <a:ea typeface="+mj-ea"/>
                <a:cs typeface="Arial" panose="020B0604020202020204" pitchFamily="34" charset="0"/>
              </a:rPr>
              <a:t>第</a:t>
            </a:r>
            <a:r>
              <a:rPr lang="en-US" altLang="zh-CN" sz="1733" b="1" dirty="0">
                <a:latin typeface="+mj-ea"/>
                <a:ea typeface="+mj-ea"/>
                <a:cs typeface="Arial" panose="020B0604020202020204" pitchFamily="34" charset="0"/>
              </a:rPr>
              <a:t>4</a:t>
            </a:r>
            <a:r>
              <a:rPr lang="zh-CN" altLang="en-US" sz="1733" b="1" dirty="0">
                <a:latin typeface="+mj-ea"/>
                <a:ea typeface="+mj-ea"/>
                <a:cs typeface="Arial" panose="020B0604020202020204" pitchFamily="34" charset="0"/>
              </a:rPr>
              <a:t>天</a:t>
            </a:r>
            <a:endParaRPr lang="zh-CN" altLang="en-US" sz="1733" b="1" dirty="0">
              <a:latin typeface="+mj-ea"/>
              <a:ea typeface="+mj-ea"/>
            </a:endParaRPr>
          </a:p>
        </p:txBody>
      </p:sp>
      <p:sp>
        <p:nvSpPr>
          <p:cNvPr id="43" name="文本框 1">
            <a:extLst>
              <a:ext uri="{FF2B5EF4-FFF2-40B4-BE49-F238E27FC236}">
                <a16:creationId xmlns:a16="http://schemas.microsoft.com/office/drawing/2014/main" id="{6CFF720C-DFC2-1E7B-C8A7-DD71C7305CB4}"/>
              </a:ext>
            </a:extLst>
          </p:cNvPr>
          <p:cNvSpPr txBox="1"/>
          <p:nvPr/>
        </p:nvSpPr>
        <p:spPr>
          <a:xfrm>
            <a:off x="7001934" y="941918"/>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latin typeface="+mj-ea"/>
                <a:ea typeface="+mj-ea"/>
                <a:cs typeface="Arial" panose="020B0604020202020204" pitchFamily="34" charset="0"/>
              </a:rPr>
              <a:t>第</a:t>
            </a:r>
            <a:r>
              <a:rPr lang="en-US" altLang="zh-CN" sz="1733" b="1" dirty="0">
                <a:latin typeface="+mj-ea"/>
                <a:ea typeface="+mj-ea"/>
                <a:cs typeface="Arial" panose="020B0604020202020204" pitchFamily="34" charset="0"/>
              </a:rPr>
              <a:t>5</a:t>
            </a:r>
            <a:r>
              <a:rPr lang="zh-CN" altLang="en-US" sz="1733" b="1" dirty="0">
                <a:latin typeface="+mj-ea"/>
                <a:ea typeface="+mj-ea"/>
                <a:cs typeface="Arial" panose="020B0604020202020204" pitchFamily="34" charset="0"/>
              </a:rPr>
              <a:t>天</a:t>
            </a:r>
            <a:endParaRPr lang="zh-CN" altLang="en-US" sz="1733" b="1" dirty="0">
              <a:latin typeface="+mj-ea"/>
              <a:ea typeface="+mj-ea"/>
            </a:endParaRPr>
          </a:p>
        </p:txBody>
      </p:sp>
      <p:sp>
        <p:nvSpPr>
          <p:cNvPr id="44" name="文本框 1">
            <a:extLst>
              <a:ext uri="{FF2B5EF4-FFF2-40B4-BE49-F238E27FC236}">
                <a16:creationId xmlns:a16="http://schemas.microsoft.com/office/drawing/2014/main" id="{420D520F-5AE2-A9F3-C254-3ABA4E4C6CAD}"/>
              </a:ext>
            </a:extLst>
          </p:cNvPr>
          <p:cNvSpPr txBox="1"/>
          <p:nvPr/>
        </p:nvSpPr>
        <p:spPr>
          <a:xfrm>
            <a:off x="4076025" y="941916"/>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lgn="ctr" defTabSz="1217476" eaLnBrk="1" hangingPunct="1">
              <a:spcBef>
                <a:spcPct val="0"/>
              </a:spcBef>
              <a:buNone/>
            </a:pPr>
            <a:r>
              <a:rPr lang="zh-CN" altLang="en-US" sz="1733" b="1" dirty="0">
                <a:latin typeface="+mj-ea"/>
                <a:ea typeface="+mj-ea"/>
                <a:cs typeface="Arial" panose="020B0604020202020204" pitchFamily="34" charset="0"/>
              </a:rPr>
              <a:t>第</a:t>
            </a:r>
            <a:r>
              <a:rPr lang="en-US" altLang="zh-CN" sz="1733" b="1" dirty="0">
                <a:latin typeface="+mj-ea"/>
                <a:ea typeface="+mj-ea"/>
                <a:cs typeface="Arial" panose="020B0604020202020204" pitchFamily="34" charset="0"/>
              </a:rPr>
              <a:t>3</a:t>
            </a:r>
            <a:r>
              <a:rPr lang="zh-CN" altLang="en-US" sz="1733" b="1" dirty="0">
                <a:latin typeface="+mj-ea"/>
                <a:ea typeface="+mj-ea"/>
                <a:cs typeface="Arial" panose="020B0604020202020204" pitchFamily="34" charset="0"/>
              </a:rPr>
              <a:t>天</a:t>
            </a:r>
            <a:endParaRPr lang="zh-CN" altLang="en-US" sz="1733" b="1" dirty="0">
              <a:latin typeface="+mj-ea"/>
              <a:ea typeface="+mj-ea"/>
            </a:endParaRPr>
          </a:p>
        </p:txBody>
      </p:sp>
      <p:sp>
        <p:nvSpPr>
          <p:cNvPr id="45" name="TextBox 30">
            <a:extLst>
              <a:ext uri="{FF2B5EF4-FFF2-40B4-BE49-F238E27FC236}">
                <a16:creationId xmlns:a16="http://schemas.microsoft.com/office/drawing/2014/main" id="{0FB2973D-0758-60A3-9E26-5E8AE9873FD3}"/>
              </a:ext>
            </a:extLst>
          </p:cNvPr>
          <p:cNvSpPr txBox="1"/>
          <p:nvPr/>
        </p:nvSpPr>
        <p:spPr>
          <a:xfrm>
            <a:off x="991435" y="5444067"/>
            <a:ext cx="4497507" cy="1354195"/>
          </a:xfrm>
          <a:prstGeom prst="rect">
            <a:avLst/>
          </a:prstGeom>
          <a:no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1217476" eaLnBrk="1" hangingPunct="1">
              <a:spcBef>
                <a:spcPct val="0"/>
              </a:spcBef>
              <a:buFont typeface="Arial" panose="020B0604020202020204" pitchFamily="34" charset="0"/>
              <a:buNone/>
            </a:pPr>
            <a:r>
              <a:rPr lang="zh-CN" altLang="en-US" sz="1600" b="1" dirty="0">
                <a:solidFill>
                  <a:srgbClr val="FFFFFF"/>
                </a:solidFill>
                <a:latin typeface="微软雅黑" panose="020B0503020204020204" pitchFamily="34" charset="-122"/>
                <a:ea typeface="微软雅黑" panose="020B0503020204020204" pitchFamily="34" charset="-122"/>
              </a:rPr>
              <a:t>场景</a:t>
            </a:r>
            <a:r>
              <a:rPr lang="en-US" altLang="zh-CN" sz="1600" b="1" dirty="0">
                <a:solidFill>
                  <a:srgbClr val="FFFFFF"/>
                </a:solidFill>
                <a:latin typeface="微软雅黑" panose="020B0503020204020204" pitchFamily="34" charset="-122"/>
                <a:ea typeface="微软雅黑" panose="020B0503020204020204" pitchFamily="34" charset="-122"/>
              </a:rPr>
              <a:t>:</a:t>
            </a:r>
          </a:p>
          <a:p>
            <a:pPr marL="0" indent="0" defTabSz="1217476" eaLnBrk="1" hangingPunct="1">
              <a:spcBef>
                <a:spcPct val="0"/>
              </a:spcBef>
            </a:pPr>
            <a:r>
              <a:rPr lang="zh-CN" altLang="en-US" sz="1600" dirty="0">
                <a:solidFill>
                  <a:srgbClr val="FFFFFF"/>
                </a:solidFill>
                <a:latin typeface="微软雅黑" panose="020B0503020204020204" pitchFamily="34" charset="-122"/>
                <a:ea typeface="微软雅黑" panose="020B0503020204020204" pitchFamily="34" charset="-122"/>
              </a:rPr>
              <a:t>需求</a:t>
            </a:r>
            <a:r>
              <a:rPr lang="en-US" altLang="zh-CN" sz="1600" dirty="0">
                <a:solidFill>
                  <a:srgbClr val="FFFFFF"/>
                </a:solidFill>
                <a:latin typeface="微软雅黑" panose="020B0503020204020204" pitchFamily="34" charset="-122"/>
                <a:ea typeface="微软雅黑" panose="020B0503020204020204" pitchFamily="34" charset="-122"/>
              </a:rPr>
              <a:t>1</a:t>
            </a:r>
            <a:r>
              <a:rPr lang="zh-CN" altLang="en-US" sz="1600" dirty="0">
                <a:solidFill>
                  <a:srgbClr val="FFFFFF"/>
                </a:solidFill>
                <a:latin typeface="微软雅黑" panose="020B0503020204020204" pitchFamily="34" charset="-122"/>
                <a:ea typeface="微软雅黑" panose="020B0503020204020204" pitchFamily="34" charset="-122"/>
              </a:rPr>
              <a:t>由</a:t>
            </a:r>
            <a:r>
              <a:rPr lang="en-US" altLang="zh-CN" sz="1600" dirty="0">
                <a:solidFill>
                  <a:srgbClr val="FFFFFF"/>
                </a:solidFill>
                <a:latin typeface="微软雅黑" panose="020B0503020204020204" pitchFamily="34" charset="-122"/>
                <a:ea typeface="微软雅黑" panose="020B0503020204020204" pitchFamily="34" charset="-122"/>
              </a:rPr>
              <a:t>A</a:t>
            </a:r>
            <a:r>
              <a:rPr lang="zh-CN" altLang="en-US" sz="1600" dirty="0">
                <a:solidFill>
                  <a:srgbClr val="FFFFFF"/>
                </a:solidFill>
                <a:latin typeface="微软雅黑" panose="020B0503020204020204" pitchFamily="34" charset="-122"/>
                <a:ea typeface="微软雅黑" panose="020B0503020204020204" pitchFamily="34" charset="-122"/>
              </a:rPr>
              <a:t>和</a:t>
            </a:r>
            <a:r>
              <a:rPr lang="en-US" altLang="zh-CN" sz="1600" dirty="0">
                <a:solidFill>
                  <a:srgbClr val="FFFFFF"/>
                </a:solidFill>
                <a:latin typeface="微软雅黑" panose="020B0503020204020204" pitchFamily="34" charset="-122"/>
                <a:ea typeface="微软雅黑" panose="020B0503020204020204" pitchFamily="34" charset="-122"/>
              </a:rPr>
              <a:t>B</a:t>
            </a:r>
            <a:r>
              <a:rPr lang="zh-CN" altLang="en-US" sz="1600" dirty="0">
                <a:solidFill>
                  <a:srgbClr val="FFFFFF"/>
                </a:solidFill>
                <a:latin typeface="微软雅黑" panose="020B0503020204020204" pitchFamily="34" charset="-122"/>
                <a:ea typeface="微软雅黑" panose="020B0503020204020204" pitchFamily="34" charset="-122"/>
              </a:rPr>
              <a:t>生产</a:t>
            </a:r>
            <a:endParaRPr lang="en-US" altLang="zh-CN" sz="1600" dirty="0">
              <a:solidFill>
                <a:srgbClr val="FFFFFF"/>
              </a:solidFill>
              <a:latin typeface="微软雅黑" panose="020B0503020204020204" pitchFamily="34" charset="-122"/>
              <a:ea typeface="微软雅黑" panose="020B0503020204020204" pitchFamily="34" charset="-122"/>
            </a:endParaRPr>
          </a:p>
          <a:p>
            <a:pPr marL="0" indent="0" defTabSz="1217476" eaLnBrk="1" hangingPunct="1">
              <a:spcBef>
                <a:spcPct val="0"/>
              </a:spcBef>
            </a:pPr>
            <a:r>
              <a:rPr lang="zh-CN" altLang="en-US" sz="1600" dirty="0">
                <a:solidFill>
                  <a:srgbClr val="FFFFFF"/>
                </a:solidFill>
                <a:latin typeface="微软雅黑" panose="020B0503020204020204" pitchFamily="34" charset="-122"/>
                <a:ea typeface="微软雅黑" panose="020B0503020204020204" pitchFamily="34" charset="-122"/>
              </a:rPr>
              <a:t>需求</a:t>
            </a:r>
            <a:r>
              <a:rPr lang="en-US" altLang="zh-CN" sz="1600" dirty="0">
                <a:solidFill>
                  <a:srgbClr val="FFFFFF"/>
                </a:solidFill>
                <a:latin typeface="微软雅黑" panose="020B0503020204020204" pitchFamily="34" charset="-122"/>
                <a:ea typeface="微软雅黑" panose="020B0503020204020204" pitchFamily="34" charset="-122"/>
              </a:rPr>
              <a:t>2</a:t>
            </a:r>
            <a:r>
              <a:rPr lang="zh-CN" altLang="en-US" sz="1600" dirty="0">
                <a:solidFill>
                  <a:srgbClr val="FFFFFF"/>
                </a:solidFill>
                <a:latin typeface="微软雅黑" panose="020B0503020204020204" pitchFamily="34" charset="-122"/>
                <a:ea typeface="微软雅黑" panose="020B0503020204020204" pitchFamily="34" charset="-122"/>
              </a:rPr>
              <a:t>由</a:t>
            </a:r>
            <a:r>
              <a:rPr lang="en-US" altLang="zh-CN" sz="1600" dirty="0">
                <a:solidFill>
                  <a:srgbClr val="FFFFFF"/>
                </a:solidFill>
                <a:latin typeface="微软雅黑" panose="020B0503020204020204" pitchFamily="34" charset="-122"/>
                <a:ea typeface="微软雅黑" panose="020B0503020204020204" pitchFamily="34" charset="-122"/>
              </a:rPr>
              <a:t>A</a:t>
            </a:r>
            <a:r>
              <a:rPr lang="zh-CN" altLang="en-US" sz="1600" dirty="0">
                <a:solidFill>
                  <a:srgbClr val="FFFFFF"/>
                </a:solidFill>
                <a:latin typeface="微软雅黑" panose="020B0503020204020204" pitchFamily="34" charset="-122"/>
                <a:ea typeface="微软雅黑" panose="020B0503020204020204" pitchFamily="34" charset="-122"/>
              </a:rPr>
              <a:t>和</a:t>
            </a:r>
            <a:r>
              <a:rPr lang="en-US" altLang="zh-CN" sz="1600" dirty="0">
                <a:solidFill>
                  <a:srgbClr val="FFFFFF"/>
                </a:solidFill>
                <a:latin typeface="微软雅黑" panose="020B0503020204020204" pitchFamily="34" charset="-122"/>
                <a:ea typeface="微软雅黑" panose="020B0503020204020204" pitchFamily="34" charset="-122"/>
              </a:rPr>
              <a:t>C</a:t>
            </a:r>
            <a:r>
              <a:rPr lang="zh-CN" altLang="en-US" sz="1600" dirty="0">
                <a:solidFill>
                  <a:srgbClr val="FFFFFF"/>
                </a:solidFill>
                <a:latin typeface="微软雅黑" panose="020B0503020204020204" pitchFamily="34" charset="-122"/>
                <a:ea typeface="微软雅黑" panose="020B0503020204020204" pitchFamily="34" charset="-122"/>
              </a:rPr>
              <a:t>生产</a:t>
            </a:r>
            <a:endParaRPr lang="en-US" altLang="zh-CN" sz="1600" dirty="0">
              <a:solidFill>
                <a:srgbClr val="FFFFFF"/>
              </a:solidFill>
              <a:latin typeface="微软雅黑" panose="020B0503020204020204" pitchFamily="34" charset="-122"/>
              <a:ea typeface="微软雅黑" panose="020B0503020204020204" pitchFamily="34" charset="-122"/>
            </a:endParaRPr>
          </a:p>
          <a:p>
            <a:pPr marL="0" indent="0" defTabSz="1217476" eaLnBrk="1" hangingPunct="1">
              <a:spcBef>
                <a:spcPct val="0"/>
              </a:spcBef>
            </a:pPr>
            <a:r>
              <a:rPr lang="zh-CN" altLang="en-US" sz="1600" dirty="0">
                <a:solidFill>
                  <a:srgbClr val="FFFFFF"/>
                </a:solidFill>
                <a:latin typeface="微软雅黑" panose="020B0503020204020204" pitchFamily="34" charset="-122"/>
                <a:ea typeface="微软雅黑" panose="020B0503020204020204" pitchFamily="34" charset="-122"/>
              </a:rPr>
              <a:t>需求</a:t>
            </a:r>
            <a:r>
              <a:rPr lang="en-US" altLang="zh-CN" sz="1600" dirty="0">
                <a:solidFill>
                  <a:srgbClr val="FFFFFF"/>
                </a:solidFill>
                <a:latin typeface="微软雅黑" panose="020B0503020204020204" pitchFamily="34" charset="-122"/>
                <a:ea typeface="微软雅黑" panose="020B0503020204020204" pitchFamily="34" charset="-122"/>
              </a:rPr>
              <a:t>2</a:t>
            </a:r>
            <a:r>
              <a:rPr lang="zh-CN" altLang="en-US" sz="1600" dirty="0">
                <a:solidFill>
                  <a:srgbClr val="FFFFFF"/>
                </a:solidFill>
                <a:latin typeface="微软雅黑" panose="020B0503020204020204" pitchFamily="34" charset="-122"/>
                <a:ea typeface="微软雅黑" panose="020B0503020204020204" pitchFamily="34" charset="-122"/>
              </a:rPr>
              <a:t>的优先级高于需求</a:t>
            </a:r>
            <a:r>
              <a:rPr lang="en-US" altLang="zh-CN" sz="1600" dirty="0">
                <a:solidFill>
                  <a:srgbClr val="FFFFFF"/>
                </a:solidFill>
                <a:latin typeface="微软雅黑" panose="020B0503020204020204" pitchFamily="34" charset="-122"/>
                <a:ea typeface="微软雅黑" panose="020B0503020204020204" pitchFamily="34" charset="-122"/>
              </a:rPr>
              <a:t>1</a:t>
            </a:r>
          </a:p>
          <a:p>
            <a:pPr marL="0" indent="0" defTabSz="1217476" eaLnBrk="1" hangingPunct="1">
              <a:spcBef>
                <a:spcPct val="0"/>
              </a:spcBef>
            </a:pPr>
            <a:r>
              <a:rPr lang="zh-CN" altLang="en-US" sz="1600" dirty="0">
                <a:solidFill>
                  <a:srgbClr val="FFFFFF"/>
                </a:solidFill>
                <a:latin typeface="微软雅黑" panose="020B0503020204020204" pitchFamily="34" charset="-122"/>
                <a:ea typeface="微软雅黑" panose="020B0503020204020204" pitchFamily="34" charset="-122"/>
              </a:rPr>
              <a:t>库存</a:t>
            </a:r>
            <a:r>
              <a:rPr lang="en-US" altLang="zh-CN" sz="1600" dirty="0">
                <a:solidFill>
                  <a:srgbClr val="FFFFFF"/>
                </a:solidFill>
                <a:latin typeface="微软雅黑" panose="020B0503020204020204" pitchFamily="34" charset="-122"/>
                <a:ea typeface="微软雅黑" panose="020B0503020204020204" pitchFamily="34" charset="-122"/>
              </a:rPr>
              <a:t>A</a:t>
            </a:r>
            <a:r>
              <a:rPr lang="zh-CN" altLang="en-US" sz="1600" dirty="0">
                <a:solidFill>
                  <a:srgbClr val="FFFFFF"/>
                </a:solidFill>
                <a:latin typeface="微软雅黑" panose="020B0503020204020204" pitchFamily="34" charset="-122"/>
                <a:ea typeface="微软雅黑" panose="020B0503020204020204" pitchFamily="34" charset="-122"/>
              </a:rPr>
              <a:t>只能满足其中一笔需求，库存</a:t>
            </a:r>
            <a:r>
              <a:rPr lang="en-US" altLang="zh-CN" sz="1600" dirty="0">
                <a:solidFill>
                  <a:srgbClr val="FFFFFF"/>
                </a:solidFill>
                <a:latin typeface="微软雅黑" panose="020B0503020204020204" pitchFamily="34" charset="-122"/>
                <a:ea typeface="微软雅黑" panose="020B0503020204020204" pitchFamily="34" charset="-122"/>
              </a:rPr>
              <a:t>B</a:t>
            </a:r>
            <a:r>
              <a:rPr lang="zh-CN" altLang="en-US" sz="1600" dirty="0">
                <a:solidFill>
                  <a:srgbClr val="FFFFFF"/>
                </a:solidFill>
                <a:latin typeface="微软雅黑" panose="020B0503020204020204" pitchFamily="34" charset="-122"/>
                <a:ea typeface="微软雅黑" panose="020B0503020204020204" pitchFamily="34" charset="-122"/>
              </a:rPr>
              <a:t>足够</a:t>
            </a:r>
            <a:endParaRPr lang="en-US" altLang="zh-CN" sz="1600" dirty="0">
              <a:solidFill>
                <a:srgbClr val="FFFFFF"/>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438459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childTnLst>
                    </p:cTn>
                  </p:par>
                  <p:par>
                    <p:cTn id="16" fill="hold">
                      <p:stCondLst>
                        <p:cond delay="indefinite"/>
                      </p:stCondLst>
                      <p:childTnLst>
                        <p:par>
                          <p:cTn id="17" fill="hold">
                            <p:stCondLst>
                              <p:cond delay="0"/>
                            </p:stCondLst>
                            <p:childTnLst>
                              <p:par>
                                <p:cTn id="18" presetID="23" presetClass="entr" presetSubtype="16" fill="hold" nodeType="clickEffect">
                                  <p:stCondLst>
                                    <p:cond delay="0"/>
                                  </p:stCondLst>
                                  <p:childTnLst>
                                    <p:set>
                                      <p:cBhvr>
                                        <p:cTn id="19" dur="1" fill="hold">
                                          <p:stCondLst>
                                            <p:cond delay="0"/>
                                          </p:stCondLst>
                                        </p:cTn>
                                        <p:tgtEl>
                                          <p:spTgt spid="14"/>
                                        </p:tgtEl>
                                        <p:attrNameLst>
                                          <p:attrName>style.visibility</p:attrName>
                                        </p:attrNameLst>
                                      </p:cBhvr>
                                      <p:to>
                                        <p:strVal val="visible"/>
                                      </p:to>
                                    </p:set>
                                    <p:anim calcmode="lin" valueType="num">
                                      <p:cBhvr>
                                        <p:cTn id="20" dur="500" fill="hold"/>
                                        <p:tgtEl>
                                          <p:spTgt spid="14"/>
                                        </p:tgtEl>
                                        <p:attrNameLst>
                                          <p:attrName>ppt_w</p:attrName>
                                        </p:attrNameLst>
                                      </p:cBhvr>
                                      <p:tavLst>
                                        <p:tav tm="0">
                                          <p:val>
                                            <p:fltVal val="0"/>
                                          </p:val>
                                        </p:tav>
                                        <p:tav tm="100000">
                                          <p:val>
                                            <p:strVal val="#ppt_w"/>
                                          </p:val>
                                        </p:tav>
                                      </p:tavLst>
                                    </p:anim>
                                    <p:anim calcmode="lin" valueType="num">
                                      <p:cBhvr>
                                        <p:cTn id="21" dur="500" fill="hold"/>
                                        <p:tgtEl>
                                          <p:spTgt spid="14"/>
                                        </p:tgtEl>
                                        <p:attrNameLst>
                                          <p:attrName>ppt_h</p:attrName>
                                        </p:attrNameLst>
                                      </p:cBhvr>
                                      <p:tavLst>
                                        <p:tav tm="0">
                                          <p:val>
                                            <p:fltVal val="0"/>
                                          </p:val>
                                        </p:tav>
                                        <p:tav tm="100000">
                                          <p:val>
                                            <p:strVal val="#ppt_h"/>
                                          </p:val>
                                        </p:tav>
                                      </p:tavLst>
                                    </p:anim>
                                  </p:childTnLst>
                                </p:cTn>
                              </p:par>
                              <p:par>
                                <p:cTn id="22" presetID="1" presetClass="entr" presetSubtype="0" fill="hold" nodeType="withEffect">
                                  <p:stCondLst>
                                    <p:cond delay="0"/>
                                  </p:stCondLst>
                                  <p:childTnLst>
                                    <p:set>
                                      <p:cBhvr>
                                        <p:cTn id="23" dur="1" fill="hold">
                                          <p:stCondLst>
                                            <p:cond delay="0"/>
                                          </p:stCondLst>
                                        </p:cTn>
                                        <p:tgtEl>
                                          <p:spTgt spid="13"/>
                                        </p:tgtEl>
                                        <p:attrNameLst>
                                          <p:attrName>style.visibility</p:attrName>
                                        </p:attrNameLst>
                                      </p:cBhvr>
                                      <p:to>
                                        <p:strVal val="visible"/>
                                      </p:to>
                                    </p:set>
                                  </p:childTnLst>
                                </p:cTn>
                              </p:par>
                              <p:par>
                                <p:cTn id="24" presetID="1" presetClass="entr" presetSubtype="0" fill="hold" grpId="1" nodeType="withEffect">
                                  <p:stCondLst>
                                    <p:cond delay="0"/>
                                  </p:stCondLst>
                                  <p:childTnLst>
                                    <p:set>
                                      <p:cBhvr>
                                        <p:cTn id="25" dur="1" fill="hold">
                                          <p:stCondLst>
                                            <p:cond delay="0"/>
                                          </p:stCondLst>
                                        </p:cTn>
                                        <p:tgtEl>
                                          <p:spTgt spid="2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0" presetClass="exit" presetSubtype="0" fill="hold" grpId="0" nodeType="clickEffect">
                                  <p:stCondLst>
                                    <p:cond delay="0"/>
                                  </p:stCondLst>
                                  <p:childTnLst>
                                    <p:animEffect transition="out" filter="fade">
                                      <p:cBhvr>
                                        <p:cTn id="29" dur="500"/>
                                        <p:tgtEl>
                                          <p:spTgt spid="23"/>
                                        </p:tgtEl>
                                      </p:cBhvr>
                                    </p:animEffect>
                                    <p:set>
                                      <p:cBhvr>
                                        <p:cTn id="30" dur="1" fill="hold">
                                          <p:stCondLst>
                                            <p:cond delay="499"/>
                                          </p:stCondLst>
                                        </p:cTn>
                                        <p:tgtEl>
                                          <p:spTgt spid="23"/>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24"/>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5"/>
                                        </p:tgtEl>
                                        <p:attrNameLst>
                                          <p:attrName>style.visibility</p:attrName>
                                        </p:attrNameLst>
                                      </p:cBhvr>
                                      <p:to>
                                        <p:strVal val="visible"/>
                                      </p:to>
                                    </p:set>
                                  </p:childTnLst>
                                </p:cTn>
                              </p:par>
                              <p:par>
                                <p:cTn id="37" presetID="10" presetClass="entr" presetSubtype="0" fill="hold" grpId="0" nodeType="withEffect">
                                  <p:stCondLst>
                                    <p:cond delay="0"/>
                                  </p:stCondLst>
                                  <p:childTnLst>
                                    <p:set>
                                      <p:cBhvr>
                                        <p:cTn id="38" dur="1" fill="hold">
                                          <p:stCondLst>
                                            <p:cond delay="0"/>
                                          </p:stCondLst>
                                        </p:cTn>
                                        <p:tgtEl>
                                          <p:spTgt spid="26"/>
                                        </p:tgtEl>
                                        <p:attrNameLst>
                                          <p:attrName>style.visibility</p:attrName>
                                        </p:attrNameLst>
                                      </p:cBhvr>
                                      <p:to>
                                        <p:strVal val="visible"/>
                                      </p:to>
                                    </p:set>
                                    <p:animEffect transition="in" filter="fade">
                                      <p:cBhvr>
                                        <p:cTn id="39" dur="500"/>
                                        <p:tgtEl>
                                          <p:spTgt spid="26"/>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40"/>
                                        </p:tgtEl>
                                        <p:attrNameLst>
                                          <p:attrName>style.visibility</p:attrName>
                                        </p:attrNameLst>
                                      </p:cBhvr>
                                      <p:to>
                                        <p:strVal val="visible"/>
                                      </p:to>
                                    </p:set>
                                    <p:animEffect transition="in" filter="fade">
                                      <p:cBhvr>
                                        <p:cTn id="42" dur="500"/>
                                        <p:tgtEl>
                                          <p:spTgt spid="40"/>
                                        </p:tgtEl>
                                      </p:cBhvr>
                                    </p:animEffect>
                                  </p:childTnLst>
                                </p:cTn>
                              </p:par>
                              <p:par>
                                <p:cTn id="43" presetID="22" presetClass="exit" presetSubtype="4" fill="hold" grpId="1" nodeType="withEffect">
                                  <p:stCondLst>
                                    <p:cond delay="0"/>
                                  </p:stCondLst>
                                  <p:childTnLst>
                                    <p:animEffect transition="out" filter="wipe(down)">
                                      <p:cBhvr>
                                        <p:cTn id="44" dur="500"/>
                                        <p:tgtEl>
                                          <p:spTgt spid="40"/>
                                        </p:tgtEl>
                                      </p:cBhvr>
                                    </p:animEffect>
                                    <p:set>
                                      <p:cBhvr>
                                        <p:cTn id="45" dur="1" fill="hold">
                                          <p:stCondLst>
                                            <p:cond delay="499"/>
                                          </p:stCondLst>
                                        </p:cTn>
                                        <p:tgtEl>
                                          <p:spTgt spid="40"/>
                                        </p:tgtEl>
                                        <p:attrNameLst>
                                          <p:attrName>style.visibility</p:attrName>
                                        </p:attrNameLst>
                                      </p:cBhvr>
                                      <p:to>
                                        <p:strVal val="hidden"/>
                                      </p:to>
                                    </p:set>
                                  </p:childTnLst>
                                </p:cTn>
                              </p:par>
                              <p:par>
                                <p:cTn id="46" presetID="22" presetClass="exit" presetSubtype="4" fill="hold" grpId="1" nodeType="withEffect">
                                  <p:stCondLst>
                                    <p:cond delay="0"/>
                                  </p:stCondLst>
                                  <p:childTnLst>
                                    <p:animEffect transition="out" filter="wipe(down)">
                                      <p:cBhvr>
                                        <p:cTn id="47" dur="500"/>
                                        <p:tgtEl>
                                          <p:spTgt spid="26"/>
                                        </p:tgtEl>
                                      </p:cBhvr>
                                    </p:animEffect>
                                    <p:set>
                                      <p:cBhvr>
                                        <p:cTn id="48" dur="1" fill="hold">
                                          <p:stCondLst>
                                            <p:cond delay="499"/>
                                          </p:stCondLst>
                                        </p:cTn>
                                        <p:tgtEl>
                                          <p:spTgt spid="26"/>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3" presetClass="entr" presetSubtype="10" fill="hold" grpId="0"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blinds(horizontal)">
                                      <p:cBhvr>
                                        <p:cTn id="53" dur="500"/>
                                        <p:tgtEl>
                                          <p:spTgt spid="17"/>
                                        </p:tgtEl>
                                      </p:cBhvr>
                                    </p:animEffect>
                                  </p:childTnLst>
                                </p:cTn>
                              </p:par>
                              <p:par>
                                <p:cTn id="54" presetID="3" presetClass="entr" presetSubtype="10" fill="hold" grpId="0" nodeType="withEffect">
                                  <p:stCondLst>
                                    <p:cond delay="0"/>
                                  </p:stCondLst>
                                  <p:childTnLst>
                                    <p:set>
                                      <p:cBhvr>
                                        <p:cTn id="55" dur="1" fill="hold">
                                          <p:stCondLst>
                                            <p:cond delay="0"/>
                                          </p:stCondLst>
                                        </p:cTn>
                                        <p:tgtEl>
                                          <p:spTgt spid="38"/>
                                        </p:tgtEl>
                                        <p:attrNameLst>
                                          <p:attrName>style.visibility</p:attrName>
                                        </p:attrNameLst>
                                      </p:cBhvr>
                                      <p:to>
                                        <p:strVal val="visible"/>
                                      </p:to>
                                    </p:set>
                                    <p:animEffect transition="in" filter="blinds(horizontal)">
                                      <p:cBhvr>
                                        <p:cTn id="56"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p:bldP spid="23" grpId="0"/>
      <p:bldP spid="23" grpId="1"/>
      <p:bldP spid="26" grpId="0" animBg="1"/>
      <p:bldP spid="26" grpId="1" animBg="1"/>
      <p:bldP spid="38" grpId="0" animBg="1"/>
      <p:bldP spid="40" grpId="0" animBg="1"/>
      <p:bldP spid="40" grpId="1" animBg="1"/>
      <p:bldP spid="3"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F724F57-D17F-F62C-4CB7-CEA780F3E249}"/>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OTP(Optimized to promise)</a:t>
            </a:r>
            <a:endParaRPr lang="zh-CN" altLang="en-US" dirty="0">
              <a:latin typeface="Arial" panose="020B0604020202020204" pitchFamily="34" charset="0"/>
              <a:ea typeface="微软雅黑" panose="020B0503020204020204" pitchFamily="34" charset="-122"/>
            </a:endParaRPr>
          </a:p>
        </p:txBody>
      </p:sp>
      <p:sp>
        <p:nvSpPr>
          <p:cNvPr id="4" name="椭圆 3">
            <a:extLst>
              <a:ext uri="{FF2B5EF4-FFF2-40B4-BE49-F238E27FC236}">
                <a16:creationId xmlns:a16="http://schemas.microsoft.com/office/drawing/2014/main" id="{CE58B136-830D-206F-E4EF-B3098F846E3A}"/>
              </a:ext>
            </a:extLst>
          </p:cNvPr>
          <p:cNvSpPr/>
          <p:nvPr/>
        </p:nvSpPr>
        <p:spPr>
          <a:xfrm>
            <a:off x="676896" y="2089223"/>
            <a:ext cx="6716107" cy="603054"/>
          </a:xfrm>
          <a:prstGeom prst="ellipse">
            <a:avLst/>
          </a:prstGeom>
          <a:noFill/>
          <a:ln w="12700" cap="flat" cmpd="sng" algn="ctr">
            <a:solidFill>
              <a:schemeClr val="tx1"/>
            </a:solidFill>
            <a:prstDash val="sys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effectLst/>
              <a:uLnTx/>
              <a:uFillTx/>
              <a:latin typeface="Verdana"/>
              <a:ea typeface="微软雅黑" panose="020B0503020204020204" pitchFamily="34" charset="-122"/>
              <a:cs typeface="+mn-cs"/>
            </a:endParaRPr>
          </a:p>
        </p:txBody>
      </p:sp>
      <p:sp>
        <p:nvSpPr>
          <p:cNvPr id="5" name="灯片编号占位符 3">
            <a:extLst>
              <a:ext uri="{FF2B5EF4-FFF2-40B4-BE49-F238E27FC236}">
                <a16:creationId xmlns:a16="http://schemas.microsoft.com/office/drawing/2014/main" id="{F76421B7-AD0C-56F1-858D-D6C4326AB54C}"/>
              </a:ext>
            </a:extLst>
          </p:cNvPr>
          <p:cNvSpPr txBox="1">
            <a:spLocks/>
          </p:cNvSpPr>
          <p:nvPr/>
        </p:nvSpPr>
        <p:spPr>
          <a:xfrm>
            <a:off x="9206057" y="6478934"/>
            <a:ext cx="2547595" cy="206381"/>
          </a:xfrm>
        </p:spPr>
        <p:txBody>
          <a:bodyPr/>
          <a:lstStyle>
            <a:defPPr>
              <a:defRPr lang="zh-CN"/>
            </a:defPPr>
            <a:lvl1pPr marL="0" algn="r" defTabSz="914400" rtl="0" eaLnBrk="1" latinLnBrk="0" hangingPunct="1">
              <a:defRPr sz="18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49AE70B2-8BF9-45C0-BB95-33D1B9D3A854}" type="slidenum">
              <a:rPr lang="zh-CN" altLang="en-US" sz="1000" kern="0" smtClean="0">
                <a:solidFill>
                  <a:srgbClr val="FFFFFF">
                    <a:lumMod val="50000"/>
                  </a:srgbClr>
                </a:solidFill>
                <a:latin typeface="Arial" panose="020B0604020202020204" pitchFamily="34" charset="0"/>
                <a:ea typeface="微软雅黑" panose="020B0503020204020204" pitchFamily="34" charset="-122"/>
              </a:rPr>
              <a:pPr/>
              <a:t>77</a:t>
            </a:fld>
            <a:endParaRPr lang="zh-CN" altLang="en-US" sz="1000" kern="0" dirty="0">
              <a:solidFill>
                <a:srgbClr val="000000">
                  <a:lumMod val="50000"/>
                  <a:lumOff val="50000"/>
                </a:srgbClr>
              </a:solidFill>
              <a:latin typeface="Arial" panose="020B0604020202020204" pitchFamily="34" charset="0"/>
              <a:ea typeface="微软雅黑" panose="020B0503020204020204" pitchFamily="34" charset="-122"/>
            </a:endParaRPr>
          </a:p>
        </p:txBody>
      </p:sp>
      <p:cxnSp>
        <p:nvCxnSpPr>
          <p:cNvPr id="6" name="直接连接符 5">
            <a:extLst>
              <a:ext uri="{FF2B5EF4-FFF2-40B4-BE49-F238E27FC236}">
                <a16:creationId xmlns:a16="http://schemas.microsoft.com/office/drawing/2014/main" id="{465A6E67-5B5D-7B77-9942-C0232F203166}"/>
              </a:ext>
            </a:extLst>
          </p:cNvPr>
          <p:cNvCxnSpPr/>
          <p:nvPr/>
        </p:nvCxnSpPr>
        <p:spPr>
          <a:xfrm>
            <a:off x="982262" y="1804945"/>
            <a:ext cx="0" cy="3978548"/>
          </a:xfrm>
          <a:prstGeom prst="line">
            <a:avLst/>
          </a:prstGeom>
          <a:ln>
            <a:solidFill>
              <a:schemeClr val="accent1"/>
            </a:solidFill>
          </a:ln>
        </p:spPr>
        <p:style>
          <a:lnRef idx="3">
            <a:schemeClr val="accent2"/>
          </a:lnRef>
          <a:fillRef idx="0">
            <a:schemeClr val="accent2"/>
          </a:fillRef>
          <a:effectRef idx="2">
            <a:schemeClr val="accent2"/>
          </a:effectRef>
          <a:fontRef idx="minor">
            <a:schemeClr val="tx1"/>
          </a:fontRef>
        </p:style>
      </p:cxnSp>
      <p:sp>
        <p:nvSpPr>
          <p:cNvPr id="7" name="文本框 6">
            <a:extLst>
              <a:ext uri="{FF2B5EF4-FFF2-40B4-BE49-F238E27FC236}">
                <a16:creationId xmlns:a16="http://schemas.microsoft.com/office/drawing/2014/main" id="{E95A3D32-4FA3-4D66-F6BB-25871BBEEE9C}"/>
              </a:ext>
            </a:extLst>
          </p:cNvPr>
          <p:cNvSpPr txBox="1"/>
          <p:nvPr/>
        </p:nvSpPr>
        <p:spPr>
          <a:xfrm>
            <a:off x="544487" y="1267216"/>
            <a:ext cx="834302" cy="284279"/>
          </a:xfrm>
          <a:prstGeom prst="rect">
            <a:avLst/>
          </a:prstGeom>
          <a:noFill/>
        </p:spPr>
        <p:txBody>
          <a:bodyPr wrap="square" rtlCol="0">
            <a:spAutoFit/>
          </a:bodyPr>
          <a:lstStyle/>
          <a:p>
            <a:r>
              <a:rPr lang="zh-CN" altLang="en-US" sz="1200" b="1" dirty="0">
                <a:latin typeface="Arial" panose="020B0604020202020204" pitchFamily="34" charset="0"/>
                <a:ea typeface="微软雅黑" panose="020B0503020204020204" pitchFamily="34" charset="-122"/>
              </a:rPr>
              <a:t>当前日期</a:t>
            </a:r>
          </a:p>
        </p:txBody>
      </p:sp>
      <p:grpSp>
        <p:nvGrpSpPr>
          <p:cNvPr id="8" name="组合 7">
            <a:extLst>
              <a:ext uri="{FF2B5EF4-FFF2-40B4-BE49-F238E27FC236}">
                <a16:creationId xmlns:a16="http://schemas.microsoft.com/office/drawing/2014/main" id="{6C4925BB-085D-8545-853D-1D7E91ECCDDC}"/>
              </a:ext>
            </a:extLst>
          </p:cNvPr>
          <p:cNvGrpSpPr/>
          <p:nvPr/>
        </p:nvGrpSpPr>
        <p:grpSpPr>
          <a:xfrm>
            <a:off x="1011290" y="1804945"/>
            <a:ext cx="8120749" cy="1347415"/>
            <a:chOff x="1011290" y="1804945"/>
            <a:chExt cx="8120749" cy="1347415"/>
          </a:xfrm>
        </p:grpSpPr>
        <p:sp>
          <p:nvSpPr>
            <p:cNvPr id="9" name="椭圆 8">
              <a:extLst>
                <a:ext uri="{FF2B5EF4-FFF2-40B4-BE49-F238E27FC236}">
                  <a16:creationId xmlns:a16="http://schemas.microsoft.com/office/drawing/2014/main" id="{7166F46F-DBD7-64A0-BF64-DBAAF1ED682E}"/>
                </a:ext>
              </a:extLst>
            </p:cNvPr>
            <p:cNvSpPr/>
            <p:nvPr/>
          </p:nvSpPr>
          <p:spPr>
            <a:xfrm>
              <a:off x="1011290" y="2202142"/>
              <a:ext cx="1001485" cy="370114"/>
            </a:xfrm>
            <a:prstGeom prst="ellipse">
              <a:avLst/>
            </a:prstGeom>
            <a:solidFill>
              <a:schemeClr val="accent1">
                <a:lumMod val="20000"/>
                <a:lumOff val="80000"/>
              </a:schemeClr>
            </a:solidFill>
            <a:ln w="6350" cap="flat" cmpd="sng" algn="ctr">
              <a:solidFill>
                <a:srgbClr val="6C92FD"/>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原材 </a:t>
              </a: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E</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10" name="椭圆 9">
              <a:extLst>
                <a:ext uri="{FF2B5EF4-FFF2-40B4-BE49-F238E27FC236}">
                  <a16:creationId xmlns:a16="http://schemas.microsoft.com/office/drawing/2014/main" id="{A9E857C7-824B-0A2C-E871-10AB2DBA2B4E}"/>
                </a:ext>
              </a:extLst>
            </p:cNvPr>
            <p:cNvSpPr/>
            <p:nvPr/>
          </p:nvSpPr>
          <p:spPr>
            <a:xfrm>
              <a:off x="2145225" y="2202142"/>
              <a:ext cx="1001485" cy="370114"/>
            </a:xfrm>
            <a:prstGeom prst="ellipse">
              <a:avLst/>
            </a:prstGeom>
            <a:solidFill>
              <a:schemeClr val="accent1">
                <a:lumMod val="40000"/>
                <a:lumOff val="60000"/>
              </a:schemeClr>
            </a:solidFill>
            <a:ln w="6350" cap="flat" cmpd="sng" algn="ctr">
              <a:solidFill>
                <a:srgbClr val="4765D8"/>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部件 </a:t>
              </a: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D</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11" name="椭圆 10">
              <a:extLst>
                <a:ext uri="{FF2B5EF4-FFF2-40B4-BE49-F238E27FC236}">
                  <a16:creationId xmlns:a16="http://schemas.microsoft.com/office/drawing/2014/main" id="{6303FC94-14AA-CB36-8B0D-8C5550ECA868}"/>
                </a:ext>
              </a:extLst>
            </p:cNvPr>
            <p:cNvSpPr/>
            <p:nvPr/>
          </p:nvSpPr>
          <p:spPr>
            <a:xfrm>
              <a:off x="3823437" y="2202142"/>
              <a:ext cx="1001485" cy="370114"/>
            </a:xfrm>
            <a:prstGeom prst="ellipse">
              <a:avLst/>
            </a:prstGeom>
            <a:solidFill>
              <a:schemeClr val="accent1">
                <a:lumMod val="60000"/>
                <a:lumOff val="40000"/>
              </a:schemeClr>
            </a:solidFill>
            <a:ln w="6350" cap="flat" cmpd="sng" algn="ctr">
              <a:solidFill>
                <a:srgbClr val="09309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部件 </a:t>
              </a: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C</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12" name="椭圆 11">
              <a:extLst>
                <a:ext uri="{FF2B5EF4-FFF2-40B4-BE49-F238E27FC236}">
                  <a16:creationId xmlns:a16="http://schemas.microsoft.com/office/drawing/2014/main" id="{D7C520D7-F74C-5871-1080-7553F8A210CA}"/>
                </a:ext>
              </a:extLst>
            </p:cNvPr>
            <p:cNvSpPr/>
            <p:nvPr/>
          </p:nvSpPr>
          <p:spPr>
            <a:xfrm>
              <a:off x="5973367" y="2202142"/>
              <a:ext cx="1001485" cy="370114"/>
            </a:xfrm>
            <a:prstGeom prst="ellipse">
              <a:avLst/>
            </a:prstGeom>
            <a:solidFill>
              <a:schemeClr val="accent1">
                <a:lumMod val="75000"/>
              </a:schemeClr>
            </a:solidFill>
            <a:ln w="6350" cap="flat" cmpd="sng" algn="ctr">
              <a:solidFill>
                <a:srgbClr val="2E3B72"/>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部件 </a:t>
              </a: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B</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grpSp>
          <p:nvGrpSpPr>
            <p:cNvPr id="13" name="组合 12">
              <a:extLst>
                <a:ext uri="{FF2B5EF4-FFF2-40B4-BE49-F238E27FC236}">
                  <a16:creationId xmlns:a16="http://schemas.microsoft.com/office/drawing/2014/main" id="{8CCDE319-4511-F8DA-A531-BF79B7D56765}"/>
                </a:ext>
              </a:extLst>
            </p:cNvPr>
            <p:cNvGrpSpPr/>
            <p:nvPr/>
          </p:nvGrpSpPr>
          <p:grpSpPr>
            <a:xfrm>
              <a:off x="8130554" y="1810953"/>
              <a:ext cx="1001485" cy="761303"/>
              <a:chOff x="8130554" y="1804530"/>
              <a:chExt cx="1001485" cy="761303"/>
            </a:xfrm>
          </p:grpSpPr>
          <p:sp>
            <p:nvSpPr>
              <p:cNvPr id="30" name="椭圆 29">
                <a:extLst>
                  <a:ext uri="{FF2B5EF4-FFF2-40B4-BE49-F238E27FC236}">
                    <a16:creationId xmlns:a16="http://schemas.microsoft.com/office/drawing/2014/main" id="{2E6ADE7E-B06E-4D3D-8F25-A2FC1BCE8FB9}"/>
                  </a:ext>
                </a:extLst>
              </p:cNvPr>
              <p:cNvSpPr/>
              <p:nvPr/>
            </p:nvSpPr>
            <p:spPr>
              <a:xfrm>
                <a:off x="8130554" y="2195719"/>
                <a:ext cx="1001485" cy="370114"/>
              </a:xfrm>
              <a:prstGeom prst="ellipse">
                <a:avLst/>
              </a:prstGeom>
              <a:solidFill>
                <a:schemeClr val="accent1">
                  <a:lumMod val="50000"/>
                </a:schemeClr>
              </a:solidFill>
              <a:ln w="6350" cap="flat" cmpd="sng" algn="ctr">
                <a:solidFill>
                  <a:srgbClr val="2E3B72"/>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成品 </a:t>
                </a: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A</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31" name="矩形 30">
                <a:extLst>
                  <a:ext uri="{FF2B5EF4-FFF2-40B4-BE49-F238E27FC236}">
                    <a16:creationId xmlns:a16="http://schemas.microsoft.com/office/drawing/2014/main" id="{B0E6ED27-4B2C-5434-12B3-A0756326957E}"/>
                  </a:ext>
                </a:extLst>
              </p:cNvPr>
              <p:cNvSpPr/>
              <p:nvPr/>
            </p:nvSpPr>
            <p:spPr>
              <a:xfrm>
                <a:off x="8256276" y="1804530"/>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accent1">
                        <a:lumMod val="50000"/>
                      </a:schemeClr>
                    </a:solidFill>
                    <a:effectLst/>
                    <a:uLnTx/>
                    <a:uFillTx/>
                    <a:latin typeface="Arial" panose="020B0604020202020204" pitchFamily="34" charset="0"/>
                    <a:ea typeface="微软雅黑" panose="020B0503020204020204" pitchFamily="34" charset="-122"/>
                    <a:cs typeface="+mn-cs"/>
                  </a:rPr>
                  <a:t>Level 0</a:t>
                </a:r>
                <a:endParaRPr kumimoji="0" lang="zh-CN" altLang="en-US" sz="1200" b="0" i="0" u="none" strike="noStrike" kern="0" cap="none" spc="0" normalizeH="0" baseline="0" noProof="0" dirty="0">
                  <a:ln>
                    <a:noFill/>
                  </a:ln>
                  <a:solidFill>
                    <a:schemeClr val="accent1">
                      <a:lumMod val="50000"/>
                    </a:schemeClr>
                  </a:solidFill>
                  <a:effectLst/>
                  <a:uLnTx/>
                  <a:uFillTx/>
                  <a:latin typeface="Arial" panose="020B0604020202020204" pitchFamily="34" charset="0"/>
                  <a:ea typeface="微软雅黑" panose="020B0503020204020204" pitchFamily="34" charset="-122"/>
                  <a:cs typeface="+mn-cs"/>
                </a:endParaRPr>
              </a:p>
            </p:txBody>
          </p:sp>
        </p:grpSp>
        <p:sp>
          <p:nvSpPr>
            <p:cNvPr id="14" name="矩形 13">
              <a:extLst>
                <a:ext uri="{FF2B5EF4-FFF2-40B4-BE49-F238E27FC236}">
                  <a16:creationId xmlns:a16="http://schemas.microsoft.com/office/drawing/2014/main" id="{04A42584-F4E2-21A2-A736-EA2AE802996A}"/>
                </a:ext>
              </a:extLst>
            </p:cNvPr>
            <p:cNvSpPr/>
            <p:nvPr/>
          </p:nvSpPr>
          <p:spPr>
            <a:xfrm>
              <a:off x="6099089" y="1804945"/>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accent1">
                      <a:lumMod val="50000"/>
                    </a:schemeClr>
                  </a:solidFill>
                  <a:effectLst/>
                  <a:uLnTx/>
                  <a:uFillTx/>
                  <a:latin typeface="Arial" panose="020B0604020202020204" pitchFamily="34" charset="0"/>
                  <a:ea typeface="微软雅黑" panose="020B0503020204020204" pitchFamily="34" charset="-122"/>
                  <a:cs typeface="+mn-cs"/>
                </a:rPr>
                <a:t>Level 1</a:t>
              </a:r>
              <a:endParaRPr kumimoji="0" lang="zh-CN" altLang="en-US" sz="1200" b="0" i="0" u="none" strike="noStrike" kern="0" cap="none" spc="0" normalizeH="0" baseline="0" noProof="0" dirty="0">
                <a:ln>
                  <a:noFill/>
                </a:ln>
                <a:solidFill>
                  <a:schemeClr val="accent1">
                    <a:lumMod val="50000"/>
                  </a:schemeClr>
                </a:solidFill>
                <a:effectLst/>
                <a:uLnTx/>
                <a:uFillTx/>
                <a:latin typeface="Arial" panose="020B0604020202020204" pitchFamily="34" charset="0"/>
                <a:ea typeface="微软雅黑" panose="020B0503020204020204" pitchFamily="34" charset="-122"/>
                <a:cs typeface="+mn-cs"/>
              </a:endParaRPr>
            </a:p>
          </p:txBody>
        </p:sp>
        <p:sp>
          <p:nvSpPr>
            <p:cNvPr id="15" name="矩形 14">
              <a:extLst>
                <a:ext uri="{FF2B5EF4-FFF2-40B4-BE49-F238E27FC236}">
                  <a16:creationId xmlns:a16="http://schemas.microsoft.com/office/drawing/2014/main" id="{F70A4D29-5DAE-7A08-65FE-8DBDA7B262CA}"/>
                </a:ext>
              </a:extLst>
            </p:cNvPr>
            <p:cNvSpPr/>
            <p:nvPr/>
          </p:nvSpPr>
          <p:spPr>
            <a:xfrm>
              <a:off x="3943888" y="1804945"/>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accent1">
                      <a:lumMod val="50000"/>
                    </a:schemeClr>
                  </a:solidFill>
                  <a:effectLst/>
                  <a:uLnTx/>
                  <a:uFillTx/>
                  <a:latin typeface="Arial" panose="020B0604020202020204" pitchFamily="34" charset="0"/>
                  <a:ea typeface="微软雅黑" panose="020B0503020204020204" pitchFamily="34" charset="-122"/>
                  <a:cs typeface="+mn-cs"/>
                </a:rPr>
                <a:t>Level 2</a:t>
              </a:r>
              <a:endParaRPr kumimoji="0" lang="zh-CN" altLang="en-US" sz="1200" b="0" i="0" u="none" strike="noStrike" kern="0" cap="none" spc="0" normalizeH="0" baseline="0" noProof="0" dirty="0">
                <a:ln>
                  <a:noFill/>
                </a:ln>
                <a:solidFill>
                  <a:schemeClr val="accent1">
                    <a:lumMod val="50000"/>
                  </a:schemeClr>
                </a:solidFill>
                <a:effectLst/>
                <a:uLnTx/>
                <a:uFillTx/>
                <a:latin typeface="Arial" panose="020B0604020202020204" pitchFamily="34" charset="0"/>
                <a:ea typeface="微软雅黑" panose="020B0503020204020204" pitchFamily="34" charset="-122"/>
                <a:cs typeface="+mn-cs"/>
              </a:endParaRPr>
            </a:p>
          </p:txBody>
        </p:sp>
        <p:sp>
          <p:nvSpPr>
            <p:cNvPr id="16" name="矩形 15">
              <a:extLst>
                <a:ext uri="{FF2B5EF4-FFF2-40B4-BE49-F238E27FC236}">
                  <a16:creationId xmlns:a16="http://schemas.microsoft.com/office/drawing/2014/main" id="{370F7AB0-A182-3AC8-C0C7-5425FBB13C84}"/>
                </a:ext>
              </a:extLst>
            </p:cNvPr>
            <p:cNvSpPr/>
            <p:nvPr/>
          </p:nvSpPr>
          <p:spPr>
            <a:xfrm>
              <a:off x="2275385" y="1804945"/>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accent1">
                      <a:lumMod val="50000"/>
                    </a:schemeClr>
                  </a:solidFill>
                  <a:effectLst/>
                  <a:uLnTx/>
                  <a:uFillTx/>
                  <a:latin typeface="Arial" panose="020B0604020202020204" pitchFamily="34" charset="0"/>
                  <a:ea typeface="微软雅黑" panose="020B0503020204020204" pitchFamily="34" charset="-122"/>
                  <a:cs typeface="+mn-cs"/>
                </a:rPr>
                <a:t>Level 3</a:t>
              </a:r>
              <a:endParaRPr kumimoji="0" lang="zh-CN" altLang="en-US" sz="1200" b="0" i="0" u="none" strike="noStrike" kern="0" cap="none" spc="0" normalizeH="0" baseline="0" noProof="0" dirty="0">
                <a:ln>
                  <a:noFill/>
                </a:ln>
                <a:solidFill>
                  <a:schemeClr val="accent1">
                    <a:lumMod val="50000"/>
                  </a:schemeClr>
                </a:solidFill>
                <a:effectLst/>
                <a:uLnTx/>
                <a:uFillTx/>
                <a:latin typeface="Arial" panose="020B0604020202020204" pitchFamily="34" charset="0"/>
                <a:ea typeface="微软雅黑" panose="020B0503020204020204" pitchFamily="34" charset="-122"/>
                <a:cs typeface="+mn-cs"/>
              </a:endParaRPr>
            </a:p>
          </p:txBody>
        </p:sp>
        <p:sp>
          <p:nvSpPr>
            <p:cNvPr id="17" name="矩形 16">
              <a:extLst>
                <a:ext uri="{FF2B5EF4-FFF2-40B4-BE49-F238E27FC236}">
                  <a16:creationId xmlns:a16="http://schemas.microsoft.com/office/drawing/2014/main" id="{47C1D59D-B616-9D20-D754-74E00F2AE98F}"/>
                </a:ext>
              </a:extLst>
            </p:cNvPr>
            <p:cNvSpPr/>
            <p:nvPr/>
          </p:nvSpPr>
          <p:spPr>
            <a:xfrm>
              <a:off x="1136179" y="1804945"/>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accent1">
                      <a:lumMod val="50000"/>
                    </a:schemeClr>
                  </a:solidFill>
                  <a:effectLst/>
                  <a:uLnTx/>
                  <a:uFillTx/>
                  <a:latin typeface="Arial" panose="020B0604020202020204" pitchFamily="34" charset="0"/>
                  <a:ea typeface="微软雅黑" panose="020B0503020204020204" pitchFamily="34" charset="-122"/>
                  <a:cs typeface="+mn-cs"/>
                </a:rPr>
                <a:t>Level 4</a:t>
              </a:r>
              <a:endParaRPr kumimoji="0" lang="zh-CN" altLang="en-US" sz="1200" b="0" i="0" u="none" strike="noStrike" kern="0" cap="none" spc="0" normalizeH="0" baseline="0" noProof="0" dirty="0">
                <a:ln>
                  <a:noFill/>
                </a:ln>
                <a:solidFill>
                  <a:schemeClr val="accent1">
                    <a:lumMod val="50000"/>
                  </a:schemeClr>
                </a:solidFill>
                <a:effectLst/>
                <a:uLnTx/>
                <a:uFillTx/>
                <a:latin typeface="Arial" panose="020B0604020202020204" pitchFamily="34" charset="0"/>
                <a:ea typeface="微软雅黑" panose="020B0503020204020204" pitchFamily="34" charset="-122"/>
                <a:cs typeface="+mn-cs"/>
              </a:endParaRPr>
            </a:p>
          </p:txBody>
        </p:sp>
        <p:grpSp>
          <p:nvGrpSpPr>
            <p:cNvPr id="18" name="组合 17">
              <a:extLst>
                <a:ext uri="{FF2B5EF4-FFF2-40B4-BE49-F238E27FC236}">
                  <a16:creationId xmlns:a16="http://schemas.microsoft.com/office/drawing/2014/main" id="{13F1E82B-F83D-7DC6-7DED-C0AEC07DA562}"/>
                </a:ext>
              </a:extLst>
            </p:cNvPr>
            <p:cNvGrpSpPr/>
            <p:nvPr/>
          </p:nvGrpSpPr>
          <p:grpSpPr>
            <a:xfrm>
              <a:off x="1518382" y="2573163"/>
              <a:ext cx="1257190" cy="509210"/>
              <a:chOff x="1518382" y="2245986"/>
              <a:chExt cx="1257190" cy="509210"/>
            </a:xfrm>
          </p:grpSpPr>
          <p:cxnSp>
            <p:nvCxnSpPr>
              <p:cNvPr id="28" name="连接符: 曲线 27">
                <a:extLst>
                  <a:ext uri="{FF2B5EF4-FFF2-40B4-BE49-F238E27FC236}">
                    <a16:creationId xmlns:a16="http://schemas.microsoft.com/office/drawing/2014/main" id="{C4BFBB75-0D1A-C09D-569E-F4135B449FDD}"/>
                  </a:ext>
                </a:extLst>
              </p:cNvPr>
              <p:cNvCxnSpPr>
                <a:stCxn id="9" idx="4"/>
                <a:endCxn id="10" idx="4"/>
              </p:cNvCxnSpPr>
              <p:nvPr/>
            </p:nvCxnSpPr>
            <p:spPr>
              <a:xfrm rot="16200000" flipH="1">
                <a:off x="2079000" y="1685368"/>
                <a:ext cx="12700" cy="1133935"/>
              </a:xfrm>
              <a:prstGeom prst="curvedConnector3">
                <a:avLst>
                  <a:gd name="adj1" fmla="val 1800000"/>
                </a:avLst>
              </a:prstGeom>
              <a:ln w="12700" cap="flat" cmpd="sng" algn="ctr">
                <a:solidFill>
                  <a:srgbClr val="C000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29" name="文本框 28">
                <a:extLst>
                  <a:ext uri="{FF2B5EF4-FFF2-40B4-BE49-F238E27FC236}">
                    <a16:creationId xmlns:a16="http://schemas.microsoft.com/office/drawing/2014/main" id="{F181AEF1-59B8-97E8-B05A-D28DE73BC1CD}"/>
                  </a:ext>
                </a:extLst>
              </p:cNvPr>
              <p:cNvSpPr txBox="1"/>
              <p:nvPr/>
            </p:nvSpPr>
            <p:spPr>
              <a:xfrm>
                <a:off x="1578143" y="2478197"/>
                <a:ext cx="1197429"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Pegging</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grpSp>
          <p:nvGrpSpPr>
            <p:cNvPr id="19" name="组合 18">
              <a:extLst>
                <a:ext uri="{FF2B5EF4-FFF2-40B4-BE49-F238E27FC236}">
                  <a16:creationId xmlns:a16="http://schemas.microsoft.com/office/drawing/2014/main" id="{08D6DBE5-88AF-3025-4E1F-1C60394762C2}"/>
                </a:ext>
              </a:extLst>
            </p:cNvPr>
            <p:cNvGrpSpPr/>
            <p:nvPr/>
          </p:nvGrpSpPr>
          <p:grpSpPr>
            <a:xfrm>
              <a:off x="2899103" y="2594580"/>
              <a:ext cx="1283145" cy="508612"/>
              <a:chOff x="1518382" y="2559483"/>
              <a:chExt cx="1283145" cy="508612"/>
            </a:xfrm>
          </p:grpSpPr>
          <p:cxnSp>
            <p:nvCxnSpPr>
              <p:cNvPr id="26" name="连接符: 曲线 25">
                <a:extLst>
                  <a:ext uri="{FF2B5EF4-FFF2-40B4-BE49-F238E27FC236}">
                    <a16:creationId xmlns:a16="http://schemas.microsoft.com/office/drawing/2014/main" id="{9EEAD2B1-8FEB-7E28-61F0-5D8B63E4AA3B}"/>
                  </a:ext>
                </a:extLst>
              </p:cNvPr>
              <p:cNvCxnSpPr/>
              <p:nvPr/>
            </p:nvCxnSpPr>
            <p:spPr>
              <a:xfrm rot="16200000" flipH="1">
                <a:off x="2079000" y="1998865"/>
                <a:ext cx="12700" cy="1133935"/>
              </a:xfrm>
              <a:prstGeom prst="curvedConnector3">
                <a:avLst>
                  <a:gd name="adj1" fmla="val 1800000"/>
                </a:avLst>
              </a:prstGeom>
              <a:ln w="12700" cap="flat" cmpd="sng" algn="ctr">
                <a:solidFill>
                  <a:srgbClr val="C000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27" name="文本框 26">
                <a:extLst>
                  <a:ext uri="{FF2B5EF4-FFF2-40B4-BE49-F238E27FC236}">
                    <a16:creationId xmlns:a16="http://schemas.microsoft.com/office/drawing/2014/main" id="{E176883D-EFB0-1D9C-66A5-DCB17A79181D}"/>
                  </a:ext>
                </a:extLst>
              </p:cNvPr>
              <p:cNvSpPr txBox="1"/>
              <p:nvPr/>
            </p:nvSpPr>
            <p:spPr>
              <a:xfrm>
                <a:off x="1604098" y="2791096"/>
                <a:ext cx="1197429" cy="276999"/>
              </a:xfrm>
              <a:prstGeom prst="rect">
                <a:avLst/>
              </a:prstGeom>
              <a:noFill/>
            </p:spPr>
            <p:txBody>
              <a:bodyPr wrap="square" rtlCol="0">
                <a:spAutoFit/>
              </a:bodyPr>
              <a:lstStyle>
                <a:defPPr>
                  <a:defRPr lang="zh-CN"/>
                </a:defPPr>
                <a:lvl1pPr marR="0" lvl="0" indent="0" fontAlgn="auto">
                  <a:lnSpc>
                    <a:spcPct val="100000"/>
                  </a:lnSpc>
                  <a:spcBef>
                    <a:spcPts val="0"/>
                  </a:spcBef>
                  <a:spcAft>
                    <a:spcPts val="0"/>
                  </a:spcAft>
                  <a:buClrTx/>
                  <a:buSzTx/>
                  <a:buFontTx/>
                  <a:buNone/>
                  <a:tabLst/>
                  <a:defRPr kumimoji="0" sz="1200" b="1" i="0" u="none" strike="noStrike" kern="0" cap="none" spc="0" normalizeH="0" baseline="0">
                    <a:ln>
                      <a:noFill/>
                    </a:ln>
                    <a:solidFill>
                      <a:schemeClr val="accent2">
                        <a:lumMod val="75000"/>
                      </a:schemeClr>
                    </a:solidFill>
                    <a:effectLst/>
                    <a:uLnTx/>
                    <a:uFillTx/>
                    <a:latin typeface="Verdana"/>
                    <a:ea typeface="微软雅黑" panose="020B0503020204020204" pitchFamily="34" charset="-122"/>
                  </a:defRPr>
                </a:lvl1pPr>
              </a:lstStyle>
              <a:p>
                <a:r>
                  <a:rPr lang="en-US" altLang="zh-CN" dirty="0">
                    <a:solidFill>
                      <a:schemeClr val="tx1"/>
                    </a:solidFill>
                    <a:latin typeface="Arial" panose="020B0604020202020204" pitchFamily="34" charset="0"/>
                  </a:rPr>
                  <a:t>Pegging</a:t>
                </a:r>
                <a:endParaRPr lang="zh-CN" altLang="en-US" dirty="0">
                  <a:solidFill>
                    <a:schemeClr val="tx1"/>
                  </a:solidFill>
                  <a:latin typeface="Arial" panose="020B0604020202020204" pitchFamily="34" charset="0"/>
                </a:endParaRPr>
              </a:p>
            </p:txBody>
          </p:sp>
        </p:grpSp>
        <p:grpSp>
          <p:nvGrpSpPr>
            <p:cNvPr id="20" name="组合 19">
              <a:extLst>
                <a:ext uri="{FF2B5EF4-FFF2-40B4-BE49-F238E27FC236}">
                  <a16:creationId xmlns:a16="http://schemas.microsoft.com/office/drawing/2014/main" id="{523FF05F-ABAF-D1BF-A067-7CAA89E15955}"/>
                </a:ext>
              </a:extLst>
            </p:cNvPr>
            <p:cNvGrpSpPr/>
            <p:nvPr/>
          </p:nvGrpSpPr>
          <p:grpSpPr>
            <a:xfrm>
              <a:off x="4693927" y="2610434"/>
              <a:ext cx="1683803" cy="508612"/>
              <a:chOff x="1518382" y="2559483"/>
              <a:chExt cx="1283145" cy="508612"/>
            </a:xfrm>
          </p:grpSpPr>
          <p:cxnSp>
            <p:nvCxnSpPr>
              <p:cNvPr id="24" name="连接符: 曲线 23">
                <a:extLst>
                  <a:ext uri="{FF2B5EF4-FFF2-40B4-BE49-F238E27FC236}">
                    <a16:creationId xmlns:a16="http://schemas.microsoft.com/office/drawing/2014/main" id="{1EF24EE7-F17A-3570-1AD1-7A4ACAD3EA69}"/>
                  </a:ext>
                </a:extLst>
              </p:cNvPr>
              <p:cNvCxnSpPr/>
              <p:nvPr/>
            </p:nvCxnSpPr>
            <p:spPr>
              <a:xfrm rot="16200000" flipH="1">
                <a:off x="2079000" y="1998865"/>
                <a:ext cx="12700" cy="1133935"/>
              </a:xfrm>
              <a:prstGeom prst="curvedConnector3">
                <a:avLst>
                  <a:gd name="adj1" fmla="val 1800000"/>
                </a:avLst>
              </a:prstGeom>
              <a:ln w="12700" cap="flat" cmpd="sng" algn="ctr">
                <a:solidFill>
                  <a:srgbClr val="C000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25" name="文本框 24">
                <a:extLst>
                  <a:ext uri="{FF2B5EF4-FFF2-40B4-BE49-F238E27FC236}">
                    <a16:creationId xmlns:a16="http://schemas.microsoft.com/office/drawing/2014/main" id="{E8DB1D52-0DD8-17BD-1BB6-3BF1B78B4C8A}"/>
                  </a:ext>
                </a:extLst>
              </p:cNvPr>
              <p:cNvSpPr txBox="1"/>
              <p:nvPr/>
            </p:nvSpPr>
            <p:spPr>
              <a:xfrm>
                <a:off x="1604098" y="2791096"/>
                <a:ext cx="1197429" cy="276999"/>
              </a:xfrm>
              <a:prstGeom prst="rect">
                <a:avLst/>
              </a:prstGeom>
              <a:noFill/>
            </p:spPr>
            <p:txBody>
              <a:bodyPr wrap="square" rtlCol="0">
                <a:spAutoFit/>
              </a:bodyPr>
              <a:lstStyle>
                <a:defPPr>
                  <a:defRPr lang="zh-CN"/>
                </a:defPPr>
                <a:lvl1pPr marR="0" lvl="0" indent="0" fontAlgn="auto">
                  <a:lnSpc>
                    <a:spcPct val="100000"/>
                  </a:lnSpc>
                  <a:spcBef>
                    <a:spcPts val="0"/>
                  </a:spcBef>
                  <a:spcAft>
                    <a:spcPts val="0"/>
                  </a:spcAft>
                  <a:buClrTx/>
                  <a:buSzTx/>
                  <a:buFontTx/>
                  <a:buNone/>
                  <a:tabLst/>
                  <a:defRPr kumimoji="0" sz="1200" b="1" i="0" u="none" strike="noStrike" kern="0" cap="none" spc="0" normalizeH="0" baseline="0">
                    <a:ln>
                      <a:noFill/>
                    </a:ln>
                    <a:solidFill>
                      <a:schemeClr val="accent2">
                        <a:lumMod val="75000"/>
                      </a:schemeClr>
                    </a:solidFill>
                    <a:effectLst/>
                    <a:uLnTx/>
                    <a:uFillTx/>
                    <a:latin typeface="Verdana"/>
                    <a:ea typeface="微软雅黑" panose="020B0503020204020204" pitchFamily="34" charset="-122"/>
                  </a:defRPr>
                </a:lvl1pPr>
              </a:lstStyle>
              <a:p>
                <a:r>
                  <a:rPr lang="en-US" altLang="zh-CN" dirty="0">
                    <a:solidFill>
                      <a:schemeClr val="tx1"/>
                    </a:solidFill>
                    <a:latin typeface="Arial" panose="020B0604020202020204" pitchFamily="34" charset="0"/>
                  </a:rPr>
                  <a:t>    Pegging</a:t>
                </a:r>
                <a:endParaRPr lang="zh-CN" altLang="en-US" dirty="0">
                  <a:solidFill>
                    <a:schemeClr val="tx1"/>
                  </a:solidFill>
                  <a:latin typeface="Arial" panose="020B0604020202020204" pitchFamily="34" charset="0"/>
                </a:endParaRPr>
              </a:p>
            </p:txBody>
          </p:sp>
        </p:grpSp>
        <p:grpSp>
          <p:nvGrpSpPr>
            <p:cNvPr id="21" name="组合 20">
              <a:extLst>
                <a:ext uri="{FF2B5EF4-FFF2-40B4-BE49-F238E27FC236}">
                  <a16:creationId xmlns:a16="http://schemas.microsoft.com/office/drawing/2014/main" id="{E777976C-9585-F55C-0125-CA37AD63AE73}"/>
                </a:ext>
              </a:extLst>
            </p:cNvPr>
            <p:cNvGrpSpPr/>
            <p:nvPr/>
          </p:nvGrpSpPr>
          <p:grpSpPr>
            <a:xfrm>
              <a:off x="6904688" y="2643748"/>
              <a:ext cx="1683803" cy="508612"/>
              <a:chOff x="1518382" y="2559483"/>
              <a:chExt cx="1283145" cy="508612"/>
            </a:xfrm>
          </p:grpSpPr>
          <p:cxnSp>
            <p:nvCxnSpPr>
              <p:cNvPr id="22" name="连接符: 曲线 21">
                <a:extLst>
                  <a:ext uri="{FF2B5EF4-FFF2-40B4-BE49-F238E27FC236}">
                    <a16:creationId xmlns:a16="http://schemas.microsoft.com/office/drawing/2014/main" id="{D45C6652-8ECE-8DA0-B32A-98A775BFC60D}"/>
                  </a:ext>
                </a:extLst>
              </p:cNvPr>
              <p:cNvCxnSpPr/>
              <p:nvPr/>
            </p:nvCxnSpPr>
            <p:spPr>
              <a:xfrm rot="16200000" flipH="1">
                <a:off x="2079000" y="1998865"/>
                <a:ext cx="12700" cy="1133935"/>
              </a:xfrm>
              <a:prstGeom prst="curvedConnector3">
                <a:avLst>
                  <a:gd name="adj1" fmla="val 1800000"/>
                </a:avLst>
              </a:prstGeom>
              <a:ln w="12700" cap="flat" cmpd="sng" algn="ctr">
                <a:solidFill>
                  <a:srgbClr val="C000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23" name="文本框 22">
                <a:extLst>
                  <a:ext uri="{FF2B5EF4-FFF2-40B4-BE49-F238E27FC236}">
                    <a16:creationId xmlns:a16="http://schemas.microsoft.com/office/drawing/2014/main" id="{7B341C3B-7D44-84C4-A78F-80F32C272FE8}"/>
                  </a:ext>
                </a:extLst>
              </p:cNvPr>
              <p:cNvSpPr txBox="1"/>
              <p:nvPr/>
            </p:nvSpPr>
            <p:spPr>
              <a:xfrm>
                <a:off x="1604098" y="2791096"/>
                <a:ext cx="1197429"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    </a:t>
                </a:r>
                <a:r>
                  <a:rPr lang="en-US" altLang="zh-CN" sz="1200" b="1" kern="0" dirty="0">
                    <a:latin typeface="Arial" panose="020B0604020202020204" pitchFamily="34" charset="0"/>
                    <a:ea typeface="微软雅黑" panose="020B0503020204020204" pitchFamily="34" charset="-122"/>
                  </a:rPr>
                  <a:t>Pegging</a:t>
                </a:r>
                <a:endParaRPr lang="zh-CN" altLang="en-US" sz="1200" b="1" kern="0" dirty="0">
                  <a:latin typeface="Arial" panose="020B0604020202020204" pitchFamily="34" charset="0"/>
                  <a:ea typeface="微软雅黑" panose="020B0503020204020204" pitchFamily="34" charset="-122"/>
                </a:endParaRPr>
              </a:p>
            </p:txBody>
          </p:sp>
        </p:grpSp>
      </p:grpSp>
      <p:grpSp>
        <p:nvGrpSpPr>
          <p:cNvPr id="32" name="组合 31">
            <a:extLst>
              <a:ext uri="{FF2B5EF4-FFF2-40B4-BE49-F238E27FC236}">
                <a16:creationId xmlns:a16="http://schemas.microsoft.com/office/drawing/2014/main" id="{DCA9F296-AEA5-CB6A-44CD-7EFF6AC9650F}"/>
              </a:ext>
            </a:extLst>
          </p:cNvPr>
          <p:cNvGrpSpPr/>
          <p:nvPr/>
        </p:nvGrpSpPr>
        <p:grpSpPr>
          <a:xfrm>
            <a:off x="8665912" y="874943"/>
            <a:ext cx="1448374" cy="4816217"/>
            <a:chOff x="8665912" y="874943"/>
            <a:chExt cx="1448374" cy="4816217"/>
          </a:xfrm>
        </p:grpSpPr>
        <p:cxnSp>
          <p:nvCxnSpPr>
            <p:cNvPr id="33" name="直接连接符 32">
              <a:extLst>
                <a:ext uri="{FF2B5EF4-FFF2-40B4-BE49-F238E27FC236}">
                  <a16:creationId xmlns:a16="http://schemas.microsoft.com/office/drawing/2014/main" id="{9F05B20D-909C-E003-D689-31C0F483BA9B}"/>
                </a:ext>
              </a:extLst>
            </p:cNvPr>
            <p:cNvCxnSpPr/>
            <p:nvPr/>
          </p:nvCxnSpPr>
          <p:spPr>
            <a:xfrm>
              <a:off x="9201348" y="1712612"/>
              <a:ext cx="0" cy="3978548"/>
            </a:xfrm>
            <a:prstGeom prst="line">
              <a:avLst/>
            </a:prstGeom>
            <a:ln>
              <a:solidFill>
                <a:schemeClr val="accent1"/>
              </a:solidFill>
            </a:ln>
          </p:spPr>
          <p:style>
            <a:lnRef idx="3">
              <a:schemeClr val="accent2"/>
            </a:lnRef>
            <a:fillRef idx="0">
              <a:schemeClr val="accent2"/>
            </a:fillRef>
            <a:effectRef idx="2">
              <a:schemeClr val="accent2"/>
            </a:effectRef>
            <a:fontRef idx="minor">
              <a:schemeClr val="tx1"/>
            </a:fontRef>
          </p:style>
        </p:cxnSp>
        <p:sp>
          <p:nvSpPr>
            <p:cNvPr id="34" name="文本框 33">
              <a:extLst>
                <a:ext uri="{FF2B5EF4-FFF2-40B4-BE49-F238E27FC236}">
                  <a16:creationId xmlns:a16="http://schemas.microsoft.com/office/drawing/2014/main" id="{F2645410-FBDE-63A5-DD39-77B2F18F0FC7}"/>
                </a:ext>
              </a:extLst>
            </p:cNvPr>
            <p:cNvSpPr txBox="1"/>
            <p:nvPr/>
          </p:nvSpPr>
          <p:spPr>
            <a:xfrm>
              <a:off x="8665912" y="874943"/>
              <a:ext cx="1448374"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最早可交日期</a:t>
              </a:r>
              <a:endPar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Best Can do</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grpSp>
        <p:nvGrpSpPr>
          <p:cNvPr id="35" name="组合 34">
            <a:extLst>
              <a:ext uri="{FF2B5EF4-FFF2-40B4-BE49-F238E27FC236}">
                <a16:creationId xmlns:a16="http://schemas.microsoft.com/office/drawing/2014/main" id="{EF4BD7A5-93C2-CF6E-2F5A-1F8A4B8F855E}"/>
              </a:ext>
            </a:extLst>
          </p:cNvPr>
          <p:cNvGrpSpPr/>
          <p:nvPr/>
        </p:nvGrpSpPr>
        <p:grpSpPr>
          <a:xfrm>
            <a:off x="2600875" y="3228080"/>
            <a:ext cx="6562475" cy="1335109"/>
            <a:chOff x="2600124" y="3247630"/>
            <a:chExt cx="6562475" cy="1335109"/>
          </a:xfrm>
        </p:grpSpPr>
        <p:sp>
          <p:nvSpPr>
            <p:cNvPr id="36" name="椭圆 35">
              <a:extLst>
                <a:ext uri="{FF2B5EF4-FFF2-40B4-BE49-F238E27FC236}">
                  <a16:creationId xmlns:a16="http://schemas.microsoft.com/office/drawing/2014/main" id="{56B729E9-B83E-E181-B720-B8B862308343}"/>
                </a:ext>
              </a:extLst>
            </p:cNvPr>
            <p:cNvSpPr/>
            <p:nvPr/>
          </p:nvSpPr>
          <p:spPr>
            <a:xfrm>
              <a:off x="2600124" y="3644827"/>
              <a:ext cx="1001485" cy="370114"/>
            </a:xfrm>
            <a:prstGeom prst="ellipse">
              <a:avLst/>
            </a:prstGeom>
            <a:solidFill>
              <a:schemeClr val="accent1">
                <a:lumMod val="20000"/>
                <a:lumOff val="80000"/>
              </a:schemeClr>
            </a:solidFill>
            <a:ln w="6350" cap="flat" cmpd="sng" algn="ctr">
              <a:solidFill>
                <a:srgbClr val="6C92FD"/>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原材 </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E</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37" name="椭圆 36">
              <a:extLst>
                <a:ext uri="{FF2B5EF4-FFF2-40B4-BE49-F238E27FC236}">
                  <a16:creationId xmlns:a16="http://schemas.microsoft.com/office/drawing/2014/main" id="{1C2B5E1C-2BE2-0014-72CF-8F1D7B87657F}"/>
                </a:ext>
              </a:extLst>
            </p:cNvPr>
            <p:cNvSpPr/>
            <p:nvPr/>
          </p:nvSpPr>
          <p:spPr>
            <a:xfrm>
              <a:off x="3988058" y="3644827"/>
              <a:ext cx="1001485" cy="370114"/>
            </a:xfrm>
            <a:prstGeom prst="ellipse">
              <a:avLst/>
            </a:prstGeom>
            <a:solidFill>
              <a:schemeClr val="accent1">
                <a:lumMod val="40000"/>
                <a:lumOff val="60000"/>
              </a:schemeClr>
            </a:solidFill>
            <a:ln w="6350" cap="flat" cmpd="sng" algn="ctr">
              <a:solidFill>
                <a:srgbClr val="4765D8"/>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部件 </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D</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38" name="椭圆 37">
              <a:extLst>
                <a:ext uri="{FF2B5EF4-FFF2-40B4-BE49-F238E27FC236}">
                  <a16:creationId xmlns:a16="http://schemas.microsoft.com/office/drawing/2014/main" id="{CA509F93-6EA0-0709-B62D-337ACE1C0BF5}"/>
                </a:ext>
              </a:extLst>
            </p:cNvPr>
            <p:cNvSpPr/>
            <p:nvPr/>
          </p:nvSpPr>
          <p:spPr>
            <a:xfrm>
              <a:off x="5398229" y="3666013"/>
              <a:ext cx="1001485" cy="370114"/>
            </a:xfrm>
            <a:prstGeom prst="ellipse">
              <a:avLst/>
            </a:prstGeom>
            <a:solidFill>
              <a:schemeClr val="accent1">
                <a:lumMod val="60000"/>
                <a:lumOff val="40000"/>
              </a:schemeClr>
            </a:solidFill>
            <a:ln w="6350" cap="flat" cmpd="sng" algn="ctr">
              <a:solidFill>
                <a:srgbClr val="09309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部件 </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C</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39" name="椭圆 38">
              <a:extLst>
                <a:ext uri="{FF2B5EF4-FFF2-40B4-BE49-F238E27FC236}">
                  <a16:creationId xmlns:a16="http://schemas.microsoft.com/office/drawing/2014/main" id="{D7D58833-97E9-657C-B394-4FE6FC8F54E1}"/>
                </a:ext>
              </a:extLst>
            </p:cNvPr>
            <p:cNvSpPr/>
            <p:nvPr/>
          </p:nvSpPr>
          <p:spPr>
            <a:xfrm>
              <a:off x="6804042" y="3666013"/>
              <a:ext cx="1001485" cy="370114"/>
            </a:xfrm>
            <a:prstGeom prst="ellipse">
              <a:avLst/>
            </a:prstGeom>
            <a:solidFill>
              <a:schemeClr val="accent1">
                <a:lumMod val="75000"/>
              </a:schemeClr>
            </a:solidFill>
            <a:ln w="6350" cap="flat" cmpd="sng" algn="ctr">
              <a:solidFill>
                <a:srgbClr val="2E3B72"/>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部件 </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B</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nvGrpSpPr>
            <p:cNvPr id="40" name="组合 39">
              <a:extLst>
                <a:ext uri="{FF2B5EF4-FFF2-40B4-BE49-F238E27FC236}">
                  <a16:creationId xmlns:a16="http://schemas.microsoft.com/office/drawing/2014/main" id="{E2CA6AA6-72A7-597F-18B8-20950F95B777}"/>
                </a:ext>
              </a:extLst>
            </p:cNvPr>
            <p:cNvGrpSpPr/>
            <p:nvPr/>
          </p:nvGrpSpPr>
          <p:grpSpPr>
            <a:xfrm>
              <a:off x="8161114" y="3274824"/>
              <a:ext cx="1001485" cy="761303"/>
              <a:chOff x="8161114" y="1804530"/>
              <a:chExt cx="1001485" cy="761303"/>
            </a:xfrm>
          </p:grpSpPr>
          <p:sp>
            <p:nvSpPr>
              <p:cNvPr id="57" name="椭圆 56">
                <a:extLst>
                  <a:ext uri="{FF2B5EF4-FFF2-40B4-BE49-F238E27FC236}">
                    <a16:creationId xmlns:a16="http://schemas.microsoft.com/office/drawing/2014/main" id="{71B692DE-59E7-7480-72BF-5E9CE33E3524}"/>
                  </a:ext>
                </a:extLst>
              </p:cNvPr>
              <p:cNvSpPr/>
              <p:nvPr/>
            </p:nvSpPr>
            <p:spPr>
              <a:xfrm>
                <a:off x="8161114" y="2195719"/>
                <a:ext cx="1001485" cy="370114"/>
              </a:xfrm>
              <a:prstGeom prst="ellipse">
                <a:avLst/>
              </a:prstGeom>
              <a:solidFill>
                <a:schemeClr val="accent1">
                  <a:lumMod val="50000"/>
                </a:schemeClr>
              </a:solidFill>
              <a:ln w="6350" cap="flat" cmpd="sng" algn="ctr">
                <a:solidFill>
                  <a:srgbClr val="2E3B72"/>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成品 </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A</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58" name="矩形 57">
                <a:extLst>
                  <a:ext uri="{FF2B5EF4-FFF2-40B4-BE49-F238E27FC236}">
                    <a16:creationId xmlns:a16="http://schemas.microsoft.com/office/drawing/2014/main" id="{6109717B-B420-3416-2255-7F71404FF047}"/>
                  </a:ext>
                </a:extLst>
              </p:cNvPr>
              <p:cNvSpPr/>
              <p:nvPr/>
            </p:nvSpPr>
            <p:spPr>
              <a:xfrm>
                <a:off x="8256276" y="1804530"/>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Level 0</a:t>
                </a:r>
                <a:endParaRPr kumimoji="0" lang="zh-CN" altLang="en-US"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sp>
          <p:nvSpPr>
            <p:cNvPr id="41" name="矩形 40">
              <a:extLst>
                <a:ext uri="{FF2B5EF4-FFF2-40B4-BE49-F238E27FC236}">
                  <a16:creationId xmlns:a16="http://schemas.microsoft.com/office/drawing/2014/main" id="{8ABCC03C-AE5D-C4AC-60DC-FDDBF0C7615F}"/>
                </a:ext>
              </a:extLst>
            </p:cNvPr>
            <p:cNvSpPr/>
            <p:nvPr/>
          </p:nvSpPr>
          <p:spPr>
            <a:xfrm>
              <a:off x="6919142" y="3268816"/>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Level 1</a:t>
              </a:r>
              <a:endParaRPr kumimoji="0" lang="zh-CN" altLang="en-US"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42" name="矩形 41">
              <a:extLst>
                <a:ext uri="{FF2B5EF4-FFF2-40B4-BE49-F238E27FC236}">
                  <a16:creationId xmlns:a16="http://schemas.microsoft.com/office/drawing/2014/main" id="{9236C212-7A11-5B50-4670-4D8EBA101312}"/>
                </a:ext>
              </a:extLst>
            </p:cNvPr>
            <p:cNvSpPr/>
            <p:nvPr/>
          </p:nvSpPr>
          <p:spPr>
            <a:xfrm>
              <a:off x="5518680" y="3268816"/>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Level 2</a:t>
              </a:r>
              <a:endParaRPr kumimoji="0" lang="zh-CN" altLang="en-US"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43" name="矩形 42">
              <a:extLst>
                <a:ext uri="{FF2B5EF4-FFF2-40B4-BE49-F238E27FC236}">
                  <a16:creationId xmlns:a16="http://schemas.microsoft.com/office/drawing/2014/main" id="{A7B3B75A-2128-CD87-23C8-5DD8B6FF6439}"/>
                </a:ext>
              </a:extLst>
            </p:cNvPr>
            <p:cNvSpPr/>
            <p:nvPr/>
          </p:nvSpPr>
          <p:spPr>
            <a:xfrm>
              <a:off x="4118218" y="3247630"/>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Level 3</a:t>
              </a:r>
              <a:endParaRPr kumimoji="0" lang="zh-CN" altLang="en-US"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44" name="矩形 43">
              <a:extLst>
                <a:ext uri="{FF2B5EF4-FFF2-40B4-BE49-F238E27FC236}">
                  <a16:creationId xmlns:a16="http://schemas.microsoft.com/office/drawing/2014/main" id="{417FCC5A-FAB3-3E0B-EBD1-9EE625AFA9F6}"/>
                </a:ext>
              </a:extLst>
            </p:cNvPr>
            <p:cNvSpPr/>
            <p:nvPr/>
          </p:nvSpPr>
          <p:spPr>
            <a:xfrm>
              <a:off x="2725013" y="3247630"/>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Level 4</a:t>
              </a:r>
              <a:endParaRPr kumimoji="0" lang="zh-CN" altLang="en-US"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nvGrpSpPr>
            <p:cNvPr id="45" name="组合 44">
              <a:extLst>
                <a:ext uri="{FF2B5EF4-FFF2-40B4-BE49-F238E27FC236}">
                  <a16:creationId xmlns:a16="http://schemas.microsoft.com/office/drawing/2014/main" id="{8B0569C3-183D-8A6E-1EEB-78DDAC354465}"/>
                </a:ext>
              </a:extLst>
            </p:cNvPr>
            <p:cNvGrpSpPr/>
            <p:nvPr/>
          </p:nvGrpSpPr>
          <p:grpSpPr>
            <a:xfrm>
              <a:off x="3107217" y="4015848"/>
              <a:ext cx="1438096" cy="515260"/>
              <a:chOff x="1932037" y="2165097"/>
              <a:chExt cx="1438096" cy="515260"/>
            </a:xfrm>
          </p:grpSpPr>
          <p:cxnSp>
            <p:nvCxnSpPr>
              <p:cNvPr id="55" name="连接符: 曲线 54">
                <a:extLst>
                  <a:ext uri="{FF2B5EF4-FFF2-40B4-BE49-F238E27FC236}">
                    <a16:creationId xmlns:a16="http://schemas.microsoft.com/office/drawing/2014/main" id="{AC81D8F2-134E-D2B7-165E-F32B55141867}"/>
                  </a:ext>
                </a:extLst>
              </p:cNvPr>
              <p:cNvCxnSpPr>
                <a:stCxn id="36" idx="4"/>
                <a:endCxn id="37" idx="4"/>
              </p:cNvCxnSpPr>
              <p:nvPr/>
            </p:nvCxnSpPr>
            <p:spPr>
              <a:xfrm rot="16200000" flipH="1">
                <a:off x="2619654" y="1477480"/>
                <a:ext cx="12700" cy="1387934"/>
              </a:xfrm>
              <a:prstGeom prst="curvedConnector3">
                <a:avLst>
                  <a:gd name="adj1" fmla="val 1800000"/>
                </a:avLst>
              </a:prstGeom>
              <a:noFill/>
              <a:ln w="12700" cap="flat" cmpd="sng" algn="ctr">
                <a:solidFill>
                  <a:schemeClr val="accent1"/>
                </a:solidFill>
                <a:prstDash val="dashDot"/>
                <a:miter lim="800000"/>
                <a:headEnd type="triangle"/>
                <a:tailEnd type="none"/>
              </a:ln>
              <a:effectLst/>
            </p:spPr>
          </p:cxnSp>
          <p:sp>
            <p:nvSpPr>
              <p:cNvPr id="56" name="文本框 55">
                <a:extLst>
                  <a:ext uri="{FF2B5EF4-FFF2-40B4-BE49-F238E27FC236}">
                    <a16:creationId xmlns:a16="http://schemas.microsoft.com/office/drawing/2014/main" id="{37ED83A2-0C63-3DEF-A501-DD5A89BE466C}"/>
                  </a:ext>
                </a:extLst>
              </p:cNvPr>
              <p:cNvSpPr txBox="1"/>
              <p:nvPr/>
            </p:nvSpPr>
            <p:spPr>
              <a:xfrm>
                <a:off x="2172704" y="2403358"/>
                <a:ext cx="1197429"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Pegging</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grpSp>
          <p:nvGrpSpPr>
            <p:cNvPr id="46" name="组合 45">
              <a:extLst>
                <a:ext uri="{FF2B5EF4-FFF2-40B4-BE49-F238E27FC236}">
                  <a16:creationId xmlns:a16="http://schemas.microsoft.com/office/drawing/2014/main" id="{98048EAA-F96F-3BBE-E7EA-73BCFF99DCFB}"/>
                </a:ext>
              </a:extLst>
            </p:cNvPr>
            <p:cNvGrpSpPr/>
            <p:nvPr/>
          </p:nvGrpSpPr>
          <p:grpSpPr>
            <a:xfrm>
              <a:off x="4741936" y="4037265"/>
              <a:ext cx="1283145" cy="508612"/>
              <a:chOff x="1518382" y="2559483"/>
              <a:chExt cx="1283145" cy="508612"/>
            </a:xfrm>
          </p:grpSpPr>
          <p:cxnSp>
            <p:nvCxnSpPr>
              <p:cNvPr id="53" name="连接符: 曲线 52">
                <a:extLst>
                  <a:ext uri="{FF2B5EF4-FFF2-40B4-BE49-F238E27FC236}">
                    <a16:creationId xmlns:a16="http://schemas.microsoft.com/office/drawing/2014/main" id="{E6C7A4F4-65B3-9E51-BAA1-60CE45D39246}"/>
                  </a:ext>
                </a:extLst>
              </p:cNvPr>
              <p:cNvCxnSpPr/>
              <p:nvPr/>
            </p:nvCxnSpPr>
            <p:spPr>
              <a:xfrm rot="16200000" flipH="1">
                <a:off x="2079000" y="1998865"/>
                <a:ext cx="12700" cy="1133935"/>
              </a:xfrm>
              <a:prstGeom prst="curvedConnector3">
                <a:avLst>
                  <a:gd name="adj1" fmla="val 1800000"/>
                </a:avLst>
              </a:prstGeom>
              <a:noFill/>
              <a:ln w="12700" cap="flat" cmpd="sng" algn="ctr">
                <a:solidFill>
                  <a:schemeClr val="accent1"/>
                </a:solidFill>
                <a:prstDash val="dashDot"/>
                <a:miter lim="800000"/>
                <a:headEnd type="triangle"/>
                <a:tailEnd type="none"/>
              </a:ln>
              <a:effectLst/>
            </p:spPr>
          </p:cxnSp>
          <p:sp>
            <p:nvSpPr>
              <p:cNvPr id="54" name="文本框 53">
                <a:extLst>
                  <a:ext uri="{FF2B5EF4-FFF2-40B4-BE49-F238E27FC236}">
                    <a16:creationId xmlns:a16="http://schemas.microsoft.com/office/drawing/2014/main" id="{80BD6D12-B4AA-6AC8-14CD-6DEC970340FD}"/>
                  </a:ext>
                </a:extLst>
              </p:cNvPr>
              <p:cNvSpPr txBox="1"/>
              <p:nvPr/>
            </p:nvSpPr>
            <p:spPr>
              <a:xfrm>
                <a:off x="1604098" y="2791096"/>
                <a:ext cx="1197429"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Pegging</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grpSp>
          <p:nvGrpSpPr>
            <p:cNvPr id="47" name="组合 46">
              <a:extLst>
                <a:ext uri="{FF2B5EF4-FFF2-40B4-BE49-F238E27FC236}">
                  <a16:creationId xmlns:a16="http://schemas.microsoft.com/office/drawing/2014/main" id="{C882CFE7-22CA-0409-66B4-3A469BD8ADC2}"/>
                </a:ext>
              </a:extLst>
            </p:cNvPr>
            <p:cNvGrpSpPr/>
            <p:nvPr/>
          </p:nvGrpSpPr>
          <p:grpSpPr>
            <a:xfrm>
              <a:off x="6101076" y="4041697"/>
              <a:ext cx="1466020" cy="528872"/>
              <a:chOff x="1518382" y="2559483"/>
              <a:chExt cx="1283145" cy="486331"/>
            </a:xfrm>
          </p:grpSpPr>
          <p:cxnSp>
            <p:nvCxnSpPr>
              <p:cNvPr id="51" name="连接符: 曲线 50">
                <a:extLst>
                  <a:ext uri="{FF2B5EF4-FFF2-40B4-BE49-F238E27FC236}">
                    <a16:creationId xmlns:a16="http://schemas.microsoft.com/office/drawing/2014/main" id="{B7930499-7739-6197-6071-45756BFF0C55}"/>
                  </a:ext>
                </a:extLst>
              </p:cNvPr>
              <p:cNvCxnSpPr/>
              <p:nvPr/>
            </p:nvCxnSpPr>
            <p:spPr>
              <a:xfrm rot="16200000" flipH="1">
                <a:off x="2079000" y="1998865"/>
                <a:ext cx="12700" cy="1133935"/>
              </a:xfrm>
              <a:prstGeom prst="curvedConnector3">
                <a:avLst>
                  <a:gd name="adj1" fmla="val 1800000"/>
                </a:avLst>
              </a:prstGeom>
              <a:noFill/>
              <a:ln w="12700" cap="flat" cmpd="sng" algn="ctr">
                <a:solidFill>
                  <a:schemeClr val="accent1"/>
                </a:solidFill>
                <a:prstDash val="dashDot"/>
                <a:miter lim="800000"/>
                <a:headEnd type="triangle"/>
                <a:tailEnd type="none"/>
              </a:ln>
              <a:effectLst/>
            </p:spPr>
          </p:cxnSp>
          <p:sp>
            <p:nvSpPr>
              <p:cNvPr id="52" name="文本框 51">
                <a:extLst>
                  <a:ext uri="{FF2B5EF4-FFF2-40B4-BE49-F238E27FC236}">
                    <a16:creationId xmlns:a16="http://schemas.microsoft.com/office/drawing/2014/main" id="{6CFD2178-04FA-6130-2205-3785AAFCB6FE}"/>
                  </a:ext>
                </a:extLst>
              </p:cNvPr>
              <p:cNvSpPr txBox="1"/>
              <p:nvPr/>
            </p:nvSpPr>
            <p:spPr>
              <a:xfrm>
                <a:off x="1604098" y="2791096"/>
                <a:ext cx="1197429" cy="254718"/>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    Pegging</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grpSp>
          <p:nvGrpSpPr>
            <p:cNvPr id="48" name="组合 47">
              <a:extLst>
                <a:ext uri="{FF2B5EF4-FFF2-40B4-BE49-F238E27FC236}">
                  <a16:creationId xmlns:a16="http://schemas.microsoft.com/office/drawing/2014/main" id="{67220D9A-AD5F-4EE2-6A07-AA568985FB31}"/>
                </a:ext>
              </a:extLst>
            </p:cNvPr>
            <p:cNvGrpSpPr/>
            <p:nvPr/>
          </p:nvGrpSpPr>
          <p:grpSpPr>
            <a:xfrm>
              <a:off x="7599591" y="4056288"/>
              <a:ext cx="1221489" cy="526451"/>
              <a:chOff x="1518382" y="2559483"/>
              <a:chExt cx="1443354" cy="526451"/>
            </a:xfrm>
          </p:grpSpPr>
          <p:cxnSp>
            <p:nvCxnSpPr>
              <p:cNvPr id="49" name="连接符: 曲线 48">
                <a:extLst>
                  <a:ext uri="{FF2B5EF4-FFF2-40B4-BE49-F238E27FC236}">
                    <a16:creationId xmlns:a16="http://schemas.microsoft.com/office/drawing/2014/main" id="{C8EE67C0-B4C8-5908-2311-3E7C26BE0215}"/>
                  </a:ext>
                </a:extLst>
              </p:cNvPr>
              <p:cNvCxnSpPr/>
              <p:nvPr/>
            </p:nvCxnSpPr>
            <p:spPr>
              <a:xfrm rot="16200000" flipH="1">
                <a:off x="2079000" y="1998865"/>
                <a:ext cx="12700" cy="1133935"/>
              </a:xfrm>
              <a:prstGeom prst="curvedConnector3">
                <a:avLst>
                  <a:gd name="adj1" fmla="val 1800000"/>
                </a:avLst>
              </a:prstGeom>
              <a:noFill/>
              <a:ln w="12700" cap="flat" cmpd="sng" algn="ctr">
                <a:solidFill>
                  <a:schemeClr val="accent1"/>
                </a:solidFill>
                <a:prstDash val="dashDot"/>
                <a:miter lim="800000"/>
                <a:headEnd type="triangle"/>
                <a:tailEnd type="none"/>
              </a:ln>
              <a:effectLst/>
            </p:spPr>
          </p:cxnSp>
          <p:sp>
            <p:nvSpPr>
              <p:cNvPr id="50" name="文本框 49">
                <a:extLst>
                  <a:ext uri="{FF2B5EF4-FFF2-40B4-BE49-F238E27FC236}">
                    <a16:creationId xmlns:a16="http://schemas.microsoft.com/office/drawing/2014/main" id="{48F99593-0A2D-2350-5FBE-C972AEFEAF24}"/>
                  </a:ext>
                </a:extLst>
              </p:cNvPr>
              <p:cNvSpPr txBox="1"/>
              <p:nvPr/>
            </p:nvSpPr>
            <p:spPr>
              <a:xfrm>
                <a:off x="1632528" y="2624269"/>
                <a:ext cx="1329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Pegging</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grpSp>
      <p:grpSp>
        <p:nvGrpSpPr>
          <p:cNvPr id="59" name="组合 58">
            <a:extLst>
              <a:ext uri="{FF2B5EF4-FFF2-40B4-BE49-F238E27FC236}">
                <a16:creationId xmlns:a16="http://schemas.microsoft.com/office/drawing/2014/main" id="{AB11B3C4-CE8F-FE7A-C698-96189BE7D431}"/>
              </a:ext>
            </a:extLst>
          </p:cNvPr>
          <p:cNvGrpSpPr/>
          <p:nvPr/>
        </p:nvGrpSpPr>
        <p:grpSpPr>
          <a:xfrm>
            <a:off x="6911886" y="890006"/>
            <a:ext cx="1601475" cy="4778542"/>
            <a:chOff x="6868443" y="912618"/>
            <a:chExt cx="1601475" cy="4778542"/>
          </a:xfrm>
        </p:grpSpPr>
        <p:cxnSp>
          <p:nvCxnSpPr>
            <p:cNvPr id="60" name="直接连接符 59">
              <a:extLst>
                <a:ext uri="{FF2B5EF4-FFF2-40B4-BE49-F238E27FC236}">
                  <a16:creationId xmlns:a16="http://schemas.microsoft.com/office/drawing/2014/main" id="{BFD550BA-D5F6-1F0F-6724-6EBFE70B5A0D}"/>
                </a:ext>
              </a:extLst>
            </p:cNvPr>
            <p:cNvCxnSpPr/>
            <p:nvPr/>
          </p:nvCxnSpPr>
          <p:spPr>
            <a:xfrm>
              <a:off x="7669181" y="1712612"/>
              <a:ext cx="0" cy="3978548"/>
            </a:xfrm>
            <a:prstGeom prst="line">
              <a:avLst/>
            </a:prstGeom>
            <a:ln>
              <a:solidFill>
                <a:schemeClr val="accent1"/>
              </a:solidFill>
            </a:ln>
          </p:spPr>
          <p:style>
            <a:lnRef idx="3">
              <a:schemeClr val="accent2"/>
            </a:lnRef>
            <a:fillRef idx="0">
              <a:schemeClr val="accent2"/>
            </a:fillRef>
            <a:effectRef idx="2">
              <a:schemeClr val="accent2"/>
            </a:effectRef>
            <a:fontRef idx="minor">
              <a:schemeClr val="tx1"/>
            </a:fontRef>
          </p:style>
        </p:cxnSp>
        <p:sp>
          <p:nvSpPr>
            <p:cNvPr id="61" name="文本框 60">
              <a:extLst>
                <a:ext uri="{FF2B5EF4-FFF2-40B4-BE49-F238E27FC236}">
                  <a16:creationId xmlns:a16="http://schemas.microsoft.com/office/drawing/2014/main" id="{D825CC56-1B89-0EB7-C2CF-3FB89238BEA2}"/>
                </a:ext>
              </a:extLst>
            </p:cNvPr>
            <p:cNvSpPr txBox="1"/>
            <p:nvPr/>
          </p:nvSpPr>
          <p:spPr>
            <a:xfrm>
              <a:off x="6868443" y="912618"/>
              <a:ext cx="1601475" cy="646331"/>
            </a:xfrm>
            <a:prstGeom prst="rect">
              <a:avLst/>
            </a:prstGeom>
            <a:noFill/>
          </p:spPr>
          <p:txBody>
            <a:bodyPr wrap="square" rtlCol="0">
              <a:spAutoFit/>
            </a:bodyPr>
            <a:lstStyle>
              <a:defPPr>
                <a:defRPr lang="zh-CN"/>
              </a:defPPr>
              <a:lvl1pPr>
                <a:defRPr sz="1200" b="1">
                  <a:solidFill>
                    <a:schemeClr val="bg2">
                      <a:lumMod val="25000"/>
                    </a:schemeClr>
                  </a:solidFill>
                </a:defRPr>
              </a:lvl1p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需求日期</a:t>
              </a:r>
              <a:r>
                <a:rPr kumimoji="0" lang="en-US" altLang="zh-CN" sz="1200" b="1" i="0" u="none" strike="noStrike" kern="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&lt;=</a:t>
              </a:r>
              <a:r>
                <a:rPr kumimoji="0" lang="zh-CN" altLang="en-US" sz="1200" b="1" i="0" u="none" strike="noStrike" kern="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最早可交日期</a:t>
              </a:r>
              <a:endParaRPr kumimoji="0" lang="en-US" altLang="zh-CN" sz="1200" b="1" i="0" u="none" strike="noStrike" kern="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PSD</a:t>
              </a:r>
              <a:r>
                <a:rPr kumimoji="0" lang="zh-CN" altLang="en-US" sz="1200" b="1" i="0" u="none" strike="noStrike" kern="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为最早可交日期</a:t>
              </a:r>
            </a:p>
          </p:txBody>
        </p:sp>
      </p:grpSp>
      <p:grpSp>
        <p:nvGrpSpPr>
          <p:cNvPr id="62" name="组合 61">
            <a:extLst>
              <a:ext uri="{FF2B5EF4-FFF2-40B4-BE49-F238E27FC236}">
                <a16:creationId xmlns:a16="http://schemas.microsoft.com/office/drawing/2014/main" id="{77ECBDF5-87B1-6394-95CE-19F49EC1E035}"/>
              </a:ext>
            </a:extLst>
          </p:cNvPr>
          <p:cNvGrpSpPr/>
          <p:nvPr/>
        </p:nvGrpSpPr>
        <p:grpSpPr>
          <a:xfrm>
            <a:off x="10114286" y="844178"/>
            <a:ext cx="1448374" cy="4846982"/>
            <a:chOff x="10114286" y="844178"/>
            <a:chExt cx="1448374" cy="4846982"/>
          </a:xfrm>
        </p:grpSpPr>
        <p:cxnSp>
          <p:nvCxnSpPr>
            <p:cNvPr id="63" name="直接连接符 62">
              <a:extLst>
                <a:ext uri="{FF2B5EF4-FFF2-40B4-BE49-F238E27FC236}">
                  <a16:creationId xmlns:a16="http://schemas.microsoft.com/office/drawing/2014/main" id="{83C5A077-173F-2040-011D-34E2BF759045}"/>
                </a:ext>
              </a:extLst>
            </p:cNvPr>
            <p:cNvCxnSpPr/>
            <p:nvPr/>
          </p:nvCxnSpPr>
          <p:spPr>
            <a:xfrm>
              <a:off x="10622839" y="1712612"/>
              <a:ext cx="0" cy="3978548"/>
            </a:xfrm>
            <a:prstGeom prst="line">
              <a:avLst/>
            </a:prstGeom>
            <a:ln>
              <a:solidFill>
                <a:schemeClr val="accent1"/>
              </a:solidFill>
            </a:ln>
          </p:spPr>
          <p:style>
            <a:lnRef idx="3">
              <a:schemeClr val="accent2"/>
            </a:lnRef>
            <a:fillRef idx="0">
              <a:schemeClr val="accent2"/>
            </a:fillRef>
            <a:effectRef idx="2">
              <a:schemeClr val="accent2"/>
            </a:effectRef>
            <a:fontRef idx="minor">
              <a:schemeClr val="tx1"/>
            </a:fontRef>
          </p:style>
        </p:cxnSp>
        <p:sp>
          <p:nvSpPr>
            <p:cNvPr id="64" name="文本框 63">
              <a:extLst>
                <a:ext uri="{FF2B5EF4-FFF2-40B4-BE49-F238E27FC236}">
                  <a16:creationId xmlns:a16="http://schemas.microsoft.com/office/drawing/2014/main" id="{7C4B5B41-DD25-4BF7-7B91-B86162542119}"/>
                </a:ext>
              </a:extLst>
            </p:cNvPr>
            <p:cNvSpPr txBox="1"/>
            <p:nvPr/>
          </p:nvSpPr>
          <p:spPr>
            <a:xfrm>
              <a:off x="10114286" y="844178"/>
              <a:ext cx="1448374" cy="830997"/>
            </a:xfrm>
            <a:prstGeom prst="rect">
              <a:avLst/>
            </a:prstGeom>
            <a:noFill/>
          </p:spPr>
          <p:txBody>
            <a:bodyPr wrap="square" rtlCol="0">
              <a:spAutoFit/>
            </a:bodyPr>
            <a:lstStyle>
              <a:defPPr>
                <a:defRPr lang="zh-CN"/>
              </a:defPPr>
              <a:lvl1pPr>
                <a:defRPr sz="1200" b="1"/>
              </a:lvl1p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当需求日期</a:t>
              </a: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&gt;</a:t>
              </a: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最早可交日期</a:t>
              </a:r>
              <a:endPar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PSD</a:t>
              </a: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为需求日期</a:t>
              </a:r>
              <a:endPar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grpSp>
        <p:nvGrpSpPr>
          <p:cNvPr id="65" name="组合 64">
            <a:extLst>
              <a:ext uri="{FF2B5EF4-FFF2-40B4-BE49-F238E27FC236}">
                <a16:creationId xmlns:a16="http://schemas.microsoft.com/office/drawing/2014/main" id="{0B10E19C-8D57-FC26-2F64-B4EA56992420}"/>
              </a:ext>
            </a:extLst>
          </p:cNvPr>
          <p:cNvGrpSpPr/>
          <p:nvPr/>
        </p:nvGrpSpPr>
        <p:grpSpPr>
          <a:xfrm>
            <a:off x="1246380" y="926837"/>
            <a:ext cx="5396501" cy="825618"/>
            <a:chOff x="1246380" y="926837"/>
            <a:chExt cx="5396501" cy="825618"/>
          </a:xfrm>
        </p:grpSpPr>
        <p:sp>
          <p:nvSpPr>
            <p:cNvPr id="66" name="箭头: 右 65">
              <a:extLst>
                <a:ext uri="{FF2B5EF4-FFF2-40B4-BE49-F238E27FC236}">
                  <a16:creationId xmlns:a16="http://schemas.microsoft.com/office/drawing/2014/main" id="{8D594800-AD72-171B-5DEB-D0B7DD382895}"/>
                </a:ext>
              </a:extLst>
            </p:cNvPr>
            <p:cNvSpPr/>
            <p:nvPr/>
          </p:nvSpPr>
          <p:spPr>
            <a:xfrm>
              <a:off x="1246380" y="1392455"/>
              <a:ext cx="5270904" cy="360000"/>
            </a:xfrm>
            <a:prstGeom prst="rightArrow">
              <a:avLst/>
            </a:prstGeom>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Verdana"/>
                <a:ea typeface="微软雅黑" panose="020B0503020204020204" pitchFamily="34" charset="-122"/>
                <a:cs typeface="+mn-cs"/>
              </a:endParaRPr>
            </a:p>
          </p:txBody>
        </p:sp>
        <p:sp>
          <p:nvSpPr>
            <p:cNvPr id="67" name="文本框 66">
              <a:extLst>
                <a:ext uri="{FF2B5EF4-FFF2-40B4-BE49-F238E27FC236}">
                  <a16:creationId xmlns:a16="http://schemas.microsoft.com/office/drawing/2014/main" id="{751D16CB-FD3D-4BD3-0432-DBDADF2A0055}"/>
                </a:ext>
              </a:extLst>
            </p:cNvPr>
            <p:cNvSpPr txBox="1"/>
            <p:nvPr/>
          </p:nvSpPr>
          <p:spPr>
            <a:xfrm>
              <a:off x="1511198" y="926837"/>
              <a:ext cx="5131683"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Forward</a:t>
              </a: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由上游向下游推动，识别瓶颈，软分配物料和资源，由齐套和资源可用性检查计算得到最早可交付日期</a:t>
              </a:r>
            </a:p>
          </p:txBody>
        </p:sp>
      </p:grpSp>
      <p:grpSp>
        <p:nvGrpSpPr>
          <p:cNvPr id="68" name="组合 67">
            <a:extLst>
              <a:ext uri="{FF2B5EF4-FFF2-40B4-BE49-F238E27FC236}">
                <a16:creationId xmlns:a16="http://schemas.microsoft.com/office/drawing/2014/main" id="{8474A2AD-217C-B179-FA78-6E7F66CEB269}"/>
              </a:ext>
            </a:extLst>
          </p:cNvPr>
          <p:cNvGrpSpPr/>
          <p:nvPr/>
        </p:nvGrpSpPr>
        <p:grpSpPr>
          <a:xfrm>
            <a:off x="4056296" y="4587164"/>
            <a:ext cx="6531915" cy="1325066"/>
            <a:chOff x="4056296" y="4587164"/>
            <a:chExt cx="6531915" cy="1325066"/>
          </a:xfrm>
        </p:grpSpPr>
        <p:sp>
          <p:nvSpPr>
            <p:cNvPr id="69" name="椭圆 68">
              <a:extLst>
                <a:ext uri="{FF2B5EF4-FFF2-40B4-BE49-F238E27FC236}">
                  <a16:creationId xmlns:a16="http://schemas.microsoft.com/office/drawing/2014/main" id="{7FFF355F-9703-27D6-7D17-BA3FC925DCF8}"/>
                </a:ext>
              </a:extLst>
            </p:cNvPr>
            <p:cNvSpPr/>
            <p:nvPr/>
          </p:nvSpPr>
          <p:spPr>
            <a:xfrm>
              <a:off x="4056296" y="4984361"/>
              <a:ext cx="1001485" cy="370114"/>
            </a:xfrm>
            <a:prstGeom prst="ellipse">
              <a:avLst/>
            </a:prstGeom>
            <a:solidFill>
              <a:schemeClr val="accent1">
                <a:lumMod val="20000"/>
                <a:lumOff val="80000"/>
              </a:schemeClr>
            </a:solidFill>
            <a:ln w="6350" cap="flat" cmpd="sng" algn="ctr">
              <a:solidFill>
                <a:srgbClr val="6C92FD"/>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原材 </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E</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70" name="椭圆 69">
              <a:extLst>
                <a:ext uri="{FF2B5EF4-FFF2-40B4-BE49-F238E27FC236}">
                  <a16:creationId xmlns:a16="http://schemas.microsoft.com/office/drawing/2014/main" id="{C4A7C4A6-EDA0-B5A9-CC4D-9EE2CC2D9ED0}"/>
                </a:ext>
              </a:extLst>
            </p:cNvPr>
            <p:cNvSpPr/>
            <p:nvPr/>
          </p:nvSpPr>
          <p:spPr>
            <a:xfrm>
              <a:off x="5444230" y="4984361"/>
              <a:ext cx="1001485" cy="370114"/>
            </a:xfrm>
            <a:prstGeom prst="ellipse">
              <a:avLst/>
            </a:prstGeom>
            <a:solidFill>
              <a:schemeClr val="accent1">
                <a:lumMod val="40000"/>
                <a:lumOff val="60000"/>
              </a:schemeClr>
            </a:solidFill>
            <a:ln w="6350" cap="flat" cmpd="sng" algn="ctr">
              <a:solidFill>
                <a:srgbClr val="4765D8"/>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部件 </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D</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71" name="椭圆 70">
              <a:extLst>
                <a:ext uri="{FF2B5EF4-FFF2-40B4-BE49-F238E27FC236}">
                  <a16:creationId xmlns:a16="http://schemas.microsoft.com/office/drawing/2014/main" id="{D324464B-6276-3FD5-6D74-C5A5A837E35F}"/>
                </a:ext>
              </a:extLst>
            </p:cNvPr>
            <p:cNvSpPr/>
            <p:nvPr/>
          </p:nvSpPr>
          <p:spPr>
            <a:xfrm>
              <a:off x="6854401" y="5005547"/>
              <a:ext cx="1001485" cy="370114"/>
            </a:xfrm>
            <a:prstGeom prst="ellipse">
              <a:avLst/>
            </a:prstGeom>
            <a:solidFill>
              <a:schemeClr val="accent1">
                <a:lumMod val="60000"/>
                <a:lumOff val="40000"/>
              </a:schemeClr>
            </a:solidFill>
            <a:ln w="6350" cap="flat" cmpd="sng" algn="ctr">
              <a:solidFill>
                <a:srgbClr val="09309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部件 </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C</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72" name="椭圆 71">
              <a:extLst>
                <a:ext uri="{FF2B5EF4-FFF2-40B4-BE49-F238E27FC236}">
                  <a16:creationId xmlns:a16="http://schemas.microsoft.com/office/drawing/2014/main" id="{6A631F85-2620-41AC-6C40-8E7F039B74B2}"/>
                </a:ext>
              </a:extLst>
            </p:cNvPr>
            <p:cNvSpPr/>
            <p:nvPr/>
          </p:nvSpPr>
          <p:spPr>
            <a:xfrm>
              <a:off x="8249592" y="5005547"/>
              <a:ext cx="1001485" cy="370114"/>
            </a:xfrm>
            <a:prstGeom prst="ellipse">
              <a:avLst/>
            </a:prstGeom>
            <a:solidFill>
              <a:schemeClr val="accent1">
                <a:lumMod val="75000"/>
              </a:schemeClr>
            </a:solidFill>
            <a:ln w="6350" cap="flat" cmpd="sng" algn="ctr">
              <a:solidFill>
                <a:srgbClr val="2E3B72"/>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部件 </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B</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nvGrpSpPr>
            <p:cNvPr id="73" name="组合 72">
              <a:extLst>
                <a:ext uri="{FF2B5EF4-FFF2-40B4-BE49-F238E27FC236}">
                  <a16:creationId xmlns:a16="http://schemas.microsoft.com/office/drawing/2014/main" id="{9E8CE5C7-8320-3AEE-84B8-F4C37C4F452D}"/>
                </a:ext>
              </a:extLst>
            </p:cNvPr>
            <p:cNvGrpSpPr/>
            <p:nvPr/>
          </p:nvGrpSpPr>
          <p:grpSpPr>
            <a:xfrm>
              <a:off x="9586726" y="4614358"/>
              <a:ext cx="1001485" cy="761303"/>
              <a:chOff x="8130554" y="1804530"/>
              <a:chExt cx="1001485" cy="761303"/>
            </a:xfrm>
          </p:grpSpPr>
          <p:sp>
            <p:nvSpPr>
              <p:cNvPr id="90" name="椭圆 89">
                <a:extLst>
                  <a:ext uri="{FF2B5EF4-FFF2-40B4-BE49-F238E27FC236}">
                    <a16:creationId xmlns:a16="http://schemas.microsoft.com/office/drawing/2014/main" id="{E226668D-2841-F4A1-0CFB-E761F3BB691B}"/>
                  </a:ext>
                </a:extLst>
              </p:cNvPr>
              <p:cNvSpPr/>
              <p:nvPr/>
            </p:nvSpPr>
            <p:spPr>
              <a:xfrm>
                <a:off x="8130554" y="2195719"/>
                <a:ext cx="1001485" cy="370114"/>
              </a:xfrm>
              <a:prstGeom prst="ellipse">
                <a:avLst/>
              </a:prstGeom>
              <a:solidFill>
                <a:schemeClr val="accent1">
                  <a:lumMod val="50000"/>
                </a:schemeClr>
              </a:solidFill>
              <a:ln w="6350" cap="flat" cmpd="sng" algn="ctr">
                <a:solidFill>
                  <a:srgbClr val="2E3B72"/>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成品 </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A</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91" name="矩形 90">
                <a:extLst>
                  <a:ext uri="{FF2B5EF4-FFF2-40B4-BE49-F238E27FC236}">
                    <a16:creationId xmlns:a16="http://schemas.microsoft.com/office/drawing/2014/main" id="{DCAE55BA-32F0-C8A7-DCD6-9A06BB4D6961}"/>
                  </a:ext>
                </a:extLst>
              </p:cNvPr>
              <p:cNvSpPr/>
              <p:nvPr/>
            </p:nvSpPr>
            <p:spPr>
              <a:xfrm>
                <a:off x="8256276" y="1804530"/>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Level 0</a:t>
                </a:r>
                <a:endParaRPr kumimoji="0" lang="zh-CN" altLang="en-US"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sp>
          <p:nvSpPr>
            <p:cNvPr id="74" name="矩形 73">
              <a:extLst>
                <a:ext uri="{FF2B5EF4-FFF2-40B4-BE49-F238E27FC236}">
                  <a16:creationId xmlns:a16="http://schemas.microsoft.com/office/drawing/2014/main" id="{85682F8D-6B6D-7389-BA8D-793745169963}"/>
                </a:ext>
              </a:extLst>
            </p:cNvPr>
            <p:cNvSpPr/>
            <p:nvPr/>
          </p:nvSpPr>
          <p:spPr>
            <a:xfrm>
              <a:off x="8375314" y="4608350"/>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Level 1</a:t>
              </a:r>
              <a:endParaRPr kumimoji="0" lang="zh-CN" altLang="en-US"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75" name="矩形 74">
              <a:extLst>
                <a:ext uri="{FF2B5EF4-FFF2-40B4-BE49-F238E27FC236}">
                  <a16:creationId xmlns:a16="http://schemas.microsoft.com/office/drawing/2014/main" id="{C553836C-E2CB-C1D0-B2A5-4F233FF861B8}"/>
                </a:ext>
              </a:extLst>
            </p:cNvPr>
            <p:cNvSpPr/>
            <p:nvPr/>
          </p:nvSpPr>
          <p:spPr>
            <a:xfrm>
              <a:off x="6974852" y="4608350"/>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Level 2</a:t>
              </a:r>
              <a:endParaRPr kumimoji="0" lang="zh-CN" altLang="en-US"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76" name="矩形 75">
              <a:extLst>
                <a:ext uri="{FF2B5EF4-FFF2-40B4-BE49-F238E27FC236}">
                  <a16:creationId xmlns:a16="http://schemas.microsoft.com/office/drawing/2014/main" id="{804728FE-CA5E-6DCD-D33D-AC70CFB66CF1}"/>
                </a:ext>
              </a:extLst>
            </p:cNvPr>
            <p:cNvSpPr/>
            <p:nvPr/>
          </p:nvSpPr>
          <p:spPr>
            <a:xfrm>
              <a:off x="5574390" y="4587164"/>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Level 3</a:t>
              </a:r>
              <a:endParaRPr kumimoji="0" lang="zh-CN" altLang="en-US"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77" name="矩形 76">
              <a:extLst>
                <a:ext uri="{FF2B5EF4-FFF2-40B4-BE49-F238E27FC236}">
                  <a16:creationId xmlns:a16="http://schemas.microsoft.com/office/drawing/2014/main" id="{E87EF6C6-A33A-8578-F5DE-508354BCAC03}"/>
                </a:ext>
              </a:extLst>
            </p:cNvPr>
            <p:cNvSpPr/>
            <p:nvPr/>
          </p:nvSpPr>
          <p:spPr>
            <a:xfrm>
              <a:off x="4181185" y="4587164"/>
              <a:ext cx="750039" cy="284278"/>
            </a:xfrm>
            <a:prstGeom prst="rect">
              <a:avLst/>
            </a:prstGeom>
            <a:solidFill>
              <a:srgbClr val="FFFFFF"/>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Level 4</a:t>
              </a:r>
              <a:endParaRPr kumimoji="0" lang="zh-CN" altLang="en-US" sz="1200" b="0" i="0" u="none" strike="noStrike" kern="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nvGrpSpPr>
            <p:cNvPr id="78" name="组合 77">
              <a:extLst>
                <a:ext uri="{FF2B5EF4-FFF2-40B4-BE49-F238E27FC236}">
                  <a16:creationId xmlns:a16="http://schemas.microsoft.com/office/drawing/2014/main" id="{F6C67DCF-7588-B558-C32B-B9AEF8C81A51}"/>
                </a:ext>
              </a:extLst>
            </p:cNvPr>
            <p:cNvGrpSpPr/>
            <p:nvPr/>
          </p:nvGrpSpPr>
          <p:grpSpPr>
            <a:xfrm>
              <a:off x="4563389" y="5355382"/>
              <a:ext cx="1473254" cy="556848"/>
              <a:chOff x="2025007" y="2308400"/>
              <a:chExt cx="1473254" cy="556848"/>
            </a:xfrm>
          </p:grpSpPr>
          <p:cxnSp>
            <p:nvCxnSpPr>
              <p:cNvPr id="88" name="连接符: 曲线 87">
                <a:extLst>
                  <a:ext uri="{FF2B5EF4-FFF2-40B4-BE49-F238E27FC236}">
                    <a16:creationId xmlns:a16="http://schemas.microsoft.com/office/drawing/2014/main" id="{87268CCC-0697-CB38-14D3-DF660E571691}"/>
                  </a:ext>
                </a:extLst>
              </p:cNvPr>
              <p:cNvCxnSpPr>
                <a:stCxn id="69" idx="4"/>
                <a:endCxn id="70" idx="4"/>
              </p:cNvCxnSpPr>
              <p:nvPr/>
            </p:nvCxnSpPr>
            <p:spPr>
              <a:xfrm rot="16200000" flipH="1">
                <a:off x="2712624" y="1620783"/>
                <a:ext cx="12700" cy="1387934"/>
              </a:xfrm>
              <a:prstGeom prst="curvedConnector3">
                <a:avLst>
                  <a:gd name="adj1" fmla="val 1800000"/>
                </a:avLst>
              </a:prstGeom>
              <a:noFill/>
              <a:ln w="12700" cap="flat" cmpd="sng" algn="ctr">
                <a:solidFill>
                  <a:schemeClr val="accent1"/>
                </a:solidFill>
                <a:prstDash val="dashDot"/>
                <a:miter lim="800000"/>
                <a:headEnd type="triangle"/>
                <a:tailEnd type="none"/>
              </a:ln>
              <a:effectLst/>
            </p:spPr>
          </p:cxnSp>
          <p:sp>
            <p:nvSpPr>
              <p:cNvPr id="89" name="文本框 88">
                <a:extLst>
                  <a:ext uri="{FF2B5EF4-FFF2-40B4-BE49-F238E27FC236}">
                    <a16:creationId xmlns:a16="http://schemas.microsoft.com/office/drawing/2014/main" id="{A6E3586C-4D4D-FDCA-66CC-CC83C3083D20}"/>
                  </a:ext>
                </a:extLst>
              </p:cNvPr>
              <p:cNvSpPr txBox="1"/>
              <p:nvPr/>
            </p:nvSpPr>
            <p:spPr>
              <a:xfrm>
                <a:off x="2300832" y="2588249"/>
                <a:ext cx="1197429" cy="276999"/>
              </a:xfrm>
              <a:prstGeom prst="rect">
                <a:avLst/>
              </a:prstGeom>
              <a:noFill/>
            </p:spPr>
            <p:txBody>
              <a:bodyPr wrap="square" rtlCol="0">
                <a:spAutoFit/>
              </a:bodyPr>
              <a:lstStyle>
                <a:defPPr>
                  <a:defRPr lang="zh-CN"/>
                </a:defPPr>
                <a:lvl1pPr marR="0" lvl="0" indent="0" fontAlgn="auto">
                  <a:lnSpc>
                    <a:spcPct val="100000"/>
                  </a:lnSpc>
                  <a:spcBef>
                    <a:spcPts val="0"/>
                  </a:spcBef>
                  <a:spcAft>
                    <a:spcPts val="0"/>
                  </a:spcAft>
                  <a:buClrTx/>
                  <a:buSzTx/>
                  <a:buFontTx/>
                  <a:buNone/>
                  <a:tabLst/>
                  <a:defRPr kumimoji="0" sz="1200" b="1" i="0" u="none" strike="noStrike" kern="0" cap="none" spc="0" normalizeH="0" baseline="0">
                    <a:ln>
                      <a:noFill/>
                    </a:ln>
                    <a:solidFill>
                      <a:schemeClr val="accent2">
                        <a:lumMod val="75000"/>
                      </a:schemeClr>
                    </a:solidFill>
                    <a:effectLst/>
                    <a:uLnTx/>
                    <a:uFillTx/>
                    <a:latin typeface="Verdana"/>
                    <a:ea typeface="微软雅黑" panose="020B0503020204020204" pitchFamily="34" charset="-122"/>
                  </a:defRPr>
                </a:lvl1pPr>
              </a:lstStyle>
              <a:p>
                <a:r>
                  <a:rPr lang="en-US" altLang="zh-CN" dirty="0">
                    <a:solidFill>
                      <a:schemeClr val="tx1"/>
                    </a:solidFill>
                    <a:latin typeface="Arial" panose="020B0604020202020204" pitchFamily="34" charset="0"/>
                  </a:rPr>
                  <a:t>Pegging</a:t>
                </a:r>
                <a:endParaRPr lang="zh-CN" altLang="en-US" dirty="0">
                  <a:solidFill>
                    <a:schemeClr val="tx1"/>
                  </a:solidFill>
                  <a:latin typeface="Arial" panose="020B0604020202020204" pitchFamily="34" charset="0"/>
                </a:endParaRPr>
              </a:p>
            </p:txBody>
          </p:sp>
        </p:grpSp>
        <p:grpSp>
          <p:nvGrpSpPr>
            <p:cNvPr id="79" name="组合 78">
              <a:extLst>
                <a:ext uri="{FF2B5EF4-FFF2-40B4-BE49-F238E27FC236}">
                  <a16:creationId xmlns:a16="http://schemas.microsoft.com/office/drawing/2014/main" id="{D7EA4683-EE5C-A035-825D-BC6A6D23DE63}"/>
                </a:ext>
              </a:extLst>
            </p:cNvPr>
            <p:cNvGrpSpPr/>
            <p:nvPr/>
          </p:nvGrpSpPr>
          <p:grpSpPr>
            <a:xfrm>
              <a:off x="6198108" y="5376799"/>
              <a:ext cx="1303891" cy="528701"/>
              <a:chOff x="1518382" y="2559483"/>
              <a:chExt cx="1303891" cy="528701"/>
            </a:xfrm>
          </p:grpSpPr>
          <p:cxnSp>
            <p:nvCxnSpPr>
              <p:cNvPr id="86" name="连接符: 曲线 85">
                <a:extLst>
                  <a:ext uri="{FF2B5EF4-FFF2-40B4-BE49-F238E27FC236}">
                    <a16:creationId xmlns:a16="http://schemas.microsoft.com/office/drawing/2014/main" id="{2D429BFF-06FF-FE9E-6443-5B8B3DDA57CB}"/>
                  </a:ext>
                </a:extLst>
              </p:cNvPr>
              <p:cNvCxnSpPr/>
              <p:nvPr/>
            </p:nvCxnSpPr>
            <p:spPr>
              <a:xfrm rot="16200000" flipH="1">
                <a:off x="2079000" y="1998865"/>
                <a:ext cx="12700" cy="1133935"/>
              </a:xfrm>
              <a:prstGeom prst="curvedConnector3">
                <a:avLst>
                  <a:gd name="adj1" fmla="val 1800000"/>
                </a:avLst>
              </a:prstGeom>
              <a:noFill/>
              <a:ln w="12700" cap="flat" cmpd="sng" algn="ctr">
                <a:solidFill>
                  <a:schemeClr val="accent1"/>
                </a:solidFill>
                <a:prstDash val="dashDot"/>
                <a:miter lim="800000"/>
                <a:headEnd type="triangle"/>
                <a:tailEnd type="none"/>
              </a:ln>
              <a:effectLst/>
            </p:spPr>
          </p:cxnSp>
          <p:sp>
            <p:nvSpPr>
              <p:cNvPr id="87" name="文本框 86">
                <a:extLst>
                  <a:ext uri="{FF2B5EF4-FFF2-40B4-BE49-F238E27FC236}">
                    <a16:creationId xmlns:a16="http://schemas.microsoft.com/office/drawing/2014/main" id="{986D0339-ACD3-9E91-82CF-58F9AD4815D6}"/>
                  </a:ext>
                </a:extLst>
              </p:cNvPr>
              <p:cNvSpPr txBox="1"/>
              <p:nvPr/>
            </p:nvSpPr>
            <p:spPr>
              <a:xfrm>
                <a:off x="1624844" y="2811185"/>
                <a:ext cx="1197429"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Pegging</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grpSp>
          <p:nvGrpSpPr>
            <p:cNvPr id="80" name="组合 79">
              <a:extLst>
                <a:ext uri="{FF2B5EF4-FFF2-40B4-BE49-F238E27FC236}">
                  <a16:creationId xmlns:a16="http://schemas.microsoft.com/office/drawing/2014/main" id="{707AE20F-BDB4-857A-C10F-FB8AE5E138DB}"/>
                </a:ext>
              </a:extLst>
            </p:cNvPr>
            <p:cNvGrpSpPr/>
            <p:nvPr/>
          </p:nvGrpSpPr>
          <p:grpSpPr>
            <a:xfrm>
              <a:off x="7429516" y="5382012"/>
              <a:ext cx="1531604" cy="518104"/>
              <a:chOff x="1518382" y="2559483"/>
              <a:chExt cx="1340548" cy="476429"/>
            </a:xfrm>
          </p:grpSpPr>
          <p:cxnSp>
            <p:nvCxnSpPr>
              <p:cNvPr id="84" name="连接符: 曲线 83">
                <a:extLst>
                  <a:ext uri="{FF2B5EF4-FFF2-40B4-BE49-F238E27FC236}">
                    <a16:creationId xmlns:a16="http://schemas.microsoft.com/office/drawing/2014/main" id="{284BFE4E-855E-7725-5667-46A9B2A14CD1}"/>
                  </a:ext>
                </a:extLst>
              </p:cNvPr>
              <p:cNvCxnSpPr/>
              <p:nvPr/>
            </p:nvCxnSpPr>
            <p:spPr>
              <a:xfrm rot="16200000" flipH="1">
                <a:off x="2079000" y="1998865"/>
                <a:ext cx="12700" cy="1133935"/>
              </a:xfrm>
              <a:prstGeom prst="curvedConnector3">
                <a:avLst>
                  <a:gd name="adj1" fmla="val 1800000"/>
                </a:avLst>
              </a:prstGeom>
              <a:noFill/>
              <a:ln w="12700" cap="flat" cmpd="sng" algn="ctr">
                <a:solidFill>
                  <a:schemeClr val="accent1"/>
                </a:solidFill>
                <a:prstDash val="dashDot"/>
                <a:miter lim="800000"/>
                <a:headEnd type="triangle"/>
                <a:tailEnd type="none"/>
              </a:ln>
              <a:effectLst/>
            </p:spPr>
          </p:cxnSp>
          <p:sp>
            <p:nvSpPr>
              <p:cNvPr id="85" name="文本框 84">
                <a:extLst>
                  <a:ext uri="{FF2B5EF4-FFF2-40B4-BE49-F238E27FC236}">
                    <a16:creationId xmlns:a16="http://schemas.microsoft.com/office/drawing/2014/main" id="{346E9AA1-528F-D639-7F4F-B79566089079}"/>
                  </a:ext>
                </a:extLst>
              </p:cNvPr>
              <p:cNvSpPr txBox="1"/>
              <p:nvPr/>
            </p:nvSpPr>
            <p:spPr>
              <a:xfrm>
                <a:off x="1661501" y="2781194"/>
                <a:ext cx="1197429" cy="254718"/>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accent1"/>
                    </a:solidFill>
                    <a:effectLst/>
                    <a:uLnTx/>
                    <a:uFillTx/>
                    <a:latin typeface="Arial" panose="020B0604020202020204" pitchFamily="34" charset="0"/>
                    <a:ea typeface="微软雅黑" panose="020B0503020204020204" pitchFamily="34" charset="-122"/>
                  </a:rPr>
                  <a:t>    </a:t>
                </a:r>
                <a:r>
                  <a:rPr lang="en-US" altLang="zh-CN" sz="1200" b="1" kern="0" dirty="0">
                    <a:latin typeface="Arial" panose="020B0604020202020204" pitchFamily="34" charset="0"/>
                    <a:ea typeface="微软雅黑" panose="020B0503020204020204" pitchFamily="34" charset="-122"/>
                  </a:rPr>
                  <a:t>Pegging</a:t>
                </a:r>
                <a:endParaRPr lang="zh-CN" altLang="en-US" sz="1200" b="1" kern="0" dirty="0">
                  <a:latin typeface="Arial" panose="020B0604020202020204" pitchFamily="34" charset="0"/>
                  <a:ea typeface="微软雅黑" panose="020B0503020204020204" pitchFamily="34" charset="-122"/>
                </a:endParaRPr>
              </a:p>
            </p:txBody>
          </p:sp>
        </p:grpSp>
        <p:grpSp>
          <p:nvGrpSpPr>
            <p:cNvPr id="81" name="组合 80">
              <a:extLst>
                <a:ext uri="{FF2B5EF4-FFF2-40B4-BE49-F238E27FC236}">
                  <a16:creationId xmlns:a16="http://schemas.microsoft.com/office/drawing/2014/main" id="{7E78D890-C93A-5A33-36D3-E912715F722B}"/>
                </a:ext>
              </a:extLst>
            </p:cNvPr>
            <p:cNvGrpSpPr/>
            <p:nvPr/>
          </p:nvGrpSpPr>
          <p:grpSpPr>
            <a:xfrm>
              <a:off x="9055763" y="5395822"/>
              <a:ext cx="1193892" cy="508576"/>
              <a:chOff x="1518382" y="2559483"/>
              <a:chExt cx="1410745" cy="508576"/>
            </a:xfrm>
          </p:grpSpPr>
          <p:cxnSp>
            <p:nvCxnSpPr>
              <p:cNvPr id="82" name="连接符: 曲线 81">
                <a:extLst>
                  <a:ext uri="{FF2B5EF4-FFF2-40B4-BE49-F238E27FC236}">
                    <a16:creationId xmlns:a16="http://schemas.microsoft.com/office/drawing/2014/main" id="{A8069FB3-E125-F897-C49D-FF3432450D0C}"/>
                  </a:ext>
                </a:extLst>
              </p:cNvPr>
              <p:cNvCxnSpPr/>
              <p:nvPr/>
            </p:nvCxnSpPr>
            <p:spPr>
              <a:xfrm rot="16200000" flipH="1">
                <a:off x="2079000" y="1998865"/>
                <a:ext cx="12700" cy="1133935"/>
              </a:xfrm>
              <a:prstGeom prst="curvedConnector3">
                <a:avLst>
                  <a:gd name="adj1" fmla="val 1800000"/>
                </a:avLst>
              </a:prstGeom>
              <a:noFill/>
              <a:ln w="12700" cap="flat" cmpd="sng" algn="ctr">
                <a:solidFill>
                  <a:schemeClr val="accent1"/>
                </a:solidFill>
                <a:prstDash val="dashDot"/>
                <a:miter lim="800000"/>
                <a:headEnd type="triangle"/>
                <a:tailEnd type="none"/>
              </a:ln>
              <a:effectLst/>
            </p:spPr>
          </p:cxnSp>
          <p:sp>
            <p:nvSpPr>
              <p:cNvPr id="83" name="文本框 82">
                <a:extLst>
                  <a:ext uri="{FF2B5EF4-FFF2-40B4-BE49-F238E27FC236}">
                    <a16:creationId xmlns:a16="http://schemas.microsoft.com/office/drawing/2014/main" id="{39456F50-90EE-B2FB-DC41-9F2A13714FD0}"/>
                  </a:ext>
                </a:extLst>
              </p:cNvPr>
              <p:cNvSpPr txBox="1"/>
              <p:nvPr/>
            </p:nvSpPr>
            <p:spPr>
              <a:xfrm>
                <a:off x="1599920" y="2606394"/>
                <a:ext cx="1329207"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    </a:t>
                </a:r>
              </a:p>
              <a:p>
                <a:pPr marL="0" marR="0" lvl="0" indent="0" defTabSz="914400" eaLnBrk="1" fontAlgn="auto" latinLnBrk="0" hangingPunct="1">
                  <a:lnSpc>
                    <a:spcPct val="100000"/>
                  </a:lnSpc>
                  <a:spcBef>
                    <a:spcPts val="0"/>
                  </a:spcBef>
                  <a:spcAft>
                    <a:spcPts val="0"/>
                  </a:spcAft>
                  <a:buClrTx/>
                  <a:buSzTx/>
                  <a:buFontTx/>
                  <a:buNone/>
                  <a:tabLst/>
                  <a:defRPr/>
                </a:pPr>
                <a:r>
                  <a:rPr lang="en-US" altLang="zh-CN" sz="1200" b="1" kern="0" dirty="0">
                    <a:latin typeface="Arial" panose="020B0604020202020204" pitchFamily="34" charset="0"/>
                    <a:ea typeface="微软雅黑" panose="020B0503020204020204" pitchFamily="34" charset="-122"/>
                  </a:rPr>
                  <a:t>Pegging</a:t>
                </a:r>
                <a:endParaRPr lang="zh-CN" altLang="en-US" sz="1200" b="1" kern="0" dirty="0">
                  <a:latin typeface="Arial" panose="020B0604020202020204" pitchFamily="34" charset="0"/>
                  <a:ea typeface="微软雅黑" panose="020B0503020204020204" pitchFamily="34" charset="-122"/>
                </a:endParaRPr>
              </a:p>
            </p:txBody>
          </p:sp>
        </p:grpSp>
      </p:grpSp>
      <p:grpSp>
        <p:nvGrpSpPr>
          <p:cNvPr id="92" name="组合 91">
            <a:extLst>
              <a:ext uri="{FF2B5EF4-FFF2-40B4-BE49-F238E27FC236}">
                <a16:creationId xmlns:a16="http://schemas.microsoft.com/office/drawing/2014/main" id="{B62136E8-5E10-D479-526D-9E7E7803238C}"/>
              </a:ext>
            </a:extLst>
          </p:cNvPr>
          <p:cNvGrpSpPr/>
          <p:nvPr/>
        </p:nvGrpSpPr>
        <p:grpSpPr>
          <a:xfrm>
            <a:off x="4233296" y="5873636"/>
            <a:ext cx="7567787" cy="882138"/>
            <a:chOff x="4233296" y="5873636"/>
            <a:chExt cx="7567787" cy="882138"/>
          </a:xfrm>
        </p:grpSpPr>
        <p:sp>
          <p:nvSpPr>
            <p:cNvPr id="93" name="箭头: 右 92">
              <a:extLst>
                <a:ext uri="{FF2B5EF4-FFF2-40B4-BE49-F238E27FC236}">
                  <a16:creationId xmlns:a16="http://schemas.microsoft.com/office/drawing/2014/main" id="{15F20BDD-A1C7-9595-C3CC-8AA921456B9F}"/>
                </a:ext>
              </a:extLst>
            </p:cNvPr>
            <p:cNvSpPr/>
            <p:nvPr/>
          </p:nvSpPr>
          <p:spPr>
            <a:xfrm rot="10800000">
              <a:off x="4233296" y="5873636"/>
              <a:ext cx="6392439" cy="360000"/>
            </a:xfrm>
            <a:prstGeom prst="rightArrow">
              <a:avLst/>
            </a:prstGeom>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Verdana"/>
                <a:ea typeface="微软雅黑" panose="020B0503020204020204" pitchFamily="34" charset="-122"/>
                <a:cs typeface="+mn-cs"/>
              </a:endParaRPr>
            </a:p>
          </p:txBody>
        </p:sp>
        <p:sp>
          <p:nvSpPr>
            <p:cNvPr id="94" name="文本框 93">
              <a:extLst>
                <a:ext uri="{FF2B5EF4-FFF2-40B4-BE49-F238E27FC236}">
                  <a16:creationId xmlns:a16="http://schemas.microsoft.com/office/drawing/2014/main" id="{B51DC8BD-1CB0-F3E6-C30A-C465AF1AF54D}"/>
                </a:ext>
              </a:extLst>
            </p:cNvPr>
            <p:cNvSpPr txBox="1"/>
            <p:nvPr/>
          </p:nvSpPr>
          <p:spPr>
            <a:xfrm>
              <a:off x="4318907" y="6294109"/>
              <a:ext cx="7482176" cy="461665"/>
            </a:xfrm>
            <a:prstGeom prst="rect">
              <a:avLst/>
            </a:prstGeom>
            <a:noFill/>
          </p:spPr>
          <p:txBody>
            <a:bodyPr wrap="square" rtlCol="0">
              <a:spAutoFit/>
            </a:bodyPr>
            <a:lstStyle>
              <a:defPPr>
                <a:defRPr lang="zh-CN"/>
              </a:defPPr>
              <a:lvl1pPr>
                <a:defRPr sz="1200" b="1">
                  <a:latin typeface="+mn-ea"/>
                </a:defRPr>
              </a:lvl1p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以</a:t>
              </a: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PSD Backward </a:t>
              </a: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拉动，减少</a:t>
              </a: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WIP</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释放物料保障交付准确的同时可以提高</a:t>
              </a: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15%+</a:t>
              </a: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的交付速度</a:t>
              </a:r>
            </a:p>
          </p:txBody>
        </p:sp>
      </p:grpSp>
      <p:sp>
        <p:nvSpPr>
          <p:cNvPr id="96" name="对话气泡: 椭圆形 95">
            <a:extLst>
              <a:ext uri="{FF2B5EF4-FFF2-40B4-BE49-F238E27FC236}">
                <a16:creationId xmlns:a16="http://schemas.microsoft.com/office/drawing/2014/main" id="{78AC0E41-D938-5491-A097-F4AEF6C23B8D}"/>
              </a:ext>
            </a:extLst>
          </p:cNvPr>
          <p:cNvSpPr/>
          <p:nvPr/>
        </p:nvSpPr>
        <p:spPr>
          <a:xfrm>
            <a:off x="155069" y="1699870"/>
            <a:ext cx="659563" cy="397197"/>
          </a:xfrm>
          <a:prstGeom prst="wedgeEllipseCallout">
            <a:avLst>
              <a:gd name="adj1" fmla="val 32447"/>
              <a:gd name="adj2" fmla="val 78613"/>
            </a:avLst>
          </a:prstGeom>
          <a:gradFill rotWithShape="1">
            <a:gsLst>
              <a:gs pos="0">
                <a:srgbClr val="093091">
                  <a:satMod val="103000"/>
                  <a:lumMod val="102000"/>
                  <a:tint val="94000"/>
                </a:srgbClr>
              </a:gs>
              <a:gs pos="50000">
                <a:srgbClr val="093091">
                  <a:satMod val="110000"/>
                  <a:lumMod val="100000"/>
                  <a:shade val="100000"/>
                </a:srgbClr>
              </a:gs>
              <a:gs pos="100000">
                <a:srgbClr val="093091">
                  <a:lumMod val="99000"/>
                  <a:satMod val="120000"/>
                  <a:shade val="78000"/>
                </a:srgbClr>
              </a:gs>
            </a:gsLst>
            <a:lin ang="5400000" scaled="0"/>
          </a:gradFill>
          <a:ln w="6350" cap="flat" cmpd="sng" algn="ctr">
            <a:solidFill>
              <a:srgbClr val="09309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cs typeface="+mn-cs"/>
              </a:rPr>
              <a:t>堆积</a:t>
            </a:r>
          </a:p>
        </p:txBody>
      </p:sp>
      <p:sp>
        <p:nvSpPr>
          <p:cNvPr id="247" name="任意多边形: 形状 246">
            <a:extLst>
              <a:ext uri="{FF2B5EF4-FFF2-40B4-BE49-F238E27FC236}">
                <a16:creationId xmlns:a16="http://schemas.microsoft.com/office/drawing/2014/main" id="{2E733E94-E897-051C-AFAA-5215372F0674}"/>
              </a:ext>
            </a:extLst>
          </p:cNvPr>
          <p:cNvSpPr/>
          <p:nvPr/>
        </p:nvSpPr>
        <p:spPr>
          <a:xfrm>
            <a:off x="2012775" y="6053636"/>
            <a:ext cx="808379" cy="721220"/>
          </a:xfrm>
          <a:custGeom>
            <a:avLst/>
            <a:gdLst>
              <a:gd name="T0" fmla="*/ 8327 w 8903"/>
              <a:gd name="T1" fmla="*/ 5437 h 9984"/>
              <a:gd name="T2" fmla="*/ 7677 w 8903"/>
              <a:gd name="T3" fmla="*/ 4670 h 9984"/>
              <a:gd name="T4" fmla="*/ 7694 w 8903"/>
              <a:gd name="T5" fmla="*/ 3413 h 9984"/>
              <a:gd name="T6" fmla="*/ 7473 w 8903"/>
              <a:gd name="T7" fmla="*/ 2330 h 9984"/>
              <a:gd name="T8" fmla="*/ 6505 w 8903"/>
              <a:gd name="T9" fmla="*/ 1028 h 9984"/>
              <a:gd name="T10" fmla="*/ 3807 w 8903"/>
              <a:gd name="T11" fmla="*/ 0 h 9984"/>
              <a:gd name="T12" fmla="*/ 0 w 8903"/>
              <a:gd name="T13" fmla="*/ 3482 h 9984"/>
              <a:gd name="T14" fmla="*/ 24 w 8903"/>
              <a:gd name="T15" fmla="*/ 3862 h 9984"/>
              <a:gd name="T16" fmla="*/ 1050 w 8903"/>
              <a:gd name="T17" fmla="*/ 6807 h 9984"/>
              <a:gd name="T18" fmla="*/ 0 w 8903"/>
              <a:gd name="T19" fmla="*/ 9977 h 9984"/>
              <a:gd name="T20" fmla="*/ 4618 w 8903"/>
              <a:gd name="T21" fmla="*/ 9984 h 9984"/>
              <a:gd name="T22" fmla="*/ 5528 w 8903"/>
              <a:gd name="T23" fmla="*/ 8608 h 9984"/>
              <a:gd name="T24" fmla="*/ 6963 w 8903"/>
              <a:gd name="T25" fmla="*/ 8617 h 9984"/>
              <a:gd name="T26" fmla="*/ 7189 w 8903"/>
              <a:gd name="T27" fmla="*/ 8599 h 9984"/>
              <a:gd name="T28" fmla="*/ 7198 w 8903"/>
              <a:gd name="T29" fmla="*/ 8598 h 9984"/>
              <a:gd name="T30" fmla="*/ 7198 w 8903"/>
              <a:gd name="T31" fmla="*/ 8594 h 9984"/>
              <a:gd name="T32" fmla="*/ 7298 w 8903"/>
              <a:gd name="T33" fmla="*/ 7675 h 9984"/>
              <a:gd name="T34" fmla="*/ 7603 w 8903"/>
              <a:gd name="T35" fmla="*/ 7365 h 9984"/>
              <a:gd name="T36" fmla="*/ 7603 w 8903"/>
              <a:gd name="T37" fmla="*/ 7344 h 9984"/>
              <a:gd name="T38" fmla="*/ 7158 w 8903"/>
              <a:gd name="T39" fmla="*/ 7080 h 9984"/>
              <a:gd name="T40" fmla="*/ 7278 w 8903"/>
              <a:gd name="T41" fmla="*/ 7080 h 9984"/>
              <a:gd name="T42" fmla="*/ 7633 w 8903"/>
              <a:gd name="T43" fmla="*/ 6843 h 9984"/>
              <a:gd name="T44" fmla="*/ 7633 w 8903"/>
              <a:gd name="T45" fmla="*/ 6825 h 9984"/>
              <a:gd name="T46" fmla="*/ 7598 w 8903"/>
              <a:gd name="T47" fmla="*/ 6724 h 9984"/>
              <a:gd name="T48" fmla="*/ 7803 w 8903"/>
              <a:gd name="T49" fmla="*/ 5887 h 9984"/>
              <a:gd name="T50" fmla="*/ 8327 w 8903"/>
              <a:gd name="T51" fmla="*/ 5437 h 9984"/>
              <a:gd name="T52" fmla="*/ 8327 w 8903"/>
              <a:gd name="T53" fmla="*/ 5437 h 9984"/>
              <a:gd name="T54" fmla="*/ 4452 w 8903"/>
              <a:gd name="T55" fmla="*/ 2668 h 9984"/>
              <a:gd name="T56" fmla="*/ 3917 w 8903"/>
              <a:gd name="T57" fmla="*/ 2977 h 9984"/>
              <a:gd name="T58" fmla="*/ 4024 w 8903"/>
              <a:gd name="T59" fmla="*/ 3438 h 9984"/>
              <a:gd name="T60" fmla="*/ 3843 w 8903"/>
              <a:gd name="T61" fmla="*/ 4035 h 9984"/>
              <a:gd name="T62" fmla="*/ 4847 w 8903"/>
              <a:gd name="T63" fmla="*/ 4615 h 9984"/>
              <a:gd name="T64" fmla="*/ 5098 w 8903"/>
              <a:gd name="T65" fmla="*/ 4511 h 9984"/>
              <a:gd name="T66" fmla="*/ 5455 w 8903"/>
              <a:gd name="T67" fmla="*/ 4869 h 9984"/>
              <a:gd name="T68" fmla="*/ 5098 w 8903"/>
              <a:gd name="T69" fmla="*/ 5226 h 9984"/>
              <a:gd name="T70" fmla="*/ 4740 w 8903"/>
              <a:gd name="T71" fmla="*/ 4869 h 9984"/>
              <a:gd name="T72" fmla="*/ 4760 w 8903"/>
              <a:gd name="T73" fmla="*/ 4770 h 9984"/>
              <a:gd name="T74" fmla="*/ 3728 w 8903"/>
              <a:gd name="T75" fmla="*/ 4174 h 9984"/>
              <a:gd name="T76" fmla="*/ 2950 w 8903"/>
              <a:gd name="T77" fmla="*/ 4510 h 9984"/>
              <a:gd name="T78" fmla="*/ 1877 w 8903"/>
              <a:gd name="T79" fmla="*/ 3437 h 9984"/>
              <a:gd name="T80" fmla="*/ 2950 w 8903"/>
              <a:gd name="T81" fmla="*/ 2363 h 9984"/>
              <a:gd name="T82" fmla="*/ 3828 w 8903"/>
              <a:gd name="T83" fmla="*/ 2820 h 9984"/>
              <a:gd name="T84" fmla="*/ 4395 w 8903"/>
              <a:gd name="T85" fmla="*/ 2493 h 9984"/>
              <a:gd name="T86" fmla="*/ 4382 w 8903"/>
              <a:gd name="T87" fmla="*/ 2363 h 9984"/>
              <a:gd name="T88" fmla="*/ 5098 w 8903"/>
              <a:gd name="T89" fmla="*/ 1647 h 9984"/>
              <a:gd name="T90" fmla="*/ 5814 w 8903"/>
              <a:gd name="T91" fmla="*/ 2363 h 9984"/>
              <a:gd name="T92" fmla="*/ 5098 w 8903"/>
              <a:gd name="T93" fmla="*/ 3079 h 9984"/>
              <a:gd name="T94" fmla="*/ 4452 w 8903"/>
              <a:gd name="T95" fmla="*/ 2668 h 9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903" h="9984">
                <a:moveTo>
                  <a:pt x="8327" y="5437"/>
                </a:moveTo>
                <a:cubicBezTo>
                  <a:pt x="8120" y="5205"/>
                  <a:pt x="7800" y="4960"/>
                  <a:pt x="7677" y="4670"/>
                </a:cubicBezTo>
                <a:cubicBezTo>
                  <a:pt x="7499" y="4255"/>
                  <a:pt x="7700" y="3839"/>
                  <a:pt x="7694" y="3413"/>
                </a:cubicBezTo>
                <a:cubicBezTo>
                  <a:pt x="7689" y="3072"/>
                  <a:pt x="7589" y="2647"/>
                  <a:pt x="7473" y="2330"/>
                </a:cubicBezTo>
                <a:cubicBezTo>
                  <a:pt x="7276" y="1797"/>
                  <a:pt x="6930" y="1363"/>
                  <a:pt x="6505" y="1028"/>
                </a:cubicBezTo>
                <a:cubicBezTo>
                  <a:pt x="5816" y="393"/>
                  <a:pt x="4861" y="0"/>
                  <a:pt x="3807" y="0"/>
                </a:cubicBezTo>
                <a:cubicBezTo>
                  <a:pt x="1704" y="0"/>
                  <a:pt x="0" y="1559"/>
                  <a:pt x="0" y="3482"/>
                </a:cubicBezTo>
                <a:cubicBezTo>
                  <a:pt x="0" y="3610"/>
                  <a:pt x="9" y="3737"/>
                  <a:pt x="24" y="3862"/>
                </a:cubicBezTo>
                <a:cubicBezTo>
                  <a:pt x="38" y="4695"/>
                  <a:pt x="299" y="5692"/>
                  <a:pt x="1050" y="6807"/>
                </a:cubicBezTo>
                <a:cubicBezTo>
                  <a:pt x="1050" y="6807"/>
                  <a:pt x="2099" y="8897"/>
                  <a:pt x="0" y="9977"/>
                </a:cubicBezTo>
                <a:lnTo>
                  <a:pt x="4618" y="9984"/>
                </a:lnTo>
                <a:cubicBezTo>
                  <a:pt x="4618" y="9984"/>
                  <a:pt x="4968" y="8608"/>
                  <a:pt x="5528" y="8608"/>
                </a:cubicBezTo>
                <a:cubicBezTo>
                  <a:pt x="6001" y="8608"/>
                  <a:pt x="6487" y="8643"/>
                  <a:pt x="6963" y="8617"/>
                </a:cubicBezTo>
                <a:cubicBezTo>
                  <a:pt x="7056" y="8633"/>
                  <a:pt x="7131" y="8625"/>
                  <a:pt x="7189" y="8599"/>
                </a:cubicBezTo>
                <a:cubicBezTo>
                  <a:pt x="7192" y="8599"/>
                  <a:pt x="7195" y="8598"/>
                  <a:pt x="7198" y="8598"/>
                </a:cubicBezTo>
                <a:lnTo>
                  <a:pt x="7198" y="8594"/>
                </a:lnTo>
                <a:cubicBezTo>
                  <a:pt x="7524" y="8432"/>
                  <a:pt x="7298" y="7675"/>
                  <a:pt x="7298" y="7675"/>
                </a:cubicBezTo>
                <a:cubicBezTo>
                  <a:pt x="7482" y="7597"/>
                  <a:pt x="7603" y="7464"/>
                  <a:pt x="7603" y="7365"/>
                </a:cubicBezTo>
                <a:lnTo>
                  <a:pt x="7603" y="7344"/>
                </a:lnTo>
                <a:cubicBezTo>
                  <a:pt x="7603" y="7220"/>
                  <a:pt x="7417" y="7117"/>
                  <a:pt x="7158" y="7080"/>
                </a:cubicBezTo>
                <a:lnTo>
                  <a:pt x="7278" y="7080"/>
                </a:lnTo>
                <a:cubicBezTo>
                  <a:pt x="7473" y="7080"/>
                  <a:pt x="7633" y="6974"/>
                  <a:pt x="7633" y="6843"/>
                </a:cubicBezTo>
                <a:lnTo>
                  <a:pt x="7633" y="6825"/>
                </a:lnTo>
                <a:cubicBezTo>
                  <a:pt x="7633" y="6789"/>
                  <a:pt x="7620" y="6755"/>
                  <a:pt x="7598" y="6724"/>
                </a:cubicBezTo>
                <a:cubicBezTo>
                  <a:pt x="7633" y="6568"/>
                  <a:pt x="7771" y="5888"/>
                  <a:pt x="7803" y="5887"/>
                </a:cubicBezTo>
                <a:cubicBezTo>
                  <a:pt x="8903" y="5834"/>
                  <a:pt x="8326" y="5437"/>
                  <a:pt x="8327" y="5437"/>
                </a:cubicBezTo>
                <a:close/>
                <a:moveTo>
                  <a:pt x="8327" y="5437"/>
                </a:moveTo>
                <a:close/>
                <a:moveTo>
                  <a:pt x="4452" y="2668"/>
                </a:moveTo>
                <a:lnTo>
                  <a:pt x="3917" y="2977"/>
                </a:lnTo>
                <a:cubicBezTo>
                  <a:pt x="3984" y="3117"/>
                  <a:pt x="4024" y="3272"/>
                  <a:pt x="4024" y="3438"/>
                </a:cubicBezTo>
                <a:cubicBezTo>
                  <a:pt x="4024" y="3659"/>
                  <a:pt x="3957" y="3864"/>
                  <a:pt x="3843" y="4035"/>
                </a:cubicBezTo>
                <a:lnTo>
                  <a:pt x="4847" y="4615"/>
                </a:lnTo>
                <a:cubicBezTo>
                  <a:pt x="4912" y="4551"/>
                  <a:pt x="4999" y="4511"/>
                  <a:pt x="5098" y="4511"/>
                </a:cubicBezTo>
                <a:cubicBezTo>
                  <a:pt x="5295" y="4511"/>
                  <a:pt x="5455" y="4671"/>
                  <a:pt x="5455" y="4869"/>
                </a:cubicBezTo>
                <a:cubicBezTo>
                  <a:pt x="5455" y="5067"/>
                  <a:pt x="5295" y="5226"/>
                  <a:pt x="5098" y="5226"/>
                </a:cubicBezTo>
                <a:cubicBezTo>
                  <a:pt x="4900" y="5226"/>
                  <a:pt x="4740" y="5067"/>
                  <a:pt x="4740" y="4869"/>
                </a:cubicBezTo>
                <a:cubicBezTo>
                  <a:pt x="4740" y="4834"/>
                  <a:pt x="4750" y="4803"/>
                  <a:pt x="4760" y="4770"/>
                </a:cubicBezTo>
                <a:lnTo>
                  <a:pt x="3728" y="4174"/>
                </a:lnTo>
                <a:cubicBezTo>
                  <a:pt x="3532" y="4380"/>
                  <a:pt x="3258" y="4510"/>
                  <a:pt x="2950" y="4510"/>
                </a:cubicBezTo>
                <a:cubicBezTo>
                  <a:pt x="2358" y="4510"/>
                  <a:pt x="1877" y="4029"/>
                  <a:pt x="1877" y="3437"/>
                </a:cubicBezTo>
                <a:cubicBezTo>
                  <a:pt x="1877" y="2844"/>
                  <a:pt x="2358" y="2363"/>
                  <a:pt x="2950" y="2363"/>
                </a:cubicBezTo>
                <a:cubicBezTo>
                  <a:pt x="3314" y="2363"/>
                  <a:pt x="3633" y="2544"/>
                  <a:pt x="3828" y="2820"/>
                </a:cubicBezTo>
                <a:lnTo>
                  <a:pt x="4395" y="2493"/>
                </a:lnTo>
                <a:cubicBezTo>
                  <a:pt x="4388" y="2450"/>
                  <a:pt x="4382" y="2408"/>
                  <a:pt x="4382" y="2363"/>
                </a:cubicBezTo>
                <a:cubicBezTo>
                  <a:pt x="4382" y="1968"/>
                  <a:pt x="4702" y="1647"/>
                  <a:pt x="5098" y="1647"/>
                </a:cubicBezTo>
                <a:cubicBezTo>
                  <a:pt x="5493" y="1647"/>
                  <a:pt x="5814" y="1967"/>
                  <a:pt x="5814" y="2363"/>
                </a:cubicBezTo>
                <a:cubicBezTo>
                  <a:pt x="5814" y="2758"/>
                  <a:pt x="5494" y="3079"/>
                  <a:pt x="5098" y="3079"/>
                </a:cubicBezTo>
                <a:cubicBezTo>
                  <a:pt x="4811" y="3079"/>
                  <a:pt x="4566" y="2910"/>
                  <a:pt x="4452" y="266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组合 2">
            <a:extLst>
              <a:ext uri="{FF2B5EF4-FFF2-40B4-BE49-F238E27FC236}">
                <a16:creationId xmlns:a16="http://schemas.microsoft.com/office/drawing/2014/main" id="{47BCC1C7-9D50-3376-097B-3110A27CFDED}"/>
              </a:ext>
            </a:extLst>
          </p:cNvPr>
          <p:cNvGrpSpPr>
            <a:grpSpLocks noChangeAspect="1"/>
          </p:cNvGrpSpPr>
          <p:nvPr>
            <p:custDataLst>
              <p:tags r:id="rId1"/>
            </p:custDataLst>
          </p:nvPr>
        </p:nvGrpSpPr>
        <p:grpSpPr>
          <a:xfrm>
            <a:off x="1105069" y="4369490"/>
            <a:ext cx="2664401" cy="1534712"/>
            <a:chOff x="2037739" y="2436581"/>
            <a:chExt cx="4890577" cy="2366558"/>
          </a:xfrm>
        </p:grpSpPr>
        <p:grpSp>
          <p:nvGrpSpPr>
            <p:cNvPr id="95" name="组合 94">
              <a:extLst>
                <a:ext uri="{FF2B5EF4-FFF2-40B4-BE49-F238E27FC236}">
                  <a16:creationId xmlns:a16="http://schemas.microsoft.com/office/drawing/2014/main" id="{D2CB95A2-AFCD-53E5-B773-C38235E5557A}"/>
                </a:ext>
              </a:extLst>
            </p:cNvPr>
            <p:cNvGrpSpPr/>
            <p:nvPr/>
          </p:nvGrpSpPr>
          <p:grpSpPr>
            <a:xfrm>
              <a:off x="2037739" y="3005527"/>
              <a:ext cx="1685543" cy="1796918"/>
              <a:chOff x="1222224" y="3002353"/>
              <a:chExt cx="1685543" cy="1796918"/>
            </a:xfrm>
          </p:grpSpPr>
          <p:sp>
            <p:nvSpPr>
              <p:cNvPr id="110" name="Title-1">
                <a:extLst>
                  <a:ext uri="{FF2B5EF4-FFF2-40B4-BE49-F238E27FC236}">
                    <a16:creationId xmlns:a16="http://schemas.microsoft.com/office/drawing/2014/main" id="{257D2694-63A1-8B89-0316-3094A7916405}"/>
                  </a:ext>
                </a:extLst>
              </p:cNvPr>
              <p:cNvSpPr/>
              <p:nvPr>
                <p:custDataLst>
                  <p:tags r:id="rId10"/>
                </p:custDataLst>
              </p:nvPr>
            </p:nvSpPr>
            <p:spPr>
              <a:xfrm>
                <a:off x="1406727" y="3348557"/>
                <a:ext cx="1309690" cy="1271209"/>
              </a:xfrm>
              <a:prstGeom prst="roundRect">
                <a:avLst>
                  <a:gd name="adj" fmla="val 10009"/>
                </a:avLst>
              </a:prstGeom>
              <a:solidFill>
                <a:schemeClr val="tx2">
                  <a:alpha val="15000"/>
                </a:schemeClr>
              </a:solidFill>
              <a:ln w="12700" cap="flat">
                <a:noFill/>
                <a:miter lim="400000"/>
              </a:ln>
              <a:effectLst/>
            </p:spPr>
            <p:txBody>
              <a:bodyPr wrap="square" lIns="0" tIns="0" rIns="0" bIns="0" numCol="1" anchor="ctr">
                <a:noAutofit/>
              </a:bodyPr>
              <a:lstStyle/>
              <a:p>
                <a:pPr algn="ctr" defTabSz="913765"/>
                <a:r>
                  <a:rPr lang="zh-CN" altLang="en-US" sz="1100" b="1">
                    <a:solidFill>
                      <a:schemeClr val="tx1"/>
                    </a:solidFill>
                    <a:latin typeface="Arial" panose="020B0604020202020204" pitchFamily="34" charset="0"/>
                    <a:ea typeface="微软雅黑" panose="020B0503020204020204" pitchFamily="34" charset="-122"/>
                  </a:rPr>
                  <a:t>推拉结合的算法是什么？</a:t>
                </a:r>
                <a:endParaRPr lang="zh-CN" altLang="en-US" sz="1100" b="1" dirty="0">
                  <a:solidFill>
                    <a:schemeClr val="tx1"/>
                  </a:solidFill>
                  <a:latin typeface="Arial" panose="020B0604020202020204" pitchFamily="34" charset="0"/>
                  <a:ea typeface="微软雅黑" panose="020B0503020204020204" pitchFamily="34" charset="-122"/>
                </a:endParaRPr>
              </a:p>
            </p:txBody>
          </p:sp>
          <p:sp>
            <p:nvSpPr>
              <p:cNvPr id="111" name="1">
                <a:extLst>
                  <a:ext uri="{FF2B5EF4-FFF2-40B4-BE49-F238E27FC236}">
                    <a16:creationId xmlns:a16="http://schemas.microsoft.com/office/drawing/2014/main" id="{9EDF2A63-124D-7DE4-05F7-E39EEBEC47F9}"/>
                  </a:ext>
                </a:extLst>
              </p:cNvPr>
              <p:cNvSpPr/>
              <p:nvPr>
                <p:custDataLst>
                  <p:tags r:id="rId11"/>
                </p:custDataLst>
              </p:nvPr>
            </p:nvSpPr>
            <p:spPr>
              <a:xfrm>
                <a:off x="1222224" y="3209219"/>
                <a:ext cx="1685543" cy="1590052"/>
              </a:xfrm>
              <a:custGeom>
                <a:avLst/>
                <a:gdLst/>
                <a:ahLst/>
                <a:cxnLst>
                  <a:cxn ang="0">
                    <a:pos x="wd2" y="hd2"/>
                  </a:cxn>
                  <a:cxn ang="5400000">
                    <a:pos x="wd2" y="hd2"/>
                  </a:cxn>
                  <a:cxn ang="10800000">
                    <a:pos x="wd2" y="hd2"/>
                  </a:cxn>
                  <a:cxn ang="16200000">
                    <a:pos x="wd2" y="hd2"/>
                  </a:cxn>
                </a:cxnLst>
                <a:rect l="0" t="0" r="r" b="b"/>
                <a:pathLst>
                  <a:path w="21550" h="21557" extrusionOk="0">
                    <a:moveTo>
                      <a:pt x="967" y="9092"/>
                    </a:moveTo>
                    <a:cubicBezTo>
                      <a:pt x="994" y="8809"/>
                      <a:pt x="785" y="8561"/>
                      <a:pt x="509" y="8549"/>
                    </a:cubicBezTo>
                    <a:cubicBezTo>
                      <a:pt x="215" y="8536"/>
                      <a:pt x="-23" y="8791"/>
                      <a:pt x="2" y="9092"/>
                    </a:cubicBezTo>
                    <a:lnTo>
                      <a:pt x="2" y="18268"/>
                    </a:lnTo>
                    <a:cubicBezTo>
                      <a:pt x="39" y="19091"/>
                      <a:pt x="361" y="19874"/>
                      <a:pt x="911" y="20473"/>
                    </a:cubicBezTo>
                    <a:cubicBezTo>
                      <a:pt x="1531" y="21148"/>
                      <a:pt x="2388" y="21539"/>
                      <a:pt x="3291" y="21557"/>
                    </a:cubicBezTo>
                    <a:lnTo>
                      <a:pt x="18209" y="21547"/>
                    </a:lnTo>
                    <a:cubicBezTo>
                      <a:pt x="19045" y="21529"/>
                      <a:pt x="19844" y="21191"/>
                      <a:pt x="20451" y="20597"/>
                    </a:cubicBezTo>
                    <a:cubicBezTo>
                      <a:pt x="21123" y="19939"/>
                      <a:pt x="21502" y="19024"/>
                      <a:pt x="21498" y="18069"/>
                    </a:cubicBezTo>
                    <a:lnTo>
                      <a:pt x="21547" y="587"/>
                    </a:lnTo>
                    <a:cubicBezTo>
                      <a:pt x="21577" y="302"/>
                      <a:pt x="21382" y="45"/>
                      <a:pt x="21107" y="5"/>
                    </a:cubicBezTo>
                    <a:cubicBezTo>
                      <a:pt x="20772" y="-43"/>
                      <a:pt x="20478" y="239"/>
                      <a:pt x="20502" y="587"/>
                    </a:cubicBezTo>
                    <a:lnTo>
                      <a:pt x="20502" y="17919"/>
                    </a:lnTo>
                    <a:cubicBezTo>
                      <a:pt x="20481" y="18612"/>
                      <a:pt x="20204" y="19270"/>
                      <a:pt x="19728" y="19760"/>
                    </a:cubicBezTo>
                    <a:cubicBezTo>
                      <a:pt x="19268" y="20234"/>
                      <a:pt x="18654" y="20517"/>
                      <a:pt x="18003" y="20554"/>
                    </a:cubicBezTo>
                    <a:lnTo>
                      <a:pt x="3591" y="20534"/>
                    </a:lnTo>
                    <a:cubicBezTo>
                      <a:pt x="2837" y="20570"/>
                      <a:pt x="2111" y="20235"/>
                      <a:pt x="1635" y="19632"/>
                    </a:cubicBezTo>
                    <a:cubicBezTo>
                      <a:pt x="1414" y="19353"/>
                      <a:pt x="1259" y="19030"/>
                      <a:pt x="1157" y="18693"/>
                    </a:cubicBezTo>
                    <a:cubicBezTo>
                      <a:pt x="1047" y="18329"/>
                      <a:pt x="997" y="17945"/>
                      <a:pt x="1013" y="17556"/>
                    </a:cubicBezTo>
                    <a:lnTo>
                      <a:pt x="967" y="9092"/>
                    </a:lnTo>
                    <a:close/>
                  </a:path>
                </a:pathLst>
              </a:custGeom>
              <a:solidFill>
                <a:schemeClr val="accent1"/>
              </a:solidFill>
              <a:ln w="12700" cap="flat">
                <a:noFill/>
                <a:miter lim="400000"/>
              </a:ln>
              <a:effectLst/>
            </p:spPr>
            <p:txBody>
              <a:bodyPr wrap="square" lIns="45718" tIns="45718" rIns="45718" bIns="45718" numCol="1" anchor="t">
                <a:noAutofit/>
              </a:bodyPr>
              <a:lstStyle/>
              <a:p>
                <a:endParaRPr sz="1100"/>
              </a:p>
            </p:txBody>
          </p:sp>
          <p:sp>
            <p:nvSpPr>
              <p:cNvPr id="112" name="1">
                <a:extLst>
                  <a:ext uri="{FF2B5EF4-FFF2-40B4-BE49-F238E27FC236}">
                    <a16:creationId xmlns:a16="http://schemas.microsoft.com/office/drawing/2014/main" id="{000EBF55-6FE6-19AC-8FBA-84A1C894EAD2}"/>
                  </a:ext>
                </a:extLst>
              </p:cNvPr>
              <p:cNvSpPr/>
              <p:nvPr>
                <p:custDataLst>
                  <p:tags r:id="rId12"/>
                </p:custDataLst>
              </p:nvPr>
            </p:nvSpPr>
            <p:spPr>
              <a:xfrm>
                <a:off x="1755783" y="3002353"/>
                <a:ext cx="611574" cy="593604"/>
              </a:xfrm>
              <a:prstGeom prst="ellipse">
                <a:avLst/>
              </a:prstGeom>
              <a:solidFill>
                <a:schemeClr val="bg1"/>
              </a:solidFill>
              <a:ln>
                <a:solidFill>
                  <a:schemeClr val="accent1">
                    <a:alpha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600" b="1">
                  <a:solidFill>
                    <a:schemeClr val="tx1"/>
                  </a:solidFill>
                </a:endParaRPr>
              </a:p>
            </p:txBody>
          </p:sp>
          <p:sp>
            <p:nvSpPr>
              <p:cNvPr id="113" name="Index-1">
                <a:extLst>
                  <a:ext uri="{FF2B5EF4-FFF2-40B4-BE49-F238E27FC236}">
                    <a16:creationId xmlns:a16="http://schemas.microsoft.com/office/drawing/2014/main" id="{41F48855-BEBC-81E7-3522-E7B81D457DE9}"/>
                  </a:ext>
                </a:extLst>
              </p:cNvPr>
              <p:cNvSpPr/>
              <p:nvPr>
                <p:custDataLst>
                  <p:tags r:id="rId13"/>
                </p:custDataLst>
              </p:nvPr>
            </p:nvSpPr>
            <p:spPr>
              <a:xfrm>
                <a:off x="1823881" y="3068450"/>
                <a:ext cx="475378" cy="461408"/>
              </a:xfrm>
              <a:prstGeom prst="ellipse">
                <a:avLst/>
              </a:prstGeom>
              <a:solidFill>
                <a:schemeClr val="accent1"/>
              </a:solidFill>
              <a:ln w="25400">
                <a:noFill/>
              </a:ln>
            </p:spPr>
            <p:txBody>
              <a:bodyPr wrap="none" lIns="108000" tIns="108000" rIns="108000" bIns="108000" rtlCol="0" anchor="ctr" anchorCtr="0">
                <a:noAutofit/>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ctr"/>
                <a:r>
                  <a:rPr kumimoji="1" lang="en-US" altLang="zh-CN" sz="1100" b="1" dirty="0">
                    <a:solidFill>
                      <a:schemeClr val="bg1"/>
                    </a:solidFill>
                    <a:latin typeface="Arial" panose="020B0604020202020204" pitchFamily="34" charset="0"/>
                    <a:ea typeface="微软雅黑" panose="020B0503020204020204" pitchFamily="34" charset="-122"/>
                  </a:rPr>
                  <a:t>01</a:t>
                </a:r>
                <a:endParaRPr kumimoji="1" lang="zh-CN" altLang="en-US" sz="1100" b="1" dirty="0">
                  <a:solidFill>
                    <a:schemeClr val="bg1"/>
                  </a:solidFill>
                  <a:latin typeface="Arial" panose="020B0604020202020204" pitchFamily="34" charset="0"/>
                  <a:ea typeface="微软雅黑" panose="020B0503020204020204" pitchFamily="34" charset="-122"/>
                </a:endParaRPr>
              </a:p>
            </p:txBody>
          </p:sp>
        </p:grpSp>
        <p:grpSp>
          <p:nvGrpSpPr>
            <p:cNvPr id="97" name="组合 96">
              <a:extLst>
                <a:ext uri="{FF2B5EF4-FFF2-40B4-BE49-F238E27FC236}">
                  <a16:creationId xmlns:a16="http://schemas.microsoft.com/office/drawing/2014/main" id="{8B0B9B3B-A6F9-DF51-F547-F5E64113EC56}"/>
                </a:ext>
              </a:extLst>
            </p:cNvPr>
            <p:cNvGrpSpPr/>
            <p:nvPr/>
          </p:nvGrpSpPr>
          <p:grpSpPr>
            <a:xfrm>
              <a:off x="3639082" y="2436581"/>
              <a:ext cx="1684046" cy="1746698"/>
              <a:chOff x="2823567" y="2433407"/>
              <a:chExt cx="1684046" cy="1746698"/>
            </a:xfrm>
          </p:grpSpPr>
          <p:sp>
            <p:nvSpPr>
              <p:cNvPr id="105" name="2">
                <a:extLst>
                  <a:ext uri="{FF2B5EF4-FFF2-40B4-BE49-F238E27FC236}">
                    <a16:creationId xmlns:a16="http://schemas.microsoft.com/office/drawing/2014/main" id="{2DBF55C1-7283-68C3-0405-5A25BC65EC9F}"/>
                  </a:ext>
                </a:extLst>
              </p:cNvPr>
              <p:cNvSpPr/>
              <p:nvPr>
                <p:custDataLst>
                  <p:tags r:id="rId6"/>
                </p:custDataLst>
              </p:nvPr>
            </p:nvSpPr>
            <p:spPr>
              <a:xfrm>
                <a:off x="2823567" y="2433407"/>
                <a:ext cx="1684046" cy="1595939"/>
              </a:xfrm>
              <a:custGeom>
                <a:avLst/>
                <a:gdLst/>
                <a:ahLst/>
                <a:cxnLst>
                  <a:cxn ang="0">
                    <a:pos x="wd2" y="hd2"/>
                  </a:cxn>
                  <a:cxn ang="5400000">
                    <a:pos x="wd2" y="hd2"/>
                  </a:cxn>
                  <a:cxn ang="10800000">
                    <a:pos x="wd2" y="hd2"/>
                  </a:cxn>
                  <a:cxn ang="16200000">
                    <a:pos x="wd2" y="hd2"/>
                  </a:cxn>
                </a:cxnLst>
                <a:rect l="0" t="0" r="r" b="b"/>
                <a:pathLst>
                  <a:path w="21565" h="21584" extrusionOk="0">
                    <a:moveTo>
                      <a:pt x="0" y="11078"/>
                    </a:moveTo>
                    <a:lnTo>
                      <a:pt x="1042" y="11078"/>
                    </a:lnTo>
                    <a:lnTo>
                      <a:pt x="1042" y="3470"/>
                    </a:lnTo>
                    <a:cubicBezTo>
                      <a:pt x="1066" y="2878"/>
                      <a:pt x="1292" y="2314"/>
                      <a:pt x="1680" y="1875"/>
                    </a:cubicBezTo>
                    <a:cubicBezTo>
                      <a:pt x="2127" y="1370"/>
                      <a:pt x="2752" y="1069"/>
                      <a:pt x="3416" y="1040"/>
                    </a:cubicBezTo>
                    <a:lnTo>
                      <a:pt x="18029" y="1068"/>
                    </a:lnTo>
                    <a:cubicBezTo>
                      <a:pt x="18650" y="1072"/>
                      <a:pt x="19247" y="1311"/>
                      <a:pt x="19707" y="1739"/>
                    </a:cubicBezTo>
                    <a:cubicBezTo>
                      <a:pt x="20152" y="2152"/>
                      <a:pt x="20438" y="2715"/>
                      <a:pt x="20514" y="3326"/>
                    </a:cubicBezTo>
                    <a:lnTo>
                      <a:pt x="20543" y="21042"/>
                    </a:lnTo>
                    <a:cubicBezTo>
                      <a:pt x="20527" y="21331"/>
                      <a:pt x="20747" y="21577"/>
                      <a:pt x="21030" y="21584"/>
                    </a:cubicBezTo>
                    <a:cubicBezTo>
                      <a:pt x="21323" y="21592"/>
                      <a:pt x="21561" y="21342"/>
                      <a:pt x="21546" y="21042"/>
                    </a:cubicBezTo>
                    <a:lnTo>
                      <a:pt x="21565" y="3393"/>
                    </a:lnTo>
                    <a:cubicBezTo>
                      <a:pt x="21529" y="2916"/>
                      <a:pt x="21417" y="2453"/>
                      <a:pt x="21236" y="2021"/>
                    </a:cubicBezTo>
                    <a:cubicBezTo>
                      <a:pt x="21063" y="1605"/>
                      <a:pt x="20824" y="1214"/>
                      <a:pt x="20495" y="899"/>
                    </a:cubicBezTo>
                    <a:cubicBezTo>
                      <a:pt x="20187" y="604"/>
                      <a:pt x="19821" y="394"/>
                      <a:pt x="19435" y="250"/>
                    </a:cubicBezTo>
                    <a:cubicBezTo>
                      <a:pt x="18982" y="81"/>
                      <a:pt x="18498" y="-1"/>
                      <a:pt x="18006" y="15"/>
                    </a:cubicBezTo>
                    <a:lnTo>
                      <a:pt x="3471" y="0"/>
                    </a:lnTo>
                    <a:cubicBezTo>
                      <a:pt x="2552" y="-8"/>
                      <a:pt x="1669" y="361"/>
                      <a:pt x="1017" y="1026"/>
                    </a:cubicBezTo>
                    <a:cubicBezTo>
                      <a:pt x="332" y="1725"/>
                      <a:pt x="-35" y="2686"/>
                      <a:pt x="5" y="3676"/>
                    </a:cubicBezTo>
                    <a:lnTo>
                      <a:pt x="0" y="11078"/>
                    </a:lnTo>
                    <a:close/>
                  </a:path>
                </a:pathLst>
              </a:custGeom>
              <a:solidFill>
                <a:schemeClr val="tx2">
                  <a:alpha val="15000"/>
                </a:schemeClr>
              </a:solidFill>
              <a:ln w="12700" cap="flat">
                <a:noFill/>
                <a:miter lim="400000"/>
              </a:ln>
              <a:effectLst/>
            </p:spPr>
            <p:txBody>
              <a:bodyPr wrap="square" lIns="45718" tIns="45718" rIns="45718" bIns="45718" numCol="1" anchor="t">
                <a:noAutofit/>
              </a:bodyPr>
              <a:lstStyle/>
              <a:p>
                <a:endParaRPr sz="1100"/>
              </a:p>
            </p:txBody>
          </p:sp>
          <p:sp>
            <p:nvSpPr>
              <p:cNvPr id="106" name="Title-2">
                <a:extLst>
                  <a:ext uri="{FF2B5EF4-FFF2-40B4-BE49-F238E27FC236}">
                    <a16:creationId xmlns:a16="http://schemas.microsoft.com/office/drawing/2014/main" id="{32F49634-4F11-FEA4-22B6-17722DE45E9C}"/>
                  </a:ext>
                </a:extLst>
              </p:cNvPr>
              <p:cNvSpPr/>
              <p:nvPr>
                <p:custDataLst>
                  <p:tags r:id="rId7"/>
                </p:custDataLst>
              </p:nvPr>
            </p:nvSpPr>
            <p:spPr>
              <a:xfrm>
                <a:off x="3010285" y="2614150"/>
                <a:ext cx="1309691" cy="1271209"/>
              </a:xfrm>
              <a:prstGeom prst="roundRect">
                <a:avLst>
                  <a:gd name="adj" fmla="val 10009"/>
                </a:avLst>
              </a:prstGeom>
              <a:solidFill>
                <a:schemeClr val="tx2">
                  <a:alpha val="15000"/>
                </a:schemeClr>
              </a:solidFill>
              <a:ln w="12700" cap="flat">
                <a:noFill/>
                <a:miter lim="400000"/>
              </a:ln>
              <a:effectLst/>
            </p:spPr>
            <p:txBody>
              <a:bodyPr wrap="square" lIns="0" tIns="0" rIns="0" bIns="0" numCol="1" anchor="ctr">
                <a:noAutofit/>
              </a:bodyPr>
              <a:lstStyle/>
              <a:p>
                <a:pPr algn="ctr" defTabSz="913765"/>
                <a:r>
                  <a:rPr lang="zh-CN" altLang="en-US" sz="1100" b="1" dirty="0">
                    <a:solidFill>
                      <a:schemeClr val="tx1"/>
                    </a:solidFill>
                    <a:latin typeface="Arial" panose="020B0604020202020204" pitchFamily="34" charset="0"/>
                    <a:ea typeface="微软雅黑" panose="020B0503020204020204" pitchFamily="34" charset="-122"/>
                  </a:rPr>
                  <a:t>还有优化空间么？</a:t>
                </a:r>
              </a:p>
            </p:txBody>
          </p:sp>
          <p:sp>
            <p:nvSpPr>
              <p:cNvPr id="107" name="2">
                <a:extLst>
                  <a:ext uri="{FF2B5EF4-FFF2-40B4-BE49-F238E27FC236}">
                    <a16:creationId xmlns:a16="http://schemas.microsoft.com/office/drawing/2014/main" id="{6B114DED-A3F6-3FC6-DCDB-A576073ADAA9}"/>
                  </a:ext>
                </a:extLst>
              </p:cNvPr>
              <p:cNvSpPr/>
              <p:nvPr>
                <p:custDataLst>
                  <p:tags r:id="rId8"/>
                </p:custDataLst>
              </p:nvPr>
            </p:nvSpPr>
            <p:spPr>
              <a:xfrm>
                <a:off x="3319106" y="3586501"/>
                <a:ext cx="611574" cy="593604"/>
              </a:xfrm>
              <a:prstGeom prst="ellipse">
                <a:avLst/>
              </a:prstGeom>
              <a:solidFill>
                <a:schemeClr val="bg1"/>
              </a:solidFill>
              <a:ln>
                <a:solidFill>
                  <a:schemeClr val="tx2">
                    <a:alpha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600" b="1">
                  <a:solidFill>
                    <a:schemeClr val="tx1"/>
                  </a:solidFill>
                </a:endParaRPr>
              </a:p>
            </p:txBody>
          </p:sp>
          <p:sp>
            <p:nvSpPr>
              <p:cNvPr id="108" name="Index-2">
                <a:extLst>
                  <a:ext uri="{FF2B5EF4-FFF2-40B4-BE49-F238E27FC236}">
                    <a16:creationId xmlns:a16="http://schemas.microsoft.com/office/drawing/2014/main" id="{8D324171-952E-F03F-7D1C-366D90224025}"/>
                  </a:ext>
                </a:extLst>
              </p:cNvPr>
              <p:cNvSpPr/>
              <p:nvPr>
                <p:custDataLst>
                  <p:tags r:id="rId9"/>
                </p:custDataLst>
              </p:nvPr>
            </p:nvSpPr>
            <p:spPr>
              <a:xfrm>
                <a:off x="3387204" y="3652598"/>
                <a:ext cx="475378" cy="461408"/>
              </a:xfrm>
              <a:prstGeom prst="ellipse">
                <a:avLst/>
              </a:prstGeom>
              <a:solidFill>
                <a:schemeClr val="tx2">
                  <a:alpha val="15000"/>
                </a:schemeClr>
              </a:solidFill>
              <a:ln w="25400">
                <a:noFill/>
              </a:ln>
            </p:spPr>
            <p:txBody>
              <a:bodyPr wrap="none" lIns="108000" tIns="108000" rIns="108000" bIns="108000" rtlCol="0" anchor="ctr" anchorCtr="0">
                <a:noAutofit/>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ctr"/>
                <a:r>
                  <a:rPr lang="en-US" altLang="zh-CN" sz="1050" b="1" dirty="0">
                    <a:solidFill>
                      <a:schemeClr val="tx1"/>
                    </a:solidFill>
                    <a:latin typeface="Arial" panose="020B0604020202020204" pitchFamily="34" charset="0"/>
                    <a:ea typeface="微软雅黑" panose="020B0503020204020204" pitchFamily="34" charset="-122"/>
                  </a:rPr>
                  <a:t>02</a:t>
                </a:r>
                <a:endParaRPr lang="zh-CN" altLang="en-US" sz="1050" b="1" dirty="0">
                  <a:solidFill>
                    <a:schemeClr val="tx1"/>
                  </a:solidFill>
                  <a:latin typeface="Arial" panose="020B0604020202020204" pitchFamily="34" charset="0"/>
                  <a:ea typeface="微软雅黑" panose="020B0503020204020204" pitchFamily="34" charset="-122"/>
                </a:endParaRPr>
              </a:p>
            </p:txBody>
          </p:sp>
        </p:grpSp>
        <p:grpSp>
          <p:nvGrpSpPr>
            <p:cNvPr id="98" name="组合 97">
              <a:extLst>
                <a:ext uri="{FF2B5EF4-FFF2-40B4-BE49-F238E27FC236}">
                  <a16:creationId xmlns:a16="http://schemas.microsoft.com/office/drawing/2014/main" id="{DB2D4575-7B04-C335-A74E-C4A24EB408E6}"/>
                </a:ext>
              </a:extLst>
            </p:cNvPr>
            <p:cNvGrpSpPr/>
            <p:nvPr/>
          </p:nvGrpSpPr>
          <p:grpSpPr>
            <a:xfrm>
              <a:off x="5243437" y="3005527"/>
              <a:ext cx="1684879" cy="1797612"/>
              <a:chOff x="5243437" y="3005527"/>
              <a:chExt cx="1684879" cy="1797612"/>
            </a:xfrm>
          </p:grpSpPr>
          <p:sp>
            <p:nvSpPr>
              <p:cNvPr id="99" name="3">
                <a:extLst>
                  <a:ext uri="{FF2B5EF4-FFF2-40B4-BE49-F238E27FC236}">
                    <a16:creationId xmlns:a16="http://schemas.microsoft.com/office/drawing/2014/main" id="{BBBED804-F972-75FF-D3EF-D75939C45735}"/>
                  </a:ext>
                </a:extLst>
              </p:cNvPr>
              <p:cNvSpPr/>
              <p:nvPr>
                <p:custDataLst>
                  <p:tags r:id="rId2"/>
                </p:custDataLst>
              </p:nvPr>
            </p:nvSpPr>
            <p:spPr>
              <a:xfrm>
                <a:off x="5243437" y="3216730"/>
                <a:ext cx="1684879" cy="1586409"/>
              </a:xfrm>
              <a:custGeom>
                <a:avLst/>
                <a:gdLst/>
                <a:ahLst/>
                <a:cxnLst>
                  <a:cxn ang="0">
                    <a:pos x="wd2" y="hd2"/>
                  </a:cxn>
                  <a:cxn ang="5400000">
                    <a:pos x="wd2" y="hd2"/>
                  </a:cxn>
                  <a:cxn ang="10800000">
                    <a:pos x="wd2" y="hd2"/>
                  </a:cxn>
                  <a:cxn ang="16200000">
                    <a:pos x="wd2" y="hd2"/>
                  </a:cxn>
                </a:cxnLst>
                <a:rect l="0" t="0" r="r" b="b"/>
                <a:pathLst>
                  <a:path w="21579" h="21557" extrusionOk="0">
                    <a:moveTo>
                      <a:pt x="0" y="10536"/>
                    </a:moveTo>
                    <a:lnTo>
                      <a:pt x="1037" y="10536"/>
                    </a:lnTo>
                    <a:lnTo>
                      <a:pt x="1037" y="17672"/>
                    </a:lnTo>
                    <a:cubicBezTo>
                      <a:pt x="997" y="18364"/>
                      <a:pt x="1217" y="19045"/>
                      <a:pt x="1651" y="19575"/>
                    </a:cubicBezTo>
                    <a:cubicBezTo>
                      <a:pt x="2152" y="20187"/>
                      <a:pt x="2888" y="20541"/>
                      <a:pt x="3665" y="20544"/>
                    </a:cubicBezTo>
                    <a:lnTo>
                      <a:pt x="17988" y="20514"/>
                    </a:lnTo>
                    <a:cubicBezTo>
                      <a:pt x="18720" y="20513"/>
                      <a:pt x="19418" y="20192"/>
                      <a:pt x="19906" y="19629"/>
                    </a:cubicBezTo>
                    <a:cubicBezTo>
                      <a:pt x="20352" y="19115"/>
                      <a:pt x="20585" y="18442"/>
                      <a:pt x="20556" y="17753"/>
                    </a:cubicBezTo>
                    <a:lnTo>
                      <a:pt x="20595" y="519"/>
                    </a:lnTo>
                    <a:cubicBezTo>
                      <a:pt x="20593" y="203"/>
                      <a:pt x="20866" y="-41"/>
                      <a:pt x="21170" y="6"/>
                    </a:cubicBezTo>
                    <a:cubicBezTo>
                      <a:pt x="21413" y="44"/>
                      <a:pt x="21590" y="266"/>
                      <a:pt x="21579" y="519"/>
                    </a:cubicBezTo>
                    <a:lnTo>
                      <a:pt x="21530" y="18190"/>
                    </a:lnTo>
                    <a:cubicBezTo>
                      <a:pt x="21525" y="19106"/>
                      <a:pt x="21161" y="19980"/>
                      <a:pt x="20520" y="20615"/>
                    </a:cubicBezTo>
                    <a:cubicBezTo>
                      <a:pt x="19925" y="21204"/>
                      <a:pt x="19137" y="21540"/>
                      <a:pt x="18312" y="21557"/>
                    </a:cubicBezTo>
                    <a:lnTo>
                      <a:pt x="3422" y="21526"/>
                    </a:lnTo>
                    <a:cubicBezTo>
                      <a:pt x="2553" y="21559"/>
                      <a:pt x="1707" y="21232"/>
                      <a:pt x="1073" y="20619"/>
                    </a:cubicBezTo>
                    <a:cubicBezTo>
                      <a:pt x="366" y="19935"/>
                      <a:pt x="-10" y="18965"/>
                      <a:pt x="45" y="17968"/>
                    </a:cubicBezTo>
                    <a:lnTo>
                      <a:pt x="0" y="10536"/>
                    </a:lnTo>
                    <a:close/>
                  </a:path>
                </a:pathLst>
              </a:custGeom>
              <a:solidFill>
                <a:schemeClr val="accent1"/>
              </a:solidFill>
              <a:ln w="12700" cap="flat">
                <a:noFill/>
                <a:miter lim="400000"/>
              </a:ln>
              <a:effectLst/>
            </p:spPr>
            <p:txBody>
              <a:bodyPr wrap="square" lIns="45718" tIns="45718" rIns="45718" bIns="45718" numCol="1" anchor="t">
                <a:noAutofit/>
              </a:bodyPr>
              <a:lstStyle/>
              <a:p>
                <a:endParaRPr sz="1100"/>
              </a:p>
            </p:txBody>
          </p:sp>
          <p:sp>
            <p:nvSpPr>
              <p:cNvPr id="100" name="Title-3">
                <a:extLst>
                  <a:ext uri="{FF2B5EF4-FFF2-40B4-BE49-F238E27FC236}">
                    <a16:creationId xmlns:a16="http://schemas.microsoft.com/office/drawing/2014/main" id="{AD0CA3C7-0785-2DA8-A4F4-F7509B818ED0}"/>
                  </a:ext>
                </a:extLst>
              </p:cNvPr>
              <p:cNvSpPr/>
              <p:nvPr>
                <p:custDataLst>
                  <p:tags r:id="rId3"/>
                </p:custDataLst>
              </p:nvPr>
            </p:nvSpPr>
            <p:spPr>
              <a:xfrm>
                <a:off x="5431715" y="3351731"/>
                <a:ext cx="1309690" cy="1271209"/>
              </a:xfrm>
              <a:prstGeom prst="roundRect">
                <a:avLst>
                  <a:gd name="adj" fmla="val 10009"/>
                </a:avLst>
              </a:prstGeom>
              <a:solidFill>
                <a:schemeClr val="tx2">
                  <a:alpha val="15000"/>
                </a:schemeClr>
              </a:solidFill>
              <a:ln w="12700" cap="flat">
                <a:noFill/>
                <a:miter lim="400000"/>
              </a:ln>
              <a:effectLst/>
            </p:spPr>
            <p:txBody>
              <a:bodyPr wrap="square" lIns="0" tIns="0" rIns="0" bIns="0" numCol="1" anchor="ctr">
                <a:noAutofit/>
              </a:bodyPr>
              <a:lstStyle/>
              <a:p>
                <a:pPr algn="ctr" defTabSz="913765"/>
                <a:r>
                  <a:rPr lang="en-US" altLang="zh-CN" sz="1100" b="1">
                    <a:solidFill>
                      <a:schemeClr val="tx1"/>
                    </a:solidFill>
                    <a:latin typeface="Arial" panose="020B0604020202020204" pitchFamily="34" charset="0"/>
                    <a:ea typeface="微软雅黑" panose="020B0503020204020204" pitchFamily="34" charset="-122"/>
                  </a:rPr>
                  <a:t>Pegging </a:t>
                </a:r>
                <a:r>
                  <a:rPr lang="zh-CN" altLang="en-US" sz="1100" b="1">
                    <a:solidFill>
                      <a:schemeClr val="tx1"/>
                    </a:solidFill>
                    <a:latin typeface="Arial" panose="020B0604020202020204" pitchFamily="34" charset="0"/>
                    <a:ea typeface="微软雅黑" panose="020B0503020204020204" pitchFamily="34" charset="-122"/>
                  </a:rPr>
                  <a:t>是什么？</a:t>
                </a:r>
                <a:endParaRPr lang="zh-CN" altLang="en-US" sz="1100" b="1" dirty="0">
                  <a:solidFill>
                    <a:schemeClr val="tx1"/>
                  </a:solidFill>
                  <a:latin typeface="Arial" panose="020B0604020202020204" pitchFamily="34" charset="0"/>
                  <a:ea typeface="微软雅黑" panose="020B0503020204020204" pitchFamily="34" charset="-122"/>
                </a:endParaRPr>
              </a:p>
            </p:txBody>
          </p:sp>
          <p:sp>
            <p:nvSpPr>
              <p:cNvPr id="101" name="3">
                <a:extLst>
                  <a:ext uri="{FF2B5EF4-FFF2-40B4-BE49-F238E27FC236}">
                    <a16:creationId xmlns:a16="http://schemas.microsoft.com/office/drawing/2014/main" id="{88D8E290-A4D0-BE07-6610-50F64D1955F7}"/>
                  </a:ext>
                </a:extLst>
              </p:cNvPr>
              <p:cNvSpPr/>
              <p:nvPr>
                <p:custDataLst>
                  <p:tags r:id="rId4"/>
                </p:custDataLst>
              </p:nvPr>
            </p:nvSpPr>
            <p:spPr>
              <a:xfrm>
                <a:off x="5783839" y="3005527"/>
                <a:ext cx="611574" cy="593604"/>
              </a:xfrm>
              <a:prstGeom prst="ellipse">
                <a:avLst/>
              </a:prstGeom>
              <a:solidFill>
                <a:schemeClr val="bg1"/>
              </a:solidFill>
              <a:ln>
                <a:solidFill>
                  <a:schemeClr val="accent1">
                    <a:alpha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600" b="1">
                  <a:solidFill>
                    <a:schemeClr val="tx1"/>
                  </a:solidFill>
                </a:endParaRPr>
              </a:p>
            </p:txBody>
          </p:sp>
          <p:sp>
            <p:nvSpPr>
              <p:cNvPr id="102" name="Index-3">
                <a:extLst>
                  <a:ext uri="{FF2B5EF4-FFF2-40B4-BE49-F238E27FC236}">
                    <a16:creationId xmlns:a16="http://schemas.microsoft.com/office/drawing/2014/main" id="{78FFCF97-1C6E-D6AF-CE60-7B8184CEE77B}"/>
                  </a:ext>
                </a:extLst>
              </p:cNvPr>
              <p:cNvSpPr/>
              <p:nvPr>
                <p:custDataLst>
                  <p:tags r:id="rId5"/>
                </p:custDataLst>
              </p:nvPr>
            </p:nvSpPr>
            <p:spPr>
              <a:xfrm>
                <a:off x="5851937" y="3071624"/>
                <a:ext cx="475378" cy="461408"/>
              </a:xfrm>
              <a:prstGeom prst="ellipse">
                <a:avLst/>
              </a:prstGeom>
              <a:solidFill>
                <a:schemeClr val="accent1"/>
              </a:solidFill>
              <a:ln w="25400">
                <a:noFill/>
              </a:ln>
            </p:spPr>
            <p:txBody>
              <a:bodyPr wrap="none" lIns="108000" tIns="108000" rIns="108000" bIns="108000" rtlCol="0" anchor="ctr" anchorCtr="0">
                <a:noAutofit/>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ctr"/>
                <a:r>
                  <a:rPr kumimoji="1" lang="en-US" altLang="zh-CN" sz="1100" b="1" dirty="0">
                    <a:solidFill>
                      <a:schemeClr val="bg1"/>
                    </a:solidFill>
                    <a:latin typeface="Arial" panose="020B0604020202020204" pitchFamily="34" charset="0"/>
                    <a:ea typeface="微软雅黑" panose="020B0503020204020204" pitchFamily="34" charset="-122"/>
                  </a:rPr>
                  <a:t>03</a:t>
                </a:r>
                <a:endParaRPr kumimoji="1" lang="zh-CN" altLang="en-US" sz="1100" b="1" dirty="0">
                  <a:solidFill>
                    <a:schemeClr val="bg1"/>
                  </a:solidFill>
                  <a:latin typeface="Arial" panose="020B0604020202020204" pitchFamily="34" charset="0"/>
                  <a:ea typeface="微软雅黑" panose="020B0503020204020204" pitchFamily="34" charset="-122"/>
                </a:endParaRPr>
              </a:p>
            </p:txBody>
          </p:sp>
        </p:grpSp>
      </p:grpSp>
    </p:spTree>
    <p:extLst>
      <p:ext uri="{BB962C8B-B14F-4D97-AF65-F5344CB8AC3E}">
        <p14:creationId xmlns:p14="http://schemas.microsoft.com/office/powerpoint/2010/main" val="39386059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nodeType="clickEffect">
                                  <p:stCondLst>
                                    <p:cond delay="0"/>
                                  </p:stCondLst>
                                  <p:childTnLst>
                                    <p:set>
                                      <p:cBhvr>
                                        <p:cTn id="12" dur="1" fill="hold">
                                          <p:stCondLst>
                                            <p:cond delay="0"/>
                                          </p:stCondLst>
                                        </p:cTn>
                                        <p:tgtEl>
                                          <p:spTgt spid="65"/>
                                        </p:tgtEl>
                                        <p:attrNameLst>
                                          <p:attrName>style.visibility</p:attrName>
                                        </p:attrNameLst>
                                      </p:cBhvr>
                                      <p:to>
                                        <p:strVal val="visible"/>
                                      </p:to>
                                    </p:set>
                                    <p:animEffect transition="in" filter="fade">
                                      <p:cBhvr>
                                        <p:cTn id="13" dur="500"/>
                                        <p:tgtEl>
                                          <p:spTgt spid="6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fade">
                                      <p:cBhvr>
                                        <p:cTn id="23" dur="500"/>
                                        <p:tgtEl>
                                          <p:spTgt spid="3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500"/>
                                        <p:tgtEl>
                                          <p:spTgt spid="4"/>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96"/>
                                        </p:tgtEl>
                                        <p:attrNameLst>
                                          <p:attrName>style.visibility</p:attrName>
                                        </p:attrNameLst>
                                      </p:cBhvr>
                                      <p:to>
                                        <p:strVal val="visible"/>
                                      </p:to>
                                    </p:set>
                                    <p:animEffect transition="in" filter="fade">
                                      <p:cBhvr>
                                        <p:cTn id="33" dur="500"/>
                                        <p:tgtEl>
                                          <p:spTgt spid="96"/>
                                        </p:tgtEl>
                                      </p:cBhvr>
                                    </p:animEffec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59"/>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62"/>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92"/>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nodeType="clickEffect">
                                  <p:stCondLst>
                                    <p:cond delay="0"/>
                                  </p:stCondLst>
                                  <p:childTnLst>
                                    <p:set>
                                      <p:cBhvr>
                                        <p:cTn id="49" dur="1" fill="hold">
                                          <p:stCondLst>
                                            <p:cond delay="0"/>
                                          </p:stCondLst>
                                        </p:cTn>
                                        <p:tgtEl>
                                          <p:spTgt spid="35"/>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nodeType="clickEffect">
                                  <p:stCondLst>
                                    <p:cond delay="0"/>
                                  </p:stCondLst>
                                  <p:childTnLst>
                                    <p:set>
                                      <p:cBhvr>
                                        <p:cTn id="53" dur="1" fill="hold">
                                          <p:stCondLst>
                                            <p:cond delay="0"/>
                                          </p:stCondLst>
                                        </p:cTn>
                                        <p:tgtEl>
                                          <p:spTgt spid="68"/>
                                        </p:tgtEl>
                                        <p:attrNameLst>
                                          <p:attrName>style.visibility</p:attrName>
                                        </p:attrNameLst>
                                      </p:cBhvr>
                                      <p:to>
                                        <p:strVal val="visible"/>
                                      </p:to>
                                    </p:set>
                                    <p:animEffect transition="in" filter="fade">
                                      <p:cBhvr>
                                        <p:cTn id="54" dur="500"/>
                                        <p:tgtEl>
                                          <p:spTgt spid="68"/>
                                        </p:tgtEl>
                                      </p:cBhvr>
                                    </p:animEffec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47"/>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nodeType="clickEffect">
                                  <p:stCondLst>
                                    <p:cond delay="0"/>
                                  </p:stCondLst>
                                  <p:childTnLst>
                                    <p:set>
                                      <p:cBhvr>
                                        <p:cTn id="62"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p:bldP spid="96" grpId="0" animBg="1"/>
      <p:bldP spid="247"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F58BBA-5CD2-6348-83AE-7AF137DC5098}"/>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F2259694-3249-DA6A-54D4-08E210F4CF24}"/>
              </a:ext>
            </a:extLst>
          </p:cNvPr>
          <p:cNvSpPr>
            <a:spLocks noGrp="1"/>
          </p:cNvSpPr>
          <p:nvPr>
            <p:ph type="title"/>
          </p:nvPr>
        </p:nvSpPr>
        <p:spPr/>
        <p:txBody>
          <a:bodyPr/>
          <a:lstStyle/>
          <a:p>
            <a:r>
              <a:rPr lang="zh-CN" altLang="en-US" dirty="0">
                <a:solidFill>
                  <a:schemeClr val="bg1"/>
                </a:solidFill>
                <a:latin typeface="Arial" panose="020B0604020202020204" pitchFamily="34" charset="0"/>
                <a:ea typeface="微软雅黑" panose="020B0503020204020204" pitchFamily="34" charset="-122"/>
              </a:rPr>
              <a:t>推拉结合的计划模型 </a:t>
            </a:r>
            <a:r>
              <a:rPr lang="en-US" altLang="zh-CN" dirty="0">
                <a:solidFill>
                  <a:schemeClr val="bg1"/>
                </a:solidFill>
                <a:latin typeface="Arial" panose="020B0604020202020204" pitchFamily="34" charset="0"/>
                <a:ea typeface="微软雅黑" panose="020B0503020204020204" pitchFamily="34" charset="-122"/>
              </a:rPr>
              <a:t>– Traditional Algorithms </a:t>
            </a:r>
            <a:endParaRPr lang="zh-CN" altLang="en-US" dirty="0">
              <a:solidFill>
                <a:schemeClr val="bg1"/>
              </a:solidFill>
              <a:latin typeface="Arial" panose="020B0604020202020204" pitchFamily="34" charset="0"/>
              <a:ea typeface="微软雅黑" panose="020B0503020204020204" pitchFamily="34" charset="-122"/>
            </a:endParaRPr>
          </a:p>
        </p:txBody>
      </p:sp>
      <p:sp>
        <p:nvSpPr>
          <p:cNvPr id="4" name="灯片编号占位符 3">
            <a:extLst>
              <a:ext uri="{FF2B5EF4-FFF2-40B4-BE49-F238E27FC236}">
                <a16:creationId xmlns:a16="http://schemas.microsoft.com/office/drawing/2014/main" id="{AD20DBB5-AD3D-376D-51FE-FA53E8433516}"/>
              </a:ext>
            </a:extLst>
          </p:cNvPr>
          <p:cNvSpPr txBox="1">
            <a:spLocks/>
          </p:cNvSpPr>
          <p:nvPr/>
        </p:nvSpPr>
        <p:spPr>
          <a:xfrm>
            <a:off x="9206057" y="6478934"/>
            <a:ext cx="2547595" cy="206381"/>
          </a:xfrm>
        </p:spPr>
        <p:txBody>
          <a:bodyPr/>
          <a:lstStyle>
            <a:defPPr>
              <a:defRPr lang="zh-CN"/>
            </a:defPPr>
            <a:lvl1pPr marL="0" algn="r" defTabSz="914400" rtl="0" eaLnBrk="1" latinLnBrk="0" hangingPunct="1">
              <a:defRPr sz="18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49AE70B2-8BF9-45C0-BB95-33D1B9D3A854}" type="slidenum">
              <a:rPr lang="zh-CN" altLang="en-US" sz="1000" kern="0" smtClean="0">
                <a:solidFill>
                  <a:srgbClr val="FFFFFF">
                    <a:lumMod val="50000"/>
                  </a:srgbClr>
                </a:solidFill>
                <a:latin typeface="Arial" panose="020B0604020202020204" pitchFamily="34" charset="0"/>
                <a:ea typeface="微软雅黑" panose="020B0503020204020204" pitchFamily="34" charset="-122"/>
              </a:rPr>
              <a:pPr/>
              <a:t>78</a:t>
            </a:fld>
            <a:endParaRPr lang="zh-CN" altLang="en-US" sz="1000" kern="0" dirty="0">
              <a:solidFill>
                <a:srgbClr val="000000">
                  <a:lumMod val="50000"/>
                  <a:lumOff val="50000"/>
                </a:srgbClr>
              </a:solidFill>
              <a:latin typeface="Arial" panose="020B0604020202020204" pitchFamily="34" charset="0"/>
              <a:ea typeface="微软雅黑" panose="020B0503020204020204" pitchFamily="34" charset="-122"/>
            </a:endParaRPr>
          </a:p>
        </p:txBody>
      </p:sp>
      <p:sp>
        <p:nvSpPr>
          <p:cNvPr id="3" name="矩形: 圆角 2">
            <a:extLst>
              <a:ext uri="{FF2B5EF4-FFF2-40B4-BE49-F238E27FC236}">
                <a16:creationId xmlns:a16="http://schemas.microsoft.com/office/drawing/2014/main" id="{B7BF2C60-8990-A6C7-5060-8455341757CB}"/>
              </a:ext>
            </a:extLst>
          </p:cNvPr>
          <p:cNvSpPr/>
          <p:nvPr/>
        </p:nvSpPr>
        <p:spPr>
          <a:xfrm>
            <a:off x="2307771" y="821871"/>
            <a:ext cx="751114" cy="342900"/>
          </a:xfrm>
          <a:prstGeom prst="roundRect">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1200" b="1">
                <a:solidFill>
                  <a:schemeClr val="bg1"/>
                </a:solidFill>
                <a:latin typeface="Arial" panose="020B0604020202020204" pitchFamily="34" charset="0"/>
                <a:ea typeface="微软雅黑" panose="020B0503020204020204" pitchFamily="34" charset="-122"/>
              </a:rPr>
              <a:t>FG1</a:t>
            </a:r>
            <a:endParaRPr lang="zh-CN" altLang="en-US" sz="1200" b="1" dirty="0">
              <a:solidFill>
                <a:schemeClr val="bg1"/>
              </a:solidFill>
              <a:latin typeface="Arial" panose="020B0604020202020204" pitchFamily="34" charset="0"/>
              <a:ea typeface="微软雅黑" panose="020B0503020204020204" pitchFamily="34" charset="-122"/>
            </a:endParaRPr>
          </a:p>
        </p:txBody>
      </p:sp>
      <p:sp>
        <p:nvSpPr>
          <p:cNvPr id="14" name="矩形: 圆角 13">
            <a:extLst>
              <a:ext uri="{FF2B5EF4-FFF2-40B4-BE49-F238E27FC236}">
                <a16:creationId xmlns:a16="http://schemas.microsoft.com/office/drawing/2014/main" id="{1BA22D25-3573-6D9E-0255-BB05CAAC0BFA}"/>
              </a:ext>
            </a:extLst>
          </p:cNvPr>
          <p:cNvSpPr/>
          <p:nvPr/>
        </p:nvSpPr>
        <p:spPr>
          <a:xfrm>
            <a:off x="1687286" y="1469569"/>
            <a:ext cx="751114" cy="342900"/>
          </a:xfrm>
          <a:prstGeom prst="roundRect">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1200" b="1" dirty="0">
                <a:solidFill>
                  <a:schemeClr val="bg1"/>
                </a:solidFill>
                <a:latin typeface="Arial" panose="020B0604020202020204" pitchFamily="34" charset="0"/>
                <a:ea typeface="微软雅黑" panose="020B0503020204020204" pitchFamily="34" charset="-122"/>
              </a:rPr>
              <a:t>A </a:t>
            </a:r>
            <a:endParaRPr lang="zh-CN" altLang="en-US" sz="1200" b="1" dirty="0">
              <a:solidFill>
                <a:schemeClr val="bg1"/>
              </a:solidFill>
              <a:latin typeface="Arial" panose="020B0604020202020204" pitchFamily="34" charset="0"/>
              <a:ea typeface="微软雅黑" panose="020B0503020204020204" pitchFamily="34" charset="-122"/>
            </a:endParaRPr>
          </a:p>
        </p:txBody>
      </p:sp>
      <p:sp>
        <p:nvSpPr>
          <p:cNvPr id="15" name="矩形: 圆角 14">
            <a:extLst>
              <a:ext uri="{FF2B5EF4-FFF2-40B4-BE49-F238E27FC236}">
                <a16:creationId xmlns:a16="http://schemas.microsoft.com/office/drawing/2014/main" id="{FFB67DF5-3ACB-4F9F-166B-70C19AB7FD60}"/>
              </a:ext>
            </a:extLst>
          </p:cNvPr>
          <p:cNvSpPr/>
          <p:nvPr/>
        </p:nvSpPr>
        <p:spPr>
          <a:xfrm>
            <a:off x="2950029" y="1469569"/>
            <a:ext cx="751114" cy="342900"/>
          </a:xfrm>
          <a:prstGeom prst="roundRect">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1200" b="1" dirty="0">
                <a:solidFill>
                  <a:schemeClr val="bg1"/>
                </a:solidFill>
                <a:latin typeface="Arial" panose="020B0604020202020204" pitchFamily="34" charset="0"/>
                <a:ea typeface="微软雅黑" panose="020B0503020204020204" pitchFamily="34" charset="-122"/>
              </a:rPr>
              <a:t>B </a:t>
            </a:r>
            <a:endParaRPr lang="zh-CN" altLang="en-US" sz="1200" b="1" dirty="0">
              <a:solidFill>
                <a:schemeClr val="bg1"/>
              </a:solidFill>
              <a:latin typeface="Arial" panose="020B0604020202020204" pitchFamily="34" charset="0"/>
              <a:ea typeface="微软雅黑" panose="020B0503020204020204" pitchFamily="34" charset="-122"/>
            </a:endParaRPr>
          </a:p>
        </p:txBody>
      </p:sp>
      <p:cxnSp>
        <p:nvCxnSpPr>
          <p:cNvPr id="19" name="连接符: 肘形 18">
            <a:extLst>
              <a:ext uri="{FF2B5EF4-FFF2-40B4-BE49-F238E27FC236}">
                <a16:creationId xmlns:a16="http://schemas.microsoft.com/office/drawing/2014/main" id="{CD2FC7AF-8BA5-449F-2CA8-E3F048473199}"/>
              </a:ext>
            </a:extLst>
          </p:cNvPr>
          <p:cNvCxnSpPr>
            <a:stCxn id="3" idx="2"/>
            <a:endCxn id="14" idx="0"/>
          </p:cNvCxnSpPr>
          <p:nvPr/>
        </p:nvCxnSpPr>
        <p:spPr>
          <a:xfrm rot="5400000">
            <a:off x="2220687" y="1006928"/>
            <a:ext cx="304798" cy="620485"/>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cxnSp>
        <p:nvCxnSpPr>
          <p:cNvPr id="20" name="连接符: 肘形 19">
            <a:extLst>
              <a:ext uri="{FF2B5EF4-FFF2-40B4-BE49-F238E27FC236}">
                <a16:creationId xmlns:a16="http://schemas.microsoft.com/office/drawing/2014/main" id="{7439C24E-6774-9490-8D96-DE6140AD41FC}"/>
              </a:ext>
            </a:extLst>
          </p:cNvPr>
          <p:cNvCxnSpPr>
            <a:cxnSpLocks/>
            <a:stCxn id="3" idx="2"/>
            <a:endCxn id="15" idx="0"/>
          </p:cNvCxnSpPr>
          <p:nvPr/>
        </p:nvCxnSpPr>
        <p:spPr>
          <a:xfrm rot="16200000" flipH="1">
            <a:off x="2852058" y="996041"/>
            <a:ext cx="304798" cy="642258"/>
          </a:xfrm>
          <a:prstGeom prst="bentConnector3">
            <a:avLst>
              <a:gd name="adj1" fmla="val 50000"/>
            </a:avLst>
          </a:prstGeom>
          <a:ln>
            <a:tailEnd type="triangle"/>
          </a:ln>
        </p:spPr>
        <p:style>
          <a:lnRef idx="2">
            <a:schemeClr val="accent1"/>
          </a:lnRef>
          <a:fillRef idx="0">
            <a:schemeClr val="accent1"/>
          </a:fillRef>
          <a:effectRef idx="1">
            <a:schemeClr val="accent1"/>
          </a:effectRef>
          <a:fontRef idx="minor">
            <a:schemeClr val="tx1"/>
          </a:fontRef>
        </p:style>
      </p:cxnSp>
      <p:graphicFrame>
        <p:nvGraphicFramePr>
          <p:cNvPr id="27" name="表格 26">
            <a:extLst>
              <a:ext uri="{FF2B5EF4-FFF2-40B4-BE49-F238E27FC236}">
                <a16:creationId xmlns:a16="http://schemas.microsoft.com/office/drawing/2014/main" id="{142D87F6-55E4-CB27-1191-7B03413A4E02}"/>
              </a:ext>
            </a:extLst>
          </p:cNvPr>
          <p:cNvGraphicFramePr>
            <a:graphicFrameLocks noGrp="1"/>
          </p:cNvGraphicFramePr>
          <p:nvPr>
            <p:extLst>
              <p:ext uri="{D42A27DB-BD31-4B8C-83A1-F6EECF244321}">
                <p14:modId xmlns:p14="http://schemas.microsoft.com/office/powerpoint/2010/main" val="152072524"/>
              </p:ext>
            </p:extLst>
          </p:nvPr>
        </p:nvGraphicFramePr>
        <p:xfrm>
          <a:off x="8110280" y="989509"/>
          <a:ext cx="3383155" cy="2194560"/>
        </p:xfrm>
        <a:graphic>
          <a:graphicData uri="http://schemas.openxmlformats.org/drawingml/2006/table">
            <a:tbl>
              <a:tblPr firstRow="1" bandRow="1">
                <a:tableStyleId>{5C22544A-7EE6-4342-B048-85BDC9FD1C3A}</a:tableStyleId>
              </a:tblPr>
              <a:tblGrid>
                <a:gridCol w="521018">
                  <a:extLst>
                    <a:ext uri="{9D8B030D-6E8A-4147-A177-3AD203B41FA5}">
                      <a16:colId xmlns:a16="http://schemas.microsoft.com/office/drawing/2014/main" val="3739084925"/>
                    </a:ext>
                  </a:extLst>
                </a:gridCol>
                <a:gridCol w="1122490">
                  <a:extLst>
                    <a:ext uri="{9D8B030D-6E8A-4147-A177-3AD203B41FA5}">
                      <a16:colId xmlns:a16="http://schemas.microsoft.com/office/drawing/2014/main" val="2015716019"/>
                    </a:ext>
                  </a:extLst>
                </a:gridCol>
                <a:gridCol w="479743">
                  <a:extLst>
                    <a:ext uri="{9D8B030D-6E8A-4147-A177-3AD203B41FA5}">
                      <a16:colId xmlns:a16="http://schemas.microsoft.com/office/drawing/2014/main" val="4883912"/>
                    </a:ext>
                  </a:extLst>
                </a:gridCol>
                <a:gridCol w="1259904">
                  <a:extLst>
                    <a:ext uri="{9D8B030D-6E8A-4147-A177-3AD203B41FA5}">
                      <a16:colId xmlns:a16="http://schemas.microsoft.com/office/drawing/2014/main" val="3755102202"/>
                    </a:ext>
                  </a:extLst>
                </a:gridCol>
              </a:tblGrid>
              <a:tr h="266014">
                <a:tc gridSpan="4">
                  <a:txBody>
                    <a:bodyPr/>
                    <a:lstStyle/>
                    <a:p>
                      <a:pPr algn="ctr"/>
                      <a:r>
                        <a:rPr lang="en-US" altLang="zh-CN" sz="1200" dirty="0">
                          <a:solidFill>
                            <a:schemeClr val="tx1"/>
                          </a:solidFill>
                          <a:latin typeface="Arial" panose="020B0604020202020204" pitchFamily="34" charset="0"/>
                          <a:ea typeface="微软雅黑" panose="020B0503020204020204" pitchFamily="34" charset="-122"/>
                        </a:rPr>
                        <a:t>Supply</a:t>
                      </a:r>
                      <a:endParaRPr lang="zh-CN" altLang="en-US" sz="1200" dirty="0">
                        <a:solidFill>
                          <a:schemeClr val="tx1"/>
                        </a:solidFill>
                        <a:latin typeface="Arial" panose="020B0604020202020204" pitchFamily="34" charset="0"/>
                        <a:ea typeface="微软雅黑" panose="020B0503020204020204" pitchFamily="34" charset="-122"/>
                      </a:endParaRPr>
                    </a:p>
                  </a:txBody>
                  <a:tcPr/>
                </a:tc>
                <a:tc hMerge="1">
                  <a:txBody>
                    <a:bodyPr/>
                    <a:lstStyle/>
                    <a:p>
                      <a:endParaRPr lang="zh-CN" altLang="en-US" sz="1200" dirty="0"/>
                    </a:p>
                  </a:txBody>
                  <a:tcPr/>
                </a:tc>
                <a:tc hMerge="1">
                  <a:txBody>
                    <a:bodyPr/>
                    <a:lstStyle/>
                    <a:p>
                      <a:endParaRPr lang="zh-CN" altLang="en-US" sz="1200" dirty="0"/>
                    </a:p>
                  </a:txBody>
                  <a:tcPr/>
                </a:tc>
                <a:tc hMerge="1">
                  <a:txBody>
                    <a:bodyPr/>
                    <a:lstStyle/>
                    <a:p>
                      <a:endParaRPr lang="zh-CN" altLang="en-US" sz="1200" dirty="0"/>
                    </a:p>
                  </a:txBody>
                  <a:tcPr/>
                </a:tc>
                <a:extLst>
                  <a:ext uri="{0D108BD9-81ED-4DB2-BD59-A6C34878D82A}">
                    <a16:rowId xmlns:a16="http://schemas.microsoft.com/office/drawing/2014/main" val="3566394691"/>
                  </a:ext>
                </a:extLst>
              </a:tr>
              <a:tr h="266014">
                <a:tc>
                  <a:txBody>
                    <a:bodyPr/>
                    <a:lstStyle/>
                    <a:p>
                      <a:r>
                        <a:rPr lang="en-US" altLang="zh-CN" sz="1200" dirty="0">
                          <a:solidFill>
                            <a:schemeClr val="tx1"/>
                          </a:solidFill>
                          <a:latin typeface="Arial" panose="020B0604020202020204" pitchFamily="34" charset="0"/>
                          <a:ea typeface="微软雅黑" panose="020B0503020204020204" pitchFamily="34" charset="-122"/>
                        </a:rPr>
                        <a:t>Part</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Supply Type</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Qty</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Available Date</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66014">
                <a:tc>
                  <a:txBody>
                    <a:bodyPr/>
                    <a:lstStyle/>
                    <a:p>
                      <a:r>
                        <a:rPr lang="en-US" altLang="zh-CN" sz="1200">
                          <a:solidFill>
                            <a:schemeClr val="tx1"/>
                          </a:solidFill>
                          <a:latin typeface="Arial" panose="020B0604020202020204" pitchFamily="34" charset="0"/>
                          <a:ea typeface="微软雅黑" panose="020B0503020204020204" pitchFamily="34" charset="-122"/>
                        </a:rPr>
                        <a:t>FG1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OH</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6.4</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r h="266014">
                <a:tc>
                  <a:txBody>
                    <a:bodyPr/>
                    <a:lstStyle/>
                    <a:p>
                      <a:r>
                        <a:rPr lang="en-US" altLang="zh-CN" sz="1200">
                          <a:solidFill>
                            <a:schemeClr val="tx1"/>
                          </a:solidFill>
                          <a:latin typeface="Arial" panose="020B0604020202020204" pitchFamily="34" charset="0"/>
                          <a:ea typeface="微软雅黑" panose="020B0503020204020204" pitchFamily="34" charset="-122"/>
                        </a:rPr>
                        <a:t>FG1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SR(WO)</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6.5</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473027153"/>
                  </a:ext>
                </a:extLst>
              </a:tr>
              <a:tr h="266014">
                <a:tc>
                  <a:txBody>
                    <a:bodyPr/>
                    <a:lstStyle/>
                    <a:p>
                      <a:r>
                        <a:rPr lang="en-US" altLang="zh-CN" sz="1200" dirty="0">
                          <a:solidFill>
                            <a:schemeClr val="tx1"/>
                          </a:solidFill>
                          <a:latin typeface="Arial" panose="020B0604020202020204" pitchFamily="34" charset="0"/>
                          <a:ea typeface="微软雅黑" panose="020B0503020204020204" pitchFamily="34" charset="-122"/>
                        </a:rPr>
                        <a:t>A</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OH</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6.4</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622212733"/>
                  </a:ext>
                </a:extLst>
              </a:tr>
              <a:tr h="266014">
                <a:tc>
                  <a:txBody>
                    <a:bodyPr/>
                    <a:lstStyle/>
                    <a:p>
                      <a:r>
                        <a:rPr lang="en-US" altLang="zh-CN" sz="1200" dirty="0">
                          <a:solidFill>
                            <a:schemeClr val="tx1"/>
                          </a:solidFill>
                          <a:latin typeface="Arial" panose="020B0604020202020204" pitchFamily="34" charset="0"/>
                          <a:ea typeface="微软雅黑" panose="020B0503020204020204" pitchFamily="34" charset="-122"/>
                        </a:rPr>
                        <a:t>A</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SR</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80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6.5</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357289973"/>
                  </a:ext>
                </a:extLst>
              </a:tr>
              <a:tr h="266014">
                <a:tc>
                  <a:txBody>
                    <a:bodyPr/>
                    <a:lstStyle/>
                    <a:p>
                      <a:r>
                        <a:rPr lang="en-US" altLang="zh-CN" sz="1200" dirty="0">
                          <a:solidFill>
                            <a:schemeClr val="tx1"/>
                          </a:solidFill>
                          <a:latin typeface="Arial" panose="020B0604020202020204" pitchFamily="34" charset="0"/>
                          <a:ea typeface="微软雅黑" panose="020B0503020204020204" pitchFamily="34" charset="-122"/>
                        </a:rPr>
                        <a:t>B</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SR</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6.5</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039132231"/>
                  </a:ext>
                </a:extLst>
              </a:tr>
              <a:tr h="266014">
                <a:tc>
                  <a:txBody>
                    <a:bodyPr/>
                    <a:lstStyle/>
                    <a:p>
                      <a:r>
                        <a:rPr lang="en-US" altLang="zh-CN" sz="1200" dirty="0">
                          <a:solidFill>
                            <a:schemeClr val="tx1"/>
                          </a:solidFill>
                          <a:latin typeface="Arial" panose="020B0604020202020204" pitchFamily="34" charset="0"/>
                          <a:ea typeface="微软雅黑" panose="020B0503020204020204" pitchFamily="34" charset="-122"/>
                        </a:rPr>
                        <a:t>B</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SR</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80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6.7</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245645007"/>
                  </a:ext>
                </a:extLst>
              </a:tr>
            </a:tbl>
          </a:graphicData>
        </a:graphic>
      </p:graphicFrame>
      <p:sp>
        <p:nvSpPr>
          <p:cNvPr id="28" name="文本框 27">
            <a:extLst>
              <a:ext uri="{FF2B5EF4-FFF2-40B4-BE49-F238E27FC236}">
                <a16:creationId xmlns:a16="http://schemas.microsoft.com/office/drawing/2014/main" id="{8DF9DE5F-37D0-145D-EA0B-FF8EE505ABFC}"/>
              </a:ext>
            </a:extLst>
          </p:cNvPr>
          <p:cNvSpPr txBox="1"/>
          <p:nvPr/>
        </p:nvSpPr>
        <p:spPr>
          <a:xfrm>
            <a:off x="250373" y="870895"/>
            <a:ext cx="1687284" cy="400110"/>
          </a:xfrm>
          <a:prstGeom prst="rect">
            <a:avLst/>
          </a:prstGeom>
          <a:noFill/>
        </p:spPr>
        <p:txBody>
          <a:bodyPr wrap="square" rtlCol="0">
            <a:spAutoFit/>
          </a:bodyPr>
          <a:lstStyle/>
          <a:p>
            <a:pPr marL="171450" indent="-171450">
              <a:buFont typeface="Arial" panose="020B0604020202020204" pitchFamily="34" charset="0"/>
              <a:buChar char="•"/>
            </a:pPr>
            <a:r>
              <a:rPr lang="en-US" altLang="zh-CN" sz="1000" b="1">
                <a:solidFill>
                  <a:schemeClr val="bg1"/>
                </a:solidFill>
                <a:latin typeface="Arial" panose="020B0604020202020204" pitchFamily="34" charset="0"/>
                <a:ea typeface="微软雅黑" panose="020B0503020204020204" pitchFamily="34" charset="-122"/>
              </a:rPr>
              <a:t>FG1 </a:t>
            </a:r>
            <a:r>
              <a:rPr lang="zh-CN" altLang="en-US" sz="1000" b="1" dirty="0">
                <a:solidFill>
                  <a:schemeClr val="bg1"/>
                </a:solidFill>
                <a:latin typeface="Arial" panose="020B0604020202020204" pitchFamily="34" charset="0"/>
                <a:ea typeface="微软雅黑" panose="020B0503020204020204" pitchFamily="34" charset="-122"/>
              </a:rPr>
              <a:t>的前置期都是</a:t>
            </a:r>
            <a:r>
              <a:rPr lang="en-US" altLang="zh-CN" sz="1000" b="1" dirty="0">
                <a:solidFill>
                  <a:schemeClr val="bg1"/>
                </a:solidFill>
                <a:latin typeface="Arial" panose="020B0604020202020204" pitchFamily="34" charset="0"/>
                <a:ea typeface="微软雅黑" panose="020B0503020204020204" pitchFamily="34" charset="-122"/>
              </a:rPr>
              <a:t>1</a:t>
            </a:r>
            <a:r>
              <a:rPr lang="zh-CN" altLang="en-US" sz="1000" b="1" dirty="0">
                <a:solidFill>
                  <a:schemeClr val="bg1"/>
                </a:solidFill>
                <a:latin typeface="Arial" panose="020B0604020202020204" pitchFamily="34" charset="0"/>
                <a:ea typeface="微软雅黑" panose="020B0503020204020204" pitchFamily="34" charset="-122"/>
              </a:rPr>
              <a:t>天</a:t>
            </a:r>
            <a:endParaRPr lang="en-US" altLang="zh-CN" sz="1000" b="1" dirty="0">
              <a:solidFill>
                <a:schemeClr val="bg1"/>
              </a:solidFill>
              <a:latin typeface="Arial" panose="020B0604020202020204" pitchFamily="34" charset="0"/>
              <a:ea typeface="微软雅黑" panose="020B0503020204020204" pitchFamily="34" charset="-122"/>
            </a:endParaRPr>
          </a:p>
          <a:p>
            <a:pPr marL="171450" indent="-171450">
              <a:buFont typeface="Arial" panose="020B0604020202020204" pitchFamily="34" charset="0"/>
              <a:buChar char="•"/>
            </a:pPr>
            <a:r>
              <a:rPr lang="en-US" altLang="zh-CN" sz="1000" b="1" dirty="0">
                <a:solidFill>
                  <a:schemeClr val="bg1"/>
                </a:solidFill>
                <a:latin typeface="Arial" panose="020B0604020202020204" pitchFamily="34" charset="0"/>
                <a:ea typeface="微软雅黑" panose="020B0503020204020204" pitchFamily="34" charset="-122"/>
              </a:rPr>
              <a:t>A</a:t>
            </a:r>
            <a:r>
              <a:rPr lang="zh-CN" altLang="en-US" sz="1000" b="1" dirty="0">
                <a:solidFill>
                  <a:schemeClr val="bg1"/>
                </a:solidFill>
                <a:latin typeface="Arial" panose="020B0604020202020204" pitchFamily="34" charset="0"/>
                <a:ea typeface="微软雅黑" panose="020B0503020204020204" pitchFamily="34" charset="-122"/>
              </a:rPr>
              <a:t>和</a:t>
            </a:r>
            <a:r>
              <a:rPr lang="en-US" altLang="zh-CN" sz="1000" b="1" dirty="0">
                <a:solidFill>
                  <a:schemeClr val="bg1"/>
                </a:solidFill>
                <a:latin typeface="Arial" panose="020B0604020202020204" pitchFamily="34" charset="0"/>
                <a:ea typeface="微软雅黑" panose="020B0503020204020204" pitchFamily="34" charset="-122"/>
              </a:rPr>
              <a:t>B</a:t>
            </a:r>
            <a:r>
              <a:rPr lang="zh-CN" altLang="en-US" sz="1000" b="1" dirty="0">
                <a:solidFill>
                  <a:schemeClr val="bg1"/>
                </a:solidFill>
                <a:latin typeface="Arial" panose="020B0604020202020204" pitchFamily="34" charset="0"/>
                <a:ea typeface="微软雅黑" panose="020B0503020204020204" pitchFamily="34" charset="-122"/>
              </a:rPr>
              <a:t>的</a:t>
            </a:r>
            <a:r>
              <a:rPr lang="en-US" altLang="zh-CN" sz="1000" b="1" dirty="0">
                <a:solidFill>
                  <a:schemeClr val="bg1"/>
                </a:solidFill>
                <a:latin typeface="Arial" panose="020B0604020202020204" pitchFamily="34" charset="0"/>
                <a:ea typeface="微软雅黑" panose="020B0503020204020204" pitchFamily="34" charset="-122"/>
              </a:rPr>
              <a:t>per qty </a:t>
            </a:r>
            <a:r>
              <a:rPr lang="zh-CN" altLang="en-US" sz="1000" b="1" dirty="0">
                <a:solidFill>
                  <a:schemeClr val="bg1"/>
                </a:solidFill>
                <a:latin typeface="Arial" panose="020B0604020202020204" pitchFamily="34" charset="0"/>
                <a:ea typeface="微软雅黑" panose="020B0503020204020204" pitchFamily="34" charset="-122"/>
              </a:rPr>
              <a:t>是</a:t>
            </a:r>
            <a:r>
              <a:rPr lang="en-US" altLang="zh-CN" sz="1000" b="1" dirty="0">
                <a:solidFill>
                  <a:schemeClr val="bg1"/>
                </a:solidFill>
                <a:latin typeface="Arial" panose="020B0604020202020204" pitchFamily="34" charset="0"/>
                <a:ea typeface="微软雅黑" panose="020B0503020204020204" pitchFamily="34" charset="-122"/>
              </a:rPr>
              <a:t>1</a:t>
            </a:r>
            <a:endParaRPr lang="zh-CN" altLang="en-US" sz="1000" b="1" dirty="0">
              <a:solidFill>
                <a:schemeClr val="bg1"/>
              </a:solidFill>
              <a:latin typeface="Arial" panose="020B0604020202020204" pitchFamily="34" charset="0"/>
              <a:ea typeface="微软雅黑" panose="020B0503020204020204" pitchFamily="34" charset="-122"/>
            </a:endParaRPr>
          </a:p>
        </p:txBody>
      </p:sp>
      <p:graphicFrame>
        <p:nvGraphicFramePr>
          <p:cNvPr id="29" name="表格 28">
            <a:extLst>
              <a:ext uri="{FF2B5EF4-FFF2-40B4-BE49-F238E27FC236}">
                <a16:creationId xmlns:a16="http://schemas.microsoft.com/office/drawing/2014/main" id="{1CE1EFAF-C900-2910-7BBC-D960A7274EE8}"/>
              </a:ext>
            </a:extLst>
          </p:cNvPr>
          <p:cNvGraphicFramePr>
            <a:graphicFrameLocks noGrp="1"/>
          </p:cNvGraphicFramePr>
          <p:nvPr>
            <p:extLst>
              <p:ext uri="{D42A27DB-BD31-4B8C-83A1-F6EECF244321}">
                <p14:modId xmlns:p14="http://schemas.microsoft.com/office/powerpoint/2010/main" val="1649693685"/>
              </p:ext>
            </p:extLst>
          </p:nvPr>
        </p:nvGraphicFramePr>
        <p:xfrm>
          <a:off x="4061734" y="989509"/>
          <a:ext cx="3687955" cy="822960"/>
        </p:xfrm>
        <a:graphic>
          <a:graphicData uri="http://schemas.openxmlformats.org/drawingml/2006/table">
            <a:tbl>
              <a:tblPr firstRow="1" bandRow="1">
                <a:tableStyleId>{5C22544A-7EE6-4342-B048-85BDC9FD1C3A}</a:tableStyleId>
              </a:tblPr>
              <a:tblGrid>
                <a:gridCol w="825818">
                  <a:extLst>
                    <a:ext uri="{9D8B030D-6E8A-4147-A177-3AD203B41FA5}">
                      <a16:colId xmlns:a16="http://schemas.microsoft.com/office/drawing/2014/main" val="3739084925"/>
                    </a:ext>
                  </a:extLst>
                </a:gridCol>
                <a:gridCol w="1122490">
                  <a:extLst>
                    <a:ext uri="{9D8B030D-6E8A-4147-A177-3AD203B41FA5}">
                      <a16:colId xmlns:a16="http://schemas.microsoft.com/office/drawing/2014/main" val="2015716019"/>
                    </a:ext>
                  </a:extLst>
                </a:gridCol>
                <a:gridCol w="479743">
                  <a:extLst>
                    <a:ext uri="{9D8B030D-6E8A-4147-A177-3AD203B41FA5}">
                      <a16:colId xmlns:a16="http://schemas.microsoft.com/office/drawing/2014/main" val="4883912"/>
                    </a:ext>
                  </a:extLst>
                </a:gridCol>
                <a:gridCol w="1259904">
                  <a:extLst>
                    <a:ext uri="{9D8B030D-6E8A-4147-A177-3AD203B41FA5}">
                      <a16:colId xmlns:a16="http://schemas.microsoft.com/office/drawing/2014/main" val="3755102202"/>
                    </a:ext>
                  </a:extLst>
                </a:gridCol>
              </a:tblGrid>
              <a:tr h="266014">
                <a:tc gridSpan="4">
                  <a:txBody>
                    <a:bodyPr/>
                    <a:lstStyle/>
                    <a:p>
                      <a:pPr algn="ctr"/>
                      <a:r>
                        <a:rPr lang="en-US" altLang="zh-CN" sz="1200" dirty="0">
                          <a:solidFill>
                            <a:schemeClr val="tx1"/>
                          </a:solidFill>
                          <a:latin typeface="Arial" panose="020B0604020202020204" pitchFamily="34" charset="0"/>
                          <a:ea typeface="微软雅黑" panose="020B0503020204020204" pitchFamily="34" charset="-122"/>
                        </a:rPr>
                        <a:t>Demand</a:t>
                      </a:r>
                      <a:endParaRPr lang="zh-CN" altLang="en-US" sz="1200" dirty="0">
                        <a:solidFill>
                          <a:schemeClr val="tx1"/>
                        </a:solidFill>
                        <a:latin typeface="Arial" panose="020B0604020202020204" pitchFamily="34" charset="0"/>
                        <a:ea typeface="微软雅黑" panose="020B0503020204020204" pitchFamily="34" charset="-122"/>
                      </a:endParaRPr>
                    </a:p>
                  </a:txBody>
                  <a:tcPr/>
                </a:tc>
                <a:tc hMerge="1">
                  <a:txBody>
                    <a:bodyPr/>
                    <a:lstStyle/>
                    <a:p>
                      <a:endParaRPr/>
                    </a:p>
                  </a:txBody>
                  <a:tcPr/>
                </a:tc>
                <a:tc hMerge="1">
                  <a:txBody>
                    <a:bodyPr/>
                    <a:lstStyle/>
                    <a:p>
                      <a:endParaRPr lang="zh-CN" altLang="en-US" sz="1200" dirty="0"/>
                    </a:p>
                  </a:txBody>
                  <a:tcPr/>
                </a:tc>
                <a:tc hMerge="1">
                  <a:txBody>
                    <a:bodyPr/>
                    <a:lstStyle/>
                    <a:p>
                      <a:endParaRPr lang="zh-CN" altLang="en-US" sz="1200" dirty="0"/>
                    </a:p>
                  </a:txBody>
                  <a:tcPr/>
                </a:tc>
                <a:extLst>
                  <a:ext uri="{0D108BD9-81ED-4DB2-BD59-A6C34878D82A}">
                    <a16:rowId xmlns:a16="http://schemas.microsoft.com/office/drawing/2014/main" val="4288766675"/>
                  </a:ext>
                </a:extLst>
              </a:tr>
              <a:tr h="266014">
                <a:tc>
                  <a:txBody>
                    <a:bodyPr/>
                    <a:lstStyle/>
                    <a:p>
                      <a:r>
                        <a:rPr lang="en-US" altLang="zh-CN" sz="1200" dirty="0">
                          <a:solidFill>
                            <a:schemeClr val="tx1"/>
                          </a:solidFill>
                          <a:latin typeface="Arial" panose="020B0604020202020204" pitchFamily="34" charset="0"/>
                          <a:ea typeface="微软雅黑" panose="020B0503020204020204" pitchFamily="34" charset="-122"/>
                        </a:rPr>
                        <a:t>Demand</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Part</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Qty</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Request Date</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66014">
                <a:tc>
                  <a:txBody>
                    <a:bodyPr/>
                    <a:lstStyle/>
                    <a:p>
                      <a:r>
                        <a:rPr lang="en-US" altLang="zh-CN" sz="1200" dirty="0">
                          <a:solidFill>
                            <a:schemeClr val="tx1"/>
                          </a:solidFill>
                          <a:latin typeface="Arial" panose="020B0604020202020204" pitchFamily="34" charset="0"/>
                          <a:ea typeface="微软雅黑" panose="020B0503020204020204" pitchFamily="34" charset="-122"/>
                        </a:rPr>
                        <a:t>SO1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a:solidFill>
                            <a:schemeClr val="tx1"/>
                          </a:solidFill>
                          <a:latin typeface="Arial" panose="020B0604020202020204" pitchFamily="34" charset="0"/>
                          <a:ea typeface="微软雅黑" panose="020B0503020204020204" pitchFamily="34" charset="-122"/>
                        </a:rPr>
                        <a:t>FG1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80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6.4</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bl>
          </a:graphicData>
        </a:graphic>
      </p:graphicFrame>
      <p:graphicFrame>
        <p:nvGraphicFramePr>
          <p:cNvPr id="30" name="表格 29">
            <a:extLst>
              <a:ext uri="{FF2B5EF4-FFF2-40B4-BE49-F238E27FC236}">
                <a16:creationId xmlns:a16="http://schemas.microsoft.com/office/drawing/2014/main" id="{A7D55B94-8971-E13E-FBEB-91517AD3C208}"/>
              </a:ext>
            </a:extLst>
          </p:cNvPr>
          <p:cNvGraphicFramePr>
            <a:graphicFrameLocks noGrp="1"/>
          </p:cNvGraphicFramePr>
          <p:nvPr>
            <p:extLst>
              <p:ext uri="{D42A27DB-BD31-4B8C-83A1-F6EECF244321}">
                <p14:modId xmlns:p14="http://schemas.microsoft.com/office/powerpoint/2010/main" val="3577138462"/>
              </p:ext>
            </p:extLst>
          </p:nvPr>
        </p:nvGraphicFramePr>
        <p:xfrm>
          <a:off x="158077" y="3262452"/>
          <a:ext cx="7805725" cy="2560320"/>
        </p:xfrm>
        <a:graphic>
          <a:graphicData uri="http://schemas.openxmlformats.org/drawingml/2006/table">
            <a:tbl>
              <a:tblPr firstRow="1" bandRow="1">
                <a:tableStyleId>{5C22544A-7EE6-4342-B048-85BDC9FD1C3A}</a:tableStyleId>
              </a:tblPr>
              <a:tblGrid>
                <a:gridCol w="798830">
                  <a:extLst>
                    <a:ext uri="{9D8B030D-6E8A-4147-A177-3AD203B41FA5}">
                      <a16:colId xmlns:a16="http://schemas.microsoft.com/office/drawing/2014/main" val="2824709826"/>
                    </a:ext>
                  </a:extLst>
                </a:gridCol>
                <a:gridCol w="867246">
                  <a:extLst>
                    <a:ext uri="{9D8B030D-6E8A-4147-A177-3AD203B41FA5}">
                      <a16:colId xmlns:a16="http://schemas.microsoft.com/office/drawing/2014/main" val="3739084925"/>
                    </a:ext>
                  </a:extLst>
                </a:gridCol>
                <a:gridCol w="835090">
                  <a:extLst>
                    <a:ext uri="{9D8B030D-6E8A-4147-A177-3AD203B41FA5}">
                      <a16:colId xmlns:a16="http://schemas.microsoft.com/office/drawing/2014/main" val="2252723600"/>
                    </a:ext>
                  </a:extLst>
                </a:gridCol>
                <a:gridCol w="788091">
                  <a:extLst>
                    <a:ext uri="{9D8B030D-6E8A-4147-A177-3AD203B41FA5}">
                      <a16:colId xmlns:a16="http://schemas.microsoft.com/office/drawing/2014/main" val="159420575"/>
                    </a:ext>
                  </a:extLst>
                </a:gridCol>
                <a:gridCol w="825194">
                  <a:extLst>
                    <a:ext uri="{9D8B030D-6E8A-4147-A177-3AD203B41FA5}">
                      <a16:colId xmlns:a16="http://schemas.microsoft.com/office/drawing/2014/main" val="2015716019"/>
                    </a:ext>
                  </a:extLst>
                </a:gridCol>
                <a:gridCol w="1023951">
                  <a:extLst>
                    <a:ext uri="{9D8B030D-6E8A-4147-A177-3AD203B41FA5}">
                      <a16:colId xmlns:a16="http://schemas.microsoft.com/office/drawing/2014/main" val="126826503"/>
                    </a:ext>
                  </a:extLst>
                </a:gridCol>
                <a:gridCol w="1023951">
                  <a:extLst>
                    <a:ext uri="{9D8B030D-6E8A-4147-A177-3AD203B41FA5}">
                      <a16:colId xmlns:a16="http://schemas.microsoft.com/office/drawing/2014/main" val="4883912"/>
                    </a:ext>
                  </a:extLst>
                </a:gridCol>
                <a:gridCol w="950645">
                  <a:extLst>
                    <a:ext uri="{9D8B030D-6E8A-4147-A177-3AD203B41FA5}">
                      <a16:colId xmlns:a16="http://schemas.microsoft.com/office/drawing/2014/main" val="3755102202"/>
                    </a:ext>
                  </a:extLst>
                </a:gridCol>
                <a:gridCol w="692727">
                  <a:extLst>
                    <a:ext uri="{9D8B030D-6E8A-4147-A177-3AD203B41FA5}">
                      <a16:colId xmlns:a16="http://schemas.microsoft.com/office/drawing/2014/main" val="2658016956"/>
                    </a:ext>
                  </a:extLst>
                </a:gridCol>
              </a:tblGrid>
              <a:tr h="239151">
                <a:tc gridSpan="9">
                  <a:txBody>
                    <a:bodyPr/>
                    <a:lstStyle/>
                    <a:p>
                      <a:pPr algn="ctr"/>
                      <a:r>
                        <a:rPr lang="en-US" altLang="zh-CN" sz="1200" dirty="0">
                          <a:solidFill>
                            <a:schemeClr val="tx1"/>
                          </a:solidFill>
                          <a:latin typeface="Arial" panose="020B0604020202020204" pitchFamily="34" charset="0"/>
                          <a:ea typeface="微软雅黑" panose="020B0503020204020204" pitchFamily="34" charset="-122"/>
                        </a:rPr>
                        <a:t>Assignment</a:t>
                      </a:r>
                      <a:endParaRPr lang="zh-CN" altLang="en-US" sz="1200" dirty="0">
                        <a:solidFill>
                          <a:schemeClr val="tx1"/>
                        </a:solidFill>
                        <a:latin typeface="Arial" panose="020B0604020202020204" pitchFamily="34" charset="0"/>
                        <a:ea typeface="微软雅黑" panose="020B0503020204020204" pitchFamily="34" charset="-122"/>
                      </a:endParaRPr>
                    </a:p>
                  </a:txBody>
                  <a:tcPr/>
                </a:tc>
                <a:tc hMerge="1">
                  <a:txBody>
                    <a:bodyPr/>
                    <a:lstStyle/>
                    <a:p>
                      <a:endParaRPr/>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sz="1200" dirty="0"/>
                    </a:p>
                  </a:txBody>
                  <a:tcPr/>
                </a:tc>
                <a:tc hMerge="1">
                  <a:txBody>
                    <a:bodyPr/>
                    <a:lstStyle/>
                    <a:p>
                      <a:endParaRPr lang="zh-CN" altLang="en-US"/>
                    </a:p>
                  </a:txBody>
                  <a:tcPr/>
                </a:tc>
                <a:tc hMerge="1">
                  <a:txBody>
                    <a:bodyPr/>
                    <a:lstStyle/>
                    <a:p>
                      <a:endParaRPr lang="zh-CN" altLang="en-US" sz="1200" dirty="0"/>
                    </a:p>
                  </a:txBody>
                  <a:tcPr/>
                </a:tc>
                <a:tc hMerge="1">
                  <a:txBody>
                    <a:bodyPr/>
                    <a:lstStyle/>
                    <a:p>
                      <a:endParaRPr lang="zh-CN" altLang="en-US" sz="1200" dirty="0"/>
                    </a:p>
                  </a:txBody>
                  <a:tcPr/>
                </a:tc>
                <a:tc hMerge="1">
                  <a:txBody>
                    <a:bodyPr/>
                    <a:lstStyle/>
                    <a:p>
                      <a:endParaRPr lang="zh-CN" altLang="en-US"/>
                    </a:p>
                  </a:txBody>
                  <a:tcPr/>
                </a:tc>
                <a:extLst>
                  <a:ext uri="{0D108BD9-81ED-4DB2-BD59-A6C34878D82A}">
                    <a16:rowId xmlns:a16="http://schemas.microsoft.com/office/drawing/2014/main" val="3566394691"/>
                  </a:ext>
                </a:extLst>
              </a:tr>
              <a:tr h="398585">
                <a:tc>
                  <a:txBody>
                    <a:bodyPr/>
                    <a:lstStyle/>
                    <a:p>
                      <a:r>
                        <a:rPr lang="en-US" altLang="zh-CN" sz="1200" dirty="0">
                          <a:solidFill>
                            <a:schemeClr val="tx1"/>
                          </a:solidFill>
                          <a:latin typeface="Arial" panose="020B0604020202020204" pitchFamily="34" charset="0"/>
                          <a:ea typeface="微软雅黑" panose="020B0503020204020204" pitchFamily="34" charset="-122"/>
                        </a:rPr>
                        <a:t>Demand</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Request Part</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Request Qty</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Supply Part</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Supply Type</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Available Qty</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Assigned Qty</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Supply Available Date</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Netted Qty</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39151">
                <a:tc>
                  <a:txBody>
                    <a:bodyPr/>
                    <a:lstStyle/>
                    <a:p>
                      <a:r>
                        <a:rPr lang="en-US" altLang="zh-CN" sz="1200" dirty="0">
                          <a:solidFill>
                            <a:schemeClr val="tx1"/>
                          </a:solidFill>
                          <a:latin typeface="Arial" panose="020B0604020202020204" pitchFamily="34" charset="0"/>
                          <a:ea typeface="微软雅黑" panose="020B0503020204020204" pitchFamily="34" charset="-122"/>
                        </a:rPr>
                        <a:t>SO1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a:solidFill>
                            <a:schemeClr val="tx1"/>
                          </a:solidFill>
                          <a:latin typeface="Arial" panose="020B0604020202020204" pitchFamily="34" charset="0"/>
                          <a:ea typeface="微软雅黑" panose="020B0503020204020204" pitchFamily="34" charset="-122"/>
                        </a:rPr>
                        <a:t>FG1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80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a:solidFill>
                            <a:schemeClr val="tx1"/>
                          </a:solidFill>
                          <a:latin typeface="Arial" panose="020B0604020202020204" pitchFamily="34" charset="0"/>
                          <a:ea typeface="微软雅黑" panose="020B0503020204020204" pitchFamily="34" charset="-122"/>
                        </a:rPr>
                        <a:t>FG1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OH</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6.4</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70</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r h="239151">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SO1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a:solidFill>
                            <a:schemeClr val="tx1"/>
                          </a:solidFill>
                          <a:latin typeface="Arial" panose="020B0604020202020204" pitchFamily="34" charset="0"/>
                          <a:ea typeface="微软雅黑" panose="020B0503020204020204" pitchFamily="34" charset="-122"/>
                        </a:rPr>
                        <a:t>FG1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70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a:solidFill>
                            <a:schemeClr val="tx1"/>
                          </a:solidFill>
                          <a:latin typeface="Arial" panose="020B0604020202020204" pitchFamily="34" charset="0"/>
                          <a:ea typeface="微软雅黑" panose="020B0503020204020204" pitchFamily="34" charset="-122"/>
                        </a:rPr>
                        <a:t>FG1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SR(WO)</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6.5</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60</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473027153"/>
                  </a:ext>
                </a:extLst>
              </a:tr>
              <a:tr h="239151">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SO1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A</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A</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OH</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6.4</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622212733"/>
                  </a:ext>
                </a:extLst>
              </a:tr>
              <a:tr h="239151">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SO1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A</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A</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SR</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80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6.5</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0</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357289973"/>
                  </a:ext>
                </a:extLst>
              </a:tr>
              <a:tr h="239151">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SO1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B</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B</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SR</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6.5</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40</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039132231"/>
                  </a:ext>
                </a:extLst>
              </a:tr>
              <a:tr h="239151">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SO1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B</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40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B</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SR</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80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40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6.7</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0</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245645007"/>
                  </a:ext>
                </a:extLst>
              </a:tr>
            </a:tbl>
          </a:graphicData>
        </a:graphic>
      </p:graphicFrame>
      <p:graphicFrame>
        <p:nvGraphicFramePr>
          <p:cNvPr id="31" name="表格 30">
            <a:extLst>
              <a:ext uri="{FF2B5EF4-FFF2-40B4-BE49-F238E27FC236}">
                <a16:creationId xmlns:a16="http://schemas.microsoft.com/office/drawing/2014/main" id="{494698B4-821C-34B1-6CC4-DE7FE041F556}"/>
              </a:ext>
            </a:extLst>
          </p:cNvPr>
          <p:cNvGraphicFramePr>
            <a:graphicFrameLocks noGrp="1"/>
          </p:cNvGraphicFramePr>
          <p:nvPr>
            <p:extLst>
              <p:ext uri="{D42A27DB-BD31-4B8C-83A1-F6EECF244321}">
                <p14:modId xmlns:p14="http://schemas.microsoft.com/office/powerpoint/2010/main" val="2355923951"/>
              </p:ext>
            </p:extLst>
          </p:nvPr>
        </p:nvGraphicFramePr>
        <p:xfrm>
          <a:off x="8110280" y="3262452"/>
          <a:ext cx="3722119" cy="2468880"/>
        </p:xfrm>
        <a:graphic>
          <a:graphicData uri="http://schemas.openxmlformats.org/drawingml/2006/table">
            <a:tbl>
              <a:tblPr firstRow="1" bandRow="1">
                <a:tableStyleId>{5C22544A-7EE6-4342-B048-85BDC9FD1C3A}</a:tableStyleId>
              </a:tblPr>
              <a:tblGrid>
                <a:gridCol w="798830">
                  <a:extLst>
                    <a:ext uri="{9D8B030D-6E8A-4147-A177-3AD203B41FA5}">
                      <a16:colId xmlns:a16="http://schemas.microsoft.com/office/drawing/2014/main" val="3739084925"/>
                    </a:ext>
                  </a:extLst>
                </a:gridCol>
                <a:gridCol w="509905">
                  <a:extLst>
                    <a:ext uri="{9D8B030D-6E8A-4147-A177-3AD203B41FA5}">
                      <a16:colId xmlns:a16="http://schemas.microsoft.com/office/drawing/2014/main" val="2015716019"/>
                    </a:ext>
                  </a:extLst>
                </a:gridCol>
                <a:gridCol w="1059180">
                  <a:extLst>
                    <a:ext uri="{9D8B030D-6E8A-4147-A177-3AD203B41FA5}">
                      <a16:colId xmlns:a16="http://schemas.microsoft.com/office/drawing/2014/main" val="1546522414"/>
                    </a:ext>
                  </a:extLst>
                </a:gridCol>
                <a:gridCol w="547255">
                  <a:extLst>
                    <a:ext uri="{9D8B030D-6E8A-4147-A177-3AD203B41FA5}">
                      <a16:colId xmlns:a16="http://schemas.microsoft.com/office/drawing/2014/main" val="4883912"/>
                    </a:ext>
                  </a:extLst>
                </a:gridCol>
                <a:gridCol w="806949">
                  <a:extLst>
                    <a:ext uri="{9D8B030D-6E8A-4147-A177-3AD203B41FA5}">
                      <a16:colId xmlns:a16="http://schemas.microsoft.com/office/drawing/2014/main" val="3755102202"/>
                    </a:ext>
                  </a:extLst>
                </a:gridCol>
              </a:tblGrid>
              <a:tr h="266014">
                <a:tc gridSpan="5">
                  <a:txBody>
                    <a:bodyPr/>
                    <a:lstStyle/>
                    <a:p>
                      <a:pPr algn="ctr"/>
                      <a:r>
                        <a:rPr lang="en-US" altLang="zh-CN" sz="1200" dirty="0">
                          <a:solidFill>
                            <a:schemeClr val="tx1"/>
                          </a:solidFill>
                          <a:latin typeface="Arial" panose="020B0604020202020204" pitchFamily="34" charset="0"/>
                          <a:ea typeface="微软雅黑" panose="020B0503020204020204" pitchFamily="34" charset="-122"/>
                        </a:rPr>
                        <a:t>PSD</a:t>
                      </a:r>
                      <a:endParaRPr lang="zh-CN" altLang="en-US" sz="1200" dirty="0">
                        <a:solidFill>
                          <a:schemeClr val="tx1"/>
                        </a:solidFill>
                        <a:latin typeface="Arial" panose="020B0604020202020204" pitchFamily="34" charset="0"/>
                        <a:ea typeface="微软雅黑" panose="020B0503020204020204" pitchFamily="34" charset="-122"/>
                      </a:endParaRPr>
                    </a:p>
                  </a:txBody>
                  <a:tcPr/>
                </a:tc>
                <a:tc hMerge="1">
                  <a:txBody>
                    <a:bodyPr/>
                    <a:lstStyle/>
                    <a:p>
                      <a:endParaRPr/>
                    </a:p>
                  </a:txBody>
                  <a:tcPr/>
                </a:tc>
                <a:tc hMerge="1">
                  <a:txBody>
                    <a:bodyPr/>
                    <a:lstStyle/>
                    <a:p>
                      <a:endParaRPr lang="zh-CN" altLang="en-US"/>
                    </a:p>
                  </a:txBody>
                  <a:tcPr/>
                </a:tc>
                <a:tc hMerge="1">
                  <a:txBody>
                    <a:bodyPr/>
                    <a:lstStyle/>
                    <a:p>
                      <a:endParaRPr lang="zh-CN" altLang="en-US" sz="1200" dirty="0"/>
                    </a:p>
                  </a:txBody>
                  <a:tcPr/>
                </a:tc>
                <a:tc hMerge="1">
                  <a:txBody>
                    <a:bodyPr/>
                    <a:lstStyle/>
                    <a:p>
                      <a:endParaRPr lang="zh-CN" altLang="en-US" sz="1200" dirty="0"/>
                    </a:p>
                  </a:txBody>
                  <a:tcPr/>
                </a:tc>
                <a:extLst>
                  <a:ext uri="{0D108BD9-81ED-4DB2-BD59-A6C34878D82A}">
                    <a16:rowId xmlns:a16="http://schemas.microsoft.com/office/drawing/2014/main" val="4288766675"/>
                  </a:ext>
                </a:extLst>
              </a:tr>
              <a:tr h="266014">
                <a:tc>
                  <a:txBody>
                    <a:bodyPr/>
                    <a:lstStyle/>
                    <a:p>
                      <a:r>
                        <a:rPr lang="en-US" altLang="zh-CN" sz="1200" dirty="0">
                          <a:solidFill>
                            <a:schemeClr val="tx1"/>
                          </a:solidFill>
                          <a:latin typeface="Arial" panose="020B0604020202020204" pitchFamily="34" charset="0"/>
                          <a:ea typeface="微软雅黑" panose="020B0503020204020204" pitchFamily="34" charset="-122"/>
                        </a:rPr>
                        <a:t>Demand</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Part</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Supply Type</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Qty</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PSD</a:t>
                      </a:r>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66014">
                <a:tc>
                  <a:txBody>
                    <a:bodyPr/>
                    <a:lstStyle/>
                    <a:p>
                      <a:r>
                        <a:rPr lang="en-US" altLang="zh-CN" sz="1200" dirty="0">
                          <a:solidFill>
                            <a:schemeClr val="tx1"/>
                          </a:solidFill>
                          <a:latin typeface="Arial" panose="020B0604020202020204" pitchFamily="34" charset="0"/>
                          <a:ea typeface="微软雅黑" panose="020B0503020204020204" pitchFamily="34" charset="-122"/>
                        </a:rPr>
                        <a:t>SO1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a:solidFill>
                            <a:schemeClr val="tx1"/>
                          </a:solidFill>
                          <a:latin typeface="Arial" panose="020B0604020202020204" pitchFamily="34" charset="0"/>
                          <a:ea typeface="微软雅黑" panose="020B0503020204020204" pitchFamily="34" charset="-122"/>
                        </a:rPr>
                        <a:t>FG1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OH</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6.4</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r h="266014">
                <a:tc>
                  <a:txBody>
                    <a:bodyPr/>
                    <a:lstStyle/>
                    <a:p>
                      <a:r>
                        <a:rPr lang="en-US" altLang="zh-CN" sz="1200" dirty="0">
                          <a:solidFill>
                            <a:schemeClr val="tx1"/>
                          </a:solidFill>
                          <a:latin typeface="Arial" panose="020B0604020202020204" pitchFamily="34" charset="0"/>
                          <a:ea typeface="微软雅黑" panose="020B0503020204020204" pitchFamily="34" charset="-122"/>
                        </a:rPr>
                        <a:t>SO1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a:solidFill>
                            <a:schemeClr val="tx1"/>
                          </a:solidFill>
                          <a:latin typeface="Arial" panose="020B0604020202020204" pitchFamily="34" charset="0"/>
                          <a:ea typeface="微软雅黑" panose="020B0503020204020204" pitchFamily="34" charset="-122"/>
                        </a:rPr>
                        <a:t>FG1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SR</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6.5</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739533468"/>
                  </a:ext>
                </a:extLst>
              </a:tr>
              <a:tr h="266014">
                <a:tc>
                  <a:txBody>
                    <a:bodyPr/>
                    <a:lstStyle/>
                    <a:p>
                      <a:r>
                        <a:rPr lang="en-US" altLang="zh-CN" sz="1200" dirty="0">
                          <a:solidFill>
                            <a:schemeClr val="tx1"/>
                          </a:solidFill>
                          <a:latin typeface="Arial" panose="020B0604020202020204" pitchFamily="34" charset="0"/>
                          <a:ea typeface="微软雅黑" panose="020B0503020204020204" pitchFamily="34" charset="-122"/>
                        </a:rPr>
                        <a:t>SO1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a:solidFill>
                            <a:schemeClr val="tx1"/>
                          </a:solidFill>
                          <a:latin typeface="Arial" panose="020B0604020202020204" pitchFamily="34" charset="0"/>
                          <a:ea typeface="微软雅黑" panose="020B0503020204020204" pitchFamily="34" charset="-122"/>
                        </a:rPr>
                        <a:t>FG1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Planned Order</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6.6</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617422880"/>
                  </a:ext>
                </a:extLst>
              </a:tr>
              <a:tr h="266014">
                <a:tc>
                  <a:txBody>
                    <a:bodyPr/>
                    <a:lstStyle/>
                    <a:p>
                      <a:r>
                        <a:rPr lang="en-US" altLang="zh-CN" sz="1200" dirty="0">
                          <a:solidFill>
                            <a:schemeClr val="tx1"/>
                          </a:solidFill>
                          <a:latin typeface="Arial" panose="020B0604020202020204" pitchFamily="34" charset="0"/>
                          <a:ea typeface="微软雅黑" panose="020B0503020204020204" pitchFamily="34" charset="-122"/>
                        </a:rPr>
                        <a:t>SO1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a:solidFill>
                            <a:schemeClr val="tx1"/>
                          </a:solidFill>
                          <a:latin typeface="Arial" panose="020B0604020202020204" pitchFamily="34" charset="0"/>
                          <a:ea typeface="微软雅黑" panose="020B0503020204020204" pitchFamily="34" charset="-122"/>
                        </a:rPr>
                        <a:t>FG1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Planned Order</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30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6.8</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029677074"/>
                  </a:ext>
                </a:extLst>
              </a:tr>
              <a:tr h="266014">
                <a:tc>
                  <a:txBody>
                    <a:bodyPr/>
                    <a:lstStyle/>
                    <a:p>
                      <a:r>
                        <a:rPr lang="en-US" altLang="zh-CN" sz="1200" dirty="0">
                          <a:solidFill>
                            <a:schemeClr val="tx1"/>
                          </a:solidFill>
                          <a:latin typeface="Arial" panose="020B0604020202020204" pitchFamily="34" charset="0"/>
                          <a:ea typeface="微软雅黑" panose="020B0503020204020204" pitchFamily="34" charset="-122"/>
                        </a:rPr>
                        <a:t>SO1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a:solidFill>
                            <a:schemeClr val="tx1"/>
                          </a:solidFill>
                          <a:latin typeface="Arial" panose="020B0604020202020204" pitchFamily="34" charset="0"/>
                          <a:ea typeface="微软雅黑" panose="020B0503020204020204" pitchFamily="34" charset="-122"/>
                        </a:rPr>
                        <a:t>FG1</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Planned Order</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a:t>
                      </a:r>
                      <a:endParaRPr lang="zh-CN" altLang="en-US" sz="1200"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6.8</a:t>
                      </a:r>
                      <a:endParaRPr lang="zh-CN" altLang="en-US" sz="12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446969384"/>
                  </a:ext>
                </a:extLst>
              </a:tr>
            </a:tbl>
          </a:graphicData>
        </a:graphic>
      </p:graphicFrame>
    </p:spTree>
    <p:extLst>
      <p:ext uri="{BB962C8B-B14F-4D97-AF65-F5344CB8AC3E}">
        <p14:creationId xmlns:p14="http://schemas.microsoft.com/office/powerpoint/2010/main" val="103400572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fade">
                                      <p:cBhvr>
                                        <p:cTn id="1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3F73C3C-5C8B-DED9-8070-1A777C9A993F}"/>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推拉结合的计划模型 </a:t>
            </a:r>
            <a:r>
              <a:rPr lang="en-US" altLang="zh-CN" dirty="0">
                <a:latin typeface="Arial" panose="020B0604020202020204" pitchFamily="34" charset="0"/>
                <a:ea typeface="微软雅黑" panose="020B0503020204020204" pitchFamily="34" charset="-122"/>
              </a:rPr>
              <a:t>– Patented Algorithms</a:t>
            </a:r>
            <a:endParaRPr lang="zh-CN" altLang="en-US" dirty="0">
              <a:latin typeface="Arial" panose="020B0604020202020204" pitchFamily="34" charset="0"/>
              <a:ea typeface="微软雅黑" panose="020B0503020204020204" pitchFamily="34" charset="-122"/>
            </a:endParaRPr>
          </a:p>
        </p:txBody>
      </p:sp>
      <p:graphicFrame>
        <p:nvGraphicFramePr>
          <p:cNvPr id="3" name="表格 2">
            <a:extLst>
              <a:ext uri="{FF2B5EF4-FFF2-40B4-BE49-F238E27FC236}">
                <a16:creationId xmlns:a16="http://schemas.microsoft.com/office/drawing/2014/main" id="{171616DC-A8C4-B8C4-B282-D40CE7325114}"/>
              </a:ext>
            </a:extLst>
          </p:cNvPr>
          <p:cNvGraphicFramePr>
            <a:graphicFrameLocks noGrp="1"/>
          </p:cNvGraphicFramePr>
          <p:nvPr>
            <p:extLst>
              <p:ext uri="{D42A27DB-BD31-4B8C-83A1-F6EECF244321}">
                <p14:modId xmlns:p14="http://schemas.microsoft.com/office/powerpoint/2010/main" val="2976057540"/>
              </p:ext>
            </p:extLst>
          </p:nvPr>
        </p:nvGraphicFramePr>
        <p:xfrm>
          <a:off x="985581" y="775066"/>
          <a:ext cx="3317252" cy="1604390"/>
        </p:xfrm>
        <a:graphic>
          <a:graphicData uri="http://schemas.openxmlformats.org/drawingml/2006/table">
            <a:tbl>
              <a:tblPr firstRow="1" bandRow="1">
                <a:tableStyleId>{5C22544A-7EE6-4342-B048-85BDC9FD1C3A}</a:tableStyleId>
              </a:tblPr>
              <a:tblGrid>
                <a:gridCol w="509905">
                  <a:extLst>
                    <a:ext uri="{9D8B030D-6E8A-4147-A177-3AD203B41FA5}">
                      <a16:colId xmlns:a16="http://schemas.microsoft.com/office/drawing/2014/main" val="2015716019"/>
                    </a:ext>
                  </a:extLst>
                </a:gridCol>
                <a:gridCol w="1059180">
                  <a:extLst>
                    <a:ext uri="{9D8B030D-6E8A-4147-A177-3AD203B41FA5}">
                      <a16:colId xmlns:a16="http://schemas.microsoft.com/office/drawing/2014/main" val="1546522414"/>
                    </a:ext>
                  </a:extLst>
                </a:gridCol>
                <a:gridCol w="547255">
                  <a:extLst>
                    <a:ext uri="{9D8B030D-6E8A-4147-A177-3AD203B41FA5}">
                      <a16:colId xmlns:a16="http://schemas.microsoft.com/office/drawing/2014/main" val="4883912"/>
                    </a:ext>
                  </a:extLst>
                </a:gridCol>
                <a:gridCol w="1200912">
                  <a:extLst>
                    <a:ext uri="{9D8B030D-6E8A-4147-A177-3AD203B41FA5}">
                      <a16:colId xmlns:a16="http://schemas.microsoft.com/office/drawing/2014/main" val="3755102202"/>
                    </a:ext>
                  </a:extLst>
                </a:gridCol>
              </a:tblGrid>
              <a:tr h="266014">
                <a:tc gridSpan="4">
                  <a:txBody>
                    <a:bodyPr/>
                    <a:lstStyle/>
                    <a:p>
                      <a:pPr algn="ctr"/>
                      <a:r>
                        <a:rPr lang="en-US" sz="1200" b="1">
                          <a:solidFill>
                            <a:schemeClr val="bg1"/>
                          </a:solidFill>
                          <a:latin typeface="Arial" panose="020B0604020202020204" pitchFamily="34" charset="0"/>
                          <a:ea typeface="微软雅黑" panose="020B0503020204020204" pitchFamily="34" charset="-122"/>
                        </a:rPr>
                        <a:t>FG1 </a:t>
                      </a:r>
                      <a:r>
                        <a:rPr lang="en-US" sz="1200" b="1" dirty="0">
                          <a:solidFill>
                            <a:schemeClr val="bg1"/>
                          </a:solidFill>
                          <a:latin typeface="Arial" panose="020B0604020202020204" pitchFamily="34" charset="0"/>
                          <a:ea typeface="微软雅黑" panose="020B0503020204020204" pitchFamily="34" charset="-122"/>
                        </a:rPr>
                        <a:t>Availability</a:t>
                      </a:r>
                      <a:endParaRPr sz="1200" b="1" dirty="0">
                        <a:solidFill>
                          <a:schemeClr val="bg1"/>
                        </a:solidFill>
                        <a:latin typeface="Arial" panose="020B0604020202020204" pitchFamily="34" charset="0"/>
                        <a:ea typeface="微软雅黑" panose="020B0503020204020204" pitchFamily="34" charset="-122"/>
                      </a:endParaRPr>
                    </a:p>
                  </a:txBody>
                  <a:tcPr/>
                </a:tc>
                <a:tc hMerge="1">
                  <a:txBody>
                    <a:bodyPr/>
                    <a:lstStyle/>
                    <a:p>
                      <a:endParaRPr lang="zh-CN" altLang="en-US"/>
                    </a:p>
                  </a:txBody>
                  <a:tcPr/>
                </a:tc>
                <a:tc hMerge="1">
                  <a:txBody>
                    <a:bodyPr/>
                    <a:lstStyle/>
                    <a:p>
                      <a:endParaRPr lang="zh-CN" altLang="en-US" sz="1200" dirty="0"/>
                    </a:p>
                  </a:txBody>
                  <a:tcPr/>
                </a:tc>
                <a:tc hMerge="1">
                  <a:txBody>
                    <a:bodyPr/>
                    <a:lstStyle/>
                    <a:p>
                      <a:endParaRPr lang="zh-CN" altLang="en-US" sz="1200" dirty="0"/>
                    </a:p>
                  </a:txBody>
                  <a:tcPr/>
                </a:tc>
                <a:extLst>
                  <a:ext uri="{0D108BD9-81ED-4DB2-BD59-A6C34878D82A}">
                    <a16:rowId xmlns:a16="http://schemas.microsoft.com/office/drawing/2014/main" val="4288766675"/>
                  </a:ext>
                </a:extLst>
              </a:tr>
              <a:tr h="266014">
                <a:tc>
                  <a:txBody>
                    <a:bodyPr/>
                    <a:lstStyle/>
                    <a:p>
                      <a:r>
                        <a:rPr lang="en-US" altLang="zh-CN" sz="1000" b="1" dirty="0">
                          <a:solidFill>
                            <a:schemeClr val="bg1"/>
                          </a:solidFill>
                          <a:latin typeface="Arial" panose="020B0604020202020204" pitchFamily="34" charset="0"/>
                          <a:ea typeface="微软雅黑" panose="020B0503020204020204" pitchFamily="34" charset="-122"/>
                        </a:rPr>
                        <a:t>Part</a:t>
                      </a:r>
                      <a:endParaRPr lang="zh-CN" altLang="en-US" sz="10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000" b="1" dirty="0">
                          <a:solidFill>
                            <a:schemeClr val="bg1"/>
                          </a:solidFill>
                          <a:latin typeface="Arial" panose="020B0604020202020204" pitchFamily="34" charset="0"/>
                          <a:ea typeface="微软雅黑" panose="020B0503020204020204" pitchFamily="34" charset="-122"/>
                        </a:rPr>
                        <a:t>Supply Type</a:t>
                      </a:r>
                      <a:endParaRPr lang="zh-CN" altLang="en-US" sz="10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000" b="1" dirty="0">
                          <a:solidFill>
                            <a:schemeClr val="bg1"/>
                          </a:solidFill>
                          <a:latin typeface="Arial" panose="020B0604020202020204" pitchFamily="34" charset="0"/>
                          <a:ea typeface="微软雅黑" panose="020B0503020204020204" pitchFamily="34" charset="-122"/>
                        </a:rPr>
                        <a:t>Qty</a:t>
                      </a:r>
                      <a:endParaRPr lang="zh-CN" altLang="en-US" sz="10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000" b="1" dirty="0">
                          <a:solidFill>
                            <a:schemeClr val="bg1"/>
                          </a:solidFill>
                          <a:latin typeface="Arial" panose="020B0604020202020204" pitchFamily="34" charset="0"/>
                          <a:ea typeface="微软雅黑" panose="020B0503020204020204" pitchFamily="34" charset="-122"/>
                        </a:rPr>
                        <a:t>Available Date</a:t>
                      </a:r>
                      <a:endParaRPr lang="zh-CN" altLang="en-US" sz="10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66014">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000" b="1">
                          <a:solidFill>
                            <a:schemeClr val="bg1"/>
                          </a:solidFill>
                          <a:latin typeface="Arial" panose="020B0604020202020204" pitchFamily="34" charset="0"/>
                          <a:ea typeface="微软雅黑" panose="020B0503020204020204" pitchFamily="34" charset="-122"/>
                        </a:rPr>
                        <a:t>FG1</a:t>
                      </a:r>
                      <a:endParaRPr lang="zh-CN" altLang="en-US" sz="10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000" b="1" dirty="0">
                          <a:solidFill>
                            <a:schemeClr val="bg1"/>
                          </a:solidFill>
                          <a:latin typeface="Arial" panose="020B0604020202020204" pitchFamily="34" charset="0"/>
                          <a:ea typeface="微软雅黑" panose="020B0503020204020204" pitchFamily="34" charset="-122"/>
                        </a:rPr>
                        <a:t>OH</a:t>
                      </a:r>
                      <a:endParaRPr lang="zh-CN" altLang="en-US" sz="10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000" b="1" dirty="0">
                          <a:solidFill>
                            <a:schemeClr val="bg1"/>
                          </a:solidFill>
                          <a:latin typeface="Arial" panose="020B0604020202020204" pitchFamily="34" charset="0"/>
                          <a:ea typeface="微软雅黑" panose="020B0503020204020204" pitchFamily="34" charset="-122"/>
                        </a:rPr>
                        <a:t>10</a:t>
                      </a:r>
                      <a:endParaRPr lang="zh-CN" altLang="en-US" sz="10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000" b="1" dirty="0">
                          <a:solidFill>
                            <a:schemeClr val="bg1"/>
                          </a:solidFill>
                          <a:latin typeface="Arial" panose="020B0604020202020204" pitchFamily="34" charset="0"/>
                          <a:ea typeface="微软雅黑" panose="020B0503020204020204" pitchFamily="34" charset="-122"/>
                        </a:rPr>
                        <a:t>6.4</a:t>
                      </a:r>
                      <a:endParaRPr lang="zh-CN" altLang="en-US" sz="10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r h="266014">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000" b="1">
                          <a:solidFill>
                            <a:schemeClr val="bg1"/>
                          </a:solidFill>
                          <a:latin typeface="Arial" panose="020B0604020202020204" pitchFamily="34" charset="0"/>
                          <a:ea typeface="微软雅黑" panose="020B0503020204020204" pitchFamily="34" charset="-122"/>
                        </a:rPr>
                        <a:t>FG1</a:t>
                      </a:r>
                      <a:endParaRPr lang="zh-CN" altLang="en-US" sz="10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000" b="1" dirty="0">
                          <a:solidFill>
                            <a:schemeClr val="bg1"/>
                          </a:solidFill>
                          <a:latin typeface="Arial" panose="020B0604020202020204" pitchFamily="34" charset="0"/>
                          <a:ea typeface="微软雅黑" panose="020B0503020204020204" pitchFamily="34" charset="-122"/>
                        </a:rPr>
                        <a:t>SR</a:t>
                      </a:r>
                      <a:endParaRPr lang="zh-CN" altLang="en-US" sz="10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000" b="1" dirty="0">
                          <a:solidFill>
                            <a:schemeClr val="bg1"/>
                          </a:solidFill>
                          <a:latin typeface="Arial" panose="020B0604020202020204" pitchFamily="34" charset="0"/>
                          <a:ea typeface="微软雅黑" panose="020B0503020204020204" pitchFamily="34" charset="-122"/>
                        </a:rPr>
                        <a:t>10</a:t>
                      </a:r>
                      <a:endParaRPr lang="zh-CN" altLang="en-US" sz="10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000" b="1" dirty="0">
                          <a:solidFill>
                            <a:schemeClr val="bg1"/>
                          </a:solidFill>
                          <a:latin typeface="Arial" panose="020B0604020202020204" pitchFamily="34" charset="0"/>
                          <a:ea typeface="微软雅黑" panose="020B0503020204020204" pitchFamily="34" charset="-122"/>
                        </a:rPr>
                        <a:t>6.5</a:t>
                      </a:r>
                      <a:endParaRPr lang="zh-CN" altLang="en-US" sz="10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739533468"/>
                  </a:ext>
                </a:extLst>
              </a:tr>
              <a:tr h="266014">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000" b="1">
                          <a:solidFill>
                            <a:schemeClr val="bg1"/>
                          </a:solidFill>
                          <a:latin typeface="Arial" panose="020B0604020202020204" pitchFamily="34" charset="0"/>
                          <a:ea typeface="微软雅黑" panose="020B0503020204020204" pitchFamily="34" charset="-122"/>
                        </a:rPr>
                        <a:t>FG1</a:t>
                      </a:r>
                      <a:endParaRPr lang="zh-CN" altLang="en-US" sz="10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000" b="1" dirty="0">
                          <a:solidFill>
                            <a:schemeClr val="bg1"/>
                          </a:solidFill>
                          <a:latin typeface="Arial" panose="020B0604020202020204" pitchFamily="34" charset="0"/>
                          <a:ea typeface="微软雅黑" panose="020B0503020204020204" pitchFamily="34" charset="-122"/>
                        </a:rPr>
                        <a:t>Planned Order</a:t>
                      </a:r>
                      <a:endParaRPr lang="zh-CN" altLang="en-US" sz="10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000" b="1" dirty="0">
                          <a:solidFill>
                            <a:schemeClr val="bg1"/>
                          </a:solidFill>
                          <a:latin typeface="Arial" panose="020B0604020202020204" pitchFamily="34" charset="0"/>
                          <a:ea typeface="微软雅黑" panose="020B0503020204020204" pitchFamily="34" charset="-122"/>
                        </a:rPr>
                        <a:t>20</a:t>
                      </a:r>
                      <a:endParaRPr lang="zh-CN" altLang="en-US" sz="10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000" b="1" dirty="0">
                          <a:solidFill>
                            <a:schemeClr val="bg1"/>
                          </a:solidFill>
                          <a:latin typeface="Arial" panose="020B0604020202020204" pitchFamily="34" charset="0"/>
                          <a:ea typeface="微软雅黑" panose="020B0503020204020204" pitchFamily="34" charset="-122"/>
                        </a:rPr>
                        <a:t>6.6</a:t>
                      </a:r>
                      <a:endParaRPr lang="zh-CN" altLang="en-US" sz="10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617422880"/>
                  </a:ext>
                </a:extLst>
              </a:tr>
              <a:tr h="266014">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000" b="1">
                          <a:solidFill>
                            <a:schemeClr val="bg1"/>
                          </a:solidFill>
                          <a:latin typeface="Arial" panose="020B0604020202020204" pitchFamily="34" charset="0"/>
                          <a:ea typeface="微软雅黑" panose="020B0503020204020204" pitchFamily="34" charset="-122"/>
                        </a:rPr>
                        <a:t>FG1</a:t>
                      </a:r>
                      <a:endParaRPr lang="zh-CN" altLang="en-US" sz="10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000" b="1" dirty="0">
                          <a:solidFill>
                            <a:schemeClr val="bg1"/>
                          </a:solidFill>
                          <a:latin typeface="Arial" panose="020B0604020202020204" pitchFamily="34" charset="0"/>
                          <a:ea typeface="微软雅黑" panose="020B0503020204020204" pitchFamily="34" charset="-122"/>
                        </a:rPr>
                        <a:t>Planned Order</a:t>
                      </a:r>
                      <a:endParaRPr lang="zh-CN" altLang="en-US" sz="10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000" b="1" dirty="0">
                          <a:solidFill>
                            <a:schemeClr val="bg1"/>
                          </a:solidFill>
                          <a:latin typeface="Arial" panose="020B0604020202020204" pitchFamily="34" charset="0"/>
                          <a:ea typeface="微软雅黑" panose="020B0503020204020204" pitchFamily="34" charset="-122"/>
                        </a:rPr>
                        <a:t>80</a:t>
                      </a:r>
                      <a:endParaRPr lang="zh-CN" altLang="en-US" sz="10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000" b="1" dirty="0">
                          <a:solidFill>
                            <a:schemeClr val="bg1"/>
                          </a:solidFill>
                          <a:latin typeface="Arial" panose="020B0604020202020204" pitchFamily="34" charset="0"/>
                          <a:ea typeface="微软雅黑" panose="020B0503020204020204" pitchFamily="34" charset="-122"/>
                        </a:rPr>
                        <a:t>6.8</a:t>
                      </a:r>
                      <a:endParaRPr lang="zh-CN" altLang="en-US" sz="10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029677074"/>
                  </a:ext>
                </a:extLst>
              </a:tr>
            </a:tbl>
          </a:graphicData>
        </a:graphic>
      </p:graphicFrame>
      <p:sp>
        <p:nvSpPr>
          <p:cNvPr id="4" name="文本框 3">
            <a:extLst>
              <a:ext uri="{FF2B5EF4-FFF2-40B4-BE49-F238E27FC236}">
                <a16:creationId xmlns:a16="http://schemas.microsoft.com/office/drawing/2014/main" id="{8DC848CB-6A71-0E16-57C1-D90C5A2FDBD3}"/>
              </a:ext>
            </a:extLst>
          </p:cNvPr>
          <p:cNvSpPr txBox="1"/>
          <p:nvPr/>
        </p:nvSpPr>
        <p:spPr>
          <a:xfrm>
            <a:off x="4399643" y="806255"/>
            <a:ext cx="2293910" cy="461665"/>
          </a:xfrm>
          <a:prstGeom prst="rect">
            <a:avLst/>
          </a:prstGeom>
          <a:noFill/>
        </p:spPr>
        <p:txBody>
          <a:bodyPr wrap="square" rtlCol="0">
            <a:spAutoFit/>
          </a:bodyPr>
          <a:lstStyle/>
          <a:p>
            <a:r>
              <a:rPr lang="en-US" altLang="zh-CN" sz="1200" b="1" dirty="0">
                <a:latin typeface="Arial" panose="020B0604020202020204" pitchFamily="34" charset="0"/>
                <a:ea typeface="微软雅黑" panose="020B0503020204020204" pitchFamily="34" charset="-122"/>
              </a:rPr>
              <a:t>1. If request date could not be fulfilled </a:t>
            </a:r>
            <a:endParaRPr lang="zh-CN" altLang="en-US" sz="1200" b="1" dirty="0">
              <a:latin typeface="Arial" panose="020B0604020202020204" pitchFamily="34" charset="0"/>
              <a:ea typeface="微软雅黑" panose="020B0503020204020204" pitchFamily="34" charset="-122"/>
            </a:endParaRPr>
          </a:p>
        </p:txBody>
      </p:sp>
      <p:graphicFrame>
        <p:nvGraphicFramePr>
          <p:cNvPr id="5" name="表格 4">
            <a:extLst>
              <a:ext uri="{FF2B5EF4-FFF2-40B4-BE49-F238E27FC236}">
                <a16:creationId xmlns:a16="http://schemas.microsoft.com/office/drawing/2014/main" id="{B9A1FF57-2BA1-4FCA-EEA9-7B175DB01986}"/>
              </a:ext>
            </a:extLst>
          </p:cNvPr>
          <p:cNvGraphicFramePr>
            <a:graphicFrameLocks noGrp="1"/>
          </p:cNvGraphicFramePr>
          <p:nvPr>
            <p:extLst>
              <p:ext uri="{D42A27DB-BD31-4B8C-83A1-F6EECF244321}">
                <p14:modId xmlns:p14="http://schemas.microsoft.com/office/powerpoint/2010/main" val="2092164967"/>
              </p:ext>
            </p:extLst>
          </p:nvPr>
        </p:nvGraphicFramePr>
        <p:xfrm>
          <a:off x="6645403" y="722244"/>
          <a:ext cx="3687955" cy="798042"/>
        </p:xfrm>
        <a:graphic>
          <a:graphicData uri="http://schemas.openxmlformats.org/drawingml/2006/table">
            <a:tbl>
              <a:tblPr firstRow="1" bandRow="1">
                <a:tableStyleId>{5C22544A-7EE6-4342-B048-85BDC9FD1C3A}</a:tableStyleId>
              </a:tblPr>
              <a:tblGrid>
                <a:gridCol w="825818">
                  <a:extLst>
                    <a:ext uri="{9D8B030D-6E8A-4147-A177-3AD203B41FA5}">
                      <a16:colId xmlns:a16="http://schemas.microsoft.com/office/drawing/2014/main" val="3739084925"/>
                    </a:ext>
                  </a:extLst>
                </a:gridCol>
                <a:gridCol w="1122490">
                  <a:extLst>
                    <a:ext uri="{9D8B030D-6E8A-4147-A177-3AD203B41FA5}">
                      <a16:colId xmlns:a16="http://schemas.microsoft.com/office/drawing/2014/main" val="2015716019"/>
                    </a:ext>
                  </a:extLst>
                </a:gridCol>
                <a:gridCol w="479743">
                  <a:extLst>
                    <a:ext uri="{9D8B030D-6E8A-4147-A177-3AD203B41FA5}">
                      <a16:colId xmlns:a16="http://schemas.microsoft.com/office/drawing/2014/main" val="4883912"/>
                    </a:ext>
                  </a:extLst>
                </a:gridCol>
                <a:gridCol w="1259904">
                  <a:extLst>
                    <a:ext uri="{9D8B030D-6E8A-4147-A177-3AD203B41FA5}">
                      <a16:colId xmlns:a16="http://schemas.microsoft.com/office/drawing/2014/main" val="3755102202"/>
                    </a:ext>
                  </a:extLst>
                </a:gridCol>
              </a:tblGrid>
              <a:tr h="266014">
                <a:tc gridSpan="4">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Demand</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hMerge="1">
                  <a:txBody>
                    <a:bodyPr/>
                    <a:lstStyle/>
                    <a:p>
                      <a:endParaRPr/>
                    </a:p>
                  </a:txBody>
                  <a:tcPr/>
                </a:tc>
                <a:tc hMerge="1">
                  <a:txBody>
                    <a:bodyPr/>
                    <a:lstStyle/>
                    <a:p>
                      <a:endParaRPr lang="zh-CN" altLang="en-US" sz="1200" dirty="0"/>
                    </a:p>
                  </a:txBody>
                  <a:tcPr/>
                </a:tc>
                <a:tc hMerge="1">
                  <a:txBody>
                    <a:bodyPr/>
                    <a:lstStyle/>
                    <a:p>
                      <a:endParaRPr lang="zh-CN" altLang="en-US" sz="1200" dirty="0"/>
                    </a:p>
                  </a:txBody>
                  <a:tcPr/>
                </a:tc>
                <a:extLst>
                  <a:ext uri="{0D108BD9-81ED-4DB2-BD59-A6C34878D82A}">
                    <a16:rowId xmlns:a16="http://schemas.microsoft.com/office/drawing/2014/main" val="4288766675"/>
                  </a:ext>
                </a:extLst>
              </a:tr>
              <a:tr h="266014">
                <a:tc>
                  <a:txBody>
                    <a:bodyPr/>
                    <a:lstStyle/>
                    <a:p>
                      <a:r>
                        <a:rPr lang="en-US" altLang="zh-CN" sz="1100" b="1" dirty="0">
                          <a:solidFill>
                            <a:schemeClr val="bg1"/>
                          </a:solidFill>
                          <a:latin typeface="Arial" panose="020B0604020202020204" pitchFamily="34" charset="0"/>
                          <a:ea typeface="微软雅黑" panose="020B0503020204020204" pitchFamily="34" charset="-122"/>
                        </a:rPr>
                        <a:t>Demand</a:t>
                      </a:r>
                      <a:endParaRPr lang="zh-CN" altLang="en-US" sz="11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100" b="1" dirty="0">
                          <a:solidFill>
                            <a:schemeClr val="bg1"/>
                          </a:solidFill>
                          <a:latin typeface="Arial" panose="020B0604020202020204" pitchFamily="34" charset="0"/>
                          <a:ea typeface="微软雅黑" panose="020B0503020204020204" pitchFamily="34" charset="-122"/>
                        </a:rPr>
                        <a:t>Part</a:t>
                      </a:r>
                      <a:endParaRPr lang="zh-CN" altLang="en-US" sz="11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100" b="1" dirty="0">
                          <a:solidFill>
                            <a:schemeClr val="bg1"/>
                          </a:solidFill>
                          <a:latin typeface="Arial" panose="020B0604020202020204" pitchFamily="34" charset="0"/>
                          <a:ea typeface="微软雅黑" panose="020B0503020204020204" pitchFamily="34" charset="-122"/>
                        </a:rPr>
                        <a:t>Qty</a:t>
                      </a:r>
                      <a:endParaRPr lang="zh-CN" altLang="en-US" sz="11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100" b="1" dirty="0">
                          <a:solidFill>
                            <a:schemeClr val="bg1"/>
                          </a:solidFill>
                          <a:latin typeface="Arial" panose="020B0604020202020204" pitchFamily="34" charset="0"/>
                          <a:ea typeface="微软雅黑" panose="020B0503020204020204" pitchFamily="34" charset="-122"/>
                        </a:rPr>
                        <a:t>Request Date</a:t>
                      </a:r>
                      <a:endParaRPr lang="zh-CN" altLang="en-US" sz="11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66014">
                <a:tc>
                  <a:txBody>
                    <a:bodyPr/>
                    <a:lstStyle/>
                    <a:p>
                      <a:r>
                        <a:rPr lang="en-US" altLang="zh-CN" sz="1100" b="1" dirty="0">
                          <a:solidFill>
                            <a:schemeClr val="bg1"/>
                          </a:solidFill>
                          <a:latin typeface="Arial" panose="020B0604020202020204" pitchFamily="34" charset="0"/>
                          <a:ea typeface="微软雅黑" panose="020B0503020204020204" pitchFamily="34" charset="-122"/>
                        </a:rPr>
                        <a:t>SO1</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100" b="1">
                          <a:solidFill>
                            <a:schemeClr val="bg1"/>
                          </a:solidFill>
                          <a:latin typeface="Arial" panose="020B0604020202020204" pitchFamily="34" charset="0"/>
                          <a:ea typeface="微软雅黑" panose="020B0503020204020204" pitchFamily="34" charset="-122"/>
                        </a:rPr>
                        <a:t>FG1</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1" dirty="0">
                          <a:solidFill>
                            <a:schemeClr val="bg1"/>
                          </a:solidFill>
                          <a:latin typeface="Arial" panose="020B0604020202020204" pitchFamily="34" charset="0"/>
                          <a:ea typeface="微软雅黑" panose="020B0503020204020204" pitchFamily="34" charset="-122"/>
                        </a:rPr>
                        <a:t>80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1" dirty="0">
                          <a:solidFill>
                            <a:schemeClr val="bg1"/>
                          </a:solidFill>
                          <a:latin typeface="Arial" panose="020B0604020202020204" pitchFamily="34" charset="0"/>
                          <a:ea typeface="微软雅黑" panose="020B0503020204020204" pitchFamily="34" charset="-122"/>
                        </a:rPr>
                        <a:t>6.4(ASAP)</a:t>
                      </a:r>
                      <a:endParaRPr lang="zh-CN" altLang="en-US" sz="11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bl>
          </a:graphicData>
        </a:graphic>
      </p:graphicFrame>
      <p:graphicFrame>
        <p:nvGraphicFramePr>
          <p:cNvPr id="7" name="表格 6">
            <a:extLst>
              <a:ext uri="{FF2B5EF4-FFF2-40B4-BE49-F238E27FC236}">
                <a16:creationId xmlns:a16="http://schemas.microsoft.com/office/drawing/2014/main" id="{9CD50043-CA60-DC7F-1463-FC4B9539EFBD}"/>
              </a:ext>
            </a:extLst>
          </p:cNvPr>
          <p:cNvGraphicFramePr>
            <a:graphicFrameLocks noGrp="1"/>
          </p:cNvGraphicFramePr>
          <p:nvPr>
            <p:extLst>
              <p:ext uri="{D42A27DB-BD31-4B8C-83A1-F6EECF244321}">
                <p14:modId xmlns:p14="http://schemas.microsoft.com/office/powerpoint/2010/main" val="1314528176"/>
              </p:ext>
            </p:extLst>
          </p:nvPr>
        </p:nvGraphicFramePr>
        <p:xfrm>
          <a:off x="173619" y="3429000"/>
          <a:ext cx="5726439" cy="2910840"/>
        </p:xfrm>
        <a:graphic>
          <a:graphicData uri="http://schemas.openxmlformats.org/drawingml/2006/table">
            <a:tbl>
              <a:tblPr firstRow="1" bandRow="1">
                <a:tableStyleId>{5C22544A-7EE6-4342-B048-85BDC9FD1C3A}</a:tableStyleId>
              </a:tblPr>
              <a:tblGrid>
                <a:gridCol w="505764">
                  <a:extLst>
                    <a:ext uri="{9D8B030D-6E8A-4147-A177-3AD203B41FA5}">
                      <a16:colId xmlns:a16="http://schemas.microsoft.com/office/drawing/2014/main" val="2555319132"/>
                    </a:ext>
                  </a:extLst>
                </a:gridCol>
                <a:gridCol w="474506">
                  <a:extLst>
                    <a:ext uri="{9D8B030D-6E8A-4147-A177-3AD203B41FA5}">
                      <a16:colId xmlns:a16="http://schemas.microsoft.com/office/drawing/2014/main" val="2252723600"/>
                    </a:ext>
                  </a:extLst>
                </a:gridCol>
                <a:gridCol w="460722">
                  <a:extLst>
                    <a:ext uri="{9D8B030D-6E8A-4147-A177-3AD203B41FA5}">
                      <a16:colId xmlns:a16="http://schemas.microsoft.com/office/drawing/2014/main" val="2015716019"/>
                    </a:ext>
                  </a:extLst>
                </a:gridCol>
                <a:gridCol w="763994">
                  <a:extLst>
                    <a:ext uri="{9D8B030D-6E8A-4147-A177-3AD203B41FA5}">
                      <a16:colId xmlns:a16="http://schemas.microsoft.com/office/drawing/2014/main" val="126826503"/>
                    </a:ext>
                  </a:extLst>
                </a:gridCol>
                <a:gridCol w="774333">
                  <a:extLst>
                    <a:ext uri="{9D8B030D-6E8A-4147-A177-3AD203B41FA5}">
                      <a16:colId xmlns:a16="http://schemas.microsoft.com/office/drawing/2014/main" val="4883912"/>
                    </a:ext>
                  </a:extLst>
                </a:gridCol>
                <a:gridCol w="431430">
                  <a:extLst>
                    <a:ext uri="{9D8B030D-6E8A-4147-A177-3AD203B41FA5}">
                      <a16:colId xmlns:a16="http://schemas.microsoft.com/office/drawing/2014/main" val="3755102202"/>
                    </a:ext>
                  </a:extLst>
                </a:gridCol>
                <a:gridCol w="342872">
                  <a:extLst>
                    <a:ext uri="{9D8B030D-6E8A-4147-A177-3AD203B41FA5}">
                      <a16:colId xmlns:a16="http://schemas.microsoft.com/office/drawing/2014/main" val="2658016956"/>
                    </a:ext>
                  </a:extLst>
                </a:gridCol>
                <a:gridCol w="986409">
                  <a:extLst>
                    <a:ext uri="{9D8B030D-6E8A-4147-A177-3AD203B41FA5}">
                      <a16:colId xmlns:a16="http://schemas.microsoft.com/office/drawing/2014/main" val="372874766"/>
                    </a:ext>
                  </a:extLst>
                </a:gridCol>
                <a:gridCol w="986409">
                  <a:extLst>
                    <a:ext uri="{9D8B030D-6E8A-4147-A177-3AD203B41FA5}">
                      <a16:colId xmlns:a16="http://schemas.microsoft.com/office/drawing/2014/main" val="2579154444"/>
                    </a:ext>
                  </a:extLst>
                </a:gridCol>
              </a:tblGrid>
              <a:tr h="242182">
                <a:tc gridSpan="8">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PSD Calculation</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hMerge="1">
                  <a:txBody>
                    <a:bodyPr/>
                    <a:lstStyle/>
                    <a:p>
                      <a:endParaRPr lang="zh-CN" altLang="en-US" sz="1200" b="1"/>
                    </a:p>
                  </a:txBody>
                  <a:tcPr/>
                </a:tc>
                <a:tc hMerge="1">
                  <a:txBody>
                    <a:bodyPr/>
                    <a:lstStyle/>
                    <a:p>
                      <a:endParaRPr lang="zh-CN" altLang="en-US" sz="1200" dirty="0"/>
                    </a:p>
                  </a:txBody>
                  <a:tcPr/>
                </a:tc>
                <a:tc hMerge="1">
                  <a:txBody>
                    <a:bodyPr/>
                    <a:lstStyle/>
                    <a:p>
                      <a:endParaRPr lang="zh-CN" altLang="en-US"/>
                    </a:p>
                  </a:txBody>
                  <a:tcPr/>
                </a:tc>
                <a:tc hMerge="1">
                  <a:txBody>
                    <a:bodyPr/>
                    <a:lstStyle/>
                    <a:p>
                      <a:endParaRPr lang="zh-CN" altLang="en-US" sz="1200" dirty="0"/>
                    </a:p>
                  </a:txBody>
                  <a:tcPr/>
                </a:tc>
                <a:tc hMerge="1">
                  <a:txBody>
                    <a:bodyPr/>
                    <a:lstStyle/>
                    <a:p>
                      <a:endParaRPr lang="zh-CN" altLang="en-US" sz="1200" dirty="0"/>
                    </a:p>
                  </a:txBody>
                  <a:tcPr/>
                </a:tc>
                <a:tc hMerge="1">
                  <a:txBody>
                    <a:bodyPr/>
                    <a:lstStyle/>
                    <a:p>
                      <a:endParaRPr lang="zh-CN" altLang="en-US"/>
                    </a:p>
                  </a:txBody>
                  <a:tcPr/>
                </a:tc>
                <a:tc hMerge="1">
                  <a:txBody>
                    <a:bodyPr/>
                    <a:lstStyle/>
                    <a:p>
                      <a:endParaRPr lang="zh-CN" altLang="en-US" sz="1200" b="1" dirty="0"/>
                    </a:p>
                  </a:txBody>
                  <a:tcPr/>
                </a:tc>
                <a:tc>
                  <a:txBody>
                    <a:bodyPr/>
                    <a:lstStyle/>
                    <a:p>
                      <a:pPr algn="ctr"/>
                      <a:endParaRPr lang="zh-CN" altLang="en-US" sz="11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566394691"/>
                  </a:ext>
                </a:extLst>
              </a:tr>
              <a:tr h="618909">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Supply Type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Available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Assigned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Available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Netted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PSD(Max Request vs Available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Delivery Date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15273">
                <a:tc>
                  <a:txBody>
                    <a:bodyPr/>
                    <a:lstStyle/>
                    <a:p>
                      <a:r>
                        <a:rPr lang="en-US" altLang="zh-CN" sz="900" b="1" dirty="0">
                          <a:solidFill>
                            <a:schemeClr val="bg1"/>
                          </a:solidFill>
                          <a:latin typeface="Arial" panose="020B0604020202020204" pitchFamily="34" charset="0"/>
                          <a:ea typeface="微软雅黑" panose="020B0503020204020204" pitchFamily="34" charset="-122"/>
                        </a:rPr>
                        <a:t>6.4</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OH</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6.4</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70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6.4</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10</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r h="349818">
                <a:tc>
                  <a:txBody>
                    <a:bodyPr/>
                    <a:lstStyle/>
                    <a:p>
                      <a:r>
                        <a:rPr lang="en-US" altLang="zh-CN" sz="900" b="1" dirty="0">
                          <a:solidFill>
                            <a:schemeClr val="bg1"/>
                          </a:solidFill>
                          <a:latin typeface="Arial" panose="020B0604020202020204" pitchFamily="34" charset="0"/>
                          <a:ea typeface="微软雅黑" panose="020B0503020204020204" pitchFamily="34" charset="-122"/>
                        </a:rPr>
                        <a:t>6.4</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70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SR(WO)</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10</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473027153"/>
                  </a:ext>
                </a:extLst>
              </a:tr>
              <a:tr h="484363">
                <a:tc>
                  <a:txBody>
                    <a:bodyPr/>
                    <a:lstStyle/>
                    <a:p>
                      <a:r>
                        <a:rPr lang="en-US" altLang="zh-CN" sz="900" b="1" dirty="0">
                          <a:solidFill>
                            <a:schemeClr val="bg1"/>
                          </a:solidFill>
                          <a:latin typeface="Arial" panose="020B0604020202020204" pitchFamily="34" charset="0"/>
                          <a:ea typeface="微软雅黑" panose="020B0503020204020204" pitchFamily="34" charset="-122"/>
                        </a:rPr>
                        <a:t>6.4</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6.6</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6.6</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622212733"/>
                  </a:ext>
                </a:extLst>
              </a:tr>
              <a:tr h="484363">
                <a:tc>
                  <a:txBody>
                    <a:bodyPr/>
                    <a:lstStyle/>
                    <a:p>
                      <a:r>
                        <a:rPr lang="en-US" altLang="zh-CN" sz="900" b="1" dirty="0">
                          <a:solidFill>
                            <a:schemeClr val="bg1"/>
                          </a:solidFill>
                          <a:latin typeface="Arial" panose="020B0604020202020204" pitchFamily="34" charset="0"/>
                          <a:ea typeface="微软雅黑" panose="020B0503020204020204" pitchFamily="34" charset="-122"/>
                        </a:rPr>
                        <a:t>6.4</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6.8</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6.8</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p>
                  </a:txBody>
                  <a:tcPr/>
                </a:tc>
                <a:extLst>
                  <a:ext uri="{0D108BD9-81ED-4DB2-BD59-A6C34878D82A}">
                    <a16:rowId xmlns:a16="http://schemas.microsoft.com/office/drawing/2014/main" val="1357289973"/>
                  </a:ext>
                </a:extLst>
              </a:tr>
            </a:tbl>
          </a:graphicData>
        </a:graphic>
      </p:graphicFrame>
      <p:sp>
        <p:nvSpPr>
          <p:cNvPr id="8" name="文本框 7">
            <a:extLst>
              <a:ext uri="{FF2B5EF4-FFF2-40B4-BE49-F238E27FC236}">
                <a16:creationId xmlns:a16="http://schemas.microsoft.com/office/drawing/2014/main" id="{A4CA8FF3-5F82-44BA-34C1-1F7AF0837CBA}"/>
              </a:ext>
            </a:extLst>
          </p:cNvPr>
          <p:cNvSpPr txBox="1"/>
          <p:nvPr/>
        </p:nvSpPr>
        <p:spPr>
          <a:xfrm>
            <a:off x="4399643" y="1886795"/>
            <a:ext cx="2293910" cy="461665"/>
          </a:xfrm>
          <a:prstGeom prst="rect">
            <a:avLst/>
          </a:prstGeom>
          <a:noFill/>
        </p:spPr>
        <p:txBody>
          <a:bodyPr wrap="square" rtlCol="0">
            <a:spAutoFit/>
          </a:bodyPr>
          <a:lstStyle/>
          <a:p>
            <a:r>
              <a:rPr lang="en-US" altLang="zh-CN" sz="1200" b="1" dirty="0">
                <a:latin typeface="Arial" panose="020B0604020202020204" pitchFamily="34" charset="0"/>
                <a:ea typeface="微软雅黑" panose="020B0503020204020204" pitchFamily="34" charset="-122"/>
              </a:rPr>
              <a:t>2. If request date could  be fulfilled </a:t>
            </a:r>
            <a:endParaRPr lang="zh-CN" altLang="en-US" sz="1200" b="1" dirty="0">
              <a:latin typeface="Arial" panose="020B0604020202020204" pitchFamily="34" charset="0"/>
              <a:ea typeface="微软雅黑" panose="020B0503020204020204" pitchFamily="34" charset="-122"/>
            </a:endParaRPr>
          </a:p>
        </p:txBody>
      </p:sp>
      <p:graphicFrame>
        <p:nvGraphicFramePr>
          <p:cNvPr id="9" name="表格 8">
            <a:extLst>
              <a:ext uri="{FF2B5EF4-FFF2-40B4-BE49-F238E27FC236}">
                <a16:creationId xmlns:a16="http://schemas.microsoft.com/office/drawing/2014/main" id="{1AF8C020-5205-6D53-C237-422F3D0238EA}"/>
              </a:ext>
            </a:extLst>
          </p:cNvPr>
          <p:cNvGraphicFramePr>
            <a:graphicFrameLocks noGrp="1"/>
          </p:cNvGraphicFramePr>
          <p:nvPr>
            <p:extLst>
              <p:ext uri="{D42A27DB-BD31-4B8C-83A1-F6EECF244321}">
                <p14:modId xmlns:p14="http://schemas.microsoft.com/office/powerpoint/2010/main" val="559076977"/>
              </p:ext>
            </p:extLst>
          </p:nvPr>
        </p:nvGraphicFramePr>
        <p:xfrm>
          <a:off x="6645403" y="1802784"/>
          <a:ext cx="3687955" cy="798042"/>
        </p:xfrm>
        <a:graphic>
          <a:graphicData uri="http://schemas.openxmlformats.org/drawingml/2006/table">
            <a:tbl>
              <a:tblPr firstRow="1" bandRow="1">
                <a:tableStyleId>{5C22544A-7EE6-4342-B048-85BDC9FD1C3A}</a:tableStyleId>
              </a:tblPr>
              <a:tblGrid>
                <a:gridCol w="825818">
                  <a:extLst>
                    <a:ext uri="{9D8B030D-6E8A-4147-A177-3AD203B41FA5}">
                      <a16:colId xmlns:a16="http://schemas.microsoft.com/office/drawing/2014/main" val="3739084925"/>
                    </a:ext>
                  </a:extLst>
                </a:gridCol>
                <a:gridCol w="1122490">
                  <a:extLst>
                    <a:ext uri="{9D8B030D-6E8A-4147-A177-3AD203B41FA5}">
                      <a16:colId xmlns:a16="http://schemas.microsoft.com/office/drawing/2014/main" val="2015716019"/>
                    </a:ext>
                  </a:extLst>
                </a:gridCol>
                <a:gridCol w="479743">
                  <a:extLst>
                    <a:ext uri="{9D8B030D-6E8A-4147-A177-3AD203B41FA5}">
                      <a16:colId xmlns:a16="http://schemas.microsoft.com/office/drawing/2014/main" val="4883912"/>
                    </a:ext>
                  </a:extLst>
                </a:gridCol>
                <a:gridCol w="1259904">
                  <a:extLst>
                    <a:ext uri="{9D8B030D-6E8A-4147-A177-3AD203B41FA5}">
                      <a16:colId xmlns:a16="http://schemas.microsoft.com/office/drawing/2014/main" val="3755102202"/>
                    </a:ext>
                  </a:extLst>
                </a:gridCol>
              </a:tblGrid>
              <a:tr h="266014">
                <a:tc gridSpan="4">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Demand</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hMerge="1">
                  <a:txBody>
                    <a:bodyPr/>
                    <a:lstStyle/>
                    <a:p>
                      <a:endParaRPr/>
                    </a:p>
                  </a:txBody>
                  <a:tcPr/>
                </a:tc>
                <a:tc hMerge="1">
                  <a:txBody>
                    <a:bodyPr/>
                    <a:lstStyle/>
                    <a:p>
                      <a:endParaRPr lang="zh-CN" altLang="en-US" sz="1200" dirty="0"/>
                    </a:p>
                  </a:txBody>
                  <a:tcPr/>
                </a:tc>
                <a:tc hMerge="1">
                  <a:txBody>
                    <a:bodyPr/>
                    <a:lstStyle/>
                    <a:p>
                      <a:endParaRPr lang="zh-CN" altLang="en-US" sz="1200" dirty="0"/>
                    </a:p>
                  </a:txBody>
                  <a:tcPr/>
                </a:tc>
                <a:extLst>
                  <a:ext uri="{0D108BD9-81ED-4DB2-BD59-A6C34878D82A}">
                    <a16:rowId xmlns:a16="http://schemas.microsoft.com/office/drawing/2014/main" val="4288766675"/>
                  </a:ext>
                </a:extLst>
              </a:tr>
              <a:tr h="266014">
                <a:tc>
                  <a:txBody>
                    <a:bodyPr/>
                    <a:lstStyle/>
                    <a:p>
                      <a:r>
                        <a:rPr lang="en-US" altLang="zh-CN" sz="1100" b="1" dirty="0">
                          <a:solidFill>
                            <a:schemeClr val="bg1"/>
                          </a:solidFill>
                          <a:latin typeface="Arial" panose="020B0604020202020204" pitchFamily="34" charset="0"/>
                          <a:ea typeface="微软雅黑" panose="020B0503020204020204" pitchFamily="34" charset="-122"/>
                        </a:rPr>
                        <a:t>Demand</a:t>
                      </a:r>
                      <a:endParaRPr lang="zh-CN" altLang="en-US" sz="11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100" b="1" dirty="0">
                          <a:solidFill>
                            <a:schemeClr val="bg1"/>
                          </a:solidFill>
                          <a:latin typeface="Arial" panose="020B0604020202020204" pitchFamily="34" charset="0"/>
                          <a:ea typeface="微软雅黑" panose="020B0503020204020204" pitchFamily="34" charset="-122"/>
                        </a:rPr>
                        <a:t>Part</a:t>
                      </a:r>
                      <a:endParaRPr lang="zh-CN" altLang="en-US" sz="11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100" b="1" dirty="0">
                          <a:solidFill>
                            <a:schemeClr val="bg1"/>
                          </a:solidFill>
                          <a:latin typeface="Arial" panose="020B0604020202020204" pitchFamily="34" charset="0"/>
                          <a:ea typeface="微软雅黑" panose="020B0503020204020204" pitchFamily="34" charset="-122"/>
                        </a:rPr>
                        <a:t>Qty</a:t>
                      </a:r>
                      <a:endParaRPr lang="zh-CN" altLang="en-US" sz="11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1100" b="1" dirty="0">
                          <a:solidFill>
                            <a:schemeClr val="bg1"/>
                          </a:solidFill>
                          <a:latin typeface="Arial" panose="020B0604020202020204" pitchFamily="34" charset="0"/>
                          <a:ea typeface="微软雅黑" panose="020B0503020204020204" pitchFamily="34" charset="-122"/>
                        </a:rPr>
                        <a:t>Request Date</a:t>
                      </a:r>
                      <a:endParaRPr lang="zh-CN" altLang="en-US" sz="11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66014">
                <a:tc>
                  <a:txBody>
                    <a:bodyPr/>
                    <a:lstStyle/>
                    <a:p>
                      <a:r>
                        <a:rPr lang="en-US" altLang="zh-CN" sz="1100" b="1" dirty="0">
                          <a:solidFill>
                            <a:schemeClr val="bg1"/>
                          </a:solidFill>
                          <a:latin typeface="Arial" panose="020B0604020202020204" pitchFamily="34" charset="0"/>
                          <a:ea typeface="微软雅黑" panose="020B0503020204020204" pitchFamily="34" charset="-122"/>
                        </a:rPr>
                        <a:t>SO1</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100" b="1">
                          <a:solidFill>
                            <a:schemeClr val="bg1"/>
                          </a:solidFill>
                          <a:latin typeface="Arial" panose="020B0604020202020204" pitchFamily="34" charset="0"/>
                          <a:ea typeface="微软雅黑" panose="020B0503020204020204" pitchFamily="34" charset="-122"/>
                        </a:rPr>
                        <a:t>FG1</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1" dirty="0">
                          <a:solidFill>
                            <a:schemeClr val="bg1"/>
                          </a:solidFill>
                          <a:latin typeface="Arial" panose="020B0604020202020204" pitchFamily="34" charset="0"/>
                          <a:ea typeface="微软雅黑" panose="020B0503020204020204" pitchFamily="34" charset="-122"/>
                        </a:rPr>
                        <a:t>80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1" dirty="0">
                          <a:solidFill>
                            <a:schemeClr val="bg1"/>
                          </a:solidFill>
                          <a:latin typeface="Arial" panose="020B0604020202020204" pitchFamily="34" charset="0"/>
                          <a:ea typeface="微软雅黑" panose="020B0503020204020204" pitchFamily="34" charset="-122"/>
                        </a:rPr>
                        <a:t>6.10</a:t>
                      </a:r>
                      <a:endParaRPr lang="zh-CN" altLang="en-US" sz="11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bl>
          </a:graphicData>
        </a:graphic>
      </p:graphicFrame>
      <p:graphicFrame>
        <p:nvGraphicFramePr>
          <p:cNvPr id="10" name="表格 9">
            <a:extLst>
              <a:ext uri="{FF2B5EF4-FFF2-40B4-BE49-F238E27FC236}">
                <a16:creationId xmlns:a16="http://schemas.microsoft.com/office/drawing/2014/main" id="{A8296846-665E-5E24-5304-DA75D353759C}"/>
              </a:ext>
            </a:extLst>
          </p:cNvPr>
          <p:cNvGraphicFramePr>
            <a:graphicFrameLocks noGrp="1"/>
          </p:cNvGraphicFramePr>
          <p:nvPr>
            <p:extLst>
              <p:ext uri="{D42A27DB-BD31-4B8C-83A1-F6EECF244321}">
                <p14:modId xmlns:p14="http://schemas.microsoft.com/office/powerpoint/2010/main" val="2292528385"/>
              </p:ext>
            </p:extLst>
          </p:nvPr>
        </p:nvGraphicFramePr>
        <p:xfrm>
          <a:off x="6291943" y="3418114"/>
          <a:ext cx="5780312" cy="2636520"/>
        </p:xfrm>
        <a:graphic>
          <a:graphicData uri="http://schemas.openxmlformats.org/drawingml/2006/table">
            <a:tbl>
              <a:tblPr firstRow="1" bandRow="1">
                <a:tableStyleId>{5C22544A-7EE6-4342-B048-85BDC9FD1C3A}</a:tableStyleId>
              </a:tblPr>
              <a:tblGrid>
                <a:gridCol w="606403">
                  <a:extLst>
                    <a:ext uri="{9D8B030D-6E8A-4147-A177-3AD203B41FA5}">
                      <a16:colId xmlns:a16="http://schemas.microsoft.com/office/drawing/2014/main" val="2555319132"/>
                    </a:ext>
                  </a:extLst>
                </a:gridCol>
                <a:gridCol w="568923">
                  <a:extLst>
                    <a:ext uri="{9D8B030D-6E8A-4147-A177-3AD203B41FA5}">
                      <a16:colId xmlns:a16="http://schemas.microsoft.com/office/drawing/2014/main" val="2252723600"/>
                    </a:ext>
                  </a:extLst>
                </a:gridCol>
                <a:gridCol w="552397">
                  <a:extLst>
                    <a:ext uri="{9D8B030D-6E8A-4147-A177-3AD203B41FA5}">
                      <a16:colId xmlns:a16="http://schemas.microsoft.com/office/drawing/2014/main" val="2015716019"/>
                    </a:ext>
                  </a:extLst>
                </a:gridCol>
                <a:gridCol w="379419">
                  <a:extLst>
                    <a:ext uri="{9D8B030D-6E8A-4147-A177-3AD203B41FA5}">
                      <a16:colId xmlns:a16="http://schemas.microsoft.com/office/drawing/2014/main" val="126826503"/>
                    </a:ext>
                  </a:extLst>
                </a:gridCol>
                <a:gridCol w="379419">
                  <a:extLst>
                    <a:ext uri="{9D8B030D-6E8A-4147-A177-3AD203B41FA5}">
                      <a16:colId xmlns:a16="http://schemas.microsoft.com/office/drawing/2014/main" val="4883912"/>
                    </a:ext>
                  </a:extLst>
                </a:gridCol>
                <a:gridCol w="517278">
                  <a:extLst>
                    <a:ext uri="{9D8B030D-6E8A-4147-A177-3AD203B41FA5}">
                      <a16:colId xmlns:a16="http://schemas.microsoft.com/office/drawing/2014/main" val="3755102202"/>
                    </a:ext>
                  </a:extLst>
                </a:gridCol>
                <a:gridCol w="411097">
                  <a:extLst>
                    <a:ext uri="{9D8B030D-6E8A-4147-A177-3AD203B41FA5}">
                      <a16:colId xmlns:a16="http://schemas.microsoft.com/office/drawing/2014/main" val="2658016956"/>
                    </a:ext>
                  </a:extLst>
                </a:gridCol>
                <a:gridCol w="1182688">
                  <a:extLst>
                    <a:ext uri="{9D8B030D-6E8A-4147-A177-3AD203B41FA5}">
                      <a16:colId xmlns:a16="http://schemas.microsoft.com/office/drawing/2014/main" val="372874766"/>
                    </a:ext>
                  </a:extLst>
                </a:gridCol>
                <a:gridCol w="1182688">
                  <a:extLst>
                    <a:ext uri="{9D8B030D-6E8A-4147-A177-3AD203B41FA5}">
                      <a16:colId xmlns:a16="http://schemas.microsoft.com/office/drawing/2014/main" val="2579154444"/>
                    </a:ext>
                  </a:extLst>
                </a:gridCol>
              </a:tblGrid>
              <a:tr h="245301">
                <a:tc gridSpan="8">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PSD Calculation</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hMerge="1">
                  <a:txBody>
                    <a:bodyPr/>
                    <a:lstStyle/>
                    <a:p>
                      <a:endParaRPr lang="zh-CN" altLang="en-US" sz="1200" b="1"/>
                    </a:p>
                  </a:txBody>
                  <a:tcPr/>
                </a:tc>
                <a:tc hMerge="1">
                  <a:txBody>
                    <a:bodyPr/>
                    <a:lstStyle/>
                    <a:p>
                      <a:endParaRPr lang="zh-CN" altLang="en-US" sz="1200" dirty="0"/>
                    </a:p>
                  </a:txBody>
                  <a:tcPr/>
                </a:tc>
                <a:tc hMerge="1">
                  <a:txBody>
                    <a:bodyPr/>
                    <a:lstStyle/>
                    <a:p>
                      <a:endParaRPr lang="zh-CN" altLang="en-US"/>
                    </a:p>
                  </a:txBody>
                  <a:tcPr/>
                </a:tc>
                <a:tc hMerge="1">
                  <a:txBody>
                    <a:bodyPr/>
                    <a:lstStyle/>
                    <a:p>
                      <a:endParaRPr lang="zh-CN" altLang="en-US" sz="1200" dirty="0"/>
                    </a:p>
                  </a:txBody>
                  <a:tcPr/>
                </a:tc>
                <a:tc hMerge="1">
                  <a:txBody>
                    <a:bodyPr/>
                    <a:lstStyle/>
                    <a:p>
                      <a:endParaRPr lang="zh-CN" altLang="en-US" sz="1200" dirty="0"/>
                    </a:p>
                  </a:txBody>
                  <a:tcPr/>
                </a:tc>
                <a:tc hMerge="1">
                  <a:txBody>
                    <a:bodyPr/>
                    <a:lstStyle/>
                    <a:p>
                      <a:endParaRPr lang="zh-CN" altLang="en-US"/>
                    </a:p>
                  </a:txBody>
                  <a:tcPr/>
                </a:tc>
                <a:tc hMerge="1">
                  <a:txBody>
                    <a:bodyPr/>
                    <a:lstStyle/>
                    <a:p>
                      <a:endParaRPr lang="zh-CN" altLang="en-US" sz="1200" b="1" dirty="0"/>
                    </a:p>
                  </a:txBody>
                  <a:tcPr/>
                </a:tc>
                <a:tc>
                  <a:txBody>
                    <a:bodyPr/>
                    <a:lstStyle/>
                    <a:p>
                      <a:pPr algn="ctr"/>
                      <a:endParaRPr lang="zh-CN" altLang="en-US" sz="11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566394691"/>
                  </a:ext>
                </a:extLst>
              </a:tr>
              <a:tr h="776602">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Supply Type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Available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Assigned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Available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Netted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PSD(Max Request vs Available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Delivery Date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OH</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6.4</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70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rowSpan="4">
                  <a:txBody>
                    <a:bodyPr/>
                    <a:lstStyle/>
                    <a:p>
                      <a:r>
                        <a:rPr lang="en-US" altLang="zh-CN" sz="900" b="1" dirty="0">
                          <a:solidFill>
                            <a:schemeClr val="bg1"/>
                          </a:solidFill>
                          <a:latin typeface="Arial" panose="020B0604020202020204" pitchFamily="34" charset="0"/>
                          <a:ea typeface="微软雅黑" panose="020B0503020204020204" pitchFamily="34" charset="-122"/>
                        </a:rPr>
                        <a:t>80</a:t>
                      </a:r>
                    </a:p>
                  </a:txBody>
                  <a:tcPr/>
                </a:tc>
                <a:extLst>
                  <a:ext uri="{0D108BD9-81ED-4DB2-BD59-A6C34878D82A}">
                    <a16:rowId xmlns:a16="http://schemas.microsoft.com/office/drawing/2014/main" val="3778358875"/>
                  </a:ext>
                </a:extLst>
              </a:tr>
              <a:tr h="346307">
                <a:tc>
                  <a:txBody>
                    <a:bodyPr/>
                    <a:lstStyle/>
                    <a:p>
                      <a:r>
                        <a:rPr lang="en-US" altLang="zh-CN" sz="900" b="1" dirty="0">
                          <a:solidFill>
                            <a:schemeClr val="bg1"/>
                          </a:solidFill>
                          <a:latin typeface="Arial" panose="020B0604020202020204" pitchFamily="34" charset="0"/>
                          <a:ea typeface="微软雅黑" panose="020B0503020204020204" pitchFamily="34" charset="-122"/>
                        </a:rPr>
                        <a:t>6.10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70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SR(WO)</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vMerge="1">
                  <a:txBody>
                    <a:bodyPr/>
                    <a:lstStyle/>
                    <a:p>
                      <a:endParaRPr/>
                    </a:p>
                  </a:txBody>
                  <a:tcPr/>
                </a:tc>
                <a:extLst>
                  <a:ext uri="{0D108BD9-81ED-4DB2-BD59-A6C34878D82A}">
                    <a16:rowId xmlns:a16="http://schemas.microsoft.com/office/drawing/2014/main" val="1473027153"/>
                  </a:ext>
                </a:extLst>
              </a:tr>
              <a:tr h="476172">
                <a:tc>
                  <a:txBody>
                    <a:bodyPr/>
                    <a:lstStyle/>
                    <a:p>
                      <a:r>
                        <a:rPr lang="en-US" altLang="zh-CN" sz="900" b="1" dirty="0">
                          <a:solidFill>
                            <a:schemeClr val="bg1"/>
                          </a:solidFill>
                          <a:latin typeface="Arial" panose="020B0604020202020204" pitchFamily="34" charset="0"/>
                          <a:ea typeface="微软雅黑" panose="020B0503020204020204" pitchFamily="34" charset="-122"/>
                        </a:rPr>
                        <a:t>6.10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6.6</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vMerge="1">
                  <a:txBody>
                    <a:bodyPr/>
                    <a:lstStyle/>
                    <a:p>
                      <a:endParaRPr/>
                    </a:p>
                  </a:txBody>
                  <a:tcPr/>
                </a:tc>
                <a:extLst>
                  <a:ext uri="{0D108BD9-81ED-4DB2-BD59-A6C34878D82A}">
                    <a16:rowId xmlns:a16="http://schemas.microsoft.com/office/drawing/2014/main" val="2622212733"/>
                  </a:ext>
                </a:extLst>
              </a:tr>
              <a:tr h="476172">
                <a:tc>
                  <a:txBody>
                    <a:bodyPr/>
                    <a:lstStyle/>
                    <a:p>
                      <a:r>
                        <a:rPr lang="en-US" altLang="zh-CN" sz="900" b="1" dirty="0">
                          <a:solidFill>
                            <a:schemeClr val="bg1"/>
                          </a:solidFill>
                          <a:latin typeface="Arial" panose="020B0604020202020204" pitchFamily="34" charset="0"/>
                          <a:ea typeface="微软雅黑" panose="020B0503020204020204" pitchFamily="34" charset="-122"/>
                        </a:rPr>
                        <a:t>6.10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6.8</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vMerge="1">
                  <a:txBody>
                    <a:bodyPr/>
                    <a:lstStyle/>
                    <a:p>
                      <a:endParaRPr dirty="0"/>
                    </a:p>
                  </a:txBody>
                  <a:tcPr/>
                </a:tc>
                <a:extLst>
                  <a:ext uri="{0D108BD9-81ED-4DB2-BD59-A6C34878D82A}">
                    <a16:rowId xmlns:a16="http://schemas.microsoft.com/office/drawing/2014/main" val="1357289973"/>
                  </a:ext>
                </a:extLst>
              </a:tr>
            </a:tbl>
          </a:graphicData>
        </a:graphic>
      </p:graphicFrame>
    </p:spTree>
    <p:extLst>
      <p:ext uri="{BB962C8B-B14F-4D97-AF65-F5344CB8AC3E}">
        <p14:creationId xmlns:p14="http://schemas.microsoft.com/office/powerpoint/2010/main" val="865517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061C97-AB97-EB8B-8B4F-71025D845011}"/>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E76E5437-5887-7019-8083-3BB8E6FAEFF7}"/>
              </a:ext>
            </a:extLst>
          </p:cNvPr>
          <p:cNvSpPr>
            <a:spLocks noGrp="1"/>
          </p:cNvSpPr>
          <p:nvPr>
            <p:ph type="title"/>
          </p:nvPr>
        </p:nvSpPr>
        <p:spPr>
          <a:xfrm>
            <a:off x="473033" y="171664"/>
            <a:ext cx="10714759" cy="457201"/>
          </a:xfrm>
        </p:spPr>
        <p:txBody>
          <a:bodyPr>
            <a:normAutofit/>
          </a:bodyPr>
          <a:lstStyle/>
          <a:p>
            <a:r>
              <a:rPr lang="zh-CN" altLang="en-US" dirty="0">
                <a:latin typeface="Arial" panose="020B0604020202020204" pitchFamily="34" charset="0"/>
                <a:ea typeface="微软雅黑" panose="020B0503020204020204" pitchFamily="34" charset="-122"/>
              </a:rPr>
              <a:t>推拉结合的计划模型 </a:t>
            </a:r>
            <a:r>
              <a:rPr lang="en-US" altLang="zh-CN" dirty="0">
                <a:latin typeface="Arial" panose="020B0604020202020204" pitchFamily="34" charset="0"/>
                <a:ea typeface="微软雅黑" panose="020B0503020204020204" pitchFamily="34" charset="-122"/>
              </a:rPr>
              <a:t>– Patented Algorithms(cont.)</a:t>
            </a:r>
            <a:endParaRPr lang="zh-CN" altLang="en-US" dirty="0">
              <a:latin typeface="Arial" panose="020B0604020202020204" pitchFamily="34" charset="0"/>
              <a:ea typeface="微软雅黑" panose="020B0503020204020204" pitchFamily="34" charset="-122"/>
            </a:endParaRPr>
          </a:p>
        </p:txBody>
      </p:sp>
      <p:graphicFrame>
        <p:nvGraphicFramePr>
          <p:cNvPr id="6" name="表格 5">
            <a:extLst>
              <a:ext uri="{FF2B5EF4-FFF2-40B4-BE49-F238E27FC236}">
                <a16:creationId xmlns:a16="http://schemas.microsoft.com/office/drawing/2014/main" id="{1F7877F3-E4EF-1259-C133-A670F5D7C16E}"/>
              </a:ext>
            </a:extLst>
          </p:cNvPr>
          <p:cNvGraphicFramePr>
            <a:graphicFrameLocks noGrp="1"/>
          </p:cNvGraphicFramePr>
          <p:nvPr>
            <p:extLst>
              <p:ext uri="{D42A27DB-BD31-4B8C-83A1-F6EECF244321}">
                <p14:modId xmlns:p14="http://schemas.microsoft.com/office/powerpoint/2010/main" val="575043736"/>
              </p:ext>
            </p:extLst>
          </p:nvPr>
        </p:nvGraphicFramePr>
        <p:xfrm>
          <a:off x="647592" y="1072789"/>
          <a:ext cx="3250227" cy="944880"/>
        </p:xfrm>
        <a:graphic>
          <a:graphicData uri="http://schemas.openxmlformats.org/drawingml/2006/table">
            <a:tbl>
              <a:tblPr firstRow="1" bandRow="1">
                <a:tableStyleId>{5C22544A-7EE6-4342-B048-85BDC9FD1C3A}</a:tableStyleId>
              </a:tblPr>
              <a:tblGrid>
                <a:gridCol w="709930">
                  <a:extLst>
                    <a:ext uri="{9D8B030D-6E8A-4147-A177-3AD203B41FA5}">
                      <a16:colId xmlns:a16="http://schemas.microsoft.com/office/drawing/2014/main" val="2555319132"/>
                    </a:ext>
                  </a:extLst>
                </a:gridCol>
                <a:gridCol w="887730">
                  <a:extLst>
                    <a:ext uri="{9D8B030D-6E8A-4147-A177-3AD203B41FA5}">
                      <a16:colId xmlns:a16="http://schemas.microsoft.com/office/drawing/2014/main" val="2252723600"/>
                    </a:ext>
                  </a:extLst>
                </a:gridCol>
                <a:gridCol w="1002030">
                  <a:extLst>
                    <a:ext uri="{9D8B030D-6E8A-4147-A177-3AD203B41FA5}">
                      <a16:colId xmlns:a16="http://schemas.microsoft.com/office/drawing/2014/main" val="2015716019"/>
                    </a:ext>
                  </a:extLst>
                </a:gridCol>
                <a:gridCol w="650537">
                  <a:extLst>
                    <a:ext uri="{9D8B030D-6E8A-4147-A177-3AD203B41FA5}">
                      <a16:colId xmlns:a16="http://schemas.microsoft.com/office/drawing/2014/main" val="968652220"/>
                    </a:ext>
                  </a:extLst>
                </a:gridCol>
              </a:tblGrid>
              <a:tr h="245301">
                <a:tc gridSpan="4">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Planned Order Header</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hMerge="1">
                  <a:txBody>
                    <a:bodyPr/>
                    <a:lstStyle/>
                    <a:p>
                      <a:endParaRPr lang="zh-CN" altLang="en-US" sz="1200" b="1"/>
                    </a:p>
                  </a:txBody>
                  <a:tcPr/>
                </a:tc>
                <a:tc hMerge="1">
                  <a:txBody>
                    <a:bodyPr/>
                    <a:lstStyle/>
                    <a:p>
                      <a:endParaRPr lang="zh-CN" altLang="en-US" sz="1200" dirty="0"/>
                    </a:p>
                  </a:txBody>
                  <a:tcPr/>
                </a:tc>
                <a:tc hMerge="1">
                  <a:txBody>
                    <a:bodyPr/>
                    <a:lstStyle/>
                    <a:p>
                      <a:pPr algn="ctr"/>
                      <a:endParaRPr lang="zh-CN" altLang="en-US" sz="1100" b="1" dirty="0"/>
                    </a:p>
                  </a:txBody>
                  <a:tcPr/>
                </a:tc>
                <a:extLst>
                  <a:ext uri="{0D108BD9-81ED-4DB2-BD59-A6C34878D82A}">
                    <a16:rowId xmlns:a16="http://schemas.microsoft.com/office/drawing/2014/main" val="3566394691"/>
                  </a:ext>
                </a:extLst>
              </a:tr>
              <a:tr h="213902">
                <a:tc>
                  <a:txBody>
                    <a:bodyPr/>
                    <a:lstStyle/>
                    <a:p>
                      <a:r>
                        <a:rPr lang="en-US" altLang="zh-CN" sz="900" b="1" dirty="0">
                          <a:solidFill>
                            <a:schemeClr val="bg1"/>
                          </a:solidFill>
                          <a:latin typeface="Arial" panose="020B0604020202020204" pitchFamily="34" charset="0"/>
                          <a:ea typeface="微软雅黑" panose="020B0503020204020204" pitchFamily="34" charset="-122"/>
                        </a:rPr>
                        <a:t>Due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Part</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6.8</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FG1</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6.6</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PL02</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FG1</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796012435"/>
                  </a:ext>
                </a:extLst>
              </a:tr>
            </a:tbl>
          </a:graphicData>
        </a:graphic>
      </p:graphicFrame>
      <p:graphicFrame>
        <p:nvGraphicFramePr>
          <p:cNvPr id="11" name="表格 10">
            <a:extLst>
              <a:ext uri="{FF2B5EF4-FFF2-40B4-BE49-F238E27FC236}">
                <a16:creationId xmlns:a16="http://schemas.microsoft.com/office/drawing/2014/main" id="{C1435311-2534-FCC5-C73C-11406806C36F}"/>
              </a:ext>
            </a:extLst>
          </p:cNvPr>
          <p:cNvGraphicFramePr>
            <a:graphicFrameLocks noGrp="1"/>
          </p:cNvGraphicFramePr>
          <p:nvPr>
            <p:extLst>
              <p:ext uri="{D42A27DB-BD31-4B8C-83A1-F6EECF244321}">
                <p14:modId xmlns:p14="http://schemas.microsoft.com/office/powerpoint/2010/main" val="1432970927"/>
              </p:ext>
            </p:extLst>
          </p:nvPr>
        </p:nvGraphicFramePr>
        <p:xfrm>
          <a:off x="4662380" y="1072789"/>
          <a:ext cx="3378815" cy="957397"/>
        </p:xfrm>
        <a:graphic>
          <a:graphicData uri="http://schemas.openxmlformats.org/drawingml/2006/table">
            <a:tbl>
              <a:tblPr firstRow="1" bandRow="1">
                <a:tableStyleId>{5C22544A-7EE6-4342-B048-85BDC9FD1C3A}</a:tableStyleId>
              </a:tblPr>
              <a:tblGrid>
                <a:gridCol w="838518">
                  <a:extLst>
                    <a:ext uri="{9D8B030D-6E8A-4147-A177-3AD203B41FA5}">
                      <a16:colId xmlns:a16="http://schemas.microsoft.com/office/drawing/2014/main" val="2555319132"/>
                    </a:ext>
                  </a:extLst>
                </a:gridCol>
                <a:gridCol w="887730">
                  <a:extLst>
                    <a:ext uri="{9D8B030D-6E8A-4147-A177-3AD203B41FA5}">
                      <a16:colId xmlns:a16="http://schemas.microsoft.com/office/drawing/2014/main" val="2252723600"/>
                    </a:ext>
                  </a:extLst>
                </a:gridCol>
                <a:gridCol w="1002030">
                  <a:extLst>
                    <a:ext uri="{9D8B030D-6E8A-4147-A177-3AD203B41FA5}">
                      <a16:colId xmlns:a16="http://schemas.microsoft.com/office/drawing/2014/main" val="2015716019"/>
                    </a:ext>
                  </a:extLst>
                </a:gridCol>
                <a:gridCol w="650537">
                  <a:extLst>
                    <a:ext uri="{9D8B030D-6E8A-4147-A177-3AD203B41FA5}">
                      <a16:colId xmlns:a16="http://schemas.microsoft.com/office/drawing/2014/main" val="968652220"/>
                    </a:ext>
                  </a:extLst>
                </a:gridCol>
              </a:tblGrid>
              <a:tr h="0">
                <a:tc gridSpan="4">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Planned Allocation</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hMerge="1">
                  <a:txBody>
                    <a:bodyPr/>
                    <a:lstStyle/>
                    <a:p>
                      <a:endParaRPr lang="zh-CN" altLang="en-US" sz="1200" b="1"/>
                    </a:p>
                  </a:txBody>
                  <a:tcPr/>
                </a:tc>
                <a:tc hMerge="1">
                  <a:txBody>
                    <a:bodyPr/>
                    <a:lstStyle/>
                    <a:p>
                      <a:endParaRPr lang="zh-CN" altLang="en-US" sz="1200" dirty="0"/>
                    </a:p>
                  </a:txBody>
                  <a:tcPr/>
                </a:tc>
                <a:tc hMerge="1">
                  <a:txBody>
                    <a:bodyPr/>
                    <a:lstStyle/>
                    <a:p>
                      <a:pPr algn="ctr"/>
                      <a:endParaRPr lang="zh-CN" altLang="en-US" sz="1100" b="1" dirty="0"/>
                    </a:p>
                  </a:txBody>
                  <a:tcPr/>
                </a:tc>
                <a:extLst>
                  <a:ext uri="{0D108BD9-81ED-4DB2-BD59-A6C34878D82A}">
                    <a16:rowId xmlns:a16="http://schemas.microsoft.com/office/drawing/2014/main" val="3566394691"/>
                  </a:ext>
                </a:extLst>
              </a:tr>
              <a:tr h="241117">
                <a:tc>
                  <a:txBody>
                    <a:bodyPr/>
                    <a:lstStyle/>
                    <a:p>
                      <a:r>
                        <a:rPr lang="en-US" altLang="zh-CN" sz="900" b="1" dirty="0">
                          <a:solidFill>
                            <a:schemeClr val="bg1"/>
                          </a:solidFill>
                          <a:latin typeface="Arial" panose="020B0604020202020204" pitchFamily="34" charset="0"/>
                          <a:ea typeface="微软雅黑" panose="020B0503020204020204" pitchFamily="34" charset="-122"/>
                        </a:rPr>
                        <a:t>Due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Part</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6.8-1=6.7</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B</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r h="216442">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900" b="1" dirty="0">
                          <a:solidFill>
                            <a:schemeClr val="bg1"/>
                          </a:solidFill>
                          <a:latin typeface="Arial" panose="020B0604020202020204" pitchFamily="34" charset="0"/>
                          <a:ea typeface="微软雅黑" panose="020B0503020204020204" pitchFamily="34" charset="-122"/>
                        </a:rPr>
                        <a:t>6.8-1=6.7</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296416447"/>
                  </a:ext>
                </a:extLst>
              </a:tr>
            </a:tbl>
          </a:graphicData>
        </a:graphic>
      </p:graphicFrame>
      <p:graphicFrame>
        <p:nvGraphicFramePr>
          <p:cNvPr id="12" name="表格 11">
            <a:extLst>
              <a:ext uri="{FF2B5EF4-FFF2-40B4-BE49-F238E27FC236}">
                <a16:creationId xmlns:a16="http://schemas.microsoft.com/office/drawing/2014/main" id="{1DA54CCE-BA2E-4952-C7B1-5D27F1F17891}"/>
              </a:ext>
            </a:extLst>
          </p:cNvPr>
          <p:cNvGraphicFramePr>
            <a:graphicFrameLocks noGrp="1"/>
          </p:cNvGraphicFramePr>
          <p:nvPr>
            <p:extLst>
              <p:ext uri="{D42A27DB-BD31-4B8C-83A1-F6EECF244321}">
                <p14:modId xmlns:p14="http://schemas.microsoft.com/office/powerpoint/2010/main" val="2545678118"/>
              </p:ext>
            </p:extLst>
          </p:nvPr>
        </p:nvGraphicFramePr>
        <p:xfrm>
          <a:off x="647592" y="2206018"/>
          <a:ext cx="7517735" cy="1539240"/>
        </p:xfrm>
        <a:graphic>
          <a:graphicData uri="http://schemas.openxmlformats.org/drawingml/2006/table">
            <a:tbl>
              <a:tblPr firstRow="1" bandRow="1">
                <a:tableStyleId>{5C22544A-7EE6-4342-B048-85BDC9FD1C3A}</a:tableStyleId>
              </a:tblPr>
              <a:tblGrid>
                <a:gridCol w="590269">
                  <a:extLst>
                    <a:ext uri="{9D8B030D-6E8A-4147-A177-3AD203B41FA5}">
                      <a16:colId xmlns:a16="http://schemas.microsoft.com/office/drawing/2014/main" val="2555319132"/>
                    </a:ext>
                  </a:extLst>
                </a:gridCol>
                <a:gridCol w="738101">
                  <a:extLst>
                    <a:ext uri="{9D8B030D-6E8A-4147-A177-3AD203B41FA5}">
                      <a16:colId xmlns:a16="http://schemas.microsoft.com/office/drawing/2014/main" val="2252723600"/>
                    </a:ext>
                  </a:extLst>
                </a:gridCol>
                <a:gridCol w="988488">
                  <a:extLst>
                    <a:ext uri="{9D8B030D-6E8A-4147-A177-3AD203B41FA5}">
                      <a16:colId xmlns:a16="http://schemas.microsoft.com/office/drawing/2014/main" val="2015716019"/>
                    </a:ext>
                  </a:extLst>
                </a:gridCol>
                <a:gridCol w="363243">
                  <a:extLst>
                    <a:ext uri="{9D8B030D-6E8A-4147-A177-3AD203B41FA5}">
                      <a16:colId xmlns:a16="http://schemas.microsoft.com/office/drawing/2014/main" val="968652220"/>
                    </a:ext>
                  </a:extLst>
                </a:gridCol>
                <a:gridCol w="827855">
                  <a:extLst>
                    <a:ext uri="{9D8B030D-6E8A-4147-A177-3AD203B41FA5}">
                      <a16:colId xmlns:a16="http://schemas.microsoft.com/office/drawing/2014/main" val="3738065007"/>
                    </a:ext>
                  </a:extLst>
                </a:gridCol>
                <a:gridCol w="780337">
                  <a:extLst>
                    <a:ext uri="{9D8B030D-6E8A-4147-A177-3AD203B41FA5}">
                      <a16:colId xmlns:a16="http://schemas.microsoft.com/office/drawing/2014/main" val="2821112010"/>
                    </a:ext>
                  </a:extLst>
                </a:gridCol>
                <a:gridCol w="790897">
                  <a:extLst>
                    <a:ext uri="{9D8B030D-6E8A-4147-A177-3AD203B41FA5}">
                      <a16:colId xmlns:a16="http://schemas.microsoft.com/office/drawing/2014/main" val="591860406"/>
                    </a:ext>
                  </a:extLst>
                </a:gridCol>
                <a:gridCol w="699919">
                  <a:extLst>
                    <a:ext uri="{9D8B030D-6E8A-4147-A177-3AD203B41FA5}">
                      <a16:colId xmlns:a16="http://schemas.microsoft.com/office/drawing/2014/main" val="1836992881"/>
                    </a:ext>
                  </a:extLst>
                </a:gridCol>
                <a:gridCol w="869313">
                  <a:extLst>
                    <a:ext uri="{9D8B030D-6E8A-4147-A177-3AD203B41FA5}">
                      <a16:colId xmlns:a16="http://schemas.microsoft.com/office/drawing/2014/main" val="3719387610"/>
                    </a:ext>
                  </a:extLst>
                </a:gridCol>
                <a:gridCol w="869313">
                  <a:extLst>
                    <a:ext uri="{9D8B030D-6E8A-4147-A177-3AD203B41FA5}">
                      <a16:colId xmlns:a16="http://schemas.microsoft.com/office/drawing/2014/main" val="3771949066"/>
                    </a:ext>
                  </a:extLst>
                </a:gridCol>
              </a:tblGrid>
              <a:tr h="0">
                <a:tc gridSpan="10">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Planned Allocation(Supply </a:t>
                      </a:r>
                      <a:r>
                        <a:rPr lang="zh-CN" altLang="en-US" sz="1100" b="1" dirty="0">
                          <a:solidFill>
                            <a:schemeClr val="bg1"/>
                          </a:solidFill>
                          <a:latin typeface="Arial" panose="020B0604020202020204" pitchFamily="34" charset="0"/>
                          <a:ea typeface="微软雅黑" panose="020B0503020204020204" pitchFamily="34" charset="-122"/>
                        </a:rPr>
                        <a:t>按</a:t>
                      </a:r>
                      <a:r>
                        <a:rPr lang="en-US" altLang="zh-CN" sz="1100" b="1" dirty="0">
                          <a:solidFill>
                            <a:schemeClr val="bg1"/>
                          </a:solidFill>
                          <a:latin typeface="Arial" panose="020B0604020202020204" pitchFamily="34" charset="0"/>
                          <a:ea typeface="微软雅黑" panose="020B0503020204020204" pitchFamily="34" charset="-122"/>
                        </a:rPr>
                        <a:t>available date &lt;=Due date</a:t>
                      </a:r>
                      <a:r>
                        <a:rPr lang="zh-CN" altLang="en-US" sz="1100" b="1" dirty="0">
                          <a:solidFill>
                            <a:schemeClr val="bg1"/>
                          </a:solidFill>
                          <a:latin typeface="Arial" panose="020B0604020202020204" pitchFamily="34" charset="0"/>
                          <a:ea typeface="微软雅黑" panose="020B0503020204020204" pitchFamily="34" charset="-122"/>
                        </a:rPr>
                        <a:t>倒排序）</a:t>
                      </a:r>
                    </a:p>
                  </a:txBody>
                  <a:tcPr/>
                </a:tc>
                <a:tc hMerge="1">
                  <a:txBody>
                    <a:bodyPr/>
                    <a:lstStyle/>
                    <a:p>
                      <a:endParaRPr lang="zh-CN" altLang="en-US" sz="1200" b="1"/>
                    </a:p>
                  </a:txBody>
                  <a:tcPr/>
                </a:tc>
                <a:tc hMerge="1">
                  <a:txBody>
                    <a:bodyPr/>
                    <a:lstStyle/>
                    <a:p>
                      <a:endParaRPr lang="zh-CN" altLang="en-US" sz="1200" dirty="0"/>
                    </a:p>
                  </a:txBody>
                  <a:tcPr/>
                </a:tc>
                <a:tc hMerge="1">
                  <a:txBody>
                    <a:bodyPr/>
                    <a:lstStyle/>
                    <a:p>
                      <a:pPr algn="ctr"/>
                      <a:endParaRPr lang="zh-CN" altLang="en-US" sz="1100" b="1" dirty="0"/>
                    </a:p>
                  </a:txBody>
                  <a:tcPr/>
                </a:tc>
                <a:tc hMerge="1">
                  <a:txBody>
                    <a:bodyPr/>
                    <a:lstStyle/>
                    <a:p>
                      <a:pPr algn="ctr"/>
                      <a:endParaRPr lang="zh-CN" altLang="en-US" sz="1100" b="1" dirty="0"/>
                    </a:p>
                  </a:txBody>
                  <a:tcPr/>
                </a:tc>
                <a:tc hMerge="1">
                  <a:txBody>
                    <a:bodyPr/>
                    <a:lstStyle/>
                    <a:p>
                      <a:pPr algn="ctr"/>
                      <a:endParaRPr lang="zh-CN" altLang="en-US" sz="1100" b="1" dirty="0"/>
                    </a:p>
                  </a:txBody>
                  <a:tcPr/>
                </a:tc>
                <a:tc hMerge="1">
                  <a:txBody>
                    <a:bodyPr/>
                    <a:lstStyle/>
                    <a:p>
                      <a:pPr algn="ctr"/>
                      <a:endParaRPr lang="zh-CN" altLang="en-US" sz="1100" b="1" dirty="0"/>
                    </a:p>
                  </a:txBody>
                  <a:tcPr/>
                </a:tc>
                <a:tc hMerge="1">
                  <a:txBody>
                    <a:bodyPr/>
                    <a:lstStyle/>
                    <a:p>
                      <a:pPr algn="ctr"/>
                      <a:endParaRPr lang="zh-CN" altLang="en-US" sz="1100" b="1" dirty="0"/>
                    </a:p>
                  </a:txBody>
                  <a:tcPr/>
                </a:tc>
                <a:tc hMerge="1">
                  <a:txBody>
                    <a:bodyPr/>
                    <a:lstStyle/>
                    <a:p>
                      <a:pPr algn="ctr"/>
                      <a:endParaRPr lang="zh-CN" altLang="en-US" sz="1100" b="1" dirty="0"/>
                    </a:p>
                  </a:txBody>
                  <a:tcPr/>
                </a:tc>
                <a:tc hMerge="1">
                  <a:txBody>
                    <a:bodyPr/>
                    <a:lstStyle/>
                    <a:p>
                      <a:pPr algn="ctr"/>
                      <a:endParaRPr lang="zh-CN" altLang="en-US" sz="1100" b="1" dirty="0"/>
                    </a:p>
                  </a:txBody>
                  <a:tcPr/>
                </a:tc>
                <a:extLst>
                  <a:ext uri="{0D108BD9-81ED-4DB2-BD59-A6C34878D82A}">
                    <a16:rowId xmlns:a16="http://schemas.microsoft.com/office/drawing/2014/main" val="3566394691"/>
                  </a:ext>
                </a:extLst>
              </a:tr>
              <a:tr h="240002">
                <a:tc>
                  <a:txBody>
                    <a:bodyPr/>
                    <a:lstStyle/>
                    <a:p>
                      <a:r>
                        <a:rPr lang="en-US" altLang="zh-CN" sz="900" b="1" dirty="0">
                          <a:solidFill>
                            <a:schemeClr val="bg1"/>
                          </a:solidFill>
                          <a:latin typeface="Arial" panose="020B0604020202020204" pitchFamily="34" charset="0"/>
                          <a:ea typeface="微软雅黑" panose="020B0503020204020204" pitchFamily="34" charset="-122"/>
                        </a:rPr>
                        <a:t>Due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Part</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Available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Available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Assigned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Netted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Remained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Supply Type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6.7</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B</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6.7</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SR</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6.7</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B</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SR</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4008261002"/>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6.7</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40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SR</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296416447"/>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6.7</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6.4</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50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50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OH</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541986919"/>
                  </a:ext>
                </a:extLst>
              </a:tr>
            </a:tbl>
          </a:graphicData>
        </a:graphic>
      </p:graphicFrame>
      <p:sp>
        <p:nvSpPr>
          <p:cNvPr id="13" name="文本框 12">
            <a:extLst>
              <a:ext uri="{FF2B5EF4-FFF2-40B4-BE49-F238E27FC236}">
                <a16:creationId xmlns:a16="http://schemas.microsoft.com/office/drawing/2014/main" id="{CF885B23-4FA0-8B33-2147-A91915DA65CD}"/>
              </a:ext>
            </a:extLst>
          </p:cNvPr>
          <p:cNvSpPr txBox="1"/>
          <p:nvPr/>
        </p:nvSpPr>
        <p:spPr>
          <a:xfrm>
            <a:off x="8150052" y="1076741"/>
            <a:ext cx="3695700" cy="1015663"/>
          </a:xfrm>
          <a:prstGeom prst="rect">
            <a:avLst/>
          </a:prstGeom>
          <a:noFill/>
        </p:spPr>
        <p:txBody>
          <a:bodyPr wrap="square" rtlCol="0">
            <a:spAutoFit/>
          </a:bodyPr>
          <a:lstStyle/>
          <a:p>
            <a:pPr marL="285750" indent="-285750">
              <a:buFont typeface="Arial" panose="020B0604020202020204" pitchFamily="34" charset="0"/>
              <a:buChar char="•"/>
            </a:pPr>
            <a:r>
              <a:rPr lang="zh-CN" altLang="en-US" sz="1200" b="1" dirty="0">
                <a:latin typeface="Arial" panose="020B0604020202020204" pitchFamily="34" charset="0"/>
                <a:ea typeface="微软雅黑" panose="020B0503020204020204" pitchFamily="34" charset="-122"/>
              </a:rPr>
              <a:t>如果需求日期不能满足的，上一步的分配已经决定了现有供应（</a:t>
            </a:r>
            <a:r>
              <a:rPr lang="en-US" altLang="zh-CN" sz="1200" b="1" dirty="0">
                <a:latin typeface="Arial" panose="020B0604020202020204" pitchFamily="34" charset="0"/>
                <a:ea typeface="微软雅黑" panose="020B0503020204020204" pitchFamily="34" charset="-122"/>
              </a:rPr>
              <a:t>OH,SR)</a:t>
            </a:r>
            <a:r>
              <a:rPr lang="zh-CN" altLang="en-US" sz="1200" b="1" dirty="0">
                <a:latin typeface="Arial" panose="020B0604020202020204" pitchFamily="34" charset="0"/>
                <a:ea typeface="微软雅黑" panose="020B0503020204020204" pitchFamily="34" charset="-122"/>
              </a:rPr>
              <a:t>的分配以及</a:t>
            </a:r>
            <a:r>
              <a:rPr lang="en-US" altLang="zh-CN" sz="1200" b="1" dirty="0">
                <a:latin typeface="Arial" panose="020B0604020202020204" pitchFamily="34" charset="0"/>
                <a:ea typeface="微软雅黑" panose="020B0503020204020204" pitchFamily="34" charset="-122"/>
              </a:rPr>
              <a:t>Planned Order</a:t>
            </a:r>
            <a:r>
              <a:rPr lang="zh-CN" altLang="en-US" sz="1200" b="1" dirty="0">
                <a:latin typeface="Arial" panose="020B0604020202020204" pitchFamily="34" charset="0"/>
                <a:ea typeface="微软雅黑" panose="020B0503020204020204" pitchFamily="34" charset="-122"/>
              </a:rPr>
              <a:t>产生几个，</a:t>
            </a:r>
            <a:r>
              <a:rPr lang="en-US" altLang="zh-CN" sz="1200" b="1" dirty="0">
                <a:latin typeface="Arial" panose="020B0604020202020204" pitchFamily="34" charset="0"/>
                <a:ea typeface="微软雅黑" panose="020B0503020204020204" pitchFamily="34" charset="-122"/>
              </a:rPr>
              <a:t>Due Date</a:t>
            </a:r>
            <a:r>
              <a:rPr lang="zh-CN" altLang="en-US" sz="1200" b="1" dirty="0">
                <a:latin typeface="Arial" panose="020B0604020202020204" pitchFamily="34" charset="0"/>
                <a:ea typeface="微软雅黑" panose="020B0503020204020204" pitchFamily="34" charset="-122"/>
              </a:rPr>
              <a:t>分别为哪天。</a:t>
            </a:r>
            <a:endParaRPr lang="en-US" altLang="zh-CN" sz="1200" b="1" dirty="0">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r>
              <a:rPr lang="zh-CN" altLang="en-US" sz="1200" b="1" dirty="0">
                <a:latin typeface="Arial" panose="020B0604020202020204" pitchFamily="34" charset="0"/>
                <a:ea typeface="微软雅黑" panose="020B0503020204020204" pitchFamily="34" charset="-122"/>
              </a:rPr>
              <a:t>然后我们</a:t>
            </a:r>
            <a:r>
              <a:rPr lang="en-US" altLang="zh-CN" sz="1200" b="1" dirty="0">
                <a:latin typeface="Arial" panose="020B0604020202020204" pitchFamily="34" charset="0"/>
                <a:ea typeface="微软雅黑" panose="020B0503020204020204" pitchFamily="34" charset="-122"/>
              </a:rPr>
              <a:t>by Due Date</a:t>
            </a:r>
            <a:r>
              <a:rPr lang="zh-CN" altLang="en-US" sz="1200" b="1" dirty="0">
                <a:latin typeface="Arial" panose="020B0604020202020204" pitchFamily="34" charset="0"/>
                <a:ea typeface="微软雅黑" panose="020B0503020204020204" pitchFamily="34" charset="-122"/>
              </a:rPr>
              <a:t>到排序，一个一个</a:t>
            </a:r>
            <a:r>
              <a:rPr lang="en-US" altLang="zh-CN" sz="1200" b="1" dirty="0">
                <a:latin typeface="Arial" panose="020B0604020202020204" pitchFamily="34" charset="0"/>
                <a:ea typeface="微软雅黑" panose="020B0503020204020204" pitchFamily="34" charset="-122"/>
              </a:rPr>
              <a:t>Planned Order</a:t>
            </a:r>
            <a:r>
              <a:rPr lang="zh-CN" altLang="en-US" sz="1200" b="1" dirty="0">
                <a:latin typeface="Arial" panose="020B0604020202020204" pitchFamily="34" charset="0"/>
                <a:ea typeface="微软雅黑" panose="020B0503020204020204" pitchFamily="34" charset="-122"/>
              </a:rPr>
              <a:t>确定其资源分配。</a:t>
            </a:r>
          </a:p>
        </p:txBody>
      </p:sp>
      <p:graphicFrame>
        <p:nvGraphicFramePr>
          <p:cNvPr id="14" name="表格 13">
            <a:extLst>
              <a:ext uri="{FF2B5EF4-FFF2-40B4-BE49-F238E27FC236}">
                <a16:creationId xmlns:a16="http://schemas.microsoft.com/office/drawing/2014/main" id="{4D467058-E89F-82E0-B90F-13652A645889}"/>
              </a:ext>
            </a:extLst>
          </p:cNvPr>
          <p:cNvGraphicFramePr>
            <a:graphicFrameLocks noGrp="1"/>
          </p:cNvGraphicFramePr>
          <p:nvPr>
            <p:extLst>
              <p:ext uri="{D42A27DB-BD31-4B8C-83A1-F6EECF244321}">
                <p14:modId xmlns:p14="http://schemas.microsoft.com/office/powerpoint/2010/main" val="3611137768"/>
              </p:ext>
            </p:extLst>
          </p:nvPr>
        </p:nvGraphicFramePr>
        <p:xfrm>
          <a:off x="661179" y="5027924"/>
          <a:ext cx="8591550" cy="1184882"/>
        </p:xfrm>
        <a:graphic>
          <a:graphicData uri="http://schemas.openxmlformats.org/drawingml/2006/table">
            <a:tbl>
              <a:tblPr firstRow="1" bandRow="1">
                <a:tableStyleId>{5C22544A-7EE6-4342-B048-85BDC9FD1C3A}</a:tableStyleId>
              </a:tblPr>
              <a:tblGrid>
                <a:gridCol w="709930">
                  <a:extLst>
                    <a:ext uri="{9D8B030D-6E8A-4147-A177-3AD203B41FA5}">
                      <a16:colId xmlns:a16="http://schemas.microsoft.com/office/drawing/2014/main" val="2555319132"/>
                    </a:ext>
                  </a:extLst>
                </a:gridCol>
                <a:gridCol w="887730">
                  <a:extLst>
                    <a:ext uri="{9D8B030D-6E8A-4147-A177-3AD203B41FA5}">
                      <a16:colId xmlns:a16="http://schemas.microsoft.com/office/drawing/2014/main" val="2252723600"/>
                    </a:ext>
                  </a:extLst>
                </a:gridCol>
                <a:gridCol w="1002030">
                  <a:extLst>
                    <a:ext uri="{9D8B030D-6E8A-4147-A177-3AD203B41FA5}">
                      <a16:colId xmlns:a16="http://schemas.microsoft.com/office/drawing/2014/main" val="2015716019"/>
                    </a:ext>
                  </a:extLst>
                </a:gridCol>
                <a:gridCol w="436880">
                  <a:extLst>
                    <a:ext uri="{9D8B030D-6E8A-4147-A177-3AD203B41FA5}">
                      <a16:colId xmlns:a16="http://schemas.microsoft.com/office/drawing/2014/main" val="968652220"/>
                    </a:ext>
                  </a:extLst>
                </a:gridCol>
                <a:gridCol w="995680">
                  <a:extLst>
                    <a:ext uri="{9D8B030D-6E8A-4147-A177-3AD203B41FA5}">
                      <a16:colId xmlns:a16="http://schemas.microsoft.com/office/drawing/2014/main" val="3738065007"/>
                    </a:ext>
                  </a:extLst>
                </a:gridCol>
                <a:gridCol w="938530">
                  <a:extLst>
                    <a:ext uri="{9D8B030D-6E8A-4147-A177-3AD203B41FA5}">
                      <a16:colId xmlns:a16="http://schemas.microsoft.com/office/drawing/2014/main" val="2821112010"/>
                    </a:ext>
                  </a:extLst>
                </a:gridCol>
                <a:gridCol w="951230">
                  <a:extLst>
                    <a:ext uri="{9D8B030D-6E8A-4147-A177-3AD203B41FA5}">
                      <a16:colId xmlns:a16="http://schemas.microsoft.com/office/drawing/2014/main" val="591860406"/>
                    </a:ext>
                  </a:extLst>
                </a:gridCol>
                <a:gridCol w="792480">
                  <a:extLst>
                    <a:ext uri="{9D8B030D-6E8A-4147-A177-3AD203B41FA5}">
                      <a16:colId xmlns:a16="http://schemas.microsoft.com/office/drawing/2014/main" val="1836992881"/>
                    </a:ext>
                  </a:extLst>
                </a:gridCol>
                <a:gridCol w="982980">
                  <a:extLst>
                    <a:ext uri="{9D8B030D-6E8A-4147-A177-3AD203B41FA5}">
                      <a16:colId xmlns:a16="http://schemas.microsoft.com/office/drawing/2014/main" val="1805148646"/>
                    </a:ext>
                  </a:extLst>
                </a:gridCol>
                <a:gridCol w="894080">
                  <a:extLst>
                    <a:ext uri="{9D8B030D-6E8A-4147-A177-3AD203B41FA5}">
                      <a16:colId xmlns:a16="http://schemas.microsoft.com/office/drawing/2014/main" val="1938644201"/>
                    </a:ext>
                  </a:extLst>
                </a:gridCol>
              </a:tblGrid>
              <a:tr h="0">
                <a:tc gridSpan="7">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Planned Allocation(Supply </a:t>
                      </a:r>
                      <a:r>
                        <a:rPr lang="zh-CN" altLang="en-US" sz="1100" b="1" dirty="0">
                          <a:solidFill>
                            <a:schemeClr val="bg1"/>
                          </a:solidFill>
                          <a:latin typeface="Arial" panose="020B0604020202020204" pitchFamily="34" charset="0"/>
                          <a:ea typeface="微软雅黑" panose="020B0503020204020204" pitchFamily="34" charset="-122"/>
                        </a:rPr>
                        <a:t>按</a:t>
                      </a:r>
                      <a:r>
                        <a:rPr lang="en-US" altLang="zh-CN" sz="1100" b="1" dirty="0">
                          <a:solidFill>
                            <a:schemeClr val="bg1"/>
                          </a:solidFill>
                          <a:latin typeface="Arial" panose="020B0604020202020204" pitchFamily="34" charset="0"/>
                          <a:ea typeface="微软雅黑" panose="020B0503020204020204" pitchFamily="34" charset="-122"/>
                        </a:rPr>
                        <a:t>available date &lt;=Due date</a:t>
                      </a:r>
                      <a:r>
                        <a:rPr lang="zh-CN" altLang="en-US" sz="1100" b="1" dirty="0">
                          <a:solidFill>
                            <a:schemeClr val="bg1"/>
                          </a:solidFill>
                          <a:latin typeface="Arial" panose="020B0604020202020204" pitchFamily="34" charset="0"/>
                          <a:ea typeface="微软雅黑" panose="020B0503020204020204" pitchFamily="34" charset="-122"/>
                        </a:rPr>
                        <a:t>倒排序）</a:t>
                      </a:r>
                    </a:p>
                  </a:txBody>
                  <a:tcPr/>
                </a:tc>
                <a:tc hMerge="1">
                  <a:txBody>
                    <a:bodyPr/>
                    <a:lstStyle/>
                    <a:p>
                      <a:endParaRPr lang="zh-CN" altLang="en-US" sz="1200" b="1"/>
                    </a:p>
                  </a:txBody>
                  <a:tcPr/>
                </a:tc>
                <a:tc hMerge="1">
                  <a:txBody>
                    <a:bodyPr/>
                    <a:lstStyle/>
                    <a:p>
                      <a:endParaRPr lang="zh-CN" altLang="en-US" sz="1200" dirty="0"/>
                    </a:p>
                  </a:txBody>
                  <a:tcPr/>
                </a:tc>
                <a:tc hMerge="1">
                  <a:txBody>
                    <a:bodyPr/>
                    <a:lstStyle/>
                    <a:p>
                      <a:pPr algn="ctr"/>
                      <a:endParaRPr lang="zh-CN" altLang="en-US" sz="1100" b="1" dirty="0"/>
                    </a:p>
                  </a:txBody>
                  <a:tcPr/>
                </a:tc>
                <a:tc hMerge="1">
                  <a:txBody>
                    <a:bodyPr/>
                    <a:lstStyle/>
                    <a:p>
                      <a:pPr algn="ctr"/>
                      <a:endParaRPr lang="zh-CN" altLang="en-US" sz="1100" b="1" dirty="0"/>
                    </a:p>
                  </a:txBody>
                  <a:tcPr/>
                </a:tc>
                <a:tc hMerge="1">
                  <a:txBody>
                    <a:bodyPr/>
                    <a:lstStyle/>
                    <a:p>
                      <a:pPr algn="ctr"/>
                      <a:endParaRPr lang="zh-CN" altLang="en-US" sz="1100" b="1" dirty="0"/>
                    </a:p>
                  </a:txBody>
                  <a:tcPr/>
                </a:tc>
                <a:tc hMerge="1">
                  <a:txBody>
                    <a:bodyPr/>
                    <a:lstStyle/>
                    <a:p>
                      <a:pPr algn="ctr"/>
                      <a:endParaRPr lang="zh-CN" altLang="en-US" sz="1100" b="1" dirty="0"/>
                    </a:p>
                  </a:txBody>
                  <a:tcPr/>
                </a:tc>
                <a:tc>
                  <a:txBody>
                    <a:bodyPr/>
                    <a:lstStyle/>
                    <a:p>
                      <a:pPr algn="ct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pPr algn="ct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pPr algn="ctr"/>
                      <a:endParaRPr lang="zh-CN" altLang="en-US" sz="11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566394691"/>
                  </a:ext>
                </a:extLst>
              </a:tr>
              <a:tr h="240002">
                <a:tc>
                  <a:txBody>
                    <a:bodyPr/>
                    <a:lstStyle/>
                    <a:p>
                      <a:r>
                        <a:rPr lang="en-US" altLang="zh-CN" sz="900" b="1" dirty="0">
                          <a:solidFill>
                            <a:schemeClr val="bg1"/>
                          </a:solidFill>
                          <a:latin typeface="Arial" panose="020B0604020202020204" pitchFamily="34" charset="0"/>
                          <a:ea typeface="微软雅黑" panose="020B0503020204020204" pitchFamily="34" charset="-122"/>
                        </a:rPr>
                        <a:t>Due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Part</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Available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Available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Assigned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Netted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900" b="1" dirty="0">
                          <a:solidFill>
                            <a:schemeClr val="bg1"/>
                          </a:solidFill>
                          <a:latin typeface="Arial" panose="020B0604020202020204" pitchFamily="34" charset="0"/>
                          <a:ea typeface="微软雅黑" panose="020B0503020204020204" pitchFamily="34" charset="-122"/>
                        </a:rPr>
                        <a:t>Remained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Supply Type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PL02</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B</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SR</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PL02</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SR</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296416447"/>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PL02</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6.4</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50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50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OH</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541986919"/>
                  </a:ext>
                </a:extLst>
              </a:tr>
            </a:tbl>
          </a:graphicData>
        </a:graphic>
      </p:graphicFrame>
      <p:graphicFrame>
        <p:nvGraphicFramePr>
          <p:cNvPr id="15" name="表格 14">
            <a:extLst>
              <a:ext uri="{FF2B5EF4-FFF2-40B4-BE49-F238E27FC236}">
                <a16:creationId xmlns:a16="http://schemas.microsoft.com/office/drawing/2014/main" id="{74EA4907-8326-C586-A01C-4121B353001D}"/>
              </a:ext>
            </a:extLst>
          </p:cNvPr>
          <p:cNvGraphicFramePr>
            <a:graphicFrameLocks noGrp="1"/>
          </p:cNvGraphicFramePr>
          <p:nvPr>
            <p:extLst>
              <p:ext uri="{D42A27DB-BD31-4B8C-83A1-F6EECF244321}">
                <p14:modId xmlns:p14="http://schemas.microsoft.com/office/powerpoint/2010/main" val="3666399391"/>
              </p:ext>
            </p:extLst>
          </p:nvPr>
        </p:nvGraphicFramePr>
        <p:xfrm>
          <a:off x="647591" y="3900927"/>
          <a:ext cx="3250227" cy="716280"/>
        </p:xfrm>
        <a:graphic>
          <a:graphicData uri="http://schemas.openxmlformats.org/drawingml/2006/table">
            <a:tbl>
              <a:tblPr firstRow="1" bandRow="1">
                <a:tableStyleId>{5C22544A-7EE6-4342-B048-85BDC9FD1C3A}</a:tableStyleId>
              </a:tblPr>
              <a:tblGrid>
                <a:gridCol w="709930">
                  <a:extLst>
                    <a:ext uri="{9D8B030D-6E8A-4147-A177-3AD203B41FA5}">
                      <a16:colId xmlns:a16="http://schemas.microsoft.com/office/drawing/2014/main" val="2555319132"/>
                    </a:ext>
                  </a:extLst>
                </a:gridCol>
                <a:gridCol w="887730">
                  <a:extLst>
                    <a:ext uri="{9D8B030D-6E8A-4147-A177-3AD203B41FA5}">
                      <a16:colId xmlns:a16="http://schemas.microsoft.com/office/drawing/2014/main" val="2252723600"/>
                    </a:ext>
                  </a:extLst>
                </a:gridCol>
                <a:gridCol w="1002030">
                  <a:extLst>
                    <a:ext uri="{9D8B030D-6E8A-4147-A177-3AD203B41FA5}">
                      <a16:colId xmlns:a16="http://schemas.microsoft.com/office/drawing/2014/main" val="2015716019"/>
                    </a:ext>
                  </a:extLst>
                </a:gridCol>
                <a:gridCol w="650537">
                  <a:extLst>
                    <a:ext uri="{9D8B030D-6E8A-4147-A177-3AD203B41FA5}">
                      <a16:colId xmlns:a16="http://schemas.microsoft.com/office/drawing/2014/main" val="968652220"/>
                    </a:ext>
                  </a:extLst>
                </a:gridCol>
              </a:tblGrid>
              <a:tr h="245301">
                <a:tc gridSpan="4">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Planned Order Header</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hMerge="1">
                  <a:txBody>
                    <a:bodyPr/>
                    <a:lstStyle/>
                    <a:p>
                      <a:endParaRPr lang="zh-CN" altLang="en-US" sz="1200" b="1"/>
                    </a:p>
                  </a:txBody>
                  <a:tcPr/>
                </a:tc>
                <a:tc hMerge="1">
                  <a:txBody>
                    <a:bodyPr/>
                    <a:lstStyle/>
                    <a:p>
                      <a:endParaRPr lang="zh-CN" altLang="en-US" sz="1200" dirty="0"/>
                    </a:p>
                  </a:txBody>
                  <a:tcPr/>
                </a:tc>
                <a:tc hMerge="1">
                  <a:txBody>
                    <a:bodyPr/>
                    <a:lstStyle/>
                    <a:p>
                      <a:pPr algn="ctr"/>
                      <a:endParaRPr lang="zh-CN" altLang="en-US" sz="1100" b="1" dirty="0"/>
                    </a:p>
                  </a:txBody>
                  <a:tcPr/>
                </a:tc>
                <a:extLst>
                  <a:ext uri="{0D108BD9-81ED-4DB2-BD59-A6C34878D82A}">
                    <a16:rowId xmlns:a16="http://schemas.microsoft.com/office/drawing/2014/main" val="3566394691"/>
                  </a:ext>
                </a:extLst>
              </a:tr>
              <a:tr h="213902">
                <a:tc>
                  <a:txBody>
                    <a:bodyPr/>
                    <a:lstStyle/>
                    <a:p>
                      <a:r>
                        <a:rPr lang="en-US" altLang="zh-CN" sz="900" b="1" dirty="0">
                          <a:solidFill>
                            <a:schemeClr val="bg1"/>
                          </a:solidFill>
                          <a:latin typeface="Arial" panose="020B0604020202020204" pitchFamily="34" charset="0"/>
                          <a:ea typeface="微软雅黑" panose="020B0503020204020204" pitchFamily="34" charset="-122"/>
                        </a:rPr>
                        <a:t>Due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Part</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6.6</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PL02</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FG1</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796012435"/>
                  </a:ext>
                </a:extLst>
              </a:tr>
            </a:tbl>
          </a:graphicData>
        </a:graphic>
      </p:graphicFrame>
      <p:graphicFrame>
        <p:nvGraphicFramePr>
          <p:cNvPr id="16" name="表格 15">
            <a:extLst>
              <a:ext uri="{FF2B5EF4-FFF2-40B4-BE49-F238E27FC236}">
                <a16:creationId xmlns:a16="http://schemas.microsoft.com/office/drawing/2014/main" id="{083CB6FD-77C1-1A1A-E999-F837CD773B5A}"/>
              </a:ext>
            </a:extLst>
          </p:cNvPr>
          <p:cNvGraphicFramePr>
            <a:graphicFrameLocks noGrp="1"/>
          </p:cNvGraphicFramePr>
          <p:nvPr>
            <p:extLst>
              <p:ext uri="{D42A27DB-BD31-4B8C-83A1-F6EECF244321}">
                <p14:modId xmlns:p14="http://schemas.microsoft.com/office/powerpoint/2010/main" val="3814749075"/>
              </p:ext>
            </p:extLst>
          </p:nvPr>
        </p:nvGraphicFramePr>
        <p:xfrm>
          <a:off x="4771237" y="3900927"/>
          <a:ext cx="3378815" cy="957397"/>
        </p:xfrm>
        <a:graphic>
          <a:graphicData uri="http://schemas.openxmlformats.org/drawingml/2006/table">
            <a:tbl>
              <a:tblPr firstRow="1" bandRow="1">
                <a:tableStyleId>{5C22544A-7EE6-4342-B048-85BDC9FD1C3A}</a:tableStyleId>
              </a:tblPr>
              <a:tblGrid>
                <a:gridCol w="838518">
                  <a:extLst>
                    <a:ext uri="{9D8B030D-6E8A-4147-A177-3AD203B41FA5}">
                      <a16:colId xmlns:a16="http://schemas.microsoft.com/office/drawing/2014/main" val="2555319132"/>
                    </a:ext>
                  </a:extLst>
                </a:gridCol>
                <a:gridCol w="887730">
                  <a:extLst>
                    <a:ext uri="{9D8B030D-6E8A-4147-A177-3AD203B41FA5}">
                      <a16:colId xmlns:a16="http://schemas.microsoft.com/office/drawing/2014/main" val="2252723600"/>
                    </a:ext>
                  </a:extLst>
                </a:gridCol>
                <a:gridCol w="1002030">
                  <a:extLst>
                    <a:ext uri="{9D8B030D-6E8A-4147-A177-3AD203B41FA5}">
                      <a16:colId xmlns:a16="http://schemas.microsoft.com/office/drawing/2014/main" val="2015716019"/>
                    </a:ext>
                  </a:extLst>
                </a:gridCol>
                <a:gridCol w="650537">
                  <a:extLst>
                    <a:ext uri="{9D8B030D-6E8A-4147-A177-3AD203B41FA5}">
                      <a16:colId xmlns:a16="http://schemas.microsoft.com/office/drawing/2014/main" val="968652220"/>
                    </a:ext>
                  </a:extLst>
                </a:gridCol>
              </a:tblGrid>
              <a:tr h="0">
                <a:tc gridSpan="4">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Planned Allocation</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hMerge="1">
                  <a:txBody>
                    <a:bodyPr/>
                    <a:lstStyle/>
                    <a:p>
                      <a:endParaRPr lang="zh-CN" altLang="en-US" sz="1200" b="1"/>
                    </a:p>
                  </a:txBody>
                  <a:tcPr/>
                </a:tc>
                <a:tc hMerge="1">
                  <a:txBody>
                    <a:bodyPr/>
                    <a:lstStyle/>
                    <a:p>
                      <a:endParaRPr lang="zh-CN" altLang="en-US" sz="1200" dirty="0"/>
                    </a:p>
                  </a:txBody>
                  <a:tcPr/>
                </a:tc>
                <a:tc hMerge="1">
                  <a:txBody>
                    <a:bodyPr/>
                    <a:lstStyle/>
                    <a:p>
                      <a:pPr algn="ctr"/>
                      <a:endParaRPr lang="zh-CN" altLang="en-US" sz="1100" b="1" dirty="0"/>
                    </a:p>
                  </a:txBody>
                  <a:tcPr/>
                </a:tc>
                <a:extLst>
                  <a:ext uri="{0D108BD9-81ED-4DB2-BD59-A6C34878D82A}">
                    <a16:rowId xmlns:a16="http://schemas.microsoft.com/office/drawing/2014/main" val="3566394691"/>
                  </a:ext>
                </a:extLst>
              </a:tr>
              <a:tr h="241117">
                <a:tc>
                  <a:txBody>
                    <a:bodyPr/>
                    <a:lstStyle/>
                    <a:p>
                      <a:r>
                        <a:rPr lang="en-US" altLang="zh-CN" sz="900" b="1" dirty="0">
                          <a:solidFill>
                            <a:schemeClr val="bg1"/>
                          </a:solidFill>
                          <a:latin typeface="Arial" panose="020B0604020202020204" pitchFamily="34" charset="0"/>
                          <a:ea typeface="微软雅黑" panose="020B0503020204020204" pitchFamily="34" charset="-122"/>
                        </a:rPr>
                        <a:t>Due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Part</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6.6-1=6.5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PL02</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B</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r h="216442">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900" b="1" dirty="0">
                          <a:solidFill>
                            <a:schemeClr val="bg1"/>
                          </a:solidFill>
                          <a:latin typeface="Arial" panose="020B0604020202020204" pitchFamily="34" charset="0"/>
                          <a:ea typeface="微软雅黑" panose="020B0503020204020204" pitchFamily="34" charset="-122"/>
                        </a:rPr>
                        <a:t>6.6-1=6.5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PL02</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296416447"/>
                  </a:ext>
                </a:extLst>
              </a:tr>
            </a:tbl>
          </a:graphicData>
        </a:graphic>
      </p:graphicFrame>
      <p:pic>
        <p:nvPicPr>
          <p:cNvPr id="5" name="图片 4">
            <a:extLst>
              <a:ext uri="{FF2B5EF4-FFF2-40B4-BE49-F238E27FC236}">
                <a16:creationId xmlns:a16="http://schemas.microsoft.com/office/drawing/2014/main" id="{32F538FF-DACA-7A94-46C6-CBEC03A8125A}"/>
              </a:ext>
            </a:extLst>
          </p:cNvPr>
          <p:cNvPicPr>
            <a:picLocks/>
          </p:cNvPicPr>
          <p:nvPr/>
        </p:nvPicPr>
        <p:blipFill>
          <a:blip r:embed="rId2">
            <a:extLst>
              <a:ext uri="{28A0092B-C50C-407E-A947-70E740481C1C}">
                <a14:useLocalDpi xmlns:a14="http://schemas.microsoft.com/office/drawing/2010/main" val="0"/>
              </a:ext>
            </a:extLst>
          </a:blip>
          <a:srcRect t="189" b="189"/>
          <a:stretch>
            <a:fillRect/>
          </a:stretch>
        </p:blipFill>
        <p:spPr>
          <a:xfrm>
            <a:off x="8434646" y="4411549"/>
            <a:ext cx="3926487" cy="1101332"/>
          </a:xfrm>
          <a:prstGeom prst="rect">
            <a:avLst/>
          </a:prstGeom>
        </p:spPr>
      </p:pic>
    </p:spTree>
    <p:extLst>
      <p:ext uri="{BB962C8B-B14F-4D97-AF65-F5344CB8AC3E}">
        <p14:creationId xmlns:p14="http://schemas.microsoft.com/office/powerpoint/2010/main" val="28689783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5"/>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32D63F-A389-B601-1D8E-FBF3E35FEC78}"/>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6307315F-2AA9-090F-009B-0E61199601B5}"/>
              </a:ext>
            </a:extLst>
          </p:cNvPr>
          <p:cNvSpPr>
            <a:spLocks noGrp="1"/>
          </p:cNvSpPr>
          <p:nvPr>
            <p:ph type="title"/>
          </p:nvPr>
        </p:nvSpPr>
        <p:spPr>
          <a:xfrm>
            <a:off x="473033" y="171664"/>
            <a:ext cx="10714759" cy="457201"/>
          </a:xfrm>
        </p:spPr>
        <p:txBody>
          <a:bodyPr>
            <a:normAutofit/>
          </a:bodyPr>
          <a:lstStyle/>
          <a:p>
            <a:r>
              <a:rPr lang="zh-CN" altLang="en-US" dirty="0">
                <a:latin typeface="Arial" panose="020B0604020202020204" pitchFamily="34" charset="0"/>
                <a:ea typeface="微软雅黑" panose="020B0503020204020204" pitchFamily="34" charset="-122"/>
              </a:rPr>
              <a:t>推拉结合的计划模型 </a:t>
            </a:r>
            <a:r>
              <a:rPr lang="en-US" altLang="zh-CN" dirty="0">
                <a:latin typeface="Arial" panose="020B0604020202020204" pitchFamily="34" charset="0"/>
                <a:ea typeface="微软雅黑" panose="020B0503020204020204" pitchFamily="34" charset="-122"/>
              </a:rPr>
              <a:t>– Patented Algorithms(cont.)</a:t>
            </a:r>
            <a:endParaRPr lang="zh-CN" altLang="en-US" dirty="0">
              <a:latin typeface="Arial" panose="020B0604020202020204" pitchFamily="34" charset="0"/>
              <a:ea typeface="微软雅黑" panose="020B0503020204020204" pitchFamily="34" charset="-122"/>
            </a:endParaRPr>
          </a:p>
        </p:txBody>
      </p:sp>
      <p:graphicFrame>
        <p:nvGraphicFramePr>
          <p:cNvPr id="10" name="表格 9">
            <a:extLst>
              <a:ext uri="{FF2B5EF4-FFF2-40B4-BE49-F238E27FC236}">
                <a16:creationId xmlns:a16="http://schemas.microsoft.com/office/drawing/2014/main" id="{BA72D80C-CE72-425E-F205-59AAF9EF3740}"/>
              </a:ext>
            </a:extLst>
          </p:cNvPr>
          <p:cNvGraphicFramePr>
            <a:graphicFrameLocks noGrp="1"/>
          </p:cNvGraphicFramePr>
          <p:nvPr>
            <p:extLst>
              <p:ext uri="{D42A27DB-BD31-4B8C-83A1-F6EECF244321}">
                <p14:modId xmlns:p14="http://schemas.microsoft.com/office/powerpoint/2010/main" val="281466262"/>
              </p:ext>
            </p:extLst>
          </p:nvPr>
        </p:nvGraphicFramePr>
        <p:xfrm>
          <a:off x="1629315" y="628865"/>
          <a:ext cx="6066133" cy="1767202"/>
        </p:xfrm>
        <a:graphic>
          <a:graphicData uri="http://schemas.openxmlformats.org/drawingml/2006/table">
            <a:tbl>
              <a:tblPr firstRow="1" bandRow="1">
                <a:tableStyleId>{5C22544A-7EE6-4342-B048-85BDC9FD1C3A}</a:tableStyleId>
              </a:tblPr>
              <a:tblGrid>
                <a:gridCol w="606403">
                  <a:extLst>
                    <a:ext uri="{9D8B030D-6E8A-4147-A177-3AD203B41FA5}">
                      <a16:colId xmlns:a16="http://schemas.microsoft.com/office/drawing/2014/main" val="2555319132"/>
                    </a:ext>
                  </a:extLst>
                </a:gridCol>
                <a:gridCol w="887730">
                  <a:extLst>
                    <a:ext uri="{9D8B030D-6E8A-4147-A177-3AD203B41FA5}">
                      <a16:colId xmlns:a16="http://schemas.microsoft.com/office/drawing/2014/main" val="2252723600"/>
                    </a:ext>
                  </a:extLst>
                </a:gridCol>
                <a:gridCol w="894080">
                  <a:extLst>
                    <a:ext uri="{9D8B030D-6E8A-4147-A177-3AD203B41FA5}">
                      <a16:colId xmlns:a16="http://schemas.microsoft.com/office/drawing/2014/main" val="2015716019"/>
                    </a:ext>
                  </a:extLst>
                </a:gridCol>
                <a:gridCol w="938530">
                  <a:extLst>
                    <a:ext uri="{9D8B030D-6E8A-4147-A177-3AD203B41FA5}">
                      <a16:colId xmlns:a16="http://schemas.microsoft.com/office/drawing/2014/main" val="126826503"/>
                    </a:ext>
                  </a:extLst>
                </a:gridCol>
                <a:gridCol w="951230">
                  <a:extLst>
                    <a:ext uri="{9D8B030D-6E8A-4147-A177-3AD203B41FA5}">
                      <a16:colId xmlns:a16="http://schemas.microsoft.com/office/drawing/2014/main" val="4883912"/>
                    </a:ext>
                  </a:extLst>
                </a:gridCol>
                <a:gridCol w="995680">
                  <a:extLst>
                    <a:ext uri="{9D8B030D-6E8A-4147-A177-3AD203B41FA5}">
                      <a16:colId xmlns:a16="http://schemas.microsoft.com/office/drawing/2014/main" val="3755102202"/>
                    </a:ext>
                  </a:extLst>
                </a:gridCol>
                <a:gridCol w="792480">
                  <a:extLst>
                    <a:ext uri="{9D8B030D-6E8A-4147-A177-3AD203B41FA5}">
                      <a16:colId xmlns:a16="http://schemas.microsoft.com/office/drawing/2014/main" val="2658016956"/>
                    </a:ext>
                  </a:extLst>
                </a:gridCol>
              </a:tblGrid>
              <a:tr h="245301">
                <a:tc gridSpan="7">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PSD Assignment(</a:t>
                      </a:r>
                      <a:r>
                        <a:rPr lang="zh-CN" altLang="en-US" sz="1100" b="1" dirty="0">
                          <a:solidFill>
                            <a:schemeClr val="bg1"/>
                          </a:solidFill>
                          <a:latin typeface="Arial" panose="020B0604020202020204" pitchFamily="34" charset="0"/>
                          <a:ea typeface="微软雅黑" panose="020B0503020204020204" pitchFamily="34" charset="-122"/>
                        </a:rPr>
                        <a:t>以</a:t>
                      </a:r>
                      <a:r>
                        <a:rPr lang="en-US" altLang="zh-CN" sz="1100" b="1" dirty="0">
                          <a:solidFill>
                            <a:schemeClr val="bg1"/>
                          </a:solidFill>
                          <a:latin typeface="Arial" panose="020B0604020202020204" pitchFamily="34" charset="0"/>
                          <a:ea typeface="微软雅黑" panose="020B0503020204020204" pitchFamily="34" charset="-122"/>
                        </a:rPr>
                        <a:t>PSD </a:t>
                      </a:r>
                      <a:r>
                        <a:rPr lang="zh-CN" altLang="en-US" sz="1100" b="1" dirty="0">
                          <a:solidFill>
                            <a:schemeClr val="bg1"/>
                          </a:solidFill>
                          <a:latin typeface="Arial" panose="020B0604020202020204" pitchFamily="34" charset="0"/>
                          <a:ea typeface="微软雅黑" panose="020B0503020204020204" pitchFamily="34" charset="-122"/>
                        </a:rPr>
                        <a:t>倒排序）</a:t>
                      </a:r>
                    </a:p>
                  </a:txBody>
                  <a:tcPr/>
                </a:tc>
                <a:tc hMerge="1">
                  <a:txBody>
                    <a:bodyPr/>
                    <a:lstStyle/>
                    <a:p>
                      <a:endParaRPr lang="zh-CN" altLang="en-US" sz="1200" b="1"/>
                    </a:p>
                  </a:txBody>
                  <a:tcPr/>
                </a:tc>
                <a:tc hMerge="1">
                  <a:txBody>
                    <a:bodyPr/>
                    <a:lstStyle/>
                    <a:p>
                      <a:endParaRPr lang="zh-CN" altLang="en-US" sz="1200" dirty="0"/>
                    </a:p>
                  </a:txBody>
                  <a:tcPr/>
                </a:tc>
                <a:tc hMerge="1">
                  <a:txBody>
                    <a:bodyPr/>
                    <a:lstStyle/>
                    <a:p>
                      <a:endParaRPr lang="zh-CN" altLang="en-US"/>
                    </a:p>
                  </a:txBody>
                  <a:tcPr/>
                </a:tc>
                <a:tc hMerge="1">
                  <a:txBody>
                    <a:bodyPr/>
                    <a:lstStyle/>
                    <a:p>
                      <a:endParaRPr lang="zh-CN" altLang="en-US" sz="1200" dirty="0"/>
                    </a:p>
                  </a:txBody>
                  <a:tcPr/>
                </a:tc>
                <a:tc hMerge="1">
                  <a:txBody>
                    <a:bodyPr/>
                    <a:lstStyle/>
                    <a:p>
                      <a:endParaRPr lang="zh-CN" altLang="en-US" sz="1200" dirty="0"/>
                    </a:p>
                  </a:txBody>
                  <a:tcPr/>
                </a:tc>
                <a:tc hMerge="1">
                  <a:txBody>
                    <a:bodyPr/>
                    <a:lstStyle/>
                    <a:p>
                      <a:endParaRPr lang="zh-CN" altLang="en-US"/>
                    </a:p>
                  </a:txBody>
                  <a:tcPr/>
                </a:tc>
                <a:extLst>
                  <a:ext uri="{0D108BD9-81ED-4DB2-BD59-A6C34878D82A}">
                    <a16:rowId xmlns:a16="http://schemas.microsoft.com/office/drawing/2014/main" val="3566394691"/>
                  </a:ext>
                </a:extLst>
              </a:tr>
              <a:tr h="776602">
                <a:tc>
                  <a:txBody>
                    <a:bodyPr/>
                    <a:lstStyle/>
                    <a:p>
                      <a:r>
                        <a:rPr lang="en-US" altLang="zh-CN" sz="900" b="1" dirty="0">
                          <a:solidFill>
                            <a:schemeClr val="bg1"/>
                          </a:solidFill>
                          <a:latin typeface="Arial" panose="020B0604020202020204" pitchFamily="34" charset="0"/>
                          <a:ea typeface="微软雅黑" panose="020B0503020204020204" pitchFamily="34" charset="-122"/>
                        </a:rPr>
                        <a:t>PSD</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Supply Type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Available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Assigned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Available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Netted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6.8</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6.6</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401661643"/>
                  </a:ext>
                </a:extLst>
              </a:tr>
            </a:tbl>
          </a:graphicData>
        </a:graphic>
      </p:graphicFrame>
      <p:graphicFrame>
        <p:nvGraphicFramePr>
          <p:cNvPr id="6" name="表格 5">
            <a:extLst>
              <a:ext uri="{FF2B5EF4-FFF2-40B4-BE49-F238E27FC236}">
                <a16:creationId xmlns:a16="http://schemas.microsoft.com/office/drawing/2014/main" id="{4CAA1FC1-7973-C1E1-4DAC-4E6BB0CF16FB}"/>
              </a:ext>
            </a:extLst>
          </p:cNvPr>
          <p:cNvGraphicFramePr>
            <a:graphicFrameLocks noGrp="1"/>
          </p:cNvGraphicFramePr>
          <p:nvPr>
            <p:extLst>
              <p:ext uri="{D42A27DB-BD31-4B8C-83A1-F6EECF244321}">
                <p14:modId xmlns:p14="http://schemas.microsoft.com/office/powerpoint/2010/main" val="2434493916"/>
              </p:ext>
            </p:extLst>
          </p:nvPr>
        </p:nvGraphicFramePr>
        <p:xfrm>
          <a:off x="658477" y="2775886"/>
          <a:ext cx="3250227" cy="858825"/>
        </p:xfrm>
        <a:graphic>
          <a:graphicData uri="http://schemas.openxmlformats.org/drawingml/2006/table">
            <a:tbl>
              <a:tblPr firstRow="1" bandRow="1">
                <a:tableStyleId>{5C22544A-7EE6-4342-B048-85BDC9FD1C3A}</a:tableStyleId>
              </a:tblPr>
              <a:tblGrid>
                <a:gridCol w="709930">
                  <a:extLst>
                    <a:ext uri="{9D8B030D-6E8A-4147-A177-3AD203B41FA5}">
                      <a16:colId xmlns:a16="http://schemas.microsoft.com/office/drawing/2014/main" val="2555319132"/>
                    </a:ext>
                  </a:extLst>
                </a:gridCol>
                <a:gridCol w="887730">
                  <a:extLst>
                    <a:ext uri="{9D8B030D-6E8A-4147-A177-3AD203B41FA5}">
                      <a16:colId xmlns:a16="http://schemas.microsoft.com/office/drawing/2014/main" val="2252723600"/>
                    </a:ext>
                  </a:extLst>
                </a:gridCol>
                <a:gridCol w="1002030">
                  <a:extLst>
                    <a:ext uri="{9D8B030D-6E8A-4147-A177-3AD203B41FA5}">
                      <a16:colId xmlns:a16="http://schemas.microsoft.com/office/drawing/2014/main" val="2015716019"/>
                    </a:ext>
                  </a:extLst>
                </a:gridCol>
                <a:gridCol w="650537">
                  <a:extLst>
                    <a:ext uri="{9D8B030D-6E8A-4147-A177-3AD203B41FA5}">
                      <a16:colId xmlns:a16="http://schemas.microsoft.com/office/drawing/2014/main" val="968652220"/>
                    </a:ext>
                  </a:extLst>
                </a:gridCol>
              </a:tblGrid>
              <a:tr h="245301">
                <a:tc gridSpan="4">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Planned Order Header</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hMerge="1">
                  <a:txBody>
                    <a:bodyPr/>
                    <a:lstStyle/>
                    <a:p>
                      <a:endParaRPr lang="zh-CN" altLang="en-US" sz="1200" b="1"/>
                    </a:p>
                  </a:txBody>
                  <a:tcPr/>
                </a:tc>
                <a:tc hMerge="1">
                  <a:txBody>
                    <a:bodyPr/>
                    <a:lstStyle/>
                    <a:p>
                      <a:endParaRPr lang="zh-CN" altLang="en-US" sz="1200" dirty="0"/>
                    </a:p>
                  </a:txBody>
                  <a:tcPr/>
                </a:tc>
                <a:tc hMerge="1">
                  <a:txBody>
                    <a:bodyPr/>
                    <a:lstStyle/>
                    <a:p>
                      <a:pPr algn="ctr"/>
                      <a:endParaRPr lang="zh-CN" altLang="en-US" sz="1100" b="1" dirty="0"/>
                    </a:p>
                  </a:txBody>
                  <a:tcPr/>
                </a:tc>
                <a:extLst>
                  <a:ext uri="{0D108BD9-81ED-4DB2-BD59-A6C34878D82A}">
                    <a16:rowId xmlns:a16="http://schemas.microsoft.com/office/drawing/2014/main" val="3566394691"/>
                  </a:ext>
                </a:extLst>
              </a:tr>
              <a:tr h="371145">
                <a:tc>
                  <a:txBody>
                    <a:bodyPr/>
                    <a:lstStyle/>
                    <a:p>
                      <a:r>
                        <a:rPr lang="en-US" altLang="zh-CN" sz="900" b="1" dirty="0">
                          <a:solidFill>
                            <a:schemeClr val="bg1"/>
                          </a:solidFill>
                          <a:latin typeface="Arial" panose="020B0604020202020204" pitchFamily="34" charset="0"/>
                          <a:ea typeface="微软雅黑" panose="020B0503020204020204" pitchFamily="34" charset="-122"/>
                        </a:rPr>
                        <a:t>Due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Part</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6.10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FG1</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bl>
          </a:graphicData>
        </a:graphic>
      </p:graphicFrame>
      <p:graphicFrame>
        <p:nvGraphicFramePr>
          <p:cNvPr id="11" name="表格 10">
            <a:extLst>
              <a:ext uri="{FF2B5EF4-FFF2-40B4-BE49-F238E27FC236}">
                <a16:creationId xmlns:a16="http://schemas.microsoft.com/office/drawing/2014/main" id="{70C69D99-C1ED-9089-61D7-9C2278EFE452}"/>
              </a:ext>
            </a:extLst>
          </p:cNvPr>
          <p:cNvGraphicFramePr>
            <a:graphicFrameLocks noGrp="1"/>
          </p:cNvGraphicFramePr>
          <p:nvPr>
            <p:extLst>
              <p:ext uri="{D42A27DB-BD31-4B8C-83A1-F6EECF244321}">
                <p14:modId xmlns:p14="http://schemas.microsoft.com/office/powerpoint/2010/main" val="2149593741"/>
              </p:ext>
            </p:extLst>
          </p:nvPr>
        </p:nvGraphicFramePr>
        <p:xfrm>
          <a:off x="5314797" y="2738996"/>
          <a:ext cx="3378815" cy="1087425"/>
        </p:xfrm>
        <a:graphic>
          <a:graphicData uri="http://schemas.openxmlformats.org/drawingml/2006/table">
            <a:tbl>
              <a:tblPr firstRow="1" bandRow="1">
                <a:tableStyleId>{5C22544A-7EE6-4342-B048-85BDC9FD1C3A}</a:tableStyleId>
              </a:tblPr>
              <a:tblGrid>
                <a:gridCol w="838518">
                  <a:extLst>
                    <a:ext uri="{9D8B030D-6E8A-4147-A177-3AD203B41FA5}">
                      <a16:colId xmlns:a16="http://schemas.microsoft.com/office/drawing/2014/main" val="2555319132"/>
                    </a:ext>
                  </a:extLst>
                </a:gridCol>
                <a:gridCol w="887730">
                  <a:extLst>
                    <a:ext uri="{9D8B030D-6E8A-4147-A177-3AD203B41FA5}">
                      <a16:colId xmlns:a16="http://schemas.microsoft.com/office/drawing/2014/main" val="2252723600"/>
                    </a:ext>
                  </a:extLst>
                </a:gridCol>
                <a:gridCol w="1002030">
                  <a:extLst>
                    <a:ext uri="{9D8B030D-6E8A-4147-A177-3AD203B41FA5}">
                      <a16:colId xmlns:a16="http://schemas.microsoft.com/office/drawing/2014/main" val="2015716019"/>
                    </a:ext>
                  </a:extLst>
                </a:gridCol>
                <a:gridCol w="650537">
                  <a:extLst>
                    <a:ext uri="{9D8B030D-6E8A-4147-A177-3AD203B41FA5}">
                      <a16:colId xmlns:a16="http://schemas.microsoft.com/office/drawing/2014/main" val="968652220"/>
                    </a:ext>
                  </a:extLst>
                </a:gridCol>
              </a:tblGrid>
              <a:tr h="0">
                <a:tc gridSpan="4">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Planned Allocation</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hMerge="1">
                  <a:txBody>
                    <a:bodyPr/>
                    <a:lstStyle/>
                    <a:p>
                      <a:endParaRPr lang="zh-CN" altLang="en-US" sz="1200" b="1"/>
                    </a:p>
                  </a:txBody>
                  <a:tcPr/>
                </a:tc>
                <a:tc hMerge="1">
                  <a:txBody>
                    <a:bodyPr/>
                    <a:lstStyle/>
                    <a:p>
                      <a:endParaRPr lang="zh-CN" altLang="en-US" sz="1200" dirty="0"/>
                    </a:p>
                  </a:txBody>
                  <a:tcPr/>
                </a:tc>
                <a:tc hMerge="1">
                  <a:txBody>
                    <a:bodyPr/>
                    <a:lstStyle/>
                    <a:p>
                      <a:pPr algn="ctr"/>
                      <a:endParaRPr lang="zh-CN" altLang="en-US" sz="1100" b="1" dirty="0"/>
                    </a:p>
                  </a:txBody>
                  <a:tcPr/>
                </a:tc>
                <a:extLst>
                  <a:ext uri="{0D108BD9-81ED-4DB2-BD59-A6C34878D82A}">
                    <a16:rowId xmlns:a16="http://schemas.microsoft.com/office/drawing/2014/main" val="3566394691"/>
                  </a:ext>
                </a:extLst>
              </a:tr>
              <a:tr h="371145">
                <a:tc>
                  <a:txBody>
                    <a:bodyPr/>
                    <a:lstStyle/>
                    <a:p>
                      <a:r>
                        <a:rPr lang="en-US" altLang="zh-CN" sz="900" b="1" dirty="0">
                          <a:solidFill>
                            <a:schemeClr val="bg1"/>
                          </a:solidFill>
                          <a:latin typeface="Arial" panose="020B0604020202020204" pitchFamily="34" charset="0"/>
                          <a:ea typeface="微软雅黑" panose="020B0503020204020204" pitchFamily="34" charset="-122"/>
                        </a:rPr>
                        <a:t>Due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Part</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6.10-1=6.9</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B</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r h="216442">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900" b="1" dirty="0">
                          <a:solidFill>
                            <a:schemeClr val="bg1"/>
                          </a:solidFill>
                          <a:latin typeface="Arial" panose="020B0604020202020204" pitchFamily="34" charset="0"/>
                          <a:ea typeface="微软雅黑" panose="020B0503020204020204" pitchFamily="34" charset="-122"/>
                        </a:rPr>
                        <a:t>6.10-1=6.9</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296416447"/>
                  </a:ext>
                </a:extLst>
              </a:tr>
            </a:tbl>
          </a:graphicData>
        </a:graphic>
      </p:graphicFrame>
      <p:graphicFrame>
        <p:nvGraphicFramePr>
          <p:cNvPr id="12" name="表格 11">
            <a:extLst>
              <a:ext uri="{FF2B5EF4-FFF2-40B4-BE49-F238E27FC236}">
                <a16:creationId xmlns:a16="http://schemas.microsoft.com/office/drawing/2014/main" id="{B79427A7-4ACC-378D-CE03-4F104CF2FD12}"/>
              </a:ext>
            </a:extLst>
          </p:cNvPr>
          <p:cNvGraphicFramePr>
            <a:graphicFrameLocks noGrp="1"/>
          </p:cNvGraphicFramePr>
          <p:nvPr>
            <p:extLst>
              <p:ext uri="{D42A27DB-BD31-4B8C-83A1-F6EECF244321}">
                <p14:modId xmlns:p14="http://schemas.microsoft.com/office/powerpoint/2010/main" val="1141924474"/>
              </p:ext>
            </p:extLst>
          </p:nvPr>
        </p:nvGraphicFramePr>
        <p:xfrm>
          <a:off x="1218890" y="4303002"/>
          <a:ext cx="7318055" cy="2093265"/>
        </p:xfrm>
        <a:graphic>
          <a:graphicData uri="http://schemas.openxmlformats.org/drawingml/2006/table">
            <a:tbl>
              <a:tblPr firstRow="1" bandRow="1">
                <a:tableStyleId>{5C22544A-7EE6-4342-B048-85BDC9FD1C3A}</a:tableStyleId>
              </a:tblPr>
              <a:tblGrid>
                <a:gridCol w="622581">
                  <a:extLst>
                    <a:ext uri="{9D8B030D-6E8A-4147-A177-3AD203B41FA5}">
                      <a16:colId xmlns:a16="http://schemas.microsoft.com/office/drawing/2014/main" val="2555319132"/>
                    </a:ext>
                  </a:extLst>
                </a:gridCol>
                <a:gridCol w="785613">
                  <a:extLst>
                    <a:ext uri="{9D8B030D-6E8A-4147-A177-3AD203B41FA5}">
                      <a16:colId xmlns:a16="http://schemas.microsoft.com/office/drawing/2014/main" val="2252723600"/>
                    </a:ext>
                  </a:extLst>
                </a:gridCol>
                <a:gridCol w="1188877">
                  <a:extLst>
                    <a:ext uri="{9D8B030D-6E8A-4147-A177-3AD203B41FA5}">
                      <a16:colId xmlns:a16="http://schemas.microsoft.com/office/drawing/2014/main" val="2015716019"/>
                    </a:ext>
                  </a:extLst>
                </a:gridCol>
                <a:gridCol w="1325654">
                  <a:extLst>
                    <a:ext uri="{9D8B030D-6E8A-4147-A177-3AD203B41FA5}">
                      <a16:colId xmlns:a16="http://schemas.microsoft.com/office/drawing/2014/main" val="968652220"/>
                    </a:ext>
                  </a:extLst>
                </a:gridCol>
                <a:gridCol w="881145">
                  <a:extLst>
                    <a:ext uri="{9D8B030D-6E8A-4147-A177-3AD203B41FA5}">
                      <a16:colId xmlns:a16="http://schemas.microsoft.com/office/drawing/2014/main" val="3738065007"/>
                    </a:ext>
                  </a:extLst>
                </a:gridCol>
                <a:gridCol w="830569">
                  <a:extLst>
                    <a:ext uri="{9D8B030D-6E8A-4147-A177-3AD203B41FA5}">
                      <a16:colId xmlns:a16="http://schemas.microsoft.com/office/drawing/2014/main" val="2821112010"/>
                    </a:ext>
                  </a:extLst>
                </a:gridCol>
                <a:gridCol w="841808">
                  <a:extLst>
                    <a:ext uri="{9D8B030D-6E8A-4147-A177-3AD203B41FA5}">
                      <a16:colId xmlns:a16="http://schemas.microsoft.com/office/drawing/2014/main" val="591860406"/>
                    </a:ext>
                  </a:extLst>
                </a:gridCol>
                <a:gridCol w="841808">
                  <a:extLst>
                    <a:ext uri="{9D8B030D-6E8A-4147-A177-3AD203B41FA5}">
                      <a16:colId xmlns:a16="http://schemas.microsoft.com/office/drawing/2014/main" val="1836992881"/>
                    </a:ext>
                  </a:extLst>
                </a:gridCol>
              </a:tblGrid>
              <a:tr h="0">
                <a:tc gridSpan="7">
                  <a:txBody>
                    <a:bodyPr/>
                    <a:lstStyle/>
                    <a:p>
                      <a:pPr algn="ctr"/>
                      <a:r>
                        <a:rPr lang="en-US" altLang="zh-CN" sz="1100" b="1" dirty="0">
                          <a:solidFill>
                            <a:schemeClr val="bg1"/>
                          </a:solidFill>
                          <a:latin typeface="Arial" panose="020B0604020202020204" pitchFamily="34" charset="0"/>
                          <a:ea typeface="微软雅黑" panose="020B0503020204020204" pitchFamily="34" charset="-122"/>
                        </a:rPr>
                        <a:t>Planned Allocation(Supply </a:t>
                      </a:r>
                      <a:r>
                        <a:rPr lang="zh-CN" altLang="en-US" sz="1100" b="1" dirty="0">
                          <a:solidFill>
                            <a:schemeClr val="bg1"/>
                          </a:solidFill>
                          <a:latin typeface="Arial" panose="020B0604020202020204" pitchFamily="34" charset="0"/>
                          <a:ea typeface="微软雅黑" panose="020B0503020204020204" pitchFamily="34" charset="-122"/>
                        </a:rPr>
                        <a:t>按</a:t>
                      </a:r>
                      <a:r>
                        <a:rPr lang="en-US" altLang="zh-CN" sz="1100" b="1" dirty="0">
                          <a:solidFill>
                            <a:schemeClr val="bg1"/>
                          </a:solidFill>
                          <a:latin typeface="Arial" panose="020B0604020202020204" pitchFamily="34" charset="0"/>
                          <a:ea typeface="微软雅黑" panose="020B0503020204020204" pitchFamily="34" charset="-122"/>
                        </a:rPr>
                        <a:t>available date &lt;=Due date</a:t>
                      </a:r>
                      <a:r>
                        <a:rPr lang="zh-CN" altLang="en-US" sz="1100" b="1" dirty="0">
                          <a:solidFill>
                            <a:schemeClr val="bg1"/>
                          </a:solidFill>
                          <a:latin typeface="Arial" panose="020B0604020202020204" pitchFamily="34" charset="0"/>
                          <a:ea typeface="微软雅黑" panose="020B0503020204020204" pitchFamily="34" charset="-122"/>
                        </a:rPr>
                        <a:t>倒排序）</a:t>
                      </a:r>
                    </a:p>
                  </a:txBody>
                  <a:tcPr/>
                </a:tc>
                <a:tc hMerge="1">
                  <a:txBody>
                    <a:bodyPr/>
                    <a:lstStyle/>
                    <a:p>
                      <a:endParaRPr lang="zh-CN" altLang="en-US" sz="1200" b="1"/>
                    </a:p>
                  </a:txBody>
                  <a:tcPr/>
                </a:tc>
                <a:tc hMerge="1">
                  <a:txBody>
                    <a:bodyPr/>
                    <a:lstStyle/>
                    <a:p>
                      <a:endParaRPr lang="zh-CN" altLang="en-US" sz="1200" dirty="0"/>
                    </a:p>
                  </a:txBody>
                  <a:tcPr/>
                </a:tc>
                <a:tc hMerge="1">
                  <a:txBody>
                    <a:bodyPr/>
                    <a:lstStyle/>
                    <a:p>
                      <a:pPr algn="ctr"/>
                      <a:endParaRPr lang="zh-CN" altLang="en-US" sz="1100" b="1" dirty="0"/>
                    </a:p>
                  </a:txBody>
                  <a:tcPr/>
                </a:tc>
                <a:tc hMerge="1">
                  <a:txBody>
                    <a:bodyPr/>
                    <a:lstStyle/>
                    <a:p>
                      <a:pPr algn="ctr"/>
                      <a:endParaRPr lang="zh-CN" altLang="en-US" sz="1100" b="1" dirty="0"/>
                    </a:p>
                  </a:txBody>
                  <a:tcPr/>
                </a:tc>
                <a:tc hMerge="1">
                  <a:txBody>
                    <a:bodyPr/>
                    <a:lstStyle/>
                    <a:p>
                      <a:pPr algn="ctr"/>
                      <a:endParaRPr lang="zh-CN" altLang="en-US" sz="1100" b="1" dirty="0"/>
                    </a:p>
                  </a:txBody>
                  <a:tcPr/>
                </a:tc>
                <a:tc hMerge="1">
                  <a:txBody>
                    <a:bodyPr/>
                    <a:lstStyle/>
                    <a:p>
                      <a:pPr algn="ctr"/>
                      <a:endParaRPr lang="zh-CN" altLang="en-US" sz="1100" b="1" dirty="0"/>
                    </a:p>
                  </a:txBody>
                  <a:tcPr/>
                </a:tc>
                <a:tc>
                  <a:txBody>
                    <a:bodyPr/>
                    <a:lstStyle/>
                    <a:p>
                      <a:pPr algn="ctr"/>
                      <a:endParaRPr lang="zh-CN" altLang="en-US" sz="11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566394691"/>
                  </a:ext>
                </a:extLst>
              </a:tr>
              <a:tr h="371145">
                <a:tc>
                  <a:txBody>
                    <a:bodyPr/>
                    <a:lstStyle/>
                    <a:p>
                      <a:r>
                        <a:rPr lang="en-US" altLang="zh-CN" sz="900" b="1" dirty="0">
                          <a:solidFill>
                            <a:schemeClr val="bg1"/>
                          </a:solidFill>
                          <a:latin typeface="Arial" panose="020B0604020202020204" pitchFamily="34" charset="0"/>
                          <a:ea typeface="微软雅黑" panose="020B0503020204020204" pitchFamily="34" charset="-122"/>
                        </a:rPr>
                        <a:t>Due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Request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Planned Order</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Part</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Available Date</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Available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Assigned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Netted Qty</a:t>
                      </a:r>
                      <a:endParaRPr lang="zh-CN" altLang="en-US" sz="900" b="1" dirty="0">
                        <a:solidFill>
                          <a:schemeClr val="bg1"/>
                        </a:solidFill>
                        <a:latin typeface="Arial" panose="020B0604020202020204" pitchFamily="34" charset="0"/>
                        <a:ea typeface="微软雅黑" panose="020B0503020204020204" pitchFamily="34" charset="-122"/>
                      </a:endParaRPr>
                    </a:p>
                  </a:txBody>
                  <a:tcPr>
                    <a:solidFill>
                      <a:schemeClr val="accent1">
                        <a:lumMod val="60000"/>
                        <a:lumOff val="40000"/>
                      </a:schemeClr>
                    </a:solidFill>
                  </a:tcPr>
                </a:tc>
                <a:extLst>
                  <a:ext uri="{0D108BD9-81ED-4DB2-BD59-A6C34878D82A}">
                    <a16:rowId xmlns:a16="http://schemas.microsoft.com/office/drawing/2014/main" val="885264342"/>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6.10-1=6.9</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B</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6.7</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78358875"/>
                  </a:ext>
                </a:extLst>
              </a:tr>
              <a:tr h="216442">
                <a:tc>
                  <a:txBody>
                    <a:bodyPr/>
                    <a:lstStyle/>
                    <a:p>
                      <a:r>
                        <a:rPr lang="en-US" altLang="zh-CN" sz="900" b="1" dirty="0">
                          <a:solidFill>
                            <a:schemeClr val="bg1"/>
                          </a:solidFill>
                          <a:latin typeface="Arial" panose="020B0604020202020204" pitchFamily="34" charset="0"/>
                          <a:ea typeface="微软雅黑" panose="020B0503020204020204" pitchFamily="34" charset="-122"/>
                        </a:rPr>
                        <a:t>6.10-1=6.9</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B</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20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4008261002"/>
                  </a:ext>
                </a:extLst>
              </a:tr>
              <a:tr h="216442">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900" b="1" dirty="0">
                          <a:solidFill>
                            <a:schemeClr val="bg1"/>
                          </a:solidFill>
                          <a:latin typeface="Arial" panose="020B0604020202020204" pitchFamily="34" charset="0"/>
                          <a:ea typeface="微软雅黑" panose="020B0503020204020204" pitchFamily="34" charset="-122"/>
                        </a:rPr>
                        <a:t>6.10-1=6.9</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6.5</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296416447"/>
                  </a:ext>
                </a:extLst>
              </a:tr>
              <a:tr h="216442">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900" b="1" dirty="0">
                          <a:solidFill>
                            <a:schemeClr val="bg1"/>
                          </a:solidFill>
                          <a:latin typeface="Arial" panose="020B0604020202020204" pitchFamily="34" charset="0"/>
                          <a:ea typeface="微软雅黑" panose="020B0503020204020204" pitchFamily="34" charset="-122"/>
                        </a:rPr>
                        <a:t>6.10-1=6.9</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80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PL01</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A</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6.4</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50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900" b="1" dirty="0">
                          <a:solidFill>
                            <a:schemeClr val="bg1"/>
                          </a:solidFill>
                          <a:latin typeface="Arial" panose="020B0604020202020204" pitchFamily="34" charset="0"/>
                          <a:ea typeface="微软雅黑" panose="020B0503020204020204" pitchFamily="34" charset="-122"/>
                        </a:rPr>
                        <a:t>0</a:t>
                      </a:r>
                      <a:endParaRPr lang="zh-CN" altLang="en-US" sz="9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541986919"/>
                  </a:ext>
                </a:extLst>
              </a:tr>
            </a:tbl>
          </a:graphicData>
        </a:graphic>
      </p:graphicFrame>
      <p:sp>
        <p:nvSpPr>
          <p:cNvPr id="13" name="文本框 12">
            <a:extLst>
              <a:ext uri="{FF2B5EF4-FFF2-40B4-BE49-F238E27FC236}">
                <a16:creationId xmlns:a16="http://schemas.microsoft.com/office/drawing/2014/main" id="{C18E60BC-9841-DE1E-5C79-02B75C6EA661}"/>
              </a:ext>
            </a:extLst>
          </p:cNvPr>
          <p:cNvSpPr txBox="1"/>
          <p:nvPr/>
        </p:nvSpPr>
        <p:spPr>
          <a:xfrm>
            <a:off x="7995558" y="811179"/>
            <a:ext cx="3695700" cy="1169551"/>
          </a:xfrm>
          <a:prstGeom prst="rect">
            <a:avLst/>
          </a:prstGeom>
          <a:noFill/>
        </p:spPr>
        <p:txBody>
          <a:bodyPr wrap="square" rtlCol="0">
            <a:spAutoFit/>
          </a:bodyPr>
          <a:lstStyle/>
          <a:p>
            <a:pPr marL="285750" indent="-285750">
              <a:buFont typeface="Arial" panose="020B0604020202020204" pitchFamily="34" charset="0"/>
              <a:buChar char="•"/>
            </a:pPr>
            <a:r>
              <a:rPr lang="zh-CN" altLang="en-US" sz="1400" b="1" dirty="0">
                <a:latin typeface="Arial" panose="020B0604020202020204" pitchFamily="34" charset="0"/>
                <a:ea typeface="微软雅黑" panose="020B0503020204020204" pitchFamily="34" charset="-122"/>
              </a:rPr>
              <a:t>当</a:t>
            </a:r>
            <a:r>
              <a:rPr lang="en-US" altLang="zh-CN" sz="1400" b="1" dirty="0">
                <a:latin typeface="Arial" panose="020B0604020202020204" pitchFamily="34" charset="0"/>
                <a:ea typeface="微软雅黑" panose="020B0503020204020204" pitchFamily="34" charset="-122"/>
              </a:rPr>
              <a:t>Request Date</a:t>
            </a:r>
            <a:r>
              <a:rPr lang="zh-CN" altLang="en-US" sz="1400" b="1" dirty="0">
                <a:latin typeface="Arial" panose="020B0604020202020204" pitchFamily="34" charset="0"/>
                <a:ea typeface="微软雅黑" panose="020B0503020204020204" pitchFamily="34" charset="-122"/>
              </a:rPr>
              <a:t>可以满足的时候，这一步的关键点是在于交付分别用现有供应和计划订单多少，</a:t>
            </a:r>
            <a:r>
              <a:rPr lang="en-US" altLang="zh-CN" sz="1400" b="1" dirty="0">
                <a:latin typeface="Arial" panose="020B0604020202020204" pitchFamily="34" charset="0"/>
                <a:ea typeface="微软雅黑" panose="020B0503020204020204" pitchFamily="34" charset="-122"/>
              </a:rPr>
              <a:t>Due date</a:t>
            </a:r>
            <a:r>
              <a:rPr lang="zh-CN" altLang="en-US" sz="1400" b="1" dirty="0">
                <a:latin typeface="Arial" panose="020B0604020202020204" pitchFamily="34" charset="0"/>
                <a:ea typeface="微软雅黑" panose="020B0503020204020204" pitchFamily="34" charset="-122"/>
              </a:rPr>
              <a:t>是什么。</a:t>
            </a:r>
            <a:endParaRPr lang="en-US" altLang="zh-CN" sz="1400" b="1" dirty="0">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r>
              <a:rPr lang="zh-CN" altLang="en-US" sz="1400" b="1" dirty="0">
                <a:latin typeface="Arial" panose="020B0604020202020204" pitchFamily="34" charset="0"/>
                <a:ea typeface="微软雅黑" panose="020B0503020204020204" pitchFamily="34" charset="-122"/>
              </a:rPr>
              <a:t>此例子说明，现有供应不用会用，可以给优先级低的订单用。</a:t>
            </a:r>
          </a:p>
        </p:txBody>
      </p:sp>
    </p:spTree>
    <p:extLst>
      <p:ext uri="{BB962C8B-B14F-4D97-AF65-F5344CB8AC3E}">
        <p14:creationId xmlns:p14="http://schemas.microsoft.com/office/powerpoint/2010/main" val="4207940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EED296-2938-454E-7A2C-34F48CC29B4C}"/>
            </a:ext>
          </a:extLst>
        </p:cNvPr>
        <p:cNvGrpSpPr/>
        <p:nvPr/>
      </p:nvGrpSpPr>
      <p:grpSpPr>
        <a:xfrm>
          <a:off x="0" y="0"/>
          <a:ext cx="0" cy="0"/>
          <a:chOff x="0" y="0"/>
          <a:chExt cx="0" cy="0"/>
        </a:xfrm>
      </p:grpSpPr>
      <p:sp>
        <p:nvSpPr>
          <p:cNvPr id="38914" name="Title 2">
            <a:extLst>
              <a:ext uri="{FF2B5EF4-FFF2-40B4-BE49-F238E27FC236}">
                <a16:creationId xmlns:a16="http://schemas.microsoft.com/office/drawing/2014/main" id="{1D0CDD96-0D03-CA2B-7BB2-E6B2621EB281}"/>
              </a:ext>
            </a:extLst>
          </p:cNvPr>
          <p:cNvSpPr>
            <a:spLocks noGrp="1"/>
          </p:cNvSpPr>
          <p:nvPr>
            <p:ph type="title" idx="4294967295"/>
          </p:nvPr>
        </p:nvSpPr>
        <p:spPr>
          <a:xfrm>
            <a:off x="1116013" y="350838"/>
            <a:ext cx="11075987" cy="520700"/>
          </a:xfrm>
          <a:prstGeom prst="rect">
            <a:avLst/>
          </a:prstGeom>
        </p:spPr>
        <p:txBody>
          <a:bodyPr vert="horz" wrap="square" lIns="121920" tIns="60960" rIns="121920" bIns="60960" anchor="ctr" anchorCtr="0">
            <a:normAutofit/>
          </a:bodyPr>
          <a:lstStyle/>
          <a:p>
            <a:pPr eaLnBrk="1" hangingPunct="1"/>
            <a:r>
              <a:rPr lang="en-US" altLang="zh-CN" b="1" dirty="0">
                <a:latin typeface="Arial" panose="020B0604020202020204" pitchFamily="34" charset="0"/>
                <a:ea typeface="微软雅黑" panose="020B0503020204020204" pitchFamily="34" charset="-122"/>
              </a:rPr>
              <a:t>IPC Solution - DEMOs</a:t>
            </a:r>
          </a:p>
        </p:txBody>
      </p:sp>
      <p:sp>
        <p:nvSpPr>
          <p:cNvPr id="3" name="Freeform 8">
            <a:extLst>
              <a:ext uri="{FF2B5EF4-FFF2-40B4-BE49-F238E27FC236}">
                <a16:creationId xmlns:a16="http://schemas.microsoft.com/office/drawing/2014/main" id="{550C350B-C3F7-48A4-36C7-110213E83078}"/>
              </a:ext>
            </a:extLst>
          </p:cNvPr>
          <p:cNvSpPr/>
          <p:nvPr/>
        </p:nvSpPr>
        <p:spPr>
          <a:xfrm>
            <a:off x="4093634" y="1559984"/>
            <a:ext cx="5738284" cy="806451"/>
          </a:xfrm>
          <a:custGeom>
            <a:avLst/>
            <a:gdLst>
              <a:gd name="connsiteX0" fmla="*/ 134387 w 806306"/>
              <a:gd name="connsiteY0" fmla="*/ 0 h 5737036"/>
              <a:gd name="connsiteX1" fmla="*/ 671919 w 806306"/>
              <a:gd name="connsiteY1" fmla="*/ 0 h 5737036"/>
              <a:gd name="connsiteX2" fmla="*/ 766945 w 806306"/>
              <a:gd name="connsiteY2" fmla="*/ 39361 h 5737036"/>
              <a:gd name="connsiteX3" fmla="*/ 806306 w 806306"/>
              <a:gd name="connsiteY3" fmla="*/ 134387 h 5737036"/>
              <a:gd name="connsiteX4" fmla="*/ 806306 w 806306"/>
              <a:gd name="connsiteY4" fmla="*/ 5737036 h 5737036"/>
              <a:gd name="connsiteX5" fmla="*/ 806306 w 806306"/>
              <a:gd name="connsiteY5" fmla="*/ 5737036 h 5737036"/>
              <a:gd name="connsiteX6" fmla="*/ 806306 w 806306"/>
              <a:gd name="connsiteY6" fmla="*/ 5737036 h 5737036"/>
              <a:gd name="connsiteX7" fmla="*/ 0 w 806306"/>
              <a:gd name="connsiteY7" fmla="*/ 5737036 h 5737036"/>
              <a:gd name="connsiteX8" fmla="*/ 0 w 806306"/>
              <a:gd name="connsiteY8" fmla="*/ 5737036 h 5737036"/>
              <a:gd name="connsiteX9" fmla="*/ 0 w 806306"/>
              <a:gd name="connsiteY9" fmla="*/ 5737036 h 5737036"/>
              <a:gd name="connsiteX10" fmla="*/ 0 w 806306"/>
              <a:gd name="connsiteY10" fmla="*/ 134387 h 5737036"/>
              <a:gd name="connsiteX11" fmla="*/ 39361 w 806306"/>
              <a:gd name="connsiteY11" fmla="*/ 39361 h 5737036"/>
              <a:gd name="connsiteX12" fmla="*/ 134387 w 806306"/>
              <a:gd name="connsiteY12" fmla="*/ 0 h 573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6306" h="5737036">
                <a:moveTo>
                  <a:pt x="806306" y="956194"/>
                </a:moveTo>
                <a:lnTo>
                  <a:pt x="806306" y="4780842"/>
                </a:lnTo>
                <a:cubicBezTo>
                  <a:pt x="806306" y="5034442"/>
                  <a:pt x="804316" y="5277654"/>
                  <a:pt x="800774" y="5456971"/>
                </a:cubicBezTo>
                <a:cubicBezTo>
                  <a:pt x="797232" y="5636288"/>
                  <a:pt x="792428" y="5737032"/>
                  <a:pt x="787419" y="5737032"/>
                </a:cubicBezTo>
                <a:lnTo>
                  <a:pt x="0" y="5737032"/>
                </a:lnTo>
                <a:lnTo>
                  <a:pt x="0" y="5737032"/>
                </a:lnTo>
                <a:lnTo>
                  <a:pt x="0" y="5737032"/>
                </a:lnTo>
                <a:lnTo>
                  <a:pt x="0" y="4"/>
                </a:lnTo>
                <a:lnTo>
                  <a:pt x="0" y="4"/>
                </a:lnTo>
                <a:lnTo>
                  <a:pt x="0" y="4"/>
                </a:lnTo>
                <a:lnTo>
                  <a:pt x="787419" y="4"/>
                </a:lnTo>
                <a:cubicBezTo>
                  <a:pt x="792428" y="4"/>
                  <a:pt x="797232" y="100748"/>
                  <a:pt x="800774" y="280065"/>
                </a:cubicBezTo>
                <a:cubicBezTo>
                  <a:pt x="804316" y="459382"/>
                  <a:pt x="806306" y="702594"/>
                  <a:pt x="806306" y="956194"/>
                </a:cubicBezTo>
                <a:close/>
              </a:path>
            </a:pathLst>
          </a:custGeom>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247651" tIns="163185" rIns="287011" bIns="163187" spcCol="1270" anchor="ctr"/>
          <a:lstStyle/>
          <a:p>
            <a:pPr marL="228594" lvl="1" indent="-228594" defTabSz="888978">
              <a:lnSpc>
                <a:spcPct val="90000"/>
              </a:lnSpc>
              <a:spcBef>
                <a:spcPct val="0"/>
              </a:spcBef>
              <a:spcAft>
                <a:spcPct val="15000"/>
              </a:spcAft>
              <a:buFontTx/>
              <a:buChar char="•"/>
              <a:defRPr/>
            </a:pPr>
            <a:r>
              <a:rPr lang="en-US" altLang="zh-CN" sz="2000" dirty="0">
                <a:solidFill>
                  <a:srgbClr val="000000">
                    <a:hueOff val="0"/>
                    <a:satOff val="0"/>
                    <a:lumOff val="0"/>
                    <a:alphaOff val="0"/>
                  </a:srgbClr>
                </a:solidFill>
                <a:latin typeface="Arial" panose="020B0604020202020204" pitchFamily="34" charset="0"/>
                <a:ea typeface="微软雅黑" panose="020B0503020204020204" pitchFamily="34" charset="-122"/>
              </a:rPr>
              <a:t>Unifying Production Planning</a:t>
            </a:r>
            <a:r>
              <a:rPr lang="zh-CN" altLang="en-US" sz="2000" dirty="0">
                <a:solidFill>
                  <a:srgbClr val="000000">
                    <a:hueOff val="0"/>
                    <a:satOff val="0"/>
                    <a:lumOff val="0"/>
                    <a:alphaOff val="0"/>
                  </a:srgbClr>
                </a:solidFill>
                <a:latin typeface="Arial" panose="020B0604020202020204" pitchFamily="34" charset="0"/>
                <a:ea typeface="微软雅黑" panose="020B0503020204020204" pitchFamily="34" charset="-122"/>
              </a:rPr>
              <a:t>， </a:t>
            </a:r>
            <a:r>
              <a:rPr lang="en-US" altLang="zh-CN" sz="2000" dirty="0">
                <a:solidFill>
                  <a:srgbClr val="000000">
                    <a:hueOff val="0"/>
                    <a:satOff val="0"/>
                    <a:lumOff val="0"/>
                    <a:alphaOff val="0"/>
                  </a:srgbClr>
                </a:solidFill>
                <a:latin typeface="Arial" panose="020B0604020202020204" pitchFamily="34" charset="0"/>
                <a:ea typeface="微软雅黑" panose="020B0503020204020204" pitchFamily="34" charset="-122"/>
              </a:rPr>
              <a:t>Shortage(MRP) and CTP process to </a:t>
            </a:r>
            <a:r>
              <a:rPr lang="en-US" altLang="zh-CN" sz="2000" b="1" dirty="0">
                <a:solidFill>
                  <a:srgbClr val="000000">
                    <a:hueOff val="0"/>
                    <a:satOff val="0"/>
                    <a:lumOff val="0"/>
                    <a:alphaOff val="0"/>
                  </a:srgbClr>
                </a:solidFill>
                <a:latin typeface="Arial" panose="020B0604020202020204" pitchFamily="34" charset="0"/>
                <a:ea typeface="微软雅黑" panose="020B0503020204020204" pitchFamily="34" charset="-122"/>
              </a:rPr>
              <a:t>improve delivery accuracy </a:t>
            </a:r>
          </a:p>
        </p:txBody>
      </p:sp>
      <p:sp>
        <p:nvSpPr>
          <p:cNvPr id="4" name="Freeform 9">
            <a:extLst>
              <a:ext uri="{FF2B5EF4-FFF2-40B4-BE49-F238E27FC236}">
                <a16:creationId xmlns:a16="http://schemas.microsoft.com/office/drawing/2014/main" id="{1A282546-7F8C-5A5C-53C9-DA7D21470E2F}"/>
              </a:ext>
            </a:extLst>
          </p:cNvPr>
          <p:cNvSpPr/>
          <p:nvPr/>
        </p:nvSpPr>
        <p:spPr>
          <a:xfrm>
            <a:off x="1953685" y="1458384"/>
            <a:ext cx="2139951" cy="1007533"/>
          </a:xfrm>
          <a:custGeom>
            <a:avLst/>
            <a:gdLst>
              <a:gd name="connsiteX0" fmla="*/ 0 w 2139394"/>
              <a:gd name="connsiteY0" fmla="*/ 167984 h 1007882"/>
              <a:gd name="connsiteX1" fmla="*/ 49202 w 2139394"/>
              <a:gd name="connsiteY1" fmla="*/ 49201 h 1007882"/>
              <a:gd name="connsiteX2" fmla="*/ 167985 w 2139394"/>
              <a:gd name="connsiteY2" fmla="*/ 0 h 1007882"/>
              <a:gd name="connsiteX3" fmla="*/ 1971410 w 2139394"/>
              <a:gd name="connsiteY3" fmla="*/ 0 h 1007882"/>
              <a:gd name="connsiteX4" fmla="*/ 2090193 w 2139394"/>
              <a:gd name="connsiteY4" fmla="*/ 49202 h 1007882"/>
              <a:gd name="connsiteX5" fmla="*/ 2139394 w 2139394"/>
              <a:gd name="connsiteY5" fmla="*/ 167985 h 1007882"/>
              <a:gd name="connsiteX6" fmla="*/ 2139394 w 2139394"/>
              <a:gd name="connsiteY6" fmla="*/ 839898 h 1007882"/>
              <a:gd name="connsiteX7" fmla="*/ 2090193 w 2139394"/>
              <a:gd name="connsiteY7" fmla="*/ 958681 h 1007882"/>
              <a:gd name="connsiteX8" fmla="*/ 1971410 w 2139394"/>
              <a:gd name="connsiteY8" fmla="*/ 1007882 h 1007882"/>
              <a:gd name="connsiteX9" fmla="*/ 167984 w 2139394"/>
              <a:gd name="connsiteY9" fmla="*/ 1007882 h 1007882"/>
              <a:gd name="connsiteX10" fmla="*/ 49201 w 2139394"/>
              <a:gd name="connsiteY10" fmla="*/ 958681 h 1007882"/>
              <a:gd name="connsiteX11" fmla="*/ 0 w 2139394"/>
              <a:gd name="connsiteY11" fmla="*/ 839898 h 1007882"/>
              <a:gd name="connsiteX12" fmla="*/ 0 w 2139394"/>
              <a:gd name="connsiteY12" fmla="*/ 167984 h 100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9394" h="1007882">
                <a:moveTo>
                  <a:pt x="0" y="167984"/>
                </a:moveTo>
                <a:cubicBezTo>
                  <a:pt x="0" y="123432"/>
                  <a:pt x="17698" y="80704"/>
                  <a:pt x="49202" y="49201"/>
                </a:cubicBezTo>
                <a:cubicBezTo>
                  <a:pt x="80705" y="17698"/>
                  <a:pt x="123433" y="0"/>
                  <a:pt x="167985" y="0"/>
                </a:cubicBezTo>
                <a:lnTo>
                  <a:pt x="1971410" y="0"/>
                </a:lnTo>
                <a:cubicBezTo>
                  <a:pt x="2015962" y="0"/>
                  <a:pt x="2058690" y="17698"/>
                  <a:pt x="2090193" y="49202"/>
                </a:cubicBezTo>
                <a:cubicBezTo>
                  <a:pt x="2121696" y="80705"/>
                  <a:pt x="2139394" y="123433"/>
                  <a:pt x="2139394" y="167985"/>
                </a:cubicBezTo>
                <a:lnTo>
                  <a:pt x="2139394" y="839898"/>
                </a:lnTo>
                <a:cubicBezTo>
                  <a:pt x="2139394" y="884450"/>
                  <a:pt x="2121696" y="927178"/>
                  <a:pt x="2090193" y="958681"/>
                </a:cubicBezTo>
                <a:cubicBezTo>
                  <a:pt x="2058690" y="990184"/>
                  <a:pt x="2015962" y="1007882"/>
                  <a:pt x="1971410" y="1007882"/>
                </a:cubicBezTo>
                <a:lnTo>
                  <a:pt x="167984" y="1007882"/>
                </a:lnTo>
                <a:cubicBezTo>
                  <a:pt x="123432" y="1007882"/>
                  <a:pt x="80704" y="990184"/>
                  <a:pt x="49201" y="958681"/>
                </a:cubicBezTo>
                <a:cubicBezTo>
                  <a:pt x="17698" y="927178"/>
                  <a:pt x="0" y="884450"/>
                  <a:pt x="0" y="839898"/>
                </a:cubicBezTo>
                <a:lnTo>
                  <a:pt x="0" y="167984"/>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125401" tIns="87301" rIns="125401" bIns="87301" spcCol="1270" anchor="ctr"/>
          <a:lstStyle/>
          <a:p>
            <a:pPr algn="ctr" defTabSz="888978">
              <a:lnSpc>
                <a:spcPct val="90000"/>
              </a:lnSpc>
              <a:spcBef>
                <a:spcPct val="0"/>
              </a:spcBef>
              <a:spcAft>
                <a:spcPct val="35000"/>
              </a:spcAft>
              <a:defRPr/>
            </a:pPr>
            <a:r>
              <a:rPr lang="en-US" altLang="zh-CN" sz="2000" b="1" u="sng" dirty="0">
                <a:solidFill>
                  <a:prstClr val="white"/>
                </a:solidFill>
                <a:latin typeface="Arial" panose="020B0604020202020204" pitchFamily="34" charset="0"/>
                <a:ea typeface="微软雅黑" panose="020B0503020204020204" pitchFamily="34" charset="-122"/>
              </a:rPr>
              <a:t>Unification of Planning and Execution</a:t>
            </a:r>
          </a:p>
        </p:txBody>
      </p:sp>
      <p:sp>
        <p:nvSpPr>
          <p:cNvPr id="6" name="Freeform 11">
            <a:extLst>
              <a:ext uri="{FF2B5EF4-FFF2-40B4-BE49-F238E27FC236}">
                <a16:creationId xmlns:a16="http://schemas.microsoft.com/office/drawing/2014/main" id="{66AC59F3-AF42-2CC8-1374-F55D12588F39}"/>
              </a:ext>
            </a:extLst>
          </p:cNvPr>
          <p:cNvSpPr/>
          <p:nvPr/>
        </p:nvSpPr>
        <p:spPr>
          <a:xfrm>
            <a:off x="1953685" y="2516718"/>
            <a:ext cx="2139951" cy="1007533"/>
          </a:xfrm>
          <a:custGeom>
            <a:avLst/>
            <a:gdLst>
              <a:gd name="connsiteX0" fmla="*/ 0 w 2139394"/>
              <a:gd name="connsiteY0" fmla="*/ 167984 h 1007882"/>
              <a:gd name="connsiteX1" fmla="*/ 49202 w 2139394"/>
              <a:gd name="connsiteY1" fmla="*/ 49201 h 1007882"/>
              <a:gd name="connsiteX2" fmla="*/ 167985 w 2139394"/>
              <a:gd name="connsiteY2" fmla="*/ 0 h 1007882"/>
              <a:gd name="connsiteX3" fmla="*/ 1971410 w 2139394"/>
              <a:gd name="connsiteY3" fmla="*/ 0 h 1007882"/>
              <a:gd name="connsiteX4" fmla="*/ 2090193 w 2139394"/>
              <a:gd name="connsiteY4" fmla="*/ 49202 h 1007882"/>
              <a:gd name="connsiteX5" fmla="*/ 2139394 w 2139394"/>
              <a:gd name="connsiteY5" fmla="*/ 167985 h 1007882"/>
              <a:gd name="connsiteX6" fmla="*/ 2139394 w 2139394"/>
              <a:gd name="connsiteY6" fmla="*/ 839898 h 1007882"/>
              <a:gd name="connsiteX7" fmla="*/ 2090193 w 2139394"/>
              <a:gd name="connsiteY7" fmla="*/ 958681 h 1007882"/>
              <a:gd name="connsiteX8" fmla="*/ 1971410 w 2139394"/>
              <a:gd name="connsiteY8" fmla="*/ 1007882 h 1007882"/>
              <a:gd name="connsiteX9" fmla="*/ 167984 w 2139394"/>
              <a:gd name="connsiteY9" fmla="*/ 1007882 h 1007882"/>
              <a:gd name="connsiteX10" fmla="*/ 49201 w 2139394"/>
              <a:gd name="connsiteY10" fmla="*/ 958681 h 1007882"/>
              <a:gd name="connsiteX11" fmla="*/ 0 w 2139394"/>
              <a:gd name="connsiteY11" fmla="*/ 839898 h 1007882"/>
              <a:gd name="connsiteX12" fmla="*/ 0 w 2139394"/>
              <a:gd name="connsiteY12" fmla="*/ 167984 h 100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9394" h="1007882">
                <a:moveTo>
                  <a:pt x="0" y="167984"/>
                </a:moveTo>
                <a:cubicBezTo>
                  <a:pt x="0" y="123432"/>
                  <a:pt x="17698" y="80704"/>
                  <a:pt x="49202" y="49201"/>
                </a:cubicBezTo>
                <a:cubicBezTo>
                  <a:pt x="80705" y="17698"/>
                  <a:pt x="123433" y="0"/>
                  <a:pt x="167985" y="0"/>
                </a:cubicBezTo>
                <a:lnTo>
                  <a:pt x="1971410" y="0"/>
                </a:lnTo>
                <a:cubicBezTo>
                  <a:pt x="2015962" y="0"/>
                  <a:pt x="2058690" y="17698"/>
                  <a:pt x="2090193" y="49202"/>
                </a:cubicBezTo>
                <a:cubicBezTo>
                  <a:pt x="2121696" y="80705"/>
                  <a:pt x="2139394" y="123433"/>
                  <a:pt x="2139394" y="167985"/>
                </a:cubicBezTo>
                <a:lnTo>
                  <a:pt x="2139394" y="839898"/>
                </a:lnTo>
                <a:cubicBezTo>
                  <a:pt x="2139394" y="884450"/>
                  <a:pt x="2121696" y="927178"/>
                  <a:pt x="2090193" y="958681"/>
                </a:cubicBezTo>
                <a:cubicBezTo>
                  <a:pt x="2058690" y="990184"/>
                  <a:pt x="2015962" y="1007882"/>
                  <a:pt x="1971410" y="1007882"/>
                </a:cubicBezTo>
                <a:lnTo>
                  <a:pt x="167984" y="1007882"/>
                </a:lnTo>
                <a:cubicBezTo>
                  <a:pt x="123432" y="1007882"/>
                  <a:pt x="80704" y="990184"/>
                  <a:pt x="49201" y="958681"/>
                </a:cubicBezTo>
                <a:cubicBezTo>
                  <a:pt x="17698" y="927178"/>
                  <a:pt x="0" y="884450"/>
                  <a:pt x="0" y="839898"/>
                </a:cubicBezTo>
                <a:lnTo>
                  <a:pt x="0" y="167984"/>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125401" tIns="87301" rIns="125401" bIns="87301" spcCol="1270" anchor="ctr"/>
          <a:lstStyle/>
          <a:p>
            <a:pPr algn="ctr" defTabSz="888978">
              <a:lnSpc>
                <a:spcPct val="90000"/>
              </a:lnSpc>
              <a:spcBef>
                <a:spcPct val="0"/>
              </a:spcBef>
              <a:spcAft>
                <a:spcPct val="35000"/>
              </a:spcAft>
              <a:defRPr/>
            </a:pPr>
            <a:r>
              <a:rPr lang="en-US" altLang="zh-CN" sz="2000" b="1" u="sng" dirty="0">
                <a:solidFill>
                  <a:prstClr val="white"/>
                </a:solidFill>
                <a:latin typeface="Arial" panose="020B0604020202020204" pitchFamily="34" charset="0"/>
                <a:ea typeface="微软雅黑" panose="020B0503020204020204" pitchFamily="34" charset="-122"/>
              </a:rPr>
              <a:t>Keep CTP Accuracy</a:t>
            </a:r>
          </a:p>
        </p:txBody>
      </p:sp>
      <p:sp>
        <p:nvSpPr>
          <p:cNvPr id="7" name="Freeform 12">
            <a:extLst>
              <a:ext uri="{FF2B5EF4-FFF2-40B4-BE49-F238E27FC236}">
                <a16:creationId xmlns:a16="http://schemas.microsoft.com/office/drawing/2014/main" id="{3F270C01-F998-4768-4060-0194526CB26A}"/>
              </a:ext>
            </a:extLst>
          </p:cNvPr>
          <p:cNvSpPr/>
          <p:nvPr/>
        </p:nvSpPr>
        <p:spPr>
          <a:xfrm>
            <a:off x="4093634" y="3676651"/>
            <a:ext cx="5738284" cy="806451"/>
          </a:xfrm>
          <a:custGeom>
            <a:avLst/>
            <a:gdLst>
              <a:gd name="connsiteX0" fmla="*/ 134387 w 806306"/>
              <a:gd name="connsiteY0" fmla="*/ 0 h 5737036"/>
              <a:gd name="connsiteX1" fmla="*/ 671919 w 806306"/>
              <a:gd name="connsiteY1" fmla="*/ 0 h 5737036"/>
              <a:gd name="connsiteX2" fmla="*/ 766945 w 806306"/>
              <a:gd name="connsiteY2" fmla="*/ 39361 h 5737036"/>
              <a:gd name="connsiteX3" fmla="*/ 806306 w 806306"/>
              <a:gd name="connsiteY3" fmla="*/ 134387 h 5737036"/>
              <a:gd name="connsiteX4" fmla="*/ 806306 w 806306"/>
              <a:gd name="connsiteY4" fmla="*/ 5737036 h 5737036"/>
              <a:gd name="connsiteX5" fmla="*/ 806306 w 806306"/>
              <a:gd name="connsiteY5" fmla="*/ 5737036 h 5737036"/>
              <a:gd name="connsiteX6" fmla="*/ 806306 w 806306"/>
              <a:gd name="connsiteY6" fmla="*/ 5737036 h 5737036"/>
              <a:gd name="connsiteX7" fmla="*/ 0 w 806306"/>
              <a:gd name="connsiteY7" fmla="*/ 5737036 h 5737036"/>
              <a:gd name="connsiteX8" fmla="*/ 0 w 806306"/>
              <a:gd name="connsiteY8" fmla="*/ 5737036 h 5737036"/>
              <a:gd name="connsiteX9" fmla="*/ 0 w 806306"/>
              <a:gd name="connsiteY9" fmla="*/ 5737036 h 5737036"/>
              <a:gd name="connsiteX10" fmla="*/ 0 w 806306"/>
              <a:gd name="connsiteY10" fmla="*/ 134387 h 5737036"/>
              <a:gd name="connsiteX11" fmla="*/ 39361 w 806306"/>
              <a:gd name="connsiteY11" fmla="*/ 39361 h 5737036"/>
              <a:gd name="connsiteX12" fmla="*/ 134387 w 806306"/>
              <a:gd name="connsiteY12" fmla="*/ 0 h 573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6306" h="5737036">
                <a:moveTo>
                  <a:pt x="806306" y="956194"/>
                </a:moveTo>
                <a:lnTo>
                  <a:pt x="806306" y="4780842"/>
                </a:lnTo>
                <a:cubicBezTo>
                  <a:pt x="806306" y="5034442"/>
                  <a:pt x="804316" y="5277654"/>
                  <a:pt x="800774" y="5456971"/>
                </a:cubicBezTo>
                <a:cubicBezTo>
                  <a:pt x="797232" y="5636288"/>
                  <a:pt x="792428" y="5737032"/>
                  <a:pt x="787419" y="5737032"/>
                </a:cubicBezTo>
                <a:lnTo>
                  <a:pt x="0" y="5737032"/>
                </a:lnTo>
                <a:lnTo>
                  <a:pt x="0" y="5737032"/>
                </a:lnTo>
                <a:lnTo>
                  <a:pt x="0" y="5737032"/>
                </a:lnTo>
                <a:lnTo>
                  <a:pt x="0" y="4"/>
                </a:lnTo>
                <a:lnTo>
                  <a:pt x="0" y="4"/>
                </a:lnTo>
                <a:lnTo>
                  <a:pt x="0" y="4"/>
                </a:lnTo>
                <a:lnTo>
                  <a:pt x="787419" y="4"/>
                </a:lnTo>
                <a:cubicBezTo>
                  <a:pt x="792428" y="4"/>
                  <a:pt x="797232" y="100748"/>
                  <a:pt x="800774" y="280065"/>
                </a:cubicBezTo>
                <a:cubicBezTo>
                  <a:pt x="804316" y="459382"/>
                  <a:pt x="806306" y="702594"/>
                  <a:pt x="806306" y="956194"/>
                </a:cubicBezTo>
                <a:close/>
              </a:path>
            </a:pathLst>
          </a:custGeom>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247651" tIns="163185" rIns="287011" bIns="163187" spcCol="1270" anchor="ctr"/>
          <a:lstStyle/>
          <a:p>
            <a:pPr marL="228594" lvl="1" indent="-228594" defTabSz="888978">
              <a:lnSpc>
                <a:spcPct val="90000"/>
              </a:lnSpc>
              <a:spcBef>
                <a:spcPct val="0"/>
              </a:spcBef>
              <a:spcAft>
                <a:spcPct val="15000"/>
              </a:spcAft>
              <a:buFontTx/>
              <a:buChar char="•"/>
              <a:defRPr/>
            </a:pPr>
            <a:r>
              <a:rPr lang="en-US" sz="2000" dirty="0">
                <a:solidFill>
                  <a:srgbClr val="000000">
                    <a:hueOff val="0"/>
                    <a:satOff val="0"/>
                    <a:lumOff val="0"/>
                    <a:alphaOff val="0"/>
                  </a:srgbClr>
                </a:solidFill>
                <a:latin typeface="Arial" panose="020B0604020202020204" pitchFamily="34" charset="0"/>
                <a:ea typeface="微软雅黑" panose="020B0503020204020204" pitchFamily="34" charset="-122"/>
              </a:rPr>
              <a:t>How to give consideration to delivery </a:t>
            </a:r>
            <a:r>
              <a:rPr lang="en-US" sz="2000" b="1" dirty="0">
                <a:solidFill>
                  <a:srgbClr val="000000">
                    <a:hueOff val="0"/>
                    <a:satOff val="0"/>
                    <a:lumOff val="0"/>
                    <a:alphaOff val="0"/>
                  </a:srgbClr>
                </a:solidFill>
                <a:latin typeface="Arial" panose="020B0604020202020204" pitchFamily="34" charset="0"/>
                <a:ea typeface="微软雅黑" panose="020B0503020204020204" pitchFamily="34" charset="-122"/>
              </a:rPr>
              <a:t>speed</a:t>
            </a:r>
          </a:p>
          <a:p>
            <a:pPr marL="228594" lvl="1" indent="-228594" defTabSz="888978">
              <a:lnSpc>
                <a:spcPct val="90000"/>
              </a:lnSpc>
              <a:spcBef>
                <a:spcPct val="0"/>
              </a:spcBef>
              <a:spcAft>
                <a:spcPct val="15000"/>
              </a:spcAft>
              <a:buFontTx/>
              <a:buChar char="•"/>
              <a:defRPr/>
            </a:pPr>
            <a:r>
              <a:rPr lang="en-US" sz="2000" dirty="0">
                <a:solidFill>
                  <a:srgbClr val="000000">
                    <a:hueOff val="0"/>
                    <a:satOff val="0"/>
                    <a:lumOff val="0"/>
                    <a:alphaOff val="0"/>
                  </a:srgbClr>
                </a:solidFill>
                <a:latin typeface="Arial" panose="020B0604020202020204" pitchFamily="34" charset="0"/>
                <a:ea typeface="微软雅黑" panose="020B0503020204020204" pitchFamily="34" charset="-122"/>
              </a:rPr>
              <a:t>How to </a:t>
            </a:r>
            <a:r>
              <a:rPr lang="en-US" sz="2000" b="1" dirty="0">
                <a:solidFill>
                  <a:srgbClr val="000000">
                    <a:hueOff val="0"/>
                    <a:satOff val="0"/>
                    <a:lumOff val="0"/>
                    <a:alphaOff val="0"/>
                  </a:srgbClr>
                </a:solidFill>
                <a:latin typeface="Arial" panose="020B0604020202020204" pitchFamily="34" charset="0"/>
                <a:ea typeface="微软雅黑" panose="020B0503020204020204" pitchFamily="34" charset="-122"/>
              </a:rPr>
              <a:t>optimize</a:t>
            </a:r>
            <a:r>
              <a:rPr lang="en-US" sz="2000" dirty="0">
                <a:solidFill>
                  <a:srgbClr val="000000">
                    <a:hueOff val="0"/>
                    <a:satOff val="0"/>
                    <a:lumOff val="0"/>
                    <a:alphaOff val="0"/>
                  </a:srgbClr>
                </a:solidFill>
                <a:latin typeface="Arial" panose="020B0604020202020204" pitchFamily="34" charset="0"/>
                <a:ea typeface="微软雅黑" panose="020B0503020204020204" pitchFamily="34" charset="-122"/>
              </a:rPr>
              <a:t> capacity utilization</a:t>
            </a:r>
          </a:p>
        </p:txBody>
      </p:sp>
      <p:sp>
        <p:nvSpPr>
          <p:cNvPr id="8" name="Freeform 13">
            <a:extLst>
              <a:ext uri="{FF2B5EF4-FFF2-40B4-BE49-F238E27FC236}">
                <a16:creationId xmlns:a16="http://schemas.microsoft.com/office/drawing/2014/main" id="{99AF4DFA-CC97-AACE-960F-49C66C90F3F2}"/>
              </a:ext>
            </a:extLst>
          </p:cNvPr>
          <p:cNvSpPr/>
          <p:nvPr/>
        </p:nvSpPr>
        <p:spPr>
          <a:xfrm>
            <a:off x="1953685" y="3575051"/>
            <a:ext cx="2139951" cy="1007533"/>
          </a:xfrm>
          <a:custGeom>
            <a:avLst/>
            <a:gdLst>
              <a:gd name="connsiteX0" fmla="*/ 0 w 2139394"/>
              <a:gd name="connsiteY0" fmla="*/ 167984 h 1007882"/>
              <a:gd name="connsiteX1" fmla="*/ 49202 w 2139394"/>
              <a:gd name="connsiteY1" fmla="*/ 49201 h 1007882"/>
              <a:gd name="connsiteX2" fmla="*/ 167985 w 2139394"/>
              <a:gd name="connsiteY2" fmla="*/ 0 h 1007882"/>
              <a:gd name="connsiteX3" fmla="*/ 1971410 w 2139394"/>
              <a:gd name="connsiteY3" fmla="*/ 0 h 1007882"/>
              <a:gd name="connsiteX4" fmla="*/ 2090193 w 2139394"/>
              <a:gd name="connsiteY4" fmla="*/ 49202 h 1007882"/>
              <a:gd name="connsiteX5" fmla="*/ 2139394 w 2139394"/>
              <a:gd name="connsiteY5" fmla="*/ 167985 h 1007882"/>
              <a:gd name="connsiteX6" fmla="*/ 2139394 w 2139394"/>
              <a:gd name="connsiteY6" fmla="*/ 839898 h 1007882"/>
              <a:gd name="connsiteX7" fmla="*/ 2090193 w 2139394"/>
              <a:gd name="connsiteY7" fmla="*/ 958681 h 1007882"/>
              <a:gd name="connsiteX8" fmla="*/ 1971410 w 2139394"/>
              <a:gd name="connsiteY8" fmla="*/ 1007882 h 1007882"/>
              <a:gd name="connsiteX9" fmla="*/ 167984 w 2139394"/>
              <a:gd name="connsiteY9" fmla="*/ 1007882 h 1007882"/>
              <a:gd name="connsiteX10" fmla="*/ 49201 w 2139394"/>
              <a:gd name="connsiteY10" fmla="*/ 958681 h 1007882"/>
              <a:gd name="connsiteX11" fmla="*/ 0 w 2139394"/>
              <a:gd name="connsiteY11" fmla="*/ 839898 h 1007882"/>
              <a:gd name="connsiteX12" fmla="*/ 0 w 2139394"/>
              <a:gd name="connsiteY12" fmla="*/ 167984 h 100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9394" h="1007882">
                <a:moveTo>
                  <a:pt x="0" y="167984"/>
                </a:moveTo>
                <a:cubicBezTo>
                  <a:pt x="0" y="123432"/>
                  <a:pt x="17698" y="80704"/>
                  <a:pt x="49202" y="49201"/>
                </a:cubicBezTo>
                <a:cubicBezTo>
                  <a:pt x="80705" y="17698"/>
                  <a:pt x="123433" y="0"/>
                  <a:pt x="167985" y="0"/>
                </a:cubicBezTo>
                <a:lnTo>
                  <a:pt x="1971410" y="0"/>
                </a:lnTo>
                <a:cubicBezTo>
                  <a:pt x="2015962" y="0"/>
                  <a:pt x="2058690" y="17698"/>
                  <a:pt x="2090193" y="49202"/>
                </a:cubicBezTo>
                <a:cubicBezTo>
                  <a:pt x="2121696" y="80705"/>
                  <a:pt x="2139394" y="123433"/>
                  <a:pt x="2139394" y="167985"/>
                </a:cubicBezTo>
                <a:lnTo>
                  <a:pt x="2139394" y="839898"/>
                </a:lnTo>
                <a:cubicBezTo>
                  <a:pt x="2139394" y="884450"/>
                  <a:pt x="2121696" y="927178"/>
                  <a:pt x="2090193" y="958681"/>
                </a:cubicBezTo>
                <a:cubicBezTo>
                  <a:pt x="2058690" y="990184"/>
                  <a:pt x="2015962" y="1007882"/>
                  <a:pt x="1971410" y="1007882"/>
                </a:cubicBezTo>
                <a:lnTo>
                  <a:pt x="167984" y="1007882"/>
                </a:lnTo>
                <a:cubicBezTo>
                  <a:pt x="123432" y="1007882"/>
                  <a:pt x="80704" y="990184"/>
                  <a:pt x="49201" y="958681"/>
                </a:cubicBezTo>
                <a:cubicBezTo>
                  <a:pt x="17698" y="927178"/>
                  <a:pt x="0" y="884450"/>
                  <a:pt x="0" y="839898"/>
                </a:cubicBezTo>
                <a:lnTo>
                  <a:pt x="0" y="167984"/>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125401" tIns="87301" rIns="125401" bIns="87301" anchor="ctr"/>
          <a:lstStyle/>
          <a:p>
            <a:pPr algn="ctr" defTabSz="888978" fontAlgn="base">
              <a:lnSpc>
                <a:spcPct val="90000"/>
              </a:lnSpc>
              <a:spcBef>
                <a:spcPct val="0"/>
              </a:spcBef>
              <a:spcAft>
                <a:spcPct val="35000"/>
              </a:spcAft>
              <a:defRPr/>
            </a:pPr>
            <a:r>
              <a:rPr lang="en-US" altLang="zh-CN" sz="2000" b="1" dirty="0">
                <a:solidFill>
                  <a:srgbClr val="FFFFFF"/>
                </a:solidFill>
                <a:latin typeface="Arial" panose="020B0604020202020204" pitchFamily="34" charset="0"/>
                <a:ea typeface="微软雅黑" panose="020B0503020204020204" pitchFamily="34" charset="-122"/>
                <a:cs typeface="黑体" panose="02010609060101010101" charset="-122"/>
              </a:rPr>
              <a:t>Sync CTP and OTS/Capacity</a:t>
            </a:r>
            <a:endParaRPr lang="en-US" altLang="zh-CN" sz="2000" b="1" u="sng" dirty="0">
              <a:solidFill>
                <a:srgbClr val="FFFFFF"/>
              </a:solidFill>
              <a:latin typeface="Arial" panose="020B0604020202020204" pitchFamily="34" charset="0"/>
              <a:ea typeface="微软雅黑" panose="020B0503020204020204" pitchFamily="34" charset="-122"/>
              <a:cs typeface="宋体" panose="02010600030101010101" pitchFamily="2" charset="-122"/>
            </a:endParaRPr>
          </a:p>
        </p:txBody>
      </p:sp>
      <p:sp>
        <p:nvSpPr>
          <p:cNvPr id="10" name="Freeform 10">
            <a:extLst>
              <a:ext uri="{FF2B5EF4-FFF2-40B4-BE49-F238E27FC236}">
                <a16:creationId xmlns:a16="http://schemas.microsoft.com/office/drawing/2014/main" id="{076622C2-20C9-AEF4-F59B-CB23A33787AF}"/>
              </a:ext>
            </a:extLst>
          </p:cNvPr>
          <p:cNvSpPr/>
          <p:nvPr/>
        </p:nvSpPr>
        <p:spPr>
          <a:xfrm>
            <a:off x="4111174" y="2548466"/>
            <a:ext cx="5738284" cy="996951"/>
          </a:xfrm>
          <a:custGeom>
            <a:avLst/>
            <a:gdLst>
              <a:gd name="connsiteX0" fmla="*/ 134387 w 806306"/>
              <a:gd name="connsiteY0" fmla="*/ 0 h 5737036"/>
              <a:gd name="connsiteX1" fmla="*/ 671919 w 806306"/>
              <a:gd name="connsiteY1" fmla="*/ 0 h 5737036"/>
              <a:gd name="connsiteX2" fmla="*/ 766945 w 806306"/>
              <a:gd name="connsiteY2" fmla="*/ 39361 h 5737036"/>
              <a:gd name="connsiteX3" fmla="*/ 806306 w 806306"/>
              <a:gd name="connsiteY3" fmla="*/ 134387 h 5737036"/>
              <a:gd name="connsiteX4" fmla="*/ 806306 w 806306"/>
              <a:gd name="connsiteY4" fmla="*/ 5737036 h 5737036"/>
              <a:gd name="connsiteX5" fmla="*/ 806306 w 806306"/>
              <a:gd name="connsiteY5" fmla="*/ 5737036 h 5737036"/>
              <a:gd name="connsiteX6" fmla="*/ 806306 w 806306"/>
              <a:gd name="connsiteY6" fmla="*/ 5737036 h 5737036"/>
              <a:gd name="connsiteX7" fmla="*/ 0 w 806306"/>
              <a:gd name="connsiteY7" fmla="*/ 5737036 h 5737036"/>
              <a:gd name="connsiteX8" fmla="*/ 0 w 806306"/>
              <a:gd name="connsiteY8" fmla="*/ 5737036 h 5737036"/>
              <a:gd name="connsiteX9" fmla="*/ 0 w 806306"/>
              <a:gd name="connsiteY9" fmla="*/ 5737036 h 5737036"/>
              <a:gd name="connsiteX10" fmla="*/ 0 w 806306"/>
              <a:gd name="connsiteY10" fmla="*/ 134387 h 5737036"/>
              <a:gd name="connsiteX11" fmla="*/ 39361 w 806306"/>
              <a:gd name="connsiteY11" fmla="*/ 39361 h 5737036"/>
              <a:gd name="connsiteX12" fmla="*/ 134387 w 806306"/>
              <a:gd name="connsiteY12" fmla="*/ 0 h 573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6306" h="5737036">
                <a:moveTo>
                  <a:pt x="806306" y="956194"/>
                </a:moveTo>
                <a:lnTo>
                  <a:pt x="806306" y="4780842"/>
                </a:lnTo>
                <a:cubicBezTo>
                  <a:pt x="806306" y="5034442"/>
                  <a:pt x="804316" y="5277654"/>
                  <a:pt x="800774" y="5456971"/>
                </a:cubicBezTo>
                <a:cubicBezTo>
                  <a:pt x="797232" y="5636288"/>
                  <a:pt x="792428" y="5737032"/>
                  <a:pt x="787419" y="5737032"/>
                </a:cubicBezTo>
                <a:lnTo>
                  <a:pt x="0" y="5737032"/>
                </a:lnTo>
                <a:lnTo>
                  <a:pt x="0" y="5737032"/>
                </a:lnTo>
                <a:lnTo>
                  <a:pt x="0" y="5737032"/>
                </a:lnTo>
                <a:lnTo>
                  <a:pt x="0" y="4"/>
                </a:lnTo>
                <a:lnTo>
                  <a:pt x="0" y="4"/>
                </a:lnTo>
                <a:lnTo>
                  <a:pt x="0" y="4"/>
                </a:lnTo>
                <a:lnTo>
                  <a:pt x="787419" y="4"/>
                </a:lnTo>
                <a:cubicBezTo>
                  <a:pt x="792428" y="4"/>
                  <a:pt x="797232" y="100748"/>
                  <a:pt x="800774" y="280065"/>
                </a:cubicBezTo>
                <a:cubicBezTo>
                  <a:pt x="804316" y="459382"/>
                  <a:pt x="806306" y="702594"/>
                  <a:pt x="806306" y="956194"/>
                </a:cubicBezTo>
                <a:close/>
              </a:path>
            </a:pathLst>
          </a:custGeom>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247651" tIns="163185" rIns="287011" bIns="163187" anchor="ctr"/>
          <a:lstStyle/>
          <a:p>
            <a:pPr marL="228594" lvl="1" indent="-228594" defTabSz="888978" fontAlgn="base">
              <a:lnSpc>
                <a:spcPct val="90000"/>
              </a:lnSpc>
              <a:spcBef>
                <a:spcPct val="0"/>
              </a:spcBef>
              <a:spcAft>
                <a:spcPct val="15000"/>
              </a:spcAft>
              <a:buFontTx/>
              <a:buChar char="•"/>
              <a:defRPr/>
            </a:pPr>
            <a:r>
              <a:rPr lang="en-US" altLang="zh-CN" sz="1867" dirty="0">
                <a:solidFill>
                  <a:srgbClr val="000000"/>
                </a:solidFill>
                <a:latin typeface="Arial" panose="020B0604020202020204" pitchFamily="34" charset="0"/>
                <a:ea typeface="微软雅黑" panose="020B0503020204020204" pitchFamily="34" charset="-122"/>
                <a:cs typeface="微软雅黑" panose="020B0503020204020204" pitchFamily="34" charset="-122"/>
              </a:rPr>
              <a:t>Keep CTP for promised order through </a:t>
            </a:r>
            <a:r>
              <a:rPr lang="en-US" altLang="zh-CN" sz="1867" b="1" dirty="0">
                <a:solidFill>
                  <a:srgbClr val="000000"/>
                </a:solidFill>
                <a:latin typeface="Arial" panose="020B0604020202020204" pitchFamily="34" charset="0"/>
                <a:ea typeface="微软雅黑" panose="020B0503020204020204" pitchFamily="34" charset="-122"/>
                <a:cs typeface="微软雅黑" panose="020B0503020204020204" pitchFamily="34" charset="-122"/>
              </a:rPr>
              <a:t>Higher Priority</a:t>
            </a:r>
          </a:p>
          <a:p>
            <a:pPr marL="228594" lvl="1" indent="-228594" defTabSz="888978" fontAlgn="base">
              <a:lnSpc>
                <a:spcPct val="90000"/>
              </a:lnSpc>
              <a:spcBef>
                <a:spcPct val="0"/>
              </a:spcBef>
              <a:spcAft>
                <a:spcPct val="15000"/>
              </a:spcAft>
              <a:buFontTx/>
              <a:buChar char="•"/>
              <a:defRPr/>
            </a:pPr>
            <a:r>
              <a:rPr lang="en-US" altLang="zh-CN" sz="1867" dirty="0">
                <a:solidFill>
                  <a:srgbClr val="000000"/>
                </a:solidFill>
                <a:latin typeface="Arial" panose="020B0604020202020204" pitchFamily="34" charset="0"/>
                <a:ea typeface="微软雅黑" panose="020B0503020204020204" pitchFamily="34" charset="-122"/>
                <a:cs typeface="黑体" panose="02010609060101010101" charset="-122"/>
              </a:rPr>
              <a:t>Re-allocate resource to the expectation demand</a:t>
            </a:r>
          </a:p>
        </p:txBody>
      </p:sp>
    </p:spTree>
    <p:extLst>
      <p:ext uri="{BB962C8B-B14F-4D97-AF65-F5344CB8AC3E}">
        <p14:creationId xmlns:p14="http://schemas.microsoft.com/office/powerpoint/2010/main" val="1871703514"/>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3F06C6F-36CA-6BB9-2544-12019F824E7A}"/>
              </a:ext>
            </a:extLst>
          </p:cNvPr>
          <p:cNvSpPr>
            <a:spLocks noGrp="1"/>
          </p:cNvSpPr>
          <p:nvPr>
            <p:ph type="title"/>
          </p:nvPr>
        </p:nvSpPr>
        <p:spPr/>
        <p:txBody>
          <a:bodyPr/>
          <a:lstStyle/>
          <a:p>
            <a:r>
              <a:rPr lang="zh-CN" altLang="en-US" dirty="0">
                <a:solidFill>
                  <a:schemeClr val="bg1"/>
                </a:solidFill>
                <a:latin typeface="Arial" panose="020B0604020202020204" pitchFamily="34" charset="0"/>
                <a:ea typeface="微软雅黑" panose="020B0503020204020204" pitchFamily="34" charset="-122"/>
              </a:rPr>
              <a:t>资源被前序需求占用</a:t>
            </a:r>
          </a:p>
        </p:txBody>
      </p:sp>
      <p:grpSp>
        <p:nvGrpSpPr>
          <p:cNvPr id="3" name="组合 2">
            <a:extLst>
              <a:ext uri="{FF2B5EF4-FFF2-40B4-BE49-F238E27FC236}">
                <a16:creationId xmlns:a16="http://schemas.microsoft.com/office/drawing/2014/main" id="{6DAEDFA4-C9CC-67FB-3831-C9920481DE1C}"/>
              </a:ext>
            </a:extLst>
          </p:cNvPr>
          <p:cNvGrpSpPr/>
          <p:nvPr/>
        </p:nvGrpSpPr>
        <p:grpSpPr>
          <a:xfrm>
            <a:off x="1507971" y="2047424"/>
            <a:ext cx="9485303" cy="3726209"/>
            <a:chOff x="391769" y="1497366"/>
            <a:chExt cx="7642522" cy="3002798"/>
          </a:xfrm>
        </p:grpSpPr>
        <p:cxnSp>
          <p:nvCxnSpPr>
            <p:cNvPr id="4" name="直接箭头连接符 3">
              <a:extLst>
                <a:ext uri="{FF2B5EF4-FFF2-40B4-BE49-F238E27FC236}">
                  <a16:creationId xmlns:a16="http://schemas.microsoft.com/office/drawing/2014/main" id="{0EF0DC45-FDC8-CE54-D862-EF21DCF840A6}"/>
                </a:ext>
              </a:extLst>
            </p:cNvPr>
            <p:cNvCxnSpPr>
              <a:cxnSpLocks/>
            </p:cNvCxnSpPr>
            <p:nvPr/>
          </p:nvCxnSpPr>
          <p:spPr>
            <a:xfrm>
              <a:off x="1553592" y="2630009"/>
              <a:ext cx="6480699" cy="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5" name="直接箭头连接符 4">
              <a:extLst>
                <a:ext uri="{FF2B5EF4-FFF2-40B4-BE49-F238E27FC236}">
                  <a16:creationId xmlns:a16="http://schemas.microsoft.com/office/drawing/2014/main" id="{B3EDDA59-3A41-A5B8-3E49-3E307D579510}"/>
                </a:ext>
              </a:extLst>
            </p:cNvPr>
            <p:cNvCxnSpPr>
              <a:cxnSpLocks/>
            </p:cNvCxnSpPr>
            <p:nvPr/>
          </p:nvCxnSpPr>
          <p:spPr>
            <a:xfrm>
              <a:off x="1581704"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6" name="直接箭头连接符 5">
              <a:extLst>
                <a:ext uri="{FF2B5EF4-FFF2-40B4-BE49-F238E27FC236}">
                  <a16:creationId xmlns:a16="http://schemas.microsoft.com/office/drawing/2014/main" id="{E9C90C62-0DD3-3F18-EC1D-C72F6A7B0BF5}"/>
                </a:ext>
              </a:extLst>
            </p:cNvPr>
            <p:cNvCxnSpPr>
              <a:cxnSpLocks/>
            </p:cNvCxnSpPr>
            <p:nvPr/>
          </p:nvCxnSpPr>
          <p:spPr>
            <a:xfrm>
              <a:off x="2746159"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7" name="直接箭头连接符 6">
              <a:extLst>
                <a:ext uri="{FF2B5EF4-FFF2-40B4-BE49-F238E27FC236}">
                  <a16:creationId xmlns:a16="http://schemas.microsoft.com/office/drawing/2014/main" id="{307B6CCB-4AAF-8C31-8AE5-D0AB3058A2C5}"/>
                </a:ext>
              </a:extLst>
            </p:cNvPr>
            <p:cNvCxnSpPr>
              <a:cxnSpLocks/>
            </p:cNvCxnSpPr>
            <p:nvPr/>
          </p:nvCxnSpPr>
          <p:spPr>
            <a:xfrm>
              <a:off x="3937246"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8" name="直接箭头连接符 7">
              <a:extLst>
                <a:ext uri="{FF2B5EF4-FFF2-40B4-BE49-F238E27FC236}">
                  <a16:creationId xmlns:a16="http://schemas.microsoft.com/office/drawing/2014/main" id="{C6EA66AC-8845-73F9-C79A-BD18A2D929C9}"/>
                </a:ext>
              </a:extLst>
            </p:cNvPr>
            <p:cNvCxnSpPr>
              <a:cxnSpLocks/>
            </p:cNvCxnSpPr>
            <p:nvPr/>
          </p:nvCxnSpPr>
          <p:spPr>
            <a:xfrm>
              <a:off x="5075067"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56236170-64E4-B151-0428-FAFA4364C53A}"/>
                </a:ext>
              </a:extLst>
            </p:cNvPr>
            <p:cNvCxnSpPr>
              <a:cxnSpLocks/>
            </p:cNvCxnSpPr>
            <p:nvPr/>
          </p:nvCxnSpPr>
          <p:spPr>
            <a:xfrm>
              <a:off x="6230644"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FFDA6FDC-E89B-36AD-4A7D-EDD6AE164B98}"/>
                </a:ext>
              </a:extLst>
            </p:cNvPr>
            <p:cNvCxnSpPr>
              <a:cxnSpLocks/>
            </p:cNvCxnSpPr>
            <p:nvPr/>
          </p:nvCxnSpPr>
          <p:spPr>
            <a:xfrm>
              <a:off x="7395098"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6BC8FA3A-CE9B-6162-934B-66CE4716BAD6}"/>
                </a:ext>
              </a:extLst>
            </p:cNvPr>
            <p:cNvSpPr txBox="1"/>
            <p:nvPr/>
          </p:nvSpPr>
          <p:spPr>
            <a:xfrm>
              <a:off x="432045" y="1580226"/>
              <a:ext cx="1305018" cy="272827"/>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Demands</a:t>
              </a:r>
              <a:endParaRPr lang="zh-CN" altLang="en-US" sz="1600" b="1" dirty="0">
                <a:solidFill>
                  <a:schemeClr val="bg1"/>
                </a:solidFill>
                <a:latin typeface="Arial" panose="020B0604020202020204" pitchFamily="34" charset="0"/>
                <a:ea typeface="微软雅黑" panose="020B0503020204020204" pitchFamily="34" charset="-122"/>
              </a:endParaRPr>
            </a:p>
          </p:txBody>
        </p:sp>
        <p:sp>
          <p:nvSpPr>
            <p:cNvPr id="12" name="文本框 11">
              <a:extLst>
                <a:ext uri="{FF2B5EF4-FFF2-40B4-BE49-F238E27FC236}">
                  <a16:creationId xmlns:a16="http://schemas.microsoft.com/office/drawing/2014/main" id="{57E866B5-3830-80CD-21A3-C75A048A9810}"/>
                </a:ext>
              </a:extLst>
            </p:cNvPr>
            <p:cNvSpPr txBox="1"/>
            <p:nvPr/>
          </p:nvSpPr>
          <p:spPr>
            <a:xfrm>
              <a:off x="391769" y="3969367"/>
              <a:ext cx="1305018" cy="272827"/>
            </a:xfrm>
            <a:prstGeom prst="rect">
              <a:avLst/>
            </a:prstGeom>
            <a:noFill/>
          </p:spPr>
          <p:txBody>
            <a:bodyPr wrap="square" rtlCol="0">
              <a:spAutoFit/>
            </a:bodyPr>
            <a:lstStyle/>
            <a:p>
              <a:r>
                <a:rPr lang="en-US" altLang="zh-CN" sz="1600" b="1" dirty="0">
                  <a:solidFill>
                    <a:srgbClr val="FF0000"/>
                  </a:solidFill>
                  <a:latin typeface="Arial" panose="020B0604020202020204" pitchFamily="34" charset="0"/>
                  <a:ea typeface="微软雅黑" panose="020B0503020204020204" pitchFamily="34" charset="-122"/>
                </a:rPr>
                <a:t>Constraints</a:t>
              </a:r>
              <a:endParaRPr lang="zh-CN" altLang="en-US" sz="1600" b="1" dirty="0">
                <a:solidFill>
                  <a:srgbClr val="FF0000"/>
                </a:solidFill>
                <a:latin typeface="Arial" panose="020B0604020202020204" pitchFamily="34" charset="0"/>
                <a:ea typeface="微软雅黑" panose="020B0503020204020204" pitchFamily="34" charset="-122"/>
              </a:endParaRPr>
            </a:p>
          </p:txBody>
        </p:sp>
        <p:sp>
          <p:nvSpPr>
            <p:cNvPr id="13" name="矩形 12">
              <a:extLst>
                <a:ext uri="{FF2B5EF4-FFF2-40B4-BE49-F238E27FC236}">
                  <a16:creationId xmlns:a16="http://schemas.microsoft.com/office/drawing/2014/main" id="{E1B2548B-11F6-81AE-239C-EA0A7FF5DAD1}"/>
                </a:ext>
              </a:extLst>
            </p:cNvPr>
            <p:cNvSpPr/>
            <p:nvPr/>
          </p:nvSpPr>
          <p:spPr>
            <a:xfrm>
              <a:off x="4125160" y="1686874"/>
              <a:ext cx="841895" cy="456343"/>
            </a:xfrm>
            <a:prstGeom prst="rect">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A</a:t>
              </a:r>
            </a:p>
            <a:p>
              <a:pPr algn="ctr"/>
              <a:r>
                <a:rPr lang="en-US" altLang="zh-CN" sz="1200" b="1" dirty="0">
                  <a:latin typeface="Arial" panose="020B0604020202020204" pitchFamily="34" charset="0"/>
                  <a:ea typeface="微软雅黑" panose="020B0503020204020204" pitchFamily="34" charset="-122"/>
                </a:rPr>
                <a:t>100(Low)</a:t>
              </a:r>
              <a:endParaRPr lang="zh-CN" altLang="en-US" sz="1200" b="1" dirty="0">
                <a:latin typeface="Arial" panose="020B0604020202020204" pitchFamily="34" charset="0"/>
                <a:ea typeface="微软雅黑" panose="020B0503020204020204" pitchFamily="34" charset="-122"/>
              </a:endParaRPr>
            </a:p>
          </p:txBody>
        </p:sp>
        <p:sp>
          <p:nvSpPr>
            <p:cNvPr id="14" name="矩形 13">
              <a:extLst>
                <a:ext uri="{FF2B5EF4-FFF2-40B4-BE49-F238E27FC236}">
                  <a16:creationId xmlns:a16="http://schemas.microsoft.com/office/drawing/2014/main" id="{A3EB6237-91F1-CCA3-10E8-5B2F631A9C8E}"/>
                </a:ext>
              </a:extLst>
            </p:cNvPr>
            <p:cNvSpPr/>
            <p:nvPr/>
          </p:nvSpPr>
          <p:spPr>
            <a:xfrm>
              <a:off x="5294790" y="1689612"/>
              <a:ext cx="841895" cy="456343"/>
            </a:xfrm>
            <a:prstGeom prst="rect">
              <a:avLst/>
            </a:prstGeom>
            <a:solidFill>
              <a:srgbClr val="00B050"/>
            </a:solidFill>
            <a:ln>
              <a:solidFill>
                <a:srgbClr val="00B050"/>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B</a:t>
              </a:r>
            </a:p>
            <a:p>
              <a:pPr algn="ctr"/>
              <a:r>
                <a:rPr lang="en-US" altLang="zh-CN" sz="1200" b="1" dirty="0">
                  <a:latin typeface="Arial" panose="020B0604020202020204" pitchFamily="34" charset="0"/>
                  <a:ea typeface="微软雅黑" panose="020B0503020204020204" pitchFamily="34" charset="-122"/>
                </a:rPr>
                <a:t>200(High)</a:t>
              </a:r>
              <a:endParaRPr lang="zh-CN" altLang="en-US" sz="1200" b="1" dirty="0">
                <a:latin typeface="Arial" panose="020B0604020202020204" pitchFamily="34" charset="0"/>
                <a:ea typeface="微软雅黑" panose="020B0503020204020204" pitchFamily="34" charset="-122"/>
              </a:endParaRPr>
            </a:p>
          </p:txBody>
        </p:sp>
        <p:sp>
          <p:nvSpPr>
            <p:cNvPr id="15" name="椭圆 14">
              <a:extLst>
                <a:ext uri="{FF2B5EF4-FFF2-40B4-BE49-F238E27FC236}">
                  <a16:creationId xmlns:a16="http://schemas.microsoft.com/office/drawing/2014/main" id="{79B37B54-1B90-A1BD-7ACF-84FC6AE1E141}"/>
                </a:ext>
              </a:extLst>
            </p:cNvPr>
            <p:cNvSpPr/>
            <p:nvPr/>
          </p:nvSpPr>
          <p:spPr>
            <a:xfrm>
              <a:off x="5335480" y="2822728"/>
              <a:ext cx="760517" cy="606271"/>
            </a:xfrm>
            <a:prstGeom prst="ellipse">
              <a:avLst/>
            </a:prstGeom>
            <a:solidFill>
              <a:srgbClr val="00B050"/>
            </a:solidFill>
            <a:ln>
              <a:solidFill>
                <a:srgbClr val="00B050"/>
              </a:solidFill>
            </a:ln>
          </p:spPr>
          <p:style>
            <a:lnRef idx="3">
              <a:schemeClr val="lt1"/>
            </a:lnRef>
            <a:fillRef idx="1">
              <a:schemeClr val="accent6"/>
            </a:fillRef>
            <a:effectRef idx="1">
              <a:schemeClr val="accent6"/>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B</a:t>
              </a:r>
              <a:r>
                <a:rPr lang="zh-CN" altLang="en-US" sz="1050" i="1" dirty="0">
                  <a:latin typeface="Arial" panose="020B0604020202020204" pitchFamily="34" charset="0"/>
                  <a:ea typeface="微软雅黑" panose="020B0503020204020204" pitchFamily="34" charset="-122"/>
                </a:rPr>
                <a:t>（</a:t>
              </a:r>
              <a:r>
                <a:rPr lang="en-US" altLang="zh-CN" sz="1050" i="1" dirty="0">
                  <a:latin typeface="Arial" panose="020B0604020202020204" pitchFamily="34" charset="0"/>
                  <a:ea typeface="微软雅黑" panose="020B0503020204020204" pitchFamily="34" charset="-122"/>
                </a:rPr>
                <a:t>Future)</a:t>
              </a:r>
            </a:p>
            <a:p>
              <a:pPr algn="ctr"/>
              <a:r>
                <a:rPr lang="en-US" altLang="zh-CN" sz="1600" dirty="0">
                  <a:latin typeface="Arial" panose="020B0604020202020204" pitchFamily="34" charset="0"/>
                  <a:ea typeface="微软雅黑" panose="020B0503020204020204" pitchFamily="34" charset="-122"/>
                </a:rPr>
                <a:t>200</a:t>
              </a:r>
              <a:endParaRPr lang="zh-CN" altLang="en-US" sz="1600" dirty="0">
                <a:latin typeface="Arial" panose="020B0604020202020204" pitchFamily="34" charset="0"/>
                <a:ea typeface="微软雅黑" panose="020B0503020204020204" pitchFamily="34" charset="-122"/>
              </a:endParaRPr>
            </a:p>
          </p:txBody>
        </p:sp>
        <p:sp>
          <p:nvSpPr>
            <p:cNvPr id="16" name="椭圆 15">
              <a:extLst>
                <a:ext uri="{FF2B5EF4-FFF2-40B4-BE49-F238E27FC236}">
                  <a16:creationId xmlns:a16="http://schemas.microsoft.com/office/drawing/2014/main" id="{3DB95099-4FB7-952D-9AE0-C98D9DBAAABC}"/>
                </a:ext>
              </a:extLst>
            </p:cNvPr>
            <p:cNvSpPr/>
            <p:nvPr/>
          </p:nvSpPr>
          <p:spPr>
            <a:xfrm>
              <a:off x="6365290" y="2822729"/>
              <a:ext cx="886284" cy="561626"/>
            </a:xfrm>
            <a:prstGeom prst="ellipse">
              <a:avLst/>
            </a:prstGeom>
          </p:spPr>
          <p:style>
            <a:lnRef idx="1">
              <a:schemeClr val="accent3"/>
            </a:lnRef>
            <a:fillRef idx="3">
              <a:schemeClr val="accent3"/>
            </a:fillRef>
            <a:effectRef idx="2">
              <a:schemeClr val="accent3"/>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A</a:t>
              </a:r>
            </a:p>
            <a:p>
              <a:pPr algn="ctr"/>
              <a:r>
                <a:rPr lang="en-US" altLang="zh-CN" sz="1600" dirty="0">
                  <a:latin typeface="Arial" panose="020B0604020202020204" pitchFamily="34" charset="0"/>
                  <a:ea typeface="微软雅黑" panose="020B0503020204020204" pitchFamily="34" charset="-122"/>
                </a:rPr>
                <a:t>100</a:t>
              </a:r>
            </a:p>
          </p:txBody>
        </p:sp>
        <p:sp>
          <p:nvSpPr>
            <p:cNvPr id="17" name="矩形 16">
              <a:extLst>
                <a:ext uri="{FF2B5EF4-FFF2-40B4-BE49-F238E27FC236}">
                  <a16:creationId xmlns:a16="http://schemas.microsoft.com/office/drawing/2014/main" id="{FAB35C98-4B59-FD9C-B04D-32511739E85B}"/>
                </a:ext>
              </a:extLst>
            </p:cNvPr>
            <p:cNvSpPr/>
            <p:nvPr/>
          </p:nvSpPr>
          <p:spPr>
            <a:xfrm>
              <a:off x="3921348" y="3778922"/>
              <a:ext cx="1137821" cy="630606"/>
            </a:xfrm>
            <a:prstGeom prst="rect">
              <a:avLst/>
            </a:prstGeom>
            <a:solidFill>
              <a:srgbClr val="00AA48"/>
            </a:solidFill>
            <a:ln w="12700">
              <a:solidFill>
                <a:schemeClr val="bg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sp>
          <p:nvSpPr>
            <p:cNvPr id="18" name="矩形 17">
              <a:extLst>
                <a:ext uri="{FF2B5EF4-FFF2-40B4-BE49-F238E27FC236}">
                  <a16:creationId xmlns:a16="http://schemas.microsoft.com/office/drawing/2014/main" id="{6EE468EA-1CF4-7640-2DB4-CAE14390CBE4}"/>
                </a:ext>
              </a:extLst>
            </p:cNvPr>
            <p:cNvSpPr/>
            <p:nvPr/>
          </p:nvSpPr>
          <p:spPr>
            <a:xfrm>
              <a:off x="2746159" y="3780999"/>
              <a:ext cx="1191087" cy="624982"/>
            </a:xfrm>
            <a:prstGeom prst="rect">
              <a:avLst/>
            </a:prstGeom>
            <a:solidFill>
              <a:srgbClr val="00AA48"/>
            </a:solidFill>
            <a:ln w="12700">
              <a:solidFill>
                <a:schemeClr val="bg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cxnSp>
          <p:nvCxnSpPr>
            <p:cNvPr id="19" name="直接箭头连接符 18">
              <a:extLst>
                <a:ext uri="{FF2B5EF4-FFF2-40B4-BE49-F238E27FC236}">
                  <a16:creationId xmlns:a16="http://schemas.microsoft.com/office/drawing/2014/main" id="{DAD6513E-BF96-C968-6535-5DA3B8CD3458}"/>
                </a:ext>
              </a:extLst>
            </p:cNvPr>
            <p:cNvCxnSpPr>
              <a:cxnSpLocks/>
            </p:cNvCxnSpPr>
            <p:nvPr/>
          </p:nvCxnSpPr>
          <p:spPr>
            <a:xfrm>
              <a:off x="1313895" y="3762653"/>
              <a:ext cx="6720396" cy="18345"/>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20" name="连接符: 肘形 19">
              <a:extLst>
                <a:ext uri="{FF2B5EF4-FFF2-40B4-BE49-F238E27FC236}">
                  <a16:creationId xmlns:a16="http://schemas.microsoft.com/office/drawing/2014/main" id="{1C9569CB-60CD-9B83-E721-03C346CFC51F}"/>
                </a:ext>
              </a:extLst>
            </p:cNvPr>
            <p:cNvCxnSpPr>
              <a:cxnSpLocks/>
              <a:stCxn id="18" idx="0"/>
              <a:endCxn id="15" idx="2"/>
            </p:cNvCxnSpPr>
            <p:nvPr/>
          </p:nvCxnSpPr>
          <p:spPr>
            <a:xfrm rot="5400000" flipH="1" flipV="1">
              <a:off x="4011024" y="2456544"/>
              <a:ext cx="655135" cy="1993777"/>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21" name="连接符: 肘形 20">
              <a:extLst>
                <a:ext uri="{FF2B5EF4-FFF2-40B4-BE49-F238E27FC236}">
                  <a16:creationId xmlns:a16="http://schemas.microsoft.com/office/drawing/2014/main" id="{BF43203D-D04E-C803-2786-25DC048B0CB2}"/>
                </a:ext>
              </a:extLst>
            </p:cNvPr>
            <p:cNvCxnSpPr>
              <a:cxnSpLocks/>
              <a:stCxn id="17" idx="0"/>
              <a:endCxn id="15" idx="2"/>
            </p:cNvCxnSpPr>
            <p:nvPr/>
          </p:nvCxnSpPr>
          <p:spPr>
            <a:xfrm rot="5400000" flipH="1" flipV="1">
              <a:off x="4586341" y="3029783"/>
              <a:ext cx="653058" cy="845221"/>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22" name="文本框 21">
              <a:extLst>
                <a:ext uri="{FF2B5EF4-FFF2-40B4-BE49-F238E27FC236}">
                  <a16:creationId xmlns:a16="http://schemas.microsoft.com/office/drawing/2014/main" id="{A3583B2C-FE0E-6867-01E5-0D81DCDAE53E}"/>
                </a:ext>
              </a:extLst>
            </p:cNvPr>
            <p:cNvSpPr txBox="1"/>
            <p:nvPr/>
          </p:nvSpPr>
          <p:spPr>
            <a:xfrm>
              <a:off x="398033" y="4227337"/>
              <a:ext cx="1122023" cy="272827"/>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100/Bucket</a:t>
              </a:r>
              <a:endParaRPr lang="zh-CN" altLang="en-US" sz="1600" b="1" dirty="0">
                <a:solidFill>
                  <a:schemeClr val="bg1"/>
                </a:solidFill>
                <a:latin typeface="Arial" panose="020B0604020202020204" pitchFamily="34" charset="0"/>
                <a:ea typeface="微软雅黑" panose="020B0503020204020204" pitchFamily="34" charset="-122"/>
              </a:endParaRPr>
            </a:p>
          </p:txBody>
        </p:sp>
        <p:sp>
          <p:nvSpPr>
            <p:cNvPr id="23" name="矩形 22">
              <a:extLst>
                <a:ext uri="{FF2B5EF4-FFF2-40B4-BE49-F238E27FC236}">
                  <a16:creationId xmlns:a16="http://schemas.microsoft.com/office/drawing/2014/main" id="{8DD3A7F4-1760-D98B-2635-6789A38C99B7}"/>
                </a:ext>
              </a:extLst>
            </p:cNvPr>
            <p:cNvSpPr/>
            <p:nvPr/>
          </p:nvSpPr>
          <p:spPr>
            <a:xfrm>
              <a:off x="1581704" y="3790465"/>
              <a:ext cx="1191087" cy="615515"/>
            </a:xfrm>
            <a:prstGeom prst="rect">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zh-CN" altLang="en-US" sz="1600" dirty="0">
                  <a:latin typeface="Arial" panose="020B0604020202020204" pitchFamily="34" charset="0"/>
                  <a:ea typeface="微软雅黑" panose="020B0503020204020204" pitchFamily="34" charset="-122"/>
                </a:rPr>
                <a:t>空闲</a:t>
              </a:r>
            </a:p>
          </p:txBody>
        </p:sp>
        <p:sp>
          <p:nvSpPr>
            <p:cNvPr id="24" name="矩形 23">
              <a:extLst>
                <a:ext uri="{FF2B5EF4-FFF2-40B4-BE49-F238E27FC236}">
                  <a16:creationId xmlns:a16="http://schemas.microsoft.com/office/drawing/2014/main" id="{24934F32-4793-73F6-EF8D-264890147894}"/>
                </a:ext>
              </a:extLst>
            </p:cNvPr>
            <p:cNvSpPr/>
            <p:nvPr/>
          </p:nvSpPr>
          <p:spPr>
            <a:xfrm>
              <a:off x="5063373" y="3763535"/>
              <a:ext cx="1174815" cy="635332"/>
            </a:xfrm>
            <a:prstGeom prst="rect">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endParaRPr lang="zh-CN" altLang="en-US" sz="1600" dirty="0">
                <a:latin typeface="+mn-ea"/>
              </a:endParaRPr>
            </a:p>
          </p:txBody>
        </p:sp>
        <p:cxnSp>
          <p:nvCxnSpPr>
            <p:cNvPr id="25" name="连接符: 肘形 24">
              <a:extLst>
                <a:ext uri="{FF2B5EF4-FFF2-40B4-BE49-F238E27FC236}">
                  <a16:creationId xmlns:a16="http://schemas.microsoft.com/office/drawing/2014/main" id="{C5C1732C-B02D-79FE-72C8-AFA73A7C5873}"/>
                </a:ext>
              </a:extLst>
            </p:cNvPr>
            <p:cNvCxnSpPr>
              <a:cxnSpLocks/>
              <a:stCxn id="24" idx="0"/>
              <a:endCxn id="16" idx="4"/>
            </p:cNvCxnSpPr>
            <p:nvPr/>
          </p:nvCxnSpPr>
          <p:spPr>
            <a:xfrm rot="5400000" flipH="1" flipV="1">
              <a:off x="6040017" y="2995120"/>
              <a:ext cx="379180" cy="1157652"/>
            </a:xfrm>
            <a:prstGeom prst="bentConnector3">
              <a:avLst>
                <a:gd name="adj1" fmla="val 50000"/>
              </a:avLst>
            </a:prstGeom>
            <a:ln>
              <a:headEnd type="none" w="med" len="med"/>
              <a:tailEnd type="arrow" w="med" len="med"/>
            </a:ln>
          </p:spPr>
          <p:style>
            <a:lnRef idx="3">
              <a:schemeClr val="accent1"/>
            </a:lnRef>
            <a:fillRef idx="0">
              <a:schemeClr val="accent1"/>
            </a:fillRef>
            <a:effectRef idx="2">
              <a:schemeClr val="accent1"/>
            </a:effectRef>
            <a:fontRef idx="minor">
              <a:schemeClr val="tx1"/>
            </a:fontRef>
          </p:style>
        </p:cxnSp>
      </p:grpSp>
      <p:cxnSp>
        <p:nvCxnSpPr>
          <p:cNvPr id="26" name="连接符: 肘形 25">
            <a:extLst>
              <a:ext uri="{FF2B5EF4-FFF2-40B4-BE49-F238E27FC236}">
                <a16:creationId xmlns:a16="http://schemas.microsoft.com/office/drawing/2014/main" id="{E4A556DD-B869-27DE-2B94-E25AB589E035}"/>
              </a:ext>
            </a:extLst>
          </p:cNvPr>
          <p:cNvCxnSpPr>
            <a:cxnSpLocks/>
            <a:stCxn id="16" idx="6"/>
            <a:endCxn id="27" idx="2"/>
          </p:cNvCxnSpPr>
          <p:nvPr/>
        </p:nvCxnSpPr>
        <p:spPr>
          <a:xfrm flipH="1">
            <a:off x="4579318" y="4040548"/>
            <a:ext cx="5442509" cy="2169144"/>
          </a:xfrm>
          <a:prstGeom prst="bentConnector4">
            <a:avLst>
              <a:gd name="adj1" fmla="val -3514"/>
              <a:gd name="adj2" fmla="val 110539"/>
            </a:avLst>
          </a:prstGeom>
          <a:ln>
            <a:headEnd type="none" w="med" len="med"/>
            <a:tailEnd type="arrow" w="med" len="med"/>
          </a:ln>
        </p:spPr>
        <p:style>
          <a:lnRef idx="3">
            <a:schemeClr val="accent1"/>
          </a:lnRef>
          <a:fillRef idx="0">
            <a:schemeClr val="accent1"/>
          </a:fillRef>
          <a:effectRef idx="2">
            <a:schemeClr val="accent1"/>
          </a:effectRef>
          <a:fontRef idx="minor">
            <a:schemeClr val="tx1"/>
          </a:fontRef>
        </p:style>
      </p:cxnSp>
      <p:sp>
        <p:nvSpPr>
          <p:cNvPr id="27" name="文本框 26">
            <a:extLst>
              <a:ext uri="{FF2B5EF4-FFF2-40B4-BE49-F238E27FC236}">
                <a16:creationId xmlns:a16="http://schemas.microsoft.com/office/drawing/2014/main" id="{8B3D2018-8ADE-AB23-C227-A882BE8D6959}"/>
              </a:ext>
            </a:extLst>
          </p:cNvPr>
          <p:cNvSpPr txBox="1"/>
          <p:nvPr/>
        </p:nvSpPr>
        <p:spPr>
          <a:xfrm>
            <a:off x="3989437" y="5840360"/>
            <a:ext cx="1179762"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EMST</a:t>
            </a:r>
            <a:endParaRPr lang="zh-CN" altLang="en-US" dirty="0">
              <a:latin typeface="Arial" panose="020B0604020202020204" pitchFamily="34" charset="0"/>
              <a:ea typeface="微软雅黑" panose="020B0503020204020204" pitchFamily="34" charset="-122"/>
            </a:endParaRPr>
          </a:p>
        </p:txBody>
      </p:sp>
      <p:sp>
        <p:nvSpPr>
          <p:cNvPr id="28" name="文本框 27">
            <a:extLst>
              <a:ext uri="{FF2B5EF4-FFF2-40B4-BE49-F238E27FC236}">
                <a16:creationId xmlns:a16="http://schemas.microsoft.com/office/drawing/2014/main" id="{B999C776-E3D0-5CA4-3EF5-1AD5FFF331B8}"/>
              </a:ext>
            </a:extLst>
          </p:cNvPr>
          <p:cNvSpPr txBox="1"/>
          <p:nvPr/>
        </p:nvSpPr>
        <p:spPr>
          <a:xfrm>
            <a:off x="1557957" y="3807806"/>
            <a:ext cx="1619687" cy="584775"/>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Planned Orders</a:t>
            </a:r>
            <a:endParaRPr lang="zh-CN" altLang="en-US" sz="1600" b="1" dirty="0">
              <a:solidFill>
                <a:schemeClr val="bg1"/>
              </a:solidFill>
              <a:latin typeface="Arial" panose="020B0604020202020204" pitchFamily="34" charset="0"/>
              <a:ea typeface="微软雅黑" panose="020B0503020204020204" pitchFamily="34" charset="-122"/>
            </a:endParaRPr>
          </a:p>
        </p:txBody>
      </p:sp>
      <p:sp>
        <p:nvSpPr>
          <p:cNvPr id="29" name="文本框 28">
            <a:extLst>
              <a:ext uri="{FF2B5EF4-FFF2-40B4-BE49-F238E27FC236}">
                <a16:creationId xmlns:a16="http://schemas.microsoft.com/office/drawing/2014/main" id="{A1D084BC-F025-9124-11E8-AD697B1D00A1}"/>
              </a:ext>
            </a:extLst>
          </p:cNvPr>
          <p:cNvSpPr txBox="1"/>
          <p:nvPr/>
        </p:nvSpPr>
        <p:spPr>
          <a:xfrm>
            <a:off x="9854553" y="3564413"/>
            <a:ext cx="1422274" cy="369332"/>
          </a:xfrm>
          <a:prstGeom prst="rect">
            <a:avLst/>
          </a:prstGeom>
          <a:noFill/>
        </p:spPr>
        <p:txBody>
          <a:bodyPr wrap="square" rtlCol="0">
            <a:spAutoFit/>
          </a:bodyPr>
          <a:lstStyle/>
          <a:p>
            <a:r>
              <a:rPr lang="en-US" altLang="zh-CN" b="1" dirty="0">
                <a:latin typeface="Arial" panose="020B0604020202020204" pitchFamily="34" charset="0"/>
                <a:ea typeface="微软雅黑" panose="020B0503020204020204" pitchFamily="34" charset="-122"/>
              </a:rPr>
              <a:t>Late</a:t>
            </a:r>
            <a:endParaRPr lang="zh-CN" altLang="en-US" b="1" dirty="0">
              <a:latin typeface="Arial" panose="020B0604020202020204" pitchFamily="34" charset="0"/>
              <a:ea typeface="微软雅黑" panose="020B0503020204020204" pitchFamily="34" charset="-122"/>
            </a:endParaRPr>
          </a:p>
        </p:txBody>
      </p:sp>
      <p:sp>
        <p:nvSpPr>
          <p:cNvPr id="30" name="文本框 29">
            <a:extLst>
              <a:ext uri="{FF2B5EF4-FFF2-40B4-BE49-F238E27FC236}">
                <a16:creationId xmlns:a16="http://schemas.microsoft.com/office/drawing/2014/main" id="{9104D0E9-E415-5205-4BCD-70012F4E7611}"/>
              </a:ext>
            </a:extLst>
          </p:cNvPr>
          <p:cNvSpPr txBox="1"/>
          <p:nvPr/>
        </p:nvSpPr>
        <p:spPr>
          <a:xfrm>
            <a:off x="372536" y="1341360"/>
            <a:ext cx="5224579" cy="369332"/>
          </a:xfrm>
          <a:prstGeom prst="rect">
            <a:avLst/>
          </a:prstGeom>
          <a:noFill/>
        </p:spPr>
        <p:txBody>
          <a:bodyPr wrap="square" rtlCol="0">
            <a:spAutoFit/>
          </a:bodyPr>
          <a:lstStyle/>
          <a:p>
            <a:r>
              <a:rPr lang="zh-CN" altLang="en-US" dirty="0">
                <a:solidFill>
                  <a:schemeClr val="bg1"/>
                </a:solidFill>
                <a:latin typeface="Arial" panose="020B0604020202020204" pitchFamily="34" charset="0"/>
                <a:ea typeface="微软雅黑" panose="020B0503020204020204" pitchFamily="34" charset="-122"/>
              </a:rPr>
              <a:t>有机会提前操作的</a:t>
            </a:r>
            <a:r>
              <a:rPr lang="en-US" altLang="zh-CN" dirty="0">
                <a:solidFill>
                  <a:schemeClr val="bg1"/>
                </a:solidFill>
                <a:latin typeface="Arial" panose="020B0604020202020204" pitchFamily="34" charset="0"/>
                <a:ea typeface="微软雅黑" panose="020B0503020204020204" pitchFamily="34" charset="-122"/>
              </a:rPr>
              <a:t>Planned Order</a:t>
            </a:r>
            <a:r>
              <a:rPr lang="zh-CN" altLang="en-US" dirty="0">
                <a:solidFill>
                  <a:schemeClr val="bg1"/>
                </a:solidFill>
                <a:latin typeface="Arial" panose="020B0604020202020204" pitchFamily="34" charset="0"/>
                <a:ea typeface="微软雅黑" panose="020B0503020204020204" pitchFamily="34" charset="-122"/>
              </a:rPr>
              <a:t>为</a:t>
            </a:r>
            <a:r>
              <a:rPr lang="en-US" altLang="zh-CN" dirty="0">
                <a:solidFill>
                  <a:schemeClr val="bg1"/>
                </a:solidFill>
                <a:latin typeface="Arial" panose="020B0604020202020204" pitchFamily="34" charset="0"/>
                <a:ea typeface="微软雅黑" panose="020B0503020204020204" pitchFamily="34" charset="-122"/>
              </a:rPr>
              <a:t>Future</a:t>
            </a:r>
            <a:endParaRPr lang="zh-CN" altLang="en-US" dirty="0">
              <a:solidFill>
                <a:schemeClr val="bg1"/>
              </a:solidFill>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69717770"/>
      </p:ext>
    </p:extLst>
  </p:cSld>
  <p:clrMapOvr>
    <a:overrideClrMapping bg1="dk1" tx1="lt1" bg2="dk2" tx2="lt2" accent1="accent1" accent2="accent2" accent3="accent3" accent4="accent4" accent5="accent5" accent6="accent6" hlink="hlink" folHlink="folHlink"/>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F7092A7-4C3B-12B6-8970-CBB7E0172A71}"/>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资源跟前序需求置换（</a:t>
            </a:r>
            <a:r>
              <a:rPr lang="en-US" altLang="zh-CN" dirty="0">
                <a:latin typeface="Arial" panose="020B0604020202020204" pitchFamily="34" charset="0"/>
                <a:ea typeface="微软雅黑" panose="020B0503020204020204" pitchFamily="34" charset="-122"/>
              </a:rPr>
              <a:t>Scenario 1</a:t>
            </a:r>
            <a:r>
              <a:rPr lang="zh-CN" altLang="en-US" dirty="0">
                <a:latin typeface="Arial" panose="020B0604020202020204" pitchFamily="34" charset="0"/>
                <a:ea typeface="微软雅黑" panose="020B0503020204020204" pitchFamily="34" charset="-122"/>
              </a:rPr>
              <a:t>）</a:t>
            </a:r>
          </a:p>
        </p:txBody>
      </p:sp>
      <p:grpSp>
        <p:nvGrpSpPr>
          <p:cNvPr id="3" name="组合 2">
            <a:extLst>
              <a:ext uri="{FF2B5EF4-FFF2-40B4-BE49-F238E27FC236}">
                <a16:creationId xmlns:a16="http://schemas.microsoft.com/office/drawing/2014/main" id="{81C2CA00-F244-9D30-3675-A5774AF6B67A}"/>
              </a:ext>
            </a:extLst>
          </p:cNvPr>
          <p:cNvGrpSpPr/>
          <p:nvPr/>
        </p:nvGrpSpPr>
        <p:grpSpPr>
          <a:xfrm>
            <a:off x="1506341" y="2492870"/>
            <a:ext cx="9435316" cy="3626128"/>
            <a:chOff x="432045" y="1487893"/>
            <a:chExt cx="7602246" cy="2922147"/>
          </a:xfrm>
        </p:grpSpPr>
        <p:cxnSp>
          <p:nvCxnSpPr>
            <p:cNvPr id="4" name="直接箭头连接符 3">
              <a:extLst>
                <a:ext uri="{FF2B5EF4-FFF2-40B4-BE49-F238E27FC236}">
                  <a16:creationId xmlns:a16="http://schemas.microsoft.com/office/drawing/2014/main" id="{DB1E8FFD-C196-A072-7ED9-91736D501986}"/>
                </a:ext>
              </a:extLst>
            </p:cNvPr>
            <p:cNvCxnSpPr>
              <a:cxnSpLocks/>
            </p:cNvCxnSpPr>
            <p:nvPr/>
          </p:nvCxnSpPr>
          <p:spPr>
            <a:xfrm>
              <a:off x="1553592" y="2630009"/>
              <a:ext cx="6480699" cy="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5" name="直接箭头连接符 4">
              <a:extLst>
                <a:ext uri="{FF2B5EF4-FFF2-40B4-BE49-F238E27FC236}">
                  <a16:creationId xmlns:a16="http://schemas.microsoft.com/office/drawing/2014/main" id="{CC4789C6-9326-8A56-A5CD-65946A04B8F9}"/>
                </a:ext>
              </a:extLst>
            </p:cNvPr>
            <p:cNvCxnSpPr>
              <a:cxnSpLocks/>
            </p:cNvCxnSpPr>
            <p:nvPr/>
          </p:nvCxnSpPr>
          <p:spPr>
            <a:xfrm>
              <a:off x="1581704"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6" name="直接箭头连接符 5">
              <a:extLst>
                <a:ext uri="{FF2B5EF4-FFF2-40B4-BE49-F238E27FC236}">
                  <a16:creationId xmlns:a16="http://schemas.microsoft.com/office/drawing/2014/main" id="{BC0C7986-EDB7-7195-DBEB-BE9DFAC0495F}"/>
                </a:ext>
              </a:extLst>
            </p:cNvPr>
            <p:cNvCxnSpPr>
              <a:cxnSpLocks/>
            </p:cNvCxnSpPr>
            <p:nvPr/>
          </p:nvCxnSpPr>
          <p:spPr>
            <a:xfrm>
              <a:off x="2746159"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7" name="直接箭头连接符 6">
              <a:extLst>
                <a:ext uri="{FF2B5EF4-FFF2-40B4-BE49-F238E27FC236}">
                  <a16:creationId xmlns:a16="http://schemas.microsoft.com/office/drawing/2014/main" id="{C7131308-900E-7309-0A77-95A7216083C9}"/>
                </a:ext>
              </a:extLst>
            </p:cNvPr>
            <p:cNvCxnSpPr>
              <a:cxnSpLocks/>
            </p:cNvCxnSpPr>
            <p:nvPr/>
          </p:nvCxnSpPr>
          <p:spPr>
            <a:xfrm>
              <a:off x="3937246"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8" name="直接箭头连接符 7">
              <a:extLst>
                <a:ext uri="{FF2B5EF4-FFF2-40B4-BE49-F238E27FC236}">
                  <a16:creationId xmlns:a16="http://schemas.microsoft.com/office/drawing/2014/main" id="{FE068F48-927F-5EB6-DC69-95CE483BE1CF}"/>
                </a:ext>
              </a:extLst>
            </p:cNvPr>
            <p:cNvCxnSpPr>
              <a:cxnSpLocks/>
            </p:cNvCxnSpPr>
            <p:nvPr/>
          </p:nvCxnSpPr>
          <p:spPr>
            <a:xfrm>
              <a:off x="5075067"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57CA4A79-6033-B988-F544-DD733AA9C5E5}"/>
                </a:ext>
              </a:extLst>
            </p:cNvPr>
            <p:cNvCxnSpPr>
              <a:cxnSpLocks/>
            </p:cNvCxnSpPr>
            <p:nvPr/>
          </p:nvCxnSpPr>
          <p:spPr>
            <a:xfrm>
              <a:off x="6230644"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ABC272DA-7C16-A1E5-864C-AE35AA117DF6}"/>
                </a:ext>
              </a:extLst>
            </p:cNvPr>
            <p:cNvCxnSpPr>
              <a:cxnSpLocks/>
            </p:cNvCxnSpPr>
            <p:nvPr/>
          </p:nvCxnSpPr>
          <p:spPr>
            <a:xfrm>
              <a:off x="7418561" y="1487893"/>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5CE6CC34-C5AD-1DA6-FC8D-C96BF94533DD}"/>
                </a:ext>
              </a:extLst>
            </p:cNvPr>
            <p:cNvSpPr txBox="1"/>
            <p:nvPr/>
          </p:nvSpPr>
          <p:spPr>
            <a:xfrm>
              <a:off x="432045" y="1580226"/>
              <a:ext cx="1305018" cy="272827"/>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Demands</a:t>
              </a:r>
              <a:endParaRPr lang="zh-CN" altLang="en-US" sz="1600" b="1" dirty="0">
                <a:latin typeface="Arial" panose="020B0604020202020204" pitchFamily="34" charset="0"/>
                <a:ea typeface="微软雅黑" panose="020B0503020204020204" pitchFamily="34" charset="-122"/>
              </a:endParaRPr>
            </a:p>
          </p:txBody>
        </p:sp>
        <p:sp>
          <p:nvSpPr>
            <p:cNvPr id="12" name="文本框 11">
              <a:extLst>
                <a:ext uri="{FF2B5EF4-FFF2-40B4-BE49-F238E27FC236}">
                  <a16:creationId xmlns:a16="http://schemas.microsoft.com/office/drawing/2014/main" id="{9435CE83-51A9-3623-A655-AB0EF73CE2C8}"/>
                </a:ext>
              </a:extLst>
            </p:cNvPr>
            <p:cNvSpPr txBox="1"/>
            <p:nvPr/>
          </p:nvSpPr>
          <p:spPr>
            <a:xfrm>
              <a:off x="476272" y="2719618"/>
              <a:ext cx="1305018" cy="471246"/>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Planned Orders</a:t>
              </a:r>
              <a:endParaRPr lang="zh-CN" altLang="en-US" sz="1600" b="1" dirty="0">
                <a:latin typeface="Arial" panose="020B0604020202020204" pitchFamily="34" charset="0"/>
                <a:ea typeface="微软雅黑" panose="020B0503020204020204" pitchFamily="34" charset="-122"/>
              </a:endParaRPr>
            </a:p>
          </p:txBody>
        </p:sp>
        <p:sp>
          <p:nvSpPr>
            <p:cNvPr id="13" name="矩形 12">
              <a:extLst>
                <a:ext uri="{FF2B5EF4-FFF2-40B4-BE49-F238E27FC236}">
                  <a16:creationId xmlns:a16="http://schemas.microsoft.com/office/drawing/2014/main" id="{199405B5-8C9E-42ED-7FD0-A41532D47584}"/>
                </a:ext>
              </a:extLst>
            </p:cNvPr>
            <p:cNvSpPr/>
            <p:nvPr/>
          </p:nvSpPr>
          <p:spPr>
            <a:xfrm>
              <a:off x="4115536" y="1724768"/>
              <a:ext cx="841895" cy="456343"/>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A</a:t>
              </a:r>
            </a:p>
            <a:p>
              <a:pPr algn="ctr"/>
              <a:r>
                <a:rPr lang="en-US" altLang="zh-CN" sz="1200" b="1" dirty="0">
                  <a:latin typeface="Arial" panose="020B0604020202020204" pitchFamily="34" charset="0"/>
                  <a:ea typeface="微软雅黑" panose="020B0503020204020204" pitchFamily="34" charset="-122"/>
                </a:rPr>
                <a:t>100(Low)</a:t>
              </a:r>
              <a:endParaRPr lang="zh-CN" altLang="en-US" sz="1200" b="1" dirty="0">
                <a:latin typeface="Arial" panose="020B0604020202020204" pitchFamily="34" charset="0"/>
                <a:ea typeface="微软雅黑" panose="020B0503020204020204" pitchFamily="34" charset="-122"/>
              </a:endParaRPr>
            </a:p>
          </p:txBody>
        </p:sp>
        <p:sp>
          <p:nvSpPr>
            <p:cNvPr id="14" name="矩形 13">
              <a:extLst>
                <a:ext uri="{FF2B5EF4-FFF2-40B4-BE49-F238E27FC236}">
                  <a16:creationId xmlns:a16="http://schemas.microsoft.com/office/drawing/2014/main" id="{9CBAE3E7-342F-3EAC-1C71-2B65C1434FEF}"/>
                </a:ext>
              </a:extLst>
            </p:cNvPr>
            <p:cNvSpPr/>
            <p:nvPr/>
          </p:nvSpPr>
          <p:spPr>
            <a:xfrm>
              <a:off x="5294790" y="1713079"/>
              <a:ext cx="841895" cy="456343"/>
            </a:xfrm>
            <a:prstGeom prst="rect">
              <a:avLst/>
            </a:prstGeom>
            <a:solidFill>
              <a:srgbClr val="00B050"/>
            </a:solidFill>
            <a:ln>
              <a:solidFill>
                <a:srgbClr val="00B050"/>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B</a:t>
              </a:r>
            </a:p>
            <a:p>
              <a:pPr algn="ctr"/>
              <a:r>
                <a:rPr lang="en-US" altLang="zh-CN" sz="1200" b="1" dirty="0">
                  <a:latin typeface="Arial" panose="020B0604020202020204" pitchFamily="34" charset="0"/>
                  <a:ea typeface="微软雅黑" panose="020B0503020204020204" pitchFamily="34" charset="-122"/>
                </a:rPr>
                <a:t>200(High)</a:t>
              </a:r>
              <a:endParaRPr lang="zh-CN" altLang="en-US" sz="1200" b="1" dirty="0">
                <a:latin typeface="Arial" panose="020B0604020202020204" pitchFamily="34" charset="0"/>
                <a:ea typeface="微软雅黑" panose="020B0503020204020204" pitchFamily="34" charset="-122"/>
              </a:endParaRPr>
            </a:p>
          </p:txBody>
        </p:sp>
        <p:sp>
          <p:nvSpPr>
            <p:cNvPr id="15" name="椭圆 14">
              <a:extLst>
                <a:ext uri="{FF2B5EF4-FFF2-40B4-BE49-F238E27FC236}">
                  <a16:creationId xmlns:a16="http://schemas.microsoft.com/office/drawing/2014/main" id="{2D7F3E86-1BC3-F64E-DF71-D61AAA1FC6FB}"/>
                </a:ext>
              </a:extLst>
            </p:cNvPr>
            <p:cNvSpPr/>
            <p:nvPr/>
          </p:nvSpPr>
          <p:spPr>
            <a:xfrm>
              <a:off x="5262604" y="2677004"/>
              <a:ext cx="1022851" cy="606271"/>
            </a:xfrm>
            <a:prstGeom prst="ellipse">
              <a:avLst/>
            </a:prstGeom>
            <a:solidFill>
              <a:srgbClr val="00B050"/>
            </a:solidFill>
            <a:ln>
              <a:solidFill>
                <a:srgbClr val="00B050"/>
              </a:solidFill>
            </a:ln>
          </p:spPr>
          <p:style>
            <a:lnRef idx="3">
              <a:schemeClr val="lt1"/>
            </a:lnRef>
            <a:fillRef idx="1">
              <a:schemeClr val="accent6"/>
            </a:fillRef>
            <a:effectRef idx="1">
              <a:schemeClr val="accent6"/>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B</a:t>
              </a:r>
              <a:r>
                <a:rPr lang="zh-CN" altLang="en-US" sz="1200" b="1" i="1" dirty="0">
                  <a:latin typeface="Arial" panose="020B0604020202020204" pitchFamily="34" charset="0"/>
                  <a:ea typeface="微软雅黑" panose="020B0503020204020204" pitchFamily="34" charset="-122"/>
                </a:rPr>
                <a:t>（</a:t>
              </a:r>
              <a:r>
                <a:rPr lang="en-US" altLang="zh-CN" sz="1200" b="1" i="1" dirty="0">
                  <a:latin typeface="Arial" panose="020B0604020202020204" pitchFamily="34" charset="0"/>
                  <a:ea typeface="微软雅黑" panose="020B0503020204020204" pitchFamily="34" charset="-122"/>
                </a:rPr>
                <a:t>Future)</a:t>
              </a:r>
            </a:p>
            <a:p>
              <a:pPr algn="ctr"/>
              <a:r>
                <a:rPr lang="en-US" altLang="zh-CN" sz="1200" b="1" dirty="0">
                  <a:latin typeface="Arial" panose="020B0604020202020204" pitchFamily="34" charset="0"/>
                  <a:ea typeface="微软雅黑" panose="020B0503020204020204" pitchFamily="34" charset="-122"/>
                </a:rPr>
                <a:t>100</a:t>
              </a:r>
              <a:endParaRPr lang="zh-CN" altLang="en-US" sz="1200" b="1" dirty="0">
                <a:latin typeface="Arial" panose="020B0604020202020204" pitchFamily="34" charset="0"/>
                <a:ea typeface="微软雅黑" panose="020B0503020204020204" pitchFamily="34" charset="-122"/>
              </a:endParaRPr>
            </a:p>
          </p:txBody>
        </p:sp>
        <p:sp>
          <p:nvSpPr>
            <p:cNvPr id="16" name="椭圆 15">
              <a:extLst>
                <a:ext uri="{FF2B5EF4-FFF2-40B4-BE49-F238E27FC236}">
                  <a16:creationId xmlns:a16="http://schemas.microsoft.com/office/drawing/2014/main" id="{320FCB9A-A5B0-DC3D-2FB5-EDD391C156FE}"/>
                </a:ext>
              </a:extLst>
            </p:cNvPr>
            <p:cNvSpPr/>
            <p:nvPr/>
          </p:nvSpPr>
          <p:spPr>
            <a:xfrm>
              <a:off x="4093343" y="2768645"/>
              <a:ext cx="886284" cy="561626"/>
            </a:xfrm>
            <a:prstGeom prst="ellipse">
              <a:avLst/>
            </a:prstGeom>
          </p:spPr>
          <p:style>
            <a:lnRef idx="1">
              <a:schemeClr val="accent3"/>
            </a:lnRef>
            <a:fillRef idx="3">
              <a:schemeClr val="accent3"/>
            </a:fillRef>
            <a:effectRef idx="2">
              <a:schemeClr val="accent3"/>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A</a:t>
              </a:r>
            </a:p>
            <a:p>
              <a:pPr algn="ctr"/>
              <a:r>
                <a:rPr lang="en-US" altLang="zh-CN" sz="1200" b="1" dirty="0">
                  <a:latin typeface="Arial" panose="020B0604020202020204" pitchFamily="34" charset="0"/>
                  <a:ea typeface="微软雅黑" panose="020B0503020204020204" pitchFamily="34" charset="-122"/>
                </a:rPr>
                <a:t>100</a:t>
              </a:r>
            </a:p>
          </p:txBody>
        </p:sp>
        <p:sp>
          <p:nvSpPr>
            <p:cNvPr id="17" name="矩形 16">
              <a:extLst>
                <a:ext uri="{FF2B5EF4-FFF2-40B4-BE49-F238E27FC236}">
                  <a16:creationId xmlns:a16="http://schemas.microsoft.com/office/drawing/2014/main" id="{970FCFB3-FB5B-EDEE-DC15-5AD9B5770BBE}"/>
                </a:ext>
              </a:extLst>
            </p:cNvPr>
            <p:cNvSpPr/>
            <p:nvPr/>
          </p:nvSpPr>
          <p:spPr>
            <a:xfrm>
              <a:off x="3962884" y="3779434"/>
              <a:ext cx="1137821" cy="630606"/>
            </a:xfrm>
            <a:prstGeom prst="rect">
              <a:avLst/>
            </a:prstGeom>
            <a:solidFill>
              <a:srgbClr val="00B050"/>
            </a:solidFill>
            <a:ln w="12700">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sp>
          <p:nvSpPr>
            <p:cNvPr id="18" name="矩形 17">
              <a:extLst>
                <a:ext uri="{FF2B5EF4-FFF2-40B4-BE49-F238E27FC236}">
                  <a16:creationId xmlns:a16="http://schemas.microsoft.com/office/drawing/2014/main" id="{8E103148-DF18-EB42-B845-EB33D46D2ED1}"/>
                </a:ext>
              </a:extLst>
            </p:cNvPr>
            <p:cNvSpPr/>
            <p:nvPr/>
          </p:nvSpPr>
          <p:spPr>
            <a:xfrm>
              <a:off x="1585403" y="3774203"/>
              <a:ext cx="1191087" cy="624982"/>
            </a:xfrm>
            <a:prstGeom prst="rect">
              <a:avLst/>
            </a:prstGeom>
            <a:solidFill>
              <a:srgbClr val="00B050"/>
            </a:solidFill>
            <a:ln w="12700">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cxnSp>
          <p:nvCxnSpPr>
            <p:cNvPr id="19" name="直接箭头连接符 18">
              <a:extLst>
                <a:ext uri="{FF2B5EF4-FFF2-40B4-BE49-F238E27FC236}">
                  <a16:creationId xmlns:a16="http://schemas.microsoft.com/office/drawing/2014/main" id="{6B9B24E5-076D-0F28-F503-532164B5982D}"/>
                </a:ext>
              </a:extLst>
            </p:cNvPr>
            <p:cNvCxnSpPr>
              <a:cxnSpLocks/>
            </p:cNvCxnSpPr>
            <p:nvPr/>
          </p:nvCxnSpPr>
          <p:spPr>
            <a:xfrm>
              <a:off x="1313895" y="3762653"/>
              <a:ext cx="6720396" cy="18345"/>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20" name="连接符: 肘形 19">
              <a:extLst>
                <a:ext uri="{FF2B5EF4-FFF2-40B4-BE49-F238E27FC236}">
                  <a16:creationId xmlns:a16="http://schemas.microsoft.com/office/drawing/2014/main" id="{4E65C76F-496B-7526-9E00-84E169FBDFFA}"/>
                </a:ext>
              </a:extLst>
            </p:cNvPr>
            <p:cNvCxnSpPr>
              <a:cxnSpLocks/>
              <a:stCxn id="18" idx="0"/>
              <a:endCxn id="25" idx="2"/>
            </p:cNvCxnSpPr>
            <p:nvPr/>
          </p:nvCxnSpPr>
          <p:spPr>
            <a:xfrm rot="5400000" flipH="1" flipV="1">
              <a:off x="2258719" y="2971686"/>
              <a:ext cx="724745" cy="880290"/>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21" name="连接符: 肘形 20">
              <a:extLst>
                <a:ext uri="{FF2B5EF4-FFF2-40B4-BE49-F238E27FC236}">
                  <a16:creationId xmlns:a16="http://schemas.microsoft.com/office/drawing/2014/main" id="{05E62724-E620-7B40-665B-B4B009D1B887}"/>
                </a:ext>
              </a:extLst>
            </p:cNvPr>
            <p:cNvCxnSpPr>
              <a:cxnSpLocks/>
              <a:stCxn id="17" idx="3"/>
              <a:endCxn id="15" idx="4"/>
            </p:cNvCxnSpPr>
            <p:nvPr/>
          </p:nvCxnSpPr>
          <p:spPr>
            <a:xfrm flipV="1">
              <a:off x="5100705" y="3283275"/>
              <a:ext cx="673325" cy="811463"/>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22" name="文本框 21">
              <a:extLst>
                <a:ext uri="{FF2B5EF4-FFF2-40B4-BE49-F238E27FC236}">
                  <a16:creationId xmlns:a16="http://schemas.microsoft.com/office/drawing/2014/main" id="{65754C55-EEBC-BA0D-82D1-57C8A7FA4C32}"/>
                </a:ext>
              </a:extLst>
            </p:cNvPr>
            <p:cNvSpPr txBox="1"/>
            <p:nvPr/>
          </p:nvSpPr>
          <p:spPr>
            <a:xfrm>
              <a:off x="646590" y="3577987"/>
              <a:ext cx="642152" cy="272827"/>
            </a:xfrm>
            <a:prstGeom prst="rect">
              <a:avLst/>
            </a:prstGeom>
            <a:noFill/>
          </p:spPr>
          <p:txBody>
            <a:bodyPr wrap="square" rtlCol="0">
              <a:spAutoFit/>
            </a:bodyPr>
            <a:lstStyle/>
            <a:p>
              <a:r>
                <a:rPr lang="en-US" altLang="zh-CN" sz="1600" b="1" dirty="0">
                  <a:solidFill>
                    <a:srgbClr val="C00000"/>
                  </a:solidFill>
                  <a:latin typeface="Arial" panose="020B0604020202020204" pitchFamily="34" charset="0"/>
                  <a:ea typeface="微软雅黑" panose="020B0503020204020204" pitchFamily="34" charset="-122"/>
                </a:rPr>
                <a:t>100</a:t>
              </a:r>
              <a:endParaRPr lang="zh-CN" altLang="en-US" sz="1600" b="1" dirty="0">
                <a:solidFill>
                  <a:srgbClr val="C00000"/>
                </a:solidFill>
                <a:latin typeface="Arial" panose="020B0604020202020204" pitchFamily="34" charset="0"/>
                <a:ea typeface="微软雅黑" panose="020B0503020204020204" pitchFamily="34" charset="-122"/>
              </a:endParaRPr>
            </a:p>
          </p:txBody>
        </p:sp>
        <p:sp>
          <p:nvSpPr>
            <p:cNvPr id="23" name="矩形 22">
              <a:extLst>
                <a:ext uri="{FF2B5EF4-FFF2-40B4-BE49-F238E27FC236}">
                  <a16:creationId xmlns:a16="http://schemas.microsoft.com/office/drawing/2014/main" id="{A15A2DB3-3351-4BA1-C291-33012E13CD5E}"/>
                </a:ext>
              </a:extLst>
            </p:cNvPr>
            <p:cNvSpPr/>
            <p:nvPr/>
          </p:nvSpPr>
          <p:spPr>
            <a:xfrm>
              <a:off x="2776489" y="3763853"/>
              <a:ext cx="1174815" cy="635332"/>
            </a:xfrm>
            <a:prstGeom prst="rect">
              <a:avLst/>
            </a:prstGeom>
            <a:ln/>
          </p:spPr>
          <p:style>
            <a:lnRef idx="3">
              <a:schemeClr val="lt1"/>
            </a:lnRef>
            <a:fillRef idx="1">
              <a:schemeClr val="accent3"/>
            </a:fillRef>
            <a:effectRef idx="1">
              <a:schemeClr val="accent3"/>
            </a:effectRef>
            <a:fontRef idx="minor">
              <a:schemeClr val="lt1"/>
            </a:fontRef>
          </p:style>
          <p:txBody>
            <a:bodyPr rtlCol="0" anchor="ctr"/>
            <a:lstStyle/>
            <a:p>
              <a:pPr algn="ctr"/>
              <a:endParaRPr lang="zh-CN" altLang="en-US" sz="1600" dirty="0">
                <a:latin typeface="+mn-ea"/>
              </a:endParaRPr>
            </a:p>
          </p:txBody>
        </p:sp>
        <p:cxnSp>
          <p:nvCxnSpPr>
            <p:cNvPr id="24" name="连接符: 肘形 23">
              <a:extLst>
                <a:ext uri="{FF2B5EF4-FFF2-40B4-BE49-F238E27FC236}">
                  <a16:creationId xmlns:a16="http://schemas.microsoft.com/office/drawing/2014/main" id="{BABC4D1C-E74E-3B90-44F4-B467B62F27F4}"/>
                </a:ext>
              </a:extLst>
            </p:cNvPr>
            <p:cNvCxnSpPr>
              <a:cxnSpLocks/>
              <a:stCxn id="23" idx="0"/>
              <a:endCxn id="16" idx="4"/>
            </p:cNvCxnSpPr>
            <p:nvPr/>
          </p:nvCxnSpPr>
          <p:spPr>
            <a:xfrm rot="5400000" flipH="1" flipV="1">
              <a:off x="3733400" y="2960769"/>
              <a:ext cx="433582" cy="1172588"/>
            </a:xfrm>
            <a:prstGeom prst="bentConnector3">
              <a:avLst>
                <a:gd name="adj1" fmla="val 50000"/>
              </a:avLst>
            </a:prstGeom>
            <a:ln>
              <a:headEnd type="none" w="med" len="med"/>
              <a:tailEnd type="arrow" w="med" len="med"/>
            </a:ln>
          </p:spPr>
          <p:style>
            <a:lnRef idx="3">
              <a:schemeClr val="accent1"/>
            </a:lnRef>
            <a:fillRef idx="0">
              <a:schemeClr val="accent1"/>
            </a:fillRef>
            <a:effectRef idx="2">
              <a:schemeClr val="accent1"/>
            </a:effectRef>
            <a:fontRef idx="minor">
              <a:schemeClr val="tx1"/>
            </a:fontRef>
          </p:style>
        </p:cxnSp>
      </p:grpSp>
      <p:sp>
        <p:nvSpPr>
          <p:cNvPr id="25" name="椭圆 24">
            <a:extLst>
              <a:ext uri="{FF2B5EF4-FFF2-40B4-BE49-F238E27FC236}">
                <a16:creationId xmlns:a16="http://schemas.microsoft.com/office/drawing/2014/main" id="{F345C37B-AE72-9D0F-88AC-9BD216A3E17B}"/>
              </a:ext>
            </a:extLst>
          </p:cNvPr>
          <p:cNvSpPr/>
          <p:nvPr/>
        </p:nvSpPr>
        <p:spPr>
          <a:xfrm>
            <a:off x="4769489" y="4054470"/>
            <a:ext cx="943894" cy="752329"/>
          </a:xfrm>
          <a:prstGeom prst="ellipse">
            <a:avLst/>
          </a:prstGeom>
          <a:solidFill>
            <a:srgbClr val="00B050"/>
          </a:solidFill>
          <a:ln>
            <a:solidFill>
              <a:srgbClr val="00B050"/>
            </a:solidFill>
          </a:ln>
        </p:spPr>
        <p:style>
          <a:lnRef idx="3">
            <a:schemeClr val="lt1"/>
          </a:lnRef>
          <a:fillRef idx="1">
            <a:schemeClr val="accent6"/>
          </a:fillRef>
          <a:effectRef idx="1">
            <a:schemeClr val="accent6"/>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B</a:t>
            </a:r>
          </a:p>
          <a:p>
            <a:pPr algn="ctr"/>
            <a:r>
              <a:rPr lang="en-US" altLang="zh-CN" sz="1200" b="1" dirty="0">
                <a:latin typeface="Arial" panose="020B0604020202020204" pitchFamily="34" charset="0"/>
                <a:ea typeface="微软雅黑" panose="020B0503020204020204" pitchFamily="34" charset="-122"/>
              </a:rPr>
              <a:t>100</a:t>
            </a:r>
            <a:endParaRPr lang="zh-CN" altLang="en-US" sz="1200" b="1" dirty="0">
              <a:latin typeface="Arial" panose="020B0604020202020204" pitchFamily="34" charset="0"/>
              <a:ea typeface="微软雅黑" panose="020B0503020204020204" pitchFamily="34" charset="-122"/>
            </a:endParaRPr>
          </a:p>
        </p:txBody>
      </p:sp>
      <p:sp>
        <p:nvSpPr>
          <p:cNvPr id="26" name="文本框 25">
            <a:extLst>
              <a:ext uri="{FF2B5EF4-FFF2-40B4-BE49-F238E27FC236}">
                <a16:creationId xmlns:a16="http://schemas.microsoft.com/office/drawing/2014/main" id="{7C77E0E0-C37A-E7A4-1737-2ACC7FBB88B6}"/>
              </a:ext>
            </a:extLst>
          </p:cNvPr>
          <p:cNvSpPr txBox="1"/>
          <p:nvPr/>
        </p:nvSpPr>
        <p:spPr>
          <a:xfrm>
            <a:off x="1506340" y="5570107"/>
            <a:ext cx="1619687" cy="338554"/>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Constraints</a:t>
            </a:r>
            <a:endParaRPr lang="zh-CN" altLang="en-US" sz="1600" b="1" dirty="0">
              <a:latin typeface="Arial" panose="020B0604020202020204" pitchFamily="34" charset="0"/>
              <a:ea typeface="微软雅黑" panose="020B0503020204020204" pitchFamily="34" charset="-122"/>
            </a:endParaRPr>
          </a:p>
        </p:txBody>
      </p:sp>
      <p:sp>
        <p:nvSpPr>
          <p:cNvPr id="27" name="文本框 26">
            <a:extLst>
              <a:ext uri="{FF2B5EF4-FFF2-40B4-BE49-F238E27FC236}">
                <a16:creationId xmlns:a16="http://schemas.microsoft.com/office/drawing/2014/main" id="{17EABD96-8BFD-8489-1C2B-E7FFF0860B50}"/>
              </a:ext>
            </a:extLst>
          </p:cNvPr>
          <p:cNvSpPr txBox="1"/>
          <p:nvPr/>
        </p:nvSpPr>
        <p:spPr>
          <a:xfrm>
            <a:off x="558208" y="1128138"/>
            <a:ext cx="4085233" cy="369332"/>
          </a:xfrm>
          <a:prstGeom prst="rect">
            <a:avLst/>
          </a:prstGeom>
          <a:noFill/>
        </p:spPr>
        <p:txBody>
          <a:bodyPr wrap="square" rtlCol="0">
            <a:spAutoFit/>
          </a:bodyPr>
          <a:lstStyle/>
          <a:p>
            <a:r>
              <a:rPr lang="zh-CN" altLang="en-US" dirty="0">
                <a:latin typeface="Arial" panose="020B0604020202020204" pitchFamily="34" charset="0"/>
                <a:ea typeface="微软雅黑" panose="020B0503020204020204" pitchFamily="34" charset="-122"/>
              </a:rPr>
              <a:t>当</a:t>
            </a:r>
            <a:r>
              <a:rPr lang="en-US" altLang="zh-CN" dirty="0">
                <a:latin typeface="Arial" panose="020B0604020202020204" pitchFamily="34" charset="0"/>
                <a:ea typeface="微软雅黑" panose="020B0503020204020204" pitchFamily="34" charset="-122"/>
              </a:rPr>
              <a:t>Future order</a:t>
            </a:r>
            <a:r>
              <a:rPr lang="zh-CN" altLang="en-US" dirty="0">
                <a:latin typeface="Arial" panose="020B0604020202020204" pitchFamily="34" charset="0"/>
                <a:ea typeface="微软雅黑" panose="020B0503020204020204" pitchFamily="34" charset="-122"/>
              </a:rPr>
              <a:t>可以</a:t>
            </a:r>
            <a:r>
              <a:rPr lang="zh-CN" altLang="en-US" b="1" dirty="0">
                <a:latin typeface="Arial" panose="020B0604020202020204" pitchFamily="34" charset="0"/>
                <a:ea typeface="微软雅黑" panose="020B0503020204020204" pitchFamily="34" charset="-122"/>
              </a:rPr>
              <a:t>不连续</a:t>
            </a:r>
            <a:r>
              <a:rPr lang="zh-CN" altLang="en-US" dirty="0">
                <a:latin typeface="Arial" panose="020B0604020202020204" pitchFamily="34" charset="0"/>
                <a:ea typeface="微软雅黑" panose="020B0503020204020204" pitchFamily="34" charset="-122"/>
              </a:rPr>
              <a:t>生产时</a:t>
            </a:r>
          </a:p>
        </p:txBody>
      </p:sp>
    </p:spTree>
    <p:extLst>
      <p:ext uri="{BB962C8B-B14F-4D97-AF65-F5344CB8AC3E}">
        <p14:creationId xmlns:p14="http://schemas.microsoft.com/office/powerpoint/2010/main" val="2241110309"/>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93C2CAA-C744-221D-6537-CBCAAFC9FAA6}"/>
              </a:ext>
            </a:extLst>
          </p:cNvPr>
          <p:cNvSpPr>
            <a:spLocks noGrp="1"/>
          </p:cNvSpPr>
          <p:nvPr>
            <p:ph type="title"/>
          </p:nvPr>
        </p:nvSpPr>
        <p:spPr/>
        <p:txBody>
          <a:bodyPr/>
          <a:lstStyle/>
          <a:p>
            <a:r>
              <a:rPr lang="zh-CN" altLang="en-US" dirty="0">
                <a:solidFill>
                  <a:schemeClr val="bg1"/>
                </a:solidFill>
                <a:latin typeface="Arial" panose="020B0604020202020204" pitchFamily="34" charset="0"/>
                <a:ea typeface="微软雅黑" panose="020B0503020204020204" pitchFamily="34" charset="-122"/>
              </a:rPr>
              <a:t>资源跟前序需求置换 </a:t>
            </a:r>
            <a:r>
              <a:rPr lang="en-US" altLang="zh-CN" dirty="0">
                <a:solidFill>
                  <a:schemeClr val="bg1"/>
                </a:solidFill>
                <a:latin typeface="Arial" panose="020B0604020202020204" pitchFamily="34" charset="0"/>
                <a:ea typeface="微软雅黑" panose="020B0503020204020204" pitchFamily="34" charset="-122"/>
              </a:rPr>
              <a:t>(Scenario 2)</a:t>
            </a:r>
            <a:endParaRPr lang="zh-CN" altLang="en-US" dirty="0">
              <a:solidFill>
                <a:schemeClr val="bg1"/>
              </a:solidFill>
              <a:latin typeface="Arial" panose="020B0604020202020204" pitchFamily="34" charset="0"/>
              <a:ea typeface="微软雅黑" panose="020B0503020204020204" pitchFamily="34" charset="-122"/>
            </a:endParaRPr>
          </a:p>
        </p:txBody>
      </p:sp>
      <p:grpSp>
        <p:nvGrpSpPr>
          <p:cNvPr id="3" name="组合 2">
            <a:extLst>
              <a:ext uri="{FF2B5EF4-FFF2-40B4-BE49-F238E27FC236}">
                <a16:creationId xmlns:a16="http://schemas.microsoft.com/office/drawing/2014/main" id="{28FECF96-9D07-0858-AD4D-B6B9E970F151}"/>
              </a:ext>
            </a:extLst>
          </p:cNvPr>
          <p:cNvGrpSpPr/>
          <p:nvPr/>
        </p:nvGrpSpPr>
        <p:grpSpPr>
          <a:xfrm>
            <a:off x="1506704" y="2289081"/>
            <a:ext cx="9435316" cy="3607881"/>
            <a:chOff x="432045" y="1497366"/>
            <a:chExt cx="7602246" cy="2907442"/>
          </a:xfrm>
        </p:grpSpPr>
        <p:cxnSp>
          <p:nvCxnSpPr>
            <p:cNvPr id="4" name="直接箭头连接符 3">
              <a:extLst>
                <a:ext uri="{FF2B5EF4-FFF2-40B4-BE49-F238E27FC236}">
                  <a16:creationId xmlns:a16="http://schemas.microsoft.com/office/drawing/2014/main" id="{93574EFE-A669-5999-94F9-788F57A4604D}"/>
                </a:ext>
              </a:extLst>
            </p:cNvPr>
            <p:cNvCxnSpPr>
              <a:cxnSpLocks/>
            </p:cNvCxnSpPr>
            <p:nvPr/>
          </p:nvCxnSpPr>
          <p:spPr>
            <a:xfrm>
              <a:off x="1553592" y="2630009"/>
              <a:ext cx="6480699" cy="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5" name="直接箭头连接符 4">
              <a:extLst>
                <a:ext uri="{FF2B5EF4-FFF2-40B4-BE49-F238E27FC236}">
                  <a16:creationId xmlns:a16="http://schemas.microsoft.com/office/drawing/2014/main" id="{C49E2585-2D9C-D4A6-18E6-C6EBCD94AB40}"/>
                </a:ext>
              </a:extLst>
            </p:cNvPr>
            <p:cNvCxnSpPr>
              <a:cxnSpLocks/>
            </p:cNvCxnSpPr>
            <p:nvPr/>
          </p:nvCxnSpPr>
          <p:spPr>
            <a:xfrm>
              <a:off x="1581704"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6" name="直接箭头连接符 5">
              <a:extLst>
                <a:ext uri="{FF2B5EF4-FFF2-40B4-BE49-F238E27FC236}">
                  <a16:creationId xmlns:a16="http://schemas.microsoft.com/office/drawing/2014/main" id="{826ED534-43B6-EDD0-3F62-7E3A7891DEC3}"/>
                </a:ext>
              </a:extLst>
            </p:cNvPr>
            <p:cNvCxnSpPr>
              <a:cxnSpLocks/>
            </p:cNvCxnSpPr>
            <p:nvPr/>
          </p:nvCxnSpPr>
          <p:spPr>
            <a:xfrm>
              <a:off x="2746159"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7" name="直接箭头连接符 6">
              <a:extLst>
                <a:ext uri="{FF2B5EF4-FFF2-40B4-BE49-F238E27FC236}">
                  <a16:creationId xmlns:a16="http://schemas.microsoft.com/office/drawing/2014/main" id="{9F09EBE9-83EE-789C-430E-19BD4888069B}"/>
                </a:ext>
              </a:extLst>
            </p:cNvPr>
            <p:cNvCxnSpPr>
              <a:cxnSpLocks/>
            </p:cNvCxnSpPr>
            <p:nvPr/>
          </p:nvCxnSpPr>
          <p:spPr>
            <a:xfrm>
              <a:off x="3937246"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8" name="直接箭头连接符 7">
              <a:extLst>
                <a:ext uri="{FF2B5EF4-FFF2-40B4-BE49-F238E27FC236}">
                  <a16:creationId xmlns:a16="http://schemas.microsoft.com/office/drawing/2014/main" id="{7C096A44-5BC9-875B-5464-E243BA808003}"/>
                </a:ext>
              </a:extLst>
            </p:cNvPr>
            <p:cNvCxnSpPr>
              <a:cxnSpLocks/>
            </p:cNvCxnSpPr>
            <p:nvPr/>
          </p:nvCxnSpPr>
          <p:spPr>
            <a:xfrm>
              <a:off x="5075067"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93B3FE17-B66E-15F3-29EA-073B2F7EEB98}"/>
                </a:ext>
              </a:extLst>
            </p:cNvPr>
            <p:cNvCxnSpPr>
              <a:cxnSpLocks/>
            </p:cNvCxnSpPr>
            <p:nvPr/>
          </p:nvCxnSpPr>
          <p:spPr>
            <a:xfrm>
              <a:off x="6230644"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419104D8-A436-0193-1099-4930FD76EF86}"/>
                </a:ext>
              </a:extLst>
            </p:cNvPr>
            <p:cNvCxnSpPr>
              <a:cxnSpLocks/>
            </p:cNvCxnSpPr>
            <p:nvPr/>
          </p:nvCxnSpPr>
          <p:spPr>
            <a:xfrm>
              <a:off x="7395098"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90EF809E-8184-EF81-FC7E-84E3EB980AB9}"/>
                </a:ext>
              </a:extLst>
            </p:cNvPr>
            <p:cNvSpPr txBox="1"/>
            <p:nvPr/>
          </p:nvSpPr>
          <p:spPr>
            <a:xfrm>
              <a:off x="432045" y="1580226"/>
              <a:ext cx="1305018" cy="272827"/>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Demands</a:t>
              </a:r>
              <a:endParaRPr lang="zh-CN" altLang="en-US" sz="1600" b="1" dirty="0">
                <a:solidFill>
                  <a:schemeClr val="bg1"/>
                </a:solidFill>
                <a:latin typeface="Arial" panose="020B0604020202020204" pitchFamily="34" charset="0"/>
                <a:ea typeface="微软雅黑" panose="020B0503020204020204" pitchFamily="34" charset="-122"/>
              </a:endParaRPr>
            </a:p>
          </p:txBody>
        </p:sp>
        <p:sp>
          <p:nvSpPr>
            <p:cNvPr id="12" name="文本框 11">
              <a:extLst>
                <a:ext uri="{FF2B5EF4-FFF2-40B4-BE49-F238E27FC236}">
                  <a16:creationId xmlns:a16="http://schemas.microsoft.com/office/drawing/2014/main" id="{1896DE48-ADEA-4C80-529A-B2C916E002E2}"/>
                </a:ext>
              </a:extLst>
            </p:cNvPr>
            <p:cNvSpPr txBox="1"/>
            <p:nvPr/>
          </p:nvSpPr>
          <p:spPr>
            <a:xfrm>
              <a:off x="502378" y="2861468"/>
              <a:ext cx="1305018" cy="471246"/>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Planned Orders</a:t>
              </a:r>
              <a:endParaRPr lang="zh-CN" altLang="en-US" sz="1600" b="1" dirty="0">
                <a:solidFill>
                  <a:schemeClr val="bg1"/>
                </a:solidFill>
                <a:latin typeface="Arial" panose="020B0604020202020204" pitchFamily="34" charset="0"/>
                <a:ea typeface="微软雅黑" panose="020B0503020204020204" pitchFamily="34" charset="-122"/>
              </a:endParaRPr>
            </a:p>
          </p:txBody>
        </p:sp>
        <p:sp>
          <p:nvSpPr>
            <p:cNvPr id="13" name="矩形 12">
              <a:extLst>
                <a:ext uri="{FF2B5EF4-FFF2-40B4-BE49-F238E27FC236}">
                  <a16:creationId xmlns:a16="http://schemas.microsoft.com/office/drawing/2014/main" id="{A1451EB0-83B5-A50E-51D5-EDA464CAC8B3}"/>
                </a:ext>
              </a:extLst>
            </p:cNvPr>
            <p:cNvSpPr/>
            <p:nvPr/>
          </p:nvSpPr>
          <p:spPr>
            <a:xfrm>
              <a:off x="4115536" y="1724768"/>
              <a:ext cx="841895" cy="456343"/>
            </a:xfrm>
            <a:prstGeom prst="rect">
              <a:avLst/>
            </a:prstGeom>
          </p:spPr>
          <p:style>
            <a:lnRef idx="3">
              <a:schemeClr val="lt1"/>
            </a:lnRef>
            <a:fillRef idx="1">
              <a:schemeClr val="accent3"/>
            </a:fillRef>
            <a:effectRef idx="1">
              <a:schemeClr val="accent3"/>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A</a:t>
              </a:r>
            </a:p>
            <a:p>
              <a:pPr algn="ctr"/>
              <a:r>
                <a:rPr lang="en-US" altLang="zh-CN" sz="1200" b="1" dirty="0">
                  <a:latin typeface="Arial" panose="020B0604020202020204" pitchFamily="34" charset="0"/>
                  <a:ea typeface="微软雅黑" panose="020B0503020204020204" pitchFamily="34" charset="-122"/>
                </a:rPr>
                <a:t>100(Low)</a:t>
              </a:r>
              <a:endParaRPr lang="zh-CN" altLang="en-US" sz="1200" b="1" dirty="0">
                <a:latin typeface="Arial" panose="020B0604020202020204" pitchFamily="34" charset="0"/>
                <a:ea typeface="微软雅黑" panose="020B0503020204020204" pitchFamily="34" charset="-122"/>
              </a:endParaRPr>
            </a:p>
          </p:txBody>
        </p:sp>
        <p:sp>
          <p:nvSpPr>
            <p:cNvPr id="14" name="矩形 13">
              <a:extLst>
                <a:ext uri="{FF2B5EF4-FFF2-40B4-BE49-F238E27FC236}">
                  <a16:creationId xmlns:a16="http://schemas.microsoft.com/office/drawing/2014/main" id="{8630B0F0-11B2-9ED8-C879-D0C7466DD35D}"/>
                </a:ext>
              </a:extLst>
            </p:cNvPr>
            <p:cNvSpPr/>
            <p:nvPr/>
          </p:nvSpPr>
          <p:spPr>
            <a:xfrm>
              <a:off x="5294790" y="1713079"/>
              <a:ext cx="841895" cy="456343"/>
            </a:xfrm>
            <a:prstGeom prst="rect">
              <a:avLst/>
            </a:prstGeom>
            <a:solidFill>
              <a:srgbClr val="00B050"/>
            </a:solidFill>
            <a:ln>
              <a:solidFill>
                <a:srgbClr val="00B050"/>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B</a:t>
              </a:r>
            </a:p>
            <a:p>
              <a:pPr algn="ctr"/>
              <a:r>
                <a:rPr lang="en-US" altLang="zh-CN" sz="1200" b="1" dirty="0">
                  <a:latin typeface="Arial" panose="020B0604020202020204" pitchFamily="34" charset="0"/>
                  <a:ea typeface="微软雅黑" panose="020B0503020204020204" pitchFamily="34" charset="-122"/>
                </a:rPr>
                <a:t>200(High)</a:t>
              </a:r>
              <a:endParaRPr lang="zh-CN" altLang="en-US" sz="1200" b="1" dirty="0">
                <a:latin typeface="Arial" panose="020B0604020202020204" pitchFamily="34" charset="0"/>
                <a:ea typeface="微软雅黑" panose="020B0503020204020204" pitchFamily="34" charset="-122"/>
              </a:endParaRPr>
            </a:p>
          </p:txBody>
        </p:sp>
        <p:sp>
          <p:nvSpPr>
            <p:cNvPr id="15" name="椭圆 14">
              <a:extLst>
                <a:ext uri="{FF2B5EF4-FFF2-40B4-BE49-F238E27FC236}">
                  <a16:creationId xmlns:a16="http://schemas.microsoft.com/office/drawing/2014/main" id="{95ECE92C-26D5-15D2-45EE-731D60CFA43E}"/>
                </a:ext>
              </a:extLst>
            </p:cNvPr>
            <p:cNvSpPr/>
            <p:nvPr/>
          </p:nvSpPr>
          <p:spPr>
            <a:xfrm>
              <a:off x="4242708" y="2784884"/>
              <a:ext cx="760517" cy="606271"/>
            </a:xfrm>
            <a:prstGeom prst="ellipse">
              <a:avLst/>
            </a:prstGeom>
            <a:solidFill>
              <a:srgbClr val="00B050"/>
            </a:solidFill>
          </p:spPr>
          <p:style>
            <a:lnRef idx="3">
              <a:schemeClr val="lt1"/>
            </a:lnRef>
            <a:fillRef idx="1">
              <a:schemeClr val="accent6"/>
            </a:fillRef>
            <a:effectRef idx="1">
              <a:schemeClr val="accent6"/>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B</a:t>
              </a:r>
              <a:r>
                <a:rPr lang="zh-CN" altLang="en-US" sz="1200" b="1" i="1" dirty="0">
                  <a:latin typeface="Arial" panose="020B0604020202020204" pitchFamily="34" charset="0"/>
                  <a:ea typeface="微软雅黑" panose="020B0503020204020204" pitchFamily="34" charset="-122"/>
                </a:rPr>
                <a:t>（</a:t>
              </a:r>
              <a:r>
                <a:rPr lang="en-US" altLang="zh-CN" sz="1200" b="1" i="1" dirty="0">
                  <a:latin typeface="Arial" panose="020B0604020202020204" pitchFamily="34" charset="0"/>
                  <a:ea typeface="微软雅黑" panose="020B0503020204020204" pitchFamily="34" charset="-122"/>
                </a:rPr>
                <a:t>Future)</a:t>
              </a:r>
            </a:p>
            <a:p>
              <a:pPr algn="ctr"/>
              <a:r>
                <a:rPr lang="en-US" altLang="zh-CN" sz="1200" b="1" dirty="0">
                  <a:latin typeface="Arial" panose="020B0604020202020204" pitchFamily="34" charset="0"/>
                  <a:ea typeface="微软雅黑" panose="020B0503020204020204" pitchFamily="34" charset="-122"/>
                </a:rPr>
                <a:t>100</a:t>
              </a:r>
              <a:endParaRPr lang="zh-CN" altLang="en-US" sz="1200" b="1" dirty="0">
                <a:latin typeface="Arial" panose="020B0604020202020204" pitchFamily="34" charset="0"/>
                <a:ea typeface="微软雅黑" panose="020B0503020204020204" pitchFamily="34" charset="-122"/>
              </a:endParaRPr>
            </a:p>
          </p:txBody>
        </p:sp>
        <p:sp>
          <p:nvSpPr>
            <p:cNvPr id="16" name="椭圆 15">
              <a:extLst>
                <a:ext uri="{FF2B5EF4-FFF2-40B4-BE49-F238E27FC236}">
                  <a16:creationId xmlns:a16="http://schemas.microsoft.com/office/drawing/2014/main" id="{5EB3DB59-0F1C-28BF-BF4D-6365FF3B3BB1}"/>
                </a:ext>
              </a:extLst>
            </p:cNvPr>
            <p:cNvSpPr/>
            <p:nvPr/>
          </p:nvSpPr>
          <p:spPr>
            <a:xfrm>
              <a:off x="5148309" y="2725939"/>
              <a:ext cx="886284" cy="561626"/>
            </a:xfrm>
            <a:prstGeom prst="ellipse">
              <a:avLst/>
            </a:prstGeom>
          </p:spPr>
          <p:style>
            <a:lnRef idx="1">
              <a:schemeClr val="accent3"/>
            </a:lnRef>
            <a:fillRef idx="3">
              <a:schemeClr val="accent3"/>
            </a:fillRef>
            <a:effectRef idx="2">
              <a:schemeClr val="accent3"/>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A</a:t>
              </a:r>
            </a:p>
            <a:p>
              <a:pPr algn="ctr"/>
              <a:r>
                <a:rPr lang="en-US" altLang="zh-CN" sz="1200" b="1" dirty="0">
                  <a:latin typeface="Arial" panose="020B0604020202020204" pitchFamily="34" charset="0"/>
                  <a:ea typeface="微软雅黑" panose="020B0503020204020204" pitchFamily="34" charset="-122"/>
                </a:rPr>
                <a:t>100</a:t>
              </a:r>
            </a:p>
          </p:txBody>
        </p:sp>
        <p:sp>
          <p:nvSpPr>
            <p:cNvPr id="17" name="矩形 16">
              <a:extLst>
                <a:ext uri="{FF2B5EF4-FFF2-40B4-BE49-F238E27FC236}">
                  <a16:creationId xmlns:a16="http://schemas.microsoft.com/office/drawing/2014/main" id="{07608216-06E2-B7EF-245F-F925CB290DB1}"/>
                </a:ext>
              </a:extLst>
            </p:cNvPr>
            <p:cNvSpPr/>
            <p:nvPr/>
          </p:nvSpPr>
          <p:spPr>
            <a:xfrm>
              <a:off x="2785538" y="3774202"/>
              <a:ext cx="1137821" cy="630606"/>
            </a:xfrm>
            <a:prstGeom prst="rect">
              <a:avLst/>
            </a:prstGeom>
            <a:solidFill>
              <a:srgbClr val="00B050"/>
            </a:solidFill>
            <a:ln w="12700">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sp>
          <p:nvSpPr>
            <p:cNvPr id="18" name="矩形 17">
              <a:extLst>
                <a:ext uri="{FF2B5EF4-FFF2-40B4-BE49-F238E27FC236}">
                  <a16:creationId xmlns:a16="http://schemas.microsoft.com/office/drawing/2014/main" id="{182C0467-92E1-3A14-E575-A1E37A551926}"/>
                </a:ext>
              </a:extLst>
            </p:cNvPr>
            <p:cNvSpPr/>
            <p:nvPr/>
          </p:nvSpPr>
          <p:spPr>
            <a:xfrm>
              <a:off x="1585403" y="3774203"/>
              <a:ext cx="1191087" cy="624982"/>
            </a:xfrm>
            <a:prstGeom prst="rect">
              <a:avLst/>
            </a:prstGeom>
            <a:solidFill>
              <a:srgbClr val="00B050">
                <a:alpha val="90000"/>
              </a:srgbClr>
            </a:solidFill>
            <a:ln w="12700">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cxnSp>
          <p:nvCxnSpPr>
            <p:cNvPr id="19" name="直接箭头连接符 18">
              <a:extLst>
                <a:ext uri="{FF2B5EF4-FFF2-40B4-BE49-F238E27FC236}">
                  <a16:creationId xmlns:a16="http://schemas.microsoft.com/office/drawing/2014/main" id="{764E78AB-49B6-DB81-847C-EFCA6AFEA08F}"/>
                </a:ext>
              </a:extLst>
            </p:cNvPr>
            <p:cNvCxnSpPr>
              <a:cxnSpLocks/>
            </p:cNvCxnSpPr>
            <p:nvPr/>
          </p:nvCxnSpPr>
          <p:spPr>
            <a:xfrm>
              <a:off x="1313895" y="3762653"/>
              <a:ext cx="6720396" cy="18345"/>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20" name="连接符: 肘形 19">
              <a:extLst>
                <a:ext uri="{FF2B5EF4-FFF2-40B4-BE49-F238E27FC236}">
                  <a16:creationId xmlns:a16="http://schemas.microsoft.com/office/drawing/2014/main" id="{7E4092B9-136D-D271-B2B8-AB5E6BB8B5A5}"/>
                </a:ext>
              </a:extLst>
            </p:cNvPr>
            <p:cNvCxnSpPr>
              <a:cxnSpLocks/>
              <a:stCxn id="18" idx="0"/>
              <a:endCxn id="25" idx="2"/>
            </p:cNvCxnSpPr>
            <p:nvPr/>
          </p:nvCxnSpPr>
          <p:spPr>
            <a:xfrm rot="5400000" flipH="1" flipV="1">
              <a:off x="2258719" y="2971685"/>
              <a:ext cx="724745" cy="880290"/>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21" name="连接符: 肘形 20">
              <a:extLst>
                <a:ext uri="{FF2B5EF4-FFF2-40B4-BE49-F238E27FC236}">
                  <a16:creationId xmlns:a16="http://schemas.microsoft.com/office/drawing/2014/main" id="{6809B207-C11F-A67B-8AC8-1816B9EB4E2B}"/>
                </a:ext>
              </a:extLst>
            </p:cNvPr>
            <p:cNvCxnSpPr>
              <a:cxnSpLocks/>
              <a:stCxn id="17" idx="0"/>
              <a:endCxn id="15" idx="2"/>
            </p:cNvCxnSpPr>
            <p:nvPr/>
          </p:nvCxnSpPr>
          <p:spPr>
            <a:xfrm rot="5400000" flipH="1" flipV="1">
              <a:off x="3455487" y="2986982"/>
              <a:ext cx="686182" cy="888258"/>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22" name="文本框 21">
              <a:extLst>
                <a:ext uri="{FF2B5EF4-FFF2-40B4-BE49-F238E27FC236}">
                  <a16:creationId xmlns:a16="http://schemas.microsoft.com/office/drawing/2014/main" id="{6FC9D8C0-2A46-0118-4270-19DC89E02844}"/>
                </a:ext>
              </a:extLst>
            </p:cNvPr>
            <p:cNvSpPr txBox="1"/>
            <p:nvPr/>
          </p:nvSpPr>
          <p:spPr>
            <a:xfrm>
              <a:off x="646590" y="3577987"/>
              <a:ext cx="642152" cy="272827"/>
            </a:xfrm>
            <a:prstGeom prst="rect">
              <a:avLst/>
            </a:prstGeom>
            <a:noFill/>
          </p:spPr>
          <p:txBody>
            <a:bodyPr wrap="square" rtlCol="0">
              <a:spAutoFit/>
            </a:bodyPr>
            <a:lstStyle/>
            <a:p>
              <a:r>
                <a:rPr lang="en-US" altLang="zh-CN" sz="1600" b="1" dirty="0">
                  <a:solidFill>
                    <a:srgbClr val="C00000"/>
                  </a:solidFill>
                  <a:latin typeface="Arial" panose="020B0604020202020204" pitchFamily="34" charset="0"/>
                  <a:ea typeface="微软雅黑" panose="020B0503020204020204" pitchFamily="34" charset="-122"/>
                </a:rPr>
                <a:t>100</a:t>
              </a:r>
              <a:endParaRPr lang="zh-CN" altLang="en-US" sz="1600" b="1" dirty="0">
                <a:solidFill>
                  <a:srgbClr val="C00000"/>
                </a:solidFill>
                <a:latin typeface="Arial" panose="020B0604020202020204" pitchFamily="34" charset="0"/>
                <a:ea typeface="微软雅黑" panose="020B0503020204020204" pitchFamily="34" charset="-122"/>
              </a:endParaRPr>
            </a:p>
          </p:txBody>
        </p:sp>
        <p:sp>
          <p:nvSpPr>
            <p:cNvPr id="23" name="矩形 22">
              <a:extLst>
                <a:ext uri="{FF2B5EF4-FFF2-40B4-BE49-F238E27FC236}">
                  <a16:creationId xmlns:a16="http://schemas.microsoft.com/office/drawing/2014/main" id="{2924CFC6-D6A8-C781-E0F2-A957B81CC1E5}"/>
                </a:ext>
              </a:extLst>
            </p:cNvPr>
            <p:cNvSpPr/>
            <p:nvPr/>
          </p:nvSpPr>
          <p:spPr>
            <a:xfrm>
              <a:off x="3936295" y="3765384"/>
              <a:ext cx="1174815" cy="635332"/>
            </a:xfrm>
            <a:prstGeom prst="rect">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endParaRPr lang="zh-CN" altLang="en-US" sz="1600" dirty="0">
                <a:latin typeface="+mn-ea"/>
              </a:endParaRPr>
            </a:p>
          </p:txBody>
        </p:sp>
        <p:cxnSp>
          <p:nvCxnSpPr>
            <p:cNvPr id="24" name="连接符: 肘形 23">
              <a:extLst>
                <a:ext uri="{FF2B5EF4-FFF2-40B4-BE49-F238E27FC236}">
                  <a16:creationId xmlns:a16="http://schemas.microsoft.com/office/drawing/2014/main" id="{5E845187-914A-FCD8-4D19-DA1595146CDD}"/>
                </a:ext>
              </a:extLst>
            </p:cNvPr>
            <p:cNvCxnSpPr>
              <a:cxnSpLocks/>
              <a:stCxn id="23" idx="0"/>
              <a:endCxn id="16" idx="4"/>
            </p:cNvCxnSpPr>
            <p:nvPr/>
          </p:nvCxnSpPr>
          <p:spPr>
            <a:xfrm rot="5400000" flipH="1" flipV="1">
              <a:off x="4818669" y="2992601"/>
              <a:ext cx="477819" cy="1067748"/>
            </a:xfrm>
            <a:prstGeom prst="bentConnector3">
              <a:avLst>
                <a:gd name="adj1" fmla="val 50000"/>
              </a:avLst>
            </a:prstGeom>
            <a:ln>
              <a:headEnd type="none" w="med" len="med"/>
              <a:tailEnd type="arrow" w="med" len="med"/>
            </a:ln>
          </p:spPr>
          <p:style>
            <a:lnRef idx="3">
              <a:schemeClr val="accent1"/>
            </a:lnRef>
            <a:fillRef idx="0">
              <a:schemeClr val="accent1"/>
            </a:fillRef>
            <a:effectRef idx="2">
              <a:schemeClr val="accent1"/>
            </a:effectRef>
            <a:fontRef idx="minor">
              <a:schemeClr val="tx1"/>
            </a:fontRef>
          </p:style>
        </p:cxnSp>
      </p:grpSp>
      <p:sp>
        <p:nvSpPr>
          <p:cNvPr id="25" name="椭圆 24">
            <a:extLst>
              <a:ext uri="{FF2B5EF4-FFF2-40B4-BE49-F238E27FC236}">
                <a16:creationId xmlns:a16="http://schemas.microsoft.com/office/drawing/2014/main" id="{20FC8D03-B3CD-9551-ED9C-529A517D8A3B}"/>
              </a:ext>
            </a:extLst>
          </p:cNvPr>
          <p:cNvSpPr/>
          <p:nvPr/>
        </p:nvSpPr>
        <p:spPr>
          <a:xfrm>
            <a:off x="4747366" y="3943857"/>
            <a:ext cx="943894" cy="752329"/>
          </a:xfrm>
          <a:prstGeom prst="ellipse">
            <a:avLst/>
          </a:prstGeom>
          <a:solidFill>
            <a:srgbClr val="00B050"/>
          </a:solidFill>
        </p:spPr>
        <p:style>
          <a:lnRef idx="3">
            <a:schemeClr val="lt1"/>
          </a:lnRef>
          <a:fillRef idx="1">
            <a:schemeClr val="accent6"/>
          </a:fillRef>
          <a:effectRef idx="1">
            <a:schemeClr val="accent6"/>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B</a:t>
            </a:r>
          </a:p>
          <a:p>
            <a:pPr algn="ctr"/>
            <a:r>
              <a:rPr lang="en-US" altLang="zh-CN" sz="1200" b="1" dirty="0">
                <a:latin typeface="Arial" panose="020B0604020202020204" pitchFamily="34" charset="0"/>
                <a:ea typeface="微软雅黑" panose="020B0503020204020204" pitchFamily="34" charset="-122"/>
              </a:rPr>
              <a:t>100</a:t>
            </a:r>
            <a:endParaRPr lang="zh-CN" altLang="en-US" sz="1200" b="1" dirty="0">
              <a:latin typeface="Arial" panose="020B0604020202020204" pitchFamily="34" charset="0"/>
              <a:ea typeface="微软雅黑" panose="020B0503020204020204" pitchFamily="34" charset="-122"/>
            </a:endParaRPr>
          </a:p>
        </p:txBody>
      </p:sp>
      <p:sp>
        <p:nvSpPr>
          <p:cNvPr id="26" name="文本框 25">
            <a:extLst>
              <a:ext uri="{FF2B5EF4-FFF2-40B4-BE49-F238E27FC236}">
                <a16:creationId xmlns:a16="http://schemas.microsoft.com/office/drawing/2014/main" id="{B7E55E02-8209-919B-8938-A675BA644A8F}"/>
              </a:ext>
            </a:extLst>
          </p:cNvPr>
          <p:cNvSpPr txBox="1"/>
          <p:nvPr/>
        </p:nvSpPr>
        <p:spPr>
          <a:xfrm>
            <a:off x="1520555" y="5373982"/>
            <a:ext cx="1619687" cy="338554"/>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Constraints</a:t>
            </a:r>
            <a:endParaRPr lang="zh-CN" altLang="en-US" sz="1600" b="1" dirty="0">
              <a:latin typeface="Arial" panose="020B0604020202020204" pitchFamily="34" charset="0"/>
              <a:ea typeface="微软雅黑" panose="020B0503020204020204" pitchFamily="34" charset="-122"/>
            </a:endParaRPr>
          </a:p>
        </p:txBody>
      </p:sp>
      <p:sp>
        <p:nvSpPr>
          <p:cNvPr id="27" name="文本框 26">
            <a:extLst>
              <a:ext uri="{FF2B5EF4-FFF2-40B4-BE49-F238E27FC236}">
                <a16:creationId xmlns:a16="http://schemas.microsoft.com/office/drawing/2014/main" id="{DEFEA55E-C9A0-84E6-0DEC-C01692CE9250}"/>
              </a:ext>
            </a:extLst>
          </p:cNvPr>
          <p:cNvSpPr txBox="1"/>
          <p:nvPr/>
        </p:nvSpPr>
        <p:spPr>
          <a:xfrm>
            <a:off x="622064" y="1288446"/>
            <a:ext cx="4085233" cy="369332"/>
          </a:xfrm>
          <a:prstGeom prst="rect">
            <a:avLst/>
          </a:prstGeom>
          <a:noFill/>
        </p:spPr>
        <p:txBody>
          <a:bodyPr wrap="square" rtlCol="0">
            <a:spAutoFit/>
          </a:bodyPr>
          <a:lstStyle/>
          <a:p>
            <a:r>
              <a:rPr lang="zh-CN" altLang="en-US" dirty="0">
                <a:solidFill>
                  <a:schemeClr val="bg1"/>
                </a:solidFill>
                <a:latin typeface="Arial" panose="020B0604020202020204" pitchFamily="34" charset="0"/>
                <a:ea typeface="微软雅黑" panose="020B0503020204020204" pitchFamily="34" charset="-122"/>
              </a:rPr>
              <a:t>当</a:t>
            </a:r>
            <a:r>
              <a:rPr lang="en-US" altLang="zh-CN" dirty="0">
                <a:solidFill>
                  <a:schemeClr val="bg1"/>
                </a:solidFill>
                <a:latin typeface="Arial" panose="020B0604020202020204" pitchFamily="34" charset="0"/>
                <a:ea typeface="微软雅黑" panose="020B0503020204020204" pitchFamily="34" charset="-122"/>
              </a:rPr>
              <a:t>Future order</a:t>
            </a:r>
            <a:r>
              <a:rPr lang="zh-CN" altLang="en-US" b="1" dirty="0">
                <a:solidFill>
                  <a:schemeClr val="bg1"/>
                </a:solidFill>
                <a:latin typeface="Arial" panose="020B0604020202020204" pitchFamily="34" charset="0"/>
                <a:ea typeface="微软雅黑" panose="020B0503020204020204" pitchFamily="34" charset="-122"/>
              </a:rPr>
              <a:t>连续生产</a:t>
            </a:r>
            <a:r>
              <a:rPr lang="zh-CN" altLang="en-US" dirty="0">
                <a:solidFill>
                  <a:schemeClr val="bg1"/>
                </a:solidFill>
                <a:latin typeface="Arial" panose="020B0604020202020204" pitchFamily="34" charset="0"/>
                <a:ea typeface="微软雅黑" panose="020B0503020204020204" pitchFamily="34" charset="-122"/>
              </a:rPr>
              <a:t>时</a:t>
            </a:r>
          </a:p>
        </p:txBody>
      </p:sp>
    </p:spTree>
    <p:extLst>
      <p:ext uri="{BB962C8B-B14F-4D97-AF65-F5344CB8AC3E}">
        <p14:creationId xmlns:p14="http://schemas.microsoft.com/office/powerpoint/2010/main" val="2722707724"/>
      </p:ext>
    </p:extLst>
  </p:cSld>
  <p:clrMapOvr>
    <a:overrideClrMapping bg1="dk1" tx1="lt1" bg2="dk2" tx2="lt2" accent1="accent1" accent2="accent2" accent3="accent3" accent4="accent4" accent5="accent5" accent6="accent6" hlink="hlink" folHlink="folHlink"/>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094D810-3770-146A-14E4-58A7257FE0A8}"/>
              </a:ext>
            </a:extLst>
          </p:cNvPr>
          <p:cNvSpPr>
            <a:spLocks noGrp="1"/>
          </p:cNvSpPr>
          <p:nvPr>
            <p:ph type="title"/>
          </p:nvPr>
        </p:nvSpPr>
        <p:spPr/>
        <p:txBody>
          <a:bodyPr/>
          <a:lstStyle/>
          <a:p>
            <a:r>
              <a:rPr lang="en-US" altLang="zh-CN" dirty="0">
                <a:solidFill>
                  <a:schemeClr val="bg1"/>
                </a:solidFill>
                <a:latin typeface="Arial" panose="020B0604020202020204" pitchFamily="34" charset="0"/>
                <a:ea typeface="微软雅黑" panose="020B0503020204020204" pitchFamily="34" charset="-122"/>
              </a:rPr>
              <a:t>Changeover</a:t>
            </a:r>
            <a:r>
              <a:rPr lang="zh-CN" altLang="en-US" dirty="0">
                <a:solidFill>
                  <a:schemeClr val="bg1"/>
                </a:solidFill>
                <a:latin typeface="Arial" panose="020B0604020202020204" pitchFamily="34" charset="0"/>
                <a:ea typeface="微软雅黑" panose="020B0503020204020204" pitchFamily="34" charset="-122"/>
              </a:rPr>
              <a:t>出现</a:t>
            </a:r>
          </a:p>
        </p:txBody>
      </p:sp>
      <p:grpSp>
        <p:nvGrpSpPr>
          <p:cNvPr id="3" name="组合 2">
            <a:extLst>
              <a:ext uri="{FF2B5EF4-FFF2-40B4-BE49-F238E27FC236}">
                <a16:creationId xmlns:a16="http://schemas.microsoft.com/office/drawing/2014/main" id="{482DD55D-B0A7-24A3-FA6D-17D6A577A9E4}"/>
              </a:ext>
            </a:extLst>
          </p:cNvPr>
          <p:cNvGrpSpPr/>
          <p:nvPr/>
        </p:nvGrpSpPr>
        <p:grpSpPr>
          <a:xfrm>
            <a:off x="1484218" y="2394012"/>
            <a:ext cx="9435316" cy="3633926"/>
            <a:chOff x="432045" y="1497366"/>
            <a:chExt cx="7602246" cy="2928431"/>
          </a:xfrm>
        </p:grpSpPr>
        <p:cxnSp>
          <p:nvCxnSpPr>
            <p:cNvPr id="4" name="直接箭头连接符 3">
              <a:extLst>
                <a:ext uri="{FF2B5EF4-FFF2-40B4-BE49-F238E27FC236}">
                  <a16:creationId xmlns:a16="http://schemas.microsoft.com/office/drawing/2014/main" id="{1AA05787-4CB9-0F32-70E0-A65CA02551E2}"/>
                </a:ext>
              </a:extLst>
            </p:cNvPr>
            <p:cNvCxnSpPr>
              <a:cxnSpLocks/>
            </p:cNvCxnSpPr>
            <p:nvPr/>
          </p:nvCxnSpPr>
          <p:spPr>
            <a:xfrm>
              <a:off x="1553592" y="2630009"/>
              <a:ext cx="6480699" cy="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5" name="直接箭头连接符 4">
              <a:extLst>
                <a:ext uri="{FF2B5EF4-FFF2-40B4-BE49-F238E27FC236}">
                  <a16:creationId xmlns:a16="http://schemas.microsoft.com/office/drawing/2014/main" id="{7585BBF1-1585-8095-DD9F-2232CDDBB7B3}"/>
                </a:ext>
              </a:extLst>
            </p:cNvPr>
            <p:cNvCxnSpPr>
              <a:cxnSpLocks/>
            </p:cNvCxnSpPr>
            <p:nvPr/>
          </p:nvCxnSpPr>
          <p:spPr>
            <a:xfrm>
              <a:off x="1581704"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6" name="直接箭头连接符 5">
              <a:extLst>
                <a:ext uri="{FF2B5EF4-FFF2-40B4-BE49-F238E27FC236}">
                  <a16:creationId xmlns:a16="http://schemas.microsoft.com/office/drawing/2014/main" id="{EBCCF20D-E013-FA12-6499-78610D034609}"/>
                </a:ext>
              </a:extLst>
            </p:cNvPr>
            <p:cNvCxnSpPr>
              <a:cxnSpLocks/>
            </p:cNvCxnSpPr>
            <p:nvPr/>
          </p:nvCxnSpPr>
          <p:spPr>
            <a:xfrm>
              <a:off x="2746159"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7" name="直接箭头连接符 6">
              <a:extLst>
                <a:ext uri="{FF2B5EF4-FFF2-40B4-BE49-F238E27FC236}">
                  <a16:creationId xmlns:a16="http://schemas.microsoft.com/office/drawing/2014/main" id="{D9E13FE2-96AA-353A-BCEF-B5AEC6184EAB}"/>
                </a:ext>
              </a:extLst>
            </p:cNvPr>
            <p:cNvCxnSpPr>
              <a:cxnSpLocks/>
            </p:cNvCxnSpPr>
            <p:nvPr/>
          </p:nvCxnSpPr>
          <p:spPr>
            <a:xfrm>
              <a:off x="3937246"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8" name="直接箭头连接符 7">
              <a:extLst>
                <a:ext uri="{FF2B5EF4-FFF2-40B4-BE49-F238E27FC236}">
                  <a16:creationId xmlns:a16="http://schemas.microsoft.com/office/drawing/2014/main" id="{10F4B2EF-5DD3-858B-9E23-03B0E84C634B}"/>
                </a:ext>
              </a:extLst>
            </p:cNvPr>
            <p:cNvCxnSpPr>
              <a:cxnSpLocks/>
            </p:cNvCxnSpPr>
            <p:nvPr/>
          </p:nvCxnSpPr>
          <p:spPr>
            <a:xfrm>
              <a:off x="5075067"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79AE561-F413-EBD8-77EC-4EBE5D2D4696}"/>
                </a:ext>
              </a:extLst>
            </p:cNvPr>
            <p:cNvCxnSpPr>
              <a:cxnSpLocks/>
            </p:cNvCxnSpPr>
            <p:nvPr/>
          </p:nvCxnSpPr>
          <p:spPr>
            <a:xfrm>
              <a:off x="6230644"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1472DCD5-E27E-FFC3-32AA-711A1E35D785}"/>
                </a:ext>
              </a:extLst>
            </p:cNvPr>
            <p:cNvCxnSpPr>
              <a:cxnSpLocks/>
            </p:cNvCxnSpPr>
            <p:nvPr/>
          </p:nvCxnSpPr>
          <p:spPr>
            <a:xfrm>
              <a:off x="7395098"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25AD13E1-254C-A571-7427-4997A162D9AB}"/>
                </a:ext>
              </a:extLst>
            </p:cNvPr>
            <p:cNvSpPr txBox="1"/>
            <p:nvPr/>
          </p:nvSpPr>
          <p:spPr>
            <a:xfrm>
              <a:off x="432045" y="1580226"/>
              <a:ext cx="1305018" cy="272827"/>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Demands</a:t>
              </a:r>
              <a:endParaRPr lang="zh-CN" altLang="en-US" sz="1600" b="1" dirty="0">
                <a:solidFill>
                  <a:schemeClr val="bg1"/>
                </a:solidFill>
                <a:latin typeface="Arial" panose="020B0604020202020204" pitchFamily="34" charset="0"/>
                <a:ea typeface="微软雅黑" panose="020B0503020204020204" pitchFamily="34" charset="-122"/>
              </a:endParaRPr>
            </a:p>
          </p:txBody>
        </p:sp>
        <p:sp>
          <p:nvSpPr>
            <p:cNvPr id="12" name="文本框 11">
              <a:extLst>
                <a:ext uri="{FF2B5EF4-FFF2-40B4-BE49-F238E27FC236}">
                  <a16:creationId xmlns:a16="http://schemas.microsoft.com/office/drawing/2014/main" id="{DC45AABB-F7D4-958C-5BDB-226E655A6604}"/>
                </a:ext>
              </a:extLst>
            </p:cNvPr>
            <p:cNvSpPr txBox="1"/>
            <p:nvPr/>
          </p:nvSpPr>
          <p:spPr>
            <a:xfrm>
              <a:off x="545234" y="2721590"/>
              <a:ext cx="1305018" cy="471246"/>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Planned Orders</a:t>
              </a:r>
              <a:endParaRPr lang="zh-CN" altLang="en-US" sz="1600" b="1" dirty="0">
                <a:solidFill>
                  <a:schemeClr val="bg1"/>
                </a:solidFill>
                <a:latin typeface="Arial" panose="020B0604020202020204" pitchFamily="34" charset="0"/>
                <a:ea typeface="微软雅黑" panose="020B0503020204020204" pitchFamily="34" charset="-122"/>
              </a:endParaRPr>
            </a:p>
          </p:txBody>
        </p:sp>
        <p:sp>
          <p:nvSpPr>
            <p:cNvPr id="13" name="矩形 12">
              <a:extLst>
                <a:ext uri="{FF2B5EF4-FFF2-40B4-BE49-F238E27FC236}">
                  <a16:creationId xmlns:a16="http://schemas.microsoft.com/office/drawing/2014/main" id="{6EE691BE-636B-44E0-2A32-5592D94477C5}"/>
                </a:ext>
              </a:extLst>
            </p:cNvPr>
            <p:cNvSpPr/>
            <p:nvPr/>
          </p:nvSpPr>
          <p:spPr>
            <a:xfrm>
              <a:off x="5254105" y="1622411"/>
              <a:ext cx="841895" cy="456343"/>
            </a:xfrm>
            <a:prstGeom prst="rect">
              <a:avLst/>
            </a:prstGeom>
            <a:solidFill>
              <a:srgbClr val="00B050"/>
            </a:solidFill>
          </p:spPr>
          <p:style>
            <a:lnRef idx="0">
              <a:schemeClr val="accent6"/>
            </a:lnRef>
            <a:fillRef idx="3">
              <a:schemeClr val="accent6"/>
            </a:fillRef>
            <a:effectRef idx="3">
              <a:schemeClr val="accent6"/>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A</a:t>
              </a:r>
            </a:p>
            <a:p>
              <a:pPr algn="ctr"/>
              <a:r>
                <a:rPr lang="en-US" altLang="zh-CN" sz="1600" dirty="0">
                  <a:latin typeface="Arial" panose="020B0604020202020204" pitchFamily="34" charset="0"/>
                  <a:ea typeface="微软雅黑" panose="020B0503020204020204" pitchFamily="34" charset="-122"/>
                </a:rPr>
                <a:t>200</a:t>
              </a:r>
              <a:endParaRPr lang="zh-CN" altLang="en-US" sz="1600" dirty="0">
                <a:latin typeface="Arial" panose="020B0604020202020204" pitchFamily="34" charset="0"/>
                <a:ea typeface="微软雅黑" panose="020B0503020204020204" pitchFamily="34" charset="-122"/>
              </a:endParaRPr>
            </a:p>
          </p:txBody>
        </p:sp>
        <p:sp>
          <p:nvSpPr>
            <p:cNvPr id="14" name="矩形 13">
              <a:extLst>
                <a:ext uri="{FF2B5EF4-FFF2-40B4-BE49-F238E27FC236}">
                  <a16:creationId xmlns:a16="http://schemas.microsoft.com/office/drawing/2014/main" id="{B8CA6859-BDD0-5E24-D695-7A78D7390EC3}"/>
                </a:ext>
              </a:extLst>
            </p:cNvPr>
            <p:cNvSpPr/>
            <p:nvPr/>
          </p:nvSpPr>
          <p:spPr>
            <a:xfrm>
              <a:off x="6418558" y="1622411"/>
              <a:ext cx="841895" cy="456343"/>
            </a:xfrm>
            <a:prstGeom prst="rect">
              <a:avLst/>
            </a:prstGeom>
            <a:solidFill>
              <a:schemeClr val="bg2">
                <a:lumMod val="50000"/>
              </a:schemeClr>
            </a:solidFill>
          </p:spPr>
          <p:style>
            <a:lnRef idx="1">
              <a:schemeClr val="accent4"/>
            </a:lnRef>
            <a:fillRef idx="3">
              <a:schemeClr val="accent4"/>
            </a:fillRef>
            <a:effectRef idx="2">
              <a:schemeClr val="accent4"/>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B</a:t>
              </a:r>
            </a:p>
            <a:p>
              <a:pPr algn="ctr"/>
              <a:r>
                <a:rPr lang="en-US" altLang="zh-CN" sz="1600" dirty="0">
                  <a:latin typeface="Arial" panose="020B0604020202020204" pitchFamily="34" charset="0"/>
                  <a:ea typeface="微软雅黑" panose="020B0503020204020204" pitchFamily="34" charset="-122"/>
                </a:rPr>
                <a:t>150</a:t>
              </a:r>
              <a:endParaRPr lang="zh-CN" altLang="en-US" sz="1600" dirty="0">
                <a:latin typeface="Arial" panose="020B0604020202020204" pitchFamily="34" charset="0"/>
                <a:ea typeface="微软雅黑" panose="020B0503020204020204" pitchFamily="34" charset="-122"/>
              </a:endParaRPr>
            </a:p>
          </p:txBody>
        </p:sp>
        <p:sp>
          <p:nvSpPr>
            <p:cNvPr id="15" name="椭圆 14">
              <a:extLst>
                <a:ext uri="{FF2B5EF4-FFF2-40B4-BE49-F238E27FC236}">
                  <a16:creationId xmlns:a16="http://schemas.microsoft.com/office/drawing/2014/main" id="{69BC983B-D1E4-3DFD-64F2-B7C1F5104D7A}"/>
                </a:ext>
              </a:extLst>
            </p:cNvPr>
            <p:cNvSpPr/>
            <p:nvPr/>
          </p:nvSpPr>
          <p:spPr>
            <a:xfrm>
              <a:off x="5335480" y="2822728"/>
              <a:ext cx="760517" cy="606271"/>
            </a:xfrm>
            <a:prstGeom prst="ellipse">
              <a:avLst/>
            </a:prstGeom>
            <a:solidFill>
              <a:srgbClr val="00B050"/>
            </a:solidFill>
          </p:spPr>
          <p:style>
            <a:lnRef idx="3">
              <a:schemeClr val="lt1"/>
            </a:lnRef>
            <a:fillRef idx="1">
              <a:schemeClr val="accent6"/>
            </a:fillRef>
            <a:effectRef idx="1">
              <a:schemeClr val="accent6"/>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A</a:t>
              </a:r>
            </a:p>
            <a:p>
              <a:pPr algn="ctr"/>
              <a:r>
                <a:rPr lang="en-US" altLang="zh-CN" sz="1600" dirty="0">
                  <a:latin typeface="Arial" panose="020B0604020202020204" pitchFamily="34" charset="0"/>
                  <a:ea typeface="微软雅黑" panose="020B0503020204020204" pitchFamily="34" charset="-122"/>
                </a:rPr>
                <a:t>200</a:t>
              </a:r>
              <a:endParaRPr lang="zh-CN" altLang="en-US" sz="1600" dirty="0">
                <a:latin typeface="Arial" panose="020B0604020202020204" pitchFamily="34" charset="0"/>
                <a:ea typeface="微软雅黑" panose="020B0503020204020204" pitchFamily="34" charset="-122"/>
              </a:endParaRPr>
            </a:p>
          </p:txBody>
        </p:sp>
        <p:sp>
          <p:nvSpPr>
            <p:cNvPr id="16" name="椭圆 15">
              <a:extLst>
                <a:ext uri="{FF2B5EF4-FFF2-40B4-BE49-F238E27FC236}">
                  <a16:creationId xmlns:a16="http://schemas.microsoft.com/office/drawing/2014/main" id="{4E31FE24-70BB-7BF3-A89C-97DED1D12982}"/>
                </a:ext>
              </a:extLst>
            </p:cNvPr>
            <p:cNvSpPr/>
            <p:nvPr/>
          </p:nvSpPr>
          <p:spPr>
            <a:xfrm>
              <a:off x="6365290" y="2822729"/>
              <a:ext cx="886284" cy="561626"/>
            </a:xfrm>
            <a:prstGeom prst="ellipse">
              <a:avLst/>
            </a:prstGeom>
            <a:solidFill>
              <a:schemeClr val="bg2">
                <a:lumMod val="50000"/>
              </a:schemeClr>
            </a:solidFill>
          </p:spPr>
          <p:style>
            <a:lnRef idx="1">
              <a:schemeClr val="accent4"/>
            </a:lnRef>
            <a:fillRef idx="3">
              <a:schemeClr val="accent4"/>
            </a:fillRef>
            <a:effectRef idx="2">
              <a:schemeClr val="accent4"/>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B</a:t>
              </a:r>
            </a:p>
            <a:p>
              <a:pPr algn="ctr"/>
              <a:r>
                <a:rPr lang="en-US" altLang="zh-CN" sz="1600" dirty="0">
                  <a:latin typeface="Arial" panose="020B0604020202020204" pitchFamily="34" charset="0"/>
                  <a:ea typeface="微软雅黑" panose="020B0503020204020204" pitchFamily="34" charset="-122"/>
                </a:rPr>
                <a:t>150</a:t>
              </a:r>
              <a:endParaRPr lang="zh-CN" altLang="en-US" sz="1600" dirty="0">
                <a:latin typeface="Arial" panose="020B0604020202020204" pitchFamily="34" charset="0"/>
                <a:ea typeface="微软雅黑" panose="020B0503020204020204" pitchFamily="34" charset="-122"/>
              </a:endParaRPr>
            </a:p>
          </p:txBody>
        </p:sp>
        <p:sp>
          <p:nvSpPr>
            <p:cNvPr id="17" name="矩形 16">
              <a:extLst>
                <a:ext uri="{FF2B5EF4-FFF2-40B4-BE49-F238E27FC236}">
                  <a16:creationId xmlns:a16="http://schemas.microsoft.com/office/drawing/2014/main" id="{40F66D92-3BC2-9F1D-C73E-00F1AE5468D7}"/>
                </a:ext>
              </a:extLst>
            </p:cNvPr>
            <p:cNvSpPr/>
            <p:nvPr/>
          </p:nvSpPr>
          <p:spPr>
            <a:xfrm>
              <a:off x="3942426" y="3778922"/>
              <a:ext cx="1137821" cy="630606"/>
            </a:xfrm>
            <a:prstGeom prst="rect">
              <a:avLst/>
            </a:prstGeom>
            <a:solidFill>
              <a:srgbClr val="00B050"/>
            </a:solidFill>
            <a:ln w="12700">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sp>
          <p:nvSpPr>
            <p:cNvPr id="18" name="矩形 17">
              <a:extLst>
                <a:ext uri="{FF2B5EF4-FFF2-40B4-BE49-F238E27FC236}">
                  <a16:creationId xmlns:a16="http://schemas.microsoft.com/office/drawing/2014/main" id="{2437B862-7AA4-9737-8DE4-67D16950E8D2}"/>
                </a:ext>
              </a:extLst>
            </p:cNvPr>
            <p:cNvSpPr/>
            <p:nvPr/>
          </p:nvSpPr>
          <p:spPr>
            <a:xfrm>
              <a:off x="2746159" y="3780999"/>
              <a:ext cx="1191087" cy="624982"/>
            </a:xfrm>
            <a:prstGeom prst="rect">
              <a:avLst/>
            </a:prstGeom>
            <a:solidFill>
              <a:srgbClr val="00B050"/>
            </a:solidFill>
            <a:ln w="12700">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cxnSp>
          <p:nvCxnSpPr>
            <p:cNvPr id="19" name="直接箭头连接符 18">
              <a:extLst>
                <a:ext uri="{FF2B5EF4-FFF2-40B4-BE49-F238E27FC236}">
                  <a16:creationId xmlns:a16="http://schemas.microsoft.com/office/drawing/2014/main" id="{2F4403DA-7987-7A62-F1EF-FE7EA14BB67C}"/>
                </a:ext>
              </a:extLst>
            </p:cNvPr>
            <p:cNvCxnSpPr>
              <a:cxnSpLocks/>
            </p:cNvCxnSpPr>
            <p:nvPr/>
          </p:nvCxnSpPr>
          <p:spPr>
            <a:xfrm>
              <a:off x="1313895" y="3762653"/>
              <a:ext cx="6720396" cy="18345"/>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20" name="连接符: 肘形 19">
              <a:extLst>
                <a:ext uri="{FF2B5EF4-FFF2-40B4-BE49-F238E27FC236}">
                  <a16:creationId xmlns:a16="http://schemas.microsoft.com/office/drawing/2014/main" id="{2C56DE56-82B5-4D6D-807F-36343D6F73AD}"/>
                </a:ext>
              </a:extLst>
            </p:cNvPr>
            <p:cNvCxnSpPr>
              <a:cxnSpLocks/>
              <a:stCxn id="18" idx="0"/>
              <a:endCxn id="15" idx="2"/>
            </p:cNvCxnSpPr>
            <p:nvPr/>
          </p:nvCxnSpPr>
          <p:spPr>
            <a:xfrm rot="5400000" flipH="1" flipV="1">
              <a:off x="4011024" y="2456544"/>
              <a:ext cx="655135" cy="1993777"/>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21" name="连接符: 肘形 20">
              <a:extLst>
                <a:ext uri="{FF2B5EF4-FFF2-40B4-BE49-F238E27FC236}">
                  <a16:creationId xmlns:a16="http://schemas.microsoft.com/office/drawing/2014/main" id="{C89A5F67-044C-8909-E099-8AD3AE83CF39}"/>
                </a:ext>
              </a:extLst>
            </p:cNvPr>
            <p:cNvCxnSpPr>
              <a:cxnSpLocks/>
              <a:stCxn id="17" idx="0"/>
              <a:endCxn id="15" idx="2"/>
            </p:cNvCxnSpPr>
            <p:nvPr/>
          </p:nvCxnSpPr>
          <p:spPr>
            <a:xfrm rot="5400000" flipH="1" flipV="1">
              <a:off x="4596880" y="3040322"/>
              <a:ext cx="653059" cy="824143"/>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22" name="文本框 21">
              <a:extLst>
                <a:ext uri="{FF2B5EF4-FFF2-40B4-BE49-F238E27FC236}">
                  <a16:creationId xmlns:a16="http://schemas.microsoft.com/office/drawing/2014/main" id="{CD6635DC-AB44-5232-B227-01E444B35D5C}"/>
                </a:ext>
              </a:extLst>
            </p:cNvPr>
            <p:cNvSpPr txBox="1"/>
            <p:nvPr/>
          </p:nvSpPr>
          <p:spPr>
            <a:xfrm>
              <a:off x="646590" y="3577987"/>
              <a:ext cx="642152" cy="272827"/>
            </a:xfrm>
            <a:prstGeom prst="rect">
              <a:avLst/>
            </a:prstGeom>
            <a:noFill/>
          </p:spPr>
          <p:txBody>
            <a:bodyPr wrap="square" rtlCol="0">
              <a:spAutoFit/>
            </a:bodyPr>
            <a:lstStyle/>
            <a:p>
              <a:r>
                <a:rPr lang="en-US" altLang="zh-CN" sz="1600" b="1" dirty="0">
                  <a:solidFill>
                    <a:srgbClr val="C00000"/>
                  </a:solidFill>
                  <a:latin typeface="Arial" panose="020B0604020202020204" pitchFamily="34" charset="0"/>
                  <a:ea typeface="微软雅黑" panose="020B0503020204020204" pitchFamily="34" charset="-122"/>
                </a:rPr>
                <a:t>100</a:t>
              </a:r>
              <a:endParaRPr lang="zh-CN" altLang="en-US" sz="1600" b="1" dirty="0">
                <a:solidFill>
                  <a:srgbClr val="C00000"/>
                </a:solidFill>
                <a:latin typeface="Arial" panose="020B0604020202020204" pitchFamily="34" charset="0"/>
                <a:ea typeface="微软雅黑" panose="020B0503020204020204" pitchFamily="34" charset="-122"/>
              </a:endParaRPr>
            </a:p>
          </p:txBody>
        </p:sp>
        <p:sp>
          <p:nvSpPr>
            <p:cNvPr id="23" name="矩形 22">
              <a:extLst>
                <a:ext uri="{FF2B5EF4-FFF2-40B4-BE49-F238E27FC236}">
                  <a16:creationId xmlns:a16="http://schemas.microsoft.com/office/drawing/2014/main" id="{78BBB098-5C7B-7EC8-D406-658221FDF9C9}"/>
                </a:ext>
              </a:extLst>
            </p:cNvPr>
            <p:cNvSpPr/>
            <p:nvPr/>
          </p:nvSpPr>
          <p:spPr>
            <a:xfrm>
              <a:off x="1581704" y="3790465"/>
              <a:ext cx="1191087" cy="615515"/>
            </a:xfrm>
            <a:prstGeom prst="rect">
              <a:avLst/>
            </a:prstGeom>
          </p:spPr>
          <p:style>
            <a:lnRef idx="2">
              <a:schemeClr val="accent2"/>
            </a:lnRef>
            <a:fillRef idx="1">
              <a:schemeClr val="lt1"/>
            </a:fillRef>
            <a:effectRef idx="0">
              <a:schemeClr val="accent2"/>
            </a:effectRef>
            <a:fontRef idx="minor">
              <a:schemeClr val="dk1"/>
            </a:fontRef>
          </p:style>
          <p:txBody>
            <a:bodyPr rtlCol="0" anchor="ctr"/>
            <a:lstStyle/>
            <a:p>
              <a:pPr algn="ctr"/>
              <a:endParaRPr lang="zh-CN" altLang="en-US" sz="1600" dirty="0">
                <a:latin typeface="+mn-ea"/>
              </a:endParaRPr>
            </a:p>
          </p:txBody>
        </p:sp>
        <p:sp>
          <p:nvSpPr>
            <p:cNvPr id="24" name="矩形 23">
              <a:extLst>
                <a:ext uri="{FF2B5EF4-FFF2-40B4-BE49-F238E27FC236}">
                  <a16:creationId xmlns:a16="http://schemas.microsoft.com/office/drawing/2014/main" id="{206558AC-6A3D-ECF2-C1CB-E0A422A6D81F}"/>
                </a:ext>
              </a:extLst>
            </p:cNvPr>
            <p:cNvSpPr/>
            <p:nvPr/>
          </p:nvSpPr>
          <p:spPr>
            <a:xfrm>
              <a:off x="1581704" y="4093490"/>
              <a:ext cx="1191087" cy="321956"/>
            </a:xfrm>
            <a:prstGeom prst="rect">
              <a:avLst/>
            </a:prstGeom>
            <a:solidFill>
              <a:schemeClr val="bg2">
                <a:lumMod val="50000"/>
                <a:alpha val="98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sp>
          <p:nvSpPr>
            <p:cNvPr id="25" name="矩形 24">
              <a:extLst>
                <a:ext uri="{FF2B5EF4-FFF2-40B4-BE49-F238E27FC236}">
                  <a16:creationId xmlns:a16="http://schemas.microsoft.com/office/drawing/2014/main" id="{AA767003-06A3-071D-33D2-8B64AED013A0}"/>
                </a:ext>
              </a:extLst>
            </p:cNvPr>
            <p:cNvSpPr/>
            <p:nvPr/>
          </p:nvSpPr>
          <p:spPr>
            <a:xfrm>
              <a:off x="5075067" y="3790465"/>
              <a:ext cx="1174815" cy="635332"/>
            </a:xfrm>
            <a:prstGeom prst="rect">
              <a:avLst/>
            </a:prstGeom>
            <a:solidFill>
              <a:schemeClr val="bg2">
                <a:lumMod val="50000"/>
                <a:alpha val="97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cxnSp>
          <p:nvCxnSpPr>
            <p:cNvPr id="26" name="连接符: 肘形 25">
              <a:extLst>
                <a:ext uri="{FF2B5EF4-FFF2-40B4-BE49-F238E27FC236}">
                  <a16:creationId xmlns:a16="http://schemas.microsoft.com/office/drawing/2014/main" id="{0618A7C6-9535-584E-48BC-CBFC9571D11F}"/>
                </a:ext>
              </a:extLst>
            </p:cNvPr>
            <p:cNvCxnSpPr>
              <a:cxnSpLocks/>
              <a:stCxn id="25" idx="0"/>
              <a:endCxn id="16" idx="4"/>
            </p:cNvCxnSpPr>
            <p:nvPr/>
          </p:nvCxnSpPr>
          <p:spPr>
            <a:xfrm rot="5400000" flipH="1" flipV="1">
              <a:off x="6032398" y="3014432"/>
              <a:ext cx="406110" cy="1145957"/>
            </a:xfrm>
            <a:prstGeom prst="bentConnector3">
              <a:avLst>
                <a:gd name="adj1" fmla="val 50000"/>
              </a:avLst>
            </a:prstGeom>
            <a:ln w="25400" cap="flat" cmpd="sng" algn="ctr">
              <a:solidFill>
                <a:schemeClr val="tx2">
                  <a:lumMod val="2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27" name="连接符: 肘形 26">
              <a:extLst>
                <a:ext uri="{FF2B5EF4-FFF2-40B4-BE49-F238E27FC236}">
                  <a16:creationId xmlns:a16="http://schemas.microsoft.com/office/drawing/2014/main" id="{CB84CBEF-7377-5C56-1AF7-6CFCDC2E0DBD}"/>
                </a:ext>
              </a:extLst>
            </p:cNvPr>
            <p:cNvCxnSpPr>
              <a:cxnSpLocks/>
              <a:stCxn id="23" idx="0"/>
              <a:endCxn id="16" idx="4"/>
            </p:cNvCxnSpPr>
            <p:nvPr/>
          </p:nvCxnSpPr>
          <p:spPr>
            <a:xfrm rot="5400000" flipH="1" flipV="1">
              <a:off x="4289785" y="1271818"/>
              <a:ext cx="406110" cy="4631186"/>
            </a:xfrm>
            <a:prstGeom prst="bentConnector3">
              <a:avLst>
                <a:gd name="adj1" fmla="val 50000"/>
              </a:avLst>
            </a:prstGeom>
            <a:ln w="25400" cap="flat" cmpd="sng" algn="ctr">
              <a:solidFill>
                <a:schemeClr val="tx2">
                  <a:lumMod val="2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grpSp>
      <p:sp>
        <p:nvSpPr>
          <p:cNvPr id="28" name="文本框 27">
            <a:extLst>
              <a:ext uri="{FF2B5EF4-FFF2-40B4-BE49-F238E27FC236}">
                <a16:creationId xmlns:a16="http://schemas.microsoft.com/office/drawing/2014/main" id="{F518FE28-5032-A523-7B0C-1D2DFA774718}"/>
              </a:ext>
            </a:extLst>
          </p:cNvPr>
          <p:cNvSpPr txBox="1"/>
          <p:nvPr/>
        </p:nvSpPr>
        <p:spPr>
          <a:xfrm>
            <a:off x="1500706" y="5539248"/>
            <a:ext cx="1619687" cy="338554"/>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Constraints</a:t>
            </a:r>
            <a:endParaRPr lang="zh-CN" altLang="en-US" sz="1600" b="1" dirty="0">
              <a:solidFill>
                <a:schemeClr val="bg1"/>
              </a:solidFill>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2992528236"/>
      </p:ext>
    </p:extLst>
  </p:cSld>
  <p:clrMapOvr>
    <a:overrideClrMapping bg1="dk1" tx1="lt1" bg2="dk2" tx2="lt2" accent1="accent1" accent2="accent2" accent3="accent3" accent4="accent4" accent5="accent5" accent6="accent6" hlink="hlink" folHlink="folHlink"/>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9C38B65-D2D3-1B19-16BC-5529C093848E}"/>
              </a:ext>
            </a:extLst>
          </p:cNvPr>
          <p:cNvSpPr>
            <a:spLocks noGrp="1"/>
          </p:cNvSpPr>
          <p:nvPr>
            <p:ph type="title"/>
          </p:nvPr>
        </p:nvSpPr>
        <p:spPr/>
        <p:txBody>
          <a:bodyPr/>
          <a:lstStyle/>
          <a:p>
            <a:r>
              <a:rPr lang="zh-CN" altLang="en-US" dirty="0">
                <a:solidFill>
                  <a:schemeClr val="bg1"/>
                </a:solidFill>
                <a:latin typeface="Arial" panose="020B0604020202020204" pitchFamily="34" charset="0"/>
                <a:ea typeface="微软雅黑" panose="020B0503020204020204" pitchFamily="34" charset="-122"/>
              </a:rPr>
              <a:t>继续优化</a:t>
            </a:r>
            <a:r>
              <a:rPr lang="en-US" altLang="zh-CN" dirty="0">
                <a:solidFill>
                  <a:schemeClr val="bg1"/>
                </a:solidFill>
                <a:latin typeface="Arial" panose="020B0604020202020204" pitchFamily="34" charset="0"/>
                <a:ea typeface="微软雅黑" panose="020B0503020204020204" pitchFamily="34" charset="-122"/>
              </a:rPr>
              <a:t>Changeover</a:t>
            </a:r>
            <a:endParaRPr lang="zh-CN" altLang="en-US" dirty="0">
              <a:solidFill>
                <a:schemeClr val="bg1"/>
              </a:solidFill>
              <a:latin typeface="Arial" panose="020B0604020202020204" pitchFamily="34" charset="0"/>
              <a:ea typeface="微软雅黑" panose="020B0503020204020204" pitchFamily="34" charset="-122"/>
            </a:endParaRPr>
          </a:p>
        </p:txBody>
      </p:sp>
      <p:grpSp>
        <p:nvGrpSpPr>
          <p:cNvPr id="3" name="组合 2">
            <a:extLst>
              <a:ext uri="{FF2B5EF4-FFF2-40B4-BE49-F238E27FC236}">
                <a16:creationId xmlns:a16="http://schemas.microsoft.com/office/drawing/2014/main" id="{BBE73A5C-7F31-AEBE-312C-07B97EEA59B5}"/>
              </a:ext>
            </a:extLst>
          </p:cNvPr>
          <p:cNvGrpSpPr/>
          <p:nvPr/>
        </p:nvGrpSpPr>
        <p:grpSpPr>
          <a:xfrm>
            <a:off x="1249995" y="2185823"/>
            <a:ext cx="9323308" cy="3933792"/>
            <a:chOff x="1871336" y="4066052"/>
            <a:chExt cx="8113798" cy="2741993"/>
          </a:xfrm>
        </p:grpSpPr>
        <p:cxnSp>
          <p:nvCxnSpPr>
            <p:cNvPr id="4" name="直接箭头连接符 3">
              <a:extLst>
                <a:ext uri="{FF2B5EF4-FFF2-40B4-BE49-F238E27FC236}">
                  <a16:creationId xmlns:a16="http://schemas.microsoft.com/office/drawing/2014/main" id="{35197928-9455-70A4-DA2D-6F7B47A52723}"/>
                </a:ext>
              </a:extLst>
            </p:cNvPr>
            <p:cNvCxnSpPr>
              <a:cxnSpLocks/>
            </p:cNvCxnSpPr>
            <p:nvPr/>
          </p:nvCxnSpPr>
          <p:spPr>
            <a:xfrm>
              <a:off x="3080629" y="5128197"/>
              <a:ext cx="6904505" cy="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5" name="直接箭头连接符 4">
              <a:extLst>
                <a:ext uri="{FF2B5EF4-FFF2-40B4-BE49-F238E27FC236}">
                  <a16:creationId xmlns:a16="http://schemas.microsoft.com/office/drawing/2014/main" id="{F2432312-6D32-DFB6-B725-84B4D770A6B8}"/>
                </a:ext>
              </a:extLst>
            </p:cNvPr>
            <p:cNvCxnSpPr>
              <a:cxnSpLocks/>
            </p:cNvCxnSpPr>
            <p:nvPr/>
          </p:nvCxnSpPr>
          <p:spPr>
            <a:xfrm>
              <a:off x="3110579" y="4066052"/>
              <a:ext cx="0" cy="2133175"/>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6" name="直接箭头连接符 5">
              <a:extLst>
                <a:ext uri="{FF2B5EF4-FFF2-40B4-BE49-F238E27FC236}">
                  <a16:creationId xmlns:a16="http://schemas.microsoft.com/office/drawing/2014/main" id="{A9A07399-E47C-218E-1FF8-D0A229D97DBF}"/>
                </a:ext>
              </a:extLst>
            </p:cNvPr>
            <p:cNvCxnSpPr>
              <a:cxnSpLocks/>
            </p:cNvCxnSpPr>
            <p:nvPr/>
          </p:nvCxnSpPr>
          <p:spPr>
            <a:xfrm>
              <a:off x="4351184" y="4066052"/>
              <a:ext cx="0" cy="2133175"/>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7" name="直接箭头连接符 6">
              <a:extLst>
                <a:ext uri="{FF2B5EF4-FFF2-40B4-BE49-F238E27FC236}">
                  <a16:creationId xmlns:a16="http://schemas.microsoft.com/office/drawing/2014/main" id="{6E5DEB94-AE75-F983-A0F9-F5D684DC6B86}"/>
                </a:ext>
              </a:extLst>
            </p:cNvPr>
            <p:cNvCxnSpPr>
              <a:cxnSpLocks/>
            </p:cNvCxnSpPr>
            <p:nvPr/>
          </p:nvCxnSpPr>
          <p:spPr>
            <a:xfrm>
              <a:off x="5620162" y="4066052"/>
              <a:ext cx="0" cy="2133175"/>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8" name="直接箭头连接符 7">
              <a:extLst>
                <a:ext uri="{FF2B5EF4-FFF2-40B4-BE49-F238E27FC236}">
                  <a16:creationId xmlns:a16="http://schemas.microsoft.com/office/drawing/2014/main" id="{2AFD4524-EA0D-5F80-2759-C97E716DDB97}"/>
                </a:ext>
              </a:extLst>
            </p:cNvPr>
            <p:cNvCxnSpPr>
              <a:cxnSpLocks/>
            </p:cNvCxnSpPr>
            <p:nvPr/>
          </p:nvCxnSpPr>
          <p:spPr>
            <a:xfrm>
              <a:off x="6832391" y="4066052"/>
              <a:ext cx="0" cy="2133175"/>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3514EF5A-E894-2F93-A387-5D77875A3DFB}"/>
                </a:ext>
              </a:extLst>
            </p:cNvPr>
            <p:cNvCxnSpPr>
              <a:cxnSpLocks/>
            </p:cNvCxnSpPr>
            <p:nvPr/>
          </p:nvCxnSpPr>
          <p:spPr>
            <a:xfrm>
              <a:off x="8063537" y="4066052"/>
              <a:ext cx="0" cy="2133175"/>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57BFD6BA-40D6-9AC1-E6AE-26C52C78E261}"/>
                </a:ext>
              </a:extLst>
            </p:cNvPr>
            <p:cNvCxnSpPr>
              <a:cxnSpLocks/>
            </p:cNvCxnSpPr>
            <p:nvPr/>
          </p:nvCxnSpPr>
          <p:spPr>
            <a:xfrm>
              <a:off x="9304141" y="4066052"/>
              <a:ext cx="0" cy="2133175"/>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C9780A29-92C5-A160-7D3F-A84FE29C778B}"/>
                </a:ext>
              </a:extLst>
            </p:cNvPr>
            <p:cNvSpPr txBox="1"/>
            <p:nvPr/>
          </p:nvSpPr>
          <p:spPr>
            <a:xfrm>
              <a:off x="1885738" y="4143755"/>
              <a:ext cx="1390360" cy="235984"/>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Demands</a:t>
              </a:r>
              <a:endParaRPr lang="zh-CN" altLang="en-US" sz="1600" b="1" dirty="0">
                <a:solidFill>
                  <a:schemeClr val="bg1"/>
                </a:solidFill>
                <a:latin typeface="Arial" panose="020B0604020202020204" pitchFamily="34" charset="0"/>
                <a:ea typeface="微软雅黑" panose="020B0503020204020204" pitchFamily="34" charset="-122"/>
              </a:endParaRPr>
            </a:p>
          </p:txBody>
        </p:sp>
        <p:sp>
          <p:nvSpPr>
            <p:cNvPr id="12" name="文本框 11">
              <a:extLst>
                <a:ext uri="{FF2B5EF4-FFF2-40B4-BE49-F238E27FC236}">
                  <a16:creationId xmlns:a16="http://schemas.microsoft.com/office/drawing/2014/main" id="{82F6A65A-1DEC-7D70-A277-B751A29AF6A2}"/>
                </a:ext>
              </a:extLst>
            </p:cNvPr>
            <p:cNvSpPr txBox="1"/>
            <p:nvPr/>
          </p:nvSpPr>
          <p:spPr>
            <a:xfrm>
              <a:off x="1871336" y="5079463"/>
              <a:ext cx="1390360" cy="407609"/>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Planned Orders</a:t>
              </a:r>
              <a:endParaRPr lang="zh-CN" altLang="en-US" sz="1600" b="1" dirty="0">
                <a:solidFill>
                  <a:schemeClr val="bg1"/>
                </a:solidFill>
                <a:latin typeface="Arial" panose="020B0604020202020204" pitchFamily="34" charset="0"/>
                <a:ea typeface="微软雅黑" panose="020B0503020204020204" pitchFamily="34" charset="-122"/>
              </a:endParaRPr>
            </a:p>
          </p:txBody>
        </p:sp>
        <p:sp>
          <p:nvSpPr>
            <p:cNvPr id="13" name="矩形 12">
              <a:extLst>
                <a:ext uri="{FF2B5EF4-FFF2-40B4-BE49-F238E27FC236}">
                  <a16:creationId xmlns:a16="http://schemas.microsoft.com/office/drawing/2014/main" id="{F06749D7-AA25-BB99-B893-B1B6B0348B83}"/>
                </a:ext>
              </a:extLst>
            </p:cNvPr>
            <p:cNvSpPr/>
            <p:nvPr/>
          </p:nvSpPr>
          <p:spPr>
            <a:xfrm>
              <a:off x="7023137" y="4183314"/>
              <a:ext cx="896951" cy="427939"/>
            </a:xfrm>
            <a:prstGeom prst="rect">
              <a:avLst/>
            </a:prstGeom>
            <a:solidFill>
              <a:srgbClr val="00B050"/>
            </a:solidFill>
          </p:spPr>
          <p:style>
            <a:lnRef idx="0">
              <a:schemeClr val="accent6"/>
            </a:lnRef>
            <a:fillRef idx="3">
              <a:schemeClr val="accent6"/>
            </a:fillRef>
            <a:effectRef idx="3">
              <a:schemeClr val="accent6"/>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A</a:t>
              </a:r>
            </a:p>
            <a:p>
              <a:pPr algn="ctr"/>
              <a:r>
                <a:rPr lang="en-US" altLang="zh-CN" sz="1600" dirty="0">
                  <a:latin typeface="Arial" panose="020B0604020202020204" pitchFamily="34" charset="0"/>
                  <a:ea typeface="微软雅黑" panose="020B0503020204020204" pitchFamily="34" charset="-122"/>
                </a:rPr>
                <a:t>200</a:t>
              </a:r>
              <a:endParaRPr lang="zh-CN" altLang="en-US" sz="1600" dirty="0">
                <a:latin typeface="Arial" panose="020B0604020202020204" pitchFamily="34" charset="0"/>
                <a:ea typeface="微软雅黑" panose="020B0503020204020204" pitchFamily="34" charset="-122"/>
              </a:endParaRPr>
            </a:p>
          </p:txBody>
        </p:sp>
        <p:sp>
          <p:nvSpPr>
            <p:cNvPr id="14" name="矩形 13">
              <a:extLst>
                <a:ext uri="{FF2B5EF4-FFF2-40B4-BE49-F238E27FC236}">
                  <a16:creationId xmlns:a16="http://schemas.microsoft.com/office/drawing/2014/main" id="{4AFCC569-F207-7AF4-FB63-7F1824B0482A}"/>
                </a:ext>
              </a:extLst>
            </p:cNvPr>
            <p:cNvSpPr/>
            <p:nvPr/>
          </p:nvSpPr>
          <p:spPr>
            <a:xfrm>
              <a:off x="8263740" y="4183314"/>
              <a:ext cx="896951" cy="427939"/>
            </a:xfrm>
            <a:prstGeom prst="rect">
              <a:avLst/>
            </a:prstGeom>
            <a:solidFill>
              <a:schemeClr val="bg2">
                <a:lumMod val="50000"/>
              </a:schemeClr>
            </a:solidFill>
          </p:spPr>
          <p:style>
            <a:lnRef idx="1">
              <a:schemeClr val="accent3"/>
            </a:lnRef>
            <a:fillRef idx="3">
              <a:schemeClr val="accent3"/>
            </a:fillRef>
            <a:effectRef idx="2">
              <a:schemeClr val="accent3"/>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B</a:t>
              </a:r>
            </a:p>
            <a:p>
              <a:pPr algn="ctr"/>
              <a:r>
                <a:rPr lang="en-US" altLang="zh-CN" sz="1600" dirty="0">
                  <a:latin typeface="Arial" panose="020B0604020202020204" pitchFamily="34" charset="0"/>
                  <a:ea typeface="微软雅黑" panose="020B0503020204020204" pitchFamily="34" charset="-122"/>
                </a:rPr>
                <a:t>150</a:t>
              </a:r>
              <a:endParaRPr lang="zh-CN" altLang="en-US" sz="1600" dirty="0">
                <a:latin typeface="Arial" panose="020B0604020202020204" pitchFamily="34" charset="0"/>
                <a:ea typeface="微软雅黑" panose="020B0503020204020204" pitchFamily="34" charset="-122"/>
              </a:endParaRPr>
            </a:p>
          </p:txBody>
        </p:sp>
        <p:sp>
          <p:nvSpPr>
            <p:cNvPr id="15" name="椭圆 14">
              <a:extLst>
                <a:ext uri="{FF2B5EF4-FFF2-40B4-BE49-F238E27FC236}">
                  <a16:creationId xmlns:a16="http://schemas.microsoft.com/office/drawing/2014/main" id="{C493E086-87CE-34B6-8C7A-E0C31642426F}"/>
                </a:ext>
              </a:extLst>
            </p:cNvPr>
            <p:cNvSpPr/>
            <p:nvPr/>
          </p:nvSpPr>
          <p:spPr>
            <a:xfrm>
              <a:off x="7109834" y="5308921"/>
              <a:ext cx="810251" cy="568536"/>
            </a:xfrm>
            <a:prstGeom prst="ellipse">
              <a:avLst/>
            </a:prstGeom>
            <a:solidFill>
              <a:srgbClr val="00B050"/>
            </a:solidFill>
          </p:spPr>
          <p:style>
            <a:lnRef idx="3">
              <a:schemeClr val="lt1"/>
            </a:lnRef>
            <a:fillRef idx="1">
              <a:schemeClr val="accent6"/>
            </a:fillRef>
            <a:effectRef idx="1">
              <a:schemeClr val="accent6"/>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A</a:t>
              </a:r>
            </a:p>
            <a:p>
              <a:pPr algn="ctr"/>
              <a:r>
                <a:rPr lang="en-US" altLang="zh-CN" sz="1600" dirty="0">
                  <a:latin typeface="Arial" panose="020B0604020202020204" pitchFamily="34" charset="0"/>
                  <a:ea typeface="微软雅黑" panose="020B0503020204020204" pitchFamily="34" charset="-122"/>
                </a:rPr>
                <a:t>200</a:t>
              </a:r>
              <a:endParaRPr lang="zh-CN" altLang="en-US" sz="1600" dirty="0">
                <a:latin typeface="Arial" panose="020B0604020202020204" pitchFamily="34" charset="0"/>
                <a:ea typeface="微软雅黑" panose="020B0503020204020204" pitchFamily="34" charset="-122"/>
              </a:endParaRPr>
            </a:p>
          </p:txBody>
        </p:sp>
        <p:sp>
          <p:nvSpPr>
            <p:cNvPr id="16" name="椭圆 15">
              <a:extLst>
                <a:ext uri="{FF2B5EF4-FFF2-40B4-BE49-F238E27FC236}">
                  <a16:creationId xmlns:a16="http://schemas.microsoft.com/office/drawing/2014/main" id="{81FDAB2F-2457-2C05-F602-AE94A0D7A67B}"/>
                </a:ext>
              </a:extLst>
            </p:cNvPr>
            <p:cNvSpPr/>
            <p:nvPr/>
          </p:nvSpPr>
          <p:spPr>
            <a:xfrm>
              <a:off x="8206988" y="5308922"/>
              <a:ext cx="944243" cy="526669"/>
            </a:xfrm>
            <a:prstGeom prst="ellipse">
              <a:avLst/>
            </a:prstGeom>
            <a:solidFill>
              <a:schemeClr val="accent2">
                <a:lumMod val="75000"/>
              </a:schemeClr>
            </a:solidFill>
          </p:spPr>
          <p:style>
            <a:lnRef idx="1">
              <a:schemeClr val="accent2"/>
            </a:lnRef>
            <a:fillRef idx="3">
              <a:schemeClr val="accent2"/>
            </a:fillRef>
            <a:effectRef idx="2">
              <a:schemeClr val="accent2"/>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B</a:t>
              </a:r>
            </a:p>
            <a:p>
              <a:pPr algn="ctr"/>
              <a:r>
                <a:rPr lang="en-US" altLang="zh-CN" sz="1600" dirty="0">
                  <a:latin typeface="Arial" panose="020B0604020202020204" pitchFamily="34" charset="0"/>
                  <a:ea typeface="微软雅黑" panose="020B0503020204020204" pitchFamily="34" charset="-122"/>
                </a:rPr>
                <a:t>150</a:t>
              </a:r>
              <a:endParaRPr lang="zh-CN" altLang="en-US" sz="1600" dirty="0">
                <a:latin typeface="Arial" panose="020B0604020202020204" pitchFamily="34" charset="0"/>
                <a:ea typeface="微软雅黑" panose="020B0503020204020204" pitchFamily="34" charset="-122"/>
              </a:endParaRPr>
            </a:p>
          </p:txBody>
        </p:sp>
        <p:sp>
          <p:nvSpPr>
            <p:cNvPr id="17" name="矩形 16">
              <a:extLst>
                <a:ext uri="{FF2B5EF4-FFF2-40B4-BE49-F238E27FC236}">
                  <a16:creationId xmlns:a16="http://schemas.microsoft.com/office/drawing/2014/main" id="{9D1A0560-8AC8-4621-6309-B5F5E900D139}"/>
                </a:ext>
              </a:extLst>
            </p:cNvPr>
            <p:cNvSpPr/>
            <p:nvPr/>
          </p:nvSpPr>
          <p:spPr>
            <a:xfrm>
              <a:off x="4369105" y="6203320"/>
              <a:ext cx="1212229" cy="591356"/>
            </a:xfrm>
            <a:prstGeom prst="rect">
              <a:avLst/>
            </a:prstGeom>
            <a:solidFill>
              <a:srgbClr val="00B050"/>
            </a:solidFill>
            <a:ln w="12700">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sp>
          <p:nvSpPr>
            <p:cNvPr id="18" name="矩形 17">
              <a:extLst>
                <a:ext uri="{FF2B5EF4-FFF2-40B4-BE49-F238E27FC236}">
                  <a16:creationId xmlns:a16="http://schemas.microsoft.com/office/drawing/2014/main" id="{E2EC9B1C-D82B-583E-74B1-FFFD46F3406C}"/>
                </a:ext>
              </a:extLst>
            </p:cNvPr>
            <p:cNvSpPr/>
            <p:nvPr/>
          </p:nvSpPr>
          <p:spPr>
            <a:xfrm>
              <a:off x="3090446" y="6209175"/>
              <a:ext cx="1268978" cy="586082"/>
            </a:xfrm>
            <a:prstGeom prst="rect">
              <a:avLst/>
            </a:prstGeom>
            <a:solidFill>
              <a:srgbClr val="00B050"/>
            </a:solidFill>
            <a:ln w="12700">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cxnSp>
          <p:nvCxnSpPr>
            <p:cNvPr id="19" name="直接箭头连接符 18">
              <a:extLst>
                <a:ext uri="{FF2B5EF4-FFF2-40B4-BE49-F238E27FC236}">
                  <a16:creationId xmlns:a16="http://schemas.microsoft.com/office/drawing/2014/main" id="{3FB4F73B-C283-3471-94C8-C25D3F8B7824}"/>
                </a:ext>
              </a:extLst>
            </p:cNvPr>
            <p:cNvCxnSpPr>
              <a:cxnSpLocks/>
            </p:cNvCxnSpPr>
            <p:nvPr/>
          </p:nvCxnSpPr>
          <p:spPr>
            <a:xfrm>
              <a:off x="2825257" y="6190343"/>
              <a:ext cx="7159877" cy="17203"/>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20" name="连接符: 肘形 19">
              <a:extLst>
                <a:ext uri="{FF2B5EF4-FFF2-40B4-BE49-F238E27FC236}">
                  <a16:creationId xmlns:a16="http://schemas.microsoft.com/office/drawing/2014/main" id="{F9192B93-45E8-E40A-71BA-1D2764B09E32}"/>
                </a:ext>
              </a:extLst>
            </p:cNvPr>
            <p:cNvCxnSpPr>
              <a:cxnSpLocks/>
              <a:stCxn id="18" idx="0"/>
              <a:endCxn id="15" idx="2"/>
            </p:cNvCxnSpPr>
            <p:nvPr/>
          </p:nvCxnSpPr>
          <p:spPr>
            <a:xfrm rot="5400000" flipH="1" flipV="1">
              <a:off x="5109391" y="4208733"/>
              <a:ext cx="615986" cy="3384899"/>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21" name="连接符: 肘形 20">
              <a:extLst>
                <a:ext uri="{FF2B5EF4-FFF2-40B4-BE49-F238E27FC236}">
                  <a16:creationId xmlns:a16="http://schemas.microsoft.com/office/drawing/2014/main" id="{C900A35E-A918-6C11-D6BB-F29F59849E71}"/>
                </a:ext>
              </a:extLst>
            </p:cNvPr>
            <p:cNvCxnSpPr>
              <a:cxnSpLocks/>
              <a:stCxn id="17" idx="0"/>
              <a:endCxn id="15" idx="2"/>
            </p:cNvCxnSpPr>
            <p:nvPr/>
          </p:nvCxnSpPr>
          <p:spPr>
            <a:xfrm rot="5400000" flipH="1" flipV="1">
              <a:off x="5737462" y="4830948"/>
              <a:ext cx="610131" cy="2134614"/>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22" name="文本框 21">
              <a:extLst>
                <a:ext uri="{FF2B5EF4-FFF2-40B4-BE49-F238E27FC236}">
                  <a16:creationId xmlns:a16="http://schemas.microsoft.com/office/drawing/2014/main" id="{A77D324C-5717-0BCF-C4ED-0F84F04027B3}"/>
                </a:ext>
              </a:extLst>
            </p:cNvPr>
            <p:cNvSpPr txBox="1"/>
            <p:nvPr/>
          </p:nvSpPr>
          <p:spPr>
            <a:xfrm>
              <a:off x="2114313" y="6017171"/>
              <a:ext cx="684146" cy="235984"/>
            </a:xfrm>
            <a:prstGeom prst="rect">
              <a:avLst/>
            </a:prstGeom>
            <a:noFill/>
          </p:spPr>
          <p:txBody>
            <a:bodyPr wrap="square" rtlCol="0">
              <a:spAutoFit/>
            </a:bodyPr>
            <a:lstStyle/>
            <a:p>
              <a:r>
                <a:rPr lang="en-US" altLang="zh-CN" sz="1600" b="1" dirty="0">
                  <a:solidFill>
                    <a:srgbClr val="C00000"/>
                  </a:solidFill>
                  <a:latin typeface="Arial" panose="020B0604020202020204" pitchFamily="34" charset="0"/>
                  <a:ea typeface="微软雅黑" panose="020B0503020204020204" pitchFamily="34" charset="-122"/>
                </a:rPr>
                <a:t>100</a:t>
              </a:r>
              <a:endParaRPr lang="zh-CN" altLang="en-US" sz="1600" b="1" dirty="0">
                <a:solidFill>
                  <a:srgbClr val="C00000"/>
                </a:solidFill>
                <a:latin typeface="Arial" panose="020B0604020202020204" pitchFamily="34" charset="0"/>
                <a:ea typeface="微软雅黑" panose="020B0503020204020204" pitchFamily="34" charset="-122"/>
              </a:endParaRPr>
            </a:p>
          </p:txBody>
        </p:sp>
        <p:sp>
          <p:nvSpPr>
            <p:cNvPr id="23" name="矩形 22">
              <a:extLst>
                <a:ext uri="{FF2B5EF4-FFF2-40B4-BE49-F238E27FC236}">
                  <a16:creationId xmlns:a16="http://schemas.microsoft.com/office/drawing/2014/main" id="{FAEAD0F2-FFA5-B9BD-A29D-80809C02B51F}"/>
                </a:ext>
              </a:extLst>
            </p:cNvPr>
            <p:cNvSpPr/>
            <p:nvPr/>
          </p:nvSpPr>
          <p:spPr>
            <a:xfrm>
              <a:off x="6830815" y="6225578"/>
              <a:ext cx="1268978" cy="577204"/>
            </a:xfrm>
            <a:prstGeom prst="rect">
              <a:avLst/>
            </a:prstGeom>
          </p:spPr>
          <p:style>
            <a:lnRef idx="2">
              <a:schemeClr val="accent2"/>
            </a:lnRef>
            <a:fillRef idx="1">
              <a:schemeClr val="lt1"/>
            </a:fillRef>
            <a:effectRef idx="0">
              <a:schemeClr val="accent2"/>
            </a:effectRef>
            <a:fontRef idx="minor">
              <a:schemeClr val="dk1"/>
            </a:fontRef>
          </p:style>
          <p:txBody>
            <a:bodyPr rtlCol="0" anchor="ctr"/>
            <a:lstStyle/>
            <a:p>
              <a:pPr algn="ctr"/>
              <a:endParaRPr lang="zh-CN" altLang="en-US" sz="1600" dirty="0">
                <a:latin typeface="+mn-ea"/>
              </a:endParaRPr>
            </a:p>
          </p:txBody>
        </p:sp>
        <p:sp>
          <p:nvSpPr>
            <p:cNvPr id="24" name="矩形 23">
              <a:extLst>
                <a:ext uri="{FF2B5EF4-FFF2-40B4-BE49-F238E27FC236}">
                  <a16:creationId xmlns:a16="http://schemas.microsoft.com/office/drawing/2014/main" id="{E2C061DA-520F-4625-711E-D186A4F94CC4}"/>
                </a:ext>
              </a:extLst>
            </p:cNvPr>
            <p:cNvSpPr/>
            <p:nvPr/>
          </p:nvSpPr>
          <p:spPr>
            <a:xfrm>
              <a:off x="6852097" y="6492759"/>
              <a:ext cx="1268978" cy="301917"/>
            </a:xfrm>
            <a:prstGeom prst="rect">
              <a:avLst/>
            </a:pr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sp>
          <p:nvSpPr>
            <p:cNvPr id="25" name="矩形 24">
              <a:extLst>
                <a:ext uri="{FF2B5EF4-FFF2-40B4-BE49-F238E27FC236}">
                  <a16:creationId xmlns:a16="http://schemas.microsoft.com/office/drawing/2014/main" id="{6DF7624F-73B8-34B3-6813-33657E03967D}"/>
                </a:ext>
              </a:extLst>
            </p:cNvPr>
            <p:cNvSpPr/>
            <p:nvPr/>
          </p:nvSpPr>
          <p:spPr>
            <a:xfrm>
              <a:off x="5590053" y="6212257"/>
              <a:ext cx="1251642" cy="595788"/>
            </a:xfrm>
            <a:prstGeom prst="rect">
              <a:avLst/>
            </a:pr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cxnSp>
          <p:nvCxnSpPr>
            <p:cNvPr id="26" name="连接符: 肘形 25">
              <a:extLst>
                <a:ext uri="{FF2B5EF4-FFF2-40B4-BE49-F238E27FC236}">
                  <a16:creationId xmlns:a16="http://schemas.microsoft.com/office/drawing/2014/main" id="{D1D9B688-C362-449A-88C8-2A444E5438D8}"/>
                </a:ext>
              </a:extLst>
            </p:cNvPr>
            <p:cNvCxnSpPr>
              <a:cxnSpLocks/>
              <a:stCxn id="25" idx="0"/>
              <a:endCxn id="16" idx="4"/>
            </p:cNvCxnSpPr>
            <p:nvPr/>
          </p:nvCxnSpPr>
          <p:spPr>
            <a:xfrm rot="5400000" flipH="1" flipV="1">
              <a:off x="7259159" y="4792307"/>
              <a:ext cx="376666" cy="2463236"/>
            </a:xfrm>
            <a:prstGeom prst="bentConnector3">
              <a:avLst>
                <a:gd name="adj1" fmla="val 50000"/>
              </a:avLst>
            </a:prstGeom>
            <a:ln w="25400" cap="flat" cmpd="sng" algn="ctr">
              <a:solidFill>
                <a:schemeClr val="accent2"/>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27" name="连接符: 肘形 26">
              <a:extLst>
                <a:ext uri="{FF2B5EF4-FFF2-40B4-BE49-F238E27FC236}">
                  <a16:creationId xmlns:a16="http://schemas.microsoft.com/office/drawing/2014/main" id="{78AD778A-7744-5B71-99FC-87A5FDAE2102}"/>
                </a:ext>
              </a:extLst>
            </p:cNvPr>
            <p:cNvCxnSpPr>
              <a:cxnSpLocks/>
              <a:stCxn id="23" idx="0"/>
              <a:endCxn id="16" idx="4"/>
            </p:cNvCxnSpPr>
            <p:nvPr/>
          </p:nvCxnSpPr>
          <p:spPr>
            <a:xfrm rot="5400000" flipH="1" flipV="1">
              <a:off x="7877214" y="5423682"/>
              <a:ext cx="389987" cy="1213806"/>
            </a:xfrm>
            <a:prstGeom prst="bentConnector3">
              <a:avLst>
                <a:gd name="adj1" fmla="val 50000"/>
              </a:avLst>
            </a:prstGeom>
            <a:ln w="25400" cap="flat" cmpd="sng" algn="ctr">
              <a:solidFill>
                <a:schemeClr val="accent2"/>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grpSp>
      <p:sp>
        <p:nvSpPr>
          <p:cNvPr id="28" name="文本框 27">
            <a:extLst>
              <a:ext uri="{FF2B5EF4-FFF2-40B4-BE49-F238E27FC236}">
                <a16:creationId xmlns:a16="http://schemas.microsoft.com/office/drawing/2014/main" id="{0601C6F5-53A6-B113-AAEE-1440050DC4C6}"/>
              </a:ext>
            </a:extLst>
          </p:cNvPr>
          <p:cNvSpPr txBox="1"/>
          <p:nvPr/>
        </p:nvSpPr>
        <p:spPr>
          <a:xfrm>
            <a:off x="1255509" y="5584329"/>
            <a:ext cx="1619687" cy="338554"/>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Constraints</a:t>
            </a:r>
            <a:endParaRPr lang="zh-CN" altLang="en-US" sz="1600" b="1" dirty="0">
              <a:solidFill>
                <a:schemeClr val="bg1"/>
              </a:solidFill>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205454473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24B318D-2133-B0D7-881E-E4B0D13832E7}"/>
              </a:ext>
            </a:extLst>
          </p:cNvPr>
          <p:cNvSpPr>
            <a:spLocks noGrp="1"/>
          </p:cNvSpPr>
          <p:nvPr>
            <p:ph type="title"/>
          </p:nvPr>
        </p:nvSpPr>
        <p:spPr/>
        <p:txBody>
          <a:bodyPr/>
          <a:lstStyle/>
          <a:p>
            <a:r>
              <a:rPr lang="zh-CN" altLang="en-US" dirty="0">
                <a:solidFill>
                  <a:schemeClr val="bg1"/>
                </a:solidFill>
                <a:latin typeface="Arial" panose="020B0604020202020204" pitchFamily="34" charset="0"/>
                <a:ea typeface="微软雅黑" panose="020B0503020204020204" pitchFamily="34" charset="-122"/>
              </a:rPr>
              <a:t>临近区间有资源空闲</a:t>
            </a:r>
          </a:p>
        </p:txBody>
      </p:sp>
      <p:grpSp>
        <p:nvGrpSpPr>
          <p:cNvPr id="3" name="组合 2">
            <a:extLst>
              <a:ext uri="{FF2B5EF4-FFF2-40B4-BE49-F238E27FC236}">
                <a16:creationId xmlns:a16="http://schemas.microsoft.com/office/drawing/2014/main" id="{55A2D9FA-24B2-A638-FD40-349D8404BEB7}"/>
              </a:ext>
            </a:extLst>
          </p:cNvPr>
          <p:cNvGrpSpPr/>
          <p:nvPr/>
        </p:nvGrpSpPr>
        <p:grpSpPr>
          <a:xfrm>
            <a:off x="1897171" y="2187532"/>
            <a:ext cx="9435316" cy="3613738"/>
            <a:chOff x="432045" y="1497366"/>
            <a:chExt cx="7602246" cy="2912162"/>
          </a:xfrm>
        </p:grpSpPr>
        <p:cxnSp>
          <p:nvCxnSpPr>
            <p:cNvPr id="4" name="直接箭头连接符 3">
              <a:extLst>
                <a:ext uri="{FF2B5EF4-FFF2-40B4-BE49-F238E27FC236}">
                  <a16:creationId xmlns:a16="http://schemas.microsoft.com/office/drawing/2014/main" id="{EEB83E2E-3B56-B504-2BD4-CA3E8CC153ED}"/>
                </a:ext>
              </a:extLst>
            </p:cNvPr>
            <p:cNvCxnSpPr>
              <a:cxnSpLocks/>
            </p:cNvCxnSpPr>
            <p:nvPr/>
          </p:nvCxnSpPr>
          <p:spPr>
            <a:xfrm>
              <a:off x="1553592" y="2630009"/>
              <a:ext cx="6480699" cy="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5" name="直接箭头连接符 4">
              <a:extLst>
                <a:ext uri="{FF2B5EF4-FFF2-40B4-BE49-F238E27FC236}">
                  <a16:creationId xmlns:a16="http://schemas.microsoft.com/office/drawing/2014/main" id="{C0961DA6-3662-0BEB-46C6-E3306EC46628}"/>
                </a:ext>
              </a:extLst>
            </p:cNvPr>
            <p:cNvCxnSpPr>
              <a:cxnSpLocks/>
            </p:cNvCxnSpPr>
            <p:nvPr/>
          </p:nvCxnSpPr>
          <p:spPr>
            <a:xfrm>
              <a:off x="1581704"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6" name="直接箭头连接符 5">
              <a:extLst>
                <a:ext uri="{FF2B5EF4-FFF2-40B4-BE49-F238E27FC236}">
                  <a16:creationId xmlns:a16="http://schemas.microsoft.com/office/drawing/2014/main" id="{059253D4-BB06-BCC8-D3D6-0BE8CED8F901}"/>
                </a:ext>
              </a:extLst>
            </p:cNvPr>
            <p:cNvCxnSpPr>
              <a:cxnSpLocks/>
            </p:cNvCxnSpPr>
            <p:nvPr/>
          </p:nvCxnSpPr>
          <p:spPr>
            <a:xfrm>
              <a:off x="2746159"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7" name="直接箭头连接符 6">
              <a:extLst>
                <a:ext uri="{FF2B5EF4-FFF2-40B4-BE49-F238E27FC236}">
                  <a16:creationId xmlns:a16="http://schemas.microsoft.com/office/drawing/2014/main" id="{EF1FFF9A-E76E-1D4D-D0A7-9FFB6B5ACEF6}"/>
                </a:ext>
              </a:extLst>
            </p:cNvPr>
            <p:cNvCxnSpPr>
              <a:cxnSpLocks/>
            </p:cNvCxnSpPr>
            <p:nvPr/>
          </p:nvCxnSpPr>
          <p:spPr>
            <a:xfrm>
              <a:off x="3937246"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8" name="直接箭头连接符 7">
              <a:extLst>
                <a:ext uri="{FF2B5EF4-FFF2-40B4-BE49-F238E27FC236}">
                  <a16:creationId xmlns:a16="http://schemas.microsoft.com/office/drawing/2014/main" id="{98EB8898-7D04-D364-2790-F46B72DA34FB}"/>
                </a:ext>
              </a:extLst>
            </p:cNvPr>
            <p:cNvCxnSpPr>
              <a:cxnSpLocks/>
            </p:cNvCxnSpPr>
            <p:nvPr/>
          </p:nvCxnSpPr>
          <p:spPr>
            <a:xfrm>
              <a:off x="5075067"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A2A5FC4-A45C-7EF3-8A4E-6597C7AA0C1E}"/>
                </a:ext>
              </a:extLst>
            </p:cNvPr>
            <p:cNvCxnSpPr>
              <a:cxnSpLocks/>
            </p:cNvCxnSpPr>
            <p:nvPr/>
          </p:nvCxnSpPr>
          <p:spPr>
            <a:xfrm>
              <a:off x="6230644"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134587BC-F891-F88B-5F2F-B6DB64A249FC}"/>
                </a:ext>
              </a:extLst>
            </p:cNvPr>
            <p:cNvCxnSpPr>
              <a:cxnSpLocks/>
            </p:cNvCxnSpPr>
            <p:nvPr/>
          </p:nvCxnSpPr>
          <p:spPr>
            <a:xfrm>
              <a:off x="7395098"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930D557F-8216-4095-DBAB-5173F1343673}"/>
                </a:ext>
              </a:extLst>
            </p:cNvPr>
            <p:cNvSpPr txBox="1"/>
            <p:nvPr/>
          </p:nvSpPr>
          <p:spPr>
            <a:xfrm>
              <a:off x="432045" y="1580226"/>
              <a:ext cx="1305018" cy="272827"/>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Demands</a:t>
              </a:r>
              <a:endParaRPr lang="zh-CN" altLang="en-US" sz="1600" b="1" dirty="0">
                <a:solidFill>
                  <a:schemeClr val="bg1"/>
                </a:solidFill>
                <a:latin typeface="Arial" panose="020B0604020202020204" pitchFamily="34" charset="0"/>
                <a:ea typeface="微软雅黑" panose="020B0503020204020204" pitchFamily="34" charset="-122"/>
              </a:endParaRPr>
            </a:p>
          </p:txBody>
        </p:sp>
        <p:sp>
          <p:nvSpPr>
            <p:cNvPr id="12" name="文本框 11">
              <a:extLst>
                <a:ext uri="{FF2B5EF4-FFF2-40B4-BE49-F238E27FC236}">
                  <a16:creationId xmlns:a16="http://schemas.microsoft.com/office/drawing/2014/main" id="{C74F9B43-C77B-21B2-3D6C-EF992713A21D}"/>
                </a:ext>
              </a:extLst>
            </p:cNvPr>
            <p:cNvSpPr txBox="1"/>
            <p:nvPr/>
          </p:nvSpPr>
          <p:spPr>
            <a:xfrm>
              <a:off x="437642" y="2755110"/>
              <a:ext cx="1305018" cy="471246"/>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Planned Orders</a:t>
              </a:r>
              <a:endParaRPr lang="zh-CN" altLang="en-US" sz="1600" b="1" dirty="0">
                <a:solidFill>
                  <a:schemeClr val="bg1"/>
                </a:solidFill>
                <a:latin typeface="Arial" panose="020B0604020202020204" pitchFamily="34" charset="0"/>
                <a:ea typeface="微软雅黑" panose="020B0503020204020204" pitchFamily="34" charset="-122"/>
              </a:endParaRPr>
            </a:p>
          </p:txBody>
        </p:sp>
        <p:sp>
          <p:nvSpPr>
            <p:cNvPr id="13" name="矩形 12">
              <a:extLst>
                <a:ext uri="{FF2B5EF4-FFF2-40B4-BE49-F238E27FC236}">
                  <a16:creationId xmlns:a16="http://schemas.microsoft.com/office/drawing/2014/main" id="{C21B2D19-C16F-92EA-4A9C-8FC6347B85CE}"/>
                </a:ext>
              </a:extLst>
            </p:cNvPr>
            <p:cNvSpPr/>
            <p:nvPr/>
          </p:nvSpPr>
          <p:spPr>
            <a:xfrm>
              <a:off x="5321425" y="1736772"/>
              <a:ext cx="841895" cy="456343"/>
            </a:xfrm>
            <a:prstGeom prst="rect">
              <a:avLst/>
            </a:prstGeom>
            <a:solidFill>
              <a:srgbClr val="00B050"/>
            </a:solidFill>
            <a:ln>
              <a:solidFill>
                <a:srgbClr val="00B050"/>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B</a:t>
              </a:r>
            </a:p>
            <a:p>
              <a:pPr algn="ctr"/>
              <a:r>
                <a:rPr lang="en-US" altLang="zh-CN" sz="1600" dirty="0">
                  <a:latin typeface="Arial" panose="020B0604020202020204" pitchFamily="34" charset="0"/>
                  <a:ea typeface="微软雅黑" panose="020B0503020204020204" pitchFamily="34" charset="-122"/>
                </a:rPr>
                <a:t>200</a:t>
              </a:r>
              <a:endParaRPr lang="zh-CN" altLang="en-US" sz="1600" dirty="0">
                <a:latin typeface="Arial" panose="020B0604020202020204" pitchFamily="34" charset="0"/>
                <a:ea typeface="微软雅黑" panose="020B0503020204020204" pitchFamily="34" charset="-122"/>
              </a:endParaRPr>
            </a:p>
          </p:txBody>
        </p:sp>
        <p:sp>
          <p:nvSpPr>
            <p:cNvPr id="14" name="椭圆 13">
              <a:extLst>
                <a:ext uri="{FF2B5EF4-FFF2-40B4-BE49-F238E27FC236}">
                  <a16:creationId xmlns:a16="http://schemas.microsoft.com/office/drawing/2014/main" id="{17A30C2B-F6D9-3D8B-4C5B-880A6B7E5A00}"/>
                </a:ext>
              </a:extLst>
            </p:cNvPr>
            <p:cNvSpPr/>
            <p:nvPr/>
          </p:nvSpPr>
          <p:spPr>
            <a:xfrm>
              <a:off x="5335480" y="2822728"/>
              <a:ext cx="760517" cy="606271"/>
            </a:xfrm>
            <a:prstGeom prst="ellipse">
              <a:avLst/>
            </a:prstGeom>
            <a:solidFill>
              <a:srgbClr val="00B050"/>
            </a:solidFill>
          </p:spPr>
          <p:style>
            <a:lnRef idx="3">
              <a:schemeClr val="lt1"/>
            </a:lnRef>
            <a:fillRef idx="1">
              <a:schemeClr val="accent6"/>
            </a:fillRef>
            <a:effectRef idx="1">
              <a:schemeClr val="accent6"/>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B</a:t>
              </a:r>
              <a:r>
                <a:rPr lang="zh-CN" altLang="en-US" sz="1050" i="1" dirty="0">
                  <a:latin typeface="Arial" panose="020B0604020202020204" pitchFamily="34" charset="0"/>
                  <a:ea typeface="微软雅黑" panose="020B0503020204020204" pitchFamily="34" charset="-122"/>
                </a:rPr>
                <a:t>（</a:t>
              </a:r>
              <a:r>
                <a:rPr lang="en-US" altLang="zh-CN" sz="1050" i="1" dirty="0">
                  <a:latin typeface="Arial" panose="020B0604020202020204" pitchFamily="34" charset="0"/>
                  <a:ea typeface="微软雅黑" panose="020B0503020204020204" pitchFamily="34" charset="-122"/>
                </a:rPr>
                <a:t>Future)</a:t>
              </a:r>
            </a:p>
            <a:p>
              <a:pPr algn="ctr"/>
              <a:r>
                <a:rPr lang="en-US" altLang="zh-CN" sz="1600" dirty="0">
                  <a:latin typeface="Arial" panose="020B0604020202020204" pitchFamily="34" charset="0"/>
                  <a:ea typeface="微软雅黑" panose="020B0503020204020204" pitchFamily="34" charset="-122"/>
                </a:rPr>
                <a:t>200</a:t>
              </a:r>
              <a:endParaRPr lang="zh-CN" altLang="en-US" sz="1600" dirty="0">
                <a:latin typeface="Arial" panose="020B0604020202020204" pitchFamily="34" charset="0"/>
                <a:ea typeface="微软雅黑" panose="020B0503020204020204" pitchFamily="34" charset="-122"/>
              </a:endParaRPr>
            </a:p>
          </p:txBody>
        </p:sp>
        <p:sp>
          <p:nvSpPr>
            <p:cNvPr id="15" name="矩形 14">
              <a:extLst>
                <a:ext uri="{FF2B5EF4-FFF2-40B4-BE49-F238E27FC236}">
                  <a16:creationId xmlns:a16="http://schemas.microsoft.com/office/drawing/2014/main" id="{99DEE694-51CA-021D-5965-C938004D9DB4}"/>
                </a:ext>
              </a:extLst>
            </p:cNvPr>
            <p:cNvSpPr/>
            <p:nvPr/>
          </p:nvSpPr>
          <p:spPr>
            <a:xfrm>
              <a:off x="3942426" y="3778922"/>
              <a:ext cx="1137821" cy="630606"/>
            </a:xfrm>
            <a:prstGeom prst="rect">
              <a:avLst/>
            </a:prstGeom>
            <a:solidFill>
              <a:srgbClr val="00B050"/>
            </a:solidFill>
            <a:ln>
              <a:noFill/>
            </a:ln>
          </p:spPr>
          <p:style>
            <a:lnRef idx="3">
              <a:schemeClr val="lt1"/>
            </a:lnRef>
            <a:fillRef idx="1">
              <a:schemeClr val="accent4"/>
            </a:fillRef>
            <a:effectRef idx="1">
              <a:schemeClr val="accent4"/>
            </a:effectRef>
            <a:fontRef idx="minor">
              <a:schemeClr val="lt1"/>
            </a:fontRef>
          </p:style>
          <p:txBody>
            <a:bodyPr rtlCol="0" anchor="ctr"/>
            <a:lstStyle/>
            <a:p>
              <a:pPr algn="ctr"/>
              <a:endParaRPr lang="zh-CN" altLang="en-US" sz="1600" dirty="0">
                <a:latin typeface="+mn-ea"/>
              </a:endParaRPr>
            </a:p>
          </p:txBody>
        </p:sp>
        <p:sp>
          <p:nvSpPr>
            <p:cNvPr id="16" name="矩形 15">
              <a:extLst>
                <a:ext uri="{FF2B5EF4-FFF2-40B4-BE49-F238E27FC236}">
                  <a16:creationId xmlns:a16="http://schemas.microsoft.com/office/drawing/2014/main" id="{3EF73053-AFD0-80A2-267B-B9619D061664}"/>
                </a:ext>
              </a:extLst>
            </p:cNvPr>
            <p:cNvSpPr/>
            <p:nvPr/>
          </p:nvSpPr>
          <p:spPr>
            <a:xfrm>
              <a:off x="2746159" y="3780999"/>
              <a:ext cx="1191087" cy="624982"/>
            </a:xfrm>
            <a:prstGeom prst="rect">
              <a:avLst/>
            </a:prstGeom>
            <a:solidFill>
              <a:srgbClr val="00B050"/>
            </a:solidFill>
            <a:ln>
              <a:noFill/>
            </a:ln>
          </p:spPr>
          <p:style>
            <a:lnRef idx="3">
              <a:schemeClr val="lt1"/>
            </a:lnRef>
            <a:fillRef idx="1">
              <a:schemeClr val="accent4"/>
            </a:fillRef>
            <a:effectRef idx="1">
              <a:schemeClr val="accent4"/>
            </a:effectRef>
            <a:fontRef idx="minor">
              <a:schemeClr val="lt1"/>
            </a:fontRef>
          </p:style>
          <p:txBody>
            <a:bodyPr rtlCol="0" anchor="ctr"/>
            <a:lstStyle/>
            <a:p>
              <a:pPr algn="ctr"/>
              <a:endParaRPr lang="zh-CN" altLang="en-US" sz="1600" dirty="0">
                <a:latin typeface="+mn-ea"/>
              </a:endParaRPr>
            </a:p>
          </p:txBody>
        </p:sp>
        <p:cxnSp>
          <p:nvCxnSpPr>
            <p:cNvPr id="17" name="直接箭头连接符 16">
              <a:extLst>
                <a:ext uri="{FF2B5EF4-FFF2-40B4-BE49-F238E27FC236}">
                  <a16:creationId xmlns:a16="http://schemas.microsoft.com/office/drawing/2014/main" id="{395D357D-0D74-5B0F-8F76-4F9D8C63D290}"/>
                </a:ext>
              </a:extLst>
            </p:cNvPr>
            <p:cNvCxnSpPr>
              <a:cxnSpLocks/>
            </p:cNvCxnSpPr>
            <p:nvPr/>
          </p:nvCxnSpPr>
          <p:spPr>
            <a:xfrm>
              <a:off x="1313895" y="3762653"/>
              <a:ext cx="6720396" cy="18345"/>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18" name="连接符: 肘形 17">
              <a:extLst>
                <a:ext uri="{FF2B5EF4-FFF2-40B4-BE49-F238E27FC236}">
                  <a16:creationId xmlns:a16="http://schemas.microsoft.com/office/drawing/2014/main" id="{D94F104F-CBBB-F084-0A9D-8149742EAF8C}"/>
                </a:ext>
              </a:extLst>
            </p:cNvPr>
            <p:cNvCxnSpPr>
              <a:cxnSpLocks/>
              <a:stCxn id="16" idx="0"/>
              <a:endCxn id="14" idx="2"/>
            </p:cNvCxnSpPr>
            <p:nvPr/>
          </p:nvCxnSpPr>
          <p:spPr>
            <a:xfrm rot="5400000" flipH="1" flipV="1">
              <a:off x="4011024" y="2456544"/>
              <a:ext cx="655135" cy="1993777"/>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9" name="连接符: 肘形 18">
              <a:extLst>
                <a:ext uri="{FF2B5EF4-FFF2-40B4-BE49-F238E27FC236}">
                  <a16:creationId xmlns:a16="http://schemas.microsoft.com/office/drawing/2014/main" id="{1D5DF243-61D1-0359-01D5-28553E956901}"/>
                </a:ext>
              </a:extLst>
            </p:cNvPr>
            <p:cNvCxnSpPr>
              <a:cxnSpLocks/>
              <a:stCxn id="15" idx="0"/>
              <a:endCxn id="14" idx="2"/>
            </p:cNvCxnSpPr>
            <p:nvPr/>
          </p:nvCxnSpPr>
          <p:spPr>
            <a:xfrm rot="5400000" flipH="1" flipV="1">
              <a:off x="4596880" y="3040322"/>
              <a:ext cx="653059" cy="824143"/>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20" name="文本框 19">
              <a:extLst>
                <a:ext uri="{FF2B5EF4-FFF2-40B4-BE49-F238E27FC236}">
                  <a16:creationId xmlns:a16="http://schemas.microsoft.com/office/drawing/2014/main" id="{BB357B91-2A80-CBE1-8123-BB57DDE15DAB}"/>
                </a:ext>
              </a:extLst>
            </p:cNvPr>
            <p:cNvSpPr txBox="1"/>
            <p:nvPr/>
          </p:nvSpPr>
          <p:spPr>
            <a:xfrm>
              <a:off x="646590" y="3577987"/>
              <a:ext cx="642152" cy="272827"/>
            </a:xfrm>
            <a:prstGeom prst="rect">
              <a:avLst/>
            </a:prstGeom>
            <a:noFill/>
          </p:spPr>
          <p:txBody>
            <a:bodyPr wrap="square" rtlCol="0">
              <a:spAutoFit/>
            </a:bodyPr>
            <a:lstStyle/>
            <a:p>
              <a:r>
                <a:rPr lang="en-US" altLang="zh-CN" sz="1600" b="1" dirty="0">
                  <a:solidFill>
                    <a:srgbClr val="C00000"/>
                  </a:solidFill>
                  <a:latin typeface="Arial" panose="020B0604020202020204" pitchFamily="34" charset="0"/>
                  <a:ea typeface="微软雅黑" panose="020B0503020204020204" pitchFamily="34" charset="-122"/>
                </a:rPr>
                <a:t>100</a:t>
              </a:r>
              <a:endParaRPr lang="zh-CN" altLang="en-US" sz="1600" b="1" dirty="0">
                <a:solidFill>
                  <a:srgbClr val="C00000"/>
                </a:solidFill>
                <a:latin typeface="Arial" panose="020B0604020202020204" pitchFamily="34" charset="0"/>
                <a:ea typeface="微软雅黑" panose="020B0503020204020204" pitchFamily="34" charset="-122"/>
              </a:endParaRPr>
            </a:p>
          </p:txBody>
        </p:sp>
        <p:sp>
          <p:nvSpPr>
            <p:cNvPr id="21" name="矩形 20">
              <a:extLst>
                <a:ext uri="{FF2B5EF4-FFF2-40B4-BE49-F238E27FC236}">
                  <a16:creationId xmlns:a16="http://schemas.microsoft.com/office/drawing/2014/main" id="{6778D2CC-0504-6A5F-F17C-470A31FDEECE}"/>
                </a:ext>
              </a:extLst>
            </p:cNvPr>
            <p:cNvSpPr/>
            <p:nvPr/>
          </p:nvSpPr>
          <p:spPr>
            <a:xfrm>
              <a:off x="1581704" y="3790465"/>
              <a:ext cx="1191087" cy="615515"/>
            </a:xfrm>
            <a:prstGeom prst="rect">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zh-CN" altLang="en-US" sz="1600" dirty="0">
                  <a:latin typeface="Arial" panose="020B0604020202020204" pitchFamily="34" charset="0"/>
                  <a:ea typeface="微软雅黑" panose="020B0503020204020204" pitchFamily="34" charset="-122"/>
                </a:rPr>
                <a:t>空闲</a:t>
              </a:r>
            </a:p>
          </p:txBody>
        </p:sp>
      </p:grpSp>
      <p:sp>
        <p:nvSpPr>
          <p:cNvPr id="22" name="文本框 21">
            <a:extLst>
              <a:ext uri="{FF2B5EF4-FFF2-40B4-BE49-F238E27FC236}">
                <a16:creationId xmlns:a16="http://schemas.microsoft.com/office/drawing/2014/main" id="{20905FC0-006B-C76B-281F-ECE0D6821C90}"/>
              </a:ext>
            </a:extLst>
          </p:cNvPr>
          <p:cNvSpPr txBox="1"/>
          <p:nvPr/>
        </p:nvSpPr>
        <p:spPr>
          <a:xfrm>
            <a:off x="1841617" y="5312298"/>
            <a:ext cx="1619687" cy="338554"/>
          </a:xfrm>
          <a:prstGeom prst="rect">
            <a:avLst/>
          </a:prstGeom>
          <a:noFill/>
        </p:spPr>
        <p:txBody>
          <a:bodyPr wrap="square" rtlCol="0">
            <a:spAutoFit/>
          </a:bodyPr>
          <a:lstStyle/>
          <a:p>
            <a:r>
              <a:rPr lang="en-US" altLang="zh-CN" sz="1600" b="1" dirty="0">
                <a:solidFill>
                  <a:schemeClr val="bg1"/>
                </a:solidFill>
                <a:latin typeface="Arial" panose="020B0604020202020204" pitchFamily="34" charset="0"/>
                <a:ea typeface="微软雅黑" panose="020B0503020204020204" pitchFamily="34" charset="-122"/>
              </a:rPr>
              <a:t>Constraints</a:t>
            </a:r>
            <a:endParaRPr lang="zh-CN" altLang="en-US" sz="1600" b="1" dirty="0">
              <a:solidFill>
                <a:schemeClr val="bg1"/>
              </a:solidFill>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2258665710"/>
      </p:ext>
    </p:extLst>
  </p:cSld>
  <p:clrMapOvr>
    <a:overrideClrMapping bg1="dk1" tx1="lt1" bg2="dk2" tx2="lt2" accent1="accent1" accent2="accent2" accent3="accent3" accent4="accent4" accent5="accent5" accent6="accent6" hlink="hlink" folHlink="folHlink"/>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5FF96A2-C036-CDB5-599C-65080340D66B}"/>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动态填补临近资源</a:t>
            </a:r>
          </a:p>
        </p:txBody>
      </p:sp>
      <p:grpSp>
        <p:nvGrpSpPr>
          <p:cNvPr id="3" name="组合 2">
            <a:extLst>
              <a:ext uri="{FF2B5EF4-FFF2-40B4-BE49-F238E27FC236}">
                <a16:creationId xmlns:a16="http://schemas.microsoft.com/office/drawing/2014/main" id="{A84E48EA-A191-96F7-75ED-6230090EBCF6}"/>
              </a:ext>
            </a:extLst>
          </p:cNvPr>
          <p:cNvGrpSpPr/>
          <p:nvPr/>
        </p:nvGrpSpPr>
        <p:grpSpPr>
          <a:xfrm>
            <a:off x="1378342" y="1745082"/>
            <a:ext cx="9435316" cy="3637896"/>
            <a:chOff x="432045" y="1497366"/>
            <a:chExt cx="7602246" cy="2931630"/>
          </a:xfrm>
        </p:grpSpPr>
        <p:cxnSp>
          <p:nvCxnSpPr>
            <p:cNvPr id="4" name="直接箭头连接符 3">
              <a:extLst>
                <a:ext uri="{FF2B5EF4-FFF2-40B4-BE49-F238E27FC236}">
                  <a16:creationId xmlns:a16="http://schemas.microsoft.com/office/drawing/2014/main" id="{0BB81B0A-B800-B072-E6E5-5F13492B9880}"/>
                </a:ext>
              </a:extLst>
            </p:cNvPr>
            <p:cNvCxnSpPr>
              <a:cxnSpLocks/>
            </p:cNvCxnSpPr>
            <p:nvPr/>
          </p:nvCxnSpPr>
          <p:spPr>
            <a:xfrm>
              <a:off x="1553592" y="2630009"/>
              <a:ext cx="6480699" cy="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5" name="直接箭头连接符 4">
              <a:extLst>
                <a:ext uri="{FF2B5EF4-FFF2-40B4-BE49-F238E27FC236}">
                  <a16:creationId xmlns:a16="http://schemas.microsoft.com/office/drawing/2014/main" id="{1B4ABE16-F960-AB1A-BA42-260F8E07B5FE}"/>
                </a:ext>
              </a:extLst>
            </p:cNvPr>
            <p:cNvCxnSpPr>
              <a:cxnSpLocks/>
            </p:cNvCxnSpPr>
            <p:nvPr/>
          </p:nvCxnSpPr>
          <p:spPr>
            <a:xfrm>
              <a:off x="1581704"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6" name="直接箭头连接符 5">
              <a:extLst>
                <a:ext uri="{FF2B5EF4-FFF2-40B4-BE49-F238E27FC236}">
                  <a16:creationId xmlns:a16="http://schemas.microsoft.com/office/drawing/2014/main" id="{72456DE9-467A-C8E6-7498-7A21F853E32B}"/>
                </a:ext>
              </a:extLst>
            </p:cNvPr>
            <p:cNvCxnSpPr>
              <a:cxnSpLocks/>
            </p:cNvCxnSpPr>
            <p:nvPr/>
          </p:nvCxnSpPr>
          <p:spPr>
            <a:xfrm>
              <a:off x="2746159"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7" name="直接箭头连接符 6">
              <a:extLst>
                <a:ext uri="{FF2B5EF4-FFF2-40B4-BE49-F238E27FC236}">
                  <a16:creationId xmlns:a16="http://schemas.microsoft.com/office/drawing/2014/main" id="{8DCF438F-0950-8739-8294-028350D51CCF}"/>
                </a:ext>
              </a:extLst>
            </p:cNvPr>
            <p:cNvCxnSpPr>
              <a:cxnSpLocks/>
            </p:cNvCxnSpPr>
            <p:nvPr/>
          </p:nvCxnSpPr>
          <p:spPr>
            <a:xfrm>
              <a:off x="3937246"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8" name="直接箭头连接符 7">
              <a:extLst>
                <a:ext uri="{FF2B5EF4-FFF2-40B4-BE49-F238E27FC236}">
                  <a16:creationId xmlns:a16="http://schemas.microsoft.com/office/drawing/2014/main" id="{0873921C-7E2F-A43D-8DDC-92D197060D78}"/>
                </a:ext>
              </a:extLst>
            </p:cNvPr>
            <p:cNvCxnSpPr>
              <a:cxnSpLocks/>
            </p:cNvCxnSpPr>
            <p:nvPr/>
          </p:nvCxnSpPr>
          <p:spPr>
            <a:xfrm>
              <a:off x="5075067"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1AC584A6-6A5D-E765-CB4E-D5A76C40E566}"/>
                </a:ext>
              </a:extLst>
            </p:cNvPr>
            <p:cNvCxnSpPr>
              <a:cxnSpLocks/>
            </p:cNvCxnSpPr>
            <p:nvPr/>
          </p:nvCxnSpPr>
          <p:spPr>
            <a:xfrm>
              <a:off x="6230644"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04D29B51-C7D0-CEA8-B379-C4F933CC8EE0}"/>
                </a:ext>
              </a:extLst>
            </p:cNvPr>
            <p:cNvCxnSpPr>
              <a:cxnSpLocks/>
            </p:cNvCxnSpPr>
            <p:nvPr/>
          </p:nvCxnSpPr>
          <p:spPr>
            <a:xfrm>
              <a:off x="7395098" y="1497366"/>
              <a:ext cx="0" cy="227476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97BCC008-7777-58B3-C6AE-FDB46BBA1CF0}"/>
                </a:ext>
              </a:extLst>
            </p:cNvPr>
            <p:cNvSpPr txBox="1"/>
            <p:nvPr/>
          </p:nvSpPr>
          <p:spPr>
            <a:xfrm>
              <a:off x="432045" y="1580226"/>
              <a:ext cx="1305018" cy="272827"/>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Demands</a:t>
              </a:r>
              <a:endParaRPr lang="zh-CN" altLang="en-US" sz="1600" b="1" dirty="0">
                <a:latin typeface="Arial" panose="020B0604020202020204" pitchFamily="34" charset="0"/>
                <a:ea typeface="微软雅黑" panose="020B0503020204020204" pitchFamily="34" charset="-122"/>
              </a:endParaRPr>
            </a:p>
          </p:txBody>
        </p:sp>
        <p:sp>
          <p:nvSpPr>
            <p:cNvPr id="12" name="文本框 11">
              <a:extLst>
                <a:ext uri="{FF2B5EF4-FFF2-40B4-BE49-F238E27FC236}">
                  <a16:creationId xmlns:a16="http://schemas.microsoft.com/office/drawing/2014/main" id="{9D37F7AC-1D7C-F6B8-CD48-C3CFC56BEF6F}"/>
                </a:ext>
              </a:extLst>
            </p:cNvPr>
            <p:cNvSpPr txBox="1"/>
            <p:nvPr/>
          </p:nvSpPr>
          <p:spPr>
            <a:xfrm>
              <a:off x="490859" y="2857124"/>
              <a:ext cx="1305018" cy="471246"/>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Planned Orders</a:t>
              </a:r>
              <a:endParaRPr lang="zh-CN" altLang="en-US" sz="1600" b="1" dirty="0">
                <a:latin typeface="Arial" panose="020B0604020202020204" pitchFamily="34" charset="0"/>
                <a:ea typeface="微软雅黑" panose="020B0503020204020204" pitchFamily="34" charset="-122"/>
              </a:endParaRPr>
            </a:p>
          </p:txBody>
        </p:sp>
        <p:sp>
          <p:nvSpPr>
            <p:cNvPr id="13" name="矩形 12">
              <a:extLst>
                <a:ext uri="{FF2B5EF4-FFF2-40B4-BE49-F238E27FC236}">
                  <a16:creationId xmlns:a16="http://schemas.microsoft.com/office/drawing/2014/main" id="{29E25B06-3792-7B98-2CFE-FA040DA4D3E7}"/>
                </a:ext>
              </a:extLst>
            </p:cNvPr>
            <p:cNvSpPr/>
            <p:nvPr/>
          </p:nvSpPr>
          <p:spPr>
            <a:xfrm>
              <a:off x="5321425" y="1736772"/>
              <a:ext cx="841895" cy="456343"/>
            </a:xfrm>
            <a:prstGeom prst="rect">
              <a:avLst/>
            </a:prstGeom>
            <a:solidFill>
              <a:srgbClr val="00B050"/>
            </a:solidFill>
            <a:ln>
              <a:solidFill>
                <a:srgbClr val="00B050"/>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B</a:t>
              </a:r>
            </a:p>
            <a:p>
              <a:pPr algn="ctr"/>
              <a:r>
                <a:rPr lang="en-US" altLang="zh-CN" sz="1600" dirty="0">
                  <a:latin typeface="Arial" panose="020B0604020202020204" pitchFamily="34" charset="0"/>
                  <a:ea typeface="微软雅黑" panose="020B0503020204020204" pitchFamily="34" charset="-122"/>
                </a:rPr>
                <a:t>200</a:t>
              </a:r>
              <a:endParaRPr lang="zh-CN" altLang="en-US" sz="1600" dirty="0">
                <a:latin typeface="Arial" panose="020B0604020202020204" pitchFamily="34" charset="0"/>
                <a:ea typeface="微软雅黑" panose="020B0503020204020204" pitchFamily="34" charset="-122"/>
              </a:endParaRPr>
            </a:p>
          </p:txBody>
        </p:sp>
        <p:sp>
          <p:nvSpPr>
            <p:cNvPr id="14" name="椭圆 13">
              <a:extLst>
                <a:ext uri="{FF2B5EF4-FFF2-40B4-BE49-F238E27FC236}">
                  <a16:creationId xmlns:a16="http://schemas.microsoft.com/office/drawing/2014/main" id="{608E4BFD-2315-9E8A-17DA-809E98B2716E}"/>
                </a:ext>
              </a:extLst>
            </p:cNvPr>
            <p:cNvSpPr/>
            <p:nvPr/>
          </p:nvSpPr>
          <p:spPr>
            <a:xfrm>
              <a:off x="5335480" y="2822728"/>
              <a:ext cx="760517" cy="606271"/>
            </a:xfrm>
            <a:prstGeom prst="ellipse">
              <a:avLst/>
            </a:prstGeom>
            <a:solidFill>
              <a:srgbClr val="00B050"/>
            </a:solidFill>
          </p:spPr>
          <p:style>
            <a:lnRef idx="3">
              <a:schemeClr val="lt1"/>
            </a:lnRef>
            <a:fillRef idx="1">
              <a:schemeClr val="accent6"/>
            </a:fillRef>
            <a:effectRef idx="1">
              <a:schemeClr val="accent6"/>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B</a:t>
              </a:r>
              <a:r>
                <a:rPr lang="zh-CN" altLang="en-US" sz="1050" i="1" dirty="0">
                  <a:latin typeface="Arial" panose="020B0604020202020204" pitchFamily="34" charset="0"/>
                  <a:ea typeface="微软雅黑" panose="020B0503020204020204" pitchFamily="34" charset="-122"/>
                </a:rPr>
                <a:t>（</a:t>
              </a:r>
              <a:r>
                <a:rPr lang="en-US" altLang="zh-CN" sz="1050" i="1" dirty="0">
                  <a:latin typeface="Arial" panose="020B0604020202020204" pitchFamily="34" charset="0"/>
                  <a:ea typeface="微软雅黑" panose="020B0503020204020204" pitchFamily="34" charset="-122"/>
                </a:rPr>
                <a:t>Future)</a:t>
              </a:r>
            </a:p>
            <a:p>
              <a:pPr algn="ctr"/>
              <a:r>
                <a:rPr lang="en-US" altLang="zh-CN" sz="1600" dirty="0">
                  <a:latin typeface="Arial" panose="020B0604020202020204" pitchFamily="34" charset="0"/>
                  <a:ea typeface="微软雅黑" panose="020B0503020204020204" pitchFamily="34" charset="-122"/>
                </a:rPr>
                <a:t>100</a:t>
              </a:r>
              <a:endParaRPr lang="zh-CN" altLang="en-US" sz="1600" dirty="0">
                <a:latin typeface="Arial" panose="020B0604020202020204" pitchFamily="34" charset="0"/>
                <a:ea typeface="微软雅黑" panose="020B0503020204020204" pitchFamily="34" charset="-122"/>
              </a:endParaRPr>
            </a:p>
          </p:txBody>
        </p:sp>
        <p:sp>
          <p:nvSpPr>
            <p:cNvPr id="15" name="矩形 14">
              <a:extLst>
                <a:ext uri="{FF2B5EF4-FFF2-40B4-BE49-F238E27FC236}">
                  <a16:creationId xmlns:a16="http://schemas.microsoft.com/office/drawing/2014/main" id="{4F84D297-1571-4C77-971C-09C4EEBE66AC}"/>
                </a:ext>
              </a:extLst>
            </p:cNvPr>
            <p:cNvSpPr/>
            <p:nvPr/>
          </p:nvSpPr>
          <p:spPr>
            <a:xfrm>
              <a:off x="3950614" y="3793813"/>
              <a:ext cx="1137821" cy="630606"/>
            </a:xfrm>
            <a:prstGeom prst="rect">
              <a:avLst/>
            </a:prstGeom>
            <a:solidFill>
              <a:srgbClr val="00B050"/>
            </a:solidFill>
            <a:ln w="12700">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sp>
          <p:nvSpPr>
            <p:cNvPr id="16" name="矩形 15">
              <a:extLst>
                <a:ext uri="{FF2B5EF4-FFF2-40B4-BE49-F238E27FC236}">
                  <a16:creationId xmlns:a16="http://schemas.microsoft.com/office/drawing/2014/main" id="{6A6E7E06-63EA-2A81-C7CA-1168645541E7}"/>
                </a:ext>
              </a:extLst>
            </p:cNvPr>
            <p:cNvSpPr/>
            <p:nvPr/>
          </p:nvSpPr>
          <p:spPr>
            <a:xfrm>
              <a:off x="1555072" y="3804014"/>
              <a:ext cx="1191087" cy="624982"/>
            </a:xfrm>
            <a:prstGeom prst="rect">
              <a:avLst/>
            </a:prstGeom>
            <a:solidFill>
              <a:srgbClr val="00B050"/>
            </a:solidFill>
            <a:ln w="12700">
              <a:noFill/>
            </a:ln>
          </p:spPr>
          <p:style>
            <a:lnRef idx="0">
              <a:scrgbClr r="0" g="0" b="0"/>
            </a:lnRef>
            <a:fillRef idx="0">
              <a:scrgbClr r="0" g="0" b="0"/>
            </a:fillRef>
            <a:effectRef idx="0">
              <a:scrgbClr r="0" g="0" b="0"/>
            </a:effectRef>
            <a:fontRef idx="minor">
              <a:schemeClr val="lt1"/>
            </a:fontRef>
          </p:style>
          <p:txBody>
            <a:bodyPr rtlCol="0" anchor="ctr"/>
            <a:lstStyle/>
            <a:p>
              <a:pPr algn="ctr"/>
              <a:endParaRPr lang="zh-CN" altLang="en-US" sz="1600" dirty="0">
                <a:latin typeface="+mn-ea"/>
              </a:endParaRPr>
            </a:p>
          </p:txBody>
        </p:sp>
        <p:cxnSp>
          <p:nvCxnSpPr>
            <p:cNvPr id="17" name="直接箭头连接符 16">
              <a:extLst>
                <a:ext uri="{FF2B5EF4-FFF2-40B4-BE49-F238E27FC236}">
                  <a16:creationId xmlns:a16="http://schemas.microsoft.com/office/drawing/2014/main" id="{74FA474C-9042-0DAE-BD87-3B59F2C46B1F}"/>
                </a:ext>
              </a:extLst>
            </p:cNvPr>
            <p:cNvCxnSpPr>
              <a:cxnSpLocks/>
            </p:cNvCxnSpPr>
            <p:nvPr/>
          </p:nvCxnSpPr>
          <p:spPr>
            <a:xfrm>
              <a:off x="1313895" y="3762653"/>
              <a:ext cx="6720396" cy="18345"/>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18" name="连接符: 肘形 17">
              <a:extLst>
                <a:ext uri="{FF2B5EF4-FFF2-40B4-BE49-F238E27FC236}">
                  <a16:creationId xmlns:a16="http://schemas.microsoft.com/office/drawing/2014/main" id="{1515BBA9-C0B4-29E8-31C2-38DB733AD236}"/>
                </a:ext>
              </a:extLst>
            </p:cNvPr>
            <p:cNvCxnSpPr>
              <a:cxnSpLocks/>
              <a:stCxn id="16" idx="0"/>
              <a:endCxn id="22" idx="2"/>
            </p:cNvCxnSpPr>
            <p:nvPr/>
          </p:nvCxnSpPr>
          <p:spPr>
            <a:xfrm rot="5400000" flipH="1" flipV="1">
              <a:off x="2245423" y="3042865"/>
              <a:ext cx="666342" cy="855956"/>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9" name="连接符: 肘形 18">
              <a:extLst>
                <a:ext uri="{FF2B5EF4-FFF2-40B4-BE49-F238E27FC236}">
                  <a16:creationId xmlns:a16="http://schemas.microsoft.com/office/drawing/2014/main" id="{C8DE85ED-7D0F-9D38-CCE0-3C36AEF93D1F}"/>
                </a:ext>
              </a:extLst>
            </p:cNvPr>
            <p:cNvCxnSpPr>
              <a:cxnSpLocks/>
              <a:stCxn id="15" idx="0"/>
              <a:endCxn id="14" idx="2"/>
            </p:cNvCxnSpPr>
            <p:nvPr/>
          </p:nvCxnSpPr>
          <p:spPr>
            <a:xfrm rot="5400000" flipH="1" flipV="1">
              <a:off x="4593528" y="3051861"/>
              <a:ext cx="667950" cy="815955"/>
            </a:xfrm>
            <a:prstGeom prst="bentConnector2">
              <a:avLst/>
            </a:prstGeom>
            <a:ln w="25400" cap="flat" cmpd="sng" algn="ctr">
              <a:solidFill>
                <a:srgbClr val="00B05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20" name="文本框 19">
              <a:extLst>
                <a:ext uri="{FF2B5EF4-FFF2-40B4-BE49-F238E27FC236}">
                  <a16:creationId xmlns:a16="http://schemas.microsoft.com/office/drawing/2014/main" id="{50FE621E-F64D-40F2-8E91-6C4A837CC5A2}"/>
                </a:ext>
              </a:extLst>
            </p:cNvPr>
            <p:cNvSpPr txBox="1"/>
            <p:nvPr/>
          </p:nvSpPr>
          <p:spPr>
            <a:xfrm>
              <a:off x="646590" y="3577987"/>
              <a:ext cx="642152" cy="272827"/>
            </a:xfrm>
            <a:prstGeom prst="rect">
              <a:avLst/>
            </a:prstGeom>
            <a:noFill/>
          </p:spPr>
          <p:txBody>
            <a:bodyPr wrap="square" rtlCol="0">
              <a:spAutoFit/>
            </a:bodyPr>
            <a:lstStyle/>
            <a:p>
              <a:r>
                <a:rPr lang="en-US" altLang="zh-CN" sz="1600" b="1" dirty="0">
                  <a:solidFill>
                    <a:srgbClr val="C00000"/>
                  </a:solidFill>
                  <a:latin typeface="Arial" panose="020B0604020202020204" pitchFamily="34" charset="0"/>
                  <a:ea typeface="微软雅黑" panose="020B0503020204020204" pitchFamily="34" charset="-122"/>
                </a:rPr>
                <a:t>100</a:t>
              </a:r>
              <a:endParaRPr lang="zh-CN" altLang="en-US" sz="1600" b="1" dirty="0">
                <a:solidFill>
                  <a:srgbClr val="C00000"/>
                </a:solidFill>
                <a:latin typeface="Arial" panose="020B0604020202020204" pitchFamily="34" charset="0"/>
                <a:ea typeface="微软雅黑" panose="020B0503020204020204" pitchFamily="34" charset="-122"/>
              </a:endParaRPr>
            </a:p>
          </p:txBody>
        </p:sp>
        <p:sp>
          <p:nvSpPr>
            <p:cNvPr id="21" name="矩形 20">
              <a:extLst>
                <a:ext uri="{FF2B5EF4-FFF2-40B4-BE49-F238E27FC236}">
                  <a16:creationId xmlns:a16="http://schemas.microsoft.com/office/drawing/2014/main" id="{AA4D104D-D77B-000A-478F-386C78C80631}"/>
                </a:ext>
              </a:extLst>
            </p:cNvPr>
            <p:cNvSpPr/>
            <p:nvPr/>
          </p:nvSpPr>
          <p:spPr>
            <a:xfrm>
              <a:off x="2751339" y="3804014"/>
              <a:ext cx="1191087" cy="618395"/>
            </a:xfrm>
            <a:prstGeom prst="rect">
              <a:avLst/>
            </a:prstGeom>
            <a:ln>
              <a:noFill/>
            </a:ln>
          </p:spPr>
          <p:style>
            <a:lnRef idx="2">
              <a:schemeClr val="accent2"/>
            </a:lnRef>
            <a:fillRef idx="1">
              <a:schemeClr val="lt1"/>
            </a:fillRef>
            <a:effectRef idx="0">
              <a:schemeClr val="accent2"/>
            </a:effectRef>
            <a:fontRef idx="minor">
              <a:schemeClr val="dk1"/>
            </a:fontRef>
          </p:style>
          <p:txBody>
            <a:bodyPr rtlCol="0" anchor="ctr"/>
            <a:lstStyle/>
            <a:p>
              <a:pPr algn="ctr"/>
              <a:r>
                <a:rPr lang="zh-CN" altLang="en-US" sz="1600" dirty="0">
                  <a:latin typeface="Arial" panose="020B0604020202020204" pitchFamily="34" charset="0"/>
                  <a:ea typeface="微软雅黑" panose="020B0503020204020204" pitchFamily="34" charset="-122"/>
                </a:rPr>
                <a:t>空闲</a:t>
              </a:r>
            </a:p>
          </p:txBody>
        </p:sp>
      </p:grpSp>
      <p:sp>
        <p:nvSpPr>
          <p:cNvPr id="22" name="椭圆 21">
            <a:extLst>
              <a:ext uri="{FF2B5EF4-FFF2-40B4-BE49-F238E27FC236}">
                <a16:creationId xmlns:a16="http://schemas.microsoft.com/office/drawing/2014/main" id="{7EBB2D5C-8F0B-DF3E-2D5C-48B993C23A6F}"/>
              </a:ext>
            </a:extLst>
          </p:cNvPr>
          <p:cNvSpPr/>
          <p:nvPr/>
        </p:nvSpPr>
        <p:spPr>
          <a:xfrm>
            <a:off x="4573644" y="3404393"/>
            <a:ext cx="943894" cy="752329"/>
          </a:xfrm>
          <a:prstGeom prst="ellipse">
            <a:avLst/>
          </a:prstGeom>
          <a:solidFill>
            <a:srgbClr val="00B050"/>
          </a:solidFill>
        </p:spPr>
        <p:style>
          <a:lnRef idx="3">
            <a:schemeClr val="lt1"/>
          </a:lnRef>
          <a:fillRef idx="1">
            <a:schemeClr val="accent6"/>
          </a:fillRef>
          <a:effectRef idx="1">
            <a:schemeClr val="accent6"/>
          </a:effectRef>
          <a:fontRef idx="minor">
            <a:schemeClr val="lt1"/>
          </a:fontRef>
        </p:style>
        <p:txBody>
          <a:bodyPr rtlCol="0" anchor="ctr"/>
          <a:lstStyle/>
          <a:p>
            <a:pPr algn="ctr"/>
            <a:r>
              <a:rPr lang="en-US" altLang="zh-CN" sz="1600" dirty="0">
                <a:latin typeface="Arial" panose="020B0604020202020204" pitchFamily="34" charset="0"/>
                <a:ea typeface="微软雅黑" panose="020B0503020204020204" pitchFamily="34" charset="-122"/>
              </a:rPr>
              <a:t>B100</a:t>
            </a:r>
            <a:endParaRPr lang="zh-CN" altLang="en-US" sz="1600" dirty="0">
              <a:latin typeface="Arial" panose="020B0604020202020204" pitchFamily="34" charset="0"/>
              <a:ea typeface="微软雅黑" panose="020B0503020204020204" pitchFamily="34" charset="-122"/>
            </a:endParaRPr>
          </a:p>
        </p:txBody>
      </p:sp>
      <p:cxnSp>
        <p:nvCxnSpPr>
          <p:cNvPr id="23" name="连接符: 肘形 22">
            <a:extLst>
              <a:ext uri="{FF2B5EF4-FFF2-40B4-BE49-F238E27FC236}">
                <a16:creationId xmlns:a16="http://schemas.microsoft.com/office/drawing/2014/main" id="{C70C6DC1-6324-F5B3-712C-CD44A7F39D93}"/>
              </a:ext>
            </a:extLst>
          </p:cNvPr>
          <p:cNvCxnSpPr>
            <a:cxnSpLocks/>
            <a:endCxn id="21" idx="2"/>
          </p:cNvCxnSpPr>
          <p:nvPr/>
        </p:nvCxnSpPr>
        <p:spPr>
          <a:xfrm rot="10800000">
            <a:off x="4996012" y="5374805"/>
            <a:ext cx="1055569" cy="775277"/>
          </a:xfrm>
          <a:prstGeom prst="bentConnector2">
            <a:avLst/>
          </a:prstGeom>
          <a:ln w="25400" cap="flat" cmpd="sng" algn="ctr">
            <a:solidFill>
              <a:schemeClr val="accent2"/>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24" name="文本框 23">
            <a:extLst>
              <a:ext uri="{FF2B5EF4-FFF2-40B4-BE49-F238E27FC236}">
                <a16:creationId xmlns:a16="http://schemas.microsoft.com/office/drawing/2014/main" id="{59ED95F2-1245-1540-F58D-1EB2EDB0966D}"/>
              </a:ext>
            </a:extLst>
          </p:cNvPr>
          <p:cNvSpPr txBox="1"/>
          <p:nvPr/>
        </p:nvSpPr>
        <p:spPr>
          <a:xfrm>
            <a:off x="6152357" y="5973371"/>
            <a:ext cx="3188110" cy="646331"/>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1.</a:t>
            </a:r>
            <a:r>
              <a:rPr lang="zh-CN" altLang="en-US" b="1" dirty="0">
                <a:latin typeface="Arial" panose="020B0604020202020204" pitchFamily="34" charset="0"/>
                <a:ea typeface="微软雅黑" panose="020B0503020204020204" pitchFamily="34" charset="-122"/>
              </a:rPr>
              <a:t>动态</a:t>
            </a:r>
            <a:r>
              <a:rPr lang="zh-CN" altLang="en-US" dirty="0">
                <a:latin typeface="Arial" panose="020B0604020202020204" pitchFamily="34" charset="0"/>
                <a:ea typeface="微软雅黑" panose="020B0503020204020204" pitchFamily="34" charset="-122"/>
              </a:rPr>
              <a:t>设置移动的区间数</a:t>
            </a:r>
            <a:endParaRPr lang="en-US" altLang="zh-CN" dirty="0">
              <a:latin typeface="Arial" panose="020B0604020202020204" pitchFamily="34" charset="0"/>
              <a:ea typeface="微软雅黑" panose="020B0503020204020204" pitchFamily="34" charset="-122"/>
            </a:endParaRPr>
          </a:p>
          <a:p>
            <a:r>
              <a:rPr lang="en-US" altLang="zh-CN" dirty="0">
                <a:latin typeface="Arial" panose="020B0604020202020204" pitchFamily="34" charset="0"/>
                <a:ea typeface="微软雅黑" panose="020B0503020204020204" pitchFamily="34" charset="-122"/>
              </a:rPr>
              <a:t>2.</a:t>
            </a:r>
            <a:r>
              <a:rPr lang="zh-CN" altLang="en-US" dirty="0">
                <a:latin typeface="Arial" panose="020B0604020202020204" pitchFamily="34" charset="0"/>
                <a:ea typeface="微软雅黑" panose="020B0503020204020204" pitchFamily="34" charset="-122"/>
              </a:rPr>
              <a:t>未来计划区间，可等待</a:t>
            </a:r>
          </a:p>
        </p:txBody>
      </p:sp>
      <p:sp>
        <p:nvSpPr>
          <p:cNvPr id="25" name="文本框 24">
            <a:extLst>
              <a:ext uri="{FF2B5EF4-FFF2-40B4-BE49-F238E27FC236}">
                <a16:creationId xmlns:a16="http://schemas.microsoft.com/office/drawing/2014/main" id="{FC532E61-CEA4-DDFA-85CE-7FDC71A2FA45}"/>
              </a:ext>
            </a:extLst>
          </p:cNvPr>
          <p:cNvSpPr txBox="1"/>
          <p:nvPr/>
        </p:nvSpPr>
        <p:spPr>
          <a:xfrm>
            <a:off x="1378341" y="4917724"/>
            <a:ext cx="1619687" cy="338554"/>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Constraints</a:t>
            </a:r>
            <a:endParaRPr lang="zh-CN" altLang="en-US" sz="1600" b="1"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239331496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F7F981E-8BD2-A74E-E7DA-DD8352082DA9}"/>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多级排产</a:t>
            </a:r>
          </a:p>
        </p:txBody>
      </p:sp>
      <p:cxnSp>
        <p:nvCxnSpPr>
          <p:cNvPr id="4" name="直接箭头连接符 3">
            <a:extLst>
              <a:ext uri="{FF2B5EF4-FFF2-40B4-BE49-F238E27FC236}">
                <a16:creationId xmlns:a16="http://schemas.microsoft.com/office/drawing/2014/main" id="{A41CE8F6-2642-0757-7D3A-3AD9D42FE5D1}"/>
              </a:ext>
            </a:extLst>
          </p:cNvPr>
          <p:cNvCxnSpPr>
            <a:cxnSpLocks/>
          </p:cNvCxnSpPr>
          <p:nvPr/>
        </p:nvCxnSpPr>
        <p:spPr>
          <a:xfrm>
            <a:off x="2205956" y="4645946"/>
            <a:ext cx="8043339" cy="0"/>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5" name="直接箭头连接符 4">
            <a:extLst>
              <a:ext uri="{FF2B5EF4-FFF2-40B4-BE49-F238E27FC236}">
                <a16:creationId xmlns:a16="http://schemas.microsoft.com/office/drawing/2014/main" id="{60260C54-C412-B544-4A34-F63F6BAC867A}"/>
              </a:ext>
            </a:extLst>
          </p:cNvPr>
          <p:cNvCxnSpPr>
            <a:cxnSpLocks/>
          </p:cNvCxnSpPr>
          <p:nvPr/>
        </p:nvCxnSpPr>
        <p:spPr>
          <a:xfrm>
            <a:off x="2240846" y="3240435"/>
            <a:ext cx="0" cy="2822778"/>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6" name="直接箭头连接符 5">
            <a:extLst>
              <a:ext uri="{FF2B5EF4-FFF2-40B4-BE49-F238E27FC236}">
                <a16:creationId xmlns:a16="http://schemas.microsoft.com/office/drawing/2014/main" id="{D2C4FEEF-DEDE-66B9-5C32-3B53B6E8C52A}"/>
              </a:ext>
            </a:extLst>
          </p:cNvPr>
          <p:cNvCxnSpPr>
            <a:cxnSpLocks/>
          </p:cNvCxnSpPr>
          <p:nvPr/>
        </p:nvCxnSpPr>
        <p:spPr>
          <a:xfrm>
            <a:off x="3686077" y="3240435"/>
            <a:ext cx="0" cy="2822778"/>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7" name="直接箭头连接符 6">
            <a:extLst>
              <a:ext uri="{FF2B5EF4-FFF2-40B4-BE49-F238E27FC236}">
                <a16:creationId xmlns:a16="http://schemas.microsoft.com/office/drawing/2014/main" id="{832BC6C2-A8C7-A765-3864-15F3D37BF0E0}"/>
              </a:ext>
            </a:extLst>
          </p:cNvPr>
          <p:cNvCxnSpPr>
            <a:cxnSpLocks/>
          </p:cNvCxnSpPr>
          <p:nvPr/>
        </p:nvCxnSpPr>
        <p:spPr>
          <a:xfrm>
            <a:off x="5164362" y="3240435"/>
            <a:ext cx="0" cy="2822778"/>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8" name="直接箭头连接符 7">
            <a:extLst>
              <a:ext uri="{FF2B5EF4-FFF2-40B4-BE49-F238E27FC236}">
                <a16:creationId xmlns:a16="http://schemas.microsoft.com/office/drawing/2014/main" id="{017D587F-7D73-A07B-B5F0-5DF63FC5771A}"/>
              </a:ext>
            </a:extLst>
          </p:cNvPr>
          <p:cNvCxnSpPr>
            <a:cxnSpLocks/>
          </p:cNvCxnSpPr>
          <p:nvPr/>
        </p:nvCxnSpPr>
        <p:spPr>
          <a:xfrm>
            <a:off x="6576537" y="3240435"/>
            <a:ext cx="0" cy="2822778"/>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216DE49-E9DF-A16B-A45C-AC223DFB2A1D}"/>
              </a:ext>
            </a:extLst>
          </p:cNvPr>
          <p:cNvCxnSpPr>
            <a:cxnSpLocks/>
          </p:cNvCxnSpPr>
          <p:nvPr/>
        </p:nvCxnSpPr>
        <p:spPr>
          <a:xfrm>
            <a:off x="8010749" y="3240435"/>
            <a:ext cx="0" cy="2822778"/>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CD92898F-2E96-442A-E1D1-1FBF1890EBF0}"/>
              </a:ext>
            </a:extLst>
          </p:cNvPr>
          <p:cNvCxnSpPr>
            <a:cxnSpLocks/>
          </p:cNvCxnSpPr>
          <p:nvPr/>
        </p:nvCxnSpPr>
        <p:spPr>
          <a:xfrm>
            <a:off x="9455978" y="3240435"/>
            <a:ext cx="0" cy="2822778"/>
          </a:xfrm>
          <a:prstGeom prst="straightConnector1">
            <a:avLst/>
          </a:prstGeom>
          <a:ln w="38100">
            <a:tailEnd type="none"/>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40374622-A289-1F11-124B-F96EC58BF6F1}"/>
              </a:ext>
            </a:extLst>
          </p:cNvPr>
          <p:cNvSpPr txBox="1"/>
          <p:nvPr/>
        </p:nvSpPr>
        <p:spPr>
          <a:xfrm>
            <a:off x="813979" y="3343257"/>
            <a:ext cx="1619687" cy="338554"/>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Demands</a:t>
            </a:r>
            <a:endParaRPr lang="zh-CN" altLang="en-US" sz="1600" b="1" dirty="0">
              <a:latin typeface="Arial" panose="020B0604020202020204" pitchFamily="34" charset="0"/>
              <a:ea typeface="微软雅黑" panose="020B0503020204020204" pitchFamily="34" charset="-122"/>
            </a:endParaRPr>
          </a:p>
        </p:txBody>
      </p:sp>
      <p:sp>
        <p:nvSpPr>
          <p:cNvPr id="27" name="文本框 26">
            <a:extLst>
              <a:ext uri="{FF2B5EF4-FFF2-40B4-BE49-F238E27FC236}">
                <a16:creationId xmlns:a16="http://schemas.microsoft.com/office/drawing/2014/main" id="{784D3CD0-ABE1-1A8E-BC6F-AE9F0A8F8AED}"/>
              </a:ext>
            </a:extLst>
          </p:cNvPr>
          <p:cNvSpPr txBox="1"/>
          <p:nvPr/>
        </p:nvSpPr>
        <p:spPr>
          <a:xfrm>
            <a:off x="2318330" y="4870293"/>
            <a:ext cx="1367747" cy="369332"/>
          </a:xfrm>
          <a:prstGeom prst="rect">
            <a:avLst/>
          </a:prstGeom>
        </p:spPr>
        <p:style>
          <a:lnRef idx="1">
            <a:schemeClr val="accent4"/>
          </a:lnRef>
          <a:fillRef idx="3">
            <a:schemeClr val="accent4"/>
          </a:fillRef>
          <a:effectRef idx="2">
            <a:schemeClr val="accent4"/>
          </a:effectRef>
          <a:fontRef idx="minor">
            <a:schemeClr val="lt1"/>
          </a:fontRef>
        </p:style>
        <p:txBody>
          <a:bodyPr wrap="square" rtlCol="0">
            <a:spAutoFit/>
          </a:bodyPr>
          <a:lstStyle/>
          <a:p>
            <a:r>
              <a:rPr lang="en-US" altLang="zh-CN" dirty="0">
                <a:latin typeface="Arial" panose="020B0604020202020204" pitchFamily="34" charset="0"/>
                <a:ea typeface="微软雅黑" panose="020B0503020204020204" pitchFamily="34" charset="-122"/>
              </a:rPr>
              <a:t>OH 2400</a:t>
            </a:r>
            <a:endParaRPr lang="zh-CN" altLang="en-US" dirty="0">
              <a:latin typeface="Arial" panose="020B0604020202020204" pitchFamily="34" charset="0"/>
              <a:ea typeface="微软雅黑" panose="020B0503020204020204" pitchFamily="34" charset="-122"/>
            </a:endParaRPr>
          </a:p>
        </p:txBody>
      </p:sp>
      <p:sp>
        <p:nvSpPr>
          <p:cNvPr id="28" name="文本框 27">
            <a:extLst>
              <a:ext uri="{FF2B5EF4-FFF2-40B4-BE49-F238E27FC236}">
                <a16:creationId xmlns:a16="http://schemas.microsoft.com/office/drawing/2014/main" id="{A5F26ABB-247F-8A54-1616-C652B49445C9}"/>
              </a:ext>
            </a:extLst>
          </p:cNvPr>
          <p:cNvSpPr txBox="1"/>
          <p:nvPr/>
        </p:nvSpPr>
        <p:spPr>
          <a:xfrm>
            <a:off x="2318330" y="5423810"/>
            <a:ext cx="1367747" cy="646331"/>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p>
            <a:r>
              <a:rPr lang="en-US" altLang="zh-CN" dirty="0">
                <a:latin typeface="Arial" panose="020B0604020202020204" pitchFamily="34" charset="0"/>
                <a:ea typeface="微软雅黑" panose="020B0503020204020204" pitchFamily="34" charset="-122"/>
              </a:rPr>
              <a:t>PLG 600</a:t>
            </a:r>
            <a:r>
              <a:rPr lang="zh-CN" altLang="en-US" dirty="0">
                <a:latin typeface="Arial" panose="020B0604020202020204" pitchFamily="34" charset="0"/>
                <a:ea typeface="微软雅黑" panose="020B0503020204020204" pitchFamily="34" charset="-122"/>
              </a:rPr>
              <a:t>（</a:t>
            </a:r>
            <a:r>
              <a:rPr lang="en-US" altLang="zh-CN" dirty="0">
                <a:latin typeface="Arial" panose="020B0604020202020204" pitchFamily="34" charset="0"/>
                <a:ea typeface="微软雅黑" panose="020B0503020204020204" pitchFamily="34" charset="-122"/>
              </a:rPr>
              <a:t>400</a:t>
            </a:r>
            <a:r>
              <a:rPr lang="zh-CN" altLang="en-US" dirty="0">
                <a:latin typeface="Arial" panose="020B0604020202020204" pitchFamily="34" charset="0"/>
                <a:ea typeface="微软雅黑" panose="020B0503020204020204" pitchFamily="34" charset="-122"/>
              </a:rPr>
              <a:t>）</a:t>
            </a:r>
          </a:p>
        </p:txBody>
      </p:sp>
      <p:sp>
        <p:nvSpPr>
          <p:cNvPr id="29" name="文本框 28">
            <a:extLst>
              <a:ext uri="{FF2B5EF4-FFF2-40B4-BE49-F238E27FC236}">
                <a16:creationId xmlns:a16="http://schemas.microsoft.com/office/drawing/2014/main" id="{B5F44B18-1EB5-D772-5163-1A725AA0BF8C}"/>
              </a:ext>
            </a:extLst>
          </p:cNvPr>
          <p:cNvSpPr txBox="1"/>
          <p:nvPr/>
        </p:nvSpPr>
        <p:spPr>
          <a:xfrm>
            <a:off x="3723022" y="5423810"/>
            <a:ext cx="1367747" cy="646331"/>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p>
            <a:r>
              <a:rPr lang="en-US" altLang="zh-CN" dirty="0">
                <a:latin typeface="Arial" panose="020B0604020202020204" pitchFamily="34" charset="0"/>
                <a:ea typeface="微软雅黑" panose="020B0503020204020204" pitchFamily="34" charset="-122"/>
              </a:rPr>
              <a:t>PLG 600</a:t>
            </a:r>
            <a:r>
              <a:rPr lang="zh-CN" altLang="en-US" dirty="0">
                <a:latin typeface="Arial" panose="020B0604020202020204" pitchFamily="34" charset="0"/>
                <a:ea typeface="微软雅黑" panose="020B0503020204020204" pitchFamily="34" charset="-122"/>
              </a:rPr>
              <a:t>（</a:t>
            </a:r>
            <a:r>
              <a:rPr lang="en-US" altLang="zh-CN" dirty="0">
                <a:latin typeface="Arial" panose="020B0604020202020204" pitchFamily="34" charset="0"/>
                <a:ea typeface="微软雅黑" panose="020B0503020204020204" pitchFamily="34" charset="-122"/>
              </a:rPr>
              <a:t>300</a:t>
            </a:r>
            <a:r>
              <a:rPr lang="zh-CN" altLang="en-US" dirty="0">
                <a:latin typeface="Arial" panose="020B0604020202020204" pitchFamily="34" charset="0"/>
                <a:ea typeface="微软雅黑" panose="020B0503020204020204" pitchFamily="34" charset="-122"/>
              </a:rPr>
              <a:t>）</a:t>
            </a:r>
          </a:p>
        </p:txBody>
      </p:sp>
      <p:sp>
        <p:nvSpPr>
          <p:cNvPr id="30" name="文本框 29">
            <a:extLst>
              <a:ext uri="{FF2B5EF4-FFF2-40B4-BE49-F238E27FC236}">
                <a16:creationId xmlns:a16="http://schemas.microsoft.com/office/drawing/2014/main" id="{4C3B6D4A-86A7-CE5D-5B9A-A5F8FE65EF6E}"/>
              </a:ext>
            </a:extLst>
          </p:cNvPr>
          <p:cNvSpPr txBox="1"/>
          <p:nvPr/>
        </p:nvSpPr>
        <p:spPr>
          <a:xfrm>
            <a:off x="5201307" y="5423810"/>
            <a:ext cx="1367747" cy="584775"/>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defPPr>
              <a:defRPr lang="zh-CN"/>
            </a:defPPr>
            <a:lvl1pPr>
              <a:defRPr sz="1400"/>
            </a:lvl1pPr>
          </a:lstStyle>
          <a:p>
            <a:r>
              <a:rPr lang="en-US" altLang="zh-CN" sz="1600" dirty="0">
                <a:latin typeface="Arial" panose="020B0604020202020204" pitchFamily="34" charset="0"/>
                <a:ea typeface="微软雅黑" panose="020B0503020204020204" pitchFamily="34" charset="-122"/>
              </a:rPr>
              <a:t>PLG 600</a:t>
            </a:r>
            <a:r>
              <a:rPr lang="zh-CN" altLang="en-US" sz="1600" dirty="0">
                <a:latin typeface="Arial" panose="020B0604020202020204" pitchFamily="34" charset="0"/>
                <a:ea typeface="微软雅黑" panose="020B0503020204020204" pitchFamily="34" charset="-122"/>
              </a:rPr>
              <a:t>（</a:t>
            </a:r>
            <a:r>
              <a:rPr lang="en-US" altLang="zh-CN" sz="1600" dirty="0">
                <a:latin typeface="Arial" panose="020B0604020202020204" pitchFamily="34" charset="0"/>
                <a:ea typeface="微软雅黑" panose="020B0503020204020204" pitchFamily="34" charset="-122"/>
              </a:rPr>
              <a:t>150</a:t>
            </a:r>
            <a:r>
              <a:rPr lang="zh-CN" altLang="en-US" sz="1600" dirty="0">
                <a:latin typeface="Arial" panose="020B0604020202020204" pitchFamily="34" charset="0"/>
                <a:ea typeface="微软雅黑" panose="020B0503020204020204" pitchFamily="34" charset="-122"/>
              </a:rPr>
              <a:t>）</a:t>
            </a:r>
          </a:p>
        </p:txBody>
      </p:sp>
      <p:sp>
        <p:nvSpPr>
          <p:cNvPr id="31" name="文本框 30">
            <a:extLst>
              <a:ext uri="{FF2B5EF4-FFF2-40B4-BE49-F238E27FC236}">
                <a16:creationId xmlns:a16="http://schemas.microsoft.com/office/drawing/2014/main" id="{735931EA-FA1F-91EB-6FBF-91AC40339A61}"/>
              </a:ext>
            </a:extLst>
          </p:cNvPr>
          <p:cNvSpPr txBox="1"/>
          <p:nvPr/>
        </p:nvSpPr>
        <p:spPr>
          <a:xfrm>
            <a:off x="6613482" y="5423810"/>
            <a:ext cx="1367747" cy="369332"/>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p>
            <a:r>
              <a:rPr lang="en-US" altLang="zh-CN" dirty="0">
                <a:latin typeface="Arial" panose="020B0604020202020204" pitchFamily="34" charset="0"/>
                <a:ea typeface="微软雅黑" panose="020B0503020204020204" pitchFamily="34" charset="-122"/>
              </a:rPr>
              <a:t>PLG 600</a:t>
            </a:r>
            <a:endParaRPr lang="zh-CN" altLang="en-US" dirty="0">
              <a:latin typeface="Arial" panose="020B0604020202020204" pitchFamily="34" charset="0"/>
              <a:ea typeface="微软雅黑" panose="020B0503020204020204" pitchFamily="34" charset="-122"/>
            </a:endParaRPr>
          </a:p>
        </p:txBody>
      </p:sp>
      <p:sp>
        <p:nvSpPr>
          <p:cNvPr id="32" name="文本框 31">
            <a:extLst>
              <a:ext uri="{FF2B5EF4-FFF2-40B4-BE49-F238E27FC236}">
                <a16:creationId xmlns:a16="http://schemas.microsoft.com/office/drawing/2014/main" id="{301E52A4-6794-2C9B-8B71-EC7CC4D827FA}"/>
              </a:ext>
            </a:extLst>
          </p:cNvPr>
          <p:cNvSpPr txBox="1"/>
          <p:nvPr/>
        </p:nvSpPr>
        <p:spPr>
          <a:xfrm>
            <a:off x="8049490" y="5432507"/>
            <a:ext cx="1367747" cy="584775"/>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p>
            <a:r>
              <a:rPr lang="en-US" altLang="zh-CN" sz="1600" dirty="0">
                <a:latin typeface="Arial" panose="020B0604020202020204" pitchFamily="34" charset="0"/>
                <a:ea typeface="微软雅黑" panose="020B0503020204020204" pitchFamily="34" charset="-122"/>
              </a:rPr>
              <a:t>PLG 600(150</a:t>
            </a:r>
            <a:r>
              <a:rPr lang="zh-CN" altLang="en-US" sz="1600" dirty="0">
                <a:latin typeface="Arial" panose="020B0604020202020204" pitchFamily="34" charset="0"/>
                <a:ea typeface="微软雅黑" panose="020B0503020204020204" pitchFamily="34" charset="-122"/>
              </a:rPr>
              <a:t>）</a:t>
            </a:r>
          </a:p>
        </p:txBody>
      </p:sp>
      <p:sp>
        <p:nvSpPr>
          <p:cNvPr id="33" name="文本框 32">
            <a:extLst>
              <a:ext uri="{FF2B5EF4-FFF2-40B4-BE49-F238E27FC236}">
                <a16:creationId xmlns:a16="http://schemas.microsoft.com/office/drawing/2014/main" id="{AC15B4C0-36CA-5D10-91F7-390CA6776797}"/>
              </a:ext>
            </a:extLst>
          </p:cNvPr>
          <p:cNvSpPr txBox="1"/>
          <p:nvPr/>
        </p:nvSpPr>
        <p:spPr>
          <a:xfrm>
            <a:off x="8060524" y="2283921"/>
            <a:ext cx="1367747" cy="646331"/>
          </a:xfrm>
          <a:prstGeom prst="rect">
            <a:avLst/>
          </a:prstGeom>
        </p:spPr>
        <p:style>
          <a:lnRef idx="2">
            <a:schemeClr val="accent5"/>
          </a:lnRef>
          <a:fillRef idx="1">
            <a:schemeClr val="lt1"/>
          </a:fillRef>
          <a:effectRef idx="0">
            <a:schemeClr val="accent5"/>
          </a:effectRef>
          <a:fontRef idx="minor">
            <a:schemeClr val="dk1"/>
          </a:fontRef>
        </p:style>
        <p:txBody>
          <a:bodyPr wrap="square" rtlCol="0">
            <a:spAutoFit/>
          </a:bodyPr>
          <a:lstStyle/>
          <a:p>
            <a:r>
              <a:rPr lang="en-US" altLang="zh-CN" dirty="0">
                <a:latin typeface="Arial" panose="020B0604020202020204" pitchFamily="34" charset="0"/>
                <a:ea typeface="微软雅黑" panose="020B0503020204020204" pitchFamily="34" charset="-122"/>
              </a:rPr>
              <a:t>Demand 2000</a:t>
            </a:r>
            <a:endParaRPr lang="zh-CN" altLang="en-US" dirty="0">
              <a:latin typeface="Arial" panose="020B0604020202020204" pitchFamily="34" charset="0"/>
              <a:ea typeface="微软雅黑" panose="020B0503020204020204" pitchFamily="34" charset="-122"/>
            </a:endParaRPr>
          </a:p>
        </p:txBody>
      </p:sp>
      <p:sp>
        <p:nvSpPr>
          <p:cNvPr id="34" name="文本框 33">
            <a:extLst>
              <a:ext uri="{FF2B5EF4-FFF2-40B4-BE49-F238E27FC236}">
                <a16:creationId xmlns:a16="http://schemas.microsoft.com/office/drawing/2014/main" id="{B76129BB-128F-82E3-BD5E-35B428E12582}"/>
              </a:ext>
            </a:extLst>
          </p:cNvPr>
          <p:cNvSpPr txBox="1"/>
          <p:nvPr/>
        </p:nvSpPr>
        <p:spPr>
          <a:xfrm>
            <a:off x="8058742" y="3343257"/>
            <a:ext cx="1367747" cy="369332"/>
          </a:xfrm>
          <a:prstGeom prst="rect">
            <a:avLst/>
          </a:prstGeom>
        </p:spPr>
        <p:style>
          <a:lnRef idx="2">
            <a:schemeClr val="accent5"/>
          </a:lnRef>
          <a:fillRef idx="1">
            <a:schemeClr val="lt1"/>
          </a:fillRef>
          <a:effectRef idx="0">
            <a:schemeClr val="accent5"/>
          </a:effectRef>
          <a:fontRef idx="minor">
            <a:schemeClr val="dk1"/>
          </a:fontRef>
        </p:style>
        <p:txBody>
          <a:bodyPr wrap="square" rtlCol="0">
            <a:spAutoFit/>
          </a:bodyPr>
          <a:lstStyle/>
          <a:p>
            <a:r>
              <a:rPr lang="en-US" altLang="zh-CN" dirty="0">
                <a:latin typeface="Arial" panose="020B0604020202020204" pitchFamily="34" charset="0"/>
                <a:ea typeface="微软雅黑" panose="020B0503020204020204" pitchFamily="34" charset="-122"/>
              </a:rPr>
              <a:t>PLF 600</a:t>
            </a:r>
            <a:endParaRPr lang="zh-CN" altLang="en-US" dirty="0">
              <a:latin typeface="Arial" panose="020B0604020202020204" pitchFamily="34" charset="0"/>
              <a:ea typeface="微软雅黑" panose="020B0503020204020204" pitchFamily="34" charset="-122"/>
            </a:endParaRPr>
          </a:p>
        </p:txBody>
      </p:sp>
      <p:sp>
        <p:nvSpPr>
          <p:cNvPr id="35" name="文本框 34">
            <a:extLst>
              <a:ext uri="{FF2B5EF4-FFF2-40B4-BE49-F238E27FC236}">
                <a16:creationId xmlns:a16="http://schemas.microsoft.com/office/drawing/2014/main" id="{0E444C66-928E-03BD-15E0-A733A57D64B4}"/>
              </a:ext>
            </a:extLst>
          </p:cNvPr>
          <p:cNvSpPr txBox="1"/>
          <p:nvPr/>
        </p:nvSpPr>
        <p:spPr>
          <a:xfrm>
            <a:off x="6585773" y="3345965"/>
            <a:ext cx="1367747" cy="369332"/>
          </a:xfrm>
          <a:prstGeom prst="rect">
            <a:avLst/>
          </a:prstGeom>
        </p:spPr>
        <p:style>
          <a:lnRef idx="2">
            <a:schemeClr val="accent5"/>
          </a:lnRef>
          <a:fillRef idx="1">
            <a:schemeClr val="lt1"/>
          </a:fillRef>
          <a:effectRef idx="0">
            <a:schemeClr val="accent5"/>
          </a:effectRef>
          <a:fontRef idx="minor">
            <a:schemeClr val="dk1"/>
          </a:fontRef>
        </p:style>
        <p:txBody>
          <a:bodyPr wrap="square" rtlCol="0">
            <a:spAutoFit/>
          </a:bodyPr>
          <a:lstStyle/>
          <a:p>
            <a:r>
              <a:rPr lang="en-US" altLang="zh-CN" dirty="0">
                <a:latin typeface="Arial" panose="020B0604020202020204" pitchFamily="34" charset="0"/>
                <a:ea typeface="微软雅黑" panose="020B0503020204020204" pitchFamily="34" charset="-122"/>
              </a:rPr>
              <a:t>PLF 450</a:t>
            </a:r>
            <a:endParaRPr lang="zh-CN" altLang="en-US" dirty="0">
              <a:latin typeface="Arial" panose="020B0604020202020204" pitchFamily="34" charset="0"/>
              <a:ea typeface="微软雅黑" panose="020B0503020204020204" pitchFamily="34" charset="-122"/>
            </a:endParaRPr>
          </a:p>
        </p:txBody>
      </p:sp>
      <p:sp>
        <p:nvSpPr>
          <p:cNvPr id="36" name="文本框 35">
            <a:extLst>
              <a:ext uri="{FF2B5EF4-FFF2-40B4-BE49-F238E27FC236}">
                <a16:creationId xmlns:a16="http://schemas.microsoft.com/office/drawing/2014/main" id="{E8D929DE-E52D-11A9-CEEA-1DBB9E17CF56}"/>
              </a:ext>
            </a:extLst>
          </p:cNvPr>
          <p:cNvSpPr txBox="1"/>
          <p:nvPr/>
        </p:nvSpPr>
        <p:spPr>
          <a:xfrm>
            <a:off x="5160797" y="3354662"/>
            <a:ext cx="1367747" cy="369332"/>
          </a:xfrm>
          <a:prstGeom prst="rect">
            <a:avLst/>
          </a:prstGeom>
        </p:spPr>
        <p:style>
          <a:lnRef idx="2">
            <a:schemeClr val="accent5"/>
          </a:lnRef>
          <a:fillRef idx="1">
            <a:schemeClr val="lt1"/>
          </a:fillRef>
          <a:effectRef idx="0">
            <a:schemeClr val="accent5"/>
          </a:effectRef>
          <a:fontRef idx="minor">
            <a:schemeClr val="dk1"/>
          </a:fontRef>
        </p:style>
        <p:txBody>
          <a:bodyPr wrap="square" rtlCol="0">
            <a:spAutoFit/>
          </a:bodyPr>
          <a:lstStyle/>
          <a:p>
            <a:r>
              <a:rPr lang="en-US" altLang="zh-CN" dirty="0">
                <a:latin typeface="Arial" panose="020B0604020202020204" pitchFamily="34" charset="0"/>
                <a:ea typeface="微软雅黑" panose="020B0503020204020204" pitchFamily="34" charset="-122"/>
              </a:rPr>
              <a:t>PLF 300</a:t>
            </a:r>
            <a:endParaRPr lang="zh-CN" altLang="en-US" dirty="0">
              <a:latin typeface="Arial" panose="020B0604020202020204" pitchFamily="34" charset="0"/>
              <a:ea typeface="微软雅黑" panose="020B0503020204020204" pitchFamily="34" charset="-122"/>
            </a:endParaRPr>
          </a:p>
        </p:txBody>
      </p:sp>
      <p:sp>
        <p:nvSpPr>
          <p:cNvPr id="37" name="文本框 36">
            <a:extLst>
              <a:ext uri="{FF2B5EF4-FFF2-40B4-BE49-F238E27FC236}">
                <a16:creationId xmlns:a16="http://schemas.microsoft.com/office/drawing/2014/main" id="{D88476FD-7746-E271-87B8-4F95BC3D2957}"/>
              </a:ext>
            </a:extLst>
          </p:cNvPr>
          <p:cNvSpPr txBox="1"/>
          <p:nvPr/>
        </p:nvSpPr>
        <p:spPr>
          <a:xfrm>
            <a:off x="3730505" y="3363277"/>
            <a:ext cx="1367747" cy="369332"/>
          </a:xfrm>
          <a:prstGeom prst="rect">
            <a:avLst/>
          </a:prstGeom>
        </p:spPr>
        <p:style>
          <a:lnRef idx="2">
            <a:schemeClr val="accent5"/>
          </a:lnRef>
          <a:fillRef idx="1">
            <a:schemeClr val="lt1"/>
          </a:fillRef>
          <a:effectRef idx="0">
            <a:schemeClr val="accent5"/>
          </a:effectRef>
          <a:fontRef idx="minor">
            <a:schemeClr val="dk1"/>
          </a:fontRef>
        </p:style>
        <p:txBody>
          <a:bodyPr wrap="square" rtlCol="0">
            <a:spAutoFit/>
          </a:bodyPr>
          <a:lstStyle/>
          <a:p>
            <a:r>
              <a:rPr lang="en-US" altLang="zh-CN" dirty="0">
                <a:latin typeface="Arial" panose="020B0604020202020204" pitchFamily="34" charset="0"/>
                <a:ea typeface="微软雅黑" panose="020B0503020204020204" pitchFamily="34" charset="-122"/>
              </a:rPr>
              <a:t>PLF 200</a:t>
            </a:r>
            <a:endParaRPr lang="zh-CN" altLang="en-US" dirty="0">
              <a:latin typeface="Arial" panose="020B0604020202020204" pitchFamily="34" charset="0"/>
              <a:ea typeface="微软雅黑" panose="020B0503020204020204" pitchFamily="34" charset="-122"/>
            </a:endParaRPr>
          </a:p>
        </p:txBody>
      </p:sp>
      <p:sp>
        <p:nvSpPr>
          <p:cNvPr id="38" name="文本框 37">
            <a:extLst>
              <a:ext uri="{FF2B5EF4-FFF2-40B4-BE49-F238E27FC236}">
                <a16:creationId xmlns:a16="http://schemas.microsoft.com/office/drawing/2014/main" id="{0359F32B-1FBB-8E1F-E31F-6BE5DE02FB07}"/>
              </a:ext>
            </a:extLst>
          </p:cNvPr>
          <p:cNvSpPr txBox="1"/>
          <p:nvPr/>
        </p:nvSpPr>
        <p:spPr>
          <a:xfrm>
            <a:off x="9505752" y="3357370"/>
            <a:ext cx="1069887" cy="369332"/>
          </a:xfrm>
          <a:prstGeom prst="rect">
            <a:avLst/>
          </a:prstGeom>
        </p:spPr>
        <p:style>
          <a:lnRef idx="2">
            <a:schemeClr val="accent5"/>
          </a:lnRef>
          <a:fillRef idx="1">
            <a:schemeClr val="lt1"/>
          </a:fillRef>
          <a:effectRef idx="0">
            <a:schemeClr val="accent5"/>
          </a:effectRef>
          <a:fontRef idx="minor">
            <a:schemeClr val="dk1"/>
          </a:fontRef>
        </p:style>
        <p:txBody>
          <a:bodyPr wrap="square" rtlCol="0">
            <a:spAutoFit/>
          </a:bodyPr>
          <a:lstStyle>
            <a:defPPr>
              <a:defRPr lang="zh-CN"/>
            </a:defPPr>
            <a:lvl1pPr>
              <a:defRPr/>
            </a:lvl1pPr>
          </a:lstStyle>
          <a:p>
            <a:r>
              <a:rPr lang="en-US" altLang="zh-CN" dirty="0">
                <a:latin typeface="Arial" panose="020B0604020202020204" pitchFamily="34" charset="0"/>
                <a:ea typeface="微软雅黑" panose="020B0503020204020204" pitchFamily="34" charset="-122"/>
              </a:rPr>
              <a:t>PLF 450</a:t>
            </a:r>
            <a:endParaRPr lang="zh-CN" altLang="en-US" dirty="0">
              <a:latin typeface="Arial" panose="020B0604020202020204" pitchFamily="34" charset="0"/>
              <a:ea typeface="微软雅黑" panose="020B0503020204020204" pitchFamily="34" charset="-122"/>
            </a:endParaRPr>
          </a:p>
        </p:txBody>
      </p:sp>
      <p:cxnSp>
        <p:nvCxnSpPr>
          <p:cNvPr id="40" name="连接符: 肘形 39">
            <a:extLst>
              <a:ext uri="{FF2B5EF4-FFF2-40B4-BE49-F238E27FC236}">
                <a16:creationId xmlns:a16="http://schemas.microsoft.com/office/drawing/2014/main" id="{CB6FC5A4-01D6-82CB-0910-0B6761FD3E85}"/>
              </a:ext>
            </a:extLst>
          </p:cNvPr>
          <p:cNvCxnSpPr>
            <a:stCxn id="33" idx="3"/>
            <a:endCxn id="38" idx="0"/>
          </p:cNvCxnSpPr>
          <p:nvPr/>
        </p:nvCxnSpPr>
        <p:spPr>
          <a:xfrm>
            <a:off x="9428271" y="2607087"/>
            <a:ext cx="612425" cy="750283"/>
          </a:xfrm>
          <a:prstGeom prst="bentConnector2">
            <a:avLst/>
          </a:prstGeom>
          <a:ln>
            <a:tailEnd type="triangle"/>
          </a:ln>
        </p:spPr>
        <p:style>
          <a:lnRef idx="3">
            <a:schemeClr val="accent3"/>
          </a:lnRef>
          <a:fillRef idx="0">
            <a:schemeClr val="accent3"/>
          </a:fillRef>
          <a:effectRef idx="2">
            <a:schemeClr val="accent3"/>
          </a:effectRef>
          <a:fontRef idx="minor">
            <a:schemeClr val="tx1"/>
          </a:fontRef>
        </p:style>
      </p:cxnSp>
      <p:cxnSp>
        <p:nvCxnSpPr>
          <p:cNvPr id="41" name="连接符: 肘形 40">
            <a:extLst>
              <a:ext uri="{FF2B5EF4-FFF2-40B4-BE49-F238E27FC236}">
                <a16:creationId xmlns:a16="http://schemas.microsoft.com/office/drawing/2014/main" id="{C0CAEF1F-41CD-2AD8-B81B-6B496CE42AC4}"/>
              </a:ext>
            </a:extLst>
          </p:cNvPr>
          <p:cNvCxnSpPr>
            <a:cxnSpLocks/>
            <a:stCxn id="33" idx="2"/>
            <a:endCxn id="34" idx="0"/>
          </p:cNvCxnSpPr>
          <p:nvPr/>
        </p:nvCxnSpPr>
        <p:spPr>
          <a:xfrm rot="5400000">
            <a:off x="8537005" y="3135863"/>
            <a:ext cx="413005" cy="1782"/>
          </a:xfrm>
          <a:prstGeom prst="bentConnector3">
            <a:avLst>
              <a:gd name="adj1" fmla="val 50000"/>
            </a:avLst>
          </a:prstGeom>
          <a:ln>
            <a:tailEnd type="triangle"/>
          </a:ln>
        </p:spPr>
        <p:style>
          <a:lnRef idx="3">
            <a:schemeClr val="accent3"/>
          </a:lnRef>
          <a:fillRef idx="0">
            <a:schemeClr val="accent3"/>
          </a:fillRef>
          <a:effectRef idx="2">
            <a:schemeClr val="accent3"/>
          </a:effectRef>
          <a:fontRef idx="minor">
            <a:schemeClr val="tx1"/>
          </a:fontRef>
        </p:style>
      </p:cxnSp>
      <p:cxnSp>
        <p:nvCxnSpPr>
          <p:cNvPr id="45" name="连接符: 肘形 44">
            <a:extLst>
              <a:ext uri="{FF2B5EF4-FFF2-40B4-BE49-F238E27FC236}">
                <a16:creationId xmlns:a16="http://schemas.microsoft.com/office/drawing/2014/main" id="{D8F7D9AB-9317-E7A6-E845-030C620F7A02}"/>
              </a:ext>
            </a:extLst>
          </p:cNvPr>
          <p:cNvCxnSpPr>
            <a:cxnSpLocks/>
            <a:stCxn id="33" idx="1"/>
            <a:endCxn id="35" idx="0"/>
          </p:cNvCxnSpPr>
          <p:nvPr/>
        </p:nvCxnSpPr>
        <p:spPr>
          <a:xfrm rot="10800000" flipV="1">
            <a:off x="7269648" y="2607087"/>
            <a:ext cx="790877" cy="738878"/>
          </a:xfrm>
          <a:prstGeom prst="bentConnector2">
            <a:avLst/>
          </a:prstGeom>
          <a:ln>
            <a:tailEnd type="triangle"/>
          </a:ln>
        </p:spPr>
        <p:style>
          <a:lnRef idx="3">
            <a:schemeClr val="accent3"/>
          </a:lnRef>
          <a:fillRef idx="0">
            <a:schemeClr val="accent3"/>
          </a:fillRef>
          <a:effectRef idx="2">
            <a:schemeClr val="accent3"/>
          </a:effectRef>
          <a:fontRef idx="minor">
            <a:schemeClr val="tx1"/>
          </a:fontRef>
        </p:style>
      </p:cxnSp>
      <p:cxnSp>
        <p:nvCxnSpPr>
          <p:cNvPr id="50" name="连接符: 肘形 49">
            <a:extLst>
              <a:ext uri="{FF2B5EF4-FFF2-40B4-BE49-F238E27FC236}">
                <a16:creationId xmlns:a16="http://schemas.microsoft.com/office/drawing/2014/main" id="{7FD624CB-E562-C373-6CD4-8E9938A27B9A}"/>
              </a:ext>
            </a:extLst>
          </p:cNvPr>
          <p:cNvCxnSpPr>
            <a:cxnSpLocks/>
            <a:stCxn id="33" idx="1"/>
            <a:endCxn id="36" idx="0"/>
          </p:cNvCxnSpPr>
          <p:nvPr/>
        </p:nvCxnSpPr>
        <p:spPr>
          <a:xfrm rot="10800000" flipV="1">
            <a:off x="5844672" y="2607086"/>
            <a:ext cx="2215853" cy="747575"/>
          </a:xfrm>
          <a:prstGeom prst="bentConnector2">
            <a:avLst/>
          </a:prstGeom>
          <a:ln>
            <a:tailEnd type="triangle"/>
          </a:ln>
        </p:spPr>
        <p:style>
          <a:lnRef idx="3">
            <a:schemeClr val="accent3"/>
          </a:lnRef>
          <a:fillRef idx="0">
            <a:schemeClr val="accent3"/>
          </a:fillRef>
          <a:effectRef idx="2">
            <a:schemeClr val="accent3"/>
          </a:effectRef>
          <a:fontRef idx="minor">
            <a:schemeClr val="tx1"/>
          </a:fontRef>
        </p:style>
      </p:cxnSp>
      <p:cxnSp>
        <p:nvCxnSpPr>
          <p:cNvPr id="53" name="连接符: 肘形 52">
            <a:extLst>
              <a:ext uri="{FF2B5EF4-FFF2-40B4-BE49-F238E27FC236}">
                <a16:creationId xmlns:a16="http://schemas.microsoft.com/office/drawing/2014/main" id="{2FABD64A-29EC-EE7C-A3F6-D980F39F1221}"/>
              </a:ext>
            </a:extLst>
          </p:cNvPr>
          <p:cNvCxnSpPr>
            <a:cxnSpLocks/>
            <a:endCxn id="37" idx="0"/>
          </p:cNvCxnSpPr>
          <p:nvPr/>
        </p:nvCxnSpPr>
        <p:spPr>
          <a:xfrm rot="10800000" flipV="1">
            <a:off x="4414380" y="2621107"/>
            <a:ext cx="3660893" cy="742169"/>
          </a:xfrm>
          <a:prstGeom prst="bentConnector2">
            <a:avLst/>
          </a:prstGeom>
          <a:ln>
            <a:tailEnd type="triangle"/>
          </a:ln>
        </p:spPr>
        <p:style>
          <a:lnRef idx="3">
            <a:schemeClr val="accent3"/>
          </a:lnRef>
          <a:fillRef idx="0">
            <a:schemeClr val="accent3"/>
          </a:fillRef>
          <a:effectRef idx="2">
            <a:schemeClr val="accent3"/>
          </a:effectRef>
          <a:fontRef idx="minor">
            <a:schemeClr val="tx1"/>
          </a:fontRef>
        </p:style>
      </p:cxnSp>
      <p:cxnSp>
        <p:nvCxnSpPr>
          <p:cNvPr id="56" name="直接箭头连接符 55">
            <a:extLst>
              <a:ext uri="{FF2B5EF4-FFF2-40B4-BE49-F238E27FC236}">
                <a16:creationId xmlns:a16="http://schemas.microsoft.com/office/drawing/2014/main" id="{88C907FD-230B-C6A3-B7E7-CC942295414A}"/>
              </a:ext>
            </a:extLst>
          </p:cNvPr>
          <p:cNvCxnSpPr>
            <a:cxnSpLocks/>
            <a:stCxn id="38" idx="2"/>
            <a:endCxn id="32" idx="0"/>
          </p:cNvCxnSpPr>
          <p:nvPr/>
        </p:nvCxnSpPr>
        <p:spPr>
          <a:xfrm flipH="1">
            <a:off x="8733364" y="3726702"/>
            <a:ext cx="1307332" cy="1705805"/>
          </a:xfrm>
          <a:prstGeom prst="straightConnector1">
            <a:avLst/>
          </a:prstGeom>
          <a:ln>
            <a:tailEnd type="triangle"/>
          </a:ln>
        </p:spPr>
        <p:style>
          <a:lnRef idx="3">
            <a:schemeClr val="accent1"/>
          </a:lnRef>
          <a:fillRef idx="0">
            <a:schemeClr val="accent1"/>
          </a:fillRef>
          <a:effectRef idx="2">
            <a:schemeClr val="accent1"/>
          </a:effectRef>
          <a:fontRef idx="minor">
            <a:schemeClr val="tx1"/>
          </a:fontRef>
        </p:style>
      </p:cxnSp>
      <p:cxnSp>
        <p:nvCxnSpPr>
          <p:cNvPr id="57" name="直接箭头连接符 56">
            <a:extLst>
              <a:ext uri="{FF2B5EF4-FFF2-40B4-BE49-F238E27FC236}">
                <a16:creationId xmlns:a16="http://schemas.microsoft.com/office/drawing/2014/main" id="{610BB40E-7CDB-74D8-1DF8-EFDC19B0D89A}"/>
              </a:ext>
            </a:extLst>
          </p:cNvPr>
          <p:cNvCxnSpPr>
            <a:cxnSpLocks/>
            <a:endCxn id="31" idx="0"/>
          </p:cNvCxnSpPr>
          <p:nvPr/>
        </p:nvCxnSpPr>
        <p:spPr>
          <a:xfrm flipH="1">
            <a:off x="7297356" y="3723994"/>
            <a:ext cx="1482205" cy="1699816"/>
          </a:xfrm>
          <a:prstGeom prst="straightConnector1">
            <a:avLst/>
          </a:prstGeom>
          <a:ln>
            <a:tailEnd type="triangle"/>
          </a:ln>
        </p:spPr>
        <p:style>
          <a:lnRef idx="3">
            <a:schemeClr val="accent1"/>
          </a:lnRef>
          <a:fillRef idx="0">
            <a:schemeClr val="accent1"/>
          </a:fillRef>
          <a:effectRef idx="2">
            <a:schemeClr val="accent1"/>
          </a:effectRef>
          <a:fontRef idx="minor">
            <a:schemeClr val="tx1"/>
          </a:fontRef>
        </p:style>
      </p:cxnSp>
      <p:cxnSp>
        <p:nvCxnSpPr>
          <p:cNvPr id="59" name="直接箭头连接符 58">
            <a:extLst>
              <a:ext uri="{FF2B5EF4-FFF2-40B4-BE49-F238E27FC236}">
                <a16:creationId xmlns:a16="http://schemas.microsoft.com/office/drawing/2014/main" id="{D38A6C72-1E26-062D-1A0A-004DF76AFA19}"/>
              </a:ext>
            </a:extLst>
          </p:cNvPr>
          <p:cNvCxnSpPr>
            <a:cxnSpLocks/>
          </p:cNvCxnSpPr>
          <p:nvPr/>
        </p:nvCxnSpPr>
        <p:spPr>
          <a:xfrm flipH="1">
            <a:off x="5807726" y="3700461"/>
            <a:ext cx="1482205" cy="1699816"/>
          </a:xfrm>
          <a:prstGeom prst="straightConnector1">
            <a:avLst/>
          </a:prstGeom>
          <a:ln>
            <a:tailEnd type="triangle"/>
          </a:ln>
        </p:spPr>
        <p:style>
          <a:lnRef idx="3">
            <a:schemeClr val="accent1"/>
          </a:lnRef>
          <a:fillRef idx="0">
            <a:schemeClr val="accent1"/>
          </a:fillRef>
          <a:effectRef idx="2">
            <a:schemeClr val="accent1"/>
          </a:effectRef>
          <a:fontRef idx="minor">
            <a:schemeClr val="tx1"/>
          </a:fontRef>
        </p:style>
      </p:cxnSp>
      <p:cxnSp>
        <p:nvCxnSpPr>
          <p:cNvPr id="64" name="直接箭头连接符 63">
            <a:extLst>
              <a:ext uri="{FF2B5EF4-FFF2-40B4-BE49-F238E27FC236}">
                <a16:creationId xmlns:a16="http://schemas.microsoft.com/office/drawing/2014/main" id="{4B4C8E4D-71AA-D68C-8735-E2D71C1385EA}"/>
              </a:ext>
            </a:extLst>
          </p:cNvPr>
          <p:cNvCxnSpPr>
            <a:cxnSpLocks/>
          </p:cNvCxnSpPr>
          <p:nvPr/>
        </p:nvCxnSpPr>
        <p:spPr>
          <a:xfrm flipH="1">
            <a:off x="4331178" y="3747527"/>
            <a:ext cx="1482205" cy="1699816"/>
          </a:xfrm>
          <a:prstGeom prst="straightConnector1">
            <a:avLst/>
          </a:prstGeom>
          <a:ln>
            <a:tailEnd type="triangle"/>
          </a:ln>
        </p:spPr>
        <p:style>
          <a:lnRef idx="3">
            <a:schemeClr val="accent1"/>
          </a:lnRef>
          <a:fillRef idx="0">
            <a:schemeClr val="accent1"/>
          </a:fillRef>
          <a:effectRef idx="2">
            <a:schemeClr val="accent1"/>
          </a:effectRef>
          <a:fontRef idx="minor">
            <a:schemeClr val="tx1"/>
          </a:fontRef>
        </p:style>
      </p:cxnSp>
      <p:cxnSp>
        <p:nvCxnSpPr>
          <p:cNvPr id="65" name="直接箭头连接符 64">
            <a:extLst>
              <a:ext uri="{FF2B5EF4-FFF2-40B4-BE49-F238E27FC236}">
                <a16:creationId xmlns:a16="http://schemas.microsoft.com/office/drawing/2014/main" id="{F875D392-0868-6B8C-6F04-8ACA9C4DB872}"/>
              </a:ext>
            </a:extLst>
          </p:cNvPr>
          <p:cNvCxnSpPr>
            <a:cxnSpLocks/>
            <a:endCxn id="28" idx="0"/>
          </p:cNvCxnSpPr>
          <p:nvPr/>
        </p:nvCxnSpPr>
        <p:spPr>
          <a:xfrm flipH="1">
            <a:off x="3002204" y="3740909"/>
            <a:ext cx="1439544" cy="1682901"/>
          </a:xfrm>
          <a:prstGeom prst="straightConnector1">
            <a:avLst/>
          </a:prstGeom>
          <a:ln>
            <a:tailEnd type="triangle"/>
          </a:ln>
        </p:spPr>
        <p:style>
          <a:lnRef idx="3">
            <a:schemeClr val="accent1"/>
          </a:lnRef>
          <a:fillRef idx="0">
            <a:schemeClr val="accent1"/>
          </a:fillRef>
          <a:effectRef idx="2">
            <a:schemeClr val="accent1"/>
          </a:effectRef>
          <a:fontRef idx="minor">
            <a:schemeClr val="tx1"/>
          </a:fontRef>
        </p:style>
      </p:cxnSp>
      <p:sp>
        <p:nvSpPr>
          <p:cNvPr id="67" name="文本框 66">
            <a:extLst>
              <a:ext uri="{FF2B5EF4-FFF2-40B4-BE49-F238E27FC236}">
                <a16:creationId xmlns:a16="http://schemas.microsoft.com/office/drawing/2014/main" id="{86E7BD3A-99CA-CA2E-7DA1-CEE57E430278}"/>
              </a:ext>
            </a:extLst>
          </p:cNvPr>
          <p:cNvSpPr txBox="1"/>
          <p:nvPr/>
        </p:nvSpPr>
        <p:spPr>
          <a:xfrm>
            <a:off x="813979" y="877820"/>
            <a:ext cx="2650833" cy="646331"/>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PLF</a:t>
            </a:r>
            <a:r>
              <a:rPr lang="zh-CN" altLang="en-US" dirty="0">
                <a:latin typeface="Arial" panose="020B0604020202020204" pitchFamily="34" charset="0"/>
                <a:ea typeface="微软雅黑" panose="020B0503020204020204" pitchFamily="34" charset="-122"/>
              </a:rPr>
              <a:t>为</a:t>
            </a:r>
            <a:r>
              <a:rPr lang="en-US" altLang="zh-CN" dirty="0">
                <a:latin typeface="Arial" panose="020B0604020202020204" pitchFamily="34" charset="0"/>
                <a:ea typeface="微软雅黑" panose="020B0503020204020204" pitchFamily="34" charset="-122"/>
              </a:rPr>
              <a:t>FG</a:t>
            </a:r>
            <a:r>
              <a:rPr lang="zh-CN" altLang="en-US" dirty="0">
                <a:latin typeface="Arial" panose="020B0604020202020204" pitchFamily="34" charset="0"/>
                <a:ea typeface="微软雅黑" panose="020B0503020204020204" pitchFamily="34" charset="-122"/>
              </a:rPr>
              <a:t>计划的工单</a:t>
            </a:r>
            <a:endParaRPr lang="en-US" altLang="zh-CN" dirty="0">
              <a:latin typeface="Arial" panose="020B0604020202020204" pitchFamily="34" charset="0"/>
              <a:ea typeface="微软雅黑" panose="020B0503020204020204" pitchFamily="34" charset="-122"/>
            </a:endParaRPr>
          </a:p>
          <a:p>
            <a:r>
              <a:rPr lang="en-US" altLang="zh-CN" dirty="0">
                <a:latin typeface="Arial" panose="020B0604020202020204" pitchFamily="34" charset="0"/>
                <a:ea typeface="微软雅黑" panose="020B0503020204020204" pitchFamily="34" charset="-122"/>
              </a:rPr>
              <a:t>PLG</a:t>
            </a:r>
            <a:r>
              <a:rPr lang="zh-CN" altLang="en-US" dirty="0">
                <a:latin typeface="Arial" panose="020B0604020202020204" pitchFamily="34" charset="0"/>
                <a:ea typeface="微软雅黑" panose="020B0503020204020204" pitchFamily="34" charset="-122"/>
              </a:rPr>
              <a:t>为</a:t>
            </a:r>
            <a:r>
              <a:rPr lang="en-US" altLang="zh-CN" dirty="0">
                <a:latin typeface="Arial" panose="020B0604020202020204" pitchFamily="34" charset="0"/>
                <a:ea typeface="微软雅黑" panose="020B0503020204020204" pitchFamily="34" charset="-122"/>
              </a:rPr>
              <a:t>GB</a:t>
            </a:r>
            <a:r>
              <a:rPr lang="zh-CN" altLang="en-US" dirty="0">
                <a:latin typeface="Arial" panose="020B0604020202020204" pitchFamily="34" charset="0"/>
                <a:ea typeface="微软雅黑" panose="020B0503020204020204" pitchFamily="34" charset="-122"/>
              </a:rPr>
              <a:t>的工单</a:t>
            </a:r>
          </a:p>
        </p:txBody>
      </p:sp>
    </p:spTree>
    <p:extLst>
      <p:ext uri="{BB962C8B-B14F-4D97-AF65-F5344CB8AC3E}">
        <p14:creationId xmlns:p14="http://schemas.microsoft.com/office/powerpoint/2010/main" val="17302264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5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9"/>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6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6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矩形 51">
            <a:extLst>
              <a:ext uri="{FF2B5EF4-FFF2-40B4-BE49-F238E27FC236}">
                <a16:creationId xmlns:a16="http://schemas.microsoft.com/office/drawing/2014/main" id="{9ABE6AF4-BD11-944D-45CA-E5FE2AAB8637}"/>
              </a:ext>
            </a:extLst>
          </p:cNvPr>
          <p:cNvSpPr/>
          <p:nvPr/>
        </p:nvSpPr>
        <p:spPr>
          <a:xfrm>
            <a:off x="6865374" y="2227006"/>
            <a:ext cx="4992329" cy="2979175"/>
          </a:xfrm>
          <a:prstGeom prst="rect">
            <a:avLst/>
          </a:prstGeom>
          <a:solidFill>
            <a:schemeClr val="accent4">
              <a:lumMod val="50000"/>
            </a:schemeClr>
          </a:solidFill>
          <a:ln>
            <a:solidFill>
              <a:schemeClr val="tx1"/>
            </a:solidFill>
          </a:ln>
        </p:spPr>
        <p:style>
          <a:lnRef idx="1">
            <a:schemeClr val="accent3"/>
          </a:lnRef>
          <a:fillRef idx="3">
            <a:schemeClr val="accent3"/>
          </a:fillRef>
          <a:effectRef idx="2">
            <a:schemeClr val="accent3"/>
          </a:effectRef>
          <a:fontRef idx="minor">
            <a:schemeClr val="lt1"/>
          </a:fontRef>
        </p:style>
        <p:txBody>
          <a:bodyPr lIns="182880" tIns="182880" rIns="182880" bIns="182880" rtlCol="0" anchor="t"/>
          <a:lstStyle/>
          <a:p>
            <a:pPr algn="l"/>
            <a:endParaRPr lang="zh-CN" altLang="en-US" sz="1600" dirty="0" err="1">
              <a:solidFill>
                <a:prstClr val="white"/>
              </a:solidFill>
              <a:latin typeface="微软雅黑" panose="020B0503020204020204" pitchFamily="34" charset="-122"/>
              <a:ea typeface="微软雅黑" panose="020B0503020204020204" pitchFamily="34" charset="-122"/>
            </a:endParaRPr>
          </a:p>
        </p:txBody>
      </p:sp>
      <p:sp>
        <p:nvSpPr>
          <p:cNvPr id="2" name="标题 1">
            <a:extLst>
              <a:ext uri="{FF2B5EF4-FFF2-40B4-BE49-F238E27FC236}">
                <a16:creationId xmlns:a16="http://schemas.microsoft.com/office/drawing/2014/main" id="{A8185940-C48D-E6F9-3E6D-2480532B71FA}"/>
              </a:ext>
            </a:extLst>
          </p:cNvPr>
          <p:cNvSpPr>
            <a:spLocks noGrp="1"/>
          </p:cNvSpPr>
          <p:nvPr>
            <p:ph type="title"/>
          </p:nvPr>
        </p:nvSpPr>
        <p:spPr/>
        <p:txBody>
          <a:bodyPr/>
          <a:lstStyle/>
          <a:p>
            <a:r>
              <a:rPr lang="zh-CN" altLang="en-US" dirty="0">
                <a:solidFill>
                  <a:schemeClr val="bg1"/>
                </a:solidFill>
                <a:latin typeface="Arial" panose="020B0604020202020204" pitchFamily="34" charset="0"/>
                <a:ea typeface="微软雅黑" panose="020B0503020204020204" pitchFamily="34" charset="-122"/>
              </a:rPr>
              <a:t>计划的脊梁</a:t>
            </a:r>
            <a:r>
              <a:rPr lang="en-US" altLang="zh-CN" dirty="0">
                <a:solidFill>
                  <a:schemeClr val="bg1"/>
                </a:solidFill>
                <a:latin typeface="Arial" panose="020B0604020202020204" pitchFamily="34" charset="0"/>
                <a:ea typeface="微软雅黑" panose="020B0503020204020204" pitchFamily="34" charset="-122"/>
              </a:rPr>
              <a:t>-PEGGING</a:t>
            </a:r>
            <a:endParaRPr lang="zh-CN" altLang="en-US" dirty="0">
              <a:solidFill>
                <a:schemeClr val="bg1"/>
              </a:solidFill>
              <a:latin typeface="Arial" panose="020B0604020202020204" pitchFamily="34" charset="0"/>
              <a:ea typeface="微软雅黑" panose="020B0503020204020204" pitchFamily="34" charset="-122"/>
            </a:endParaRPr>
          </a:p>
        </p:txBody>
      </p:sp>
      <p:grpSp>
        <p:nvGrpSpPr>
          <p:cNvPr id="50" name="组合 49">
            <a:extLst>
              <a:ext uri="{FF2B5EF4-FFF2-40B4-BE49-F238E27FC236}">
                <a16:creationId xmlns:a16="http://schemas.microsoft.com/office/drawing/2014/main" id="{4465324C-F7D3-AA06-9F82-745AA1AC8165}"/>
              </a:ext>
            </a:extLst>
          </p:cNvPr>
          <p:cNvGrpSpPr/>
          <p:nvPr/>
        </p:nvGrpSpPr>
        <p:grpSpPr>
          <a:xfrm>
            <a:off x="704644" y="1460090"/>
            <a:ext cx="10895665" cy="4884242"/>
            <a:chOff x="432613" y="927060"/>
            <a:chExt cx="11167696" cy="5417272"/>
          </a:xfrm>
        </p:grpSpPr>
        <p:grpSp>
          <p:nvGrpSpPr>
            <p:cNvPr id="3" name="组合 2">
              <a:extLst>
                <a:ext uri="{FF2B5EF4-FFF2-40B4-BE49-F238E27FC236}">
                  <a16:creationId xmlns:a16="http://schemas.microsoft.com/office/drawing/2014/main" id="{04EFE495-6C6B-99D7-1527-5CEBAB7088A7}"/>
                </a:ext>
              </a:extLst>
            </p:cNvPr>
            <p:cNvGrpSpPr/>
            <p:nvPr/>
          </p:nvGrpSpPr>
          <p:grpSpPr>
            <a:xfrm>
              <a:off x="432613" y="927060"/>
              <a:ext cx="2322874" cy="5388101"/>
              <a:chOff x="432613" y="1090833"/>
              <a:chExt cx="2322874" cy="6076763"/>
            </a:xfrm>
          </p:grpSpPr>
          <p:sp>
            <p:nvSpPr>
              <p:cNvPr id="4" name="矩形: 圆角 3">
                <a:extLst>
                  <a:ext uri="{FF2B5EF4-FFF2-40B4-BE49-F238E27FC236}">
                    <a16:creationId xmlns:a16="http://schemas.microsoft.com/office/drawing/2014/main" id="{97299CB0-4395-8775-56B6-C39A10E0ADB0}"/>
                  </a:ext>
                </a:extLst>
              </p:cNvPr>
              <p:cNvSpPr/>
              <p:nvPr/>
            </p:nvSpPr>
            <p:spPr>
              <a:xfrm>
                <a:off x="460204" y="1090833"/>
                <a:ext cx="1673414" cy="830730"/>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zh-CN" altLang="en-US" sz="1600" dirty="0"/>
              </a:p>
            </p:txBody>
          </p:sp>
          <p:sp>
            <p:nvSpPr>
              <p:cNvPr id="5" name="矩形 4">
                <a:extLst>
                  <a:ext uri="{FF2B5EF4-FFF2-40B4-BE49-F238E27FC236}">
                    <a16:creationId xmlns:a16="http://schemas.microsoft.com/office/drawing/2014/main" id="{CC1804E2-2BD7-1874-3EB8-C4AFFD4EA549}"/>
                  </a:ext>
                </a:extLst>
              </p:cNvPr>
              <p:cNvSpPr/>
              <p:nvPr/>
            </p:nvSpPr>
            <p:spPr>
              <a:xfrm>
                <a:off x="591690" y="1206894"/>
                <a:ext cx="720000" cy="180000"/>
              </a:xfrm>
              <a:prstGeom prst="rect">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r>
                  <a:rPr lang="zh-CN" altLang="en-US" sz="1100" b="1" dirty="0">
                    <a:latin typeface="Arial" panose="020B0604020202020204" pitchFamily="34" charset="0"/>
                    <a:ea typeface="微软雅黑" panose="020B0503020204020204" pitchFamily="34" charset="-122"/>
                  </a:rPr>
                  <a:t>成品 </a:t>
                </a:r>
                <a:r>
                  <a:rPr lang="en-US" altLang="zh-CN" sz="1100" b="1" dirty="0">
                    <a:latin typeface="Arial" panose="020B0604020202020204" pitchFamily="34" charset="0"/>
                    <a:ea typeface="微软雅黑" panose="020B0503020204020204" pitchFamily="34" charset="-122"/>
                  </a:rPr>
                  <a:t>A</a:t>
                </a:r>
                <a:endParaRPr lang="zh-CN" altLang="en-US" sz="1100" b="1" dirty="0">
                  <a:latin typeface="Arial" panose="020B0604020202020204" pitchFamily="34" charset="0"/>
                  <a:ea typeface="微软雅黑" panose="020B0503020204020204" pitchFamily="34" charset="-122"/>
                </a:endParaRPr>
              </a:p>
            </p:txBody>
          </p:sp>
          <p:sp>
            <p:nvSpPr>
              <p:cNvPr id="6" name="矩形 5">
                <a:extLst>
                  <a:ext uri="{FF2B5EF4-FFF2-40B4-BE49-F238E27FC236}">
                    <a16:creationId xmlns:a16="http://schemas.microsoft.com/office/drawing/2014/main" id="{0D424E8B-7970-D300-3DEE-A8C0E569C0F5}"/>
                  </a:ext>
                </a:extLst>
              </p:cNvPr>
              <p:cNvSpPr/>
              <p:nvPr/>
            </p:nvSpPr>
            <p:spPr>
              <a:xfrm>
                <a:off x="582562" y="1625503"/>
                <a:ext cx="720000" cy="180000"/>
              </a:xfrm>
              <a:prstGeom prst="rect">
                <a:avLst/>
              </a:prstGeom>
              <a:solidFill>
                <a:srgbClr val="388600"/>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r>
                  <a:rPr lang="zh-CN" altLang="en-US" sz="1100" b="1" dirty="0">
                    <a:latin typeface="Arial" panose="020B0604020202020204" pitchFamily="34" charset="0"/>
                    <a:ea typeface="微软雅黑" panose="020B0503020204020204" pitchFamily="34" charset="-122"/>
                  </a:rPr>
                  <a:t>供应 </a:t>
                </a:r>
                <a:r>
                  <a:rPr lang="en-US" altLang="zh-CN" sz="1100" b="1" dirty="0">
                    <a:latin typeface="Arial" panose="020B0604020202020204" pitchFamily="34" charset="0"/>
                    <a:ea typeface="微软雅黑" panose="020B0503020204020204" pitchFamily="34" charset="-122"/>
                  </a:rPr>
                  <a:t>A</a:t>
                </a:r>
                <a:endParaRPr lang="zh-CN" altLang="en-US" sz="1100" b="1" dirty="0">
                  <a:latin typeface="Arial" panose="020B0604020202020204" pitchFamily="34" charset="0"/>
                  <a:ea typeface="微软雅黑" panose="020B0503020204020204" pitchFamily="34" charset="-122"/>
                </a:endParaRPr>
              </a:p>
            </p:txBody>
          </p:sp>
          <p:cxnSp>
            <p:nvCxnSpPr>
              <p:cNvPr id="7" name="直接箭头连接符 6">
                <a:extLst>
                  <a:ext uri="{FF2B5EF4-FFF2-40B4-BE49-F238E27FC236}">
                    <a16:creationId xmlns:a16="http://schemas.microsoft.com/office/drawing/2014/main" id="{B935613E-11BF-FF60-323E-A29EBAE2FD93}"/>
                  </a:ext>
                </a:extLst>
              </p:cNvPr>
              <p:cNvCxnSpPr>
                <a:cxnSpLocks/>
                <a:stCxn id="5" idx="2"/>
                <a:endCxn id="6" idx="0"/>
              </p:cNvCxnSpPr>
              <p:nvPr/>
            </p:nvCxnSpPr>
            <p:spPr>
              <a:xfrm flipH="1">
                <a:off x="942562" y="1386894"/>
                <a:ext cx="9128" cy="238609"/>
              </a:xfrm>
              <a:prstGeom prst="straightConnector1">
                <a:avLst/>
              </a:prstGeom>
              <a:ln>
                <a:headEnd type="triangle"/>
                <a:tailEnd type="triangle"/>
              </a:ln>
            </p:spPr>
            <p:style>
              <a:lnRef idx="1">
                <a:schemeClr val="dk1"/>
              </a:lnRef>
              <a:fillRef idx="0">
                <a:schemeClr val="dk1"/>
              </a:fillRef>
              <a:effectRef idx="0">
                <a:schemeClr val="dk1"/>
              </a:effectRef>
              <a:fontRef idx="minor">
                <a:schemeClr val="tx1"/>
              </a:fontRef>
            </p:style>
          </p:cxnSp>
          <p:sp>
            <p:nvSpPr>
              <p:cNvPr id="8" name="文本框 7">
                <a:extLst>
                  <a:ext uri="{FF2B5EF4-FFF2-40B4-BE49-F238E27FC236}">
                    <a16:creationId xmlns:a16="http://schemas.microsoft.com/office/drawing/2014/main" id="{09A847CD-8B5B-DC93-ECD8-6D8B8949EFE5}"/>
                  </a:ext>
                </a:extLst>
              </p:cNvPr>
              <p:cNvSpPr txBox="1"/>
              <p:nvPr/>
            </p:nvSpPr>
            <p:spPr>
              <a:xfrm>
                <a:off x="1327824" y="1351859"/>
                <a:ext cx="1427663" cy="461995"/>
              </a:xfrm>
              <a:prstGeom prst="rect">
                <a:avLst/>
              </a:prstGeom>
              <a:noFill/>
            </p:spPr>
            <p:txBody>
              <a:bodyPr wrap="square" rtlCol="0">
                <a:spAutoFit/>
              </a:bodyPr>
              <a:lstStyle/>
              <a:p>
                <a:r>
                  <a:rPr lang="zh-CN" altLang="en-US" sz="900" b="1" dirty="0">
                    <a:latin typeface="Arial" panose="020B0604020202020204" pitchFamily="34" charset="0"/>
                    <a:ea typeface="微软雅黑" panose="020B0503020204020204" pitchFamily="34" charset="-122"/>
                  </a:rPr>
                  <a:t>供需匹配</a:t>
                </a:r>
                <a:endParaRPr lang="en-US" altLang="zh-CN" sz="900" b="1" dirty="0">
                  <a:latin typeface="Arial" panose="020B0604020202020204" pitchFamily="34" charset="0"/>
                  <a:ea typeface="微软雅黑" panose="020B0503020204020204" pitchFamily="34" charset="-122"/>
                </a:endParaRPr>
              </a:p>
              <a:p>
                <a:r>
                  <a:rPr lang="en-US" altLang="zh-CN" sz="900" b="1" dirty="0">
                    <a:latin typeface="Arial" panose="020B0604020202020204" pitchFamily="34" charset="0"/>
                    <a:ea typeface="微软雅黑" panose="020B0503020204020204" pitchFamily="34" charset="-122"/>
                  </a:rPr>
                  <a:t>Planned A</a:t>
                </a:r>
                <a:endParaRPr lang="zh-CN" altLang="en-US" sz="900" b="1" dirty="0">
                  <a:latin typeface="Arial" panose="020B0604020202020204" pitchFamily="34" charset="0"/>
                  <a:ea typeface="微软雅黑" panose="020B0503020204020204" pitchFamily="34" charset="-122"/>
                </a:endParaRPr>
              </a:p>
            </p:txBody>
          </p:sp>
          <p:grpSp>
            <p:nvGrpSpPr>
              <p:cNvPr id="9" name="组合 8">
                <a:extLst>
                  <a:ext uri="{FF2B5EF4-FFF2-40B4-BE49-F238E27FC236}">
                    <a16:creationId xmlns:a16="http://schemas.microsoft.com/office/drawing/2014/main" id="{002A7E06-8899-4E92-15E9-8361439D3ADA}"/>
                  </a:ext>
                </a:extLst>
              </p:cNvPr>
              <p:cNvGrpSpPr/>
              <p:nvPr/>
            </p:nvGrpSpPr>
            <p:grpSpPr>
              <a:xfrm>
                <a:off x="460204" y="2432514"/>
                <a:ext cx="1848850" cy="830730"/>
                <a:chOff x="1141504" y="2432514"/>
                <a:chExt cx="1848850" cy="830730"/>
              </a:xfrm>
            </p:grpSpPr>
            <p:sp>
              <p:nvSpPr>
                <p:cNvPr id="34" name="矩形: 圆角 33">
                  <a:extLst>
                    <a:ext uri="{FF2B5EF4-FFF2-40B4-BE49-F238E27FC236}">
                      <a16:creationId xmlns:a16="http://schemas.microsoft.com/office/drawing/2014/main" id="{EE40EC63-6E41-11BD-038A-C4C24DCD0918}"/>
                    </a:ext>
                  </a:extLst>
                </p:cNvPr>
                <p:cNvSpPr/>
                <p:nvPr/>
              </p:nvSpPr>
              <p:spPr>
                <a:xfrm>
                  <a:off x="1141504" y="2432514"/>
                  <a:ext cx="1673414" cy="830730"/>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zh-CN" altLang="en-US" sz="1600" dirty="0"/>
                </a:p>
              </p:txBody>
            </p:sp>
            <p:sp>
              <p:nvSpPr>
                <p:cNvPr id="35" name="矩形 34">
                  <a:extLst>
                    <a:ext uri="{FF2B5EF4-FFF2-40B4-BE49-F238E27FC236}">
                      <a16:creationId xmlns:a16="http://schemas.microsoft.com/office/drawing/2014/main" id="{81C1BB01-EEB2-35BE-6ED9-FB1FB04E401D}"/>
                    </a:ext>
                  </a:extLst>
                </p:cNvPr>
                <p:cNvSpPr/>
                <p:nvPr/>
              </p:nvSpPr>
              <p:spPr>
                <a:xfrm>
                  <a:off x="1272990" y="2548575"/>
                  <a:ext cx="720000" cy="180000"/>
                </a:xfrm>
                <a:prstGeom prst="rect">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r>
                    <a:rPr lang="zh-CN" altLang="en-US" sz="1100" b="1" dirty="0">
                      <a:latin typeface="Arial" panose="020B0604020202020204" pitchFamily="34" charset="0"/>
                      <a:ea typeface="微软雅黑" panose="020B0503020204020204" pitchFamily="34" charset="-122"/>
                    </a:rPr>
                    <a:t>组件 </a:t>
                  </a:r>
                  <a:r>
                    <a:rPr lang="en-US" altLang="zh-CN" sz="1100" b="1" dirty="0">
                      <a:latin typeface="Arial" panose="020B0604020202020204" pitchFamily="34" charset="0"/>
                      <a:ea typeface="微软雅黑" panose="020B0503020204020204" pitchFamily="34" charset="-122"/>
                    </a:rPr>
                    <a:t>B</a:t>
                  </a:r>
                  <a:endParaRPr lang="zh-CN" altLang="en-US" sz="1100" b="1" dirty="0">
                    <a:latin typeface="Arial" panose="020B0604020202020204" pitchFamily="34" charset="0"/>
                    <a:ea typeface="微软雅黑" panose="020B0503020204020204" pitchFamily="34" charset="-122"/>
                  </a:endParaRPr>
                </a:p>
              </p:txBody>
            </p:sp>
            <p:sp>
              <p:nvSpPr>
                <p:cNvPr id="36" name="矩形 35">
                  <a:extLst>
                    <a:ext uri="{FF2B5EF4-FFF2-40B4-BE49-F238E27FC236}">
                      <a16:creationId xmlns:a16="http://schemas.microsoft.com/office/drawing/2014/main" id="{94DC8422-6DCA-D7C1-B0E3-E8733BEB09ED}"/>
                    </a:ext>
                  </a:extLst>
                </p:cNvPr>
                <p:cNvSpPr/>
                <p:nvPr/>
              </p:nvSpPr>
              <p:spPr>
                <a:xfrm>
                  <a:off x="1263862" y="2967184"/>
                  <a:ext cx="720000" cy="180000"/>
                </a:xfrm>
                <a:prstGeom prst="rect">
                  <a:avLst/>
                </a:prstGeom>
                <a:solidFill>
                  <a:srgbClr val="388600"/>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r>
                    <a:rPr lang="zh-CN" altLang="en-US" sz="1100" b="1" dirty="0">
                      <a:latin typeface="Arial" panose="020B0604020202020204" pitchFamily="34" charset="0"/>
                      <a:ea typeface="微软雅黑" panose="020B0503020204020204" pitchFamily="34" charset="-122"/>
                    </a:rPr>
                    <a:t>组件 </a:t>
                  </a:r>
                  <a:r>
                    <a:rPr lang="en-US" altLang="zh-CN" sz="1100" b="1" dirty="0">
                      <a:latin typeface="Arial" panose="020B0604020202020204" pitchFamily="34" charset="0"/>
                      <a:ea typeface="微软雅黑" panose="020B0503020204020204" pitchFamily="34" charset="-122"/>
                    </a:rPr>
                    <a:t>B</a:t>
                  </a:r>
                  <a:endParaRPr lang="zh-CN" altLang="en-US" sz="1100" b="1" dirty="0">
                    <a:latin typeface="Arial" panose="020B0604020202020204" pitchFamily="34" charset="0"/>
                    <a:ea typeface="微软雅黑" panose="020B0503020204020204" pitchFamily="34" charset="-122"/>
                  </a:endParaRPr>
                </a:p>
              </p:txBody>
            </p:sp>
            <p:cxnSp>
              <p:nvCxnSpPr>
                <p:cNvPr id="37" name="直接箭头连接符 36">
                  <a:extLst>
                    <a:ext uri="{FF2B5EF4-FFF2-40B4-BE49-F238E27FC236}">
                      <a16:creationId xmlns:a16="http://schemas.microsoft.com/office/drawing/2014/main" id="{E1666361-ED95-026C-F52A-E519FA7013EF}"/>
                    </a:ext>
                  </a:extLst>
                </p:cNvPr>
                <p:cNvCxnSpPr>
                  <a:cxnSpLocks/>
                  <a:stCxn id="35" idx="2"/>
                  <a:endCxn id="36" idx="0"/>
                </p:cNvCxnSpPr>
                <p:nvPr/>
              </p:nvCxnSpPr>
              <p:spPr>
                <a:xfrm flipH="1">
                  <a:off x="1623862" y="2728575"/>
                  <a:ext cx="9128" cy="238609"/>
                </a:xfrm>
                <a:prstGeom prst="straightConnector1">
                  <a:avLst/>
                </a:prstGeom>
                <a:ln>
                  <a:headEnd type="triangle"/>
                  <a:tailEnd type="triangle"/>
                </a:ln>
              </p:spPr>
              <p:style>
                <a:lnRef idx="1">
                  <a:schemeClr val="dk1"/>
                </a:lnRef>
                <a:fillRef idx="0">
                  <a:schemeClr val="dk1"/>
                </a:fillRef>
                <a:effectRef idx="0">
                  <a:schemeClr val="dk1"/>
                </a:effectRef>
                <a:fontRef idx="minor">
                  <a:schemeClr val="tx1"/>
                </a:fontRef>
              </p:style>
            </p:cxnSp>
            <p:sp>
              <p:nvSpPr>
                <p:cNvPr id="38" name="文本框 37">
                  <a:extLst>
                    <a:ext uri="{FF2B5EF4-FFF2-40B4-BE49-F238E27FC236}">
                      <a16:creationId xmlns:a16="http://schemas.microsoft.com/office/drawing/2014/main" id="{B4B5D5C6-4338-F561-4C79-24A537745E38}"/>
                    </a:ext>
                  </a:extLst>
                </p:cNvPr>
                <p:cNvSpPr txBox="1"/>
                <p:nvPr/>
              </p:nvSpPr>
              <p:spPr>
                <a:xfrm>
                  <a:off x="2009124" y="2709379"/>
                  <a:ext cx="981230" cy="461995"/>
                </a:xfrm>
                <a:prstGeom prst="rect">
                  <a:avLst/>
                </a:prstGeom>
                <a:noFill/>
              </p:spPr>
              <p:txBody>
                <a:bodyPr wrap="square" rtlCol="0">
                  <a:spAutoFit/>
                </a:bodyPr>
                <a:lstStyle>
                  <a:defPPr>
                    <a:defRPr lang="zh-CN"/>
                  </a:defPPr>
                  <a:lvl1pPr>
                    <a:defRPr sz="1000" b="1"/>
                  </a:lvl1pPr>
                </a:lstStyle>
                <a:p>
                  <a:r>
                    <a:rPr lang="zh-CN" altLang="en-US" sz="900" dirty="0">
                      <a:latin typeface="Arial" panose="020B0604020202020204" pitchFamily="34" charset="0"/>
                      <a:ea typeface="微软雅黑" panose="020B0503020204020204" pitchFamily="34" charset="-122"/>
                    </a:rPr>
                    <a:t>供需匹配</a:t>
                  </a:r>
                  <a:endParaRPr lang="en-US" altLang="zh-CN" sz="900" dirty="0">
                    <a:latin typeface="Arial" panose="020B0604020202020204" pitchFamily="34" charset="0"/>
                    <a:ea typeface="微软雅黑" panose="020B0503020204020204" pitchFamily="34" charset="-122"/>
                  </a:endParaRPr>
                </a:p>
                <a:p>
                  <a:r>
                    <a:rPr lang="en-US" altLang="zh-CN" sz="900" dirty="0">
                      <a:latin typeface="Arial" panose="020B0604020202020204" pitchFamily="34" charset="0"/>
                      <a:ea typeface="微软雅黑" panose="020B0503020204020204" pitchFamily="34" charset="-122"/>
                    </a:rPr>
                    <a:t>Planned B</a:t>
                  </a:r>
                  <a:endParaRPr lang="zh-CN" altLang="en-US" sz="900" dirty="0">
                    <a:latin typeface="Arial" panose="020B0604020202020204" pitchFamily="34" charset="0"/>
                    <a:ea typeface="微软雅黑" panose="020B0503020204020204" pitchFamily="34" charset="-122"/>
                  </a:endParaRPr>
                </a:p>
              </p:txBody>
            </p:sp>
          </p:grpSp>
          <p:cxnSp>
            <p:nvCxnSpPr>
              <p:cNvPr id="10" name="直接箭头连接符 9">
                <a:extLst>
                  <a:ext uri="{FF2B5EF4-FFF2-40B4-BE49-F238E27FC236}">
                    <a16:creationId xmlns:a16="http://schemas.microsoft.com/office/drawing/2014/main" id="{722CE3C0-0B73-B3BC-086A-7A6292C16F6A}"/>
                  </a:ext>
                </a:extLst>
              </p:cNvPr>
              <p:cNvCxnSpPr>
                <a:stCxn id="4" idx="2"/>
                <a:endCxn id="34" idx="0"/>
              </p:cNvCxnSpPr>
              <p:nvPr/>
            </p:nvCxnSpPr>
            <p:spPr>
              <a:xfrm>
                <a:off x="1296911" y="1921563"/>
                <a:ext cx="0" cy="510951"/>
              </a:xfrm>
              <a:prstGeom prst="straightConnector1">
                <a:avLst/>
              </a:prstGeom>
              <a:ln w="25400">
                <a:headEnd type="triangle"/>
                <a:tailEnd type="triangle"/>
              </a:ln>
            </p:spPr>
            <p:style>
              <a:lnRef idx="1">
                <a:schemeClr val="dk1"/>
              </a:lnRef>
              <a:fillRef idx="0">
                <a:schemeClr val="dk1"/>
              </a:fillRef>
              <a:effectRef idx="0">
                <a:schemeClr val="dk1"/>
              </a:effectRef>
              <a:fontRef idx="minor">
                <a:schemeClr val="tx1"/>
              </a:fontRef>
            </p:style>
          </p:cxnSp>
          <p:sp>
            <p:nvSpPr>
              <p:cNvPr id="11" name="文本框 10">
                <a:extLst>
                  <a:ext uri="{FF2B5EF4-FFF2-40B4-BE49-F238E27FC236}">
                    <a16:creationId xmlns:a16="http://schemas.microsoft.com/office/drawing/2014/main" id="{BE2BC989-0EEA-B99C-0640-A48F20B6AD82}"/>
                  </a:ext>
                </a:extLst>
              </p:cNvPr>
              <p:cNvSpPr txBox="1"/>
              <p:nvPr/>
            </p:nvSpPr>
            <p:spPr>
              <a:xfrm>
                <a:off x="1296911" y="2055405"/>
                <a:ext cx="716146" cy="327246"/>
              </a:xfrm>
              <a:prstGeom prst="rect">
                <a:avLst/>
              </a:prstGeom>
              <a:noFill/>
            </p:spPr>
            <p:txBody>
              <a:bodyPr wrap="square" rtlCol="0">
                <a:spAutoFit/>
              </a:bodyPr>
              <a:lstStyle/>
              <a:p>
                <a:r>
                  <a:rPr lang="zh-CN" altLang="en-US" sz="1100" b="1" dirty="0">
                    <a:latin typeface="Arial" panose="020B0604020202020204" pitchFamily="34" charset="0"/>
                    <a:ea typeface="微软雅黑" panose="020B0503020204020204" pitchFamily="34" charset="-122"/>
                  </a:rPr>
                  <a:t>展开</a:t>
                </a:r>
              </a:p>
            </p:txBody>
          </p:sp>
          <p:grpSp>
            <p:nvGrpSpPr>
              <p:cNvPr id="12" name="组合 11">
                <a:extLst>
                  <a:ext uri="{FF2B5EF4-FFF2-40B4-BE49-F238E27FC236}">
                    <a16:creationId xmlns:a16="http://schemas.microsoft.com/office/drawing/2014/main" id="{44E40A12-4423-9822-B464-31D932D3DE97}"/>
                  </a:ext>
                </a:extLst>
              </p:cNvPr>
              <p:cNvGrpSpPr/>
              <p:nvPr/>
            </p:nvGrpSpPr>
            <p:grpSpPr>
              <a:xfrm>
                <a:off x="460204" y="3777452"/>
                <a:ext cx="1848850" cy="830730"/>
                <a:chOff x="1141504" y="2432514"/>
                <a:chExt cx="1848850" cy="830730"/>
              </a:xfrm>
            </p:grpSpPr>
            <p:sp>
              <p:nvSpPr>
                <p:cNvPr id="29" name="矩形: 圆角 28">
                  <a:extLst>
                    <a:ext uri="{FF2B5EF4-FFF2-40B4-BE49-F238E27FC236}">
                      <a16:creationId xmlns:a16="http://schemas.microsoft.com/office/drawing/2014/main" id="{0F901A82-0E29-4A54-9466-160811B9C7E4}"/>
                    </a:ext>
                  </a:extLst>
                </p:cNvPr>
                <p:cNvSpPr/>
                <p:nvPr/>
              </p:nvSpPr>
              <p:spPr>
                <a:xfrm>
                  <a:off x="1141504" y="2432514"/>
                  <a:ext cx="1673414" cy="830730"/>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zh-CN" altLang="en-US" sz="1600" dirty="0"/>
                </a:p>
              </p:txBody>
            </p:sp>
            <p:sp>
              <p:nvSpPr>
                <p:cNvPr id="30" name="矩形 29">
                  <a:extLst>
                    <a:ext uri="{FF2B5EF4-FFF2-40B4-BE49-F238E27FC236}">
                      <a16:creationId xmlns:a16="http://schemas.microsoft.com/office/drawing/2014/main" id="{3895EC04-1B3A-CF62-CF81-7DF7D87C1037}"/>
                    </a:ext>
                  </a:extLst>
                </p:cNvPr>
                <p:cNvSpPr/>
                <p:nvPr/>
              </p:nvSpPr>
              <p:spPr>
                <a:xfrm>
                  <a:off x="1272990" y="2548575"/>
                  <a:ext cx="720000" cy="180000"/>
                </a:xfrm>
                <a:prstGeom prst="rect">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r>
                    <a:rPr lang="zh-CN" altLang="en-US" sz="1100" b="1" dirty="0">
                      <a:latin typeface="Arial" panose="020B0604020202020204" pitchFamily="34" charset="0"/>
                      <a:ea typeface="微软雅黑" panose="020B0503020204020204" pitchFamily="34" charset="-122"/>
                    </a:rPr>
                    <a:t>组件 </a:t>
                  </a:r>
                  <a:r>
                    <a:rPr lang="en-US" altLang="zh-CN" sz="1100" b="1" dirty="0">
                      <a:latin typeface="Arial" panose="020B0604020202020204" pitchFamily="34" charset="0"/>
                      <a:ea typeface="微软雅黑" panose="020B0503020204020204" pitchFamily="34" charset="-122"/>
                    </a:rPr>
                    <a:t>C</a:t>
                  </a:r>
                  <a:endParaRPr lang="zh-CN" altLang="en-US" sz="1100" b="1" dirty="0">
                    <a:latin typeface="Arial" panose="020B0604020202020204" pitchFamily="34" charset="0"/>
                    <a:ea typeface="微软雅黑" panose="020B0503020204020204" pitchFamily="34" charset="-122"/>
                  </a:endParaRPr>
                </a:p>
              </p:txBody>
            </p:sp>
            <p:sp>
              <p:nvSpPr>
                <p:cNvPr id="31" name="矩形 30">
                  <a:extLst>
                    <a:ext uri="{FF2B5EF4-FFF2-40B4-BE49-F238E27FC236}">
                      <a16:creationId xmlns:a16="http://schemas.microsoft.com/office/drawing/2014/main" id="{48EBF227-EEE9-2742-6E44-12486071E998}"/>
                    </a:ext>
                  </a:extLst>
                </p:cNvPr>
                <p:cNvSpPr/>
                <p:nvPr/>
              </p:nvSpPr>
              <p:spPr>
                <a:xfrm>
                  <a:off x="1263862" y="2967184"/>
                  <a:ext cx="720000" cy="180000"/>
                </a:xfrm>
                <a:prstGeom prst="rect">
                  <a:avLst/>
                </a:prstGeom>
                <a:solidFill>
                  <a:srgbClr val="388600"/>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r>
                    <a:rPr lang="zh-CN" altLang="en-US" sz="1100" b="1" dirty="0">
                      <a:latin typeface="Arial" panose="020B0604020202020204" pitchFamily="34" charset="0"/>
                      <a:ea typeface="微软雅黑" panose="020B0503020204020204" pitchFamily="34" charset="-122"/>
                    </a:rPr>
                    <a:t>组件 </a:t>
                  </a:r>
                  <a:r>
                    <a:rPr lang="en-US" altLang="zh-CN" sz="1100" b="1" dirty="0">
                      <a:latin typeface="Arial" panose="020B0604020202020204" pitchFamily="34" charset="0"/>
                      <a:ea typeface="微软雅黑" panose="020B0503020204020204" pitchFamily="34" charset="-122"/>
                    </a:rPr>
                    <a:t>C</a:t>
                  </a:r>
                  <a:endParaRPr lang="zh-CN" altLang="en-US" sz="1100" b="1" dirty="0">
                    <a:latin typeface="Arial" panose="020B0604020202020204" pitchFamily="34" charset="0"/>
                    <a:ea typeface="微软雅黑" panose="020B0503020204020204" pitchFamily="34" charset="-122"/>
                  </a:endParaRPr>
                </a:p>
              </p:txBody>
            </p:sp>
            <p:cxnSp>
              <p:nvCxnSpPr>
                <p:cNvPr id="32" name="直接箭头连接符 31">
                  <a:extLst>
                    <a:ext uri="{FF2B5EF4-FFF2-40B4-BE49-F238E27FC236}">
                      <a16:creationId xmlns:a16="http://schemas.microsoft.com/office/drawing/2014/main" id="{CF1EB21E-B549-7A63-1E5C-DA4BB3ACEC09}"/>
                    </a:ext>
                  </a:extLst>
                </p:cNvPr>
                <p:cNvCxnSpPr>
                  <a:cxnSpLocks/>
                  <a:stCxn id="30" idx="2"/>
                  <a:endCxn id="31" idx="0"/>
                </p:cNvCxnSpPr>
                <p:nvPr/>
              </p:nvCxnSpPr>
              <p:spPr>
                <a:xfrm flipH="1">
                  <a:off x="1623862" y="2728575"/>
                  <a:ext cx="9128" cy="238609"/>
                </a:xfrm>
                <a:prstGeom prst="straightConnector1">
                  <a:avLst/>
                </a:prstGeom>
                <a:ln>
                  <a:headEnd type="triangle"/>
                  <a:tailEnd type="triangle"/>
                </a:ln>
              </p:spPr>
              <p:style>
                <a:lnRef idx="1">
                  <a:schemeClr val="dk1"/>
                </a:lnRef>
                <a:fillRef idx="0">
                  <a:schemeClr val="dk1"/>
                </a:fillRef>
                <a:effectRef idx="0">
                  <a:schemeClr val="dk1"/>
                </a:effectRef>
                <a:fontRef idx="minor">
                  <a:schemeClr val="tx1"/>
                </a:fontRef>
              </p:style>
            </p:cxnSp>
            <p:sp>
              <p:nvSpPr>
                <p:cNvPr id="33" name="文本框 32">
                  <a:extLst>
                    <a:ext uri="{FF2B5EF4-FFF2-40B4-BE49-F238E27FC236}">
                      <a16:creationId xmlns:a16="http://schemas.microsoft.com/office/drawing/2014/main" id="{2E8A0FB4-7401-63BA-5AB2-AF31DF582030}"/>
                    </a:ext>
                  </a:extLst>
                </p:cNvPr>
                <p:cNvSpPr txBox="1"/>
                <p:nvPr/>
              </p:nvSpPr>
              <p:spPr>
                <a:xfrm>
                  <a:off x="2009124" y="2709379"/>
                  <a:ext cx="981230" cy="461995"/>
                </a:xfrm>
                <a:prstGeom prst="rect">
                  <a:avLst/>
                </a:prstGeom>
                <a:noFill/>
              </p:spPr>
              <p:txBody>
                <a:bodyPr wrap="square" rtlCol="0">
                  <a:spAutoFit/>
                </a:bodyPr>
                <a:lstStyle>
                  <a:defPPr>
                    <a:defRPr lang="zh-CN"/>
                  </a:defPPr>
                  <a:lvl1pPr>
                    <a:defRPr sz="1000" b="1"/>
                  </a:lvl1pPr>
                </a:lstStyle>
                <a:p>
                  <a:r>
                    <a:rPr lang="zh-CN" altLang="en-US" sz="900" dirty="0">
                      <a:latin typeface="Arial" panose="020B0604020202020204" pitchFamily="34" charset="0"/>
                      <a:ea typeface="微软雅黑" panose="020B0503020204020204" pitchFamily="34" charset="-122"/>
                    </a:rPr>
                    <a:t>供需匹配</a:t>
                  </a:r>
                  <a:endParaRPr lang="en-US" altLang="zh-CN" sz="900" dirty="0">
                    <a:latin typeface="Arial" panose="020B0604020202020204" pitchFamily="34" charset="0"/>
                    <a:ea typeface="微软雅黑" panose="020B0503020204020204" pitchFamily="34" charset="-122"/>
                  </a:endParaRPr>
                </a:p>
                <a:p>
                  <a:r>
                    <a:rPr lang="en-US" altLang="zh-CN" sz="900" dirty="0">
                      <a:latin typeface="Arial" panose="020B0604020202020204" pitchFamily="34" charset="0"/>
                      <a:ea typeface="微软雅黑" panose="020B0503020204020204" pitchFamily="34" charset="-122"/>
                    </a:rPr>
                    <a:t>Planned C</a:t>
                  </a:r>
                  <a:endParaRPr lang="zh-CN" altLang="en-US" sz="900" dirty="0">
                    <a:latin typeface="Arial" panose="020B0604020202020204" pitchFamily="34" charset="0"/>
                    <a:ea typeface="微软雅黑" panose="020B0503020204020204" pitchFamily="34" charset="-122"/>
                  </a:endParaRPr>
                </a:p>
              </p:txBody>
            </p:sp>
          </p:grpSp>
          <p:cxnSp>
            <p:nvCxnSpPr>
              <p:cNvPr id="13" name="直接箭头连接符 12">
                <a:extLst>
                  <a:ext uri="{FF2B5EF4-FFF2-40B4-BE49-F238E27FC236}">
                    <a16:creationId xmlns:a16="http://schemas.microsoft.com/office/drawing/2014/main" id="{75F12A32-1927-FD86-9F46-0F58C262D767}"/>
                  </a:ext>
                </a:extLst>
              </p:cNvPr>
              <p:cNvCxnSpPr>
                <a:endCxn id="29" idx="0"/>
              </p:cNvCxnSpPr>
              <p:nvPr/>
            </p:nvCxnSpPr>
            <p:spPr>
              <a:xfrm>
                <a:off x="1296911" y="3266501"/>
                <a:ext cx="0" cy="510951"/>
              </a:xfrm>
              <a:prstGeom prst="straightConnector1">
                <a:avLst/>
              </a:prstGeom>
              <a:ln w="25400">
                <a:headEnd type="triangle"/>
                <a:tailEnd type="triangle"/>
              </a:ln>
            </p:spPr>
            <p:style>
              <a:lnRef idx="1">
                <a:schemeClr val="dk1"/>
              </a:lnRef>
              <a:fillRef idx="0">
                <a:schemeClr val="dk1"/>
              </a:fillRef>
              <a:effectRef idx="0">
                <a:schemeClr val="dk1"/>
              </a:effectRef>
              <a:fontRef idx="minor">
                <a:schemeClr val="tx1"/>
              </a:fontRef>
            </p:style>
          </p:cxnSp>
          <p:sp>
            <p:nvSpPr>
              <p:cNvPr id="14" name="文本框 13">
                <a:extLst>
                  <a:ext uri="{FF2B5EF4-FFF2-40B4-BE49-F238E27FC236}">
                    <a16:creationId xmlns:a16="http://schemas.microsoft.com/office/drawing/2014/main" id="{0A1771A0-A3F3-0457-818D-322E0F2610FE}"/>
                  </a:ext>
                </a:extLst>
              </p:cNvPr>
              <p:cNvSpPr txBox="1"/>
              <p:nvPr/>
            </p:nvSpPr>
            <p:spPr>
              <a:xfrm>
                <a:off x="1296911" y="3400342"/>
                <a:ext cx="716146" cy="327246"/>
              </a:xfrm>
              <a:prstGeom prst="rect">
                <a:avLst/>
              </a:prstGeom>
              <a:noFill/>
            </p:spPr>
            <p:txBody>
              <a:bodyPr wrap="square" rtlCol="0">
                <a:spAutoFit/>
              </a:bodyPr>
              <a:lstStyle/>
              <a:p>
                <a:r>
                  <a:rPr lang="zh-CN" altLang="en-US" sz="1100" b="1" dirty="0">
                    <a:latin typeface="Arial" panose="020B0604020202020204" pitchFamily="34" charset="0"/>
                    <a:ea typeface="微软雅黑" panose="020B0503020204020204" pitchFamily="34" charset="-122"/>
                  </a:rPr>
                  <a:t>展开</a:t>
                </a:r>
              </a:p>
            </p:txBody>
          </p:sp>
          <p:grpSp>
            <p:nvGrpSpPr>
              <p:cNvPr id="15" name="组合 14">
                <a:extLst>
                  <a:ext uri="{FF2B5EF4-FFF2-40B4-BE49-F238E27FC236}">
                    <a16:creationId xmlns:a16="http://schemas.microsoft.com/office/drawing/2014/main" id="{D29328E8-B82F-70CE-7A3D-92973D08408F}"/>
                  </a:ext>
                </a:extLst>
              </p:cNvPr>
              <p:cNvGrpSpPr/>
              <p:nvPr/>
            </p:nvGrpSpPr>
            <p:grpSpPr>
              <a:xfrm>
                <a:off x="432613" y="4991928"/>
                <a:ext cx="1803502" cy="830730"/>
                <a:chOff x="1186852" y="2432514"/>
                <a:chExt cx="1803502" cy="830730"/>
              </a:xfrm>
            </p:grpSpPr>
            <p:sp>
              <p:nvSpPr>
                <p:cNvPr id="24" name="矩形: 圆角 23">
                  <a:extLst>
                    <a:ext uri="{FF2B5EF4-FFF2-40B4-BE49-F238E27FC236}">
                      <a16:creationId xmlns:a16="http://schemas.microsoft.com/office/drawing/2014/main" id="{DD6DE365-B25F-BC4B-7743-695D07791DBE}"/>
                    </a:ext>
                  </a:extLst>
                </p:cNvPr>
                <p:cNvSpPr/>
                <p:nvPr/>
              </p:nvSpPr>
              <p:spPr>
                <a:xfrm>
                  <a:off x="1186852" y="2432514"/>
                  <a:ext cx="1673414" cy="830730"/>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zh-CN" altLang="en-US" sz="1600" dirty="0"/>
                </a:p>
              </p:txBody>
            </p:sp>
            <p:sp>
              <p:nvSpPr>
                <p:cNvPr id="25" name="矩形 24">
                  <a:extLst>
                    <a:ext uri="{FF2B5EF4-FFF2-40B4-BE49-F238E27FC236}">
                      <a16:creationId xmlns:a16="http://schemas.microsoft.com/office/drawing/2014/main" id="{53477990-8552-7E7D-48A1-AC1DED78C439}"/>
                    </a:ext>
                  </a:extLst>
                </p:cNvPr>
                <p:cNvSpPr/>
                <p:nvPr/>
              </p:nvSpPr>
              <p:spPr>
                <a:xfrm>
                  <a:off x="1272990" y="2548575"/>
                  <a:ext cx="720000" cy="180000"/>
                </a:xfrm>
                <a:prstGeom prst="rect">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r>
                    <a:rPr lang="zh-CN" altLang="en-US" sz="1100" b="1" dirty="0">
                      <a:latin typeface="Arial" panose="020B0604020202020204" pitchFamily="34" charset="0"/>
                      <a:ea typeface="微软雅黑" panose="020B0503020204020204" pitchFamily="34" charset="-122"/>
                    </a:rPr>
                    <a:t>组件 </a:t>
                  </a:r>
                  <a:r>
                    <a:rPr lang="en-US" altLang="zh-CN" sz="1100" b="1" dirty="0">
                      <a:latin typeface="Arial" panose="020B0604020202020204" pitchFamily="34" charset="0"/>
                      <a:ea typeface="微软雅黑" panose="020B0503020204020204" pitchFamily="34" charset="-122"/>
                    </a:rPr>
                    <a:t>D</a:t>
                  </a:r>
                  <a:endParaRPr lang="zh-CN" altLang="en-US" sz="1100" b="1" dirty="0">
                    <a:latin typeface="Arial" panose="020B0604020202020204" pitchFamily="34" charset="0"/>
                    <a:ea typeface="微软雅黑" panose="020B0503020204020204" pitchFamily="34" charset="-122"/>
                  </a:endParaRPr>
                </a:p>
              </p:txBody>
            </p:sp>
            <p:sp>
              <p:nvSpPr>
                <p:cNvPr id="26" name="矩形 25">
                  <a:extLst>
                    <a:ext uri="{FF2B5EF4-FFF2-40B4-BE49-F238E27FC236}">
                      <a16:creationId xmlns:a16="http://schemas.microsoft.com/office/drawing/2014/main" id="{ED62B518-DF58-63BA-A8A9-6DB4B1799DC7}"/>
                    </a:ext>
                  </a:extLst>
                </p:cNvPr>
                <p:cNvSpPr/>
                <p:nvPr/>
              </p:nvSpPr>
              <p:spPr>
                <a:xfrm>
                  <a:off x="1263862" y="2967184"/>
                  <a:ext cx="720000" cy="180000"/>
                </a:xfrm>
                <a:prstGeom prst="rect">
                  <a:avLst/>
                </a:prstGeom>
                <a:solidFill>
                  <a:srgbClr val="388600"/>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r>
                    <a:rPr lang="zh-CN" altLang="en-US" sz="1100" b="1" dirty="0">
                      <a:latin typeface="Arial" panose="020B0604020202020204" pitchFamily="34" charset="0"/>
                      <a:ea typeface="微软雅黑" panose="020B0503020204020204" pitchFamily="34" charset="-122"/>
                    </a:rPr>
                    <a:t>组件 </a:t>
                  </a:r>
                  <a:r>
                    <a:rPr lang="en-US" altLang="zh-CN" sz="1100" b="1" dirty="0">
                      <a:latin typeface="Arial" panose="020B0604020202020204" pitchFamily="34" charset="0"/>
                      <a:ea typeface="微软雅黑" panose="020B0503020204020204" pitchFamily="34" charset="-122"/>
                    </a:rPr>
                    <a:t>D</a:t>
                  </a:r>
                  <a:endParaRPr lang="zh-CN" altLang="en-US" sz="1100" b="1" dirty="0">
                    <a:latin typeface="Arial" panose="020B0604020202020204" pitchFamily="34" charset="0"/>
                    <a:ea typeface="微软雅黑" panose="020B0503020204020204" pitchFamily="34" charset="-122"/>
                  </a:endParaRPr>
                </a:p>
              </p:txBody>
            </p:sp>
            <p:cxnSp>
              <p:nvCxnSpPr>
                <p:cNvPr id="27" name="直接箭头连接符 26">
                  <a:extLst>
                    <a:ext uri="{FF2B5EF4-FFF2-40B4-BE49-F238E27FC236}">
                      <a16:creationId xmlns:a16="http://schemas.microsoft.com/office/drawing/2014/main" id="{686182A3-9856-9DA9-9257-6A9528B24021}"/>
                    </a:ext>
                  </a:extLst>
                </p:cNvPr>
                <p:cNvCxnSpPr>
                  <a:cxnSpLocks/>
                  <a:stCxn id="25" idx="2"/>
                  <a:endCxn id="26" idx="0"/>
                </p:cNvCxnSpPr>
                <p:nvPr/>
              </p:nvCxnSpPr>
              <p:spPr>
                <a:xfrm flipH="1">
                  <a:off x="1623862" y="2728575"/>
                  <a:ext cx="9128" cy="238609"/>
                </a:xfrm>
                <a:prstGeom prst="straightConnector1">
                  <a:avLst/>
                </a:prstGeom>
                <a:ln>
                  <a:headEnd type="triangle"/>
                  <a:tailEnd type="triangle"/>
                </a:ln>
              </p:spPr>
              <p:style>
                <a:lnRef idx="1">
                  <a:schemeClr val="dk1"/>
                </a:lnRef>
                <a:fillRef idx="0">
                  <a:schemeClr val="dk1"/>
                </a:fillRef>
                <a:effectRef idx="0">
                  <a:schemeClr val="dk1"/>
                </a:effectRef>
                <a:fontRef idx="minor">
                  <a:schemeClr val="tx1"/>
                </a:fontRef>
              </p:style>
            </p:cxnSp>
            <p:sp>
              <p:nvSpPr>
                <p:cNvPr id="28" name="文本框 27">
                  <a:extLst>
                    <a:ext uri="{FF2B5EF4-FFF2-40B4-BE49-F238E27FC236}">
                      <a16:creationId xmlns:a16="http://schemas.microsoft.com/office/drawing/2014/main" id="{8D4617C7-9DD8-8152-6FD3-F387691FE5EF}"/>
                    </a:ext>
                  </a:extLst>
                </p:cNvPr>
                <p:cNvSpPr txBox="1"/>
                <p:nvPr/>
              </p:nvSpPr>
              <p:spPr>
                <a:xfrm>
                  <a:off x="2009125" y="2709379"/>
                  <a:ext cx="981229" cy="461995"/>
                </a:xfrm>
                <a:prstGeom prst="rect">
                  <a:avLst/>
                </a:prstGeom>
                <a:noFill/>
              </p:spPr>
              <p:txBody>
                <a:bodyPr wrap="square" rtlCol="0">
                  <a:spAutoFit/>
                </a:bodyPr>
                <a:lstStyle>
                  <a:defPPr>
                    <a:defRPr lang="zh-CN"/>
                  </a:defPPr>
                  <a:lvl1pPr>
                    <a:defRPr sz="1000" b="1"/>
                  </a:lvl1pPr>
                </a:lstStyle>
                <a:p>
                  <a:r>
                    <a:rPr lang="zh-CN" altLang="en-US" sz="900" dirty="0">
                      <a:latin typeface="Arial" panose="020B0604020202020204" pitchFamily="34" charset="0"/>
                      <a:ea typeface="微软雅黑" panose="020B0503020204020204" pitchFamily="34" charset="-122"/>
                    </a:rPr>
                    <a:t>供需匹配</a:t>
                  </a:r>
                  <a:endParaRPr lang="en-US" altLang="zh-CN" sz="900" dirty="0">
                    <a:latin typeface="Arial" panose="020B0604020202020204" pitchFamily="34" charset="0"/>
                    <a:ea typeface="微软雅黑" panose="020B0503020204020204" pitchFamily="34" charset="-122"/>
                  </a:endParaRPr>
                </a:p>
                <a:p>
                  <a:r>
                    <a:rPr lang="en-US" altLang="zh-CN" sz="900" dirty="0">
                      <a:latin typeface="Arial" panose="020B0604020202020204" pitchFamily="34" charset="0"/>
                      <a:ea typeface="微软雅黑" panose="020B0503020204020204" pitchFamily="34" charset="-122"/>
                    </a:rPr>
                    <a:t>Planned D</a:t>
                  </a:r>
                  <a:endParaRPr lang="zh-CN" altLang="en-US" sz="900" dirty="0">
                    <a:latin typeface="Arial" panose="020B0604020202020204" pitchFamily="34" charset="0"/>
                    <a:ea typeface="微软雅黑" panose="020B0503020204020204" pitchFamily="34" charset="-122"/>
                  </a:endParaRPr>
                </a:p>
              </p:txBody>
            </p:sp>
          </p:grpSp>
          <p:grpSp>
            <p:nvGrpSpPr>
              <p:cNvPr id="16" name="组合 15">
                <a:extLst>
                  <a:ext uri="{FF2B5EF4-FFF2-40B4-BE49-F238E27FC236}">
                    <a16:creationId xmlns:a16="http://schemas.microsoft.com/office/drawing/2014/main" id="{12DB5245-E680-40F8-62B2-99DDEF7DBE7D}"/>
                  </a:ext>
                </a:extLst>
              </p:cNvPr>
              <p:cNvGrpSpPr/>
              <p:nvPr/>
            </p:nvGrpSpPr>
            <p:grpSpPr>
              <a:xfrm>
                <a:off x="440171" y="6336866"/>
                <a:ext cx="1795944" cy="830730"/>
                <a:chOff x="1194410" y="2432514"/>
                <a:chExt cx="1795944" cy="830730"/>
              </a:xfrm>
            </p:grpSpPr>
            <p:sp>
              <p:nvSpPr>
                <p:cNvPr id="19" name="矩形: 圆角 18">
                  <a:extLst>
                    <a:ext uri="{FF2B5EF4-FFF2-40B4-BE49-F238E27FC236}">
                      <a16:creationId xmlns:a16="http://schemas.microsoft.com/office/drawing/2014/main" id="{91456918-441F-A36D-400D-B728D804E7E9}"/>
                    </a:ext>
                  </a:extLst>
                </p:cNvPr>
                <p:cNvSpPr/>
                <p:nvPr/>
              </p:nvSpPr>
              <p:spPr>
                <a:xfrm>
                  <a:off x="1194410" y="2432514"/>
                  <a:ext cx="1673414" cy="830730"/>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zh-CN" altLang="en-US" sz="1600" dirty="0"/>
                </a:p>
              </p:txBody>
            </p:sp>
            <p:sp>
              <p:nvSpPr>
                <p:cNvPr id="20" name="矩形 19">
                  <a:extLst>
                    <a:ext uri="{FF2B5EF4-FFF2-40B4-BE49-F238E27FC236}">
                      <a16:creationId xmlns:a16="http://schemas.microsoft.com/office/drawing/2014/main" id="{1256CE21-5B48-DF38-9E02-F8E28A25FBB0}"/>
                    </a:ext>
                  </a:extLst>
                </p:cNvPr>
                <p:cNvSpPr/>
                <p:nvPr/>
              </p:nvSpPr>
              <p:spPr>
                <a:xfrm>
                  <a:off x="1272990" y="2548575"/>
                  <a:ext cx="720000" cy="180000"/>
                </a:xfrm>
                <a:prstGeom prst="rect">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r>
                    <a:rPr lang="zh-CN" altLang="en-US" sz="1100" b="1" dirty="0">
                      <a:latin typeface="Arial" panose="020B0604020202020204" pitchFamily="34" charset="0"/>
                      <a:ea typeface="微软雅黑" panose="020B0503020204020204" pitchFamily="34" charset="-122"/>
                    </a:rPr>
                    <a:t>原材 </a:t>
                  </a:r>
                  <a:r>
                    <a:rPr lang="en-US" altLang="zh-CN" sz="1100" b="1" dirty="0">
                      <a:latin typeface="Arial" panose="020B0604020202020204" pitchFamily="34" charset="0"/>
                      <a:ea typeface="微软雅黑" panose="020B0503020204020204" pitchFamily="34" charset="-122"/>
                    </a:rPr>
                    <a:t>E</a:t>
                  </a:r>
                  <a:endParaRPr lang="zh-CN" altLang="en-US" sz="1100" b="1" dirty="0">
                    <a:latin typeface="Arial" panose="020B0604020202020204" pitchFamily="34" charset="0"/>
                    <a:ea typeface="微软雅黑" panose="020B0503020204020204" pitchFamily="34" charset="-122"/>
                  </a:endParaRPr>
                </a:p>
              </p:txBody>
            </p:sp>
            <p:sp>
              <p:nvSpPr>
                <p:cNvPr id="21" name="矩形 20">
                  <a:extLst>
                    <a:ext uri="{FF2B5EF4-FFF2-40B4-BE49-F238E27FC236}">
                      <a16:creationId xmlns:a16="http://schemas.microsoft.com/office/drawing/2014/main" id="{7A792407-FAB6-F545-874D-544D77412C9A}"/>
                    </a:ext>
                  </a:extLst>
                </p:cNvPr>
                <p:cNvSpPr/>
                <p:nvPr/>
              </p:nvSpPr>
              <p:spPr>
                <a:xfrm>
                  <a:off x="1263862" y="2967184"/>
                  <a:ext cx="720000" cy="180000"/>
                </a:xfrm>
                <a:prstGeom prst="rect">
                  <a:avLst/>
                </a:prstGeom>
                <a:solidFill>
                  <a:srgbClr val="388600"/>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r>
                    <a:rPr lang="zh-CN" altLang="en-US" sz="1100" b="1" dirty="0">
                      <a:latin typeface="Arial" panose="020B0604020202020204" pitchFamily="34" charset="0"/>
                      <a:ea typeface="微软雅黑" panose="020B0503020204020204" pitchFamily="34" charset="-122"/>
                    </a:rPr>
                    <a:t>原材 </a:t>
                  </a:r>
                  <a:r>
                    <a:rPr lang="en-US" altLang="zh-CN" sz="1100" b="1" dirty="0">
                      <a:latin typeface="Arial" panose="020B0604020202020204" pitchFamily="34" charset="0"/>
                      <a:ea typeface="微软雅黑" panose="020B0503020204020204" pitchFamily="34" charset="-122"/>
                    </a:rPr>
                    <a:t>E</a:t>
                  </a:r>
                  <a:endParaRPr lang="zh-CN" altLang="en-US" sz="1100" b="1" dirty="0">
                    <a:latin typeface="Arial" panose="020B0604020202020204" pitchFamily="34" charset="0"/>
                    <a:ea typeface="微软雅黑" panose="020B0503020204020204" pitchFamily="34" charset="-122"/>
                  </a:endParaRPr>
                </a:p>
              </p:txBody>
            </p:sp>
            <p:cxnSp>
              <p:nvCxnSpPr>
                <p:cNvPr id="22" name="直接箭头连接符 21">
                  <a:extLst>
                    <a:ext uri="{FF2B5EF4-FFF2-40B4-BE49-F238E27FC236}">
                      <a16:creationId xmlns:a16="http://schemas.microsoft.com/office/drawing/2014/main" id="{59C4549C-75D7-82E1-D785-A85EAC3F132D}"/>
                    </a:ext>
                  </a:extLst>
                </p:cNvPr>
                <p:cNvCxnSpPr>
                  <a:cxnSpLocks/>
                  <a:stCxn id="20" idx="2"/>
                  <a:endCxn id="21" idx="0"/>
                </p:cNvCxnSpPr>
                <p:nvPr/>
              </p:nvCxnSpPr>
              <p:spPr>
                <a:xfrm flipH="1">
                  <a:off x="1623862" y="2728575"/>
                  <a:ext cx="9128" cy="238609"/>
                </a:xfrm>
                <a:prstGeom prst="straightConnector1">
                  <a:avLst/>
                </a:prstGeom>
                <a:ln>
                  <a:headEnd type="triangle"/>
                  <a:tailEnd type="triangle"/>
                </a:ln>
              </p:spPr>
              <p:style>
                <a:lnRef idx="1">
                  <a:schemeClr val="dk1"/>
                </a:lnRef>
                <a:fillRef idx="0">
                  <a:schemeClr val="dk1"/>
                </a:fillRef>
                <a:effectRef idx="0">
                  <a:schemeClr val="dk1"/>
                </a:effectRef>
                <a:fontRef idx="minor">
                  <a:schemeClr val="tx1"/>
                </a:fontRef>
              </p:style>
            </p:cxnSp>
            <p:sp>
              <p:nvSpPr>
                <p:cNvPr id="23" name="文本框 22">
                  <a:extLst>
                    <a:ext uri="{FF2B5EF4-FFF2-40B4-BE49-F238E27FC236}">
                      <a16:creationId xmlns:a16="http://schemas.microsoft.com/office/drawing/2014/main" id="{F83EDFAF-D466-BB44-1222-02895863E6C0}"/>
                    </a:ext>
                  </a:extLst>
                </p:cNvPr>
                <p:cNvSpPr txBox="1"/>
                <p:nvPr/>
              </p:nvSpPr>
              <p:spPr>
                <a:xfrm>
                  <a:off x="2009124" y="2709379"/>
                  <a:ext cx="981230" cy="461995"/>
                </a:xfrm>
                <a:prstGeom prst="rect">
                  <a:avLst/>
                </a:prstGeom>
                <a:noFill/>
              </p:spPr>
              <p:txBody>
                <a:bodyPr wrap="square" rtlCol="0">
                  <a:spAutoFit/>
                </a:bodyPr>
                <a:lstStyle>
                  <a:defPPr>
                    <a:defRPr lang="zh-CN"/>
                  </a:defPPr>
                  <a:lvl1pPr>
                    <a:defRPr sz="1000" b="1"/>
                  </a:lvl1pPr>
                </a:lstStyle>
                <a:p>
                  <a:r>
                    <a:rPr lang="zh-CN" altLang="en-US" sz="900" dirty="0">
                      <a:latin typeface="Arial" panose="020B0604020202020204" pitchFamily="34" charset="0"/>
                      <a:ea typeface="微软雅黑" panose="020B0503020204020204" pitchFamily="34" charset="-122"/>
                    </a:rPr>
                    <a:t>供需匹配</a:t>
                  </a:r>
                  <a:endParaRPr lang="en-US" altLang="zh-CN" sz="900" dirty="0">
                    <a:latin typeface="Arial" panose="020B0604020202020204" pitchFamily="34" charset="0"/>
                    <a:ea typeface="微软雅黑" panose="020B0503020204020204" pitchFamily="34" charset="-122"/>
                  </a:endParaRPr>
                </a:p>
                <a:p>
                  <a:r>
                    <a:rPr lang="en-US" altLang="zh-CN" sz="900" dirty="0">
                      <a:latin typeface="Arial" panose="020B0604020202020204" pitchFamily="34" charset="0"/>
                      <a:ea typeface="微软雅黑" panose="020B0503020204020204" pitchFamily="34" charset="-122"/>
                    </a:rPr>
                    <a:t>Planned E</a:t>
                  </a:r>
                  <a:endParaRPr lang="zh-CN" altLang="en-US" sz="900" dirty="0">
                    <a:latin typeface="Arial" panose="020B0604020202020204" pitchFamily="34" charset="0"/>
                    <a:ea typeface="微软雅黑" panose="020B0503020204020204" pitchFamily="34" charset="-122"/>
                  </a:endParaRPr>
                </a:p>
              </p:txBody>
            </p:sp>
          </p:grpSp>
          <p:cxnSp>
            <p:nvCxnSpPr>
              <p:cNvPr id="17" name="直接箭头连接符 16">
                <a:extLst>
                  <a:ext uri="{FF2B5EF4-FFF2-40B4-BE49-F238E27FC236}">
                    <a16:creationId xmlns:a16="http://schemas.microsoft.com/office/drawing/2014/main" id="{4A6AF2F3-15EA-5B41-EB81-520BFEB1BDB8}"/>
                  </a:ext>
                </a:extLst>
              </p:cNvPr>
              <p:cNvCxnSpPr>
                <a:endCxn id="19" idx="0"/>
              </p:cNvCxnSpPr>
              <p:nvPr/>
            </p:nvCxnSpPr>
            <p:spPr>
              <a:xfrm>
                <a:off x="1276878" y="5825915"/>
                <a:ext cx="0" cy="510951"/>
              </a:xfrm>
              <a:prstGeom prst="straightConnector1">
                <a:avLst/>
              </a:prstGeom>
              <a:ln w="25400">
                <a:headEnd type="triangle"/>
                <a:tailEnd type="triangle"/>
              </a:ln>
            </p:spPr>
            <p:style>
              <a:lnRef idx="1">
                <a:schemeClr val="dk1"/>
              </a:lnRef>
              <a:fillRef idx="0">
                <a:schemeClr val="dk1"/>
              </a:fillRef>
              <a:effectRef idx="0">
                <a:schemeClr val="dk1"/>
              </a:effectRef>
              <a:fontRef idx="minor">
                <a:schemeClr val="tx1"/>
              </a:fontRef>
            </p:style>
          </p:cxnSp>
          <p:sp>
            <p:nvSpPr>
              <p:cNvPr id="18" name="文本框 17">
                <a:extLst>
                  <a:ext uri="{FF2B5EF4-FFF2-40B4-BE49-F238E27FC236}">
                    <a16:creationId xmlns:a16="http://schemas.microsoft.com/office/drawing/2014/main" id="{AB264598-A4C6-9E26-C369-648DA413EEC9}"/>
                  </a:ext>
                </a:extLst>
              </p:cNvPr>
              <p:cNvSpPr txBox="1"/>
              <p:nvPr/>
            </p:nvSpPr>
            <p:spPr>
              <a:xfrm>
                <a:off x="1223972" y="5959757"/>
                <a:ext cx="716146" cy="327246"/>
              </a:xfrm>
              <a:prstGeom prst="rect">
                <a:avLst/>
              </a:prstGeom>
              <a:noFill/>
            </p:spPr>
            <p:txBody>
              <a:bodyPr wrap="square" rtlCol="0">
                <a:spAutoFit/>
              </a:bodyPr>
              <a:lstStyle/>
              <a:p>
                <a:r>
                  <a:rPr lang="zh-CN" altLang="en-US" sz="1100" b="1" dirty="0">
                    <a:latin typeface="Arial" panose="020B0604020202020204" pitchFamily="34" charset="0"/>
                    <a:ea typeface="微软雅黑" panose="020B0503020204020204" pitchFamily="34" charset="-122"/>
                  </a:rPr>
                  <a:t>展开</a:t>
                </a:r>
              </a:p>
            </p:txBody>
          </p:sp>
        </p:grpSp>
        <p:sp>
          <p:nvSpPr>
            <p:cNvPr id="39" name="矩形: 圆角 38">
              <a:extLst>
                <a:ext uri="{FF2B5EF4-FFF2-40B4-BE49-F238E27FC236}">
                  <a16:creationId xmlns:a16="http://schemas.microsoft.com/office/drawing/2014/main" id="{71E6E16C-0733-0346-E638-6A0BE498D079}"/>
                </a:ext>
              </a:extLst>
            </p:cNvPr>
            <p:cNvSpPr/>
            <p:nvPr/>
          </p:nvSpPr>
          <p:spPr>
            <a:xfrm>
              <a:off x="3766781" y="5549403"/>
              <a:ext cx="2552131" cy="794929"/>
            </a:xfrm>
            <a:prstGeom prst="roundRect">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r>
                <a:rPr lang="en-US" altLang="zh-CN" dirty="0">
                  <a:latin typeface="Arial" panose="020B0604020202020204" pitchFamily="34" charset="0"/>
                  <a:ea typeface="微软雅黑" panose="020B0503020204020204" pitchFamily="34" charset="-122"/>
                </a:rPr>
                <a:t>Pegging </a:t>
              </a:r>
              <a:endParaRPr lang="zh-CN" altLang="en-US" dirty="0">
                <a:latin typeface="Arial" panose="020B0604020202020204" pitchFamily="34" charset="0"/>
                <a:ea typeface="微软雅黑" panose="020B0503020204020204" pitchFamily="34" charset="-122"/>
              </a:endParaRPr>
            </a:p>
          </p:txBody>
        </p:sp>
        <p:cxnSp>
          <p:nvCxnSpPr>
            <p:cNvPr id="40" name="直接箭头连接符 39">
              <a:extLst>
                <a:ext uri="{FF2B5EF4-FFF2-40B4-BE49-F238E27FC236}">
                  <a16:creationId xmlns:a16="http://schemas.microsoft.com/office/drawing/2014/main" id="{7DC5431B-0558-8837-4576-B852E00ED1C2}"/>
                </a:ext>
              </a:extLst>
            </p:cNvPr>
            <p:cNvCxnSpPr>
              <a:cxnSpLocks/>
              <a:stCxn id="39" idx="1"/>
            </p:cNvCxnSpPr>
            <p:nvPr/>
          </p:nvCxnSpPr>
          <p:spPr>
            <a:xfrm flipH="1" flipV="1">
              <a:off x="2106027" y="5935711"/>
              <a:ext cx="1660754" cy="11157"/>
            </a:xfrm>
            <a:prstGeom prst="straightConnector1">
              <a:avLst/>
            </a:prstGeom>
            <a:ln>
              <a:headEnd type="none"/>
              <a:tailEnd type="triangle"/>
            </a:ln>
          </p:spPr>
          <p:style>
            <a:lnRef idx="2">
              <a:schemeClr val="accent1"/>
            </a:lnRef>
            <a:fillRef idx="0">
              <a:schemeClr val="accent1"/>
            </a:fillRef>
            <a:effectRef idx="1">
              <a:schemeClr val="accent1"/>
            </a:effectRef>
            <a:fontRef idx="minor">
              <a:schemeClr val="tx1"/>
            </a:fontRef>
          </p:style>
        </p:cxnSp>
        <p:sp>
          <p:nvSpPr>
            <p:cNvPr id="41" name="文本框 40">
              <a:extLst>
                <a:ext uri="{FF2B5EF4-FFF2-40B4-BE49-F238E27FC236}">
                  <a16:creationId xmlns:a16="http://schemas.microsoft.com/office/drawing/2014/main" id="{73CDF3B4-EB8F-F472-AF95-26B7CA2D709C}"/>
                </a:ext>
              </a:extLst>
            </p:cNvPr>
            <p:cNvSpPr txBox="1"/>
            <p:nvPr/>
          </p:nvSpPr>
          <p:spPr>
            <a:xfrm>
              <a:off x="2484118" y="5582014"/>
              <a:ext cx="1034659" cy="341366"/>
            </a:xfrm>
            <a:prstGeom prst="rect">
              <a:avLst/>
            </a:prstGeom>
            <a:noFill/>
          </p:spPr>
          <p:txBody>
            <a:bodyPr wrap="square" rtlCol="0">
              <a:spAutoFit/>
            </a:bodyPr>
            <a:lstStyle>
              <a:defPPr>
                <a:defRPr lang="zh-CN"/>
              </a:defPPr>
              <a:lvl1pPr>
                <a:defRPr sz="1400" b="1">
                  <a:solidFill>
                    <a:schemeClr val="accent2">
                      <a:lumMod val="50000"/>
                    </a:schemeClr>
                  </a:solidFill>
                </a:defRPr>
              </a:lvl1pPr>
            </a:lstStyle>
            <a:p>
              <a:r>
                <a:rPr lang="zh-CN" altLang="en-US" dirty="0">
                  <a:solidFill>
                    <a:schemeClr val="bg1"/>
                  </a:solidFill>
                  <a:latin typeface="Arial" panose="020B0604020202020204" pitchFamily="34" charset="0"/>
                  <a:ea typeface="微软雅黑" panose="020B0503020204020204" pitchFamily="34" charset="-122"/>
                </a:rPr>
                <a:t> 物料 </a:t>
              </a:r>
              <a:r>
                <a:rPr lang="en-US" altLang="zh-CN" dirty="0">
                  <a:solidFill>
                    <a:schemeClr val="bg1"/>
                  </a:solidFill>
                  <a:latin typeface="Arial" panose="020B0604020202020204" pitchFamily="34" charset="0"/>
                  <a:ea typeface="微软雅黑" panose="020B0503020204020204" pitchFamily="34" charset="-122"/>
                </a:rPr>
                <a:t>E</a:t>
              </a:r>
              <a:endParaRPr lang="zh-CN" altLang="en-US" dirty="0">
                <a:solidFill>
                  <a:schemeClr val="bg1"/>
                </a:solidFill>
                <a:latin typeface="Arial" panose="020B0604020202020204" pitchFamily="34" charset="0"/>
                <a:ea typeface="微软雅黑" panose="020B0503020204020204" pitchFamily="34" charset="-122"/>
              </a:endParaRPr>
            </a:p>
          </p:txBody>
        </p:sp>
        <p:cxnSp>
          <p:nvCxnSpPr>
            <p:cNvPr id="42" name="直接箭头连接符 41">
              <a:extLst>
                <a:ext uri="{FF2B5EF4-FFF2-40B4-BE49-F238E27FC236}">
                  <a16:creationId xmlns:a16="http://schemas.microsoft.com/office/drawing/2014/main" id="{31798BFE-12A2-25FA-4E31-56078F4DF909}"/>
                </a:ext>
              </a:extLst>
            </p:cNvPr>
            <p:cNvCxnSpPr>
              <a:cxnSpLocks/>
              <a:stCxn id="39" idx="0"/>
            </p:cNvCxnSpPr>
            <p:nvPr/>
          </p:nvCxnSpPr>
          <p:spPr>
            <a:xfrm flipH="1" flipV="1">
              <a:off x="2060679" y="4743191"/>
              <a:ext cx="2982168" cy="806212"/>
            </a:xfrm>
            <a:prstGeom prst="straightConnector1">
              <a:avLst/>
            </a:prstGeom>
            <a:ln>
              <a:headEnd type="none"/>
              <a:tailEnd type="triangle"/>
            </a:ln>
          </p:spPr>
          <p:style>
            <a:lnRef idx="2">
              <a:schemeClr val="accent1"/>
            </a:lnRef>
            <a:fillRef idx="0">
              <a:schemeClr val="accent1"/>
            </a:fillRef>
            <a:effectRef idx="1">
              <a:schemeClr val="accent1"/>
            </a:effectRef>
            <a:fontRef idx="minor">
              <a:schemeClr val="tx1"/>
            </a:fontRef>
          </p:style>
        </p:cxnSp>
        <p:sp>
          <p:nvSpPr>
            <p:cNvPr id="43" name="文本框 42">
              <a:extLst>
                <a:ext uri="{FF2B5EF4-FFF2-40B4-BE49-F238E27FC236}">
                  <a16:creationId xmlns:a16="http://schemas.microsoft.com/office/drawing/2014/main" id="{C0132F54-2FFC-5F4F-385B-AD677E2DF47C}"/>
                </a:ext>
              </a:extLst>
            </p:cNvPr>
            <p:cNvSpPr txBox="1"/>
            <p:nvPr/>
          </p:nvSpPr>
          <p:spPr>
            <a:xfrm>
              <a:off x="2517103" y="4543290"/>
              <a:ext cx="3012840" cy="341366"/>
            </a:xfrm>
            <a:prstGeom prst="rect">
              <a:avLst/>
            </a:prstGeom>
            <a:noFill/>
          </p:spPr>
          <p:txBody>
            <a:bodyPr wrap="square" rtlCol="0">
              <a:spAutoFit/>
            </a:bodyPr>
            <a:lstStyle>
              <a:defPPr>
                <a:defRPr lang="zh-CN"/>
              </a:defPPr>
              <a:lvl1pPr>
                <a:defRPr sz="1400" b="1">
                  <a:solidFill>
                    <a:schemeClr val="accent2">
                      <a:lumMod val="50000"/>
                    </a:schemeClr>
                  </a:solidFill>
                </a:defRPr>
              </a:lvl1pPr>
            </a:lstStyle>
            <a:p>
              <a:r>
                <a:rPr lang="zh-CN" altLang="en-US" dirty="0">
                  <a:solidFill>
                    <a:schemeClr val="bg1"/>
                  </a:solidFill>
                  <a:latin typeface="Arial" panose="020B0604020202020204" pitchFamily="34" charset="0"/>
                  <a:ea typeface="微软雅黑" panose="020B0503020204020204" pitchFamily="34" charset="-122"/>
                </a:rPr>
                <a:t>驱动 </a:t>
              </a:r>
              <a:r>
                <a:rPr lang="en-US" altLang="zh-CN" dirty="0">
                  <a:solidFill>
                    <a:schemeClr val="bg1"/>
                  </a:solidFill>
                  <a:latin typeface="Arial" panose="020B0604020202020204" pitchFamily="34" charset="0"/>
                  <a:ea typeface="微软雅黑" panose="020B0503020204020204" pitchFamily="34" charset="-122"/>
                </a:rPr>
                <a:t>Father Demand + A + Site</a:t>
              </a:r>
              <a:endParaRPr lang="zh-CN" altLang="en-US" dirty="0">
                <a:solidFill>
                  <a:schemeClr val="bg1"/>
                </a:solidFill>
                <a:latin typeface="Arial" panose="020B0604020202020204" pitchFamily="34" charset="0"/>
                <a:ea typeface="微软雅黑" panose="020B0503020204020204" pitchFamily="34" charset="-122"/>
              </a:endParaRPr>
            </a:p>
          </p:txBody>
        </p:sp>
        <p:cxnSp>
          <p:nvCxnSpPr>
            <p:cNvPr id="44" name="直接箭头连接符 43">
              <a:extLst>
                <a:ext uri="{FF2B5EF4-FFF2-40B4-BE49-F238E27FC236}">
                  <a16:creationId xmlns:a16="http://schemas.microsoft.com/office/drawing/2014/main" id="{A63EDDC2-6113-5DB7-8A2E-1E9F76E6DB6C}"/>
                </a:ext>
              </a:extLst>
            </p:cNvPr>
            <p:cNvCxnSpPr>
              <a:cxnSpLocks/>
              <a:stCxn id="39" idx="0"/>
            </p:cNvCxnSpPr>
            <p:nvPr/>
          </p:nvCxnSpPr>
          <p:spPr>
            <a:xfrm flipH="1" flipV="1">
              <a:off x="2133618" y="1275749"/>
              <a:ext cx="2909229" cy="4273654"/>
            </a:xfrm>
            <a:prstGeom prst="straightConnector1">
              <a:avLst/>
            </a:prstGeom>
            <a:ln>
              <a:headEnd type="none"/>
              <a:tailEnd type="triangle"/>
            </a:ln>
          </p:spPr>
          <p:style>
            <a:lnRef idx="2">
              <a:schemeClr val="accent1"/>
            </a:lnRef>
            <a:fillRef idx="0">
              <a:schemeClr val="accent1"/>
            </a:fillRef>
            <a:effectRef idx="1">
              <a:schemeClr val="accent1"/>
            </a:effectRef>
            <a:fontRef idx="minor">
              <a:schemeClr val="tx1"/>
            </a:fontRef>
          </p:style>
        </p:cxnSp>
        <p:sp>
          <p:nvSpPr>
            <p:cNvPr id="45" name="文本框 44">
              <a:extLst>
                <a:ext uri="{FF2B5EF4-FFF2-40B4-BE49-F238E27FC236}">
                  <a16:creationId xmlns:a16="http://schemas.microsoft.com/office/drawing/2014/main" id="{F949AA20-A6B1-E390-029A-BED4638EE877}"/>
                </a:ext>
              </a:extLst>
            </p:cNvPr>
            <p:cNvSpPr txBox="1"/>
            <p:nvPr/>
          </p:nvSpPr>
          <p:spPr>
            <a:xfrm>
              <a:off x="3182369" y="2314710"/>
              <a:ext cx="2591476" cy="341366"/>
            </a:xfrm>
            <a:prstGeom prst="rect">
              <a:avLst/>
            </a:prstGeom>
            <a:noFill/>
          </p:spPr>
          <p:txBody>
            <a:bodyPr wrap="square" rtlCol="0">
              <a:spAutoFit/>
            </a:bodyPr>
            <a:lstStyle/>
            <a:p>
              <a:r>
                <a:rPr lang="zh-CN" altLang="en-US" sz="1400" b="1" dirty="0">
                  <a:solidFill>
                    <a:schemeClr val="bg1"/>
                  </a:solidFill>
                  <a:latin typeface="Arial" panose="020B0604020202020204" pitchFamily="34" charset="0"/>
                  <a:ea typeface="微软雅黑" panose="020B0503020204020204" pitchFamily="34" charset="-122"/>
                </a:rPr>
                <a:t>原始驱动 </a:t>
              </a:r>
              <a:r>
                <a:rPr lang="en-US" altLang="zh-CN" sz="1400" b="1" dirty="0">
                  <a:solidFill>
                    <a:schemeClr val="bg1"/>
                  </a:solidFill>
                  <a:latin typeface="Arial" panose="020B0604020202020204" pitchFamily="34" charset="0"/>
                  <a:ea typeface="微软雅黑" panose="020B0503020204020204" pitchFamily="34" charset="-122"/>
                </a:rPr>
                <a:t>Demand +A+ Site</a:t>
              </a:r>
              <a:endParaRPr lang="zh-CN" altLang="en-US" sz="1400" b="1" dirty="0">
                <a:solidFill>
                  <a:schemeClr val="bg1"/>
                </a:solidFill>
                <a:latin typeface="Arial" panose="020B0604020202020204" pitchFamily="34" charset="0"/>
                <a:ea typeface="微软雅黑" panose="020B0503020204020204" pitchFamily="34" charset="-122"/>
              </a:endParaRPr>
            </a:p>
          </p:txBody>
        </p:sp>
        <p:grpSp>
          <p:nvGrpSpPr>
            <p:cNvPr id="46" name="组合 45">
              <a:extLst>
                <a:ext uri="{FF2B5EF4-FFF2-40B4-BE49-F238E27FC236}">
                  <a16:creationId xmlns:a16="http://schemas.microsoft.com/office/drawing/2014/main" id="{0A740687-D30E-A942-F889-C94A198AC1AD}"/>
                </a:ext>
              </a:extLst>
            </p:cNvPr>
            <p:cNvGrpSpPr/>
            <p:nvPr/>
          </p:nvGrpSpPr>
          <p:grpSpPr>
            <a:xfrm>
              <a:off x="5042846" y="1933557"/>
              <a:ext cx="6557463" cy="3615847"/>
              <a:chOff x="5042846" y="1933557"/>
              <a:chExt cx="6557463" cy="3615847"/>
            </a:xfrm>
          </p:grpSpPr>
          <p:graphicFrame>
            <p:nvGraphicFramePr>
              <p:cNvPr id="47" name="图示 46">
                <a:extLst>
                  <a:ext uri="{FF2B5EF4-FFF2-40B4-BE49-F238E27FC236}">
                    <a16:creationId xmlns:a16="http://schemas.microsoft.com/office/drawing/2014/main" id="{E6000B10-F442-4609-D62E-E70A8DAE71FB}"/>
                  </a:ext>
                </a:extLst>
              </p:cNvPr>
              <p:cNvGraphicFramePr/>
              <p:nvPr>
                <p:extLst>
                  <p:ext uri="{D42A27DB-BD31-4B8C-83A1-F6EECF244321}">
                    <p14:modId xmlns:p14="http://schemas.microsoft.com/office/powerpoint/2010/main" val="3186622955"/>
                  </p:ext>
                </p:extLst>
              </p:nvPr>
            </p:nvGraphicFramePr>
            <p:xfrm>
              <a:off x="6974006" y="1933557"/>
              <a:ext cx="4626303" cy="280963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48" name="直接箭头连接符 47">
                <a:extLst>
                  <a:ext uri="{FF2B5EF4-FFF2-40B4-BE49-F238E27FC236}">
                    <a16:creationId xmlns:a16="http://schemas.microsoft.com/office/drawing/2014/main" id="{A9BD4CA9-EEED-D4ED-0B6E-675806339728}"/>
                  </a:ext>
                </a:extLst>
              </p:cNvPr>
              <p:cNvCxnSpPr>
                <a:cxnSpLocks/>
                <a:endCxn id="39" idx="0"/>
              </p:cNvCxnSpPr>
              <p:nvPr/>
            </p:nvCxnSpPr>
            <p:spPr>
              <a:xfrm flipH="1">
                <a:off x="5042846" y="3206803"/>
                <a:ext cx="1704310" cy="2342601"/>
              </a:xfrm>
              <a:prstGeom prst="straightConnector1">
                <a:avLst/>
              </a:prstGeom>
              <a:ln>
                <a:solidFill>
                  <a:schemeClr val="tx2">
                    <a:lumMod val="90000"/>
                  </a:schemeClr>
                </a:solidFill>
                <a:headEnd type="triangle"/>
                <a:tailEnd type="triangle"/>
              </a:ln>
            </p:spPr>
            <p:style>
              <a:lnRef idx="3">
                <a:schemeClr val="accent4"/>
              </a:lnRef>
              <a:fillRef idx="0">
                <a:schemeClr val="accent4"/>
              </a:fillRef>
              <a:effectRef idx="2">
                <a:schemeClr val="accent4"/>
              </a:effectRef>
              <a:fontRef idx="minor">
                <a:schemeClr val="tx1"/>
              </a:fontRef>
            </p:style>
          </p:cxnSp>
        </p:grpSp>
        <p:sp>
          <p:nvSpPr>
            <p:cNvPr id="49" name="文本框 48">
              <a:extLst>
                <a:ext uri="{FF2B5EF4-FFF2-40B4-BE49-F238E27FC236}">
                  <a16:creationId xmlns:a16="http://schemas.microsoft.com/office/drawing/2014/main" id="{F78C5898-2B19-BCAA-33BD-53B6EE12D378}"/>
                </a:ext>
              </a:extLst>
            </p:cNvPr>
            <p:cNvSpPr txBox="1"/>
            <p:nvPr/>
          </p:nvSpPr>
          <p:spPr>
            <a:xfrm>
              <a:off x="5529943" y="3724371"/>
              <a:ext cx="863614" cy="409638"/>
            </a:xfrm>
            <a:prstGeom prst="rect">
              <a:avLst/>
            </a:prstGeom>
            <a:noFill/>
          </p:spPr>
          <p:txBody>
            <a:bodyPr wrap="square" rtlCol="0">
              <a:spAutoFit/>
            </a:bodyPr>
            <a:lstStyle/>
            <a:p>
              <a:r>
                <a:rPr lang="zh-CN" altLang="en-US" b="1" dirty="0">
                  <a:solidFill>
                    <a:schemeClr val="bg1"/>
                  </a:solidFill>
                  <a:latin typeface="Arial" panose="020B0604020202020204" pitchFamily="34" charset="0"/>
                  <a:ea typeface="微软雅黑" panose="020B0503020204020204" pitchFamily="34" charset="-122"/>
                </a:rPr>
                <a:t>关联</a:t>
              </a:r>
            </a:p>
          </p:txBody>
        </p:sp>
      </p:grpSp>
    </p:spTree>
    <p:extLst>
      <p:ext uri="{BB962C8B-B14F-4D97-AF65-F5344CB8AC3E}">
        <p14:creationId xmlns:p14="http://schemas.microsoft.com/office/powerpoint/2010/main" val="2580453211"/>
      </p:ext>
    </p:extLst>
  </p:cSld>
  <p:clrMapOvr>
    <a:overrideClrMapping bg1="dk1" tx1="lt1" bg2="dk2" tx2="lt2" accent1="accent1" accent2="accent2" accent3="accent3" accent4="accent4" accent5="accent5" accent6="accent6" hlink="hlink" folHlink="folHlink"/>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0567AD10-B0A6-573E-7DD5-88EDAE19CB41}"/>
              </a:ext>
            </a:extLst>
          </p:cNvPr>
          <p:cNvSpPr>
            <a:spLocks noGrp="1"/>
          </p:cNvSpPr>
          <p:nvPr>
            <p:ph type="ctrTitle"/>
          </p:nvPr>
        </p:nvSpPr>
        <p:spPr/>
        <p:txBody>
          <a:bodyPr/>
          <a:lstStyle/>
          <a:p>
            <a:r>
              <a:rPr lang="en-US" altLang="zh-CN" dirty="0">
                <a:latin typeface="Arial" panose="020B0604020202020204" pitchFamily="34" charset="0"/>
                <a:ea typeface="微软雅黑" panose="020B0503020204020204" pitchFamily="34" charset="-122"/>
              </a:rPr>
              <a:t>Alternate Production line/Resource</a:t>
            </a:r>
            <a:endParaRPr lang="zh-CN" altLang="en-US"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3476462291"/>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0FA0D3-64E2-D620-B3E7-8AD370C9E13B}"/>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7D7E3DFD-B96C-5DB6-1319-B65EFE746D2B}"/>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主资源先分配，然后可作为替换资源再分配</a:t>
            </a:r>
          </a:p>
        </p:txBody>
      </p:sp>
      <p:grpSp>
        <p:nvGrpSpPr>
          <p:cNvPr id="3" name="组合 2">
            <a:extLst>
              <a:ext uri="{FF2B5EF4-FFF2-40B4-BE49-F238E27FC236}">
                <a16:creationId xmlns:a16="http://schemas.microsoft.com/office/drawing/2014/main" id="{88E9BCE6-1939-FD92-CB68-054EF8C2B8F5}"/>
              </a:ext>
            </a:extLst>
          </p:cNvPr>
          <p:cNvGrpSpPr/>
          <p:nvPr/>
        </p:nvGrpSpPr>
        <p:grpSpPr>
          <a:xfrm>
            <a:off x="561300" y="2302869"/>
            <a:ext cx="10522040" cy="4378817"/>
            <a:chOff x="341290" y="1674253"/>
            <a:chExt cx="10522040" cy="4378817"/>
          </a:xfrm>
        </p:grpSpPr>
        <p:grpSp>
          <p:nvGrpSpPr>
            <p:cNvPr id="4" name="组合 3">
              <a:extLst>
                <a:ext uri="{FF2B5EF4-FFF2-40B4-BE49-F238E27FC236}">
                  <a16:creationId xmlns:a16="http://schemas.microsoft.com/office/drawing/2014/main" id="{9E4E3218-54C1-57C4-1C01-FC8303557990}"/>
                </a:ext>
              </a:extLst>
            </p:cNvPr>
            <p:cNvGrpSpPr/>
            <p:nvPr/>
          </p:nvGrpSpPr>
          <p:grpSpPr>
            <a:xfrm>
              <a:off x="1493949" y="1674253"/>
              <a:ext cx="9369381" cy="4378817"/>
              <a:chOff x="1493949" y="1674253"/>
              <a:chExt cx="9369381" cy="4378817"/>
            </a:xfrm>
          </p:grpSpPr>
          <p:cxnSp>
            <p:nvCxnSpPr>
              <p:cNvPr id="9" name="直接连接符 8">
                <a:extLst>
                  <a:ext uri="{FF2B5EF4-FFF2-40B4-BE49-F238E27FC236}">
                    <a16:creationId xmlns:a16="http://schemas.microsoft.com/office/drawing/2014/main" id="{027E60BA-07D0-DDAC-DBF1-CE0FF232BE22}"/>
                  </a:ext>
                </a:extLst>
              </p:cNvPr>
              <p:cNvCxnSpPr/>
              <p:nvPr/>
            </p:nvCxnSpPr>
            <p:spPr>
              <a:xfrm>
                <a:off x="1500389" y="3844343"/>
                <a:ext cx="9362941" cy="0"/>
              </a:xfrm>
              <a:prstGeom prst="line">
                <a:avLst/>
              </a:prstGeom>
              <a:ln>
                <a:solidFill>
                  <a:schemeClr val="tx1"/>
                </a:solidFill>
              </a:ln>
            </p:spPr>
            <p:style>
              <a:lnRef idx="1">
                <a:schemeClr val="accent2"/>
              </a:lnRef>
              <a:fillRef idx="0">
                <a:schemeClr val="accent2"/>
              </a:fillRef>
              <a:effectRef idx="0">
                <a:schemeClr val="accent2"/>
              </a:effectRef>
              <a:fontRef idx="minor">
                <a:schemeClr val="tx1"/>
              </a:fontRef>
            </p:style>
          </p:cxnSp>
          <p:cxnSp>
            <p:nvCxnSpPr>
              <p:cNvPr id="10" name="直接连接符 9">
                <a:extLst>
                  <a:ext uri="{FF2B5EF4-FFF2-40B4-BE49-F238E27FC236}">
                    <a16:creationId xmlns:a16="http://schemas.microsoft.com/office/drawing/2014/main" id="{904E6C59-C16C-7683-0133-6C505E2D5852}"/>
                  </a:ext>
                </a:extLst>
              </p:cNvPr>
              <p:cNvCxnSpPr>
                <a:cxnSpLocks/>
              </p:cNvCxnSpPr>
              <p:nvPr/>
            </p:nvCxnSpPr>
            <p:spPr>
              <a:xfrm>
                <a:off x="1493949" y="1674253"/>
                <a:ext cx="0" cy="4378817"/>
              </a:xfrm>
              <a:prstGeom prst="line">
                <a:avLst/>
              </a:prstGeom>
              <a:ln>
                <a:solidFill>
                  <a:schemeClr val="tx1"/>
                </a:solidFill>
              </a:ln>
            </p:spPr>
            <p:style>
              <a:lnRef idx="1">
                <a:schemeClr val="accent2"/>
              </a:lnRef>
              <a:fillRef idx="0">
                <a:schemeClr val="accent2"/>
              </a:fillRef>
              <a:effectRef idx="0">
                <a:schemeClr val="accent2"/>
              </a:effectRef>
              <a:fontRef idx="minor">
                <a:schemeClr val="tx1"/>
              </a:fontRef>
            </p:style>
          </p:cxnSp>
        </p:grpSp>
        <p:sp>
          <p:nvSpPr>
            <p:cNvPr id="5" name="文本框 4">
              <a:extLst>
                <a:ext uri="{FF2B5EF4-FFF2-40B4-BE49-F238E27FC236}">
                  <a16:creationId xmlns:a16="http://schemas.microsoft.com/office/drawing/2014/main" id="{9CE589CC-A2A0-6619-4F78-92C575134259}"/>
                </a:ext>
              </a:extLst>
            </p:cNvPr>
            <p:cNvSpPr txBox="1"/>
            <p:nvPr/>
          </p:nvSpPr>
          <p:spPr>
            <a:xfrm>
              <a:off x="341290" y="2382592"/>
              <a:ext cx="1152659" cy="369332"/>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Demand</a:t>
              </a:r>
              <a:endParaRPr kumimoji="0" lang="zh-CN" altLang="en-US" sz="1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sp>
          <p:nvSpPr>
            <p:cNvPr id="6" name="文本框 5">
              <a:extLst>
                <a:ext uri="{FF2B5EF4-FFF2-40B4-BE49-F238E27FC236}">
                  <a16:creationId xmlns:a16="http://schemas.microsoft.com/office/drawing/2014/main" id="{0C33520C-22CC-0086-7FD6-F6C3618D0534}"/>
                </a:ext>
              </a:extLst>
            </p:cNvPr>
            <p:cNvSpPr txBox="1"/>
            <p:nvPr/>
          </p:nvSpPr>
          <p:spPr>
            <a:xfrm>
              <a:off x="419638" y="4814415"/>
              <a:ext cx="1152659" cy="369332"/>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Supply</a:t>
              </a:r>
              <a:endParaRPr kumimoji="0" lang="zh-CN" altLang="en-US" sz="1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cxnSp>
          <p:nvCxnSpPr>
            <p:cNvPr id="7" name="直接连接符 6">
              <a:extLst>
                <a:ext uri="{FF2B5EF4-FFF2-40B4-BE49-F238E27FC236}">
                  <a16:creationId xmlns:a16="http://schemas.microsoft.com/office/drawing/2014/main" id="{87732030-4BDF-C473-6BA1-3D9E5F5A522B}"/>
                </a:ext>
              </a:extLst>
            </p:cNvPr>
            <p:cNvCxnSpPr/>
            <p:nvPr/>
          </p:nvCxnSpPr>
          <p:spPr>
            <a:xfrm>
              <a:off x="6072542" y="3217046"/>
              <a:ext cx="0" cy="1339403"/>
            </a:xfrm>
            <a:prstGeom prst="line">
              <a:avLst/>
            </a:prstGeom>
            <a:noFill/>
            <a:ln w="12700" cap="flat" cmpd="sng" algn="ctr">
              <a:solidFill>
                <a:schemeClr val="tx1"/>
              </a:solidFill>
              <a:prstDash val="solid"/>
              <a:miter lim="800000"/>
            </a:ln>
            <a:effectLst/>
          </p:spPr>
        </p:cxnSp>
        <p:sp>
          <p:nvSpPr>
            <p:cNvPr id="8" name="文本框 7">
              <a:extLst>
                <a:ext uri="{FF2B5EF4-FFF2-40B4-BE49-F238E27FC236}">
                  <a16:creationId xmlns:a16="http://schemas.microsoft.com/office/drawing/2014/main" id="{6374510E-56DA-730D-2981-C25034C45A90}"/>
                </a:ext>
              </a:extLst>
            </p:cNvPr>
            <p:cNvSpPr txBox="1"/>
            <p:nvPr/>
          </p:nvSpPr>
          <p:spPr>
            <a:xfrm>
              <a:off x="5264565" y="4642236"/>
              <a:ext cx="1719818" cy="800219"/>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800" b="1" i="0" u="none" strike="noStrike" kern="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Window:</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400" b="0" i="1" u="none" strike="noStrike" kern="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Could be defined dynamically</a:t>
              </a:r>
            </a:p>
          </p:txBody>
        </p:sp>
      </p:grpSp>
      <p:sp>
        <p:nvSpPr>
          <p:cNvPr id="11" name="矩形 10">
            <a:extLst>
              <a:ext uri="{FF2B5EF4-FFF2-40B4-BE49-F238E27FC236}">
                <a16:creationId xmlns:a16="http://schemas.microsoft.com/office/drawing/2014/main" id="{2CE8A865-B073-C2D7-4018-BABFC9A4AEAD}"/>
              </a:ext>
            </a:extLst>
          </p:cNvPr>
          <p:cNvSpPr/>
          <p:nvPr/>
        </p:nvSpPr>
        <p:spPr>
          <a:xfrm>
            <a:off x="2343955" y="3919166"/>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P1(15)</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12" name="矩形 11">
            <a:extLst>
              <a:ext uri="{FF2B5EF4-FFF2-40B4-BE49-F238E27FC236}">
                <a16:creationId xmlns:a16="http://schemas.microsoft.com/office/drawing/2014/main" id="{E9F485BB-34F0-BA16-901C-2A2FE164862D}"/>
              </a:ext>
            </a:extLst>
          </p:cNvPr>
          <p:cNvSpPr/>
          <p:nvPr/>
        </p:nvSpPr>
        <p:spPr>
          <a:xfrm>
            <a:off x="2340732" y="357788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P2(10)</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13" name="矩形 12">
            <a:extLst>
              <a:ext uri="{FF2B5EF4-FFF2-40B4-BE49-F238E27FC236}">
                <a16:creationId xmlns:a16="http://schemas.microsoft.com/office/drawing/2014/main" id="{C19963E2-B693-5591-538E-13461C1C5060}"/>
              </a:ext>
            </a:extLst>
          </p:cNvPr>
          <p:cNvSpPr/>
          <p:nvPr/>
        </p:nvSpPr>
        <p:spPr>
          <a:xfrm>
            <a:off x="2340733" y="324947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P2(5)</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cxnSp>
        <p:nvCxnSpPr>
          <p:cNvPr id="14" name="直接箭头连接符 13">
            <a:extLst>
              <a:ext uri="{FF2B5EF4-FFF2-40B4-BE49-F238E27FC236}">
                <a16:creationId xmlns:a16="http://schemas.microsoft.com/office/drawing/2014/main" id="{8A5F36E8-F07F-9410-56D8-56D6F3BADF2A}"/>
              </a:ext>
            </a:extLst>
          </p:cNvPr>
          <p:cNvCxnSpPr/>
          <p:nvPr/>
        </p:nvCxnSpPr>
        <p:spPr>
          <a:xfrm>
            <a:off x="2215167" y="3210837"/>
            <a:ext cx="0" cy="1043180"/>
          </a:xfrm>
          <a:prstGeom prst="straightConnector1">
            <a:avLst/>
          </a:prstGeom>
          <a:ln>
            <a:solidFill>
              <a:schemeClr val="tx1"/>
            </a:solidFill>
            <a:tailEnd type="triangle"/>
          </a:ln>
        </p:spPr>
        <p:style>
          <a:lnRef idx="1">
            <a:schemeClr val="accent2"/>
          </a:lnRef>
          <a:fillRef idx="0">
            <a:schemeClr val="accent2"/>
          </a:fillRef>
          <a:effectRef idx="0">
            <a:schemeClr val="accent2"/>
          </a:effectRef>
          <a:fontRef idx="minor">
            <a:schemeClr val="tx1"/>
          </a:fontRef>
        </p:style>
      </p:cxnSp>
      <p:sp>
        <p:nvSpPr>
          <p:cNvPr id="15" name="文本框 14">
            <a:extLst>
              <a:ext uri="{FF2B5EF4-FFF2-40B4-BE49-F238E27FC236}">
                <a16:creationId xmlns:a16="http://schemas.microsoft.com/office/drawing/2014/main" id="{43BCF4DC-1745-5656-9462-7842E8E4E91E}"/>
              </a:ext>
            </a:extLst>
          </p:cNvPr>
          <p:cNvSpPr txBox="1"/>
          <p:nvPr/>
        </p:nvSpPr>
        <p:spPr>
          <a:xfrm>
            <a:off x="1981200" y="2841958"/>
            <a:ext cx="1043189" cy="276999"/>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altLang="zh-CN" sz="1200" b="1" dirty="0">
                <a:solidFill>
                  <a:schemeClr val="tx1"/>
                </a:solidFill>
                <a:latin typeface="Arial" panose="020B0604020202020204" pitchFamily="34" charset="0"/>
                <a:ea typeface="微软雅黑" panose="020B0503020204020204" pitchFamily="34" charset="-122"/>
              </a:rPr>
              <a:t>Priority</a:t>
            </a:r>
            <a:endParaRPr lang="zh-CN" altLang="en-US" sz="1200" b="1" dirty="0">
              <a:solidFill>
                <a:schemeClr val="tx1"/>
              </a:solidFill>
              <a:latin typeface="Arial" panose="020B0604020202020204" pitchFamily="34" charset="0"/>
              <a:ea typeface="微软雅黑" panose="020B0503020204020204" pitchFamily="34" charset="-122"/>
            </a:endParaRPr>
          </a:p>
        </p:txBody>
      </p:sp>
      <p:sp>
        <p:nvSpPr>
          <p:cNvPr id="16" name="矩形 15">
            <a:extLst>
              <a:ext uri="{FF2B5EF4-FFF2-40B4-BE49-F238E27FC236}">
                <a16:creationId xmlns:a16="http://schemas.microsoft.com/office/drawing/2014/main" id="{D19D66F9-6CB5-4145-A3C1-18A767D94B45}"/>
              </a:ext>
            </a:extLst>
          </p:cNvPr>
          <p:cNvSpPr/>
          <p:nvPr/>
        </p:nvSpPr>
        <p:spPr>
          <a:xfrm>
            <a:off x="4432483" y="3892276"/>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P3(5)</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17" name="矩形 16">
            <a:extLst>
              <a:ext uri="{FF2B5EF4-FFF2-40B4-BE49-F238E27FC236}">
                <a16:creationId xmlns:a16="http://schemas.microsoft.com/office/drawing/2014/main" id="{F0E36616-827F-11A9-048B-17276F262047}"/>
              </a:ext>
            </a:extLst>
          </p:cNvPr>
          <p:cNvSpPr/>
          <p:nvPr/>
        </p:nvSpPr>
        <p:spPr>
          <a:xfrm>
            <a:off x="4429260" y="355099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P3(10)</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18" name="矩形 17">
            <a:extLst>
              <a:ext uri="{FF2B5EF4-FFF2-40B4-BE49-F238E27FC236}">
                <a16:creationId xmlns:a16="http://schemas.microsoft.com/office/drawing/2014/main" id="{D2D78C58-EFAE-BE13-8F60-2083A6973501}"/>
              </a:ext>
            </a:extLst>
          </p:cNvPr>
          <p:cNvSpPr/>
          <p:nvPr/>
        </p:nvSpPr>
        <p:spPr>
          <a:xfrm>
            <a:off x="4429261" y="322258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P3(10)</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cxnSp>
        <p:nvCxnSpPr>
          <p:cNvPr id="19" name="直接箭头连接符 18">
            <a:extLst>
              <a:ext uri="{FF2B5EF4-FFF2-40B4-BE49-F238E27FC236}">
                <a16:creationId xmlns:a16="http://schemas.microsoft.com/office/drawing/2014/main" id="{53CBA763-EB0F-9D11-9C2B-D8699B3700F3}"/>
              </a:ext>
            </a:extLst>
          </p:cNvPr>
          <p:cNvCxnSpPr/>
          <p:nvPr/>
        </p:nvCxnSpPr>
        <p:spPr>
          <a:xfrm>
            <a:off x="5417717" y="3158181"/>
            <a:ext cx="0" cy="1043180"/>
          </a:xfrm>
          <a:prstGeom prst="straightConnector1">
            <a:avLst/>
          </a:prstGeom>
          <a:ln>
            <a:solidFill>
              <a:schemeClr val="tx1"/>
            </a:solidFill>
            <a:tailEnd type="triangle"/>
          </a:ln>
        </p:spPr>
        <p:style>
          <a:lnRef idx="1">
            <a:schemeClr val="accent2"/>
          </a:lnRef>
          <a:fillRef idx="0">
            <a:schemeClr val="accent2"/>
          </a:fillRef>
          <a:effectRef idx="0">
            <a:schemeClr val="accent2"/>
          </a:effectRef>
          <a:fontRef idx="minor">
            <a:schemeClr val="tx1"/>
          </a:fontRef>
        </p:style>
      </p:cxnSp>
      <p:sp>
        <p:nvSpPr>
          <p:cNvPr id="20" name="文本框 19">
            <a:extLst>
              <a:ext uri="{FF2B5EF4-FFF2-40B4-BE49-F238E27FC236}">
                <a16:creationId xmlns:a16="http://schemas.microsoft.com/office/drawing/2014/main" id="{2E7DA251-8C9C-A5B6-EB9C-19B0030E625F}"/>
              </a:ext>
            </a:extLst>
          </p:cNvPr>
          <p:cNvSpPr txBox="1"/>
          <p:nvPr/>
        </p:nvSpPr>
        <p:spPr>
          <a:xfrm>
            <a:off x="5052811" y="2829675"/>
            <a:ext cx="1043189" cy="276999"/>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altLang="zh-CN" sz="1200" b="1" dirty="0">
                <a:solidFill>
                  <a:schemeClr val="tx1"/>
                </a:solidFill>
                <a:latin typeface="Arial" panose="020B0604020202020204" pitchFamily="34" charset="0"/>
                <a:ea typeface="微软雅黑" panose="020B0503020204020204" pitchFamily="34" charset="-122"/>
              </a:rPr>
              <a:t>Priority</a:t>
            </a:r>
            <a:endParaRPr lang="zh-CN" altLang="en-US" sz="1200" b="1" dirty="0">
              <a:solidFill>
                <a:schemeClr val="tx1"/>
              </a:solidFill>
              <a:latin typeface="Arial" panose="020B0604020202020204" pitchFamily="34" charset="0"/>
              <a:ea typeface="微软雅黑" panose="020B0503020204020204" pitchFamily="34" charset="-122"/>
            </a:endParaRPr>
          </a:p>
        </p:txBody>
      </p:sp>
      <p:sp>
        <p:nvSpPr>
          <p:cNvPr id="21" name="矩形 20">
            <a:extLst>
              <a:ext uri="{FF2B5EF4-FFF2-40B4-BE49-F238E27FC236}">
                <a16:creationId xmlns:a16="http://schemas.microsoft.com/office/drawing/2014/main" id="{E66A89D3-E892-AADC-2923-232F9B134BCB}"/>
              </a:ext>
            </a:extLst>
          </p:cNvPr>
          <p:cNvSpPr/>
          <p:nvPr/>
        </p:nvSpPr>
        <p:spPr>
          <a:xfrm>
            <a:off x="2936383" y="5252130"/>
            <a:ext cx="1867437" cy="800210"/>
          </a:xfrm>
          <a:prstGeom prst="rect">
            <a:avLst/>
          </a:prstGeom>
          <a:solidFill>
            <a:srgbClr val="388600"/>
          </a:solidFill>
          <a:ln w="12700" cap="flat" cmpd="sng" algn="ctr">
            <a:solidFill>
              <a:srgbClr val="525354">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Line1</a:t>
            </a:r>
            <a:r>
              <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50</a:t>
            </a:r>
            <a:r>
              <a:rPr lang="zh-CN" altLang="en-US" sz="1200" b="1" kern="0" dirty="0">
                <a:solidFill>
                  <a:srgbClr val="FFFFFF"/>
                </a:solidFill>
                <a:latin typeface="Arial" panose="020B0604020202020204" pitchFamily="34" charset="0"/>
                <a:ea typeface="微软雅黑" panose="020B0503020204020204" pitchFamily="34" charset="-122"/>
              </a:rPr>
              <a:t>份产能</a:t>
            </a:r>
            <a:r>
              <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a:t>
            </a:r>
          </a:p>
        </p:txBody>
      </p:sp>
      <p:cxnSp>
        <p:nvCxnSpPr>
          <p:cNvPr id="22" name="连接符: 肘形 31">
            <a:extLst>
              <a:ext uri="{FF2B5EF4-FFF2-40B4-BE49-F238E27FC236}">
                <a16:creationId xmlns:a16="http://schemas.microsoft.com/office/drawing/2014/main" id="{BA26EF6E-9646-D197-6199-74086407A579}"/>
              </a:ext>
            </a:extLst>
          </p:cNvPr>
          <p:cNvCxnSpPr>
            <a:stCxn id="21" idx="0"/>
            <a:endCxn id="16" idx="1"/>
          </p:cNvCxnSpPr>
          <p:nvPr/>
        </p:nvCxnSpPr>
        <p:spPr>
          <a:xfrm rot="5400000" flipH="1" flipV="1">
            <a:off x="3548637" y="4368285"/>
            <a:ext cx="1205311" cy="562381"/>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cxnSp>
        <p:nvCxnSpPr>
          <p:cNvPr id="23" name="连接符: 肘形 31">
            <a:extLst>
              <a:ext uri="{FF2B5EF4-FFF2-40B4-BE49-F238E27FC236}">
                <a16:creationId xmlns:a16="http://schemas.microsoft.com/office/drawing/2014/main" id="{5640C8A3-6DDF-F599-51FE-4A7153386AFD}"/>
              </a:ext>
            </a:extLst>
          </p:cNvPr>
          <p:cNvCxnSpPr>
            <a:cxnSpLocks/>
            <a:endCxn id="17" idx="1"/>
          </p:cNvCxnSpPr>
          <p:nvPr/>
        </p:nvCxnSpPr>
        <p:spPr>
          <a:xfrm rot="5400000" flipH="1" flipV="1">
            <a:off x="3390256" y="4188606"/>
            <a:ext cx="1522072" cy="555936"/>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cxnSp>
        <p:nvCxnSpPr>
          <p:cNvPr id="24" name="连接符: 肘形 31">
            <a:extLst>
              <a:ext uri="{FF2B5EF4-FFF2-40B4-BE49-F238E27FC236}">
                <a16:creationId xmlns:a16="http://schemas.microsoft.com/office/drawing/2014/main" id="{35945EF2-B188-E430-5EF9-C6C0EE346B25}"/>
              </a:ext>
            </a:extLst>
          </p:cNvPr>
          <p:cNvCxnSpPr>
            <a:cxnSpLocks/>
            <a:stCxn id="21" idx="0"/>
            <a:endCxn id="18" idx="1"/>
          </p:cNvCxnSpPr>
          <p:nvPr/>
        </p:nvCxnSpPr>
        <p:spPr>
          <a:xfrm rot="5400000" flipH="1" flipV="1">
            <a:off x="3212180" y="4035050"/>
            <a:ext cx="1875002" cy="559159"/>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cxnSp>
        <p:nvCxnSpPr>
          <p:cNvPr id="25" name="连接符: 肘形 31">
            <a:extLst>
              <a:ext uri="{FF2B5EF4-FFF2-40B4-BE49-F238E27FC236}">
                <a16:creationId xmlns:a16="http://schemas.microsoft.com/office/drawing/2014/main" id="{A8733B9D-00B6-C95F-9996-E156A223007B}"/>
              </a:ext>
            </a:extLst>
          </p:cNvPr>
          <p:cNvCxnSpPr>
            <a:cxnSpLocks/>
            <a:stCxn id="21" idx="0"/>
            <a:endCxn id="11" idx="3"/>
          </p:cNvCxnSpPr>
          <p:nvPr/>
        </p:nvCxnSpPr>
        <p:spPr>
          <a:xfrm rot="16200000" flipV="1">
            <a:off x="2876816" y="4258844"/>
            <a:ext cx="1178421" cy="808152"/>
          </a:xfrm>
          <a:prstGeom prst="curvedConnector2">
            <a:avLst/>
          </a:prstGeom>
          <a:noFill/>
          <a:ln w="9525" cap="flat" cmpd="sng" algn="ctr">
            <a:solidFill>
              <a:schemeClr val="tx1"/>
            </a:solidFill>
            <a:prstDash val="solid"/>
            <a:round/>
            <a:headEnd type="none" w="med" len="med"/>
            <a:tailEnd type="arrow" w="med" len="med"/>
          </a:ln>
          <a:effectLst/>
        </p:spPr>
      </p:cxnSp>
      <p:cxnSp>
        <p:nvCxnSpPr>
          <p:cNvPr id="26" name="连接符: 肘形 31">
            <a:extLst>
              <a:ext uri="{FF2B5EF4-FFF2-40B4-BE49-F238E27FC236}">
                <a16:creationId xmlns:a16="http://schemas.microsoft.com/office/drawing/2014/main" id="{D949A3C6-51F6-9046-2C04-54266487A7CD}"/>
              </a:ext>
            </a:extLst>
          </p:cNvPr>
          <p:cNvCxnSpPr>
            <a:cxnSpLocks/>
            <a:stCxn id="21" idx="0"/>
            <a:endCxn id="12" idx="3"/>
          </p:cNvCxnSpPr>
          <p:nvPr/>
        </p:nvCxnSpPr>
        <p:spPr>
          <a:xfrm rot="16200000" flipV="1">
            <a:off x="2704564" y="4086591"/>
            <a:ext cx="1519702" cy="811375"/>
          </a:xfrm>
          <a:prstGeom prst="curvedConnector2">
            <a:avLst/>
          </a:prstGeom>
          <a:ln w="9525" cap="flat" cmpd="sng" algn="ctr">
            <a:solidFill>
              <a:schemeClr val="tx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27" name="矩形 26">
            <a:extLst>
              <a:ext uri="{FF2B5EF4-FFF2-40B4-BE49-F238E27FC236}">
                <a16:creationId xmlns:a16="http://schemas.microsoft.com/office/drawing/2014/main" id="{B5FAFD89-C4C3-2A7E-956C-01A38143B81A}"/>
              </a:ext>
            </a:extLst>
          </p:cNvPr>
          <p:cNvSpPr/>
          <p:nvPr/>
        </p:nvSpPr>
        <p:spPr>
          <a:xfrm>
            <a:off x="7330227" y="3919166"/>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P1(15)</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28" name="矩形 27">
            <a:extLst>
              <a:ext uri="{FF2B5EF4-FFF2-40B4-BE49-F238E27FC236}">
                <a16:creationId xmlns:a16="http://schemas.microsoft.com/office/drawing/2014/main" id="{2D19D9C3-D9A6-3B93-8E3C-1BD1D056C2A1}"/>
              </a:ext>
            </a:extLst>
          </p:cNvPr>
          <p:cNvSpPr/>
          <p:nvPr/>
        </p:nvSpPr>
        <p:spPr>
          <a:xfrm>
            <a:off x="7327004" y="357788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P2(5)</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29" name="矩形 28">
            <a:extLst>
              <a:ext uri="{FF2B5EF4-FFF2-40B4-BE49-F238E27FC236}">
                <a16:creationId xmlns:a16="http://schemas.microsoft.com/office/drawing/2014/main" id="{355CDB43-A6CE-31D2-ED0D-886DCAA7238E}"/>
              </a:ext>
            </a:extLst>
          </p:cNvPr>
          <p:cNvSpPr/>
          <p:nvPr/>
        </p:nvSpPr>
        <p:spPr>
          <a:xfrm>
            <a:off x="7327005" y="324947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P2(10)</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cxnSp>
        <p:nvCxnSpPr>
          <p:cNvPr id="30" name="直接箭头连接符 29">
            <a:extLst>
              <a:ext uri="{FF2B5EF4-FFF2-40B4-BE49-F238E27FC236}">
                <a16:creationId xmlns:a16="http://schemas.microsoft.com/office/drawing/2014/main" id="{D2EA29AB-8D3E-6AC7-46ED-EB6621DCE41E}"/>
              </a:ext>
            </a:extLst>
          </p:cNvPr>
          <p:cNvCxnSpPr/>
          <p:nvPr/>
        </p:nvCxnSpPr>
        <p:spPr>
          <a:xfrm>
            <a:off x="7201439" y="3210837"/>
            <a:ext cx="0" cy="1043180"/>
          </a:xfrm>
          <a:prstGeom prst="straightConnector1">
            <a:avLst/>
          </a:prstGeom>
          <a:ln>
            <a:solidFill>
              <a:schemeClr val="tx1"/>
            </a:solidFill>
            <a:tailEnd type="triangle"/>
          </a:ln>
        </p:spPr>
        <p:style>
          <a:lnRef idx="1">
            <a:schemeClr val="accent2"/>
          </a:lnRef>
          <a:fillRef idx="0">
            <a:schemeClr val="accent2"/>
          </a:fillRef>
          <a:effectRef idx="0">
            <a:schemeClr val="accent2"/>
          </a:effectRef>
          <a:fontRef idx="minor">
            <a:schemeClr val="tx1"/>
          </a:fontRef>
        </p:style>
      </p:cxnSp>
      <p:sp>
        <p:nvSpPr>
          <p:cNvPr id="31" name="文本框 30">
            <a:extLst>
              <a:ext uri="{FF2B5EF4-FFF2-40B4-BE49-F238E27FC236}">
                <a16:creationId xmlns:a16="http://schemas.microsoft.com/office/drawing/2014/main" id="{F8437C7C-A95A-A55B-6357-2D8D645EC92B}"/>
              </a:ext>
            </a:extLst>
          </p:cNvPr>
          <p:cNvSpPr txBox="1"/>
          <p:nvPr/>
        </p:nvSpPr>
        <p:spPr>
          <a:xfrm>
            <a:off x="6967472" y="2841958"/>
            <a:ext cx="1043189" cy="276999"/>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altLang="zh-CN" sz="1200" b="1" dirty="0">
                <a:solidFill>
                  <a:schemeClr val="tx1"/>
                </a:solidFill>
                <a:latin typeface="Arial" panose="020B0604020202020204" pitchFamily="34" charset="0"/>
                <a:ea typeface="微软雅黑" panose="020B0503020204020204" pitchFamily="34" charset="-122"/>
              </a:rPr>
              <a:t>Priority</a:t>
            </a:r>
            <a:endParaRPr lang="zh-CN" altLang="en-US" sz="1200" b="1" dirty="0">
              <a:solidFill>
                <a:schemeClr val="tx1"/>
              </a:solidFill>
              <a:latin typeface="Arial" panose="020B0604020202020204" pitchFamily="34" charset="0"/>
              <a:ea typeface="微软雅黑" panose="020B0503020204020204" pitchFamily="34" charset="-122"/>
            </a:endParaRPr>
          </a:p>
        </p:txBody>
      </p:sp>
      <p:sp>
        <p:nvSpPr>
          <p:cNvPr id="32" name="矩形 31">
            <a:extLst>
              <a:ext uri="{FF2B5EF4-FFF2-40B4-BE49-F238E27FC236}">
                <a16:creationId xmlns:a16="http://schemas.microsoft.com/office/drawing/2014/main" id="{197F0B35-5AAB-FA7A-0F38-68E0F0042FFC}"/>
              </a:ext>
            </a:extLst>
          </p:cNvPr>
          <p:cNvSpPr/>
          <p:nvPr/>
        </p:nvSpPr>
        <p:spPr>
          <a:xfrm>
            <a:off x="9418755" y="3892276"/>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P3(</a:t>
            </a:r>
            <a:r>
              <a:rPr lang="en-US" altLang="zh-CN" sz="1200" b="1" kern="0" dirty="0">
                <a:solidFill>
                  <a:srgbClr val="FFFFFF"/>
                </a:solidFill>
                <a:latin typeface="Arial" panose="020B0604020202020204" pitchFamily="34" charset="0"/>
                <a:ea typeface="微软雅黑" panose="020B0503020204020204" pitchFamily="34" charset="-122"/>
              </a:rPr>
              <a:t>10</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33" name="矩形 32">
            <a:extLst>
              <a:ext uri="{FF2B5EF4-FFF2-40B4-BE49-F238E27FC236}">
                <a16:creationId xmlns:a16="http://schemas.microsoft.com/office/drawing/2014/main" id="{9D9D6BBE-9D13-A48D-9046-55EEF58BC422}"/>
              </a:ext>
            </a:extLst>
          </p:cNvPr>
          <p:cNvSpPr/>
          <p:nvPr/>
        </p:nvSpPr>
        <p:spPr>
          <a:xfrm>
            <a:off x="9415532" y="355099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P3(</a:t>
            </a:r>
            <a:r>
              <a:rPr lang="en-US" altLang="zh-CN" sz="1200" b="1" kern="0" dirty="0">
                <a:solidFill>
                  <a:srgbClr val="FFFFFF"/>
                </a:solidFill>
                <a:latin typeface="Arial" panose="020B0604020202020204" pitchFamily="34" charset="0"/>
                <a:ea typeface="微软雅黑" panose="020B0503020204020204" pitchFamily="34" charset="-122"/>
              </a:rPr>
              <a:t>15</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34" name="矩形 33">
            <a:extLst>
              <a:ext uri="{FF2B5EF4-FFF2-40B4-BE49-F238E27FC236}">
                <a16:creationId xmlns:a16="http://schemas.microsoft.com/office/drawing/2014/main" id="{453C27D2-AFD3-2594-B7A1-F439B4121A0A}"/>
              </a:ext>
            </a:extLst>
          </p:cNvPr>
          <p:cNvSpPr/>
          <p:nvPr/>
        </p:nvSpPr>
        <p:spPr>
          <a:xfrm>
            <a:off x="9415533" y="322258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P3(</a:t>
            </a:r>
            <a:r>
              <a:rPr lang="en-US" altLang="zh-CN" sz="1200" b="1" kern="0" dirty="0">
                <a:solidFill>
                  <a:srgbClr val="FFFFFF"/>
                </a:solidFill>
                <a:latin typeface="Arial" panose="020B0604020202020204" pitchFamily="34" charset="0"/>
                <a:ea typeface="微软雅黑" panose="020B0503020204020204" pitchFamily="34" charset="-122"/>
              </a:rPr>
              <a:t>20</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cxnSp>
        <p:nvCxnSpPr>
          <p:cNvPr id="35" name="直接箭头连接符 34">
            <a:extLst>
              <a:ext uri="{FF2B5EF4-FFF2-40B4-BE49-F238E27FC236}">
                <a16:creationId xmlns:a16="http://schemas.microsoft.com/office/drawing/2014/main" id="{38C8C09E-E7CE-630D-56B9-FB7689389C27}"/>
              </a:ext>
            </a:extLst>
          </p:cNvPr>
          <p:cNvCxnSpPr/>
          <p:nvPr/>
        </p:nvCxnSpPr>
        <p:spPr>
          <a:xfrm>
            <a:off x="10403989" y="3158181"/>
            <a:ext cx="0" cy="1043180"/>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sp>
        <p:nvSpPr>
          <p:cNvPr id="36" name="文本框 35">
            <a:extLst>
              <a:ext uri="{FF2B5EF4-FFF2-40B4-BE49-F238E27FC236}">
                <a16:creationId xmlns:a16="http://schemas.microsoft.com/office/drawing/2014/main" id="{175025F0-1CA3-B041-1E6D-8CDD7F93A6C7}"/>
              </a:ext>
            </a:extLst>
          </p:cNvPr>
          <p:cNvSpPr txBox="1"/>
          <p:nvPr/>
        </p:nvSpPr>
        <p:spPr>
          <a:xfrm>
            <a:off x="10039083" y="2829675"/>
            <a:ext cx="1043189" cy="276999"/>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altLang="zh-CN" sz="1200" b="1" dirty="0">
                <a:solidFill>
                  <a:schemeClr val="tx1"/>
                </a:solidFill>
                <a:latin typeface="Arial" panose="020B0604020202020204" pitchFamily="34" charset="0"/>
                <a:ea typeface="微软雅黑" panose="020B0503020204020204" pitchFamily="34" charset="-122"/>
              </a:rPr>
              <a:t>Priority</a:t>
            </a:r>
            <a:endParaRPr lang="zh-CN" altLang="en-US" sz="1200" b="1" dirty="0">
              <a:solidFill>
                <a:schemeClr val="tx1"/>
              </a:solidFill>
              <a:latin typeface="Arial" panose="020B0604020202020204" pitchFamily="34" charset="0"/>
              <a:ea typeface="微软雅黑" panose="020B0503020204020204" pitchFamily="34" charset="-122"/>
            </a:endParaRPr>
          </a:p>
        </p:txBody>
      </p:sp>
      <p:sp>
        <p:nvSpPr>
          <p:cNvPr id="37" name="矩形 36">
            <a:extLst>
              <a:ext uri="{FF2B5EF4-FFF2-40B4-BE49-F238E27FC236}">
                <a16:creationId xmlns:a16="http://schemas.microsoft.com/office/drawing/2014/main" id="{A8CFE0B0-8CF9-989F-8AB3-0CF04E5706BC}"/>
              </a:ext>
            </a:extLst>
          </p:cNvPr>
          <p:cNvSpPr/>
          <p:nvPr/>
        </p:nvSpPr>
        <p:spPr>
          <a:xfrm>
            <a:off x="7922655" y="5252130"/>
            <a:ext cx="1867437" cy="800210"/>
          </a:xfrm>
          <a:prstGeom prst="rect">
            <a:avLst/>
          </a:prstGeom>
          <a:solidFill>
            <a:srgbClr val="388600"/>
          </a:solidFill>
          <a:ln w="12700" cap="flat" cmpd="sng" algn="ctr">
            <a:solidFill>
              <a:srgbClr val="525354">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200" b="1" kern="0" dirty="0">
                <a:solidFill>
                  <a:srgbClr val="FFFFFF"/>
                </a:solidFill>
                <a:latin typeface="Arial" panose="020B0604020202020204" pitchFamily="34" charset="0"/>
                <a:ea typeface="微软雅黑" panose="020B0503020204020204" pitchFamily="34" charset="-122"/>
              </a:rPr>
              <a:t>Line1</a:t>
            </a: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 (40)</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cxnSp>
        <p:nvCxnSpPr>
          <p:cNvPr id="38" name="连接符: 肘形 31">
            <a:extLst>
              <a:ext uri="{FF2B5EF4-FFF2-40B4-BE49-F238E27FC236}">
                <a16:creationId xmlns:a16="http://schemas.microsoft.com/office/drawing/2014/main" id="{7B40D7FF-8C7C-A633-B4A6-3BE6FEF6A882}"/>
              </a:ext>
            </a:extLst>
          </p:cNvPr>
          <p:cNvCxnSpPr>
            <a:stCxn id="37" idx="0"/>
            <a:endCxn id="32" idx="1"/>
          </p:cNvCxnSpPr>
          <p:nvPr/>
        </p:nvCxnSpPr>
        <p:spPr>
          <a:xfrm rot="5400000" flipH="1" flipV="1">
            <a:off x="8534909" y="4368285"/>
            <a:ext cx="1205311" cy="562381"/>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cxnSp>
        <p:nvCxnSpPr>
          <p:cNvPr id="39" name="连接符: 肘形 31">
            <a:extLst>
              <a:ext uri="{FF2B5EF4-FFF2-40B4-BE49-F238E27FC236}">
                <a16:creationId xmlns:a16="http://schemas.microsoft.com/office/drawing/2014/main" id="{764395EB-7671-CDD6-6B82-C1F59922D1E9}"/>
              </a:ext>
            </a:extLst>
          </p:cNvPr>
          <p:cNvCxnSpPr>
            <a:cxnSpLocks/>
            <a:stCxn id="37" idx="0"/>
            <a:endCxn id="27" idx="3"/>
          </p:cNvCxnSpPr>
          <p:nvPr/>
        </p:nvCxnSpPr>
        <p:spPr>
          <a:xfrm rot="16200000" flipV="1">
            <a:off x="7863088" y="4258844"/>
            <a:ext cx="1178421" cy="808152"/>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cxnSp>
        <p:nvCxnSpPr>
          <p:cNvPr id="40" name="连接符: 肘形 31">
            <a:extLst>
              <a:ext uri="{FF2B5EF4-FFF2-40B4-BE49-F238E27FC236}">
                <a16:creationId xmlns:a16="http://schemas.microsoft.com/office/drawing/2014/main" id="{AAA16EC6-150D-5099-D9C2-7B7D98EDF096}"/>
              </a:ext>
            </a:extLst>
          </p:cNvPr>
          <p:cNvCxnSpPr>
            <a:cxnSpLocks/>
            <a:stCxn id="37" idx="0"/>
            <a:endCxn id="28" idx="3"/>
          </p:cNvCxnSpPr>
          <p:nvPr/>
        </p:nvCxnSpPr>
        <p:spPr>
          <a:xfrm rot="16200000" flipV="1">
            <a:off x="7690836" y="4086591"/>
            <a:ext cx="1519702" cy="811375"/>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cxnSp>
        <p:nvCxnSpPr>
          <p:cNvPr id="41" name="连接符: 肘形 31">
            <a:extLst>
              <a:ext uri="{FF2B5EF4-FFF2-40B4-BE49-F238E27FC236}">
                <a16:creationId xmlns:a16="http://schemas.microsoft.com/office/drawing/2014/main" id="{1FE30443-A230-2533-9CC1-8A5086373262}"/>
              </a:ext>
            </a:extLst>
          </p:cNvPr>
          <p:cNvCxnSpPr>
            <a:cxnSpLocks/>
            <a:stCxn id="37" idx="0"/>
            <a:endCxn id="29" idx="3"/>
          </p:cNvCxnSpPr>
          <p:nvPr/>
        </p:nvCxnSpPr>
        <p:spPr>
          <a:xfrm rot="16200000" flipV="1">
            <a:off x="7526631" y="3922387"/>
            <a:ext cx="1848112" cy="811374"/>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sp>
        <p:nvSpPr>
          <p:cNvPr id="42" name="文本框 41">
            <a:extLst>
              <a:ext uri="{FF2B5EF4-FFF2-40B4-BE49-F238E27FC236}">
                <a16:creationId xmlns:a16="http://schemas.microsoft.com/office/drawing/2014/main" id="{06F3FF8B-D8F1-193E-6E55-3B921F6CA368}"/>
              </a:ext>
            </a:extLst>
          </p:cNvPr>
          <p:cNvSpPr txBox="1"/>
          <p:nvPr/>
        </p:nvSpPr>
        <p:spPr>
          <a:xfrm>
            <a:off x="10633652" y="5000426"/>
            <a:ext cx="1152659" cy="369332"/>
          </a:xfrm>
          <a:prstGeom prst="rect">
            <a:avLst/>
          </a:prstGeom>
          <a:noFill/>
        </p:spPr>
        <p:txBody>
          <a:bodyPr wrap="square" rtlCol="0">
            <a:spAutoFit/>
          </a:bodyPr>
          <a:lstStyle/>
          <a:p>
            <a:r>
              <a:rPr lang="en-US" altLang="zh-CN" b="1" dirty="0">
                <a:latin typeface="Arial" panose="020B0604020202020204" pitchFamily="34" charset="0"/>
                <a:ea typeface="微软雅黑" panose="020B0503020204020204" pitchFamily="34" charset="-122"/>
              </a:rPr>
              <a:t>Time</a:t>
            </a:r>
            <a:endParaRPr lang="zh-CN" altLang="en-US" b="1" dirty="0">
              <a:latin typeface="Arial" panose="020B0604020202020204" pitchFamily="34" charset="0"/>
              <a:ea typeface="微软雅黑" panose="020B0503020204020204" pitchFamily="34" charset="-122"/>
            </a:endParaRPr>
          </a:p>
        </p:txBody>
      </p:sp>
      <p:sp>
        <p:nvSpPr>
          <p:cNvPr id="43" name="矩形 42">
            <a:extLst>
              <a:ext uri="{FF2B5EF4-FFF2-40B4-BE49-F238E27FC236}">
                <a16:creationId xmlns:a16="http://schemas.microsoft.com/office/drawing/2014/main" id="{40460A6D-FC2A-D5EC-9553-565B7DB5B4F5}"/>
              </a:ext>
            </a:extLst>
          </p:cNvPr>
          <p:cNvSpPr/>
          <p:nvPr/>
        </p:nvSpPr>
        <p:spPr>
          <a:xfrm>
            <a:off x="2871483" y="927790"/>
            <a:ext cx="846001" cy="312449"/>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a:ln>
                  <a:noFill/>
                </a:ln>
                <a:solidFill>
                  <a:srgbClr val="FFFFFF"/>
                </a:solidFill>
                <a:effectLst/>
                <a:uLnTx/>
                <a:uFillTx/>
                <a:latin typeface="Arial" panose="020B0604020202020204" pitchFamily="34" charset="0"/>
                <a:ea typeface="微软雅黑" panose="020B0503020204020204" pitchFamily="34" charset="-122"/>
                <a:cs typeface="+mn-cs"/>
              </a:rPr>
              <a:t>FG11</a:t>
            </a:r>
            <a:r>
              <a:rPr kumimoji="0" lang="en-US" altLang="zh-CN" sz="105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….n</a:t>
            </a:r>
            <a:endParaRPr kumimoji="0" lang="zh-CN" altLang="en-US" sz="105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nvGrpSpPr>
          <p:cNvPr id="44" name="组合 43">
            <a:extLst>
              <a:ext uri="{FF2B5EF4-FFF2-40B4-BE49-F238E27FC236}">
                <a16:creationId xmlns:a16="http://schemas.microsoft.com/office/drawing/2014/main" id="{EAA55130-C3B0-CAB0-C138-F7BDF035E88E}"/>
              </a:ext>
            </a:extLst>
          </p:cNvPr>
          <p:cNvGrpSpPr/>
          <p:nvPr/>
        </p:nvGrpSpPr>
        <p:grpSpPr>
          <a:xfrm>
            <a:off x="2118092" y="1578371"/>
            <a:ext cx="956448" cy="482037"/>
            <a:chOff x="2678806" y="1841679"/>
            <a:chExt cx="811905" cy="384518"/>
          </a:xfrm>
        </p:grpSpPr>
        <p:sp>
          <p:nvSpPr>
            <p:cNvPr id="45" name="等腰三角形 44">
              <a:extLst>
                <a:ext uri="{FF2B5EF4-FFF2-40B4-BE49-F238E27FC236}">
                  <a16:creationId xmlns:a16="http://schemas.microsoft.com/office/drawing/2014/main" id="{CE73FF1F-8780-FDD3-1DF8-F14BA4BD45B3}"/>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700" b="1" i="0" u="none" strike="noStrike" kern="0" cap="none" spc="0" normalizeH="0" baseline="0" noProof="0" dirty="0">
                <a:ln>
                  <a:noFill/>
                </a:ln>
                <a:effectLst/>
                <a:uLnTx/>
                <a:uFillTx/>
                <a:latin typeface="Arial"/>
                <a:ea typeface="微软雅黑"/>
                <a:cs typeface="+mn-cs"/>
              </a:endParaRPr>
            </a:p>
          </p:txBody>
        </p:sp>
        <p:sp>
          <p:nvSpPr>
            <p:cNvPr id="46" name="文本框 45">
              <a:extLst>
                <a:ext uri="{FF2B5EF4-FFF2-40B4-BE49-F238E27FC236}">
                  <a16:creationId xmlns:a16="http://schemas.microsoft.com/office/drawing/2014/main" id="{DB9EFA5C-2CC5-4A42-8E02-9044DC927726}"/>
                </a:ext>
              </a:extLst>
            </p:cNvPr>
            <p:cNvSpPr txBox="1"/>
            <p:nvPr/>
          </p:nvSpPr>
          <p:spPr>
            <a:xfrm>
              <a:off x="2751536" y="1977643"/>
              <a:ext cx="739175" cy="22096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Line1</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cxnSp>
        <p:nvCxnSpPr>
          <p:cNvPr id="53" name="连接符: 肘形 52">
            <a:extLst>
              <a:ext uri="{FF2B5EF4-FFF2-40B4-BE49-F238E27FC236}">
                <a16:creationId xmlns:a16="http://schemas.microsoft.com/office/drawing/2014/main" id="{D15810C1-A7BC-6CE8-0B87-4047738787A9}"/>
              </a:ext>
            </a:extLst>
          </p:cNvPr>
          <p:cNvCxnSpPr>
            <a:cxnSpLocks/>
            <a:stCxn id="45" idx="0"/>
            <a:endCxn id="43" idx="2"/>
          </p:cNvCxnSpPr>
          <p:nvPr/>
        </p:nvCxnSpPr>
        <p:spPr>
          <a:xfrm rot="5400000" flipH="1" flipV="1">
            <a:off x="2719277" y="1003165"/>
            <a:ext cx="338132" cy="812281"/>
          </a:xfrm>
          <a:prstGeom prst="bentConnector3">
            <a:avLst>
              <a:gd name="adj1" fmla="val 50000"/>
            </a:avLst>
          </a:prstGeom>
          <a:noFill/>
          <a:ln w="9525" cap="flat" cmpd="sng" algn="ctr">
            <a:solidFill>
              <a:srgbClr val="031329"/>
            </a:solidFill>
            <a:prstDash val="dash"/>
            <a:round/>
            <a:headEnd type="none" w="med" len="med"/>
            <a:tailEnd type="none" w="med" len="med"/>
          </a:ln>
          <a:effectLst/>
        </p:spPr>
      </p:cxnSp>
      <p:cxnSp>
        <p:nvCxnSpPr>
          <p:cNvPr id="54" name="连接符: 肘形 53">
            <a:extLst>
              <a:ext uri="{FF2B5EF4-FFF2-40B4-BE49-F238E27FC236}">
                <a16:creationId xmlns:a16="http://schemas.microsoft.com/office/drawing/2014/main" id="{5ABEDA52-C01E-E7C1-75CC-FB07FB8EF0BA}"/>
              </a:ext>
            </a:extLst>
          </p:cNvPr>
          <p:cNvCxnSpPr>
            <a:cxnSpLocks/>
            <a:endCxn id="43" idx="2"/>
          </p:cNvCxnSpPr>
          <p:nvPr/>
        </p:nvCxnSpPr>
        <p:spPr>
          <a:xfrm rot="5400000" flipH="1" flipV="1">
            <a:off x="3039443" y="1428713"/>
            <a:ext cx="443514" cy="66567"/>
          </a:xfrm>
          <a:prstGeom prst="bentConnector3">
            <a:avLst/>
          </a:prstGeom>
          <a:noFill/>
          <a:ln w="9525" cap="flat" cmpd="sng" algn="ctr">
            <a:solidFill>
              <a:srgbClr val="031329"/>
            </a:solidFill>
            <a:prstDash val="dash"/>
            <a:round/>
            <a:headEnd type="none" w="med" len="med"/>
            <a:tailEnd type="none" w="med" len="med"/>
          </a:ln>
          <a:effectLst/>
        </p:spPr>
      </p:cxnSp>
      <p:sp>
        <p:nvSpPr>
          <p:cNvPr id="56" name="矩形 55">
            <a:extLst>
              <a:ext uri="{FF2B5EF4-FFF2-40B4-BE49-F238E27FC236}">
                <a16:creationId xmlns:a16="http://schemas.microsoft.com/office/drawing/2014/main" id="{8DB6CF68-E7B8-3D98-8533-38F77A46DCDF}"/>
              </a:ext>
            </a:extLst>
          </p:cNvPr>
          <p:cNvSpPr/>
          <p:nvPr/>
        </p:nvSpPr>
        <p:spPr>
          <a:xfrm>
            <a:off x="5561136" y="932361"/>
            <a:ext cx="866527" cy="273268"/>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FG21…m</a:t>
            </a:r>
            <a:endParaRPr kumimoji="0" lang="zh-CN" altLang="en-US" sz="105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nvGrpSpPr>
          <p:cNvPr id="57" name="组合 56">
            <a:extLst>
              <a:ext uri="{FF2B5EF4-FFF2-40B4-BE49-F238E27FC236}">
                <a16:creationId xmlns:a16="http://schemas.microsoft.com/office/drawing/2014/main" id="{D82ADC19-69E4-6171-E7C5-21C29191D8F6}"/>
              </a:ext>
            </a:extLst>
          </p:cNvPr>
          <p:cNvGrpSpPr/>
          <p:nvPr/>
        </p:nvGrpSpPr>
        <p:grpSpPr>
          <a:xfrm>
            <a:off x="5632907" y="1551478"/>
            <a:ext cx="951788" cy="463431"/>
            <a:chOff x="2678806" y="1841679"/>
            <a:chExt cx="811905" cy="384518"/>
          </a:xfrm>
        </p:grpSpPr>
        <p:sp>
          <p:nvSpPr>
            <p:cNvPr id="58" name="等腰三角形 57">
              <a:extLst>
                <a:ext uri="{FF2B5EF4-FFF2-40B4-BE49-F238E27FC236}">
                  <a16:creationId xmlns:a16="http://schemas.microsoft.com/office/drawing/2014/main" id="{716A29F8-BF3F-0D91-8EC6-253F0F6EDEFE}"/>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700" b="1" i="0" u="none" strike="noStrike" kern="0" cap="none" spc="0" normalizeH="0" baseline="0" noProof="0" dirty="0">
                <a:ln>
                  <a:noFill/>
                </a:ln>
                <a:effectLst/>
                <a:uLnTx/>
                <a:uFillTx/>
                <a:latin typeface="Arial"/>
                <a:ea typeface="微软雅黑"/>
                <a:cs typeface="+mn-cs"/>
              </a:endParaRPr>
            </a:p>
          </p:txBody>
        </p:sp>
        <p:sp>
          <p:nvSpPr>
            <p:cNvPr id="59" name="文本框 58">
              <a:extLst>
                <a:ext uri="{FF2B5EF4-FFF2-40B4-BE49-F238E27FC236}">
                  <a16:creationId xmlns:a16="http://schemas.microsoft.com/office/drawing/2014/main" id="{4E193BE5-9B7D-45F5-F4CA-418B5FD17DE2}"/>
                </a:ext>
              </a:extLst>
            </p:cNvPr>
            <p:cNvSpPr txBox="1"/>
            <p:nvPr/>
          </p:nvSpPr>
          <p:spPr>
            <a:xfrm>
              <a:off x="2751536" y="1977643"/>
              <a:ext cx="739175" cy="22983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Line1</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graphicFrame>
        <p:nvGraphicFramePr>
          <p:cNvPr id="61" name="图示 60">
            <a:extLst>
              <a:ext uri="{FF2B5EF4-FFF2-40B4-BE49-F238E27FC236}">
                <a16:creationId xmlns:a16="http://schemas.microsoft.com/office/drawing/2014/main" id="{92305AAE-72E9-AE68-78D4-DDDEB49982E4}"/>
              </a:ext>
            </a:extLst>
          </p:cNvPr>
          <p:cNvGraphicFramePr/>
          <p:nvPr>
            <p:extLst>
              <p:ext uri="{D42A27DB-BD31-4B8C-83A1-F6EECF244321}">
                <p14:modId xmlns:p14="http://schemas.microsoft.com/office/powerpoint/2010/main" val="3246615986"/>
              </p:ext>
            </p:extLst>
          </p:nvPr>
        </p:nvGraphicFramePr>
        <p:xfrm>
          <a:off x="6967472" y="954445"/>
          <a:ext cx="4404876" cy="119406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62" name="文本框 61">
            <a:extLst>
              <a:ext uri="{FF2B5EF4-FFF2-40B4-BE49-F238E27FC236}">
                <a16:creationId xmlns:a16="http://schemas.microsoft.com/office/drawing/2014/main" id="{CEF53524-3B38-06F8-6E90-DA05E3E879CF}"/>
              </a:ext>
            </a:extLst>
          </p:cNvPr>
          <p:cNvSpPr txBox="1"/>
          <p:nvPr/>
        </p:nvSpPr>
        <p:spPr>
          <a:xfrm>
            <a:off x="4102996" y="2440290"/>
            <a:ext cx="4753377" cy="369332"/>
          </a:xfrm>
          <a:prstGeom prst="rect">
            <a:avLst/>
          </a:prstGeom>
          <a:noFill/>
        </p:spPr>
        <p:txBody>
          <a:bodyPr wrap="square" rtlCol="0">
            <a:spAutoFit/>
          </a:bodyPr>
          <a:lstStyle/>
          <a:p>
            <a:r>
              <a:rPr lang="zh-CN" altLang="en-US" b="1" dirty="0">
                <a:latin typeface="Arial" panose="020B0604020202020204" pitchFamily="34" charset="0"/>
                <a:ea typeface="微软雅黑" panose="020B0503020204020204" pitchFamily="34" charset="-122"/>
              </a:rPr>
              <a:t>主产线剩余的资源才可作为替换资源的供给</a:t>
            </a:r>
            <a:endParaRPr lang="zh-CN" altLang="en-US" dirty="0">
              <a:latin typeface="Arial" panose="020B0604020202020204" pitchFamily="34" charset="0"/>
              <a:ea typeface="微软雅黑" panose="020B0503020204020204" pitchFamily="34" charset="-122"/>
            </a:endParaRPr>
          </a:p>
        </p:txBody>
      </p:sp>
      <p:grpSp>
        <p:nvGrpSpPr>
          <p:cNvPr id="66" name="组合 65">
            <a:extLst>
              <a:ext uri="{FF2B5EF4-FFF2-40B4-BE49-F238E27FC236}">
                <a16:creationId xmlns:a16="http://schemas.microsoft.com/office/drawing/2014/main" id="{E2204AD3-2692-D327-99B9-5BF865D6DFBF}"/>
              </a:ext>
            </a:extLst>
          </p:cNvPr>
          <p:cNvGrpSpPr/>
          <p:nvPr/>
        </p:nvGrpSpPr>
        <p:grpSpPr>
          <a:xfrm>
            <a:off x="2932730" y="1581521"/>
            <a:ext cx="956448" cy="482037"/>
            <a:chOff x="2678806" y="1841679"/>
            <a:chExt cx="811905" cy="384518"/>
          </a:xfrm>
        </p:grpSpPr>
        <p:sp>
          <p:nvSpPr>
            <p:cNvPr id="67" name="等腰三角形 66">
              <a:extLst>
                <a:ext uri="{FF2B5EF4-FFF2-40B4-BE49-F238E27FC236}">
                  <a16:creationId xmlns:a16="http://schemas.microsoft.com/office/drawing/2014/main" id="{27C83C3F-1FCB-E256-8254-25B9F917534C}"/>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700" b="1" i="0" u="none" strike="noStrike" kern="0" cap="none" spc="0" normalizeH="0" baseline="0" noProof="0" dirty="0">
                <a:ln>
                  <a:noFill/>
                </a:ln>
                <a:effectLst/>
                <a:uLnTx/>
                <a:uFillTx/>
                <a:latin typeface="Arial"/>
                <a:ea typeface="微软雅黑"/>
                <a:cs typeface="+mn-cs"/>
              </a:endParaRPr>
            </a:p>
          </p:txBody>
        </p:sp>
        <p:sp>
          <p:nvSpPr>
            <p:cNvPr id="68" name="文本框 67">
              <a:extLst>
                <a:ext uri="{FF2B5EF4-FFF2-40B4-BE49-F238E27FC236}">
                  <a16:creationId xmlns:a16="http://schemas.microsoft.com/office/drawing/2014/main" id="{B0BF0893-F85B-5185-AA44-8D9E2D739AF6}"/>
                </a:ext>
              </a:extLst>
            </p:cNvPr>
            <p:cNvSpPr txBox="1"/>
            <p:nvPr/>
          </p:nvSpPr>
          <p:spPr>
            <a:xfrm>
              <a:off x="2751536" y="1977643"/>
              <a:ext cx="739175" cy="22096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Line2</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grpSp>
        <p:nvGrpSpPr>
          <p:cNvPr id="69" name="组合 68">
            <a:extLst>
              <a:ext uri="{FF2B5EF4-FFF2-40B4-BE49-F238E27FC236}">
                <a16:creationId xmlns:a16="http://schemas.microsoft.com/office/drawing/2014/main" id="{96019D24-8713-D911-DE6A-E2D4D2F16F66}"/>
              </a:ext>
            </a:extLst>
          </p:cNvPr>
          <p:cNvGrpSpPr/>
          <p:nvPr/>
        </p:nvGrpSpPr>
        <p:grpSpPr>
          <a:xfrm>
            <a:off x="3951306" y="1581521"/>
            <a:ext cx="956448" cy="482037"/>
            <a:chOff x="2678806" y="1841679"/>
            <a:chExt cx="811905" cy="384518"/>
          </a:xfrm>
        </p:grpSpPr>
        <p:sp>
          <p:nvSpPr>
            <p:cNvPr id="70" name="等腰三角形 69">
              <a:extLst>
                <a:ext uri="{FF2B5EF4-FFF2-40B4-BE49-F238E27FC236}">
                  <a16:creationId xmlns:a16="http://schemas.microsoft.com/office/drawing/2014/main" id="{5EED95E6-838F-0A33-8FF7-D52E87F866E7}"/>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700" b="1" i="0" u="none" strike="noStrike" kern="0" cap="none" spc="0" normalizeH="0" baseline="0" noProof="0" dirty="0">
                <a:ln>
                  <a:noFill/>
                </a:ln>
                <a:effectLst/>
                <a:uLnTx/>
                <a:uFillTx/>
                <a:latin typeface="Arial"/>
                <a:ea typeface="微软雅黑"/>
                <a:cs typeface="+mn-cs"/>
              </a:endParaRPr>
            </a:p>
          </p:txBody>
        </p:sp>
        <p:sp>
          <p:nvSpPr>
            <p:cNvPr id="71" name="文本框 70">
              <a:extLst>
                <a:ext uri="{FF2B5EF4-FFF2-40B4-BE49-F238E27FC236}">
                  <a16:creationId xmlns:a16="http://schemas.microsoft.com/office/drawing/2014/main" id="{E2BFF5B1-2165-1C6C-A8E1-ABBA4E365A7E}"/>
                </a:ext>
              </a:extLst>
            </p:cNvPr>
            <p:cNvSpPr txBox="1"/>
            <p:nvPr/>
          </p:nvSpPr>
          <p:spPr>
            <a:xfrm>
              <a:off x="2751536" y="1977643"/>
              <a:ext cx="739175" cy="22096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Line3</a:t>
              </a:r>
              <a:endParaRPr kumimoji="0" lang="zh-CN" altLang="en-US" sz="12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cxnSp>
        <p:nvCxnSpPr>
          <p:cNvPr id="74" name="连接符: 肘形 73">
            <a:extLst>
              <a:ext uri="{FF2B5EF4-FFF2-40B4-BE49-F238E27FC236}">
                <a16:creationId xmlns:a16="http://schemas.microsoft.com/office/drawing/2014/main" id="{2CCF26EE-C44C-CE54-2B39-A2DB3F4556ED}"/>
              </a:ext>
            </a:extLst>
          </p:cNvPr>
          <p:cNvCxnSpPr>
            <a:stCxn id="43" idx="2"/>
            <a:endCxn id="45" idx="0"/>
          </p:cNvCxnSpPr>
          <p:nvPr/>
        </p:nvCxnSpPr>
        <p:spPr>
          <a:xfrm rot="5400000">
            <a:off x="2719278" y="1003165"/>
            <a:ext cx="338132" cy="812281"/>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5" name="连接符: 肘形 74">
            <a:extLst>
              <a:ext uri="{FF2B5EF4-FFF2-40B4-BE49-F238E27FC236}">
                <a16:creationId xmlns:a16="http://schemas.microsoft.com/office/drawing/2014/main" id="{E0E0DFB7-7326-E9D7-61EC-DEBB8AAC2492}"/>
              </a:ext>
            </a:extLst>
          </p:cNvPr>
          <p:cNvCxnSpPr>
            <a:cxnSpLocks/>
            <a:stCxn id="43" idx="2"/>
            <a:endCxn id="67" idx="0"/>
          </p:cNvCxnSpPr>
          <p:nvPr/>
        </p:nvCxnSpPr>
        <p:spPr>
          <a:xfrm rot="16200000" flipH="1">
            <a:off x="3125021" y="1409701"/>
            <a:ext cx="341282" cy="2357"/>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8" name="连接符: 肘形 77">
            <a:extLst>
              <a:ext uri="{FF2B5EF4-FFF2-40B4-BE49-F238E27FC236}">
                <a16:creationId xmlns:a16="http://schemas.microsoft.com/office/drawing/2014/main" id="{79E3375D-F3EC-3DC2-BE6D-389C5EDE63F3}"/>
              </a:ext>
            </a:extLst>
          </p:cNvPr>
          <p:cNvCxnSpPr>
            <a:cxnSpLocks/>
            <a:stCxn id="43" idx="2"/>
            <a:endCxn id="70" idx="0"/>
          </p:cNvCxnSpPr>
          <p:nvPr/>
        </p:nvCxnSpPr>
        <p:spPr>
          <a:xfrm rot="16200000" flipH="1">
            <a:off x="3634309" y="900413"/>
            <a:ext cx="341282" cy="1020933"/>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2" name="直接箭头连接符 81">
            <a:extLst>
              <a:ext uri="{FF2B5EF4-FFF2-40B4-BE49-F238E27FC236}">
                <a16:creationId xmlns:a16="http://schemas.microsoft.com/office/drawing/2014/main" id="{E1B6C7DC-A7DB-1D60-5209-8D5EED9C44FB}"/>
              </a:ext>
            </a:extLst>
          </p:cNvPr>
          <p:cNvCxnSpPr>
            <a:cxnSpLocks/>
            <a:stCxn id="56" idx="2"/>
            <a:endCxn id="58" idx="0"/>
          </p:cNvCxnSpPr>
          <p:nvPr/>
        </p:nvCxnSpPr>
        <p:spPr>
          <a:xfrm>
            <a:off x="5994400" y="1205629"/>
            <a:ext cx="844" cy="34584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35321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4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41"/>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8"/>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4FAD20B-19E9-03F5-4874-9C4CAB087992}"/>
              </a:ext>
            </a:extLst>
          </p:cNvPr>
          <p:cNvSpPr>
            <a:spLocks noGrp="1"/>
          </p:cNvSpPr>
          <p:nvPr>
            <p:ph type="title"/>
          </p:nvPr>
        </p:nvSpPr>
        <p:spPr/>
        <p:txBody>
          <a:bodyPr/>
          <a:lstStyle/>
          <a:p>
            <a:r>
              <a:rPr lang="zh-CN" altLang="en-US" dirty="0">
                <a:solidFill>
                  <a:schemeClr val="bg1"/>
                </a:solidFill>
                <a:latin typeface="Arial" panose="020B0604020202020204" pitchFamily="34" charset="0"/>
                <a:ea typeface="微软雅黑" panose="020B0503020204020204" pitchFamily="34" charset="-122"/>
              </a:rPr>
              <a:t>可配置仪表盘内置与计划引擎</a:t>
            </a:r>
          </a:p>
        </p:txBody>
      </p:sp>
      <p:pic>
        <p:nvPicPr>
          <p:cNvPr id="4" name="图片 3">
            <a:extLst>
              <a:ext uri="{FF2B5EF4-FFF2-40B4-BE49-F238E27FC236}">
                <a16:creationId xmlns:a16="http://schemas.microsoft.com/office/drawing/2014/main" id="{82E84AE1-2082-9D63-CB6A-18BCBC2FE685}"/>
              </a:ext>
            </a:extLst>
          </p:cNvPr>
          <p:cNvPicPr>
            <a:picLocks noChangeAspect="1"/>
          </p:cNvPicPr>
          <p:nvPr/>
        </p:nvPicPr>
        <p:blipFill>
          <a:blip r:embed="rId2"/>
          <a:stretch>
            <a:fillRect/>
          </a:stretch>
        </p:blipFill>
        <p:spPr>
          <a:xfrm>
            <a:off x="8013698" y="1169773"/>
            <a:ext cx="3813419" cy="2332130"/>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pic>
        <p:nvPicPr>
          <p:cNvPr id="5" name="图片 4">
            <a:extLst>
              <a:ext uri="{FF2B5EF4-FFF2-40B4-BE49-F238E27FC236}">
                <a16:creationId xmlns:a16="http://schemas.microsoft.com/office/drawing/2014/main" id="{11A47E97-9F87-334F-2881-299EAFE19458}"/>
              </a:ext>
            </a:extLst>
          </p:cNvPr>
          <p:cNvPicPr>
            <a:picLocks noChangeAspect="1"/>
          </p:cNvPicPr>
          <p:nvPr/>
        </p:nvPicPr>
        <p:blipFill>
          <a:blip r:embed="rId3"/>
          <a:stretch>
            <a:fillRect/>
          </a:stretch>
        </p:blipFill>
        <p:spPr>
          <a:xfrm>
            <a:off x="4501923" y="2806141"/>
            <a:ext cx="3289513" cy="2104842"/>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pic>
        <p:nvPicPr>
          <p:cNvPr id="6" name="图片 5">
            <a:extLst>
              <a:ext uri="{FF2B5EF4-FFF2-40B4-BE49-F238E27FC236}">
                <a16:creationId xmlns:a16="http://schemas.microsoft.com/office/drawing/2014/main" id="{7448529D-DA3F-5232-830D-460F787A5D3C}"/>
              </a:ext>
            </a:extLst>
          </p:cNvPr>
          <p:cNvPicPr>
            <a:picLocks noChangeAspect="1"/>
          </p:cNvPicPr>
          <p:nvPr/>
        </p:nvPicPr>
        <p:blipFill>
          <a:blip r:embed="rId4"/>
          <a:stretch>
            <a:fillRect/>
          </a:stretch>
        </p:blipFill>
        <p:spPr>
          <a:xfrm>
            <a:off x="765241" y="1249712"/>
            <a:ext cx="3289513" cy="2104843"/>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pic>
        <p:nvPicPr>
          <p:cNvPr id="7" name="图片 6">
            <a:extLst>
              <a:ext uri="{FF2B5EF4-FFF2-40B4-BE49-F238E27FC236}">
                <a16:creationId xmlns:a16="http://schemas.microsoft.com/office/drawing/2014/main" id="{43FE8FD1-5A19-7C53-FA5B-B553B5022E47}"/>
              </a:ext>
            </a:extLst>
          </p:cNvPr>
          <p:cNvPicPr>
            <a:picLocks noChangeAspect="1"/>
          </p:cNvPicPr>
          <p:nvPr/>
        </p:nvPicPr>
        <p:blipFill>
          <a:blip r:embed="rId5"/>
          <a:stretch>
            <a:fillRect/>
          </a:stretch>
        </p:blipFill>
        <p:spPr>
          <a:xfrm>
            <a:off x="8195018" y="4374292"/>
            <a:ext cx="3632100" cy="2233576"/>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pic>
        <p:nvPicPr>
          <p:cNvPr id="8" name="图片 7">
            <a:extLst>
              <a:ext uri="{FF2B5EF4-FFF2-40B4-BE49-F238E27FC236}">
                <a16:creationId xmlns:a16="http://schemas.microsoft.com/office/drawing/2014/main" id="{094835E9-EF28-821F-0495-EF40B42462D1}"/>
              </a:ext>
            </a:extLst>
          </p:cNvPr>
          <p:cNvPicPr>
            <a:picLocks noChangeAspect="1"/>
          </p:cNvPicPr>
          <p:nvPr/>
        </p:nvPicPr>
        <p:blipFill>
          <a:blip r:embed="rId6"/>
          <a:stretch>
            <a:fillRect/>
          </a:stretch>
        </p:blipFill>
        <p:spPr>
          <a:xfrm>
            <a:off x="765241" y="4176585"/>
            <a:ext cx="3551466" cy="2431284"/>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Tree>
    <p:extLst>
      <p:ext uri="{BB962C8B-B14F-4D97-AF65-F5344CB8AC3E}">
        <p14:creationId xmlns:p14="http://schemas.microsoft.com/office/powerpoint/2010/main" val="1259855671"/>
      </p:ext>
    </p:extLst>
  </p:cSld>
  <p:clrMapOvr>
    <a:overrideClrMapping bg1="dk1" tx1="lt1" bg2="dk2" tx2="lt2" accent1="accent1" accent2="accent2" accent3="accent3" accent4="accent4" accent5="accent5" accent6="accent6" hlink="hlink" folHlink="folHlink"/>
  </p:clrMapOvr>
</p:sld>
</file>

<file path=ppt/slides/slide95.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8570E2BF-5FCD-1E83-C7F4-8AD8E2826033}"/>
              </a:ext>
            </a:extLst>
          </p:cNvPr>
          <p:cNvSpPr>
            <a:spLocks noGrp="1"/>
          </p:cNvSpPr>
          <p:nvPr>
            <p:ph type="ctrTitle"/>
          </p:nvPr>
        </p:nvSpPr>
        <p:spPr>
          <a:xfrm>
            <a:off x="4551898" y="1462621"/>
            <a:ext cx="6749372" cy="2587173"/>
          </a:xfrm>
        </p:spPr>
        <p:txBody>
          <a:bodyPr/>
          <a:lstStyle/>
          <a:p>
            <a:r>
              <a:rPr lang="en-US" altLang="zh-CN" dirty="0"/>
              <a:t>ITP</a:t>
            </a:r>
            <a:br>
              <a:rPr lang="en-US" altLang="zh-CN" dirty="0"/>
            </a:br>
            <a:r>
              <a:rPr lang="en-US" altLang="zh-CN" dirty="0"/>
              <a:t>Intelligent Tactical Planning</a:t>
            </a:r>
            <a:endParaRPr lang="zh-CN" altLang="en-US" dirty="0"/>
          </a:p>
        </p:txBody>
      </p:sp>
    </p:spTree>
    <p:extLst>
      <p:ext uri="{BB962C8B-B14F-4D97-AF65-F5344CB8AC3E}">
        <p14:creationId xmlns:p14="http://schemas.microsoft.com/office/powerpoint/2010/main" val="2027306679"/>
      </p:ext>
    </p:extLst>
  </p:cSld>
  <p:clrMapOvr>
    <a:overrideClrMapping bg1="lt1" tx1="dk1" bg2="lt2" tx2="dk2" accent1="accent1" accent2="accent2" accent3="accent3" accent4="accent4" accent5="accent5" accent6="accent6" hlink="hlink" folHlink="folHlink"/>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59EABC29-34DF-0803-A980-BFA0EE347771}"/>
              </a:ext>
            </a:extLst>
          </p:cNvPr>
          <p:cNvSpPr>
            <a:spLocks noGrp="1"/>
          </p:cNvSpPr>
          <p:nvPr>
            <p:ph type="ctrTitle"/>
          </p:nvPr>
        </p:nvSpPr>
        <p:spPr/>
        <p:txBody>
          <a:bodyPr/>
          <a:lstStyle/>
          <a:p>
            <a:r>
              <a:rPr lang="en-US" altLang="zh-CN" dirty="0">
                <a:latin typeface="Arial" panose="020B0604020202020204" pitchFamily="34" charset="0"/>
                <a:ea typeface="微软雅黑" panose="020B0503020204020204" pitchFamily="34" charset="-122"/>
              </a:rPr>
              <a:t>Prioritization</a:t>
            </a:r>
            <a:endParaRPr lang="zh-CN" altLang="en-US"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259057005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D006B693-4DE1-674F-D4FA-BA7EAC804733}"/>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优先级 </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从战略到执行的端到端管理</a:t>
            </a:r>
          </a:p>
        </p:txBody>
      </p:sp>
      <p:grpSp>
        <p:nvGrpSpPr>
          <p:cNvPr id="39" name="组合 38">
            <a:extLst>
              <a:ext uri="{FF2B5EF4-FFF2-40B4-BE49-F238E27FC236}">
                <a16:creationId xmlns:a16="http://schemas.microsoft.com/office/drawing/2014/main" id="{0DE80535-EA83-8BB1-BEBC-62DF68835727}"/>
              </a:ext>
            </a:extLst>
          </p:cNvPr>
          <p:cNvGrpSpPr>
            <a:grpSpLocks noChangeAspect="1"/>
          </p:cNvGrpSpPr>
          <p:nvPr>
            <p:custDataLst>
              <p:tags r:id="rId1"/>
            </p:custDataLst>
          </p:nvPr>
        </p:nvGrpSpPr>
        <p:grpSpPr>
          <a:xfrm>
            <a:off x="663011" y="778214"/>
            <a:ext cx="3207356" cy="3672958"/>
            <a:chOff x="660400" y="1130300"/>
            <a:chExt cx="3526877" cy="3672958"/>
          </a:xfrm>
        </p:grpSpPr>
        <p:sp>
          <p:nvSpPr>
            <p:cNvPr id="40" name="1">
              <a:extLst>
                <a:ext uri="{FF2B5EF4-FFF2-40B4-BE49-F238E27FC236}">
                  <a16:creationId xmlns:a16="http://schemas.microsoft.com/office/drawing/2014/main" id="{8E99F4A6-DC8A-9E01-BA3F-C60017E8AB63}"/>
                </a:ext>
              </a:extLst>
            </p:cNvPr>
            <p:cNvSpPr/>
            <p:nvPr>
              <p:custDataLst>
                <p:tags r:id="rId3"/>
              </p:custDataLst>
            </p:nvPr>
          </p:nvSpPr>
          <p:spPr>
            <a:xfrm>
              <a:off x="660400" y="1130300"/>
              <a:ext cx="3526877" cy="3672958"/>
            </a:xfrm>
            <a:prstGeom prst="roundRect">
              <a:avLst>
                <a:gd name="adj" fmla="val 5900"/>
              </a:avLst>
            </a:prstGeom>
            <a:solidFill>
              <a:schemeClr val="accent1">
                <a:alpha val="10000"/>
              </a:schemeClr>
            </a:solidFill>
            <a:ln w="12700" cap="rnd">
              <a:gradFill>
                <a:gsLst>
                  <a:gs pos="0">
                    <a:schemeClr val="accent1"/>
                  </a:gs>
                  <a:gs pos="100000">
                    <a:schemeClr val="accent1">
                      <a:lumMod val="60000"/>
                      <a:lumOff val="40000"/>
                      <a:alpha val="20000"/>
                    </a:schemeClr>
                  </a:gs>
                </a:gsLst>
                <a:lin ang="2700000" scaled="0"/>
              </a:grad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p>
              <a:pPr algn="ctr" defTabSz="913765"/>
              <a:endParaRPr lang="en-GB" sz="1600" b="1">
                <a:solidFill>
                  <a:schemeClr val="tx1"/>
                </a:solidFill>
                <a:latin typeface="+mn-ea"/>
              </a:endParaRPr>
            </a:p>
          </p:txBody>
        </p:sp>
        <p:sp>
          <p:nvSpPr>
            <p:cNvPr id="41" name="Body-1">
              <a:extLst>
                <a:ext uri="{FF2B5EF4-FFF2-40B4-BE49-F238E27FC236}">
                  <a16:creationId xmlns:a16="http://schemas.microsoft.com/office/drawing/2014/main" id="{AEFD53EE-41BA-0C10-CE39-6777BFA2AE15}"/>
                </a:ext>
              </a:extLst>
            </p:cNvPr>
            <p:cNvSpPr txBox="1"/>
            <p:nvPr>
              <p:custDataLst>
                <p:tags r:id="rId4"/>
              </p:custDataLst>
            </p:nvPr>
          </p:nvSpPr>
          <p:spPr>
            <a:xfrm>
              <a:off x="926059" y="1939332"/>
              <a:ext cx="2995558" cy="2863926"/>
            </a:xfrm>
            <a:prstGeom prst="rect">
              <a:avLst/>
            </a:prstGeom>
            <a:noFill/>
          </p:spPr>
          <p:txBody>
            <a:bodyPr wrap="square" rtlCol="0">
              <a:spAutoFit/>
            </a:bodyPr>
            <a:lstStyle/>
            <a:p>
              <a:pPr marL="285750" indent="-285750">
                <a:lnSpc>
                  <a:spcPct val="130000"/>
                </a:lnSpc>
                <a:buFont typeface="Arial" panose="020B0604020202020204" pitchFamily="34" charset="0"/>
                <a:buChar char="•"/>
              </a:pPr>
              <a:r>
                <a:rPr kumimoji="0" lang="zh-CN" altLang="en-US"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已承诺 </a:t>
              </a:r>
              <a:r>
                <a:rPr kumimoji="0" lang="en-US" altLang="zh-CN"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Commitment</a:t>
              </a:r>
            </a:p>
            <a:p>
              <a:pPr marL="285750" indent="-285750">
                <a:lnSpc>
                  <a:spcPct val="130000"/>
                </a:lnSpc>
                <a:buFont typeface="Arial" panose="020B0604020202020204" pitchFamily="34" charset="0"/>
                <a:buChar char="•"/>
              </a:pPr>
              <a:r>
                <a:rPr kumimoji="0" lang="zh-CN" altLang="en-US"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最新的承诺日期 </a:t>
              </a:r>
              <a:r>
                <a:rPr kumimoji="0" lang="en-US" altLang="zh-CN"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Last PSD</a:t>
              </a:r>
            </a:p>
            <a:p>
              <a:pPr marL="285750" indent="-285750">
                <a:lnSpc>
                  <a:spcPct val="130000"/>
                </a:lnSpc>
                <a:buFont typeface="Arial" panose="020B0604020202020204" pitchFamily="34" charset="0"/>
                <a:buChar char="•"/>
              </a:pPr>
              <a:r>
                <a:rPr kumimoji="0" lang="zh-CN" altLang="en-US"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初次承诺日期 </a:t>
              </a:r>
              <a:r>
                <a:rPr kumimoji="0" lang="en-US" altLang="zh-CN"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First PSD</a:t>
              </a:r>
            </a:p>
            <a:p>
              <a:pPr marL="285750" indent="-285750">
                <a:lnSpc>
                  <a:spcPct val="130000"/>
                </a:lnSpc>
                <a:buFont typeface="Arial" panose="020B0604020202020204" pitchFamily="34" charset="0"/>
                <a:buChar char="•"/>
              </a:pPr>
              <a:r>
                <a:rPr kumimoji="0" lang="zh-CN" altLang="en-US"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优先级 </a:t>
              </a:r>
              <a:r>
                <a:rPr kumimoji="0" lang="en-US" altLang="zh-CN"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Priority value</a:t>
              </a:r>
            </a:p>
            <a:p>
              <a:pPr marL="285750" indent="-285750">
                <a:lnSpc>
                  <a:spcPct val="130000"/>
                </a:lnSpc>
                <a:buFont typeface="Arial" panose="020B0604020202020204" pitchFamily="34" charset="0"/>
                <a:buChar char="•"/>
              </a:pPr>
              <a:r>
                <a:rPr kumimoji="0" lang="zh-CN" altLang="en-US"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创建日期 </a:t>
              </a:r>
              <a:r>
                <a:rPr kumimoji="0" lang="en-US" altLang="zh-CN"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Demand Date</a:t>
              </a:r>
            </a:p>
            <a:p>
              <a:pPr marL="285750" indent="-285750">
                <a:lnSpc>
                  <a:spcPct val="130000"/>
                </a:lnSpc>
                <a:buFont typeface="Arial" panose="020B0604020202020204" pitchFamily="34" charset="0"/>
                <a:buChar char="•"/>
              </a:pPr>
              <a:r>
                <a:rPr kumimoji="0" lang="zh-CN" altLang="en-US"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需求数量 </a:t>
              </a:r>
              <a:r>
                <a:rPr kumimoji="0" lang="en-US" altLang="zh-CN"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Request Qty</a:t>
              </a:r>
            </a:p>
            <a:p>
              <a:pPr marL="285750" indent="-285750">
                <a:lnSpc>
                  <a:spcPct val="130000"/>
                </a:lnSpc>
                <a:buFont typeface="Arial" panose="020B0604020202020204" pitchFamily="34" charset="0"/>
                <a:buChar char="•"/>
              </a:pPr>
              <a:r>
                <a:rPr kumimoji="0" lang="zh-CN" altLang="en-US"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需求日期 </a:t>
              </a:r>
              <a:r>
                <a:rPr kumimoji="0" lang="en-US" altLang="zh-CN"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Request Date</a:t>
              </a:r>
            </a:p>
            <a:p>
              <a:pPr marL="285750" indent="-285750">
                <a:lnSpc>
                  <a:spcPct val="130000"/>
                </a:lnSpc>
                <a:buFont typeface="Arial" panose="020B0604020202020204" pitchFamily="34" charset="0"/>
                <a:buChar char="•"/>
              </a:pPr>
              <a:r>
                <a:rPr kumimoji="0" lang="zh-CN" altLang="en-US"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动态调整其他条件 </a:t>
              </a:r>
              <a:r>
                <a:rPr kumimoji="0" lang="en-US" altLang="zh-CN"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rPr>
                <a:t>Other conditions are customized dynamically</a:t>
              </a:r>
              <a:endParaRPr kumimoji="0" lang="zh-CN" altLang="en-US" sz="1400" i="0" u="none" strike="noStrike" kern="1200" cap="none" spc="0" normalizeH="0" baseline="0" noProof="0" dirty="0">
                <a:ln>
                  <a:noFill/>
                </a:ln>
                <a:effectLst/>
                <a:uLnTx/>
                <a:uFillTx/>
                <a:latin typeface="Arial" panose="020B0604020202020204" pitchFamily="34" charset="0"/>
                <a:ea typeface="微软雅黑" panose="020B0503020204020204" pitchFamily="34" charset="-122"/>
              </a:endParaRPr>
            </a:p>
          </p:txBody>
        </p:sp>
        <p:sp>
          <p:nvSpPr>
            <p:cNvPr id="42" name="Title-1">
              <a:extLst>
                <a:ext uri="{FF2B5EF4-FFF2-40B4-BE49-F238E27FC236}">
                  <a16:creationId xmlns:a16="http://schemas.microsoft.com/office/drawing/2014/main" id="{6F208BED-5CCD-B931-AEAF-89A72F3AA2F5}"/>
                </a:ext>
              </a:extLst>
            </p:cNvPr>
            <p:cNvSpPr/>
            <p:nvPr>
              <p:custDataLst>
                <p:tags r:id="rId5"/>
              </p:custDataLst>
            </p:nvPr>
          </p:nvSpPr>
          <p:spPr>
            <a:xfrm>
              <a:off x="1379547" y="1330187"/>
              <a:ext cx="1870792" cy="378932"/>
            </a:xfrm>
            <a:prstGeom prst="roundRect">
              <a:avLst/>
            </a:prstGeom>
            <a:gradFill>
              <a:gsLst>
                <a:gs pos="0">
                  <a:schemeClr val="accent1">
                    <a:lumMod val="60000"/>
                    <a:lumOff val="40000"/>
                  </a:schemeClr>
                </a:gs>
                <a:gs pos="60000">
                  <a:schemeClr val="accent1"/>
                </a:gs>
              </a:gsLst>
              <a:lin ang="2700000" scaled="0"/>
            </a:gradFill>
            <a:ln w="57150" cap="rnd">
              <a:noFill/>
              <a:prstDash val="solid"/>
              <a:round/>
            </a:ln>
            <a:effectLst>
              <a:outerShdw blurRad="76200" dist="50800" dir="5400000" algn="ctr" rotWithShape="0">
                <a:schemeClr val="accent1">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91440" tIns="45720" rIns="91440" bIns="45720" numCol="1" spcCol="0" rtlCol="0" fromWordArt="0" anchor="ctr" anchorCtr="0" forceAA="0" compatLnSpc="1">
              <a:noAutofit/>
            </a:bodyPr>
            <a:lstStyle/>
            <a:p>
              <a:pPr algn="ctr" defTabSz="913765"/>
              <a:r>
                <a:rPr lang="zh-CN" altLang="en-US" b="1" dirty="0">
                  <a:solidFill>
                    <a:srgbClr val="FFFFFF"/>
                  </a:solidFill>
                  <a:latin typeface="Arial" panose="020B0604020202020204" pitchFamily="34" charset="0"/>
                  <a:ea typeface="微软雅黑" panose="020B0503020204020204" pitchFamily="34" charset="-122"/>
                </a:rPr>
                <a:t>优先级排序规则</a:t>
              </a:r>
            </a:p>
          </p:txBody>
        </p:sp>
      </p:grpSp>
      <p:sp>
        <p:nvSpPr>
          <p:cNvPr id="43" name="文本框 42">
            <a:extLst>
              <a:ext uri="{FF2B5EF4-FFF2-40B4-BE49-F238E27FC236}">
                <a16:creationId xmlns:a16="http://schemas.microsoft.com/office/drawing/2014/main" id="{A018AEB2-C3B7-5B01-FA5C-5C5063E78AD6}"/>
              </a:ext>
            </a:extLst>
          </p:cNvPr>
          <p:cNvSpPr txBox="1"/>
          <p:nvPr/>
        </p:nvSpPr>
        <p:spPr>
          <a:xfrm>
            <a:off x="4484791" y="1329487"/>
            <a:ext cx="2797752" cy="584775"/>
          </a:xfrm>
          <a:prstGeom prst="rect">
            <a:avLst/>
          </a:prstGeom>
          <a:noFill/>
        </p:spPr>
        <p:txBody>
          <a:bodyPr wrap="square" rtlCol="0">
            <a:spAutoFit/>
          </a:bodyPr>
          <a:lstStyle/>
          <a:p>
            <a:r>
              <a:rPr lang="zh-CN" altLang="en-US" sz="1600" dirty="0">
                <a:latin typeface="Arial" panose="020B0604020202020204" pitchFamily="34" charset="0"/>
                <a:ea typeface="微软雅黑" panose="020B0503020204020204" pitchFamily="34" charset="-122"/>
              </a:rPr>
              <a:t>优先级并不能保障其可得性，如大客户的订单来的比较晚</a:t>
            </a:r>
          </a:p>
        </p:txBody>
      </p:sp>
      <p:grpSp>
        <p:nvGrpSpPr>
          <p:cNvPr id="63" name="组合 62">
            <a:extLst>
              <a:ext uri="{FF2B5EF4-FFF2-40B4-BE49-F238E27FC236}">
                <a16:creationId xmlns:a16="http://schemas.microsoft.com/office/drawing/2014/main" id="{ADDA733E-8A05-F357-89EB-248246ECE57C}"/>
              </a:ext>
            </a:extLst>
          </p:cNvPr>
          <p:cNvGrpSpPr/>
          <p:nvPr/>
        </p:nvGrpSpPr>
        <p:grpSpPr>
          <a:xfrm>
            <a:off x="7068556" y="1529969"/>
            <a:ext cx="3221474" cy="2025712"/>
            <a:chOff x="7068556" y="1527798"/>
            <a:chExt cx="3221474" cy="2025712"/>
          </a:xfrm>
        </p:grpSpPr>
        <p:sp>
          <p:nvSpPr>
            <p:cNvPr id="5" name="矩形 4">
              <a:extLst>
                <a:ext uri="{FF2B5EF4-FFF2-40B4-BE49-F238E27FC236}">
                  <a16:creationId xmlns:a16="http://schemas.microsoft.com/office/drawing/2014/main" id="{F5F39694-5688-0787-7AC7-61CAB04A9318}"/>
                </a:ext>
              </a:extLst>
            </p:cNvPr>
            <p:cNvSpPr/>
            <p:nvPr/>
          </p:nvSpPr>
          <p:spPr>
            <a:xfrm>
              <a:off x="8327880" y="1527798"/>
              <a:ext cx="1962150" cy="438150"/>
            </a:xfrm>
            <a:prstGeom prst="rect">
              <a:avLst/>
            </a:prstGeom>
            <a:ln>
              <a:solidFill>
                <a:schemeClr val="accent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Customer Group</a:t>
              </a:r>
              <a:endParaRPr kumimoji="0" lang="zh-CN" altLang="en-US"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6" name="矩形 5">
              <a:extLst>
                <a:ext uri="{FF2B5EF4-FFF2-40B4-BE49-F238E27FC236}">
                  <a16:creationId xmlns:a16="http://schemas.microsoft.com/office/drawing/2014/main" id="{6C5BAE79-BCED-524D-0B71-16DCD96864DC}"/>
                </a:ext>
              </a:extLst>
            </p:cNvPr>
            <p:cNvSpPr/>
            <p:nvPr/>
          </p:nvSpPr>
          <p:spPr>
            <a:xfrm>
              <a:off x="8327880" y="2393447"/>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600" dirty="0">
                  <a:solidFill>
                    <a:schemeClr val="tx1"/>
                  </a:solidFill>
                  <a:latin typeface="Arial" panose="020B0604020202020204" pitchFamily="34" charset="0"/>
                  <a:ea typeface="微软雅黑" panose="020B0503020204020204" pitchFamily="34" charset="-122"/>
                </a:rPr>
                <a:t>Region</a:t>
              </a:r>
              <a:r>
                <a:rPr kumimoji="0" lang="en-US" altLang="zh-CN"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 Group</a:t>
              </a:r>
              <a:endParaRPr kumimoji="0" lang="zh-CN" altLang="en-US"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7" name="矩形 6">
              <a:extLst>
                <a:ext uri="{FF2B5EF4-FFF2-40B4-BE49-F238E27FC236}">
                  <a16:creationId xmlns:a16="http://schemas.microsoft.com/office/drawing/2014/main" id="{74BEA2DC-EF14-D5E2-1BE2-390367501E3F}"/>
                </a:ext>
              </a:extLst>
            </p:cNvPr>
            <p:cNvSpPr/>
            <p:nvPr/>
          </p:nvSpPr>
          <p:spPr>
            <a:xfrm>
              <a:off x="8327880" y="3115360"/>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Part Group</a:t>
              </a:r>
              <a:endParaRPr kumimoji="0" lang="zh-CN" altLang="en-US"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48" name="连接符: 肘形 47">
              <a:extLst>
                <a:ext uri="{FF2B5EF4-FFF2-40B4-BE49-F238E27FC236}">
                  <a16:creationId xmlns:a16="http://schemas.microsoft.com/office/drawing/2014/main" id="{58B2FB9E-1BFF-4767-8D05-1C1FE7A7F20E}"/>
                </a:ext>
              </a:extLst>
            </p:cNvPr>
            <p:cNvCxnSpPr>
              <a:cxnSpLocks/>
              <a:stCxn id="5" idx="1"/>
              <a:endCxn id="12" idx="3"/>
            </p:cNvCxnSpPr>
            <p:nvPr/>
          </p:nvCxnSpPr>
          <p:spPr>
            <a:xfrm rot="10800000" flipV="1">
              <a:off x="7068556" y="1746872"/>
              <a:ext cx="1259324" cy="865649"/>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cxnSp>
          <p:nvCxnSpPr>
            <p:cNvPr id="53" name="连接符: 肘形 52">
              <a:extLst>
                <a:ext uri="{FF2B5EF4-FFF2-40B4-BE49-F238E27FC236}">
                  <a16:creationId xmlns:a16="http://schemas.microsoft.com/office/drawing/2014/main" id="{92DB80D8-3A2D-E327-C186-5ACC26AD0C04}"/>
                </a:ext>
              </a:extLst>
            </p:cNvPr>
            <p:cNvCxnSpPr>
              <a:cxnSpLocks/>
              <a:stCxn id="6" idx="1"/>
              <a:endCxn id="12" idx="3"/>
            </p:cNvCxnSpPr>
            <p:nvPr/>
          </p:nvCxnSpPr>
          <p:spPr>
            <a:xfrm rot="10800000">
              <a:off x="7068556" y="2612522"/>
              <a:ext cx="1259324" cy="12700"/>
            </a:xfrm>
            <a:prstGeom prst="bentConnector3">
              <a:avLst>
                <a:gd name="adj1" fmla="val 50000"/>
              </a:avLst>
            </a:prstGeom>
            <a:ln>
              <a:tailEnd type="triangle"/>
            </a:ln>
          </p:spPr>
          <p:style>
            <a:lnRef idx="2">
              <a:schemeClr val="accent1"/>
            </a:lnRef>
            <a:fillRef idx="0">
              <a:schemeClr val="accent1"/>
            </a:fillRef>
            <a:effectRef idx="1">
              <a:schemeClr val="accent1"/>
            </a:effectRef>
            <a:fontRef idx="minor">
              <a:schemeClr val="tx1"/>
            </a:fontRef>
          </p:style>
        </p:cxnSp>
        <p:cxnSp>
          <p:nvCxnSpPr>
            <p:cNvPr id="62" name="连接符: 肘形 61">
              <a:extLst>
                <a:ext uri="{FF2B5EF4-FFF2-40B4-BE49-F238E27FC236}">
                  <a16:creationId xmlns:a16="http://schemas.microsoft.com/office/drawing/2014/main" id="{E7F38076-B084-E267-7F7E-F31E04DCBEEA}"/>
                </a:ext>
              </a:extLst>
            </p:cNvPr>
            <p:cNvCxnSpPr>
              <a:stCxn id="7" idx="1"/>
              <a:endCxn id="12" idx="3"/>
            </p:cNvCxnSpPr>
            <p:nvPr/>
          </p:nvCxnSpPr>
          <p:spPr>
            <a:xfrm rot="10800000">
              <a:off x="7068556" y="2612523"/>
              <a:ext cx="1259324" cy="721913"/>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grpSp>
      <p:sp>
        <p:nvSpPr>
          <p:cNvPr id="64" name="矩形: 圆角 63">
            <a:extLst>
              <a:ext uri="{FF2B5EF4-FFF2-40B4-BE49-F238E27FC236}">
                <a16:creationId xmlns:a16="http://schemas.microsoft.com/office/drawing/2014/main" id="{70DDDD83-4A10-C8E4-C8E9-4E5C8EAD7BEF}"/>
              </a:ext>
            </a:extLst>
          </p:cNvPr>
          <p:cNvSpPr/>
          <p:nvPr/>
        </p:nvSpPr>
        <p:spPr>
          <a:xfrm>
            <a:off x="1215382" y="2444882"/>
            <a:ext cx="2341022" cy="275508"/>
          </a:xfrm>
          <a:prstGeom prst="roundRect">
            <a:avLst/>
          </a:prstGeom>
          <a:solidFill>
            <a:srgbClr val="C00000">
              <a:alpha val="39000"/>
            </a:srgbClr>
          </a:solidFill>
          <a:ln/>
        </p:spPr>
        <p:style>
          <a:lnRef idx="2">
            <a:schemeClr val="accent1"/>
          </a:lnRef>
          <a:fillRef idx="1">
            <a:schemeClr val="lt1"/>
          </a:fillRef>
          <a:effectRef idx="0">
            <a:schemeClr val="accent1"/>
          </a:effectRef>
          <a:fontRef idx="minor">
            <a:schemeClr val="dk1"/>
          </a:fontRef>
        </p:style>
        <p:txBody>
          <a:bodyPr rtlCol="0" anchor="ctr"/>
          <a:lstStyle/>
          <a:p>
            <a:pPr algn="ctr"/>
            <a:endParaRPr lang="zh-CN" altLang="en-US" sz="1600" b="1" dirty="0"/>
          </a:p>
        </p:txBody>
      </p:sp>
      <p:grpSp>
        <p:nvGrpSpPr>
          <p:cNvPr id="67" name="组合 66">
            <a:extLst>
              <a:ext uri="{FF2B5EF4-FFF2-40B4-BE49-F238E27FC236}">
                <a16:creationId xmlns:a16="http://schemas.microsoft.com/office/drawing/2014/main" id="{0E45DC78-67CF-DD4A-1FB8-3E3F17EDBE55}"/>
              </a:ext>
            </a:extLst>
          </p:cNvPr>
          <p:cNvGrpSpPr/>
          <p:nvPr/>
        </p:nvGrpSpPr>
        <p:grpSpPr>
          <a:xfrm>
            <a:off x="3349593" y="2395618"/>
            <a:ext cx="3718963" cy="438150"/>
            <a:chOff x="3540512" y="2395618"/>
            <a:chExt cx="3538104" cy="438150"/>
          </a:xfrm>
        </p:grpSpPr>
        <p:sp>
          <p:nvSpPr>
            <p:cNvPr id="12" name="矩形 11">
              <a:extLst>
                <a:ext uri="{FF2B5EF4-FFF2-40B4-BE49-F238E27FC236}">
                  <a16:creationId xmlns:a16="http://schemas.microsoft.com/office/drawing/2014/main" id="{22DB7DF8-119A-C238-1DC1-9868C55E9051}"/>
                </a:ext>
              </a:extLst>
            </p:cNvPr>
            <p:cNvSpPr/>
            <p:nvPr/>
          </p:nvSpPr>
          <p:spPr>
            <a:xfrm>
              <a:off x="4719880" y="2395618"/>
              <a:ext cx="2358736"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Priority value/code</a:t>
              </a:r>
              <a:endParaRPr kumimoji="0" lang="zh-CN" altLang="en-US" sz="18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66" name="直接箭头连接符 65">
              <a:extLst>
                <a:ext uri="{FF2B5EF4-FFF2-40B4-BE49-F238E27FC236}">
                  <a16:creationId xmlns:a16="http://schemas.microsoft.com/office/drawing/2014/main" id="{EA920FD0-87B2-BD9B-9617-4E032785ABF7}"/>
                </a:ext>
              </a:extLst>
            </p:cNvPr>
            <p:cNvCxnSpPr>
              <a:endCxn id="12" idx="1"/>
            </p:cNvCxnSpPr>
            <p:nvPr/>
          </p:nvCxnSpPr>
          <p:spPr>
            <a:xfrm>
              <a:off x="3540512" y="2614693"/>
              <a:ext cx="1179368" cy="0"/>
            </a:xfrm>
            <a:prstGeom prst="straightConnector1">
              <a:avLst/>
            </a:prstGeom>
            <a:ln>
              <a:tailEnd type="triangle"/>
            </a:ln>
          </p:spPr>
          <p:style>
            <a:lnRef idx="2">
              <a:schemeClr val="accent1"/>
            </a:lnRef>
            <a:fillRef idx="0">
              <a:schemeClr val="accent1"/>
            </a:fillRef>
            <a:effectRef idx="1">
              <a:schemeClr val="accent1"/>
            </a:effectRef>
            <a:fontRef idx="minor">
              <a:schemeClr val="tx1"/>
            </a:fontRef>
          </p:style>
        </p:cxnSp>
      </p:grpSp>
      <p:grpSp>
        <p:nvGrpSpPr>
          <p:cNvPr id="79" name="组合 78">
            <a:extLst>
              <a:ext uri="{FF2B5EF4-FFF2-40B4-BE49-F238E27FC236}">
                <a16:creationId xmlns:a16="http://schemas.microsoft.com/office/drawing/2014/main" id="{39314018-CEFE-9FBC-59D6-C1700F6A7C2E}"/>
              </a:ext>
            </a:extLst>
          </p:cNvPr>
          <p:cNvGrpSpPr/>
          <p:nvPr/>
        </p:nvGrpSpPr>
        <p:grpSpPr>
          <a:xfrm>
            <a:off x="5629647" y="771404"/>
            <a:ext cx="5180461" cy="4629828"/>
            <a:chOff x="5629647" y="771404"/>
            <a:chExt cx="5180461" cy="4629828"/>
          </a:xfrm>
        </p:grpSpPr>
        <p:sp>
          <p:nvSpPr>
            <p:cNvPr id="74" name="1">
              <a:extLst>
                <a:ext uri="{FF2B5EF4-FFF2-40B4-BE49-F238E27FC236}">
                  <a16:creationId xmlns:a16="http://schemas.microsoft.com/office/drawing/2014/main" id="{AACBBE23-9245-0536-3B1B-0F68B6950450}"/>
                </a:ext>
              </a:extLst>
            </p:cNvPr>
            <p:cNvSpPr/>
            <p:nvPr>
              <p:custDataLst>
                <p:tags r:id="rId2"/>
              </p:custDataLst>
            </p:nvPr>
          </p:nvSpPr>
          <p:spPr>
            <a:xfrm>
              <a:off x="7602752" y="771404"/>
              <a:ext cx="3207356" cy="3672958"/>
            </a:xfrm>
            <a:prstGeom prst="roundRect">
              <a:avLst>
                <a:gd name="adj" fmla="val 5900"/>
              </a:avLst>
            </a:prstGeom>
            <a:solidFill>
              <a:schemeClr val="accent1">
                <a:alpha val="10000"/>
              </a:schemeClr>
            </a:solidFill>
            <a:ln w="12700" cap="rnd">
              <a:gradFill>
                <a:gsLst>
                  <a:gs pos="0">
                    <a:schemeClr val="accent1"/>
                  </a:gs>
                  <a:gs pos="100000">
                    <a:schemeClr val="accent1">
                      <a:lumMod val="60000"/>
                      <a:lumOff val="40000"/>
                      <a:alpha val="20000"/>
                    </a:schemeClr>
                  </a:gs>
                </a:gsLst>
                <a:lin ang="2700000" scaled="0"/>
              </a:grad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p>
              <a:pPr algn="ctr" defTabSz="913765"/>
              <a:endParaRPr lang="en-GB" sz="1600" b="1">
                <a:solidFill>
                  <a:schemeClr val="tx1"/>
                </a:solidFill>
                <a:latin typeface="+mn-ea"/>
              </a:endParaRPr>
            </a:p>
          </p:txBody>
        </p:sp>
        <p:sp>
          <p:nvSpPr>
            <p:cNvPr id="75" name="矩形 74">
              <a:extLst>
                <a:ext uri="{FF2B5EF4-FFF2-40B4-BE49-F238E27FC236}">
                  <a16:creationId xmlns:a16="http://schemas.microsoft.com/office/drawing/2014/main" id="{80A7CA94-685E-6670-594A-33F6B64A52AF}"/>
                </a:ext>
              </a:extLst>
            </p:cNvPr>
            <p:cNvSpPr/>
            <p:nvPr/>
          </p:nvSpPr>
          <p:spPr>
            <a:xfrm>
              <a:off x="5629647" y="4963082"/>
              <a:ext cx="2224088" cy="438150"/>
            </a:xfrm>
            <a:prstGeom prst="rect">
              <a:avLst/>
            </a:prstGeom>
            <a:ln>
              <a:solidFill>
                <a:schemeClr val="accent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Forecasting</a:t>
              </a:r>
              <a:endParaRPr kumimoji="0" lang="zh-CN" altLang="en-US"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77" name="连接符: 肘形 76">
              <a:extLst>
                <a:ext uri="{FF2B5EF4-FFF2-40B4-BE49-F238E27FC236}">
                  <a16:creationId xmlns:a16="http://schemas.microsoft.com/office/drawing/2014/main" id="{4435A31C-89E5-489D-5A3A-7DD9FABA7D11}"/>
                </a:ext>
              </a:extLst>
            </p:cNvPr>
            <p:cNvCxnSpPr>
              <a:stCxn id="75" idx="3"/>
              <a:endCxn id="74" idx="2"/>
            </p:cNvCxnSpPr>
            <p:nvPr/>
          </p:nvCxnSpPr>
          <p:spPr>
            <a:xfrm flipV="1">
              <a:off x="7853735" y="4444362"/>
              <a:ext cx="1352695" cy="737795"/>
            </a:xfrm>
            <a:prstGeom prst="bentConnector2">
              <a:avLst/>
            </a:prstGeom>
            <a:ln>
              <a:tailEnd type="triangle"/>
            </a:ln>
          </p:spPr>
          <p:style>
            <a:lnRef idx="2">
              <a:schemeClr val="accent1"/>
            </a:lnRef>
            <a:fillRef idx="0">
              <a:schemeClr val="accent1"/>
            </a:fillRef>
            <a:effectRef idx="1">
              <a:schemeClr val="accent1"/>
            </a:effectRef>
            <a:fontRef idx="minor">
              <a:schemeClr val="tx1"/>
            </a:fontRef>
          </p:style>
        </p:cxnSp>
        <p:sp>
          <p:nvSpPr>
            <p:cNvPr id="78" name="文本框 77">
              <a:extLst>
                <a:ext uri="{FF2B5EF4-FFF2-40B4-BE49-F238E27FC236}">
                  <a16:creationId xmlns:a16="http://schemas.microsoft.com/office/drawing/2014/main" id="{07757CF1-7A0D-DC8D-6856-CE7D3A690DD2}"/>
                </a:ext>
              </a:extLst>
            </p:cNvPr>
            <p:cNvSpPr txBox="1"/>
            <p:nvPr/>
          </p:nvSpPr>
          <p:spPr>
            <a:xfrm>
              <a:off x="7415558" y="4646337"/>
              <a:ext cx="3331672" cy="276999"/>
            </a:xfrm>
            <a:prstGeom prst="rect">
              <a:avLst/>
            </a:prstGeom>
            <a:noFill/>
          </p:spPr>
          <p:txBody>
            <a:bodyPr wrap="square" rtlCol="0">
              <a:spAutoFit/>
            </a:bodyPr>
            <a:lstStyle/>
            <a:p>
              <a:r>
                <a:rPr lang="zh-CN" altLang="en-US" sz="1200" b="1" dirty="0">
                  <a:latin typeface="Arial" panose="020B0604020202020204" pitchFamily="34" charset="0"/>
                  <a:ea typeface="微软雅黑" panose="020B0503020204020204" pitchFamily="34" charset="-122"/>
                </a:rPr>
                <a:t>针对优先级（</a:t>
              </a:r>
              <a:r>
                <a:rPr lang="en-US" altLang="zh-CN" sz="1200" b="1" dirty="0">
                  <a:latin typeface="Arial" panose="020B0604020202020204" pitchFamily="34" charset="0"/>
                  <a:ea typeface="微软雅黑" panose="020B0503020204020204" pitchFamily="34" charset="-122"/>
                </a:rPr>
                <a:t>Segment</a:t>
              </a:r>
              <a:r>
                <a:rPr lang="zh-CN" altLang="en-US" sz="1200" b="1" dirty="0">
                  <a:latin typeface="Arial" panose="020B0604020202020204" pitchFamily="34" charset="0"/>
                  <a:ea typeface="微软雅黑" panose="020B0503020204020204" pitchFamily="34" charset="-122"/>
                </a:rPr>
                <a:t>）预测</a:t>
              </a:r>
            </a:p>
          </p:txBody>
        </p:sp>
      </p:grpSp>
      <p:grpSp>
        <p:nvGrpSpPr>
          <p:cNvPr id="104" name="组合 103">
            <a:extLst>
              <a:ext uri="{FF2B5EF4-FFF2-40B4-BE49-F238E27FC236}">
                <a16:creationId xmlns:a16="http://schemas.microsoft.com/office/drawing/2014/main" id="{D1EE25C5-9F9D-BA4E-F807-934238ACB22D}"/>
              </a:ext>
            </a:extLst>
          </p:cNvPr>
          <p:cNvGrpSpPr/>
          <p:nvPr/>
        </p:nvGrpSpPr>
        <p:grpSpPr>
          <a:xfrm>
            <a:off x="5629647" y="5401232"/>
            <a:ext cx="4660383" cy="904439"/>
            <a:chOff x="5629647" y="5401232"/>
            <a:chExt cx="4660383" cy="904439"/>
          </a:xfrm>
        </p:grpSpPr>
        <p:sp>
          <p:nvSpPr>
            <p:cNvPr id="80" name="矩形 79">
              <a:extLst>
                <a:ext uri="{FF2B5EF4-FFF2-40B4-BE49-F238E27FC236}">
                  <a16:creationId xmlns:a16="http://schemas.microsoft.com/office/drawing/2014/main" id="{9BA7233E-B327-1F8D-957B-C3824B36AA03}"/>
                </a:ext>
              </a:extLst>
            </p:cNvPr>
            <p:cNvSpPr/>
            <p:nvPr/>
          </p:nvSpPr>
          <p:spPr>
            <a:xfrm>
              <a:off x="5629647" y="5867521"/>
              <a:ext cx="2224088" cy="438150"/>
            </a:xfrm>
            <a:prstGeom prst="rect">
              <a:avLst/>
            </a:prstGeom>
            <a:ln>
              <a:solidFill>
                <a:schemeClr val="accent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600" dirty="0">
                  <a:solidFill>
                    <a:schemeClr val="tx1"/>
                  </a:solidFill>
                  <a:latin typeface="Arial" panose="020B0604020202020204" pitchFamily="34" charset="0"/>
                  <a:ea typeface="微软雅黑" panose="020B0503020204020204" pitchFamily="34" charset="-122"/>
                </a:rPr>
                <a:t>Master Planning</a:t>
              </a:r>
              <a:endParaRPr kumimoji="0" lang="zh-CN" altLang="en-US"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83" name="直接箭头连接符 82">
              <a:extLst>
                <a:ext uri="{FF2B5EF4-FFF2-40B4-BE49-F238E27FC236}">
                  <a16:creationId xmlns:a16="http://schemas.microsoft.com/office/drawing/2014/main" id="{8454E965-DD6B-9202-C704-0073B5F93BB2}"/>
                </a:ext>
              </a:extLst>
            </p:cNvPr>
            <p:cNvCxnSpPr>
              <a:cxnSpLocks/>
              <a:stCxn id="80" idx="0"/>
              <a:endCxn id="75" idx="2"/>
            </p:cNvCxnSpPr>
            <p:nvPr/>
          </p:nvCxnSpPr>
          <p:spPr>
            <a:xfrm flipV="1">
              <a:off x="6741691" y="5401232"/>
              <a:ext cx="0" cy="466289"/>
            </a:xfrm>
            <a:prstGeom prst="straightConnector1">
              <a:avLst/>
            </a:prstGeom>
            <a:ln>
              <a:tailEnd type="triangle"/>
            </a:ln>
          </p:spPr>
          <p:style>
            <a:lnRef idx="2">
              <a:schemeClr val="accent1"/>
            </a:lnRef>
            <a:fillRef idx="0">
              <a:schemeClr val="accent1"/>
            </a:fillRef>
            <a:effectRef idx="1">
              <a:schemeClr val="accent1"/>
            </a:effectRef>
            <a:fontRef idx="minor">
              <a:schemeClr val="tx1"/>
            </a:fontRef>
          </p:style>
        </p:cxnSp>
        <p:sp>
          <p:nvSpPr>
            <p:cNvPr id="84" name="文本框 83">
              <a:extLst>
                <a:ext uri="{FF2B5EF4-FFF2-40B4-BE49-F238E27FC236}">
                  <a16:creationId xmlns:a16="http://schemas.microsoft.com/office/drawing/2014/main" id="{EB905069-825A-C36E-84E5-02A7A58C86CE}"/>
                </a:ext>
              </a:extLst>
            </p:cNvPr>
            <p:cNvSpPr txBox="1"/>
            <p:nvPr/>
          </p:nvSpPr>
          <p:spPr>
            <a:xfrm>
              <a:off x="6958358" y="5505430"/>
              <a:ext cx="3331672" cy="276999"/>
            </a:xfrm>
            <a:prstGeom prst="rect">
              <a:avLst/>
            </a:prstGeom>
            <a:noFill/>
          </p:spPr>
          <p:txBody>
            <a:bodyPr wrap="square" rtlCol="0">
              <a:spAutoFit/>
            </a:bodyPr>
            <a:lstStyle/>
            <a:p>
              <a:r>
                <a:rPr lang="zh-CN" altLang="en-US" sz="1200" b="1" dirty="0">
                  <a:latin typeface="Arial" panose="020B0604020202020204" pitchFamily="34" charset="0"/>
                  <a:ea typeface="微软雅黑" panose="020B0503020204020204" pitchFamily="34" charset="-122"/>
                </a:rPr>
                <a:t>针对优先级（</a:t>
              </a:r>
              <a:r>
                <a:rPr lang="en-US" altLang="zh-CN" sz="1200" b="1" dirty="0">
                  <a:latin typeface="Arial" panose="020B0604020202020204" pitchFamily="34" charset="0"/>
                  <a:ea typeface="微软雅黑" panose="020B0503020204020204" pitchFamily="34" charset="-122"/>
                </a:rPr>
                <a:t>Segment</a:t>
              </a:r>
              <a:r>
                <a:rPr lang="zh-CN" altLang="en-US" sz="1200" b="1" dirty="0">
                  <a:latin typeface="Arial" panose="020B0604020202020204" pitchFamily="34" charset="0"/>
                  <a:ea typeface="微软雅黑" panose="020B0503020204020204" pitchFamily="34" charset="-122"/>
                </a:rPr>
                <a:t>）的资源分配</a:t>
              </a:r>
            </a:p>
          </p:txBody>
        </p:sp>
      </p:grpSp>
      <p:cxnSp>
        <p:nvCxnSpPr>
          <p:cNvPr id="90" name="连接符: 肘形 89">
            <a:extLst>
              <a:ext uri="{FF2B5EF4-FFF2-40B4-BE49-F238E27FC236}">
                <a16:creationId xmlns:a16="http://schemas.microsoft.com/office/drawing/2014/main" id="{E4DAF7E0-2CA6-D563-BDA5-38DF93E4E618}"/>
              </a:ext>
            </a:extLst>
          </p:cNvPr>
          <p:cNvCxnSpPr>
            <a:stCxn id="85" idx="2"/>
            <a:endCxn id="80" idx="1"/>
          </p:cNvCxnSpPr>
          <p:nvPr/>
        </p:nvCxnSpPr>
        <p:spPr>
          <a:xfrm rot="16200000" flipH="1">
            <a:off x="4452932" y="4909881"/>
            <a:ext cx="685364" cy="1668066"/>
          </a:xfrm>
          <a:prstGeom prst="bentConnector2">
            <a:avLst/>
          </a:prstGeom>
          <a:ln>
            <a:tailEnd type="triangle"/>
          </a:ln>
        </p:spPr>
        <p:style>
          <a:lnRef idx="2">
            <a:schemeClr val="accent1"/>
          </a:lnRef>
          <a:fillRef idx="0">
            <a:schemeClr val="accent1"/>
          </a:fillRef>
          <a:effectRef idx="1">
            <a:schemeClr val="accent1"/>
          </a:effectRef>
          <a:fontRef idx="minor">
            <a:schemeClr val="tx1"/>
          </a:fontRef>
        </p:style>
      </p:cxnSp>
      <p:sp>
        <p:nvSpPr>
          <p:cNvPr id="91" name="文本框 90">
            <a:extLst>
              <a:ext uri="{FF2B5EF4-FFF2-40B4-BE49-F238E27FC236}">
                <a16:creationId xmlns:a16="http://schemas.microsoft.com/office/drawing/2014/main" id="{6CEE134F-AAA0-EC6D-8C7F-9BC7CC09F35A}"/>
              </a:ext>
            </a:extLst>
          </p:cNvPr>
          <p:cNvSpPr txBox="1"/>
          <p:nvPr/>
        </p:nvSpPr>
        <p:spPr>
          <a:xfrm>
            <a:off x="995276" y="5568437"/>
            <a:ext cx="3331672" cy="276999"/>
          </a:xfrm>
          <a:prstGeom prst="rect">
            <a:avLst/>
          </a:prstGeom>
          <a:noFill/>
        </p:spPr>
        <p:txBody>
          <a:bodyPr wrap="square" rtlCol="0">
            <a:spAutoFit/>
          </a:bodyPr>
          <a:lstStyle/>
          <a:p>
            <a:r>
              <a:rPr lang="zh-CN" altLang="en-US" sz="1200" b="1" dirty="0">
                <a:latin typeface="Arial" panose="020B0604020202020204" pitchFamily="34" charset="0"/>
                <a:ea typeface="微软雅黑" panose="020B0503020204020204" pitchFamily="34" charset="-122"/>
              </a:rPr>
              <a:t>针对优先级（</a:t>
            </a:r>
            <a:r>
              <a:rPr lang="en-US" altLang="zh-CN" sz="1200" b="1" dirty="0">
                <a:latin typeface="Arial" panose="020B0604020202020204" pitchFamily="34" charset="0"/>
                <a:ea typeface="微软雅黑" panose="020B0503020204020204" pitchFamily="34" charset="-122"/>
              </a:rPr>
              <a:t>Segment</a:t>
            </a:r>
            <a:r>
              <a:rPr lang="zh-CN" altLang="en-US" sz="1200" b="1" dirty="0">
                <a:latin typeface="Arial" panose="020B0604020202020204" pitchFamily="34" charset="0"/>
                <a:ea typeface="微软雅黑" panose="020B0503020204020204" pitchFamily="34" charset="-122"/>
              </a:rPr>
              <a:t>）的约束性指导</a:t>
            </a:r>
          </a:p>
        </p:txBody>
      </p:sp>
      <p:grpSp>
        <p:nvGrpSpPr>
          <p:cNvPr id="103" name="组合 102">
            <a:extLst>
              <a:ext uri="{FF2B5EF4-FFF2-40B4-BE49-F238E27FC236}">
                <a16:creationId xmlns:a16="http://schemas.microsoft.com/office/drawing/2014/main" id="{F86B40D4-CB47-2630-BAFC-98B7BC1B9DA2}"/>
              </a:ext>
            </a:extLst>
          </p:cNvPr>
          <p:cNvGrpSpPr/>
          <p:nvPr/>
        </p:nvGrpSpPr>
        <p:grpSpPr>
          <a:xfrm>
            <a:off x="2849537" y="2833769"/>
            <a:ext cx="2979364" cy="2567463"/>
            <a:chOff x="2849537" y="2833769"/>
            <a:chExt cx="2979364" cy="2567463"/>
          </a:xfrm>
        </p:grpSpPr>
        <p:sp>
          <p:nvSpPr>
            <p:cNvPr id="85" name="矩形 84">
              <a:extLst>
                <a:ext uri="{FF2B5EF4-FFF2-40B4-BE49-F238E27FC236}">
                  <a16:creationId xmlns:a16="http://schemas.microsoft.com/office/drawing/2014/main" id="{1DF2B927-3367-02E5-D601-2B1330CF55ED}"/>
                </a:ext>
              </a:extLst>
            </p:cNvPr>
            <p:cNvSpPr/>
            <p:nvPr/>
          </p:nvSpPr>
          <p:spPr>
            <a:xfrm>
              <a:off x="2849537" y="4963082"/>
              <a:ext cx="2224088" cy="438150"/>
            </a:xfrm>
            <a:prstGeom prst="rect">
              <a:avLst/>
            </a:prstGeom>
            <a:ln>
              <a:solidFill>
                <a:schemeClr val="accent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Execution Planning</a:t>
              </a:r>
              <a:endParaRPr kumimoji="0" lang="zh-CN" altLang="en-US"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96" name="连接符: 肘形 95">
              <a:extLst>
                <a:ext uri="{FF2B5EF4-FFF2-40B4-BE49-F238E27FC236}">
                  <a16:creationId xmlns:a16="http://schemas.microsoft.com/office/drawing/2014/main" id="{982BC0F1-7E98-2BCF-146A-3DA0F22C540E}"/>
                </a:ext>
              </a:extLst>
            </p:cNvPr>
            <p:cNvCxnSpPr>
              <a:stCxn id="85" idx="0"/>
              <a:endCxn id="12" idx="2"/>
            </p:cNvCxnSpPr>
            <p:nvPr/>
          </p:nvCxnSpPr>
          <p:spPr>
            <a:xfrm rot="5400000" flipH="1" flipV="1">
              <a:off x="3830584" y="2964765"/>
              <a:ext cx="2129314" cy="1867321"/>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sp>
          <p:nvSpPr>
            <p:cNvPr id="97" name="文本框 96">
              <a:extLst>
                <a:ext uri="{FF2B5EF4-FFF2-40B4-BE49-F238E27FC236}">
                  <a16:creationId xmlns:a16="http://schemas.microsoft.com/office/drawing/2014/main" id="{F7C5B85C-3ED6-2EF3-F9B9-00352FDC37D2}"/>
                </a:ext>
              </a:extLst>
            </p:cNvPr>
            <p:cNvSpPr txBox="1"/>
            <p:nvPr/>
          </p:nvSpPr>
          <p:spPr>
            <a:xfrm>
              <a:off x="4138859" y="3461192"/>
              <a:ext cx="1487849" cy="276999"/>
            </a:xfrm>
            <a:prstGeom prst="rect">
              <a:avLst/>
            </a:prstGeom>
            <a:noFill/>
          </p:spPr>
          <p:txBody>
            <a:bodyPr wrap="square" rtlCol="0">
              <a:spAutoFit/>
            </a:bodyPr>
            <a:lstStyle/>
            <a:p>
              <a:r>
                <a:rPr lang="en-US" altLang="zh-CN" sz="1200" b="1" dirty="0">
                  <a:latin typeface="Arial" panose="020B0604020202020204" pitchFamily="34" charset="0"/>
                  <a:ea typeface="微软雅黑" panose="020B0503020204020204" pitchFamily="34" charset="-122"/>
                </a:rPr>
                <a:t>OBO by </a:t>
              </a:r>
              <a:r>
                <a:rPr lang="zh-CN" altLang="en-US" sz="1200" b="1" dirty="0">
                  <a:latin typeface="Arial" panose="020B0604020202020204" pitchFamily="34" charset="0"/>
                  <a:ea typeface="微软雅黑" panose="020B0503020204020204" pitchFamily="34" charset="-122"/>
                </a:rPr>
                <a:t>优先级</a:t>
              </a:r>
            </a:p>
          </p:txBody>
        </p:sp>
      </p:grpSp>
    </p:spTree>
    <p:extLst>
      <p:ext uri="{BB962C8B-B14F-4D97-AF65-F5344CB8AC3E}">
        <p14:creationId xmlns:p14="http://schemas.microsoft.com/office/powerpoint/2010/main" val="2030751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0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63"/>
                                        </p:tgtEl>
                                        <p:attrNameLst>
                                          <p:attrName>style.visibility</p:attrName>
                                        </p:attrNameLst>
                                      </p:cBhvr>
                                      <p:to>
                                        <p:strVal val="visible"/>
                                      </p:to>
                                    </p:set>
                                    <p:animEffect transition="in" filter="fade">
                                      <p:cBhvr>
                                        <p:cTn id="23" dur="500"/>
                                        <p:tgtEl>
                                          <p:spTgt spid="63"/>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79"/>
                                        </p:tgtEl>
                                        <p:attrNameLst>
                                          <p:attrName>style.visibility</p:attrName>
                                        </p:attrNameLst>
                                      </p:cBhvr>
                                      <p:to>
                                        <p:strVal val="visible"/>
                                      </p:to>
                                    </p:set>
                                    <p:animEffect transition="in" filter="fade">
                                      <p:cBhvr>
                                        <p:cTn id="28" dur="500"/>
                                        <p:tgtEl>
                                          <p:spTgt spid="79"/>
                                        </p:tgtEl>
                                      </p:cBhvr>
                                    </p:animEffec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10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91"/>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9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64" grpId="0" animBg="1"/>
      <p:bldP spid="91"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圆角 36">
            <a:extLst>
              <a:ext uri="{FF2B5EF4-FFF2-40B4-BE49-F238E27FC236}">
                <a16:creationId xmlns:a16="http://schemas.microsoft.com/office/drawing/2014/main" id="{A745F280-BC5A-786A-49BB-4B8E3080148A}"/>
              </a:ext>
            </a:extLst>
          </p:cNvPr>
          <p:cNvSpPr/>
          <p:nvPr/>
        </p:nvSpPr>
        <p:spPr>
          <a:xfrm>
            <a:off x="261257" y="1639389"/>
            <a:ext cx="5452142" cy="3677194"/>
          </a:xfrm>
          <a:prstGeom prst="roundRect">
            <a:avLst/>
          </a:prstGeom>
          <a:solidFill>
            <a:schemeClr val="accent1">
              <a:lumMod val="75000"/>
              <a:alpha val="16000"/>
            </a:schemeClr>
          </a:solidFill>
          <a:ln>
            <a:solidFill>
              <a:schemeClr val="accent1">
                <a:lumMod val="75000"/>
                <a:alpha val="10000"/>
              </a:schemeClr>
            </a:solidFill>
          </a:ln>
        </p:spPr>
        <p:style>
          <a:lnRef idx="1">
            <a:schemeClr val="accent6"/>
          </a:lnRef>
          <a:fillRef idx="3">
            <a:schemeClr val="accent6"/>
          </a:fillRef>
          <a:effectRef idx="2">
            <a:schemeClr val="accent6"/>
          </a:effectRef>
          <a:fontRef idx="minor">
            <a:schemeClr val="lt1"/>
          </a:fontRef>
        </p:style>
        <p:txBody>
          <a:bodyPr rtlCol="0" anchor="ctr"/>
          <a:lstStyle/>
          <a:p>
            <a:pPr algn="ctr"/>
            <a:endParaRPr lang="zh-CN" altLang="en-US" sz="1600" b="1" dirty="0"/>
          </a:p>
        </p:txBody>
      </p:sp>
      <p:sp>
        <p:nvSpPr>
          <p:cNvPr id="38" name="矩形: 圆角 37">
            <a:extLst>
              <a:ext uri="{FF2B5EF4-FFF2-40B4-BE49-F238E27FC236}">
                <a16:creationId xmlns:a16="http://schemas.microsoft.com/office/drawing/2014/main" id="{8E5A37F6-73BA-7A79-A06E-F2153826B627}"/>
              </a:ext>
            </a:extLst>
          </p:cNvPr>
          <p:cNvSpPr/>
          <p:nvPr/>
        </p:nvSpPr>
        <p:spPr>
          <a:xfrm>
            <a:off x="5870694" y="1637211"/>
            <a:ext cx="5452142" cy="3677194"/>
          </a:xfrm>
          <a:prstGeom prst="roundRect">
            <a:avLst/>
          </a:prstGeom>
          <a:solidFill>
            <a:srgbClr val="00B050">
              <a:alpha val="16000"/>
            </a:srgbClr>
          </a:solidFill>
          <a:ln>
            <a:solidFill>
              <a:schemeClr val="accent1">
                <a:lumMod val="75000"/>
                <a:alpha val="10000"/>
              </a:schemeClr>
            </a:solidFill>
          </a:ln>
        </p:spPr>
        <p:style>
          <a:lnRef idx="1">
            <a:schemeClr val="accent6"/>
          </a:lnRef>
          <a:fillRef idx="3">
            <a:schemeClr val="accent6"/>
          </a:fillRef>
          <a:effectRef idx="2">
            <a:schemeClr val="accent6"/>
          </a:effectRef>
          <a:fontRef idx="minor">
            <a:schemeClr val="lt1"/>
          </a:fontRef>
        </p:style>
        <p:txBody>
          <a:bodyPr rtlCol="0" anchor="ctr"/>
          <a:lstStyle/>
          <a:p>
            <a:pPr algn="ctr"/>
            <a:endParaRPr lang="zh-CN" altLang="en-US" sz="1600" b="1" dirty="0"/>
          </a:p>
        </p:txBody>
      </p:sp>
      <p:sp>
        <p:nvSpPr>
          <p:cNvPr id="2" name="标题 1">
            <a:extLst>
              <a:ext uri="{FF2B5EF4-FFF2-40B4-BE49-F238E27FC236}">
                <a16:creationId xmlns:a16="http://schemas.microsoft.com/office/drawing/2014/main" id="{AF516374-5655-72AD-0625-2466E072EA69}"/>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优先级管理 </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插单</a:t>
            </a:r>
          </a:p>
        </p:txBody>
      </p:sp>
      <p:graphicFrame>
        <p:nvGraphicFramePr>
          <p:cNvPr id="5" name="表格 4">
            <a:extLst>
              <a:ext uri="{FF2B5EF4-FFF2-40B4-BE49-F238E27FC236}">
                <a16:creationId xmlns:a16="http://schemas.microsoft.com/office/drawing/2014/main" id="{BC52739F-348E-B25F-E66A-A054F4A21CCD}"/>
              </a:ext>
            </a:extLst>
          </p:cNvPr>
          <p:cNvGraphicFramePr>
            <a:graphicFrameLocks noGrp="1"/>
          </p:cNvGraphicFramePr>
          <p:nvPr>
            <p:extLst>
              <p:ext uri="{D42A27DB-BD31-4B8C-83A1-F6EECF244321}">
                <p14:modId xmlns:p14="http://schemas.microsoft.com/office/powerpoint/2010/main" val="1581466094"/>
              </p:ext>
            </p:extLst>
          </p:nvPr>
        </p:nvGraphicFramePr>
        <p:xfrm>
          <a:off x="957247" y="2129365"/>
          <a:ext cx="694872" cy="2377440"/>
        </p:xfrm>
        <a:graphic>
          <a:graphicData uri="http://schemas.openxmlformats.org/drawingml/2006/table">
            <a:tbl>
              <a:tblPr firstRow="1" bandRow="1">
                <a:tableStyleId>{5C22544A-7EE6-4342-B048-85BDC9FD1C3A}</a:tableStyleId>
              </a:tblPr>
              <a:tblGrid>
                <a:gridCol w="694872">
                  <a:extLst>
                    <a:ext uri="{9D8B030D-6E8A-4147-A177-3AD203B41FA5}">
                      <a16:colId xmlns:a16="http://schemas.microsoft.com/office/drawing/2014/main" val="162918968"/>
                    </a:ext>
                  </a:extLst>
                </a:gridCol>
              </a:tblGrid>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So1</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2965689012"/>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So2</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724838042"/>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So3</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4171502573"/>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So4</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1328586158"/>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So5</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3184837989"/>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So6</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chemeClr val="accent1">
                        <a:lumMod val="75000"/>
                      </a:schemeClr>
                    </a:solidFill>
                  </a:tcPr>
                </a:tc>
                <a:extLst>
                  <a:ext uri="{0D108BD9-81ED-4DB2-BD59-A6C34878D82A}">
                    <a16:rowId xmlns:a16="http://schemas.microsoft.com/office/drawing/2014/main" val="3687170746"/>
                  </a:ext>
                </a:extLst>
              </a:tr>
            </a:tbl>
          </a:graphicData>
        </a:graphic>
      </p:graphicFrame>
      <p:sp>
        <p:nvSpPr>
          <p:cNvPr id="6" name="箭头: 下弧形 5">
            <a:extLst>
              <a:ext uri="{FF2B5EF4-FFF2-40B4-BE49-F238E27FC236}">
                <a16:creationId xmlns:a16="http://schemas.microsoft.com/office/drawing/2014/main" id="{35459864-DBB9-D4AE-70F5-C3B3DE03AEF4}"/>
              </a:ext>
            </a:extLst>
          </p:cNvPr>
          <p:cNvSpPr/>
          <p:nvPr/>
        </p:nvSpPr>
        <p:spPr>
          <a:xfrm rot="16200000">
            <a:off x="1203084" y="3137808"/>
            <a:ext cx="1681843" cy="587826"/>
          </a:xfrm>
          <a:prstGeom prst="curvedUpArrow">
            <a:avLst/>
          </a:prstGeom>
          <a:solidFill>
            <a:srgbClr val="FFC000"/>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endParaRPr lang="zh-CN" altLang="en-US" sz="1600" b="1" dirty="0">
              <a:solidFill>
                <a:schemeClr val="tx1"/>
              </a:solidFill>
            </a:endParaRPr>
          </a:p>
        </p:txBody>
      </p:sp>
      <p:sp>
        <p:nvSpPr>
          <p:cNvPr id="7" name="文本框 6">
            <a:extLst>
              <a:ext uri="{FF2B5EF4-FFF2-40B4-BE49-F238E27FC236}">
                <a16:creationId xmlns:a16="http://schemas.microsoft.com/office/drawing/2014/main" id="{10B9E01D-4EE8-2F1F-7A95-058ADEC2C34E}"/>
              </a:ext>
            </a:extLst>
          </p:cNvPr>
          <p:cNvSpPr txBox="1"/>
          <p:nvPr/>
        </p:nvSpPr>
        <p:spPr>
          <a:xfrm>
            <a:off x="2230874" y="3147124"/>
            <a:ext cx="1676400" cy="461665"/>
          </a:xfrm>
          <a:prstGeom prst="rect">
            <a:avLst/>
          </a:prstGeom>
          <a:noFill/>
        </p:spPr>
        <p:txBody>
          <a:bodyPr wrap="square" rtlCol="0">
            <a:spAutoFit/>
          </a:bodyPr>
          <a:lstStyle/>
          <a:p>
            <a:pPr algn="ctr"/>
            <a:r>
              <a:rPr lang="zh-CN" altLang="en-US" sz="1200" b="1" dirty="0">
                <a:latin typeface="Arial" panose="020B0604020202020204" pitchFamily="34" charset="0"/>
                <a:ea typeface="微软雅黑" panose="020B0503020204020204" pitchFamily="34" charset="-122"/>
              </a:rPr>
              <a:t>插单</a:t>
            </a:r>
            <a:endParaRPr lang="en-US" altLang="zh-CN" sz="1200" b="1" dirty="0">
              <a:latin typeface="Arial" panose="020B0604020202020204" pitchFamily="34" charset="0"/>
              <a:ea typeface="微软雅黑" panose="020B0503020204020204" pitchFamily="34" charset="-122"/>
            </a:endParaRPr>
          </a:p>
          <a:p>
            <a:pPr algn="ctr"/>
            <a:r>
              <a:rPr lang="en-US" altLang="zh-CN" sz="1200" b="1" dirty="0">
                <a:latin typeface="Arial" panose="020B0604020202020204" pitchFamily="34" charset="0"/>
                <a:ea typeface="微软雅黑" panose="020B0503020204020204" pitchFamily="34" charset="-122"/>
              </a:rPr>
              <a:t>Jump the queue</a:t>
            </a:r>
            <a:endParaRPr lang="zh-CN" altLang="en-US" sz="1200" b="1" dirty="0">
              <a:latin typeface="Arial" panose="020B0604020202020204" pitchFamily="34" charset="0"/>
              <a:ea typeface="微软雅黑" panose="020B0503020204020204" pitchFamily="34" charset="-122"/>
            </a:endParaRPr>
          </a:p>
        </p:txBody>
      </p:sp>
      <p:graphicFrame>
        <p:nvGraphicFramePr>
          <p:cNvPr id="8" name="表格 7">
            <a:extLst>
              <a:ext uri="{FF2B5EF4-FFF2-40B4-BE49-F238E27FC236}">
                <a16:creationId xmlns:a16="http://schemas.microsoft.com/office/drawing/2014/main" id="{224AD432-C575-4DAF-F701-3BF1B1845128}"/>
              </a:ext>
            </a:extLst>
          </p:cNvPr>
          <p:cNvGraphicFramePr>
            <a:graphicFrameLocks noGrp="1"/>
          </p:cNvGraphicFramePr>
          <p:nvPr>
            <p:extLst>
              <p:ext uri="{D42A27DB-BD31-4B8C-83A1-F6EECF244321}">
                <p14:modId xmlns:p14="http://schemas.microsoft.com/office/powerpoint/2010/main" val="288686352"/>
              </p:ext>
            </p:extLst>
          </p:nvPr>
        </p:nvGraphicFramePr>
        <p:xfrm>
          <a:off x="3872797" y="2129365"/>
          <a:ext cx="694872" cy="2377440"/>
        </p:xfrm>
        <a:graphic>
          <a:graphicData uri="http://schemas.openxmlformats.org/drawingml/2006/table">
            <a:tbl>
              <a:tblPr firstRow="1" bandRow="1">
                <a:tableStyleId>{5C22544A-7EE6-4342-B048-85BDC9FD1C3A}</a:tableStyleId>
              </a:tblPr>
              <a:tblGrid>
                <a:gridCol w="694872">
                  <a:extLst>
                    <a:ext uri="{9D8B030D-6E8A-4147-A177-3AD203B41FA5}">
                      <a16:colId xmlns:a16="http://schemas.microsoft.com/office/drawing/2014/main" val="162918968"/>
                    </a:ext>
                  </a:extLst>
                </a:gridCol>
              </a:tblGrid>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So1</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2965689012"/>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So6</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724838042"/>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So2</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chemeClr val="accent1">
                        <a:lumMod val="75000"/>
                      </a:schemeClr>
                    </a:solidFill>
                  </a:tcPr>
                </a:tc>
                <a:extLst>
                  <a:ext uri="{0D108BD9-81ED-4DB2-BD59-A6C34878D82A}">
                    <a16:rowId xmlns:a16="http://schemas.microsoft.com/office/drawing/2014/main" val="4171502573"/>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So3</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chemeClr val="accent1">
                        <a:lumMod val="75000"/>
                      </a:schemeClr>
                    </a:solidFill>
                  </a:tcPr>
                </a:tc>
                <a:extLst>
                  <a:ext uri="{0D108BD9-81ED-4DB2-BD59-A6C34878D82A}">
                    <a16:rowId xmlns:a16="http://schemas.microsoft.com/office/drawing/2014/main" val="1328586158"/>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So4</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chemeClr val="accent1">
                        <a:lumMod val="75000"/>
                      </a:schemeClr>
                    </a:solidFill>
                  </a:tcPr>
                </a:tc>
                <a:extLst>
                  <a:ext uri="{0D108BD9-81ED-4DB2-BD59-A6C34878D82A}">
                    <a16:rowId xmlns:a16="http://schemas.microsoft.com/office/drawing/2014/main" val="3184837989"/>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So5</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chemeClr val="accent1">
                        <a:lumMod val="75000"/>
                      </a:schemeClr>
                    </a:solidFill>
                  </a:tcPr>
                </a:tc>
                <a:extLst>
                  <a:ext uri="{0D108BD9-81ED-4DB2-BD59-A6C34878D82A}">
                    <a16:rowId xmlns:a16="http://schemas.microsoft.com/office/drawing/2014/main" val="3687170746"/>
                  </a:ext>
                </a:extLst>
              </a:tr>
            </a:tbl>
          </a:graphicData>
        </a:graphic>
      </p:graphicFrame>
      <p:sp>
        <p:nvSpPr>
          <p:cNvPr id="9" name="文本框 8">
            <a:extLst>
              <a:ext uri="{FF2B5EF4-FFF2-40B4-BE49-F238E27FC236}">
                <a16:creationId xmlns:a16="http://schemas.microsoft.com/office/drawing/2014/main" id="{BAECF9FA-B089-D5AF-4C09-09451ADE2662}"/>
              </a:ext>
            </a:extLst>
          </p:cNvPr>
          <p:cNvSpPr txBox="1"/>
          <p:nvPr/>
        </p:nvSpPr>
        <p:spPr>
          <a:xfrm>
            <a:off x="466482" y="4801924"/>
            <a:ext cx="4935765" cy="307777"/>
          </a:xfrm>
          <a:prstGeom prst="rect">
            <a:avLst/>
          </a:prstGeom>
          <a:noFill/>
        </p:spPr>
        <p:txBody>
          <a:bodyPr wrap="square" rtlCol="0">
            <a:spAutoFit/>
          </a:bodyPr>
          <a:lstStyle/>
          <a:p>
            <a:r>
              <a:rPr lang="zh-CN" altLang="en-US" sz="1400" b="1" dirty="0">
                <a:solidFill>
                  <a:schemeClr val="accent4">
                    <a:lumMod val="75000"/>
                  </a:schemeClr>
                </a:solidFill>
                <a:latin typeface="Arial" panose="020B0604020202020204" pitchFamily="34" charset="0"/>
                <a:ea typeface="微软雅黑" panose="020B0503020204020204" pitchFamily="34" charset="-122"/>
              </a:rPr>
              <a:t>所有排在插队订单后边与其有共享资源的订单可能都被推迟</a:t>
            </a:r>
          </a:p>
        </p:txBody>
      </p:sp>
      <p:graphicFrame>
        <p:nvGraphicFramePr>
          <p:cNvPr id="10" name="表格 9">
            <a:extLst>
              <a:ext uri="{FF2B5EF4-FFF2-40B4-BE49-F238E27FC236}">
                <a16:creationId xmlns:a16="http://schemas.microsoft.com/office/drawing/2014/main" id="{79EDE951-50DA-DE53-3DE6-FE7530A12DEA}"/>
              </a:ext>
            </a:extLst>
          </p:cNvPr>
          <p:cNvGraphicFramePr>
            <a:graphicFrameLocks noGrp="1"/>
          </p:cNvGraphicFramePr>
          <p:nvPr>
            <p:extLst>
              <p:ext uri="{D42A27DB-BD31-4B8C-83A1-F6EECF244321}">
                <p14:modId xmlns:p14="http://schemas.microsoft.com/office/powerpoint/2010/main" val="2379379773"/>
              </p:ext>
            </p:extLst>
          </p:nvPr>
        </p:nvGraphicFramePr>
        <p:xfrm>
          <a:off x="6665684" y="2129365"/>
          <a:ext cx="694872" cy="2377440"/>
        </p:xfrm>
        <a:graphic>
          <a:graphicData uri="http://schemas.openxmlformats.org/drawingml/2006/table">
            <a:tbl>
              <a:tblPr firstRow="1" bandRow="1">
                <a:tableStyleId>{5C22544A-7EE6-4342-B048-85BDC9FD1C3A}</a:tableStyleId>
              </a:tblPr>
              <a:tblGrid>
                <a:gridCol w="694872">
                  <a:extLst>
                    <a:ext uri="{9D8B030D-6E8A-4147-A177-3AD203B41FA5}">
                      <a16:colId xmlns:a16="http://schemas.microsoft.com/office/drawing/2014/main" val="162918968"/>
                    </a:ext>
                  </a:extLst>
                </a:gridCol>
              </a:tblGrid>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So1</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2965689012"/>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So2</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724838042"/>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So3</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4171502573"/>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So4</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1328586158"/>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So5</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3184837989"/>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So6</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chemeClr val="accent1">
                        <a:lumMod val="75000"/>
                      </a:schemeClr>
                    </a:solidFill>
                  </a:tcPr>
                </a:tc>
                <a:extLst>
                  <a:ext uri="{0D108BD9-81ED-4DB2-BD59-A6C34878D82A}">
                    <a16:rowId xmlns:a16="http://schemas.microsoft.com/office/drawing/2014/main" val="3687170746"/>
                  </a:ext>
                </a:extLst>
              </a:tr>
            </a:tbl>
          </a:graphicData>
        </a:graphic>
      </p:graphicFrame>
      <p:sp>
        <p:nvSpPr>
          <p:cNvPr id="12" name="文本框 11">
            <a:extLst>
              <a:ext uri="{FF2B5EF4-FFF2-40B4-BE49-F238E27FC236}">
                <a16:creationId xmlns:a16="http://schemas.microsoft.com/office/drawing/2014/main" id="{AE5DCC8D-8C1F-CA0C-630D-E6147483B6E9}"/>
              </a:ext>
            </a:extLst>
          </p:cNvPr>
          <p:cNvSpPr txBox="1"/>
          <p:nvPr/>
        </p:nvSpPr>
        <p:spPr>
          <a:xfrm>
            <a:off x="7939311" y="3147124"/>
            <a:ext cx="1676400" cy="461665"/>
          </a:xfrm>
          <a:prstGeom prst="rect">
            <a:avLst/>
          </a:prstGeom>
          <a:noFill/>
        </p:spPr>
        <p:txBody>
          <a:bodyPr wrap="square" rtlCol="0">
            <a:spAutoFit/>
          </a:bodyPr>
          <a:lstStyle/>
          <a:p>
            <a:pPr algn="ctr"/>
            <a:r>
              <a:rPr lang="zh-CN" altLang="en-US" sz="1200" b="1" dirty="0">
                <a:latin typeface="Arial" panose="020B0604020202020204" pitchFamily="34" charset="0"/>
                <a:ea typeface="微软雅黑" panose="020B0503020204020204" pitchFamily="34" charset="-122"/>
              </a:rPr>
              <a:t>换位</a:t>
            </a:r>
            <a:endParaRPr lang="en-US" altLang="zh-CN" sz="1200" b="1" dirty="0">
              <a:latin typeface="Arial" panose="020B0604020202020204" pitchFamily="34" charset="0"/>
              <a:ea typeface="微软雅黑" panose="020B0503020204020204" pitchFamily="34" charset="-122"/>
            </a:endParaRPr>
          </a:p>
          <a:p>
            <a:pPr algn="ctr"/>
            <a:r>
              <a:rPr lang="en-US" altLang="zh-CN" sz="1200" b="1" dirty="0">
                <a:latin typeface="Arial" panose="020B0604020202020204" pitchFamily="34" charset="0"/>
                <a:ea typeface="微软雅黑" panose="020B0503020204020204" pitchFamily="34" charset="-122"/>
              </a:rPr>
              <a:t>SWAP</a:t>
            </a:r>
            <a:endParaRPr lang="zh-CN" altLang="en-US" sz="1200" b="1" dirty="0">
              <a:latin typeface="Arial" panose="020B0604020202020204" pitchFamily="34" charset="0"/>
              <a:ea typeface="微软雅黑" panose="020B0503020204020204" pitchFamily="34" charset="-122"/>
            </a:endParaRPr>
          </a:p>
        </p:txBody>
      </p:sp>
      <p:graphicFrame>
        <p:nvGraphicFramePr>
          <p:cNvPr id="13" name="表格 12">
            <a:extLst>
              <a:ext uri="{FF2B5EF4-FFF2-40B4-BE49-F238E27FC236}">
                <a16:creationId xmlns:a16="http://schemas.microsoft.com/office/drawing/2014/main" id="{0F77ACA5-B41F-E40D-0E13-1E1C4DB604EB}"/>
              </a:ext>
            </a:extLst>
          </p:cNvPr>
          <p:cNvGraphicFramePr>
            <a:graphicFrameLocks noGrp="1"/>
          </p:cNvGraphicFramePr>
          <p:nvPr>
            <p:extLst>
              <p:ext uri="{D42A27DB-BD31-4B8C-83A1-F6EECF244321}">
                <p14:modId xmlns:p14="http://schemas.microsoft.com/office/powerpoint/2010/main" val="3472814473"/>
              </p:ext>
            </p:extLst>
          </p:nvPr>
        </p:nvGraphicFramePr>
        <p:xfrm>
          <a:off x="9581234" y="2129365"/>
          <a:ext cx="694872" cy="2377440"/>
        </p:xfrm>
        <a:graphic>
          <a:graphicData uri="http://schemas.openxmlformats.org/drawingml/2006/table">
            <a:tbl>
              <a:tblPr firstRow="1" bandRow="1">
                <a:tableStyleId>{5C22544A-7EE6-4342-B048-85BDC9FD1C3A}</a:tableStyleId>
              </a:tblPr>
              <a:tblGrid>
                <a:gridCol w="694872">
                  <a:extLst>
                    <a:ext uri="{9D8B030D-6E8A-4147-A177-3AD203B41FA5}">
                      <a16:colId xmlns:a16="http://schemas.microsoft.com/office/drawing/2014/main" val="162918968"/>
                    </a:ext>
                  </a:extLst>
                </a:gridCol>
              </a:tblGrid>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So1</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2965689012"/>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So6</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724838042"/>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So3</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4171502573"/>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So4</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1328586158"/>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So5</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rgbClr val="00B050"/>
                    </a:solidFill>
                  </a:tcPr>
                </a:tc>
                <a:extLst>
                  <a:ext uri="{0D108BD9-81ED-4DB2-BD59-A6C34878D82A}">
                    <a16:rowId xmlns:a16="http://schemas.microsoft.com/office/drawing/2014/main" val="3184837989"/>
                  </a:ext>
                </a:extLst>
              </a:tr>
              <a:tr h="370840">
                <a:tc>
                  <a:txBody>
                    <a:bodyPr/>
                    <a:lstStyle/>
                    <a:p>
                      <a:r>
                        <a:rPr lang="en-US" altLang="zh-CN" sz="2000" dirty="0">
                          <a:solidFill>
                            <a:schemeClr val="tx1"/>
                          </a:solidFill>
                          <a:latin typeface="Arial" panose="020B0604020202020204" pitchFamily="34" charset="0"/>
                          <a:ea typeface="微软雅黑" panose="020B0503020204020204" pitchFamily="34" charset="-122"/>
                        </a:rPr>
                        <a:t>So2</a:t>
                      </a:r>
                      <a:endParaRPr lang="zh-CN" altLang="en-US" sz="2000" dirty="0">
                        <a:solidFill>
                          <a:schemeClr val="tx1"/>
                        </a:solidFill>
                        <a:latin typeface="Arial" panose="020B0604020202020204" pitchFamily="34" charset="0"/>
                        <a:ea typeface="微软雅黑" panose="020B0503020204020204" pitchFamily="34" charset="-122"/>
                      </a:endParaRPr>
                    </a:p>
                  </a:txBody>
                  <a:tcPr>
                    <a:solidFill>
                      <a:schemeClr val="accent1">
                        <a:lumMod val="75000"/>
                      </a:schemeClr>
                    </a:solidFill>
                  </a:tcPr>
                </a:tc>
                <a:extLst>
                  <a:ext uri="{0D108BD9-81ED-4DB2-BD59-A6C34878D82A}">
                    <a16:rowId xmlns:a16="http://schemas.microsoft.com/office/drawing/2014/main" val="3687170746"/>
                  </a:ext>
                </a:extLst>
              </a:tr>
            </a:tbl>
          </a:graphicData>
        </a:graphic>
      </p:graphicFrame>
      <p:sp>
        <p:nvSpPr>
          <p:cNvPr id="14" name="文本框 13">
            <a:extLst>
              <a:ext uri="{FF2B5EF4-FFF2-40B4-BE49-F238E27FC236}">
                <a16:creationId xmlns:a16="http://schemas.microsoft.com/office/drawing/2014/main" id="{F77A5D95-2E3D-9D54-B33B-10E2114F45CB}"/>
              </a:ext>
            </a:extLst>
          </p:cNvPr>
          <p:cNvSpPr txBox="1"/>
          <p:nvPr/>
        </p:nvSpPr>
        <p:spPr>
          <a:xfrm>
            <a:off x="6835502" y="4777122"/>
            <a:ext cx="4935765" cy="523220"/>
          </a:xfrm>
          <a:prstGeom prst="rect">
            <a:avLst/>
          </a:prstGeom>
          <a:noFill/>
        </p:spPr>
        <p:txBody>
          <a:bodyPr wrap="square" rtlCol="0">
            <a:spAutoFit/>
          </a:bodyPr>
          <a:lstStyle/>
          <a:p>
            <a:r>
              <a:rPr lang="zh-CN" altLang="en-US" sz="1400" b="1" dirty="0">
                <a:solidFill>
                  <a:srgbClr val="00B050"/>
                </a:solidFill>
                <a:latin typeface="Arial" panose="020B0604020202020204" pitchFamily="34" charset="0"/>
                <a:ea typeface="微软雅黑" panose="020B0503020204020204" pitchFamily="34" charset="-122"/>
              </a:rPr>
              <a:t>订单置换位置，减少影响，明确影响</a:t>
            </a:r>
            <a:endParaRPr lang="en-US" altLang="zh-CN" sz="1400" b="1" dirty="0">
              <a:solidFill>
                <a:srgbClr val="00B050"/>
              </a:solidFill>
              <a:latin typeface="Arial" panose="020B0604020202020204" pitchFamily="34" charset="0"/>
              <a:ea typeface="微软雅黑" panose="020B0503020204020204" pitchFamily="34" charset="-122"/>
            </a:endParaRPr>
          </a:p>
          <a:p>
            <a:r>
              <a:rPr lang="zh-CN" altLang="en-US" sz="1400" b="1" dirty="0">
                <a:solidFill>
                  <a:srgbClr val="00B050"/>
                </a:solidFill>
                <a:latin typeface="Arial" panose="020B0604020202020204" pitchFamily="34" charset="0"/>
                <a:ea typeface="微软雅黑" panose="020B0503020204020204" pitchFamily="34" charset="-122"/>
              </a:rPr>
              <a:t>一对多如何处理？</a:t>
            </a:r>
          </a:p>
        </p:txBody>
      </p:sp>
      <p:sp>
        <p:nvSpPr>
          <p:cNvPr id="36" name="任意多边形: 形状 35">
            <a:extLst>
              <a:ext uri="{FF2B5EF4-FFF2-40B4-BE49-F238E27FC236}">
                <a16:creationId xmlns:a16="http://schemas.microsoft.com/office/drawing/2014/main" id="{70A14F69-8D71-A227-888E-204038E1C782}"/>
              </a:ext>
            </a:extLst>
          </p:cNvPr>
          <p:cNvSpPr/>
          <p:nvPr/>
        </p:nvSpPr>
        <p:spPr>
          <a:xfrm>
            <a:off x="7360554" y="2631085"/>
            <a:ext cx="620697" cy="1731673"/>
          </a:xfrm>
          <a:custGeom>
            <a:avLst/>
            <a:gdLst>
              <a:gd name="connsiteX0" fmla="*/ 155177 w 620697"/>
              <a:gd name="connsiteY0" fmla="*/ 0 h 1731673"/>
              <a:gd name="connsiteX1" fmla="*/ 155177 w 620697"/>
              <a:gd name="connsiteY1" fmla="*/ 77587 h 1731673"/>
              <a:gd name="connsiteX2" fmla="*/ 249236 w 620697"/>
              <a:gd name="connsiteY2" fmla="*/ 115481 h 1731673"/>
              <a:gd name="connsiteX3" fmla="*/ 251664 w 620697"/>
              <a:gd name="connsiteY3" fmla="*/ 116998 h 1731673"/>
              <a:gd name="connsiteX4" fmla="*/ 253861 w 620697"/>
              <a:gd name="connsiteY4" fmla="*/ 117895 h 1731673"/>
              <a:gd name="connsiteX5" fmla="*/ 278899 w 620697"/>
              <a:gd name="connsiteY5" fmla="*/ 134004 h 1731673"/>
              <a:gd name="connsiteX6" fmla="*/ 334996 w 620697"/>
              <a:gd name="connsiteY6" fmla="*/ 169034 h 1731673"/>
              <a:gd name="connsiteX7" fmla="*/ 339432 w 620697"/>
              <a:gd name="connsiteY7" fmla="*/ 172951 h 1731673"/>
              <a:gd name="connsiteX8" fmla="*/ 343528 w 620697"/>
              <a:gd name="connsiteY8" fmla="*/ 175587 h 1731673"/>
              <a:gd name="connsiteX9" fmla="*/ 368993 w 620697"/>
              <a:gd name="connsiteY9" fmla="*/ 199056 h 1731673"/>
              <a:gd name="connsiteX10" fmla="*/ 411451 w 620697"/>
              <a:gd name="connsiteY10" fmla="*/ 236551 h 1731673"/>
              <a:gd name="connsiteX11" fmla="*/ 417204 w 620697"/>
              <a:gd name="connsiteY11" fmla="*/ 243489 h 1731673"/>
              <a:gd name="connsiteX12" fmla="*/ 422901 w 620697"/>
              <a:gd name="connsiteY12" fmla="*/ 248740 h 1731673"/>
              <a:gd name="connsiteX13" fmla="*/ 445303 w 620697"/>
              <a:gd name="connsiteY13" fmla="*/ 277383 h 1731673"/>
              <a:gd name="connsiteX14" fmla="*/ 477597 w 620697"/>
              <a:gd name="connsiteY14" fmla="*/ 316336 h 1731673"/>
              <a:gd name="connsiteX15" fmla="*/ 483925 w 620697"/>
              <a:gd name="connsiteY15" fmla="*/ 326763 h 1731673"/>
              <a:gd name="connsiteX16" fmla="*/ 490705 w 620697"/>
              <a:gd name="connsiteY16" fmla="*/ 335432 h 1731673"/>
              <a:gd name="connsiteX17" fmla="*/ 508487 w 620697"/>
              <a:gd name="connsiteY17" fmla="*/ 367240 h 1731673"/>
              <a:gd name="connsiteX18" fmla="*/ 532428 w 620697"/>
              <a:gd name="connsiteY18" fmla="*/ 406695 h 1731673"/>
              <a:gd name="connsiteX19" fmla="*/ 538609 w 620697"/>
              <a:gd name="connsiteY19" fmla="*/ 421123 h 1731673"/>
              <a:gd name="connsiteX20" fmla="*/ 545662 w 620697"/>
              <a:gd name="connsiteY20" fmla="*/ 433740 h 1731673"/>
              <a:gd name="connsiteX21" fmla="*/ 558060 w 620697"/>
              <a:gd name="connsiteY21" fmla="*/ 466529 h 1731673"/>
              <a:gd name="connsiteX22" fmla="*/ 574940 w 620697"/>
              <a:gd name="connsiteY22" fmla="*/ 505933 h 1731673"/>
              <a:gd name="connsiteX23" fmla="*/ 580172 w 620697"/>
              <a:gd name="connsiteY23" fmla="*/ 525009 h 1731673"/>
              <a:gd name="connsiteX24" fmla="*/ 586497 w 620697"/>
              <a:gd name="connsiteY24" fmla="*/ 541739 h 1731673"/>
              <a:gd name="connsiteX25" fmla="*/ 593497 w 620697"/>
              <a:gd name="connsiteY25" fmla="*/ 573597 h 1731673"/>
              <a:gd name="connsiteX26" fmla="*/ 604127 w 620697"/>
              <a:gd name="connsiteY26" fmla="*/ 612355 h 1731673"/>
              <a:gd name="connsiteX27" fmla="*/ 607354 w 620697"/>
              <a:gd name="connsiteY27" fmla="*/ 636660 h 1731673"/>
              <a:gd name="connsiteX28" fmla="*/ 611934 w 620697"/>
              <a:gd name="connsiteY28" fmla="*/ 657507 h 1731673"/>
              <a:gd name="connsiteX29" fmla="*/ 614086 w 620697"/>
              <a:gd name="connsiteY29" fmla="*/ 687371 h 1731673"/>
              <a:gd name="connsiteX30" fmla="*/ 618984 w 620697"/>
              <a:gd name="connsiteY30" fmla="*/ 724265 h 1731673"/>
              <a:gd name="connsiteX31" fmla="*/ 618619 w 620697"/>
              <a:gd name="connsiteY31" fmla="*/ 750289 h 1731673"/>
              <a:gd name="connsiteX32" fmla="*/ 620697 w 620697"/>
              <a:gd name="connsiteY32" fmla="*/ 779122 h 1731673"/>
              <a:gd name="connsiteX33" fmla="*/ 620697 w 620697"/>
              <a:gd name="connsiteY33" fmla="*/ 934296 h 1731673"/>
              <a:gd name="connsiteX34" fmla="*/ 620695 w 620697"/>
              <a:gd name="connsiteY34" fmla="*/ 934313 h 1731673"/>
              <a:gd name="connsiteX35" fmla="*/ 620695 w 620697"/>
              <a:gd name="connsiteY35" fmla="*/ 959077 h 1731673"/>
              <a:gd name="connsiteX36" fmla="*/ 618783 w 620697"/>
              <a:gd name="connsiteY36" fmla="*/ 982562 h 1731673"/>
              <a:gd name="connsiteX37" fmla="*/ 619246 w 620697"/>
              <a:gd name="connsiteY37" fmla="*/ 1006785 h 1731673"/>
              <a:gd name="connsiteX38" fmla="*/ 611804 w 620697"/>
              <a:gd name="connsiteY38" fmla="*/ 1068308 h 1731673"/>
              <a:gd name="connsiteX39" fmla="*/ 610300 w 620697"/>
              <a:gd name="connsiteY39" fmla="*/ 1086779 h 1731673"/>
              <a:gd name="connsiteX40" fmla="*/ 608879 w 620697"/>
              <a:gd name="connsiteY40" fmla="*/ 1092479 h 1731673"/>
              <a:gd name="connsiteX41" fmla="*/ 608057 w 620697"/>
              <a:gd name="connsiteY41" fmla="*/ 1099280 h 1731673"/>
              <a:gd name="connsiteX42" fmla="*/ 586042 w 620697"/>
              <a:gd name="connsiteY42" fmla="*/ 1189145 h 1731673"/>
              <a:gd name="connsiteX43" fmla="*/ 582374 w 620697"/>
              <a:gd name="connsiteY43" fmla="*/ 1198833 h 1731673"/>
              <a:gd name="connsiteX44" fmla="*/ 580282 w 620697"/>
              <a:gd name="connsiteY44" fmla="*/ 1207227 h 1731673"/>
              <a:gd name="connsiteX45" fmla="*/ 571448 w 620697"/>
              <a:gd name="connsiteY45" fmla="*/ 1227691 h 1731673"/>
              <a:gd name="connsiteX46" fmla="*/ 553479 w 620697"/>
              <a:gd name="connsiteY46" fmla="*/ 1275149 h 1731673"/>
              <a:gd name="connsiteX47" fmla="*/ 539827 w 620697"/>
              <a:gd name="connsiteY47" fmla="*/ 1300934 h 1731673"/>
              <a:gd name="connsiteX48" fmla="*/ 532394 w 620697"/>
              <a:gd name="connsiteY48" fmla="*/ 1318153 h 1731673"/>
              <a:gd name="connsiteX49" fmla="*/ 523047 w 620697"/>
              <a:gd name="connsiteY49" fmla="*/ 1332630 h 1731673"/>
              <a:gd name="connsiteX50" fmla="*/ 510640 w 620697"/>
              <a:gd name="connsiteY50" fmla="*/ 1356065 h 1731673"/>
              <a:gd name="connsiteX51" fmla="*/ 492768 w 620697"/>
              <a:gd name="connsiteY51" fmla="*/ 1379529 h 1731673"/>
              <a:gd name="connsiteX52" fmla="*/ 468387 w 620697"/>
              <a:gd name="connsiteY52" fmla="*/ 1417292 h 1731673"/>
              <a:gd name="connsiteX53" fmla="*/ 443059 w 620697"/>
              <a:gd name="connsiteY53" fmla="*/ 1444787 h 1731673"/>
              <a:gd name="connsiteX54" fmla="*/ 426870 w 620697"/>
              <a:gd name="connsiteY54" fmla="*/ 1466041 h 1731673"/>
              <a:gd name="connsiteX55" fmla="*/ 410188 w 620697"/>
              <a:gd name="connsiteY55" fmla="*/ 1480473 h 1731673"/>
              <a:gd name="connsiteX56" fmla="*/ 390013 w 620697"/>
              <a:gd name="connsiteY56" fmla="*/ 1502375 h 1731673"/>
              <a:gd name="connsiteX57" fmla="*/ 349346 w 620697"/>
              <a:gd name="connsiteY57" fmla="*/ 1533107 h 1731673"/>
              <a:gd name="connsiteX58" fmla="*/ 325875 w 620697"/>
              <a:gd name="connsiteY58" fmla="*/ 1553412 h 1731673"/>
              <a:gd name="connsiteX59" fmla="*/ 313782 w 620697"/>
              <a:gd name="connsiteY59" fmla="*/ 1559984 h 1731673"/>
              <a:gd name="connsiteX60" fmla="*/ 299024 w 620697"/>
              <a:gd name="connsiteY60" fmla="*/ 1571137 h 1731673"/>
              <a:gd name="connsiteX61" fmla="*/ 259170 w 620697"/>
              <a:gd name="connsiteY61" fmla="*/ 1590770 h 1731673"/>
              <a:gd name="connsiteX62" fmla="*/ 241605 w 620697"/>
              <a:gd name="connsiteY62" fmla="*/ 1601899 h 1731673"/>
              <a:gd name="connsiteX63" fmla="*/ 226726 w 620697"/>
              <a:gd name="connsiteY63" fmla="*/ 1607290 h 1731673"/>
              <a:gd name="connsiteX64" fmla="*/ 211155 w 620697"/>
              <a:gd name="connsiteY64" fmla="*/ 1615751 h 1731673"/>
              <a:gd name="connsiteX65" fmla="*/ 204929 w 620697"/>
              <a:gd name="connsiteY65" fmla="*/ 1617489 h 1731673"/>
              <a:gd name="connsiteX66" fmla="*/ 197172 w 620697"/>
              <a:gd name="connsiteY66" fmla="*/ 1621311 h 1731673"/>
              <a:gd name="connsiteX67" fmla="*/ 163427 w 620697"/>
              <a:gd name="connsiteY67" fmla="*/ 1630227 h 1731673"/>
              <a:gd name="connsiteX68" fmla="*/ 125094 w 620697"/>
              <a:gd name="connsiteY68" fmla="*/ 1644117 h 1731673"/>
              <a:gd name="connsiteX69" fmla="*/ 99424 w 620697"/>
              <a:gd name="connsiteY69" fmla="*/ 1647137 h 1731673"/>
              <a:gd name="connsiteX70" fmla="*/ 86208 w 620697"/>
              <a:gd name="connsiteY70" fmla="*/ 1650629 h 1731673"/>
              <a:gd name="connsiteX71" fmla="*/ 86208 w 620697"/>
              <a:gd name="connsiteY71" fmla="*/ 1731673 h 1731673"/>
              <a:gd name="connsiteX72" fmla="*/ 42052 w 620697"/>
              <a:gd name="connsiteY72" fmla="*/ 1653889 h 1731673"/>
              <a:gd name="connsiteX73" fmla="*/ 3 w 620697"/>
              <a:gd name="connsiteY73" fmla="*/ 1658837 h 1731673"/>
              <a:gd name="connsiteX74" fmla="*/ 3 w 620697"/>
              <a:gd name="connsiteY74" fmla="*/ 1579815 h 1731673"/>
              <a:gd name="connsiteX75" fmla="*/ 0 w 620697"/>
              <a:gd name="connsiteY75" fmla="*/ 1579810 h 1731673"/>
              <a:gd name="connsiteX76" fmla="*/ 3 w 620697"/>
              <a:gd name="connsiteY76" fmla="*/ 1579805 h 1731673"/>
              <a:gd name="connsiteX77" fmla="*/ 3 w 620697"/>
              <a:gd name="connsiteY77" fmla="*/ 1503663 h 1731673"/>
              <a:gd name="connsiteX78" fmla="*/ 4 w 620697"/>
              <a:gd name="connsiteY78" fmla="*/ 1503662 h 1731673"/>
              <a:gd name="connsiteX79" fmla="*/ 42282 w 620697"/>
              <a:gd name="connsiteY79" fmla="*/ 1498687 h 1731673"/>
              <a:gd name="connsiteX80" fmla="*/ 86208 w 620697"/>
              <a:gd name="connsiteY80" fmla="*/ 1414411 h 1731673"/>
              <a:gd name="connsiteX81" fmla="*/ 86208 w 620697"/>
              <a:gd name="connsiteY81" fmla="*/ 1493518 h 1731673"/>
              <a:gd name="connsiteX82" fmla="*/ 95314 w 620697"/>
              <a:gd name="connsiteY82" fmla="*/ 1492447 h 1731673"/>
              <a:gd name="connsiteX83" fmla="*/ 242675 w 620697"/>
              <a:gd name="connsiteY83" fmla="*/ 1443765 h 1731673"/>
              <a:gd name="connsiteX84" fmla="*/ 268305 w 620697"/>
              <a:gd name="connsiteY84" fmla="*/ 1429808 h 1731673"/>
              <a:gd name="connsiteX85" fmla="*/ 329599 w 620697"/>
              <a:gd name="connsiteY85" fmla="*/ 1390972 h 1731673"/>
              <a:gd name="connsiteX86" fmla="*/ 366866 w 620697"/>
              <a:gd name="connsiteY86" fmla="*/ 1360827 h 1731673"/>
              <a:gd name="connsiteX87" fmla="*/ 419225 w 620697"/>
              <a:gd name="connsiteY87" fmla="*/ 1310399 h 1731673"/>
              <a:gd name="connsiteX88" fmla="*/ 451538 w 620697"/>
              <a:gd name="connsiteY88" fmla="*/ 1273569 h 1731673"/>
              <a:gd name="connsiteX89" fmla="*/ 495630 w 620697"/>
              <a:gd name="connsiteY89" fmla="*/ 1211188 h 1731673"/>
              <a:gd name="connsiteX90" fmla="*/ 521150 w 620697"/>
              <a:gd name="connsiteY90" fmla="*/ 1170331 h 1731673"/>
              <a:gd name="connsiteX91" fmla="*/ 557439 w 620697"/>
              <a:gd name="connsiteY91" fmla="*/ 1092287 h 1731673"/>
              <a:gd name="connsiteX92" fmla="*/ 573975 w 620697"/>
              <a:gd name="connsiteY92" fmla="*/ 1053415 h 1731673"/>
              <a:gd name="connsiteX93" fmla="*/ 608086 w 620697"/>
              <a:gd name="connsiteY93" fmla="*/ 925145 h 1731673"/>
              <a:gd name="connsiteX94" fmla="*/ 608086 w 620697"/>
              <a:gd name="connsiteY94" fmla="*/ 925142 h 1731673"/>
              <a:gd name="connsiteX95" fmla="*/ 611247 w 620697"/>
              <a:gd name="connsiteY95" fmla="*/ 888543 h 1731673"/>
              <a:gd name="connsiteX96" fmla="*/ 612782 w 620697"/>
              <a:gd name="connsiteY96" fmla="*/ 870767 h 1731673"/>
              <a:gd name="connsiteX97" fmla="*/ 610213 w 620697"/>
              <a:gd name="connsiteY97" fmla="*/ 842093 h 1731673"/>
              <a:gd name="connsiteX98" fmla="*/ 608085 w 620697"/>
              <a:gd name="connsiteY98" fmla="*/ 818341 h 1731673"/>
              <a:gd name="connsiteX99" fmla="*/ 573974 w 620697"/>
              <a:gd name="connsiteY99" fmla="*/ 694710 h 1731673"/>
              <a:gd name="connsiteX100" fmla="*/ 557438 w 620697"/>
              <a:gd name="connsiteY100" fmla="*/ 657247 h 1731673"/>
              <a:gd name="connsiteX101" fmla="*/ 521148 w 620697"/>
              <a:gd name="connsiteY101" fmla="*/ 582025 h 1731673"/>
              <a:gd name="connsiteX102" fmla="*/ 495629 w 620697"/>
              <a:gd name="connsiteY102" fmla="*/ 542648 h 1731673"/>
              <a:gd name="connsiteX103" fmla="*/ 451536 w 620697"/>
              <a:gd name="connsiteY103" fmla="*/ 482524 h 1731673"/>
              <a:gd name="connsiteX104" fmla="*/ 419223 w 620697"/>
              <a:gd name="connsiteY104" fmla="*/ 447027 h 1731673"/>
              <a:gd name="connsiteX105" fmla="*/ 366864 w 620697"/>
              <a:gd name="connsiteY105" fmla="*/ 398424 h 1731673"/>
              <a:gd name="connsiteX106" fmla="*/ 329597 w 620697"/>
              <a:gd name="connsiteY106" fmla="*/ 369370 h 1731673"/>
              <a:gd name="connsiteX107" fmla="*/ 268302 w 620697"/>
              <a:gd name="connsiteY107" fmla="*/ 331939 h 1731673"/>
              <a:gd name="connsiteX108" fmla="*/ 228560 w 620697"/>
              <a:gd name="connsiteY108" fmla="*/ 311080 h 1731673"/>
              <a:gd name="connsiteX109" fmla="*/ 155176 w 620697"/>
              <a:gd name="connsiteY109" fmla="*/ 285451 h 1731673"/>
              <a:gd name="connsiteX110" fmla="*/ 155177 w 620697"/>
              <a:gd name="connsiteY110" fmla="*/ 310348 h 1731673"/>
              <a:gd name="connsiteX111" fmla="*/ 125669 w 620697"/>
              <a:gd name="connsiteY111" fmla="*/ 276465 h 1731673"/>
              <a:gd name="connsiteX112" fmla="*/ 118033 w 620697"/>
              <a:gd name="connsiteY112" fmla="*/ 274144 h 1731673"/>
              <a:gd name="connsiteX113" fmla="*/ 2 w 620697"/>
              <a:gd name="connsiteY113" fmla="*/ 260757 h 1731673"/>
              <a:gd name="connsiteX114" fmla="*/ 0 w 620697"/>
              <a:gd name="connsiteY114" fmla="*/ 260757 h 1731673"/>
              <a:gd name="connsiteX115" fmla="*/ 0 w 620697"/>
              <a:gd name="connsiteY115" fmla="*/ 105584 h 1731673"/>
              <a:gd name="connsiteX116" fmla="*/ 27955 w 620697"/>
              <a:gd name="connsiteY116" fmla="*/ 108359 h 173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620697" h="1731673">
                <a:moveTo>
                  <a:pt x="155177" y="0"/>
                </a:moveTo>
                <a:lnTo>
                  <a:pt x="155177" y="77587"/>
                </a:lnTo>
                <a:cubicBezTo>
                  <a:pt x="187801" y="87420"/>
                  <a:pt x="219210" y="100146"/>
                  <a:pt x="249236" y="115481"/>
                </a:cubicBezTo>
                <a:lnTo>
                  <a:pt x="251664" y="116998"/>
                </a:lnTo>
                <a:lnTo>
                  <a:pt x="253861" y="117895"/>
                </a:lnTo>
                <a:lnTo>
                  <a:pt x="278899" y="134004"/>
                </a:lnTo>
                <a:lnTo>
                  <a:pt x="334996" y="169034"/>
                </a:lnTo>
                <a:lnTo>
                  <a:pt x="339432" y="172951"/>
                </a:lnTo>
                <a:lnTo>
                  <a:pt x="343528" y="175587"/>
                </a:lnTo>
                <a:lnTo>
                  <a:pt x="368993" y="199056"/>
                </a:lnTo>
                <a:lnTo>
                  <a:pt x="411451" y="236551"/>
                </a:lnTo>
                <a:lnTo>
                  <a:pt x="417204" y="243489"/>
                </a:lnTo>
                <a:lnTo>
                  <a:pt x="422901" y="248740"/>
                </a:lnTo>
                <a:lnTo>
                  <a:pt x="445303" y="277383"/>
                </a:lnTo>
                <a:lnTo>
                  <a:pt x="477597" y="316336"/>
                </a:lnTo>
                <a:lnTo>
                  <a:pt x="483925" y="326763"/>
                </a:lnTo>
                <a:lnTo>
                  <a:pt x="490705" y="335432"/>
                </a:lnTo>
                <a:lnTo>
                  <a:pt x="508487" y="367240"/>
                </a:lnTo>
                <a:lnTo>
                  <a:pt x="532428" y="406695"/>
                </a:lnTo>
                <a:lnTo>
                  <a:pt x="538609" y="421123"/>
                </a:lnTo>
                <a:lnTo>
                  <a:pt x="545662" y="433740"/>
                </a:lnTo>
                <a:lnTo>
                  <a:pt x="558060" y="466529"/>
                </a:lnTo>
                <a:lnTo>
                  <a:pt x="574940" y="505933"/>
                </a:lnTo>
                <a:lnTo>
                  <a:pt x="580172" y="525009"/>
                </a:lnTo>
                <a:lnTo>
                  <a:pt x="586497" y="541739"/>
                </a:lnTo>
                <a:lnTo>
                  <a:pt x="593497" y="573597"/>
                </a:lnTo>
                <a:lnTo>
                  <a:pt x="604127" y="612355"/>
                </a:lnTo>
                <a:lnTo>
                  <a:pt x="607354" y="636660"/>
                </a:lnTo>
                <a:lnTo>
                  <a:pt x="611934" y="657507"/>
                </a:lnTo>
                <a:lnTo>
                  <a:pt x="614086" y="687371"/>
                </a:lnTo>
                <a:lnTo>
                  <a:pt x="618984" y="724265"/>
                </a:lnTo>
                <a:lnTo>
                  <a:pt x="618619" y="750289"/>
                </a:lnTo>
                <a:lnTo>
                  <a:pt x="620697" y="779122"/>
                </a:lnTo>
                <a:lnTo>
                  <a:pt x="620697" y="934296"/>
                </a:lnTo>
                <a:lnTo>
                  <a:pt x="620695" y="934313"/>
                </a:lnTo>
                <a:lnTo>
                  <a:pt x="620695" y="959077"/>
                </a:lnTo>
                <a:lnTo>
                  <a:pt x="618783" y="982562"/>
                </a:lnTo>
                <a:lnTo>
                  <a:pt x="619246" y="1006785"/>
                </a:lnTo>
                <a:lnTo>
                  <a:pt x="611804" y="1068308"/>
                </a:lnTo>
                <a:lnTo>
                  <a:pt x="610300" y="1086779"/>
                </a:lnTo>
                <a:lnTo>
                  <a:pt x="608879" y="1092479"/>
                </a:lnTo>
                <a:lnTo>
                  <a:pt x="608057" y="1099280"/>
                </a:lnTo>
                <a:cubicBezTo>
                  <a:pt x="602507" y="1129742"/>
                  <a:pt x="595154" y="1159765"/>
                  <a:pt x="586042" y="1189145"/>
                </a:cubicBezTo>
                <a:lnTo>
                  <a:pt x="582374" y="1198833"/>
                </a:lnTo>
                <a:lnTo>
                  <a:pt x="580282" y="1207227"/>
                </a:lnTo>
                <a:lnTo>
                  <a:pt x="571448" y="1227691"/>
                </a:lnTo>
                <a:lnTo>
                  <a:pt x="553479" y="1275149"/>
                </a:lnTo>
                <a:lnTo>
                  <a:pt x="539827" y="1300934"/>
                </a:lnTo>
                <a:lnTo>
                  <a:pt x="532394" y="1318153"/>
                </a:lnTo>
                <a:lnTo>
                  <a:pt x="523047" y="1332630"/>
                </a:lnTo>
                <a:lnTo>
                  <a:pt x="510640" y="1356065"/>
                </a:lnTo>
                <a:lnTo>
                  <a:pt x="492768" y="1379529"/>
                </a:lnTo>
                <a:lnTo>
                  <a:pt x="468387" y="1417292"/>
                </a:lnTo>
                <a:lnTo>
                  <a:pt x="443059" y="1444787"/>
                </a:lnTo>
                <a:lnTo>
                  <a:pt x="426870" y="1466041"/>
                </a:lnTo>
                <a:lnTo>
                  <a:pt x="410188" y="1480473"/>
                </a:lnTo>
                <a:lnTo>
                  <a:pt x="390013" y="1502375"/>
                </a:lnTo>
                <a:lnTo>
                  <a:pt x="349346" y="1533107"/>
                </a:lnTo>
                <a:lnTo>
                  <a:pt x="325875" y="1553412"/>
                </a:lnTo>
                <a:lnTo>
                  <a:pt x="313782" y="1559984"/>
                </a:lnTo>
                <a:lnTo>
                  <a:pt x="299024" y="1571137"/>
                </a:lnTo>
                <a:lnTo>
                  <a:pt x="259170" y="1590770"/>
                </a:lnTo>
                <a:lnTo>
                  <a:pt x="241605" y="1601899"/>
                </a:lnTo>
                <a:lnTo>
                  <a:pt x="226726" y="1607290"/>
                </a:lnTo>
                <a:lnTo>
                  <a:pt x="211155" y="1615751"/>
                </a:lnTo>
                <a:lnTo>
                  <a:pt x="204929" y="1617489"/>
                </a:lnTo>
                <a:lnTo>
                  <a:pt x="197172" y="1621311"/>
                </a:lnTo>
                <a:lnTo>
                  <a:pt x="163427" y="1630227"/>
                </a:lnTo>
                <a:lnTo>
                  <a:pt x="125094" y="1644117"/>
                </a:lnTo>
                <a:lnTo>
                  <a:pt x="99424" y="1647137"/>
                </a:lnTo>
                <a:lnTo>
                  <a:pt x="86208" y="1650629"/>
                </a:lnTo>
                <a:lnTo>
                  <a:pt x="86208" y="1731673"/>
                </a:lnTo>
                <a:lnTo>
                  <a:pt x="42052" y="1653889"/>
                </a:lnTo>
                <a:lnTo>
                  <a:pt x="3" y="1658837"/>
                </a:lnTo>
                <a:lnTo>
                  <a:pt x="3" y="1579815"/>
                </a:lnTo>
                <a:lnTo>
                  <a:pt x="0" y="1579810"/>
                </a:lnTo>
                <a:lnTo>
                  <a:pt x="3" y="1579805"/>
                </a:lnTo>
                <a:lnTo>
                  <a:pt x="3" y="1503663"/>
                </a:lnTo>
                <a:lnTo>
                  <a:pt x="4" y="1503662"/>
                </a:lnTo>
                <a:lnTo>
                  <a:pt x="42282" y="1498687"/>
                </a:lnTo>
                <a:lnTo>
                  <a:pt x="86208" y="1414411"/>
                </a:lnTo>
                <a:lnTo>
                  <a:pt x="86208" y="1493518"/>
                </a:lnTo>
                <a:lnTo>
                  <a:pt x="95314" y="1492447"/>
                </a:lnTo>
                <a:lnTo>
                  <a:pt x="242675" y="1443765"/>
                </a:lnTo>
                <a:lnTo>
                  <a:pt x="268305" y="1429808"/>
                </a:lnTo>
                <a:lnTo>
                  <a:pt x="329599" y="1390972"/>
                </a:lnTo>
                <a:lnTo>
                  <a:pt x="366866" y="1360827"/>
                </a:lnTo>
                <a:lnTo>
                  <a:pt x="419225" y="1310399"/>
                </a:lnTo>
                <a:lnTo>
                  <a:pt x="451538" y="1273569"/>
                </a:lnTo>
                <a:lnTo>
                  <a:pt x="495630" y="1211188"/>
                </a:lnTo>
                <a:lnTo>
                  <a:pt x="521150" y="1170331"/>
                </a:lnTo>
                <a:lnTo>
                  <a:pt x="557439" y="1092287"/>
                </a:lnTo>
                <a:lnTo>
                  <a:pt x="573975" y="1053415"/>
                </a:lnTo>
                <a:lnTo>
                  <a:pt x="608086" y="925145"/>
                </a:lnTo>
                <a:lnTo>
                  <a:pt x="608086" y="925142"/>
                </a:lnTo>
                <a:lnTo>
                  <a:pt x="611247" y="888543"/>
                </a:lnTo>
                <a:lnTo>
                  <a:pt x="612782" y="870767"/>
                </a:lnTo>
                <a:lnTo>
                  <a:pt x="610213" y="842093"/>
                </a:lnTo>
                <a:lnTo>
                  <a:pt x="608085" y="818341"/>
                </a:lnTo>
                <a:lnTo>
                  <a:pt x="573974" y="694710"/>
                </a:lnTo>
                <a:lnTo>
                  <a:pt x="557438" y="657247"/>
                </a:lnTo>
                <a:lnTo>
                  <a:pt x="521148" y="582025"/>
                </a:lnTo>
                <a:lnTo>
                  <a:pt x="495629" y="542648"/>
                </a:lnTo>
                <a:lnTo>
                  <a:pt x="451536" y="482524"/>
                </a:lnTo>
                <a:lnTo>
                  <a:pt x="419223" y="447027"/>
                </a:lnTo>
                <a:lnTo>
                  <a:pt x="366864" y="398424"/>
                </a:lnTo>
                <a:lnTo>
                  <a:pt x="329597" y="369370"/>
                </a:lnTo>
                <a:lnTo>
                  <a:pt x="268302" y="331939"/>
                </a:lnTo>
                <a:lnTo>
                  <a:pt x="228560" y="311080"/>
                </a:lnTo>
                <a:lnTo>
                  <a:pt x="155176" y="285451"/>
                </a:lnTo>
                <a:lnTo>
                  <a:pt x="155177" y="310348"/>
                </a:lnTo>
                <a:lnTo>
                  <a:pt x="125669" y="276465"/>
                </a:lnTo>
                <a:lnTo>
                  <a:pt x="118033" y="274144"/>
                </a:lnTo>
                <a:lnTo>
                  <a:pt x="2" y="260757"/>
                </a:lnTo>
                <a:lnTo>
                  <a:pt x="0" y="260757"/>
                </a:lnTo>
                <a:lnTo>
                  <a:pt x="0" y="105584"/>
                </a:lnTo>
                <a:lnTo>
                  <a:pt x="27955" y="108359"/>
                </a:lnTo>
                <a:close/>
              </a:path>
            </a:pathLst>
          </a:custGeom>
          <a:solidFill>
            <a:srgbClr val="FFC000"/>
          </a:solidFill>
          <a:ln>
            <a:noFill/>
          </a:ln>
        </p:spPr>
        <p:style>
          <a:lnRef idx="1">
            <a:schemeClr val="accent6"/>
          </a:lnRef>
          <a:fillRef idx="3">
            <a:schemeClr val="accent6"/>
          </a:fillRef>
          <a:effectRef idx="2">
            <a:schemeClr val="accent6"/>
          </a:effectRef>
          <a:fontRef idx="minor">
            <a:schemeClr val="lt1"/>
          </a:fontRef>
        </p:style>
        <p:txBody>
          <a:bodyPr wrap="square" rtlCol="0" anchor="ctr">
            <a:noAutofit/>
          </a:bodyPr>
          <a:lstStyle/>
          <a:p>
            <a:pPr algn="ctr"/>
            <a:endParaRPr lang="zh-CN" altLang="en-US" sz="1600" b="1" dirty="0">
              <a:solidFill>
                <a:schemeClr val="tx1"/>
              </a:solidFill>
            </a:endParaRPr>
          </a:p>
        </p:txBody>
      </p:sp>
      <p:pic>
        <p:nvPicPr>
          <p:cNvPr id="40" name="图形 39">
            <a:extLst>
              <a:ext uri="{FF2B5EF4-FFF2-40B4-BE49-F238E27FC236}">
                <a16:creationId xmlns:a16="http://schemas.microsoft.com/office/drawing/2014/main" id="{CDB4A79F-A04E-4F34-062A-43B418C8DAAE}"/>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821863" y="5524564"/>
            <a:ext cx="1160767" cy="1136423"/>
          </a:xfrm>
          <a:prstGeom prst="rect">
            <a:avLst/>
          </a:prstGeom>
        </p:spPr>
      </p:pic>
      <p:sp>
        <p:nvSpPr>
          <p:cNvPr id="41" name="文本框 40">
            <a:extLst>
              <a:ext uri="{FF2B5EF4-FFF2-40B4-BE49-F238E27FC236}">
                <a16:creationId xmlns:a16="http://schemas.microsoft.com/office/drawing/2014/main" id="{6321F92F-CC67-983E-1347-4EA0850F88DA}"/>
              </a:ext>
            </a:extLst>
          </p:cNvPr>
          <p:cNvSpPr txBox="1"/>
          <p:nvPr/>
        </p:nvSpPr>
        <p:spPr>
          <a:xfrm>
            <a:off x="3577794" y="5958289"/>
            <a:ext cx="2227218" cy="400110"/>
          </a:xfrm>
          <a:prstGeom prst="rect">
            <a:avLst/>
          </a:prstGeom>
          <a:noFill/>
        </p:spPr>
        <p:txBody>
          <a:bodyPr wrap="square" rtlCol="0">
            <a:spAutoFit/>
          </a:bodyPr>
          <a:lstStyle/>
          <a:p>
            <a:r>
              <a:rPr lang="en-US" altLang="zh-CN" sz="2000" b="1" dirty="0">
                <a:solidFill>
                  <a:srgbClr val="7030A0"/>
                </a:solidFill>
                <a:latin typeface="Arial" panose="020B0604020202020204" pitchFamily="34" charset="0"/>
                <a:ea typeface="微软雅黑" panose="020B0503020204020204" pitchFamily="34" charset="-122"/>
              </a:rPr>
              <a:t>HOW ?</a:t>
            </a:r>
            <a:endParaRPr lang="zh-CN" altLang="en-US" sz="2000" b="1" dirty="0">
              <a:solidFill>
                <a:srgbClr val="7030A0"/>
              </a:solidFill>
              <a:latin typeface="Arial" panose="020B0604020202020204" pitchFamily="34" charset="0"/>
              <a:ea typeface="微软雅黑" panose="020B0503020204020204" pitchFamily="34" charset="-122"/>
            </a:endParaRPr>
          </a:p>
        </p:txBody>
      </p:sp>
      <p:sp>
        <p:nvSpPr>
          <p:cNvPr id="42" name="文本框 41">
            <a:extLst>
              <a:ext uri="{FF2B5EF4-FFF2-40B4-BE49-F238E27FC236}">
                <a16:creationId xmlns:a16="http://schemas.microsoft.com/office/drawing/2014/main" id="{192BFB12-206A-8710-1F10-1B5A2EFAEE76}"/>
              </a:ext>
            </a:extLst>
          </p:cNvPr>
          <p:cNvSpPr txBox="1"/>
          <p:nvPr/>
        </p:nvSpPr>
        <p:spPr>
          <a:xfrm>
            <a:off x="6244069" y="5615721"/>
            <a:ext cx="4431212" cy="954107"/>
          </a:xfrm>
          <a:prstGeom prst="rect">
            <a:avLst/>
          </a:prstGeom>
          <a:noFill/>
        </p:spPr>
        <p:txBody>
          <a:bodyPr wrap="square" rtlCol="0">
            <a:spAutoFit/>
          </a:bodyPr>
          <a:lstStyle/>
          <a:p>
            <a:pPr marL="342900" indent="-342900">
              <a:buFont typeface="+mj-lt"/>
              <a:buAutoNum type="arabicPeriod"/>
            </a:pPr>
            <a:r>
              <a:rPr lang="zh-CN" altLang="en-US" sz="1400" b="1" dirty="0">
                <a:solidFill>
                  <a:srgbClr val="00B050"/>
                </a:solidFill>
                <a:latin typeface="Arial" panose="020B0604020202020204" pitchFamily="34" charset="0"/>
                <a:ea typeface="微软雅黑" panose="020B0503020204020204" pitchFamily="34" charset="-122"/>
              </a:rPr>
              <a:t>找出哪些</a:t>
            </a:r>
            <a:r>
              <a:rPr lang="en-US" altLang="zh-CN" sz="1400" b="1" dirty="0">
                <a:solidFill>
                  <a:srgbClr val="00B050"/>
                </a:solidFill>
                <a:latin typeface="Arial" panose="020B0604020202020204" pitchFamily="34" charset="0"/>
                <a:ea typeface="微软雅黑" panose="020B0503020204020204" pitchFamily="34" charset="-122"/>
              </a:rPr>
              <a:t>pegging</a:t>
            </a:r>
            <a:r>
              <a:rPr lang="zh-CN" altLang="en-US" sz="1400" b="1" dirty="0">
                <a:solidFill>
                  <a:srgbClr val="00B050"/>
                </a:solidFill>
                <a:latin typeface="Arial" panose="020B0604020202020204" pitchFamily="34" charset="0"/>
                <a:ea typeface="微软雅黑" panose="020B0503020204020204" pitchFamily="34" charset="-122"/>
              </a:rPr>
              <a:t>为潜在可置换资源</a:t>
            </a:r>
            <a:endParaRPr lang="en-US" altLang="zh-CN" sz="1400" b="1" dirty="0">
              <a:solidFill>
                <a:srgbClr val="00B050"/>
              </a:solidFill>
              <a:latin typeface="Arial" panose="020B0604020202020204" pitchFamily="34" charset="0"/>
              <a:ea typeface="微软雅黑" panose="020B0503020204020204" pitchFamily="34" charset="-122"/>
            </a:endParaRPr>
          </a:p>
          <a:p>
            <a:pPr marL="342900" indent="-342900">
              <a:buFont typeface="+mj-lt"/>
              <a:buAutoNum type="arabicPeriod"/>
            </a:pPr>
            <a:r>
              <a:rPr lang="zh-CN" altLang="en-US" sz="1400" b="1" dirty="0">
                <a:solidFill>
                  <a:srgbClr val="00B050"/>
                </a:solidFill>
                <a:latin typeface="Arial" panose="020B0604020202020204" pitchFamily="34" charset="0"/>
                <a:ea typeface="微软雅黑" panose="020B0503020204020204" pitchFamily="34" charset="-122"/>
              </a:rPr>
              <a:t>可置换资源按照优先级策略捯排序</a:t>
            </a:r>
            <a:endParaRPr lang="en-US" altLang="zh-CN" sz="1400" b="1" dirty="0">
              <a:solidFill>
                <a:srgbClr val="00B050"/>
              </a:solidFill>
              <a:latin typeface="Arial" panose="020B0604020202020204" pitchFamily="34" charset="0"/>
              <a:ea typeface="微软雅黑" panose="020B0503020204020204" pitchFamily="34" charset="-122"/>
            </a:endParaRPr>
          </a:p>
          <a:p>
            <a:pPr marL="342900" indent="-342900">
              <a:buFont typeface="+mj-lt"/>
              <a:buAutoNum type="arabicPeriod"/>
            </a:pPr>
            <a:r>
              <a:rPr lang="zh-CN" altLang="en-US" sz="1400" b="1" dirty="0">
                <a:solidFill>
                  <a:srgbClr val="00B050"/>
                </a:solidFill>
                <a:latin typeface="Arial" panose="020B0604020202020204" pitchFamily="34" charset="0"/>
                <a:ea typeface="微软雅黑" panose="020B0503020204020204" pitchFamily="34" charset="-122"/>
              </a:rPr>
              <a:t>在线审批是否可置换</a:t>
            </a:r>
            <a:endParaRPr lang="en-US" altLang="zh-CN" sz="1400" b="1" dirty="0">
              <a:solidFill>
                <a:srgbClr val="00B050"/>
              </a:solidFill>
              <a:latin typeface="Arial" panose="020B0604020202020204" pitchFamily="34" charset="0"/>
              <a:ea typeface="微软雅黑" panose="020B0503020204020204" pitchFamily="34" charset="-122"/>
            </a:endParaRPr>
          </a:p>
          <a:p>
            <a:pPr marL="342900" indent="-342900">
              <a:buFont typeface="+mj-lt"/>
              <a:buAutoNum type="arabicPeriod"/>
            </a:pPr>
            <a:r>
              <a:rPr lang="zh-CN" altLang="en-US" sz="1400" b="1" dirty="0">
                <a:solidFill>
                  <a:srgbClr val="00B050"/>
                </a:solidFill>
                <a:latin typeface="Arial" panose="020B0604020202020204" pitchFamily="34" charset="0"/>
                <a:ea typeface="微软雅黑" panose="020B0503020204020204" pitchFamily="34" charset="-122"/>
              </a:rPr>
              <a:t>置换资源</a:t>
            </a:r>
          </a:p>
        </p:txBody>
      </p:sp>
    </p:spTree>
    <p:extLst>
      <p:ext uri="{BB962C8B-B14F-4D97-AF65-F5344CB8AC3E}">
        <p14:creationId xmlns:p14="http://schemas.microsoft.com/office/powerpoint/2010/main" val="3769325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6"/>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13"/>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8"/>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40"/>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41"/>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6" grpId="0" animBg="1"/>
      <p:bldP spid="7" grpId="0"/>
      <p:bldP spid="9" grpId="0"/>
      <p:bldP spid="12" grpId="0"/>
      <p:bldP spid="14" grpId="0"/>
      <p:bldP spid="36" grpId="0" animBg="1"/>
      <p:bldP spid="41" grpId="0"/>
      <p:bldP spid="42"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C8D871AB-D800-DBFA-4924-455EB1FFF297}"/>
              </a:ext>
            </a:extLst>
          </p:cNvPr>
          <p:cNvSpPr>
            <a:spLocks noGrp="1"/>
          </p:cNvSpPr>
          <p:nvPr>
            <p:ph type="ctrTitle"/>
          </p:nvPr>
        </p:nvSpPr>
        <p:spPr/>
        <p:txBody>
          <a:bodyPr>
            <a:normAutofit/>
          </a:bodyPr>
          <a:lstStyle/>
          <a:p>
            <a:r>
              <a:rPr lang="en-US" altLang="zh-CN" dirty="0">
                <a:latin typeface="Arial" panose="020B0604020202020204" pitchFamily="34" charset="0"/>
                <a:ea typeface="微软雅黑" panose="020B0503020204020204" pitchFamily="34" charset="-122"/>
              </a:rPr>
              <a:t>IPS –</a:t>
            </a:r>
            <a:r>
              <a:rPr lang="zh-CN" altLang="en-US" dirty="0">
                <a:latin typeface="Arial" panose="020B0604020202020204" pitchFamily="34" charset="0"/>
                <a:ea typeface="微软雅黑" panose="020B0503020204020204" pitchFamily="34" charset="-122"/>
              </a:rPr>
              <a:t>主计划和执行计划的协同</a:t>
            </a:r>
            <a:r>
              <a:rPr lang="en-US" altLang="zh-CN" dirty="0">
                <a:latin typeface="Arial" panose="020B0604020202020204" pitchFamily="34" charset="0"/>
                <a:ea typeface="微软雅黑" panose="020B0503020204020204" pitchFamily="34" charset="-122"/>
              </a:rPr>
              <a:t>Allocation/Allotment</a:t>
            </a:r>
            <a:endParaRPr lang="zh-CN" altLang="en-US"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184766206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8A6B8700-F3FD-6E17-841C-3A18DAEF4A2F}"/>
              </a:ext>
            </a:extLst>
          </p:cNvPr>
          <p:cNvSpPr>
            <a:spLocks noGrp="1"/>
          </p:cNvSpPr>
          <p:nvPr>
            <p:ph type="title"/>
          </p:nvPr>
        </p:nvSpPr>
        <p:spPr/>
        <p:txBody>
          <a:bodyPr/>
          <a:lstStyle/>
          <a:p>
            <a:r>
              <a:rPr lang="zh-CN" altLang="en-US" dirty="0"/>
              <a:t>智能战术规划</a:t>
            </a:r>
            <a:r>
              <a:rPr lang="en-US" altLang="zh-CN" dirty="0"/>
              <a:t>ITP(Intelligent Tactical Planning)</a:t>
            </a:r>
            <a:endParaRPr lang="zh-CN" altLang="en-US" dirty="0"/>
          </a:p>
        </p:txBody>
      </p:sp>
      <p:grpSp>
        <p:nvGrpSpPr>
          <p:cNvPr id="2" name="组合 1">
            <a:extLst>
              <a:ext uri="{FF2B5EF4-FFF2-40B4-BE49-F238E27FC236}">
                <a16:creationId xmlns:a16="http://schemas.microsoft.com/office/drawing/2014/main" id="{6B949145-7275-890D-61F0-914B9021BF82}"/>
              </a:ext>
            </a:extLst>
          </p:cNvPr>
          <p:cNvGrpSpPr>
            <a:grpSpLocks noChangeAspect="1"/>
          </p:cNvGrpSpPr>
          <p:nvPr>
            <p:custDataLst>
              <p:tags r:id="rId1"/>
            </p:custDataLst>
          </p:nvPr>
        </p:nvGrpSpPr>
        <p:grpSpPr>
          <a:xfrm>
            <a:off x="788894" y="866588"/>
            <a:ext cx="10960096" cy="5689600"/>
            <a:chOff x="675644" y="1047413"/>
            <a:chExt cx="5314970" cy="4481862"/>
          </a:xfrm>
        </p:grpSpPr>
        <p:grpSp>
          <p:nvGrpSpPr>
            <p:cNvPr id="4" name="组合 3">
              <a:extLst>
                <a:ext uri="{FF2B5EF4-FFF2-40B4-BE49-F238E27FC236}">
                  <a16:creationId xmlns:a16="http://schemas.microsoft.com/office/drawing/2014/main" id="{8E3BDE72-8997-1E44-E8F3-FEF2564C332A}"/>
                </a:ext>
              </a:extLst>
            </p:cNvPr>
            <p:cNvGrpSpPr>
              <a:grpSpLocks/>
            </p:cNvGrpSpPr>
            <p:nvPr/>
          </p:nvGrpSpPr>
          <p:grpSpPr>
            <a:xfrm>
              <a:off x="679722" y="2953078"/>
              <a:ext cx="5300080" cy="1494355"/>
              <a:chOff x="6282634" y="2217859"/>
              <a:chExt cx="5300080" cy="1494355"/>
            </a:xfrm>
          </p:grpSpPr>
          <p:sp>
            <p:nvSpPr>
              <p:cNvPr id="29" name="2">
                <a:extLst>
                  <a:ext uri="{FF2B5EF4-FFF2-40B4-BE49-F238E27FC236}">
                    <a16:creationId xmlns:a16="http://schemas.microsoft.com/office/drawing/2014/main" id="{06EBAC61-5F61-0905-AB5A-3E0576560AA0}"/>
                  </a:ext>
                </a:extLst>
              </p:cNvPr>
              <p:cNvSpPr/>
              <p:nvPr>
                <p:custDataLst>
                  <p:tags r:id="rId8"/>
                </p:custDataLst>
              </p:nvPr>
            </p:nvSpPr>
            <p:spPr>
              <a:xfrm>
                <a:off x="7657741" y="2247950"/>
                <a:ext cx="3878613" cy="1464264"/>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400"/>
              </a:p>
            </p:txBody>
          </p:sp>
          <p:sp>
            <p:nvSpPr>
              <p:cNvPr id="30" name="Title-2">
                <a:extLst>
                  <a:ext uri="{FF2B5EF4-FFF2-40B4-BE49-F238E27FC236}">
                    <a16:creationId xmlns:a16="http://schemas.microsoft.com/office/drawing/2014/main" id="{E5814B62-C1AC-C1DA-D70A-C75B47CA19C4}"/>
                  </a:ext>
                </a:extLst>
              </p:cNvPr>
              <p:cNvSpPr/>
              <p:nvPr>
                <p:custDataLst>
                  <p:tags r:id="rId9"/>
                </p:custDataLst>
              </p:nvPr>
            </p:nvSpPr>
            <p:spPr>
              <a:xfrm>
                <a:off x="6282634" y="2247950"/>
                <a:ext cx="1336863" cy="1464264"/>
              </a:xfrm>
              <a:prstGeom prst="rect">
                <a:avLst/>
              </a:prstGeom>
              <a:solidFill>
                <a:schemeClr val="accent2"/>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algn="ctr" defTabSz="913765"/>
                <a:r>
                  <a:rPr lang="en-US" altLang="zh-CN" sz="1600" b="1" dirty="0">
                    <a:solidFill>
                      <a:srgbClr val="FFFFFF"/>
                    </a:solidFill>
                    <a:latin typeface="+mj-ea"/>
                    <a:ea typeface="+mj-ea"/>
                  </a:rPr>
                  <a:t>MPS</a:t>
                </a:r>
                <a:r>
                  <a:rPr lang="zh-CN" altLang="en-US" sz="1600" b="1" dirty="0">
                    <a:solidFill>
                      <a:srgbClr val="FFFFFF"/>
                    </a:solidFill>
                    <a:latin typeface="+mj-ea"/>
                    <a:ea typeface="+mj-ea"/>
                  </a:rPr>
                  <a:t>（主生产计划）</a:t>
                </a:r>
              </a:p>
            </p:txBody>
          </p:sp>
          <p:sp>
            <p:nvSpPr>
              <p:cNvPr id="31" name="Body-2">
                <a:extLst>
                  <a:ext uri="{FF2B5EF4-FFF2-40B4-BE49-F238E27FC236}">
                    <a16:creationId xmlns:a16="http://schemas.microsoft.com/office/drawing/2014/main" id="{822D99AC-1767-FD13-B84C-331FFA2E1D2A}"/>
                  </a:ext>
                </a:extLst>
              </p:cNvPr>
              <p:cNvSpPr txBox="1"/>
              <p:nvPr>
                <p:custDataLst>
                  <p:tags r:id="rId10"/>
                </p:custDataLst>
              </p:nvPr>
            </p:nvSpPr>
            <p:spPr>
              <a:xfrm>
                <a:off x="7657741" y="2217859"/>
                <a:ext cx="3924973" cy="1464263"/>
              </a:xfrm>
              <a:prstGeom prst="rect">
                <a:avLst/>
              </a:prstGeom>
              <a:noFill/>
            </p:spPr>
            <p:txBody>
              <a:bodyPr wrap="square" rtlCol="0">
                <a:spAutoFit/>
              </a:bodyPr>
              <a:lstStyle>
                <a:defPPr>
                  <a:defRPr lang="zh-CN"/>
                </a:defPPr>
                <a:lvl1pPr>
                  <a:lnSpc>
                    <a:spcPct val="120000"/>
                  </a:lnSpc>
                  <a:defRPr sz="1400">
                    <a:latin typeface="Arial" panose="020B0604020202020204" pitchFamily="34" charset="0"/>
                    <a:ea typeface="Microsoft YaHei" panose="020B0503020204020204" pitchFamily="34" charset="-122"/>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r>
                  <a:rPr lang="zh-CN" altLang="en-US" sz="1200" b="1" dirty="0">
                    <a:solidFill>
                      <a:schemeClr val="bg1"/>
                    </a:solidFill>
                    <a:ea typeface="黑体" panose="02010609060101010101" pitchFamily="49" charset="-122"/>
                  </a:rPr>
                  <a:t>核心功能：</a:t>
                </a:r>
                <a:r>
                  <a:rPr lang="en-US" altLang="zh-CN" sz="1200" b="1" dirty="0">
                    <a:solidFill>
                      <a:schemeClr val="bg1"/>
                    </a:solidFill>
                    <a:ea typeface="黑体" panose="02010609060101010101" pitchFamily="49" charset="-122"/>
                  </a:rPr>
                  <a:t>MPS </a:t>
                </a:r>
                <a:r>
                  <a:rPr lang="zh-CN" altLang="en-US" sz="1200" b="1" dirty="0">
                    <a:solidFill>
                      <a:schemeClr val="bg1"/>
                    </a:solidFill>
                    <a:ea typeface="黑体" panose="02010609060101010101" pitchFamily="49" charset="-122"/>
                  </a:rPr>
                  <a:t>是生产计划的核心，将物料和资源反馈转化为可执行的计划</a:t>
                </a:r>
                <a:r>
                  <a:rPr lang="zh-CN" altLang="en-US" sz="1200" dirty="0">
                    <a:solidFill>
                      <a:schemeClr val="bg1"/>
                    </a:solidFill>
                    <a:ea typeface="黑体" panose="02010609060101010101" pitchFamily="49" charset="-122"/>
                  </a:rPr>
                  <a:t>。</a:t>
                </a:r>
              </a:p>
              <a:p>
                <a:r>
                  <a:rPr lang="zh-CN" altLang="en-US" sz="1200" b="1" dirty="0">
                    <a:solidFill>
                      <a:schemeClr val="bg1"/>
                    </a:solidFill>
                    <a:ea typeface="黑体" panose="02010609060101010101" pitchFamily="49" charset="-122"/>
                  </a:rPr>
                  <a:t>关键点：</a:t>
                </a:r>
              </a:p>
              <a:p>
                <a:pPr marL="628650" lvl="1" indent="-171450">
                  <a:buFont typeface="Arial" panose="020B0604020202020204" pitchFamily="34" charset="0"/>
                  <a:buChar char="•"/>
                </a:pPr>
                <a:r>
                  <a:rPr lang="zh-CN" altLang="en-US" sz="1200" dirty="0">
                    <a:solidFill>
                      <a:schemeClr val="bg1"/>
                    </a:solidFill>
                    <a:latin typeface="+mj-ea"/>
                    <a:ea typeface="+mj-ea"/>
                  </a:rPr>
                  <a:t>协同模拟分析：基于 </a:t>
                </a:r>
                <a:r>
                  <a:rPr lang="en-US" altLang="zh-CN" sz="1200" dirty="0">
                    <a:solidFill>
                      <a:schemeClr val="bg1"/>
                    </a:solidFill>
                    <a:latin typeface="+mj-ea"/>
                    <a:ea typeface="+mj-ea"/>
                  </a:rPr>
                  <a:t>MRP Netting </a:t>
                </a:r>
                <a:r>
                  <a:rPr lang="zh-CN" altLang="en-US" sz="1200" dirty="0">
                    <a:solidFill>
                      <a:schemeClr val="bg1"/>
                    </a:solidFill>
                    <a:latin typeface="+mj-ea"/>
                    <a:ea typeface="+mj-ea"/>
                  </a:rPr>
                  <a:t>的输出，进行多版本模拟（如“</a:t>
                </a:r>
                <a:r>
                  <a:rPr lang="en-US" altLang="zh-CN" sz="1200" dirty="0">
                    <a:solidFill>
                      <a:schemeClr val="bg1"/>
                    </a:solidFill>
                    <a:latin typeface="+mj-ea"/>
                    <a:ea typeface="+mj-ea"/>
                  </a:rPr>
                  <a:t>what-if”</a:t>
                </a:r>
                <a:r>
                  <a:rPr lang="zh-CN" altLang="en-US" sz="1200" dirty="0">
                    <a:solidFill>
                      <a:schemeClr val="bg1"/>
                    </a:solidFill>
                    <a:latin typeface="+mj-ea"/>
                    <a:ea typeface="+mj-ea"/>
                  </a:rPr>
                  <a:t>分析），优化产销协同（即销售与生产的匹配）。</a:t>
                </a:r>
              </a:p>
              <a:p>
                <a:pPr marL="628650" lvl="1" indent="-171450">
                  <a:buFont typeface="Arial" panose="020B0604020202020204" pitchFamily="34" charset="0"/>
                  <a:buChar char="•"/>
                </a:pPr>
                <a:r>
                  <a:rPr lang="zh-CN" altLang="en-US" sz="1200" dirty="0">
                    <a:solidFill>
                      <a:schemeClr val="bg1"/>
                    </a:solidFill>
                    <a:latin typeface="+mj-ea"/>
                    <a:ea typeface="+mj-ea"/>
                  </a:rPr>
                  <a:t>优化策略：在战略优先的前提下，实现公平公正的深度优化，平衡成本、交期和资源利用率。</a:t>
                </a:r>
              </a:p>
              <a:p>
                <a:pPr marL="628650" lvl="1" indent="-171450">
                  <a:buFont typeface="Arial" panose="020B0604020202020204" pitchFamily="34" charset="0"/>
                  <a:buChar char="•"/>
                </a:pPr>
                <a:r>
                  <a:rPr lang="zh-CN" altLang="en-US" sz="1200" dirty="0">
                    <a:solidFill>
                      <a:schemeClr val="bg1"/>
                    </a:solidFill>
                    <a:latin typeface="+mj-ea"/>
                    <a:ea typeface="+mj-ea"/>
                  </a:rPr>
                  <a:t>价值链整合：通过维度规划生成预测承诺，形成销售计划和供应计划，并转化为 </a:t>
                </a:r>
                <a:r>
                  <a:rPr lang="en-US" altLang="zh-CN" sz="1200" dirty="0">
                    <a:solidFill>
                      <a:schemeClr val="bg1"/>
                    </a:solidFill>
                    <a:latin typeface="+mj-ea"/>
                    <a:ea typeface="+mj-ea"/>
                  </a:rPr>
                  <a:t>IOP </a:t>
                </a:r>
                <a:r>
                  <a:rPr lang="zh-CN" altLang="en-US" sz="1200" dirty="0">
                    <a:solidFill>
                      <a:schemeClr val="bg1"/>
                    </a:solidFill>
                    <a:latin typeface="+mj-ea"/>
                    <a:ea typeface="+mj-ea"/>
                  </a:rPr>
                  <a:t>的约束性指导，确保计划与实际运营衔接。</a:t>
                </a:r>
              </a:p>
              <a:p>
                <a:r>
                  <a:rPr lang="zh-CN" altLang="en-US" sz="1200" b="1" dirty="0">
                    <a:solidFill>
                      <a:schemeClr val="bg1"/>
                    </a:solidFill>
                    <a:ea typeface="黑体" panose="02010609060101010101" pitchFamily="49" charset="-122"/>
                  </a:rPr>
                  <a:t>意义：</a:t>
                </a:r>
                <a:r>
                  <a:rPr lang="en-US" altLang="zh-CN" sz="1200" b="1" dirty="0">
                    <a:solidFill>
                      <a:schemeClr val="bg1"/>
                    </a:solidFill>
                    <a:ea typeface="黑体" panose="02010609060101010101" pitchFamily="49" charset="-122"/>
                  </a:rPr>
                  <a:t>MPS </a:t>
                </a:r>
                <a:r>
                  <a:rPr lang="zh-CN" altLang="en-US" sz="1200" b="1" dirty="0">
                    <a:solidFill>
                      <a:schemeClr val="bg1"/>
                    </a:solidFill>
                    <a:ea typeface="黑体" panose="02010609060101010101" pitchFamily="49" charset="-122"/>
                  </a:rPr>
                  <a:t>充当了战术规划的“大脑”，将需求转化为具体指导，确保计划既符合战略目标，又具备可操作性。</a:t>
                </a:r>
                <a:endParaRPr lang="en-US" altLang="zh-CN" sz="1200" b="1" dirty="0">
                  <a:solidFill>
                    <a:schemeClr val="bg1"/>
                  </a:solidFill>
                  <a:ea typeface="黑体" panose="02010609060101010101" pitchFamily="49" charset="-122"/>
                </a:endParaRPr>
              </a:p>
            </p:txBody>
          </p:sp>
        </p:grpSp>
        <p:grpSp>
          <p:nvGrpSpPr>
            <p:cNvPr id="5" name="组合 4">
              <a:extLst>
                <a:ext uri="{FF2B5EF4-FFF2-40B4-BE49-F238E27FC236}">
                  <a16:creationId xmlns:a16="http://schemas.microsoft.com/office/drawing/2014/main" id="{23212109-DAD7-FF49-23F7-131EDB934688}"/>
                </a:ext>
              </a:extLst>
            </p:cNvPr>
            <p:cNvGrpSpPr>
              <a:grpSpLocks/>
            </p:cNvGrpSpPr>
            <p:nvPr/>
          </p:nvGrpSpPr>
          <p:grpSpPr>
            <a:xfrm>
              <a:off x="675645" y="1047413"/>
              <a:ext cx="5271854" cy="1894125"/>
              <a:chOff x="675645" y="1747906"/>
              <a:chExt cx="5271854" cy="1894125"/>
            </a:xfrm>
          </p:grpSpPr>
          <p:sp>
            <p:nvSpPr>
              <p:cNvPr id="26" name="1">
                <a:extLst>
                  <a:ext uri="{FF2B5EF4-FFF2-40B4-BE49-F238E27FC236}">
                    <a16:creationId xmlns:a16="http://schemas.microsoft.com/office/drawing/2014/main" id="{3D970A3A-0CF2-254F-C14C-46B4458B6D84}"/>
                  </a:ext>
                </a:extLst>
              </p:cNvPr>
              <p:cNvSpPr/>
              <p:nvPr>
                <p:custDataLst>
                  <p:tags r:id="rId5"/>
                </p:custDataLst>
              </p:nvPr>
            </p:nvSpPr>
            <p:spPr>
              <a:xfrm>
                <a:off x="2051585" y="1747906"/>
                <a:ext cx="3881858" cy="189412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400"/>
              </a:p>
            </p:txBody>
          </p:sp>
          <p:sp>
            <p:nvSpPr>
              <p:cNvPr id="27" name="Title-1">
                <a:extLst>
                  <a:ext uri="{FF2B5EF4-FFF2-40B4-BE49-F238E27FC236}">
                    <a16:creationId xmlns:a16="http://schemas.microsoft.com/office/drawing/2014/main" id="{3E7184A1-0A51-18B0-EAC0-45FE3CCEA681}"/>
                  </a:ext>
                </a:extLst>
              </p:cNvPr>
              <p:cNvSpPr/>
              <p:nvPr>
                <p:custDataLst>
                  <p:tags r:id="rId6"/>
                </p:custDataLst>
              </p:nvPr>
            </p:nvSpPr>
            <p:spPr>
              <a:xfrm>
                <a:off x="675645" y="1747906"/>
                <a:ext cx="1336863" cy="1894125"/>
              </a:xfrm>
              <a:prstGeom prst="rect">
                <a:avLst/>
              </a:prstGeom>
              <a:solidFill>
                <a:schemeClr val="accent1"/>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algn="ctr" defTabSz="913765"/>
                <a:r>
                  <a:rPr lang="en-US" altLang="zh-CN" sz="1600" b="1" dirty="0">
                    <a:solidFill>
                      <a:srgbClr val="FFFFFF"/>
                    </a:solidFill>
                    <a:latin typeface="+mj-ea"/>
                    <a:ea typeface="+mj-ea"/>
                  </a:rPr>
                  <a:t>MRP Netting</a:t>
                </a:r>
                <a:r>
                  <a:rPr lang="zh-CN" altLang="en-US" sz="1600" b="1" dirty="0">
                    <a:solidFill>
                      <a:srgbClr val="FFFFFF"/>
                    </a:solidFill>
                    <a:latin typeface="+mj-ea"/>
                    <a:ea typeface="+mj-ea"/>
                  </a:rPr>
                  <a:t>（每周净需求计算）</a:t>
                </a:r>
              </a:p>
            </p:txBody>
          </p:sp>
          <p:sp>
            <p:nvSpPr>
              <p:cNvPr id="28" name="Body-1">
                <a:extLst>
                  <a:ext uri="{FF2B5EF4-FFF2-40B4-BE49-F238E27FC236}">
                    <a16:creationId xmlns:a16="http://schemas.microsoft.com/office/drawing/2014/main" id="{7AF2A639-89CD-ADBD-1EAA-DBFEAD227431}"/>
                  </a:ext>
                </a:extLst>
              </p:cNvPr>
              <p:cNvSpPr txBox="1"/>
              <p:nvPr>
                <p:custDataLst>
                  <p:tags r:id="rId7"/>
                </p:custDataLst>
              </p:nvPr>
            </p:nvSpPr>
            <p:spPr>
              <a:xfrm>
                <a:off x="2065641" y="1802891"/>
                <a:ext cx="3881858" cy="1825786"/>
              </a:xfrm>
              <a:prstGeom prst="rect">
                <a:avLst/>
              </a:prstGeom>
              <a:noFill/>
            </p:spPr>
            <p:txBody>
              <a:bodyPr wrap="square" rtlCol="0">
                <a:spAutoFit/>
              </a:bodyPr>
              <a:lstStyle>
                <a:defPPr>
                  <a:defRPr lang="zh-CN"/>
                </a:defPPr>
                <a:lvl1pPr algn="ctr">
                  <a:lnSpc>
                    <a:spcPct val="150000"/>
                  </a:lnSpc>
                  <a:defRPr sz="1200">
                    <a:solidFill>
                      <a:schemeClr val="bg1">
                        <a:lumMod val="50000"/>
                      </a:schemeClr>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lgn="l">
                  <a:lnSpc>
                    <a:spcPct val="120000"/>
                  </a:lnSpc>
                </a:pPr>
                <a:r>
                  <a:rPr lang="zh-CN" altLang="en-US" b="1" dirty="0">
                    <a:solidFill>
                      <a:schemeClr val="bg1"/>
                    </a:solidFill>
                    <a:latin typeface="+mj-ea"/>
                    <a:ea typeface="+mj-ea"/>
                  </a:rPr>
                  <a:t>核心功能：这是物料需求计划（</a:t>
                </a:r>
                <a:r>
                  <a:rPr lang="en-US" altLang="zh-CN" b="1" dirty="0">
                    <a:solidFill>
                      <a:schemeClr val="bg1"/>
                    </a:solidFill>
                    <a:latin typeface="+mj-ea"/>
                    <a:ea typeface="+mj-ea"/>
                  </a:rPr>
                  <a:t>MRP</a:t>
                </a:r>
                <a:r>
                  <a:rPr lang="zh-CN" altLang="en-US" b="1" dirty="0">
                    <a:solidFill>
                      <a:schemeClr val="bg1"/>
                    </a:solidFill>
                    <a:latin typeface="+mj-ea"/>
                    <a:ea typeface="+mj-ea"/>
                  </a:rPr>
                  <a:t>）的每周净计算环节，基于“</a:t>
                </a:r>
                <a:r>
                  <a:rPr lang="en-US" altLang="zh-CN" b="1" dirty="0">
                    <a:solidFill>
                      <a:schemeClr val="bg1"/>
                    </a:solidFill>
                    <a:latin typeface="+mj-ea"/>
                    <a:ea typeface="+mj-ea"/>
                  </a:rPr>
                  <a:t>Planning BOM”</a:t>
                </a:r>
                <a:r>
                  <a:rPr lang="zh-CN" altLang="en-US" b="1" dirty="0">
                    <a:solidFill>
                      <a:schemeClr val="bg1"/>
                    </a:solidFill>
                    <a:latin typeface="+mj-ea"/>
                    <a:ea typeface="+mj-ea"/>
                  </a:rPr>
                  <a:t>（计划物料清单）进行优化。</a:t>
                </a:r>
              </a:p>
              <a:p>
                <a:pPr algn="l">
                  <a:lnSpc>
                    <a:spcPct val="120000"/>
                  </a:lnSpc>
                </a:pPr>
                <a:r>
                  <a:rPr lang="zh-CN" altLang="en-US" b="1" dirty="0">
                    <a:solidFill>
                      <a:schemeClr val="bg1"/>
                    </a:solidFill>
                    <a:latin typeface="+mj-ea"/>
                    <a:ea typeface="+mj-ea"/>
                  </a:rPr>
                  <a:t>关键点：</a:t>
                </a:r>
              </a:p>
              <a:p>
                <a:pPr marL="628650" lvl="1" indent="-171450">
                  <a:lnSpc>
                    <a:spcPct val="120000"/>
                  </a:lnSpc>
                  <a:buFont typeface="Arial" panose="020B0604020202020204" pitchFamily="34" charset="0"/>
                  <a:buChar char="•"/>
                </a:pPr>
                <a:r>
                  <a:rPr lang="zh-CN" altLang="en-US" sz="1200" dirty="0">
                    <a:solidFill>
                      <a:schemeClr val="bg1"/>
                    </a:solidFill>
                    <a:latin typeface="+mj-ea"/>
                    <a:ea typeface="+mj-ea"/>
                  </a:rPr>
                  <a:t>预测准确性提升：通过 </a:t>
                </a:r>
                <a:r>
                  <a:rPr lang="en-US" altLang="zh-CN" sz="1200" dirty="0">
                    <a:solidFill>
                      <a:schemeClr val="bg1"/>
                    </a:solidFill>
                    <a:latin typeface="+mj-ea"/>
                    <a:ea typeface="+mj-ea"/>
                  </a:rPr>
                  <a:t>Planning BOM </a:t>
                </a:r>
                <a:r>
                  <a:rPr lang="zh-CN" altLang="en-US" sz="1200" dirty="0">
                    <a:solidFill>
                      <a:schemeClr val="bg1"/>
                    </a:solidFill>
                    <a:latin typeface="+mj-ea"/>
                    <a:ea typeface="+mj-ea"/>
                  </a:rPr>
                  <a:t>细化预测，减少不确定性，降低跨部门协同的复杂度。</a:t>
                </a:r>
              </a:p>
              <a:p>
                <a:pPr marL="628650" lvl="1" indent="-171450">
                  <a:lnSpc>
                    <a:spcPct val="120000"/>
                  </a:lnSpc>
                  <a:buFont typeface="Arial" panose="020B0604020202020204" pitchFamily="34" charset="0"/>
                  <a:buChar char="•"/>
                </a:pPr>
                <a:r>
                  <a:rPr lang="zh-CN" altLang="en-US" sz="1200" dirty="0">
                    <a:solidFill>
                      <a:schemeClr val="bg1"/>
                    </a:solidFill>
                    <a:latin typeface="+mj-ea"/>
                    <a:ea typeface="+mj-ea"/>
                  </a:rPr>
                  <a:t>预测冲减：动态调整预测以反映实际需求，更先进的做法是将此过程集成到 </a:t>
                </a:r>
                <a:r>
                  <a:rPr lang="en-US" altLang="zh-CN" sz="1200" dirty="0">
                    <a:solidFill>
                      <a:schemeClr val="bg1"/>
                    </a:solidFill>
                    <a:latin typeface="+mj-ea"/>
                    <a:ea typeface="+mj-ea"/>
                  </a:rPr>
                  <a:t>IOP</a:t>
                </a:r>
                <a:r>
                  <a:rPr lang="zh-CN" altLang="en-US" sz="1200" dirty="0">
                    <a:solidFill>
                      <a:schemeClr val="bg1"/>
                    </a:solidFill>
                    <a:latin typeface="+mj-ea"/>
                    <a:ea typeface="+mj-ea"/>
                  </a:rPr>
                  <a:t>（ </a:t>
                </a:r>
                <a:r>
                  <a:rPr lang="en-US" altLang="zh-CN" sz="1200" dirty="0">
                    <a:solidFill>
                      <a:schemeClr val="bg1"/>
                    </a:solidFill>
                    <a:latin typeface="+mj-ea"/>
                    <a:ea typeface="+mj-ea"/>
                  </a:rPr>
                  <a:t>Intelligent Operational Planning</a:t>
                </a:r>
                <a:r>
                  <a:rPr lang="zh-CN" altLang="en-US" sz="1200" dirty="0">
                    <a:solidFill>
                      <a:schemeClr val="bg1"/>
                    </a:solidFill>
                    <a:latin typeface="+mj-ea"/>
                    <a:ea typeface="+mj-ea"/>
                  </a:rPr>
                  <a:t>，智能运营规划）中，实现更前瞻性的调整。</a:t>
                </a:r>
              </a:p>
              <a:p>
                <a:pPr marL="628650" lvl="1" indent="-171450">
                  <a:lnSpc>
                    <a:spcPct val="120000"/>
                  </a:lnSpc>
                  <a:buFont typeface="Arial" panose="020B0604020202020204" pitchFamily="34" charset="0"/>
                  <a:buChar char="•"/>
                </a:pPr>
                <a:r>
                  <a:rPr lang="zh-CN" altLang="en-US" sz="1200" dirty="0">
                    <a:solidFill>
                      <a:schemeClr val="bg1"/>
                    </a:solidFill>
                    <a:latin typeface="+mj-ea"/>
                    <a:ea typeface="+mj-ea"/>
                  </a:rPr>
                  <a:t>高效计算与瓶颈识别：利用内存计算、并行计算等高性能技术，实现分钟级计算速度。同时，结合维度规划、替换料方案等专利，快速识别物料和资源瓶颈，并将结果分发给供应商、第三方物流（</a:t>
                </a:r>
                <a:r>
                  <a:rPr lang="en-US" altLang="zh-CN" sz="1200" dirty="0">
                    <a:solidFill>
                      <a:schemeClr val="bg1"/>
                    </a:solidFill>
                    <a:latin typeface="+mj-ea"/>
                    <a:ea typeface="+mj-ea"/>
                  </a:rPr>
                  <a:t>3PL</a:t>
                </a:r>
                <a:r>
                  <a:rPr lang="zh-CN" altLang="en-US" sz="1200" dirty="0">
                    <a:solidFill>
                      <a:schemeClr val="bg1"/>
                    </a:solidFill>
                    <a:latin typeface="+mj-ea"/>
                    <a:ea typeface="+mj-ea"/>
                  </a:rPr>
                  <a:t>）及内外工厂，确保供应端及时响应。</a:t>
                </a:r>
              </a:p>
              <a:p>
                <a:pPr algn="l">
                  <a:lnSpc>
                    <a:spcPct val="120000"/>
                  </a:lnSpc>
                </a:pPr>
                <a:r>
                  <a:rPr lang="zh-CN" altLang="en-US" b="1" dirty="0">
                    <a:solidFill>
                      <a:schemeClr val="bg1"/>
                    </a:solidFill>
                    <a:latin typeface="+mj-ea"/>
                    <a:ea typeface="+mj-ea"/>
                  </a:rPr>
                  <a:t>意义：</a:t>
                </a:r>
                <a:r>
                  <a:rPr lang="en-US" altLang="zh-CN" b="1" dirty="0">
                    <a:solidFill>
                      <a:schemeClr val="bg1"/>
                    </a:solidFill>
                    <a:latin typeface="+mj-ea"/>
                    <a:ea typeface="+mj-ea"/>
                  </a:rPr>
                  <a:t>MRP Netting </a:t>
                </a:r>
                <a:r>
                  <a:rPr lang="zh-CN" altLang="en-US" b="1" dirty="0">
                    <a:solidFill>
                      <a:schemeClr val="bg1"/>
                    </a:solidFill>
                    <a:latin typeface="+mj-ea"/>
                    <a:ea typeface="+mj-ea"/>
                  </a:rPr>
                  <a:t>是 </a:t>
                </a:r>
                <a:r>
                  <a:rPr lang="en-US" altLang="zh-CN" b="1" dirty="0">
                    <a:solidFill>
                      <a:schemeClr val="bg1"/>
                    </a:solidFill>
                    <a:latin typeface="+mj-ea"/>
                    <a:ea typeface="+mj-ea"/>
                  </a:rPr>
                  <a:t>ITP </a:t>
                </a:r>
                <a:r>
                  <a:rPr lang="zh-CN" altLang="en-US" b="1" dirty="0">
                    <a:solidFill>
                      <a:schemeClr val="bg1"/>
                    </a:solidFill>
                    <a:latin typeface="+mj-ea"/>
                    <a:ea typeface="+mj-ea"/>
                  </a:rPr>
                  <a:t>的基础，确保物料需求计划快速、准确，为后续规划提供可靠输入。</a:t>
                </a:r>
                <a:endParaRPr lang="en-US" altLang="zh-CN" b="1" dirty="0">
                  <a:solidFill>
                    <a:schemeClr val="bg1"/>
                  </a:solidFill>
                  <a:latin typeface="+mj-ea"/>
                  <a:ea typeface="+mj-ea"/>
                </a:endParaRPr>
              </a:p>
            </p:txBody>
          </p:sp>
        </p:grpSp>
        <p:grpSp>
          <p:nvGrpSpPr>
            <p:cNvPr id="22" name="组合 21">
              <a:extLst>
                <a:ext uri="{FF2B5EF4-FFF2-40B4-BE49-F238E27FC236}">
                  <a16:creationId xmlns:a16="http://schemas.microsoft.com/office/drawing/2014/main" id="{A843314D-0A56-2B6E-E9B6-641E01270C3C}"/>
                </a:ext>
              </a:extLst>
            </p:cNvPr>
            <p:cNvGrpSpPr/>
            <p:nvPr/>
          </p:nvGrpSpPr>
          <p:grpSpPr>
            <a:xfrm>
              <a:off x="675644" y="4484321"/>
              <a:ext cx="5314970" cy="1044954"/>
              <a:chOff x="675644" y="3749102"/>
              <a:chExt cx="5314970" cy="1044954"/>
            </a:xfrm>
          </p:grpSpPr>
          <p:sp>
            <p:nvSpPr>
              <p:cNvPr id="23" name="3">
                <a:extLst>
                  <a:ext uri="{FF2B5EF4-FFF2-40B4-BE49-F238E27FC236}">
                    <a16:creationId xmlns:a16="http://schemas.microsoft.com/office/drawing/2014/main" id="{2F595A55-5CD1-326D-AC77-CA362BE7C807}"/>
                  </a:ext>
                </a:extLst>
              </p:cNvPr>
              <p:cNvSpPr/>
              <p:nvPr>
                <p:custDataLst>
                  <p:tags r:id="rId2"/>
                </p:custDataLst>
              </p:nvPr>
            </p:nvSpPr>
            <p:spPr>
              <a:xfrm>
                <a:off x="2051584" y="3749102"/>
                <a:ext cx="3881858" cy="1040213"/>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400"/>
              </a:p>
            </p:txBody>
          </p:sp>
          <p:sp>
            <p:nvSpPr>
              <p:cNvPr id="24" name="Title-3">
                <a:extLst>
                  <a:ext uri="{FF2B5EF4-FFF2-40B4-BE49-F238E27FC236}">
                    <a16:creationId xmlns:a16="http://schemas.microsoft.com/office/drawing/2014/main" id="{46089832-C6B4-45BA-2A1E-EAF2A6043678}"/>
                  </a:ext>
                </a:extLst>
              </p:cNvPr>
              <p:cNvSpPr/>
              <p:nvPr>
                <p:custDataLst>
                  <p:tags r:id="rId3"/>
                </p:custDataLst>
              </p:nvPr>
            </p:nvSpPr>
            <p:spPr>
              <a:xfrm>
                <a:off x="675644" y="3753845"/>
                <a:ext cx="1336863" cy="1040211"/>
              </a:xfrm>
              <a:prstGeom prst="rect">
                <a:avLst/>
              </a:prstGeom>
              <a:solidFill>
                <a:schemeClr val="accent3"/>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algn="ctr" defTabSz="913765"/>
                <a:r>
                  <a:rPr lang="zh-CN" altLang="en-US" sz="1600" b="1" dirty="0">
                    <a:solidFill>
                      <a:srgbClr val="FFFFFF"/>
                    </a:solidFill>
                    <a:latin typeface="+mj-ea"/>
                    <a:ea typeface="+mj-ea"/>
                  </a:rPr>
                  <a:t>供应商协同</a:t>
                </a:r>
                <a:endParaRPr lang="en-US" altLang="zh-CN" sz="1600" b="1" dirty="0">
                  <a:solidFill>
                    <a:srgbClr val="FFFFFF"/>
                  </a:solidFill>
                  <a:latin typeface="+mj-ea"/>
                  <a:ea typeface="+mj-ea"/>
                </a:endParaRPr>
              </a:p>
            </p:txBody>
          </p:sp>
          <p:sp>
            <p:nvSpPr>
              <p:cNvPr id="25" name="Body-3">
                <a:extLst>
                  <a:ext uri="{FF2B5EF4-FFF2-40B4-BE49-F238E27FC236}">
                    <a16:creationId xmlns:a16="http://schemas.microsoft.com/office/drawing/2014/main" id="{C7166B3A-0CFD-D684-D99F-9C7762BB7E8B}"/>
                  </a:ext>
                </a:extLst>
              </p:cNvPr>
              <p:cNvSpPr txBox="1"/>
              <p:nvPr>
                <p:custDataLst>
                  <p:tags r:id="rId4"/>
                </p:custDataLst>
              </p:nvPr>
            </p:nvSpPr>
            <p:spPr>
              <a:xfrm>
                <a:off x="2065641" y="3753845"/>
                <a:ext cx="3924973" cy="977969"/>
              </a:xfrm>
              <a:prstGeom prst="rect">
                <a:avLst/>
              </a:prstGeom>
              <a:noFill/>
            </p:spPr>
            <p:txBody>
              <a:bodyPr wrap="square" rtlCol="0">
                <a:spAutoFit/>
              </a:bodyPr>
              <a:lstStyle>
                <a:defPPr>
                  <a:defRPr lang="zh-CN"/>
                </a:defPPr>
                <a:lvl1pPr>
                  <a:lnSpc>
                    <a:spcPct val="120000"/>
                  </a:lnSpc>
                  <a:defRPr sz="1400">
                    <a:latin typeface="Arial" panose="020B0604020202020204" pitchFamily="34" charset="0"/>
                    <a:ea typeface="Microsoft YaHei" panose="020B0503020204020204" pitchFamily="34" charset="-122"/>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r>
                  <a:rPr lang="zh-CN" altLang="en-US" sz="1200" b="1" dirty="0">
                    <a:solidFill>
                      <a:schemeClr val="bg1"/>
                    </a:solidFill>
                    <a:latin typeface="+mj-ea"/>
                    <a:ea typeface="+mj-ea"/>
                  </a:rPr>
                  <a:t>核心功能：实现与供应商的实时协同，确保供应链流畅</a:t>
                </a:r>
                <a:r>
                  <a:rPr lang="zh-CN" altLang="en-US" sz="1200" dirty="0">
                    <a:solidFill>
                      <a:schemeClr val="bg1"/>
                    </a:solidFill>
                    <a:latin typeface="+mj-ea"/>
                    <a:ea typeface="+mj-ea"/>
                  </a:rPr>
                  <a:t>。</a:t>
                </a:r>
              </a:p>
              <a:p>
                <a:r>
                  <a:rPr lang="zh-CN" altLang="en-US" sz="1200" b="1" dirty="0">
                    <a:solidFill>
                      <a:schemeClr val="bg1"/>
                    </a:solidFill>
                    <a:latin typeface="+mj-ea"/>
                    <a:ea typeface="+mj-ea"/>
                  </a:rPr>
                  <a:t>关键点：</a:t>
                </a:r>
              </a:p>
              <a:p>
                <a:pPr marL="628650" lvl="1" indent="-171450">
                  <a:buFont typeface="Arial" panose="020B0604020202020204" pitchFamily="34" charset="0"/>
                  <a:buChar char="•"/>
                </a:pPr>
                <a:r>
                  <a:rPr lang="zh-CN" altLang="en-US" sz="1200" dirty="0">
                    <a:solidFill>
                      <a:schemeClr val="bg1"/>
                    </a:solidFill>
                    <a:latin typeface="+mj-ea"/>
                    <a:ea typeface="+mj-ea"/>
                  </a:rPr>
                  <a:t>滚动协同：动态管理采购订单（</a:t>
                </a:r>
                <a:r>
                  <a:rPr lang="en-US" altLang="zh-CN" sz="1200" dirty="0">
                    <a:solidFill>
                      <a:schemeClr val="bg1"/>
                    </a:solidFill>
                    <a:latin typeface="+mj-ea"/>
                    <a:ea typeface="+mj-ea"/>
                  </a:rPr>
                  <a:t>PO</a:t>
                </a:r>
                <a:r>
                  <a:rPr lang="zh-CN" altLang="en-US" sz="1200" dirty="0">
                    <a:solidFill>
                      <a:schemeClr val="bg1"/>
                    </a:solidFill>
                    <a:latin typeface="+mj-ea"/>
                    <a:ea typeface="+mj-ea"/>
                  </a:rPr>
                  <a:t>）、服务请求（</a:t>
                </a:r>
                <a:r>
                  <a:rPr lang="en-US" altLang="zh-CN" sz="1200" dirty="0">
                    <a:solidFill>
                      <a:schemeClr val="bg1"/>
                    </a:solidFill>
                    <a:latin typeface="+mj-ea"/>
                    <a:ea typeface="+mj-ea"/>
                  </a:rPr>
                  <a:t>SR</a:t>
                </a:r>
                <a:r>
                  <a:rPr lang="zh-CN" altLang="en-US" sz="1200" dirty="0">
                    <a:solidFill>
                      <a:schemeClr val="bg1"/>
                    </a:solidFill>
                    <a:latin typeface="+mj-ea"/>
                    <a:ea typeface="+mj-ea"/>
                  </a:rPr>
                  <a:t>）、零件预测、供应承诺、预计到达时间（</a:t>
                </a:r>
                <a:r>
                  <a:rPr lang="en-US" altLang="zh-CN" sz="1200" dirty="0">
                    <a:solidFill>
                      <a:schemeClr val="bg1"/>
                    </a:solidFill>
                    <a:latin typeface="+mj-ea"/>
                    <a:ea typeface="+mj-ea"/>
                  </a:rPr>
                  <a:t>ETA</a:t>
                </a:r>
                <a:r>
                  <a:rPr lang="zh-CN" altLang="en-US" sz="1200" dirty="0">
                    <a:solidFill>
                      <a:schemeClr val="bg1"/>
                    </a:solidFill>
                    <a:latin typeface="+mj-ea"/>
                    <a:ea typeface="+mj-ea"/>
                  </a:rPr>
                  <a:t>）和收货挂钩（</a:t>
                </a:r>
                <a:r>
                  <a:rPr lang="en-US" altLang="zh-CN" sz="1200" dirty="0">
                    <a:solidFill>
                      <a:schemeClr val="bg1"/>
                    </a:solidFill>
                    <a:latin typeface="+mj-ea"/>
                    <a:ea typeface="+mj-ea"/>
                  </a:rPr>
                  <a:t>GR pegging</a:t>
                </a:r>
                <a:r>
                  <a:rPr lang="zh-CN" altLang="en-US" sz="1200" dirty="0">
                    <a:solidFill>
                      <a:schemeClr val="bg1"/>
                    </a:solidFill>
                    <a:latin typeface="+mj-ea"/>
                    <a:ea typeface="+mj-ea"/>
                  </a:rPr>
                  <a:t>），形成“协同协奏”（即像音乐一样和谐配合）。</a:t>
                </a:r>
              </a:p>
              <a:p>
                <a:r>
                  <a:rPr lang="zh-CN" altLang="en-US" sz="1200" b="1" dirty="0">
                    <a:solidFill>
                      <a:schemeClr val="bg1"/>
                    </a:solidFill>
                    <a:latin typeface="+mj-ea"/>
                    <a:ea typeface="+mj-ea"/>
                  </a:rPr>
                  <a:t>意义：</a:t>
                </a:r>
                <a:r>
                  <a:rPr lang="zh-CN" altLang="en-US" sz="1200" dirty="0">
                    <a:solidFill>
                      <a:schemeClr val="bg1"/>
                    </a:solidFill>
                    <a:latin typeface="+mj-ea"/>
                    <a:ea typeface="+mj-ea"/>
                  </a:rPr>
                  <a:t>供应商协同是 </a:t>
                </a:r>
                <a:r>
                  <a:rPr lang="en-US" altLang="zh-CN" sz="1200" dirty="0">
                    <a:solidFill>
                      <a:schemeClr val="bg1"/>
                    </a:solidFill>
                    <a:latin typeface="+mj-ea"/>
                    <a:ea typeface="+mj-ea"/>
                  </a:rPr>
                  <a:t>ITP </a:t>
                </a:r>
                <a:r>
                  <a:rPr lang="zh-CN" altLang="en-US" sz="1200" dirty="0">
                    <a:solidFill>
                      <a:schemeClr val="bg1"/>
                    </a:solidFill>
                    <a:latin typeface="+mj-ea"/>
                    <a:ea typeface="+mj-ea"/>
                  </a:rPr>
                  <a:t>的落地环节，通过信息共享和实时更新，减少延迟和库存风险，提升整个供应链的敏捷性。</a:t>
                </a:r>
                <a:endParaRPr lang="en-US" altLang="zh-CN" sz="1200" dirty="0">
                  <a:solidFill>
                    <a:schemeClr val="bg1"/>
                  </a:solidFill>
                  <a:latin typeface="+mj-ea"/>
                  <a:ea typeface="+mj-ea"/>
                </a:endParaRPr>
              </a:p>
            </p:txBody>
          </p:sp>
        </p:grpSp>
      </p:grpSp>
    </p:spTree>
    <p:extLst>
      <p:ext uri="{BB962C8B-B14F-4D97-AF65-F5344CB8AC3E}">
        <p14:creationId xmlns:p14="http://schemas.microsoft.com/office/powerpoint/2010/main" val="120182835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0005AB32-177D-32DA-4427-50F8F89CD7D9}"/>
              </a:ext>
            </a:extLst>
          </p:cNvPr>
          <p:cNvSpPr>
            <a:spLocks noGrp="1"/>
          </p:cNvSpPr>
          <p:nvPr>
            <p:ph type="title"/>
          </p:nvPr>
        </p:nvSpPr>
        <p:spPr/>
        <p:txBody>
          <a:bodyPr>
            <a:normAutofit/>
          </a:bodyPr>
          <a:lstStyle/>
          <a:p>
            <a:r>
              <a:rPr lang="en-US" altLang="zh-CN" dirty="0">
                <a:latin typeface="Arial" panose="020B0604020202020204" pitchFamily="34" charset="0"/>
                <a:ea typeface="微软雅黑" panose="020B0503020204020204" pitchFamily="34" charset="-122"/>
              </a:rPr>
              <a:t>S&amp;OP/MP</a:t>
            </a:r>
            <a:r>
              <a:rPr lang="zh-CN" altLang="en-US" dirty="0">
                <a:latin typeface="Arial" panose="020B0604020202020204" pitchFamily="34" charset="0"/>
                <a:ea typeface="微软雅黑" panose="020B0503020204020204" pitchFamily="34" charset="-122"/>
              </a:rPr>
              <a:t>落地 </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纵向协同的断点</a:t>
            </a:r>
          </a:p>
        </p:txBody>
      </p:sp>
      <p:sp>
        <p:nvSpPr>
          <p:cNvPr id="7" name="矩形 6">
            <a:extLst>
              <a:ext uri="{FF2B5EF4-FFF2-40B4-BE49-F238E27FC236}">
                <a16:creationId xmlns:a16="http://schemas.microsoft.com/office/drawing/2014/main" id="{1B8B1871-6201-876E-DF78-0E77BFAE6C03}"/>
              </a:ext>
            </a:extLst>
          </p:cNvPr>
          <p:cNvSpPr/>
          <p:nvPr/>
        </p:nvSpPr>
        <p:spPr>
          <a:xfrm>
            <a:off x="2612448" y="788075"/>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Customer Group</a:t>
            </a:r>
            <a:endParaRPr kumimoji="0" lang="zh-CN" altLang="en-US"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8" name="矩形 7">
            <a:extLst>
              <a:ext uri="{FF2B5EF4-FFF2-40B4-BE49-F238E27FC236}">
                <a16:creationId xmlns:a16="http://schemas.microsoft.com/office/drawing/2014/main" id="{87CA9137-FA7A-A36E-8846-C4B7ABCC7FD6}"/>
              </a:ext>
            </a:extLst>
          </p:cNvPr>
          <p:cNvSpPr/>
          <p:nvPr/>
        </p:nvSpPr>
        <p:spPr>
          <a:xfrm>
            <a:off x="2612448" y="1591381"/>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GEO/Site Group</a:t>
            </a:r>
            <a:endParaRPr kumimoji="0" lang="zh-CN" altLang="en-US"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9" name="矩形 8">
            <a:extLst>
              <a:ext uri="{FF2B5EF4-FFF2-40B4-BE49-F238E27FC236}">
                <a16:creationId xmlns:a16="http://schemas.microsoft.com/office/drawing/2014/main" id="{53165ACC-9043-71C1-571A-B51AC7C7AD45}"/>
              </a:ext>
            </a:extLst>
          </p:cNvPr>
          <p:cNvSpPr/>
          <p:nvPr/>
        </p:nvSpPr>
        <p:spPr>
          <a:xfrm>
            <a:off x="2612448" y="2375637"/>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Part Group</a:t>
            </a:r>
            <a:endParaRPr kumimoji="0" lang="zh-CN" altLang="en-US"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10" name="矩形 9">
            <a:extLst>
              <a:ext uri="{FF2B5EF4-FFF2-40B4-BE49-F238E27FC236}">
                <a16:creationId xmlns:a16="http://schemas.microsoft.com/office/drawing/2014/main" id="{897C621D-F7DA-9E95-FB8D-AE3C634DC0A7}"/>
              </a:ext>
            </a:extLst>
          </p:cNvPr>
          <p:cNvSpPr/>
          <p:nvPr/>
        </p:nvSpPr>
        <p:spPr>
          <a:xfrm>
            <a:off x="5041323" y="1581856"/>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Hierarchy </a:t>
            </a:r>
            <a:endParaRPr kumimoji="0" lang="zh-CN" altLang="en-US"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11" name="连接符: 肘形 10">
            <a:extLst>
              <a:ext uri="{FF2B5EF4-FFF2-40B4-BE49-F238E27FC236}">
                <a16:creationId xmlns:a16="http://schemas.microsoft.com/office/drawing/2014/main" id="{A8AF98FD-A2E0-090E-9756-9AEA57BA89F1}"/>
              </a:ext>
            </a:extLst>
          </p:cNvPr>
          <p:cNvCxnSpPr>
            <a:cxnSpLocks/>
            <a:stCxn id="7" idx="3"/>
            <a:endCxn id="10" idx="1"/>
          </p:cNvCxnSpPr>
          <p:nvPr/>
        </p:nvCxnSpPr>
        <p:spPr>
          <a:xfrm>
            <a:off x="4574598" y="1007150"/>
            <a:ext cx="466725" cy="793781"/>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2" name="连接符: 肘形 11">
            <a:extLst>
              <a:ext uri="{FF2B5EF4-FFF2-40B4-BE49-F238E27FC236}">
                <a16:creationId xmlns:a16="http://schemas.microsoft.com/office/drawing/2014/main" id="{F9D06910-FB6F-60E6-3E47-05199B57F256}"/>
              </a:ext>
            </a:extLst>
          </p:cNvPr>
          <p:cNvCxnSpPr>
            <a:cxnSpLocks/>
            <a:stCxn id="8" idx="3"/>
            <a:endCxn id="10" idx="1"/>
          </p:cNvCxnSpPr>
          <p:nvPr/>
        </p:nvCxnSpPr>
        <p:spPr>
          <a:xfrm flipV="1">
            <a:off x="4574598" y="1800931"/>
            <a:ext cx="466725" cy="9525"/>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连接符: 肘形 12">
            <a:extLst>
              <a:ext uri="{FF2B5EF4-FFF2-40B4-BE49-F238E27FC236}">
                <a16:creationId xmlns:a16="http://schemas.microsoft.com/office/drawing/2014/main" id="{ADAC3284-CCC0-1C75-75FC-6325079E5621}"/>
              </a:ext>
            </a:extLst>
          </p:cNvPr>
          <p:cNvCxnSpPr>
            <a:cxnSpLocks/>
            <a:stCxn id="9" idx="3"/>
            <a:endCxn id="10" idx="1"/>
          </p:cNvCxnSpPr>
          <p:nvPr/>
        </p:nvCxnSpPr>
        <p:spPr>
          <a:xfrm flipV="1">
            <a:off x="4574598" y="1800931"/>
            <a:ext cx="466725" cy="793781"/>
          </a:xfrm>
          <a:prstGeom prst="bentConnector3">
            <a:avLst>
              <a:gd name="adj1" fmla="val 50000"/>
            </a:avLst>
          </a:prstGeom>
          <a:ln>
            <a:headEnd type="none"/>
            <a:tailEnd type="none"/>
          </a:ln>
        </p:spPr>
        <p:style>
          <a:lnRef idx="1">
            <a:schemeClr val="accent1"/>
          </a:lnRef>
          <a:fillRef idx="0">
            <a:schemeClr val="accent1"/>
          </a:fillRef>
          <a:effectRef idx="0">
            <a:schemeClr val="accent1"/>
          </a:effectRef>
          <a:fontRef idx="minor">
            <a:schemeClr val="tx1"/>
          </a:fontRef>
        </p:style>
      </p:cxnSp>
      <p:sp>
        <p:nvSpPr>
          <p:cNvPr id="15" name="矩形 14">
            <a:extLst>
              <a:ext uri="{FF2B5EF4-FFF2-40B4-BE49-F238E27FC236}">
                <a16:creationId xmlns:a16="http://schemas.microsoft.com/office/drawing/2014/main" id="{2D3F2BEC-FDAB-86B1-E9CF-7F4E7DD3A804}"/>
              </a:ext>
            </a:extLst>
          </p:cNvPr>
          <p:cNvSpPr/>
          <p:nvPr/>
        </p:nvSpPr>
        <p:spPr>
          <a:xfrm>
            <a:off x="5041323" y="2337429"/>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Aggregation Demand </a:t>
            </a:r>
            <a:endParaRPr kumimoji="0" lang="zh-CN" altLang="en-US"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16" name="连接符: 肘形 15">
            <a:extLst>
              <a:ext uri="{FF2B5EF4-FFF2-40B4-BE49-F238E27FC236}">
                <a16:creationId xmlns:a16="http://schemas.microsoft.com/office/drawing/2014/main" id="{FC409445-0F48-8D27-FD6A-A2CDB9CBAED2}"/>
              </a:ext>
            </a:extLst>
          </p:cNvPr>
          <p:cNvCxnSpPr>
            <a:stCxn id="15" idx="0"/>
            <a:endCxn id="10" idx="2"/>
          </p:cNvCxnSpPr>
          <p:nvPr/>
        </p:nvCxnSpPr>
        <p:spPr>
          <a:xfrm rot="5400000" flipH="1" flipV="1">
            <a:off x="5868449" y="2183480"/>
            <a:ext cx="307898" cy="12700"/>
          </a:xfrm>
          <a:prstGeom prst="bentConnector3">
            <a:avLst>
              <a:gd name="adj1" fmla="val 114965"/>
            </a:avLst>
          </a:prstGeom>
          <a:ln>
            <a:tailEnd type="triangle"/>
          </a:ln>
        </p:spPr>
        <p:style>
          <a:lnRef idx="1">
            <a:schemeClr val="accent1"/>
          </a:lnRef>
          <a:fillRef idx="0">
            <a:schemeClr val="accent1"/>
          </a:fillRef>
          <a:effectRef idx="0">
            <a:schemeClr val="accent1"/>
          </a:effectRef>
          <a:fontRef idx="minor">
            <a:schemeClr val="tx1"/>
          </a:fontRef>
        </p:style>
      </p:cxnSp>
      <p:sp>
        <p:nvSpPr>
          <p:cNvPr id="17" name="矩形 16">
            <a:extLst>
              <a:ext uri="{FF2B5EF4-FFF2-40B4-BE49-F238E27FC236}">
                <a16:creationId xmlns:a16="http://schemas.microsoft.com/office/drawing/2014/main" id="{ADD24CA6-79E6-2EF1-B713-4212F6AAB5D4}"/>
              </a:ext>
            </a:extLst>
          </p:cNvPr>
          <p:cNvSpPr/>
          <p:nvPr/>
        </p:nvSpPr>
        <p:spPr>
          <a:xfrm>
            <a:off x="5040746" y="3231047"/>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 SC </a:t>
            </a:r>
            <a:r>
              <a:rPr lang="en-US" altLang="zh-CN" dirty="0">
                <a:solidFill>
                  <a:schemeClr val="tx1"/>
                </a:solidFill>
                <a:latin typeface="Arial" panose="020B0604020202020204" pitchFamily="34" charset="0"/>
                <a:ea typeface="微软雅黑" panose="020B0503020204020204" pitchFamily="34" charset="-122"/>
              </a:rPr>
              <a:t>Network</a:t>
            </a:r>
            <a:endParaRPr kumimoji="0" lang="zh-CN" altLang="en-US" sz="18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18" name="连接符: 肘形 17">
            <a:extLst>
              <a:ext uri="{FF2B5EF4-FFF2-40B4-BE49-F238E27FC236}">
                <a16:creationId xmlns:a16="http://schemas.microsoft.com/office/drawing/2014/main" id="{28564987-D907-B796-44A4-38AF97CF2FAC}"/>
              </a:ext>
            </a:extLst>
          </p:cNvPr>
          <p:cNvCxnSpPr>
            <a:cxnSpLocks/>
            <a:stCxn id="15" idx="2"/>
            <a:endCxn id="17" idx="0"/>
          </p:cNvCxnSpPr>
          <p:nvPr/>
        </p:nvCxnSpPr>
        <p:spPr>
          <a:xfrm rot="5400000">
            <a:off x="5794376" y="3003025"/>
            <a:ext cx="455468" cy="577"/>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22" name="矩形 21">
            <a:extLst>
              <a:ext uri="{FF2B5EF4-FFF2-40B4-BE49-F238E27FC236}">
                <a16:creationId xmlns:a16="http://schemas.microsoft.com/office/drawing/2014/main" id="{5C7C8015-A632-9788-E282-D4AB4EEC61C9}"/>
              </a:ext>
            </a:extLst>
          </p:cNvPr>
          <p:cNvSpPr/>
          <p:nvPr/>
        </p:nvSpPr>
        <p:spPr>
          <a:xfrm>
            <a:off x="3105006" y="4094450"/>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600" dirty="0">
                <a:solidFill>
                  <a:schemeClr val="tx1"/>
                </a:solidFill>
                <a:latin typeface="Arial" panose="020B0604020202020204" pitchFamily="34" charset="0"/>
                <a:ea typeface="微软雅黑" panose="020B0503020204020204" pitchFamily="34" charset="-122"/>
              </a:rPr>
              <a:t>Disaggregation/explore Parts Plan</a:t>
            </a:r>
            <a:endParaRPr kumimoji="0" lang="zh-CN" altLang="en-US"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23" name="矩形 22">
            <a:extLst>
              <a:ext uri="{FF2B5EF4-FFF2-40B4-BE49-F238E27FC236}">
                <a16:creationId xmlns:a16="http://schemas.microsoft.com/office/drawing/2014/main" id="{CBF514E4-926A-D1E2-CC11-0996337E28C7}"/>
              </a:ext>
            </a:extLst>
          </p:cNvPr>
          <p:cNvSpPr/>
          <p:nvPr/>
        </p:nvSpPr>
        <p:spPr>
          <a:xfrm>
            <a:off x="6578600" y="4131592"/>
            <a:ext cx="2961985"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 Disaggregation/explore Resource/Capacity Plan</a:t>
            </a:r>
            <a:endParaRPr kumimoji="0" lang="zh-CN" altLang="en-US" sz="16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25" name="连接符: 肘形 24">
            <a:extLst>
              <a:ext uri="{FF2B5EF4-FFF2-40B4-BE49-F238E27FC236}">
                <a16:creationId xmlns:a16="http://schemas.microsoft.com/office/drawing/2014/main" id="{E8B1738A-63B6-D7B4-0B1F-215361224ED7}"/>
              </a:ext>
            </a:extLst>
          </p:cNvPr>
          <p:cNvCxnSpPr>
            <a:cxnSpLocks/>
          </p:cNvCxnSpPr>
          <p:nvPr/>
        </p:nvCxnSpPr>
        <p:spPr>
          <a:xfrm rot="10800000" flipV="1">
            <a:off x="4097265" y="3428136"/>
            <a:ext cx="954665" cy="644328"/>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7" name="连接符: 肘形 26">
            <a:extLst>
              <a:ext uri="{FF2B5EF4-FFF2-40B4-BE49-F238E27FC236}">
                <a16:creationId xmlns:a16="http://schemas.microsoft.com/office/drawing/2014/main" id="{3DCF807D-E03F-B8F3-25E7-991E0161A82B}"/>
              </a:ext>
            </a:extLst>
          </p:cNvPr>
          <p:cNvCxnSpPr>
            <a:stCxn id="17" idx="3"/>
            <a:endCxn id="23" idx="0"/>
          </p:cNvCxnSpPr>
          <p:nvPr/>
        </p:nvCxnSpPr>
        <p:spPr>
          <a:xfrm>
            <a:off x="7002896" y="3450122"/>
            <a:ext cx="1056697" cy="681470"/>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28" name="矩形 27">
            <a:extLst>
              <a:ext uri="{FF2B5EF4-FFF2-40B4-BE49-F238E27FC236}">
                <a16:creationId xmlns:a16="http://schemas.microsoft.com/office/drawing/2014/main" id="{5DAA22DF-77C9-4639-BA80-44954F09F7B0}"/>
              </a:ext>
            </a:extLst>
          </p:cNvPr>
          <p:cNvSpPr/>
          <p:nvPr/>
        </p:nvSpPr>
        <p:spPr>
          <a:xfrm>
            <a:off x="5067156" y="5251212"/>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 S&amp;OE</a:t>
            </a:r>
            <a:endParaRPr kumimoji="0" lang="zh-CN" altLang="en-US" sz="18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30" name="连接符: 肘形 29">
            <a:extLst>
              <a:ext uri="{FF2B5EF4-FFF2-40B4-BE49-F238E27FC236}">
                <a16:creationId xmlns:a16="http://schemas.microsoft.com/office/drawing/2014/main" id="{29304C4D-FA2D-BE01-41CB-E9C0F0A5D6AC}"/>
              </a:ext>
            </a:extLst>
          </p:cNvPr>
          <p:cNvCxnSpPr>
            <a:cxnSpLocks/>
            <a:stCxn id="23" idx="2"/>
            <a:endCxn id="28" idx="3"/>
          </p:cNvCxnSpPr>
          <p:nvPr/>
        </p:nvCxnSpPr>
        <p:spPr>
          <a:xfrm rot="5400000">
            <a:off x="7094178" y="4504871"/>
            <a:ext cx="900545" cy="1030287"/>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2" name="连接符: 肘形 31">
            <a:extLst>
              <a:ext uri="{FF2B5EF4-FFF2-40B4-BE49-F238E27FC236}">
                <a16:creationId xmlns:a16="http://schemas.microsoft.com/office/drawing/2014/main" id="{3CB3EED3-2465-E3FA-BDD4-FED9BAA31124}"/>
              </a:ext>
            </a:extLst>
          </p:cNvPr>
          <p:cNvCxnSpPr>
            <a:cxnSpLocks/>
            <a:stCxn id="22" idx="2"/>
            <a:endCxn id="28" idx="1"/>
          </p:cNvCxnSpPr>
          <p:nvPr/>
        </p:nvCxnSpPr>
        <p:spPr>
          <a:xfrm rot="16200000" flipH="1">
            <a:off x="4107775" y="4510905"/>
            <a:ext cx="937687" cy="981075"/>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CEED8547-58AF-A5B6-160A-68A08E0A69B0}"/>
              </a:ext>
            </a:extLst>
          </p:cNvPr>
          <p:cNvSpPr txBox="1"/>
          <p:nvPr/>
        </p:nvSpPr>
        <p:spPr>
          <a:xfrm>
            <a:off x="700161" y="5100954"/>
            <a:ext cx="3415145" cy="369332"/>
          </a:xfrm>
          <a:prstGeom prst="rect">
            <a:avLst/>
          </a:prstGeom>
          <a:noFill/>
        </p:spPr>
        <p:txBody>
          <a:bodyPr wrap="square" rtlCol="0">
            <a:spAutoFit/>
          </a:bodyPr>
          <a:lstStyle/>
          <a:p>
            <a:r>
              <a:rPr lang="en-US" altLang="zh-CN" dirty="0" err="1">
                <a:latin typeface="Arial" panose="020B0604020202020204" pitchFamily="34" charset="0"/>
                <a:ea typeface="微软雅黑" panose="020B0503020204020204" pitchFamily="34" charset="-122"/>
              </a:rPr>
              <a:t>e.g</a:t>
            </a:r>
            <a:r>
              <a:rPr lang="en-US" altLang="zh-CN" dirty="0">
                <a:latin typeface="Arial" panose="020B0604020202020204" pitchFamily="34" charset="0"/>
                <a:ea typeface="微软雅黑" panose="020B0503020204020204" pitchFamily="34" charset="-122"/>
              </a:rPr>
              <a:t> OH assignment/allocation</a:t>
            </a:r>
            <a:endParaRPr lang="zh-CN" altLang="en-US" dirty="0">
              <a:latin typeface="Arial" panose="020B0604020202020204" pitchFamily="34" charset="0"/>
              <a:ea typeface="微软雅黑" panose="020B0503020204020204" pitchFamily="34" charset="-122"/>
            </a:endParaRPr>
          </a:p>
        </p:txBody>
      </p:sp>
      <p:sp>
        <p:nvSpPr>
          <p:cNvPr id="36" name="文本框 35">
            <a:extLst>
              <a:ext uri="{FF2B5EF4-FFF2-40B4-BE49-F238E27FC236}">
                <a16:creationId xmlns:a16="http://schemas.microsoft.com/office/drawing/2014/main" id="{CE620C2C-66F5-6D88-3506-179AF919DA2D}"/>
              </a:ext>
            </a:extLst>
          </p:cNvPr>
          <p:cNvSpPr txBox="1"/>
          <p:nvPr/>
        </p:nvSpPr>
        <p:spPr>
          <a:xfrm>
            <a:off x="8379548" y="5020014"/>
            <a:ext cx="3812452" cy="646331"/>
          </a:xfrm>
          <a:prstGeom prst="rect">
            <a:avLst/>
          </a:prstGeom>
          <a:noFill/>
        </p:spPr>
        <p:txBody>
          <a:bodyPr wrap="square" rtlCol="0">
            <a:spAutoFit/>
          </a:bodyPr>
          <a:lstStyle/>
          <a:p>
            <a:r>
              <a:rPr lang="en-US" altLang="zh-CN" dirty="0" err="1">
                <a:latin typeface="Arial" panose="020B0604020202020204" pitchFamily="34" charset="0"/>
                <a:ea typeface="微软雅黑" panose="020B0503020204020204" pitchFamily="34" charset="-122"/>
              </a:rPr>
              <a:t>e.g</a:t>
            </a:r>
            <a:r>
              <a:rPr lang="en-US" altLang="zh-CN" dirty="0">
                <a:latin typeface="Arial" panose="020B0604020202020204" pitchFamily="34" charset="0"/>
                <a:ea typeface="微软雅黑" panose="020B0503020204020204" pitchFamily="34" charset="-122"/>
              </a:rPr>
              <a:t> capacity pegging with end item MO/WO</a:t>
            </a:r>
            <a:endParaRPr lang="zh-CN" altLang="en-US" dirty="0">
              <a:latin typeface="Arial" panose="020B0604020202020204" pitchFamily="34" charset="0"/>
              <a:ea typeface="微软雅黑" panose="020B0503020204020204" pitchFamily="34" charset="-122"/>
            </a:endParaRPr>
          </a:p>
        </p:txBody>
      </p:sp>
      <p:sp>
        <p:nvSpPr>
          <p:cNvPr id="2" name="矩形: 圆角 1">
            <a:extLst>
              <a:ext uri="{FF2B5EF4-FFF2-40B4-BE49-F238E27FC236}">
                <a16:creationId xmlns:a16="http://schemas.microsoft.com/office/drawing/2014/main" id="{4863A065-3877-CD14-5C70-5AD3F7BC2A56}"/>
              </a:ext>
            </a:extLst>
          </p:cNvPr>
          <p:cNvSpPr/>
          <p:nvPr/>
        </p:nvSpPr>
        <p:spPr>
          <a:xfrm>
            <a:off x="2179228" y="644236"/>
            <a:ext cx="9250771" cy="2345750"/>
          </a:xfrm>
          <a:prstGeom prst="roundRect">
            <a:avLst/>
          </a:prstGeom>
          <a:solidFill>
            <a:srgbClr val="FFC000">
              <a:alpha val="18000"/>
            </a:srgb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endParaRPr lang="zh-CN" altLang="en-US" sz="1600" b="1" dirty="0"/>
          </a:p>
        </p:txBody>
      </p:sp>
      <p:sp>
        <p:nvSpPr>
          <p:cNvPr id="3" name="文本框 2">
            <a:extLst>
              <a:ext uri="{FF2B5EF4-FFF2-40B4-BE49-F238E27FC236}">
                <a16:creationId xmlns:a16="http://schemas.microsoft.com/office/drawing/2014/main" id="{D5944E35-15B2-7FF5-E040-723FC60E3723}"/>
              </a:ext>
            </a:extLst>
          </p:cNvPr>
          <p:cNvSpPr txBox="1"/>
          <p:nvPr/>
        </p:nvSpPr>
        <p:spPr>
          <a:xfrm>
            <a:off x="6969968" y="1091447"/>
            <a:ext cx="4422334" cy="830997"/>
          </a:xfrm>
          <a:prstGeom prst="rect">
            <a:avLst/>
          </a:prstGeom>
          <a:noFill/>
        </p:spPr>
        <p:txBody>
          <a:bodyPr wrap="square" rtlCol="0">
            <a:spAutoFit/>
          </a:bodyPr>
          <a:lstStyle/>
          <a:p>
            <a:pPr marL="285750" indent="-285750">
              <a:buFont typeface="Arial" panose="020B0604020202020204" pitchFamily="34" charset="0"/>
              <a:buChar char="•"/>
            </a:pPr>
            <a:r>
              <a:rPr lang="en-US" altLang="zh-CN" sz="1600" b="1" dirty="0">
                <a:latin typeface="Arial" panose="020B0604020202020204" pitchFamily="34" charset="0"/>
                <a:ea typeface="微软雅黑" panose="020B0503020204020204" pitchFamily="34" charset="-122"/>
              </a:rPr>
              <a:t>Aggregation level</a:t>
            </a:r>
            <a:r>
              <a:rPr lang="zh-CN" altLang="en-US" sz="1600" b="1" dirty="0">
                <a:latin typeface="Arial" panose="020B0604020202020204" pitchFamily="34" charset="0"/>
                <a:ea typeface="微软雅黑" panose="020B0503020204020204" pitchFamily="34" charset="-122"/>
              </a:rPr>
              <a:t>预示着预测更准</a:t>
            </a:r>
            <a:endParaRPr lang="en-US" altLang="zh-CN" sz="1600" b="1" dirty="0">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r>
              <a:rPr lang="en-US" altLang="zh-CN" sz="1600" b="1" dirty="0">
                <a:latin typeface="Arial" panose="020B0604020202020204" pitchFamily="34" charset="0"/>
                <a:ea typeface="微软雅黑" panose="020B0503020204020204" pitchFamily="34" charset="-122"/>
              </a:rPr>
              <a:t>Aggregation </a:t>
            </a:r>
            <a:r>
              <a:rPr lang="zh-CN" altLang="en-US" sz="1600" b="1" dirty="0">
                <a:latin typeface="Arial" panose="020B0604020202020204" pitchFamily="34" charset="0"/>
                <a:ea typeface="微软雅黑" panose="020B0503020204020204" pitchFamily="34" charset="-122"/>
              </a:rPr>
              <a:t>意味着资源在哪个</a:t>
            </a:r>
            <a:r>
              <a:rPr lang="en-US" altLang="zh-CN" sz="1600" b="1" dirty="0">
                <a:latin typeface="Arial" panose="020B0604020202020204" pitchFamily="34" charset="0"/>
                <a:ea typeface="微软雅黑" panose="020B0503020204020204" pitchFamily="34" charset="-122"/>
              </a:rPr>
              <a:t>segment</a:t>
            </a:r>
            <a:r>
              <a:rPr lang="zh-CN" altLang="en-US" sz="1600" b="1" dirty="0">
                <a:latin typeface="Arial" panose="020B0604020202020204" pitchFamily="34" charset="0"/>
                <a:ea typeface="微软雅黑" panose="020B0503020204020204" pitchFamily="34" charset="-122"/>
              </a:rPr>
              <a:t>维度分配</a:t>
            </a:r>
          </a:p>
        </p:txBody>
      </p:sp>
      <p:sp>
        <p:nvSpPr>
          <p:cNvPr id="5" name="文本框 4">
            <a:extLst>
              <a:ext uri="{FF2B5EF4-FFF2-40B4-BE49-F238E27FC236}">
                <a16:creationId xmlns:a16="http://schemas.microsoft.com/office/drawing/2014/main" id="{90F447B2-9B4A-8B41-13DA-C41D9C1B574C}"/>
              </a:ext>
            </a:extLst>
          </p:cNvPr>
          <p:cNvSpPr txBox="1"/>
          <p:nvPr/>
        </p:nvSpPr>
        <p:spPr>
          <a:xfrm>
            <a:off x="3636499" y="6168653"/>
            <a:ext cx="5221351" cy="369332"/>
          </a:xfrm>
          <a:prstGeom prst="rect">
            <a:avLst/>
          </a:prstGeom>
          <a:noFill/>
        </p:spPr>
        <p:txBody>
          <a:bodyPr wrap="square" rtlCol="0">
            <a:spAutoFit/>
          </a:bodyPr>
          <a:lstStyle/>
          <a:p>
            <a:r>
              <a:rPr lang="zh-CN" altLang="en-US" dirty="0">
                <a:latin typeface="Arial" panose="020B0604020202020204" pitchFamily="34" charset="0"/>
                <a:ea typeface="微软雅黑" panose="020B0503020204020204" pitchFamily="34" charset="-122"/>
              </a:rPr>
              <a:t>整个供应链网路的哪个节点是资源分配的节点？</a:t>
            </a:r>
          </a:p>
        </p:txBody>
      </p:sp>
    </p:spTree>
    <p:extLst>
      <p:ext uri="{BB962C8B-B14F-4D97-AF65-F5344CB8AC3E}">
        <p14:creationId xmlns:p14="http://schemas.microsoft.com/office/powerpoint/2010/main" val="2069302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8"/>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5" grpId="0"/>
      <p:bldP spid="36" grpId="0"/>
      <p:bldP spid="2" grpId="0" animBg="1"/>
      <p:bldP spid="3"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9C054B7F-FC6F-CAC1-1DF5-A6FBCDDE53EA}"/>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Allocation</a:t>
            </a:r>
            <a:r>
              <a:rPr lang="en-US" altLang="zh-CN" sz="2800" dirty="0">
                <a:latin typeface="Arial" panose="020B0604020202020204" pitchFamily="34" charset="0"/>
                <a:ea typeface="微软雅黑" panose="020B0503020204020204" pitchFamily="34" charset="-122"/>
              </a:rPr>
              <a:t> – Examples</a:t>
            </a:r>
            <a:endParaRPr lang="zh-CN" altLang="en-US" dirty="0">
              <a:latin typeface="Arial" panose="020B0604020202020204" pitchFamily="34" charset="0"/>
              <a:ea typeface="微软雅黑" panose="020B0503020204020204" pitchFamily="34" charset="-122"/>
            </a:endParaRPr>
          </a:p>
        </p:txBody>
      </p:sp>
      <p:graphicFrame>
        <p:nvGraphicFramePr>
          <p:cNvPr id="5" name="表格 4">
            <a:extLst>
              <a:ext uri="{FF2B5EF4-FFF2-40B4-BE49-F238E27FC236}">
                <a16:creationId xmlns:a16="http://schemas.microsoft.com/office/drawing/2014/main" id="{720890EA-B6FC-E771-C3BA-BCE1C3CB7D75}"/>
              </a:ext>
            </a:extLst>
          </p:cNvPr>
          <p:cNvGraphicFramePr>
            <a:graphicFrameLocks noGrp="1"/>
          </p:cNvGraphicFramePr>
          <p:nvPr>
            <p:extLst>
              <p:ext uri="{D42A27DB-BD31-4B8C-83A1-F6EECF244321}">
                <p14:modId xmlns:p14="http://schemas.microsoft.com/office/powerpoint/2010/main" val="4719834"/>
              </p:ext>
            </p:extLst>
          </p:nvPr>
        </p:nvGraphicFramePr>
        <p:xfrm>
          <a:off x="416134" y="2272387"/>
          <a:ext cx="11312278" cy="4398576"/>
        </p:xfrm>
        <a:graphic>
          <a:graphicData uri="http://schemas.openxmlformats.org/drawingml/2006/table">
            <a:tbl>
              <a:tblPr firstRow="1" firstCol="1">
                <a:tableStyleId>{69012ECD-51FC-41F1-AA8D-1B2483CD663E}</a:tableStyleId>
              </a:tblPr>
              <a:tblGrid>
                <a:gridCol w="363411">
                  <a:extLst>
                    <a:ext uri="{9D8B030D-6E8A-4147-A177-3AD203B41FA5}">
                      <a16:colId xmlns:a16="http://schemas.microsoft.com/office/drawing/2014/main" val="2279533067"/>
                    </a:ext>
                  </a:extLst>
                </a:gridCol>
                <a:gridCol w="1478628">
                  <a:extLst>
                    <a:ext uri="{9D8B030D-6E8A-4147-A177-3AD203B41FA5}">
                      <a16:colId xmlns:a16="http://schemas.microsoft.com/office/drawing/2014/main" val="3999593002"/>
                    </a:ext>
                  </a:extLst>
                </a:gridCol>
                <a:gridCol w="905929">
                  <a:extLst>
                    <a:ext uri="{9D8B030D-6E8A-4147-A177-3AD203B41FA5}">
                      <a16:colId xmlns:a16="http://schemas.microsoft.com/office/drawing/2014/main" val="1079653900"/>
                    </a:ext>
                  </a:extLst>
                </a:gridCol>
                <a:gridCol w="1657121">
                  <a:extLst>
                    <a:ext uri="{9D8B030D-6E8A-4147-A177-3AD203B41FA5}">
                      <a16:colId xmlns:a16="http://schemas.microsoft.com/office/drawing/2014/main" val="3588670239"/>
                    </a:ext>
                  </a:extLst>
                </a:gridCol>
                <a:gridCol w="449369">
                  <a:extLst>
                    <a:ext uri="{9D8B030D-6E8A-4147-A177-3AD203B41FA5}">
                      <a16:colId xmlns:a16="http://schemas.microsoft.com/office/drawing/2014/main" val="3981764562"/>
                    </a:ext>
                  </a:extLst>
                </a:gridCol>
                <a:gridCol w="1312678">
                  <a:extLst>
                    <a:ext uri="{9D8B030D-6E8A-4147-A177-3AD203B41FA5}">
                      <a16:colId xmlns:a16="http://schemas.microsoft.com/office/drawing/2014/main" val="3809907080"/>
                    </a:ext>
                  </a:extLst>
                </a:gridCol>
                <a:gridCol w="975473">
                  <a:extLst>
                    <a:ext uri="{9D8B030D-6E8A-4147-A177-3AD203B41FA5}">
                      <a16:colId xmlns:a16="http://schemas.microsoft.com/office/drawing/2014/main" val="3018928010"/>
                    </a:ext>
                  </a:extLst>
                </a:gridCol>
                <a:gridCol w="975473">
                  <a:extLst>
                    <a:ext uri="{9D8B030D-6E8A-4147-A177-3AD203B41FA5}">
                      <a16:colId xmlns:a16="http://schemas.microsoft.com/office/drawing/2014/main" val="503313802"/>
                    </a:ext>
                  </a:extLst>
                </a:gridCol>
                <a:gridCol w="1243250">
                  <a:extLst>
                    <a:ext uri="{9D8B030D-6E8A-4147-A177-3AD203B41FA5}">
                      <a16:colId xmlns:a16="http://schemas.microsoft.com/office/drawing/2014/main" val="2552345558"/>
                    </a:ext>
                  </a:extLst>
                </a:gridCol>
                <a:gridCol w="975473">
                  <a:extLst>
                    <a:ext uri="{9D8B030D-6E8A-4147-A177-3AD203B41FA5}">
                      <a16:colId xmlns:a16="http://schemas.microsoft.com/office/drawing/2014/main" val="2149699448"/>
                    </a:ext>
                  </a:extLst>
                </a:gridCol>
                <a:gridCol w="975473">
                  <a:extLst>
                    <a:ext uri="{9D8B030D-6E8A-4147-A177-3AD203B41FA5}">
                      <a16:colId xmlns:a16="http://schemas.microsoft.com/office/drawing/2014/main" val="333825470"/>
                    </a:ext>
                  </a:extLst>
                </a:gridCol>
              </a:tblGrid>
              <a:tr h="223059">
                <a:tc>
                  <a:txBody>
                    <a:bodyPr/>
                    <a:lstStyle/>
                    <a:p>
                      <a:pPr algn="l" fontAlgn="b"/>
                      <a:r>
                        <a:rPr lang="zh-CN" altLang="en-US" sz="1100" u="none" strike="noStrike" dirty="0">
                          <a:solidFill>
                            <a:schemeClr val="tx1"/>
                          </a:solidFill>
                          <a:effectLst/>
                          <a:latin typeface="Arial" panose="020B0604020202020204" pitchFamily="34" charset="0"/>
                          <a:ea typeface="微软雅黑" panose="020B0503020204020204" pitchFamily="34" charset="-122"/>
                        </a:rPr>
                        <a:t>　</a:t>
                      </a:r>
                      <a:endParaRPr lang="zh-CN" altLang="en-US" sz="11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dirty="0">
                          <a:solidFill>
                            <a:schemeClr val="tx1"/>
                          </a:solidFill>
                          <a:effectLst/>
                          <a:latin typeface="Arial" panose="020B0604020202020204" pitchFamily="34" charset="0"/>
                          <a:ea typeface="微软雅黑" panose="020B0503020204020204" pitchFamily="34" charset="-122"/>
                        </a:rPr>
                        <a:t>Day1</a:t>
                      </a:r>
                      <a:endParaRPr lang="en-US" sz="11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dirty="0">
                          <a:solidFill>
                            <a:schemeClr val="tx1"/>
                          </a:solidFill>
                          <a:effectLst/>
                          <a:latin typeface="Arial" panose="020B0604020202020204" pitchFamily="34" charset="0"/>
                          <a:ea typeface="微软雅黑" panose="020B0503020204020204" pitchFamily="34" charset="-122"/>
                        </a:rPr>
                        <a:t>Day2</a:t>
                      </a:r>
                      <a:endParaRPr lang="en-US" sz="11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dirty="0">
                          <a:solidFill>
                            <a:schemeClr val="tx1"/>
                          </a:solidFill>
                          <a:effectLst/>
                          <a:latin typeface="Arial" panose="020B0604020202020204" pitchFamily="34" charset="0"/>
                          <a:ea typeface="微软雅黑" panose="020B0503020204020204" pitchFamily="34" charset="-122"/>
                        </a:rPr>
                        <a:t>Day3</a:t>
                      </a:r>
                      <a:endParaRPr lang="en-US" sz="11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dirty="0">
                          <a:solidFill>
                            <a:schemeClr val="tx1"/>
                          </a:solidFill>
                          <a:effectLst/>
                          <a:latin typeface="Arial" panose="020B0604020202020204" pitchFamily="34" charset="0"/>
                          <a:ea typeface="微软雅黑" panose="020B0503020204020204" pitchFamily="34" charset="-122"/>
                        </a:rPr>
                        <a:t>Day4</a:t>
                      </a:r>
                      <a:endParaRPr lang="en-US" sz="11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dirty="0">
                          <a:solidFill>
                            <a:schemeClr val="tx1"/>
                          </a:solidFill>
                          <a:effectLst/>
                          <a:latin typeface="Arial" panose="020B0604020202020204" pitchFamily="34" charset="0"/>
                          <a:ea typeface="微软雅黑" panose="020B0503020204020204" pitchFamily="34" charset="-122"/>
                        </a:rPr>
                        <a:t>Day5</a:t>
                      </a:r>
                      <a:endParaRPr lang="en-US" sz="11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solidFill>
                            <a:schemeClr val="tx1"/>
                          </a:solidFill>
                          <a:effectLst/>
                          <a:latin typeface="Arial" panose="020B0604020202020204" pitchFamily="34" charset="0"/>
                          <a:ea typeface="微软雅黑" panose="020B0503020204020204" pitchFamily="34" charset="-122"/>
                        </a:rPr>
                        <a:t>　</a:t>
                      </a:r>
                      <a:endParaRPr lang="zh-CN" altLang="en-US" sz="11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7538457"/>
                  </a:ext>
                </a:extLst>
              </a:tr>
              <a:tr h="190392">
                <a:tc gridSpan="6">
                  <a:txBody>
                    <a:bodyPr/>
                    <a:lstStyle/>
                    <a:p>
                      <a:pPr algn="l" fontAlgn="b"/>
                      <a:r>
                        <a:rPr lang="en-US" sz="1100" u="none" strike="noStrike">
                          <a:effectLst/>
                          <a:latin typeface="Arial" panose="020B0604020202020204" pitchFamily="34" charset="0"/>
                          <a:ea typeface="微软雅黑" panose="020B0503020204020204" pitchFamily="34" charset="-122"/>
                        </a:rPr>
                        <a:t>Supply</a:t>
                      </a:r>
                      <a:endParaRPr lang="en-US" sz="1100" b="1"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algn="l" fontAlgn="b"/>
                      <a:r>
                        <a:rPr lang="en-US" sz="1100" u="none" strike="noStrike" dirty="0">
                          <a:effectLst/>
                          <a:latin typeface="Arial" panose="020B0604020202020204" pitchFamily="34" charset="0"/>
                          <a:ea typeface="微软雅黑" panose="020B0503020204020204" pitchFamily="34" charset="-122"/>
                        </a:rPr>
                        <a:t>Sum</a:t>
                      </a:r>
                      <a:endParaRPr 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5871888"/>
                  </a:ext>
                </a:extLst>
              </a:tr>
              <a:tr h="223059">
                <a:tc>
                  <a:txBody>
                    <a:bodyPr/>
                    <a:lstStyle/>
                    <a:p>
                      <a:pPr algn="l" fontAlgn="b"/>
                      <a:r>
                        <a:rPr lang="en-US" sz="1100" u="none" strike="noStrike">
                          <a:effectLst/>
                          <a:latin typeface="Arial" panose="020B0604020202020204" pitchFamily="34" charset="0"/>
                          <a:ea typeface="微软雅黑" panose="020B0503020204020204" pitchFamily="34" charset="-122"/>
                        </a:rPr>
                        <a:t>B</a:t>
                      </a:r>
                      <a:endParaRPr lang="en-US" sz="1100" b="1"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200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500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300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dirty="0">
                          <a:effectLst/>
                          <a:highlight>
                            <a:srgbClr val="800000"/>
                          </a:highlight>
                          <a:latin typeface="Arial" panose="020B0604020202020204" pitchFamily="34" charset="0"/>
                          <a:ea typeface="微软雅黑" panose="020B0503020204020204" pitchFamily="34" charset="-122"/>
                        </a:rPr>
                        <a:t>1700</a:t>
                      </a:r>
                      <a:endParaRPr lang="en-US" altLang="zh-CN" sz="1100" b="0" i="0" u="none" strike="noStrike" dirty="0">
                        <a:solidFill>
                          <a:srgbClr val="000000"/>
                        </a:solidFill>
                        <a:effectLst/>
                        <a:highlight>
                          <a:srgbClr val="800000"/>
                        </a:highligh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2075777"/>
                  </a:ext>
                </a:extLst>
              </a:tr>
              <a:tr h="223059">
                <a:tc>
                  <a:txBody>
                    <a:bodyPr/>
                    <a:lstStyle/>
                    <a:p>
                      <a:pPr algn="l" fontAlgn="b"/>
                      <a:r>
                        <a:rPr lang="en-US" sz="1100" u="none" strike="noStrike">
                          <a:effectLst/>
                          <a:latin typeface="Arial" panose="020B0604020202020204" pitchFamily="34" charset="0"/>
                          <a:ea typeface="微软雅黑" panose="020B0503020204020204" pitchFamily="34" charset="-122"/>
                        </a:rPr>
                        <a:t>C</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100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2000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3000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5100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2283650"/>
                  </a:ext>
                </a:extLst>
              </a:tr>
              <a:tr h="223059">
                <a:tc>
                  <a:txBody>
                    <a:bodyPr/>
                    <a:lstStyle/>
                    <a:p>
                      <a:pPr algn="l" fontAlgn="b"/>
                      <a:r>
                        <a:rPr lang="en-US" sz="1100" u="none" strike="noStrike">
                          <a:effectLst/>
                          <a:latin typeface="Arial" panose="020B0604020202020204" pitchFamily="34" charset="0"/>
                          <a:ea typeface="微软雅黑" panose="020B0503020204020204" pitchFamily="34" charset="-122"/>
                        </a:rPr>
                        <a:t>D</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1000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dirty="0">
                          <a:effectLst/>
                          <a:latin typeface="Arial" panose="020B0604020202020204" pitchFamily="34" charset="0"/>
                          <a:ea typeface="微软雅黑" panose="020B0503020204020204" pitchFamily="34" charset="-122"/>
                        </a:rPr>
                        <a:t>0</a:t>
                      </a:r>
                      <a:endParaRPr lang="en-US" altLang="zh-CN"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1000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3000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5000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0871294"/>
                  </a:ext>
                </a:extLst>
              </a:tr>
              <a:tr h="253877">
                <a:tc gridSpan="6">
                  <a:txBody>
                    <a:bodyPr/>
                    <a:lstStyle/>
                    <a:p>
                      <a:pPr algn="l" fontAlgn="b"/>
                      <a:r>
                        <a:rPr lang="en-US" sz="1100" u="none" strike="noStrike">
                          <a:effectLst/>
                          <a:latin typeface="Arial" panose="020B0604020202020204" pitchFamily="34" charset="0"/>
                          <a:ea typeface="微软雅黑" panose="020B0503020204020204" pitchFamily="34" charset="-122"/>
                        </a:rPr>
                        <a:t>Demand</a:t>
                      </a:r>
                      <a:endParaRPr lang="en-US" sz="1100" b="1"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6642221"/>
                  </a:ext>
                </a:extLst>
              </a:tr>
              <a:tr h="223059">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1"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1"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1"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1"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effectLst/>
                          <a:latin typeface="Arial" panose="020B0604020202020204" pitchFamily="34" charset="0"/>
                          <a:ea typeface="微软雅黑" panose="020B0503020204020204" pitchFamily="34" charset="-122"/>
                        </a:rPr>
                        <a:t>Requested Qty</a:t>
                      </a:r>
                      <a:endParaRPr lang="zh-CN" altLang="en-US" sz="1100" b="1"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dirty="0">
                          <a:effectLst/>
                          <a:latin typeface="Arial" panose="020B0604020202020204" pitchFamily="34" charset="0"/>
                          <a:ea typeface="微软雅黑" panose="020B0503020204020204" pitchFamily="34" charset="-122"/>
                        </a:rPr>
                        <a:t>Sum</a:t>
                      </a:r>
                      <a:endParaRPr 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dirty="0" err="1">
                          <a:effectLst/>
                          <a:latin typeface="Arial" panose="020B0604020202020204" pitchFamily="34" charset="0"/>
                          <a:ea typeface="微软雅黑" panose="020B0503020204020204" pitchFamily="34" charset="-122"/>
                        </a:rPr>
                        <a:t>GEOSum</a:t>
                      </a:r>
                      <a:endParaRPr 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dirty="0" err="1">
                          <a:effectLst/>
                          <a:latin typeface="Arial" panose="020B0604020202020204" pitchFamily="34" charset="0"/>
                          <a:ea typeface="微软雅黑" panose="020B0503020204020204" pitchFamily="34" charset="-122"/>
                        </a:rPr>
                        <a:t>SubGeoSum</a:t>
                      </a:r>
                      <a:endParaRPr 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dirty="0">
                          <a:effectLst/>
                          <a:latin typeface="Arial" panose="020B0604020202020204" pitchFamily="34" charset="0"/>
                          <a:ea typeface="微软雅黑" panose="020B0503020204020204" pitchFamily="34" charset="-122"/>
                        </a:rPr>
                        <a:t>GEO</a:t>
                      </a:r>
                      <a:endParaRPr lang="en-US" sz="1100" b="1"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dirty="0" err="1">
                          <a:effectLst/>
                          <a:latin typeface="Arial" panose="020B0604020202020204" pitchFamily="34" charset="0"/>
                          <a:ea typeface="微软雅黑" panose="020B0503020204020204" pitchFamily="34" charset="-122"/>
                        </a:rPr>
                        <a:t>SubGeo</a:t>
                      </a:r>
                      <a:endParaRPr 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4578726"/>
                  </a:ext>
                </a:extLst>
              </a:tr>
              <a:tr h="473609">
                <a:tc>
                  <a:txBody>
                    <a:bodyPr/>
                    <a:lstStyle/>
                    <a:p>
                      <a:pPr algn="l" fontAlgn="b"/>
                      <a:r>
                        <a:rPr lang="en-US" sz="1100" u="none" strike="noStrike">
                          <a:effectLst/>
                          <a:latin typeface="Arial" panose="020B0604020202020204" pitchFamily="34" charset="0"/>
                          <a:ea typeface="微软雅黑" panose="020B0503020204020204" pitchFamily="34" charset="-122"/>
                        </a:rPr>
                        <a:t>D1</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solidFill>
                            <a:schemeClr val="tx1">
                              <a:lumMod val="75000"/>
                              <a:lumOff val="25000"/>
                            </a:schemeClr>
                          </a:solidFill>
                          <a:effectLst/>
                          <a:latin typeface="Arial" panose="020B0604020202020204" pitchFamily="34" charset="0"/>
                          <a:ea typeface="微软雅黑" panose="020B0503020204020204" pitchFamily="34" charset="-122"/>
                        </a:rPr>
                        <a:t>200,</a:t>
                      </a:r>
                      <a:r>
                        <a:rPr lang="en-US" altLang="zh-CN" sz="1100" u="none" strike="noStrike" dirty="0">
                          <a:effectLst/>
                          <a:latin typeface="Arial" panose="020B0604020202020204" pitchFamily="34" charset="0"/>
                          <a:ea typeface="微软雅黑" panose="020B0503020204020204" pitchFamily="34" charset="-122"/>
                        </a:rPr>
                        <a:t>kitted </a:t>
                      </a:r>
                      <a:r>
                        <a:rPr lang="en-US" altLang="zh-CN" sz="1100" u="none" strike="noStrike" dirty="0">
                          <a:solidFill>
                            <a:srgbClr val="217800"/>
                          </a:solidFill>
                          <a:effectLst/>
                          <a:latin typeface="Arial" panose="020B0604020202020204" pitchFamily="34" charset="0"/>
                          <a:ea typeface="微软雅黑" panose="020B0503020204020204" pitchFamily="34" charset="-122"/>
                        </a:rPr>
                        <a:t>100</a:t>
                      </a:r>
                      <a:endParaRPr lang="zh-CN" altLang="en-US" sz="1100" b="0" i="0" u="none" strike="noStrike" dirty="0">
                        <a:solidFill>
                          <a:srgbClr val="2178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effectLst/>
                          <a:latin typeface="Arial" panose="020B0604020202020204" pitchFamily="34" charset="0"/>
                          <a:ea typeface="微软雅黑" panose="020B0503020204020204" pitchFamily="34" charset="-122"/>
                        </a:rPr>
                        <a:t>kitted </a:t>
                      </a:r>
                      <a:r>
                        <a:rPr lang="en-US" altLang="zh-CN" sz="1100" u="none" strike="noStrike" dirty="0">
                          <a:solidFill>
                            <a:srgbClr val="217800"/>
                          </a:solidFill>
                          <a:effectLst/>
                          <a:latin typeface="Arial" panose="020B0604020202020204" pitchFamily="34" charset="0"/>
                          <a:ea typeface="微软雅黑" panose="020B0503020204020204" pitchFamily="34" charset="-122"/>
                        </a:rPr>
                        <a:t>100</a:t>
                      </a:r>
                      <a:endParaRPr lang="zh-CN" altLang="en-US" sz="1100" b="0" i="0" u="none" strike="noStrike" dirty="0">
                        <a:solidFill>
                          <a:srgbClr val="2178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200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2700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800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a:effectLst/>
                          <a:latin typeface="Arial" panose="020B0604020202020204" pitchFamily="34" charset="0"/>
                          <a:ea typeface="微软雅黑" panose="020B0503020204020204" pitchFamily="34" charset="-122"/>
                        </a:rPr>
                        <a:t>PRC</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0177425"/>
                  </a:ext>
                </a:extLst>
              </a:tr>
              <a:tr h="223059">
                <a:tc>
                  <a:txBody>
                    <a:bodyPr/>
                    <a:lstStyle/>
                    <a:p>
                      <a:pPr algn="l" fontAlgn="b"/>
                      <a:r>
                        <a:rPr lang="en-US" sz="1100" u="none" strike="noStrike">
                          <a:effectLst/>
                          <a:latin typeface="Arial" panose="020B0604020202020204" pitchFamily="34" charset="0"/>
                          <a:ea typeface="微软雅黑" panose="020B0503020204020204" pitchFamily="34" charset="-122"/>
                        </a:rPr>
                        <a:t>D2</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solidFill>
                            <a:schemeClr val="tx1">
                              <a:lumMod val="75000"/>
                              <a:lumOff val="25000"/>
                            </a:schemeClr>
                          </a:solidFill>
                          <a:effectLst/>
                          <a:latin typeface="Arial" panose="020B0604020202020204" pitchFamily="34" charset="0"/>
                          <a:ea typeface="微软雅黑" panose="020B0503020204020204" pitchFamily="34" charset="-122"/>
                        </a:rPr>
                        <a:t>500</a:t>
                      </a:r>
                      <a:endParaRPr lang="zh-CN" altLang="en-US" sz="1100" b="0" i="0" u="none" strike="noStrike" dirty="0">
                        <a:solidFill>
                          <a:schemeClr val="tx1">
                            <a:lumMod val="75000"/>
                            <a:lumOff val="25000"/>
                          </a:schemeClr>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r>
                        <a:rPr lang="en-US" altLang="zh-CN" sz="1100" u="none" strike="noStrike">
                          <a:solidFill>
                            <a:schemeClr val="tx1">
                              <a:lumMod val="75000"/>
                              <a:lumOff val="25000"/>
                            </a:schemeClr>
                          </a:solidFill>
                          <a:effectLst/>
                          <a:latin typeface="Arial" panose="020B0604020202020204" pitchFamily="34" charset="0"/>
                          <a:ea typeface="微软雅黑" panose="020B0503020204020204" pitchFamily="34" charset="-122"/>
                        </a:rPr>
                        <a:t>100</a:t>
                      </a:r>
                      <a:endParaRPr lang="zh-CN" alt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effectLst/>
                          <a:latin typeface="Arial" panose="020B0604020202020204" pitchFamily="34" charset="0"/>
                          <a:ea typeface="微软雅黑" panose="020B0503020204020204" pitchFamily="34" charset="-122"/>
                        </a:rPr>
                        <a:t>kitted </a:t>
                      </a:r>
                      <a:r>
                        <a:rPr lang="en-US" altLang="zh-CN" sz="1100" u="none" strike="noStrike" dirty="0">
                          <a:solidFill>
                            <a:srgbClr val="217800"/>
                          </a:solidFill>
                          <a:effectLst/>
                          <a:latin typeface="Arial" panose="020B0604020202020204" pitchFamily="34" charset="0"/>
                          <a:ea typeface="微软雅黑" panose="020B0503020204020204" pitchFamily="34" charset="-122"/>
                        </a:rPr>
                        <a:t>600</a:t>
                      </a:r>
                      <a:endParaRPr lang="zh-CN" altLang="en-US" sz="1100" b="0" i="0" u="none" strike="noStrike" dirty="0">
                        <a:solidFill>
                          <a:srgbClr val="2178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600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2700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800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a:effectLst/>
                          <a:latin typeface="Arial" panose="020B0604020202020204" pitchFamily="34" charset="0"/>
                          <a:ea typeface="微软雅黑" panose="020B0503020204020204" pitchFamily="34" charset="-122"/>
                        </a:rPr>
                        <a:t>PRC</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327057"/>
                  </a:ext>
                </a:extLst>
              </a:tr>
              <a:tr h="375523">
                <a:tc>
                  <a:txBody>
                    <a:bodyPr/>
                    <a:lstStyle/>
                    <a:p>
                      <a:pPr algn="l" fontAlgn="b"/>
                      <a:r>
                        <a:rPr lang="en-US" sz="1100" u="none" strike="noStrike">
                          <a:effectLst/>
                          <a:latin typeface="Arial" panose="020B0604020202020204" pitchFamily="34" charset="0"/>
                          <a:ea typeface="微软雅黑" panose="020B0503020204020204" pitchFamily="34" charset="-122"/>
                        </a:rPr>
                        <a:t>D3</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effectLst/>
                          <a:latin typeface="Arial" panose="020B0604020202020204" pitchFamily="34" charset="0"/>
                          <a:ea typeface="微软雅黑" panose="020B0503020204020204" pitchFamily="34" charset="-122"/>
                        </a:rPr>
                        <a:t>50, kitted </a:t>
                      </a:r>
                      <a:r>
                        <a:rPr lang="en-US" altLang="zh-CN" sz="1100" u="none" strike="noStrike" dirty="0">
                          <a:solidFill>
                            <a:srgbClr val="217800"/>
                          </a:solidFill>
                          <a:effectLst/>
                          <a:latin typeface="Arial" panose="020B0604020202020204" pitchFamily="34" charset="0"/>
                          <a:ea typeface="微软雅黑" panose="020B0503020204020204" pitchFamily="34" charset="-122"/>
                        </a:rPr>
                        <a:t>50</a:t>
                      </a:r>
                      <a:endParaRPr lang="zh-CN" alt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endParaRPr lang="zh-CN" alt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50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2700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300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a:effectLst/>
                          <a:latin typeface="Arial" panose="020B0604020202020204" pitchFamily="34" charset="0"/>
                          <a:ea typeface="微软雅黑" panose="020B0503020204020204" pitchFamily="34" charset="-122"/>
                        </a:rPr>
                        <a:t>NA</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a:effectLst/>
                          <a:latin typeface="Arial" panose="020B0604020202020204" pitchFamily="34" charset="0"/>
                          <a:ea typeface="微软雅黑" panose="020B0503020204020204" pitchFamily="34" charset="-122"/>
                        </a:rPr>
                        <a:t>CA</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4332229"/>
                  </a:ext>
                </a:extLst>
              </a:tr>
              <a:tr h="223059">
                <a:tc>
                  <a:txBody>
                    <a:bodyPr/>
                    <a:lstStyle/>
                    <a:p>
                      <a:pPr algn="l" fontAlgn="b"/>
                      <a:r>
                        <a:rPr lang="en-US" sz="1100" u="none" strike="noStrike">
                          <a:effectLst/>
                          <a:latin typeface="Arial" panose="020B0604020202020204" pitchFamily="34" charset="0"/>
                          <a:ea typeface="微软雅黑" panose="020B0503020204020204" pitchFamily="34" charset="-122"/>
                        </a:rPr>
                        <a:t>D4</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effectLst/>
                          <a:latin typeface="Arial" panose="020B0604020202020204" pitchFamily="34" charset="0"/>
                          <a:ea typeface="微软雅黑" panose="020B0503020204020204" pitchFamily="34" charset="-122"/>
                        </a:rPr>
                        <a:t>50</a:t>
                      </a:r>
                      <a:r>
                        <a:rPr lang="zh-CN" altLang="en-US" sz="1100" u="none" strike="noStrike" dirty="0">
                          <a:effectLst/>
                          <a:latin typeface="Arial" panose="020B0604020202020204" pitchFamily="34" charset="0"/>
                          <a:ea typeface="微软雅黑" panose="020B0503020204020204" pitchFamily="34" charset="-122"/>
                        </a:rPr>
                        <a:t>，</a:t>
                      </a:r>
                      <a:r>
                        <a:rPr lang="en-US" altLang="zh-CN" sz="1100" u="none" strike="noStrike" dirty="0">
                          <a:solidFill>
                            <a:srgbClr val="217800"/>
                          </a:solidFill>
                          <a:effectLst/>
                          <a:latin typeface="Arial" panose="020B0604020202020204" pitchFamily="34" charset="0"/>
                          <a:ea typeface="微软雅黑" panose="020B0503020204020204" pitchFamily="34" charset="-122"/>
                        </a:rPr>
                        <a:t>50</a:t>
                      </a:r>
                      <a:endParaRPr lang="zh-CN" alt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effectLst/>
                          <a:latin typeface="Arial" panose="020B0604020202020204" pitchFamily="34" charset="0"/>
                          <a:ea typeface="微软雅黑" panose="020B0503020204020204" pitchFamily="34" charset="-122"/>
                        </a:rPr>
                        <a:t>30,kitted </a:t>
                      </a:r>
                      <a:r>
                        <a:rPr lang="en-US" altLang="zh-CN" sz="1100" u="none" strike="noStrike" dirty="0">
                          <a:solidFill>
                            <a:srgbClr val="217800"/>
                          </a:solidFill>
                          <a:effectLst/>
                          <a:latin typeface="Arial" panose="020B0604020202020204" pitchFamily="34" charset="0"/>
                          <a:ea typeface="微软雅黑" panose="020B0503020204020204" pitchFamily="34" charset="-122"/>
                        </a:rPr>
                        <a:t>30</a:t>
                      </a:r>
                      <a:endParaRPr lang="zh-CN" altLang="en-US" sz="1100" b="0" i="0" u="none" strike="noStrike" dirty="0">
                        <a:solidFill>
                          <a:srgbClr val="2178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endParaRPr lang="zh-CN" alt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80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2700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300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a:effectLst/>
                          <a:latin typeface="Arial" panose="020B0604020202020204" pitchFamily="34" charset="0"/>
                          <a:ea typeface="微软雅黑" panose="020B0503020204020204" pitchFamily="34" charset="-122"/>
                        </a:rPr>
                        <a:t>NA</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a:effectLst/>
                          <a:latin typeface="Arial" panose="020B0604020202020204" pitchFamily="34" charset="0"/>
                          <a:ea typeface="微软雅黑" panose="020B0503020204020204" pitchFamily="34" charset="-122"/>
                        </a:rPr>
                        <a:t>CA</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346351"/>
                  </a:ext>
                </a:extLst>
              </a:tr>
              <a:tr h="223059">
                <a:tc>
                  <a:txBody>
                    <a:bodyPr/>
                    <a:lstStyle/>
                    <a:p>
                      <a:pPr algn="l" fontAlgn="b"/>
                      <a:r>
                        <a:rPr lang="en-US" sz="1100" u="none" strike="noStrike">
                          <a:effectLst/>
                          <a:latin typeface="Arial" panose="020B0604020202020204" pitchFamily="34" charset="0"/>
                          <a:ea typeface="微软雅黑" panose="020B0503020204020204" pitchFamily="34" charset="-122"/>
                        </a:rPr>
                        <a:t>D5</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effectLst/>
                          <a:latin typeface="Arial" panose="020B0604020202020204" pitchFamily="34" charset="0"/>
                          <a:ea typeface="微软雅黑" panose="020B0503020204020204" pitchFamily="34" charset="-122"/>
                        </a:rPr>
                        <a:t>70, </a:t>
                      </a:r>
                      <a:r>
                        <a:rPr lang="en-US" altLang="zh-CN" sz="1100" u="none" strike="noStrike" dirty="0">
                          <a:solidFill>
                            <a:srgbClr val="217800"/>
                          </a:solidFill>
                          <a:effectLst/>
                          <a:latin typeface="Arial" panose="020B0604020202020204" pitchFamily="34" charset="0"/>
                          <a:ea typeface="微软雅黑" panose="020B0503020204020204" pitchFamily="34" charset="-122"/>
                        </a:rPr>
                        <a:t>70</a:t>
                      </a:r>
                      <a:endParaRPr lang="zh-CN" altLang="en-US" sz="1100" b="0" i="0" u="none" strike="noStrike" dirty="0">
                        <a:solidFill>
                          <a:srgbClr val="2178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70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2700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300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a:effectLst/>
                          <a:latin typeface="Arial" panose="020B0604020202020204" pitchFamily="34" charset="0"/>
                          <a:ea typeface="微软雅黑" panose="020B0503020204020204" pitchFamily="34" charset="-122"/>
                        </a:rPr>
                        <a:t>NA</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a:effectLst/>
                          <a:latin typeface="Arial" panose="020B0604020202020204" pitchFamily="34" charset="0"/>
                          <a:ea typeface="微软雅黑" panose="020B0503020204020204" pitchFamily="34" charset="-122"/>
                        </a:rPr>
                        <a:t>CA</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4112652"/>
                  </a:ext>
                </a:extLst>
              </a:tr>
              <a:tr h="223059">
                <a:tc>
                  <a:txBody>
                    <a:bodyPr/>
                    <a:lstStyle/>
                    <a:p>
                      <a:pPr algn="l" fontAlgn="b"/>
                      <a:r>
                        <a:rPr lang="en-US" sz="1100" u="none" strike="noStrike">
                          <a:effectLst/>
                          <a:latin typeface="Arial" panose="020B0604020202020204" pitchFamily="34" charset="0"/>
                          <a:ea typeface="微软雅黑" panose="020B0503020204020204" pitchFamily="34" charset="-122"/>
                        </a:rPr>
                        <a:t>D6</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effectLst/>
                          <a:latin typeface="Arial" panose="020B0604020202020204" pitchFamily="34" charset="0"/>
                          <a:ea typeface="微软雅黑" panose="020B0503020204020204" pitchFamily="34" charset="-122"/>
                        </a:rPr>
                        <a:t>100</a:t>
                      </a:r>
                      <a:r>
                        <a:rPr lang="en-US" altLang="zh-CN" sz="1100" u="none" strike="noStrike" dirty="0">
                          <a:solidFill>
                            <a:srgbClr val="217800"/>
                          </a:solidFill>
                          <a:effectLst/>
                          <a:latin typeface="Arial" panose="020B0604020202020204" pitchFamily="34" charset="0"/>
                          <a:ea typeface="微软雅黑" panose="020B0503020204020204" pitchFamily="34" charset="-122"/>
                        </a:rPr>
                        <a:t>, 100</a:t>
                      </a:r>
                      <a:endParaRPr lang="zh-CN" altLang="en-US" sz="1100" b="0" i="0" u="none" strike="noStrike" dirty="0">
                        <a:solidFill>
                          <a:srgbClr val="2178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100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2700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dirty="0">
                          <a:effectLst/>
                          <a:latin typeface="Arial" panose="020B0604020202020204" pitchFamily="34" charset="0"/>
                          <a:ea typeface="微软雅黑" panose="020B0503020204020204" pitchFamily="34" charset="-122"/>
                        </a:rPr>
                        <a:t>700</a:t>
                      </a:r>
                      <a:endParaRPr lang="en-US" altLang="zh-CN"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dirty="0">
                          <a:effectLst/>
                          <a:latin typeface="Arial" panose="020B0604020202020204" pitchFamily="34" charset="0"/>
                          <a:ea typeface="微软雅黑" panose="020B0503020204020204" pitchFamily="34" charset="-122"/>
                        </a:rPr>
                        <a:t>300</a:t>
                      </a:r>
                      <a:endParaRPr lang="en-US" altLang="zh-CN"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a:effectLst/>
                          <a:latin typeface="Arial" panose="020B0604020202020204" pitchFamily="34" charset="0"/>
                          <a:ea typeface="微软雅黑" panose="020B0503020204020204" pitchFamily="34" charset="-122"/>
                        </a:rPr>
                        <a:t>NA</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a:effectLst/>
                          <a:latin typeface="Arial" panose="020B0604020202020204" pitchFamily="34" charset="0"/>
                          <a:ea typeface="微软雅黑" panose="020B0503020204020204" pitchFamily="34" charset="-122"/>
                        </a:rPr>
                        <a:t>CA</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3276526"/>
                  </a:ext>
                </a:extLst>
              </a:tr>
              <a:tr h="223059">
                <a:tc>
                  <a:txBody>
                    <a:bodyPr/>
                    <a:lstStyle/>
                    <a:p>
                      <a:pPr algn="l" fontAlgn="b"/>
                      <a:r>
                        <a:rPr lang="en-US" sz="1100" u="none" strike="noStrike">
                          <a:effectLst/>
                          <a:latin typeface="Arial" panose="020B0604020202020204" pitchFamily="34" charset="0"/>
                          <a:ea typeface="微软雅黑" panose="020B0503020204020204" pitchFamily="34" charset="-122"/>
                        </a:rPr>
                        <a:t>D7</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effectLst/>
                          <a:latin typeface="Arial" panose="020B0604020202020204" pitchFamily="34" charset="0"/>
                          <a:ea typeface="微软雅黑" panose="020B0503020204020204" pitchFamily="34" charset="-122"/>
                        </a:rPr>
                        <a:t>150, </a:t>
                      </a:r>
                      <a:r>
                        <a:rPr lang="en-US" altLang="zh-CN" sz="1100" u="none" strike="noStrike" dirty="0">
                          <a:solidFill>
                            <a:srgbClr val="217800"/>
                          </a:solidFill>
                          <a:effectLst/>
                          <a:latin typeface="Arial" panose="020B0604020202020204" pitchFamily="34" charset="0"/>
                          <a:ea typeface="微软雅黑" panose="020B0503020204020204" pitchFamily="34" charset="-122"/>
                        </a:rPr>
                        <a:t>150</a:t>
                      </a:r>
                      <a:endParaRPr lang="zh-CN" altLang="en-US" sz="1100" b="0" i="0" u="none" strike="noStrike" dirty="0">
                        <a:solidFill>
                          <a:srgbClr val="2178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150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2700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400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a:effectLst/>
                          <a:latin typeface="Arial" panose="020B0604020202020204" pitchFamily="34" charset="0"/>
                          <a:ea typeface="微软雅黑" panose="020B0503020204020204" pitchFamily="34" charset="-122"/>
                        </a:rPr>
                        <a:t>NA</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b="1" i="0" u="none" strike="noStrike" dirty="0">
                          <a:solidFill>
                            <a:schemeClr val="tx1"/>
                          </a:solidFill>
                          <a:effectLst/>
                          <a:latin typeface="Arial" panose="020B0604020202020204" pitchFamily="34" charset="0"/>
                          <a:ea typeface="微软雅黑" panose="020B0503020204020204" pitchFamily="34" charset="-122"/>
                        </a:rPr>
                        <a:t>US</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6578182"/>
                  </a:ext>
                </a:extLst>
              </a:tr>
              <a:tr h="555670">
                <a:tc>
                  <a:txBody>
                    <a:bodyPr/>
                    <a:lstStyle/>
                    <a:p>
                      <a:pPr algn="l" fontAlgn="b"/>
                      <a:r>
                        <a:rPr lang="en-US" sz="1100" u="none" strike="noStrike">
                          <a:effectLst/>
                          <a:latin typeface="Arial" panose="020B0604020202020204" pitchFamily="34" charset="0"/>
                          <a:ea typeface="微软雅黑" panose="020B0503020204020204" pitchFamily="34" charset="-122"/>
                        </a:rPr>
                        <a:t>D8</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effectLst/>
                          <a:latin typeface="Arial" panose="020B0604020202020204" pitchFamily="34" charset="0"/>
                          <a:ea typeface="微软雅黑" panose="020B0503020204020204" pitchFamily="34" charset="-122"/>
                        </a:rPr>
                        <a:t>150,</a:t>
                      </a:r>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solidFill>
                            <a:srgbClr val="FF0000"/>
                          </a:solidFill>
                          <a:effectLst/>
                          <a:latin typeface="Arial" panose="020B0604020202020204" pitchFamily="34" charset="0"/>
                          <a:ea typeface="微软雅黑" panose="020B0503020204020204" pitchFamily="34" charset="-122"/>
                        </a:rPr>
                        <a:t>Short 100, </a:t>
                      </a:r>
                      <a:r>
                        <a:rPr lang="en-US" altLang="zh-CN" sz="1100" u="none" strike="noStrike" dirty="0">
                          <a:solidFill>
                            <a:srgbClr val="217800"/>
                          </a:solidFill>
                          <a:effectLst/>
                          <a:latin typeface="Arial" panose="020B0604020202020204" pitchFamily="34" charset="0"/>
                          <a:ea typeface="微软雅黑" panose="020B0503020204020204" pitchFamily="34" charset="-122"/>
                        </a:rPr>
                        <a:t>150</a:t>
                      </a:r>
                      <a:r>
                        <a:rPr lang="zh-CN" altLang="en-US" sz="1100" u="none" strike="noStrike" dirty="0">
                          <a:effectLst/>
                          <a:latin typeface="Arial" panose="020B0604020202020204" pitchFamily="34" charset="0"/>
                          <a:ea typeface="微软雅黑" panose="020B0503020204020204" pitchFamily="34" charset="-122"/>
                        </a:rPr>
                        <a:t>）</a:t>
                      </a:r>
                      <a:endParaRPr lang="zh-CN" alt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endParaRPr lang="zh-CN" alt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250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2700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400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a:effectLst/>
                          <a:latin typeface="Arial" panose="020B0604020202020204" pitchFamily="34" charset="0"/>
                          <a:ea typeface="微软雅黑" panose="020B0503020204020204" pitchFamily="34" charset="-122"/>
                        </a:rPr>
                        <a:t>NA</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b="1" i="0" u="none" strike="noStrike" dirty="0">
                          <a:solidFill>
                            <a:schemeClr val="tx1"/>
                          </a:solidFill>
                          <a:effectLst/>
                          <a:latin typeface="Arial" panose="020B0604020202020204" pitchFamily="34" charset="0"/>
                          <a:ea typeface="微软雅黑" panose="020B0503020204020204" pitchFamily="34" charset="-122"/>
                        </a:rPr>
                        <a:t>US</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9868292"/>
                  </a:ext>
                </a:extLst>
              </a:tr>
              <a:tr h="318915">
                <a:tc>
                  <a:txBody>
                    <a:bodyPr/>
                    <a:lstStyle/>
                    <a:p>
                      <a:pPr algn="l" fontAlgn="b"/>
                      <a:r>
                        <a:rPr lang="en-US" sz="1100" u="none" strike="noStrike">
                          <a:effectLst/>
                          <a:latin typeface="Arial" panose="020B0604020202020204" pitchFamily="34" charset="0"/>
                          <a:ea typeface="微软雅黑" panose="020B0503020204020204" pitchFamily="34" charset="-122"/>
                        </a:rPr>
                        <a:t>D9</a:t>
                      </a:r>
                      <a:endParaRPr 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endParaRPr lang="zh-CN" alt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r>
                        <a:rPr lang="en-US" altLang="zh-CN" sz="1100" u="none" strike="noStrike" dirty="0">
                          <a:solidFill>
                            <a:srgbClr val="FF0000"/>
                          </a:solidFill>
                          <a:effectLst/>
                          <a:latin typeface="Arial" panose="020B0604020202020204" pitchFamily="34" charset="0"/>
                          <a:ea typeface="微软雅黑" panose="020B0503020204020204" pitchFamily="34" charset="-122"/>
                        </a:rPr>
                        <a:t>Short : 1200</a:t>
                      </a:r>
                      <a:endParaRPr lang="zh-CN" altLang="en-US" sz="1100" b="0" i="0" u="none" strike="noStrike" dirty="0">
                        <a:solidFill>
                          <a:srgbClr val="FF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a:effectLst/>
                          <a:latin typeface="Arial" panose="020B0604020202020204" pitchFamily="34" charset="0"/>
                          <a:ea typeface="微软雅黑" panose="020B0503020204020204" pitchFamily="34" charset="-122"/>
                        </a:rPr>
                        <a:t>　</a:t>
                      </a:r>
                      <a:endParaRPr lang="zh-CN" altLang="en-US"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1200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2700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1200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100" u="none" strike="noStrike">
                          <a:effectLst/>
                          <a:latin typeface="Arial" panose="020B0604020202020204" pitchFamily="34" charset="0"/>
                          <a:ea typeface="微软雅黑" panose="020B0503020204020204" pitchFamily="34" charset="-122"/>
                        </a:rPr>
                        <a:t>1200</a:t>
                      </a:r>
                      <a:endParaRPr lang="en-US" altLang="zh-CN" sz="1100" b="0" i="0" u="none" strike="noStrike">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100" u="none" strike="noStrike" dirty="0">
                          <a:effectLst/>
                          <a:latin typeface="Arial" panose="020B0604020202020204" pitchFamily="34" charset="0"/>
                          <a:ea typeface="微软雅黑" panose="020B0503020204020204" pitchFamily="34" charset="-122"/>
                        </a:rPr>
                        <a:t>EUR</a:t>
                      </a:r>
                      <a:endParaRPr 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100" u="none" strike="noStrike" dirty="0">
                          <a:effectLst/>
                          <a:latin typeface="Arial" panose="020B0604020202020204" pitchFamily="34" charset="0"/>
                          <a:ea typeface="微软雅黑" panose="020B0503020204020204" pitchFamily="34" charset="-122"/>
                        </a:rPr>
                        <a:t>　</a:t>
                      </a:r>
                      <a:endParaRPr lang="zh-CN" altLang="en-US" sz="1100" b="0" i="0" u="none" strike="noStrike" dirty="0">
                        <a:solidFill>
                          <a:srgbClr val="00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74780811"/>
                  </a:ext>
                </a:extLst>
              </a:tr>
            </a:tbl>
          </a:graphicData>
        </a:graphic>
      </p:graphicFrame>
      <p:sp>
        <p:nvSpPr>
          <p:cNvPr id="6" name="文本框 5">
            <a:extLst>
              <a:ext uri="{FF2B5EF4-FFF2-40B4-BE49-F238E27FC236}">
                <a16:creationId xmlns:a16="http://schemas.microsoft.com/office/drawing/2014/main" id="{96F0FCEB-9F73-316D-BF4C-3234DCD9BCA1}"/>
              </a:ext>
            </a:extLst>
          </p:cNvPr>
          <p:cNvSpPr txBox="1"/>
          <p:nvPr/>
        </p:nvSpPr>
        <p:spPr>
          <a:xfrm>
            <a:off x="867473" y="845683"/>
            <a:ext cx="4931028"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FIFS: First Come First Served, first means sequence.</a:t>
            </a:r>
            <a:endParaRPr kumimoji="0" lang="zh-CN" altLang="en-US" sz="12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7" name="矩形 6">
            <a:extLst>
              <a:ext uri="{FF2B5EF4-FFF2-40B4-BE49-F238E27FC236}">
                <a16:creationId xmlns:a16="http://schemas.microsoft.com/office/drawing/2014/main" id="{AD9E1907-CDA2-8789-43ED-52769DF8611B}"/>
              </a:ext>
            </a:extLst>
          </p:cNvPr>
          <p:cNvSpPr/>
          <p:nvPr/>
        </p:nvSpPr>
        <p:spPr>
          <a:xfrm>
            <a:off x="1604021" y="1326966"/>
            <a:ext cx="520663" cy="276998"/>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PRC</a:t>
            </a:r>
            <a:endParaRPr kumimoji="0" lang="zh-CN" altLang="en-US" sz="11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8" name="矩形 7">
            <a:extLst>
              <a:ext uri="{FF2B5EF4-FFF2-40B4-BE49-F238E27FC236}">
                <a16:creationId xmlns:a16="http://schemas.microsoft.com/office/drawing/2014/main" id="{446C72CA-0FFE-8EA8-D9BC-29613C67C587}"/>
              </a:ext>
            </a:extLst>
          </p:cNvPr>
          <p:cNvSpPr/>
          <p:nvPr/>
        </p:nvSpPr>
        <p:spPr>
          <a:xfrm>
            <a:off x="1010344" y="1736791"/>
            <a:ext cx="520663" cy="276998"/>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B</a:t>
            </a:r>
            <a:endParaRPr kumimoji="0" lang="zh-CN" altLang="en-US" sz="11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9" name="矩形 8">
            <a:extLst>
              <a:ext uri="{FF2B5EF4-FFF2-40B4-BE49-F238E27FC236}">
                <a16:creationId xmlns:a16="http://schemas.microsoft.com/office/drawing/2014/main" id="{FB5F69F6-9047-827A-5A12-EC663CE9D499}"/>
              </a:ext>
            </a:extLst>
          </p:cNvPr>
          <p:cNvSpPr/>
          <p:nvPr/>
        </p:nvSpPr>
        <p:spPr>
          <a:xfrm>
            <a:off x="2129196" y="1736791"/>
            <a:ext cx="520663" cy="276998"/>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C</a:t>
            </a:r>
            <a:endParaRPr kumimoji="0" lang="zh-CN" altLang="en-US" sz="11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10" name="连接符: 肘形 9">
            <a:extLst>
              <a:ext uri="{FF2B5EF4-FFF2-40B4-BE49-F238E27FC236}">
                <a16:creationId xmlns:a16="http://schemas.microsoft.com/office/drawing/2014/main" id="{7E802C21-4A93-DE7A-8A84-45F4A0981106}"/>
              </a:ext>
            </a:extLst>
          </p:cNvPr>
          <p:cNvCxnSpPr>
            <a:stCxn id="7" idx="1"/>
            <a:endCxn id="8" idx="0"/>
          </p:cNvCxnSpPr>
          <p:nvPr/>
        </p:nvCxnSpPr>
        <p:spPr>
          <a:xfrm rot="10800000" flipV="1">
            <a:off x="1270677" y="1465465"/>
            <a:ext cx="333345" cy="271326"/>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连接符: 肘形 10">
            <a:extLst>
              <a:ext uri="{FF2B5EF4-FFF2-40B4-BE49-F238E27FC236}">
                <a16:creationId xmlns:a16="http://schemas.microsoft.com/office/drawing/2014/main" id="{34676DA1-196A-C825-3725-1DBF4030E1AE}"/>
              </a:ext>
            </a:extLst>
          </p:cNvPr>
          <p:cNvCxnSpPr>
            <a:stCxn id="7" idx="3"/>
            <a:endCxn id="9" idx="0"/>
          </p:cNvCxnSpPr>
          <p:nvPr/>
        </p:nvCxnSpPr>
        <p:spPr>
          <a:xfrm>
            <a:off x="2124684" y="1465465"/>
            <a:ext cx="264844" cy="271326"/>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12" name="矩形 11">
            <a:extLst>
              <a:ext uri="{FF2B5EF4-FFF2-40B4-BE49-F238E27FC236}">
                <a16:creationId xmlns:a16="http://schemas.microsoft.com/office/drawing/2014/main" id="{EE889DF9-21BA-0B4A-9490-1FB7042D926B}"/>
              </a:ext>
            </a:extLst>
          </p:cNvPr>
          <p:cNvSpPr/>
          <p:nvPr/>
        </p:nvSpPr>
        <p:spPr>
          <a:xfrm>
            <a:off x="3650958" y="1324129"/>
            <a:ext cx="663696" cy="27699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Other</a:t>
            </a:r>
            <a:r>
              <a:rPr lang="en-US" altLang="zh-CN" sz="1100" dirty="0">
                <a:solidFill>
                  <a:schemeClr val="tx1"/>
                </a:solidFill>
                <a:latin typeface="Arial" panose="020B0604020202020204" pitchFamily="34" charset="0"/>
                <a:ea typeface="微软雅黑" panose="020B0503020204020204" pitchFamily="34" charset="-122"/>
              </a:rPr>
              <a:t>s</a:t>
            </a:r>
            <a:endParaRPr kumimoji="0" lang="zh-CN" altLang="en-US" sz="11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13" name="矩形 12">
            <a:extLst>
              <a:ext uri="{FF2B5EF4-FFF2-40B4-BE49-F238E27FC236}">
                <a16:creationId xmlns:a16="http://schemas.microsoft.com/office/drawing/2014/main" id="{D7A51B9D-80D3-8304-47B0-4D815D749A53}"/>
              </a:ext>
            </a:extLst>
          </p:cNvPr>
          <p:cNvSpPr/>
          <p:nvPr/>
        </p:nvSpPr>
        <p:spPr>
          <a:xfrm>
            <a:off x="3057281" y="1739627"/>
            <a:ext cx="520663" cy="276998"/>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B</a:t>
            </a:r>
            <a:endParaRPr kumimoji="0" lang="zh-CN" altLang="en-US" sz="11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14" name="矩形 13">
            <a:extLst>
              <a:ext uri="{FF2B5EF4-FFF2-40B4-BE49-F238E27FC236}">
                <a16:creationId xmlns:a16="http://schemas.microsoft.com/office/drawing/2014/main" id="{DAF938E1-AE45-0894-B85D-A7DB98E18D9E}"/>
              </a:ext>
            </a:extLst>
          </p:cNvPr>
          <p:cNvSpPr/>
          <p:nvPr/>
        </p:nvSpPr>
        <p:spPr>
          <a:xfrm>
            <a:off x="4391724" y="1724063"/>
            <a:ext cx="520663" cy="276998"/>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D</a:t>
            </a:r>
            <a:endParaRPr kumimoji="0" lang="zh-CN" altLang="en-US" sz="11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15" name="连接符: 肘形 14">
            <a:extLst>
              <a:ext uri="{FF2B5EF4-FFF2-40B4-BE49-F238E27FC236}">
                <a16:creationId xmlns:a16="http://schemas.microsoft.com/office/drawing/2014/main" id="{FFD91D89-9004-DFD5-D74C-0061E73F1911}"/>
              </a:ext>
            </a:extLst>
          </p:cNvPr>
          <p:cNvCxnSpPr>
            <a:cxnSpLocks/>
            <a:stCxn id="12" idx="1"/>
            <a:endCxn id="13" idx="0"/>
          </p:cNvCxnSpPr>
          <p:nvPr/>
        </p:nvCxnSpPr>
        <p:spPr>
          <a:xfrm rot="10800000" flipV="1">
            <a:off x="3317614" y="1462629"/>
            <a:ext cx="333345" cy="276998"/>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6" name="连接符: 肘形 15">
            <a:extLst>
              <a:ext uri="{FF2B5EF4-FFF2-40B4-BE49-F238E27FC236}">
                <a16:creationId xmlns:a16="http://schemas.microsoft.com/office/drawing/2014/main" id="{FC3C2101-EA24-1FA7-B886-CD8949EA63C0}"/>
              </a:ext>
            </a:extLst>
          </p:cNvPr>
          <p:cNvCxnSpPr>
            <a:cxnSpLocks/>
            <a:stCxn id="12" idx="3"/>
            <a:endCxn id="14" idx="0"/>
          </p:cNvCxnSpPr>
          <p:nvPr/>
        </p:nvCxnSpPr>
        <p:spPr>
          <a:xfrm>
            <a:off x="4314654" y="1462629"/>
            <a:ext cx="337402" cy="261434"/>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19" name="组合 18">
            <a:extLst>
              <a:ext uri="{FF2B5EF4-FFF2-40B4-BE49-F238E27FC236}">
                <a16:creationId xmlns:a16="http://schemas.microsoft.com/office/drawing/2014/main" id="{BB9AF01D-1667-F71E-D5AE-0A1CC67705B2}"/>
              </a:ext>
            </a:extLst>
          </p:cNvPr>
          <p:cNvGrpSpPr/>
          <p:nvPr/>
        </p:nvGrpSpPr>
        <p:grpSpPr>
          <a:xfrm>
            <a:off x="766689" y="3727938"/>
            <a:ext cx="4234376" cy="914400"/>
            <a:chOff x="766689" y="3727938"/>
            <a:chExt cx="4234376" cy="759656"/>
          </a:xfrm>
        </p:grpSpPr>
        <p:sp>
          <p:nvSpPr>
            <p:cNvPr id="3" name="矩形: 圆角 2">
              <a:extLst>
                <a:ext uri="{FF2B5EF4-FFF2-40B4-BE49-F238E27FC236}">
                  <a16:creationId xmlns:a16="http://schemas.microsoft.com/office/drawing/2014/main" id="{F01FEDC9-0396-47AD-520C-FDF0082EA79B}"/>
                </a:ext>
              </a:extLst>
            </p:cNvPr>
            <p:cNvSpPr/>
            <p:nvPr/>
          </p:nvSpPr>
          <p:spPr>
            <a:xfrm>
              <a:off x="766689" y="3727938"/>
              <a:ext cx="4234376" cy="759656"/>
            </a:xfrm>
            <a:prstGeom prst="roundRect">
              <a:avLst/>
            </a:prstGeom>
            <a:solidFill>
              <a:schemeClr val="accent1">
                <a:lumMod val="60000"/>
                <a:lumOff val="40000"/>
                <a:alpha val="28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endParaRPr lang="zh-CN" altLang="en-US" sz="1600" b="1" dirty="0"/>
            </a:p>
          </p:txBody>
        </p:sp>
        <p:sp>
          <p:nvSpPr>
            <p:cNvPr id="18" name="文本框 17">
              <a:extLst>
                <a:ext uri="{FF2B5EF4-FFF2-40B4-BE49-F238E27FC236}">
                  <a16:creationId xmlns:a16="http://schemas.microsoft.com/office/drawing/2014/main" id="{308B5C40-5B32-0E86-04B6-13898E6E98A2}"/>
                </a:ext>
              </a:extLst>
            </p:cNvPr>
            <p:cNvSpPr txBox="1"/>
            <p:nvPr/>
          </p:nvSpPr>
          <p:spPr>
            <a:xfrm>
              <a:off x="821057" y="3765280"/>
              <a:ext cx="1646654" cy="255692"/>
            </a:xfrm>
            <a:prstGeom prst="rect">
              <a:avLst/>
            </a:prstGeom>
            <a:noFill/>
          </p:spPr>
          <p:txBody>
            <a:bodyPr wrap="square" rtlCol="0">
              <a:spAutoFit/>
            </a:bodyPr>
            <a:lstStyle/>
            <a:p>
              <a:r>
                <a:rPr lang="zh-CN" altLang="en-US" sz="1400" b="1" dirty="0">
                  <a:latin typeface="Arial" panose="020B0604020202020204" pitchFamily="34" charset="0"/>
                  <a:ea typeface="微软雅黑" panose="020B0503020204020204" pitchFamily="34" charset="-122"/>
                </a:rPr>
                <a:t>缺乏柔性</a:t>
              </a:r>
            </a:p>
          </p:txBody>
        </p:sp>
      </p:grpSp>
      <p:grpSp>
        <p:nvGrpSpPr>
          <p:cNvPr id="22" name="组合 21">
            <a:extLst>
              <a:ext uri="{FF2B5EF4-FFF2-40B4-BE49-F238E27FC236}">
                <a16:creationId xmlns:a16="http://schemas.microsoft.com/office/drawing/2014/main" id="{F4212ADE-EF8F-19B1-3033-BEDFE5315D54}"/>
              </a:ext>
            </a:extLst>
          </p:cNvPr>
          <p:cNvGrpSpPr/>
          <p:nvPr/>
        </p:nvGrpSpPr>
        <p:grpSpPr>
          <a:xfrm>
            <a:off x="2952486" y="5828713"/>
            <a:ext cx="4234376" cy="914400"/>
            <a:chOff x="2952486" y="5828713"/>
            <a:chExt cx="4234376" cy="914400"/>
          </a:xfrm>
        </p:grpSpPr>
        <p:sp>
          <p:nvSpPr>
            <p:cNvPr id="20" name="矩形: 圆角 19">
              <a:extLst>
                <a:ext uri="{FF2B5EF4-FFF2-40B4-BE49-F238E27FC236}">
                  <a16:creationId xmlns:a16="http://schemas.microsoft.com/office/drawing/2014/main" id="{29BD5B43-A4AA-EF7F-FAD6-7CBB14264EC3}"/>
                </a:ext>
              </a:extLst>
            </p:cNvPr>
            <p:cNvSpPr/>
            <p:nvPr/>
          </p:nvSpPr>
          <p:spPr>
            <a:xfrm>
              <a:off x="2952486" y="5828713"/>
              <a:ext cx="4234376" cy="914400"/>
            </a:xfrm>
            <a:prstGeom prst="roundRect">
              <a:avLst/>
            </a:prstGeom>
            <a:solidFill>
              <a:schemeClr val="accent1">
                <a:lumMod val="60000"/>
                <a:lumOff val="40000"/>
                <a:alpha val="28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endParaRPr lang="zh-CN" altLang="en-US" sz="1600" b="1" dirty="0"/>
            </a:p>
          </p:txBody>
        </p:sp>
        <p:sp>
          <p:nvSpPr>
            <p:cNvPr id="21" name="文本框 20">
              <a:extLst>
                <a:ext uri="{FF2B5EF4-FFF2-40B4-BE49-F238E27FC236}">
                  <a16:creationId xmlns:a16="http://schemas.microsoft.com/office/drawing/2014/main" id="{819E4929-0ADD-7CF5-48A5-4D32C114349C}"/>
                </a:ext>
              </a:extLst>
            </p:cNvPr>
            <p:cNvSpPr txBox="1"/>
            <p:nvPr/>
          </p:nvSpPr>
          <p:spPr>
            <a:xfrm>
              <a:off x="3180726" y="5828713"/>
              <a:ext cx="3241176" cy="307777"/>
            </a:xfrm>
            <a:prstGeom prst="rect">
              <a:avLst/>
            </a:prstGeom>
            <a:noFill/>
          </p:spPr>
          <p:txBody>
            <a:bodyPr wrap="square" rtlCol="0">
              <a:spAutoFit/>
            </a:bodyPr>
            <a:lstStyle/>
            <a:p>
              <a:r>
                <a:rPr lang="zh-CN" altLang="en-US" sz="1400" b="1" dirty="0">
                  <a:latin typeface="Arial" panose="020B0604020202020204" pitchFamily="34" charset="0"/>
                  <a:ea typeface="微软雅黑" panose="020B0503020204020204" pitchFamily="34" charset="-122"/>
                </a:rPr>
                <a:t>不公平，长期来看丢失市场</a:t>
              </a:r>
            </a:p>
          </p:txBody>
        </p:sp>
      </p:grpSp>
      <p:sp>
        <p:nvSpPr>
          <p:cNvPr id="23" name="对话气泡: 椭圆形 22">
            <a:extLst>
              <a:ext uri="{FF2B5EF4-FFF2-40B4-BE49-F238E27FC236}">
                <a16:creationId xmlns:a16="http://schemas.microsoft.com/office/drawing/2014/main" id="{4A210B15-1759-CD95-B894-F8159DCC9A08}"/>
              </a:ext>
            </a:extLst>
          </p:cNvPr>
          <p:cNvSpPr/>
          <p:nvPr/>
        </p:nvSpPr>
        <p:spPr>
          <a:xfrm>
            <a:off x="6899065" y="2420149"/>
            <a:ext cx="1062237" cy="328526"/>
          </a:xfrm>
          <a:prstGeom prst="wedgeEllipseCallout">
            <a:avLst>
              <a:gd name="adj1" fmla="val -62212"/>
              <a:gd name="adj2" fmla="val 62500"/>
            </a:avLst>
          </a:prstGeom>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Gating</a:t>
            </a:r>
            <a:endParaRPr lang="zh-CN" altLang="en-US" sz="1050" b="1" dirty="0">
              <a:latin typeface="Arial" panose="020B0604020202020204" pitchFamily="34" charset="0"/>
              <a:ea typeface="微软雅黑" panose="020B0503020204020204" pitchFamily="34" charset="-122"/>
            </a:endParaRPr>
          </a:p>
        </p:txBody>
      </p:sp>
      <p:sp>
        <p:nvSpPr>
          <p:cNvPr id="26" name="文本框 25">
            <a:extLst>
              <a:ext uri="{FF2B5EF4-FFF2-40B4-BE49-F238E27FC236}">
                <a16:creationId xmlns:a16="http://schemas.microsoft.com/office/drawing/2014/main" id="{E0B12F0C-BE12-EE63-FE65-AA503FB9381F}"/>
              </a:ext>
            </a:extLst>
          </p:cNvPr>
          <p:cNvSpPr txBox="1"/>
          <p:nvPr/>
        </p:nvSpPr>
        <p:spPr>
          <a:xfrm>
            <a:off x="5661614" y="1009111"/>
            <a:ext cx="5469974" cy="584775"/>
          </a:xfrm>
          <a:prstGeom prst="rect">
            <a:avLst/>
          </a:prstGeom>
          <a:noFill/>
        </p:spPr>
        <p:txBody>
          <a:bodyPr wrap="square" rtlCol="0">
            <a:spAutoFit/>
          </a:bodyPr>
          <a:lstStyle/>
          <a:p>
            <a:pPr marL="285750" indent="-285750">
              <a:buFont typeface="Arial" panose="020B0604020202020204" pitchFamily="34" charset="0"/>
              <a:buChar char="•"/>
            </a:pPr>
            <a:r>
              <a:rPr lang="zh-CN" altLang="en-US" sz="1600" dirty="0">
                <a:latin typeface="Arial" panose="020B0604020202020204" pitchFamily="34" charset="0"/>
                <a:ea typeface="微软雅黑" panose="020B0503020204020204" pitchFamily="34" charset="-122"/>
              </a:rPr>
              <a:t>当我们面对资源紧张时，优化意味着长短期兼顾</a:t>
            </a:r>
            <a:endParaRPr lang="en-US" altLang="zh-CN" sz="1600" dirty="0">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r>
              <a:rPr lang="zh-CN" altLang="en-US" sz="1600" dirty="0">
                <a:latin typeface="Arial" panose="020B0604020202020204" pitchFamily="34" charset="0"/>
                <a:ea typeface="微软雅黑" panose="020B0503020204020204" pitchFamily="34" charset="-122"/>
              </a:rPr>
              <a:t>短期意味着战略有先，长期意味着公平公正</a:t>
            </a:r>
          </a:p>
        </p:txBody>
      </p:sp>
    </p:spTree>
    <p:extLst>
      <p:ext uri="{BB962C8B-B14F-4D97-AF65-F5344CB8AC3E}">
        <p14:creationId xmlns:p14="http://schemas.microsoft.com/office/powerpoint/2010/main" val="2070524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6"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25DF9D-89D1-8155-0831-AFA71836BD87}"/>
            </a:ext>
          </a:extLst>
        </p:cNvPr>
        <p:cNvGrpSpPr/>
        <p:nvPr/>
      </p:nvGrpSpPr>
      <p:grpSpPr>
        <a:xfrm>
          <a:off x="0" y="0"/>
          <a:ext cx="0" cy="0"/>
          <a:chOff x="0" y="0"/>
          <a:chExt cx="0" cy="0"/>
        </a:xfrm>
      </p:grpSpPr>
      <p:sp>
        <p:nvSpPr>
          <p:cNvPr id="5" name="标题 1">
            <a:extLst>
              <a:ext uri="{FF2B5EF4-FFF2-40B4-BE49-F238E27FC236}">
                <a16:creationId xmlns:a16="http://schemas.microsoft.com/office/drawing/2014/main" id="{DE8EE719-0926-34B1-E6E2-A2D93B53C57F}"/>
              </a:ext>
            </a:extLst>
          </p:cNvPr>
          <p:cNvSpPr>
            <a:spLocks noGrp="1"/>
          </p:cNvSpPr>
          <p:nvPr>
            <p:ph type="title"/>
          </p:nvPr>
        </p:nvSpPr>
        <p:spPr/>
        <p:txBody>
          <a:bodyPr/>
          <a:lstStyle/>
          <a:p>
            <a:r>
              <a:rPr lang="en-US" altLang="zh-CN" sz="2800" dirty="0">
                <a:latin typeface="Arial" panose="020B0604020202020204" pitchFamily="34" charset="0"/>
                <a:ea typeface="微软雅黑" panose="020B0503020204020204" pitchFamily="34" charset="-122"/>
              </a:rPr>
              <a:t>Allocation – Examples </a:t>
            </a:r>
            <a:r>
              <a:rPr lang="zh-CN" altLang="en-US" sz="2800" dirty="0">
                <a:latin typeface="Arial" panose="020B0604020202020204" pitchFamily="34" charset="0"/>
                <a:ea typeface="微软雅黑" panose="020B0503020204020204" pitchFamily="34" charset="-122"/>
              </a:rPr>
              <a:t>战略优先，公平公正</a:t>
            </a:r>
            <a:endParaRPr lang="zh-CN" altLang="en-US" dirty="0">
              <a:latin typeface="Arial" panose="020B0604020202020204" pitchFamily="34" charset="0"/>
              <a:ea typeface="微软雅黑" panose="020B0503020204020204" pitchFamily="34" charset="-122"/>
            </a:endParaRPr>
          </a:p>
        </p:txBody>
      </p:sp>
      <p:grpSp>
        <p:nvGrpSpPr>
          <p:cNvPr id="183" name="组合 182">
            <a:extLst>
              <a:ext uri="{FF2B5EF4-FFF2-40B4-BE49-F238E27FC236}">
                <a16:creationId xmlns:a16="http://schemas.microsoft.com/office/drawing/2014/main" id="{D06244EC-ED08-A035-E33B-6C920EDD1C1C}"/>
              </a:ext>
            </a:extLst>
          </p:cNvPr>
          <p:cNvGrpSpPr/>
          <p:nvPr/>
        </p:nvGrpSpPr>
        <p:grpSpPr>
          <a:xfrm>
            <a:off x="706417" y="817999"/>
            <a:ext cx="7073138" cy="1468337"/>
            <a:chOff x="904581" y="1140079"/>
            <a:chExt cx="4883031" cy="1358913"/>
          </a:xfrm>
        </p:grpSpPr>
        <p:sp>
          <p:nvSpPr>
            <p:cNvPr id="196" name="1">
              <a:extLst>
                <a:ext uri="{FF2B5EF4-FFF2-40B4-BE49-F238E27FC236}">
                  <a16:creationId xmlns:a16="http://schemas.microsoft.com/office/drawing/2014/main" id="{D0B2953D-D8AE-0740-391B-D77100BE6B53}"/>
                </a:ext>
              </a:extLst>
            </p:cNvPr>
            <p:cNvSpPr/>
            <p:nvPr>
              <p:custDataLst>
                <p:tags r:id="rId11"/>
              </p:custDataLst>
            </p:nvPr>
          </p:nvSpPr>
          <p:spPr>
            <a:xfrm>
              <a:off x="909643" y="1141058"/>
              <a:ext cx="4877969" cy="1100943"/>
            </a:xfrm>
            <a:prstGeom prst="rect">
              <a:avLst/>
            </a:prstGeom>
            <a:solidFill>
              <a:schemeClr val="bg1"/>
            </a:solidFill>
            <a:ln w="6350">
              <a:solidFill>
                <a:schemeClr val="tx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a:solidFill>
                  <a:srgbClr val="000000"/>
                </a:solidFill>
              </a:endParaRPr>
            </a:p>
          </p:txBody>
        </p:sp>
        <p:sp>
          <p:nvSpPr>
            <p:cNvPr id="197" name="Title-1">
              <a:extLst>
                <a:ext uri="{FF2B5EF4-FFF2-40B4-BE49-F238E27FC236}">
                  <a16:creationId xmlns:a16="http://schemas.microsoft.com/office/drawing/2014/main" id="{9456A09E-F96E-ADEF-EC51-139E05E62018}"/>
                </a:ext>
              </a:extLst>
            </p:cNvPr>
            <p:cNvSpPr>
              <a:spLocks/>
            </p:cNvSpPr>
            <p:nvPr>
              <p:custDataLst>
                <p:tags r:id="rId12"/>
              </p:custDataLst>
            </p:nvPr>
          </p:nvSpPr>
          <p:spPr>
            <a:xfrm>
              <a:off x="1495060" y="1140079"/>
              <a:ext cx="3960000" cy="5258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lvl="1"/>
              <a:r>
                <a:rPr lang="zh-CN" altLang="en-US" b="1">
                  <a:solidFill>
                    <a:schemeClr val="accent1"/>
                  </a:solidFill>
                  <a:latin typeface="Arial" panose="020B0604020202020204" pitchFamily="34" charset="0"/>
                  <a:ea typeface="微软雅黑" panose="020B0503020204020204" pitchFamily="34" charset="-122"/>
                  <a:sym typeface="Arial" panose="020B0604020202020204" pitchFamily="34" charset="0"/>
                </a:rPr>
                <a:t>识别</a:t>
              </a:r>
              <a:r>
                <a:rPr lang="en-US" altLang="zh-CN" b="1">
                  <a:solidFill>
                    <a:schemeClr val="accent1"/>
                  </a:solidFill>
                  <a:latin typeface="Arial" panose="020B0604020202020204" pitchFamily="34" charset="0"/>
                  <a:ea typeface="微软雅黑" panose="020B0503020204020204" pitchFamily="34" charset="-122"/>
                  <a:sym typeface="Arial" panose="020B0604020202020204" pitchFamily="34" charset="0"/>
                </a:rPr>
                <a:t>Gating</a:t>
              </a:r>
              <a:endParaRPr lang="en-US" altLang="zh-CN" b="1" dirty="0">
                <a:solidFill>
                  <a:schemeClr val="accent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8" name="Body-1">
              <a:extLst>
                <a:ext uri="{FF2B5EF4-FFF2-40B4-BE49-F238E27FC236}">
                  <a16:creationId xmlns:a16="http://schemas.microsoft.com/office/drawing/2014/main" id="{AC123C3B-A3C9-B9D9-812D-FFEDB0DDC116}"/>
                </a:ext>
              </a:extLst>
            </p:cNvPr>
            <p:cNvSpPr>
              <a:spLocks/>
            </p:cNvSpPr>
            <p:nvPr>
              <p:custDataLst>
                <p:tags r:id="rId13"/>
              </p:custDataLst>
            </p:nvPr>
          </p:nvSpPr>
          <p:spPr>
            <a:xfrm>
              <a:off x="1495060" y="1654869"/>
              <a:ext cx="3960000" cy="8441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20000"/>
                </a:lnSpc>
                <a:buSzPct val="100000"/>
                <a:buFont typeface="Arial" panose="020B0604020202020204" pitchFamily="34" charset="0"/>
                <a:buChar char="•"/>
                <a:defRPr/>
              </a:pP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B</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为</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Gating, </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总需求</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2700</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，供应仅为</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1700</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p:txBody>
        </p:sp>
        <p:sp>
          <p:nvSpPr>
            <p:cNvPr id="199" name="Index-1">
              <a:extLst>
                <a:ext uri="{FF2B5EF4-FFF2-40B4-BE49-F238E27FC236}">
                  <a16:creationId xmlns:a16="http://schemas.microsoft.com/office/drawing/2014/main" id="{F74CA94F-5414-E159-1A8C-AC3844823967}"/>
                </a:ext>
              </a:extLst>
            </p:cNvPr>
            <p:cNvSpPr txBox="1"/>
            <p:nvPr>
              <p:custDataLst>
                <p:tags r:id="rId14"/>
              </p:custDataLst>
            </p:nvPr>
          </p:nvSpPr>
          <p:spPr>
            <a:xfrm>
              <a:off x="990841" y="1141058"/>
              <a:ext cx="404151" cy="484228"/>
            </a:xfrm>
            <a:prstGeom prst="rect">
              <a:avLst/>
            </a:prstGeom>
            <a:solidFill>
              <a:schemeClr val="accent1"/>
            </a:solidFill>
            <a:effectLst/>
          </p:spPr>
          <p:txBody>
            <a:bodyPr wrap="none" rtlCol="0">
              <a:spAutoFit/>
            </a:bodyPr>
            <a:lstStyle>
              <a:defPPr>
                <a:defRPr lang="zh-CN"/>
              </a:defPPr>
              <a:lvl1pPr algn="ctr">
                <a:defRPr sz="2800" b="1">
                  <a:solidFill>
                    <a:srgbClr val="FFFFFF"/>
                  </a:solidFill>
                </a:defRPr>
              </a:lvl1pPr>
            </a:lstStyle>
            <a:p>
              <a:r>
                <a:rPr lang="en-US" altLang="zh-CN" dirty="0">
                  <a:latin typeface="Arial" panose="020B0604020202020204" pitchFamily="34" charset="0"/>
                  <a:ea typeface="微软雅黑" panose="020B0503020204020204" pitchFamily="34" charset="-122"/>
                </a:rPr>
                <a:t>01</a:t>
              </a:r>
              <a:endParaRPr lang="zh-CN" altLang="en-US" dirty="0">
                <a:latin typeface="Arial" panose="020B0604020202020204" pitchFamily="34" charset="0"/>
                <a:ea typeface="微软雅黑" panose="020B0503020204020204" pitchFamily="34" charset="-122"/>
              </a:endParaRPr>
            </a:p>
          </p:txBody>
        </p:sp>
        <p:cxnSp>
          <p:nvCxnSpPr>
            <p:cNvPr id="200" name="1">
              <a:extLst>
                <a:ext uri="{FF2B5EF4-FFF2-40B4-BE49-F238E27FC236}">
                  <a16:creationId xmlns:a16="http://schemas.microsoft.com/office/drawing/2014/main" id="{C412B566-2AC0-19DC-3097-1C45B6588247}"/>
                </a:ext>
              </a:extLst>
            </p:cNvPr>
            <p:cNvCxnSpPr>
              <a:cxnSpLocks/>
            </p:cNvCxnSpPr>
            <p:nvPr>
              <p:custDataLst>
                <p:tags r:id="rId15"/>
              </p:custDataLst>
            </p:nvPr>
          </p:nvCxnSpPr>
          <p:spPr>
            <a:xfrm>
              <a:off x="904581" y="2257033"/>
              <a:ext cx="4877967"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84" name="组合 183">
            <a:extLst>
              <a:ext uri="{FF2B5EF4-FFF2-40B4-BE49-F238E27FC236}">
                <a16:creationId xmlns:a16="http://schemas.microsoft.com/office/drawing/2014/main" id="{F4908303-31E4-D5E6-1B8A-C9DC034F8CAC}"/>
              </a:ext>
            </a:extLst>
          </p:cNvPr>
          <p:cNvGrpSpPr>
            <a:grpSpLocks/>
          </p:cNvGrpSpPr>
          <p:nvPr/>
        </p:nvGrpSpPr>
        <p:grpSpPr>
          <a:xfrm>
            <a:off x="700083" y="2203225"/>
            <a:ext cx="7065805" cy="1797603"/>
            <a:chOff x="6659655" y="703013"/>
            <a:chExt cx="4877969" cy="1663641"/>
          </a:xfrm>
        </p:grpSpPr>
        <p:sp>
          <p:nvSpPr>
            <p:cNvPr id="191" name="2">
              <a:extLst>
                <a:ext uri="{FF2B5EF4-FFF2-40B4-BE49-F238E27FC236}">
                  <a16:creationId xmlns:a16="http://schemas.microsoft.com/office/drawing/2014/main" id="{D5E9738F-5D5D-B80D-66E6-4F9F2BBD9CB4}"/>
                </a:ext>
              </a:extLst>
            </p:cNvPr>
            <p:cNvSpPr/>
            <p:nvPr>
              <p:custDataLst>
                <p:tags r:id="rId6"/>
              </p:custDataLst>
            </p:nvPr>
          </p:nvSpPr>
          <p:spPr>
            <a:xfrm>
              <a:off x="6659655" y="703013"/>
              <a:ext cx="4877969" cy="1256237"/>
            </a:xfrm>
            <a:prstGeom prst="rect">
              <a:avLst/>
            </a:prstGeom>
            <a:solidFill>
              <a:schemeClr val="bg1"/>
            </a:solidFill>
            <a:ln w="6350">
              <a:solidFill>
                <a:schemeClr val="tx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a:solidFill>
                  <a:srgbClr val="000000"/>
                </a:solidFill>
              </a:endParaRPr>
            </a:p>
          </p:txBody>
        </p:sp>
        <p:sp>
          <p:nvSpPr>
            <p:cNvPr id="192" name="Body-2">
              <a:extLst>
                <a:ext uri="{FF2B5EF4-FFF2-40B4-BE49-F238E27FC236}">
                  <a16:creationId xmlns:a16="http://schemas.microsoft.com/office/drawing/2014/main" id="{D4CBB0D9-DA70-00D5-0D63-487AF407D13D}"/>
                </a:ext>
              </a:extLst>
            </p:cNvPr>
            <p:cNvSpPr>
              <a:spLocks/>
            </p:cNvSpPr>
            <p:nvPr>
              <p:custDataLst>
                <p:tags r:id="rId7"/>
              </p:custDataLst>
            </p:nvPr>
          </p:nvSpPr>
          <p:spPr>
            <a:xfrm>
              <a:off x="7245072" y="1223630"/>
              <a:ext cx="3960000" cy="1143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2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近期中国区竞争异常激烈，从战略考量中国区为必争之地。</a:t>
              </a:r>
            </a:p>
            <a:p>
              <a:pPr marL="285750" indent="-285750" defTabSz="913765">
                <a:lnSpc>
                  <a:spcPct val="12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中国区先从</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1700</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中分</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800.</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p:txBody>
        </p:sp>
        <p:sp>
          <p:nvSpPr>
            <p:cNvPr id="193" name="Title-2">
              <a:extLst>
                <a:ext uri="{FF2B5EF4-FFF2-40B4-BE49-F238E27FC236}">
                  <a16:creationId xmlns:a16="http://schemas.microsoft.com/office/drawing/2014/main" id="{434C4954-8467-7CF8-0382-3DC3A1D61DF6}"/>
                </a:ext>
              </a:extLst>
            </p:cNvPr>
            <p:cNvSpPr>
              <a:spLocks/>
            </p:cNvSpPr>
            <p:nvPr>
              <p:custDataLst>
                <p:tags r:id="rId8"/>
              </p:custDataLst>
            </p:nvPr>
          </p:nvSpPr>
          <p:spPr>
            <a:xfrm>
              <a:off x="7245072" y="782299"/>
              <a:ext cx="3960000" cy="390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ct val="120000"/>
                </a:lnSpc>
              </a:pPr>
              <a:r>
                <a:rPr lang="zh-CN" altLang="en-US" b="1" dirty="0">
                  <a:solidFill>
                    <a:srgbClr val="0000CC"/>
                  </a:solidFill>
                  <a:latin typeface="Arial" panose="020B0604020202020204" pitchFamily="34" charset="0"/>
                  <a:ea typeface="微软雅黑" panose="020B0503020204020204" pitchFamily="34" charset="-122"/>
                  <a:sym typeface="Arial" panose="020B0604020202020204" pitchFamily="34" charset="0"/>
                </a:rPr>
                <a:t>战略优先</a:t>
              </a:r>
              <a:endParaRPr lang="en-US" altLang="zh-CN" b="1" dirty="0">
                <a:solidFill>
                  <a:srgbClr val="0000CC"/>
                </a:solidFill>
                <a:latin typeface="Arial" panose="020B0604020202020204" pitchFamily="34" charset="0"/>
                <a:ea typeface="微软雅黑" panose="020B0503020204020204" pitchFamily="34" charset="-122"/>
                <a:sym typeface="Arial" panose="020B0604020202020204" pitchFamily="34" charset="0"/>
              </a:endParaRPr>
            </a:p>
          </p:txBody>
        </p:sp>
        <p:sp>
          <p:nvSpPr>
            <p:cNvPr id="194" name="Index-2">
              <a:extLst>
                <a:ext uri="{FF2B5EF4-FFF2-40B4-BE49-F238E27FC236}">
                  <a16:creationId xmlns:a16="http://schemas.microsoft.com/office/drawing/2014/main" id="{1D526663-7F94-04AB-4B96-2F83AFE098B8}"/>
                </a:ext>
              </a:extLst>
            </p:cNvPr>
            <p:cNvSpPr txBox="1"/>
            <p:nvPr>
              <p:custDataLst>
                <p:tags r:id="rId9"/>
              </p:custDataLst>
            </p:nvPr>
          </p:nvSpPr>
          <p:spPr>
            <a:xfrm>
              <a:off x="6764603" y="723394"/>
              <a:ext cx="404151" cy="484228"/>
            </a:xfrm>
            <a:prstGeom prst="rect">
              <a:avLst/>
            </a:prstGeom>
            <a:solidFill>
              <a:srgbClr val="0000CC"/>
            </a:solidFill>
            <a:effectLst/>
          </p:spPr>
          <p:txBody>
            <a:bodyPr wrap="none" rtlCol="0">
              <a:spAutoFit/>
            </a:bodyPr>
            <a:lstStyle/>
            <a:p>
              <a:pPr algn="ctr"/>
              <a:r>
                <a:rPr lang="en-US" altLang="zh-CN" sz="2800" b="1" dirty="0">
                  <a:solidFill>
                    <a:schemeClr val="lt1">
                      <a:lumMod val="100000"/>
                    </a:schemeClr>
                  </a:solidFill>
                  <a:latin typeface="Arial" panose="020B0604020202020204" pitchFamily="34" charset="0"/>
                  <a:ea typeface="微软雅黑" panose="020B0503020204020204" pitchFamily="34" charset="-122"/>
                </a:rPr>
                <a:t>02</a:t>
              </a:r>
              <a:endParaRPr lang="zh-CN" altLang="en-US" sz="2800" b="1" dirty="0">
                <a:solidFill>
                  <a:schemeClr val="lt1">
                    <a:lumMod val="100000"/>
                  </a:schemeClr>
                </a:solidFill>
                <a:latin typeface="Arial" panose="020B0604020202020204" pitchFamily="34" charset="0"/>
                <a:ea typeface="微软雅黑" panose="020B0503020204020204" pitchFamily="34" charset="-122"/>
              </a:endParaRPr>
            </a:p>
          </p:txBody>
        </p:sp>
        <p:cxnSp>
          <p:nvCxnSpPr>
            <p:cNvPr id="195" name="2">
              <a:extLst>
                <a:ext uri="{FF2B5EF4-FFF2-40B4-BE49-F238E27FC236}">
                  <a16:creationId xmlns:a16="http://schemas.microsoft.com/office/drawing/2014/main" id="{6BF648B9-DB32-FE1E-4EA1-2355C2EEED6B}"/>
                </a:ext>
              </a:extLst>
            </p:cNvPr>
            <p:cNvCxnSpPr>
              <a:cxnSpLocks/>
            </p:cNvCxnSpPr>
            <p:nvPr>
              <p:custDataLst>
                <p:tags r:id="rId10"/>
              </p:custDataLst>
            </p:nvPr>
          </p:nvCxnSpPr>
          <p:spPr>
            <a:xfrm>
              <a:off x="6659655" y="2012672"/>
              <a:ext cx="4877967" cy="0"/>
            </a:xfrm>
            <a:prstGeom prst="line">
              <a:avLst/>
            </a:prstGeom>
            <a:ln w="57150">
              <a:solidFill>
                <a:srgbClr val="0000CC"/>
              </a:solidFill>
            </a:ln>
          </p:spPr>
          <p:style>
            <a:lnRef idx="1">
              <a:schemeClr val="accent1"/>
            </a:lnRef>
            <a:fillRef idx="0">
              <a:schemeClr val="accent1"/>
            </a:fillRef>
            <a:effectRef idx="0">
              <a:schemeClr val="accent1"/>
            </a:effectRef>
            <a:fontRef idx="minor">
              <a:schemeClr val="tx1"/>
            </a:fontRef>
          </p:style>
        </p:cxnSp>
      </p:grpSp>
      <p:grpSp>
        <p:nvGrpSpPr>
          <p:cNvPr id="185" name="组合 184">
            <a:extLst>
              <a:ext uri="{FF2B5EF4-FFF2-40B4-BE49-F238E27FC236}">
                <a16:creationId xmlns:a16="http://schemas.microsoft.com/office/drawing/2014/main" id="{4E2A5322-946A-A4DA-DF56-5705EB820E9C}"/>
              </a:ext>
            </a:extLst>
          </p:cNvPr>
          <p:cNvGrpSpPr>
            <a:grpSpLocks/>
          </p:cNvGrpSpPr>
          <p:nvPr/>
        </p:nvGrpSpPr>
        <p:grpSpPr>
          <a:xfrm>
            <a:off x="665403" y="3978503"/>
            <a:ext cx="7100482" cy="2514821"/>
            <a:chOff x="6626307" y="2297241"/>
            <a:chExt cx="4887468" cy="2068687"/>
          </a:xfrm>
        </p:grpSpPr>
        <p:sp>
          <p:nvSpPr>
            <p:cNvPr id="186" name="3">
              <a:extLst>
                <a:ext uri="{FF2B5EF4-FFF2-40B4-BE49-F238E27FC236}">
                  <a16:creationId xmlns:a16="http://schemas.microsoft.com/office/drawing/2014/main" id="{2B0C9BF6-B923-4292-DDB9-40AE84895FC1}"/>
                </a:ext>
              </a:extLst>
            </p:cNvPr>
            <p:cNvSpPr/>
            <p:nvPr>
              <p:custDataLst>
                <p:tags r:id="rId1"/>
              </p:custDataLst>
            </p:nvPr>
          </p:nvSpPr>
          <p:spPr>
            <a:xfrm>
              <a:off x="6650249" y="2297241"/>
              <a:ext cx="4863526" cy="2015070"/>
            </a:xfrm>
            <a:prstGeom prst="rect">
              <a:avLst/>
            </a:prstGeom>
            <a:solidFill>
              <a:schemeClr val="bg1"/>
            </a:solidFill>
            <a:ln w="6350">
              <a:solidFill>
                <a:schemeClr val="tx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a:solidFill>
                  <a:srgbClr val="000000"/>
                </a:solidFill>
              </a:endParaRPr>
            </a:p>
          </p:txBody>
        </p:sp>
        <p:sp>
          <p:nvSpPr>
            <p:cNvPr id="187" name="Title-3">
              <a:extLst>
                <a:ext uri="{FF2B5EF4-FFF2-40B4-BE49-F238E27FC236}">
                  <a16:creationId xmlns:a16="http://schemas.microsoft.com/office/drawing/2014/main" id="{AC06CFF1-E495-42F2-6A14-F8C90AF56AFF}"/>
                </a:ext>
              </a:extLst>
            </p:cNvPr>
            <p:cNvSpPr>
              <a:spLocks/>
            </p:cNvSpPr>
            <p:nvPr>
              <p:custDataLst>
                <p:tags r:id="rId2"/>
              </p:custDataLst>
            </p:nvPr>
          </p:nvSpPr>
          <p:spPr>
            <a:xfrm>
              <a:off x="7259546" y="2399009"/>
              <a:ext cx="3960000" cy="3922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ct val="120000"/>
                </a:lnSpc>
              </a:pPr>
              <a:r>
                <a:rPr lang="zh-CN" altLang="en-US" b="1" dirty="0">
                  <a:solidFill>
                    <a:srgbClr val="00B050"/>
                  </a:solidFill>
                  <a:latin typeface="Arial" panose="020B0604020202020204" pitchFamily="34" charset="0"/>
                  <a:ea typeface="微软雅黑" panose="020B0503020204020204" pitchFamily="34" charset="-122"/>
                  <a:sym typeface="Arial" panose="020B0604020202020204" pitchFamily="34" charset="0"/>
                </a:rPr>
                <a:t>长期主义，公平公正</a:t>
              </a:r>
              <a:endParaRPr lang="en-US" altLang="zh-CN" b="1" dirty="0">
                <a:solidFill>
                  <a:srgbClr val="00B050"/>
                </a:solidFill>
                <a:latin typeface="Arial" panose="020B0604020202020204" pitchFamily="34" charset="0"/>
                <a:ea typeface="微软雅黑" panose="020B0503020204020204" pitchFamily="34" charset="-122"/>
                <a:sym typeface="Arial" panose="020B0604020202020204" pitchFamily="34" charset="0"/>
              </a:endParaRPr>
            </a:p>
          </p:txBody>
        </p:sp>
        <p:sp>
          <p:nvSpPr>
            <p:cNvPr id="188" name="Body-3">
              <a:extLst>
                <a:ext uri="{FF2B5EF4-FFF2-40B4-BE49-F238E27FC236}">
                  <a16:creationId xmlns:a16="http://schemas.microsoft.com/office/drawing/2014/main" id="{C85BE58B-B0C1-51A8-30E7-F9D31D3F5DB9}"/>
                </a:ext>
              </a:extLst>
            </p:cNvPr>
            <p:cNvSpPr>
              <a:spLocks/>
            </p:cNvSpPr>
            <p:nvPr>
              <p:custDataLst>
                <p:tags r:id="rId3"/>
              </p:custDataLst>
            </p:nvPr>
          </p:nvSpPr>
          <p:spPr>
            <a:xfrm>
              <a:off x="7245101" y="2755944"/>
              <a:ext cx="3960000" cy="15563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2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剩余供应如何分配成为争论焦点</a:t>
              </a:r>
            </a:p>
            <a:p>
              <a:pPr marL="285750" indent="-285750" defTabSz="913765">
                <a:lnSpc>
                  <a:spcPct val="12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供应链内部有人建议从成本角度考量，有人建议从利润角度考量，还有人建议从出货量角度考量。</a:t>
              </a:r>
            </a:p>
            <a:p>
              <a:pPr marL="285750" indent="-285750" defTabSz="913765">
                <a:lnSpc>
                  <a:spcPct val="120000"/>
                </a:lnSpc>
                <a:buSzPct val="100000"/>
                <a:buFont typeface="Arial" panose="020B0604020202020204" pitchFamily="34" charset="0"/>
                <a:buChar char="•"/>
                <a:defRPr/>
              </a:pP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What-if </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启用运筹优化求最值，然后请</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NA</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和</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EUR Head</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决策。</a:t>
              </a:r>
            </a:p>
            <a:p>
              <a:pPr marL="285750" indent="-285750" defTabSz="913765">
                <a:lnSpc>
                  <a:spcPct val="12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出乎意料的是各</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Regin Head</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决定的是</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Fair Share, </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因为短期看可以求最值。长期来看，这个两个市场我们都不能丢。</a:t>
              </a:r>
              <a:endPar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a:p>
              <a:pPr marL="285750" indent="-285750" defTabSz="913765">
                <a:lnSpc>
                  <a:spcPct val="120000"/>
                </a:lnSpc>
                <a:buSzPct val="100000"/>
                <a:buFont typeface="Arial" panose="020B0604020202020204" pitchFamily="34" charset="0"/>
                <a:buChar char="•"/>
                <a:defRPr/>
              </a:pP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Regin </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内部还需要其他分配规则</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p:txBody>
        </p:sp>
        <p:sp>
          <p:nvSpPr>
            <p:cNvPr id="189" name="Index-3">
              <a:extLst>
                <a:ext uri="{FF2B5EF4-FFF2-40B4-BE49-F238E27FC236}">
                  <a16:creationId xmlns:a16="http://schemas.microsoft.com/office/drawing/2014/main" id="{9AC20A70-3E6E-6701-0DF7-BAFCD736B16E}"/>
                </a:ext>
              </a:extLst>
            </p:cNvPr>
            <p:cNvSpPr txBox="1"/>
            <p:nvPr>
              <p:custDataLst>
                <p:tags r:id="rId4"/>
              </p:custDataLst>
            </p:nvPr>
          </p:nvSpPr>
          <p:spPr>
            <a:xfrm>
              <a:off x="6755714" y="2303488"/>
              <a:ext cx="402960" cy="430400"/>
            </a:xfrm>
            <a:prstGeom prst="rect">
              <a:avLst/>
            </a:prstGeom>
            <a:solidFill>
              <a:srgbClr val="00B050"/>
            </a:solidFill>
            <a:effectLst/>
          </p:spPr>
          <p:txBody>
            <a:bodyPr wrap="none" rtlCol="0">
              <a:spAutoFit/>
            </a:bodyPr>
            <a:lstStyle>
              <a:defPPr>
                <a:defRPr lang="zh-CN"/>
              </a:defPPr>
              <a:lvl1pPr algn="ctr">
                <a:defRPr sz="2800" b="1">
                  <a:solidFill>
                    <a:srgbClr val="FFFFFF"/>
                  </a:solidFill>
                </a:defRPr>
              </a:lvl1pPr>
            </a:lstStyle>
            <a:p>
              <a:r>
                <a:rPr lang="en-US" altLang="zh-CN" dirty="0">
                  <a:latin typeface="Arial" panose="020B0604020202020204" pitchFamily="34" charset="0"/>
                  <a:ea typeface="微软雅黑" panose="020B0503020204020204" pitchFamily="34" charset="-122"/>
                </a:rPr>
                <a:t>03</a:t>
              </a:r>
              <a:endParaRPr lang="zh-CN" altLang="en-US" dirty="0">
                <a:latin typeface="Arial" panose="020B0604020202020204" pitchFamily="34" charset="0"/>
                <a:ea typeface="微软雅黑" panose="020B0503020204020204" pitchFamily="34" charset="-122"/>
              </a:endParaRPr>
            </a:p>
          </p:txBody>
        </p:sp>
        <p:cxnSp>
          <p:nvCxnSpPr>
            <p:cNvPr id="190" name="3">
              <a:extLst>
                <a:ext uri="{FF2B5EF4-FFF2-40B4-BE49-F238E27FC236}">
                  <a16:creationId xmlns:a16="http://schemas.microsoft.com/office/drawing/2014/main" id="{0D8DD3C7-9CD3-D945-06BB-7155ED002205}"/>
                </a:ext>
              </a:extLst>
            </p:cNvPr>
            <p:cNvCxnSpPr>
              <a:cxnSpLocks/>
            </p:cNvCxnSpPr>
            <p:nvPr>
              <p:custDataLst>
                <p:tags r:id="rId5"/>
              </p:custDataLst>
            </p:nvPr>
          </p:nvCxnSpPr>
          <p:spPr>
            <a:xfrm flipV="1">
              <a:off x="6626307" y="4351367"/>
              <a:ext cx="4872933" cy="14561"/>
            </a:xfrm>
            <a:prstGeom prst="line">
              <a:avLst/>
            </a:prstGeom>
            <a:ln w="57150">
              <a:solidFill>
                <a:srgbClr val="00B050"/>
              </a:solidFill>
            </a:ln>
          </p:spPr>
          <p:style>
            <a:lnRef idx="1">
              <a:schemeClr val="accent1"/>
            </a:lnRef>
            <a:fillRef idx="0">
              <a:schemeClr val="accent1"/>
            </a:fillRef>
            <a:effectRef idx="0">
              <a:schemeClr val="accent1"/>
            </a:effectRef>
            <a:fontRef idx="minor">
              <a:schemeClr val="tx1"/>
            </a:fontRef>
          </p:style>
        </p:cxnSp>
      </p:grpSp>
      <p:sp>
        <p:nvSpPr>
          <p:cNvPr id="201" name="文本框 200">
            <a:extLst>
              <a:ext uri="{FF2B5EF4-FFF2-40B4-BE49-F238E27FC236}">
                <a16:creationId xmlns:a16="http://schemas.microsoft.com/office/drawing/2014/main" id="{DB316A47-D974-11D6-10A8-493C66FAA0E9}"/>
              </a:ext>
            </a:extLst>
          </p:cNvPr>
          <p:cNvSpPr txBox="1"/>
          <p:nvPr/>
        </p:nvSpPr>
        <p:spPr>
          <a:xfrm>
            <a:off x="8852030" y="2824683"/>
            <a:ext cx="2639784" cy="175432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wrap="square" rtlCol="0">
            <a:spAutoFit/>
          </a:bodyPr>
          <a:lstStyle/>
          <a:p>
            <a:pPr marL="285750" indent="-285750">
              <a:buFont typeface="Arial" panose="020B0604020202020204" pitchFamily="34" charset="0"/>
              <a:buChar char="•"/>
            </a:pPr>
            <a:r>
              <a:rPr lang="zh-CN" altLang="en-US" dirty="0">
                <a:latin typeface="Arial" panose="020B0604020202020204" pitchFamily="34" charset="0"/>
                <a:ea typeface="微软雅黑" panose="020B0503020204020204" pitchFamily="34" charset="-122"/>
              </a:rPr>
              <a:t>需要另一个维度定义优先级</a:t>
            </a:r>
            <a:endParaRPr lang="en-US" altLang="zh-CN" dirty="0">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r>
              <a:rPr lang="zh-CN" altLang="en-US" dirty="0">
                <a:latin typeface="Arial" panose="020B0604020202020204" pitchFamily="34" charset="0"/>
                <a:ea typeface="微软雅黑" panose="020B0503020204020204" pitchFamily="34" charset="-122"/>
              </a:rPr>
              <a:t>优先级分层级</a:t>
            </a:r>
            <a:endParaRPr lang="en-US" altLang="zh-CN" dirty="0">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r>
              <a:rPr lang="zh-CN" altLang="en-US" dirty="0">
                <a:latin typeface="Arial" panose="020B0604020202020204" pitchFamily="34" charset="0"/>
                <a:ea typeface="微软雅黑" panose="020B0503020204020204" pitchFamily="34" charset="-122"/>
              </a:rPr>
              <a:t>优先级跟资源分配规则如</a:t>
            </a:r>
            <a:r>
              <a:rPr lang="en-US" altLang="zh-CN" dirty="0">
                <a:latin typeface="Arial" panose="020B0604020202020204" pitchFamily="34" charset="0"/>
                <a:ea typeface="微软雅黑" panose="020B0503020204020204" pitchFamily="34" charset="-122"/>
              </a:rPr>
              <a:t>FIFS, Fair Share</a:t>
            </a:r>
            <a:r>
              <a:rPr lang="zh-CN" altLang="en-US" dirty="0">
                <a:latin typeface="Arial" panose="020B0604020202020204" pitchFamily="34" charset="0"/>
                <a:ea typeface="微软雅黑" panose="020B0503020204020204" pitchFamily="34" charset="-122"/>
              </a:rPr>
              <a:t>需要关联关系</a:t>
            </a:r>
            <a:endParaRPr lang="en-US" altLang="zh-CN" dirty="0">
              <a:latin typeface="Arial" panose="020B0604020202020204" pitchFamily="34" charset="0"/>
              <a:ea typeface="微软雅黑" panose="020B0503020204020204" pitchFamily="34" charset="-122"/>
            </a:endParaRPr>
          </a:p>
        </p:txBody>
      </p:sp>
      <p:sp>
        <p:nvSpPr>
          <p:cNvPr id="205" name="右大括号 204">
            <a:extLst>
              <a:ext uri="{FF2B5EF4-FFF2-40B4-BE49-F238E27FC236}">
                <a16:creationId xmlns:a16="http://schemas.microsoft.com/office/drawing/2014/main" id="{05228AE4-E6A4-CAEB-10EF-2A718ADAA115}"/>
              </a:ext>
            </a:extLst>
          </p:cNvPr>
          <p:cNvSpPr/>
          <p:nvPr/>
        </p:nvSpPr>
        <p:spPr>
          <a:xfrm>
            <a:off x="8014063" y="1724297"/>
            <a:ext cx="627143" cy="3912325"/>
          </a:xfrm>
          <a:prstGeom prst="rightBrace">
            <a:avLst/>
          </a:prstGeom>
          <a:ln w="38100">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zh-CN" altLang="en-US"/>
          </a:p>
        </p:txBody>
      </p:sp>
    </p:spTree>
    <p:extLst>
      <p:ext uri="{BB962C8B-B14F-4D97-AF65-F5344CB8AC3E}">
        <p14:creationId xmlns:p14="http://schemas.microsoft.com/office/powerpoint/2010/main" val="40381043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8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8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0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0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 grpId="0" animBg="1"/>
      <p:bldP spid="205"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图示 2">
            <a:extLst>
              <a:ext uri="{FF2B5EF4-FFF2-40B4-BE49-F238E27FC236}">
                <a16:creationId xmlns:a16="http://schemas.microsoft.com/office/drawing/2014/main" id="{44AF93DA-0BAF-2691-01B6-E73E75AF38FA}"/>
              </a:ext>
            </a:extLst>
          </p:cNvPr>
          <p:cNvGraphicFramePr/>
          <p:nvPr>
            <p:extLst>
              <p:ext uri="{D42A27DB-BD31-4B8C-83A1-F6EECF244321}">
                <p14:modId xmlns:p14="http://schemas.microsoft.com/office/powerpoint/2010/main" val="465244652"/>
              </p:ext>
            </p:extLst>
          </p:nvPr>
        </p:nvGraphicFramePr>
        <p:xfrm>
          <a:off x="834439" y="1274895"/>
          <a:ext cx="8774489" cy="495629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标题 1">
            <a:extLst>
              <a:ext uri="{FF2B5EF4-FFF2-40B4-BE49-F238E27FC236}">
                <a16:creationId xmlns:a16="http://schemas.microsoft.com/office/drawing/2014/main" id="{4F47046D-8E1A-331D-D302-8B002383D4DA}"/>
              </a:ext>
            </a:extLst>
          </p:cNvPr>
          <p:cNvSpPr>
            <a:spLocks noGrp="1"/>
          </p:cNvSpPr>
          <p:nvPr>
            <p:ph type="title"/>
          </p:nvPr>
        </p:nvSpPr>
        <p:spPr/>
        <p:txBody>
          <a:bodyPr/>
          <a:lstStyle/>
          <a:p>
            <a:r>
              <a:rPr lang="en-US" altLang="zh-CN" sz="2800" dirty="0">
                <a:latin typeface="Arial" panose="020B0604020202020204" pitchFamily="34" charset="0"/>
                <a:ea typeface="微软雅黑" panose="020B0503020204020204" pitchFamily="34" charset="-122"/>
              </a:rPr>
              <a:t>Allocation – </a:t>
            </a:r>
            <a:r>
              <a:rPr lang="zh-CN" altLang="en-US" sz="2800" dirty="0">
                <a:latin typeface="Arial" panose="020B0604020202020204" pitchFamily="34" charset="0"/>
                <a:ea typeface="微软雅黑" panose="020B0503020204020204" pitchFamily="34" charset="-122"/>
              </a:rPr>
              <a:t>战略优先，公平公正</a:t>
            </a:r>
            <a:endParaRPr lang="zh-CN" altLang="en-US" dirty="0">
              <a:latin typeface="Arial" panose="020B0604020202020204" pitchFamily="34" charset="0"/>
              <a:ea typeface="微软雅黑" panose="020B0503020204020204" pitchFamily="34" charset="-122"/>
            </a:endParaRPr>
          </a:p>
        </p:txBody>
      </p:sp>
      <p:sp>
        <p:nvSpPr>
          <p:cNvPr id="2" name="文本框 1">
            <a:extLst>
              <a:ext uri="{FF2B5EF4-FFF2-40B4-BE49-F238E27FC236}">
                <a16:creationId xmlns:a16="http://schemas.microsoft.com/office/drawing/2014/main" id="{9EA68739-BF0C-C79D-6E83-C84240C6EE8E}"/>
              </a:ext>
            </a:extLst>
          </p:cNvPr>
          <p:cNvSpPr txBox="1"/>
          <p:nvPr/>
        </p:nvSpPr>
        <p:spPr>
          <a:xfrm>
            <a:off x="4265021" y="2695869"/>
            <a:ext cx="1426029" cy="830997"/>
          </a:xfrm>
          <a:prstGeom prst="rect">
            <a:avLst/>
          </a:prstGeom>
          <a:noFill/>
        </p:spPr>
        <p:txBody>
          <a:bodyPr wrap="square" rtlCol="0">
            <a:spAutoFit/>
          </a:bodyPr>
          <a:lstStyle/>
          <a:p>
            <a:r>
              <a:rPr lang="en-US" altLang="zh-CN" sz="1200" b="1" dirty="0">
                <a:latin typeface="Arial" panose="020B0604020202020204" pitchFamily="34" charset="0"/>
                <a:ea typeface="微软雅黑" panose="020B0503020204020204" pitchFamily="34" charset="-122"/>
              </a:rPr>
              <a:t>Hierarchy : PRC</a:t>
            </a:r>
          </a:p>
          <a:p>
            <a:r>
              <a:rPr lang="en-US" altLang="zh-CN" sz="1200" b="1" dirty="0">
                <a:latin typeface="Arial" panose="020B0604020202020204" pitchFamily="34" charset="0"/>
                <a:ea typeface="微软雅黑" panose="020B0503020204020204" pitchFamily="34" charset="-122"/>
              </a:rPr>
              <a:t>CL : High</a:t>
            </a:r>
          </a:p>
          <a:p>
            <a:r>
              <a:rPr lang="en-US" altLang="zh-CN" sz="1200" b="1" dirty="0">
                <a:latin typeface="Arial" panose="020B0604020202020204" pitchFamily="34" charset="0"/>
                <a:ea typeface="微软雅黑" panose="020B0503020204020204" pitchFamily="34" charset="-122"/>
              </a:rPr>
              <a:t>Assigned : 800</a:t>
            </a:r>
          </a:p>
          <a:p>
            <a:r>
              <a:rPr lang="en-US" altLang="zh-CN" sz="1200" b="1" dirty="0">
                <a:latin typeface="Arial" panose="020B0604020202020204" pitchFamily="34" charset="0"/>
                <a:ea typeface="微软雅黑" panose="020B0503020204020204" pitchFamily="34" charset="-122"/>
              </a:rPr>
              <a:t>Surplus: 900</a:t>
            </a:r>
            <a:endParaRPr lang="zh-CN" altLang="en-US" sz="1200" b="1" dirty="0">
              <a:latin typeface="Arial" panose="020B0604020202020204" pitchFamily="34" charset="0"/>
              <a:ea typeface="微软雅黑" panose="020B0503020204020204" pitchFamily="34" charset="-122"/>
            </a:endParaRPr>
          </a:p>
        </p:txBody>
      </p:sp>
      <p:sp>
        <p:nvSpPr>
          <p:cNvPr id="6" name="文本框 5">
            <a:extLst>
              <a:ext uri="{FF2B5EF4-FFF2-40B4-BE49-F238E27FC236}">
                <a16:creationId xmlns:a16="http://schemas.microsoft.com/office/drawing/2014/main" id="{00FF76DC-D809-FA43-833C-5BA38644082A}"/>
              </a:ext>
            </a:extLst>
          </p:cNvPr>
          <p:cNvSpPr txBox="1"/>
          <p:nvPr/>
        </p:nvSpPr>
        <p:spPr>
          <a:xfrm>
            <a:off x="6198349" y="2642009"/>
            <a:ext cx="1861434" cy="938719"/>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Hierarchy : Others</a:t>
            </a:r>
          </a:p>
          <a:p>
            <a:r>
              <a:rPr lang="en-US" altLang="zh-CN" sz="1100" b="1" dirty="0">
                <a:latin typeface="Arial" panose="020B0604020202020204" pitchFamily="34" charset="0"/>
                <a:ea typeface="微软雅黑" panose="020B0503020204020204" pitchFamily="34" charset="-122"/>
              </a:rPr>
              <a:t>CL : Mid</a:t>
            </a:r>
          </a:p>
          <a:p>
            <a:r>
              <a:rPr lang="en-US" altLang="zh-CN" sz="1100" b="1" dirty="0">
                <a:latin typeface="Arial" panose="020B0604020202020204" pitchFamily="34" charset="0"/>
                <a:ea typeface="微软雅黑" panose="020B0503020204020204" pitchFamily="34" charset="-122"/>
              </a:rPr>
              <a:t>Assigned : 900</a:t>
            </a:r>
          </a:p>
          <a:p>
            <a:r>
              <a:rPr lang="en-US" altLang="zh-CN" sz="1100" b="1" dirty="0">
                <a:latin typeface="Arial" panose="020B0604020202020204" pitchFamily="34" charset="0"/>
                <a:ea typeface="微软雅黑" panose="020B0503020204020204" pitchFamily="34" charset="-122"/>
              </a:rPr>
              <a:t>Assignment Rule : </a:t>
            </a:r>
            <a:r>
              <a:rPr lang="en-US" altLang="zh-CN" sz="1100" b="1" dirty="0" err="1">
                <a:latin typeface="Arial" panose="020B0604020202020204" pitchFamily="34" charset="0"/>
                <a:ea typeface="微软雅黑" panose="020B0503020204020204" pitchFamily="34" charset="-122"/>
              </a:rPr>
              <a:t>FairShare</a:t>
            </a:r>
            <a:endParaRPr lang="en-US" altLang="zh-CN" sz="1100" b="1" dirty="0">
              <a:latin typeface="Arial" panose="020B0604020202020204" pitchFamily="34" charset="0"/>
              <a:ea typeface="微软雅黑" panose="020B0503020204020204" pitchFamily="34" charset="-122"/>
            </a:endParaRPr>
          </a:p>
        </p:txBody>
      </p:sp>
      <p:sp>
        <p:nvSpPr>
          <p:cNvPr id="7" name="文本框 6">
            <a:extLst>
              <a:ext uri="{FF2B5EF4-FFF2-40B4-BE49-F238E27FC236}">
                <a16:creationId xmlns:a16="http://schemas.microsoft.com/office/drawing/2014/main" id="{9543DB32-5E54-778C-CB40-84DBC8251998}"/>
              </a:ext>
            </a:extLst>
          </p:cNvPr>
          <p:cNvSpPr txBox="1"/>
          <p:nvPr/>
        </p:nvSpPr>
        <p:spPr>
          <a:xfrm>
            <a:off x="5044979" y="3940308"/>
            <a:ext cx="1919162" cy="938719"/>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Hierarchy : NA</a:t>
            </a:r>
          </a:p>
          <a:p>
            <a:r>
              <a:rPr lang="en-US" altLang="zh-CN" sz="1100" b="1" dirty="0">
                <a:latin typeface="Arial" panose="020B0604020202020204" pitchFamily="34" charset="0"/>
                <a:ea typeface="微软雅黑" panose="020B0503020204020204" pitchFamily="34" charset="-122"/>
              </a:rPr>
              <a:t>Request Qty : 1500</a:t>
            </a:r>
          </a:p>
          <a:p>
            <a:r>
              <a:rPr lang="en-US" altLang="zh-CN" sz="1100" b="1" dirty="0">
                <a:latin typeface="Arial" panose="020B0604020202020204" pitchFamily="34" charset="0"/>
                <a:ea typeface="微软雅黑" panose="020B0503020204020204" pitchFamily="34" charset="-122"/>
              </a:rPr>
              <a:t>Ratio: 5</a:t>
            </a:r>
          </a:p>
          <a:p>
            <a:r>
              <a:rPr lang="en-US" altLang="zh-CN" sz="1100" b="1" dirty="0">
                <a:latin typeface="Arial" panose="020B0604020202020204" pitchFamily="34" charset="0"/>
                <a:ea typeface="微软雅黑" panose="020B0503020204020204" pitchFamily="34" charset="-122"/>
              </a:rPr>
              <a:t>Assigned : 500</a:t>
            </a:r>
          </a:p>
          <a:p>
            <a:r>
              <a:rPr lang="en-US" altLang="zh-CN" sz="1100" b="1" dirty="0">
                <a:latin typeface="Arial" panose="020B0604020202020204" pitchFamily="34" charset="0"/>
                <a:ea typeface="微软雅黑" panose="020B0503020204020204" pitchFamily="34" charset="-122"/>
              </a:rPr>
              <a:t>Assignment Rule : Equal</a:t>
            </a:r>
          </a:p>
        </p:txBody>
      </p:sp>
      <p:sp>
        <p:nvSpPr>
          <p:cNvPr id="8" name="文本框 7">
            <a:extLst>
              <a:ext uri="{FF2B5EF4-FFF2-40B4-BE49-F238E27FC236}">
                <a16:creationId xmlns:a16="http://schemas.microsoft.com/office/drawing/2014/main" id="{FB166968-117C-C6BB-28C0-569092E293D1}"/>
              </a:ext>
            </a:extLst>
          </p:cNvPr>
          <p:cNvSpPr txBox="1"/>
          <p:nvPr/>
        </p:nvSpPr>
        <p:spPr>
          <a:xfrm>
            <a:off x="7220506" y="3966716"/>
            <a:ext cx="1861434" cy="769441"/>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Hierarchy : EUR</a:t>
            </a:r>
          </a:p>
          <a:p>
            <a:r>
              <a:rPr lang="en-US" altLang="zh-CN" sz="1100" b="1" dirty="0">
                <a:latin typeface="Arial" panose="020B0604020202020204" pitchFamily="34" charset="0"/>
                <a:ea typeface="微软雅黑" panose="020B0503020204020204" pitchFamily="34" charset="-122"/>
              </a:rPr>
              <a:t>Request Qty : 1200</a:t>
            </a:r>
          </a:p>
          <a:p>
            <a:r>
              <a:rPr lang="en-US" altLang="zh-CN" sz="1100" b="1" dirty="0">
                <a:latin typeface="Arial" panose="020B0604020202020204" pitchFamily="34" charset="0"/>
                <a:ea typeface="微软雅黑" panose="020B0503020204020204" pitchFamily="34" charset="-122"/>
              </a:rPr>
              <a:t>Ratio: 4</a:t>
            </a:r>
          </a:p>
          <a:p>
            <a:r>
              <a:rPr lang="en-US" altLang="zh-CN" sz="1100" b="1" dirty="0">
                <a:latin typeface="Arial" panose="020B0604020202020204" pitchFamily="34" charset="0"/>
                <a:ea typeface="微软雅黑" panose="020B0503020204020204" pitchFamily="34" charset="-122"/>
              </a:rPr>
              <a:t>Assigned: 400</a:t>
            </a:r>
          </a:p>
        </p:txBody>
      </p:sp>
      <p:sp>
        <p:nvSpPr>
          <p:cNvPr id="9" name="文本框 8">
            <a:extLst>
              <a:ext uri="{FF2B5EF4-FFF2-40B4-BE49-F238E27FC236}">
                <a16:creationId xmlns:a16="http://schemas.microsoft.com/office/drawing/2014/main" id="{5D440061-FFEC-4D87-26E2-FEECA5161012}"/>
              </a:ext>
            </a:extLst>
          </p:cNvPr>
          <p:cNvSpPr txBox="1"/>
          <p:nvPr/>
        </p:nvSpPr>
        <p:spPr>
          <a:xfrm>
            <a:off x="4372781" y="5366816"/>
            <a:ext cx="1919162" cy="600164"/>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Hierarchy : US</a:t>
            </a:r>
          </a:p>
          <a:p>
            <a:r>
              <a:rPr lang="en-US" altLang="zh-CN" sz="1100" b="1" dirty="0">
                <a:latin typeface="Arial" panose="020B0604020202020204" pitchFamily="34" charset="0"/>
                <a:ea typeface="微软雅黑" panose="020B0503020204020204" pitchFamily="34" charset="-122"/>
              </a:rPr>
              <a:t>Request Qty : 400</a:t>
            </a:r>
          </a:p>
          <a:p>
            <a:r>
              <a:rPr lang="en-US" altLang="zh-CN" sz="1100" b="1" dirty="0">
                <a:latin typeface="Arial" panose="020B0604020202020204" pitchFamily="34" charset="0"/>
                <a:ea typeface="微软雅黑" panose="020B0503020204020204" pitchFamily="34" charset="-122"/>
              </a:rPr>
              <a:t>Assigned : 250</a:t>
            </a:r>
          </a:p>
        </p:txBody>
      </p:sp>
      <p:sp>
        <p:nvSpPr>
          <p:cNvPr id="10" name="文本框 9">
            <a:extLst>
              <a:ext uri="{FF2B5EF4-FFF2-40B4-BE49-F238E27FC236}">
                <a16:creationId xmlns:a16="http://schemas.microsoft.com/office/drawing/2014/main" id="{3A83BAE4-3018-0C52-9E25-D56FBD519CEC}"/>
              </a:ext>
            </a:extLst>
          </p:cNvPr>
          <p:cNvSpPr txBox="1"/>
          <p:nvPr/>
        </p:nvSpPr>
        <p:spPr>
          <a:xfrm>
            <a:off x="6198349" y="5366816"/>
            <a:ext cx="1861434" cy="600164"/>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Hierarchy : CA</a:t>
            </a:r>
          </a:p>
          <a:p>
            <a:r>
              <a:rPr lang="en-US" altLang="zh-CN" sz="1100" b="1" dirty="0">
                <a:latin typeface="Arial" panose="020B0604020202020204" pitchFamily="34" charset="0"/>
                <a:ea typeface="微软雅黑" panose="020B0503020204020204" pitchFamily="34" charset="-122"/>
              </a:rPr>
              <a:t>Request Qty : 300</a:t>
            </a:r>
          </a:p>
          <a:p>
            <a:r>
              <a:rPr lang="en-US" altLang="zh-CN" sz="1100" b="1" dirty="0">
                <a:latin typeface="Arial" panose="020B0604020202020204" pitchFamily="34" charset="0"/>
                <a:ea typeface="微软雅黑" panose="020B0503020204020204" pitchFamily="34" charset="-122"/>
              </a:rPr>
              <a:t>Assigned: 250</a:t>
            </a:r>
          </a:p>
        </p:txBody>
      </p:sp>
    </p:spTree>
    <p:extLst>
      <p:ext uri="{BB962C8B-B14F-4D97-AF65-F5344CB8AC3E}">
        <p14:creationId xmlns:p14="http://schemas.microsoft.com/office/powerpoint/2010/main" val="3972615137"/>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B77AC0C-FFCF-B45D-4F0F-5E6D91B10662}"/>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Allocation</a:t>
            </a:r>
            <a:r>
              <a:rPr lang="en-US" altLang="zh-CN" sz="2800" dirty="0">
                <a:latin typeface="Arial" panose="020B0604020202020204" pitchFamily="34" charset="0"/>
                <a:ea typeface="微软雅黑" panose="020B0503020204020204" pitchFamily="34" charset="-122"/>
              </a:rPr>
              <a:t> – </a:t>
            </a:r>
            <a:r>
              <a:rPr lang="zh-CN" altLang="en-US" sz="2800" dirty="0">
                <a:latin typeface="Arial" panose="020B0604020202020204" pitchFamily="34" charset="0"/>
                <a:ea typeface="微软雅黑" panose="020B0503020204020204" pitchFamily="34" charset="-122"/>
              </a:rPr>
              <a:t>分配规则与优先级</a:t>
            </a:r>
            <a:endParaRPr lang="zh-CN" altLang="en-US" dirty="0">
              <a:latin typeface="Arial" panose="020B0604020202020204" pitchFamily="34" charset="0"/>
              <a:ea typeface="微软雅黑" panose="020B0503020204020204" pitchFamily="34" charset="-122"/>
            </a:endParaRPr>
          </a:p>
        </p:txBody>
      </p:sp>
      <p:sp>
        <p:nvSpPr>
          <p:cNvPr id="4" name="矩形 3">
            <a:extLst>
              <a:ext uri="{FF2B5EF4-FFF2-40B4-BE49-F238E27FC236}">
                <a16:creationId xmlns:a16="http://schemas.microsoft.com/office/drawing/2014/main" id="{7A91DEE0-FEC9-6131-E2A3-AE59C7C99223}"/>
              </a:ext>
            </a:extLst>
          </p:cNvPr>
          <p:cNvSpPr/>
          <p:nvPr/>
        </p:nvSpPr>
        <p:spPr>
          <a:xfrm>
            <a:off x="1800225" y="1821723"/>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Customer Hierarchy</a:t>
            </a:r>
            <a:endParaRPr kumimoji="0" lang="zh-CN" altLang="en-US" sz="16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5" name="矩形 4">
            <a:extLst>
              <a:ext uri="{FF2B5EF4-FFF2-40B4-BE49-F238E27FC236}">
                <a16:creationId xmlns:a16="http://schemas.microsoft.com/office/drawing/2014/main" id="{732C3503-AE0E-57E7-5FA2-5FA810CBE828}"/>
              </a:ext>
            </a:extLst>
          </p:cNvPr>
          <p:cNvSpPr/>
          <p:nvPr/>
        </p:nvSpPr>
        <p:spPr>
          <a:xfrm>
            <a:off x="1800225" y="2625029"/>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Region Hierarchy</a:t>
            </a:r>
            <a:endParaRPr kumimoji="0" lang="zh-CN" altLang="en-US" sz="16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6" name="矩形 5">
            <a:extLst>
              <a:ext uri="{FF2B5EF4-FFF2-40B4-BE49-F238E27FC236}">
                <a16:creationId xmlns:a16="http://schemas.microsoft.com/office/drawing/2014/main" id="{80FEA5CE-16B8-52D6-C024-8CA3F9CFE5FE}"/>
              </a:ext>
            </a:extLst>
          </p:cNvPr>
          <p:cNvSpPr/>
          <p:nvPr/>
        </p:nvSpPr>
        <p:spPr>
          <a:xfrm>
            <a:off x="1800225" y="3409285"/>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Part Hierarchy</a:t>
            </a:r>
            <a:endParaRPr kumimoji="0" lang="zh-CN" altLang="en-US" sz="16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7" name="矩形 6">
            <a:extLst>
              <a:ext uri="{FF2B5EF4-FFF2-40B4-BE49-F238E27FC236}">
                <a16:creationId xmlns:a16="http://schemas.microsoft.com/office/drawing/2014/main" id="{9DB5E472-CFA4-2C37-809D-DF73413984F8}"/>
              </a:ext>
            </a:extLst>
          </p:cNvPr>
          <p:cNvSpPr/>
          <p:nvPr/>
        </p:nvSpPr>
        <p:spPr>
          <a:xfrm>
            <a:off x="4229100" y="2615504"/>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Combine Hierarchy </a:t>
            </a:r>
            <a:endParaRPr kumimoji="0" lang="zh-CN" altLang="en-US" sz="16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8" name="连接符: 肘形 7">
            <a:extLst>
              <a:ext uri="{FF2B5EF4-FFF2-40B4-BE49-F238E27FC236}">
                <a16:creationId xmlns:a16="http://schemas.microsoft.com/office/drawing/2014/main" id="{6B03F757-A4AF-1C67-1EC3-091DDA7CEDDC}"/>
              </a:ext>
            </a:extLst>
          </p:cNvPr>
          <p:cNvCxnSpPr>
            <a:cxnSpLocks/>
            <a:stCxn id="4" idx="3"/>
            <a:endCxn id="7" idx="1"/>
          </p:cNvCxnSpPr>
          <p:nvPr/>
        </p:nvCxnSpPr>
        <p:spPr>
          <a:xfrm>
            <a:off x="3762375" y="2040798"/>
            <a:ext cx="466725" cy="793781"/>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连接符: 肘形 8">
            <a:extLst>
              <a:ext uri="{FF2B5EF4-FFF2-40B4-BE49-F238E27FC236}">
                <a16:creationId xmlns:a16="http://schemas.microsoft.com/office/drawing/2014/main" id="{E9D90BFD-8A85-CE51-DA58-5279FC377CA0}"/>
              </a:ext>
            </a:extLst>
          </p:cNvPr>
          <p:cNvCxnSpPr>
            <a:cxnSpLocks/>
            <a:stCxn id="5" idx="3"/>
            <a:endCxn id="7" idx="1"/>
          </p:cNvCxnSpPr>
          <p:nvPr/>
        </p:nvCxnSpPr>
        <p:spPr>
          <a:xfrm flipV="1">
            <a:off x="3762375" y="2834579"/>
            <a:ext cx="466725" cy="9525"/>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0" name="连接符: 肘形 9">
            <a:extLst>
              <a:ext uri="{FF2B5EF4-FFF2-40B4-BE49-F238E27FC236}">
                <a16:creationId xmlns:a16="http://schemas.microsoft.com/office/drawing/2014/main" id="{882CAF2F-E9F6-6B8F-9C5B-8E45D1B6A46F}"/>
              </a:ext>
            </a:extLst>
          </p:cNvPr>
          <p:cNvCxnSpPr>
            <a:cxnSpLocks/>
            <a:stCxn id="6" idx="3"/>
            <a:endCxn id="7" idx="1"/>
          </p:cNvCxnSpPr>
          <p:nvPr/>
        </p:nvCxnSpPr>
        <p:spPr>
          <a:xfrm flipV="1">
            <a:off x="3762375" y="2834579"/>
            <a:ext cx="466725" cy="793781"/>
          </a:xfrm>
          <a:prstGeom prst="bentConnector3">
            <a:avLst>
              <a:gd name="adj1" fmla="val 50000"/>
            </a:avLst>
          </a:prstGeom>
          <a:ln>
            <a:headEnd type="none"/>
            <a:tailEnd type="none"/>
          </a:ln>
        </p:spPr>
        <p:style>
          <a:lnRef idx="1">
            <a:schemeClr val="accent1"/>
          </a:lnRef>
          <a:fillRef idx="0">
            <a:schemeClr val="accent1"/>
          </a:fillRef>
          <a:effectRef idx="0">
            <a:schemeClr val="accent1"/>
          </a:effectRef>
          <a:fontRef idx="minor">
            <a:schemeClr val="tx1"/>
          </a:fontRef>
        </p:style>
      </p:cxnSp>
      <p:graphicFrame>
        <p:nvGraphicFramePr>
          <p:cNvPr id="11" name="表格 10">
            <a:extLst>
              <a:ext uri="{FF2B5EF4-FFF2-40B4-BE49-F238E27FC236}">
                <a16:creationId xmlns:a16="http://schemas.microsoft.com/office/drawing/2014/main" id="{287BF8BF-24AA-73A4-500B-B076E6E0230E}"/>
              </a:ext>
            </a:extLst>
          </p:cNvPr>
          <p:cNvGraphicFramePr>
            <a:graphicFrameLocks noGrp="1"/>
          </p:cNvGraphicFramePr>
          <p:nvPr>
            <p:extLst>
              <p:ext uri="{D42A27DB-BD31-4B8C-83A1-F6EECF244321}">
                <p14:modId xmlns:p14="http://schemas.microsoft.com/office/powerpoint/2010/main" val="537586282"/>
              </p:ext>
            </p:extLst>
          </p:nvPr>
        </p:nvGraphicFramePr>
        <p:xfrm>
          <a:off x="7000875" y="2504410"/>
          <a:ext cx="1803689" cy="1691640"/>
        </p:xfrm>
        <a:graphic>
          <a:graphicData uri="http://schemas.openxmlformats.org/drawingml/2006/table">
            <a:tbl>
              <a:tblPr firstRow="1" bandRow="1">
                <a:tableStyleId>{69012ECD-51FC-41F1-AA8D-1B2483CD663E}</a:tableStyleId>
              </a:tblPr>
              <a:tblGrid>
                <a:gridCol w="1803689">
                  <a:extLst>
                    <a:ext uri="{9D8B030D-6E8A-4147-A177-3AD203B41FA5}">
                      <a16:colId xmlns:a16="http://schemas.microsoft.com/office/drawing/2014/main" val="1344018333"/>
                    </a:ext>
                  </a:extLst>
                </a:gridCol>
              </a:tblGrid>
              <a:tr h="370840">
                <a:tc>
                  <a:txBody>
                    <a:bodyPr/>
                    <a:lstStyle/>
                    <a:p>
                      <a:r>
                        <a:rPr lang="en-US" altLang="zh-CN" sz="1600" dirty="0">
                          <a:solidFill>
                            <a:schemeClr val="tx1"/>
                          </a:solidFill>
                          <a:latin typeface="Arial" panose="020B0604020202020204" pitchFamily="34" charset="0"/>
                          <a:ea typeface="微软雅黑" panose="020B0503020204020204" pitchFamily="34" charset="-122"/>
                        </a:rPr>
                        <a:t>Commitment</a:t>
                      </a:r>
                      <a:r>
                        <a:rPr lang="en-US" altLang="zh-CN" sz="1600" dirty="0">
                          <a:latin typeface="Arial" panose="020B0604020202020204" pitchFamily="34" charset="0"/>
                          <a:ea typeface="微软雅黑" panose="020B0503020204020204" pitchFamily="34" charset="-122"/>
                        </a:rPr>
                        <a:t> </a:t>
                      </a:r>
                      <a:r>
                        <a:rPr lang="en-US" altLang="zh-CN" sz="1600" dirty="0">
                          <a:solidFill>
                            <a:schemeClr val="tx1"/>
                          </a:solidFill>
                          <a:latin typeface="Arial" panose="020B0604020202020204" pitchFamily="34" charset="0"/>
                          <a:ea typeface="微软雅黑" panose="020B0503020204020204" pitchFamily="34" charset="-122"/>
                        </a:rPr>
                        <a:t>Level</a:t>
                      </a:r>
                      <a:endParaRPr lang="zh-CN" altLang="en-US" sz="1600"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924863052"/>
                  </a:ext>
                </a:extLst>
              </a:tr>
              <a:tr h="370840">
                <a:tc>
                  <a:txBody>
                    <a:bodyPr/>
                    <a:lstStyle/>
                    <a:p>
                      <a:r>
                        <a:rPr lang="en-US" altLang="zh-CN" dirty="0">
                          <a:latin typeface="Arial" panose="020B0604020202020204" pitchFamily="34" charset="0"/>
                          <a:ea typeface="微软雅黑" panose="020B0503020204020204" pitchFamily="34" charset="-122"/>
                        </a:rPr>
                        <a:t>High</a:t>
                      </a:r>
                      <a:endParaRPr lang="zh-CN" altLang="en-US"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21267451"/>
                  </a:ext>
                </a:extLst>
              </a:tr>
              <a:tr h="370840">
                <a:tc>
                  <a:txBody>
                    <a:bodyPr/>
                    <a:lstStyle/>
                    <a:p>
                      <a:r>
                        <a:rPr lang="en-US" altLang="zh-CN" dirty="0">
                          <a:latin typeface="Arial" panose="020B0604020202020204" pitchFamily="34" charset="0"/>
                          <a:ea typeface="微软雅黑" panose="020B0503020204020204" pitchFamily="34" charset="-122"/>
                        </a:rPr>
                        <a:t>Med</a:t>
                      </a:r>
                      <a:endParaRPr lang="zh-CN" altLang="en-US"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95476801"/>
                  </a:ext>
                </a:extLst>
              </a:tr>
              <a:tr h="370840">
                <a:tc>
                  <a:txBody>
                    <a:bodyPr/>
                    <a:lstStyle/>
                    <a:p>
                      <a:r>
                        <a:rPr lang="en-US" altLang="zh-CN" dirty="0">
                          <a:latin typeface="Arial" panose="020B0604020202020204" pitchFamily="34" charset="0"/>
                          <a:ea typeface="微软雅黑" panose="020B0503020204020204" pitchFamily="34" charset="-122"/>
                        </a:rPr>
                        <a:t>Low</a:t>
                      </a:r>
                      <a:endParaRPr lang="zh-CN" altLang="en-US"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930948682"/>
                  </a:ext>
                </a:extLst>
              </a:tr>
            </a:tbl>
          </a:graphicData>
        </a:graphic>
      </p:graphicFrame>
      <p:graphicFrame>
        <p:nvGraphicFramePr>
          <p:cNvPr id="12" name="表格 11">
            <a:extLst>
              <a:ext uri="{FF2B5EF4-FFF2-40B4-BE49-F238E27FC236}">
                <a16:creationId xmlns:a16="http://schemas.microsoft.com/office/drawing/2014/main" id="{B3FC312E-731F-2A8B-8989-6AFB6D8522CD}"/>
              </a:ext>
            </a:extLst>
          </p:cNvPr>
          <p:cNvGraphicFramePr>
            <a:graphicFrameLocks noGrp="1"/>
          </p:cNvGraphicFramePr>
          <p:nvPr>
            <p:extLst>
              <p:ext uri="{D42A27DB-BD31-4B8C-83A1-F6EECF244321}">
                <p14:modId xmlns:p14="http://schemas.microsoft.com/office/powerpoint/2010/main" val="2253919560"/>
              </p:ext>
            </p:extLst>
          </p:nvPr>
        </p:nvGraphicFramePr>
        <p:xfrm>
          <a:off x="9296404" y="2504410"/>
          <a:ext cx="1828796" cy="1483360"/>
        </p:xfrm>
        <a:graphic>
          <a:graphicData uri="http://schemas.openxmlformats.org/drawingml/2006/table">
            <a:tbl>
              <a:tblPr firstRow="1" bandRow="1">
                <a:tableStyleId>{69012ECD-51FC-41F1-AA8D-1B2483CD663E}</a:tableStyleId>
              </a:tblPr>
              <a:tblGrid>
                <a:gridCol w="1828796">
                  <a:extLst>
                    <a:ext uri="{9D8B030D-6E8A-4147-A177-3AD203B41FA5}">
                      <a16:colId xmlns:a16="http://schemas.microsoft.com/office/drawing/2014/main" val="1344018333"/>
                    </a:ext>
                  </a:extLst>
                </a:gridCol>
              </a:tblGrid>
              <a:tr h="370840">
                <a:tc>
                  <a:txBody>
                    <a:bodyPr/>
                    <a:lstStyle/>
                    <a:p>
                      <a:r>
                        <a:rPr lang="en-US" altLang="zh-CN" sz="1600" b="1" kern="1200" dirty="0">
                          <a:solidFill>
                            <a:schemeClr val="tx1"/>
                          </a:solidFill>
                          <a:latin typeface="Arial" panose="020B0604020202020204" pitchFamily="34" charset="0"/>
                          <a:ea typeface="微软雅黑" panose="020B0503020204020204" pitchFamily="34" charset="-122"/>
                        </a:rPr>
                        <a:t>Allocation</a:t>
                      </a:r>
                      <a:r>
                        <a:rPr lang="en-US" altLang="zh-CN" dirty="0">
                          <a:latin typeface="Arial" panose="020B0604020202020204" pitchFamily="34" charset="0"/>
                          <a:ea typeface="微软雅黑" panose="020B0503020204020204" pitchFamily="34" charset="-122"/>
                        </a:rPr>
                        <a:t> </a:t>
                      </a:r>
                      <a:r>
                        <a:rPr lang="en-US" altLang="zh-CN" dirty="0">
                          <a:solidFill>
                            <a:schemeClr val="tx1"/>
                          </a:solidFill>
                          <a:latin typeface="Arial" panose="020B0604020202020204" pitchFamily="34" charset="0"/>
                          <a:ea typeface="微软雅黑" panose="020B0503020204020204" pitchFamily="34" charset="-122"/>
                        </a:rPr>
                        <a:t>Rule</a:t>
                      </a:r>
                      <a:endParaRPr lang="zh-CN" altLang="en-US"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924863052"/>
                  </a:ext>
                </a:extLst>
              </a:tr>
              <a:tr h="370840">
                <a:tc>
                  <a:txBody>
                    <a:bodyPr/>
                    <a:lstStyle/>
                    <a:p>
                      <a:r>
                        <a:rPr lang="en-US" altLang="zh-CN" dirty="0">
                          <a:latin typeface="Arial" panose="020B0604020202020204" pitchFamily="34" charset="0"/>
                          <a:ea typeface="微软雅黑" panose="020B0503020204020204" pitchFamily="34" charset="-122"/>
                        </a:rPr>
                        <a:t>FIFS</a:t>
                      </a:r>
                      <a:endParaRPr lang="zh-CN" altLang="en-US"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21267451"/>
                  </a:ext>
                </a:extLst>
              </a:tr>
              <a:tr h="370840">
                <a:tc>
                  <a:txBody>
                    <a:bodyPr/>
                    <a:lstStyle/>
                    <a:p>
                      <a:r>
                        <a:rPr lang="en-US" altLang="zh-CN" dirty="0" err="1">
                          <a:latin typeface="Arial" panose="020B0604020202020204" pitchFamily="34" charset="0"/>
                          <a:ea typeface="微软雅黑" panose="020B0503020204020204" pitchFamily="34" charset="-122"/>
                        </a:rPr>
                        <a:t>FairShare</a:t>
                      </a:r>
                      <a:endParaRPr lang="zh-CN" altLang="en-US"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95476801"/>
                  </a:ext>
                </a:extLst>
              </a:tr>
              <a:tr h="370840">
                <a:tc>
                  <a:txBody>
                    <a:bodyPr/>
                    <a:lstStyle/>
                    <a:p>
                      <a:r>
                        <a:rPr lang="en-US" altLang="zh-CN" dirty="0" err="1">
                          <a:latin typeface="Arial" panose="020B0604020202020204" pitchFamily="34" charset="0"/>
                          <a:ea typeface="微软雅黑" panose="020B0503020204020204" pitchFamily="34" charset="-122"/>
                        </a:rPr>
                        <a:t>EqualShare</a:t>
                      </a:r>
                      <a:endParaRPr lang="zh-CN" altLang="en-US"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930948682"/>
                  </a:ext>
                </a:extLst>
              </a:tr>
            </a:tbl>
          </a:graphicData>
        </a:graphic>
      </p:graphicFrame>
      <p:cxnSp>
        <p:nvCxnSpPr>
          <p:cNvPr id="13" name="连接符: 肘形 12">
            <a:extLst>
              <a:ext uri="{FF2B5EF4-FFF2-40B4-BE49-F238E27FC236}">
                <a16:creationId xmlns:a16="http://schemas.microsoft.com/office/drawing/2014/main" id="{9F2CC22A-20EE-9D7C-6D23-BB5C5B6213B0}"/>
              </a:ext>
            </a:extLst>
          </p:cNvPr>
          <p:cNvCxnSpPr>
            <a:stCxn id="7" idx="3"/>
          </p:cNvCxnSpPr>
          <p:nvPr/>
        </p:nvCxnSpPr>
        <p:spPr>
          <a:xfrm>
            <a:off x="6191250" y="2834579"/>
            <a:ext cx="809625" cy="12700"/>
          </a:xfrm>
          <a:prstGeom prst="bentConnector3">
            <a:avLst>
              <a:gd name="adj1" fmla="val 98235"/>
            </a:avLst>
          </a:prstGeom>
          <a:ln>
            <a:tailEnd type="triangle"/>
          </a:ln>
        </p:spPr>
        <p:style>
          <a:lnRef idx="1">
            <a:schemeClr val="accent1"/>
          </a:lnRef>
          <a:fillRef idx="0">
            <a:schemeClr val="accent1"/>
          </a:fillRef>
          <a:effectRef idx="0">
            <a:schemeClr val="accent1"/>
          </a:effectRef>
          <a:fontRef idx="minor">
            <a:schemeClr val="tx1"/>
          </a:fontRef>
        </p:style>
      </p:cxnSp>
      <p:sp>
        <p:nvSpPr>
          <p:cNvPr id="14" name="文本框 13">
            <a:extLst>
              <a:ext uri="{FF2B5EF4-FFF2-40B4-BE49-F238E27FC236}">
                <a16:creationId xmlns:a16="http://schemas.microsoft.com/office/drawing/2014/main" id="{BCC02410-4DED-6ED3-59DB-9F89506F71FB}"/>
              </a:ext>
            </a:extLst>
          </p:cNvPr>
          <p:cNvSpPr txBox="1"/>
          <p:nvPr/>
        </p:nvSpPr>
        <p:spPr>
          <a:xfrm>
            <a:off x="6048375" y="2227411"/>
            <a:ext cx="1628775"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Prioritization</a:t>
            </a:r>
            <a:endParaRPr kumimoji="0" lang="zh-CN" altLang="en-US" sz="12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cxnSp>
        <p:nvCxnSpPr>
          <p:cNvPr id="15" name="连接符: 肘形 14">
            <a:extLst>
              <a:ext uri="{FF2B5EF4-FFF2-40B4-BE49-F238E27FC236}">
                <a16:creationId xmlns:a16="http://schemas.microsoft.com/office/drawing/2014/main" id="{E55B0CC0-88EB-1686-3B61-5A876AF5B5E2}"/>
              </a:ext>
            </a:extLst>
          </p:cNvPr>
          <p:cNvCxnSpPr/>
          <p:nvPr/>
        </p:nvCxnSpPr>
        <p:spPr>
          <a:xfrm>
            <a:off x="8353425" y="2834579"/>
            <a:ext cx="942979" cy="12700"/>
          </a:xfrm>
          <a:prstGeom prst="bentConnector3">
            <a:avLst>
              <a:gd name="adj1" fmla="val 1515"/>
            </a:avLst>
          </a:prstGeom>
          <a:ln>
            <a:tailEnd type="triangle"/>
          </a:ln>
        </p:spPr>
        <p:style>
          <a:lnRef idx="1">
            <a:schemeClr val="accent1"/>
          </a:lnRef>
          <a:fillRef idx="0">
            <a:schemeClr val="accent1"/>
          </a:fillRef>
          <a:effectRef idx="0">
            <a:schemeClr val="accent1"/>
          </a:effectRef>
          <a:fontRef idx="minor">
            <a:schemeClr val="tx1"/>
          </a:fontRef>
        </p:style>
      </p:cxnSp>
      <p:sp>
        <p:nvSpPr>
          <p:cNvPr id="16" name="文本框 15">
            <a:extLst>
              <a:ext uri="{FF2B5EF4-FFF2-40B4-BE49-F238E27FC236}">
                <a16:creationId xmlns:a16="http://schemas.microsoft.com/office/drawing/2014/main" id="{48E4738B-F584-BF50-CD84-72EE2017E4B2}"/>
              </a:ext>
            </a:extLst>
          </p:cNvPr>
          <p:cNvSpPr txBox="1"/>
          <p:nvPr/>
        </p:nvSpPr>
        <p:spPr>
          <a:xfrm>
            <a:off x="886689" y="1181099"/>
            <a:ext cx="1405841"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b="1" dirty="0">
                <a:latin typeface="Arial" panose="020B0604020202020204" pitchFamily="34" charset="0"/>
                <a:ea typeface="微软雅黑" panose="020B0503020204020204" pitchFamily="34" charset="-122"/>
              </a:rPr>
              <a:t>业务模型</a:t>
            </a:r>
            <a:endParaRPr kumimoji="0" lang="zh-CN" altLang="en-US" sz="18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graphicFrame>
        <p:nvGraphicFramePr>
          <p:cNvPr id="17" name="表格 16">
            <a:extLst>
              <a:ext uri="{FF2B5EF4-FFF2-40B4-BE49-F238E27FC236}">
                <a16:creationId xmlns:a16="http://schemas.microsoft.com/office/drawing/2014/main" id="{2D093A7D-2E35-B455-312E-E309A333A85E}"/>
              </a:ext>
            </a:extLst>
          </p:cNvPr>
          <p:cNvGraphicFramePr>
            <a:graphicFrameLocks noGrp="1"/>
          </p:cNvGraphicFramePr>
          <p:nvPr>
            <p:extLst>
              <p:ext uri="{D42A27DB-BD31-4B8C-83A1-F6EECF244321}">
                <p14:modId xmlns:p14="http://schemas.microsoft.com/office/powerpoint/2010/main" val="3736450165"/>
              </p:ext>
            </p:extLst>
          </p:nvPr>
        </p:nvGraphicFramePr>
        <p:xfrm>
          <a:off x="4533900" y="4635106"/>
          <a:ext cx="1352550" cy="1478280"/>
        </p:xfrm>
        <a:graphic>
          <a:graphicData uri="http://schemas.openxmlformats.org/drawingml/2006/table">
            <a:tbl>
              <a:tblPr firstRow="1" bandRow="1">
                <a:tableStyleId>{69012ECD-51FC-41F1-AA8D-1B2483CD663E}</a:tableStyleId>
              </a:tblPr>
              <a:tblGrid>
                <a:gridCol w="1352550">
                  <a:extLst>
                    <a:ext uri="{9D8B030D-6E8A-4147-A177-3AD203B41FA5}">
                      <a16:colId xmlns:a16="http://schemas.microsoft.com/office/drawing/2014/main" val="1344018333"/>
                    </a:ext>
                  </a:extLst>
                </a:gridCol>
              </a:tblGrid>
              <a:tr h="353060">
                <a:tc>
                  <a:txBody>
                    <a:bodyPr/>
                    <a:lstStyle/>
                    <a:p>
                      <a:r>
                        <a:rPr lang="en-US" altLang="zh-CN" dirty="0">
                          <a:solidFill>
                            <a:schemeClr val="tx1"/>
                          </a:solidFill>
                          <a:latin typeface="Arial" panose="020B0604020202020204" pitchFamily="34" charset="0"/>
                          <a:ea typeface="微软雅黑" panose="020B0503020204020204" pitchFamily="34" charset="-122"/>
                        </a:rPr>
                        <a:t>Buckets</a:t>
                      </a:r>
                      <a:endParaRPr lang="zh-CN" altLang="en-US"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924863052"/>
                  </a:ext>
                </a:extLst>
              </a:tr>
              <a:tr h="370840">
                <a:tc>
                  <a:txBody>
                    <a:bodyPr/>
                    <a:lstStyle/>
                    <a:p>
                      <a:r>
                        <a:rPr lang="en-US" altLang="zh-CN" dirty="0">
                          <a:solidFill>
                            <a:schemeClr val="tx1"/>
                          </a:solidFill>
                          <a:latin typeface="Arial" panose="020B0604020202020204" pitchFamily="34" charset="0"/>
                          <a:ea typeface="微软雅黑" panose="020B0503020204020204" pitchFamily="34" charset="-122"/>
                        </a:rPr>
                        <a:t>Day</a:t>
                      </a:r>
                      <a:endParaRPr lang="zh-CN" altLang="en-US"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21267451"/>
                  </a:ext>
                </a:extLst>
              </a:tr>
              <a:tr h="370840">
                <a:tc>
                  <a:txBody>
                    <a:bodyPr/>
                    <a:lstStyle/>
                    <a:p>
                      <a:r>
                        <a:rPr lang="en-US" altLang="zh-CN" dirty="0">
                          <a:solidFill>
                            <a:schemeClr val="tx1"/>
                          </a:solidFill>
                          <a:latin typeface="Arial" panose="020B0604020202020204" pitchFamily="34" charset="0"/>
                          <a:ea typeface="微软雅黑" panose="020B0503020204020204" pitchFamily="34" charset="-122"/>
                        </a:rPr>
                        <a:t>Week</a:t>
                      </a:r>
                      <a:endParaRPr lang="zh-CN" altLang="en-US"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95476801"/>
                  </a:ext>
                </a:extLst>
              </a:tr>
              <a:tr h="370840">
                <a:tc>
                  <a:txBody>
                    <a:bodyPr/>
                    <a:lstStyle/>
                    <a:p>
                      <a:r>
                        <a:rPr lang="en-US" altLang="zh-CN" dirty="0">
                          <a:solidFill>
                            <a:schemeClr val="tx1"/>
                          </a:solidFill>
                          <a:latin typeface="Arial" panose="020B0604020202020204" pitchFamily="34" charset="0"/>
                          <a:ea typeface="微软雅黑" panose="020B0503020204020204" pitchFamily="34" charset="-122"/>
                        </a:rPr>
                        <a:t>Month</a:t>
                      </a:r>
                      <a:endParaRPr lang="zh-CN" altLang="en-US"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930948682"/>
                  </a:ext>
                </a:extLst>
              </a:tr>
            </a:tbl>
          </a:graphicData>
        </a:graphic>
      </p:graphicFrame>
      <p:graphicFrame>
        <p:nvGraphicFramePr>
          <p:cNvPr id="18" name="表格 17">
            <a:extLst>
              <a:ext uri="{FF2B5EF4-FFF2-40B4-BE49-F238E27FC236}">
                <a16:creationId xmlns:a16="http://schemas.microsoft.com/office/drawing/2014/main" id="{84F6830D-0197-8EE5-4C32-451CA7C4DD5C}"/>
              </a:ext>
            </a:extLst>
          </p:cNvPr>
          <p:cNvGraphicFramePr>
            <a:graphicFrameLocks noGrp="1"/>
          </p:cNvGraphicFramePr>
          <p:nvPr>
            <p:extLst>
              <p:ext uri="{D42A27DB-BD31-4B8C-83A1-F6EECF244321}">
                <p14:modId xmlns:p14="http://schemas.microsoft.com/office/powerpoint/2010/main" val="3235671871"/>
              </p:ext>
            </p:extLst>
          </p:nvPr>
        </p:nvGraphicFramePr>
        <p:xfrm>
          <a:off x="6222206" y="4653793"/>
          <a:ext cx="1352550" cy="1463040"/>
        </p:xfrm>
        <a:graphic>
          <a:graphicData uri="http://schemas.openxmlformats.org/drawingml/2006/table">
            <a:tbl>
              <a:tblPr firstRow="1" bandRow="1">
                <a:tableStyleId>{69012ECD-51FC-41F1-AA8D-1B2483CD663E}</a:tableStyleId>
              </a:tblPr>
              <a:tblGrid>
                <a:gridCol w="1352550">
                  <a:extLst>
                    <a:ext uri="{9D8B030D-6E8A-4147-A177-3AD203B41FA5}">
                      <a16:colId xmlns:a16="http://schemas.microsoft.com/office/drawing/2014/main" val="1344018333"/>
                    </a:ext>
                  </a:extLst>
                </a:gridCol>
              </a:tblGrid>
              <a:tr h="344718">
                <a:tc>
                  <a:txBody>
                    <a:bodyPr/>
                    <a:lstStyle/>
                    <a:p>
                      <a:r>
                        <a:rPr lang="en-US" altLang="zh-CN" dirty="0">
                          <a:solidFill>
                            <a:schemeClr val="tx1"/>
                          </a:solidFill>
                          <a:latin typeface="Arial" panose="020B0604020202020204" pitchFamily="34" charset="0"/>
                          <a:ea typeface="微软雅黑" panose="020B0503020204020204" pitchFamily="34" charset="-122"/>
                        </a:rPr>
                        <a:t>Intervals</a:t>
                      </a:r>
                      <a:endParaRPr lang="zh-CN" altLang="en-US"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924863052"/>
                  </a:ext>
                </a:extLst>
              </a:tr>
              <a:tr h="349506">
                <a:tc>
                  <a:txBody>
                    <a:bodyPr/>
                    <a:lstStyle/>
                    <a:p>
                      <a:r>
                        <a:rPr lang="en-US" altLang="zh-CN" dirty="0">
                          <a:solidFill>
                            <a:schemeClr val="tx1"/>
                          </a:solidFill>
                          <a:latin typeface="Arial" panose="020B0604020202020204" pitchFamily="34" charset="0"/>
                          <a:ea typeface="微软雅黑" panose="020B0503020204020204" pitchFamily="34" charset="-122"/>
                        </a:rPr>
                        <a:t>1</a:t>
                      </a:r>
                      <a:endParaRPr lang="zh-CN" altLang="en-US"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21267451"/>
                  </a:ext>
                </a:extLst>
              </a:tr>
              <a:tr h="349506">
                <a:tc>
                  <a:txBody>
                    <a:bodyPr/>
                    <a:lstStyle/>
                    <a:p>
                      <a:r>
                        <a:rPr lang="en-US" altLang="zh-CN" dirty="0">
                          <a:solidFill>
                            <a:schemeClr val="tx1"/>
                          </a:solidFill>
                          <a:latin typeface="Arial" panose="020B0604020202020204" pitchFamily="34" charset="0"/>
                          <a:ea typeface="微软雅黑" panose="020B0503020204020204" pitchFamily="34" charset="-122"/>
                        </a:rPr>
                        <a:t>3</a:t>
                      </a:r>
                      <a:endParaRPr lang="zh-CN" altLang="en-US"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95476801"/>
                  </a:ext>
                </a:extLst>
              </a:tr>
              <a:tr h="349506">
                <a:tc>
                  <a:txBody>
                    <a:bodyPr/>
                    <a:lstStyle/>
                    <a:p>
                      <a:r>
                        <a:rPr lang="en-US" altLang="zh-CN" dirty="0">
                          <a:solidFill>
                            <a:schemeClr val="tx1"/>
                          </a:solidFill>
                          <a:latin typeface="Arial" panose="020B0604020202020204" pitchFamily="34" charset="0"/>
                          <a:ea typeface="微软雅黑" panose="020B0503020204020204" pitchFamily="34" charset="-122"/>
                        </a:rPr>
                        <a:t>4</a:t>
                      </a:r>
                      <a:endParaRPr lang="zh-CN" altLang="en-US"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930948682"/>
                  </a:ext>
                </a:extLst>
              </a:tr>
            </a:tbl>
          </a:graphicData>
        </a:graphic>
      </p:graphicFrame>
      <p:sp>
        <p:nvSpPr>
          <p:cNvPr id="19" name="矩形 18">
            <a:extLst>
              <a:ext uri="{FF2B5EF4-FFF2-40B4-BE49-F238E27FC236}">
                <a16:creationId xmlns:a16="http://schemas.microsoft.com/office/drawing/2014/main" id="{987BDC2F-BA8E-45F3-670F-91A7423B7985}"/>
              </a:ext>
            </a:extLst>
          </p:cNvPr>
          <p:cNvSpPr/>
          <p:nvPr/>
        </p:nvSpPr>
        <p:spPr>
          <a:xfrm>
            <a:off x="4229100" y="3371077"/>
            <a:ext cx="1962150" cy="4381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Demand </a:t>
            </a:r>
            <a:endParaRPr kumimoji="0" lang="zh-CN" altLang="en-US" sz="18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20" name="连接符: 肘形 19">
            <a:extLst>
              <a:ext uri="{FF2B5EF4-FFF2-40B4-BE49-F238E27FC236}">
                <a16:creationId xmlns:a16="http://schemas.microsoft.com/office/drawing/2014/main" id="{32680361-123D-81B4-D1B2-2BA2AF7BEC58}"/>
              </a:ext>
            </a:extLst>
          </p:cNvPr>
          <p:cNvCxnSpPr>
            <a:stCxn id="19" idx="0"/>
            <a:endCxn id="7" idx="2"/>
          </p:cNvCxnSpPr>
          <p:nvPr/>
        </p:nvCxnSpPr>
        <p:spPr>
          <a:xfrm rot="5400000" flipH="1" flipV="1">
            <a:off x="5056226" y="3217128"/>
            <a:ext cx="307898" cy="12700"/>
          </a:xfrm>
          <a:prstGeom prst="bentConnector3">
            <a:avLst>
              <a:gd name="adj1" fmla="val 114965"/>
            </a:avLst>
          </a:prstGeom>
          <a:ln>
            <a:tailEnd type="triangle"/>
          </a:ln>
        </p:spPr>
        <p:style>
          <a:lnRef idx="1">
            <a:schemeClr val="accent1"/>
          </a:lnRef>
          <a:fillRef idx="0">
            <a:schemeClr val="accent1"/>
          </a:fillRef>
          <a:effectRef idx="0">
            <a:schemeClr val="accent1"/>
          </a:effectRef>
          <a:fontRef idx="minor">
            <a:schemeClr val="tx1"/>
          </a:fontRef>
        </p:style>
      </p:cxnSp>
      <p:graphicFrame>
        <p:nvGraphicFramePr>
          <p:cNvPr id="21" name="表格 20">
            <a:extLst>
              <a:ext uri="{FF2B5EF4-FFF2-40B4-BE49-F238E27FC236}">
                <a16:creationId xmlns:a16="http://schemas.microsoft.com/office/drawing/2014/main" id="{7A516080-F5C5-6623-137A-139AFF202593}"/>
              </a:ext>
            </a:extLst>
          </p:cNvPr>
          <p:cNvGraphicFramePr>
            <a:graphicFrameLocks noGrp="1"/>
          </p:cNvGraphicFramePr>
          <p:nvPr>
            <p:extLst>
              <p:ext uri="{D42A27DB-BD31-4B8C-83A1-F6EECF244321}">
                <p14:modId xmlns:p14="http://schemas.microsoft.com/office/powerpoint/2010/main" val="1091263271"/>
              </p:ext>
            </p:extLst>
          </p:nvPr>
        </p:nvGraphicFramePr>
        <p:xfrm>
          <a:off x="2571750" y="4624659"/>
          <a:ext cx="1676400" cy="1478280"/>
        </p:xfrm>
        <a:graphic>
          <a:graphicData uri="http://schemas.openxmlformats.org/drawingml/2006/table">
            <a:tbl>
              <a:tblPr firstRow="1" bandRow="1">
                <a:tableStyleId>{69012ECD-51FC-41F1-AA8D-1B2483CD663E}</a:tableStyleId>
              </a:tblPr>
              <a:tblGrid>
                <a:gridCol w="838200">
                  <a:extLst>
                    <a:ext uri="{9D8B030D-6E8A-4147-A177-3AD203B41FA5}">
                      <a16:colId xmlns:a16="http://schemas.microsoft.com/office/drawing/2014/main" val="1344018333"/>
                    </a:ext>
                  </a:extLst>
                </a:gridCol>
                <a:gridCol w="838200">
                  <a:extLst>
                    <a:ext uri="{9D8B030D-6E8A-4147-A177-3AD203B41FA5}">
                      <a16:colId xmlns:a16="http://schemas.microsoft.com/office/drawing/2014/main" val="1590128216"/>
                    </a:ext>
                  </a:extLst>
                </a:gridCol>
              </a:tblGrid>
              <a:tr h="353060">
                <a:tc gridSpan="2">
                  <a:txBody>
                    <a:bodyPr/>
                    <a:lstStyle/>
                    <a:p>
                      <a:pPr algn="ctr"/>
                      <a:r>
                        <a:rPr lang="en-US" altLang="zh-CN" dirty="0">
                          <a:solidFill>
                            <a:schemeClr val="tx1"/>
                          </a:solidFill>
                          <a:latin typeface="Arial" panose="020B0604020202020204" pitchFamily="34" charset="0"/>
                          <a:ea typeface="微软雅黑" panose="020B0503020204020204" pitchFamily="34" charset="-122"/>
                        </a:rPr>
                        <a:t>Round</a:t>
                      </a:r>
                      <a:endParaRPr lang="zh-CN" altLang="en-US" dirty="0">
                        <a:solidFill>
                          <a:schemeClr val="tx1"/>
                        </a:solidFill>
                        <a:latin typeface="Arial" panose="020B0604020202020204" pitchFamily="34" charset="0"/>
                        <a:ea typeface="微软雅黑" panose="020B0503020204020204" pitchFamily="34" charset="-122"/>
                      </a:endParaRPr>
                    </a:p>
                  </a:txBody>
                  <a:tcPr/>
                </a:tc>
                <a:tc hMerge="1">
                  <a:txBody>
                    <a:bodyPr/>
                    <a:lstStyle/>
                    <a:p>
                      <a:endParaRPr lang="zh-CN" altLang="en-US" dirty="0"/>
                    </a:p>
                  </a:txBody>
                  <a:tcPr/>
                </a:tc>
                <a:extLst>
                  <a:ext uri="{0D108BD9-81ED-4DB2-BD59-A6C34878D82A}">
                    <a16:rowId xmlns:a16="http://schemas.microsoft.com/office/drawing/2014/main" val="2924863052"/>
                  </a:ext>
                </a:extLst>
              </a:tr>
              <a:tr h="370840">
                <a:tc>
                  <a:txBody>
                    <a:bodyPr/>
                    <a:lstStyle/>
                    <a:p>
                      <a:r>
                        <a:rPr lang="en-US" altLang="zh-CN" dirty="0">
                          <a:solidFill>
                            <a:schemeClr val="tx1"/>
                          </a:solidFill>
                          <a:latin typeface="Arial" panose="020B0604020202020204" pitchFamily="34" charset="0"/>
                          <a:ea typeface="微软雅黑" panose="020B0503020204020204" pitchFamily="34" charset="-122"/>
                        </a:rPr>
                        <a:t>1</a:t>
                      </a:r>
                      <a:endParaRPr lang="zh-CN" altLang="en-US"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dirty="0">
                          <a:solidFill>
                            <a:schemeClr val="tx1"/>
                          </a:solidFill>
                          <a:latin typeface="Arial" panose="020B0604020202020204" pitchFamily="34" charset="0"/>
                          <a:ea typeface="微软雅黑" panose="020B0503020204020204" pitchFamily="34" charset="-122"/>
                        </a:rPr>
                        <a:t>Left</a:t>
                      </a:r>
                      <a:endParaRPr lang="zh-CN" altLang="en-US"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21267451"/>
                  </a:ext>
                </a:extLst>
              </a:tr>
              <a:tr h="370840">
                <a:tc>
                  <a:txBody>
                    <a:bodyPr/>
                    <a:lstStyle/>
                    <a:p>
                      <a:r>
                        <a:rPr lang="en-US" altLang="zh-CN" dirty="0">
                          <a:solidFill>
                            <a:schemeClr val="tx1"/>
                          </a:solidFill>
                          <a:latin typeface="Arial" panose="020B0604020202020204" pitchFamily="34" charset="0"/>
                          <a:ea typeface="微软雅黑" panose="020B0503020204020204" pitchFamily="34" charset="-122"/>
                        </a:rPr>
                        <a:t>2</a:t>
                      </a:r>
                      <a:endParaRPr lang="zh-CN" altLang="en-US" dirty="0">
                        <a:solidFill>
                          <a:schemeClr val="tx1"/>
                        </a:solidFill>
                        <a:latin typeface="Arial" panose="020B0604020202020204" pitchFamily="34" charset="0"/>
                        <a:ea typeface="微软雅黑" panose="020B0503020204020204" pitchFamily="34" charset="-122"/>
                      </a:endParaRPr>
                    </a:p>
                  </a:txBody>
                  <a:tcPr/>
                </a:tc>
                <a:tc>
                  <a:txBody>
                    <a:bodyPr/>
                    <a:lstStyle/>
                    <a:p>
                      <a:r>
                        <a:rPr lang="en-US" altLang="zh-CN" dirty="0">
                          <a:solidFill>
                            <a:schemeClr val="tx1"/>
                          </a:solidFill>
                          <a:latin typeface="Arial" panose="020B0604020202020204" pitchFamily="34" charset="0"/>
                          <a:ea typeface="微软雅黑" panose="020B0503020204020204" pitchFamily="34" charset="-122"/>
                        </a:rPr>
                        <a:t>Right</a:t>
                      </a:r>
                      <a:endParaRPr lang="zh-CN" altLang="en-US"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95476801"/>
                  </a:ext>
                </a:extLst>
              </a:tr>
              <a:tr h="370840">
                <a:tc>
                  <a:txBody>
                    <a:bodyPr/>
                    <a:lstStyle/>
                    <a:p>
                      <a:r>
                        <a:rPr lang="en-US" altLang="zh-CN" dirty="0">
                          <a:solidFill>
                            <a:schemeClr val="tx1"/>
                          </a:solidFill>
                          <a:latin typeface="Arial" panose="020B0604020202020204" pitchFamily="34" charset="0"/>
                          <a:ea typeface="微软雅黑" panose="020B0503020204020204" pitchFamily="34" charset="-122"/>
                        </a:rPr>
                        <a:t>10</a:t>
                      </a:r>
                      <a:endParaRPr lang="zh-CN" altLang="en-US" dirty="0">
                        <a:solidFill>
                          <a:schemeClr val="tx1"/>
                        </a:solidFill>
                        <a:latin typeface="Arial" panose="020B0604020202020204" pitchFamily="34" charset="0"/>
                        <a:ea typeface="微软雅黑" panose="020B0503020204020204" pitchFamily="34" charset="-122"/>
                      </a:endParaRPr>
                    </a:p>
                  </a:txBody>
                  <a:tcPr/>
                </a:tc>
                <a:tc>
                  <a:txBody>
                    <a:bodyPr/>
                    <a:lstStyle/>
                    <a:p>
                      <a:endParaRPr lang="zh-CN" altLang="en-US"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930948682"/>
                  </a:ext>
                </a:extLst>
              </a:tr>
            </a:tbl>
          </a:graphicData>
        </a:graphic>
      </p:graphicFrame>
      <p:cxnSp>
        <p:nvCxnSpPr>
          <p:cNvPr id="22" name="连接符: 肘形 21">
            <a:extLst>
              <a:ext uri="{FF2B5EF4-FFF2-40B4-BE49-F238E27FC236}">
                <a16:creationId xmlns:a16="http://schemas.microsoft.com/office/drawing/2014/main" id="{6260009D-00C3-2BFA-7A4E-85499646AC0C}"/>
              </a:ext>
            </a:extLst>
          </p:cNvPr>
          <p:cNvCxnSpPr>
            <a:stCxn id="19" idx="2"/>
            <a:endCxn id="21" idx="0"/>
          </p:cNvCxnSpPr>
          <p:nvPr/>
        </p:nvCxnSpPr>
        <p:spPr>
          <a:xfrm rot="5400000">
            <a:off x="3902347" y="3316831"/>
            <a:ext cx="815432" cy="1800225"/>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3" name="连接符: 肘形 22">
            <a:extLst>
              <a:ext uri="{FF2B5EF4-FFF2-40B4-BE49-F238E27FC236}">
                <a16:creationId xmlns:a16="http://schemas.microsoft.com/office/drawing/2014/main" id="{1F8AC6B6-101B-B308-9747-7A34F9253A78}"/>
              </a:ext>
            </a:extLst>
          </p:cNvPr>
          <p:cNvCxnSpPr>
            <a:cxnSpLocks/>
            <a:stCxn id="19" idx="2"/>
            <a:endCxn id="17" idx="0"/>
          </p:cNvCxnSpPr>
          <p:nvPr/>
        </p:nvCxnSpPr>
        <p:spPr>
          <a:xfrm rot="5400000">
            <a:off x="4797236" y="4222166"/>
            <a:ext cx="825879" cy="12700"/>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4" name="连接符: 肘形 23">
            <a:extLst>
              <a:ext uri="{FF2B5EF4-FFF2-40B4-BE49-F238E27FC236}">
                <a16:creationId xmlns:a16="http://schemas.microsoft.com/office/drawing/2014/main" id="{6F2C6F2A-53E9-EB73-287A-5A748821222E}"/>
              </a:ext>
            </a:extLst>
          </p:cNvPr>
          <p:cNvCxnSpPr>
            <a:stCxn id="19" idx="2"/>
            <a:endCxn id="18" idx="0"/>
          </p:cNvCxnSpPr>
          <p:nvPr/>
        </p:nvCxnSpPr>
        <p:spPr>
          <a:xfrm rot="16200000" flipH="1">
            <a:off x="5632045" y="3387357"/>
            <a:ext cx="844566" cy="1688306"/>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sp>
        <p:nvSpPr>
          <p:cNvPr id="3" name="文本框 2">
            <a:extLst>
              <a:ext uri="{FF2B5EF4-FFF2-40B4-BE49-F238E27FC236}">
                <a16:creationId xmlns:a16="http://schemas.microsoft.com/office/drawing/2014/main" id="{2F406D2B-BE54-A003-B521-AAB5E58767F9}"/>
              </a:ext>
            </a:extLst>
          </p:cNvPr>
          <p:cNvSpPr txBox="1"/>
          <p:nvPr/>
        </p:nvSpPr>
        <p:spPr>
          <a:xfrm>
            <a:off x="7622177" y="836023"/>
            <a:ext cx="3683134" cy="923330"/>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FIFS: </a:t>
            </a:r>
            <a:r>
              <a:rPr lang="zh-CN" altLang="en-US" dirty="0">
                <a:latin typeface="Arial" panose="020B0604020202020204" pitchFamily="34" charset="0"/>
                <a:ea typeface="微软雅黑" panose="020B0503020204020204" pitchFamily="34" charset="-122"/>
              </a:rPr>
              <a:t>先到的按照优先级分配资源</a:t>
            </a:r>
            <a:endParaRPr lang="en-US" altLang="zh-CN" dirty="0">
              <a:latin typeface="Arial" panose="020B0604020202020204" pitchFamily="34" charset="0"/>
              <a:ea typeface="微软雅黑" panose="020B0503020204020204" pitchFamily="34" charset="-122"/>
            </a:endParaRPr>
          </a:p>
          <a:p>
            <a:r>
              <a:rPr lang="en-US" altLang="zh-CN" dirty="0" err="1">
                <a:latin typeface="Arial" panose="020B0604020202020204" pitchFamily="34" charset="0"/>
                <a:ea typeface="微软雅黑" panose="020B0503020204020204" pitchFamily="34" charset="-122"/>
              </a:rPr>
              <a:t>FairShare</a:t>
            </a:r>
            <a:r>
              <a:rPr lang="en-US" altLang="zh-CN" dirty="0">
                <a:latin typeface="Arial" panose="020B0604020202020204" pitchFamily="34" charset="0"/>
                <a:ea typeface="微软雅黑" panose="020B0503020204020204" pitchFamily="34" charset="-122"/>
              </a:rPr>
              <a:t>:</a:t>
            </a:r>
            <a:r>
              <a:rPr lang="zh-CN" altLang="en-US" dirty="0">
                <a:latin typeface="Arial" panose="020B0604020202020204" pitchFamily="34" charset="0"/>
                <a:ea typeface="微软雅黑" panose="020B0503020204020204" pitchFamily="34" charset="-122"/>
              </a:rPr>
              <a:t>按比例分配资源</a:t>
            </a:r>
            <a:endParaRPr lang="en-US" altLang="zh-CN" dirty="0">
              <a:latin typeface="Arial" panose="020B0604020202020204" pitchFamily="34" charset="0"/>
              <a:ea typeface="微软雅黑" panose="020B0503020204020204" pitchFamily="34" charset="-122"/>
            </a:endParaRPr>
          </a:p>
          <a:p>
            <a:r>
              <a:rPr lang="en-US" altLang="zh-CN" dirty="0">
                <a:latin typeface="Arial" panose="020B0604020202020204" pitchFamily="34" charset="0"/>
                <a:ea typeface="微软雅黑" panose="020B0503020204020204" pitchFamily="34" charset="-122"/>
              </a:rPr>
              <a:t>Equal Share: </a:t>
            </a:r>
            <a:r>
              <a:rPr lang="zh-CN" altLang="en-US" dirty="0">
                <a:latin typeface="Arial" panose="020B0604020202020204" pitchFamily="34" charset="0"/>
                <a:ea typeface="微软雅黑" panose="020B0503020204020204" pitchFamily="34" charset="-122"/>
              </a:rPr>
              <a:t>均分资源</a:t>
            </a:r>
          </a:p>
        </p:txBody>
      </p:sp>
    </p:spTree>
    <p:extLst>
      <p:ext uri="{BB962C8B-B14F-4D97-AF65-F5344CB8AC3E}">
        <p14:creationId xmlns:p14="http://schemas.microsoft.com/office/powerpoint/2010/main" val="151637823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4030B70-D906-C41C-A782-440775240813}"/>
              </a:ext>
            </a:extLst>
          </p:cNvPr>
          <p:cNvSpPr>
            <a:spLocks noGrp="1"/>
          </p:cNvSpPr>
          <p:nvPr>
            <p:ph type="title"/>
          </p:nvPr>
        </p:nvSpPr>
        <p:spPr/>
        <p:txBody>
          <a:bodyPr/>
          <a:lstStyle/>
          <a:p>
            <a:r>
              <a:rPr lang="en-US" altLang="zh-CN" dirty="0"/>
              <a:t>Fair Share</a:t>
            </a:r>
            <a:endParaRPr lang="zh-CN" altLang="en-US" dirty="0"/>
          </a:p>
        </p:txBody>
      </p:sp>
      <p:graphicFrame>
        <p:nvGraphicFramePr>
          <p:cNvPr id="3" name="表格 2">
            <a:extLst>
              <a:ext uri="{FF2B5EF4-FFF2-40B4-BE49-F238E27FC236}">
                <a16:creationId xmlns:a16="http://schemas.microsoft.com/office/drawing/2014/main" id="{CF6380F3-B489-B363-22F6-026ADF2B958C}"/>
              </a:ext>
            </a:extLst>
          </p:cNvPr>
          <p:cNvGraphicFramePr>
            <a:graphicFrameLocks noGrp="1"/>
          </p:cNvGraphicFramePr>
          <p:nvPr>
            <p:extLst>
              <p:ext uri="{D42A27DB-BD31-4B8C-83A1-F6EECF244321}">
                <p14:modId xmlns:p14="http://schemas.microsoft.com/office/powerpoint/2010/main" val="4024771276"/>
              </p:ext>
            </p:extLst>
          </p:nvPr>
        </p:nvGraphicFramePr>
        <p:xfrm>
          <a:off x="2090366" y="1366555"/>
          <a:ext cx="8128000" cy="1483360"/>
        </p:xfrm>
        <a:graphic>
          <a:graphicData uri="http://schemas.openxmlformats.org/drawingml/2006/table">
            <a:tbl>
              <a:tblPr firstRow="1" firstCol="1" bandRow="1">
                <a:tableStyleId>{5C22544A-7EE6-4342-B048-85BDC9FD1C3A}</a:tableStyleId>
              </a:tblPr>
              <a:tblGrid>
                <a:gridCol w="1625600">
                  <a:extLst>
                    <a:ext uri="{9D8B030D-6E8A-4147-A177-3AD203B41FA5}">
                      <a16:colId xmlns:a16="http://schemas.microsoft.com/office/drawing/2014/main" val="1619914078"/>
                    </a:ext>
                  </a:extLst>
                </a:gridCol>
                <a:gridCol w="1625600">
                  <a:extLst>
                    <a:ext uri="{9D8B030D-6E8A-4147-A177-3AD203B41FA5}">
                      <a16:colId xmlns:a16="http://schemas.microsoft.com/office/drawing/2014/main" val="3718926043"/>
                    </a:ext>
                  </a:extLst>
                </a:gridCol>
                <a:gridCol w="1625600">
                  <a:extLst>
                    <a:ext uri="{9D8B030D-6E8A-4147-A177-3AD203B41FA5}">
                      <a16:colId xmlns:a16="http://schemas.microsoft.com/office/drawing/2014/main" val="2529934045"/>
                    </a:ext>
                  </a:extLst>
                </a:gridCol>
                <a:gridCol w="1625600">
                  <a:extLst>
                    <a:ext uri="{9D8B030D-6E8A-4147-A177-3AD203B41FA5}">
                      <a16:colId xmlns:a16="http://schemas.microsoft.com/office/drawing/2014/main" val="2151939764"/>
                    </a:ext>
                  </a:extLst>
                </a:gridCol>
                <a:gridCol w="1625600">
                  <a:extLst>
                    <a:ext uri="{9D8B030D-6E8A-4147-A177-3AD203B41FA5}">
                      <a16:colId xmlns:a16="http://schemas.microsoft.com/office/drawing/2014/main" val="421142634"/>
                    </a:ext>
                  </a:extLst>
                </a:gridCol>
              </a:tblGrid>
              <a:tr h="370840">
                <a:tc>
                  <a:txBody>
                    <a:bodyPr/>
                    <a:lstStyle/>
                    <a:p>
                      <a:endParaRPr lang="zh-CN" altLang="en-US" dirty="0"/>
                    </a:p>
                  </a:txBody>
                  <a:tcPr/>
                </a:tc>
                <a:tc>
                  <a:txBody>
                    <a:bodyPr/>
                    <a:lstStyle/>
                    <a:p>
                      <a:r>
                        <a:rPr lang="en-US" altLang="zh-CN" dirty="0"/>
                        <a:t>Bucket1</a:t>
                      </a:r>
                      <a:endParaRPr lang="zh-CN" altLang="en-US" dirty="0"/>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dirty="0"/>
                        <a:t>Bucket2</a:t>
                      </a:r>
                      <a:endParaRPr lang="zh-CN" altLang="en-US" dirty="0"/>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dirty="0"/>
                        <a:t>Bucket3</a:t>
                      </a:r>
                      <a:endParaRPr lang="zh-CN" altLang="en-US" dirty="0"/>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dirty="0"/>
                        <a:t>Bucket4</a:t>
                      </a:r>
                      <a:endParaRPr lang="zh-CN" altLang="en-US" dirty="0"/>
                    </a:p>
                  </a:txBody>
                  <a:tcPr/>
                </a:tc>
                <a:extLst>
                  <a:ext uri="{0D108BD9-81ED-4DB2-BD59-A6C34878D82A}">
                    <a16:rowId xmlns:a16="http://schemas.microsoft.com/office/drawing/2014/main" val="2638694703"/>
                  </a:ext>
                </a:extLst>
              </a:tr>
              <a:tr h="370840">
                <a:tc>
                  <a:txBody>
                    <a:bodyPr/>
                    <a:lstStyle/>
                    <a:p>
                      <a:r>
                        <a:rPr lang="zh-CN" altLang="en-US" dirty="0"/>
                        <a:t>需求</a:t>
                      </a:r>
                    </a:p>
                  </a:txBody>
                  <a:tcPr/>
                </a:tc>
                <a:tc>
                  <a:txBody>
                    <a:bodyPr/>
                    <a:lstStyle/>
                    <a:p>
                      <a:r>
                        <a:rPr lang="en-US" altLang="zh-CN" dirty="0"/>
                        <a:t>200</a:t>
                      </a:r>
                      <a:endParaRPr lang="zh-CN" altLang="en-US" dirty="0"/>
                    </a:p>
                  </a:txBody>
                  <a:tcPr>
                    <a:noFill/>
                  </a:tcPr>
                </a:tc>
                <a:tc>
                  <a:txBody>
                    <a:bodyPr/>
                    <a:lstStyle/>
                    <a:p>
                      <a:r>
                        <a:rPr lang="en-US" altLang="zh-CN" dirty="0"/>
                        <a:t>240</a:t>
                      </a:r>
                      <a:endParaRPr lang="zh-CN" altLang="en-US" dirty="0"/>
                    </a:p>
                  </a:txBody>
                  <a:tcPr>
                    <a:noFill/>
                  </a:tcPr>
                </a:tc>
                <a:tc>
                  <a:txBody>
                    <a:bodyPr/>
                    <a:lstStyle/>
                    <a:p>
                      <a:r>
                        <a:rPr lang="en-US" altLang="zh-CN" dirty="0"/>
                        <a:t>220</a:t>
                      </a:r>
                      <a:endParaRPr lang="zh-CN" altLang="en-US" dirty="0"/>
                    </a:p>
                  </a:txBody>
                  <a:tcPr>
                    <a:noFill/>
                  </a:tcPr>
                </a:tc>
                <a:tc>
                  <a:txBody>
                    <a:bodyPr/>
                    <a:lstStyle/>
                    <a:p>
                      <a:r>
                        <a:rPr lang="en-US" altLang="zh-CN" dirty="0"/>
                        <a:t>140</a:t>
                      </a:r>
                      <a:endParaRPr lang="zh-CN" altLang="en-US" dirty="0"/>
                    </a:p>
                  </a:txBody>
                  <a:tcPr>
                    <a:noFill/>
                  </a:tcPr>
                </a:tc>
                <a:extLst>
                  <a:ext uri="{0D108BD9-81ED-4DB2-BD59-A6C34878D82A}">
                    <a16:rowId xmlns:a16="http://schemas.microsoft.com/office/drawing/2014/main" val="1404948438"/>
                  </a:ext>
                </a:extLst>
              </a:tr>
              <a:tr h="370840">
                <a:tc>
                  <a:txBody>
                    <a:bodyPr/>
                    <a:lstStyle/>
                    <a:p>
                      <a:r>
                        <a:rPr lang="zh-CN" altLang="en-US" dirty="0"/>
                        <a:t>供应</a:t>
                      </a:r>
                    </a:p>
                  </a:txBody>
                  <a:tcPr/>
                </a:tc>
                <a:tc>
                  <a:txBody>
                    <a:bodyPr/>
                    <a:lstStyle/>
                    <a:p>
                      <a:r>
                        <a:rPr lang="en-US" altLang="zh-CN" dirty="0"/>
                        <a:t>180</a:t>
                      </a:r>
                      <a:endParaRPr lang="zh-CN" altLang="en-US" dirty="0"/>
                    </a:p>
                  </a:txBody>
                  <a:tcPr>
                    <a:noFill/>
                  </a:tcPr>
                </a:tc>
                <a:tc>
                  <a:txBody>
                    <a:bodyPr/>
                    <a:lstStyle/>
                    <a:p>
                      <a:r>
                        <a:rPr lang="en-US" altLang="zh-CN" dirty="0"/>
                        <a:t>180</a:t>
                      </a:r>
                      <a:endParaRPr lang="zh-CN" altLang="en-US" dirty="0"/>
                    </a:p>
                  </a:txBody>
                  <a:tcPr>
                    <a:noFill/>
                  </a:tcPr>
                </a:tc>
                <a:tc>
                  <a:txBody>
                    <a:bodyPr/>
                    <a:lstStyle/>
                    <a:p>
                      <a:r>
                        <a:rPr lang="en-US" altLang="zh-CN" dirty="0"/>
                        <a:t>180</a:t>
                      </a:r>
                      <a:endParaRPr lang="zh-CN" altLang="en-US" dirty="0"/>
                    </a:p>
                  </a:txBody>
                  <a:tcPr>
                    <a:noFill/>
                  </a:tcPr>
                </a:tc>
                <a:tc>
                  <a:txBody>
                    <a:bodyPr/>
                    <a:lstStyle/>
                    <a:p>
                      <a:r>
                        <a:rPr lang="en-US" altLang="zh-CN" dirty="0"/>
                        <a:t>260</a:t>
                      </a:r>
                      <a:endParaRPr lang="zh-CN" altLang="en-US" dirty="0"/>
                    </a:p>
                  </a:txBody>
                  <a:tcPr>
                    <a:noFill/>
                  </a:tcPr>
                </a:tc>
                <a:extLst>
                  <a:ext uri="{0D108BD9-81ED-4DB2-BD59-A6C34878D82A}">
                    <a16:rowId xmlns:a16="http://schemas.microsoft.com/office/drawing/2014/main" val="3671551893"/>
                  </a:ext>
                </a:extLst>
              </a:tr>
              <a:tr h="370840">
                <a:tc>
                  <a:txBody>
                    <a:bodyPr/>
                    <a:lstStyle/>
                    <a:p>
                      <a:r>
                        <a:rPr lang="en-US" altLang="zh-CN" dirty="0"/>
                        <a:t>Netting</a:t>
                      </a:r>
                      <a:endParaRPr lang="zh-CN" altLang="en-US" dirty="0"/>
                    </a:p>
                  </a:txBody>
                  <a:tcPr/>
                </a:tc>
                <a:tc>
                  <a:txBody>
                    <a:bodyPr/>
                    <a:lstStyle/>
                    <a:p>
                      <a:r>
                        <a:rPr lang="en-US" altLang="zh-CN" dirty="0"/>
                        <a:t>20</a:t>
                      </a:r>
                      <a:endParaRPr lang="zh-CN" altLang="en-US" dirty="0"/>
                    </a:p>
                  </a:txBody>
                  <a:tcPr>
                    <a:noFill/>
                  </a:tcPr>
                </a:tc>
                <a:tc>
                  <a:txBody>
                    <a:bodyPr/>
                    <a:lstStyle/>
                    <a:p>
                      <a:r>
                        <a:rPr lang="en-US" altLang="zh-CN" dirty="0"/>
                        <a:t>60</a:t>
                      </a:r>
                      <a:endParaRPr lang="zh-CN" altLang="en-US" dirty="0"/>
                    </a:p>
                  </a:txBody>
                  <a:tcPr>
                    <a:noFill/>
                  </a:tcPr>
                </a:tc>
                <a:tc>
                  <a:txBody>
                    <a:bodyPr/>
                    <a:lstStyle/>
                    <a:p>
                      <a:r>
                        <a:rPr lang="en-US" altLang="zh-CN" dirty="0"/>
                        <a:t>40</a:t>
                      </a:r>
                      <a:endParaRPr lang="zh-CN" altLang="en-US" dirty="0"/>
                    </a:p>
                  </a:txBody>
                  <a:tcPr>
                    <a:noFill/>
                  </a:tcPr>
                </a:tc>
                <a:tc>
                  <a:txBody>
                    <a:bodyPr/>
                    <a:lstStyle/>
                    <a:p>
                      <a:r>
                        <a:rPr lang="en-US" altLang="zh-CN" dirty="0"/>
                        <a:t>120</a:t>
                      </a:r>
                      <a:endParaRPr lang="zh-CN" altLang="en-US" dirty="0"/>
                    </a:p>
                  </a:txBody>
                  <a:tcPr>
                    <a:noFill/>
                  </a:tcPr>
                </a:tc>
                <a:extLst>
                  <a:ext uri="{0D108BD9-81ED-4DB2-BD59-A6C34878D82A}">
                    <a16:rowId xmlns:a16="http://schemas.microsoft.com/office/drawing/2014/main" val="2089652493"/>
                  </a:ext>
                </a:extLst>
              </a:tr>
            </a:tbl>
          </a:graphicData>
        </a:graphic>
      </p:graphicFrame>
      <p:sp>
        <p:nvSpPr>
          <p:cNvPr id="4" name="文本框 3">
            <a:extLst>
              <a:ext uri="{FF2B5EF4-FFF2-40B4-BE49-F238E27FC236}">
                <a16:creationId xmlns:a16="http://schemas.microsoft.com/office/drawing/2014/main" id="{D9251788-F4F1-8965-1577-263419D1FD71}"/>
              </a:ext>
            </a:extLst>
          </p:cNvPr>
          <p:cNvSpPr txBox="1"/>
          <p:nvPr/>
        </p:nvSpPr>
        <p:spPr>
          <a:xfrm>
            <a:off x="3209482" y="3742379"/>
            <a:ext cx="5474289" cy="646331"/>
          </a:xfrm>
          <a:prstGeom prst="rect">
            <a:avLst/>
          </a:prstGeom>
          <a:noFill/>
        </p:spPr>
        <p:txBody>
          <a:bodyPr wrap="square" rtlCol="0">
            <a:spAutoFit/>
          </a:bodyPr>
          <a:lstStyle/>
          <a:p>
            <a:pPr marL="285750" indent="-285750">
              <a:buFont typeface="Arial" panose="020B0604020202020204" pitchFamily="34" charset="0"/>
              <a:buChar char="•"/>
            </a:pPr>
            <a:r>
              <a:rPr lang="zh-CN" altLang="en-US" dirty="0">
                <a:latin typeface="+mj-ea"/>
                <a:ea typeface="+mj-ea"/>
              </a:rPr>
              <a:t>先每</a:t>
            </a:r>
            <a:r>
              <a:rPr lang="en-US" altLang="zh-CN" dirty="0">
                <a:latin typeface="+mj-ea"/>
                <a:ea typeface="+mj-ea"/>
              </a:rPr>
              <a:t>bucket </a:t>
            </a:r>
            <a:r>
              <a:rPr lang="zh-CN" altLang="en-US" dirty="0">
                <a:latin typeface="+mj-ea"/>
                <a:ea typeface="+mj-ea"/>
              </a:rPr>
              <a:t>战略优先，然后</a:t>
            </a:r>
            <a:r>
              <a:rPr lang="en-US" altLang="zh-CN" dirty="0">
                <a:latin typeface="+mj-ea"/>
                <a:ea typeface="+mj-ea"/>
              </a:rPr>
              <a:t>fair share</a:t>
            </a:r>
          </a:p>
          <a:p>
            <a:pPr marL="285750" indent="-285750">
              <a:buFont typeface="Arial" panose="020B0604020202020204" pitchFamily="34" charset="0"/>
              <a:buChar char="•"/>
            </a:pPr>
            <a:r>
              <a:rPr lang="en-US" altLang="zh-CN" dirty="0">
                <a:latin typeface="+mj-ea"/>
                <a:ea typeface="+mj-ea"/>
              </a:rPr>
              <a:t>Netting</a:t>
            </a:r>
            <a:r>
              <a:rPr lang="zh-CN" altLang="en-US" dirty="0">
                <a:latin typeface="+mj-ea"/>
                <a:ea typeface="+mj-ea"/>
              </a:rPr>
              <a:t>的需求放到不缺的</a:t>
            </a:r>
            <a:r>
              <a:rPr lang="en-US" altLang="zh-CN" dirty="0">
                <a:latin typeface="+mj-ea"/>
                <a:ea typeface="+mj-ea"/>
              </a:rPr>
              <a:t>bucket</a:t>
            </a:r>
            <a:r>
              <a:rPr lang="zh-CN" altLang="en-US" dirty="0">
                <a:latin typeface="+mj-ea"/>
                <a:ea typeface="+mj-ea"/>
              </a:rPr>
              <a:t>中切片满足</a:t>
            </a:r>
          </a:p>
        </p:txBody>
      </p:sp>
    </p:spTree>
    <p:extLst>
      <p:ext uri="{BB962C8B-B14F-4D97-AF65-F5344CB8AC3E}">
        <p14:creationId xmlns:p14="http://schemas.microsoft.com/office/powerpoint/2010/main" val="3836371620"/>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a:extLst>
              <a:ext uri="{FF2B5EF4-FFF2-40B4-BE49-F238E27FC236}">
                <a16:creationId xmlns:a16="http://schemas.microsoft.com/office/drawing/2014/main" id="{7D95F23B-E8B0-0F6A-F883-A54ED526F698}"/>
              </a:ext>
            </a:extLst>
          </p:cNvPr>
          <p:cNvGraphicFramePr>
            <a:graphicFrameLocks noGrp="1"/>
          </p:cNvGraphicFramePr>
          <p:nvPr>
            <p:extLst>
              <p:ext uri="{D42A27DB-BD31-4B8C-83A1-F6EECF244321}">
                <p14:modId xmlns:p14="http://schemas.microsoft.com/office/powerpoint/2010/main" val="3052883535"/>
              </p:ext>
            </p:extLst>
          </p:nvPr>
        </p:nvGraphicFramePr>
        <p:xfrm>
          <a:off x="1636070" y="3044191"/>
          <a:ext cx="8128000" cy="645160"/>
        </p:xfrm>
        <a:graphic>
          <a:graphicData uri="http://schemas.openxmlformats.org/drawingml/2006/table">
            <a:tbl>
              <a:tblPr firstRow="1" bandRow="1">
                <a:tableStyleId>{5C22544A-7EE6-4342-B048-85BDC9FD1C3A}</a:tableStyleId>
              </a:tblPr>
              <a:tblGrid>
                <a:gridCol w="2032000">
                  <a:extLst>
                    <a:ext uri="{9D8B030D-6E8A-4147-A177-3AD203B41FA5}">
                      <a16:colId xmlns:a16="http://schemas.microsoft.com/office/drawing/2014/main" val="709280684"/>
                    </a:ext>
                  </a:extLst>
                </a:gridCol>
                <a:gridCol w="2032000">
                  <a:extLst>
                    <a:ext uri="{9D8B030D-6E8A-4147-A177-3AD203B41FA5}">
                      <a16:colId xmlns:a16="http://schemas.microsoft.com/office/drawing/2014/main" val="1196467804"/>
                    </a:ext>
                  </a:extLst>
                </a:gridCol>
                <a:gridCol w="2032000">
                  <a:extLst>
                    <a:ext uri="{9D8B030D-6E8A-4147-A177-3AD203B41FA5}">
                      <a16:colId xmlns:a16="http://schemas.microsoft.com/office/drawing/2014/main" val="4127166940"/>
                    </a:ext>
                  </a:extLst>
                </a:gridCol>
                <a:gridCol w="2032000">
                  <a:extLst>
                    <a:ext uri="{9D8B030D-6E8A-4147-A177-3AD203B41FA5}">
                      <a16:colId xmlns:a16="http://schemas.microsoft.com/office/drawing/2014/main" val="2361938322"/>
                    </a:ext>
                  </a:extLst>
                </a:gridCol>
              </a:tblGrid>
              <a:tr h="0">
                <a:tc>
                  <a:txBody>
                    <a:bodyPr/>
                    <a:lstStyle/>
                    <a:p>
                      <a:pPr marL="0" algn="l" defTabSz="914332" rtl="0" eaLnBrk="1" latinLnBrk="0" hangingPunct="1"/>
                      <a:r>
                        <a:rPr lang="en-US" altLang="zh-CN" sz="1200" b="1" kern="1200" dirty="0">
                          <a:solidFill>
                            <a:schemeClr val="lt1"/>
                          </a:solidFill>
                          <a:latin typeface="Arial" panose="020B0604020202020204" pitchFamily="34" charset="0"/>
                          <a:ea typeface="微软雅黑" panose="020B0503020204020204" pitchFamily="34" charset="-122"/>
                          <a:cs typeface="+mn-cs"/>
                        </a:rPr>
                        <a:t>Part</a:t>
                      </a:r>
                      <a:endParaRPr lang="zh-CN" altLang="en-US" sz="1200" b="1" kern="1200" dirty="0">
                        <a:solidFill>
                          <a:schemeClr val="lt1"/>
                        </a:solidFill>
                        <a:latin typeface="Arial" panose="020B0604020202020204" pitchFamily="34" charset="0"/>
                        <a:ea typeface="微软雅黑" panose="020B0503020204020204" pitchFamily="34" charset="-122"/>
                        <a:cs typeface="+mn-cs"/>
                      </a:endParaRPr>
                    </a:p>
                  </a:txBody>
                  <a:tcPr/>
                </a:tc>
                <a:tc>
                  <a:txBody>
                    <a:bodyPr/>
                    <a:lstStyle/>
                    <a:p>
                      <a:pPr marL="0" algn="l" defTabSz="914332" rtl="0" eaLnBrk="1" latinLnBrk="0" hangingPunct="1"/>
                      <a:r>
                        <a:rPr lang="en-US" altLang="zh-CN" sz="1200" b="1" kern="1200" dirty="0">
                          <a:solidFill>
                            <a:schemeClr val="lt1"/>
                          </a:solidFill>
                          <a:latin typeface="Arial" panose="020B0604020202020204" pitchFamily="34" charset="0"/>
                          <a:ea typeface="微软雅黑" panose="020B0503020204020204" pitchFamily="34" charset="-122"/>
                          <a:cs typeface="+mn-cs"/>
                        </a:rPr>
                        <a:t>Bucket</a:t>
                      </a:r>
                      <a:endParaRPr lang="zh-CN" altLang="en-US" sz="1200" b="1" kern="1200" dirty="0">
                        <a:solidFill>
                          <a:schemeClr val="lt1"/>
                        </a:solidFill>
                        <a:latin typeface="Arial" panose="020B0604020202020204" pitchFamily="34" charset="0"/>
                        <a:ea typeface="微软雅黑" panose="020B0503020204020204" pitchFamily="34" charset="-122"/>
                        <a:cs typeface="+mn-cs"/>
                      </a:endParaRPr>
                    </a:p>
                  </a:txBody>
                  <a:tcPr/>
                </a:tc>
                <a:tc>
                  <a:txBody>
                    <a:bodyPr/>
                    <a:lstStyle/>
                    <a:p>
                      <a:pPr marL="0" algn="l" defTabSz="914332" rtl="0" eaLnBrk="1" latinLnBrk="0" hangingPunct="1"/>
                      <a:r>
                        <a:rPr lang="en-US" altLang="zh-CN" sz="1200" b="1" kern="1200" dirty="0">
                          <a:solidFill>
                            <a:schemeClr val="lt1"/>
                          </a:solidFill>
                          <a:latin typeface="Arial" panose="020B0604020202020204" pitchFamily="34" charset="0"/>
                          <a:ea typeface="微软雅黑" panose="020B0503020204020204" pitchFamily="34" charset="-122"/>
                          <a:cs typeface="+mn-cs"/>
                        </a:rPr>
                        <a:t>Segment</a:t>
                      </a:r>
                      <a:endParaRPr lang="zh-CN" altLang="en-US" sz="1200" b="1" kern="1200" dirty="0">
                        <a:solidFill>
                          <a:schemeClr val="lt1"/>
                        </a:solidFill>
                        <a:latin typeface="Arial" panose="020B0604020202020204" pitchFamily="34" charset="0"/>
                        <a:ea typeface="微软雅黑" panose="020B0503020204020204" pitchFamily="34" charset="-122"/>
                        <a:cs typeface="+mn-cs"/>
                      </a:endParaRPr>
                    </a:p>
                  </a:txBody>
                  <a:tcPr/>
                </a:tc>
                <a:tc>
                  <a:txBody>
                    <a:bodyPr/>
                    <a:lstStyle/>
                    <a:p>
                      <a:pPr marL="0" algn="l" defTabSz="914332" rtl="0" eaLnBrk="1" latinLnBrk="0" hangingPunct="1"/>
                      <a:r>
                        <a:rPr lang="en-US" altLang="zh-CN" sz="1200" b="1" kern="1200" dirty="0">
                          <a:solidFill>
                            <a:schemeClr val="lt1"/>
                          </a:solidFill>
                          <a:latin typeface="Arial" panose="020B0604020202020204" pitchFamily="34" charset="0"/>
                          <a:ea typeface="微软雅黑" panose="020B0503020204020204" pitchFamily="34" charset="-122"/>
                          <a:cs typeface="+mn-cs"/>
                        </a:rPr>
                        <a:t>Quantity</a:t>
                      </a:r>
                      <a:endParaRPr lang="zh-CN" altLang="en-US" sz="1200" b="1" kern="1200" dirty="0">
                        <a:solidFill>
                          <a:schemeClr val="lt1"/>
                        </a:solidFill>
                        <a:latin typeface="Arial" panose="020B0604020202020204" pitchFamily="34" charset="0"/>
                        <a:ea typeface="微软雅黑" panose="020B0503020204020204" pitchFamily="34" charset="-122"/>
                        <a:cs typeface="+mn-cs"/>
                      </a:endParaRPr>
                    </a:p>
                  </a:txBody>
                  <a:tcPr/>
                </a:tc>
                <a:extLst>
                  <a:ext uri="{0D108BD9-81ED-4DB2-BD59-A6C34878D82A}">
                    <a16:rowId xmlns:a16="http://schemas.microsoft.com/office/drawing/2014/main" val="3195187626"/>
                  </a:ext>
                </a:extLst>
              </a:tr>
              <a:tr h="370840">
                <a:tc>
                  <a:txBody>
                    <a:bodyPr/>
                    <a:lstStyle/>
                    <a:p>
                      <a:pPr marL="0" algn="l" defTabSz="914332" rtl="0" eaLnBrk="1" latinLnBrk="0" hangingPunct="1"/>
                      <a:r>
                        <a:rPr lang="en-US" altLang="zh-CN" sz="1200" b="1" kern="1200" dirty="0">
                          <a:solidFill>
                            <a:schemeClr val="bg1"/>
                          </a:solidFill>
                          <a:latin typeface="Arial" panose="020B0604020202020204" pitchFamily="34" charset="0"/>
                          <a:ea typeface="微软雅黑" panose="020B0503020204020204" pitchFamily="34" charset="-122"/>
                          <a:cs typeface="+mn-cs"/>
                        </a:rPr>
                        <a:t>B</a:t>
                      </a:r>
                      <a:endParaRPr lang="zh-CN" altLang="en-US" sz="1200" b="1" kern="1200" dirty="0">
                        <a:solidFill>
                          <a:schemeClr val="bg1"/>
                        </a:solidFill>
                        <a:latin typeface="Arial" panose="020B0604020202020204" pitchFamily="34" charset="0"/>
                        <a:ea typeface="微软雅黑" panose="020B0503020204020204" pitchFamily="34" charset="-122"/>
                        <a:cs typeface="+mn-cs"/>
                      </a:endParaRPr>
                    </a:p>
                  </a:txBody>
                  <a:tcPr/>
                </a:tc>
                <a:tc>
                  <a:txBody>
                    <a:bodyPr/>
                    <a:lstStyle/>
                    <a:p>
                      <a:pPr marL="0" algn="l" defTabSz="914332" rtl="0" eaLnBrk="1" latinLnBrk="0" hangingPunct="1"/>
                      <a:r>
                        <a:rPr lang="en-US" altLang="zh-CN" sz="1200" b="1" kern="1200" dirty="0">
                          <a:solidFill>
                            <a:schemeClr val="bg1"/>
                          </a:solidFill>
                          <a:latin typeface="Arial" panose="020B0604020202020204" pitchFamily="34" charset="0"/>
                          <a:ea typeface="微软雅黑" panose="020B0503020204020204" pitchFamily="34" charset="-122"/>
                          <a:cs typeface="+mn-cs"/>
                        </a:rPr>
                        <a:t>Week1</a:t>
                      </a:r>
                      <a:endParaRPr lang="zh-CN" altLang="en-US" sz="1200" b="1" kern="1200" dirty="0">
                        <a:solidFill>
                          <a:schemeClr val="bg1"/>
                        </a:solidFill>
                        <a:latin typeface="Arial" panose="020B0604020202020204" pitchFamily="34" charset="0"/>
                        <a:ea typeface="微软雅黑" panose="020B0503020204020204" pitchFamily="34" charset="-122"/>
                        <a:cs typeface="+mn-cs"/>
                      </a:endParaRPr>
                    </a:p>
                  </a:txBody>
                  <a:tcPr/>
                </a:tc>
                <a:tc>
                  <a:txBody>
                    <a:bodyPr/>
                    <a:lstStyle/>
                    <a:p>
                      <a:pPr marL="0" algn="l" defTabSz="914332" rtl="0" eaLnBrk="1" latinLnBrk="0" hangingPunct="1"/>
                      <a:r>
                        <a:rPr lang="en-US" altLang="zh-CN" sz="1200" b="1" kern="1200" dirty="0">
                          <a:solidFill>
                            <a:schemeClr val="bg1"/>
                          </a:solidFill>
                          <a:latin typeface="Arial" panose="020B0604020202020204" pitchFamily="34" charset="0"/>
                          <a:ea typeface="微软雅黑" panose="020B0503020204020204" pitchFamily="34" charset="-122"/>
                          <a:cs typeface="+mn-cs"/>
                        </a:rPr>
                        <a:t>NA-America</a:t>
                      </a:r>
                      <a:endParaRPr lang="zh-CN" altLang="en-US" sz="1200" b="1" kern="1200" dirty="0">
                        <a:solidFill>
                          <a:schemeClr val="bg1"/>
                        </a:solidFill>
                        <a:latin typeface="Arial" panose="020B0604020202020204" pitchFamily="34" charset="0"/>
                        <a:ea typeface="微软雅黑" panose="020B0503020204020204" pitchFamily="34" charset="-122"/>
                        <a:cs typeface="+mn-cs"/>
                      </a:endParaRPr>
                    </a:p>
                  </a:txBody>
                  <a:tcPr/>
                </a:tc>
                <a:tc>
                  <a:txBody>
                    <a:bodyPr/>
                    <a:lstStyle/>
                    <a:p>
                      <a:pPr marL="0" algn="l" defTabSz="914332" rtl="0" eaLnBrk="1" latinLnBrk="0" hangingPunct="1"/>
                      <a:r>
                        <a:rPr lang="en-US" altLang="zh-CN" sz="1200" b="1" kern="1200" dirty="0">
                          <a:solidFill>
                            <a:schemeClr val="bg1"/>
                          </a:solidFill>
                          <a:latin typeface="Arial" panose="020B0604020202020204" pitchFamily="34" charset="0"/>
                          <a:ea typeface="微软雅黑" panose="020B0503020204020204" pitchFamily="34" charset="-122"/>
                          <a:cs typeface="+mn-cs"/>
                        </a:rPr>
                        <a:t>200</a:t>
                      </a:r>
                      <a:endParaRPr lang="zh-CN" altLang="en-US" sz="1200" b="1" kern="1200" dirty="0">
                        <a:solidFill>
                          <a:schemeClr val="bg1"/>
                        </a:solidFill>
                        <a:latin typeface="Arial" panose="020B0604020202020204" pitchFamily="34" charset="0"/>
                        <a:ea typeface="微软雅黑" panose="020B0503020204020204" pitchFamily="34" charset="-122"/>
                        <a:cs typeface="+mn-cs"/>
                      </a:endParaRPr>
                    </a:p>
                  </a:txBody>
                  <a:tcPr/>
                </a:tc>
                <a:extLst>
                  <a:ext uri="{0D108BD9-81ED-4DB2-BD59-A6C34878D82A}">
                    <a16:rowId xmlns:a16="http://schemas.microsoft.com/office/drawing/2014/main" val="3120076279"/>
                  </a:ext>
                </a:extLst>
              </a:tr>
            </a:tbl>
          </a:graphicData>
        </a:graphic>
      </p:graphicFrame>
      <p:sp>
        <p:nvSpPr>
          <p:cNvPr id="4" name="文本框 3">
            <a:extLst>
              <a:ext uri="{FF2B5EF4-FFF2-40B4-BE49-F238E27FC236}">
                <a16:creationId xmlns:a16="http://schemas.microsoft.com/office/drawing/2014/main" id="{AD46941B-0BF3-A1E1-A584-3201F17D439A}"/>
              </a:ext>
            </a:extLst>
          </p:cNvPr>
          <p:cNvSpPr txBox="1"/>
          <p:nvPr/>
        </p:nvSpPr>
        <p:spPr>
          <a:xfrm>
            <a:off x="208924" y="1146242"/>
            <a:ext cx="1521905"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Allocation </a:t>
            </a:r>
            <a:endParaRPr kumimoji="0" lang="zh-CN" altLang="en-US" sz="18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5" name="文本框 4">
            <a:extLst>
              <a:ext uri="{FF2B5EF4-FFF2-40B4-BE49-F238E27FC236}">
                <a16:creationId xmlns:a16="http://schemas.microsoft.com/office/drawing/2014/main" id="{01487134-A8FA-45B6-28EE-5A3861BBEB7B}"/>
              </a:ext>
            </a:extLst>
          </p:cNvPr>
          <p:cNvSpPr txBox="1"/>
          <p:nvPr/>
        </p:nvSpPr>
        <p:spPr>
          <a:xfrm>
            <a:off x="263353" y="4030907"/>
            <a:ext cx="5047865"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Execution planning Supply Module</a:t>
            </a:r>
            <a:endParaRPr kumimoji="0" lang="zh-CN" altLang="en-US" sz="18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graphicFrame>
        <p:nvGraphicFramePr>
          <p:cNvPr id="6" name="表格 5">
            <a:extLst>
              <a:ext uri="{FF2B5EF4-FFF2-40B4-BE49-F238E27FC236}">
                <a16:creationId xmlns:a16="http://schemas.microsoft.com/office/drawing/2014/main" id="{E0CAE2DD-A6E2-0C62-2CCF-00F9530AD664}"/>
              </a:ext>
            </a:extLst>
          </p:cNvPr>
          <p:cNvGraphicFramePr>
            <a:graphicFrameLocks noGrp="1"/>
          </p:cNvGraphicFramePr>
          <p:nvPr>
            <p:extLst>
              <p:ext uri="{D42A27DB-BD31-4B8C-83A1-F6EECF244321}">
                <p14:modId xmlns:p14="http://schemas.microsoft.com/office/powerpoint/2010/main" val="1375024546"/>
              </p:ext>
            </p:extLst>
          </p:nvPr>
        </p:nvGraphicFramePr>
        <p:xfrm>
          <a:off x="1636069" y="4506233"/>
          <a:ext cx="8986873" cy="1857120"/>
        </p:xfrm>
        <a:graphic>
          <a:graphicData uri="http://schemas.openxmlformats.org/drawingml/2006/table">
            <a:tbl>
              <a:tblPr firstRow="1" bandRow="1">
                <a:tableStyleId>{5C22544A-7EE6-4342-B048-85BDC9FD1C3A}</a:tableStyleId>
              </a:tblPr>
              <a:tblGrid>
                <a:gridCol w="1108504">
                  <a:extLst>
                    <a:ext uri="{9D8B030D-6E8A-4147-A177-3AD203B41FA5}">
                      <a16:colId xmlns:a16="http://schemas.microsoft.com/office/drawing/2014/main" val="709280684"/>
                    </a:ext>
                  </a:extLst>
                </a:gridCol>
                <a:gridCol w="1108504">
                  <a:extLst>
                    <a:ext uri="{9D8B030D-6E8A-4147-A177-3AD203B41FA5}">
                      <a16:colId xmlns:a16="http://schemas.microsoft.com/office/drawing/2014/main" val="1196467804"/>
                    </a:ext>
                  </a:extLst>
                </a:gridCol>
                <a:gridCol w="1108504">
                  <a:extLst>
                    <a:ext uri="{9D8B030D-6E8A-4147-A177-3AD203B41FA5}">
                      <a16:colId xmlns:a16="http://schemas.microsoft.com/office/drawing/2014/main" val="2361938322"/>
                    </a:ext>
                  </a:extLst>
                </a:gridCol>
                <a:gridCol w="754062">
                  <a:extLst>
                    <a:ext uri="{9D8B030D-6E8A-4147-A177-3AD203B41FA5}">
                      <a16:colId xmlns:a16="http://schemas.microsoft.com/office/drawing/2014/main" val="1383047409"/>
                    </a:ext>
                  </a:extLst>
                </a:gridCol>
                <a:gridCol w="4907299">
                  <a:extLst>
                    <a:ext uri="{9D8B030D-6E8A-4147-A177-3AD203B41FA5}">
                      <a16:colId xmlns:a16="http://schemas.microsoft.com/office/drawing/2014/main" val="3629376943"/>
                    </a:ext>
                  </a:extLst>
                </a:gridCol>
              </a:tblGrid>
              <a:tr h="270900">
                <a:tc>
                  <a:txBody>
                    <a:bodyPr/>
                    <a:lstStyle/>
                    <a:p>
                      <a:r>
                        <a:rPr lang="en-US" altLang="zh-CN" sz="1200" b="1" dirty="0">
                          <a:solidFill>
                            <a:schemeClr val="bg1"/>
                          </a:solidFill>
                          <a:latin typeface="Arial" panose="020B0604020202020204" pitchFamily="34" charset="0"/>
                          <a:ea typeface="微软雅黑" panose="020B0503020204020204" pitchFamily="34" charset="-122"/>
                        </a:rPr>
                        <a:t>Part</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Bucket</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Quantity</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Allotment</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Comments</a:t>
                      </a:r>
                      <a:endParaRPr lang="zh-CN" altLang="en-US" sz="12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195187626"/>
                  </a:ext>
                </a:extLst>
              </a:tr>
              <a:tr h="270900">
                <a:tc>
                  <a:txBody>
                    <a:bodyPr/>
                    <a:lstStyle/>
                    <a:p>
                      <a:r>
                        <a:rPr lang="en-US" altLang="zh-CN" sz="1200" b="1" dirty="0">
                          <a:solidFill>
                            <a:schemeClr val="bg1"/>
                          </a:solidFill>
                          <a:latin typeface="Arial" panose="020B0604020202020204" pitchFamily="34" charset="0"/>
                          <a:ea typeface="微软雅黑" panose="020B0503020204020204" pitchFamily="34" charset="-122"/>
                        </a:rPr>
                        <a:t>B</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Day1</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700</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200</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rowSpan="3">
                  <a:txBody>
                    <a:bodyPr/>
                    <a:lstStyle/>
                    <a:p>
                      <a:r>
                        <a:rPr lang="en-US" altLang="zh-CN" sz="1200" b="1" dirty="0">
                          <a:solidFill>
                            <a:schemeClr val="bg1"/>
                          </a:solidFill>
                          <a:latin typeface="Arial" panose="020B0604020202020204" pitchFamily="34" charset="0"/>
                          <a:ea typeface="微软雅黑" panose="020B0503020204020204" pitchFamily="34" charset="-122"/>
                        </a:rPr>
                        <a:t>Supply assignment to Segment is free but the total quantity could not beyond 200</a:t>
                      </a:r>
                      <a:endParaRPr lang="zh-CN" altLang="en-US" sz="12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120076279"/>
                  </a:ext>
                </a:extLst>
              </a:tr>
              <a:tr h="270900">
                <a:tc>
                  <a:txBody>
                    <a:bodyPr/>
                    <a:lstStyle/>
                    <a:p>
                      <a:r>
                        <a:rPr lang="en-US" altLang="zh-CN" sz="1200" b="1" dirty="0">
                          <a:solidFill>
                            <a:schemeClr val="bg1"/>
                          </a:solidFill>
                          <a:latin typeface="Arial" panose="020B0604020202020204" pitchFamily="34" charset="0"/>
                          <a:ea typeface="微软雅黑" panose="020B0503020204020204" pitchFamily="34" charset="-122"/>
                        </a:rPr>
                        <a:t>B</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Day2</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200</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200</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vMerge="1">
                  <a:txBody>
                    <a:bodyPr/>
                    <a:lstStyle/>
                    <a:p>
                      <a:endParaRPr lang="zh-CN" altLang="en-US" dirty="0"/>
                    </a:p>
                  </a:txBody>
                  <a:tcPr/>
                </a:tc>
                <a:extLst>
                  <a:ext uri="{0D108BD9-81ED-4DB2-BD59-A6C34878D82A}">
                    <a16:rowId xmlns:a16="http://schemas.microsoft.com/office/drawing/2014/main" val="534074730"/>
                  </a:ext>
                </a:extLst>
              </a:tr>
              <a:tr h="851280">
                <a:tc>
                  <a:txBody>
                    <a:bodyPr/>
                    <a:lstStyle/>
                    <a:p>
                      <a:r>
                        <a:rPr lang="en-US" altLang="zh-CN" sz="1200" b="1" dirty="0">
                          <a:solidFill>
                            <a:schemeClr val="bg1"/>
                          </a:solidFill>
                          <a:latin typeface="Arial" panose="020B0604020202020204" pitchFamily="34" charset="0"/>
                          <a:ea typeface="微软雅黑" panose="020B0503020204020204" pitchFamily="34" charset="-122"/>
                        </a:rPr>
                        <a:t>B</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Day3</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500</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200</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vMerge="1">
                  <a:txBody>
                    <a:bodyPr/>
                    <a:lstStyle/>
                    <a:p>
                      <a:endParaRPr lang="zh-CN" altLang="en-US" dirty="0"/>
                    </a:p>
                  </a:txBody>
                  <a:tcPr/>
                </a:tc>
                <a:extLst>
                  <a:ext uri="{0D108BD9-81ED-4DB2-BD59-A6C34878D82A}">
                    <a16:rowId xmlns:a16="http://schemas.microsoft.com/office/drawing/2014/main" val="3296060658"/>
                  </a:ext>
                </a:extLst>
              </a:tr>
            </a:tbl>
          </a:graphicData>
        </a:graphic>
      </p:graphicFrame>
      <p:sp>
        <p:nvSpPr>
          <p:cNvPr id="7" name="标题 1">
            <a:extLst>
              <a:ext uri="{FF2B5EF4-FFF2-40B4-BE49-F238E27FC236}">
                <a16:creationId xmlns:a16="http://schemas.microsoft.com/office/drawing/2014/main" id="{7BE868E8-CF03-4795-2583-10A2E9D9FC08}"/>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Allocation</a:t>
            </a:r>
            <a:r>
              <a:rPr lang="en-US" altLang="zh-CN" sz="2800" dirty="0">
                <a:latin typeface="Arial" panose="020B0604020202020204" pitchFamily="34" charset="0"/>
                <a:ea typeface="微软雅黑" panose="020B0503020204020204" pitchFamily="34" charset="-122"/>
              </a:rPr>
              <a:t> – </a:t>
            </a:r>
            <a:r>
              <a:rPr lang="zh-CN" altLang="en-US" sz="2800" dirty="0">
                <a:latin typeface="Arial" panose="020B0604020202020204" pitchFamily="34" charset="0"/>
                <a:ea typeface="微软雅黑" panose="020B0503020204020204" pitchFamily="34" charset="-122"/>
              </a:rPr>
              <a:t>分配的结果作为配额即约束性指导</a:t>
            </a:r>
            <a:endParaRPr lang="zh-CN" altLang="en-US" dirty="0">
              <a:latin typeface="Arial" panose="020B0604020202020204" pitchFamily="34" charset="0"/>
              <a:ea typeface="微软雅黑" panose="020B0503020204020204" pitchFamily="34" charset="-122"/>
            </a:endParaRPr>
          </a:p>
        </p:txBody>
      </p:sp>
      <p:graphicFrame>
        <p:nvGraphicFramePr>
          <p:cNvPr id="2" name="表格 1">
            <a:extLst>
              <a:ext uri="{FF2B5EF4-FFF2-40B4-BE49-F238E27FC236}">
                <a16:creationId xmlns:a16="http://schemas.microsoft.com/office/drawing/2014/main" id="{E08347A7-374F-DA5D-C1CE-44990E3B1041}"/>
              </a:ext>
            </a:extLst>
          </p:cNvPr>
          <p:cNvGraphicFramePr>
            <a:graphicFrameLocks noGrp="1"/>
          </p:cNvGraphicFramePr>
          <p:nvPr>
            <p:extLst>
              <p:ext uri="{D42A27DB-BD31-4B8C-83A1-F6EECF244321}">
                <p14:modId xmlns:p14="http://schemas.microsoft.com/office/powerpoint/2010/main" val="2926762200"/>
              </p:ext>
            </p:extLst>
          </p:nvPr>
        </p:nvGraphicFramePr>
        <p:xfrm>
          <a:off x="1636070" y="1515574"/>
          <a:ext cx="9317364" cy="1092303"/>
        </p:xfrm>
        <a:graphic>
          <a:graphicData uri="http://schemas.openxmlformats.org/drawingml/2006/table">
            <a:tbl>
              <a:tblPr firstRow="1" bandRow="1">
                <a:tableStyleId>{5C22544A-7EE6-4342-B048-85BDC9FD1C3A}</a:tableStyleId>
              </a:tblPr>
              <a:tblGrid>
                <a:gridCol w="1083826">
                  <a:extLst>
                    <a:ext uri="{9D8B030D-6E8A-4147-A177-3AD203B41FA5}">
                      <a16:colId xmlns:a16="http://schemas.microsoft.com/office/drawing/2014/main" val="797246236"/>
                    </a:ext>
                  </a:extLst>
                </a:gridCol>
                <a:gridCol w="1083826">
                  <a:extLst>
                    <a:ext uri="{9D8B030D-6E8A-4147-A177-3AD203B41FA5}">
                      <a16:colId xmlns:a16="http://schemas.microsoft.com/office/drawing/2014/main" val="709280684"/>
                    </a:ext>
                  </a:extLst>
                </a:gridCol>
                <a:gridCol w="1169289">
                  <a:extLst>
                    <a:ext uri="{9D8B030D-6E8A-4147-A177-3AD203B41FA5}">
                      <a16:colId xmlns:a16="http://schemas.microsoft.com/office/drawing/2014/main" val="4012562183"/>
                    </a:ext>
                  </a:extLst>
                </a:gridCol>
                <a:gridCol w="1083826">
                  <a:extLst>
                    <a:ext uri="{9D8B030D-6E8A-4147-A177-3AD203B41FA5}">
                      <a16:colId xmlns:a16="http://schemas.microsoft.com/office/drawing/2014/main" val="1196467804"/>
                    </a:ext>
                  </a:extLst>
                </a:gridCol>
                <a:gridCol w="1723581">
                  <a:extLst>
                    <a:ext uri="{9D8B030D-6E8A-4147-A177-3AD203B41FA5}">
                      <a16:colId xmlns:a16="http://schemas.microsoft.com/office/drawing/2014/main" val="4127166940"/>
                    </a:ext>
                  </a:extLst>
                </a:gridCol>
                <a:gridCol w="2089190">
                  <a:extLst>
                    <a:ext uri="{9D8B030D-6E8A-4147-A177-3AD203B41FA5}">
                      <a16:colId xmlns:a16="http://schemas.microsoft.com/office/drawing/2014/main" val="2361938322"/>
                    </a:ext>
                  </a:extLst>
                </a:gridCol>
                <a:gridCol w="1083826">
                  <a:extLst>
                    <a:ext uri="{9D8B030D-6E8A-4147-A177-3AD203B41FA5}">
                      <a16:colId xmlns:a16="http://schemas.microsoft.com/office/drawing/2014/main" val="1322209213"/>
                    </a:ext>
                  </a:extLst>
                </a:gridCol>
              </a:tblGrid>
              <a:tr h="364101">
                <a:tc>
                  <a:txBody>
                    <a:bodyPr/>
                    <a:lstStyle/>
                    <a:p>
                      <a:r>
                        <a:rPr lang="en-US" altLang="zh-CN" sz="1200" b="1" dirty="0">
                          <a:solidFill>
                            <a:schemeClr val="bg1"/>
                          </a:solidFill>
                          <a:latin typeface="Arial" panose="020B0604020202020204" pitchFamily="34" charset="0"/>
                          <a:ea typeface="微软雅黑" panose="020B0503020204020204" pitchFamily="34" charset="-122"/>
                        </a:rPr>
                        <a:t>Demand</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Part</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Request Qty</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Bucket</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Segment/Hierarchy</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Request Qty by bucket</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Allocation</a:t>
                      </a:r>
                      <a:endParaRPr lang="zh-CN" altLang="en-US" sz="12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195187626"/>
                  </a:ext>
                </a:extLst>
              </a:tr>
              <a:tr h="364101">
                <a:tc>
                  <a:txBody>
                    <a:bodyPr/>
                    <a:lstStyle/>
                    <a:p>
                      <a:r>
                        <a:rPr lang="en-US" altLang="zh-CN" sz="1200" b="1" dirty="0">
                          <a:solidFill>
                            <a:schemeClr val="bg1"/>
                          </a:solidFill>
                          <a:latin typeface="Arial" panose="020B0604020202020204" pitchFamily="34" charset="0"/>
                          <a:ea typeface="微软雅黑" panose="020B0503020204020204" pitchFamily="34" charset="-122"/>
                        </a:rPr>
                        <a:t>D6</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B</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100</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W1</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NA-America</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250</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200</a:t>
                      </a:r>
                      <a:endParaRPr lang="zh-CN" altLang="en-US" sz="12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120076279"/>
                  </a:ext>
                </a:extLst>
              </a:tr>
              <a:tr h="364101">
                <a:tc>
                  <a:txBody>
                    <a:bodyPr/>
                    <a:lstStyle/>
                    <a:p>
                      <a:r>
                        <a:rPr lang="en-US" altLang="zh-CN" sz="1200" b="1" dirty="0">
                          <a:solidFill>
                            <a:schemeClr val="bg1"/>
                          </a:solidFill>
                          <a:latin typeface="Arial" panose="020B0604020202020204" pitchFamily="34" charset="0"/>
                          <a:ea typeface="微软雅黑" panose="020B0503020204020204" pitchFamily="34" charset="-122"/>
                        </a:rPr>
                        <a:t>D7</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B</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150</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W1</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200" b="1" dirty="0">
                          <a:solidFill>
                            <a:schemeClr val="bg1"/>
                          </a:solidFill>
                          <a:latin typeface="Arial" panose="020B0604020202020204" pitchFamily="34" charset="0"/>
                          <a:ea typeface="微软雅黑" panose="020B0503020204020204" pitchFamily="34" charset="-122"/>
                        </a:rPr>
                        <a:t>NA-America</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250</a:t>
                      </a:r>
                      <a:endParaRPr lang="zh-CN" altLang="en-US" sz="12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200</a:t>
                      </a:r>
                      <a:endParaRPr lang="zh-CN" altLang="en-US" sz="12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652917693"/>
                  </a:ext>
                </a:extLst>
              </a:tr>
            </a:tbl>
          </a:graphicData>
        </a:graphic>
      </p:graphicFrame>
      <p:sp>
        <p:nvSpPr>
          <p:cNvPr id="8" name="文本框 7">
            <a:extLst>
              <a:ext uri="{FF2B5EF4-FFF2-40B4-BE49-F238E27FC236}">
                <a16:creationId xmlns:a16="http://schemas.microsoft.com/office/drawing/2014/main" id="{F7A20686-1B67-160E-767D-8D737E4FA611}"/>
              </a:ext>
            </a:extLst>
          </p:cNvPr>
          <p:cNvSpPr txBox="1"/>
          <p:nvPr/>
        </p:nvSpPr>
        <p:spPr>
          <a:xfrm>
            <a:off x="263353" y="2703329"/>
            <a:ext cx="3540116" cy="369332"/>
          </a:xfrm>
          <a:prstGeom prst="rect">
            <a:avLst/>
          </a:prstGeom>
          <a:noFill/>
        </p:spPr>
        <p:txBody>
          <a:bodyPr wrap="square" rtlCol="0">
            <a:spAutoFit/>
          </a:bodyPr>
          <a:lstStyle>
            <a:defPPr>
              <a:defRPr lang="zh-CN"/>
            </a:defPPr>
            <a:lvl1pPr marR="0" lvl="0" indent="0" fontAlgn="auto">
              <a:lnSpc>
                <a:spcPct val="100000"/>
              </a:lnSpc>
              <a:spcBef>
                <a:spcPts val="0"/>
              </a:spcBef>
              <a:spcAft>
                <a:spcPts val="0"/>
              </a:spcAft>
              <a:buClrTx/>
              <a:buSzTx/>
              <a:buFontTx/>
              <a:buNone/>
              <a:tabLst/>
              <a:defRPr kumimoji="0" b="1" i="0" u="none" strike="noStrike" cap="none" spc="0" normalizeH="0" baseline="0">
                <a:ln>
                  <a:noFill/>
                </a:ln>
                <a:effectLst/>
                <a:uLnTx/>
                <a:uFillTx/>
                <a:latin typeface="+mn-ea"/>
              </a:defRPr>
            </a:lvl1pPr>
          </a:lstStyle>
          <a:p>
            <a:r>
              <a:rPr lang="en-US" altLang="zh-CN" dirty="0">
                <a:latin typeface="Arial" panose="020B0604020202020204" pitchFamily="34" charset="0"/>
                <a:ea typeface="微软雅黑" panose="020B0503020204020204" pitchFamily="34" charset="-122"/>
              </a:rPr>
              <a:t>Allotment </a:t>
            </a:r>
            <a:endParaRPr lang="zh-CN" altLang="en-US"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36501643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D46C2B5-AB64-048A-8FBE-18A89FBA89DF}"/>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纵向协同</a:t>
            </a:r>
          </a:p>
        </p:txBody>
      </p:sp>
      <p:sp>
        <p:nvSpPr>
          <p:cNvPr id="3" name="文本框 2">
            <a:extLst>
              <a:ext uri="{FF2B5EF4-FFF2-40B4-BE49-F238E27FC236}">
                <a16:creationId xmlns:a16="http://schemas.microsoft.com/office/drawing/2014/main" id="{B1C76B35-60E7-23ED-4157-84CF25955C8A}"/>
              </a:ext>
            </a:extLst>
          </p:cNvPr>
          <p:cNvSpPr txBox="1"/>
          <p:nvPr/>
        </p:nvSpPr>
        <p:spPr>
          <a:xfrm>
            <a:off x="273666" y="1723511"/>
            <a:ext cx="2749313" cy="307777"/>
          </a:xfrm>
          <a:prstGeom prst="rect">
            <a:avLst/>
          </a:prstGeom>
          <a:noFill/>
        </p:spPr>
        <p:txBody>
          <a:bodyPr wrap="square" rtlCol="0">
            <a:spAutoFit/>
          </a:bodyPr>
          <a:lstStyle/>
          <a:p>
            <a:r>
              <a:rPr lang="zh-CN" altLang="en-US" sz="1400" b="1" dirty="0">
                <a:latin typeface="Arial" panose="020B0604020202020204" pitchFamily="34" charset="0"/>
                <a:ea typeface="微软雅黑" panose="020B0503020204020204" pitchFamily="34" charset="-122"/>
              </a:rPr>
              <a:t>战略 </a:t>
            </a:r>
            <a:r>
              <a:rPr lang="en-US" altLang="zh-CN" sz="1400" b="1" dirty="0">
                <a:latin typeface="Arial" panose="020B0604020202020204" pitchFamily="34" charset="0"/>
                <a:ea typeface="微软雅黑" panose="020B0503020204020204" pitchFamily="34" charset="-122"/>
              </a:rPr>
              <a:t>Consensus Forecast</a:t>
            </a:r>
            <a:endParaRPr lang="zh-CN" altLang="en-US" sz="1400" b="1" dirty="0">
              <a:latin typeface="Arial" panose="020B0604020202020204" pitchFamily="34" charset="0"/>
              <a:ea typeface="微软雅黑" panose="020B0503020204020204" pitchFamily="34" charset="-122"/>
            </a:endParaRPr>
          </a:p>
        </p:txBody>
      </p:sp>
      <p:sp>
        <p:nvSpPr>
          <p:cNvPr id="4" name="文本框 3">
            <a:extLst>
              <a:ext uri="{FF2B5EF4-FFF2-40B4-BE49-F238E27FC236}">
                <a16:creationId xmlns:a16="http://schemas.microsoft.com/office/drawing/2014/main" id="{21E1A60D-B2F2-35E9-3216-ABFF47FD31C4}"/>
              </a:ext>
            </a:extLst>
          </p:cNvPr>
          <p:cNvSpPr txBox="1"/>
          <p:nvPr/>
        </p:nvSpPr>
        <p:spPr>
          <a:xfrm>
            <a:off x="341905" y="3927427"/>
            <a:ext cx="2217050" cy="307777"/>
          </a:xfrm>
          <a:prstGeom prst="rect">
            <a:avLst/>
          </a:prstGeom>
          <a:noFill/>
        </p:spPr>
        <p:txBody>
          <a:bodyPr wrap="square" rtlCol="0">
            <a:spAutoFit/>
          </a:bodyPr>
          <a:lstStyle>
            <a:defPPr>
              <a:defRPr lang="zh-CN"/>
            </a:defPPr>
            <a:lvl1pPr>
              <a:defRPr sz="1400" b="1">
                <a:latin typeface="+mn-ea"/>
              </a:defRPr>
            </a:lvl1pPr>
          </a:lstStyle>
          <a:p>
            <a:r>
              <a:rPr lang="zh-CN" altLang="en-US" dirty="0">
                <a:latin typeface="Arial" panose="020B0604020202020204" pitchFamily="34" charset="0"/>
                <a:ea typeface="微软雅黑" panose="020B0503020204020204" pitchFamily="34" charset="-122"/>
              </a:rPr>
              <a:t>战术 </a:t>
            </a:r>
            <a:r>
              <a:rPr lang="en-US" altLang="zh-CN" dirty="0">
                <a:latin typeface="Arial" panose="020B0604020202020204" pitchFamily="34" charset="0"/>
                <a:ea typeface="微软雅黑" panose="020B0503020204020204" pitchFamily="34" charset="-122"/>
              </a:rPr>
              <a:t>Master Planning</a:t>
            </a:r>
            <a:endParaRPr lang="zh-CN" altLang="en-US" dirty="0">
              <a:latin typeface="Arial" panose="020B0604020202020204" pitchFamily="34" charset="0"/>
              <a:ea typeface="微软雅黑" panose="020B0503020204020204" pitchFamily="34" charset="-122"/>
            </a:endParaRPr>
          </a:p>
        </p:txBody>
      </p:sp>
      <p:sp>
        <p:nvSpPr>
          <p:cNvPr id="5" name="文本框 4">
            <a:extLst>
              <a:ext uri="{FF2B5EF4-FFF2-40B4-BE49-F238E27FC236}">
                <a16:creationId xmlns:a16="http://schemas.microsoft.com/office/drawing/2014/main" id="{0EDF53C4-85F9-B2B1-383E-BE36732A53C5}"/>
              </a:ext>
            </a:extLst>
          </p:cNvPr>
          <p:cNvSpPr txBox="1"/>
          <p:nvPr/>
        </p:nvSpPr>
        <p:spPr>
          <a:xfrm>
            <a:off x="273666" y="6097195"/>
            <a:ext cx="3029092" cy="307777"/>
          </a:xfrm>
          <a:prstGeom prst="rect">
            <a:avLst/>
          </a:prstGeom>
          <a:noFill/>
        </p:spPr>
        <p:txBody>
          <a:bodyPr wrap="square" rtlCol="0">
            <a:spAutoFit/>
          </a:bodyPr>
          <a:lstStyle>
            <a:defPPr>
              <a:defRPr lang="zh-CN"/>
            </a:defPPr>
            <a:lvl1pPr>
              <a:defRPr sz="1400" b="1">
                <a:latin typeface="+mn-ea"/>
              </a:defRPr>
            </a:lvl1pPr>
          </a:lstStyle>
          <a:p>
            <a:r>
              <a:rPr lang="zh-CN" altLang="en-US" dirty="0">
                <a:latin typeface="Arial" panose="020B0604020202020204" pitchFamily="34" charset="0"/>
                <a:ea typeface="微软雅黑" panose="020B0503020204020204" pitchFamily="34" charset="-122"/>
              </a:rPr>
              <a:t>运营执行 </a:t>
            </a:r>
            <a:r>
              <a:rPr lang="en-US" altLang="zh-CN" dirty="0">
                <a:latin typeface="Arial" panose="020B0604020202020204" pitchFamily="34" charset="0"/>
                <a:ea typeface="微软雅黑" panose="020B0503020204020204" pitchFamily="34" charset="-122"/>
              </a:rPr>
              <a:t>Execution Planning</a:t>
            </a:r>
            <a:endParaRPr lang="zh-CN" altLang="en-US" dirty="0">
              <a:latin typeface="Arial" panose="020B0604020202020204" pitchFamily="34" charset="0"/>
              <a:ea typeface="微软雅黑" panose="020B0503020204020204" pitchFamily="34" charset="-122"/>
            </a:endParaRPr>
          </a:p>
        </p:txBody>
      </p:sp>
      <p:sp>
        <p:nvSpPr>
          <p:cNvPr id="6" name="矩形 5">
            <a:extLst>
              <a:ext uri="{FF2B5EF4-FFF2-40B4-BE49-F238E27FC236}">
                <a16:creationId xmlns:a16="http://schemas.microsoft.com/office/drawing/2014/main" id="{17D5EDF2-65EB-1AA6-54D6-AFAB8D5A882C}"/>
              </a:ext>
            </a:extLst>
          </p:cNvPr>
          <p:cNvSpPr/>
          <p:nvPr/>
        </p:nvSpPr>
        <p:spPr>
          <a:xfrm>
            <a:off x="3450115" y="1167417"/>
            <a:ext cx="1962150" cy="438150"/>
          </a:xfrm>
          <a:prstGeom prst="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Customer Hierarchy</a:t>
            </a:r>
            <a:endParaRPr kumimoji="0" lang="zh-CN" altLang="en-US"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7" name="矩形 6">
            <a:extLst>
              <a:ext uri="{FF2B5EF4-FFF2-40B4-BE49-F238E27FC236}">
                <a16:creationId xmlns:a16="http://schemas.microsoft.com/office/drawing/2014/main" id="{819B6E73-AAF1-759E-1BB3-B6F57CF19C61}"/>
              </a:ext>
            </a:extLst>
          </p:cNvPr>
          <p:cNvSpPr/>
          <p:nvPr/>
        </p:nvSpPr>
        <p:spPr>
          <a:xfrm>
            <a:off x="3450115" y="1970723"/>
            <a:ext cx="1962150" cy="438150"/>
          </a:xfrm>
          <a:prstGeom prst="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Region Hierarchy</a:t>
            </a:r>
            <a:endParaRPr kumimoji="0" lang="zh-CN" altLang="en-US"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8" name="矩形 7">
            <a:extLst>
              <a:ext uri="{FF2B5EF4-FFF2-40B4-BE49-F238E27FC236}">
                <a16:creationId xmlns:a16="http://schemas.microsoft.com/office/drawing/2014/main" id="{C873F552-A9BC-864B-44AB-B32FFEF0B5E2}"/>
              </a:ext>
            </a:extLst>
          </p:cNvPr>
          <p:cNvSpPr/>
          <p:nvPr/>
        </p:nvSpPr>
        <p:spPr>
          <a:xfrm>
            <a:off x="3450115" y="2754979"/>
            <a:ext cx="1962150" cy="438150"/>
          </a:xfrm>
          <a:prstGeom prst="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Part Hierarchy</a:t>
            </a:r>
            <a:endParaRPr kumimoji="0" lang="zh-CN" altLang="en-US"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9" name="矩形 8">
            <a:extLst>
              <a:ext uri="{FF2B5EF4-FFF2-40B4-BE49-F238E27FC236}">
                <a16:creationId xmlns:a16="http://schemas.microsoft.com/office/drawing/2014/main" id="{902832F8-3B83-BF06-5975-819D38CD701B}"/>
              </a:ext>
            </a:extLst>
          </p:cNvPr>
          <p:cNvSpPr/>
          <p:nvPr/>
        </p:nvSpPr>
        <p:spPr>
          <a:xfrm>
            <a:off x="5878990" y="1961198"/>
            <a:ext cx="1962150" cy="438150"/>
          </a:xfrm>
          <a:prstGeom prst="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Combine Hierarchy </a:t>
            </a:r>
            <a:endParaRPr kumimoji="0" lang="zh-CN" altLang="en-US"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10" name="连接符: 肘形 9">
            <a:extLst>
              <a:ext uri="{FF2B5EF4-FFF2-40B4-BE49-F238E27FC236}">
                <a16:creationId xmlns:a16="http://schemas.microsoft.com/office/drawing/2014/main" id="{C9F4CF9E-BF06-8A3C-978B-C64952DE59B3}"/>
              </a:ext>
            </a:extLst>
          </p:cNvPr>
          <p:cNvCxnSpPr>
            <a:cxnSpLocks/>
            <a:stCxn id="6" idx="3"/>
            <a:endCxn id="9" idx="1"/>
          </p:cNvCxnSpPr>
          <p:nvPr/>
        </p:nvCxnSpPr>
        <p:spPr>
          <a:xfrm>
            <a:off x="5412265" y="1386492"/>
            <a:ext cx="466725" cy="793781"/>
          </a:xfrm>
          <a:prstGeom prst="bentConnector3">
            <a:avLst>
              <a:gd name="adj1" fmla="val 50000"/>
            </a:avLst>
          </a:prstGeom>
          <a:ln w="12700">
            <a:solidFill>
              <a:srgbClr val="00B0F0"/>
            </a:solidFill>
            <a:tailEnd type="triangle"/>
          </a:ln>
        </p:spPr>
        <p:style>
          <a:lnRef idx="1">
            <a:schemeClr val="accent1"/>
          </a:lnRef>
          <a:fillRef idx="0">
            <a:schemeClr val="accent1"/>
          </a:fillRef>
          <a:effectRef idx="0">
            <a:schemeClr val="accent1"/>
          </a:effectRef>
          <a:fontRef idx="minor">
            <a:schemeClr val="tx1"/>
          </a:fontRef>
        </p:style>
      </p:cxnSp>
      <p:cxnSp>
        <p:nvCxnSpPr>
          <p:cNvPr id="11" name="连接符: 肘形 10">
            <a:extLst>
              <a:ext uri="{FF2B5EF4-FFF2-40B4-BE49-F238E27FC236}">
                <a16:creationId xmlns:a16="http://schemas.microsoft.com/office/drawing/2014/main" id="{E7B1A4FF-2FDB-39B0-D8F8-526199C94B27}"/>
              </a:ext>
            </a:extLst>
          </p:cNvPr>
          <p:cNvCxnSpPr>
            <a:cxnSpLocks/>
            <a:stCxn id="7" idx="3"/>
            <a:endCxn id="9" idx="1"/>
          </p:cNvCxnSpPr>
          <p:nvPr/>
        </p:nvCxnSpPr>
        <p:spPr>
          <a:xfrm flipV="1">
            <a:off x="5412265" y="2180273"/>
            <a:ext cx="466725" cy="9525"/>
          </a:xfrm>
          <a:prstGeom prst="bentConnector3">
            <a:avLst>
              <a:gd name="adj1" fmla="val 50000"/>
            </a:avLst>
          </a:prstGeom>
          <a:ln w="12700">
            <a:solidFill>
              <a:srgbClr val="00B0F0"/>
            </a:solidFill>
            <a:tailEnd type="triangle"/>
          </a:ln>
        </p:spPr>
        <p:style>
          <a:lnRef idx="1">
            <a:schemeClr val="accent1"/>
          </a:lnRef>
          <a:fillRef idx="0">
            <a:schemeClr val="accent1"/>
          </a:fillRef>
          <a:effectRef idx="0">
            <a:schemeClr val="accent1"/>
          </a:effectRef>
          <a:fontRef idx="minor">
            <a:schemeClr val="tx1"/>
          </a:fontRef>
        </p:style>
      </p:cxnSp>
      <p:cxnSp>
        <p:nvCxnSpPr>
          <p:cNvPr id="12" name="连接符: 肘形 11">
            <a:extLst>
              <a:ext uri="{FF2B5EF4-FFF2-40B4-BE49-F238E27FC236}">
                <a16:creationId xmlns:a16="http://schemas.microsoft.com/office/drawing/2014/main" id="{9A622550-ECAF-96DC-1AE9-AF2447C5010E}"/>
              </a:ext>
            </a:extLst>
          </p:cNvPr>
          <p:cNvCxnSpPr>
            <a:cxnSpLocks/>
            <a:stCxn id="8" idx="3"/>
            <a:endCxn id="9" idx="1"/>
          </p:cNvCxnSpPr>
          <p:nvPr/>
        </p:nvCxnSpPr>
        <p:spPr>
          <a:xfrm flipV="1">
            <a:off x="5412265" y="2180273"/>
            <a:ext cx="466725" cy="793781"/>
          </a:xfrm>
          <a:prstGeom prst="bentConnector3">
            <a:avLst>
              <a:gd name="adj1" fmla="val 50000"/>
            </a:avLst>
          </a:prstGeom>
          <a:ln w="12700">
            <a:solidFill>
              <a:srgbClr val="00B0F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13" name="表格 12">
            <a:extLst>
              <a:ext uri="{FF2B5EF4-FFF2-40B4-BE49-F238E27FC236}">
                <a16:creationId xmlns:a16="http://schemas.microsoft.com/office/drawing/2014/main" id="{3490F033-5316-9064-F137-8C84257CE440}"/>
              </a:ext>
            </a:extLst>
          </p:cNvPr>
          <p:cNvGraphicFramePr>
            <a:graphicFrameLocks noGrp="1"/>
          </p:cNvGraphicFramePr>
          <p:nvPr>
            <p:extLst>
              <p:ext uri="{D42A27DB-BD31-4B8C-83A1-F6EECF244321}">
                <p14:modId xmlns:p14="http://schemas.microsoft.com/office/powerpoint/2010/main" val="4241438618"/>
              </p:ext>
            </p:extLst>
          </p:nvPr>
        </p:nvGraphicFramePr>
        <p:xfrm>
          <a:off x="8349412" y="1931992"/>
          <a:ext cx="1676654" cy="1483360"/>
        </p:xfrm>
        <a:graphic>
          <a:graphicData uri="http://schemas.openxmlformats.org/drawingml/2006/table">
            <a:tbl>
              <a:tblPr firstRow="1" bandRow="1">
                <a:tableStyleId>{69012ECD-51FC-41F1-AA8D-1B2483CD663E}</a:tableStyleId>
              </a:tblPr>
              <a:tblGrid>
                <a:gridCol w="1676654">
                  <a:extLst>
                    <a:ext uri="{9D8B030D-6E8A-4147-A177-3AD203B41FA5}">
                      <a16:colId xmlns:a16="http://schemas.microsoft.com/office/drawing/2014/main" val="1344018333"/>
                    </a:ext>
                  </a:extLst>
                </a:gridCol>
              </a:tblGrid>
              <a:tr h="370840">
                <a:tc>
                  <a:txBody>
                    <a:bodyPr/>
                    <a:lstStyle/>
                    <a:p>
                      <a:r>
                        <a:rPr lang="en-US" altLang="zh-CN" sz="1200" b="1" dirty="0">
                          <a:solidFill>
                            <a:schemeClr val="tx1"/>
                          </a:solidFill>
                          <a:latin typeface="Arial" panose="020B0604020202020204" pitchFamily="34" charset="0"/>
                          <a:ea typeface="微软雅黑" panose="020B0503020204020204" pitchFamily="34" charset="-122"/>
                        </a:rPr>
                        <a:t>Commitment</a:t>
                      </a:r>
                      <a:r>
                        <a:rPr lang="en-US" altLang="zh-CN" sz="1200" b="1" dirty="0">
                          <a:latin typeface="Arial" panose="020B0604020202020204" pitchFamily="34" charset="0"/>
                          <a:ea typeface="微软雅黑" panose="020B0503020204020204" pitchFamily="34" charset="-122"/>
                        </a:rPr>
                        <a:t> </a:t>
                      </a:r>
                      <a:r>
                        <a:rPr lang="en-US" altLang="zh-CN" sz="1200" b="1" dirty="0">
                          <a:solidFill>
                            <a:schemeClr val="tx1"/>
                          </a:solidFill>
                          <a:latin typeface="Arial" panose="020B0604020202020204" pitchFamily="34" charset="0"/>
                          <a:ea typeface="微软雅黑" panose="020B0503020204020204" pitchFamily="34" charset="-122"/>
                        </a:rPr>
                        <a:t>Level</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F0"/>
                    </a:solidFill>
                  </a:tcPr>
                </a:tc>
                <a:extLst>
                  <a:ext uri="{0D108BD9-81ED-4DB2-BD59-A6C34878D82A}">
                    <a16:rowId xmlns:a16="http://schemas.microsoft.com/office/drawing/2014/main" val="2924863052"/>
                  </a:ext>
                </a:extLst>
              </a:tr>
              <a:tr h="370840">
                <a:tc>
                  <a:txBody>
                    <a:bodyPr/>
                    <a:lstStyle/>
                    <a:p>
                      <a:r>
                        <a:rPr lang="en-US" altLang="zh-CN" sz="1200" b="1" dirty="0">
                          <a:latin typeface="Arial" panose="020B0604020202020204" pitchFamily="34" charset="0"/>
                          <a:ea typeface="微软雅黑" panose="020B0503020204020204" pitchFamily="34" charset="-122"/>
                        </a:rPr>
                        <a:t>High</a:t>
                      </a:r>
                      <a:endParaRPr lang="zh-CN" altLang="en-US" sz="1200" b="1" dirty="0">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267451"/>
                  </a:ext>
                </a:extLst>
              </a:tr>
              <a:tr h="370840">
                <a:tc>
                  <a:txBody>
                    <a:bodyPr/>
                    <a:lstStyle/>
                    <a:p>
                      <a:r>
                        <a:rPr lang="en-US" altLang="zh-CN" sz="1200" b="1" dirty="0">
                          <a:latin typeface="Arial" panose="020B0604020202020204" pitchFamily="34" charset="0"/>
                          <a:ea typeface="微软雅黑" panose="020B0503020204020204" pitchFamily="34" charset="-122"/>
                        </a:rPr>
                        <a:t>Med</a:t>
                      </a:r>
                      <a:endParaRPr lang="zh-CN" altLang="en-US" sz="1200" b="1" dirty="0">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476801"/>
                  </a:ext>
                </a:extLst>
              </a:tr>
              <a:tr h="370840">
                <a:tc>
                  <a:txBody>
                    <a:bodyPr/>
                    <a:lstStyle/>
                    <a:p>
                      <a:r>
                        <a:rPr lang="en-US" altLang="zh-CN" sz="1200" b="1" dirty="0">
                          <a:latin typeface="Arial" panose="020B0604020202020204" pitchFamily="34" charset="0"/>
                          <a:ea typeface="微软雅黑" panose="020B0503020204020204" pitchFamily="34" charset="-122"/>
                        </a:rPr>
                        <a:t>Low</a:t>
                      </a:r>
                      <a:endParaRPr lang="zh-CN" altLang="en-US" sz="1200" b="1" dirty="0">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0948682"/>
                  </a:ext>
                </a:extLst>
              </a:tr>
            </a:tbl>
          </a:graphicData>
        </a:graphic>
      </p:graphicFrame>
      <p:graphicFrame>
        <p:nvGraphicFramePr>
          <p:cNvPr id="14" name="表格 13">
            <a:extLst>
              <a:ext uri="{FF2B5EF4-FFF2-40B4-BE49-F238E27FC236}">
                <a16:creationId xmlns:a16="http://schemas.microsoft.com/office/drawing/2014/main" id="{8BD047B1-6A20-C07F-13A9-795BEBB5CA12}"/>
              </a:ext>
            </a:extLst>
          </p:cNvPr>
          <p:cNvGraphicFramePr>
            <a:graphicFrameLocks noGrp="1"/>
          </p:cNvGraphicFramePr>
          <p:nvPr>
            <p:extLst>
              <p:ext uri="{D42A27DB-BD31-4B8C-83A1-F6EECF244321}">
                <p14:modId xmlns:p14="http://schemas.microsoft.com/office/powerpoint/2010/main" val="987340296"/>
              </p:ext>
            </p:extLst>
          </p:nvPr>
        </p:nvGraphicFramePr>
        <p:xfrm>
          <a:off x="10661373" y="1937532"/>
          <a:ext cx="1459230" cy="1483360"/>
        </p:xfrm>
        <a:graphic>
          <a:graphicData uri="http://schemas.openxmlformats.org/drawingml/2006/table">
            <a:tbl>
              <a:tblPr firstRow="1" bandRow="1">
                <a:tableStyleId>{69012ECD-51FC-41F1-AA8D-1B2483CD663E}</a:tableStyleId>
              </a:tblPr>
              <a:tblGrid>
                <a:gridCol w="1459230">
                  <a:extLst>
                    <a:ext uri="{9D8B030D-6E8A-4147-A177-3AD203B41FA5}">
                      <a16:colId xmlns:a16="http://schemas.microsoft.com/office/drawing/2014/main" val="1344018333"/>
                    </a:ext>
                  </a:extLst>
                </a:gridCol>
              </a:tblGrid>
              <a:tr h="370840">
                <a:tc>
                  <a:txBody>
                    <a:bodyPr/>
                    <a:lstStyle/>
                    <a:p>
                      <a:r>
                        <a:rPr lang="en-US" altLang="zh-CN" sz="1200" b="1" kern="1200" dirty="0">
                          <a:solidFill>
                            <a:schemeClr val="tx1"/>
                          </a:solidFill>
                          <a:latin typeface="Arial" panose="020B0604020202020204" pitchFamily="34" charset="0"/>
                          <a:ea typeface="微软雅黑" panose="020B0503020204020204" pitchFamily="34" charset="-122"/>
                        </a:rPr>
                        <a:t>Allocation</a:t>
                      </a:r>
                      <a:r>
                        <a:rPr lang="en-US" altLang="zh-CN" sz="1200" b="1" dirty="0">
                          <a:latin typeface="Arial" panose="020B0604020202020204" pitchFamily="34" charset="0"/>
                          <a:ea typeface="微软雅黑" panose="020B0503020204020204" pitchFamily="34" charset="-122"/>
                        </a:rPr>
                        <a:t> </a:t>
                      </a:r>
                      <a:r>
                        <a:rPr lang="en-US" altLang="zh-CN" sz="1200" b="1" dirty="0">
                          <a:solidFill>
                            <a:schemeClr val="tx1"/>
                          </a:solidFill>
                          <a:latin typeface="Arial" panose="020B0604020202020204" pitchFamily="34" charset="0"/>
                          <a:ea typeface="微软雅黑" panose="020B0503020204020204" pitchFamily="34" charset="-122"/>
                        </a:rPr>
                        <a:t>Rule</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F0"/>
                    </a:solidFill>
                  </a:tcPr>
                </a:tc>
                <a:extLst>
                  <a:ext uri="{0D108BD9-81ED-4DB2-BD59-A6C34878D82A}">
                    <a16:rowId xmlns:a16="http://schemas.microsoft.com/office/drawing/2014/main" val="2924863052"/>
                  </a:ext>
                </a:extLst>
              </a:tr>
              <a:tr h="370840">
                <a:tc>
                  <a:txBody>
                    <a:bodyPr/>
                    <a:lstStyle/>
                    <a:p>
                      <a:r>
                        <a:rPr lang="en-US" altLang="zh-CN" sz="1200" b="1" dirty="0">
                          <a:latin typeface="Arial" panose="020B0604020202020204" pitchFamily="34" charset="0"/>
                          <a:ea typeface="微软雅黑" panose="020B0503020204020204" pitchFamily="34" charset="-122"/>
                        </a:rPr>
                        <a:t>FIFS</a:t>
                      </a:r>
                      <a:endParaRPr lang="zh-CN" altLang="en-US" sz="1200" b="1" dirty="0">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267451"/>
                  </a:ext>
                </a:extLst>
              </a:tr>
              <a:tr h="370840">
                <a:tc>
                  <a:txBody>
                    <a:bodyPr/>
                    <a:lstStyle/>
                    <a:p>
                      <a:r>
                        <a:rPr lang="en-US" altLang="zh-CN" sz="1200" b="1" dirty="0">
                          <a:latin typeface="Arial" panose="020B0604020202020204" pitchFamily="34" charset="0"/>
                          <a:ea typeface="微软雅黑" panose="020B0503020204020204" pitchFamily="34" charset="-122"/>
                        </a:rPr>
                        <a:t>Fair Share</a:t>
                      </a:r>
                      <a:endParaRPr lang="zh-CN" altLang="en-US" sz="1200" b="1" dirty="0">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476801"/>
                  </a:ext>
                </a:extLst>
              </a:tr>
              <a:tr h="370840">
                <a:tc>
                  <a:txBody>
                    <a:bodyPr/>
                    <a:lstStyle/>
                    <a:p>
                      <a:r>
                        <a:rPr lang="en-US" altLang="zh-CN" sz="1200" b="1" dirty="0">
                          <a:latin typeface="Arial" panose="020B0604020202020204" pitchFamily="34" charset="0"/>
                          <a:ea typeface="微软雅黑" panose="020B0503020204020204" pitchFamily="34" charset="-122"/>
                        </a:rPr>
                        <a:t>Equal Share</a:t>
                      </a:r>
                      <a:endParaRPr lang="zh-CN" altLang="en-US" sz="1200" b="1" dirty="0">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0948682"/>
                  </a:ext>
                </a:extLst>
              </a:tr>
            </a:tbl>
          </a:graphicData>
        </a:graphic>
      </p:graphicFrame>
      <p:sp>
        <p:nvSpPr>
          <p:cNvPr id="16" name="文本框 15">
            <a:extLst>
              <a:ext uri="{FF2B5EF4-FFF2-40B4-BE49-F238E27FC236}">
                <a16:creationId xmlns:a16="http://schemas.microsoft.com/office/drawing/2014/main" id="{556E21C9-3E96-1E1B-61F5-3AF209A3F262}"/>
              </a:ext>
            </a:extLst>
          </p:cNvPr>
          <p:cNvSpPr txBox="1"/>
          <p:nvPr/>
        </p:nvSpPr>
        <p:spPr>
          <a:xfrm>
            <a:off x="7698265" y="1573105"/>
            <a:ext cx="162877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Prioritization</a:t>
            </a:r>
            <a:endParaRPr kumimoji="0" lang="zh-CN" altLang="en-US" sz="10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18" name="矩形 17">
            <a:extLst>
              <a:ext uri="{FF2B5EF4-FFF2-40B4-BE49-F238E27FC236}">
                <a16:creationId xmlns:a16="http://schemas.microsoft.com/office/drawing/2014/main" id="{90D68CEA-9886-204D-2B2E-AEEAFE5A0174}"/>
              </a:ext>
            </a:extLst>
          </p:cNvPr>
          <p:cNvSpPr/>
          <p:nvPr/>
        </p:nvSpPr>
        <p:spPr>
          <a:xfrm>
            <a:off x="5878990" y="2716771"/>
            <a:ext cx="1962150" cy="438150"/>
          </a:xfrm>
          <a:prstGeom prst="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200" b="1" dirty="0">
                <a:latin typeface="Arial" panose="020B0604020202020204" pitchFamily="34" charset="0"/>
                <a:ea typeface="微软雅黑" panose="020B0503020204020204" pitchFamily="34" charset="-122"/>
              </a:rPr>
              <a:t>Consensus Forecast</a:t>
            </a:r>
            <a:r>
              <a:rPr kumimoji="0" lang="en-US" altLang="zh-CN"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 </a:t>
            </a:r>
            <a:endParaRPr kumimoji="0" lang="zh-CN" altLang="en-US"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19" name="连接符: 肘形 18">
            <a:extLst>
              <a:ext uri="{FF2B5EF4-FFF2-40B4-BE49-F238E27FC236}">
                <a16:creationId xmlns:a16="http://schemas.microsoft.com/office/drawing/2014/main" id="{59BCB37B-2687-8B45-D246-0C2453A87099}"/>
              </a:ext>
            </a:extLst>
          </p:cNvPr>
          <p:cNvCxnSpPr>
            <a:stCxn id="18" idx="0"/>
            <a:endCxn id="9" idx="2"/>
          </p:cNvCxnSpPr>
          <p:nvPr/>
        </p:nvCxnSpPr>
        <p:spPr>
          <a:xfrm rot="5400000" flipH="1" flipV="1">
            <a:off x="6706116" y="2562822"/>
            <a:ext cx="307898" cy="12700"/>
          </a:xfrm>
          <a:prstGeom prst="bentConnector3">
            <a:avLst>
              <a:gd name="adj1" fmla="val 114965"/>
            </a:avLst>
          </a:prstGeom>
          <a:ln w="12700">
            <a:solidFill>
              <a:srgbClr val="00B0F0"/>
            </a:solidFill>
            <a:tailEnd type="triangle"/>
          </a:ln>
        </p:spPr>
        <p:style>
          <a:lnRef idx="1">
            <a:schemeClr val="accent1"/>
          </a:lnRef>
          <a:fillRef idx="0">
            <a:schemeClr val="accent1"/>
          </a:fillRef>
          <a:effectRef idx="0">
            <a:schemeClr val="accent1"/>
          </a:effectRef>
          <a:fontRef idx="minor">
            <a:schemeClr val="tx1"/>
          </a:fontRef>
        </p:style>
      </p:cxnSp>
      <p:sp>
        <p:nvSpPr>
          <p:cNvPr id="28" name="矩形 27">
            <a:extLst>
              <a:ext uri="{FF2B5EF4-FFF2-40B4-BE49-F238E27FC236}">
                <a16:creationId xmlns:a16="http://schemas.microsoft.com/office/drawing/2014/main" id="{1BBD8B16-B509-7370-BF32-306C8BCF7278}"/>
              </a:ext>
            </a:extLst>
          </p:cNvPr>
          <p:cNvSpPr/>
          <p:nvPr/>
        </p:nvSpPr>
        <p:spPr>
          <a:xfrm>
            <a:off x="5872640" y="3896640"/>
            <a:ext cx="1962150" cy="438150"/>
          </a:xfrm>
          <a:prstGeom prst="rect">
            <a:avLst/>
          </a:prstGeom>
          <a:solidFill>
            <a:srgbClr val="0070C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200" b="1" dirty="0">
                <a:solidFill>
                  <a:schemeClr val="tx1"/>
                </a:solidFill>
                <a:latin typeface="Arial" panose="020B0604020202020204" pitchFamily="34" charset="0"/>
                <a:ea typeface="微软雅黑" panose="020B0503020204020204" pitchFamily="34" charset="-122"/>
              </a:rPr>
              <a:t>MP - Allocation</a:t>
            </a:r>
            <a:r>
              <a:rPr kumimoji="0" lang="en-US" altLang="zh-CN"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 </a:t>
            </a:r>
            <a:endParaRPr kumimoji="0" lang="zh-CN" altLang="en-US"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29" name="矩形 28">
            <a:extLst>
              <a:ext uri="{FF2B5EF4-FFF2-40B4-BE49-F238E27FC236}">
                <a16:creationId xmlns:a16="http://schemas.microsoft.com/office/drawing/2014/main" id="{39A28C1A-6A78-B7E6-FADE-62A9ADA53AA2}"/>
              </a:ext>
            </a:extLst>
          </p:cNvPr>
          <p:cNvSpPr/>
          <p:nvPr/>
        </p:nvSpPr>
        <p:spPr>
          <a:xfrm>
            <a:off x="5885814" y="4815883"/>
            <a:ext cx="1962150" cy="438150"/>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200" b="1" dirty="0">
                <a:solidFill>
                  <a:schemeClr val="tx1"/>
                </a:solidFill>
                <a:latin typeface="Arial" panose="020B0604020202020204" pitchFamily="34" charset="0"/>
                <a:ea typeface="微软雅黑" panose="020B0503020204020204" pitchFamily="34" charset="-122"/>
              </a:rPr>
              <a:t>Allotment</a:t>
            </a:r>
            <a:endParaRPr kumimoji="0" lang="zh-CN" altLang="en-US"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31" name="直接箭头连接符 30">
            <a:extLst>
              <a:ext uri="{FF2B5EF4-FFF2-40B4-BE49-F238E27FC236}">
                <a16:creationId xmlns:a16="http://schemas.microsoft.com/office/drawing/2014/main" id="{D37BBFD7-8799-B774-49CA-4375571F2E9B}"/>
              </a:ext>
            </a:extLst>
          </p:cNvPr>
          <p:cNvCxnSpPr>
            <a:stCxn id="18" idx="2"/>
            <a:endCxn id="28" idx="0"/>
          </p:cNvCxnSpPr>
          <p:nvPr/>
        </p:nvCxnSpPr>
        <p:spPr>
          <a:xfrm flipH="1">
            <a:off x="6853715" y="3154921"/>
            <a:ext cx="6350" cy="741719"/>
          </a:xfrm>
          <a:prstGeom prst="straightConnector1">
            <a:avLst/>
          </a:prstGeom>
          <a:ln>
            <a:solidFill>
              <a:srgbClr val="0070C0"/>
            </a:solidFill>
            <a:tailEnd type="triangle"/>
          </a:ln>
        </p:spPr>
        <p:style>
          <a:lnRef idx="2">
            <a:schemeClr val="accent1"/>
          </a:lnRef>
          <a:fillRef idx="0">
            <a:schemeClr val="accent1"/>
          </a:fillRef>
          <a:effectRef idx="1">
            <a:schemeClr val="accent1"/>
          </a:effectRef>
          <a:fontRef idx="minor">
            <a:schemeClr val="tx1"/>
          </a:fontRef>
        </p:style>
      </p:cxnSp>
      <p:cxnSp>
        <p:nvCxnSpPr>
          <p:cNvPr id="32" name="直接箭头连接符 31">
            <a:extLst>
              <a:ext uri="{FF2B5EF4-FFF2-40B4-BE49-F238E27FC236}">
                <a16:creationId xmlns:a16="http://schemas.microsoft.com/office/drawing/2014/main" id="{715363C5-3656-145B-30F1-C6B937BA0829}"/>
              </a:ext>
            </a:extLst>
          </p:cNvPr>
          <p:cNvCxnSpPr>
            <a:cxnSpLocks/>
            <a:stCxn id="28" idx="2"/>
            <a:endCxn id="29" idx="0"/>
          </p:cNvCxnSpPr>
          <p:nvPr/>
        </p:nvCxnSpPr>
        <p:spPr>
          <a:xfrm>
            <a:off x="6853715" y="4334790"/>
            <a:ext cx="13174" cy="481093"/>
          </a:xfrm>
          <a:prstGeom prst="straightConnector1">
            <a:avLst/>
          </a:prstGeom>
          <a:ln>
            <a:solidFill>
              <a:srgbClr val="0070C0"/>
            </a:solidFill>
            <a:tailEnd type="triangle"/>
          </a:ln>
        </p:spPr>
        <p:style>
          <a:lnRef idx="2">
            <a:schemeClr val="accent1"/>
          </a:lnRef>
          <a:fillRef idx="0">
            <a:schemeClr val="accent1"/>
          </a:fillRef>
          <a:effectRef idx="1">
            <a:schemeClr val="accent1"/>
          </a:effectRef>
          <a:fontRef idx="minor">
            <a:schemeClr val="tx1"/>
          </a:fontRef>
        </p:style>
      </p:cxnSp>
      <p:graphicFrame>
        <p:nvGraphicFramePr>
          <p:cNvPr id="34" name="表格 33">
            <a:extLst>
              <a:ext uri="{FF2B5EF4-FFF2-40B4-BE49-F238E27FC236}">
                <a16:creationId xmlns:a16="http://schemas.microsoft.com/office/drawing/2014/main" id="{398B5E6D-A605-F6E8-9AF5-E2890CE10318}"/>
              </a:ext>
            </a:extLst>
          </p:cNvPr>
          <p:cNvGraphicFramePr>
            <a:graphicFrameLocks noGrp="1"/>
          </p:cNvGraphicFramePr>
          <p:nvPr>
            <p:extLst>
              <p:ext uri="{D42A27DB-BD31-4B8C-83A1-F6EECF244321}">
                <p14:modId xmlns:p14="http://schemas.microsoft.com/office/powerpoint/2010/main" val="2507761458"/>
              </p:ext>
            </p:extLst>
          </p:nvPr>
        </p:nvGraphicFramePr>
        <p:xfrm>
          <a:off x="9463421" y="4251000"/>
          <a:ext cx="1352550" cy="1132856"/>
        </p:xfrm>
        <a:graphic>
          <a:graphicData uri="http://schemas.openxmlformats.org/drawingml/2006/table">
            <a:tbl>
              <a:tblPr firstRow="1" bandRow="1">
                <a:tableStyleId>{69012ECD-51FC-41F1-AA8D-1B2483CD663E}</a:tableStyleId>
              </a:tblPr>
              <a:tblGrid>
                <a:gridCol w="1352550">
                  <a:extLst>
                    <a:ext uri="{9D8B030D-6E8A-4147-A177-3AD203B41FA5}">
                      <a16:colId xmlns:a16="http://schemas.microsoft.com/office/drawing/2014/main" val="1344018333"/>
                    </a:ext>
                  </a:extLst>
                </a:gridCol>
              </a:tblGrid>
              <a:tr h="280151">
                <a:tc>
                  <a:txBody>
                    <a:bodyPr/>
                    <a:lstStyle/>
                    <a:p>
                      <a:r>
                        <a:rPr lang="en-US" altLang="zh-CN" sz="1200" b="1" dirty="0">
                          <a:solidFill>
                            <a:schemeClr val="tx1"/>
                          </a:solidFill>
                          <a:latin typeface="Arial" panose="020B0604020202020204" pitchFamily="34" charset="0"/>
                          <a:ea typeface="微软雅黑" panose="020B0503020204020204" pitchFamily="34" charset="-122"/>
                        </a:rPr>
                        <a:t>Buckets</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extLst>
                  <a:ext uri="{0D108BD9-81ED-4DB2-BD59-A6C34878D82A}">
                    <a16:rowId xmlns:a16="http://schemas.microsoft.com/office/drawing/2014/main" val="2924863052"/>
                  </a:ext>
                </a:extLst>
              </a:tr>
              <a:tr h="284235">
                <a:tc>
                  <a:txBody>
                    <a:bodyPr/>
                    <a:lstStyle/>
                    <a:p>
                      <a:r>
                        <a:rPr lang="en-US" altLang="zh-CN" sz="1200" b="1" dirty="0">
                          <a:solidFill>
                            <a:schemeClr val="tx1"/>
                          </a:solidFill>
                          <a:latin typeface="Arial" panose="020B0604020202020204" pitchFamily="34" charset="0"/>
                          <a:ea typeface="微软雅黑" panose="020B0503020204020204" pitchFamily="34" charset="-122"/>
                        </a:rPr>
                        <a:t>Day</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267451"/>
                  </a:ext>
                </a:extLst>
              </a:tr>
              <a:tr h="284235">
                <a:tc>
                  <a:txBody>
                    <a:bodyPr/>
                    <a:lstStyle/>
                    <a:p>
                      <a:r>
                        <a:rPr lang="en-US" altLang="zh-CN" sz="1200" b="1" dirty="0">
                          <a:solidFill>
                            <a:schemeClr val="tx1"/>
                          </a:solidFill>
                          <a:latin typeface="Arial" panose="020B0604020202020204" pitchFamily="34" charset="0"/>
                          <a:ea typeface="微软雅黑" panose="020B0503020204020204" pitchFamily="34" charset="-122"/>
                        </a:rPr>
                        <a:t>Week</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476801"/>
                  </a:ext>
                </a:extLst>
              </a:tr>
              <a:tr h="284235">
                <a:tc>
                  <a:txBody>
                    <a:bodyPr/>
                    <a:lstStyle/>
                    <a:p>
                      <a:r>
                        <a:rPr lang="en-US" altLang="zh-CN" sz="1200" b="1" dirty="0">
                          <a:solidFill>
                            <a:schemeClr val="tx1"/>
                          </a:solidFill>
                          <a:latin typeface="Arial" panose="020B0604020202020204" pitchFamily="34" charset="0"/>
                          <a:ea typeface="微软雅黑" panose="020B0503020204020204" pitchFamily="34" charset="-122"/>
                        </a:rPr>
                        <a:t>Month</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0948682"/>
                  </a:ext>
                </a:extLst>
              </a:tr>
            </a:tbl>
          </a:graphicData>
        </a:graphic>
      </p:graphicFrame>
      <p:graphicFrame>
        <p:nvGraphicFramePr>
          <p:cNvPr id="35" name="表格 34">
            <a:extLst>
              <a:ext uri="{FF2B5EF4-FFF2-40B4-BE49-F238E27FC236}">
                <a16:creationId xmlns:a16="http://schemas.microsoft.com/office/drawing/2014/main" id="{2F6AE81C-392B-CFEC-8D15-41E01A818259}"/>
              </a:ext>
            </a:extLst>
          </p:cNvPr>
          <p:cNvGraphicFramePr>
            <a:graphicFrameLocks noGrp="1"/>
          </p:cNvGraphicFramePr>
          <p:nvPr>
            <p:extLst>
              <p:ext uri="{D42A27DB-BD31-4B8C-83A1-F6EECF244321}">
                <p14:modId xmlns:p14="http://schemas.microsoft.com/office/powerpoint/2010/main" val="1262973731"/>
              </p:ext>
            </p:extLst>
          </p:nvPr>
        </p:nvGraphicFramePr>
        <p:xfrm>
          <a:off x="10859386" y="4262569"/>
          <a:ext cx="1096053" cy="1114650"/>
        </p:xfrm>
        <a:graphic>
          <a:graphicData uri="http://schemas.openxmlformats.org/drawingml/2006/table">
            <a:tbl>
              <a:tblPr firstRow="1" bandRow="1">
                <a:tableStyleId>{69012ECD-51FC-41F1-AA8D-1B2483CD663E}</a:tableStyleId>
              </a:tblPr>
              <a:tblGrid>
                <a:gridCol w="1096053">
                  <a:extLst>
                    <a:ext uri="{9D8B030D-6E8A-4147-A177-3AD203B41FA5}">
                      <a16:colId xmlns:a16="http://schemas.microsoft.com/office/drawing/2014/main" val="1344018333"/>
                    </a:ext>
                  </a:extLst>
                </a:gridCol>
              </a:tblGrid>
              <a:tr h="275790">
                <a:tc>
                  <a:txBody>
                    <a:bodyPr/>
                    <a:lstStyle/>
                    <a:p>
                      <a:r>
                        <a:rPr lang="en-US" altLang="zh-CN" sz="1200" b="1" dirty="0">
                          <a:solidFill>
                            <a:schemeClr val="tx1"/>
                          </a:solidFill>
                          <a:latin typeface="Arial" panose="020B0604020202020204" pitchFamily="34" charset="0"/>
                          <a:ea typeface="微软雅黑" panose="020B0503020204020204" pitchFamily="34" charset="-122"/>
                        </a:rPr>
                        <a:t>Intervals</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extLst>
                  <a:ext uri="{0D108BD9-81ED-4DB2-BD59-A6C34878D82A}">
                    <a16:rowId xmlns:a16="http://schemas.microsoft.com/office/drawing/2014/main" val="2924863052"/>
                  </a:ext>
                </a:extLst>
              </a:tr>
              <a:tr h="279620">
                <a:tc>
                  <a:txBody>
                    <a:bodyPr/>
                    <a:lstStyle/>
                    <a:p>
                      <a:r>
                        <a:rPr lang="en-US" altLang="zh-CN" sz="1200" b="1" dirty="0">
                          <a:solidFill>
                            <a:schemeClr val="tx1"/>
                          </a:solidFill>
                          <a:latin typeface="Arial" panose="020B0604020202020204" pitchFamily="34" charset="0"/>
                          <a:ea typeface="微软雅黑" panose="020B0503020204020204" pitchFamily="34" charset="-122"/>
                        </a:rPr>
                        <a:t>1</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267451"/>
                  </a:ext>
                </a:extLst>
              </a:tr>
              <a:tr h="279620">
                <a:tc>
                  <a:txBody>
                    <a:bodyPr/>
                    <a:lstStyle/>
                    <a:p>
                      <a:r>
                        <a:rPr lang="en-US" altLang="zh-CN" sz="1200" b="1" dirty="0">
                          <a:solidFill>
                            <a:schemeClr val="tx1"/>
                          </a:solidFill>
                          <a:latin typeface="Arial" panose="020B0604020202020204" pitchFamily="34" charset="0"/>
                          <a:ea typeface="微软雅黑" panose="020B0503020204020204" pitchFamily="34" charset="-122"/>
                        </a:rPr>
                        <a:t>3</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476801"/>
                  </a:ext>
                </a:extLst>
              </a:tr>
              <a:tr h="279620">
                <a:tc>
                  <a:txBody>
                    <a:bodyPr/>
                    <a:lstStyle/>
                    <a:p>
                      <a:r>
                        <a:rPr lang="en-US" altLang="zh-CN" sz="1200" b="1" dirty="0">
                          <a:solidFill>
                            <a:schemeClr val="tx1"/>
                          </a:solidFill>
                          <a:latin typeface="Arial" panose="020B0604020202020204" pitchFamily="34" charset="0"/>
                          <a:ea typeface="微软雅黑" panose="020B0503020204020204" pitchFamily="34" charset="-122"/>
                        </a:rPr>
                        <a:t>4</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0948682"/>
                  </a:ext>
                </a:extLst>
              </a:tr>
            </a:tbl>
          </a:graphicData>
        </a:graphic>
      </p:graphicFrame>
      <p:graphicFrame>
        <p:nvGraphicFramePr>
          <p:cNvPr id="36" name="表格 35">
            <a:extLst>
              <a:ext uri="{FF2B5EF4-FFF2-40B4-BE49-F238E27FC236}">
                <a16:creationId xmlns:a16="http://schemas.microsoft.com/office/drawing/2014/main" id="{BB334373-6872-37E4-5A5A-C71509A864EE}"/>
              </a:ext>
            </a:extLst>
          </p:cNvPr>
          <p:cNvGraphicFramePr>
            <a:graphicFrameLocks noGrp="1"/>
          </p:cNvGraphicFramePr>
          <p:nvPr>
            <p:extLst>
              <p:ext uri="{D42A27DB-BD31-4B8C-83A1-F6EECF244321}">
                <p14:modId xmlns:p14="http://schemas.microsoft.com/office/powerpoint/2010/main" val="676275477"/>
              </p:ext>
            </p:extLst>
          </p:nvPr>
        </p:nvGraphicFramePr>
        <p:xfrm>
          <a:off x="7958348" y="4251000"/>
          <a:ext cx="1461658" cy="822960"/>
        </p:xfrm>
        <a:graphic>
          <a:graphicData uri="http://schemas.openxmlformats.org/drawingml/2006/table">
            <a:tbl>
              <a:tblPr firstRow="1" bandRow="1">
                <a:tableStyleId>{69012ECD-51FC-41F1-AA8D-1B2483CD663E}</a:tableStyleId>
              </a:tblPr>
              <a:tblGrid>
                <a:gridCol w="730829">
                  <a:extLst>
                    <a:ext uri="{9D8B030D-6E8A-4147-A177-3AD203B41FA5}">
                      <a16:colId xmlns:a16="http://schemas.microsoft.com/office/drawing/2014/main" val="1344018333"/>
                    </a:ext>
                  </a:extLst>
                </a:gridCol>
                <a:gridCol w="730829">
                  <a:extLst>
                    <a:ext uri="{9D8B030D-6E8A-4147-A177-3AD203B41FA5}">
                      <a16:colId xmlns:a16="http://schemas.microsoft.com/office/drawing/2014/main" val="1590128216"/>
                    </a:ext>
                  </a:extLst>
                </a:gridCol>
              </a:tblGrid>
              <a:tr h="242920">
                <a:tc gridSpan="2">
                  <a:txBody>
                    <a:bodyPr/>
                    <a:lstStyle/>
                    <a:p>
                      <a:pPr algn="ctr"/>
                      <a:r>
                        <a:rPr lang="en-US" altLang="zh-CN" sz="1200" b="1" dirty="0">
                          <a:solidFill>
                            <a:schemeClr val="tx1"/>
                          </a:solidFill>
                          <a:latin typeface="Arial" panose="020B0604020202020204" pitchFamily="34" charset="0"/>
                          <a:ea typeface="微软雅黑" panose="020B0503020204020204" pitchFamily="34" charset="-122"/>
                        </a:rPr>
                        <a:t>Round</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hMerge="1">
                  <a:txBody>
                    <a:bodyPr/>
                    <a:lstStyle/>
                    <a:p>
                      <a:endParaRPr lang="zh-CN" altLang="en-US" dirty="0"/>
                    </a:p>
                  </a:txBody>
                  <a:tcPr/>
                </a:tc>
                <a:extLst>
                  <a:ext uri="{0D108BD9-81ED-4DB2-BD59-A6C34878D82A}">
                    <a16:rowId xmlns:a16="http://schemas.microsoft.com/office/drawing/2014/main" val="2924863052"/>
                  </a:ext>
                </a:extLst>
              </a:tr>
              <a:tr h="255154">
                <a:tc>
                  <a:txBody>
                    <a:bodyPr/>
                    <a:lstStyle/>
                    <a:p>
                      <a:r>
                        <a:rPr lang="en-US" altLang="zh-CN" sz="1200" b="1" dirty="0">
                          <a:solidFill>
                            <a:schemeClr val="tx1"/>
                          </a:solidFill>
                          <a:latin typeface="Arial" panose="020B0604020202020204" pitchFamily="34" charset="0"/>
                          <a:ea typeface="微软雅黑" panose="020B0503020204020204" pitchFamily="34" charset="-122"/>
                        </a:rPr>
                        <a:t>1</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1" dirty="0">
                          <a:solidFill>
                            <a:schemeClr val="tx1"/>
                          </a:solidFill>
                          <a:latin typeface="Arial" panose="020B0604020202020204" pitchFamily="34" charset="0"/>
                          <a:ea typeface="微软雅黑" panose="020B0503020204020204" pitchFamily="34" charset="-122"/>
                        </a:rPr>
                        <a:t>Left</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267451"/>
                  </a:ext>
                </a:extLst>
              </a:tr>
              <a:tr h="255154">
                <a:tc>
                  <a:txBody>
                    <a:bodyPr/>
                    <a:lstStyle/>
                    <a:p>
                      <a:r>
                        <a:rPr lang="en-US" altLang="zh-CN" sz="1200" b="1" dirty="0">
                          <a:solidFill>
                            <a:schemeClr val="tx1"/>
                          </a:solidFill>
                          <a:latin typeface="Arial" panose="020B0604020202020204" pitchFamily="34" charset="0"/>
                          <a:ea typeface="微软雅黑" panose="020B0503020204020204" pitchFamily="34" charset="-122"/>
                        </a:rPr>
                        <a:t>2</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1" dirty="0">
                          <a:solidFill>
                            <a:schemeClr val="tx1"/>
                          </a:solidFill>
                          <a:latin typeface="Arial" panose="020B0604020202020204" pitchFamily="34" charset="0"/>
                          <a:ea typeface="微软雅黑" panose="020B0503020204020204" pitchFamily="34" charset="-122"/>
                        </a:rPr>
                        <a:t>Right</a:t>
                      </a:r>
                      <a:endParaRPr lang="zh-CN" altLang="en-US" sz="12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476801"/>
                  </a:ext>
                </a:extLst>
              </a:tr>
            </a:tbl>
          </a:graphicData>
        </a:graphic>
      </p:graphicFrame>
      <p:cxnSp>
        <p:nvCxnSpPr>
          <p:cNvPr id="39" name="连接符: 肘形 38">
            <a:extLst>
              <a:ext uri="{FF2B5EF4-FFF2-40B4-BE49-F238E27FC236}">
                <a16:creationId xmlns:a16="http://schemas.microsoft.com/office/drawing/2014/main" id="{431C6736-1E78-A232-9C82-68919179CE17}"/>
              </a:ext>
            </a:extLst>
          </p:cNvPr>
          <p:cNvCxnSpPr>
            <a:cxnSpLocks/>
            <a:stCxn id="28" idx="3"/>
            <a:endCxn id="36" idx="0"/>
          </p:cNvCxnSpPr>
          <p:nvPr/>
        </p:nvCxnSpPr>
        <p:spPr>
          <a:xfrm>
            <a:off x="7834790" y="4115715"/>
            <a:ext cx="854387" cy="135285"/>
          </a:xfrm>
          <a:prstGeom prst="bentConnector2">
            <a:avLst/>
          </a:prstGeom>
          <a:ln>
            <a:solidFill>
              <a:srgbClr val="0070C0"/>
            </a:solidFill>
            <a:tailEnd type="triangle"/>
          </a:ln>
        </p:spPr>
        <p:style>
          <a:lnRef idx="2">
            <a:schemeClr val="accent1"/>
          </a:lnRef>
          <a:fillRef idx="0">
            <a:schemeClr val="accent1"/>
          </a:fillRef>
          <a:effectRef idx="1">
            <a:schemeClr val="accent1"/>
          </a:effectRef>
          <a:fontRef idx="minor">
            <a:schemeClr val="tx1"/>
          </a:fontRef>
        </p:style>
      </p:cxnSp>
      <p:cxnSp>
        <p:nvCxnSpPr>
          <p:cNvPr id="41" name="连接符: 肘形 40">
            <a:extLst>
              <a:ext uri="{FF2B5EF4-FFF2-40B4-BE49-F238E27FC236}">
                <a16:creationId xmlns:a16="http://schemas.microsoft.com/office/drawing/2014/main" id="{285CE824-3E28-C15E-F54B-8F9E2FAF5B25}"/>
              </a:ext>
            </a:extLst>
          </p:cNvPr>
          <p:cNvCxnSpPr>
            <a:cxnSpLocks/>
            <a:stCxn id="28" idx="3"/>
            <a:endCxn id="34" idx="0"/>
          </p:cNvCxnSpPr>
          <p:nvPr/>
        </p:nvCxnSpPr>
        <p:spPr>
          <a:xfrm>
            <a:off x="7834790" y="4115715"/>
            <a:ext cx="2304906" cy="135285"/>
          </a:xfrm>
          <a:prstGeom prst="bentConnector2">
            <a:avLst/>
          </a:prstGeom>
          <a:ln>
            <a:solidFill>
              <a:srgbClr val="0070C0"/>
            </a:solidFill>
            <a:tailEnd type="triangle"/>
          </a:ln>
        </p:spPr>
        <p:style>
          <a:lnRef idx="2">
            <a:schemeClr val="accent1"/>
          </a:lnRef>
          <a:fillRef idx="0">
            <a:schemeClr val="accent1"/>
          </a:fillRef>
          <a:effectRef idx="1">
            <a:schemeClr val="accent1"/>
          </a:effectRef>
          <a:fontRef idx="minor">
            <a:schemeClr val="tx1"/>
          </a:fontRef>
        </p:style>
      </p:cxnSp>
      <p:cxnSp>
        <p:nvCxnSpPr>
          <p:cNvPr id="47" name="连接符: 肘形 46">
            <a:extLst>
              <a:ext uri="{FF2B5EF4-FFF2-40B4-BE49-F238E27FC236}">
                <a16:creationId xmlns:a16="http://schemas.microsoft.com/office/drawing/2014/main" id="{152463FB-9FC6-B103-FE5B-6BB6ED3F852E}"/>
              </a:ext>
            </a:extLst>
          </p:cNvPr>
          <p:cNvCxnSpPr>
            <a:cxnSpLocks/>
            <a:stCxn id="28" idx="3"/>
            <a:endCxn id="35" idx="0"/>
          </p:cNvCxnSpPr>
          <p:nvPr/>
        </p:nvCxnSpPr>
        <p:spPr>
          <a:xfrm>
            <a:off x="7834790" y="4115715"/>
            <a:ext cx="3572622" cy="146854"/>
          </a:xfrm>
          <a:prstGeom prst="bentConnector2">
            <a:avLst/>
          </a:prstGeom>
          <a:ln>
            <a:solidFill>
              <a:srgbClr val="0070C0"/>
            </a:solidFill>
            <a:tailEnd type="triangle"/>
          </a:ln>
        </p:spPr>
        <p:style>
          <a:lnRef idx="2">
            <a:schemeClr val="accent1"/>
          </a:lnRef>
          <a:fillRef idx="0">
            <a:schemeClr val="accent1"/>
          </a:fillRef>
          <a:effectRef idx="1">
            <a:schemeClr val="accent1"/>
          </a:effectRef>
          <a:fontRef idx="minor">
            <a:schemeClr val="tx1"/>
          </a:fontRef>
        </p:style>
      </p:cxnSp>
      <p:sp>
        <p:nvSpPr>
          <p:cNvPr id="54" name="矩形 53">
            <a:extLst>
              <a:ext uri="{FF2B5EF4-FFF2-40B4-BE49-F238E27FC236}">
                <a16:creationId xmlns:a16="http://schemas.microsoft.com/office/drawing/2014/main" id="{3296521B-9923-2184-8C42-1D9B2514E0E1}"/>
              </a:ext>
            </a:extLst>
          </p:cNvPr>
          <p:cNvSpPr/>
          <p:nvPr/>
        </p:nvSpPr>
        <p:spPr>
          <a:xfrm>
            <a:off x="3450115" y="3895445"/>
            <a:ext cx="1962150" cy="438150"/>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Allocation No</a:t>
            </a:r>
            <a:r>
              <a:rPr lang="en-US" altLang="zh-CN" sz="1200" b="1" dirty="0">
                <a:solidFill>
                  <a:schemeClr val="tx1"/>
                </a:solidFill>
                <a:latin typeface="Arial" panose="020B0604020202020204" pitchFamily="34" charset="0"/>
                <a:ea typeface="微软雅黑" panose="020B0503020204020204" pitchFamily="34" charset="-122"/>
              </a:rPr>
              <a:t>de</a:t>
            </a:r>
            <a:r>
              <a:rPr kumimoji="0" lang="en-US" altLang="zh-CN"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 </a:t>
            </a:r>
            <a:endParaRPr kumimoji="0" lang="zh-CN" altLang="en-US"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56" name="连接符: 肘形 55">
            <a:extLst>
              <a:ext uri="{FF2B5EF4-FFF2-40B4-BE49-F238E27FC236}">
                <a16:creationId xmlns:a16="http://schemas.microsoft.com/office/drawing/2014/main" id="{2676B777-7993-87E4-5E1E-45591A8ABEF2}"/>
              </a:ext>
            </a:extLst>
          </p:cNvPr>
          <p:cNvCxnSpPr>
            <a:stCxn id="54" idx="3"/>
            <a:endCxn id="28" idx="1"/>
          </p:cNvCxnSpPr>
          <p:nvPr/>
        </p:nvCxnSpPr>
        <p:spPr>
          <a:xfrm>
            <a:off x="5412265" y="4114520"/>
            <a:ext cx="460375" cy="1195"/>
          </a:xfrm>
          <a:prstGeom prst="bentConnector3">
            <a:avLst/>
          </a:prstGeom>
          <a:ln>
            <a:solidFill>
              <a:srgbClr val="0070C0"/>
            </a:solidFill>
            <a:tailEnd type="triangle"/>
          </a:ln>
        </p:spPr>
        <p:style>
          <a:lnRef idx="2">
            <a:schemeClr val="accent1"/>
          </a:lnRef>
          <a:fillRef idx="0">
            <a:schemeClr val="accent1"/>
          </a:fillRef>
          <a:effectRef idx="1">
            <a:schemeClr val="accent1"/>
          </a:effectRef>
          <a:fontRef idx="minor">
            <a:schemeClr val="tx1"/>
          </a:fontRef>
        </p:style>
      </p:cxnSp>
      <p:sp>
        <p:nvSpPr>
          <p:cNvPr id="59" name="矩形 58">
            <a:extLst>
              <a:ext uri="{FF2B5EF4-FFF2-40B4-BE49-F238E27FC236}">
                <a16:creationId xmlns:a16="http://schemas.microsoft.com/office/drawing/2014/main" id="{FBA8FC7A-8BB2-6177-76C0-1F714767188D}"/>
              </a:ext>
            </a:extLst>
          </p:cNvPr>
          <p:cNvSpPr/>
          <p:nvPr/>
        </p:nvSpPr>
        <p:spPr>
          <a:xfrm>
            <a:off x="5872640" y="6032009"/>
            <a:ext cx="1962150" cy="438150"/>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200" b="1" dirty="0">
                <a:solidFill>
                  <a:schemeClr val="tx1"/>
                </a:solidFill>
                <a:latin typeface="Arial" panose="020B0604020202020204" pitchFamily="34" charset="0"/>
                <a:ea typeface="微软雅黑" panose="020B0503020204020204" pitchFamily="34" charset="-122"/>
              </a:rPr>
              <a:t>Execution Planning</a:t>
            </a:r>
            <a:endParaRPr kumimoji="0" lang="zh-CN" altLang="en-US"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71" name="直接箭头连接符 70">
            <a:extLst>
              <a:ext uri="{FF2B5EF4-FFF2-40B4-BE49-F238E27FC236}">
                <a16:creationId xmlns:a16="http://schemas.microsoft.com/office/drawing/2014/main" id="{3C47C652-17BD-D9C9-7B62-B41EC8EAB9A6}"/>
              </a:ext>
            </a:extLst>
          </p:cNvPr>
          <p:cNvCxnSpPr>
            <a:stCxn id="29" idx="2"/>
            <a:endCxn id="59" idx="0"/>
          </p:cNvCxnSpPr>
          <p:nvPr/>
        </p:nvCxnSpPr>
        <p:spPr>
          <a:xfrm flipH="1">
            <a:off x="6853715" y="5254033"/>
            <a:ext cx="13174" cy="777976"/>
          </a:xfrm>
          <a:prstGeom prst="straightConnector1">
            <a:avLst/>
          </a:prstGeom>
          <a:ln>
            <a:solidFill>
              <a:schemeClr val="accent3">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75" name="直接箭头连接符 74">
            <a:extLst>
              <a:ext uri="{FF2B5EF4-FFF2-40B4-BE49-F238E27FC236}">
                <a16:creationId xmlns:a16="http://schemas.microsoft.com/office/drawing/2014/main" id="{30B2A719-E126-631D-54CB-16FF4A964FAF}"/>
              </a:ext>
            </a:extLst>
          </p:cNvPr>
          <p:cNvCxnSpPr>
            <a:cxnSpLocks/>
            <a:stCxn id="9" idx="3"/>
          </p:cNvCxnSpPr>
          <p:nvPr/>
        </p:nvCxnSpPr>
        <p:spPr>
          <a:xfrm>
            <a:off x="7841140" y="2180273"/>
            <a:ext cx="508272" cy="0"/>
          </a:xfrm>
          <a:prstGeom prst="straightConnector1">
            <a:avLst/>
          </a:prstGeom>
          <a:ln>
            <a:solidFill>
              <a:srgbClr val="00B0F0"/>
            </a:solidFill>
            <a:tailEnd type="triangle"/>
          </a:ln>
        </p:spPr>
        <p:style>
          <a:lnRef idx="2">
            <a:schemeClr val="accent1"/>
          </a:lnRef>
          <a:fillRef idx="0">
            <a:schemeClr val="accent1"/>
          </a:fillRef>
          <a:effectRef idx="1">
            <a:schemeClr val="accent1"/>
          </a:effectRef>
          <a:fontRef idx="minor">
            <a:schemeClr val="tx1"/>
          </a:fontRef>
        </p:style>
      </p:cxnSp>
      <p:cxnSp>
        <p:nvCxnSpPr>
          <p:cNvPr id="76" name="直接箭头连接符 75">
            <a:extLst>
              <a:ext uri="{FF2B5EF4-FFF2-40B4-BE49-F238E27FC236}">
                <a16:creationId xmlns:a16="http://schemas.microsoft.com/office/drawing/2014/main" id="{C43B91BA-3348-5D8A-1A9D-8930BF4700C5}"/>
              </a:ext>
            </a:extLst>
          </p:cNvPr>
          <p:cNvCxnSpPr>
            <a:cxnSpLocks/>
          </p:cNvCxnSpPr>
          <p:nvPr/>
        </p:nvCxnSpPr>
        <p:spPr>
          <a:xfrm>
            <a:off x="10026066" y="2151131"/>
            <a:ext cx="635307" cy="0"/>
          </a:xfrm>
          <a:prstGeom prst="straightConnector1">
            <a:avLst/>
          </a:prstGeom>
          <a:ln>
            <a:solidFill>
              <a:srgbClr val="00B0F0"/>
            </a:solidFill>
            <a:tailEnd type="triangle"/>
          </a:ln>
        </p:spPr>
        <p:style>
          <a:lnRef idx="2">
            <a:schemeClr val="accent1"/>
          </a:lnRef>
          <a:fillRef idx="0">
            <a:schemeClr val="accent1"/>
          </a:fillRef>
          <a:effectRef idx="1">
            <a:schemeClr val="accent1"/>
          </a:effectRef>
          <a:fontRef idx="minor">
            <a:schemeClr val="tx1"/>
          </a:fontRef>
        </p:style>
      </p:cxnSp>
      <p:cxnSp>
        <p:nvCxnSpPr>
          <p:cNvPr id="82" name="直接连接符 81">
            <a:extLst>
              <a:ext uri="{FF2B5EF4-FFF2-40B4-BE49-F238E27FC236}">
                <a16:creationId xmlns:a16="http://schemas.microsoft.com/office/drawing/2014/main" id="{07C977E7-C0C0-278E-9B36-E5F7C64100A3}"/>
              </a:ext>
            </a:extLst>
          </p:cNvPr>
          <p:cNvCxnSpPr>
            <a:cxnSpLocks/>
          </p:cNvCxnSpPr>
          <p:nvPr/>
        </p:nvCxnSpPr>
        <p:spPr>
          <a:xfrm>
            <a:off x="71397" y="3604287"/>
            <a:ext cx="12120603" cy="19196"/>
          </a:xfrm>
          <a:prstGeom prst="line">
            <a:avLst/>
          </a:prstGeom>
          <a:ln>
            <a:tailEnd type="none"/>
          </a:ln>
        </p:spPr>
        <p:style>
          <a:lnRef idx="2">
            <a:schemeClr val="accent1"/>
          </a:lnRef>
          <a:fillRef idx="0">
            <a:schemeClr val="accent1"/>
          </a:fillRef>
          <a:effectRef idx="1">
            <a:schemeClr val="accent1"/>
          </a:effectRef>
          <a:fontRef idx="minor">
            <a:schemeClr val="tx1"/>
          </a:fontRef>
        </p:style>
      </p:cxnSp>
      <p:cxnSp>
        <p:nvCxnSpPr>
          <p:cNvPr id="84" name="直接连接符 83">
            <a:extLst>
              <a:ext uri="{FF2B5EF4-FFF2-40B4-BE49-F238E27FC236}">
                <a16:creationId xmlns:a16="http://schemas.microsoft.com/office/drawing/2014/main" id="{A7508160-576F-8485-B09F-7073BAC4ABA5}"/>
              </a:ext>
            </a:extLst>
          </p:cNvPr>
          <p:cNvCxnSpPr>
            <a:cxnSpLocks/>
          </p:cNvCxnSpPr>
          <p:nvPr/>
        </p:nvCxnSpPr>
        <p:spPr>
          <a:xfrm>
            <a:off x="0" y="5703448"/>
            <a:ext cx="12120603" cy="19196"/>
          </a:xfrm>
          <a:prstGeom prst="line">
            <a:avLst/>
          </a:prstGeom>
          <a:ln>
            <a:tailEnd type="none"/>
          </a:ln>
        </p:spPr>
        <p:style>
          <a:lnRef idx="2">
            <a:schemeClr val="accent1"/>
          </a:lnRef>
          <a:fillRef idx="0">
            <a:schemeClr val="accent1"/>
          </a:fillRef>
          <a:effectRef idx="1">
            <a:schemeClr val="accent1"/>
          </a:effectRef>
          <a:fontRef idx="minor">
            <a:schemeClr val="tx1"/>
          </a:fontRef>
        </p:style>
      </p:cxnSp>
      <p:sp>
        <p:nvSpPr>
          <p:cNvPr id="85" name="矩形 84">
            <a:extLst>
              <a:ext uri="{FF2B5EF4-FFF2-40B4-BE49-F238E27FC236}">
                <a16:creationId xmlns:a16="http://schemas.microsoft.com/office/drawing/2014/main" id="{8C9E4D91-7817-9C82-C51D-050CDB43B7A6}"/>
              </a:ext>
            </a:extLst>
          </p:cNvPr>
          <p:cNvSpPr/>
          <p:nvPr/>
        </p:nvSpPr>
        <p:spPr>
          <a:xfrm>
            <a:off x="3450115" y="6003065"/>
            <a:ext cx="1962150" cy="438150"/>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Priority</a:t>
            </a:r>
            <a:endParaRPr kumimoji="0" lang="zh-CN" altLang="en-US"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cxnSp>
        <p:nvCxnSpPr>
          <p:cNvPr id="87" name="连接符: 肘形 86">
            <a:extLst>
              <a:ext uri="{FF2B5EF4-FFF2-40B4-BE49-F238E27FC236}">
                <a16:creationId xmlns:a16="http://schemas.microsoft.com/office/drawing/2014/main" id="{6B0C7964-8EB6-7F95-0F3C-008EE25D3BD5}"/>
              </a:ext>
            </a:extLst>
          </p:cNvPr>
          <p:cNvCxnSpPr>
            <a:cxnSpLocks/>
            <a:stCxn id="85" idx="1"/>
            <a:endCxn id="9" idx="0"/>
          </p:cNvCxnSpPr>
          <p:nvPr/>
        </p:nvCxnSpPr>
        <p:spPr>
          <a:xfrm rot="10800000" flipH="1">
            <a:off x="3450115" y="1961198"/>
            <a:ext cx="3409950" cy="4260942"/>
          </a:xfrm>
          <a:prstGeom prst="bentConnector4">
            <a:avLst>
              <a:gd name="adj1" fmla="val -6704"/>
              <a:gd name="adj2" fmla="val 125864"/>
            </a:avLst>
          </a:prstGeom>
          <a:ln>
            <a:solidFill>
              <a:schemeClr val="accent3">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4178520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601BF275-3B45-76E9-63E5-BD198CABD358}"/>
              </a:ext>
            </a:extLst>
          </p:cNvPr>
          <p:cNvSpPr>
            <a:spLocks noGrp="1"/>
          </p:cNvSpPr>
          <p:nvPr>
            <p:ph type="ctrTitle"/>
          </p:nvPr>
        </p:nvSpPr>
        <p:spPr/>
        <p:txBody>
          <a:bodyPr/>
          <a:lstStyle/>
          <a:p>
            <a:r>
              <a:rPr lang="en-US" altLang="zh-CN" dirty="0">
                <a:latin typeface="Arial" panose="020B0604020202020204" pitchFamily="34" charset="0"/>
                <a:ea typeface="微软雅黑" panose="020B0503020204020204" pitchFamily="34" charset="-122"/>
              </a:rPr>
              <a:t>Forecast Consumption</a:t>
            </a:r>
            <a:endParaRPr lang="zh-CN" altLang="en-US"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3835650661"/>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C6A603A-CF63-EEA0-FC5C-4041FC117055}"/>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业务和</a:t>
            </a:r>
            <a:r>
              <a:rPr lang="en-US" altLang="zh-CN" dirty="0">
                <a:latin typeface="Arial" panose="020B0604020202020204" pitchFamily="34" charset="0"/>
                <a:ea typeface="微软雅黑" panose="020B0503020204020204" pitchFamily="34" charset="-122"/>
              </a:rPr>
              <a:t>DT</a:t>
            </a:r>
            <a:r>
              <a:rPr lang="zh-CN" altLang="en-US" dirty="0">
                <a:latin typeface="Arial" panose="020B0604020202020204" pitchFamily="34" charset="0"/>
                <a:ea typeface="微软雅黑" panose="020B0503020204020204" pitchFamily="34" charset="-122"/>
              </a:rPr>
              <a:t>方案 </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效率，响应和柔性 </a:t>
            </a:r>
          </a:p>
        </p:txBody>
      </p:sp>
      <p:sp>
        <p:nvSpPr>
          <p:cNvPr id="3" name="TextBox1530">
            <a:extLst>
              <a:ext uri="{FF2B5EF4-FFF2-40B4-BE49-F238E27FC236}">
                <a16:creationId xmlns:a16="http://schemas.microsoft.com/office/drawing/2014/main" id="{C40ADC80-92C5-2F77-1C9F-0DD2420F9A40}"/>
              </a:ext>
            </a:extLst>
          </p:cNvPr>
          <p:cNvSpPr txBox="1"/>
          <p:nvPr/>
        </p:nvSpPr>
        <p:spPr>
          <a:xfrm>
            <a:off x="2078411" y="1253707"/>
            <a:ext cx="7552056" cy="419100"/>
          </a:xfrm>
          <a:prstGeom prst="rect">
            <a:avLst/>
          </a:prstGeom>
          <a:noFill/>
        </p:spPr>
        <p:txBody>
          <a:bodyPr wrap="square" lIns="0" tIns="0" rIns="0" bIns="0" rtlCol="0">
            <a:spAutoFit/>
          </a:bodyPr>
          <a:lstStyle/>
          <a:p>
            <a:pPr marL="0" marR="0" indent="0" eaLnBrk="0">
              <a:lnSpc>
                <a:spcPct val="100000"/>
              </a:lnSpc>
            </a:pPr>
            <a:r>
              <a:rPr lang="en-US" altLang="zh-CN" sz="2750" kern="0" spc="0" baseline="0" noProof="0" dirty="0">
                <a:latin typeface="Arial" panose="020B0604020202020204" pitchFamily="34" charset="0"/>
                <a:ea typeface="微软雅黑" panose="020B0503020204020204" pitchFamily="34" charset="-122"/>
                <a:cs typeface="Arial" pitchFamily="34" charset="0"/>
              </a:rPr>
              <a:t>Efficiency</a:t>
            </a:r>
            <a:r>
              <a:rPr lang="en-US" altLang="zh-CN" sz="2750" kern="0" spc="-15" baseline="0" noProof="0" dirty="0">
                <a:latin typeface="Arial" panose="020B0604020202020204" pitchFamily="34" charset="0"/>
                <a:ea typeface="微软雅黑" panose="020B0503020204020204" pitchFamily="34" charset="-122"/>
                <a:cs typeface="Arial" pitchFamily="34" charset="0"/>
              </a:rPr>
              <a:t> </a:t>
            </a:r>
            <a:r>
              <a:rPr lang="en-US" altLang="zh-CN" sz="2750" kern="0" spc="0" baseline="0" noProof="0" dirty="0">
                <a:latin typeface="Arial" panose="020B0604020202020204" pitchFamily="34" charset="0"/>
                <a:ea typeface="微软雅黑" panose="020B0503020204020204" pitchFamily="34" charset="-122"/>
                <a:cs typeface="Arial" pitchFamily="34" charset="0"/>
              </a:rPr>
              <a:t>with</a:t>
            </a:r>
            <a:r>
              <a:rPr lang="en-US" altLang="zh-CN" sz="2750" kern="0" spc="-15" baseline="0" noProof="0" dirty="0">
                <a:latin typeface="Arial" panose="020B0604020202020204" pitchFamily="34" charset="0"/>
                <a:ea typeface="微软雅黑" panose="020B0503020204020204" pitchFamily="34" charset="-122"/>
                <a:cs typeface="Arial" pitchFamily="34" charset="0"/>
              </a:rPr>
              <a:t> </a:t>
            </a:r>
            <a:r>
              <a:rPr lang="en-US" altLang="zh-CN" sz="2750" kern="0" spc="0" baseline="0" noProof="0" dirty="0">
                <a:latin typeface="Arial" panose="020B0604020202020204" pitchFamily="34" charset="0"/>
                <a:ea typeface="微软雅黑" panose="020B0503020204020204" pitchFamily="34" charset="-122"/>
                <a:cs typeface="Arial" pitchFamily="34" charset="0"/>
              </a:rPr>
              <a:t>Responsiveness,</a:t>
            </a:r>
            <a:r>
              <a:rPr lang="en-US" altLang="zh-CN" sz="2750" kern="0" spc="-15" baseline="0" noProof="0" dirty="0">
                <a:latin typeface="Arial" panose="020B0604020202020204" pitchFamily="34" charset="0"/>
                <a:ea typeface="微软雅黑" panose="020B0503020204020204" pitchFamily="34" charset="-122"/>
                <a:cs typeface="Arial" pitchFamily="34" charset="0"/>
              </a:rPr>
              <a:t> </a:t>
            </a:r>
            <a:r>
              <a:rPr lang="en-US" altLang="zh-CN" sz="2750" kern="0" spc="0" baseline="0" noProof="0" dirty="0">
                <a:latin typeface="Arial" panose="020B0604020202020204" pitchFamily="34" charset="0"/>
                <a:ea typeface="微软雅黑" panose="020B0503020204020204" pitchFamily="34" charset="-122"/>
                <a:cs typeface="Arial" pitchFamily="34" charset="0"/>
              </a:rPr>
              <a:t>plus</a:t>
            </a:r>
            <a:r>
              <a:rPr lang="en-US" altLang="zh-CN" sz="2750" kern="0" spc="-15" baseline="0" noProof="0" dirty="0">
                <a:latin typeface="Arial" panose="020B0604020202020204" pitchFamily="34" charset="0"/>
                <a:ea typeface="微软雅黑" panose="020B0503020204020204" pitchFamily="34" charset="-122"/>
                <a:cs typeface="Arial" pitchFamily="34" charset="0"/>
              </a:rPr>
              <a:t> </a:t>
            </a:r>
            <a:r>
              <a:rPr lang="en-US" altLang="zh-CN" sz="2750" kern="0" spc="0" baseline="0" noProof="0" dirty="0">
                <a:latin typeface="Arial" panose="020B0604020202020204" pitchFamily="34" charset="0"/>
                <a:ea typeface="微软雅黑" panose="020B0503020204020204" pitchFamily="34" charset="-122"/>
                <a:cs typeface="Arial" pitchFamily="34" charset="0"/>
              </a:rPr>
              <a:t>Resilience</a:t>
            </a:r>
          </a:p>
        </p:txBody>
      </p:sp>
      <p:grpSp>
        <p:nvGrpSpPr>
          <p:cNvPr id="18" name="组合 17">
            <a:extLst>
              <a:ext uri="{FF2B5EF4-FFF2-40B4-BE49-F238E27FC236}">
                <a16:creationId xmlns:a16="http://schemas.microsoft.com/office/drawing/2014/main" id="{C9D4AA8F-A0BB-01FB-A1D3-989F0BCF7BC2}"/>
              </a:ext>
            </a:extLst>
          </p:cNvPr>
          <p:cNvGrpSpPr/>
          <p:nvPr/>
        </p:nvGrpSpPr>
        <p:grpSpPr>
          <a:xfrm>
            <a:off x="1295399" y="2445327"/>
            <a:ext cx="9608127" cy="4107873"/>
            <a:chOff x="2032115" y="1625469"/>
            <a:chExt cx="7552056" cy="3349940"/>
          </a:xfrm>
        </p:grpSpPr>
        <p:grpSp>
          <p:nvGrpSpPr>
            <p:cNvPr id="5" name="组合 4">
              <a:extLst>
                <a:ext uri="{FF2B5EF4-FFF2-40B4-BE49-F238E27FC236}">
                  <a16:creationId xmlns:a16="http://schemas.microsoft.com/office/drawing/2014/main" id="{5D2CC413-58E1-89E0-26B4-81356DFAC3F1}"/>
                </a:ext>
              </a:extLst>
            </p:cNvPr>
            <p:cNvGrpSpPr>
              <a:grpSpLocks noChangeAspect="1"/>
            </p:cNvGrpSpPr>
            <p:nvPr>
              <p:custDataLst>
                <p:tags r:id="rId1"/>
              </p:custDataLst>
            </p:nvPr>
          </p:nvGrpSpPr>
          <p:grpSpPr>
            <a:xfrm>
              <a:off x="2032115" y="1625469"/>
              <a:ext cx="7552056" cy="3140497"/>
              <a:chOff x="673099" y="1093836"/>
              <a:chExt cx="3566161" cy="4079244"/>
            </a:xfrm>
          </p:grpSpPr>
          <p:grpSp>
            <p:nvGrpSpPr>
              <p:cNvPr id="6" name="组合 5">
                <a:extLst>
                  <a:ext uri="{FF2B5EF4-FFF2-40B4-BE49-F238E27FC236}">
                    <a16:creationId xmlns:a16="http://schemas.microsoft.com/office/drawing/2014/main" id="{333421F3-7BC5-68C0-8EC1-98FF02D50845}"/>
                  </a:ext>
                </a:extLst>
              </p:cNvPr>
              <p:cNvGrpSpPr/>
              <p:nvPr/>
            </p:nvGrpSpPr>
            <p:grpSpPr>
              <a:xfrm>
                <a:off x="673099" y="1125791"/>
                <a:ext cx="1746251" cy="4047289"/>
                <a:chOff x="673099" y="1125791"/>
                <a:chExt cx="1746251" cy="4047289"/>
              </a:xfrm>
            </p:grpSpPr>
            <p:sp>
              <p:nvSpPr>
                <p:cNvPr id="12" name="1">
                  <a:extLst>
                    <a:ext uri="{FF2B5EF4-FFF2-40B4-BE49-F238E27FC236}">
                      <a16:creationId xmlns:a16="http://schemas.microsoft.com/office/drawing/2014/main" id="{A4133BF2-31DA-F1B2-31F6-B3D9B46E5262}"/>
                    </a:ext>
                  </a:extLst>
                </p:cNvPr>
                <p:cNvSpPr/>
                <p:nvPr>
                  <p:custDataLst>
                    <p:tags r:id="rId6"/>
                  </p:custDataLst>
                </p:nvPr>
              </p:nvSpPr>
              <p:spPr>
                <a:xfrm>
                  <a:off x="673099" y="1365061"/>
                  <a:ext cx="1746251" cy="3808019"/>
                </a:xfrm>
                <a:prstGeom prst="roundRect">
                  <a:avLst>
                    <a:gd name="adj" fmla="val 5088"/>
                  </a:avLst>
                </a:prstGeom>
                <a:solidFill>
                  <a:schemeClr val="accent1">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latin typeface="+mn-ea"/>
                  </a:endParaRPr>
                </a:p>
              </p:txBody>
            </p:sp>
            <p:sp>
              <p:nvSpPr>
                <p:cNvPr id="14" name="Body-1">
                  <a:extLst>
                    <a:ext uri="{FF2B5EF4-FFF2-40B4-BE49-F238E27FC236}">
                      <a16:creationId xmlns:a16="http://schemas.microsoft.com/office/drawing/2014/main" id="{FFD893CD-0961-BAC1-98A9-4329C2C29CD9}"/>
                    </a:ext>
                  </a:extLst>
                </p:cNvPr>
                <p:cNvSpPr>
                  <a:spLocks/>
                </p:cNvSpPr>
                <p:nvPr>
                  <p:custDataLst>
                    <p:tags r:id="rId7"/>
                  </p:custDataLst>
                </p:nvPr>
              </p:nvSpPr>
              <p:spPr>
                <a:xfrm>
                  <a:off x="784086" y="1944939"/>
                  <a:ext cx="1581150" cy="26191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30000"/>
                    </a:lnSpc>
                    <a:buSzPct val="100000"/>
                    <a:buFont typeface="Arial" panose="020B0604020202020204" pitchFamily="34" charset="0"/>
                    <a:buChar char="•"/>
                    <a:defRPr/>
                  </a:pPr>
                  <a:r>
                    <a:rPr lang="en-US" altLang="zh-CN" b="1" dirty="0">
                      <a:solidFill>
                        <a:schemeClr val="tx1"/>
                      </a:solidFill>
                      <a:latin typeface="Arial" panose="020B0604020202020204" pitchFamily="34" charset="0"/>
                      <a:ea typeface="微软雅黑" panose="020B0503020204020204" pitchFamily="34" charset="-122"/>
                    </a:rPr>
                    <a:t>Least-cost</a:t>
                  </a:r>
                  <a:r>
                    <a:rPr kumimoji="0" lang="en-US" altLang="zh-CN"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 manufacturing/supply chain </a:t>
                  </a:r>
                </a:p>
                <a:p>
                  <a:pPr marL="285750" indent="-285750" defTabSz="913765">
                    <a:lnSpc>
                      <a:spcPct val="130000"/>
                    </a:lnSpc>
                    <a:buSzPct val="100000"/>
                    <a:buFont typeface="Arial" panose="020B0604020202020204" pitchFamily="34" charset="0"/>
                    <a:buChar char="•"/>
                    <a:defRPr/>
                  </a:pPr>
                  <a:r>
                    <a:rPr kumimoji="0" lang="en-US" altLang="zh-CN"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Relatively stable demand</a:t>
                  </a:r>
                </a:p>
                <a:p>
                  <a:pPr marL="285750" indent="-285750" defTabSz="913765">
                    <a:lnSpc>
                      <a:spcPct val="130000"/>
                    </a:lnSpc>
                    <a:buSzPct val="100000"/>
                    <a:buFont typeface="Arial" panose="020B0604020202020204" pitchFamily="34" charset="0"/>
                    <a:buChar char="•"/>
                    <a:defRPr/>
                  </a:pPr>
                  <a:r>
                    <a:rPr kumimoji="0" lang="en-US" altLang="zh-CN"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Reasonably accurate forecasts </a:t>
                  </a:r>
                </a:p>
                <a:p>
                  <a:pPr marL="285750" indent="-285750" defTabSz="913765">
                    <a:lnSpc>
                      <a:spcPct val="130000"/>
                    </a:lnSpc>
                    <a:buSzPct val="100000"/>
                    <a:buFont typeface="Arial" panose="020B0604020202020204" pitchFamily="34" charset="0"/>
                    <a:buChar char="•"/>
                    <a:defRPr/>
                  </a:pPr>
                  <a:r>
                    <a:rPr kumimoji="0" lang="en-US" altLang="zh-CN"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Make-to-stock strategy</a:t>
                  </a:r>
                  <a:endParaRPr kumimoji="0" lang="en-GB" altLang="zh-CN"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p:txBody>
            </p:sp>
            <p:sp>
              <p:nvSpPr>
                <p:cNvPr id="15" name="Title-1">
                  <a:extLst>
                    <a:ext uri="{FF2B5EF4-FFF2-40B4-BE49-F238E27FC236}">
                      <a16:creationId xmlns:a16="http://schemas.microsoft.com/office/drawing/2014/main" id="{E9A19C4C-3732-EBE3-C5A7-1DA1745E2297}"/>
                    </a:ext>
                  </a:extLst>
                </p:cNvPr>
                <p:cNvSpPr>
                  <a:spLocks/>
                </p:cNvSpPr>
                <p:nvPr>
                  <p:custDataLst>
                    <p:tags r:id="rId8"/>
                  </p:custDataLst>
                </p:nvPr>
              </p:nvSpPr>
              <p:spPr>
                <a:xfrm>
                  <a:off x="839492" y="1125791"/>
                  <a:ext cx="1470339" cy="709085"/>
                </a:xfrm>
                <a:prstGeom prst="round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lvl="1" algn="ctr"/>
                  <a:r>
                    <a:rPr lang="zh-CN" altLang="en-US" sz="2400" b="1" dirty="0">
                      <a:solidFill>
                        <a:schemeClr val="tx1"/>
                      </a:solidFill>
                      <a:latin typeface="Arial" panose="020B0604020202020204" pitchFamily="34" charset="0"/>
                      <a:ea typeface="微软雅黑" panose="020B0503020204020204" pitchFamily="34" charset="-122"/>
                      <a:sym typeface="Arial" panose="020B0604020202020204" pitchFamily="34" charset="0"/>
                    </a:rPr>
                    <a:t>效率供应链</a:t>
                  </a:r>
                  <a:endParaRPr lang="en-US" altLang="zh-CN" sz="2400" b="1" dirty="0">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 name="组合 6">
                <a:extLst>
                  <a:ext uri="{FF2B5EF4-FFF2-40B4-BE49-F238E27FC236}">
                    <a16:creationId xmlns:a16="http://schemas.microsoft.com/office/drawing/2014/main" id="{9FFEA6B5-C9D5-79D8-965B-1FFC666E99AC}"/>
                  </a:ext>
                </a:extLst>
              </p:cNvPr>
              <p:cNvGrpSpPr/>
              <p:nvPr/>
            </p:nvGrpSpPr>
            <p:grpSpPr>
              <a:xfrm>
                <a:off x="2493009" y="1093836"/>
                <a:ext cx="1746251" cy="4075984"/>
                <a:chOff x="2493009" y="1093836"/>
                <a:chExt cx="1746251" cy="4075984"/>
              </a:xfrm>
            </p:grpSpPr>
            <p:sp>
              <p:nvSpPr>
                <p:cNvPr id="8" name="2">
                  <a:extLst>
                    <a:ext uri="{FF2B5EF4-FFF2-40B4-BE49-F238E27FC236}">
                      <a16:creationId xmlns:a16="http://schemas.microsoft.com/office/drawing/2014/main" id="{1F2837B9-6373-71F0-1A49-B555099C1569}"/>
                    </a:ext>
                  </a:extLst>
                </p:cNvPr>
                <p:cNvSpPr>
                  <a:spLocks/>
                </p:cNvSpPr>
                <p:nvPr>
                  <p:custDataLst>
                    <p:tags r:id="rId3"/>
                  </p:custDataLst>
                </p:nvPr>
              </p:nvSpPr>
              <p:spPr>
                <a:xfrm>
                  <a:off x="2493009" y="1361801"/>
                  <a:ext cx="1746251" cy="3808019"/>
                </a:xfrm>
                <a:prstGeom prst="roundRect">
                  <a:avLst>
                    <a:gd name="adj" fmla="val 5088"/>
                  </a:avLst>
                </a:prstGeom>
                <a:solidFill>
                  <a:schemeClr val="accent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latin typeface="+mn-ea"/>
                  </a:endParaRPr>
                </a:p>
              </p:txBody>
            </p:sp>
            <p:sp>
              <p:nvSpPr>
                <p:cNvPr id="10" name="Body-2">
                  <a:extLst>
                    <a:ext uri="{FF2B5EF4-FFF2-40B4-BE49-F238E27FC236}">
                      <a16:creationId xmlns:a16="http://schemas.microsoft.com/office/drawing/2014/main" id="{C942454E-DD8B-8114-BCE8-0F5C3CEF0187}"/>
                    </a:ext>
                  </a:extLst>
                </p:cNvPr>
                <p:cNvSpPr>
                  <a:spLocks/>
                </p:cNvSpPr>
                <p:nvPr>
                  <p:custDataLst>
                    <p:tags r:id="rId4"/>
                  </p:custDataLst>
                </p:nvPr>
              </p:nvSpPr>
              <p:spPr>
                <a:xfrm>
                  <a:off x="2575559" y="1959511"/>
                  <a:ext cx="1581150" cy="26191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30000"/>
                    </a:lnSpc>
                    <a:buSzPct val="100000"/>
                    <a:buFont typeface="Arial" panose="020B0604020202020204" pitchFamily="34" charset="0"/>
                    <a:buChar char="•"/>
                    <a:defRPr/>
                  </a:pPr>
                  <a:r>
                    <a:rPr kumimoji="0" lang="en-US" altLang="zh-CN"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Flexible in response to changing demand</a:t>
                  </a:r>
                </a:p>
                <a:p>
                  <a:pPr marL="285750" indent="-285750" defTabSz="913765">
                    <a:lnSpc>
                      <a:spcPct val="130000"/>
                    </a:lnSpc>
                    <a:buSzPct val="100000"/>
                    <a:buFont typeface="Arial" panose="020B0604020202020204" pitchFamily="34" charset="0"/>
                    <a:buChar char="•"/>
                    <a:defRPr/>
                  </a:pPr>
                  <a:r>
                    <a:rPr kumimoji="0" lang="en-US" altLang="zh-CN"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More volatile demand</a:t>
                  </a:r>
                </a:p>
                <a:p>
                  <a:pPr marL="285750" indent="-285750" defTabSz="913765">
                    <a:lnSpc>
                      <a:spcPct val="130000"/>
                    </a:lnSpc>
                    <a:buSzPct val="100000"/>
                    <a:buFont typeface="Arial" panose="020B0604020202020204" pitchFamily="34" charset="0"/>
                    <a:buChar char="•"/>
                    <a:defRPr/>
                  </a:pPr>
                  <a:r>
                    <a:rPr kumimoji="0" lang="en-US" altLang="zh-CN"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Uncertain forecasts</a:t>
                  </a:r>
                </a:p>
                <a:p>
                  <a:pPr marL="285750" indent="-285750" defTabSz="913765">
                    <a:lnSpc>
                      <a:spcPct val="130000"/>
                    </a:lnSpc>
                    <a:buSzPct val="100000"/>
                    <a:buFont typeface="Arial" panose="020B0604020202020204" pitchFamily="34" charset="0"/>
                    <a:buChar char="•"/>
                    <a:defRPr/>
                  </a:pPr>
                  <a:r>
                    <a:rPr kumimoji="0" lang="en-US" altLang="zh-CN"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MTO or ATO strategy</a:t>
                  </a:r>
                  <a:endParaRPr kumimoji="0" lang="en-GB" altLang="zh-CN"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p:txBody>
            </p:sp>
            <p:sp>
              <p:nvSpPr>
                <p:cNvPr id="11" name="Title-2">
                  <a:extLst>
                    <a:ext uri="{FF2B5EF4-FFF2-40B4-BE49-F238E27FC236}">
                      <a16:creationId xmlns:a16="http://schemas.microsoft.com/office/drawing/2014/main" id="{D1C1CE99-F9A1-DE9C-2150-7570B05C89EA}"/>
                    </a:ext>
                  </a:extLst>
                </p:cNvPr>
                <p:cNvSpPr>
                  <a:spLocks/>
                </p:cNvSpPr>
                <p:nvPr>
                  <p:custDataLst>
                    <p:tags r:id="rId5"/>
                  </p:custDataLst>
                </p:nvPr>
              </p:nvSpPr>
              <p:spPr>
                <a:xfrm>
                  <a:off x="2594257" y="1093836"/>
                  <a:ext cx="1470339" cy="701011"/>
                </a:xfrm>
                <a:prstGeom prst="round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120000"/>
                    </a:lnSpc>
                  </a:pPr>
                  <a:r>
                    <a:rPr lang="zh-CN" altLang="en-US" sz="2400" b="1" dirty="0">
                      <a:solidFill>
                        <a:schemeClr val="accent2"/>
                      </a:solidFill>
                      <a:latin typeface="Arial" panose="020B0604020202020204" pitchFamily="34" charset="0"/>
                      <a:ea typeface="微软雅黑" panose="020B0503020204020204" pitchFamily="34" charset="-122"/>
                      <a:sym typeface="Arial" panose="020B0604020202020204" pitchFamily="34" charset="0"/>
                    </a:rPr>
                    <a:t>响应供应链</a:t>
                  </a:r>
                  <a:endParaRPr lang="en-US" altLang="zh-CN" sz="2400" b="1" dirty="0">
                    <a:solidFill>
                      <a:schemeClr val="accent2"/>
                    </a:solidFill>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16" name="Title-2">
              <a:extLst>
                <a:ext uri="{FF2B5EF4-FFF2-40B4-BE49-F238E27FC236}">
                  <a16:creationId xmlns:a16="http://schemas.microsoft.com/office/drawing/2014/main" id="{DE1BD9CA-79B4-BE97-7A0E-FE5A71830D9E}"/>
                </a:ext>
              </a:extLst>
            </p:cNvPr>
            <p:cNvSpPr>
              <a:spLocks/>
            </p:cNvSpPr>
            <p:nvPr>
              <p:custDataLst>
                <p:tags r:id="rId2"/>
              </p:custDataLst>
            </p:nvPr>
          </p:nvSpPr>
          <p:spPr>
            <a:xfrm>
              <a:off x="4329269" y="4435082"/>
              <a:ext cx="3113735" cy="540327"/>
            </a:xfrm>
            <a:prstGeom prst="round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120000"/>
                </a:lnSpc>
              </a:pPr>
              <a:r>
                <a:rPr lang="zh-CN" altLang="en-US" sz="2400" b="1" dirty="0">
                  <a:solidFill>
                    <a:schemeClr val="accent2"/>
                  </a:solidFill>
                  <a:latin typeface="Arial" panose="020B0604020202020204" pitchFamily="34" charset="0"/>
                  <a:ea typeface="微软雅黑" panose="020B0503020204020204" pitchFamily="34" charset="-122"/>
                  <a:sym typeface="Arial" panose="020B0604020202020204" pitchFamily="34" charset="0"/>
                </a:rPr>
                <a:t>弹性供应链</a:t>
              </a:r>
              <a:endParaRPr lang="en-US" altLang="zh-CN" sz="2400" b="1" dirty="0">
                <a:solidFill>
                  <a:schemeClr val="accent2"/>
                </a:solidFill>
                <a:latin typeface="Arial" panose="020B0604020202020204" pitchFamily="34" charset="0"/>
                <a:ea typeface="微软雅黑" panose="020B0503020204020204" pitchFamily="34" charset="-122"/>
                <a:sym typeface="Arial" panose="020B0604020202020204" pitchFamily="34" charset="0"/>
              </a:endParaRPr>
            </a:p>
          </p:txBody>
        </p:sp>
      </p:grpSp>
    </p:spTree>
    <p:extLst>
      <p:ext uri="{BB962C8B-B14F-4D97-AF65-F5344CB8AC3E}">
        <p14:creationId xmlns:p14="http://schemas.microsoft.com/office/powerpoint/2010/main" val="1671585330"/>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6F08F138-3F4D-E009-C4D0-278D5C6788C5}"/>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业务和</a:t>
            </a:r>
            <a:r>
              <a:rPr lang="en-US" altLang="zh-CN" dirty="0">
                <a:latin typeface="Arial" panose="020B0604020202020204" pitchFamily="34" charset="0"/>
                <a:ea typeface="微软雅黑" panose="020B0503020204020204" pitchFamily="34" charset="-122"/>
              </a:rPr>
              <a:t>DT</a:t>
            </a:r>
            <a:r>
              <a:rPr lang="zh-CN" altLang="en-US" dirty="0">
                <a:latin typeface="Arial" panose="020B0604020202020204" pitchFamily="34" charset="0"/>
                <a:ea typeface="微软雅黑" panose="020B0503020204020204" pitchFamily="34" charset="-122"/>
              </a:rPr>
              <a:t>方案 </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供应链类型与产品匹配</a:t>
            </a:r>
          </a:p>
        </p:txBody>
      </p:sp>
      <p:graphicFrame>
        <p:nvGraphicFramePr>
          <p:cNvPr id="4" name="表格 3">
            <a:extLst>
              <a:ext uri="{FF2B5EF4-FFF2-40B4-BE49-F238E27FC236}">
                <a16:creationId xmlns:a16="http://schemas.microsoft.com/office/drawing/2014/main" id="{A51852FB-2E0D-6C89-6C60-D0A35D13ECF4}"/>
              </a:ext>
            </a:extLst>
          </p:cNvPr>
          <p:cNvGraphicFramePr>
            <a:graphicFrameLocks noGrp="1"/>
          </p:cNvGraphicFramePr>
          <p:nvPr>
            <p:extLst>
              <p:ext uri="{D42A27DB-BD31-4B8C-83A1-F6EECF244321}">
                <p14:modId xmlns:p14="http://schemas.microsoft.com/office/powerpoint/2010/main" val="3421732752"/>
              </p:ext>
            </p:extLst>
          </p:nvPr>
        </p:nvGraphicFramePr>
        <p:xfrm>
          <a:off x="2530762" y="1527077"/>
          <a:ext cx="7603838" cy="3803845"/>
        </p:xfrm>
        <a:graphic>
          <a:graphicData uri="http://schemas.openxmlformats.org/drawingml/2006/table">
            <a:tbl>
              <a:tblPr firstRow="1" bandRow="1">
                <a:tableStyleId>{69012ECD-51FC-41F1-AA8D-1B2483CD663E}</a:tableStyleId>
              </a:tblPr>
              <a:tblGrid>
                <a:gridCol w="3801919">
                  <a:extLst>
                    <a:ext uri="{9D8B030D-6E8A-4147-A177-3AD203B41FA5}">
                      <a16:colId xmlns:a16="http://schemas.microsoft.com/office/drawing/2014/main" val="794701976"/>
                    </a:ext>
                  </a:extLst>
                </a:gridCol>
                <a:gridCol w="3801919">
                  <a:extLst>
                    <a:ext uri="{9D8B030D-6E8A-4147-A177-3AD203B41FA5}">
                      <a16:colId xmlns:a16="http://schemas.microsoft.com/office/drawing/2014/main" val="3501879014"/>
                    </a:ext>
                  </a:extLst>
                </a:gridCol>
              </a:tblGrid>
              <a:tr h="974059">
                <a:tc>
                  <a:txBody>
                    <a:bodyPr/>
                    <a:lstStyle/>
                    <a:p>
                      <a:pPr algn="ctr"/>
                      <a:endParaRPr lang="en-US" altLang="zh-CN" sz="2000" b="1" dirty="0">
                        <a:latin typeface="Arial" panose="020B0604020202020204" pitchFamily="34" charset="0"/>
                        <a:ea typeface="微软雅黑" panose="020B0503020204020204" pitchFamily="34" charset="-122"/>
                      </a:endParaRPr>
                    </a:p>
                    <a:p>
                      <a:pPr algn="ctr"/>
                      <a:r>
                        <a:rPr lang="zh-CN" altLang="en-US" sz="2000" b="1" dirty="0">
                          <a:latin typeface="Arial" panose="020B0604020202020204" pitchFamily="34" charset="0"/>
                          <a:ea typeface="微软雅黑" panose="020B0503020204020204" pitchFamily="34" charset="-122"/>
                        </a:rPr>
                        <a:t>效率供应链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en-US" altLang="zh-CN" sz="2000" b="1" dirty="0">
                        <a:latin typeface="Arial" panose="020B0604020202020204" pitchFamily="34" charset="0"/>
                        <a:ea typeface="微软雅黑" panose="020B0503020204020204" pitchFamily="34" charset="-122"/>
                      </a:endParaRPr>
                    </a:p>
                    <a:p>
                      <a:pPr algn="ctr"/>
                      <a:r>
                        <a:rPr lang="zh-CN" altLang="en-US" sz="2000" b="1" dirty="0">
                          <a:latin typeface="Arial" panose="020B0604020202020204" pitchFamily="34" charset="0"/>
                          <a:ea typeface="微软雅黑" panose="020B0503020204020204" pitchFamily="34" charset="-122"/>
                        </a:rPr>
                        <a:t>响应供应链</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8631104"/>
                  </a:ext>
                </a:extLst>
              </a:tr>
              <a:tr h="1414893">
                <a:tc>
                  <a:txBody>
                    <a:bodyPr/>
                    <a:lstStyle/>
                    <a:p>
                      <a:pPr algn="ctr"/>
                      <a:endParaRPr lang="en-US" altLang="zh-CN" sz="2000" b="1" dirty="0">
                        <a:latin typeface="Arial" panose="020B0604020202020204" pitchFamily="34" charset="0"/>
                        <a:ea typeface="微软雅黑" panose="020B0503020204020204" pitchFamily="34" charset="-122"/>
                      </a:endParaRPr>
                    </a:p>
                    <a:p>
                      <a:pPr algn="ctr"/>
                      <a:endParaRPr lang="en-US" altLang="zh-CN" sz="2000" b="1" dirty="0">
                        <a:latin typeface="Arial" panose="020B0604020202020204" pitchFamily="34" charset="0"/>
                        <a:ea typeface="微软雅黑" panose="020B0503020204020204" pitchFamily="34" charset="-122"/>
                      </a:endParaRPr>
                    </a:p>
                    <a:p>
                      <a:pPr algn="ctr"/>
                      <a:r>
                        <a:rPr lang="en-US" altLang="zh-CN" sz="2000" b="1" dirty="0">
                          <a:latin typeface="Arial" panose="020B0604020202020204" pitchFamily="34" charset="0"/>
                          <a:ea typeface="微软雅黑" panose="020B0503020204020204" pitchFamily="34" charset="-122"/>
                        </a:rPr>
                        <a:t>MTS </a:t>
                      </a:r>
                      <a:r>
                        <a:rPr lang="zh-CN" altLang="en-US" sz="2000" b="1" dirty="0">
                          <a:latin typeface="Arial" panose="020B0604020202020204" pitchFamily="34" charset="0"/>
                          <a:ea typeface="微软雅黑" panose="020B0503020204020204" pitchFamily="34" charset="-122"/>
                        </a:rPr>
                        <a:t>产品</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en-US" altLang="zh-CN" sz="2000" b="1" dirty="0">
                        <a:latin typeface="Arial" panose="020B0604020202020204" pitchFamily="34" charset="0"/>
                        <a:ea typeface="微软雅黑" panose="020B0503020204020204" pitchFamily="34" charset="-122"/>
                      </a:endParaRPr>
                    </a:p>
                    <a:p>
                      <a:pPr algn="ctr"/>
                      <a:endParaRPr lang="en-US" altLang="zh-CN" sz="2000" b="1" dirty="0">
                        <a:latin typeface="Arial" panose="020B0604020202020204" pitchFamily="34" charset="0"/>
                        <a:ea typeface="微软雅黑" panose="020B0503020204020204" pitchFamily="34" charset="-122"/>
                      </a:endParaRPr>
                    </a:p>
                    <a:p>
                      <a:pPr algn="ctr"/>
                      <a:r>
                        <a:rPr lang="en-US" altLang="zh-CN" sz="2000" b="1" dirty="0">
                          <a:latin typeface="Arial" panose="020B0604020202020204" pitchFamily="34" charset="0"/>
                          <a:ea typeface="微软雅黑" panose="020B0503020204020204" pitchFamily="34" charset="-122"/>
                        </a:rPr>
                        <a:t>ATO </a:t>
                      </a:r>
                      <a:r>
                        <a:rPr lang="zh-CN" altLang="en-US" sz="2000" b="1" dirty="0">
                          <a:latin typeface="Arial" panose="020B0604020202020204" pitchFamily="34" charset="0"/>
                          <a:ea typeface="微软雅黑" panose="020B0503020204020204" pitchFamily="34" charset="-122"/>
                        </a:rPr>
                        <a:t>产品</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8797405"/>
                  </a:ext>
                </a:extLst>
              </a:tr>
              <a:tr h="1414893">
                <a:tc>
                  <a:txBody>
                    <a:bodyPr/>
                    <a:lstStyle/>
                    <a:p>
                      <a:pPr algn="ctr"/>
                      <a:endParaRPr lang="en-US" altLang="zh-CN" sz="2000" b="1" dirty="0">
                        <a:latin typeface="Arial" panose="020B0604020202020204" pitchFamily="34" charset="0"/>
                        <a:ea typeface="微软雅黑" panose="020B0503020204020204" pitchFamily="34" charset="-122"/>
                      </a:endParaRPr>
                    </a:p>
                    <a:p>
                      <a:pPr algn="ctr"/>
                      <a:endParaRPr lang="en-US" altLang="zh-CN" sz="2000" b="1" dirty="0">
                        <a:latin typeface="Arial" panose="020B0604020202020204" pitchFamily="34" charset="0"/>
                        <a:ea typeface="微软雅黑" panose="020B0503020204020204" pitchFamily="34" charset="-122"/>
                      </a:endParaRPr>
                    </a:p>
                    <a:p>
                      <a:pPr algn="ctr"/>
                      <a:r>
                        <a:rPr lang="en-US" altLang="zh-CN" sz="2000" b="1" dirty="0">
                          <a:latin typeface="Arial" panose="020B0604020202020204" pitchFamily="34" charset="0"/>
                          <a:ea typeface="微软雅黑" panose="020B0503020204020204" pitchFamily="34" charset="-122"/>
                        </a:rPr>
                        <a:t>MTS </a:t>
                      </a:r>
                      <a:r>
                        <a:rPr lang="zh-CN" altLang="en-US" sz="2000" b="1" dirty="0">
                          <a:latin typeface="Arial" panose="020B0604020202020204" pitchFamily="34" charset="0"/>
                          <a:ea typeface="微软雅黑" panose="020B0503020204020204" pitchFamily="34" charset="-122"/>
                        </a:rPr>
                        <a:t>产品</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en-US" altLang="zh-CN" sz="2000" b="1" dirty="0">
                        <a:latin typeface="Arial" panose="020B0604020202020204" pitchFamily="34" charset="0"/>
                        <a:ea typeface="微软雅黑" panose="020B0503020204020204" pitchFamily="34" charset="-122"/>
                      </a:endParaRPr>
                    </a:p>
                    <a:p>
                      <a:pPr algn="ctr"/>
                      <a:endParaRPr lang="en-US" altLang="zh-CN" sz="2000" b="1" dirty="0">
                        <a:latin typeface="Arial" panose="020B0604020202020204" pitchFamily="34" charset="0"/>
                        <a:ea typeface="微软雅黑" panose="020B0503020204020204" pitchFamily="34" charset="-122"/>
                      </a:endParaRPr>
                    </a:p>
                    <a:p>
                      <a:pPr algn="ctr"/>
                      <a:r>
                        <a:rPr lang="en-US" altLang="zh-CN" sz="2000" b="1" dirty="0">
                          <a:latin typeface="Arial" panose="020B0604020202020204" pitchFamily="34" charset="0"/>
                          <a:ea typeface="微软雅黑" panose="020B0503020204020204" pitchFamily="34" charset="-122"/>
                        </a:rPr>
                        <a:t>MTO </a:t>
                      </a:r>
                      <a:r>
                        <a:rPr lang="zh-CN" altLang="en-US" sz="2000" b="1" dirty="0">
                          <a:latin typeface="Arial" panose="020B0604020202020204" pitchFamily="34" charset="0"/>
                          <a:ea typeface="微软雅黑" panose="020B0503020204020204" pitchFamily="34" charset="-122"/>
                        </a:rPr>
                        <a:t>产品</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8088622"/>
                  </a:ext>
                </a:extLst>
              </a:tr>
            </a:tbl>
          </a:graphicData>
        </a:graphic>
      </p:graphicFrame>
      <p:grpSp>
        <p:nvGrpSpPr>
          <p:cNvPr id="11" name="组合 10">
            <a:extLst>
              <a:ext uri="{FF2B5EF4-FFF2-40B4-BE49-F238E27FC236}">
                <a16:creationId xmlns:a16="http://schemas.microsoft.com/office/drawing/2014/main" id="{035D3F62-C020-C4A3-0CF7-222F3540A846}"/>
              </a:ext>
            </a:extLst>
          </p:cNvPr>
          <p:cNvGrpSpPr/>
          <p:nvPr/>
        </p:nvGrpSpPr>
        <p:grpSpPr>
          <a:xfrm>
            <a:off x="886690" y="1617905"/>
            <a:ext cx="1246909" cy="3743795"/>
            <a:chOff x="1309255" y="2022764"/>
            <a:chExt cx="1059872" cy="3743795"/>
          </a:xfrm>
        </p:grpSpPr>
        <p:sp>
          <p:nvSpPr>
            <p:cNvPr id="5" name="文本框 4">
              <a:extLst>
                <a:ext uri="{FF2B5EF4-FFF2-40B4-BE49-F238E27FC236}">
                  <a16:creationId xmlns:a16="http://schemas.microsoft.com/office/drawing/2014/main" id="{4D89D7E5-FCF3-918B-3C4F-EB7E3F58CEA8}"/>
                </a:ext>
              </a:extLst>
            </p:cNvPr>
            <p:cNvSpPr txBox="1"/>
            <p:nvPr/>
          </p:nvSpPr>
          <p:spPr>
            <a:xfrm>
              <a:off x="1309255" y="2022764"/>
              <a:ext cx="879763" cy="400110"/>
            </a:xfrm>
            <a:prstGeom prst="rect">
              <a:avLst/>
            </a:prstGeom>
            <a:noFill/>
          </p:spPr>
          <p:txBody>
            <a:bodyPr wrap="square" rtlCol="0">
              <a:spAutoFit/>
            </a:bodyPr>
            <a:lstStyle/>
            <a:p>
              <a:r>
                <a:rPr lang="en-US" altLang="zh-CN" sz="2000" dirty="0">
                  <a:latin typeface="Arial" panose="020B0604020202020204" pitchFamily="34" charset="0"/>
                  <a:ea typeface="微软雅黑" panose="020B0503020204020204" pitchFamily="34" charset="-122"/>
                </a:rPr>
                <a:t>High</a:t>
              </a:r>
              <a:endParaRPr lang="zh-CN" altLang="en-US" sz="2000" dirty="0">
                <a:latin typeface="Arial" panose="020B0604020202020204" pitchFamily="34" charset="0"/>
                <a:ea typeface="微软雅黑" panose="020B0503020204020204" pitchFamily="34" charset="-122"/>
              </a:endParaRPr>
            </a:p>
          </p:txBody>
        </p:sp>
        <p:sp>
          <p:nvSpPr>
            <p:cNvPr id="9" name="文本框 8">
              <a:extLst>
                <a:ext uri="{FF2B5EF4-FFF2-40B4-BE49-F238E27FC236}">
                  <a16:creationId xmlns:a16="http://schemas.microsoft.com/office/drawing/2014/main" id="{D2731BE5-CF89-D281-DCA7-AD3B75A6D15A}"/>
                </a:ext>
              </a:extLst>
            </p:cNvPr>
            <p:cNvSpPr txBox="1"/>
            <p:nvPr/>
          </p:nvSpPr>
          <p:spPr>
            <a:xfrm>
              <a:off x="1309255" y="5366449"/>
              <a:ext cx="879763" cy="400110"/>
            </a:xfrm>
            <a:prstGeom prst="rect">
              <a:avLst/>
            </a:prstGeom>
            <a:noFill/>
          </p:spPr>
          <p:txBody>
            <a:bodyPr wrap="square" rtlCol="0">
              <a:spAutoFit/>
            </a:bodyPr>
            <a:lstStyle/>
            <a:p>
              <a:r>
                <a:rPr lang="en-US" altLang="zh-CN" sz="2000" dirty="0">
                  <a:latin typeface="Arial" panose="020B0604020202020204" pitchFamily="34" charset="0"/>
                  <a:ea typeface="微软雅黑" panose="020B0503020204020204" pitchFamily="34" charset="-122"/>
                </a:rPr>
                <a:t>Low</a:t>
              </a:r>
              <a:endParaRPr lang="zh-CN" altLang="en-US" sz="2000" dirty="0">
                <a:latin typeface="Arial" panose="020B0604020202020204" pitchFamily="34" charset="0"/>
                <a:ea typeface="微软雅黑" panose="020B0503020204020204" pitchFamily="34" charset="-122"/>
              </a:endParaRPr>
            </a:p>
          </p:txBody>
        </p:sp>
        <p:sp>
          <p:nvSpPr>
            <p:cNvPr id="10" name="文本框 9">
              <a:extLst>
                <a:ext uri="{FF2B5EF4-FFF2-40B4-BE49-F238E27FC236}">
                  <a16:creationId xmlns:a16="http://schemas.microsoft.com/office/drawing/2014/main" id="{D7BA92E7-5A84-B623-79E9-7EDBCE0837E5}"/>
                </a:ext>
              </a:extLst>
            </p:cNvPr>
            <p:cNvSpPr txBox="1"/>
            <p:nvPr/>
          </p:nvSpPr>
          <p:spPr>
            <a:xfrm>
              <a:off x="1309255" y="3585958"/>
              <a:ext cx="1059872" cy="400110"/>
            </a:xfrm>
            <a:prstGeom prst="rect">
              <a:avLst/>
            </a:prstGeom>
            <a:noFill/>
          </p:spPr>
          <p:txBody>
            <a:bodyPr wrap="square" rtlCol="0">
              <a:spAutoFit/>
            </a:bodyPr>
            <a:lstStyle/>
            <a:p>
              <a:r>
                <a:rPr lang="en-US" altLang="zh-CN" sz="2000" b="1" dirty="0">
                  <a:latin typeface="Arial" panose="020B0604020202020204" pitchFamily="34" charset="0"/>
                  <a:ea typeface="微软雅黑" panose="020B0503020204020204" pitchFamily="34" charset="-122"/>
                </a:rPr>
                <a:t>Volume</a:t>
              </a:r>
              <a:endParaRPr lang="zh-CN" altLang="en-US" sz="2000" b="1" dirty="0">
                <a:latin typeface="Arial" panose="020B0604020202020204" pitchFamily="34" charset="0"/>
                <a:ea typeface="微软雅黑" panose="020B0503020204020204" pitchFamily="34" charset="-122"/>
              </a:endParaRPr>
            </a:p>
          </p:txBody>
        </p:sp>
      </p:grpSp>
      <p:sp>
        <p:nvSpPr>
          <p:cNvPr id="12" name="文本框 11">
            <a:extLst>
              <a:ext uri="{FF2B5EF4-FFF2-40B4-BE49-F238E27FC236}">
                <a16:creationId xmlns:a16="http://schemas.microsoft.com/office/drawing/2014/main" id="{A025E2AB-3B74-1A12-AF9A-3C0F5596813C}"/>
              </a:ext>
            </a:extLst>
          </p:cNvPr>
          <p:cNvSpPr txBox="1"/>
          <p:nvPr/>
        </p:nvSpPr>
        <p:spPr>
          <a:xfrm>
            <a:off x="2401024" y="5836614"/>
            <a:ext cx="1011811" cy="400110"/>
          </a:xfrm>
          <a:prstGeom prst="rect">
            <a:avLst/>
          </a:prstGeom>
          <a:noFill/>
        </p:spPr>
        <p:txBody>
          <a:bodyPr wrap="square" rtlCol="0">
            <a:spAutoFit/>
          </a:bodyPr>
          <a:lstStyle/>
          <a:p>
            <a:r>
              <a:rPr lang="en-US" altLang="zh-CN" sz="2000" dirty="0">
                <a:latin typeface="Arial" panose="020B0604020202020204" pitchFamily="34" charset="0"/>
                <a:ea typeface="微软雅黑" panose="020B0503020204020204" pitchFamily="34" charset="-122"/>
              </a:rPr>
              <a:t>Low</a:t>
            </a:r>
            <a:endParaRPr lang="zh-CN" altLang="en-US" sz="2000" dirty="0">
              <a:latin typeface="Arial" panose="020B0604020202020204" pitchFamily="34" charset="0"/>
              <a:ea typeface="微软雅黑" panose="020B0503020204020204" pitchFamily="34" charset="-122"/>
            </a:endParaRPr>
          </a:p>
        </p:txBody>
      </p:sp>
      <p:sp>
        <p:nvSpPr>
          <p:cNvPr id="13" name="文本框 12">
            <a:extLst>
              <a:ext uri="{FF2B5EF4-FFF2-40B4-BE49-F238E27FC236}">
                <a16:creationId xmlns:a16="http://schemas.microsoft.com/office/drawing/2014/main" id="{CF19513E-CA8F-ACB6-A3E1-16E51B76F3F1}"/>
              </a:ext>
            </a:extLst>
          </p:cNvPr>
          <p:cNvSpPr txBox="1"/>
          <p:nvPr/>
        </p:nvSpPr>
        <p:spPr>
          <a:xfrm>
            <a:off x="9122789" y="5836614"/>
            <a:ext cx="1011811" cy="400110"/>
          </a:xfrm>
          <a:prstGeom prst="rect">
            <a:avLst/>
          </a:prstGeom>
          <a:noFill/>
        </p:spPr>
        <p:txBody>
          <a:bodyPr wrap="square" rtlCol="0">
            <a:spAutoFit/>
          </a:bodyPr>
          <a:lstStyle/>
          <a:p>
            <a:r>
              <a:rPr lang="en-US" altLang="zh-CN" sz="2000" dirty="0">
                <a:latin typeface="Arial" panose="020B0604020202020204" pitchFamily="34" charset="0"/>
                <a:ea typeface="微软雅黑" panose="020B0503020204020204" pitchFamily="34" charset="-122"/>
              </a:rPr>
              <a:t>High</a:t>
            </a:r>
            <a:endParaRPr lang="zh-CN" altLang="en-US" sz="2000" dirty="0">
              <a:latin typeface="Arial" panose="020B0604020202020204" pitchFamily="34" charset="0"/>
              <a:ea typeface="微软雅黑" panose="020B0503020204020204" pitchFamily="34" charset="-122"/>
            </a:endParaRPr>
          </a:p>
        </p:txBody>
      </p:sp>
      <p:sp>
        <p:nvSpPr>
          <p:cNvPr id="14" name="文本框 13">
            <a:extLst>
              <a:ext uri="{FF2B5EF4-FFF2-40B4-BE49-F238E27FC236}">
                <a16:creationId xmlns:a16="http://schemas.microsoft.com/office/drawing/2014/main" id="{BA5BE724-F47A-E5ED-C66E-33E830742463}"/>
              </a:ext>
            </a:extLst>
          </p:cNvPr>
          <p:cNvSpPr txBox="1"/>
          <p:nvPr/>
        </p:nvSpPr>
        <p:spPr>
          <a:xfrm>
            <a:off x="4983742" y="5836614"/>
            <a:ext cx="2804391" cy="400110"/>
          </a:xfrm>
          <a:prstGeom prst="rect">
            <a:avLst/>
          </a:prstGeom>
          <a:noFill/>
        </p:spPr>
        <p:txBody>
          <a:bodyPr wrap="square" rtlCol="0">
            <a:spAutoFit/>
          </a:bodyPr>
          <a:lstStyle/>
          <a:p>
            <a:r>
              <a:rPr lang="en-US" altLang="zh-CN" sz="2000" b="1" dirty="0">
                <a:latin typeface="Arial" panose="020B0604020202020204" pitchFamily="34" charset="0"/>
                <a:ea typeface="微软雅黑" panose="020B0503020204020204" pitchFamily="34" charset="-122"/>
              </a:rPr>
              <a:t>Uncertain Demand</a:t>
            </a:r>
            <a:endParaRPr lang="zh-CN" altLang="en-US" sz="2000" b="1"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970715436"/>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5AF8E7B-2F12-03B7-7793-29398D04ADE1}"/>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业务和</a:t>
            </a:r>
            <a:r>
              <a:rPr lang="en-US" altLang="zh-CN" dirty="0">
                <a:latin typeface="Arial" panose="020B0604020202020204" pitchFamily="34" charset="0"/>
                <a:ea typeface="微软雅黑" panose="020B0503020204020204" pitchFamily="34" charset="-122"/>
              </a:rPr>
              <a:t>DT</a:t>
            </a:r>
            <a:r>
              <a:rPr lang="zh-CN" altLang="en-US" dirty="0">
                <a:latin typeface="Arial" panose="020B0604020202020204" pitchFamily="34" charset="0"/>
                <a:ea typeface="微软雅黑" panose="020B0503020204020204" pitchFamily="34" charset="-122"/>
              </a:rPr>
              <a:t>方案 </a:t>
            </a:r>
            <a:r>
              <a:rPr lang="en-US" altLang="zh-CN" dirty="0">
                <a:latin typeface="Arial" panose="020B0604020202020204" pitchFamily="34" charset="0"/>
                <a:ea typeface="微软雅黑" panose="020B0503020204020204" pitchFamily="34" charset="-122"/>
              </a:rPr>
              <a:t>– S&amp;OP  </a:t>
            </a:r>
            <a:endParaRPr lang="zh-CN" altLang="en-US" dirty="0">
              <a:latin typeface="Arial" panose="020B0604020202020204" pitchFamily="34" charset="0"/>
              <a:ea typeface="微软雅黑" panose="020B0503020204020204" pitchFamily="34" charset="-122"/>
            </a:endParaRPr>
          </a:p>
        </p:txBody>
      </p:sp>
      <p:graphicFrame>
        <p:nvGraphicFramePr>
          <p:cNvPr id="3" name="Table1459">
            <a:extLst>
              <a:ext uri="{FF2B5EF4-FFF2-40B4-BE49-F238E27FC236}">
                <a16:creationId xmlns:a16="http://schemas.microsoft.com/office/drawing/2014/main" id="{C3F65AC7-B90D-DA8A-9335-D95A3E1323C3}"/>
              </a:ext>
            </a:extLst>
          </p:cNvPr>
          <p:cNvGraphicFramePr>
            <a:graphicFrameLocks noGrp="1"/>
          </p:cNvGraphicFramePr>
          <p:nvPr>
            <p:extLst>
              <p:ext uri="{D42A27DB-BD31-4B8C-83A1-F6EECF244321}">
                <p14:modId xmlns:p14="http://schemas.microsoft.com/office/powerpoint/2010/main" val="2419261098"/>
              </p:ext>
            </p:extLst>
          </p:nvPr>
        </p:nvGraphicFramePr>
        <p:xfrm>
          <a:off x="4635189" y="2029546"/>
          <a:ext cx="7148946" cy="4255770"/>
        </p:xfrm>
        <a:graphic>
          <a:graphicData uri="http://schemas.openxmlformats.org/drawingml/2006/table">
            <a:tbl>
              <a:tblPr firstRow="1" bandRow="1"/>
              <a:tblGrid>
                <a:gridCol w="4613494">
                  <a:extLst>
                    <a:ext uri="{9D8B030D-6E8A-4147-A177-3AD203B41FA5}">
                      <a16:colId xmlns:a16="http://schemas.microsoft.com/office/drawing/2014/main" val="20000"/>
                    </a:ext>
                  </a:extLst>
                </a:gridCol>
                <a:gridCol w="2535452">
                  <a:extLst>
                    <a:ext uri="{9D8B030D-6E8A-4147-A177-3AD203B41FA5}">
                      <a16:colId xmlns:a16="http://schemas.microsoft.com/office/drawing/2014/main" val="20001"/>
                    </a:ext>
                  </a:extLst>
                </a:gridCol>
              </a:tblGrid>
              <a:tr h="386423">
                <a:tc>
                  <a:txBody>
                    <a:bodyPr/>
                    <a:lstStyle/>
                    <a:p>
                      <a:pPr marL="76200" marR="0" indent="0" eaLnBrk="0">
                        <a:lnSpc>
                          <a:spcPct val="102777"/>
                        </a:lnSpc>
                        <a:spcBef>
                          <a:spcPts val="300"/>
                        </a:spcBef>
                        <a:spcAft>
                          <a:spcPts val="200"/>
                        </a:spcAft>
                      </a:pPr>
                      <a:r>
                        <a:rPr lang="en-US" altLang="zh-CN" sz="1800" b="1" kern="0" spc="0" baseline="0" noProof="0" dirty="0">
                          <a:solidFill>
                            <a:srgbClr val="FFFFFF"/>
                          </a:solidFill>
                          <a:latin typeface="Arial" panose="020B0604020202020204" pitchFamily="34" charset="0"/>
                          <a:ea typeface="微软雅黑" panose="020B0503020204020204" pitchFamily="34" charset="-122"/>
                          <a:cs typeface="Arial" pitchFamily="34" charset="0"/>
                        </a:rPr>
                        <a:t>Supply-Demand</a:t>
                      </a:r>
                      <a:r>
                        <a:rPr lang="en-US" altLang="zh-CN" sz="1800" b="1" kern="0" spc="-15" baseline="0" noProof="0" dirty="0">
                          <a:solidFill>
                            <a:srgbClr val="FFFFFF"/>
                          </a:solidFill>
                          <a:latin typeface="Arial" panose="020B0604020202020204" pitchFamily="34" charset="0"/>
                          <a:ea typeface="微软雅黑" panose="020B0503020204020204" pitchFamily="34" charset="-122"/>
                          <a:cs typeface="Arial" pitchFamily="34" charset="0"/>
                        </a:rPr>
                        <a:t> </a:t>
                      </a:r>
                      <a:r>
                        <a:rPr lang="en-US" altLang="zh-CN" sz="1800" b="1" kern="0" spc="0" baseline="0" noProof="0" dirty="0">
                          <a:solidFill>
                            <a:srgbClr val="FFFFFF"/>
                          </a:solidFill>
                          <a:latin typeface="Arial" panose="020B0604020202020204" pitchFamily="34" charset="0"/>
                          <a:ea typeface="微软雅黑" panose="020B0503020204020204" pitchFamily="34" charset="-122"/>
                          <a:cs typeface="Arial" pitchFamily="34" charset="0"/>
                        </a:rPr>
                        <a:t>Option</a:t>
                      </a:r>
                    </a:p>
                  </a:txBody>
                  <a:tcPr marL="6350" marR="6350" marT="57150" marB="6350">
                    <a:lnL w="12700" cap="flat" cmpd="sng" algn="ctr">
                      <a:solidFill>
                        <a:srgbClr val="1C3879"/>
                      </a:solidFill>
                      <a:prstDash val="solid"/>
                      <a:round/>
                      <a:headEnd type="none" w="med" len="med"/>
                      <a:tailEnd type="none" w="med" len="med"/>
                    </a:lnL>
                    <a:lnR w="12700" cap="flat" cmpd="sng" algn="ctr">
                      <a:solidFill>
                        <a:srgbClr val="DDDDDD"/>
                      </a:solidFill>
                      <a:prstDash val="solid"/>
                      <a:round/>
                      <a:headEnd type="none" w="med" len="med"/>
                      <a:tailEnd type="none" w="med" len="med"/>
                    </a:lnR>
                    <a:lnT w="12700" cap="flat" cmpd="sng" algn="ctr">
                      <a:solidFill>
                        <a:srgbClr val="1C3879"/>
                      </a:solidFill>
                      <a:prstDash val="solid"/>
                      <a:round/>
                      <a:headEnd type="none" w="med" len="med"/>
                      <a:tailEnd type="none" w="med" len="med"/>
                    </a:lnT>
                    <a:lnB w="38100" cap="flat" cmpd="sng" algn="ctr">
                      <a:solidFill>
                        <a:srgbClr val="1C3879"/>
                      </a:solidFill>
                      <a:prstDash val="solid"/>
                      <a:round/>
                      <a:headEnd type="none" w="med" len="med"/>
                      <a:tailEnd type="none" w="med" len="med"/>
                    </a:lnB>
                    <a:solidFill>
                      <a:srgbClr val="1C3879"/>
                    </a:solidFill>
                  </a:tcPr>
                </a:tc>
                <a:tc>
                  <a:txBody>
                    <a:bodyPr/>
                    <a:lstStyle/>
                    <a:p>
                      <a:pPr marL="76200" marR="0" indent="0" eaLnBrk="0">
                        <a:lnSpc>
                          <a:spcPct val="102777"/>
                        </a:lnSpc>
                        <a:spcBef>
                          <a:spcPts val="300"/>
                        </a:spcBef>
                        <a:spcAft>
                          <a:spcPts val="200"/>
                        </a:spcAft>
                      </a:pPr>
                      <a:r>
                        <a:rPr lang="en-US" altLang="zh-CN" sz="1800" b="1" kern="0" spc="0" baseline="0" noProof="0" dirty="0">
                          <a:solidFill>
                            <a:srgbClr val="FFFFFF"/>
                          </a:solidFill>
                          <a:latin typeface="Arial" panose="020B0604020202020204" pitchFamily="34" charset="0"/>
                          <a:ea typeface="微软雅黑" panose="020B0503020204020204" pitchFamily="34" charset="-122"/>
                          <a:cs typeface="Arial" pitchFamily="34" charset="0"/>
                        </a:rPr>
                        <a:t>MPS</a:t>
                      </a:r>
                      <a:r>
                        <a:rPr lang="en-US" altLang="zh-CN" sz="1800" b="1" kern="0" spc="-15" baseline="0" noProof="0" dirty="0">
                          <a:solidFill>
                            <a:srgbClr val="FFFFFF"/>
                          </a:solidFill>
                          <a:latin typeface="Arial" panose="020B0604020202020204" pitchFamily="34" charset="0"/>
                          <a:ea typeface="微软雅黑" panose="020B0503020204020204" pitchFamily="34" charset="-122"/>
                          <a:cs typeface="Arial" pitchFamily="34" charset="0"/>
                        </a:rPr>
                        <a:t> </a:t>
                      </a:r>
                      <a:r>
                        <a:rPr lang="en-US" altLang="zh-CN" sz="1800" b="1" kern="0" spc="0" baseline="0" noProof="0" dirty="0">
                          <a:solidFill>
                            <a:srgbClr val="FFFFFF"/>
                          </a:solidFill>
                          <a:latin typeface="Arial" panose="020B0604020202020204" pitchFamily="34" charset="0"/>
                          <a:ea typeface="微软雅黑" panose="020B0503020204020204" pitchFamily="34" charset="-122"/>
                          <a:cs typeface="Arial" pitchFamily="34" charset="0"/>
                        </a:rPr>
                        <a:t>Focus</a:t>
                      </a:r>
                    </a:p>
                  </a:txBody>
                  <a:tcPr marL="6350" marR="6350" marT="57150" marB="6350">
                    <a:lnL w="12700" cap="flat" cmpd="sng" algn="ctr">
                      <a:solidFill>
                        <a:srgbClr val="DDDDDD"/>
                      </a:solidFill>
                      <a:prstDash val="solid"/>
                      <a:round/>
                      <a:headEnd type="none" w="med" len="med"/>
                      <a:tailEnd type="none" w="med" len="med"/>
                    </a:lnL>
                    <a:lnR w="12700" cap="flat" cmpd="sng" algn="ctr">
                      <a:solidFill>
                        <a:srgbClr val="1C3879"/>
                      </a:solidFill>
                      <a:prstDash val="solid"/>
                      <a:round/>
                      <a:headEnd type="none" w="med" len="med"/>
                      <a:tailEnd type="none" w="med" len="med"/>
                    </a:lnR>
                    <a:lnT w="12700" cap="flat" cmpd="sng" algn="ctr">
                      <a:solidFill>
                        <a:srgbClr val="1C3879"/>
                      </a:solidFill>
                      <a:prstDash val="solid"/>
                      <a:round/>
                      <a:headEnd type="none" w="med" len="med"/>
                      <a:tailEnd type="none" w="med" len="med"/>
                    </a:lnT>
                    <a:lnB w="38100" cap="flat" cmpd="sng" algn="ctr">
                      <a:solidFill>
                        <a:srgbClr val="1C3879"/>
                      </a:solidFill>
                      <a:prstDash val="solid"/>
                      <a:round/>
                      <a:headEnd type="none" w="med" len="med"/>
                      <a:tailEnd type="none" w="med" len="med"/>
                    </a:lnB>
                    <a:solidFill>
                      <a:srgbClr val="1C3879"/>
                    </a:solidFill>
                  </a:tcPr>
                </a:tc>
                <a:extLst>
                  <a:ext uri="{0D108BD9-81ED-4DB2-BD59-A6C34878D82A}">
                    <a16:rowId xmlns:a16="http://schemas.microsoft.com/office/drawing/2014/main" val="10000"/>
                  </a:ext>
                </a:extLst>
              </a:tr>
              <a:tr h="1197655">
                <a:tc>
                  <a:txBody>
                    <a:bodyPr/>
                    <a:lstStyle/>
                    <a:p>
                      <a:pPr marL="368300" marR="0" indent="-286436" eaLnBrk="0">
                        <a:lnSpc>
                          <a:spcPct val="100000"/>
                        </a:lnSpc>
                        <a:spcBef>
                          <a:spcPts val="200"/>
                        </a:spcBef>
                      </a:pP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Make-to-stock</a:t>
                      </a:r>
                      <a:r>
                        <a:rPr lang="en-US" altLang="zh-CN" sz="1800" kern="0" spc="-15"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(MTS)</a:t>
                      </a:r>
                    </a:p>
                    <a:p>
                      <a:pPr marL="368300" marR="203200" lvl="0" indent="-286436" eaLnBrk="0">
                        <a:lnSpc>
                          <a:spcPct val="100000"/>
                        </a:lnSpc>
                        <a:buClr>
                          <a:srgbClr val="000000"/>
                        </a:buClr>
                        <a:buFont typeface="Arial" panose="34000000000000000000" charset="0"/>
                        <a:buChar char="•"/>
                      </a:pP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Few</a:t>
                      </a:r>
                      <a:r>
                        <a:rPr lang="en-US" altLang="zh-CN" sz="1800" kern="0" spc="-25"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items</a:t>
                      </a:r>
                      <a:r>
                        <a:rPr lang="en-US" altLang="zh-CN" sz="1800" kern="0" spc="-25"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made</a:t>
                      </a:r>
                      <a:r>
                        <a:rPr lang="en-US" altLang="zh-CN" sz="1800" kern="0" spc="-25"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from many</a:t>
                      </a:r>
                      <a:r>
                        <a:rPr lang="en-US" altLang="zh-CN" sz="1800" kern="0" spc="-40"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components </a:t>
                      </a:r>
                    </a:p>
                    <a:p>
                      <a:pPr marL="368300" marR="0" lvl="0" indent="-286436" eaLnBrk="0">
                        <a:lnSpc>
                          <a:spcPct val="100925"/>
                        </a:lnSpc>
                        <a:spcAft>
                          <a:spcPts val="300"/>
                        </a:spcAft>
                        <a:buClr>
                          <a:srgbClr val="000000"/>
                        </a:buClr>
                        <a:buFont typeface="Arial" panose="34000000000000000000" charset="0"/>
                        <a:buChar char="•"/>
                      </a:pP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Integral</a:t>
                      </a:r>
                      <a:r>
                        <a:rPr lang="en-US" altLang="zh-CN" sz="1800" kern="0" spc="-40"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design</a:t>
                      </a:r>
                    </a:p>
                  </a:txBody>
                  <a:tcPr marL="6350" marR="6350" marT="31750" marB="19050">
                    <a:lnL w="12700" cap="flat" cmpd="sng" algn="ctr">
                      <a:solidFill>
                        <a:srgbClr val="1C3879"/>
                      </a:solidFill>
                      <a:prstDash val="solid"/>
                      <a:round/>
                      <a:headEnd type="none" w="med" len="med"/>
                      <a:tailEnd type="none" w="med" len="med"/>
                    </a:lnL>
                    <a:lnR w="12700" cap="flat" cmpd="sng" algn="ctr">
                      <a:solidFill>
                        <a:srgbClr val="DDDDDD"/>
                      </a:solidFill>
                      <a:prstDash val="solid"/>
                      <a:round/>
                      <a:headEnd type="none" w="med" len="med"/>
                      <a:tailEnd type="none" w="med" len="med"/>
                    </a:lnR>
                    <a:lnT w="38100" cap="flat" cmpd="sng" algn="ctr">
                      <a:solidFill>
                        <a:srgbClr val="1C3879"/>
                      </a:solidFill>
                      <a:prstDash val="solid"/>
                      <a:round/>
                      <a:headEnd type="none" w="med" len="med"/>
                      <a:tailEnd type="none" w="med" len="med"/>
                    </a:lnT>
                    <a:lnB w="12700" cap="flat" cmpd="sng" algn="ctr">
                      <a:solidFill>
                        <a:srgbClr val="DDDDDD"/>
                      </a:solidFill>
                      <a:prstDash val="solid"/>
                      <a:round/>
                      <a:headEnd type="none" w="med" len="med"/>
                      <a:tailEnd type="none" w="med" len="med"/>
                    </a:lnB>
                    <a:solidFill>
                      <a:srgbClr val="EEEEEE"/>
                    </a:solidFill>
                  </a:tcPr>
                </a:tc>
                <a:tc>
                  <a:txBody>
                    <a:bodyPr/>
                    <a:lstStyle/>
                    <a:p>
                      <a:pPr marL="76200" marR="482600" indent="0" eaLnBrk="0">
                        <a:lnSpc>
                          <a:spcPct val="100000"/>
                        </a:lnSpc>
                        <a:spcBef>
                          <a:spcPts val="200"/>
                        </a:spcBef>
                      </a:pPr>
                      <a:r>
                        <a:rPr lang="en-US" altLang="zh-CN" sz="1800" kern="0" spc="-15" baseline="0" noProof="0" dirty="0">
                          <a:solidFill>
                            <a:srgbClr val="000000"/>
                          </a:solidFill>
                          <a:latin typeface="Arial" panose="020B0604020202020204" pitchFamily="34" charset="0"/>
                          <a:ea typeface="微软雅黑" panose="020B0503020204020204" pitchFamily="34" charset="-122"/>
                          <a:cs typeface="Arial" pitchFamily="34" charset="0"/>
                        </a:rPr>
                        <a:t>Schedul</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e </a:t>
                      </a:r>
                      <a:r>
                        <a:rPr lang="en-US" altLang="zh-CN" sz="1800" b="1" kern="0" spc="-15" baseline="0" noProof="0" dirty="0">
                          <a:solidFill>
                            <a:srgbClr val="000000"/>
                          </a:solidFill>
                          <a:latin typeface="Arial" panose="020B0604020202020204" pitchFamily="34" charset="0"/>
                          <a:ea typeface="微软雅黑" panose="020B0503020204020204" pitchFamily="34" charset="-122"/>
                          <a:cs typeface="Arial" pitchFamily="34" charset="0"/>
                        </a:rPr>
                        <a:t>fini</a:t>
                      </a:r>
                      <a:r>
                        <a:rPr lang="en-US" altLang="zh-CN" sz="1800" b="1" kern="0" spc="0" baseline="0" noProof="0" dirty="0">
                          <a:solidFill>
                            <a:srgbClr val="000000"/>
                          </a:solidFill>
                          <a:latin typeface="Arial" panose="020B0604020202020204" pitchFamily="34" charset="0"/>
                          <a:ea typeface="微软雅黑" panose="020B0503020204020204" pitchFamily="34" charset="-122"/>
                          <a:cs typeface="Arial" pitchFamily="34" charset="0"/>
                        </a:rPr>
                        <a:t>shed </a:t>
                      </a:r>
                      <a:r>
                        <a:rPr lang="en-US" altLang="zh-CN" sz="1800" b="1" kern="0" spc="-15" baseline="0" noProof="0" dirty="0">
                          <a:solidFill>
                            <a:srgbClr val="000000"/>
                          </a:solidFill>
                          <a:latin typeface="Arial" panose="020B0604020202020204" pitchFamily="34" charset="0"/>
                          <a:ea typeface="微软雅黑" panose="020B0503020204020204" pitchFamily="34" charset="-122"/>
                          <a:cs typeface="Arial" pitchFamily="34" charset="0"/>
                        </a:rPr>
                        <a:t>goods</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 </a:t>
                      </a:r>
                    </a:p>
                    <a:p>
                      <a:pPr marL="0" marR="0" indent="0" eaLnBrk="0">
                        <a:lnSpc>
                          <a:spcPct val="206666"/>
                        </a:lnSpc>
                      </a:pPr>
                      <a:endParaRPr lang="en-US" altLang="zh-CN" sz="1000" kern="0" spc="0" baseline="0" noProof="0" dirty="0">
                        <a:solidFill>
                          <a:srgbClr val="000000"/>
                        </a:solidFill>
                        <a:latin typeface="Arial" panose="020B0604020202020204" pitchFamily="34" charset="0"/>
                        <a:ea typeface="微软雅黑" panose="020B0503020204020204" pitchFamily="34" charset="-122"/>
                        <a:cs typeface="Arial" pitchFamily="34" charset="0"/>
                      </a:endParaRPr>
                    </a:p>
                  </a:txBody>
                  <a:tcPr marL="6350" marR="6350" marT="31750" marB="19050">
                    <a:lnL w="12700" cap="flat" cmpd="sng" algn="ctr">
                      <a:solidFill>
                        <a:srgbClr val="DDDDDD"/>
                      </a:solidFill>
                      <a:prstDash val="solid"/>
                      <a:round/>
                      <a:headEnd type="none" w="med" len="med"/>
                      <a:tailEnd type="none" w="med" len="med"/>
                    </a:lnL>
                    <a:lnR w="12700" cap="flat" cmpd="sng" algn="ctr">
                      <a:solidFill>
                        <a:srgbClr val="1C3879"/>
                      </a:solidFill>
                      <a:prstDash val="solid"/>
                      <a:round/>
                      <a:headEnd type="none" w="med" len="med"/>
                      <a:tailEnd type="none" w="med" len="med"/>
                    </a:lnR>
                    <a:lnT w="38100" cap="flat" cmpd="sng" algn="ctr">
                      <a:solidFill>
                        <a:srgbClr val="1C3879"/>
                      </a:solidFill>
                      <a:prstDash val="solid"/>
                      <a:round/>
                      <a:headEnd type="none" w="med" len="med"/>
                      <a:tailEnd type="none" w="med" len="med"/>
                    </a:lnT>
                    <a:lnB w="12700" cap="flat" cmpd="sng" algn="ctr">
                      <a:solidFill>
                        <a:srgbClr val="DDDDDD"/>
                      </a:solidFill>
                      <a:prstDash val="solid"/>
                      <a:round/>
                      <a:headEnd type="none" w="med" len="med"/>
                      <a:tailEnd type="none" w="med" len="med"/>
                    </a:lnB>
                    <a:solidFill>
                      <a:srgbClr val="EEEEEE"/>
                    </a:solidFill>
                  </a:tcPr>
                </a:tc>
                <a:extLst>
                  <a:ext uri="{0D108BD9-81ED-4DB2-BD59-A6C34878D82A}">
                    <a16:rowId xmlns:a16="http://schemas.microsoft.com/office/drawing/2014/main" val="10001"/>
                  </a:ext>
                </a:extLst>
              </a:tr>
              <a:tr h="1197655">
                <a:tc>
                  <a:txBody>
                    <a:bodyPr/>
                    <a:lstStyle/>
                    <a:p>
                      <a:pPr marL="368300" marR="0" lvl="0" indent="-286436" algn="l" defTabSz="914332" rtl="0" eaLnBrk="0" latinLnBrk="0" hangingPunct="1">
                        <a:lnSpc>
                          <a:spcPct val="100000"/>
                        </a:lnSpc>
                        <a:spcBef>
                          <a:spcPts val="300"/>
                        </a:spcBef>
                        <a:buClr>
                          <a:srgbClr val="000000"/>
                        </a:buClr>
                        <a:buFont typeface="Arial" panose="34000000000000000000" charset="0"/>
                        <a:buChar char="•"/>
                      </a:pP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Make-to-order (MTO)</a:t>
                      </a:r>
                    </a:p>
                    <a:p>
                      <a:pPr marL="368300" marR="215900" lvl="0" indent="-286436" algn="l" defTabSz="914332" rtl="0" eaLnBrk="0" latinLnBrk="0" hangingPunct="1">
                        <a:lnSpc>
                          <a:spcPct val="100000"/>
                        </a:lnSpc>
                        <a:buClr>
                          <a:srgbClr val="000000"/>
                        </a:buClr>
                        <a:buFont typeface="Arial" panose="34000000000000000000" charset="0"/>
                        <a:buChar char="•"/>
                      </a:pP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Many items made from few components </a:t>
                      </a:r>
                    </a:p>
                    <a:p>
                      <a:pPr marL="368300" marR="0" lvl="0" indent="-286436" algn="l" defTabSz="914332" rtl="0" eaLnBrk="0" latinLnBrk="0" hangingPunct="1">
                        <a:lnSpc>
                          <a:spcPct val="100925"/>
                        </a:lnSpc>
                        <a:spcAft>
                          <a:spcPts val="300"/>
                        </a:spcAft>
                        <a:buClr>
                          <a:srgbClr val="000000"/>
                        </a:buClr>
                        <a:buFont typeface="Arial" panose="34000000000000000000" charset="0"/>
                        <a:buChar char="•"/>
                      </a:pP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Custom</a:t>
                      </a:r>
                    </a:p>
                  </a:txBody>
                  <a:tcPr marL="6350" marR="6350" marT="44450" marB="6350">
                    <a:lnL w="12700" cap="flat" cmpd="sng" algn="ctr">
                      <a:solidFill>
                        <a:srgbClr val="1C3879"/>
                      </a:solidFill>
                      <a:prstDash val="solid"/>
                      <a:round/>
                      <a:headEnd type="none" w="med" len="med"/>
                      <a:tailEnd type="none" w="med" len="med"/>
                    </a:lnL>
                    <a:lnR w="12700" cap="flat" cmpd="sng" algn="ctr">
                      <a:solidFill>
                        <a:srgbClr val="DDDDDD"/>
                      </a:solidFill>
                      <a:prstDash val="solid"/>
                      <a:round/>
                      <a:headEnd type="none" w="med" len="med"/>
                      <a:tailEnd type="none" w="med" len="med"/>
                    </a:lnR>
                    <a:lnT w="12700" cap="flat" cmpd="sng" algn="ctr">
                      <a:solidFill>
                        <a:srgbClr val="DDDDDD"/>
                      </a:solidFill>
                      <a:prstDash val="solid"/>
                      <a:round/>
                      <a:headEnd type="none" w="med" len="med"/>
                      <a:tailEnd type="none" w="med" len="med"/>
                    </a:lnT>
                    <a:lnB w="12700" cap="flat" cmpd="sng" algn="ctr">
                      <a:solidFill>
                        <a:srgbClr val="DDDDDD"/>
                      </a:solidFill>
                      <a:prstDash val="solid"/>
                      <a:round/>
                      <a:headEnd type="none" w="med" len="med"/>
                      <a:tailEnd type="none" w="med" len="med"/>
                    </a:lnB>
                    <a:solidFill>
                      <a:srgbClr val="FFFFFF"/>
                    </a:solidFill>
                  </a:tcPr>
                </a:tc>
                <a:tc>
                  <a:txBody>
                    <a:bodyPr/>
                    <a:lstStyle/>
                    <a:p>
                      <a:pPr marL="76200" marR="444500" indent="0" eaLnBrk="0">
                        <a:lnSpc>
                          <a:spcPct val="100000"/>
                        </a:lnSpc>
                        <a:spcBef>
                          <a:spcPts val="300"/>
                        </a:spcBef>
                      </a:pPr>
                      <a:r>
                        <a:rPr lang="en-US" altLang="zh-CN" sz="1800" kern="0" spc="-15" baseline="0" noProof="0" dirty="0">
                          <a:solidFill>
                            <a:srgbClr val="000000"/>
                          </a:solidFill>
                          <a:latin typeface="Arial" panose="020B0604020202020204" pitchFamily="34" charset="0"/>
                          <a:ea typeface="微软雅黑" panose="020B0503020204020204" pitchFamily="34" charset="-122"/>
                          <a:cs typeface="Arial" pitchFamily="34" charset="0"/>
                        </a:rPr>
                        <a:t>Schedul</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e </a:t>
                      </a:r>
                      <a:r>
                        <a:rPr lang="en-US" altLang="zh-CN" sz="1800" b="1" kern="0" spc="20" baseline="0" noProof="0" dirty="0">
                          <a:solidFill>
                            <a:srgbClr val="000000"/>
                          </a:solidFill>
                          <a:latin typeface="Arial" panose="020B0604020202020204" pitchFamily="34" charset="0"/>
                          <a:ea typeface="微软雅黑" panose="020B0503020204020204" pitchFamily="34" charset="-122"/>
                          <a:cs typeface="Arial" pitchFamily="34" charset="0"/>
                        </a:rPr>
                        <a:t>ra</a:t>
                      </a:r>
                      <a:r>
                        <a:rPr lang="en-US" altLang="zh-CN" sz="1800" b="1" kern="0" spc="10" baseline="0" noProof="0" dirty="0">
                          <a:solidFill>
                            <a:srgbClr val="000000"/>
                          </a:solidFill>
                          <a:latin typeface="Arial" panose="020B0604020202020204" pitchFamily="34" charset="0"/>
                          <a:ea typeface="微软雅黑" panose="020B0503020204020204" pitchFamily="34" charset="-122"/>
                          <a:cs typeface="Arial" pitchFamily="34" charset="0"/>
                        </a:rPr>
                        <a:t>w</a:t>
                      </a:r>
                      <a:r>
                        <a:rPr lang="en-US" altLang="zh-CN" sz="1800" b="1" kern="0" spc="0"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b="1" kern="0" spc="-15" baseline="0" noProof="0" dirty="0">
                          <a:solidFill>
                            <a:srgbClr val="000000"/>
                          </a:solidFill>
                          <a:latin typeface="Arial" panose="020B0604020202020204" pitchFamily="34" charset="0"/>
                          <a:ea typeface="微软雅黑" panose="020B0503020204020204" pitchFamily="34" charset="-122"/>
                          <a:cs typeface="Arial" pitchFamily="34" charset="0"/>
                        </a:rPr>
                        <a:t>mat</a:t>
                      </a:r>
                      <a:r>
                        <a:rPr lang="en-US" altLang="zh-CN" sz="1800" b="1" kern="0" spc="0" baseline="0" noProof="0" dirty="0">
                          <a:solidFill>
                            <a:srgbClr val="000000"/>
                          </a:solidFill>
                          <a:latin typeface="Arial" panose="020B0604020202020204" pitchFamily="34" charset="0"/>
                          <a:ea typeface="微软雅黑" panose="020B0503020204020204" pitchFamily="34" charset="-122"/>
                          <a:cs typeface="Arial" pitchFamily="34" charset="0"/>
                        </a:rPr>
                        <a:t>erials. </a:t>
                      </a:r>
                    </a:p>
                    <a:p>
                      <a:pPr marL="0" marR="0" indent="0" eaLnBrk="0">
                        <a:lnSpc>
                          <a:spcPct val="206666"/>
                        </a:lnSpc>
                      </a:pPr>
                      <a:endParaRPr lang="en-US" altLang="zh-CN" sz="1000" kern="0" spc="0" baseline="0" noProof="0" dirty="0">
                        <a:solidFill>
                          <a:srgbClr val="000000"/>
                        </a:solidFill>
                        <a:latin typeface="Arial" panose="020B0604020202020204" pitchFamily="34" charset="0"/>
                        <a:ea typeface="微软雅黑" panose="020B0503020204020204" pitchFamily="34" charset="-122"/>
                        <a:cs typeface="Arial" pitchFamily="34" charset="0"/>
                      </a:endParaRPr>
                    </a:p>
                  </a:txBody>
                  <a:tcPr marL="6350" marR="6350" marT="44450" marB="6350">
                    <a:lnL w="12700" cap="flat" cmpd="sng" algn="ctr">
                      <a:solidFill>
                        <a:srgbClr val="DDDDDD"/>
                      </a:solidFill>
                      <a:prstDash val="solid"/>
                      <a:round/>
                      <a:headEnd type="none" w="med" len="med"/>
                      <a:tailEnd type="none" w="med" len="med"/>
                    </a:lnL>
                    <a:lnR w="12700" cap="flat" cmpd="sng" algn="ctr">
                      <a:solidFill>
                        <a:srgbClr val="1C3879"/>
                      </a:solidFill>
                      <a:prstDash val="solid"/>
                      <a:round/>
                      <a:headEnd type="none" w="med" len="med"/>
                      <a:tailEnd type="none" w="med" len="med"/>
                    </a:lnR>
                    <a:lnT w="12700" cap="flat" cmpd="sng" algn="ctr">
                      <a:solidFill>
                        <a:srgbClr val="DDDDDD"/>
                      </a:solidFill>
                      <a:prstDash val="solid"/>
                      <a:round/>
                      <a:headEnd type="none" w="med" len="med"/>
                      <a:tailEnd type="none" w="med" len="med"/>
                    </a:lnT>
                    <a:lnB w="12700" cap="flat" cmpd="sng" algn="ctr">
                      <a:solidFill>
                        <a:srgbClr val="DDDDDD"/>
                      </a:solidFill>
                      <a:prstDash val="solid"/>
                      <a:round/>
                      <a:headEnd type="none" w="med" len="med"/>
                      <a:tailEnd type="none" w="med" len="med"/>
                    </a:lnB>
                    <a:solidFill>
                      <a:srgbClr val="FFFFFF"/>
                    </a:solidFill>
                  </a:tcPr>
                </a:tc>
                <a:extLst>
                  <a:ext uri="{0D108BD9-81ED-4DB2-BD59-A6C34878D82A}">
                    <a16:rowId xmlns:a16="http://schemas.microsoft.com/office/drawing/2014/main" val="10002"/>
                  </a:ext>
                </a:extLst>
              </a:tr>
              <a:tr h="1474037">
                <a:tc>
                  <a:txBody>
                    <a:bodyPr/>
                    <a:lstStyle/>
                    <a:p>
                      <a:pPr marL="368300" marR="0" indent="-286436" eaLnBrk="0">
                        <a:lnSpc>
                          <a:spcPct val="100000"/>
                        </a:lnSpc>
                        <a:spcBef>
                          <a:spcPts val="300"/>
                        </a:spcBef>
                      </a:pPr>
                      <a:r>
                        <a:rPr lang="en-US" altLang="zh-CN" sz="1800" kern="0" spc="-15" baseline="0" noProof="0" dirty="0">
                          <a:solidFill>
                            <a:srgbClr val="000000"/>
                          </a:solidFill>
                          <a:latin typeface="Arial" panose="020B0604020202020204" pitchFamily="34" charset="0"/>
                          <a:ea typeface="微软雅黑" panose="020B0503020204020204" pitchFamily="34" charset="-122"/>
                          <a:cs typeface="Arial" pitchFamily="34" charset="0"/>
                        </a:rPr>
                        <a:t>Asse</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mble-to-order</a:t>
                      </a:r>
                      <a:r>
                        <a:rPr lang="en-US" altLang="zh-CN" sz="1800" kern="0" spc="-150"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(ATO)</a:t>
                      </a:r>
                    </a:p>
                    <a:p>
                      <a:pPr marL="368300" marR="304800" indent="-286436" eaLnBrk="0">
                        <a:lnSpc>
                          <a:spcPct val="100000"/>
                        </a:lnSpc>
                      </a:pPr>
                      <a:r>
                        <a:rPr lang="en-US" altLang="zh-CN" sz="1800" kern="0" spc="5" baseline="0" noProof="0" dirty="0">
                          <a:solidFill>
                            <a:srgbClr val="000000"/>
                          </a:solidFill>
                          <a:latin typeface="Arial" panose="020B0604020202020204" pitchFamily="34" charset="0"/>
                          <a:ea typeface="微软雅黑" panose="020B0503020204020204" pitchFamily="34" charset="-122"/>
                          <a:cs typeface="Arial" pitchFamily="34" charset="0"/>
                        </a:rPr>
                        <a:t>•</a:t>
                      </a:r>
                      <a:r>
                        <a:rPr lang="en-US" altLang="zh-CN" sz="1800" kern="0" spc="1135"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Many</a:t>
                      </a:r>
                      <a:r>
                        <a:rPr lang="en-US" altLang="zh-CN" sz="1800" kern="0" spc="-15"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end</a:t>
                      </a:r>
                      <a:r>
                        <a:rPr lang="en-US" altLang="zh-CN" sz="1800" kern="0" spc="-15"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items,</a:t>
                      </a:r>
                      <a:r>
                        <a:rPr lang="en-US" altLang="zh-CN" sz="1800" kern="0" spc="-15"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few </a:t>
                      </a:r>
                      <a:r>
                        <a:rPr lang="en-US" altLang="zh-CN" sz="1800" kern="0" spc="-15" baseline="0" noProof="0" dirty="0">
                          <a:solidFill>
                            <a:srgbClr val="000000"/>
                          </a:solidFill>
                          <a:latin typeface="Arial" panose="020B0604020202020204" pitchFamily="34" charset="0"/>
                          <a:ea typeface="微软雅黑" panose="020B0503020204020204" pitchFamily="34" charset="-122"/>
                          <a:cs typeface="Arial" pitchFamily="34" charset="0"/>
                        </a:rPr>
                        <a:t>c</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omponents </a:t>
                      </a:r>
                    </a:p>
                    <a:p>
                      <a:pPr marL="368300" marR="241300" indent="-286436" eaLnBrk="0">
                        <a:lnSpc>
                          <a:spcPct val="100462"/>
                        </a:lnSpc>
                        <a:spcAft>
                          <a:spcPts val="300"/>
                        </a:spcAft>
                      </a:pPr>
                      <a:r>
                        <a:rPr lang="en-US" altLang="zh-CN" sz="1800" kern="0" spc="5" baseline="0" noProof="0" dirty="0">
                          <a:solidFill>
                            <a:srgbClr val="000000"/>
                          </a:solidFill>
                          <a:latin typeface="Arial" panose="020B0604020202020204" pitchFamily="34" charset="0"/>
                          <a:ea typeface="微软雅黑" panose="020B0503020204020204" pitchFamily="34" charset="-122"/>
                          <a:cs typeface="Arial" pitchFamily="34" charset="0"/>
                        </a:rPr>
                        <a:t>•</a:t>
                      </a:r>
                      <a:r>
                        <a:rPr lang="en-US" altLang="zh-CN" sz="1800" kern="0" spc="1135"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Assemble</a:t>
                      </a:r>
                      <a:r>
                        <a:rPr lang="en-US" altLang="zh-CN" sz="1800" kern="0" spc="-15"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near</a:t>
                      </a:r>
                      <a:r>
                        <a:rPr lang="en-US" altLang="zh-CN" sz="1800" kern="0" spc="-15" baseline="0" noProof="0" dirty="0">
                          <a:solidFill>
                            <a:srgbClr val="000000"/>
                          </a:solidFill>
                          <a:latin typeface="Arial" panose="020B0604020202020204" pitchFamily="34" charset="0"/>
                          <a:ea typeface="微软雅黑" panose="020B0503020204020204" pitchFamily="34" charset="-122"/>
                          <a:cs typeface="Arial" pitchFamily="34" charset="0"/>
                        </a:rPr>
                        <a:t> </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point- </a:t>
                      </a:r>
                      <a:r>
                        <a:rPr lang="en-US" altLang="zh-CN" sz="1800" kern="0" spc="-15" baseline="0" noProof="0" dirty="0">
                          <a:solidFill>
                            <a:srgbClr val="000000"/>
                          </a:solidFill>
                          <a:latin typeface="Arial" panose="020B0604020202020204" pitchFamily="34" charset="0"/>
                          <a:ea typeface="微软雅黑" panose="020B0503020204020204" pitchFamily="34" charset="-122"/>
                          <a:cs typeface="Arial" pitchFamily="34" charset="0"/>
                        </a:rPr>
                        <a:t>of</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-sale </a:t>
                      </a:r>
                    </a:p>
                  </a:txBody>
                  <a:tcPr marL="6350" marR="6350" marT="44450" marB="6350">
                    <a:lnL w="12700" cap="flat" cmpd="sng" algn="ctr">
                      <a:solidFill>
                        <a:srgbClr val="1C3879"/>
                      </a:solidFill>
                      <a:prstDash val="solid"/>
                      <a:round/>
                      <a:headEnd type="none" w="med" len="med"/>
                      <a:tailEnd type="none" w="med" len="med"/>
                    </a:lnL>
                    <a:lnR w="12700" cap="flat" cmpd="sng" algn="ctr">
                      <a:solidFill>
                        <a:srgbClr val="DDDDDD"/>
                      </a:solidFill>
                      <a:prstDash val="solid"/>
                      <a:round/>
                      <a:headEnd type="none" w="med" len="med"/>
                      <a:tailEnd type="none" w="med" len="med"/>
                    </a:lnR>
                    <a:lnT w="12700" cap="flat" cmpd="sng" algn="ctr">
                      <a:solidFill>
                        <a:srgbClr val="DDDDDD"/>
                      </a:solidFill>
                      <a:prstDash val="solid"/>
                      <a:round/>
                      <a:headEnd type="none" w="med" len="med"/>
                      <a:tailEnd type="none" w="med" len="med"/>
                    </a:lnT>
                    <a:lnB w="12700" cap="flat" cmpd="sng" algn="ctr">
                      <a:solidFill>
                        <a:srgbClr val="1C3879"/>
                      </a:solidFill>
                      <a:prstDash val="solid"/>
                      <a:round/>
                      <a:headEnd type="none" w="med" len="med"/>
                      <a:tailEnd type="none" w="med" len="med"/>
                    </a:lnB>
                    <a:solidFill>
                      <a:srgbClr val="EEEEEE"/>
                    </a:solidFill>
                  </a:tcPr>
                </a:tc>
                <a:tc>
                  <a:txBody>
                    <a:bodyPr/>
                    <a:lstStyle/>
                    <a:p>
                      <a:pPr marL="76200" marR="304800" indent="0" eaLnBrk="0">
                        <a:lnSpc>
                          <a:spcPct val="100000"/>
                        </a:lnSpc>
                        <a:spcBef>
                          <a:spcPts val="300"/>
                        </a:spcBef>
                      </a:pPr>
                      <a:r>
                        <a:rPr lang="en-US" altLang="zh-CN" sz="1800" kern="0" spc="-15" baseline="0" noProof="0" dirty="0">
                          <a:solidFill>
                            <a:srgbClr val="000000"/>
                          </a:solidFill>
                          <a:latin typeface="Arial" panose="020B0604020202020204" pitchFamily="34" charset="0"/>
                          <a:ea typeface="微软雅黑" panose="020B0503020204020204" pitchFamily="34" charset="-122"/>
                          <a:cs typeface="Arial" pitchFamily="34" charset="0"/>
                        </a:rPr>
                        <a:t>Schedul</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e </a:t>
                      </a:r>
                      <a:r>
                        <a:rPr lang="en-US" altLang="zh-CN" sz="1800" b="1" kern="0" spc="-25" baseline="0" noProof="0" dirty="0">
                          <a:solidFill>
                            <a:srgbClr val="000000"/>
                          </a:solidFill>
                          <a:latin typeface="Arial" panose="020B0604020202020204" pitchFamily="34" charset="0"/>
                          <a:ea typeface="微软雅黑" panose="020B0503020204020204" pitchFamily="34" charset="-122"/>
                          <a:cs typeface="Arial" pitchFamily="34" charset="0"/>
                        </a:rPr>
                        <a:t>m</a:t>
                      </a:r>
                      <a:r>
                        <a:rPr lang="en-US" altLang="zh-CN" sz="1800" b="1" kern="0" spc="-15" baseline="0" noProof="0" dirty="0">
                          <a:solidFill>
                            <a:srgbClr val="000000"/>
                          </a:solidFill>
                          <a:latin typeface="Arial" panose="020B0604020202020204" pitchFamily="34" charset="0"/>
                          <a:ea typeface="微软雅黑" panose="020B0503020204020204" pitchFamily="34" charset="-122"/>
                          <a:cs typeface="Arial" pitchFamily="34" charset="0"/>
                        </a:rPr>
                        <a:t>odul</a:t>
                      </a:r>
                      <a:r>
                        <a:rPr lang="en-US" altLang="zh-CN" sz="1800" b="1" kern="0" spc="0" baseline="0" noProof="0" dirty="0">
                          <a:solidFill>
                            <a:srgbClr val="000000"/>
                          </a:solidFill>
                          <a:latin typeface="Arial" panose="020B0604020202020204" pitchFamily="34" charset="0"/>
                          <a:ea typeface="微软雅黑" panose="020B0503020204020204" pitchFamily="34" charset="-122"/>
                          <a:cs typeface="Arial" pitchFamily="34" charset="0"/>
                        </a:rPr>
                        <a:t>e </a:t>
                      </a:r>
                      <a:r>
                        <a:rPr lang="en-US" altLang="zh-CN" sz="1800" kern="0" spc="-15" baseline="0" noProof="0" dirty="0">
                          <a:solidFill>
                            <a:srgbClr val="000000"/>
                          </a:solidFill>
                          <a:latin typeface="Arial" panose="020B0604020202020204" pitchFamily="34" charset="0"/>
                          <a:ea typeface="微软雅黑" panose="020B0503020204020204" pitchFamily="34" charset="-122"/>
                          <a:cs typeface="Arial" pitchFamily="34" charset="0"/>
                        </a:rPr>
                        <a:t>produc</a:t>
                      </a:r>
                      <a:r>
                        <a:rPr lang="en-US" altLang="zh-CN" sz="1800" kern="0" spc="0" baseline="0" noProof="0" dirty="0">
                          <a:solidFill>
                            <a:srgbClr val="000000"/>
                          </a:solidFill>
                          <a:latin typeface="Arial" panose="020B0604020202020204" pitchFamily="34" charset="0"/>
                          <a:ea typeface="微软雅黑" panose="020B0503020204020204" pitchFamily="34" charset="-122"/>
                          <a:cs typeface="Arial" pitchFamily="34" charset="0"/>
                        </a:rPr>
                        <a:t>tion. </a:t>
                      </a:r>
                    </a:p>
                    <a:p>
                      <a:pPr marL="0" marR="0" indent="0" eaLnBrk="0">
                        <a:lnSpc>
                          <a:spcPct val="150000"/>
                        </a:lnSpc>
                      </a:pPr>
                      <a:endParaRPr lang="en-US" altLang="zh-CN" sz="1000" kern="0" spc="0" baseline="0" noProof="0" dirty="0">
                        <a:solidFill>
                          <a:srgbClr val="000000"/>
                        </a:solidFill>
                        <a:latin typeface="Arial" panose="020B0604020202020204" pitchFamily="34" charset="0"/>
                        <a:ea typeface="微软雅黑" panose="020B0503020204020204" pitchFamily="34" charset="-122"/>
                        <a:cs typeface="Arial" pitchFamily="34" charset="0"/>
                      </a:endParaRPr>
                    </a:p>
                    <a:p>
                      <a:pPr marL="0" marR="0" indent="0" eaLnBrk="0">
                        <a:lnSpc>
                          <a:spcPct val="236666"/>
                        </a:lnSpc>
                      </a:pPr>
                      <a:endParaRPr lang="en-US" altLang="zh-CN" sz="1000" kern="0" spc="0" baseline="0" noProof="0" dirty="0">
                        <a:solidFill>
                          <a:srgbClr val="000000"/>
                        </a:solidFill>
                        <a:latin typeface="Arial" panose="020B0604020202020204" pitchFamily="34" charset="0"/>
                        <a:ea typeface="微软雅黑" panose="020B0503020204020204" pitchFamily="34" charset="-122"/>
                        <a:cs typeface="Arial" pitchFamily="34" charset="0"/>
                      </a:endParaRPr>
                    </a:p>
                  </a:txBody>
                  <a:tcPr marL="6350" marR="6350" marT="44450" marB="6350">
                    <a:lnL w="12700" cap="flat" cmpd="sng" algn="ctr">
                      <a:solidFill>
                        <a:srgbClr val="DDDDDD"/>
                      </a:solidFill>
                      <a:prstDash val="solid"/>
                      <a:round/>
                      <a:headEnd type="none" w="med" len="med"/>
                      <a:tailEnd type="none" w="med" len="med"/>
                    </a:lnL>
                    <a:lnR w="12700" cap="flat" cmpd="sng" algn="ctr">
                      <a:solidFill>
                        <a:srgbClr val="1C3879"/>
                      </a:solidFill>
                      <a:prstDash val="solid"/>
                      <a:round/>
                      <a:headEnd type="none" w="med" len="med"/>
                      <a:tailEnd type="none" w="med" len="med"/>
                    </a:lnR>
                    <a:lnT w="12700" cap="flat" cmpd="sng" algn="ctr">
                      <a:solidFill>
                        <a:srgbClr val="DDDDDD"/>
                      </a:solidFill>
                      <a:prstDash val="solid"/>
                      <a:round/>
                      <a:headEnd type="none" w="med" len="med"/>
                      <a:tailEnd type="none" w="med" len="med"/>
                    </a:lnT>
                    <a:lnB w="12700" cap="flat" cmpd="sng" algn="ctr">
                      <a:solidFill>
                        <a:srgbClr val="1C3879"/>
                      </a:solidFill>
                      <a:prstDash val="solid"/>
                      <a:round/>
                      <a:headEnd type="none" w="med" len="med"/>
                      <a:tailEnd type="none" w="med" len="med"/>
                    </a:lnB>
                    <a:solidFill>
                      <a:srgbClr val="EEEEEE"/>
                    </a:solidFill>
                  </a:tcPr>
                </a:tc>
                <a:extLst>
                  <a:ext uri="{0D108BD9-81ED-4DB2-BD59-A6C34878D82A}">
                    <a16:rowId xmlns:a16="http://schemas.microsoft.com/office/drawing/2014/main" val="10003"/>
                  </a:ext>
                </a:extLst>
              </a:tr>
            </a:tbl>
          </a:graphicData>
        </a:graphic>
      </p:graphicFrame>
      <p:graphicFrame>
        <p:nvGraphicFramePr>
          <p:cNvPr id="5" name="图示 4">
            <a:extLst>
              <a:ext uri="{FF2B5EF4-FFF2-40B4-BE49-F238E27FC236}">
                <a16:creationId xmlns:a16="http://schemas.microsoft.com/office/drawing/2014/main" id="{FC06F57B-9CAE-C026-AD5A-E9F52EA1391E}"/>
              </a:ext>
            </a:extLst>
          </p:cNvPr>
          <p:cNvGraphicFramePr/>
          <p:nvPr>
            <p:extLst>
              <p:ext uri="{D42A27DB-BD31-4B8C-83A1-F6EECF244321}">
                <p14:modId xmlns:p14="http://schemas.microsoft.com/office/powerpoint/2010/main" val="1715878223"/>
              </p:ext>
            </p:extLst>
          </p:nvPr>
        </p:nvGraphicFramePr>
        <p:xfrm>
          <a:off x="140173" y="1041314"/>
          <a:ext cx="4257040" cy="30678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09461703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D668978-8254-02A8-C0DA-E9C0AB72AFFF}"/>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SC Network Design </a:t>
            </a:r>
            <a:endParaRPr lang="zh-CN" altLang="en-US" dirty="0">
              <a:latin typeface="Arial" panose="020B0604020202020204" pitchFamily="34" charset="0"/>
              <a:ea typeface="微软雅黑" panose="020B0503020204020204" pitchFamily="34" charset="-122"/>
            </a:endParaRPr>
          </a:p>
        </p:txBody>
      </p:sp>
      <p:pic>
        <p:nvPicPr>
          <p:cNvPr id="8" name="图片 7">
            <a:extLst>
              <a:ext uri="{FF2B5EF4-FFF2-40B4-BE49-F238E27FC236}">
                <a16:creationId xmlns:a16="http://schemas.microsoft.com/office/drawing/2014/main" id="{CBD2C396-AD88-2F6A-17E1-CBCDBFBA35EF}"/>
              </a:ext>
            </a:extLst>
          </p:cNvPr>
          <p:cNvPicPr>
            <a:picLocks noChangeAspect="1"/>
          </p:cNvPicPr>
          <p:nvPr/>
        </p:nvPicPr>
        <p:blipFill>
          <a:blip r:embed="rId2"/>
          <a:stretch>
            <a:fillRect/>
          </a:stretch>
        </p:blipFill>
        <p:spPr>
          <a:xfrm>
            <a:off x="1045029" y="1101436"/>
            <a:ext cx="9856333" cy="5485101"/>
          </a:xfrm>
          <a:prstGeom prst="rect">
            <a:avLst/>
          </a:prstGeom>
          <a:solidFill>
            <a:schemeClr val="tx1">
              <a:lumMod val="95000"/>
            </a:schemeClr>
          </a:solidFill>
        </p:spPr>
      </p:pic>
    </p:spTree>
    <p:extLst>
      <p:ext uri="{BB962C8B-B14F-4D97-AF65-F5344CB8AC3E}">
        <p14:creationId xmlns:p14="http://schemas.microsoft.com/office/powerpoint/2010/main" val="2923757485"/>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0EF257E5-E2F9-9580-FBE0-79506EAFC7B6}"/>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Forecast Consumption</a:t>
            </a:r>
            <a:endParaRPr lang="zh-CN" altLang="en-US" dirty="0">
              <a:latin typeface="Arial" panose="020B0604020202020204" pitchFamily="34" charset="0"/>
              <a:ea typeface="微软雅黑" panose="020B0503020204020204" pitchFamily="34" charset="-122"/>
            </a:endParaRPr>
          </a:p>
        </p:txBody>
      </p:sp>
      <p:grpSp>
        <p:nvGrpSpPr>
          <p:cNvPr id="5" name="组合 01">
            <a:extLst>
              <a:ext uri="{FF2B5EF4-FFF2-40B4-BE49-F238E27FC236}">
                <a16:creationId xmlns:a16="http://schemas.microsoft.com/office/drawing/2014/main" id="{5BC413FA-08EE-1141-D05C-AB3542DE30C6}"/>
              </a:ext>
            </a:extLst>
          </p:cNvPr>
          <p:cNvGrpSpPr>
            <a:grpSpLocks noChangeAspect="1"/>
          </p:cNvGrpSpPr>
          <p:nvPr>
            <p:custDataLst>
              <p:tags r:id="rId1"/>
            </p:custDataLst>
          </p:nvPr>
        </p:nvGrpSpPr>
        <p:grpSpPr>
          <a:xfrm>
            <a:off x="1632740" y="723997"/>
            <a:ext cx="7503040" cy="5331041"/>
            <a:chOff x="771488" y="1217632"/>
            <a:chExt cx="7815300" cy="5566674"/>
          </a:xfrm>
        </p:grpSpPr>
        <p:grpSp>
          <p:nvGrpSpPr>
            <p:cNvPr id="6" name="组合 01">
              <a:extLst>
                <a:ext uri="{FF2B5EF4-FFF2-40B4-BE49-F238E27FC236}">
                  <a16:creationId xmlns:a16="http://schemas.microsoft.com/office/drawing/2014/main" id="{25D81F5F-0F1C-59AC-602F-4CF7510A93BE}"/>
                </a:ext>
              </a:extLst>
            </p:cNvPr>
            <p:cNvGrpSpPr/>
            <p:nvPr/>
          </p:nvGrpSpPr>
          <p:grpSpPr>
            <a:xfrm>
              <a:off x="771488" y="1217632"/>
              <a:ext cx="7815300" cy="1837573"/>
              <a:chOff x="771488" y="1217632"/>
              <a:chExt cx="7815300" cy="1837573"/>
            </a:xfrm>
          </p:grpSpPr>
          <p:sp>
            <p:nvSpPr>
              <p:cNvPr id="29" name="1">
                <a:extLst>
                  <a:ext uri="{FF2B5EF4-FFF2-40B4-BE49-F238E27FC236}">
                    <a16:creationId xmlns:a16="http://schemas.microsoft.com/office/drawing/2014/main" id="{822B2AF5-BD65-D3AD-9787-C07CF02D5C47}"/>
                  </a:ext>
                </a:extLst>
              </p:cNvPr>
              <p:cNvSpPr/>
              <p:nvPr/>
            </p:nvSpPr>
            <p:spPr>
              <a:xfrm>
                <a:off x="1375576" y="1356164"/>
                <a:ext cx="7211212" cy="1340266"/>
              </a:xfrm>
              <a:prstGeom prst="roundRect">
                <a:avLst>
                  <a:gd name="adj" fmla="val 50000"/>
                </a:avLst>
              </a:prstGeom>
              <a:solidFill>
                <a:schemeClr val="bg1"/>
              </a:solidFill>
              <a:ln w="12700">
                <a:solidFill>
                  <a:schemeClr val="accent1">
                    <a:lumMod val="40000"/>
                    <a:lumOff val="60000"/>
                  </a:schemeClr>
                </a:solidFill>
              </a:ln>
              <a:effectLst>
                <a:outerShdw blurRad="279400" dist="76200" dir="2700000" sx="97000" sy="97000" algn="tl" rotWithShape="0">
                  <a:schemeClr val="accent1">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0" name="1">
                <a:extLst>
                  <a:ext uri="{FF2B5EF4-FFF2-40B4-BE49-F238E27FC236}">
                    <a16:creationId xmlns:a16="http://schemas.microsoft.com/office/drawing/2014/main" id="{5FFFD6C6-E4C7-50B9-7850-60A1577354F5}"/>
                  </a:ext>
                </a:extLst>
              </p:cNvPr>
              <p:cNvSpPr/>
              <p:nvPr/>
            </p:nvSpPr>
            <p:spPr>
              <a:xfrm>
                <a:off x="771488" y="1694714"/>
                <a:ext cx="2394384" cy="1360491"/>
              </a:xfrm>
              <a:prstGeom prst="ellipse">
                <a:avLst/>
              </a:prstGeom>
              <a:solidFill>
                <a:schemeClr val="accent1">
                  <a:lumMod val="50000"/>
                  <a:alpha val="35000"/>
                </a:schemeClr>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1" name="1">
                <a:extLst>
                  <a:ext uri="{FF2B5EF4-FFF2-40B4-BE49-F238E27FC236}">
                    <a16:creationId xmlns:a16="http://schemas.microsoft.com/office/drawing/2014/main" id="{D8B9E2FC-F453-6360-2493-C7F9B81B953B}"/>
                  </a:ext>
                </a:extLst>
              </p:cNvPr>
              <p:cNvSpPr/>
              <p:nvPr/>
            </p:nvSpPr>
            <p:spPr>
              <a:xfrm>
                <a:off x="1089308" y="1681053"/>
                <a:ext cx="1758629" cy="1015368"/>
              </a:xfrm>
              <a:custGeom>
                <a:avLst/>
                <a:gdLst>
                  <a:gd name="connsiteX0" fmla="*/ 1155034 w 1155034"/>
                  <a:gd name="connsiteY0" fmla="*/ 333436 h 666871"/>
                  <a:gd name="connsiteX1" fmla="*/ 577517 w 1155034"/>
                  <a:gd name="connsiteY1" fmla="*/ 666872 h 666871"/>
                  <a:gd name="connsiteX2" fmla="*/ 0 w 1155034"/>
                  <a:gd name="connsiteY2" fmla="*/ 333436 h 666871"/>
                  <a:gd name="connsiteX3" fmla="*/ 577517 w 1155034"/>
                  <a:gd name="connsiteY3" fmla="*/ 0 h 666871"/>
                  <a:gd name="connsiteX4" fmla="*/ 1155034 w 1155034"/>
                  <a:gd name="connsiteY4" fmla="*/ 333436 h 666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034" h="666871">
                    <a:moveTo>
                      <a:pt x="1155034" y="333436"/>
                    </a:moveTo>
                    <a:cubicBezTo>
                      <a:pt x="1155034" y="517588"/>
                      <a:pt x="896471" y="666872"/>
                      <a:pt x="577517" y="666872"/>
                    </a:cubicBezTo>
                    <a:cubicBezTo>
                      <a:pt x="258563" y="666872"/>
                      <a:pt x="0" y="517588"/>
                      <a:pt x="0" y="333436"/>
                    </a:cubicBezTo>
                    <a:cubicBezTo>
                      <a:pt x="0" y="149284"/>
                      <a:pt x="258563" y="0"/>
                      <a:pt x="577517" y="0"/>
                    </a:cubicBezTo>
                    <a:cubicBezTo>
                      <a:pt x="896471" y="0"/>
                      <a:pt x="1155034" y="149284"/>
                      <a:pt x="1155034" y="333436"/>
                    </a:cubicBezTo>
                    <a:close/>
                  </a:path>
                </a:pathLst>
              </a:custGeom>
              <a:solidFill>
                <a:srgbClr val="CCCCCC"/>
              </a:solidFill>
              <a:ln w="2776" cap="flat">
                <a:noFill/>
                <a:prstDash val="solid"/>
                <a:miter/>
              </a:ln>
            </p:spPr>
            <p:txBody>
              <a:bodyPr rtlCol="0" anchor="ctr"/>
              <a:lstStyle/>
              <a:p>
                <a:endParaRPr lang="zh-CN" altLang="en-US"/>
              </a:p>
            </p:txBody>
          </p:sp>
          <p:sp>
            <p:nvSpPr>
              <p:cNvPr id="32" name="1">
                <a:extLst>
                  <a:ext uri="{FF2B5EF4-FFF2-40B4-BE49-F238E27FC236}">
                    <a16:creationId xmlns:a16="http://schemas.microsoft.com/office/drawing/2014/main" id="{C39A9E99-FD78-D88C-B7AC-03E81F4E26B3}"/>
                  </a:ext>
                </a:extLst>
              </p:cNvPr>
              <p:cNvSpPr/>
              <p:nvPr/>
            </p:nvSpPr>
            <p:spPr>
              <a:xfrm>
                <a:off x="1089308" y="1861565"/>
                <a:ext cx="1758629" cy="834865"/>
              </a:xfrm>
              <a:custGeom>
                <a:avLst/>
                <a:gdLst>
                  <a:gd name="connsiteX0" fmla="*/ 985901 w 1155034"/>
                  <a:gd name="connsiteY0" fmla="*/ 450660 h 548321"/>
                  <a:gd name="connsiteX1" fmla="*/ 169161 w 1155034"/>
                  <a:gd name="connsiteY1" fmla="*/ 450660 h 548321"/>
                  <a:gd name="connsiteX2" fmla="*/ 0 w 1155034"/>
                  <a:gd name="connsiteY2" fmla="*/ 214879 h 548321"/>
                  <a:gd name="connsiteX3" fmla="*/ 0 w 1155034"/>
                  <a:gd name="connsiteY3" fmla="*/ 0 h 548321"/>
                  <a:gd name="connsiteX4" fmla="*/ 1153924 w 1155034"/>
                  <a:gd name="connsiteY4" fmla="*/ 19598 h 548321"/>
                  <a:gd name="connsiteX5" fmla="*/ 1155034 w 1155034"/>
                  <a:gd name="connsiteY5" fmla="*/ 214879 h 548321"/>
                  <a:gd name="connsiteX6" fmla="*/ 985901 w 1155034"/>
                  <a:gd name="connsiteY6" fmla="*/ 450660 h 548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034" h="548321">
                    <a:moveTo>
                      <a:pt x="985901" y="450660"/>
                    </a:moveTo>
                    <a:cubicBezTo>
                      <a:pt x="760363" y="580876"/>
                      <a:pt x="394643" y="580876"/>
                      <a:pt x="169161" y="450660"/>
                    </a:cubicBezTo>
                    <a:cubicBezTo>
                      <a:pt x="56405" y="385539"/>
                      <a:pt x="0" y="300209"/>
                      <a:pt x="0" y="214879"/>
                    </a:cubicBezTo>
                    <a:lnTo>
                      <a:pt x="0" y="0"/>
                    </a:lnTo>
                    <a:lnTo>
                      <a:pt x="1153924" y="19598"/>
                    </a:lnTo>
                    <a:cubicBezTo>
                      <a:pt x="1153924" y="19598"/>
                      <a:pt x="1155034" y="129549"/>
                      <a:pt x="1155034" y="214879"/>
                    </a:cubicBezTo>
                    <a:cubicBezTo>
                      <a:pt x="1155034" y="300209"/>
                      <a:pt x="1098657" y="385539"/>
                      <a:pt x="985901" y="450660"/>
                    </a:cubicBezTo>
                    <a:close/>
                  </a:path>
                </a:pathLst>
              </a:custGeom>
              <a:gradFill>
                <a:gsLst>
                  <a:gs pos="0">
                    <a:schemeClr val="accent1">
                      <a:lumMod val="60000"/>
                      <a:lumOff val="40000"/>
                    </a:schemeClr>
                  </a:gs>
                  <a:gs pos="49000">
                    <a:schemeClr val="accent1"/>
                  </a:gs>
                  <a:gs pos="100000">
                    <a:schemeClr val="accent1">
                      <a:lumMod val="75000"/>
                    </a:schemeClr>
                  </a:gs>
                </a:gsLst>
                <a:lin ang="10795496" scaled="1"/>
              </a:gradFill>
              <a:ln w="2776" cap="flat">
                <a:noFill/>
                <a:prstDash val="solid"/>
                <a:miter/>
              </a:ln>
            </p:spPr>
            <p:txBody>
              <a:bodyPr rtlCol="0" anchor="ctr"/>
              <a:lstStyle/>
              <a:p>
                <a:endParaRPr lang="zh-CN" altLang="en-US"/>
              </a:p>
            </p:txBody>
          </p:sp>
          <p:sp>
            <p:nvSpPr>
              <p:cNvPr id="33" name="1">
                <a:extLst>
                  <a:ext uri="{FF2B5EF4-FFF2-40B4-BE49-F238E27FC236}">
                    <a16:creationId xmlns:a16="http://schemas.microsoft.com/office/drawing/2014/main" id="{AB5D641A-51C5-97DE-283C-EE7E8BB37A8D}"/>
                  </a:ext>
                </a:extLst>
              </p:cNvPr>
              <p:cNvSpPr/>
              <p:nvPr/>
            </p:nvSpPr>
            <p:spPr>
              <a:xfrm>
                <a:off x="1089308" y="1356164"/>
                <a:ext cx="1758629" cy="1015368"/>
              </a:xfrm>
              <a:custGeom>
                <a:avLst/>
                <a:gdLst>
                  <a:gd name="connsiteX0" fmla="*/ 1155034 w 1155034"/>
                  <a:gd name="connsiteY0" fmla="*/ 333436 h 666871"/>
                  <a:gd name="connsiteX1" fmla="*/ 577517 w 1155034"/>
                  <a:gd name="connsiteY1" fmla="*/ 666872 h 666871"/>
                  <a:gd name="connsiteX2" fmla="*/ 0 w 1155034"/>
                  <a:gd name="connsiteY2" fmla="*/ 333436 h 666871"/>
                  <a:gd name="connsiteX3" fmla="*/ 577517 w 1155034"/>
                  <a:gd name="connsiteY3" fmla="*/ 0 h 666871"/>
                  <a:gd name="connsiteX4" fmla="*/ 1155034 w 1155034"/>
                  <a:gd name="connsiteY4" fmla="*/ 333436 h 666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034" h="666871">
                    <a:moveTo>
                      <a:pt x="1155034" y="333436"/>
                    </a:moveTo>
                    <a:cubicBezTo>
                      <a:pt x="1155034" y="517588"/>
                      <a:pt x="896471" y="666872"/>
                      <a:pt x="577517" y="666872"/>
                    </a:cubicBezTo>
                    <a:cubicBezTo>
                      <a:pt x="258563" y="666872"/>
                      <a:pt x="0" y="517588"/>
                      <a:pt x="0" y="333436"/>
                    </a:cubicBezTo>
                    <a:cubicBezTo>
                      <a:pt x="0" y="149284"/>
                      <a:pt x="258563" y="0"/>
                      <a:pt x="577517" y="0"/>
                    </a:cubicBezTo>
                    <a:cubicBezTo>
                      <a:pt x="896471" y="0"/>
                      <a:pt x="1155034" y="149284"/>
                      <a:pt x="1155034" y="333436"/>
                    </a:cubicBezTo>
                    <a:close/>
                  </a:path>
                </a:pathLst>
              </a:custGeom>
              <a:gradFill>
                <a:gsLst>
                  <a:gs pos="0">
                    <a:schemeClr val="accent1">
                      <a:lumMod val="60000"/>
                      <a:lumOff val="40000"/>
                    </a:schemeClr>
                  </a:gs>
                  <a:gs pos="50000">
                    <a:schemeClr val="accent1"/>
                  </a:gs>
                  <a:gs pos="100000">
                    <a:schemeClr val="accent1">
                      <a:lumMod val="75000"/>
                    </a:schemeClr>
                  </a:gs>
                </a:gsLst>
                <a:lin ang="5386429" scaled="1"/>
              </a:gradFill>
              <a:ln w="2776" cap="flat">
                <a:noFill/>
                <a:prstDash val="solid"/>
                <a:miter/>
              </a:ln>
            </p:spPr>
            <p:txBody>
              <a:bodyPr rtlCol="0" anchor="ctr"/>
              <a:lstStyle/>
              <a:p>
                <a:endParaRPr lang="zh-CN" altLang="en-US"/>
              </a:p>
            </p:txBody>
          </p:sp>
          <p:sp>
            <p:nvSpPr>
              <p:cNvPr id="34" name="1">
                <a:extLst>
                  <a:ext uri="{FF2B5EF4-FFF2-40B4-BE49-F238E27FC236}">
                    <a16:creationId xmlns:a16="http://schemas.microsoft.com/office/drawing/2014/main" id="{1EF37FDB-E68E-75C2-4773-764DFBF311F4}"/>
                  </a:ext>
                </a:extLst>
              </p:cNvPr>
              <p:cNvSpPr/>
              <p:nvPr/>
            </p:nvSpPr>
            <p:spPr>
              <a:xfrm>
                <a:off x="1089404" y="1356164"/>
                <a:ext cx="1758649" cy="1015327"/>
              </a:xfrm>
              <a:custGeom>
                <a:avLst/>
                <a:gdLst>
                  <a:gd name="connsiteX0" fmla="*/ 577510 w 1155047"/>
                  <a:gd name="connsiteY0" fmla="*/ 13879 h 666844"/>
                  <a:gd name="connsiteX1" fmla="*/ 978899 w 1155047"/>
                  <a:gd name="connsiteY1" fmla="*/ 109674 h 666844"/>
                  <a:gd name="connsiteX2" fmla="*/ 1141093 w 1155047"/>
                  <a:gd name="connsiteY2" fmla="*/ 333436 h 666844"/>
                  <a:gd name="connsiteX3" fmla="*/ 978899 w 1155047"/>
                  <a:gd name="connsiteY3" fmla="*/ 557170 h 666844"/>
                  <a:gd name="connsiteX4" fmla="*/ 577482 w 1155047"/>
                  <a:gd name="connsiteY4" fmla="*/ 652965 h 666844"/>
                  <a:gd name="connsiteX5" fmla="*/ 176038 w 1155047"/>
                  <a:gd name="connsiteY5" fmla="*/ 557170 h 666844"/>
                  <a:gd name="connsiteX6" fmla="*/ 13817 w 1155047"/>
                  <a:gd name="connsiteY6" fmla="*/ 333436 h 666844"/>
                  <a:gd name="connsiteX7" fmla="*/ 176038 w 1155047"/>
                  <a:gd name="connsiteY7" fmla="*/ 109674 h 666844"/>
                  <a:gd name="connsiteX8" fmla="*/ 577510 w 1155047"/>
                  <a:gd name="connsiteY8" fmla="*/ 13879 h 666844"/>
                  <a:gd name="connsiteX9" fmla="*/ 577510 w 1155047"/>
                  <a:gd name="connsiteY9" fmla="*/ 13879 h 666844"/>
                  <a:gd name="connsiteX10" fmla="*/ 577510 w 1155047"/>
                  <a:gd name="connsiteY10" fmla="*/ 0 h 666844"/>
                  <a:gd name="connsiteX11" fmla="*/ 169154 w 1155047"/>
                  <a:gd name="connsiteY11" fmla="*/ 97654 h 666844"/>
                  <a:gd name="connsiteX12" fmla="*/ 169154 w 1155047"/>
                  <a:gd name="connsiteY12" fmla="*/ 569189 h 666844"/>
                  <a:gd name="connsiteX13" fmla="*/ 577538 w 1155047"/>
                  <a:gd name="connsiteY13" fmla="*/ 666844 h 666844"/>
                  <a:gd name="connsiteX14" fmla="*/ 985894 w 1155047"/>
                  <a:gd name="connsiteY14" fmla="*/ 569189 h 666844"/>
                  <a:gd name="connsiteX15" fmla="*/ 985894 w 1155047"/>
                  <a:gd name="connsiteY15" fmla="*/ 97654 h 666844"/>
                  <a:gd name="connsiteX16" fmla="*/ 577510 w 1155047"/>
                  <a:gd name="connsiteY16" fmla="*/ 0 h 666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5047" h="666844">
                    <a:moveTo>
                      <a:pt x="577510" y="13879"/>
                    </a:moveTo>
                    <a:cubicBezTo>
                      <a:pt x="729350" y="13879"/>
                      <a:pt x="871890" y="47911"/>
                      <a:pt x="978899" y="109674"/>
                    </a:cubicBezTo>
                    <a:cubicBezTo>
                      <a:pt x="1083493" y="170077"/>
                      <a:pt x="1141093" y="249522"/>
                      <a:pt x="1141093" y="333436"/>
                    </a:cubicBezTo>
                    <a:cubicBezTo>
                      <a:pt x="1141093" y="417350"/>
                      <a:pt x="1083493" y="496795"/>
                      <a:pt x="978899" y="557170"/>
                    </a:cubicBezTo>
                    <a:cubicBezTo>
                      <a:pt x="871890" y="618961"/>
                      <a:pt x="729322" y="652965"/>
                      <a:pt x="577482" y="652965"/>
                    </a:cubicBezTo>
                    <a:cubicBezTo>
                      <a:pt x="425643" y="652965"/>
                      <a:pt x="283047" y="618961"/>
                      <a:pt x="176038" y="557170"/>
                    </a:cubicBezTo>
                    <a:cubicBezTo>
                      <a:pt x="71444" y="496795"/>
                      <a:pt x="13817" y="417322"/>
                      <a:pt x="13817" y="333436"/>
                    </a:cubicBezTo>
                    <a:cubicBezTo>
                      <a:pt x="13817" y="249550"/>
                      <a:pt x="71444" y="170077"/>
                      <a:pt x="176038" y="109674"/>
                    </a:cubicBezTo>
                    <a:cubicBezTo>
                      <a:pt x="283020" y="47911"/>
                      <a:pt x="425588" y="13879"/>
                      <a:pt x="577510" y="13879"/>
                    </a:cubicBezTo>
                    <a:lnTo>
                      <a:pt x="577510" y="13879"/>
                    </a:lnTo>
                    <a:moveTo>
                      <a:pt x="577510" y="0"/>
                    </a:moveTo>
                    <a:cubicBezTo>
                      <a:pt x="429724" y="0"/>
                      <a:pt x="281909" y="32561"/>
                      <a:pt x="169154" y="97654"/>
                    </a:cubicBezTo>
                    <a:cubicBezTo>
                      <a:pt x="-56385" y="227870"/>
                      <a:pt x="-56385" y="439085"/>
                      <a:pt x="169154" y="569189"/>
                    </a:cubicBezTo>
                    <a:cubicBezTo>
                      <a:pt x="281937" y="634311"/>
                      <a:pt x="429696" y="666844"/>
                      <a:pt x="577538" y="666844"/>
                    </a:cubicBezTo>
                    <a:cubicBezTo>
                      <a:pt x="725380" y="666844"/>
                      <a:pt x="873139" y="634283"/>
                      <a:pt x="985894" y="569189"/>
                    </a:cubicBezTo>
                    <a:cubicBezTo>
                      <a:pt x="1211433" y="438974"/>
                      <a:pt x="1211433" y="227759"/>
                      <a:pt x="985894" y="97654"/>
                    </a:cubicBezTo>
                    <a:cubicBezTo>
                      <a:pt x="873111" y="32533"/>
                      <a:pt x="725325" y="0"/>
                      <a:pt x="577510" y="0"/>
                    </a:cubicBezTo>
                    <a:close/>
                  </a:path>
                </a:pathLst>
              </a:custGeom>
              <a:gradFill>
                <a:gsLst>
                  <a:gs pos="0">
                    <a:schemeClr val="accent1">
                      <a:lumMod val="60000"/>
                      <a:lumOff val="40000"/>
                    </a:schemeClr>
                  </a:gs>
                  <a:gs pos="50000">
                    <a:schemeClr val="accent1"/>
                  </a:gs>
                  <a:gs pos="100000">
                    <a:schemeClr val="accent1">
                      <a:lumMod val="75000"/>
                    </a:schemeClr>
                  </a:gs>
                </a:gsLst>
                <a:lin ang="19800044" scaled="1"/>
              </a:gradFill>
              <a:ln w="2776" cap="flat">
                <a:noFill/>
                <a:prstDash val="solid"/>
                <a:miter/>
              </a:ln>
            </p:spPr>
            <p:txBody>
              <a:bodyPr rtlCol="0" anchor="ctr"/>
              <a:lstStyle/>
              <a:p>
                <a:endParaRPr lang="zh-CN" altLang="en-US"/>
              </a:p>
            </p:txBody>
          </p:sp>
          <p:sp>
            <p:nvSpPr>
              <p:cNvPr id="35" name="1">
                <a:extLst>
                  <a:ext uri="{FF2B5EF4-FFF2-40B4-BE49-F238E27FC236}">
                    <a16:creationId xmlns:a16="http://schemas.microsoft.com/office/drawing/2014/main" id="{91D54DE7-9CEE-5B27-F78C-E1BC24D2C027}"/>
                  </a:ext>
                </a:extLst>
              </p:cNvPr>
              <p:cNvSpPr>
                <a:spLocks/>
              </p:cNvSpPr>
              <p:nvPr/>
            </p:nvSpPr>
            <p:spPr>
              <a:xfrm rot="420000">
                <a:off x="1199932" y="1217632"/>
                <a:ext cx="1548000" cy="1260000"/>
              </a:xfrm>
              <a:prstGeom prst="ellipse">
                <a:avLst/>
              </a:prstGeom>
              <a:noFill/>
              <a:ln w="31750" cap="rnd">
                <a:gradFill flip="none" rotWithShape="1">
                  <a:gsLst>
                    <a:gs pos="0">
                      <a:schemeClr val="bg1"/>
                    </a:gs>
                    <a:gs pos="75000">
                      <a:schemeClr val="bg1">
                        <a:alpha val="0"/>
                      </a:schemeClr>
                    </a:gs>
                  </a:gsLst>
                  <a:lin ang="0" scaled="1"/>
                  <a:tileRect/>
                </a:gradFill>
                <a:prstDash val="dash"/>
                <a:round/>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6" name="Index-1">
                <a:extLst>
                  <a:ext uri="{FF2B5EF4-FFF2-40B4-BE49-F238E27FC236}">
                    <a16:creationId xmlns:a16="http://schemas.microsoft.com/office/drawing/2014/main" id="{6EC3DF64-7FB6-8329-861F-EBE2AA856719}"/>
                  </a:ext>
                </a:extLst>
              </p:cNvPr>
              <p:cNvSpPr txBox="1"/>
              <p:nvPr>
                <p:custDataLst>
                  <p:tags r:id="rId5"/>
                </p:custDataLst>
              </p:nvPr>
            </p:nvSpPr>
            <p:spPr>
              <a:xfrm>
                <a:off x="1255643" y="1542755"/>
                <a:ext cx="1502560" cy="610622"/>
              </a:xfrm>
              <a:prstGeom prst="rect">
                <a:avLst/>
              </a:prstGeom>
              <a:noFill/>
            </p:spPr>
            <p:txBody>
              <a:bodyPr wrap="square" rtlCol="0">
                <a:spAutoFit/>
                <a:scene3d>
                  <a:camera prst="isometricOffAxis2Top">
                    <a:rot lat="19800000" lon="3000000" rev="18000000"/>
                  </a:camera>
                  <a:lightRig rig="threePt" dir="t"/>
                </a:scene3d>
              </a:bodyPr>
              <a:lstStyle/>
              <a:p>
                <a:pPr algn="ctr"/>
                <a:r>
                  <a:rPr kumimoji="1" lang="zh-CN" altLang="en-US" sz="3200" b="1" dirty="0">
                    <a:solidFill>
                      <a:schemeClr val="bg1"/>
                    </a:solidFill>
                    <a:effectLst>
                      <a:outerShdw blurRad="50800" dist="38100" dir="2700000" algn="tl" rotWithShape="0">
                        <a:schemeClr val="accent1">
                          <a:lumMod val="50000"/>
                          <a:alpha val="40000"/>
                        </a:schemeClr>
                      </a:outerShdw>
                    </a:effectLst>
                    <a:latin typeface="Arial" panose="020B0604020202020204" pitchFamily="34" charset="0"/>
                    <a:ea typeface="微软雅黑" panose="020B0503020204020204" pitchFamily="34" charset="-122"/>
                  </a:rPr>
                  <a:t>目的</a:t>
                </a:r>
              </a:p>
            </p:txBody>
          </p:sp>
          <p:sp>
            <p:nvSpPr>
              <p:cNvPr id="37" name="Title-1">
                <a:extLst>
                  <a:ext uri="{FF2B5EF4-FFF2-40B4-BE49-F238E27FC236}">
                    <a16:creationId xmlns:a16="http://schemas.microsoft.com/office/drawing/2014/main" id="{062B8FA4-FFF2-7328-2C09-A5A3106A2742}"/>
                  </a:ext>
                </a:extLst>
              </p:cNvPr>
              <p:cNvSpPr txBox="1"/>
              <p:nvPr>
                <p:custDataLst>
                  <p:tags r:id="rId6"/>
                </p:custDataLst>
              </p:nvPr>
            </p:nvSpPr>
            <p:spPr>
              <a:xfrm>
                <a:off x="3238116" y="1406326"/>
                <a:ext cx="1719246" cy="385657"/>
              </a:xfrm>
              <a:prstGeom prst="rect">
                <a:avLst/>
              </a:prstGeom>
              <a:noFill/>
            </p:spPr>
            <p:txBody>
              <a:bodyPr wrap="square" rtlCol="0">
                <a:spAutoFit/>
              </a:bodyPr>
              <a:lstStyle/>
              <a:p>
                <a:r>
                  <a:rPr kumimoji="1" lang="zh-CN" altLang="en-US" b="1">
                    <a:solidFill>
                      <a:schemeClr val="tx1">
                        <a:lumMod val="90000"/>
                        <a:lumOff val="10000"/>
                      </a:schemeClr>
                    </a:solidFill>
                    <a:latin typeface="Arial" panose="020B0604020202020204" pitchFamily="34" charset="0"/>
                    <a:ea typeface="微软雅黑" panose="020B0503020204020204" pitchFamily="34" charset="-122"/>
                  </a:rPr>
                  <a:t>作用</a:t>
                </a:r>
                <a:endParaRPr kumimoji="1" lang="zh-CN" altLang="en-US" b="1" dirty="0">
                  <a:solidFill>
                    <a:schemeClr val="tx1">
                      <a:lumMod val="90000"/>
                      <a:lumOff val="10000"/>
                    </a:schemeClr>
                  </a:solidFill>
                  <a:latin typeface="Arial" panose="020B0604020202020204" pitchFamily="34" charset="0"/>
                  <a:ea typeface="微软雅黑" panose="020B0503020204020204" pitchFamily="34" charset="-122"/>
                </a:endParaRPr>
              </a:p>
            </p:txBody>
          </p:sp>
          <p:sp>
            <p:nvSpPr>
              <p:cNvPr id="38" name="Body-1">
                <a:extLst>
                  <a:ext uri="{FF2B5EF4-FFF2-40B4-BE49-F238E27FC236}">
                    <a16:creationId xmlns:a16="http://schemas.microsoft.com/office/drawing/2014/main" id="{E76CBA99-8A52-B551-1AE2-ADF620EBA27B}"/>
                  </a:ext>
                </a:extLst>
              </p:cNvPr>
              <p:cNvSpPr txBox="1"/>
              <p:nvPr>
                <p:custDataLst>
                  <p:tags r:id="rId7"/>
                </p:custDataLst>
              </p:nvPr>
            </p:nvSpPr>
            <p:spPr>
              <a:xfrm>
                <a:off x="3238116" y="1754671"/>
                <a:ext cx="4948622" cy="882992"/>
              </a:xfrm>
              <a:prstGeom prst="rect">
                <a:avLst/>
              </a:prstGeom>
              <a:noFill/>
            </p:spPr>
            <p:txBody>
              <a:bodyPr wrap="square" rtlCol="0">
                <a:spAutoFit/>
              </a:bodyPr>
              <a:lstStyle/>
              <a:p>
                <a:pPr marL="342900" indent="-342900" algn="just">
                  <a:lnSpc>
                    <a:spcPct val="120000"/>
                  </a:lnSpc>
                  <a:buFont typeface="+mj-lt"/>
                  <a:buAutoNum type="arabicPeriod"/>
                </a:pPr>
                <a:r>
                  <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rPr>
                  <a:t>消除虚增需求</a:t>
                </a:r>
              </a:p>
              <a:p>
                <a:pPr marL="342900" indent="-342900" algn="just">
                  <a:lnSpc>
                    <a:spcPct val="120000"/>
                  </a:lnSpc>
                  <a:buFont typeface="+mj-lt"/>
                  <a:buAutoNum type="arabicPeriod"/>
                </a:pPr>
                <a:r>
                  <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rPr>
                  <a:t>预测到执行的联动（订单</a:t>
                </a:r>
                <a:r>
                  <a:rPr kumimoji="1" lang="en-US" altLang="zh-CN" sz="1400" dirty="0">
                    <a:solidFill>
                      <a:schemeClr val="tx1">
                        <a:lumMod val="75000"/>
                        <a:lumOff val="25000"/>
                      </a:schemeClr>
                    </a:solidFill>
                    <a:latin typeface="Arial" panose="020B0604020202020204" pitchFamily="34" charset="0"/>
                    <a:ea typeface="微软雅黑" panose="020B0503020204020204" pitchFamily="34" charset="-122"/>
                  </a:rPr>
                  <a:t>-&gt;</a:t>
                </a:r>
                <a:r>
                  <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rPr>
                  <a:t>预测</a:t>
                </a:r>
                <a:r>
                  <a:rPr kumimoji="1" lang="en-US" altLang="zh-CN" sz="1400" dirty="0">
                    <a:solidFill>
                      <a:schemeClr val="tx1">
                        <a:lumMod val="75000"/>
                        <a:lumOff val="25000"/>
                      </a:schemeClr>
                    </a:solidFill>
                    <a:latin typeface="Arial" panose="020B0604020202020204" pitchFamily="34" charset="0"/>
                    <a:ea typeface="微软雅黑" panose="020B0503020204020204" pitchFamily="34" charset="-122"/>
                  </a:rPr>
                  <a:t>-&gt;</a:t>
                </a:r>
                <a:r>
                  <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rPr>
                  <a:t>补货需求）</a:t>
                </a:r>
              </a:p>
              <a:p>
                <a:pPr marL="342900" indent="-342900" algn="just">
                  <a:lnSpc>
                    <a:spcPct val="120000"/>
                  </a:lnSpc>
                  <a:buFont typeface="+mj-lt"/>
                  <a:buAutoNum type="arabicPeriod"/>
                </a:pPr>
                <a:r>
                  <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rPr>
                  <a:t>提升响应精度</a:t>
                </a:r>
              </a:p>
            </p:txBody>
          </p:sp>
        </p:grpSp>
        <p:grpSp>
          <p:nvGrpSpPr>
            <p:cNvPr id="8" name="组合 03">
              <a:extLst>
                <a:ext uri="{FF2B5EF4-FFF2-40B4-BE49-F238E27FC236}">
                  <a16:creationId xmlns:a16="http://schemas.microsoft.com/office/drawing/2014/main" id="{3E2017A2-A015-8DE5-D0B5-C75B5097437C}"/>
                </a:ext>
              </a:extLst>
            </p:cNvPr>
            <p:cNvGrpSpPr/>
            <p:nvPr/>
          </p:nvGrpSpPr>
          <p:grpSpPr>
            <a:xfrm>
              <a:off x="771488" y="3682873"/>
              <a:ext cx="7815299" cy="3101433"/>
              <a:chOff x="771488" y="434089"/>
              <a:chExt cx="7815299" cy="3101433"/>
            </a:xfrm>
          </p:grpSpPr>
          <p:sp>
            <p:nvSpPr>
              <p:cNvPr id="9" name="3">
                <a:extLst>
                  <a:ext uri="{FF2B5EF4-FFF2-40B4-BE49-F238E27FC236}">
                    <a16:creationId xmlns:a16="http://schemas.microsoft.com/office/drawing/2014/main" id="{23BAA1CB-1A8F-F61D-E9E5-933B33F54329}"/>
                  </a:ext>
                </a:extLst>
              </p:cNvPr>
              <p:cNvSpPr/>
              <p:nvPr/>
            </p:nvSpPr>
            <p:spPr>
              <a:xfrm>
                <a:off x="1129113" y="434089"/>
                <a:ext cx="7457674" cy="3101433"/>
              </a:xfrm>
              <a:prstGeom prst="roundRect">
                <a:avLst>
                  <a:gd name="adj" fmla="val 50000"/>
                </a:avLst>
              </a:prstGeom>
              <a:solidFill>
                <a:schemeClr val="bg1"/>
              </a:solidFill>
              <a:ln w="12700">
                <a:solidFill>
                  <a:schemeClr val="accent3">
                    <a:lumMod val="40000"/>
                    <a:lumOff val="60000"/>
                  </a:schemeClr>
                </a:solidFill>
              </a:ln>
              <a:effectLst>
                <a:outerShdw blurRad="279400" dist="76200" dir="2700000" sx="97000" sy="97000" algn="tl" rotWithShape="0">
                  <a:schemeClr val="accent3">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 name="3">
                <a:extLst>
                  <a:ext uri="{FF2B5EF4-FFF2-40B4-BE49-F238E27FC236}">
                    <a16:creationId xmlns:a16="http://schemas.microsoft.com/office/drawing/2014/main" id="{21FA4965-3CDF-45F7-E5AF-46E47227B830}"/>
                  </a:ext>
                </a:extLst>
              </p:cNvPr>
              <p:cNvSpPr/>
              <p:nvPr/>
            </p:nvSpPr>
            <p:spPr>
              <a:xfrm>
                <a:off x="771488" y="1694714"/>
                <a:ext cx="2394384" cy="1360491"/>
              </a:xfrm>
              <a:prstGeom prst="ellipse">
                <a:avLst/>
              </a:prstGeom>
              <a:solidFill>
                <a:schemeClr val="accent3">
                  <a:lumMod val="50000"/>
                  <a:alpha val="35000"/>
                </a:schemeClr>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 name="3">
                <a:extLst>
                  <a:ext uri="{FF2B5EF4-FFF2-40B4-BE49-F238E27FC236}">
                    <a16:creationId xmlns:a16="http://schemas.microsoft.com/office/drawing/2014/main" id="{573EA84F-C808-7640-E811-AB6490C9D229}"/>
                  </a:ext>
                </a:extLst>
              </p:cNvPr>
              <p:cNvSpPr/>
              <p:nvPr/>
            </p:nvSpPr>
            <p:spPr>
              <a:xfrm>
                <a:off x="1089308" y="1681053"/>
                <a:ext cx="1758629" cy="1015368"/>
              </a:xfrm>
              <a:custGeom>
                <a:avLst/>
                <a:gdLst>
                  <a:gd name="connsiteX0" fmla="*/ 1155034 w 1155034"/>
                  <a:gd name="connsiteY0" fmla="*/ 333436 h 666871"/>
                  <a:gd name="connsiteX1" fmla="*/ 577517 w 1155034"/>
                  <a:gd name="connsiteY1" fmla="*/ 666872 h 666871"/>
                  <a:gd name="connsiteX2" fmla="*/ 0 w 1155034"/>
                  <a:gd name="connsiteY2" fmla="*/ 333436 h 666871"/>
                  <a:gd name="connsiteX3" fmla="*/ 577517 w 1155034"/>
                  <a:gd name="connsiteY3" fmla="*/ 0 h 666871"/>
                  <a:gd name="connsiteX4" fmla="*/ 1155034 w 1155034"/>
                  <a:gd name="connsiteY4" fmla="*/ 333436 h 666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034" h="666871">
                    <a:moveTo>
                      <a:pt x="1155034" y="333436"/>
                    </a:moveTo>
                    <a:cubicBezTo>
                      <a:pt x="1155034" y="517588"/>
                      <a:pt x="896471" y="666872"/>
                      <a:pt x="577517" y="666872"/>
                    </a:cubicBezTo>
                    <a:cubicBezTo>
                      <a:pt x="258563" y="666872"/>
                      <a:pt x="0" y="517588"/>
                      <a:pt x="0" y="333436"/>
                    </a:cubicBezTo>
                    <a:cubicBezTo>
                      <a:pt x="0" y="149284"/>
                      <a:pt x="258563" y="0"/>
                      <a:pt x="577517" y="0"/>
                    </a:cubicBezTo>
                    <a:cubicBezTo>
                      <a:pt x="896471" y="0"/>
                      <a:pt x="1155034" y="149284"/>
                      <a:pt x="1155034" y="333436"/>
                    </a:cubicBezTo>
                    <a:close/>
                  </a:path>
                </a:pathLst>
              </a:custGeom>
              <a:solidFill>
                <a:srgbClr val="CCCCCC"/>
              </a:solidFill>
              <a:ln w="2776" cap="flat">
                <a:noFill/>
                <a:prstDash val="solid"/>
                <a:miter/>
              </a:ln>
            </p:spPr>
            <p:txBody>
              <a:bodyPr rtlCol="0" anchor="ctr"/>
              <a:lstStyle/>
              <a:p>
                <a:endParaRPr lang="zh-CN" altLang="en-US"/>
              </a:p>
            </p:txBody>
          </p:sp>
          <p:sp>
            <p:nvSpPr>
              <p:cNvPr id="12" name="3">
                <a:extLst>
                  <a:ext uri="{FF2B5EF4-FFF2-40B4-BE49-F238E27FC236}">
                    <a16:creationId xmlns:a16="http://schemas.microsoft.com/office/drawing/2014/main" id="{23608BAA-CEFA-380B-85A6-285FAB77A9EA}"/>
                  </a:ext>
                </a:extLst>
              </p:cNvPr>
              <p:cNvSpPr/>
              <p:nvPr/>
            </p:nvSpPr>
            <p:spPr>
              <a:xfrm>
                <a:off x="1089308" y="1861565"/>
                <a:ext cx="1758629" cy="834865"/>
              </a:xfrm>
              <a:custGeom>
                <a:avLst/>
                <a:gdLst>
                  <a:gd name="connsiteX0" fmla="*/ 985901 w 1155034"/>
                  <a:gd name="connsiteY0" fmla="*/ 450660 h 548321"/>
                  <a:gd name="connsiteX1" fmla="*/ 169161 w 1155034"/>
                  <a:gd name="connsiteY1" fmla="*/ 450660 h 548321"/>
                  <a:gd name="connsiteX2" fmla="*/ 0 w 1155034"/>
                  <a:gd name="connsiteY2" fmla="*/ 214879 h 548321"/>
                  <a:gd name="connsiteX3" fmla="*/ 0 w 1155034"/>
                  <a:gd name="connsiteY3" fmla="*/ 0 h 548321"/>
                  <a:gd name="connsiteX4" fmla="*/ 1153924 w 1155034"/>
                  <a:gd name="connsiteY4" fmla="*/ 19598 h 548321"/>
                  <a:gd name="connsiteX5" fmla="*/ 1155034 w 1155034"/>
                  <a:gd name="connsiteY5" fmla="*/ 214879 h 548321"/>
                  <a:gd name="connsiteX6" fmla="*/ 985901 w 1155034"/>
                  <a:gd name="connsiteY6" fmla="*/ 450660 h 548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034" h="548321">
                    <a:moveTo>
                      <a:pt x="985901" y="450660"/>
                    </a:moveTo>
                    <a:cubicBezTo>
                      <a:pt x="760363" y="580876"/>
                      <a:pt x="394643" y="580876"/>
                      <a:pt x="169161" y="450660"/>
                    </a:cubicBezTo>
                    <a:cubicBezTo>
                      <a:pt x="56405" y="385539"/>
                      <a:pt x="0" y="300209"/>
                      <a:pt x="0" y="214879"/>
                    </a:cubicBezTo>
                    <a:lnTo>
                      <a:pt x="0" y="0"/>
                    </a:lnTo>
                    <a:lnTo>
                      <a:pt x="1153924" y="19598"/>
                    </a:lnTo>
                    <a:cubicBezTo>
                      <a:pt x="1153924" y="19598"/>
                      <a:pt x="1155034" y="129549"/>
                      <a:pt x="1155034" y="214879"/>
                    </a:cubicBezTo>
                    <a:cubicBezTo>
                      <a:pt x="1155034" y="300209"/>
                      <a:pt x="1098657" y="385539"/>
                      <a:pt x="985901" y="450660"/>
                    </a:cubicBezTo>
                    <a:close/>
                  </a:path>
                </a:pathLst>
              </a:custGeom>
              <a:gradFill>
                <a:gsLst>
                  <a:gs pos="0">
                    <a:schemeClr val="accent3">
                      <a:lumMod val="60000"/>
                      <a:lumOff val="40000"/>
                    </a:schemeClr>
                  </a:gs>
                  <a:gs pos="49000">
                    <a:schemeClr val="accent3"/>
                  </a:gs>
                  <a:gs pos="100000">
                    <a:schemeClr val="accent3">
                      <a:lumMod val="75000"/>
                    </a:schemeClr>
                  </a:gs>
                </a:gsLst>
                <a:lin ang="10795496" scaled="1"/>
              </a:gradFill>
              <a:ln w="2776" cap="flat">
                <a:noFill/>
                <a:prstDash val="solid"/>
                <a:miter/>
              </a:ln>
            </p:spPr>
            <p:txBody>
              <a:bodyPr rtlCol="0" anchor="ctr"/>
              <a:lstStyle/>
              <a:p>
                <a:endParaRPr lang="zh-CN" altLang="en-US"/>
              </a:p>
            </p:txBody>
          </p:sp>
          <p:sp>
            <p:nvSpPr>
              <p:cNvPr id="13" name="3">
                <a:extLst>
                  <a:ext uri="{FF2B5EF4-FFF2-40B4-BE49-F238E27FC236}">
                    <a16:creationId xmlns:a16="http://schemas.microsoft.com/office/drawing/2014/main" id="{A7AD3E14-DBB1-51C9-3783-76455D8B4351}"/>
                  </a:ext>
                </a:extLst>
              </p:cNvPr>
              <p:cNvSpPr/>
              <p:nvPr/>
            </p:nvSpPr>
            <p:spPr>
              <a:xfrm>
                <a:off x="1089308" y="1356164"/>
                <a:ext cx="1758629" cy="1015368"/>
              </a:xfrm>
              <a:custGeom>
                <a:avLst/>
                <a:gdLst>
                  <a:gd name="connsiteX0" fmla="*/ 1155034 w 1155034"/>
                  <a:gd name="connsiteY0" fmla="*/ 333436 h 666871"/>
                  <a:gd name="connsiteX1" fmla="*/ 577517 w 1155034"/>
                  <a:gd name="connsiteY1" fmla="*/ 666872 h 666871"/>
                  <a:gd name="connsiteX2" fmla="*/ 0 w 1155034"/>
                  <a:gd name="connsiteY2" fmla="*/ 333436 h 666871"/>
                  <a:gd name="connsiteX3" fmla="*/ 577517 w 1155034"/>
                  <a:gd name="connsiteY3" fmla="*/ 0 h 666871"/>
                  <a:gd name="connsiteX4" fmla="*/ 1155034 w 1155034"/>
                  <a:gd name="connsiteY4" fmla="*/ 333436 h 666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034" h="666871">
                    <a:moveTo>
                      <a:pt x="1155034" y="333436"/>
                    </a:moveTo>
                    <a:cubicBezTo>
                      <a:pt x="1155034" y="517588"/>
                      <a:pt x="896471" y="666872"/>
                      <a:pt x="577517" y="666872"/>
                    </a:cubicBezTo>
                    <a:cubicBezTo>
                      <a:pt x="258563" y="666872"/>
                      <a:pt x="0" y="517588"/>
                      <a:pt x="0" y="333436"/>
                    </a:cubicBezTo>
                    <a:cubicBezTo>
                      <a:pt x="0" y="149284"/>
                      <a:pt x="258563" y="0"/>
                      <a:pt x="577517" y="0"/>
                    </a:cubicBezTo>
                    <a:cubicBezTo>
                      <a:pt x="896471" y="0"/>
                      <a:pt x="1155034" y="149284"/>
                      <a:pt x="1155034" y="333436"/>
                    </a:cubicBezTo>
                    <a:close/>
                  </a:path>
                </a:pathLst>
              </a:custGeom>
              <a:gradFill>
                <a:gsLst>
                  <a:gs pos="0">
                    <a:schemeClr val="accent3">
                      <a:lumMod val="60000"/>
                      <a:lumOff val="40000"/>
                    </a:schemeClr>
                  </a:gs>
                  <a:gs pos="50000">
                    <a:schemeClr val="accent3"/>
                  </a:gs>
                  <a:gs pos="100000">
                    <a:schemeClr val="accent3">
                      <a:lumMod val="75000"/>
                    </a:schemeClr>
                  </a:gs>
                </a:gsLst>
                <a:lin ang="5386429" scaled="1"/>
              </a:gradFill>
              <a:ln w="2776" cap="flat">
                <a:noFill/>
                <a:prstDash val="solid"/>
                <a:miter/>
              </a:ln>
            </p:spPr>
            <p:txBody>
              <a:bodyPr rtlCol="0" anchor="ctr"/>
              <a:lstStyle/>
              <a:p>
                <a:endParaRPr lang="zh-CN" altLang="en-US"/>
              </a:p>
            </p:txBody>
          </p:sp>
          <p:sp>
            <p:nvSpPr>
              <p:cNvPr id="14" name="3">
                <a:extLst>
                  <a:ext uri="{FF2B5EF4-FFF2-40B4-BE49-F238E27FC236}">
                    <a16:creationId xmlns:a16="http://schemas.microsoft.com/office/drawing/2014/main" id="{4B94F788-FEC6-ED35-24BF-8823194199B1}"/>
                  </a:ext>
                </a:extLst>
              </p:cNvPr>
              <p:cNvSpPr/>
              <p:nvPr/>
            </p:nvSpPr>
            <p:spPr>
              <a:xfrm>
                <a:off x="1089404" y="1356164"/>
                <a:ext cx="1758649" cy="1015327"/>
              </a:xfrm>
              <a:custGeom>
                <a:avLst/>
                <a:gdLst>
                  <a:gd name="connsiteX0" fmla="*/ 577510 w 1155047"/>
                  <a:gd name="connsiteY0" fmla="*/ 13879 h 666844"/>
                  <a:gd name="connsiteX1" fmla="*/ 978899 w 1155047"/>
                  <a:gd name="connsiteY1" fmla="*/ 109674 h 666844"/>
                  <a:gd name="connsiteX2" fmla="*/ 1141093 w 1155047"/>
                  <a:gd name="connsiteY2" fmla="*/ 333436 h 666844"/>
                  <a:gd name="connsiteX3" fmla="*/ 978899 w 1155047"/>
                  <a:gd name="connsiteY3" fmla="*/ 557170 h 666844"/>
                  <a:gd name="connsiteX4" fmla="*/ 577482 w 1155047"/>
                  <a:gd name="connsiteY4" fmla="*/ 652965 h 666844"/>
                  <a:gd name="connsiteX5" fmla="*/ 176038 w 1155047"/>
                  <a:gd name="connsiteY5" fmla="*/ 557170 h 666844"/>
                  <a:gd name="connsiteX6" fmla="*/ 13817 w 1155047"/>
                  <a:gd name="connsiteY6" fmla="*/ 333436 h 666844"/>
                  <a:gd name="connsiteX7" fmla="*/ 176038 w 1155047"/>
                  <a:gd name="connsiteY7" fmla="*/ 109674 h 666844"/>
                  <a:gd name="connsiteX8" fmla="*/ 577510 w 1155047"/>
                  <a:gd name="connsiteY8" fmla="*/ 13879 h 666844"/>
                  <a:gd name="connsiteX9" fmla="*/ 577510 w 1155047"/>
                  <a:gd name="connsiteY9" fmla="*/ 13879 h 666844"/>
                  <a:gd name="connsiteX10" fmla="*/ 577510 w 1155047"/>
                  <a:gd name="connsiteY10" fmla="*/ 0 h 666844"/>
                  <a:gd name="connsiteX11" fmla="*/ 169154 w 1155047"/>
                  <a:gd name="connsiteY11" fmla="*/ 97654 h 666844"/>
                  <a:gd name="connsiteX12" fmla="*/ 169154 w 1155047"/>
                  <a:gd name="connsiteY12" fmla="*/ 569189 h 666844"/>
                  <a:gd name="connsiteX13" fmla="*/ 577538 w 1155047"/>
                  <a:gd name="connsiteY13" fmla="*/ 666844 h 666844"/>
                  <a:gd name="connsiteX14" fmla="*/ 985894 w 1155047"/>
                  <a:gd name="connsiteY14" fmla="*/ 569189 h 666844"/>
                  <a:gd name="connsiteX15" fmla="*/ 985894 w 1155047"/>
                  <a:gd name="connsiteY15" fmla="*/ 97654 h 666844"/>
                  <a:gd name="connsiteX16" fmla="*/ 577510 w 1155047"/>
                  <a:gd name="connsiteY16" fmla="*/ 0 h 666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5047" h="666844">
                    <a:moveTo>
                      <a:pt x="577510" y="13879"/>
                    </a:moveTo>
                    <a:cubicBezTo>
                      <a:pt x="729350" y="13879"/>
                      <a:pt x="871890" y="47911"/>
                      <a:pt x="978899" y="109674"/>
                    </a:cubicBezTo>
                    <a:cubicBezTo>
                      <a:pt x="1083493" y="170077"/>
                      <a:pt x="1141093" y="249522"/>
                      <a:pt x="1141093" y="333436"/>
                    </a:cubicBezTo>
                    <a:cubicBezTo>
                      <a:pt x="1141093" y="417350"/>
                      <a:pt x="1083493" y="496795"/>
                      <a:pt x="978899" y="557170"/>
                    </a:cubicBezTo>
                    <a:cubicBezTo>
                      <a:pt x="871890" y="618961"/>
                      <a:pt x="729322" y="652965"/>
                      <a:pt x="577482" y="652965"/>
                    </a:cubicBezTo>
                    <a:cubicBezTo>
                      <a:pt x="425643" y="652965"/>
                      <a:pt x="283047" y="618961"/>
                      <a:pt x="176038" y="557170"/>
                    </a:cubicBezTo>
                    <a:cubicBezTo>
                      <a:pt x="71444" y="496795"/>
                      <a:pt x="13817" y="417322"/>
                      <a:pt x="13817" y="333436"/>
                    </a:cubicBezTo>
                    <a:cubicBezTo>
                      <a:pt x="13817" y="249550"/>
                      <a:pt x="71444" y="170077"/>
                      <a:pt x="176038" y="109674"/>
                    </a:cubicBezTo>
                    <a:cubicBezTo>
                      <a:pt x="283020" y="47911"/>
                      <a:pt x="425588" y="13879"/>
                      <a:pt x="577510" y="13879"/>
                    </a:cubicBezTo>
                    <a:lnTo>
                      <a:pt x="577510" y="13879"/>
                    </a:lnTo>
                    <a:moveTo>
                      <a:pt x="577510" y="0"/>
                    </a:moveTo>
                    <a:cubicBezTo>
                      <a:pt x="429724" y="0"/>
                      <a:pt x="281909" y="32561"/>
                      <a:pt x="169154" y="97654"/>
                    </a:cubicBezTo>
                    <a:cubicBezTo>
                      <a:pt x="-56385" y="227870"/>
                      <a:pt x="-56385" y="439085"/>
                      <a:pt x="169154" y="569189"/>
                    </a:cubicBezTo>
                    <a:cubicBezTo>
                      <a:pt x="281937" y="634311"/>
                      <a:pt x="429696" y="666844"/>
                      <a:pt x="577538" y="666844"/>
                    </a:cubicBezTo>
                    <a:cubicBezTo>
                      <a:pt x="725380" y="666844"/>
                      <a:pt x="873139" y="634283"/>
                      <a:pt x="985894" y="569189"/>
                    </a:cubicBezTo>
                    <a:cubicBezTo>
                      <a:pt x="1211433" y="438974"/>
                      <a:pt x="1211433" y="227759"/>
                      <a:pt x="985894" y="97654"/>
                    </a:cubicBezTo>
                    <a:cubicBezTo>
                      <a:pt x="873111" y="32533"/>
                      <a:pt x="725325" y="0"/>
                      <a:pt x="577510" y="0"/>
                    </a:cubicBezTo>
                    <a:close/>
                  </a:path>
                </a:pathLst>
              </a:custGeom>
              <a:gradFill>
                <a:gsLst>
                  <a:gs pos="0">
                    <a:schemeClr val="accent3">
                      <a:lumMod val="60000"/>
                      <a:lumOff val="40000"/>
                    </a:schemeClr>
                  </a:gs>
                  <a:gs pos="50000">
                    <a:schemeClr val="accent3"/>
                  </a:gs>
                  <a:gs pos="100000">
                    <a:schemeClr val="accent3">
                      <a:lumMod val="75000"/>
                    </a:schemeClr>
                  </a:gs>
                </a:gsLst>
                <a:lin ang="19800044" scaled="1"/>
              </a:gradFill>
              <a:ln w="2776" cap="flat">
                <a:noFill/>
                <a:prstDash val="solid"/>
                <a:miter/>
              </a:ln>
            </p:spPr>
            <p:txBody>
              <a:bodyPr rtlCol="0" anchor="ctr"/>
              <a:lstStyle/>
              <a:p>
                <a:endParaRPr lang="zh-CN" altLang="en-US"/>
              </a:p>
            </p:txBody>
          </p:sp>
          <p:sp>
            <p:nvSpPr>
              <p:cNvPr id="15" name="3">
                <a:extLst>
                  <a:ext uri="{FF2B5EF4-FFF2-40B4-BE49-F238E27FC236}">
                    <a16:creationId xmlns:a16="http://schemas.microsoft.com/office/drawing/2014/main" id="{F12C0BA6-850C-8F74-733E-E37BBB617A27}"/>
                  </a:ext>
                </a:extLst>
              </p:cNvPr>
              <p:cNvSpPr>
                <a:spLocks/>
              </p:cNvSpPr>
              <p:nvPr/>
            </p:nvSpPr>
            <p:spPr>
              <a:xfrm rot="420000">
                <a:off x="1199932" y="1217632"/>
                <a:ext cx="1548000" cy="1260000"/>
              </a:xfrm>
              <a:prstGeom prst="ellipse">
                <a:avLst/>
              </a:prstGeom>
              <a:noFill/>
              <a:ln w="31750" cap="rnd">
                <a:gradFill flip="none" rotWithShape="1">
                  <a:gsLst>
                    <a:gs pos="0">
                      <a:schemeClr val="bg1"/>
                    </a:gs>
                    <a:gs pos="75000">
                      <a:schemeClr val="bg1">
                        <a:alpha val="0"/>
                      </a:schemeClr>
                    </a:gs>
                  </a:gsLst>
                  <a:lin ang="0" scaled="1"/>
                  <a:tileRect/>
                </a:gradFill>
                <a:prstDash val="dash"/>
                <a:round/>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Index-3">
                <a:extLst>
                  <a:ext uri="{FF2B5EF4-FFF2-40B4-BE49-F238E27FC236}">
                    <a16:creationId xmlns:a16="http://schemas.microsoft.com/office/drawing/2014/main" id="{FE49AD66-7EDF-8F50-AE76-B1533C503B7D}"/>
                  </a:ext>
                </a:extLst>
              </p:cNvPr>
              <p:cNvSpPr txBox="1"/>
              <p:nvPr>
                <p:custDataLst>
                  <p:tags r:id="rId2"/>
                </p:custDataLst>
              </p:nvPr>
            </p:nvSpPr>
            <p:spPr>
              <a:xfrm>
                <a:off x="1217342" y="1502790"/>
                <a:ext cx="1502560" cy="674899"/>
              </a:xfrm>
              <a:prstGeom prst="rect">
                <a:avLst/>
              </a:prstGeom>
              <a:noFill/>
            </p:spPr>
            <p:txBody>
              <a:bodyPr wrap="square" rtlCol="0">
                <a:spAutoFit/>
                <a:scene3d>
                  <a:camera prst="isometricOffAxis2Top">
                    <a:rot lat="19800000" lon="3000000" rev="18000000"/>
                  </a:camera>
                  <a:lightRig rig="threePt" dir="t"/>
                </a:scene3d>
              </a:bodyPr>
              <a:lstStyle/>
              <a:p>
                <a:pPr algn="ctr"/>
                <a:r>
                  <a:rPr kumimoji="1" lang="zh-CN" altLang="en-US" sz="3600" b="1" dirty="0">
                    <a:solidFill>
                      <a:schemeClr val="bg1"/>
                    </a:solidFill>
                    <a:effectLst>
                      <a:outerShdw blurRad="50800" dist="38100" dir="2700000" algn="tl" rotWithShape="0">
                        <a:schemeClr val="accent3">
                          <a:lumMod val="50000"/>
                          <a:alpha val="40000"/>
                        </a:schemeClr>
                      </a:outerShdw>
                    </a:effectLst>
                    <a:latin typeface="Arial" panose="020B0604020202020204" pitchFamily="34" charset="0"/>
                    <a:ea typeface="微软雅黑" panose="020B0503020204020204" pitchFamily="34" charset="-122"/>
                  </a:rPr>
                  <a:t>方案</a:t>
                </a:r>
              </a:p>
            </p:txBody>
          </p:sp>
          <p:sp>
            <p:nvSpPr>
              <p:cNvPr id="17" name="Title-3">
                <a:extLst>
                  <a:ext uri="{FF2B5EF4-FFF2-40B4-BE49-F238E27FC236}">
                    <a16:creationId xmlns:a16="http://schemas.microsoft.com/office/drawing/2014/main" id="{25C70818-4139-028D-EAD6-78BF827ECC02}"/>
                  </a:ext>
                </a:extLst>
              </p:cNvPr>
              <p:cNvSpPr txBox="1"/>
              <p:nvPr>
                <p:custDataLst>
                  <p:tags r:id="rId3"/>
                </p:custDataLst>
              </p:nvPr>
            </p:nvSpPr>
            <p:spPr>
              <a:xfrm>
                <a:off x="3261936" y="626636"/>
                <a:ext cx="1719247" cy="385657"/>
              </a:xfrm>
              <a:prstGeom prst="rect">
                <a:avLst/>
              </a:prstGeom>
              <a:noFill/>
            </p:spPr>
            <p:txBody>
              <a:bodyPr wrap="square" rtlCol="0">
                <a:spAutoFit/>
              </a:bodyPr>
              <a:lstStyle/>
              <a:p>
                <a:r>
                  <a:rPr kumimoji="1" lang="zh-CN" altLang="en-US" b="1" dirty="0">
                    <a:solidFill>
                      <a:schemeClr val="tx1">
                        <a:lumMod val="90000"/>
                        <a:lumOff val="10000"/>
                      </a:schemeClr>
                    </a:solidFill>
                    <a:latin typeface="Arial" panose="020B0604020202020204" pitchFamily="34" charset="0"/>
                    <a:ea typeface="微软雅黑" panose="020B0503020204020204" pitchFamily="34" charset="-122"/>
                  </a:rPr>
                  <a:t>我们的方案</a:t>
                </a:r>
              </a:p>
            </p:txBody>
          </p:sp>
          <p:sp>
            <p:nvSpPr>
              <p:cNvPr id="18" name="Body-3">
                <a:extLst>
                  <a:ext uri="{FF2B5EF4-FFF2-40B4-BE49-F238E27FC236}">
                    <a16:creationId xmlns:a16="http://schemas.microsoft.com/office/drawing/2014/main" id="{B6D713DB-A395-D727-A700-88B79E89FF22}"/>
                  </a:ext>
                </a:extLst>
              </p:cNvPr>
              <p:cNvSpPr txBox="1"/>
              <p:nvPr>
                <p:custDataLst>
                  <p:tags r:id="rId4"/>
                </p:custDataLst>
              </p:nvPr>
            </p:nvSpPr>
            <p:spPr>
              <a:xfrm>
                <a:off x="3077528" y="1032773"/>
                <a:ext cx="4948622" cy="2502749"/>
              </a:xfrm>
              <a:prstGeom prst="rect">
                <a:avLst/>
              </a:prstGeom>
              <a:noFill/>
            </p:spPr>
            <p:txBody>
              <a:bodyPr wrap="square" rtlCol="0">
                <a:spAutoFit/>
              </a:bodyPr>
              <a:lstStyle/>
              <a:p>
                <a:pPr marL="342900" indent="-342900" algn="just">
                  <a:lnSpc>
                    <a:spcPct val="120000"/>
                  </a:lnSpc>
                  <a:buFont typeface="+mj-lt"/>
                  <a:buAutoNum type="arabicPeriod"/>
                </a:pPr>
                <a:r>
                  <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rPr>
                  <a:t>定义产品，客户，地区的需求层级，这个层级意味着预测相对准确，同时资源分配也在这个层级。</a:t>
                </a:r>
              </a:p>
              <a:p>
                <a:pPr marL="342900" indent="-342900" algn="just">
                  <a:lnSpc>
                    <a:spcPct val="120000"/>
                  </a:lnSpc>
                  <a:buFont typeface="+mj-lt"/>
                  <a:buAutoNum type="arabicPeriod"/>
                </a:pPr>
                <a:r>
                  <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rPr>
                  <a:t>定义计划对象，即资源分配的供应链网络节点。</a:t>
                </a:r>
              </a:p>
              <a:p>
                <a:pPr marL="342900" indent="-342900" algn="just">
                  <a:lnSpc>
                    <a:spcPct val="120000"/>
                  </a:lnSpc>
                  <a:buFont typeface="+mj-lt"/>
                  <a:buAutoNum type="arabicPeriod"/>
                </a:pPr>
                <a:r>
                  <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rPr>
                  <a:t>供应链网络节点对应的</a:t>
                </a:r>
                <a:r>
                  <a:rPr kumimoji="1" lang="en-US" altLang="zh-CN" sz="1400" dirty="0">
                    <a:solidFill>
                      <a:schemeClr val="tx1">
                        <a:lumMod val="75000"/>
                        <a:lumOff val="25000"/>
                      </a:schemeClr>
                    </a:solidFill>
                    <a:latin typeface="Arial" panose="020B0604020202020204" pitchFamily="34" charset="0"/>
                    <a:ea typeface="微软雅黑" panose="020B0503020204020204" pitchFamily="34" charset="-122"/>
                  </a:rPr>
                  <a:t>Supply</a:t>
                </a:r>
                <a:r>
                  <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rPr>
                  <a:t>分配给了预测（</a:t>
                </a:r>
                <a:r>
                  <a:rPr kumimoji="1" lang="en-US" altLang="zh-CN" sz="1400" dirty="0">
                    <a:solidFill>
                      <a:schemeClr val="tx1">
                        <a:lumMod val="75000"/>
                        <a:lumOff val="25000"/>
                      </a:schemeClr>
                    </a:solidFill>
                    <a:latin typeface="Arial" panose="020B0604020202020204" pitchFamily="34" charset="0"/>
                    <a:ea typeface="微软雅黑" panose="020B0503020204020204" pitchFamily="34" charset="-122"/>
                  </a:rPr>
                  <a:t>Pegging</a:t>
                </a:r>
                <a:r>
                  <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rPr>
                  <a:t>），计划对象对应的上层祖先们有相应的对应关系及数量和时间转化</a:t>
                </a:r>
              </a:p>
              <a:p>
                <a:pPr marL="342900" indent="-342900" algn="just">
                  <a:lnSpc>
                    <a:spcPct val="120000"/>
                  </a:lnSpc>
                  <a:buFont typeface="+mj-lt"/>
                  <a:buAutoNum type="arabicPeriod"/>
                </a:pPr>
                <a:r>
                  <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rPr>
                  <a:t>订单针对计划对象做冲减。其对应的逻辑是</a:t>
                </a:r>
                <a:r>
                  <a:rPr kumimoji="1" lang="en-US" altLang="zh-CN" sz="1400" dirty="0">
                    <a:solidFill>
                      <a:schemeClr val="tx1">
                        <a:lumMod val="75000"/>
                        <a:lumOff val="25000"/>
                      </a:schemeClr>
                    </a:solidFill>
                    <a:latin typeface="Arial" panose="020B0604020202020204" pitchFamily="34" charset="0"/>
                    <a:ea typeface="微软雅黑" panose="020B0503020204020204" pitchFamily="34" charset="-122"/>
                  </a:rPr>
                  <a:t>Pegging</a:t>
                </a:r>
                <a:r>
                  <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rPr>
                  <a:t>（已分配的资源）是否针对订单可用。</a:t>
                </a:r>
              </a:p>
              <a:p>
                <a:pPr marL="342900" indent="-342900" algn="just">
                  <a:lnSpc>
                    <a:spcPct val="120000"/>
                  </a:lnSpc>
                  <a:buFont typeface="+mj-lt"/>
                  <a:buAutoNum type="arabicPeriod"/>
                </a:pPr>
                <a:r>
                  <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rPr>
                  <a:t>冲减的规则：</a:t>
                </a:r>
                <a:r>
                  <a:rPr kumimoji="1" lang="en-US" altLang="zh-CN" sz="1400" dirty="0">
                    <a:solidFill>
                      <a:schemeClr val="tx1">
                        <a:lumMod val="75000"/>
                        <a:lumOff val="25000"/>
                      </a:schemeClr>
                    </a:solidFill>
                    <a:latin typeface="Arial" panose="020B0604020202020204" pitchFamily="34" charset="0"/>
                    <a:ea typeface="微软雅黑" panose="020B0503020204020204" pitchFamily="34" charset="-122"/>
                  </a:rPr>
                  <a:t>Forward, Backward, Hybrid</a:t>
                </a:r>
                <a:endParaRPr kumimoji="1" lang="zh-CN" altLang="en-US" sz="1400" dirty="0">
                  <a:solidFill>
                    <a:schemeClr val="tx1">
                      <a:lumMod val="75000"/>
                      <a:lumOff val="25000"/>
                    </a:schemeClr>
                  </a:solidFill>
                  <a:latin typeface="Arial" panose="020B0604020202020204" pitchFamily="34" charset="0"/>
                  <a:ea typeface="微软雅黑" panose="020B0503020204020204" pitchFamily="34" charset="-122"/>
                </a:endParaRPr>
              </a:p>
            </p:txBody>
          </p:sp>
        </p:grpSp>
      </p:grpSp>
    </p:spTree>
    <p:extLst>
      <p:ext uri="{BB962C8B-B14F-4D97-AF65-F5344CB8AC3E}">
        <p14:creationId xmlns:p14="http://schemas.microsoft.com/office/powerpoint/2010/main" val="3004254261"/>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9E622F5-A516-E6EF-09F9-6DD2FF4DDACF}"/>
              </a:ext>
            </a:extLst>
          </p:cNvPr>
          <p:cNvSpPr>
            <a:spLocks noGrp="1"/>
          </p:cNvSpPr>
          <p:nvPr>
            <p:ph type="title"/>
          </p:nvPr>
        </p:nvSpPr>
        <p:spPr/>
        <p:txBody>
          <a:bodyPr>
            <a:normAutofit fontScale="90000"/>
          </a:bodyPr>
          <a:lstStyle/>
          <a:p>
            <a:r>
              <a:rPr lang="en-US" altLang="zh-CN" dirty="0">
                <a:ea typeface="微软雅黑" panose="020B0503020204020204" pitchFamily="34" charset="-122"/>
              </a:rPr>
              <a:t>Planning BOM – </a:t>
            </a:r>
            <a:r>
              <a:rPr lang="zh-CN" altLang="en-US" dirty="0">
                <a:ea typeface="微软雅黑" panose="020B0503020204020204" pitchFamily="34" charset="-122"/>
              </a:rPr>
              <a:t>传统做法</a:t>
            </a:r>
          </a:p>
        </p:txBody>
      </p:sp>
      <p:sp>
        <p:nvSpPr>
          <p:cNvPr id="4" name="矩形: 圆角 3">
            <a:extLst>
              <a:ext uri="{FF2B5EF4-FFF2-40B4-BE49-F238E27FC236}">
                <a16:creationId xmlns:a16="http://schemas.microsoft.com/office/drawing/2014/main" id="{F4395D37-7DD2-09BE-EA4A-5AC5385870B4}"/>
              </a:ext>
            </a:extLst>
          </p:cNvPr>
          <p:cNvSpPr/>
          <p:nvPr/>
        </p:nvSpPr>
        <p:spPr>
          <a:xfrm>
            <a:off x="4998720" y="790209"/>
            <a:ext cx="900000" cy="360000"/>
          </a:xfrm>
          <a:prstGeom prst="roundRect">
            <a:avLst/>
          </a:prstGeom>
          <a:solidFill>
            <a:srgbClr val="00B7F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r>
              <a:rPr lang="en-US" altLang="zh-CN" sz="1100" b="1" dirty="0">
                <a:solidFill>
                  <a:schemeClr val="tx1"/>
                </a:solidFill>
                <a:latin typeface="Arial" panose="020B0604020202020204" pitchFamily="34" charset="0"/>
                <a:ea typeface="微软雅黑" panose="020B0503020204020204" pitchFamily="34" charset="-122"/>
              </a:rPr>
              <a:t>Family X</a:t>
            </a:r>
            <a:endParaRPr kumimoji="0" lang="zh-CN" altLang="en-US"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5" name="矩形: 圆角 4">
            <a:extLst>
              <a:ext uri="{FF2B5EF4-FFF2-40B4-BE49-F238E27FC236}">
                <a16:creationId xmlns:a16="http://schemas.microsoft.com/office/drawing/2014/main" id="{C240A98D-99F1-F5CC-3499-71B506D3C89A}"/>
              </a:ext>
            </a:extLst>
          </p:cNvPr>
          <p:cNvSpPr/>
          <p:nvPr/>
        </p:nvSpPr>
        <p:spPr>
          <a:xfrm>
            <a:off x="2898480" y="1570280"/>
            <a:ext cx="900000" cy="360000"/>
          </a:xfrm>
          <a:prstGeom prst="round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r>
              <a:rPr lang="en-US" altLang="zh-CN" sz="1100" b="1" dirty="0">
                <a:solidFill>
                  <a:schemeClr val="tx1"/>
                </a:solidFill>
                <a:latin typeface="Arial" panose="020B0604020202020204" pitchFamily="34" charset="0"/>
                <a:ea typeface="微软雅黑" panose="020B0503020204020204" pitchFamily="34" charset="-122"/>
              </a:rPr>
              <a:t>Option A</a:t>
            </a:r>
            <a:endParaRPr kumimoji="0" lang="zh-CN" altLang="en-US"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6" name="矩形: 圆角 5">
            <a:extLst>
              <a:ext uri="{FF2B5EF4-FFF2-40B4-BE49-F238E27FC236}">
                <a16:creationId xmlns:a16="http://schemas.microsoft.com/office/drawing/2014/main" id="{0EFEA7EC-54D6-8FA4-D661-CC3932C0A925}"/>
              </a:ext>
            </a:extLst>
          </p:cNvPr>
          <p:cNvSpPr/>
          <p:nvPr/>
        </p:nvSpPr>
        <p:spPr>
          <a:xfrm>
            <a:off x="4221901" y="1586680"/>
            <a:ext cx="900000" cy="360000"/>
          </a:xfrm>
          <a:prstGeom prst="round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Arial" panose="020B0604020202020204" pitchFamily="34" charset="0"/>
                <a:ea typeface="微软雅黑" panose="020B0503020204020204" pitchFamily="34" charset="-122"/>
              </a:rPr>
              <a:t>Option B</a:t>
            </a:r>
            <a:endParaRPr lang="zh-CN" altLang="en-US" sz="1100" b="1" dirty="0">
              <a:solidFill>
                <a:schemeClr val="tx1"/>
              </a:solidFill>
              <a:latin typeface="Arial" panose="020B0604020202020204" pitchFamily="34" charset="0"/>
              <a:ea typeface="微软雅黑" panose="020B0503020204020204" pitchFamily="34" charset="-122"/>
            </a:endParaRPr>
          </a:p>
        </p:txBody>
      </p:sp>
      <p:sp>
        <p:nvSpPr>
          <p:cNvPr id="7" name="矩形: 圆角 6">
            <a:extLst>
              <a:ext uri="{FF2B5EF4-FFF2-40B4-BE49-F238E27FC236}">
                <a16:creationId xmlns:a16="http://schemas.microsoft.com/office/drawing/2014/main" id="{A950F192-7B0D-AE40-8321-49DFF09FC06A}"/>
              </a:ext>
            </a:extLst>
          </p:cNvPr>
          <p:cNvSpPr/>
          <p:nvPr/>
        </p:nvSpPr>
        <p:spPr>
          <a:xfrm>
            <a:off x="5591851" y="1586680"/>
            <a:ext cx="900000" cy="360000"/>
          </a:xfrm>
          <a:prstGeom prst="round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Arial" panose="020B0604020202020204" pitchFamily="34" charset="0"/>
                <a:ea typeface="微软雅黑" panose="020B0503020204020204" pitchFamily="34" charset="-122"/>
              </a:rPr>
              <a:t>Option C</a:t>
            </a:r>
            <a:endParaRPr lang="zh-CN" altLang="en-US" sz="1100" b="1" dirty="0">
              <a:solidFill>
                <a:schemeClr val="tx1"/>
              </a:solidFill>
              <a:latin typeface="Arial" panose="020B0604020202020204" pitchFamily="34" charset="0"/>
              <a:ea typeface="微软雅黑" panose="020B0503020204020204" pitchFamily="34" charset="-122"/>
            </a:endParaRPr>
          </a:p>
        </p:txBody>
      </p:sp>
      <p:sp>
        <p:nvSpPr>
          <p:cNvPr id="8" name="矩形: 圆角 7">
            <a:extLst>
              <a:ext uri="{FF2B5EF4-FFF2-40B4-BE49-F238E27FC236}">
                <a16:creationId xmlns:a16="http://schemas.microsoft.com/office/drawing/2014/main" id="{F181E01E-54D6-E27A-8D4F-351562976E87}"/>
              </a:ext>
            </a:extLst>
          </p:cNvPr>
          <p:cNvSpPr/>
          <p:nvPr/>
        </p:nvSpPr>
        <p:spPr>
          <a:xfrm>
            <a:off x="6961801" y="1588932"/>
            <a:ext cx="900000" cy="360000"/>
          </a:xfrm>
          <a:prstGeom prst="round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Arial" panose="020B0604020202020204" pitchFamily="34" charset="0"/>
                <a:ea typeface="微软雅黑" panose="020B0503020204020204" pitchFamily="34" charset="-122"/>
              </a:rPr>
              <a:t>Option D</a:t>
            </a:r>
            <a:endParaRPr lang="zh-CN" altLang="en-US" sz="1100" b="1" dirty="0">
              <a:solidFill>
                <a:schemeClr val="tx1"/>
              </a:solidFill>
              <a:latin typeface="Arial" panose="020B0604020202020204" pitchFamily="34" charset="0"/>
              <a:ea typeface="微软雅黑" panose="020B0503020204020204" pitchFamily="34" charset="-122"/>
            </a:endParaRPr>
          </a:p>
        </p:txBody>
      </p:sp>
      <p:sp>
        <p:nvSpPr>
          <p:cNvPr id="9" name="矩形: 圆角 8">
            <a:extLst>
              <a:ext uri="{FF2B5EF4-FFF2-40B4-BE49-F238E27FC236}">
                <a16:creationId xmlns:a16="http://schemas.microsoft.com/office/drawing/2014/main" id="{8B5710B9-210E-645F-6EB5-B84003DA8B77}"/>
              </a:ext>
            </a:extLst>
          </p:cNvPr>
          <p:cNvSpPr/>
          <p:nvPr/>
        </p:nvSpPr>
        <p:spPr>
          <a:xfrm>
            <a:off x="8285222" y="1586680"/>
            <a:ext cx="900000" cy="360000"/>
          </a:xfrm>
          <a:prstGeom prst="round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Arial" panose="020B0604020202020204" pitchFamily="34" charset="0"/>
                <a:ea typeface="微软雅黑" panose="020B0503020204020204" pitchFamily="34" charset="-122"/>
              </a:rPr>
              <a:t>Option E</a:t>
            </a:r>
            <a:endParaRPr lang="zh-CN" altLang="en-US" sz="1100" b="1" dirty="0">
              <a:solidFill>
                <a:schemeClr val="tx1"/>
              </a:solidFill>
              <a:latin typeface="Arial" panose="020B0604020202020204" pitchFamily="34" charset="0"/>
              <a:ea typeface="微软雅黑" panose="020B0503020204020204" pitchFamily="34" charset="-122"/>
            </a:endParaRPr>
          </a:p>
        </p:txBody>
      </p:sp>
      <p:sp>
        <p:nvSpPr>
          <p:cNvPr id="10" name="矩形: 圆角 9">
            <a:extLst>
              <a:ext uri="{FF2B5EF4-FFF2-40B4-BE49-F238E27FC236}">
                <a16:creationId xmlns:a16="http://schemas.microsoft.com/office/drawing/2014/main" id="{9DE7A940-9BBD-0368-1C91-03EDDE8D8748}"/>
              </a:ext>
            </a:extLst>
          </p:cNvPr>
          <p:cNvSpPr/>
          <p:nvPr/>
        </p:nvSpPr>
        <p:spPr>
          <a:xfrm>
            <a:off x="1473540" y="1570280"/>
            <a:ext cx="900000" cy="360000"/>
          </a:xfrm>
          <a:prstGeom prst="round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r>
              <a:rPr kumimoji="0" lang="en-US" altLang="zh-CN"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Common</a:t>
            </a:r>
            <a:endParaRPr kumimoji="0" lang="zh-CN" altLang="en-US"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graphicFrame>
        <p:nvGraphicFramePr>
          <p:cNvPr id="12" name="表格 11">
            <a:extLst>
              <a:ext uri="{FF2B5EF4-FFF2-40B4-BE49-F238E27FC236}">
                <a16:creationId xmlns:a16="http://schemas.microsoft.com/office/drawing/2014/main" id="{70C52589-2718-8C09-7E02-29BB5D0AC601}"/>
              </a:ext>
            </a:extLst>
          </p:cNvPr>
          <p:cNvGraphicFramePr>
            <a:graphicFrameLocks noGrp="1"/>
          </p:cNvGraphicFramePr>
          <p:nvPr>
            <p:extLst>
              <p:ext uri="{D42A27DB-BD31-4B8C-83A1-F6EECF244321}">
                <p14:modId xmlns:p14="http://schemas.microsoft.com/office/powerpoint/2010/main" val="2436226010"/>
              </p:ext>
            </p:extLst>
          </p:nvPr>
        </p:nvGraphicFramePr>
        <p:xfrm>
          <a:off x="3082245" y="2301361"/>
          <a:ext cx="441030" cy="2966720"/>
        </p:xfrm>
        <a:graphic>
          <a:graphicData uri="http://schemas.openxmlformats.org/drawingml/2006/table">
            <a:tbl>
              <a:tblPr bandRow="1">
                <a:tableStyleId>{5C22544A-7EE6-4342-B048-85BDC9FD1C3A}</a:tableStyleId>
              </a:tblPr>
              <a:tblGrid>
                <a:gridCol w="441030">
                  <a:extLst>
                    <a:ext uri="{9D8B030D-6E8A-4147-A177-3AD203B41FA5}">
                      <a16:colId xmlns:a16="http://schemas.microsoft.com/office/drawing/2014/main" val="555416949"/>
                    </a:ext>
                  </a:extLst>
                </a:gridCol>
              </a:tblGrid>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76717292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76655670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82851647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1809941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50912049"/>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514358876"/>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3607049304"/>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189555539"/>
                  </a:ext>
                </a:extLst>
              </a:tr>
            </a:tbl>
          </a:graphicData>
        </a:graphic>
      </p:graphicFrame>
      <p:sp>
        <p:nvSpPr>
          <p:cNvPr id="13" name="文本框 12">
            <a:extLst>
              <a:ext uri="{FF2B5EF4-FFF2-40B4-BE49-F238E27FC236}">
                <a16:creationId xmlns:a16="http://schemas.microsoft.com/office/drawing/2014/main" id="{3DF6D80F-1A73-0C14-A5FF-30DB4176121D}"/>
              </a:ext>
            </a:extLst>
          </p:cNvPr>
          <p:cNvSpPr txBox="1"/>
          <p:nvPr/>
        </p:nvSpPr>
        <p:spPr>
          <a:xfrm>
            <a:off x="3086100" y="2019300"/>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A1</a:t>
            </a:r>
            <a:endParaRPr lang="zh-CN" altLang="en-US" sz="1100" b="1" dirty="0">
              <a:latin typeface="Arial" panose="020B0604020202020204" pitchFamily="34" charset="0"/>
              <a:ea typeface="微软雅黑" panose="020B0503020204020204" pitchFamily="34" charset="-122"/>
            </a:endParaRPr>
          </a:p>
        </p:txBody>
      </p:sp>
      <p:sp>
        <p:nvSpPr>
          <p:cNvPr id="14" name="文本框 13">
            <a:extLst>
              <a:ext uri="{FF2B5EF4-FFF2-40B4-BE49-F238E27FC236}">
                <a16:creationId xmlns:a16="http://schemas.microsoft.com/office/drawing/2014/main" id="{FFCECF2D-DB48-4522-8308-33D8CBEC6BA7}"/>
              </a:ext>
            </a:extLst>
          </p:cNvPr>
          <p:cNvSpPr txBox="1"/>
          <p:nvPr/>
        </p:nvSpPr>
        <p:spPr>
          <a:xfrm>
            <a:off x="3086100" y="5288532"/>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A8</a:t>
            </a:r>
            <a:endParaRPr lang="zh-CN" altLang="en-US" sz="1100" b="1" dirty="0">
              <a:latin typeface="Arial" panose="020B0604020202020204" pitchFamily="34" charset="0"/>
              <a:ea typeface="微软雅黑" panose="020B0503020204020204" pitchFamily="34" charset="-122"/>
            </a:endParaRPr>
          </a:p>
        </p:txBody>
      </p:sp>
      <p:graphicFrame>
        <p:nvGraphicFramePr>
          <p:cNvPr id="15" name="表格 14">
            <a:extLst>
              <a:ext uri="{FF2B5EF4-FFF2-40B4-BE49-F238E27FC236}">
                <a16:creationId xmlns:a16="http://schemas.microsoft.com/office/drawing/2014/main" id="{50D5BF15-BA74-CC76-8FB8-8B26A8D5E18B}"/>
              </a:ext>
            </a:extLst>
          </p:cNvPr>
          <p:cNvGraphicFramePr>
            <a:graphicFrameLocks noGrp="1"/>
          </p:cNvGraphicFramePr>
          <p:nvPr>
            <p:extLst>
              <p:ext uri="{D42A27DB-BD31-4B8C-83A1-F6EECF244321}">
                <p14:modId xmlns:p14="http://schemas.microsoft.com/office/powerpoint/2010/main" val="3205899238"/>
              </p:ext>
            </p:extLst>
          </p:nvPr>
        </p:nvGraphicFramePr>
        <p:xfrm>
          <a:off x="4438605" y="2321812"/>
          <a:ext cx="441030" cy="2225040"/>
        </p:xfrm>
        <a:graphic>
          <a:graphicData uri="http://schemas.openxmlformats.org/drawingml/2006/table">
            <a:tbl>
              <a:tblPr bandRow="1">
                <a:tableStyleId>{5C22544A-7EE6-4342-B048-85BDC9FD1C3A}</a:tableStyleId>
              </a:tblPr>
              <a:tblGrid>
                <a:gridCol w="441030">
                  <a:extLst>
                    <a:ext uri="{9D8B030D-6E8A-4147-A177-3AD203B41FA5}">
                      <a16:colId xmlns:a16="http://schemas.microsoft.com/office/drawing/2014/main" val="555416949"/>
                    </a:ext>
                  </a:extLst>
                </a:gridCol>
              </a:tblGrid>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76717292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76655670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82851647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1809941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50912049"/>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514358876"/>
                  </a:ext>
                </a:extLst>
              </a:tr>
            </a:tbl>
          </a:graphicData>
        </a:graphic>
      </p:graphicFrame>
      <p:sp>
        <p:nvSpPr>
          <p:cNvPr id="16" name="文本框 15">
            <a:extLst>
              <a:ext uri="{FF2B5EF4-FFF2-40B4-BE49-F238E27FC236}">
                <a16:creationId xmlns:a16="http://schemas.microsoft.com/office/drawing/2014/main" id="{DA1D961C-0974-EA5B-07DB-6ED43F2BE5CF}"/>
              </a:ext>
            </a:extLst>
          </p:cNvPr>
          <p:cNvSpPr txBox="1"/>
          <p:nvPr/>
        </p:nvSpPr>
        <p:spPr>
          <a:xfrm>
            <a:off x="4481821" y="4645386"/>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B6</a:t>
            </a:r>
            <a:endParaRPr lang="zh-CN" altLang="en-US" sz="1100" b="1" dirty="0">
              <a:latin typeface="Arial" panose="020B0604020202020204" pitchFamily="34" charset="0"/>
              <a:ea typeface="微软雅黑" panose="020B0503020204020204" pitchFamily="34" charset="-122"/>
            </a:endParaRPr>
          </a:p>
        </p:txBody>
      </p:sp>
      <p:sp>
        <p:nvSpPr>
          <p:cNvPr id="17" name="文本框 16">
            <a:extLst>
              <a:ext uri="{FF2B5EF4-FFF2-40B4-BE49-F238E27FC236}">
                <a16:creationId xmlns:a16="http://schemas.microsoft.com/office/drawing/2014/main" id="{4000AEA1-2F7F-DF58-F18C-886B81507D04}"/>
              </a:ext>
            </a:extLst>
          </p:cNvPr>
          <p:cNvSpPr txBox="1"/>
          <p:nvPr/>
        </p:nvSpPr>
        <p:spPr>
          <a:xfrm>
            <a:off x="4442460" y="2019300"/>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B1</a:t>
            </a:r>
            <a:endParaRPr lang="zh-CN" altLang="en-US" sz="1100" b="1" dirty="0">
              <a:latin typeface="Arial" panose="020B0604020202020204" pitchFamily="34" charset="0"/>
              <a:ea typeface="微软雅黑" panose="020B0503020204020204" pitchFamily="34" charset="-122"/>
            </a:endParaRPr>
          </a:p>
        </p:txBody>
      </p:sp>
      <p:graphicFrame>
        <p:nvGraphicFramePr>
          <p:cNvPr id="18" name="表格 17">
            <a:extLst>
              <a:ext uri="{FF2B5EF4-FFF2-40B4-BE49-F238E27FC236}">
                <a16:creationId xmlns:a16="http://schemas.microsoft.com/office/drawing/2014/main" id="{D182E67D-49AA-EDEE-01E6-0EA22C33C488}"/>
              </a:ext>
            </a:extLst>
          </p:cNvPr>
          <p:cNvGraphicFramePr>
            <a:graphicFrameLocks noGrp="1"/>
          </p:cNvGraphicFramePr>
          <p:nvPr>
            <p:extLst>
              <p:ext uri="{D42A27DB-BD31-4B8C-83A1-F6EECF244321}">
                <p14:modId xmlns:p14="http://schemas.microsoft.com/office/powerpoint/2010/main" val="213566333"/>
              </p:ext>
            </p:extLst>
          </p:nvPr>
        </p:nvGraphicFramePr>
        <p:xfrm>
          <a:off x="5822941" y="2301361"/>
          <a:ext cx="441030" cy="3708400"/>
        </p:xfrm>
        <a:graphic>
          <a:graphicData uri="http://schemas.openxmlformats.org/drawingml/2006/table">
            <a:tbl>
              <a:tblPr bandRow="1">
                <a:tableStyleId>{5C22544A-7EE6-4342-B048-85BDC9FD1C3A}</a:tableStyleId>
              </a:tblPr>
              <a:tblGrid>
                <a:gridCol w="441030">
                  <a:extLst>
                    <a:ext uri="{9D8B030D-6E8A-4147-A177-3AD203B41FA5}">
                      <a16:colId xmlns:a16="http://schemas.microsoft.com/office/drawing/2014/main" val="555416949"/>
                    </a:ext>
                  </a:extLst>
                </a:gridCol>
              </a:tblGrid>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76717292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76655670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82851647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1809941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50912049"/>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514358876"/>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3607049304"/>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189555539"/>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3032759653"/>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956814356"/>
                  </a:ext>
                </a:extLst>
              </a:tr>
            </a:tbl>
          </a:graphicData>
        </a:graphic>
      </p:graphicFrame>
      <p:sp>
        <p:nvSpPr>
          <p:cNvPr id="19" name="文本框 18">
            <a:extLst>
              <a:ext uri="{FF2B5EF4-FFF2-40B4-BE49-F238E27FC236}">
                <a16:creationId xmlns:a16="http://schemas.microsoft.com/office/drawing/2014/main" id="{3DDE29C7-0F01-8DAD-6E80-4C197B3E4E77}"/>
              </a:ext>
            </a:extLst>
          </p:cNvPr>
          <p:cNvSpPr txBox="1"/>
          <p:nvPr/>
        </p:nvSpPr>
        <p:spPr>
          <a:xfrm>
            <a:off x="5826796" y="2019300"/>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C1</a:t>
            </a:r>
            <a:endParaRPr lang="zh-CN" altLang="en-US" sz="1100" b="1" dirty="0">
              <a:latin typeface="Arial" panose="020B0604020202020204" pitchFamily="34" charset="0"/>
              <a:ea typeface="微软雅黑" panose="020B0503020204020204" pitchFamily="34" charset="-122"/>
            </a:endParaRPr>
          </a:p>
        </p:txBody>
      </p:sp>
      <p:sp>
        <p:nvSpPr>
          <p:cNvPr id="20" name="文本框 19">
            <a:extLst>
              <a:ext uri="{FF2B5EF4-FFF2-40B4-BE49-F238E27FC236}">
                <a16:creationId xmlns:a16="http://schemas.microsoft.com/office/drawing/2014/main" id="{62498F08-47D5-9CDE-9DCE-0292498C1759}"/>
              </a:ext>
            </a:extLst>
          </p:cNvPr>
          <p:cNvSpPr txBox="1"/>
          <p:nvPr/>
        </p:nvSpPr>
        <p:spPr>
          <a:xfrm>
            <a:off x="5826796" y="6009761"/>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C10</a:t>
            </a:r>
            <a:endParaRPr lang="zh-CN" altLang="en-US" sz="1100" b="1" dirty="0">
              <a:latin typeface="Arial" panose="020B0604020202020204" pitchFamily="34" charset="0"/>
              <a:ea typeface="微软雅黑" panose="020B0503020204020204" pitchFamily="34" charset="-122"/>
            </a:endParaRPr>
          </a:p>
        </p:txBody>
      </p:sp>
      <p:graphicFrame>
        <p:nvGraphicFramePr>
          <p:cNvPr id="21" name="表格 20">
            <a:extLst>
              <a:ext uri="{FF2B5EF4-FFF2-40B4-BE49-F238E27FC236}">
                <a16:creationId xmlns:a16="http://schemas.microsoft.com/office/drawing/2014/main" id="{BA8EB21B-A468-FC3A-18CA-77559C95702C}"/>
              </a:ext>
            </a:extLst>
          </p:cNvPr>
          <p:cNvGraphicFramePr>
            <a:graphicFrameLocks noGrp="1"/>
          </p:cNvGraphicFramePr>
          <p:nvPr>
            <p:extLst>
              <p:ext uri="{D42A27DB-BD31-4B8C-83A1-F6EECF244321}">
                <p14:modId xmlns:p14="http://schemas.microsoft.com/office/powerpoint/2010/main" val="1146721632"/>
              </p:ext>
            </p:extLst>
          </p:nvPr>
        </p:nvGraphicFramePr>
        <p:xfrm>
          <a:off x="7179301" y="2321812"/>
          <a:ext cx="441030" cy="1483360"/>
        </p:xfrm>
        <a:graphic>
          <a:graphicData uri="http://schemas.openxmlformats.org/drawingml/2006/table">
            <a:tbl>
              <a:tblPr bandRow="1">
                <a:tableStyleId>{5C22544A-7EE6-4342-B048-85BDC9FD1C3A}</a:tableStyleId>
              </a:tblPr>
              <a:tblGrid>
                <a:gridCol w="441030">
                  <a:extLst>
                    <a:ext uri="{9D8B030D-6E8A-4147-A177-3AD203B41FA5}">
                      <a16:colId xmlns:a16="http://schemas.microsoft.com/office/drawing/2014/main" val="555416949"/>
                    </a:ext>
                  </a:extLst>
                </a:gridCol>
              </a:tblGrid>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76717292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76655670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82851647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18099417"/>
                  </a:ext>
                </a:extLst>
              </a:tr>
            </a:tbl>
          </a:graphicData>
        </a:graphic>
      </p:graphicFrame>
      <p:sp>
        <p:nvSpPr>
          <p:cNvPr id="22" name="文本框 21">
            <a:extLst>
              <a:ext uri="{FF2B5EF4-FFF2-40B4-BE49-F238E27FC236}">
                <a16:creationId xmlns:a16="http://schemas.microsoft.com/office/drawing/2014/main" id="{CB3FF08B-718B-7BC8-8115-ADAE18D4512F}"/>
              </a:ext>
            </a:extLst>
          </p:cNvPr>
          <p:cNvSpPr txBox="1"/>
          <p:nvPr/>
        </p:nvSpPr>
        <p:spPr>
          <a:xfrm>
            <a:off x="7202492" y="3846074"/>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D4</a:t>
            </a:r>
            <a:endParaRPr lang="zh-CN" altLang="en-US" sz="1100" b="1" dirty="0">
              <a:latin typeface="Arial" panose="020B0604020202020204" pitchFamily="34" charset="0"/>
              <a:ea typeface="微软雅黑" panose="020B0503020204020204" pitchFamily="34" charset="-122"/>
            </a:endParaRPr>
          </a:p>
        </p:txBody>
      </p:sp>
      <p:sp>
        <p:nvSpPr>
          <p:cNvPr id="23" name="文本框 22">
            <a:extLst>
              <a:ext uri="{FF2B5EF4-FFF2-40B4-BE49-F238E27FC236}">
                <a16:creationId xmlns:a16="http://schemas.microsoft.com/office/drawing/2014/main" id="{F24C73CB-21A7-DA3D-4A79-B8E6EA6DBAAA}"/>
              </a:ext>
            </a:extLst>
          </p:cNvPr>
          <p:cNvSpPr txBox="1"/>
          <p:nvPr/>
        </p:nvSpPr>
        <p:spPr>
          <a:xfrm>
            <a:off x="7207608" y="2019300"/>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D1</a:t>
            </a:r>
            <a:endParaRPr lang="zh-CN" altLang="en-US" sz="1100" b="1" dirty="0">
              <a:latin typeface="Arial" panose="020B0604020202020204" pitchFamily="34" charset="0"/>
              <a:ea typeface="微软雅黑" panose="020B0503020204020204" pitchFamily="34" charset="-122"/>
            </a:endParaRPr>
          </a:p>
        </p:txBody>
      </p:sp>
      <p:graphicFrame>
        <p:nvGraphicFramePr>
          <p:cNvPr id="24" name="表格 23">
            <a:extLst>
              <a:ext uri="{FF2B5EF4-FFF2-40B4-BE49-F238E27FC236}">
                <a16:creationId xmlns:a16="http://schemas.microsoft.com/office/drawing/2014/main" id="{4FA8A201-AEFD-EDBC-014D-6533FA16AD7B}"/>
              </a:ext>
            </a:extLst>
          </p:cNvPr>
          <p:cNvGraphicFramePr>
            <a:graphicFrameLocks noGrp="1"/>
          </p:cNvGraphicFramePr>
          <p:nvPr>
            <p:extLst>
              <p:ext uri="{D42A27DB-BD31-4B8C-83A1-F6EECF244321}">
                <p14:modId xmlns:p14="http://schemas.microsoft.com/office/powerpoint/2010/main" val="3634443557"/>
              </p:ext>
            </p:extLst>
          </p:nvPr>
        </p:nvGraphicFramePr>
        <p:xfrm>
          <a:off x="8535661" y="2321812"/>
          <a:ext cx="441030" cy="741680"/>
        </p:xfrm>
        <a:graphic>
          <a:graphicData uri="http://schemas.openxmlformats.org/drawingml/2006/table">
            <a:tbl>
              <a:tblPr bandRow="1">
                <a:tableStyleId>{5C22544A-7EE6-4342-B048-85BDC9FD1C3A}</a:tableStyleId>
              </a:tblPr>
              <a:tblGrid>
                <a:gridCol w="441030">
                  <a:extLst>
                    <a:ext uri="{9D8B030D-6E8A-4147-A177-3AD203B41FA5}">
                      <a16:colId xmlns:a16="http://schemas.microsoft.com/office/drawing/2014/main" val="555416949"/>
                    </a:ext>
                  </a:extLst>
                </a:gridCol>
              </a:tblGrid>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76717292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766556700"/>
                  </a:ext>
                </a:extLst>
              </a:tr>
            </a:tbl>
          </a:graphicData>
        </a:graphic>
      </p:graphicFrame>
      <p:sp>
        <p:nvSpPr>
          <p:cNvPr id="25" name="文本框 24">
            <a:extLst>
              <a:ext uri="{FF2B5EF4-FFF2-40B4-BE49-F238E27FC236}">
                <a16:creationId xmlns:a16="http://schemas.microsoft.com/office/drawing/2014/main" id="{89C6A885-2B7E-8417-3796-80D5B0554E35}"/>
              </a:ext>
            </a:extLst>
          </p:cNvPr>
          <p:cNvSpPr txBox="1"/>
          <p:nvPr/>
        </p:nvSpPr>
        <p:spPr>
          <a:xfrm>
            <a:off x="8563637" y="3063492"/>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E2</a:t>
            </a:r>
            <a:endParaRPr lang="zh-CN" altLang="en-US" sz="1100" b="1" dirty="0">
              <a:latin typeface="Arial" panose="020B0604020202020204" pitchFamily="34" charset="0"/>
              <a:ea typeface="微软雅黑" panose="020B0503020204020204" pitchFamily="34" charset="-122"/>
            </a:endParaRPr>
          </a:p>
        </p:txBody>
      </p:sp>
      <p:sp>
        <p:nvSpPr>
          <p:cNvPr id="26" name="文本框 25">
            <a:extLst>
              <a:ext uri="{FF2B5EF4-FFF2-40B4-BE49-F238E27FC236}">
                <a16:creationId xmlns:a16="http://schemas.microsoft.com/office/drawing/2014/main" id="{5B010BE1-72B6-03DE-0320-1259593E81FA}"/>
              </a:ext>
            </a:extLst>
          </p:cNvPr>
          <p:cNvSpPr txBox="1"/>
          <p:nvPr/>
        </p:nvSpPr>
        <p:spPr>
          <a:xfrm>
            <a:off x="8535661" y="2019300"/>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E1</a:t>
            </a:r>
            <a:endParaRPr lang="zh-CN" altLang="en-US" sz="1100" b="1" dirty="0">
              <a:latin typeface="Arial" panose="020B0604020202020204" pitchFamily="34" charset="0"/>
              <a:ea typeface="微软雅黑" panose="020B0503020204020204" pitchFamily="34" charset="-122"/>
            </a:endParaRPr>
          </a:p>
        </p:txBody>
      </p:sp>
      <p:cxnSp>
        <p:nvCxnSpPr>
          <p:cNvPr id="28" name="连接符: 肘形 27">
            <a:extLst>
              <a:ext uri="{FF2B5EF4-FFF2-40B4-BE49-F238E27FC236}">
                <a16:creationId xmlns:a16="http://schemas.microsoft.com/office/drawing/2014/main" id="{A5D8342A-F8BB-616E-3F97-F656F9D4A74D}"/>
              </a:ext>
            </a:extLst>
          </p:cNvPr>
          <p:cNvCxnSpPr>
            <a:stCxn id="4" idx="2"/>
            <a:endCxn id="10" idx="0"/>
          </p:cNvCxnSpPr>
          <p:nvPr/>
        </p:nvCxnSpPr>
        <p:spPr>
          <a:xfrm rot="5400000">
            <a:off x="3476095" y="-402346"/>
            <a:ext cx="420071" cy="3525180"/>
          </a:xfrm>
          <a:prstGeom prst="bentConnector3">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29" name="连接符: 肘形 28">
            <a:extLst>
              <a:ext uri="{FF2B5EF4-FFF2-40B4-BE49-F238E27FC236}">
                <a16:creationId xmlns:a16="http://schemas.microsoft.com/office/drawing/2014/main" id="{7E5A7FAD-77C6-F0CF-9BA4-A8993CE1D8E3}"/>
              </a:ext>
            </a:extLst>
          </p:cNvPr>
          <p:cNvCxnSpPr>
            <a:cxnSpLocks/>
            <a:stCxn id="4" idx="2"/>
            <a:endCxn id="5" idx="0"/>
          </p:cNvCxnSpPr>
          <p:nvPr/>
        </p:nvCxnSpPr>
        <p:spPr>
          <a:xfrm rot="5400000">
            <a:off x="4188565" y="310124"/>
            <a:ext cx="420071" cy="2100240"/>
          </a:xfrm>
          <a:prstGeom prst="bentConnector3">
            <a:avLst>
              <a:gd name="adj1" fmla="val 50000"/>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2" name="连接符: 肘形 31">
            <a:extLst>
              <a:ext uri="{FF2B5EF4-FFF2-40B4-BE49-F238E27FC236}">
                <a16:creationId xmlns:a16="http://schemas.microsoft.com/office/drawing/2014/main" id="{303C6DAF-F2C1-1ACA-2F9C-BCDE9BF10F9C}"/>
              </a:ext>
            </a:extLst>
          </p:cNvPr>
          <p:cNvCxnSpPr>
            <a:cxnSpLocks/>
            <a:stCxn id="4" idx="2"/>
            <a:endCxn id="6" idx="0"/>
          </p:cNvCxnSpPr>
          <p:nvPr/>
        </p:nvCxnSpPr>
        <p:spPr>
          <a:xfrm rot="5400000">
            <a:off x="4842076" y="980035"/>
            <a:ext cx="436471" cy="776819"/>
          </a:xfrm>
          <a:prstGeom prst="bentConnector3">
            <a:avLst>
              <a:gd name="adj1" fmla="val 50000"/>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5" name="连接符: 肘形 34">
            <a:extLst>
              <a:ext uri="{FF2B5EF4-FFF2-40B4-BE49-F238E27FC236}">
                <a16:creationId xmlns:a16="http://schemas.microsoft.com/office/drawing/2014/main" id="{6672B70B-181B-297A-B554-C6B6348DCC09}"/>
              </a:ext>
            </a:extLst>
          </p:cNvPr>
          <p:cNvCxnSpPr>
            <a:cxnSpLocks/>
            <a:stCxn id="4" idx="2"/>
            <a:endCxn id="7" idx="0"/>
          </p:cNvCxnSpPr>
          <p:nvPr/>
        </p:nvCxnSpPr>
        <p:spPr>
          <a:xfrm rot="16200000" flipH="1">
            <a:off x="5527050" y="1071878"/>
            <a:ext cx="436471" cy="593131"/>
          </a:xfrm>
          <a:prstGeom prst="bentConnector3">
            <a:avLst>
              <a:gd name="adj1" fmla="val 50000"/>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8" name="连接符: 肘形 37">
            <a:extLst>
              <a:ext uri="{FF2B5EF4-FFF2-40B4-BE49-F238E27FC236}">
                <a16:creationId xmlns:a16="http://schemas.microsoft.com/office/drawing/2014/main" id="{60C6A3A3-16B3-0BC8-3613-F0A22E09D422}"/>
              </a:ext>
            </a:extLst>
          </p:cNvPr>
          <p:cNvCxnSpPr>
            <a:cxnSpLocks/>
            <a:stCxn id="4" idx="2"/>
            <a:endCxn id="8" idx="0"/>
          </p:cNvCxnSpPr>
          <p:nvPr/>
        </p:nvCxnSpPr>
        <p:spPr>
          <a:xfrm rot="16200000" flipH="1">
            <a:off x="6210899" y="388029"/>
            <a:ext cx="438723" cy="1963081"/>
          </a:xfrm>
          <a:prstGeom prst="bentConnector3">
            <a:avLst>
              <a:gd name="adj1" fmla="val 50000"/>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41" name="连接符: 肘形 40">
            <a:extLst>
              <a:ext uri="{FF2B5EF4-FFF2-40B4-BE49-F238E27FC236}">
                <a16:creationId xmlns:a16="http://schemas.microsoft.com/office/drawing/2014/main" id="{E37D385E-CD8A-468F-700E-0C5F1FE1E5D4}"/>
              </a:ext>
            </a:extLst>
          </p:cNvPr>
          <p:cNvCxnSpPr>
            <a:cxnSpLocks/>
            <a:stCxn id="4" idx="2"/>
            <a:endCxn id="9" idx="0"/>
          </p:cNvCxnSpPr>
          <p:nvPr/>
        </p:nvCxnSpPr>
        <p:spPr>
          <a:xfrm rot="16200000" flipH="1">
            <a:off x="6873736" y="-274807"/>
            <a:ext cx="436471" cy="3286502"/>
          </a:xfrm>
          <a:prstGeom prst="bentConnector3">
            <a:avLst>
              <a:gd name="adj1" fmla="val 50000"/>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44" name="文本框 43">
            <a:extLst>
              <a:ext uri="{FF2B5EF4-FFF2-40B4-BE49-F238E27FC236}">
                <a16:creationId xmlns:a16="http://schemas.microsoft.com/office/drawing/2014/main" id="{D8869820-3DF4-BA50-5A71-0E4B304761EA}"/>
              </a:ext>
            </a:extLst>
          </p:cNvPr>
          <p:cNvSpPr txBox="1"/>
          <p:nvPr/>
        </p:nvSpPr>
        <p:spPr>
          <a:xfrm>
            <a:off x="2640960" y="6292160"/>
            <a:ext cx="6363961" cy="369332"/>
          </a:xfrm>
          <a:prstGeom prst="rect">
            <a:avLst/>
          </a:prstGeom>
          <a:solidFill>
            <a:srgbClr val="00B0F0"/>
          </a:solidFill>
        </p:spPr>
        <p:txBody>
          <a:bodyPr wrap="square" rtlCol="0">
            <a:spAutoFit/>
          </a:bodyPr>
          <a:lstStyle/>
          <a:p>
            <a:pPr algn="ctr"/>
            <a:r>
              <a:rPr lang="en-US" altLang="zh-CN" dirty="0">
                <a:latin typeface="Arial" panose="020B0604020202020204" pitchFamily="34" charset="0"/>
                <a:ea typeface="微软雅黑" panose="020B0503020204020204" pitchFamily="34" charset="-122"/>
              </a:rPr>
              <a:t>8 x 6 x 10 x 4 x 2 = 3840</a:t>
            </a:r>
            <a:endParaRPr lang="zh-CN" altLang="en-US" dirty="0">
              <a:latin typeface="Arial" panose="020B0604020202020204" pitchFamily="34" charset="0"/>
              <a:ea typeface="微软雅黑" panose="020B0503020204020204" pitchFamily="34" charset="-122"/>
            </a:endParaRPr>
          </a:p>
        </p:txBody>
      </p:sp>
      <p:sp>
        <p:nvSpPr>
          <p:cNvPr id="45" name="文本框 44">
            <a:extLst>
              <a:ext uri="{FF2B5EF4-FFF2-40B4-BE49-F238E27FC236}">
                <a16:creationId xmlns:a16="http://schemas.microsoft.com/office/drawing/2014/main" id="{7426B9ED-767B-A69B-FB7A-8A8113A0B20F}"/>
              </a:ext>
            </a:extLst>
          </p:cNvPr>
          <p:cNvSpPr txBox="1"/>
          <p:nvPr/>
        </p:nvSpPr>
        <p:spPr>
          <a:xfrm>
            <a:off x="3811515" y="2318230"/>
            <a:ext cx="362040"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x</a:t>
            </a:r>
            <a:endParaRPr lang="zh-CN" altLang="en-US" dirty="0">
              <a:latin typeface="Arial" panose="020B0604020202020204" pitchFamily="34" charset="0"/>
              <a:ea typeface="微软雅黑" panose="020B0503020204020204" pitchFamily="34" charset="-122"/>
            </a:endParaRPr>
          </a:p>
        </p:txBody>
      </p:sp>
      <p:sp>
        <p:nvSpPr>
          <p:cNvPr id="46" name="文本框 45">
            <a:extLst>
              <a:ext uri="{FF2B5EF4-FFF2-40B4-BE49-F238E27FC236}">
                <a16:creationId xmlns:a16="http://schemas.microsoft.com/office/drawing/2014/main" id="{6F9AD10B-456C-F3AB-7A2E-C8CF5D232DF8}"/>
              </a:ext>
            </a:extLst>
          </p:cNvPr>
          <p:cNvSpPr txBox="1"/>
          <p:nvPr/>
        </p:nvSpPr>
        <p:spPr>
          <a:xfrm>
            <a:off x="5197291" y="2312298"/>
            <a:ext cx="362040"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x</a:t>
            </a:r>
            <a:endParaRPr lang="zh-CN" altLang="en-US" dirty="0">
              <a:latin typeface="Arial" panose="020B0604020202020204" pitchFamily="34" charset="0"/>
              <a:ea typeface="微软雅黑" panose="020B0503020204020204" pitchFamily="34" charset="-122"/>
            </a:endParaRPr>
          </a:p>
        </p:txBody>
      </p:sp>
      <p:sp>
        <p:nvSpPr>
          <p:cNvPr id="47" name="文本框 46">
            <a:extLst>
              <a:ext uri="{FF2B5EF4-FFF2-40B4-BE49-F238E27FC236}">
                <a16:creationId xmlns:a16="http://schemas.microsoft.com/office/drawing/2014/main" id="{C80508C2-045C-F0A4-CFF2-371C364CE44A}"/>
              </a:ext>
            </a:extLst>
          </p:cNvPr>
          <p:cNvSpPr txBox="1"/>
          <p:nvPr/>
        </p:nvSpPr>
        <p:spPr>
          <a:xfrm>
            <a:off x="6599761" y="2280910"/>
            <a:ext cx="362040"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x</a:t>
            </a:r>
            <a:endParaRPr lang="zh-CN" altLang="en-US" dirty="0">
              <a:latin typeface="Arial" panose="020B0604020202020204" pitchFamily="34" charset="0"/>
              <a:ea typeface="微软雅黑" panose="020B0503020204020204" pitchFamily="34" charset="-122"/>
            </a:endParaRPr>
          </a:p>
        </p:txBody>
      </p:sp>
      <p:sp>
        <p:nvSpPr>
          <p:cNvPr id="48" name="文本框 47">
            <a:extLst>
              <a:ext uri="{FF2B5EF4-FFF2-40B4-BE49-F238E27FC236}">
                <a16:creationId xmlns:a16="http://schemas.microsoft.com/office/drawing/2014/main" id="{3B76F284-91D4-C927-1806-C4B4CE189D67}"/>
              </a:ext>
            </a:extLst>
          </p:cNvPr>
          <p:cNvSpPr txBox="1"/>
          <p:nvPr/>
        </p:nvSpPr>
        <p:spPr>
          <a:xfrm>
            <a:off x="7956121" y="2280910"/>
            <a:ext cx="362040"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x</a:t>
            </a:r>
            <a:endParaRPr lang="zh-CN" altLang="en-US"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24488485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B6BAB8-0040-E289-3805-89F86AB255DE}"/>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DA087CCD-E54A-D813-3604-9E64996BDD61}"/>
              </a:ext>
            </a:extLst>
          </p:cNvPr>
          <p:cNvSpPr>
            <a:spLocks noGrp="1"/>
          </p:cNvSpPr>
          <p:nvPr>
            <p:ph type="title"/>
          </p:nvPr>
        </p:nvSpPr>
        <p:spPr/>
        <p:txBody>
          <a:bodyPr>
            <a:normAutofit fontScale="90000"/>
          </a:bodyPr>
          <a:lstStyle/>
          <a:p>
            <a:r>
              <a:rPr lang="en-US" altLang="zh-CN" dirty="0">
                <a:ea typeface="微软雅黑" panose="020B0503020204020204" pitchFamily="34" charset="-122"/>
              </a:rPr>
              <a:t>Planning BOM – </a:t>
            </a:r>
            <a:r>
              <a:rPr lang="zh-CN" altLang="en-US" dirty="0">
                <a:ea typeface="微软雅黑" panose="020B0503020204020204" pitchFamily="34" charset="-122"/>
              </a:rPr>
              <a:t>升级</a:t>
            </a:r>
          </a:p>
        </p:txBody>
      </p:sp>
      <p:sp>
        <p:nvSpPr>
          <p:cNvPr id="4" name="矩形: 圆角 3">
            <a:extLst>
              <a:ext uri="{FF2B5EF4-FFF2-40B4-BE49-F238E27FC236}">
                <a16:creationId xmlns:a16="http://schemas.microsoft.com/office/drawing/2014/main" id="{7931290A-1858-235E-0DAA-8635747D1F0E}"/>
              </a:ext>
            </a:extLst>
          </p:cNvPr>
          <p:cNvSpPr/>
          <p:nvPr/>
        </p:nvSpPr>
        <p:spPr>
          <a:xfrm>
            <a:off x="4998720" y="790209"/>
            <a:ext cx="900000" cy="360000"/>
          </a:xfrm>
          <a:prstGeom prst="roundRect">
            <a:avLst/>
          </a:prstGeom>
          <a:solidFill>
            <a:srgbClr val="00B7F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r>
              <a:rPr lang="en-US" altLang="zh-CN" sz="1100" b="1" dirty="0">
                <a:solidFill>
                  <a:schemeClr val="tx1"/>
                </a:solidFill>
                <a:latin typeface="Arial" panose="020B0604020202020204" pitchFamily="34" charset="0"/>
                <a:ea typeface="微软雅黑" panose="020B0503020204020204" pitchFamily="34" charset="-122"/>
              </a:rPr>
              <a:t>Family X</a:t>
            </a:r>
            <a:endParaRPr kumimoji="0" lang="zh-CN" altLang="en-US"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5" name="矩形: 圆角 4">
            <a:extLst>
              <a:ext uri="{FF2B5EF4-FFF2-40B4-BE49-F238E27FC236}">
                <a16:creationId xmlns:a16="http://schemas.microsoft.com/office/drawing/2014/main" id="{02C16F09-0B8E-EE0A-22AE-F545326A1B84}"/>
              </a:ext>
            </a:extLst>
          </p:cNvPr>
          <p:cNvSpPr/>
          <p:nvPr/>
        </p:nvSpPr>
        <p:spPr>
          <a:xfrm>
            <a:off x="2898480" y="1570280"/>
            <a:ext cx="900000" cy="360000"/>
          </a:xfrm>
          <a:prstGeom prst="round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r>
              <a:rPr lang="en-US" altLang="zh-CN" sz="1100" b="1" dirty="0">
                <a:solidFill>
                  <a:schemeClr val="tx1"/>
                </a:solidFill>
                <a:latin typeface="Arial" panose="020B0604020202020204" pitchFamily="34" charset="0"/>
                <a:ea typeface="微软雅黑" panose="020B0503020204020204" pitchFamily="34" charset="-122"/>
              </a:rPr>
              <a:t>Option A</a:t>
            </a:r>
            <a:endParaRPr kumimoji="0" lang="zh-CN" altLang="en-US"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6" name="矩形: 圆角 5">
            <a:extLst>
              <a:ext uri="{FF2B5EF4-FFF2-40B4-BE49-F238E27FC236}">
                <a16:creationId xmlns:a16="http://schemas.microsoft.com/office/drawing/2014/main" id="{30A3B3F2-8D59-01B5-E651-592C264DD502}"/>
              </a:ext>
            </a:extLst>
          </p:cNvPr>
          <p:cNvSpPr/>
          <p:nvPr/>
        </p:nvSpPr>
        <p:spPr>
          <a:xfrm>
            <a:off x="4221901" y="1586680"/>
            <a:ext cx="900000" cy="360000"/>
          </a:xfrm>
          <a:prstGeom prst="round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Arial" panose="020B0604020202020204" pitchFamily="34" charset="0"/>
                <a:ea typeface="微软雅黑" panose="020B0503020204020204" pitchFamily="34" charset="-122"/>
              </a:rPr>
              <a:t>Option B</a:t>
            </a:r>
            <a:endParaRPr lang="zh-CN" altLang="en-US" sz="1100" b="1" dirty="0">
              <a:solidFill>
                <a:schemeClr val="tx1"/>
              </a:solidFill>
              <a:latin typeface="Arial" panose="020B0604020202020204" pitchFamily="34" charset="0"/>
              <a:ea typeface="微软雅黑" panose="020B0503020204020204" pitchFamily="34" charset="-122"/>
            </a:endParaRPr>
          </a:p>
        </p:txBody>
      </p:sp>
      <p:sp>
        <p:nvSpPr>
          <p:cNvPr id="7" name="矩形: 圆角 6">
            <a:extLst>
              <a:ext uri="{FF2B5EF4-FFF2-40B4-BE49-F238E27FC236}">
                <a16:creationId xmlns:a16="http://schemas.microsoft.com/office/drawing/2014/main" id="{06E71880-4DFC-3058-E0BF-627FE56440CE}"/>
              </a:ext>
            </a:extLst>
          </p:cNvPr>
          <p:cNvSpPr/>
          <p:nvPr/>
        </p:nvSpPr>
        <p:spPr>
          <a:xfrm>
            <a:off x="5591851" y="1586680"/>
            <a:ext cx="900000" cy="360000"/>
          </a:xfrm>
          <a:prstGeom prst="round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Arial" panose="020B0604020202020204" pitchFamily="34" charset="0"/>
                <a:ea typeface="微软雅黑" panose="020B0503020204020204" pitchFamily="34" charset="-122"/>
              </a:rPr>
              <a:t>Option C</a:t>
            </a:r>
            <a:endParaRPr lang="zh-CN" altLang="en-US" sz="1100" b="1" dirty="0">
              <a:solidFill>
                <a:schemeClr val="tx1"/>
              </a:solidFill>
              <a:latin typeface="Arial" panose="020B0604020202020204" pitchFamily="34" charset="0"/>
              <a:ea typeface="微软雅黑" panose="020B0503020204020204" pitchFamily="34" charset="-122"/>
            </a:endParaRPr>
          </a:p>
        </p:txBody>
      </p:sp>
      <p:sp>
        <p:nvSpPr>
          <p:cNvPr id="8" name="矩形: 圆角 7">
            <a:extLst>
              <a:ext uri="{FF2B5EF4-FFF2-40B4-BE49-F238E27FC236}">
                <a16:creationId xmlns:a16="http://schemas.microsoft.com/office/drawing/2014/main" id="{F0132928-9E92-071E-86C6-48B81892CA8F}"/>
              </a:ext>
            </a:extLst>
          </p:cNvPr>
          <p:cNvSpPr/>
          <p:nvPr/>
        </p:nvSpPr>
        <p:spPr>
          <a:xfrm>
            <a:off x="6961801" y="1588932"/>
            <a:ext cx="900000" cy="360000"/>
          </a:xfrm>
          <a:prstGeom prst="round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Arial" panose="020B0604020202020204" pitchFamily="34" charset="0"/>
                <a:ea typeface="微软雅黑" panose="020B0503020204020204" pitchFamily="34" charset="-122"/>
              </a:rPr>
              <a:t>Option D</a:t>
            </a:r>
            <a:endParaRPr lang="zh-CN" altLang="en-US" sz="1100" b="1" dirty="0">
              <a:solidFill>
                <a:schemeClr val="tx1"/>
              </a:solidFill>
              <a:latin typeface="Arial" panose="020B0604020202020204" pitchFamily="34" charset="0"/>
              <a:ea typeface="微软雅黑" panose="020B0503020204020204" pitchFamily="34" charset="-122"/>
            </a:endParaRPr>
          </a:p>
        </p:txBody>
      </p:sp>
      <p:sp>
        <p:nvSpPr>
          <p:cNvPr id="9" name="矩形: 圆角 8">
            <a:extLst>
              <a:ext uri="{FF2B5EF4-FFF2-40B4-BE49-F238E27FC236}">
                <a16:creationId xmlns:a16="http://schemas.microsoft.com/office/drawing/2014/main" id="{9AAF8BEA-F424-2F4E-E254-734596F4D6D3}"/>
              </a:ext>
            </a:extLst>
          </p:cNvPr>
          <p:cNvSpPr/>
          <p:nvPr/>
        </p:nvSpPr>
        <p:spPr>
          <a:xfrm>
            <a:off x="8285222" y="1586680"/>
            <a:ext cx="900000" cy="360000"/>
          </a:xfrm>
          <a:prstGeom prst="round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Arial" panose="020B0604020202020204" pitchFamily="34" charset="0"/>
                <a:ea typeface="微软雅黑" panose="020B0503020204020204" pitchFamily="34" charset="-122"/>
              </a:rPr>
              <a:t>Option E</a:t>
            </a:r>
            <a:endParaRPr lang="zh-CN" altLang="en-US" sz="1100" b="1" dirty="0">
              <a:solidFill>
                <a:schemeClr val="tx1"/>
              </a:solidFill>
              <a:latin typeface="Arial" panose="020B0604020202020204" pitchFamily="34" charset="0"/>
              <a:ea typeface="微软雅黑" panose="020B0503020204020204" pitchFamily="34" charset="-122"/>
            </a:endParaRPr>
          </a:p>
        </p:txBody>
      </p:sp>
      <p:sp>
        <p:nvSpPr>
          <p:cNvPr id="10" name="矩形: 圆角 9">
            <a:extLst>
              <a:ext uri="{FF2B5EF4-FFF2-40B4-BE49-F238E27FC236}">
                <a16:creationId xmlns:a16="http://schemas.microsoft.com/office/drawing/2014/main" id="{3F66ADAD-2E6E-A748-1462-E83A85F7059D}"/>
              </a:ext>
            </a:extLst>
          </p:cNvPr>
          <p:cNvSpPr/>
          <p:nvPr/>
        </p:nvSpPr>
        <p:spPr>
          <a:xfrm>
            <a:off x="1473540" y="1570280"/>
            <a:ext cx="900000" cy="360000"/>
          </a:xfrm>
          <a:prstGeom prst="roundRect">
            <a:avLst/>
          </a:prstGeom>
          <a:solidFill>
            <a:srgbClr val="00B0F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r>
              <a:rPr kumimoji="0" lang="en-US" altLang="zh-CN"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Common</a:t>
            </a:r>
            <a:endParaRPr kumimoji="0" lang="zh-CN" altLang="en-US" sz="11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graphicFrame>
        <p:nvGraphicFramePr>
          <p:cNvPr id="12" name="表格 11">
            <a:extLst>
              <a:ext uri="{FF2B5EF4-FFF2-40B4-BE49-F238E27FC236}">
                <a16:creationId xmlns:a16="http://schemas.microsoft.com/office/drawing/2014/main" id="{E5C13ABD-CA8D-3910-3EF4-370626B0B4F4}"/>
              </a:ext>
            </a:extLst>
          </p:cNvPr>
          <p:cNvGraphicFramePr>
            <a:graphicFrameLocks noGrp="1"/>
          </p:cNvGraphicFramePr>
          <p:nvPr>
            <p:extLst>
              <p:ext uri="{D42A27DB-BD31-4B8C-83A1-F6EECF244321}">
                <p14:modId xmlns:p14="http://schemas.microsoft.com/office/powerpoint/2010/main" val="4179658960"/>
              </p:ext>
            </p:extLst>
          </p:nvPr>
        </p:nvGraphicFramePr>
        <p:xfrm>
          <a:off x="3082245" y="2301361"/>
          <a:ext cx="441030" cy="2966720"/>
        </p:xfrm>
        <a:graphic>
          <a:graphicData uri="http://schemas.openxmlformats.org/drawingml/2006/table">
            <a:tbl>
              <a:tblPr bandRow="1">
                <a:tableStyleId>{5C22544A-7EE6-4342-B048-85BDC9FD1C3A}</a:tableStyleId>
              </a:tblPr>
              <a:tblGrid>
                <a:gridCol w="441030">
                  <a:extLst>
                    <a:ext uri="{9D8B030D-6E8A-4147-A177-3AD203B41FA5}">
                      <a16:colId xmlns:a16="http://schemas.microsoft.com/office/drawing/2014/main" val="555416949"/>
                    </a:ext>
                  </a:extLst>
                </a:gridCol>
              </a:tblGrid>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76717292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76655670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82851647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1809941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50912049"/>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514358876"/>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3607049304"/>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189555539"/>
                  </a:ext>
                </a:extLst>
              </a:tr>
            </a:tbl>
          </a:graphicData>
        </a:graphic>
      </p:graphicFrame>
      <p:sp>
        <p:nvSpPr>
          <p:cNvPr id="13" name="文本框 12">
            <a:extLst>
              <a:ext uri="{FF2B5EF4-FFF2-40B4-BE49-F238E27FC236}">
                <a16:creationId xmlns:a16="http://schemas.microsoft.com/office/drawing/2014/main" id="{60771FB3-15F9-E06E-C918-ACB2B7AA1833}"/>
              </a:ext>
            </a:extLst>
          </p:cNvPr>
          <p:cNvSpPr txBox="1"/>
          <p:nvPr/>
        </p:nvSpPr>
        <p:spPr>
          <a:xfrm>
            <a:off x="3086100" y="2019300"/>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A1</a:t>
            </a:r>
            <a:endParaRPr lang="zh-CN" altLang="en-US" sz="1100" b="1" dirty="0">
              <a:latin typeface="Arial" panose="020B0604020202020204" pitchFamily="34" charset="0"/>
              <a:ea typeface="微软雅黑" panose="020B0503020204020204" pitchFamily="34" charset="-122"/>
            </a:endParaRPr>
          </a:p>
        </p:txBody>
      </p:sp>
      <p:sp>
        <p:nvSpPr>
          <p:cNvPr id="14" name="文本框 13">
            <a:extLst>
              <a:ext uri="{FF2B5EF4-FFF2-40B4-BE49-F238E27FC236}">
                <a16:creationId xmlns:a16="http://schemas.microsoft.com/office/drawing/2014/main" id="{A764BBC7-7C73-25DD-344E-170AAD7733F1}"/>
              </a:ext>
            </a:extLst>
          </p:cNvPr>
          <p:cNvSpPr txBox="1"/>
          <p:nvPr/>
        </p:nvSpPr>
        <p:spPr>
          <a:xfrm>
            <a:off x="3086100" y="5288532"/>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A8</a:t>
            </a:r>
            <a:endParaRPr lang="zh-CN" altLang="en-US" sz="1100" b="1" dirty="0">
              <a:latin typeface="Arial" panose="020B0604020202020204" pitchFamily="34" charset="0"/>
              <a:ea typeface="微软雅黑" panose="020B0503020204020204" pitchFamily="34" charset="-122"/>
            </a:endParaRPr>
          </a:p>
        </p:txBody>
      </p:sp>
      <p:graphicFrame>
        <p:nvGraphicFramePr>
          <p:cNvPr id="15" name="表格 14">
            <a:extLst>
              <a:ext uri="{FF2B5EF4-FFF2-40B4-BE49-F238E27FC236}">
                <a16:creationId xmlns:a16="http://schemas.microsoft.com/office/drawing/2014/main" id="{7952385D-698F-429A-1FB1-B4805FC3C2BC}"/>
              </a:ext>
            </a:extLst>
          </p:cNvPr>
          <p:cNvGraphicFramePr>
            <a:graphicFrameLocks noGrp="1"/>
          </p:cNvGraphicFramePr>
          <p:nvPr>
            <p:extLst>
              <p:ext uri="{D42A27DB-BD31-4B8C-83A1-F6EECF244321}">
                <p14:modId xmlns:p14="http://schemas.microsoft.com/office/powerpoint/2010/main" val="1937667484"/>
              </p:ext>
            </p:extLst>
          </p:nvPr>
        </p:nvGraphicFramePr>
        <p:xfrm>
          <a:off x="4438605" y="2321812"/>
          <a:ext cx="441030" cy="2225040"/>
        </p:xfrm>
        <a:graphic>
          <a:graphicData uri="http://schemas.openxmlformats.org/drawingml/2006/table">
            <a:tbl>
              <a:tblPr bandRow="1">
                <a:tableStyleId>{5C22544A-7EE6-4342-B048-85BDC9FD1C3A}</a:tableStyleId>
              </a:tblPr>
              <a:tblGrid>
                <a:gridCol w="441030">
                  <a:extLst>
                    <a:ext uri="{9D8B030D-6E8A-4147-A177-3AD203B41FA5}">
                      <a16:colId xmlns:a16="http://schemas.microsoft.com/office/drawing/2014/main" val="555416949"/>
                    </a:ext>
                  </a:extLst>
                </a:gridCol>
              </a:tblGrid>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76717292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76655670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82851647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1809941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50912049"/>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514358876"/>
                  </a:ext>
                </a:extLst>
              </a:tr>
            </a:tbl>
          </a:graphicData>
        </a:graphic>
      </p:graphicFrame>
      <p:sp>
        <p:nvSpPr>
          <p:cNvPr id="16" name="文本框 15">
            <a:extLst>
              <a:ext uri="{FF2B5EF4-FFF2-40B4-BE49-F238E27FC236}">
                <a16:creationId xmlns:a16="http://schemas.microsoft.com/office/drawing/2014/main" id="{87D08750-E04E-FA75-10E8-E497114B3C16}"/>
              </a:ext>
            </a:extLst>
          </p:cNvPr>
          <p:cNvSpPr txBox="1"/>
          <p:nvPr/>
        </p:nvSpPr>
        <p:spPr>
          <a:xfrm>
            <a:off x="4481821" y="4645386"/>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B6</a:t>
            </a:r>
            <a:endParaRPr lang="zh-CN" altLang="en-US" sz="1100" b="1" dirty="0">
              <a:latin typeface="Arial" panose="020B0604020202020204" pitchFamily="34" charset="0"/>
              <a:ea typeface="微软雅黑" panose="020B0503020204020204" pitchFamily="34" charset="-122"/>
            </a:endParaRPr>
          </a:p>
        </p:txBody>
      </p:sp>
      <p:sp>
        <p:nvSpPr>
          <p:cNvPr id="17" name="文本框 16">
            <a:extLst>
              <a:ext uri="{FF2B5EF4-FFF2-40B4-BE49-F238E27FC236}">
                <a16:creationId xmlns:a16="http://schemas.microsoft.com/office/drawing/2014/main" id="{B892F69D-A5A4-EAF6-3990-660532C62022}"/>
              </a:ext>
            </a:extLst>
          </p:cNvPr>
          <p:cNvSpPr txBox="1"/>
          <p:nvPr/>
        </p:nvSpPr>
        <p:spPr>
          <a:xfrm>
            <a:off x="4442460" y="2019300"/>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B1</a:t>
            </a:r>
            <a:endParaRPr lang="zh-CN" altLang="en-US" sz="1100" b="1" dirty="0">
              <a:latin typeface="Arial" panose="020B0604020202020204" pitchFamily="34" charset="0"/>
              <a:ea typeface="微软雅黑" panose="020B0503020204020204" pitchFamily="34" charset="-122"/>
            </a:endParaRPr>
          </a:p>
        </p:txBody>
      </p:sp>
      <p:graphicFrame>
        <p:nvGraphicFramePr>
          <p:cNvPr id="18" name="表格 17">
            <a:extLst>
              <a:ext uri="{FF2B5EF4-FFF2-40B4-BE49-F238E27FC236}">
                <a16:creationId xmlns:a16="http://schemas.microsoft.com/office/drawing/2014/main" id="{EC7EA206-3A00-7010-CA4E-E5829279529B}"/>
              </a:ext>
            </a:extLst>
          </p:cNvPr>
          <p:cNvGraphicFramePr>
            <a:graphicFrameLocks noGrp="1"/>
          </p:cNvGraphicFramePr>
          <p:nvPr>
            <p:extLst>
              <p:ext uri="{D42A27DB-BD31-4B8C-83A1-F6EECF244321}">
                <p14:modId xmlns:p14="http://schemas.microsoft.com/office/powerpoint/2010/main" val="3547006557"/>
              </p:ext>
            </p:extLst>
          </p:nvPr>
        </p:nvGraphicFramePr>
        <p:xfrm>
          <a:off x="5822941" y="2301361"/>
          <a:ext cx="441030" cy="3708400"/>
        </p:xfrm>
        <a:graphic>
          <a:graphicData uri="http://schemas.openxmlformats.org/drawingml/2006/table">
            <a:tbl>
              <a:tblPr bandRow="1">
                <a:tableStyleId>{5C22544A-7EE6-4342-B048-85BDC9FD1C3A}</a:tableStyleId>
              </a:tblPr>
              <a:tblGrid>
                <a:gridCol w="441030">
                  <a:extLst>
                    <a:ext uri="{9D8B030D-6E8A-4147-A177-3AD203B41FA5}">
                      <a16:colId xmlns:a16="http://schemas.microsoft.com/office/drawing/2014/main" val="555416949"/>
                    </a:ext>
                  </a:extLst>
                </a:gridCol>
              </a:tblGrid>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76717292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76655670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82851647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1809941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50912049"/>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514358876"/>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3607049304"/>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189555539"/>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3032759653"/>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956814356"/>
                  </a:ext>
                </a:extLst>
              </a:tr>
            </a:tbl>
          </a:graphicData>
        </a:graphic>
      </p:graphicFrame>
      <p:sp>
        <p:nvSpPr>
          <p:cNvPr id="19" name="文本框 18">
            <a:extLst>
              <a:ext uri="{FF2B5EF4-FFF2-40B4-BE49-F238E27FC236}">
                <a16:creationId xmlns:a16="http://schemas.microsoft.com/office/drawing/2014/main" id="{DA5628BD-0D21-61AA-763D-30BF011E338E}"/>
              </a:ext>
            </a:extLst>
          </p:cNvPr>
          <p:cNvSpPr txBox="1"/>
          <p:nvPr/>
        </p:nvSpPr>
        <p:spPr>
          <a:xfrm>
            <a:off x="5826796" y="2019300"/>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C1</a:t>
            </a:r>
            <a:endParaRPr lang="zh-CN" altLang="en-US" sz="1100" b="1" dirty="0">
              <a:latin typeface="Arial" panose="020B0604020202020204" pitchFamily="34" charset="0"/>
              <a:ea typeface="微软雅黑" panose="020B0503020204020204" pitchFamily="34" charset="-122"/>
            </a:endParaRPr>
          </a:p>
        </p:txBody>
      </p:sp>
      <p:sp>
        <p:nvSpPr>
          <p:cNvPr id="20" name="文本框 19">
            <a:extLst>
              <a:ext uri="{FF2B5EF4-FFF2-40B4-BE49-F238E27FC236}">
                <a16:creationId xmlns:a16="http://schemas.microsoft.com/office/drawing/2014/main" id="{6675CE68-0C7A-EB36-0C22-2E4A28AE142E}"/>
              </a:ext>
            </a:extLst>
          </p:cNvPr>
          <p:cNvSpPr txBox="1"/>
          <p:nvPr/>
        </p:nvSpPr>
        <p:spPr>
          <a:xfrm>
            <a:off x="5826796" y="6009761"/>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C10</a:t>
            </a:r>
            <a:endParaRPr lang="zh-CN" altLang="en-US" sz="1100" b="1" dirty="0">
              <a:latin typeface="Arial" panose="020B0604020202020204" pitchFamily="34" charset="0"/>
              <a:ea typeface="微软雅黑" panose="020B0503020204020204" pitchFamily="34" charset="-122"/>
            </a:endParaRPr>
          </a:p>
        </p:txBody>
      </p:sp>
      <p:graphicFrame>
        <p:nvGraphicFramePr>
          <p:cNvPr id="21" name="表格 20">
            <a:extLst>
              <a:ext uri="{FF2B5EF4-FFF2-40B4-BE49-F238E27FC236}">
                <a16:creationId xmlns:a16="http://schemas.microsoft.com/office/drawing/2014/main" id="{E4E21314-8DD4-D855-37A3-8E63614FA21B}"/>
              </a:ext>
            </a:extLst>
          </p:cNvPr>
          <p:cNvGraphicFramePr>
            <a:graphicFrameLocks noGrp="1"/>
          </p:cNvGraphicFramePr>
          <p:nvPr>
            <p:extLst>
              <p:ext uri="{D42A27DB-BD31-4B8C-83A1-F6EECF244321}">
                <p14:modId xmlns:p14="http://schemas.microsoft.com/office/powerpoint/2010/main" val="938560863"/>
              </p:ext>
            </p:extLst>
          </p:nvPr>
        </p:nvGraphicFramePr>
        <p:xfrm>
          <a:off x="7179301" y="2321812"/>
          <a:ext cx="441030" cy="1483360"/>
        </p:xfrm>
        <a:graphic>
          <a:graphicData uri="http://schemas.openxmlformats.org/drawingml/2006/table">
            <a:tbl>
              <a:tblPr bandRow="1">
                <a:tableStyleId>{5C22544A-7EE6-4342-B048-85BDC9FD1C3A}</a:tableStyleId>
              </a:tblPr>
              <a:tblGrid>
                <a:gridCol w="441030">
                  <a:extLst>
                    <a:ext uri="{9D8B030D-6E8A-4147-A177-3AD203B41FA5}">
                      <a16:colId xmlns:a16="http://schemas.microsoft.com/office/drawing/2014/main" val="555416949"/>
                    </a:ext>
                  </a:extLst>
                </a:gridCol>
              </a:tblGrid>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76717292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76655670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828516477"/>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218099417"/>
                  </a:ext>
                </a:extLst>
              </a:tr>
            </a:tbl>
          </a:graphicData>
        </a:graphic>
      </p:graphicFrame>
      <p:sp>
        <p:nvSpPr>
          <p:cNvPr id="22" name="文本框 21">
            <a:extLst>
              <a:ext uri="{FF2B5EF4-FFF2-40B4-BE49-F238E27FC236}">
                <a16:creationId xmlns:a16="http://schemas.microsoft.com/office/drawing/2014/main" id="{92F7CC94-F707-688B-186C-C6A801CFC1B4}"/>
              </a:ext>
            </a:extLst>
          </p:cNvPr>
          <p:cNvSpPr txBox="1"/>
          <p:nvPr/>
        </p:nvSpPr>
        <p:spPr>
          <a:xfrm>
            <a:off x="7202492" y="3846074"/>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D4</a:t>
            </a:r>
            <a:endParaRPr lang="zh-CN" altLang="en-US" sz="1100" b="1" dirty="0">
              <a:latin typeface="Arial" panose="020B0604020202020204" pitchFamily="34" charset="0"/>
              <a:ea typeface="微软雅黑" panose="020B0503020204020204" pitchFamily="34" charset="-122"/>
            </a:endParaRPr>
          </a:p>
        </p:txBody>
      </p:sp>
      <p:sp>
        <p:nvSpPr>
          <p:cNvPr id="23" name="文本框 22">
            <a:extLst>
              <a:ext uri="{FF2B5EF4-FFF2-40B4-BE49-F238E27FC236}">
                <a16:creationId xmlns:a16="http://schemas.microsoft.com/office/drawing/2014/main" id="{08AD4E70-F06B-3706-3CF6-2A6205ADE26E}"/>
              </a:ext>
            </a:extLst>
          </p:cNvPr>
          <p:cNvSpPr txBox="1"/>
          <p:nvPr/>
        </p:nvSpPr>
        <p:spPr>
          <a:xfrm>
            <a:off x="7207608" y="2019300"/>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D1</a:t>
            </a:r>
            <a:endParaRPr lang="zh-CN" altLang="en-US" sz="1100" b="1" dirty="0">
              <a:latin typeface="Arial" panose="020B0604020202020204" pitchFamily="34" charset="0"/>
              <a:ea typeface="微软雅黑" panose="020B0503020204020204" pitchFamily="34" charset="-122"/>
            </a:endParaRPr>
          </a:p>
        </p:txBody>
      </p:sp>
      <p:graphicFrame>
        <p:nvGraphicFramePr>
          <p:cNvPr id="24" name="表格 23">
            <a:extLst>
              <a:ext uri="{FF2B5EF4-FFF2-40B4-BE49-F238E27FC236}">
                <a16:creationId xmlns:a16="http://schemas.microsoft.com/office/drawing/2014/main" id="{3DDC5F06-AAF2-6ADF-FD7D-D25AB70635A8}"/>
              </a:ext>
            </a:extLst>
          </p:cNvPr>
          <p:cNvGraphicFramePr>
            <a:graphicFrameLocks noGrp="1"/>
          </p:cNvGraphicFramePr>
          <p:nvPr>
            <p:extLst>
              <p:ext uri="{D42A27DB-BD31-4B8C-83A1-F6EECF244321}">
                <p14:modId xmlns:p14="http://schemas.microsoft.com/office/powerpoint/2010/main" val="3235506886"/>
              </p:ext>
            </p:extLst>
          </p:nvPr>
        </p:nvGraphicFramePr>
        <p:xfrm>
          <a:off x="8535661" y="2321812"/>
          <a:ext cx="441030" cy="741680"/>
        </p:xfrm>
        <a:graphic>
          <a:graphicData uri="http://schemas.openxmlformats.org/drawingml/2006/table">
            <a:tbl>
              <a:tblPr bandRow="1">
                <a:tableStyleId>{5C22544A-7EE6-4342-B048-85BDC9FD1C3A}</a:tableStyleId>
              </a:tblPr>
              <a:tblGrid>
                <a:gridCol w="441030">
                  <a:extLst>
                    <a:ext uri="{9D8B030D-6E8A-4147-A177-3AD203B41FA5}">
                      <a16:colId xmlns:a16="http://schemas.microsoft.com/office/drawing/2014/main" val="555416949"/>
                    </a:ext>
                  </a:extLst>
                </a:gridCol>
              </a:tblGrid>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2767172920"/>
                  </a:ext>
                </a:extLst>
              </a:tr>
              <a:tr h="370840">
                <a:tc>
                  <a:txBody>
                    <a:bodyPr/>
                    <a:lstStyle/>
                    <a:p>
                      <a:endParaRPr lang="zh-CN" altLang="en-US" dirty="0">
                        <a:latin typeface="Arial" panose="020B0604020202020204" pitchFamily="34" charset="0"/>
                        <a:ea typeface="微软雅黑" panose="020B0503020204020204" pitchFamily="34" charset="-122"/>
                      </a:endParaRPr>
                    </a:p>
                  </a:txBody>
                  <a:tcPr>
                    <a:solidFill>
                      <a:srgbClr val="00B0F0"/>
                    </a:solidFill>
                  </a:tcPr>
                </a:tc>
                <a:extLst>
                  <a:ext uri="{0D108BD9-81ED-4DB2-BD59-A6C34878D82A}">
                    <a16:rowId xmlns:a16="http://schemas.microsoft.com/office/drawing/2014/main" val="1766556700"/>
                  </a:ext>
                </a:extLst>
              </a:tr>
            </a:tbl>
          </a:graphicData>
        </a:graphic>
      </p:graphicFrame>
      <p:sp>
        <p:nvSpPr>
          <p:cNvPr id="25" name="文本框 24">
            <a:extLst>
              <a:ext uri="{FF2B5EF4-FFF2-40B4-BE49-F238E27FC236}">
                <a16:creationId xmlns:a16="http://schemas.microsoft.com/office/drawing/2014/main" id="{ACCE1D4E-C251-6BBF-EE19-C1413632C3E1}"/>
              </a:ext>
            </a:extLst>
          </p:cNvPr>
          <p:cNvSpPr txBox="1"/>
          <p:nvPr/>
        </p:nvSpPr>
        <p:spPr>
          <a:xfrm>
            <a:off x="8563637" y="3063492"/>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E2</a:t>
            </a:r>
            <a:endParaRPr lang="zh-CN" altLang="en-US" sz="1100" b="1" dirty="0">
              <a:latin typeface="Arial" panose="020B0604020202020204" pitchFamily="34" charset="0"/>
              <a:ea typeface="微软雅黑" panose="020B0503020204020204" pitchFamily="34" charset="-122"/>
            </a:endParaRPr>
          </a:p>
        </p:txBody>
      </p:sp>
      <p:sp>
        <p:nvSpPr>
          <p:cNvPr id="26" name="文本框 25">
            <a:extLst>
              <a:ext uri="{FF2B5EF4-FFF2-40B4-BE49-F238E27FC236}">
                <a16:creationId xmlns:a16="http://schemas.microsoft.com/office/drawing/2014/main" id="{4FBEA56D-CE58-4FB3-2176-7A8D4432F5EA}"/>
              </a:ext>
            </a:extLst>
          </p:cNvPr>
          <p:cNvSpPr txBox="1"/>
          <p:nvPr/>
        </p:nvSpPr>
        <p:spPr>
          <a:xfrm>
            <a:off x="8535661" y="2019300"/>
            <a:ext cx="556260" cy="261610"/>
          </a:xfrm>
          <a:prstGeom prst="rect">
            <a:avLst/>
          </a:prstGeom>
          <a:noFill/>
        </p:spPr>
        <p:txBody>
          <a:bodyPr wrap="square" rtlCol="0">
            <a:spAutoFit/>
          </a:bodyPr>
          <a:lstStyle/>
          <a:p>
            <a:r>
              <a:rPr lang="en-US" altLang="zh-CN" sz="1100" b="1" dirty="0">
                <a:latin typeface="Arial" panose="020B0604020202020204" pitchFamily="34" charset="0"/>
                <a:ea typeface="微软雅黑" panose="020B0503020204020204" pitchFamily="34" charset="-122"/>
              </a:rPr>
              <a:t>E1</a:t>
            </a:r>
            <a:endParaRPr lang="zh-CN" altLang="en-US" sz="1100" b="1" dirty="0">
              <a:latin typeface="Arial" panose="020B0604020202020204" pitchFamily="34" charset="0"/>
              <a:ea typeface="微软雅黑" panose="020B0503020204020204" pitchFamily="34" charset="-122"/>
            </a:endParaRPr>
          </a:p>
        </p:txBody>
      </p:sp>
      <p:cxnSp>
        <p:nvCxnSpPr>
          <p:cNvPr id="28" name="连接符: 肘形 27">
            <a:extLst>
              <a:ext uri="{FF2B5EF4-FFF2-40B4-BE49-F238E27FC236}">
                <a16:creationId xmlns:a16="http://schemas.microsoft.com/office/drawing/2014/main" id="{3D0AEF75-1BFE-976C-6354-E9F3393772F3}"/>
              </a:ext>
            </a:extLst>
          </p:cNvPr>
          <p:cNvCxnSpPr>
            <a:stCxn id="4" idx="2"/>
            <a:endCxn id="10" idx="0"/>
          </p:cNvCxnSpPr>
          <p:nvPr/>
        </p:nvCxnSpPr>
        <p:spPr>
          <a:xfrm rot="5400000">
            <a:off x="3476095" y="-402346"/>
            <a:ext cx="420071" cy="3525180"/>
          </a:xfrm>
          <a:prstGeom prst="bentConnector3">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29" name="连接符: 肘形 28">
            <a:extLst>
              <a:ext uri="{FF2B5EF4-FFF2-40B4-BE49-F238E27FC236}">
                <a16:creationId xmlns:a16="http://schemas.microsoft.com/office/drawing/2014/main" id="{7578E542-4296-D560-0392-B7D0F5C8D24D}"/>
              </a:ext>
            </a:extLst>
          </p:cNvPr>
          <p:cNvCxnSpPr>
            <a:cxnSpLocks/>
            <a:stCxn id="4" idx="2"/>
            <a:endCxn id="5" idx="0"/>
          </p:cNvCxnSpPr>
          <p:nvPr/>
        </p:nvCxnSpPr>
        <p:spPr>
          <a:xfrm rot="5400000">
            <a:off x="4188565" y="310124"/>
            <a:ext cx="420071" cy="2100240"/>
          </a:xfrm>
          <a:prstGeom prst="bentConnector3">
            <a:avLst>
              <a:gd name="adj1" fmla="val 50000"/>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2" name="连接符: 肘形 31">
            <a:extLst>
              <a:ext uri="{FF2B5EF4-FFF2-40B4-BE49-F238E27FC236}">
                <a16:creationId xmlns:a16="http://schemas.microsoft.com/office/drawing/2014/main" id="{710624F4-D245-F0F4-4C19-63514FFFE208}"/>
              </a:ext>
            </a:extLst>
          </p:cNvPr>
          <p:cNvCxnSpPr>
            <a:cxnSpLocks/>
            <a:stCxn id="4" idx="2"/>
            <a:endCxn id="6" idx="0"/>
          </p:cNvCxnSpPr>
          <p:nvPr/>
        </p:nvCxnSpPr>
        <p:spPr>
          <a:xfrm rot="5400000">
            <a:off x="4842076" y="980035"/>
            <a:ext cx="436471" cy="776819"/>
          </a:xfrm>
          <a:prstGeom prst="bentConnector3">
            <a:avLst>
              <a:gd name="adj1" fmla="val 50000"/>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5" name="连接符: 肘形 34">
            <a:extLst>
              <a:ext uri="{FF2B5EF4-FFF2-40B4-BE49-F238E27FC236}">
                <a16:creationId xmlns:a16="http://schemas.microsoft.com/office/drawing/2014/main" id="{1B80EFF8-50F3-C811-9FA3-9AE5B4C8C688}"/>
              </a:ext>
            </a:extLst>
          </p:cNvPr>
          <p:cNvCxnSpPr>
            <a:cxnSpLocks/>
            <a:stCxn id="4" idx="2"/>
            <a:endCxn id="7" idx="0"/>
          </p:cNvCxnSpPr>
          <p:nvPr/>
        </p:nvCxnSpPr>
        <p:spPr>
          <a:xfrm rot="16200000" flipH="1">
            <a:off x="5527050" y="1071878"/>
            <a:ext cx="436471" cy="593131"/>
          </a:xfrm>
          <a:prstGeom prst="bentConnector3">
            <a:avLst>
              <a:gd name="adj1" fmla="val 50000"/>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8" name="连接符: 肘形 37">
            <a:extLst>
              <a:ext uri="{FF2B5EF4-FFF2-40B4-BE49-F238E27FC236}">
                <a16:creationId xmlns:a16="http://schemas.microsoft.com/office/drawing/2014/main" id="{3FE3B829-6A5B-D714-20CE-76F558626E17}"/>
              </a:ext>
            </a:extLst>
          </p:cNvPr>
          <p:cNvCxnSpPr>
            <a:cxnSpLocks/>
            <a:stCxn id="4" idx="2"/>
            <a:endCxn id="8" idx="0"/>
          </p:cNvCxnSpPr>
          <p:nvPr/>
        </p:nvCxnSpPr>
        <p:spPr>
          <a:xfrm rot="16200000" flipH="1">
            <a:off x="6210899" y="388029"/>
            <a:ext cx="438723" cy="1963081"/>
          </a:xfrm>
          <a:prstGeom prst="bentConnector3">
            <a:avLst>
              <a:gd name="adj1" fmla="val 50000"/>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41" name="连接符: 肘形 40">
            <a:extLst>
              <a:ext uri="{FF2B5EF4-FFF2-40B4-BE49-F238E27FC236}">
                <a16:creationId xmlns:a16="http://schemas.microsoft.com/office/drawing/2014/main" id="{FD72E062-8627-84A4-7D8C-234379CEE916}"/>
              </a:ext>
            </a:extLst>
          </p:cNvPr>
          <p:cNvCxnSpPr>
            <a:cxnSpLocks/>
            <a:stCxn id="4" idx="2"/>
            <a:endCxn id="9" idx="0"/>
          </p:cNvCxnSpPr>
          <p:nvPr/>
        </p:nvCxnSpPr>
        <p:spPr>
          <a:xfrm rot="16200000" flipH="1">
            <a:off x="6873736" y="-274807"/>
            <a:ext cx="436471" cy="3286502"/>
          </a:xfrm>
          <a:prstGeom prst="bentConnector3">
            <a:avLst>
              <a:gd name="adj1" fmla="val 50000"/>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44" name="文本框 43">
            <a:extLst>
              <a:ext uri="{FF2B5EF4-FFF2-40B4-BE49-F238E27FC236}">
                <a16:creationId xmlns:a16="http://schemas.microsoft.com/office/drawing/2014/main" id="{C7FC3F18-9B7B-2C92-5909-B7BEB01E23A1}"/>
              </a:ext>
            </a:extLst>
          </p:cNvPr>
          <p:cNvSpPr txBox="1"/>
          <p:nvPr/>
        </p:nvSpPr>
        <p:spPr>
          <a:xfrm>
            <a:off x="2640960" y="6292160"/>
            <a:ext cx="6363961" cy="369332"/>
          </a:xfrm>
          <a:prstGeom prst="rect">
            <a:avLst/>
          </a:prstGeom>
          <a:solidFill>
            <a:srgbClr val="00B0F0"/>
          </a:solidFill>
        </p:spPr>
        <p:txBody>
          <a:bodyPr wrap="square" rtlCol="0">
            <a:spAutoFit/>
          </a:bodyPr>
          <a:lstStyle/>
          <a:p>
            <a:pPr algn="ctr"/>
            <a:r>
              <a:rPr lang="en-US" altLang="zh-CN" dirty="0">
                <a:latin typeface="Arial" panose="020B0604020202020204" pitchFamily="34" charset="0"/>
                <a:ea typeface="微软雅黑" panose="020B0503020204020204" pitchFamily="34" charset="-122"/>
              </a:rPr>
              <a:t>8 + 6 + 10 + 4 + 2 = 30</a:t>
            </a:r>
            <a:endParaRPr lang="zh-CN" altLang="en-US" dirty="0">
              <a:latin typeface="Arial" panose="020B0604020202020204" pitchFamily="34" charset="0"/>
              <a:ea typeface="微软雅黑" panose="020B0503020204020204" pitchFamily="34" charset="-122"/>
            </a:endParaRPr>
          </a:p>
        </p:txBody>
      </p:sp>
      <p:sp>
        <p:nvSpPr>
          <p:cNvPr id="45" name="文本框 44">
            <a:extLst>
              <a:ext uri="{FF2B5EF4-FFF2-40B4-BE49-F238E27FC236}">
                <a16:creationId xmlns:a16="http://schemas.microsoft.com/office/drawing/2014/main" id="{0006160D-C12D-F3F9-8A05-2BD12B8966AE}"/>
              </a:ext>
            </a:extLst>
          </p:cNvPr>
          <p:cNvSpPr txBox="1"/>
          <p:nvPr/>
        </p:nvSpPr>
        <p:spPr>
          <a:xfrm>
            <a:off x="3811515" y="2318230"/>
            <a:ext cx="362040"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a:t>
            </a:r>
            <a:endParaRPr lang="zh-CN" altLang="en-US" dirty="0">
              <a:latin typeface="Arial" panose="020B0604020202020204" pitchFamily="34" charset="0"/>
              <a:ea typeface="微软雅黑" panose="020B0503020204020204" pitchFamily="34" charset="-122"/>
            </a:endParaRPr>
          </a:p>
        </p:txBody>
      </p:sp>
      <p:sp>
        <p:nvSpPr>
          <p:cNvPr id="46" name="文本框 45">
            <a:extLst>
              <a:ext uri="{FF2B5EF4-FFF2-40B4-BE49-F238E27FC236}">
                <a16:creationId xmlns:a16="http://schemas.microsoft.com/office/drawing/2014/main" id="{77E0F89F-8490-5C61-E293-10CE76B91EFE}"/>
              </a:ext>
            </a:extLst>
          </p:cNvPr>
          <p:cNvSpPr txBox="1"/>
          <p:nvPr/>
        </p:nvSpPr>
        <p:spPr>
          <a:xfrm>
            <a:off x="5197291" y="2312298"/>
            <a:ext cx="362040"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a:t>
            </a:r>
            <a:endParaRPr lang="zh-CN" altLang="en-US" dirty="0">
              <a:latin typeface="Arial" panose="020B0604020202020204" pitchFamily="34" charset="0"/>
              <a:ea typeface="微软雅黑" panose="020B0503020204020204" pitchFamily="34" charset="-122"/>
            </a:endParaRPr>
          </a:p>
        </p:txBody>
      </p:sp>
      <p:sp>
        <p:nvSpPr>
          <p:cNvPr id="47" name="文本框 46">
            <a:extLst>
              <a:ext uri="{FF2B5EF4-FFF2-40B4-BE49-F238E27FC236}">
                <a16:creationId xmlns:a16="http://schemas.microsoft.com/office/drawing/2014/main" id="{3207543D-DA96-1A07-88F0-8B3AF4D96FC0}"/>
              </a:ext>
            </a:extLst>
          </p:cNvPr>
          <p:cNvSpPr txBox="1"/>
          <p:nvPr/>
        </p:nvSpPr>
        <p:spPr>
          <a:xfrm>
            <a:off x="6599761" y="2280910"/>
            <a:ext cx="362040"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a:t>
            </a:r>
            <a:endParaRPr lang="zh-CN" altLang="en-US" dirty="0">
              <a:latin typeface="Arial" panose="020B0604020202020204" pitchFamily="34" charset="0"/>
              <a:ea typeface="微软雅黑" panose="020B0503020204020204" pitchFamily="34" charset="-122"/>
            </a:endParaRPr>
          </a:p>
        </p:txBody>
      </p:sp>
      <p:sp>
        <p:nvSpPr>
          <p:cNvPr id="48" name="文本框 47">
            <a:extLst>
              <a:ext uri="{FF2B5EF4-FFF2-40B4-BE49-F238E27FC236}">
                <a16:creationId xmlns:a16="http://schemas.microsoft.com/office/drawing/2014/main" id="{5F31E5A6-0B56-2E59-59C4-81629B1019D7}"/>
              </a:ext>
            </a:extLst>
          </p:cNvPr>
          <p:cNvSpPr txBox="1"/>
          <p:nvPr/>
        </p:nvSpPr>
        <p:spPr>
          <a:xfrm>
            <a:off x="7956121" y="2280910"/>
            <a:ext cx="362040"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a:t>
            </a:r>
            <a:endParaRPr lang="zh-CN" altLang="en-US"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27524501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5A90F305-A74D-B277-672B-5B91FA591378}"/>
              </a:ext>
            </a:extLst>
          </p:cNvPr>
          <p:cNvSpPr>
            <a:spLocks noGrp="1"/>
          </p:cNvSpPr>
          <p:nvPr>
            <p:ph type="ctrTitle"/>
          </p:nvPr>
        </p:nvSpPr>
        <p:spPr/>
        <p:txBody>
          <a:bodyPr>
            <a:normAutofit/>
          </a:bodyPr>
          <a:lstStyle/>
          <a:p>
            <a:pPr algn="ctr"/>
            <a:r>
              <a:rPr lang="en-US" altLang="zh-CN" sz="4400" dirty="0">
                <a:latin typeface="Arial" panose="020B0604020202020204" pitchFamily="34" charset="0"/>
                <a:ea typeface="微软雅黑" panose="020B0503020204020204" pitchFamily="34" charset="-122"/>
              </a:rPr>
              <a:t>Supplier Deep Collaboration</a:t>
            </a:r>
            <a:endParaRPr lang="zh-CN" altLang="en-US" sz="4400"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2515722096"/>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977668D-A24A-0595-AB92-B4ED0C2695FC}"/>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Supplier Deep Collaboration</a:t>
            </a:r>
            <a:endParaRPr lang="zh-CN" altLang="en-US" dirty="0">
              <a:latin typeface="Arial" panose="020B0604020202020204" pitchFamily="34" charset="0"/>
              <a:ea typeface="微软雅黑" panose="020B0503020204020204" pitchFamily="34" charset="-122"/>
            </a:endParaRPr>
          </a:p>
        </p:txBody>
      </p:sp>
      <p:graphicFrame>
        <p:nvGraphicFramePr>
          <p:cNvPr id="3" name="表格 2">
            <a:extLst>
              <a:ext uri="{FF2B5EF4-FFF2-40B4-BE49-F238E27FC236}">
                <a16:creationId xmlns:a16="http://schemas.microsoft.com/office/drawing/2014/main" id="{40A5D605-1CA4-0AAE-B0D4-9ECE6E141ECB}"/>
              </a:ext>
            </a:extLst>
          </p:cNvPr>
          <p:cNvGraphicFramePr>
            <a:graphicFrameLocks noGrp="1"/>
          </p:cNvGraphicFramePr>
          <p:nvPr>
            <p:extLst>
              <p:ext uri="{D42A27DB-BD31-4B8C-83A1-F6EECF244321}">
                <p14:modId xmlns:p14="http://schemas.microsoft.com/office/powerpoint/2010/main" val="3980634275"/>
              </p:ext>
            </p:extLst>
          </p:nvPr>
        </p:nvGraphicFramePr>
        <p:xfrm>
          <a:off x="886690" y="882952"/>
          <a:ext cx="8767898" cy="1112520"/>
        </p:xfrm>
        <a:graphic>
          <a:graphicData uri="http://schemas.openxmlformats.org/drawingml/2006/table">
            <a:tbl>
              <a:tblPr firstRow="1" bandRow="1">
                <a:tableStyleId>{5C22544A-7EE6-4342-B048-85BDC9FD1C3A}</a:tableStyleId>
              </a:tblPr>
              <a:tblGrid>
                <a:gridCol w="1732280">
                  <a:extLst>
                    <a:ext uri="{9D8B030D-6E8A-4147-A177-3AD203B41FA5}">
                      <a16:colId xmlns:a16="http://schemas.microsoft.com/office/drawing/2014/main" val="3282326303"/>
                    </a:ext>
                  </a:extLst>
                </a:gridCol>
                <a:gridCol w="820394">
                  <a:extLst>
                    <a:ext uri="{9D8B030D-6E8A-4147-A177-3AD203B41FA5}">
                      <a16:colId xmlns:a16="http://schemas.microsoft.com/office/drawing/2014/main" val="486438316"/>
                    </a:ext>
                  </a:extLst>
                </a:gridCol>
                <a:gridCol w="820394">
                  <a:extLst>
                    <a:ext uri="{9D8B030D-6E8A-4147-A177-3AD203B41FA5}">
                      <a16:colId xmlns:a16="http://schemas.microsoft.com/office/drawing/2014/main" val="1036940136"/>
                    </a:ext>
                  </a:extLst>
                </a:gridCol>
                <a:gridCol w="820394">
                  <a:extLst>
                    <a:ext uri="{9D8B030D-6E8A-4147-A177-3AD203B41FA5}">
                      <a16:colId xmlns:a16="http://schemas.microsoft.com/office/drawing/2014/main" val="3591737291"/>
                    </a:ext>
                  </a:extLst>
                </a:gridCol>
                <a:gridCol w="820394">
                  <a:extLst>
                    <a:ext uri="{9D8B030D-6E8A-4147-A177-3AD203B41FA5}">
                      <a16:colId xmlns:a16="http://schemas.microsoft.com/office/drawing/2014/main" val="2845317863"/>
                    </a:ext>
                  </a:extLst>
                </a:gridCol>
                <a:gridCol w="820394">
                  <a:extLst>
                    <a:ext uri="{9D8B030D-6E8A-4147-A177-3AD203B41FA5}">
                      <a16:colId xmlns:a16="http://schemas.microsoft.com/office/drawing/2014/main" val="708199801"/>
                    </a:ext>
                  </a:extLst>
                </a:gridCol>
                <a:gridCol w="820394">
                  <a:extLst>
                    <a:ext uri="{9D8B030D-6E8A-4147-A177-3AD203B41FA5}">
                      <a16:colId xmlns:a16="http://schemas.microsoft.com/office/drawing/2014/main" val="3202309659"/>
                    </a:ext>
                  </a:extLst>
                </a:gridCol>
                <a:gridCol w="820394">
                  <a:extLst>
                    <a:ext uri="{9D8B030D-6E8A-4147-A177-3AD203B41FA5}">
                      <a16:colId xmlns:a16="http://schemas.microsoft.com/office/drawing/2014/main" val="237585318"/>
                    </a:ext>
                  </a:extLst>
                </a:gridCol>
                <a:gridCol w="589280">
                  <a:extLst>
                    <a:ext uri="{9D8B030D-6E8A-4147-A177-3AD203B41FA5}">
                      <a16:colId xmlns:a16="http://schemas.microsoft.com/office/drawing/2014/main" val="505379576"/>
                    </a:ext>
                  </a:extLst>
                </a:gridCol>
                <a:gridCol w="703580">
                  <a:extLst>
                    <a:ext uri="{9D8B030D-6E8A-4147-A177-3AD203B41FA5}">
                      <a16:colId xmlns:a16="http://schemas.microsoft.com/office/drawing/2014/main" val="2507582816"/>
                    </a:ext>
                  </a:extLst>
                </a:gridCol>
              </a:tblGrid>
              <a:tr h="370840">
                <a:tc>
                  <a:txBody>
                    <a:bodyPr/>
                    <a:lstStyle/>
                    <a:p>
                      <a:r>
                        <a:rPr lang="en-US" altLang="zh-CN" dirty="0">
                          <a:latin typeface="Arial" panose="020B0604020202020204" pitchFamily="34" charset="0"/>
                          <a:ea typeface="微软雅黑" panose="020B0503020204020204" pitchFamily="34" charset="-122"/>
                        </a:rPr>
                        <a:t>Buckets</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W1</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W2</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W3</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W4</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W5</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W6</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W7</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W8</a:t>
                      </a:r>
                      <a:endParaRPr lang="zh-CN" altLang="en-US" dirty="0">
                        <a:latin typeface="Arial" panose="020B0604020202020204" pitchFamily="34" charset="0"/>
                        <a:ea typeface="微软雅黑" panose="020B0503020204020204" pitchFamily="34" charset="-122"/>
                      </a:endParaRPr>
                    </a:p>
                  </a:txBody>
                  <a:tcPr/>
                </a:tc>
                <a:tc>
                  <a:txBody>
                    <a:bodyPr/>
                    <a:lstStyle/>
                    <a:p>
                      <a:r>
                        <a:rPr lang="zh-CN" altLang="en-US" dirty="0">
                          <a:latin typeface="Arial" panose="020B0604020202020204" pitchFamily="34" charset="0"/>
                          <a:ea typeface="微软雅黑" panose="020B0503020204020204" pitchFamily="34" charset="-122"/>
                        </a:rPr>
                        <a:t>汇总</a:t>
                      </a:r>
                    </a:p>
                  </a:txBody>
                  <a:tcPr/>
                </a:tc>
                <a:extLst>
                  <a:ext uri="{0D108BD9-81ED-4DB2-BD59-A6C34878D82A}">
                    <a16:rowId xmlns:a16="http://schemas.microsoft.com/office/drawing/2014/main" val="464345689"/>
                  </a:ext>
                </a:extLst>
              </a:tr>
              <a:tr h="370840">
                <a:tc>
                  <a:txBody>
                    <a:bodyPr/>
                    <a:lstStyle/>
                    <a:p>
                      <a:r>
                        <a:rPr lang="en-US" altLang="zh-CN" dirty="0">
                          <a:latin typeface="Arial" panose="020B0604020202020204" pitchFamily="34" charset="0"/>
                          <a:ea typeface="微软雅黑" panose="020B0503020204020204" pitchFamily="34" charset="-122"/>
                        </a:rPr>
                        <a:t>Parts Forecast</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100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80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90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60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90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70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100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90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680</a:t>
                      </a:r>
                      <a:endParaRPr lang="zh-CN" altLang="en-US"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606957341"/>
                  </a:ext>
                </a:extLst>
              </a:tr>
              <a:tr h="370840">
                <a:tc>
                  <a:txBody>
                    <a:bodyPr/>
                    <a:lstStyle/>
                    <a:p>
                      <a:r>
                        <a:rPr lang="en-US" altLang="zh-CN" dirty="0">
                          <a:latin typeface="Arial" panose="020B0604020202020204" pitchFamily="34" charset="0"/>
                          <a:ea typeface="微软雅黑" panose="020B0503020204020204" pitchFamily="34" charset="-122"/>
                        </a:rPr>
                        <a:t>Commit</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90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90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90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90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60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70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80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110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680</a:t>
                      </a:r>
                      <a:endParaRPr lang="zh-CN" altLang="en-US"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622785951"/>
                  </a:ext>
                </a:extLst>
              </a:tr>
            </a:tbl>
          </a:graphicData>
        </a:graphic>
      </p:graphicFrame>
      <p:sp>
        <p:nvSpPr>
          <p:cNvPr id="4" name="标注: 弯曲线形 3">
            <a:extLst>
              <a:ext uri="{FF2B5EF4-FFF2-40B4-BE49-F238E27FC236}">
                <a16:creationId xmlns:a16="http://schemas.microsoft.com/office/drawing/2014/main" id="{3E43BD62-16F6-E11F-4057-2F32AC2AC110}"/>
              </a:ext>
            </a:extLst>
          </p:cNvPr>
          <p:cNvSpPr/>
          <p:nvPr/>
        </p:nvSpPr>
        <p:spPr>
          <a:xfrm>
            <a:off x="4143101" y="2234188"/>
            <a:ext cx="2950030" cy="881303"/>
          </a:xfrm>
          <a:prstGeom prst="borderCallout2">
            <a:avLst>
              <a:gd name="adj1" fmla="val 18750"/>
              <a:gd name="adj2" fmla="val -8333"/>
              <a:gd name="adj3" fmla="val 18750"/>
              <a:gd name="adj4" fmla="val -16667"/>
              <a:gd name="adj5" fmla="val -50992"/>
              <a:gd name="adj6" fmla="val -16431"/>
            </a:avLst>
          </a:prstGeom>
          <a:solidFill>
            <a:srgbClr val="0070C0"/>
          </a:solid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indent="-171450" defTabSz="914400" rtl="0" eaLnBrk="1" fontAlgn="auto" latinLnBrk="0" hangingPunct="1">
              <a:lnSpc>
                <a:spcPct val="100000"/>
              </a:lnSpc>
              <a:spcBef>
                <a:spcPts val="0"/>
              </a:spcBef>
              <a:spcAft>
                <a:spcPts val="0"/>
              </a:spcAft>
              <a:buClrTx/>
              <a:buSzTx/>
              <a:buFont typeface="Arial" panose="020B0604020202020204" pitchFamily="34" charset="0"/>
              <a:buChar char="•"/>
              <a:tabLst/>
            </a:pPr>
            <a:r>
              <a:rPr lang="en-US" altLang="zh-CN" sz="1200" b="1" dirty="0">
                <a:solidFill>
                  <a:schemeClr val="tx1"/>
                </a:solidFill>
                <a:latin typeface="Arial" panose="020B0604020202020204" pitchFamily="34" charset="0"/>
                <a:ea typeface="微软雅黑" panose="020B0503020204020204" pitchFamily="34" charset="-122"/>
              </a:rPr>
              <a:t>W1 delay or W3 pull in?</a:t>
            </a:r>
          </a:p>
          <a:p>
            <a:pPr marL="171450" marR="0" indent="-171450" defTabSz="914400" rtl="0" eaLnBrk="1" fontAlgn="auto" latinLnBrk="0" hangingPunct="1">
              <a:lnSpc>
                <a:spcPct val="100000"/>
              </a:lnSpc>
              <a:spcBef>
                <a:spcPts val="0"/>
              </a:spcBef>
              <a:spcAft>
                <a:spcPts val="0"/>
              </a:spcAft>
              <a:buClrTx/>
              <a:buSzTx/>
              <a:buFont typeface="Arial" panose="020B0604020202020204" pitchFamily="34" charset="0"/>
              <a:buChar char="•"/>
              <a:tabLst/>
            </a:pPr>
            <a:r>
              <a:rPr lang="en-US" altLang="zh-CN" sz="1200" b="1" dirty="0">
                <a:solidFill>
                  <a:schemeClr val="tx1"/>
                </a:solidFill>
                <a:latin typeface="Arial" panose="020B0604020202020204" pitchFamily="34" charset="0"/>
                <a:ea typeface="微软雅黑" panose="020B0503020204020204" pitchFamily="34" charset="-122"/>
              </a:rPr>
              <a:t>Allotment </a:t>
            </a:r>
            <a:r>
              <a:rPr lang="zh-CN" altLang="en-US" sz="1200" b="1" dirty="0">
                <a:solidFill>
                  <a:schemeClr val="tx1"/>
                </a:solidFill>
                <a:latin typeface="Arial" panose="020B0604020202020204" pitchFamily="34" charset="0"/>
                <a:ea typeface="微软雅黑" panose="020B0503020204020204" pitchFamily="34" charset="-122"/>
              </a:rPr>
              <a:t>如何调整</a:t>
            </a:r>
            <a:endParaRPr lang="en-US" altLang="zh-CN" sz="1200" b="1" dirty="0">
              <a:solidFill>
                <a:schemeClr val="tx1"/>
              </a:solidFill>
              <a:latin typeface="Arial" panose="020B0604020202020204" pitchFamily="34" charset="0"/>
              <a:ea typeface="微软雅黑" panose="020B0503020204020204" pitchFamily="34" charset="-122"/>
            </a:endParaRPr>
          </a:p>
          <a:p>
            <a:pPr marL="171450" marR="0" indent="-171450" defTabSz="914400" rtl="0" eaLnBrk="1" fontAlgn="auto" latinLnBrk="0" hangingPunct="1">
              <a:lnSpc>
                <a:spcPct val="100000"/>
              </a:lnSpc>
              <a:spcBef>
                <a:spcPts val="0"/>
              </a:spcBef>
              <a:spcAft>
                <a:spcPts val="0"/>
              </a:spcAft>
              <a:buClrTx/>
              <a:buSzTx/>
              <a:buFont typeface="Arial" panose="020B0604020202020204" pitchFamily="34" charset="0"/>
              <a:buChar char="•"/>
              <a:tabLst/>
            </a:pPr>
            <a:r>
              <a:rPr kumimoji="0" lang="en-US" altLang="zh-CN"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Supplier</a:t>
            </a:r>
            <a:r>
              <a:rPr kumimoji="0" lang="zh-CN" altLang="en-US"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是把</a:t>
            </a:r>
            <a:r>
              <a:rPr kumimoji="0" lang="en-US" altLang="zh-CN"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PF</a:t>
            </a:r>
            <a:r>
              <a:rPr kumimoji="0" lang="zh-CN" altLang="en-US"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当作</a:t>
            </a:r>
            <a:r>
              <a:rPr kumimoji="0" lang="en-US" altLang="zh-CN"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demand </a:t>
            </a:r>
            <a:r>
              <a:rPr kumimoji="0" lang="zh-CN" altLang="en-US"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一笔一笔处理，本来是带有</a:t>
            </a:r>
            <a:r>
              <a:rPr kumimoji="0" lang="en-US" altLang="zh-CN"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pegging</a:t>
            </a:r>
            <a:r>
              <a:rPr kumimoji="0" lang="zh-CN" altLang="en-US"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关系</a:t>
            </a:r>
          </a:p>
        </p:txBody>
      </p:sp>
      <p:graphicFrame>
        <p:nvGraphicFramePr>
          <p:cNvPr id="5" name="表格 4">
            <a:extLst>
              <a:ext uri="{FF2B5EF4-FFF2-40B4-BE49-F238E27FC236}">
                <a16:creationId xmlns:a16="http://schemas.microsoft.com/office/drawing/2014/main" id="{CCC156ED-5134-096E-57B7-7E6C726EAC5A}"/>
              </a:ext>
            </a:extLst>
          </p:cNvPr>
          <p:cNvGraphicFramePr>
            <a:graphicFrameLocks noGrp="1"/>
          </p:cNvGraphicFramePr>
          <p:nvPr>
            <p:extLst>
              <p:ext uri="{D42A27DB-BD31-4B8C-83A1-F6EECF244321}">
                <p14:modId xmlns:p14="http://schemas.microsoft.com/office/powerpoint/2010/main" val="2738434192"/>
              </p:ext>
            </p:extLst>
          </p:nvPr>
        </p:nvGraphicFramePr>
        <p:xfrm>
          <a:off x="797427" y="3837335"/>
          <a:ext cx="8178618" cy="1107440"/>
        </p:xfrm>
        <a:graphic>
          <a:graphicData uri="http://schemas.openxmlformats.org/drawingml/2006/table">
            <a:tbl>
              <a:tblPr firstRow="1" bandRow="1">
                <a:tableStyleId>{5C22544A-7EE6-4342-B048-85BDC9FD1C3A}</a:tableStyleId>
              </a:tblPr>
              <a:tblGrid>
                <a:gridCol w="1732280">
                  <a:extLst>
                    <a:ext uri="{9D8B030D-6E8A-4147-A177-3AD203B41FA5}">
                      <a16:colId xmlns:a16="http://schemas.microsoft.com/office/drawing/2014/main" val="3282326303"/>
                    </a:ext>
                  </a:extLst>
                </a:gridCol>
                <a:gridCol w="820394">
                  <a:extLst>
                    <a:ext uri="{9D8B030D-6E8A-4147-A177-3AD203B41FA5}">
                      <a16:colId xmlns:a16="http://schemas.microsoft.com/office/drawing/2014/main" val="486438316"/>
                    </a:ext>
                  </a:extLst>
                </a:gridCol>
                <a:gridCol w="820394">
                  <a:extLst>
                    <a:ext uri="{9D8B030D-6E8A-4147-A177-3AD203B41FA5}">
                      <a16:colId xmlns:a16="http://schemas.microsoft.com/office/drawing/2014/main" val="1036940136"/>
                    </a:ext>
                  </a:extLst>
                </a:gridCol>
                <a:gridCol w="820394">
                  <a:extLst>
                    <a:ext uri="{9D8B030D-6E8A-4147-A177-3AD203B41FA5}">
                      <a16:colId xmlns:a16="http://schemas.microsoft.com/office/drawing/2014/main" val="3591737291"/>
                    </a:ext>
                  </a:extLst>
                </a:gridCol>
                <a:gridCol w="820394">
                  <a:extLst>
                    <a:ext uri="{9D8B030D-6E8A-4147-A177-3AD203B41FA5}">
                      <a16:colId xmlns:a16="http://schemas.microsoft.com/office/drawing/2014/main" val="2845317863"/>
                    </a:ext>
                  </a:extLst>
                </a:gridCol>
                <a:gridCol w="820394">
                  <a:extLst>
                    <a:ext uri="{9D8B030D-6E8A-4147-A177-3AD203B41FA5}">
                      <a16:colId xmlns:a16="http://schemas.microsoft.com/office/drawing/2014/main" val="708199801"/>
                    </a:ext>
                  </a:extLst>
                </a:gridCol>
                <a:gridCol w="820394">
                  <a:extLst>
                    <a:ext uri="{9D8B030D-6E8A-4147-A177-3AD203B41FA5}">
                      <a16:colId xmlns:a16="http://schemas.microsoft.com/office/drawing/2014/main" val="3202309659"/>
                    </a:ext>
                  </a:extLst>
                </a:gridCol>
                <a:gridCol w="820394">
                  <a:extLst>
                    <a:ext uri="{9D8B030D-6E8A-4147-A177-3AD203B41FA5}">
                      <a16:colId xmlns:a16="http://schemas.microsoft.com/office/drawing/2014/main" val="237585318"/>
                    </a:ext>
                  </a:extLst>
                </a:gridCol>
                <a:gridCol w="703580">
                  <a:extLst>
                    <a:ext uri="{9D8B030D-6E8A-4147-A177-3AD203B41FA5}">
                      <a16:colId xmlns:a16="http://schemas.microsoft.com/office/drawing/2014/main" val="2507582816"/>
                    </a:ext>
                  </a:extLst>
                </a:gridCol>
              </a:tblGrid>
              <a:tr h="370840">
                <a:tc>
                  <a:txBody>
                    <a:bodyPr/>
                    <a:lstStyle/>
                    <a:p>
                      <a:r>
                        <a:rPr lang="en-US" altLang="zh-CN" dirty="0">
                          <a:latin typeface="Arial" panose="020B0604020202020204" pitchFamily="34" charset="0"/>
                          <a:ea typeface="微软雅黑" panose="020B0503020204020204" pitchFamily="34" charset="-122"/>
                        </a:rPr>
                        <a:t>Buckets</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Day1</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D2</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D3</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D4</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D5</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D6</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D7</a:t>
                      </a:r>
                      <a:endParaRPr lang="zh-CN" altLang="en-US" dirty="0">
                        <a:latin typeface="Arial" panose="020B0604020202020204" pitchFamily="34" charset="0"/>
                        <a:ea typeface="微软雅黑" panose="020B0503020204020204" pitchFamily="34" charset="-122"/>
                      </a:endParaRPr>
                    </a:p>
                  </a:txBody>
                  <a:tcPr/>
                </a:tc>
                <a:tc>
                  <a:txBody>
                    <a:bodyPr/>
                    <a:lstStyle/>
                    <a:p>
                      <a:r>
                        <a:rPr lang="zh-CN" altLang="en-US" dirty="0">
                          <a:latin typeface="Arial" panose="020B0604020202020204" pitchFamily="34" charset="0"/>
                          <a:ea typeface="微软雅黑" panose="020B0503020204020204" pitchFamily="34" charset="-122"/>
                        </a:rPr>
                        <a:t>汇总</a:t>
                      </a:r>
                    </a:p>
                  </a:txBody>
                  <a:tcPr/>
                </a:tc>
                <a:extLst>
                  <a:ext uri="{0D108BD9-81ED-4DB2-BD59-A6C34878D82A}">
                    <a16:rowId xmlns:a16="http://schemas.microsoft.com/office/drawing/2014/main" val="464345689"/>
                  </a:ext>
                </a:extLst>
              </a:tr>
              <a:tr h="370840">
                <a:tc>
                  <a:txBody>
                    <a:bodyPr/>
                    <a:lstStyle/>
                    <a:p>
                      <a:r>
                        <a:rPr lang="en-US" altLang="zh-CN" dirty="0">
                          <a:latin typeface="Arial" panose="020B0604020202020204" pitchFamily="34" charset="0"/>
                          <a:ea typeface="微软雅黑" panose="020B0503020204020204" pitchFamily="34" charset="-122"/>
                        </a:rPr>
                        <a:t>Missing/Pull</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20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30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8</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12</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15</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15</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110</a:t>
                      </a:r>
                      <a:endParaRPr lang="zh-CN" altLang="en-US"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606957341"/>
                  </a:ext>
                </a:extLst>
              </a:tr>
              <a:tr h="0">
                <a:tc>
                  <a:txBody>
                    <a:bodyPr/>
                    <a:lstStyle/>
                    <a:p>
                      <a:r>
                        <a:rPr lang="en-US" altLang="zh-CN" dirty="0">
                          <a:latin typeface="Arial" panose="020B0604020202020204" pitchFamily="34" charset="0"/>
                          <a:ea typeface="微软雅黑" panose="020B0503020204020204" pitchFamily="34" charset="-122"/>
                        </a:rPr>
                        <a:t>ETA</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15</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30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10</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12</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8</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15</a:t>
                      </a:r>
                      <a:endParaRPr lang="zh-CN" altLang="en-US" dirty="0">
                        <a:latin typeface="Arial" panose="020B0604020202020204" pitchFamily="34" charset="0"/>
                        <a:ea typeface="微软雅黑" panose="020B0503020204020204" pitchFamily="34" charset="-122"/>
                      </a:endParaRPr>
                    </a:p>
                  </a:txBody>
                  <a:tcPr/>
                </a:tc>
                <a:tc>
                  <a:txBody>
                    <a:bodyPr/>
                    <a:lstStyle/>
                    <a:p>
                      <a:r>
                        <a:rPr lang="en-US" altLang="zh-CN" dirty="0">
                          <a:latin typeface="Arial" panose="020B0604020202020204" pitchFamily="34" charset="0"/>
                          <a:ea typeface="微软雅黑" panose="020B0503020204020204" pitchFamily="34" charset="-122"/>
                        </a:rPr>
                        <a:t>100</a:t>
                      </a:r>
                      <a:endParaRPr lang="zh-CN" altLang="en-US"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622785951"/>
                  </a:ext>
                </a:extLst>
              </a:tr>
            </a:tbl>
          </a:graphicData>
        </a:graphic>
      </p:graphicFrame>
      <p:sp>
        <p:nvSpPr>
          <p:cNvPr id="6" name="标注: 弯曲线形 5">
            <a:extLst>
              <a:ext uri="{FF2B5EF4-FFF2-40B4-BE49-F238E27FC236}">
                <a16:creationId xmlns:a16="http://schemas.microsoft.com/office/drawing/2014/main" id="{2AB29FF0-F4D6-9DFF-51E5-78F44718EEDB}"/>
              </a:ext>
            </a:extLst>
          </p:cNvPr>
          <p:cNvSpPr/>
          <p:nvPr/>
        </p:nvSpPr>
        <p:spPr>
          <a:xfrm>
            <a:off x="9324701" y="4203677"/>
            <a:ext cx="2386150" cy="590391"/>
          </a:xfrm>
          <a:prstGeom prst="borderCallout2">
            <a:avLst>
              <a:gd name="adj1" fmla="val -519"/>
              <a:gd name="adj2" fmla="val 1852"/>
              <a:gd name="adj3" fmla="val 12080"/>
              <a:gd name="adj4" fmla="val -283"/>
              <a:gd name="adj5" fmla="val 55416"/>
              <a:gd name="adj6" fmla="val -15328"/>
            </a:avLst>
          </a:prstGeom>
          <a:solidFill>
            <a:srgbClr val="0070C0"/>
          </a:solid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indent="-171450" defTabSz="914400" rtl="0" eaLnBrk="1" fontAlgn="auto" latinLnBrk="0" hangingPunct="1">
              <a:lnSpc>
                <a:spcPct val="100000"/>
              </a:lnSpc>
              <a:spcBef>
                <a:spcPts val="0"/>
              </a:spcBef>
              <a:spcAft>
                <a:spcPts val="0"/>
              </a:spcAft>
              <a:buClrTx/>
              <a:buSzTx/>
              <a:buFont typeface="Arial" panose="020B0604020202020204" pitchFamily="34" charset="0"/>
              <a:buChar char="•"/>
              <a:tabLst/>
            </a:pPr>
            <a:r>
              <a:rPr kumimoji="0" lang="zh-CN" altLang="en-US"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超</a:t>
            </a:r>
            <a:r>
              <a:rPr kumimoji="0" lang="en-US" altLang="zh-CN"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W1 PF 10 pcs</a:t>
            </a:r>
            <a:r>
              <a:rPr kumimoji="0" lang="zh-CN" altLang="en-US"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如何处理</a:t>
            </a:r>
            <a:endParaRPr kumimoji="0" lang="en-US" altLang="zh-CN"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a:p>
            <a:pPr marL="171450" marR="0" indent="-171450" defTabSz="914400" rtl="0" eaLnBrk="1" fontAlgn="auto" latinLnBrk="0" hangingPunct="1">
              <a:lnSpc>
                <a:spcPct val="100000"/>
              </a:lnSpc>
              <a:spcBef>
                <a:spcPts val="0"/>
              </a:spcBef>
              <a:spcAft>
                <a:spcPts val="0"/>
              </a:spcAft>
              <a:buClrTx/>
              <a:buSzTx/>
              <a:buFont typeface="Arial" panose="020B0604020202020204" pitchFamily="34" charset="0"/>
              <a:buChar char="•"/>
              <a:tabLst/>
            </a:pPr>
            <a:r>
              <a:rPr lang="en-US" altLang="zh-CN" sz="1200" b="1" dirty="0">
                <a:solidFill>
                  <a:schemeClr val="tx1"/>
                </a:solidFill>
                <a:latin typeface="Arial" panose="020B0604020202020204" pitchFamily="34" charset="0"/>
                <a:ea typeface="微软雅黑" panose="020B0503020204020204" pitchFamily="34" charset="-122"/>
              </a:rPr>
              <a:t>ETA</a:t>
            </a:r>
            <a:r>
              <a:rPr lang="zh-CN" altLang="en-US" sz="1200" b="1" dirty="0">
                <a:solidFill>
                  <a:schemeClr val="tx1"/>
                </a:solidFill>
                <a:latin typeface="Arial" panose="020B0604020202020204" pitchFamily="34" charset="0"/>
                <a:ea typeface="微软雅黑" panose="020B0503020204020204" pitchFamily="34" charset="-122"/>
              </a:rPr>
              <a:t>已经超了</a:t>
            </a:r>
            <a:r>
              <a:rPr lang="en-US" altLang="zh-CN" sz="1200" b="1" dirty="0">
                <a:solidFill>
                  <a:schemeClr val="tx1"/>
                </a:solidFill>
                <a:latin typeface="Arial" panose="020B0604020202020204" pitchFamily="34" charset="0"/>
                <a:ea typeface="微软雅黑" panose="020B0503020204020204" pitchFamily="34" charset="-122"/>
              </a:rPr>
              <a:t>W1 Commit</a:t>
            </a:r>
            <a:r>
              <a:rPr lang="zh-CN" altLang="en-US" sz="1200" b="1" dirty="0">
                <a:solidFill>
                  <a:schemeClr val="tx1"/>
                </a:solidFill>
                <a:latin typeface="Arial" panose="020B0604020202020204" pitchFamily="34" charset="0"/>
                <a:ea typeface="微软雅黑" panose="020B0503020204020204" pitchFamily="34" charset="-122"/>
              </a:rPr>
              <a:t>，是</a:t>
            </a:r>
            <a:r>
              <a:rPr lang="en-US" altLang="zh-CN" sz="1200" b="1" dirty="0">
                <a:solidFill>
                  <a:schemeClr val="tx1"/>
                </a:solidFill>
                <a:latin typeface="Arial" panose="020B0604020202020204" pitchFamily="34" charset="0"/>
                <a:ea typeface="微软雅黑" panose="020B0503020204020204" pitchFamily="34" charset="-122"/>
              </a:rPr>
              <a:t>W2 Commit pull in</a:t>
            </a:r>
            <a:r>
              <a:rPr lang="zh-CN" altLang="en-US" sz="1200" b="1" dirty="0">
                <a:solidFill>
                  <a:schemeClr val="tx1"/>
                </a:solidFill>
                <a:latin typeface="Arial" panose="020B0604020202020204" pitchFamily="34" charset="0"/>
                <a:ea typeface="微软雅黑" panose="020B0503020204020204" pitchFamily="34" charset="-122"/>
              </a:rPr>
              <a:t>么？</a:t>
            </a:r>
            <a:endParaRPr kumimoji="0" lang="zh-CN" altLang="en-US" sz="1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sp>
        <p:nvSpPr>
          <p:cNvPr id="7" name="标注: 弯曲线形 6">
            <a:extLst>
              <a:ext uri="{FF2B5EF4-FFF2-40B4-BE49-F238E27FC236}">
                <a16:creationId xmlns:a16="http://schemas.microsoft.com/office/drawing/2014/main" id="{83AB4573-866F-29BD-9FD2-1BC73D108AEB}"/>
              </a:ext>
            </a:extLst>
          </p:cNvPr>
          <p:cNvSpPr/>
          <p:nvPr/>
        </p:nvSpPr>
        <p:spPr>
          <a:xfrm>
            <a:off x="4047306" y="5427287"/>
            <a:ext cx="3744688" cy="1243678"/>
          </a:xfrm>
          <a:prstGeom prst="borderCallout2">
            <a:avLst>
              <a:gd name="adj1" fmla="val 18750"/>
              <a:gd name="adj2" fmla="val -8333"/>
              <a:gd name="adj3" fmla="val 18750"/>
              <a:gd name="adj4" fmla="val -16667"/>
              <a:gd name="adj5" fmla="val -50992"/>
              <a:gd name="adj6" fmla="val -16431"/>
            </a:avLst>
          </a:prstGeom>
          <a:solidFill>
            <a:srgbClr val="0070C0"/>
          </a:solid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indent="-171450" defTabSz="914400" rtl="0" eaLnBrk="1" fontAlgn="auto" latinLnBrk="0" hangingPunct="1">
              <a:lnSpc>
                <a:spcPct val="100000"/>
              </a:lnSpc>
              <a:spcBef>
                <a:spcPts val="0"/>
              </a:spcBef>
              <a:spcAft>
                <a:spcPts val="0"/>
              </a:spcAft>
              <a:buClrTx/>
              <a:buSzTx/>
              <a:buFont typeface="Arial" panose="020B0604020202020204" pitchFamily="34" charset="0"/>
              <a:buChar char="•"/>
              <a:tabLst/>
            </a:pPr>
            <a:r>
              <a:rPr lang="en-US" altLang="zh-CN" sz="1200" b="1" dirty="0">
                <a:solidFill>
                  <a:schemeClr val="tx1"/>
                </a:solidFill>
                <a:latin typeface="Arial" panose="020B0604020202020204" pitchFamily="34" charset="0"/>
                <a:ea typeface="微软雅黑" panose="020B0503020204020204" pitchFamily="34" charset="-122"/>
              </a:rPr>
              <a:t>delay or pull in?</a:t>
            </a:r>
          </a:p>
          <a:p>
            <a:pPr marL="171450" marR="0" indent="-171450" defTabSz="914400" rtl="0" eaLnBrk="1" fontAlgn="auto" latinLnBrk="0" hangingPunct="1">
              <a:lnSpc>
                <a:spcPct val="100000"/>
              </a:lnSpc>
              <a:spcBef>
                <a:spcPts val="0"/>
              </a:spcBef>
              <a:spcAft>
                <a:spcPts val="0"/>
              </a:spcAft>
              <a:buClrTx/>
              <a:buSzTx/>
              <a:buFont typeface="Arial" panose="020B0604020202020204" pitchFamily="34" charset="0"/>
              <a:buChar char="•"/>
              <a:tabLst/>
            </a:pPr>
            <a:r>
              <a:rPr lang="zh-CN" altLang="en-US" sz="1200" b="1" dirty="0">
                <a:solidFill>
                  <a:schemeClr val="tx1"/>
                </a:solidFill>
                <a:latin typeface="Arial" panose="020B0604020202020204" pitchFamily="34" charset="0"/>
                <a:ea typeface="微软雅黑" panose="020B0503020204020204" pitchFamily="34" charset="-122"/>
              </a:rPr>
              <a:t>如果现在已经是</a:t>
            </a:r>
            <a:r>
              <a:rPr lang="en-US" altLang="zh-CN" sz="1200" b="1" dirty="0">
                <a:solidFill>
                  <a:schemeClr val="tx1"/>
                </a:solidFill>
                <a:latin typeface="Arial" panose="020B0604020202020204" pitchFamily="34" charset="0"/>
                <a:ea typeface="微软雅黑" panose="020B0503020204020204" pitchFamily="34" charset="-122"/>
              </a:rPr>
              <a:t>D2</a:t>
            </a:r>
            <a:r>
              <a:rPr lang="zh-CN" altLang="en-US" sz="1200" b="1" dirty="0">
                <a:solidFill>
                  <a:schemeClr val="tx1"/>
                </a:solidFill>
                <a:latin typeface="Arial" panose="020B0604020202020204" pitchFamily="34" charset="0"/>
                <a:ea typeface="微软雅黑" panose="020B0503020204020204" pitchFamily="34" charset="-122"/>
              </a:rPr>
              <a:t>了</a:t>
            </a:r>
            <a:r>
              <a:rPr lang="en-US" altLang="zh-CN" sz="1200" b="1" dirty="0">
                <a:solidFill>
                  <a:schemeClr val="tx1"/>
                </a:solidFill>
                <a:latin typeface="Arial" panose="020B0604020202020204" pitchFamily="34" charset="0"/>
                <a:ea typeface="微软雅黑" panose="020B0503020204020204" pitchFamily="34" charset="-122"/>
              </a:rPr>
              <a:t>, </a:t>
            </a:r>
            <a:r>
              <a:rPr lang="zh-CN" altLang="en-US" sz="1200" b="1" dirty="0">
                <a:solidFill>
                  <a:schemeClr val="tx1"/>
                </a:solidFill>
                <a:latin typeface="Arial" panose="020B0604020202020204" pitchFamily="34" charset="0"/>
                <a:ea typeface="微软雅黑" panose="020B0503020204020204" pitchFamily="34" charset="-122"/>
              </a:rPr>
              <a:t>货没有收到即</a:t>
            </a:r>
            <a:r>
              <a:rPr lang="en-US" altLang="zh-CN" sz="1200" b="1" dirty="0">
                <a:solidFill>
                  <a:schemeClr val="tx1"/>
                </a:solidFill>
                <a:latin typeface="Arial" panose="020B0604020202020204" pitchFamily="34" charset="0"/>
                <a:ea typeface="微软雅黑" panose="020B0503020204020204" pitchFamily="34" charset="-122"/>
              </a:rPr>
              <a:t>push out </a:t>
            </a:r>
            <a:r>
              <a:rPr lang="zh-CN" altLang="en-US" sz="1200" b="1" dirty="0">
                <a:solidFill>
                  <a:schemeClr val="tx1"/>
                </a:solidFill>
                <a:latin typeface="Arial" panose="020B0604020202020204" pitchFamily="34" charset="0"/>
                <a:ea typeface="微软雅黑" panose="020B0503020204020204" pitchFamily="34" charset="-122"/>
              </a:rPr>
              <a:t>了。 而</a:t>
            </a:r>
            <a:r>
              <a:rPr lang="en-US" altLang="zh-CN" sz="1200" b="1" dirty="0">
                <a:solidFill>
                  <a:schemeClr val="tx1"/>
                </a:solidFill>
                <a:latin typeface="Arial" panose="020B0604020202020204" pitchFamily="34" charset="0"/>
                <a:ea typeface="微软雅黑" panose="020B0503020204020204" pitchFamily="34" charset="-122"/>
              </a:rPr>
              <a:t>Day1</a:t>
            </a:r>
            <a:r>
              <a:rPr lang="zh-CN" altLang="en-US" sz="1200" b="1" dirty="0">
                <a:solidFill>
                  <a:schemeClr val="tx1"/>
                </a:solidFill>
                <a:latin typeface="Arial" panose="020B0604020202020204" pitchFamily="34" charset="0"/>
                <a:ea typeface="微软雅黑" panose="020B0503020204020204" pitchFamily="34" charset="-122"/>
              </a:rPr>
              <a:t>的</a:t>
            </a:r>
            <a:r>
              <a:rPr lang="en-US" altLang="zh-CN" sz="1200" b="1" dirty="0">
                <a:solidFill>
                  <a:schemeClr val="tx1"/>
                </a:solidFill>
                <a:latin typeface="Arial" panose="020B0604020202020204" pitchFamily="34" charset="0"/>
                <a:ea typeface="微软雅黑" panose="020B0503020204020204" pitchFamily="34" charset="-122"/>
              </a:rPr>
              <a:t>ETA</a:t>
            </a:r>
            <a:r>
              <a:rPr lang="zh-CN" altLang="en-US" sz="1200" b="1" dirty="0">
                <a:solidFill>
                  <a:schemeClr val="tx1"/>
                </a:solidFill>
                <a:latin typeface="Arial" panose="020B0604020202020204" pitchFamily="34" charset="0"/>
                <a:ea typeface="微软雅黑" panose="020B0503020204020204" pitchFamily="34" charset="-122"/>
              </a:rPr>
              <a:t>已经拿不到了。那么供应减少，会有订单没有了</a:t>
            </a:r>
            <a:r>
              <a:rPr lang="en-US" altLang="zh-CN" sz="1200" b="1" dirty="0">
                <a:solidFill>
                  <a:schemeClr val="tx1"/>
                </a:solidFill>
                <a:latin typeface="Arial" panose="020B0604020202020204" pitchFamily="34" charset="0"/>
                <a:ea typeface="微软雅黑" panose="020B0503020204020204" pitchFamily="34" charset="-122"/>
              </a:rPr>
              <a:t>PSD</a:t>
            </a:r>
          </a:p>
          <a:p>
            <a:pPr marL="171450" marR="0" indent="-171450" defTabSz="914400" rtl="0" eaLnBrk="1" fontAlgn="auto" latinLnBrk="0" hangingPunct="1">
              <a:lnSpc>
                <a:spcPct val="100000"/>
              </a:lnSpc>
              <a:spcBef>
                <a:spcPts val="0"/>
              </a:spcBef>
              <a:spcAft>
                <a:spcPts val="0"/>
              </a:spcAft>
              <a:buClrTx/>
              <a:buSzTx/>
              <a:buFont typeface="Arial" panose="020B0604020202020204" pitchFamily="34" charset="0"/>
              <a:buChar char="•"/>
              <a:tabLst/>
            </a:pPr>
            <a:r>
              <a:rPr lang="en-US" altLang="zh-CN" sz="1200" b="1" dirty="0">
                <a:solidFill>
                  <a:schemeClr val="tx1"/>
                </a:solidFill>
                <a:latin typeface="Arial" panose="020B0604020202020204" pitchFamily="34" charset="0"/>
                <a:ea typeface="微软雅黑" panose="020B0503020204020204" pitchFamily="34" charset="-122"/>
              </a:rPr>
              <a:t>GR </a:t>
            </a:r>
            <a:r>
              <a:rPr lang="zh-CN" altLang="en-US" sz="1200" b="1" dirty="0">
                <a:solidFill>
                  <a:schemeClr val="tx1"/>
                </a:solidFill>
                <a:latin typeface="Arial" panose="020B0604020202020204" pitchFamily="34" charset="0"/>
                <a:ea typeface="微软雅黑" panose="020B0503020204020204" pitchFamily="34" charset="-122"/>
              </a:rPr>
              <a:t>与</a:t>
            </a:r>
            <a:r>
              <a:rPr lang="en-US" altLang="zh-CN" sz="1200" b="1" dirty="0">
                <a:solidFill>
                  <a:schemeClr val="tx1"/>
                </a:solidFill>
                <a:latin typeface="Arial" panose="020B0604020202020204" pitchFamily="34" charset="0"/>
                <a:ea typeface="微软雅黑" panose="020B0503020204020204" pitchFamily="34" charset="-122"/>
              </a:rPr>
              <a:t>ETA</a:t>
            </a:r>
            <a:r>
              <a:rPr lang="zh-CN" altLang="en-US" sz="1200" b="1" dirty="0">
                <a:solidFill>
                  <a:schemeClr val="tx1"/>
                </a:solidFill>
                <a:latin typeface="Arial" panose="020B0604020202020204" pitchFamily="34" charset="0"/>
                <a:ea typeface="微软雅黑" panose="020B0503020204020204" pitchFamily="34" charset="-122"/>
              </a:rPr>
              <a:t>之间没有</a:t>
            </a:r>
            <a:r>
              <a:rPr lang="en-US" altLang="zh-CN" sz="1200" b="1" dirty="0">
                <a:solidFill>
                  <a:schemeClr val="tx1"/>
                </a:solidFill>
                <a:latin typeface="Arial" panose="020B0604020202020204" pitchFamily="34" charset="0"/>
                <a:ea typeface="微软雅黑" panose="020B0503020204020204" pitchFamily="34" charset="-122"/>
              </a:rPr>
              <a:t>pegging</a:t>
            </a:r>
            <a:r>
              <a:rPr lang="zh-CN" altLang="en-US" sz="1200" b="1" dirty="0">
                <a:solidFill>
                  <a:schemeClr val="tx1"/>
                </a:solidFill>
                <a:latin typeface="Arial" panose="020B0604020202020204" pitchFamily="34" charset="0"/>
                <a:ea typeface="微软雅黑" panose="020B0503020204020204" pitchFamily="34" charset="-122"/>
              </a:rPr>
              <a:t>， 不只准确性没法衡量，数量计算亦会出现问题</a:t>
            </a:r>
            <a:endParaRPr lang="en-US" altLang="zh-CN" sz="1200" b="1" dirty="0">
              <a:solidFill>
                <a:schemeClr val="tx1"/>
              </a:solidFill>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1302201209"/>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98067477-3F30-A118-194C-F2216C643E4F}"/>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Supplier Deep Collaboration</a:t>
            </a:r>
            <a:endParaRPr lang="zh-CN" altLang="en-US" dirty="0">
              <a:latin typeface="Arial" panose="020B0604020202020204" pitchFamily="34" charset="0"/>
              <a:ea typeface="微软雅黑" panose="020B0503020204020204" pitchFamily="34" charset="-122"/>
            </a:endParaRPr>
          </a:p>
        </p:txBody>
      </p:sp>
      <p:sp>
        <p:nvSpPr>
          <p:cNvPr id="5" name="矩形: 圆角 4">
            <a:extLst>
              <a:ext uri="{FF2B5EF4-FFF2-40B4-BE49-F238E27FC236}">
                <a16:creationId xmlns:a16="http://schemas.microsoft.com/office/drawing/2014/main" id="{6EE89F23-90C3-E55A-712C-DA7314FC72D5}"/>
              </a:ext>
            </a:extLst>
          </p:cNvPr>
          <p:cNvSpPr/>
          <p:nvPr/>
        </p:nvSpPr>
        <p:spPr>
          <a:xfrm>
            <a:off x="7238570" y="1325243"/>
            <a:ext cx="4475408" cy="4726547"/>
          </a:xfrm>
          <a:prstGeom prst="roundRect">
            <a:avLst/>
          </a:prstGeom>
          <a:solidFill>
            <a:srgbClr val="00B050">
              <a:alpha val="31000"/>
            </a:srgbClr>
          </a:solidFill>
        </p:spPr>
        <p:style>
          <a:lnRef idx="2">
            <a:schemeClr val="accent6"/>
          </a:lnRef>
          <a:fillRef idx="1">
            <a:schemeClr val="lt1"/>
          </a:fillRef>
          <a:effectRef idx="0">
            <a:schemeClr val="accent6"/>
          </a:effectRef>
          <a:fontRef idx="minor">
            <a:schemeClr val="dk1"/>
          </a:fontRef>
        </p:style>
        <p:txBody>
          <a:bodyPr rtlCol="0" anchor="ctr"/>
          <a:lstStyle/>
          <a:p>
            <a:pPr algn="ctr"/>
            <a:endParaRPr lang="zh-CN" altLang="en-US">
              <a:solidFill>
                <a:schemeClr val="bg1"/>
              </a:solidFill>
              <a:latin typeface="+mn-ea"/>
            </a:endParaRPr>
          </a:p>
        </p:txBody>
      </p:sp>
      <p:sp>
        <p:nvSpPr>
          <p:cNvPr id="6" name="矩形: 圆角 5">
            <a:extLst>
              <a:ext uri="{FF2B5EF4-FFF2-40B4-BE49-F238E27FC236}">
                <a16:creationId xmlns:a16="http://schemas.microsoft.com/office/drawing/2014/main" id="{80A74D46-8478-0E6B-B062-640B9255EBF7}"/>
              </a:ext>
            </a:extLst>
          </p:cNvPr>
          <p:cNvSpPr/>
          <p:nvPr/>
        </p:nvSpPr>
        <p:spPr>
          <a:xfrm>
            <a:off x="804025" y="1325243"/>
            <a:ext cx="4475408" cy="4726547"/>
          </a:xfrm>
          <a:prstGeom prst="roundRect">
            <a:avLst/>
          </a:prstGeom>
          <a:solidFill>
            <a:schemeClr val="bg2">
              <a:alpha val="41000"/>
            </a:schemeClr>
          </a:solidFill>
        </p:spPr>
        <p:style>
          <a:lnRef idx="2">
            <a:schemeClr val="accent6"/>
          </a:lnRef>
          <a:fillRef idx="1">
            <a:schemeClr val="lt1"/>
          </a:fillRef>
          <a:effectRef idx="0">
            <a:schemeClr val="accent6"/>
          </a:effectRef>
          <a:fontRef idx="minor">
            <a:schemeClr val="dk1"/>
          </a:fontRef>
        </p:style>
        <p:txBody>
          <a:bodyPr rtlCol="0" anchor="ctr"/>
          <a:lstStyle/>
          <a:p>
            <a:pPr algn="ctr"/>
            <a:endParaRPr lang="zh-CN" altLang="en-US">
              <a:solidFill>
                <a:schemeClr val="bg1"/>
              </a:solidFill>
              <a:latin typeface="+mn-ea"/>
            </a:endParaRPr>
          </a:p>
        </p:txBody>
      </p:sp>
      <p:grpSp>
        <p:nvGrpSpPr>
          <p:cNvPr id="7" name="组合 6">
            <a:extLst>
              <a:ext uri="{FF2B5EF4-FFF2-40B4-BE49-F238E27FC236}">
                <a16:creationId xmlns:a16="http://schemas.microsoft.com/office/drawing/2014/main" id="{5233A9FC-141B-EA7E-A8DD-32C2FF9D87D3}"/>
              </a:ext>
            </a:extLst>
          </p:cNvPr>
          <p:cNvGrpSpPr/>
          <p:nvPr/>
        </p:nvGrpSpPr>
        <p:grpSpPr>
          <a:xfrm>
            <a:off x="889541" y="1640612"/>
            <a:ext cx="4060827" cy="3056213"/>
            <a:chOff x="2060589" y="1163022"/>
            <a:chExt cx="4060827" cy="3056213"/>
          </a:xfrm>
        </p:grpSpPr>
        <p:sp>
          <p:nvSpPr>
            <p:cNvPr id="8" name="圆角矩形 2">
              <a:extLst>
                <a:ext uri="{FF2B5EF4-FFF2-40B4-BE49-F238E27FC236}">
                  <a16:creationId xmlns:a16="http://schemas.microsoft.com/office/drawing/2014/main" id="{3D1C20A9-29FA-36D3-8318-45566F2B61CA}"/>
                </a:ext>
              </a:extLst>
            </p:cNvPr>
            <p:cNvSpPr/>
            <p:nvPr/>
          </p:nvSpPr>
          <p:spPr>
            <a:xfrm>
              <a:off x="5012899" y="1163022"/>
              <a:ext cx="836295" cy="720090"/>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400" dirty="0">
                  <a:solidFill>
                    <a:schemeClr val="bg1"/>
                  </a:solidFill>
                  <a:latin typeface="Arial" panose="020B0604020202020204" pitchFamily="34" charset="0"/>
                  <a:ea typeface="微软雅黑" panose="020B0503020204020204" pitchFamily="34" charset="-122"/>
                </a:rPr>
                <a:t>MP-MRP</a:t>
              </a:r>
              <a:endParaRPr lang="zh-CN" altLang="en-US" sz="1400" dirty="0">
                <a:solidFill>
                  <a:schemeClr val="bg1"/>
                </a:solidFill>
                <a:latin typeface="Arial" panose="020B0604020202020204" pitchFamily="34" charset="0"/>
                <a:ea typeface="微软雅黑" panose="020B0503020204020204" pitchFamily="34" charset="-122"/>
              </a:endParaRPr>
            </a:p>
          </p:txBody>
        </p:sp>
        <p:sp>
          <p:nvSpPr>
            <p:cNvPr id="9" name="圆角矩形 2">
              <a:extLst>
                <a:ext uri="{FF2B5EF4-FFF2-40B4-BE49-F238E27FC236}">
                  <a16:creationId xmlns:a16="http://schemas.microsoft.com/office/drawing/2014/main" id="{1DEC09D1-6CC8-A70A-DF3B-D0709305F3AF}"/>
                </a:ext>
              </a:extLst>
            </p:cNvPr>
            <p:cNvSpPr/>
            <p:nvPr/>
          </p:nvSpPr>
          <p:spPr>
            <a:xfrm>
              <a:off x="2060589" y="2235662"/>
              <a:ext cx="836295" cy="720090"/>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400" dirty="0">
                  <a:solidFill>
                    <a:schemeClr val="bg1"/>
                  </a:solidFill>
                  <a:latin typeface="Arial" panose="020B0604020202020204" pitchFamily="34" charset="0"/>
                  <a:ea typeface="微软雅黑" panose="020B0503020204020204" pitchFamily="34" charset="-122"/>
                </a:rPr>
                <a:t>SRM</a:t>
              </a:r>
              <a:endParaRPr lang="zh-CN" altLang="en-US" sz="1400" dirty="0">
                <a:solidFill>
                  <a:schemeClr val="bg1"/>
                </a:solidFill>
                <a:latin typeface="Arial" panose="020B0604020202020204" pitchFamily="34" charset="0"/>
                <a:ea typeface="微软雅黑" panose="020B0503020204020204" pitchFamily="34" charset="-122"/>
              </a:endParaRPr>
            </a:p>
          </p:txBody>
        </p:sp>
        <p:grpSp>
          <p:nvGrpSpPr>
            <p:cNvPr id="10" name="组合 9">
              <a:extLst>
                <a:ext uri="{FF2B5EF4-FFF2-40B4-BE49-F238E27FC236}">
                  <a16:creationId xmlns:a16="http://schemas.microsoft.com/office/drawing/2014/main" id="{DDC236E8-97EF-B594-38A1-DA9ACAA87222}"/>
                </a:ext>
              </a:extLst>
            </p:cNvPr>
            <p:cNvGrpSpPr/>
            <p:nvPr/>
          </p:nvGrpSpPr>
          <p:grpSpPr>
            <a:xfrm>
              <a:off x="2896884" y="1500884"/>
              <a:ext cx="2731366" cy="1094823"/>
              <a:chOff x="2896884" y="1500884"/>
              <a:chExt cx="2731366" cy="1094823"/>
            </a:xfrm>
          </p:grpSpPr>
          <p:cxnSp>
            <p:nvCxnSpPr>
              <p:cNvPr id="18" name="直接箭头连接符 17">
                <a:extLst>
                  <a:ext uri="{FF2B5EF4-FFF2-40B4-BE49-F238E27FC236}">
                    <a16:creationId xmlns:a16="http://schemas.microsoft.com/office/drawing/2014/main" id="{62A0C243-5F7E-17C1-648B-A23C3982D795}"/>
                  </a:ext>
                </a:extLst>
              </p:cNvPr>
              <p:cNvCxnSpPr>
                <a:cxnSpLocks/>
                <a:endCxn id="9" idx="3"/>
              </p:cNvCxnSpPr>
              <p:nvPr/>
            </p:nvCxnSpPr>
            <p:spPr>
              <a:xfrm flipH="1">
                <a:off x="2896884" y="1500884"/>
                <a:ext cx="2116015" cy="109482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5723B77F-AA33-77A1-A363-060022A213B6}"/>
                  </a:ext>
                </a:extLst>
              </p:cNvPr>
              <p:cNvSpPr txBox="1"/>
              <p:nvPr/>
            </p:nvSpPr>
            <p:spPr>
              <a:xfrm>
                <a:off x="3177553" y="1535054"/>
                <a:ext cx="2450697" cy="276999"/>
              </a:xfrm>
              <a:prstGeom prst="rect">
                <a:avLst/>
              </a:prstGeom>
              <a:noFill/>
            </p:spPr>
            <p:txBody>
              <a:bodyPr wrap="square" rtlCol="0">
                <a:spAutoFit/>
              </a:bodyPr>
              <a:lstStyle/>
              <a:p>
                <a:r>
                  <a:rPr lang="en-US" altLang="zh-CN" sz="1200" dirty="0">
                    <a:solidFill>
                      <a:schemeClr val="bg1"/>
                    </a:solidFill>
                    <a:latin typeface="Arial" panose="020B0604020202020204" pitchFamily="34" charset="0"/>
                    <a:ea typeface="微软雅黑" panose="020B0503020204020204" pitchFamily="34" charset="-122"/>
                  </a:rPr>
                  <a:t>Parts Forecast</a:t>
                </a:r>
                <a:endParaRPr lang="zh-CN" altLang="en-US" sz="1200" dirty="0">
                  <a:solidFill>
                    <a:schemeClr val="bg1"/>
                  </a:solidFill>
                  <a:latin typeface="Arial" panose="020B0604020202020204" pitchFamily="34" charset="0"/>
                  <a:ea typeface="微软雅黑" panose="020B0503020204020204" pitchFamily="34" charset="-122"/>
                </a:endParaRPr>
              </a:p>
            </p:txBody>
          </p:sp>
        </p:grpSp>
        <p:sp>
          <p:nvSpPr>
            <p:cNvPr id="11" name="圆角矩形 2">
              <a:extLst>
                <a:ext uri="{FF2B5EF4-FFF2-40B4-BE49-F238E27FC236}">
                  <a16:creationId xmlns:a16="http://schemas.microsoft.com/office/drawing/2014/main" id="{1E680439-854C-F258-55C4-7A05AB1B9011}"/>
                </a:ext>
              </a:extLst>
            </p:cNvPr>
            <p:cNvSpPr/>
            <p:nvPr/>
          </p:nvSpPr>
          <p:spPr>
            <a:xfrm>
              <a:off x="5012899" y="2235662"/>
              <a:ext cx="836295" cy="720090"/>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dirty="0">
                  <a:solidFill>
                    <a:schemeClr val="bg1"/>
                  </a:solidFill>
                  <a:latin typeface="Arial" panose="020B0604020202020204" pitchFamily="34" charset="0"/>
                  <a:ea typeface="微软雅黑" panose="020B0503020204020204" pitchFamily="34" charset="-122"/>
                </a:rPr>
                <a:t>MP-Closed Loop MRP</a:t>
              </a:r>
              <a:endParaRPr lang="zh-CN" altLang="en-US" sz="1200" dirty="0">
                <a:solidFill>
                  <a:schemeClr val="bg1"/>
                </a:solidFill>
                <a:latin typeface="Arial" panose="020B0604020202020204" pitchFamily="34" charset="0"/>
                <a:ea typeface="微软雅黑" panose="020B0503020204020204" pitchFamily="34" charset="-122"/>
              </a:endParaRPr>
            </a:p>
          </p:txBody>
        </p:sp>
        <p:grpSp>
          <p:nvGrpSpPr>
            <p:cNvPr id="12" name="组合 11">
              <a:extLst>
                <a:ext uri="{FF2B5EF4-FFF2-40B4-BE49-F238E27FC236}">
                  <a16:creationId xmlns:a16="http://schemas.microsoft.com/office/drawing/2014/main" id="{FC94B8EE-66D6-774A-F45B-BB14F0EFDEBF}"/>
                </a:ext>
              </a:extLst>
            </p:cNvPr>
            <p:cNvGrpSpPr/>
            <p:nvPr/>
          </p:nvGrpSpPr>
          <p:grpSpPr>
            <a:xfrm>
              <a:off x="2896884" y="2109094"/>
              <a:ext cx="2245699" cy="499313"/>
              <a:chOff x="2896884" y="2109094"/>
              <a:chExt cx="2245699" cy="499313"/>
            </a:xfrm>
          </p:grpSpPr>
          <p:cxnSp>
            <p:nvCxnSpPr>
              <p:cNvPr id="16" name="连接符: 肘形 15">
                <a:extLst>
                  <a:ext uri="{FF2B5EF4-FFF2-40B4-BE49-F238E27FC236}">
                    <a16:creationId xmlns:a16="http://schemas.microsoft.com/office/drawing/2014/main" id="{E5873631-7D97-EF25-C4C5-6498015836B5}"/>
                  </a:ext>
                </a:extLst>
              </p:cNvPr>
              <p:cNvCxnSpPr>
                <a:cxnSpLocks/>
                <a:stCxn id="9" idx="3"/>
                <a:endCxn id="11" idx="1"/>
              </p:cNvCxnSpPr>
              <p:nvPr/>
            </p:nvCxnSpPr>
            <p:spPr>
              <a:xfrm>
                <a:off x="2896884" y="2595707"/>
                <a:ext cx="2116015" cy="12700"/>
              </a:xfrm>
              <a:prstGeom prst="bentConnector3">
                <a:avLst>
                  <a:gd name="adj1" fmla="val 97474"/>
                </a:avLst>
              </a:prstGeom>
              <a:ln>
                <a:tailEnd type="triangle"/>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F9981D41-F9EE-558F-D204-2E1935947771}"/>
                  </a:ext>
                </a:extLst>
              </p:cNvPr>
              <p:cNvSpPr txBox="1"/>
              <p:nvPr/>
            </p:nvSpPr>
            <p:spPr>
              <a:xfrm>
                <a:off x="3268812" y="2109094"/>
                <a:ext cx="1873771" cy="276999"/>
              </a:xfrm>
              <a:prstGeom prst="rect">
                <a:avLst/>
              </a:prstGeom>
              <a:noFill/>
            </p:spPr>
            <p:txBody>
              <a:bodyPr wrap="square" rtlCol="0">
                <a:spAutoFit/>
              </a:bodyPr>
              <a:lstStyle/>
              <a:p>
                <a:endParaRPr lang="zh-CN" altLang="en-US" sz="1200" dirty="0">
                  <a:solidFill>
                    <a:schemeClr val="bg1"/>
                  </a:solidFill>
                  <a:latin typeface="+mn-ea"/>
                </a:endParaRPr>
              </a:p>
            </p:txBody>
          </p:sp>
        </p:grpSp>
        <p:sp>
          <p:nvSpPr>
            <p:cNvPr id="13" name="文本框 12">
              <a:extLst>
                <a:ext uri="{FF2B5EF4-FFF2-40B4-BE49-F238E27FC236}">
                  <a16:creationId xmlns:a16="http://schemas.microsoft.com/office/drawing/2014/main" id="{94D52086-F5EB-358B-4667-A94536ACDCB7}"/>
                </a:ext>
              </a:extLst>
            </p:cNvPr>
            <p:cNvSpPr txBox="1"/>
            <p:nvPr/>
          </p:nvSpPr>
          <p:spPr>
            <a:xfrm>
              <a:off x="3712666" y="2201021"/>
              <a:ext cx="1873771" cy="276999"/>
            </a:xfrm>
            <a:prstGeom prst="rect">
              <a:avLst/>
            </a:prstGeom>
            <a:noFill/>
          </p:spPr>
          <p:txBody>
            <a:bodyPr wrap="square" rtlCol="0">
              <a:spAutoFit/>
            </a:bodyPr>
            <a:lstStyle/>
            <a:p>
              <a:r>
                <a:rPr lang="en-US" altLang="zh-CN" sz="1200" dirty="0">
                  <a:solidFill>
                    <a:schemeClr val="bg1"/>
                  </a:solidFill>
                  <a:latin typeface="Arial" panose="020B0604020202020204" pitchFamily="34" charset="0"/>
                  <a:ea typeface="微软雅黑" panose="020B0503020204020204" pitchFamily="34" charset="-122"/>
                </a:rPr>
                <a:t>Supply Commit</a:t>
              </a:r>
              <a:endParaRPr lang="zh-CN" altLang="en-US" sz="1200" dirty="0">
                <a:solidFill>
                  <a:schemeClr val="bg1"/>
                </a:solidFill>
                <a:latin typeface="Arial" panose="020B0604020202020204" pitchFamily="34" charset="0"/>
                <a:ea typeface="微软雅黑" panose="020B0503020204020204" pitchFamily="34" charset="-122"/>
              </a:endParaRPr>
            </a:p>
          </p:txBody>
        </p:sp>
        <p:sp>
          <p:nvSpPr>
            <p:cNvPr id="14" name="圆角矩形 2">
              <a:extLst>
                <a:ext uri="{FF2B5EF4-FFF2-40B4-BE49-F238E27FC236}">
                  <a16:creationId xmlns:a16="http://schemas.microsoft.com/office/drawing/2014/main" id="{6C443F84-6993-7F8A-D4AE-DF0A73B3F110}"/>
                </a:ext>
              </a:extLst>
            </p:cNvPr>
            <p:cNvSpPr/>
            <p:nvPr/>
          </p:nvSpPr>
          <p:spPr>
            <a:xfrm>
              <a:off x="4770655" y="3675843"/>
              <a:ext cx="1350761" cy="543392"/>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400" dirty="0">
                  <a:solidFill>
                    <a:schemeClr val="bg1"/>
                  </a:solidFill>
                  <a:latin typeface="Arial" panose="020B0604020202020204" pitchFamily="34" charset="0"/>
                  <a:ea typeface="微软雅黑" panose="020B0503020204020204" pitchFamily="34" charset="-122"/>
                </a:rPr>
                <a:t>Execution Plan</a:t>
              </a:r>
              <a:endParaRPr lang="zh-CN" altLang="en-US" sz="1400" dirty="0">
                <a:solidFill>
                  <a:schemeClr val="bg1"/>
                </a:solidFill>
                <a:latin typeface="Arial" panose="020B0604020202020204" pitchFamily="34" charset="0"/>
                <a:ea typeface="微软雅黑" panose="020B0503020204020204" pitchFamily="34" charset="-122"/>
              </a:endParaRPr>
            </a:p>
          </p:txBody>
        </p:sp>
        <p:sp>
          <p:nvSpPr>
            <p:cNvPr id="15" name="文本框 14">
              <a:extLst>
                <a:ext uri="{FF2B5EF4-FFF2-40B4-BE49-F238E27FC236}">
                  <a16:creationId xmlns:a16="http://schemas.microsoft.com/office/drawing/2014/main" id="{F0DCDA57-7087-FDCC-28D3-41F3247FD499}"/>
                </a:ext>
              </a:extLst>
            </p:cNvPr>
            <p:cNvSpPr txBox="1"/>
            <p:nvPr/>
          </p:nvSpPr>
          <p:spPr>
            <a:xfrm>
              <a:off x="3869623" y="2945367"/>
              <a:ext cx="1636416" cy="276999"/>
            </a:xfrm>
            <a:prstGeom prst="rect">
              <a:avLst/>
            </a:prstGeom>
            <a:noFill/>
          </p:spPr>
          <p:txBody>
            <a:bodyPr wrap="square" rtlCol="0">
              <a:spAutoFit/>
            </a:bodyPr>
            <a:lstStyle/>
            <a:p>
              <a:r>
                <a:rPr lang="en-US" altLang="zh-CN" sz="1200" dirty="0">
                  <a:solidFill>
                    <a:schemeClr val="bg1"/>
                  </a:solidFill>
                  <a:latin typeface="Arial" panose="020B0604020202020204" pitchFamily="34" charset="0"/>
                  <a:ea typeface="微软雅黑" panose="020B0503020204020204" pitchFamily="34" charset="-122"/>
                </a:rPr>
                <a:t>ETA</a:t>
              </a:r>
              <a:endParaRPr lang="zh-CN" altLang="en-US" sz="1200" dirty="0">
                <a:solidFill>
                  <a:schemeClr val="bg1"/>
                </a:solidFill>
                <a:latin typeface="Arial" panose="020B0604020202020204" pitchFamily="34" charset="0"/>
                <a:ea typeface="微软雅黑" panose="020B0503020204020204" pitchFamily="34" charset="-122"/>
              </a:endParaRPr>
            </a:p>
          </p:txBody>
        </p:sp>
      </p:grpSp>
      <p:grpSp>
        <p:nvGrpSpPr>
          <p:cNvPr id="20" name="组合 19">
            <a:extLst>
              <a:ext uri="{FF2B5EF4-FFF2-40B4-BE49-F238E27FC236}">
                <a16:creationId xmlns:a16="http://schemas.microsoft.com/office/drawing/2014/main" id="{3BC2A265-0C9A-D3B2-00CB-9C7EA65D705B}"/>
              </a:ext>
            </a:extLst>
          </p:cNvPr>
          <p:cNvGrpSpPr/>
          <p:nvPr/>
        </p:nvGrpSpPr>
        <p:grpSpPr>
          <a:xfrm>
            <a:off x="7664412" y="1544288"/>
            <a:ext cx="3559214" cy="3429396"/>
            <a:chOff x="2562202" y="1163022"/>
            <a:chExt cx="3559214" cy="3429396"/>
          </a:xfrm>
        </p:grpSpPr>
        <p:sp>
          <p:nvSpPr>
            <p:cNvPr id="21" name="圆角矩形 2">
              <a:extLst>
                <a:ext uri="{FF2B5EF4-FFF2-40B4-BE49-F238E27FC236}">
                  <a16:creationId xmlns:a16="http://schemas.microsoft.com/office/drawing/2014/main" id="{39352638-0A6C-B1BB-6C6D-572E643C9E38}"/>
                </a:ext>
              </a:extLst>
            </p:cNvPr>
            <p:cNvSpPr/>
            <p:nvPr/>
          </p:nvSpPr>
          <p:spPr>
            <a:xfrm>
              <a:off x="5012899" y="1163022"/>
              <a:ext cx="836295" cy="720090"/>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400" dirty="0">
                  <a:solidFill>
                    <a:schemeClr val="bg1"/>
                  </a:solidFill>
                  <a:latin typeface="Arial" panose="020B0604020202020204" pitchFamily="34" charset="0"/>
                  <a:ea typeface="微软雅黑" panose="020B0503020204020204" pitchFamily="34" charset="-122"/>
                </a:rPr>
                <a:t>MP-MRP</a:t>
              </a:r>
              <a:endParaRPr lang="zh-CN" altLang="en-US" sz="1400" dirty="0">
                <a:solidFill>
                  <a:schemeClr val="bg1"/>
                </a:solidFill>
                <a:latin typeface="Arial" panose="020B0604020202020204" pitchFamily="34" charset="0"/>
                <a:ea typeface="微软雅黑" panose="020B0503020204020204" pitchFamily="34" charset="-122"/>
              </a:endParaRPr>
            </a:p>
          </p:txBody>
        </p:sp>
        <p:sp>
          <p:nvSpPr>
            <p:cNvPr id="22" name="圆角矩形 2">
              <a:extLst>
                <a:ext uri="{FF2B5EF4-FFF2-40B4-BE49-F238E27FC236}">
                  <a16:creationId xmlns:a16="http://schemas.microsoft.com/office/drawing/2014/main" id="{4A64D207-2D53-FDC1-F206-128E51E51616}"/>
                </a:ext>
              </a:extLst>
            </p:cNvPr>
            <p:cNvSpPr/>
            <p:nvPr/>
          </p:nvSpPr>
          <p:spPr>
            <a:xfrm>
              <a:off x="2562202" y="1172309"/>
              <a:ext cx="836295" cy="720090"/>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400" dirty="0">
                  <a:solidFill>
                    <a:schemeClr val="bg1"/>
                  </a:solidFill>
                  <a:latin typeface="Arial" panose="020B0604020202020204" pitchFamily="34" charset="0"/>
                  <a:ea typeface="微软雅黑" panose="020B0503020204020204" pitchFamily="34" charset="-122"/>
                </a:rPr>
                <a:t>SRM</a:t>
              </a:r>
              <a:endParaRPr lang="zh-CN" altLang="en-US" sz="1400" dirty="0">
                <a:solidFill>
                  <a:schemeClr val="bg1"/>
                </a:solidFill>
                <a:latin typeface="Arial" panose="020B0604020202020204" pitchFamily="34" charset="0"/>
                <a:ea typeface="微软雅黑" panose="020B0503020204020204" pitchFamily="34" charset="-122"/>
              </a:endParaRPr>
            </a:p>
          </p:txBody>
        </p:sp>
        <p:grpSp>
          <p:nvGrpSpPr>
            <p:cNvPr id="23" name="组合 22">
              <a:extLst>
                <a:ext uri="{FF2B5EF4-FFF2-40B4-BE49-F238E27FC236}">
                  <a16:creationId xmlns:a16="http://schemas.microsoft.com/office/drawing/2014/main" id="{42837D60-C2E6-757B-DB3B-AC93B4CB4B4A}"/>
                </a:ext>
              </a:extLst>
            </p:cNvPr>
            <p:cNvGrpSpPr/>
            <p:nvPr/>
          </p:nvGrpSpPr>
          <p:grpSpPr>
            <a:xfrm>
              <a:off x="3398497" y="1174449"/>
              <a:ext cx="2722919" cy="335722"/>
              <a:chOff x="3398497" y="1174449"/>
              <a:chExt cx="2722919" cy="335722"/>
            </a:xfrm>
          </p:grpSpPr>
          <p:cxnSp>
            <p:nvCxnSpPr>
              <p:cNvPr id="38" name="直接箭头连接符 37">
                <a:extLst>
                  <a:ext uri="{FF2B5EF4-FFF2-40B4-BE49-F238E27FC236}">
                    <a16:creationId xmlns:a16="http://schemas.microsoft.com/office/drawing/2014/main" id="{3853525F-BF96-F7BF-BAED-66DC09F3B251}"/>
                  </a:ext>
                </a:extLst>
              </p:cNvPr>
              <p:cNvCxnSpPr>
                <a:cxnSpLocks/>
              </p:cNvCxnSpPr>
              <p:nvPr/>
            </p:nvCxnSpPr>
            <p:spPr>
              <a:xfrm flipH="1">
                <a:off x="3398497" y="1500884"/>
                <a:ext cx="1614402" cy="92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9" name="文本框 38">
                <a:extLst>
                  <a:ext uri="{FF2B5EF4-FFF2-40B4-BE49-F238E27FC236}">
                    <a16:creationId xmlns:a16="http://schemas.microsoft.com/office/drawing/2014/main" id="{CA880143-3014-44BB-E84E-8143FD8FDAB6}"/>
                  </a:ext>
                </a:extLst>
              </p:cNvPr>
              <p:cNvSpPr txBox="1"/>
              <p:nvPr/>
            </p:nvSpPr>
            <p:spPr>
              <a:xfrm>
                <a:off x="3670719" y="1174449"/>
                <a:ext cx="2450697" cy="276999"/>
              </a:xfrm>
              <a:prstGeom prst="rect">
                <a:avLst/>
              </a:prstGeom>
              <a:noFill/>
            </p:spPr>
            <p:txBody>
              <a:bodyPr wrap="square" rtlCol="0">
                <a:spAutoFit/>
              </a:bodyPr>
              <a:lstStyle/>
              <a:p>
                <a:r>
                  <a:rPr lang="en-US" altLang="zh-CN" sz="1200" dirty="0">
                    <a:latin typeface="Arial" panose="020B0604020202020204" pitchFamily="34" charset="0"/>
                    <a:ea typeface="微软雅黑" panose="020B0503020204020204" pitchFamily="34" charset="-122"/>
                  </a:rPr>
                  <a:t>Parts Forecast</a:t>
                </a:r>
                <a:endParaRPr lang="zh-CN" altLang="en-US" sz="1200" dirty="0">
                  <a:latin typeface="Arial" panose="020B0604020202020204" pitchFamily="34" charset="0"/>
                  <a:ea typeface="微软雅黑" panose="020B0503020204020204" pitchFamily="34" charset="-122"/>
                </a:endParaRPr>
              </a:p>
            </p:txBody>
          </p:sp>
        </p:grpSp>
        <p:sp>
          <p:nvSpPr>
            <p:cNvPr id="24" name="圆角矩形 2">
              <a:extLst>
                <a:ext uri="{FF2B5EF4-FFF2-40B4-BE49-F238E27FC236}">
                  <a16:creationId xmlns:a16="http://schemas.microsoft.com/office/drawing/2014/main" id="{5D65E352-8B84-647E-59C7-196355C26C62}"/>
                </a:ext>
              </a:extLst>
            </p:cNvPr>
            <p:cNvSpPr/>
            <p:nvPr/>
          </p:nvSpPr>
          <p:spPr>
            <a:xfrm>
              <a:off x="5012899" y="2235662"/>
              <a:ext cx="836295" cy="720090"/>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dirty="0">
                  <a:solidFill>
                    <a:schemeClr val="bg1"/>
                  </a:solidFill>
                  <a:latin typeface="Arial" panose="020B0604020202020204" pitchFamily="34" charset="0"/>
                  <a:ea typeface="微软雅黑" panose="020B0503020204020204" pitchFamily="34" charset="-122"/>
                </a:rPr>
                <a:t>MP-Closed Loop MRP</a:t>
              </a:r>
              <a:endParaRPr lang="zh-CN" altLang="en-US" sz="1200" dirty="0">
                <a:solidFill>
                  <a:schemeClr val="bg1"/>
                </a:solidFill>
                <a:latin typeface="Arial" panose="020B0604020202020204" pitchFamily="34" charset="0"/>
                <a:ea typeface="微软雅黑" panose="020B0503020204020204" pitchFamily="34" charset="-122"/>
              </a:endParaRPr>
            </a:p>
          </p:txBody>
        </p:sp>
        <p:grpSp>
          <p:nvGrpSpPr>
            <p:cNvPr id="25" name="组合 24">
              <a:extLst>
                <a:ext uri="{FF2B5EF4-FFF2-40B4-BE49-F238E27FC236}">
                  <a16:creationId xmlns:a16="http://schemas.microsoft.com/office/drawing/2014/main" id="{A4791760-E537-4830-53C0-993D69DC08B6}"/>
                </a:ext>
              </a:extLst>
            </p:cNvPr>
            <p:cNvGrpSpPr/>
            <p:nvPr/>
          </p:nvGrpSpPr>
          <p:grpSpPr>
            <a:xfrm>
              <a:off x="2980349" y="1892399"/>
              <a:ext cx="2162234" cy="703308"/>
              <a:chOff x="2980349" y="1892399"/>
              <a:chExt cx="2162234" cy="703308"/>
            </a:xfrm>
          </p:grpSpPr>
          <p:cxnSp>
            <p:nvCxnSpPr>
              <p:cNvPr id="36" name="连接符: 肘形 35">
                <a:extLst>
                  <a:ext uri="{FF2B5EF4-FFF2-40B4-BE49-F238E27FC236}">
                    <a16:creationId xmlns:a16="http://schemas.microsoft.com/office/drawing/2014/main" id="{1B114E64-A091-6286-718B-606CD688FCE2}"/>
                  </a:ext>
                </a:extLst>
              </p:cNvPr>
              <p:cNvCxnSpPr>
                <a:stCxn id="22" idx="2"/>
                <a:endCxn id="24" idx="1"/>
              </p:cNvCxnSpPr>
              <p:nvPr/>
            </p:nvCxnSpPr>
            <p:spPr>
              <a:xfrm rot="16200000" flipH="1">
                <a:off x="3644970" y="1227778"/>
                <a:ext cx="703308" cy="2032549"/>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AC0B9894-BA6E-D1FC-CE66-18B5995C070C}"/>
                  </a:ext>
                </a:extLst>
              </p:cNvPr>
              <p:cNvSpPr txBox="1"/>
              <p:nvPr/>
            </p:nvSpPr>
            <p:spPr>
              <a:xfrm>
                <a:off x="3268812" y="2109094"/>
                <a:ext cx="1873771" cy="461665"/>
              </a:xfrm>
              <a:prstGeom prst="rect">
                <a:avLst/>
              </a:prstGeom>
              <a:noFill/>
            </p:spPr>
            <p:txBody>
              <a:bodyPr wrap="square" rtlCol="0">
                <a:spAutoFit/>
              </a:bodyPr>
              <a:lstStyle/>
              <a:p>
                <a:r>
                  <a:rPr lang="en-US" altLang="zh-CN" sz="1200" dirty="0">
                    <a:latin typeface="Arial" panose="020B0604020202020204" pitchFamily="34" charset="0"/>
                    <a:ea typeface="微软雅黑" panose="020B0503020204020204" pitchFamily="34" charset="-122"/>
                  </a:rPr>
                  <a:t>Supply Commit pegging PF</a:t>
                </a:r>
                <a:endParaRPr lang="zh-CN" altLang="en-US" sz="1200" dirty="0">
                  <a:latin typeface="Arial" panose="020B0604020202020204" pitchFamily="34" charset="0"/>
                  <a:ea typeface="微软雅黑" panose="020B0503020204020204" pitchFamily="34" charset="-122"/>
                </a:endParaRPr>
              </a:p>
            </p:txBody>
          </p:sp>
        </p:grpSp>
        <p:grpSp>
          <p:nvGrpSpPr>
            <p:cNvPr id="26" name="组合 25">
              <a:extLst>
                <a:ext uri="{FF2B5EF4-FFF2-40B4-BE49-F238E27FC236}">
                  <a16:creationId xmlns:a16="http://schemas.microsoft.com/office/drawing/2014/main" id="{FBCCE077-ACF6-A8B6-2683-96B92A8F230A}"/>
                </a:ext>
              </a:extLst>
            </p:cNvPr>
            <p:cNvGrpSpPr/>
            <p:nvPr/>
          </p:nvGrpSpPr>
          <p:grpSpPr>
            <a:xfrm>
              <a:off x="2980350" y="1892400"/>
              <a:ext cx="2450697" cy="1356718"/>
              <a:chOff x="2980350" y="1892400"/>
              <a:chExt cx="2450697" cy="1356718"/>
            </a:xfrm>
          </p:grpSpPr>
          <p:cxnSp>
            <p:nvCxnSpPr>
              <p:cNvPr id="34" name="连接符: 肘形 33">
                <a:extLst>
                  <a:ext uri="{FF2B5EF4-FFF2-40B4-BE49-F238E27FC236}">
                    <a16:creationId xmlns:a16="http://schemas.microsoft.com/office/drawing/2014/main" id="{91D5A394-30D3-3BCE-4170-F83B49A00E5F}"/>
                  </a:ext>
                </a:extLst>
              </p:cNvPr>
              <p:cNvCxnSpPr>
                <a:cxnSpLocks/>
                <a:stCxn id="24" idx="2"/>
                <a:endCxn id="22" idx="2"/>
              </p:cNvCxnSpPr>
              <p:nvPr/>
            </p:nvCxnSpPr>
            <p:spPr>
              <a:xfrm rot="5400000" flipH="1">
                <a:off x="3674022" y="1198728"/>
                <a:ext cx="1063353" cy="2450697"/>
              </a:xfrm>
              <a:prstGeom prst="bentConnector3">
                <a:avLst>
                  <a:gd name="adj1" fmla="val -21498"/>
                </a:avLst>
              </a:prstGeom>
              <a:ln>
                <a:tailEnd type="triangle"/>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F9479786-3151-5DAC-F0ED-376BFB55923C}"/>
                  </a:ext>
                </a:extLst>
              </p:cNvPr>
              <p:cNvSpPr txBox="1"/>
              <p:nvPr/>
            </p:nvSpPr>
            <p:spPr>
              <a:xfrm>
                <a:off x="3268812" y="2787453"/>
                <a:ext cx="1873771" cy="461665"/>
              </a:xfrm>
              <a:prstGeom prst="rect">
                <a:avLst/>
              </a:prstGeom>
              <a:noFill/>
            </p:spPr>
            <p:txBody>
              <a:bodyPr wrap="square" rtlCol="0">
                <a:spAutoFit/>
              </a:bodyPr>
              <a:lstStyle/>
              <a:p>
                <a:r>
                  <a:rPr lang="en-US" altLang="zh-CN" sz="1200" dirty="0">
                    <a:latin typeface="Arial" panose="020B0604020202020204" pitchFamily="34" charset="0"/>
                    <a:ea typeface="微软雅黑" panose="020B0503020204020204" pitchFamily="34" charset="-122"/>
                  </a:rPr>
                  <a:t>Rescheduled Commit/SR</a:t>
                </a:r>
                <a:endParaRPr lang="zh-CN" altLang="en-US" sz="1200" dirty="0">
                  <a:latin typeface="Arial" panose="020B0604020202020204" pitchFamily="34" charset="0"/>
                  <a:ea typeface="微软雅黑" panose="020B0503020204020204" pitchFamily="34" charset="-122"/>
                </a:endParaRPr>
              </a:p>
            </p:txBody>
          </p:sp>
        </p:grpSp>
        <p:sp>
          <p:nvSpPr>
            <p:cNvPr id="27" name="圆角矩形 2">
              <a:extLst>
                <a:ext uri="{FF2B5EF4-FFF2-40B4-BE49-F238E27FC236}">
                  <a16:creationId xmlns:a16="http://schemas.microsoft.com/office/drawing/2014/main" id="{B6F5E117-10A4-61D4-F0C1-30A8C9C37DCC}"/>
                </a:ext>
              </a:extLst>
            </p:cNvPr>
            <p:cNvSpPr/>
            <p:nvPr/>
          </p:nvSpPr>
          <p:spPr>
            <a:xfrm>
              <a:off x="4770655" y="3675843"/>
              <a:ext cx="1350761" cy="543392"/>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400" dirty="0">
                  <a:solidFill>
                    <a:schemeClr val="bg1"/>
                  </a:solidFill>
                  <a:latin typeface="Arial" panose="020B0604020202020204" pitchFamily="34" charset="0"/>
                  <a:ea typeface="微软雅黑" panose="020B0503020204020204" pitchFamily="34" charset="-122"/>
                </a:rPr>
                <a:t>Execution Plan</a:t>
              </a:r>
              <a:endParaRPr lang="zh-CN" altLang="en-US" sz="1400" dirty="0">
                <a:solidFill>
                  <a:schemeClr val="bg1"/>
                </a:solidFill>
                <a:latin typeface="Arial" panose="020B0604020202020204" pitchFamily="34" charset="0"/>
                <a:ea typeface="微软雅黑" panose="020B0503020204020204" pitchFamily="34" charset="-122"/>
              </a:endParaRPr>
            </a:p>
          </p:txBody>
        </p:sp>
        <p:grpSp>
          <p:nvGrpSpPr>
            <p:cNvPr id="28" name="组合 27">
              <a:extLst>
                <a:ext uri="{FF2B5EF4-FFF2-40B4-BE49-F238E27FC236}">
                  <a16:creationId xmlns:a16="http://schemas.microsoft.com/office/drawing/2014/main" id="{20A70A51-0386-663F-DE67-08241CBAE197}"/>
                </a:ext>
              </a:extLst>
            </p:cNvPr>
            <p:cNvGrpSpPr/>
            <p:nvPr/>
          </p:nvGrpSpPr>
          <p:grpSpPr>
            <a:xfrm>
              <a:off x="2980349" y="1892399"/>
              <a:ext cx="1908554" cy="2055140"/>
              <a:chOff x="2980349" y="1892399"/>
              <a:chExt cx="1908554" cy="2055140"/>
            </a:xfrm>
          </p:grpSpPr>
          <p:cxnSp>
            <p:nvCxnSpPr>
              <p:cNvPr id="32" name="连接符: 肘形 31">
                <a:extLst>
                  <a:ext uri="{FF2B5EF4-FFF2-40B4-BE49-F238E27FC236}">
                    <a16:creationId xmlns:a16="http://schemas.microsoft.com/office/drawing/2014/main" id="{89929339-B423-C3EC-A22B-DC9844B89F38}"/>
                  </a:ext>
                </a:extLst>
              </p:cNvPr>
              <p:cNvCxnSpPr>
                <a:stCxn id="22" idx="2"/>
                <a:endCxn id="27" idx="1"/>
              </p:cNvCxnSpPr>
              <p:nvPr/>
            </p:nvCxnSpPr>
            <p:spPr>
              <a:xfrm rot="16200000" flipH="1">
                <a:off x="2847932" y="2024816"/>
                <a:ext cx="2055140" cy="1790305"/>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526F6F28-CA19-FFC1-C87D-9D44560522E9}"/>
                  </a:ext>
                </a:extLst>
              </p:cNvPr>
              <p:cNvSpPr txBox="1"/>
              <p:nvPr/>
            </p:nvSpPr>
            <p:spPr>
              <a:xfrm>
                <a:off x="3252487" y="3457931"/>
                <a:ext cx="1636416" cy="461665"/>
              </a:xfrm>
              <a:prstGeom prst="rect">
                <a:avLst/>
              </a:prstGeom>
              <a:noFill/>
            </p:spPr>
            <p:txBody>
              <a:bodyPr wrap="square" rtlCol="0">
                <a:spAutoFit/>
              </a:bodyPr>
              <a:lstStyle/>
              <a:p>
                <a:r>
                  <a:rPr lang="en-US" altLang="zh-CN" sz="1200" dirty="0">
                    <a:latin typeface="Arial" panose="020B0604020202020204" pitchFamily="34" charset="0"/>
                    <a:ea typeface="微软雅黑" panose="020B0503020204020204" pitchFamily="34" charset="-122"/>
                  </a:rPr>
                  <a:t>Supply Commit/ETA/ASN</a:t>
                </a:r>
                <a:endParaRPr lang="zh-CN" altLang="en-US" sz="1200" dirty="0">
                  <a:latin typeface="Arial" panose="020B0604020202020204" pitchFamily="34" charset="0"/>
                  <a:ea typeface="微软雅黑" panose="020B0503020204020204" pitchFamily="34" charset="-122"/>
                </a:endParaRPr>
              </a:p>
            </p:txBody>
          </p:sp>
        </p:grpSp>
        <p:grpSp>
          <p:nvGrpSpPr>
            <p:cNvPr id="29" name="组合 28">
              <a:extLst>
                <a:ext uri="{FF2B5EF4-FFF2-40B4-BE49-F238E27FC236}">
                  <a16:creationId xmlns:a16="http://schemas.microsoft.com/office/drawing/2014/main" id="{45ABCF10-0E67-F4D1-58FE-07E648CFE76B}"/>
                </a:ext>
              </a:extLst>
            </p:cNvPr>
            <p:cNvGrpSpPr/>
            <p:nvPr/>
          </p:nvGrpSpPr>
          <p:grpSpPr>
            <a:xfrm>
              <a:off x="2980350" y="1892399"/>
              <a:ext cx="2647900" cy="2700019"/>
              <a:chOff x="2980350" y="1892399"/>
              <a:chExt cx="2647900" cy="2700019"/>
            </a:xfrm>
          </p:grpSpPr>
          <p:cxnSp>
            <p:nvCxnSpPr>
              <p:cNvPr id="30" name="连接符: 肘形 29">
                <a:extLst>
                  <a:ext uri="{FF2B5EF4-FFF2-40B4-BE49-F238E27FC236}">
                    <a16:creationId xmlns:a16="http://schemas.microsoft.com/office/drawing/2014/main" id="{56BAF289-EC69-BE06-4865-FD20B6ACA9E0}"/>
                  </a:ext>
                </a:extLst>
              </p:cNvPr>
              <p:cNvCxnSpPr>
                <a:stCxn id="27" idx="2"/>
                <a:endCxn id="22" idx="2"/>
              </p:cNvCxnSpPr>
              <p:nvPr/>
            </p:nvCxnSpPr>
            <p:spPr>
              <a:xfrm rot="5400000" flipH="1">
                <a:off x="3049775" y="1822974"/>
                <a:ext cx="2326836" cy="2465686"/>
              </a:xfrm>
              <a:prstGeom prst="bentConnector3">
                <a:avLst>
                  <a:gd name="adj1" fmla="val -15300"/>
                </a:avLst>
              </a:prstGeom>
              <a:ln>
                <a:tailEnd type="triangle"/>
              </a:ln>
            </p:spPr>
            <p:style>
              <a:lnRef idx="1">
                <a:schemeClr val="accent1"/>
              </a:lnRef>
              <a:fillRef idx="0">
                <a:schemeClr val="accent1"/>
              </a:fillRef>
              <a:effectRef idx="0">
                <a:schemeClr val="accent1"/>
              </a:effectRef>
              <a:fontRef idx="minor">
                <a:schemeClr val="tx1"/>
              </a:fontRef>
            </p:style>
          </p:cxnSp>
          <p:sp>
            <p:nvSpPr>
              <p:cNvPr id="31" name="文本框 30">
                <a:extLst>
                  <a:ext uri="{FF2B5EF4-FFF2-40B4-BE49-F238E27FC236}">
                    <a16:creationId xmlns:a16="http://schemas.microsoft.com/office/drawing/2014/main" id="{1196048C-6163-7BAF-40E0-1E3D12F0C9C9}"/>
                  </a:ext>
                </a:extLst>
              </p:cNvPr>
              <p:cNvSpPr txBox="1"/>
              <p:nvPr/>
            </p:nvSpPr>
            <p:spPr>
              <a:xfrm>
                <a:off x="3119878" y="4130753"/>
                <a:ext cx="2508372" cy="461665"/>
              </a:xfrm>
              <a:prstGeom prst="rect">
                <a:avLst/>
              </a:prstGeom>
              <a:noFill/>
            </p:spPr>
            <p:txBody>
              <a:bodyPr wrap="square" rtlCol="0">
                <a:spAutoFit/>
              </a:bodyPr>
              <a:lstStyle/>
              <a:p>
                <a:r>
                  <a:rPr lang="en-US" altLang="zh-CN" sz="1200" dirty="0">
                    <a:latin typeface="Arial" panose="020B0604020202020204" pitchFamily="34" charset="0"/>
                    <a:ea typeface="微软雅黑" panose="020B0503020204020204" pitchFamily="34" charset="-122"/>
                  </a:rPr>
                  <a:t>Missing Parts/Rescheduled</a:t>
                </a:r>
                <a:r>
                  <a:rPr lang="zh-CN" altLang="en-US" sz="1200" dirty="0">
                    <a:latin typeface="Arial" panose="020B0604020202020204" pitchFamily="34" charset="0"/>
                    <a:ea typeface="微软雅黑" panose="020B0503020204020204" pitchFamily="34" charset="-122"/>
                  </a:rPr>
                  <a:t> </a:t>
                </a:r>
                <a:r>
                  <a:rPr lang="en-US" altLang="zh-CN" sz="1200" dirty="0">
                    <a:latin typeface="Arial" panose="020B0604020202020204" pitchFamily="34" charset="0"/>
                    <a:ea typeface="微软雅黑" panose="020B0503020204020204" pitchFamily="34" charset="-122"/>
                  </a:rPr>
                  <a:t>Commit</a:t>
                </a:r>
                <a:endParaRPr lang="zh-CN" altLang="en-US" sz="1200" dirty="0">
                  <a:latin typeface="Arial" panose="020B0604020202020204" pitchFamily="34" charset="0"/>
                  <a:ea typeface="微软雅黑" panose="020B0503020204020204" pitchFamily="34" charset="-122"/>
                </a:endParaRPr>
              </a:p>
            </p:txBody>
          </p:sp>
        </p:grpSp>
      </p:grpSp>
      <p:grpSp>
        <p:nvGrpSpPr>
          <p:cNvPr id="40" name="组合 39">
            <a:extLst>
              <a:ext uri="{FF2B5EF4-FFF2-40B4-BE49-F238E27FC236}">
                <a16:creationId xmlns:a16="http://schemas.microsoft.com/office/drawing/2014/main" id="{2E0DA0A6-E830-455E-A895-444574B50BAD}"/>
              </a:ext>
            </a:extLst>
          </p:cNvPr>
          <p:cNvGrpSpPr/>
          <p:nvPr/>
        </p:nvGrpSpPr>
        <p:grpSpPr>
          <a:xfrm>
            <a:off x="2441074" y="3086069"/>
            <a:ext cx="176673" cy="526149"/>
            <a:chOff x="2998103" y="4643027"/>
            <a:chExt cx="178626" cy="898754"/>
          </a:xfrm>
          <a:solidFill>
            <a:srgbClr val="CD2832"/>
          </a:solidFill>
        </p:grpSpPr>
        <p:cxnSp>
          <p:nvCxnSpPr>
            <p:cNvPr id="41" name="Straight Connector 144">
              <a:extLst>
                <a:ext uri="{FF2B5EF4-FFF2-40B4-BE49-F238E27FC236}">
                  <a16:creationId xmlns:a16="http://schemas.microsoft.com/office/drawing/2014/main" id="{2D2037C8-3DAF-8E7D-265D-04E12D26CA4D}"/>
                </a:ext>
              </a:extLst>
            </p:cNvPr>
            <p:cNvCxnSpPr>
              <a:cxnSpLocks/>
            </p:cNvCxnSpPr>
            <p:nvPr/>
          </p:nvCxnSpPr>
          <p:spPr>
            <a:xfrm>
              <a:off x="3087416" y="4643027"/>
              <a:ext cx="0" cy="898754"/>
            </a:xfrm>
            <a:prstGeom prst="line">
              <a:avLst/>
            </a:prstGeom>
            <a:grpFill/>
            <a:ln w="1905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2" name="KSO_Shape">
              <a:extLst>
                <a:ext uri="{FF2B5EF4-FFF2-40B4-BE49-F238E27FC236}">
                  <a16:creationId xmlns:a16="http://schemas.microsoft.com/office/drawing/2014/main" id="{6B6447A7-40A2-C0C1-2757-D628EFA4915E}"/>
                </a:ext>
              </a:extLst>
            </p:cNvPr>
            <p:cNvSpPr/>
            <p:nvPr/>
          </p:nvSpPr>
          <p:spPr>
            <a:xfrm>
              <a:off x="2998103" y="5002261"/>
              <a:ext cx="178626" cy="180286"/>
            </a:xfrm>
            <a:prstGeom prst="noSmoking">
              <a:avLst>
                <a:gd name="adj" fmla="val 11929"/>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eaLnBrk="1" fontAlgn="auto" hangingPunct="1">
                <a:spcBef>
                  <a:spcPts val="0"/>
                </a:spcBef>
                <a:spcAft>
                  <a:spcPts val="0"/>
                </a:spcAft>
                <a:defRPr/>
              </a:pPr>
              <a:endParaRPr lang="zh-CN" altLang="en-US" sz="1200">
                <a:solidFill>
                  <a:schemeClr val="bg1"/>
                </a:solidFill>
                <a:latin typeface="+mn-ea"/>
              </a:endParaRPr>
            </a:p>
          </p:txBody>
        </p:sp>
      </p:grpSp>
      <p:grpSp>
        <p:nvGrpSpPr>
          <p:cNvPr id="43" name="组合 42">
            <a:extLst>
              <a:ext uri="{FF2B5EF4-FFF2-40B4-BE49-F238E27FC236}">
                <a16:creationId xmlns:a16="http://schemas.microsoft.com/office/drawing/2014/main" id="{1F89749F-6970-3BDD-1A6B-BDD946F75772}"/>
              </a:ext>
            </a:extLst>
          </p:cNvPr>
          <p:cNvGrpSpPr/>
          <p:nvPr/>
        </p:nvGrpSpPr>
        <p:grpSpPr>
          <a:xfrm>
            <a:off x="2443027" y="2604180"/>
            <a:ext cx="174720" cy="438305"/>
            <a:chOff x="2998103" y="4643027"/>
            <a:chExt cx="178626" cy="898754"/>
          </a:xfrm>
          <a:solidFill>
            <a:srgbClr val="CD2832"/>
          </a:solidFill>
        </p:grpSpPr>
        <p:cxnSp>
          <p:nvCxnSpPr>
            <p:cNvPr id="44" name="Straight Connector 144">
              <a:extLst>
                <a:ext uri="{FF2B5EF4-FFF2-40B4-BE49-F238E27FC236}">
                  <a16:creationId xmlns:a16="http://schemas.microsoft.com/office/drawing/2014/main" id="{AB2C42B8-4B1B-5A2A-C1AB-19719C5D0039}"/>
                </a:ext>
              </a:extLst>
            </p:cNvPr>
            <p:cNvCxnSpPr>
              <a:cxnSpLocks/>
            </p:cNvCxnSpPr>
            <p:nvPr/>
          </p:nvCxnSpPr>
          <p:spPr>
            <a:xfrm>
              <a:off x="3087416" y="4643027"/>
              <a:ext cx="0" cy="898754"/>
            </a:xfrm>
            <a:prstGeom prst="line">
              <a:avLst/>
            </a:prstGeom>
            <a:grpFill/>
            <a:ln w="1905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5" name="KSO_Shape">
              <a:extLst>
                <a:ext uri="{FF2B5EF4-FFF2-40B4-BE49-F238E27FC236}">
                  <a16:creationId xmlns:a16="http://schemas.microsoft.com/office/drawing/2014/main" id="{4765D11A-E563-3A81-6989-43306E5479AF}"/>
                </a:ext>
              </a:extLst>
            </p:cNvPr>
            <p:cNvSpPr/>
            <p:nvPr/>
          </p:nvSpPr>
          <p:spPr>
            <a:xfrm>
              <a:off x="2998103" y="5002261"/>
              <a:ext cx="178626" cy="180286"/>
            </a:xfrm>
            <a:prstGeom prst="noSmoking">
              <a:avLst>
                <a:gd name="adj" fmla="val 11929"/>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eaLnBrk="1" fontAlgn="auto" hangingPunct="1">
                <a:spcBef>
                  <a:spcPts val="0"/>
                </a:spcBef>
                <a:spcAft>
                  <a:spcPts val="0"/>
                </a:spcAft>
                <a:defRPr/>
              </a:pPr>
              <a:endParaRPr lang="zh-CN" altLang="en-US" sz="1200">
                <a:solidFill>
                  <a:schemeClr val="bg1"/>
                </a:solidFill>
                <a:latin typeface="+mn-ea"/>
              </a:endParaRPr>
            </a:p>
          </p:txBody>
        </p:sp>
      </p:grpSp>
      <p:cxnSp>
        <p:nvCxnSpPr>
          <p:cNvPr id="46" name="直接箭头连接符 45">
            <a:extLst>
              <a:ext uri="{FF2B5EF4-FFF2-40B4-BE49-F238E27FC236}">
                <a16:creationId xmlns:a16="http://schemas.microsoft.com/office/drawing/2014/main" id="{D81BB444-6C10-AAF3-C071-39CE41A0B124}"/>
              </a:ext>
            </a:extLst>
          </p:cNvPr>
          <p:cNvCxnSpPr>
            <a:stCxn id="9" idx="3"/>
            <a:endCxn id="14" idx="1"/>
          </p:cNvCxnSpPr>
          <p:nvPr/>
        </p:nvCxnSpPr>
        <p:spPr>
          <a:xfrm>
            <a:off x="1725836" y="3073297"/>
            <a:ext cx="1873771" cy="135183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8" name="箭头: 右 47">
            <a:extLst>
              <a:ext uri="{FF2B5EF4-FFF2-40B4-BE49-F238E27FC236}">
                <a16:creationId xmlns:a16="http://schemas.microsoft.com/office/drawing/2014/main" id="{2698BEB6-DE42-9093-6E7D-BD0C7DAE0090}"/>
              </a:ext>
            </a:extLst>
          </p:cNvPr>
          <p:cNvSpPr/>
          <p:nvPr/>
        </p:nvSpPr>
        <p:spPr>
          <a:xfrm>
            <a:off x="5285188" y="3283862"/>
            <a:ext cx="2080620" cy="656711"/>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solidFill>
                <a:latin typeface="Arial" panose="020B0604020202020204" pitchFamily="34" charset="0"/>
                <a:ea typeface="微软雅黑" panose="020B0503020204020204" pitchFamily="34" charset="-122"/>
              </a:rPr>
              <a:t>Transformation</a:t>
            </a:r>
            <a:endParaRPr lang="zh-CN" altLang="en-US" dirty="0">
              <a:solidFill>
                <a:schemeClr val="tx1"/>
              </a:solidFill>
              <a:latin typeface="Arial" panose="020B0604020202020204" pitchFamily="34" charset="0"/>
              <a:ea typeface="微软雅黑" panose="020B0503020204020204" pitchFamily="34" charset="-122"/>
            </a:endParaRPr>
          </a:p>
        </p:txBody>
      </p:sp>
      <p:sp>
        <p:nvSpPr>
          <p:cNvPr id="49" name="文本框 48">
            <a:extLst>
              <a:ext uri="{FF2B5EF4-FFF2-40B4-BE49-F238E27FC236}">
                <a16:creationId xmlns:a16="http://schemas.microsoft.com/office/drawing/2014/main" id="{328F4DA3-88FE-9B04-2C36-7B2A26C9DB69}"/>
              </a:ext>
            </a:extLst>
          </p:cNvPr>
          <p:cNvSpPr txBox="1"/>
          <p:nvPr/>
        </p:nvSpPr>
        <p:spPr>
          <a:xfrm>
            <a:off x="8222088" y="5423997"/>
            <a:ext cx="2639288" cy="369332"/>
          </a:xfrm>
          <a:prstGeom prst="rect">
            <a:avLst/>
          </a:prstGeom>
          <a:noFill/>
        </p:spPr>
        <p:txBody>
          <a:bodyPr wrap="square" rtlCol="0">
            <a:spAutoFit/>
          </a:bodyPr>
          <a:lstStyle/>
          <a:p>
            <a:r>
              <a:rPr lang="en-US" altLang="zh-CN" b="1" dirty="0">
                <a:solidFill>
                  <a:schemeClr val="bg1"/>
                </a:solidFill>
                <a:latin typeface="Arial" panose="020B0604020202020204" pitchFamily="34" charset="0"/>
                <a:ea typeface="微软雅黑" panose="020B0503020204020204" pitchFamily="34" charset="-122"/>
              </a:rPr>
              <a:t>Deep collaboration </a:t>
            </a:r>
            <a:endParaRPr lang="zh-CN" altLang="en-US" b="1" dirty="0">
              <a:solidFill>
                <a:schemeClr val="bg1"/>
              </a:solidFill>
              <a:latin typeface="Arial" panose="020B0604020202020204" pitchFamily="34" charset="0"/>
              <a:ea typeface="微软雅黑" panose="020B0503020204020204" pitchFamily="34" charset="-122"/>
            </a:endParaRPr>
          </a:p>
        </p:txBody>
      </p:sp>
      <p:grpSp>
        <p:nvGrpSpPr>
          <p:cNvPr id="50" name="组合 49">
            <a:extLst>
              <a:ext uri="{FF2B5EF4-FFF2-40B4-BE49-F238E27FC236}">
                <a16:creationId xmlns:a16="http://schemas.microsoft.com/office/drawing/2014/main" id="{422F3B71-E3A3-7820-5BB6-4DD0EC68C4FB}"/>
              </a:ext>
            </a:extLst>
          </p:cNvPr>
          <p:cNvGrpSpPr>
            <a:grpSpLocks noChangeAspect="1"/>
          </p:cNvGrpSpPr>
          <p:nvPr>
            <p:custDataLst>
              <p:tags r:id="rId1"/>
            </p:custDataLst>
          </p:nvPr>
        </p:nvGrpSpPr>
        <p:grpSpPr>
          <a:xfrm>
            <a:off x="1320015" y="4828642"/>
            <a:ext cx="3114582" cy="1163650"/>
            <a:chOff x="675644" y="1047414"/>
            <a:chExt cx="1733550" cy="3733860"/>
          </a:xfrm>
        </p:grpSpPr>
        <p:sp>
          <p:nvSpPr>
            <p:cNvPr id="61" name="Title-2">
              <a:extLst>
                <a:ext uri="{FF2B5EF4-FFF2-40B4-BE49-F238E27FC236}">
                  <a16:creationId xmlns:a16="http://schemas.microsoft.com/office/drawing/2014/main" id="{069C0AF7-3A29-62BC-236A-496A0A52A879}"/>
                </a:ext>
              </a:extLst>
            </p:cNvPr>
            <p:cNvSpPr/>
            <p:nvPr>
              <p:custDataLst>
                <p:tags r:id="rId2"/>
              </p:custDataLst>
            </p:nvPr>
          </p:nvSpPr>
          <p:spPr>
            <a:xfrm>
              <a:off x="675644" y="2483126"/>
              <a:ext cx="1733550" cy="774187"/>
            </a:xfrm>
            <a:prstGeom prst="rect">
              <a:avLst/>
            </a:prstGeom>
            <a:solidFill>
              <a:schemeClr val="accent2"/>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fontScale="55000" lnSpcReduction="20000"/>
            </a:bodyPr>
            <a:lstStyle/>
            <a:p>
              <a:pPr algn="ctr" defTabSz="913765"/>
              <a:r>
                <a:rPr lang="en-US" altLang="zh-CN" sz="2000" b="1" dirty="0">
                  <a:solidFill>
                    <a:srgbClr val="FFFFFF"/>
                  </a:solidFill>
                  <a:latin typeface="Arial" panose="020B0604020202020204" pitchFamily="34" charset="0"/>
                  <a:ea typeface="微软雅黑" panose="020B0503020204020204" pitchFamily="34" charset="-122"/>
                </a:rPr>
                <a:t>Data issue occurred often</a:t>
              </a:r>
              <a:endParaRPr lang="zh-CN" altLang="en-US" sz="2000" b="1" dirty="0">
                <a:solidFill>
                  <a:srgbClr val="FFFFFF"/>
                </a:solidFill>
                <a:latin typeface="Arial" panose="020B0604020202020204" pitchFamily="34" charset="0"/>
                <a:ea typeface="微软雅黑" panose="020B0503020204020204" pitchFamily="34" charset="-122"/>
              </a:endParaRPr>
            </a:p>
          </p:txBody>
        </p:sp>
        <p:sp>
          <p:nvSpPr>
            <p:cNvPr id="58" name="Title-1">
              <a:extLst>
                <a:ext uri="{FF2B5EF4-FFF2-40B4-BE49-F238E27FC236}">
                  <a16:creationId xmlns:a16="http://schemas.microsoft.com/office/drawing/2014/main" id="{D51B4FBB-6416-7174-EB76-AE18ED0D6045}"/>
                </a:ext>
              </a:extLst>
            </p:cNvPr>
            <p:cNvSpPr/>
            <p:nvPr>
              <p:custDataLst>
                <p:tags r:id="rId3"/>
              </p:custDataLst>
            </p:nvPr>
          </p:nvSpPr>
          <p:spPr>
            <a:xfrm>
              <a:off x="675644" y="1047414"/>
              <a:ext cx="1733550" cy="774187"/>
            </a:xfrm>
            <a:prstGeom prst="rect">
              <a:avLst/>
            </a:prstGeom>
            <a:solidFill>
              <a:schemeClr val="accent1"/>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fontScale="92500" lnSpcReduction="10000"/>
            </a:bodyPr>
            <a:lstStyle/>
            <a:p>
              <a:pPr algn="ctr" defTabSz="913765"/>
              <a:r>
                <a:rPr lang="en-US" altLang="zh-CN" sz="1100" b="1" dirty="0">
                  <a:solidFill>
                    <a:srgbClr val="FFFFFF"/>
                  </a:solidFill>
                  <a:latin typeface="Arial" panose="020B0604020202020204" pitchFamily="34" charset="0"/>
                  <a:ea typeface="微软雅黑" panose="020B0503020204020204" pitchFamily="34" charset="-122"/>
                </a:rPr>
                <a:t>Much workload between LZ and vendors</a:t>
              </a:r>
              <a:endParaRPr lang="zh-CN" altLang="en-US" sz="1100" b="1" dirty="0">
                <a:solidFill>
                  <a:srgbClr val="FFFFFF"/>
                </a:solidFill>
                <a:latin typeface="Arial" panose="020B0604020202020204" pitchFamily="34" charset="0"/>
                <a:ea typeface="微软雅黑" panose="020B0503020204020204" pitchFamily="34" charset="-122"/>
              </a:endParaRPr>
            </a:p>
          </p:txBody>
        </p:sp>
        <p:sp>
          <p:nvSpPr>
            <p:cNvPr id="55" name="Title-3">
              <a:extLst>
                <a:ext uri="{FF2B5EF4-FFF2-40B4-BE49-F238E27FC236}">
                  <a16:creationId xmlns:a16="http://schemas.microsoft.com/office/drawing/2014/main" id="{8F52803B-8B06-4814-4389-283947094D3C}"/>
                </a:ext>
              </a:extLst>
            </p:cNvPr>
            <p:cNvSpPr/>
            <p:nvPr>
              <p:custDataLst>
                <p:tags r:id="rId4"/>
              </p:custDataLst>
            </p:nvPr>
          </p:nvSpPr>
          <p:spPr>
            <a:xfrm>
              <a:off x="675644" y="4007087"/>
              <a:ext cx="1733550" cy="774187"/>
            </a:xfrm>
            <a:prstGeom prst="rect">
              <a:avLst/>
            </a:prstGeom>
            <a:solidFill>
              <a:schemeClr val="accent3"/>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fontScale="55000" lnSpcReduction="20000"/>
            </a:bodyPr>
            <a:lstStyle/>
            <a:p>
              <a:pPr algn="ctr" defTabSz="913765"/>
              <a:r>
                <a:rPr lang="en-US" altLang="zh-CN" sz="2000" b="1" dirty="0">
                  <a:solidFill>
                    <a:srgbClr val="FFFFFF"/>
                  </a:solidFill>
                  <a:latin typeface="Arial" panose="020B0604020202020204" pitchFamily="34" charset="0"/>
                  <a:ea typeface="微软雅黑" panose="020B0503020204020204" pitchFamily="34" charset="-122"/>
                </a:rPr>
                <a:t>Could be synchronized</a:t>
              </a:r>
            </a:p>
          </p:txBody>
        </p:sp>
      </p:grpSp>
    </p:spTree>
    <p:extLst>
      <p:ext uri="{BB962C8B-B14F-4D97-AF65-F5344CB8AC3E}">
        <p14:creationId xmlns:p14="http://schemas.microsoft.com/office/powerpoint/2010/main" val="1159793798"/>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6545BEE8-D0EB-42AE-C430-FBAF608A7C95}"/>
              </a:ext>
            </a:extLst>
          </p:cNvPr>
          <p:cNvSpPr>
            <a:spLocks noGrp="1"/>
          </p:cNvSpPr>
          <p:nvPr>
            <p:ph type="ctrTitle"/>
          </p:nvPr>
        </p:nvSpPr>
        <p:spPr>
          <a:xfrm>
            <a:off x="4481559" y="1492766"/>
            <a:ext cx="6749372" cy="2587173"/>
          </a:xfrm>
        </p:spPr>
        <p:txBody>
          <a:bodyPr/>
          <a:lstStyle/>
          <a:p>
            <a:r>
              <a:rPr lang="en-US" altLang="zh-CN" dirty="0"/>
              <a:t>E2E Intelligent Solutions</a:t>
            </a:r>
            <a:endParaRPr lang="zh-CN" altLang="en-US" dirty="0"/>
          </a:p>
        </p:txBody>
      </p:sp>
    </p:spTree>
    <p:extLst>
      <p:ext uri="{BB962C8B-B14F-4D97-AF65-F5344CB8AC3E}">
        <p14:creationId xmlns:p14="http://schemas.microsoft.com/office/powerpoint/2010/main" val="2714872568"/>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8F1E3CF2-CEF9-1671-6A22-60188EB22F89}"/>
              </a:ext>
            </a:extLst>
          </p:cNvPr>
          <p:cNvSpPr>
            <a:spLocks noGrp="1"/>
          </p:cNvSpPr>
          <p:nvPr>
            <p:ph type="ctrTitle"/>
          </p:nvPr>
        </p:nvSpPr>
        <p:spPr/>
        <p:txBody>
          <a:bodyPr>
            <a:normAutofit/>
          </a:bodyPr>
          <a:lstStyle/>
          <a:p>
            <a:r>
              <a:rPr lang="en-US" altLang="zh-CN" sz="4400" dirty="0">
                <a:latin typeface="Arial" panose="020B0604020202020204" pitchFamily="34" charset="0"/>
                <a:ea typeface="微软雅黑" panose="020B0503020204020204" pitchFamily="34" charset="-122"/>
              </a:rPr>
              <a:t>High Performance</a:t>
            </a:r>
            <a:endParaRPr lang="zh-CN" altLang="en-US" sz="4400"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3094482089"/>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C08A704-5D69-95A2-EF3D-C12175AB5732}"/>
              </a:ext>
            </a:extLst>
          </p:cNvPr>
          <p:cNvSpPr>
            <a:spLocks noGrp="1"/>
          </p:cNvSpPr>
          <p:nvPr>
            <p:ph type="title"/>
          </p:nvPr>
        </p:nvSpPr>
        <p:spPr/>
        <p:txBody>
          <a:bodyPr/>
          <a:lstStyle/>
          <a:p>
            <a:r>
              <a:rPr lang="en-US" altLang="zh-CN" dirty="0">
                <a:solidFill>
                  <a:schemeClr val="bg1"/>
                </a:solidFill>
                <a:latin typeface="Arial" panose="020B0604020202020204" pitchFamily="34" charset="0"/>
                <a:ea typeface="微软雅黑" panose="020B0503020204020204" pitchFamily="34" charset="-122"/>
              </a:rPr>
              <a:t>OTP - Traditional Solution</a:t>
            </a:r>
            <a:endParaRPr lang="zh-CN" altLang="en-US" dirty="0">
              <a:solidFill>
                <a:schemeClr val="bg1"/>
              </a:solidFill>
              <a:latin typeface="Arial" panose="020B0604020202020204" pitchFamily="34" charset="0"/>
              <a:ea typeface="微软雅黑" panose="020B0503020204020204" pitchFamily="34" charset="-122"/>
            </a:endParaRPr>
          </a:p>
        </p:txBody>
      </p:sp>
      <p:sp>
        <p:nvSpPr>
          <p:cNvPr id="6" name="矩形: 圆角 5">
            <a:extLst>
              <a:ext uri="{FF2B5EF4-FFF2-40B4-BE49-F238E27FC236}">
                <a16:creationId xmlns:a16="http://schemas.microsoft.com/office/drawing/2014/main" id="{94D0A5B6-FFB7-9C59-06F9-D0C712711A02}"/>
              </a:ext>
            </a:extLst>
          </p:cNvPr>
          <p:cNvSpPr/>
          <p:nvPr/>
        </p:nvSpPr>
        <p:spPr>
          <a:xfrm>
            <a:off x="4343397" y="2655685"/>
            <a:ext cx="1341619" cy="685800"/>
          </a:xfrm>
          <a:prstGeom prst="roundRect">
            <a:avLst/>
          </a:prstGeom>
          <a:solidFill>
            <a:schemeClr val="tx2">
              <a:lumMod val="5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Arial" panose="020B0604020202020204" pitchFamily="34" charset="0"/>
                <a:ea typeface="微软雅黑" panose="020B0503020204020204" pitchFamily="34" charset="-122"/>
              </a:rPr>
              <a:t>按排序逐个处理</a:t>
            </a:r>
          </a:p>
        </p:txBody>
      </p:sp>
      <p:sp>
        <p:nvSpPr>
          <p:cNvPr id="7" name="矩形: 圆角 6">
            <a:extLst>
              <a:ext uri="{FF2B5EF4-FFF2-40B4-BE49-F238E27FC236}">
                <a16:creationId xmlns:a16="http://schemas.microsoft.com/office/drawing/2014/main" id="{B4CE1360-EFFF-FA39-E0B0-03362FF975CC}"/>
              </a:ext>
            </a:extLst>
          </p:cNvPr>
          <p:cNvSpPr/>
          <p:nvPr/>
        </p:nvSpPr>
        <p:spPr>
          <a:xfrm>
            <a:off x="4343395" y="3757713"/>
            <a:ext cx="1341619" cy="685800"/>
          </a:xfrm>
          <a:prstGeom prst="roundRect">
            <a:avLst/>
          </a:prstGeom>
          <a:solidFill>
            <a:schemeClr val="tx2">
              <a:lumMod val="5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Arial" panose="020B0604020202020204" pitchFamily="34" charset="0"/>
                <a:ea typeface="微软雅黑" panose="020B0503020204020204" pitchFamily="34" charset="-122"/>
              </a:rPr>
              <a:t>供应链网络展开</a:t>
            </a:r>
          </a:p>
        </p:txBody>
      </p:sp>
      <p:sp>
        <p:nvSpPr>
          <p:cNvPr id="8" name="矩形: 圆角 7">
            <a:extLst>
              <a:ext uri="{FF2B5EF4-FFF2-40B4-BE49-F238E27FC236}">
                <a16:creationId xmlns:a16="http://schemas.microsoft.com/office/drawing/2014/main" id="{C921C025-B38A-4D83-BCD1-30C97FD10147}"/>
              </a:ext>
            </a:extLst>
          </p:cNvPr>
          <p:cNvSpPr/>
          <p:nvPr/>
        </p:nvSpPr>
        <p:spPr>
          <a:xfrm>
            <a:off x="4343399" y="4715781"/>
            <a:ext cx="1341619" cy="685800"/>
          </a:xfrm>
          <a:prstGeom prst="roundRect">
            <a:avLst/>
          </a:prstGeom>
          <a:solidFill>
            <a:schemeClr val="tx2">
              <a:lumMod val="5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Arial" panose="020B0604020202020204" pitchFamily="34" charset="0"/>
                <a:ea typeface="微软雅黑" panose="020B0503020204020204" pitchFamily="34" charset="-122"/>
              </a:rPr>
              <a:t>供需匹配</a:t>
            </a:r>
          </a:p>
        </p:txBody>
      </p:sp>
      <p:sp>
        <p:nvSpPr>
          <p:cNvPr id="9" name="菱形 8">
            <a:extLst>
              <a:ext uri="{FF2B5EF4-FFF2-40B4-BE49-F238E27FC236}">
                <a16:creationId xmlns:a16="http://schemas.microsoft.com/office/drawing/2014/main" id="{9A19FDA7-D9E9-B852-5C5C-12C23398A002}"/>
              </a:ext>
            </a:extLst>
          </p:cNvPr>
          <p:cNvSpPr/>
          <p:nvPr/>
        </p:nvSpPr>
        <p:spPr>
          <a:xfrm>
            <a:off x="4273129" y="5812628"/>
            <a:ext cx="1482154" cy="509665"/>
          </a:xfrm>
          <a:prstGeom prst="diamond">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Arial" panose="020B0604020202020204" pitchFamily="34" charset="0"/>
                <a:ea typeface="微软雅黑" panose="020B0503020204020204" pitchFamily="34" charset="-122"/>
              </a:rPr>
              <a:t>是否满足</a:t>
            </a:r>
          </a:p>
        </p:txBody>
      </p:sp>
      <p:cxnSp>
        <p:nvCxnSpPr>
          <p:cNvPr id="11" name="直接箭头连接符 10">
            <a:extLst>
              <a:ext uri="{FF2B5EF4-FFF2-40B4-BE49-F238E27FC236}">
                <a16:creationId xmlns:a16="http://schemas.microsoft.com/office/drawing/2014/main" id="{C34A936A-FE84-25C7-6223-799BF302E9C6}"/>
              </a:ext>
            </a:extLst>
          </p:cNvPr>
          <p:cNvCxnSpPr>
            <a:stCxn id="6" idx="2"/>
            <a:endCxn id="7" idx="0"/>
          </p:cNvCxnSpPr>
          <p:nvPr/>
        </p:nvCxnSpPr>
        <p:spPr>
          <a:xfrm flipH="1">
            <a:off x="5014205" y="3341485"/>
            <a:ext cx="2" cy="41622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2" name="直接箭头连接符 11">
            <a:extLst>
              <a:ext uri="{FF2B5EF4-FFF2-40B4-BE49-F238E27FC236}">
                <a16:creationId xmlns:a16="http://schemas.microsoft.com/office/drawing/2014/main" id="{B1B4AC14-2D3D-510F-63BB-FDD189E95306}"/>
              </a:ext>
            </a:extLst>
          </p:cNvPr>
          <p:cNvCxnSpPr/>
          <p:nvPr/>
        </p:nvCxnSpPr>
        <p:spPr>
          <a:xfrm flipH="1">
            <a:off x="5014207" y="4221110"/>
            <a:ext cx="1" cy="48514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直接箭头连接符 12">
            <a:extLst>
              <a:ext uri="{FF2B5EF4-FFF2-40B4-BE49-F238E27FC236}">
                <a16:creationId xmlns:a16="http://schemas.microsoft.com/office/drawing/2014/main" id="{D819CD72-7FA8-49AD-29E2-273A8F26F1A2}"/>
              </a:ext>
            </a:extLst>
          </p:cNvPr>
          <p:cNvCxnSpPr>
            <a:cxnSpLocks/>
            <a:stCxn id="8" idx="2"/>
            <a:endCxn id="9" idx="0"/>
          </p:cNvCxnSpPr>
          <p:nvPr/>
        </p:nvCxnSpPr>
        <p:spPr>
          <a:xfrm flipH="1">
            <a:off x="5014206" y="5401581"/>
            <a:ext cx="3" cy="41104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连接符: 肘形 18">
            <a:extLst>
              <a:ext uri="{FF2B5EF4-FFF2-40B4-BE49-F238E27FC236}">
                <a16:creationId xmlns:a16="http://schemas.microsoft.com/office/drawing/2014/main" id="{16BC7A15-79C4-BD05-CDCC-06A917FB6D94}"/>
              </a:ext>
            </a:extLst>
          </p:cNvPr>
          <p:cNvCxnSpPr>
            <a:cxnSpLocks/>
            <a:stCxn id="9" idx="1"/>
            <a:endCxn id="7" idx="1"/>
          </p:cNvCxnSpPr>
          <p:nvPr/>
        </p:nvCxnSpPr>
        <p:spPr>
          <a:xfrm rot="10800000" flipH="1">
            <a:off x="4273129" y="4100613"/>
            <a:ext cx="70266" cy="1966848"/>
          </a:xfrm>
          <a:prstGeom prst="bentConnector3">
            <a:avLst>
              <a:gd name="adj1" fmla="val -325335"/>
            </a:avLst>
          </a:prstGeom>
          <a:ln>
            <a:tailEnd type="triangle"/>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EDB59114-0CCA-9423-BBD2-510AF72910CF}"/>
              </a:ext>
            </a:extLst>
          </p:cNvPr>
          <p:cNvSpPr txBox="1"/>
          <p:nvPr/>
        </p:nvSpPr>
        <p:spPr>
          <a:xfrm>
            <a:off x="3602317" y="4890443"/>
            <a:ext cx="757003" cy="369332"/>
          </a:xfrm>
          <a:prstGeom prst="rect">
            <a:avLst/>
          </a:prstGeom>
          <a:noFill/>
        </p:spPr>
        <p:txBody>
          <a:bodyPr wrap="square" rtlCol="0">
            <a:spAutoFit/>
          </a:bodyPr>
          <a:lstStyle/>
          <a:p>
            <a:r>
              <a:rPr lang="en-US" altLang="zh-CN" dirty="0">
                <a:solidFill>
                  <a:schemeClr val="bg1"/>
                </a:solidFill>
                <a:latin typeface="Arial" panose="020B0604020202020204" pitchFamily="34" charset="0"/>
                <a:ea typeface="微软雅黑" panose="020B0503020204020204" pitchFamily="34" charset="-122"/>
              </a:rPr>
              <a:t>N</a:t>
            </a:r>
            <a:endParaRPr lang="zh-CN" altLang="en-US" dirty="0">
              <a:solidFill>
                <a:schemeClr val="bg1"/>
              </a:solidFill>
              <a:latin typeface="Arial" panose="020B0604020202020204" pitchFamily="34" charset="0"/>
              <a:ea typeface="微软雅黑" panose="020B0503020204020204" pitchFamily="34" charset="-122"/>
            </a:endParaRPr>
          </a:p>
        </p:txBody>
      </p:sp>
      <p:cxnSp>
        <p:nvCxnSpPr>
          <p:cNvPr id="22" name="连接符: 肘形 21">
            <a:extLst>
              <a:ext uri="{FF2B5EF4-FFF2-40B4-BE49-F238E27FC236}">
                <a16:creationId xmlns:a16="http://schemas.microsoft.com/office/drawing/2014/main" id="{B3D7E857-542E-3419-B786-F279BDDAD099}"/>
              </a:ext>
            </a:extLst>
          </p:cNvPr>
          <p:cNvCxnSpPr>
            <a:cxnSpLocks/>
            <a:stCxn id="9" idx="2"/>
            <a:endCxn id="6" idx="1"/>
          </p:cNvCxnSpPr>
          <p:nvPr/>
        </p:nvCxnSpPr>
        <p:spPr>
          <a:xfrm rot="5400000" flipH="1">
            <a:off x="3016948" y="4325035"/>
            <a:ext cx="3323708" cy="670809"/>
          </a:xfrm>
          <a:prstGeom prst="bentConnector4">
            <a:avLst>
              <a:gd name="adj1" fmla="val -6878"/>
              <a:gd name="adj2" fmla="val 144553"/>
            </a:avLst>
          </a:prstGeom>
          <a:ln>
            <a:tailEnd type="triangle"/>
          </a:ln>
        </p:spPr>
        <p:style>
          <a:lnRef idx="1">
            <a:schemeClr val="accent1"/>
          </a:lnRef>
          <a:fillRef idx="0">
            <a:schemeClr val="accent1"/>
          </a:fillRef>
          <a:effectRef idx="0">
            <a:schemeClr val="accent1"/>
          </a:effectRef>
          <a:fontRef idx="minor">
            <a:schemeClr val="tx1"/>
          </a:fontRef>
        </p:style>
      </p:cxnSp>
      <p:sp>
        <p:nvSpPr>
          <p:cNvPr id="28" name="矩形: 圆角 27">
            <a:extLst>
              <a:ext uri="{FF2B5EF4-FFF2-40B4-BE49-F238E27FC236}">
                <a16:creationId xmlns:a16="http://schemas.microsoft.com/office/drawing/2014/main" id="{C462BA57-84A5-1641-B0F6-B9A2868B2CE6}"/>
              </a:ext>
            </a:extLst>
          </p:cNvPr>
          <p:cNvSpPr/>
          <p:nvPr/>
        </p:nvSpPr>
        <p:spPr>
          <a:xfrm>
            <a:off x="4343395" y="1687057"/>
            <a:ext cx="1341619" cy="685800"/>
          </a:xfrm>
          <a:prstGeom prst="roundRect">
            <a:avLst/>
          </a:prstGeom>
          <a:solidFill>
            <a:schemeClr val="tx2">
              <a:lumMod val="5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Arial" panose="020B0604020202020204" pitchFamily="34" charset="0"/>
                <a:ea typeface="微软雅黑" panose="020B0503020204020204" pitchFamily="34" charset="-122"/>
              </a:rPr>
              <a:t>需求排序</a:t>
            </a:r>
          </a:p>
        </p:txBody>
      </p:sp>
      <p:sp>
        <p:nvSpPr>
          <p:cNvPr id="32" name="文本框 31">
            <a:extLst>
              <a:ext uri="{FF2B5EF4-FFF2-40B4-BE49-F238E27FC236}">
                <a16:creationId xmlns:a16="http://schemas.microsoft.com/office/drawing/2014/main" id="{7F433C7B-88CD-039B-E615-932C76221F30}"/>
              </a:ext>
            </a:extLst>
          </p:cNvPr>
          <p:cNvSpPr txBox="1"/>
          <p:nvPr/>
        </p:nvSpPr>
        <p:spPr>
          <a:xfrm>
            <a:off x="3602319" y="3658701"/>
            <a:ext cx="757003" cy="369332"/>
          </a:xfrm>
          <a:prstGeom prst="rect">
            <a:avLst/>
          </a:prstGeom>
          <a:noFill/>
        </p:spPr>
        <p:txBody>
          <a:bodyPr wrap="square" rtlCol="0">
            <a:spAutoFit/>
          </a:bodyPr>
          <a:lstStyle/>
          <a:p>
            <a:r>
              <a:rPr lang="en-US" altLang="zh-CN" dirty="0">
                <a:solidFill>
                  <a:schemeClr val="bg1"/>
                </a:solidFill>
                <a:latin typeface="Arial" panose="020B0604020202020204" pitchFamily="34" charset="0"/>
                <a:ea typeface="微软雅黑" panose="020B0503020204020204" pitchFamily="34" charset="-122"/>
              </a:rPr>
              <a:t>Y</a:t>
            </a:r>
            <a:endParaRPr lang="zh-CN" altLang="en-US" dirty="0">
              <a:solidFill>
                <a:schemeClr val="bg1"/>
              </a:solidFill>
              <a:latin typeface="Arial" panose="020B0604020202020204" pitchFamily="34" charset="0"/>
              <a:ea typeface="微软雅黑" panose="020B0503020204020204" pitchFamily="34" charset="-122"/>
            </a:endParaRPr>
          </a:p>
        </p:txBody>
      </p:sp>
      <p:cxnSp>
        <p:nvCxnSpPr>
          <p:cNvPr id="33" name="直接箭头连接符 32">
            <a:extLst>
              <a:ext uri="{FF2B5EF4-FFF2-40B4-BE49-F238E27FC236}">
                <a16:creationId xmlns:a16="http://schemas.microsoft.com/office/drawing/2014/main" id="{A4DFEE7F-3FB9-2CE6-6971-5FFB86AE2F45}"/>
              </a:ext>
            </a:extLst>
          </p:cNvPr>
          <p:cNvCxnSpPr>
            <a:cxnSpLocks/>
            <a:stCxn id="28" idx="2"/>
            <a:endCxn id="6" idx="0"/>
          </p:cNvCxnSpPr>
          <p:nvPr/>
        </p:nvCxnSpPr>
        <p:spPr>
          <a:xfrm>
            <a:off x="5014205" y="2372857"/>
            <a:ext cx="2" cy="28282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42514780-4181-0F6A-6D7F-6D50CEA84B20}"/>
              </a:ext>
            </a:extLst>
          </p:cNvPr>
          <p:cNvCxnSpPr>
            <a:cxnSpLocks/>
          </p:cNvCxnSpPr>
          <p:nvPr/>
        </p:nvCxnSpPr>
        <p:spPr>
          <a:xfrm>
            <a:off x="59961" y="3534955"/>
            <a:ext cx="12132039" cy="0"/>
          </a:xfrm>
          <a:prstGeom prst="line">
            <a:avLst/>
          </a:prstGeom>
          <a:ln w="25400">
            <a:tailEnd type="none"/>
          </a:ln>
        </p:spPr>
        <p:style>
          <a:lnRef idx="1">
            <a:schemeClr val="accent1"/>
          </a:lnRef>
          <a:fillRef idx="0">
            <a:schemeClr val="accent1"/>
          </a:fillRef>
          <a:effectRef idx="0">
            <a:schemeClr val="accent1"/>
          </a:effectRef>
          <a:fontRef idx="minor">
            <a:schemeClr val="tx1"/>
          </a:fontRef>
        </p:style>
      </p:cxnSp>
      <p:sp>
        <p:nvSpPr>
          <p:cNvPr id="47" name="文本框 46">
            <a:extLst>
              <a:ext uri="{FF2B5EF4-FFF2-40B4-BE49-F238E27FC236}">
                <a16:creationId xmlns:a16="http://schemas.microsoft.com/office/drawing/2014/main" id="{C0BD0FD3-399E-2EB5-60A7-D6C07AFC1B9C}"/>
              </a:ext>
            </a:extLst>
          </p:cNvPr>
          <p:cNvSpPr txBox="1"/>
          <p:nvPr/>
        </p:nvSpPr>
        <p:spPr>
          <a:xfrm>
            <a:off x="6438274" y="2188191"/>
            <a:ext cx="3972393" cy="369332"/>
          </a:xfrm>
          <a:prstGeom prst="rect">
            <a:avLst/>
          </a:prstGeom>
          <a:noFill/>
        </p:spPr>
        <p:txBody>
          <a:bodyPr wrap="square" rtlCol="0">
            <a:spAutoFit/>
          </a:bodyPr>
          <a:lstStyle/>
          <a:p>
            <a:r>
              <a:rPr lang="zh-CN" altLang="en-US" b="1" dirty="0">
                <a:solidFill>
                  <a:schemeClr val="accent1">
                    <a:lumMod val="60000"/>
                    <a:lumOff val="40000"/>
                  </a:schemeClr>
                </a:solidFill>
                <a:latin typeface="Arial" panose="020B0604020202020204" pitchFamily="34" charset="0"/>
                <a:ea typeface="微软雅黑" panose="020B0503020204020204" pitchFamily="34" charset="-122"/>
              </a:rPr>
              <a:t>运算性能跟需求笔数</a:t>
            </a:r>
            <a:r>
              <a:rPr lang="en-US" altLang="zh-CN" b="1" dirty="0">
                <a:solidFill>
                  <a:schemeClr val="accent1">
                    <a:lumMod val="60000"/>
                    <a:lumOff val="40000"/>
                  </a:schemeClr>
                </a:solidFill>
                <a:latin typeface="Arial" panose="020B0604020202020204" pitchFamily="34" charset="0"/>
                <a:ea typeface="微软雅黑" panose="020B0503020204020204" pitchFamily="34" charset="-122"/>
              </a:rPr>
              <a:t>/Item</a:t>
            </a:r>
            <a:r>
              <a:rPr lang="zh-CN" altLang="en-US" b="1" dirty="0">
                <a:solidFill>
                  <a:schemeClr val="accent1">
                    <a:lumMod val="60000"/>
                    <a:lumOff val="40000"/>
                  </a:schemeClr>
                </a:solidFill>
                <a:latin typeface="Arial" panose="020B0604020202020204" pitchFamily="34" charset="0"/>
                <a:ea typeface="微软雅黑" panose="020B0503020204020204" pitchFamily="34" charset="-122"/>
              </a:rPr>
              <a:t>数正相关</a:t>
            </a:r>
          </a:p>
        </p:txBody>
      </p:sp>
      <p:sp>
        <p:nvSpPr>
          <p:cNvPr id="48" name="文本框 47">
            <a:extLst>
              <a:ext uri="{FF2B5EF4-FFF2-40B4-BE49-F238E27FC236}">
                <a16:creationId xmlns:a16="http://schemas.microsoft.com/office/drawing/2014/main" id="{A66FBB72-51F1-C31E-B514-20BD70A2E88B}"/>
              </a:ext>
            </a:extLst>
          </p:cNvPr>
          <p:cNvSpPr txBox="1"/>
          <p:nvPr/>
        </p:nvSpPr>
        <p:spPr>
          <a:xfrm>
            <a:off x="6438274" y="4521111"/>
            <a:ext cx="3972393" cy="369332"/>
          </a:xfrm>
          <a:prstGeom prst="rect">
            <a:avLst/>
          </a:prstGeom>
          <a:noFill/>
        </p:spPr>
        <p:txBody>
          <a:bodyPr wrap="square" rtlCol="0">
            <a:spAutoFit/>
          </a:bodyPr>
          <a:lstStyle/>
          <a:p>
            <a:r>
              <a:rPr lang="zh-CN" altLang="en-US" b="1" dirty="0">
                <a:solidFill>
                  <a:schemeClr val="accent1">
                    <a:lumMod val="60000"/>
                    <a:lumOff val="40000"/>
                  </a:schemeClr>
                </a:solidFill>
                <a:latin typeface="Arial" panose="020B0604020202020204" pitchFamily="34" charset="0"/>
                <a:ea typeface="微软雅黑" panose="020B0503020204020204" pitchFamily="34" charset="-122"/>
              </a:rPr>
              <a:t>运算性能跟</a:t>
            </a:r>
            <a:r>
              <a:rPr lang="en-US" altLang="zh-CN" b="1" dirty="0">
                <a:solidFill>
                  <a:schemeClr val="accent1">
                    <a:lumMod val="60000"/>
                    <a:lumOff val="40000"/>
                  </a:schemeClr>
                </a:solidFill>
                <a:latin typeface="Arial" panose="020B0604020202020204" pitchFamily="34" charset="0"/>
                <a:ea typeface="微软雅黑" panose="020B0503020204020204" pitchFamily="34" charset="-122"/>
              </a:rPr>
              <a:t>BOM</a:t>
            </a:r>
            <a:r>
              <a:rPr lang="zh-CN" altLang="en-US" b="1" dirty="0">
                <a:solidFill>
                  <a:schemeClr val="accent1">
                    <a:lumMod val="60000"/>
                    <a:lumOff val="40000"/>
                  </a:schemeClr>
                </a:solidFill>
                <a:latin typeface="Arial" panose="020B0604020202020204" pitchFamily="34" charset="0"/>
                <a:ea typeface="微软雅黑" panose="020B0503020204020204" pitchFamily="34" charset="-122"/>
              </a:rPr>
              <a:t>层级正相关</a:t>
            </a:r>
          </a:p>
        </p:txBody>
      </p:sp>
      <p:sp>
        <p:nvSpPr>
          <p:cNvPr id="49" name="任意多边形: 形状 48">
            <a:extLst>
              <a:ext uri="{FF2B5EF4-FFF2-40B4-BE49-F238E27FC236}">
                <a16:creationId xmlns:a16="http://schemas.microsoft.com/office/drawing/2014/main" id="{E190F075-4982-D93D-4468-6C589E94A79E}"/>
              </a:ext>
            </a:extLst>
          </p:cNvPr>
          <p:cNvSpPr/>
          <p:nvPr/>
        </p:nvSpPr>
        <p:spPr>
          <a:xfrm>
            <a:off x="9567473" y="5878324"/>
            <a:ext cx="808379" cy="721220"/>
          </a:xfrm>
          <a:custGeom>
            <a:avLst/>
            <a:gdLst>
              <a:gd name="T0" fmla="*/ 8327 w 8903"/>
              <a:gd name="T1" fmla="*/ 5437 h 9984"/>
              <a:gd name="T2" fmla="*/ 7677 w 8903"/>
              <a:gd name="T3" fmla="*/ 4670 h 9984"/>
              <a:gd name="T4" fmla="*/ 7694 w 8903"/>
              <a:gd name="T5" fmla="*/ 3413 h 9984"/>
              <a:gd name="T6" fmla="*/ 7473 w 8903"/>
              <a:gd name="T7" fmla="*/ 2330 h 9984"/>
              <a:gd name="T8" fmla="*/ 6505 w 8903"/>
              <a:gd name="T9" fmla="*/ 1028 h 9984"/>
              <a:gd name="T10" fmla="*/ 3807 w 8903"/>
              <a:gd name="T11" fmla="*/ 0 h 9984"/>
              <a:gd name="T12" fmla="*/ 0 w 8903"/>
              <a:gd name="T13" fmla="*/ 3482 h 9984"/>
              <a:gd name="T14" fmla="*/ 24 w 8903"/>
              <a:gd name="T15" fmla="*/ 3862 h 9984"/>
              <a:gd name="T16" fmla="*/ 1050 w 8903"/>
              <a:gd name="T17" fmla="*/ 6807 h 9984"/>
              <a:gd name="T18" fmla="*/ 0 w 8903"/>
              <a:gd name="T19" fmla="*/ 9977 h 9984"/>
              <a:gd name="T20" fmla="*/ 4618 w 8903"/>
              <a:gd name="T21" fmla="*/ 9984 h 9984"/>
              <a:gd name="T22" fmla="*/ 5528 w 8903"/>
              <a:gd name="T23" fmla="*/ 8608 h 9984"/>
              <a:gd name="T24" fmla="*/ 6963 w 8903"/>
              <a:gd name="T25" fmla="*/ 8617 h 9984"/>
              <a:gd name="T26" fmla="*/ 7189 w 8903"/>
              <a:gd name="T27" fmla="*/ 8599 h 9984"/>
              <a:gd name="T28" fmla="*/ 7198 w 8903"/>
              <a:gd name="T29" fmla="*/ 8598 h 9984"/>
              <a:gd name="T30" fmla="*/ 7198 w 8903"/>
              <a:gd name="T31" fmla="*/ 8594 h 9984"/>
              <a:gd name="T32" fmla="*/ 7298 w 8903"/>
              <a:gd name="T33" fmla="*/ 7675 h 9984"/>
              <a:gd name="T34" fmla="*/ 7603 w 8903"/>
              <a:gd name="T35" fmla="*/ 7365 h 9984"/>
              <a:gd name="T36" fmla="*/ 7603 w 8903"/>
              <a:gd name="T37" fmla="*/ 7344 h 9984"/>
              <a:gd name="T38" fmla="*/ 7158 w 8903"/>
              <a:gd name="T39" fmla="*/ 7080 h 9984"/>
              <a:gd name="T40" fmla="*/ 7278 w 8903"/>
              <a:gd name="T41" fmla="*/ 7080 h 9984"/>
              <a:gd name="T42" fmla="*/ 7633 w 8903"/>
              <a:gd name="T43" fmla="*/ 6843 h 9984"/>
              <a:gd name="T44" fmla="*/ 7633 w 8903"/>
              <a:gd name="T45" fmla="*/ 6825 h 9984"/>
              <a:gd name="T46" fmla="*/ 7598 w 8903"/>
              <a:gd name="T47" fmla="*/ 6724 h 9984"/>
              <a:gd name="T48" fmla="*/ 7803 w 8903"/>
              <a:gd name="T49" fmla="*/ 5887 h 9984"/>
              <a:gd name="T50" fmla="*/ 8327 w 8903"/>
              <a:gd name="T51" fmla="*/ 5437 h 9984"/>
              <a:gd name="T52" fmla="*/ 8327 w 8903"/>
              <a:gd name="T53" fmla="*/ 5437 h 9984"/>
              <a:gd name="T54" fmla="*/ 4452 w 8903"/>
              <a:gd name="T55" fmla="*/ 2668 h 9984"/>
              <a:gd name="T56" fmla="*/ 3917 w 8903"/>
              <a:gd name="T57" fmla="*/ 2977 h 9984"/>
              <a:gd name="T58" fmla="*/ 4024 w 8903"/>
              <a:gd name="T59" fmla="*/ 3438 h 9984"/>
              <a:gd name="T60" fmla="*/ 3843 w 8903"/>
              <a:gd name="T61" fmla="*/ 4035 h 9984"/>
              <a:gd name="T62" fmla="*/ 4847 w 8903"/>
              <a:gd name="T63" fmla="*/ 4615 h 9984"/>
              <a:gd name="T64" fmla="*/ 5098 w 8903"/>
              <a:gd name="T65" fmla="*/ 4511 h 9984"/>
              <a:gd name="T66" fmla="*/ 5455 w 8903"/>
              <a:gd name="T67" fmla="*/ 4869 h 9984"/>
              <a:gd name="T68" fmla="*/ 5098 w 8903"/>
              <a:gd name="T69" fmla="*/ 5226 h 9984"/>
              <a:gd name="T70" fmla="*/ 4740 w 8903"/>
              <a:gd name="T71" fmla="*/ 4869 h 9984"/>
              <a:gd name="T72" fmla="*/ 4760 w 8903"/>
              <a:gd name="T73" fmla="*/ 4770 h 9984"/>
              <a:gd name="T74" fmla="*/ 3728 w 8903"/>
              <a:gd name="T75" fmla="*/ 4174 h 9984"/>
              <a:gd name="T76" fmla="*/ 2950 w 8903"/>
              <a:gd name="T77" fmla="*/ 4510 h 9984"/>
              <a:gd name="T78" fmla="*/ 1877 w 8903"/>
              <a:gd name="T79" fmla="*/ 3437 h 9984"/>
              <a:gd name="T80" fmla="*/ 2950 w 8903"/>
              <a:gd name="T81" fmla="*/ 2363 h 9984"/>
              <a:gd name="T82" fmla="*/ 3828 w 8903"/>
              <a:gd name="T83" fmla="*/ 2820 h 9984"/>
              <a:gd name="T84" fmla="*/ 4395 w 8903"/>
              <a:gd name="T85" fmla="*/ 2493 h 9984"/>
              <a:gd name="T86" fmla="*/ 4382 w 8903"/>
              <a:gd name="T87" fmla="*/ 2363 h 9984"/>
              <a:gd name="T88" fmla="*/ 5098 w 8903"/>
              <a:gd name="T89" fmla="*/ 1647 h 9984"/>
              <a:gd name="T90" fmla="*/ 5814 w 8903"/>
              <a:gd name="T91" fmla="*/ 2363 h 9984"/>
              <a:gd name="T92" fmla="*/ 5098 w 8903"/>
              <a:gd name="T93" fmla="*/ 3079 h 9984"/>
              <a:gd name="T94" fmla="*/ 4452 w 8903"/>
              <a:gd name="T95" fmla="*/ 2668 h 9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903" h="9984">
                <a:moveTo>
                  <a:pt x="8327" y="5437"/>
                </a:moveTo>
                <a:cubicBezTo>
                  <a:pt x="8120" y="5205"/>
                  <a:pt x="7800" y="4960"/>
                  <a:pt x="7677" y="4670"/>
                </a:cubicBezTo>
                <a:cubicBezTo>
                  <a:pt x="7499" y="4255"/>
                  <a:pt x="7700" y="3839"/>
                  <a:pt x="7694" y="3413"/>
                </a:cubicBezTo>
                <a:cubicBezTo>
                  <a:pt x="7689" y="3072"/>
                  <a:pt x="7589" y="2647"/>
                  <a:pt x="7473" y="2330"/>
                </a:cubicBezTo>
                <a:cubicBezTo>
                  <a:pt x="7276" y="1797"/>
                  <a:pt x="6930" y="1363"/>
                  <a:pt x="6505" y="1028"/>
                </a:cubicBezTo>
                <a:cubicBezTo>
                  <a:pt x="5816" y="393"/>
                  <a:pt x="4861" y="0"/>
                  <a:pt x="3807" y="0"/>
                </a:cubicBezTo>
                <a:cubicBezTo>
                  <a:pt x="1704" y="0"/>
                  <a:pt x="0" y="1559"/>
                  <a:pt x="0" y="3482"/>
                </a:cubicBezTo>
                <a:cubicBezTo>
                  <a:pt x="0" y="3610"/>
                  <a:pt x="9" y="3737"/>
                  <a:pt x="24" y="3862"/>
                </a:cubicBezTo>
                <a:cubicBezTo>
                  <a:pt x="38" y="4695"/>
                  <a:pt x="299" y="5692"/>
                  <a:pt x="1050" y="6807"/>
                </a:cubicBezTo>
                <a:cubicBezTo>
                  <a:pt x="1050" y="6807"/>
                  <a:pt x="2099" y="8897"/>
                  <a:pt x="0" y="9977"/>
                </a:cubicBezTo>
                <a:lnTo>
                  <a:pt x="4618" y="9984"/>
                </a:lnTo>
                <a:cubicBezTo>
                  <a:pt x="4618" y="9984"/>
                  <a:pt x="4968" y="8608"/>
                  <a:pt x="5528" y="8608"/>
                </a:cubicBezTo>
                <a:cubicBezTo>
                  <a:pt x="6001" y="8608"/>
                  <a:pt x="6487" y="8643"/>
                  <a:pt x="6963" y="8617"/>
                </a:cubicBezTo>
                <a:cubicBezTo>
                  <a:pt x="7056" y="8633"/>
                  <a:pt x="7131" y="8625"/>
                  <a:pt x="7189" y="8599"/>
                </a:cubicBezTo>
                <a:cubicBezTo>
                  <a:pt x="7192" y="8599"/>
                  <a:pt x="7195" y="8598"/>
                  <a:pt x="7198" y="8598"/>
                </a:cubicBezTo>
                <a:lnTo>
                  <a:pt x="7198" y="8594"/>
                </a:lnTo>
                <a:cubicBezTo>
                  <a:pt x="7524" y="8432"/>
                  <a:pt x="7298" y="7675"/>
                  <a:pt x="7298" y="7675"/>
                </a:cubicBezTo>
                <a:cubicBezTo>
                  <a:pt x="7482" y="7597"/>
                  <a:pt x="7603" y="7464"/>
                  <a:pt x="7603" y="7365"/>
                </a:cubicBezTo>
                <a:lnTo>
                  <a:pt x="7603" y="7344"/>
                </a:lnTo>
                <a:cubicBezTo>
                  <a:pt x="7603" y="7220"/>
                  <a:pt x="7417" y="7117"/>
                  <a:pt x="7158" y="7080"/>
                </a:cubicBezTo>
                <a:lnTo>
                  <a:pt x="7278" y="7080"/>
                </a:lnTo>
                <a:cubicBezTo>
                  <a:pt x="7473" y="7080"/>
                  <a:pt x="7633" y="6974"/>
                  <a:pt x="7633" y="6843"/>
                </a:cubicBezTo>
                <a:lnTo>
                  <a:pt x="7633" y="6825"/>
                </a:lnTo>
                <a:cubicBezTo>
                  <a:pt x="7633" y="6789"/>
                  <a:pt x="7620" y="6755"/>
                  <a:pt x="7598" y="6724"/>
                </a:cubicBezTo>
                <a:cubicBezTo>
                  <a:pt x="7633" y="6568"/>
                  <a:pt x="7771" y="5888"/>
                  <a:pt x="7803" y="5887"/>
                </a:cubicBezTo>
                <a:cubicBezTo>
                  <a:pt x="8903" y="5834"/>
                  <a:pt x="8326" y="5437"/>
                  <a:pt x="8327" y="5437"/>
                </a:cubicBezTo>
                <a:close/>
                <a:moveTo>
                  <a:pt x="8327" y="5437"/>
                </a:moveTo>
                <a:close/>
                <a:moveTo>
                  <a:pt x="4452" y="2668"/>
                </a:moveTo>
                <a:lnTo>
                  <a:pt x="3917" y="2977"/>
                </a:lnTo>
                <a:cubicBezTo>
                  <a:pt x="3984" y="3117"/>
                  <a:pt x="4024" y="3272"/>
                  <a:pt x="4024" y="3438"/>
                </a:cubicBezTo>
                <a:cubicBezTo>
                  <a:pt x="4024" y="3659"/>
                  <a:pt x="3957" y="3864"/>
                  <a:pt x="3843" y="4035"/>
                </a:cubicBezTo>
                <a:lnTo>
                  <a:pt x="4847" y="4615"/>
                </a:lnTo>
                <a:cubicBezTo>
                  <a:pt x="4912" y="4551"/>
                  <a:pt x="4999" y="4511"/>
                  <a:pt x="5098" y="4511"/>
                </a:cubicBezTo>
                <a:cubicBezTo>
                  <a:pt x="5295" y="4511"/>
                  <a:pt x="5455" y="4671"/>
                  <a:pt x="5455" y="4869"/>
                </a:cubicBezTo>
                <a:cubicBezTo>
                  <a:pt x="5455" y="5067"/>
                  <a:pt x="5295" y="5226"/>
                  <a:pt x="5098" y="5226"/>
                </a:cubicBezTo>
                <a:cubicBezTo>
                  <a:pt x="4900" y="5226"/>
                  <a:pt x="4740" y="5067"/>
                  <a:pt x="4740" y="4869"/>
                </a:cubicBezTo>
                <a:cubicBezTo>
                  <a:pt x="4740" y="4834"/>
                  <a:pt x="4750" y="4803"/>
                  <a:pt x="4760" y="4770"/>
                </a:cubicBezTo>
                <a:lnTo>
                  <a:pt x="3728" y="4174"/>
                </a:lnTo>
                <a:cubicBezTo>
                  <a:pt x="3532" y="4380"/>
                  <a:pt x="3258" y="4510"/>
                  <a:pt x="2950" y="4510"/>
                </a:cubicBezTo>
                <a:cubicBezTo>
                  <a:pt x="2358" y="4510"/>
                  <a:pt x="1877" y="4029"/>
                  <a:pt x="1877" y="3437"/>
                </a:cubicBezTo>
                <a:cubicBezTo>
                  <a:pt x="1877" y="2844"/>
                  <a:pt x="2358" y="2363"/>
                  <a:pt x="2950" y="2363"/>
                </a:cubicBezTo>
                <a:cubicBezTo>
                  <a:pt x="3314" y="2363"/>
                  <a:pt x="3633" y="2544"/>
                  <a:pt x="3828" y="2820"/>
                </a:cubicBezTo>
                <a:lnTo>
                  <a:pt x="4395" y="2493"/>
                </a:lnTo>
                <a:cubicBezTo>
                  <a:pt x="4388" y="2450"/>
                  <a:pt x="4382" y="2408"/>
                  <a:pt x="4382" y="2363"/>
                </a:cubicBezTo>
                <a:cubicBezTo>
                  <a:pt x="4382" y="1968"/>
                  <a:pt x="4702" y="1647"/>
                  <a:pt x="5098" y="1647"/>
                </a:cubicBezTo>
                <a:cubicBezTo>
                  <a:pt x="5493" y="1647"/>
                  <a:pt x="5814" y="1967"/>
                  <a:pt x="5814" y="2363"/>
                </a:cubicBezTo>
                <a:cubicBezTo>
                  <a:pt x="5814" y="2758"/>
                  <a:pt x="5494" y="3079"/>
                  <a:pt x="5098" y="3079"/>
                </a:cubicBezTo>
                <a:cubicBezTo>
                  <a:pt x="4811" y="3079"/>
                  <a:pt x="4566" y="2910"/>
                  <a:pt x="4452" y="2668"/>
                </a:cubicBezTo>
                <a:close/>
              </a:path>
            </a:pathLst>
          </a:custGeom>
          <a:ln/>
        </p:spPr>
        <p:style>
          <a:lnRef idx="1">
            <a:schemeClr val="accent2"/>
          </a:lnRef>
          <a:fillRef idx="2">
            <a:schemeClr val="accent2"/>
          </a:fillRef>
          <a:effectRef idx="1">
            <a:schemeClr val="accent2"/>
          </a:effectRef>
          <a:fontRef idx="minor">
            <a:schemeClr val="dk1"/>
          </a:fontRef>
        </p:style>
        <p:txBody>
          <a:bodyPr rtlCol="0" anchor="ctr"/>
          <a:lstStyle/>
          <a:p>
            <a:pPr algn="ctr"/>
            <a:endParaRPr lang="en-US">
              <a:latin typeface="+mn-ea"/>
            </a:endParaRPr>
          </a:p>
        </p:txBody>
      </p:sp>
      <p:sp>
        <p:nvSpPr>
          <p:cNvPr id="51" name="思想气泡: 云 50">
            <a:extLst>
              <a:ext uri="{FF2B5EF4-FFF2-40B4-BE49-F238E27FC236}">
                <a16:creationId xmlns:a16="http://schemas.microsoft.com/office/drawing/2014/main" id="{B403ACB8-FB43-A22C-C31E-9F7BA9D50CBE}"/>
              </a:ext>
            </a:extLst>
          </p:cNvPr>
          <p:cNvSpPr/>
          <p:nvPr/>
        </p:nvSpPr>
        <p:spPr>
          <a:xfrm>
            <a:off x="9623688" y="4212067"/>
            <a:ext cx="2450890" cy="1396629"/>
          </a:xfrm>
          <a:prstGeom prst="cloudCallout">
            <a:avLst>
              <a:gd name="adj1" fmla="val -37652"/>
              <a:gd name="adj2" fmla="val 64110"/>
            </a:avLst>
          </a:prstGeom>
          <a:solidFill>
            <a:schemeClr val="accent1">
              <a:lumMod val="60000"/>
              <a:lumOff val="4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latin typeface="Arial" panose="020B0604020202020204" pitchFamily="34" charset="0"/>
                <a:ea typeface="微软雅黑" panose="020B0503020204020204" pitchFamily="34" charset="-122"/>
              </a:rPr>
              <a:t>多年的掣肘是否能有所突破？</a:t>
            </a:r>
          </a:p>
        </p:txBody>
      </p:sp>
      <p:sp>
        <p:nvSpPr>
          <p:cNvPr id="52" name="平行四边形 51">
            <a:extLst>
              <a:ext uri="{FF2B5EF4-FFF2-40B4-BE49-F238E27FC236}">
                <a16:creationId xmlns:a16="http://schemas.microsoft.com/office/drawing/2014/main" id="{722D5B7A-81A3-05C1-56B6-89339A4626CC}"/>
              </a:ext>
            </a:extLst>
          </p:cNvPr>
          <p:cNvSpPr/>
          <p:nvPr/>
        </p:nvSpPr>
        <p:spPr>
          <a:xfrm>
            <a:off x="4343395" y="881069"/>
            <a:ext cx="1341619" cy="486826"/>
          </a:xfrm>
          <a:prstGeom prst="parallelogram">
            <a:avLst/>
          </a:prstGeom>
          <a:solidFill>
            <a:schemeClr val="tx2">
              <a:lumMod val="5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Arial" panose="020B0604020202020204" pitchFamily="34" charset="0"/>
                <a:ea typeface="微软雅黑" panose="020B0503020204020204" pitchFamily="34" charset="-122"/>
              </a:rPr>
              <a:t>独立需求</a:t>
            </a:r>
          </a:p>
        </p:txBody>
      </p:sp>
      <p:cxnSp>
        <p:nvCxnSpPr>
          <p:cNvPr id="53" name="直接箭头连接符 52">
            <a:extLst>
              <a:ext uri="{FF2B5EF4-FFF2-40B4-BE49-F238E27FC236}">
                <a16:creationId xmlns:a16="http://schemas.microsoft.com/office/drawing/2014/main" id="{9A6BABAF-BE6D-35BD-CF7B-386D6D2F0C35}"/>
              </a:ext>
            </a:extLst>
          </p:cNvPr>
          <p:cNvCxnSpPr>
            <a:cxnSpLocks/>
          </p:cNvCxnSpPr>
          <p:nvPr/>
        </p:nvCxnSpPr>
        <p:spPr>
          <a:xfrm>
            <a:off x="5014203" y="1375935"/>
            <a:ext cx="1" cy="30308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356929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1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13"/>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9"/>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19"/>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21"/>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2"/>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45"/>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47"/>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48"/>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49"/>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21" grpId="0"/>
      <p:bldP spid="28" grpId="0" animBg="1"/>
      <p:bldP spid="32" grpId="0"/>
      <p:bldP spid="47" grpId="0"/>
      <p:bldP spid="48" grpId="0"/>
      <p:bldP spid="49" grpId="0" animBg="1"/>
      <p:bldP spid="51" grpId="0" animBg="1"/>
      <p:bldP spid="52"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6462A76-3800-827B-1D74-706AF8539DD3}"/>
              </a:ext>
            </a:extLst>
          </p:cNvPr>
          <p:cNvSpPr>
            <a:spLocks noGrp="1"/>
          </p:cNvSpPr>
          <p:nvPr>
            <p:ph type="title"/>
          </p:nvPr>
        </p:nvSpPr>
        <p:spPr/>
        <p:txBody>
          <a:bodyPr/>
          <a:lstStyle/>
          <a:p>
            <a:r>
              <a:rPr lang="en-US" altLang="zh-CN" dirty="0">
                <a:solidFill>
                  <a:schemeClr val="bg1"/>
                </a:solidFill>
                <a:latin typeface="Arial" panose="020B0604020202020204" pitchFamily="34" charset="0"/>
                <a:ea typeface="微软雅黑" panose="020B0503020204020204" pitchFamily="34" charset="-122"/>
              </a:rPr>
              <a:t>OTP - Disruptive Solutions</a:t>
            </a:r>
            <a:endParaRPr lang="zh-CN" altLang="en-US" dirty="0">
              <a:solidFill>
                <a:schemeClr val="bg1"/>
              </a:solidFill>
              <a:latin typeface="Arial" panose="020B0604020202020204" pitchFamily="34" charset="0"/>
              <a:ea typeface="微软雅黑" panose="020B0503020204020204" pitchFamily="34" charset="-122"/>
            </a:endParaRPr>
          </a:p>
        </p:txBody>
      </p:sp>
      <p:cxnSp>
        <p:nvCxnSpPr>
          <p:cNvPr id="12" name="连接符: 肘形 11">
            <a:extLst>
              <a:ext uri="{FF2B5EF4-FFF2-40B4-BE49-F238E27FC236}">
                <a16:creationId xmlns:a16="http://schemas.microsoft.com/office/drawing/2014/main" id="{36E8EE95-6FEB-F0D4-18C4-17155CD960B2}"/>
              </a:ext>
            </a:extLst>
          </p:cNvPr>
          <p:cNvCxnSpPr>
            <a:cxnSpLocks/>
            <a:stCxn id="4" idx="1"/>
            <a:endCxn id="3" idx="1"/>
          </p:cNvCxnSpPr>
          <p:nvPr/>
        </p:nvCxnSpPr>
        <p:spPr>
          <a:xfrm rot="10800000">
            <a:off x="2710824" y="4254778"/>
            <a:ext cx="6931" cy="1332429"/>
          </a:xfrm>
          <a:prstGeom prst="bentConnector3">
            <a:avLst>
              <a:gd name="adj1" fmla="val 9129563"/>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50" name="组合 49">
            <a:extLst>
              <a:ext uri="{FF2B5EF4-FFF2-40B4-BE49-F238E27FC236}">
                <a16:creationId xmlns:a16="http://schemas.microsoft.com/office/drawing/2014/main" id="{29C94547-435B-C8B3-5EA3-EDBEA0E3D7D8}"/>
              </a:ext>
            </a:extLst>
          </p:cNvPr>
          <p:cNvGrpSpPr/>
          <p:nvPr/>
        </p:nvGrpSpPr>
        <p:grpSpPr>
          <a:xfrm>
            <a:off x="4052443" y="2879747"/>
            <a:ext cx="2496496" cy="1031741"/>
            <a:chOff x="4782426" y="1978155"/>
            <a:chExt cx="2496496" cy="1031741"/>
          </a:xfrm>
        </p:grpSpPr>
        <p:sp>
          <p:nvSpPr>
            <p:cNvPr id="16" name="矩形: 圆角 15">
              <a:extLst>
                <a:ext uri="{FF2B5EF4-FFF2-40B4-BE49-F238E27FC236}">
                  <a16:creationId xmlns:a16="http://schemas.microsoft.com/office/drawing/2014/main" id="{D79E2000-84E8-E18A-2DFB-B8760105A387}"/>
                </a:ext>
              </a:extLst>
            </p:cNvPr>
            <p:cNvSpPr/>
            <p:nvPr/>
          </p:nvSpPr>
          <p:spPr>
            <a:xfrm>
              <a:off x="5756480" y="2474261"/>
              <a:ext cx="1522442" cy="535635"/>
            </a:xfrm>
            <a:prstGeom prst="roundRect">
              <a:avLst/>
            </a:prstGeom>
            <a:solidFill>
              <a:schemeClr val="accent1">
                <a:lumMod val="60000"/>
                <a:lumOff val="4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Arial" panose="020B0604020202020204" pitchFamily="34" charset="0"/>
                  <a:ea typeface="微软雅黑" panose="020B0503020204020204" pitchFamily="34" charset="-122"/>
                </a:rPr>
                <a:t>智能并行规划</a:t>
              </a:r>
            </a:p>
          </p:txBody>
        </p:sp>
        <p:cxnSp>
          <p:nvCxnSpPr>
            <p:cNvPr id="18" name="连接符: 肘形 17">
              <a:extLst>
                <a:ext uri="{FF2B5EF4-FFF2-40B4-BE49-F238E27FC236}">
                  <a16:creationId xmlns:a16="http://schemas.microsoft.com/office/drawing/2014/main" id="{6239A0F2-C7D9-CF6E-C7D9-0584C168F500}"/>
                </a:ext>
              </a:extLst>
            </p:cNvPr>
            <p:cNvCxnSpPr>
              <a:cxnSpLocks/>
              <a:stCxn id="13" idx="3"/>
              <a:endCxn id="16" idx="0"/>
            </p:cNvCxnSpPr>
            <p:nvPr/>
          </p:nvCxnSpPr>
          <p:spPr>
            <a:xfrm>
              <a:off x="4782426" y="1978155"/>
              <a:ext cx="1735275" cy="496106"/>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grpSp>
      <p:grpSp>
        <p:nvGrpSpPr>
          <p:cNvPr id="51" name="组合 50">
            <a:extLst>
              <a:ext uri="{FF2B5EF4-FFF2-40B4-BE49-F238E27FC236}">
                <a16:creationId xmlns:a16="http://schemas.microsoft.com/office/drawing/2014/main" id="{2CAD3A34-508D-CB76-61E8-A60FC872A75D}"/>
              </a:ext>
            </a:extLst>
          </p:cNvPr>
          <p:cNvGrpSpPr/>
          <p:nvPr/>
        </p:nvGrpSpPr>
        <p:grpSpPr>
          <a:xfrm>
            <a:off x="2710823" y="3911487"/>
            <a:ext cx="3076896" cy="686190"/>
            <a:chOff x="3440806" y="3009895"/>
            <a:chExt cx="3076896" cy="686190"/>
          </a:xfrm>
        </p:grpSpPr>
        <p:sp>
          <p:nvSpPr>
            <p:cNvPr id="3" name="矩形: 圆角 2">
              <a:extLst>
                <a:ext uri="{FF2B5EF4-FFF2-40B4-BE49-F238E27FC236}">
                  <a16:creationId xmlns:a16="http://schemas.microsoft.com/office/drawing/2014/main" id="{BF9155F4-BBD8-F2A0-43AD-4ECD3E98FDBB}"/>
                </a:ext>
              </a:extLst>
            </p:cNvPr>
            <p:cNvSpPr/>
            <p:nvPr/>
          </p:nvSpPr>
          <p:spPr>
            <a:xfrm>
              <a:off x="3440806" y="3010285"/>
              <a:ext cx="1341619" cy="685800"/>
            </a:xfrm>
            <a:prstGeom prst="roundRect">
              <a:avLst/>
            </a:prstGeom>
            <a:solidFill>
              <a:schemeClr val="tx2">
                <a:lumMod val="5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Arial" panose="020B0604020202020204" pitchFamily="34" charset="0"/>
                  <a:ea typeface="微软雅黑" panose="020B0503020204020204" pitchFamily="34" charset="-122"/>
                </a:rPr>
                <a:t>同级并行</a:t>
              </a:r>
              <a:endParaRPr lang="en-US" altLang="zh-CN" sz="1600" b="1" dirty="0">
                <a:solidFill>
                  <a:schemeClr val="bg1"/>
                </a:solidFill>
                <a:latin typeface="Arial" panose="020B0604020202020204" pitchFamily="34" charset="0"/>
                <a:ea typeface="微软雅黑" panose="020B0503020204020204" pitchFamily="34" charset="-122"/>
              </a:endParaRPr>
            </a:p>
            <a:p>
              <a:pPr algn="ctr"/>
              <a:r>
                <a:rPr lang="zh-CN" altLang="en-US" sz="1600" b="1" dirty="0">
                  <a:solidFill>
                    <a:schemeClr val="bg1"/>
                  </a:solidFill>
                  <a:latin typeface="Arial" panose="020B0604020202020204" pitchFamily="34" charset="0"/>
                  <a:ea typeface="微软雅黑" panose="020B0503020204020204" pitchFamily="34" charset="-122"/>
                </a:rPr>
                <a:t>逐级处理</a:t>
              </a:r>
            </a:p>
          </p:txBody>
        </p:sp>
        <p:cxnSp>
          <p:nvCxnSpPr>
            <p:cNvPr id="20" name="连接符: 肘形 19">
              <a:extLst>
                <a:ext uri="{FF2B5EF4-FFF2-40B4-BE49-F238E27FC236}">
                  <a16:creationId xmlns:a16="http://schemas.microsoft.com/office/drawing/2014/main" id="{F0FE0C0C-25BC-2A27-DAAF-C746BE05844C}"/>
                </a:ext>
              </a:extLst>
            </p:cNvPr>
            <p:cNvCxnSpPr>
              <a:cxnSpLocks/>
              <a:stCxn id="16" idx="2"/>
              <a:endCxn id="3" idx="3"/>
            </p:cNvCxnSpPr>
            <p:nvPr/>
          </p:nvCxnSpPr>
          <p:spPr>
            <a:xfrm rot="5400000">
              <a:off x="5478419" y="2313902"/>
              <a:ext cx="343289" cy="1735276"/>
            </a:xfrm>
            <a:prstGeom prst="bentConnector2">
              <a:avLst/>
            </a:prstGeom>
            <a:ln>
              <a:solidFill>
                <a:schemeClr val="bg2"/>
              </a:solidFill>
              <a:tailEnd type="triangle"/>
            </a:ln>
          </p:spPr>
          <p:style>
            <a:lnRef idx="1">
              <a:schemeClr val="accent1"/>
            </a:lnRef>
            <a:fillRef idx="0">
              <a:schemeClr val="accent1"/>
            </a:fillRef>
            <a:effectRef idx="0">
              <a:schemeClr val="accent1"/>
            </a:effectRef>
            <a:fontRef idx="minor">
              <a:schemeClr val="tx1"/>
            </a:fontRef>
          </p:style>
        </p:cxnSp>
      </p:grpSp>
      <p:sp>
        <p:nvSpPr>
          <p:cNvPr id="43" name="平行四边形 42">
            <a:extLst>
              <a:ext uri="{FF2B5EF4-FFF2-40B4-BE49-F238E27FC236}">
                <a16:creationId xmlns:a16="http://schemas.microsoft.com/office/drawing/2014/main" id="{D0971167-4DCE-0D48-7FFF-8E4946BC3755}"/>
              </a:ext>
            </a:extLst>
          </p:cNvPr>
          <p:cNvSpPr/>
          <p:nvPr/>
        </p:nvSpPr>
        <p:spPr>
          <a:xfrm>
            <a:off x="2710824" y="1696252"/>
            <a:ext cx="1341619" cy="486826"/>
          </a:xfrm>
          <a:prstGeom prst="parallelogram">
            <a:avLst/>
          </a:prstGeom>
          <a:solidFill>
            <a:schemeClr val="tx2">
              <a:lumMod val="5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Arial" panose="020B0604020202020204" pitchFamily="34" charset="0"/>
                <a:ea typeface="微软雅黑" panose="020B0503020204020204" pitchFamily="34" charset="-122"/>
              </a:rPr>
              <a:t>独立需求</a:t>
            </a:r>
          </a:p>
        </p:txBody>
      </p:sp>
      <p:grpSp>
        <p:nvGrpSpPr>
          <p:cNvPr id="49" name="组合 48">
            <a:extLst>
              <a:ext uri="{FF2B5EF4-FFF2-40B4-BE49-F238E27FC236}">
                <a16:creationId xmlns:a16="http://schemas.microsoft.com/office/drawing/2014/main" id="{1EA5D96A-1104-EAD8-A6E2-C8812423B5A0}"/>
              </a:ext>
            </a:extLst>
          </p:cNvPr>
          <p:cNvGrpSpPr/>
          <p:nvPr/>
        </p:nvGrpSpPr>
        <p:grpSpPr>
          <a:xfrm>
            <a:off x="2710824" y="1939665"/>
            <a:ext cx="6042932" cy="1282982"/>
            <a:chOff x="3373949" y="1413398"/>
            <a:chExt cx="6042932" cy="1282982"/>
          </a:xfrm>
        </p:grpSpPr>
        <p:sp>
          <p:nvSpPr>
            <p:cNvPr id="13" name="矩形: 圆角 12">
              <a:extLst>
                <a:ext uri="{FF2B5EF4-FFF2-40B4-BE49-F238E27FC236}">
                  <a16:creationId xmlns:a16="http://schemas.microsoft.com/office/drawing/2014/main" id="{A70C869C-E0CA-EC88-44CE-E019B25AC912}"/>
                </a:ext>
              </a:extLst>
            </p:cNvPr>
            <p:cNvSpPr/>
            <p:nvPr/>
          </p:nvSpPr>
          <p:spPr>
            <a:xfrm>
              <a:off x="3373949" y="2010580"/>
              <a:ext cx="1341619" cy="685800"/>
            </a:xfrm>
            <a:prstGeom prst="roundRect">
              <a:avLst/>
            </a:prstGeom>
            <a:solidFill>
              <a:schemeClr val="tx2">
                <a:lumMod val="5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Arial" panose="020B0604020202020204" pitchFamily="34" charset="0"/>
                  <a:ea typeface="微软雅黑" panose="020B0503020204020204" pitchFamily="34" charset="-122"/>
                </a:rPr>
                <a:t>需求排序</a:t>
              </a:r>
            </a:p>
          </p:txBody>
        </p:sp>
        <p:sp>
          <p:nvSpPr>
            <p:cNvPr id="25" name="矩形: 圆角 24">
              <a:extLst>
                <a:ext uri="{FF2B5EF4-FFF2-40B4-BE49-F238E27FC236}">
                  <a16:creationId xmlns:a16="http://schemas.microsoft.com/office/drawing/2014/main" id="{65547A51-1293-2FEB-5182-FD5222D07192}"/>
                </a:ext>
              </a:extLst>
            </p:cNvPr>
            <p:cNvSpPr/>
            <p:nvPr/>
          </p:nvSpPr>
          <p:spPr>
            <a:xfrm>
              <a:off x="7476434" y="2055007"/>
              <a:ext cx="1940447" cy="535635"/>
            </a:xfrm>
            <a:prstGeom prst="roundRect">
              <a:avLst/>
            </a:prstGeom>
            <a:solidFill>
              <a:schemeClr val="accent1">
                <a:lumMod val="60000"/>
                <a:lumOff val="4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Arial" panose="020B0604020202020204" pitchFamily="34" charset="0"/>
                  <a:ea typeface="微软雅黑" panose="020B0503020204020204" pitchFamily="34" charset="-122"/>
                </a:rPr>
                <a:t>并行智能生成供应链网络</a:t>
              </a:r>
            </a:p>
          </p:txBody>
        </p:sp>
        <p:cxnSp>
          <p:nvCxnSpPr>
            <p:cNvPr id="45" name="连接符: 肘形 44">
              <a:extLst>
                <a:ext uri="{FF2B5EF4-FFF2-40B4-BE49-F238E27FC236}">
                  <a16:creationId xmlns:a16="http://schemas.microsoft.com/office/drawing/2014/main" id="{97AA2896-E352-8EAE-E8CD-3F11BDFD5926}"/>
                </a:ext>
              </a:extLst>
            </p:cNvPr>
            <p:cNvCxnSpPr>
              <a:cxnSpLocks/>
              <a:stCxn id="43" idx="2"/>
              <a:endCxn id="25" idx="0"/>
            </p:cNvCxnSpPr>
            <p:nvPr/>
          </p:nvCxnSpPr>
          <p:spPr>
            <a:xfrm>
              <a:off x="4654715" y="1413398"/>
              <a:ext cx="3791943" cy="641609"/>
            </a:xfrm>
            <a:prstGeom prst="bentConnector2">
              <a:avLst/>
            </a:prstGeom>
            <a:ln>
              <a:solidFill>
                <a:schemeClr val="bg2"/>
              </a:solidFill>
              <a:tailEnd type="triangle"/>
            </a:ln>
          </p:spPr>
          <p:style>
            <a:lnRef idx="1">
              <a:schemeClr val="accent1"/>
            </a:lnRef>
            <a:fillRef idx="0">
              <a:schemeClr val="accent1"/>
            </a:fillRef>
            <a:effectRef idx="0">
              <a:schemeClr val="accent1"/>
            </a:effectRef>
            <a:fontRef idx="minor">
              <a:schemeClr val="tx1"/>
            </a:fontRef>
          </p:style>
        </p:cxnSp>
        <p:cxnSp>
          <p:nvCxnSpPr>
            <p:cNvPr id="46" name="直接箭头连接符 45">
              <a:extLst>
                <a:ext uri="{FF2B5EF4-FFF2-40B4-BE49-F238E27FC236}">
                  <a16:creationId xmlns:a16="http://schemas.microsoft.com/office/drawing/2014/main" id="{65119730-D5F5-8DE6-B118-003E40FBC35D}"/>
                </a:ext>
              </a:extLst>
            </p:cNvPr>
            <p:cNvCxnSpPr>
              <a:cxnSpLocks/>
              <a:stCxn id="43" idx="4"/>
              <a:endCxn id="13" idx="0"/>
            </p:cNvCxnSpPr>
            <p:nvPr/>
          </p:nvCxnSpPr>
          <p:spPr>
            <a:xfrm>
              <a:off x="4044759" y="1656811"/>
              <a:ext cx="0" cy="353769"/>
            </a:xfrm>
            <a:prstGeom prst="straightConnector1">
              <a:avLst/>
            </a:prstGeom>
            <a:ln>
              <a:solidFill>
                <a:schemeClr val="bg2"/>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164" name="图示 163">
            <a:extLst>
              <a:ext uri="{FF2B5EF4-FFF2-40B4-BE49-F238E27FC236}">
                <a16:creationId xmlns:a16="http://schemas.microsoft.com/office/drawing/2014/main" id="{856DDC8F-6FF3-54EC-66C1-BD9A64DDDC49}"/>
              </a:ext>
            </a:extLst>
          </p:cNvPr>
          <p:cNvGraphicFramePr/>
          <p:nvPr>
            <p:extLst>
              <p:ext uri="{D42A27DB-BD31-4B8C-83A1-F6EECF244321}">
                <p14:modId xmlns:p14="http://schemas.microsoft.com/office/powerpoint/2010/main" val="3689711245"/>
              </p:ext>
            </p:extLst>
          </p:nvPr>
        </p:nvGraphicFramePr>
        <p:xfrm>
          <a:off x="8809124" y="1265937"/>
          <a:ext cx="3338132" cy="52910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pSp>
        <p:nvGrpSpPr>
          <p:cNvPr id="172" name="组合 171">
            <a:extLst>
              <a:ext uri="{FF2B5EF4-FFF2-40B4-BE49-F238E27FC236}">
                <a16:creationId xmlns:a16="http://schemas.microsoft.com/office/drawing/2014/main" id="{7ABB6FED-E95E-BCD6-9284-D21721743DAE}"/>
              </a:ext>
            </a:extLst>
          </p:cNvPr>
          <p:cNvGrpSpPr/>
          <p:nvPr/>
        </p:nvGrpSpPr>
        <p:grpSpPr>
          <a:xfrm>
            <a:off x="2717754" y="3116908"/>
            <a:ext cx="5065780" cy="2813198"/>
            <a:chOff x="2717754" y="3116908"/>
            <a:chExt cx="5065780" cy="2813198"/>
          </a:xfrm>
        </p:grpSpPr>
        <p:grpSp>
          <p:nvGrpSpPr>
            <p:cNvPr id="54" name="组合 53">
              <a:extLst>
                <a:ext uri="{FF2B5EF4-FFF2-40B4-BE49-F238E27FC236}">
                  <a16:creationId xmlns:a16="http://schemas.microsoft.com/office/drawing/2014/main" id="{41E8958C-E3B3-B58F-6D47-99AC1E0967BD}"/>
                </a:ext>
              </a:extLst>
            </p:cNvPr>
            <p:cNvGrpSpPr/>
            <p:nvPr/>
          </p:nvGrpSpPr>
          <p:grpSpPr>
            <a:xfrm>
              <a:off x="2717754" y="3116908"/>
              <a:ext cx="5065780" cy="2813198"/>
              <a:chOff x="3396247" y="1906258"/>
              <a:chExt cx="5065780" cy="2813198"/>
            </a:xfrm>
          </p:grpSpPr>
          <p:sp>
            <p:nvSpPr>
              <p:cNvPr id="4" name="矩形: 圆角 3">
                <a:extLst>
                  <a:ext uri="{FF2B5EF4-FFF2-40B4-BE49-F238E27FC236}">
                    <a16:creationId xmlns:a16="http://schemas.microsoft.com/office/drawing/2014/main" id="{FCBFE86D-0286-C8FC-3851-41450DBF2800}"/>
                  </a:ext>
                </a:extLst>
              </p:cNvPr>
              <p:cNvSpPr/>
              <p:nvPr/>
            </p:nvSpPr>
            <p:spPr>
              <a:xfrm>
                <a:off x="3396247" y="4033656"/>
                <a:ext cx="1341619" cy="685800"/>
              </a:xfrm>
              <a:prstGeom prst="roundRect">
                <a:avLst/>
              </a:prstGeom>
              <a:solidFill>
                <a:schemeClr val="accent1">
                  <a:lumMod val="60000"/>
                  <a:lumOff val="4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1400" b="1" dirty="0">
                    <a:solidFill>
                      <a:schemeClr val="bg1"/>
                    </a:solidFill>
                    <a:latin typeface="Arial" panose="020B0604020202020204" pitchFamily="34" charset="0"/>
                    <a:ea typeface="微软雅黑" panose="020B0503020204020204" pitchFamily="34" charset="-122"/>
                  </a:rPr>
                  <a:t>RLT</a:t>
                </a:r>
                <a:r>
                  <a:rPr lang="zh-CN" altLang="en-US" sz="1400" b="1" dirty="0">
                    <a:solidFill>
                      <a:schemeClr val="bg1"/>
                    </a:solidFill>
                    <a:latin typeface="Arial" panose="020B0604020202020204" pitchFamily="34" charset="0"/>
                    <a:ea typeface="微软雅黑" panose="020B0503020204020204" pitchFamily="34" charset="-122"/>
                  </a:rPr>
                  <a:t>供需匹配</a:t>
                </a:r>
              </a:p>
            </p:txBody>
          </p:sp>
          <p:cxnSp>
            <p:nvCxnSpPr>
              <p:cNvPr id="7" name="直接箭头连接符 6">
                <a:extLst>
                  <a:ext uri="{FF2B5EF4-FFF2-40B4-BE49-F238E27FC236}">
                    <a16:creationId xmlns:a16="http://schemas.microsoft.com/office/drawing/2014/main" id="{D341EB6C-1918-4397-E5B0-17523672D2E7}"/>
                  </a:ext>
                </a:extLst>
              </p:cNvPr>
              <p:cNvCxnSpPr>
                <a:cxnSpLocks/>
                <a:stCxn id="13" idx="2"/>
                <a:endCxn id="3" idx="0"/>
              </p:cNvCxnSpPr>
              <p:nvPr/>
            </p:nvCxnSpPr>
            <p:spPr>
              <a:xfrm flipH="1">
                <a:off x="4129281" y="2011608"/>
                <a:ext cx="1" cy="68923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3" name="连接符: 肘形 52">
                <a:extLst>
                  <a:ext uri="{FF2B5EF4-FFF2-40B4-BE49-F238E27FC236}">
                    <a16:creationId xmlns:a16="http://schemas.microsoft.com/office/drawing/2014/main" id="{1D8CA550-76A0-39F2-47E1-F3C8CB726C64}"/>
                  </a:ext>
                </a:extLst>
              </p:cNvPr>
              <p:cNvCxnSpPr>
                <a:cxnSpLocks/>
                <a:stCxn id="25" idx="2"/>
                <a:endCxn id="4" idx="3"/>
              </p:cNvCxnSpPr>
              <p:nvPr/>
            </p:nvCxnSpPr>
            <p:spPr>
              <a:xfrm rot="5400000">
                <a:off x="5364798" y="1279327"/>
                <a:ext cx="2470297" cy="3724160"/>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grpSp>
        <p:cxnSp>
          <p:nvCxnSpPr>
            <p:cNvPr id="168" name="直接箭头连接符 167">
              <a:extLst>
                <a:ext uri="{FF2B5EF4-FFF2-40B4-BE49-F238E27FC236}">
                  <a16:creationId xmlns:a16="http://schemas.microsoft.com/office/drawing/2014/main" id="{C399EF34-37DE-3AE8-1A43-D3CD69FA2ED3}"/>
                </a:ext>
              </a:extLst>
            </p:cNvPr>
            <p:cNvCxnSpPr>
              <a:cxnSpLocks/>
              <a:stCxn id="3" idx="2"/>
              <a:endCxn id="4" idx="0"/>
            </p:cNvCxnSpPr>
            <p:nvPr/>
          </p:nvCxnSpPr>
          <p:spPr>
            <a:xfrm>
              <a:off x="3381633" y="4597677"/>
              <a:ext cx="6931" cy="64662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sp>
        <p:nvSpPr>
          <p:cNvPr id="175" name="文本框 174">
            <a:extLst>
              <a:ext uri="{FF2B5EF4-FFF2-40B4-BE49-F238E27FC236}">
                <a16:creationId xmlns:a16="http://schemas.microsoft.com/office/drawing/2014/main" id="{B33BEDE3-023D-94CE-E596-F73B1FB66288}"/>
              </a:ext>
            </a:extLst>
          </p:cNvPr>
          <p:cNvSpPr txBox="1"/>
          <p:nvPr/>
        </p:nvSpPr>
        <p:spPr>
          <a:xfrm>
            <a:off x="4371702" y="6323426"/>
            <a:ext cx="5390605" cy="369332"/>
          </a:xfrm>
          <a:prstGeom prst="rect">
            <a:avLst/>
          </a:prstGeom>
          <a:noFill/>
        </p:spPr>
        <p:txBody>
          <a:bodyPr wrap="square" rtlCol="0">
            <a:spAutoFit/>
          </a:bodyPr>
          <a:lstStyle/>
          <a:p>
            <a:r>
              <a:rPr lang="zh-CN" altLang="en-US" dirty="0">
                <a:solidFill>
                  <a:schemeClr val="bg1"/>
                </a:solidFill>
                <a:latin typeface="Arial" panose="020B0604020202020204" pitchFamily="34" charset="0"/>
                <a:ea typeface="微软雅黑" panose="020B0503020204020204" pitchFamily="34" charset="-122"/>
              </a:rPr>
              <a:t>站在巨人的肩膀学习，实践，创新，颠覆</a:t>
            </a:r>
          </a:p>
        </p:txBody>
      </p:sp>
    </p:spTree>
    <p:extLst>
      <p:ext uri="{BB962C8B-B14F-4D97-AF65-F5344CB8AC3E}">
        <p14:creationId xmlns:p14="http://schemas.microsoft.com/office/powerpoint/2010/main" val="417834481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7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2"/>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7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6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Graphic spid="164" grpId="0">
        <p:bldAsOne/>
      </p:bldGraphic>
      <p:bldP spid="175"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E9B59DE-3CC4-539C-5B8A-7EA508C1CA89}"/>
              </a:ext>
            </a:extLst>
          </p:cNvPr>
          <p:cNvSpPr>
            <a:spLocks noGrp="1"/>
          </p:cNvSpPr>
          <p:nvPr>
            <p:ph type="title"/>
          </p:nvPr>
        </p:nvSpPr>
        <p:spPr/>
        <p:txBody>
          <a:bodyPr/>
          <a:lstStyle/>
          <a:p>
            <a:r>
              <a:rPr lang="en-US" altLang="zh-CN" dirty="0">
                <a:latin typeface="+mj-ea"/>
              </a:rPr>
              <a:t>Level by Level</a:t>
            </a:r>
            <a:endParaRPr lang="zh-CN" altLang="en-US" dirty="0">
              <a:latin typeface="+mj-ea"/>
            </a:endParaRPr>
          </a:p>
        </p:txBody>
      </p:sp>
      <p:sp>
        <p:nvSpPr>
          <p:cNvPr id="5" name="矩形: 圆角 4">
            <a:extLst>
              <a:ext uri="{FF2B5EF4-FFF2-40B4-BE49-F238E27FC236}">
                <a16:creationId xmlns:a16="http://schemas.microsoft.com/office/drawing/2014/main" id="{1A75CB50-428C-FF82-AAB0-DAA40EEB0D97}"/>
              </a:ext>
            </a:extLst>
          </p:cNvPr>
          <p:cNvSpPr/>
          <p:nvPr/>
        </p:nvSpPr>
        <p:spPr>
          <a:xfrm>
            <a:off x="4462186" y="4543641"/>
            <a:ext cx="1600219" cy="535635"/>
          </a:xfrm>
          <a:prstGeom prst="roundRect">
            <a:avLst/>
          </a:prstGeom>
          <a:solidFill>
            <a:schemeClr val="accent1">
              <a:lumMod val="60000"/>
              <a:lumOff val="4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mj-ea"/>
                <a:ea typeface="+mj-ea"/>
              </a:rPr>
              <a:t>智能并行</a:t>
            </a:r>
            <a:endParaRPr lang="en-US" altLang="zh-CN" sz="1600" b="1" dirty="0">
              <a:solidFill>
                <a:schemeClr val="bg1"/>
              </a:solidFill>
              <a:latin typeface="+mj-ea"/>
              <a:ea typeface="+mj-ea"/>
            </a:endParaRPr>
          </a:p>
          <a:p>
            <a:pPr algn="ctr"/>
            <a:r>
              <a:rPr lang="en-US" altLang="zh-CN" sz="1600" b="1" dirty="0">
                <a:solidFill>
                  <a:schemeClr val="bg1"/>
                </a:solidFill>
                <a:latin typeface="+mj-ea"/>
                <a:ea typeface="+mj-ea"/>
              </a:rPr>
              <a:t>By LLC</a:t>
            </a:r>
            <a:r>
              <a:rPr lang="zh-CN" altLang="en-US" sz="1600" b="1" dirty="0">
                <a:solidFill>
                  <a:schemeClr val="bg1"/>
                </a:solidFill>
                <a:latin typeface="+mj-ea"/>
                <a:ea typeface="+mj-ea"/>
              </a:rPr>
              <a:t>、节点</a:t>
            </a:r>
          </a:p>
        </p:txBody>
      </p:sp>
      <p:sp>
        <p:nvSpPr>
          <p:cNvPr id="10" name="平行四边形 9">
            <a:extLst>
              <a:ext uri="{FF2B5EF4-FFF2-40B4-BE49-F238E27FC236}">
                <a16:creationId xmlns:a16="http://schemas.microsoft.com/office/drawing/2014/main" id="{000AD5D3-7818-2B6B-ED8B-B99A193A522A}"/>
              </a:ext>
            </a:extLst>
          </p:cNvPr>
          <p:cNvSpPr/>
          <p:nvPr/>
        </p:nvSpPr>
        <p:spPr>
          <a:xfrm>
            <a:off x="2870571" y="1562120"/>
            <a:ext cx="1341619" cy="486826"/>
          </a:xfrm>
          <a:prstGeom prst="parallelogram">
            <a:avLst/>
          </a:prstGeom>
          <a:solidFill>
            <a:schemeClr val="tx2">
              <a:lumMod val="5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mj-ea"/>
                <a:ea typeface="+mj-ea"/>
              </a:rPr>
              <a:t>独立需求</a:t>
            </a:r>
          </a:p>
        </p:txBody>
      </p:sp>
      <p:sp>
        <p:nvSpPr>
          <p:cNvPr id="12" name="矩形: 圆角 11">
            <a:extLst>
              <a:ext uri="{FF2B5EF4-FFF2-40B4-BE49-F238E27FC236}">
                <a16:creationId xmlns:a16="http://schemas.microsoft.com/office/drawing/2014/main" id="{93A6D7A5-7E92-B4EA-3862-CF362D37378B}"/>
              </a:ext>
            </a:extLst>
          </p:cNvPr>
          <p:cNvSpPr/>
          <p:nvPr/>
        </p:nvSpPr>
        <p:spPr>
          <a:xfrm>
            <a:off x="4592393" y="3477465"/>
            <a:ext cx="1341619" cy="685800"/>
          </a:xfrm>
          <a:prstGeom prst="roundRect">
            <a:avLst/>
          </a:prstGeom>
          <a:solidFill>
            <a:schemeClr val="accent1">
              <a:lumMod val="60000"/>
              <a:lumOff val="4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400" b="1" dirty="0">
                <a:solidFill>
                  <a:schemeClr val="bg1"/>
                </a:solidFill>
                <a:latin typeface="+mj-ea"/>
                <a:ea typeface="+mj-ea"/>
              </a:rPr>
              <a:t>指针索引递归</a:t>
            </a:r>
            <a:endParaRPr lang="en-US" altLang="zh-CN" sz="1400" b="1" dirty="0">
              <a:solidFill>
                <a:schemeClr val="bg1"/>
              </a:solidFill>
              <a:latin typeface="+mj-ea"/>
              <a:ea typeface="+mj-ea"/>
            </a:endParaRPr>
          </a:p>
          <a:p>
            <a:pPr algn="ctr"/>
            <a:r>
              <a:rPr lang="en-US" altLang="zh-CN" sz="1400" b="1" dirty="0">
                <a:solidFill>
                  <a:schemeClr val="bg1"/>
                </a:solidFill>
                <a:latin typeface="+mj-ea"/>
                <a:ea typeface="+mj-ea"/>
              </a:rPr>
              <a:t>MRP Netting</a:t>
            </a:r>
            <a:endParaRPr lang="zh-CN" altLang="en-US" sz="1400" b="1" dirty="0">
              <a:solidFill>
                <a:schemeClr val="bg1"/>
              </a:solidFill>
              <a:latin typeface="+mj-ea"/>
              <a:ea typeface="+mj-ea"/>
            </a:endParaRPr>
          </a:p>
        </p:txBody>
      </p:sp>
      <p:sp>
        <p:nvSpPr>
          <p:cNvPr id="19" name="矩形: 圆角 18">
            <a:extLst>
              <a:ext uri="{FF2B5EF4-FFF2-40B4-BE49-F238E27FC236}">
                <a16:creationId xmlns:a16="http://schemas.microsoft.com/office/drawing/2014/main" id="{8930AAE7-45E6-C5A3-0C05-D4FC84E6D6C4}"/>
              </a:ext>
            </a:extLst>
          </p:cNvPr>
          <p:cNvSpPr/>
          <p:nvPr/>
        </p:nvSpPr>
        <p:spPr>
          <a:xfrm>
            <a:off x="4547594" y="2495692"/>
            <a:ext cx="1341619" cy="685800"/>
          </a:xfrm>
          <a:prstGeom prst="roundRect">
            <a:avLst/>
          </a:prstGeom>
          <a:solidFill>
            <a:schemeClr val="accent1">
              <a:lumMod val="60000"/>
              <a:lumOff val="4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1400" b="1" dirty="0">
                <a:solidFill>
                  <a:schemeClr val="bg1"/>
                </a:solidFill>
                <a:latin typeface="+mj-ea"/>
                <a:ea typeface="+mj-ea"/>
              </a:rPr>
              <a:t>RLT</a:t>
            </a:r>
            <a:r>
              <a:rPr lang="zh-CN" altLang="en-US" sz="1400" b="1" dirty="0">
                <a:solidFill>
                  <a:schemeClr val="bg1"/>
                </a:solidFill>
                <a:latin typeface="+mj-ea"/>
                <a:ea typeface="+mj-ea"/>
              </a:rPr>
              <a:t>决定</a:t>
            </a:r>
            <a:r>
              <a:rPr lang="en-US" altLang="zh-CN" sz="1400" b="1" dirty="0">
                <a:solidFill>
                  <a:schemeClr val="bg1"/>
                </a:solidFill>
                <a:latin typeface="+mj-ea"/>
                <a:ea typeface="+mj-ea"/>
              </a:rPr>
              <a:t>LLC</a:t>
            </a:r>
            <a:endParaRPr lang="zh-CN" altLang="en-US" sz="1400" b="1" dirty="0">
              <a:solidFill>
                <a:schemeClr val="bg1"/>
              </a:solidFill>
              <a:latin typeface="+mj-ea"/>
              <a:ea typeface="+mj-ea"/>
            </a:endParaRPr>
          </a:p>
        </p:txBody>
      </p:sp>
      <p:sp>
        <p:nvSpPr>
          <p:cNvPr id="27" name="平行四边形 26">
            <a:extLst>
              <a:ext uri="{FF2B5EF4-FFF2-40B4-BE49-F238E27FC236}">
                <a16:creationId xmlns:a16="http://schemas.microsoft.com/office/drawing/2014/main" id="{B71FEBE5-7BE8-175C-4261-1A155051D29C}"/>
              </a:ext>
            </a:extLst>
          </p:cNvPr>
          <p:cNvSpPr/>
          <p:nvPr/>
        </p:nvSpPr>
        <p:spPr>
          <a:xfrm>
            <a:off x="6358273" y="1566748"/>
            <a:ext cx="1341619" cy="486826"/>
          </a:xfrm>
          <a:prstGeom prst="parallelogram">
            <a:avLst/>
          </a:prstGeom>
          <a:solidFill>
            <a:schemeClr val="tx2">
              <a:lumMod val="5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mj-ea"/>
                <a:ea typeface="+mj-ea"/>
              </a:rPr>
              <a:t>物料客户主数据</a:t>
            </a:r>
          </a:p>
        </p:txBody>
      </p:sp>
      <p:sp>
        <p:nvSpPr>
          <p:cNvPr id="28" name="平行四边形 27">
            <a:extLst>
              <a:ext uri="{FF2B5EF4-FFF2-40B4-BE49-F238E27FC236}">
                <a16:creationId xmlns:a16="http://schemas.microsoft.com/office/drawing/2014/main" id="{21575909-CCB4-EAD5-530C-AC81F750E33A}"/>
              </a:ext>
            </a:extLst>
          </p:cNvPr>
          <p:cNvSpPr/>
          <p:nvPr/>
        </p:nvSpPr>
        <p:spPr>
          <a:xfrm>
            <a:off x="4547595" y="1566748"/>
            <a:ext cx="1341619" cy="486826"/>
          </a:xfrm>
          <a:prstGeom prst="parallelogram">
            <a:avLst/>
          </a:prstGeom>
          <a:solidFill>
            <a:schemeClr val="tx2">
              <a:lumMod val="5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1600" b="1" dirty="0">
                <a:solidFill>
                  <a:schemeClr val="bg1"/>
                </a:solidFill>
                <a:latin typeface="+mj-ea"/>
                <a:ea typeface="+mj-ea"/>
              </a:rPr>
              <a:t>BOM</a:t>
            </a:r>
            <a:endParaRPr lang="zh-CN" altLang="en-US" sz="1600" b="1" dirty="0">
              <a:solidFill>
                <a:schemeClr val="bg1"/>
              </a:solidFill>
              <a:latin typeface="+mj-ea"/>
              <a:ea typeface="+mj-ea"/>
            </a:endParaRPr>
          </a:p>
        </p:txBody>
      </p:sp>
      <p:cxnSp>
        <p:nvCxnSpPr>
          <p:cNvPr id="32" name="连接符: 肘形 31">
            <a:extLst>
              <a:ext uri="{FF2B5EF4-FFF2-40B4-BE49-F238E27FC236}">
                <a16:creationId xmlns:a16="http://schemas.microsoft.com/office/drawing/2014/main" id="{0A5480EB-814D-E6F8-2954-7E6BECE629C6}"/>
              </a:ext>
            </a:extLst>
          </p:cNvPr>
          <p:cNvCxnSpPr>
            <a:cxnSpLocks/>
            <a:stCxn id="28" idx="4"/>
            <a:endCxn id="19" idx="0"/>
          </p:cNvCxnSpPr>
          <p:nvPr/>
        </p:nvCxnSpPr>
        <p:spPr>
          <a:xfrm rot="5400000">
            <a:off x="4997346" y="2274633"/>
            <a:ext cx="442118" cy="1"/>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34" name="平行四边形 33">
            <a:extLst>
              <a:ext uri="{FF2B5EF4-FFF2-40B4-BE49-F238E27FC236}">
                <a16:creationId xmlns:a16="http://schemas.microsoft.com/office/drawing/2014/main" id="{99BCDA4E-4826-D159-D053-960B73105FAE}"/>
              </a:ext>
            </a:extLst>
          </p:cNvPr>
          <p:cNvSpPr/>
          <p:nvPr/>
        </p:nvSpPr>
        <p:spPr>
          <a:xfrm>
            <a:off x="7201875" y="2590155"/>
            <a:ext cx="1648945" cy="486826"/>
          </a:xfrm>
          <a:prstGeom prst="parallelogram">
            <a:avLst/>
          </a:prstGeom>
          <a:solidFill>
            <a:schemeClr val="accent6">
              <a:lumMod val="75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mj-ea"/>
                <a:ea typeface="+mj-ea"/>
              </a:rPr>
              <a:t>供应链网络附带</a:t>
            </a:r>
            <a:r>
              <a:rPr lang="en-US" altLang="zh-CN" sz="1600" b="1" dirty="0">
                <a:solidFill>
                  <a:schemeClr val="bg1"/>
                </a:solidFill>
                <a:latin typeface="+mj-ea"/>
                <a:ea typeface="+mj-ea"/>
              </a:rPr>
              <a:t>LLC</a:t>
            </a:r>
            <a:endParaRPr lang="zh-CN" altLang="en-US" sz="1600" b="1" dirty="0">
              <a:solidFill>
                <a:schemeClr val="bg1"/>
              </a:solidFill>
              <a:latin typeface="+mj-ea"/>
              <a:ea typeface="+mj-ea"/>
            </a:endParaRPr>
          </a:p>
        </p:txBody>
      </p:sp>
      <p:cxnSp>
        <p:nvCxnSpPr>
          <p:cNvPr id="36" name="连接符: 肘形 35">
            <a:extLst>
              <a:ext uri="{FF2B5EF4-FFF2-40B4-BE49-F238E27FC236}">
                <a16:creationId xmlns:a16="http://schemas.microsoft.com/office/drawing/2014/main" id="{2F291799-9DE9-43C5-DED4-ED3F691450F9}"/>
              </a:ext>
            </a:extLst>
          </p:cNvPr>
          <p:cNvCxnSpPr>
            <a:cxnSpLocks/>
            <a:stCxn id="19" idx="3"/>
            <a:endCxn id="34" idx="5"/>
          </p:cNvCxnSpPr>
          <p:nvPr/>
        </p:nvCxnSpPr>
        <p:spPr>
          <a:xfrm flipV="1">
            <a:off x="5889213" y="2833568"/>
            <a:ext cx="1373515" cy="5024"/>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4" name="连接符: 肘形 53">
            <a:extLst>
              <a:ext uri="{FF2B5EF4-FFF2-40B4-BE49-F238E27FC236}">
                <a16:creationId xmlns:a16="http://schemas.microsoft.com/office/drawing/2014/main" id="{A611E172-392D-D758-BBB6-35BF4A57423B}"/>
              </a:ext>
            </a:extLst>
          </p:cNvPr>
          <p:cNvCxnSpPr>
            <a:stCxn id="27" idx="3"/>
            <a:endCxn id="19" idx="0"/>
          </p:cNvCxnSpPr>
          <p:nvPr/>
        </p:nvCxnSpPr>
        <p:spPr>
          <a:xfrm rot="5400000">
            <a:off x="5872258" y="1399721"/>
            <a:ext cx="442118" cy="1749825"/>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4" name="连接符: 肘形 63">
            <a:extLst>
              <a:ext uri="{FF2B5EF4-FFF2-40B4-BE49-F238E27FC236}">
                <a16:creationId xmlns:a16="http://schemas.microsoft.com/office/drawing/2014/main" id="{C6188B65-B37F-0DAC-01F6-D5BCB755BB49}"/>
              </a:ext>
            </a:extLst>
          </p:cNvPr>
          <p:cNvCxnSpPr>
            <a:stCxn id="10" idx="4"/>
          </p:cNvCxnSpPr>
          <p:nvPr/>
        </p:nvCxnSpPr>
        <p:spPr>
          <a:xfrm rot="16200000" flipH="1">
            <a:off x="3555472" y="2034854"/>
            <a:ext cx="895150" cy="923333"/>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6" name="连接符: 肘形 65">
            <a:extLst>
              <a:ext uri="{FF2B5EF4-FFF2-40B4-BE49-F238E27FC236}">
                <a16:creationId xmlns:a16="http://schemas.microsoft.com/office/drawing/2014/main" id="{FE747408-C318-3684-27E7-A12D7985E70B}"/>
              </a:ext>
            </a:extLst>
          </p:cNvPr>
          <p:cNvCxnSpPr>
            <a:cxnSpLocks/>
            <a:stCxn id="10" idx="4"/>
            <a:endCxn id="12" idx="1"/>
          </p:cNvCxnSpPr>
          <p:nvPr/>
        </p:nvCxnSpPr>
        <p:spPr>
          <a:xfrm rot="16200000" flipH="1">
            <a:off x="3181178" y="2409149"/>
            <a:ext cx="1771419" cy="1051012"/>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8" name="连接符: 肘形 67">
            <a:extLst>
              <a:ext uri="{FF2B5EF4-FFF2-40B4-BE49-F238E27FC236}">
                <a16:creationId xmlns:a16="http://schemas.microsoft.com/office/drawing/2014/main" id="{877DCA5B-B2C4-7DD8-5F77-506588E7B141}"/>
              </a:ext>
            </a:extLst>
          </p:cNvPr>
          <p:cNvCxnSpPr>
            <a:stCxn id="34" idx="4"/>
            <a:endCxn id="12" idx="3"/>
          </p:cNvCxnSpPr>
          <p:nvPr/>
        </p:nvCxnSpPr>
        <p:spPr>
          <a:xfrm rot="5400000">
            <a:off x="6608488" y="2402505"/>
            <a:ext cx="743384" cy="2092336"/>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0" name="连接符: 肘形 69">
            <a:extLst>
              <a:ext uri="{FF2B5EF4-FFF2-40B4-BE49-F238E27FC236}">
                <a16:creationId xmlns:a16="http://schemas.microsoft.com/office/drawing/2014/main" id="{A4D40586-2ED2-3BB7-D1CF-5A04B092B88B}"/>
              </a:ext>
            </a:extLst>
          </p:cNvPr>
          <p:cNvCxnSpPr>
            <a:stCxn id="12" idx="2"/>
            <a:endCxn id="5" idx="0"/>
          </p:cNvCxnSpPr>
          <p:nvPr/>
        </p:nvCxnSpPr>
        <p:spPr>
          <a:xfrm rot="5400000">
            <a:off x="5072562" y="4353000"/>
            <a:ext cx="380376" cy="907"/>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sp>
        <p:nvSpPr>
          <p:cNvPr id="71" name="平行四边形 70">
            <a:extLst>
              <a:ext uri="{FF2B5EF4-FFF2-40B4-BE49-F238E27FC236}">
                <a16:creationId xmlns:a16="http://schemas.microsoft.com/office/drawing/2014/main" id="{B24EB613-C19B-943F-A613-0CE9478F26B4}"/>
              </a:ext>
            </a:extLst>
          </p:cNvPr>
          <p:cNvSpPr/>
          <p:nvPr/>
        </p:nvSpPr>
        <p:spPr>
          <a:xfrm>
            <a:off x="1392613" y="4568761"/>
            <a:ext cx="1648945" cy="486826"/>
          </a:xfrm>
          <a:prstGeom prst="parallelogram">
            <a:avLst/>
          </a:prstGeom>
          <a:solidFill>
            <a:schemeClr val="tx2">
              <a:lumMod val="50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mj-ea"/>
                <a:ea typeface="+mj-ea"/>
              </a:rPr>
              <a:t>供应和资源</a:t>
            </a:r>
          </a:p>
        </p:txBody>
      </p:sp>
      <p:cxnSp>
        <p:nvCxnSpPr>
          <p:cNvPr id="73" name="连接符: 肘形 72">
            <a:extLst>
              <a:ext uri="{FF2B5EF4-FFF2-40B4-BE49-F238E27FC236}">
                <a16:creationId xmlns:a16="http://schemas.microsoft.com/office/drawing/2014/main" id="{77A482E5-7E7D-41B1-91D0-01C9DDF4DAEA}"/>
              </a:ext>
            </a:extLst>
          </p:cNvPr>
          <p:cNvCxnSpPr>
            <a:cxnSpLocks/>
            <a:stCxn id="71" idx="2"/>
            <a:endCxn id="5" idx="1"/>
          </p:cNvCxnSpPr>
          <p:nvPr/>
        </p:nvCxnSpPr>
        <p:spPr>
          <a:xfrm flipV="1">
            <a:off x="2980705" y="4811459"/>
            <a:ext cx="1481481" cy="715"/>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75" name="菱形 74">
            <a:extLst>
              <a:ext uri="{FF2B5EF4-FFF2-40B4-BE49-F238E27FC236}">
                <a16:creationId xmlns:a16="http://schemas.microsoft.com/office/drawing/2014/main" id="{0E2BCC46-8153-6774-E7E6-F8E6F7AABEC9}"/>
              </a:ext>
            </a:extLst>
          </p:cNvPr>
          <p:cNvSpPr/>
          <p:nvPr/>
        </p:nvSpPr>
        <p:spPr>
          <a:xfrm>
            <a:off x="4462186" y="5431136"/>
            <a:ext cx="1600218" cy="588613"/>
          </a:xfrm>
          <a:prstGeom prst="diamond">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400" b="1" dirty="0">
                <a:latin typeface="+mj-ea"/>
                <a:ea typeface="+mj-ea"/>
              </a:rPr>
              <a:t>Netted</a:t>
            </a:r>
            <a:endParaRPr lang="zh-CN" altLang="en-US" sz="1400" b="1" dirty="0">
              <a:latin typeface="+mj-ea"/>
              <a:ea typeface="+mj-ea"/>
            </a:endParaRPr>
          </a:p>
        </p:txBody>
      </p:sp>
      <p:cxnSp>
        <p:nvCxnSpPr>
          <p:cNvPr id="77" name="连接符: 肘形 76">
            <a:extLst>
              <a:ext uri="{FF2B5EF4-FFF2-40B4-BE49-F238E27FC236}">
                <a16:creationId xmlns:a16="http://schemas.microsoft.com/office/drawing/2014/main" id="{CFBFC7CD-D680-3A9A-D9BE-6B3D2A0684D6}"/>
              </a:ext>
            </a:extLst>
          </p:cNvPr>
          <p:cNvCxnSpPr>
            <a:cxnSpLocks/>
            <a:stCxn id="5" idx="2"/>
            <a:endCxn id="75" idx="0"/>
          </p:cNvCxnSpPr>
          <p:nvPr/>
        </p:nvCxnSpPr>
        <p:spPr>
          <a:xfrm rot="5400000">
            <a:off x="5086366" y="5255206"/>
            <a:ext cx="351860" cy="1"/>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sp>
        <p:nvSpPr>
          <p:cNvPr id="85" name="平行四边形 84">
            <a:extLst>
              <a:ext uri="{FF2B5EF4-FFF2-40B4-BE49-F238E27FC236}">
                <a16:creationId xmlns:a16="http://schemas.microsoft.com/office/drawing/2014/main" id="{651DB344-67DD-9254-8792-1D9DE440C684}"/>
              </a:ext>
            </a:extLst>
          </p:cNvPr>
          <p:cNvSpPr/>
          <p:nvPr/>
        </p:nvSpPr>
        <p:spPr>
          <a:xfrm>
            <a:off x="7135345" y="4568761"/>
            <a:ext cx="1648945" cy="486826"/>
          </a:xfrm>
          <a:prstGeom prst="parallelogram">
            <a:avLst/>
          </a:prstGeom>
          <a:solidFill>
            <a:schemeClr val="accent6">
              <a:lumMod val="75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mj-ea"/>
                <a:ea typeface="+mj-ea"/>
              </a:rPr>
              <a:t>供需匹配</a:t>
            </a:r>
          </a:p>
        </p:txBody>
      </p:sp>
      <p:cxnSp>
        <p:nvCxnSpPr>
          <p:cNvPr id="87" name="连接符: 肘形 86">
            <a:extLst>
              <a:ext uri="{FF2B5EF4-FFF2-40B4-BE49-F238E27FC236}">
                <a16:creationId xmlns:a16="http://schemas.microsoft.com/office/drawing/2014/main" id="{62756BAC-03F1-0E86-212D-186841194FEB}"/>
              </a:ext>
            </a:extLst>
          </p:cNvPr>
          <p:cNvCxnSpPr>
            <a:stCxn id="5" idx="3"/>
            <a:endCxn id="85" idx="5"/>
          </p:cNvCxnSpPr>
          <p:nvPr/>
        </p:nvCxnSpPr>
        <p:spPr>
          <a:xfrm>
            <a:off x="6062405" y="4811459"/>
            <a:ext cx="1133793" cy="715"/>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sp>
        <p:nvSpPr>
          <p:cNvPr id="89" name="平行四边形 88">
            <a:extLst>
              <a:ext uri="{FF2B5EF4-FFF2-40B4-BE49-F238E27FC236}">
                <a16:creationId xmlns:a16="http://schemas.microsoft.com/office/drawing/2014/main" id="{67D90C31-DB00-5D76-2302-BBA884B10AFE}"/>
              </a:ext>
            </a:extLst>
          </p:cNvPr>
          <p:cNvSpPr/>
          <p:nvPr/>
        </p:nvSpPr>
        <p:spPr>
          <a:xfrm>
            <a:off x="2474678" y="5487825"/>
            <a:ext cx="1648945" cy="486826"/>
          </a:xfrm>
          <a:prstGeom prst="parallelogram">
            <a:avLst/>
          </a:prstGeom>
          <a:solidFill>
            <a:schemeClr val="accent6">
              <a:lumMod val="75000"/>
            </a:schemeClr>
          </a:solidFill>
          <a:ln>
            <a:solidFill>
              <a:schemeClr val="bg2"/>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solidFill>
                  <a:schemeClr val="bg1"/>
                </a:solidFill>
                <a:latin typeface="+mj-ea"/>
                <a:ea typeface="+mj-ea"/>
              </a:rPr>
              <a:t>计划单据</a:t>
            </a:r>
          </a:p>
        </p:txBody>
      </p:sp>
      <p:cxnSp>
        <p:nvCxnSpPr>
          <p:cNvPr id="91" name="直接箭头连接符 90">
            <a:extLst>
              <a:ext uri="{FF2B5EF4-FFF2-40B4-BE49-F238E27FC236}">
                <a16:creationId xmlns:a16="http://schemas.microsoft.com/office/drawing/2014/main" id="{EAA51229-578E-2E77-828D-3E49294B8B7A}"/>
              </a:ext>
            </a:extLst>
          </p:cNvPr>
          <p:cNvCxnSpPr>
            <a:cxnSpLocks/>
            <a:stCxn id="75" idx="1"/>
            <a:endCxn id="89" idx="2"/>
          </p:cNvCxnSpPr>
          <p:nvPr/>
        </p:nvCxnSpPr>
        <p:spPr>
          <a:xfrm flipH="1">
            <a:off x="4062770" y="5725443"/>
            <a:ext cx="399416" cy="579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文本框 95">
            <a:extLst>
              <a:ext uri="{FF2B5EF4-FFF2-40B4-BE49-F238E27FC236}">
                <a16:creationId xmlns:a16="http://schemas.microsoft.com/office/drawing/2014/main" id="{8109815C-A0A7-0732-357D-2C99E1F1790F}"/>
              </a:ext>
            </a:extLst>
          </p:cNvPr>
          <p:cNvSpPr txBox="1"/>
          <p:nvPr/>
        </p:nvSpPr>
        <p:spPr>
          <a:xfrm>
            <a:off x="4196456" y="5575175"/>
            <a:ext cx="265729" cy="307777"/>
          </a:xfrm>
          <a:prstGeom prst="rect">
            <a:avLst/>
          </a:prstGeom>
          <a:noFill/>
        </p:spPr>
        <p:txBody>
          <a:bodyPr wrap="square" rtlCol="0">
            <a:spAutoFit/>
          </a:bodyPr>
          <a:lstStyle/>
          <a:p>
            <a:r>
              <a:rPr lang="en-US" altLang="zh-CN" sz="1400" dirty="0">
                <a:solidFill>
                  <a:schemeClr val="accent1">
                    <a:lumMod val="40000"/>
                    <a:lumOff val="60000"/>
                  </a:schemeClr>
                </a:solidFill>
                <a:latin typeface="+mj-ea"/>
                <a:ea typeface="+mj-ea"/>
              </a:rPr>
              <a:t>Y</a:t>
            </a:r>
            <a:endParaRPr lang="zh-CN" altLang="en-US" sz="1400" dirty="0">
              <a:solidFill>
                <a:schemeClr val="accent1">
                  <a:lumMod val="40000"/>
                  <a:lumOff val="60000"/>
                </a:schemeClr>
              </a:solidFill>
              <a:latin typeface="+mj-ea"/>
              <a:ea typeface="+mj-ea"/>
            </a:endParaRPr>
          </a:p>
        </p:txBody>
      </p:sp>
      <p:cxnSp>
        <p:nvCxnSpPr>
          <p:cNvPr id="98" name="连接符: 肘形 97">
            <a:extLst>
              <a:ext uri="{FF2B5EF4-FFF2-40B4-BE49-F238E27FC236}">
                <a16:creationId xmlns:a16="http://schemas.microsoft.com/office/drawing/2014/main" id="{F60A3467-3157-74F2-D927-29AB1E246999}"/>
              </a:ext>
            </a:extLst>
          </p:cNvPr>
          <p:cNvCxnSpPr>
            <a:stCxn id="89" idx="1"/>
            <a:endCxn id="5" idx="1"/>
          </p:cNvCxnSpPr>
          <p:nvPr/>
        </p:nvCxnSpPr>
        <p:spPr>
          <a:xfrm rot="5400000" flipH="1" flipV="1">
            <a:off x="3572912" y="4598551"/>
            <a:ext cx="676366" cy="1102182"/>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100" name="椭圆 99">
            <a:extLst>
              <a:ext uri="{FF2B5EF4-FFF2-40B4-BE49-F238E27FC236}">
                <a16:creationId xmlns:a16="http://schemas.microsoft.com/office/drawing/2014/main" id="{11C4A303-A1E6-B870-0CA1-B17A4C453EA0}"/>
              </a:ext>
            </a:extLst>
          </p:cNvPr>
          <p:cNvSpPr/>
          <p:nvPr/>
        </p:nvSpPr>
        <p:spPr>
          <a:xfrm>
            <a:off x="4756833" y="884305"/>
            <a:ext cx="923139" cy="486826"/>
          </a:xfrm>
          <a:prstGeom prst="ellipse">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sz="1600" b="1" dirty="0">
                <a:latin typeface="+mj-ea"/>
                <a:ea typeface="+mj-ea"/>
              </a:rPr>
              <a:t>开始</a:t>
            </a:r>
          </a:p>
        </p:txBody>
      </p:sp>
      <p:cxnSp>
        <p:nvCxnSpPr>
          <p:cNvPr id="102" name="连接符: 肘形 101">
            <a:extLst>
              <a:ext uri="{FF2B5EF4-FFF2-40B4-BE49-F238E27FC236}">
                <a16:creationId xmlns:a16="http://schemas.microsoft.com/office/drawing/2014/main" id="{960E8C0D-F780-FECF-138D-5FA19AB96B66}"/>
              </a:ext>
            </a:extLst>
          </p:cNvPr>
          <p:cNvCxnSpPr>
            <a:cxnSpLocks/>
            <a:stCxn id="100" idx="4"/>
            <a:endCxn id="28" idx="0"/>
          </p:cNvCxnSpPr>
          <p:nvPr/>
        </p:nvCxnSpPr>
        <p:spPr>
          <a:xfrm rot="16200000" flipH="1">
            <a:off x="5120596" y="1468938"/>
            <a:ext cx="195617" cy="2"/>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sp>
        <p:nvSpPr>
          <p:cNvPr id="104" name="椭圆 103">
            <a:extLst>
              <a:ext uri="{FF2B5EF4-FFF2-40B4-BE49-F238E27FC236}">
                <a16:creationId xmlns:a16="http://schemas.microsoft.com/office/drawing/2014/main" id="{F5AEA42C-EE78-DD25-5D5E-8B1432B6CB86}"/>
              </a:ext>
            </a:extLst>
          </p:cNvPr>
          <p:cNvSpPr/>
          <p:nvPr/>
        </p:nvSpPr>
        <p:spPr>
          <a:xfrm>
            <a:off x="4805749" y="6285344"/>
            <a:ext cx="923139" cy="486826"/>
          </a:xfrm>
          <a:prstGeom prst="ellipse">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sz="1600" b="1" dirty="0">
                <a:latin typeface="+mj-ea"/>
                <a:ea typeface="+mj-ea"/>
              </a:rPr>
              <a:t>结束</a:t>
            </a:r>
          </a:p>
        </p:txBody>
      </p:sp>
      <p:cxnSp>
        <p:nvCxnSpPr>
          <p:cNvPr id="106" name="连接符: 肘形 105">
            <a:extLst>
              <a:ext uri="{FF2B5EF4-FFF2-40B4-BE49-F238E27FC236}">
                <a16:creationId xmlns:a16="http://schemas.microsoft.com/office/drawing/2014/main" id="{89DBF06E-57FE-5180-8B09-CE1F88293F34}"/>
              </a:ext>
            </a:extLst>
          </p:cNvPr>
          <p:cNvCxnSpPr>
            <a:stCxn id="75" idx="2"/>
            <a:endCxn id="104" idx="0"/>
          </p:cNvCxnSpPr>
          <p:nvPr/>
        </p:nvCxnSpPr>
        <p:spPr>
          <a:xfrm rot="16200000" flipH="1">
            <a:off x="5132010" y="6150034"/>
            <a:ext cx="265595" cy="5024"/>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sp>
        <p:nvSpPr>
          <p:cNvPr id="108" name="文本框 107">
            <a:extLst>
              <a:ext uri="{FF2B5EF4-FFF2-40B4-BE49-F238E27FC236}">
                <a16:creationId xmlns:a16="http://schemas.microsoft.com/office/drawing/2014/main" id="{9EB4C447-CE59-365F-119C-3CB1F5DF2861}"/>
              </a:ext>
            </a:extLst>
          </p:cNvPr>
          <p:cNvSpPr txBox="1"/>
          <p:nvPr/>
        </p:nvSpPr>
        <p:spPr>
          <a:xfrm>
            <a:off x="5095585" y="5982230"/>
            <a:ext cx="265729" cy="261610"/>
          </a:xfrm>
          <a:prstGeom prst="rect">
            <a:avLst/>
          </a:prstGeom>
          <a:noFill/>
        </p:spPr>
        <p:txBody>
          <a:bodyPr wrap="square" rtlCol="0">
            <a:spAutoFit/>
          </a:bodyPr>
          <a:lstStyle/>
          <a:p>
            <a:r>
              <a:rPr lang="en-US" altLang="zh-CN" sz="1100" b="1" dirty="0">
                <a:solidFill>
                  <a:schemeClr val="accent1">
                    <a:lumMod val="40000"/>
                    <a:lumOff val="60000"/>
                  </a:schemeClr>
                </a:solidFill>
                <a:latin typeface="+mj-ea"/>
                <a:ea typeface="+mj-ea"/>
              </a:rPr>
              <a:t>N</a:t>
            </a:r>
            <a:endParaRPr lang="zh-CN" altLang="en-US" sz="1100" b="1" dirty="0">
              <a:solidFill>
                <a:schemeClr val="accent1">
                  <a:lumMod val="40000"/>
                  <a:lumOff val="60000"/>
                </a:schemeClr>
              </a:solidFill>
              <a:latin typeface="+mj-ea"/>
              <a:ea typeface="+mj-ea"/>
            </a:endParaRPr>
          </a:p>
        </p:txBody>
      </p:sp>
    </p:spTree>
    <p:extLst>
      <p:ext uri="{BB962C8B-B14F-4D97-AF65-F5344CB8AC3E}">
        <p14:creationId xmlns:p14="http://schemas.microsoft.com/office/powerpoint/2010/main" val="11498782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8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8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7" grpId="0" animBg="1"/>
      <p:bldP spid="28" grpId="0" animBg="1"/>
      <p:bldP spid="34" grpId="0" animBg="1"/>
      <p:bldP spid="71" grpId="0" animBg="1"/>
      <p:bldP spid="85" grpId="0" animBg="1"/>
      <p:bldP spid="89"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D52A404D-478B-24A7-B0CD-044E7A9391F2}"/>
              </a:ext>
            </a:extLst>
          </p:cNvPr>
          <p:cNvSpPr>
            <a:spLocks noGrp="1"/>
          </p:cNvSpPr>
          <p:nvPr>
            <p:ph type="ctrTitle"/>
          </p:nvPr>
        </p:nvSpPr>
        <p:spPr/>
        <p:txBody>
          <a:bodyPr>
            <a:normAutofit/>
          </a:bodyPr>
          <a:lstStyle/>
          <a:p>
            <a:r>
              <a:rPr lang="zh-CN" altLang="en-US" sz="4400" dirty="0">
                <a:latin typeface="Arial" panose="020B0604020202020204" pitchFamily="34" charset="0"/>
                <a:ea typeface="微软雅黑" panose="020B0503020204020204" pitchFamily="34" charset="-122"/>
              </a:rPr>
              <a:t>替换料</a:t>
            </a:r>
          </a:p>
        </p:txBody>
      </p:sp>
    </p:spTree>
    <p:extLst>
      <p:ext uri="{BB962C8B-B14F-4D97-AF65-F5344CB8AC3E}">
        <p14:creationId xmlns:p14="http://schemas.microsoft.com/office/powerpoint/2010/main" val="3800130120"/>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BC96126E-45D4-3243-507D-24D7CCB9910D}"/>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替换 </a:t>
            </a:r>
            <a:r>
              <a:rPr lang="en-US" altLang="zh-CN" dirty="0">
                <a:latin typeface="Arial" panose="020B0604020202020204" pitchFamily="34" charset="0"/>
                <a:ea typeface="微软雅黑" panose="020B0503020204020204" pitchFamily="34" charset="-122"/>
              </a:rPr>
              <a:t>- Overview</a:t>
            </a:r>
            <a:endParaRPr lang="zh-CN" altLang="en-US" dirty="0">
              <a:latin typeface="Arial" panose="020B0604020202020204" pitchFamily="34" charset="0"/>
              <a:ea typeface="微软雅黑" panose="020B0503020204020204" pitchFamily="34" charset="-122"/>
            </a:endParaRPr>
          </a:p>
        </p:txBody>
      </p:sp>
      <p:grpSp>
        <p:nvGrpSpPr>
          <p:cNvPr id="354" name="组合 353">
            <a:extLst>
              <a:ext uri="{FF2B5EF4-FFF2-40B4-BE49-F238E27FC236}">
                <a16:creationId xmlns:a16="http://schemas.microsoft.com/office/drawing/2014/main" id="{B40209EB-2960-9F4E-7997-425F8AD00EEC}"/>
              </a:ext>
            </a:extLst>
          </p:cNvPr>
          <p:cNvGrpSpPr>
            <a:grpSpLocks noChangeAspect="1"/>
          </p:cNvGrpSpPr>
          <p:nvPr>
            <p:custDataLst>
              <p:tags r:id="rId1"/>
            </p:custDataLst>
          </p:nvPr>
        </p:nvGrpSpPr>
        <p:grpSpPr>
          <a:xfrm>
            <a:off x="315086" y="1345732"/>
            <a:ext cx="11526552" cy="4800069"/>
            <a:chOff x="332724" y="1623093"/>
            <a:chExt cx="11526552" cy="2083683"/>
          </a:xfrm>
        </p:grpSpPr>
        <p:grpSp>
          <p:nvGrpSpPr>
            <p:cNvPr id="355" name="组合 354">
              <a:extLst>
                <a:ext uri="{FF2B5EF4-FFF2-40B4-BE49-F238E27FC236}">
                  <a16:creationId xmlns:a16="http://schemas.microsoft.com/office/drawing/2014/main" id="{8D38583D-C13C-979D-EA80-DE31543A96F9}"/>
                </a:ext>
              </a:extLst>
            </p:cNvPr>
            <p:cNvGrpSpPr/>
            <p:nvPr/>
          </p:nvGrpSpPr>
          <p:grpSpPr>
            <a:xfrm>
              <a:off x="332724" y="1623093"/>
              <a:ext cx="5488834" cy="859956"/>
              <a:chOff x="1889760" y="4296244"/>
              <a:chExt cx="5488834" cy="859956"/>
            </a:xfrm>
          </p:grpSpPr>
          <p:sp>
            <p:nvSpPr>
              <p:cNvPr id="374" name="1">
                <a:extLst>
                  <a:ext uri="{FF2B5EF4-FFF2-40B4-BE49-F238E27FC236}">
                    <a16:creationId xmlns:a16="http://schemas.microsoft.com/office/drawing/2014/main" id="{263EDBEC-2F41-A2D7-B177-A111CEB0603F}"/>
                  </a:ext>
                </a:extLst>
              </p:cNvPr>
              <p:cNvSpPr/>
              <p:nvPr>
                <p:custDataLst>
                  <p:tags r:id="rId14"/>
                </p:custDataLst>
              </p:nvPr>
            </p:nvSpPr>
            <p:spPr>
              <a:xfrm>
                <a:off x="1889760" y="4296244"/>
                <a:ext cx="5488834" cy="859956"/>
              </a:xfrm>
              <a:prstGeom prst="roundRect">
                <a:avLst>
                  <a:gd name="adj" fmla="val 50000"/>
                </a:avLst>
              </a:prstGeom>
              <a:solidFill>
                <a:schemeClr val="bg1">
                  <a:lumMod val="95000"/>
                </a:schemeClr>
              </a:solidFill>
              <a:ln w="25400">
                <a:gradFill>
                  <a:gsLst>
                    <a:gs pos="0">
                      <a:schemeClr val="bg1"/>
                    </a:gs>
                    <a:gs pos="100000">
                      <a:schemeClr val="bg1">
                        <a:lumMod val="85000"/>
                      </a:schemeClr>
                    </a:gs>
                  </a:gsLst>
                  <a:lin ang="5400000" scaled="1"/>
                </a:gradFill>
              </a:ln>
              <a:effectLst>
                <a:outerShdw blurRad="381000" dist="127000" algn="ctr" rotWithShape="0">
                  <a:schemeClr val="tx1">
                    <a:lumMod val="10000"/>
                    <a:lumOff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a:solidFill>
                    <a:prstClr val="white"/>
                  </a:solidFill>
                  <a:latin typeface="+mj-ea"/>
                  <a:ea typeface="+mj-ea"/>
                </a:endParaRPr>
              </a:p>
            </p:txBody>
          </p:sp>
          <p:sp>
            <p:nvSpPr>
              <p:cNvPr id="375" name="Index-1">
                <a:extLst>
                  <a:ext uri="{FF2B5EF4-FFF2-40B4-BE49-F238E27FC236}">
                    <a16:creationId xmlns:a16="http://schemas.microsoft.com/office/drawing/2014/main" id="{795240A6-EEFD-E18D-E61A-A5D7AAD98C06}"/>
                  </a:ext>
                </a:extLst>
              </p:cNvPr>
              <p:cNvSpPr/>
              <p:nvPr>
                <p:custDataLst>
                  <p:tags r:id="rId15"/>
                </p:custDataLst>
              </p:nvPr>
            </p:nvSpPr>
            <p:spPr>
              <a:xfrm>
                <a:off x="2302676" y="4459522"/>
                <a:ext cx="541020" cy="533400"/>
              </a:xfrm>
              <a:prstGeom prst="roundRect">
                <a:avLst>
                  <a:gd name="adj" fmla="val 50000"/>
                </a:avLst>
              </a:prstGeom>
              <a:solidFill>
                <a:schemeClr val="accent1"/>
              </a:solidFill>
              <a:ln w="25400">
                <a:gradFill>
                  <a:gsLst>
                    <a:gs pos="0">
                      <a:schemeClr val="bg1"/>
                    </a:gs>
                    <a:gs pos="100000">
                      <a:schemeClr val="bg1">
                        <a:lumMod val="85000"/>
                      </a:schemeClr>
                    </a:gs>
                  </a:gsLst>
                  <a:lin ang="5400000" scaled="1"/>
                </a:gra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r>
                  <a:rPr lang="en-US" altLang="zh-CN" b="1" dirty="0">
                    <a:solidFill>
                      <a:schemeClr val="lt1"/>
                    </a:solidFill>
                    <a:latin typeface="Arial" panose="020B0604020202020204" pitchFamily="34" charset="0"/>
                    <a:ea typeface="微软雅黑" panose="020B0503020204020204" pitchFamily="34" charset="-122"/>
                    <a:cs typeface="+mn-ea"/>
                  </a:rPr>
                  <a:t>1</a:t>
                </a:r>
                <a:endParaRPr lang="zh-CN" altLang="en-US" b="1" dirty="0">
                  <a:solidFill>
                    <a:schemeClr val="lt1"/>
                  </a:solidFill>
                  <a:latin typeface="Arial" panose="020B0604020202020204" pitchFamily="34" charset="0"/>
                  <a:ea typeface="微软雅黑" panose="020B0503020204020204" pitchFamily="34" charset="-122"/>
                  <a:cs typeface="+mn-ea"/>
                </a:endParaRPr>
              </a:p>
            </p:txBody>
          </p:sp>
          <p:grpSp>
            <p:nvGrpSpPr>
              <p:cNvPr id="376" name="组合 375">
                <a:extLst>
                  <a:ext uri="{FF2B5EF4-FFF2-40B4-BE49-F238E27FC236}">
                    <a16:creationId xmlns:a16="http://schemas.microsoft.com/office/drawing/2014/main" id="{C8503C43-DD25-D0C0-715C-0A6BB5DDF956}"/>
                  </a:ext>
                </a:extLst>
              </p:cNvPr>
              <p:cNvGrpSpPr/>
              <p:nvPr/>
            </p:nvGrpSpPr>
            <p:grpSpPr>
              <a:xfrm>
                <a:off x="2938672" y="4442611"/>
                <a:ext cx="4344945" cy="651902"/>
                <a:chOff x="2938672" y="4441055"/>
                <a:chExt cx="4344945" cy="651902"/>
              </a:xfrm>
            </p:grpSpPr>
            <p:sp>
              <p:nvSpPr>
                <p:cNvPr id="377" name="Title-1">
                  <a:extLst>
                    <a:ext uri="{FF2B5EF4-FFF2-40B4-BE49-F238E27FC236}">
                      <a16:creationId xmlns:a16="http://schemas.microsoft.com/office/drawing/2014/main" id="{247077FE-0BA3-BCD1-FF33-F63CCCC058DC}"/>
                    </a:ext>
                  </a:extLst>
                </p:cNvPr>
                <p:cNvSpPr txBox="1"/>
                <p:nvPr>
                  <p:custDataLst>
                    <p:tags r:id="rId16"/>
                  </p:custDataLst>
                </p:nvPr>
              </p:nvSpPr>
              <p:spPr>
                <a:xfrm>
                  <a:off x="2938672" y="4441055"/>
                  <a:ext cx="4344944" cy="369332"/>
                </a:xfrm>
                <a:prstGeom prst="rect">
                  <a:avLst/>
                </a:prstGeom>
                <a:noFill/>
              </p:spPr>
              <p:txBody>
                <a:bodyPr wrap="square" rtlCol="0">
                  <a:noAutofit/>
                </a:bodyPr>
                <a:lstStyle/>
                <a:p>
                  <a:r>
                    <a:rPr lang="zh-CN" altLang="en-US" b="1">
                      <a:solidFill>
                        <a:schemeClr val="accent1"/>
                      </a:solidFill>
                      <a:latin typeface="Arial" panose="020B0604020202020204" pitchFamily="34" charset="0"/>
                      <a:ea typeface="微软雅黑" panose="020B0503020204020204" pitchFamily="34" charset="-122"/>
                    </a:rPr>
                    <a:t>切换</a:t>
                  </a:r>
                  <a:endParaRPr lang="zh-CN" altLang="en-US" b="1" dirty="0">
                    <a:solidFill>
                      <a:schemeClr val="accent1"/>
                    </a:solidFill>
                    <a:latin typeface="Arial" panose="020B0604020202020204" pitchFamily="34" charset="0"/>
                    <a:ea typeface="微软雅黑" panose="020B0503020204020204" pitchFamily="34" charset="-122"/>
                  </a:endParaRPr>
                </a:p>
              </p:txBody>
            </p:sp>
            <p:sp>
              <p:nvSpPr>
                <p:cNvPr id="378" name="Body-1">
                  <a:extLst>
                    <a:ext uri="{FF2B5EF4-FFF2-40B4-BE49-F238E27FC236}">
                      <a16:creationId xmlns:a16="http://schemas.microsoft.com/office/drawing/2014/main" id="{9E277C2C-D564-CB38-1DAB-B7289C7B73F3}"/>
                    </a:ext>
                  </a:extLst>
                </p:cNvPr>
                <p:cNvSpPr>
                  <a:spLocks/>
                </p:cNvSpPr>
                <p:nvPr>
                  <p:custDataLst>
                    <p:tags r:id="rId17"/>
                  </p:custDataLst>
                </p:nvPr>
              </p:nvSpPr>
              <p:spPr>
                <a:xfrm>
                  <a:off x="2938673" y="4622086"/>
                  <a:ext cx="4344944"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硬切，</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ECN Date</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之后被切换的物料将不再使用</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软切，</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ECN Date</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之后被切换的物料现有</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Supply</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用尽之后将不再采购，替代物料将产生采购计划</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endParaRPr>
                </a:p>
              </p:txBody>
            </p:sp>
          </p:grpSp>
        </p:grpSp>
        <p:grpSp>
          <p:nvGrpSpPr>
            <p:cNvPr id="356" name="组合 355">
              <a:extLst>
                <a:ext uri="{FF2B5EF4-FFF2-40B4-BE49-F238E27FC236}">
                  <a16:creationId xmlns:a16="http://schemas.microsoft.com/office/drawing/2014/main" id="{D80BB21A-78AF-9F55-E272-7B1B8AE0E332}"/>
                </a:ext>
              </a:extLst>
            </p:cNvPr>
            <p:cNvGrpSpPr/>
            <p:nvPr/>
          </p:nvGrpSpPr>
          <p:grpSpPr>
            <a:xfrm>
              <a:off x="6370442" y="1623093"/>
              <a:ext cx="5488834" cy="859956"/>
              <a:chOff x="1889760" y="4296244"/>
              <a:chExt cx="5488834" cy="859956"/>
            </a:xfrm>
          </p:grpSpPr>
          <p:sp>
            <p:nvSpPr>
              <p:cNvPr id="369" name="2">
                <a:extLst>
                  <a:ext uri="{FF2B5EF4-FFF2-40B4-BE49-F238E27FC236}">
                    <a16:creationId xmlns:a16="http://schemas.microsoft.com/office/drawing/2014/main" id="{CD9327D7-FEED-5D52-417C-C7D53DFE3EA2}"/>
                  </a:ext>
                </a:extLst>
              </p:cNvPr>
              <p:cNvSpPr/>
              <p:nvPr>
                <p:custDataLst>
                  <p:tags r:id="rId10"/>
                </p:custDataLst>
              </p:nvPr>
            </p:nvSpPr>
            <p:spPr>
              <a:xfrm>
                <a:off x="1889760" y="4296244"/>
                <a:ext cx="5488834" cy="859956"/>
              </a:xfrm>
              <a:prstGeom prst="roundRect">
                <a:avLst>
                  <a:gd name="adj" fmla="val 50000"/>
                </a:avLst>
              </a:prstGeom>
              <a:solidFill>
                <a:schemeClr val="bg1">
                  <a:lumMod val="95000"/>
                </a:schemeClr>
              </a:solidFill>
              <a:ln w="25400">
                <a:gradFill>
                  <a:gsLst>
                    <a:gs pos="0">
                      <a:schemeClr val="bg1"/>
                    </a:gs>
                    <a:gs pos="100000">
                      <a:schemeClr val="bg1">
                        <a:lumMod val="85000"/>
                      </a:schemeClr>
                    </a:gs>
                  </a:gsLst>
                  <a:lin ang="5400000" scaled="1"/>
                </a:gradFill>
              </a:ln>
              <a:effectLst>
                <a:outerShdw blurRad="381000" dist="127000" algn="ctr" rotWithShape="0">
                  <a:schemeClr val="tx1">
                    <a:lumMod val="10000"/>
                    <a:lumOff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a:solidFill>
                    <a:prstClr val="white"/>
                  </a:solidFill>
                  <a:latin typeface="+mj-ea"/>
                  <a:ea typeface="+mj-ea"/>
                </a:endParaRPr>
              </a:p>
            </p:txBody>
          </p:sp>
          <p:sp>
            <p:nvSpPr>
              <p:cNvPr id="370" name="Index-2">
                <a:extLst>
                  <a:ext uri="{FF2B5EF4-FFF2-40B4-BE49-F238E27FC236}">
                    <a16:creationId xmlns:a16="http://schemas.microsoft.com/office/drawing/2014/main" id="{69BDFBF2-5E5F-9470-38A3-01AB7C098CD3}"/>
                  </a:ext>
                </a:extLst>
              </p:cNvPr>
              <p:cNvSpPr/>
              <p:nvPr>
                <p:custDataLst>
                  <p:tags r:id="rId11"/>
                </p:custDataLst>
              </p:nvPr>
            </p:nvSpPr>
            <p:spPr>
              <a:xfrm>
                <a:off x="2302676" y="4459522"/>
                <a:ext cx="541020" cy="533400"/>
              </a:xfrm>
              <a:prstGeom prst="roundRect">
                <a:avLst>
                  <a:gd name="adj" fmla="val 50000"/>
                </a:avLst>
              </a:prstGeom>
              <a:solidFill>
                <a:srgbClr val="215C97"/>
              </a:solidFill>
              <a:ln w="25400">
                <a:gradFill>
                  <a:gsLst>
                    <a:gs pos="0">
                      <a:schemeClr val="bg1"/>
                    </a:gs>
                    <a:gs pos="100000">
                      <a:schemeClr val="bg1">
                        <a:lumMod val="85000"/>
                      </a:schemeClr>
                    </a:gs>
                  </a:gsLst>
                  <a:lin ang="5400000" scaled="1"/>
                </a:gra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r>
                  <a:rPr lang="en-US" altLang="zh-CN" b="1" dirty="0">
                    <a:solidFill>
                      <a:schemeClr val="lt1"/>
                    </a:solidFill>
                    <a:latin typeface="Arial" panose="020B0604020202020204" pitchFamily="34" charset="0"/>
                    <a:ea typeface="微软雅黑" panose="020B0503020204020204" pitchFamily="34" charset="-122"/>
                    <a:cs typeface="+mn-ea"/>
                  </a:rPr>
                  <a:t>2</a:t>
                </a:r>
                <a:endParaRPr lang="zh-CN" altLang="en-US" b="1" dirty="0">
                  <a:solidFill>
                    <a:schemeClr val="lt1"/>
                  </a:solidFill>
                  <a:latin typeface="Arial" panose="020B0604020202020204" pitchFamily="34" charset="0"/>
                  <a:ea typeface="微软雅黑" panose="020B0503020204020204" pitchFamily="34" charset="-122"/>
                  <a:cs typeface="+mn-ea"/>
                </a:endParaRPr>
              </a:p>
            </p:txBody>
          </p:sp>
          <p:grpSp>
            <p:nvGrpSpPr>
              <p:cNvPr id="371" name="组合 370">
                <a:extLst>
                  <a:ext uri="{FF2B5EF4-FFF2-40B4-BE49-F238E27FC236}">
                    <a16:creationId xmlns:a16="http://schemas.microsoft.com/office/drawing/2014/main" id="{AF1E6198-0B44-B597-7736-CCBAA22168AC}"/>
                  </a:ext>
                </a:extLst>
              </p:cNvPr>
              <p:cNvGrpSpPr/>
              <p:nvPr/>
            </p:nvGrpSpPr>
            <p:grpSpPr>
              <a:xfrm>
                <a:off x="2938672" y="4442611"/>
                <a:ext cx="4344945" cy="651902"/>
                <a:chOff x="2938672" y="4441055"/>
                <a:chExt cx="4344945" cy="651902"/>
              </a:xfrm>
            </p:grpSpPr>
            <p:sp>
              <p:nvSpPr>
                <p:cNvPr id="372" name="Title-2">
                  <a:extLst>
                    <a:ext uri="{FF2B5EF4-FFF2-40B4-BE49-F238E27FC236}">
                      <a16:creationId xmlns:a16="http://schemas.microsoft.com/office/drawing/2014/main" id="{DFEB5B0E-136F-7074-874F-170FFEE4DCC1}"/>
                    </a:ext>
                  </a:extLst>
                </p:cNvPr>
                <p:cNvSpPr txBox="1"/>
                <p:nvPr>
                  <p:custDataLst>
                    <p:tags r:id="rId12"/>
                  </p:custDataLst>
                </p:nvPr>
              </p:nvSpPr>
              <p:spPr>
                <a:xfrm>
                  <a:off x="2938672" y="4441055"/>
                  <a:ext cx="4344944" cy="369332"/>
                </a:xfrm>
                <a:prstGeom prst="rect">
                  <a:avLst/>
                </a:prstGeom>
                <a:noFill/>
              </p:spPr>
              <p:txBody>
                <a:bodyPr wrap="square" rtlCol="0">
                  <a:noAutofit/>
                </a:bodyPr>
                <a:lstStyle/>
                <a:p>
                  <a:r>
                    <a:rPr lang="zh-CN" altLang="en-US" b="1" dirty="0">
                      <a:latin typeface="Arial" panose="020B0604020202020204" pitchFamily="34" charset="0"/>
                      <a:ea typeface="微软雅黑" panose="020B0503020204020204" pitchFamily="34" charset="-122"/>
                    </a:rPr>
                    <a:t>特配</a:t>
                  </a:r>
                </a:p>
              </p:txBody>
            </p:sp>
            <p:sp>
              <p:nvSpPr>
                <p:cNvPr id="373" name="Body-2">
                  <a:extLst>
                    <a:ext uri="{FF2B5EF4-FFF2-40B4-BE49-F238E27FC236}">
                      <a16:creationId xmlns:a16="http://schemas.microsoft.com/office/drawing/2014/main" id="{45EC3EB3-6A0E-ABD8-15A6-6739097F0B3C}"/>
                    </a:ext>
                  </a:extLst>
                </p:cNvPr>
                <p:cNvSpPr>
                  <a:spLocks/>
                </p:cNvSpPr>
                <p:nvPr>
                  <p:custDataLst>
                    <p:tags r:id="rId13"/>
                  </p:custDataLst>
                </p:nvPr>
              </p:nvSpPr>
              <p:spPr>
                <a:xfrm>
                  <a:off x="2938673" y="4622086"/>
                  <a:ext cx="4344944"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需求指定个性化的产品结构</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需求指定供应</a:t>
                  </a:r>
                  <a:endPar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endParaRP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lang="zh-CN" altLang="en-US" sz="1400" dirty="0">
                      <a:solidFill>
                        <a:schemeClr val="tx2">
                          <a:lumMod val="75000"/>
                          <a:lumOff val="25000"/>
                        </a:schemeClr>
                      </a:solidFill>
                      <a:latin typeface="Arial" panose="020B0604020202020204" pitchFamily="34" charset="0"/>
                      <a:ea typeface="微软雅黑" panose="020B0503020204020204" pitchFamily="34" charset="-122"/>
                    </a:rPr>
                    <a:t>需求指定资源</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endParaRPr>
                </a:p>
              </p:txBody>
            </p:sp>
          </p:grpSp>
        </p:grpSp>
        <p:grpSp>
          <p:nvGrpSpPr>
            <p:cNvPr id="357" name="组合 356">
              <a:extLst>
                <a:ext uri="{FF2B5EF4-FFF2-40B4-BE49-F238E27FC236}">
                  <a16:creationId xmlns:a16="http://schemas.microsoft.com/office/drawing/2014/main" id="{2D1291E5-F9BD-421D-7A78-9CDBA90F40F6}"/>
                </a:ext>
              </a:extLst>
            </p:cNvPr>
            <p:cNvGrpSpPr/>
            <p:nvPr/>
          </p:nvGrpSpPr>
          <p:grpSpPr>
            <a:xfrm>
              <a:off x="357152" y="2810447"/>
              <a:ext cx="5488834" cy="896329"/>
              <a:chOff x="1914188" y="4107668"/>
              <a:chExt cx="5488834" cy="896329"/>
            </a:xfrm>
          </p:grpSpPr>
          <p:sp>
            <p:nvSpPr>
              <p:cNvPr id="364" name="3">
                <a:extLst>
                  <a:ext uri="{FF2B5EF4-FFF2-40B4-BE49-F238E27FC236}">
                    <a16:creationId xmlns:a16="http://schemas.microsoft.com/office/drawing/2014/main" id="{3ED4D127-3574-4783-4064-55E1D2273FD0}"/>
                  </a:ext>
                </a:extLst>
              </p:cNvPr>
              <p:cNvSpPr/>
              <p:nvPr>
                <p:custDataLst>
                  <p:tags r:id="rId6"/>
                </p:custDataLst>
              </p:nvPr>
            </p:nvSpPr>
            <p:spPr>
              <a:xfrm>
                <a:off x="1914188" y="4107668"/>
                <a:ext cx="5488834" cy="896329"/>
              </a:xfrm>
              <a:prstGeom prst="roundRect">
                <a:avLst>
                  <a:gd name="adj" fmla="val 50000"/>
                </a:avLst>
              </a:prstGeom>
              <a:solidFill>
                <a:schemeClr val="bg1">
                  <a:lumMod val="95000"/>
                </a:schemeClr>
              </a:solidFill>
              <a:ln w="25400">
                <a:gradFill>
                  <a:gsLst>
                    <a:gs pos="0">
                      <a:schemeClr val="bg1"/>
                    </a:gs>
                    <a:gs pos="100000">
                      <a:schemeClr val="bg1">
                        <a:lumMod val="85000"/>
                      </a:schemeClr>
                    </a:gs>
                  </a:gsLst>
                  <a:lin ang="5400000" scaled="1"/>
                </a:gradFill>
              </a:ln>
              <a:effectLst>
                <a:outerShdw blurRad="381000" dist="127000" algn="ctr" rotWithShape="0">
                  <a:schemeClr val="tx1">
                    <a:lumMod val="10000"/>
                    <a:lumOff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a:solidFill>
                    <a:prstClr val="white"/>
                  </a:solidFill>
                  <a:latin typeface="+mj-ea"/>
                  <a:ea typeface="+mj-ea"/>
                </a:endParaRPr>
              </a:p>
            </p:txBody>
          </p:sp>
          <p:sp>
            <p:nvSpPr>
              <p:cNvPr id="365" name="Index-3">
                <a:extLst>
                  <a:ext uri="{FF2B5EF4-FFF2-40B4-BE49-F238E27FC236}">
                    <a16:creationId xmlns:a16="http://schemas.microsoft.com/office/drawing/2014/main" id="{5872D5FA-8BA5-8F85-0879-6A8D563EE16D}"/>
                  </a:ext>
                </a:extLst>
              </p:cNvPr>
              <p:cNvSpPr/>
              <p:nvPr>
                <p:custDataLst>
                  <p:tags r:id="rId7"/>
                </p:custDataLst>
              </p:nvPr>
            </p:nvSpPr>
            <p:spPr>
              <a:xfrm>
                <a:off x="2397653" y="4234040"/>
                <a:ext cx="541020" cy="533400"/>
              </a:xfrm>
              <a:prstGeom prst="roundRect">
                <a:avLst>
                  <a:gd name="adj" fmla="val 50000"/>
                </a:avLst>
              </a:prstGeom>
              <a:solidFill>
                <a:schemeClr val="accent3"/>
              </a:solidFill>
              <a:ln w="25400">
                <a:gradFill>
                  <a:gsLst>
                    <a:gs pos="0">
                      <a:schemeClr val="bg1"/>
                    </a:gs>
                    <a:gs pos="100000">
                      <a:schemeClr val="bg1">
                        <a:lumMod val="85000"/>
                      </a:schemeClr>
                    </a:gs>
                  </a:gsLst>
                  <a:lin ang="5400000" scaled="1"/>
                </a:gra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r>
                  <a:rPr lang="en-US" altLang="zh-CN" b="1" dirty="0">
                    <a:solidFill>
                      <a:schemeClr val="lt1"/>
                    </a:solidFill>
                    <a:latin typeface="Arial" panose="020B0604020202020204" pitchFamily="34" charset="0"/>
                    <a:ea typeface="微软雅黑" panose="020B0503020204020204" pitchFamily="34" charset="-122"/>
                    <a:cs typeface="+mn-ea"/>
                  </a:rPr>
                  <a:t>3</a:t>
                </a:r>
                <a:endParaRPr lang="zh-CN" altLang="en-US" b="1" dirty="0">
                  <a:solidFill>
                    <a:schemeClr val="lt1"/>
                  </a:solidFill>
                  <a:latin typeface="Arial" panose="020B0604020202020204" pitchFamily="34" charset="0"/>
                  <a:ea typeface="微软雅黑" panose="020B0503020204020204" pitchFamily="34" charset="-122"/>
                  <a:cs typeface="+mn-ea"/>
                </a:endParaRPr>
              </a:p>
            </p:txBody>
          </p:sp>
          <p:grpSp>
            <p:nvGrpSpPr>
              <p:cNvPr id="366" name="组合 365">
                <a:extLst>
                  <a:ext uri="{FF2B5EF4-FFF2-40B4-BE49-F238E27FC236}">
                    <a16:creationId xmlns:a16="http://schemas.microsoft.com/office/drawing/2014/main" id="{0B076250-AADC-8CB8-BB65-2E1BD1961F51}"/>
                  </a:ext>
                </a:extLst>
              </p:cNvPr>
              <p:cNvGrpSpPr/>
              <p:nvPr/>
            </p:nvGrpSpPr>
            <p:grpSpPr>
              <a:xfrm>
                <a:off x="2871433" y="4131408"/>
                <a:ext cx="4479676" cy="717987"/>
                <a:chOff x="2871433" y="4129852"/>
                <a:chExt cx="4479676" cy="717987"/>
              </a:xfrm>
            </p:grpSpPr>
            <p:sp>
              <p:nvSpPr>
                <p:cNvPr id="367" name="Title-3">
                  <a:extLst>
                    <a:ext uri="{FF2B5EF4-FFF2-40B4-BE49-F238E27FC236}">
                      <a16:creationId xmlns:a16="http://schemas.microsoft.com/office/drawing/2014/main" id="{2A6175D3-FEC5-F214-2618-6D5B21D1E214}"/>
                    </a:ext>
                  </a:extLst>
                </p:cNvPr>
                <p:cNvSpPr txBox="1"/>
                <p:nvPr>
                  <p:custDataLst>
                    <p:tags r:id="rId8"/>
                  </p:custDataLst>
                </p:nvPr>
              </p:nvSpPr>
              <p:spPr>
                <a:xfrm>
                  <a:off x="3006165" y="4129852"/>
                  <a:ext cx="4344944" cy="369332"/>
                </a:xfrm>
                <a:prstGeom prst="rect">
                  <a:avLst/>
                </a:prstGeom>
                <a:noFill/>
              </p:spPr>
              <p:txBody>
                <a:bodyPr wrap="square" rtlCol="0">
                  <a:noAutofit/>
                </a:bodyPr>
                <a:lstStyle/>
                <a:p>
                  <a:r>
                    <a:rPr lang="zh-CN" altLang="en-US" b="1" dirty="0">
                      <a:solidFill>
                        <a:schemeClr val="accent3"/>
                      </a:solidFill>
                      <a:latin typeface="Arial" panose="020B0604020202020204" pitchFamily="34" charset="0"/>
                      <a:ea typeface="微软雅黑" panose="020B0503020204020204" pitchFamily="34" charset="-122"/>
                    </a:rPr>
                    <a:t>组替代</a:t>
                  </a:r>
                  <a:r>
                    <a:rPr lang="en-US" altLang="zh-CN" b="1" dirty="0">
                      <a:solidFill>
                        <a:schemeClr val="accent3"/>
                      </a:solidFill>
                      <a:latin typeface="Arial" panose="020B0604020202020204" pitchFamily="34" charset="0"/>
                      <a:ea typeface="微软雅黑" panose="020B0503020204020204" pitchFamily="34" charset="-122"/>
                    </a:rPr>
                    <a:t>/</a:t>
                  </a:r>
                  <a:r>
                    <a:rPr lang="zh-CN" altLang="en-US" b="1" dirty="0">
                      <a:solidFill>
                        <a:schemeClr val="accent3"/>
                      </a:solidFill>
                      <a:latin typeface="Arial" panose="020B0604020202020204" pitchFamily="34" charset="0"/>
                      <a:ea typeface="微软雅黑" panose="020B0503020204020204" pitchFamily="34" charset="-122"/>
                    </a:rPr>
                    <a:t>多工厂</a:t>
                  </a:r>
                </a:p>
              </p:txBody>
            </p:sp>
            <p:sp>
              <p:nvSpPr>
                <p:cNvPr id="368" name="Body-3">
                  <a:extLst>
                    <a:ext uri="{FF2B5EF4-FFF2-40B4-BE49-F238E27FC236}">
                      <a16:creationId xmlns:a16="http://schemas.microsoft.com/office/drawing/2014/main" id="{F270950C-1E7D-9744-592F-EF38F241FA37}"/>
                    </a:ext>
                  </a:extLst>
                </p:cNvPr>
                <p:cNvSpPr>
                  <a:spLocks/>
                </p:cNvSpPr>
                <p:nvPr>
                  <p:custDataLst>
                    <p:tags r:id="rId9"/>
                  </p:custDataLst>
                </p:nvPr>
              </p:nvSpPr>
              <p:spPr>
                <a:xfrm>
                  <a:off x="2871433" y="4236077"/>
                  <a:ext cx="4344944" cy="6117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供应层级 </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 </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由最少层级供应</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新采购成本 </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 </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计划采购成本最少</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及时交付 </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 </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按时或者最少延迟</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供应优先级 </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 </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按照替换资源的优先级</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现有成本 </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 </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分配的</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On-Hand, SR</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及现存计划订单的成本</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endParaRPr>
                </a:p>
              </p:txBody>
            </p:sp>
          </p:grpSp>
        </p:grpSp>
        <p:grpSp>
          <p:nvGrpSpPr>
            <p:cNvPr id="358" name="组合 357">
              <a:extLst>
                <a:ext uri="{FF2B5EF4-FFF2-40B4-BE49-F238E27FC236}">
                  <a16:creationId xmlns:a16="http://schemas.microsoft.com/office/drawing/2014/main" id="{83C33932-460A-E44F-CB73-D3F23D38A1C5}"/>
                </a:ext>
              </a:extLst>
            </p:cNvPr>
            <p:cNvGrpSpPr/>
            <p:nvPr/>
          </p:nvGrpSpPr>
          <p:grpSpPr>
            <a:xfrm>
              <a:off x="6370442" y="2805927"/>
              <a:ext cx="5488834" cy="896329"/>
              <a:chOff x="1889760" y="4103148"/>
              <a:chExt cx="5488834" cy="896329"/>
            </a:xfrm>
          </p:grpSpPr>
          <p:sp>
            <p:nvSpPr>
              <p:cNvPr id="359" name="4">
                <a:extLst>
                  <a:ext uri="{FF2B5EF4-FFF2-40B4-BE49-F238E27FC236}">
                    <a16:creationId xmlns:a16="http://schemas.microsoft.com/office/drawing/2014/main" id="{9E3E4DCE-C99C-C9ED-5A45-18C0B09036B3}"/>
                  </a:ext>
                </a:extLst>
              </p:cNvPr>
              <p:cNvSpPr/>
              <p:nvPr>
                <p:custDataLst>
                  <p:tags r:id="rId2"/>
                </p:custDataLst>
              </p:nvPr>
            </p:nvSpPr>
            <p:spPr>
              <a:xfrm>
                <a:off x="1889760" y="4103148"/>
                <a:ext cx="5488834" cy="896329"/>
              </a:xfrm>
              <a:prstGeom prst="roundRect">
                <a:avLst>
                  <a:gd name="adj" fmla="val 50000"/>
                </a:avLst>
              </a:prstGeom>
              <a:solidFill>
                <a:schemeClr val="bg1">
                  <a:lumMod val="95000"/>
                </a:schemeClr>
              </a:solidFill>
              <a:ln w="25400">
                <a:gradFill>
                  <a:gsLst>
                    <a:gs pos="0">
                      <a:schemeClr val="bg1"/>
                    </a:gs>
                    <a:gs pos="100000">
                      <a:schemeClr val="bg1">
                        <a:lumMod val="85000"/>
                      </a:schemeClr>
                    </a:gs>
                  </a:gsLst>
                  <a:lin ang="5400000" scaled="1"/>
                </a:gradFill>
              </a:ln>
              <a:effectLst>
                <a:outerShdw blurRad="381000" dist="127000" algn="ctr" rotWithShape="0">
                  <a:schemeClr val="tx1">
                    <a:lumMod val="10000"/>
                    <a:lumOff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a:solidFill>
                    <a:prstClr val="white"/>
                  </a:solidFill>
                  <a:latin typeface="+mj-ea"/>
                  <a:ea typeface="+mj-ea"/>
                </a:endParaRPr>
              </a:p>
            </p:txBody>
          </p:sp>
          <p:sp>
            <p:nvSpPr>
              <p:cNvPr id="360" name="Index-4">
                <a:extLst>
                  <a:ext uri="{FF2B5EF4-FFF2-40B4-BE49-F238E27FC236}">
                    <a16:creationId xmlns:a16="http://schemas.microsoft.com/office/drawing/2014/main" id="{C5A38D51-1C84-6D9F-EB62-DE594B918F56}"/>
                  </a:ext>
                </a:extLst>
              </p:cNvPr>
              <p:cNvSpPr/>
              <p:nvPr>
                <p:custDataLst>
                  <p:tags r:id="rId3"/>
                </p:custDataLst>
              </p:nvPr>
            </p:nvSpPr>
            <p:spPr>
              <a:xfrm>
                <a:off x="2302676" y="4249176"/>
                <a:ext cx="541020" cy="533400"/>
              </a:xfrm>
              <a:prstGeom prst="roundRect">
                <a:avLst>
                  <a:gd name="adj" fmla="val 50000"/>
                </a:avLst>
              </a:prstGeom>
              <a:solidFill>
                <a:schemeClr val="accent4"/>
              </a:solidFill>
              <a:ln w="25400">
                <a:gradFill>
                  <a:gsLst>
                    <a:gs pos="0">
                      <a:schemeClr val="bg1"/>
                    </a:gs>
                    <a:gs pos="100000">
                      <a:schemeClr val="bg1">
                        <a:lumMod val="85000"/>
                      </a:schemeClr>
                    </a:gs>
                  </a:gsLst>
                  <a:lin ang="5400000" scaled="1"/>
                </a:gra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r>
                  <a:rPr lang="en-US" altLang="zh-CN" b="1" dirty="0">
                    <a:solidFill>
                      <a:schemeClr val="lt1"/>
                    </a:solidFill>
                    <a:latin typeface="Arial" panose="020B0604020202020204" pitchFamily="34" charset="0"/>
                    <a:ea typeface="微软雅黑" panose="020B0503020204020204" pitchFamily="34" charset="-122"/>
                    <a:cs typeface="+mn-ea"/>
                  </a:rPr>
                  <a:t>4</a:t>
                </a:r>
                <a:endParaRPr lang="zh-CN" altLang="en-US" b="1" dirty="0">
                  <a:solidFill>
                    <a:schemeClr val="lt1"/>
                  </a:solidFill>
                  <a:latin typeface="Arial" panose="020B0604020202020204" pitchFamily="34" charset="0"/>
                  <a:ea typeface="微软雅黑" panose="020B0503020204020204" pitchFamily="34" charset="-122"/>
                  <a:cs typeface="+mn-ea"/>
                </a:endParaRPr>
              </a:p>
            </p:txBody>
          </p:sp>
          <p:grpSp>
            <p:nvGrpSpPr>
              <p:cNvPr id="361" name="组合 360">
                <a:extLst>
                  <a:ext uri="{FF2B5EF4-FFF2-40B4-BE49-F238E27FC236}">
                    <a16:creationId xmlns:a16="http://schemas.microsoft.com/office/drawing/2014/main" id="{42DD2E44-DEFB-CB18-17D5-7ADBF1AD0F59}"/>
                  </a:ext>
                </a:extLst>
              </p:cNvPr>
              <p:cNvGrpSpPr/>
              <p:nvPr/>
            </p:nvGrpSpPr>
            <p:grpSpPr>
              <a:xfrm>
                <a:off x="2966329" y="4186500"/>
                <a:ext cx="4344944" cy="804564"/>
                <a:chOff x="2966329" y="4184944"/>
                <a:chExt cx="4344944" cy="804564"/>
              </a:xfrm>
            </p:grpSpPr>
            <p:sp>
              <p:nvSpPr>
                <p:cNvPr id="362" name="Title-4">
                  <a:extLst>
                    <a:ext uri="{FF2B5EF4-FFF2-40B4-BE49-F238E27FC236}">
                      <a16:creationId xmlns:a16="http://schemas.microsoft.com/office/drawing/2014/main" id="{1013C4FB-05C5-C6CE-E239-FCAA2585D00C}"/>
                    </a:ext>
                  </a:extLst>
                </p:cNvPr>
                <p:cNvSpPr txBox="1"/>
                <p:nvPr>
                  <p:custDataLst>
                    <p:tags r:id="rId4"/>
                  </p:custDataLst>
                </p:nvPr>
              </p:nvSpPr>
              <p:spPr>
                <a:xfrm>
                  <a:off x="2966329" y="4184944"/>
                  <a:ext cx="4344944" cy="369332"/>
                </a:xfrm>
                <a:prstGeom prst="rect">
                  <a:avLst/>
                </a:prstGeom>
                <a:noFill/>
              </p:spPr>
              <p:txBody>
                <a:bodyPr wrap="square" rtlCol="0">
                  <a:noAutofit/>
                </a:bodyPr>
                <a:lstStyle/>
                <a:p>
                  <a:r>
                    <a:rPr lang="zh-CN" altLang="en-US" b="1" dirty="0">
                      <a:solidFill>
                        <a:schemeClr val="accent4"/>
                      </a:solidFill>
                      <a:latin typeface="Arial" panose="020B0604020202020204" pitchFamily="34" charset="0"/>
                      <a:ea typeface="微软雅黑" panose="020B0503020204020204" pitchFamily="34" charset="-122"/>
                    </a:rPr>
                    <a:t>不完全</a:t>
                  </a:r>
                  <a:r>
                    <a:rPr lang="en-US" altLang="zh-CN" b="1" dirty="0">
                      <a:solidFill>
                        <a:schemeClr val="accent4"/>
                      </a:solidFill>
                      <a:latin typeface="Arial" panose="020B0604020202020204" pitchFamily="34" charset="0"/>
                      <a:ea typeface="微软雅黑" panose="020B0503020204020204" pitchFamily="34" charset="-122"/>
                    </a:rPr>
                    <a:t>/</a:t>
                  </a:r>
                  <a:r>
                    <a:rPr lang="zh-CN" altLang="en-US" b="1" dirty="0">
                      <a:solidFill>
                        <a:schemeClr val="accent4"/>
                      </a:solidFill>
                      <a:latin typeface="Arial" panose="020B0604020202020204" pitchFamily="34" charset="0"/>
                      <a:ea typeface="微软雅黑" panose="020B0503020204020204" pitchFamily="34" charset="-122"/>
                    </a:rPr>
                    <a:t>对称替代</a:t>
                  </a:r>
                </a:p>
              </p:txBody>
            </p:sp>
            <p:sp>
              <p:nvSpPr>
                <p:cNvPr id="363" name="Body-4">
                  <a:extLst>
                    <a:ext uri="{FF2B5EF4-FFF2-40B4-BE49-F238E27FC236}">
                      <a16:creationId xmlns:a16="http://schemas.microsoft.com/office/drawing/2014/main" id="{D1F1B988-BA75-0BA6-D7D1-BDFF14065EEA}"/>
                    </a:ext>
                  </a:extLst>
                </p:cNvPr>
                <p:cNvSpPr>
                  <a:spLocks/>
                </p:cNvSpPr>
                <p:nvPr>
                  <p:custDataLst>
                    <p:tags r:id="rId5"/>
                  </p:custDataLst>
                </p:nvPr>
              </p:nvSpPr>
              <p:spPr>
                <a:xfrm>
                  <a:off x="2966329" y="4314518"/>
                  <a:ext cx="4344944" cy="6749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lang="en-US" altLang="zh-CN" sz="1400" dirty="0">
                      <a:solidFill>
                        <a:schemeClr val="tx2">
                          <a:lumMod val="75000"/>
                          <a:lumOff val="25000"/>
                        </a:schemeClr>
                      </a:solidFill>
                      <a:latin typeface="Arial" panose="020B0604020202020204" pitchFamily="34" charset="0"/>
                      <a:ea typeface="微软雅黑" panose="020B0503020204020204" pitchFamily="34" charset="-122"/>
                    </a:rPr>
                    <a:t>SWAP</a:t>
                  </a:r>
                  <a:r>
                    <a:rPr lang="zh-CN" altLang="en-US" sz="1400" dirty="0">
                      <a:solidFill>
                        <a:schemeClr val="tx2">
                          <a:lumMod val="75000"/>
                          <a:lumOff val="25000"/>
                        </a:schemeClr>
                      </a:solidFill>
                      <a:latin typeface="Arial" panose="020B0604020202020204" pitchFamily="34" charset="0"/>
                      <a:ea typeface="微软雅黑" panose="020B0503020204020204" pitchFamily="34" charset="-122"/>
                    </a:rPr>
                    <a:t>用尽现有供应（</a:t>
                  </a:r>
                  <a:r>
                    <a:rPr lang="en-US" altLang="zh-CN" sz="1400" dirty="0">
                      <a:solidFill>
                        <a:schemeClr val="tx2">
                          <a:lumMod val="75000"/>
                          <a:lumOff val="25000"/>
                        </a:schemeClr>
                      </a:solidFill>
                      <a:latin typeface="Arial" panose="020B0604020202020204" pitchFamily="34" charset="0"/>
                      <a:ea typeface="微软雅黑" panose="020B0503020204020204" pitchFamily="34" charset="-122"/>
                    </a:rPr>
                    <a:t>OH,SR, Exist Planned Order</a:t>
                  </a:r>
                  <a:r>
                    <a:rPr lang="zh-CN" altLang="en-US" sz="1400" dirty="0">
                      <a:solidFill>
                        <a:schemeClr val="tx2">
                          <a:lumMod val="75000"/>
                          <a:lumOff val="25000"/>
                        </a:schemeClr>
                      </a:solidFill>
                      <a:latin typeface="Arial" panose="020B0604020202020204" pitchFamily="34" charset="0"/>
                      <a:ea typeface="微软雅黑" panose="020B0503020204020204" pitchFamily="34" charset="-122"/>
                    </a:rPr>
                    <a:t>）</a:t>
                  </a:r>
                  <a:endPar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endParaRP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依据</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sourcing target</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产生</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planned order</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en-GB"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Pegging </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作为</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allocation, </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生成</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allotment</a:t>
                  </a:r>
                  <a:r>
                    <a:rPr lang="zh-CN" altLang="en-US" sz="1400" dirty="0">
                      <a:solidFill>
                        <a:schemeClr val="tx2">
                          <a:lumMod val="75000"/>
                          <a:lumOff val="25000"/>
                        </a:schemeClr>
                      </a:solidFill>
                      <a:latin typeface="Arial" panose="020B0604020202020204" pitchFamily="34" charset="0"/>
                      <a:ea typeface="微软雅黑" panose="020B0503020204020204" pitchFamily="34" charset="-122"/>
                    </a:rPr>
                    <a:t>作为滚动依据保障用对买对。</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endParaRPr>
                </a:p>
              </p:txBody>
            </p:sp>
          </p:grpSp>
        </p:grpSp>
      </p:grpSp>
    </p:spTree>
    <p:extLst>
      <p:ext uri="{BB962C8B-B14F-4D97-AF65-F5344CB8AC3E}">
        <p14:creationId xmlns:p14="http://schemas.microsoft.com/office/powerpoint/2010/main" val="324705636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6A77FF-274E-C320-2FFE-EDD8545F0D54}"/>
            </a:ext>
          </a:extLst>
        </p:cNvPr>
        <p:cNvGrpSpPr/>
        <p:nvPr/>
      </p:nvGrpSpPr>
      <p:grpSpPr>
        <a:xfrm>
          <a:off x="0" y="0"/>
          <a:ext cx="0" cy="0"/>
          <a:chOff x="0" y="0"/>
          <a:chExt cx="0" cy="0"/>
        </a:xfrm>
      </p:grpSpPr>
      <p:sp>
        <p:nvSpPr>
          <p:cNvPr id="3" name="标题 2">
            <a:extLst>
              <a:ext uri="{FF2B5EF4-FFF2-40B4-BE49-F238E27FC236}">
                <a16:creationId xmlns:a16="http://schemas.microsoft.com/office/drawing/2014/main" id="{712C77EE-11BD-919F-6765-1D2129855106}"/>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替换 </a:t>
            </a:r>
            <a:r>
              <a:rPr lang="en-US" altLang="zh-CN" dirty="0">
                <a:latin typeface="Arial" panose="020B0604020202020204" pitchFamily="34" charset="0"/>
                <a:ea typeface="微软雅黑" panose="020B0503020204020204" pitchFamily="34" charset="-122"/>
              </a:rPr>
              <a:t>– Overview</a:t>
            </a:r>
            <a:r>
              <a:rPr lang="zh-CN" altLang="en-US" dirty="0">
                <a:latin typeface="Arial" panose="020B0604020202020204" pitchFamily="34" charset="0"/>
                <a:ea typeface="微软雅黑" panose="020B0503020204020204" pitchFamily="34" charset="-122"/>
              </a:rPr>
              <a:t>（</a:t>
            </a:r>
            <a:r>
              <a:rPr lang="en-US" altLang="zh-CN" dirty="0">
                <a:latin typeface="Arial" panose="020B0604020202020204" pitchFamily="34" charset="0"/>
                <a:ea typeface="微软雅黑" panose="020B0503020204020204" pitchFamily="34" charset="-122"/>
              </a:rPr>
              <a:t>cont.)</a:t>
            </a:r>
            <a:endParaRPr lang="zh-CN" altLang="en-US" dirty="0">
              <a:latin typeface="Arial" panose="020B0604020202020204" pitchFamily="34" charset="0"/>
              <a:ea typeface="微软雅黑" panose="020B0503020204020204" pitchFamily="34" charset="-122"/>
            </a:endParaRPr>
          </a:p>
        </p:txBody>
      </p:sp>
      <p:grpSp>
        <p:nvGrpSpPr>
          <p:cNvPr id="181" name="组合 180">
            <a:extLst>
              <a:ext uri="{FF2B5EF4-FFF2-40B4-BE49-F238E27FC236}">
                <a16:creationId xmlns:a16="http://schemas.microsoft.com/office/drawing/2014/main" id="{1094766F-DF2E-7D36-FFA5-A5BE0A0F0020}"/>
              </a:ext>
            </a:extLst>
          </p:cNvPr>
          <p:cNvGrpSpPr>
            <a:grpSpLocks noChangeAspect="1"/>
          </p:cNvGrpSpPr>
          <p:nvPr>
            <p:custDataLst>
              <p:tags r:id="rId1"/>
            </p:custDataLst>
          </p:nvPr>
        </p:nvGrpSpPr>
        <p:grpSpPr>
          <a:xfrm>
            <a:off x="175327" y="1562279"/>
            <a:ext cx="11757676" cy="5108686"/>
            <a:chOff x="284912" y="1623093"/>
            <a:chExt cx="11574364" cy="2027513"/>
          </a:xfrm>
        </p:grpSpPr>
        <p:grpSp>
          <p:nvGrpSpPr>
            <p:cNvPr id="182" name="组合 181">
              <a:extLst>
                <a:ext uri="{FF2B5EF4-FFF2-40B4-BE49-F238E27FC236}">
                  <a16:creationId xmlns:a16="http://schemas.microsoft.com/office/drawing/2014/main" id="{EB25E7C6-9AFD-A1E6-AF8F-1A4C886F088E}"/>
                </a:ext>
              </a:extLst>
            </p:cNvPr>
            <p:cNvGrpSpPr/>
            <p:nvPr/>
          </p:nvGrpSpPr>
          <p:grpSpPr>
            <a:xfrm>
              <a:off x="332724" y="1623093"/>
              <a:ext cx="5488834" cy="859956"/>
              <a:chOff x="1889760" y="4296244"/>
              <a:chExt cx="5488834" cy="859956"/>
            </a:xfrm>
          </p:grpSpPr>
          <p:sp>
            <p:nvSpPr>
              <p:cNvPr id="201" name="1">
                <a:extLst>
                  <a:ext uri="{FF2B5EF4-FFF2-40B4-BE49-F238E27FC236}">
                    <a16:creationId xmlns:a16="http://schemas.microsoft.com/office/drawing/2014/main" id="{D961984D-F13B-0058-15B5-7ED9BB62053A}"/>
                  </a:ext>
                </a:extLst>
              </p:cNvPr>
              <p:cNvSpPr/>
              <p:nvPr>
                <p:custDataLst>
                  <p:tags r:id="rId14"/>
                </p:custDataLst>
              </p:nvPr>
            </p:nvSpPr>
            <p:spPr>
              <a:xfrm>
                <a:off x="1889760" y="4296244"/>
                <a:ext cx="5488834" cy="859956"/>
              </a:xfrm>
              <a:prstGeom prst="roundRect">
                <a:avLst>
                  <a:gd name="adj" fmla="val 50000"/>
                </a:avLst>
              </a:prstGeom>
              <a:solidFill>
                <a:schemeClr val="bg1">
                  <a:lumMod val="95000"/>
                </a:schemeClr>
              </a:solidFill>
              <a:ln w="25400">
                <a:gradFill>
                  <a:gsLst>
                    <a:gs pos="0">
                      <a:schemeClr val="bg1"/>
                    </a:gs>
                    <a:gs pos="100000">
                      <a:schemeClr val="bg1">
                        <a:lumMod val="85000"/>
                      </a:schemeClr>
                    </a:gs>
                  </a:gsLst>
                  <a:lin ang="5400000" scaled="1"/>
                </a:gradFill>
              </a:ln>
              <a:effectLst>
                <a:outerShdw blurRad="381000" dist="127000" algn="ctr" rotWithShape="0">
                  <a:schemeClr val="tx1">
                    <a:lumMod val="10000"/>
                    <a:lumOff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sz="1600">
                  <a:solidFill>
                    <a:prstClr val="white"/>
                  </a:solidFill>
                  <a:latin typeface="+mj-ea"/>
                  <a:ea typeface="+mj-ea"/>
                </a:endParaRPr>
              </a:p>
            </p:txBody>
          </p:sp>
          <p:sp>
            <p:nvSpPr>
              <p:cNvPr id="202" name="Index-1">
                <a:extLst>
                  <a:ext uri="{FF2B5EF4-FFF2-40B4-BE49-F238E27FC236}">
                    <a16:creationId xmlns:a16="http://schemas.microsoft.com/office/drawing/2014/main" id="{5D7DDA16-73A6-678A-49B1-228DFE475D8D}"/>
                  </a:ext>
                </a:extLst>
              </p:cNvPr>
              <p:cNvSpPr/>
              <p:nvPr>
                <p:custDataLst>
                  <p:tags r:id="rId15"/>
                </p:custDataLst>
              </p:nvPr>
            </p:nvSpPr>
            <p:spPr>
              <a:xfrm>
                <a:off x="2302676" y="4459522"/>
                <a:ext cx="541020" cy="533400"/>
              </a:xfrm>
              <a:prstGeom prst="roundRect">
                <a:avLst>
                  <a:gd name="adj" fmla="val 50000"/>
                </a:avLst>
              </a:prstGeom>
              <a:solidFill>
                <a:schemeClr val="accent1"/>
              </a:solidFill>
              <a:ln w="25400">
                <a:gradFill>
                  <a:gsLst>
                    <a:gs pos="0">
                      <a:schemeClr val="bg1"/>
                    </a:gs>
                    <a:gs pos="100000">
                      <a:schemeClr val="bg1">
                        <a:lumMod val="85000"/>
                      </a:schemeClr>
                    </a:gs>
                  </a:gsLst>
                  <a:lin ang="5400000" scaled="1"/>
                </a:gra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r>
                  <a:rPr lang="en-US" altLang="zh-CN" sz="1600" b="1" dirty="0">
                    <a:latin typeface="Arial" panose="020B0604020202020204" pitchFamily="34" charset="0"/>
                    <a:ea typeface="微软雅黑" panose="020B0503020204020204" pitchFamily="34" charset="-122"/>
                    <a:cs typeface="+mn-ea"/>
                  </a:rPr>
                  <a:t>5</a:t>
                </a:r>
                <a:endParaRPr lang="zh-CN" altLang="en-US" sz="1600" b="1" dirty="0">
                  <a:solidFill>
                    <a:schemeClr val="lt1"/>
                  </a:solidFill>
                  <a:latin typeface="Arial" panose="020B0604020202020204" pitchFamily="34" charset="0"/>
                  <a:ea typeface="微软雅黑" panose="020B0503020204020204" pitchFamily="34" charset="-122"/>
                  <a:cs typeface="+mn-ea"/>
                </a:endParaRPr>
              </a:p>
            </p:txBody>
          </p:sp>
          <p:grpSp>
            <p:nvGrpSpPr>
              <p:cNvPr id="203" name="组合 202">
                <a:extLst>
                  <a:ext uri="{FF2B5EF4-FFF2-40B4-BE49-F238E27FC236}">
                    <a16:creationId xmlns:a16="http://schemas.microsoft.com/office/drawing/2014/main" id="{59B7AE4F-9DD7-1E0E-A69F-4CD71D6CF893}"/>
                  </a:ext>
                </a:extLst>
              </p:cNvPr>
              <p:cNvGrpSpPr/>
              <p:nvPr/>
            </p:nvGrpSpPr>
            <p:grpSpPr>
              <a:xfrm>
                <a:off x="2890859" y="4356890"/>
                <a:ext cx="4439922" cy="645514"/>
                <a:chOff x="2890859" y="4355334"/>
                <a:chExt cx="4439922" cy="645514"/>
              </a:xfrm>
            </p:grpSpPr>
            <p:sp>
              <p:nvSpPr>
                <p:cNvPr id="204" name="Title-1">
                  <a:extLst>
                    <a:ext uri="{FF2B5EF4-FFF2-40B4-BE49-F238E27FC236}">
                      <a16:creationId xmlns:a16="http://schemas.microsoft.com/office/drawing/2014/main" id="{2AF863E4-9562-2B96-BBE6-8EBB12B99309}"/>
                    </a:ext>
                  </a:extLst>
                </p:cNvPr>
                <p:cNvSpPr txBox="1"/>
                <p:nvPr>
                  <p:custDataLst>
                    <p:tags r:id="rId16"/>
                  </p:custDataLst>
                </p:nvPr>
              </p:nvSpPr>
              <p:spPr>
                <a:xfrm>
                  <a:off x="2890859" y="4355334"/>
                  <a:ext cx="4344944" cy="369332"/>
                </a:xfrm>
                <a:prstGeom prst="rect">
                  <a:avLst/>
                </a:prstGeom>
                <a:noFill/>
              </p:spPr>
              <p:txBody>
                <a:bodyPr wrap="square" rtlCol="0">
                  <a:noAutofit/>
                </a:bodyPr>
                <a:lstStyle/>
                <a:p>
                  <a:r>
                    <a:rPr lang="zh-CN" altLang="en-US" sz="1600" b="1" dirty="0">
                      <a:solidFill>
                        <a:schemeClr val="accent1"/>
                      </a:solidFill>
                      <a:latin typeface="Arial" panose="020B0604020202020204" pitchFamily="34" charset="0"/>
                      <a:ea typeface="微软雅黑" panose="020B0503020204020204" pitchFamily="34" charset="-122"/>
                    </a:rPr>
                    <a:t>混料</a:t>
                  </a:r>
                </a:p>
              </p:txBody>
            </p:sp>
            <p:sp>
              <p:nvSpPr>
                <p:cNvPr id="205" name="Body-1">
                  <a:extLst>
                    <a:ext uri="{FF2B5EF4-FFF2-40B4-BE49-F238E27FC236}">
                      <a16:creationId xmlns:a16="http://schemas.microsoft.com/office/drawing/2014/main" id="{E877EF46-C06F-A295-5FE2-7F9C5CC4620F}"/>
                    </a:ext>
                  </a:extLst>
                </p:cNvPr>
                <p:cNvSpPr>
                  <a:spLocks/>
                </p:cNvSpPr>
                <p:nvPr>
                  <p:custDataLst>
                    <p:tags r:id="rId17"/>
                  </p:custDataLst>
                </p:nvPr>
              </p:nvSpPr>
              <p:spPr>
                <a:xfrm>
                  <a:off x="2985837" y="4529977"/>
                  <a:ext cx="4344944"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任何情况均可以混料</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同一需求</a:t>
                  </a:r>
                  <a:r>
                    <a:rPr lang="zh-CN" altLang="en-US" sz="1400" dirty="0">
                      <a:solidFill>
                        <a:schemeClr val="tx2">
                          <a:lumMod val="75000"/>
                          <a:lumOff val="25000"/>
                        </a:schemeClr>
                      </a:solidFill>
                      <a:latin typeface="Arial" panose="020B0604020202020204" pitchFamily="34" charset="0"/>
                      <a:ea typeface="微软雅黑" panose="020B0503020204020204" pitchFamily="34" charset="-122"/>
                    </a:rPr>
                    <a:t>是否</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混料</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同一工单是否可以混料</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同一单位父阶是否可以混料</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endParaRPr>
                </a:p>
              </p:txBody>
            </p:sp>
          </p:grpSp>
        </p:grpSp>
        <p:grpSp>
          <p:nvGrpSpPr>
            <p:cNvPr id="183" name="组合 182">
              <a:extLst>
                <a:ext uri="{FF2B5EF4-FFF2-40B4-BE49-F238E27FC236}">
                  <a16:creationId xmlns:a16="http://schemas.microsoft.com/office/drawing/2014/main" id="{259FC14A-18DC-B742-D148-6D294FB9D960}"/>
                </a:ext>
              </a:extLst>
            </p:cNvPr>
            <p:cNvGrpSpPr/>
            <p:nvPr/>
          </p:nvGrpSpPr>
          <p:grpSpPr>
            <a:xfrm>
              <a:off x="6370442" y="1623093"/>
              <a:ext cx="5488834" cy="859956"/>
              <a:chOff x="1889760" y="4296244"/>
              <a:chExt cx="5488834" cy="859956"/>
            </a:xfrm>
          </p:grpSpPr>
          <p:sp>
            <p:nvSpPr>
              <p:cNvPr id="196" name="2">
                <a:extLst>
                  <a:ext uri="{FF2B5EF4-FFF2-40B4-BE49-F238E27FC236}">
                    <a16:creationId xmlns:a16="http://schemas.microsoft.com/office/drawing/2014/main" id="{1FA9D0FC-64CE-2206-B116-3CB084B6DB45}"/>
                  </a:ext>
                </a:extLst>
              </p:cNvPr>
              <p:cNvSpPr/>
              <p:nvPr>
                <p:custDataLst>
                  <p:tags r:id="rId10"/>
                </p:custDataLst>
              </p:nvPr>
            </p:nvSpPr>
            <p:spPr>
              <a:xfrm>
                <a:off x="1889760" y="4296244"/>
                <a:ext cx="5488834" cy="859956"/>
              </a:xfrm>
              <a:prstGeom prst="roundRect">
                <a:avLst>
                  <a:gd name="adj" fmla="val 50000"/>
                </a:avLst>
              </a:prstGeom>
              <a:solidFill>
                <a:schemeClr val="bg1">
                  <a:lumMod val="95000"/>
                </a:schemeClr>
              </a:solidFill>
              <a:ln w="25400">
                <a:gradFill>
                  <a:gsLst>
                    <a:gs pos="0">
                      <a:schemeClr val="bg1"/>
                    </a:gs>
                    <a:gs pos="100000">
                      <a:schemeClr val="bg1">
                        <a:lumMod val="85000"/>
                      </a:schemeClr>
                    </a:gs>
                  </a:gsLst>
                  <a:lin ang="5400000" scaled="1"/>
                </a:gradFill>
              </a:ln>
              <a:effectLst>
                <a:outerShdw blurRad="381000" dist="127000" algn="ctr" rotWithShape="0">
                  <a:schemeClr val="tx1">
                    <a:lumMod val="10000"/>
                    <a:lumOff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sz="1600">
                  <a:solidFill>
                    <a:prstClr val="white"/>
                  </a:solidFill>
                  <a:latin typeface="+mj-ea"/>
                  <a:ea typeface="+mj-ea"/>
                </a:endParaRPr>
              </a:p>
            </p:txBody>
          </p:sp>
          <p:sp>
            <p:nvSpPr>
              <p:cNvPr id="197" name="Index-2">
                <a:extLst>
                  <a:ext uri="{FF2B5EF4-FFF2-40B4-BE49-F238E27FC236}">
                    <a16:creationId xmlns:a16="http://schemas.microsoft.com/office/drawing/2014/main" id="{021C4536-E2DA-325D-6DA0-996BD5FC84CB}"/>
                  </a:ext>
                </a:extLst>
              </p:cNvPr>
              <p:cNvSpPr/>
              <p:nvPr>
                <p:custDataLst>
                  <p:tags r:id="rId11"/>
                </p:custDataLst>
              </p:nvPr>
            </p:nvSpPr>
            <p:spPr>
              <a:xfrm>
                <a:off x="2302676" y="4459522"/>
                <a:ext cx="541020" cy="533400"/>
              </a:xfrm>
              <a:prstGeom prst="roundRect">
                <a:avLst>
                  <a:gd name="adj" fmla="val 50000"/>
                </a:avLst>
              </a:prstGeom>
              <a:solidFill>
                <a:srgbClr val="002060"/>
              </a:solidFill>
              <a:ln w="25400">
                <a:gradFill>
                  <a:gsLst>
                    <a:gs pos="0">
                      <a:schemeClr val="bg1"/>
                    </a:gs>
                    <a:gs pos="100000">
                      <a:schemeClr val="bg1">
                        <a:lumMod val="85000"/>
                      </a:schemeClr>
                    </a:gs>
                  </a:gsLst>
                  <a:lin ang="5400000" scaled="1"/>
                </a:gra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r>
                  <a:rPr lang="en-US" altLang="zh-CN" sz="1600" b="1" dirty="0">
                    <a:latin typeface="Arial" panose="020B0604020202020204" pitchFamily="34" charset="0"/>
                    <a:ea typeface="微软雅黑" panose="020B0503020204020204" pitchFamily="34" charset="-122"/>
                    <a:cs typeface="+mn-ea"/>
                  </a:rPr>
                  <a:t>6</a:t>
                </a:r>
                <a:endParaRPr lang="zh-CN" altLang="en-US" sz="1600" b="1" dirty="0">
                  <a:solidFill>
                    <a:schemeClr val="lt1"/>
                  </a:solidFill>
                  <a:latin typeface="Arial" panose="020B0604020202020204" pitchFamily="34" charset="0"/>
                  <a:ea typeface="微软雅黑" panose="020B0503020204020204" pitchFamily="34" charset="-122"/>
                  <a:cs typeface="+mn-ea"/>
                </a:endParaRPr>
              </a:p>
            </p:txBody>
          </p:sp>
          <p:grpSp>
            <p:nvGrpSpPr>
              <p:cNvPr id="198" name="组合 197">
                <a:extLst>
                  <a:ext uri="{FF2B5EF4-FFF2-40B4-BE49-F238E27FC236}">
                    <a16:creationId xmlns:a16="http://schemas.microsoft.com/office/drawing/2014/main" id="{C45F558E-324F-CAA1-C8BB-C7CBF481B703}"/>
                  </a:ext>
                </a:extLst>
              </p:cNvPr>
              <p:cNvGrpSpPr/>
              <p:nvPr/>
            </p:nvGrpSpPr>
            <p:grpSpPr>
              <a:xfrm>
                <a:off x="2843694" y="4356890"/>
                <a:ext cx="4439922" cy="783349"/>
                <a:chOff x="2843694" y="4355334"/>
                <a:chExt cx="4439922" cy="783349"/>
              </a:xfrm>
            </p:grpSpPr>
            <p:sp>
              <p:nvSpPr>
                <p:cNvPr id="199" name="Title-2">
                  <a:extLst>
                    <a:ext uri="{FF2B5EF4-FFF2-40B4-BE49-F238E27FC236}">
                      <a16:creationId xmlns:a16="http://schemas.microsoft.com/office/drawing/2014/main" id="{5F322CAF-F54C-37C1-17EC-01C4B4FE8FE6}"/>
                    </a:ext>
                  </a:extLst>
                </p:cNvPr>
                <p:cNvSpPr txBox="1"/>
                <p:nvPr>
                  <p:custDataLst>
                    <p:tags r:id="rId12"/>
                  </p:custDataLst>
                </p:nvPr>
              </p:nvSpPr>
              <p:spPr>
                <a:xfrm>
                  <a:off x="2938672" y="4355334"/>
                  <a:ext cx="4344944" cy="369332"/>
                </a:xfrm>
                <a:prstGeom prst="rect">
                  <a:avLst/>
                </a:prstGeom>
                <a:noFill/>
              </p:spPr>
              <p:txBody>
                <a:bodyPr wrap="square" rtlCol="0">
                  <a:noAutofit/>
                </a:bodyPr>
                <a:lstStyle/>
                <a:p>
                  <a:r>
                    <a:rPr lang="zh-CN" altLang="en-US" sz="1600" b="1" dirty="0">
                      <a:latin typeface="Arial" panose="020B0604020202020204" pitchFamily="34" charset="0"/>
                      <a:ea typeface="微软雅黑" panose="020B0503020204020204" pitchFamily="34" charset="-122"/>
                    </a:rPr>
                    <a:t>主料与替换料关系</a:t>
                  </a:r>
                </a:p>
              </p:txBody>
            </p:sp>
            <p:sp>
              <p:nvSpPr>
                <p:cNvPr id="200" name="Body-2">
                  <a:extLst>
                    <a:ext uri="{FF2B5EF4-FFF2-40B4-BE49-F238E27FC236}">
                      <a16:creationId xmlns:a16="http://schemas.microsoft.com/office/drawing/2014/main" id="{A4CD41FB-5E8C-CE3B-1BB7-2BD7FBF1EF2E}"/>
                    </a:ext>
                  </a:extLst>
                </p:cNvPr>
                <p:cNvSpPr>
                  <a:spLocks/>
                </p:cNvSpPr>
                <p:nvPr>
                  <p:custDataLst>
                    <p:tags r:id="rId13"/>
                  </p:custDataLst>
                </p:nvPr>
              </p:nvSpPr>
              <p:spPr>
                <a:xfrm>
                  <a:off x="2843694" y="4448338"/>
                  <a:ext cx="4344944" cy="6903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interchangeable – </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组内互相替代，但计划单据只有主料能产生</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alt – </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替换料可以满足主料需求，但是主料不会满足替换料</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option – </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均可替代</a:t>
                  </a:r>
                </a:p>
                <a:p>
                  <a:pPr marL="285750" marR="0" lvl="0" indent="-2857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primary – </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rPr>
                    <a:t>主料有剩余时可以作为辅料</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微软雅黑" panose="020B0503020204020204" pitchFamily="34" charset="-122"/>
                    <a:cs typeface="+mn-cs"/>
                  </a:endParaRPr>
                </a:p>
              </p:txBody>
            </p:sp>
          </p:grpSp>
        </p:grpSp>
        <p:grpSp>
          <p:nvGrpSpPr>
            <p:cNvPr id="184" name="组合 183">
              <a:extLst>
                <a:ext uri="{FF2B5EF4-FFF2-40B4-BE49-F238E27FC236}">
                  <a16:creationId xmlns:a16="http://schemas.microsoft.com/office/drawing/2014/main" id="{0446976B-1467-29BF-39AE-51103E84F6F5}"/>
                </a:ext>
              </a:extLst>
            </p:cNvPr>
            <p:cNvGrpSpPr/>
            <p:nvPr/>
          </p:nvGrpSpPr>
          <p:grpSpPr>
            <a:xfrm>
              <a:off x="284912" y="2646328"/>
              <a:ext cx="5488834" cy="961280"/>
              <a:chOff x="1841948" y="3943549"/>
              <a:chExt cx="5488834" cy="961280"/>
            </a:xfrm>
          </p:grpSpPr>
          <p:sp>
            <p:nvSpPr>
              <p:cNvPr id="191" name="3">
                <a:extLst>
                  <a:ext uri="{FF2B5EF4-FFF2-40B4-BE49-F238E27FC236}">
                    <a16:creationId xmlns:a16="http://schemas.microsoft.com/office/drawing/2014/main" id="{591E7315-44AC-EAE4-A25E-965264C8EAD2}"/>
                  </a:ext>
                </a:extLst>
              </p:cNvPr>
              <p:cNvSpPr/>
              <p:nvPr>
                <p:custDataLst>
                  <p:tags r:id="rId6"/>
                </p:custDataLst>
              </p:nvPr>
            </p:nvSpPr>
            <p:spPr>
              <a:xfrm>
                <a:off x="1841948" y="3943549"/>
                <a:ext cx="5488834" cy="961280"/>
              </a:xfrm>
              <a:prstGeom prst="roundRect">
                <a:avLst>
                  <a:gd name="adj" fmla="val 50000"/>
                </a:avLst>
              </a:prstGeom>
              <a:solidFill>
                <a:schemeClr val="bg1">
                  <a:lumMod val="95000"/>
                </a:schemeClr>
              </a:solidFill>
              <a:ln w="25400">
                <a:gradFill>
                  <a:gsLst>
                    <a:gs pos="0">
                      <a:schemeClr val="bg1"/>
                    </a:gs>
                    <a:gs pos="100000">
                      <a:schemeClr val="bg1">
                        <a:lumMod val="85000"/>
                      </a:schemeClr>
                    </a:gs>
                  </a:gsLst>
                  <a:lin ang="5400000" scaled="1"/>
                </a:gradFill>
              </a:ln>
              <a:effectLst>
                <a:outerShdw blurRad="381000" dist="127000" algn="ctr" rotWithShape="0">
                  <a:schemeClr val="tx1">
                    <a:lumMod val="10000"/>
                    <a:lumOff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sz="1600">
                  <a:solidFill>
                    <a:prstClr val="white"/>
                  </a:solidFill>
                  <a:latin typeface="+mj-ea"/>
                  <a:ea typeface="+mj-ea"/>
                </a:endParaRPr>
              </a:p>
            </p:txBody>
          </p:sp>
          <p:sp>
            <p:nvSpPr>
              <p:cNvPr id="192" name="Index-3">
                <a:extLst>
                  <a:ext uri="{FF2B5EF4-FFF2-40B4-BE49-F238E27FC236}">
                    <a16:creationId xmlns:a16="http://schemas.microsoft.com/office/drawing/2014/main" id="{28AA0C0A-8E03-49CC-ED0B-1C0F0D8E9A4E}"/>
                  </a:ext>
                </a:extLst>
              </p:cNvPr>
              <p:cNvSpPr/>
              <p:nvPr>
                <p:custDataLst>
                  <p:tags r:id="rId7"/>
                </p:custDataLst>
              </p:nvPr>
            </p:nvSpPr>
            <p:spPr>
              <a:xfrm>
                <a:off x="2350165" y="4106827"/>
                <a:ext cx="541020" cy="533400"/>
              </a:xfrm>
              <a:prstGeom prst="roundRect">
                <a:avLst>
                  <a:gd name="adj" fmla="val 50000"/>
                </a:avLst>
              </a:prstGeom>
              <a:solidFill>
                <a:schemeClr val="accent3"/>
              </a:solidFill>
              <a:ln w="25400">
                <a:gradFill>
                  <a:gsLst>
                    <a:gs pos="0">
                      <a:schemeClr val="bg1"/>
                    </a:gs>
                    <a:gs pos="100000">
                      <a:schemeClr val="bg1">
                        <a:lumMod val="85000"/>
                      </a:schemeClr>
                    </a:gs>
                  </a:gsLst>
                  <a:lin ang="5400000" scaled="1"/>
                </a:gra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r>
                  <a:rPr lang="en-US" altLang="zh-CN" sz="1600" b="1" dirty="0">
                    <a:latin typeface="Arial" panose="020B0604020202020204" pitchFamily="34" charset="0"/>
                    <a:ea typeface="微软雅黑" panose="020B0503020204020204" pitchFamily="34" charset="-122"/>
                    <a:cs typeface="+mn-ea"/>
                  </a:rPr>
                  <a:t>7</a:t>
                </a:r>
                <a:endParaRPr lang="zh-CN" altLang="en-US" sz="1600" b="1" dirty="0">
                  <a:solidFill>
                    <a:schemeClr val="lt1"/>
                  </a:solidFill>
                  <a:latin typeface="Arial" panose="020B0604020202020204" pitchFamily="34" charset="0"/>
                  <a:ea typeface="微软雅黑" panose="020B0503020204020204" pitchFamily="34" charset="-122"/>
                  <a:cs typeface="+mn-ea"/>
                </a:endParaRPr>
              </a:p>
            </p:txBody>
          </p:sp>
          <p:grpSp>
            <p:nvGrpSpPr>
              <p:cNvPr id="193" name="组合 192">
                <a:extLst>
                  <a:ext uri="{FF2B5EF4-FFF2-40B4-BE49-F238E27FC236}">
                    <a16:creationId xmlns:a16="http://schemas.microsoft.com/office/drawing/2014/main" id="{85398E93-45B8-B514-5BCD-F7A6D3B0722F}"/>
                  </a:ext>
                </a:extLst>
              </p:cNvPr>
              <p:cNvGrpSpPr/>
              <p:nvPr/>
            </p:nvGrpSpPr>
            <p:grpSpPr>
              <a:xfrm>
                <a:off x="2985837" y="4043966"/>
                <a:ext cx="4344945" cy="634080"/>
                <a:chOff x="2985837" y="4042410"/>
                <a:chExt cx="4344945" cy="634080"/>
              </a:xfrm>
            </p:grpSpPr>
            <p:sp>
              <p:nvSpPr>
                <p:cNvPr id="194" name="Title-3">
                  <a:extLst>
                    <a:ext uri="{FF2B5EF4-FFF2-40B4-BE49-F238E27FC236}">
                      <a16:creationId xmlns:a16="http://schemas.microsoft.com/office/drawing/2014/main" id="{AB766C65-BD7A-C5EB-81A0-5B361C6F30EB}"/>
                    </a:ext>
                  </a:extLst>
                </p:cNvPr>
                <p:cNvSpPr txBox="1"/>
                <p:nvPr>
                  <p:custDataLst>
                    <p:tags r:id="rId8"/>
                  </p:custDataLst>
                </p:nvPr>
              </p:nvSpPr>
              <p:spPr>
                <a:xfrm>
                  <a:off x="2985838" y="4042410"/>
                  <a:ext cx="4344944" cy="369332"/>
                </a:xfrm>
                <a:prstGeom prst="rect">
                  <a:avLst/>
                </a:prstGeom>
                <a:noFill/>
              </p:spPr>
              <p:txBody>
                <a:bodyPr wrap="square" rtlCol="0">
                  <a:noAutofit/>
                </a:bodyPr>
                <a:lstStyle/>
                <a:p>
                  <a:r>
                    <a:rPr lang="zh-CN" altLang="en-US" sz="1600" b="1" dirty="0">
                      <a:solidFill>
                        <a:schemeClr val="accent3"/>
                      </a:solidFill>
                      <a:latin typeface="Arial" panose="020B0604020202020204" pitchFamily="34" charset="0"/>
                      <a:ea typeface="微软雅黑" panose="020B0503020204020204" pitchFamily="34" charset="-122"/>
                    </a:rPr>
                    <a:t>分配喜好</a:t>
                  </a:r>
                </a:p>
              </p:txBody>
            </p:sp>
            <p:sp>
              <p:nvSpPr>
                <p:cNvPr id="195" name="Body-3">
                  <a:extLst>
                    <a:ext uri="{FF2B5EF4-FFF2-40B4-BE49-F238E27FC236}">
                      <a16:creationId xmlns:a16="http://schemas.microsoft.com/office/drawing/2014/main" id="{222D1B4C-811A-26BF-4B8A-87CE09FE711B}"/>
                    </a:ext>
                  </a:extLst>
                </p:cNvPr>
                <p:cNvSpPr>
                  <a:spLocks/>
                </p:cNvSpPr>
                <p:nvPr>
                  <p:custDataLst>
                    <p:tags r:id="rId9"/>
                  </p:custDataLst>
                </p:nvPr>
              </p:nvSpPr>
              <p:spPr>
                <a:xfrm>
                  <a:off x="2985837" y="4205619"/>
                  <a:ext cx="4344944"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30000"/>
                    </a:lnSpc>
                    <a:buSzPct val="100000"/>
                    <a:buFont typeface="Arial" panose="020B0604020202020204" pitchFamily="34" charset="0"/>
                    <a:buChar char="•"/>
                  </a:pPr>
                  <a:r>
                    <a:rPr lang="en-US" altLang="zh-CN" sz="1400" dirty="0">
                      <a:solidFill>
                        <a:schemeClr val="tx2">
                          <a:lumMod val="75000"/>
                          <a:lumOff val="25000"/>
                        </a:schemeClr>
                      </a:solidFill>
                      <a:latin typeface="Arial" panose="020B0604020202020204" pitchFamily="34" charset="0"/>
                      <a:ea typeface="微软雅黑" panose="020B0503020204020204" pitchFamily="34" charset="-122"/>
                    </a:rPr>
                    <a:t>Z – </a:t>
                  </a:r>
                  <a:r>
                    <a:rPr lang="zh-CN" altLang="en-US" sz="1400" dirty="0">
                      <a:solidFill>
                        <a:schemeClr val="tx2">
                          <a:lumMod val="75000"/>
                          <a:lumOff val="25000"/>
                        </a:schemeClr>
                      </a:solidFill>
                      <a:latin typeface="Arial" panose="020B0604020202020204" pitchFamily="34" charset="0"/>
                      <a:ea typeface="微软雅黑" panose="020B0503020204020204" pitchFamily="34" charset="-122"/>
                    </a:rPr>
                    <a:t>尽量用优先级高的替换料</a:t>
                  </a:r>
                </a:p>
                <a:p>
                  <a:pPr marL="285750" indent="-285750" defTabSz="913765">
                    <a:lnSpc>
                      <a:spcPct val="130000"/>
                    </a:lnSpc>
                    <a:buSzPct val="100000"/>
                    <a:buFont typeface="Arial" panose="020B0604020202020204" pitchFamily="34" charset="0"/>
                    <a:buChar char="•"/>
                  </a:pPr>
                  <a:r>
                    <a:rPr lang="en-US" altLang="zh-CN" sz="1400" dirty="0">
                      <a:solidFill>
                        <a:schemeClr val="tx2">
                          <a:lumMod val="75000"/>
                          <a:lumOff val="25000"/>
                        </a:schemeClr>
                      </a:solidFill>
                      <a:latin typeface="Arial" panose="020B0604020202020204" pitchFamily="34" charset="0"/>
                      <a:ea typeface="微软雅黑" panose="020B0503020204020204" pitchFamily="34" charset="-122"/>
                    </a:rPr>
                    <a:t>N – </a:t>
                  </a:r>
                  <a:r>
                    <a:rPr lang="zh-CN" altLang="en-US" sz="1400" dirty="0">
                      <a:solidFill>
                        <a:schemeClr val="tx2">
                          <a:lumMod val="75000"/>
                          <a:lumOff val="25000"/>
                        </a:schemeClr>
                      </a:solidFill>
                      <a:latin typeface="Arial" panose="020B0604020202020204" pitchFamily="34" charset="0"/>
                      <a:ea typeface="微软雅黑" panose="020B0503020204020204" pitchFamily="34" charset="-122"/>
                    </a:rPr>
                    <a:t>尽量用最早的供应满足</a:t>
                  </a:r>
                </a:p>
                <a:p>
                  <a:pPr marL="285750" indent="-285750" defTabSz="913765">
                    <a:lnSpc>
                      <a:spcPct val="130000"/>
                    </a:lnSpc>
                    <a:buSzPct val="100000"/>
                    <a:buFont typeface="Arial" panose="020B0604020202020204" pitchFamily="34" charset="0"/>
                    <a:buChar char="•"/>
                  </a:pPr>
                  <a:r>
                    <a:rPr lang="en-US" altLang="zh-CN" sz="1400" dirty="0">
                      <a:solidFill>
                        <a:schemeClr val="tx2">
                          <a:lumMod val="75000"/>
                          <a:lumOff val="25000"/>
                        </a:schemeClr>
                      </a:solidFill>
                      <a:latin typeface="Arial" panose="020B0604020202020204" pitchFamily="34" charset="0"/>
                      <a:ea typeface="微软雅黑" panose="020B0503020204020204" pitchFamily="34" charset="-122"/>
                    </a:rPr>
                    <a:t>C – </a:t>
                  </a:r>
                  <a:r>
                    <a:rPr lang="zh-CN" altLang="en-US" sz="1400" dirty="0">
                      <a:solidFill>
                        <a:schemeClr val="tx2">
                          <a:lumMod val="75000"/>
                          <a:lumOff val="25000"/>
                        </a:schemeClr>
                      </a:solidFill>
                      <a:latin typeface="Arial" panose="020B0604020202020204" pitchFamily="34" charset="0"/>
                      <a:ea typeface="微软雅黑" panose="020B0503020204020204" pitchFamily="34" charset="-122"/>
                    </a:rPr>
                    <a:t>跟</a:t>
                  </a:r>
                  <a:r>
                    <a:rPr lang="en-US" altLang="zh-CN" sz="1400" dirty="0">
                      <a:solidFill>
                        <a:schemeClr val="tx2">
                          <a:lumMod val="75000"/>
                          <a:lumOff val="25000"/>
                        </a:schemeClr>
                      </a:solidFill>
                      <a:latin typeface="Arial" panose="020B0604020202020204" pitchFamily="34" charset="0"/>
                      <a:ea typeface="微软雅黑" panose="020B0503020204020204" pitchFamily="34" charset="-122"/>
                    </a:rPr>
                    <a:t>Z</a:t>
                  </a:r>
                  <a:r>
                    <a:rPr lang="zh-CN" altLang="en-US" sz="1400" dirty="0">
                      <a:solidFill>
                        <a:schemeClr val="tx2">
                          <a:lumMod val="75000"/>
                          <a:lumOff val="25000"/>
                        </a:schemeClr>
                      </a:solidFill>
                      <a:latin typeface="Arial" panose="020B0604020202020204" pitchFamily="34" charset="0"/>
                      <a:ea typeface="微软雅黑" panose="020B0503020204020204" pitchFamily="34" charset="-122"/>
                    </a:rPr>
                    <a:t>类似，但是要用完现有的供应，包括</a:t>
                  </a:r>
                  <a:r>
                    <a:rPr lang="en-US" altLang="zh-CN" sz="1400" dirty="0">
                      <a:solidFill>
                        <a:schemeClr val="tx2">
                          <a:lumMod val="75000"/>
                          <a:lumOff val="25000"/>
                        </a:schemeClr>
                      </a:solidFill>
                      <a:latin typeface="Arial" panose="020B0604020202020204" pitchFamily="34" charset="0"/>
                      <a:ea typeface="微软雅黑" panose="020B0503020204020204" pitchFamily="34" charset="-122"/>
                    </a:rPr>
                    <a:t>On-Hand, SR, Excess</a:t>
                  </a:r>
                  <a:endParaRPr lang="en-GB" altLang="zh-CN" sz="1400" dirty="0">
                    <a:solidFill>
                      <a:schemeClr val="tx2">
                        <a:lumMod val="75000"/>
                        <a:lumOff val="25000"/>
                      </a:schemeClr>
                    </a:solidFill>
                    <a:latin typeface="Arial" panose="020B0604020202020204" pitchFamily="34" charset="0"/>
                    <a:ea typeface="微软雅黑" panose="020B0503020204020204" pitchFamily="34" charset="-122"/>
                  </a:endParaRPr>
                </a:p>
              </p:txBody>
            </p:sp>
          </p:grpSp>
        </p:grpSp>
        <p:grpSp>
          <p:nvGrpSpPr>
            <p:cNvPr id="185" name="组合 184">
              <a:extLst>
                <a:ext uri="{FF2B5EF4-FFF2-40B4-BE49-F238E27FC236}">
                  <a16:creationId xmlns:a16="http://schemas.microsoft.com/office/drawing/2014/main" id="{06AC33A0-3496-D796-FCFD-5ED7C2F960CF}"/>
                </a:ext>
              </a:extLst>
            </p:cNvPr>
            <p:cNvGrpSpPr/>
            <p:nvPr/>
          </p:nvGrpSpPr>
          <p:grpSpPr>
            <a:xfrm>
              <a:off x="6328607" y="2689326"/>
              <a:ext cx="5488834" cy="961280"/>
              <a:chOff x="1847925" y="3986547"/>
              <a:chExt cx="5488834" cy="961280"/>
            </a:xfrm>
          </p:grpSpPr>
          <p:sp>
            <p:nvSpPr>
              <p:cNvPr id="186" name="4">
                <a:extLst>
                  <a:ext uri="{FF2B5EF4-FFF2-40B4-BE49-F238E27FC236}">
                    <a16:creationId xmlns:a16="http://schemas.microsoft.com/office/drawing/2014/main" id="{C4362BAC-E512-AD84-7C90-C2BDD4FA61A5}"/>
                  </a:ext>
                </a:extLst>
              </p:cNvPr>
              <p:cNvSpPr/>
              <p:nvPr>
                <p:custDataLst>
                  <p:tags r:id="rId2"/>
                </p:custDataLst>
              </p:nvPr>
            </p:nvSpPr>
            <p:spPr>
              <a:xfrm>
                <a:off x="1847925" y="3986547"/>
                <a:ext cx="5488834" cy="961280"/>
              </a:xfrm>
              <a:prstGeom prst="roundRect">
                <a:avLst>
                  <a:gd name="adj" fmla="val 50000"/>
                </a:avLst>
              </a:prstGeom>
              <a:solidFill>
                <a:schemeClr val="bg1">
                  <a:lumMod val="95000"/>
                </a:schemeClr>
              </a:solidFill>
              <a:ln w="25400">
                <a:gradFill>
                  <a:gsLst>
                    <a:gs pos="0">
                      <a:schemeClr val="bg1"/>
                    </a:gs>
                    <a:gs pos="100000">
                      <a:schemeClr val="bg1">
                        <a:lumMod val="85000"/>
                      </a:schemeClr>
                    </a:gs>
                  </a:gsLst>
                  <a:lin ang="5400000" scaled="1"/>
                </a:gradFill>
              </a:ln>
              <a:effectLst>
                <a:outerShdw blurRad="381000" dist="127000" algn="ctr" rotWithShape="0">
                  <a:schemeClr val="tx1">
                    <a:lumMod val="10000"/>
                    <a:lumOff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sz="1600">
                  <a:solidFill>
                    <a:prstClr val="white"/>
                  </a:solidFill>
                  <a:latin typeface="+mj-ea"/>
                  <a:ea typeface="+mj-ea"/>
                </a:endParaRPr>
              </a:p>
            </p:txBody>
          </p:sp>
          <p:sp>
            <p:nvSpPr>
              <p:cNvPr id="187" name="Index-4">
                <a:extLst>
                  <a:ext uri="{FF2B5EF4-FFF2-40B4-BE49-F238E27FC236}">
                    <a16:creationId xmlns:a16="http://schemas.microsoft.com/office/drawing/2014/main" id="{F49B986C-20C4-4B87-E217-E38942C0C9A3}"/>
                  </a:ext>
                </a:extLst>
              </p:cNvPr>
              <p:cNvSpPr/>
              <p:nvPr>
                <p:custDataLst>
                  <p:tags r:id="rId3"/>
                </p:custDataLst>
              </p:nvPr>
            </p:nvSpPr>
            <p:spPr>
              <a:xfrm>
                <a:off x="2383810" y="4127454"/>
                <a:ext cx="541020" cy="533400"/>
              </a:xfrm>
              <a:prstGeom prst="roundRect">
                <a:avLst>
                  <a:gd name="adj" fmla="val 50000"/>
                </a:avLst>
              </a:prstGeom>
              <a:solidFill>
                <a:schemeClr val="accent4"/>
              </a:solidFill>
              <a:ln w="25400">
                <a:gradFill>
                  <a:gsLst>
                    <a:gs pos="0">
                      <a:schemeClr val="bg1"/>
                    </a:gs>
                    <a:gs pos="100000">
                      <a:schemeClr val="bg1">
                        <a:lumMod val="85000"/>
                      </a:schemeClr>
                    </a:gs>
                  </a:gsLst>
                  <a:lin ang="5400000" scaled="1"/>
                </a:gra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r>
                  <a:rPr lang="en-US" altLang="zh-CN" sz="1600" b="1" dirty="0">
                    <a:latin typeface="Arial" panose="020B0604020202020204" pitchFamily="34" charset="0"/>
                    <a:ea typeface="微软雅黑" panose="020B0503020204020204" pitchFamily="34" charset="-122"/>
                    <a:cs typeface="+mn-ea"/>
                  </a:rPr>
                  <a:t>8</a:t>
                </a:r>
                <a:endParaRPr lang="zh-CN" altLang="en-US" sz="1600" b="1" dirty="0">
                  <a:solidFill>
                    <a:schemeClr val="lt1"/>
                  </a:solidFill>
                  <a:latin typeface="Arial" panose="020B0604020202020204" pitchFamily="34" charset="0"/>
                  <a:ea typeface="微软雅黑" panose="020B0503020204020204" pitchFamily="34" charset="-122"/>
                  <a:cs typeface="+mn-ea"/>
                </a:endParaRPr>
              </a:p>
            </p:txBody>
          </p:sp>
          <p:grpSp>
            <p:nvGrpSpPr>
              <p:cNvPr id="188" name="组合 187">
                <a:extLst>
                  <a:ext uri="{FF2B5EF4-FFF2-40B4-BE49-F238E27FC236}">
                    <a16:creationId xmlns:a16="http://schemas.microsoft.com/office/drawing/2014/main" id="{53059F29-C05E-836B-5751-4620DFA60667}"/>
                  </a:ext>
                </a:extLst>
              </p:cNvPr>
              <p:cNvGrpSpPr/>
              <p:nvPr/>
            </p:nvGrpSpPr>
            <p:grpSpPr>
              <a:xfrm>
                <a:off x="2843694" y="4051282"/>
                <a:ext cx="4493065" cy="853547"/>
                <a:chOff x="2843694" y="4049726"/>
                <a:chExt cx="4493065" cy="853547"/>
              </a:xfrm>
            </p:grpSpPr>
            <p:sp>
              <p:nvSpPr>
                <p:cNvPr id="189" name="Title-4">
                  <a:extLst>
                    <a:ext uri="{FF2B5EF4-FFF2-40B4-BE49-F238E27FC236}">
                      <a16:creationId xmlns:a16="http://schemas.microsoft.com/office/drawing/2014/main" id="{ED0E559D-1B0B-C7B9-FEEB-4D8FE92F4082}"/>
                    </a:ext>
                  </a:extLst>
                </p:cNvPr>
                <p:cNvSpPr txBox="1"/>
                <p:nvPr>
                  <p:custDataLst>
                    <p:tags r:id="rId4"/>
                  </p:custDataLst>
                </p:nvPr>
              </p:nvSpPr>
              <p:spPr>
                <a:xfrm>
                  <a:off x="2938672" y="4049726"/>
                  <a:ext cx="4344944" cy="369332"/>
                </a:xfrm>
                <a:prstGeom prst="rect">
                  <a:avLst/>
                </a:prstGeom>
                <a:noFill/>
              </p:spPr>
              <p:txBody>
                <a:bodyPr wrap="square" rtlCol="0">
                  <a:noAutofit/>
                </a:bodyPr>
                <a:lstStyle/>
                <a:p>
                  <a:r>
                    <a:rPr lang="zh-CN" altLang="en-US" sz="1600" b="1" dirty="0">
                      <a:solidFill>
                        <a:schemeClr val="accent4"/>
                      </a:solidFill>
                      <a:latin typeface="Arial" panose="020B0604020202020204" pitchFamily="34" charset="0"/>
                      <a:ea typeface="微软雅黑" panose="020B0503020204020204" pitchFamily="34" charset="-122"/>
                    </a:rPr>
                    <a:t>寻源规则</a:t>
                  </a:r>
                </a:p>
              </p:txBody>
            </p:sp>
            <p:sp>
              <p:nvSpPr>
                <p:cNvPr id="190" name="Body-4">
                  <a:extLst>
                    <a:ext uri="{FF2B5EF4-FFF2-40B4-BE49-F238E27FC236}">
                      <a16:creationId xmlns:a16="http://schemas.microsoft.com/office/drawing/2014/main" id="{344C92FC-A52B-883D-6C44-540A36D421EF}"/>
                    </a:ext>
                  </a:extLst>
                </p:cNvPr>
                <p:cNvSpPr>
                  <a:spLocks/>
                </p:cNvSpPr>
                <p:nvPr>
                  <p:custDataLst>
                    <p:tags r:id="rId5"/>
                  </p:custDataLst>
                </p:nvPr>
              </p:nvSpPr>
              <p:spPr>
                <a:xfrm>
                  <a:off x="2843694" y="4125898"/>
                  <a:ext cx="4493065" cy="7773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30000"/>
                    </a:lnSpc>
                    <a:buSzPct val="100000"/>
                    <a:buFont typeface="Arial" panose="020B0604020202020204" pitchFamily="34" charset="0"/>
                    <a:buChar char="•"/>
                  </a:pPr>
                  <a:r>
                    <a:rPr lang="en-US" altLang="zh-CN" sz="1200" dirty="0" err="1">
                      <a:solidFill>
                        <a:schemeClr val="tx2">
                          <a:lumMod val="75000"/>
                          <a:lumOff val="25000"/>
                        </a:schemeClr>
                      </a:solidFill>
                      <a:latin typeface="Arial" panose="020B0604020202020204" pitchFamily="34" charset="0"/>
                      <a:ea typeface="微软雅黑" panose="020B0503020204020204" pitchFamily="34" charset="-122"/>
                    </a:rPr>
                    <a:t>on_going</a:t>
                  </a:r>
                  <a:r>
                    <a:rPr lang="en-US" altLang="zh-CN" sz="1200" dirty="0">
                      <a:solidFill>
                        <a:schemeClr val="tx2">
                          <a:lumMod val="75000"/>
                          <a:lumOff val="25000"/>
                        </a:schemeClr>
                      </a:solidFill>
                      <a:latin typeface="Arial" panose="020B0604020202020204" pitchFamily="34" charset="0"/>
                      <a:ea typeface="微软雅黑" panose="020B0503020204020204" pitchFamily="34" charset="-122"/>
                    </a:rPr>
                    <a:t> - </a:t>
                  </a:r>
                  <a:r>
                    <a:rPr lang="zh-CN" altLang="en-US" sz="1200" dirty="0">
                      <a:solidFill>
                        <a:schemeClr val="tx2">
                          <a:lumMod val="75000"/>
                          <a:lumOff val="25000"/>
                        </a:schemeClr>
                      </a:solidFill>
                      <a:latin typeface="Arial" panose="020B0604020202020204" pitchFamily="34" charset="0"/>
                      <a:ea typeface="微软雅黑" panose="020B0503020204020204" pitchFamily="34" charset="-122"/>
                    </a:rPr>
                    <a:t>（动态平衡分配），适合灵活调整场景</a:t>
                  </a:r>
                </a:p>
                <a:p>
                  <a:pPr marL="285750" indent="-285750" defTabSz="913765">
                    <a:lnSpc>
                      <a:spcPct val="130000"/>
                    </a:lnSpc>
                    <a:buSzPct val="100000"/>
                    <a:buFont typeface="Arial" panose="020B0604020202020204" pitchFamily="34" charset="0"/>
                    <a:buChar char="•"/>
                  </a:pPr>
                  <a:r>
                    <a:rPr lang="en-US" altLang="zh-CN" sz="1200" dirty="0" err="1">
                      <a:solidFill>
                        <a:schemeClr val="tx2">
                          <a:lumMod val="75000"/>
                          <a:lumOff val="25000"/>
                        </a:schemeClr>
                      </a:solidFill>
                      <a:latin typeface="Arial" panose="020B0604020202020204" pitchFamily="34" charset="0"/>
                      <a:ea typeface="微软雅黑" panose="020B0503020204020204" pitchFamily="34" charset="-122"/>
                    </a:rPr>
                    <a:t>to_date</a:t>
                  </a:r>
                  <a:r>
                    <a:rPr lang="en-US" altLang="zh-CN" sz="1200" dirty="0">
                      <a:solidFill>
                        <a:schemeClr val="tx2">
                          <a:lumMod val="75000"/>
                          <a:lumOff val="25000"/>
                        </a:schemeClr>
                      </a:solidFill>
                      <a:latin typeface="Arial" panose="020B0604020202020204" pitchFamily="34" charset="0"/>
                      <a:ea typeface="微软雅黑" panose="020B0503020204020204" pitchFamily="34" charset="-122"/>
                    </a:rPr>
                    <a:t> -</a:t>
                  </a:r>
                  <a:r>
                    <a:rPr lang="zh-CN" altLang="en-US" sz="1200" dirty="0">
                      <a:solidFill>
                        <a:schemeClr val="tx2">
                          <a:lumMod val="75000"/>
                          <a:lumOff val="25000"/>
                        </a:schemeClr>
                      </a:solidFill>
                      <a:latin typeface="Arial" panose="020B0604020202020204" pitchFamily="34" charset="0"/>
                      <a:ea typeface="微软雅黑" panose="020B0503020204020204" pitchFamily="34" charset="-122"/>
                    </a:rPr>
                    <a:t>历史配额分配），优先维持历史分配比例，适合长期稳定的供应商合作关系</a:t>
                  </a:r>
                </a:p>
                <a:p>
                  <a:pPr marL="285750" indent="-285750" defTabSz="913765">
                    <a:lnSpc>
                      <a:spcPct val="130000"/>
                    </a:lnSpc>
                    <a:buSzPct val="100000"/>
                    <a:buFont typeface="Arial" panose="020B0604020202020204" pitchFamily="34" charset="0"/>
                    <a:buChar char="•"/>
                  </a:pPr>
                  <a:r>
                    <a:rPr lang="en-US" altLang="zh-CN" sz="1200" dirty="0">
                      <a:solidFill>
                        <a:schemeClr val="tx2">
                          <a:lumMod val="75000"/>
                          <a:lumOff val="25000"/>
                        </a:schemeClr>
                      </a:solidFill>
                      <a:latin typeface="Arial" panose="020B0604020202020204" pitchFamily="34" charset="0"/>
                      <a:ea typeface="微软雅黑" panose="020B0503020204020204" pitchFamily="34" charset="-122"/>
                    </a:rPr>
                    <a:t>proportional - </a:t>
                  </a:r>
                  <a:r>
                    <a:rPr lang="zh-CN" altLang="en-US" sz="1200" dirty="0">
                      <a:solidFill>
                        <a:schemeClr val="tx2">
                          <a:lumMod val="75000"/>
                          <a:lumOff val="25000"/>
                        </a:schemeClr>
                      </a:solidFill>
                      <a:latin typeface="Arial" panose="020B0604020202020204" pitchFamily="34" charset="0"/>
                      <a:ea typeface="微软雅黑" panose="020B0503020204020204" pitchFamily="34" charset="-122"/>
                    </a:rPr>
                    <a:t>每个计划需求将根据各有效部件来源的目标值比例拆分成多个子需求</a:t>
                  </a:r>
                </a:p>
                <a:p>
                  <a:pPr marL="285750" indent="-285750" defTabSz="913765">
                    <a:lnSpc>
                      <a:spcPct val="130000"/>
                    </a:lnSpc>
                    <a:buSzPct val="100000"/>
                    <a:buFont typeface="Arial" panose="020B0604020202020204" pitchFamily="34" charset="0"/>
                    <a:buChar char="•"/>
                  </a:pPr>
                  <a:r>
                    <a:rPr lang="en-US" altLang="zh-CN" sz="1200" dirty="0" err="1">
                      <a:solidFill>
                        <a:schemeClr val="tx2">
                          <a:lumMod val="75000"/>
                          <a:lumOff val="25000"/>
                        </a:schemeClr>
                      </a:solidFill>
                      <a:latin typeface="Arial" panose="020B0604020202020204" pitchFamily="34" charset="0"/>
                      <a:ea typeface="微软雅黑" panose="020B0503020204020204" pitchFamily="34" charset="-122"/>
                    </a:rPr>
                    <a:t>pro_lot_size</a:t>
                  </a:r>
                  <a:r>
                    <a:rPr lang="en-US" altLang="zh-CN" sz="1200" dirty="0">
                      <a:solidFill>
                        <a:schemeClr val="tx2">
                          <a:lumMod val="75000"/>
                          <a:lumOff val="25000"/>
                        </a:schemeClr>
                      </a:solidFill>
                      <a:latin typeface="Arial" panose="020B0604020202020204" pitchFamily="34" charset="0"/>
                      <a:ea typeface="微软雅黑" panose="020B0503020204020204" pitchFamily="34" charset="-122"/>
                    </a:rPr>
                    <a:t> - </a:t>
                  </a:r>
                  <a:r>
                    <a:rPr lang="zh-CN" altLang="en-US" sz="1200" dirty="0">
                      <a:solidFill>
                        <a:schemeClr val="tx2">
                          <a:lumMod val="75000"/>
                          <a:lumOff val="25000"/>
                        </a:schemeClr>
                      </a:solidFill>
                      <a:latin typeface="Arial" panose="020B0604020202020204" pitchFamily="34" charset="0"/>
                      <a:ea typeface="微软雅黑" panose="020B0503020204020204" pitchFamily="34" charset="-122"/>
                    </a:rPr>
                    <a:t>动态调整比例：每次分配后重新计算剩余需求及比例，并应用批量规则（如最小起订量、订单倍数）</a:t>
                  </a:r>
                  <a:endParaRPr lang="en-GB" altLang="zh-CN" sz="1200" dirty="0">
                    <a:solidFill>
                      <a:schemeClr val="tx2">
                        <a:lumMod val="75000"/>
                        <a:lumOff val="25000"/>
                      </a:schemeClr>
                    </a:solidFill>
                    <a:latin typeface="Arial" panose="020B0604020202020204" pitchFamily="34" charset="0"/>
                    <a:ea typeface="微软雅黑" panose="020B0503020204020204" pitchFamily="34" charset="-122"/>
                  </a:endParaRPr>
                </a:p>
              </p:txBody>
            </p:sp>
          </p:grpSp>
        </p:grpSp>
      </p:grpSp>
    </p:spTree>
    <p:extLst>
      <p:ext uri="{BB962C8B-B14F-4D97-AF65-F5344CB8AC3E}">
        <p14:creationId xmlns:p14="http://schemas.microsoft.com/office/powerpoint/2010/main" val="4029736806"/>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732B1EFC-D4DB-7522-CA38-846EDC703844}"/>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切换 </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硬切</a:t>
            </a:r>
          </a:p>
        </p:txBody>
      </p:sp>
      <p:grpSp>
        <p:nvGrpSpPr>
          <p:cNvPr id="40" name="组合 39">
            <a:extLst>
              <a:ext uri="{FF2B5EF4-FFF2-40B4-BE49-F238E27FC236}">
                <a16:creationId xmlns:a16="http://schemas.microsoft.com/office/drawing/2014/main" id="{609E85FE-7AA6-DD60-765C-532C95C042AF}"/>
              </a:ext>
            </a:extLst>
          </p:cNvPr>
          <p:cNvGrpSpPr>
            <a:grpSpLocks noChangeAspect="1"/>
          </p:cNvGrpSpPr>
          <p:nvPr>
            <p:custDataLst>
              <p:tags r:id="rId1"/>
            </p:custDataLst>
          </p:nvPr>
        </p:nvGrpSpPr>
        <p:grpSpPr>
          <a:xfrm>
            <a:off x="3019831" y="1151019"/>
            <a:ext cx="5366861" cy="1450082"/>
            <a:chOff x="675644" y="1047414"/>
            <a:chExt cx="1859110" cy="2434784"/>
          </a:xfrm>
        </p:grpSpPr>
        <p:sp>
          <p:nvSpPr>
            <p:cNvPr id="51" name="Title-2">
              <a:extLst>
                <a:ext uri="{FF2B5EF4-FFF2-40B4-BE49-F238E27FC236}">
                  <a16:creationId xmlns:a16="http://schemas.microsoft.com/office/drawing/2014/main" id="{3194EBAB-B40C-D226-8947-AAEA632829D7}"/>
                </a:ext>
              </a:extLst>
            </p:cNvPr>
            <p:cNvSpPr/>
            <p:nvPr>
              <p:custDataLst>
                <p:tags r:id="rId2"/>
              </p:custDataLst>
            </p:nvPr>
          </p:nvSpPr>
          <p:spPr>
            <a:xfrm>
              <a:off x="675644" y="1909613"/>
              <a:ext cx="1859108" cy="774187"/>
            </a:xfrm>
            <a:prstGeom prst="rect">
              <a:avLst/>
            </a:prstGeom>
            <a:solidFill>
              <a:schemeClr val="accent2"/>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defTabSz="913765"/>
              <a:r>
                <a:rPr lang="en-US" altLang="zh-CN" sz="1400" b="1" dirty="0">
                  <a:solidFill>
                    <a:srgbClr val="FFFFFF"/>
                  </a:solidFill>
                  <a:latin typeface="Arial" panose="020B0604020202020204" pitchFamily="34" charset="0"/>
                  <a:ea typeface="微软雅黑" panose="020B0503020204020204" pitchFamily="34" charset="-122"/>
                </a:rPr>
                <a:t>P1</a:t>
              </a:r>
              <a:r>
                <a:rPr lang="zh-CN" altLang="en-US" sz="1400" b="1" dirty="0">
                  <a:solidFill>
                    <a:srgbClr val="FFFFFF"/>
                  </a:solidFill>
                  <a:latin typeface="Arial" panose="020B0604020202020204" pitchFamily="34" charset="0"/>
                  <a:ea typeface="微软雅黑" panose="020B0503020204020204" pitchFamily="34" charset="-122"/>
                </a:rPr>
                <a:t>的供应将不再可用。</a:t>
              </a:r>
            </a:p>
          </p:txBody>
        </p:sp>
        <p:sp>
          <p:nvSpPr>
            <p:cNvPr id="48" name="Title-1">
              <a:extLst>
                <a:ext uri="{FF2B5EF4-FFF2-40B4-BE49-F238E27FC236}">
                  <a16:creationId xmlns:a16="http://schemas.microsoft.com/office/drawing/2014/main" id="{0D559F2A-F0EF-C383-909D-62F47459F0E0}"/>
                </a:ext>
              </a:extLst>
            </p:cNvPr>
            <p:cNvSpPr/>
            <p:nvPr>
              <p:custDataLst>
                <p:tags r:id="rId3"/>
              </p:custDataLst>
            </p:nvPr>
          </p:nvSpPr>
          <p:spPr>
            <a:xfrm>
              <a:off x="675644" y="1047414"/>
              <a:ext cx="1859110" cy="774187"/>
            </a:xfrm>
            <a:prstGeom prst="rect">
              <a:avLst/>
            </a:prstGeom>
            <a:solidFill>
              <a:schemeClr val="accent1"/>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fontScale="70000" lnSpcReduction="20000"/>
            </a:bodyPr>
            <a:lstStyle/>
            <a:p>
              <a:pPr defTabSz="913765"/>
              <a:r>
                <a:rPr lang="en-US" altLang="zh-CN" sz="2000" b="1" dirty="0">
                  <a:solidFill>
                    <a:srgbClr val="FFFFFF"/>
                  </a:solidFill>
                  <a:latin typeface="Arial" panose="020B0604020202020204" pitchFamily="34" charset="0"/>
                  <a:ea typeface="微软雅黑" panose="020B0503020204020204" pitchFamily="34" charset="-122"/>
                </a:rPr>
                <a:t>P1</a:t>
              </a:r>
              <a:r>
                <a:rPr lang="zh-CN" altLang="en-US" sz="2000" b="1" dirty="0">
                  <a:solidFill>
                    <a:srgbClr val="FFFFFF"/>
                  </a:solidFill>
                  <a:latin typeface="Arial" panose="020B0604020202020204" pitchFamily="34" charset="0"/>
                  <a:ea typeface="微软雅黑" panose="020B0503020204020204" pitchFamily="34" charset="-122"/>
                </a:rPr>
                <a:t>关联</a:t>
              </a:r>
              <a:r>
                <a:rPr lang="en-US" altLang="zh-CN" sz="2000" b="1" dirty="0">
                  <a:solidFill>
                    <a:srgbClr val="FFFFFF"/>
                  </a:solidFill>
                  <a:latin typeface="Arial" panose="020B0604020202020204" pitchFamily="34" charset="0"/>
                  <a:ea typeface="微软雅黑" panose="020B0503020204020204" pitchFamily="34" charset="-122"/>
                </a:rPr>
                <a:t>ECN</a:t>
              </a:r>
              <a:r>
                <a:rPr lang="zh-CN" altLang="en-US" sz="2000" b="1" dirty="0">
                  <a:solidFill>
                    <a:srgbClr val="FFFFFF"/>
                  </a:solidFill>
                  <a:latin typeface="Arial" panose="020B0604020202020204" pitchFamily="34" charset="0"/>
                  <a:ea typeface="微软雅黑" panose="020B0503020204020204" pitchFamily="34" charset="-122"/>
                </a:rPr>
                <a:t>改成</a:t>
              </a:r>
              <a:r>
                <a:rPr lang="en-US" altLang="zh-CN" sz="2000" b="1" dirty="0">
                  <a:solidFill>
                    <a:srgbClr val="FFFFFF"/>
                  </a:solidFill>
                  <a:latin typeface="Arial" panose="020B0604020202020204" pitchFamily="34" charset="0"/>
                  <a:ea typeface="微软雅黑" panose="020B0503020204020204" pitchFamily="34" charset="-122"/>
                </a:rPr>
                <a:t>P2, ECN Date</a:t>
              </a:r>
              <a:r>
                <a:rPr lang="zh-CN" altLang="en-US" sz="2000" b="1" dirty="0">
                  <a:solidFill>
                    <a:srgbClr val="FFFFFF"/>
                  </a:solidFill>
                  <a:latin typeface="Arial" panose="020B0604020202020204" pitchFamily="34" charset="0"/>
                  <a:ea typeface="微软雅黑" panose="020B0503020204020204" pitchFamily="34" charset="-122"/>
                </a:rPr>
                <a:t>之后</a:t>
              </a:r>
              <a:r>
                <a:rPr lang="en-US" altLang="zh-CN" sz="2000" b="1" dirty="0">
                  <a:solidFill>
                    <a:srgbClr val="FFFFFF"/>
                  </a:solidFill>
                  <a:latin typeface="Arial" panose="020B0604020202020204" pitchFamily="34" charset="0"/>
                  <a:ea typeface="微软雅黑" panose="020B0503020204020204" pitchFamily="34" charset="-122"/>
                </a:rPr>
                <a:t>P1</a:t>
              </a:r>
              <a:r>
                <a:rPr lang="zh-CN" altLang="en-US" sz="2000" b="1" dirty="0">
                  <a:solidFill>
                    <a:srgbClr val="FFFFFF"/>
                  </a:solidFill>
                  <a:latin typeface="Arial" panose="020B0604020202020204" pitchFamily="34" charset="0"/>
                  <a:ea typeface="微软雅黑" panose="020B0503020204020204" pitchFamily="34" charset="-122"/>
                </a:rPr>
                <a:t>不会在其对应产品中出现。</a:t>
              </a:r>
            </a:p>
          </p:txBody>
        </p:sp>
        <p:sp>
          <p:nvSpPr>
            <p:cNvPr id="45" name="Title-3">
              <a:extLst>
                <a:ext uri="{FF2B5EF4-FFF2-40B4-BE49-F238E27FC236}">
                  <a16:creationId xmlns:a16="http://schemas.microsoft.com/office/drawing/2014/main" id="{1899C837-BE03-C71B-D819-00111800EAD0}"/>
                </a:ext>
              </a:extLst>
            </p:cNvPr>
            <p:cNvSpPr/>
            <p:nvPr>
              <p:custDataLst>
                <p:tags r:id="rId4"/>
              </p:custDataLst>
            </p:nvPr>
          </p:nvSpPr>
          <p:spPr>
            <a:xfrm>
              <a:off x="675645" y="2708011"/>
              <a:ext cx="1859107" cy="774187"/>
            </a:xfrm>
            <a:prstGeom prst="rect">
              <a:avLst/>
            </a:prstGeom>
            <a:solidFill>
              <a:schemeClr val="accent3"/>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defTabSz="913765"/>
              <a:r>
                <a:rPr lang="zh-CN" altLang="en-US" sz="1400" b="1" dirty="0">
                  <a:solidFill>
                    <a:srgbClr val="FFFFFF"/>
                  </a:solidFill>
                  <a:latin typeface="Arial" panose="020B0604020202020204" pitchFamily="34" charset="0"/>
                  <a:ea typeface="微软雅黑" panose="020B0503020204020204" pitchFamily="34" charset="-122"/>
                </a:rPr>
                <a:t>只能应用</a:t>
              </a:r>
              <a:r>
                <a:rPr lang="en-US" altLang="zh-CN" sz="1400" b="1" dirty="0">
                  <a:solidFill>
                    <a:srgbClr val="FFFFFF"/>
                  </a:solidFill>
                  <a:latin typeface="Arial" panose="020B0604020202020204" pitchFamily="34" charset="0"/>
                  <a:ea typeface="微软雅黑" panose="020B0503020204020204" pitchFamily="34" charset="-122"/>
                </a:rPr>
                <a:t>P2</a:t>
              </a:r>
              <a:r>
                <a:rPr lang="zh-CN" altLang="en-US" sz="1400" b="1" dirty="0">
                  <a:solidFill>
                    <a:srgbClr val="FFFFFF"/>
                  </a:solidFill>
                  <a:latin typeface="Arial" panose="020B0604020202020204" pitchFamily="34" charset="0"/>
                  <a:ea typeface="微软雅黑" panose="020B0503020204020204" pitchFamily="34" charset="-122"/>
                </a:rPr>
                <a:t>并对其产生新的需求。</a:t>
              </a:r>
              <a:endParaRPr lang="en-US" altLang="zh-CN" sz="1400" b="1" dirty="0">
                <a:solidFill>
                  <a:srgbClr val="FFFFFF"/>
                </a:solidFill>
                <a:latin typeface="Arial" panose="020B0604020202020204" pitchFamily="34" charset="0"/>
                <a:ea typeface="微软雅黑" panose="020B0503020204020204" pitchFamily="34" charset="-122"/>
              </a:endParaRPr>
            </a:p>
          </p:txBody>
        </p:sp>
      </p:grpSp>
      <p:sp>
        <p:nvSpPr>
          <p:cNvPr id="53" name="立方体 52">
            <a:extLst>
              <a:ext uri="{FF2B5EF4-FFF2-40B4-BE49-F238E27FC236}">
                <a16:creationId xmlns:a16="http://schemas.microsoft.com/office/drawing/2014/main" id="{D402DF62-DB12-7964-DFB3-EA6C44FD958F}"/>
              </a:ext>
            </a:extLst>
          </p:cNvPr>
          <p:cNvSpPr/>
          <p:nvPr/>
        </p:nvSpPr>
        <p:spPr>
          <a:xfrm>
            <a:off x="920389" y="1166129"/>
            <a:ext cx="1040215" cy="354175"/>
          </a:xfrm>
          <a:prstGeom prst="cube">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zh-CN" altLang="en-US" sz="1200" b="1" dirty="0">
                <a:latin typeface="Arial" panose="020B0604020202020204" pitchFamily="34" charset="0"/>
                <a:ea typeface="微软雅黑" panose="020B0503020204020204" pitchFamily="34" charset="-122"/>
              </a:rPr>
              <a:t>可用供应</a:t>
            </a:r>
          </a:p>
        </p:txBody>
      </p:sp>
      <p:sp>
        <p:nvSpPr>
          <p:cNvPr id="54" name="立方体 53">
            <a:extLst>
              <a:ext uri="{FF2B5EF4-FFF2-40B4-BE49-F238E27FC236}">
                <a16:creationId xmlns:a16="http://schemas.microsoft.com/office/drawing/2014/main" id="{F0F9DA1B-078E-602E-D89B-D5960576C6E3}"/>
              </a:ext>
            </a:extLst>
          </p:cNvPr>
          <p:cNvSpPr/>
          <p:nvPr/>
        </p:nvSpPr>
        <p:spPr>
          <a:xfrm>
            <a:off x="920389" y="1684446"/>
            <a:ext cx="1043569" cy="354175"/>
          </a:xfrm>
          <a:prstGeom prst="cube">
            <a:avLst/>
          </a:prstGeom>
          <a:solidFill>
            <a:schemeClr val="bg2"/>
          </a:solidFill>
          <a:ln>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a:r>
              <a:rPr lang="zh-CN" altLang="en-US" sz="1200" b="1" dirty="0">
                <a:latin typeface="Arial" panose="020B0604020202020204" pitchFamily="34" charset="0"/>
                <a:ea typeface="微软雅黑" panose="020B0503020204020204" pitchFamily="34" charset="-122"/>
              </a:rPr>
              <a:t>不可用供应</a:t>
            </a:r>
          </a:p>
        </p:txBody>
      </p:sp>
      <p:sp>
        <p:nvSpPr>
          <p:cNvPr id="55" name="立方体 54">
            <a:extLst>
              <a:ext uri="{FF2B5EF4-FFF2-40B4-BE49-F238E27FC236}">
                <a16:creationId xmlns:a16="http://schemas.microsoft.com/office/drawing/2014/main" id="{CC28049F-0A36-871D-1ED7-87732FAAFCA0}"/>
              </a:ext>
            </a:extLst>
          </p:cNvPr>
          <p:cNvSpPr/>
          <p:nvPr/>
        </p:nvSpPr>
        <p:spPr>
          <a:xfrm>
            <a:off x="920388" y="2313679"/>
            <a:ext cx="1040215" cy="354175"/>
          </a:xfrm>
          <a:prstGeom prst="cube">
            <a:avLst/>
          </a:prstGeom>
          <a:solidFill>
            <a:srgbClr val="00B050"/>
          </a:solidFill>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zh-CN" altLang="en-US" sz="1200" b="1" dirty="0">
                <a:latin typeface="Arial" panose="020B0604020202020204" pitchFamily="34" charset="0"/>
                <a:ea typeface="微软雅黑" panose="020B0503020204020204" pitchFamily="34" charset="-122"/>
              </a:rPr>
              <a:t>计划供应</a:t>
            </a:r>
          </a:p>
        </p:txBody>
      </p:sp>
      <p:grpSp>
        <p:nvGrpSpPr>
          <p:cNvPr id="57" name="组合 56">
            <a:extLst>
              <a:ext uri="{FF2B5EF4-FFF2-40B4-BE49-F238E27FC236}">
                <a16:creationId xmlns:a16="http://schemas.microsoft.com/office/drawing/2014/main" id="{80328468-D949-80AA-AC8D-A13DB9E6F6C7}"/>
              </a:ext>
            </a:extLst>
          </p:cNvPr>
          <p:cNvGrpSpPr/>
          <p:nvPr/>
        </p:nvGrpSpPr>
        <p:grpSpPr>
          <a:xfrm>
            <a:off x="699655" y="3078832"/>
            <a:ext cx="10714759" cy="3529786"/>
            <a:chOff x="1626528" y="3696118"/>
            <a:chExt cx="8938944" cy="2519061"/>
          </a:xfrm>
        </p:grpSpPr>
        <p:grpSp>
          <p:nvGrpSpPr>
            <p:cNvPr id="4" name="组合 3">
              <a:extLst>
                <a:ext uri="{FF2B5EF4-FFF2-40B4-BE49-F238E27FC236}">
                  <a16:creationId xmlns:a16="http://schemas.microsoft.com/office/drawing/2014/main" id="{AF045A63-BBE5-E090-727F-CE1572208D7F}"/>
                </a:ext>
              </a:extLst>
            </p:cNvPr>
            <p:cNvGrpSpPr/>
            <p:nvPr/>
          </p:nvGrpSpPr>
          <p:grpSpPr>
            <a:xfrm>
              <a:off x="1626528" y="3696118"/>
              <a:ext cx="8720489" cy="2336129"/>
              <a:chOff x="-16195" y="2016994"/>
              <a:chExt cx="10879525" cy="3310774"/>
            </a:xfrm>
          </p:grpSpPr>
          <p:grpSp>
            <p:nvGrpSpPr>
              <p:cNvPr id="5" name="组合 4">
                <a:extLst>
                  <a:ext uri="{FF2B5EF4-FFF2-40B4-BE49-F238E27FC236}">
                    <a16:creationId xmlns:a16="http://schemas.microsoft.com/office/drawing/2014/main" id="{3A0C890C-BCC3-3E7F-4FBA-B1C91EA87262}"/>
                  </a:ext>
                </a:extLst>
              </p:cNvPr>
              <p:cNvGrpSpPr/>
              <p:nvPr/>
            </p:nvGrpSpPr>
            <p:grpSpPr>
              <a:xfrm>
                <a:off x="1487510" y="2016994"/>
                <a:ext cx="9375820" cy="3310774"/>
                <a:chOff x="1487510" y="2016994"/>
                <a:chExt cx="9375820" cy="3310774"/>
              </a:xfrm>
            </p:grpSpPr>
            <p:cxnSp>
              <p:nvCxnSpPr>
                <p:cNvPr id="10" name="直接连接符 9">
                  <a:extLst>
                    <a:ext uri="{FF2B5EF4-FFF2-40B4-BE49-F238E27FC236}">
                      <a16:creationId xmlns:a16="http://schemas.microsoft.com/office/drawing/2014/main" id="{0B386237-E846-E1CD-BF72-0794EB2EB9CD}"/>
                    </a:ext>
                  </a:extLst>
                </p:cNvPr>
                <p:cNvCxnSpPr/>
                <p:nvPr/>
              </p:nvCxnSpPr>
              <p:spPr>
                <a:xfrm>
                  <a:off x="1500389" y="3844343"/>
                  <a:ext cx="9362941"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1" name="直接连接符 10">
                  <a:extLst>
                    <a:ext uri="{FF2B5EF4-FFF2-40B4-BE49-F238E27FC236}">
                      <a16:creationId xmlns:a16="http://schemas.microsoft.com/office/drawing/2014/main" id="{9DF8D64A-C18A-5D8E-A5C5-F103E25FE9A6}"/>
                    </a:ext>
                  </a:extLst>
                </p:cNvPr>
                <p:cNvCxnSpPr>
                  <a:cxnSpLocks/>
                </p:cNvCxnSpPr>
                <p:nvPr/>
              </p:nvCxnSpPr>
              <p:spPr>
                <a:xfrm>
                  <a:off x="1487510" y="2016994"/>
                  <a:ext cx="0" cy="3310774"/>
                </a:xfrm>
                <a:prstGeom prst="line">
                  <a:avLst/>
                </a:prstGeom>
              </p:spPr>
              <p:style>
                <a:lnRef idx="2">
                  <a:schemeClr val="accent1"/>
                </a:lnRef>
                <a:fillRef idx="0">
                  <a:schemeClr val="accent1"/>
                </a:fillRef>
                <a:effectRef idx="1">
                  <a:schemeClr val="accent1"/>
                </a:effectRef>
                <a:fontRef idx="minor">
                  <a:schemeClr val="tx1"/>
                </a:fontRef>
              </p:style>
            </p:cxnSp>
          </p:grpSp>
          <p:sp>
            <p:nvSpPr>
              <p:cNvPr id="6" name="文本框 5">
                <a:extLst>
                  <a:ext uri="{FF2B5EF4-FFF2-40B4-BE49-F238E27FC236}">
                    <a16:creationId xmlns:a16="http://schemas.microsoft.com/office/drawing/2014/main" id="{6DC64A65-5776-CC39-6532-41A60FC0CE81}"/>
                  </a:ext>
                </a:extLst>
              </p:cNvPr>
              <p:cNvSpPr txBox="1"/>
              <p:nvPr/>
            </p:nvSpPr>
            <p:spPr>
              <a:xfrm>
                <a:off x="-16195" y="2382592"/>
                <a:ext cx="1510145" cy="342414"/>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Demand</a:t>
                </a:r>
                <a:endParaRPr lang="zh-CN" altLang="en-US" sz="1600" b="1" dirty="0">
                  <a:latin typeface="Arial" panose="020B0604020202020204" pitchFamily="34" charset="0"/>
                  <a:ea typeface="微软雅黑" panose="020B0503020204020204" pitchFamily="34" charset="-122"/>
                </a:endParaRPr>
              </a:p>
            </p:txBody>
          </p:sp>
          <p:sp>
            <p:nvSpPr>
              <p:cNvPr id="7" name="文本框 6">
                <a:extLst>
                  <a:ext uri="{FF2B5EF4-FFF2-40B4-BE49-F238E27FC236}">
                    <a16:creationId xmlns:a16="http://schemas.microsoft.com/office/drawing/2014/main" id="{20BBA6C3-8B20-3B6A-F6E5-21D9F0BABF84}"/>
                  </a:ext>
                </a:extLst>
              </p:cNvPr>
              <p:cNvSpPr txBox="1"/>
              <p:nvPr/>
            </p:nvSpPr>
            <p:spPr>
              <a:xfrm>
                <a:off x="43824" y="4604394"/>
                <a:ext cx="1152660" cy="342414"/>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Supply</a:t>
                </a:r>
                <a:endParaRPr lang="zh-CN" altLang="en-US" sz="1600" b="1" dirty="0">
                  <a:latin typeface="Arial" panose="020B0604020202020204" pitchFamily="34" charset="0"/>
                  <a:ea typeface="微软雅黑" panose="020B0503020204020204" pitchFamily="34" charset="-122"/>
                </a:endParaRPr>
              </a:p>
            </p:txBody>
          </p:sp>
          <p:cxnSp>
            <p:nvCxnSpPr>
              <p:cNvPr id="8" name="直接连接符 7">
                <a:extLst>
                  <a:ext uri="{FF2B5EF4-FFF2-40B4-BE49-F238E27FC236}">
                    <a16:creationId xmlns:a16="http://schemas.microsoft.com/office/drawing/2014/main" id="{E3E1D95F-0227-AF79-51B7-A919632AC908}"/>
                  </a:ext>
                </a:extLst>
              </p:cNvPr>
              <p:cNvCxnSpPr/>
              <p:nvPr/>
            </p:nvCxnSpPr>
            <p:spPr>
              <a:xfrm>
                <a:off x="5995115" y="3161763"/>
                <a:ext cx="0" cy="1339403"/>
              </a:xfrm>
              <a:prstGeom prst="line">
                <a:avLst/>
              </a:prstGeom>
            </p:spPr>
            <p:style>
              <a:lnRef idx="2">
                <a:schemeClr val="accent1"/>
              </a:lnRef>
              <a:fillRef idx="0">
                <a:schemeClr val="accent1"/>
              </a:fillRef>
              <a:effectRef idx="1">
                <a:schemeClr val="accent1"/>
              </a:effectRef>
              <a:fontRef idx="minor">
                <a:schemeClr val="tx1"/>
              </a:fontRef>
            </p:style>
          </p:cxnSp>
          <p:sp>
            <p:nvSpPr>
              <p:cNvPr id="9" name="文本框 8">
                <a:extLst>
                  <a:ext uri="{FF2B5EF4-FFF2-40B4-BE49-F238E27FC236}">
                    <a16:creationId xmlns:a16="http://schemas.microsoft.com/office/drawing/2014/main" id="{CF9567A8-EC99-F3A0-6D93-C5B991BC744D}"/>
                  </a:ext>
                </a:extLst>
              </p:cNvPr>
              <p:cNvSpPr txBox="1"/>
              <p:nvPr/>
            </p:nvSpPr>
            <p:spPr>
              <a:xfrm>
                <a:off x="5263601" y="4562560"/>
                <a:ext cx="1675327" cy="311286"/>
              </a:xfrm>
              <a:prstGeom prst="rect">
                <a:avLst/>
              </a:prstGeom>
              <a:noFill/>
            </p:spPr>
            <p:txBody>
              <a:bodyPr wrap="square" rtlCol="0">
                <a:spAutoFit/>
              </a:bodyPr>
              <a:lstStyle/>
              <a:p>
                <a:r>
                  <a:rPr lang="en-US" altLang="zh-CN" sz="1400" i="1" dirty="0">
                    <a:latin typeface="Arial" panose="020B0604020202020204" pitchFamily="34" charset="0"/>
                    <a:ea typeface="微软雅黑" panose="020B0503020204020204" pitchFamily="34" charset="-122"/>
                  </a:rPr>
                  <a:t>ECN Date</a:t>
                </a:r>
              </a:p>
            </p:txBody>
          </p:sp>
        </p:grpSp>
        <p:sp>
          <p:nvSpPr>
            <p:cNvPr id="12" name="文本框 11">
              <a:extLst>
                <a:ext uri="{FF2B5EF4-FFF2-40B4-BE49-F238E27FC236}">
                  <a16:creationId xmlns:a16="http://schemas.microsoft.com/office/drawing/2014/main" id="{4B5DB63A-95E7-541C-E8DD-40B9242F6D28}"/>
                </a:ext>
              </a:extLst>
            </p:cNvPr>
            <p:cNvSpPr txBox="1"/>
            <p:nvPr/>
          </p:nvSpPr>
          <p:spPr>
            <a:xfrm>
              <a:off x="9641557" y="4462705"/>
              <a:ext cx="923915" cy="241612"/>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Time</a:t>
              </a:r>
              <a:endParaRPr lang="zh-CN" altLang="en-US" sz="1600" b="1" dirty="0">
                <a:latin typeface="Arial" panose="020B0604020202020204" pitchFamily="34" charset="0"/>
                <a:ea typeface="微软雅黑" panose="020B0503020204020204" pitchFamily="34" charset="-122"/>
              </a:endParaRPr>
            </a:p>
          </p:txBody>
        </p:sp>
        <p:grpSp>
          <p:nvGrpSpPr>
            <p:cNvPr id="13" name="组合 12">
              <a:extLst>
                <a:ext uri="{FF2B5EF4-FFF2-40B4-BE49-F238E27FC236}">
                  <a16:creationId xmlns:a16="http://schemas.microsoft.com/office/drawing/2014/main" id="{8DEC9FF3-8997-B9C0-4BC2-FBD54F1125DA}"/>
                </a:ext>
              </a:extLst>
            </p:cNvPr>
            <p:cNvGrpSpPr/>
            <p:nvPr/>
          </p:nvGrpSpPr>
          <p:grpSpPr>
            <a:xfrm>
              <a:off x="3578477" y="5248740"/>
              <a:ext cx="1674946" cy="362343"/>
              <a:chOff x="3696001" y="2719160"/>
              <a:chExt cx="1567554" cy="263520"/>
            </a:xfrm>
          </p:grpSpPr>
          <p:sp>
            <p:nvSpPr>
              <p:cNvPr id="14" name="立方体 13">
                <a:extLst>
                  <a:ext uri="{FF2B5EF4-FFF2-40B4-BE49-F238E27FC236}">
                    <a16:creationId xmlns:a16="http://schemas.microsoft.com/office/drawing/2014/main" id="{6680F9F1-695C-E916-57B1-A3E8705A9127}"/>
                  </a:ext>
                </a:extLst>
              </p:cNvPr>
              <p:cNvSpPr/>
              <p:nvPr/>
            </p:nvSpPr>
            <p:spPr>
              <a:xfrm>
                <a:off x="3696001" y="2725100"/>
                <a:ext cx="682485" cy="257580"/>
              </a:xfrm>
              <a:prstGeom prst="cube">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sp>
            <p:nvSpPr>
              <p:cNvPr id="15" name="立方体 14">
                <a:extLst>
                  <a:ext uri="{FF2B5EF4-FFF2-40B4-BE49-F238E27FC236}">
                    <a16:creationId xmlns:a16="http://schemas.microsoft.com/office/drawing/2014/main" id="{0C1E3F53-B720-333F-D6F2-517F39142BDD}"/>
                  </a:ext>
                </a:extLst>
              </p:cNvPr>
              <p:cNvSpPr/>
              <p:nvPr/>
            </p:nvSpPr>
            <p:spPr>
              <a:xfrm>
                <a:off x="4581070" y="2719160"/>
                <a:ext cx="682485" cy="257580"/>
              </a:xfrm>
              <a:prstGeom prst="cube">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grpSp>
        <p:grpSp>
          <p:nvGrpSpPr>
            <p:cNvPr id="18" name="组合 17">
              <a:extLst>
                <a:ext uri="{FF2B5EF4-FFF2-40B4-BE49-F238E27FC236}">
                  <a16:creationId xmlns:a16="http://schemas.microsoft.com/office/drawing/2014/main" id="{9EA46FED-411A-2C32-4E65-1EC1FA353AE3}"/>
                </a:ext>
              </a:extLst>
            </p:cNvPr>
            <p:cNvGrpSpPr/>
            <p:nvPr/>
          </p:nvGrpSpPr>
          <p:grpSpPr>
            <a:xfrm>
              <a:off x="7490263" y="5268671"/>
              <a:ext cx="1652021" cy="946508"/>
              <a:chOff x="6764962" y="3191459"/>
              <a:chExt cx="1631085" cy="962075"/>
            </a:xfrm>
          </p:grpSpPr>
          <p:sp>
            <p:nvSpPr>
              <p:cNvPr id="19" name="立方体 18">
                <a:extLst>
                  <a:ext uri="{FF2B5EF4-FFF2-40B4-BE49-F238E27FC236}">
                    <a16:creationId xmlns:a16="http://schemas.microsoft.com/office/drawing/2014/main" id="{10997A72-CEF6-7134-196B-B6FFB686CE4A}"/>
                  </a:ext>
                </a:extLst>
              </p:cNvPr>
              <p:cNvSpPr/>
              <p:nvPr/>
            </p:nvSpPr>
            <p:spPr>
              <a:xfrm>
                <a:off x="6764962" y="3197399"/>
                <a:ext cx="720000" cy="360000"/>
              </a:xfrm>
              <a:prstGeom prst="cube">
                <a:avLst/>
              </a:prstGeom>
              <a:ln>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P2</a:t>
                </a:r>
                <a:endParaRPr lang="zh-CN" altLang="en-US" sz="1200" b="1" dirty="0">
                  <a:latin typeface="Arial" panose="020B0604020202020204" pitchFamily="34" charset="0"/>
                  <a:ea typeface="微软雅黑" panose="020B0503020204020204" pitchFamily="34" charset="-122"/>
                </a:endParaRPr>
              </a:p>
            </p:txBody>
          </p:sp>
          <p:sp>
            <p:nvSpPr>
              <p:cNvPr id="20" name="立方体 19">
                <a:extLst>
                  <a:ext uri="{FF2B5EF4-FFF2-40B4-BE49-F238E27FC236}">
                    <a16:creationId xmlns:a16="http://schemas.microsoft.com/office/drawing/2014/main" id="{80A54785-7350-E75B-8EBC-94EF04CABEF7}"/>
                  </a:ext>
                </a:extLst>
              </p:cNvPr>
              <p:cNvSpPr/>
              <p:nvPr/>
            </p:nvSpPr>
            <p:spPr>
              <a:xfrm>
                <a:off x="7650031" y="3191459"/>
                <a:ext cx="720000" cy="360000"/>
              </a:xfrm>
              <a:prstGeom prst="cube">
                <a:avLst/>
              </a:prstGeom>
              <a:ln>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P2</a:t>
                </a:r>
                <a:endParaRPr lang="zh-CN" altLang="en-US" sz="1200" b="1" dirty="0">
                  <a:latin typeface="Arial" panose="020B0604020202020204" pitchFamily="34" charset="0"/>
                  <a:ea typeface="微软雅黑" panose="020B0503020204020204" pitchFamily="34" charset="-122"/>
                </a:endParaRPr>
              </a:p>
            </p:txBody>
          </p:sp>
          <p:sp>
            <p:nvSpPr>
              <p:cNvPr id="21" name="立方体 20">
                <a:extLst>
                  <a:ext uri="{FF2B5EF4-FFF2-40B4-BE49-F238E27FC236}">
                    <a16:creationId xmlns:a16="http://schemas.microsoft.com/office/drawing/2014/main" id="{4CEAEAF6-515C-693B-4172-BFEF8DA939AF}"/>
                  </a:ext>
                </a:extLst>
              </p:cNvPr>
              <p:cNvSpPr/>
              <p:nvPr/>
            </p:nvSpPr>
            <p:spPr>
              <a:xfrm>
                <a:off x="6777330" y="3793534"/>
                <a:ext cx="720000" cy="360000"/>
              </a:xfrm>
              <a:prstGeom prst="cube">
                <a:avLst/>
              </a:prstGeom>
              <a:solidFill>
                <a:schemeClr val="bg2"/>
              </a:solidFill>
              <a:ln>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sp>
            <p:nvSpPr>
              <p:cNvPr id="22" name="立方体 21">
                <a:extLst>
                  <a:ext uri="{FF2B5EF4-FFF2-40B4-BE49-F238E27FC236}">
                    <a16:creationId xmlns:a16="http://schemas.microsoft.com/office/drawing/2014/main" id="{59330654-887E-E933-60DD-59C4227196D1}"/>
                  </a:ext>
                </a:extLst>
              </p:cNvPr>
              <p:cNvSpPr/>
              <p:nvPr/>
            </p:nvSpPr>
            <p:spPr>
              <a:xfrm>
                <a:off x="7676047" y="3787594"/>
                <a:ext cx="720000" cy="360000"/>
              </a:xfrm>
              <a:prstGeom prst="cube">
                <a:avLst/>
              </a:prstGeom>
              <a:solidFill>
                <a:schemeClr val="bg2"/>
              </a:solidFill>
              <a:ln>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grpSp>
        <p:sp>
          <p:nvSpPr>
            <p:cNvPr id="56" name="立方体 55">
              <a:extLst>
                <a:ext uri="{FF2B5EF4-FFF2-40B4-BE49-F238E27FC236}">
                  <a16:creationId xmlns:a16="http://schemas.microsoft.com/office/drawing/2014/main" id="{19D32CDB-1AFB-D940-DE86-4A9383A92A9A}"/>
                </a:ext>
              </a:extLst>
            </p:cNvPr>
            <p:cNvSpPr/>
            <p:nvPr/>
          </p:nvSpPr>
          <p:spPr>
            <a:xfrm>
              <a:off x="9289877" y="5248737"/>
              <a:ext cx="834426" cy="362343"/>
            </a:xfrm>
            <a:prstGeom prst="cube">
              <a:avLst/>
            </a:prstGeom>
            <a:solidFill>
              <a:srgbClr val="00B050"/>
            </a:solidFill>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P2</a:t>
              </a:r>
              <a:endParaRPr lang="zh-CN" altLang="en-US" sz="1200" b="1" dirty="0">
                <a:latin typeface="Arial" panose="020B0604020202020204" pitchFamily="34" charset="0"/>
                <a:ea typeface="微软雅黑" panose="020B0503020204020204" pitchFamily="34" charset="-122"/>
              </a:endParaRPr>
            </a:p>
          </p:txBody>
        </p:sp>
      </p:grpSp>
    </p:spTree>
    <p:extLst>
      <p:ext uri="{BB962C8B-B14F-4D97-AF65-F5344CB8AC3E}">
        <p14:creationId xmlns:p14="http://schemas.microsoft.com/office/powerpoint/2010/main" val="950402219"/>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3C7AF2F-9FBE-DB50-85E1-4309A6886403}"/>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ECN – </a:t>
            </a:r>
            <a:r>
              <a:rPr lang="zh-CN" altLang="en-US" dirty="0">
                <a:latin typeface="Arial" panose="020B0604020202020204" pitchFamily="34" charset="0"/>
                <a:ea typeface="微软雅黑" panose="020B0503020204020204" pitchFamily="34" charset="-122"/>
              </a:rPr>
              <a:t>硬切</a:t>
            </a:r>
          </a:p>
        </p:txBody>
      </p:sp>
      <p:graphicFrame>
        <p:nvGraphicFramePr>
          <p:cNvPr id="3" name="表格 2">
            <a:extLst>
              <a:ext uri="{FF2B5EF4-FFF2-40B4-BE49-F238E27FC236}">
                <a16:creationId xmlns:a16="http://schemas.microsoft.com/office/drawing/2014/main" id="{01CC67AD-E0A3-1F6C-E6FD-A45A4941D589}"/>
              </a:ext>
            </a:extLst>
          </p:cNvPr>
          <p:cNvGraphicFramePr>
            <a:graphicFrameLocks noGrp="1"/>
          </p:cNvGraphicFramePr>
          <p:nvPr>
            <p:extLst>
              <p:ext uri="{D42A27DB-BD31-4B8C-83A1-F6EECF244321}">
                <p14:modId xmlns:p14="http://schemas.microsoft.com/office/powerpoint/2010/main" val="485319559"/>
              </p:ext>
            </p:extLst>
          </p:nvPr>
        </p:nvGraphicFramePr>
        <p:xfrm>
          <a:off x="886690" y="2447483"/>
          <a:ext cx="10286999" cy="822960"/>
        </p:xfrm>
        <a:graphic>
          <a:graphicData uri="http://schemas.openxmlformats.org/drawingml/2006/table">
            <a:tbl>
              <a:tblPr firstRow="1" bandRow="1">
                <a:tableStyleId>{5C22544A-7EE6-4342-B048-85BDC9FD1C3A}</a:tableStyleId>
              </a:tblPr>
              <a:tblGrid>
                <a:gridCol w="1647567">
                  <a:extLst>
                    <a:ext uri="{9D8B030D-6E8A-4147-A177-3AD203B41FA5}">
                      <a16:colId xmlns:a16="http://schemas.microsoft.com/office/drawing/2014/main" val="2868247054"/>
                    </a:ext>
                  </a:extLst>
                </a:gridCol>
                <a:gridCol w="1647567">
                  <a:extLst>
                    <a:ext uri="{9D8B030D-6E8A-4147-A177-3AD203B41FA5}">
                      <a16:colId xmlns:a16="http://schemas.microsoft.com/office/drawing/2014/main" val="4099417746"/>
                    </a:ext>
                  </a:extLst>
                </a:gridCol>
                <a:gridCol w="1910148">
                  <a:extLst>
                    <a:ext uri="{9D8B030D-6E8A-4147-A177-3AD203B41FA5}">
                      <a16:colId xmlns:a16="http://schemas.microsoft.com/office/drawing/2014/main" val="525011126"/>
                    </a:ext>
                  </a:extLst>
                </a:gridCol>
                <a:gridCol w="1647567">
                  <a:extLst>
                    <a:ext uri="{9D8B030D-6E8A-4147-A177-3AD203B41FA5}">
                      <a16:colId xmlns:a16="http://schemas.microsoft.com/office/drawing/2014/main" val="4163670777"/>
                    </a:ext>
                  </a:extLst>
                </a:gridCol>
                <a:gridCol w="1717075">
                  <a:extLst>
                    <a:ext uri="{9D8B030D-6E8A-4147-A177-3AD203B41FA5}">
                      <a16:colId xmlns:a16="http://schemas.microsoft.com/office/drawing/2014/main" val="3334865434"/>
                    </a:ext>
                  </a:extLst>
                </a:gridCol>
                <a:gridCol w="1717075">
                  <a:extLst>
                    <a:ext uri="{9D8B030D-6E8A-4147-A177-3AD203B41FA5}">
                      <a16:colId xmlns:a16="http://schemas.microsoft.com/office/drawing/2014/main" val="3219726066"/>
                    </a:ext>
                  </a:extLst>
                </a:gridCol>
              </a:tblGrid>
              <a:tr h="401753">
                <a:tc>
                  <a:txBody>
                    <a:bodyPr/>
                    <a:lstStyle/>
                    <a:p>
                      <a:r>
                        <a:rPr lang="en-US" altLang="zh-CN" sz="1400" dirty="0">
                          <a:solidFill>
                            <a:schemeClr val="bg1"/>
                          </a:solidFill>
                          <a:latin typeface="Arial" panose="020B0604020202020204" pitchFamily="34" charset="0"/>
                          <a:ea typeface="微软雅黑" panose="020B0503020204020204" pitchFamily="34" charset="-122"/>
                        </a:rPr>
                        <a:t>BOM</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Item</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Part</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ECN</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err="1">
                          <a:solidFill>
                            <a:schemeClr val="bg1"/>
                          </a:solidFill>
                          <a:latin typeface="Arial" panose="020B0604020202020204" pitchFamily="34" charset="0"/>
                          <a:ea typeface="微软雅黑" panose="020B0503020204020204" pitchFamily="34" charset="-122"/>
                        </a:rPr>
                        <a:t>Eff_StartDate</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400" dirty="0" err="1">
                          <a:solidFill>
                            <a:schemeClr val="bg1"/>
                          </a:solidFill>
                          <a:latin typeface="Arial" panose="020B0604020202020204" pitchFamily="34" charset="0"/>
                          <a:ea typeface="微软雅黑" panose="020B0503020204020204" pitchFamily="34" charset="-122"/>
                        </a:rPr>
                        <a:t>Eff_EndDate</a:t>
                      </a:r>
                      <a:endParaRPr lang="zh-CN" altLang="en-US" sz="1400" dirty="0">
                        <a:solidFill>
                          <a:schemeClr val="bg1"/>
                        </a:solidFill>
                        <a:latin typeface="Arial" panose="020B0604020202020204" pitchFamily="34" charset="0"/>
                        <a:ea typeface="微软雅黑" panose="020B0503020204020204" pitchFamily="34" charset="-122"/>
                      </a:endParaRPr>
                    </a:p>
                    <a:p>
                      <a:endParaRPr lang="zh-CN" altLang="en-US" sz="1400"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4243760725"/>
                  </a:ext>
                </a:extLst>
              </a:tr>
              <a:tr h="236326">
                <a:tc>
                  <a:txBody>
                    <a:bodyPr/>
                    <a:lstStyle/>
                    <a:p>
                      <a:r>
                        <a:rPr lang="en-US" altLang="zh-CN" sz="1400" dirty="0">
                          <a:solidFill>
                            <a:schemeClr val="bg1"/>
                          </a:solidFill>
                          <a:latin typeface="Arial" panose="020B0604020202020204" pitchFamily="34" charset="0"/>
                          <a:ea typeface="微软雅黑" panose="020B0503020204020204" pitchFamily="34" charset="-122"/>
                        </a:rPr>
                        <a:t>FG1</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0010</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P1</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EC001</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Past</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400"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251950696"/>
                  </a:ext>
                </a:extLst>
              </a:tr>
            </a:tbl>
          </a:graphicData>
        </a:graphic>
      </p:graphicFrame>
      <p:sp>
        <p:nvSpPr>
          <p:cNvPr id="4" name="文本框 3">
            <a:extLst>
              <a:ext uri="{FF2B5EF4-FFF2-40B4-BE49-F238E27FC236}">
                <a16:creationId xmlns:a16="http://schemas.microsoft.com/office/drawing/2014/main" id="{1BBD7B75-02EC-9829-9D78-9F8BF6D8E41C}"/>
              </a:ext>
            </a:extLst>
          </p:cNvPr>
          <p:cNvSpPr txBox="1"/>
          <p:nvPr/>
        </p:nvSpPr>
        <p:spPr>
          <a:xfrm>
            <a:off x="886690" y="914399"/>
            <a:ext cx="5805055" cy="923330"/>
          </a:xfrm>
          <a:prstGeom prst="rect">
            <a:avLst/>
          </a:prstGeom>
          <a:noFill/>
        </p:spPr>
        <p:txBody>
          <a:bodyPr wrap="square" rtlCol="0">
            <a:spAutoFit/>
          </a:bodyPr>
          <a:lstStyle/>
          <a:p>
            <a:pPr marL="285750" indent="-285750">
              <a:buFont typeface="Arial" panose="020B0604020202020204" pitchFamily="34" charset="0"/>
              <a:buChar char="•"/>
            </a:pPr>
            <a:r>
              <a:rPr lang="zh-CN" altLang="en-US" dirty="0">
                <a:latin typeface="Arial" panose="020B0604020202020204" pitchFamily="34" charset="0"/>
                <a:ea typeface="微软雅黑" panose="020B0503020204020204" pitchFamily="34" charset="-122"/>
              </a:rPr>
              <a:t>任何变更都需要</a:t>
            </a:r>
            <a:r>
              <a:rPr lang="en-US" altLang="zh-CN" dirty="0">
                <a:latin typeface="Arial" panose="020B0604020202020204" pitchFamily="34" charset="0"/>
                <a:ea typeface="微软雅黑" panose="020B0503020204020204" pitchFamily="34" charset="-122"/>
              </a:rPr>
              <a:t>ECN</a:t>
            </a:r>
            <a:r>
              <a:rPr lang="zh-CN" altLang="en-US" dirty="0">
                <a:latin typeface="Arial" panose="020B0604020202020204" pitchFamily="34" charset="0"/>
                <a:ea typeface="微软雅黑" panose="020B0503020204020204" pitchFamily="34" charset="-122"/>
              </a:rPr>
              <a:t>来管理</a:t>
            </a:r>
            <a:endParaRPr lang="en-US" altLang="zh-CN" dirty="0">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r>
              <a:rPr lang="zh-CN" altLang="en-US" dirty="0">
                <a:latin typeface="Arial" panose="020B0604020202020204" pitchFamily="34" charset="0"/>
                <a:ea typeface="微软雅黑" panose="020B0503020204020204" pitchFamily="34" charset="-122"/>
              </a:rPr>
              <a:t>如果我们把</a:t>
            </a:r>
            <a:r>
              <a:rPr lang="en-US" altLang="zh-CN" dirty="0">
                <a:latin typeface="Arial" panose="020B0604020202020204" pitchFamily="34" charset="0"/>
                <a:ea typeface="微软雅黑" panose="020B0503020204020204" pitchFamily="34" charset="-122"/>
              </a:rPr>
              <a:t>P1</a:t>
            </a:r>
            <a:r>
              <a:rPr lang="zh-CN" altLang="en-US" dirty="0">
                <a:latin typeface="Arial" panose="020B0604020202020204" pitchFamily="34" charset="0"/>
                <a:ea typeface="微软雅黑" panose="020B0503020204020204" pitchFamily="34" charset="-122"/>
              </a:rPr>
              <a:t>改成</a:t>
            </a:r>
            <a:r>
              <a:rPr lang="en-US" altLang="zh-CN" dirty="0">
                <a:latin typeface="Arial" panose="020B0604020202020204" pitchFamily="34" charset="0"/>
                <a:ea typeface="微软雅黑" panose="020B0503020204020204" pitchFamily="34" charset="-122"/>
              </a:rPr>
              <a:t>P2</a:t>
            </a:r>
            <a:r>
              <a:rPr lang="zh-CN" altLang="en-US" dirty="0">
                <a:latin typeface="Arial" panose="020B0604020202020204" pitchFamily="34" charset="0"/>
                <a:ea typeface="微软雅黑" panose="020B0503020204020204" pitchFamily="34" charset="-122"/>
              </a:rPr>
              <a:t>，需要关联一个</a:t>
            </a:r>
            <a:r>
              <a:rPr lang="en-US" altLang="zh-CN" dirty="0">
                <a:latin typeface="Arial" panose="020B0604020202020204" pitchFamily="34" charset="0"/>
                <a:ea typeface="微软雅黑" panose="020B0503020204020204" pitchFamily="34" charset="-122"/>
              </a:rPr>
              <a:t>ECN</a:t>
            </a:r>
            <a:r>
              <a:rPr lang="zh-CN" altLang="en-US" dirty="0">
                <a:latin typeface="Arial" panose="020B0604020202020204" pitchFamily="34" charset="0"/>
                <a:ea typeface="微软雅黑" panose="020B0503020204020204" pitchFamily="34" charset="-122"/>
              </a:rPr>
              <a:t>来记录</a:t>
            </a:r>
            <a:endParaRPr lang="en-US" altLang="zh-CN" dirty="0">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r>
              <a:rPr lang="en-US" altLang="zh-CN" dirty="0">
                <a:latin typeface="Arial" panose="020B0604020202020204" pitchFamily="34" charset="0"/>
                <a:ea typeface="微软雅黑" panose="020B0503020204020204" pitchFamily="34" charset="-122"/>
              </a:rPr>
              <a:t>ECN</a:t>
            </a:r>
            <a:r>
              <a:rPr lang="zh-CN" altLang="en-US" dirty="0">
                <a:latin typeface="Arial" panose="020B0604020202020204" pitchFamily="34" charset="0"/>
                <a:ea typeface="微软雅黑" panose="020B0503020204020204" pitchFamily="34" charset="-122"/>
              </a:rPr>
              <a:t>的生效日期代表着变更的动作的生效日期</a:t>
            </a:r>
          </a:p>
        </p:txBody>
      </p:sp>
      <p:sp>
        <p:nvSpPr>
          <p:cNvPr id="5" name="文本框 4">
            <a:extLst>
              <a:ext uri="{FF2B5EF4-FFF2-40B4-BE49-F238E27FC236}">
                <a16:creationId xmlns:a16="http://schemas.microsoft.com/office/drawing/2014/main" id="{AF732B4A-594E-63D0-3BCF-8A9E5852739D}"/>
              </a:ext>
            </a:extLst>
          </p:cNvPr>
          <p:cNvSpPr txBox="1"/>
          <p:nvPr/>
        </p:nvSpPr>
        <p:spPr>
          <a:xfrm>
            <a:off x="831272" y="1912912"/>
            <a:ext cx="8943110"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Example: BOM FG </a:t>
            </a:r>
            <a:r>
              <a:rPr lang="zh-CN" altLang="en-US" dirty="0">
                <a:latin typeface="Arial" panose="020B0604020202020204" pitchFamily="34" charset="0"/>
                <a:ea typeface="微软雅黑" panose="020B0503020204020204" pitchFamily="34" charset="-122"/>
              </a:rPr>
              <a:t>下有一颗料</a:t>
            </a:r>
            <a:r>
              <a:rPr lang="en-US" altLang="zh-CN" dirty="0">
                <a:latin typeface="Arial" panose="020B0604020202020204" pitchFamily="34" charset="0"/>
                <a:ea typeface="微软雅黑" panose="020B0503020204020204" pitchFamily="34" charset="-122"/>
              </a:rPr>
              <a:t>P1,</a:t>
            </a:r>
            <a:r>
              <a:rPr lang="zh-CN" altLang="en-US" dirty="0">
                <a:latin typeface="Arial" panose="020B0604020202020204" pitchFamily="34" charset="0"/>
                <a:ea typeface="微软雅黑" panose="020B0503020204020204" pitchFamily="34" charset="-122"/>
              </a:rPr>
              <a:t>现将</a:t>
            </a:r>
            <a:r>
              <a:rPr lang="en-US" altLang="zh-CN" dirty="0">
                <a:latin typeface="Arial" panose="020B0604020202020204" pitchFamily="34" charset="0"/>
                <a:ea typeface="微软雅黑" panose="020B0503020204020204" pitchFamily="34" charset="-122"/>
              </a:rPr>
              <a:t>P1</a:t>
            </a:r>
            <a:r>
              <a:rPr lang="zh-CN" altLang="en-US" dirty="0">
                <a:latin typeface="Arial" panose="020B0604020202020204" pitchFamily="34" charset="0"/>
                <a:ea typeface="微软雅黑" panose="020B0503020204020204" pitchFamily="34" charset="-122"/>
              </a:rPr>
              <a:t>改成</a:t>
            </a:r>
            <a:r>
              <a:rPr lang="en-US" altLang="zh-CN" dirty="0">
                <a:latin typeface="Arial" panose="020B0604020202020204" pitchFamily="34" charset="0"/>
                <a:ea typeface="微软雅黑" panose="020B0503020204020204" pitchFamily="34" charset="-122"/>
              </a:rPr>
              <a:t>P2, </a:t>
            </a:r>
            <a:r>
              <a:rPr lang="zh-CN" altLang="en-US" dirty="0">
                <a:latin typeface="Arial" panose="020B0604020202020204" pitchFamily="34" charset="0"/>
                <a:ea typeface="微软雅黑" panose="020B0503020204020204" pitchFamily="34" charset="-122"/>
              </a:rPr>
              <a:t>关联的</a:t>
            </a:r>
            <a:r>
              <a:rPr lang="en-US" altLang="zh-CN" dirty="0">
                <a:latin typeface="Arial" panose="020B0604020202020204" pitchFamily="34" charset="0"/>
                <a:ea typeface="微软雅黑" panose="020B0503020204020204" pitchFamily="34" charset="-122"/>
              </a:rPr>
              <a:t>ECN EC002 </a:t>
            </a:r>
            <a:r>
              <a:rPr lang="zh-CN" altLang="en-US" dirty="0">
                <a:latin typeface="Arial" panose="020B0604020202020204" pitchFamily="34" charset="0"/>
                <a:ea typeface="微软雅黑" panose="020B0503020204020204" pitchFamily="34" charset="-122"/>
              </a:rPr>
              <a:t>生效日期为</a:t>
            </a:r>
            <a:r>
              <a:rPr lang="en-US" altLang="zh-CN" dirty="0">
                <a:latin typeface="Arial" panose="020B0604020202020204" pitchFamily="34" charset="0"/>
                <a:ea typeface="微软雅黑" panose="020B0503020204020204" pitchFamily="34" charset="-122"/>
              </a:rPr>
              <a:t>6.20</a:t>
            </a:r>
            <a:endParaRPr lang="zh-CN" altLang="en-US" dirty="0">
              <a:latin typeface="Arial" panose="020B0604020202020204" pitchFamily="34" charset="0"/>
              <a:ea typeface="微软雅黑" panose="020B0503020204020204" pitchFamily="34" charset="-122"/>
            </a:endParaRPr>
          </a:p>
        </p:txBody>
      </p:sp>
      <p:graphicFrame>
        <p:nvGraphicFramePr>
          <p:cNvPr id="6" name="表格 5">
            <a:extLst>
              <a:ext uri="{FF2B5EF4-FFF2-40B4-BE49-F238E27FC236}">
                <a16:creationId xmlns:a16="http://schemas.microsoft.com/office/drawing/2014/main" id="{3F5B932E-3498-1DB9-DA37-B76E2BE7C26D}"/>
              </a:ext>
            </a:extLst>
          </p:cNvPr>
          <p:cNvGraphicFramePr>
            <a:graphicFrameLocks noGrp="1"/>
          </p:cNvGraphicFramePr>
          <p:nvPr>
            <p:extLst>
              <p:ext uri="{D42A27DB-BD31-4B8C-83A1-F6EECF244321}">
                <p14:modId xmlns:p14="http://schemas.microsoft.com/office/powerpoint/2010/main" val="1042304710"/>
              </p:ext>
            </p:extLst>
          </p:nvPr>
        </p:nvGraphicFramePr>
        <p:xfrm>
          <a:off x="838199" y="3640976"/>
          <a:ext cx="10286998" cy="1127760"/>
        </p:xfrm>
        <a:graphic>
          <a:graphicData uri="http://schemas.openxmlformats.org/drawingml/2006/table">
            <a:tbl>
              <a:tblPr firstRow="1" bandRow="1">
                <a:tableStyleId>{5C22544A-7EE6-4342-B048-85BDC9FD1C3A}</a:tableStyleId>
              </a:tblPr>
              <a:tblGrid>
                <a:gridCol w="1411897">
                  <a:extLst>
                    <a:ext uri="{9D8B030D-6E8A-4147-A177-3AD203B41FA5}">
                      <a16:colId xmlns:a16="http://schemas.microsoft.com/office/drawing/2014/main" val="2868247054"/>
                    </a:ext>
                  </a:extLst>
                </a:gridCol>
                <a:gridCol w="1411897">
                  <a:extLst>
                    <a:ext uri="{9D8B030D-6E8A-4147-A177-3AD203B41FA5}">
                      <a16:colId xmlns:a16="http://schemas.microsoft.com/office/drawing/2014/main" val="4099417746"/>
                    </a:ext>
                  </a:extLst>
                </a:gridCol>
                <a:gridCol w="1636918">
                  <a:extLst>
                    <a:ext uri="{9D8B030D-6E8A-4147-A177-3AD203B41FA5}">
                      <a16:colId xmlns:a16="http://schemas.microsoft.com/office/drawing/2014/main" val="525011126"/>
                    </a:ext>
                  </a:extLst>
                </a:gridCol>
                <a:gridCol w="1411897">
                  <a:extLst>
                    <a:ext uri="{9D8B030D-6E8A-4147-A177-3AD203B41FA5}">
                      <a16:colId xmlns:a16="http://schemas.microsoft.com/office/drawing/2014/main" val="4163670777"/>
                    </a:ext>
                  </a:extLst>
                </a:gridCol>
                <a:gridCol w="1471463">
                  <a:extLst>
                    <a:ext uri="{9D8B030D-6E8A-4147-A177-3AD203B41FA5}">
                      <a16:colId xmlns:a16="http://schemas.microsoft.com/office/drawing/2014/main" val="3334865434"/>
                    </a:ext>
                  </a:extLst>
                </a:gridCol>
                <a:gridCol w="1471463">
                  <a:extLst>
                    <a:ext uri="{9D8B030D-6E8A-4147-A177-3AD203B41FA5}">
                      <a16:colId xmlns:a16="http://schemas.microsoft.com/office/drawing/2014/main" val="3219726066"/>
                    </a:ext>
                  </a:extLst>
                </a:gridCol>
                <a:gridCol w="1471463">
                  <a:extLst>
                    <a:ext uri="{9D8B030D-6E8A-4147-A177-3AD203B41FA5}">
                      <a16:colId xmlns:a16="http://schemas.microsoft.com/office/drawing/2014/main" val="692791350"/>
                    </a:ext>
                  </a:extLst>
                </a:gridCol>
              </a:tblGrid>
              <a:tr h="401753">
                <a:tc>
                  <a:txBody>
                    <a:bodyPr/>
                    <a:lstStyle/>
                    <a:p>
                      <a:r>
                        <a:rPr lang="en-US" altLang="zh-CN" sz="1400" dirty="0">
                          <a:solidFill>
                            <a:schemeClr val="bg1"/>
                          </a:solidFill>
                          <a:latin typeface="Arial" panose="020B0604020202020204" pitchFamily="34" charset="0"/>
                          <a:ea typeface="微软雅黑" panose="020B0503020204020204" pitchFamily="34" charset="-122"/>
                        </a:rPr>
                        <a:t>BOM</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Item</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Part</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ECN</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err="1">
                          <a:solidFill>
                            <a:schemeClr val="bg1"/>
                          </a:solidFill>
                          <a:latin typeface="Arial" panose="020B0604020202020204" pitchFamily="34" charset="0"/>
                          <a:ea typeface="微软雅黑" panose="020B0503020204020204" pitchFamily="34" charset="-122"/>
                        </a:rPr>
                        <a:t>Eff_StartDate</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400" dirty="0" err="1">
                          <a:solidFill>
                            <a:schemeClr val="bg1"/>
                          </a:solidFill>
                          <a:latin typeface="Arial" panose="020B0604020202020204" pitchFamily="34" charset="0"/>
                          <a:ea typeface="微软雅黑" panose="020B0503020204020204" pitchFamily="34" charset="-122"/>
                        </a:rPr>
                        <a:t>Eff_EndDate</a:t>
                      </a:r>
                      <a:endParaRPr lang="zh-CN" altLang="en-US" sz="1400" dirty="0">
                        <a:solidFill>
                          <a:schemeClr val="bg1"/>
                        </a:solidFill>
                        <a:latin typeface="Arial" panose="020B0604020202020204" pitchFamily="34" charset="0"/>
                        <a:ea typeface="微软雅黑" panose="020B0503020204020204" pitchFamily="34" charset="-122"/>
                      </a:endParaRPr>
                    </a:p>
                    <a:p>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Changed to ECN</a:t>
                      </a:r>
                      <a:endParaRPr lang="zh-CN" altLang="en-US" sz="1400"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4243760725"/>
                  </a:ext>
                </a:extLst>
              </a:tr>
              <a:tr h="236326">
                <a:tc>
                  <a:txBody>
                    <a:bodyPr/>
                    <a:lstStyle/>
                    <a:p>
                      <a:r>
                        <a:rPr lang="en-US" altLang="zh-CN" sz="1400" dirty="0">
                          <a:solidFill>
                            <a:schemeClr val="bg1"/>
                          </a:solidFill>
                          <a:latin typeface="Arial" panose="020B0604020202020204" pitchFamily="34" charset="0"/>
                          <a:ea typeface="微软雅黑" panose="020B0503020204020204" pitchFamily="34" charset="-122"/>
                        </a:rPr>
                        <a:t>FG1</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0010</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P1</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EC001</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Past</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6.20</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EC002</a:t>
                      </a:r>
                      <a:endParaRPr lang="zh-CN" altLang="en-US" sz="1400"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251950696"/>
                  </a:ext>
                </a:extLst>
              </a:tr>
              <a:tr h="236326">
                <a:tc>
                  <a:txBody>
                    <a:bodyPr/>
                    <a:lstStyle/>
                    <a:p>
                      <a:r>
                        <a:rPr lang="en-US" altLang="zh-CN" sz="1400" dirty="0">
                          <a:solidFill>
                            <a:schemeClr val="bg1"/>
                          </a:solidFill>
                          <a:latin typeface="Arial" panose="020B0604020202020204" pitchFamily="34" charset="0"/>
                          <a:ea typeface="微软雅黑" panose="020B0503020204020204" pitchFamily="34" charset="-122"/>
                        </a:rPr>
                        <a:t>FG1</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0010</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P2</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EC001</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6.20</a:t>
                      </a:r>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40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400" dirty="0">
                          <a:solidFill>
                            <a:schemeClr val="bg1"/>
                          </a:solidFill>
                          <a:latin typeface="Arial" panose="020B0604020202020204" pitchFamily="34" charset="0"/>
                          <a:ea typeface="微软雅黑" panose="020B0503020204020204" pitchFamily="34" charset="-122"/>
                        </a:rPr>
                        <a:t>EC002</a:t>
                      </a:r>
                      <a:endParaRPr lang="zh-CN" altLang="en-US" sz="1400"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40492166"/>
                  </a:ext>
                </a:extLst>
              </a:tr>
            </a:tbl>
          </a:graphicData>
        </a:graphic>
      </p:graphicFrame>
      <p:sp>
        <p:nvSpPr>
          <p:cNvPr id="7" name="文本框 6">
            <a:extLst>
              <a:ext uri="{FF2B5EF4-FFF2-40B4-BE49-F238E27FC236}">
                <a16:creationId xmlns:a16="http://schemas.microsoft.com/office/drawing/2014/main" id="{99B53E48-2222-5AE3-F777-8BEF25F0675A}"/>
              </a:ext>
            </a:extLst>
          </p:cNvPr>
          <p:cNvSpPr txBox="1"/>
          <p:nvPr/>
        </p:nvSpPr>
        <p:spPr>
          <a:xfrm>
            <a:off x="1835728" y="5257800"/>
            <a:ext cx="6345381" cy="1200329"/>
          </a:xfrm>
          <a:prstGeom prst="rect">
            <a:avLst/>
          </a:prstGeom>
          <a:noFill/>
        </p:spPr>
        <p:txBody>
          <a:bodyPr wrap="square" rtlCol="0">
            <a:spAutoFit/>
          </a:bodyPr>
          <a:lstStyle/>
          <a:p>
            <a:pPr marL="285750" indent="-285750">
              <a:buFont typeface="Arial" panose="020B0604020202020204" pitchFamily="34" charset="0"/>
              <a:buChar char="•"/>
            </a:pPr>
            <a:r>
              <a:rPr lang="zh-CN" altLang="en-US" dirty="0">
                <a:latin typeface="Arial" panose="020B0604020202020204" pitchFamily="34" charset="0"/>
                <a:ea typeface="微软雅黑" panose="020B0503020204020204" pitchFamily="34" charset="-122"/>
              </a:rPr>
              <a:t>从现在开始</a:t>
            </a:r>
            <a:r>
              <a:rPr lang="en-US" altLang="zh-CN" dirty="0">
                <a:latin typeface="Arial" panose="020B0604020202020204" pitchFamily="34" charset="0"/>
                <a:ea typeface="微软雅黑" panose="020B0503020204020204" pitchFamily="34" charset="-122"/>
              </a:rPr>
              <a:t>P1</a:t>
            </a:r>
            <a:r>
              <a:rPr lang="zh-CN" altLang="en-US" dirty="0">
                <a:latin typeface="Arial" panose="020B0604020202020204" pitchFamily="34" charset="0"/>
                <a:ea typeface="微软雅黑" panose="020B0503020204020204" pitchFamily="34" charset="-122"/>
              </a:rPr>
              <a:t>的供应只能用</a:t>
            </a:r>
            <a:r>
              <a:rPr lang="en-US" altLang="zh-CN" dirty="0">
                <a:latin typeface="Arial" panose="020B0604020202020204" pitchFamily="34" charset="0"/>
                <a:ea typeface="微软雅黑" panose="020B0503020204020204" pitchFamily="34" charset="-122"/>
              </a:rPr>
              <a:t>6.20</a:t>
            </a:r>
            <a:r>
              <a:rPr lang="zh-CN" altLang="en-US" dirty="0">
                <a:latin typeface="Arial" panose="020B0604020202020204" pitchFamily="34" charset="0"/>
                <a:ea typeface="微软雅黑" panose="020B0503020204020204" pitchFamily="34" charset="-122"/>
              </a:rPr>
              <a:t>日之前的</a:t>
            </a:r>
            <a:endParaRPr lang="en-US" altLang="zh-CN" dirty="0">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r>
              <a:rPr lang="en-US" altLang="zh-CN" dirty="0">
                <a:latin typeface="Arial" panose="020B0604020202020204" pitchFamily="34" charset="0"/>
                <a:ea typeface="微软雅黑" panose="020B0503020204020204" pitchFamily="34" charset="-122"/>
              </a:rPr>
              <a:t>6.20</a:t>
            </a:r>
            <a:r>
              <a:rPr lang="zh-CN" altLang="en-US" dirty="0">
                <a:latin typeface="Arial" panose="020B0604020202020204" pitchFamily="34" charset="0"/>
                <a:ea typeface="微软雅黑" panose="020B0503020204020204" pitchFamily="34" charset="-122"/>
              </a:rPr>
              <a:t>日之后</a:t>
            </a:r>
            <a:r>
              <a:rPr lang="en-US" altLang="zh-CN" dirty="0">
                <a:latin typeface="Arial" panose="020B0604020202020204" pitchFamily="34" charset="0"/>
                <a:ea typeface="微软雅黑" panose="020B0503020204020204" pitchFamily="34" charset="-122"/>
              </a:rPr>
              <a:t>FG1</a:t>
            </a:r>
            <a:r>
              <a:rPr lang="zh-CN" altLang="en-US" dirty="0">
                <a:latin typeface="Arial" panose="020B0604020202020204" pitchFamily="34" charset="0"/>
                <a:ea typeface="微软雅黑" panose="020B0503020204020204" pitchFamily="34" charset="-122"/>
              </a:rPr>
              <a:t>将不会再由</a:t>
            </a:r>
            <a:r>
              <a:rPr lang="en-US" altLang="zh-CN" dirty="0">
                <a:latin typeface="Arial" panose="020B0604020202020204" pitchFamily="34" charset="0"/>
                <a:ea typeface="微软雅黑" panose="020B0503020204020204" pitchFamily="34" charset="-122"/>
              </a:rPr>
              <a:t>P1</a:t>
            </a:r>
            <a:r>
              <a:rPr lang="zh-CN" altLang="en-US" dirty="0">
                <a:latin typeface="Arial" panose="020B0604020202020204" pitchFamily="34" charset="0"/>
                <a:ea typeface="微软雅黑" panose="020B0503020204020204" pitchFamily="34" charset="-122"/>
              </a:rPr>
              <a:t>构成</a:t>
            </a:r>
            <a:endParaRPr lang="en-US" altLang="zh-CN" dirty="0">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r>
              <a:rPr lang="en-US" altLang="zh-CN" dirty="0">
                <a:latin typeface="Arial" panose="020B0604020202020204" pitchFamily="34" charset="0"/>
                <a:ea typeface="微软雅黑" panose="020B0503020204020204" pitchFamily="34" charset="-122"/>
              </a:rPr>
              <a:t>6.20</a:t>
            </a:r>
            <a:r>
              <a:rPr lang="zh-CN" altLang="en-US" dirty="0">
                <a:latin typeface="Arial" panose="020B0604020202020204" pitchFamily="34" charset="0"/>
                <a:ea typeface="微软雅黑" panose="020B0503020204020204" pitchFamily="34" charset="-122"/>
              </a:rPr>
              <a:t>日之后可以用</a:t>
            </a:r>
            <a:r>
              <a:rPr lang="en-US" altLang="zh-CN" dirty="0">
                <a:latin typeface="Arial" panose="020B0604020202020204" pitchFamily="34" charset="0"/>
                <a:ea typeface="微软雅黑" panose="020B0503020204020204" pitchFamily="34" charset="-122"/>
              </a:rPr>
              <a:t>P2</a:t>
            </a:r>
            <a:r>
              <a:rPr lang="zh-CN" altLang="en-US" dirty="0">
                <a:latin typeface="Arial" panose="020B0604020202020204" pitchFamily="34" charset="0"/>
                <a:ea typeface="微软雅黑" panose="020B0503020204020204" pitchFamily="34" charset="-122"/>
              </a:rPr>
              <a:t>的供应</a:t>
            </a:r>
            <a:endParaRPr lang="en-US" altLang="zh-CN" dirty="0">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r>
              <a:rPr lang="en-US" altLang="zh-CN" dirty="0">
                <a:latin typeface="Arial" panose="020B0604020202020204" pitchFamily="34" charset="0"/>
                <a:ea typeface="微软雅黑" panose="020B0503020204020204" pitchFamily="34" charset="-122"/>
              </a:rPr>
              <a:t>6</a:t>
            </a:r>
            <a:r>
              <a:rPr lang="zh-CN" altLang="en-US" dirty="0">
                <a:latin typeface="Arial" panose="020B0604020202020204" pitchFamily="34" charset="0"/>
                <a:ea typeface="微软雅黑" panose="020B0503020204020204" pitchFamily="34" charset="-122"/>
              </a:rPr>
              <a:t>月</a:t>
            </a:r>
            <a:r>
              <a:rPr lang="en-US" altLang="zh-CN" dirty="0">
                <a:latin typeface="Arial" panose="020B0604020202020204" pitchFamily="34" charset="0"/>
                <a:ea typeface="微软雅黑" panose="020B0503020204020204" pitchFamily="34" charset="-122"/>
              </a:rPr>
              <a:t>20</a:t>
            </a:r>
            <a:r>
              <a:rPr lang="zh-CN" altLang="en-US" dirty="0">
                <a:latin typeface="Arial" panose="020B0604020202020204" pitchFamily="34" charset="0"/>
                <a:ea typeface="微软雅黑" panose="020B0503020204020204" pitchFamily="34" charset="-122"/>
              </a:rPr>
              <a:t>日之后</a:t>
            </a:r>
            <a:r>
              <a:rPr lang="en-US" altLang="zh-CN" dirty="0">
                <a:latin typeface="Arial" panose="020B0604020202020204" pitchFamily="34" charset="0"/>
                <a:ea typeface="微软雅黑" panose="020B0503020204020204" pitchFamily="34" charset="-122"/>
              </a:rPr>
              <a:t>FG1</a:t>
            </a:r>
            <a:r>
              <a:rPr lang="zh-CN" altLang="en-US" dirty="0">
                <a:latin typeface="Arial" panose="020B0604020202020204" pitchFamily="34" charset="0"/>
                <a:ea typeface="微软雅黑" panose="020B0503020204020204" pitchFamily="34" charset="-122"/>
              </a:rPr>
              <a:t>将由</a:t>
            </a:r>
            <a:r>
              <a:rPr lang="en-US" altLang="zh-CN" dirty="0">
                <a:latin typeface="Arial" panose="020B0604020202020204" pitchFamily="34" charset="0"/>
                <a:ea typeface="微软雅黑" panose="020B0503020204020204" pitchFamily="34" charset="-122"/>
              </a:rPr>
              <a:t>P2</a:t>
            </a:r>
            <a:r>
              <a:rPr lang="zh-CN" altLang="en-US" dirty="0">
                <a:latin typeface="Arial" panose="020B0604020202020204" pitchFamily="34" charset="0"/>
                <a:ea typeface="微软雅黑" panose="020B0503020204020204" pitchFamily="34" charset="-122"/>
              </a:rPr>
              <a:t>构成</a:t>
            </a:r>
          </a:p>
        </p:txBody>
      </p:sp>
    </p:spTree>
    <p:extLst>
      <p:ext uri="{BB962C8B-B14F-4D97-AF65-F5344CB8AC3E}">
        <p14:creationId xmlns:p14="http://schemas.microsoft.com/office/powerpoint/2010/main" val="253498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1A42BD-1D34-05BA-4834-1B18E45B7B9F}"/>
            </a:ext>
          </a:extLst>
        </p:cNvPr>
        <p:cNvGrpSpPr/>
        <p:nvPr/>
      </p:nvGrpSpPr>
      <p:grpSpPr>
        <a:xfrm>
          <a:off x="0" y="0"/>
          <a:ext cx="0" cy="0"/>
          <a:chOff x="0" y="0"/>
          <a:chExt cx="0" cy="0"/>
        </a:xfrm>
      </p:grpSpPr>
      <p:sp>
        <p:nvSpPr>
          <p:cNvPr id="3" name="标题 2">
            <a:extLst>
              <a:ext uri="{FF2B5EF4-FFF2-40B4-BE49-F238E27FC236}">
                <a16:creationId xmlns:a16="http://schemas.microsoft.com/office/drawing/2014/main" id="{FCADFE91-DCFD-2DF5-2BF1-6F609A780F45}"/>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切换 </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软切</a:t>
            </a:r>
          </a:p>
        </p:txBody>
      </p:sp>
      <p:grpSp>
        <p:nvGrpSpPr>
          <p:cNvPr id="47" name="组合 46">
            <a:extLst>
              <a:ext uri="{FF2B5EF4-FFF2-40B4-BE49-F238E27FC236}">
                <a16:creationId xmlns:a16="http://schemas.microsoft.com/office/drawing/2014/main" id="{D57514F0-8E76-941B-9720-8646DE1D39EA}"/>
              </a:ext>
            </a:extLst>
          </p:cNvPr>
          <p:cNvGrpSpPr/>
          <p:nvPr/>
        </p:nvGrpSpPr>
        <p:grpSpPr>
          <a:xfrm>
            <a:off x="789708" y="3078831"/>
            <a:ext cx="10390909" cy="3543642"/>
            <a:chOff x="1609760" y="4013886"/>
            <a:chExt cx="8904712" cy="1950675"/>
          </a:xfrm>
        </p:grpSpPr>
        <p:grpSp>
          <p:nvGrpSpPr>
            <p:cNvPr id="4" name="组合 3">
              <a:extLst>
                <a:ext uri="{FF2B5EF4-FFF2-40B4-BE49-F238E27FC236}">
                  <a16:creationId xmlns:a16="http://schemas.microsoft.com/office/drawing/2014/main" id="{34CF3E6C-635C-A9F3-8FE0-F24725A76753}"/>
                </a:ext>
              </a:extLst>
            </p:cNvPr>
            <p:cNvGrpSpPr/>
            <p:nvPr/>
          </p:nvGrpSpPr>
          <p:grpSpPr>
            <a:xfrm>
              <a:off x="1609760" y="4013886"/>
              <a:ext cx="8161361" cy="1698990"/>
              <a:chOff x="-16195" y="2016994"/>
              <a:chExt cx="10879525" cy="3310774"/>
            </a:xfrm>
          </p:grpSpPr>
          <p:grpSp>
            <p:nvGrpSpPr>
              <p:cNvPr id="5" name="组合 4">
                <a:extLst>
                  <a:ext uri="{FF2B5EF4-FFF2-40B4-BE49-F238E27FC236}">
                    <a16:creationId xmlns:a16="http://schemas.microsoft.com/office/drawing/2014/main" id="{D3C93E91-4FF7-DED5-A9DC-BF99A8EB9E43}"/>
                  </a:ext>
                </a:extLst>
              </p:cNvPr>
              <p:cNvGrpSpPr/>
              <p:nvPr/>
            </p:nvGrpSpPr>
            <p:grpSpPr>
              <a:xfrm>
                <a:off x="1487510" y="2016994"/>
                <a:ext cx="9375820" cy="3310774"/>
                <a:chOff x="1487510" y="2016994"/>
                <a:chExt cx="9375820" cy="3310774"/>
              </a:xfrm>
            </p:grpSpPr>
            <p:cxnSp>
              <p:nvCxnSpPr>
                <p:cNvPr id="10" name="直接连接符 9">
                  <a:extLst>
                    <a:ext uri="{FF2B5EF4-FFF2-40B4-BE49-F238E27FC236}">
                      <a16:creationId xmlns:a16="http://schemas.microsoft.com/office/drawing/2014/main" id="{3FEBF3C3-2B0D-45CB-5346-2358630F8E97}"/>
                    </a:ext>
                  </a:extLst>
                </p:cNvPr>
                <p:cNvCxnSpPr/>
                <p:nvPr/>
              </p:nvCxnSpPr>
              <p:spPr>
                <a:xfrm>
                  <a:off x="1500389" y="3844343"/>
                  <a:ext cx="9362941"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1" name="直接连接符 10">
                  <a:extLst>
                    <a:ext uri="{FF2B5EF4-FFF2-40B4-BE49-F238E27FC236}">
                      <a16:creationId xmlns:a16="http://schemas.microsoft.com/office/drawing/2014/main" id="{53FD10A1-180E-CA4E-EC29-24FA2E398DCA}"/>
                    </a:ext>
                  </a:extLst>
                </p:cNvPr>
                <p:cNvCxnSpPr>
                  <a:cxnSpLocks/>
                </p:cNvCxnSpPr>
                <p:nvPr/>
              </p:nvCxnSpPr>
              <p:spPr>
                <a:xfrm>
                  <a:off x="1487510" y="2016994"/>
                  <a:ext cx="0" cy="3310774"/>
                </a:xfrm>
                <a:prstGeom prst="line">
                  <a:avLst/>
                </a:prstGeom>
              </p:spPr>
              <p:style>
                <a:lnRef idx="2">
                  <a:schemeClr val="accent1"/>
                </a:lnRef>
                <a:fillRef idx="0">
                  <a:schemeClr val="accent1"/>
                </a:fillRef>
                <a:effectRef idx="1">
                  <a:schemeClr val="accent1"/>
                </a:effectRef>
                <a:fontRef idx="minor">
                  <a:schemeClr val="tx1"/>
                </a:fontRef>
              </p:style>
            </p:cxnSp>
          </p:grpSp>
          <p:sp>
            <p:nvSpPr>
              <p:cNvPr id="6" name="文本框 5">
                <a:extLst>
                  <a:ext uri="{FF2B5EF4-FFF2-40B4-BE49-F238E27FC236}">
                    <a16:creationId xmlns:a16="http://schemas.microsoft.com/office/drawing/2014/main" id="{75F7A472-AF7E-4175-9096-E6250114EC0A}"/>
                  </a:ext>
                </a:extLst>
              </p:cNvPr>
              <p:cNvSpPr txBox="1"/>
              <p:nvPr/>
            </p:nvSpPr>
            <p:spPr>
              <a:xfrm>
                <a:off x="-16195" y="2382592"/>
                <a:ext cx="1510145" cy="363163"/>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Demand</a:t>
                </a:r>
                <a:endParaRPr lang="zh-CN" altLang="en-US" sz="1600" b="1" dirty="0">
                  <a:latin typeface="Arial" panose="020B0604020202020204" pitchFamily="34" charset="0"/>
                  <a:ea typeface="微软雅黑" panose="020B0503020204020204" pitchFamily="34" charset="-122"/>
                </a:endParaRPr>
              </a:p>
            </p:txBody>
          </p:sp>
          <p:sp>
            <p:nvSpPr>
              <p:cNvPr id="7" name="文本框 6">
                <a:extLst>
                  <a:ext uri="{FF2B5EF4-FFF2-40B4-BE49-F238E27FC236}">
                    <a16:creationId xmlns:a16="http://schemas.microsoft.com/office/drawing/2014/main" id="{C1047B5B-43FB-8628-7208-40B330EECB2C}"/>
                  </a:ext>
                </a:extLst>
              </p:cNvPr>
              <p:cNvSpPr txBox="1"/>
              <p:nvPr/>
            </p:nvSpPr>
            <p:spPr>
              <a:xfrm>
                <a:off x="43824" y="4604394"/>
                <a:ext cx="1152660" cy="363163"/>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Supply</a:t>
                </a:r>
                <a:endParaRPr lang="zh-CN" altLang="en-US" sz="1600" b="1" dirty="0">
                  <a:latin typeface="Arial" panose="020B0604020202020204" pitchFamily="34" charset="0"/>
                  <a:ea typeface="微软雅黑" panose="020B0503020204020204" pitchFamily="34" charset="-122"/>
                </a:endParaRPr>
              </a:p>
            </p:txBody>
          </p:sp>
          <p:cxnSp>
            <p:nvCxnSpPr>
              <p:cNvPr id="8" name="直接连接符 7">
                <a:extLst>
                  <a:ext uri="{FF2B5EF4-FFF2-40B4-BE49-F238E27FC236}">
                    <a16:creationId xmlns:a16="http://schemas.microsoft.com/office/drawing/2014/main" id="{A3D6AA8D-C308-7D19-128D-95CB6C3D61DC}"/>
                  </a:ext>
                </a:extLst>
              </p:cNvPr>
              <p:cNvCxnSpPr/>
              <p:nvPr/>
            </p:nvCxnSpPr>
            <p:spPr>
              <a:xfrm>
                <a:off x="5995115" y="3161763"/>
                <a:ext cx="0" cy="1339403"/>
              </a:xfrm>
              <a:prstGeom prst="line">
                <a:avLst/>
              </a:prstGeom>
            </p:spPr>
            <p:style>
              <a:lnRef idx="2">
                <a:schemeClr val="accent1"/>
              </a:lnRef>
              <a:fillRef idx="0">
                <a:schemeClr val="accent1"/>
              </a:fillRef>
              <a:effectRef idx="1">
                <a:schemeClr val="accent1"/>
              </a:effectRef>
              <a:fontRef idx="minor">
                <a:schemeClr val="tx1"/>
              </a:fontRef>
            </p:style>
          </p:cxnSp>
          <p:sp>
            <p:nvSpPr>
              <p:cNvPr id="9" name="文本框 8">
                <a:extLst>
                  <a:ext uri="{FF2B5EF4-FFF2-40B4-BE49-F238E27FC236}">
                    <a16:creationId xmlns:a16="http://schemas.microsoft.com/office/drawing/2014/main" id="{34964935-B5DC-91E3-78B0-A6D207303644}"/>
                  </a:ext>
                </a:extLst>
              </p:cNvPr>
              <p:cNvSpPr txBox="1"/>
              <p:nvPr/>
            </p:nvSpPr>
            <p:spPr>
              <a:xfrm>
                <a:off x="5263601" y="4562560"/>
                <a:ext cx="1675327" cy="330149"/>
              </a:xfrm>
              <a:prstGeom prst="rect">
                <a:avLst/>
              </a:prstGeom>
              <a:noFill/>
            </p:spPr>
            <p:txBody>
              <a:bodyPr wrap="square" rtlCol="0">
                <a:spAutoFit/>
              </a:bodyPr>
              <a:lstStyle/>
              <a:p>
                <a:r>
                  <a:rPr lang="en-US" altLang="zh-CN" sz="1400" i="1" dirty="0">
                    <a:latin typeface="Arial" panose="020B0604020202020204" pitchFamily="34" charset="0"/>
                    <a:ea typeface="微软雅黑" panose="020B0503020204020204" pitchFamily="34" charset="-122"/>
                  </a:rPr>
                  <a:t>ECN Date</a:t>
                </a:r>
              </a:p>
            </p:txBody>
          </p:sp>
        </p:grpSp>
        <p:sp>
          <p:nvSpPr>
            <p:cNvPr id="12" name="文本框 11">
              <a:extLst>
                <a:ext uri="{FF2B5EF4-FFF2-40B4-BE49-F238E27FC236}">
                  <a16:creationId xmlns:a16="http://schemas.microsoft.com/office/drawing/2014/main" id="{856037C1-10ED-617C-03E0-B46E93D341D4}"/>
                </a:ext>
              </a:extLst>
            </p:cNvPr>
            <p:cNvSpPr txBox="1"/>
            <p:nvPr/>
          </p:nvSpPr>
          <p:spPr>
            <a:xfrm>
              <a:off x="9649795" y="4947380"/>
              <a:ext cx="864677" cy="186364"/>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Time</a:t>
              </a:r>
              <a:endParaRPr lang="zh-CN" altLang="en-US" sz="1600" b="1" dirty="0">
                <a:latin typeface="Arial" panose="020B0604020202020204" pitchFamily="34" charset="0"/>
                <a:ea typeface="微软雅黑" panose="020B0503020204020204" pitchFamily="34" charset="-122"/>
              </a:endParaRPr>
            </a:p>
          </p:txBody>
        </p:sp>
        <p:grpSp>
          <p:nvGrpSpPr>
            <p:cNvPr id="13" name="组合 12">
              <a:extLst>
                <a:ext uri="{FF2B5EF4-FFF2-40B4-BE49-F238E27FC236}">
                  <a16:creationId xmlns:a16="http://schemas.microsoft.com/office/drawing/2014/main" id="{04CDC7EB-7DB4-9191-EB1B-64F3FA9608BE}"/>
                </a:ext>
              </a:extLst>
            </p:cNvPr>
            <p:cNvGrpSpPr/>
            <p:nvPr/>
          </p:nvGrpSpPr>
          <p:grpSpPr>
            <a:xfrm>
              <a:off x="3586714" y="5132046"/>
              <a:ext cx="1567554" cy="263520"/>
              <a:chOff x="3696001" y="2719160"/>
              <a:chExt cx="1567554" cy="263520"/>
            </a:xfrm>
          </p:grpSpPr>
          <p:sp>
            <p:nvSpPr>
              <p:cNvPr id="14" name="立方体 13">
                <a:extLst>
                  <a:ext uri="{FF2B5EF4-FFF2-40B4-BE49-F238E27FC236}">
                    <a16:creationId xmlns:a16="http://schemas.microsoft.com/office/drawing/2014/main" id="{0D162F7E-3F58-1DDC-FB56-52C690685E25}"/>
                  </a:ext>
                </a:extLst>
              </p:cNvPr>
              <p:cNvSpPr/>
              <p:nvPr/>
            </p:nvSpPr>
            <p:spPr>
              <a:xfrm>
                <a:off x="3696001" y="2725100"/>
                <a:ext cx="682485" cy="257580"/>
              </a:xfrm>
              <a:prstGeom prst="cube">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sp>
            <p:nvSpPr>
              <p:cNvPr id="15" name="立方体 14">
                <a:extLst>
                  <a:ext uri="{FF2B5EF4-FFF2-40B4-BE49-F238E27FC236}">
                    <a16:creationId xmlns:a16="http://schemas.microsoft.com/office/drawing/2014/main" id="{9AB9D045-9B2E-61F2-E235-44B784D9B1D3}"/>
                  </a:ext>
                </a:extLst>
              </p:cNvPr>
              <p:cNvSpPr/>
              <p:nvPr/>
            </p:nvSpPr>
            <p:spPr>
              <a:xfrm>
                <a:off x="4581070" y="2719160"/>
                <a:ext cx="682485" cy="257580"/>
              </a:xfrm>
              <a:prstGeom prst="cube">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grpSp>
        <p:grpSp>
          <p:nvGrpSpPr>
            <p:cNvPr id="18" name="组合 17">
              <a:extLst>
                <a:ext uri="{FF2B5EF4-FFF2-40B4-BE49-F238E27FC236}">
                  <a16:creationId xmlns:a16="http://schemas.microsoft.com/office/drawing/2014/main" id="{744D2FED-D9EA-CFEE-D094-401DEF3EC2E7}"/>
                </a:ext>
              </a:extLst>
            </p:cNvPr>
            <p:cNvGrpSpPr/>
            <p:nvPr/>
          </p:nvGrpSpPr>
          <p:grpSpPr>
            <a:xfrm>
              <a:off x="6728312" y="5129921"/>
              <a:ext cx="1534375" cy="261830"/>
              <a:chOff x="6777330" y="3787594"/>
              <a:chExt cx="1618717" cy="365940"/>
            </a:xfrm>
          </p:grpSpPr>
          <p:sp>
            <p:nvSpPr>
              <p:cNvPr id="21" name="立方体 20">
                <a:extLst>
                  <a:ext uri="{FF2B5EF4-FFF2-40B4-BE49-F238E27FC236}">
                    <a16:creationId xmlns:a16="http://schemas.microsoft.com/office/drawing/2014/main" id="{089B9061-01BD-C7BE-12F3-8C6F4273A704}"/>
                  </a:ext>
                </a:extLst>
              </p:cNvPr>
              <p:cNvSpPr/>
              <p:nvPr/>
            </p:nvSpPr>
            <p:spPr>
              <a:xfrm>
                <a:off x="6777330" y="3793534"/>
                <a:ext cx="720000" cy="360000"/>
              </a:xfrm>
              <a:prstGeom prst="cube">
                <a:avLst/>
              </a:prstGeom>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sp>
            <p:nvSpPr>
              <p:cNvPr id="22" name="立方体 21">
                <a:extLst>
                  <a:ext uri="{FF2B5EF4-FFF2-40B4-BE49-F238E27FC236}">
                    <a16:creationId xmlns:a16="http://schemas.microsoft.com/office/drawing/2014/main" id="{B0217396-C611-B686-1D24-FC3AAA31B949}"/>
                  </a:ext>
                </a:extLst>
              </p:cNvPr>
              <p:cNvSpPr/>
              <p:nvPr/>
            </p:nvSpPr>
            <p:spPr>
              <a:xfrm>
                <a:off x="7676047" y="3787594"/>
                <a:ext cx="720000" cy="360000"/>
              </a:xfrm>
              <a:prstGeom prst="cube">
                <a:avLst/>
              </a:prstGeom>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grpSp>
        <p:sp>
          <p:nvSpPr>
            <p:cNvPr id="2" name="立方体 1">
              <a:extLst>
                <a:ext uri="{FF2B5EF4-FFF2-40B4-BE49-F238E27FC236}">
                  <a16:creationId xmlns:a16="http://schemas.microsoft.com/office/drawing/2014/main" id="{7F685BA2-FED3-F0EB-7EB6-085554ACB8EA}"/>
                </a:ext>
              </a:extLst>
            </p:cNvPr>
            <p:cNvSpPr/>
            <p:nvPr/>
          </p:nvSpPr>
          <p:spPr>
            <a:xfrm>
              <a:off x="6728311" y="5706981"/>
              <a:ext cx="682485" cy="257580"/>
            </a:xfrm>
            <a:prstGeom prst="cube">
              <a:avLst/>
            </a:prstGeom>
            <a:solidFill>
              <a:srgbClr val="00B050"/>
            </a:solidFill>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P2</a:t>
              </a:r>
              <a:endParaRPr lang="zh-CN" altLang="en-US" sz="1200" b="1" dirty="0">
                <a:latin typeface="Arial" panose="020B0604020202020204" pitchFamily="34" charset="0"/>
                <a:ea typeface="微软雅黑" panose="020B0503020204020204" pitchFamily="34" charset="-122"/>
              </a:endParaRPr>
            </a:p>
          </p:txBody>
        </p:sp>
      </p:grpSp>
      <p:grpSp>
        <p:nvGrpSpPr>
          <p:cNvPr id="40" name="组合 39">
            <a:extLst>
              <a:ext uri="{FF2B5EF4-FFF2-40B4-BE49-F238E27FC236}">
                <a16:creationId xmlns:a16="http://schemas.microsoft.com/office/drawing/2014/main" id="{A23250EE-FF00-D40B-6A19-65EBF1547439}"/>
              </a:ext>
            </a:extLst>
          </p:cNvPr>
          <p:cNvGrpSpPr>
            <a:grpSpLocks noChangeAspect="1"/>
          </p:cNvGrpSpPr>
          <p:nvPr>
            <p:custDataLst>
              <p:tags r:id="rId1"/>
            </p:custDataLst>
          </p:nvPr>
        </p:nvGrpSpPr>
        <p:grpSpPr>
          <a:xfrm>
            <a:off x="3019831" y="1151019"/>
            <a:ext cx="5366861" cy="1450082"/>
            <a:chOff x="675644" y="1047414"/>
            <a:chExt cx="1859110" cy="2434784"/>
          </a:xfrm>
        </p:grpSpPr>
        <p:sp>
          <p:nvSpPr>
            <p:cNvPr id="41" name="Title-2">
              <a:extLst>
                <a:ext uri="{FF2B5EF4-FFF2-40B4-BE49-F238E27FC236}">
                  <a16:creationId xmlns:a16="http://schemas.microsoft.com/office/drawing/2014/main" id="{26F6D3C7-37F0-BDC5-7689-4B2D18D51AA3}"/>
                </a:ext>
              </a:extLst>
            </p:cNvPr>
            <p:cNvSpPr/>
            <p:nvPr>
              <p:custDataLst>
                <p:tags r:id="rId2"/>
              </p:custDataLst>
            </p:nvPr>
          </p:nvSpPr>
          <p:spPr>
            <a:xfrm>
              <a:off x="675644" y="1909613"/>
              <a:ext cx="1859108" cy="774187"/>
            </a:xfrm>
            <a:prstGeom prst="rect">
              <a:avLst/>
            </a:prstGeom>
            <a:solidFill>
              <a:schemeClr val="accent2"/>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defTabSz="913765"/>
              <a:r>
                <a:rPr lang="en-US" altLang="zh-CN" sz="1400" b="1" dirty="0">
                  <a:solidFill>
                    <a:srgbClr val="FFFFFF"/>
                  </a:solidFill>
                  <a:latin typeface="Arial" panose="020B0604020202020204" pitchFamily="34" charset="0"/>
                  <a:ea typeface="微软雅黑" panose="020B0503020204020204" pitchFamily="34" charset="-122"/>
                </a:rPr>
                <a:t>P1</a:t>
              </a:r>
              <a:r>
                <a:rPr lang="zh-CN" altLang="en-US" sz="1400" b="1" dirty="0">
                  <a:solidFill>
                    <a:srgbClr val="FFFFFF"/>
                  </a:solidFill>
                  <a:latin typeface="Arial" panose="020B0604020202020204" pitchFamily="34" charset="0"/>
                  <a:ea typeface="微软雅黑" panose="020B0503020204020204" pitchFamily="34" charset="-122"/>
                </a:rPr>
                <a:t>的供应先用，如果不够产生对</a:t>
              </a:r>
              <a:r>
                <a:rPr lang="en-US" altLang="zh-CN" sz="1400" b="1" dirty="0">
                  <a:solidFill>
                    <a:srgbClr val="FFFFFF"/>
                  </a:solidFill>
                  <a:latin typeface="Arial" panose="020B0604020202020204" pitchFamily="34" charset="0"/>
                  <a:ea typeface="微软雅黑" panose="020B0503020204020204" pitchFamily="34" charset="-122"/>
                </a:rPr>
                <a:t>P2</a:t>
              </a:r>
              <a:r>
                <a:rPr lang="zh-CN" altLang="en-US" sz="1400" b="1" dirty="0">
                  <a:solidFill>
                    <a:srgbClr val="FFFFFF"/>
                  </a:solidFill>
                  <a:latin typeface="Arial" panose="020B0604020202020204" pitchFamily="34" charset="0"/>
                  <a:ea typeface="微软雅黑" panose="020B0503020204020204" pitchFamily="34" charset="-122"/>
                </a:rPr>
                <a:t>的相应需求</a:t>
              </a:r>
            </a:p>
          </p:txBody>
        </p:sp>
        <p:sp>
          <p:nvSpPr>
            <p:cNvPr id="42" name="Title-1">
              <a:extLst>
                <a:ext uri="{FF2B5EF4-FFF2-40B4-BE49-F238E27FC236}">
                  <a16:creationId xmlns:a16="http://schemas.microsoft.com/office/drawing/2014/main" id="{ABAEF5B4-6D38-E092-70D1-F332D095D3E8}"/>
                </a:ext>
              </a:extLst>
            </p:cNvPr>
            <p:cNvSpPr/>
            <p:nvPr>
              <p:custDataLst>
                <p:tags r:id="rId3"/>
              </p:custDataLst>
            </p:nvPr>
          </p:nvSpPr>
          <p:spPr>
            <a:xfrm>
              <a:off x="675644" y="1047414"/>
              <a:ext cx="1859110" cy="774187"/>
            </a:xfrm>
            <a:prstGeom prst="rect">
              <a:avLst/>
            </a:prstGeom>
            <a:solidFill>
              <a:schemeClr val="accent1"/>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defTabSz="913765"/>
              <a:r>
                <a:rPr lang="en-US" altLang="zh-CN" sz="1400" b="1" dirty="0">
                  <a:solidFill>
                    <a:srgbClr val="FFFFFF"/>
                  </a:solidFill>
                  <a:latin typeface="Arial" panose="020B0604020202020204" pitchFamily="34" charset="0"/>
                  <a:ea typeface="微软雅黑" panose="020B0503020204020204" pitchFamily="34" charset="-122"/>
                </a:rPr>
                <a:t>P1</a:t>
              </a:r>
              <a:r>
                <a:rPr lang="zh-CN" altLang="en-US" sz="1400" b="1" dirty="0">
                  <a:solidFill>
                    <a:srgbClr val="FFFFFF"/>
                  </a:solidFill>
                  <a:latin typeface="Arial" panose="020B0604020202020204" pitchFamily="34" charset="0"/>
                  <a:ea typeface="微软雅黑" panose="020B0503020204020204" pitchFamily="34" charset="-122"/>
                </a:rPr>
                <a:t>关联</a:t>
              </a:r>
              <a:r>
                <a:rPr lang="en-US" altLang="zh-CN" sz="1400" b="1" dirty="0">
                  <a:solidFill>
                    <a:srgbClr val="FFFFFF"/>
                  </a:solidFill>
                  <a:latin typeface="Arial" panose="020B0604020202020204" pitchFamily="34" charset="0"/>
                  <a:ea typeface="微软雅黑" panose="020B0503020204020204" pitchFamily="34" charset="-122"/>
                </a:rPr>
                <a:t>ECN</a:t>
              </a:r>
              <a:r>
                <a:rPr lang="zh-CN" altLang="en-US" sz="1400" b="1" dirty="0">
                  <a:solidFill>
                    <a:srgbClr val="FFFFFF"/>
                  </a:solidFill>
                  <a:latin typeface="Arial" panose="020B0604020202020204" pitchFamily="34" charset="0"/>
                  <a:ea typeface="微软雅黑" panose="020B0503020204020204" pitchFamily="34" charset="-122"/>
                </a:rPr>
                <a:t>添加其替换物料</a:t>
              </a:r>
              <a:r>
                <a:rPr lang="en-US" altLang="zh-CN" sz="1400" b="1" dirty="0">
                  <a:solidFill>
                    <a:srgbClr val="FFFFFF"/>
                  </a:solidFill>
                  <a:latin typeface="Arial" panose="020B0604020202020204" pitchFamily="34" charset="0"/>
                  <a:ea typeface="微软雅黑" panose="020B0503020204020204" pitchFamily="34" charset="-122"/>
                </a:rPr>
                <a:t>P2</a:t>
              </a:r>
              <a:endParaRPr lang="zh-CN" altLang="en-US" sz="1400" b="1" dirty="0">
                <a:solidFill>
                  <a:srgbClr val="FFFFFF"/>
                </a:solidFill>
                <a:latin typeface="Arial" panose="020B0604020202020204" pitchFamily="34" charset="0"/>
                <a:ea typeface="微软雅黑" panose="020B0503020204020204" pitchFamily="34" charset="-122"/>
              </a:endParaRPr>
            </a:p>
          </p:txBody>
        </p:sp>
        <p:sp>
          <p:nvSpPr>
            <p:cNvPr id="43" name="Title-3">
              <a:extLst>
                <a:ext uri="{FF2B5EF4-FFF2-40B4-BE49-F238E27FC236}">
                  <a16:creationId xmlns:a16="http://schemas.microsoft.com/office/drawing/2014/main" id="{D1640096-C54D-BA4E-313D-4A1FC4E3958D}"/>
                </a:ext>
              </a:extLst>
            </p:cNvPr>
            <p:cNvSpPr/>
            <p:nvPr>
              <p:custDataLst>
                <p:tags r:id="rId4"/>
              </p:custDataLst>
            </p:nvPr>
          </p:nvSpPr>
          <p:spPr>
            <a:xfrm>
              <a:off x="675645" y="2708011"/>
              <a:ext cx="1859107" cy="774187"/>
            </a:xfrm>
            <a:prstGeom prst="rect">
              <a:avLst/>
            </a:prstGeom>
            <a:solidFill>
              <a:schemeClr val="accent3"/>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defTabSz="913765"/>
              <a:r>
                <a:rPr lang="en-US" altLang="zh-CN" sz="1400" b="1" dirty="0">
                  <a:solidFill>
                    <a:srgbClr val="FFFFFF"/>
                  </a:solidFill>
                  <a:latin typeface="Arial" panose="020B0604020202020204" pitchFamily="34" charset="0"/>
                  <a:ea typeface="微软雅黑" panose="020B0503020204020204" pitchFamily="34" charset="-122"/>
                </a:rPr>
                <a:t>P2</a:t>
              </a:r>
              <a:r>
                <a:rPr lang="zh-CN" altLang="en-US" sz="1400" b="1" dirty="0">
                  <a:solidFill>
                    <a:srgbClr val="FFFFFF"/>
                  </a:solidFill>
                  <a:latin typeface="Arial" panose="020B0604020202020204" pitchFamily="34" charset="0"/>
                  <a:ea typeface="微软雅黑" panose="020B0503020204020204" pitchFamily="34" charset="-122"/>
                </a:rPr>
                <a:t>的计划单据在</a:t>
              </a:r>
              <a:r>
                <a:rPr lang="en-US" altLang="zh-CN" sz="1400" b="1" dirty="0">
                  <a:solidFill>
                    <a:srgbClr val="FFFFFF"/>
                  </a:solidFill>
                  <a:latin typeface="Arial" panose="020B0604020202020204" pitchFamily="34" charset="0"/>
                  <a:ea typeface="微软雅黑" panose="020B0503020204020204" pitchFamily="34" charset="-122"/>
                </a:rPr>
                <a:t>ECN Date</a:t>
              </a:r>
              <a:r>
                <a:rPr lang="zh-CN" altLang="en-US" sz="1400" b="1" dirty="0">
                  <a:solidFill>
                    <a:srgbClr val="FFFFFF"/>
                  </a:solidFill>
                  <a:latin typeface="Arial" panose="020B0604020202020204" pitchFamily="34" charset="0"/>
                  <a:ea typeface="微软雅黑" panose="020B0503020204020204" pitchFamily="34" charset="-122"/>
                </a:rPr>
                <a:t>之后</a:t>
              </a:r>
              <a:endParaRPr lang="en-US" altLang="zh-CN" sz="1400" b="1" dirty="0">
                <a:solidFill>
                  <a:srgbClr val="FFFFFF"/>
                </a:solidFill>
                <a:latin typeface="Arial" panose="020B0604020202020204" pitchFamily="34" charset="0"/>
                <a:ea typeface="微软雅黑" panose="020B0503020204020204" pitchFamily="34" charset="-122"/>
              </a:endParaRPr>
            </a:p>
          </p:txBody>
        </p:sp>
      </p:grpSp>
      <p:sp>
        <p:nvSpPr>
          <p:cNvPr id="44" name="立方体 43">
            <a:extLst>
              <a:ext uri="{FF2B5EF4-FFF2-40B4-BE49-F238E27FC236}">
                <a16:creationId xmlns:a16="http://schemas.microsoft.com/office/drawing/2014/main" id="{74A0A2AC-1ADF-EDA4-D6E0-DB1B86DAAC20}"/>
              </a:ext>
            </a:extLst>
          </p:cNvPr>
          <p:cNvSpPr/>
          <p:nvPr/>
        </p:nvSpPr>
        <p:spPr>
          <a:xfrm>
            <a:off x="920389" y="1166129"/>
            <a:ext cx="1040215" cy="354175"/>
          </a:xfrm>
          <a:prstGeom prst="cube">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zh-CN" altLang="en-US" sz="1200" b="1" dirty="0">
                <a:latin typeface="Arial" panose="020B0604020202020204" pitchFamily="34" charset="0"/>
                <a:ea typeface="微软雅黑" panose="020B0503020204020204" pitchFamily="34" charset="-122"/>
              </a:rPr>
              <a:t>可用供应</a:t>
            </a:r>
          </a:p>
        </p:txBody>
      </p:sp>
      <p:sp>
        <p:nvSpPr>
          <p:cNvPr id="46" name="立方体 45">
            <a:extLst>
              <a:ext uri="{FF2B5EF4-FFF2-40B4-BE49-F238E27FC236}">
                <a16:creationId xmlns:a16="http://schemas.microsoft.com/office/drawing/2014/main" id="{ED93FC78-D7CE-D20D-DA5E-306541A43F09}"/>
              </a:ext>
            </a:extLst>
          </p:cNvPr>
          <p:cNvSpPr/>
          <p:nvPr/>
        </p:nvSpPr>
        <p:spPr>
          <a:xfrm>
            <a:off x="930559" y="1938717"/>
            <a:ext cx="1040215" cy="354175"/>
          </a:xfrm>
          <a:prstGeom prst="cube">
            <a:avLst/>
          </a:prstGeom>
          <a:solidFill>
            <a:srgbClr val="00B050"/>
          </a:solidFill>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zh-CN" altLang="en-US" sz="1200" b="1" dirty="0">
                <a:latin typeface="Arial" panose="020B0604020202020204" pitchFamily="34" charset="0"/>
                <a:ea typeface="微软雅黑" panose="020B0503020204020204" pitchFamily="34" charset="-122"/>
              </a:rPr>
              <a:t>计划供应</a:t>
            </a:r>
          </a:p>
        </p:txBody>
      </p:sp>
    </p:spTree>
    <p:extLst>
      <p:ext uri="{BB962C8B-B14F-4D97-AF65-F5344CB8AC3E}">
        <p14:creationId xmlns:p14="http://schemas.microsoft.com/office/powerpoint/2010/main" val="1044830122"/>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6F6D8C-8B31-389F-DD0D-EB3A4F7CBD8E}"/>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06F0A293-173C-C088-E171-D65BAAC6A318}"/>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ECN – </a:t>
            </a:r>
            <a:r>
              <a:rPr lang="zh-CN" altLang="en-US" dirty="0">
                <a:latin typeface="Arial" panose="020B0604020202020204" pitchFamily="34" charset="0"/>
                <a:ea typeface="微软雅黑" panose="020B0503020204020204" pitchFamily="34" charset="-122"/>
              </a:rPr>
              <a:t>软切</a:t>
            </a:r>
          </a:p>
        </p:txBody>
      </p:sp>
      <p:graphicFrame>
        <p:nvGraphicFramePr>
          <p:cNvPr id="3" name="表格 2">
            <a:extLst>
              <a:ext uri="{FF2B5EF4-FFF2-40B4-BE49-F238E27FC236}">
                <a16:creationId xmlns:a16="http://schemas.microsoft.com/office/drawing/2014/main" id="{1B038FF3-AD3D-F94B-DE16-879FE6E37202}"/>
              </a:ext>
            </a:extLst>
          </p:cNvPr>
          <p:cNvGraphicFramePr>
            <a:graphicFrameLocks noGrp="1"/>
          </p:cNvGraphicFramePr>
          <p:nvPr>
            <p:extLst>
              <p:ext uri="{D42A27DB-BD31-4B8C-83A1-F6EECF244321}">
                <p14:modId xmlns:p14="http://schemas.microsoft.com/office/powerpoint/2010/main" val="3879761446"/>
              </p:ext>
            </p:extLst>
          </p:nvPr>
        </p:nvGraphicFramePr>
        <p:xfrm>
          <a:off x="886690" y="1984225"/>
          <a:ext cx="10286999" cy="822960"/>
        </p:xfrm>
        <a:graphic>
          <a:graphicData uri="http://schemas.openxmlformats.org/drawingml/2006/table">
            <a:tbl>
              <a:tblPr firstRow="1" bandRow="1">
                <a:tableStyleId>{5C22544A-7EE6-4342-B048-85BDC9FD1C3A}</a:tableStyleId>
              </a:tblPr>
              <a:tblGrid>
                <a:gridCol w="1647567">
                  <a:extLst>
                    <a:ext uri="{9D8B030D-6E8A-4147-A177-3AD203B41FA5}">
                      <a16:colId xmlns:a16="http://schemas.microsoft.com/office/drawing/2014/main" val="2868247054"/>
                    </a:ext>
                  </a:extLst>
                </a:gridCol>
                <a:gridCol w="1647567">
                  <a:extLst>
                    <a:ext uri="{9D8B030D-6E8A-4147-A177-3AD203B41FA5}">
                      <a16:colId xmlns:a16="http://schemas.microsoft.com/office/drawing/2014/main" val="4099417746"/>
                    </a:ext>
                  </a:extLst>
                </a:gridCol>
                <a:gridCol w="1910148">
                  <a:extLst>
                    <a:ext uri="{9D8B030D-6E8A-4147-A177-3AD203B41FA5}">
                      <a16:colId xmlns:a16="http://schemas.microsoft.com/office/drawing/2014/main" val="525011126"/>
                    </a:ext>
                  </a:extLst>
                </a:gridCol>
                <a:gridCol w="1647567">
                  <a:extLst>
                    <a:ext uri="{9D8B030D-6E8A-4147-A177-3AD203B41FA5}">
                      <a16:colId xmlns:a16="http://schemas.microsoft.com/office/drawing/2014/main" val="4163670777"/>
                    </a:ext>
                  </a:extLst>
                </a:gridCol>
                <a:gridCol w="1717075">
                  <a:extLst>
                    <a:ext uri="{9D8B030D-6E8A-4147-A177-3AD203B41FA5}">
                      <a16:colId xmlns:a16="http://schemas.microsoft.com/office/drawing/2014/main" val="3334865434"/>
                    </a:ext>
                  </a:extLst>
                </a:gridCol>
                <a:gridCol w="1717075">
                  <a:extLst>
                    <a:ext uri="{9D8B030D-6E8A-4147-A177-3AD203B41FA5}">
                      <a16:colId xmlns:a16="http://schemas.microsoft.com/office/drawing/2014/main" val="3219726066"/>
                    </a:ext>
                  </a:extLst>
                </a:gridCol>
              </a:tblGrid>
              <a:tr h="401753">
                <a:tc>
                  <a:txBody>
                    <a:bodyPr/>
                    <a:lstStyle/>
                    <a:p>
                      <a:r>
                        <a:rPr lang="en-US" altLang="zh-CN" sz="1400" dirty="0">
                          <a:latin typeface="Arial" panose="020B0604020202020204" pitchFamily="34" charset="0"/>
                          <a:ea typeface="微软雅黑" panose="020B0503020204020204" pitchFamily="34" charset="-122"/>
                        </a:rPr>
                        <a:t>BOM</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Item</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Part</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ECN</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err="1">
                          <a:latin typeface="Arial" panose="020B0604020202020204" pitchFamily="34" charset="0"/>
                          <a:ea typeface="微软雅黑" panose="020B0503020204020204" pitchFamily="34" charset="-122"/>
                        </a:rPr>
                        <a:t>Eff_StartDate</a:t>
                      </a:r>
                      <a:endParaRPr lang="zh-CN" altLang="en-US" sz="1400" dirty="0">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400" dirty="0" err="1">
                          <a:latin typeface="Arial" panose="020B0604020202020204" pitchFamily="34" charset="0"/>
                          <a:ea typeface="微软雅黑" panose="020B0503020204020204" pitchFamily="34" charset="-122"/>
                        </a:rPr>
                        <a:t>Eff_EndDate</a:t>
                      </a:r>
                      <a:endParaRPr lang="zh-CN" altLang="en-US" sz="1400" dirty="0">
                        <a:latin typeface="Arial" panose="020B0604020202020204" pitchFamily="34" charset="0"/>
                        <a:ea typeface="微软雅黑" panose="020B0503020204020204" pitchFamily="34" charset="-122"/>
                      </a:endParaRPr>
                    </a:p>
                    <a:p>
                      <a:endParaRPr lang="zh-CN" altLang="en-US" sz="14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4243760725"/>
                  </a:ext>
                </a:extLst>
              </a:tr>
              <a:tr h="236326">
                <a:tc>
                  <a:txBody>
                    <a:bodyPr/>
                    <a:lstStyle/>
                    <a:p>
                      <a:r>
                        <a:rPr lang="en-US" altLang="zh-CN" sz="1400" dirty="0">
                          <a:latin typeface="Arial" panose="020B0604020202020204" pitchFamily="34" charset="0"/>
                          <a:ea typeface="微软雅黑" panose="020B0503020204020204" pitchFamily="34" charset="-122"/>
                        </a:rPr>
                        <a:t>FG1</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0010</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P1</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EC001</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Past</a:t>
                      </a:r>
                      <a:endParaRPr lang="zh-CN" altLang="en-US" sz="1400" dirty="0">
                        <a:latin typeface="Arial" panose="020B0604020202020204" pitchFamily="34" charset="0"/>
                        <a:ea typeface="微软雅黑" panose="020B0503020204020204" pitchFamily="34" charset="-122"/>
                      </a:endParaRPr>
                    </a:p>
                  </a:txBody>
                  <a:tcPr/>
                </a:tc>
                <a:tc>
                  <a:txBody>
                    <a:bodyPr/>
                    <a:lstStyle/>
                    <a:p>
                      <a:endParaRPr lang="zh-CN" altLang="en-US" sz="14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251950696"/>
                  </a:ext>
                </a:extLst>
              </a:tr>
            </a:tbl>
          </a:graphicData>
        </a:graphic>
      </p:graphicFrame>
      <p:sp>
        <p:nvSpPr>
          <p:cNvPr id="4" name="文本框 3">
            <a:extLst>
              <a:ext uri="{FF2B5EF4-FFF2-40B4-BE49-F238E27FC236}">
                <a16:creationId xmlns:a16="http://schemas.microsoft.com/office/drawing/2014/main" id="{CA438223-248B-D88D-D41A-A5E762704DC4}"/>
              </a:ext>
            </a:extLst>
          </p:cNvPr>
          <p:cNvSpPr txBox="1"/>
          <p:nvPr/>
        </p:nvSpPr>
        <p:spPr>
          <a:xfrm>
            <a:off x="886690" y="783103"/>
            <a:ext cx="9122724" cy="1200329"/>
          </a:xfrm>
          <a:prstGeom prst="rect">
            <a:avLst/>
          </a:prstGeom>
          <a:noFill/>
        </p:spPr>
        <p:txBody>
          <a:bodyPr wrap="square" rtlCol="0">
            <a:spAutoFit/>
          </a:bodyPr>
          <a:lstStyle/>
          <a:p>
            <a:pPr marL="285750" indent="-285750">
              <a:buFont typeface="Arial" panose="020B0604020202020204" pitchFamily="34" charset="0"/>
              <a:buChar char="•"/>
            </a:pPr>
            <a:r>
              <a:rPr lang="zh-CN" altLang="en-US" dirty="0">
                <a:latin typeface="Arial" panose="020B0604020202020204" pitchFamily="34" charset="0"/>
                <a:ea typeface="微软雅黑" panose="020B0503020204020204" pitchFamily="34" charset="-122"/>
              </a:rPr>
              <a:t>首先我们创建替换组</a:t>
            </a:r>
            <a:r>
              <a:rPr lang="en-US" altLang="zh-CN" dirty="0" err="1">
                <a:latin typeface="Arial" panose="020B0604020202020204" pitchFamily="34" charset="0"/>
                <a:ea typeface="微软雅黑" panose="020B0503020204020204" pitchFamily="34" charset="-122"/>
              </a:rPr>
              <a:t>alg</a:t>
            </a:r>
            <a:r>
              <a:rPr lang="en-US" altLang="zh-CN" dirty="0">
                <a:latin typeface="Arial" panose="020B0604020202020204" pitchFamily="34" charset="0"/>
                <a:ea typeface="微软雅黑" panose="020B0503020204020204" pitchFamily="34" charset="-122"/>
              </a:rPr>
              <a:t> 1 </a:t>
            </a:r>
            <a:r>
              <a:rPr lang="zh-CN" altLang="en-US" dirty="0">
                <a:latin typeface="Arial" panose="020B0604020202020204" pitchFamily="34" charset="0"/>
                <a:ea typeface="微软雅黑" panose="020B0503020204020204" pitchFamily="34" charset="-122"/>
              </a:rPr>
              <a:t>并使得</a:t>
            </a:r>
            <a:r>
              <a:rPr lang="en-US" altLang="zh-CN" dirty="0">
                <a:latin typeface="Arial" panose="020B0604020202020204" pitchFamily="34" charset="0"/>
                <a:ea typeface="微软雅黑" panose="020B0503020204020204" pitchFamily="34" charset="-122"/>
              </a:rPr>
              <a:t>P1</a:t>
            </a:r>
            <a:r>
              <a:rPr lang="zh-CN" altLang="en-US" dirty="0">
                <a:latin typeface="Arial" panose="020B0604020202020204" pitchFamily="34" charset="0"/>
                <a:ea typeface="微软雅黑" panose="020B0503020204020204" pitchFamily="34" charset="-122"/>
              </a:rPr>
              <a:t>隶属于</a:t>
            </a:r>
            <a:r>
              <a:rPr lang="en-US" altLang="zh-CN" dirty="0" err="1">
                <a:latin typeface="Arial" panose="020B0604020202020204" pitchFamily="34" charset="0"/>
                <a:ea typeface="微软雅黑" panose="020B0503020204020204" pitchFamily="34" charset="-122"/>
              </a:rPr>
              <a:t>alg</a:t>
            </a:r>
            <a:r>
              <a:rPr lang="en-US" altLang="zh-CN" dirty="0">
                <a:latin typeface="Arial" panose="020B0604020202020204" pitchFamily="34" charset="0"/>
                <a:ea typeface="微软雅黑" panose="020B0503020204020204" pitchFamily="34" charset="-122"/>
              </a:rPr>
              <a:t> 1</a:t>
            </a:r>
            <a:r>
              <a:rPr lang="zh-CN" altLang="en-US" dirty="0">
                <a:latin typeface="Arial" panose="020B0604020202020204" pitchFamily="34" charset="0"/>
                <a:ea typeface="微软雅黑" panose="020B0503020204020204" pitchFamily="34" charset="-122"/>
              </a:rPr>
              <a:t>关联</a:t>
            </a:r>
            <a:r>
              <a:rPr lang="en-US" altLang="zh-CN" dirty="0">
                <a:latin typeface="Arial" panose="020B0604020202020204" pitchFamily="34" charset="0"/>
                <a:ea typeface="微软雅黑" panose="020B0503020204020204" pitchFamily="34" charset="-122"/>
              </a:rPr>
              <a:t>ECN002</a:t>
            </a:r>
          </a:p>
          <a:p>
            <a:pPr marL="285750" indent="-285750">
              <a:buFont typeface="Arial" panose="020B0604020202020204" pitchFamily="34" charset="0"/>
              <a:buChar char="•"/>
            </a:pPr>
            <a:r>
              <a:rPr lang="zh-CN" altLang="en-US" dirty="0">
                <a:latin typeface="Arial" panose="020B0604020202020204" pitchFamily="34" charset="0"/>
                <a:ea typeface="微软雅黑" panose="020B0503020204020204" pitchFamily="34" charset="-122"/>
              </a:rPr>
              <a:t>在</a:t>
            </a:r>
            <a:r>
              <a:rPr lang="en-US" altLang="zh-CN" dirty="0">
                <a:latin typeface="Arial" panose="020B0604020202020204" pitchFamily="34" charset="0"/>
                <a:ea typeface="微软雅黑" panose="020B0503020204020204" pitchFamily="34" charset="-122"/>
              </a:rPr>
              <a:t>FG1</a:t>
            </a:r>
            <a:r>
              <a:rPr lang="zh-CN" altLang="en-US" dirty="0">
                <a:latin typeface="Arial" panose="020B0604020202020204" pitchFamily="34" charset="0"/>
                <a:ea typeface="微软雅黑" panose="020B0503020204020204" pitchFamily="34" charset="-122"/>
              </a:rPr>
              <a:t>中添加</a:t>
            </a:r>
            <a:r>
              <a:rPr lang="en-US" altLang="zh-CN" dirty="0">
                <a:latin typeface="Arial" panose="020B0604020202020204" pitchFamily="34" charset="0"/>
                <a:ea typeface="微软雅黑" panose="020B0503020204020204" pitchFamily="34" charset="-122"/>
              </a:rPr>
              <a:t>P2</a:t>
            </a:r>
            <a:r>
              <a:rPr lang="zh-CN" altLang="en-US" dirty="0">
                <a:latin typeface="Arial" panose="020B0604020202020204" pitchFamily="34" charset="0"/>
                <a:ea typeface="微软雅黑" panose="020B0503020204020204" pitchFamily="34" charset="-122"/>
              </a:rPr>
              <a:t>也隶属于</a:t>
            </a:r>
            <a:r>
              <a:rPr lang="en-US" altLang="zh-CN" dirty="0" err="1">
                <a:latin typeface="Arial" panose="020B0604020202020204" pitchFamily="34" charset="0"/>
                <a:ea typeface="微软雅黑" panose="020B0503020204020204" pitchFamily="34" charset="-122"/>
              </a:rPr>
              <a:t>alg</a:t>
            </a:r>
            <a:r>
              <a:rPr lang="en-US" altLang="zh-CN" dirty="0">
                <a:latin typeface="Arial" panose="020B0604020202020204" pitchFamily="34" charset="0"/>
                <a:ea typeface="微软雅黑" panose="020B0503020204020204" pitchFamily="34" charset="-122"/>
              </a:rPr>
              <a:t> 1</a:t>
            </a:r>
            <a:r>
              <a:rPr lang="zh-CN" altLang="en-US" dirty="0">
                <a:latin typeface="Arial" panose="020B0604020202020204" pitchFamily="34" charset="0"/>
                <a:ea typeface="微软雅黑" panose="020B0503020204020204" pitchFamily="34" charset="-122"/>
              </a:rPr>
              <a:t>关联</a:t>
            </a:r>
            <a:r>
              <a:rPr lang="en-US" altLang="zh-CN" dirty="0">
                <a:latin typeface="Arial" panose="020B0604020202020204" pitchFamily="34" charset="0"/>
                <a:ea typeface="微软雅黑" panose="020B0503020204020204" pitchFamily="34" charset="-122"/>
              </a:rPr>
              <a:t>ECN 003,ECN 003</a:t>
            </a:r>
            <a:r>
              <a:rPr lang="zh-CN" altLang="en-US" dirty="0">
                <a:latin typeface="Arial" panose="020B0604020202020204" pitchFamily="34" charset="0"/>
                <a:ea typeface="微软雅黑" panose="020B0503020204020204" pitchFamily="34" charset="-122"/>
              </a:rPr>
              <a:t>生效日期在当前日期</a:t>
            </a:r>
            <a:endParaRPr lang="en-US" altLang="zh-CN" dirty="0">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r>
              <a:rPr lang="zh-CN" altLang="en-US" dirty="0">
                <a:latin typeface="Arial" panose="020B0604020202020204" pitchFamily="34" charset="0"/>
                <a:ea typeface="微软雅黑" panose="020B0503020204020204" pitchFamily="34" charset="-122"/>
              </a:rPr>
              <a:t>设置</a:t>
            </a:r>
            <a:r>
              <a:rPr lang="en-US" altLang="zh-CN" dirty="0">
                <a:latin typeface="Arial" panose="020B0604020202020204" pitchFamily="34" charset="0"/>
                <a:ea typeface="微软雅黑" panose="020B0503020204020204" pitchFamily="34" charset="-122"/>
              </a:rPr>
              <a:t>P2</a:t>
            </a:r>
            <a:r>
              <a:rPr lang="zh-CN" altLang="en-US" dirty="0">
                <a:latin typeface="Arial" panose="020B0604020202020204" pitchFamily="34" charset="0"/>
                <a:ea typeface="微软雅黑" panose="020B0503020204020204" pitchFamily="34" charset="-122"/>
              </a:rPr>
              <a:t>为主料，即其</a:t>
            </a:r>
            <a:r>
              <a:rPr lang="en-US" altLang="zh-CN" dirty="0">
                <a:latin typeface="Arial" panose="020B0604020202020204" pitchFamily="34" charset="0"/>
                <a:ea typeface="微软雅黑" panose="020B0503020204020204" pitchFamily="34" charset="-122"/>
              </a:rPr>
              <a:t>priority </a:t>
            </a:r>
            <a:r>
              <a:rPr lang="zh-CN" altLang="en-US" dirty="0">
                <a:latin typeface="Arial" panose="020B0604020202020204" pitchFamily="34" charset="0"/>
                <a:ea typeface="微软雅黑" panose="020B0503020204020204" pitchFamily="34" charset="-122"/>
              </a:rPr>
              <a:t>为最小值</a:t>
            </a:r>
            <a:endParaRPr lang="en-US" altLang="zh-CN" dirty="0">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endParaRPr lang="zh-CN" altLang="en-US" dirty="0">
              <a:latin typeface="Arial" panose="020B0604020202020204" pitchFamily="34" charset="0"/>
              <a:ea typeface="微软雅黑" panose="020B0503020204020204" pitchFamily="34" charset="-122"/>
            </a:endParaRPr>
          </a:p>
        </p:txBody>
      </p:sp>
      <p:graphicFrame>
        <p:nvGraphicFramePr>
          <p:cNvPr id="6" name="表格 5">
            <a:extLst>
              <a:ext uri="{FF2B5EF4-FFF2-40B4-BE49-F238E27FC236}">
                <a16:creationId xmlns:a16="http://schemas.microsoft.com/office/drawing/2014/main" id="{131ADAC4-4EC3-EAF1-6140-7445C65391EF}"/>
              </a:ext>
            </a:extLst>
          </p:cNvPr>
          <p:cNvGraphicFramePr>
            <a:graphicFrameLocks noGrp="1"/>
          </p:cNvGraphicFramePr>
          <p:nvPr>
            <p:extLst>
              <p:ext uri="{D42A27DB-BD31-4B8C-83A1-F6EECF244321}">
                <p14:modId xmlns:p14="http://schemas.microsoft.com/office/powerpoint/2010/main" val="2914328194"/>
              </p:ext>
            </p:extLst>
          </p:nvPr>
        </p:nvGraphicFramePr>
        <p:xfrm>
          <a:off x="581889" y="3429000"/>
          <a:ext cx="11127482" cy="1432560"/>
        </p:xfrm>
        <a:graphic>
          <a:graphicData uri="http://schemas.openxmlformats.org/drawingml/2006/table">
            <a:tbl>
              <a:tblPr firstRow="1" bandRow="1">
                <a:tableStyleId>{5C22544A-7EE6-4342-B048-85BDC9FD1C3A}</a:tableStyleId>
              </a:tblPr>
              <a:tblGrid>
                <a:gridCol w="1097828">
                  <a:extLst>
                    <a:ext uri="{9D8B030D-6E8A-4147-A177-3AD203B41FA5}">
                      <a16:colId xmlns:a16="http://schemas.microsoft.com/office/drawing/2014/main" val="2868247054"/>
                    </a:ext>
                  </a:extLst>
                </a:gridCol>
                <a:gridCol w="1097828">
                  <a:extLst>
                    <a:ext uri="{9D8B030D-6E8A-4147-A177-3AD203B41FA5}">
                      <a16:colId xmlns:a16="http://schemas.microsoft.com/office/drawing/2014/main" val="4099417746"/>
                    </a:ext>
                  </a:extLst>
                </a:gridCol>
                <a:gridCol w="1272794">
                  <a:extLst>
                    <a:ext uri="{9D8B030D-6E8A-4147-A177-3AD203B41FA5}">
                      <a16:colId xmlns:a16="http://schemas.microsoft.com/office/drawing/2014/main" val="525011126"/>
                    </a:ext>
                  </a:extLst>
                </a:gridCol>
                <a:gridCol w="1097828">
                  <a:extLst>
                    <a:ext uri="{9D8B030D-6E8A-4147-A177-3AD203B41FA5}">
                      <a16:colId xmlns:a16="http://schemas.microsoft.com/office/drawing/2014/main" val="4163670777"/>
                    </a:ext>
                  </a:extLst>
                </a:gridCol>
                <a:gridCol w="1356043">
                  <a:extLst>
                    <a:ext uri="{9D8B030D-6E8A-4147-A177-3AD203B41FA5}">
                      <a16:colId xmlns:a16="http://schemas.microsoft.com/office/drawing/2014/main" val="3334865434"/>
                    </a:ext>
                  </a:extLst>
                </a:gridCol>
                <a:gridCol w="1286193">
                  <a:extLst>
                    <a:ext uri="{9D8B030D-6E8A-4147-A177-3AD203B41FA5}">
                      <a16:colId xmlns:a16="http://schemas.microsoft.com/office/drawing/2014/main" val="3219726066"/>
                    </a:ext>
                  </a:extLst>
                </a:gridCol>
                <a:gridCol w="1630680">
                  <a:extLst>
                    <a:ext uri="{9D8B030D-6E8A-4147-A177-3AD203B41FA5}">
                      <a16:colId xmlns:a16="http://schemas.microsoft.com/office/drawing/2014/main" val="692791350"/>
                    </a:ext>
                  </a:extLst>
                </a:gridCol>
                <a:gridCol w="1144144">
                  <a:extLst>
                    <a:ext uri="{9D8B030D-6E8A-4147-A177-3AD203B41FA5}">
                      <a16:colId xmlns:a16="http://schemas.microsoft.com/office/drawing/2014/main" val="735391169"/>
                    </a:ext>
                  </a:extLst>
                </a:gridCol>
                <a:gridCol w="1144144">
                  <a:extLst>
                    <a:ext uri="{9D8B030D-6E8A-4147-A177-3AD203B41FA5}">
                      <a16:colId xmlns:a16="http://schemas.microsoft.com/office/drawing/2014/main" val="3471916665"/>
                    </a:ext>
                  </a:extLst>
                </a:gridCol>
              </a:tblGrid>
              <a:tr h="401753">
                <a:tc>
                  <a:txBody>
                    <a:bodyPr/>
                    <a:lstStyle/>
                    <a:p>
                      <a:r>
                        <a:rPr lang="en-US" altLang="zh-CN" sz="1400" dirty="0">
                          <a:latin typeface="Arial" panose="020B0604020202020204" pitchFamily="34" charset="0"/>
                          <a:ea typeface="微软雅黑" panose="020B0503020204020204" pitchFamily="34" charset="-122"/>
                        </a:rPr>
                        <a:t>BOM</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Item</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Part</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ECN</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err="1">
                          <a:latin typeface="Arial" panose="020B0604020202020204" pitchFamily="34" charset="0"/>
                          <a:ea typeface="微软雅黑" panose="020B0503020204020204" pitchFamily="34" charset="-122"/>
                        </a:rPr>
                        <a:t>Eff_StartDate</a:t>
                      </a:r>
                      <a:endParaRPr lang="zh-CN" altLang="en-US" sz="1400" dirty="0">
                        <a:latin typeface="Arial" panose="020B0604020202020204" pitchFamily="34" charset="0"/>
                        <a:ea typeface="微软雅黑" panose="020B0503020204020204" pitchFamily="34" charset="-122"/>
                      </a:endParaRPr>
                    </a:p>
                  </a:txBody>
                  <a:tcPr/>
                </a:tc>
                <a:tc>
                  <a:txBody>
                    <a:bodyPr/>
                    <a:lstStyle/>
                    <a:p>
                      <a:pPr marL="0" marR="0" lvl="0" indent="0" algn="l" defTabSz="914332" rtl="0" eaLnBrk="1" fontAlgn="auto" latinLnBrk="0" hangingPunct="1">
                        <a:lnSpc>
                          <a:spcPct val="100000"/>
                        </a:lnSpc>
                        <a:spcBef>
                          <a:spcPts val="0"/>
                        </a:spcBef>
                        <a:spcAft>
                          <a:spcPts val="0"/>
                        </a:spcAft>
                        <a:buClrTx/>
                        <a:buSzTx/>
                        <a:buFontTx/>
                        <a:buNone/>
                        <a:tabLst/>
                        <a:defRPr/>
                      </a:pPr>
                      <a:r>
                        <a:rPr lang="en-US" altLang="zh-CN" sz="1400" dirty="0" err="1">
                          <a:latin typeface="Arial" panose="020B0604020202020204" pitchFamily="34" charset="0"/>
                          <a:ea typeface="微软雅黑" panose="020B0503020204020204" pitchFamily="34" charset="-122"/>
                        </a:rPr>
                        <a:t>Eff_EndDate</a:t>
                      </a:r>
                      <a:endParaRPr lang="zh-CN" altLang="en-US" sz="1400" dirty="0">
                        <a:latin typeface="Arial" panose="020B0604020202020204" pitchFamily="34" charset="0"/>
                        <a:ea typeface="微软雅黑" panose="020B0503020204020204" pitchFamily="34" charset="-122"/>
                      </a:endParaRPr>
                    </a:p>
                    <a:p>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Changed to ECN</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alg1</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priority</a:t>
                      </a:r>
                      <a:endParaRPr lang="zh-CN" altLang="en-US" sz="14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4243760725"/>
                  </a:ext>
                </a:extLst>
              </a:tr>
              <a:tr h="236326">
                <a:tc>
                  <a:txBody>
                    <a:bodyPr/>
                    <a:lstStyle/>
                    <a:p>
                      <a:r>
                        <a:rPr lang="en-US" altLang="zh-CN" sz="1400" dirty="0">
                          <a:latin typeface="Arial" panose="020B0604020202020204" pitchFamily="34" charset="0"/>
                          <a:ea typeface="微软雅黑" panose="020B0503020204020204" pitchFamily="34" charset="-122"/>
                        </a:rPr>
                        <a:t>FG1</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0010</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P1</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EC001</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Past</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6.4</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EC002</a:t>
                      </a:r>
                      <a:endParaRPr lang="zh-CN" altLang="en-US" sz="1400" dirty="0">
                        <a:latin typeface="Arial" panose="020B0604020202020204" pitchFamily="34" charset="0"/>
                        <a:ea typeface="微软雅黑" panose="020B0503020204020204" pitchFamily="34" charset="-122"/>
                      </a:endParaRPr>
                    </a:p>
                  </a:txBody>
                  <a:tcPr/>
                </a:tc>
                <a:tc>
                  <a:txBody>
                    <a:bodyPr/>
                    <a:lstStyle/>
                    <a:p>
                      <a:endParaRPr lang="zh-CN" altLang="en-US" sz="1400" dirty="0">
                        <a:latin typeface="Arial" panose="020B0604020202020204" pitchFamily="34" charset="0"/>
                        <a:ea typeface="微软雅黑" panose="020B0503020204020204" pitchFamily="34" charset="-122"/>
                      </a:endParaRPr>
                    </a:p>
                  </a:txBody>
                  <a:tcPr/>
                </a:tc>
                <a:tc>
                  <a:txBody>
                    <a:bodyPr/>
                    <a:lstStyle/>
                    <a:p>
                      <a:endParaRPr lang="zh-CN" altLang="en-US" sz="14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251950696"/>
                  </a:ext>
                </a:extLst>
              </a:tr>
              <a:tr h="236326">
                <a:tc>
                  <a:txBody>
                    <a:bodyPr/>
                    <a:lstStyle/>
                    <a:p>
                      <a:r>
                        <a:rPr lang="en-US" altLang="zh-CN" sz="1400" dirty="0">
                          <a:latin typeface="Arial" panose="020B0604020202020204" pitchFamily="34" charset="0"/>
                          <a:ea typeface="微软雅黑" panose="020B0503020204020204" pitchFamily="34" charset="-122"/>
                        </a:rPr>
                        <a:t>FG1</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0010</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P1</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EC002</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6.4</a:t>
                      </a:r>
                      <a:endParaRPr lang="zh-CN" altLang="en-US" sz="1400" dirty="0">
                        <a:latin typeface="Arial" panose="020B0604020202020204" pitchFamily="34" charset="0"/>
                        <a:ea typeface="微软雅黑" panose="020B0503020204020204" pitchFamily="34" charset="-122"/>
                      </a:endParaRPr>
                    </a:p>
                  </a:txBody>
                  <a:tcPr/>
                </a:tc>
                <a:tc>
                  <a:txBody>
                    <a:bodyPr/>
                    <a:lstStyle/>
                    <a:p>
                      <a:endParaRPr lang="zh-CN" altLang="en-US" sz="1400" dirty="0">
                        <a:latin typeface="Arial" panose="020B0604020202020204" pitchFamily="34" charset="0"/>
                        <a:ea typeface="微软雅黑" panose="020B0503020204020204" pitchFamily="34" charset="-122"/>
                      </a:endParaRPr>
                    </a:p>
                  </a:txBody>
                  <a:tcPr/>
                </a:tc>
                <a:tc>
                  <a:txBody>
                    <a:bodyPr/>
                    <a:lstStyle/>
                    <a:p>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alg1</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2</a:t>
                      </a:r>
                      <a:endParaRPr lang="zh-CN" altLang="en-US" sz="14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40492166"/>
                  </a:ext>
                </a:extLst>
              </a:tr>
              <a:tr h="236326">
                <a:tc>
                  <a:txBody>
                    <a:bodyPr/>
                    <a:lstStyle/>
                    <a:p>
                      <a:r>
                        <a:rPr lang="en-US" altLang="zh-CN" sz="1400" dirty="0">
                          <a:latin typeface="Arial" panose="020B0604020202020204" pitchFamily="34" charset="0"/>
                          <a:ea typeface="微软雅黑" panose="020B0503020204020204" pitchFamily="34" charset="-122"/>
                        </a:rPr>
                        <a:t>FG1</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0020</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P2</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EC003</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6.4</a:t>
                      </a:r>
                      <a:endParaRPr lang="zh-CN" altLang="en-US" sz="1400" dirty="0">
                        <a:latin typeface="Arial" panose="020B0604020202020204" pitchFamily="34" charset="0"/>
                        <a:ea typeface="微软雅黑" panose="020B0503020204020204" pitchFamily="34" charset="-122"/>
                      </a:endParaRPr>
                    </a:p>
                  </a:txBody>
                  <a:tcPr/>
                </a:tc>
                <a:tc>
                  <a:txBody>
                    <a:bodyPr/>
                    <a:lstStyle/>
                    <a:p>
                      <a:endParaRPr lang="zh-CN" altLang="en-US" sz="1400" dirty="0">
                        <a:latin typeface="Arial" panose="020B0604020202020204" pitchFamily="34" charset="0"/>
                        <a:ea typeface="微软雅黑" panose="020B0503020204020204" pitchFamily="34" charset="-122"/>
                      </a:endParaRPr>
                    </a:p>
                  </a:txBody>
                  <a:tcPr/>
                </a:tc>
                <a:tc>
                  <a:txBody>
                    <a:bodyPr/>
                    <a:lstStyle/>
                    <a:p>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alg1</a:t>
                      </a:r>
                      <a:endParaRPr lang="zh-CN" altLang="en-US" sz="1400" dirty="0">
                        <a:latin typeface="Arial" panose="020B0604020202020204" pitchFamily="34" charset="0"/>
                        <a:ea typeface="微软雅黑" panose="020B0503020204020204" pitchFamily="34" charset="-122"/>
                      </a:endParaRPr>
                    </a:p>
                  </a:txBody>
                  <a:tcPr/>
                </a:tc>
                <a:tc>
                  <a:txBody>
                    <a:bodyPr/>
                    <a:lstStyle/>
                    <a:p>
                      <a:r>
                        <a:rPr lang="en-US" altLang="zh-CN" sz="1400" dirty="0">
                          <a:latin typeface="Arial" panose="020B0604020202020204" pitchFamily="34" charset="0"/>
                          <a:ea typeface="微软雅黑" panose="020B0503020204020204" pitchFamily="34" charset="-122"/>
                        </a:rPr>
                        <a:t>1</a:t>
                      </a:r>
                      <a:endParaRPr lang="zh-CN" altLang="en-US" sz="14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293221371"/>
                  </a:ext>
                </a:extLst>
              </a:tr>
            </a:tbl>
          </a:graphicData>
        </a:graphic>
      </p:graphicFrame>
      <p:sp>
        <p:nvSpPr>
          <p:cNvPr id="8" name="文本框 7">
            <a:extLst>
              <a:ext uri="{FF2B5EF4-FFF2-40B4-BE49-F238E27FC236}">
                <a16:creationId xmlns:a16="http://schemas.microsoft.com/office/drawing/2014/main" id="{4A8A9FA8-0715-35B4-A8BD-F61992788519}"/>
              </a:ext>
            </a:extLst>
          </p:cNvPr>
          <p:cNvSpPr txBox="1"/>
          <p:nvPr/>
        </p:nvSpPr>
        <p:spPr>
          <a:xfrm>
            <a:off x="1205345" y="5407283"/>
            <a:ext cx="9781310"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alg1.alg_type = interchangeable</a:t>
            </a:r>
            <a:r>
              <a:rPr lang="zh-CN" altLang="en-US" dirty="0">
                <a:latin typeface="Arial" panose="020B0604020202020204" pitchFamily="34" charset="0"/>
                <a:ea typeface="微软雅黑" panose="020B0503020204020204" pitchFamily="34" charset="-122"/>
              </a:rPr>
              <a:t>， 意味着计划的单据只能产生在主料上</a:t>
            </a:r>
          </a:p>
        </p:txBody>
      </p:sp>
    </p:spTree>
    <p:extLst>
      <p:ext uri="{BB962C8B-B14F-4D97-AF65-F5344CB8AC3E}">
        <p14:creationId xmlns:p14="http://schemas.microsoft.com/office/powerpoint/2010/main" val="4248703469"/>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3E9E38F-7CDA-2D59-C4C7-210327362C6C}"/>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Last Time Buy</a:t>
            </a:r>
            <a:endParaRPr lang="zh-CN" altLang="en-US" dirty="0">
              <a:latin typeface="Arial" panose="020B0604020202020204" pitchFamily="34" charset="0"/>
              <a:ea typeface="微软雅黑" panose="020B0503020204020204" pitchFamily="34" charset="-122"/>
            </a:endParaRPr>
          </a:p>
        </p:txBody>
      </p:sp>
      <p:grpSp>
        <p:nvGrpSpPr>
          <p:cNvPr id="3" name="组合 2">
            <a:extLst>
              <a:ext uri="{FF2B5EF4-FFF2-40B4-BE49-F238E27FC236}">
                <a16:creationId xmlns:a16="http://schemas.microsoft.com/office/drawing/2014/main" id="{4E696AB5-929E-9EDA-F6DF-0937B42D4ACA}"/>
              </a:ext>
            </a:extLst>
          </p:cNvPr>
          <p:cNvGrpSpPr/>
          <p:nvPr/>
        </p:nvGrpSpPr>
        <p:grpSpPr>
          <a:xfrm>
            <a:off x="789708" y="3078831"/>
            <a:ext cx="10390909" cy="3543642"/>
            <a:chOff x="1609760" y="4013886"/>
            <a:chExt cx="8904712" cy="1950675"/>
          </a:xfrm>
        </p:grpSpPr>
        <p:grpSp>
          <p:nvGrpSpPr>
            <p:cNvPr id="4" name="组合 3">
              <a:extLst>
                <a:ext uri="{FF2B5EF4-FFF2-40B4-BE49-F238E27FC236}">
                  <a16:creationId xmlns:a16="http://schemas.microsoft.com/office/drawing/2014/main" id="{4CD96992-6165-A5E6-4CFB-2F557F05E3AC}"/>
                </a:ext>
              </a:extLst>
            </p:cNvPr>
            <p:cNvGrpSpPr/>
            <p:nvPr/>
          </p:nvGrpSpPr>
          <p:grpSpPr>
            <a:xfrm>
              <a:off x="1609760" y="4013886"/>
              <a:ext cx="8161361" cy="1698990"/>
              <a:chOff x="-16195" y="2016994"/>
              <a:chExt cx="10879525" cy="3310774"/>
            </a:xfrm>
          </p:grpSpPr>
          <p:grpSp>
            <p:nvGrpSpPr>
              <p:cNvPr id="13" name="组合 12">
                <a:extLst>
                  <a:ext uri="{FF2B5EF4-FFF2-40B4-BE49-F238E27FC236}">
                    <a16:creationId xmlns:a16="http://schemas.microsoft.com/office/drawing/2014/main" id="{E6C3C28D-BE42-5CED-0C98-E9E58B7B7333}"/>
                  </a:ext>
                </a:extLst>
              </p:cNvPr>
              <p:cNvGrpSpPr/>
              <p:nvPr/>
            </p:nvGrpSpPr>
            <p:grpSpPr>
              <a:xfrm>
                <a:off x="1487510" y="2016994"/>
                <a:ext cx="9375820" cy="3310774"/>
                <a:chOff x="1487510" y="2016994"/>
                <a:chExt cx="9375820" cy="3310774"/>
              </a:xfrm>
            </p:grpSpPr>
            <p:cxnSp>
              <p:nvCxnSpPr>
                <p:cNvPr id="18" name="直接连接符 17">
                  <a:extLst>
                    <a:ext uri="{FF2B5EF4-FFF2-40B4-BE49-F238E27FC236}">
                      <a16:creationId xmlns:a16="http://schemas.microsoft.com/office/drawing/2014/main" id="{FC5B3DCE-219B-A468-E811-E5895E26142E}"/>
                    </a:ext>
                  </a:extLst>
                </p:cNvPr>
                <p:cNvCxnSpPr/>
                <p:nvPr/>
              </p:nvCxnSpPr>
              <p:spPr>
                <a:xfrm>
                  <a:off x="1500389" y="3844343"/>
                  <a:ext cx="9362941"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9" name="直接连接符 18">
                  <a:extLst>
                    <a:ext uri="{FF2B5EF4-FFF2-40B4-BE49-F238E27FC236}">
                      <a16:creationId xmlns:a16="http://schemas.microsoft.com/office/drawing/2014/main" id="{C71C5823-5F65-E96B-1128-ED234B4A2864}"/>
                    </a:ext>
                  </a:extLst>
                </p:cNvPr>
                <p:cNvCxnSpPr>
                  <a:cxnSpLocks/>
                </p:cNvCxnSpPr>
                <p:nvPr/>
              </p:nvCxnSpPr>
              <p:spPr>
                <a:xfrm>
                  <a:off x="1487510" y="2016994"/>
                  <a:ext cx="0" cy="3310774"/>
                </a:xfrm>
                <a:prstGeom prst="line">
                  <a:avLst/>
                </a:prstGeom>
              </p:spPr>
              <p:style>
                <a:lnRef idx="2">
                  <a:schemeClr val="accent1"/>
                </a:lnRef>
                <a:fillRef idx="0">
                  <a:schemeClr val="accent1"/>
                </a:fillRef>
                <a:effectRef idx="1">
                  <a:schemeClr val="accent1"/>
                </a:effectRef>
                <a:fontRef idx="minor">
                  <a:schemeClr val="tx1"/>
                </a:fontRef>
              </p:style>
            </p:cxnSp>
          </p:grpSp>
          <p:sp>
            <p:nvSpPr>
              <p:cNvPr id="14" name="文本框 13">
                <a:extLst>
                  <a:ext uri="{FF2B5EF4-FFF2-40B4-BE49-F238E27FC236}">
                    <a16:creationId xmlns:a16="http://schemas.microsoft.com/office/drawing/2014/main" id="{3840237A-537F-A676-5430-2B552E0BFC23}"/>
                  </a:ext>
                </a:extLst>
              </p:cNvPr>
              <p:cNvSpPr txBox="1"/>
              <p:nvPr/>
            </p:nvSpPr>
            <p:spPr>
              <a:xfrm>
                <a:off x="-16195" y="2382592"/>
                <a:ext cx="1510145" cy="363163"/>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Demand</a:t>
                </a:r>
                <a:endParaRPr lang="zh-CN" altLang="en-US" sz="1600" b="1" dirty="0">
                  <a:latin typeface="Arial" panose="020B0604020202020204" pitchFamily="34" charset="0"/>
                  <a:ea typeface="微软雅黑" panose="020B0503020204020204" pitchFamily="34" charset="-122"/>
                </a:endParaRPr>
              </a:p>
            </p:txBody>
          </p:sp>
          <p:sp>
            <p:nvSpPr>
              <p:cNvPr id="15" name="文本框 14">
                <a:extLst>
                  <a:ext uri="{FF2B5EF4-FFF2-40B4-BE49-F238E27FC236}">
                    <a16:creationId xmlns:a16="http://schemas.microsoft.com/office/drawing/2014/main" id="{7B5F3B57-C00C-628C-A4F3-0DD9B573C645}"/>
                  </a:ext>
                </a:extLst>
              </p:cNvPr>
              <p:cNvSpPr txBox="1"/>
              <p:nvPr/>
            </p:nvSpPr>
            <p:spPr>
              <a:xfrm>
                <a:off x="43824" y="4604394"/>
                <a:ext cx="1152660" cy="363163"/>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Supply</a:t>
                </a:r>
                <a:endParaRPr lang="zh-CN" altLang="en-US" sz="1600" b="1" dirty="0">
                  <a:latin typeface="Arial" panose="020B0604020202020204" pitchFamily="34" charset="0"/>
                  <a:ea typeface="微软雅黑" panose="020B0503020204020204" pitchFamily="34" charset="-122"/>
                </a:endParaRPr>
              </a:p>
            </p:txBody>
          </p:sp>
          <p:cxnSp>
            <p:nvCxnSpPr>
              <p:cNvPr id="16" name="直接连接符 15">
                <a:extLst>
                  <a:ext uri="{FF2B5EF4-FFF2-40B4-BE49-F238E27FC236}">
                    <a16:creationId xmlns:a16="http://schemas.microsoft.com/office/drawing/2014/main" id="{077CB4BB-0998-34FA-FE13-2409EC6FEFF6}"/>
                  </a:ext>
                </a:extLst>
              </p:cNvPr>
              <p:cNvCxnSpPr/>
              <p:nvPr/>
            </p:nvCxnSpPr>
            <p:spPr>
              <a:xfrm>
                <a:off x="5995115" y="3161763"/>
                <a:ext cx="0" cy="1339403"/>
              </a:xfrm>
              <a:prstGeom prst="line">
                <a:avLst/>
              </a:prstGeom>
            </p:spPr>
            <p:style>
              <a:lnRef idx="2">
                <a:schemeClr val="accent1"/>
              </a:lnRef>
              <a:fillRef idx="0">
                <a:schemeClr val="accent1"/>
              </a:fillRef>
              <a:effectRef idx="1">
                <a:schemeClr val="accent1"/>
              </a:effectRef>
              <a:fontRef idx="minor">
                <a:schemeClr val="tx1"/>
              </a:fontRef>
            </p:style>
          </p:cxnSp>
          <p:sp>
            <p:nvSpPr>
              <p:cNvPr id="17" name="文本框 16">
                <a:extLst>
                  <a:ext uri="{FF2B5EF4-FFF2-40B4-BE49-F238E27FC236}">
                    <a16:creationId xmlns:a16="http://schemas.microsoft.com/office/drawing/2014/main" id="{13630BDE-A47C-4904-DE67-DA3FDA3F9175}"/>
                  </a:ext>
                </a:extLst>
              </p:cNvPr>
              <p:cNvSpPr txBox="1"/>
              <p:nvPr/>
            </p:nvSpPr>
            <p:spPr>
              <a:xfrm>
                <a:off x="5263601" y="4562560"/>
                <a:ext cx="1675327" cy="330149"/>
              </a:xfrm>
              <a:prstGeom prst="rect">
                <a:avLst/>
              </a:prstGeom>
              <a:noFill/>
            </p:spPr>
            <p:txBody>
              <a:bodyPr wrap="square" rtlCol="0">
                <a:spAutoFit/>
              </a:bodyPr>
              <a:lstStyle/>
              <a:p>
                <a:r>
                  <a:rPr lang="en-US" altLang="zh-CN" sz="1400" i="1" dirty="0">
                    <a:latin typeface="Arial" panose="020B0604020202020204" pitchFamily="34" charset="0"/>
                    <a:ea typeface="微软雅黑" panose="020B0503020204020204" pitchFamily="34" charset="-122"/>
                  </a:rPr>
                  <a:t>ECN Date</a:t>
                </a:r>
              </a:p>
            </p:txBody>
          </p:sp>
        </p:grpSp>
        <p:sp>
          <p:nvSpPr>
            <p:cNvPr id="5" name="文本框 4">
              <a:extLst>
                <a:ext uri="{FF2B5EF4-FFF2-40B4-BE49-F238E27FC236}">
                  <a16:creationId xmlns:a16="http://schemas.microsoft.com/office/drawing/2014/main" id="{CE776942-E7F5-8906-263E-4720D193A4F3}"/>
                </a:ext>
              </a:extLst>
            </p:cNvPr>
            <p:cNvSpPr txBox="1"/>
            <p:nvPr/>
          </p:nvSpPr>
          <p:spPr>
            <a:xfrm>
              <a:off x="9649795" y="4947380"/>
              <a:ext cx="864677" cy="186364"/>
            </a:xfrm>
            <a:prstGeom prst="rect">
              <a:avLst/>
            </a:prstGeom>
            <a:noFill/>
          </p:spPr>
          <p:txBody>
            <a:bodyPr wrap="square" rtlCol="0">
              <a:spAutoFit/>
            </a:bodyPr>
            <a:lstStyle/>
            <a:p>
              <a:r>
                <a:rPr lang="en-US" altLang="zh-CN" sz="1600" b="1" dirty="0">
                  <a:latin typeface="Arial" panose="020B0604020202020204" pitchFamily="34" charset="0"/>
                  <a:ea typeface="微软雅黑" panose="020B0503020204020204" pitchFamily="34" charset="-122"/>
                </a:rPr>
                <a:t>Time</a:t>
              </a:r>
              <a:endParaRPr lang="zh-CN" altLang="en-US" sz="1600" b="1" dirty="0">
                <a:latin typeface="Arial" panose="020B0604020202020204" pitchFamily="34" charset="0"/>
                <a:ea typeface="微软雅黑" panose="020B0503020204020204" pitchFamily="34" charset="-122"/>
              </a:endParaRPr>
            </a:p>
          </p:txBody>
        </p:sp>
        <p:grpSp>
          <p:nvGrpSpPr>
            <p:cNvPr id="6" name="组合 5">
              <a:extLst>
                <a:ext uri="{FF2B5EF4-FFF2-40B4-BE49-F238E27FC236}">
                  <a16:creationId xmlns:a16="http://schemas.microsoft.com/office/drawing/2014/main" id="{03885408-A36B-68F9-4D8A-2F1910E0F70E}"/>
                </a:ext>
              </a:extLst>
            </p:cNvPr>
            <p:cNvGrpSpPr/>
            <p:nvPr/>
          </p:nvGrpSpPr>
          <p:grpSpPr>
            <a:xfrm>
              <a:off x="3586714" y="5132046"/>
              <a:ext cx="1567554" cy="263520"/>
              <a:chOff x="3696001" y="2719160"/>
              <a:chExt cx="1567554" cy="263520"/>
            </a:xfrm>
          </p:grpSpPr>
          <p:sp>
            <p:nvSpPr>
              <p:cNvPr id="11" name="立方体 10">
                <a:extLst>
                  <a:ext uri="{FF2B5EF4-FFF2-40B4-BE49-F238E27FC236}">
                    <a16:creationId xmlns:a16="http://schemas.microsoft.com/office/drawing/2014/main" id="{C7E66A58-2EEE-2BA6-1ADF-404D9D75D9C0}"/>
                  </a:ext>
                </a:extLst>
              </p:cNvPr>
              <p:cNvSpPr/>
              <p:nvPr/>
            </p:nvSpPr>
            <p:spPr>
              <a:xfrm>
                <a:off x="3696001" y="2725100"/>
                <a:ext cx="682485" cy="257580"/>
              </a:xfrm>
              <a:prstGeom prst="cube">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sp>
            <p:nvSpPr>
              <p:cNvPr id="12" name="立方体 11">
                <a:extLst>
                  <a:ext uri="{FF2B5EF4-FFF2-40B4-BE49-F238E27FC236}">
                    <a16:creationId xmlns:a16="http://schemas.microsoft.com/office/drawing/2014/main" id="{3FF62936-E3E0-C78B-BF8F-D299F430FA3F}"/>
                  </a:ext>
                </a:extLst>
              </p:cNvPr>
              <p:cNvSpPr/>
              <p:nvPr/>
            </p:nvSpPr>
            <p:spPr>
              <a:xfrm>
                <a:off x="4581070" y="2719160"/>
                <a:ext cx="682485" cy="257580"/>
              </a:xfrm>
              <a:prstGeom prst="cube">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grpSp>
        <p:grpSp>
          <p:nvGrpSpPr>
            <p:cNvPr id="7" name="组合 6">
              <a:extLst>
                <a:ext uri="{FF2B5EF4-FFF2-40B4-BE49-F238E27FC236}">
                  <a16:creationId xmlns:a16="http://schemas.microsoft.com/office/drawing/2014/main" id="{CD82F8EF-F9BB-1B32-D643-F3DA63C23B98}"/>
                </a:ext>
              </a:extLst>
            </p:cNvPr>
            <p:cNvGrpSpPr/>
            <p:nvPr/>
          </p:nvGrpSpPr>
          <p:grpSpPr>
            <a:xfrm>
              <a:off x="6728312" y="5129921"/>
              <a:ext cx="1534375" cy="261830"/>
              <a:chOff x="6777330" y="3787594"/>
              <a:chExt cx="1618717" cy="365940"/>
            </a:xfrm>
          </p:grpSpPr>
          <p:sp>
            <p:nvSpPr>
              <p:cNvPr id="9" name="立方体 8">
                <a:extLst>
                  <a:ext uri="{FF2B5EF4-FFF2-40B4-BE49-F238E27FC236}">
                    <a16:creationId xmlns:a16="http://schemas.microsoft.com/office/drawing/2014/main" id="{58A537A9-312D-3B41-6068-F29D0909D60D}"/>
                  </a:ext>
                </a:extLst>
              </p:cNvPr>
              <p:cNvSpPr/>
              <p:nvPr/>
            </p:nvSpPr>
            <p:spPr>
              <a:xfrm>
                <a:off x="6777330" y="3793534"/>
                <a:ext cx="720000" cy="360000"/>
              </a:xfrm>
              <a:prstGeom prst="cube">
                <a:avLst/>
              </a:prstGeom>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sp>
            <p:nvSpPr>
              <p:cNvPr id="10" name="立方体 9">
                <a:extLst>
                  <a:ext uri="{FF2B5EF4-FFF2-40B4-BE49-F238E27FC236}">
                    <a16:creationId xmlns:a16="http://schemas.microsoft.com/office/drawing/2014/main" id="{4912B1D5-DF6A-068A-EB77-ACC368D1E964}"/>
                  </a:ext>
                </a:extLst>
              </p:cNvPr>
              <p:cNvSpPr/>
              <p:nvPr/>
            </p:nvSpPr>
            <p:spPr>
              <a:xfrm>
                <a:off x="7676047" y="3787594"/>
                <a:ext cx="720000" cy="360000"/>
              </a:xfrm>
              <a:prstGeom prst="cube">
                <a:avLst/>
              </a:prstGeom>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grpSp>
        <p:sp>
          <p:nvSpPr>
            <p:cNvPr id="8" name="立方体 7">
              <a:extLst>
                <a:ext uri="{FF2B5EF4-FFF2-40B4-BE49-F238E27FC236}">
                  <a16:creationId xmlns:a16="http://schemas.microsoft.com/office/drawing/2014/main" id="{968C12E3-32F3-F2C4-2733-242B8899D18E}"/>
                </a:ext>
              </a:extLst>
            </p:cNvPr>
            <p:cNvSpPr/>
            <p:nvPr/>
          </p:nvSpPr>
          <p:spPr>
            <a:xfrm>
              <a:off x="6728311" y="5706981"/>
              <a:ext cx="682485" cy="257580"/>
            </a:xfrm>
            <a:prstGeom prst="cube">
              <a:avLst/>
            </a:prstGeom>
            <a:solidFill>
              <a:srgbClr val="00B050"/>
            </a:solidFill>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a:r>
                <a:rPr lang="en-US" altLang="zh-CN" sz="1200" b="1" dirty="0">
                  <a:latin typeface="Arial" panose="020B0604020202020204" pitchFamily="34" charset="0"/>
                  <a:ea typeface="微软雅黑" panose="020B0503020204020204" pitchFamily="34" charset="-122"/>
                </a:rPr>
                <a:t>P2</a:t>
              </a:r>
              <a:endParaRPr lang="zh-CN" altLang="en-US" sz="1200" b="1" dirty="0">
                <a:latin typeface="Arial" panose="020B0604020202020204" pitchFamily="34" charset="0"/>
                <a:ea typeface="微软雅黑" panose="020B0503020204020204" pitchFamily="34" charset="-122"/>
              </a:endParaRPr>
            </a:p>
          </p:txBody>
        </p:sp>
      </p:grpSp>
      <p:grpSp>
        <p:nvGrpSpPr>
          <p:cNvPr id="20" name="组合 19">
            <a:extLst>
              <a:ext uri="{FF2B5EF4-FFF2-40B4-BE49-F238E27FC236}">
                <a16:creationId xmlns:a16="http://schemas.microsoft.com/office/drawing/2014/main" id="{F8BE0CA3-2F1E-5178-BA3E-4B99AC5A19CD}"/>
              </a:ext>
            </a:extLst>
          </p:cNvPr>
          <p:cNvGrpSpPr>
            <a:grpSpLocks noChangeAspect="1"/>
          </p:cNvGrpSpPr>
          <p:nvPr>
            <p:custDataLst>
              <p:tags r:id="rId1"/>
            </p:custDataLst>
          </p:nvPr>
        </p:nvGrpSpPr>
        <p:grpSpPr>
          <a:xfrm>
            <a:off x="3019831" y="1151019"/>
            <a:ext cx="5366861" cy="1450082"/>
            <a:chOff x="675644" y="1047414"/>
            <a:chExt cx="1859110" cy="2434784"/>
          </a:xfrm>
        </p:grpSpPr>
        <p:sp>
          <p:nvSpPr>
            <p:cNvPr id="21" name="Title-2">
              <a:extLst>
                <a:ext uri="{FF2B5EF4-FFF2-40B4-BE49-F238E27FC236}">
                  <a16:creationId xmlns:a16="http://schemas.microsoft.com/office/drawing/2014/main" id="{5F544306-8DFD-BCEB-A206-452CC0354688}"/>
                </a:ext>
              </a:extLst>
            </p:cNvPr>
            <p:cNvSpPr/>
            <p:nvPr>
              <p:custDataLst>
                <p:tags r:id="rId2"/>
              </p:custDataLst>
            </p:nvPr>
          </p:nvSpPr>
          <p:spPr>
            <a:xfrm>
              <a:off x="675644" y="1909613"/>
              <a:ext cx="1859108" cy="774187"/>
            </a:xfrm>
            <a:prstGeom prst="rect">
              <a:avLst/>
            </a:prstGeom>
            <a:solidFill>
              <a:schemeClr val="accent2"/>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fontScale="92500" lnSpcReduction="10000"/>
            </a:bodyPr>
            <a:lstStyle/>
            <a:p>
              <a:pPr defTabSz="913765"/>
              <a:r>
                <a:rPr lang="en-US" altLang="zh-CN" sz="1400" b="1" dirty="0">
                  <a:solidFill>
                    <a:srgbClr val="FFFFFF"/>
                  </a:solidFill>
                  <a:latin typeface="Arial" panose="020B0604020202020204" pitchFamily="34" charset="0"/>
                  <a:ea typeface="微软雅黑" panose="020B0503020204020204" pitchFamily="34" charset="-122"/>
                </a:rPr>
                <a:t>P1</a:t>
              </a:r>
              <a:r>
                <a:rPr lang="zh-CN" altLang="en-US" sz="1400" b="1" dirty="0">
                  <a:solidFill>
                    <a:srgbClr val="FFFFFF"/>
                  </a:solidFill>
                  <a:latin typeface="Arial" panose="020B0604020202020204" pitchFamily="34" charset="0"/>
                  <a:ea typeface="微软雅黑" panose="020B0503020204020204" pitchFamily="34" charset="-122"/>
                </a:rPr>
                <a:t>的供应先用，累计值不能超过购买限额。如果不够产生对</a:t>
              </a:r>
              <a:r>
                <a:rPr lang="en-US" altLang="zh-CN" sz="1400" b="1" dirty="0">
                  <a:solidFill>
                    <a:srgbClr val="FFFFFF"/>
                  </a:solidFill>
                  <a:latin typeface="Arial" panose="020B0604020202020204" pitchFamily="34" charset="0"/>
                  <a:ea typeface="微软雅黑" panose="020B0503020204020204" pitchFamily="34" charset="-122"/>
                </a:rPr>
                <a:t>P2</a:t>
              </a:r>
              <a:r>
                <a:rPr lang="zh-CN" altLang="en-US" sz="1400" b="1" dirty="0">
                  <a:solidFill>
                    <a:srgbClr val="FFFFFF"/>
                  </a:solidFill>
                  <a:latin typeface="Arial" panose="020B0604020202020204" pitchFamily="34" charset="0"/>
                  <a:ea typeface="微软雅黑" panose="020B0503020204020204" pitchFamily="34" charset="-122"/>
                </a:rPr>
                <a:t>的相应需求</a:t>
              </a:r>
            </a:p>
          </p:txBody>
        </p:sp>
        <p:sp>
          <p:nvSpPr>
            <p:cNvPr id="22" name="Title-1">
              <a:extLst>
                <a:ext uri="{FF2B5EF4-FFF2-40B4-BE49-F238E27FC236}">
                  <a16:creationId xmlns:a16="http://schemas.microsoft.com/office/drawing/2014/main" id="{83DB2FB2-5870-1DDA-76AF-4AB2F869199C}"/>
                </a:ext>
              </a:extLst>
            </p:cNvPr>
            <p:cNvSpPr/>
            <p:nvPr>
              <p:custDataLst>
                <p:tags r:id="rId3"/>
              </p:custDataLst>
            </p:nvPr>
          </p:nvSpPr>
          <p:spPr>
            <a:xfrm>
              <a:off x="675644" y="1047414"/>
              <a:ext cx="1859110" cy="774187"/>
            </a:xfrm>
            <a:prstGeom prst="rect">
              <a:avLst/>
            </a:prstGeom>
            <a:solidFill>
              <a:schemeClr val="accent1"/>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defTabSz="913765"/>
              <a:r>
                <a:rPr lang="en-US" altLang="zh-CN" sz="1400" b="1" dirty="0">
                  <a:solidFill>
                    <a:srgbClr val="FFFFFF"/>
                  </a:solidFill>
                  <a:latin typeface="Arial" panose="020B0604020202020204" pitchFamily="34" charset="0"/>
                  <a:ea typeface="微软雅黑" panose="020B0503020204020204" pitchFamily="34" charset="-122"/>
                </a:rPr>
                <a:t>P1</a:t>
              </a:r>
              <a:r>
                <a:rPr lang="zh-CN" altLang="en-US" sz="1400" b="1" dirty="0">
                  <a:solidFill>
                    <a:srgbClr val="FFFFFF"/>
                  </a:solidFill>
                  <a:latin typeface="Arial" panose="020B0604020202020204" pitchFamily="34" charset="0"/>
                  <a:ea typeface="微软雅黑" panose="020B0503020204020204" pitchFamily="34" charset="-122"/>
                </a:rPr>
                <a:t>关联</a:t>
              </a:r>
              <a:r>
                <a:rPr lang="en-US" altLang="zh-CN" sz="1400" b="1" dirty="0">
                  <a:solidFill>
                    <a:srgbClr val="FFFFFF"/>
                  </a:solidFill>
                  <a:latin typeface="Arial" panose="020B0604020202020204" pitchFamily="34" charset="0"/>
                  <a:ea typeface="微软雅黑" panose="020B0503020204020204" pitchFamily="34" charset="-122"/>
                </a:rPr>
                <a:t>ECN</a:t>
              </a:r>
              <a:r>
                <a:rPr lang="zh-CN" altLang="en-US" sz="1400" b="1" dirty="0">
                  <a:solidFill>
                    <a:srgbClr val="FFFFFF"/>
                  </a:solidFill>
                  <a:latin typeface="Arial" panose="020B0604020202020204" pitchFamily="34" charset="0"/>
                  <a:ea typeface="微软雅黑" panose="020B0503020204020204" pitchFamily="34" charset="-122"/>
                </a:rPr>
                <a:t>添加其替换物料</a:t>
              </a:r>
              <a:r>
                <a:rPr lang="en-US" altLang="zh-CN" sz="1400" b="1" dirty="0">
                  <a:solidFill>
                    <a:srgbClr val="FFFFFF"/>
                  </a:solidFill>
                  <a:latin typeface="Arial" panose="020B0604020202020204" pitchFamily="34" charset="0"/>
                  <a:ea typeface="微软雅黑" panose="020B0503020204020204" pitchFamily="34" charset="-122"/>
                </a:rPr>
                <a:t>P2</a:t>
              </a:r>
              <a:endParaRPr lang="zh-CN" altLang="en-US" sz="1400" b="1" dirty="0">
                <a:solidFill>
                  <a:srgbClr val="FFFFFF"/>
                </a:solidFill>
                <a:latin typeface="Arial" panose="020B0604020202020204" pitchFamily="34" charset="0"/>
                <a:ea typeface="微软雅黑" panose="020B0503020204020204" pitchFamily="34" charset="-122"/>
              </a:endParaRPr>
            </a:p>
          </p:txBody>
        </p:sp>
        <p:sp>
          <p:nvSpPr>
            <p:cNvPr id="23" name="Title-3">
              <a:extLst>
                <a:ext uri="{FF2B5EF4-FFF2-40B4-BE49-F238E27FC236}">
                  <a16:creationId xmlns:a16="http://schemas.microsoft.com/office/drawing/2014/main" id="{CED335D6-232C-32E0-FC6B-32E305B0CE85}"/>
                </a:ext>
              </a:extLst>
            </p:cNvPr>
            <p:cNvSpPr/>
            <p:nvPr>
              <p:custDataLst>
                <p:tags r:id="rId4"/>
              </p:custDataLst>
            </p:nvPr>
          </p:nvSpPr>
          <p:spPr>
            <a:xfrm>
              <a:off x="675645" y="2708011"/>
              <a:ext cx="1859107" cy="774187"/>
            </a:xfrm>
            <a:prstGeom prst="rect">
              <a:avLst/>
            </a:prstGeom>
            <a:solidFill>
              <a:schemeClr val="accent3"/>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defTabSz="913765"/>
              <a:r>
                <a:rPr lang="en-US" altLang="zh-CN" sz="1400" b="1" dirty="0">
                  <a:solidFill>
                    <a:srgbClr val="FFFFFF"/>
                  </a:solidFill>
                  <a:latin typeface="Arial" panose="020B0604020202020204" pitchFamily="34" charset="0"/>
                  <a:ea typeface="微软雅黑" panose="020B0503020204020204" pitchFamily="34" charset="-122"/>
                </a:rPr>
                <a:t>P2</a:t>
              </a:r>
              <a:r>
                <a:rPr lang="zh-CN" altLang="en-US" sz="1400" b="1" dirty="0">
                  <a:solidFill>
                    <a:srgbClr val="FFFFFF"/>
                  </a:solidFill>
                  <a:latin typeface="Arial" panose="020B0604020202020204" pitchFamily="34" charset="0"/>
                  <a:ea typeface="微软雅黑" panose="020B0503020204020204" pitchFamily="34" charset="-122"/>
                </a:rPr>
                <a:t>的计划单据在</a:t>
              </a:r>
              <a:r>
                <a:rPr lang="en-US" altLang="zh-CN" sz="1400" b="1" dirty="0">
                  <a:solidFill>
                    <a:srgbClr val="FFFFFF"/>
                  </a:solidFill>
                  <a:latin typeface="Arial" panose="020B0604020202020204" pitchFamily="34" charset="0"/>
                  <a:ea typeface="微软雅黑" panose="020B0503020204020204" pitchFamily="34" charset="-122"/>
                </a:rPr>
                <a:t>ECN Date</a:t>
              </a:r>
              <a:r>
                <a:rPr lang="zh-CN" altLang="en-US" sz="1400" b="1" dirty="0">
                  <a:solidFill>
                    <a:srgbClr val="FFFFFF"/>
                  </a:solidFill>
                  <a:latin typeface="Arial" panose="020B0604020202020204" pitchFamily="34" charset="0"/>
                  <a:ea typeface="微软雅黑" panose="020B0503020204020204" pitchFamily="34" charset="-122"/>
                </a:rPr>
                <a:t>之后</a:t>
              </a:r>
              <a:endParaRPr lang="en-US" altLang="zh-CN" sz="1400" b="1" dirty="0">
                <a:solidFill>
                  <a:srgbClr val="FFFFFF"/>
                </a:solidFill>
                <a:latin typeface="Arial" panose="020B0604020202020204" pitchFamily="34" charset="0"/>
                <a:ea typeface="微软雅黑" panose="020B0503020204020204" pitchFamily="34" charset="-122"/>
              </a:endParaRPr>
            </a:p>
          </p:txBody>
        </p:sp>
      </p:grpSp>
      <p:sp>
        <p:nvSpPr>
          <p:cNvPr id="25" name="矩形: 圆角 24">
            <a:extLst>
              <a:ext uri="{FF2B5EF4-FFF2-40B4-BE49-F238E27FC236}">
                <a16:creationId xmlns:a16="http://schemas.microsoft.com/office/drawing/2014/main" id="{E369E253-3F11-043C-A78E-62A0E45EEEB2}"/>
              </a:ext>
            </a:extLst>
          </p:cNvPr>
          <p:cNvSpPr/>
          <p:nvPr/>
        </p:nvSpPr>
        <p:spPr>
          <a:xfrm>
            <a:off x="6522722" y="3819832"/>
            <a:ext cx="2532787" cy="1976274"/>
          </a:xfrm>
          <a:prstGeom prst="round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endParaRPr kumimoji="0" lang="zh-CN" altLang="en-US" sz="1200" b="1" i="0" u="none" strike="noStrike" kern="1200" cap="none" spc="0" normalizeH="0" baseline="0" noProof="0" dirty="0">
              <a:ln>
                <a:noFill/>
              </a:ln>
              <a:solidFill>
                <a:schemeClr val="tx1"/>
              </a:solidFill>
              <a:effectLst/>
              <a:uLnTx/>
              <a:uFillTx/>
              <a:latin typeface="+mn-ea"/>
              <a:cs typeface="+mn-cs"/>
            </a:endParaRPr>
          </a:p>
        </p:txBody>
      </p:sp>
      <p:sp>
        <p:nvSpPr>
          <p:cNvPr id="26" name="文本框 25">
            <a:extLst>
              <a:ext uri="{FF2B5EF4-FFF2-40B4-BE49-F238E27FC236}">
                <a16:creationId xmlns:a16="http://schemas.microsoft.com/office/drawing/2014/main" id="{A9E74F2C-1532-7F77-87C8-681AE2DAF7DE}"/>
              </a:ext>
            </a:extLst>
          </p:cNvPr>
          <p:cNvSpPr txBox="1"/>
          <p:nvPr/>
        </p:nvSpPr>
        <p:spPr>
          <a:xfrm>
            <a:off x="6877939" y="4010633"/>
            <a:ext cx="1851660" cy="369332"/>
          </a:xfrm>
          <a:prstGeom prst="rect">
            <a:avLst/>
          </a:prstGeom>
          <a:noFill/>
        </p:spPr>
        <p:txBody>
          <a:bodyPr wrap="square" rtlCol="0">
            <a:spAutoFit/>
          </a:bodyPr>
          <a:lstStyle/>
          <a:p>
            <a:r>
              <a:rPr lang="zh-CN" altLang="en-US" dirty="0">
                <a:latin typeface="Arial" panose="020B0604020202020204" pitchFamily="34" charset="0"/>
                <a:ea typeface="微软雅黑" panose="020B0503020204020204" pitchFamily="34" charset="-122"/>
              </a:rPr>
              <a:t>累计购买量限额</a:t>
            </a:r>
          </a:p>
        </p:txBody>
      </p:sp>
    </p:spTree>
    <p:extLst>
      <p:ext uri="{BB962C8B-B14F-4D97-AF65-F5344CB8AC3E}">
        <p14:creationId xmlns:p14="http://schemas.microsoft.com/office/powerpoint/2010/main" val="2927545457"/>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B4F6AF30-6EBD-1D51-8514-D7A24797199B}"/>
              </a:ext>
            </a:extLst>
          </p:cNvPr>
          <p:cNvSpPr>
            <a:spLocks noGrp="1"/>
          </p:cNvSpPr>
          <p:nvPr>
            <p:ph type="title"/>
          </p:nvPr>
        </p:nvSpPr>
        <p:spPr>
          <a:xfrm>
            <a:off x="1078061" y="-116765"/>
            <a:ext cx="10858500" cy="1028700"/>
          </a:xfrm>
        </p:spPr>
        <p:txBody>
          <a:bodyPr>
            <a:normAutofit/>
          </a:bodyPr>
          <a:lstStyle/>
          <a:p>
            <a:r>
              <a:rPr lang="zh-CN" altLang="en-US" dirty="0">
                <a:latin typeface="Arial" panose="020B0604020202020204" pitchFamily="34" charset="0"/>
                <a:ea typeface="微软雅黑" panose="020B0503020204020204" pitchFamily="34" charset="-122"/>
              </a:rPr>
              <a:t>寻源规则 </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动态平衡分配，适合灵活调整场景</a:t>
            </a:r>
            <a:br>
              <a:rPr lang="zh-CN" altLang="en-US" dirty="0">
                <a:latin typeface="Arial" panose="020B0604020202020204" pitchFamily="34" charset="0"/>
                <a:ea typeface="微软雅黑" panose="020B0503020204020204" pitchFamily="34" charset="-122"/>
              </a:rPr>
            </a:br>
            <a:endParaRPr lang="zh-CN" altLang="en-US" dirty="0">
              <a:latin typeface="Arial" panose="020B0604020202020204" pitchFamily="34" charset="0"/>
              <a:ea typeface="微软雅黑" panose="020B0503020204020204" pitchFamily="34" charset="-122"/>
            </a:endParaRPr>
          </a:p>
        </p:txBody>
      </p:sp>
      <p:grpSp>
        <p:nvGrpSpPr>
          <p:cNvPr id="7" name="组合 6">
            <a:extLst>
              <a:ext uri="{FF2B5EF4-FFF2-40B4-BE49-F238E27FC236}">
                <a16:creationId xmlns:a16="http://schemas.microsoft.com/office/drawing/2014/main" id="{86849F5C-1B4B-80D4-6E90-1DEFAECCDE49}"/>
              </a:ext>
            </a:extLst>
          </p:cNvPr>
          <p:cNvGrpSpPr/>
          <p:nvPr/>
        </p:nvGrpSpPr>
        <p:grpSpPr>
          <a:xfrm>
            <a:off x="760560" y="1193035"/>
            <a:ext cx="635003" cy="462517"/>
            <a:chOff x="2618303" y="1841679"/>
            <a:chExt cx="739175" cy="384518"/>
          </a:xfrm>
        </p:grpSpPr>
        <p:sp>
          <p:nvSpPr>
            <p:cNvPr id="8" name="等腰三角形 7">
              <a:extLst>
                <a:ext uri="{FF2B5EF4-FFF2-40B4-BE49-F238E27FC236}">
                  <a16:creationId xmlns:a16="http://schemas.microsoft.com/office/drawing/2014/main" id="{1C942305-44DC-9262-307B-6C394AB7D263}"/>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effectLst/>
                <a:uLnTx/>
                <a:uFillTx/>
                <a:latin typeface="+mn-ea"/>
                <a:cs typeface="+mn-cs"/>
              </a:endParaRPr>
            </a:p>
          </p:txBody>
        </p:sp>
        <p:sp>
          <p:nvSpPr>
            <p:cNvPr id="9" name="文本框 8">
              <a:extLst>
                <a:ext uri="{FF2B5EF4-FFF2-40B4-BE49-F238E27FC236}">
                  <a16:creationId xmlns:a16="http://schemas.microsoft.com/office/drawing/2014/main" id="{5F952E95-F743-7802-86C8-3E0EDDC48FC0}"/>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P1</a:t>
              </a:r>
              <a:r>
                <a:rPr kumimoji="0" lang="zh-CN" altLang="en-US"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a:t>
              </a:r>
              <a:r>
                <a:rPr kumimoji="0" lang="en-US" altLang="zh-CN"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6</a:t>
              </a:r>
              <a:endParaRPr kumimoji="0" lang="zh-CN" altLang="en-US"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cxnSp>
        <p:nvCxnSpPr>
          <p:cNvPr id="10" name="连接符: 肘形 9">
            <a:extLst>
              <a:ext uri="{FF2B5EF4-FFF2-40B4-BE49-F238E27FC236}">
                <a16:creationId xmlns:a16="http://schemas.microsoft.com/office/drawing/2014/main" id="{8DFFAACA-95CC-F063-877A-7BC6E6F73CBA}"/>
              </a:ext>
            </a:extLst>
          </p:cNvPr>
          <p:cNvCxnSpPr>
            <a:cxnSpLocks/>
            <a:stCxn id="11" idx="4"/>
            <a:endCxn id="8" idx="0"/>
          </p:cNvCxnSpPr>
          <p:nvPr/>
        </p:nvCxnSpPr>
        <p:spPr>
          <a:xfrm rot="5400000">
            <a:off x="1185770" y="877344"/>
            <a:ext cx="207983" cy="423398"/>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sp>
        <p:nvSpPr>
          <p:cNvPr id="11" name="椭圆 10">
            <a:extLst>
              <a:ext uri="{FF2B5EF4-FFF2-40B4-BE49-F238E27FC236}">
                <a16:creationId xmlns:a16="http://schemas.microsoft.com/office/drawing/2014/main" id="{A008B99C-5808-1CD2-C026-C6BE3D178C67}"/>
              </a:ext>
            </a:extLst>
          </p:cNvPr>
          <p:cNvSpPr/>
          <p:nvPr/>
        </p:nvSpPr>
        <p:spPr>
          <a:xfrm>
            <a:off x="1183959" y="699260"/>
            <a:ext cx="635002" cy="285792"/>
          </a:xfrm>
          <a:prstGeom prst="ellipse">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800" b="1" dirty="0" err="1">
                <a:latin typeface="Arial" panose="020B0604020202020204" pitchFamily="34" charset="0"/>
                <a:ea typeface="微软雅黑" panose="020B0503020204020204" pitchFamily="34" charset="-122"/>
              </a:rPr>
              <a:t>alg</a:t>
            </a:r>
            <a:r>
              <a:rPr lang="en-US" altLang="zh-CN" sz="800" b="1" dirty="0">
                <a:latin typeface="Arial" panose="020B0604020202020204" pitchFamily="34" charset="0"/>
                <a:ea typeface="微软雅黑" panose="020B0503020204020204" pitchFamily="34" charset="-122"/>
              </a:rPr>
              <a:t> 1</a:t>
            </a:r>
            <a:endParaRPr lang="zh-CN" altLang="en-US" sz="800" b="1" dirty="0">
              <a:latin typeface="Arial" panose="020B0604020202020204" pitchFamily="34" charset="0"/>
              <a:ea typeface="微软雅黑" panose="020B0503020204020204" pitchFamily="34" charset="-122"/>
            </a:endParaRPr>
          </a:p>
        </p:txBody>
      </p:sp>
      <p:grpSp>
        <p:nvGrpSpPr>
          <p:cNvPr id="12" name="组合 11">
            <a:extLst>
              <a:ext uri="{FF2B5EF4-FFF2-40B4-BE49-F238E27FC236}">
                <a16:creationId xmlns:a16="http://schemas.microsoft.com/office/drawing/2014/main" id="{10A414E9-AA99-46F8-2A1D-DE95AB947361}"/>
              </a:ext>
            </a:extLst>
          </p:cNvPr>
          <p:cNvGrpSpPr/>
          <p:nvPr/>
        </p:nvGrpSpPr>
        <p:grpSpPr>
          <a:xfrm>
            <a:off x="1586434" y="1193035"/>
            <a:ext cx="635003" cy="462517"/>
            <a:chOff x="2618303" y="1841679"/>
            <a:chExt cx="739175" cy="384518"/>
          </a:xfrm>
        </p:grpSpPr>
        <p:sp>
          <p:nvSpPr>
            <p:cNvPr id="13" name="等腰三角形 12">
              <a:extLst>
                <a:ext uri="{FF2B5EF4-FFF2-40B4-BE49-F238E27FC236}">
                  <a16:creationId xmlns:a16="http://schemas.microsoft.com/office/drawing/2014/main" id="{0D99BB52-7212-9696-3D66-8AB7BDB63551}"/>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effectLst/>
                <a:uLnTx/>
                <a:uFillTx/>
                <a:latin typeface="+mn-ea"/>
                <a:cs typeface="+mn-cs"/>
              </a:endParaRPr>
            </a:p>
          </p:txBody>
        </p:sp>
        <p:sp>
          <p:nvSpPr>
            <p:cNvPr id="14" name="文本框 13">
              <a:extLst>
                <a:ext uri="{FF2B5EF4-FFF2-40B4-BE49-F238E27FC236}">
                  <a16:creationId xmlns:a16="http://schemas.microsoft.com/office/drawing/2014/main" id="{DFFEEB89-7F70-0BBC-A568-7A81A47BB086}"/>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a:t>
              </a:r>
              <a:r>
                <a:rPr lang="en-US" altLang="zh-CN" sz="800" b="1" kern="0" dirty="0">
                  <a:latin typeface="Arial" panose="020B0604020202020204" pitchFamily="34" charset="0"/>
                  <a:ea typeface="微软雅黑" panose="020B0503020204020204" pitchFamily="34" charset="-122"/>
                </a:rPr>
                <a:t>2</a:t>
              </a:r>
              <a:r>
                <a:rPr lang="zh-CN" altLang="en-US" sz="800" b="1" kern="0" dirty="0">
                  <a:latin typeface="Arial" panose="020B0604020202020204" pitchFamily="34" charset="0"/>
                  <a:ea typeface="微软雅黑" panose="020B0503020204020204" pitchFamily="34" charset="-122"/>
                </a:rPr>
                <a:t>：</a:t>
              </a:r>
              <a:r>
                <a:rPr lang="en-US" altLang="zh-CN" sz="800" b="1" kern="0" dirty="0">
                  <a:latin typeface="Arial" panose="020B0604020202020204" pitchFamily="34" charset="0"/>
                  <a:ea typeface="微软雅黑" panose="020B0503020204020204" pitchFamily="34" charset="-122"/>
                </a:rPr>
                <a:t>4 </a:t>
              </a:r>
              <a:endParaRPr kumimoji="0" lang="zh-CN" altLang="en-US"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cxnSp>
        <p:nvCxnSpPr>
          <p:cNvPr id="16" name="连接符: 肘形 15">
            <a:extLst>
              <a:ext uri="{FF2B5EF4-FFF2-40B4-BE49-F238E27FC236}">
                <a16:creationId xmlns:a16="http://schemas.microsoft.com/office/drawing/2014/main" id="{77829B0B-FCF1-DA8F-0F01-90CA626790B7}"/>
              </a:ext>
            </a:extLst>
          </p:cNvPr>
          <p:cNvCxnSpPr>
            <a:cxnSpLocks/>
            <a:stCxn id="11" idx="4"/>
            <a:endCxn id="13" idx="0"/>
          </p:cNvCxnSpPr>
          <p:nvPr/>
        </p:nvCxnSpPr>
        <p:spPr>
          <a:xfrm rot="16200000" flipH="1">
            <a:off x="1598707" y="887805"/>
            <a:ext cx="207983" cy="402476"/>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sp>
        <p:nvSpPr>
          <p:cNvPr id="19" name="文本框 18">
            <a:extLst>
              <a:ext uri="{FF2B5EF4-FFF2-40B4-BE49-F238E27FC236}">
                <a16:creationId xmlns:a16="http://schemas.microsoft.com/office/drawing/2014/main" id="{FF0AD77F-B680-E522-064C-B972B60CA894}"/>
              </a:ext>
            </a:extLst>
          </p:cNvPr>
          <p:cNvSpPr txBox="1"/>
          <p:nvPr/>
        </p:nvSpPr>
        <p:spPr>
          <a:xfrm>
            <a:off x="2221437" y="736995"/>
            <a:ext cx="3179483" cy="276999"/>
          </a:xfrm>
          <a:prstGeom prst="rect">
            <a:avLst/>
          </a:prstGeom>
          <a:noFill/>
        </p:spPr>
        <p:txBody>
          <a:bodyPr wrap="square" rtlCol="0">
            <a:spAutoFit/>
          </a:bodyPr>
          <a:lstStyle/>
          <a:p>
            <a:r>
              <a:rPr lang="en-US" altLang="zh-CN" sz="1200" dirty="0">
                <a:latin typeface="Arial" panose="020B0604020202020204" pitchFamily="34" charset="0"/>
                <a:ea typeface="微软雅黑" panose="020B0503020204020204" pitchFamily="34" charset="-122"/>
              </a:rPr>
              <a:t>P1</a:t>
            </a:r>
            <a:r>
              <a:rPr lang="zh-CN" altLang="en-US" sz="1200" dirty="0">
                <a:latin typeface="Arial" panose="020B0604020202020204" pitchFamily="34" charset="0"/>
                <a:ea typeface="微软雅黑" panose="020B0503020204020204" pitchFamily="34" charset="-122"/>
              </a:rPr>
              <a:t>和</a:t>
            </a:r>
            <a:r>
              <a:rPr lang="en-US" altLang="zh-CN" sz="1200" dirty="0">
                <a:latin typeface="Arial" panose="020B0604020202020204" pitchFamily="34" charset="0"/>
                <a:ea typeface="微软雅黑" panose="020B0503020204020204" pitchFamily="34" charset="-122"/>
              </a:rPr>
              <a:t>P2 Target </a:t>
            </a:r>
            <a:r>
              <a:rPr lang="zh-CN" altLang="en-US" sz="1200" dirty="0">
                <a:latin typeface="Arial" panose="020B0604020202020204" pitchFamily="34" charset="0"/>
                <a:ea typeface="微软雅黑" panose="020B0503020204020204" pitchFamily="34" charset="-122"/>
              </a:rPr>
              <a:t>分别为</a:t>
            </a:r>
            <a:r>
              <a:rPr lang="en-US" altLang="zh-CN" sz="1200" dirty="0">
                <a:latin typeface="Arial" panose="020B0604020202020204" pitchFamily="34" charset="0"/>
                <a:ea typeface="微软雅黑" panose="020B0503020204020204" pitchFamily="34" charset="-122"/>
              </a:rPr>
              <a:t>6</a:t>
            </a:r>
            <a:r>
              <a:rPr lang="zh-CN" altLang="en-US" sz="1200" dirty="0">
                <a:latin typeface="Arial" panose="020B0604020202020204" pitchFamily="34" charset="0"/>
                <a:ea typeface="微软雅黑" panose="020B0503020204020204" pitchFamily="34" charset="-122"/>
              </a:rPr>
              <a:t>和</a:t>
            </a:r>
            <a:r>
              <a:rPr lang="en-US" altLang="zh-CN" sz="1200" dirty="0">
                <a:latin typeface="Arial" panose="020B0604020202020204" pitchFamily="34" charset="0"/>
                <a:ea typeface="微软雅黑" panose="020B0503020204020204" pitchFamily="34" charset="-122"/>
              </a:rPr>
              <a:t>4</a:t>
            </a:r>
            <a:endParaRPr lang="zh-CN" altLang="en-US" sz="1200" dirty="0">
              <a:latin typeface="Arial" panose="020B0604020202020204" pitchFamily="34" charset="0"/>
              <a:ea typeface="微软雅黑" panose="020B0503020204020204" pitchFamily="34" charset="-122"/>
            </a:endParaRPr>
          </a:p>
        </p:txBody>
      </p:sp>
      <p:graphicFrame>
        <p:nvGraphicFramePr>
          <p:cNvPr id="20" name="表格 19">
            <a:extLst>
              <a:ext uri="{FF2B5EF4-FFF2-40B4-BE49-F238E27FC236}">
                <a16:creationId xmlns:a16="http://schemas.microsoft.com/office/drawing/2014/main" id="{0D9762FF-20AB-13F6-9751-BE4C6D205841}"/>
              </a:ext>
            </a:extLst>
          </p:cNvPr>
          <p:cNvGraphicFramePr>
            <a:graphicFrameLocks noGrp="1"/>
          </p:cNvGraphicFramePr>
          <p:nvPr>
            <p:extLst>
              <p:ext uri="{D42A27DB-BD31-4B8C-83A1-F6EECF244321}">
                <p14:modId xmlns:p14="http://schemas.microsoft.com/office/powerpoint/2010/main" val="3551329141"/>
              </p:ext>
            </p:extLst>
          </p:nvPr>
        </p:nvGraphicFramePr>
        <p:xfrm>
          <a:off x="1638410" y="3530165"/>
          <a:ext cx="8740533" cy="3139422"/>
        </p:xfrm>
        <a:graphic>
          <a:graphicData uri="http://schemas.openxmlformats.org/drawingml/2006/table">
            <a:tbl>
              <a:tblPr firstRow="1" firstCol="1" lastRow="1" lastCol="1" bandRow="1" bandCol="1">
                <a:tableStyleId>{5A111915-BE36-4E01-A7E5-04B1672EAD32}</a:tableStyleId>
              </a:tblPr>
              <a:tblGrid>
                <a:gridCol w="1619461">
                  <a:extLst>
                    <a:ext uri="{9D8B030D-6E8A-4147-A177-3AD203B41FA5}">
                      <a16:colId xmlns:a16="http://schemas.microsoft.com/office/drawing/2014/main" val="3599230888"/>
                    </a:ext>
                  </a:extLst>
                </a:gridCol>
                <a:gridCol w="1599936">
                  <a:extLst>
                    <a:ext uri="{9D8B030D-6E8A-4147-A177-3AD203B41FA5}">
                      <a16:colId xmlns:a16="http://schemas.microsoft.com/office/drawing/2014/main" val="2601383947"/>
                    </a:ext>
                  </a:extLst>
                </a:gridCol>
                <a:gridCol w="1927517">
                  <a:extLst>
                    <a:ext uri="{9D8B030D-6E8A-4147-A177-3AD203B41FA5}">
                      <a16:colId xmlns:a16="http://schemas.microsoft.com/office/drawing/2014/main" val="3082718648"/>
                    </a:ext>
                  </a:extLst>
                </a:gridCol>
                <a:gridCol w="1955719">
                  <a:extLst>
                    <a:ext uri="{9D8B030D-6E8A-4147-A177-3AD203B41FA5}">
                      <a16:colId xmlns:a16="http://schemas.microsoft.com/office/drawing/2014/main" val="1988102900"/>
                    </a:ext>
                  </a:extLst>
                </a:gridCol>
                <a:gridCol w="1637900">
                  <a:extLst>
                    <a:ext uri="{9D8B030D-6E8A-4147-A177-3AD203B41FA5}">
                      <a16:colId xmlns:a16="http://schemas.microsoft.com/office/drawing/2014/main" val="299919663"/>
                    </a:ext>
                  </a:extLst>
                </a:gridCol>
              </a:tblGrid>
              <a:tr h="290133">
                <a:tc>
                  <a:txBody>
                    <a:bodyPr/>
                    <a:lstStyle/>
                    <a:p>
                      <a:pPr algn="l">
                        <a:lnSpc>
                          <a:spcPct val="120000"/>
                        </a:lnSpc>
                        <a:buNone/>
                      </a:pPr>
                      <a:r>
                        <a:rPr lang="zh-CN" sz="1400" b="1" kern="100">
                          <a:solidFill>
                            <a:schemeClr val="tx1"/>
                          </a:solidFill>
                          <a:effectLst/>
                          <a:latin typeface="Arial" panose="020B0604020202020204" pitchFamily="34" charset="0"/>
                          <a:ea typeface="微软雅黑" panose="020B0503020204020204" pitchFamily="34" charset="-122"/>
                        </a:rPr>
                        <a:t>分配次数</a:t>
                      </a:r>
                      <a:endParaRPr lang="zh-CN" sz="1400" b="1"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zh-CN" sz="1400" b="1" kern="100">
                          <a:solidFill>
                            <a:schemeClr val="tx1"/>
                          </a:solidFill>
                          <a:effectLst/>
                          <a:latin typeface="Arial" panose="020B0604020202020204" pitchFamily="34" charset="0"/>
                          <a:ea typeface="微软雅黑" panose="020B0503020204020204" pitchFamily="34" charset="-122"/>
                        </a:rPr>
                        <a:t>净需求数量</a:t>
                      </a:r>
                      <a:endParaRPr lang="zh-CN" sz="1400" b="1"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zh-CN" sz="1400" b="1" kern="100">
                          <a:solidFill>
                            <a:schemeClr val="tx1"/>
                          </a:solidFill>
                          <a:effectLst/>
                          <a:latin typeface="Arial" panose="020B0604020202020204" pitchFamily="34" charset="0"/>
                          <a:ea typeface="微软雅黑" panose="020B0503020204020204" pitchFamily="34" charset="-122"/>
                        </a:rPr>
                        <a:t>动态目标计算</a:t>
                      </a:r>
                      <a:endParaRPr lang="zh-CN" sz="1400" b="1"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zh-CN" sz="1400" b="1" kern="100">
                          <a:solidFill>
                            <a:schemeClr val="tx1"/>
                          </a:solidFill>
                          <a:effectLst/>
                          <a:latin typeface="Arial" panose="020B0604020202020204" pitchFamily="34" charset="0"/>
                          <a:ea typeface="微软雅黑" panose="020B0503020204020204" pitchFamily="34" charset="-122"/>
                        </a:rPr>
                        <a:t>分配结果</a:t>
                      </a:r>
                      <a:endParaRPr lang="zh-CN" sz="1400" b="1"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zh-CN" sz="1400" b="1" kern="100" dirty="0">
                          <a:solidFill>
                            <a:schemeClr val="tx1"/>
                          </a:solidFill>
                          <a:effectLst/>
                          <a:latin typeface="Arial" panose="020B0604020202020204" pitchFamily="34" charset="0"/>
                          <a:ea typeface="微软雅黑" panose="020B0503020204020204" pitchFamily="34" charset="-122"/>
                        </a:rPr>
                        <a:t>选择逻辑</a:t>
                      </a:r>
                      <a:endParaRPr lang="zh-CN" sz="1400" b="1" kern="100" dirty="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extLst>
                  <a:ext uri="{0D108BD9-81ED-4DB2-BD59-A6C34878D82A}">
                    <a16:rowId xmlns:a16="http://schemas.microsoft.com/office/drawing/2014/main" val="2921825883"/>
                  </a:ext>
                </a:extLst>
              </a:tr>
              <a:tr h="949763">
                <a:tc>
                  <a:txBody>
                    <a:bodyPr/>
                    <a:lstStyle/>
                    <a:p>
                      <a:pPr algn="l">
                        <a:lnSpc>
                          <a:spcPct val="120000"/>
                        </a:lnSpc>
                        <a:buNone/>
                      </a:pPr>
                      <a:r>
                        <a:rPr lang="zh-CN" sz="1200" b="0" kern="100">
                          <a:solidFill>
                            <a:schemeClr val="tx1"/>
                          </a:solidFill>
                          <a:effectLst/>
                          <a:latin typeface="Arial" panose="020B0604020202020204" pitchFamily="34" charset="0"/>
                          <a:ea typeface="微软雅黑" panose="020B0503020204020204" pitchFamily="34" charset="-122"/>
                        </a:rPr>
                        <a:t>第</a:t>
                      </a:r>
                      <a:r>
                        <a:rPr lang="en-US" sz="1200" b="0" kern="100">
                          <a:solidFill>
                            <a:schemeClr val="tx1"/>
                          </a:solidFill>
                          <a:effectLst/>
                          <a:latin typeface="Arial" panose="020B0604020202020204" pitchFamily="34" charset="0"/>
                          <a:ea typeface="微软雅黑" panose="020B0503020204020204" pitchFamily="34" charset="-122"/>
                        </a:rPr>
                        <a:t>1</a:t>
                      </a:r>
                      <a:r>
                        <a:rPr lang="zh-CN" sz="1200" b="0" kern="100">
                          <a:solidFill>
                            <a:schemeClr val="tx1"/>
                          </a:solidFill>
                          <a:effectLst/>
                          <a:latin typeface="Arial" panose="020B0604020202020204" pitchFamily="34" charset="0"/>
                          <a:ea typeface="微软雅黑" panose="020B0503020204020204" pitchFamily="34" charset="-122"/>
                        </a:rPr>
                        <a:t>次</a:t>
                      </a:r>
                      <a:endParaRPr lang="zh-CN" sz="1200" b="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200" b="0" kern="100" dirty="0">
                          <a:solidFill>
                            <a:schemeClr val="tx1"/>
                          </a:solidFill>
                          <a:effectLst/>
                          <a:latin typeface="Arial" panose="020B0604020202020204" pitchFamily="34" charset="0"/>
                          <a:ea typeface="微软雅黑" panose="020B0503020204020204" pitchFamily="34" charset="-122"/>
                        </a:rPr>
                        <a:t>10</a:t>
                      </a:r>
                      <a:endParaRPr lang="zh-CN" sz="1200" b="0" kern="100" dirty="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200" b="0" kern="100" dirty="0">
                          <a:solidFill>
                            <a:schemeClr val="tx1"/>
                          </a:solidFill>
                          <a:effectLst/>
                          <a:latin typeface="Arial" panose="020B0604020202020204" pitchFamily="34" charset="0"/>
                          <a:ea typeface="微软雅黑" panose="020B0503020204020204" pitchFamily="34" charset="-122"/>
                        </a:rPr>
                        <a:t>P1 :60%*10=6 vs P2:40%*10=4</a:t>
                      </a:r>
                      <a:endParaRPr lang="zh-CN" sz="1200" b="0" kern="100" dirty="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200" b="0" kern="100" dirty="0">
                          <a:solidFill>
                            <a:schemeClr val="tx1"/>
                          </a:solidFill>
                          <a:effectLst/>
                          <a:latin typeface="Arial" panose="020B0604020202020204" pitchFamily="34" charset="0"/>
                          <a:ea typeface="微软雅黑" panose="020B0503020204020204" pitchFamily="34" charset="-122"/>
                        </a:rPr>
                        <a:t>P1:0-6 = -6</a:t>
                      </a:r>
                      <a:endParaRPr lang="zh-CN" sz="1200" b="0" kern="100" dirty="0">
                        <a:solidFill>
                          <a:schemeClr val="tx1"/>
                        </a:solidFill>
                        <a:effectLst/>
                        <a:latin typeface="Arial" panose="020B0604020202020204" pitchFamily="34" charset="0"/>
                        <a:ea typeface="微软雅黑" panose="020B0503020204020204" pitchFamily="34" charset="-122"/>
                      </a:endParaRPr>
                    </a:p>
                    <a:p>
                      <a:pPr algn="l">
                        <a:lnSpc>
                          <a:spcPct val="120000"/>
                        </a:lnSpc>
                        <a:buNone/>
                      </a:pPr>
                      <a:r>
                        <a:rPr lang="en-US" sz="1200" b="0" kern="100" dirty="0">
                          <a:solidFill>
                            <a:schemeClr val="tx1"/>
                          </a:solidFill>
                          <a:effectLst/>
                          <a:latin typeface="Arial" panose="020B0604020202020204" pitchFamily="34" charset="0"/>
                          <a:ea typeface="微软雅黑" panose="020B0503020204020204" pitchFamily="34" charset="-122"/>
                        </a:rPr>
                        <a:t>P2:0-4 = -4</a:t>
                      </a:r>
                      <a:endParaRPr lang="zh-CN" sz="1200" b="0" kern="100" dirty="0">
                        <a:solidFill>
                          <a:schemeClr val="tx1"/>
                        </a:solidFill>
                        <a:effectLst/>
                        <a:latin typeface="Arial" panose="020B0604020202020204" pitchFamily="34" charset="0"/>
                        <a:ea typeface="微软雅黑" panose="020B0503020204020204" pitchFamily="34" charset="-122"/>
                      </a:endParaRPr>
                    </a:p>
                    <a:p>
                      <a:pPr algn="l">
                        <a:lnSpc>
                          <a:spcPct val="120000"/>
                        </a:lnSpc>
                        <a:buNone/>
                      </a:pPr>
                      <a:r>
                        <a:rPr lang="en-US" sz="1200" b="0" kern="100" dirty="0">
                          <a:solidFill>
                            <a:schemeClr val="tx1"/>
                          </a:solidFill>
                          <a:effectLst/>
                          <a:latin typeface="Arial" panose="020B0604020202020204" pitchFamily="34" charset="0"/>
                          <a:ea typeface="微软雅黑" panose="020B0503020204020204" pitchFamily="34" charset="-122"/>
                        </a:rPr>
                        <a:t>P1</a:t>
                      </a:r>
                      <a:r>
                        <a:rPr lang="zh-CN" sz="1200" b="0" kern="100" dirty="0">
                          <a:solidFill>
                            <a:schemeClr val="tx1"/>
                          </a:solidFill>
                          <a:effectLst/>
                          <a:latin typeface="Arial" panose="020B0604020202020204" pitchFamily="34" charset="0"/>
                          <a:ea typeface="微软雅黑" panose="020B0503020204020204" pitchFamily="34" charset="-122"/>
                        </a:rPr>
                        <a:t>分配</a:t>
                      </a:r>
                      <a:r>
                        <a:rPr lang="en-US" sz="1200" b="0" kern="100" dirty="0">
                          <a:solidFill>
                            <a:schemeClr val="tx1"/>
                          </a:solidFill>
                          <a:effectLst/>
                          <a:latin typeface="Arial" panose="020B0604020202020204" pitchFamily="34" charset="0"/>
                          <a:ea typeface="微软雅黑" panose="020B0503020204020204" pitchFamily="34" charset="-122"/>
                        </a:rPr>
                        <a:t>10</a:t>
                      </a:r>
                      <a:endParaRPr lang="zh-CN" sz="1200" b="0" kern="100" dirty="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200" b="0" kern="100">
                          <a:solidFill>
                            <a:schemeClr val="tx1"/>
                          </a:solidFill>
                          <a:effectLst/>
                          <a:latin typeface="Arial" panose="020B0604020202020204" pitchFamily="34" charset="0"/>
                          <a:ea typeface="微软雅黑" panose="020B0503020204020204" pitchFamily="34" charset="-122"/>
                        </a:rPr>
                        <a:t>P1</a:t>
                      </a:r>
                      <a:r>
                        <a:rPr lang="zh-CN" sz="1200" b="0" kern="100">
                          <a:solidFill>
                            <a:schemeClr val="tx1"/>
                          </a:solidFill>
                          <a:effectLst/>
                          <a:latin typeface="Arial" panose="020B0604020202020204" pitchFamily="34" charset="0"/>
                          <a:ea typeface="微软雅黑" panose="020B0503020204020204" pitchFamily="34" charset="-122"/>
                        </a:rPr>
                        <a:t>的差距更大选择</a:t>
                      </a:r>
                      <a:r>
                        <a:rPr lang="en-US" sz="1200" b="0" kern="100">
                          <a:solidFill>
                            <a:schemeClr val="tx1"/>
                          </a:solidFill>
                          <a:effectLst/>
                          <a:latin typeface="Arial" panose="020B0604020202020204" pitchFamily="34" charset="0"/>
                          <a:ea typeface="微软雅黑" panose="020B0503020204020204" pitchFamily="34" charset="-122"/>
                        </a:rPr>
                        <a:t>P1</a:t>
                      </a:r>
                      <a:endParaRPr lang="zh-CN" sz="1200" b="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extLst>
                  <a:ext uri="{0D108BD9-81ED-4DB2-BD59-A6C34878D82A}">
                    <a16:rowId xmlns:a16="http://schemas.microsoft.com/office/drawing/2014/main" val="2539432505"/>
                  </a:ext>
                </a:extLst>
              </a:tr>
              <a:tr h="949763">
                <a:tc>
                  <a:txBody>
                    <a:bodyPr/>
                    <a:lstStyle/>
                    <a:p>
                      <a:pPr algn="l">
                        <a:lnSpc>
                          <a:spcPct val="120000"/>
                        </a:lnSpc>
                        <a:buNone/>
                      </a:pPr>
                      <a:r>
                        <a:rPr lang="zh-CN" sz="1200" b="0" kern="100" dirty="0">
                          <a:solidFill>
                            <a:schemeClr val="tx1"/>
                          </a:solidFill>
                          <a:effectLst/>
                          <a:latin typeface="Arial" panose="020B0604020202020204" pitchFamily="34" charset="0"/>
                          <a:ea typeface="微软雅黑" panose="020B0503020204020204" pitchFamily="34" charset="-122"/>
                        </a:rPr>
                        <a:t>第</a:t>
                      </a:r>
                      <a:r>
                        <a:rPr lang="en-US" sz="1200" b="0" kern="100" dirty="0">
                          <a:solidFill>
                            <a:schemeClr val="tx1"/>
                          </a:solidFill>
                          <a:effectLst/>
                          <a:latin typeface="Arial" panose="020B0604020202020204" pitchFamily="34" charset="0"/>
                          <a:ea typeface="微软雅黑" panose="020B0503020204020204" pitchFamily="34" charset="-122"/>
                        </a:rPr>
                        <a:t>2</a:t>
                      </a:r>
                      <a:r>
                        <a:rPr lang="zh-CN" sz="1200" b="0" kern="100" dirty="0">
                          <a:solidFill>
                            <a:schemeClr val="tx1"/>
                          </a:solidFill>
                          <a:effectLst/>
                          <a:latin typeface="Arial" panose="020B0604020202020204" pitchFamily="34" charset="0"/>
                          <a:ea typeface="微软雅黑" panose="020B0503020204020204" pitchFamily="34" charset="-122"/>
                        </a:rPr>
                        <a:t>次</a:t>
                      </a:r>
                      <a:endParaRPr lang="zh-CN" sz="1200" b="0" kern="100" dirty="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200" b="0" kern="100">
                          <a:solidFill>
                            <a:schemeClr val="tx1"/>
                          </a:solidFill>
                          <a:effectLst/>
                          <a:latin typeface="Arial" panose="020B0604020202020204" pitchFamily="34" charset="0"/>
                          <a:ea typeface="微软雅黑" panose="020B0503020204020204" pitchFamily="34" charset="-122"/>
                        </a:rPr>
                        <a:t>10</a:t>
                      </a:r>
                      <a:endParaRPr lang="zh-CN" sz="1200" b="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200" b="0" kern="100">
                          <a:solidFill>
                            <a:schemeClr val="tx1"/>
                          </a:solidFill>
                          <a:effectLst/>
                          <a:latin typeface="Arial" panose="020B0604020202020204" pitchFamily="34" charset="0"/>
                          <a:ea typeface="微软雅黑" panose="020B0503020204020204" pitchFamily="34" charset="-122"/>
                        </a:rPr>
                        <a:t>P1:60%*20 = 12</a:t>
                      </a:r>
                      <a:endParaRPr lang="zh-CN" sz="1200" b="0" kern="100">
                        <a:solidFill>
                          <a:schemeClr val="tx1"/>
                        </a:solidFill>
                        <a:effectLst/>
                        <a:latin typeface="Arial" panose="020B0604020202020204" pitchFamily="34" charset="0"/>
                        <a:ea typeface="微软雅黑" panose="020B0503020204020204" pitchFamily="34" charset="-122"/>
                      </a:endParaRPr>
                    </a:p>
                    <a:p>
                      <a:pPr algn="l">
                        <a:lnSpc>
                          <a:spcPct val="120000"/>
                        </a:lnSpc>
                        <a:buNone/>
                      </a:pPr>
                      <a:r>
                        <a:rPr lang="en-US" sz="1200" b="0" kern="100">
                          <a:solidFill>
                            <a:schemeClr val="tx1"/>
                          </a:solidFill>
                          <a:effectLst/>
                          <a:latin typeface="Arial" panose="020B0604020202020204" pitchFamily="34" charset="0"/>
                          <a:ea typeface="微软雅黑" panose="020B0503020204020204" pitchFamily="34" charset="-122"/>
                        </a:rPr>
                        <a:t>P2:40%*20 = 8</a:t>
                      </a:r>
                      <a:endParaRPr lang="zh-CN" sz="1200" b="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200" b="0" kern="100">
                          <a:solidFill>
                            <a:schemeClr val="tx1"/>
                          </a:solidFill>
                          <a:effectLst/>
                          <a:latin typeface="Arial" panose="020B0604020202020204" pitchFamily="34" charset="0"/>
                          <a:ea typeface="微软雅黑" panose="020B0503020204020204" pitchFamily="34" charset="-122"/>
                        </a:rPr>
                        <a:t>P1 = 10-12=-2</a:t>
                      </a:r>
                      <a:endParaRPr lang="zh-CN" sz="1200" b="0" kern="100">
                        <a:solidFill>
                          <a:schemeClr val="tx1"/>
                        </a:solidFill>
                        <a:effectLst/>
                        <a:latin typeface="Arial" panose="020B0604020202020204" pitchFamily="34" charset="0"/>
                        <a:ea typeface="微软雅黑" panose="020B0503020204020204" pitchFamily="34" charset="-122"/>
                      </a:endParaRPr>
                    </a:p>
                    <a:p>
                      <a:pPr algn="l">
                        <a:lnSpc>
                          <a:spcPct val="120000"/>
                        </a:lnSpc>
                        <a:buNone/>
                      </a:pPr>
                      <a:r>
                        <a:rPr lang="en-US" sz="1200" b="0" kern="100">
                          <a:solidFill>
                            <a:schemeClr val="tx1"/>
                          </a:solidFill>
                          <a:effectLst/>
                          <a:latin typeface="Arial" panose="020B0604020202020204" pitchFamily="34" charset="0"/>
                          <a:ea typeface="微软雅黑" panose="020B0503020204020204" pitchFamily="34" charset="-122"/>
                        </a:rPr>
                        <a:t>P2 = 0-8=-8</a:t>
                      </a:r>
                      <a:endParaRPr lang="zh-CN" sz="1200" b="0" kern="100">
                        <a:solidFill>
                          <a:schemeClr val="tx1"/>
                        </a:solidFill>
                        <a:effectLst/>
                        <a:latin typeface="Arial" panose="020B0604020202020204" pitchFamily="34" charset="0"/>
                        <a:ea typeface="微软雅黑" panose="020B0503020204020204" pitchFamily="34" charset="-122"/>
                      </a:endParaRPr>
                    </a:p>
                    <a:p>
                      <a:pPr algn="l">
                        <a:lnSpc>
                          <a:spcPct val="120000"/>
                        </a:lnSpc>
                        <a:buNone/>
                      </a:pPr>
                      <a:r>
                        <a:rPr lang="en-US" sz="1200" b="0" kern="100">
                          <a:solidFill>
                            <a:schemeClr val="tx1"/>
                          </a:solidFill>
                          <a:effectLst/>
                          <a:latin typeface="Arial" panose="020B0604020202020204" pitchFamily="34" charset="0"/>
                          <a:ea typeface="微软雅黑" panose="020B0503020204020204" pitchFamily="34" charset="-122"/>
                        </a:rPr>
                        <a:t>P2</a:t>
                      </a:r>
                      <a:r>
                        <a:rPr lang="zh-CN" sz="1200" b="0" kern="100">
                          <a:solidFill>
                            <a:schemeClr val="tx1"/>
                          </a:solidFill>
                          <a:effectLst/>
                          <a:latin typeface="Arial" panose="020B0604020202020204" pitchFamily="34" charset="0"/>
                          <a:ea typeface="微软雅黑" panose="020B0503020204020204" pitchFamily="34" charset="-122"/>
                        </a:rPr>
                        <a:t>分配</a:t>
                      </a:r>
                      <a:r>
                        <a:rPr lang="en-US" sz="1200" b="0" kern="100">
                          <a:solidFill>
                            <a:schemeClr val="tx1"/>
                          </a:solidFill>
                          <a:effectLst/>
                          <a:latin typeface="Arial" panose="020B0604020202020204" pitchFamily="34" charset="0"/>
                          <a:ea typeface="微软雅黑" panose="020B0503020204020204" pitchFamily="34" charset="-122"/>
                        </a:rPr>
                        <a:t>10</a:t>
                      </a:r>
                      <a:endParaRPr lang="zh-CN" sz="1200" b="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200" b="0" kern="100">
                          <a:solidFill>
                            <a:schemeClr val="tx1"/>
                          </a:solidFill>
                          <a:effectLst/>
                          <a:latin typeface="Arial" panose="020B0604020202020204" pitchFamily="34" charset="0"/>
                          <a:ea typeface="微软雅黑" panose="020B0503020204020204" pitchFamily="34" charset="-122"/>
                        </a:rPr>
                        <a:t>P2</a:t>
                      </a:r>
                      <a:r>
                        <a:rPr lang="zh-CN" sz="1200" b="0" kern="100">
                          <a:solidFill>
                            <a:schemeClr val="tx1"/>
                          </a:solidFill>
                          <a:effectLst/>
                          <a:latin typeface="Arial" panose="020B0604020202020204" pitchFamily="34" charset="0"/>
                          <a:ea typeface="微软雅黑" panose="020B0503020204020204" pitchFamily="34" charset="-122"/>
                        </a:rPr>
                        <a:t>差距更大选择</a:t>
                      </a:r>
                      <a:r>
                        <a:rPr lang="en-US" sz="1200" b="0" kern="100">
                          <a:solidFill>
                            <a:schemeClr val="tx1"/>
                          </a:solidFill>
                          <a:effectLst/>
                          <a:latin typeface="Arial" panose="020B0604020202020204" pitchFamily="34" charset="0"/>
                          <a:ea typeface="微软雅黑" panose="020B0503020204020204" pitchFamily="34" charset="-122"/>
                        </a:rPr>
                        <a:t>P2</a:t>
                      </a:r>
                      <a:endParaRPr lang="zh-CN" sz="1200" b="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extLst>
                  <a:ext uri="{0D108BD9-81ED-4DB2-BD59-A6C34878D82A}">
                    <a16:rowId xmlns:a16="http://schemas.microsoft.com/office/drawing/2014/main" val="2381720843"/>
                  </a:ext>
                </a:extLst>
              </a:tr>
              <a:tr h="949763">
                <a:tc>
                  <a:txBody>
                    <a:bodyPr/>
                    <a:lstStyle/>
                    <a:p>
                      <a:pPr algn="l">
                        <a:lnSpc>
                          <a:spcPct val="120000"/>
                        </a:lnSpc>
                        <a:buNone/>
                      </a:pPr>
                      <a:r>
                        <a:rPr lang="zh-CN" sz="1200" b="0" kern="100" dirty="0">
                          <a:solidFill>
                            <a:schemeClr val="tx1"/>
                          </a:solidFill>
                          <a:effectLst/>
                          <a:latin typeface="Arial" panose="020B0604020202020204" pitchFamily="34" charset="0"/>
                          <a:ea typeface="微软雅黑" panose="020B0503020204020204" pitchFamily="34" charset="-122"/>
                        </a:rPr>
                        <a:t>第</a:t>
                      </a:r>
                      <a:r>
                        <a:rPr lang="en-US" sz="1200" b="0" kern="100" dirty="0">
                          <a:solidFill>
                            <a:schemeClr val="tx1"/>
                          </a:solidFill>
                          <a:effectLst/>
                          <a:latin typeface="Arial" panose="020B0604020202020204" pitchFamily="34" charset="0"/>
                          <a:ea typeface="微软雅黑" panose="020B0503020204020204" pitchFamily="34" charset="-122"/>
                        </a:rPr>
                        <a:t>3</a:t>
                      </a:r>
                      <a:r>
                        <a:rPr lang="zh-CN" sz="1200" b="0" kern="100" dirty="0">
                          <a:solidFill>
                            <a:schemeClr val="tx1"/>
                          </a:solidFill>
                          <a:effectLst/>
                          <a:latin typeface="Arial" panose="020B0604020202020204" pitchFamily="34" charset="0"/>
                          <a:ea typeface="微软雅黑" panose="020B0503020204020204" pitchFamily="34" charset="-122"/>
                        </a:rPr>
                        <a:t>次</a:t>
                      </a:r>
                      <a:endParaRPr lang="zh-CN" sz="1200" b="0" kern="100" dirty="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200" b="0" kern="100">
                          <a:solidFill>
                            <a:schemeClr val="tx1"/>
                          </a:solidFill>
                          <a:effectLst/>
                          <a:latin typeface="Arial" panose="020B0604020202020204" pitchFamily="34" charset="0"/>
                          <a:ea typeface="微软雅黑" panose="020B0503020204020204" pitchFamily="34" charset="-122"/>
                        </a:rPr>
                        <a:t>20</a:t>
                      </a:r>
                      <a:endParaRPr lang="zh-CN" sz="1200" b="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200" b="0" kern="100" dirty="0">
                          <a:solidFill>
                            <a:schemeClr val="tx1"/>
                          </a:solidFill>
                          <a:effectLst/>
                          <a:latin typeface="Arial" panose="020B0604020202020204" pitchFamily="34" charset="0"/>
                          <a:ea typeface="微软雅黑" panose="020B0503020204020204" pitchFamily="34" charset="-122"/>
                        </a:rPr>
                        <a:t>P1:60%*40=24</a:t>
                      </a:r>
                      <a:endParaRPr lang="zh-CN" sz="1200" b="0" kern="100" dirty="0">
                        <a:solidFill>
                          <a:schemeClr val="tx1"/>
                        </a:solidFill>
                        <a:effectLst/>
                        <a:latin typeface="Arial" panose="020B0604020202020204" pitchFamily="34" charset="0"/>
                        <a:ea typeface="微软雅黑" panose="020B0503020204020204" pitchFamily="34" charset="-122"/>
                      </a:endParaRPr>
                    </a:p>
                    <a:p>
                      <a:pPr algn="l">
                        <a:lnSpc>
                          <a:spcPct val="120000"/>
                        </a:lnSpc>
                        <a:buNone/>
                      </a:pPr>
                      <a:r>
                        <a:rPr lang="en-US" sz="1200" b="0" kern="100" dirty="0">
                          <a:solidFill>
                            <a:schemeClr val="tx1"/>
                          </a:solidFill>
                          <a:effectLst/>
                          <a:latin typeface="Arial" panose="020B0604020202020204" pitchFamily="34" charset="0"/>
                          <a:ea typeface="微软雅黑" panose="020B0503020204020204" pitchFamily="34" charset="-122"/>
                        </a:rPr>
                        <a:t>P2:40%*40=16</a:t>
                      </a:r>
                      <a:endParaRPr lang="zh-CN" sz="1200" b="0" kern="100" dirty="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200" b="0" kern="100">
                          <a:solidFill>
                            <a:schemeClr val="tx1"/>
                          </a:solidFill>
                          <a:effectLst/>
                          <a:latin typeface="Arial" panose="020B0604020202020204" pitchFamily="34" charset="0"/>
                          <a:ea typeface="微软雅黑" panose="020B0503020204020204" pitchFamily="34" charset="-122"/>
                        </a:rPr>
                        <a:t>P1=10-24=-14</a:t>
                      </a:r>
                      <a:endParaRPr lang="zh-CN" sz="1200" b="0" kern="100">
                        <a:solidFill>
                          <a:schemeClr val="tx1"/>
                        </a:solidFill>
                        <a:effectLst/>
                        <a:latin typeface="Arial" panose="020B0604020202020204" pitchFamily="34" charset="0"/>
                        <a:ea typeface="微软雅黑" panose="020B0503020204020204" pitchFamily="34" charset="-122"/>
                      </a:endParaRPr>
                    </a:p>
                    <a:p>
                      <a:pPr algn="l">
                        <a:lnSpc>
                          <a:spcPct val="120000"/>
                        </a:lnSpc>
                        <a:buNone/>
                      </a:pPr>
                      <a:r>
                        <a:rPr lang="en-US" sz="1200" b="0" kern="100">
                          <a:solidFill>
                            <a:schemeClr val="tx1"/>
                          </a:solidFill>
                          <a:effectLst/>
                          <a:latin typeface="Arial" panose="020B0604020202020204" pitchFamily="34" charset="0"/>
                          <a:ea typeface="微软雅黑" panose="020B0503020204020204" pitchFamily="34" charset="-122"/>
                        </a:rPr>
                        <a:t>P2=10-16=-6</a:t>
                      </a:r>
                      <a:endParaRPr lang="zh-CN" sz="1200" b="0" kern="100">
                        <a:solidFill>
                          <a:schemeClr val="tx1"/>
                        </a:solidFill>
                        <a:effectLst/>
                        <a:latin typeface="Arial" panose="020B0604020202020204" pitchFamily="34" charset="0"/>
                        <a:ea typeface="微软雅黑" panose="020B0503020204020204" pitchFamily="34" charset="-122"/>
                      </a:endParaRPr>
                    </a:p>
                    <a:p>
                      <a:pPr algn="l">
                        <a:lnSpc>
                          <a:spcPct val="120000"/>
                        </a:lnSpc>
                        <a:buNone/>
                      </a:pPr>
                      <a:r>
                        <a:rPr lang="en-US" sz="1200" b="0" kern="100">
                          <a:solidFill>
                            <a:schemeClr val="tx1"/>
                          </a:solidFill>
                          <a:effectLst/>
                          <a:latin typeface="Arial" panose="020B0604020202020204" pitchFamily="34" charset="0"/>
                          <a:ea typeface="微软雅黑" panose="020B0503020204020204" pitchFamily="34" charset="-122"/>
                        </a:rPr>
                        <a:t>P1</a:t>
                      </a:r>
                      <a:r>
                        <a:rPr lang="zh-CN" sz="1200" b="0" kern="100">
                          <a:solidFill>
                            <a:schemeClr val="tx1"/>
                          </a:solidFill>
                          <a:effectLst/>
                          <a:latin typeface="Arial" panose="020B0604020202020204" pitchFamily="34" charset="0"/>
                          <a:ea typeface="微软雅黑" panose="020B0503020204020204" pitchFamily="34" charset="-122"/>
                        </a:rPr>
                        <a:t>分配</a:t>
                      </a:r>
                      <a:r>
                        <a:rPr lang="en-US" sz="1200" b="0" kern="100">
                          <a:solidFill>
                            <a:schemeClr val="tx1"/>
                          </a:solidFill>
                          <a:effectLst/>
                          <a:latin typeface="Arial" panose="020B0604020202020204" pitchFamily="34" charset="0"/>
                          <a:ea typeface="微软雅黑" panose="020B0503020204020204" pitchFamily="34" charset="-122"/>
                        </a:rPr>
                        <a:t>20</a:t>
                      </a:r>
                      <a:endParaRPr lang="zh-CN" sz="1200" b="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200" b="0" kern="100" dirty="0">
                          <a:solidFill>
                            <a:schemeClr val="tx1"/>
                          </a:solidFill>
                          <a:effectLst/>
                          <a:latin typeface="Arial" panose="020B0604020202020204" pitchFamily="34" charset="0"/>
                          <a:ea typeface="微软雅黑" panose="020B0503020204020204" pitchFamily="34" charset="-122"/>
                        </a:rPr>
                        <a:t>P1</a:t>
                      </a:r>
                      <a:r>
                        <a:rPr lang="zh-CN" sz="1200" b="0" kern="100" dirty="0">
                          <a:solidFill>
                            <a:schemeClr val="tx1"/>
                          </a:solidFill>
                          <a:effectLst/>
                          <a:latin typeface="Arial" panose="020B0604020202020204" pitchFamily="34" charset="0"/>
                          <a:ea typeface="微软雅黑" panose="020B0503020204020204" pitchFamily="34" charset="-122"/>
                        </a:rPr>
                        <a:t>差距更大选</a:t>
                      </a:r>
                      <a:r>
                        <a:rPr lang="en-US" sz="1200" b="0" kern="100" dirty="0">
                          <a:solidFill>
                            <a:schemeClr val="tx1"/>
                          </a:solidFill>
                          <a:effectLst/>
                          <a:latin typeface="Arial" panose="020B0604020202020204" pitchFamily="34" charset="0"/>
                          <a:ea typeface="微软雅黑" panose="020B0503020204020204" pitchFamily="34" charset="-122"/>
                        </a:rPr>
                        <a:t>P1</a:t>
                      </a:r>
                      <a:endParaRPr lang="zh-CN" sz="1200" b="0" kern="100" dirty="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extLst>
                  <a:ext uri="{0D108BD9-81ED-4DB2-BD59-A6C34878D82A}">
                    <a16:rowId xmlns:a16="http://schemas.microsoft.com/office/drawing/2014/main" val="2029765917"/>
                  </a:ext>
                </a:extLst>
              </a:tr>
            </a:tbl>
          </a:graphicData>
        </a:graphic>
      </p:graphicFrame>
      <p:grpSp>
        <p:nvGrpSpPr>
          <p:cNvPr id="35" name="组合 34">
            <a:extLst>
              <a:ext uri="{FF2B5EF4-FFF2-40B4-BE49-F238E27FC236}">
                <a16:creationId xmlns:a16="http://schemas.microsoft.com/office/drawing/2014/main" id="{3C3C3039-F8E5-6EC6-3A17-690BC84EBB66}"/>
              </a:ext>
            </a:extLst>
          </p:cNvPr>
          <p:cNvGrpSpPr>
            <a:grpSpLocks noChangeAspect="1"/>
          </p:cNvGrpSpPr>
          <p:nvPr>
            <p:custDataLst>
              <p:tags r:id="rId1"/>
            </p:custDataLst>
          </p:nvPr>
        </p:nvGrpSpPr>
        <p:grpSpPr>
          <a:xfrm>
            <a:off x="3036213" y="1343498"/>
            <a:ext cx="6221744" cy="1608981"/>
            <a:chOff x="673103" y="1466675"/>
            <a:chExt cx="3383009" cy="1999631"/>
          </a:xfrm>
        </p:grpSpPr>
        <p:sp>
          <p:nvSpPr>
            <p:cNvPr id="36" name="1">
              <a:extLst>
                <a:ext uri="{FF2B5EF4-FFF2-40B4-BE49-F238E27FC236}">
                  <a16:creationId xmlns:a16="http://schemas.microsoft.com/office/drawing/2014/main" id="{64CA17F3-0456-BCE6-11B2-0FD58107161B}"/>
                </a:ext>
              </a:extLst>
            </p:cNvPr>
            <p:cNvSpPr/>
            <p:nvPr>
              <p:custDataLst>
                <p:tags r:id="rId2"/>
              </p:custDataLst>
            </p:nvPr>
          </p:nvSpPr>
          <p:spPr>
            <a:xfrm>
              <a:off x="673103" y="1478986"/>
              <a:ext cx="3383009" cy="1987320"/>
            </a:xfrm>
            <a:prstGeom prst="roundRect">
              <a:avLst>
                <a:gd name="adj" fmla="val 8900"/>
              </a:avLst>
            </a:prstGeom>
            <a:solidFill>
              <a:schemeClr val="accent3">
                <a:lumMod val="60000"/>
                <a:lumOff val="40000"/>
              </a:schemeClr>
            </a:solidFill>
            <a:ln w="12700" cap="rnd">
              <a:noFill/>
              <a:prstDash val="solid"/>
              <a:round/>
              <a:headEnd/>
              <a:tailEnd/>
            </a:ln>
            <a:effectLst>
              <a:outerShdw blurRad="254000" dist="127000" algn="ctr" rotWithShape="0">
                <a:schemeClr val="accent1">
                  <a:alpha val="3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rmAutofit/>
            </a:bodyPr>
            <a:lstStyle/>
            <a:p>
              <a:pPr algn="ctr" defTabSz="914354">
                <a:lnSpc>
                  <a:spcPct val="130000"/>
                </a:lnSpc>
              </a:pPr>
              <a:endParaRPr lang="zh-CN" altLang="en-US" sz="2000" b="1">
                <a:solidFill>
                  <a:schemeClr val="bg1"/>
                </a:solidFill>
                <a:latin typeface="+mn-ea"/>
              </a:endParaRPr>
            </a:p>
          </p:txBody>
        </p:sp>
        <p:sp>
          <p:nvSpPr>
            <p:cNvPr id="38" name="Title-1">
              <a:extLst>
                <a:ext uri="{FF2B5EF4-FFF2-40B4-BE49-F238E27FC236}">
                  <a16:creationId xmlns:a16="http://schemas.microsoft.com/office/drawing/2014/main" id="{10B42CA5-928F-2E7F-F2EC-9642EB369EB7}"/>
                </a:ext>
              </a:extLst>
            </p:cNvPr>
            <p:cNvSpPr txBox="1"/>
            <p:nvPr>
              <p:custDataLst>
                <p:tags r:id="rId3"/>
              </p:custDataLst>
            </p:nvPr>
          </p:nvSpPr>
          <p:spPr>
            <a:xfrm>
              <a:off x="701364" y="1466675"/>
              <a:ext cx="2513307" cy="518052"/>
            </a:xfrm>
            <a:prstGeom prst="rect">
              <a:avLst/>
            </a:prstGeom>
            <a:noFill/>
          </p:spPr>
          <p:txBody>
            <a:bodyPr wrap="square" rtlCol="0">
              <a:spAutoFit/>
            </a:bodyPr>
            <a:lstStyle/>
            <a:p>
              <a:pPr defTabSz="913765">
                <a:lnSpc>
                  <a:spcPct val="130000"/>
                </a:lnSpc>
              </a:pPr>
              <a:r>
                <a:rPr lang="zh-CN" altLang="en-US" b="1">
                  <a:solidFill>
                    <a:schemeClr val="bg1"/>
                  </a:solidFill>
                  <a:latin typeface="Arial" panose="020B0604020202020204" pitchFamily="34" charset="0"/>
                  <a:ea typeface="微软雅黑" panose="020B0503020204020204" pitchFamily="34" charset="-122"/>
                </a:rPr>
                <a:t>逻辑</a:t>
              </a:r>
              <a:endParaRPr lang="zh-CN" altLang="en-US" b="1" dirty="0">
                <a:solidFill>
                  <a:schemeClr val="bg1"/>
                </a:solidFill>
                <a:latin typeface="Arial" panose="020B0604020202020204" pitchFamily="34" charset="0"/>
                <a:ea typeface="微软雅黑" panose="020B0503020204020204" pitchFamily="34" charset="-122"/>
              </a:endParaRPr>
            </a:p>
          </p:txBody>
        </p:sp>
        <p:sp>
          <p:nvSpPr>
            <p:cNvPr id="39" name="Body-1">
              <a:extLst>
                <a:ext uri="{FF2B5EF4-FFF2-40B4-BE49-F238E27FC236}">
                  <a16:creationId xmlns:a16="http://schemas.microsoft.com/office/drawing/2014/main" id="{CD2D58B9-5509-56D8-05C8-8B0E0A9EC8E1}"/>
                </a:ext>
              </a:extLst>
            </p:cNvPr>
            <p:cNvSpPr txBox="1">
              <a:spLocks/>
            </p:cNvSpPr>
            <p:nvPr>
              <p:custDataLst>
                <p:tags r:id="rId4"/>
              </p:custDataLst>
            </p:nvPr>
          </p:nvSpPr>
          <p:spPr>
            <a:xfrm>
              <a:off x="793656" y="1907294"/>
              <a:ext cx="3262456" cy="1472636"/>
            </a:xfrm>
            <a:prstGeom prst="rect">
              <a:avLst/>
            </a:prstGeom>
            <a:noFill/>
          </p:spPr>
          <p:txBody>
            <a:bodyPr wrap="square" rtlCol="0">
              <a:spAutoFit/>
            </a:bodyPr>
            <a:lstStyle>
              <a:defPPr>
                <a:defRPr lang="zh-CN"/>
              </a:defPPr>
              <a:lvl1pPr>
                <a:lnSpc>
                  <a:spcPct val="130000"/>
                </a:lnSpc>
                <a:defRPr sz="1400">
                  <a:solidFill>
                    <a:schemeClr val="bg1">
                      <a:alpha val="80000"/>
                    </a:schemeClr>
                  </a:solidFill>
                  <a:latin typeface="Arial" panose="020B0604020202020204" pitchFamily="34" charset="0"/>
                  <a:ea typeface="Microsoft YaHei" panose="020B0503020204020204" pitchFamily="34" charset="-122"/>
                </a:defRPr>
              </a:lvl1pPr>
            </a:lstStyle>
            <a:p>
              <a:pPr marL="285750" indent="-285750">
                <a:buFont typeface="Arial" panose="020B0604020202020204" pitchFamily="34" charset="0"/>
                <a:buChar char="•"/>
              </a:pPr>
              <a:r>
                <a:rPr lang="zh-CN" altLang="en-US" dirty="0">
                  <a:ea typeface="微软雅黑" panose="020B0503020204020204" pitchFamily="34" charset="-122"/>
                </a:rPr>
                <a:t>将每个需求完整分配给当前分配量最低于动态目标的物料来源</a:t>
              </a:r>
              <a:endParaRPr lang="en-US" altLang="zh-CN" dirty="0">
                <a:ea typeface="微软雅黑" panose="020B0503020204020204" pitchFamily="34" charset="-122"/>
              </a:endParaRPr>
            </a:p>
            <a:p>
              <a:pPr marL="285750" indent="-285750">
                <a:buFont typeface="Arial" panose="020B0604020202020204" pitchFamily="34" charset="0"/>
                <a:buChar char="•"/>
              </a:pPr>
              <a:r>
                <a:rPr lang="zh-CN" altLang="en-US" dirty="0">
                  <a:ea typeface="微软雅黑" panose="020B0503020204020204" pitchFamily="34" charset="-122"/>
                </a:rPr>
                <a:t>配额比例 </a:t>
              </a:r>
              <a:r>
                <a:rPr lang="en-US" altLang="zh-CN" dirty="0">
                  <a:ea typeface="微软雅黑" panose="020B0503020204020204" pitchFamily="34" charset="-122"/>
                </a:rPr>
                <a:t>= </a:t>
              </a:r>
              <a:r>
                <a:rPr lang="en-US" altLang="zh-CN" kern="100" dirty="0">
                  <a:effectLst/>
                  <a:ea typeface="微软雅黑" panose="020B0503020204020204" pitchFamily="34" charset="-122"/>
                  <a:cs typeface="Times New Roman" panose="02020603050405020304" pitchFamily="18" charset="0"/>
                </a:rPr>
                <a:t>Target</a:t>
              </a:r>
              <a:r>
                <a:rPr lang="zh-CN" altLang="zh-CN" kern="100" dirty="0">
                  <a:effectLst/>
                  <a:ea typeface="微软雅黑" panose="020B0503020204020204" pitchFamily="34" charset="-122"/>
                  <a:cs typeface="Times New Roman" panose="02020603050405020304" pitchFamily="18" charset="0"/>
                </a:rPr>
                <a:t>值</a:t>
              </a:r>
              <a:r>
                <a:rPr lang="en-US" altLang="zh-CN" kern="100" dirty="0">
                  <a:effectLst/>
                  <a:ea typeface="微软雅黑" panose="020B0503020204020204" pitchFamily="34" charset="-122"/>
                  <a:cs typeface="Times New Roman" panose="02020603050405020304" pitchFamily="18" charset="0"/>
                </a:rPr>
                <a:t> / </a:t>
              </a:r>
              <a:r>
                <a:rPr lang="zh-CN" altLang="zh-CN" kern="100" dirty="0">
                  <a:effectLst/>
                  <a:ea typeface="微软雅黑" panose="020B0503020204020204" pitchFamily="34" charset="-122"/>
                  <a:cs typeface="Times New Roman" panose="02020603050405020304" pitchFamily="18" charset="0"/>
                </a:rPr>
                <a:t>所有替换资源</a:t>
              </a:r>
              <a:r>
                <a:rPr lang="en-US" altLang="zh-CN" kern="100" dirty="0">
                  <a:effectLst/>
                  <a:ea typeface="微软雅黑" panose="020B0503020204020204" pitchFamily="34" charset="-122"/>
                  <a:cs typeface="Times New Roman" panose="02020603050405020304" pitchFamily="18" charset="0"/>
                </a:rPr>
                <a:t>Target</a:t>
              </a:r>
              <a:r>
                <a:rPr lang="zh-CN" altLang="zh-CN" kern="100" dirty="0">
                  <a:effectLst/>
                  <a:ea typeface="微软雅黑" panose="020B0503020204020204" pitchFamily="34" charset="-122"/>
                  <a:cs typeface="Times New Roman" panose="02020603050405020304" pitchFamily="18" charset="0"/>
                </a:rPr>
                <a:t>总和</a:t>
              </a:r>
              <a:endParaRPr lang="zh-CN" altLang="en-US" dirty="0">
                <a:ea typeface="微软雅黑" panose="020B0503020204020204" pitchFamily="34" charset="-122"/>
              </a:endParaRPr>
            </a:p>
            <a:p>
              <a:pPr marL="285750" indent="-285750">
                <a:buFont typeface="Arial" panose="020B0604020202020204" pitchFamily="34" charset="0"/>
                <a:buChar char="•"/>
              </a:pPr>
              <a:r>
                <a:rPr lang="zh-CN" altLang="en-US" dirty="0">
                  <a:ea typeface="微软雅黑" panose="020B0503020204020204" pitchFamily="34" charset="-122"/>
                </a:rPr>
                <a:t>应分配量</a:t>
              </a:r>
              <a:r>
                <a:rPr lang="en-US" altLang="zh-CN" dirty="0">
                  <a:ea typeface="微软雅黑" panose="020B0503020204020204" pitchFamily="34" charset="-122"/>
                </a:rPr>
                <a:t>= </a:t>
              </a:r>
              <a:r>
                <a:rPr lang="zh-CN" altLang="en-US" dirty="0">
                  <a:ea typeface="微软雅黑" panose="020B0503020204020204" pitchFamily="34" charset="-122"/>
                </a:rPr>
                <a:t>当前总需求量*配额比例</a:t>
              </a:r>
              <a:endParaRPr lang="en-US" altLang="zh-CN" dirty="0">
                <a:ea typeface="微软雅黑" panose="020B0503020204020204" pitchFamily="34" charset="-122"/>
              </a:endParaRPr>
            </a:p>
            <a:p>
              <a:pPr marL="285750" indent="-285750">
                <a:buFont typeface="Arial" panose="020B0604020202020204" pitchFamily="34" charset="0"/>
                <a:buChar char="•"/>
              </a:pPr>
              <a:r>
                <a:rPr lang="zh-CN" altLang="en-US" dirty="0">
                  <a:ea typeface="微软雅黑" panose="020B0503020204020204" pitchFamily="34" charset="-122"/>
                </a:rPr>
                <a:t>分配量</a:t>
              </a:r>
              <a:r>
                <a:rPr lang="en-US" altLang="zh-CN" dirty="0">
                  <a:ea typeface="微软雅黑" panose="020B0503020204020204" pitchFamily="34" charset="-122"/>
                </a:rPr>
                <a:t>= </a:t>
              </a:r>
              <a:r>
                <a:rPr lang="zh-CN" altLang="en-US" dirty="0">
                  <a:ea typeface="微软雅黑" panose="020B0503020204020204" pitchFamily="34" charset="-122"/>
                </a:rPr>
                <a:t>已分配量</a:t>
              </a:r>
              <a:r>
                <a:rPr lang="en-US" altLang="zh-CN" dirty="0">
                  <a:ea typeface="微软雅黑" panose="020B0503020204020204" pitchFamily="34" charset="-122"/>
                </a:rPr>
                <a:t>-</a:t>
              </a:r>
              <a:r>
                <a:rPr lang="zh-CN" altLang="en-US" dirty="0">
                  <a:ea typeface="微软雅黑" panose="020B0503020204020204" pitchFamily="34" charset="-122"/>
                </a:rPr>
                <a:t>应分配量</a:t>
              </a:r>
            </a:p>
          </p:txBody>
        </p:sp>
      </p:grpSp>
    </p:spTree>
    <p:extLst>
      <p:ext uri="{BB962C8B-B14F-4D97-AF65-F5344CB8AC3E}">
        <p14:creationId xmlns:p14="http://schemas.microsoft.com/office/powerpoint/2010/main" val="3733088698"/>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D58604A-81DD-2EC1-8791-000F17512912}"/>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寻源规则 </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优先维持历史分配比例，适合长期的合作关系</a:t>
            </a:r>
          </a:p>
        </p:txBody>
      </p:sp>
      <p:grpSp>
        <p:nvGrpSpPr>
          <p:cNvPr id="3" name="组合 2">
            <a:extLst>
              <a:ext uri="{FF2B5EF4-FFF2-40B4-BE49-F238E27FC236}">
                <a16:creationId xmlns:a16="http://schemas.microsoft.com/office/drawing/2014/main" id="{307E2A66-99C2-BD3B-5CC8-1FE9703C1BAA}"/>
              </a:ext>
            </a:extLst>
          </p:cNvPr>
          <p:cNvGrpSpPr/>
          <p:nvPr/>
        </p:nvGrpSpPr>
        <p:grpSpPr>
          <a:xfrm>
            <a:off x="760560" y="1193035"/>
            <a:ext cx="635003" cy="462517"/>
            <a:chOff x="2618303" y="1841679"/>
            <a:chExt cx="739175" cy="384518"/>
          </a:xfrm>
        </p:grpSpPr>
        <p:sp>
          <p:nvSpPr>
            <p:cNvPr id="4" name="等腰三角形 3">
              <a:extLst>
                <a:ext uri="{FF2B5EF4-FFF2-40B4-BE49-F238E27FC236}">
                  <a16:creationId xmlns:a16="http://schemas.microsoft.com/office/drawing/2014/main" id="{1329CCE8-92B6-D76D-0A55-AA238CA14F84}"/>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effectLst/>
                <a:uLnTx/>
                <a:uFillTx/>
                <a:latin typeface="+mn-ea"/>
                <a:cs typeface="+mn-cs"/>
              </a:endParaRPr>
            </a:p>
          </p:txBody>
        </p:sp>
        <p:sp>
          <p:nvSpPr>
            <p:cNvPr id="5" name="文本框 4">
              <a:extLst>
                <a:ext uri="{FF2B5EF4-FFF2-40B4-BE49-F238E27FC236}">
                  <a16:creationId xmlns:a16="http://schemas.microsoft.com/office/drawing/2014/main" id="{3C92C817-487C-15FB-BFA6-36C2F5267CF2}"/>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P1</a:t>
              </a:r>
              <a:r>
                <a:rPr kumimoji="0" lang="zh-CN" altLang="en-US"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a:t>
              </a:r>
              <a:r>
                <a:rPr kumimoji="0" lang="en-US" altLang="zh-CN"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6</a:t>
              </a:r>
              <a:endParaRPr kumimoji="0" lang="zh-CN" altLang="en-US"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cxnSp>
        <p:nvCxnSpPr>
          <p:cNvPr id="6" name="连接符: 肘形 5">
            <a:extLst>
              <a:ext uri="{FF2B5EF4-FFF2-40B4-BE49-F238E27FC236}">
                <a16:creationId xmlns:a16="http://schemas.microsoft.com/office/drawing/2014/main" id="{DA94CD7C-B161-AD68-BB6E-231DD63189DB}"/>
              </a:ext>
            </a:extLst>
          </p:cNvPr>
          <p:cNvCxnSpPr>
            <a:cxnSpLocks/>
            <a:stCxn id="7" idx="4"/>
            <a:endCxn id="4" idx="0"/>
          </p:cNvCxnSpPr>
          <p:nvPr/>
        </p:nvCxnSpPr>
        <p:spPr>
          <a:xfrm rot="5400000">
            <a:off x="1185770" y="877344"/>
            <a:ext cx="207983" cy="423398"/>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sp>
        <p:nvSpPr>
          <p:cNvPr id="7" name="椭圆 6">
            <a:extLst>
              <a:ext uri="{FF2B5EF4-FFF2-40B4-BE49-F238E27FC236}">
                <a16:creationId xmlns:a16="http://schemas.microsoft.com/office/drawing/2014/main" id="{6F8E31C4-556B-91A5-E467-443C9340407E}"/>
              </a:ext>
            </a:extLst>
          </p:cNvPr>
          <p:cNvSpPr/>
          <p:nvPr/>
        </p:nvSpPr>
        <p:spPr>
          <a:xfrm>
            <a:off x="1183959" y="699260"/>
            <a:ext cx="635002" cy="285792"/>
          </a:xfrm>
          <a:prstGeom prst="ellipse">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800" b="1" dirty="0" err="1">
                <a:latin typeface="Arial" panose="020B0604020202020204" pitchFamily="34" charset="0"/>
                <a:ea typeface="微软雅黑" panose="020B0503020204020204" pitchFamily="34" charset="-122"/>
              </a:rPr>
              <a:t>alg</a:t>
            </a:r>
            <a:r>
              <a:rPr lang="en-US" altLang="zh-CN" sz="800" b="1" dirty="0">
                <a:latin typeface="Arial" panose="020B0604020202020204" pitchFamily="34" charset="0"/>
                <a:ea typeface="微软雅黑" panose="020B0503020204020204" pitchFamily="34" charset="-122"/>
              </a:rPr>
              <a:t> 1</a:t>
            </a:r>
            <a:endParaRPr lang="zh-CN" altLang="en-US" sz="800" b="1" dirty="0">
              <a:latin typeface="Arial" panose="020B0604020202020204" pitchFamily="34" charset="0"/>
              <a:ea typeface="微软雅黑" panose="020B0503020204020204" pitchFamily="34" charset="-122"/>
            </a:endParaRPr>
          </a:p>
        </p:txBody>
      </p:sp>
      <p:grpSp>
        <p:nvGrpSpPr>
          <p:cNvPr id="8" name="组合 7">
            <a:extLst>
              <a:ext uri="{FF2B5EF4-FFF2-40B4-BE49-F238E27FC236}">
                <a16:creationId xmlns:a16="http://schemas.microsoft.com/office/drawing/2014/main" id="{10549DBD-6396-D13E-A415-CE9CFC7D4C58}"/>
              </a:ext>
            </a:extLst>
          </p:cNvPr>
          <p:cNvGrpSpPr/>
          <p:nvPr/>
        </p:nvGrpSpPr>
        <p:grpSpPr>
          <a:xfrm>
            <a:off x="1586434" y="1193035"/>
            <a:ext cx="635003" cy="462517"/>
            <a:chOff x="2618303" y="1841679"/>
            <a:chExt cx="739175" cy="384518"/>
          </a:xfrm>
        </p:grpSpPr>
        <p:sp>
          <p:nvSpPr>
            <p:cNvPr id="9" name="等腰三角形 8">
              <a:extLst>
                <a:ext uri="{FF2B5EF4-FFF2-40B4-BE49-F238E27FC236}">
                  <a16:creationId xmlns:a16="http://schemas.microsoft.com/office/drawing/2014/main" id="{587130A5-B582-B924-7616-35376FBFE376}"/>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effectLst/>
                <a:uLnTx/>
                <a:uFillTx/>
                <a:latin typeface="+mn-ea"/>
                <a:cs typeface="+mn-cs"/>
              </a:endParaRPr>
            </a:p>
          </p:txBody>
        </p:sp>
        <p:sp>
          <p:nvSpPr>
            <p:cNvPr id="10" name="文本框 9">
              <a:extLst>
                <a:ext uri="{FF2B5EF4-FFF2-40B4-BE49-F238E27FC236}">
                  <a16:creationId xmlns:a16="http://schemas.microsoft.com/office/drawing/2014/main" id="{2A594A9F-65EA-8FDE-32E0-EBCE9828ED22}"/>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a:t>
              </a:r>
              <a:r>
                <a:rPr lang="en-US" altLang="zh-CN" sz="800" b="1" kern="0" dirty="0">
                  <a:latin typeface="Arial" panose="020B0604020202020204" pitchFamily="34" charset="0"/>
                  <a:ea typeface="微软雅黑" panose="020B0503020204020204" pitchFamily="34" charset="-122"/>
                </a:rPr>
                <a:t>2</a:t>
              </a:r>
              <a:r>
                <a:rPr lang="zh-CN" altLang="en-US" sz="800" b="1" kern="0" dirty="0">
                  <a:latin typeface="Arial" panose="020B0604020202020204" pitchFamily="34" charset="0"/>
                  <a:ea typeface="微软雅黑" panose="020B0503020204020204" pitchFamily="34" charset="-122"/>
                </a:rPr>
                <a:t>：</a:t>
              </a:r>
              <a:r>
                <a:rPr lang="en-US" altLang="zh-CN" sz="800" b="1" kern="0" dirty="0">
                  <a:latin typeface="Arial" panose="020B0604020202020204" pitchFamily="34" charset="0"/>
                  <a:ea typeface="微软雅黑" panose="020B0503020204020204" pitchFamily="34" charset="-122"/>
                </a:rPr>
                <a:t>4 </a:t>
              </a:r>
              <a:endParaRPr kumimoji="0" lang="zh-CN" altLang="en-US"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cxnSp>
        <p:nvCxnSpPr>
          <p:cNvPr id="11" name="连接符: 肘形 10">
            <a:extLst>
              <a:ext uri="{FF2B5EF4-FFF2-40B4-BE49-F238E27FC236}">
                <a16:creationId xmlns:a16="http://schemas.microsoft.com/office/drawing/2014/main" id="{032513ED-BFCD-251E-EBD0-643FCE130489}"/>
              </a:ext>
            </a:extLst>
          </p:cNvPr>
          <p:cNvCxnSpPr>
            <a:cxnSpLocks/>
            <a:stCxn id="7" idx="4"/>
            <a:endCxn id="9" idx="0"/>
          </p:cNvCxnSpPr>
          <p:nvPr/>
        </p:nvCxnSpPr>
        <p:spPr>
          <a:xfrm rot="16200000" flipH="1">
            <a:off x="1598707" y="887805"/>
            <a:ext cx="207983" cy="402476"/>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sp>
        <p:nvSpPr>
          <p:cNvPr id="12" name="文本框 11">
            <a:extLst>
              <a:ext uri="{FF2B5EF4-FFF2-40B4-BE49-F238E27FC236}">
                <a16:creationId xmlns:a16="http://schemas.microsoft.com/office/drawing/2014/main" id="{75E8E6B5-4C2A-FC4B-017E-54A6828A9809}"/>
              </a:ext>
            </a:extLst>
          </p:cNvPr>
          <p:cNvSpPr txBox="1"/>
          <p:nvPr/>
        </p:nvSpPr>
        <p:spPr>
          <a:xfrm>
            <a:off x="2221437" y="736995"/>
            <a:ext cx="3179483" cy="276999"/>
          </a:xfrm>
          <a:prstGeom prst="rect">
            <a:avLst/>
          </a:prstGeom>
          <a:noFill/>
        </p:spPr>
        <p:txBody>
          <a:bodyPr wrap="square" rtlCol="0">
            <a:spAutoFit/>
          </a:bodyPr>
          <a:lstStyle/>
          <a:p>
            <a:r>
              <a:rPr lang="en-US" altLang="zh-CN" sz="1200" dirty="0">
                <a:latin typeface="Arial" panose="020B0604020202020204" pitchFamily="34" charset="0"/>
                <a:ea typeface="微软雅黑" panose="020B0503020204020204" pitchFamily="34" charset="-122"/>
              </a:rPr>
              <a:t>P1</a:t>
            </a:r>
            <a:r>
              <a:rPr lang="zh-CN" altLang="en-US" sz="1200" dirty="0">
                <a:latin typeface="Arial" panose="020B0604020202020204" pitchFamily="34" charset="0"/>
                <a:ea typeface="微软雅黑" panose="020B0503020204020204" pitchFamily="34" charset="-122"/>
              </a:rPr>
              <a:t>和</a:t>
            </a:r>
            <a:r>
              <a:rPr lang="en-US" altLang="zh-CN" sz="1200" dirty="0">
                <a:latin typeface="Arial" panose="020B0604020202020204" pitchFamily="34" charset="0"/>
                <a:ea typeface="微软雅黑" panose="020B0503020204020204" pitchFamily="34" charset="-122"/>
              </a:rPr>
              <a:t>P2 Target </a:t>
            </a:r>
            <a:r>
              <a:rPr lang="zh-CN" altLang="en-US" sz="1200" dirty="0">
                <a:latin typeface="Arial" panose="020B0604020202020204" pitchFamily="34" charset="0"/>
                <a:ea typeface="微软雅黑" panose="020B0503020204020204" pitchFamily="34" charset="-122"/>
              </a:rPr>
              <a:t>分别为</a:t>
            </a:r>
            <a:r>
              <a:rPr lang="en-US" altLang="zh-CN" sz="1200" dirty="0">
                <a:latin typeface="Arial" panose="020B0604020202020204" pitchFamily="34" charset="0"/>
                <a:ea typeface="微软雅黑" panose="020B0503020204020204" pitchFamily="34" charset="-122"/>
              </a:rPr>
              <a:t>6</a:t>
            </a:r>
            <a:r>
              <a:rPr lang="zh-CN" altLang="en-US" sz="1200" dirty="0">
                <a:latin typeface="Arial" panose="020B0604020202020204" pitchFamily="34" charset="0"/>
                <a:ea typeface="微软雅黑" panose="020B0503020204020204" pitchFamily="34" charset="-122"/>
              </a:rPr>
              <a:t>和</a:t>
            </a:r>
            <a:r>
              <a:rPr lang="en-US" altLang="zh-CN" sz="1200" dirty="0">
                <a:latin typeface="Arial" panose="020B0604020202020204" pitchFamily="34" charset="0"/>
                <a:ea typeface="微软雅黑" panose="020B0503020204020204" pitchFamily="34" charset="-122"/>
              </a:rPr>
              <a:t>4</a:t>
            </a:r>
            <a:endParaRPr lang="zh-CN" altLang="en-US" sz="1200" dirty="0">
              <a:latin typeface="Arial" panose="020B0604020202020204" pitchFamily="34" charset="0"/>
              <a:ea typeface="微软雅黑" panose="020B0503020204020204" pitchFamily="34" charset="-122"/>
            </a:endParaRPr>
          </a:p>
        </p:txBody>
      </p:sp>
      <p:grpSp>
        <p:nvGrpSpPr>
          <p:cNvPr id="13" name="组合 12">
            <a:extLst>
              <a:ext uri="{FF2B5EF4-FFF2-40B4-BE49-F238E27FC236}">
                <a16:creationId xmlns:a16="http://schemas.microsoft.com/office/drawing/2014/main" id="{9803EABE-4365-7682-6475-B9C265D01E8A}"/>
              </a:ext>
            </a:extLst>
          </p:cNvPr>
          <p:cNvGrpSpPr>
            <a:grpSpLocks noChangeAspect="1"/>
          </p:cNvGrpSpPr>
          <p:nvPr>
            <p:custDataLst>
              <p:tags r:id="rId1"/>
            </p:custDataLst>
          </p:nvPr>
        </p:nvGrpSpPr>
        <p:grpSpPr>
          <a:xfrm>
            <a:off x="2743367" y="1252586"/>
            <a:ext cx="6741292" cy="1736433"/>
            <a:chOff x="673102" y="1456702"/>
            <a:chExt cx="3665508" cy="2551686"/>
          </a:xfrm>
        </p:grpSpPr>
        <p:sp>
          <p:nvSpPr>
            <p:cNvPr id="14" name="1">
              <a:extLst>
                <a:ext uri="{FF2B5EF4-FFF2-40B4-BE49-F238E27FC236}">
                  <a16:creationId xmlns:a16="http://schemas.microsoft.com/office/drawing/2014/main" id="{726FB6E9-2F58-E3DE-C5EE-B5DFBB71E440}"/>
                </a:ext>
              </a:extLst>
            </p:cNvPr>
            <p:cNvSpPr/>
            <p:nvPr>
              <p:custDataLst>
                <p:tags r:id="rId2"/>
              </p:custDataLst>
            </p:nvPr>
          </p:nvSpPr>
          <p:spPr>
            <a:xfrm>
              <a:off x="673102" y="1456702"/>
              <a:ext cx="3665508" cy="2551686"/>
            </a:xfrm>
            <a:prstGeom prst="roundRect">
              <a:avLst>
                <a:gd name="adj" fmla="val 8900"/>
              </a:avLst>
            </a:prstGeom>
            <a:solidFill>
              <a:schemeClr val="accent3">
                <a:lumMod val="60000"/>
                <a:lumOff val="40000"/>
              </a:schemeClr>
            </a:solidFill>
            <a:ln w="12700" cap="rnd">
              <a:noFill/>
              <a:prstDash val="solid"/>
              <a:round/>
              <a:headEnd/>
              <a:tailEnd/>
            </a:ln>
            <a:effectLst>
              <a:outerShdw blurRad="254000" dist="127000" algn="ctr" rotWithShape="0">
                <a:schemeClr val="accent1">
                  <a:alpha val="3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rmAutofit/>
            </a:bodyPr>
            <a:lstStyle/>
            <a:p>
              <a:pPr algn="ctr" defTabSz="914354">
                <a:lnSpc>
                  <a:spcPct val="130000"/>
                </a:lnSpc>
              </a:pPr>
              <a:endParaRPr lang="zh-CN" altLang="en-US" sz="2000" b="1">
                <a:solidFill>
                  <a:schemeClr val="bg1"/>
                </a:solidFill>
                <a:latin typeface="+mn-ea"/>
              </a:endParaRPr>
            </a:p>
          </p:txBody>
        </p:sp>
        <p:sp>
          <p:nvSpPr>
            <p:cNvPr id="15" name="Title-1">
              <a:extLst>
                <a:ext uri="{FF2B5EF4-FFF2-40B4-BE49-F238E27FC236}">
                  <a16:creationId xmlns:a16="http://schemas.microsoft.com/office/drawing/2014/main" id="{9E7999B6-985B-F80F-144F-F97A4E74D92D}"/>
                </a:ext>
              </a:extLst>
            </p:cNvPr>
            <p:cNvSpPr txBox="1"/>
            <p:nvPr>
              <p:custDataLst>
                <p:tags r:id="rId3"/>
              </p:custDataLst>
            </p:nvPr>
          </p:nvSpPr>
          <p:spPr>
            <a:xfrm>
              <a:off x="748163" y="1483451"/>
              <a:ext cx="2513307" cy="612553"/>
            </a:xfrm>
            <a:prstGeom prst="rect">
              <a:avLst/>
            </a:prstGeom>
            <a:noFill/>
          </p:spPr>
          <p:txBody>
            <a:bodyPr wrap="square" rtlCol="0">
              <a:spAutoFit/>
            </a:bodyPr>
            <a:lstStyle/>
            <a:p>
              <a:pPr defTabSz="913765">
                <a:lnSpc>
                  <a:spcPct val="130000"/>
                </a:lnSpc>
              </a:pPr>
              <a:r>
                <a:rPr lang="zh-CN" altLang="en-US" b="1" dirty="0">
                  <a:solidFill>
                    <a:schemeClr val="bg1"/>
                  </a:solidFill>
                  <a:latin typeface="Arial" panose="020B0604020202020204" pitchFamily="34" charset="0"/>
                  <a:ea typeface="微软雅黑" panose="020B0503020204020204" pitchFamily="34" charset="-122"/>
                </a:rPr>
                <a:t>逻辑</a:t>
              </a:r>
            </a:p>
          </p:txBody>
        </p:sp>
        <p:sp>
          <p:nvSpPr>
            <p:cNvPr id="16" name="Body-1">
              <a:extLst>
                <a:ext uri="{FF2B5EF4-FFF2-40B4-BE49-F238E27FC236}">
                  <a16:creationId xmlns:a16="http://schemas.microsoft.com/office/drawing/2014/main" id="{9C682271-49FC-3DF3-2CC4-1756AE4CD59C}"/>
                </a:ext>
              </a:extLst>
            </p:cNvPr>
            <p:cNvSpPr txBox="1">
              <a:spLocks/>
            </p:cNvSpPr>
            <p:nvPr>
              <p:custDataLst>
                <p:tags r:id="rId4"/>
              </p:custDataLst>
            </p:nvPr>
          </p:nvSpPr>
          <p:spPr>
            <a:xfrm>
              <a:off x="793656" y="2113800"/>
              <a:ext cx="3307732" cy="1742964"/>
            </a:xfrm>
            <a:prstGeom prst="rect">
              <a:avLst/>
            </a:prstGeom>
            <a:noFill/>
          </p:spPr>
          <p:txBody>
            <a:bodyPr wrap="square" rtlCol="0">
              <a:spAutoFit/>
            </a:bodyPr>
            <a:lstStyle>
              <a:defPPr>
                <a:defRPr lang="zh-CN"/>
              </a:defPPr>
              <a:lvl1pPr>
                <a:lnSpc>
                  <a:spcPct val="130000"/>
                </a:lnSpc>
                <a:defRPr sz="1400">
                  <a:solidFill>
                    <a:schemeClr val="bg1">
                      <a:alpha val="80000"/>
                    </a:schemeClr>
                  </a:solidFill>
                  <a:latin typeface="Arial" panose="020B0604020202020204" pitchFamily="34" charset="0"/>
                  <a:ea typeface="Microsoft YaHei" panose="020B0503020204020204" pitchFamily="34" charset="-122"/>
                </a:defRPr>
              </a:lvl1pPr>
            </a:lstStyle>
            <a:p>
              <a:pPr marL="285750" indent="-285750">
                <a:buFont typeface="Arial" panose="020B0604020202020204" pitchFamily="34" charset="0"/>
                <a:buChar char="•"/>
              </a:pPr>
              <a:r>
                <a:rPr lang="zh-CN" altLang="zh-CN" kern="100" dirty="0">
                  <a:effectLst/>
                  <a:ea typeface="微软雅黑" panose="020B0503020204020204" pitchFamily="34" charset="-122"/>
                  <a:cs typeface="Times New Roman" panose="02020603050405020304" pitchFamily="18" charset="0"/>
                </a:rPr>
                <a:t>将每个需求完整分配给历史配额评级最低的部件来源</a:t>
              </a:r>
              <a:endParaRPr lang="en-US" altLang="zh-CN" kern="100" dirty="0">
                <a:effectLst/>
                <a:ea typeface="微软雅黑" panose="020B0503020204020204" pitchFamily="34" charset="-122"/>
                <a:cs typeface="Times New Roman" panose="02020603050405020304" pitchFamily="18" charset="0"/>
              </a:endParaRPr>
            </a:p>
            <a:p>
              <a:pPr marL="285750" indent="-285750">
                <a:buFont typeface="Arial" panose="020B0604020202020204" pitchFamily="34" charset="0"/>
                <a:buChar char="•"/>
              </a:pPr>
              <a:r>
                <a:rPr lang="zh-CN" altLang="zh-CN" kern="100" dirty="0">
                  <a:effectLst/>
                  <a:ea typeface="微软雅黑" panose="020B0503020204020204" pitchFamily="34" charset="-122"/>
                  <a:cs typeface="Times New Roman" panose="02020603050405020304" pitchFamily="18" charset="0"/>
                </a:rPr>
                <a:t>分配比例：</a:t>
              </a:r>
              <a:r>
                <a:rPr lang="en-US" altLang="zh-CN" kern="100" dirty="0">
                  <a:effectLst/>
                  <a:ea typeface="微软雅黑" panose="020B0503020204020204" pitchFamily="34" charset="-122"/>
                  <a:cs typeface="Times New Roman" panose="02020603050405020304" pitchFamily="18" charset="0"/>
                </a:rPr>
                <a:t>Target</a:t>
              </a:r>
              <a:r>
                <a:rPr lang="zh-CN" altLang="zh-CN" kern="100" dirty="0">
                  <a:effectLst/>
                  <a:ea typeface="微软雅黑" panose="020B0503020204020204" pitchFamily="34" charset="-122"/>
                  <a:cs typeface="Times New Roman" panose="02020603050405020304" pitchFamily="18" charset="0"/>
                </a:rPr>
                <a:t>值</a:t>
              </a:r>
              <a:r>
                <a:rPr lang="en-US" altLang="zh-CN" kern="100" dirty="0">
                  <a:effectLst/>
                  <a:ea typeface="微软雅黑" panose="020B0503020204020204" pitchFamily="34" charset="-122"/>
                  <a:cs typeface="Times New Roman" panose="02020603050405020304" pitchFamily="18" charset="0"/>
                </a:rPr>
                <a:t> / </a:t>
              </a:r>
              <a:r>
                <a:rPr lang="zh-CN" altLang="zh-CN" kern="100" dirty="0">
                  <a:effectLst/>
                  <a:ea typeface="微软雅黑" panose="020B0503020204020204" pitchFamily="34" charset="-122"/>
                  <a:cs typeface="Times New Roman" panose="02020603050405020304" pitchFamily="18" charset="0"/>
                </a:rPr>
                <a:t>所有替换资源</a:t>
              </a:r>
              <a:r>
                <a:rPr lang="en-US" altLang="zh-CN" kern="100" dirty="0">
                  <a:effectLst/>
                  <a:ea typeface="微软雅黑" panose="020B0503020204020204" pitchFamily="34" charset="-122"/>
                  <a:cs typeface="Times New Roman" panose="02020603050405020304" pitchFamily="18" charset="0"/>
                </a:rPr>
                <a:t>Target</a:t>
              </a:r>
              <a:r>
                <a:rPr lang="zh-CN" altLang="zh-CN" kern="100" dirty="0">
                  <a:effectLst/>
                  <a:ea typeface="微软雅黑" panose="020B0503020204020204" pitchFamily="34" charset="-122"/>
                  <a:cs typeface="Times New Roman" panose="02020603050405020304" pitchFamily="18" charset="0"/>
                </a:rPr>
                <a:t>总和</a:t>
              </a:r>
              <a:endParaRPr lang="en-US" altLang="zh-CN" kern="100" dirty="0">
                <a:effectLst/>
                <a:ea typeface="微软雅黑" panose="020B0503020204020204" pitchFamily="34" charset="-122"/>
                <a:cs typeface="Times New Roman" panose="02020603050405020304" pitchFamily="18" charset="0"/>
              </a:endParaRPr>
            </a:p>
            <a:p>
              <a:pPr marL="285750" indent="-285750">
                <a:buFont typeface="Arial" panose="020B0604020202020204" pitchFamily="34" charset="0"/>
                <a:buChar char="•"/>
              </a:pPr>
              <a:r>
                <a:rPr lang="zh-CN" altLang="zh-CN" kern="100" dirty="0">
                  <a:effectLst/>
                  <a:ea typeface="微软雅黑" panose="020B0503020204020204" pitchFamily="34" charset="-122"/>
                  <a:cs typeface="Times New Roman" panose="02020603050405020304" pitchFamily="18" charset="0"/>
                </a:rPr>
                <a:t>配额评级</a:t>
              </a:r>
              <a:r>
                <a:rPr lang="en-US" altLang="zh-CN" kern="100" dirty="0">
                  <a:effectLst/>
                  <a:ea typeface="微软雅黑" panose="020B0503020204020204" pitchFamily="34" charset="-122"/>
                  <a:cs typeface="Times New Roman" panose="02020603050405020304" pitchFamily="18" charset="0"/>
                </a:rPr>
                <a:t> = </a:t>
              </a:r>
              <a:r>
                <a:rPr lang="zh-CN" altLang="zh-CN" kern="100" dirty="0">
                  <a:effectLst/>
                  <a:ea typeface="微软雅黑" panose="020B0503020204020204" pitchFamily="34" charset="-122"/>
                  <a:cs typeface="Times New Roman" panose="02020603050405020304" pitchFamily="18" charset="0"/>
                </a:rPr>
                <a:t>已分配总量（不包含当前需求）</a:t>
              </a:r>
              <a:r>
                <a:rPr lang="en-US" altLang="zh-CN" kern="100" dirty="0">
                  <a:effectLst/>
                  <a:ea typeface="微软雅黑" panose="020B0503020204020204" pitchFamily="34" charset="-122"/>
                  <a:cs typeface="Times New Roman" panose="02020603050405020304" pitchFamily="18" charset="0"/>
                </a:rPr>
                <a:t> / </a:t>
              </a:r>
              <a:r>
                <a:rPr lang="zh-CN" altLang="zh-CN" kern="100" dirty="0">
                  <a:effectLst/>
                  <a:ea typeface="微软雅黑" panose="020B0503020204020204" pitchFamily="34" charset="-122"/>
                  <a:cs typeface="Times New Roman" panose="02020603050405020304" pitchFamily="18" charset="0"/>
                </a:rPr>
                <a:t>分配比例</a:t>
              </a:r>
              <a:endParaRPr lang="en-US" altLang="zh-CN" kern="100" dirty="0">
                <a:effectLst/>
                <a:ea typeface="微软雅黑" panose="020B0503020204020204" pitchFamily="34" charset="-122"/>
                <a:cs typeface="Times New Roman" panose="02020603050405020304" pitchFamily="18" charset="0"/>
              </a:endParaRPr>
            </a:p>
            <a:p>
              <a:pPr marL="285750" indent="-285750">
                <a:buFont typeface="Arial" panose="020B0604020202020204" pitchFamily="34" charset="0"/>
                <a:buChar char="•"/>
              </a:pPr>
              <a:r>
                <a:rPr lang="zh-CN" altLang="zh-CN" kern="100" dirty="0">
                  <a:effectLst/>
                  <a:ea typeface="微软雅黑" panose="020B0503020204020204" pitchFamily="34" charset="-122"/>
                  <a:cs typeface="Times New Roman" panose="02020603050405020304" pitchFamily="18" charset="0"/>
                </a:rPr>
                <a:t>分配依据：选择配额评级最低的来源；若评级相同，则按</a:t>
              </a:r>
              <a:r>
                <a:rPr lang="en-US" altLang="zh-CN" kern="100" dirty="0">
                  <a:effectLst/>
                  <a:ea typeface="微软雅黑" panose="020B0503020204020204" pitchFamily="34" charset="-122"/>
                  <a:cs typeface="Times New Roman" panose="02020603050405020304" pitchFamily="18" charset="0"/>
                </a:rPr>
                <a:t> Target</a:t>
              </a:r>
              <a:r>
                <a:rPr lang="zh-CN" altLang="zh-CN" kern="100" dirty="0">
                  <a:effectLst/>
                  <a:ea typeface="微软雅黑" panose="020B0503020204020204" pitchFamily="34" charset="-122"/>
                  <a:cs typeface="Times New Roman" panose="02020603050405020304" pitchFamily="18" charset="0"/>
                </a:rPr>
                <a:t>值</a:t>
              </a:r>
              <a:endParaRPr lang="en-US" altLang="zh-CN" kern="100" dirty="0">
                <a:ea typeface="微软雅黑" panose="020B0503020204020204" pitchFamily="34" charset="-122"/>
                <a:cs typeface="Times New Roman" panose="02020603050405020304" pitchFamily="18" charset="0"/>
              </a:endParaRPr>
            </a:p>
          </p:txBody>
        </p:sp>
      </p:grpSp>
      <p:graphicFrame>
        <p:nvGraphicFramePr>
          <p:cNvPr id="17" name="表格 16">
            <a:extLst>
              <a:ext uri="{FF2B5EF4-FFF2-40B4-BE49-F238E27FC236}">
                <a16:creationId xmlns:a16="http://schemas.microsoft.com/office/drawing/2014/main" id="{C892E275-0636-FFA8-B9B6-7D02C55B5D5D}"/>
              </a:ext>
            </a:extLst>
          </p:cNvPr>
          <p:cNvGraphicFramePr>
            <a:graphicFrameLocks noGrp="1"/>
          </p:cNvGraphicFramePr>
          <p:nvPr>
            <p:extLst>
              <p:ext uri="{D42A27DB-BD31-4B8C-83A1-F6EECF244321}">
                <p14:modId xmlns:p14="http://schemas.microsoft.com/office/powerpoint/2010/main" val="2511272933"/>
              </p:ext>
            </p:extLst>
          </p:nvPr>
        </p:nvGraphicFramePr>
        <p:xfrm>
          <a:off x="2067859" y="3429000"/>
          <a:ext cx="8199718" cy="3203389"/>
        </p:xfrm>
        <a:graphic>
          <a:graphicData uri="http://schemas.openxmlformats.org/drawingml/2006/table">
            <a:tbl>
              <a:tblPr firstRow="1" firstCol="1" lastRow="1" lastCol="1" bandRow="1" bandCol="1">
                <a:tableStyleId>{F2DE63D5-997A-4646-A377-4702673A728D}</a:tableStyleId>
              </a:tblPr>
              <a:tblGrid>
                <a:gridCol w="1519257">
                  <a:extLst>
                    <a:ext uri="{9D8B030D-6E8A-4147-A177-3AD203B41FA5}">
                      <a16:colId xmlns:a16="http://schemas.microsoft.com/office/drawing/2014/main" val="1476701231"/>
                    </a:ext>
                  </a:extLst>
                </a:gridCol>
                <a:gridCol w="1500941">
                  <a:extLst>
                    <a:ext uri="{9D8B030D-6E8A-4147-A177-3AD203B41FA5}">
                      <a16:colId xmlns:a16="http://schemas.microsoft.com/office/drawing/2014/main" val="4273869126"/>
                    </a:ext>
                  </a:extLst>
                </a:gridCol>
                <a:gridCol w="1808252">
                  <a:extLst>
                    <a:ext uri="{9D8B030D-6E8A-4147-A177-3AD203B41FA5}">
                      <a16:colId xmlns:a16="http://schemas.microsoft.com/office/drawing/2014/main" val="3348916837"/>
                    </a:ext>
                  </a:extLst>
                </a:gridCol>
                <a:gridCol w="1834711">
                  <a:extLst>
                    <a:ext uri="{9D8B030D-6E8A-4147-A177-3AD203B41FA5}">
                      <a16:colId xmlns:a16="http://schemas.microsoft.com/office/drawing/2014/main" val="2435786356"/>
                    </a:ext>
                  </a:extLst>
                </a:gridCol>
                <a:gridCol w="1536557">
                  <a:extLst>
                    <a:ext uri="{9D8B030D-6E8A-4147-A177-3AD203B41FA5}">
                      <a16:colId xmlns:a16="http://schemas.microsoft.com/office/drawing/2014/main" val="1722084799"/>
                    </a:ext>
                  </a:extLst>
                </a:gridCol>
              </a:tblGrid>
              <a:tr h="342155">
                <a:tc>
                  <a:txBody>
                    <a:bodyPr/>
                    <a:lstStyle/>
                    <a:p>
                      <a:pPr marL="0" algn="l" defTabSz="914332" rtl="0" eaLnBrk="1" latinLnBrk="0" hangingPunct="1">
                        <a:lnSpc>
                          <a:spcPct val="120000"/>
                        </a:lnSpc>
                        <a:buNone/>
                      </a:pPr>
                      <a:r>
                        <a:rPr lang="zh-CN" altLang="en-US" sz="1400" b="1" kern="100" dirty="0">
                          <a:solidFill>
                            <a:schemeClr val="tx1"/>
                          </a:solidFill>
                          <a:effectLst/>
                          <a:latin typeface="Arial" panose="020B0604020202020204" pitchFamily="34" charset="0"/>
                          <a:ea typeface="微软雅黑" panose="020B0503020204020204" pitchFamily="34" charset="-122"/>
                        </a:rPr>
                        <a:t>分配次数</a:t>
                      </a:r>
                      <a:endParaRPr lang="zh-CN" altLang="en-US" sz="1400" b="1" kern="100" dirty="0">
                        <a:solidFill>
                          <a:schemeClr val="tx1"/>
                        </a:solidFill>
                        <a:effectLst/>
                        <a:latin typeface="Arial" panose="020B0604020202020204" pitchFamily="34" charset="0"/>
                        <a:ea typeface="微软雅黑" panose="020B0503020204020204" pitchFamily="34" charset="-122"/>
                        <a:cs typeface="+mn-cs"/>
                      </a:endParaRPr>
                    </a:p>
                  </a:txBody>
                  <a:tcPr marL="68580" marR="68580" marT="0" marB="0"/>
                </a:tc>
                <a:tc>
                  <a:txBody>
                    <a:bodyPr/>
                    <a:lstStyle/>
                    <a:p>
                      <a:pPr algn="l">
                        <a:lnSpc>
                          <a:spcPct val="120000"/>
                        </a:lnSpc>
                        <a:buNone/>
                      </a:pPr>
                      <a:r>
                        <a:rPr lang="zh-CN" sz="1400" kern="100">
                          <a:solidFill>
                            <a:schemeClr val="tx1"/>
                          </a:solidFill>
                          <a:effectLst/>
                          <a:latin typeface="Arial" panose="020B0604020202020204" pitchFamily="34" charset="0"/>
                          <a:ea typeface="微软雅黑" panose="020B0503020204020204" pitchFamily="34" charset="-122"/>
                        </a:rPr>
                        <a:t>净需求数量</a:t>
                      </a:r>
                      <a:endParaRPr lang="zh-CN" sz="14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zh-CN" sz="1400" kern="100">
                          <a:solidFill>
                            <a:schemeClr val="tx1"/>
                          </a:solidFill>
                          <a:effectLst/>
                          <a:latin typeface="Arial" panose="020B0604020202020204" pitchFamily="34" charset="0"/>
                          <a:ea typeface="微软雅黑" panose="020B0503020204020204" pitchFamily="34" charset="-122"/>
                        </a:rPr>
                        <a:t>动态目标计算</a:t>
                      </a:r>
                      <a:endParaRPr lang="zh-CN" sz="14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zh-CN" sz="1400" kern="100">
                          <a:solidFill>
                            <a:schemeClr val="tx1"/>
                          </a:solidFill>
                          <a:effectLst/>
                          <a:latin typeface="Arial" panose="020B0604020202020204" pitchFamily="34" charset="0"/>
                          <a:ea typeface="微软雅黑" panose="020B0503020204020204" pitchFamily="34" charset="-122"/>
                        </a:rPr>
                        <a:t>实际分配</a:t>
                      </a:r>
                      <a:endParaRPr lang="zh-CN" sz="14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zh-CN" sz="1400" kern="100" dirty="0">
                          <a:solidFill>
                            <a:schemeClr val="tx1"/>
                          </a:solidFill>
                          <a:effectLst/>
                          <a:latin typeface="Arial" panose="020B0604020202020204" pitchFamily="34" charset="0"/>
                          <a:ea typeface="微软雅黑" panose="020B0503020204020204" pitchFamily="34" charset="-122"/>
                        </a:rPr>
                        <a:t>选择</a:t>
                      </a:r>
                      <a:endParaRPr lang="zh-CN" sz="1400" kern="100" dirty="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extLst>
                  <a:ext uri="{0D108BD9-81ED-4DB2-BD59-A6C34878D82A}">
                    <a16:rowId xmlns:a16="http://schemas.microsoft.com/office/drawing/2014/main" val="2086724478"/>
                  </a:ext>
                </a:extLst>
              </a:tr>
              <a:tr h="855668">
                <a:tc>
                  <a:txBody>
                    <a:bodyPr/>
                    <a:lstStyle/>
                    <a:p>
                      <a:pPr algn="l">
                        <a:lnSpc>
                          <a:spcPct val="120000"/>
                        </a:lnSpc>
                        <a:buNone/>
                      </a:pPr>
                      <a:r>
                        <a:rPr lang="zh-CN" sz="1100" kern="100">
                          <a:effectLst/>
                          <a:latin typeface="Arial" panose="020B0604020202020204" pitchFamily="34" charset="0"/>
                          <a:ea typeface="微软雅黑" panose="020B0503020204020204" pitchFamily="34" charset="-122"/>
                        </a:rPr>
                        <a:t>第</a:t>
                      </a:r>
                      <a:r>
                        <a:rPr lang="en-US" sz="1100" kern="100">
                          <a:effectLst/>
                          <a:latin typeface="Arial" panose="020B0604020202020204" pitchFamily="34" charset="0"/>
                          <a:ea typeface="微软雅黑" panose="020B0503020204020204" pitchFamily="34" charset="-122"/>
                        </a:rPr>
                        <a:t>1</a:t>
                      </a:r>
                      <a:r>
                        <a:rPr lang="zh-CN" sz="1100" kern="100">
                          <a:effectLst/>
                          <a:latin typeface="Arial" panose="020B0604020202020204" pitchFamily="34" charset="0"/>
                          <a:ea typeface="微软雅黑" panose="020B0503020204020204" pitchFamily="34" charset="-122"/>
                        </a:rPr>
                        <a:t>次</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100" kern="100">
                          <a:effectLst/>
                          <a:latin typeface="Arial" panose="020B0604020202020204" pitchFamily="34" charset="0"/>
                          <a:ea typeface="微软雅黑" panose="020B0503020204020204" pitchFamily="34" charset="-122"/>
                        </a:rPr>
                        <a:t>10</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100" kern="100">
                          <a:effectLst/>
                          <a:latin typeface="Arial" panose="020B0604020202020204" pitchFamily="34" charset="0"/>
                          <a:ea typeface="微软雅黑" panose="020B0503020204020204" pitchFamily="34" charset="-122"/>
                        </a:rPr>
                        <a:t>P1:0/(60%)=0 P2:vs 0/(40%)=0</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zh-CN" sz="1100" kern="100">
                          <a:effectLst/>
                          <a:latin typeface="Arial" panose="020B0604020202020204" pitchFamily="34" charset="0"/>
                          <a:ea typeface="微软雅黑" panose="020B0503020204020204" pitchFamily="34" charset="-122"/>
                        </a:rPr>
                        <a:t>评级一致，</a:t>
                      </a:r>
                      <a:r>
                        <a:rPr lang="en-US" sz="1100" kern="100">
                          <a:effectLst/>
                          <a:latin typeface="Arial" panose="020B0604020202020204" pitchFamily="34" charset="0"/>
                          <a:ea typeface="微软雅黑" panose="020B0503020204020204" pitchFamily="34" charset="-122"/>
                        </a:rPr>
                        <a:t>P1</a:t>
                      </a:r>
                      <a:r>
                        <a:rPr lang="zh-CN" sz="1100" kern="100">
                          <a:effectLst/>
                          <a:latin typeface="Arial" panose="020B0604020202020204" pitchFamily="34" charset="0"/>
                          <a:ea typeface="微软雅黑" panose="020B0503020204020204" pitchFamily="34" charset="-122"/>
                        </a:rPr>
                        <a:t>分配</a:t>
                      </a:r>
                      <a:r>
                        <a:rPr lang="en-US" sz="1100" kern="100">
                          <a:effectLst/>
                          <a:latin typeface="Arial" panose="020B0604020202020204" pitchFamily="34" charset="0"/>
                          <a:ea typeface="微软雅黑" panose="020B0503020204020204" pitchFamily="34" charset="-122"/>
                        </a:rPr>
                        <a:t>10</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100" kern="100">
                          <a:effectLst/>
                          <a:latin typeface="Arial" panose="020B0604020202020204" pitchFamily="34" charset="0"/>
                          <a:ea typeface="微软雅黑" panose="020B0503020204020204" pitchFamily="34" charset="-122"/>
                        </a:rPr>
                        <a:t>P1</a:t>
                      </a:r>
                      <a:r>
                        <a:rPr lang="zh-CN" sz="1100" kern="100">
                          <a:effectLst/>
                          <a:latin typeface="Arial" panose="020B0604020202020204" pitchFamily="34" charset="0"/>
                          <a:ea typeface="微软雅黑" panose="020B0503020204020204" pitchFamily="34" charset="-122"/>
                        </a:rPr>
                        <a:t>的</a:t>
                      </a:r>
                      <a:r>
                        <a:rPr lang="en-US" sz="1100" kern="100">
                          <a:effectLst/>
                          <a:latin typeface="Arial" panose="020B0604020202020204" pitchFamily="34" charset="0"/>
                          <a:ea typeface="微软雅黑" panose="020B0503020204020204" pitchFamily="34" charset="-122"/>
                        </a:rPr>
                        <a:t>Target</a:t>
                      </a:r>
                      <a:r>
                        <a:rPr lang="zh-CN" sz="1100" kern="100">
                          <a:effectLst/>
                          <a:latin typeface="Arial" panose="020B0604020202020204" pitchFamily="34" charset="0"/>
                          <a:ea typeface="微软雅黑" panose="020B0503020204020204" pitchFamily="34" charset="-122"/>
                        </a:rPr>
                        <a:t>更高，选</a:t>
                      </a:r>
                      <a:r>
                        <a:rPr lang="en-US" sz="1100" kern="100">
                          <a:effectLst/>
                          <a:latin typeface="Arial" panose="020B0604020202020204" pitchFamily="34" charset="0"/>
                          <a:ea typeface="微软雅黑" panose="020B0503020204020204" pitchFamily="34" charset="-122"/>
                        </a:rPr>
                        <a:t>P1</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extLst>
                  <a:ext uri="{0D108BD9-81ED-4DB2-BD59-A6C34878D82A}">
                    <a16:rowId xmlns:a16="http://schemas.microsoft.com/office/drawing/2014/main" val="279900775"/>
                  </a:ext>
                </a:extLst>
              </a:tr>
              <a:tr h="855668">
                <a:tc>
                  <a:txBody>
                    <a:bodyPr/>
                    <a:lstStyle/>
                    <a:p>
                      <a:pPr algn="l">
                        <a:lnSpc>
                          <a:spcPct val="120000"/>
                        </a:lnSpc>
                        <a:buNone/>
                      </a:pPr>
                      <a:r>
                        <a:rPr lang="zh-CN" sz="1100" kern="100">
                          <a:effectLst/>
                          <a:latin typeface="Arial" panose="020B0604020202020204" pitchFamily="34" charset="0"/>
                          <a:ea typeface="微软雅黑" panose="020B0503020204020204" pitchFamily="34" charset="-122"/>
                        </a:rPr>
                        <a:t>第</a:t>
                      </a:r>
                      <a:r>
                        <a:rPr lang="en-US" sz="1100" kern="100">
                          <a:effectLst/>
                          <a:latin typeface="Arial" panose="020B0604020202020204" pitchFamily="34" charset="0"/>
                          <a:ea typeface="微软雅黑" panose="020B0503020204020204" pitchFamily="34" charset="-122"/>
                        </a:rPr>
                        <a:t>2</a:t>
                      </a:r>
                      <a:r>
                        <a:rPr lang="zh-CN" sz="1100" kern="100">
                          <a:effectLst/>
                          <a:latin typeface="Arial" panose="020B0604020202020204" pitchFamily="34" charset="0"/>
                          <a:ea typeface="微软雅黑" panose="020B0503020204020204" pitchFamily="34" charset="-122"/>
                        </a:rPr>
                        <a:t>次</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100" kern="100">
                          <a:effectLst/>
                          <a:latin typeface="Arial" panose="020B0604020202020204" pitchFamily="34" charset="0"/>
                          <a:ea typeface="微软雅黑" panose="020B0503020204020204" pitchFamily="34" charset="-122"/>
                        </a:rPr>
                        <a:t>20</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100" kern="100">
                          <a:effectLst/>
                          <a:latin typeface="Arial" panose="020B0604020202020204" pitchFamily="34" charset="0"/>
                          <a:ea typeface="微软雅黑" panose="020B0503020204020204" pitchFamily="34" charset="-122"/>
                        </a:rPr>
                        <a:t>P1:10/(60%) = 17 vs</a:t>
                      </a:r>
                      <a:endParaRPr lang="zh-CN" sz="1100" kern="100">
                        <a:effectLst/>
                        <a:latin typeface="Arial" panose="020B0604020202020204" pitchFamily="34" charset="0"/>
                        <a:ea typeface="微软雅黑" panose="020B0503020204020204" pitchFamily="34" charset="-122"/>
                      </a:endParaRPr>
                    </a:p>
                    <a:p>
                      <a:pPr algn="l">
                        <a:lnSpc>
                          <a:spcPct val="120000"/>
                        </a:lnSpc>
                        <a:buNone/>
                      </a:pPr>
                      <a:r>
                        <a:rPr lang="en-US" sz="1100" kern="100">
                          <a:effectLst/>
                          <a:latin typeface="Arial" panose="020B0604020202020204" pitchFamily="34" charset="0"/>
                          <a:ea typeface="微软雅黑" panose="020B0503020204020204" pitchFamily="34" charset="-122"/>
                        </a:rPr>
                        <a:t>P2:0(40%) = 0</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100" kern="100">
                          <a:effectLst/>
                          <a:latin typeface="Arial" panose="020B0604020202020204" pitchFamily="34" charset="0"/>
                          <a:ea typeface="微软雅黑" panose="020B0503020204020204" pitchFamily="34" charset="-122"/>
                        </a:rPr>
                        <a:t>P2</a:t>
                      </a:r>
                      <a:r>
                        <a:rPr lang="zh-CN" sz="1100" kern="100">
                          <a:effectLst/>
                          <a:latin typeface="Arial" panose="020B0604020202020204" pitchFamily="34" charset="0"/>
                          <a:ea typeface="微软雅黑" panose="020B0503020204020204" pitchFamily="34" charset="-122"/>
                        </a:rPr>
                        <a:t>评级低，</a:t>
                      </a:r>
                      <a:r>
                        <a:rPr lang="en-US" sz="1100" kern="100">
                          <a:effectLst/>
                          <a:latin typeface="Arial" panose="020B0604020202020204" pitchFamily="34" charset="0"/>
                          <a:ea typeface="微软雅黑" panose="020B0503020204020204" pitchFamily="34" charset="-122"/>
                        </a:rPr>
                        <a:t>P2</a:t>
                      </a:r>
                      <a:r>
                        <a:rPr lang="zh-CN" sz="1100" kern="100">
                          <a:effectLst/>
                          <a:latin typeface="Arial" panose="020B0604020202020204" pitchFamily="34" charset="0"/>
                          <a:ea typeface="微软雅黑" panose="020B0503020204020204" pitchFamily="34" charset="-122"/>
                        </a:rPr>
                        <a:t>分配</a:t>
                      </a:r>
                      <a:r>
                        <a:rPr lang="en-US" sz="1100" kern="100">
                          <a:effectLst/>
                          <a:latin typeface="Arial" panose="020B0604020202020204" pitchFamily="34" charset="0"/>
                          <a:ea typeface="微软雅黑" panose="020B0503020204020204" pitchFamily="34" charset="-122"/>
                        </a:rPr>
                        <a:t>20</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zh-CN" sz="1100" kern="100">
                          <a:effectLst/>
                          <a:latin typeface="Arial" panose="020B0604020202020204" pitchFamily="34" charset="0"/>
                          <a:ea typeface="微软雅黑" panose="020B0503020204020204" pitchFamily="34" charset="-122"/>
                        </a:rPr>
                        <a:t>选</a:t>
                      </a:r>
                      <a:r>
                        <a:rPr lang="en-US" sz="1100" kern="100">
                          <a:effectLst/>
                          <a:latin typeface="Arial" panose="020B0604020202020204" pitchFamily="34" charset="0"/>
                          <a:ea typeface="微软雅黑" panose="020B0503020204020204" pitchFamily="34" charset="-122"/>
                        </a:rPr>
                        <a:t>P2</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extLst>
                  <a:ext uri="{0D108BD9-81ED-4DB2-BD59-A6C34878D82A}">
                    <a16:rowId xmlns:a16="http://schemas.microsoft.com/office/drawing/2014/main" val="810230866"/>
                  </a:ext>
                </a:extLst>
              </a:tr>
              <a:tr h="1149898">
                <a:tc>
                  <a:txBody>
                    <a:bodyPr/>
                    <a:lstStyle/>
                    <a:p>
                      <a:pPr algn="l">
                        <a:lnSpc>
                          <a:spcPct val="120000"/>
                        </a:lnSpc>
                        <a:buNone/>
                      </a:pPr>
                      <a:r>
                        <a:rPr lang="zh-CN" sz="1100" kern="100">
                          <a:effectLst/>
                          <a:latin typeface="Arial" panose="020B0604020202020204" pitchFamily="34" charset="0"/>
                          <a:ea typeface="微软雅黑" panose="020B0503020204020204" pitchFamily="34" charset="-122"/>
                        </a:rPr>
                        <a:t>第</a:t>
                      </a:r>
                      <a:r>
                        <a:rPr lang="en-US" sz="1100" kern="100">
                          <a:effectLst/>
                          <a:latin typeface="Arial" panose="020B0604020202020204" pitchFamily="34" charset="0"/>
                          <a:ea typeface="微软雅黑" panose="020B0503020204020204" pitchFamily="34" charset="-122"/>
                        </a:rPr>
                        <a:t>3</a:t>
                      </a:r>
                      <a:r>
                        <a:rPr lang="zh-CN" sz="1100" kern="100">
                          <a:effectLst/>
                          <a:latin typeface="Arial" panose="020B0604020202020204" pitchFamily="34" charset="0"/>
                          <a:ea typeface="微软雅黑" panose="020B0503020204020204" pitchFamily="34" charset="-122"/>
                        </a:rPr>
                        <a:t>次</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100" kern="100">
                          <a:effectLst/>
                          <a:latin typeface="Arial" panose="020B0604020202020204" pitchFamily="34" charset="0"/>
                          <a:ea typeface="微软雅黑" panose="020B0503020204020204" pitchFamily="34" charset="-122"/>
                        </a:rPr>
                        <a:t>30</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100" kern="100">
                          <a:effectLst/>
                          <a:latin typeface="Arial" panose="020B0604020202020204" pitchFamily="34" charset="0"/>
                          <a:ea typeface="微软雅黑" panose="020B0503020204020204" pitchFamily="34" charset="-122"/>
                        </a:rPr>
                        <a:t>P1:10/(60%)=24 vs</a:t>
                      </a:r>
                      <a:endParaRPr lang="zh-CN" sz="1100" kern="100">
                        <a:effectLst/>
                        <a:latin typeface="Arial" panose="020B0604020202020204" pitchFamily="34" charset="0"/>
                        <a:ea typeface="微软雅黑" panose="020B0503020204020204" pitchFamily="34" charset="-122"/>
                      </a:endParaRPr>
                    </a:p>
                    <a:p>
                      <a:pPr algn="l">
                        <a:lnSpc>
                          <a:spcPct val="120000"/>
                        </a:lnSpc>
                        <a:buNone/>
                      </a:pPr>
                      <a:r>
                        <a:rPr lang="en-US" sz="1100" kern="100">
                          <a:effectLst/>
                          <a:latin typeface="Arial" panose="020B0604020202020204" pitchFamily="34" charset="0"/>
                          <a:ea typeface="微软雅黑" panose="020B0503020204020204" pitchFamily="34" charset="-122"/>
                        </a:rPr>
                        <a:t>P2: 20/(40%)=25</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en-US" sz="1100" kern="100">
                          <a:effectLst/>
                          <a:latin typeface="Arial" panose="020B0604020202020204" pitchFamily="34" charset="0"/>
                          <a:ea typeface="微软雅黑" panose="020B0503020204020204" pitchFamily="34" charset="-122"/>
                        </a:rPr>
                        <a:t>P1</a:t>
                      </a:r>
                      <a:r>
                        <a:rPr lang="zh-CN" sz="1100" kern="100">
                          <a:effectLst/>
                          <a:latin typeface="Arial" panose="020B0604020202020204" pitchFamily="34" charset="0"/>
                          <a:ea typeface="微软雅黑" panose="020B0503020204020204" pitchFamily="34" charset="-122"/>
                        </a:rPr>
                        <a:t>评级更低，</a:t>
                      </a:r>
                      <a:r>
                        <a:rPr lang="en-US" sz="1100" kern="100">
                          <a:effectLst/>
                          <a:latin typeface="Arial" panose="020B0604020202020204" pitchFamily="34" charset="0"/>
                          <a:ea typeface="微软雅黑" panose="020B0503020204020204" pitchFamily="34" charset="-122"/>
                        </a:rPr>
                        <a:t>P1</a:t>
                      </a:r>
                      <a:r>
                        <a:rPr lang="zh-CN" sz="1100" kern="100">
                          <a:effectLst/>
                          <a:latin typeface="Arial" panose="020B0604020202020204" pitchFamily="34" charset="0"/>
                          <a:ea typeface="微软雅黑" panose="020B0503020204020204" pitchFamily="34" charset="-122"/>
                        </a:rPr>
                        <a:t>分配</a:t>
                      </a:r>
                      <a:r>
                        <a:rPr lang="en-US" sz="1100" kern="100">
                          <a:effectLst/>
                          <a:latin typeface="Arial" panose="020B0604020202020204" pitchFamily="34" charset="0"/>
                          <a:ea typeface="微软雅黑" panose="020B0503020204020204" pitchFamily="34" charset="-122"/>
                        </a:rPr>
                        <a:t>30</a:t>
                      </a:r>
                      <a:endParaRPr lang="zh-CN" sz="1100" kern="10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gn="l">
                        <a:lnSpc>
                          <a:spcPct val="120000"/>
                        </a:lnSpc>
                        <a:buNone/>
                      </a:pPr>
                      <a:r>
                        <a:rPr lang="zh-CN" sz="1100" kern="100" dirty="0">
                          <a:effectLst/>
                          <a:latin typeface="Arial" panose="020B0604020202020204" pitchFamily="34" charset="0"/>
                          <a:ea typeface="微软雅黑" panose="020B0503020204020204" pitchFamily="34" charset="-122"/>
                        </a:rPr>
                        <a:t>选</a:t>
                      </a:r>
                      <a:r>
                        <a:rPr lang="en-US" sz="1100" kern="100" dirty="0">
                          <a:effectLst/>
                          <a:latin typeface="Arial" panose="020B0604020202020204" pitchFamily="34" charset="0"/>
                          <a:ea typeface="微软雅黑" panose="020B0503020204020204" pitchFamily="34" charset="-122"/>
                        </a:rPr>
                        <a:t>P1</a:t>
                      </a:r>
                      <a:endParaRPr lang="zh-CN" sz="1100" kern="100" dirty="0">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extLst>
                  <a:ext uri="{0D108BD9-81ED-4DB2-BD59-A6C34878D82A}">
                    <a16:rowId xmlns:a16="http://schemas.microsoft.com/office/drawing/2014/main" val="3636826231"/>
                  </a:ext>
                </a:extLst>
              </a:tr>
            </a:tbl>
          </a:graphicData>
        </a:graphic>
      </p:graphicFrame>
    </p:spTree>
    <p:extLst>
      <p:ext uri="{BB962C8B-B14F-4D97-AF65-F5344CB8AC3E}">
        <p14:creationId xmlns:p14="http://schemas.microsoft.com/office/powerpoint/2010/main" val="4278067661"/>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310C165-3012-0EB6-C6B5-4DB49A19D872}"/>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寻源规则 </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动态调整比例，减少因批量导致的超额供应</a:t>
            </a:r>
          </a:p>
        </p:txBody>
      </p:sp>
      <p:grpSp>
        <p:nvGrpSpPr>
          <p:cNvPr id="3" name="组合 2">
            <a:extLst>
              <a:ext uri="{FF2B5EF4-FFF2-40B4-BE49-F238E27FC236}">
                <a16:creationId xmlns:a16="http://schemas.microsoft.com/office/drawing/2014/main" id="{1638EC68-EC90-C4F1-C5D6-C23F98F2569D}"/>
              </a:ext>
            </a:extLst>
          </p:cNvPr>
          <p:cNvGrpSpPr/>
          <p:nvPr/>
        </p:nvGrpSpPr>
        <p:grpSpPr>
          <a:xfrm>
            <a:off x="543845" y="1193035"/>
            <a:ext cx="635003" cy="462517"/>
            <a:chOff x="2618303" y="1841679"/>
            <a:chExt cx="739175" cy="384518"/>
          </a:xfrm>
        </p:grpSpPr>
        <p:sp>
          <p:nvSpPr>
            <p:cNvPr id="4" name="等腰三角形 3">
              <a:extLst>
                <a:ext uri="{FF2B5EF4-FFF2-40B4-BE49-F238E27FC236}">
                  <a16:creationId xmlns:a16="http://schemas.microsoft.com/office/drawing/2014/main" id="{6F03B4F4-B493-134A-772C-1474F279B8F4}"/>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effectLst/>
                <a:uLnTx/>
                <a:uFillTx/>
                <a:latin typeface="+mn-ea"/>
                <a:cs typeface="+mn-cs"/>
              </a:endParaRPr>
            </a:p>
          </p:txBody>
        </p:sp>
        <p:sp>
          <p:nvSpPr>
            <p:cNvPr id="5" name="文本框 4">
              <a:extLst>
                <a:ext uri="{FF2B5EF4-FFF2-40B4-BE49-F238E27FC236}">
                  <a16:creationId xmlns:a16="http://schemas.microsoft.com/office/drawing/2014/main" id="{D2221AB6-BD3F-7A4A-B91C-28E3E8C48451}"/>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P1</a:t>
              </a:r>
              <a:r>
                <a:rPr kumimoji="0" lang="zh-CN" altLang="en-US"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a:t>
              </a:r>
              <a:r>
                <a:rPr lang="en-US" altLang="zh-CN" sz="800" b="1" kern="0" dirty="0">
                  <a:latin typeface="Arial" panose="020B0604020202020204" pitchFamily="34" charset="0"/>
                  <a:ea typeface="微软雅黑" panose="020B0503020204020204" pitchFamily="34" charset="-122"/>
                </a:rPr>
                <a:t>5</a:t>
              </a:r>
              <a:endParaRPr kumimoji="0" lang="zh-CN" altLang="en-US"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cxnSp>
        <p:nvCxnSpPr>
          <p:cNvPr id="6" name="连接符: 肘形 5">
            <a:extLst>
              <a:ext uri="{FF2B5EF4-FFF2-40B4-BE49-F238E27FC236}">
                <a16:creationId xmlns:a16="http://schemas.microsoft.com/office/drawing/2014/main" id="{0F6E4A85-B898-21CC-5B9F-225A7B0976C8}"/>
              </a:ext>
            </a:extLst>
          </p:cNvPr>
          <p:cNvCxnSpPr>
            <a:cxnSpLocks/>
            <a:stCxn id="7" idx="4"/>
            <a:endCxn id="4" idx="0"/>
          </p:cNvCxnSpPr>
          <p:nvPr/>
        </p:nvCxnSpPr>
        <p:spPr>
          <a:xfrm rot="5400000">
            <a:off x="1077413" y="768987"/>
            <a:ext cx="207983" cy="640113"/>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sp>
        <p:nvSpPr>
          <p:cNvPr id="7" name="椭圆 6">
            <a:extLst>
              <a:ext uri="{FF2B5EF4-FFF2-40B4-BE49-F238E27FC236}">
                <a16:creationId xmlns:a16="http://schemas.microsoft.com/office/drawing/2014/main" id="{49EE9824-1490-4617-B9BF-11C6B3216301}"/>
              </a:ext>
            </a:extLst>
          </p:cNvPr>
          <p:cNvSpPr/>
          <p:nvPr/>
        </p:nvSpPr>
        <p:spPr>
          <a:xfrm>
            <a:off x="1183959" y="699260"/>
            <a:ext cx="635002" cy="285792"/>
          </a:xfrm>
          <a:prstGeom prst="ellipse">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800" b="1" dirty="0" err="1">
                <a:latin typeface="Arial" panose="020B0604020202020204" pitchFamily="34" charset="0"/>
                <a:ea typeface="微软雅黑" panose="020B0503020204020204" pitchFamily="34" charset="-122"/>
              </a:rPr>
              <a:t>alg</a:t>
            </a:r>
            <a:r>
              <a:rPr lang="en-US" altLang="zh-CN" sz="800" b="1" dirty="0">
                <a:latin typeface="Arial" panose="020B0604020202020204" pitchFamily="34" charset="0"/>
                <a:ea typeface="微软雅黑" panose="020B0503020204020204" pitchFamily="34" charset="-122"/>
              </a:rPr>
              <a:t> 1</a:t>
            </a:r>
            <a:endParaRPr lang="zh-CN" altLang="en-US" sz="800" b="1" dirty="0">
              <a:latin typeface="Arial" panose="020B0604020202020204" pitchFamily="34" charset="0"/>
              <a:ea typeface="微软雅黑" panose="020B0503020204020204" pitchFamily="34" charset="-122"/>
            </a:endParaRPr>
          </a:p>
        </p:txBody>
      </p:sp>
      <p:grpSp>
        <p:nvGrpSpPr>
          <p:cNvPr id="8" name="组合 7">
            <a:extLst>
              <a:ext uri="{FF2B5EF4-FFF2-40B4-BE49-F238E27FC236}">
                <a16:creationId xmlns:a16="http://schemas.microsoft.com/office/drawing/2014/main" id="{0C85249A-527E-E17C-923F-2F4EFD2A3692}"/>
              </a:ext>
            </a:extLst>
          </p:cNvPr>
          <p:cNvGrpSpPr/>
          <p:nvPr/>
        </p:nvGrpSpPr>
        <p:grpSpPr>
          <a:xfrm>
            <a:off x="1186432" y="1193034"/>
            <a:ext cx="635003" cy="462517"/>
            <a:chOff x="2618303" y="1841679"/>
            <a:chExt cx="739175" cy="384518"/>
          </a:xfrm>
        </p:grpSpPr>
        <p:sp>
          <p:nvSpPr>
            <p:cNvPr id="9" name="等腰三角形 8">
              <a:extLst>
                <a:ext uri="{FF2B5EF4-FFF2-40B4-BE49-F238E27FC236}">
                  <a16:creationId xmlns:a16="http://schemas.microsoft.com/office/drawing/2014/main" id="{FB744FB4-2A7F-BFAF-1698-D2AFF089B26A}"/>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effectLst/>
                <a:uLnTx/>
                <a:uFillTx/>
                <a:latin typeface="+mn-ea"/>
                <a:cs typeface="+mn-cs"/>
              </a:endParaRPr>
            </a:p>
          </p:txBody>
        </p:sp>
        <p:sp>
          <p:nvSpPr>
            <p:cNvPr id="10" name="文本框 9">
              <a:extLst>
                <a:ext uri="{FF2B5EF4-FFF2-40B4-BE49-F238E27FC236}">
                  <a16:creationId xmlns:a16="http://schemas.microsoft.com/office/drawing/2014/main" id="{25792A24-84FC-91B2-FE47-45D8A272D677}"/>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a:t>
              </a:r>
              <a:r>
                <a:rPr lang="en-US" altLang="zh-CN" sz="800" b="1" kern="0" dirty="0">
                  <a:latin typeface="Arial" panose="020B0604020202020204" pitchFamily="34" charset="0"/>
                  <a:ea typeface="微软雅黑" panose="020B0503020204020204" pitchFamily="34" charset="-122"/>
                </a:rPr>
                <a:t>2</a:t>
              </a:r>
              <a:r>
                <a:rPr lang="zh-CN" altLang="en-US" sz="800" b="1" kern="0" dirty="0">
                  <a:latin typeface="Arial" panose="020B0604020202020204" pitchFamily="34" charset="0"/>
                  <a:ea typeface="微软雅黑" panose="020B0503020204020204" pitchFamily="34" charset="-122"/>
                </a:rPr>
                <a:t>：</a:t>
              </a:r>
              <a:r>
                <a:rPr lang="en-US" altLang="zh-CN" sz="800" b="1" kern="0" dirty="0">
                  <a:latin typeface="Arial" panose="020B0604020202020204" pitchFamily="34" charset="0"/>
                  <a:ea typeface="微软雅黑" panose="020B0503020204020204" pitchFamily="34" charset="-122"/>
                </a:rPr>
                <a:t>3 </a:t>
              </a:r>
              <a:endParaRPr kumimoji="0" lang="zh-CN" altLang="en-US"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cxnSp>
        <p:nvCxnSpPr>
          <p:cNvPr id="11" name="连接符: 肘形 10">
            <a:extLst>
              <a:ext uri="{FF2B5EF4-FFF2-40B4-BE49-F238E27FC236}">
                <a16:creationId xmlns:a16="http://schemas.microsoft.com/office/drawing/2014/main" id="{007AC8C2-279E-0384-9DC9-1F3471908833}"/>
              </a:ext>
            </a:extLst>
          </p:cNvPr>
          <p:cNvCxnSpPr>
            <a:cxnSpLocks/>
            <a:stCxn id="7" idx="4"/>
            <a:endCxn id="9" idx="0"/>
          </p:cNvCxnSpPr>
          <p:nvPr/>
        </p:nvCxnSpPr>
        <p:spPr>
          <a:xfrm rot="16200000" flipH="1">
            <a:off x="1398706" y="1087806"/>
            <a:ext cx="207982" cy="2474"/>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grpSp>
        <p:nvGrpSpPr>
          <p:cNvPr id="12" name="组合 11">
            <a:extLst>
              <a:ext uri="{FF2B5EF4-FFF2-40B4-BE49-F238E27FC236}">
                <a16:creationId xmlns:a16="http://schemas.microsoft.com/office/drawing/2014/main" id="{3A62AD51-D76C-034E-CD93-30B257DA02AA}"/>
              </a:ext>
            </a:extLst>
          </p:cNvPr>
          <p:cNvGrpSpPr/>
          <p:nvPr/>
        </p:nvGrpSpPr>
        <p:grpSpPr>
          <a:xfrm>
            <a:off x="1821434" y="1193034"/>
            <a:ext cx="635003" cy="462517"/>
            <a:chOff x="2618303" y="1841679"/>
            <a:chExt cx="739175" cy="384518"/>
          </a:xfrm>
        </p:grpSpPr>
        <p:sp>
          <p:nvSpPr>
            <p:cNvPr id="13" name="等腰三角形 12">
              <a:extLst>
                <a:ext uri="{FF2B5EF4-FFF2-40B4-BE49-F238E27FC236}">
                  <a16:creationId xmlns:a16="http://schemas.microsoft.com/office/drawing/2014/main" id="{B148AD51-5839-82A1-A7AC-2A08630DEE18}"/>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effectLst/>
                <a:uLnTx/>
                <a:uFillTx/>
                <a:latin typeface="+mn-ea"/>
                <a:cs typeface="+mn-cs"/>
              </a:endParaRPr>
            </a:p>
          </p:txBody>
        </p:sp>
        <p:sp>
          <p:nvSpPr>
            <p:cNvPr id="14" name="文本框 13">
              <a:extLst>
                <a:ext uri="{FF2B5EF4-FFF2-40B4-BE49-F238E27FC236}">
                  <a16:creationId xmlns:a16="http://schemas.microsoft.com/office/drawing/2014/main" id="{1FA6E614-1E4B-3F8E-3172-2CD425828EC4}"/>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rPr>
                <a:t>P3</a:t>
              </a:r>
              <a:r>
                <a:rPr lang="zh-CN" altLang="en-US" sz="800" b="1" kern="0" dirty="0">
                  <a:latin typeface="Arial" panose="020B0604020202020204" pitchFamily="34" charset="0"/>
                  <a:ea typeface="微软雅黑" panose="020B0503020204020204" pitchFamily="34" charset="-122"/>
                </a:rPr>
                <a:t>：</a:t>
              </a:r>
              <a:r>
                <a:rPr lang="en-US" altLang="zh-CN" sz="800" b="1" kern="0" dirty="0">
                  <a:latin typeface="Arial" panose="020B0604020202020204" pitchFamily="34" charset="0"/>
                  <a:ea typeface="微软雅黑" panose="020B0503020204020204" pitchFamily="34" charset="-122"/>
                </a:rPr>
                <a:t>2 </a:t>
              </a:r>
              <a:endParaRPr kumimoji="0" lang="zh-CN" altLang="en-US" sz="800" b="1" i="0" u="none" strike="noStrike" kern="0" cap="none" spc="0" normalizeH="0" baseline="0" noProof="0" dirty="0">
                <a:ln>
                  <a:noFill/>
                </a:ln>
                <a:effectLst/>
                <a:uLnTx/>
                <a:uFillTx/>
                <a:latin typeface="Arial" panose="020B0604020202020204" pitchFamily="34" charset="0"/>
                <a:ea typeface="微软雅黑" panose="020B0503020204020204" pitchFamily="34" charset="-122"/>
              </a:endParaRPr>
            </a:p>
          </p:txBody>
        </p:sp>
      </p:grpSp>
      <p:cxnSp>
        <p:nvCxnSpPr>
          <p:cNvPr id="16" name="连接符: 肘形 15">
            <a:extLst>
              <a:ext uri="{FF2B5EF4-FFF2-40B4-BE49-F238E27FC236}">
                <a16:creationId xmlns:a16="http://schemas.microsoft.com/office/drawing/2014/main" id="{0DEF4AB7-F123-8ABC-667C-521F7771023B}"/>
              </a:ext>
            </a:extLst>
          </p:cNvPr>
          <p:cNvCxnSpPr>
            <a:stCxn id="7" idx="4"/>
            <a:endCxn id="13" idx="0"/>
          </p:cNvCxnSpPr>
          <p:nvPr/>
        </p:nvCxnSpPr>
        <p:spPr>
          <a:xfrm rot="16200000" flipH="1">
            <a:off x="1716207" y="770305"/>
            <a:ext cx="207982" cy="637476"/>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sp>
        <p:nvSpPr>
          <p:cNvPr id="17" name="文本框 16">
            <a:extLst>
              <a:ext uri="{FF2B5EF4-FFF2-40B4-BE49-F238E27FC236}">
                <a16:creationId xmlns:a16="http://schemas.microsoft.com/office/drawing/2014/main" id="{DF2DAC07-83C8-C692-96A0-FBF005E2DDEA}"/>
              </a:ext>
            </a:extLst>
          </p:cNvPr>
          <p:cNvSpPr txBox="1"/>
          <p:nvPr/>
        </p:nvSpPr>
        <p:spPr>
          <a:xfrm>
            <a:off x="2599765" y="858209"/>
            <a:ext cx="3203388" cy="738664"/>
          </a:xfrm>
          <a:prstGeom prst="rect">
            <a:avLst/>
          </a:prstGeom>
          <a:noFill/>
        </p:spPr>
        <p:txBody>
          <a:bodyPr wrap="square" rtlCol="0">
            <a:spAutoFit/>
          </a:bodyPr>
          <a:lstStyle/>
          <a:p>
            <a:pPr marL="171450" indent="-171450">
              <a:buFont typeface="Arial" panose="020B0604020202020204" pitchFamily="34" charset="0"/>
              <a:buChar char="•"/>
            </a:pPr>
            <a:r>
              <a:rPr lang="en-US" altLang="zh-CN" sz="1400" dirty="0">
                <a:latin typeface="Arial" panose="020B0604020202020204" pitchFamily="34" charset="0"/>
                <a:ea typeface="微软雅黑" panose="020B0503020204020204" pitchFamily="34" charset="-122"/>
              </a:rPr>
              <a:t>Target</a:t>
            </a:r>
            <a:r>
              <a:rPr lang="zh-CN" altLang="en-US" sz="1400" dirty="0">
                <a:latin typeface="Arial" panose="020B0604020202020204" pitchFamily="34" charset="0"/>
                <a:ea typeface="微软雅黑" panose="020B0503020204020204" pitchFamily="34" charset="-122"/>
              </a:rPr>
              <a:t>分别为</a:t>
            </a:r>
            <a:r>
              <a:rPr lang="en-US" altLang="zh-CN" sz="1400" dirty="0">
                <a:latin typeface="Arial" panose="020B0604020202020204" pitchFamily="34" charset="0"/>
                <a:ea typeface="微软雅黑" panose="020B0503020204020204" pitchFamily="34" charset="-122"/>
              </a:rPr>
              <a:t>5</a:t>
            </a:r>
            <a:r>
              <a:rPr lang="zh-CN" altLang="en-US" sz="1400" dirty="0">
                <a:latin typeface="Arial" panose="020B0604020202020204" pitchFamily="34" charset="0"/>
                <a:ea typeface="微软雅黑" panose="020B0503020204020204" pitchFamily="34" charset="-122"/>
              </a:rPr>
              <a:t>，</a:t>
            </a:r>
            <a:r>
              <a:rPr lang="en-US" altLang="zh-CN" sz="1400" dirty="0">
                <a:latin typeface="Arial" panose="020B0604020202020204" pitchFamily="34" charset="0"/>
                <a:ea typeface="微软雅黑" panose="020B0503020204020204" pitchFamily="34" charset="-122"/>
              </a:rPr>
              <a:t>3</a:t>
            </a:r>
            <a:r>
              <a:rPr lang="zh-CN" altLang="en-US" sz="1400" dirty="0">
                <a:latin typeface="Arial" panose="020B0604020202020204" pitchFamily="34" charset="0"/>
                <a:ea typeface="微软雅黑" panose="020B0503020204020204" pitchFamily="34" charset="-122"/>
              </a:rPr>
              <a:t>，</a:t>
            </a:r>
            <a:r>
              <a:rPr lang="en-US" altLang="zh-CN" sz="1400" dirty="0">
                <a:latin typeface="Arial" panose="020B0604020202020204" pitchFamily="34" charset="0"/>
                <a:ea typeface="微软雅黑" panose="020B0503020204020204" pitchFamily="34" charset="-122"/>
              </a:rPr>
              <a:t>2</a:t>
            </a:r>
          </a:p>
          <a:p>
            <a:pPr marL="171450" indent="-171450">
              <a:buFont typeface="Arial" panose="020B0604020202020204" pitchFamily="34" charset="0"/>
              <a:buChar char="•"/>
            </a:pPr>
            <a:r>
              <a:rPr lang="zh-CN" altLang="en-US" sz="1400" dirty="0">
                <a:latin typeface="Arial" panose="020B0604020202020204" pitchFamily="34" charset="0"/>
                <a:ea typeface="微软雅黑" panose="020B0503020204020204" pitchFamily="34" charset="-122"/>
              </a:rPr>
              <a:t>订单倍数分别为</a:t>
            </a:r>
            <a:r>
              <a:rPr lang="en-US" altLang="zh-CN" sz="1400" dirty="0">
                <a:latin typeface="Arial" panose="020B0604020202020204" pitchFamily="34" charset="0"/>
                <a:ea typeface="微软雅黑" panose="020B0503020204020204" pitchFamily="34" charset="-122"/>
              </a:rPr>
              <a:t>20</a:t>
            </a:r>
            <a:r>
              <a:rPr lang="zh-CN" altLang="en-US" sz="1400" dirty="0">
                <a:latin typeface="Arial" panose="020B0604020202020204" pitchFamily="34" charset="0"/>
                <a:ea typeface="微软雅黑" panose="020B0503020204020204" pitchFamily="34" charset="-122"/>
              </a:rPr>
              <a:t>，</a:t>
            </a:r>
            <a:r>
              <a:rPr lang="en-US" altLang="zh-CN" sz="1400" dirty="0">
                <a:latin typeface="Arial" panose="020B0604020202020204" pitchFamily="34" charset="0"/>
                <a:ea typeface="微软雅黑" panose="020B0503020204020204" pitchFamily="34" charset="-122"/>
              </a:rPr>
              <a:t>15</a:t>
            </a:r>
            <a:r>
              <a:rPr lang="zh-CN" altLang="en-US" sz="1400" dirty="0">
                <a:latin typeface="Arial" panose="020B0604020202020204" pitchFamily="34" charset="0"/>
                <a:ea typeface="微软雅黑" panose="020B0503020204020204" pitchFamily="34" charset="-122"/>
              </a:rPr>
              <a:t>，</a:t>
            </a:r>
            <a:r>
              <a:rPr lang="en-US" altLang="zh-CN" sz="1400" dirty="0">
                <a:latin typeface="Arial" panose="020B0604020202020204" pitchFamily="34" charset="0"/>
                <a:ea typeface="微软雅黑" panose="020B0503020204020204" pitchFamily="34" charset="-122"/>
              </a:rPr>
              <a:t>10</a:t>
            </a:r>
          </a:p>
          <a:p>
            <a:pPr marL="171450" indent="-171450">
              <a:buFont typeface="Arial" panose="020B0604020202020204" pitchFamily="34" charset="0"/>
              <a:buChar char="•"/>
            </a:pPr>
            <a:r>
              <a:rPr lang="zh-CN" altLang="en-US" sz="1400" dirty="0">
                <a:latin typeface="Arial" panose="020B0604020202020204" pitchFamily="34" charset="0"/>
                <a:ea typeface="微软雅黑" panose="020B0503020204020204" pitchFamily="34" charset="-122"/>
              </a:rPr>
              <a:t>某一需求数量为</a:t>
            </a:r>
            <a:r>
              <a:rPr lang="en-US" altLang="zh-CN" sz="1400" dirty="0">
                <a:latin typeface="Arial" panose="020B0604020202020204" pitchFamily="34" charset="0"/>
                <a:ea typeface="微软雅黑" panose="020B0503020204020204" pitchFamily="34" charset="-122"/>
              </a:rPr>
              <a:t>100</a:t>
            </a:r>
            <a:endParaRPr lang="zh-CN" altLang="en-US" sz="1400" dirty="0">
              <a:latin typeface="Arial" panose="020B0604020202020204" pitchFamily="34" charset="0"/>
              <a:ea typeface="微软雅黑" panose="020B0503020204020204" pitchFamily="34" charset="-122"/>
            </a:endParaRPr>
          </a:p>
        </p:txBody>
      </p:sp>
      <p:grpSp>
        <p:nvGrpSpPr>
          <p:cNvPr id="18" name="组合 17">
            <a:extLst>
              <a:ext uri="{FF2B5EF4-FFF2-40B4-BE49-F238E27FC236}">
                <a16:creationId xmlns:a16="http://schemas.microsoft.com/office/drawing/2014/main" id="{5DF3C555-9574-1AD8-772C-B17F28CD34DC}"/>
              </a:ext>
            </a:extLst>
          </p:cNvPr>
          <p:cNvGrpSpPr>
            <a:grpSpLocks noChangeAspect="1"/>
          </p:cNvGrpSpPr>
          <p:nvPr>
            <p:custDataLst>
              <p:tags r:id="rId1"/>
            </p:custDataLst>
          </p:nvPr>
        </p:nvGrpSpPr>
        <p:grpSpPr>
          <a:xfrm>
            <a:off x="2540560" y="1764541"/>
            <a:ext cx="6525185" cy="1634201"/>
            <a:chOff x="341639" y="1840380"/>
            <a:chExt cx="3548002" cy="2030974"/>
          </a:xfrm>
        </p:grpSpPr>
        <p:sp>
          <p:nvSpPr>
            <p:cNvPr id="19" name="1">
              <a:extLst>
                <a:ext uri="{FF2B5EF4-FFF2-40B4-BE49-F238E27FC236}">
                  <a16:creationId xmlns:a16="http://schemas.microsoft.com/office/drawing/2014/main" id="{20723CB8-1CEA-F302-BFAF-8E0AD7D2DE77}"/>
                </a:ext>
              </a:extLst>
            </p:cNvPr>
            <p:cNvSpPr/>
            <p:nvPr>
              <p:custDataLst>
                <p:tags r:id="rId2"/>
              </p:custDataLst>
            </p:nvPr>
          </p:nvSpPr>
          <p:spPr>
            <a:xfrm>
              <a:off x="341639" y="1884034"/>
              <a:ext cx="3383009" cy="1987320"/>
            </a:xfrm>
            <a:prstGeom prst="roundRect">
              <a:avLst>
                <a:gd name="adj" fmla="val 8900"/>
              </a:avLst>
            </a:prstGeom>
            <a:solidFill>
              <a:schemeClr val="accent3">
                <a:lumMod val="60000"/>
                <a:lumOff val="40000"/>
              </a:schemeClr>
            </a:solidFill>
            <a:ln w="12700" cap="rnd">
              <a:noFill/>
              <a:prstDash val="solid"/>
              <a:round/>
              <a:headEnd/>
              <a:tailEnd/>
            </a:ln>
            <a:effectLst>
              <a:outerShdw blurRad="254000" dist="127000" algn="ctr" rotWithShape="0">
                <a:schemeClr val="accent1">
                  <a:alpha val="3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rmAutofit/>
            </a:bodyPr>
            <a:lstStyle/>
            <a:p>
              <a:pPr algn="ctr" defTabSz="914354">
                <a:lnSpc>
                  <a:spcPct val="130000"/>
                </a:lnSpc>
              </a:pPr>
              <a:endParaRPr lang="zh-CN" altLang="en-US" sz="2000" b="1">
                <a:solidFill>
                  <a:schemeClr val="bg1"/>
                </a:solidFill>
                <a:latin typeface="+mn-ea"/>
              </a:endParaRPr>
            </a:p>
          </p:txBody>
        </p:sp>
        <p:sp>
          <p:nvSpPr>
            <p:cNvPr id="20" name="Title-1">
              <a:extLst>
                <a:ext uri="{FF2B5EF4-FFF2-40B4-BE49-F238E27FC236}">
                  <a16:creationId xmlns:a16="http://schemas.microsoft.com/office/drawing/2014/main" id="{62595027-5738-23CA-95C6-5184ACBD4B8D}"/>
                </a:ext>
              </a:extLst>
            </p:cNvPr>
            <p:cNvSpPr txBox="1"/>
            <p:nvPr>
              <p:custDataLst>
                <p:tags r:id="rId3"/>
              </p:custDataLst>
            </p:nvPr>
          </p:nvSpPr>
          <p:spPr>
            <a:xfrm>
              <a:off x="438671" y="1840380"/>
              <a:ext cx="2513307" cy="518052"/>
            </a:xfrm>
            <a:prstGeom prst="rect">
              <a:avLst/>
            </a:prstGeom>
            <a:noFill/>
          </p:spPr>
          <p:txBody>
            <a:bodyPr wrap="square" rtlCol="0">
              <a:spAutoFit/>
            </a:bodyPr>
            <a:lstStyle/>
            <a:p>
              <a:pPr defTabSz="913765">
                <a:lnSpc>
                  <a:spcPct val="130000"/>
                </a:lnSpc>
              </a:pPr>
              <a:r>
                <a:rPr lang="zh-CN" altLang="en-US" b="1" dirty="0">
                  <a:solidFill>
                    <a:schemeClr val="bg1"/>
                  </a:solidFill>
                  <a:latin typeface="Arial" panose="020B0604020202020204" pitchFamily="34" charset="0"/>
                  <a:ea typeface="微软雅黑" panose="020B0503020204020204" pitchFamily="34" charset="-122"/>
                </a:rPr>
                <a:t>逻辑</a:t>
              </a:r>
            </a:p>
          </p:txBody>
        </p:sp>
        <p:sp>
          <p:nvSpPr>
            <p:cNvPr id="21" name="Body-1">
              <a:extLst>
                <a:ext uri="{FF2B5EF4-FFF2-40B4-BE49-F238E27FC236}">
                  <a16:creationId xmlns:a16="http://schemas.microsoft.com/office/drawing/2014/main" id="{4BE788CE-378B-3C0D-0013-A5962646EBD6}"/>
                </a:ext>
              </a:extLst>
            </p:cNvPr>
            <p:cNvSpPr txBox="1">
              <a:spLocks/>
            </p:cNvSpPr>
            <p:nvPr>
              <p:custDataLst>
                <p:tags r:id="rId4"/>
              </p:custDataLst>
            </p:nvPr>
          </p:nvSpPr>
          <p:spPr>
            <a:xfrm>
              <a:off x="627185" y="2275297"/>
              <a:ext cx="3262456" cy="1577425"/>
            </a:xfrm>
            <a:prstGeom prst="rect">
              <a:avLst/>
            </a:prstGeom>
            <a:noFill/>
          </p:spPr>
          <p:txBody>
            <a:bodyPr wrap="square" rtlCol="0">
              <a:spAutoFit/>
            </a:bodyPr>
            <a:lstStyle>
              <a:defPPr>
                <a:defRPr lang="zh-CN"/>
              </a:defPPr>
              <a:lvl1pPr>
                <a:lnSpc>
                  <a:spcPct val="130000"/>
                </a:lnSpc>
                <a:defRPr sz="1400">
                  <a:solidFill>
                    <a:schemeClr val="bg1">
                      <a:alpha val="80000"/>
                    </a:schemeClr>
                  </a:solidFill>
                  <a:latin typeface="Arial" panose="020B0604020202020204" pitchFamily="34" charset="0"/>
                  <a:ea typeface="Microsoft YaHei" panose="020B0503020204020204" pitchFamily="34" charset="-122"/>
                </a:defRPr>
              </a:lvl1pPr>
            </a:lstStyle>
            <a:p>
              <a:pPr marL="285750" indent="-285750">
                <a:buFont typeface="Arial" panose="020B0604020202020204" pitchFamily="34" charset="0"/>
                <a:buChar char="•"/>
              </a:pPr>
              <a:r>
                <a:rPr lang="zh-CN" altLang="zh-CN" sz="1200" kern="100" dirty="0">
                  <a:effectLst/>
                  <a:ea typeface="微软雅黑" panose="020B0503020204020204" pitchFamily="34" charset="-122"/>
                  <a:cs typeface="Times New Roman" panose="02020603050405020304" pitchFamily="18" charset="0"/>
                </a:rPr>
                <a:t>按</a:t>
              </a:r>
              <a:r>
                <a:rPr lang="en-US" altLang="zh-CN" sz="1200" kern="100" dirty="0">
                  <a:effectLst/>
                  <a:ea typeface="微软雅黑" panose="020B0503020204020204" pitchFamily="34" charset="-122"/>
                  <a:cs typeface="Times New Roman" panose="02020603050405020304" pitchFamily="18" charset="0"/>
                </a:rPr>
                <a:t> Target </a:t>
              </a:r>
              <a:r>
                <a:rPr lang="zh-CN" altLang="zh-CN" sz="1200" kern="100" dirty="0">
                  <a:effectLst/>
                  <a:ea typeface="微软雅黑" panose="020B0503020204020204" pitchFamily="34" charset="-122"/>
                  <a:cs typeface="Times New Roman" panose="02020603050405020304" pitchFamily="18" charset="0"/>
                </a:rPr>
                <a:t>值从大到小依次选择来源</a:t>
              </a:r>
              <a:endParaRPr lang="en-US" altLang="zh-CN" sz="1200" kern="100" dirty="0">
                <a:effectLst/>
                <a:ea typeface="微软雅黑" panose="020B0503020204020204" pitchFamily="34" charset="-122"/>
                <a:cs typeface="Times New Roman" panose="02020603050405020304" pitchFamily="18" charset="0"/>
              </a:endParaRPr>
            </a:p>
            <a:p>
              <a:pPr marL="285750" indent="-285750">
                <a:buFont typeface="Arial" panose="020B0604020202020204" pitchFamily="34" charset="0"/>
                <a:buChar char="•"/>
              </a:pPr>
              <a:r>
                <a:rPr lang="zh-CN" altLang="en-US" sz="1200" dirty="0">
                  <a:ea typeface="微软雅黑" panose="020B0503020204020204" pitchFamily="34" charset="-122"/>
                </a:rPr>
                <a:t>配额比例 </a:t>
              </a:r>
              <a:r>
                <a:rPr lang="en-US" altLang="zh-CN" sz="1200" dirty="0">
                  <a:ea typeface="微软雅黑" panose="020B0503020204020204" pitchFamily="34" charset="-122"/>
                </a:rPr>
                <a:t>= </a:t>
              </a:r>
              <a:r>
                <a:rPr lang="en-US" altLang="zh-CN" sz="1200" kern="100" dirty="0">
                  <a:effectLst/>
                  <a:ea typeface="微软雅黑" panose="020B0503020204020204" pitchFamily="34" charset="-122"/>
                  <a:cs typeface="Times New Roman" panose="02020603050405020304" pitchFamily="18" charset="0"/>
                </a:rPr>
                <a:t>Target</a:t>
              </a:r>
              <a:r>
                <a:rPr lang="zh-CN" altLang="zh-CN" sz="1200" kern="100" dirty="0">
                  <a:effectLst/>
                  <a:ea typeface="微软雅黑" panose="020B0503020204020204" pitchFamily="34" charset="-122"/>
                  <a:cs typeface="Times New Roman" panose="02020603050405020304" pitchFamily="18" charset="0"/>
                </a:rPr>
                <a:t>值</a:t>
              </a:r>
              <a:r>
                <a:rPr lang="en-US" altLang="zh-CN" sz="1200" kern="100" dirty="0">
                  <a:effectLst/>
                  <a:ea typeface="微软雅黑" panose="020B0503020204020204" pitchFamily="34" charset="-122"/>
                  <a:cs typeface="Times New Roman" panose="02020603050405020304" pitchFamily="18" charset="0"/>
                </a:rPr>
                <a:t> / </a:t>
              </a:r>
              <a:r>
                <a:rPr lang="zh-CN" altLang="zh-CN" sz="1200" kern="100" dirty="0">
                  <a:effectLst/>
                  <a:ea typeface="微软雅黑" panose="020B0503020204020204" pitchFamily="34" charset="-122"/>
                  <a:cs typeface="Times New Roman" panose="02020603050405020304" pitchFamily="18" charset="0"/>
                </a:rPr>
                <a:t>所有替换资源</a:t>
              </a:r>
              <a:r>
                <a:rPr lang="en-US" altLang="zh-CN" sz="1200" kern="100" dirty="0">
                  <a:effectLst/>
                  <a:ea typeface="微软雅黑" panose="020B0503020204020204" pitchFamily="34" charset="-122"/>
                  <a:cs typeface="Times New Roman" panose="02020603050405020304" pitchFamily="18" charset="0"/>
                </a:rPr>
                <a:t>Target</a:t>
              </a:r>
              <a:r>
                <a:rPr lang="zh-CN" altLang="zh-CN" sz="1200" kern="100" dirty="0">
                  <a:effectLst/>
                  <a:ea typeface="微软雅黑" panose="020B0503020204020204" pitchFamily="34" charset="-122"/>
                  <a:cs typeface="Times New Roman" panose="02020603050405020304" pitchFamily="18" charset="0"/>
                </a:rPr>
                <a:t>总和</a:t>
              </a:r>
              <a:endParaRPr lang="zh-CN" altLang="en-US" sz="1200" dirty="0">
                <a:ea typeface="微软雅黑" panose="020B0503020204020204" pitchFamily="34" charset="-122"/>
              </a:endParaRPr>
            </a:p>
            <a:p>
              <a:pPr marL="285750" indent="-285750">
                <a:buFont typeface="Arial" panose="020B0604020202020204" pitchFamily="34" charset="0"/>
                <a:buChar char="•"/>
              </a:pPr>
              <a:r>
                <a:rPr lang="zh-CN" altLang="zh-CN" sz="1200" kern="100" dirty="0">
                  <a:effectLst/>
                  <a:ea typeface="微软雅黑" panose="020B0503020204020204" pitchFamily="34" charset="-122"/>
                  <a:cs typeface="Times New Roman" panose="02020603050405020304" pitchFamily="18" charset="0"/>
                </a:rPr>
                <a:t>分配量</a:t>
              </a:r>
              <a:r>
                <a:rPr lang="en-US" altLang="zh-CN" sz="1200" kern="100" dirty="0">
                  <a:effectLst/>
                  <a:ea typeface="微软雅黑" panose="020B0503020204020204" pitchFamily="34" charset="-122"/>
                  <a:cs typeface="Times New Roman" panose="02020603050405020304" pitchFamily="18" charset="0"/>
                </a:rPr>
                <a:t> = </a:t>
              </a:r>
              <a:r>
                <a:rPr lang="zh-CN" altLang="zh-CN" sz="1200" kern="100" dirty="0">
                  <a:effectLst/>
                  <a:ea typeface="微软雅黑" panose="020B0503020204020204" pitchFamily="34" charset="-122"/>
                  <a:cs typeface="Times New Roman" panose="02020603050405020304" pitchFamily="18" charset="0"/>
                </a:rPr>
                <a:t>比例 × 当前需求总量 → 应用批量规则（如四舍五入至订单倍数）</a:t>
              </a:r>
              <a:endParaRPr lang="en-US" altLang="zh-CN" sz="1200" kern="100" dirty="0">
                <a:effectLst/>
                <a:ea typeface="微软雅黑" panose="020B0503020204020204" pitchFamily="34" charset="-122"/>
                <a:cs typeface="Times New Roman" panose="02020603050405020304" pitchFamily="18" charset="0"/>
              </a:endParaRPr>
            </a:p>
            <a:p>
              <a:pPr marL="285750" indent="-285750">
                <a:buFont typeface="Arial" panose="020B0604020202020204" pitchFamily="34" charset="0"/>
                <a:buChar char="•"/>
              </a:pPr>
              <a:r>
                <a:rPr lang="zh-CN" altLang="zh-CN" sz="1200" kern="100" dirty="0">
                  <a:ea typeface="微软雅黑" panose="020B0503020204020204" pitchFamily="34" charset="-122"/>
                  <a:cs typeface="Times New Roman" panose="02020603050405020304" pitchFamily="18" charset="0"/>
                </a:rPr>
                <a:t>计算剩余需求（原需求</a:t>
              </a:r>
              <a:r>
                <a:rPr lang="en-US" altLang="zh-CN" sz="1200" kern="100" dirty="0">
                  <a:ea typeface="微软雅黑" panose="020B0503020204020204" pitchFamily="34" charset="-122"/>
                  <a:cs typeface="Times New Roman" panose="02020603050405020304" pitchFamily="18" charset="0"/>
                </a:rPr>
                <a:t> - </a:t>
              </a:r>
              <a:r>
                <a:rPr lang="zh-CN" altLang="zh-CN" sz="1200" kern="100" dirty="0">
                  <a:ea typeface="微软雅黑" panose="020B0503020204020204" pitchFamily="34" charset="-122"/>
                  <a:cs typeface="Times New Roman" panose="02020603050405020304" pitchFamily="18" charset="0"/>
                </a:rPr>
                <a:t>已分配量）</a:t>
              </a:r>
              <a:endParaRPr lang="en-US" altLang="zh-CN" sz="1200" kern="100" dirty="0">
                <a:ea typeface="微软雅黑" panose="020B0503020204020204" pitchFamily="34" charset="-122"/>
                <a:cs typeface="Times New Roman" panose="02020603050405020304" pitchFamily="18" charset="0"/>
              </a:endParaRPr>
            </a:p>
            <a:p>
              <a:pPr marL="285750" indent="-285750">
                <a:buFont typeface="Arial" panose="020B0604020202020204" pitchFamily="34" charset="0"/>
                <a:buChar char="•"/>
              </a:pPr>
              <a:r>
                <a:rPr lang="zh-CN" altLang="zh-CN" sz="1200" kern="100" dirty="0">
                  <a:effectLst/>
                  <a:ea typeface="微软雅黑" panose="020B0503020204020204" pitchFamily="34" charset="-122"/>
                  <a:cs typeface="Times New Roman" panose="02020603050405020304" pitchFamily="18" charset="0"/>
                </a:rPr>
                <a:t>在未分配的来源中重复步骤</a:t>
              </a:r>
              <a:r>
                <a:rPr lang="en-US" altLang="zh-CN" sz="1200" kern="100" dirty="0">
                  <a:effectLst/>
                  <a:ea typeface="微软雅黑" panose="020B0503020204020204" pitchFamily="34" charset="-122"/>
                  <a:cs typeface="Times New Roman" panose="02020603050405020304" pitchFamily="18" charset="0"/>
                </a:rPr>
                <a:t>1</a:t>
              </a:r>
              <a:r>
                <a:rPr lang="zh-CN" altLang="zh-CN" sz="1200" kern="100" dirty="0">
                  <a:effectLst/>
                  <a:ea typeface="微软雅黑" panose="020B0503020204020204" pitchFamily="34" charset="-122"/>
                  <a:cs typeface="Times New Roman" panose="02020603050405020304" pitchFamily="18" charset="0"/>
                </a:rPr>
                <a:t>，直至需求全部分配完毕</a:t>
              </a:r>
              <a:endParaRPr lang="zh-CN" altLang="en-US" sz="1200" kern="100" dirty="0">
                <a:ea typeface="微软雅黑" panose="020B0503020204020204" pitchFamily="34" charset="-122"/>
                <a:cs typeface="Times New Roman" panose="02020603050405020304" pitchFamily="18" charset="0"/>
              </a:endParaRPr>
            </a:p>
          </p:txBody>
        </p:sp>
      </p:grpSp>
      <p:graphicFrame>
        <p:nvGraphicFramePr>
          <p:cNvPr id="22" name="表格 21">
            <a:extLst>
              <a:ext uri="{FF2B5EF4-FFF2-40B4-BE49-F238E27FC236}">
                <a16:creationId xmlns:a16="http://schemas.microsoft.com/office/drawing/2014/main" id="{9D044B0A-ED7A-11AC-2C3A-562508EE93E1}"/>
              </a:ext>
            </a:extLst>
          </p:cNvPr>
          <p:cNvGraphicFramePr>
            <a:graphicFrameLocks noGrp="1"/>
          </p:cNvGraphicFramePr>
          <p:nvPr>
            <p:extLst>
              <p:ext uri="{D42A27DB-BD31-4B8C-83A1-F6EECF244321}">
                <p14:modId xmlns:p14="http://schemas.microsoft.com/office/powerpoint/2010/main" val="4006111125"/>
              </p:ext>
            </p:extLst>
          </p:nvPr>
        </p:nvGraphicFramePr>
        <p:xfrm>
          <a:off x="1501460" y="3698575"/>
          <a:ext cx="8497176" cy="2856534"/>
        </p:xfrm>
        <a:graphic>
          <a:graphicData uri="http://schemas.openxmlformats.org/drawingml/2006/table">
            <a:tbl>
              <a:tblPr firstRow="1" firstCol="1" lastRow="1" lastCol="1" bandRow="1" bandCol="1">
                <a:tableStyleId>{F2DE63D5-997A-4646-A377-4702673A728D}</a:tableStyleId>
              </a:tblPr>
              <a:tblGrid>
                <a:gridCol w="2124294">
                  <a:extLst>
                    <a:ext uri="{9D8B030D-6E8A-4147-A177-3AD203B41FA5}">
                      <a16:colId xmlns:a16="http://schemas.microsoft.com/office/drawing/2014/main" val="2848925657"/>
                    </a:ext>
                  </a:extLst>
                </a:gridCol>
                <a:gridCol w="2124294">
                  <a:extLst>
                    <a:ext uri="{9D8B030D-6E8A-4147-A177-3AD203B41FA5}">
                      <a16:colId xmlns:a16="http://schemas.microsoft.com/office/drawing/2014/main" val="3385793283"/>
                    </a:ext>
                  </a:extLst>
                </a:gridCol>
                <a:gridCol w="2124294">
                  <a:extLst>
                    <a:ext uri="{9D8B030D-6E8A-4147-A177-3AD203B41FA5}">
                      <a16:colId xmlns:a16="http://schemas.microsoft.com/office/drawing/2014/main" val="1960561405"/>
                    </a:ext>
                  </a:extLst>
                </a:gridCol>
                <a:gridCol w="2124294">
                  <a:extLst>
                    <a:ext uri="{9D8B030D-6E8A-4147-A177-3AD203B41FA5}">
                      <a16:colId xmlns:a16="http://schemas.microsoft.com/office/drawing/2014/main" val="4081288046"/>
                    </a:ext>
                  </a:extLst>
                </a:gridCol>
              </a:tblGrid>
              <a:tr h="301791">
                <a:tc>
                  <a:txBody>
                    <a:bodyPr/>
                    <a:lstStyle/>
                    <a:p>
                      <a:pPr>
                        <a:lnSpc>
                          <a:spcPct val="120000"/>
                        </a:lnSpc>
                        <a:buNone/>
                      </a:pPr>
                      <a:r>
                        <a:rPr lang="zh-CN" sz="1400" kern="100">
                          <a:solidFill>
                            <a:schemeClr val="tx1"/>
                          </a:solidFill>
                          <a:effectLst/>
                          <a:latin typeface="Arial" panose="020B0604020202020204" pitchFamily="34" charset="0"/>
                          <a:ea typeface="微软雅黑" panose="020B0503020204020204" pitchFamily="34" charset="-122"/>
                        </a:rPr>
                        <a:t>计算伦次</a:t>
                      </a:r>
                      <a:endParaRPr lang="zh-CN" sz="14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nSpc>
                          <a:spcPct val="120000"/>
                        </a:lnSpc>
                        <a:buNone/>
                      </a:pPr>
                      <a:r>
                        <a:rPr lang="zh-CN" sz="1400" kern="100">
                          <a:solidFill>
                            <a:schemeClr val="tx1"/>
                          </a:solidFill>
                          <a:effectLst/>
                          <a:latin typeface="Arial" panose="020B0604020202020204" pitchFamily="34" charset="0"/>
                          <a:ea typeface="微软雅黑" panose="020B0503020204020204" pitchFamily="34" charset="-122"/>
                        </a:rPr>
                        <a:t>比率计算</a:t>
                      </a:r>
                      <a:endParaRPr lang="zh-CN" sz="14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nSpc>
                          <a:spcPct val="120000"/>
                        </a:lnSpc>
                        <a:buNone/>
                      </a:pPr>
                      <a:r>
                        <a:rPr lang="zh-CN" sz="1400" kern="100">
                          <a:solidFill>
                            <a:schemeClr val="tx1"/>
                          </a:solidFill>
                          <a:effectLst/>
                          <a:latin typeface="Arial" panose="020B0604020202020204" pitchFamily="34" charset="0"/>
                          <a:ea typeface="微软雅黑" panose="020B0503020204020204" pitchFamily="34" charset="-122"/>
                        </a:rPr>
                        <a:t>实际分配</a:t>
                      </a:r>
                      <a:endParaRPr lang="zh-CN" sz="14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nSpc>
                          <a:spcPct val="120000"/>
                        </a:lnSpc>
                        <a:buNone/>
                      </a:pPr>
                      <a:r>
                        <a:rPr lang="zh-CN" sz="1400" kern="100" dirty="0">
                          <a:solidFill>
                            <a:schemeClr val="tx1"/>
                          </a:solidFill>
                          <a:effectLst/>
                          <a:latin typeface="Arial" panose="020B0604020202020204" pitchFamily="34" charset="0"/>
                          <a:ea typeface="微软雅黑" panose="020B0503020204020204" pitchFamily="34" charset="-122"/>
                        </a:rPr>
                        <a:t>剩余需求</a:t>
                      </a:r>
                      <a:endParaRPr lang="zh-CN" sz="1400" kern="100" dirty="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extLst>
                  <a:ext uri="{0D108BD9-81ED-4DB2-BD59-A6C34878D82A}">
                    <a16:rowId xmlns:a16="http://schemas.microsoft.com/office/drawing/2014/main" val="3687075790"/>
                  </a:ext>
                </a:extLst>
              </a:tr>
              <a:tr h="960413">
                <a:tc>
                  <a:txBody>
                    <a:bodyPr/>
                    <a:lstStyle/>
                    <a:p>
                      <a:pPr>
                        <a:lnSpc>
                          <a:spcPct val="120000"/>
                        </a:lnSpc>
                        <a:buNone/>
                      </a:pPr>
                      <a:r>
                        <a:rPr lang="zh-CN" sz="1100" kern="100">
                          <a:solidFill>
                            <a:schemeClr val="tx1"/>
                          </a:solidFill>
                          <a:effectLst/>
                          <a:latin typeface="Arial" panose="020B0604020202020204" pitchFamily="34" charset="0"/>
                          <a:ea typeface="微软雅黑" panose="020B0503020204020204" pitchFamily="34" charset="-122"/>
                        </a:rPr>
                        <a:t>第一次</a:t>
                      </a:r>
                      <a:endParaRPr lang="zh-CN" sz="11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nSpc>
                          <a:spcPct val="120000"/>
                        </a:lnSpc>
                        <a:buNone/>
                      </a:pPr>
                      <a:r>
                        <a:rPr lang="en-US" sz="1100" kern="100">
                          <a:solidFill>
                            <a:schemeClr val="tx1"/>
                          </a:solidFill>
                          <a:effectLst/>
                          <a:latin typeface="Arial" panose="020B0604020202020204" pitchFamily="34" charset="0"/>
                          <a:ea typeface="微软雅黑" panose="020B0503020204020204" pitchFamily="34" charset="-122"/>
                        </a:rPr>
                        <a:t>100*50%=50</a:t>
                      </a:r>
                      <a:r>
                        <a:rPr lang="zh-CN" sz="1100" kern="100">
                          <a:solidFill>
                            <a:schemeClr val="tx1"/>
                          </a:solidFill>
                          <a:effectLst/>
                          <a:latin typeface="Arial" panose="020B0604020202020204" pitchFamily="34" charset="0"/>
                          <a:ea typeface="微软雅黑" panose="020B0503020204020204" pitchFamily="34" charset="-122"/>
                        </a:rPr>
                        <a:t>，考虑到订单倍数</a:t>
                      </a:r>
                      <a:r>
                        <a:rPr lang="en-US" sz="1100" kern="100">
                          <a:solidFill>
                            <a:schemeClr val="tx1"/>
                          </a:solidFill>
                          <a:effectLst/>
                          <a:latin typeface="Arial" panose="020B0604020202020204" pitchFamily="34" charset="0"/>
                          <a:ea typeface="微软雅黑" panose="020B0503020204020204" pitchFamily="34" charset="-122"/>
                        </a:rPr>
                        <a:t>20</a:t>
                      </a:r>
                      <a:endParaRPr lang="zh-CN" sz="11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nSpc>
                          <a:spcPct val="120000"/>
                        </a:lnSpc>
                        <a:buNone/>
                      </a:pPr>
                      <a:r>
                        <a:rPr lang="en-US" sz="1100" kern="100">
                          <a:solidFill>
                            <a:schemeClr val="tx1"/>
                          </a:solidFill>
                          <a:effectLst/>
                          <a:latin typeface="Arial" panose="020B0604020202020204" pitchFamily="34" charset="0"/>
                          <a:ea typeface="微软雅黑" panose="020B0503020204020204" pitchFamily="34" charset="-122"/>
                        </a:rPr>
                        <a:t>50/20</a:t>
                      </a:r>
                      <a:r>
                        <a:rPr lang="zh-CN" sz="1100" kern="100">
                          <a:solidFill>
                            <a:schemeClr val="tx1"/>
                          </a:solidFill>
                          <a:effectLst/>
                          <a:latin typeface="Arial" panose="020B0604020202020204" pitchFamily="34" charset="0"/>
                          <a:ea typeface="微软雅黑" panose="020B0503020204020204" pitchFamily="34" charset="-122"/>
                        </a:rPr>
                        <a:t>向右取整为</a:t>
                      </a:r>
                      <a:r>
                        <a:rPr lang="en-US" sz="1100" kern="100">
                          <a:solidFill>
                            <a:schemeClr val="tx1"/>
                          </a:solidFill>
                          <a:effectLst/>
                          <a:latin typeface="Arial" panose="020B0604020202020204" pitchFamily="34" charset="0"/>
                          <a:ea typeface="微软雅黑" panose="020B0503020204020204" pitchFamily="34" charset="-122"/>
                        </a:rPr>
                        <a:t>3</a:t>
                      </a:r>
                      <a:r>
                        <a:rPr lang="zh-CN" sz="1100" kern="100">
                          <a:solidFill>
                            <a:schemeClr val="tx1"/>
                          </a:solidFill>
                          <a:effectLst/>
                          <a:latin typeface="Arial" panose="020B0604020202020204" pitchFamily="34" charset="0"/>
                          <a:ea typeface="微软雅黑" panose="020B0503020204020204" pitchFamily="34" charset="-122"/>
                        </a:rPr>
                        <a:t>，</a:t>
                      </a:r>
                      <a:r>
                        <a:rPr lang="en-US" sz="1100" kern="100">
                          <a:solidFill>
                            <a:schemeClr val="tx1"/>
                          </a:solidFill>
                          <a:effectLst/>
                          <a:latin typeface="Arial" panose="020B0604020202020204" pitchFamily="34" charset="0"/>
                          <a:ea typeface="微软雅黑" panose="020B0503020204020204" pitchFamily="34" charset="-122"/>
                        </a:rPr>
                        <a:t>20*3=60</a:t>
                      </a:r>
                      <a:r>
                        <a:rPr lang="zh-CN" sz="1100" kern="100">
                          <a:solidFill>
                            <a:schemeClr val="tx1"/>
                          </a:solidFill>
                          <a:effectLst/>
                          <a:latin typeface="Arial" panose="020B0604020202020204" pitchFamily="34" charset="0"/>
                          <a:ea typeface="微软雅黑" panose="020B0503020204020204" pitchFamily="34" charset="-122"/>
                        </a:rPr>
                        <a:t>，</a:t>
                      </a:r>
                      <a:r>
                        <a:rPr lang="en-US" sz="1100" kern="100">
                          <a:solidFill>
                            <a:schemeClr val="tx1"/>
                          </a:solidFill>
                          <a:effectLst/>
                          <a:latin typeface="Arial" panose="020B0604020202020204" pitchFamily="34" charset="0"/>
                          <a:ea typeface="微软雅黑" panose="020B0503020204020204" pitchFamily="34" charset="-122"/>
                        </a:rPr>
                        <a:t>P1</a:t>
                      </a:r>
                      <a:r>
                        <a:rPr lang="zh-CN" sz="1100" kern="100">
                          <a:solidFill>
                            <a:schemeClr val="tx1"/>
                          </a:solidFill>
                          <a:effectLst/>
                          <a:latin typeface="Arial" panose="020B0604020202020204" pitchFamily="34" charset="0"/>
                          <a:ea typeface="微软雅黑" panose="020B0503020204020204" pitchFamily="34" charset="-122"/>
                        </a:rPr>
                        <a:t>分配</a:t>
                      </a:r>
                      <a:r>
                        <a:rPr lang="en-US" sz="1100" kern="100">
                          <a:solidFill>
                            <a:schemeClr val="tx1"/>
                          </a:solidFill>
                          <a:effectLst/>
                          <a:latin typeface="Arial" panose="020B0604020202020204" pitchFamily="34" charset="0"/>
                          <a:ea typeface="微软雅黑" panose="020B0503020204020204" pitchFamily="34" charset="-122"/>
                        </a:rPr>
                        <a:t>60</a:t>
                      </a:r>
                      <a:endParaRPr lang="zh-CN" sz="11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nSpc>
                          <a:spcPct val="120000"/>
                        </a:lnSpc>
                        <a:buNone/>
                      </a:pPr>
                      <a:r>
                        <a:rPr lang="en-US" sz="1100" kern="100">
                          <a:solidFill>
                            <a:schemeClr val="tx1"/>
                          </a:solidFill>
                          <a:effectLst/>
                          <a:latin typeface="Arial" panose="020B0604020202020204" pitchFamily="34" charset="0"/>
                          <a:ea typeface="微软雅黑" panose="020B0503020204020204" pitchFamily="34" charset="-122"/>
                        </a:rPr>
                        <a:t>100-60=40</a:t>
                      </a:r>
                      <a:endParaRPr lang="zh-CN" sz="11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extLst>
                  <a:ext uri="{0D108BD9-81ED-4DB2-BD59-A6C34878D82A}">
                    <a16:rowId xmlns:a16="http://schemas.microsoft.com/office/drawing/2014/main" val="1082230105"/>
                  </a:ext>
                </a:extLst>
              </a:tr>
              <a:tr h="962290">
                <a:tc>
                  <a:txBody>
                    <a:bodyPr/>
                    <a:lstStyle/>
                    <a:p>
                      <a:pPr>
                        <a:lnSpc>
                          <a:spcPct val="120000"/>
                        </a:lnSpc>
                        <a:buNone/>
                      </a:pPr>
                      <a:r>
                        <a:rPr lang="zh-CN" sz="1100" kern="100">
                          <a:solidFill>
                            <a:schemeClr val="tx1"/>
                          </a:solidFill>
                          <a:effectLst/>
                          <a:latin typeface="Arial" panose="020B0604020202020204" pitchFamily="34" charset="0"/>
                          <a:ea typeface="微软雅黑" panose="020B0503020204020204" pitchFamily="34" charset="-122"/>
                        </a:rPr>
                        <a:t>第二次</a:t>
                      </a:r>
                      <a:endParaRPr lang="zh-CN" sz="11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nSpc>
                          <a:spcPct val="120000"/>
                        </a:lnSpc>
                        <a:buNone/>
                      </a:pPr>
                      <a:r>
                        <a:rPr lang="en-US" sz="1100" kern="100">
                          <a:solidFill>
                            <a:schemeClr val="tx1"/>
                          </a:solidFill>
                          <a:effectLst/>
                          <a:latin typeface="Arial" panose="020B0604020202020204" pitchFamily="34" charset="0"/>
                          <a:ea typeface="微软雅黑" panose="020B0503020204020204" pitchFamily="34" charset="-122"/>
                        </a:rPr>
                        <a:t>40*</a:t>
                      </a:r>
                      <a:r>
                        <a:rPr lang="zh-CN" sz="1100" kern="100">
                          <a:solidFill>
                            <a:schemeClr val="tx1"/>
                          </a:solidFill>
                          <a:effectLst/>
                          <a:latin typeface="Arial" panose="020B0604020202020204" pitchFamily="34" charset="0"/>
                          <a:ea typeface="微软雅黑" panose="020B0503020204020204" pitchFamily="34" charset="-122"/>
                        </a:rPr>
                        <a:t>（</a:t>
                      </a:r>
                      <a:r>
                        <a:rPr lang="en-US" sz="1100" kern="100">
                          <a:solidFill>
                            <a:schemeClr val="tx1"/>
                          </a:solidFill>
                          <a:effectLst/>
                          <a:latin typeface="Arial" panose="020B0604020202020204" pitchFamily="34" charset="0"/>
                          <a:ea typeface="微软雅黑" panose="020B0503020204020204" pitchFamily="34" charset="-122"/>
                        </a:rPr>
                        <a:t>30/</a:t>
                      </a:r>
                      <a:r>
                        <a:rPr lang="zh-CN" sz="1100" kern="100">
                          <a:solidFill>
                            <a:schemeClr val="tx1"/>
                          </a:solidFill>
                          <a:effectLst/>
                          <a:latin typeface="Arial" panose="020B0604020202020204" pitchFamily="34" charset="0"/>
                          <a:ea typeface="微软雅黑" panose="020B0503020204020204" pitchFamily="34" charset="-122"/>
                        </a:rPr>
                        <a:t>（</a:t>
                      </a:r>
                      <a:r>
                        <a:rPr lang="en-US" sz="1100" kern="100">
                          <a:solidFill>
                            <a:schemeClr val="tx1"/>
                          </a:solidFill>
                          <a:effectLst/>
                          <a:latin typeface="Arial" panose="020B0604020202020204" pitchFamily="34" charset="0"/>
                          <a:ea typeface="微软雅黑" panose="020B0503020204020204" pitchFamily="34" charset="-122"/>
                        </a:rPr>
                        <a:t>30+20</a:t>
                      </a:r>
                      <a:r>
                        <a:rPr lang="zh-CN" sz="1100" kern="100">
                          <a:solidFill>
                            <a:schemeClr val="tx1"/>
                          </a:solidFill>
                          <a:effectLst/>
                          <a:latin typeface="Arial" panose="020B0604020202020204" pitchFamily="34" charset="0"/>
                          <a:ea typeface="微软雅黑" panose="020B0503020204020204" pitchFamily="34" charset="-122"/>
                        </a:rPr>
                        <a:t>））</a:t>
                      </a:r>
                      <a:r>
                        <a:rPr lang="en-US" sz="1100" kern="100">
                          <a:solidFill>
                            <a:schemeClr val="tx1"/>
                          </a:solidFill>
                          <a:effectLst/>
                          <a:latin typeface="Arial" panose="020B0604020202020204" pitchFamily="34" charset="0"/>
                          <a:ea typeface="微软雅黑" panose="020B0503020204020204" pitchFamily="34" charset="-122"/>
                        </a:rPr>
                        <a:t>=24</a:t>
                      </a:r>
                      <a:r>
                        <a:rPr lang="zh-CN" sz="1100" kern="100">
                          <a:solidFill>
                            <a:schemeClr val="tx1"/>
                          </a:solidFill>
                          <a:effectLst/>
                          <a:latin typeface="Arial" panose="020B0604020202020204" pitchFamily="34" charset="0"/>
                          <a:ea typeface="微软雅黑" panose="020B0503020204020204" pitchFamily="34" charset="-122"/>
                        </a:rPr>
                        <a:t>，订单倍数</a:t>
                      </a:r>
                      <a:r>
                        <a:rPr lang="en-US" sz="1100" kern="100">
                          <a:solidFill>
                            <a:schemeClr val="tx1"/>
                          </a:solidFill>
                          <a:effectLst/>
                          <a:latin typeface="Arial" panose="020B0604020202020204" pitchFamily="34" charset="0"/>
                          <a:ea typeface="微软雅黑" panose="020B0503020204020204" pitchFamily="34" charset="-122"/>
                        </a:rPr>
                        <a:t>15</a:t>
                      </a:r>
                      <a:endParaRPr lang="zh-CN" sz="11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nSpc>
                          <a:spcPct val="120000"/>
                        </a:lnSpc>
                        <a:buNone/>
                      </a:pPr>
                      <a:r>
                        <a:rPr lang="en-US" sz="1100" kern="100">
                          <a:solidFill>
                            <a:schemeClr val="tx1"/>
                          </a:solidFill>
                          <a:effectLst/>
                          <a:latin typeface="Arial" panose="020B0604020202020204" pitchFamily="34" charset="0"/>
                          <a:ea typeface="微软雅黑" panose="020B0503020204020204" pitchFamily="34" charset="-122"/>
                        </a:rPr>
                        <a:t>24/15</a:t>
                      </a:r>
                      <a:r>
                        <a:rPr lang="zh-CN" sz="1100" kern="100">
                          <a:solidFill>
                            <a:schemeClr val="tx1"/>
                          </a:solidFill>
                          <a:effectLst/>
                          <a:latin typeface="Arial" panose="020B0604020202020204" pitchFamily="34" charset="0"/>
                          <a:ea typeface="微软雅黑" panose="020B0503020204020204" pitchFamily="34" charset="-122"/>
                        </a:rPr>
                        <a:t>向右取整为</a:t>
                      </a:r>
                      <a:r>
                        <a:rPr lang="en-US" sz="1100" kern="100">
                          <a:solidFill>
                            <a:schemeClr val="tx1"/>
                          </a:solidFill>
                          <a:effectLst/>
                          <a:latin typeface="Arial" panose="020B0604020202020204" pitchFamily="34" charset="0"/>
                          <a:ea typeface="微软雅黑" panose="020B0503020204020204" pitchFamily="34" charset="-122"/>
                        </a:rPr>
                        <a:t>2</a:t>
                      </a:r>
                      <a:r>
                        <a:rPr lang="zh-CN" sz="1100" kern="100">
                          <a:solidFill>
                            <a:schemeClr val="tx1"/>
                          </a:solidFill>
                          <a:effectLst/>
                          <a:latin typeface="Arial" panose="020B0604020202020204" pitchFamily="34" charset="0"/>
                          <a:ea typeface="微软雅黑" panose="020B0503020204020204" pitchFamily="34" charset="-122"/>
                        </a:rPr>
                        <a:t>，</a:t>
                      </a:r>
                      <a:r>
                        <a:rPr lang="en-US" sz="1100" kern="100">
                          <a:solidFill>
                            <a:schemeClr val="tx1"/>
                          </a:solidFill>
                          <a:effectLst/>
                          <a:latin typeface="Arial" panose="020B0604020202020204" pitchFamily="34" charset="0"/>
                          <a:ea typeface="微软雅黑" panose="020B0503020204020204" pitchFamily="34" charset="-122"/>
                        </a:rPr>
                        <a:t>15*2=30</a:t>
                      </a:r>
                      <a:r>
                        <a:rPr lang="zh-CN" sz="1100" kern="100">
                          <a:solidFill>
                            <a:schemeClr val="tx1"/>
                          </a:solidFill>
                          <a:effectLst/>
                          <a:latin typeface="Arial" panose="020B0604020202020204" pitchFamily="34" charset="0"/>
                          <a:ea typeface="微软雅黑" panose="020B0503020204020204" pitchFamily="34" charset="-122"/>
                        </a:rPr>
                        <a:t>，</a:t>
                      </a:r>
                      <a:r>
                        <a:rPr lang="en-US" sz="1100" kern="100">
                          <a:solidFill>
                            <a:schemeClr val="tx1"/>
                          </a:solidFill>
                          <a:effectLst/>
                          <a:latin typeface="Arial" panose="020B0604020202020204" pitchFamily="34" charset="0"/>
                          <a:ea typeface="微软雅黑" panose="020B0503020204020204" pitchFamily="34" charset="-122"/>
                        </a:rPr>
                        <a:t>P2</a:t>
                      </a:r>
                      <a:r>
                        <a:rPr lang="zh-CN" sz="1100" kern="100">
                          <a:solidFill>
                            <a:schemeClr val="tx1"/>
                          </a:solidFill>
                          <a:effectLst/>
                          <a:latin typeface="Arial" panose="020B0604020202020204" pitchFamily="34" charset="0"/>
                          <a:ea typeface="微软雅黑" panose="020B0503020204020204" pitchFamily="34" charset="-122"/>
                        </a:rPr>
                        <a:t>分配</a:t>
                      </a:r>
                      <a:r>
                        <a:rPr lang="en-US" sz="1100" kern="100">
                          <a:solidFill>
                            <a:schemeClr val="tx1"/>
                          </a:solidFill>
                          <a:effectLst/>
                          <a:latin typeface="Arial" panose="020B0604020202020204" pitchFamily="34" charset="0"/>
                          <a:ea typeface="微软雅黑" panose="020B0503020204020204" pitchFamily="34" charset="-122"/>
                        </a:rPr>
                        <a:t>30</a:t>
                      </a:r>
                      <a:endParaRPr lang="zh-CN" sz="11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nSpc>
                          <a:spcPct val="120000"/>
                        </a:lnSpc>
                        <a:buNone/>
                      </a:pPr>
                      <a:r>
                        <a:rPr lang="en-US" sz="1100" kern="100">
                          <a:solidFill>
                            <a:schemeClr val="tx1"/>
                          </a:solidFill>
                          <a:effectLst/>
                          <a:latin typeface="Arial" panose="020B0604020202020204" pitchFamily="34" charset="0"/>
                          <a:ea typeface="微软雅黑" panose="020B0503020204020204" pitchFamily="34" charset="-122"/>
                        </a:rPr>
                        <a:t>40-30=10</a:t>
                      </a:r>
                      <a:endParaRPr lang="zh-CN" sz="11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extLst>
                  <a:ext uri="{0D108BD9-81ED-4DB2-BD59-A6C34878D82A}">
                    <a16:rowId xmlns:a16="http://schemas.microsoft.com/office/drawing/2014/main" val="1628545061"/>
                  </a:ext>
                </a:extLst>
              </a:tr>
              <a:tr h="632040">
                <a:tc>
                  <a:txBody>
                    <a:bodyPr/>
                    <a:lstStyle/>
                    <a:p>
                      <a:pPr>
                        <a:lnSpc>
                          <a:spcPct val="120000"/>
                        </a:lnSpc>
                        <a:buNone/>
                      </a:pPr>
                      <a:r>
                        <a:rPr lang="zh-CN" sz="1100" kern="100">
                          <a:solidFill>
                            <a:schemeClr val="tx1"/>
                          </a:solidFill>
                          <a:effectLst/>
                          <a:latin typeface="Arial" panose="020B0604020202020204" pitchFamily="34" charset="0"/>
                          <a:ea typeface="微软雅黑" panose="020B0503020204020204" pitchFamily="34" charset="-122"/>
                        </a:rPr>
                        <a:t>第三次</a:t>
                      </a:r>
                      <a:endParaRPr lang="zh-CN" sz="11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nSpc>
                          <a:spcPct val="120000"/>
                        </a:lnSpc>
                        <a:buNone/>
                      </a:pPr>
                      <a:r>
                        <a:rPr lang="en-US" sz="1100" kern="100">
                          <a:solidFill>
                            <a:schemeClr val="tx1"/>
                          </a:solidFill>
                          <a:effectLst/>
                          <a:latin typeface="Arial" panose="020B0604020202020204" pitchFamily="34" charset="0"/>
                          <a:ea typeface="微软雅黑" panose="020B0503020204020204" pitchFamily="34" charset="-122"/>
                        </a:rPr>
                        <a:t>10*</a:t>
                      </a:r>
                      <a:r>
                        <a:rPr lang="zh-CN" sz="1100" kern="100">
                          <a:solidFill>
                            <a:schemeClr val="tx1"/>
                          </a:solidFill>
                          <a:effectLst/>
                          <a:latin typeface="Arial" panose="020B0604020202020204" pitchFamily="34" charset="0"/>
                          <a:ea typeface="微软雅黑" panose="020B0503020204020204" pitchFamily="34" charset="-122"/>
                        </a:rPr>
                        <a:t>（</a:t>
                      </a:r>
                      <a:r>
                        <a:rPr lang="en-US" sz="1100" kern="100">
                          <a:solidFill>
                            <a:schemeClr val="tx1"/>
                          </a:solidFill>
                          <a:effectLst/>
                          <a:latin typeface="Arial" panose="020B0604020202020204" pitchFamily="34" charset="0"/>
                          <a:ea typeface="微软雅黑" panose="020B0503020204020204" pitchFamily="34" charset="-122"/>
                        </a:rPr>
                        <a:t>20/20</a:t>
                      </a:r>
                      <a:r>
                        <a:rPr lang="zh-CN" sz="1100" kern="100">
                          <a:solidFill>
                            <a:schemeClr val="tx1"/>
                          </a:solidFill>
                          <a:effectLst/>
                          <a:latin typeface="Arial" panose="020B0604020202020204" pitchFamily="34" charset="0"/>
                          <a:ea typeface="微软雅黑" panose="020B0503020204020204" pitchFamily="34" charset="-122"/>
                        </a:rPr>
                        <a:t>）</a:t>
                      </a:r>
                      <a:r>
                        <a:rPr lang="en-US" sz="1100" kern="100">
                          <a:solidFill>
                            <a:schemeClr val="tx1"/>
                          </a:solidFill>
                          <a:effectLst/>
                          <a:latin typeface="Arial" panose="020B0604020202020204" pitchFamily="34" charset="0"/>
                          <a:ea typeface="微软雅黑" panose="020B0503020204020204" pitchFamily="34" charset="-122"/>
                        </a:rPr>
                        <a:t>=10</a:t>
                      </a:r>
                      <a:r>
                        <a:rPr lang="zh-CN" sz="1100" kern="100">
                          <a:solidFill>
                            <a:schemeClr val="tx1"/>
                          </a:solidFill>
                          <a:effectLst/>
                          <a:latin typeface="Arial" panose="020B0604020202020204" pitchFamily="34" charset="0"/>
                          <a:ea typeface="微软雅黑" panose="020B0503020204020204" pitchFamily="34" charset="-122"/>
                        </a:rPr>
                        <a:t>，订单倍数</a:t>
                      </a:r>
                      <a:r>
                        <a:rPr lang="en-US" sz="1100" kern="100">
                          <a:solidFill>
                            <a:schemeClr val="tx1"/>
                          </a:solidFill>
                          <a:effectLst/>
                          <a:latin typeface="Arial" panose="020B0604020202020204" pitchFamily="34" charset="0"/>
                          <a:ea typeface="微软雅黑" panose="020B0503020204020204" pitchFamily="34" charset="-122"/>
                        </a:rPr>
                        <a:t>10</a:t>
                      </a:r>
                      <a:endParaRPr lang="zh-CN" sz="11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nSpc>
                          <a:spcPct val="120000"/>
                        </a:lnSpc>
                        <a:buNone/>
                      </a:pPr>
                      <a:r>
                        <a:rPr lang="en-US" sz="1100" kern="100">
                          <a:solidFill>
                            <a:schemeClr val="tx1"/>
                          </a:solidFill>
                          <a:effectLst/>
                          <a:latin typeface="Arial" panose="020B0604020202020204" pitchFamily="34" charset="0"/>
                          <a:ea typeface="微软雅黑" panose="020B0503020204020204" pitchFamily="34" charset="-122"/>
                        </a:rPr>
                        <a:t>P2</a:t>
                      </a:r>
                      <a:r>
                        <a:rPr lang="zh-CN" sz="1100" kern="100">
                          <a:solidFill>
                            <a:schemeClr val="tx1"/>
                          </a:solidFill>
                          <a:effectLst/>
                          <a:latin typeface="Arial" panose="020B0604020202020204" pitchFamily="34" charset="0"/>
                          <a:ea typeface="微软雅黑" panose="020B0503020204020204" pitchFamily="34" charset="-122"/>
                        </a:rPr>
                        <a:t>分配</a:t>
                      </a:r>
                      <a:r>
                        <a:rPr lang="en-US" sz="1100" kern="100">
                          <a:solidFill>
                            <a:schemeClr val="tx1"/>
                          </a:solidFill>
                          <a:effectLst/>
                          <a:latin typeface="Arial" panose="020B0604020202020204" pitchFamily="34" charset="0"/>
                          <a:ea typeface="微软雅黑" panose="020B0503020204020204" pitchFamily="34" charset="-122"/>
                        </a:rPr>
                        <a:t>10</a:t>
                      </a:r>
                      <a:endParaRPr lang="zh-CN" sz="1100" kern="10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tc>
                  <a:txBody>
                    <a:bodyPr/>
                    <a:lstStyle/>
                    <a:p>
                      <a:pPr>
                        <a:lnSpc>
                          <a:spcPct val="120000"/>
                        </a:lnSpc>
                        <a:buNone/>
                      </a:pPr>
                      <a:r>
                        <a:rPr lang="en-US" sz="1100" kern="100" dirty="0">
                          <a:solidFill>
                            <a:schemeClr val="tx1"/>
                          </a:solidFill>
                          <a:effectLst/>
                          <a:latin typeface="Arial" panose="020B0604020202020204" pitchFamily="34" charset="0"/>
                          <a:ea typeface="微软雅黑" panose="020B0503020204020204" pitchFamily="34" charset="-122"/>
                        </a:rPr>
                        <a:t>0</a:t>
                      </a:r>
                      <a:r>
                        <a:rPr lang="zh-CN" sz="1100" kern="100" dirty="0">
                          <a:solidFill>
                            <a:schemeClr val="tx1"/>
                          </a:solidFill>
                          <a:effectLst/>
                          <a:latin typeface="Arial" panose="020B0604020202020204" pitchFamily="34" charset="0"/>
                          <a:ea typeface="微软雅黑" panose="020B0503020204020204" pitchFamily="34" charset="-122"/>
                        </a:rPr>
                        <a:t>（停止计算）</a:t>
                      </a:r>
                      <a:endParaRPr lang="zh-CN" sz="1100" kern="100" dirty="0">
                        <a:solidFill>
                          <a:schemeClr val="tx1"/>
                        </a:solidFill>
                        <a:effectLst/>
                        <a:latin typeface="Arial" panose="020B0604020202020204" pitchFamily="34" charset="0"/>
                        <a:ea typeface="微软雅黑" panose="020B0503020204020204" pitchFamily="34" charset="-122"/>
                        <a:cs typeface="Times New Roman" panose="02020603050405020304" pitchFamily="18" charset="0"/>
                      </a:endParaRPr>
                    </a:p>
                  </a:txBody>
                  <a:tcPr marL="68580" marR="68580" marT="0" marB="0"/>
                </a:tc>
                <a:extLst>
                  <a:ext uri="{0D108BD9-81ED-4DB2-BD59-A6C34878D82A}">
                    <a16:rowId xmlns:a16="http://schemas.microsoft.com/office/drawing/2014/main" val="448647035"/>
                  </a:ext>
                </a:extLst>
              </a:tr>
            </a:tbl>
          </a:graphicData>
        </a:graphic>
      </p:graphicFrame>
    </p:spTree>
    <p:extLst>
      <p:ext uri="{BB962C8B-B14F-4D97-AF65-F5344CB8AC3E}">
        <p14:creationId xmlns:p14="http://schemas.microsoft.com/office/powerpoint/2010/main" val="1745107167"/>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DDAD022-E895-0807-07CC-E045A10AE372}"/>
              </a:ext>
            </a:extLst>
          </p:cNvPr>
          <p:cNvSpPr>
            <a:spLocks noGrp="1"/>
          </p:cNvSpPr>
          <p:nvPr>
            <p:ph type="title"/>
          </p:nvPr>
        </p:nvSpPr>
        <p:spPr/>
        <p:txBody>
          <a:bodyPr/>
          <a:lstStyle/>
          <a:p>
            <a:r>
              <a:rPr lang="zh-CN" altLang="en-US" dirty="0">
                <a:solidFill>
                  <a:schemeClr val="bg1"/>
                </a:solidFill>
                <a:latin typeface="Arial" panose="020B0604020202020204" pitchFamily="34" charset="0"/>
                <a:ea typeface="微软雅黑" panose="020B0503020204020204" pitchFamily="34" charset="-122"/>
              </a:rPr>
              <a:t>不完全替代 </a:t>
            </a:r>
            <a:r>
              <a:rPr lang="en-US" altLang="zh-CN" dirty="0">
                <a:solidFill>
                  <a:schemeClr val="bg1"/>
                </a:solidFill>
                <a:latin typeface="Arial" panose="020B0604020202020204" pitchFamily="34" charset="0"/>
                <a:ea typeface="微软雅黑" panose="020B0503020204020204" pitchFamily="34" charset="-122"/>
              </a:rPr>
              <a:t>– </a:t>
            </a:r>
            <a:r>
              <a:rPr lang="zh-CN" altLang="en-US" dirty="0">
                <a:solidFill>
                  <a:schemeClr val="bg1"/>
                </a:solidFill>
                <a:latin typeface="Arial" panose="020B0604020202020204" pitchFamily="34" charset="0"/>
                <a:ea typeface="微软雅黑" panose="020B0503020204020204" pitchFamily="34" charset="-122"/>
              </a:rPr>
              <a:t>问题</a:t>
            </a:r>
          </a:p>
        </p:txBody>
      </p:sp>
      <p:sp>
        <p:nvSpPr>
          <p:cNvPr id="4" name="矩形 3">
            <a:extLst>
              <a:ext uri="{FF2B5EF4-FFF2-40B4-BE49-F238E27FC236}">
                <a16:creationId xmlns:a16="http://schemas.microsoft.com/office/drawing/2014/main" id="{38A42A98-27F7-7229-67E2-7126D097A648}"/>
              </a:ext>
            </a:extLst>
          </p:cNvPr>
          <p:cNvSpPr/>
          <p:nvPr/>
        </p:nvSpPr>
        <p:spPr>
          <a:xfrm>
            <a:off x="4779118" y="792947"/>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a:ln>
                  <a:noFill/>
                </a:ln>
                <a:solidFill>
                  <a:schemeClr val="bg1"/>
                </a:solidFill>
                <a:effectLst/>
                <a:uLnTx/>
                <a:uFillTx/>
                <a:latin typeface="Arial" panose="020B0604020202020204" pitchFamily="34" charset="0"/>
                <a:ea typeface="微软雅黑" panose="020B0503020204020204" pitchFamily="34" charset="-122"/>
                <a:cs typeface="+mn-cs"/>
              </a:rPr>
              <a:t>FG1</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35" name="矩形 34">
            <a:extLst>
              <a:ext uri="{FF2B5EF4-FFF2-40B4-BE49-F238E27FC236}">
                <a16:creationId xmlns:a16="http://schemas.microsoft.com/office/drawing/2014/main" id="{CE82EA4A-6C6F-1E8E-7F02-B6B0D43FE1BC}"/>
              </a:ext>
            </a:extLst>
          </p:cNvPr>
          <p:cNvSpPr/>
          <p:nvPr/>
        </p:nvSpPr>
        <p:spPr>
          <a:xfrm>
            <a:off x="5521125" y="788808"/>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FG</a:t>
            </a:r>
            <a:r>
              <a:rPr lang="en-US" altLang="zh-CN" sz="800" b="1" kern="0" dirty="0">
                <a:solidFill>
                  <a:schemeClr val="bg1"/>
                </a:solidFill>
                <a:latin typeface="Arial" panose="020B0604020202020204" pitchFamily="34" charset="0"/>
                <a:ea typeface="微软雅黑" panose="020B0503020204020204" pitchFamily="34" charset="-122"/>
              </a:rPr>
              <a:t>2</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36" name="矩形 35">
            <a:extLst>
              <a:ext uri="{FF2B5EF4-FFF2-40B4-BE49-F238E27FC236}">
                <a16:creationId xmlns:a16="http://schemas.microsoft.com/office/drawing/2014/main" id="{78D0C7A8-2998-FDC6-23FC-368DD91F1C20}"/>
              </a:ext>
            </a:extLst>
          </p:cNvPr>
          <p:cNvSpPr/>
          <p:nvPr/>
        </p:nvSpPr>
        <p:spPr>
          <a:xfrm>
            <a:off x="6274216" y="788808"/>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800" b="1" kern="0" dirty="0">
                <a:solidFill>
                  <a:schemeClr val="bg1"/>
                </a:solidFill>
                <a:latin typeface="Arial" panose="020B0604020202020204" pitchFamily="34" charset="0"/>
                <a:ea typeface="微软雅黑" panose="020B0503020204020204" pitchFamily="34" charset="-122"/>
              </a:rPr>
              <a:t>……</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cxnSp>
        <p:nvCxnSpPr>
          <p:cNvPr id="51" name="连接符: 肘形 50">
            <a:extLst>
              <a:ext uri="{FF2B5EF4-FFF2-40B4-BE49-F238E27FC236}">
                <a16:creationId xmlns:a16="http://schemas.microsoft.com/office/drawing/2014/main" id="{8A05B8A9-BF4A-7106-FC1B-C67727A63155}"/>
              </a:ext>
            </a:extLst>
          </p:cNvPr>
          <p:cNvCxnSpPr>
            <a:cxnSpLocks/>
            <a:stCxn id="35" idx="2"/>
            <a:endCxn id="34" idx="0"/>
          </p:cNvCxnSpPr>
          <p:nvPr/>
        </p:nvCxnSpPr>
        <p:spPr>
          <a:xfrm rot="16200000" flipH="1">
            <a:off x="5628615" y="1215457"/>
            <a:ext cx="304167" cy="5542"/>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54" name="连接符: 肘形 53">
            <a:extLst>
              <a:ext uri="{FF2B5EF4-FFF2-40B4-BE49-F238E27FC236}">
                <a16:creationId xmlns:a16="http://schemas.microsoft.com/office/drawing/2014/main" id="{E61863FA-C8C8-A9CF-B36F-BD5FDE28B46A}"/>
              </a:ext>
            </a:extLst>
          </p:cNvPr>
          <p:cNvCxnSpPr>
            <a:cxnSpLocks/>
            <a:stCxn id="36" idx="2"/>
            <a:endCxn id="34" idx="0"/>
          </p:cNvCxnSpPr>
          <p:nvPr/>
        </p:nvCxnSpPr>
        <p:spPr>
          <a:xfrm rot="5400000">
            <a:off x="6005161" y="844454"/>
            <a:ext cx="304167" cy="747549"/>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6" name="矩形 65">
            <a:extLst>
              <a:ext uri="{FF2B5EF4-FFF2-40B4-BE49-F238E27FC236}">
                <a16:creationId xmlns:a16="http://schemas.microsoft.com/office/drawing/2014/main" id="{CC4E51CC-F5B5-92F5-F6BA-7644DBE83278}"/>
              </a:ext>
            </a:extLst>
          </p:cNvPr>
          <p:cNvSpPr/>
          <p:nvPr/>
        </p:nvSpPr>
        <p:spPr>
          <a:xfrm>
            <a:off x="7225822" y="801462"/>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a:ln>
                  <a:noFill/>
                </a:ln>
                <a:solidFill>
                  <a:schemeClr val="bg1"/>
                </a:solidFill>
                <a:effectLst/>
                <a:uLnTx/>
                <a:uFillTx/>
                <a:latin typeface="Arial" panose="020B0604020202020204" pitchFamily="34" charset="0"/>
                <a:ea typeface="微软雅黑" panose="020B0503020204020204" pitchFamily="34" charset="-122"/>
                <a:cs typeface="+mn-cs"/>
              </a:rPr>
              <a:t>FG11</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grpSp>
        <p:nvGrpSpPr>
          <p:cNvPr id="67" name="组合 66">
            <a:extLst>
              <a:ext uri="{FF2B5EF4-FFF2-40B4-BE49-F238E27FC236}">
                <a16:creationId xmlns:a16="http://schemas.microsoft.com/office/drawing/2014/main" id="{EDFAE7B7-75FC-F588-38A6-C5D52074484C}"/>
              </a:ext>
            </a:extLst>
          </p:cNvPr>
          <p:cNvGrpSpPr/>
          <p:nvPr/>
        </p:nvGrpSpPr>
        <p:grpSpPr>
          <a:xfrm>
            <a:off x="7436345" y="1828555"/>
            <a:ext cx="635003" cy="462517"/>
            <a:chOff x="2618303" y="1841679"/>
            <a:chExt cx="739175" cy="384518"/>
          </a:xfrm>
        </p:grpSpPr>
        <p:sp>
          <p:nvSpPr>
            <p:cNvPr id="68" name="等腰三角形 67">
              <a:extLst>
                <a:ext uri="{FF2B5EF4-FFF2-40B4-BE49-F238E27FC236}">
                  <a16:creationId xmlns:a16="http://schemas.microsoft.com/office/drawing/2014/main" id="{2A36422F-3B1F-2E2A-5207-FDFA4EC5B4F6}"/>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69" name="文本框 68">
              <a:extLst>
                <a:ext uri="{FF2B5EF4-FFF2-40B4-BE49-F238E27FC236}">
                  <a16:creationId xmlns:a16="http://schemas.microsoft.com/office/drawing/2014/main" id="{C2D71B95-BC86-BA26-6EB4-AF0E154DB59C}"/>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a:t>
              </a:r>
              <a:r>
                <a:rPr lang="en-US" altLang="zh-CN" sz="800" b="1" kern="0" dirty="0">
                  <a:solidFill>
                    <a:schemeClr val="bg1"/>
                  </a:solidFill>
                  <a:latin typeface="Arial" panose="020B0604020202020204" pitchFamily="34" charset="0"/>
                  <a:ea typeface="微软雅黑" panose="020B0503020204020204" pitchFamily="34" charset="-122"/>
                </a:rPr>
                <a:t>3</a:t>
              </a: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/1</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sp>
        <p:nvSpPr>
          <p:cNvPr id="70" name="椭圆 69">
            <a:extLst>
              <a:ext uri="{FF2B5EF4-FFF2-40B4-BE49-F238E27FC236}">
                <a16:creationId xmlns:a16="http://schemas.microsoft.com/office/drawing/2014/main" id="{AD2E714E-7769-98A9-7152-703484F8919B}"/>
              </a:ext>
            </a:extLst>
          </p:cNvPr>
          <p:cNvSpPr/>
          <p:nvPr/>
        </p:nvSpPr>
        <p:spPr>
          <a:xfrm>
            <a:off x="7908245" y="1387147"/>
            <a:ext cx="635002" cy="285792"/>
          </a:xfrm>
          <a:prstGeom prst="ellipse">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800" b="1" dirty="0" err="1">
                <a:latin typeface="Arial" panose="020B0604020202020204" pitchFamily="34" charset="0"/>
                <a:ea typeface="微软雅黑" panose="020B0503020204020204" pitchFamily="34" charset="-122"/>
              </a:rPr>
              <a:t>alg</a:t>
            </a:r>
            <a:r>
              <a:rPr lang="en-US" altLang="zh-CN" sz="800" b="1" dirty="0">
                <a:latin typeface="Arial" panose="020B0604020202020204" pitchFamily="34" charset="0"/>
                <a:ea typeface="微软雅黑" panose="020B0503020204020204" pitchFamily="34" charset="-122"/>
              </a:rPr>
              <a:t> 2</a:t>
            </a:r>
            <a:endParaRPr lang="zh-CN" altLang="en-US" sz="800" b="1" dirty="0">
              <a:latin typeface="Arial" panose="020B0604020202020204" pitchFamily="34" charset="0"/>
              <a:ea typeface="微软雅黑" panose="020B0503020204020204" pitchFamily="34" charset="-122"/>
            </a:endParaRPr>
          </a:p>
        </p:txBody>
      </p:sp>
      <p:sp>
        <p:nvSpPr>
          <p:cNvPr id="71" name="矩形 70">
            <a:extLst>
              <a:ext uri="{FF2B5EF4-FFF2-40B4-BE49-F238E27FC236}">
                <a16:creationId xmlns:a16="http://schemas.microsoft.com/office/drawing/2014/main" id="{4A6839D3-8BF5-5E7B-1BDC-39465B98301B}"/>
              </a:ext>
            </a:extLst>
          </p:cNvPr>
          <p:cNvSpPr/>
          <p:nvPr/>
        </p:nvSpPr>
        <p:spPr>
          <a:xfrm>
            <a:off x="7973371" y="797323"/>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a:ln>
                  <a:noFill/>
                </a:ln>
                <a:solidFill>
                  <a:schemeClr val="bg1"/>
                </a:solidFill>
                <a:effectLst/>
                <a:uLnTx/>
                <a:uFillTx/>
                <a:latin typeface="Arial" panose="020B0604020202020204" pitchFamily="34" charset="0"/>
                <a:ea typeface="微软雅黑" panose="020B0503020204020204" pitchFamily="34" charset="-122"/>
                <a:cs typeface="+mn-cs"/>
              </a:rPr>
              <a:t>FG1</a:t>
            </a:r>
            <a:r>
              <a:rPr lang="en-US" altLang="zh-CN" sz="800" b="1" kern="0">
                <a:solidFill>
                  <a:schemeClr val="bg1"/>
                </a:solidFill>
                <a:latin typeface="Arial" panose="020B0604020202020204" pitchFamily="34" charset="0"/>
                <a:ea typeface="微软雅黑" panose="020B0503020204020204" pitchFamily="34" charset="-122"/>
              </a:rPr>
              <a:t>2</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72" name="矩形 71">
            <a:extLst>
              <a:ext uri="{FF2B5EF4-FFF2-40B4-BE49-F238E27FC236}">
                <a16:creationId xmlns:a16="http://schemas.microsoft.com/office/drawing/2014/main" id="{9A30F225-8CE5-2382-5C1C-5844D543A150}"/>
              </a:ext>
            </a:extLst>
          </p:cNvPr>
          <p:cNvSpPr/>
          <p:nvPr/>
        </p:nvSpPr>
        <p:spPr>
          <a:xfrm>
            <a:off x="8720920" y="797323"/>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800" b="1" kern="0" dirty="0">
                <a:solidFill>
                  <a:schemeClr val="bg1"/>
                </a:solidFill>
                <a:latin typeface="Arial" panose="020B0604020202020204" pitchFamily="34" charset="0"/>
                <a:ea typeface="微软雅黑" panose="020B0503020204020204" pitchFamily="34" charset="-122"/>
              </a:rPr>
              <a:t>……</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grpSp>
        <p:nvGrpSpPr>
          <p:cNvPr id="73" name="组合 72">
            <a:extLst>
              <a:ext uri="{FF2B5EF4-FFF2-40B4-BE49-F238E27FC236}">
                <a16:creationId xmlns:a16="http://schemas.microsoft.com/office/drawing/2014/main" id="{1BF041A9-D85F-4648-D0E6-AC54E17E9271}"/>
              </a:ext>
            </a:extLst>
          </p:cNvPr>
          <p:cNvGrpSpPr/>
          <p:nvPr/>
        </p:nvGrpSpPr>
        <p:grpSpPr>
          <a:xfrm>
            <a:off x="8342719" y="1828554"/>
            <a:ext cx="635003" cy="462517"/>
            <a:chOff x="2618303" y="1841679"/>
            <a:chExt cx="739175" cy="384518"/>
          </a:xfrm>
        </p:grpSpPr>
        <p:sp>
          <p:nvSpPr>
            <p:cNvPr id="74" name="等腰三角形 73">
              <a:extLst>
                <a:ext uri="{FF2B5EF4-FFF2-40B4-BE49-F238E27FC236}">
                  <a16:creationId xmlns:a16="http://schemas.microsoft.com/office/drawing/2014/main" id="{18F9DC35-5862-563E-9F81-30A7A3075E51}"/>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75" name="文本框 74">
              <a:extLst>
                <a:ext uri="{FF2B5EF4-FFF2-40B4-BE49-F238E27FC236}">
                  <a16:creationId xmlns:a16="http://schemas.microsoft.com/office/drawing/2014/main" id="{FF7199AA-D8F3-2D1A-633A-C1FFC072B52B}"/>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P1/2</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cxnSp>
        <p:nvCxnSpPr>
          <p:cNvPr id="78" name="连接符: 肘形 77">
            <a:extLst>
              <a:ext uri="{FF2B5EF4-FFF2-40B4-BE49-F238E27FC236}">
                <a16:creationId xmlns:a16="http://schemas.microsoft.com/office/drawing/2014/main" id="{9A6E4132-1264-505F-29D9-632196B0D63A}"/>
              </a:ext>
            </a:extLst>
          </p:cNvPr>
          <p:cNvCxnSpPr>
            <a:cxnSpLocks/>
            <a:stCxn id="66" idx="2"/>
            <a:endCxn id="70" idx="0"/>
          </p:cNvCxnSpPr>
          <p:nvPr/>
        </p:nvCxnSpPr>
        <p:spPr>
          <a:xfrm rot="16200000" flipH="1">
            <a:off x="7700011" y="861412"/>
            <a:ext cx="308348" cy="743122"/>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79" name="连接符: 肘形 78">
            <a:extLst>
              <a:ext uri="{FF2B5EF4-FFF2-40B4-BE49-F238E27FC236}">
                <a16:creationId xmlns:a16="http://schemas.microsoft.com/office/drawing/2014/main" id="{447532E8-C663-4423-C2EB-06F1B649DFD5}"/>
              </a:ext>
            </a:extLst>
          </p:cNvPr>
          <p:cNvCxnSpPr>
            <a:cxnSpLocks/>
            <a:stCxn id="71" idx="2"/>
            <a:endCxn id="70" idx="0"/>
          </p:cNvCxnSpPr>
          <p:nvPr/>
        </p:nvCxnSpPr>
        <p:spPr>
          <a:xfrm rot="5400000">
            <a:off x="8071717" y="1228690"/>
            <a:ext cx="312487" cy="4427"/>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80" name="连接符: 肘形 79">
            <a:extLst>
              <a:ext uri="{FF2B5EF4-FFF2-40B4-BE49-F238E27FC236}">
                <a16:creationId xmlns:a16="http://schemas.microsoft.com/office/drawing/2014/main" id="{41C16A76-EA3C-77D2-649B-C4BCBCF0E5DE}"/>
              </a:ext>
            </a:extLst>
          </p:cNvPr>
          <p:cNvCxnSpPr>
            <a:cxnSpLocks/>
            <a:stCxn id="72" idx="2"/>
            <a:endCxn id="70" idx="0"/>
          </p:cNvCxnSpPr>
          <p:nvPr/>
        </p:nvCxnSpPr>
        <p:spPr>
          <a:xfrm rot="5400000">
            <a:off x="8445491" y="854915"/>
            <a:ext cx="312487" cy="751976"/>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81" name="连接符: 肘形 80">
            <a:extLst>
              <a:ext uri="{FF2B5EF4-FFF2-40B4-BE49-F238E27FC236}">
                <a16:creationId xmlns:a16="http://schemas.microsoft.com/office/drawing/2014/main" id="{FCC2FEF1-9AAA-14FD-8D9E-F162AEA4D3FC}"/>
              </a:ext>
            </a:extLst>
          </p:cNvPr>
          <p:cNvCxnSpPr>
            <a:stCxn id="70" idx="4"/>
            <a:endCxn id="68" idx="0"/>
          </p:cNvCxnSpPr>
          <p:nvPr/>
        </p:nvCxnSpPr>
        <p:spPr>
          <a:xfrm rot="5400000">
            <a:off x="7911989" y="1514798"/>
            <a:ext cx="155616" cy="471899"/>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cxnSp>
        <p:nvCxnSpPr>
          <p:cNvPr id="82" name="连接符: 肘形 81">
            <a:extLst>
              <a:ext uri="{FF2B5EF4-FFF2-40B4-BE49-F238E27FC236}">
                <a16:creationId xmlns:a16="http://schemas.microsoft.com/office/drawing/2014/main" id="{D35A8C54-FF1B-2AA3-7023-7EB1F001A81A}"/>
              </a:ext>
            </a:extLst>
          </p:cNvPr>
          <p:cNvCxnSpPr>
            <a:stCxn id="70" idx="4"/>
            <a:endCxn id="74" idx="0"/>
          </p:cNvCxnSpPr>
          <p:nvPr/>
        </p:nvCxnSpPr>
        <p:spPr>
          <a:xfrm rot="16200000" flipH="1">
            <a:off x="8365176" y="1533508"/>
            <a:ext cx="155615" cy="434475"/>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sp>
        <p:nvSpPr>
          <p:cNvPr id="98" name="文本框 97">
            <a:extLst>
              <a:ext uri="{FF2B5EF4-FFF2-40B4-BE49-F238E27FC236}">
                <a16:creationId xmlns:a16="http://schemas.microsoft.com/office/drawing/2014/main" id="{BD968428-41C9-06C6-6763-926E6C0266BF}"/>
              </a:ext>
            </a:extLst>
          </p:cNvPr>
          <p:cNvSpPr txBox="1"/>
          <p:nvPr/>
        </p:nvSpPr>
        <p:spPr>
          <a:xfrm>
            <a:off x="3721495" y="801462"/>
            <a:ext cx="1111516" cy="246221"/>
          </a:xfrm>
          <a:prstGeom prst="rect">
            <a:avLst/>
          </a:prstGeom>
          <a:noFill/>
        </p:spPr>
        <p:txBody>
          <a:bodyPr wrap="square" rtlCol="0">
            <a:spAutoFit/>
          </a:bodyPr>
          <a:lstStyle/>
          <a:p>
            <a:r>
              <a:rPr lang="en-US" altLang="zh-CN" sz="1000" b="1" dirty="0">
                <a:solidFill>
                  <a:schemeClr val="bg1"/>
                </a:solidFill>
                <a:latin typeface="Arial" panose="020B0604020202020204" pitchFamily="34" charset="0"/>
                <a:ea typeface="微软雅黑" panose="020B0503020204020204" pitchFamily="34" charset="-122"/>
              </a:rPr>
              <a:t>Level 0</a:t>
            </a:r>
            <a:endParaRPr lang="zh-CN" altLang="en-US" sz="1000" b="1" dirty="0">
              <a:solidFill>
                <a:schemeClr val="bg1"/>
              </a:solidFill>
              <a:latin typeface="Arial" panose="020B0604020202020204" pitchFamily="34" charset="0"/>
              <a:ea typeface="微软雅黑" panose="020B0503020204020204" pitchFamily="34" charset="-122"/>
            </a:endParaRPr>
          </a:p>
        </p:txBody>
      </p:sp>
      <p:grpSp>
        <p:nvGrpSpPr>
          <p:cNvPr id="6" name="组合 5">
            <a:extLst>
              <a:ext uri="{FF2B5EF4-FFF2-40B4-BE49-F238E27FC236}">
                <a16:creationId xmlns:a16="http://schemas.microsoft.com/office/drawing/2014/main" id="{FACCC28E-8C70-AA55-B861-3DE9E3C2F2FA}"/>
              </a:ext>
            </a:extLst>
          </p:cNvPr>
          <p:cNvGrpSpPr/>
          <p:nvPr/>
        </p:nvGrpSpPr>
        <p:grpSpPr>
          <a:xfrm>
            <a:off x="5069595" y="1863431"/>
            <a:ext cx="635003" cy="462517"/>
            <a:chOff x="2618303" y="1841679"/>
            <a:chExt cx="739175" cy="384518"/>
          </a:xfrm>
        </p:grpSpPr>
        <p:sp>
          <p:nvSpPr>
            <p:cNvPr id="9" name="等腰三角形 8">
              <a:extLst>
                <a:ext uri="{FF2B5EF4-FFF2-40B4-BE49-F238E27FC236}">
                  <a16:creationId xmlns:a16="http://schemas.microsoft.com/office/drawing/2014/main" id="{9E21E93A-769A-EE3D-6713-8BFEB4D1CE9D}"/>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10" name="文本框 9">
              <a:extLst>
                <a:ext uri="{FF2B5EF4-FFF2-40B4-BE49-F238E27FC236}">
                  <a16:creationId xmlns:a16="http://schemas.microsoft.com/office/drawing/2014/main" id="{5C200E5A-AD41-E509-B96F-5C02CDA8056A}"/>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P1/1</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sp>
        <p:nvSpPr>
          <p:cNvPr id="34" name="椭圆 33">
            <a:extLst>
              <a:ext uri="{FF2B5EF4-FFF2-40B4-BE49-F238E27FC236}">
                <a16:creationId xmlns:a16="http://schemas.microsoft.com/office/drawing/2014/main" id="{B10DFBB9-6DAB-EBCE-A2B6-79BF93DEEB8C}"/>
              </a:ext>
            </a:extLst>
          </p:cNvPr>
          <p:cNvSpPr/>
          <p:nvPr/>
        </p:nvSpPr>
        <p:spPr>
          <a:xfrm>
            <a:off x="5465968" y="1370312"/>
            <a:ext cx="635002" cy="285792"/>
          </a:xfrm>
          <a:prstGeom prst="ellipse">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800" b="1" dirty="0" err="1">
                <a:latin typeface="Arial" panose="020B0604020202020204" pitchFamily="34" charset="0"/>
                <a:ea typeface="微软雅黑" panose="020B0503020204020204" pitchFamily="34" charset="-122"/>
              </a:rPr>
              <a:t>alg</a:t>
            </a:r>
            <a:r>
              <a:rPr lang="en-US" altLang="zh-CN" sz="800" b="1" dirty="0">
                <a:latin typeface="Arial" panose="020B0604020202020204" pitchFamily="34" charset="0"/>
                <a:ea typeface="微软雅黑" panose="020B0503020204020204" pitchFamily="34" charset="-122"/>
              </a:rPr>
              <a:t> 1</a:t>
            </a:r>
            <a:endParaRPr lang="zh-CN" altLang="en-US" sz="800" b="1" dirty="0">
              <a:latin typeface="Arial" panose="020B0604020202020204" pitchFamily="34" charset="0"/>
              <a:ea typeface="微软雅黑" panose="020B0503020204020204" pitchFamily="34" charset="-122"/>
            </a:endParaRPr>
          </a:p>
        </p:txBody>
      </p:sp>
      <p:grpSp>
        <p:nvGrpSpPr>
          <p:cNvPr id="40" name="组合 39">
            <a:extLst>
              <a:ext uri="{FF2B5EF4-FFF2-40B4-BE49-F238E27FC236}">
                <a16:creationId xmlns:a16="http://schemas.microsoft.com/office/drawing/2014/main" id="{81D015D3-C783-E998-30DB-43029A13B376}"/>
              </a:ext>
            </a:extLst>
          </p:cNvPr>
          <p:cNvGrpSpPr/>
          <p:nvPr/>
        </p:nvGrpSpPr>
        <p:grpSpPr>
          <a:xfrm>
            <a:off x="5868443" y="1864087"/>
            <a:ext cx="635003" cy="462517"/>
            <a:chOff x="2618303" y="1841679"/>
            <a:chExt cx="739175" cy="384518"/>
          </a:xfrm>
        </p:grpSpPr>
        <p:sp>
          <p:nvSpPr>
            <p:cNvPr id="41" name="等腰三角形 40">
              <a:extLst>
                <a:ext uri="{FF2B5EF4-FFF2-40B4-BE49-F238E27FC236}">
                  <a16:creationId xmlns:a16="http://schemas.microsoft.com/office/drawing/2014/main" id="{8825350E-C97B-29CF-ABA4-EE02B7F449B4}"/>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42" name="文本框 41">
              <a:extLst>
                <a:ext uri="{FF2B5EF4-FFF2-40B4-BE49-F238E27FC236}">
                  <a16:creationId xmlns:a16="http://schemas.microsoft.com/office/drawing/2014/main" id="{CF3E0445-3FA5-6BB9-1C65-D59FDAA650E9}"/>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P2/</a:t>
              </a:r>
              <a:r>
                <a:rPr lang="en-US" altLang="zh-CN" sz="800" b="1" kern="0" dirty="0">
                  <a:solidFill>
                    <a:schemeClr val="bg1"/>
                  </a:solidFill>
                  <a:latin typeface="Arial" panose="020B0604020202020204" pitchFamily="34" charset="0"/>
                  <a:ea typeface="微软雅黑" panose="020B0503020204020204" pitchFamily="34" charset="-122"/>
                </a:rPr>
                <a:t>2</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cxnSp>
        <p:nvCxnSpPr>
          <p:cNvPr id="48" name="连接符: 肘形 47">
            <a:extLst>
              <a:ext uri="{FF2B5EF4-FFF2-40B4-BE49-F238E27FC236}">
                <a16:creationId xmlns:a16="http://schemas.microsoft.com/office/drawing/2014/main" id="{044117ED-28AE-D42E-D37E-529B19DC8C76}"/>
              </a:ext>
            </a:extLst>
          </p:cNvPr>
          <p:cNvCxnSpPr>
            <a:cxnSpLocks/>
            <a:stCxn id="4" idx="2"/>
            <a:endCxn id="34" idx="0"/>
          </p:cNvCxnSpPr>
          <p:nvPr/>
        </p:nvCxnSpPr>
        <p:spPr>
          <a:xfrm rot="16200000" flipH="1">
            <a:off x="5259680" y="846523"/>
            <a:ext cx="300028" cy="747549"/>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61" name="连接符: 肘形 60">
            <a:extLst>
              <a:ext uri="{FF2B5EF4-FFF2-40B4-BE49-F238E27FC236}">
                <a16:creationId xmlns:a16="http://schemas.microsoft.com/office/drawing/2014/main" id="{38C4A84B-E959-3EBA-7743-00DDD6EA0864}"/>
              </a:ext>
            </a:extLst>
          </p:cNvPr>
          <p:cNvCxnSpPr>
            <a:stCxn id="34" idx="4"/>
            <a:endCxn id="9" idx="0"/>
          </p:cNvCxnSpPr>
          <p:nvPr/>
        </p:nvCxnSpPr>
        <p:spPr>
          <a:xfrm rot="5400000">
            <a:off x="5481620" y="1561581"/>
            <a:ext cx="207327" cy="396372"/>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cxnSp>
        <p:nvCxnSpPr>
          <p:cNvPr id="65" name="连接符: 肘形 64">
            <a:extLst>
              <a:ext uri="{FF2B5EF4-FFF2-40B4-BE49-F238E27FC236}">
                <a16:creationId xmlns:a16="http://schemas.microsoft.com/office/drawing/2014/main" id="{7D43C7A7-DF59-FC43-15CE-88634380DAF5}"/>
              </a:ext>
            </a:extLst>
          </p:cNvPr>
          <p:cNvCxnSpPr>
            <a:stCxn id="34" idx="4"/>
            <a:endCxn id="41" idx="0"/>
          </p:cNvCxnSpPr>
          <p:nvPr/>
        </p:nvCxnSpPr>
        <p:spPr>
          <a:xfrm rot="16200000" flipH="1">
            <a:off x="5880716" y="1558857"/>
            <a:ext cx="207983" cy="402476"/>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sp>
        <p:nvSpPr>
          <p:cNvPr id="115" name="文本框 114">
            <a:extLst>
              <a:ext uri="{FF2B5EF4-FFF2-40B4-BE49-F238E27FC236}">
                <a16:creationId xmlns:a16="http://schemas.microsoft.com/office/drawing/2014/main" id="{7FC05C1D-2137-CA17-386A-1D6797AC33BC}"/>
              </a:ext>
            </a:extLst>
          </p:cNvPr>
          <p:cNvSpPr txBox="1"/>
          <p:nvPr/>
        </p:nvSpPr>
        <p:spPr>
          <a:xfrm>
            <a:off x="3721495" y="1397601"/>
            <a:ext cx="1111516" cy="246221"/>
          </a:xfrm>
          <a:prstGeom prst="rect">
            <a:avLst/>
          </a:prstGeom>
          <a:noFill/>
        </p:spPr>
        <p:txBody>
          <a:bodyPr wrap="square" rtlCol="0">
            <a:spAutoFit/>
          </a:bodyPr>
          <a:lstStyle/>
          <a:p>
            <a:r>
              <a:rPr lang="en-US" altLang="zh-CN" sz="1000" b="1" dirty="0">
                <a:solidFill>
                  <a:schemeClr val="bg1"/>
                </a:solidFill>
                <a:latin typeface="Arial" panose="020B0604020202020204" pitchFamily="34" charset="0"/>
                <a:ea typeface="微软雅黑" panose="020B0503020204020204" pitchFamily="34" charset="-122"/>
              </a:rPr>
              <a:t>Level 1</a:t>
            </a:r>
            <a:endParaRPr lang="zh-CN" altLang="en-US" sz="1000" b="1" dirty="0">
              <a:solidFill>
                <a:schemeClr val="bg1"/>
              </a:solidFill>
              <a:latin typeface="Arial" panose="020B0604020202020204" pitchFamily="34" charset="0"/>
              <a:ea typeface="微软雅黑" panose="020B0503020204020204" pitchFamily="34" charset="-122"/>
            </a:endParaRPr>
          </a:p>
        </p:txBody>
      </p:sp>
      <p:grpSp>
        <p:nvGrpSpPr>
          <p:cNvPr id="142" name="组合 141">
            <a:extLst>
              <a:ext uri="{FF2B5EF4-FFF2-40B4-BE49-F238E27FC236}">
                <a16:creationId xmlns:a16="http://schemas.microsoft.com/office/drawing/2014/main" id="{B1CED830-66A2-97BD-27BB-824C4CE415E2}"/>
              </a:ext>
            </a:extLst>
          </p:cNvPr>
          <p:cNvGrpSpPr/>
          <p:nvPr/>
        </p:nvGrpSpPr>
        <p:grpSpPr>
          <a:xfrm>
            <a:off x="1888190" y="792947"/>
            <a:ext cx="635003" cy="462517"/>
            <a:chOff x="2618303" y="1841679"/>
            <a:chExt cx="739175" cy="384518"/>
          </a:xfrm>
        </p:grpSpPr>
        <p:sp>
          <p:nvSpPr>
            <p:cNvPr id="143" name="等腰三角形 142">
              <a:extLst>
                <a:ext uri="{FF2B5EF4-FFF2-40B4-BE49-F238E27FC236}">
                  <a16:creationId xmlns:a16="http://schemas.microsoft.com/office/drawing/2014/main" id="{823B9FFA-3F87-2C71-A92A-3A7576ED0228}"/>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144" name="文本框 143">
              <a:extLst>
                <a:ext uri="{FF2B5EF4-FFF2-40B4-BE49-F238E27FC236}">
                  <a16:creationId xmlns:a16="http://schemas.microsoft.com/office/drawing/2014/main" id="{61AB1523-3C9B-E0A5-6C29-E6B0D2127239}"/>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P1/2</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sp>
        <p:nvSpPr>
          <p:cNvPr id="145" name="文本框 144">
            <a:extLst>
              <a:ext uri="{FF2B5EF4-FFF2-40B4-BE49-F238E27FC236}">
                <a16:creationId xmlns:a16="http://schemas.microsoft.com/office/drawing/2014/main" id="{6E030718-B158-47B6-6AA4-831B004134A7}"/>
              </a:ext>
            </a:extLst>
          </p:cNvPr>
          <p:cNvSpPr txBox="1"/>
          <p:nvPr/>
        </p:nvSpPr>
        <p:spPr>
          <a:xfrm>
            <a:off x="1710601" y="1530439"/>
            <a:ext cx="1063523" cy="461665"/>
          </a:xfrm>
          <a:prstGeom prst="rect">
            <a:avLst/>
          </a:prstGeom>
          <a:noFill/>
        </p:spPr>
        <p:txBody>
          <a:bodyPr wrap="square" rtlCol="0">
            <a:spAutoFit/>
          </a:bodyPr>
          <a:lstStyle/>
          <a:p>
            <a:r>
              <a:rPr lang="en-US" altLang="zh-CN" sz="800" dirty="0">
                <a:solidFill>
                  <a:schemeClr val="bg1"/>
                </a:solidFill>
                <a:latin typeface="Arial" panose="020B0604020202020204" pitchFamily="34" charset="0"/>
                <a:ea typeface="微软雅黑" panose="020B0503020204020204" pitchFamily="34" charset="-122"/>
              </a:rPr>
              <a:t>P1</a:t>
            </a:r>
            <a:r>
              <a:rPr lang="zh-CN" altLang="en-US" sz="800" dirty="0">
                <a:solidFill>
                  <a:schemeClr val="bg1"/>
                </a:solidFill>
                <a:latin typeface="Arial" panose="020B0604020202020204" pitchFamily="34" charset="0"/>
                <a:ea typeface="微软雅黑" panose="020B0503020204020204" pitchFamily="34" charset="-122"/>
              </a:rPr>
              <a:t>优先级为</a:t>
            </a:r>
            <a:r>
              <a:rPr lang="en-US" altLang="zh-CN" sz="800" dirty="0">
                <a:solidFill>
                  <a:schemeClr val="bg1"/>
                </a:solidFill>
                <a:latin typeface="Arial" panose="020B0604020202020204" pitchFamily="34" charset="0"/>
                <a:ea typeface="微软雅黑" panose="020B0503020204020204" pitchFamily="34" charset="-122"/>
              </a:rPr>
              <a:t>2</a:t>
            </a:r>
            <a:r>
              <a:rPr lang="zh-CN" altLang="en-US" sz="800" dirty="0">
                <a:solidFill>
                  <a:schemeClr val="bg1"/>
                </a:solidFill>
                <a:latin typeface="Arial" panose="020B0604020202020204" pitchFamily="34" charset="0"/>
                <a:ea typeface="微软雅黑" panose="020B0503020204020204" pitchFamily="34" charset="-122"/>
              </a:rPr>
              <a:t>，优先级数字越小优先级越高</a:t>
            </a:r>
          </a:p>
        </p:txBody>
      </p:sp>
      <p:graphicFrame>
        <p:nvGraphicFramePr>
          <p:cNvPr id="146" name="表格 145">
            <a:extLst>
              <a:ext uri="{FF2B5EF4-FFF2-40B4-BE49-F238E27FC236}">
                <a16:creationId xmlns:a16="http://schemas.microsoft.com/office/drawing/2014/main" id="{DCDFDA7B-5C00-C760-C431-BE6E5D4A0B06}"/>
              </a:ext>
            </a:extLst>
          </p:cNvPr>
          <p:cNvGraphicFramePr>
            <a:graphicFrameLocks noGrp="1"/>
          </p:cNvGraphicFramePr>
          <p:nvPr>
            <p:extLst>
              <p:ext uri="{D42A27DB-BD31-4B8C-83A1-F6EECF244321}">
                <p14:modId xmlns:p14="http://schemas.microsoft.com/office/powerpoint/2010/main" val="2527840250"/>
              </p:ext>
            </p:extLst>
          </p:nvPr>
        </p:nvGraphicFramePr>
        <p:xfrm>
          <a:off x="2197734" y="2642984"/>
          <a:ext cx="8993198" cy="2050035"/>
        </p:xfrm>
        <a:graphic>
          <a:graphicData uri="http://schemas.openxmlformats.org/drawingml/2006/table">
            <a:tbl>
              <a:tblPr firstRow="1">
                <a:tableStyleId>{69012ECD-51FC-41F1-AA8D-1B2483CD663E}</a:tableStyleId>
              </a:tblPr>
              <a:tblGrid>
                <a:gridCol w="1249364">
                  <a:extLst>
                    <a:ext uri="{9D8B030D-6E8A-4147-A177-3AD203B41FA5}">
                      <a16:colId xmlns:a16="http://schemas.microsoft.com/office/drawing/2014/main" val="440275212"/>
                    </a:ext>
                  </a:extLst>
                </a:gridCol>
                <a:gridCol w="314326">
                  <a:extLst>
                    <a:ext uri="{9D8B030D-6E8A-4147-A177-3AD203B41FA5}">
                      <a16:colId xmlns:a16="http://schemas.microsoft.com/office/drawing/2014/main" val="1734425430"/>
                    </a:ext>
                  </a:extLst>
                </a:gridCol>
                <a:gridCol w="1141414">
                  <a:extLst>
                    <a:ext uri="{9D8B030D-6E8A-4147-A177-3AD203B41FA5}">
                      <a16:colId xmlns:a16="http://schemas.microsoft.com/office/drawing/2014/main" val="749023830"/>
                    </a:ext>
                  </a:extLst>
                </a:gridCol>
                <a:gridCol w="323851">
                  <a:extLst>
                    <a:ext uri="{9D8B030D-6E8A-4147-A177-3AD203B41FA5}">
                      <a16:colId xmlns:a16="http://schemas.microsoft.com/office/drawing/2014/main" val="1445519153"/>
                    </a:ext>
                  </a:extLst>
                </a:gridCol>
                <a:gridCol w="1223964">
                  <a:extLst>
                    <a:ext uri="{9D8B030D-6E8A-4147-A177-3AD203B41FA5}">
                      <a16:colId xmlns:a16="http://schemas.microsoft.com/office/drawing/2014/main" val="2409092662"/>
                    </a:ext>
                  </a:extLst>
                </a:gridCol>
                <a:gridCol w="1276351">
                  <a:extLst>
                    <a:ext uri="{9D8B030D-6E8A-4147-A177-3AD203B41FA5}">
                      <a16:colId xmlns:a16="http://schemas.microsoft.com/office/drawing/2014/main" val="2115952320"/>
                    </a:ext>
                  </a:extLst>
                </a:gridCol>
                <a:gridCol w="1155701">
                  <a:extLst>
                    <a:ext uri="{9D8B030D-6E8A-4147-A177-3AD203B41FA5}">
                      <a16:colId xmlns:a16="http://schemas.microsoft.com/office/drawing/2014/main" val="3764490461"/>
                    </a:ext>
                  </a:extLst>
                </a:gridCol>
                <a:gridCol w="1254126">
                  <a:extLst>
                    <a:ext uri="{9D8B030D-6E8A-4147-A177-3AD203B41FA5}">
                      <a16:colId xmlns:a16="http://schemas.microsoft.com/office/drawing/2014/main" val="249532658"/>
                    </a:ext>
                  </a:extLst>
                </a:gridCol>
                <a:gridCol w="1054101">
                  <a:extLst>
                    <a:ext uri="{9D8B030D-6E8A-4147-A177-3AD203B41FA5}">
                      <a16:colId xmlns:a16="http://schemas.microsoft.com/office/drawing/2014/main" val="3218481998"/>
                    </a:ext>
                  </a:extLst>
                </a:gridCol>
              </a:tblGrid>
              <a:tr h="230257">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Requested Qty</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err="1">
                          <a:solidFill>
                            <a:schemeClr val="bg1"/>
                          </a:solidFill>
                          <a:effectLst/>
                          <a:latin typeface="Arial" panose="020B0604020202020204" pitchFamily="34" charset="0"/>
                          <a:ea typeface="微软雅黑" panose="020B0503020204020204" pitchFamily="34" charset="-122"/>
                        </a:rPr>
                        <a:t>alg</a:t>
                      </a:r>
                      <a:endParaRPr lang="en-US" sz="1400" b="1"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a:solidFill>
                            <a:schemeClr val="bg1"/>
                          </a:solidFill>
                          <a:effectLst/>
                          <a:latin typeface="Arial" panose="020B0604020202020204" pitchFamily="34" charset="0"/>
                          <a:ea typeface="微软雅黑" panose="020B0503020204020204" pitchFamily="34" charset="-122"/>
                        </a:rPr>
                        <a:t>Components</a:t>
                      </a:r>
                      <a:endParaRPr lang="en-US" sz="1400" b="1"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OH</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Planned Order</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Comments</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Allocated Qty</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Surplus Supply</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Net Req Qty</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2766227"/>
                  </a:ext>
                </a:extLst>
              </a:tr>
              <a:tr h="404638">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120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bg1"/>
                          </a:solidFill>
                          <a:effectLst/>
                          <a:latin typeface="Arial" panose="020B0604020202020204" pitchFamily="34" charset="0"/>
                          <a:ea typeface="微软雅黑" panose="020B0503020204020204" pitchFamily="34" charset="-122"/>
                        </a:rPr>
                        <a:t>1</a:t>
                      </a:r>
                      <a:endParaRPr lang="en-US" altLang="zh-CN"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bg1"/>
                          </a:solidFill>
                          <a:effectLst/>
                          <a:latin typeface="Arial" panose="020B0604020202020204" pitchFamily="34" charset="0"/>
                          <a:ea typeface="微软雅黑" panose="020B0503020204020204" pitchFamily="34" charset="-122"/>
                        </a:rPr>
                        <a:t>P1</a:t>
                      </a:r>
                      <a:endParaRPr lang="en-US"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50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40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i="0" u="none" strike="noStrike" dirty="0">
                          <a:solidFill>
                            <a:schemeClr val="bg1"/>
                          </a:solidFill>
                          <a:effectLst/>
                          <a:latin typeface="Arial" panose="020B0604020202020204" pitchFamily="34" charset="0"/>
                          <a:ea typeface="微软雅黑" panose="020B0503020204020204" pitchFamily="34" charset="-122"/>
                        </a:rPr>
                        <a:t>根据</a:t>
                      </a:r>
                      <a:r>
                        <a:rPr lang="en-US" altLang="zh-CN" sz="1400" b="0" i="0" u="none" strike="noStrike" dirty="0">
                          <a:solidFill>
                            <a:schemeClr val="bg1"/>
                          </a:solidFill>
                          <a:effectLst/>
                          <a:latin typeface="Arial" panose="020B0604020202020204" pitchFamily="34" charset="0"/>
                          <a:ea typeface="微软雅黑" panose="020B0503020204020204" pitchFamily="34" charset="-122"/>
                        </a:rPr>
                        <a:t>source</a:t>
                      </a:r>
                      <a:r>
                        <a:rPr lang="zh-CN" altLang="en-US" sz="1400" b="0" i="0" u="none" strike="noStrike" dirty="0">
                          <a:solidFill>
                            <a:schemeClr val="bg1"/>
                          </a:solidFill>
                          <a:effectLst/>
                          <a:latin typeface="Arial" panose="020B0604020202020204" pitchFamily="34" charset="0"/>
                          <a:ea typeface="微软雅黑" panose="020B0503020204020204" pitchFamily="34" charset="-122"/>
                        </a:rPr>
                        <a:t>规则</a:t>
                      </a:r>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50+40=90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30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472933"/>
                  </a:ext>
                </a:extLst>
              </a:tr>
              <a:tr h="404638">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120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bg1"/>
                          </a:solidFill>
                          <a:effectLst/>
                          <a:latin typeface="Arial" panose="020B0604020202020204" pitchFamily="34" charset="0"/>
                          <a:ea typeface="微软雅黑" panose="020B0503020204020204" pitchFamily="34" charset="-122"/>
                        </a:rPr>
                        <a:t>1</a:t>
                      </a:r>
                      <a:endParaRPr lang="en-US" altLang="zh-CN"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bg1"/>
                          </a:solidFill>
                          <a:effectLst/>
                          <a:latin typeface="Arial" panose="020B0604020202020204" pitchFamily="34" charset="0"/>
                          <a:ea typeface="微软雅黑" panose="020B0503020204020204" pitchFamily="34" charset="-122"/>
                        </a:rPr>
                        <a:t>P2</a:t>
                      </a:r>
                      <a:endParaRPr lang="en-US"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30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332" rtl="0" eaLnBrk="1" fontAlgn="b" latinLnBrk="0" hangingPunct="1">
                        <a:lnSpc>
                          <a:spcPct val="100000"/>
                        </a:lnSpc>
                        <a:spcBef>
                          <a:spcPts val="0"/>
                        </a:spcBef>
                        <a:spcAft>
                          <a:spcPts val="0"/>
                        </a:spcAft>
                        <a:buClrTx/>
                        <a:buSzTx/>
                        <a:buFontTx/>
                        <a:buNone/>
                        <a:tabLst/>
                        <a:defRPr/>
                      </a:pPr>
                      <a:r>
                        <a:rPr lang="zh-CN" altLang="en-US" sz="1400" b="0" i="0" u="none" strike="noStrike" dirty="0">
                          <a:solidFill>
                            <a:schemeClr val="bg1"/>
                          </a:solidFill>
                          <a:effectLst/>
                          <a:latin typeface="Arial" panose="020B0604020202020204" pitchFamily="34" charset="0"/>
                          <a:ea typeface="微软雅黑" panose="020B0503020204020204" pitchFamily="34" charset="-122"/>
                        </a:rPr>
                        <a:t>根据</a:t>
                      </a:r>
                      <a:r>
                        <a:rPr lang="en-US" altLang="zh-CN" sz="1400" b="0" i="0" u="none" strike="noStrike" dirty="0">
                          <a:solidFill>
                            <a:schemeClr val="bg1"/>
                          </a:solidFill>
                          <a:effectLst/>
                          <a:latin typeface="Arial" panose="020B0604020202020204" pitchFamily="34" charset="0"/>
                          <a:ea typeface="微软雅黑" panose="020B0503020204020204" pitchFamily="34" charset="-122"/>
                        </a:rPr>
                        <a:t>source</a:t>
                      </a:r>
                      <a:r>
                        <a:rPr lang="zh-CN" altLang="en-US" sz="1400" b="0" i="0" u="none" strike="noStrike" dirty="0">
                          <a:solidFill>
                            <a:schemeClr val="bg1"/>
                          </a:solidFill>
                          <a:effectLst/>
                          <a:latin typeface="Arial" panose="020B0604020202020204" pitchFamily="34" charset="0"/>
                          <a:ea typeface="微软雅黑" panose="020B0503020204020204" pitchFamily="34" charset="-122"/>
                        </a:rPr>
                        <a:t>规则</a:t>
                      </a:r>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30+0=30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6464701"/>
                  </a:ext>
                </a:extLst>
              </a:tr>
              <a:tr h="404638">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100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bg1"/>
                          </a:solidFill>
                          <a:effectLst/>
                          <a:latin typeface="Arial" panose="020B0604020202020204" pitchFamily="34" charset="0"/>
                          <a:ea typeface="微软雅黑" panose="020B0503020204020204" pitchFamily="34" charset="-122"/>
                        </a:rPr>
                        <a:t>2</a:t>
                      </a:r>
                      <a:endParaRPr lang="en-US" altLang="zh-CN"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bg1"/>
                          </a:solidFill>
                          <a:effectLst/>
                          <a:latin typeface="Arial" panose="020B0604020202020204" pitchFamily="34" charset="0"/>
                          <a:ea typeface="微软雅黑" panose="020B0503020204020204" pitchFamily="34" charset="-122"/>
                        </a:rPr>
                        <a:t>P1</a:t>
                      </a:r>
                      <a:endParaRPr lang="en-US"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332" rtl="0" eaLnBrk="1" fontAlgn="b" latinLnBrk="0" hangingPunct="1">
                        <a:lnSpc>
                          <a:spcPct val="100000"/>
                        </a:lnSpc>
                        <a:spcBef>
                          <a:spcPts val="0"/>
                        </a:spcBef>
                        <a:spcAft>
                          <a:spcPts val="0"/>
                        </a:spcAft>
                        <a:buClrTx/>
                        <a:buSzTx/>
                        <a:buFontTx/>
                        <a:buNone/>
                        <a:tabLst/>
                        <a:defRPr/>
                      </a:pPr>
                      <a:r>
                        <a:rPr lang="zh-CN" altLang="en-US" sz="1400" b="0" i="0" u="none" strike="noStrike" dirty="0">
                          <a:solidFill>
                            <a:schemeClr val="bg1"/>
                          </a:solidFill>
                          <a:effectLst/>
                          <a:latin typeface="Arial" panose="020B0604020202020204" pitchFamily="34" charset="0"/>
                          <a:ea typeface="微软雅黑" panose="020B0503020204020204" pitchFamily="34" charset="-122"/>
                        </a:rPr>
                        <a:t>根据</a:t>
                      </a:r>
                      <a:r>
                        <a:rPr lang="en-US" altLang="zh-CN" sz="1400" b="0" i="0" u="none" strike="noStrike" dirty="0">
                          <a:solidFill>
                            <a:schemeClr val="bg1"/>
                          </a:solidFill>
                          <a:effectLst/>
                          <a:latin typeface="Arial" panose="020B0604020202020204" pitchFamily="34" charset="0"/>
                          <a:ea typeface="微软雅黑" panose="020B0503020204020204" pitchFamily="34" charset="-122"/>
                        </a:rPr>
                        <a:t>source</a:t>
                      </a:r>
                      <a:r>
                        <a:rPr lang="zh-CN" altLang="en-US" sz="1400" b="0" i="0" u="none" strike="noStrike" dirty="0">
                          <a:solidFill>
                            <a:schemeClr val="bg1"/>
                          </a:solidFill>
                          <a:effectLst/>
                          <a:latin typeface="Arial" panose="020B0604020202020204" pitchFamily="34" charset="0"/>
                          <a:ea typeface="微软雅黑" panose="020B0503020204020204" pitchFamily="34" charset="-122"/>
                        </a:rPr>
                        <a:t>规则</a:t>
                      </a:r>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0+20=20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80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4599421"/>
                  </a:ext>
                </a:extLst>
              </a:tr>
              <a:tr h="404638">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100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bg1"/>
                          </a:solidFill>
                          <a:effectLst/>
                          <a:latin typeface="Arial" panose="020B0604020202020204" pitchFamily="34" charset="0"/>
                          <a:ea typeface="微软雅黑" panose="020B0503020204020204" pitchFamily="34" charset="-122"/>
                        </a:rPr>
                        <a:t>2</a:t>
                      </a:r>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bg1"/>
                          </a:solidFill>
                          <a:effectLst/>
                          <a:latin typeface="Arial" panose="020B0604020202020204" pitchFamily="34" charset="0"/>
                          <a:ea typeface="微软雅黑" panose="020B0503020204020204" pitchFamily="34" charset="-122"/>
                        </a:rPr>
                        <a:t>P3</a:t>
                      </a:r>
                      <a:endParaRPr lang="en-US"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80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332" rtl="0" eaLnBrk="1" fontAlgn="b" latinLnBrk="0" hangingPunct="1">
                        <a:lnSpc>
                          <a:spcPct val="100000"/>
                        </a:lnSpc>
                        <a:spcBef>
                          <a:spcPts val="0"/>
                        </a:spcBef>
                        <a:spcAft>
                          <a:spcPts val="0"/>
                        </a:spcAft>
                        <a:buClrTx/>
                        <a:buSzTx/>
                        <a:buFontTx/>
                        <a:buNone/>
                        <a:tabLst/>
                        <a:defRPr/>
                      </a:pPr>
                      <a:r>
                        <a:rPr lang="zh-CN" altLang="en-US" sz="1400" b="0" i="0" u="none" strike="noStrike" dirty="0">
                          <a:solidFill>
                            <a:schemeClr val="bg1"/>
                          </a:solidFill>
                          <a:effectLst/>
                          <a:latin typeface="Arial" panose="020B0604020202020204" pitchFamily="34" charset="0"/>
                          <a:ea typeface="微软雅黑" panose="020B0503020204020204" pitchFamily="34" charset="-122"/>
                        </a:rPr>
                        <a:t>根据</a:t>
                      </a:r>
                      <a:r>
                        <a:rPr lang="en-US" altLang="zh-CN" sz="1400" b="0" i="0" u="none" strike="noStrike" dirty="0">
                          <a:solidFill>
                            <a:schemeClr val="bg1"/>
                          </a:solidFill>
                          <a:effectLst/>
                          <a:latin typeface="Arial" panose="020B0604020202020204" pitchFamily="34" charset="0"/>
                          <a:ea typeface="微软雅黑" panose="020B0503020204020204" pitchFamily="34" charset="-122"/>
                        </a:rPr>
                        <a:t>source</a:t>
                      </a:r>
                      <a:r>
                        <a:rPr lang="zh-CN" altLang="en-US" sz="1400" b="0" i="0" u="none" strike="noStrike" dirty="0">
                          <a:solidFill>
                            <a:schemeClr val="bg1"/>
                          </a:solidFill>
                          <a:effectLst/>
                          <a:latin typeface="Arial" panose="020B0604020202020204" pitchFamily="34" charset="0"/>
                          <a:ea typeface="微软雅黑" panose="020B0503020204020204" pitchFamily="34" charset="-122"/>
                        </a:rPr>
                        <a:t>规则</a:t>
                      </a:r>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80+0=80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3034744"/>
                  </a:ext>
                </a:extLst>
              </a:tr>
            </a:tbl>
          </a:graphicData>
        </a:graphic>
      </p:graphicFrame>
      <p:sp>
        <p:nvSpPr>
          <p:cNvPr id="147" name="文本框 146">
            <a:extLst>
              <a:ext uri="{FF2B5EF4-FFF2-40B4-BE49-F238E27FC236}">
                <a16:creationId xmlns:a16="http://schemas.microsoft.com/office/drawing/2014/main" id="{7D29069E-3474-050F-9A5C-60BFB4084F05}"/>
              </a:ext>
            </a:extLst>
          </p:cNvPr>
          <p:cNvSpPr txBox="1"/>
          <p:nvPr/>
        </p:nvSpPr>
        <p:spPr>
          <a:xfrm>
            <a:off x="235041" y="2680116"/>
            <a:ext cx="1778240" cy="461665"/>
          </a:xfrm>
          <a:prstGeom prst="rect">
            <a:avLst/>
          </a:prstGeom>
          <a:noFill/>
        </p:spPr>
        <p:txBody>
          <a:bodyPr wrap="square" rtlCol="0">
            <a:spAutoFit/>
          </a:bodyPr>
          <a:lstStyle/>
          <a:p>
            <a:r>
              <a:rPr lang="zh-CN" altLang="en-US" sz="1200" dirty="0">
                <a:solidFill>
                  <a:schemeClr val="bg1"/>
                </a:solidFill>
                <a:latin typeface="Arial" panose="020B0604020202020204" pitchFamily="34" charset="0"/>
                <a:ea typeface="微软雅黑" panose="020B0503020204020204" pitchFamily="34" charset="-122"/>
              </a:rPr>
              <a:t>第一次运算的</a:t>
            </a:r>
            <a:r>
              <a:rPr lang="en-US" altLang="zh-CN" sz="1200" dirty="0">
                <a:solidFill>
                  <a:schemeClr val="bg1"/>
                </a:solidFill>
                <a:latin typeface="Arial" panose="020B0604020202020204" pitchFamily="34" charset="0"/>
                <a:ea typeface="微软雅黑" panose="020B0503020204020204" pitchFamily="34" charset="-122"/>
              </a:rPr>
              <a:t>MRP/</a:t>
            </a:r>
            <a:r>
              <a:rPr lang="zh-CN" altLang="en-US" sz="1200" dirty="0">
                <a:solidFill>
                  <a:schemeClr val="bg1"/>
                </a:solidFill>
                <a:latin typeface="Arial" panose="020B0604020202020204" pitchFamily="34" charset="0"/>
                <a:ea typeface="微软雅黑" panose="020B0503020204020204" pitchFamily="34" charset="-122"/>
              </a:rPr>
              <a:t>欠料分析</a:t>
            </a:r>
          </a:p>
        </p:txBody>
      </p:sp>
      <p:graphicFrame>
        <p:nvGraphicFramePr>
          <p:cNvPr id="148" name="表格 147">
            <a:extLst>
              <a:ext uri="{FF2B5EF4-FFF2-40B4-BE49-F238E27FC236}">
                <a16:creationId xmlns:a16="http://schemas.microsoft.com/office/drawing/2014/main" id="{5771E082-3CC4-31A9-355A-0E66D27DAF5E}"/>
              </a:ext>
            </a:extLst>
          </p:cNvPr>
          <p:cNvGraphicFramePr>
            <a:graphicFrameLocks noGrp="1"/>
          </p:cNvGraphicFramePr>
          <p:nvPr>
            <p:extLst>
              <p:ext uri="{D42A27DB-BD31-4B8C-83A1-F6EECF244321}">
                <p14:modId xmlns:p14="http://schemas.microsoft.com/office/powerpoint/2010/main" val="1353791285"/>
              </p:ext>
            </p:extLst>
          </p:nvPr>
        </p:nvGraphicFramePr>
        <p:xfrm>
          <a:off x="2226735" y="4752703"/>
          <a:ext cx="8666568" cy="1434947"/>
        </p:xfrm>
        <a:graphic>
          <a:graphicData uri="http://schemas.openxmlformats.org/drawingml/2006/table">
            <a:tbl>
              <a:tblPr firstRow="1">
                <a:tableStyleId>{69012ECD-51FC-41F1-AA8D-1B2483CD663E}</a:tableStyleId>
              </a:tblPr>
              <a:tblGrid>
                <a:gridCol w="1291937">
                  <a:extLst>
                    <a:ext uri="{9D8B030D-6E8A-4147-A177-3AD203B41FA5}">
                      <a16:colId xmlns:a16="http://schemas.microsoft.com/office/drawing/2014/main" val="440275212"/>
                    </a:ext>
                  </a:extLst>
                </a:gridCol>
                <a:gridCol w="277427">
                  <a:extLst>
                    <a:ext uri="{9D8B030D-6E8A-4147-A177-3AD203B41FA5}">
                      <a16:colId xmlns:a16="http://schemas.microsoft.com/office/drawing/2014/main" val="1734425430"/>
                    </a:ext>
                  </a:extLst>
                </a:gridCol>
                <a:gridCol w="1180308">
                  <a:extLst>
                    <a:ext uri="{9D8B030D-6E8A-4147-A177-3AD203B41FA5}">
                      <a16:colId xmlns:a16="http://schemas.microsoft.com/office/drawing/2014/main" val="749023830"/>
                    </a:ext>
                  </a:extLst>
                </a:gridCol>
                <a:gridCol w="285834">
                  <a:extLst>
                    <a:ext uri="{9D8B030D-6E8A-4147-A177-3AD203B41FA5}">
                      <a16:colId xmlns:a16="http://schemas.microsoft.com/office/drawing/2014/main" val="1445519153"/>
                    </a:ext>
                  </a:extLst>
                </a:gridCol>
                <a:gridCol w="275789">
                  <a:extLst>
                    <a:ext uri="{9D8B030D-6E8A-4147-A177-3AD203B41FA5}">
                      <a16:colId xmlns:a16="http://schemas.microsoft.com/office/drawing/2014/main" val="2409092662"/>
                    </a:ext>
                  </a:extLst>
                </a:gridCol>
                <a:gridCol w="1265671">
                  <a:extLst>
                    <a:ext uri="{9D8B030D-6E8A-4147-A177-3AD203B41FA5}">
                      <a16:colId xmlns:a16="http://schemas.microsoft.com/office/drawing/2014/main" val="23389885"/>
                    </a:ext>
                  </a:extLst>
                </a:gridCol>
                <a:gridCol w="1126520">
                  <a:extLst>
                    <a:ext uri="{9D8B030D-6E8A-4147-A177-3AD203B41FA5}">
                      <a16:colId xmlns:a16="http://schemas.microsoft.com/office/drawing/2014/main" val="2115952320"/>
                    </a:ext>
                  </a:extLst>
                </a:gridCol>
                <a:gridCol w="1195082">
                  <a:extLst>
                    <a:ext uri="{9D8B030D-6E8A-4147-A177-3AD203B41FA5}">
                      <a16:colId xmlns:a16="http://schemas.microsoft.com/office/drawing/2014/main" val="3764490461"/>
                    </a:ext>
                  </a:extLst>
                </a:gridCol>
                <a:gridCol w="677980">
                  <a:extLst>
                    <a:ext uri="{9D8B030D-6E8A-4147-A177-3AD203B41FA5}">
                      <a16:colId xmlns:a16="http://schemas.microsoft.com/office/drawing/2014/main" val="407419544"/>
                    </a:ext>
                  </a:extLst>
                </a:gridCol>
                <a:gridCol w="1090020">
                  <a:extLst>
                    <a:ext uri="{9D8B030D-6E8A-4147-A177-3AD203B41FA5}">
                      <a16:colId xmlns:a16="http://schemas.microsoft.com/office/drawing/2014/main" val="1102436921"/>
                    </a:ext>
                  </a:extLst>
                </a:gridCol>
              </a:tblGrid>
              <a:tr h="264317">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Requested Qty</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err="1">
                          <a:solidFill>
                            <a:schemeClr val="bg1"/>
                          </a:solidFill>
                          <a:effectLst/>
                          <a:latin typeface="Arial" panose="020B0604020202020204" pitchFamily="34" charset="0"/>
                          <a:ea typeface="微软雅黑" panose="020B0503020204020204" pitchFamily="34" charset="-122"/>
                        </a:rPr>
                        <a:t>alg</a:t>
                      </a:r>
                      <a:endParaRPr lang="en-US" sz="1400" b="1"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a:solidFill>
                            <a:schemeClr val="bg1"/>
                          </a:solidFill>
                          <a:effectLst/>
                          <a:latin typeface="Arial" panose="020B0604020202020204" pitchFamily="34" charset="0"/>
                          <a:ea typeface="微软雅黑" panose="020B0503020204020204" pitchFamily="34" charset="-122"/>
                        </a:rPr>
                        <a:t>Components</a:t>
                      </a:r>
                      <a:endParaRPr lang="en-US" sz="1400" b="1"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OH</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SR</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Planned Order</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Comments</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Allocated Qty</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Surplus</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bg1"/>
                          </a:solidFill>
                          <a:effectLst/>
                          <a:latin typeface="Arial" panose="020B0604020202020204" pitchFamily="34" charset="0"/>
                          <a:ea typeface="微软雅黑" panose="020B0503020204020204" pitchFamily="34" charset="-122"/>
                        </a:rPr>
                        <a:t>Net Req Qty</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2766227"/>
                  </a:ext>
                </a:extLst>
              </a:tr>
              <a:tr h="279444">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120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bg1"/>
                          </a:solidFill>
                          <a:effectLst/>
                          <a:latin typeface="Arial" panose="020B0604020202020204" pitchFamily="34" charset="0"/>
                          <a:ea typeface="微软雅黑" panose="020B0503020204020204" pitchFamily="34" charset="-122"/>
                        </a:rPr>
                        <a:t>1</a:t>
                      </a:r>
                      <a:endParaRPr lang="en-US" altLang="zh-CN"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bg1"/>
                          </a:solidFill>
                          <a:effectLst/>
                          <a:latin typeface="Arial" panose="020B0604020202020204" pitchFamily="34" charset="0"/>
                          <a:ea typeface="微软雅黑" panose="020B0503020204020204" pitchFamily="34" charset="-122"/>
                        </a:rPr>
                        <a:t>P1</a:t>
                      </a:r>
                      <a:endParaRPr lang="en-US"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50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60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i="0" u="none" strike="noStrike" dirty="0">
                          <a:solidFill>
                            <a:schemeClr val="bg1"/>
                          </a:solidFill>
                          <a:effectLst/>
                          <a:latin typeface="Arial" panose="020B0604020202020204" pitchFamily="34" charset="0"/>
                          <a:ea typeface="微软雅黑" panose="020B0503020204020204" pitchFamily="34" charset="-122"/>
                        </a:rPr>
                        <a:t>根据优先级</a:t>
                      </a:r>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50+60+0=110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10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472933"/>
                  </a:ext>
                </a:extLst>
              </a:tr>
              <a:tr h="332298">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120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bg1"/>
                          </a:solidFill>
                          <a:effectLst/>
                          <a:latin typeface="Arial" panose="020B0604020202020204" pitchFamily="34" charset="0"/>
                          <a:ea typeface="微软雅黑" panose="020B0503020204020204" pitchFamily="34" charset="-122"/>
                        </a:rPr>
                        <a:t>1</a:t>
                      </a:r>
                      <a:endParaRPr lang="en-US" altLang="zh-CN"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bg1"/>
                          </a:solidFill>
                          <a:effectLst/>
                          <a:latin typeface="Arial" panose="020B0604020202020204" pitchFamily="34" charset="0"/>
                          <a:ea typeface="微软雅黑" panose="020B0503020204020204" pitchFamily="34" charset="-122"/>
                        </a:rPr>
                        <a:t>P2</a:t>
                      </a:r>
                      <a:endParaRPr lang="en-US"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30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332" rtl="0" eaLnBrk="1" fontAlgn="b" latinLnBrk="0" hangingPunct="1">
                        <a:lnSpc>
                          <a:spcPct val="100000"/>
                        </a:lnSpc>
                        <a:spcBef>
                          <a:spcPts val="0"/>
                        </a:spcBef>
                        <a:spcAft>
                          <a:spcPts val="0"/>
                        </a:spcAft>
                        <a:buClrTx/>
                        <a:buSzTx/>
                        <a:buFontTx/>
                        <a:buNone/>
                        <a:tabLst/>
                        <a:defRPr/>
                      </a:pPr>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332" rtl="0" eaLnBrk="1" fontAlgn="b" latinLnBrk="0" hangingPunct="1">
                        <a:lnSpc>
                          <a:spcPct val="100000"/>
                        </a:lnSpc>
                        <a:spcBef>
                          <a:spcPts val="0"/>
                        </a:spcBef>
                        <a:spcAft>
                          <a:spcPts val="0"/>
                        </a:spcAft>
                        <a:buClrTx/>
                        <a:buSzTx/>
                        <a:buFontTx/>
                        <a:buNone/>
                        <a:tabLst/>
                        <a:defRPr/>
                      </a:pPr>
                      <a:r>
                        <a:rPr lang="zh-CN" altLang="en-US" sz="1400" b="0" i="0" u="none" strike="noStrike" dirty="0">
                          <a:solidFill>
                            <a:schemeClr val="bg1"/>
                          </a:solidFill>
                          <a:effectLst/>
                          <a:latin typeface="Arial" panose="020B0604020202020204" pitchFamily="34" charset="0"/>
                          <a:ea typeface="微软雅黑" panose="020B0503020204020204" pitchFamily="34" charset="-122"/>
                        </a:rPr>
                        <a:t>根据优先级</a:t>
                      </a:r>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10+0=10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6464701"/>
                  </a:ext>
                </a:extLst>
              </a:tr>
              <a:tr h="279444">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100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bg1"/>
                          </a:solidFill>
                          <a:effectLst/>
                          <a:latin typeface="Arial" panose="020B0604020202020204" pitchFamily="34" charset="0"/>
                          <a:ea typeface="微软雅黑" panose="020B0503020204020204" pitchFamily="34" charset="-122"/>
                        </a:rPr>
                        <a:t>2</a:t>
                      </a:r>
                      <a:endParaRPr lang="en-US" altLang="zh-CN"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bg1"/>
                          </a:solidFill>
                          <a:effectLst/>
                          <a:latin typeface="Arial" panose="020B0604020202020204" pitchFamily="34" charset="0"/>
                          <a:ea typeface="微软雅黑" panose="020B0503020204020204" pitchFamily="34" charset="-122"/>
                        </a:rPr>
                        <a:t>P1</a:t>
                      </a:r>
                      <a:endParaRPr lang="en-US"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332" rtl="0" eaLnBrk="1" fontAlgn="b" latinLnBrk="0" hangingPunct="1">
                        <a:lnSpc>
                          <a:spcPct val="100000"/>
                        </a:lnSpc>
                        <a:spcBef>
                          <a:spcPts val="0"/>
                        </a:spcBef>
                        <a:spcAft>
                          <a:spcPts val="0"/>
                        </a:spcAft>
                        <a:buClrTx/>
                        <a:buSzTx/>
                        <a:buFontTx/>
                        <a:buNone/>
                        <a:tabLst/>
                        <a:defRPr/>
                      </a:pPr>
                      <a:r>
                        <a:rPr lang="en-US" altLang="zh-CN" sz="1400" b="0" i="0" u="none" strike="noStrike" dirty="0">
                          <a:solidFill>
                            <a:schemeClr val="bg1"/>
                          </a:solidFill>
                          <a:effectLst/>
                          <a:latin typeface="Arial" panose="020B0604020202020204" pitchFamily="34" charset="0"/>
                          <a:ea typeface="微软雅黑" panose="020B0503020204020204" pitchFamily="34" charset="-122"/>
                        </a:rPr>
                        <a:t>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332" rtl="0" eaLnBrk="1" fontAlgn="b" latinLnBrk="0" hangingPunct="1">
                        <a:lnSpc>
                          <a:spcPct val="100000"/>
                        </a:lnSpc>
                        <a:spcBef>
                          <a:spcPts val="0"/>
                        </a:spcBef>
                        <a:spcAft>
                          <a:spcPts val="0"/>
                        </a:spcAft>
                        <a:buClrTx/>
                        <a:buSzTx/>
                        <a:buFontTx/>
                        <a:buNone/>
                        <a:tabLst/>
                        <a:defRPr/>
                      </a:pPr>
                      <a:r>
                        <a:rPr lang="zh-CN" altLang="en-US" sz="1400" b="0" i="0" u="none" strike="noStrike" dirty="0">
                          <a:solidFill>
                            <a:schemeClr val="bg1"/>
                          </a:solidFill>
                          <a:effectLst/>
                          <a:latin typeface="Arial" panose="020B0604020202020204" pitchFamily="34" charset="0"/>
                          <a:ea typeface="微软雅黑" panose="020B0503020204020204" pitchFamily="34" charset="-122"/>
                        </a:rPr>
                        <a:t>根据优先级</a:t>
                      </a:r>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0+20=20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80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4599421"/>
                  </a:ext>
                </a:extLst>
              </a:tr>
              <a:tr h="279444">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100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bg1"/>
                          </a:solidFill>
                          <a:effectLst/>
                          <a:latin typeface="Arial" panose="020B0604020202020204" pitchFamily="34" charset="0"/>
                          <a:ea typeface="微软雅黑" panose="020B0503020204020204" pitchFamily="34" charset="-122"/>
                        </a:rPr>
                        <a:t>2</a:t>
                      </a:r>
                      <a:endParaRPr lang="en-US" altLang="zh-CN"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bg1"/>
                          </a:solidFill>
                          <a:effectLst/>
                          <a:latin typeface="Arial" panose="020B0604020202020204" pitchFamily="34" charset="0"/>
                          <a:ea typeface="微软雅黑" panose="020B0503020204020204" pitchFamily="34" charset="-122"/>
                        </a:rPr>
                        <a:t>P3</a:t>
                      </a:r>
                      <a:endParaRPr lang="en-US" sz="1400" b="0" i="0" u="none" strike="noStrike">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80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i="0" u="none" strike="noStrike" dirty="0">
                          <a:solidFill>
                            <a:schemeClr val="bg1"/>
                          </a:solidFill>
                          <a:effectLst/>
                          <a:latin typeface="Arial" panose="020B0604020202020204" pitchFamily="34" charset="0"/>
                          <a:ea typeface="微软雅黑" panose="020B0503020204020204" pitchFamily="34" charset="-122"/>
                        </a:rPr>
                        <a:t>根据优先级</a:t>
                      </a:r>
                      <a:endParaRPr lang="en-US" altLang="zh-CN" sz="1400" b="0" i="0" u="none" strike="noStrike" dirty="0">
                        <a:solidFill>
                          <a:schemeClr val="bg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80+0=80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bg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3034744"/>
                  </a:ext>
                </a:extLst>
              </a:tr>
            </a:tbl>
          </a:graphicData>
        </a:graphic>
      </p:graphicFrame>
      <p:sp>
        <p:nvSpPr>
          <p:cNvPr id="149" name="文本框 148">
            <a:extLst>
              <a:ext uri="{FF2B5EF4-FFF2-40B4-BE49-F238E27FC236}">
                <a16:creationId xmlns:a16="http://schemas.microsoft.com/office/drawing/2014/main" id="{C650515F-B7A3-63AA-17D0-CD4C27593435}"/>
              </a:ext>
            </a:extLst>
          </p:cNvPr>
          <p:cNvSpPr txBox="1"/>
          <p:nvPr/>
        </p:nvSpPr>
        <p:spPr>
          <a:xfrm>
            <a:off x="235041" y="4695531"/>
            <a:ext cx="1778240" cy="461665"/>
          </a:xfrm>
          <a:prstGeom prst="rect">
            <a:avLst/>
          </a:prstGeom>
          <a:noFill/>
        </p:spPr>
        <p:txBody>
          <a:bodyPr wrap="square" rtlCol="0">
            <a:spAutoFit/>
          </a:bodyPr>
          <a:lstStyle/>
          <a:p>
            <a:r>
              <a:rPr lang="zh-CN" altLang="en-US" sz="1200" dirty="0">
                <a:solidFill>
                  <a:schemeClr val="bg1"/>
                </a:solidFill>
                <a:latin typeface="Arial" panose="020B0604020202020204" pitchFamily="34" charset="0"/>
                <a:ea typeface="微软雅黑" panose="020B0503020204020204" pitchFamily="34" charset="-122"/>
              </a:rPr>
              <a:t>第二次运算的</a:t>
            </a:r>
            <a:r>
              <a:rPr lang="en-US" altLang="zh-CN" sz="1200" dirty="0">
                <a:solidFill>
                  <a:schemeClr val="bg1"/>
                </a:solidFill>
                <a:latin typeface="Arial" panose="020B0604020202020204" pitchFamily="34" charset="0"/>
                <a:ea typeface="微软雅黑" panose="020B0503020204020204" pitchFamily="34" charset="-122"/>
              </a:rPr>
              <a:t>MRP/</a:t>
            </a:r>
            <a:r>
              <a:rPr lang="zh-CN" altLang="en-US" sz="1200" dirty="0">
                <a:solidFill>
                  <a:schemeClr val="bg1"/>
                </a:solidFill>
                <a:latin typeface="Arial" panose="020B0604020202020204" pitchFamily="34" charset="0"/>
                <a:ea typeface="微软雅黑" panose="020B0503020204020204" pitchFamily="34" charset="-122"/>
              </a:rPr>
              <a:t>欠料分析</a:t>
            </a:r>
          </a:p>
        </p:txBody>
      </p:sp>
      <p:sp>
        <p:nvSpPr>
          <p:cNvPr id="151" name="椭圆 150">
            <a:extLst>
              <a:ext uri="{FF2B5EF4-FFF2-40B4-BE49-F238E27FC236}">
                <a16:creationId xmlns:a16="http://schemas.microsoft.com/office/drawing/2014/main" id="{94D505A8-346D-33CE-51F9-0380ACB57BB1}"/>
              </a:ext>
            </a:extLst>
          </p:cNvPr>
          <p:cNvSpPr/>
          <p:nvPr/>
        </p:nvSpPr>
        <p:spPr>
          <a:xfrm>
            <a:off x="8828978" y="5326065"/>
            <a:ext cx="772213" cy="313494"/>
          </a:xfrm>
          <a:prstGeom prst="ellipse">
            <a:avLst/>
          </a:prstGeom>
          <a:noFill/>
          <a:ln/>
        </p:spPr>
        <p:style>
          <a:lnRef idx="2">
            <a:schemeClr val="accent5"/>
          </a:lnRef>
          <a:fillRef idx="1">
            <a:schemeClr val="lt1"/>
          </a:fillRef>
          <a:effectRef idx="0">
            <a:schemeClr val="accent5"/>
          </a:effectRef>
          <a:fontRef idx="minor">
            <a:schemeClr val="dk1"/>
          </a:fontRef>
        </p:style>
        <p:txBody>
          <a:bodyPr rtlCol="0" anchor="ctr"/>
          <a:lstStyle/>
          <a:p>
            <a:pPr algn="ctr"/>
            <a:endParaRPr lang="zh-CN" altLang="en-US" sz="1600" b="1" dirty="0"/>
          </a:p>
        </p:txBody>
      </p:sp>
      <p:sp>
        <p:nvSpPr>
          <p:cNvPr id="152" name="椭圆 151">
            <a:extLst>
              <a:ext uri="{FF2B5EF4-FFF2-40B4-BE49-F238E27FC236}">
                <a16:creationId xmlns:a16="http://schemas.microsoft.com/office/drawing/2014/main" id="{9A40EB88-3AA9-4DAD-4B3D-4CF3C96C1520}"/>
              </a:ext>
            </a:extLst>
          </p:cNvPr>
          <p:cNvSpPr/>
          <p:nvPr/>
        </p:nvSpPr>
        <p:spPr>
          <a:xfrm>
            <a:off x="5292722" y="5639559"/>
            <a:ext cx="772213" cy="313494"/>
          </a:xfrm>
          <a:prstGeom prst="ellipse">
            <a:avLst/>
          </a:prstGeom>
          <a:noFill/>
          <a:ln/>
        </p:spPr>
        <p:style>
          <a:lnRef idx="2">
            <a:schemeClr val="accent5"/>
          </a:lnRef>
          <a:fillRef idx="1">
            <a:schemeClr val="lt1"/>
          </a:fillRef>
          <a:effectRef idx="0">
            <a:schemeClr val="accent5"/>
          </a:effectRef>
          <a:fontRef idx="minor">
            <a:schemeClr val="dk1"/>
          </a:fontRef>
        </p:style>
        <p:txBody>
          <a:bodyPr rtlCol="0" anchor="ctr"/>
          <a:lstStyle/>
          <a:p>
            <a:pPr algn="ctr"/>
            <a:endParaRPr lang="zh-CN" altLang="en-US" sz="1600" b="1" dirty="0"/>
          </a:p>
        </p:txBody>
      </p:sp>
      <p:sp>
        <p:nvSpPr>
          <p:cNvPr id="153" name="文本框 152">
            <a:extLst>
              <a:ext uri="{FF2B5EF4-FFF2-40B4-BE49-F238E27FC236}">
                <a16:creationId xmlns:a16="http://schemas.microsoft.com/office/drawing/2014/main" id="{2F13CE36-3652-EDAD-4E05-619EFFF3A6FD}"/>
              </a:ext>
            </a:extLst>
          </p:cNvPr>
          <p:cNvSpPr txBox="1"/>
          <p:nvPr/>
        </p:nvSpPr>
        <p:spPr>
          <a:xfrm>
            <a:off x="4720062" y="6361333"/>
            <a:ext cx="3695271" cy="369332"/>
          </a:xfrm>
          <a:prstGeom prst="rect">
            <a:avLst/>
          </a:prstGeom>
          <a:noFill/>
        </p:spPr>
        <p:txBody>
          <a:bodyPr wrap="square" rtlCol="0">
            <a:spAutoFit/>
          </a:bodyPr>
          <a:lstStyle/>
          <a:p>
            <a:r>
              <a:rPr lang="zh-CN" altLang="en-US" b="1" dirty="0">
                <a:solidFill>
                  <a:schemeClr val="bg1"/>
                </a:solidFill>
                <a:latin typeface="Arial" panose="020B0604020202020204" pitchFamily="34" charset="0"/>
                <a:ea typeface="微软雅黑" panose="020B0503020204020204" pitchFamily="34" charset="-122"/>
              </a:rPr>
              <a:t>用偏导致过剩和短缺</a:t>
            </a:r>
          </a:p>
        </p:txBody>
      </p:sp>
      <p:sp>
        <p:nvSpPr>
          <p:cNvPr id="159" name="椭圆 158">
            <a:extLst>
              <a:ext uri="{FF2B5EF4-FFF2-40B4-BE49-F238E27FC236}">
                <a16:creationId xmlns:a16="http://schemas.microsoft.com/office/drawing/2014/main" id="{D541FF5F-A984-722E-D7EF-C4F60AEA337D}"/>
              </a:ext>
            </a:extLst>
          </p:cNvPr>
          <p:cNvSpPr/>
          <p:nvPr/>
        </p:nvSpPr>
        <p:spPr>
          <a:xfrm>
            <a:off x="5492994" y="1369656"/>
            <a:ext cx="635002" cy="285792"/>
          </a:xfrm>
          <a:prstGeom prst="ellipse">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800" b="1" dirty="0" err="1">
                <a:latin typeface="Arial" panose="020B0604020202020204" pitchFamily="34" charset="0"/>
                <a:ea typeface="微软雅黑" panose="020B0503020204020204" pitchFamily="34" charset="-122"/>
              </a:rPr>
              <a:t>alg</a:t>
            </a:r>
            <a:r>
              <a:rPr lang="en-US" altLang="zh-CN" sz="800" b="1" dirty="0">
                <a:latin typeface="Arial" panose="020B0604020202020204" pitchFamily="34" charset="0"/>
                <a:ea typeface="微软雅黑" panose="020B0503020204020204" pitchFamily="34" charset="-122"/>
              </a:rPr>
              <a:t> 1</a:t>
            </a:r>
            <a:endParaRPr lang="zh-CN" altLang="en-US" sz="800" b="1"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356755694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4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4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152"/>
                                        </p:tgtEl>
                                        <p:attrNameLst>
                                          <p:attrName>style.visibility</p:attrName>
                                        </p:attrNameLst>
                                      </p:cBhvr>
                                      <p:to>
                                        <p:strVal val="visible"/>
                                      </p:to>
                                    </p:set>
                                    <p:animEffect transition="in" filter="fade">
                                      <p:cBhvr>
                                        <p:cTn id="19" dur="500"/>
                                        <p:tgtEl>
                                          <p:spTgt spid="152"/>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151"/>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7" grpId="0"/>
      <p:bldP spid="149" grpId="0"/>
      <p:bldP spid="151" grpId="0" animBg="1"/>
      <p:bldP spid="152" grpId="0" animBg="1"/>
      <p:bldP spid="153"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12AAD9-3739-38BC-8D41-2848593E57D2}"/>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1A37F678-5663-01B0-72D8-7F89FEB58367}"/>
              </a:ext>
            </a:extLst>
          </p:cNvPr>
          <p:cNvSpPr>
            <a:spLocks noGrp="1"/>
          </p:cNvSpPr>
          <p:nvPr>
            <p:ph type="title"/>
          </p:nvPr>
        </p:nvSpPr>
        <p:spPr/>
        <p:txBody>
          <a:bodyPr/>
          <a:lstStyle/>
          <a:p>
            <a:r>
              <a:rPr lang="zh-CN" altLang="en-US" dirty="0">
                <a:solidFill>
                  <a:schemeClr val="bg1"/>
                </a:solidFill>
                <a:latin typeface="Arial" panose="020B0604020202020204" pitchFamily="34" charset="0"/>
                <a:ea typeface="微软雅黑" panose="020B0503020204020204" pitchFamily="34" charset="-122"/>
              </a:rPr>
              <a:t>不完全替代 </a:t>
            </a:r>
            <a:r>
              <a:rPr lang="en-US" altLang="zh-CN" dirty="0">
                <a:solidFill>
                  <a:schemeClr val="bg1"/>
                </a:solidFill>
                <a:latin typeface="Arial" panose="020B0604020202020204" pitchFamily="34" charset="0"/>
                <a:ea typeface="微软雅黑" panose="020B0503020204020204" pitchFamily="34" charset="-122"/>
              </a:rPr>
              <a:t>– </a:t>
            </a:r>
            <a:r>
              <a:rPr lang="zh-CN" altLang="en-US" dirty="0">
                <a:solidFill>
                  <a:schemeClr val="bg1"/>
                </a:solidFill>
                <a:latin typeface="Arial" panose="020B0604020202020204" pitchFamily="34" charset="0"/>
                <a:ea typeface="微软雅黑" panose="020B0503020204020204" pitchFamily="34" charset="-122"/>
              </a:rPr>
              <a:t>分析</a:t>
            </a:r>
          </a:p>
        </p:txBody>
      </p:sp>
      <p:grpSp>
        <p:nvGrpSpPr>
          <p:cNvPr id="19" name="组合 18">
            <a:extLst>
              <a:ext uri="{FF2B5EF4-FFF2-40B4-BE49-F238E27FC236}">
                <a16:creationId xmlns:a16="http://schemas.microsoft.com/office/drawing/2014/main" id="{4D6A567A-C90E-726F-FD83-ACCE797B87EA}"/>
              </a:ext>
            </a:extLst>
          </p:cNvPr>
          <p:cNvGrpSpPr/>
          <p:nvPr/>
        </p:nvGrpSpPr>
        <p:grpSpPr>
          <a:xfrm>
            <a:off x="4774716" y="1031579"/>
            <a:ext cx="2008702" cy="1493749"/>
            <a:chOff x="4774716" y="1031579"/>
            <a:chExt cx="2008702" cy="1493749"/>
          </a:xfrm>
        </p:grpSpPr>
        <p:sp>
          <p:nvSpPr>
            <p:cNvPr id="66" name="矩形 65">
              <a:extLst>
                <a:ext uri="{FF2B5EF4-FFF2-40B4-BE49-F238E27FC236}">
                  <a16:creationId xmlns:a16="http://schemas.microsoft.com/office/drawing/2014/main" id="{188E0DE8-4F57-CA7C-D0D9-A8689C20A880}"/>
                </a:ext>
              </a:extLst>
            </p:cNvPr>
            <p:cNvSpPr/>
            <p:nvPr/>
          </p:nvSpPr>
          <p:spPr>
            <a:xfrm>
              <a:off x="4774716" y="1035718"/>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a:ln>
                    <a:noFill/>
                  </a:ln>
                  <a:solidFill>
                    <a:schemeClr val="bg1"/>
                  </a:solidFill>
                  <a:effectLst/>
                  <a:uLnTx/>
                  <a:uFillTx/>
                  <a:latin typeface="Arial" panose="020B0604020202020204" pitchFamily="34" charset="0"/>
                  <a:ea typeface="微软雅黑" panose="020B0503020204020204" pitchFamily="34" charset="-122"/>
                  <a:cs typeface="+mn-cs"/>
                </a:rPr>
                <a:t>FG11</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grpSp>
          <p:nvGrpSpPr>
            <p:cNvPr id="67" name="组合 66">
              <a:extLst>
                <a:ext uri="{FF2B5EF4-FFF2-40B4-BE49-F238E27FC236}">
                  <a16:creationId xmlns:a16="http://schemas.microsoft.com/office/drawing/2014/main" id="{EF0A4CF8-2C61-181D-1A14-1AC6EA69E5BE}"/>
                </a:ext>
              </a:extLst>
            </p:cNvPr>
            <p:cNvGrpSpPr/>
            <p:nvPr/>
          </p:nvGrpSpPr>
          <p:grpSpPr>
            <a:xfrm>
              <a:off x="4985239" y="2062811"/>
              <a:ext cx="635003" cy="462517"/>
              <a:chOff x="2618303" y="1841679"/>
              <a:chExt cx="739175" cy="384518"/>
            </a:xfrm>
          </p:grpSpPr>
          <p:sp>
            <p:nvSpPr>
              <p:cNvPr id="68" name="等腰三角形 67">
                <a:extLst>
                  <a:ext uri="{FF2B5EF4-FFF2-40B4-BE49-F238E27FC236}">
                    <a16:creationId xmlns:a16="http://schemas.microsoft.com/office/drawing/2014/main" id="{A427539E-A72A-DC52-6623-0487CE2BEDA5}"/>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69" name="文本框 68">
                <a:extLst>
                  <a:ext uri="{FF2B5EF4-FFF2-40B4-BE49-F238E27FC236}">
                    <a16:creationId xmlns:a16="http://schemas.microsoft.com/office/drawing/2014/main" id="{F2285932-BA0C-5427-6BE0-93E457645C6A}"/>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a:t>
                </a:r>
                <a:r>
                  <a:rPr lang="en-US" altLang="zh-CN" sz="800" b="1" kern="0" dirty="0">
                    <a:solidFill>
                      <a:schemeClr val="bg1"/>
                    </a:solidFill>
                    <a:latin typeface="Arial" panose="020B0604020202020204" pitchFamily="34" charset="0"/>
                    <a:ea typeface="微软雅黑" panose="020B0503020204020204" pitchFamily="34" charset="-122"/>
                  </a:rPr>
                  <a:t>3</a:t>
                </a: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/1</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sp>
          <p:nvSpPr>
            <p:cNvPr id="70" name="椭圆 69">
              <a:extLst>
                <a:ext uri="{FF2B5EF4-FFF2-40B4-BE49-F238E27FC236}">
                  <a16:creationId xmlns:a16="http://schemas.microsoft.com/office/drawing/2014/main" id="{B3223084-DFBC-F744-3BD5-10CE18E356DA}"/>
                </a:ext>
              </a:extLst>
            </p:cNvPr>
            <p:cNvSpPr/>
            <p:nvPr/>
          </p:nvSpPr>
          <p:spPr>
            <a:xfrm>
              <a:off x="5457139" y="1621403"/>
              <a:ext cx="635002" cy="285792"/>
            </a:xfrm>
            <a:prstGeom prst="ellipse">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800" b="1" dirty="0" err="1">
                  <a:solidFill>
                    <a:schemeClr val="bg1"/>
                  </a:solidFill>
                  <a:latin typeface="Arial" panose="020B0604020202020204" pitchFamily="34" charset="0"/>
                  <a:ea typeface="微软雅黑" panose="020B0503020204020204" pitchFamily="34" charset="-122"/>
                </a:rPr>
                <a:t>alg</a:t>
              </a:r>
              <a:r>
                <a:rPr lang="en-US" altLang="zh-CN" sz="800" b="1" dirty="0">
                  <a:solidFill>
                    <a:schemeClr val="bg1"/>
                  </a:solidFill>
                  <a:latin typeface="Arial" panose="020B0604020202020204" pitchFamily="34" charset="0"/>
                  <a:ea typeface="微软雅黑" panose="020B0503020204020204" pitchFamily="34" charset="-122"/>
                </a:rPr>
                <a:t> 2</a:t>
              </a:r>
              <a:endParaRPr lang="zh-CN" altLang="en-US" sz="800" b="1" dirty="0">
                <a:solidFill>
                  <a:schemeClr val="bg1"/>
                </a:solidFill>
                <a:latin typeface="Arial" panose="020B0604020202020204" pitchFamily="34" charset="0"/>
                <a:ea typeface="微软雅黑" panose="020B0503020204020204" pitchFamily="34" charset="-122"/>
              </a:endParaRPr>
            </a:p>
          </p:txBody>
        </p:sp>
        <p:sp>
          <p:nvSpPr>
            <p:cNvPr id="71" name="矩形 70">
              <a:extLst>
                <a:ext uri="{FF2B5EF4-FFF2-40B4-BE49-F238E27FC236}">
                  <a16:creationId xmlns:a16="http://schemas.microsoft.com/office/drawing/2014/main" id="{240F0262-48DC-0F1E-2565-FAD554042977}"/>
                </a:ext>
              </a:extLst>
            </p:cNvPr>
            <p:cNvSpPr/>
            <p:nvPr/>
          </p:nvSpPr>
          <p:spPr>
            <a:xfrm>
              <a:off x="5522265" y="1031579"/>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a:ln>
                    <a:noFill/>
                  </a:ln>
                  <a:solidFill>
                    <a:schemeClr val="bg1"/>
                  </a:solidFill>
                  <a:effectLst/>
                  <a:uLnTx/>
                  <a:uFillTx/>
                  <a:latin typeface="Arial" panose="020B0604020202020204" pitchFamily="34" charset="0"/>
                  <a:ea typeface="微软雅黑" panose="020B0503020204020204" pitchFamily="34" charset="-122"/>
                  <a:cs typeface="+mn-cs"/>
                </a:rPr>
                <a:t>FG1</a:t>
              </a:r>
              <a:r>
                <a:rPr lang="en-US" altLang="zh-CN" sz="800" b="1" kern="0">
                  <a:solidFill>
                    <a:schemeClr val="bg1"/>
                  </a:solidFill>
                  <a:latin typeface="Arial" panose="020B0604020202020204" pitchFamily="34" charset="0"/>
                  <a:ea typeface="微软雅黑" panose="020B0503020204020204" pitchFamily="34" charset="-122"/>
                </a:rPr>
                <a:t>2</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72" name="矩形 71">
              <a:extLst>
                <a:ext uri="{FF2B5EF4-FFF2-40B4-BE49-F238E27FC236}">
                  <a16:creationId xmlns:a16="http://schemas.microsoft.com/office/drawing/2014/main" id="{3F2651F4-115F-24A5-4015-7739F1B1C857}"/>
                </a:ext>
              </a:extLst>
            </p:cNvPr>
            <p:cNvSpPr/>
            <p:nvPr/>
          </p:nvSpPr>
          <p:spPr>
            <a:xfrm>
              <a:off x="6269814" y="1031579"/>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800" b="1" kern="0" dirty="0">
                  <a:solidFill>
                    <a:schemeClr val="bg1"/>
                  </a:solidFill>
                  <a:latin typeface="Arial" panose="020B0604020202020204" pitchFamily="34" charset="0"/>
                  <a:ea typeface="微软雅黑" panose="020B0503020204020204" pitchFamily="34" charset="-122"/>
                </a:rPr>
                <a:t>……</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grpSp>
          <p:nvGrpSpPr>
            <p:cNvPr id="73" name="组合 72">
              <a:extLst>
                <a:ext uri="{FF2B5EF4-FFF2-40B4-BE49-F238E27FC236}">
                  <a16:creationId xmlns:a16="http://schemas.microsoft.com/office/drawing/2014/main" id="{DEB16E7B-3AC2-1862-B2C3-3F3D930192E8}"/>
                </a:ext>
              </a:extLst>
            </p:cNvPr>
            <p:cNvGrpSpPr/>
            <p:nvPr/>
          </p:nvGrpSpPr>
          <p:grpSpPr>
            <a:xfrm>
              <a:off x="5891613" y="2062810"/>
              <a:ext cx="635003" cy="462517"/>
              <a:chOff x="2618303" y="1841679"/>
              <a:chExt cx="739175" cy="384518"/>
            </a:xfrm>
          </p:grpSpPr>
          <p:sp>
            <p:nvSpPr>
              <p:cNvPr id="74" name="等腰三角形 73">
                <a:extLst>
                  <a:ext uri="{FF2B5EF4-FFF2-40B4-BE49-F238E27FC236}">
                    <a16:creationId xmlns:a16="http://schemas.microsoft.com/office/drawing/2014/main" id="{1B9F6E43-E81B-0EFD-3E03-0A3719FCBC4A}"/>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75" name="文本框 74">
                <a:extLst>
                  <a:ext uri="{FF2B5EF4-FFF2-40B4-BE49-F238E27FC236}">
                    <a16:creationId xmlns:a16="http://schemas.microsoft.com/office/drawing/2014/main" id="{8173C4FF-E29B-4CB4-5A76-964EE7CE1679}"/>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P1/2</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cxnSp>
          <p:nvCxnSpPr>
            <p:cNvPr id="78" name="连接符: 肘形 77">
              <a:extLst>
                <a:ext uri="{FF2B5EF4-FFF2-40B4-BE49-F238E27FC236}">
                  <a16:creationId xmlns:a16="http://schemas.microsoft.com/office/drawing/2014/main" id="{5C2D4053-AE3D-2033-A0E2-8456865FE933}"/>
                </a:ext>
              </a:extLst>
            </p:cNvPr>
            <p:cNvCxnSpPr>
              <a:cxnSpLocks/>
              <a:stCxn id="66" idx="2"/>
              <a:endCxn id="70" idx="0"/>
            </p:cNvCxnSpPr>
            <p:nvPr/>
          </p:nvCxnSpPr>
          <p:spPr>
            <a:xfrm rot="16200000" flipH="1">
              <a:off x="5248905" y="1095668"/>
              <a:ext cx="308348" cy="743122"/>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79" name="连接符: 肘形 78">
              <a:extLst>
                <a:ext uri="{FF2B5EF4-FFF2-40B4-BE49-F238E27FC236}">
                  <a16:creationId xmlns:a16="http://schemas.microsoft.com/office/drawing/2014/main" id="{3C04D83D-522F-72FA-A795-5DC5EC9122F5}"/>
                </a:ext>
              </a:extLst>
            </p:cNvPr>
            <p:cNvCxnSpPr>
              <a:cxnSpLocks/>
              <a:stCxn id="71" idx="2"/>
              <a:endCxn id="70" idx="0"/>
            </p:cNvCxnSpPr>
            <p:nvPr/>
          </p:nvCxnSpPr>
          <p:spPr>
            <a:xfrm rot="5400000">
              <a:off x="5620611" y="1462946"/>
              <a:ext cx="312487" cy="4427"/>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80" name="连接符: 肘形 79">
              <a:extLst>
                <a:ext uri="{FF2B5EF4-FFF2-40B4-BE49-F238E27FC236}">
                  <a16:creationId xmlns:a16="http://schemas.microsoft.com/office/drawing/2014/main" id="{4EACD2CE-B24A-9249-0503-F479150DFD6E}"/>
                </a:ext>
              </a:extLst>
            </p:cNvPr>
            <p:cNvCxnSpPr>
              <a:cxnSpLocks/>
              <a:stCxn id="72" idx="2"/>
              <a:endCxn id="70" idx="0"/>
            </p:cNvCxnSpPr>
            <p:nvPr/>
          </p:nvCxnSpPr>
          <p:spPr>
            <a:xfrm rot="5400000">
              <a:off x="5994385" y="1089171"/>
              <a:ext cx="312487" cy="751976"/>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81" name="连接符: 肘形 80">
              <a:extLst>
                <a:ext uri="{FF2B5EF4-FFF2-40B4-BE49-F238E27FC236}">
                  <a16:creationId xmlns:a16="http://schemas.microsoft.com/office/drawing/2014/main" id="{083EEFFD-5753-CBF2-A53F-AF64C5FB5576}"/>
                </a:ext>
              </a:extLst>
            </p:cNvPr>
            <p:cNvCxnSpPr>
              <a:stCxn id="70" idx="4"/>
              <a:endCxn id="68" idx="0"/>
            </p:cNvCxnSpPr>
            <p:nvPr/>
          </p:nvCxnSpPr>
          <p:spPr>
            <a:xfrm rot="5400000">
              <a:off x="5460883" y="1749054"/>
              <a:ext cx="155616" cy="471899"/>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cxnSp>
          <p:nvCxnSpPr>
            <p:cNvPr id="82" name="连接符: 肘形 81">
              <a:extLst>
                <a:ext uri="{FF2B5EF4-FFF2-40B4-BE49-F238E27FC236}">
                  <a16:creationId xmlns:a16="http://schemas.microsoft.com/office/drawing/2014/main" id="{EA990F52-4B70-2378-C3C5-615651229EAE}"/>
                </a:ext>
              </a:extLst>
            </p:cNvPr>
            <p:cNvCxnSpPr>
              <a:stCxn id="70" idx="4"/>
              <a:endCxn id="74" idx="0"/>
            </p:cNvCxnSpPr>
            <p:nvPr/>
          </p:nvCxnSpPr>
          <p:spPr>
            <a:xfrm rot="16200000" flipH="1">
              <a:off x="5914070" y="1767764"/>
              <a:ext cx="155615" cy="434475"/>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grpSp>
      <p:grpSp>
        <p:nvGrpSpPr>
          <p:cNvPr id="20" name="组合 19">
            <a:extLst>
              <a:ext uri="{FF2B5EF4-FFF2-40B4-BE49-F238E27FC236}">
                <a16:creationId xmlns:a16="http://schemas.microsoft.com/office/drawing/2014/main" id="{0F2740C0-D616-6774-CECD-88DD8D8B37A7}"/>
              </a:ext>
            </a:extLst>
          </p:cNvPr>
          <p:cNvGrpSpPr/>
          <p:nvPr/>
        </p:nvGrpSpPr>
        <p:grpSpPr>
          <a:xfrm>
            <a:off x="7263411" y="1018924"/>
            <a:ext cx="2008702" cy="1491774"/>
            <a:chOff x="7263411" y="1018924"/>
            <a:chExt cx="2008702" cy="1491774"/>
          </a:xfrm>
        </p:grpSpPr>
        <p:sp>
          <p:nvSpPr>
            <p:cNvPr id="83" name="矩形 82">
              <a:extLst>
                <a:ext uri="{FF2B5EF4-FFF2-40B4-BE49-F238E27FC236}">
                  <a16:creationId xmlns:a16="http://schemas.microsoft.com/office/drawing/2014/main" id="{5295C6F9-298B-8BEA-EF14-4DB08EF30CDB}"/>
                </a:ext>
              </a:extLst>
            </p:cNvPr>
            <p:cNvSpPr/>
            <p:nvPr/>
          </p:nvSpPr>
          <p:spPr>
            <a:xfrm>
              <a:off x="7263411" y="1023063"/>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FG</a:t>
              </a:r>
              <a:r>
                <a:rPr lang="en-US" altLang="zh-CN" sz="800" b="1" kern="0" dirty="0">
                  <a:solidFill>
                    <a:schemeClr val="bg1"/>
                  </a:solidFill>
                  <a:latin typeface="Arial" panose="020B0604020202020204" pitchFamily="34" charset="0"/>
                  <a:ea typeface="微软雅黑" panose="020B0503020204020204" pitchFamily="34" charset="-122"/>
                </a:rPr>
                <a:t>21</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grpSp>
          <p:nvGrpSpPr>
            <p:cNvPr id="84" name="组合 83">
              <a:extLst>
                <a:ext uri="{FF2B5EF4-FFF2-40B4-BE49-F238E27FC236}">
                  <a16:creationId xmlns:a16="http://schemas.microsoft.com/office/drawing/2014/main" id="{21875A1C-4FE8-00BA-8C6D-D292C4994596}"/>
                </a:ext>
              </a:extLst>
            </p:cNvPr>
            <p:cNvGrpSpPr/>
            <p:nvPr/>
          </p:nvGrpSpPr>
          <p:grpSpPr>
            <a:xfrm>
              <a:off x="7943073" y="2048181"/>
              <a:ext cx="635003" cy="462517"/>
              <a:chOff x="2618303" y="1841679"/>
              <a:chExt cx="739175" cy="384518"/>
            </a:xfrm>
          </p:grpSpPr>
          <p:sp>
            <p:nvSpPr>
              <p:cNvPr id="85" name="等腰三角形 84">
                <a:extLst>
                  <a:ext uri="{FF2B5EF4-FFF2-40B4-BE49-F238E27FC236}">
                    <a16:creationId xmlns:a16="http://schemas.microsoft.com/office/drawing/2014/main" id="{8DB5A3AA-60E3-CDB5-D88D-C9BE2C2CE3D7}"/>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86" name="文本框 85">
                <a:extLst>
                  <a:ext uri="{FF2B5EF4-FFF2-40B4-BE49-F238E27FC236}">
                    <a16:creationId xmlns:a16="http://schemas.microsoft.com/office/drawing/2014/main" id="{0C5D9CC0-A651-4E84-D1F3-902C86A9EADD}"/>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P3</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sp>
          <p:nvSpPr>
            <p:cNvPr id="87" name="椭圆 86">
              <a:extLst>
                <a:ext uri="{FF2B5EF4-FFF2-40B4-BE49-F238E27FC236}">
                  <a16:creationId xmlns:a16="http://schemas.microsoft.com/office/drawing/2014/main" id="{2EBB1416-D521-7494-2E05-C5C0D2B0CD0D}"/>
                </a:ext>
              </a:extLst>
            </p:cNvPr>
            <p:cNvSpPr/>
            <p:nvPr/>
          </p:nvSpPr>
          <p:spPr>
            <a:xfrm>
              <a:off x="7955803" y="1561509"/>
              <a:ext cx="635002" cy="285792"/>
            </a:xfrm>
            <a:prstGeom prst="ellipse">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800" b="1" dirty="0" err="1">
                  <a:solidFill>
                    <a:schemeClr val="bg1"/>
                  </a:solidFill>
                  <a:latin typeface="Arial" panose="020B0604020202020204" pitchFamily="34" charset="0"/>
                  <a:ea typeface="微软雅黑" panose="020B0503020204020204" pitchFamily="34" charset="-122"/>
                </a:rPr>
                <a:t>alg</a:t>
              </a:r>
              <a:r>
                <a:rPr lang="en-US" altLang="zh-CN" sz="800" b="1" dirty="0">
                  <a:solidFill>
                    <a:schemeClr val="bg1"/>
                  </a:solidFill>
                  <a:latin typeface="Arial" panose="020B0604020202020204" pitchFamily="34" charset="0"/>
                  <a:ea typeface="微软雅黑" panose="020B0503020204020204" pitchFamily="34" charset="-122"/>
                </a:rPr>
                <a:t> 3</a:t>
              </a:r>
              <a:endParaRPr lang="zh-CN" altLang="en-US" sz="800" b="1" dirty="0">
                <a:solidFill>
                  <a:schemeClr val="bg1"/>
                </a:solidFill>
                <a:latin typeface="Arial" panose="020B0604020202020204" pitchFamily="34" charset="0"/>
                <a:ea typeface="微软雅黑" panose="020B0503020204020204" pitchFamily="34" charset="-122"/>
              </a:endParaRPr>
            </a:p>
          </p:txBody>
        </p:sp>
        <p:sp>
          <p:nvSpPr>
            <p:cNvPr id="88" name="矩形 87">
              <a:extLst>
                <a:ext uri="{FF2B5EF4-FFF2-40B4-BE49-F238E27FC236}">
                  <a16:creationId xmlns:a16="http://schemas.microsoft.com/office/drawing/2014/main" id="{3FB0F91D-F630-DEAC-E1E4-A504C354E19C}"/>
                </a:ext>
              </a:extLst>
            </p:cNvPr>
            <p:cNvSpPr/>
            <p:nvPr/>
          </p:nvSpPr>
          <p:spPr>
            <a:xfrm>
              <a:off x="8010960" y="1018924"/>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FG</a:t>
              </a:r>
              <a:r>
                <a:rPr lang="en-US" altLang="zh-CN" sz="800" b="1" kern="0" dirty="0">
                  <a:solidFill>
                    <a:schemeClr val="bg1"/>
                  </a:solidFill>
                  <a:latin typeface="Arial" panose="020B0604020202020204" pitchFamily="34" charset="0"/>
                  <a:ea typeface="微软雅黑" panose="020B0503020204020204" pitchFamily="34" charset="-122"/>
                </a:rPr>
                <a:t>22</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89" name="矩形 88">
              <a:extLst>
                <a:ext uri="{FF2B5EF4-FFF2-40B4-BE49-F238E27FC236}">
                  <a16:creationId xmlns:a16="http://schemas.microsoft.com/office/drawing/2014/main" id="{B123E783-6862-4580-9F84-57A540FE53C5}"/>
                </a:ext>
              </a:extLst>
            </p:cNvPr>
            <p:cNvSpPr/>
            <p:nvPr/>
          </p:nvSpPr>
          <p:spPr>
            <a:xfrm>
              <a:off x="8758509" y="1018924"/>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800" b="1" kern="0" dirty="0">
                  <a:solidFill>
                    <a:schemeClr val="bg1"/>
                  </a:solidFill>
                  <a:latin typeface="Arial" panose="020B0604020202020204" pitchFamily="34" charset="0"/>
                  <a:ea typeface="微软雅黑" panose="020B0503020204020204" pitchFamily="34" charset="-122"/>
                </a:rPr>
                <a:t>……</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cxnSp>
          <p:nvCxnSpPr>
            <p:cNvPr id="93" name="连接符: 肘形 92">
              <a:extLst>
                <a:ext uri="{FF2B5EF4-FFF2-40B4-BE49-F238E27FC236}">
                  <a16:creationId xmlns:a16="http://schemas.microsoft.com/office/drawing/2014/main" id="{E22B6E82-A643-9CC7-A4B6-67A38C195117}"/>
                </a:ext>
              </a:extLst>
            </p:cNvPr>
            <p:cNvCxnSpPr>
              <a:cxnSpLocks/>
              <a:stCxn id="83" idx="2"/>
              <a:endCxn id="87" idx="0"/>
            </p:cNvCxnSpPr>
            <p:nvPr/>
          </p:nvCxnSpPr>
          <p:spPr>
            <a:xfrm rot="16200000" flipH="1">
              <a:off x="7766204" y="1054408"/>
              <a:ext cx="261109" cy="753091"/>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94" name="连接符: 肘形 93">
              <a:extLst>
                <a:ext uri="{FF2B5EF4-FFF2-40B4-BE49-F238E27FC236}">
                  <a16:creationId xmlns:a16="http://schemas.microsoft.com/office/drawing/2014/main" id="{6B49682E-5C4A-2389-0F00-881F7E89D810}"/>
                </a:ext>
              </a:extLst>
            </p:cNvPr>
            <p:cNvCxnSpPr>
              <a:cxnSpLocks/>
              <a:stCxn id="88" idx="2"/>
              <a:endCxn id="87" idx="0"/>
            </p:cNvCxnSpPr>
            <p:nvPr/>
          </p:nvCxnSpPr>
          <p:spPr>
            <a:xfrm rot="16200000" flipH="1">
              <a:off x="8137909" y="1426114"/>
              <a:ext cx="265248" cy="5542"/>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95" name="连接符: 肘形 94">
              <a:extLst>
                <a:ext uri="{FF2B5EF4-FFF2-40B4-BE49-F238E27FC236}">
                  <a16:creationId xmlns:a16="http://schemas.microsoft.com/office/drawing/2014/main" id="{905B21BE-BD20-563D-5418-FC3A5B01E108}"/>
                </a:ext>
              </a:extLst>
            </p:cNvPr>
            <p:cNvCxnSpPr>
              <a:cxnSpLocks/>
              <a:stCxn id="89" idx="2"/>
              <a:endCxn id="87" idx="0"/>
            </p:cNvCxnSpPr>
            <p:nvPr/>
          </p:nvCxnSpPr>
          <p:spPr>
            <a:xfrm rot="5400000">
              <a:off x="8511684" y="1057882"/>
              <a:ext cx="265248" cy="742007"/>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96" name="连接符: 肘形 95">
              <a:extLst>
                <a:ext uri="{FF2B5EF4-FFF2-40B4-BE49-F238E27FC236}">
                  <a16:creationId xmlns:a16="http://schemas.microsoft.com/office/drawing/2014/main" id="{BEB3F16B-A9D1-609A-BFD6-90C2C6BC6E0B}"/>
                </a:ext>
              </a:extLst>
            </p:cNvPr>
            <p:cNvCxnSpPr>
              <a:stCxn id="87" idx="4"/>
              <a:endCxn id="85" idx="0"/>
            </p:cNvCxnSpPr>
            <p:nvPr/>
          </p:nvCxnSpPr>
          <p:spPr>
            <a:xfrm rot="5400000">
              <a:off x="8166500" y="1941377"/>
              <a:ext cx="200880" cy="12729"/>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grpSp>
      <p:sp>
        <p:nvSpPr>
          <p:cNvPr id="98" name="文本框 97">
            <a:extLst>
              <a:ext uri="{FF2B5EF4-FFF2-40B4-BE49-F238E27FC236}">
                <a16:creationId xmlns:a16="http://schemas.microsoft.com/office/drawing/2014/main" id="{B968841C-344F-1D66-D3A4-7AA0BD27680B}"/>
              </a:ext>
            </a:extLst>
          </p:cNvPr>
          <p:cNvSpPr txBox="1"/>
          <p:nvPr/>
        </p:nvSpPr>
        <p:spPr>
          <a:xfrm>
            <a:off x="1270389" y="1035718"/>
            <a:ext cx="1111516" cy="246221"/>
          </a:xfrm>
          <a:prstGeom prst="rect">
            <a:avLst/>
          </a:prstGeom>
          <a:noFill/>
        </p:spPr>
        <p:txBody>
          <a:bodyPr wrap="square" rtlCol="0">
            <a:spAutoFit/>
          </a:bodyPr>
          <a:lstStyle/>
          <a:p>
            <a:r>
              <a:rPr lang="en-US" altLang="zh-CN" sz="1000" b="1" dirty="0">
                <a:solidFill>
                  <a:schemeClr val="bg1"/>
                </a:solidFill>
                <a:latin typeface="Arial" panose="020B0604020202020204" pitchFamily="34" charset="0"/>
                <a:ea typeface="微软雅黑" panose="020B0503020204020204" pitchFamily="34" charset="-122"/>
              </a:rPr>
              <a:t>Level 0</a:t>
            </a:r>
            <a:endParaRPr lang="zh-CN" altLang="en-US" sz="1000" b="1" dirty="0">
              <a:solidFill>
                <a:schemeClr val="bg1"/>
              </a:solidFill>
              <a:latin typeface="Arial" panose="020B0604020202020204" pitchFamily="34" charset="0"/>
              <a:ea typeface="微软雅黑" panose="020B0503020204020204" pitchFamily="34" charset="-122"/>
            </a:endParaRPr>
          </a:p>
        </p:txBody>
      </p:sp>
      <p:grpSp>
        <p:nvGrpSpPr>
          <p:cNvPr id="18" name="组合 17">
            <a:extLst>
              <a:ext uri="{FF2B5EF4-FFF2-40B4-BE49-F238E27FC236}">
                <a16:creationId xmlns:a16="http://schemas.microsoft.com/office/drawing/2014/main" id="{C46144A6-F113-49D7-95C3-A21389BDFD79}"/>
              </a:ext>
            </a:extLst>
          </p:cNvPr>
          <p:cNvGrpSpPr/>
          <p:nvPr/>
        </p:nvGrpSpPr>
        <p:grpSpPr>
          <a:xfrm>
            <a:off x="2328012" y="1023064"/>
            <a:ext cx="2008702" cy="1537796"/>
            <a:chOff x="2328012" y="1023064"/>
            <a:chExt cx="2008702" cy="1537796"/>
          </a:xfrm>
        </p:grpSpPr>
        <p:sp>
          <p:nvSpPr>
            <p:cNvPr id="4" name="矩形 3">
              <a:extLst>
                <a:ext uri="{FF2B5EF4-FFF2-40B4-BE49-F238E27FC236}">
                  <a16:creationId xmlns:a16="http://schemas.microsoft.com/office/drawing/2014/main" id="{F50C153D-AD42-63FA-A258-AC8ABA6FA386}"/>
                </a:ext>
              </a:extLst>
            </p:cNvPr>
            <p:cNvSpPr/>
            <p:nvPr/>
          </p:nvSpPr>
          <p:spPr>
            <a:xfrm>
              <a:off x="2328012" y="1027203"/>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a:ln>
                    <a:noFill/>
                  </a:ln>
                  <a:solidFill>
                    <a:schemeClr val="bg1"/>
                  </a:solidFill>
                  <a:effectLst/>
                  <a:uLnTx/>
                  <a:uFillTx/>
                  <a:latin typeface="Arial" panose="020B0604020202020204" pitchFamily="34" charset="0"/>
                  <a:ea typeface="微软雅黑" panose="020B0503020204020204" pitchFamily="34" charset="-122"/>
                  <a:cs typeface="+mn-cs"/>
                </a:rPr>
                <a:t>FG1</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35" name="矩形 34">
              <a:extLst>
                <a:ext uri="{FF2B5EF4-FFF2-40B4-BE49-F238E27FC236}">
                  <a16:creationId xmlns:a16="http://schemas.microsoft.com/office/drawing/2014/main" id="{8ED456CE-CDB2-0F99-127D-FC85136C1557}"/>
                </a:ext>
              </a:extLst>
            </p:cNvPr>
            <p:cNvSpPr/>
            <p:nvPr/>
          </p:nvSpPr>
          <p:spPr>
            <a:xfrm>
              <a:off x="3070019" y="1023064"/>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FG</a:t>
              </a:r>
              <a:r>
                <a:rPr lang="en-US" altLang="zh-CN" sz="800" b="1" kern="0" dirty="0">
                  <a:solidFill>
                    <a:schemeClr val="bg1"/>
                  </a:solidFill>
                  <a:latin typeface="Arial" panose="020B0604020202020204" pitchFamily="34" charset="0"/>
                  <a:ea typeface="微软雅黑" panose="020B0503020204020204" pitchFamily="34" charset="-122"/>
                </a:rPr>
                <a:t>2</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36" name="矩形 35">
              <a:extLst>
                <a:ext uri="{FF2B5EF4-FFF2-40B4-BE49-F238E27FC236}">
                  <a16:creationId xmlns:a16="http://schemas.microsoft.com/office/drawing/2014/main" id="{9F95BBCC-E80F-9C12-DA73-B2FDBD6393CE}"/>
                </a:ext>
              </a:extLst>
            </p:cNvPr>
            <p:cNvSpPr/>
            <p:nvPr/>
          </p:nvSpPr>
          <p:spPr>
            <a:xfrm>
              <a:off x="3823110" y="1023064"/>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800" b="1" kern="0" dirty="0">
                  <a:solidFill>
                    <a:schemeClr val="bg1"/>
                  </a:solidFill>
                  <a:latin typeface="Arial" panose="020B0604020202020204" pitchFamily="34" charset="0"/>
                  <a:ea typeface="微软雅黑" panose="020B0503020204020204" pitchFamily="34" charset="-122"/>
                </a:rPr>
                <a:t>……</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cxnSp>
          <p:nvCxnSpPr>
            <p:cNvPr id="51" name="连接符: 肘形 50">
              <a:extLst>
                <a:ext uri="{FF2B5EF4-FFF2-40B4-BE49-F238E27FC236}">
                  <a16:creationId xmlns:a16="http://schemas.microsoft.com/office/drawing/2014/main" id="{7142FFEB-9BF0-F4D8-80FA-DC76CA37C0C9}"/>
                </a:ext>
              </a:extLst>
            </p:cNvPr>
            <p:cNvCxnSpPr>
              <a:cxnSpLocks/>
              <a:stCxn id="35" idx="2"/>
              <a:endCxn id="34" idx="0"/>
            </p:cNvCxnSpPr>
            <p:nvPr/>
          </p:nvCxnSpPr>
          <p:spPr>
            <a:xfrm rot="16200000" flipH="1">
              <a:off x="3177509" y="1449713"/>
              <a:ext cx="304167" cy="5542"/>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54" name="连接符: 肘形 53">
              <a:extLst>
                <a:ext uri="{FF2B5EF4-FFF2-40B4-BE49-F238E27FC236}">
                  <a16:creationId xmlns:a16="http://schemas.microsoft.com/office/drawing/2014/main" id="{52E60AB3-8A5C-B25D-890B-1A6ABF8EA500}"/>
                </a:ext>
              </a:extLst>
            </p:cNvPr>
            <p:cNvCxnSpPr>
              <a:cxnSpLocks/>
              <a:stCxn id="36" idx="2"/>
              <a:endCxn id="34" idx="0"/>
            </p:cNvCxnSpPr>
            <p:nvPr/>
          </p:nvCxnSpPr>
          <p:spPr>
            <a:xfrm rot="5400000">
              <a:off x="3554055" y="1078710"/>
              <a:ext cx="304167" cy="747549"/>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nvGrpSpPr>
            <p:cNvPr id="6" name="组合 5">
              <a:extLst>
                <a:ext uri="{FF2B5EF4-FFF2-40B4-BE49-F238E27FC236}">
                  <a16:creationId xmlns:a16="http://schemas.microsoft.com/office/drawing/2014/main" id="{DCAB386B-B24B-48E1-EFAE-2B0BE129A64C}"/>
                </a:ext>
              </a:extLst>
            </p:cNvPr>
            <p:cNvGrpSpPr/>
            <p:nvPr/>
          </p:nvGrpSpPr>
          <p:grpSpPr>
            <a:xfrm>
              <a:off x="2618489" y="2097687"/>
              <a:ext cx="635003" cy="462517"/>
              <a:chOff x="2618303" y="1841679"/>
              <a:chExt cx="739175" cy="384518"/>
            </a:xfrm>
          </p:grpSpPr>
          <p:sp>
            <p:nvSpPr>
              <p:cNvPr id="9" name="等腰三角形 8">
                <a:extLst>
                  <a:ext uri="{FF2B5EF4-FFF2-40B4-BE49-F238E27FC236}">
                    <a16:creationId xmlns:a16="http://schemas.microsoft.com/office/drawing/2014/main" id="{8389AC53-0FEF-F30B-2C2F-79338C451B2D}"/>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10" name="文本框 9">
                <a:extLst>
                  <a:ext uri="{FF2B5EF4-FFF2-40B4-BE49-F238E27FC236}">
                    <a16:creationId xmlns:a16="http://schemas.microsoft.com/office/drawing/2014/main" id="{A00E0333-1F17-D6EE-F5E3-1985E78DE314}"/>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P1/1</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sp>
          <p:nvSpPr>
            <p:cNvPr id="34" name="椭圆 33">
              <a:extLst>
                <a:ext uri="{FF2B5EF4-FFF2-40B4-BE49-F238E27FC236}">
                  <a16:creationId xmlns:a16="http://schemas.microsoft.com/office/drawing/2014/main" id="{E5D9B120-AA25-A576-291A-1D6C90F460D4}"/>
                </a:ext>
              </a:extLst>
            </p:cNvPr>
            <p:cNvSpPr/>
            <p:nvPr/>
          </p:nvSpPr>
          <p:spPr>
            <a:xfrm>
              <a:off x="3014862" y="1604568"/>
              <a:ext cx="635002" cy="285792"/>
            </a:xfrm>
            <a:prstGeom prst="ellipse">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800" b="1" dirty="0" err="1">
                  <a:solidFill>
                    <a:schemeClr val="bg1"/>
                  </a:solidFill>
                  <a:latin typeface="Arial" panose="020B0604020202020204" pitchFamily="34" charset="0"/>
                  <a:ea typeface="微软雅黑" panose="020B0503020204020204" pitchFamily="34" charset="-122"/>
                </a:rPr>
                <a:t>alg</a:t>
              </a:r>
              <a:r>
                <a:rPr lang="en-US" altLang="zh-CN" sz="800" b="1" dirty="0">
                  <a:solidFill>
                    <a:schemeClr val="bg1"/>
                  </a:solidFill>
                  <a:latin typeface="Arial" panose="020B0604020202020204" pitchFamily="34" charset="0"/>
                  <a:ea typeface="微软雅黑" panose="020B0503020204020204" pitchFamily="34" charset="-122"/>
                </a:rPr>
                <a:t> 1</a:t>
              </a:r>
              <a:endParaRPr lang="zh-CN" altLang="en-US" sz="800" b="1" dirty="0">
                <a:solidFill>
                  <a:schemeClr val="bg1"/>
                </a:solidFill>
                <a:latin typeface="Arial" panose="020B0604020202020204" pitchFamily="34" charset="0"/>
                <a:ea typeface="微软雅黑" panose="020B0503020204020204" pitchFamily="34" charset="-122"/>
              </a:endParaRPr>
            </a:p>
          </p:txBody>
        </p:sp>
        <p:grpSp>
          <p:nvGrpSpPr>
            <p:cNvPr id="40" name="组合 39">
              <a:extLst>
                <a:ext uri="{FF2B5EF4-FFF2-40B4-BE49-F238E27FC236}">
                  <a16:creationId xmlns:a16="http://schemas.microsoft.com/office/drawing/2014/main" id="{6D4529ED-A2FD-0F9D-F7E4-52974340E00F}"/>
                </a:ext>
              </a:extLst>
            </p:cNvPr>
            <p:cNvGrpSpPr/>
            <p:nvPr/>
          </p:nvGrpSpPr>
          <p:grpSpPr>
            <a:xfrm>
              <a:off x="3417337" y="2098343"/>
              <a:ext cx="635003" cy="462517"/>
              <a:chOff x="2618303" y="1841679"/>
              <a:chExt cx="739175" cy="384518"/>
            </a:xfrm>
          </p:grpSpPr>
          <p:sp>
            <p:nvSpPr>
              <p:cNvPr id="41" name="等腰三角形 40">
                <a:extLst>
                  <a:ext uri="{FF2B5EF4-FFF2-40B4-BE49-F238E27FC236}">
                    <a16:creationId xmlns:a16="http://schemas.microsoft.com/office/drawing/2014/main" id="{8EB14404-54E0-DC28-85EB-5B494A973187}"/>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42" name="文本框 41">
                <a:extLst>
                  <a:ext uri="{FF2B5EF4-FFF2-40B4-BE49-F238E27FC236}">
                    <a16:creationId xmlns:a16="http://schemas.microsoft.com/office/drawing/2014/main" id="{7F0175BA-0EE1-E70A-B6B8-CA40F4CFF65B}"/>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P1/</a:t>
                </a:r>
                <a:r>
                  <a:rPr lang="en-US" altLang="zh-CN" sz="800" b="1" kern="0" dirty="0">
                    <a:solidFill>
                      <a:schemeClr val="bg1"/>
                    </a:solidFill>
                    <a:latin typeface="Arial" panose="020B0604020202020204" pitchFamily="34" charset="0"/>
                    <a:ea typeface="微软雅黑" panose="020B0503020204020204" pitchFamily="34" charset="-122"/>
                  </a:rPr>
                  <a:t>2</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cxnSp>
          <p:nvCxnSpPr>
            <p:cNvPr id="48" name="连接符: 肘形 47">
              <a:extLst>
                <a:ext uri="{FF2B5EF4-FFF2-40B4-BE49-F238E27FC236}">
                  <a16:creationId xmlns:a16="http://schemas.microsoft.com/office/drawing/2014/main" id="{E4A22449-127B-BC0C-4654-DA3C6A6E72B0}"/>
                </a:ext>
              </a:extLst>
            </p:cNvPr>
            <p:cNvCxnSpPr>
              <a:cxnSpLocks/>
              <a:stCxn id="4" idx="2"/>
              <a:endCxn id="34" idx="0"/>
            </p:cNvCxnSpPr>
            <p:nvPr/>
          </p:nvCxnSpPr>
          <p:spPr>
            <a:xfrm rot="16200000" flipH="1">
              <a:off x="2808574" y="1080779"/>
              <a:ext cx="300028" cy="747549"/>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61" name="连接符: 肘形 60">
              <a:extLst>
                <a:ext uri="{FF2B5EF4-FFF2-40B4-BE49-F238E27FC236}">
                  <a16:creationId xmlns:a16="http://schemas.microsoft.com/office/drawing/2014/main" id="{8B16D9CB-0F14-DB8E-337D-D6CDBF264C79}"/>
                </a:ext>
              </a:extLst>
            </p:cNvPr>
            <p:cNvCxnSpPr>
              <a:stCxn id="34" idx="4"/>
              <a:endCxn id="9" idx="0"/>
            </p:cNvCxnSpPr>
            <p:nvPr/>
          </p:nvCxnSpPr>
          <p:spPr>
            <a:xfrm rot="5400000">
              <a:off x="3030514" y="1795837"/>
              <a:ext cx="207327" cy="396372"/>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cxnSp>
          <p:nvCxnSpPr>
            <p:cNvPr id="65" name="连接符: 肘形 64">
              <a:extLst>
                <a:ext uri="{FF2B5EF4-FFF2-40B4-BE49-F238E27FC236}">
                  <a16:creationId xmlns:a16="http://schemas.microsoft.com/office/drawing/2014/main" id="{958148C5-0596-58E6-F0D0-2FAD2DC82789}"/>
                </a:ext>
              </a:extLst>
            </p:cNvPr>
            <p:cNvCxnSpPr>
              <a:stCxn id="34" idx="4"/>
              <a:endCxn id="41" idx="0"/>
            </p:cNvCxnSpPr>
            <p:nvPr/>
          </p:nvCxnSpPr>
          <p:spPr>
            <a:xfrm rot="16200000" flipH="1">
              <a:off x="3429610" y="1793113"/>
              <a:ext cx="207983" cy="402476"/>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grpSp>
      <p:sp>
        <p:nvSpPr>
          <p:cNvPr id="115" name="文本框 114">
            <a:extLst>
              <a:ext uri="{FF2B5EF4-FFF2-40B4-BE49-F238E27FC236}">
                <a16:creationId xmlns:a16="http://schemas.microsoft.com/office/drawing/2014/main" id="{339353AA-890D-D1A9-5826-E3F58543D8C4}"/>
              </a:ext>
            </a:extLst>
          </p:cNvPr>
          <p:cNvSpPr txBox="1"/>
          <p:nvPr/>
        </p:nvSpPr>
        <p:spPr>
          <a:xfrm>
            <a:off x="1270389" y="1631857"/>
            <a:ext cx="1111516" cy="246221"/>
          </a:xfrm>
          <a:prstGeom prst="rect">
            <a:avLst/>
          </a:prstGeom>
          <a:noFill/>
        </p:spPr>
        <p:txBody>
          <a:bodyPr wrap="square" rtlCol="0">
            <a:spAutoFit/>
          </a:bodyPr>
          <a:lstStyle/>
          <a:p>
            <a:r>
              <a:rPr lang="en-US" altLang="zh-CN" sz="1000" b="1" dirty="0">
                <a:solidFill>
                  <a:schemeClr val="bg1"/>
                </a:solidFill>
                <a:latin typeface="Arial" panose="020B0604020202020204" pitchFamily="34" charset="0"/>
                <a:ea typeface="微软雅黑" panose="020B0503020204020204" pitchFamily="34" charset="-122"/>
              </a:rPr>
              <a:t>Level 1</a:t>
            </a:r>
            <a:endParaRPr lang="zh-CN" altLang="en-US" sz="1000" b="1" dirty="0">
              <a:solidFill>
                <a:schemeClr val="bg1"/>
              </a:solidFill>
              <a:latin typeface="Arial" panose="020B0604020202020204" pitchFamily="34" charset="0"/>
              <a:ea typeface="微软雅黑" panose="020B0503020204020204" pitchFamily="34" charset="-122"/>
            </a:endParaRPr>
          </a:p>
        </p:txBody>
      </p:sp>
      <p:grpSp>
        <p:nvGrpSpPr>
          <p:cNvPr id="21" name="组合 20">
            <a:extLst>
              <a:ext uri="{FF2B5EF4-FFF2-40B4-BE49-F238E27FC236}">
                <a16:creationId xmlns:a16="http://schemas.microsoft.com/office/drawing/2014/main" id="{78F41726-7EB7-D7FE-97F6-B3FBBF59B9CE}"/>
              </a:ext>
            </a:extLst>
          </p:cNvPr>
          <p:cNvGrpSpPr/>
          <p:nvPr/>
        </p:nvGrpSpPr>
        <p:grpSpPr>
          <a:xfrm>
            <a:off x="9552754" y="1003108"/>
            <a:ext cx="2428535" cy="1498591"/>
            <a:chOff x="9552754" y="1003108"/>
            <a:chExt cx="2428535" cy="1498591"/>
          </a:xfrm>
        </p:grpSpPr>
        <p:sp>
          <p:nvSpPr>
            <p:cNvPr id="121" name="矩形 120">
              <a:extLst>
                <a:ext uri="{FF2B5EF4-FFF2-40B4-BE49-F238E27FC236}">
                  <a16:creationId xmlns:a16="http://schemas.microsoft.com/office/drawing/2014/main" id="{98F47075-C605-2ACB-5867-D4022D9DC0DC}"/>
                </a:ext>
              </a:extLst>
            </p:cNvPr>
            <p:cNvSpPr/>
            <p:nvPr/>
          </p:nvSpPr>
          <p:spPr>
            <a:xfrm>
              <a:off x="9786880" y="1007247"/>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FG</a:t>
              </a:r>
              <a:r>
                <a:rPr lang="en-US" altLang="zh-CN" sz="800" b="1" kern="0" dirty="0">
                  <a:solidFill>
                    <a:schemeClr val="bg1"/>
                  </a:solidFill>
                  <a:latin typeface="Arial" panose="020B0604020202020204" pitchFamily="34" charset="0"/>
                  <a:ea typeface="微软雅黑" panose="020B0503020204020204" pitchFamily="34" charset="-122"/>
                </a:rPr>
                <a:t>21</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grpSp>
          <p:nvGrpSpPr>
            <p:cNvPr id="122" name="组合 121">
              <a:extLst>
                <a:ext uri="{FF2B5EF4-FFF2-40B4-BE49-F238E27FC236}">
                  <a16:creationId xmlns:a16="http://schemas.microsoft.com/office/drawing/2014/main" id="{EA72A35B-32AE-34A1-AD66-976FD06541DE}"/>
                </a:ext>
              </a:extLst>
            </p:cNvPr>
            <p:cNvGrpSpPr/>
            <p:nvPr/>
          </p:nvGrpSpPr>
          <p:grpSpPr>
            <a:xfrm>
              <a:off x="10473729" y="2026037"/>
              <a:ext cx="635003" cy="462517"/>
              <a:chOff x="3011691" y="1855831"/>
              <a:chExt cx="739175" cy="384518"/>
            </a:xfrm>
          </p:grpSpPr>
          <p:sp>
            <p:nvSpPr>
              <p:cNvPr id="123" name="等腰三角形 122">
                <a:extLst>
                  <a:ext uri="{FF2B5EF4-FFF2-40B4-BE49-F238E27FC236}">
                    <a16:creationId xmlns:a16="http://schemas.microsoft.com/office/drawing/2014/main" id="{F2565306-13E7-1BFE-35C2-9142B61BCE4C}"/>
                  </a:ext>
                </a:extLst>
              </p:cNvPr>
              <p:cNvSpPr/>
              <p:nvPr/>
            </p:nvSpPr>
            <p:spPr>
              <a:xfrm>
                <a:off x="3085095" y="1855831"/>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124" name="文本框 123">
                <a:extLst>
                  <a:ext uri="{FF2B5EF4-FFF2-40B4-BE49-F238E27FC236}">
                    <a16:creationId xmlns:a16="http://schemas.microsoft.com/office/drawing/2014/main" id="{3FF26829-B6E1-0AFB-FCCB-2C3031E94E7B}"/>
                  </a:ext>
                </a:extLst>
              </p:cNvPr>
              <p:cNvSpPr txBox="1"/>
              <p:nvPr/>
            </p:nvSpPr>
            <p:spPr>
              <a:xfrm>
                <a:off x="3011691" y="2031122"/>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P2/2</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sp>
          <p:nvSpPr>
            <p:cNvPr id="125" name="椭圆 124">
              <a:extLst>
                <a:ext uri="{FF2B5EF4-FFF2-40B4-BE49-F238E27FC236}">
                  <a16:creationId xmlns:a16="http://schemas.microsoft.com/office/drawing/2014/main" id="{28C881A6-E853-719A-F8D4-533F32A0ADD7}"/>
                </a:ext>
              </a:extLst>
            </p:cNvPr>
            <p:cNvSpPr/>
            <p:nvPr/>
          </p:nvSpPr>
          <p:spPr>
            <a:xfrm>
              <a:off x="10479272" y="1545693"/>
              <a:ext cx="635002" cy="285792"/>
            </a:xfrm>
            <a:prstGeom prst="ellipse">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800" b="1" dirty="0" err="1">
                  <a:solidFill>
                    <a:schemeClr val="bg1"/>
                  </a:solidFill>
                  <a:latin typeface="Arial" panose="020B0604020202020204" pitchFamily="34" charset="0"/>
                  <a:ea typeface="微软雅黑" panose="020B0503020204020204" pitchFamily="34" charset="-122"/>
                </a:rPr>
                <a:t>alg</a:t>
              </a:r>
              <a:r>
                <a:rPr lang="en-US" altLang="zh-CN" sz="800" b="1" dirty="0">
                  <a:solidFill>
                    <a:schemeClr val="bg1"/>
                  </a:solidFill>
                  <a:latin typeface="Arial" panose="020B0604020202020204" pitchFamily="34" charset="0"/>
                  <a:ea typeface="微软雅黑" panose="020B0503020204020204" pitchFamily="34" charset="-122"/>
                </a:rPr>
                <a:t> 4</a:t>
              </a:r>
              <a:endParaRPr lang="zh-CN" altLang="en-US" sz="800" b="1" dirty="0">
                <a:solidFill>
                  <a:schemeClr val="bg1"/>
                </a:solidFill>
                <a:latin typeface="Arial" panose="020B0604020202020204" pitchFamily="34" charset="0"/>
                <a:ea typeface="微软雅黑" panose="020B0503020204020204" pitchFamily="34" charset="-122"/>
              </a:endParaRPr>
            </a:p>
          </p:txBody>
        </p:sp>
        <p:sp>
          <p:nvSpPr>
            <p:cNvPr id="126" name="矩形 125">
              <a:extLst>
                <a:ext uri="{FF2B5EF4-FFF2-40B4-BE49-F238E27FC236}">
                  <a16:creationId xmlns:a16="http://schemas.microsoft.com/office/drawing/2014/main" id="{17537B56-356E-D94D-E601-F5EF346237AA}"/>
                </a:ext>
              </a:extLst>
            </p:cNvPr>
            <p:cNvSpPr/>
            <p:nvPr/>
          </p:nvSpPr>
          <p:spPr>
            <a:xfrm>
              <a:off x="10534429" y="1003108"/>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FG</a:t>
              </a:r>
              <a:r>
                <a:rPr lang="en-US" altLang="zh-CN" sz="800" b="1" kern="0" dirty="0">
                  <a:solidFill>
                    <a:schemeClr val="bg1"/>
                  </a:solidFill>
                  <a:latin typeface="Arial" panose="020B0604020202020204" pitchFamily="34" charset="0"/>
                  <a:ea typeface="微软雅黑" panose="020B0503020204020204" pitchFamily="34" charset="-122"/>
                </a:rPr>
                <a:t>22</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127" name="矩形 126">
              <a:extLst>
                <a:ext uri="{FF2B5EF4-FFF2-40B4-BE49-F238E27FC236}">
                  <a16:creationId xmlns:a16="http://schemas.microsoft.com/office/drawing/2014/main" id="{5409D8A5-1415-FADE-31A4-E0F82E51C393}"/>
                </a:ext>
              </a:extLst>
            </p:cNvPr>
            <p:cNvSpPr/>
            <p:nvPr/>
          </p:nvSpPr>
          <p:spPr>
            <a:xfrm>
              <a:off x="11281978" y="1003108"/>
              <a:ext cx="513604" cy="277337"/>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800" b="1" kern="0" dirty="0">
                  <a:solidFill>
                    <a:schemeClr val="bg1"/>
                  </a:solidFill>
                  <a:latin typeface="Arial" panose="020B0604020202020204" pitchFamily="34" charset="0"/>
                  <a:ea typeface="微软雅黑" panose="020B0503020204020204" pitchFamily="34" charset="-122"/>
                </a:rPr>
                <a:t>……</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grpSp>
          <p:nvGrpSpPr>
            <p:cNvPr id="128" name="组合 127">
              <a:extLst>
                <a:ext uri="{FF2B5EF4-FFF2-40B4-BE49-F238E27FC236}">
                  <a16:creationId xmlns:a16="http://schemas.microsoft.com/office/drawing/2014/main" id="{C093BE91-C1BA-F48F-DD86-6F6BCCA808EE}"/>
                </a:ext>
              </a:extLst>
            </p:cNvPr>
            <p:cNvGrpSpPr/>
            <p:nvPr/>
          </p:nvGrpSpPr>
          <p:grpSpPr>
            <a:xfrm>
              <a:off x="11346286" y="2022092"/>
              <a:ext cx="635003" cy="462517"/>
              <a:chOff x="2618303" y="1841679"/>
              <a:chExt cx="739175" cy="384518"/>
            </a:xfrm>
          </p:grpSpPr>
          <p:sp>
            <p:nvSpPr>
              <p:cNvPr id="129" name="等腰三角形 128">
                <a:extLst>
                  <a:ext uri="{FF2B5EF4-FFF2-40B4-BE49-F238E27FC236}">
                    <a16:creationId xmlns:a16="http://schemas.microsoft.com/office/drawing/2014/main" id="{8B39E14E-88DD-B910-74A3-4D147610F7E0}"/>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130" name="文本框 129">
                <a:extLst>
                  <a:ext uri="{FF2B5EF4-FFF2-40B4-BE49-F238E27FC236}">
                    <a16:creationId xmlns:a16="http://schemas.microsoft.com/office/drawing/2014/main" id="{8D14E346-14BC-7D38-28B2-C2A436F98372}"/>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a:t>
                </a:r>
                <a:r>
                  <a:rPr lang="en-US" altLang="zh-CN" sz="800" b="1" kern="0" dirty="0">
                    <a:solidFill>
                      <a:schemeClr val="bg1"/>
                    </a:solidFill>
                    <a:latin typeface="Arial" panose="020B0604020202020204" pitchFamily="34" charset="0"/>
                    <a:ea typeface="微软雅黑" panose="020B0503020204020204" pitchFamily="34" charset="-122"/>
                  </a:rPr>
                  <a:t>3</a:t>
                </a: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a:t>
                </a:r>
                <a:r>
                  <a:rPr lang="en-US" altLang="zh-CN" sz="800" b="1" kern="0" dirty="0">
                    <a:solidFill>
                      <a:schemeClr val="bg1"/>
                    </a:solidFill>
                    <a:latin typeface="Arial" panose="020B0604020202020204" pitchFamily="34" charset="0"/>
                    <a:ea typeface="微软雅黑" panose="020B0503020204020204" pitchFamily="34" charset="-122"/>
                  </a:rPr>
                  <a:t>3</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cxnSp>
          <p:nvCxnSpPr>
            <p:cNvPr id="131" name="连接符: 肘形 130">
              <a:extLst>
                <a:ext uri="{FF2B5EF4-FFF2-40B4-BE49-F238E27FC236}">
                  <a16:creationId xmlns:a16="http://schemas.microsoft.com/office/drawing/2014/main" id="{1B484131-82B9-FB39-AB29-AFA6DD8A04B6}"/>
                </a:ext>
              </a:extLst>
            </p:cNvPr>
            <p:cNvCxnSpPr>
              <a:cxnSpLocks/>
              <a:stCxn id="121" idx="2"/>
              <a:endCxn id="125" idx="0"/>
            </p:cNvCxnSpPr>
            <p:nvPr/>
          </p:nvCxnSpPr>
          <p:spPr>
            <a:xfrm rot="16200000" flipH="1">
              <a:off x="10289673" y="1038592"/>
              <a:ext cx="261109" cy="753091"/>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32" name="连接符: 肘形 131">
              <a:extLst>
                <a:ext uri="{FF2B5EF4-FFF2-40B4-BE49-F238E27FC236}">
                  <a16:creationId xmlns:a16="http://schemas.microsoft.com/office/drawing/2014/main" id="{72EE2459-EC56-83F8-0B36-7A329B0F265E}"/>
                </a:ext>
              </a:extLst>
            </p:cNvPr>
            <p:cNvCxnSpPr>
              <a:cxnSpLocks/>
              <a:stCxn id="126" idx="2"/>
              <a:endCxn id="125" idx="0"/>
            </p:cNvCxnSpPr>
            <p:nvPr/>
          </p:nvCxnSpPr>
          <p:spPr>
            <a:xfrm rot="16200000" flipH="1">
              <a:off x="10661378" y="1410298"/>
              <a:ext cx="265248" cy="5542"/>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33" name="连接符: 肘形 132">
              <a:extLst>
                <a:ext uri="{FF2B5EF4-FFF2-40B4-BE49-F238E27FC236}">
                  <a16:creationId xmlns:a16="http://schemas.microsoft.com/office/drawing/2014/main" id="{029B9888-54A1-C017-E605-70799C132B5A}"/>
                </a:ext>
              </a:extLst>
            </p:cNvPr>
            <p:cNvCxnSpPr>
              <a:cxnSpLocks/>
              <a:stCxn id="127" idx="2"/>
              <a:endCxn id="125" idx="0"/>
            </p:cNvCxnSpPr>
            <p:nvPr/>
          </p:nvCxnSpPr>
          <p:spPr>
            <a:xfrm rot="5400000">
              <a:off x="11035153" y="1042066"/>
              <a:ext cx="265248" cy="742007"/>
            </a:xfrm>
            <a:prstGeom prst="bentConnector3">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34" name="连接符: 肘形 133">
              <a:extLst>
                <a:ext uri="{FF2B5EF4-FFF2-40B4-BE49-F238E27FC236}">
                  <a16:creationId xmlns:a16="http://schemas.microsoft.com/office/drawing/2014/main" id="{BDF9D0A7-D728-6D28-E27F-18C5FDE0B7C5}"/>
                </a:ext>
              </a:extLst>
            </p:cNvPr>
            <p:cNvCxnSpPr>
              <a:stCxn id="125" idx="4"/>
              <a:endCxn id="123" idx="0"/>
            </p:cNvCxnSpPr>
            <p:nvPr/>
          </p:nvCxnSpPr>
          <p:spPr>
            <a:xfrm rot="16200000" flipH="1">
              <a:off x="10702267" y="1925990"/>
              <a:ext cx="194552" cy="5541"/>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cxnSp>
          <p:nvCxnSpPr>
            <p:cNvPr id="135" name="连接符: 肘形 134">
              <a:extLst>
                <a:ext uri="{FF2B5EF4-FFF2-40B4-BE49-F238E27FC236}">
                  <a16:creationId xmlns:a16="http://schemas.microsoft.com/office/drawing/2014/main" id="{F1DFE0D7-B78D-FF2A-3313-A28E3BEB547D}"/>
                </a:ext>
              </a:extLst>
            </p:cNvPr>
            <p:cNvCxnSpPr>
              <a:stCxn id="125" idx="4"/>
              <a:endCxn id="129" idx="0"/>
            </p:cNvCxnSpPr>
            <p:nvPr/>
          </p:nvCxnSpPr>
          <p:spPr>
            <a:xfrm rot="16200000" flipH="1">
              <a:off x="11134977" y="1493280"/>
              <a:ext cx="190607" cy="867015"/>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grpSp>
          <p:nvGrpSpPr>
            <p:cNvPr id="136" name="组合 135">
              <a:extLst>
                <a:ext uri="{FF2B5EF4-FFF2-40B4-BE49-F238E27FC236}">
                  <a16:creationId xmlns:a16="http://schemas.microsoft.com/office/drawing/2014/main" id="{AE6C98CE-2E8F-D5DD-790F-2E7ABC095FB5}"/>
                </a:ext>
              </a:extLst>
            </p:cNvPr>
            <p:cNvGrpSpPr/>
            <p:nvPr/>
          </p:nvGrpSpPr>
          <p:grpSpPr>
            <a:xfrm>
              <a:off x="9552754" y="2039182"/>
              <a:ext cx="635003" cy="462517"/>
              <a:chOff x="2618303" y="1841679"/>
              <a:chExt cx="739175" cy="384518"/>
            </a:xfrm>
          </p:grpSpPr>
          <p:sp>
            <p:nvSpPr>
              <p:cNvPr id="137" name="等腰三角形 136">
                <a:extLst>
                  <a:ext uri="{FF2B5EF4-FFF2-40B4-BE49-F238E27FC236}">
                    <a16:creationId xmlns:a16="http://schemas.microsoft.com/office/drawing/2014/main" id="{CE619D09-7610-C388-78C8-AC0B65A2C243}"/>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138" name="文本框 137">
                <a:extLst>
                  <a:ext uri="{FF2B5EF4-FFF2-40B4-BE49-F238E27FC236}">
                    <a16:creationId xmlns:a16="http://schemas.microsoft.com/office/drawing/2014/main" id="{E9764D25-1F0A-90A2-F060-ABF39760CE59}"/>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P1/1</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cxnSp>
          <p:nvCxnSpPr>
            <p:cNvPr id="141" name="连接符: 肘形 140">
              <a:extLst>
                <a:ext uri="{FF2B5EF4-FFF2-40B4-BE49-F238E27FC236}">
                  <a16:creationId xmlns:a16="http://schemas.microsoft.com/office/drawing/2014/main" id="{EA8E8DBF-A55E-2B34-AF03-0EC200C1A536}"/>
                </a:ext>
              </a:extLst>
            </p:cNvPr>
            <p:cNvCxnSpPr>
              <a:stCxn id="125" idx="4"/>
              <a:endCxn id="137" idx="0"/>
            </p:cNvCxnSpPr>
            <p:nvPr/>
          </p:nvCxnSpPr>
          <p:spPr>
            <a:xfrm rot="5400000">
              <a:off x="10229667" y="1472075"/>
              <a:ext cx="207697" cy="926517"/>
            </a:xfrm>
            <a:prstGeom prst="bentConnector3">
              <a:avLst/>
            </a:prstGeom>
            <a:ln>
              <a:tailEnd type="triangle"/>
            </a:ln>
          </p:spPr>
          <p:style>
            <a:lnRef idx="2">
              <a:schemeClr val="accent1"/>
            </a:lnRef>
            <a:fillRef idx="0">
              <a:schemeClr val="accent1"/>
            </a:fillRef>
            <a:effectRef idx="1">
              <a:schemeClr val="accent1"/>
            </a:effectRef>
            <a:fontRef idx="minor">
              <a:schemeClr val="tx1"/>
            </a:fontRef>
          </p:style>
        </p:cxnSp>
      </p:grpSp>
      <p:grpSp>
        <p:nvGrpSpPr>
          <p:cNvPr id="142" name="组合 141">
            <a:extLst>
              <a:ext uri="{FF2B5EF4-FFF2-40B4-BE49-F238E27FC236}">
                <a16:creationId xmlns:a16="http://schemas.microsoft.com/office/drawing/2014/main" id="{C3F31249-6B23-A29B-8D6E-9096891A6341}"/>
              </a:ext>
            </a:extLst>
          </p:cNvPr>
          <p:cNvGrpSpPr/>
          <p:nvPr/>
        </p:nvGrpSpPr>
        <p:grpSpPr>
          <a:xfrm>
            <a:off x="435161" y="926333"/>
            <a:ext cx="635003" cy="462517"/>
            <a:chOff x="2618303" y="1841679"/>
            <a:chExt cx="739175" cy="384518"/>
          </a:xfrm>
        </p:grpSpPr>
        <p:sp>
          <p:nvSpPr>
            <p:cNvPr id="143" name="等腰三角形 142">
              <a:extLst>
                <a:ext uri="{FF2B5EF4-FFF2-40B4-BE49-F238E27FC236}">
                  <a16:creationId xmlns:a16="http://schemas.microsoft.com/office/drawing/2014/main" id="{4A7B8F8A-D174-3082-24E4-AFF7EAE6C646}"/>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 b="1" i="0" u="none" strike="noStrike" kern="0" cap="none" spc="0" normalizeH="0" baseline="0" noProof="0" dirty="0">
                <a:ln>
                  <a:noFill/>
                </a:ln>
                <a:solidFill>
                  <a:schemeClr val="bg1"/>
                </a:solidFill>
                <a:effectLst/>
                <a:uLnTx/>
                <a:uFillTx/>
                <a:latin typeface="+mn-ea"/>
                <a:cs typeface="+mn-cs"/>
              </a:endParaRPr>
            </a:p>
          </p:txBody>
        </p:sp>
        <p:sp>
          <p:nvSpPr>
            <p:cNvPr id="144" name="文本框 143">
              <a:extLst>
                <a:ext uri="{FF2B5EF4-FFF2-40B4-BE49-F238E27FC236}">
                  <a16:creationId xmlns:a16="http://schemas.microsoft.com/office/drawing/2014/main" id="{3DB62D9D-669E-0081-260F-3C58D85A3453}"/>
                </a:ext>
              </a:extLst>
            </p:cNvPr>
            <p:cNvSpPr txBox="1"/>
            <p:nvPr/>
          </p:nvSpPr>
          <p:spPr>
            <a:xfrm>
              <a:off x="2618303" y="2033938"/>
              <a:ext cx="739175" cy="17911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P1/2</a:t>
              </a:r>
              <a:endParaRPr kumimoji="0" lang="zh-CN" altLang="en-US" sz="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sp>
        <p:nvSpPr>
          <p:cNvPr id="145" name="文本框 144">
            <a:extLst>
              <a:ext uri="{FF2B5EF4-FFF2-40B4-BE49-F238E27FC236}">
                <a16:creationId xmlns:a16="http://schemas.microsoft.com/office/drawing/2014/main" id="{34A03E9D-66EB-C10C-07E5-D73D76109403}"/>
              </a:ext>
            </a:extLst>
          </p:cNvPr>
          <p:cNvSpPr txBox="1"/>
          <p:nvPr/>
        </p:nvSpPr>
        <p:spPr>
          <a:xfrm>
            <a:off x="251528" y="1560426"/>
            <a:ext cx="1063523" cy="461665"/>
          </a:xfrm>
          <a:prstGeom prst="rect">
            <a:avLst/>
          </a:prstGeom>
          <a:noFill/>
        </p:spPr>
        <p:txBody>
          <a:bodyPr wrap="square" rtlCol="0">
            <a:spAutoFit/>
          </a:bodyPr>
          <a:lstStyle/>
          <a:p>
            <a:r>
              <a:rPr lang="en-US" altLang="zh-CN" sz="800" dirty="0">
                <a:solidFill>
                  <a:schemeClr val="bg1"/>
                </a:solidFill>
                <a:latin typeface="Arial" panose="020B0604020202020204" pitchFamily="34" charset="0"/>
                <a:ea typeface="微软雅黑" panose="020B0503020204020204" pitchFamily="34" charset="-122"/>
              </a:rPr>
              <a:t>P1</a:t>
            </a:r>
            <a:r>
              <a:rPr lang="zh-CN" altLang="en-US" sz="800" dirty="0">
                <a:solidFill>
                  <a:schemeClr val="bg1"/>
                </a:solidFill>
                <a:latin typeface="Arial" panose="020B0604020202020204" pitchFamily="34" charset="0"/>
                <a:ea typeface="微软雅黑" panose="020B0503020204020204" pitchFamily="34" charset="-122"/>
              </a:rPr>
              <a:t>优先级为</a:t>
            </a:r>
            <a:r>
              <a:rPr lang="en-US" altLang="zh-CN" sz="800" dirty="0">
                <a:solidFill>
                  <a:schemeClr val="bg1"/>
                </a:solidFill>
                <a:latin typeface="Arial" panose="020B0604020202020204" pitchFamily="34" charset="0"/>
                <a:ea typeface="微软雅黑" panose="020B0503020204020204" pitchFamily="34" charset="-122"/>
              </a:rPr>
              <a:t>2</a:t>
            </a:r>
            <a:r>
              <a:rPr lang="zh-CN" altLang="en-US" sz="800" dirty="0">
                <a:solidFill>
                  <a:schemeClr val="bg1"/>
                </a:solidFill>
                <a:latin typeface="Arial" panose="020B0604020202020204" pitchFamily="34" charset="0"/>
                <a:ea typeface="微软雅黑" panose="020B0503020204020204" pitchFamily="34" charset="-122"/>
              </a:rPr>
              <a:t>，优先级数字越小优先级越高</a:t>
            </a:r>
          </a:p>
        </p:txBody>
      </p:sp>
      <p:grpSp>
        <p:nvGrpSpPr>
          <p:cNvPr id="13" name="组合 12">
            <a:extLst>
              <a:ext uri="{FF2B5EF4-FFF2-40B4-BE49-F238E27FC236}">
                <a16:creationId xmlns:a16="http://schemas.microsoft.com/office/drawing/2014/main" id="{45D20EB1-63BB-A40B-DE1D-2417CBE9E5BF}"/>
              </a:ext>
            </a:extLst>
          </p:cNvPr>
          <p:cNvGrpSpPr/>
          <p:nvPr/>
        </p:nvGrpSpPr>
        <p:grpSpPr>
          <a:xfrm>
            <a:off x="2695980" y="2812836"/>
            <a:ext cx="6447175" cy="1358800"/>
            <a:chOff x="2876203" y="3414101"/>
            <a:chExt cx="4824233" cy="1500120"/>
          </a:xfrm>
        </p:grpSpPr>
        <p:sp>
          <p:nvSpPr>
            <p:cNvPr id="7" name="任意多边形: 形状 6">
              <a:extLst>
                <a:ext uri="{FF2B5EF4-FFF2-40B4-BE49-F238E27FC236}">
                  <a16:creationId xmlns:a16="http://schemas.microsoft.com/office/drawing/2014/main" id="{32BCA203-9B53-5945-6570-DA6150964DDC}"/>
                </a:ext>
              </a:extLst>
            </p:cNvPr>
            <p:cNvSpPr/>
            <p:nvPr/>
          </p:nvSpPr>
          <p:spPr>
            <a:xfrm>
              <a:off x="2876203" y="3591221"/>
              <a:ext cx="4824233" cy="1323000"/>
            </a:xfrm>
            <a:custGeom>
              <a:avLst/>
              <a:gdLst>
                <a:gd name="connsiteX0" fmla="*/ 0 w 4824233"/>
                <a:gd name="connsiteY0" fmla="*/ 0 h 1323000"/>
                <a:gd name="connsiteX1" fmla="*/ 4824233 w 4824233"/>
                <a:gd name="connsiteY1" fmla="*/ 0 h 1323000"/>
                <a:gd name="connsiteX2" fmla="*/ 4824233 w 4824233"/>
                <a:gd name="connsiteY2" fmla="*/ 1323000 h 1323000"/>
                <a:gd name="connsiteX3" fmla="*/ 0 w 4824233"/>
                <a:gd name="connsiteY3" fmla="*/ 1323000 h 1323000"/>
                <a:gd name="connsiteX4" fmla="*/ 0 w 4824233"/>
                <a:gd name="connsiteY4" fmla="*/ 0 h 132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4233" h="1323000">
                  <a:moveTo>
                    <a:pt x="0" y="0"/>
                  </a:moveTo>
                  <a:lnTo>
                    <a:pt x="4824233" y="0"/>
                  </a:lnTo>
                  <a:lnTo>
                    <a:pt x="4824233" y="1323000"/>
                  </a:lnTo>
                  <a:lnTo>
                    <a:pt x="0" y="1323000"/>
                  </a:lnTo>
                  <a:lnTo>
                    <a:pt x="0" y="0"/>
                  </a:lnTo>
                  <a:close/>
                </a:path>
              </a:pathLst>
            </a:custGeom>
          </p:spPr>
          <p:style>
            <a:lnRef idx="2">
              <a:schemeClr val="accent2">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374414" tIns="249936" rIns="374414" bIns="85344" numCol="1" spcCol="1270" anchor="t" anchorCtr="0">
              <a:noAutofit/>
            </a:bodyPr>
            <a:lstStyle/>
            <a:p>
              <a:pPr marL="114300" lvl="1" indent="-114300" algn="l" defTabSz="533400">
                <a:lnSpc>
                  <a:spcPct val="90000"/>
                </a:lnSpc>
                <a:spcBef>
                  <a:spcPct val="0"/>
                </a:spcBef>
                <a:spcAft>
                  <a:spcPct val="15000"/>
                </a:spcAft>
                <a:buChar char="•"/>
              </a:pPr>
              <a:r>
                <a:rPr lang="zh-CN" altLang="en-US" sz="1200" b="1" kern="1200" dirty="0">
                  <a:solidFill>
                    <a:schemeClr val="bg1"/>
                  </a:solidFill>
                  <a:latin typeface="Arial" panose="020B0604020202020204" pitchFamily="34" charset="0"/>
                  <a:ea typeface="微软雅黑" panose="020B0503020204020204" pitchFamily="34" charset="-122"/>
                  <a:cs typeface="+mn-cs"/>
                </a:rPr>
                <a:t>由于在</a:t>
              </a:r>
              <a:r>
                <a:rPr lang="en-US" altLang="zh-CN" sz="1200" b="1" kern="1200" dirty="0" err="1">
                  <a:solidFill>
                    <a:schemeClr val="bg1"/>
                  </a:solidFill>
                  <a:latin typeface="Arial" panose="020B0604020202020204" pitchFamily="34" charset="0"/>
                  <a:ea typeface="微软雅黑" panose="020B0503020204020204" pitchFamily="34" charset="-122"/>
                  <a:cs typeface="+mn-cs"/>
                </a:rPr>
                <a:t>alg</a:t>
              </a:r>
              <a:r>
                <a:rPr lang="en-US" altLang="zh-CN" sz="1200" b="1" kern="1200" dirty="0">
                  <a:solidFill>
                    <a:schemeClr val="bg1"/>
                  </a:solidFill>
                  <a:latin typeface="Arial" panose="020B0604020202020204" pitchFamily="34" charset="0"/>
                  <a:ea typeface="微软雅黑" panose="020B0503020204020204" pitchFamily="34" charset="-122"/>
                  <a:cs typeface="+mn-cs"/>
                </a:rPr>
                <a:t> 1</a:t>
              </a:r>
              <a:r>
                <a:rPr lang="zh-CN" altLang="en-US" sz="1200" b="1" kern="1200" dirty="0">
                  <a:solidFill>
                    <a:schemeClr val="bg1"/>
                  </a:solidFill>
                  <a:latin typeface="Arial" panose="020B0604020202020204" pitchFamily="34" charset="0"/>
                  <a:ea typeface="微软雅黑" panose="020B0503020204020204" pitchFamily="34" charset="-122"/>
                  <a:cs typeface="+mn-cs"/>
                </a:rPr>
                <a:t>和</a:t>
              </a:r>
              <a:r>
                <a:rPr lang="en-US" sz="1200" b="1" kern="1200" dirty="0" err="1">
                  <a:solidFill>
                    <a:schemeClr val="bg1"/>
                  </a:solidFill>
                  <a:latin typeface="Arial" panose="020B0604020202020204" pitchFamily="34" charset="0"/>
                  <a:ea typeface="微软雅黑" panose="020B0503020204020204" pitchFamily="34" charset="-122"/>
                  <a:cs typeface="+mn-cs"/>
                </a:rPr>
                <a:t>alg</a:t>
              </a:r>
              <a:r>
                <a:rPr lang="en-US" sz="1200" b="1" kern="1200" dirty="0">
                  <a:solidFill>
                    <a:schemeClr val="bg1"/>
                  </a:solidFill>
                  <a:latin typeface="Arial" panose="020B0604020202020204" pitchFamily="34" charset="0"/>
                  <a:ea typeface="微软雅黑" panose="020B0503020204020204" pitchFamily="34" charset="-122"/>
                  <a:cs typeface="+mn-cs"/>
                </a:rPr>
                <a:t> 2</a:t>
              </a:r>
              <a:r>
                <a:rPr lang="zh-CN" altLang="en-US" sz="1200" b="1" kern="1200" dirty="0">
                  <a:solidFill>
                    <a:schemeClr val="bg1"/>
                  </a:solidFill>
                  <a:latin typeface="Arial" panose="020B0604020202020204" pitchFamily="34" charset="0"/>
                  <a:ea typeface="微软雅黑" panose="020B0503020204020204" pitchFamily="34" charset="-122"/>
                  <a:cs typeface="+mn-cs"/>
                </a:rPr>
                <a:t>中</a:t>
              </a:r>
              <a:r>
                <a:rPr lang="en-US" sz="1200" b="1" kern="1200" dirty="0">
                  <a:solidFill>
                    <a:schemeClr val="bg1"/>
                  </a:solidFill>
                  <a:latin typeface="Arial" panose="020B0604020202020204" pitchFamily="34" charset="0"/>
                  <a:ea typeface="微软雅黑" panose="020B0503020204020204" pitchFamily="34" charset="-122"/>
                  <a:cs typeface="+mn-cs"/>
                </a:rPr>
                <a:t>P1</a:t>
              </a:r>
              <a:r>
                <a:rPr lang="zh-CN" altLang="en-US" sz="1200" b="1" kern="1200" dirty="0">
                  <a:solidFill>
                    <a:schemeClr val="bg1"/>
                  </a:solidFill>
                  <a:latin typeface="Arial" panose="020B0604020202020204" pitchFamily="34" charset="0"/>
                  <a:ea typeface="微软雅黑" panose="020B0503020204020204" pitchFamily="34" charset="-122"/>
                  <a:cs typeface="+mn-cs"/>
                </a:rPr>
                <a:t>为共用料，所以把</a:t>
              </a:r>
              <a:r>
                <a:rPr lang="en-US" sz="1200" b="1" kern="1200" dirty="0">
                  <a:solidFill>
                    <a:schemeClr val="bg1"/>
                  </a:solidFill>
                  <a:latin typeface="Arial" panose="020B0604020202020204" pitchFamily="34" charset="0"/>
                  <a:ea typeface="微软雅黑" panose="020B0503020204020204" pitchFamily="34" charset="-122"/>
                  <a:cs typeface="+mn-cs"/>
                </a:rPr>
                <a:t>P1</a:t>
              </a:r>
              <a:r>
                <a:rPr lang="zh-CN" altLang="en-US" sz="1200" b="1" kern="1200" dirty="0">
                  <a:solidFill>
                    <a:schemeClr val="bg1"/>
                  </a:solidFill>
                  <a:latin typeface="Arial" panose="020B0604020202020204" pitchFamily="34" charset="0"/>
                  <a:ea typeface="微软雅黑" panose="020B0503020204020204" pitchFamily="34" charset="-122"/>
                  <a:cs typeface="+mn-cs"/>
                </a:rPr>
                <a:t>优先级设置较低优先级。以此来预防用料偏差。</a:t>
              </a:r>
            </a:p>
            <a:p>
              <a:pPr marL="114300" lvl="1" indent="-114300" algn="l" defTabSz="533400">
                <a:lnSpc>
                  <a:spcPct val="90000"/>
                </a:lnSpc>
                <a:spcBef>
                  <a:spcPct val="0"/>
                </a:spcBef>
                <a:spcAft>
                  <a:spcPct val="15000"/>
                </a:spcAft>
                <a:buChar char="•"/>
              </a:pPr>
              <a:r>
                <a:rPr lang="zh-CN" altLang="en-US" sz="1200" b="1" kern="1200" dirty="0">
                  <a:solidFill>
                    <a:schemeClr val="bg1"/>
                  </a:solidFill>
                  <a:latin typeface="Arial" panose="020B0604020202020204" pitchFamily="34" charset="0"/>
                  <a:ea typeface="微软雅黑" panose="020B0503020204020204" pitchFamily="34" charset="-122"/>
                  <a:cs typeface="+mn-cs"/>
                </a:rPr>
                <a:t>产品结构中可能都是共用料，也许从历史用量或者</a:t>
              </a:r>
              <a:r>
                <a:rPr lang="en-US" sz="1200" b="1" kern="1200" dirty="0">
                  <a:solidFill>
                    <a:schemeClr val="bg1"/>
                  </a:solidFill>
                  <a:latin typeface="Arial" panose="020B0604020202020204" pitchFamily="34" charset="0"/>
                  <a:ea typeface="微软雅黑" panose="020B0503020204020204" pitchFamily="34" charset="-122"/>
                  <a:cs typeface="+mn-cs"/>
                </a:rPr>
                <a:t>parts forecast</a:t>
              </a:r>
              <a:r>
                <a:rPr lang="zh-CN" altLang="en-US" sz="1200" b="1" kern="1200" dirty="0">
                  <a:solidFill>
                    <a:schemeClr val="bg1"/>
                  </a:solidFill>
                  <a:latin typeface="Arial" panose="020B0604020202020204" pitchFamily="34" charset="0"/>
                  <a:ea typeface="微软雅黑" panose="020B0503020204020204" pitchFamily="34" charset="-122"/>
                  <a:cs typeface="+mn-cs"/>
                </a:rPr>
                <a:t>量来识别共用料。</a:t>
              </a:r>
            </a:p>
          </p:txBody>
        </p:sp>
        <p:sp>
          <p:nvSpPr>
            <p:cNvPr id="8" name="任意多边形: 形状 7">
              <a:extLst>
                <a:ext uri="{FF2B5EF4-FFF2-40B4-BE49-F238E27FC236}">
                  <a16:creationId xmlns:a16="http://schemas.microsoft.com/office/drawing/2014/main" id="{E70F17A1-DC81-9D20-A2BC-F30870D7704F}"/>
                </a:ext>
              </a:extLst>
            </p:cNvPr>
            <p:cNvSpPr/>
            <p:nvPr/>
          </p:nvSpPr>
          <p:spPr>
            <a:xfrm>
              <a:off x="3117414" y="3414101"/>
              <a:ext cx="3376963" cy="354240"/>
            </a:xfrm>
            <a:custGeom>
              <a:avLst/>
              <a:gdLst>
                <a:gd name="connsiteX0" fmla="*/ 0 w 3376963"/>
                <a:gd name="connsiteY0" fmla="*/ 59041 h 354240"/>
                <a:gd name="connsiteX1" fmla="*/ 59041 w 3376963"/>
                <a:gd name="connsiteY1" fmla="*/ 0 h 354240"/>
                <a:gd name="connsiteX2" fmla="*/ 3317922 w 3376963"/>
                <a:gd name="connsiteY2" fmla="*/ 0 h 354240"/>
                <a:gd name="connsiteX3" fmla="*/ 3376963 w 3376963"/>
                <a:gd name="connsiteY3" fmla="*/ 59041 h 354240"/>
                <a:gd name="connsiteX4" fmla="*/ 3376963 w 3376963"/>
                <a:gd name="connsiteY4" fmla="*/ 295199 h 354240"/>
                <a:gd name="connsiteX5" fmla="*/ 3317922 w 3376963"/>
                <a:gd name="connsiteY5" fmla="*/ 354240 h 354240"/>
                <a:gd name="connsiteX6" fmla="*/ 59041 w 3376963"/>
                <a:gd name="connsiteY6" fmla="*/ 354240 h 354240"/>
                <a:gd name="connsiteX7" fmla="*/ 0 w 3376963"/>
                <a:gd name="connsiteY7" fmla="*/ 295199 h 354240"/>
                <a:gd name="connsiteX8" fmla="*/ 0 w 3376963"/>
                <a:gd name="connsiteY8" fmla="*/ 59041 h 35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6963" h="354240">
                  <a:moveTo>
                    <a:pt x="0" y="59041"/>
                  </a:moveTo>
                  <a:cubicBezTo>
                    <a:pt x="0" y="26434"/>
                    <a:pt x="26434" y="0"/>
                    <a:pt x="59041" y="0"/>
                  </a:cubicBezTo>
                  <a:lnTo>
                    <a:pt x="3317922" y="0"/>
                  </a:lnTo>
                  <a:cubicBezTo>
                    <a:pt x="3350529" y="0"/>
                    <a:pt x="3376963" y="26434"/>
                    <a:pt x="3376963" y="59041"/>
                  </a:cubicBezTo>
                  <a:lnTo>
                    <a:pt x="3376963" y="295199"/>
                  </a:lnTo>
                  <a:cubicBezTo>
                    <a:pt x="3376963" y="327806"/>
                    <a:pt x="3350529" y="354240"/>
                    <a:pt x="3317922" y="354240"/>
                  </a:cubicBezTo>
                  <a:lnTo>
                    <a:pt x="59041" y="354240"/>
                  </a:lnTo>
                  <a:cubicBezTo>
                    <a:pt x="26434" y="354240"/>
                    <a:pt x="0" y="327806"/>
                    <a:pt x="0" y="295199"/>
                  </a:cubicBezTo>
                  <a:lnTo>
                    <a:pt x="0" y="59041"/>
                  </a:lnTo>
                  <a:close/>
                </a:path>
              </a:pathLst>
            </a:custGeom>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144934" tIns="17293" rIns="144934" bIns="17293" numCol="1" spcCol="1270" anchor="ctr" anchorCtr="0">
              <a:noAutofit/>
            </a:bodyPr>
            <a:lstStyle/>
            <a:p>
              <a:pPr marL="0" lvl="0" indent="0" algn="l" defTabSz="533400">
                <a:lnSpc>
                  <a:spcPct val="90000"/>
                </a:lnSpc>
                <a:spcBef>
                  <a:spcPct val="0"/>
                </a:spcBef>
                <a:spcAft>
                  <a:spcPct val="35000"/>
                </a:spcAft>
                <a:buNone/>
              </a:pPr>
              <a:r>
                <a:rPr lang="zh-CN" altLang="en-US" sz="1200" b="1" kern="1200" dirty="0">
                  <a:solidFill>
                    <a:schemeClr val="bg1"/>
                  </a:solidFill>
                  <a:latin typeface="Arial" panose="020B0604020202020204" pitchFamily="34" charset="0"/>
                  <a:ea typeface="微软雅黑" panose="020B0503020204020204" pitchFamily="34" charset="-122"/>
                  <a:cs typeface="+mn-cs"/>
                </a:rPr>
                <a:t>一般性做法</a:t>
              </a:r>
            </a:p>
          </p:txBody>
        </p:sp>
      </p:grpSp>
      <p:grpSp>
        <p:nvGrpSpPr>
          <p:cNvPr id="14" name="组合 13">
            <a:extLst>
              <a:ext uri="{FF2B5EF4-FFF2-40B4-BE49-F238E27FC236}">
                <a16:creationId xmlns:a16="http://schemas.microsoft.com/office/drawing/2014/main" id="{2D25716D-4411-EB7A-EF69-90D0AD78E777}"/>
              </a:ext>
            </a:extLst>
          </p:cNvPr>
          <p:cNvGrpSpPr/>
          <p:nvPr/>
        </p:nvGrpSpPr>
        <p:grpSpPr>
          <a:xfrm>
            <a:off x="2694557" y="4186212"/>
            <a:ext cx="6447175" cy="1094755"/>
            <a:chOff x="2876203" y="4979021"/>
            <a:chExt cx="4824233" cy="1273321"/>
          </a:xfrm>
        </p:grpSpPr>
        <p:sp>
          <p:nvSpPr>
            <p:cNvPr id="11" name="任意多边形: 形状 10">
              <a:extLst>
                <a:ext uri="{FF2B5EF4-FFF2-40B4-BE49-F238E27FC236}">
                  <a16:creationId xmlns:a16="http://schemas.microsoft.com/office/drawing/2014/main" id="{5BC95CC7-2731-65A4-B1F4-AFAB8396B963}"/>
                </a:ext>
              </a:extLst>
            </p:cNvPr>
            <p:cNvSpPr/>
            <p:nvPr/>
          </p:nvSpPr>
          <p:spPr>
            <a:xfrm>
              <a:off x="2876203" y="5156142"/>
              <a:ext cx="4824233" cy="1096200"/>
            </a:xfrm>
            <a:custGeom>
              <a:avLst/>
              <a:gdLst>
                <a:gd name="connsiteX0" fmla="*/ 0 w 4824233"/>
                <a:gd name="connsiteY0" fmla="*/ 0 h 1096200"/>
                <a:gd name="connsiteX1" fmla="*/ 4824233 w 4824233"/>
                <a:gd name="connsiteY1" fmla="*/ 0 h 1096200"/>
                <a:gd name="connsiteX2" fmla="*/ 4824233 w 4824233"/>
                <a:gd name="connsiteY2" fmla="*/ 1096200 h 1096200"/>
                <a:gd name="connsiteX3" fmla="*/ 0 w 4824233"/>
                <a:gd name="connsiteY3" fmla="*/ 1096200 h 1096200"/>
                <a:gd name="connsiteX4" fmla="*/ 0 w 4824233"/>
                <a:gd name="connsiteY4" fmla="*/ 0 h 109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4233" h="1096200">
                  <a:moveTo>
                    <a:pt x="0" y="0"/>
                  </a:moveTo>
                  <a:lnTo>
                    <a:pt x="4824233" y="0"/>
                  </a:lnTo>
                  <a:lnTo>
                    <a:pt x="4824233" y="1096200"/>
                  </a:lnTo>
                  <a:lnTo>
                    <a:pt x="0" y="1096200"/>
                  </a:lnTo>
                  <a:lnTo>
                    <a:pt x="0" y="0"/>
                  </a:lnTo>
                  <a:close/>
                </a:path>
              </a:pathLst>
            </a:custGeom>
          </p:spPr>
          <p:style>
            <a:lnRef idx="2">
              <a:schemeClr val="accent3">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374414" tIns="249936" rIns="374414" bIns="85344" numCol="1" spcCol="1270" anchor="t" anchorCtr="0">
              <a:noAutofit/>
            </a:bodyPr>
            <a:lstStyle/>
            <a:p>
              <a:pPr marL="114300" lvl="1" indent="-114300" algn="l" defTabSz="533400">
                <a:lnSpc>
                  <a:spcPct val="90000"/>
                </a:lnSpc>
                <a:spcBef>
                  <a:spcPct val="0"/>
                </a:spcBef>
                <a:spcAft>
                  <a:spcPct val="15000"/>
                </a:spcAft>
                <a:buChar char="•"/>
              </a:pPr>
              <a:r>
                <a:rPr lang="zh-CN" altLang="en-US" sz="1200" b="1" kern="1200" dirty="0">
                  <a:solidFill>
                    <a:schemeClr val="bg1"/>
                  </a:solidFill>
                  <a:latin typeface="Arial" panose="020B0604020202020204" pitchFamily="34" charset="0"/>
                  <a:ea typeface="微软雅黑" panose="020B0503020204020204" pitchFamily="34" charset="-122"/>
                  <a:cs typeface="+mn-cs"/>
                </a:rPr>
                <a:t>大概率找不到所谓共用料。</a:t>
              </a:r>
            </a:p>
            <a:p>
              <a:pPr marL="114300" lvl="1" indent="-114300" algn="l" defTabSz="533400">
                <a:lnSpc>
                  <a:spcPct val="90000"/>
                </a:lnSpc>
                <a:spcBef>
                  <a:spcPct val="0"/>
                </a:spcBef>
                <a:spcAft>
                  <a:spcPct val="15000"/>
                </a:spcAft>
                <a:buChar char="•"/>
              </a:pPr>
              <a:r>
                <a:rPr lang="zh-CN" altLang="en-US" sz="1200" b="1" kern="1200" dirty="0">
                  <a:solidFill>
                    <a:schemeClr val="bg1"/>
                  </a:solidFill>
                  <a:latin typeface="Arial" panose="020B0604020202020204" pitchFamily="34" charset="0"/>
                  <a:ea typeface="微软雅黑" panose="020B0503020204020204" pitchFamily="34" charset="-122"/>
                  <a:cs typeface="+mn-cs"/>
                </a:rPr>
                <a:t>由于欠料</a:t>
              </a:r>
              <a:r>
                <a:rPr lang="en-US" sz="1200" b="1" kern="1200" dirty="0">
                  <a:solidFill>
                    <a:schemeClr val="bg1"/>
                  </a:solidFill>
                  <a:latin typeface="Arial" panose="020B0604020202020204" pitchFamily="34" charset="0"/>
                  <a:ea typeface="微软雅黑" panose="020B0503020204020204" pitchFamily="34" charset="-122"/>
                  <a:cs typeface="+mn-cs"/>
                </a:rPr>
                <a:t>/Missing</a:t>
              </a:r>
              <a:r>
                <a:rPr lang="zh-CN" altLang="en-US" sz="1200" b="1" kern="1200" dirty="0">
                  <a:solidFill>
                    <a:schemeClr val="bg1"/>
                  </a:solidFill>
                  <a:latin typeface="Arial" panose="020B0604020202020204" pitchFamily="34" charset="0"/>
                  <a:ea typeface="微软雅黑" panose="020B0503020204020204" pitchFamily="34" charset="-122"/>
                  <a:cs typeface="+mn-cs"/>
                </a:rPr>
                <a:t>与订单计划</a:t>
              </a:r>
              <a:r>
                <a:rPr lang="en-US" sz="1200" b="1" kern="1200" dirty="0">
                  <a:solidFill>
                    <a:schemeClr val="bg1"/>
                  </a:solidFill>
                  <a:latin typeface="Arial" panose="020B0604020202020204" pitchFamily="34" charset="0"/>
                  <a:ea typeface="微软雅黑" panose="020B0503020204020204" pitchFamily="34" charset="-122"/>
                  <a:cs typeface="+mn-cs"/>
                </a:rPr>
                <a:t>/</a:t>
              </a:r>
              <a:r>
                <a:rPr lang="zh-CN" altLang="en-US" sz="1200" b="1" kern="1200" dirty="0">
                  <a:solidFill>
                    <a:schemeClr val="bg1"/>
                  </a:solidFill>
                  <a:latin typeface="Arial" panose="020B0604020202020204" pitchFamily="34" charset="0"/>
                  <a:ea typeface="微软雅黑" panose="020B0503020204020204" pitchFamily="34" charset="-122"/>
                  <a:cs typeface="+mn-cs"/>
                </a:rPr>
                <a:t>排产频次不同，也就是说订单计划的需求范围会大于欠料</a:t>
              </a:r>
              <a:r>
                <a:rPr lang="en-US" sz="1200" b="1" kern="1200" dirty="0">
                  <a:solidFill>
                    <a:schemeClr val="bg1"/>
                  </a:solidFill>
                  <a:latin typeface="Arial" panose="020B0604020202020204" pitchFamily="34" charset="0"/>
                  <a:ea typeface="微软雅黑" panose="020B0503020204020204" pitchFamily="34" charset="-122"/>
                  <a:cs typeface="+mn-cs"/>
                </a:rPr>
                <a:t>/Missing</a:t>
              </a:r>
              <a:r>
                <a:rPr lang="zh-CN" altLang="en-US" sz="1200" b="1" kern="1200" dirty="0">
                  <a:solidFill>
                    <a:schemeClr val="bg1"/>
                  </a:solidFill>
                  <a:latin typeface="Arial" panose="020B0604020202020204" pitchFamily="34" charset="0"/>
                  <a:ea typeface="微软雅黑" panose="020B0503020204020204" pitchFamily="34" charset="-122"/>
                  <a:cs typeface="+mn-cs"/>
                </a:rPr>
                <a:t>，依然会买错用错。</a:t>
              </a:r>
            </a:p>
          </p:txBody>
        </p:sp>
        <p:sp>
          <p:nvSpPr>
            <p:cNvPr id="12" name="任意多边形: 形状 11">
              <a:extLst>
                <a:ext uri="{FF2B5EF4-FFF2-40B4-BE49-F238E27FC236}">
                  <a16:creationId xmlns:a16="http://schemas.microsoft.com/office/drawing/2014/main" id="{1BEB0301-9297-CD76-4911-BD54346E203F}"/>
                </a:ext>
              </a:extLst>
            </p:cNvPr>
            <p:cNvSpPr/>
            <p:nvPr/>
          </p:nvSpPr>
          <p:spPr>
            <a:xfrm>
              <a:off x="3117414" y="4979021"/>
              <a:ext cx="3376963" cy="354240"/>
            </a:xfrm>
            <a:custGeom>
              <a:avLst/>
              <a:gdLst>
                <a:gd name="connsiteX0" fmla="*/ 0 w 3376963"/>
                <a:gd name="connsiteY0" fmla="*/ 59041 h 354240"/>
                <a:gd name="connsiteX1" fmla="*/ 59041 w 3376963"/>
                <a:gd name="connsiteY1" fmla="*/ 0 h 354240"/>
                <a:gd name="connsiteX2" fmla="*/ 3317922 w 3376963"/>
                <a:gd name="connsiteY2" fmla="*/ 0 h 354240"/>
                <a:gd name="connsiteX3" fmla="*/ 3376963 w 3376963"/>
                <a:gd name="connsiteY3" fmla="*/ 59041 h 354240"/>
                <a:gd name="connsiteX4" fmla="*/ 3376963 w 3376963"/>
                <a:gd name="connsiteY4" fmla="*/ 295199 h 354240"/>
                <a:gd name="connsiteX5" fmla="*/ 3317922 w 3376963"/>
                <a:gd name="connsiteY5" fmla="*/ 354240 h 354240"/>
                <a:gd name="connsiteX6" fmla="*/ 59041 w 3376963"/>
                <a:gd name="connsiteY6" fmla="*/ 354240 h 354240"/>
                <a:gd name="connsiteX7" fmla="*/ 0 w 3376963"/>
                <a:gd name="connsiteY7" fmla="*/ 295199 h 354240"/>
                <a:gd name="connsiteX8" fmla="*/ 0 w 3376963"/>
                <a:gd name="connsiteY8" fmla="*/ 59041 h 35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6963" h="354240">
                  <a:moveTo>
                    <a:pt x="0" y="59041"/>
                  </a:moveTo>
                  <a:cubicBezTo>
                    <a:pt x="0" y="26434"/>
                    <a:pt x="26434" y="0"/>
                    <a:pt x="59041" y="0"/>
                  </a:cubicBezTo>
                  <a:lnTo>
                    <a:pt x="3317922" y="0"/>
                  </a:lnTo>
                  <a:cubicBezTo>
                    <a:pt x="3350529" y="0"/>
                    <a:pt x="3376963" y="26434"/>
                    <a:pt x="3376963" y="59041"/>
                  </a:cubicBezTo>
                  <a:lnTo>
                    <a:pt x="3376963" y="295199"/>
                  </a:lnTo>
                  <a:cubicBezTo>
                    <a:pt x="3376963" y="327806"/>
                    <a:pt x="3350529" y="354240"/>
                    <a:pt x="3317922" y="354240"/>
                  </a:cubicBezTo>
                  <a:lnTo>
                    <a:pt x="59041" y="354240"/>
                  </a:lnTo>
                  <a:cubicBezTo>
                    <a:pt x="26434" y="354240"/>
                    <a:pt x="0" y="327806"/>
                    <a:pt x="0" y="295199"/>
                  </a:cubicBezTo>
                  <a:lnTo>
                    <a:pt x="0" y="59041"/>
                  </a:lnTo>
                  <a:close/>
                </a:path>
              </a:pathLst>
            </a:custGeom>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144934" tIns="17293" rIns="144934" bIns="17293" numCol="1" spcCol="1270" anchor="ctr" anchorCtr="0">
              <a:noAutofit/>
            </a:bodyPr>
            <a:lstStyle/>
            <a:p>
              <a:pPr marL="0" lvl="0" indent="0" algn="l" defTabSz="533400">
                <a:lnSpc>
                  <a:spcPct val="90000"/>
                </a:lnSpc>
                <a:spcBef>
                  <a:spcPct val="0"/>
                </a:spcBef>
                <a:spcAft>
                  <a:spcPct val="35000"/>
                </a:spcAft>
                <a:buNone/>
              </a:pPr>
              <a:r>
                <a:rPr lang="zh-CN" altLang="en-US" sz="1200" b="1" kern="1200">
                  <a:solidFill>
                    <a:schemeClr val="bg1"/>
                  </a:solidFill>
                  <a:latin typeface="Arial" panose="020B0604020202020204" pitchFamily="34" charset="0"/>
                  <a:ea typeface="微软雅黑" panose="020B0503020204020204" pitchFamily="34" charset="-122"/>
                  <a:cs typeface="+mn-cs"/>
                </a:rPr>
                <a:t>问题</a:t>
              </a:r>
            </a:p>
          </p:txBody>
        </p:sp>
      </p:grpSp>
      <p:grpSp>
        <p:nvGrpSpPr>
          <p:cNvPr id="15" name="组合 14">
            <a:extLst>
              <a:ext uri="{FF2B5EF4-FFF2-40B4-BE49-F238E27FC236}">
                <a16:creationId xmlns:a16="http://schemas.microsoft.com/office/drawing/2014/main" id="{63310688-D33B-258B-00EC-CA42A82EF056}"/>
              </a:ext>
            </a:extLst>
          </p:cNvPr>
          <p:cNvGrpSpPr/>
          <p:nvPr/>
        </p:nvGrpSpPr>
        <p:grpSpPr>
          <a:xfrm>
            <a:off x="2694557" y="5325834"/>
            <a:ext cx="6577556" cy="1060218"/>
            <a:chOff x="2876203" y="4979021"/>
            <a:chExt cx="4921793" cy="938080"/>
          </a:xfrm>
        </p:grpSpPr>
        <p:sp>
          <p:nvSpPr>
            <p:cNvPr id="16" name="任意多边形: 形状 15">
              <a:extLst>
                <a:ext uri="{FF2B5EF4-FFF2-40B4-BE49-F238E27FC236}">
                  <a16:creationId xmlns:a16="http://schemas.microsoft.com/office/drawing/2014/main" id="{0D91FCCB-43A7-C119-C04A-AA3FA023DBE4}"/>
                </a:ext>
              </a:extLst>
            </p:cNvPr>
            <p:cNvSpPr/>
            <p:nvPr/>
          </p:nvSpPr>
          <p:spPr>
            <a:xfrm>
              <a:off x="2876203" y="5156142"/>
              <a:ext cx="4921793" cy="760959"/>
            </a:xfrm>
            <a:custGeom>
              <a:avLst/>
              <a:gdLst>
                <a:gd name="connsiteX0" fmla="*/ 0 w 4824233"/>
                <a:gd name="connsiteY0" fmla="*/ 0 h 1096200"/>
                <a:gd name="connsiteX1" fmla="*/ 4824233 w 4824233"/>
                <a:gd name="connsiteY1" fmla="*/ 0 h 1096200"/>
                <a:gd name="connsiteX2" fmla="*/ 4824233 w 4824233"/>
                <a:gd name="connsiteY2" fmla="*/ 1096200 h 1096200"/>
                <a:gd name="connsiteX3" fmla="*/ 0 w 4824233"/>
                <a:gd name="connsiteY3" fmla="*/ 1096200 h 1096200"/>
                <a:gd name="connsiteX4" fmla="*/ 0 w 4824233"/>
                <a:gd name="connsiteY4" fmla="*/ 0 h 109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4233" h="1096200">
                  <a:moveTo>
                    <a:pt x="0" y="0"/>
                  </a:moveTo>
                  <a:lnTo>
                    <a:pt x="4824233" y="0"/>
                  </a:lnTo>
                  <a:lnTo>
                    <a:pt x="4824233" y="1096200"/>
                  </a:lnTo>
                  <a:lnTo>
                    <a:pt x="0" y="1096200"/>
                  </a:lnTo>
                  <a:lnTo>
                    <a:pt x="0" y="0"/>
                  </a:lnTo>
                  <a:close/>
                </a:path>
              </a:pathLst>
            </a:custGeom>
            <a:ln>
              <a:solidFill>
                <a:srgbClr val="00B050"/>
              </a:solidFill>
            </a:ln>
          </p:spPr>
          <p:style>
            <a:lnRef idx="2">
              <a:schemeClr val="accent3">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374414" tIns="249936" rIns="374414" bIns="85344" numCol="1" spcCol="1270" anchor="t" anchorCtr="0">
              <a:noAutofit/>
            </a:bodyPr>
            <a:lstStyle/>
            <a:p>
              <a:pPr marL="114300" lvl="1" indent="-114300" algn="l" defTabSz="533400">
                <a:lnSpc>
                  <a:spcPct val="90000"/>
                </a:lnSpc>
                <a:spcBef>
                  <a:spcPct val="0"/>
                </a:spcBef>
                <a:spcAft>
                  <a:spcPct val="15000"/>
                </a:spcAft>
                <a:buChar char="•"/>
              </a:pPr>
              <a:r>
                <a:rPr lang="en-US" altLang="zh-CN" sz="1200" b="1" dirty="0">
                  <a:solidFill>
                    <a:schemeClr val="bg1"/>
                  </a:solidFill>
                  <a:latin typeface="Arial" panose="020B0604020202020204" pitchFamily="34" charset="0"/>
                  <a:ea typeface="微软雅黑" panose="020B0503020204020204" pitchFamily="34" charset="-122"/>
                </a:rPr>
                <a:t>MRP</a:t>
              </a:r>
              <a:r>
                <a:rPr lang="zh-CN" altLang="en-US" sz="1200" b="1" dirty="0">
                  <a:solidFill>
                    <a:schemeClr val="bg1"/>
                  </a:solidFill>
                  <a:latin typeface="Arial" panose="020B0604020202020204" pitchFamily="34" charset="0"/>
                  <a:ea typeface="微软雅黑" panose="020B0503020204020204" pitchFamily="34" charset="-122"/>
                </a:rPr>
                <a:t>和缺料</a:t>
              </a:r>
              <a:r>
                <a:rPr lang="en-US" altLang="zh-CN" sz="1200" b="1" dirty="0">
                  <a:solidFill>
                    <a:schemeClr val="bg1"/>
                  </a:solidFill>
                  <a:latin typeface="Arial" panose="020B0604020202020204" pitchFamily="34" charset="0"/>
                  <a:ea typeface="微软雅黑" panose="020B0503020204020204" pitchFamily="34" charset="-122"/>
                </a:rPr>
                <a:t>/</a:t>
              </a:r>
              <a:r>
                <a:rPr lang="zh-CN" altLang="en-US" sz="1200" b="1" dirty="0">
                  <a:solidFill>
                    <a:schemeClr val="bg1"/>
                  </a:solidFill>
                  <a:latin typeface="Arial" panose="020B0604020202020204" pitchFamily="34" charset="0"/>
                  <a:ea typeface="微软雅黑" panose="020B0503020204020204" pitchFamily="34" charset="-122"/>
                </a:rPr>
                <a:t>欠料分析中的拉料也是分配</a:t>
              </a:r>
              <a:endParaRPr lang="en-US" altLang="zh-CN" sz="1200" b="1" dirty="0">
                <a:solidFill>
                  <a:schemeClr val="bg1"/>
                </a:solidFill>
                <a:latin typeface="Arial" panose="020B0604020202020204" pitchFamily="34" charset="0"/>
                <a:ea typeface="微软雅黑" panose="020B0503020204020204" pitchFamily="34" charset="-122"/>
              </a:endParaRPr>
            </a:p>
            <a:p>
              <a:pPr marL="114300" lvl="1" indent="-114300" algn="l" defTabSz="533400">
                <a:lnSpc>
                  <a:spcPct val="90000"/>
                </a:lnSpc>
                <a:spcBef>
                  <a:spcPct val="0"/>
                </a:spcBef>
                <a:spcAft>
                  <a:spcPct val="15000"/>
                </a:spcAft>
                <a:buChar char="•"/>
              </a:pPr>
              <a:r>
                <a:rPr lang="zh-CN" altLang="en-US" sz="1200" b="1" dirty="0">
                  <a:solidFill>
                    <a:schemeClr val="bg1"/>
                  </a:solidFill>
                  <a:latin typeface="Arial" panose="020B0604020202020204" pitchFamily="34" charset="0"/>
                  <a:ea typeface="微软雅黑" panose="020B0503020204020204" pitchFamily="34" charset="-122"/>
                </a:rPr>
                <a:t>物料的分配有专属性需要继承</a:t>
              </a:r>
              <a:endParaRPr lang="zh-CN" altLang="en-US" sz="1200" b="1" kern="1200" dirty="0">
                <a:solidFill>
                  <a:schemeClr val="bg1"/>
                </a:solidFill>
                <a:latin typeface="Arial" panose="020B0604020202020204" pitchFamily="34" charset="0"/>
                <a:ea typeface="微软雅黑" panose="020B0503020204020204" pitchFamily="34" charset="-122"/>
                <a:cs typeface="+mn-cs"/>
              </a:endParaRPr>
            </a:p>
          </p:txBody>
        </p:sp>
        <p:sp>
          <p:nvSpPr>
            <p:cNvPr id="17" name="任意多边形: 形状 16">
              <a:extLst>
                <a:ext uri="{FF2B5EF4-FFF2-40B4-BE49-F238E27FC236}">
                  <a16:creationId xmlns:a16="http://schemas.microsoft.com/office/drawing/2014/main" id="{D8A8653B-F35A-C7CF-5F62-261B104B39A7}"/>
                </a:ext>
              </a:extLst>
            </p:cNvPr>
            <p:cNvSpPr/>
            <p:nvPr/>
          </p:nvSpPr>
          <p:spPr>
            <a:xfrm>
              <a:off x="3117414" y="4979021"/>
              <a:ext cx="3376963" cy="354240"/>
            </a:xfrm>
            <a:custGeom>
              <a:avLst/>
              <a:gdLst>
                <a:gd name="connsiteX0" fmla="*/ 0 w 3376963"/>
                <a:gd name="connsiteY0" fmla="*/ 59041 h 354240"/>
                <a:gd name="connsiteX1" fmla="*/ 59041 w 3376963"/>
                <a:gd name="connsiteY1" fmla="*/ 0 h 354240"/>
                <a:gd name="connsiteX2" fmla="*/ 3317922 w 3376963"/>
                <a:gd name="connsiteY2" fmla="*/ 0 h 354240"/>
                <a:gd name="connsiteX3" fmla="*/ 3376963 w 3376963"/>
                <a:gd name="connsiteY3" fmla="*/ 59041 h 354240"/>
                <a:gd name="connsiteX4" fmla="*/ 3376963 w 3376963"/>
                <a:gd name="connsiteY4" fmla="*/ 295199 h 354240"/>
                <a:gd name="connsiteX5" fmla="*/ 3317922 w 3376963"/>
                <a:gd name="connsiteY5" fmla="*/ 354240 h 354240"/>
                <a:gd name="connsiteX6" fmla="*/ 59041 w 3376963"/>
                <a:gd name="connsiteY6" fmla="*/ 354240 h 354240"/>
                <a:gd name="connsiteX7" fmla="*/ 0 w 3376963"/>
                <a:gd name="connsiteY7" fmla="*/ 295199 h 354240"/>
                <a:gd name="connsiteX8" fmla="*/ 0 w 3376963"/>
                <a:gd name="connsiteY8" fmla="*/ 59041 h 35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6963" h="354240">
                  <a:moveTo>
                    <a:pt x="0" y="59041"/>
                  </a:moveTo>
                  <a:cubicBezTo>
                    <a:pt x="0" y="26434"/>
                    <a:pt x="26434" y="0"/>
                    <a:pt x="59041" y="0"/>
                  </a:cubicBezTo>
                  <a:lnTo>
                    <a:pt x="3317922" y="0"/>
                  </a:lnTo>
                  <a:cubicBezTo>
                    <a:pt x="3350529" y="0"/>
                    <a:pt x="3376963" y="26434"/>
                    <a:pt x="3376963" y="59041"/>
                  </a:cubicBezTo>
                  <a:lnTo>
                    <a:pt x="3376963" y="295199"/>
                  </a:lnTo>
                  <a:cubicBezTo>
                    <a:pt x="3376963" y="327806"/>
                    <a:pt x="3350529" y="354240"/>
                    <a:pt x="3317922" y="354240"/>
                  </a:cubicBezTo>
                  <a:lnTo>
                    <a:pt x="59041" y="354240"/>
                  </a:lnTo>
                  <a:cubicBezTo>
                    <a:pt x="26434" y="354240"/>
                    <a:pt x="0" y="327806"/>
                    <a:pt x="0" y="295199"/>
                  </a:cubicBezTo>
                  <a:lnTo>
                    <a:pt x="0" y="59041"/>
                  </a:lnTo>
                  <a:close/>
                </a:path>
              </a:pathLst>
            </a:custGeom>
            <a:solidFill>
              <a:srgbClr val="00B050"/>
            </a:solidFill>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144934" tIns="17293" rIns="144934" bIns="17293" numCol="1" spcCol="1270" anchor="ctr" anchorCtr="0">
              <a:noAutofit/>
            </a:bodyPr>
            <a:lstStyle/>
            <a:p>
              <a:pPr marL="0" lvl="0" indent="0" algn="l" defTabSz="533400">
                <a:lnSpc>
                  <a:spcPct val="90000"/>
                </a:lnSpc>
                <a:spcBef>
                  <a:spcPct val="0"/>
                </a:spcBef>
                <a:spcAft>
                  <a:spcPct val="35000"/>
                </a:spcAft>
                <a:buNone/>
              </a:pPr>
              <a:r>
                <a:rPr lang="zh-CN" altLang="en-US" sz="1200" b="1" kern="1200" dirty="0">
                  <a:solidFill>
                    <a:schemeClr val="bg1"/>
                  </a:solidFill>
                  <a:latin typeface="Arial" panose="020B0604020202020204" pitchFamily="34" charset="0"/>
                  <a:ea typeface="微软雅黑" panose="020B0503020204020204" pitchFamily="34" charset="-122"/>
                  <a:cs typeface="+mn-cs"/>
                </a:rPr>
                <a:t>发现</a:t>
              </a:r>
            </a:p>
          </p:txBody>
        </p:sp>
      </p:grpSp>
    </p:spTree>
    <p:extLst>
      <p:ext uri="{BB962C8B-B14F-4D97-AF65-F5344CB8AC3E}">
        <p14:creationId xmlns:p14="http://schemas.microsoft.com/office/powerpoint/2010/main" val="192985426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68B11C7B-02A8-9E50-D680-957433E4AF51}"/>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不完全替代 </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进一步分析</a:t>
            </a:r>
          </a:p>
        </p:txBody>
      </p:sp>
      <p:sp>
        <p:nvSpPr>
          <p:cNvPr id="3" name="文本框 2">
            <a:extLst>
              <a:ext uri="{FF2B5EF4-FFF2-40B4-BE49-F238E27FC236}">
                <a16:creationId xmlns:a16="http://schemas.microsoft.com/office/drawing/2014/main" id="{F0FB7EE4-8472-E0A7-7B75-431778B28307}"/>
              </a:ext>
            </a:extLst>
          </p:cNvPr>
          <p:cNvSpPr txBox="1"/>
          <p:nvPr/>
        </p:nvSpPr>
        <p:spPr>
          <a:xfrm>
            <a:off x="1358346" y="987287"/>
            <a:ext cx="8613913" cy="646331"/>
          </a:xfrm>
          <a:prstGeom prst="rect">
            <a:avLst/>
          </a:prstGeom>
          <a:noFill/>
        </p:spPr>
        <p:txBody>
          <a:bodyPr wrap="square" rtlCol="0">
            <a:spAutoFit/>
          </a:bodyPr>
          <a:lstStyle/>
          <a:p>
            <a:r>
              <a:rPr lang="en-US" altLang="zh-CN" dirty="0" err="1">
                <a:latin typeface="Arial" panose="020B0604020202020204" pitchFamily="34" charset="0"/>
                <a:ea typeface="微软雅黑" panose="020B0503020204020204" pitchFamily="34" charset="-122"/>
              </a:rPr>
              <a:t>Alg</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和物料为唯一标识，其分配</a:t>
            </a:r>
            <a:r>
              <a:rPr lang="en-US" altLang="zh-CN" b="1" dirty="0">
                <a:solidFill>
                  <a:srgbClr val="2643B2"/>
                </a:solidFill>
                <a:latin typeface="Arial" panose="020B0604020202020204" pitchFamily="34" charset="0"/>
                <a:ea typeface="微软雅黑" panose="020B0503020204020204" pitchFamily="34" charset="-122"/>
              </a:rPr>
              <a:t>allocation</a:t>
            </a:r>
            <a:r>
              <a:rPr lang="zh-CN" altLang="en-US" dirty="0">
                <a:latin typeface="Arial" panose="020B0604020202020204" pitchFamily="34" charset="0"/>
                <a:ea typeface="微软雅黑" panose="020B0503020204020204" pitchFamily="34" charset="-122"/>
              </a:rPr>
              <a:t>需要作为</a:t>
            </a:r>
            <a:r>
              <a:rPr lang="en-US" altLang="zh-CN" b="1" dirty="0">
                <a:solidFill>
                  <a:srgbClr val="2643B2"/>
                </a:solidFill>
                <a:latin typeface="Arial" panose="020B0604020202020204" pitchFamily="34" charset="0"/>
                <a:ea typeface="微软雅黑" panose="020B0503020204020204" pitchFamily="34" charset="-122"/>
              </a:rPr>
              <a:t>allotment</a:t>
            </a:r>
            <a:r>
              <a:rPr lang="zh-CN" altLang="en-US" dirty="0">
                <a:latin typeface="Arial" panose="020B0604020202020204" pitchFamily="34" charset="0"/>
                <a:ea typeface="微软雅黑" panose="020B0503020204020204" pitchFamily="34" charset="-122"/>
              </a:rPr>
              <a:t>被继承被</a:t>
            </a:r>
            <a:r>
              <a:rPr lang="en-US" altLang="zh-CN" dirty="0">
                <a:latin typeface="Arial" panose="020B0604020202020204" pitchFamily="34" charset="0"/>
                <a:ea typeface="微软雅黑" panose="020B0503020204020204" pitchFamily="34" charset="-122"/>
              </a:rPr>
              <a:t>respect</a:t>
            </a:r>
          </a:p>
          <a:p>
            <a:endParaRPr lang="zh-CN" altLang="en-US" dirty="0">
              <a:latin typeface="Arial" panose="020B0604020202020204" pitchFamily="34" charset="0"/>
              <a:ea typeface="微软雅黑" panose="020B0503020204020204" pitchFamily="34" charset="-122"/>
            </a:endParaRPr>
          </a:p>
        </p:txBody>
      </p:sp>
      <p:graphicFrame>
        <p:nvGraphicFramePr>
          <p:cNvPr id="8" name="表格 7">
            <a:extLst>
              <a:ext uri="{FF2B5EF4-FFF2-40B4-BE49-F238E27FC236}">
                <a16:creationId xmlns:a16="http://schemas.microsoft.com/office/drawing/2014/main" id="{338F6D3C-4BD4-BC50-2581-E19ADB52D28A}"/>
              </a:ext>
            </a:extLst>
          </p:cNvPr>
          <p:cNvGraphicFramePr>
            <a:graphicFrameLocks noGrp="1"/>
          </p:cNvGraphicFramePr>
          <p:nvPr>
            <p:extLst>
              <p:ext uri="{D42A27DB-BD31-4B8C-83A1-F6EECF244321}">
                <p14:modId xmlns:p14="http://schemas.microsoft.com/office/powerpoint/2010/main" val="1039916625"/>
              </p:ext>
            </p:extLst>
          </p:nvPr>
        </p:nvGraphicFramePr>
        <p:xfrm>
          <a:off x="1910784" y="1684007"/>
          <a:ext cx="8666570" cy="2157415"/>
        </p:xfrm>
        <a:graphic>
          <a:graphicData uri="http://schemas.openxmlformats.org/drawingml/2006/table">
            <a:tbl>
              <a:tblPr firstRow="1">
                <a:tableStyleId>{69012ECD-51FC-41F1-AA8D-1B2483CD663E}</a:tableStyleId>
              </a:tblPr>
              <a:tblGrid>
                <a:gridCol w="1249364">
                  <a:extLst>
                    <a:ext uri="{9D8B030D-6E8A-4147-A177-3AD203B41FA5}">
                      <a16:colId xmlns:a16="http://schemas.microsoft.com/office/drawing/2014/main" val="440275212"/>
                    </a:ext>
                  </a:extLst>
                </a:gridCol>
                <a:gridCol w="314326">
                  <a:extLst>
                    <a:ext uri="{9D8B030D-6E8A-4147-A177-3AD203B41FA5}">
                      <a16:colId xmlns:a16="http://schemas.microsoft.com/office/drawing/2014/main" val="1734425430"/>
                    </a:ext>
                  </a:extLst>
                </a:gridCol>
                <a:gridCol w="1141414">
                  <a:extLst>
                    <a:ext uri="{9D8B030D-6E8A-4147-A177-3AD203B41FA5}">
                      <a16:colId xmlns:a16="http://schemas.microsoft.com/office/drawing/2014/main" val="749023830"/>
                    </a:ext>
                  </a:extLst>
                </a:gridCol>
                <a:gridCol w="323851">
                  <a:extLst>
                    <a:ext uri="{9D8B030D-6E8A-4147-A177-3AD203B41FA5}">
                      <a16:colId xmlns:a16="http://schemas.microsoft.com/office/drawing/2014/main" val="1445519153"/>
                    </a:ext>
                  </a:extLst>
                </a:gridCol>
                <a:gridCol w="1223964">
                  <a:extLst>
                    <a:ext uri="{9D8B030D-6E8A-4147-A177-3AD203B41FA5}">
                      <a16:colId xmlns:a16="http://schemas.microsoft.com/office/drawing/2014/main" val="2409092662"/>
                    </a:ext>
                  </a:extLst>
                </a:gridCol>
                <a:gridCol w="949723">
                  <a:extLst>
                    <a:ext uri="{9D8B030D-6E8A-4147-A177-3AD203B41FA5}">
                      <a16:colId xmlns:a16="http://schemas.microsoft.com/office/drawing/2014/main" val="2115952320"/>
                    </a:ext>
                  </a:extLst>
                </a:gridCol>
                <a:gridCol w="1155701">
                  <a:extLst>
                    <a:ext uri="{9D8B030D-6E8A-4147-A177-3AD203B41FA5}">
                      <a16:colId xmlns:a16="http://schemas.microsoft.com/office/drawing/2014/main" val="3764490461"/>
                    </a:ext>
                  </a:extLst>
                </a:gridCol>
                <a:gridCol w="1254126">
                  <a:extLst>
                    <a:ext uri="{9D8B030D-6E8A-4147-A177-3AD203B41FA5}">
                      <a16:colId xmlns:a16="http://schemas.microsoft.com/office/drawing/2014/main" val="249532658"/>
                    </a:ext>
                  </a:extLst>
                </a:gridCol>
                <a:gridCol w="1054101">
                  <a:extLst>
                    <a:ext uri="{9D8B030D-6E8A-4147-A177-3AD203B41FA5}">
                      <a16:colId xmlns:a16="http://schemas.microsoft.com/office/drawing/2014/main" val="3218481998"/>
                    </a:ext>
                  </a:extLst>
                </a:gridCol>
              </a:tblGrid>
              <a:tr h="230257">
                <a:tc>
                  <a:txBody>
                    <a:bodyPr/>
                    <a:lstStyle/>
                    <a:p>
                      <a:pPr algn="l" fontAlgn="b"/>
                      <a:r>
                        <a:rPr lang="en-US" sz="1400" b="1" i="0" u="none" strike="noStrike" dirty="0">
                          <a:solidFill>
                            <a:schemeClr val="tx1"/>
                          </a:solidFill>
                          <a:effectLst/>
                          <a:latin typeface="Arial" panose="020B0604020202020204" pitchFamily="34" charset="0"/>
                          <a:ea typeface="微软雅黑" panose="020B0503020204020204" pitchFamily="34" charset="-122"/>
                        </a:rPr>
                        <a:t>Requested Qty</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err="1">
                          <a:solidFill>
                            <a:schemeClr val="tx1"/>
                          </a:solidFill>
                          <a:effectLst/>
                          <a:latin typeface="Arial" panose="020B0604020202020204" pitchFamily="34" charset="0"/>
                          <a:ea typeface="微软雅黑" panose="020B0503020204020204" pitchFamily="34" charset="-122"/>
                        </a:rPr>
                        <a:t>alg</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a:solidFill>
                            <a:schemeClr val="tx1"/>
                          </a:solidFill>
                          <a:effectLst/>
                          <a:latin typeface="Arial" panose="020B0604020202020204" pitchFamily="34" charset="0"/>
                          <a:ea typeface="微软雅黑" panose="020B0503020204020204" pitchFamily="34" charset="-122"/>
                        </a:rPr>
                        <a:t>Components</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tx1"/>
                          </a:solidFill>
                          <a:effectLst/>
                          <a:latin typeface="Arial" panose="020B0604020202020204" pitchFamily="34" charset="0"/>
                          <a:ea typeface="微软雅黑" panose="020B0503020204020204" pitchFamily="34" charset="-122"/>
                        </a:rPr>
                        <a:t>OH</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tx1"/>
                          </a:solidFill>
                          <a:effectLst/>
                          <a:latin typeface="Arial" panose="020B0604020202020204" pitchFamily="34" charset="0"/>
                          <a:ea typeface="微软雅黑" panose="020B0503020204020204" pitchFamily="34" charset="-122"/>
                        </a:rPr>
                        <a:t>Planned Order</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tx1"/>
                          </a:solidFill>
                          <a:effectLst/>
                          <a:latin typeface="Arial" panose="020B0604020202020204" pitchFamily="34" charset="0"/>
                          <a:ea typeface="微软雅黑" panose="020B0503020204020204" pitchFamily="34" charset="-122"/>
                        </a:rPr>
                        <a:t>Comments</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tx1"/>
                          </a:solidFill>
                          <a:effectLst/>
                          <a:latin typeface="Arial" panose="020B0604020202020204" pitchFamily="34" charset="0"/>
                          <a:ea typeface="微软雅黑" panose="020B0503020204020204" pitchFamily="34" charset="-122"/>
                        </a:rPr>
                        <a:t>Allocated Qty</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tx1"/>
                          </a:solidFill>
                          <a:effectLst/>
                          <a:latin typeface="Arial" panose="020B0604020202020204" pitchFamily="34" charset="0"/>
                          <a:ea typeface="微软雅黑" panose="020B0503020204020204" pitchFamily="34" charset="-122"/>
                        </a:rPr>
                        <a:t>Surplus Supply</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tx1"/>
                          </a:solidFill>
                          <a:effectLst/>
                          <a:latin typeface="Arial" panose="020B0604020202020204" pitchFamily="34" charset="0"/>
                          <a:ea typeface="微软雅黑" panose="020B0503020204020204" pitchFamily="34" charset="-122"/>
                        </a:rPr>
                        <a:t>Net Req Qty</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2766227"/>
                  </a:ext>
                </a:extLst>
              </a:tr>
              <a:tr h="404638">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120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P1</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50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40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i="0" u="none" strike="noStrike" dirty="0">
                          <a:solidFill>
                            <a:schemeClr val="tx1"/>
                          </a:solidFill>
                          <a:effectLst/>
                          <a:latin typeface="Arial" panose="020B0604020202020204" pitchFamily="34" charset="0"/>
                          <a:ea typeface="微软雅黑" panose="020B0503020204020204" pitchFamily="34" charset="-122"/>
                        </a:rPr>
                        <a:t>根据</a:t>
                      </a:r>
                      <a:r>
                        <a:rPr lang="en-US" altLang="zh-CN" sz="1400" b="0" i="0" u="none" strike="noStrike" dirty="0">
                          <a:solidFill>
                            <a:schemeClr val="tx1"/>
                          </a:solidFill>
                          <a:effectLst/>
                          <a:latin typeface="Arial" panose="020B0604020202020204" pitchFamily="34" charset="0"/>
                          <a:ea typeface="微软雅黑" panose="020B0503020204020204" pitchFamily="34" charset="-122"/>
                        </a:rPr>
                        <a:t>source</a:t>
                      </a:r>
                      <a:r>
                        <a:rPr lang="zh-CN" altLang="en-US" sz="1400" b="0" i="0" u="none" strike="noStrike" dirty="0">
                          <a:solidFill>
                            <a:schemeClr val="tx1"/>
                          </a:solidFill>
                          <a:effectLst/>
                          <a:latin typeface="Arial" panose="020B0604020202020204" pitchFamily="34" charset="0"/>
                          <a:ea typeface="微软雅黑" panose="020B0503020204020204" pitchFamily="34" charset="-122"/>
                        </a:rPr>
                        <a:t>规则</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50+40=90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30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472933"/>
                  </a:ext>
                </a:extLst>
              </a:tr>
              <a:tr h="404638">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120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P2</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30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332" rtl="0" eaLnBrk="1" fontAlgn="b" latinLnBrk="0" hangingPunct="1">
                        <a:lnSpc>
                          <a:spcPct val="100000"/>
                        </a:lnSpc>
                        <a:spcBef>
                          <a:spcPts val="0"/>
                        </a:spcBef>
                        <a:spcAft>
                          <a:spcPts val="0"/>
                        </a:spcAft>
                        <a:buClrTx/>
                        <a:buSzTx/>
                        <a:buFontTx/>
                        <a:buNone/>
                        <a:tabLst/>
                        <a:defRPr/>
                      </a:pPr>
                      <a:r>
                        <a:rPr lang="zh-CN" altLang="en-US" sz="1400" b="0" i="0" u="none" strike="noStrike" dirty="0">
                          <a:solidFill>
                            <a:schemeClr val="tx1"/>
                          </a:solidFill>
                          <a:effectLst/>
                          <a:latin typeface="Arial" panose="020B0604020202020204" pitchFamily="34" charset="0"/>
                          <a:ea typeface="微软雅黑" panose="020B0503020204020204" pitchFamily="34" charset="-122"/>
                        </a:rPr>
                        <a:t>根据</a:t>
                      </a:r>
                      <a:r>
                        <a:rPr lang="en-US" altLang="zh-CN" sz="1400" b="0" i="0" u="none" strike="noStrike" dirty="0">
                          <a:solidFill>
                            <a:schemeClr val="tx1"/>
                          </a:solidFill>
                          <a:effectLst/>
                          <a:latin typeface="Arial" panose="020B0604020202020204" pitchFamily="34" charset="0"/>
                          <a:ea typeface="微软雅黑" panose="020B0503020204020204" pitchFamily="34" charset="-122"/>
                        </a:rPr>
                        <a:t>source</a:t>
                      </a:r>
                      <a:r>
                        <a:rPr lang="zh-CN" altLang="en-US" sz="1400" b="0" i="0" u="none" strike="noStrike" dirty="0">
                          <a:solidFill>
                            <a:schemeClr val="tx1"/>
                          </a:solidFill>
                          <a:effectLst/>
                          <a:latin typeface="Arial" panose="020B0604020202020204" pitchFamily="34" charset="0"/>
                          <a:ea typeface="微软雅黑" panose="020B0503020204020204" pitchFamily="34" charset="-122"/>
                        </a:rPr>
                        <a:t>规则</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30+0=30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6464701"/>
                  </a:ext>
                </a:extLst>
              </a:tr>
              <a:tr h="404638">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100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P1</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332" rtl="0" eaLnBrk="1" fontAlgn="b" latinLnBrk="0" hangingPunct="1">
                        <a:lnSpc>
                          <a:spcPct val="100000"/>
                        </a:lnSpc>
                        <a:spcBef>
                          <a:spcPts val="0"/>
                        </a:spcBef>
                        <a:spcAft>
                          <a:spcPts val="0"/>
                        </a:spcAft>
                        <a:buClrTx/>
                        <a:buSzTx/>
                        <a:buFontTx/>
                        <a:buNone/>
                        <a:tabLst/>
                        <a:defRPr/>
                      </a:pPr>
                      <a:r>
                        <a:rPr lang="zh-CN" altLang="en-US" sz="1400" b="0" i="0" u="none" strike="noStrike" dirty="0">
                          <a:solidFill>
                            <a:schemeClr val="tx1"/>
                          </a:solidFill>
                          <a:effectLst/>
                          <a:latin typeface="Arial" panose="020B0604020202020204" pitchFamily="34" charset="0"/>
                          <a:ea typeface="微软雅黑" panose="020B0503020204020204" pitchFamily="34" charset="-122"/>
                        </a:rPr>
                        <a:t>根据</a:t>
                      </a:r>
                      <a:r>
                        <a:rPr lang="en-US" altLang="zh-CN" sz="1400" b="0" i="0" u="none" strike="noStrike" dirty="0">
                          <a:solidFill>
                            <a:schemeClr val="tx1"/>
                          </a:solidFill>
                          <a:effectLst/>
                          <a:latin typeface="Arial" panose="020B0604020202020204" pitchFamily="34" charset="0"/>
                          <a:ea typeface="微软雅黑" panose="020B0503020204020204" pitchFamily="34" charset="-122"/>
                        </a:rPr>
                        <a:t>source</a:t>
                      </a:r>
                      <a:r>
                        <a:rPr lang="zh-CN" altLang="en-US" sz="1400" b="0" i="0" u="none" strike="noStrike" dirty="0">
                          <a:solidFill>
                            <a:schemeClr val="tx1"/>
                          </a:solidFill>
                          <a:effectLst/>
                          <a:latin typeface="Arial" panose="020B0604020202020204" pitchFamily="34" charset="0"/>
                          <a:ea typeface="微软雅黑" panose="020B0503020204020204" pitchFamily="34" charset="-122"/>
                        </a:rPr>
                        <a:t>规则</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0+20=20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80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4599421"/>
                  </a:ext>
                </a:extLst>
              </a:tr>
              <a:tr h="404638">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100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2</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dirty="0">
                          <a:solidFill>
                            <a:schemeClr val="tx1"/>
                          </a:solidFill>
                          <a:effectLst/>
                          <a:latin typeface="Arial" panose="020B0604020202020204" pitchFamily="34" charset="0"/>
                          <a:ea typeface="微软雅黑" panose="020B0503020204020204" pitchFamily="34" charset="-122"/>
                        </a:rPr>
                        <a:t>P3</a:t>
                      </a:r>
                      <a:endParaRPr lang="en-US"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80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332" rtl="0" eaLnBrk="1" fontAlgn="b" latinLnBrk="0" hangingPunct="1">
                        <a:lnSpc>
                          <a:spcPct val="100000"/>
                        </a:lnSpc>
                        <a:spcBef>
                          <a:spcPts val="0"/>
                        </a:spcBef>
                        <a:spcAft>
                          <a:spcPts val="0"/>
                        </a:spcAft>
                        <a:buClrTx/>
                        <a:buSzTx/>
                        <a:buFontTx/>
                        <a:buNone/>
                        <a:tabLst/>
                        <a:defRPr/>
                      </a:pPr>
                      <a:r>
                        <a:rPr lang="zh-CN" altLang="en-US" sz="1400" b="0" i="0" u="none" strike="noStrike" dirty="0">
                          <a:solidFill>
                            <a:schemeClr val="tx1"/>
                          </a:solidFill>
                          <a:effectLst/>
                          <a:latin typeface="Arial" panose="020B0604020202020204" pitchFamily="34" charset="0"/>
                          <a:ea typeface="微软雅黑" panose="020B0503020204020204" pitchFamily="34" charset="-122"/>
                        </a:rPr>
                        <a:t>根据</a:t>
                      </a:r>
                      <a:r>
                        <a:rPr lang="en-US" altLang="zh-CN" sz="1400" b="0" i="0" u="none" strike="noStrike" dirty="0">
                          <a:solidFill>
                            <a:schemeClr val="tx1"/>
                          </a:solidFill>
                          <a:effectLst/>
                          <a:latin typeface="Arial" panose="020B0604020202020204" pitchFamily="34" charset="0"/>
                          <a:ea typeface="微软雅黑" panose="020B0503020204020204" pitchFamily="34" charset="-122"/>
                        </a:rPr>
                        <a:t>source</a:t>
                      </a:r>
                      <a:r>
                        <a:rPr lang="zh-CN" altLang="en-US" sz="1400" b="0" i="0" u="none" strike="noStrike" dirty="0">
                          <a:solidFill>
                            <a:schemeClr val="tx1"/>
                          </a:solidFill>
                          <a:effectLst/>
                          <a:latin typeface="Arial" panose="020B0604020202020204" pitchFamily="34" charset="0"/>
                          <a:ea typeface="微软雅黑" panose="020B0503020204020204" pitchFamily="34" charset="-122"/>
                        </a:rPr>
                        <a:t>规则</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80+0=80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3034744"/>
                  </a:ext>
                </a:extLst>
              </a:tr>
            </a:tbl>
          </a:graphicData>
        </a:graphic>
      </p:graphicFrame>
      <p:graphicFrame>
        <p:nvGraphicFramePr>
          <p:cNvPr id="9" name="表格 8">
            <a:extLst>
              <a:ext uri="{FF2B5EF4-FFF2-40B4-BE49-F238E27FC236}">
                <a16:creationId xmlns:a16="http://schemas.microsoft.com/office/drawing/2014/main" id="{EDDB85A3-2A64-BCB4-7804-DA262258F7DB}"/>
              </a:ext>
            </a:extLst>
          </p:cNvPr>
          <p:cNvGraphicFramePr>
            <a:graphicFrameLocks noGrp="1"/>
          </p:cNvGraphicFramePr>
          <p:nvPr>
            <p:extLst>
              <p:ext uri="{D42A27DB-BD31-4B8C-83A1-F6EECF244321}">
                <p14:modId xmlns:p14="http://schemas.microsoft.com/office/powerpoint/2010/main" val="3731381032"/>
              </p:ext>
            </p:extLst>
          </p:nvPr>
        </p:nvGraphicFramePr>
        <p:xfrm>
          <a:off x="1910784" y="4021904"/>
          <a:ext cx="2611441" cy="1848809"/>
        </p:xfrm>
        <a:graphic>
          <a:graphicData uri="http://schemas.openxmlformats.org/drawingml/2006/table">
            <a:tbl>
              <a:tblPr firstRow="1">
                <a:tableStyleId>{69012ECD-51FC-41F1-AA8D-1B2483CD663E}</a:tableStyleId>
              </a:tblPr>
              <a:tblGrid>
                <a:gridCol w="314326">
                  <a:extLst>
                    <a:ext uri="{9D8B030D-6E8A-4147-A177-3AD203B41FA5}">
                      <a16:colId xmlns:a16="http://schemas.microsoft.com/office/drawing/2014/main" val="1734425430"/>
                    </a:ext>
                  </a:extLst>
                </a:gridCol>
                <a:gridCol w="1141414">
                  <a:extLst>
                    <a:ext uri="{9D8B030D-6E8A-4147-A177-3AD203B41FA5}">
                      <a16:colId xmlns:a16="http://schemas.microsoft.com/office/drawing/2014/main" val="749023830"/>
                    </a:ext>
                  </a:extLst>
                </a:gridCol>
                <a:gridCol w="1155701">
                  <a:extLst>
                    <a:ext uri="{9D8B030D-6E8A-4147-A177-3AD203B41FA5}">
                      <a16:colId xmlns:a16="http://schemas.microsoft.com/office/drawing/2014/main" val="3764490461"/>
                    </a:ext>
                  </a:extLst>
                </a:gridCol>
              </a:tblGrid>
              <a:tr h="230257">
                <a:tc>
                  <a:txBody>
                    <a:bodyPr/>
                    <a:lstStyle/>
                    <a:p>
                      <a:pPr algn="l" fontAlgn="b"/>
                      <a:r>
                        <a:rPr lang="en-US" sz="1400" b="1" u="none" strike="noStrike" dirty="0" err="1">
                          <a:solidFill>
                            <a:schemeClr val="tx1"/>
                          </a:solidFill>
                          <a:effectLst/>
                          <a:latin typeface="Arial" panose="020B0604020202020204" pitchFamily="34" charset="0"/>
                          <a:ea typeface="微软雅黑" panose="020B0503020204020204" pitchFamily="34" charset="-122"/>
                        </a:rPr>
                        <a:t>alg</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2643B2"/>
                    </a:solidFill>
                  </a:tcPr>
                </a:tc>
                <a:tc>
                  <a:txBody>
                    <a:bodyPr/>
                    <a:lstStyle/>
                    <a:p>
                      <a:pPr algn="l" fontAlgn="b"/>
                      <a:r>
                        <a:rPr lang="en-US" sz="1400" b="1" u="none" strike="noStrike" dirty="0">
                          <a:solidFill>
                            <a:schemeClr val="tx1"/>
                          </a:solidFill>
                          <a:effectLst/>
                          <a:latin typeface="Arial" panose="020B0604020202020204" pitchFamily="34" charset="0"/>
                          <a:ea typeface="微软雅黑" panose="020B0503020204020204" pitchFamily="34" charset="-122"/>
                        </a:rPr>
                        <a:t>Components</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2643B2"/>
                    </a:solidFill>
                  </a:tcPr>
                </a:tc>
                <a:tc>
                  <a:txBody>
                    <a:bodyPr/>
                    <a:lstStyle/>
                    <a:p>
                      <a:pPr algn="l" fontAlgn="b"/>
                      <a:r>
                        <a:rPr lang="en-US" sz="1400" b="1" i="0" u="none" strike="noStrike" dirty="0">
                          <a:solidFill>
                            <a:schemeClr val="tx1"/>
                          </a:solidFill>
                          <a:effectLst/>
                          <a:latin typeface="Arial" panose="020B0604020202020204" pitchFamily="34" charset="0"/>
                          <a:ea typeface="微软雅黑" panose="020B0503020204020204" pitchFamily="34" charset="-122"/>
                        </a:rPr>
                        <a:t>Allotment</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2643B2"/>
                    </a:solidFill>
                  </a:tcPr>
                </a:tc>
                <a:extLst>
                  <a:ext uri="{0D108BD9-81ED-4DB2-BD59-A6C34878D82A}">
                    <a16:rowId xmlns:a16="http://schemas.microsoft.com/office/drawing/2014/main" val="712766227"/>
                  </a:ext>
                </a:extLst>
              </a:tr>
              <a:tr h="404638">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P1</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90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472933"/>
                  </a:ext>
                </a:extLst>
              </a:tr>
              <a:tr h="404638">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P2</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30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6464701"/>
                  </a:ext>
                </a:extLst>
              </a:tr>
              <a:tr h="404638">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P1</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4599421"/>
                  </a:ext>
                </a:extLst>
              </a:tr>
              <a:tr h="404638">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2</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P3</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80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3034744"/>
                  </a:ext>
                </a:extLst>
              </a:tr>
            </a:tbl>
          </a:graphicData>
        </a:graphic>
      </p:graphicFrame>
      <p:sp>
        <p:nvSpPr>
          <p:cNvPr id="10" name="文本框 9">
            <a:extLst>
              <a:ext uri="{FF2B5EF4-FFF2-40B4-BE49-F238E27FC236}">
                <a16:creationId xmlns:a16="http://schemas.microsoft.com/office/drawing/2014/main" id="{258CA5A8-5311-6DD6-8051-7855DDB49F60}"/>
              </a:ext>
            </a:extLst>
          </p:cNvPr>
          <p:cNvSpPr txBox="1"/>
          <p:nvPr/>
        </p:nvSpPr>
        <p:spPr>
          <a:xfrm>
            <a:off x="242735" y="1633618"/>
            <a:ext cx="1778240" cy="461665"/>
          </a:xfrm>
          <a:prstGeom prst="rect">
            <a:avLst/>
          </a:prstGeom>
          <a:noFill/>
        </p:spPr>
        <p:txBody>
          <a:bodyPr wrap="square" rtlCol="0">
            <a:spAutoFit/>
          </a:bodyPr>
          <a:lstStyle/>
          <a:p>
            <a:r>
              <a:rPr lang="zh-CN" altLang="en-US" sz="1200" dirty="0">
                <a:latin typeface="Arial" panose="020B0604020202020204" pitchFamily="34" charset="0"/>
                <a:ea typeface="微软雅黑" panose="020B0503020204020204" pitchFamily="34" charset="-122"/>
              </a:rPr>
              <a:t>第一次运算的</a:t>
            </a:r>
            <a:r>
              <a:rPr lang="en-US" altLang="zh-CN" sz="1200" dirty="0">
                <a:latin typeface="Arial" panose="020B0604020202020204" pitchFamily="34" charset="0"/>
                <a:ea typeface="微软雅黑" panose="020B0503020204020204" pitchFamily="34" charset="-122"/>
              </a:rPr>
              <a:t>MRP/</a:t>
            </a:r>
            <a:r>
              <a:rPr lang="zh-CN" altLang="en-US" sz="1200" dirty="0">
                <a:latin typeface="Arial" panose="020B0604020202020204" pitchFamily="34" charset="0"/>
                <a:ea typeface="微软雅黑" panose="020B0503020204020204" pitchFamily="34" charset="-122"/>
              </a:rPr>
              <a:t>欠料分析</a:t>
            </a:r>
          </a:p>
        </p:txBody>
      </p:sp>
      <p:sp>
        <p:nvSpPr>
          <p:cNvPr id="11" name="文本框 10">
            <a:extLst>
              <a:ext uri="{FF2B5EF4-FFF2-40B4-BE49-F238E27FC236}">
                <a16:creationId xmlns:a16="http://schemas.microsoft.com/office/drawing/2014/main" id="{9C615E08-E970-60F4-CCD4-50A710A59F6C}"/>
              </a:ext>
            </a:extLst>
          </p:cNvPr>
          <p:cNvSpPr txBox="1"/>
          <p:nvPr/>
        </p:nvSpPr>
        <p:spPr>
          <a:xfrm>
            <a:off x="377687" y="4021904"/>
            <a:ext cx="1119809" cy="646331"/>
          </a:xfrm>
          <a:prstGeom prst="rect">
            <a:avLst/>
          </a:prstGeom>
          <a:noFill/>
        </p:spPr>
        <p:txBody>
          <a:bodyPr wrap="square" rtlCol="0">
            <a:spAutoFit/>
          </a:bodyPr>
          <a:lstStyle>
            <a:defPPr>
              <a:defRPr lang="zh-CN"/>
            </a:defPPr>
            <a:lvl1pPr>
              <a:defRPr sz="1200">
                <a:latin typeface="+mn-ea"/>
              </a:defRPr>
            </a:lvl1pPr>
          </a:lstStyle>
          <a:p>
            <a:r>
              <a:rPr lang="zh-CN" altLang="en-US" dirty="0">
                <a:latin typeface="Arial" panose="020B0604020202020204" pitchFamily="34" charset="0"/>
                <a:ea typeface="微软雅黑" panose="020B0503020204020204" pitchFamily="34" charset="-122"/>
              </a:rPr>
              <a:t>分配的结果转化成配额</a:t>
            </a:r>
            <a:r>
              <a:rPr lang="en-US" altLang="zh-CN" dirty="0">
                <a:latin typeface="Arial" panose="020B0604020202020204" pitchFamily="34" charset="0"/>
                <a:ea typeface="微软雅黑" panose="020B0503020204020204" pitchFamily="34" charset="-122"/>
              </a:rPr>
              <a:t>Allotment</a:t>
            </a:r>
            <a:endParaRPr lang="zh-CN" altLang="en-US" dirty="0">
              <a:latin typeface="Arial" panose="020B0604020202020204" pitchFamily="34" charset="0"/>
              <a:ea typeface="微软雅黑" panose="020B0503020204020204" pitchFamily="34" charset="-122"/>
            </a:endParaRPr>
          </a:p>
        </p:txBody>
      </p:sp>
      <p:sp>
        <p:nvSpPr>
          <p:cNvPr id="12" name="文本框 11">
            <a:extLst>
              <a:ext uri="{FF2B5EF4-FFF2-40B4-BE49-F238E27FC236}">
                <a16:creationId xmlns:a16="http://schemas.microsoft.com/office/drawing/2014/main" id="{B177966E-0C5F-2D72-99A5-42D6D7DEAE2D}"/>
              </a:ext>
            </a:extLst>
          </p:cNvPr>
          <p:cNvSpPr txBox="1"/>
          <p:nvPr/>
        </p:nvSpPr>
        <p:spPr>
          <a:xfrm>
            <a:off x="5757856" y="5173993"/>
            <a:ext cx="4717774" cy="646331"/>
          </a:xfrm>
          <a:prstGeom prst="rect">
            <a:avLst/>
          </a:prstGeom>
          <a:noFill/>
        </p:spPr>
        <p:txBody>
          <a:bodyPr wrap="square" rtlCol="0">
            <a:spAutoFit/>
          </a:bodyPr>
          <a:lstStyle/>
          <a:p>
            <a:r>
              <a:rPr lang="zh-CN" altLang="en-US" b="1" dirty="0">
                <a:latin typeface="Arial" panose="020B0604020202020204" pitchFamily="34" charset="0"/>
                <a:ea typeface="微软雅黑" panose="020B0503020204020204" pitchFamily="34" charset="-122"/>
              </a:rPr>
              <a:t>对于</a:t>
            </a:r>
            <a:r>
              <a:rPr lang="en-US" altLang="zh-CN" b="1" dirty="0" err="1">
                <a:latin typeface="Arial" panose="020B0604020202020204" pitchFamily="34" charset="0"/>
                <a:ea typeface="微软雅黑" panose="020B0503020204020204" pitchFamily="34" charset="-122"/>
              </a:rPr>
              <a:t>alg</a:t>
            </a:r>
            <a:r>
              <a:rPr lang="en-US" altLang="zh-CN" b="1" dirty="0">
                <a:latin typeface="Arial" panose="020B0604020202020204" pitchFamily="34" charset="0"/>
                <a:ea typeface="微软雅黑" panose="020B0503020204020204" pitchFamily="34" charset="-122"/>
              </a:rPr>
              <a:t> 1</a:t>
            </a:r>
            <a:r>
              <a:rPr lang="zh-CN" altLang="en-US" b="1" dirty="0">
                <a:latin typeface="Arial" panose="020B0604020202020204" pitchFamily="34" charset="0"/>
                <a:ea typeface="微软雅黑" panose="020B0503020204020204" pitchFamily="34" charset="-122"/>
              </a:rPr>
              <a:t>来说</a:t>
            </a:r>
            <a:r>
              <a:rPr lang="en-US" altLang="zh-CN" b="1" dirty="0">
                <a:latin typeface="Arial" panose="020B0604020202020204" pitchFamily="34" charset="0"/>
                <a:ea typeface="微软雅黑" panose="020B0503020204020204" pitchFamily="34" charset="-122"/>
              </a:rPr>
              <a:t>P1</a:t>
            </a:r>
            <a:r>
              <a:rPr lang="zh-CN" altLang="en-US" b="1" dirty="0">
                <a:latin typeface="Arial" panose="020B0604020202020204" pitchFamily="34" charset="0"/>
                <a:ea typeface="微软雅黑" panose="020B0503020204020204" pitchFamily="34" charset="-122"/>
              </a:rPr>
              <a:t>的配额是</a:t>
            </a:r>
            <a:r>
              <a:rPr lang="en-US" altLang="zh-CN" b="1" dirty="0">
                <a:latin typeface="Arial" panose="020B0604020202020204" pitchFamily="34" charset="0"/>
                <a:ea typeface="微软雅黑" panose="020B0503020204020204" pitchFamily="34" charset="-122"/>
              </a:rPr>
              <a:t>90.</a:t>
            </a:r>
          </a:p>
          <a:p>
            <a:r>
              <a:rPr lang="zh-CN" altLang="en-US" b="1" dirty="0">
                <a:latin typeface="Arial" panose="020B0604020202020204" pitchFamily="34" charset="0"/>
                <a:ea typeface="微软雅黑" panose="020B0503020204020204" pitchFamily="34" charset="-122"/>
              </a:rPr>
              <a:t>是所有</a:t>
            </a:r>
            <a:r>
              <a:rPr lang="en-US" altLang="zh-CN" b="1" dirty="0">
                <a:latin typeface="Arial" panose="020B0604020202020204" pitchFamily="34" charset="0"/>
                <a:ea typeface="微软雅黑" panose="020B0503020204020204" pitchFamily="34" charset="-122"/>
              </a:rPr>
              <a:t>supply</a:t>
            </a:r>
            <a:r>
              <a:rPr lang="zh-CN" altLang="en-US" b="1" dirty="0">
                <a:latin typeface="Arial" panose="020B0604020202020204" pitchFamily="34" charset="0"/>
                <a:ea typeface="微软雅黑" panose="020B0503020204020204" pitchFamily="34" charset="-122"/>
              </a:rPr>
              <a:t>的汇总，并不需要逐条匹配。</a:t>
            </a:r>
          </a:p>
        </p:txBody>
      </p:sp>
    </p:spTree>
    <p:extLst>
      <p:ext uri="{BB962C8B-B14F-4D97-AF65-F5344CB8AC3E}">
        <p14:creationId xmlns:p14="http://schemas.microsoft.com/office/powerpoint/2010/main" val="10820839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D913B3-C8FB-9088-0B6E-771BD93F35C5}"/>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3D167615-D02A-0E9F-0672-180052230E2A}"/>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不完全替代 </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动态分配步骤一</a:t>
            </a:r>
          </a:p>
        </p:txBody>
      </p:sp>
      <p:graphicFrame>
        <p:nvGraphicFramePr>
          <p:cNvPr id="6" name="表格 5">
            <a:extLst>
              <a:ext uri="{FF2B5EF4-FFF2-40B4-BE49-F238E27FC236}">
                <a16:creationId xmlns:a16="http://schemas.microsoft.com/office/drawing/2014/main" id="{8DD5E2E8-8077-41AE-1BAE-E584B830D8F8}"/>
              </a:ext>
            </a:extLst>
          </p:cNvPr>
          <p:cNvGraphicFramePr>
            <a:graphicFrameLocks noGrp="1"/>
          </p:cNvGraphicFramePr>
          <p:nvPr>
            <p:extLst>
              <p:ext uri="{D42A27DB-BD31-4B8C-83A1-F6EECF244321}">
                <p14:modId xmlns:p14="http://schemas.microsoft.com/office/powerpoint/2010/main" val="2259534652"/>
              </p:ext>
            </p:extLst>
          </p:nvPr>
        </p:nvGraphicFramePr>
        <p:xfrm>
          <a:off x="886690" y="2676831"/>
          <a:ext cx="10159850" cy="3856704"/>
        </p:xfrm>
        <a:graphic>
          <a:graphicData uri="http://schemas.openxmlformats.org/drawingml/2006/table">
            <a:tbl>
              <a:tblPr firstRow="1">
                <a:tableStyleId>{69012ECD-51FC-41F1-AA8D-1B2483CD663E}</a:tableStyleId>
              </a:tblPr>
              <a:tblGrid>
                <a:gridCol w="1184387">
                  <a:extLst>
                    <a:ext uri="{9D8B030D-6E8A-4147-A177-3AD203B41FA5}">
                      <a16:colId xmlns:a16="http://schemas.microsoft.com/office/drawing/2014/main" val="1681094595"/>
                    </a:ext>
                  </a:extLst>
                </a:gridCol>
                <a:gridCol w="552715">
                  <a:extLst>
                    <a:ext uri="{9D8B030D-6E8A-4147-A177-3AD203B41FA5}">
                      <a16:colId xmlns:a16="http://schemas.microsoft.com/office/drawing/2014/main" val="3390090867"/>
                    </a:ext>
                  </a:extLst>
                </a:gridCol>
                <a:gridCol w="1831343">
                  <a:extLst>
                    <a:ext uri="{9D8B030D-6E8A-4147-A177-3AD203B41FA5}">
                      <a16:colId xmlns:a16="http://schemas.microsoft.com/office/drawing/2014/main" val="2954007409"/>
                    </a:ext>
                  </a:extLst>
                </a:gridCol>
                <a:gridCol w="1958695">
                  <a:extLst>
                    <a:ext uri="{9D8B030D-6E8A-4147-A177-3AD203B41FA5}">
                      <a16:colId xmlns:a16="http://schemas.microsoft.com/office/drawing/2014/main" val="2032591101"/>
                    </a:ext>
                  </a:extLst>
                </a:gridCol>
                <a:gridCol w="1151276">
                  <a:extLst>
                    <a:ext uri="{9D8B030D-6E8A-4147-A177-3AD203B41FA5}">
                      <a16:colId xmlns:a16="http://schemas.microsoft.com/office/drawing/2014/main" val="2757897121"/>
                    </a:ext>
                  </a:extLst>
                </a:gridCol>
                <a:gridCol w="1774899">
                  <a:extLst>
                    <a:ext uri="{9D8B030D-6E8A-4147-A177-3AD203B41FA5}">
                      <a16:colId xmlns:a16="http://schemas.microsoft.com/office/drawing/2014/main" val="732837321"/>
                    </a:ext>
                  </a:extLst>
                </a:gridCol>
                <a:gridCol w="1706535">
                  <a:extLst>
                    <a:ext uri="{9D8B030D-6E8A-4147-A177-3AD203B41FA5}">
                      <a16:colId xmlns:a16="http://schemas.microsoft.com/office/drawing/2014/main" val="137730239"/>
                    </a:ext>
                  </a:extLst>
                </a:gridCol>
              </a:tblGrid>
              <a:tr h="460584">
                <a:tc>
                  <a:txBody>
                    <a:bodyPr/>
                    <a:lstStyle/>
                    <a:p>
                      <a:pPr algn="l" fontAlgn="b"/>
                      <a:r>
                        <a:rPr lang="en-US" sz="1400" b="1" u="none" strike="noStrike">
                          <a:solidFill>
                            <a:schemeClr val="tx1"/>
                          </a:solidFill>
                          <a:effectLst/>
                          <a:latin typeface="Arial" panose="020B0604020202020204" pitchFamily="34" charset="0"/>
                          <a:ea typeface="微软雅黑" panose="020B0503020204020204" pitchFamily="34" charset="-122"/>
                        </a:rPr>
                        <a:t>Req Qty</a:t>
                      </a:r>
                      <a:endParaRPr lang="en-US" sz="1400" b="1"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err="1">
                          <a:solidFill>
                            <a:schemeClr val="tx1"/>
                          </a:solidFill>
                          <a:effectLst/>
                          <a:latin typeface="Arial" panose="020B0604020202020204" pitchFamily="34" charset="0"/>
                          <a:ea typeface="微软雅黑" panose="020B0503020204020204" pitchFamily="34" charset="-122"/>
                        </a:rPr>
                        <a:t>alg</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a:solidFill>
                            <a:schemeClr val="tx1"/>
                          </a:solidFill>
                          <a:effectLst/>
                          <a:latin typeface="Arial" panose="020B0604020202020204" pitchFamily="34" charset="0"/>
                          <a:ea typeface="微软雅黑" panose="020B0503020204020204" pitchFamily="34" charset="-122"/>
                        </a:rPr>
                        <a:t>Components</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a:solidFill>
                            <a:schemeClr val="tx1"/>
                          </a:solidFill>
                          <a:effectLst/>
                          <a:latin typeface="Arial" panose="020B0604020202020204" pitchFamily="34" charset="0"/>
                          <a:ea typeface="微软雅黑" panose="020B0503020204020204" pitchFamily="34" charset="-122"/>
                        </a:rPr>
                        <a:t>Allotment Qty</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a:solidFill>
                            <a:schemeClr val="tx1"/>
                          </a:solidFill>
                          <a:effectLst/>
                          <a:latin typeface="Arial" panose="020B0604020202020204" pitchFamily="34" charset="0"/>
                          <a:ea typeface="微软雅黑" panose="020B0503020204020204" pitchFamily="34" charset="-122"/>
                        </a:rPr>
                        <a:t>Fed Qty</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a:solidFill>
                            <a:schemeClr val="tx1"/>
                          </a:solidFill>
                          <a:effectLst/>
                          <a:latin typeface="Arial" panose="020B0604020202020204" pitchFamily="34" charset="0"/>
                          <a:ea typeface="微软雅黑" panose="020B0503020204020204" pitchFamily="34" charset="-122"/>
                        </a:rPr>
                        <a:t>Short by </a:t>
                      </a:r>
                      <a:r>
                        <a:rPr lang="en-US" sz="1400" b="1" u="none" strike="noStrike" dirty="0" err="1">
                          <a:solidFill>
                            <a:schemeClr val="tx1"/>
                          </a:solidFill>
                          <a:effectLst/>
                          <a:latin typeface="Arial" panose="020B0604020202020204" pitchFamily="34" charset="0"/>
                          <a:ea typeface="微软雅黑" panose="020B0503020204020204" pitchFamily="34" charset="-122"/>
                        </a:rPr>
                        <a:t>Alg</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a:solidFill>
                            <a:schemeClr val="tx1"/>
                          </a:solidFill>
                          <a:effectLst/>
                          <a:latin typeface="Arial" panose="020B0604020202020204" pitchFamily="34" charset="0"/>
                          <a:ea typeface="微软雅黑" panose="020B0503020204020204" pitchFamily="34" charset="-122"/>
                        </a:rPr>
                        <a:t>Surplus Qty</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2449137"/>
                  </a:ext>
                </a:extLst>
              </a:tr>
              <a:tr h="339612">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150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1</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dirty="0">
                          <a:solidFill>
                            <a:schemeClr val="tx1"/>
                          </a:solidFill>
                          <a:effectLst/>
                          <a:latin typeface="Arial" panose="020B0604020202020204" pitchFamily="34" charset="0"/>
                          <a:ea typeface="微软雅黑" panose="020B0503020204020204" pitchFamily="34" charset="-122"/>
                        </a:rPr>
                        <a:t>P1</a:t>
                      </a:r>
                      <a:endParaRPr lang="en-US"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50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50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30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096886"/>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150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P2</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70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70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30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624893"/>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120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P1</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0376732"/>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120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P2</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100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40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9399199"/>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3</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P2</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80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0336053"/>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3</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P3</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100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100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5742389"/>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4</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P1</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40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40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dirty="0">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38495629"/>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4</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P2</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80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80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1177520"/>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4</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P3</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120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120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9310861"/>
                  </a:ext>
                </a:extLst>
              </a:tr>
              <a:tr h="339612">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150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5</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P3</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200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150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50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2218738"/>
                  </a:ext>
                </a:extLst>
              </a:tr>
            </a:tbl>
          </a:graphicData>
        </a:graphic>
      </p:graphicFrame>
      <p:graphicFrame>
        <p:nvGraphicFramePr>
          <p:cNvPr id="7" name="图示 6">
            <a:extLst>
              <a:ext uri="{FF2B5EF4-FFF2-40B4-BE49-F238E27FC236}">
                <a16:creationId xmlns:a16="http://schemas.microsoft.com/office/drawing/2014/main" id="{43521DB8-A227-6439-0720-4B5382CCF627}"/>
              </a:ext>
            </a:extLst>
          </p:cNvPr>
          <p:cNvGraphicFramePr/>
          <p:nvPr>
            <p:extLst>
              <p:ext uri="{D42A27DB-BD31-4B8C-83A1-F6EECF244321}">
                <p14:modId xmlns:p14="http://schemas.microsoft.com/office/powerpoint/2010/main" val="444800159"/>
              </p:ext>
            </p:extLst>
          </p:nvPr>
        </p:nvGraphicFramePr>
        <p:xfrm>
          <a:off x="1659193" y="995516"/>
          <a:ext cx="7217840" cy="101160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88812378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F609BB-F40F-2E84-E917-1DC0F9A6C269}"/>
            </a:ext>
          </a:extLst>
        </p:cNvPr>
        <p:cNvGrpSpPr/>
        <p:nvPr/>
      </p:nvGrpSpPr>
      <p:grpSpPr>
        <a:xfrm>
          <a:off x="0" y="0"/>
          <a:ext cx="0" cy="0"/>
          <a:chOff x="0" y="0"/>
          <a:chExt cx="0" cy="0"/>
        </a:xfrm>
      </p:grpSpPr>
      <p:sp>
        <p:nvSpPr>
          <p:cNvPr id="3" name="椭圆 2">
            <a:extLst>
              <a:ext uri="{FF2B5EF4-FFF2-40B4-BE49-F238E27FC236}">
                <a16:creationId xmlns:a16="http://schemas.microsoft.com/office/drawing/2014/main" id="{60C9D5EF-ECCE-7C3B-0DDD-DFC80B0FCA80}"/>
              </a:ext>
            </a:extLst>
          </p:cNvPr>
          <p:cNvSpPr/>
          <p:nvPr/>
        </p:nvSpPr>
        <p:spPr>
          <a:xfrm rot="489083">
            <a:off x="5107085" y="3715544"/>
            <a:ext cx="4115505" cy="823548"/>
          </a:xfrm>
          <a:prstGeom prst="ellipse">
            <a:avLst/>
          </a:prstGeom>
          <a:no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endParaRPr kumimoji="0" lang="zh-CN" altLang="en-US" sz="1200" b="1" i="0" u="none" strike="noStrike" kern="1200" cap="none" spc="0" normalizeH="0" baseline="0" noProof="0" dirty="0">
              <a:ln>
                <a:noFill/>
              </a:ln>
              <a:solidFill>
                <a:schemeClr val="tx1"/>
              </a:solidFill>
              <a:effectLst/>
              <a:uLnTx/>
              <a:uFillTx/>
              <a:latin typeface="+mn-ea"/>
              <a:cs typeface="+mn-cs"/>
            </a:endParaRPr>
          </a:p>
        </p:txBody>
      </p:sp>
      <p:sp>
        <p:nvSpPr>
          <p:cNvPr id="2" name="标题 1">
            <a:extLst>
              <a:ext uri="{FF2B5EF4-FFF2-40B4-BE49-F238E27FC236}">
                <a16:creationId xmlns:a16="http://schemas.microsoft.com/office/drawing/2014/main" id="{F3FEE064-9046-F657-978A-186BF4FA4758}"/>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不完全替代 </a:t>
            </a:r>
            <a:r>
              <a:rPr lang="en-US" altLang="zh-CN" dirty="0">
                <a:latin typeface="Arial" panose="020B0604020202020204" pitchFamily="34" charset="0"/>
                <a:ea typeface="微软雅黑" panose="020B0503020204020204" pitchFamily="34" charset="-122"/>
              </a:rPr>
              <a:t>– </a:t>
            </a:r>
            <a:r>
              <a:rPr lang="zh-CN" altLang="en-US" dirty="0">
                <a:latin typeface="Arial" panose="020B0604020202020204" pitchFamily="34" charset="0"/>
                <a:ea typeface="微软雅黑" panose="020B0503020204020204" pitchFamily="34" charset="-122"/>
              </a:rPr>
              <a:t>动态分配步骤二</a:t>
            </a:r>
          </a:p>
        </p:txBody>
      </p:sp>
      <p:graphicFrame>
        <p:nvGraphicFramePr>
          <p:cNvPr id="6" name="表格 5">
            <a:extLst>
              <a:ext uri="{FF2B5EF4-FFF2-40B4-BE49-F238E27FC236}">
                <a16:creationId xmlns:a16="http://schemas.microsoft.com/office/drawing/2014/main" id="{9F74750B-A6FA-1162-A281-27D8E15D60F9}"/>
              </a:ext>
            </a:extLst>
          </p:cNvPr>
          <p:cNvGraphicFramePr>
            <a:graphicFrameLocks noGrp="1"/>
          </p:cNvGraphicFramePr>
          <p:nvPr>
            <p:extLst>
              <p:ext uri="{D42A27DB-BD31-4B8C-83A1-F6EECF244321}">
                <p14:modId xmlns:p14="http://schemas.microsoft.com/office/powerpoint/2010/main" val="1705683487"/>
              </p:ext>
            </p:extLst>
          </p:nvPr>
        </p:nvGraphicFramePr>
        <p:xfrm>
          <a:off x="1158798" y="2199458"/>
          <a:ext cx="9303462" cy="4535928"/>
        </p:xfrm>
        <a:graphic>
          <a:graphicData uri="http://schemas.openxmlformats.org/drawingml/2006/table">
            <a:tbl>
              <a:tblPr firstRow="1">
                <a:tableStyleId>{69012ECD-51FC-41F1-AA8D-1B2483CD663E}</a:tableStyleId>
              </a:tblPr>
              <a:tblGrid>
                <a:gridCol w="1169016">
                  <a:extLst>
                    <a:ext uri="{9D8B030D-6E8A-4147-A177-3AD203B41FA5}">
                      <a16:colId xmlns:a16="http://schemas.microsoft.com/office/drawing/2014/main" val="1681094595"/>
                    </a:ext>
                  </a:extLst>
                </a:gridCol>
                <a:gridCol w="545542">
                  <a:extLst>
                    <a:ext uri="{9D8B030D-6E8A-4147-A177-3AD203B41FA5}">
                      <a16:colId xmlns:a16="http://schemas.microsoft.com/office/drawing/2014/main" val="3390090867"/>
                    </a:ext>
                  </a:extLst>
                </a:gridCol>
                <a:gridCol w="1807576">
                  <a:extLst>
                    <a:ext uri="{9D8B030D-6E8A-4147-A177-3AD203B41FA5}">
                      <a16:colId xmlns:a16="http://schemas.microsoft.com/office/drawing/2014/main" val="2954007409"/>
                    </a:ext>
                  </a:extLst>
                </a:gridCol>
                <a:gridCol w="1204946">
                  <a:extLst>
                    <a:ext uri="{9D8B030D-6E8A-4147-A177-3AD203B41FA5}">
                      <a16:colId xmlns:a16="http://schemas.microsoft.com/office/drawing/2014/main" val="2032591101"/>
                    </a:ext>
                  </a:extLst>
                </a:gridCol>
                <a:gridCol w="708238">
                  <a:extLst>
                    <a:ext uri="{9D8B030D-6E8A-4147-A177-3AD203B41FA5}">
                      <a16:colId xmlns:a16="http://schemas.microsoft.com/office/drawing/2014/main" val="2757897121"/>
                    </a:ext>
                  </a:extLst>
                </a:gridCol>
                <a:gridCol w="1091878">
                  <a:extLst>
                    <a:ext uri="{9D8B030D-6E8A-4147-A177-3AD203B41FA5}">
                      <a16:colId xmlns:a16="http://schemas.microsoft.com/office/drawing/2014/main" val="2591860056"/>
                    </a:ext>
                  </a:extLst>
                </a:gridCol>
                <a:gridCol w="1091878">
                  <a:extLst>
                    <a:ext uri="{9D8B030D-6E8A-4147-A177-3AD203B41FA5}">
                      <a16:colId xmlns:a16="http://schemas.microsoft.com/office/drawing/2014/main" val="732837321"/>
                    </a:ext>
                  </a:extLst>
                </a:gridCol>
                <a:gridCol w="1684388">
                  <a:extLst>
                    <a:ext uri="{9D8B030D-6E8A-4147-A177-3AD203B41FA5}">
                      <a16:colId xmlns:a16="http://schemas.microsoft.com/office/drawing/2014/main" val="137730239"/>
                    </a:ext>
                  </a:extLst>
                </a:gridCol>
              </a:tblGrid>
              <a:tr h="460584">
                <a:tc>
                  <a:txBody>
                    <a:bodyPr/>
                    <a:lstStyle/>
                    <a:p>
                      <a:pPr algn="l" fontAlgn="b"/>
                      <a:r>
                        <a:rPr lang="en-US" sz="1400" b="1" u="none" strike="noStrike">
                          <a:solidFill>
                            <a:schemeClr val="tx1"/>
                          </a:solidFill>
                          <a:effectLst/>
                          <a:latin typeface="Arial" panose="020B0604020202020204" pitchFamily="34" charset="0"/>
                          <a:ea typeface="微软雅黑" panose="020B0503020204020204" pitchFamily="34" charset="-122"/>
                        </a:rPr>
                        <a:t>Req Qty</a:t>
                      </a:r>
                      <a:endParaRPr lang="en-US" sz="1400" b="1"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err="1">
                          <a:solidFill>
                            <a:schemeClr val="tx1"/>
                          </a:solidFill>
                          <a:effectLst/>
                          <a:latin typeface="Arial" panose="020B0604020202020204" pitchFamily="34" charset="0"/>
                          <a:ea typeface="微软雅黑" panose="020B0503020204020204" pitchFamily="34" charset="-122"/>
                        </a:rPr>
                        <a:t>alg</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a:solidFill>
                            <a:schemeClr val="tx1"/>
                          </a:solidFill>
                          <a:effectLst/>
                          <a:latin typeface="Arial" panose="020B0604020202020204" pitchFamily="34" charset="0"/>
                          <a:ea typeface="微软雅黑" panose="020B0503020204020204" pitchFamily="34" charset="-122"/>
                        </a:rPr>
                        <a:t>Components</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a:solidFill>
                            <a:schemeClr val="tx1"/>
                          </a:solidFill>
                          <a:effectLst/>
                          <a:latin typeface="Arial" panose="020B0604020202020204" pitchFamily="34" charset="0"/>
                          <a:ea typeface="微软雅黑" panose="020B0503020204020204" pitchFamily="34" charset="-122"/>
                        </a:rPr>
                        <a:t>Allotment Qty</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a:solidFill>
                            <a:schemeClr val="tx1"/>
                          </a:solidFill>
                          <a:effectLst/>
                          <a:latin typeface="Arial" panose="020B0604020202020204" pitchFamily="34" charset="0"/>
                          <a:ea typeface="微软雅黑" panose="020B0503020204020204" pitchFamily="34" charset="-122"/>
                        </a:rPr>
                        <a:t>Fed Qty</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i="0" u="none" strike="noStrike" dirty="0">
                          <a:solidFill>
                            <a:schemeClr val="tx1"/>
                          </a:solidFill>
                          <a:effectLst/>
                          <a:latin typeface="Arial" panose="020B0604020202020204" pitchFamily="34" charset="0"/>
                          <a:ea typeface="微软雅黑" panose="020B0503020204020204" pitchFamily="34" charset="-122"/>
                        </a:rPr>
                        <a:t>Fed </a:t>
                      </a:r>
                      <a:r>
                        <a:rPr lang="en-US" sz="1400" b="1" i="0" u="none" strike="noStrike" dirty="0" err="1">
                          <a:solidFill>
                            <a:schemeClr val="tx1"/>
                          </a:solidFill>
                          <a:effectLst/>
                          <a:latin typeface="Arial" panose="020B0604020202020204" pitchFamily="34" charset="0"/>
                          <a:ea typeface="微软雅黑" panose="020B0503020204020204" pitchFamily="34" charset="-122"/>
                        </a:rPr>
                        <a:t>alg</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a:solidFill>
                            <a:schemeClr val="tx1"/>
                          </a:solidFill>
                          <a:effectLst/>
                          <a:latin typeface="Arial" panose="020B0604020202020204" pitchFamily="34" charset="0"/>
                          <a:ea typeface="微软雅黑" panose="020B0503020204020204" pitchFamily="34" charset="-122"/>
                        </a:rPr>
                        <a:t>Short by </a:t>
                      </a:r>
                      <a:r>
                        <a:rPr lang="en-US" sz="1400" b="1" u="none" strike="noStrike" dirty="0" err="1">
                          <a:solidFill>
                            <a:schemeClr val="tx1"/>
                          </a:solidFill>
                          <a:effectLst/>
                          <a:latin typeface="Arial" panose="020B0604020202020204" pitchFamily="34" charset="0"/>
                          <a:ea typeface="微软雅黑" panose="020B0503020204020204" pitchFamily="34" charset="-122"/>
                        </a:rPr>
                        <a:t>Alg</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1" u="none" strike="noStrike" dirty="0">
                          <a:solidFill>
                            <a:schemeClr val="tx1"/>
                          </a:solidFill>
                          <a:effectLst/>
                          <a:latin typeface="Arial" panose="020B0604020202020204" pitchFamily="34" charset="0"/>
                          <a:ea typeface="微软雅黑" panose="020B0503020204020204" pitchFamily="34" charset="-122"/>
                        </a:rPr>
                        <a:t>Surplus Qty</a:t>
                      </a:r>
                      <a:endParaRPr lang="en-US" sz="1400" b="1"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2449137"/>
                  </a:ext>
                </a:extLst>
              </a:tr>
              <a:tr h="339612">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150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1</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dirty="0">
                          <a:solidFill>
                            <a:schemeClr val="tx1"/>
                          </a:solidFill>
                          <a:effectLst/>
                          <a:latin typeface="Arial" panose="020B0604020202020204" pitchFamily="34" charset="0"/>
                          <a:ea typeface="微软雅黑" panose="020B0503020204020204" pitchFamily="34" charset="-122"/>
                        </a:rPr>
                        <a:t>P1</a:t>
                      </a:r>
                      <a:endParaRPr lang="en-US"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50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50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1</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30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096886"/>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150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P2</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70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70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1</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30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dirty="0">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624893"/>
                  </a:ext>
                </a:extLst>
              </a:tr>
              <a:tr h="339612">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150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rgbClr val="FF0000"/>
                          </a:solidFill>
                          <a:effectLst/>
                          <a:latin typeface="Arial" panose="020B0604020202020204" pitchFamily="34" charset="0"/>
                          <a:ea typeface="微软雅黑" panose="020B0503020204020204" pitchFamily="34" charset="-122"/>
                        </a:rPr>
                        <a:t>1</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i="0" u="none" strike="noStrike" dirty="0">
                          <a:solidFill>
                            <a:srgbClr val="FF0000"/>
                          </a:solidFill>
                          <a:effectLst/>
                          <a:latin typeface="Arial" panose="020B0604020202020204" pitchFamily="34" charset="0"/>
                          <a:ea typeface="微软雅黑" panose="020B0503020204020204" pitchFamily="34" charset="-122"/>
                        </a:rPr>
                        <a:t>P2</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rgbClr val="FF0000"/>
                          </a:solidFill>
                          <a:effectLst/>
                          <a:latin typeface="Arial" panose="020B0604020202020204" pitchFamily="34" charset="0"/>
                          <a:ea typeface="微软雅黑" panose="020B0503020204020204" pitchFamily="34" charset="-122"/>
                        </a:rPr>
                        <a:t>70+30=100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rgbClr val="FF0000"/>
                          </a:solidFill>
                          <a:effectLst/>
                          <a:latin typeface="Arial" panose="020B0604020202020204" pitchFamily="34" charset="0"/>
                          <a:ea typeface="微软雅黑" panose="020B0503020204020204" pitchFamily="34" charset="-122"/>
                        </a:rPr>
                        <a:t>30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rgbClr val="FF0000"/>
                          </a:solidFill>
                          <a:effectLst/>
                          <a:latin typeface="Arial" panose="020B0604020202020204" pitchFamily="34" charset="0"/>
                          <a:ea typeface="微软雅黑" panose="020B0503020204020204" pitchFamily="34" charset="-122"/>
                        </a:rPr>
                        <a:t>2</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rgbClr val="FF0000"/>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CN" altLang="en-US"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1141610"/>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120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P1</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2</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0376732"/>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120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P2</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rgbClr val="FF0000"/>
                          </a:solidFill>
                          <a:effectLst/>
                          <a:latin typeface="Arial" panose="020B0604020202020204" pitchFamily="34" charset="0"/>
                          <a:ea typeface="微软雅黑" panose="020B0503020204020204" pitchFamily="34" charset="-122"/>
                        </a:rPr>
                        <a:t>100-30=70</a:t>
                      </a:r>
                      <a:endParaRPr lang="en-US" altLang="zh-CN" sz="1400" b="0" i="0" u="none" strike="noStrike" dirty="0">
                        <a:solidFill>
                          <a:srgbClr val="FF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2</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rgbClr val="FF0000"/>
                          </a:solidFill>
                          <a:effectLst/>
                          <a:latin typeface="Arial" panose="020B0604020202020204" pitchFamily="34" charset="0"/>
                          <a:ea typeface="微软雅黑" panose="020B0503020204020204" pitchFamily="34" charset="-122"/>
                        </a:rPr>
                        <a:t>40-30=10</a:t>
                      </a:r>
                      <a:endParaRPr lang="en-US" altLang="zh-CN" sz="1400" b="0" i="0" u="none" strike="noStrike" dirty="0">
                        <a:solidFill>
                          <a:srgbClr val="FF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9399199"/>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3</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P2</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80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60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3</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20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0336053"/>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3</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P3</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100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100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3</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5742389"/>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4</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P1</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40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40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4</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20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dirty="0">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38495629"/>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4</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P2</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80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80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4</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1177520"/>
                  </a:ext>
                </a:extLst>
              </a:tr>
              <a:tr h="339612">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260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4</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P3</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120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120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4</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20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CN" altLang="en-US" sz="1400" b="0" u="none" strike="noStrike">
                          <a:solidFill>
                            <a:schemeClr val="tx1"/>
                          </a:solidFill>
                          <a:effectLst/>
                          <a:latin typeface="Arial" panose="020B0604020202020204" pitchFamily="34" charset="0"/>
                          <a:ea typeface="微软雅黑" panose="020B0503020204020204" pitchFamily="34" charset="-122"/>
                        </a:rPr>
                        <a:t>　</a:t>
                      </a:r>
                      <a:endParaRPr lang="zh-CN" alt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9310861"/>
                  </a:ext>
                </a:extLst>
              </a:tr>
              <a:tr h="339612">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260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5</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i="0" u="none" strike="noStrike" dirty="0">
                          <a:solidFill>
                            <a:schemeClr val="tx1"/>
                          </a:solidFill>
                          <a:effectLst/>
                          <a:latin typeface="Arial" panose="020B0604020202020204" pitchFamily="34" charset="0"/>
                          <a:ea typeface="微软雅黑" panose="020B0503020204020204" pitchFamily="34" charset="-122"/>
                        </a:rPr>
                        <a:t>P3</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rgbClr val="FF0000"/>
                          </a:solidFill>
                          <a:effectLst/>
                          <a:latin typeface="Arial" panose="020B0604020202020204" pitchFamily="34" charset="0"/>
                          <a:ea typeface="微软雅黑" panose="020B0503020204020204" pitchFamily="34" charset="-122"/>
                        </a:rPr>
                        <a:t>120+20=140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rgbClr val="FF0000"/>
                          </a:solidFill>
                          <a:effectLst/>
                          <a:latin typeface="Arial" panose="020B0604020202020204" pitchFamily="34" charset="0"/>
                          <a:ea typeface="微软雅黑" panose="020B0503020204020204" pitchFamily="34" charset="-122"/>
                        </a:rPr>
                        <a:t>20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rgbClr val="FF0000"/>
                          </a:solidFill>
                          <a:effectLst/>
                          <a:latin typeface="Arial" panose="020B0604020202020204" pitchFamily="34" charset="0"/>
                          <a:ea typeface="微软雅黑" panose="020B0503020204020204" pitchFamily="34" charset="-122"/>
                        </a:rPr>
                        <a:t>5</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rgbClr val="FF0000"/>
                          </a:solidFill>
                          <a:effectLst/>
                          <a:latin typeface="Arial" panose="020B0604020202020204" pitchFamily="34" charset="0"/>
                          <a:ea typeface="微软雅黑" panose="020B0503020204020204" pitchFamily="34" charset="-122"/>
                        </a:rPr>
                        <a:t>0</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CN" altLang="en-US"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8754387"/>
                  </a:ext>
                </a:extLst>
              </a:tr>
              <a:tr h="339612">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150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5</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400" b="0" u="none" strike="noStrike">
                          <a:solidFill>
                            <a:schemeClr val="tx1"/>
                          </a:solidFill>
                          <a:effectLst/>
                          <a:latin typeface="Arial" panose="020B0604020202020204" pitchFamily="34" charset="0"/>
                          <a:ea typeface="微软雅黑" panose="020B0503020204020204" pitchFamily="34" charset="-122"/>
                        </a:rPr>
                        <a:t>P3</a:t>
                      </a:r>
                      <a:endParaRPr lang="en-US"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rgbClr val="FF0000"/>
                          </a:solidFill>
                          <a:effectLst/>
                          <a:latin typeface="Arial" panose="020B0604020202020204" pitchFamily="34" charset="0"/>
                          <a:ea typeface="微软雅黑" panose="020B0503020204020204" pitchFamily="34" charset="-122"/>
                        </a:rPr>
                        <a:t>200-20=180</a:t>
                      </a:r>
                      <a:endParaRPr lang="en-US" altLang="zh-CN" sz="1400" b="0" i="0" u="none" strike="noStrike" dirty="0">
                        <a:solidFill>
                          <a:srgbClr val="FF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a:solidFill>
                            <a:schemeClr val="tx1"/>
                          </a:solidFill>
                          <a:effectLst/>
                          <a:latin typeface="Arial" panose="020B0604020202020204" pitchFamily="34" charset="0"/>
                          <a:ea typeface="微软雅黑" panose="020B0503020204020204" pitchFamily="34" charset="-122"/>
                        </a:rPr>
                        <a:t>150</a:t>
                      </a:r>
                      <a:endParaRPr lang="en-US" altLang="zh-CN" sz="1400" b="0" i="0" u="none" strike="noStrike">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i="0" u="none" strike="noStrike" dirty="0">
                          <a:solidFill>
                            <a:schemeClr val="tx1"/>
                          </a:solidFill>
                          <a:effectLst/>
                          <a:latin typeface="Arial" panose="020B0604020202020204" pitchFamily="34" charset="0"/>
                          <a:ea typeface="微软雅黑" panose="020B0503020204020204" pitchFamily="34" charset="-122"/>
                        </a:rPr>
                        <a:t>5</a:t>
                      </a: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chemeClr val="tx1"/>
                          </a:solidFill>
                          <a:effectLst/>
                          <a:latin typeface="Arial" panose="020B0604020202020204" pitchFamily="34" charset="0"/>
                          <a:ea typeface="微软雅黑" panose="020B0503020204020204" pitchFamily="34" charset="-122"/>
                        </a:rPr>
                        <a:t>0</a:t>
                      </a:r>
                      <a:endParaRPr lang="en-US" altLang="zh-CN" sz="1400" b="0" i="0" u="none" strike="noStrike" dirty="0">
                        <a:solidFill>
                          <a:schemeClr val="tx1"/>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CN" sz="1400" b="0" u="none" strike="noStrike" dirty="0">
                          <a:solidFill>
                            <a:srgbClr val="FF0000"/>
                          </a:solidFill>
                          <a:effectLst/>
                          <a:latin typeface="Arial" panose="020B0604020202020204" pitchFamily="34" charset="0"/>
                          <a:ea typeface="微软雅黑" panose="020B0503020204020204" pitchFamily="34" charset="-122"/>
                        </a:rPr>
                        <a:t>50-20=30</a:t>
                      </a:r>
                      <a:endParaRPr lang="en-US" altLang="zh-CN" sz="1400" b="0" i="0" u="none" strike="noStrike" dirty="0">
                        <a:solidFill>
                          <a:srgbClr val="FF0000"/>
                        </a:solidFill>
                        <a:effectLst/>
                        <a:latin typeface="Arial" panose="020B0604020202020204" pitchFamily="34" charset="0"/>
                        <a:ea typeface="微软雅黑" panose="020B0503020204020204" pitchFamily="34" charset="-122"/>
                      </a:endParaRPr>
                    </a:p>
                  </a:txBody>
                  <a:tcPr marL="4763" marR="4763" marT="4763"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2218738"/>
                  </a:ext>
                </a:extLst>
              </a:tr>
            </a:tbl>
          </a:graphicData>
        </a:graphic>
      </p:graphicFrame>
      <p:graphicFrame>
        <p:nvGraphicFramePr>
          <p:cNvPr id="7" name="图示 6">
            <a:extLst>
              <a:ext uri="{FF2B5EF4-FFF2-40B4-BE49-F238E27FC236}">
                <a16:creationId xmlns:a16="http://schemas.microsoft.com/office/drawing/2014/main" id="{880FD0DF-2A49-E84E-9D61-B35ADB53FD56}"/>
              </a:ext>
            </a:extLst>
          </p:cNvPr>
          <p:cNvGraphicFramePr/>
          <p:nvPr>
            <p:extLst>
              <p:ext uri="{D42A27DB-BD31-4B8C-83A1-F6EECF244321}">
                <p14:modId xmlns:p14="http://schemas.microsoft.com/office/powerpoint/2010/main" val="2152140751"/>
              </p:ext>
            </p:extLst>
          </p:nvPr>
        </p:nvGraphicFramePr>
        <p:xfrm>
          <a:off x="1767840" y="739367"/>
          <a:ext cx="7217840" cy="146009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椭圆 3">
            <a:extLst>
              <a:ext uri="{FF2B5EF4-FFF2-40B4-BE49-F238E27FC236}">
                <a16:creationId xmlns:a16="http://schemas.microsoft.com/office/drawing/2014/main" id="{04EBFD4E-C361-E5FC-48FB-3E094529D9AB}"/>
              </a:ext>
            </a:extLst>
          </p:cNvPr>
          <p:cNvSpPr/>
          <p:nvPr/>
        </p:nvSpPr>
        <p:spPr>
          <a:xfrm rot="211191">
            <a:off x="4770854" y="6018476"/>
            <a:ext cx="5151120" cy="716280"/>
          </a:xfrm>
          <a:prstGeom prst="ellipse">
            <a:avLst/>
          </a:prstGeom>
          <a:no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endParaRPr kumimoji="0" lang="zh-CN" altLang="en-US" sz="1200" b="1" i="0" u="none" strike="noStrike" kern="1200" cap="none" spc="0" normalizeH="0" baseline="0" noProof="0" dirty="0">
              <a:ln>
                <a:noFill/>
              </a:ln>
              <a:solidFill>
                <a:schemeClr val="tx1"/>
              </a:solidFill>
              <a:effectLst/>
              <a:uLnTx/>
              <a:uFillTx/>
              <a:latin typeface="+mn-ea"/>
              <a:cs typeface="+mn-cs"/>
            </a:endParaRPr>
          </a:p>
        </p:txBody>
      </p:sp>
    </p:spTree>
    <p:extLst>
      <p:ext uri="{BB962C8B-B14F-4D97-AF65-F5344CB8AC3E}">
        <p14:creationId xmlns:p14="http://schemas.microsoft.com/office/powerpoint/2010/main" val="3112351922"/>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1">
            <a:extLst>
              <a:ext uri="{FF2B5EF4-FFF2-40B4-BE49-F238E27FC236}">
                <a16:creationId xmlns:a16="http://schemas.microsoft.com/office/drawing/2014/main" id="{0F95CD8A-D75E-E9B8-283C-C308C932A493}"/>
              </a:ext>
            </a:extLst>
          </p:cNvPr>
          <p:cNvSpPr>
            <a:spLocks noGrp="1"/>
          </p:cNvSpPr>
          <p:nvPr>
            <p:ph type="title"/>
          </p:nvPr>
        </p:nvSpPr>
        <p:spPr>
          <a:xfrm>
            <a:off x="813511" y="318443"/>
            <a:ext cx="10972800" cy="491126"/>
          </a:xfrm>
        </p:spPr>
        <p:txBody>
          <a:bodyPr>
            <a:normAutofit/>
          </a:bodyPr>
          <a:lstStyle/>
          <a:p>
            <a:r>
              <a:rPr lang="zh-CN" altLang="en-US" sz="2800" b="1" dirty="0">
                <a:latin typeface="Arial" panose="020B0604020202020204" pitchFamily="34" charset="0"/>
                <a:ea typeface="微软雅黑" panose="020B0503020204020204" pitchFamily="34" charset="-122"/>
              </a:rPr>
              <a:t>组替代 </a:t>
            </a:r>
            <a:r>
              <a:rPr lang="en-US" altLang="zh-CN" sz="2800" b="1" dirty="0">
                <a:latin typeface="Arial" panose="020B0604020202020204" pitchFamily="34" charset="0"/>
                <a:ea typeface="微软雅黑" panose="020B0503020204020204" pitchFamily="34" charset="-122"/>
              </a:rPr>
              <a:t>– New Cost</a:t>
            </a:r>
            <a:r>
              <a:rPr lang="zh-CN" altLang="en-US" sz="2800" b="1" dirty="0">
                <a:latin typeface="Arial" panose="020B0604020202020204" pitchFamily="34" charset="0"/>
                <a:ea typeface="微软雅黑" panose="020B0503020204020204" pitchFamily="34" charset="-122"/>
              </a:rPr>
              <a:t>示例</a:t>
            </a:r>
          </a:p>
        </p:txBody>
      </p:sp>
      <p:sp>
        <p:nvSpPr>
          <p:cNvPr id="7" name="矩形 6">
            <a:extLst>
              <a:ext uri="{FF2B5EF4-FFF2-40B4-BE49-F238E27FC236}">
                <a16:creationId xmlns:a16="http://schemas.microsoft.com/office/drawing/2014/main" id="{AF9C85BC-F59F-D71F-4FD6-14C7953CB4FE}"/>
              </a:ext>
            </a:extLst>
          </p:cNvPr>
          <p:cNvSpPr/>
          <p:nvPr/>
        </p:nvSpPr>
        <p:spPr>
          <a:xfrm>
            <a:off x="5483942" y="1194901"/>
            <a:ext cx="902110" cy="315792"/>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FG1…</a:t>
            </a:r>
            <a:r>
              <a:rPr lang="en-US" altLang="zh-CN" sz="1050" b="1" dirty="0" err="1">
                <a:latin typeface="Arial" panose="020B0604020202020204" pitchFamily="34" charset="0"/>
                <a:ea typeface="微软雅黑" panose="020B0503020204020204" pitchFamily="34" charset="-122"/>
              </a:rPr>
              <a:t>FGn</a:t>
            </a:r>
            <a:endParaRPr lang="zh-CN" altLang="en-US" sz="1050" b="1" dirty="0">
              <a:latin typeface="Arial" panose="020B0604020202020204" pitchFamily="34" charset="0"/>
              <a:ea typeface="微软雅黑" panose="020B0503020204020204" pitchFamily="34" charset="-122"/>
            </a:endParaRPr>
          </a:p>
        </p:txBody>
      </p:sp>
      <p:cxnSp>
        <p:nvCxnSpPr>
          <p:cNvPr id="15" name="连接符: 肘形 14">
            <a:extLst>
              <a:ext uri="{FF2B5EF4-FFF2-40B4-BE49-F238E27FC236}">
                <a16:creationId xmlns:a16="http://schemas.microsoft.com/office/drawing/2014/main" id="{E2AA1152-90B7-9DEB-3F97-E39E2E36B4B4}"/>
              </a:ext>
            </a:extLst>
          </p:cNvPr>
          <p:cNvCxnSpPr>
            <a:cxnSpLocks/>
            <a:stCxn id="7" idx="2"/>
            <a:endCxn id="12" idx="0"/>
          </p:cNvCxnSpPr>
          <p:nvPr/>
        </p:nvCxnSpPr>
        <p:spPr>
          <a:xfrm rot="16200000" flipH="1">
            <a:off x="6370884" y="1074806"/>
            <a:ext cx="275610" cy="1147384"/>
          </a:xfrm>
          <a:prstGeom prst="bentConnector3">
            <a:avLst>
              <a:gd name="adj1" fmla="val 50000"/>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8" name="连接符: 肘形 17">
            <a:extLst>
              <a:ext uri="{FF2B5EF4-FFF2-40B4-BE49-F238E27FC236}">
                <a16:creationId xmlns:a16="http://schemas.microsoft.com/office/drawing/2014/main" id="{00D62E6A-5761-B431-01AF-3C79602AB57F}"/>
              </a:ext>
            </a:extLst>
          </p:cNvPr>
          <p:cNvCxnSpPr>
            <a:cxnSpLocks/>
            <a:stCxn id="7" idx="2"/>
            <a:endCxn id="9" idx="0"/>
          </p:cNvCxnSpPr>
          <p:nvPr/>
        </p:nvCxnSpPr>
        <p:spPr>
          <a:xfrm rot="5400000">
            <a:off x="5138048" y="1017798"/>
            <a:ext cx="304055" cy="1289845"/>
          </a:xfrm>
          <a:prstGeom prst="bentConnector3">
            <a:avLst>
              <a:gd name="adj1" fmla="val 50000"/>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21" name="矩形 20">
            <a:extLst>
              <a:ext uri="{FF2B5EF4-FFF2-40B4-BE49-F238E27FC236}">
                <a16:creationId xmlns:a16="http://schemas.microsoft.com/office/drawing/2014/main" id="{A5B672EF-AE57-D4D9-5456-615A61E06A58}"/>
              </a:ext>
            </a:extLst>
          </p:cNvPr>
          <p:cNvSpPr/>
          <p:nvPr/>
        </p:nvSpPr>
        <p:spPr>
          <a:xfrm>
            <a:off x="3434955" y="2749824"/>
            <a:ext cx="682596" cy="27326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A1</a:t>
            </a:r>
            <a:endParaRPr lang="zh-CN" altLang="en-US" sz="1050" b="1" dirty="0">
              <a:latin typeface="Arial" panose="020B0604020202020204" pitchFamily="34" charset="0"/>
              <a:ea typeface="微软雅黑" panose="020B0503020204020204" pitchFamily="34" charset="-122"/>
            </a:endParaRPr>
          </a:p>
        </p:txBody>
      </p:sp>
      <p:sp>
        <p:nvSpPr>
          <p:cNvPr id="22" name="矩形 21">
            <a:extLst>
              <a:ext uri="{FF2B5EF4-FFF2-40B4-BE49-F238E27FC236}">
                <a16:creationId xmlns:a16="http://schemas.microsoft.com/office/drawing/2014/main" id="{B526DF53-49CA-11A1-DF03-15CBAB70286E}"/>
              </a:ext>
            </a:extLst>
          </p:cNvPr>
          <p:cNvSpPr/>
          <p:nvPr/>
        </p:nvSpPr>
        <p:spPr>
          <a:xfrm>
            <a:off x="4288799" y="2749824"/>
            <a:ext cx="682596" cy="27326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B1</a:t>
            </a:r>
            <a:endParaRPr lang="zh-CN" altLang="en-US" sz="1050" b="1" dirty="0">
              <a:latin typeface="Arial" panose="020B0604020202020204" pitchFamily="34" charset="0"/>
              <a:ea typeface="微软雅黑" panose="020B0503020204020204" pitchFamily="34" charset="-122"/>
            </a:endParaRPr>
          </a:p>
        </p:txBody>
      </p:sp>
      <p:sp>
        <p:nvSpPr>
          <p:cNvPr id="23" name="矩形 22">
            <a:extLst>
              <a:ext uri="{FF2B5EF4-FFF2-40B4-BE49-F238E27FC236}">
                <a16:creationId xmlns:a16="http://schemas.microsoft.com/office/drawing/2014/main" id="{43BCE43D-1D8F-3610-1F16-572921BFDDAC}"/>
              </a:ext>
            </a:extLst>
          </p:cNvPr>
          <p:cNvSpPr/>
          <p:nvPr/>
        </p:nvSpPr>
        <p:spPr>
          <a:xfrm>
            <a:off x="5142644" y="2749824"/>
            <a:ext cx="682596" cy="27326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C1</a:t>
            </a:r>
            <a:endParaRPr lang="zh-CN" altLang="en-US" sz="1050" b="1" dirty="0">
              <a:latin typeface="Arial" panose="020B0604020202020204" pitchFamily="34" charset="0"/>
              <a:ea typeface="微软雅黑" panose="020B0503020204020204" pitchFamily="34" charset="-122"/>
            </a:endParaRPr>
          </a:p>
        </p:txBody>
      </p:sp>
      <p:sp>
        <p:nvSpPr>
          <p:cNvPr id="24" name="矩形 23">
            <a:extLst>
              <a:ext uri="{FF2B5EF4-FFF2-40B4-BE49-F238E27FC236}">
                <a16:creationId xmlns:a16="http://schemas.microsoft.com/office/drawing/2014/main" id="{67F3A4E6-A9A6-CA05-5741-B07101293C92}"/>
              </a:ext>
            </a:extLst>
          </p:cNvPr>
          <p:cNvSpPr/>
          <p:nvPr/>
        </p:nvSpPr>
        <p:spPr>
          <a:xfrm>
            <a:off x="5983727" y="2749824"/>
            <a:ext cx="682596" cy="27326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A2</a:t>
            </a:r>
            <a:endParaRPr lang="zh-CN" altLang="en-US" sz="1050" b="1" dirty="0">
              <a:latin typeface="Arial" panose="020B0604020202020204" pitchFamily="34" charset="0"/>
              <a:ea typeface="微软雅黑" panose="020B0503020204020204" pitchFamily="34" charset="-122"/>
            </a:endParaRPr>
          </a:p>
        </p:txBody>
      </p:sp>
      <p:sp>
        <p:nvSpPr>
          <p:cNvPr id="25" name="矩形 24">
            <a:extLst>
              <a:ext uri="{FF2B5EF4-FFF2-40B4-BE49-F238E27FC236}">
                <a16:creationId xmlns:a16="http://schemas.microsoft.com/office/drawing/2014/main" id="{EA89D41E-71DD-6FFC-77A9-2AC7317072D3}"/>
              </a:ext>
            </a:extLst>
          </p:cNvPr>
          <p:cNvSpPr/>
          <p:nvPr/>
        </p:nvSpPr>
        <p:spPr>
          <a:xfrm>
            <a:off x="6773296" y="2749824"/>
            <a:ext cx="682596" cy="27326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B2</a:t>
            </a:r>
            <a:endParaRPr lang="zh-CN" altLang="en-US" sz="1050" b="1" dirty="0">
              <a:latin typeface="Arial" panose="020B0604020202020204" pitchFamily="34" charset="0"/>
              <a:ea typeface="微软雅黑" panose="020B0503020204020204" pitchFamily="34" charset="-122"/>
            </a:endParaRPr>
          </a:p>
        </p:txBody>
      </p:sp>
      <p:sp>
        <p:nvSpPr>
          <p:cNvPr id="26" name="矩形 25">
            <a:extLst>
              <a:ext uri="{FF2B5EF4-FFF2-40B4-BE49-F238E27FC236}">
                <a16:creationId xmlns:a16="http://schemas.microsoft.com/office/drawing/2014/main" id="{A80208F9-B1F9-360C-A9B8-B7DA363765DA}"/>
              </a:ext>
            </a:extLst>
          </p:cNvPr>
          <p:cNvSpPr/>
          <p:nvPr/>
        </p:nvSpPr>
        <p:spPr>
          <a:xfrm>
            <a:off x="7641621" y="2749824"/>
            <a:ext cx="682596" cy="27326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C2</a:t>
            </a:r>
            <a:endParaRPr lang="zh-CN" altLang="en-US" sz="1050" b="1" dirty="0">
              <a:latin typeface="Arial" panose="020B0604020202020204" pitchFamily="34" charset="0"/>
              <a:ea typeface="微软雅黑" panose="020B0503020204020204" pitchFamily="34" charset="-122"/>
            </a:endParaRPr>
          </a:p>
        </p:txBody>
      </p:sp>
      <p:cxnSp>
        <p:nvCxnSpPr>
          <p:cNvPr id="30" name="连接符: 肘形 29">
            <a:extLst>
              <a:ext uri="{FF2B5EF4-FFF2-40B4-BE49-F238E27FC236}">
                <a16:creationId xmlns:a16="http://schemas.microsoft.com/office/drawing/2014/main" id="{6C70D425-A3D3-4287-8C8F-E1CE31582B75}"/>
              </a:ext>
            </a:extLst>
          </p:cNvPr>
          <p:cNvCxnSpPr>
            <a:cxnSpLocks/>
            <a:stCxn id="10" idx="1"/>
            <a:endCxn id="21" idx="0"/>
          </p:cNvCxnSpPr>
          <p:nvPr/>
        </p:nvCxnSpPr>
        <p:spPr>
          <a:xfrm rot="10800000" flipV="1">
            <a:off x="3776253" y="2089212"/>
            <a:ext cx="606570" cy="660612"/>
          </a:xfrm>
          <a:prstGeom prst="bentConnector2">
            <a:avLst/>
          </a:prstGeom>
          <a:ln>
            <a:headEnd type="none" w="med" len="med"/>
            <a:tailEnd type="none" w="med" len="med"/>
          </a:ln>
        </p:spPr>
        <p:style>
          <a:lnRef idx="2">
            <a:schemeClr val="accent1"/>
          </a:lnRef>
          <a:fillRef idx="0">
            <a:schemeClr val="accent1"/>
          </a:fillRef>
          <a:effectRef idx="1">
            <a:schemeClr val="accent1"/>
          </a:effectRef>
          <a:fontRef idx="minor">
            <a:schemeClr val="tx1"/>
          </a:fontRef>
        </p:style>
      </p:cxnSp>
      <p:cxnSp>
        <p:nvCxnSpPr>
          <p:cNvPr id="33" name="连接符: 肘形 32">
            <a:extLst>
              <a:ext uri="{FF2B5EF4-FFF2-40B4-BE49-F238E27FC236}">
                <a16:creationId xmlns:a16="http://schemas.microsoft.com/office/drawing/2014/main" id="{B03E31FA-A757-0A9D-449C-B15B97FAC42D}"/>
              </a:ext>
            </a:extLst>
          </p:cNvPr>
          <p:cNvCxnSpPr>
            <a:cxnSpLocks/>
          </p:cNvCxnSpPr>
          <p:nvPr/>
        </p:nvCxnSpPr>
        <p:spPr>
          <a:xfrm rot="16200000" flipH="1">
            <a:off x="4376984" y="2472200"/>
            <a:ext cx="536336" cy="18911"/>
          </a:xfrm>
          <a:prstGeom prst="bentConnector3">
            <a:avLst>
              <a:gd name="adj1" fmla="val -1627"/>
            </a:avLst>
          </a:prstGeom>
          <a:ln>
            <a:headEnd type="none" w="med" len="med"/>
            <a:tailEnd type="none" w="med" len="med"/>
          </a:ln>
        </p:spPr>
        <p:style>
          <a:lnRef idx="2">
            <a:schemeClr val="accent1"/>
          </a:lnRef>
          <a:fillRef idx="0">
            <a:schemeClr val="accent1"/>
          </a:fillRef>
          <a:effectRef idx="1">
            <a:schemeClr val="accent1"/>
          </a:effectRef>
          <a:fontRef idx="minor">
            <a:schemeClr val="tx1"/>
          </a:fontRef>
        </p:style>
      </p:cxnSp>
      <p:cxnSp>
        <p:nvCxnSpPr>
          <p:cNvPr id="37" name="连接符: 肘形 36">
            <a:extLst>
              <a:ext uri="{FF2B5EF4-FFF2-40B4-BE49-F238E27FC236}">
                <a16:creationId xmlns:a16="http://schemas.microsoft.com/office/drawing/2014/main" id="{909FE905-B8EC-54CD-A1ED-39AAF0E634B9}"/>
              </a:ext>
            </a:extLst>
          </p:cNvPr>
          <p:cNvCxnSpPr>
            <a:cxnSpLocks/>
            <a:stCxn id="10" idx="0"/>
            <a:endCxn id="23" idx="0"/>
          </p:cNvCxnSpPr>
          <p:nvPr/>
        </p:nvCxnSpPr>
        <p:spPr>
          <a:xfrm rot="16200000" flipH="1">
            <a:off x="4738928" y="2004810"/>
            <a:ext cx="799112" cy="690916"/>
          </a:xfrm>
          <a:prstGeom prst="bentConnector3">
            <a:avLst>
              <a:gd name="adj1" fmla="val 18937"/>
            </a:avLst>
          </a:prstGeom>
          <a:ln>
            <a:headEnd type="none" w="med" len="med"/>
            <a:tailEnd type="none" w="med" len="med"/>
          </a:ln>
        </p:spPr>
        <p:style>
          <a:lnRef idx="2">
            <a:schemeClr val="accent1"/>
          </a:lnRef>
          <a:fillRef idx="0">
            <a:schemeClr val="accent1"/>
          </a:fillRef>
          <a:effectRef idx="1">
            <a:schemeClr val="accent1"/>
          </a:effectRef>
          <a:fontRef idx="minor">
            <a:schemeClr val="tx1"/>
          </a:fontRef>
        </p:style>
      </p:cxnSp>
      <p:grpSp>
        <p:nvGrpSpPr>
          <p:cNvPr id="8" name="组合 7">
            <a:extLst>
              <a:ext uri="{FF2B5EF4-FFF2-40B4-BE49-F238E27FC236}">
                <a16:creationId xmlns:a16="http://schemas.microsoft.com/office/drawing/2014/main" id="{BF7355ED-37DD-0B4C-03AA-63F8EB2BD31B}"/>
              </a:ext>
            </a:extLst>
          </p:cNvPr>
          <p:cNvGrpSpPr/>
          <p:nvPr/>
        </p:nvGrpSpPr>
        <p:grpSpPr>
          <a:xfrm>
            <a:off x="4302101" y="1814748"/>
            <a:ext cx="901127" cy="412963"/>
            <a:chOff x="2678806" y="1841679"/>
            <a:chExt cx="811905" cy="412963"/>
          </a:xfrm>
        </p:grpSpPr>
        <p:sp>
          <p:nvSpPr>
            <p:cNvPr id="9" name="等腰三角形 8">
              <a:extLst>
                <a:ext uri="{FF2B5EF4-FFF2-40B4-BE49-F238E27FC236}">
                  <a16:creationId xmlns:a16="http://schemas.microsoft.com/office/drawing/2014/main" id="{D04C88FE-E940-5BC2-17FF-8234BB15E872}"/>
                </a:ext>
              </a:extLst>
            </p:cNvPr>
            <p:cNvSpPr/>
            <p:nvPr/>
          </p:nvSpPr>
          <p:spPr>
            <a:xfrm>
              <a:off x="2678806" y="1841679"/>
              <a:ext cx="618170" cy="384518"/>
            </a:xfrm>
            <a:prstGeom prst="triangle">
              <a:avLst/>
            </a:prstGeom>
          </p:spPr>
          <p:style>
            <a:lnRef idx="3">
              <a:schemeClr val="lt1"/>
            </a:lnRef>
            <a:fillRef idx="1">
              <a:schemeClr val="accent5"/>
            </a:fillRef>
            <a:effectRef idx="1">
              <a:schemeClr val="accent5"/>
            </a:effectRef>
            <a:fontRef idx="minor">
              <a:schemeClr val="lt1"/>
            </a:fontRef>
          </p:style>
          <p:txBody>
            <a:bodyPr rtlCol="0" anchor="ctr"/>
            <a:lstStyle/>
            <a:p>
              <a:endParaRPr lang="zh-CN" altLang="en-US" sz="700" b="1" dirty="0"/>
            </a:p>
          </p:txBody>
        </p:sp>
        <p:sp>
          <p:nvSpPr>
            <p:cNvPr id="10" name="文本框 9">
              <a:extLst>
                <a:ext uri="{FF2B5EF4-FFF2-40B4-BE49-F238E27FC236}">
                  <a16:creationId xmlns:a16="http://schemas.microsoft.com/office/drawing/2014/main" id="{2A3412E8-51CB-A712-3A31-42137D670504}"/>
                </a:ext>
              </a:extLst>
            </p:cNvPr>
            <p:cNvSpPr txBox="1"/>
            <p:nvPr/>
          </p:nvSpPr>
          <p:spPr>
            <a:xfrm>
              <a:off x="2751536" y="1977643"/>
              <a:ext cx="739175" cy="276999"/>
            </a:xfrm>
            <a:prstGeom prst="rect">
              <a:avLst/>
            </a:prstGeom>
            <a:noFill/>
          </p:spPr>
          <p:txBody>
            <a:bodyPr wrap="square" rtlCol="0">
              <a:spAutoFit/>
            </a:bodyPr>
            <a:lstStyle/>
            <a:p>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grpSp>
      <p:cxnSp>
        <p:nvCxnSpPr>
          <p:cNvPr id="45" name="连接符: 肘形 44">
            <a:extLst>
              <a:ext uri="{FF2B5EF4-FFF2-40B4-BE49-F238E27FC236}">
                <a16:creationId xmlns:a16="http://schemas.microsoft.com/office/drawing/2014/main" id="{DBD1F788-E5DE-74C1-4E47-82E1C9F9D927}"/>
              </a:ext>
            </a:extLst>
          </p:cNvPr>
          <p:cNvCxnSpPr>
            <a:cxnSpLocks/>
            <a:stCxn id="13" idx="1"/>
            <a:endCxn id="24" idx="0"/>
          </p:cNvCxnSpPr>
          <p:nvPr/>
        </p:nvCxnSpPr>
        <p:spPr>
          <a:xfrm rot="10800000" flipV="1">
            <a:off x="6325026" y="2060766"/>
            <a:ext cx="521001" cy="689057"/>
          </a:xfrm>
          <a:prstGeom prst="bentConnector2">
            <a:avLst/>
          </a:prstGeom>
          <a:ln>
            <a:headEnd type="none" w="med" len="med"/>
            <a:tailEnd type="none" w="med" len="med"/>
          </a:ln>
        </p:spPr>
        <p:style>
          <a:lnRef idx="2">
            <a:schemeClr val="accent1"/>
          </a:lnRef>
          <a:fillRef idx="0">
            <a:schemeClr val="accent1"/>
          </a:fillRef>
          <a:effectRef idx="1">
            <a:schemeClr val="accent1"/>
          </a:effectRef>
          <a:fontRef idx="minor">
            <a:schemeClr val="tx1"/>
          </a:fontRef>
        </p:style>
      </p:cxnSp>
      <p:cxnSp>
        <p:nvCxnSpPr>
          <p:cNvPr id="50" name="连接符: 肘形 49">
            <a:extLst>
              <a:ext uri="{FF2B5EF4-FFF2-40B4-BE49-F238E27FC236}">
                <a16:creationId xmlns:a16="http://schemas.microsoft.com/office/drawing/2014/main" id="{DD02F89B-8224-0B60-1A83-DE13BB8A4BC1}"/>
              </a:ext>
            </a:extLst>
          </p:cNvPr>
          <p:cNvCxnSpPr>
            <a:cxnSpLocks/>
            <a:stCxn id="12" idx="3"/>
            <a:endCxn id="25" idx="0"/>
          </p:cNvCxnSpPr>
          <p:nvPr/>
        </p:nvCxnSpPr>
        <p:spPr>
          <a:xfrm rot="16200000" flipH="1">
            <a:off x="6808986" y="2444215"/>
            <a:ext cx="579003" cy="32213"/>
          </a:xfrm>
          <a:prstGeom prst="bentConnector3">
            <a:avLst>
              <a:gd name="adj1" fmla="val 1065"/>
            </a:avLst>
          </a:prstGeom>
          <a:ln>
            <a:headEnd type="none" w="med" len="med"/>
            <a:tailEnd type="none" w="med" len="med"/>
          </a:ln>
        </p:spPr>
        <p:style>
          <a:lnRef idx="2">
            <a:schemeClr val="accent1"/>
          </a:lnRef>
          <a:fillRef idx="0">
            <a:schemeClr val="accent1"/>
          </a:fillRef>
          <a:effectRef idx="1">
            <a:schemeClr val="accent1"/>
          </a:effectRef>
          <a:fontRef idx="minor">
            <a:schemeClr val="tx1"/>
          </a:fontRef>
        </p:style>
      </p:cxnSp>
      <p:cxnSp>
        <p:nvCxnSpPr>
          <p:cNvPr id="54" name="连接符: 肘形 53">
            <a:extLst>
              <a:ext uri="{FF2B5EF4-FFF2-40B4-BE49-F238E27FC236}">
                <a16:creationId xmlns:a16="http://schemas.microsoft.com/office/drawing/2014/main" id="{704D1A25-7ED0-C366-593A-2A31591C3500}"/>
              </a:ext>
            </a:extLst>
          </p:cNvPr>
          <p:cNvCxnSpPr>
            <a:cxnSpLocks/>
            <a:stCxn id="13" idx="0"/>
            <a:endCxn id="26" idx="0"/>
          </p:cNvCxnSpPr>
          <p:nvPr/>
        </p:nvCxnSpPr>
        <p:spPr>
          <a:xfrm rot="16200000" flipH="1">
            <a:off x="7185487" y="1952393"/>
            <a:ext cx="827557" cy="767305"/>
          </a:xfrm>
          <a:prstGeom prst="bentConnector3">
            <a:avLst>
              <a:gd name="adj1" fmla="val 16730"/>
            </a:avLst>
          </a:prstGeom>
          <a:ln>
            <a:headEnd type="none" w="med" len="med"/>
            <a:tailEnd type="none" w="med" len="med"/>
          </a:ln>
        </p:spPr>
        <p:style>
          <a:lnRef idx="2">
            <a:schemeClr val="accent1"/>
          </a:lnRef>
          <a:fillRef idx="0">
            <a:schemeClr val="accent1"/>
          </a:fillRef>
          <a:effectRef idx="1">
            <a:schemeClr val="accent1"/>
          </a:effectRef>
          <a:fontRef idx="minor">
            <a:schemeClr val="tx1"/>
          </a:fontRef>
        </p:style>
      </p:cxnSp>
      <p:grpSp>
        <p:nvGrpSpPr>
          <p:cNvPr id="11" name="组合 10">
            <a:extLst>
              <a:ext uri="{FF2B5EF4-FFF2-40B4-BE49-F238E27FC236}">
                <a16:creationId xmlns:a16="http://schemas.microsoft.com/office/drawing/2014/main" id="{8ADE316D-7406-D039-6DB0-DAC4AAAEE741}"/>
              </a:ext>
            </a:extLst>
          </p:cNvPr>
          <p:cNvGrpSpPr/>
          <p:nvPr/>
        </p:nvGrpSpPr>
        <p:grpSpPr>
          <a:xfrm>
            <a:off x="6773296" y="1786303"/>
            <a:ext cx="811905" cy="412963"/>
            <a:chOff x="2678806" y="1841679"/>
            <a:chExt cx="811905" cy="412963"/>
          </a:xfrm>
        </p:grpSpPr>
        <p:sp>
          <p:nvSpPr>
            <p:cNvPr id="12" name="等腰三角形 11">
              <a:extLst>
                <a:ext uri="{FF2B5EF4-FFF2-40B4-BE49-F238E27FC236}">
                  <a16:creationId xmlns:a16="http://schemas.microsoft.com/office/drawing/2014/main" id="{CC95968C-FBD9-ECA6-A949-31143077F411}"/>
                </a:ext>
              </a:extLst>
            </p:cNvPr>
            <p:cNvSpPr/>
            <p:nvPr/>
          </p:nvSpPr>
          <p:spPr>
            <a:xfrm>
              <a:off x="2678806" y="1841679"/>
              <a:ext cx="618170" cy="384518"/>
            </a:xfrm>
            <a:prstGeom prst="triangle">
              <a:avLst/>
            </a:prstGeom>
          </p:spPr>
          <p:style>
            <a:lnRef idx="3">
              <a:schemeClr val="lt1"/>
            </a:lnRef>
            <a:fillRef idx="1">
              <a:schemeClr val="accent5"/>
            </a:fillRef>
            <a:effectRef idx="1">
              <a:schemeClr val="accent5"/>
            </a:effectRef>
            <a:fontRef idx="minor">
              <a:schemeClr val="lt1"/>
            </a:fontRef>
          </p:style>
          <p:txBody>
            <a:bodyPr rtlCol="0" anchor="ctr"/>
            <a:lstStyle/>
            <a:p>
              <a:endParaRPr lang="zh-CN" altLang="en-US" sz="700" b="1" dirty="0"/>
            </a:p>
          </p:txBody>
        </p:sp>
        <p:sp>
          <p:nvSpPr>
            <p:cNvPr id="13" name="文本框 12">
              <a:extLst>
                <a:ext uri="{FF2B5EF4-FFF2-40B4-BE49-F238E27FC236}">
                  <a16:creationId xmlns:a16="http://schemas.microsoft.com/office/drawing/2014/main" id="{C3834AFD-8BCE-9464-21A2-84978FCC1E49}"/>
                </a:ext>
              </a:extLst>
            </p:cNvPr>
            <p:cNvSpPr txBox="1"/>
            <p:nvPr/>
          </p:nvSpPr>
          <p:spPr>
            <a:xfrm>
              <a:off x="2751536" y="1977643"/>
              <a:ext cx="739175" cy="276999"/>
            </a:xfrm>
            <a:prstGeom prst="rect">
              <a:avLst/>
            </a:prstGeom>
            <a:noFill/>
          </p:spPr>
          <p:txBody>
            <a:bodyPr wrap="square" rtlCol="0">
              <a:spAutoFit/>
            </a:bodyPr>
            <a:lstStyle/>
            <a:p>
              <a:r>
                <a:rPr lang="en-US" altLang="zh-CN" sz="1200" b="1" dirty="0">
                  <a:latin typeface="Arial" panose="020B0604020202020204" pitchFamily="34" charset="0"/>
                  <a:ea typeface="微软雅黑" panose="020B0503020204020204" pitchFamily="34" charset="-122"/>
                </a:rPr>
                <a:t>P2</a:t>
              </a:r>
              <a:endParaRPr lang="zh-CN" altLang="en-US" sz="1200" b="1" dirty="0">
                <a:latin typeface="Arial" panose="020B0604020202020204" pitchFamily="34" charset="0"/>
                <a:ea typeface="微软雅黑" panose="020B0503020204020204" pitchFamily="34" charset="-122"/>
              </a:endParaRPr>
            </a:p>
          </p:txBody>
        </p:sp>
      </p:grpSp>
      <p:graphicFrame>
        <p:nvGraphicFramePr>
          <p:cNvPr id="61" name="表格 60">
            <a:extLst>
              <a:ext uri="{FF2B5EF4-FFF2-40B4-BE49-F238E27FC236}">
                <a16:creationId xmlns:a16="http://schemas.microsoft.com/office/drawing/2014/main" id="{FED2978C-DC2D-16A4-1605-287B4363DD4E}"/>
              </a:ext>
            </a:extLst>
          </p:cNvPr>
          <p:cNvGraphicFramePr>
            <a:graphicFrameLocks noGrp="1"/>
          </p:cNvGraphicFramePr>
          <p:nvPr>
            <p:extLst>
              <p:ext uri="{D42A27DB-BD31-4B8C-83A1-F6EECF244321}">
                <p14:modId xmlns:p14="http://schemas.microsoft.com/office/powerpoint/2010/main" val="3318273070"/>
              </p:ext>
            </p:extLst>
          </p:nvPr>
        </p:nvGraphicFramePr>
        <p:xfrm>
          <a:off x="1420408" y="3463110"/>
          <a:ext cx="9943224" cy="2996686"/>
        </p:xfrm>
        <a:graphic>
          <a:graphicData uri="http://schemas.openxmlformats.org/drawingml/2006/table">
            <a:tbl>
              <a:tblPr firstRow="1" bandRow="1">
                <a:tableStyleId>{69012ECD-51FC-41F1-AA8D-1B2483CD663E}</a:tableStyleId>
              </a:tblPr>
              <a:tblGrid>
                <a:gridCol w="1170273">
                  <a:extLst>
                    <a:ext uri="{9D8B030D-6E8A-4147-A177-3AD203B41FA5}">
                      <a16:colId xmlns:a16="http://schemas.microsoft.com/office/drawing/2014/main" val="2702206627"/>
                    </a:ext>
                  </a:extLst>
                </a:gridCol>
                <a:gridCol w="1755646">
                  <a:extLst>
                    <a:ext uri="{9D8B030D-6E8A-4147-A177-3AD203B41FA5}">
                      <a16:colId xmlns:a16="http://schemas.microsoft.com/office/drawing/2014/main" val="544131096"/>
                    </a:ext>
                  </a:extLst>
                </a:gridCol>
                <a:gridCol w="1231771">
                  <a:extLst>
                    <a:ext uri="{9D8B030D-6E8A-4147-A177-3AD203B41FA5}">
                      <a16:colId xmlns:a16="http://schemas.microsoft.com/office/drawing/2014/main" val="891064027"/>
                    </a:ext>
                  </a:extLst>
                </a:gridCol>
                <a:gridCol w="985517">
                  <a:extLst>
                    <a:ext uri="{9D8B030D-6E8A-4147-A177-3AD203B41FA5}">
                      <a16:colId xmlns:a16="http://schemas.microsoft.com/office/drawing/2014/main" val="587444214"/>
                    </a:ext>
                  </a:extLst>
                </a:gridCol>
                <a:gridCol w="1431591">
                  <a:extLst>
                    <a:ext uri="{9D8B030D-6E8A-4147-A177-3AD203B41FA5}">
                      <a16:colId xmlns:a16="http://schemas.microsoft.com/office/drawing/2014/main" val="156193062"/>
                    </a:ext>
                  </a:extLst>
                </a:gridCol>
                <a:gridCol w="1869994">
                  <a:extLst>
                    <a:ext uri="{9D8B030D-6E8A-4147-A177-3AD203B41FA5}">
                      <a16:colId xmlns:a16="http://schemas.microsoft.com/office/drawing/2014/main" val="131510548"/>
                    </a:ext>
                  </a:extLst>
                </a:gridCol>
                <a:gridCol w="1498432">
                  <a:extLst>
                    <a:ext uri="{9D8B030D-6E8A-4147-A177-3AD203B41FA5}">
                      <a16:colId xmlns:a16="http://schemas.microsoft.com/office/drawing/2014/main" val="4014451321"/>
                    </a:ext>
                  </a:extLst>
                </a:gridCol>
              </a:tblGrid>
              <a:tr h="428098">
                <a:tc>
                  <a:txBody>
                    <a:bodyPr/>
                    <a:lstStyle/>
                    <a:p>
                      <a:r>
                        <a:rPr lang="en-US" altLang="zh-CN" sz="1200" dirty="0">
                          <a:solidFill>
                            <a:schemeClr val="tx1"/>
                          </a:solidFill>
                          <a:latin typeface="Arial" panose="020B0604020202020204" pitchFamily="34" charset="0"/>
                          <a:ea typeface="微软雅黑" panose="020B0503020204020204" pitchFamily="34" charset="-122"/>
                        </a:rPr>
                        <a:t>Parent</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Netting Qty</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Supply</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OH</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SR</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Planned Qty</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Unit Cost</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6231092"/>
                  </a:ext>
                </a:extLst>
              </a:tr>
              <a:tr h="428098">
                <a:tc>
                  <a:txBody>
                    <a:bodyPr/>
                    <a:lstStyle/>
                    <a:p>
                      <a:r>
                        <a:rPr lang="en-US" altLang="zh-CN" sz="1200" dirty="0">
                          <a:solidFill>
                            <a:schemeClr val="tx1"/>
                          </a:solidFill>
                          <a:latin typeface="Arial" panose="020B0604020202020204" pitchFamily="34" charset="0"/>
                          <a:ea typeface="微软雅黑" panose="020B0503020204020204" pitchFamily="34" charset="-122"/>
                        </a:rPr>
                        <a:t>P1</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A1</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76864"/>
                  </a:ext>
                </a:extLst>
              </a:tr>
              <a:tr h="428098">
                <a:tc>
                  <a:txBody>
                    <a:bodyPr/>
                    <a:lstStyle/>
                    <a:p>
                      <a:r>
                        <a:rPr lang="en-US" altLang="zh-CN" sz="1200" dirty="0">
                          <a:solidFill>
                            <a:schemeClr val="tx1"/>
                          </a:solidFill>
                          <a:latin typeface="Arial" panose="020B0604020202020204" pitchFamily="34" charset="0"/>
                          <a:ea typeface="微软雅黑" panose="020B0503020204020204" pitchFamily="34" charset="-122"/>
                        </a:rPr>
                        <a:t>P1</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B1</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220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485285"/>
                  </a:ext>
                </a:extLst>
              </a:tr>
              <a:tr h="428098">
                <a:tc>
                  <a:txBody>
                    <a:bodyPr/>
                    <a:lstStyle/>
                    <a:p>
                      <a:r>
                        <a:rPr lang="en-US" altLang="zh-CN" sz="1200" dirty="0">
                          <a:solidFill>
                            <a:schemeClr val="tx1"/>
                          </a:solidFill>
                          <a:latin typeface="Arial" panose="020B0604020202020204" pitchFamily="34" charset="0"/>
                          <a:ea typeface="微软雅黑" panose="020B0503020204020204" pitchFamily="34" charset="-122"/>
                        </a:rPr>
                        <a:t>P1</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C1</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25</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25</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40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744743"/>
                  </a:ext>
                </a:extLst>
              </a:tr>
              <a:tr h="428098">
                <a:tc>
                  <a:txBody>
                    <a:bodyPr/>
                    <a:lstStyle/>
                    <a:p>
                      <a:r>
                        <a:rPr lang="en-US" altLang="zh-CN" sz="1200" dirty="0">
                          <a:solidFill>
                            <a:schemeClr val="tx1"/>
                          </a:solidFill>
                          <a:latin typeface="Arial" panose="020B0604020202020204" pitchFamily="34" charset="0"/>
                          <a:ea typeface="微软雅黑" panose="020B0503020204020204" pitchFamily="34" charset="-122"/>
                        </a:rPr>
                        <a:t>P2</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A2</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9463136"/>
                  </a:ext>
                </a:extLst>
              </a:tr>
              <a:tr h="428098">
                <a:tc>
                  <a:txBody>
                    <a:bodyPr/>
                    <a:lstStyle/>
                    <a:p>
                      <a:r>
                        <a:rPr lang="en-US" altLang="zh-CN" sz="1200" dirty="0">
                          <a:solidFill>
                            <a:schemeClr val="tx1"/>
                          </a:solidFill>
                          <a:latin typeface="Arial" panose="020B0604020202020204" pitchFamily="34" charset="0"/>
                          <a:ea typeface="微软雅黑" panose="020B0503020204020204" pitchFamily="34" charset="-122"/>
                        </a:rPr>
                        <a:t>P2</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B2</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200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618772"/>
                  </a:ext>
                </a:extLst>
              </a:tr>
              <a:tr h="428098">
                <a:tc>
                  <a:txBody>
                    <a:bodyPr/>
                    <a:lstStyle/>
                    <a:p>
                      <a:r>
                        <a:rPr lang="en-US" altLang="zh-CN" sz="1200" dirty="0">
                          <a:solidFill>
                            <a:schemeClr val="tx1"/>
                          </a:solidFill>
                          <a:latin typeface="Arial" panose="020B0604020202020204" pitchFamily="34" charset="0"/>
                          <a:ea typeface="微软雅黑" panose="020B0503020204020204" pitchFamily="34" charset="-122"/>
                        </a:rPr>
                        <a:t>P2</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C2</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25</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25</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40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1724752"/>
                  </a:ext>
                </a:extLst>
              </a:tr>
            </a:tbl>
          </a:graphicData>
        </a:graphic>
      </p:graphicFrame>
      <p:sp>
        <p:nvSpPr>
          <p:cNvPr id="2" name="文本框 1">
            <a:extLst>
              <a:ext uri="{FF2B5EF4-FFF2-40B4-BE49-F238E27FC236}">
                <a16:creationId xmlns:a16="http://schemas.microsoft.com/office/drawing/2014/main" id="{ADB6FF72-9F2D-4627-2EB5-E0AA5781F522}"/>
              </a:ext>
            </a:extLst>
          </p:cNvPr>
          <p:cNvSpPr txBox="1"/>
          <p:nvPr/>
        </p:nvSpPr>
        <p:spPr>
          <a:xfrm>
            <a:off x="4954671" y="1676714"/>
            <a:ext cx="1753687" cy="461665"/>
          </a:xfrm>
          <a:prstGeom prst="rect">
            <a:avLst/>
          </a:prstGeom>
          <a:noFill/>
        </p:spPr>
        <p:txBody>
          <a:bodyPr wrap="square" rtlCol="0">
            <a:spAutoFit/>
          </a:bodyPr>
          <a:lstStyle/>
          <a:p>
            <a:r>
              <a:rPr lang="en-US" altLang="zh-CN" sz="1200" dirty="0">
                <a:latin typeface="Arial" panose="020B0604020202020204" pitchFamily="34" charset="0"/>
                <a:ea typeface="微软雅黑" panose="020B0503020204020204" pitchFamily="34" charset="-122"/>
              </a:rPr>
              <a:t>Priority:1</a:t>
            </a:r>
          </a:p>
          <a:p>
            <a:r>
              <a:rPr lang="en-US" altLang="zh-CN" sz="1200" dirty="0">
                <a:latin typeface="Arial" panose="020B0604020202020204" pitchFamily="34" charset="0"/>
                <a:ea typeface="微软雅黑" panose="020B0503020204020204" pitchFamily="34" charset="-122"/>
              </a:rPr>
              <a:t>Target:4</a:t>
            </a:r>
            <a:endParaRPr lang="zh-CN" altLang="en-US" sz="1200" dirty="0">
              <a:latin typeface="Arial" panose="020B0604020202020204" pitchFamily="34" charset="0"/>
              <a:ea typeface="微软雅黑" panose="020B0503020204020204" pitchFamily="34" charset="-122"/>
            </a:endParaRPr>
          </a:p>
        </p:txBody>
      </p:sp>
      <p:sp>
        <p:nvSpPr>
          <p:cNvPr id="3" name="文本框 2">
            <a:extLst>
              <a:ext uri="{FF2B5EF4-FFF2-40B4-BE49-F238E27FC236}">
                <a16:creationId xmlns:a16="http://schemas.microsoft.com/office/drawing/2014/main" id="{5949CF17-23C9-4771-F5C4-9745729D2342}"/>
              </a:ext>
            </a:extLst>
          </p:cNvPr>
          <p:cNvSpPr txBox="1"/>
          <p:nvPr/>
        </p:nvSpPr>
        <p:spPr>
          <a:xfrm>
            <a:off x="7475660" y="1645382"/>
            <a:ext cx="1753687" cy="461665"/>
          </a:xfrm>
          <a:prstGeom prst="rect">
            <a:avLst/>
          </a:prstGeom>
          <a:noFill/>
        </p:spPr>
        <p:txBody>
          <a:bodyPr wrap="square" rtlCol="0">
            <a:spAutoFit/>
          </a:bodyPr>
          <a:lstStyle/>
          <a:p>
            <a:r>
              <a:rPr lang="en-US" altLang="zh-CN" sz="1200" dirty="0">
                <a:latin typeface="Arial" panose="020B0604020202020204" pitchFamily="34" charset="0"/>
                <a:ea typeface="微软雅黑" panose="020B0503020204020204" pitchFamily="34" charset="-122"/>
              </a:rPr>
              <a:t>Priority:2</a:t>
            </a:r>
          </a:p>
          <a:p>
            <a:r>
              <a:rPr lang="en-US" altLang="zh-CN" sz="1200" dirty="0">
                <a:latin typeface="Arial" panose="020B0604020202020204" pitchFamily="34" charset="0"/>
                <a:ea typeface="微软雅黑" panose="020B0503020204020204" pitchFamily="34" charset="-122"/>
              </a:rPr>
              <a:t>Target:1</a:t>
            </a:r>
            <a:endParaRPr lang="zh-CN" altLang="en-US" sz="1200"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2841789767"/>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C13E6F-14D4-21FC-2205-B8807D284E17}"/>
            </a:ext>
          </a:extLst>
        </p:cNvPr>
        <p:cNvGrpSpPr/>
        <p:nvPr/>
      </p:nvGrpSpPr>
      <p:grpSpPr>
        <a:xfrm>
          <a:off x="0" y="0"/>
          <a:ext cx="0" cy="0"/>
          <a:chOff x="0" y="0"/>
          <a:chExt cx="0" cy="0"/>
        </a:xfrm>
      </p:grpSpPr>
      <p:sp>
        <p:nvSpPr>
          <p:cNvPr id="5" name="标题 1">
            <a:extLst>
              <a:ext uri="{FF2B5EF4-FFF2-40B4-BE49-F238E27FC236}">
                <a16:creationId xmlns:a16="http://schemas.microsoft.com/office/drawing/2014/main" id="{C8E4E14B-5BB9-7D0F-879A-D76E4BA8D215}"/>
              </a:ext>
            </a:extLst>
          </p:cNvPr>
          <p:cNvSpPr>
            <a:spLocks noGrp="1"/>
          </p:cNvSpPr>
          <p:nvPr>
            <p:ph type="title"/>
          </p:nvPr>
        </p:nvSpPr>
        <p:spPr>
          <a:xfrm>
            <a:off x="813511" y="318443"/>
            <a:ext cx="10972800" cy="491126"/>
          </a:xfrm>
        </p:spPr>
        <p:txBody>
          <a:bodyPr>
            <a:normAutofit/>
          </a:bodyPr>
          <a:lstStyle/>
          <a:p>
            <a:r>
              <a:rPr lang="zh-CN" altLang="en-US" sz="2800" b="1" dirty="0">
                <a:latin typeface="Arial" panose="020B0604020202020204" pitchFamily="34" charset="0"/>
                <a:ea typeface="微软雅黑" panose="020B0503020204020204" pitchFamily="34" charset="-122"/>
              </a:rPr>
              <a:t>组替代 </a:t>
            </a:r>
            <a:r>
              <a:rPr lang="en-US" altLang="zh-CN" sz="2800" b="1" dirty="0">
                <a:latin typeface="Arial" panose="020B0604020202020204" pitchFamily="34" charset="0"/>
                <a:ea typeface="微软雅黑" panose="020B0503020204020204" pitchFamily="34" charset="-122"/>
              </a:rPr>
              <a:t>– New Cost</a:t>
            </a:r>
            <a:r>
              <a:rPr lang="zh-CN" altLang="en-US" sz="2800" b="1" dirty="0">
                <a:latin typeface="Arial" panose="020B0604020202020204" pitchFamily="34" charset="0"/>
                <a:ea typeface="微软雅黑" panose="020B0503020204020204" pitchFamily="34" charset="-122"/>
              </a:rPr>
              <a:t>方案</a:t>
            </a:r>
          </a:p>
        </p:txBody>
      </p:sp>
      <p:sp>
        <p:nvSpPr>
          <p:cNvPr id="7" name="矩形 6">
            <a:extLst>
              <a:ext uri="{FF2B5EF4-FFF2-40B4-BE49-F238E27FC236}">
                <a16:creationId xmlns:a16="http://schemas.microsoft.com/office/drawing/2014/main" id="{8AE7C6CE-6E8D-A4B8-2119-E34FBA20BF6C}"/>
              </a:ext>
            </a:extLst>
          </p:cNvPr>
          <p:cNvSpPr/>
          <p:nvPr/>
        </p:nvSpPr>
        <p:spPr>
          <a:xfrm>
            <a:off x="4975123" y="1115596"/>
            <a:ext cx="682596" cy="27326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a:latin typeface="Arial" panose="020B0604020202020204" pitchFamily="34" charset="0"/>
                <a:ea typeface="微软雅黑" panose="020B0503020204020204" pitchFamily="34" charset="-122"/>
              </a:rPr>
              <a:t>FG1</a:t>
            </a:r>
            <a:endParaRPr lang="zh-CN" altLang="en-US" sz="1050" b="1" dirty="0">
              <a:latin typeface="Arial" panose="020B0604020202020204" pitchFamily="34" charset="0"/>
              <a:ea typeface="微软雅黑" panose="020B0503020204020204" pitchFamily="34" charset="-122"/>
            </a:endParaRPr>
          </a:p>
        </p:txBody>
      </p:sp>
      <p:cxnSp>
        <p:nvCxnSpPr>
          <p:cNvPr id="15" name="连接符: 肘形 14">
            <a:extLst>
              <a:ext uri="{FF2B5EF4-FFF2-40B4-BE49-F238E27FC236}">
                <a16:creationId xmlns:a16="http://schemas.microsoft.com/office/drawing/2014/main" id="{1496A9A8-3EA7-7A7A-3CBE-22D76029E384}"/>
              </a:ext>
            </a:extLst>
          </p:cNvPr>
          <p:cNvCxnSpPr>
            <a:cxnSpLocks/>
            <a:stCxn id="7" idx="2"/>
            <a:endCxn id="12" idx="0"/>
          </p:cNvCxnSpPr>
          <p:nvPr/>
        </p:nvCxnSpPr>
        <p:spPr>
          <a:xfrm rot="16200000" flipH="1">
            <a:off x="5785924" y="919360"/>
            <a:ext cx="318134" cy="1257141"/>
          </a:xfrm>
          <a:prstGeom prst="bentConnector3">
            <a:avLst>
              <a:gd name="adj1" fmla="val 50000"/>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8" name="连接符: 肘形 17">
            <a:extLst>
              <a:ext uri="{FF2B5EF4-FFF2-40B4-BE49-F238E27FC236}">
                <a16:creationId xmlns:a16="http://schemas.microsoft.com/office/drawing/2014/main" id="{26EB2F37-A331-7970-4984-4922FC7A050F}"/>
              </a:ext>
            </a:extLst>
          </p:cNvPr>
          <p:cNvCxnSpPr>
            <a:cxnSpLocks/>
            <a:stCxn id="7" idx="2"/>
            <a:endCxn id="9" idx="0"/>
          </p:cNvCxnSpPr>
          <p:nvPr/>
        </p:nvCxnSpPr>
        <p:spPr>
          <a:xfrm rot="5400000">
            <a:off x="4553088" y="972109"/>
            <a:ext cx="346579" cy="1180088"/>
          </a:xfrm>
          <a:prstGeom prst="bentConnector3">
            <a:avLst>
              <a:gd name="adj1" fmla="val 50000"/>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21" name="矩形 20">
            <a:extLst>
              <a:ext uri="{FF2B5EF4-FFF2-40B4-BE49-F238E27FC236}">
                <a16:creationId xmlns:a16="http://schemas.microsoft.com/office/drawing/2014/main" id="{CEAEFE4A-0AAC-A285-9056-CC862B623550}"/>
              </a:ext>
            </a:extLst>
          </p:cNvPr>
          <p:cNvSpPr/>
          <p:nvPr/>
        </p:nvSpPr>
        <p:spPr>
          <a:xfrm>
            <a:off x="2926136" y="2670519"/>
            <a:ext cx="682596" cy="27326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A1</a:t>
            </a:r>
            <a:endParaRPr lang="zh-CN" altLang="en-US" sz="1050" b="1" dirty="0">
              <a:latin typeface="Arial" panose="020B0604020202020204" pitchFamily="34" charset="0"/>
              <a:ea typeface="微软雅黑" panose="020B0503020204020204" pitchFamily="34" charset="-122"/>
            </a:endParaRPr>
          </a:p>
        </p:txBody>
      </p:sp>
      <p:sp>
        <p:nvSpPr>
          <p:cNvPr id="22" name="矩形 21">
            <a:extLst>
              <a:ext uri="{FF2B5EF4-FFF2-40B4-BE49-F238E27FC236}">
                <a16:creationId xmlns:a16="http://schemas.microsoft.com/office/drawing/2014/main" id="{C29E1115-BE42-A11D-BC5F-452409B442ED}"/>
              </a:ext>
            </a:extLst>
          </p:cNvPr>
          <p:cNvSpPr/>
          <p:nvPr/>
        </p:nvSpPr>
        <p:spPr>
          <a:xfrm>
            <a:off x="3779980" y="2670519"/>
            <a:ext cx="682596" cy="27326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B1</a:t>
            </a:r>
            <a:endParaRPr lang="zh-CN" altLang="en-US" sz="1050" b="1" dirty="0">
              <a:latin typeface="Arial" panose="020B0604020202020204" pitchFamily="34" charset="0"/>
              <a:ea typeface="微软雅黑" panose="020B0503020204020204" pitchFamily="34" charset="-122"/>
            </a:endParaRPr>
          </a:p>
        </p:txBody>
      </p:sp>
      <p:sp>
        <p:nvSpPr>
          <p:cNvPr id="23" name="矩形 22">
            <a:extLst>
              <a:ext uri="{FF2B5EF4-FFF2-40B4-BE49-F238E27FC236}">
                <a16:creationId xmlns:a16="http://schemas.microsoft.com/office/drawing/2014/main" id="{6C908D6E-4A38-E5C7-2C36-1CA7E2F2BD47}"/>
              </a:ext>
            </a:extLst>
          </p:cNvPr>
          <p:cNvSpPr/>
          <p:nvPr/>
        </p:nvSpPr>
        <p:spPr>
          <a:xfrm>
            <a:off x="4633825" y="2670519"/>
            <a:ext cx="682596" cy="27326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C1</a:t>
            </a:r>
            <a:endParaRPr lang="zh-CN" altLang="en-US" sz="1050" b="1" dirty="0">
              <a:latin typeface="Arial" panose="020B0604020202020204" pitchFamily="34" charset="0"/>
              <a:ea typeface="微软雅黑" panose="020B0503020204020204" pitchFamily="34" charset="-122"/>
            </a:endParaRPr>
          </a:p>
        </p:txBody>
      </p:sp>
      <p:sp>
        <p:nvSpPr>
          <p:cNvPr id="24" name="矩形 23">
            <a:extLst>
              <a:ext uri="{FF2B5EF4-FFF2-40B4-BE49-F238E27FC236}">
                <a16:creationId xmlns:a16="http://schemas.microsoft.com/office/drawing/2014/main" id="{3D1E1A0B-0527-BCC7-CDBA-D557247C94ED}"/>
              </a:ext>
            </a:extLst>
          </p:cNvPr>
          <p:cNvSpPr/>
          <p:nvPr/>
        </p:nvSpPr>
        <p:spPr>
          <a:xfrm>
            <a:off x="5474908" y="2670519"/>
            <a:ext cx="682596" cy="27326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A2</a:t>
            </a:r>
            <a:endParaRPr lang="zh-CN" altLang="en-US" sz="1050" b="1" dirty="0">
              <a:latin typeface="Arial" panose="020B0604020202020204" pitchFamily="34" charset="0"/>
              <a:ea typeface="微软雅黑" panose="020B0503020204020204" pitchFamily="34" charset="-122"/>
            </a:endParaRPr>
          </a:p>
        </p:txBody>
      </p:sp>
      <p:sp>
        <p:nvSpPr>
          <p:cNvPr id="25" name="矩形 24">
            <a:extLst>
              <a:ext uri="{FF2B5EF4-FFF2-40B4-BE49-F238E27FC236}">
                <a16:creationId xmlns:a16="http://schemas.microsoft.com/office/drawing/2014/main" id="{36458687-E5F2-308B-27AB-B00F78396226}"/>
              </a:ext>
            </a:extLst>
          </p:cNvPr>
          <p:cNvSpPr/>
          <p:nvPr/>
        </p:nvSpPr>
        <p:spPr>
          <a:xfrm>
            <a:off x="6264477" y="2670519"/>
            <a:ext cx="682596" cy="27326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B2</a:t>
            </a:r>
            <a:endParaRPr lang="zh-CN" altLang="en-US" sz="1050" b="1" dirty="0">
              <a:latin typeface="Arial" panose="020B0604020202020204" pitchFamily="34" charset="0"/>
              <a:ea typeface="微软雅黑" panose="020B0503020204020204" pitchFamily="34" charset="-122"/>
            </a:endParaRPr>
          </a:p>
        </p:txBody>
      </p:sp>
      <p:sp>
        <p:nvSpPr>
          <p:cNvPr id="26" name="矩形 25">
            <a:extLst>
              <a:ext uri="{FF2B5EF4-FFF2-40B4-BE49-F238E27FC236}">
                <a16:creationId xmlns:a16="http://schemas.microsoft.com/office/drawing/2014/main" id="{0AB82F97-FCD1-F6AD-A658-2D52F666CCA0}"/>
              </a:ext>
            </a:extLst>
          </p:cNvPr>
          <p:cNvSpPr/>
          <p:nvPr/>
        </p:nvSpPr>
        <p:spPr>
          <a:xfrm>
            <a:off x="7132802" y="2670519"/>
            <a:ext cx="682596" cy="27326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50" b="1" dirty="0">
                <a:latin typeface="Arial" panose="020B0604020202020204" pitchFamily="34" charset="0"/>
                <a:ea typeface="微软雅黑" panose="020B0503020204020204" pitchFamily="34" charset="-122"/>
              </a:rPr>
              <a:t>C2</a:t>
            </a:r>
            <a:endParaRPr lang="zh-CN" altLang="en-US" sz="1050" b="1" dirty="0">
              <a:latin typeface="Arial" panose="020B0604020202020204" pitchFamily="34" charset="0"/>
              <a:ea typeface="微软雅黑" panose="020B0503020204020204" pitchFamily="34" charset="-122"/>
            </a:endParaRPr>
          </a:p>
        </p:txBody>
      </p:sp>
      <p:cxnSp>
        <p:nvCxnSpPr>
          <p:cNvPr id="30" name="连接符: 肘形 29">
            <a:extLst>
              <a:ext uri="{FF2B5EF4-FFF2-40B4-BE49-F238E27FC236}">
                <a16:creationId xmlns:a16="http://schemas.microsoft.com/office/drawing/2014/main" id="{5D9A9930-0B74-F9B9-C1E0-B295B8E1A549}"/>
              </a:ext>
            </a:extLst>
          </p:cNvPr>
          <p:cNvCxnSpPr>
            <a:cxnSpLocks/>
            <a:stCxn id="10" idx="1"/>
            <a:endCxn id="21" idx="0"/>
          </p:cNvCxnSpPr>
          <p:nvPr/>
        </p:nvCxnSpPr>
        <p:spPr>
          <a:xfrm rot="10800000" flipV="1">
            <a:off x="3267434" y="2009907"/>
            <a:ext cx="606570" cy="660612"/>
          </a:xfrm>
          <a:prstGeom prst="bentConnector2">
            <a:avLst/>
          </a:prstGeom>
          <a:ln>
            <a:headEnd type="none" w="med" len="med"/>
            <a:tailEnd type="none" w="med" len="med"/>
          </a:ln>
        </p:spPr>
        <p:style>
          <a:lnRef idx="2">
            <a:schemeClr val="accent1"/>
          </a:lnRef>
          <a:fillRef idx="0">
            <a:schemeClr val="accent1"/>
          </a:fillRef>
          <a:effectRef idx="1">
            <a:schemeClr val="accent1"/>
          </a:effectRef>
          <a:fontRef idx="minor">
            <a:schemeClr val="tx1"/>
          </a:fontRef>
        </p:style>
      </p:cxnSp>
      <p:cxnSp>
        <p:nvCxnSpPr>
          <p:cNvPr id="33" name="连接符: 肘形 32">
            <a:extLst>
              <a:ext uri="{FF2B5EF4-FFF2-40B4-BE49-F238E27FC236}">
                <a16:creationId xmlns:a16="http://schemas.microsoft.com/office/drawing/2014/main" id="{D5C97F90-2133-5899-321B-2DD88A54E85F}"/>
              </a:ext>
            </a:extLst>
          </p:cNvPr>
          <p:cNvCxnSpPr>
            <a:cxnSpLocks/>
          </p:cNvCxnSpPr>
          <p:nvPr/>
        </p:nvCxnSpPr>
        <p:spPr>
          <a:xfrm rot="16200000" flipH="1">
            <a:off x="3868165" y="2392895"/>
            <a:ext cx="536336" cy="18911"/>
          </a:xfrm>
          <a:prstGeom prst="bentConnector3">
            <a:avLst>
              <a:gd name="adj1" fmla="val -1627"/>
            </a:avLst>
          </a:prstGeom>
          <a:ln>
            <a:headEnd type="none" w="med" len="med"/>
            <a:tailEnd type="none" w="med" len="med"/>
          </a:ln>
        </p:spPr>
        <p:style>
          <a:lnRef idx="2">
            <a:schemeClr val="accent1"/>
          </a:lnRef>
          <a:fillRef idx="0">
            <a:schemeClr val="accent1"/>
          </a:fillRef>
          <a:effectRef idx="1">
            <a:schemeClr val="accent1"/>
          </a:effectRef>
          <a:fontRef idx="minor">
            <a:schemeClr val="tx1"/>
          </a:fontRef>
        </p:style>
      </p:cxnSp>
      <p:cxnSp>
        <p:nvCxnSpPr>
          <p:cNvPr id="37" name="连接符: 肘形 36">
            <a:extLst>
              <a:ext uri="{FF2B5EF4-FFF2-40B4-BE49-F238E27FC236}">
                <a16:creationId xmlns:a16="http://schemas.microsoft.com/office/drawing/2014/main" id="{20A9EC89-1209-775F-87E5-BAD23598D6A0}"/>
              </a:ext>
            </a:extLst>
          </p:cNvPr>
          <p:cNvCxnSpPr>
            <a:cxnSpLocks/>
            <a:stCxn id="10" idx="0"/>
            <a:endCxn id="23" idx="0"/>
          </p:cNvCxnSpPr>
          <p:nvPr/>
        </p:nvCxnSpPr>
        <p:spPr>
          <a:xfrm rot="16200000" flipH="1">
            <a:off x="4230109" y="1925505"/>
            <a:ext cx="799112" cy="690916"/>
          </a:xfrm>
          <a:prstGeom prst="bentConnector3">
            <a:avLst>
              <a:gd name="adj1" fmla="val 18937"/>
            </a:avLst>
          </a:prstGeom>
          <a:ln>
            <a:headEnd type="none" w="med" len="med"/>
            <a:tailEnd type="none" w="med" len="med"/>
          </a:ln>
        </p:spPr>
        <p:style>
          <a:lnRef idx="2">
            <a:schemeClr val="accent1"/>
          </a:lnRef>
          <a:fillRef idx="0">
            <a:schemeClr val="accent1"/>
          </a:fillRef>
          <a:effectRef idx="1">
            <a:schemeClr val="accent1"/>
          </a:effectRef>
          <a:fontRef idx="minor">
            <a:schemeClr val="tx1"/>
          </a:fontRef>
        </p:style>
      </p:cxnSp>
      <p:grpSp>
        <p:nvGrpSpPr>
          <p:cNvPr id="8" name="组合 7">
            <a:extLst>
              <a:ext uri="{FF2B5EF4-FFF2-40B4-BE49-F238E27FC236}">
                <a16:creationId xmlns:a16="http://schemas.microsoft.com/office/drawing/2014/main" id="{43E5F559-422D-8970-5FC7-E5767C08C47E}"/>
              </a:ext>
            </a:extLst>
          </p:cNvPr>
          <p:cNvGrpSpPr/>
          <p:nvPr/>
        </p:nvGrpSpPr>
        <p:grpSpPr>
          <a:xfrm>
            <a:off x="3793282" y="1735443"/>
            <a:ext cx="901127" cy="412963"/>
            <a:chOff x="2678806" y="1841679"/>
            <a:chExt cx="811905" cy="412963"/>
          </a:xfrm>
        </p:grpSpPr>
        <p:sp>
          <p:nvSpPr>
            <p:cNvPr id="9" name="等腰三角形 8">
              <a:extLst>
                <a:ext uri="{FF2B5EF4-FFF2-40B4-BE49-F238E27FC236}">
                  <a16:creationId xmlns:a16="http://schemas.microsoft.com/office/drawing/2014/main" id="{36B6F501-9513-FFAE-B14B-AC6B981EB0E2}"/>
                </a:ext>
              </a:extLst>
            </p:cNvPr>
            <p:cNvSpPr/>
            <p:nvPr/>
          </p:nvSpPr>
          <p:spPr>
            <a:xfrm>
              <a:off x="2678806" y="1841679"/>
              <a:ext cx="618170" cy="384518"/>
            </a:xfrm>
            <a:prstGeom prst="triangle">
              <a:avLst/>
            </a:prstGeom>
          </p:spPr>
          <p:style>
            <a:lnRef idx="3">
              <a:schemeClr val="lt1"/>
            </a:lnRef>
            <a:fillRef idx="1">
              <a:schemeClr val="accent5"/>
            </a:fillRef>
            <a:effectRef idx="1">
              <a:schemeClr val="accent5"/>
            </a:effectRef>
            <a:fontRef idx="minor">
              <a:schemeClr val="lt1"/>
            </a:fontRef>
          </p:style>
          <p:txBody>
            <a:bodyPr rtlCol="0" anchor="ctr"/>
            <a:lstStyle/>
            <a:p>
              <a:endParaRPr lang="zh-CN" altLang="en-US" sz="700" b="1" dirty="0"/>
            </a:p>
          </p:txBody>
        </p:sp>
        <p:sp>
          <p:nvSpPr>
            <p:cNvPr id="10" name="文本框 9">
              <a:extLst>
                <a:ext uri="{FF2B5EF4-FFF2-40B4-BE49-F238E27FC236}">
                  <a16:creationId xmlns:a16="http://schemas.microsoft.com/office/drawing/2014/main" id="{817BFD22-6802-7013-EEC8-A0827B6816CA}"/>
                </a:ext>
              </a:extLst>
            </p:cNvPr>
            <p:cNvSpPr txBox="1"/>
            <p:nvPr/>
          </p:nvSpPr>
          <p:spPr>
            <a:xfrm>
              <a:off x="2751536" y="1977643"/>
              <a:ext cx="739175" cy="276999"/>
            </a:xfrm>
            <a:prstGeom prst="rect">
              <a:avLst/>
            </a:prstGeom>
            <a:noFill/>
          </p:spPr>
          <p:txBody>
            <a:bodyPr wrap="square" rtlCol="0">
              <a:spAutoFit/>
            </a:bodyPr>
            <a:lstStyle/>
            <a:p>
              <a:r>
                <a:rPr lang="en-US" altLang="zh-CN" sz="1200" b="1" dirty="0">
                  <a:latin typeface="Arial" panose="020B0604020202020204" pitchFamily="34" charset="0"/>
                  <a:ea typeface="微软雅黑" panose="020B0503020204020204" pitchFamily="34" charset="-122"/>
                </a:rPr>
                <a:t>P1</a:t>
              </a:r>
              <a:endParaRPr lang="zh-CN" altLang="en-US" sz="1200" b="1" dirty="0">
                <a:latin typeface="Arial" panose="020B0604020202020204" pitchFamily="34" charset="0"/>
                <a:ea typeface="微软雅黑" panose="020B0503020204020204" pitchFamily="34" charset="-122"/>
              </a:endParaRPr>
            </a:p>
          </p:txBody>
        </p:sp>
      </p:grpSp>
      <p:cxnSp>
        <p:nvCxnSpPr>
          <p:cNvPr id="45" name="连接符: 肘形 44">
            <a:extLst>
              <a:ext uri="{FF2B5EF4-FFF2-40B4-BE49-F238E27FC236}">
                <a16:creationId xmlns:a16="http://schemas.microsoft.com/office/drawing/2014/main" id="{BB56513D-44E9-BA18-1854-4DDE45645133}"/>
              </a:ext>
            </a:extLst>
          </p:cNvPr>
          <p:cNvCxnSpPr>
            <a:cxnSpLocks/>
            <a:stCxn id="13" idx="1"/>
            <a:endCxn id="24" idx="0"/>
          </p:cNvCxnSpPr>
          <p:nvPr/>
        </p:nvCxnSpPr>
        <p:spPr>
          <a:xfrm rot="10800000" flipV="1">
            <a:off x="5816207" y="1981461"/>
            <a:ext cx="521001" cy="689057"/>
          </a:xfrm>
          <a:prstGeom prst="bentConnector2">
            <a:avLst/>
          </a:prstGeom>
          <a:ln>
            <a:headEnd type="none" w="med" len="med"/>
            <a:tailEnd type="none" w="med" len="med"/>
          </a:ln>
        </p:spPr>
        <p:style>
          <a:lnRef idx="2">
            <a:schemeClr val="accent1"/>
          </a:lnRef>
          <a:fillRef idx="0">
            <a:schemeClr val="accent1"/>
          </a:fillRef>
          <a:effectRef idx="1">
            <a:schemeClr val="accent1"/>
          </a:effectRef>
          <a:fontRef idx="minor">
            <a:schemeClr val="tx1"/>
          </a:fontRef>
        </p:style>
      </p:cxnSp>
      <p:cxnSp>
        <p:nvCxnSpPr>
          <p:cNvPr id="50" name="连接符: 肘形 49">
            <a:extLst>
              <a:ext uri="{FF2B5EF4-FFF2-40B4-BE49-F238E27FC236}">
                <a16:creationId xmlns:a16="http://schemas.microsoft.com/office/drawing/2014/main" id="{5A535200-BAE8-1543-299D-D5BCE228B077}"/>
              </a:ext>
            </a:extLst>
          </p:cNvPr>
          <p:cNvCxnSpPr>
            <a:cxnSpLocks/>
            <a:stCxn id="12" idx="3"/>
            <a:endCxn id="25" idx="0"/>
          </p:cNvCxnSpPr>
          <p:nvPr/>
        </p:nvCxnSpPr>
        <p:spPr>
          <a:xfrm rot="16200000" flipH="1">
            <a:off x="6300167" y="2364910"/>
            <a:ext cx="579003" cy="32213"/>
          </a:xfrm>
          <a:prstGeom prst="bentConnector3">
            <a:avLst>
              <a:gd name="adj1" fmla="val 1065"/>
            </a:avLst>
          </a:prstGeom>
          <a:ln>
            <a:headEnd type="none" w="med" len="med"/>
            <a:tailEnd type="none" w="med" len="med"/>
          </a:ln>
        </p:spPr>
        <p:style>
          <a:lnRef idx="2">
            <a:schemeClr val="accent1"/>
          </a:lnRef>
          <a:fillRef idx="0">
            <a:schemeClr val="accent1"/>
          </a:fillRef>
          <a:effectRef idx="1">
            <a:schemeClr val="accent1"/>
          </a:effectRef>
          <a:fontRef idx="minor">
            <a:schemeClr val="tx1"/>
          </a:fontRef>
        </p:style>
      </p:cxnSp>
      <p:cxnSp>
        <p:nvCxnSpPr>
          <p:cNvPr id="54" name="连接符: 肘形 53">
            <a:extLst>
              <a:ext uri="{FF2B5EF4-FFF2-40B4-BE49-F238E27FC236}">
                <a16:creationId xmlns:a16="http://schemas.microsoft.com/office/drawing/2014/main" id="{703F6DFB-6FDD-B9E2-F37B-8AC7A1252EBE}"/>
              </a:ext>
            </a:extLst>
          </p:cNvPr>
          <p:cNvCxnSpPr>
            <a:cxnSpLocks/>
            <a:stCxn id="13" idx="0"/>
            <a:endCxn id="26" idx="0"/>
          </p:cNvCxnSpPr>
          <p:nvPr/>
        </p:nvCxnSpPr>
        <p:spPr>
          <a:xfrm rot="16200000" flipH="1">
            <a:off x="6676668" y="1873088"/>
            <a:ext cx="827557" cy="767305"/>
          </a:xfrm>
          <a:prstGeom prst="bentConnector3">
            <a:avLst>
              <a:gd name="adj1" fmla="val 16730"/>
            </a:avLst>
          </a:prstGeom>
          <a:ln>
            <a:headEnd type="none" w="med" len="med"/>
            <a:tailEnd type="none" w="med" len="med"/>
          </a:ln>
        </p:spPr>
        <p:style>
          <a:lnRef idx="2">
            <a:schemeClr val="accent1"/>
          </a:lnRef>
          <a:fillRef idx="0">
            <a:schemeClr val="accent1"/>
          </a:fillRef>
          <a:effectRef idx="1">
            <a:schemeClr val="accent1"/>
          </a:effectRef>
          <a:fontRef idx="minor">
            <a:schemeClr val="tx1"/>
          </a:fontRef>
        </p:style>
      </p:cxnSp>
      <p:grpSp>
        <p:nvGrpSpPr>
          <p:cNvPr id="11" name="组合 10">
            <a:extLst>
              <a:ext uri="{FF2B5EF4-FFF2-40B4-BE49-F238E27FC236}">
                <a16:creationId xmlns:a16="http://schemas.microsoft.com/office/drawing/2014/main" id="{E3D70958-94F4-4512-34EE-544F42DA73D2}"/>
              </a:ext>
            </a:extLst>
          </p:cNvPr>
          <p:cNvGrpSpPr/>
          <p:nvPr/>
        </p:nvGrpSpPr>
        <p:grpSpPr>
          <a:xfrm>
            <a:off x="6264477" y="1706998"/>
            <a:ext cx="811905" cy="412963"/>
            <a:chOff x="2678806" y="1841679"/>
            <a:chExt cx="811905" cy="412963"/>
          </a:xfrm>
        </p:grpSpPr>
        <p:sp>
          <p:nvSpPr>
            <p:cNvPr id="12" name="等腰三角形 11">
              <a:extLst>
                <a:ext uri="{FF2B5EF4-FFF2-40B4-BE49-F238E27FC236}">
                  <a16:creationId xmlns:a16="http://schemas.microsoft.com/office/drawing/2014/main" id="{7874B8F7-1A4A-7722-6C16-55FBE42E4A02}"/>
                </a:ext>
              </a:extLst>
            </p:cNvPr>
            <p:cNvSpPr/>
            <p:nvPr/>
          </p:nvSpPr>
          <p:spPr>
            <a:xfrm>
              <a:off x="2678806" y="1841679"/>
              <a:ext cx="618170" cy="384518"/>
            </a:xfrm>
            <a:prstGeom prst="triangle">
              <a:avLst/>
            </a:prstGeom>
          </p:spPr>
          <p:style>
            <a:lnRef idx="3">
              <a:schemeClr val="lt1"/>
            </a:lnRef>
            <a:fillRef idx="1">
              <a:schemeClr val="accent5"/>
            </a:fillRef>
            <a:effectRef idx="1">
              <a:schemeClr val="accent5"/>
            </a:effectRef>
            <a:fontRef idx="minor">
              <a:schemeClr val="lt1"/>
            </a:fontRef>
          </p:style>
          <p:txBody>
            <a:bodyPr rtlCol="0" anchor="ctr"/>
            <a:lstStyle/>
            <a:p>
              <a:endParaRPr lang="zh-CN" altLang="en-US" sz="700" b="1" dirty="0"/>
            </a:p>
          </p:txBody>
        </p:sp>
        <p:sp>
          <p:nvSpPr>
            <p:cNvPr id="13" name="文本框 12">
              <a:extLst>
                <a:ext uri="{FF2B5EF4-FFF2-40B4-BE49-F238E27FC236}">
                  <a16:creationId xmlns:a16="http://schemas.microsoft.com/office/drawing/2014/main" id="{AA0B9318-9F05-8C40-D921-6BC1BE2D7DE9}"/>
                </a:ext>
              </a:extLst>
            </p:cNvPr>
            <p:cNvSpPr txBox="1"/>
            <p:nvPr/>
          </p:nvSpPr>
          <p:spPr>
            <a:xfrm>
              <a:off x="2751536" y="1977643"/>
              <a:ext cx="739175" cy="276999"/>
            </a:xfrm>
            <a:prstGeom prst="rect">
              <a:avLst/>
            </a:prstGeom>
            <a:noFill/>
          </p:spPr>
          <p:txBody>
            <a:bodyPr wrap="square" rtlCol="0">
              <a:spAutoFit/>
            </a:bodyPr>
            <a:lstStyle/>
            <a:p>
              <a:r>
                <a:rPr lang="en-US" altLang="zh-CN" sz="1200" b="1" dirty="0">
                  <a:latin typeface="Arial" panose="020B0604020202020204" pitchFamily="34" charset="0"/>
                  <a:ea typeface="微软雅黑" panose="020B0503020204020204" pitchFamily="34" charset="-122"/>
                </a:rPr>
                <a:t>P2</a:t>
              </a:r>
              <a:endParaRPr lang="zh-CN" altLang="en-US" sz="1200" b="1" dirty="0">
                <a:latin typeface="Arial" panose="020B0604020202020204" pitchFamily="34" charset="0"/>
                <a:ea typeface="微软雅黑" panose="020B0503020204020204" pitchFamily="34" charset="-122"/>
              </a:endParaRPr>
            </a:p>
          </p:txBody>
        </p:sp>
      </p:grpSp>
      <p:graphicFrame>
        <p:nvGraphicFramePr>
          <p:cNvPr id="62" name="表格 61">
            <a:extLst>
              <a:ext uri="{FF2B5EF4-FFF2-40B4-BE49-F238E27FC236}">
                <a16:creationId xmlns:a16="http://schemas.microsoft.com/office/drawing/2014/main" id="{46BF0DED-9D1D-A39D-E308-F937BA8D3E65}"/>
              </a:ext>
            </a:extLst>
          </p:cNvPr>
          <p:cNvGraphicFramePr>
            <a:graphicFrameLocks noGrp="1"/>
          </p:cNvGraphicFramePr>
          <p:nvPr>
            <p:extLst>
              <p:ext uri="{D42A27DB-BD31-4B8C-83A1-F6EECF244321}">
                <p14:modId xmlns:p14="http://schemas.microsoft.com/office/powerpoint/2010/main" val="1212411774"/>
              </p:ext>
            </p:extLst>
          </p:nvPr>
        </p:nvGraphicFramePr>
        <p:xfrm>
          <a:off x="767848" y="3523083"/>
          <a:ext cx="10020598" cy="2595880"/>
        </p:xfrm>
        <a:graphic>
          <a:graphicData uri="http://schemas.openxmlformats.org/drawingml/2006/table">
            <a:tbl>
              <a:tblPr firstRow="1" bandRow="1">
                <a:tableStyleId>{69012ECD-51FC-41F1-AA8D-1B2483CD663E}</a:tableStyleId>
              </a:tblPr>
              <a:tblGrid>
                <a:gridCol w="977713">
                  <a:extLst>
                    <a:ext uri="{9D8B030D-6E8A-4147-A177-3AD203B41FA5}">
                      <a16:colId xmlns:a16="http://schemas.microsoft.com/office/drawing/2014/main" val="2702206627"/>
                    </a:ext>
                  </a:extLst>
                </a:gridCol>
                <a:gridCol w="1615121">
                  <a:extLst>
                    <a:ext uri="{9D8B030D-6E8A-4147-A177-3AD203B41FA5}">
                      <a16:colId xmlns:a16="http://schemas.microsoft.com/office/drawing/2014/main" val="544131096"/>
                    </a:ext>
                  </a:extLst>
                </a:gridCol>
                <a:gridCol w="1090242">
                  <a:extLst>
                    <a:ext uri="{9D8B030D-6E8A-4147-A177-3AD203B41FA5}">
                      <a16:colId xmlns:a16="http://schemas.microsoft.com/office/drawing/2014/main" val="891064027"/>
                    </a:ext>
                  </a:extLst>
                </a:gridCol>
                <a:gridCol w="823358">
                  <a:extLst>
                    <a:ext uri="{9D8B030D-6E8A-4147-A177-3AD203B41FA5}">
                      <a16:colId xmlns:a16="http://schemas.microsoft.com/office/drawing/2014/main" val="587444214"/>
                    </a:ext>
                  </a:extLst>
                </a:gridCol>
                <a:gridCol w="1196036">
                  <a:extLst>
                    <a:ext uri="{9D8B030D-6E8A-4147-A177-3AD203B41FA5}">
                      <a16:colId xmlns:a16="http://schemas.microsoft.com/office/drawing/2014/main" val="156193062"/>
                    </a:ext>
                  </a:extLst>
                </a:gridCol>
                <a:gridCol w="1591584">
                  <a:extLst>
                    <a:ext uri="{9D8B030D-6E8A-4147-A177-3AD203B41FA5}">
                      <a16:colId xmlns:a16="http://schemas.microsoft.com/office/drawing/2014/main" val="131510548"/>
                    </a:ext>
                  </a:extLst>
                </a:gridCol>
                <a:gridCol w="1363272">
                  <a:extLst>
                    <a:ext uri="{9D8B030D-6E8A-4147-A177-3AD203B41FA5}">
                      <a16:colId xmlns:a16="http://schemas.microsoft.com/office/drawing/2014/main" val="3115395869"/>
                    </a:ext>
                  </a:extLst>
                </a:gridCol>
                <a:gridCol w="1363272">
                  <a:extLst>
                    <a:ext uri="{9D8B030D-6E8A-4147-A177-3AD203B41FA5}">
                      <a16:colId xmlns:a16="http://schemas.microsoft.com/office/drawing/2014/main" val="1786259038"/>
                    </a:ext>
                  </a:extLst>
                </a:gridCol>
              </a:tblGrid>
              <a:tr h="370840">
                <a:tc>
                  <a:txBody>
                    <a:bodyPr/>
                    <a:lstStyle/>
                    <a:p>
                      <a:r>
                        <a:rPr lang="en-US" altLang="zh-CN" sz="1200" dirty="0">
                          <a:solidFill>
                            <a:schemeClr val="tx1"/>
                          </a:solidFill>
                          <a:latin typeface="Arial" panose="020B0604020202020204" pitchFamily="34" charset="0"/>
                          <a:ea typeface="微软雅黑" panose="020B0503020204020204" pitchFamily="34" charset="-122"/>
                        </a:rPr>
                        <a:t>Parent</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kitted Qty</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Supply</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OH</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SR</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Planned Qty</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Unit Cost</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New Cost</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6231092"/>
                  </a:ext>
                </a:extLst>
              </a:tr>
              <a:tr h="370840">
                <a:tc>
                  <a:txBody>
                    <a:bodyPr/>
                    <a:lstStyle/>
                    <a:p>
                      <a:r>
                        <a:rPr lang="en-US" altLang="zh-CN" sz="1200" dirty="0">
                          <a:solidFill>
                            <a:schemeClr val="tx1"/>
                          </a:solidFill>
                          <a:latin typeface="Arial" panose="020B0604020202020204" pitchFamily="34" charset="0"/>
                          <a:ea typeface="微软雅黑" panose="020B0503020204020204" pitchFamily="34" charset="-122"/>
                        </a:rPr>
                        <a:t>P1</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A1</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76864"/>
                  </a:ext>
                </a:extLst>
              </a:tr>
              <a:tr h="370840">
                <a:tc>
                  <a:txBody>
                    <a:bodyPr/>
                    <a:lstStyle/>
                    <a:p>
                      <a:r>
                        <a:rPr lang="en-US" altLang="zh-CN" sz="1200" dirty="0">
                          <a:solidFill>
                            <a:schemeClr val="tx1"/>
                          </a:solidFill>
                          <a:latin typeface="Arial" panose="020B0604020202020204" pitchFamily="34" charset="0"/>
                          <a:ea typeface="微软雅黑" panose="020B0503020204020204" pitchFamily="34" charset="-122"/>
                        </a:rPr>
                        <a:t>P1</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B1</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220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11000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485285"/>
                  </a:ext>
                </a:extLst>
              </a:tr>
              <a:tr h="370840">
                <a:tc>
                  <a:txBody>
                    <a:bodyPr/>
                    <a:lstStyle/>
                    <a:p>
                      <a:r>
                        <a:rPr lang="en-US" altLang="zh-CN" sz="1200" dirty="0">
                          <a:solidFill>
                            <a:schemeClr val="tx1"/>
                          </a:solidFill>
                          <a:latin typeface="Arial" panose="020B0604020202020204" pitchFamily="34" charset="0"/>
                          <a:ea typeface="微软雅黑" panose="020B0503020204020204" pitchFamily="34" charset="-122"/>
                        </a:rPr>
                        <a:t>P1</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C1</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25</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25</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40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744743"/>
                  </a:ext>
                </a:extLst>
              </a:tr>
              <a:tr h="370840">
                <a:tc>
                  <a:txBody>
                    <a:bodyPr/>
                    <a:lstStyle/>
                    <a:p>
                      <a:r>
                        <a:rPr lang="en-US" altLang="zh-CN" sz="1200" dirty="0">
                          <a:solidFill>
                            <a:schemeClr val="tx1"/>
                          </a:solidFill>
                          <a:latin typeface="Arial" panose="020B0604020202020204" pitchFamily="34" charset="0"/>
                          <a:ea typeface="微软雅黑" panose="020B0503020204020204" pitchFamily="34" charset="-122"/>
                        </a:rPr>
                        <a:t>P2</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A2</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1000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9463136"/>
                  </a:ext>
                </a:extLst>
              </a:tr>
              <a:tr h="370840">
                <a:tc>
                  <a:txBody>
                    <a:bodyPr/>
                    <a:lstStyle/>
                    <a:p>
                      <a:r>
                        <a:rPr lang="en-US" altLang="zh-CN" sz="1200" dirty="0">
                          <a:solidFill>
                            <a:schemeClr val="tx1"/>
                          </a:solidFill>
                          <a:latin typeface="Arial" panose="020B0604020202020204" pitchFamily="34" charset="0"/>
                          <a:ea typeface="微软雅黑" panose="020B0503020204020204" pitchFamily="34" charset="-122"/>
                        </a:rPr>
                        <a:t>P2</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B2</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200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618772"/>
                  </a:ext>
                </a:extLst>
              </a:tr>
              <a:tr h="370840">
                <a:tc>
                  <a:txBody>
                    <a:bodyPr/>
                    <a:lstStyle/>
                    <a:p>
                      <a:r>
                        <a:rPr lang="en-US" altLang="zh-CN" sz="1200" dirty="0">
                          <a:solidFill>
                            <a:schemeClr val="tx1"/>
                          </a:solidFill>
                          <a:latin typeface="Arial" panose="020B0604020202020204" pitchFamily="34" charset="0"/>
                          <a:ea typeface="微软雅黑" panose="020B0503020204020204" pitchFamily="34" charset="-122"/>
                        </a:rPr>
                        <a:t>P2</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200" dirty="0">
                          <a:solidFill>
                            <a:schemeClr val="tx1"/>
                          </a:solidFill>
                          <a:latin typeface="Arial" panose="020B0604020202020204" pitchFamily="34" charset="0"/>
                          <a:ea typeface="微软雅黑" panose="020B0503020204020204" pitchFamily="34" charset="-122"/>
                        </a:rPr>
                        <a:t>50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C2</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25</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25</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40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dirty="0">
                          <a:solidFill>
                            <a:schemeClr val="tx1"/>
                          </a:solidFill>
                          <a:latin typeface="Arial" panose="020B0604020202020204" pitchFamily="34" charset="0"/>
                          <a:ea typeface="微软雅黑" panose="020B0503020204020204" pitchFamily="34" charset="-122"/>
                        </a:rPr>
                        <a:t>1000</a:t>
                      </a:r>
                      <a:endParaRPr lang="zh-CN" altLang="en-US" sz="12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1724752"/>
                  </a:ext>
                </a:extLst>
              </a:tr>
            </a:tbl>
          </a:graphicData>
        </a:graphic>
      </p:graphicFrame>
      <p:sp>
        <p:nvSpPr>
          <p:cNvPr id="2" name="文本框 1">
            <a:extLst>
              <a:ext uri="{FF2B5EF4-FFF2-40B4-BE49-F238E27FC236}">
                <a16:creationId xmlns:a16="http://schemas.microsoft.com/office/drawing/2014/main" id="{E3D2FB33-E4E2-9D00-BC93-84355AFA54D3}"/>
              </a:ext>
            </a:extLst>
          </p:cNvPr>
          <p:cNvSpPr txBox="1"/>
          <p:nvPr/>
        </p:nvSpPr>
        <p:spPr>
          <a:xfrm>
            <a:off x="4445852" y="1597409"/>
            <a:ext cx="1753687" cy="461665"/>
          </a:xfrm>
          <a:prstGeom prst="rect">
            <a:avLst/>
          </a:prstGeom>
          <a:noFill/>
        </p:spPr>
        <p:txBody>
          <a:bodyPr wrap="square" rtlCol="0">
            <a:spAutoFit/>
          </a:bodyPr>
          <a:lstStyle/>
          <a:p>
            <a:r>
              <a:rPr lang="en-US" altLang="zh-CN" sz="1200" dirty="0">
                <a:latin typeface="Arial" panose="020B0604020202020204" pitchFamily="34" charset="0"/>
                <a:ea typeface="微软雅黑" panose="020B0503020204020204" pitchFamily="34" charset="-122"/>
              </a:rPr>
              <a:t>Priority:1</a:t>
            </a:r>
          </a:p>
          <a:p>
            <a:r>
              <a:rPr lang="en-US" altLang="zh-CN" sz="1200" dirty="0">
                <a:latin typeface="Arial" panose="020B0604020202020204" pitchFamily="34" charset="0"/>
                <a:ea typeface="微软雅黑" panose="020B0503020204020204" pitchFamily="34" charset="-122"/>
              </a:rPr>
              <a:t>Target:4</a:t>
            </a:r>
            <a:endParaRPr lang="zh-CN" altLang="en-US" sz="1200" dirty="0">
              <a:latin typeface="Arial" panose="020B0604020202020204" pitchFamily="34" charset="0"/>
              <a:ea typeface="微软雅黑" panose="020B0503020204020204" pitchFamily="34" charset="-122"/>
            </a:endParaRPr>
          </a:p>
        </p:txBody>
      </p:sp>
      <p:sp>
        <p:nvSpPr>
          <p:cNvPr id="3" name="文本框 2">
            <a:extLst>
              <a:ext uri="{FF2B5EF4-FFF2-40B4-BE49-F238E27FC236}">
                <a16:creationId xmlns:a16="http://schemas.microsoft.com/office/drawing/2014/main" id="{9F196027-DF7E-BBC7-F265-B9A1AA326EF5}"/>
              </a:ext>
            </a:extLst>
          </p:cNvPr>
          <p:cNvSpPr txBox="1"/>
          <p:nvPr/>
        </p:nvSpPr>
        <p:spPr>
          <a:xfrm>
            <a:off x="6966841" y="1566077"/>
            <a:ext cx="1753687" cy="461665"/>
          </a:xfrm>
          <a:prstGeom prst="rect">
            <a:avLst/>
          </a:prstGeom>
          <a:noFill/>
        </p:spPr>
        <p:txBody>
          <a:bodyPr wrap="square" rtlCol="0">
            <a:spAutoFit/>
          </a:bodyPr>
          <a:lstStyle/>
          <a:p>
            <a:r>
              <a:rPr lang="en-US" altLang="zh-CN" sz="1200" dirty="0">
                <a:latin typeface="Arial" panose="020B0604020202020204" pitchFamily="34" charset="0"/>
                <a:ea typeface="微软雅黑" panose="020B0503020204020204" pitchFamily="34" charset="-122"/>
              </a:rPr>
              <a:t>Priority:2</a:t>
            </a:r>
          </a:p>
          <a:p>
            <a:r>
              <a:rPr lang="en-US" altLang="zh-CN" sz="1200" dirty="0">
                <a:latin typeface="Arial" panose="020B0604020202020204" pitchFamily="34" charset="0"/>
                <a:ea typeface="微软雅黑" panose="020B0503020204020204" pitchFamily="34" charset="-122"/>
              </a:rPr>
              <a:t>Target:1</a:t>
            </a:r>
            <a:endParaRPr lang="zh-CN" altLang="en-US" sz="1200" dirty="0">
              <a:latin typeface="Arial" panose="020B0604020202020204" pitchFamily="34" charset="0"/>
              <a:ea typeface="微软雅黑" panose="020B0503020204020204" pitchFamily="34" charset="-122"/>
            </a:endParaRPr>
          </a:p>
        </p:txBody>
      </p:sp>
      <p:sp>
        <p:nvSpPr>
          <p:cNvPr id="4" name="文本框 3">
            <a:extLst>
              <a:ext uri="{FF2B5EF4-FFF2-40B4-BE49-F238E27FC236}">
                <a16:creationId xmlns:a16="http://schemas.microsoft.com/office/drawing/2014/main" id="{DA5CB328-EC93-B1D4-4669-418F75014638}"/>
              </a:ext>
            </a:extLst>
          </p:cNvPr>
          <p:cNvSpPr txBox="1"/>
          <p:nvPr/>
        </p:nvSpPr>
        <p:spPr>
          <a:xfrm>
            <a:off x="3005159" y="6328927"/>
            <a:ext cx="5622093"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P2</a:t>
            </a:r>
            <a:r>
              <a:rPr lang="zh-CN" altLang="en-US" dirty="0">
                <a:latin typeface="Arial" panose="020B0604020202020204" pitchFamily="34" charset="0"/>
                <a:ea typeface="微软雅黑" panose="020B0503020204020204" pitchFamily="34" charset="-122"/>
              </a:rPr>
              <a:t>新增成本最低，我们选择</a:t>
            </a:r>
            <a:r>
              <a:rPr lang="en-US" altLang="zh-CN" dirty="0">
                <a:latin typeface="Arial" panose="020B0604020202020204" pitchFamily="34" charset="0"/>
                <a:ea typeface="微软雅黑" panose="020B0503020204020204" pitchFamily="34" charset="-122"/>
              </a:rPr>
              <a:t>P2</a:t>
            </a:r>
            <a:r>
              <a:rPr lang="zh-CN" altLang="en-US" dirty="0">
                <a:latin typeface="Arial" panose="020B0604020202020204" pitchFamily="34" charset="0"/>
                <a:ea typeface="微软雅黑" panose="020B0503020204020204" pitchFamily="34" charset="-122"/>
              </a:rPr>
              <a:t>相关计划作为结果</a:t>
            </a:r>
          </a:p>
        </p:txBody>
      </p:sp>
    </p:spTree>
    <p:extLst>
      <p:ext uri="{BB962C8B-B14F-4D97-AF65-F5344CB8AC3E}">
        <p14:creationId xmlns:p14="http://schemas.microsoft.com/office/powerpoint/2010/main" val="156372479"/>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A5D11C0-A163-696A-AE7E-869EBF94962F}"/>
              </a:ext>
            </a:extLst>
          </p:cNvPr>
          <p:cNvSpPr>
            <a:spLocks noGrp="1"/>
          </p:cNvSpPr>
          <p:nvPr>
            <p:ph type="title"/>
          </p:nvPr>
        </p:nvSpPr>
        <p:spPr>
          <a:xfrm>
            <a:off x="609600" y="332635"/>
            <a:ext cx="10972800" cy="478247"/>
          </a:xfrm>
        </p:spPr>
        <p:txBody>
          <a:bodyPr>
            <a:normAutofit/>
          </a:bodyPr>
          <a:lstStyle/>
          <a:p>
            <a:r>
              <a:rPr lang="zh-CN" altLang="en-US" sz="2800" b="1" dirty="0">
                <a:solidFill>
                  <a:schemeClr val="bg1"/>
                </a:solidFill>
                <a:latin typeface="Arial" panose="020B0604020202020204" pitchFamily="34" charset="0"/>
                <a:ea typeface="微软雅黑" panose="020B0503020204020204" pitchFamily="34" charset="-122"/>
              </a:rPr>
              <a:t>跨工厂 </a:t>
            </a:r>
            <a:r>
              <a:rPr lang="en-US" altLang="zh-CN" sz="2800" b="1" dirty="0">
                <a:solidFill>
                  <a:schemeClr val="bg1"/>
                </a:solidFill>
                <a:latin typeface="Arial" panose="020B0604020202020204" pitchFamily="34" charset="0"/>
                <a:ea typeface="微软雅黑" panose="020B0503020204020204" pitchFamily="34" charset="-122"/>
              </a:rPr>
              <a:t>– </a:t>
            </a:r>
            <a:r>
              <a:rPr lang="en-US" altLang="zh-CN" sz="2800" dirty="0">
                <a:solidFill>
                  <a:schemeClr val="bg1"/>
                </a:solidFill>
                <a:latin typeface="Arial" panose="020B0604020202020204" pitchFamily="34" charset="0"/>
                <a:ea typeface="微软雅黑" panose="020B0503020204020204" pitchFamily="34" charset="-122"/>
              </a:rPr>
              <a:t>By</a:t>
            </a:r>
            <a:r>
              <a:rPr lang="zh-CN" altLang="en-US" sz="2800" dirty="0">
                <a:solidFill>
                  <a:schemeClr val="bg1"/>
                </a:solidFill>
                <a:latin typeface="Arial" panose="020B0604020202020204" pitchFamily="34" charset="0"/>
                <a:ea typeface="微软雅黑" panose="020B0503020204020204" pitchFamily="34" charset="-122"/>
              </a:rPr>
              <a:t> </a:t>
            </a:r>
            <a:r>
              <a:rPr lang="en-US" altLang="zh-CN" sz="2800" dirty="0">
                <a:solidFill>
                  <a:schemeClr val="bg1"/>
                </a:solidFill>
                <a:latin typeface="Arial" panose="020B0604020202020204" pitchFamily="34" charset="0"/>
                <a:ea typeface="微软雅黑" panose="020B0503020204020204" pitchFamily="34" charset="-122"/>
              </a:rPr>
              <a:t>Level</a:t>
            </a:r>
            <a:endParaRPr lang="zh-CN" altLang="en-US" sz="2800" b="1" dirty="0">
              <a:solidFill>
                <a:schemeClr val="bg1"/>
              </a:solidFill>
              <a:latin typeface="Arial" panose="020B0604020202020204" pitchFamily="34" charset="0"/>
              <a:ea typeface="微软雅黑" panose="020B0503020204020204" pitchFamily="34" charset="-122"/>
            </a:endParaRPr>
          </a:p>
        </p:txBody>
      </p:sp>
      <p:sp>
        <p:nvSpPr>
          <p:cNvPr id="29" name="矩形 28">
            <a:extLst>
              <a:ext uri="{FF2B5EF4-FFF2-40B4-BE49-F238E27FC236}">
                <a16:creationId xmlns:a16="http://schemas.microsoft.com/office/drawing/2014/main" id="{C3D45BA0-2AD8-324E-1B25-18E7F5983095}"/>
              </a:ext>
            </a:extLst>
          </p:cNvPr>
          <p:cNvSpPr/>
          <p:nvPr/>
        </p:nvSpPr>
        <p:spPr>
          <a:xfrm>
            <a:off x="3000778" y="906506"/>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FG</a:t>
            </a:r>
            <a:endParaRPr lang="zh-CN" altLang="en-US" sz="1000" b="1" dirty="0">
              <a:latin typeface="Arial" panose="020B0604020202020204" pitchFamily="34" charset="0"/>
              <a:ea typeface="微软雅黑" panose="020B0503020204020204" pitchFamily="34" charset="-122"/>
            </a:endParaRPr>
          </a:p>
        </p:txBody>
      </p:sp>
      <p:sp>
        <p:nvSpPr>
          <p:cNvPr id="30" name="矩形 29">
            <a:extLst>
              <a:ext uri="{FF2B5EF4-FFF2-40B4-BE49-F238E27FC236}">
                <a16:creationId xmlns:a16="http://schemas.microsoft.com/office/drawing/2014/main" id="{3E3A31AB-DA0D-FC60-26E3-D5FB127F96DF}"/>
              </a:ext>
            </a:extLst>
          </p:cNvPr>
          <p:cNvSpPr/>
          <p:nvPr/>
        </p:nvSpPr>
        <p:spPr>
          <a:xfrm>
            <a:off x="2155063" y="1561182"/>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A</a:t>
            </a:r>
            <a:endParaRPr lang="zh-CN" altLang="en-US" sz="1000" b="1" dirty="0">
              <a:latin typeface="Arial" panose="020B0604020202020204" pitchFamily="34" charset="0"/>
              <a:ea typeface="微软雅黑" panose="020B0503020204020204" pitchFamily="34" charset="-122"/>
            </a:endParaRPr>
          </a:p>
        </p:txBody>
      </p:sp>
      <p:sp>
        <p:nvSpPr>
          <p:cNvPr id="31" name="矩形 30">
            <a:extLst>
              <a:ext uri="{FF2B5EF4-FFF2-40B4-BE49-F238E27FC236}">
                <a16:creationId xmlns:a16="http://schemas.microsoft.com/office/drawing/2014/main" id="{0EA83E31-4D44-6A95-9688-16914C7B895D}"/>
              </a:ext>
            </a:extLst>
          </p:cNvPr>
          <p:cNvSpPr/>
          <p:nvPr/>
        </p:nvSpPr>
        <p:spPr>
          <a:xfrm>
            <a:off x="3769216" y="1567621"/>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B</a:t>
            </a:r>
            <a:endParaRPr lang="zh-CN" altLang="en-US" sz="1000" b="1" dirty="0">
              <a:latin typeface="Arial" panose="020B0604020202020204" pitchFamily="34" charset="0"/>
              <a:ea typeface="微软雅黑" panose="020B0503020204020204" pitchFamily="34" charset="-122"/>
            </a:endParaRPr>
          </a:p>
        </p:txBody>
      </p:sp>
      <p:sp>
        <p:nvSpPr>
          <p:cNvPr id="32" name="矩形 31">
            <a:extLst>
              <a:ext uri="{FF2B5EF4-FFF2-40B4-BE49-F238E27FC236}">
                <a16:creationId xmlns:a16="http://schemas.microsoft.com/office/drawing/2014/main" id="{1468E749-3A7F-4454-DB5B-6D6136BA2730}"/>
              </a:ext>
            </a:extLst>
          </p:cNvPr>
          <p:cNvSpPr/>
          <p:nvPr/>
        </p:nvSpPr>
        <p:spPr>
          <a:xfrm>
            <a:off x="1695706" y="2383284"/>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C</a:t>
            </a:r>
            <a:endParaRPr lang="zh-CN" altLang="en-US" sz="1000" b="1" dirty="0">
              <a:latin typeface="Arial" panose="020B0604020202020204" pitchFamily="34" charset="0"/>
              <a:ea typeface="微软雅黑" panose="020B0503020204020204" pitchFamily="34" charset="-122"/>
            </a:endParaRPr>
          </a:p>
        </p:txBody>
      </p:sp>
      <p:sp>
        <p:nvSpPr>
          <p:cNvPr id="33" name="矩形 32">
            <a:extLst>
              <a:ext uri="{FF2B5EF4-FFF2-40B4-BE49-F238E27FC236}">
                <a16:creationId xmlns:a16="http://schemas.microsoft.com/office/drawing/2014/main" id="{27EF7652-0D9F-E876-9703-1CAF94A49EDD}"/>
              </a:ext>
            </a:extLst>
          </p:cNvPr>
          <p:cNvSpPr/>
          <p:nvPr/>
        </p:nvSpPr>
        <p:spPr>
          <a:xfrm>
            <a:off x="2610117" y="2381137"/>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D</a:t>
            </a:r>
            <a:endParaRPr lang="zh-CN" altLang="en-US" sz="1000" b="1" dirty="0">
              <a:latin typeface="Arial" panose="020B0604020202020204" pitchFamily="34" charset="0"/>
              <a:ea typeface="微软雅黑" panose="020B0503020204020204" pitchFamily="34" charset="-122"/>
            </a:endParaRPr>
          </a:p>
        </p:txBody>
      </p:sp>
      <p:sp>
        <p:nvSpPr>
          <p:cNvPr id="34" name="矩形 33">
            <a:extLst>
              <a:ext uri="{FF2B5EF4-FFF2-40B4-BE49-F238E27FC236}">
                <a16:creationId xmlns:a16="http://schemas.microsoft.com/office/drawing/2014/main" id="{2450C6D6-FDDF-D15F-45F9-F8A560DB2517}"/>
              </a:ext>
            </a:extLst>
          </p:cNvPr>
          <p:cNvSpPr/>
          <p:nvPr/>
        </p:nvSpPr>
        <p:spPr>
          <a:xfrm>
            <a:off x="3342063" y="2383284"/>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E</a:t>
            </a:r>
            <a:endParaRPr lang="zh-CN" altLang="en-US" sz="1000" b="1" dirty="0">
              <a:latin typeface="Arial" panose="020B0604020202020204" pitchFamily="34" charset="0"/>
              <a:ea typeface="微软雅黑" panose="020B0503020204020204" pitchFamily="34" charset="-122"/>
            </a:endParaRPr>
          </a:p>
        </p:txBody>
      </p:sp>
      <p:sp>
        <p:nvSpPr>
          <p:cNvPr id="35" name="矩形 34">
            <a:extLst>
              <a:ext uri="{FF2B5EF4-FFF2-40B4-BE49-F238E27FC236}">
                <a16:creationId xmlns:a16="http://schemas.microsoft.com/office/drawing/2014/main" id="{B9082934-7DA1-399D-15FE-E56B7AE52111}"/>
              </a:ext>
            </a:extLst>
          </p:cNvPr>
          <p:cNvSpPr/>
          <p:nvPr/>
        </p:nvSpPr>
        <p:spPr>
          <a:xfrm>
            <a:off x="4243593" y="2381137"/>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F</a:t>
            </a:r>
            <a:endParaRPr lang="zh-CN" altLang="en-US" sz="1000" b="1" dirty="0">
              <a:latin typeface="Arial" panose="020B0604020202020204" pitchFamily="34" charset="0"/>
              <a:ea typeface="微软雅黑" panose="020B0503020204020204" pitchFamily="34" charset="-122"/>
            </a:endParaRPr>
          </a:p>
        </p:txBody>
      </p:sp>
      <p:cxnSp>
        <p:nvCxnSpPr>
          <p:cNvPr id="37" name="连接符: 肘形 36">
            <a:extLst>
              <a:ext uri="{FF2B5EF4-FFF2-40B4-BE49-F238E27FC236}">
                <a16:creationId xmlns:a16="http://schemas.microsoft.com/office/drawing/2014/main" id="{8F330CFE-0192-8EDC-C3C1-97E2CC81C9E8}"/>
              </a:ext>
            </a:extLst>
          </p:cNvPr>
          <p:cNvCxnSpPr>
            <a:stCxn id="29" idx="2"/>
            <a:endCxn id="30" idx="0"/>
          </p:cNvCxnSpPr>
          <p:nvPr/>
        </p:nvCxnSpPr>
        <p:spPr>
          <a:xfrm rot="5400000">
            <a:off x="2685246" y="978412"/>
            <a:ext cx="319825" cy="845715"/>
          </a:xfrm>
          <a:prstGeom prst="bentConnector3">
            <a:avLst/>
          </a:prstGeom>
        </p:spPr>
        <p:style>
          <a:lnRef idx="1">
            <a:schemeClr val="accent1"/>
          </a:lnRef>
          <a:fillRef idx="0">
            <a:schemeClr val="accent1"/>
          </a:fillRef>
          <a:effectRef idx="0">
            <a:schemeClr val="accent1"/>
          </a:effectRef>
          <a:fontRef idx="minor">
            <a:schemeClr val="tx1"/>
          </a:fontRef>
        </p:style>
      </p:cxnSp>
      <p:cxnSp>
        <p:nvCxnSpPr>
          <p:cNvPr id="38" name="连接符: 肘形 37">
            <a:extLst>
              <a:ext uri="{FF2B5EF4-FFF2-40B4-BE49-F238E27FC236}">
                <a16:creationId xmlns:a16="http://schemas.microsoft.com/office/drawing/2014/main" id="{D9A06CA4-F97C-CEE2-F3AA-815249892402}"/>
              </a:ext>
            </a:extLst>
          </p:cNvPr>
          <p:cNvCxnSpPr>
            <a:cxnSpLocks/>
            <a:stCxn id="29" idx="2"/>
            <a:endCxn id="31" idx="0"/>
          </p:cNvCxnSpPr>
          <p:nvPr/>
        </p:nvCxnSpPr>
        <p:spPr>
          <a:xfrm rot="16200000" flipH="1">
            <a:off x="3489102" y="1020270"/>
            <a:ext cx="326264" cy="768438"/>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41" name="连接符: 肘形 40">
            <a:extLst>
              <a:ext uri="{FF2B5EF4-FFF2-40B4-BE49-F238E27FC236}">
                <a16:creationId xmlns:a16="http://schemas.microsoft.com/office/drawing/2014/main" id="{27CE99EE-5AB4-3E28-FF8A-ED9532DC25DC}"/>
              </a:ext>
            </a:extLst>
          </p:cNvPr>
          <p:cNvCxnSpPr>
            <a:cxnSpLocks/>
            <a:stCxn id="30" idx="2"/>
            <a:endCxn id="32" idx="0"/>
          </p:cNvCxnSpPr>
          <p:nvPr/>
        </p:nvCxnSpPr>
        <p:spPr>
          <a:xfrm rot="5400000">
            <a:off x="1948997" y="1909980"/>
            <a:ext cx="487251" cy="459357"/>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44" name="连接符: 肘形 43">
            <a:extLst>
              <a:ext uri="{FF2B5EF4-FFF2-40B4-BE49-F238E27FC236}">
                <a16:creationId xmlns:a16="http://schemas.microsoft.com/office/drawing/2014/main" id="{6FFFDA9B-F311-3CCF-9158-6DC3E114190D}"/>
              </a:ext>
            </a:extLst>
          </p:cNvPr>
          <p:cNvCxnSpPr>
            <a:cxnSpLocks/>
            <a:stCxn id="30" idx="2"/>
            <a:endCxn id="33" idx="0"/>
          </p:cNvCxnSpPr>
          <p:nvPr/>
        </p:nvCxnSpPr>
        <p:spPr>
          <a:xfrm rot="16200000" flipH="1">
            <a:off x="2407275" y="1911058"/>
            <a:ext cx="485104" cy="455054"/>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47" name="连接符: 肘形 46">
            <a:extLst>
              <a:ext uri="{FF2B5EF4-FFF2-40B4-BE49-F238E27FC236}">
                <a16:creationId xmlns:a16="http://schemas.microsoft.com/office/drawing/2014/main" id="{46962F45-7B87-5BA9-53AC-5CA263B546C2}"/>
              </a:ext>
            </a:extLst>
          </p:cNvPr>
          <p:cNvCxnSpPr>
            <a:cxnSpLocks/>
          </p:cNvCxnSpPr>
          <p:nvPr/>
        </p:nvCxnSpPr>
        <p:spPr>
          <a:xfrm rot="5400000">
            <a:off x="3563150" y="1931446"/>
            <a:ext cx="487251" cy="459357"/>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48" name="连接符: 肘形 47">
            <a:extLst>
              <a:ext uri="{FF2B5EF4-FFF2-40B4-BE49-F238E27FC236}">
                <a16:creationId xmlns:a16="http://schemas.microsoft.com/office/drawing/2014/main" id="{4D18749C-5012-81A5-D32C-F537A262C237}"/>
              </a:ext>
            </a:extLst>
          </p:cNvPr>
          <p:cNvCxnSpPr>
            <a:cxnSpLocks/>
            <a:stCxn id="31" idx="2"/>
            <a:endCxn id="35" idx="0"/>
          </p:cNvCxnSpPr>
          <p:nvPr/>
        </p:nvCxnSpPr>
        <p:spPr>
          <a:xfrm rot="16200000" flipH="1">
            <a:off x="4034309" y="1904615"/>
            <a:ext cx="478665" cy="474377"/>
          </a:xfrm>
          <a:prstGeom prst="bentConnector3">
            <a:avLst>
              <a:gd name="adj1" fmla="val 54036"/>
            </a:avLst>
          </a:prstGeom>
        </p:spPr>
        <p:style>
          <a:lnRef idx="1">
            <a:schemeClr val="accent1"/>
          </a:lnRef>
          <a:fillRef idx="0">
            <a:schemeClr val="accent1"/>
          </a:fillRef>
          <a:effectRef idx="0">
            <a:schemeClr val="accent1"/>
          </a:effectRef>
          <a:fontRef idx="minor">
            <a:schemeClr val="tx1"/>
          </a:fontRef>
        </p:style>
      </p:cxnSp>
      <p:sp>
        <p:nvSpPr>
          <p:cNvPr id="52" name="矩形 51">
            <a:extLst>
              <a:ext uri="{FF2B5EF4-FFF2-40B4-BE49-F238E27FC236}">
                <a16:creationId xmlns:a16="http://schemas.microsoft.com/office/drawing/2014/main" id="{427E138A-3F19-1D7D-06D8-4A3FA285F899}"/>
              </a:ext>
            </a:extLst>
          </p:cNvPr>
          <p:cNvSpPr/>
          <p:nvPr/>
        </p:nvSpPr>
        <p:spPr>
          <a:xfrm>
            <a:off x="7944119" y="906506"/>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FG</a:t>
            </a:r>
            <a:endParaRPr lang="zh-CN" altLang="en-US" sz="1000" b="1" dirty="0">
              <a:latin typeface="Arial" panose="020B0604020202020204" pitchFamily="34" charset="0"/>
              <a:ea typeface="微软雅黑" panose="020B0503020204020204" pitchFamily="34" charset="-122"/>
            </a:endParaRPr>
          </a:p>
        </p:txBody>
      </p:sp>
      <p:sp>
        <p:nvSpPr>
          <p:cNvPr id="53" name="矩形 52">
            <a:extLst>
              <a:ext uri="{FF2B5EF4-FFF2-40B4-BE49-F238E27FC236}">
                <a16:creationId xmlns:a16="http://schemas.microsoft.com/office/drawing/2014/main" id="{E6B5E635-5417-3EE4-B3E9-458534846050}"/>
              </a:ext>
            </a:extLst>
          </p:cNvPr>
          <p:cNvSpPr/>
          <p:nvPr/>
        </p:nvSpPr>
        <p:spPr>
          <a:xfrm>
            <a:off x="7098404" y="1561182"/>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A</a:t>
            </a:r>
            <a:endParaRPr lang="zh-CN" altLang="en-US" sz="1000" b="1" dirty="0">
              <a:latin typeface="Arial" panose="020B0604020202020204" pitchFamily="34" charset="0"/>
              <a:ea typeface="微软雅黑" panose="020B0503020204020204" pitchFamily="34" charset="-122"/>
            </a:endParaRPr>
          </a:p>
        </p:txBody>
      </p:sp>
      <p:sp>
        <p:nvSpPr>
          <p:cNvPr id="54" name="矩形 53">
            <a:extLst>
              <a:ext uri="{FF2B5EF4-FFF2-40B4-BE49-F238E27FC236}">
                <a16:creationId xmlns:a16="http://schemas.microsoft.com/office/drawing/2014/main" id="{B831D327-C198-0545-B87A-65DE27AAC662}"/>
              </a:ext>
            </a:extLst>
          </p:cNvPr>
          <p:cNvSpPr/>
          <p:nvPr/>
        </p:nvSpPr>
        <p:spPr>
          <a:xfrm>
            <a:off x="8712557" y="1567621"/>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B</a:t>
            </a:r>
            <a:endParaRPr lang="zh-CN" altLang="en-US" sz="1000" b="1" dirty="0">
              <a:latin typeface="Arial" panose="020B0604020202020204" pitchFamily="34" charset="0"/>
              <a:ea typeface="微软雅黑" panose="020B0503020204020204" pitchFamily="34" charset="-122"/>
            </a:endParaRPr>
          </a:p>
        </p:txBody>
      </p:sp>
      <p:sp>
        <p:nvSpPr>
          <p:cNvPr id="55" name="矩形 54">
            <a:extLst>
              <a:ext uri="{FF2B5EF4-FFF2-40B4-BE49-F238E27FC236}">
                <a16:creationId xmlns:a16="http://schemas.microsoft.com/office/drawing/2014/main" id="{21EB22B9-BAFA-A669-45DB-21E31CE72AAB}"/>
              </a:ext>
            </a:extLst>
          </p:cNvPr>
          <p:cNvSpPr/>
          <p:nvPr/>
        </p:nvSpPr>
        <p:spPr>
          <a:xfrm>
            <a:off x="6639047" y="2383284"/>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C</a:t>
            </a:r>
            <a:endParaRPr lang="zh-CN" altLang="en-US" sz="1000" b="1" dirty="0">
              <a:latin typeface="Arial" panose="020B0604020202020204" pitchFamily="34" charset="0"/>
              <a:ea typeface="微软雅黑" panose="020B0503020204020204" pitchFamily="34" charset="-122"/>
            </a:endParaRPr>
          </a:p>
        </p:txBody>
      </p:sp>
      <p:sp>
        <p:nvSpPr>
          <p:cNvPr id="56" name="矩形 55">
            <a:extLst>
              <a:ext uri="{FF2B5EF4-FFF2-40B4-BE49-F238E27FC236}">
                <a16:creationId xmlns:a16="http://schemas.microsoft.com/office/drawing/2014/main" id="{FCEF979C-83BB-9403-A160-79975130A1E1}"/>
              </a:ext>
            </a:extLst>
          </p:cNvPr>
          <p:cNvSpPr/>
          <p:nvPr/>
        </p:nvSpPr>
        <p:spPr>
          <a:xfrm>
            <a:off x="7553458" y="2381137"/>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D</a:t>
            </a:r>
            <a:endParaRPr lang="zh-CN" altLang="en-US" sz="1000" b="1" dirty="0">
              <a:latin typeface="Arial" panose="020B0604020202020204" pitchFamily="34" charset="0"/>
              <a:ea typeface="微软雅黑" panose="020B0503020204020204" pitchFamily="34" charset="-122"/>
            </a:endParaRPr>
          </a:p>
        </p:txBody>
      </p:sp>
      <p:sp>
        <p:nvSpPr>
          <p:cNvPr id="57" name="矩形 56">
            <a:extLst>
              <a:ext uri="{FF2B5EF4-FFF2-40B4-BE49-F238E27FC236}">
                <a16:creationId xmlns:a16="http://schemas.microsoft.com/office/drawing/2014/main" id="{1606BA3C-9B21-B759-994B-09C28317A78A}"/>
              </a:ext>
            </a:extLst>
          </p:cNvPr>
          <p:cNvSpPr/>
          <p:nvPr/>
        </p:nvSpPr>
        <p:spPr>
          <a:xfrm>
            <a:off x="8285404" y="2383284"/>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E</a:t>
            </a:r>
            <a:endParaRPr lang="zh-CN" altLang="en-US" sz="1000" b="1" dirty="0">
              <a:latin typeface="Arial" panose="020B0604020202020204" pitchFamily="34" charset="0"/>
              <a:ea typeface="微软雅黑" panose="020B0503020204020204" pitchFamily="34" charset="-122"/>
            </a:endParaRPr>
          </a:p>
        </p:txBody>
      </p:sp>
      <p:sp>
        <p:nvSpPr>
          <p:cNvPr id="58" name="矩形 57">
            <a:extLst>
              <a:ext uri="{FF2B5EF4-FFF2-40B4-BE49-F238E27FC236}">
                <a16:creationId xmlns:a16="http://schemas.microsoft.com/office/drawing/2014/main" id="{F3EA19F7-D72D-09BF-7D34-8CDC0E80D6A5}"/>
              </a:ext>
            </a:extLst>
          </p:cNvPr>
          <p:cNvSpPr/>
          <p:nvPr/>
        </p:nvSpPr>
        <p:spPr>
          <a:xfrm>
            <a:off x="9186934" y="2381137"/>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latin typeface="Arial" panose="020B0604020202020204" pitchFamily="34" charset="0"/>
                <a:ea typeface="微软雅黑" panose="020B0503020204020204" pitchFamily="34" charset="-122"/>
              </a:rPr>
              <a:t>F</a:t>
            </a:r>
            <a:endParaRPr lang="zh-CN" altLang="en-US" sz="1000" b="1" dirty="0">
              <a:latin typeface="Arial" panose="020B0604020202020204" pitchFamily="34" charset="0"/>
              <a:ea typeface="微软雅黑" panose="020B0503020204020204" pitchFamily="34" charset="-122"/>
            </a:endParaRPr>
          </a:p>
        </p:txBody>
      </p:sp>
      <p:cxnSp>
        <p:nvCxnSpPr>
          <p:cNvPr id="59" name="连接符: 肘形 58">
            <a:extLst>
              <a:ext uri="{FF2B5EF4-FFF2-40B4-BE49-F238E27FC236}">
                <a16:creationId xmlns:a16="http://schemas.microsoft.com/office/drawing/2014/main" id="{E6228760-92C0-D605-7828-31013D3E190E}"/>
              </a:ext>
            </a:extLst>
          </p:cNvPr>
          <p:cNvCxnSpPr>
            <a:stCxn id="52" idx="2"/>
            <a:endCxn id="53" idx="0"/>
          </p:cNvCxnSpPr>
          <p:nvPr/>
        </p:nvCxnSpPr>
        <p:spPr>
          <a:xfrm rot="5400000">
            <a:off x="7628587" y="978412"/>
            <a:ext cx="319825" cy="845715"/>
          </a:xfrm>
          <a:prstGeom prst="bentConnector3">
            <a:avLst/>
          </a:prstGeom>
        </p:spPr>
        <p:style>
          <a:lnRef idx="1">
            <a:schemeClr val="accent1"/>
          </a:lnRef>
          <a:fillRef idx="0">
            <a:schemeClr val="accent1"/>
          </a:fillRef>
          <a:effectRef idx="0">
            <a:schemeClr val="accent1"/>
          </a:effectRef>
          <a:fontRef idx="minor">
            <a:schemeClr val="tx1"/>
          </a:fontRef>
        </p:style>
      </p:cxnSp>
      <p:cxnSp>
        <p:nvCxnSpPr>
          <p:cNvPr id="60" name="连接符: 肘形 59">
            <a:extLst>
              <a:ext uri="{FF2B5EF4-FFF2-40B4-BE49-F238E27FC236}">
                <a16:creationId xmlns:a16="http://schemas.microsoft.com/office/drawing/2014/main" id="{F701AE1A-18FA-9E36-BC0F-9DCF72E0DC72}"/>
              </a:ext>
            </a:extLst>
          </p:cNvPr>
          <p:cNvCxnSpPr>
            <a:cxnSpLocks/>
            <a:stCxn id="52" idx="2"/>
            <a:endCxn id="54" idx="0"/>
          </p:cNvCxnSpPr>
          <p:nvPr/>
        </p:nvCxnSpPr>
        <p:spPr>
          <a:xfrm rot="16200000" flipH="1">
            <a:off x="8432443" y="1020270"/>
            <a:ext cx="326264" cy="768438"/>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61" name="连接符: 肘形 60">
            <a:extLst>
              <a:ext uri="{FF2B5EF4-FFF2-40B4-BE49-F238E27FC236}">
                <a16:creationId xmlns:a16="http://schemas.microsoft.com/office/drawing/2014/main" id="{0C5C0FCF-2962-9608-937E-6E4327408EB0}"/>
              </a:ext>
            </a:extLst>
          </p:cNvPr>
          <p:cNvCxnSpPr>
            <a:cxnSpLocks/>
            <a:stCxn id="53" idx="2"/>
            <a:endCxn id="55" idx="0"/>
          </p:cNvCxnSpPr>
          <p:nvPr/>
        </p:nvCxnSpPr>
        <p:spPr>
          <a:xfrm rot="5400000">
            <a:off x="6892338" y="1909980"/>
            <a:ext cx="487251" cy="459357"/>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62" name="连接符: 肘形 61">
            <a:extLst>
              <a:ext uri="{FF2B5EF4-FFF2-40B4-BE49-F238E27FC236}">
                <a16:creationId xmlns:a16="http://schemas.microsoft.com/office/drawing/2014/main" id="{184D4BE6-2949-F847-981B-21B63DC3A139}"/>
              </a:ext>
            </a:extLst>
          </p:cNvPr>
          <p:cNvCxnSpPr>
            <a:cxnSpLocks/>
            <a:stCxn id="53" idx="2"/>
            <a:endCxn id="56" idx="0"/>
          </p:cNvCxnSpPr>
          <p:nvPr/>
        </p:nvCxnSpPr>
        <p:spPr>
          <a:xfrm rot="16200000" flipH="1">
            <a:off x="7350616" y="1911058"/>
            <a:ext cx="485104" cy="455054"/>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63" name="连接符: 肘形 62">
            <a:extLst>
              <a:ext uri="{FF2B5EF4-FFF2-40B4-BE49-F238E27FC236}">
                <a16:creationId xmlns:a16="http://schemas.microsoft.com/office/drawing/2014/main" id="{337088C2-A19E-8E57-0E4F-307B32109F60}"/>
              </a:ext>
            </a:extLst>
          </p:cNvPr>
          <p:cNvCxnSpPr>
            <a:cxnSpLocks/>
          </p:cNvCxnSpPr>
          <p:nvPr/>
        </p:nvCxnSpPr>
        <p:spPr>
          <a:xfrm rot="5400000">
            <a:off x="8506491" y="1931446"/>
            <a:ext cx="487251" cy="459357"/>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64" name="连接符: 肘形 63">
            <a:extLst>
              <a:ext uri="{FF2B5EF4-FFF2-40B4-BE49-F238E27FC236}">
                <a16:creationId xmlns:a16="http://schemas.microsoft.com/office/drawing/2014/main" id="{2B157E8A-AD43-8747-7205-1C90BD94F8D5}"/>
              </a:ext>
            </a:extLst>
          </p:cNvPr>
          <p:cNvCxnSpPr>
            <a:cxnSpLocks/>
            <a:stCxn id="54" idx="2"/>
            <a:endCxn id="58" idx="0"/>
          </p:cNvCxnSpPr>
          <p:nvPr/>
        </p:nvCxnSpPr>
        <p:spPr>
          <a:xfrm rot="16200000" flipH="1">
            <a:off x="8977650" y="1904615"/>
            <a:ext cx="478665" cy="474377"/>
          </a:xfrm>
          <a:prstGeom prst="bentConnector3">
            <a:avLst>
              <a:gd name="adj1" fmla="val 54036"/>
            </a:avLst>
          </a:prstGeom>
        </p:spPr>
        <p:style>
          <a:lnRef idx="1">
            <a:schemeClr val="accent1"/>
          </a:lnRef>
          <a:fillRef idx="0">
            <a:schemeClr val="accent1"/>
          </a:fillRef>
          <a:effectRef idx="0">
            <a:schemeClr val="accent1"/>
          </a:effectRef>
          <a:fontRef idx="minor">
            <a:schemeClr val="tx1"/>
          </a:fontRef>
        </p:style>
      </p:cxnSp>
      <p:sp>
        <p:nvSpPr>
          <p:cNvPr id="67" name="文本框 66">
            <a:extLst>
              <a:ext uri="{FF2B5EF4-FFF2-40B4-BE49-F238E27FC236}">
                <a16:creationId xmlns:a16="http://schemas.microsoft.com/office/drawing/2014/main" id="{ED732885-75EA-E450-147E-78A68ED81679}"/>
              </a:ext>
            </a:extLst>
          </p:cNvPr>
          <p:cNvSpPr txBox="1"/>
          <p:nvPr/>
        </p:nvSpPr>
        <p:spPr>
          <a:xfrm>
            <a:off x="4243593" y="906506"/>
            <a:ext cx="759849"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Site1</a:t>
            </a:r>
            <a:endParaRPr lang="zh-CN" altLang="en-US" dirty="0">
              <a:latin typeface="Arial" panose="020B0604020202020204" pitchFamily="34" charset="0"/>
              <a:ea typeface="微软雅黑" panose="020B0503020204020204" pitchFamily="34" charset="-122"/>
            </a:endParaRPr>
          </a:p>
        </p:txBody>
      </p:sp>
      <p:sp>
        <p:nvSpPr>
          <p:cNvPr id="68" name="文本框 67">
            <a:extLst>
              <a:ext uri="{FF2B5EF4-FFF2-40B4-BE49-F238E27FC236}">
                <a16:creationId xmlns:a16="http://schemas.microsoft.com/office/drawing/2014/main" id="{02F091B4-C07A-1D9E-58EC-4539895C5CD8}"/>
              </a:ext>
            </a:extLst>
          </p:cNvPr>
          <p:cNvSpPr txBox="1"/>
          <p:nvPr/>
        </p:nvSpPr>
        <p:spPr>
          <a:xfrm>
            <a:off x="9247030" y="904291"/>
            <a:ext cx="759849" cy="369332"/>
          </a:xfrm>
          <a:prstGeom prst="rect">
            <a:avLst/>
          </a:prstGeom>
          <a:noFill/>
        </p:spPr>
        <p:txBody>
          <a:bodyPr wrap="square" rtlCol="0">
            <a:spAutoFit/>
          </a:bodyPr>
          <a:lstStyle/>
          <a:p>
            <a:r>
              <a:rPr lang="en-US" altLang="zh-CN" dirty="0">
                <a:latin typeface="Arial" panose="020B0604020202020204" pitchFamily="34" charset="0"/>
                <a:ea typeface="微软雅黑" panose="020B0503020204020204" pitchFamily="34" charset="-122"/>
              </a:rPr>
              <a:t>Site2</a:t>
            </a:r>
            <a:endParaRPr lang="zh-CN" altLang="en-US" dirty="0">
              <a:latin typeface="Arial" panose="020B0604020202020204" pitchFamily="34" charset="0"/>
              <a:ea typeface="微软雅黑" panose="020B0503020204020204" pitchFamily="34" charset="-122"/>
            </a:endParaRPr>
          </a:p>
        </p:txBody>
      </p:sp>
      <p:graphicFrame>
        <p:nvGraphicFramePr>
          <p:cNvPr id="69" name="表格 68">
            <a:extLst>
              <a:ext uri="{FF2B5EF4-FFF2-40B4-BE49-F238E27FC236}">
                <a16:creationId xmlns:a16="http://schemas.microsoft.com/office/drawing/2014/main" id="{D158AA7D-E869-D941-8EFF-AEBF4342F88B}"/>
              </a:ext>
            </a:extLst>
          </p:cNvPr>
          <p:cNvGraphicFramePr>
            <a:graphicFrameLocks noGrp="1"/>
          </p:cNvGraphicFramePr>
          <p:nvPr>
            <p:extLst>
              <p:ext uri="{D42A27DB-BD31-4B8C-83A1-F6EECF244321}">
                <p14:modId xmlns:p14="http://schemas.microsoft.com/office/powerpoint/2010/main" val="3733583907"/>
              </p:ext>
            </p:extLst>
          </p:nvPr>
        </p:nvGraphicFramePr>
        <p:xfrm>
          <a:off x="395166" y="2926663"/>
          <a:ext cx="11115951" cy="3886200"/>
        </p:xfrm>
        <a:graphic>
          <a:graphicData uri="http://schemas.openxmlformats.org/drawingml/2006/table">
            <a:tbl>
              <a:tblPr firstRow="1" bandRow="1">
                <a:tableStyleId>{69012ECD-51FC-41F1-AA8D-1B2483CD663E}</a:tableStyleId>
              </a:tblPr>
              <a:tblGrid>
                <a:gridCol w="2549727">
                  <a:extLst>
                    <a:ext uri="{9D8B030D-6E8A-4147-A177-3AD203B41FA5}">
                      <a16:colId xmlns:a16="http://schemas.microsoft.com/office/drawing/2014/main" val="2126420937"/>
                    </a:ext>
                  </a:extLst>
                </a:gridCol>
                <a:gridCol w="2549727">
                  <a:extLst>
                    <a:ext uri="{9D8B030D-6E8A-4147-A177-3AD203B41FA5}">
                      <a16:colId xmlns:a16="http://schemas.microsoft.com/office/drawing/2014/main" val="867906005"/>
                    </a:ext>
                  </a:extLst>
                </a:gridCol>
                <a:gridCol w="2005499">
                  <a:extLst>
                    <a:ext uri="{9D8B030D-6E8A-4147-A177-3AD203B41FA5}">
                      <a16:colId xmlns:a16="http://schemas.microsoft.com/office/drawing/2014/main" val="2354012421"/>
                    </a:ext>
                  </a:extLst>
                </a:gridCol>
                <a:gridCol w="2005499">
                  <a:extLst>
                    <a:ext uri="{9D8B030D-6E8A-4147-A177-3AD203B41FA5}">
                      <a16:colId xmlns:a16="http://schemas.microsoft.com/office/drawing/2014/main" val="1314408603"/>
                    </a:ext>
                  </a:extLst>
                </a:gridCol>
                <a:gridCol w="2005499">
                  <a:extLst>
                    <a:ext uri="{9D8B030D-6E8A-4147-A177-3AD203B41FA5}">
                      <a16:colId xmlns:a16="http://schemas.microsoft.com/office/drawing/2014/main" val="3062802097"/>
                    </a:ext>
                  </a:extLst>
                </a:gridCol>
              </a:tblGrid>
              <a:tr h="197591">
                <a:tc>
                  <a:txBody>
                    <a:bodyPr/>
                    <a:lstStyle/>
                    <a:p>
                      <a:r>
                        <a:rPr lang="en-US" altLang="zh-CN" sz="1100" b="1" dirty="0">
                          <a:solidFill>
                            <a:schemeClr val="bg1"/>
                          </a:solidFill>
                        </a:rPr>
                        <a:t>Request Qty</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1" dirty="0">
                          <a:solidFill>
                            <a:schemeClr val="bg1"/>
                          </a:solidFill>
                        </a:rPr>
                        <a:t>Site</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1" dirty="0">
                          <a:solidFill>
                            <a:schemeClr val="bg1"/>
                          </a:solidFill>
                        </a:rPr>
                        <a:t>Material</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1" dirty="0">
                          <a:solidFill>
                            <a:schemeClr val="bg1"/>
                          </a:solidFill>
                        </a:rPr>
                        <a:t>OH</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1" dirty="0">
                          <a:solidFill>
                            <a:schemeClr val="bg1"/>
                          </a:solidFill>
                        </a:rPr>
                        <a:t>SR</a:t>
                      </a:r>
                      <a:endParaRPr lang="zh-CN" altLang="en-US" sz="1100" b="1"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42088838"/>
                  </a:ext>
                </a:extLst>
              </a:tr>
              <a:tr h="197591">
                <a:tc>
                  <a:txBody>
                    <a:bodyPr/>
                    <a:lstStyle/>
                    <a:p>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Site1</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FG</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20</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166504362"/>
                  </a:ext>
                </a:extLst>
              </a:tr>
              <a:tr h="197591">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Site1</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A</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30</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936823452"/>
                  </a:ext>
                </a:extLst>
              </a:tr>
              <a:tr h="197591">
                <a:tc>
                  <a:txBody>
                    <a:bodyPr/>
                    <a:lstStyle/>
                    <a:p>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Site1</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B</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50</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654399965"/>
                  </a:ext>
                </a:extLst>
              </a:tr>
              <a:tr h="197591">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0" dirty="0">
                          <a:solidFill>
                            <a:schemeClr val="bg1"/>
                          </a:solidFill>
                        </a:rPr>
                        <a:t>Site1</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C</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20</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58863721"/>
                  </a:ext>
                </a:extLst>
              </a:tr>
              <a:tr h="197591">
                <a:tc>
                  <a:txBody>
                    <a:bodyPr/>
                    <a:lstStyle/>
                    <a:p>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0" dirty="0">
                          <a:solidFill>
                            <a:schemeClr val="bg1"/>
                          </a:solidFill>
                        </a:rPr>
                        <a:t>Site1</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D</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20</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433189271"/>
                  </a:ext>
                </a:extLst>
              </a:tr>
              <a:tr h="197591">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0" dirty="0">
                          <a:solidFill>
                            <a:schemeClr val="bg1"/>
                          </a:solidFill>
                        </a:rPr>
                        <a:t>Site1</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E</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20</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112474250"/>
                  </a:ext>
                </a:extLst>
              </a:tr>
              <a:tr h="197591">
                <a:tc>
                  <a:txBody>
                    <a:bodyPr/>
                    <a:lstStyle/>
                    <a:p>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0" dirty="0">
                          <a:solidFill>
                            <a:schemeClr val="bg1"/>
                          </a:solidFill>
                        </a:rPr>
                        <a:t>Site1</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F</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420695882"/>
                  </a:ext>
                </a:extLst>
              </a:tr>
              <a:tr h="197591">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Site2</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FG</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30</a:t>
                      </a:r>
                      <a:endParaRPr lang="zh-CN" altLang="en-US" sz="1100" b="0"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827940667"/>
                  </a:ext>
                </a:extLst>
              </a:tr>
              <a:tr h="197591">
                <a:tc>
                  <a:txBody>
                    <a:bodyPr/>
                    <a:lstStyle/>
                    <a:p>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0" dirty="0">
                          <a:solidFill>
                            <a:schemeClr val="bg1"/>
                          </a:solidFill>
                        </a:rPr>
                        <a:t>Site2</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A</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018376930"/>
                  </a:ext>
                </a:extLst>
              </a:tr>
              <a:tr h="197591">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Site2</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B</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939916799"/>
                  </a:ext>
                </a:extLst>
              </a:tr>
              <a:tr h="197591">
                <a:tc>
                  <a:txBody>
                    <a:bodyPr/>
                    <a:lstStyle/>
                    <a:p>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0" dirty="0">
                          <a:solidFill>
                            <a:schemeClr val="bg1"/>
                          </a:solidFill>
                        </a:rPr>
                        <a:t>Site2</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C</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30</a:t>
                      </a:r>
                      <a:endParaRPr lang="zh-CN" altLang="en-US" sz="1100" b="0"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289057886"/>
                  </a:ext>
                </a:extLst>
              </a:tr>
              <a:tr h="197591">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Site2</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D</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30</a:t>
                      </a:r>
                      <a:endParaRPr lang="zh-CN" altLang="en-US" sz="1100" b="0"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988773222"/>
                  </a:ext>
                </a:extLst>
              </a:tr>
              <a:tr h="197591">
                <a:tc>
                  <a:txBody>
                    <a:bodyPr/>
                    <a:lstStyle/>
                    <a:p>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0" dirty="0">
                          <a:solidFill>
                            <a:schemeClr val="bg1"/>
                          </a:solidFill>
                        </a:rPr>
                        <a:t>Site2</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E</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50</a:t>
                      </a:r>
                      <a:endParaRPr lang="zh-CN" altLang="en-US" sz="1100" b="0"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951093451"/>
                  </a:ext>
                </a:extLst>
              </a:tr>
              <a:tr h="197591">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100" b="1" dirty="0">
                          <a:solidFill>
                            <a:schemeClr val="bg1"/>
                          </a:solidFill>
                        </a:rPr>
                        <a:t>100</a:t>
                      </a:r>
                      <a:endParaRPr lang="zh-CN" altLang="en-US" sz="1100" b="1"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Site2</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F</a:t>
                      </a:r>
                      <a:endParaRPr lang="zh-CN" altLang="en-US" sz="1100" b="0" dirty="0">
                        <a:solidFill>
                          <a:schemeClr val="bg1"/>
                        </a:solidFill>
                        <a:latin typeface="Arial" panose="020B0604020202020204" pitchFamily="34" charset="0"/>
                        <a:ea typeface="微软雅黑" panose="020B0503020204020204" pitchFamily="34" charset="-122"/>
                      </a:endParaRPr>
                    </a:p>
                  </a:txBody>
                  <a:tcPr/>
                </a:tc>
                <a:tc>
                  <a:txBody>
                    <a:bodyPr/>
                    <a:lstStyle/>
                    <a:p>
                      <a:endParaRPr lang="zh-CN" altLang="en-US" sz="1100" b="0">
                        <a:solidFill>
                          <a:schemeClr val="bg1"/>
                        </a:solidFill>
                        <a:latin typeface="Arial" panose="020B0604020202020204" pitchFamily="34" charset="0"/>
                        <a:ea typeface="微软雅黑" panose="020B0503020204020204" pitchFamily="34" charset="-122"/>
                      </a:endParaRPr>
                    </a:p>
                  </a:txBody>
                  <a:tcPr/>
                </a:tc>
                <a:tc>
                  <a:txBody>
                    <a:bodyPr/>
                    <a:lstStyle/>
                    <a:p>
                      <a:r>
                        <a:rPr lang="en-US" altLang="zh-CN" sz="1100" b="0" dirty="0">
                          <a:solidFill>
                            <a:schemeClr val="bg1"/>
                          </a:solidFill>
                        </a:rPr>
                        <a:t>50</a:t>
                      </a:r>
                      <a:endParaRPr lang="zh-CN" altLang="en-US" sz="1100" b="0" dirty="0">
                        <a:solidFill>
                          <a:schemeClr val="bg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035689677"/>
                  </a:ext>
                </a:extLst>
              </a:tr>
            </a:tbl>
          </a:graphicData>
        </a:graphic>
      </p:graphicFrame>
      <p:cxnSp>
        <p:nvCxnSpPr>
          <p:cNvPr id="5" name="直接连接符 4">
            <a:extLst>
              <a:ext uri="{FF2B5EF4-FFF2-40B4-BE49-F238E27FC236}">
                <a16:creationId xmlns:a16="http://schemas.microsoft.com/office/drawing/2014/main" id="{524FB64F-8266-6FF8-CB9C-3A5B0E2F2949}"/>
              </a:ext>
            </a:extLst>
          </p:cNvPr>
          <p:cNvCxnSpPr/>
          <p:nvPr/>
        </p:nvCxnSpPr>
        <p:spPr>
          <a:xfrm>
            <a:off x="302342" y="1386348"/>
            <a:ext cx="11208774" cy="0"/>
          </a:xfrm>
          <a:prstGeom prst="line">
            <a:avLst/>
          </a:prstGeom>
          <a:ln>
            <a:headEnd type="none" w="med" len="med"/>
            <a:tailEnd type="none" w="med" len="med"/>
          </a:ln>
        </p:spPr>
        <p:style>
          <a:lnRef idx="1">
            <a:schemeClr val="accent3"/>
          </a:lnRef>
          <a:fillRef idx="0">
            <a:schemeClr val="accent3"/>
          </a:fillRef>
          <a:effectRef idx="0">
            <a:schemeClr val="accent3"/>
          </a:effectRef>
          <a:fontRef idx="minor">
            <a:schemeClr val="tx1"/>
          </a:fontRef>
        </p:style>
      </p:cxnSp>
      <p:cxnSp>
        <p:nvCxnSpPr>
          <p:cNvPr id="6" name="直接连接符 5">
            <a:extLst>
              <a:ext uri="{FF2B5EF4-FFF2-40B4-BE49-F238E27FC236}">
                <a16:creationId xmlns:a16="http://schemas.microsoft.com/office/drawing/2014/main" id="{0677C21E-A25A-7F08-FF65-1252FCA16336}"/>
              </a:ext>
            </a:extLst>
          </p:cNvPr>
          <p:cNvCxnSpPr/>
          <p:nvPr/>
        </p:nvCxnSpPr>
        <p:spPr>
          <a:xfrm>
            <a:off x="302342" y="2110248"/>
            <a:ext cx="11208774" cy="0"/>
          </a:xfrm>
          <a:prstGeom prst="line">
            <a:avLst/>
          </a:prstGeom>
          <a:ln>
            <a:headEnd type="none" w="med" len="med"/>
            <a:tailEnd type="none" w="med" len="med"/>
          </a:ln>
        </p:spPr>
        <p:style>
          <a:lnRef idx="1">
            <a:schemeClr val="accent3"/>
          </a:lnRef>
          <a:fillRef idx="0">
            <a:schemeClr val="accent3"/>
          </a:fillRef>
          <a:effectRef idx="0">
            <a:schemeClr val="accent3"/>
          </a:effectRef>
          <a:fontRef idx="minor">
            <a:schemeClr val="tx1"/>
          </a:fontRef>
        </p:style>
      </p:cxnSp>
      <p:cxnSp>
        <p:nvCxnSpPr>
          <p:cNvPr id="7" name="直接连接符 6">
            <a:extLst>
              <a:ext uri="{FF2B5EF4-FFF2-40B4-BE49-F238E27FC236}">
                <a16:creationId xmlns:a16="http://schemas.microsoft.com/office/drawing/2014/main" id="{D05C0025-1256-A274-823C-F8045382DDE1}"/>
              </a:ext>
            </a:extLst>
          </p:cNvPr>
          <p:cNvCxnSpPr/>
          <p:nvPr/>
        </p:nvCxnSpPr>
        <p:spPr>
          <a:xfrm>
            <a:off x="302342" y="2849388"/>
            <a:ext cx="11208774" cy="0"/>
          </a:xfrm>
          <a:prstGeom prst="line">
            <a:avLst/>
          </a:prstGeom>
          <a:ln w="9525" cap="flat" cmpd="sng" algn="ctr">
            <a:solidFill>
              <a:schemeClr val="tx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8" name="文本框 7">
            <a:extLst>
              <a:ext uri="{FF2B5EF4-FFF2-40B4-BE49-F238E27FC236}">
                <a16:creationId xmlns:a16="http://schemas.microsoft.com/office/drawing/2014/main" id="{2ADCF067-659B-737B-88F8-253B3735BA75}"/>
              </a:ext>
            </a:extLst>
          </p:cNvPr>
          <p:cNvSpPr txBox="1"/>
          <p:nvPr/>
        </p:nvSpPr>
        <p:spPr>
          <a:xfrm>
            <a:off x="302342" y="990600"/>
            <a:ext cx="1465498" cy="276999"/>
          </a:xfrm>
          <a:prstGeom prst="rect">
            <a:avLst/>
          </a:prstGeom>
          <a:noFill/>
        </p:spPr>
        <p:txBody>
          <a:bodyPr wrap="square" rtlCol="0">
            <a:spAutoFit/>
          </a:bodyPr>
          <a:lstStyle/>
          <a:p>
            <a:r>
              <a:rPr lang="en-US" altLang="zh-CN" sz="1200" dirty="0">
                <a:solidFill>
                  <a:schemeClr val="bg1"/>
                </a:solidFill>
                <a:latin typeface="Arial" panose="020B0604020202020204" pitchFamily="34" charset="0"/>
                <a:ea typeface="微软雅黑" panose="020B0503020204020204" pitchFamily="34" charset="-122"/>
              </a:rPr>
              <a:t>Level 0</a:t>
            </a:r>
            <a:endParaRPr lang="zh-CN" altLang="en-US" sz="1200" dirty="0">
              <a:solidFill>
                <a:schemeClr val="bg1"/>
              </a:solidFill>
              <a:latin typeface="Arial" panose="020B0604020202020204" pitchFamily="34" charset="0"/>
              <a:ea typeface="微软雅黑" panose="020B0503020204020204" pitchFamily="34" charset="-122"/>
            </a:endParaRPr>
          </a:p>
        </p:txBody>
      </p:sp>
      <p:sp>
        <p:nvSpPr>
          <p:cNvPr id="9" name="文本框 8">
            <a:extLst>
              <a:ext uri="{FF2B5EF4-FFF2-40B4-BE49-F238E27FC236}">
                <a16:creationId xmlns:a16="http://schemas.microsoft.com/office/drawing/2014/main" id="{2875A846-C0F9-06E5-798C-B456F7A0D87D}"/>
              </a:ext>
            </a:extLst>
          </p:cNvPr>
          <p:cNvSpPr txBox="1"/>
          <p:nvPr/>
        </p:nvSpPr>
        <p:spPr>
          <a:xfrm>
            <a:off x="281193" y="1726141"/>
            <a:ext cx="1465498" cy="276999"/>
          </a:xfrm>
          <a:prstGeom prst="rect">
            <a:avLst/>
          </a:prstGeom>
          <a:noFill/>
        </p:spPr>
        <p:txBody>
          <a:bodyPr wrap="square" rtlCol="0">
            <a:spAutoFit/>
          </a:bodyPr>
          <a:lstStyle/>
          <a:p>
            <a:r>
              <a:rPr lang="en-US" altLang="zh-CN" sz="1200" dirty="0">
                <a:solidFill>
                  <a:schemeClr val="bg1"/>
                </a:solidFill>
                <a:latin typeface="Arial" panose="020B0604020202020204" pitchFamily="34" charset="0"/>
                <a:ea typeface="微软雅黑" panose="020B0503020204020204" pitchFamily="34" charset="-122"/>
              </a:rPr>
              <a:t>Level 1</a:t>
            </a:r>
            <a:endParaRPr lang="zh-CN" altLang="en-US" sz="1200" dirty="0">
              <a:solidFill>
                <a:schemeClr val="bg1"/>
              </a:solidFill>
              <a:latin typeface="Arial" panose="020B0604020202020204" pitchFamily="34" charset="0"/>
              <a:ea typeface="微软雅黑" panose="020B0503020204020204" pitchFamily="34" charset="-122"/>
            </a:endParaRPr>
          </a:p>
        </p:txBody>
      </p:sp>
      <p:sp>
        <p:nvSpPr>
          <p:cNvPr id="10" name="文本框 9">
            <a:extLst>
              <a:ext uri="{FF2B5EF4-FFF2-40B4-BE49-F238E27FC236}">
                <a16:creationId xmlns:a16="http://schemas.microsoft.com/office/drawing/2014/main" id="{CD5461D2-FC8C-6026-20E7-3DAF654F8850}"/>
              </a:ext>
            </a:extLst>
          </p:cNvPr>
          <p:cNvSpPr txBox="1"/>
          <p:nvPr/>
        </p:nvSpPr>
        <p:spPr>
          <a:xfrm>
            <a:off x="281193" y="2440594"/>
            <a:ext cx="1465498" cy="276999"/>
          </a:xfrm>
          <a:prstGeom prst="rect">
            <a:avLst/>
          </a:prstGeom>
          <a:noFill/>
        </p:spPr>
        <p:txBody>
          <a:bodyPr wrap="square" rtlCol="0">
            <a:spAutoFit/>
          </a:bodyPr>
          <a:lstStyle/>
          <a:p>
            <a:r>
              <a:rPr lang="en-US" altLang="zh-CN" sz="1200" dirty="0">
                <a:solidFill>
                  <a:schemeClr val="bg1"/>
                </a:solidFill>
                <a:latin typeface="Arial" panose="020B0604020202020204" pitchFamily="34" charset="0"/>
                <a:ea typeface="微软雅黑" panose="020B0503020204020204" pitchFamily="34" charset="-122"/>
              </a:rPr>
              <a:t>Level 2</a:t>
            </a:r>
            <a:endParaRPr lang="zh-CN" altLang="en-US" sz="1200" dirty="0">
              <a:solidFill>
                <a:schemeClr val="bg1"/>
              </a:solidFill>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886336720"/>
      </p:ext>
    </p:extLst>
  </p:cSld>
  <p:clrMapOvr>
    <a:overrideClrMapping bg1="dk1" tx1="lt1" bg2="dk2" tx2="lt2" accent1="accent1" accent2="accent2" accent3="accent3" accent4="accent4" accent5="accent5" accent6="accent6" hlink="hlink" folHlink="folHlink"/>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C0838B-3BE2-FD60-8CBD-08FAC5F1AF59}"/>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26F0154D-4D9C-F880-1B8F-06701A62EE9B}"/>
              </a:ext>
            </a:extLst>
          </p:cNvPr>
          <p:cNvSpPr>
            <a:spLocks noGrp="1"/>
          </p:cNvSpPr>
          <p:nvPr>
            <p:ph type="title"/>
          </p:nvPr>
        </p:nvSpPr>
        <p:spPr>
          <a:xfrm>
            <a:off x="609600" y="332635"/>
            <a:ext cx="10972800" cy="478247"/>
          </a:xfrm>
        </p:spPr>
        <p:txBody>
          <a:bodyPr>
            <a:normAutofit/>
          </a:bodyPr>
          <a:lstStyle/>
          <a:p>
            <a:r>
              <a:rPr lang="zh-CN" altLang="en-US" sz="2800" b="1" dirty="0">
                <a:solidFill>
                  <a:schemeClr val="bg1"/>
                </a:solidFill>
                <a:latin typeface="Arial" panose="020B0604020202020204" pitchFamily="34" charset="0"/>
                <a:ea typeface="微软雅黑" panose="020B0503020204020204" pitchFamily="34" charset="-122"/>
              </a:rPr>
              <a:t>跨工厂 </a:t>
            </a:r>
            <a:r>
              <a:rPr lang="en-US" altLang="zh-CN" sz="2800" b="1" dirty="0">
                <a:solidFill>
                  <a:schemeClr val="bg1"/>
                </a:solidFill>
                <a:latin typeface="Arial" panose="020B0604020202020204" pitchFamily="34" charset="0"/>
                <a:ea typeface="微软雅黑" panose="020B0503020204020204" pitchFamily="34" charset="-122"/>
              </a:rPr>
              <a:t>– </a:t>
            </a:r>
            <a:r>
              <a:rPr lang="en-US" altLang="zh-CN" sz="2800" dirty="0">
                <a:solidFill>
                  <a:schemeClr val="bg1"/>
                </a:solidFill>
                <a:latin typeface="Arial" panose="020B0604020202020204" pitchFamily="34" charset="0"/>
                <a:ea typeface="微软雅黑" panose="020B0503020204020204" pitchFamily="34" charset="-122"/>
              </a:rPr>
              <a:t>By</a:t>
            </a:r>
            <a:r>
              <a:rPr lang="zh-CN" altLang="en-US" sz="2800" dirty="0">
                <a:solidFill>
                  <a:schemeClr val="bg1"/>
                </a:solidFill>
                <a:latin typeface="Arial" panose="020B0604020202020204" pitchFamily="34" charset="0"/>
                <a:ea typeface="微软雅黑" panose="020B0503020204020204" pitchFamily="34" charset="-122"/>
              </a:rPr>
              <a:t> </a:t>
            </a:r>
            <a:r>
              <a:rPr lang="en-US" altLang="zh-CN" sz="2800" dirty="0">
                <a:solidFill>
                  <a:schemeClr val="bg1"/>
                </a:solidFill>
                <a:latin typeface="Arial" panose="020B0604020202020204" pitchFamily="34" charset="0"/>
                <a:ea typeface="微软雅黑" panose="020B0503020204020204" pitchFamily="34" charset="-122"/>
              </a:rPr>
              <a:t>Level</a:t>
            </a:r>
            <a:endParaRPr lang="zh-CN" altLang="en-US" sz="2800" b="1" dirty="0">
              <a:solidFill>
                <a:schemeClr val="bg1"/>
              </a:solidFill>
              <a:latin typeface="Arial" panose="020B0604020202020204" pitchFamily="34" charset="0"/>
              <a:ea typeface="微软雅黑" panose="020B0503020204020204" pitchFamily="34" charset="-122"/>
            </a:endParaRPr>
          </a:p>
        </p:txBody>
      </p:sp>
      <p:sp>
        <p:nvSpPr>
          <p:cNvPr id="29" name="矩形 28">
            <a:extLst>
              <a:ext uri="{FF2B5EF4-FFF2-40B4-BE49-F238E27FC236}">
                <a16:creationId xmlns:a16="http://schemas.microsoft.com/office/drawing/2014/main" id="{BCEF7F40-B0F5-909F-0D8C-7EBC01A39CAF}"/>
              </a:ext>
            </a:extLst>
          </p:cNvPr>
          <p:cNvSpPr/>
          <p:nvPr/>
        </p:nvSpPr>
        <p:spPr>
          <a:xfrm>
            <a:off x="3000778" y="906506"/>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FG</a:t>
            </a:r>
            <a:endParaRPr lang="zh-CN" altLang="en-US" sz="1000" b="1" dirty="0">
              <a:solidFill>
                <a:schemeClr val="bg1"/>
              </a:solidFill>
              <a:latin typeface="Arial" panose="020B0604020202020204" pitchFamily="34" charset="0"/>
              <a:ea typeface="微软雅黑" panose="020B0503020204020204" pitchFamily="34" charset="-122"/>
            </a:endParaRPr>
          </a:p>
        </p:txBody>
      </p:sp>
      <p:sp>
        <p:nvSpPr>
          <p:cNvPr id="30" name="矩形 29">
            <a:extLst>
              <a:ext uri="{FF2B5EF4-FFF2-40B4-BE49-F238E27FC236}">
                <a16:creationId xmlns:a16="http://schemas.microsoft.com/office/drawing/2014/main" id="{4BC05DE2-9251-EAA8-2577-AB989C70A398}"/>
              </a:ext>
            </a:extLst>
          </p:cNvPr>
          <p:cNvSpPr/>
          <p:nvPr/>
        </p:nvSpPr>
        <p:spPr>
          <a:xfrm>
            <a:off x="2155063" y="1561182"/>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A</a:t>
            </a:r>
            <a:endParaRPr lang="zh-CN" altLang="en-US" sz="1000" b="1" dirty="0">
              <a:solidFill>
                <a:schemeClr val="bg1"/>
              </a:solidFill>
              <a:latin typeface="Arial" panose="020B0604020202020204" pitchFamily="34" charset="0"/>
              <a:ea typeface="微软雅黑" panose="020B0503020204020204" pitchFamily="34" charset="-122"/>
            </a:endParaRPr>
          </a:p>
        </p:txBody>
      </p:sp>
      <p:sp>
        <p:nvSpPr>
          <p:cNvPr id="31" name="矩形 30">
            <a:extLst>
              <a:ext uri="{FF2B5EF4-FFF2-40B4-BE49-F238E27FC236}">
                <a16:creationId xmlns:a16="http://schemas.microsoft.com/office/drawing/2014/main" id="{305CCC9A-2A4B-824B-C3C0-02E81B28AA81}"/>
              </a:ext>
            </a:extLst>
          </p:cNvPr>
          <p:cNvSpPr/>
          <p:nvPr/>
        </p:nvSpPr>
        <p:spPr>
          <a:xfrm>
            <a:off x="3769216" y="1567621"/>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B</a:t>
            </a:r>
            <a:endParaRPr lang="zh-CN" altLang="en-US" sz="1000" b="1" dirty="0">
              <a:solidFill>
                <a:schemeClr val="bg1"/>
              </a:solidFill>
              <a:latin typeface="Arial" panose="020B0604020202020204" pitchFamily="34" charset="0"/>
              <a:ea typeface="微软雅黑" panose="020B0503020204020204" pitchFamily="34" charset="-122"/>
            </a:endParaRPr>
          </a:p>
        </p:txBody>
      </p:sp>
      <p:sp>
        <p:nvSpPr>
          <p:cNvPr id="32" name="矩形 31">
            <a:extLst>
              <a:ext uri="{FF2B5EF4-FFF2-40B4-BE49-F238E27FC236}">
                <a16:creationId xmlns:a16="http://schemas.microsoft.com/office/drawing/2014/main" id="{8E211460-9001-58BD-81C9-CF75754680AF}"/>
              </a:ext>
            </a:extLst>
          </p:cNvPr>
          <p:cNvSpPr/>
          <p:nvPr/>
        </p:nvSpPr>
        <p:spPr>
          <a:xfrm>
            <a:off x="1695706" y="2383284"/>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C</a:t>
            </a:r>
            <a:endParaRPr lang="zh-CN" altLang="en-US" sz="1000" b="1" dirty="0">
              <a:solidFill>
                <a:schemeClr val="bg1"/>
              </a:solidFill>
              <a:latin typeface="Arial" panose="020B0604020202020204" pitchFamily="34" charset="0"/>
              <a:ea typeface="微软雅黑" panose="020B0503020204020204" pitchFamily="34" charset="-122"/>
            </a:endParaRPr>
          </a:p>
        </p:txBody>
      </p:sp>
      <p:sp>
        <p:nvSpPr>
          <p:cNvPr id="33" name="矩形 32">
            <a:extLst>
              <a:ext uri="{FF2B5EF4-FFF2-40B4-BE49-F238E27FC236}">
                <a16:creationId xmlns:a16="http://schemas.microsoft.com/office/drawing/2014/main" id="{A0117041-EBAE-6587-CD19-A1D47309AB26}"/>
              </a:ext>
            </a:extLst>
          </p:cNvPr>
          <p:cNvSpPr/>
          <p:nvPr/>
        </p:nvSpPr>
        <p:spPr>
          <a:xfrm>
            <a:off x="2610117" y="2381137"/>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D</a:t>
            </a:r>
            <a:endParaRPr lang="zh-CN" altLang="en-US" sz="1000" b="1" dirty="0">
              <a:solidFill>
                <a:schemeClr val="bg1"/>
              </a:solidFill>
              <a:latin typeface="Arial" panose="020B0604020202020204" pitchFamily="34" charset="0"/>
              <a:ea typeface="微软雅黑" panose="020B0503020204020204" pitchFamily="34" charset="-122"/>
            </a:endParaRPr>
          </a:p>
        </p:txBody>
      </p:sp>
      <p:sp>
        <p:nvSpPr>
          <p:cNvPr id="34" name="矩形 33">
            <a:extLst>
              <a:ext uri="{FF2B5EF4-FFF2-40B4-BE49-F238E27FC236}">
                <a16:creationId xmlns:a16="http://schemas.microsoft.com/office/drawing/2014/main" id="{53AC40B5-027B-410A-568F-8B00D435DD19}"/>
              </a:ext>
            </a:extLst>
          </p:cNvPr>
          <p:cNvSpPr/>
          <p:nvPr/>
        </p:nvSpPr>
        <p:spPr>
          <a:xfrm>
            <a:off x="3342063" y="2383284"/>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E</a:t>
            </a:r>
            <a:endParaRPr lang="zh-CN" altLang="en-US" sz="1000" b="1" dirty="0">
              <a:solidFill>
                <a:schemeClr val="bg1"/>
              </a:solidFill>
              <a:latin typeface="Arial" panose="020B0604020202020204" pitchFamily="34" charset="0"/>
              <a:ea typeface="微软雅黑" panose="020B0503020204020204" pitchFamily="34" charset="-122"/>
            </a:endParaRPr>
          </a:p>
        </p:txBody>
      </p:sp>
      <p:sp>
        <p:nvSpPr>
          <p:cNvPr id="35" name="矩形 34">
            <a:extLst>
              <a:ext uri="{FF2B5EF4-FFF2-40B4-BE49-F238E27FC236}">
                <a16:creationId xmlns:a16="http://schemas.microsoft.com/office/drawing/2014/main" id="{A58BE805-7D27-C5A0-B854-2931C3EAA2FA}"/>
              </a:ext>
            </a:extLst>
          </p:cNvPr>
          <p:cNvSpPr/>
          <p:nvPr/>
        </p:nvSpPr>
        <p:spPr>
          <a:xfrm>
            <a:off x="4243593" y="2381137"/>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F</a:t>
            </a:r>
            <a:endParaRPr lang="zh-CN" altLang="en-US" sz="1000" b="1" dirty="0">
              <a:solidFill>
                <a:schemeClr val="bg1"/>
              </a:solidFill>
              <a:latin typeface="Arial" panose="020B0604020202020204" pitchFamily="34" charset="0"/>
              <a:ea typeface="微软雅黑" panose="020B0503020204020204" pitchFamily="34" charset="-122"/>
            </a:endParaRPr>
          </a:p>
        </p:txBody>
      </p:sp>
      <p:cxnSp>
        <p:nvCxnSpPr>
          <p:cNvPr id="37" name="连接符: 肘形 36">
            <a:extLst>
              <a:ext uri="{FF2B5EF4-FFF2-40B4-BE49-F238E27FC236}">
                <a16:creationId xmlns:a16="http://schemas.microsoft.com/office/drawing/2014/main" id="{B81BC48B-EF9B-BCA0-8163-9386FC3F7DE4}"/>
              </a:ext>
            </a:extLst>
          </p:cNvPr>
          <p:cNvCxnSpPr>
            <a:stCxn id="29" idx="2"/>
            <a:endCxn id="30" idx="0"/>
          </p:cNvCxnSpPr>
          <p:nvPr/>
        </p:nvCxnSpPr>
        <p:spPr>
          <a:xfrm rot="5400000">
            <a:off x="2685246" y="978412"/>
            <a:ext cx="319825" cy="845715"/>
          </a:xfrm>
          <a:prstGeom prst="bentConnector3">
            <a:avLst/>
          </a:prstGeom>
        </p:spPr>
        <p:style>
          <a:lnRef idx="1">
            <a:schemeClr val="accent1"/>
          </a:lnRef>
          <a:fillRef idx="0">
            <a:schemeClr val="accent1"/>
          </a:fillRef>
          <a:effectRef idx="0">
            <a:schemeClr val="accent1"/>
          </a:effectRef>
          <a:fontRef idx="minor">
            <a:schemeClr val="tx1"/>
          </a:fontRef>
        </p:style>
      </p:cxnSp>
      <p:cxnSp>
        <p:nvCxnSpPr>
          <p:cNvPr id="38" name="连接符: 肘形 37">
            <a:extLst>
              <a:ext uri="{FF2B5EF4-FFF2-40B4-BE49-F238E27FC236}">
                <a16:creationId xmlns:a16="http://schemas.microsoft.com/office/drawing/2014/main" id="{221EAF9D-687B-7E7A-FC7C-64FC31DA42CB}"/>
              </a:ext>
            </a:extLst>
          </p:cNvPr>
          <p:cNvCxnSpPr>
            <a:cxnSpLocks/>
            <a:stCxn id="29" idx="2"/>
            <a:endCxn id="31" idx="0"/>
          </p:cNvCxnSpPr>
          <p:nvPr/>
        </p:nvCxnSpPr>
        <p:spPr>
          <a:xfrm rot="16200000" flipH="1">
            <a:off x="3489102" y="1020270"/>
            <a:ext cx="326264" cy="768438"/>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41" name="连接符: 肘形 40">
            <a:extLst>
              <a:ext uri="{FF2B5EF4-FFF2-40B4-BE49-F238E27FC236}">
                <a16:creationId xmlns:a16="http://schemas.microsoft.com/office/drawing/2014/main" id="{C68D1B24-A014-CF3C-52B4-FBC3C7F60ADB}"/>
              </a:ext>
            </a:extLst>
          </p:cNvPr>
          <p:cNvCxnSpPr>
            <a:cxnSpLocks/>
            <a:stCxn id="30" idx="2"/>
            <a:endCxn id="32" idx="0"/>
          </p:cNvCxnSpPr>
          <p:nvPr/>
        </p:nvCxnSpPr>
        <p:spPr>
          <a:xfrm rot="5400000">
            <a:off x="1948997" y="1909980"/>
            <a:ext cx="487251" cy="459357"/>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44" name="连接符: 肘形 43">
            <a:extLst>
              <a:ext uri="{FF2B5EF4-FFF2-40B4-BE49-F238E27FC236}">
                <a16:creationId xmlns:a16="http://schemas.microsoft.com/office/drawing/2014/main" id="{9E6DC334-60B9-8467-9774-B093CC799971}"/>
              </a:ext>
            </a:extLst>
          </p:cNvPr>
          <p:cNvCxnSpPr>
            <a:cxnSpLocks/>
            <a:stCxn id="30" idx="2"/>
            <a:endCxn id="33" idx="0"/>
          </p:cNvCxnSpPr>
          <p:nvPr/>
        </p:nvCxnSpPr>
        <p:spPr>
          <a:xfrm rot="16200000" flipH="1">
            <a:off x="2407275" y="1911058"/>
            <a:ext cx="485104" cy="455054"/>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47" name="连接符: 肘形 46">
            <a:extLst>
              <a:ext uri="{FF2B5EF4-FFF2-40B4-BE49-F238E27FC236}">
                <a16:creationId xmlns:a16="http://schemas.microsoft.com/office/drawing/2014/main" id="{B77578E8-3201-2D3E-8E92-EB5726F6EA67}"/>
              </a:ext>
            </a:extLst>
          </p:cNvPr>
          <p:cNvCxnSpPr>
            <a:cxnSpLocks/>
          </p:cNvCxnSpPr>
          <p:nvPr/>
        </p:nvCxnSpPr>
        <p:spPr>
          <a:xfrm rot="5400000">
            <a:off x="3563150" y="1931446"/>
            <a:ext cx="487251" cy="459357"/>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48" name="连接符: 肘形 47">
            <a:extLst>
              <a:ext uri="{FF2B5EF4-FFF2-40B4-BE49-F238E27FC236}">
                <a16:creationId xmlns:a16="http://schemas.microsoft.com/office/drawing/2014/main" id="{B13CCA48-D6D4-B8B4-AD3B-4598725ABD8D}"/>
              </a:ext>
            </a:extLst>
          </p:cNvPr>
          <p:cNvCxnSpPr>
            <a:cxnSpLocks/>
            <a:stCxn id="31" idx="2"/>
            <a:endCxn id="35" idx="0"/>
          </p:cNvCxnSpPr>
          <p:nvPr/>
        </p:nvCxnSpPr>
        <p:spPr>
          <a:xfrm rot="16200000" flipH="1">
            <a:off x="4034309" y="1904615"/>
            <a:ext cx="478665" cy="474377"/>
          </a:xfrm>
          <a:prstGeom prst="bentConnector3">
            <a:avLst>
              <a:gd name="adj1" fmla="val 54036"/>
            </a:avLst>
          </a:prstGeom>
        </p:spPr>
        <p:style>
          <a:lnRef idx="1">
            <a:schemeClr val="accent1"/>
          </a:lnRef>
          <a:fillRef idx="0">
            <a:schemeClr val="accent1"/>
          </a:fillRef>
          <a:effectRef idx="0">
            <a:schemeClr val="accent1"/>
          </a:effectRef>
          <a:fontRef idx="minor">
            <a:schemeClr val="tx1"/>
          </a:fontRef>
        </p:style>
      </p:cxnSp>
      <p:sp>
        <p:nvSpPr>
          <p:cNvPr id="52" name="矩形 51">
            <a:extLst>
              <a:ext uri="{FF2B5EF4-FFF2-40B4-BE49-F238E27FC236}">
                <a16:creationId xmlns:a16="http://schemas.microsoft.com/office/drawing/2014/main" id="{AA4662B7-726C-3AF7-1A3F-A0CB9BC477F3}"/>
              </a:ext>
            </a:extLst>
          </p:cNvPr>
          <p:cNvSpPr/>
          <p:nvPr/>
        </p:nvSpPr>
        <p:spPr>
          <a:xfrm>
            <a:off x="7944119" y="906506"/>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FG</a:t>
            </a:r>
            <a:endParaRPr lang="zh-CN" altLang="en-US" sz="1000" b="1" dirty="0">
              <a:solidFill>
                <a:schemeClr val="bg1"/>
              </a:solidFill>
              <a:latin typeface="Arial" panose="020B0604020202020204" pitchFamily="34" charset="0"/>
              <a:ea typeface="微软雅黑" panose="020B0503020204020204" pitchFamily="34" charset="-122"/>
            </a:endParaRPr>
          </a:p>
        </p:txBody>
      </p:sp>
      <p:sp>
        <p:nvSpPr>
          <p:cNvPr id="53" name="矩形 52">
            <a:extLst>
              <a:ext uri="{FF2B5EF4-FFF2-40B4-BE49-F238E27FC236}">
                <a16:creationId xmlns:a16="http://schemas.microsoft.com/office/drawing/2014/main" id="{18E9E93A-ED5E-EAEA-F15E-7EC95D805CC3}"/>
              </a:ext>
            </a:extLst>
          </p:cNvPr>
          <p:cNvSpPr/>
          <p:nvPr/>
        </p:nvSpPr>
        <p:spPr>
          <a:xfrm>
            <a:off x="7098404" y="1561182"/>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A</a:t>
            </a:r>
            <a:endParaRPr lang="zh-CN" altLang="en-US" sz="1000" b="1" dirty="0">
              <a:solidFill>
                <a:schemeClr val="bg1"/>
              </a:solidFill>
              <a:latin typeface="Arial" panose="020B0604020202020204" pitchFamily="34" charset="0"/>
              <a:ea typeface="微软雅黑" panose="020B0503020204020204" pitchFamily="34" charset="-122"/>
            </a:endParaRPr>
          </a:p>
        </p:txBody>
      </p:sp>
      <p:sp>
        <p:nvSpPr>
          <p:cNvPr id="54" name="矩形 53">
            <a:extLst>
              <a:ext uri="{FF2B5EF4-FFF2-40B4-BE49-F238E27FC236}">
                <a16:creationId xmlns:a16="http://schemas.microsoft.com/office/drawing/2014/main" id="{801715B7-A467-166A-641C-D5AAB4FE4AB5}"/>
              </a:ext>
            </a:extLst>
          </p:cNvPr>
          <p:cNvSpPr/>
          <p:nvPr/>
        </p:nvSpPr>
        <p:spPr>
          <a:xfrm>
            <a:off x="8712557" y="1567621"/>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B</a:t>
            </a:r>
            <a:endParaRPr lang="zh-CN" altLang="en-US" sz="1000" b="1" dirty="0">
              <a:solidFill>
                <a:schemeClr val="bg1"/>
              </a:solidFill>
              <a:latin typeface="Arial" panose="020B0604020202020204" pitchFamily="34" charset="0"/>
              <a:ea typeface="微软雅黑" panose="020B0503020204020204" pitchFamily="34" charset="-122"/>
            </a:endParaRPr>
          </a:p>
        </p:txBody>
      </p:sp>
      <p:sp>
        <p:nvSpPr>
          <p:cNvPr id="55" name="矩形 54">
            <a:extLst>
              <a:ext uri="{FF2B5EF4-FFF2-40B4-BE49-F238E27FC236}">
                <a16:creationId xmlns:a16="http://schemas.microsoft.com/office/drawing/2014/main" id="{60BF9A4A-FD0D-ACDB-11BC-3AD46AE89CC3}"/>
              </a:ext>
            </a:extLst>
          </p:cNvPr>
          <p:cNvSpPr/>
          <p:nvPr/>
        </p:nvSpPr>
        <p:spPr>
          <a:xfrm>
            <a:off x="6639047" y="2383284"/>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C</a:t>
            </a:r>
            <a:endParaRPr lang="zh-CN" altLang="en-US" sz="1000" b="1" dirty="0">
              <a:solidFill>
                <a:schemeClr val="bg1"/>
              </a:solidFill>
              <a:latin typeface="Arial" panose="020B0604020202020204" pitchFamily="34" charset="0"/>
              <a:ea typeface="微软雅黑" panose="020B0503020204020204" pitchFamily="34" charset="-122"/>
            </a:endParaRPr>
          </a:p>
        </p:txBody>
      </p:sp>
      <p:sp>
        <p:nvSpPr>
          <p:cNvPr id="56" name="矩形 55">
            <a:extLst>
              <a:ext uri="{FF2B5EF4-FFF2-40B4-BE49-F238E27FC236}">
                <a16:creationId xmlns:a16="http://schemas.microsoft.com/office/drawing/2014/main" id="{AF2B6FB8-696E-3E49-ECDE-6322978939F7}"/>
              </a:ext>
            </a:extLst>
          </p:cNvPr>
          <p:cNvSpPr/>
          <p:nvPr/>
        </p:nvSpPr>
        <p:spPr>
          <a:xfrm>
            <a:off x="7553458" y="2381137"/>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D</a:t>
            </a:r>
            <a:endParaRPr lang="zh-CN" altLang="en-US" sz="1000" b="1" dirty="0">
              <a:solidFill>
                <a:schemeClr val="bg1"/>
              </a:solidFill>
              <a:latin typeface="Arial" panose="020B0604020202020204" pitchFamily="34" charset="0"/>
              <a:ea typeface="微软雅黑" panose="020B0503020204020204" pitchFamily="34" charset="-122"/>
            </a:endParaRPr>
          </a:p>
        </p:txBody>
      </p:sp>
      <p:sp>
        <p:nvSpPr>
          <p:cNvPr id="57" name="矩形 56">
            <a:extLst>
              <a:ext uri="{FF2B5EF4-FFF2-40B4-BE49-F238E27FC236}">
                <a16:creationId xmlns:a16="http://schemas.microsoft.com/office/drawing/2014/main" id="{9DAF9912-32DF-11DC-29D1-9002B34874D6}"/>
              </a:ext>
            </a:extLst>
          </p:cNvPr>
          <p:cNvSpPr/>
          <p:nvPr/>
        </p:nvSpPr>
        <p:spPr>
          <a:xfrm>
            <a:off x="8285404" y="2383284"/>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E</a:t>
            </a:r>
            <a:endParaRPr lang="zh-CN" altLang="en-US" sz="1000" b="1" dirty="0">
              <a:solidFill>
                <a:schemeClr val="bg1"/>
              </a:solidFill>
              <a:latin typeface="Arial" panose="020B0604020202020204" pitchFamily="34" charset="0"/>
              <a:ea typeface="微软雅黑" panose="020B0503020204020204" pitchFamily="34" charset="-122"/>
            </a:endParaRPr>
          </a:p>
        </p:txBody>
      </p:sp>
      <p:sp>
        <p:nvSpPr>
          <p:cNvPr id="58" name="矩形 57">
            <a:extLst>
              <a:ext uri="{FF2B5EF4-FFF2-40B4-BE49-F238E27FC236}">
                <a16:creationId xmlns:a16="http://schemas.microsoft.com/office/drawing/2014/main" id="{B11DC332-0469-78EC-F90E-71D28764BFC0}"/>
              </a:ext>
            </a:extLst>
          </p:cNvPr>
          <p:cNvSpPr/>
          <p:nvPr/>
        </p:nvSpPr>
        <p:spPr>
          <a:xfrm>
            <a:off x="9186934" y="2381137"/>
            <a:ext cx="534473" cy="334851"/>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000" b="1" dirty="0">
                <a:solidFill>
                  <a:schemeClr val="bg1"/>
                </a:solidFill>
                <a:latin typeface="Arial" panose="020B0604020202020204" pitchFamily="34" charset="0"/>
                <a:ea typeface="微软雅黑" panose="020B0503020204020204" pitchFamily="34" charset="-122"/>
              </a:rPr>
              <a:t>F</a:t>
            </a:r>
            <a:endParaRPr lang="zh-CN" altLang="en-US" sz="1000" b="1" dirty="0">
              <a:solidFill>
                <a:schemeClr val="bg1"/>
              </a:solidFill>
              <a:latin typeface="Arial" panose="020B0604020202020204" pitchFamily="34" charset="0"/>
              <a:ea typeface="微软雅黑" panose="020B0503020204020204" pitchFamily="34" charset="-122"/>
            </a:endParaRPr>
          </a:p>
        </p:txBody>
      </p:sp>
      <p:cxnSp>
        <p:nvCxnSpPr>
          <p:cNvPr id="59" name="连接符: 肘形 58">
            <a:extLst>
              <a:ext uri="{FF2B5EF4-FFF2-40B4-BE49-F238E27FC236}">
                <a16:creationId xmlns:a16="http://schemas.microsoft.com/office/drawing/2014/main" id="{400909E7-DB53-8839-A7F9-8CD0F279DEB1}"/>
              </a:ext>
            </a:extLst>
          </p:cNvPr>
          <p:cNvCxnSpPr>
            <a:stCxn id="52" idx="2"/>
            <a:endCxn id="53" idx="0"/>
          </p:cNvCxnSpPr>
          <p:nvPr/>
        </p:nvCxnSpPr>
        <p:spPr>
          <a:xfrm rot="5400000">
            <a:off x="7628587" y="978412"/>
            <a:ext cx="319825" cy="845715"/>
          </a:xfrm>
          <a:prstGeom prst="bentConnector3">
            <a:avLst/>
          </a:prstGeom>
        </p:spPr>
        <p:style>
          <a:lnRef idx="1">
            <a:schemeClr val="accent1"/>
          </a:lnRef>
          <a:fillRef idx="0">
            <a:schemeClr val="accent1"/>
          </a:fillRef>
          <a:effectRef idx="0">
            <a:schemeClr val="accent1"/>
          </a:effectRef>
          <a:fontRef idx="minor">
            <a:schemeClr val="tx1"/>
          </a:fontRef>
        </p:style>
      </p:cxnSp>
      <p:cxnSp>
        <p:nvCxnSpPr>
          <p:cNvPr id="60" name="连接符: 肘形 59">
            <a:extLst>
              <a:ext uri="{FF2B5EF4-FFF2-40B4-BE49-F238E27FC236}">
                <a16:creationId xmlns:a16="http://schemas.microsoft.com/office/drawing/2014/main" id="{3ACCD908-C150-B8B6-79C8-8575BB45AA96}"/>
              </a:ext>
            </a:extLst>
          </p:cNvPr>
          <p:cNvCxnSpPr>
            <a:cxnSpLocks/>
            <a:stCxn id="52" idx="2"/>
            <a:endCxn id="54" idx="0"/>
          </p:cNvCxnSpPr>
          <p:nvPr/>
        </p:nvCxnSpPr>
        <p:spPr>
          <a:xfrm rot="16200000" flipH="1">
            <a:off x="8432443" y="1020270"/>
            <a:ext cx="326264" cy="768438"/>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61" name="连接符: 肘形 60">
            <a:extLst>
              <a:ext uri="{FF2B5EF4-FFF2-40B4-BE49-F238E27FC236}">
                <a16:creationId xmlns:a16="http://schemas.microsoft.com/office/drawing/2014/main" id="{0254FB75-A731-2FD0-E2AE-C398DA26AF71}"/>
              </a:ext>
            </a:extLst>
          </p:cNvPr>
          <p:cNvCxnSpPr>
            <a:cxnSpLocks/>
            <a:stCxn id="53" idx="2"/>
            <a:endCxn id="55" idx="0"/>
          </p:cNvCxnSpPr>
          <p:nvPr/>
        </p:nvCxnSpPr>
        <p:spPr>
          <a:xfrm rot="5400000">
            <a:off x="6892338" y="1909980"/>
            <a:ext cx="487251" cy="459357"/>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62" name="连接符: 肘形 61">
            <a:extLst>
              <a:ext uri="{FF2B5EF4-FFF2-40B4-BE49-F238E27FC236}">
                <a16:creationId xmlns:a16="http://schemas.microsoft.com/office/drawing/2014/main" id="{CE79E352-1A6E-5D48-C391-B020A3860F15}"/>
              </a:ext>
            </a:extLst>
          </p:cNvPr>
          <p:cNvCxnSpPr>
            <a:cxnSpLocks/>
            <a:stCxn id="53" idx="2"/>
            <a:endCxn id="56" idx="0"/>
          </p:cNvCxnSpPr>
          <p:nvPr/>
        </p:nvCxnSpPr>
        <p:spPr>
          <a:xfrm rot="16200000" flipH="1">
            <a:off x="7350616" y="1911058"/>
            <a:ext cx="485104" cy="455054"/>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63" name="连接符: 肘形 62">
            <a:extLst>
              <a:ext uri="{FF2B5EF4-FFF2-40B4-BE49-F238E27FC236}">
                <a16:creationId xmlns:a16="http://schemas.microsoft.com/office/drawing/2014/main" id="{752F8265-F1F0-095B-44C8-A969C15B6244}"/>
              </a:ext>
            </a:extLst>
          </p:cNvPr>
          <p:cNvCxnSpPr>
            <a:cxnSpLocks/>
          </p:cNvCxnSpPr>
          <p:nvPr/>
        </p:nvCxnSpPr>
        <p:spPr>
          <a:xfrm rot="5400000">
            <a:off x="8506491" y="1931446"/>
            <a:ext cx="487251" cy="459357"/>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64" name="连接符: 肘形 63">
            <a:extLst>
              <a:ext uri="{FF2B5EF4-FFF2-40B4-BE49-F238E27FC236}">
                <a16:creationId xmlns:a16="http://schemas.microsoft.com/office/drawing/2014/main" id="{1858E931-5F55-5168-26B8-397896D798C1}"/>
              </a:ext>
            </a:extLst>
          </p:cNvPr>
          <p:cNvCxnSpPr>
            <a:cxnSpLocks/>
            <a:stCxn id="54" idx="2"/>
            <a:endCxn id="58" idx="0"/>
          </p:cNvCxnSpPr>
          <p:nvPr/>
        </p:nvCxnSpPr>
        <p:spPr>
          <a:xfrm rot="16200000" flipH="1">
            <a:off x="8977650" y="1904615"/>
            <a:ext cx="478665" cy="474377"/>
          </a:xfrm>
          <a:prstGeom prst="bentConnector3">
            <a:avLst>
              <a:gd name="adj1" fmla="val 54036"/>
            </a:avLst>
          </a:prstGeom>
        </p:spPr>
        <p:style>
          <a:lnRef idx="1">
            <a:schemeClr val="accent1"/>
          </a:lnRef>
          <a:fillRef idx="0">
            <a:schemeClr val="accent1"/>
          </a:fillRef>
          <a:effectRef idx="0">
            <a:schemeClr val="accent1"/>
          </a:effectRef>
          <a:fontRef idx="minor">
            <a:schemeClr val="tx1"/>
          </a:fontRef>
        </p:style>
      </p:cxnSp>
      <p:sp>
        <p:nvSpPr>
          <p:cNvPr id="67" name="文本框 66">
            <a:extLst>
              <a:ext uri="{FF2B5EF4-FFF2-40B4-BE49-F238E27FC236}">
                <a16:creationId xmlns:a16="http://schemas.microsoft.com/office/drawing/2014/main" id="{6799970A-797D-190A-6AD5-87D97BE90588}"/>
              </a:ext>
            </a:extLst>
          </p:cNvPr>
          <p:cNvSpPr txBox="1"/>
          <p:nvPr/>
        </p:nvSpPr>
        <p:spPr>
          <a:xfrm>
            <a:off x="4243593" y="906506"/>
            <a:ext cx="759849" cy="369332"/>
          </a:xfrm>
          <a:prstGeom prst="rect">
            <a:avLst/>
          </a:prstGeom>
          <a:noFill/>
        </p:spPr>
        <p:txBody>
          <a:bodyPr wrap="square" rtlCol="0">
            <a:spAutoFit/>
          </a:bodyPr>
          <a:lstStyle/>
          <a:p>
            <a:r>
              <a:rPr lang="en-US" altLang="zh-CN" dirty="0">
                <a:solidFill>
                  <a:schemeClr val="bg1"/>
                </a:solidFill>
                <a:latin typeface="Arial" panose="020B0604020202020204" pitchFamily="34" charset="0"/>
                <a:ea typeface="微软雅黑" panose="020B0503020204020204" pitchFamily="34" charset="-122"/>
              </a:rPr>
              <a:t>Site1</a:t>
            </a:r>
            <a:endParaRPr lang="zh-CN" altLang="en-US" dirty="0">
              <a:solidFill>
                <a:schemeClr val="bg1"/>
              </a:solidFill>
              <a:latin typeface="Arial" panose="020B0604020202020204" pitchFamily="34" charset="0"/>
              <a:ea typeface="微软雅黑" panose="020B0503020204020204" pitchFamily="34" charset="-122"/>
            </a:endParaRPr>
          </a:p>
        </p:txBody>
      </p:sp>
      <p:sp>
        <p:nvSpPr>
          <p:cNvPr id="68" name="文本框 67">
            <a:extLst>
              <a:ext uri="{FF2B5EF4-FFF2-40B4-BE49-F238E27FC236}">
                <a16:creationId xmlns:a16="http://schemas.microsoft.com/office/drawing/2014/main" id="{52FBC98B-88FA-853F-4603-B9F1CBA9E150}"/>
              </a:ext>
            </a:extLst>
          </p:cNvPr>
          <p:cNvSpPr txBox="1"/>
          <p:nvPr/>
        </p:nvSpPr>
        <p:spPr>
          <a:xfrm>
            <a:off x="9247030" y="904291"/>
            <a:ext cx="759849" cy="369332"/>
          </a:xfrm>
          <a:prstGeom prst="rect">
            <a:avLst/>
          </a:prstGeom>
          <a:noFill/>
        </p:spPr>
        <p:txBody>
          <a:bodyPr wrap="square" rtlCol="0">
            <a:spAutoFit/>
          </a:bodyPr>
          <a:lstStyle/>
          <a:p>
            <a:r>
              <a:rPr lang="en-US" altLang="zh-CN" dirty="0">
                <a:solidFill>
                  <a:schemeClr val="bg1"/>
                </a:solidFill>
                <a:latin typeface="Arial" panose="020B0604020202020204" pitchFamily="34" charset="0"/>
                <a:ea typeface="微软雅黑" panose="020B0503020204020204" pitchFamily="34" charset="-122"/>
              </a:rPr>
              <a:t>Site2</a:t>
            </a:r>
            <a:endParaRPr lang="zh-CN" altLang="en-US" dirty="0">
              <a:solidFill>
                <a:schemeClr val="bg1"/>
              </a:solidFill>
              <a:latin typeface="Arial" panose="020B0604020202020204" pitchFamily="34" charset="0"/>
              <a:ea typeface="微软雅黑" panose="020B0503020204020204" pitchFamily="34" charset="-122"/>
            </a:endParaRPr>
          </a:p>
        </p:txBody>
      </p:sp>
      <p:graphicFrame>
        <p:nvGraphicFramePr>
          <p:cNvPr id="69" name="表格 68">
            <a:extLst>
              <a:ext uri="{FF2B5EF4-FFF2-40B4-BE49-F238E27FC236}">
                <a16:creationId xmlns:a16="http://schemas.microsoft.com/office/drawing/2014/main" id="{F9AA5CB4-7CF2-D3F8-25BA-2C9C993E236C}"/>
              </a:ext>
            </a:extLst>
          </p:cNvPr>
          <p:cNvGraphicFramePr>
            <a:graphicFrameLocks noGrp="1"/>
          </p:cNvGraphicFramePr>
          <p:nvPr>
            <p:extLst>
              <p:ext uri="{D42A27DB-BD31-4B8C-83A1-F6EECF244321}">
                <p14:modId xmlns:p14="http://schemas.microsoft.com/office/powerpoint/2010/main" val="3539199592"/>
              </p:ext>
            </p:extLst>
          </p:nvPr>
        </p:nvGraphicFramePr>
        <p:xfrm>
          <a:off x="281193" y="3074085"/>
          <a:ext cx="11415834" cy="3451280"/>
        </p:xfrm>
        <a:graphic>
          <a:graphicData uri="http://schemas.openxmlformats.org/drawingml/2006/table">
            <a:tbl>
              <a:tblPr firstRow="1" bandRow="1">
                <a:tableStyleId>{69012ECD-51FC-41F1-AA8D-1B2483CD663E}</a:tableStyleId>
              </a:tblPr>
              <a:tblGrid>
                <a:gridCol w="2618514">
                  <a:extLst>
                    <a:ext uri="{9D8B030D-6E8A-4147-A177-3AD203B41FA5}">
                      <a16:colId xmlns:a16="http://schemas.microsoft.com/office/drawing/2014/main" val="2126420937"/>
                    </a:ext>
                  </a:extLst>
                </a:gridCol>
                <a:gridCol w="2618514">
                  <a:extLst>
                    <a:ext uri="{9D8B030D-6E8A-4147-A177-3AD203B41FA5}">
                      <a16:colId xmlns:a16="http://schemas.microsoft.com/office/drawing/2014/main" val="867906005"/>
                    </a:ext>
                  </a:extLst>
                </a:gridCol>
                <a:gridCol w="2059602">
                  <a:extLst>
                    <a:ext uri="{9D8B030D-6E8A-4147-A177-3AD203B41FA5}">
                      <a16:colId xmlns:a16="http://schemas.microsoft.com/office/drawing/2014/main" val="2354012421"/>
                    </a:ext>
                  </a:extLst>
                </a:gridCol>
                <a:gridCol w="2059602">
                  <a:extLst>
                    <a:ext uri="{9D8B030D-6E8A-4147-A177-3AD203B41FA5}">
                      <a16:colId xmlns:a16="http://schemas.microsoft.com/office/drawing/2014/main" val="1314408603"/>
                    </a:ext>
                  </a:extLst>
                </a:gridCol>
                <a:gridCol w="2059602">
                  <a:extLst>
                    <a:ext uri="{9D8B030D-6E8A-4147-A177-3AD203B41FA5}">
                      <a16:colId xmlns:a16="http://schemas.microsoft.com/office/drawing/2014/main" val="3062802097"/>
                    </a:ext>
                  </a:extLst>
                </a:gridCol>
              </a:tblGrid>
              <a:tr h="493040">
                <a:tc>
                  <a:txBody>
                    <a:bodyPr/>
                    <a:lstStyle/>
                    <a:p>
                      <a:r>
                        <a:rPr lang="en-US" altLang="zh-CN" sz="1200" b="1" dirty="0">
                          <a:solidFill>
                            <a:schemeClr val="bg1"/>
                          </a:solidFill>
                          <a:latin typeface="Arial" panose="020B0604020202020204" pitchFamily="34" charset="0"/>
                          <a:ea typeface="微软雅黑" panose="020B0503020204020204" pitchFamily="34" charset="-122"/>
                        </a:rPr>
                        <a:t>Request Qty</a:t>
                      </a:r>
                      <a:endParaRPr lang="zh-CN" altLang="en-US" sz="1200" b="1"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Supply Site</a:t>
                      </a:r>
                      <a:endParaRPr lang="zh-CN" altLang="en-US" sz="1200" b="1"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Material</a:t>
                      </a:r>
                      <a:endParaRPr lang="zh-CN" altLang="en-US" sz="1200" b="1"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Fed Qty</a:t>
                      </a:r>
                      <a:endParaRPr lang="zh-CN" altLang="en-US" sz="1200" b="1"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1" dirty="0">
                          <a:solidFill>
                            <a:schemeClr val="bg1"/>
                          </a:solidFill>
                          <a:latin typeface="Arial" panose="020B0604020202020204" pitchFamily="34" charset="0"/>
                          <a:ea typeface="微软雅黑" panose="020B0503020204020204" pitchFamily="34" charset="-122"/>
                        </a:rPr>
                        <a:t>Supply Type</a:t>
                      </a:r>
                      <a:endParaRPr lang="zh-CN" altLang="en-US" sz="1200" b="1"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088838"/>
                  </a:ext>
                </a:extLst>
              </a:tr>
              <a:tr h="493040">
                <a:tc>
                  <a:txBody>
                    <a:bodyPr/>
                    <a:lstStyle/>
                    <a:p>
                      <a:r>
                        <a:rPr lang="en-US" altLang="zh-CN" sz="1200" b="1" dirty="0">
                          <a:solidFill>
                            <a:schemeClr val="bg1"/>
                          </a:solidFill>
                          <a:latin typeface="Arial" panose="020B0604020202020204" pitchFamily="34" charset="0"/>
                          <a:ea typeface="微软雅黑" panose="020B0503020204020204" pitchFamily="34" charset="-122"/>
                        </a:rPr>
                        <a:t>100</a:t>
                      </a:r>
                      <a:endParaRPr lang="zh-CN" altLang="en-US" sz="1200" b="1"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Site1</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FG</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20</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OH</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6504362"/>
                  </a:ext>
                </a:extLst>
              </a:tr>
              <a:tr h="493040">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200" b="1" dirty="0">
                          <a:solidFill>
                            <a:schemeClr val="bg1"/>
                          </a:solidFill>
                          <a:latin typeface="Arial" panose="020B0604020202020204" pitchFamily="34" charset="0"/>
                          <a:ea typeface="微软雅黑" panose="020B0503020204020204" pitchFamily="34" charset="-122"/>
                        </a:rPr>
                        <a:t>100</a:t>
                      </a:r>
                      <a:endParaRPr lang="zh-CN" altLang="en-US" sz="1200" b="1"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Site2</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FG</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30</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SR</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36823452"/>
                  </a:ext>
                </a:extLst>
              </a:tr>
              <a:tr h="493040">
                <a:tc>
                  <a:txBody>
                    <a:bodyPr/>
                    <a:lstStyle/>
                    <a:p>
                      <a:r>
                        <a:rPr lang="en-US" altLang="zh-CN" sz="1200" b="1" dirty="0">
                          <a:solidFill>
                            <a:schemeClr val="bg1"/>
                          </a:solidFill>
                          <a:latin typeface="Arial" panose="020B0604020202020204" pitchFamily="34" charset="0"/>
                          <a:ea typeface="微软雅黑" panose="020B0503020204020204" pitchFamily="34" charset="-122"/>
                        </a:rPr>
                        <a:t>100</a:t>
                      </a:r>
                      <a:endParaRPr lang="zh-CN" altLang="en-US" sz="1200" b="1"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Site2</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A</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r>
                        <a:rPr lang="en-US" altLang="zh-CN" sz="1200" b="0" dirty="0">
                          <a:solidFill>
                            <a:schemeClr val="bg1"/>
                          </a:solidFill>
                          <a:latin typeface="Arial" panose="020B0604020202020204" pitchFamily="34" charset="0"/>
                          <a:ea typeface="微软雅黑" panose="020B0503020204020204" pitchFamily="34" charset="-122"/>
                        </a:rPr>
                        <a:t>30</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OH</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4399965"/>
                  </a:ext>
                </a:extLst>
              </a:tr>
              <a:tr h="493040">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200" b="1" dirty="0">
                          <a:solidFill>
                            <a:schemeClr val="bg1"/>
                          </a:solidFill>
                          <a:latin typeface="Arial" panose="020B0604020202020204" pitchFamily="34" charset="0"/>
                          <a:ea typeface="微软雅黑" panose="020B0503020204020204" pitchFamily="34" charset="-122"/>
                        </a:rPr>
                        <a:t>100</a:t>
                      </a:r>
                      <a:endParaRPr lang="zh-CN" altLang="en-US" sz="1200" b="1"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200" b="0" dirty="0">
                          <a:solidFill>
                            <a:schemeClr val="bg1"/>
                          </a:solidFill>
                          <a:latin typeface="Arial" panose="020B0604020202020204" pitchFamily="34" charset="0"/>
                          <a:ea typeface="微软雅黑" panose="020B0503020204020204" pitchFamily="34" charset="-122"/>
                        </a:rPr>
                        <a:t>Site2</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B</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dirty="0"/>
                    </a:p>
                  </a:txBody>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OH</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863721"/>
                  </a:ext>
                </a:extLst>
              </a:tr>
              <a:tr h="493040">
                <a:tc>
                  <a:txBody>
                    <a:bodyPr/>
                    <a:lstStyle/>
                    <a:p>
                      <a:r>
                        <a:rPr lang="en-US" altLang="zh-CN" sz="1200" b="1" dirty="0">
                          <a:solidFill>
                            <a:schemeClr val="bg1"/>
                          </a:solidFill>
                          <a:latin typeface="Arial" panose="020B0604020202020204" pitchFamily="34" charset="0"/>
                          <a:ea typeface="微软雅黑" panose="020B0503020204020204" pitchFamily="34" charset="-122"/>
                        </a:rPr>
                        <a:t>100</a:t>
                      </a:r>
                      <a:endParaRPr lang="zh-CN" altLang="en-US" sz="1200" b="1"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200" b="0" dirty="0">
                          <a:solidFill>
                            <a:schemeClr val="bg1"/>
                          </a:solidFill>
                          <a:latin typeface="Arial" panose="020B0604020202020204" pitchFamily="34" charset="0"/>
                          <a:ea typeface="微软雅黑" panose="020B0503020204020204" pitchFamily="34" charset="-122"/>
                        </a:rPr>
                        <a:t>Site2</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A</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r>
                        <a:rPr lang="en-US" altLang="zh-CN" sz="1200" b="0" dirty="0">
                          <a:solidFill>
                            <a:schemeClr val="bg1"/>
                          </a:solidFill>
                          <a:latin typeface="Arial" panose="020B0604020202020204" pitchFamily="34" charset="0"/>
                          <a:ea typeface="微软雅黑" panose="020B0503020204020204" pitchFamily="34" charset="-122"/>
                        </a:rPr>
                        <a:t>20</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Planned Order</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189271"/>
                  </a:ext>
                </a:extLst>
              </a:tr>
              <a:tr h="493040">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200" b="1" dirty="0">
                          <a:solidFill>
                            <a:schemeClr val="bg1"/>
                          </a:solidFill>
                          <a:latin typeface="Arial" panose="020B0604020202020204" pitchFamily="34" charset="0"/>
                          <a:ea typeface="微软雅黑" panose="020B0503020204020204" pitchFamily="34" charset="-122"/>
                        </a:rPr>
                        <a:t>100</a:t>
                      </a:r>
                      <a:endParaRPr lang="zh-CN" altLang="en-US" sz="1200" b="1"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US" altLang="zh-CN" sz="1200" b="0" dirty="0">
                          <a:solidFill>
                            <a:schemeClr val="bg1"/>
                          </a:solidFill>
                          <a:latin typeface="Arial" panose="020B0604020202020204" pitchFamily="34" charset="0"/>
                          <a:ea typeface="微软雅黑" panose="020B0503020204020204" pitchFamily="34" charset="-122"/>
                        </a:rPr>
                        <a:t>Site2</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B</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dirty="0"/>
                    </a:p>
                  </a:txBody>
                  <a:tcPr/>
                </a:tc>
                <a:tc>
                  <a:txBody>
                    <a:bodyPr/>
                    <a:lstStyle/>
                    <a:p>
                      <a:r>
                        <a:rPr lang="en-US" altLang="zh-CN" sz="1200" b="0" dirty="0">
                          <a:solidFill>
                            <a:schemeClr val="bg1"/>
                          </a:solidFill>
                          <a:latin typeface="Arial" panose="020B0604020202020204" pitchFamily="34" charset="0"/>
                          <a:ea typeface="微软雅黑" panose="020B0503020204020204" pitchFamily="34" charset="-122"/>
                        </a:rPr>
                        <a:t>OH</a:t>
                      </a:r>
                      <a:endParaRPr lang="zh-CN" altLang="en-US" sz="1200" b="0" dirty="0">
                        <a:solidFill>
                          <a:schemeClr val="bg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2474250"/>
                  </a:ext>
                </a:extLst>
              </a:tr>
            </a:tbl>
          </a:graphicData>
        </a:graphic>
      </p:graphicFrame>
      <p:cxnSp>
        <p:nvCxnSpPr>
          <p:cNvPr id="5" name="直接连接符 4">
            <a:extLst>
              <a:ext uri="{FF2B5EF4-FFF2-40B4-BE49-F238E27FC236}">
                <a16:creationId xmlns:a16="http://schemas.microsoft.com/office/drawing/2014/main" id="{8FD836F1-EB67-144C-1345-684B30317F05}"/>
              </a:ext>
            </a:extLst>
          </p:cNvPr>
          <p:cNvCxnSpPr/>
          <p:nvPr/>
        </p:nvCxnSpPr>
        <p:spPr>
          <a:xfrm>
            <a:off x="302342" y="1386348"/>
            <a:ext cx="11208774" cy="0"/>
          </a:xfrm>
          <a:prstGeom prst="line">
            <a:avLst/>
          </a:prstGeom>
          <a:ln w="9525" cap="flat" cmpd="sng" algn="ctr">
            <a:solidFill>
              <a:schemeClr val="tx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6" name="直接连接符 5">
            <a:extLst>
              <a:ext uri="{FF2B5EF4-FFF2-40B4-BE49-F238E27FC236}">
                <a16:creationId xmlns:a16="http://schemas.microsoft.com/office/drawing/2014/main" id="{003DA2B9-0FCF-2054-7D16-0178D327F3E5}"/>
              </a:ext>
            </a:extLst>
          </p:cNvPr>
          <p:cNvCxnSpPr/>
          <p:nvPr/>
        </p:nvCxnSpPr>
        <p:spPr>
          <a:xfrm>
            <a:off x="302342" y="2110248"/>
            <a:ext cx="11208774" cy="0"/>
          </a:xfrm>
          <a:prstGeom prst="line">
            <a:avLst/>
          </a:prstGeom>
          <a:ln w="9525" cap="flat" cmpd="sng" algn="ctr">
            <a:solidFill>
              <a:schemeClr val="tx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7" name="直接连接符 6">
            <a:extLst>
              <a:ext uri="{FF2B5EF4-FFF2-40B4-BE49-F238E27FC236}">
                <a16:creationId xmlns:a16="http://schemas.microsoft.com/office/drawing/2014/main" id="{707EDF93-ABEE-C2A5-D7D1-EAD8961E6A68}"/>
              </a:ext>
            </a:extLst>
          </p:cNvPr>
          <p:cNvCxnSpPr/>
          <p:nvPr/>
        </p:nvCxnSpPr>
        <p:spPr>
          <a:xfrm>
            <a:off x="302342" y="2849388"/>
            <a:ext cx="11208774" cy="0"/>
          </a:xfrm>
          <a:prstGeom prst="line">
            <a:avLst/>
          </a:prstGeom>
          <a:ln w="9525" cap="flat" cmpd="sng" algn="ctr">
            <a:solidFill>
              <a:schemeClr val="tx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8" name="文本框 7">
            <a:extLst>
              <a:ext uri="{FF2B5EF4-FFF2-40B4-BE49-F238E27FC236}">
                <a16:creationId xmlns:a16="http://schemas.microsoft.com/office/drawing/2014/main" id="{47251401-42F1-88DA-F685-22A1F9DD601E}"/>
              </a:ext>
            </a:extLst>
          </p:cNvPr>
          <p:cNvSpPr txBox="1"/>
          <p:nvPr/>
        </p:nvSpPr>
        <p:spPr>
          <a:xfrm>
            <a:off x="302342" y="990600"/>
            <a:ext cx="1465498" cy="276999"/>
          </a:xfrm>
          <a:prstGeom prst="rect">
            <a:avLst/>
          </a:prstGeom>
          <a:noFill/>
        </p:spPr>
        <p:txBody>
          <a:bodyPr wrap="square" rtlCol="0">
            <a:spAutoFit/>
          </a:bodyPr>
          <a:lstStyle/>
          <a:p>
            <a:r>
              <a:rPr lang="en-US" altLang="zh-CN" sz="1200" dirty="0">
                <a:solidFill>
                  <a:schemeClr val="bg1"/>
                </a:solidFill>
                <a:latin typeface="Arial" panose="020B0604020202020204" pitchFamily="34" charset="0"/>
                <a:ea typeface="微软雅黑" panose="020B0503020204020204" pitchFamily="34" charset="-122"/>
              </a:rPr>
              <a:t>Level 0</a:t>
            </a:r>
            <a:endParaRPr lang="zh-CN" altLang="en-US" sz="1200" dirty="0">
              <a:solidFill>
                <a:schemeClr val="bg1"/>
              </a:solidFill>
              <a:latin typeface="Arial" panose="020B0604020202020204" pitchFamily="34" charset="0"/>
              <a:ea typeface="微软雅黑" panose="020B0503020204020204" pitchFamily="34" charset="-122"/>
            </a:endParaRPr>
          </a:p>
        </p:txBody>
      </p:sp>
      <p:sp>
        <p:nvSpPr>
          <p:cNvPr id="9" name="文本框 8">
            <a:extLst>
              <a:ext uri="{FF2B5EF4-FFF2-40B4-BE49-F238E27FC236}">
                <a16:creationId xmlns:a16="http://schemas.microsoft.com/office/drawing/2014/main" id="{AC4AEB90-44DE-821B-9B3F-5CECFC99D5C8}"/>
              </a:ext>
            </a:extLst>
          </p:cNvPr>
          <p:cNvSpPr txBox="1"/>
          <p:nvPr/>
        </p:nvSpPr>
        <p:spPr>
          <a:xfrm>
            <a:off x="281193" y="1726141"/>
            <a:ext cx="1465498" cy="276999"/>
          </a:xfrm>
          <a:prstGeom prst="rect">
            <a:avLst/>
          </a:prstGeom>
          <a:noFill/>
        </p:spPr>
        <p:txBody>
          <a:bodyPr wrap="square" rtlCol="0">
            <a:spAutoFit/>
          </a:bodyPr>
          <a:lstStyle/>
          <a:p>
            <a:r>
              <a:rPr lang="en-US" altLang="zh-CN" sz="1200" dirty="0">
                <a:solidFill>
                  <a:schemeClr val="bg1"/>
                </a:solidFill>
                <a:latin typeface="Arial" panose="020B0604020202020204" pitchFamily="34" charset="0"/>
                <a:ea typeface="微软雅黑" panose="020B0503020204020204" pitchFamily="34" charset="-122"/>
              </a:rPr>
              <a:t>Level 1</a:t>
            </a:r>
            <a:endParaRPr lang="zh-CN" altLang="en-US" sz="1200" dirty="0">
              <a:solidFill>
                <a:schemeClr val="bg1"/>
              </a:solidFill>
              <a:latin typeface="Arial" panose="020B0604020202020204" pitchFamily="34" charset="0"/>
              <a:ea typeface="微软雅黑" panose="020B0503020204020204" pitchFamily="34" charset="-122"/>
            </a:endParaRPr>
          </a:p>
        </p:txBody>
      </p:sp>
      <p:sp>
        <p:nvSpPr>
          <p:cNvPr id="10" name="文本框 9">
            <a:extLst>
              <a:ext uri="{FF2B5EF4-FFF2-40B4-BE49-F238E27FC236}">
                <a16:creationId xmlns:a16="http://schemas.microsoft.com/office/drawing/2014/main" id="{09275671-210F-500E-F6B0-1C4D356C095F}"/>
              </a:ext>
            </a:extLst>
          </p:cNvPr>
          <p:cNvSpPr txBox="1"/>
          <p:nvPr/>
        </p:nvSpPr>
        <p:spPr>
          <a:xfrm>
            <a:off x="281193" y="2440594"/>
            <a:ext cx="1465498" cy="276999"/>
          </a:xfrm>
          <a:prstGeom prst="rect">
            <a:avLst/>
          </a:prstGeom>
          <a:noFill/>
        </p:spPr>
        <p:txBody>
          <a:bodyPr wrap="square" rtlCol="0">
            <a:spAutoFit/>
          </a:bodyPr>
          <a:lstStyle/>
          <a:p>
            <a:r>
              <a:rPr lang="en-US" altLang="zh-CN" sz="1200" dirty="0">
                <a:solidFill>
                  <a:schemeClr val="bg1"/>
                </a:solidFill>
                <a:latin typeface="Arial" panose="020B0604020202020204" pitchFamily="34" charset="0"/>
                <a:ea typeface="微软雅黑" panose="020B0503020204020204" pitchFamily="34" charset="-122"/>
              </a:rPr>
              <a:t>Level 2</a:t>
            </a:r>
            <a:endParaRPr lang="zh-CN" altLang="en-US" sz="1200" dirty="0">
              <a:solidFill>
                <a:schemeClr val="bg1"/>
              </a:solidFill>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1627635173"/>
      </p:ext>
    </p:extLst>
  </p:cSld>
  <p:clrMapOvr>
    <a:overrideClrMapping bg1="dk1" tx1="lt1" bg2="dk2" tx2="lt2" accent1="accent1" accent2="accent2" accent3="accent3" accent4="accent4" accent5="accent5" accent6="accent6" hlink="hlink" folHlink="folHlink"/>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EF092C4-3A31-E5F2-CA0F-52DF6BEF5E08}"/>
              </a:ext>
            </a:extLst>
          </p:cNvPr>
          <p:cNvSpPr>
            <a:spLocks noGrp="1"/>
          </p:cNvSpPr>
          <p:nvPr>
            <p:ph type="title"/>
          </p:nvPr>
        </p:nvSpPr>
        <p:spPr/>
        <p:txBody>
          <a:bodyPr/>
          <a:lstStyle/>
          <a:p>
            <a:r>
              <a:rPr lang="zh-CN" altLang="en-US" dirty="0"/>
              <a:t>组替代逻辑</a:t>
            </a:r>
          </a:p>
        </p:txBody>
      </p:sp>
      <p:graphicFrame>
        <p:nvGraphicFramePr>
          <p:cNvPr id="6" name="表格 5">
            <a:extLst>
              <a:ext uri="{FF2B5EF4-FFF2-40B4-BE49-F238E27FC236}">
                <a16:creationId xmlns:a16="http://schemas.microsoft.com/office/drawing/2014/main" id="{25336AFC-FAB6-6254-363E-71149094D76A}"/>
              </a:ext>
            </a:extLst>
          </p:cNvPr>
          <p:cNvGraphicFramePr>
            <a:graphicFrameLocks noGrp="1"/>
          </p:cNvGraphicFramePr>
          <p:nvPr>
            <p:extLst>
              <p:ext uri="{D42A27DB-BD31-4B8C-83A1-F6EECF244321}">
                <p14:modId xmlns:p14="http://schemas.microsoft.com/office/powerpoint/2010/main" val="3069737821"/>
              </p:ext>
            </p:extLst>
          </p:nvPr>
        </p:nvGraphicFramePr>
        <p:xfrm>
          <a:off x="1167205" y="2283943"/>
          <a:ext cx="6278209" cy="4264534"/>
        </p:xfrm>
        <a:graphic>
          <a:graphicData uri="http://schemas.openxmlformats.org/drawingml/2006/table">
            <a:tbl>
              <a:tblPr firstRow="1" firstCol="1" lastRow="1" lastCol="1" bandRow="1" bandCol="1"/>
              <a:tblGrid>
                <a:gridCol w="1416685">
                  <a:extLst>
                    <a:ext uri="{9D8B030D-6E8A-4147-A177-3AD203B41FA5}">
                      <a16:colId xmlns:a16="http://schemas.microsoft.com/office/drawing/2014/main" val="3950812859"/>
                    </a:ext>
                  </a:extLst>
                </a:gridCol>
                <a:gridCol w="4861524">
                  <a:extLst>
                    <a:ext uri="{9D8B030D-6E8A-4147-A177-3AD203B41FA5}">
                      <a16:colId xmlns:a16="http://schemas.microsoft.com/office/drawing/2014/main" val="4172482731"/>
                    </a:ext>
                  </a:extLst>
                </a:gridCol>
              </a:tblGrid>
              <a:tr h="712463">
                <a:tc>
                  <a:txBody>
                    <a:bodyPr/>
                    <a:lstStyle/>
                    <a:p>
                      <a:pPr>
                        <a:lnSpc>
                          <a:spcPct val="110000"/>
                        </a:lnSpc>
                        <a:spcAft>
                          <a:spcPts val="600"/>
                        </a:spcAft>
                        <a:buNone/>
                      </a:pPr>
                      <a:r>
                        <a:rPr lang="zh-CN" sz="1600" b="1">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规则</a:t>
                      </a:r>
                      <a:r>
                        <a:rPr lang="en-US" sz="1600" b="1">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sz="1600" b="1">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逻辑</a:t>
                      </a:r>
                      <a:endParaRPr lang="zh-CN" sz="160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430A5D"/>
                    </a:solidFill>
                  </a:tcPr>
                </a:tc>
                <a:tc>
                  <a:txBody>
                    <a:bodyPr/>
                    <a:lstStyle/>
                    <a:p>
                      <a:pPr>
                        <a:lnSpc>
                          <a:spcPct val="110000"/>
                        </a:lnSpc>
                        <a:spcAft>
                          <a:spcPts val="600"/>
                        </a:spcAft>
                        <a:buNone/>
                      </a:pPr>
                      <a:r>
                        <a:rPr lang="zh-CN" sz="1600" b="1"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描述</a:t>
                      </a:r>
                      <a:endParaRPr lang="zh-CN" sz="16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430A5D"/>
                    </a:solidFill>
                  </a:tcPr>
                </a:tc>
                <a:extLst>
                  <a:ext uri="{0D108BD9-81ED-4DB2-BD59-A6C34878D82A}">
                    <a16:rowId xmlns:a16="http://schemas.microsoft.com/office/drawing/2014/main" val="3877863949"/>
                  </a:ext>
                </a:extLst>
              </a:tr>
              <a:tr h="702219">
                <a:tc>
                  <a:txBody>
                    <a:bodyPr/>
                    <a:lstStyle/>
                    <a:p>
                      <a:pPr>
                        <a:lnSpc>
                          <a:spcPct val="110000"/>
                        </a:lnSpc>
                        <a:spcAft>
                          <a:spcPts val="600"/>
                        </a:spcAft>
                        <a:buNone/>
                      </a:pPr>
                      <a:r>
                        <a:rPr lang="zh-CN" sz="1600" b="1">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及时交付</a:t>
                      </a:r>
                      <a:endParaRPr lang="zh-CN" sz="16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1EAFF"/>
                    </a:solidFill>
                  </a:tcPr>
                </a:tc>
                <a:tc>
                  <a:txBody>
                    <a:bodyPr/>
                    <a:lstStyle/>
                    <a:p>
                      <a:pPr>
                        <a:lnSpc>
                          <a:spcPct val="110000"/>
                        </a:lnSpc>
                        <a:spcAft>
                          <a:spcPts val="600"/>
                        </a:spcAft>
                        <a:buNone/>
                      </a:pPr>
                      <a:r>
                        <a:rPr lang="zh-CN" sz="160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按时或者最少</a:t>
                      </a:r>
                      <a:r>
                        <a:rPr lang="en-US" sz="160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late</a:t>
                      </a:r>
                      <a:r>
                        <a:rPr lang="zh-CN" sz="160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的计划单</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5866035"/>
                  </a:ext>
                </a:extLst>
              </a:tr>
              <a:tr h="712463">
                <a:tc>
                  <a:txBody>
                    <a:bodyPr/>
                    <a:lstStyle/>
                    <a:p>
                      <a:pPr>
                        <a:lnSpc>
                          <a:spcPct val="110000"/>
                        </a:lnSpc>
                        <a:spcAft>
                          <a:spcPts val="600"/>
                        </a:spcAft>
                        <a:buNone/>
                      </a:pPr>
                      <a:r>
                        <a:rPr lang="zh-CN" sz="1600" b="1">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供应优先级</a:t>
                      </a:r>
                      <a:endParaRPr lang="zh-CN" sz="16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1EAFF"/>
                    </a:solidFill>
                  </a:tcPr>
                </a:tc>
                <a:tc>
                  <a:txBody>
                    <a:bodyPr/>
                    <a:lstStyle/>
                    <a:p>
                      <a:pPr>
                        <a:lnSpc>
                          <a:spcPct val="110000"/>
                        </a:lnSpc>
                        <a:spcAft>
                          <a:spcPts val="600"/>
                        </a:spcAft>
                        <a:buNone/>
                      </a:pPr>
                      <a:r>
                        <a:rPr lang="zh-CN" sz="160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按照替换资源的优先级分配</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5321027"/>
                  </a:ext>
                </a:extLst>
              </a:tr>
              <a:tr h="712463">
                <a:tc>
                  <a:txBody>
                    <a:bodyPr/>
                    <a:lstStyle/>
                    <a:p>
                      <a:pPr>
                        <a:lnSpc>
                          <a:spcPct val="110000"/>
                        </a:lnSpc>
                        <a:spcAft>
                          <a:spcPts val="600"/>
                        </a:spcAft>
                        <a:buNone/>
                      </a:pPr>
                      <a:r>
                        <a:rPr lang="zh-CN" sz="1600" b="1">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供应层级</a:t>
                      </a:r>
                      <a:endParaRPr lang="zh-CN" sz="16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1EAFF"/>
                    </a:solidFill>
                  </a:tcPr>
                </a:tc>
                <a:tc>
                  <a:txBody>
                    <a:bodyPr/>
                    <a:lstStyle/>
                    <a:p>
                      <a:pPr>
                        <a:lnSpc>
                          <a:spcPct val="110000"/>
                        </a:lnSpc>
                        <a:spcAft>
                          <a:spcPts val="600"/>
                        </a:spcAft>
                        <a:buNone/>
                      </a:pPr>
                      <a:r>
                        <a:rPr lang="zh-CN" sz="160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被供应更少层级的优先选择</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88634192"/>
                  </a:ext>
                </a:extLst>
              </a:tr>
              <a:tr h="712463">
                <a:tc>
                  <a:txBody>
                    <a:bodyPr/>
                    <a:lstStyle/>
                    <a:p>
                      <a:pPr>
                        <a:lnSpc>
                          <a:spcPct val="110000"/>
                        </a:lnSpc>
                        <a:spcAft>
                          <a:spcPts val="600"/>
                        </a:spcAft>
                        <a:buNone/>
                      </a:pPr>
                      <a:r>
                        <a:rPr lang="zh-CN" sz="1600" b="1">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新增采购成本</a:t>
                      </a:r>
                      <a:endParaRPr lang="zh-CN" sz="16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1EAFF"/>
                    </a:solidFill>
                  </a:tcPr>
                </a:tc>
                <a:tc>
                  <a:txBody>
                    <a:bodyPr/>
                    <a:lstStyle/>
                    <a:p>
                      <a:pPr>
                        <a:lnSpc>
                          <a:spcPct val="110000"/>
                        </a:lnSpc>
                        <a:spcAft>
                          <a:spcPts val="600"/>
                        </a:spcAft>
                        <a:buNone/>
                      </a:pPr>
                      <a:r>
                        <a:rPr lang="zh-CN" sz="160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计划采购订单的成本</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4737349"/>
                  </a:ext>
                </a:extLst>
              </a:tr>
              <a:tr h="712463">
                <a:tc>
                  <a:txBody>
                    <a:bodyPr/>
                    <a:lstStyle/>
                    <a:p>
                      <a:pPr>
                        <a:lnSpc>
                          <a:spcPct val="110000"/>
                        </a:lnSpc>
                        <a:spcAft>
                          <a:spcPts val="600"/>
                        </a:spcAft>
                        <a:buNone/>
                      </a:pPr>
                      <a:r>
                        <a:rPr lang="zh-CN" sz="1600" b="1">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现有成本</a:t>
                      </a:r>
                      <a:endParaRPr lang="zh-CN" sz="16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1EAFF"/>
                    </a:solidFill>
                  </a:tcPr>
                </a:tc>
                <a:tc>
                  <a:txBody>
                    <a:bodyPr/>
                    <a:lstStyle/>
                    <a:p>
                      <a:pPr>
                        <a:lnSpc>
                          <a:spcPct val="110000"/>
                        </a:lnSpc>
                        <a:spcAft>
                          <a:spcPts val="600"/>
                        </a:spcAft>
                        <a:buNone/>
                      </a:pPr>
                      <a:r>
                        <a:rPr lang="zh-CN" sz="16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分配的库存，</a:t>
                      </a:r>
                      <a:r>
                        <a:rPr lang="en-US" sz="16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SR</a:t>
                      </a:r>
                      <a:r>
                        <a:rPr lang="zh-CN" sz="16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和现存计划单据的成本</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82344262"/>
                  </a:ext>
                </a:extLst>
              </a:tr>
            </a:tbl>
          </a:graphicData>
        </a:graphic>
      </p:graphicFrame>
      <p:sp>
        <p:nvSpPr>
          <p:cNvPr id="7" name="文本框 6">
            <a:extLst>
              <a:ext uri="{FF2B5EF4-FFF2-40B4-BE49-F238E27FC236}">
                <a16:creationId xmlns:a16="http://schemas.microsoft.com/office/drawing/2014/main" id="{7CA070A3-135B-59A3-434E-6B4CE31D1047}"/>
              </a:ext>
            </a:extLst>
          </p:cNvPr>
          <p:cNvSpPr txBox="1"/>
          <p:nvPr/>
        </p:nvSpPr>
        <p:spPr>
          <a:xfrm>
            <a:off x="1242509" y="984325"/>
            <a:ext cx="8089750" cy="646331"/>
          </a:xfrm>
          <a:prstGeom prst="rect">
            <a:avLst/>
          </a:prstGeom>
          <a:noFill/>
        </p:spPr>
        <p:txBody>
          <a:bodyPr wrap="square" rtlCol="0">
            <a:spAutoFit/>
          </a:bodyPr>
          <a:lstStyle/>
          <a:p>
            <a:r>
              <a:rPr lang="zh-CN" altLang="en-US" dirty="0"/>
              <a:t>先根据</a:t>
            </a:r>
            <a:r>
              <a:rPr lang="en-US" altLang="zh-CN" dirty="0"/>
              <a:t>LLC</a:t>
            </a:r>
            <a:r>
              <a:rPr lang="zh-CN" altLang="en-US" dirty="0"/>
              <a:t>和规则逻辑利用</a:t>
            </a:r>
            <a:r>
              <a:rPr lang="en-US" altLang="zh-CN" dirty="0"/>
              <a:t>Kitting</a:t>
            </a:r>
            <a:r>
              <a:rPr lang="zh-CN" altLang="en-US" dirty="0"/>
              <a:t>限定</a:t>
            </a:r>
            <a:r>
              <a:rPr lang="en-US" altLang="zh-CN" dirty="0"/>
              <a:t>MRP</a:t>
            </a:r>
            <a:r>
              <a:rPr lang="zh-CN" altLang="en-US" dirty="0"/>
              <a:t>范围</a:t>
            </a:r>
            <a:endParaRPr lang="en-US" altLang="zh-CN" dirty="0"/>
          </a:p>
          <a:p>
            <a:r>
              <a:rPr lang="zh-CN" altLang="en-US" dirty="0"/>
              <a:t>然后根据</a:t>
            </a:r>
            <a:r>
              <a:rPr lang="en-US" altLang="zh-CN" dirty="0"/>
              <a:t>OTP</a:t>
            </a:r>
            <a:r>
              <a:rPr lang="zh-CN" altLang="en-US" dirty="0"/>
              <a:t>做交期承诺，供需分配</a:t>
            </a:r>
          </a:p>
        </p:txBody>
      </p:sp>
    </p:spTree>
    <p:extLst>
      <p:ext uri="{BB962C8B-B14F-4D97-AF65-F5344CB8AC3E}">
        <p14:creationId xmlns:p14="http://schemas.microsoft.com/office/powerpoint/2010/main" val="2108000934"/>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40459C6E-D7F7-E306-7839-2F84A1D0413E}"/>
              </a:ext>
            </a:extLst>
          </p:cNvPr>
          <p:cNvSpPr>
            <a:spLocks noGrp="1"/>
          </p:cNvSpPr>
          <p:nvPr>
            <p:ph type="ctrTitle"/>
          </p:nvPr>
        </p:nvSpPr>
        <p:spPr/>
        <p:txBody>
          <a:bodyPr/>
          <a:lstStyle/>
          <a:p>
            <a:r>
              <a:rPr lang="zh-CN" altLang="en-US" dirty="0"/>
              <a:t>维度规划</a:t>
            </a:r>
            <a:r>
              <a:rPr lang="en-US" altLang="zh-CN" dirty="0"/>
              <a:t>Dimension Planning</a:t>
            </a:r>
            <a:endParaRPr lang="zh-CN" altLang="en-US" dirty="0"/>
          </a:p>
        </p:txBody>
      </p:sp>
    </p:spTree>
    <p:extLst>
      <p:ext uri="{BB962C8B-B14F-4D97-AF65-F5344CB8AC3E}">
        <p14:creationId xmlns:p14="http://schemas.microsoft.com/office/powerpoint/2010/main" val="774938927"/>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50A2CAC8-E121-33A5-C7EF-47F36F212BC6}"/>
              </a:ext>
            </a:extLst>
          </p:cNvPr>
          <p:cNvSpPr>
            <a:spLocks noGrp="1"/>
          </p:cNvSpPr>
          <p:nvPr>
            <p:ph type="title"/>
          </p:nvPr>
        </p:nvSpPr>
        <p:spPr/>
        <p:txBody>
          <a:bodyPr/>
          <a:lstStyle/>
          <a:p>
            <a:r>
              <a:rPr lang="zh-CN" altLang="en-US" dirty="0"/>
              <a:t>维度规划的概念</a:t>
            </a:r>
          </a:p>
        </p:txBody>
      </p:sp>
      <p:sp>
        <p:nvSpPr>
          <p:cNvPr id="4" name="文本框 3">
            <a:extLst>
              <a:ext uri="{FF2B5EF4-FFF2-40B4-BE49-F238E27FC236}">
                <a16:creationId xmlns:a16="http://schemas.microsoft.com/office/drawing/2014/main" id="{CA92E823-1777-80AA-B057-EEF883A0097B}"/>
              </a:ext>
            </a:extLst>
          </p:cNvPr>
          <p:cNvSpPr txBox="1"/>
          <p:nvPr/>
        </p:nvSpPr>
        <p:spPr>
          <a:xfrm>
            <a:off x="1055988" y="869182"/>
            <a:ext cx="8601390" cy="369332"/>
          </a:xfrm>
          <a:prstGeom prst="rect">
            <a:avLst/>
          </a:prstGeom>
          <a:noFill/>
        </p:spPr>
        <p:txBody>
          <a:bodyPr wrap="square" rtlCol="0">
            <a:spAutoFit/>
          </a:bodyPr>
          <a:lstStyle/>
          <a:p>
            <a:r>
              <a:rPr lang="zh-CN" altLang="en-US" b="1" dirty="0">
                <a:latin typeface="+mj-ea"/>
                <a:ea typeface="+mj-ea"/>
              </a:rPr>
              <a:t>将业务特征转化为数据动力，使供应链从僵化的响应体系进化为柔性的智能网络。</a:t>
            </a:r>
            <a:endParaRPr lang="zh-CN" altLang="en-US" dirty="0">
              <a:latin typeface="+mj-ea"/>
              <a:ea typeface="+mj-ea"/>
            </a:endParaRPr>
          </a:p>
        </p:txBody>
      </p:sp>
      <p:graphicFrame>
        <p:nvGraphicFramePr>
          <p:cNvPr id="5" name="表格 4">
            <a:extLst>
              <a:ext uri="{FF2B5EF4-FFF2-40B4-BE49-F238E27FC236}">
                <a16:creationId xmlns:a16="http://schemas.microsoft.com/office/drawing/2014/main" id="{E7D93985-2C0C-843A-5360-8089709EA31A}"/>
              </a:ext>
            </a:extLst>
          </p:cNvPr>
          <p:cNvGraphicFramePr>
            <a:graphicFrameLocks noGrp="1"/>
          </p:cNvGraphicFramePr>
          <p:nvPr>
            <p:extLst>
              <p:ext uri="{D42A27DB-BD31-4B8C-83A1-F6EECF244321}">
                <p14:modId xmlns:p14="http://schemas.microsoft.com/office/powerpoint/2010/main" val="3252076196"/>
              </p:ext>
            </p:extLst>
          </p:nvPr>
        </p:nvGraphicFramePr>
        <p:xfrm>
          <a:off x="1133920" y="1478017"/>
          <a:ext cx="9125447" cy="4812251"/>
        </p:xfrm>
        <a:graphic>
          <a:graphicData uri="http://schemas.openxmlformats.org/drawingml/2006/table">
            <a:tbl>
              <a:tblPr/>
              <a:tblGrid>
                <a:gridCol w="2157423">
                  <a:extLst>
                    <a:ext uri="{9D8B030D-6E8A-4147-A177-3AD203B41FA5}">
                      <a16:colId xmlns:a16="http://schemas.microsoft.com/office/drawing/2014/main" val="161805493"/>
                    </a:ext>
                  </a:extLst>
                </a:gridCol>
                <a:gridCol w="6968024">
                  <a:extLst>
                    <a:ext uri="{9D8B030D-6E8A-4147-A177-3AD203B41FA5}">
                      <a16:colId xmlns:a16="http://schemas.microsoft.com/office/drawing/2014/main" val="1983816085"/>
                    </a:ext>
                  </a:extLst>
                </a:gridCol>
              </a:tblGrid>
              <a:tr h="330644">
                <a:tc>
                  <a:txBody>
                    <a:bodyPr/>
                    <a:lstStyle/>
                    <a:p>
                      <a:pPr>
                        <a:buNone/>
                      </a:pPr>
                      <a:r>
                        <a:rPr lang="zh-CN" altLang="en-US" sz="1600" b="1" dirty="0">
                          <a:solidFill>
                            <a:srgbClr val="FFFFFF"/>
                          </a:solidFill>
                          <a:latin typeface="+mj-ea"/>
                          <a:ea typeface="+mj-ea"/>
                        </a:rPr>
                        <a:t>方面</a:t>
                      </a:r>
                    </a:p>
                  </a:txBody>
                  <a:tcPr marL="55598" marR="55598" marT="27799" marB="27799"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674188"/>
                    </a:solidFill>
                  </a:tcPr>
                </a:tc>
                <a:tc>
                  <a:txBody>
                    <a:bodyPr/>
                    <a:lstStyle/>
                    <a:p>
                      <a:pPr>
                        <a:buNone/>
                      </a:pPr>
                      <a:r>
                        <a:rPr lang="zh-CN" altLang="en-US" sz="1600" b="1" dirty="0">
                          <a:solidFill>
                            <a:srgbClr val="FFFFFF"/>
                          </a:solidFill>
                          <a:latin typeface="+mj-ea"/>
                          <a:ea typeface="+mj-ea"/>
                        </a:rPr>
                        <a:t>核心阐述</a:t>
                      </a:r>
                    </a:p>
                  </a:txBody>
                  <a:tcPr marL="55598" marR="55598" marT="27799" marB="27799" anchor="ctr">
                    <a:lnL>
                      <a:solidFill>
                        <a:srgbClr val="674188"/>
                      </a:solidFill>
                      <a:prstDash val="solid"/>
                    </a:lnL>
                    <a:lnR>
                      <a:solidFill>
                        <a:srgbClr val="674188"/>
                      </a:solidFill>
                      <a:prstDash val="solid"/>
                    </a:lnR>
                    <a:lnT>
                      <a:solidFill>
                        <a:srgbClr val="674188"/>
                      </a:solidFill>
                      <a:prstDash val="solid"/>
                    </a:lnT>
                    <a:lnB>
                      <a:solidFill>
                        <a:srgbClr val="674188"/>
                      </a:solidFill>
                      <a:prstDash val="solid"/>
                    </a:lnB>
                    <a:solidFill>
                      <a:srgbClr val="674188"/>
                    </a:solidFill>
                  </a:tcPr>
                </a:tc>
                <a:extLst>
                  <a:ext uri="{0D108BD9-81ED-4DB2-BD59-A6C34878D82A}">
                    <a16:rowId xmlns:a16="http://schemas.microsoft.com/office/drawing/2014/main" val="3767968590"/>
                  </a:ext>
                </a:extLst>
              </a:tr>
              <a:tr h="798094">
                <a:tc>
                  <a:txBody>
                    <a:bodyPr/>
                    <a:lstStyle/>
                    <a:p>
                      <a:pPr>
                        <a:buNone/>
                      </a:pPr>
                      <a:r>
                        <a:rPr lang="zh-CN" altLang="en-US" sz="1400" b="1">
                          <a:solidFill>
                            <a:srgbClr val="000000"/>
                          </a:solidFill>
                          <a:latin typeface="+mj-ea"/>
                          <a:ea typeface="+mj-ea"/>
                        </a:rPr>
                        <a:t>本质定义</a:t>
                      </a:r>
                    </a:p>
                  </a:txBody>
                  <a:tcPr marL="55598" marR="55598" marT="27799" marB="27799" anchor="ctr">
                    <a:lnL>
                      <a:solidFill>
                        <a:srgbClr val="674188"/>
                      </a:solidFill>
                      <a:prstDash val="solid"/>
                    </a:lnL>
                    <a:lnR>
                      <a:solidFill>
                        <a:srgbClr val="674188"/>
                      </a:solidFill>
                      <a:prstDash val="solid"/>
                    </a:lnR>
                    <a:lnT>
                      <a:solidFill>
                        <a:srgbClr val="674188"/>
                      </a:solidFill>
                      <a:prstDash val="solid"/>
                    </a:lnT>
                    <a:lnB>
                      <a:solidFill>
                        <a:srgbClr val="DDDDDD"/>
                      </a:solidFill>
                      <a:prstDash val="solid"/>
                    </a:lnB>
                    <a:solidFill>
                      <a:srgbClr val="DACDE4"/>
                    </a:solidFill>
                  </a:tcPr>
                </a:tc>
                <a:tc>
                  <a:txBody>
                    <a:bodyPr/>
                    <a:lstStyle/>
                    <a:p>
                      <a:pPr>
                        <a:buNone/>
                      </a:pPr>
                      <a:r>
                        <a:rPr lang="zh-CN" altLang="en-US" sz="1400" b="1" dirty="0">
                          <a:solidFill>
                            <a:schemeClr val="tx1"/>
                          </a:solidFill>
                          <a:latin typeface="+mj-ea"/>
                          <a:ea typeface="+mj-ea"/>
                        </a:rPr>
                        <a:t>维度是描述业务对象（产品结构、需求、供应、资源）关键特征的标准化属性。</a:t>
                      </a:r>
                      <a:r>
                        <a:rPr lang="zh-CN" altLang="en-US" sz="1400" dirty="0">
                          <a:solidFill>
                            <a:schemeClr val="tx1"/>
                          </a:solidFill>
                          <a:latin typeface="+mj-ea"/>
                          <a:ea typeface="+mj-ea"/>
                        </a:rPr>
                        <a:t> 它是将复杂业务现实（如“红色</a:t>
                      </a:r>
                      <a:r>
                        <a:rPr lang="en-US" altLang="zh-CN" sz="1400" dirty="0">
                          <a:solidFill>
                            <a:schemeClr val="tx1"/>
                          </a:solidFill>
                          <a:latin typeface="+mj-ea"/>
                          <a:ea typeface="+mj-ea"/>
                        </a:rPr>
                        <a:t>256G</a:t>
                      </a:r>
                      <a:r>
                        <a:rPr lang="zh-CN" altLang="en-US" sz="1400" dirty="0">
                          <a:solidFill>
                            <a:schemeClr val="tx1"/>
                          </a:solidFill>
                          <a:latin typeface="+mj-ea"/>
                          <a:ea typeface="+mj-ea"/>
                        </a:rPr>
                        <a:t>手机壳”）抽象为可被计算机理解和处理的结构化数据单元。</a:t>
                      </a:r>
                    </a:p>
                  </a:txBody>
                  <a:tcPr marL="55598" marR="55598" marT="27799" marB="27799" anchor="ctr">
                    <a:lnL>
                      <a:solidFill>
                        <a:srgbClr val="674188"/>
                      </a:solidFill>
                      <a:prstDash val="solid"/>
                    </a:lnL>
                    <a:lnR>
                      <a:solidFill>
                        <a:srgbClr val="674188"/>
                      </a:solidFill>
                      <a:prstDash val="solid"/>
                    </a:lnR>
                    <a:lnT>
                      <a:solidFill>
                        <a:srgbClr val="674188"/>
                      </a:solidFill>
                      <a:prstDash val="solid"/>
                    </a:lnT>
                    <a:lnB>
                      <a:solidFill>
                        <a:srgbClr val="DDDDDD"/>
                      </a:solidFill>
                      <a:prstDash val="solid"/>
                    </a:lnB>
                    <a:noFill/>
                  </a:tcPr>
                </a:tc>
                <a:extLst>
                  <a:ext uri="{0D108BD9-81ED-4DB2-BD59-A6C34878D82A}">
                    <a16:rowId xmlns:a16="http://schemas.microsoft.com/office/drawing/2014/main" val="2718644698"/>
                  </a:ext>
                </a:extLst>
              </a:tr>
              <a:tr h="1166446">
                <a:tc>
                  <a:txBody>
                    <a:bodyPr/>
                    <a:lstStyle/>
                    <a:p>
                      <a:pPr>
                        <a:buNone/>
                      </a:pPr>
                      <a:r>
                        <a:rPr lang="zh-CN" altLang="en-US" sz="1400" b="1">
                          <a:solidFill>
                            <a:srgbClr val="000000"/>
                          </a:solidFill>
                          <a:latin typeface="+mj-ea"/>
                          <a:ea typeface="+mj-ea"/>
                        </a:rPr>
                        <a:t>要解决的核心问题</a:t>
                      </a:r>
                    </a:p>
                  </a:txBody>
                  <a:tcPr marL="55598" marR="55598" marT="27799" marB="27799" anchor="ctr">
                    <a:lnL>
                      <a:solidFill>
                        <a:srgbClr val="674188"/>
                      </a:solidFill>
                      <a:prstDash val="solid"/>
                    </a:lnL>
                    <a:lnR>
                      <a:solidFill>
                        <a:srgbClr val="674188"/>
                      </a:solidFill>
                      <a:prstDash val="solid"/>
                    </a:lnR>
                    <a:lnT>
                      <a:solidFill>
                        <a:srgbClr val="DDDDDD"/>
                      </a:solidFill>
                      <a:prstDash val="solid"/>
                    </a:lnT>
                    <a:lnB>
                      <a:solidFill>
                        <a:srgbClr val="DDDDDD"/>
                      </a:solidFill>
                      <a:prstDash val="solid"/>
                    </a:lnB>
                    <a:solidFill>
                      <a:srgbClr val="DACDE4"/>
                    </a:solidFill>
                  </a:tcPr>
                </a:tc>
                <a:tc>
                  <a:txBody>
                    <a:bodyPr/>
                    <a:lstStyle/>
                    <a:p>
                      <a:pPr>
                        <a:buNone/>
                      </a:pPr>
                      <a:r>
                        <a:rPr lang="zh-CN" altLang="en-US" sz="1400" b="1">
                          <a:solidFill>
                            <a:schemeClr val="tx1"/>
                          </a:solidFill>
                          <a:latin typeface="+mj-ea"/>
                          <a:ea typeface="+mj-ea"/>
                        </a:rPr>
                        <a:t>应对复杂性、提升敏捷性、实现协同。</a:t>
                      </a:r>
                      <a:r>
                        <a:rPr lang="zh-CN" altLang="en-US" sz="1400">
                          <a:solidFill>
                            <a:schemeClr val="tx1"/>
                          </a:solidFill>
                          <a:latin typeface="+mj-ea"/>
                          <a:ea typeface="+mj-ea"/>
                        </a:rPr>
                        <a:t> 具体表现为：</a:t>
                      </a:r>
                      <a:br>
                        <a:rPr lang="zh-CN" altLang="en-US" sz="1400">
                          <a:solidFill>
                            <a:schemeClr val="tx1"/>
                          </a:solidFill>
                          <a:latin typeface="+mj-ea"/>
                          <a:ea typeface="+mj-ea"/>
                        </a:rPr>
                      </a:br>
                      <a:r>
                        <a:rPr lang="en-US" altLang="zh-CN" sz="1400">
                          <a:solidFill>
                            <a:schemeClr val="tx1"/>
                          </a:solidFill>
                          <a:latin typeface="+mj-ea"/>
                          <a:ea typeface="+mj-ea"/>
                        </a:rPr>
                        <a:t>• </a:t>
                      </a:r>
                      <a:r>
                        <a:rPr lang="en-US" altLang="zh-CN" sz="1400" b="1">
                          <a:solidFill>
                            <a:schemeClr val="tx1"/>
                          </a:solidFill>
                          <a:latin typeface="+mj-ea"/>
                          <a:ea typeface="+mj-ea"/>
                        </a:rPr>
                        <a:t>SKU</a:t>
                      </a:r>
                      <a:r>
                        <a:rPr lang="zh-CN" altLang="en-US" sz="1400" b="1">
                          <a:solidFill>
                            <a:schemeClr val="tx1"/>
                          </a:solidFill>
                          <a:latin typeface="+mj-ea"/>
                          <a:ea typeface="+mj-ea"/>
                        </a:rPr>
                        <a:t>爆炸</a:t>
                      </a:r>
                      <a:r>
                        <a:rPr lang="zh-CN" altLang="en-US" sz="1400">
                          <a:solidFill>
                            <a:schemeClr val="tx1"/>
                          </a:solidFill>
                          <a:latin typeface="+mj-ea"/>
                          <a:ea typeface="+mj-ea"/>
                        </a:rPr>
                        <a:t>：用维度组合替代海量唯一物料编码。</a:t>
                      </a:r>
                      <a:br>
                        <a:rPr lang="zh-CN" altLang="en-US" sz="1400">
                          <a:solidFill>
                            <a:schemeClr val="tx1"/>
                          </a:solidFill>
                          <a:latin typeface="+mj-ea"/>
                          <a:ea typeface="+mj-ea"/>
                        </a:rPr>
                      </a:br>
                      <a:r>
                        <a:rPr lang="en-US" altLang="zh-CN" sz="1400">
                          <a:solidFill>
                            <a:schemeClr val="tx1"/>
                          </a:solidFill>
                          <a:latin typeface="+mj-ea"/>
                          <a:ea typeface="+mj-ea"/>
                        </a:rPr>
                        <a:t>• </a:t>
                      </a:r>
                      <a:r>
                        <a:rPr lang="zh-CN" altLang="en-US" sz="1400" b="1">
                          <a:solidFill>
                            <a:schemeClr val="tx1"/>
                          </a:solidFill>
                          <a:latin typeface="+mj-ea"/>
                          <a:ea typeface="+mj-ea"/>
                        </a:rPr>
                        <a:t>响应迟缓</a:t>
                      </a:r>
                      <a:r>
                        <a:rPr lang="zh-CN" altLang="en-US" sz="1400">
                          <a:solidFill>
                            <a:schemeClr val="tx1"/>
                          </a:solidFill>
                          <a:latin typeface="+mj-ea"/>
                          <a:ea typeface="+mj-ea"/>
                        </a:rPr>
                        <a:t>：通过维度规则快速匹配定制化需求与供应。</a:t>
                      </a:r>
                      <a:br>
                        <a:rPr lang="zh-CN" altLang="en-US" sz="1400">
                          <a:solidFill>
                            <a:schemeClr val="tx1"/>
                          </a:solidFill>
                          <a:latin typeface="+mj-ea"/>
                          <a:ea typeface="+mj-ea"/>
                        </a:rPr>
                      </a:br>
                      <a:r>
                        <a:rPr lang="en-US" altLang="zh-CN" sz="1400">
                          <a:solidFill>
                            <a:schemeClr val="tx1"/>
                          </a:solidFill>
                          <a:latin typeface="+mj-ea"/>
                          <a:ea typeface="+mj-ea"/>
                        </a:rPr>
                        <a:t>• </a:t>
                      </a:r>
                      <a:r>
                        <a:rPr lang="zh-CN" altLang="en-US" sz="1400" b="1">
                          <a:solidFill>
                            <a:schemeClr val="tx1"/>
                          </a:solidFill>
                          <a:latin typeface="+mj-ea"/>
                          <a:ea typeface="+mj-ea"/>
                        </a:rPr>
                        <a:t>系统孤岛</a:t>
                      </a:r>
                      <a:r>
                        <a:rPr lang="zh-CN" altLang="en-US" sz="1400">
                          <a:solidFill>
                            <a:schemeClr val="tx1"/>
                          </a:solidFill>
                          <a:latin typeface="+mj-ea"/>
                          <a:ea typeface="+mj-ea"/>
                        </a:rPr>
                        <a:t>：建立统一的维度语言，打通战略、战术、执行各层计划。</a:t>
                      </a:r>
                    </a:p>
                  </a:txBody>
                  <a:tcPr marL="55598" marR="55598" marT="27799" marB="27799" anchor="ctr">
                    <a:lnL>
                      <a:solidFill>
                        <a:srgbClr val="674188"/>
                      </a:solidFill>
                      <a:prstDash val="solid"/>
                    </a:lnL>
                    <a:lnR>
                      <a:solidFill>
                        <a:srgbClr val="674188"/>
                      </a:solidFill>
                      <a:prstDash val="solid"/>
                    </a:lnR>
                    <a:lnT>
                      <a:solidFill>
                        <a:srgbClr val="DDDDDD"/>
                      </a:solidFill>
                      <a:prstDash val="solid"/>
                    </a:lnT>
                    <a:lnB>
                      <a:solidFill>
                        <a:srgbClr val="DDDDDD"/>
                      </a:solidFill>
                      <a:prstDash val="solid"/>
                    </a:lnB>
                    <a:noFill/>
                  </a:tcPr>
                </a:tc>
                <a:extLst>
                  <a:ext uri="{0D108BD9-81ED-4DB2-BD59-A6C34878D82A}">
                    <a16:rowId xmlns:a16="http://schemas.microsoft.com/office/drawing/2014/main" val="2427945386"/>
                  </a:ext>
                </a:extLst>
              </a:tr>
              <a:tr h="1534797">
                <a:tc>
                  <a:txBody>
                    <a:bodyPr/>
                    <a:lstStyle/>
                    <a:p>
                      <a:pPr>
                        <a:buNone/>
                      </a:pPr>
                      <a:r>
                        <a:rPr lang="zh-CN" altLang="en-US" sz="1400" b="1">
                          <a:solidFill>
                            <a:srgbClr val="000000"/>
                          </a:solidFill>
                          <a:latin typeface="+mj-ea"/>
                          <a:ea typeface="+mj-ea"/>
                        </a:rPr>
                        <a:t>解决方案的精髓</a:t>
                      </a:r>
                    </a:p>
                  </a:txBody>
                  <a:tcPr marL="55598" marR="55598" marT="27799" marB="27799" anchor="ctr">
                    <a:lnL>
                      <a:solidFill>
                        <a:srgbClr val="674188"/>
                      </a:solidFill>
                      <a:prstDash val="solid"/>
                    </a:lnL>
                    <a:lnR>
                      <a:solidFill>
                        <a:srgbClr val="674188"/>
                      </a:solidFill>
                      <a:prstDash val="solid"/>
                    </a:lnR>
                    <a:lnT>
                      <a:solidFill>
                        <a:srgbClr val="DDDDDD"/>
                      </a:solidFill>
                      <a:prstDash val="solid"/>
                    </a:lnT>
                    <a:lnB>
                      <a:solidFill>
                        <a:srgbClr val="DDDDDD"/>
                      </a:solidFill>
                      <a:prstDash val="solid"/>
                    </a:lnB>
                    <a:solidFill>
                      <a:srgbClr val="DACDE4"/>
                    </a:solidFill>
                  </a:tcPr>
                </a:tc>
                <a:tc>
                  <a:txBody>
                    <a:bodyPr/>
                    <a:lstStyle/>
                    <a:p>
                      <a:pPr>
                        <a:buNone/>
                      </a:pPr>
                      <a:r>
                        <a:rPr lang="zh-CN" altLang="en-US" sz="1400" b="1">
                          <a:solidFill>
                            <a:schemeClr val="tx1"/>
                          </a:solidFill>
                          <a:latin typeface="+mj-ea"/>
                          <a:ea typeface="+mj-ea"/>
                        </a:rPr>
                        <a:t>“以维度为中心”的规划范式。</a:t>
                      </a:r>
                      <a:r>
                        <a:rPr lang="zh-CN" altLang="en-US" sz="1400">
                          <a:solidFill>
                            <a:schemeClr val="tx1"/>
                          </a:solidFill>
                          <a:latin typeface="+mj-ea"/>
                          <a:ea typeface="+mj-ea"/>
                        </a:rPr>
                        <a:t> 不再是围绕固定的物料清单做计划，而是围绕可灵活组合的维度特征来驱动整个供应链的决策：</a:t>
                      </a:r>
                      <a:br>
                        <a:rPr lang="zh-CN" altLang="en-US" sz="1400">
                          <a:solidFill>
                            <a:schemeClr val="tx1"/>
                          </a:solidFill>
                          <a:latin typeface="+mj-ea"/>
                          <a:ea typeface="+mj-ea"/>
                        </a:rPr>
                      </a:br>
                      <a:r>
                        <a:rPr lang="en-US" altLang="zh-CN" sz="1400">
                          <a:solidFill>
                            <a:schemeClr val="tx1"/>
                          </a:solidFill>
                          <a:latin typeface="+mj-ea"/>
                          <a:ea typeface="+mj-ea"/>
                        </a:rPr>
                        <a:t>• </a:t>
                      </a:r>
                      <a:r>
                        <a:rPr lang="zh-CN" altLang="en-US" sz="1400" b="1">
                          <a:solidFill>
                            <a:schemeClr val="tx1"/>
                          </a:solidFill>
                          <a:latin typeface="+mj-ea"/>
                          <a:ea typeface="+mj-ea"/>
                        </a:rPr>
                        <a:t>需求端</a:t>
                      </a:r>
                      <a:r>
                        <a:rPr lang="zh-CN" altLang="en-US" sz="1400">
                          <a:solidFill>
                            <a:schemeClr val="tx1"/>
                          </a:solidFill>
                          <a:latin typeface="+mj-ea"/>
                          <a:ea typeface="+mj-ea"/>
                        </a:rPr>
                        <a:t>：订单指定所需的维度值（如颜色</a:t>
                      </a:r>
                      <a:r>
                        <a:rPr lang="en-US" altLang="zh-CN" sz="1400">
                          <a:solidFill>
                            <a:schemeClr val="tx1"/>
                          </a:solidFill>
                          <a:latin typeface="+mj-ea"/>
                          <a:ea typeface="+mj-ea"/>
                        </a:rPr>
                        <a:t>=</a:t>
                      </a:r>
                      <a:r>
                        <a:rPr lang="zh-CN" altLang="en-US" sz="1400">
                          <a:solidFill>
                            <a:schemeClr val="tx1"/>
                          </a:solidFill>
                          <a:latin typeface="+mj-ea"/>
                          <a:ea typeface="+mj-ea"/>
                        </a:rPr>
                        <a:t>红，内存</a:t>
                      </a:r>
                      <a:r>
                        <a:rPr lang="en-US" altLang="zh-CN" sz="1400">
                          <a:solidFill>
                            <a:schemeClr val="tx1"/>
                          </a:solidFill>
                          <a:latin typeface="+mj-ea"/>
                          <a:ea typeface="+mj-ea"/>
                        </a:rPr>
                        <a:t>=8G</a:t>
                      </a:r>
                      <a:r>
                        <a:rPr lang="zh-CN" altLang="en-US" sz="1400">
                          <a:solidFill>
                            <a:schemeClr val="tx1"/>
                          </a:solidFill>
                          <a:latin typeface="+mj-ea"/>
                          <a:ea typeface="+mj-ea"/>
                        </a:rPr>
                        <a:t>）。</a:t>
                      </a:r>
                      <a:br>
                        <a:rPr lang="zh-CN" altLang="en-US" sz="1400">
                          <a:solidFill>
                            <a:schemeClr val="tx1"/>
                          </a:solidFill>
                          <a:latin typeface="+mj-ea"/>
                          <a:ea typeface="+mj-ea"/>
                        </a:rPr>
                      </a:br>
                      <a:r>
                        <a:rPr lang="en-US" altLang="zh-CN" sz="1400">
                          <a:solidFill>
                            <a:schemeClr val="tx1"/>
                          </a:solidFill>
                          <a:latin typeface="+mj-ea"/>
                          <a:ea typeface="+mj-ea"/>
                        </a:rPr>
                        <a:t>• </a:t>
                      </a:r>
                      <a:r>
                        <a:rPr lang="zh-CN" altLang="en-US" sz="1400" b="1">
                          <a:solidFill>
                            <a:schemeClr val="tx1"/>
                          </a:solidFill>
                          <a:latin typeface="+mj-ea"/>
                          <a:ea typeface="+mj-ea"/>
                        </a:rPr>
                        <a:t>供应端</a:t>
                      </a:r>
                      <a:r>
                        <a:rPr lang="zh-CN" altLang="en-US" sz="1400">
                          <a:solidFill>
                            <a:schemeClr val="tx1"/>
                          </a:solidFill>
                          <a:latin typeface="+mj-ea"/>
                          <a:ea typeface="+mj-ea"/>
                        </a:rPr>
                        <a:t>：库存、产能、</a:t>
                      </a:r>
                      <a:r>
                        <a:rPr lang="en-US" altLang="zh-CN" sz="1400">
                          <a:solidFill>
                            <a:schemeClr val="tx1"/>
                          </a:solidFill>
                          <a:latin typeface="+mj-ea"/>
                          <a:ea typeface="+mj-ea"/>
                        </a:rPr>
                        <a:t>BOM</a:t>
                      </a:r>
                      <a:r>
                        <a:rPr lang="zh-CN" altLang="en-US" sz="1400">
                          <a:solidFill>
                            <a:schemeClr val="tx1"/>
                          </a:solidFill>
                          <a:latin typeface="+mj-ea"/>
                          <a:ea typeface="+mj-ea"/>
                        </a:rPr>
                        <a:t>都带有维度标签。</a:t>
                      </a:r>
                      <a:br>
                        <a:rPr lang="zh-CN" altLang="en-US" sz="1400">
                          <a:solidFill>
                            <a:schemeClr val="tx1"/>
                          </a:solidFill>
                          <a:latin typeface="+mj-ea"/>
                          <a:ea typeface="+mj-ea"/>
                        </a:rPr>
                      </a:br>
                      <a:r>
                        <a:rPr lang="en-US" altLang="zh-CN" sz="1400">
                          <a:solidFill>
                            <a:schemeClr val="tx1"/>
                          </a:solidFill>
                          <a:latin typeface="+mj-ea"/>
                          <a:ea typeface="+mj-ea"/>
                        </a:rPr>
                        <a:t>• </a:t>
                      </a:r>
                      <a:r>
                        <a:rPr lang="zh-CN" altLang="en-US" sz="1400" b="1">
                          <a:solidFill>
                            <a:schemeClr val="tx1"/>
                          </a:solidFill>
                          <a:latin typeface="+mj-ea"/>
                          <a:ea typeface="+mj-ea"/>
                        </a:rPr>
                        <a:t>规划引擎</a:t>
                      </a:r>
                      <a:r>
                        <a:rPr lang="zh-CN" altLang="en-US" sz="1400">
                          <a:solidFill>
                            <a:schemeClr val="tx1"/>
                          </a:solidFill>
                          <a:latin typeface="+mj-ea"/>
                          <a:ea typeface="+mj-ea"/>
                        </a:rPr>
                        <a:t>：基于维度匹配规则，自动、精准地完成供需平衡和资源调度。 </a:t>
                      </a:r>
                    </a:p>
                  </a:txBody>
                  <a:tcPr marL="55598" marR="55598" marT="27799" marB="27799" anchor="ctr">
                    <a:lnL>
                      <a:solidFill>
                        <a:srgbClr val="674188"/>
                      </a:solidFill>
                      <a:prstDash val="solid"/>
                    </a:lnL>
                    <a:lnR>
                      <a:solidFill>
                        <a:srgbClr val="674188"/>
                      </a:solidFill>
                      <a:prstDash val="solid"/>
                    </a:lnR>
                    <a:lnT>
                      <a:solidFill>
                        <a:srgbClr val="DDDDDD"/>
                      </a:solidFill>
                      <a:prstDash val="solid"/>
                    </a:lnT>
                    <a:lnB>
                      <a:solidFill>
                        <a:srgbClr val="DDDDDD"/>
                      </a:solidFill>
                      <a:prstDash val="solid"/>
                    </a:lnB>
                    <a:noFill/>
                  </a:tcPr>
                </a:tc>
                <a:extLst>
                  <a:ext uri="{0D108BD9-81ED-4DB2-BD59-A6C34878D82A}">
                    <a16:rowId xmlns:a16="http://schemas.microsoft.com/office/drawing/2014/main" val="180886472"/>
                  </a:ext>
                </a:extLst>
              </a:tr>
              <a:tr h="982270">
                <a:tc>
                  <a:txBody>
                    <a:bodyPr/>
                    <a:lstStyle/>
                    <a:p>
                      <a:pPr>
                        <a:buNone/>
                      </a:pPr>
                      <a:r>
                        <a:rPr lang="zh-CN" altLang="en-US" sz="1400" b="1">
                          <a:solidFill>
                            <a:srgbClr val="000000"/>
                          </a:solidFill>
                          <a:latin typeface="+mj-ea"/>
                          <a:ea typeface="+mj-ea"/>
                        </a:rPr>
                        <a:t>数据模型的核心思想</a:t>
                      </a:r>
                    </a:p>
                  </a:txBody>
                  <a:tcPr marL="55598" marR="55598" marT="27799" marB="27799" anchor="ctr">
                    <a:lnL>
                      <a:solidFill>
                        <a:srgbClr val="674188"/>
                      </a:solidFill>
                      <a:prstDash val="solid"/>
                    </a:lnL>
                    <a:lnR>
                      <a:solidFill>
                        <a:srgbClr val="674188"/>
                      </a:solidFill>
                      <a:prstDash val="solid"/>
                    </a:lnR>
                    <a:lnT>
                      <a:solidFill>
                        <a:srgbClr val="DDDDDD"/>
                      </a:solidFill>
                      <a:prstDash val="solid"/>
                    </a:lnT>
                    <a:lnB>
                      <a:solidFill>
                        <a:srgbClr val="DDDDDD"/>
                      </a:solidFill>
                      <a:prstDash val="solid"/>
                    </a:lnB>
                    <a:solidFill>
                      <a:srgbClr val="DACDE4"/>
                    </a:solidFill>
                  </a:tcPr>
                </a:tc>
                <a:tc>
                  <a:txBody>
                    <a:bodyPr/>
                    <a:lstStyle/>
                    <a:p>
                      <a:pPr>
                        <a:buNone/>
                      </a:pPr>
                      <a:r>
                        <a:rPr lang="zh-CN" altLang="en-US" sz="1400" b="1" dirty="0">
                          <a:solidFill>
                            <a:schemeClr val="tx1"/>
                          </a:solidFill>
                          <a:latin typeface="+mj-ea"/>
                          <a:ea typeface="+mj-ea"/>
                        </a:rPr>
                        <a:t>“定义一次，随处引用”。</a:t>
                      </a:r>
                      <a:r>
                        <a:rPr lang="zh-CN" altLang="en-US" sz="1400" dirty="0">
                          <a:solidFill>
                            <a:schemeClr val="tx1"/>
                          </a:solidFill>
                          <a:latin typeface="+mj-ea"/>
                          <a:ea typeface="+mj-ea"/>
                        </a:rPr>
                        <a:t> 通过核心表（维度、维度值、维度组）定义业务规则，再通过关联表（产品维度、需求维度、供应维度）将维度信息“贴附”到所有相关的业务对象上，形成统一的、全链路的数据视图。</a:t>
                      </a:r>
                    </a:p>
                  </a:txBody>
                  <a:tcPr marL="55598" marR="55598" marT="27799" marB="27799" anchor="ctr">
                    <a:lnL>
                      <a:solidFill>
                        <a:srgbClr val="674188"/>
                      </a:solidFill>
                      <a:prstDash val="solid"/>
                    </a:lnL>
                    <a:lnR>
                      <a:solidFill>
                        <a:srgbClr val="674188"/>
                      </a:solidFill>
                      <a:prstDash val="solid"/>
                    </a:lnR>
                    <a:lnT>
                      <a:solidFill>
                        <a:srgbClr val="DDDDDD"/>
                      </a:solidFill>
                      <a:prstDash val="solid"/>
                    </a:lnT>
                    <a:lnB>
                      <a:solidFill>
                        <a:srgbClr val="DDDDDD"/>
                      </a:solidFill>
                      <a:prstDash val="solid"/>
                    </a:lnB>
                    <a:noFill/>
                  </a:tcPr>
                </a:tc>
                <a:extLst>
                  <a:ext uri="{0D108BD9-81ED-4DB2-BD59-A6C34878D82A}">
                    <a16:rowId xmlns:a16="http://schemas.microsoft.com/office/drawing/2014/main" val="485833788"/>
                  </a:ext>
                </a:extLst>
              </a:tr>
            </a:tbl>
          </a:graphicData>
        </a:graphic>
      </p:graphicFrame>
    </p:spTree>
    <p:extLst>
      <p:ext uri="{BB962C8B-B14F-4D97-AF65-F5344CB8AC3E}">
        <p14:creationId xmlns:p14="http://schemas.microsoft.com/office/powerpoint/2010/main" val="2920515798"/>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2678047-40AF-0B98-954F-357EB0D54A6C}"/>
              </a:ext>
            </a:extLst>
          </p:cNvPr>
          <p:cNvSpPr>
            <a:spLocks noGrp="1"/>
          </p:cNvSpPr>
          <p:nvPr>
            <p:ph type="title"/>
          </p:nvPr>
        </p:nvSpPr>
        <p:spPr/>
        <p:txBody>
          <a:bodyPr/>
          <a:lstStyle/>
          <a:p>
            <a:r>
              <a:rPr lang="zh-CN" altLang="en-US" dirty="0"/>
              <a:t>场景</a:t>
            </a:r>
          </a:p>
        </p:txBody>
      </p:sp>
      <p:graphicFrame>
        <p:nvGraphicFramePr>
          <p:cNvPr id="76" name="图示 75">
            <a:extLst>
              <a:ext uri="{FF2B5EF4-FFF2-40B4-BE49-F238E27FC236}">
                <a16:creationId xmlns:a16="http://schemas.microsoft.com/office/drawing/2014/main" id="{5EFA6898-0351-5FE7-4D29-7C83F159982D}"/>
              </a:ext>
            </a:extLst>
          </p:cNvPr>
          <p:cNvGraphicFramePr/>
          <p:nvPr>
            <p:extLst>
              <p:ext uri="{D42A27DB-BD31-4B8C-83A1-F6EECF244321}">
                <p14:modId xmlns:p14="http://schemas.microsoft.com/office/powerpoint/2010/main" val="1346240236"/>
              </p:ext>
            </p:extLst>
          </p:nvPr>
        </p:nvGraphicFramePr>
        <p:xfrm>
          <a:off x="983944" y="864523"/>
          <a:ext cx="10642791" cy="542821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548601354"/>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75C2CD1-4D9F-3C88-9D3E-C2C57EB54A77}"/>
              </a:ext>
            </a:extLst>
          </p:cNvPr>
          <p:cNvSpPr>
            <a:spLocks noGrp="1"/>
          </p:cNvSpPr>
          <p:nvPr>
            <p:ph type="title"/>
          </p:nvPr>
        </p:nvSpPr>
        <p:spPr/>
        <p:txBody>
          <a:bodyPr/>
          <a:lstStyle/>
          <a:p>
            <a:r>
              <a:rPr lang="en-US" altLang="zh-CN" dirty="0"/>
              <a:t>Data Model</a:t>
            </a:r>
            <a:endParaRPr lang="zh-CN" altLang="en-US" dirty="0"/>
          </a:p>
        </p:txBody>
      </p:sp>
      <p:pic>
        <p:nvPicPr>
          <p:cNvPr id="8" name="图片 7">
            <a:extLst>
              <a:ext uri="{FF2B5EF4-FFF2-40B4-BE49-F238E27FC236}">
                <a16:creationId xmlns:a16="http://schemas.microsoft.com/office/drawing/2014/main" id="{E91E18CF-7858-831B-9DF4-E47D02075C64}"/>
              </a:ext>
            </a:extLst>
          </p:cNvPr>
          <p:cNvPicPr>
            <a:picLocks noChangeAspect="1"/>
          </p:cNvPicPr>
          <p:nvPr/>
        </p:nvPicPr>
        <p:blipFill>
          <a:blip r:embed="rId19"/>
          <a:stretch>
            <a:fillRect/>
          </a:stretch>
        </p:blipFill>
        <p:spPr>
          <a:xfrm>
            <a:off x="6262211" y="1110344"/>
            <a:ext cx="5559516" cy="4923692"/>
          </a:xfrm>
          <a:prstGeom prst="rect">
            <a:avLst/>
          </a:prstGeom>
        </p:spPr>
      </p:pic>
      <p:grpSp>
        <p:nvGrpSpPr>
          <p:cNvPr id="12" name="组合 11">
            <a:extLst>
              <a:ext uri="{FF2B5EF4-FFF2-40B4-BE49-F238E27FC236}">
                <a16:creationId xmlns:a16="http://schemas.microsoft.com/office/drawing/2014/main" id="{E5C1D3F4-FBAA-5412-CACD-54493A3EEE5F}"/>
              </a:ext>
            </a:extLst>
          </p:cNvPr>
          <p:cNvGrpSpPr>
            <a:grpSpLocks noChangeAspect="1"/>
          </p:cNvGrpSpPr>
          <p:nvPr>
            <p:custDataLst>
              <p:tags r:id="rId1"/>
            </p:custDataLst>
          </p:nvPr>
        </p:nvGrpSpPr>
        <p:grpSpPr>
          <a:xfrm>
            <a:off x="341232" y="1191197"/>
            <a:ext cx="5588558" cy="3508346"/>
            <a:chOff x="2904417" y="1674827"/>
            <a:chExt cx="6268865" cy="3508346"/>
          </a:xfrm>
        </p:grpSpPr>
        <p:grpSp>
          <p:nvGrpSpPr>
            <p:cNvPr id="13" name="组合 12">
              <a:extLst>
                <a:ext uri="{FF2B5EF4-FFF2-40B4-BE49-F238E27FC236}">
                  <a16:creationId xmlns:a16="http://schemas.microsoft.com/office/drawing/2014/main" id="{7D5067D5-3277-DD88-1A4D-EFAA7733F30D}"/>
                </a:ext>
              </a:extLst>
            </p:cNvPr>
            <p:cNvGrpSpPr/>
            <p:nvPr/>
          </p:nvGrpSpPr>
          <p:grpSpPr>
            <a:xfrm>
              <a:off x="2904417" y="1674827"/>
              <a:ext cx="6268865" cy="738359"/>
              <a:chOff x="2904417" y="1674827"/>
              <a:chExt cx="6268865" cy="738359"/>
            </a:xfrm>
          </p:grpSpPr>
          <p:sp>
            <p:nvSpPr>
              <p:cNvPr id="32" name="1">
                <a:extLst>
                  <a:ext uri="{FF2B5EF4-FFF2-40B4-BE49-F238E27FC236}">
                    <a16:creationId xmlns:a16="http://schemas.microsoft.com/office/drawing/2014/main" id="{E7B39235-4A88-DFB1-AF4B-30B2AE64A98C}"/>
                  </a:ext>
                </a:extLst>
              </p:cNvPr>
              <p:cNvSpPr/>
              <p:nvPr>
                <p:custDataLst>
                  <p:tags r:id="rId14"/>
                </p:custDataLst>
              </p:nvPr>
            </p:nvSpPr>
            <p:spPr>
              <a:xfrm>
                <a:off x="2904417" y="1675734"/>
                <a:ext cx="6268865" cy="736545"/>
              </a:xfrm>
              <a:prstGeom prst="roundRect">
                <a:avLst>
                  <a:gd name="adj" fmla="val 28076"/>
                </a:avLst>
              </a:prstGeom>
              <a:solidFill>
                <a:schemeClr val="bg1">
                  <a:lumMod val="95000"/>
                </a:schemeClr>
              </a:solidFill>
              <a:ln w="25400">
                <a:noFill/>
              </a:ln>
              <a:effectLst>
                <a:outerShdw blurRad="381000" dist="63500" sx="90000" sy="90000" algn="ctr" rotWithShape="0">
                  <a:schemeClr val="tx1">
                    <a:lumMod val="50000"/>
                    <a:lumOff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solidFill>
                    <a:prstClr val="white"/>
                  </a:solidFill>
                  <a:latin typeface="+mj-ea"/>
                  <a:ea typeface="+mj-ea"/>
                </a:endParaRPr>
              </a:p>
            </p:txBody>
          </p:sp>
          <p:sp>
            <p:nvSpPr>
              <p:cNvPr id="33" name="1">
                <a:extLst>
                  <a:ext uri="{FF2B5EF4-FFF2-40B4-BE49-F238E27FC236}">
                    <a16:creationId xmlns:a16="http://schemas.microsoft.com/office/drawing/2014/main" id="{C6A96C2D-229E-B79B-5218-6EE83778A40E}"/>
                  </a:ext>
                </a:extLst>
              </p:cNvPr>
              <p:cNvSpPr/>
              <p:nvPr>
                <p:custDataLst>
                  <p:tags r:id="rId15"/>
                </p:custDataLst>
              </p:nvPr>
            </p:nvSpPr>
            <p:spPr>
              <a:xfrm>
                <a:off x="2904418" y="1674827"/>
                <a:ext cx="1687065" cy="738359"/>
              </a:xfrm>
              <a:custGeom>
                <a:avLst/>
                <a:gdLst>
                  <a:gd name="connsiteX0" fmla="*/ 709001 w 1687065"/>
                  <a:gd name="connsiteY0" fmla="*/ 0 h 738359"/>
                  <a:gd name="connsiteX1" fmla="*/ 1120121 w 1687065"/>
                  <a:gd name="connsiteY1" fmla="*/ 0 h 738359"/>
                  <a:gd name="connsiteX2" fmla="*/ 1120121 w 1687065"/>
                  <a:gd name="connsiteY2" fmla="*/ 359 h 738359"/>
                  <a:gd name="connsiteX3" fmla="*/ 1687065 w 1687065"/>
                  <a:gd name="connsiteY3" fmla="*/ 359 h 738359"/>
                  <a:gd name="connsiteX4" fmla="*/ 1120121 w 1687065"/>
                  <a:gd name="connsiteY4" fmla="*/ 738359 h 738359"/>
                  <a:gd name="connsiteX5" fmla="*/ 1120121 w 1687065"/>
                  <a:gd name="connsiteY5" fmla="*/ 738000 h 738359"/>
                  <a:gd name="connsiteX6" fmla="*/ 833457 w 1687065"/>
                  <a:gd name="connsiteY6" fmla="*/ 738000 h 738359"/>
                  <a:gd name="connsiteX7" fmla="*/ 829906 w 1687065"/>
                  <a:gd name="connsiteY7" fmla="*/ 738358 h 738359"/>
                  <a:gd name="connsiteX8" fmla="*/ 191954 w 1687065"/>
                  <a:gd name="connsiteY8" fmla="*/ 738358 h 738359"/>
                  <a:gd name="connsiteX9" fmla="*/ 0 w 1687065"/>
                  <a:gd name="connsiteY9" fmla="*/ 546404 h 738359"/>
                  <a:gd name="connsiteX10" fmla="*/ 0 w 1687065"/>
                  <a:gd name="connsiteY10" fmla="*/ 192312 h 738359"/>
                  <a:gd name="connsiteX11" fmla="*/ 191954 w 1687065"/>
                  <a:gd name="connsiteY11" fmla="*/ 358 h 738359"/>
                  <a:gd name="connsiteX12" fmla="*/ 709001 w 1687065"/>
                  <a:gd name="connsiteY12" fmla="*/ 358 h 738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7065" h="738359">
                    <a:moveTo>
                      <a:pt x="709001" y="0"/>
                    </a:moveTo>
                    <a:lnTo>
                      <a:pt x="1120121" y="0"/>
                    </a:lnTo>
                    <a:lnTo>
                      <a:pt x="1120121" y="359"/>
                    </a:lnTo>
                    <a:lnTo>
                      <a:pt x="1687065" y="359"/>
                    </a:lnTo>
                    <a:lnTo>
                      <a:pt x="1120121" y="738359"/>
                    </a:lnTo>
                    <a:lnTo>
                      <a:pt x="1120121" y="738000"/>
                    </a:lnTo>
                    <a:lnTo>
                      <a:pt x="833457" y="738000"/>
                    </a:lnTo>
                    <a:lnTo>
                      <a:pt x="829906" y="738358"/>
                    </a:lnTo>
                    <a:lnTo>
                      <a:pt x="191954" y="738358"/>
                    </a:lnTo>
                    <a:cubicBezTo>
                      <a:pt x="85941" y="738358"/>
                      <a:pt x="0" y="652417"/>
                      <a:pt x="0" y="546404"/>
                    </a:cubicBezTo>
                    <a:lnTo>
                      <a:pt x="0" y="192312"/>
                    </a:lnTo>
                    <a:cubicBezTo>
                      <a:pt x="0" y="86299"/>
                      <a:pt x="85941" y="358"/>
                      <a:pt x="191954" y="358"/>
                    </a:cubicBezTo>
                    <a:lnTo>
                      <a:pt x="709001" y="358"/>
                    </a:lnTo>
                    <a:close/>
                  </a:path>
                </a:pathLst>
              </a:custGeom>
              <a:gradFill flip="none" rotWithShape="1">
                <a:gsLst>
                  <a:gs pos="0">
                    <a:schemeClr val="accent1"/>
                  </a:gs>
                  <a:gs pos="100000">
                    <a:schemeClr val="accent1">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sp>
            <p:nvSpPr>
              <p:cNvPr id="34" name="Title-1">
                <a:extLst>
                  <a:ext uri="{FF2B5EF4-FFF2-40B4-BE49-F238E27FC236}">
                    <a16:creationId xmlns:a16="http://schemas.microsoft.com/office/drawing/2014/main" id="{D558B6F8-8FB6-AC06-370F-7770BD69AC17}"/>
                  </a:ext>
                </a:extLst>
              </p:cNvPr>
              <p:cNvSpPr txBox="1"/>
              <p:nvPr>
                <p:custDataLst>
                  <p:tags r:id="rId16"/>
                </p:custDataLst>
              </p:nvPr>
            </p:nvSpPr>
            <p:spPr>
              <a:xfrm>
                <a:off x="3018719" y="1873837"/>
                <a:ext cx="1129809" cy="340338"/>
              </a:xfrm>
              <a:prstGeom prst="rect">
                <a:avLst/>
              </a:prstGeom>
              <a:noFill/>
            </p:spPr>
            <p:txBody>
              <a:bodyPr wrap="square" rtlCol="0">
                <a:noAutofit/>
              </a:bodyPr>
              <a:lstStyle/>
              <a:p>
                <a:r>
                  <a:rPr lang="zh-CN" altLang="en-US" b="1">
                    <a:solidFill>
                      <a:schemeClr val="bg1"/>
                    </a:solidFill>
                    <a:latin typeface="Arial" panose="020B0604020202020204" pitchFamily="34" charset="0"/>
                    <a:ea typeface="黑体" panose="02010609060101010101" pitchFamily="49" charset="-122"/>
                  </a:rPr>
                  <a:t>维度</a:t>
                </a:r>
                <a:endParaRPr lang="zh-CN" altLang="en-US" b="1" dirty="0">
                  <a:solidFill>
                    <a:schemeClr val="bg1"/>
                  </a:solidFill>
                  <a:latin typeface="Arial" panose="020B0604020202020204" pitchFamily="34" charset="0"/>
                  <a:ea typeface="黑体" panose="02010609060101010101" pitchFamily="49" charset="-122"/>
                </a:endParaRPr>
              </a:p>
            </p:txBody>
          </p:sp>
          <p:sp>
            <p:nvSpPr>
              <p:cNvPr id="36" name="Body-1">
                <a:extLst>
                  <a:ext uri="{FF2B5EF4-FFF2-40B4-BE49-F238E27FC236}">
                    <a16:creationId xmlns:a16="http://schemas.microsoft.com/office/drawing/2014/main" id="{90211211-16C3-D432-6C89-9503CEFA0A37}"/>
                  </a:ext>
                </a:extLst>
              </p:cNvPr>
              <p:cNvSpPr>
                <a:spLocks/>
              </p:cNvSpPr>
              <p:nvPr>
                <p:custDataLst>
                  <p:tags r:id="rId17"/>
                </p:custDataLst>
              </p:nvPr>
            </p:nvSpPr>
            <p:spPr>
              <a:xfrm>
                <a:off x="4419387" y="1808571"/>
                <a:ext cx="3604046"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黑体" panose="02010609060101010101" pitchFamily="49" charset="-122"/>
                    <a:cs typeface="+mn-cs"/>
                  </a:rPr>
                  <a:t>具体的属性，如颜色、大小，亮度</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黑体" panose="02010609060101010101" pitchFamily="49" charset="-122"/>
                    <a:cs typeface="+mn-cs"/>
                  </a:rPr>
                  <a:t>etc.</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黑体" panose="02010609060101010101" pitchFamily="49" charset="-122"/>
                  <a:cs typeface="+mn-cs"/>
                </a:endParaRPr>
              </a:p>
            </p:txBody>
          </p:sp>
        </p:grpSp>
        <p:grpSp>
          <p:nvGrpSpPr>
            <p:cNvPr id="14" name="组合 13">
              <a:extLst>
                <a:ext uri="{FF2B5EF4-FFF2-40B4-BE49-F238E27FC236}">
                  <a16:creationId xmlns:a16="http://schemas.microsoft.com/office/drawing/2014/main" id="{F002CA1A-28EE-8974-6579-A5E2F6CC673F}"/>
                </a:ext>
              </a:extLst>
            </p:cNvPr>
            <p:cNvGrpSpPr/>
            <p:nvPr/>
          </p:nvGrpSpPr>
          <p:grpSpPr>
            <a:xfrm>
              <a:off x="2904417" y="2598156"/>
              <a:ext cx="6268865" cy="738359"/>
              <a:chOff x="2904417" y="2598156"/>
              <a:chExt cx="6268865" cy="738359"/>
            </a:xfrm>
          </p:grpSpPr>
          <p:sp>
            <p:nvSpPr>
              <p:cNvPr id="27" name="2">
                <a:extLst>
                  <a:ext uri="{FF2B5EF4-FFF2-40B4-BE49-F238E27FC236}">
                    <a16:creationId xmlns:a16="http://schemas.microsoft.com/office/drawing/2014/main" id="{B62EFA27-4957-A529-9E74-68A3F8E02555}"/>
                  </a:ext>
                </a:extLst>
              </p:cNvPr>
              <p:cNvSpPr/>
              <p:nvPr>
                <p:custDataLst>
                  <p:tags r:id="rId10"/>
                </p:custDataLst>
              </p:nvPr>
            </p:nvSpPr>
            <p:spPr>
              <a:xfrm>
                <a:off x="2904417" y="2599063"/>
                <a:ext cx="6268865" cy="736545"/>
              </a:xfrm>
              <a:prstGeom prst="roundRect">
                <a:avLst>
                  <a:gd name="adj" fmla="val 28076"/>
                </a:avLst>
              </a:prstGeom>
              <a:solidFill>
                <a:schemeClr val="bg1">
                  <a:lumMod val="95000"/>
                </a:schemeClr>
              </a:solidFill>
              <a:ln w="25400">
                <a:noFill/>
              </a:ln>
              <a:effectLst>
                <a:outerShdw blurRad="381000" dist="63500" sx="90000" sy="90000" algn="ctr" rotWithShape="0">
                  <a:schemeClr val="tx1">
                    <a:lumMod val="50000"/>
                    <a:lumOff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solidFill>
                    <a:prstClr val="white"/>
                  </a:solidFill>
                  <a:latin typeface="+mj-ea"/>
                  <a:ea typeface="+mj-ea"/>
                </a:endParaRPr>
              </a:p>
            </p:txBody>
          </p:sp>
          <p:sp>
            <p:nvSpPr>
              <p:cNvPr id="28" name="2">
                <a:extLst>
                  <a:ext uri="{FF2B5EF4-FFF2-40B4-BE49-F238E27FC236}">
                    <a16:creationId xmlns:a16="http://schemas.microsoft.com/office/drawing/2014/main" id="{6DA70CB4-2328-CEE4-7252-EAE83306C869}"/>
                  </a:ext>
                </a:extLst>
              </p:cNvPr>
              <p:cNvSpPr/>
              <p:nvPr>
                <p:custDataLst>
                  <p:tags r:id="rId11"/>
                </p:custDataLst>
              </p:nvPr>
            </p:nvSpPr>
            <p:spPr>
              <a:xfrm>
                <a:off x="2904418" y="2598156"/>
                <a:ext cx="1687065" cy="738359"/>
              </a:xfrm>
              <a:custGeom>
                <a:avLst/>
                <a:gdLst>
                  <a:gd name="connsiteX0" fmla="*/ 709001 w 1687065"/>
                  <a:gd name="connsiteY0" fmla="*/ 0 h 738359"/>
                  <a:gd name="connsiteX1" fmla="*/ 1120121 w 1687065"/>
                  <a:gd name="connsiteY1" fmla="*/ 0 h 738359"/>
                  <a:gd name="connsiteX2" fmla="*/ 1120121 w 1687065"/>
                  <a:gd name="connsiteY2" fmla="*/ 359 h 738359"/>
                  <a:gd name="connsiteX3" fmla="*/ 1687065 w 1687065"/>
                  <a:gd name="connsiteY3" fmla="*/ 359 h 738359"/>
                  <a:gd name="connsiteX4" fmla="*/ 1120121 w 1687065"/>
                  <a:gd name="connsiteY4" fmla="*/ 738359 h 738359"/>
                  <a:gd name="connsiteX5" fmla="*/ 1120121 w 1687065"/>
                  <a:gd name="connsiteY5" fmla="*/ 738000 h 738359"/>
                  <a:gd name="connsiteX6" fmla="*/ 833457 w 1687065"/>
                  <a:gd name="connsiteY6" fmla="*/ 738000 h 738359"/>
                  <a:gd name="connsiteX7" fmla="*/ 829906 w 1687065"/>
                  <a:gd name="connsiteY7" fmla="*/ 738358 h 738359"/>
                  <a:gd name="connsiteX8" fmla="*/ 191954 w 1687065"/>
                  <a:gd name="connsiteY8" fmla="*/ 738358 h 738359"/>
                  <a:gd name="connsiteX9" fmla="*/ 0 w 1687065"/>
                  <a:gd name="connsiteY9" fmla="*/ 546404 h 738359"/>
                  <a:gd name="connsiteX10" fmla="*/ 0 w 1687065"/>
                  <a:gd name="connsiteY10" fmla="*/ 192312 h 738359"/>
                  <a:gd name="connsiteX11" fmla="*/ 191954 w 1687065"/>
                  <a:gd name="connsiteY11" fmla="*/ 358 h 738359"/>
                  <a:gd name="connsiteX12" fmla="*/ 709001 w 1687065"/>
                  <a:gd name="connsiteY12" fmla="*/ 358 h 738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7065" h="738359">
                    <a:moveTo>
                      <a:pt x="709001" y="0"/>
                    </a:moveTo>
                    <a:lnTo>
                      <a:pt x="1120121" y="0"/>
                    </a:lnTo>
                    <a:lnTo>
                      <a:pt x="1120121" y="359"/>
                    </a:lnTo>
                    <a:lnTo>
                      <a:pt x="1687065" y="359"/>
                    </a:lnTo>
                    <a:lnTo>
                      <a:pt x="1120121" y="738359"/>
                    </a:lnTo>
                    <a:lnTo>
                      <a:pt x="1120121" y="738000"/>
                    </a:lnTo>
                    <a:lnTo>
                      <a:pt x="833457" y="738000"/>
                    </a:lnTo>
                    <a:lnTo>
                      <a:pt x="829906" y="738358"/>
                    </a:lnTo>
                    <a:lnTo>
                      <a:pt x="191954" y="738358"/>
                    </a:lnTo>
                    <a:cubicBezTo>
                      <a:pt x="85941" y="738358"/>
                      <a:pt x="0" y="652417"/>
                      <a:pt x="0" y="546404"/>
                    </a:cubicBezTo>
                    <a:lnTo>
                      <a:pt x="0" y="192312"/>
                    </a:lnTo>
                    <a:cubicBezTo>
                      <a:pt x="0" y="86299"/>
                      <a:pt x="85941" y="358"/>
                      <a:pt x="191954" y="358"/>
                    </a:cubicBezTo>
                    <a:lnTo>
                      <a:pt x="709001" y="358"/>
                    </a:lnTo>
                    <a:close/>
                  </a:path>
                </a:pathLst>
              </a:custGeom>
              <a:gradFill flip="none" rotWithShape="1">
                <a:gsLst>
                  <a:gs pos="0">
                    <a:schemeClr val="accent2"/>
                  </a:gs>
                  <a:gs pos="100000">
                    <a:schemeClr val="accent2">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sp>
            <p:nvSpPr>
              <p:cNvPr id="29" name="Title-2">
                <a:extLst>
                  <a:ext uri="{FF2B5EF4-FFF2-40B4-BE49-F238E27FC236}">
                    <a16:creationId xmlns:a16="http://schemas.microsoft.com/office/drawing/2014/main" id="{92AF1387-FED0-EAF7-A148-4EF8C6CC65F5}"/>
                  </a:ext>
                </a:extLst>
              </p:cNvPr>
              <p:cNvSpPr txBox="1"/>
              <p:nvPr>
                <p:custDataLst>
                  <p:tags r:id="rId12"/>
                </p:custDataLst>
              </p:nvPr>
            </p:nvSpPr>
            <p:spPr>
              <a:xfrm>
                <a:off x="3018719" y="2797166"/>
                <a:ext cx="1129809" cy="340338"/>
              </a:xfrm>
              <a:prstGeom prst="rect">
                <a:avLst/>
              </a:prstGeom>
              <a:noFill/>
            </p:spPr>
            <p:txBody>
              <a:bodyPr wrap="square" rtlCol="0">
                <a:noAutofit/>
              </a:bodyPr>
              <a:lstStyle/>
              <a:p>
                <a:r>
                  <a:rPr lang="zh-CN" altLang="en-US" b="1">
                    <a:solidFill>
                      <a:schemeClr val="bg1"/>
                    </a:solidFill>
                    <a:latin typeface="Arial" panose="020B0604020202020204" pitchFamily="34" charset="0"/>
                    <a:ea typeface="黑体" panose="02010609060101010101" pitchFamily="49" charset="-122"/>
                  </a:rPr>
                  <a:t>维度值</a:t>
                </a:r>
                <a:endParaRPr lang="zh-CN" altLang="en-US" b="1" dirty="0">
                  <a:solidFill>
                    <a:schemeClr val="bg1"/>
                  </a:solidFill>
                  <a:latin typeface="Arial" panose="020B0604020202020204" pitchFamily="34" charset="0"/>
                  <a:ea typeface="黑体" panose="02010609060101010101" pitchFamily="49" charset="-122"/>
                </a:endParaRPr>
              </a:p>
            </p:txBody>
          </p:sp>
          <p:sp>
            <p:nvSpPr>
              <p:cNvPr id="31" name="Body-2">
                <a:extLst>
                  <a:ext uri="{FF2B5EF4-FFF2-40B4-BE49-F238E27FC236}">
                    <a16:creationId xmlns:a16="http://schemas.microsoft.com/office/drawing/2014/main" id="{FA54E08B-7F10-D0F1-F585-A927A9B1D57E}"/>
                  </a:ext>
                </a:extLst>
              </p:cNvPr>
              <p:cNvSpPr>
                <a:spLocks/>
              </p:cNvSpPr>
              <p:nvPr>
                <p:custDataLst>
                  <p:tags r:id="rId13"/>
                </p:custDataLst>
              </p:nvPr>
            </p:nvSpPr>
            <p:spPr>
              <a:xfrm>
                <a:off x="4419387" y="2731900"/>
                <a:ext cx="3604046"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a:ln>
                      <a:noFill/>
                    </a:ln>
                    <a:solidFill>
                      <a:schemeClr val="tx2">
                        <a:lumMod val="75000"/>
                        <a:lumOff val="25000"/>
                      </a:schemeClr>
                    </a:solidFill>
                    <a:effectLst/>
                    <a:uLnTx/>
                    <a:uFillTx/>
                    <a:latin typeface="Arial" panose="020B0604020202020204" pitchFamily="34" charset="0"/>
                    <a:ea typeface="黑体" panose="02010609060101010101" pitchFamily="49" charset="-122"/>
                    <a:cs typeface="+mn-cs"/>
                  </a:rPr>
                  <a:t>具体属性的值，如红色、</a:t>
                </a:r>
                <a:r>
                  <a:rPr kumimoji="0" lang="en-US" altLang="zh-CN" sz="1400" b="0" i="0" u="none" strike="noStrike" kern="1200" cap="none" spc="0" normalizeH="0" baseline="0" noProof="0">
                    <a:ln>
                      <a:noFill/>
                    </a:ln>
                    <a:solidFill>
                      <a:schemeClr val="tx2">
                        <a:lumMod val="75000"/>
                        <a:lumOff val="25000"/>
                      </a:schemeClr>
                    </a:solidFill>
                    <a:effectLst/>
                    <a:uLnTx/>
                    <a:uFillTx/>
                    <a:latin typeface="Arial" panose="020B0604020202020204" pitchFamily="34" charset="0"/>
                    <a:ea typeface="黑体" panose="02010609060101010101" pitchFamily="49" charset="-122"/>
                    <a:cs typeface="+mn-cs"/>
                  </a:rPr>
                  <a:t>1T etc.</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黑体" panose="02010609060101010101" pitchFamily="49" charset="-122"/>
                  <a:cs typeface="+mn-cs"/>
                </a:endParaRPr>
              </a:p>
            </p:txBody>
          </p:sp>
        </p:grpSp>
        <p:grpSp>
          <p:nvGrpSpPr>
            <p:cNvPr id="15" name="组合 14">
              <a:extLst>
                <a:ext uri="{FF2B5EF4-FFF2-40B4-BE49-F238E27FC236}">
                  <a16:creationId xmlns:a16="http://schemas.microsoft.com/office/drawing/2014/main" id="{AA36FBF7-A5B4-ED45-DE35-075982B36E32}"/>
                </a:ext>
              </a:extLst>
            </p:cNvPr>
            <p:cNvGrpSpPr/>
            <p:nvPr/>
          </p:nvGrpSpPr>
          <p:grpSpPr>
            <a:xfrm>
              <a:off x="2904417" y="3520578"/>
              <a:ext cx="6268865" cy="739266"/>
              <a:chOff x="2904417" y="3520578"/>
              <a:chExt cx="6268865" cy="739266"/>
            </a:xfrm>
          </p:grpSpPr>
          <p:sp>
            <p:nvSpPr>
              <p:cNvPr id="22" name="3">
                <a:extLst>
                  <a:ext uri="{FF2B5EF4-FFF2-40B4-BE49-F238E27FC236}">
                    <a16:creationId xmlns:a16="http://schemas.microsoft.com/office/drawing/2014/main" id="{C9C56BDC-D99E-3C78-9C2D-9212673CF8A3}"/>
                  </a:ext>
                </a:extLst>
              </p:cNvPr>
              <p:cNvSpPr/>
              <p:nvPr>
                <p:custDataLst>
                  <p:tags r:id="rId6"/>
                </p:custDataLst>
              </p:nvPr>
            </p:nvSpPr>
            <p:spPr>
              <a:xfrm>
                <a:off x="2904417" y="3522392"/>
                <a:ext cx="6268865" cy="736545"/>
              </a:xfrm>
              <a:prstGeom prst="roundRect">
                <a:avLst>
                  <a:gd name="adj" fmla="val 28076"/>
                </a:avLst>
              </a:prstGeom>
              <a:solidFill>
                <a:schemeClr val="bg1">
                  <a:lumMod val="95000"/>
                </a:schemeClr>
              </a:solidFill>
              <a:ln w="25400">
                <a:noFill/>
              </a:ln>
              <a:effectLst>
                <a:outerShdw blurRad="381000" dist="63500" sx="90000" sy="90000" algn="ctr" rotWithShape="0">
                  <a:schemeClr val="tx1">
                    <a:lumMod val="50000"/>
                    <a:lumOff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solidFill>
                    <a:prstClr val="white"/>
                  </a:solidFill>
                  <a:latin typeface="+mj-ea"/>
                  <a:ea typeface="+mj-ea"/>
                </a:endParaRPr>
              </a:p>
            </p:txBody>
          </p:sp>
          <p:sp>
            <p:nvSpPr>
              <p:cNvPr id="23" name="3">
                <a:extLst>
                  <a:ext uri="{FF2B5EF4-FFF2-40B4-BE49-F238E27FC236}">
                    <a16:creationId xmlns:a16="http://schemas.microsoft.com/office/drawing/2014/main" id="{149BACF8-A329-B6B9-3C90-68A209E4CD88}"/>
                  </a:ext>
                </a:extLst>
              </p:cNvPr>
              <p:cNvSpPr/>
              <p:nvPr>
                <p:custDataLst>
                  <p:tags r:id="rId7"/>
                </p:custDataLst>
              </p:nvPr>
            </p:nvSpPr>
            <p:spPr>
              <a:xfrm>
                <a:off x="2904418" y="3521485"/>
                <a:ext cx="1687065" cy="738359"/>
              </a:xfrm>
              <a:custGeom>
                <a:avLst/>
                <a:gdLst>
                  <a:gd name="connsiteX0" fmla="*/ 709001 w 1687065"/>
                  <a:gd name="connsiteY0" fmla="*/ 0 h 738359"/>
                  <a:gd name="connsiteX1" fmla="*/ 1120121 w 1687065"/>
                  <a:gd name="connsiteY1" fmla="*/ 0 h 738359"/>
                  <a:gd name="connsiteX2" fmla="*/ 1120121 w 1687065"/>
                  <a:gd name="connsiteY2" fmla="*/ 359 h 738359"/>
                  <a:gd name="connsiteX3" fmla="*/ 1687065 w 1687065"/>
                  <a:gd name="connsiteY3" fmla="*/ 359 h 738359"/>
                  <a:gd name="connsiteX4" fmla="*/ 1120121 w 1687065"/>
                  <a:gd name="connsiteY4" fmla="*/ 738359 h 738359"/>
                  <a:gd name="connsiteX5" fmla="*/ 1120121 w 1687065"/>
                  <a:gd name="connsiteY5" fmla="*/ 738000 h 738359"/>
                  <a:gd name="connsiteX6" fmla="*/ 833457 w 1687065"/>
                  <a:gd name="connsiteY6" fmla="*/ 738000 h 738359"/>
                  <a:gd name="connsiteX7" fmla="*/ 829906 w 1687065"/>
                  <a:gd name="connsiteY7" fmla="*/ 738358 h 738359"/>
                  <a:gd name="connsiteX8" fmla="*/ 191954 w 1687065"/>
                  <a:gd name="connsiteY8" fmla="*/ 738358 h 738359"/>
                  <a:gd name="connsiteX9" fmla="*/ 0 w 1687065"/>
                  <a:gd name="connsiteY9" fmla="*/ 546404 h 738359"/>
                  <a:gd name="connsiteX10" fmla="*/ 0 w 1687065"/>
                  <a:gd name="connsiteY10" fmla="*/ 192312 h 738359"/>
                  <a:gd name="connsiteX11" fmla="*/ 191954 w 1687065"/>
                  <a:gd name="connsiteY11" fmla="*/ 358 h 738359"/>
                  <a:gd name="connsiteX12" fmla="*/ 709001 w 1687065"/>
                  <a:gd name="connsiteY12" fmla="*/ 358 h 738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7065" h="738359">
                    <a:moveTo>
                      <a:pt x="709001" y="0"/>
                    </a:moveTo>
                    <a:lnTo>
                      <a:pt x="1120121" y="0"/>
                    </a:lnTo>
                    <a:lnTo>
                      <a:pt x="1120121" y="359"/>
                    </a:lnTo>
                    <a:lnTo>
                      <a:pt x="1687065" y="359"/>
                    </a:lnTo>
                    <a:lnTo>
                      <a:pt x="1120121" y="738359"/>
                    </a:lnTo>
                    <a:lnTo>
                      <a:pt x="1120121" y="738000"/>
                    </a:lnTo>
                    <a:lnTo>
                      <a:pt x="833457" y="738000"/>
                    </a:lnTo>
                    <a:lnTo>
                      <a:pt x="829906" y="738358"/>
                    </a:lnTo>
                    <a:lnTo>
                      <a:pt x="191954" y="738358"/>
                    </a:lnTo>
                    <a:cubicBezTo>
                      <a:pt x="85941" y="738358"/>
                      <a:pt x="0" y="652417"/>
                      <a:pt x="0" y="546404"/>
                    </a:cubicBezTo>
                    <a:lnTo>
                      <a:pt x="0" y="192312"/>
                    </a:lnTo>
                    <a:cubicBezTo>
                      <a:pt x="0" y="86299"/>
                      <a:pt x="85941" y="358"/>
                      <a:pt x="191954" y="358"/>
                    </a:cubicBezTo>
                    <a:lnTo>
                      <a:pt x="709001" y="358"/>
                    </a:lnTo>
                    <a:close/>
                  </a:path>
                </a:pathLst>
              </a:custGeom>
              <a:gradFill flip="none" rotWithShape="1">
                <a:gsLst>
                  <a:gs pos="0">
                    <a:schemeClr val="accent3"/>
                  </a:gs>
                  <a:gs pos="100000">
                    <a:schemeClr val="accent3">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sp>
            <p:nvSpPr>
              <p:cNvPr id="24" name="Title-3">
                <a:extLst>
                  <a:ext uri="{FF2B5EF4-FFF2-40B4-BE49-F238E27FC236}">
                    <a16:creationId xmlns:a16="http://schemas.microsoft.com/office/drawing/2014/main" id="{004AC54C-B761-B810-AB3E-4527A33AAB46}"/>
                  </a:ext>
                </a:extLst>
              </p:cNvPr>
              <p:cNvSpPr txBox="1"/>
              <p:nvPr>
                <p:custDataLst>
                  <p:tags r:id="rId8"/>
                </p:custDataLst>
              </p:nvPr>
            </p:nvSpPr>
            <p:spPr>
              <a:xfrm>
                <a:off x="3018719" y="3720495"/>
                <a:ext cx="1129809" cy="340338"/>
              </a:xfrm>
              <a:prstGeom prst="rect">
                <a:avLst/>
              </a:prstGeom>
              <a:noFill/>
            </p:spPr>
            <p:txBody>
              <a:bodyPr wrap="square" rtlCol="0">
                <a:noAutofit/>
              </a:bodyPr>
              <a:lstStyle/>
              <a:p>
                <a:r>
                  <a:rPr lang="zh-CN" altLang="en-US" b="1">
                    <a:solidFill>
                      <a:schemeClr val="bg1"/>
                    </a:solidFill>
                    <a:latin typeface="Arial" panose="020B0604020202020204" pitchFamily="34" charset="0"/>
                    <a:ea typeface="黑体" panose="02010609060101010101" pitchFamily="49" charset="-122"/>
                  </a:rPr>
                  <a:t>维度组</a:t>
                </a:r>
                <a:endParaRPr lang="zh-CN" altLang="en-US" b="1" dirty="0">
                  <a:solidFill>
                    <a:schemeClr val="bg1"/>
                  </a:solidFill>
                  <a:latin typeface="Arial" panose="020B0604020202020204" pitchFamily="34" charset="0"/>
                  <a:ea typeface="黑体" panose="02010609060101010101" pitchFamily="49" charset="-122"/>
                </a:endParaRPr>
              </a:p>
            </p:txBody>
          </p:sp>
          <p:sp>
            <p:nvSpPr>
              <p:cNvPr id="26" name="Body-3">
                <a:extLst>
                  <a:ext uri="{FF2B5EF4-FFF2-40B4-BE49-F238E27FC236}">
                    <a16:creationId xmlns:a16="http://schemas.microsoft.com/office/drawing/2014/main" id="{C385BF4D-EA2A-C268-984E-E41873B2B5CA}"/>
                  </a:ext>
                </a:extLst>
              </p:cNvPr>
              <p:cNvSpPr>
                <a:spLocks/>
              </p:cNvSpPr>
              <p:nvPr>
                <p:custDataLst>
                  <p:tags r:id="rId9"/>
                </p:custDataLst>
              </p:nvPr>
            </p:nvSpPr>
            <p:spPr>
              <a:xfrm>
                <a:off x="4419387" y="3520578"/>
                <a:ext cx="3604046"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黑体" panose="02010609060101010101" pitchFamily="49" charset="-122"/>
                    <a:cs typeface="+mn-cs"/>
                  </a:rPr>
                  <a:t>代表维度与值的组合、可以应用的范围如预测冲减、预测调整、供需匹配</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黑体" panose="02010609060101010101" pitchFamily="49" charset="-122"/>
                  <a:cs typeface="+mn-cs"/>
                </a:endParaRPr>
              </a:p>
            </p:txBody>
          </p:sp>
        </p:grpSp>
        <p:grpSp>
          <p:nvGrpSpPr>
            <p:cNvPr id="16" name="组合 15">
              <a:extLst>
                <a:ext uri="{FF2B5EF4-FFF2-40B4-BE49-F238E27FC236}">
                  <a16:creationId xmlns:a16="http://schemas.microsoft.com/office/drawing/2014/main" id="{45A753E6-79E0-78DB-6D20-0FAA853AF7E1}"/>
                </a:ext>
              </a:extLst>
            </p:cNvPr>
            <p:cNvGrpSpPr/>
            <p:nvPr/>
          </p:nvGrpSpPr>
          <p:grpSpPr>
            <a:xfrm>
              <a:off x="2904417" y="4444814"/>
              <a:ext cx="6268865" cy="738359"/>
              <a:chOff x="2904417" y="4444814"/>
              <a:chExt cx="6268865" cy="738359"/>
            </a:xfrm>
          </p:grpSpPr>
          <p:sp>
            <p:nvSpPr>
              <p:cNvPr id="17" name="4">
                <a:extLst>
                  <a:ext uri="{FF2B5EF4-FFF2-40B4-BE49-F238E27FC236}">
                    <a16:creationId xmlns:a16="http://schemas.microsoft.com/office/drawing/2014/main" id="{EBE1446A-9E13-419D-2DC3-4426ECB79AC0}"/>
                  </a:ext>
                </a:extLst>
              </p:cNvPr>
              <p:cNvSpPr/>
              <p:nvPr>
                <p:custDataLst>
                  <p:tags r:id="rId2"/>
                </p:custDataLst>
              </p:nvPr>
            </p:nvSpPr>
            <p:spPr>
              <a:xfrm>
                <a:off x="2904417" y="4445721"/>
                <a:ext cx="6268865" cy="736545"/>
              </a:xfrm>
              <a:prstGeom prst="roundRect">
                <a:avLst>
                  <a:gd name="adj" fmla="val 28076"/>
                </a:avLst>
              </a:prstGeom>
              <a:solidFill>
                <a:schemeClr val="bg1">
                  <a:lumMod val="95000"/>
                </a:schemeClr>
              </a:solidFill>
              <a:ln w="25400">
                <a:noFill/>
              </a:ln>
              <a:effectLst>
                <a:outerShdw blurRad="381000" dist="63500" sx="90000" sy="90000" algn="ctr" rotWithShape="0">
                  <a:schemeClr val="tx1">
                    <a:lumMod val="50000"/>
                    <a:lumOff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solidFill>
                    <a:prstClr val="white"/>
                  </a:solidFill>
                  <a:latin typeface="+mj-ea"/>
                  <a:ea typeface="+mj-ea"/>
                </a:endParaRPr>
              </a:p>
            </p:txBody>
          </p:sp>
          <p:sp>
            <p:nvSpPr>
              <p:cNvPr id="18" name="4">
                <a:extLst>
                  <a:ext uri="{FF2B5EF4-FFF2-40B4-BE49-F238E27FC236}">
                    <a16:creationId xmlns:a16="http://schemas.microsoft.com/office/drawing/2014/main" id="{8B2D14BB-925A-F5DC-62B9-1E78EE05CBD1}"/>
                  </a:ext>
                </a:extLst>
              </p:cNvPr>
              <p:cNvSpPr/>
              <p:nvPr>
                <p:custDataLst>
                  <p:tags r:id="rId3"/>
                </p:custDataLst>
              </p:nvPr>
            </p:nvSpPr>
            <p:spPr>
              <a:xfrm>
                <a:off x="2904418" y="4444814"/>
                <a:ext cx="1687065" cy="738359"/>
              </a:xfrm>
              <a:custGeom>
                <a:avLst/>
                <a:gdLst>
                  <a:gd name="connsiteX0" fmla="*/ 709001 w 1687065"/>
                  <a:gd name="connsiteY0" fmla="*/ 0 h 738359"/>
                  <a:gd name="connsiteX1" fmla="*/ 1120121 w 1687065"/>
                  <a:gd name="connsiteY1" fmla="*/ 0 h 738359"/>
                  <a:gd name="connsiteX2" fmla="*/ 1120121 w 1687065"/>
                  <a:gd name="connsiteY2" fmla="*/ 359 h 738359"/>
                  <a:gd name="connsiteX3" fmla="*/ 1687065 w 1687065"/>
                  <a:gd name="connsiteY3" fmla="*/ 359 h 738359"/>
                  <a:gd name="connsiteX4" fmla="*/ 1120121 w 1687065"/>
                  <a:gd name="connsiteY4" fmla="*/ 738359 h 738359"/>
                  <a:gd name="connsiteX5" fmla="*/ 1120121 w 1687065"/>
                  <a:gd name="connsiteY5" fmla="*/ 738000 h 738359"/>
                  <a:gd name="connsiteX6" fmla="*/ 833457 w 1687065"/>
                  <a:gd name="connsiteY6" fmla="*/ 738000 h 738359"/>
                  <a:gd name="connsiteX7" fmla="*/ 829906 w 1687065"/>
                  <a:gd name="connsiteY7" fmla="*/ 738358 h 738359"/>
                  <a:gd name="connsiteX8" fmla="*/ 191954 w 1687065"/>
                  <a:gd name="connsiteY8" fmla="*/ 738358 h 738359"/>
                  <a:gd name="connsiteX9" fmla="*/ 0 w 1687065"/>
                  <a:gd name="connsiteY9" fmla="*/ 546404 h 738359"/>
                  <a:gd name="connsiteX10" fmla="*/ 0 w 1687065"/>
                  <a:gd name="connsiteY10" fmla="*/ 192312 h 738359"/>
                  <a:gd name="connsiteX11" fmla="*/ 191954 w 1687065"/>
                  <a:gd name="connsiteY11" fmla="*/ 358 h 738359"/>
                  <a:gd name="connsiteX12" fmla="*/ 709001 w 1687065"/>
                  <a:gd name="connsiteY12" fmla="*/ 358 h 738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7065" h="738359">
                    <a:moveTo>
                      <a:pt x="709001" y="0"/>
                    </a:moveTo>
                    <a:lnTo>
                      <a:pt x="1120121" y="0"/>
                    </a:lnTo>
                    <a:lnTo>
                      <a:pt x="1120121" y="359"/>
                    </a:lnTo>
                    <a:lnTo>
                      <a:pt x="1687065" y="359"/>
                    </a:lnTo>
                    <a:lnTo>
                      <a:pt x="1120121" y="738359"/>
                    </a:lnTo>
                    <a:lnTo>
                      <a:pt x="1120121" y="738000"/>
                    </a:lnTo>
                    <a:lnTo>
                      <a:pt x="833457" y="738000"/>
                    </a:lnTo>
                    <a:lnTo>
                      <a:pt x="829906" y="738358"/>
                    </a:lnTo>
                    <a:lnTo>
                      <a:pt x="191954" y="738358"/>
                    </a:lnTo>
                    <a:cubicBezTo>
                      <a:pt x="85941" y="738358"/>
                      <a:pt x="0" y="652417"/>
                      <a:pt x="0" y="546404"/>
                    </a:cubicBezTo>
                    <a:lnTo>
                      <a:pt x="0" y="192312"/>
                    </a:lnTo>
                    <a:cubicBezTo>
                      <a:pt x="0" y="86299"/>
                      <a:pt x="85941" y="358"/>
                      <a:pt x="191954" y="358"/>
                    </a:cubicBezTo>
                    <a:lnTo>
                      <a:pt x="709001" y="358"/>
                    </a:lnTo>
                    <a:close/>
                  </a:path>
                </a:pathLst>
              </a:custGeom>
              <a:gradFill flip="none" rotWithShape="1">
                <a:gsLst>
                  <a:gs pos="0">
                    <a:schemeClr val="accent4"/>
                  </a:gs>
                  <a:gs pos="100000">
                    <a:schemeClr val="accent4">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sp>
            <p:nvSpPr>
              <p:cNvPr id="19" name="Title-4">
                <a:extLst>
                  <a:ext uri="{FF2B5EF4-FFF2-40B4-BE49-F238E27FC236}">
                    <a16:creationId xmlns:a16="http://schemas.microsoft.com/office/drawing/2014/main" id="{0E0EC693-1EC0-76ED-2145-CBED8F22E91E}"/>
                  </a:ext>
                </a:extLst>
              </p:cNvPr>
              <p:cNvSpPr txBox="1"/>
              <p:nvPr>
                <p:custDataLst>
                  <p:tags r:id="rId4"/>
                </p:custDataLst>
              </p:nvPr>
            </p:nvSpPr>
            <p:spPr>
              <a:xfrm>
                <a:off x="3018719" y="4476413"/>
                <a:ext cx="1312012" cy="340338"/>
              </a:xfrm>
              <a:prstGeom prst="rect">
                <a:avLst/>
              </a:prstGeom>
              <a:noFill/>
            </p:spPr>
            <p:txBody>
              <a:bodyPr wrap="square" rtlCol="0">
                <a:noAutofit/>
              </a:bodyPr>
              <a:lstStyle/>
              <a:p>
                <a:r>
                  <a:rPr lang="zh-CN" altLang="en-US" b="1" dirty="0">
                    <a:solidFill>
                      <a:schemeClr val="bg1"/>
                    </a:solidFill>
                    <a:latin typeface="Arial" panose="020B0604020202020204" pitchFamily="34" charset="0"/>
                    <a:ea typeface="黑体" panose="02010609060101010101" pitchFamily="49" charset="-122"/>
                  </a:rPr>
                  <a:t>维度组冲突列表</a:t>
                </a:r>
              </a:p>
            </p:txBody>
          </p:sp>
          <p:sp>
            <p:nvSpPr>
              <p:cNvPr id="21" name="Body-4">
                <a:extLst>
                  <a:ext uri="{FF2B5EF4-FFF2-40B4-BE49-F238E27FC236}">
                    <a16:creationId xmlns:a16="http://schemas.microsoft.com/office/drawing/2014/main" id="{9C202A30-1C46-4413-32D3-3B7BBF1AB208}"/>
                  </a:ext>
                </a:extLst>
              </p:cNvPr>
              <p:cNvSpPr>
                <a:spLocks/>
              </p:cNvSpPr>
              <p:nvPr>
                <p:custDataLst>
                  <p:tags r:id="rId5"/>
                </p:custDataLst>
              </p:nvPr>
            </p:nvSpPr>
            <p:spPr>
              <a:xfrm>
                <a:off x="4470108" y="4476413"/>
                <a:ext cx="3604046"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黑体" panose="02010609060101010101" pitchFamily="49" charset="-122"/>
                    <a:cs typeface="+mn-cs"/>
                  </a:rPr>
                  <a:t>哪些维度组冲突，意味着不冲突的就是匹配</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黑体" panose="02010609060101010101" pitchFamily="49" charset="-122"/>
                  <a:cs typeface="+mn-cs"/>
                </a:endParaRPr>
              </a:p>
            </p:txBody>
          </p:sp>
        </p:grpSp>
      </p:grpSp>
    </p:spTree>
    <p:extLst>
      <p:ext uri="{BB962C8B-B14F-4D97-AF65-F5344CB8AC3E}">
        <p14:creationId xmlns:p14="http://schemas.microsoft.com/office/powerpoint/2010/main" val="1220872351"/>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3CB96D4-61D0-B842-5074-C750EB666B49}"/>
              </a:ext>
            </a:extLst>
          </p:cNvPr>
          <p:cNvSpPr>
            <a:spLocks noGrp="1"/>
          </p:cNvSpPr>
          <p:nvPr>
            <p:ph type="title"/>
          </p:nvPr>
        </p:nvSpPr>
        <p:spPr/>
        <p:txBody>
          <a:bodyPr/>
          <a:lstStyle/>
          <a:p>
            <a:r>
              <a:rPr lang="en-US" altLang="zh-CN" dirty="0"/>
              <a:t>Case Study</a:t>
            </a:r>
            <a:endParaRPr lang="zh-CN" altLang="en-US" dirty="0"/>
          </a:p>
        </p:txBody>
      </p:sp>
      <p:sp>
        <p:nvSpPr>
          <p:cNvPr id="3" name="文本框 2">
            <a:extLst>
              <a:ext uri="{FF2B5EF4-FFF2-40B4-BE49-F238E27FC236}">
                <a16:creationId xmlns:a16="http://schemas.microsoft.com/office/drawing/2014/main" id="{7C39A551-73AB-ED56-1014-CE52A96CC294}"/>
              </a:ext>
            </a:extLst>
          </p:cNvPr>
          <p:cNvSpPr txBox="1"/>
          <p:nvPr/>
        </p:nvSpPr>
        <p:spPr>
          <a:xfrm>
            <a:off x="2123768" y="1292942"/>
            <a:ext cx="4911213" cy="3416320"/>
          </a:xfrm>
          <a:prstGeom prst="rect">
            <a:avLst/>
          </a:prstGeom>
          <a:noFill/>
        </p:spPr>
        <p:txBody>
          <a:bodyPr wrap="square" rtlCol="0">
            <a:spAutoFit/>
          </a:bodyPr>
          <a:lstStyle/>
          <a:p>
            <a:r>
              <a:rPr lang="en-US" altLang="zh-CN" dirty="0"/>
              <a:t>MATE 80</a:t>
            </a:r>
          </a:p>
          <a:p>
            <a:r>
              <a:rPr lang="zh-CN" altLang="en-US" dirty="0"/>
              <a:t>颜色有红色、黑色、白色</a:t>
            </a:r>
            <a:endParaRPr lang="en-US" altLang="zh-CN" dirty="0"/>
          </a:p>
          <a:p>
            <a:r>
              <a:rPr lang="zh-CN" altLang="en-US" dirty="0"/>
              <a:t>内存有</a:t>
            </a:r>
            <a:r>
              <a:rPr lang="en-US" altLang="zh-CN" dirty="0"/>
              <a:t>256M</a:t>
            </a:r>
            <a:r>
              <a:rPr lang="zh-CN" altLang="en-US" dirty="0"/>
              <a:t>、</a:t>
            </a:r>
            <a:r>
              <a:rPr lang="en-US" altLang="zh-CN" dirty="0"/>
              <a:t>512M</a:t>
            </a:r>
            <a:r>
              <a:rPr lang="zh-CN" altLang="en-US" dirty="0"/>
              <a:t>、</a:t>
            </a:r>
            <a:r>
              <a:rPr lang="en-US" altLang="zh-CN" dirty="0"/>
              <a:t>1G</a:t>
            </a:r>
          </a:p>
          <a:p>
            <a:r>
              <a:rPr lang="zh-CN" altLang="en-US" dirty="0"/>
              <a:t>存储 </a:t>
            </a:r>
            <a:r>
              <a:rPr lang="en-US" altLang="zh-CN" dirty="0"/>
              <a:t>500G</a:t>
            </a:r>
            <a:r>
              <a:rPr lang="zh-CN" altLang="en-US" dirty="0"/>
              <a:t>，</a:t>
            </a:r>
            <a:r>
              <a:rPr lang="en-US" altLang="zh-CN" dirty="0"/>
              <a:t>1T</a:t>
            </a:r>
          </a:p>
          <a:p>
            <a:endParaRPr lang="en-US" altLang="zh-CN" dirty="0"/>
          </a:p>
          <a:p>
            <a:r>
              <a:rPr lang="zh-CN" altLang="en-US" dirty="0"/>
              <a:t>如果用物料来表示，那么需要</a:t>
            </a:r>
            <a:r>
              <a:rPr lang="en-US" altLang="zh-CN" dirty="0"/>
              <a:t>3*3*2=18</a:t>
            </a:r>
            <a:r>
              <a:rPr lang="zh-CN" altLang="en-US" dirty="0"/>
              <a:t>，有</a:t>
            </a:r>
            <a:r>
              <a:rPr lang="en-US" altLang="zh-CN" dirty="0"/>
              <a:t>18</a:t>
            </a:r>
            <a:r>
              <a:rPr lang="zh-CN" altLang="en-US" dirty="0"/>
              <a:t>个成品</a:t>
            </a:r>
            <a:r>
              <a:rPr lang="en-US" altLang="zh-CN" dirty="0"/>
              <a:t>BOM</a:t>
            </a:r>
            <a:r>
              <a:rPr lang="zh-CN" altLang="en-US" dirty="0"/>
              <a:t>。</a:t>
            </a:r>
            <a:endParaRPr lang="en-US" altLang="zh-CN" dirty="0"/>
          </a:p>
          <a:p>
            <a:endParaRPr lang="en-US" altLang="zh-CN" dirty="0"/>
          </a:p>
          <a:p>
            <a:r>
              <a:rPr lang="zh-CN" altLang="en-US" dirty="0"/>
              <a:t>我们可以把物料跟属性解耦也就是正交化。</a:t>
            </a:r>
            <a:endParaRPr lang="en-US" altLang="zh-CN" dirty="0"/>
          </a:p>
          <a:p>
            <a:r>
              <a:rPr lang="zh-CN" altLang="en-US" dirty="0"/>
              <a:t>设置维度和值</a:t>
            </a:r>
            <a:endParaRPr lang="en-US" altLang="zh-CN" dirty="0"/>
          </a:p>
          <a:p>
            <a:endParaRPr lang="en-US" altLang="zh-CN" dirty="0"/>
          </a:p>
          <a:p>
            <a:endParaRPr lang="en-US" altLang="zh-CN" dirty="0"/>
          </a:p>
        </p:txBody>
      </p:sp>
    </p:spTree>
    <p:extLst>
      <p:ext uri="{BB962C8B-B14F-4D97-AF65-F5344CB8AC3E}">
        <p14:creationId xmlns:p14="http://schemas.microsoft.com/office/powerpoint/2010/main" val="745087105"/>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6AF633-2E35-FBE1-3901-B8A9E8C04588}"/>
            </a:ext>
          </a:extLst>
        </p:cNvPr>
        <p:cNvGrpSpPr/>
        <p:nvPr/>
      </p:nvGrpSpPr>
      <p:grpSpPr>
        <a:xfrm>
          <a:off x="0" y="0"/>
          <a:ext cx="0" cy="0"/>
          <a:chOff x="0" y="0"/>
          <a:chExt cx="0" cy="0"/>
        </a:xfrm>
      </p:grpSpPr>
      <p:sp>
        <p:nvSpPr>
          <p:cNvPr id="61" name="箭头: 右 60">
            <a:extLst>
              <a:ext uri="{FF2B5EF4-FFF2-40B4-BE49-F238E27FC236}">
                <a16:creationId xmlns:a16="http://schemas.microsoft.com/office/drawing/2014/main" id="{AA034DC6-590B-83D5-1F2B-2A2F8D35BF2E}"/>
              </a:ext>
            </a:extLst>
          </p:cNvPr>
          <p:cNvSpPr/>
          <p:nvPr/>
        </p:nvSpPr>
        <p:spPr>
          <a:xfrm>
            <a:off x="3252018" y="4358148"/>
            <a:ext cx="5771535" cy="1002891"/>
          </a:xfrm>
          <a:prstGeom prst="rightArrow">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r" defTabSz="914400" rtl="0" eaLnBrk="1" fontAlgn="auto" latinLnBrk="0" hangingPunct="1">
              <a:lnSpc>
                <a:spcPct val="100000"/>
              </a:lnSpc>
              <a:spcBef>
                <a:spcPts val="0"/>
              </a:spcBef>
              <a:spcAft>
                <a:spcPts val="0"/>
              </a:spcAft>
              <a:buClrTx/>
              <a:buSzTx/>
              <a:buFontTx/>
              <a:buNone/>
              <a:tabLst/>
            </a:pPr>
            <a:r>
              <a:rPr lang="zh-CN" altLang="en-US" sz="1200" b="1" dirty="0">
                <a:solidFill>
                  <a:schemeClr val="tx1"/>
                </a:solidFill>
                <a:latin typeface="Arial" panose="020B0604020202020204" pitchFamily="34" charset="0"/>
                <a:ea typeface="微软雅黑" panose="020B0503020204020204" pitchFamily="34" charset="-122"/>
              </a:rPr>
              <a:t>选择</a:t>
            </a:r>
          </a:p>
        </p:txBody>
      </p:sp>
      <p:sp>
        <p:nvSpPr>
          <p:cNvPr id="4" name="标题 3">
            <a:extLst>
              <a:ext uri="{FF2B5EF4-FFF2-40B4-BE49-F238E27FC236}">
                <a16:creationId xmlns:a16="http://schemas.microsoft.com/office/drawing/2014/main" id="{D5BA07AE-6737-974D-128C-0034945CAC1A}"/>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维度规划 </a:t>
            </a:r>
            <a:r>
              <a:rPr lang="en-US" altLang="zh-CN" dirty="0">
                <a:latin typeface="Arial" panose="020B0604020202020204" pitchFamily="34" charset="0"/>
                <a:ea typeface="微软雅黑" panose="020B0503020204020204" pitchFamily="34" charset="-122"/>
              </a:rPr>
              <a:t>– Dimension Planning</a:t>
            </a:r>
            <a:endParaRPr lang="zh-CN" altLang="en-US" sz="2000" dirty="0">
              <a:latin typeface="Arial" panose="020B0604020202020204" pitchFamily="34" charset="0"/>
              <a:ea typeface="微软雅黑" panose="020B0503020204020204" pitchFamily="34" charset="-122"/>
            </a:endParaRPr>
          </a:p>
        </p:txBody>
      </p:sp>
      <p:sp>
        <p:nvSpPr>
          <p:cNvPr id="2" name="流程图: 多文档 1">
            <a:extLst>
              <a:ext uri="{FF2B5EF4-FFF2-40B4-BE49-F238E27FC236}">
                <a16:creationId xmlns:a16="http://schemas.microsoft.com/office/drawing/2014/main" id="{672F1DA2-5809-0DC7-DFDB-DABBEE3003C5}"/>
              </a:ext>
            </a:extLst>
          </p:cNvPr>
          <p:cNvSpPr/>
          <p:nvPr/>
        </p:nvSpPr>
        <p:spPr>
          <a:xfrm>
            <a:off x="1058587" y="4793156"/>
            <a:ext cx="1651653" cy="830536"/>
          </a:xfrm>
          <a:prstGeom prst="flowChartMultidocument">
            <a:avLst/>
          </a:prstGeom>
          <a:solidFill>
            <a:srgbClr val="525354"/>
          </a:solidFill>
          <a:ln w="12700" cap="flat" cmpd="sng" algn="ctr">
            <a:solidFill>
              <a:srgbClr val="525354">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zh-CN" altLang="en-US" sz="1200" b="1" kern="0" dirty="0">
                <a:solidFill>
                  <a:srgbClr val="FFFFFF"/>
                </a:solidFill>
                <a:latin typeface="Arial" panose="020B0604020202020204" pitchFamily="34" charset="0"/>
                <a:ea typeface="微软雅黑" panose="020B0503020204020204" pitchFamily="34" charset="-122"/>
              </a:rPr>
              <a:t>需求</a:t>
            </a:r>
            <a:endParaRPr kumimoji="0" lang="zh-CN" altLang="en-US" sz="12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3" name="立方体 2">
            <a:extLst>
              <a:ext uri="{FF2B5EF4-FFF2-40B4-BE49-F238E27FC236}">
                <a16:creationId xmlns:a16="http://schemas.microsoft.com/office/drawing/2014/main" id="{43A62FAD-30AC-4C6A-95AD-A495A6715F91}"/>
              </a:ext>
            </a:extLst>
          </p:cNvPr>
          <p:cNvSpPr/>
          <p:nvPr/>
        </p:nvSpPr>
        <p:spPr>
          <a:xfrm>
            <a:off x="9480614" y="4793156"/>
            <a:ext cx="1217929" cy="764667"/>
          </a:xfrm>
          <a:prstGeom prst="cube">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zh-CN" altLang="en-US" sz="1200" b="1" dirty="0">
                <a:latin typeface="Arial" panose="020B0604020202020204" pitchFamily="34" charset="0"/>
                <a:ea typeface="微软雅黑" panose="020B0503020204020204" pitchFamily="34" charset="-122"/>
              </a:rPr>
              <a:t>供应</a:t>
            </a:r>
          </a:p>
        </p:txBody>
      </p:sp>
      <p:grpSp>
        <p:nvGrpSpPr>
          <p:cNvPr id="40" name="组合 39">
            <a:extLst>
              <a:ext uri="{FF2B5EF4-FFF2-40B4-BE49-F238E27FC236}">
                <a16:creationId xmlns:a16="http://schemas.microsoft.com/office/drawing/2014/main" id="{DC7C325F-5037-BF63-2BAE-74B924B153EE}"/>
              </a:ext>
            </a:extLst>
          </p:cNvPr>
          <p:cNvGrpSpPr/>
          <p:nvPr/>
        </p:nvGrpSpPr>
        <p:grpSpPr>
          <a:xfrm>
            <a:off x="-48216" y="2153265"/>
            <a:ext cx="4011561" cy="1275735"/>
            <a:chOff x="-1" y="1290484"/>
            <a:chExt cx="5670755" cy="1600200"/>
          </a:xfrm>
        </p:grpSpPr>
        <p:graphicFrame>
          <p:nvGraphicFramePr>
            <p:cNvPr id="32" name="图示 31">
              <a:extLst>
                <a:ext uri="{FF2B5EF4-FFF2-40B4-BE49-F238E27FC236}">
                  <a16:creationId xmlns:a16="http://schemas.microsoft.com/office/drawing/2014/main" id="{B37A63EB-179D-CD48-3AA7-C4109D9F0571}"/>
                </a:ext>
              </a:extLst>
            </p:cNvPr>
            <p:cNvGraphicFramePr/>
            <p:nvPr>
              <p:extLst>
                <p:ext uri="{D42A27DB-BD31-4B8C-83A1-F6EECF244321}">
                  <p14:modId xmlns:p14="http://schemas.microsoft.com/office/powerpoint/2010/main" val="2583011565"/>
                </p:ext>
              </p:extLst>
            </p:nvPr>
          </p:nvGraphicFramePr>
          <p:xfrm>
            <a:off x="2524431" y="1290485"/>
            <a:ext cx="3146323" cy="16001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33" name="图示 32">
              <a:extLst>
                <a:ext uri="{FF2B5EF4-FFF2-40B4-BE49-F238E27FC236}">
                  <a16:creationId xmlns:a16="http://schemas.microsoft.com/office/drawing/2014/main" id="{6A5B375F-C11E-C643-AF01-7A55C89EED0A}"/>
                </a:ext>
              </a:extLst>
            </p:cNvPr>
            <p:cNvGraphicFramePr/>
            <p:nvPr>
              <p:extLst>
                <p:ext uri="{D42A27DB-BD31-4B8C-83A1-F6EECF244321}">
                  <p14:modId xmlns:p14="http://schemas.microsoft.com/office/powerpoint/2010/main" val="71429167"/>
                </p:ext>
              </p:extLst>
            </p:nvPr>
          </p:nvGraphicFramePr>
          <p:xfrm>
            <a:off x="-1" y="1290484"/>
            <a:ext cx="3146323" cy="1600199"/>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34" name="箭头: 右 33">
              <a:extLst>
                <a:ext uri="{FF2B5EF4-FFF2-40B4-BE49-F238E27FC236}">
                  <a16:creationId xmlns:a16="http://schemas.microsoft.com/office/drawing/2014/main" id="{E3962959-5AC9-BA1B-F50A-2A45BC8908A6}"/>
                </a:ext>
              </a:extLst>
            </p:cNvPr>
            <p:cNvSpPr/>
            <p:nvPr/>
          </p:nvSpPr>
          <p:spPr>
            <a:xfrm>
              <a:off x="2415272" y="1923499"/>
              <a:ext cx="909555" cy="521033"/>
            </a:xfrm>
            <a:prstGeom prst="rightArrow">
              <a:avLst/>
            </a:prstGeom>
            <a:solidFill>
              <a:schemeClr val="accent1">
                <a:lumMod val="60000"/>
                <a:lumOff val="40000"/>
              </a:schemeClr>
            </a:solidFill>
            <a:ln>
              <a:solidFill>
                <a:schemeClr val="accent1">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r>
                <a:rPr lang="zh-CN" altLang="en-US" sz="1200" dirty="0">
                  <a:ln w="0"/>
                  <a:solidFill>
                    <a:schemeClr val="tx1"/>
                  </a:solidFill>
                  <a:effectLst>
                    <a:outerShdw blurRad="38100" dist="25400" dir="5400000" algn="ctr" rotWithShape="0">
                      <a:srgbClr val="6E747A">
                        <a:alpha val="43000"/>
                      </a:srgbClr>
                    </a:outerShdw>
                  </a:effectLst>
                  <a:latin typeface="Arial" panose="020B0604020202020204" pitchFamily="34" charset="0"/>
                  <a:ea typeface="微软雅黑" panose="020B0503020204020204" pitchFamily="34" charset="-122"/>
                </a:rPr>
                <a:t>关联</a:t>
              </a:r>
            </a:p>
          </p:txBody>
        </p:sp>
      </p:grpSp>
      <p:sp>
        <p:nvSpPr>
          <p:cNvPr id="45" name="加号 44">
            <a:extLst>
              <a:ext uri="{FF2B5EF4-FFF2-40B4-BE49-F238E27FC236}">
                <a16:creationId xmlns:a16="http://schemas.microsoft.com/office/drawing/2014/main" id="{1E5F9E66-E6A7-BD58-89E5-C593935203DF}"/>
              </a:ext>
            </a:extLst>
          </p:cNvPr>
          <p:cNvSpPr/>
          <p:nvPr/>
        </p:nvSpPr>
        <p:spPr>
          <a:xfrm>
            <a:off x="1593193" y="3707707"/>
            <a:ext cx="566209" cy="655353"/>
          </a:xfrm>
          <a:prstGeom prst="mathPlus">
            <a:avLst/>
          </a:prstGeom>
          <a:solidFill>
            <a:schemeClr val="accent1">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endParaRPr lang="zh-CN" altLang="en-US" sz="1200" b="1" dirty="0">
              <a:solidFill>
                <a:schemeClr val="tx1"/>
              </a:solidFill>
              <a:latin typeface="+mn-ea"/>
            </a:endParaRPr>
          </a:p>
        </p:txBody>
      </p:sp>
      <p:grpSp>
        <p:nvGrpSpPr>
          <p:cNvPr id="46" name="组合 45">
            <a:extLst>
              <a:ext uri="{FF2B5EF4-FFF2-40B4-BE49-F238E27FC236}">
                <a16:creationId xmlns:a16="http://schemas.microsoft.com/office/drawing/2014/main" id="{95A69FEB-99DE-8327-5D95-0F4B42FADB3F}"/>
              </a:ext>
            </a:extLst>
          </p:cNvPr>
          <p:cNvGrpSpPr/>
          <p:nvPr/>
        </p:nvGrpSpPr>
        <p:grpSpPr>
          <a:xfrm>
            <a:off x="4080374" y="2153265"/>
            <a:ext cx="4011561" cy="1275735"/>
            <a:chOff x="-1" y="1290484"/>
            <a:chExt cx="5670755" cy="1600200"/>
          </a:xfrm>
        </p:grpSpPr>
        <p:graphicFrame>
          <p:nvGraphicFramePr>
            <p:cNvPr id="47" name="图示 46">
              <a:extLst>
                <a:ext uri="{FF2B5EF4-FFF2-40B4-BE49-F238E27FC236}">
                  <a16:creationId xmlns:a16="http://schemas.microsoft.com/office/drawing/2014/main" id="{0A55BFEA-5563-63B6-9948-4C929A9E3563}"/>
                </a:ext>
              </a:extLst>
            </p:cNvPr>
            <p:cNvGraphicFramePr/>
            <p:nvPr>
              <p:extLst>
                <p:ext uri="{D42A27DB-BD31-4B8C-83A1-F6EECF244321}">
                  <p14:modId xmlns:p14="http://schemas.microsoft.com/office/powerpoint/2010/main" val="95265827"/>
                </p:ext>
              </p:extLst>
            </p:nvPr>
          </p:nvGraphicFramePr>
          <p:xfrm>
            <a:off x="2524431" y="1290485"/>
            <a:ext cx="3146323" cy="1600199"/>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graphicFrame>
          <p:nvGraphicFramePr>
            <p:cNvPr id="48" name="图示 47">
              <a:extLst>
                <a:ext uri="{FF2B5EF4-FFF2-40B4-BE49-F238E27FC236}">
                  <a16:creationId xmlns:a16="http://schemas.microsoft.com/office/drawing/2014/main" id="{A1300264-F03C-19B2-9648-631E7814CABE}"/>
                </a:ext>
              </a:extLst>
            </p:cNvPr>
            <p:cNvGraphicFramePr/>
            <p:nvPr>
              <p:extLst>
                <p:ext uri="{D42A27DB-BD31-4B8C-83A1-F6EECF244321}">
                  <p14:modId xmlns:p14="http://schemas.microsoft.com/office/powerpoint/2010/main" val="4193919751"/>
                </p:ext>
              </p:extLst>
            </p:nvPr>
          </p:nvGraphicFramePr>
          <p:xfrm>
            <a:off x="-1" y="1290484"/>
            <a:ext cx="3146323" cy="1600199"/>
          </p:xfrm>
          <a:graphic>
            <a:graphicData uri="http://schemas.openxmlformats.org/drawingml/2006/diagram">
              <dgm:relIds xmlns:dgm="http://schemas.openxmlformats.org/drawingml/2006/diagram" xmlns:r="http://schemas.openxmlformats.org/officeDocument/2006/relationships" r:dm="rId17" r:lo="rId18" r:qs="rId19" r:cs="rId20"/>
            </a:graphicData>
          </a:graphic>
        </p:graphicFrame>
        <p:sp>
          <p:nvSpPr>
            <p:cNvPr id="49" name="箭头: 右 48">
              <a:extLst>
                <a:ext uri="{FF2B5EF4-FFF2-40B4-BE49-F238E27FC236}">
                  <a16:creationId xmlns:a16="http://schemas.microsoft.com/office/drawing/2014/main" id="{90317F75-1287-5834-7A45-63178DB127B8}"/>
                </a:ext>
              </a:extLst>
            </p:cNvPr>
            <p:cNvSpPr/>
            <p:nvPr/>
          </p:nvSpPr>
          <p:spPr>
            <a:xfrm>
              <a:off x="2415272" y="1923499"/>
              <a:ext cx="909555" cy="521033"/>
            </a:xfrm>
            <a:prstGeom prst="rightArrow">
              <a:avLst/>
            </a:prstGeom>
            <a:solidFill>
              <a:schemeClr val="accent1">
                <a:lumMod val="60000"/>
                <a:lumOff val="40000"/>
              </a:schemeClr>
            </a:solidFill>
            <a:ln>
              <a:solidFill>
                <a:schemeClr val="accent1">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r>
                <a:rPr lang="zh-CN" altLang="en-US" sz="1200" dirty="0">
                  <a:ln w="0"/>
                  <a:solidFill>
                    <a:schemeClr val="tx1"/>
                  </a:solidFill>
                  <a:effectLst>
                    <a:outerShdw blurRad="38100" dist="25400" dir="5400000" algn="ctr" rotWithShape="0">
                      <a:srgbClr val="6E747A">
                        <a:alpha val="43000"/>
                      </a:srgbClr>
                    </a:outerShdw>
                  </a:effectLst>
                  <a:latin typeface="Arial" panose="020B0604020202020204" pitchFamily="34" charset="0"/>
                  <a:ea typeface="微软雅黑" panose="020B0503020204020204" pitchFamily="34" charset="-122"/>
                </a:rPr>
                <a:t>关联</a:t>
              </a:r>
            </a:p>
          </p:txBody>
        </p:sp>
      </p:grpSp>
      <p:sp>
        <p:nvSpPr>
          <p:cNvPr id="50" name="加号 49">
            <a:extLst>
              <a:ext uri="{FF2B5EF4-FFF2-40B4-BE49-F238E27FC236}">
                <a16:creationId xmlns:a16="http://schemas.microsoft.com/office/drawing/2014/main" id="{EE7E114E-3807-B725-23A1-C46B560F6FF2}"/>
              </a:ext>
            </a:extLst>
          </p:cNvPr>
          <p:cNvSpPr/>
          <p:nvPr/>
        </p:nvSpPr>
        <p:spPr>
          <a:xfrm>
            <a:off x="5827577" y="3694658"/>
            <a:ext cx="566209" cy="655353"/>
          </a:xfrm>
          <a:prstGeom prst="mathPlus">
            <a:avLst/>
          </a:prstGeom>
          <a:solidFill>
            <a:schemeClr val="accent1">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endParaRPr lang="zh-CN" altLang="en-US" sz="1200" b="1" dirty="0">
              <a:solidFill>
                <a:schemeClr val="tx1"/>
              </a:solidFill>
              <a:latin typeface="+mn-ea"/>
            </a:endParaRPr>
          </a:p>
        </p:txBody>
      </p:sp>
      <p:grpSp>
        <p:nvGrpSpPr>
          <p:cNvPr id="51" name="组合 50">
            <a:extLst>
              <a:ext uri="{FF2B5EF4-FFF2-40B4-BE49-F238E27FC236}">
                <a16:creationId xmlns:a16="http://schemas.microsoft.com/office/drawing/2014/main" id="{7DD4D8BA-ABB6-66BD-8BCB-21DA621F8A43}"/>
              </a:ext>
            </a:extLst>
          </p:cNvPr>
          <p:cNvGrpSpPr/>
          <p:nvPr/>
        </p:nvGrpSpPr>
        <p:grpSpPr>
          <a:xfrm>
            <a:off x="7728141" y="2153265"/>
            <a:ext cx="4011561" cy="1275735"/>
            <a:chOff x="-1" y="1290484"/>
            <a:chExt cx="5670755" cy="1600200"/>
          </a:xfrm>
        </p:grpSpPr>
        <p:graphicFrame>
          <p:nvGraphicFramePr>
            <p:cNvPr id="52" name="图示 51">
              <a:extLst>
                <a:ext uri="{FF2B5EF4-FFF2-40B4-BE49-F238E27FC236}">
                  <a16:creationId xmlns:a16="http://schemas.microsoft.com/office/drawing/2014/main" id="{927FCC62-EC46-439F-7D27-3411D00942DE}"/>
                </a:ext>
              </a:extLst>
            </p:cNvPr>
            <p:cNvGraphicFramePr/>
            <p:nvPr>
              <p:extLst>
                <p:ext uri="{D42A27DB-BD31-4B8C-83A1-F6EECF244321}">
                  <p14:modId xmlns:p14="http://schemas.microsoft.com/office/powerpoint/2010/main" val="2479617211"/>
                </p:ext>
              </p:extLst>
            </p:nvPr>
          </p:nvGraphicFramePr>
          <p:xfrm>
            <a:off x="2524431" y="1290485"/>
            <a:ext cx="3146323" cy="1600199"/>
          </p:xfrm>
          <a:graphic>
            <a:graphicData uri="http://schemas.openxmlformats.org/drawingml/2006/diagram">
              <dgm:relIds xmlns:dgm="http://schemas.openxmlformats.org/drawingml/2006/diagram" xmlns:r="http://schemas.openxmlformats.org/officeDocument/2006/relationships" r:dm="rId22" r:lo="rId23" r:qs="rId24" r:cs="rId25"/>
            </a:graphicData>
          </a:graphic>
        </p:graphicFrame>
        <p:graphicFrame>
          <p:nvGraphicFramePr>
            <p:cNvPr id="53" name="图示 52">
              <a:extLst>
                <a:ext uri="{FF2B5EF4-FFF2-40B4-BE49-F238E27FC236}">
                  <a16:creationId xmlns:a16="http://schemas.microsoft.com/office/drawing/2014/main" id="{6AD6FC39-77FD-074F-C56C-8CCDBA429403}"/>
                </a:ext>
              </a:extLst>
            </p:cNvPr>
            <p:cNvGraphicFramePr/>
            <p:nvPr>
              <p:extLst>
                <p:ext uri="{D42A27DB-BD31-4B8C-83A1-F6EECF244321}">
                  <p14:modId xmlns:p14="http://schemas.microsoft.com/office/powerpoint/2010/main" val="1239947639"/>
                </p:ext>
              </p:extLst>
            </p:nvPr>
          </p:nvGraphicFramePr>
          <p:xfrm>
            <a:off x="-1" y="1290484"/>
            <a:ext cx="3146323" cy="1600199"/>
          </p:xfrm>
          <a:graphic>
            <a:graphicData uri="http://schemas.openxmlformats.org/drawingml/2006/diagram">
              <dgm:relIds xmlns:dgm="http://schemas.openxmlformats.org/drawingml/2006/diagram" xmlns:r="http://schemas.openxmlformats.org/officeDocument/2006/relationships" r:dm="rId27" r:lo="rId28" r:qs="rId29" r:cs="rId30"/>
            </a:graphicData>
          </a:graphic>
        </p:graphicFrame>
        <p:sp>
          <p:nvSpPr>
            <p:cNvPr id="54" name="箭头: 右 53">
              <a:extLst>
                <a:ext uri="{FF2B5EF4-FFF2-40B4-BE49-F238E27FC236}">
                  <a16:creationId xmlns:a16="http://schemas.microsoft.com/office/drawing/2014/main" id="{7D3258E5-CCEB-1053-B084-687449D329ED}"/>
                </a:ext>
              </a:extLst>
            </p:cNvPr>
            <p:cNvSpPr/>
            <p:nvPr/>
          </p:nvSpPr>
          <p:spPr>
            <a:xfrm>
              <a:off x="2415272" y="1923499"/>
              <a:ext cx="909555" cy="521033"/>
            </a:xfrm>
            <a:prstGeom prst="rightArrow">
              <a:avLst/>
            </a:prstGeom>
            <a:solidFill>
              <a:schemeClr val="accent1">
                <a:lumMod val="60000"/>
                <a:lumOff val="40000"/>
              </a:schemeClr>
            </a:solidFill>
            <a:ln>
              <a:solidFill>
                <a:schemeClr val="accent1">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r>
                <a:rPr lang="zh-CN" altLang="en-US" sz="1200" dirty="0">
                  <a:ln w="0"/>
                  <a:solidFill>
                    <a:schemeClr val="tx1"/>
                  </a:solidFill>
                  <a:effectLst>
                    <a:outerShdw blurRad="38100" dist="25400" dir="5400000" algn="ctr" rotWithShape="0">
                      <a:srgbClr val="6E747A">
                        <a:alpha val="43000"/>
                      </a:srgbClr>
                    </a:outerShdw>
                  </a:effectLst>
                  <a:latin typeface="Arial" panose="020B0604020202020204" pitchFamily="34" charset="0"/>
                  <a:ea typeface="微软雅黑" panose="020B0503020204020204" pitchFamily="34" charset="-122"/>
                </a:rPr>
                <a:t>关联</a:t>
              </a:r>
            </a:p>
          </p:txBody>
        </p:sp>
      </p:grpSp>
      <p:sp>
        <p:nvSpPr>
          <p:cNvPr id="55" name="加号 54">
            <a:extLst>
              <a:ext uri="{FF2B5EF4-FFF2-40B4-BE49-F238E27FC236}">
                <a16:creationId xmlns:a16="http://schemas.microsoft.com/office/drawing/2014/main" id="{F6CB79B0-C645-B645-6305-83239E9C9264}"/>
              </a:ext>
            </a:extLst>
          </p:cNvPr>
          <p:cNvSpPr/>
          <p:nvPr/>
        </p:nvSpPr>
        <p:spPr>
          <a:xfrm>
            <a:off x="9670783" y="3694657"/>
            <a:ext cx="566209" cy="655353"/>
          </a:xfrm>
          <a:prstGeom prst="mathPlus">
            <a:avLst/>
          </a:prstGeom>
          <a:solidFill>
            <a:schemeClr val="accent1">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endParaRPr lang="zh-CN" altLang="en-US" sz="1200" b="1" dirty="0">
              <a:solidFill>
                <a:schemeClr val="tx1"/>
              </a:solidFill>
              <a:latin typeface="+mn-ea"/>
            </a:endParaRPr>
          </a:p>
        </p:txBody>
      </p:sp>
      <p:cxnSp>
        <p:nvCxnSpPr>
          <p:cNvPr id="57" name="直接连接符 56">
            <a:extLst>
              <a:ext uri="{FF2B5EF4-FFF2-40B4-BE49-F238E27FC236}">
                <a16:creationId xmlns:a16="http://schemas.microsoft.com/office/drawing/2014/main" id="{95732E08-BD1C-A026-53F4-403E7670CF3B}"/>
              </a:ext>
            </a:extLst>
          </p:cNvPr>
          <p:cNvCxnSpPr>
            <a:cxnSpLocks/>
          </p:cNvCxnSpPr>
          <p:nvPr/>
        </p:nvCxnSpPr>
        <p:spPr>
          <a:xfrm>
            <a:off x="4055039" y="1858297"/>
            <a:ext cx="25335" cy="4999703"/>
          </a:xfrm>
          <a:prstGeom prst="line">
            <a:avLst/>
          </a:prstGeom>
          <a:ln w="25400">
            <a:solidFill>
              <a:schemeClr val="tx1"/>
            </a:solidFill>
            <a:tailEnd type="none"/>
          </a:ln>
        </p:spPr>
        <p:style>
          <a:lnRef idx="3">
            <a:schemeClr val="accent1"/>
          </a:lnRef>
          <a:fillRef idx="0">
            <a:schemeClr val="accent1"/>
          </a:fillRef>
          <a:effectRef idx="2">
            <a:schemeClr val="accent1"/>
          </a:effectRef>
          <a:fontRef idx="minor">
            <a:schemeClr val="tx1"/>
          </a:fontRef>
        </p:style>
      </p:cxnSp>
      <p:cxnSp>
        <p:nvCxnSpPr>
          <p:cNvPr id="59" name="直接连接符 58">
            <a:extLst>
              <a:ext uri="{FF2B5EF4-FFF2-40B4-BE49-F238E27FC236}">
                <a16:creationId xmlns:a16="http://schemas.microsoft.com/office/drawing/2014/main" id="{1D64EAE3-8030-9F61-6593-9BD1870940AF}"/>
              </a:ext>
            </a:extLst>
          </p:cNvPr>
          <p:cNvCxnSpPr>
            <a:cxnSpLocks/>
          </p:cNvCxnSpPr>
          <p:nvPr/>
        </p:nvCxnSpPr>
        <p:spPr>
          <a:xfrm>
            <a:off x="8014714" y="1858297"/>
            <a:ext cx="77221" cy="5154561"/>
          </a:xfrm>
          <a:prstGeom prst="line">
            <a:avLst/>
          </a:prstGeom>
          <a:ln w="25400">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0" name="箭头: 右 59">
            <a:extLst>
              <a:ext uri="{FF2B5EF4-FFF2-40B4-BE49-F238E27FC236}">
                <a16:creationId xmlns:a16="http://schemas.microsoft.com/office/drawing/2014/main" id="{65F7220F-21DC-1263-3562-C3B42D805F4C}"/>
              </a:ext>
            </a:extLst>
          </p:cNvPr>
          <p:cNvSpPr/>
          <p:nvPr/>
        </p:nvSpPr>
        <p:spPr>
          <a:xfrm>
            <a:off x="3252019" y="4358148"/>
            <a:ext cx="1283704" cy="1002891"/>
          </a:xfrm>
          <a:prstGeom prst="rightArrow">
            <a:avLst/>
          </a:prstGeom>
          <a:solidFill>
            <a:schemeClr val="accent3">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r>
              <a:rPr lang="zh-CN" altLang="en-US" sz="1200" b="1" dirty="0">
                <a:solidFill>
                  <a:schemeClr val="tx1"/>
                </a:solidFill>
                <a:latin typeface="Arial" panose="020B0604020202020204" pitchFamily="34" charset="0"/>
                <a:ea typeface="微软雅黑" panose="020B0503020204020204" pitchFamily="34" charset="-122"/>
              </a:rPr>
              <a:t>选择</a:t>
            </a:r>
          </a:p>
        </p:txBody>
      </p:sp>
      <p:pic>
        <p:nvPicPr>
          <p:cNvPr id="63" name="图片 62">
            <a:extLst>
              <a:ext uri="{FF2B5EF4-FFF2-40B4-BE49-F238E27FC236}">
                <a16:creationId xmlns:a16="http://schemas.microsoft.com/office/drawing/2014/main" id="{6EB04760-09E3-8AC3-BBB7-2583EBBD1793}"/>
              </a:ext>
            </a:extLst>
          </p:cNvPr>
          <p:cNvPicPr>
            <a:picLocks noChangeAspect="1"/>
          </p:cNvPicPr>
          <p:nvPr/>
        </p:nvPicPr>
        <p:blipFill>
          <a:blip r:embed="rId32"/>
          <a:stretch>
            <a:fillRect/>
          </a:stretch>
        </p:blipFill>
        <p:spPr>
          <a:xfrm>
            <a:off x="4496594" y="4435577"/>
            <a:ext cx="3328512" cy="2256663"/>
          </a:xfrm>
          <a:prstGeom prst="rect">
            <a:avLst/>
          </a:prstGeom>
        </p:spPr>
      </p:pic>
      <p:sp>
        <p:nvSpPr>
          <p:cNvPr id="64" name="文本框 63">
            <a:extLst>
              <a:ext uri="{FF2B5EF4-FFF2-40B4-BE49-F238E27FC236}">
                <a16:creationId xmlns:a16="http://schemas.microsoft.com/office/drawing/2014/main" id="{5927C7F7-3884-45A2-7FEC-0448E69949ED}"/>
              </a:ext>
            </a:extLst>
          </p:cNvPr>
          <p:cNvSpPr txBox="1"/>
          <p:nvPr/>
        </p:nvSpPr>
        <p:spPr>
          <a:xfrm>
            <a:off x="619432" y="943897"/>
            <a:ext cx="5771535" cy="369332"/>
          </a:xfrm>
          <a:prstGeom prst="rect">
            <a:avLst/>
          </a:prstGeom>
          <a:noFill/>
        </p:spPr>
        <p:txBody>
          <a:bodyPr wrap="square" rtlCol="0">
            <a:spAutoFit/>
          </a:bodyPr>
          <a:lstStyle/>
          <a:p>
            <a:r>
              <a:rPr lang="zh-CN" altLang="en-US" dirty="0">
                <a:latin typeface="Arial" panose="020B0604020202020204" pitchFamily="34" charset="0"/>
                <a:ea typeface="微软雅黑" panose="020B0503020204020204" pitchFamily="34" charset="-122"/>
              </a:rPr>
              <a:t>维护了维度的说明对维度有指定，没维护的没有限制</a:t>
            </a:r>
            <a:endParaRPr lang="en-US" altLang="zh-CN"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805053360"/>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99A87FB-ADE8-0067-BC4B-75A9DAB34AC1}"/>
              </a:ext>
            </a:extLst>
          </p:cNvPr>
          <p:cNvSpPr>
            <a:spLocks noGrp="1"/>
          </p:cNvSpPr>
          <p:nvPr>
            <p:ph type="title"/>
          </p:nvPr>
        </p:nvSpPr>
        <p:spPr/>
        <p:txBody>
          <a:bodyPr/>
          <a:lstStyle/>
          <a:p>
            <a:endParaRPr lang="zh-CN" altLang="en-US"/>
          </a:p>
        </p:txBody>
      </p:sp>
      <p:grpSp>
        <p:nvGrpSpPr>
          <p:cNvPr id="3" name="组合 2">
            <a:extLst>
              <a:ext uri="{FF2B5EF4-FFF2-40B4-BE49-F238E27FC236}">
                <a16:creationId xmlns:a16="http://schemas.microsoft.com/office/drawing/2014/main" id="{62DD7E11-702C-943B-C13D-49B1C747468C}"/>
              </a:ext>
            </a:extLst>
          </p:cNvPr>
          <p:cNvGrpSpPr/>
          <p:nvPr/>
        </p:nvGrpSpPr>
        <p:grpSpPr>
          <a:xfrm>
            <a:off x="3122687" y="1568246"/>
            <a:ext cx="4011561" cy="1275735"/>
            <a:chOff x="-1" y="1290484"/>
            <a:chExt cx="5670755" cy="1600200"/>
          </a:xfrm>
        </p:grpSpPr>
        <p:graphicFrame>
          <p:nvGraphicFramePr>
            <p:cNvPr id="4" name="图示 3">
              <a:extLst>
                <a:ext uri="{FF2B5EF4-FFF2-40B4-BE49-F238E27FC236}">
                  <a16:creationId xmlns:a16="http://schemas.microsoft.com/office/drawing/2014/main" id="{F19A0D6C-ADD3-CE13-CD37-56AC392AEE50}"/>
                </a:ext>
              </a:extLst>
            </p:cNvPr>
            <p:cNvGraphicFramePr/>
            <p:nvPr>
              <p:extLst>
                <p:ext uri="{D42A27DB-BD31-4B8C-83A1-F6EECF244321}">
                  <p14:modId xmlns:p14="http://schemas.microsoft.com/office/powerpoint/2010/main" val="4210920791"/>
                </p:ext>
              </p:extLst>
            </p:nvPr>
          </p:nvGraphicFramePr>
          <p:xfrm>
            <a:off x="2524431" y="1290485"/>
            <a:ext cx="3146323" cy="16001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5" name="图示 4">
              <a:extLst>
                <a:ext uri="{FF2B5EF4-FFF2-40B4-BE49-F238E27FC236}">
                  <a16:creationId xmlns:a16="http://schemas.microsoft.com/office/drawing/2014/main" id="{5750ED68-A506-13C3-10EE-1B976160653A}"/>
                </a:ext>
              </a:extLst>
            </p:cNvPr>
            <p:cNvGraphicFramePr/>
            <p:nvPr>
              <p:extLst>
                <p:ext uri="{D42A27DB-BD31-4B8C-83A1-F6EECF244321}">
                  <p14:modId xmlns:p14="http://schemas.microsoft.com/office/powerpoint/2010/main" val="2741140785"/>
                </p:ext>
              </p:extLst>
            </p:nvPr>
          </p:nvGraphicFramePr>
          <p:xfrm>
            <a:off x="-1" y="1290484"/>
            <a:ext cx="3146323" cy="1600199"/>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6" name="箭头: 右 5">
              <a:extLst>
                <a:ext uri="{FF2B5EF4-FFF2-40B4-BE49-F238E27FC236}">
                  <a16:creationId xmlns:a16="http://schemas.microsoft.com/office/drawing/2014/main" id="{1BBA3B3C-B45D-DDA4-47C3-DCD19FB3167D}"/>
                </a:ext>
              </a:extLst>
            </p:cNvPr>
            <p:cNvSpPr/>
            <p:nvPr/>
          </p:nvSpPr>
          <p:spPr>
            <a:xfrm>
              <a:off x="2415272" y="1923499"/>
              <a:ext cx="909555" cy="521033"/>
            </a:xfrm>
            <a:prstGeom prst="rightArrow">
              <a:avLst/>
            </a:prstGeom>
            <a:solidFill>
              <a:schemeClr val="accent1">
                <a:lumMod val="60000"/>
                <a:lumOff val="40000"/>
              </a:schemeClr>
            </a:solidFill>
            <a:ln>
              <a:solidFill>
                <a:schemeClr val="accent1">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r>
                <a:rPr lang="zh-CN" altLang="en-US" sz="1200" dirty="0">
                  <a:ln w="0"/>
                  <a:solidFill>
                    <a:schemeClr val="tx1"/>
                  </a:solidFill>
                  <a:effectLst>
                    <a:outerShdw blurRad="38100" dist="25400" dir="5400000" algn="ctr" rotWithShape="0">
                      <a:srgbClr val="6E747A">
                        <a:alpha val="43000"/>
                      </a:srgbClr>
                    </a:outerShdw>
                  </a:effectLst>
                  <a:latin typeface="Arial" panose="020B0604020202020204" pitchFamily="34" charset="0"/>
                  <a:ea typeface="微软雅黑" panose="020B0503020204020204" pitchFamily="34" charset="-122"/>
                </a:rPr>
                <a:t>关联</a:t>
              </a:r>
            </a:p>
          </p:txBody>
        </p:sp>
      </p:grpSp>
      <p:sp>
        <p:nvSpPr>
          <p:cNvPr id="7" name="矩形 6">
            <a:extLst>
              <a:ext uri="{FF2B5EF4-FFF2-40B4-BE49-F238E27FC236}">
                <a16:creationId xmlns:a16="http://schemas.microsoft.com/office/drawing/2014/main" id="{D4C31894-803C-5F87-92A1-49E141B82CC2}"/>
              </a:ext>
            </a:extLst>
          </p:cNvPr>
          <p:cNvSpPr/>
          <p:nvPr/>
        </p:nvSpPr>
        <p:spPr>
          <a:xfrm>
            <a:off x="3696315" y="4014020"/>
            <a:ext cx="707923" cy="53094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dirty="0"/>
              <a:t>物料</a:t>
            </a:r>
          </a:p>
        </p:txBody>
      </p:sp>
      <p:sp>
        <p:nvSpPr>
          <p:cNvPr id="8" name="矩形 7">
            <a:extLst>
              <a:ext uri="{FF2B5EF4-FFF2-40B4-BE49-F238E27FC236}">
                <a16:creationId xmlns:a16="http://schemas.microsoft.com/office/drawing/2014/main" id="{E97A28BF-15D5-82DC-E217-058365CA3707}"/>
              </a:ext>
            </a:extLst>
          </p:cNvPr>
          <p:cNvSpPr/>
          <p:nvPr/>
        </p:nvSpPr>
        <p:spPr>
          <a:xfrm>
            <a:off x="5670374" y="4014020"/>
            <a:ext cx="707923" cy="53094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dirty="0"/>
              <a:t>BOM</a:t>
            </a:r>
            <a:endParaRPr lang="zh-CN" altLang="en-US" dirty="0"/>
          </a:p>
        </p:txBody>
      </p:sp>
      <p:sp>
        <p:nvSpPr>
          <p:cNvPr id="9" name="矩形 8">
            <a:extLst>
              <a:ext uri="{FF2B5EF4-FFF2-40B4-BE49-F238E27FC236}">
                <a16:creationId xmlns:a16="http://schemas.microsoft.com/office/drawing/2014/main" id="{7E5B1A59-1274-E6FE-97FD-6E2336C6B643}"/>
              </a:ext>
            </a:extLst>
          </p:cNvPr>
          <p:cNvSpPr/>
          <p:nvPr/>
        </p:nvSpPr>
        <p:spPr>
          <a:xfrm>
            <a:off x="8748852" y="4014020"/>
            <a:ext cx="1221058" cy="53094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dirty="0"/>
              <a:t>供应商</a:t>
            </a:r>
          </a:p>
        </p:txBody>
      </p:sp>
      <p:sp>
        <p:nvSpPr>
          <p:cNvPr id="10" name="矩形 9">
            <a:extLst>
              <a:ext uri="{FF2B5EF4-FFF2-40B4-BE49-F238E27FC236}">
                <a16:creationId xmlns:a16="http://schemas.microsoft.com/office/drawing/2014/main" id="{49D2DD75-10DB-6038-9DD4-69EE8FBC0CB7}"/>
              </a:ext>
            </a:extLst>
          </p:cNvPr>
          <p:cNvSpPr/>
          <p:nvPr/>
        </p:nvSpPr>
        <p:spPr>
          <a:xfrm>
            <a:off x="7033904" y="4014020"/>
            <a:ext cx="1221058" cy="53094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dirty="0"/>
              <a:t>工厂</a:t>
            </a:r>
          </a:p>
        </p:txBody>
      </p:sp>
      <p:sp>
        <p:nvSpPr>
          <p:cNvPr id="11" name="矩形 10">
            <a:extLst>
              <a:ext uri="{FF2B5EF4-FFF2-40B4-BE49-F238E27FC236}">
                <a16:creationId xmlns:a16="http://schemas.microsoft.com/office/drawing/2014/main" id="{41DE0206-E862-D8F3-4A26-15383BA0B228}"/>
              </a:ext>
            </a:extLst>
          </p:cNvPr>
          <p:cNvSpPr/>
          <p:nvPr/>
        </p:nvSpPr>
        <p:spPr>
          <a:xfrm>
            <a:off x="1750742" y="4014020"/>
            <a:ext cx="1221058" cy="53094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dirty="0"/>
              <a:t>客户</a:t>
            </a:r>
          </a:p>
        </p:txBody>
      </p:sp>
      <p:sp>
        <p:nvSpPr>
          <p:cNvPr id="12" name="矩形 11">
            <a:extLst>
              <a:ext uri="{FF2B5EF4-FFF2-40B4-BE49-F238E27FC236}">
                <a16:creationId xmlns:a16="http://schemas.microsoft.com/office/drawing/2014/main" id="{F6699DC2-4358-AAEF-C719-9DB9C0B4D9B0}"/>
              </a:ext>
            </a:extLst>
          </p:cNvPr>
          <p:cNvSpPr/>
          <p:nvPr/>
        </p:nvSpPr>
        <p:spPr>
          <a:xfrm>
            <a:off x="3016045" y="1243781"/>
            <a:ext cx="4387645" cy="1865670"/>
          </a:xfrm>
          <a:prstGeom prst="rect">
            <a:avLst/>
          </a:prstGeom>
          <a:noFill/>
          <a:ln>
            <a:solidFill>
              <a:schemeClr val="tx1"/>
            </a:solid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lang="zh-CN" altLang="en-US"/>
          </a:p>
        </p:txBody>
      </p:sp>
      <p:cxnSp>
        <p:nvCxnSpPr>
          <p:cNvPr id="14" name="直接箭头连接符 13">
            <a:extLst>
              <a:ext uri="{FF2B5EF4-FFF2-40B4-BE49-F238E27FC236}">
                <a16:creationId xmlns:a16="http://schemas.microsoft.com/office/drawing/2014/main" id="{931FD571-6DFD-87AE-E1E8-F939B21210EC}"/>
              </a:ext>
            </a:extLst>
          </p:cNvPr>
          <p:cNvCxnSpPr>
            <a:stCxn id="12" idx="2"/>
            <a:endCxn id="11" idx="0"/>
          </p:cNvCxnSpPr>
          <p:nvPr/>
        </p:nvCxnSpPr>
        <p:spPr>
          <a:xfrm flipH="1">
            <a:off x="2361271" y="3109451"/>
            <a:ext cx="2848597" cy="904569"/>
          </a:xfrm>
          <a:prstGeom prst="straightConnector1">
            <a:avLst/>
          </a:prstGeom>
          <a:ln>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5" name="直接箭头连接符 14">
            <a:extLst>
              <a:ext uri="{FF2B5EF4-FFF2-40B4-BE49-F238E27FC236}">
                <a16:creationId xmlns:a16="http://schemas.microsoft.com/office/drawing/2014/main" id="{879FB2C6-2A58-151F-E066-AD37AD979E2B}"/>
              </a:ext>
            </a:extLst>
          </p:cNvPr>
          <p:cNvCxnSpPr>
            <a:cxnSpLocks/>
            <a:stCxn id="12" idx="2"/>
            <a:endCxn id="7" idx="0"/>
          </p:cNvCxnSpPr>
          <p:nvPr/>
        </p:nvCxnSpPr>
        <p:spPr>
          <a:xfrm flipH="1">
            <a:off x="4050277" y="3109451"/>
            <a:ext cx="1159591" cy="904569"/>
          </a:xfrm>
          <a:prstGeom prst="straightConnector1">
            <a:avLst/>
          </a:prstGeom>
          <a:ln>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直接箭头连接符 17">
            <a:extLst>
              <a:ext uri="{FF2B5EF4-FFF2-40B4-BE49-F238E27FC236}">
                <a16:creationId xmlns:a16="http://schemas.microsoft.com/office/drawing/2014/main" id="{DDD15E09-6E4A-6F9E-4B5E-5445567D0600}"/>
              </a:ext>
            </a:extLst>
          </p:cNvPr>
          <p:cNvCxnSpPr>
            <a:cxnSpLocks/>
            <a:stCxn id="12" idx="2"/>
            <a:endCxn id="8" idx="0"/>
          </p:cNvCxnSpPr>
          <p:nvPr/>
        </p:nvCxnSpPr>
        <p:spPr>
          <a:xfrm>
            <a:off x="5209868" y="3109451"/>
            <a:ext cx="814468" cy="904569"/>
          </a:xfrm>
          <a:prstGeom prst="straightConnector1">
            <a:avLst/>
          </a:prstGeom>
          <a:ln>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1" name="直接箭头连接符 20">
            <a:extLst>
              <a:ext uri="{FF2B5EF4-FFF2-40B4-BE49-F238E27FC236}">
                <a16:creationId xmlns:a16="http://schemas.microsoft.com/office/drawing/2014/main" id="{9077B149-97B8-A1FF-26AF-423F5C5BC42D}"/>
              </a:ext>
            </a:extLst>
          </p:cNvPr>
          <p:cNvCxnSpPr>
            <a:cxnSpLocks/>
            <a:stCxn id="12" idx="2"/>
            <a:endCxn id="10" idx="0"/>
          </p:cNvCxnSpPr>
          <p:nvPr/>
        </p:nvCxnSpPr>
        <p:spPr>
          <a:xfrm>
            <a:off x="5209868" y="3109451"/>
            <a:ext cx="2434565" cy="904569"/>
          </a:xfrm>
          <a:prstGeom prst="straightConnector1">
            <a:avLst/>
          </a:prstGeom>
          <a:ln>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4" name="直接箭头连接符 23">
            <a:extLst>
              <a:ext uri="{FF2B5EF4-FFF2-40B4-BE49-F238E27FC236}">
                <a16:creationId xmlns:a16="http://schemas.microsoft.com/office/drawing/2014/main" id="{5F43AAF8-BEC0-ABE7-51F4-2A73AE59CA1E}"/>
              </a:ext>
            </a:extLst>
          </p:cNvPr>
          <p:cNvCxnSpPr>
            <a:cxnSpLocks/>
            <a:stCxn id="12" idx="2"/>
            <a:endCxn id="9" idx="0"/>
          </p:cNvCxnSpPr>
          <p:nvPr/>
        </p:nvCxnSpPr>
        <p:spPr>
          <a:xfrm>
            <a:off x="5209868" y="3109451"/>
            <a:ext cx="4149513" cy="904569"/>
          </a:xfrm>
          <a:prstGeom prst="straightConnector1">
            <a:avLst/>
          </a:prstGeom>
          <a:ln>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id="{33191A19-F743-0681-C28A-548D5B96C56F}"/>
              </a:ext>
            </a:extLst>
          </p:cNvPr>
          <p:cNvSpPr txBox="1"/>
          <p:nvPr/>
        </p:nvSpPr>
        <p:spPr>
          <a:xfrm>
            <a:off x="8558981" y="1420761"/>
            <a:ext cx="1410929" cy="1200329"/>
          </a:xfrm>
          <a:prstGeom prst="rect">
            <a:avLst/>
          </a:prstGeom>
          <a:noFill/>
        </p:spPr>
        <p:txBody>
          <a:bodyPr wrap="square" rtlCol="0">
            <a:spAutoFit/>
          </a:bodyPr>
          <a:lstStyle/>
          <a:p>
            <a:r>
              <a:rPr lang="zh-CN" altLang="en-US" dirty="0"/>
              <a:t>颜色 </a:t>
            </a:r>
            <a:r>
              <a:rPr lang="en-US" altLang="zh-CN" dirty="0"/>
              <a:t>3</a:t>
            </a:r>
            <a:br>
              <a:rPr lang="en-US" altLang="zh-CN" dirty="0"/>
            </a:br>
            <a:r>
              <a:rPr lang="zh-CN" altLang="en-US" dirty="0"/>
              <a:t>内存 </a:t>
            </a:r>
            <a:r>
              <a:rPr lang="en-US" altLang="zh-CN" dirty="0"/>
              <a:t>3</a:t>
            </a:r>
            <a:br>
              <a:rPr lang="en-US" altLang="zh-CN" dirty="0"/>
            </a:br>
            <a:r>
              <a:rPr lang="zh-CN" altLang="en-US" dirty="0"/>
              <a:t>存储 </a:t>
            </a:r>
            <a:r>
              <a:rPr lang="en-US" altLang="zh-CN" dirty="0"/>
              <a:t>4</a:t>
            </a:r>
            <a:br>
              <a:rPr lang="en-US" altLang="zh-CN" dirty="0"/>
            </a:br>
            <a:r>
              <a:rPr lang="zh-CN" altLang="en-US" dirty="0"/>
              <a:t>国家 </a:t>
            </a:r>
            <a:r>
              <a:rPr lang="en-US" altLang="zh-CN" dirty="0"/>
              <a:t>4</a:t>
            </a:r>
            <a:endParaRPr lang="zh-CN" altLang="en-US" dirty="0"/>
          </a:p>
        </p:txBody>
      </p:sp>
    </p:spTree>
    <p:extLst>
      <p:ext uri="{BB962C8B-B14F-4D97-AF65-F5344CB8AC3E}">
        <p14:creationId xmlns:p14="http://schemas.microsoft.com/office/powerpoint/2010/main" val="1849360758"/>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E7205BC4-2F45-05B8-E580-1E9117B04600}"/>
              </a:ext>
            </a:extLst>
          </p:cNvPr>
          <p:cNvSpPr>
            <a:spLocks noGrp="1"/>
          </p:cNvSpPr>
          <p:nvPr>
            <p:ph type="ctrTitle"/>
          </p:nvPr>
        </p:nvSpPr>
        <p:spPr/>
        <p:txBody>
          <a:bodyPr/>
          <a:lstStyle/>
          <a:p>
            <a:r>
              <a:rPr lang="zh-CN" altLang="en-US" dirty="0"/>
              <a:t>蓝图和</a:t>
            </a:r>
            <a:r>
              <a:rPr lang="en-US" altLang="zh-CN" dirty="0"/>
              <a:t>Roadmap</a:t>
            </a:r>
            <a:endParaRPr lang="zh-CN" altLang="en-US" dirty="0"/>
          </a:p>
        </p:txBody>
      </p:sp>
    </p:spTree>
    <p:extLst>
      <p:ext uri="{BB962C8B-B14F-4D97-AF65-F5344CB8AC3E}">
        <p14:creationId xmlns:p14="http://schemas.microsoft.com/office/powerpoint/2010/main" val="1764194432"/>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C3DCB4E1-DAF9-DEED-10EA-3F5012540527}"/>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智能计划体系建设路线图的困惑</a:t>
            </a:r>
          </a:p>
        </p:txBody>
      </p:sp>
      <p:grpSp>
        <p:nvGrpSpPr>
          <p:cNvPr id="72" name="组合 71">
            <a:extLst>
              <a:ext uri="{FF2B5EF4-FFF2-40B4-BE49-F238E27FC236}">
                <a16:creationId xmlns:a16="http://schemas.microsoft.com/office/drawing/2014/main" id="{0A3A9BFD-81B0-40CD-4136-005305DBEAEA}"/>
              </a:ext>
            </a:extLst>
          </p:cNvPr>
          <p:cNvGrpSpPr>
            <a:grpSpLocks noChangeAspect="1"/>
          </p:cNvGrpSpPr>
          <p:nvPr>
            <p:custDataLst>
              <p:tags r:id="rId1"/>
            </p:custDataLst>
          </p:nvPr>
        </p:nvGrpSpPr>
        <p:grpSpPr>
          <a:xfrm>
            <a:off x="596217" y="1348678"/>
            <a:ext cx="11330683" cy="4514337"/>
            <a:chOff x="1077375" y="1800048"/>
            <a:chExt cx="4896811" cy="5025715"/>
          </a:xfrm>
        </p:grpSpPr>
        <p:grpSp>
          <p:nvGrpSpPr>
            <p:cNvPr id="73" name="组合 72">
              <a:extLst>
                <a:ext uri="{FF2B5EF4-FFF2-40B4-BE49-F238E27FC236}">
                  <a16:creationId xmlns:a16="http://schemas.microsoft.com/office/drawing/2014/main" id="{B739E349-8439-D6D9-5D4A-659395E8EDE4}"/>
                </a:ext>
              </a:extLst>
            </p:cNvPr>
            <p:cNvGrpSpPr/>
            <p:nvPr/>
          </p:nvGrpSpPr>
          <p:grpSpPr>
            <a:xfrm>
              <a:off x="1077375" y="1800048"/>
              <a:ext cx="4887404" cy="1533911"/>
              <a:chOff x="900208" y="1140078"/>
              <a:chExt cx="4887404" cy="1533911"/>
            </a:xfrm>
          </p:grpSpPr>
          <p:sp>
            <p:nvSpPr>
              <p:cNvPr id="86" name="1">
                <a:extLst>
                  <a:ext uri="{FF2B5EF4-FFF2-40B4-BE49-F238E27FC236}">
                    <a16:creationId xmlns:a16="http://schemas.microsoft.com/office/drawing/2014/main" id="{DF847EF4-7ACC-EE92-4C91-463B17ACFD76}"/>
                  </a:ext>
                </a:extLst>
              </p:cNvPr>
              <p:cNvSpPr/>
              <p:nvPr>
                <p:custDataLst>
                  <p:tags r:id="rId10"/>
                </p:custDataLst>
              </p:nvPr>
            </p:nvSpPr>
            <p:spPr>
              <a:xfrm>
                <a:off x="909643" y="1141058"/>
                <a:ext cx="4877969" cy="1532930"/>
              </a:xfrm>
              <a:prstGeom prst="rect">
                <a:avLst/>
              </a:prstGeom>
              <a:solidFill>
                <a:schemeClr val="bg1"/>
              </a:solidFill>
              <a:ln w="6350">
                <a:solidFill>
                  <a:schemeClr val="tx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a:solidFill>
                    <a:srgbClr val="000000"/>
                  </a:solidFill>
                </a:endParaRPr>
              </a:p>
            </p:txBody>
          </p:sp>
          <p:sp>
            <p:nvSpPr>
              <p:cNvPr id="87" name="Title-1">
                <a:extLst>
                  <a:ext uri="{FF2B5EF4-FFF2-40B4-BE49-F238E27FC236}">
                    <a16:creationId xmlns:a16="http://schemas.microsoft.com/office/drawing/2014/main" id="{BB3288F9-F18B-EA05-461C-D311819EF026}"/>
                  </a:ext>
                </a:extLst>
              </p:cNvPr>
              <p:cNvSpPr>
                <a:spLocks/>
              </p:cNvSpPr>
              <p:nvPr>
                <p:custDataLst>
                  <p:tags r:id="rId11"/>
                </p:custDataLst>
              </p:nvPr>
            </p:nvSpPr>
            <p:spPr>
              <a:xfrm>
                <a:off x="1495060" y="1140078"/>
                <a:ext cx="4053475" cy="8428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lvl="1"/>
                <a:r>
                  <a:rPr lang="zh-CN" altLang="en-US" sz="2000" b="1" dirty="0">
                    <a:solidFill>
                      <a:schemeClr val="accent1"/>
                    </a:solidFill>
                    <a:latin typeface="Arial" panose="020B0604020202020204" pitchFamily="34" charset="0"/>
                    <a:ea typeface="微软雅黑" panose="020B0503020204020204" pitchFamily="34" charset="-122"/>
                    <a:sym typeface="Arial" panose="020B0604020202020204" pitchFamily="34" charset="0"/>
                  </a:rPr>
                  <a:t>缺乏标准框架会阻碍我们理解数字</a:t>
                </a:r>
                <a:r>
                  <a:rPr lang="en-US" altLang="zh-CN" sz="2000" b="1" dirty="0">
                    <a:solidFill>
                      <a:schemeClr val="accent1"/>
                    </a:solidFill>
                    <a:latin typeface="Arial" panose="020B0604020202020204" pitchFamily="34" charset="0"/>
                    <a:ea typeface="微软雅黑" panose="020B0503020204020204" pitchFamily="34" charset="-122"/>
                    <a:sym typeface="Arial" panose="020B0604020202020204" pitchFamily="34" charset="0"/>
                  </a:rPr>
                  <a:t>Planning</a:t>
                </a:r>
                <a:r>
                  <a:rPr lang="zh-CN" altLang="en-US" sz="2000" b="1" dirty="0">
                    <a:solidFill>
                      <a:schemeClr val="accent1"/>
                    </a:solidFill>
                    <a:latin typeface="Arial" panose="020B0604020202020204" pitchFamily="34" charset="0"/>
                    <a:ea typeface="微软雅黑" panose="020B0503020204020204" pitchFamily="34" charset="-122"/>
                    <a:sym typeface="Arial" panose="020B0604020202020204" pitchFamily="34" charset="0"/>
                  </a:rPr>
                  <a:t>是什么、不是什么以及它如何成熟。</a:t>
                </a:r>
                <a:endParaRPr lang="en-US" altLang="zh-CN" sz="2000" b="1" dirty="0">
                  <a:solidFill>
                    <a:schemeClr val="accent1"/>
                  </a:solidFill>
                  <a:latin typeface="Arial" panose="020B0604020202020204" pitchFamily="34" charset="0"/>
                  <a:ea typeface="微软雅黑" panose="020B0503020204020204" pitchFamily="34" charset="-122"/>
                  <a:sym typeface="Arial" panose="020B0604020202020204" pitchFamily="34" charset="0"/>
                </a:endParaRPr>
              </a:p>
            </p:txBody>
          </p:sp>
          <p:sp>
            <p:nvSpPr>
              <p:cNvPr id="89" name="Index-1">
                <a:extLst>
                  <a:ext uri="{FF2B5EF4-FFF2-40B4-BE49-F238E27FC236}">
                    <a16:creationId xmlns:a16="http://schemas.microsoft.com/office/drawing/2014/main" id="{AE4905FF-488D-DB4D-F5A0-D9CFE509B6E6}"/>
                  </a:ext>
                </a:extLst>
              </p:cNvPr>
              <p:cNvSpPr txBox="1"/>
              <p:nvPr>
                <p:custDataLst>
                  <p:tags r:id="rId12"/>
                </p:custDataLst>
              </p:nvPr>
            </p:nvSpPr>
            <p:spPr>
              <a:xfrm>
                <a:off x="900208" y="1141059"/>
                <a:ext cx="585419" cy="582490"/>
              </a:xfrm>
              <a:prstGeom prst="rect">
                <a:avLst/>
              </a:prstGeom>
              <a:solidFill>
                <a:schemeClr val="accent1"/>
              </a:solidFill>
              <a:effectLst/>
            </p:spPr>
            <p:txBody>
              <a:bodyPr wrap="square" rtlCol="0">
                <a:spAutoFit/>
              </a:bodyPr>
              <a:lstStyle>
                <a:defPPr>
                  <a:defRPr lang="zh-CN"/>
                </a:defPPr>
                <a:lvl1pPr algn="ctr">
                  <a:defRPr sz="2800" b="1">
                    <a:solidFill>
                      <a:srgbClr val="FFFFFF"/>
                    </a:solidFill>
                  </a:defRPr>
                </a:lvl1pPr>
              </a:lstStyle>
              <a:p>
                <a:r>
                  <a:rPr lang="en-US" altLang="zh-CN" dirty="0">
                    <a:latin typeface="Arial" panose="020B0604020202020204" pitchFamily="34" charset="0"/>
                    <a:ea typeface="微软雅黑" panose="020B0503020204020204" pitchFamily="34" charset="-122"/>
                  </a:rPr>
                  <a:t>01</a:t>
                </a:r>
                <a:endParaRPr lang="zh-CN" altLang="en-US" dirty="0">
                  <a:latin typeface="Arial" panose="020B0604020202020204" pitchFamily="34" charset="0"/>
                  <a:ea typeface="微软雅黑" panose="020B0503020204020204" pitchFamily="34" charset="-122"/>
                </a:endParaRPr>
              </a:p>
            </p:txBody>
          </p:sp>
          <p:cxnSp>
            <p:nvCxnSpPr>
              <p:cNvPr id="90" name="1">
                <a:extLst>
                  <a:ext uri="{FF2B5EF4-FFF2-40B4-BE49-F238E27FC236}">
                    <a16:creationId xmlns:a16="http://schemas.microsoft.com/office/drawing/2014/main" id="{FA46A35C-8A62-D0E8-76D6-829AA43DBD5C}"/>
                  </a:ext>
                </a:extLst>
              </p:cNvPr>
              <p:cNvCxnSpPr>
                <a:cxnSpLocks/>
              </p:cNvCxnSpPr>
              <p:nvPr>
                <p:custDataLst>
                  <p:tags r:id="rId13"/>
                </p:custDataLst>
              </p:nvPr>
            </p:nvCxnSpPr>
            <p:spPr>
              <a:xfrm>
                <a:off x="909645" y="2673989"/>
                <a:ext cx="4877967"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74" name="组合 73">
              <a:extLst>
                <a:ext uri="{FF2B5EF4-FFF2-40B4-BE49-F238E27FC236}">
                  <a16:creationId xmlns:a16="http://schemas.microsoft.com/office/drawing/2014/main" id="{B72702A3-B989-553C-BFE4-19CDAE8FA1C9}"/>
                </a:ext>
              </a:extLst>
            </p:cNvPr>
            <p:cNvGrpSpPr>
              <a:grpSpLocks/>
            </p:cNvGrpSpPr>
            <p:nvPr/>
          </p:nvGrpSpPr>
          <p:grpSpPr>
            <a:xfrm>
              <a:off x="1086810" y="3519111"/>
              <a:ext cx="4877969" cy="1532930"/>
              <a:chOff x="6669090" y="1140079"/>
              <a:chExt cx="4877969" cy="1532930"/>
            </a:xfrm>
          </p:grpSpPr>
          <p:sp>
            <p:nvSpPr>
              <p:cNvPr id="81" name="2">
                <a:extLst>
                  <a:ext uri="{FF2B5EF4-FFF2-40B4-BE49-F238E27FC236}">
                    <a16:creationId xmlns:a16="http://schemas.microsoft.com/office/drawing/2014/main" id="{C3C62D38-F61F-D5E5-4189-626B77867E80}"/>
                  </a:ext>
                </a:extLst>
              </p:cNvPr>
              <p:cNvSpPr/>
              <p:nvPr>
                <p:custDataLst>
                  <p:tags r:id="rId6"/>
                </p:custDataLst>
              </p:nvPr>
            </p:nvSpPr>
            <p:spPr>
              <a:xfrm>
                <a:off x="6669090" y="1140079"/>
                <a:ext cx="4877969" cy="1532930"/>
              </a:xfrm>
              <a:prstGeom prst="rect">
                <a:avLst/>
              </a:prstGeom>
              <a:solidFill>
                <a:schemeClr val="bg1"/>
              </a:solidFill>
              <a:ln w="6350">
                <a:solidFill>
                  <a:schemeClr val="tx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a:solidFill>
                    <a:srgbClr val="000000"/>
                  </a:solidFill>
                </a:endParaRPr>
              </a:p>
            </p:txBody>
          </p:sp>
          <p:sp>
            <p:nvSpPr>
              <p:cNvPr id="83" name="Title-2">
                <a:extLst>
                  <a:ext uri="{FF2B5EF4-FFF2-40B4-BE49-F238E27FC236}">
                    <a16:creationId xmlns:a16="http://schemas.microsoft.com/office/drawing/2014/main" id="{34668B87-78CB-5380-900D-83314B5D7D0D}"/>
                  </a:ext>
                </a:extLst>
              </p:cNvPr>
              <p:cNvSpPr>
                <a:spLocks/>
              </p:cNvSpPr>
              <p:nvPr>
                <p:custDataLst>
                  <p:tags r:id="rId7"/>
                </p:custDataLst>
              </p:nvPr>
            </p:nvSpPr>
            <p:spPr>
              <a:xfrm>
                <a:off x="7262153" y="1262222"/>
                <a:ext cx="3960001" cy="7574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ct val="120000"/>
                  </a:lnSpc>
                </a:pPr>
                <a:r>
                  <a:rPr lang="zh-CN" altLang="en-US" sz="2000" b="1" dirty="0">
                    <a:solidFill>
                      <a:schemeClr val="tx1"/>
                    </a:solidFill>
                    <a:latin typeface="Arial" panose="020B0604020202020204" pitchFamily="34" charset="0"/>
                    <a:ea typeface="微软雅黑" panose="020B0503020204020204" pitchFamily="34" charset="-122"/>
                    <a:sym typeface="Arial" panose="020B0604020202020204" pitchFamily="34" charset="0"/>
                  </a:rPr>
                  <a:t>很难了解目前的数字</a:t>
                </a:r>
                <a:r>
                  <a:rPr lang="en-US" altLang="zh-CN" sz="2000" b="1" dirty="0">
                    <a:solidFill>
                      <a:schemeClr val="tx1"/>
                    </a:solidFill>
                    <a:latin typeface="Arial" panose="020B0604020202020204" pitchFamily="34" charset="0"/>
                    <a:ea typeface="微软雅黑" panose="020B0503020204020204" pitchFamily="34" charset="-122"/>
                    <a:sym typeface="Arial" panose="020B0604020202020204" pitchFamily="34" charset="0"/>
                  </a:rPr>
                  <a:t>Planning</a:t>
                </a:r>
                <a:r>
                  <a:rPr lang="zh-CN" altLang="en-US" sz="2000" b="1" dirty="0">
                    <a:solidFill>
                      <a:schemeClr val="tx1"/>
                    </a:solidFill>
                    <a:latin typeface="Arial" panose="020B0604020202020204" pitchFamily="34" charset="0"/>
                    <a:ea typeface="微软雅黑" panose="020B0503020204020204" pitchFamily="34" charset="-122"/>
                    <a:sym typeface="Arial" panose="020B0604020202020204" pitchFamily="34" charset="0"/>
                  </a:rPr>
                  <a:t>能力有多成熟。这可能导致优先级不一致，在不适当的解决方案错过创造价值的机会以及与业务目标不一</a:t>
                </a:r>
                <a:endParaRPr lang="en-US" altLang="zh-CN" sz="2000" b="1" dirty="0">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84" name="Index-2">
                <a:extLst>
                  <a:ext uri="{FF2B5EF4-FFF2-40B4-BE49-F238E27FC236}">
                    <a16:creationId xmlns:a16="http://schemas.microsoft.com/office/drawing/2014/main" id="{DE97FEAF-E318-D71C-4116-62A1CC4C22B0}"/>
                  </a:ext>
                </a:extLst>
              </p:cNvPr>
              <p:cNvSpPr txBox="1"/>
              <p:nvPr>
                <p:custDataLst>
                  <p:tags r:id="rId8"/>
                </p:custDataLst>
              </p:nvPr>
            </p:nvSpPr>
            <p:spPr>
              <a:xfrm>
                <a:off x="6810747" y="1302513"/>
                <a:ext cx="253002" cy="582490"/>
              </a:xfrm>
              <a:prstGeom prst="rect">
                <a:avLst/>
              </a:prstGeom>
              <a:solidFill>
                <a:schemeClr val="accent2"/>
              </a:solidFill>
              <a:effectLst/>
            </p:spPr>
            <p:txBody>
              <a:bodyPr wrap="none" rtlCol="0">
                <a:spAutoFit/>
              </a:bodyPr>
              <a:lstStyle/>
              <a:p>
                <a:pPr algn="ctr"/>
                <a:r>
                  <a:rPr lang="en-US" altLang="zh-CN" sz="2800" b="1" dirty="0">
                    <a:solidFill>
                      <a:schemeClr val="lt1">
                        <a:lumMod val="100000"/>
                      </a:schemeClr>
                    </a:solidFill>
                    <a:latin typeface="Arial" panose="020B0604020202020204" pitchFamily="34" charset="0"/>
                    <a:ea typeface="微软雅黑" panose="020B0503020204020204" pitchFamily="34" charset="-122"/>
                  </a:rPr>
                  <a:t>02</a:t>
                </a:r>
                <a:endParaRPr lang="zh-CN" altLang="en-US" sz="2800" b="1" dirty="0">
                  <a:solidFill>
                    <a:schemeClr val="lt1">
                      <a:lumMod val="100000"/>
                    </a:schemeClr>
                  </a:solidFill>
                  <a:latin typeface="Arial" panose="020B0604020202020204" pitchFamily="34" charset="0"/>
                  <a:ea typeface="微软雅黑" panose="020B0503020204020204" pitchFamily="34" charset="-122"/>
                </a:endParaRPr>
              </a:p>
            </p:txBody>
          </p:sp>
          <p:cxnSp>
            <p:nvCxnSpPr>
              <p:cNvPr id="85" name="2">
                <a:extLst>
                  <a:ext uri="{FF2B5EF4-FFF2-40B4-BE49-F238E27FC236}">
                    <a16:creationId xmlns:a16="http://schemas.microsoft.com/office/drawing/2014/main" id="{077D2BAE-1127-E75C-E9C6-395105DBF635}"/>
                  </a:ext>
                </a:extLst>
              </p:cNvPr>
              <p:cNvCxnSpPr>
                <a:cxnSpLocks/>
              </p:cNvCxnSpPr>
              <p:nvPr>
                <p:custDataLst>
                  <p:tags r:id="rId9"/>
                </p:custDataLst>
              </p:nvPr>
            </p:nvCxnSpPr>
            <p:spPr>
              <a:xfrm>
                <a:off x="6669092" y="2673009"/>
                <a:ext cx="4877967"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75" name="组合 74">
              <a:extLst>
                <a:ext uri="{FF2B5EF4-FFF2-40B4-BE49-F238E27FC236}">
                  <a16:creationId xmlns:a16="http://schemas.microsoft.com/office/drawing/2014/main" id="{14AA955B-A979-9629-BC88-FDDC2C9F4188}"/>
                </a:ext>
              </a:extLst>
            </p:cNvPr>
            <p:cNvGrpSpPr>
              <a:grpSpLocks/>
            </p:cNvGrpSpPr>
            <p:nvPr/>
          </p:nvGrpSpPr>
          <p:grpSpPr>
            <a:xfrm>
              <a:off x="1101253" y="5287905"/>
              <a:ext cx="4872933" cy="1537858"/>
              <a:chOff x="6674127" y="2860121"/>
              <a:chExt cx="4872933" cy="1537858"/>
            </a:xfrm>
          </p:grpSpPr>
          <p:sp>
            <p:nvSpPr>
              <p:cNvPr id="76" name="3">
                <a:extLst>
                  <a:ext uri="{FF2B5EF4-FFF2-40B4-BE49-F238E27FC236}">
                    <a16:creationId xmlns:a16="http://schemas.microsoft.com/office/drawing/2014/main" id="{A8D3CE88-06B7-40BC-91F0-75A2A67048CD}"/>
                  </a:ext>
                </a:extLst>
              </p:cNvPr>
              <p:cNvSpPr/>
              <p:nvPr>
                <p:custDataLst>
                  <p:tags r:id="rId2"/>
                </p:custDataLst>
              </p:nvPr>
            </p:nvSpPr>
            <p:spPr>
              <a:xfrm>
                <a:off x="6679649" y="2860121"/>
                <a:ext cx="4863526" cy="1537858"/>
              </a:xfrm>
              <a:prstGeom prst="rect">
                <a:avLst/>
              </a:prstGeom>
              <a:solidFill>
                <a:schemeClr val="bg1"/>
              </a:solidFill>
              <a:ln w="6350">
                <a:solidFill>
                  <a:schemeClr val="tx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a:solidFill>
                    <a:srgbClr val="000000"/>
                  </a:solidFill>
                </a:endParaRPr>
              </a:p>
            </p:txBody>
          </p:sp>
          <p:sp>
            <p:nvSpPr>
              <p:cNvPr id="77" name="Title-3">
                <a:extLst>
                  <a:ext uri="{FF2B5EF4-FFF2-40B4-BE49-F238E27FC236}">
                    <a16:creationId xmlns:a16="http://schemas.microsoft.com/office/drawing/2014/main" id="{39B843EC-71F0-8D7D-69B5-B164263385D1}"/>
                  </a:ext>
                </a:extLst>
              </p:cNvPr>
              <p:cNvSpPr>
                <a:spLocks/>
              </p:cNvSpPr>
              <p:nvPr>
                <p:custDataLst>
                  <p:tags r:id="rId3"/>
                </p:custDataLst>
              </p:nvPr>
            </p:nvSpPr>
            <p:spPr>
              <a:xfrm>
                <a:off x="7252747" y="2961174"/>
                <a:ext cx="4226540" cy="661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ct val="120000"/>
                  </a:lnSpc>
                </a:pPr>
                <a:r>
                  <a:rPr lang="zh-CN" altLang="en-US" sz="2000" b="1" dirty="0">
                    <a:solidFill>
                      <a:schemeClr val="accent3"/>
                    </a:solidFill>
                    <a:latin typeface="Arial" panose="020B0604020202020204" pitchFamily="34" charset="0"/>
                    <a:ea typeface="微软雅黑" panose="020B0503020204020204" pitchFamily="34" charset="-122"/>
                    <a:sym typeface="Arial" panose="020B0604020202020204" pitchFamily="34" charset="0"/>
                  </a:rPr>
                  <a:t>对于如何根据业务目标推进数字化</a:t>
                </a:r>
                <a:r>
                  <a:rPr lang="en-US" altLang="zh-CN" sz="2000" b="1" dirty="0">
                    <a:solidFill>
                      <a:schemeClr val="accent3"/>
                    </a:solidFill>
                    <a:latin typeface="Arial" panose="020B0604020202020204" pitchFamily="34" charset="0"/>
                    <a:ea typeface="微软雅黑" panose="020B0503020204020204" pitchFamily="34" charset="-122"/>
                    <a:sym typeface="Arial" panose="020B0604020202020204" pitchFamily="34" charset="0"/>
                  </a:rPr>
                  <a:t>Planning</a:t>
                </a:r>
                <a:r>
                  <a:rPr lang="zh-CN" altLang="en-US" sz="2000" b="1" dirty="0">
                    <a:solidFill>
                      <a:schemeClr val="accent3"/>
                    </a:solidFill>
                    <a:latin typeface="Arial" panose="020B0604020202020204" pitchFamily="34" charset="0"/>
                    <a:ea typeface="微软雅黑" panose="020B0503020204020204" pitchFamily="34" charset="-122"/>
                    <a:sym typeface="Arial" panose="020B0604020202020204" pitchFamily="34" charset="0"/>
                  </a:rPr>
                  <a:t>感到困惑，最终导致数字化受挫</a:t>
                </a:r>
                <a:endParaRPr lang="en-US" altLang="zh-CN" sz="2000" b="1" dirty="0">
                  <a:solidFill>
                    <a:schemeClr val="accent3"/>
                  </a:solidFill>
                  <a:latin typeface="Arial" panose="020B0604020202020204" pitchFamily="34" charset="0"/>
                  <a:ea typeface="微软雅黑" panose="020B0503020204020204" pitchFamily="34" charset="-122"/>
                  <a:sym typeface="Arial" panose="020B0604020202020204" pitchFamily="34" charset="0"/>
                </a:endParaRPr>
              </a:p>
            </p:txBody>
          </p:sp>
          <p:sp>
            <p:nvSpPr>
              <p:cNvPr id="79" name="Index-3">
                <a:extLst>
                  <a:ext uri="{FF2B5EF4-FFF2-40B4-BE49-F238E27FC236}">
                    <a16:creationId xmlns:a16="http://schemas.microsoft.com/office/drawing/2014/main" id="{660C088F-8E47-51DA-A2E2-0A85035FAC8C}"/>
                  </a:ext>
                </a:extLst>
              </p:cNvPr>
              <p:cNvSpPr txBox="1"/>
              <p:nvPr>
                <p:custDataLst>
                  <p:tags r:id="rId4"/>
                </p:custDataLst>
              </p:nvPr>
            </p:nvSpPr>
            <p:spPr>
              <a:xfrm>
                <a:off x="6815590" y="2978933"/>
                <a:ext cx="253002" cy="582490"/>
              </a:xfrm>
              <a:prstGeom prst="rect">
                <a:avLst/>
              </a:prstGeom>
              <a:solidFill>
                <a:schemeClr val="accent3"/>
              </a:solidFill>
              <a:effectLst/>
            </p:spPr>
            <p:txBody>
              <a:bodyPr wrap="none" rtlCol="0">
                <a:spAutoFit/>
              </a:bodyPr>
              <a:lstStyle>
                <a:defPPr>
                  <a:defRPr lang="zh-CN"/>
                </a:defPPr>
                <a:lvl1pPr algn="ctr">
                  <a:defRPr sz="2800" b="1">
                    <a:solidFill>
                      <a:srgbClr val="FFFFFF"/>
                    </a:solidFill>
                  </a:defRPr>
                </a:lvl1pPr>
              </a:lstStyle>
              <a:p>
                <a:r>
                  <a:rPr lang="en-US" altLang="zh-CN" dirty="0">
                    <a:latin typeface="Arial" panose="020B0604020202020204" pitchFamily="34" charset="0"/>
                    <a:ea typeface="微软雅黑" panose="020B0503020204020204" pitchFamily="34" charset="-122"/>
                  </a:rPr>
                  <a:t>03</a:t>
                </a:r>
                <a:endParaRPr lang="zh-CN" altLang="en-US" dirty="0">
                  <a:latin typeface="Arial" panose="020B0604020202020204" pitchFamily="34" charset="0"/>
                  <a:ea typeface="微软雅黑" panose="020B0503020204020204" pitchFamily="34" charset="-122"/>
                </a:endParaRPr>
              </a:p>
            </p:txBody>
          </p:sp>
          <p:cxnSp>
            <p:nvCxnSpPr>
              <p:cNvPr id="80" name="3">
                <a:extLst>
                  <a:ext uri="{FF2B5EF4-FFF2-40B4-BE49-F238E27FC236}">
                    <a16:creationId xmlns:a16="http://schemas.microsoft.com/office/drawing/2014/main" id="{555EEB1D-1251-446C-13DA-8E56F9C1AF85}"/>
                  </a:ext>
                </a:extLst>
              </p:cNvPr>
              <p:cNvCxnSpPr>
                <a:cxnSpLocks/>
              </p:cNvCxnSpPr>
              <p:nvPr>
                <p:custDataLst>
                  <p:tags r:id="rId5"/>
                </p:custDataLst>
              </p:nvPr>
            </p:nvCxnSpPr>
            <p:spPr>
              <a:xfrm flipV="1">
                <a:off x="6674127" y="4383418"/>
                <a:ext cx="4872933" cy="14561"/>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859138694"/>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FB4E440-8DD2-7D04-91B1-A9E1ED19B2E5}"/>
              </a:ext>
            </a:extLst>
          </p:cNvPr>
          <p:cNvSpPr>
            <a:spLocks noGrp="1"/>
          </p:cNvSpPr>
          <p:nvPr>
            <p:ph type="title"/>
          </p:nvPr>
        </p:nvSpPr>
        <p:spPr/>
        <p:txBody>
          <a:bodyPr/>
          <a:lstStyle/>
          <a:p>
            <a:r>
              <a:rPr lang="zh-CN" altLang="en-US" dirty="0">
                <a:solidFill>
                  <a:schemeClr val="bg1"/>
                </a:solidFill>
                <a:latin typeface="Arial" panose="020B0604020202020204" pitchFamily="34" charset="0"/>
                <a:ea typeface="微软雅黑" panose="020B0503020204020204" pitchFamily="34" charset="-122"/>
              </a:rPr>
              <a:t>数字化</a:t>
            </a:r>
            <a:r>
              <a:rPr lang="en-US" altLang="zh-CN" dirty="0">
                <a:solidFill>
                  <a:schemeClr val="bg1"/>
                </a:solidFill>
                <a:latin typeface="Arial" panose="020B0604020202020204" pitchFamily="34" charset="0"/>
                <a:ea typeface="微软雅黑" panose="020B0503020204020204" pitchFamily="34" charset="-122"/>
              </a:rPr>
              <a:t>Planning</a:t>
            </a:r>
            <a:r>
              <a:rPr lang="zh-CN" altLang="en-US" dirty="0">
                <a:solidFill>
                  <a:schemeClr val="bg1"/>
                </a:solidFill>
                <a:latin typeface="Arial" panose="020B0604020202020204" pitchFamily="34" charset="0"/>
                <a:ea typeface="微软雅黑" panose="020B0503020204020204" pitchFamily="34" charset="-122"/>
              </a:rPr>
              <a:t>的成熟度维度</a:t>
            </a:r>
          </a:p>
        </p:txBody>
      </p:sp>
      <p:graphicFrame>
        <p:nvGraphicFramePr>
          <p:cNvPr id="3" name="图示 2">
            <a:extLst>
              <a:ext uri="{FF2B5EF4-FFF2-40B4-BE49-F238E27FC236}">
                <a16:creationId xmlns:a16="http://schemas.microsoft.com/office/drawing/2014/main" id="{6D8D100E-51C0-6130-A228-98DB410FBD3D}"/>
              </a:ext>
            </a:extLst>
          </p:cNvPr>
          <p:cNvGraphicFramePr/>
          <p:nvPr>
            <p:extLst>
              <p:ext uri="{D42A27DB-BD31-4B8C-83A1-F6EECF244321}">
                <p14:modId xmlns:p14="http://schemas.microsoft.com/office/powerpoint/2010/main" val="2805927347"/>
              </p:ext>
            </p:extLst>
          </p:nvPr>
        </p:nvGraphicFramePr>
        <p:xfrm>
          <a:off x="629447" y="1001460"/>
          <a:ext cx="5192975" cy="425127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4" name="图示 3">
            <a:extLst>
              <a:ext uri="{FF2B5EF4-FFF2-40B4-BE49-F238E27FC236}">
                <a16:creationId xmlns:a16="http://schemas.microsoft.com/office/drawing/2014/main" id="{F6A4CB62-2BE9-5074-FC37-1A78551035F5}"/>
              </a:ext>
            </a:extLst>
          </p:cNvPr>
          <p:cNvGraphicFramePr/>
          <p:nvPr>
            <p:extLst>
              <p:ext uri="{D42A27DB-BD31-4B8C-83A1-F6EECF244321}">
                <p14:modId xmlns:p14="http://schemas.microsoft.com/office/powerpoint/2010/main" val="2200010602"/>
              </p:ext>
            </p:extLst>
          </p:nvPr>
        </p:nvGraphicFramePr>
        <p:xfrm>
          <a:off x="6592529" y="914402"/>
          <a:ext cx="5464277" cy="488471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5" name="文本框 4">
            <a:extLst>
              <a:ext uri="{FF2B5EF4-FFF2-40B4-BE49-F238E27FC236}">
                <a16:creationId xmlns:a16="http://schemas.microsoft.com/office/drawing/2014/main" id="{7AEC1686-36AE-F097-538B-34D992974D99}"/>
              </a:ext>
            </a:extLst>
          </p:cNvPr>
          <p:cNvSpPr txBox="1"/>
          <p:nvPr/>
        </p:nvSpPr>
        <p:spPr>
          <a:xfrm>
            <a:off x="1967003" y="6069286"/>
            <a:ext cx="8554131" cy="584775"/>
          </a:xfrm>
          <a:prstGeom prst="rect">
            <a:avLst/>
          </a:prstGeom>
          <a:noFill/>
        </p:spPr>
        <p:txBody>
          <a:bodyPr wrap="square" rtlCol="0">
            <a:spAutoFit/>
          </a:bodyPr>
          <a:lstStyle/>
          <a:p>
            <a:pPr marL="285750" indent="-285750">
              <a:buFont typeface="Arial" panose="020B0604020202020204" pitchFamily="34" charset="0"/>
              <a:buChar char="•"/>
            </a:pPr>
            <a:r>
              <a:rPr lang="zh-CN" altLang="en-US" sz="1600" b="1" dirty="0">
                <a:solidFill>
                  <a:schemeClr val="bg1"/>
                </a:solidFill>
                <a:latin typeface="Arial" panose="020B0604020202020204" pitchFamily="34" charset="0"/>
                <a:ea typeface="微软雅黑" panose="020B0503020204020204" pitchFamily="34" charset="-122"/>
              </a:rPr>
              <a:t>这七个维度是关于适当数字技术的影响和使用。</a:t>
            </a:r>
            <a:endParaRPr lang="en-US" altLang="zh-CN" sz="1600" b="1" dirty="0">
              <a:solidFill>
                <a:schemeClr val="bg1"/>
              </a:solidFill>
              <a:latin typeface="Arial" panose="020B0604020202020204" pitchFamily="34" charset="0"/>
              <a:ea typeface="微软雅黑" panose="020B0503020204020204" pitchFamily="34" charset="-122"/>
            </a:endParaRPr>
          </a:p>
          <a:p>
            <a:pPr marL="285750" indent="-285750">
              <a:buFont typeface="Arial" panose="020B0604020202020204" pitchFamily="34" charset="0"/>
              <a:buChar char="•"/>
            </a:pPr>
            <a:r>
              <a:rPr lang="zh-CN" altLang="en-US" sz="1600" b="1" dirty="0">
                <a:solidFill>
                  <a:schemeClr val="bg1"/>
                </a:solidFill>
                <a:latin typeface="Arial" panose="020B0604020202020204" pitchFamily="34" charset="0"/>
                <a:ea typeface="微软雅黑" panose="020B0503020204020204" pitchFamily="34" charset="-122"/>
              </a:rPr>
              <a:t>数字技术在规划中的应用越有效，公司就能在这七个维度中的每一个维度上走得越远。</a:t>
            </a:r>
          </a:p>
        </p:txBody>
      </p:sp>
    </p:spTree>
    <p:extLst>
      <p:ext uri="{BB962C8B-B14F-4D97-AF65-F5344CB8AC3E}">
        <p14:creationId xmlns:p14="http://schemas.microsoft.com/office/powerpoint/2010/main" val="1384578461"/>
      </p:ext>
    </p:extLst>
  </p:cSld>
  <p:clrMapOvr>
    <a:overrideClrMapping bg1="dk1" tx1="lt1" bg2="dk2" tx2="lt2" accent1="accent1" accent2="accent2" accent3="accent3" accent4="accent4" accent5="accent5" accent6="accent6" hlink="hlink" folHlink="folHlink"/>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8563C51-BE4F-FC71-5105-B120E03E2AB6}"/>
              </a:ext>
            </a:extLst>
          </p:cNvPr>
          <p:cNvSpPr>
            <a:spLocks noGrp="1"/>
          </p:cNvSpPr>
          <p:nvPr>
            <p:ph type="title"/>
          </p:nvPr>
        </p:nvSpPr>
        <p:spPr/>
        <p:txBody>
          <a:bodyPr/>
          <a:lstStyle/>
          <a:p>
            <a:r>
              <a:rPr lang="zh-CN" altLang="en-US" b="1" i="0" dirty="0">
                <a:effectLst/>
                <a:latin typeface="system"/>
              </a:rPr>
              <a:t>供应链数字化转型：破局的五个第一性原理（认知重构框架）</a:t>
            </a:r>
            <a:endParaRPr lang="zh-CN" altLang="en-US" dirty="0"/>
          </a:p>
        </p:txBody>
      </p:sp>
      <p:graphicFrame>
        <p:nvGraphicFramePr>
          <p:cNvPr id="6" name="表格 5">
            <a:extLst>
              <a:ext uri="{FF2B5EF4-FFF2-40B4-BE49-F238E27FC236}">
                <a16:creationId xmlns:a16="http://schemas.microsoft.com/office/drawing/2014/main" id="{9F86A1B3-65DC-99EB-2251-BAA848D526F5}"/>
              </a:ext>
            </a:extLst>
          </p:cNvPr>
          <p:cNvGraphicFramePr>
            <a:graphicFrameLocks noGrp="1"/>
          </p:cNvGraphicFramePr>
          <p:nvPr>
            <p:extLst>
              <p:ext uri="{D42A27DB-BD31-4B8C-83A1-F6EECF244321}">
                <p14:modId xmlns:p14="http://schemas.microsoft.com/office/powerpoint/2010/main" val="1439706237"/>
              </p:ext>
            </p:extLst>
          </p:nvPr>
        </p:nvGraphicFramePr>
        <p:xfrm>
          <a:off x="978196" y="749596"/>
          <a:ext cx="10575344" cy="5861627"/>
        </p:xfrm>
        <a:graphic>
          <a:graphicData uri="http://schemas.openxmlformats.org/drawingml/2006/table">
            <a:tbl>
              <a:tblPr>
                <a:tableStyleId>{B301B821-A1FF-4177-AEE7-76D212191A09}</a:tableStyleId>
              </a:tblPr>
              <a:tblGrid>
                <a:gridCol w="257936">
                  <a:extLst>
                    <a:ext uri="{9D8B030D-6E8A-4147-A177-3AD203B41FA5}">
                      <a16:colId xmlns:a16="http://schemas.microsoft.com/office/drawing/2014/main" val="1380515824"/>
                    </a:ext>
                  </a:extLst>
                </a:gridCol>
                <a:gridCol w="1035513">
                  <a:extLst>
                    <a:ext uri="{9D8B030D-6E8A-4147-A177-3AD203B41FA5}">
                      <a16:colId xmlns:a16="http://schemas.microsoft.com/office/drawing/2014/main" val="3408706339"/>
                    </a:ext>
                  </a:extLst>
                </a:gridCol>
                <a:gridCol w="2897922">
                  <a:extLst>
                    <a:ext uri="{9D8B030D-6E8A-4147-A177-3AD203B41FA5}">
                      <a16:colId xmlns:a16="http://schemas.microsoft.com/office/drawing/2014/main" val="123725523"/>
                    </a:ext>
                  </a:extLst>
                </a:gridCol>
                <a:gridCol w="5070227">
                  <a:extLst>
                    <a:ext uri="{9D8B030D-6E8A-4147-A177-3AD203B41FA5}">
                      <a16:colId xmlns:a16="http://schemas.microsoft.com/office/drawing/2014/main" val="2135702671"/>
                    </a:ext>
                  </a:extLst>
                </a:gridCol>
                <a:gridCol w="1313746">
                  <a:extLst>
                    <a:ext uri="{9D8B030D-6E8A-4147-A177-3AD203B41FA5}">
                      <a16:colId xmlns:a16="http://schemas.microsoft.com/office/drawing/2014/main" val="2188471475"/>
                    </a:ext>
                  </a:extLst>
                </a:gridCol>
              </a:tblGrid>
              <a:tr h="585252">
                <a:tc>
                  <a:txBody>
                    <a:bodyPr/>
                    <a:lstStyle/>
                    <a:p>
                      <a:pPr algn="l"/>
                      <a:r>
                        <a:rPr lang="zh-CN" altLang="en-US" sz="1200" b="1">
                          <a:solidFill>
                            <a:srgbClr val="FFFFFF"/>
                          </a:solidFill>
                          <a:effectLst/>
                          <a:latin typeface="+mj-ea"/>
                          <a:ea typeface="+mj-ea"/>
                        </a:rPr>
                        <a:t>序号</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74188"/>
                    </a:solidFill>
                  </a:tcPr>
                </a:tc>
                <a:tc>
                  <a:txBody>
                    <a:bodyPr/>
                    <a:lstStyle/>
                    <a:p>
                      <a:pPr algn="l"/>
                      <a:r>
                        <a:rPr lang="zh-CN" altLang="en-US" sz="1400" b="1">
                          <a:solidFill>
                            <a:srgbClr val="FFFFFF"/>
                          </a:solidFill>
                          <a:effectLst/>
                          <a:latin typeface="+mj-ea"/>
                          <a:ea typeface="+mj-ea"/>
                        </a:rPr>
                        <a:t>第一性原理主题 </a:t>
                      </a:r>
                      <a:r>
                        <a:rPr lang="en-US" altLang="zh-CN" sz="1400" b="1">
                          <a:solidFill>
                            <a:srgbClr val="FFFFFF"/>
                          </a:solidFill>
                          <a:effectLst/>
                          <a:latin typeface="+mj-ea"/>
                          <a:ea typeface="+mj-ea"/>
                        </a:rPr>
                        <a:t>(</a:t>
                      </a:r>
                      <a:r>
                        <a:rPr lang="en-US" sz="1400" b="1">
                          <a:solidFill>
                            <a:srgbClr val="FFFFFF"/>
                          </a:solidFill>
                          <a:effectLst/>
                          <a:latin typeface="+mj-ea"/>
                          <a:ea typeface="+mj-ea"/>
                        </a:rPr>
                        <a:t>The Principle)</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74188"/>
                    </a:solidFill>
                  </a:tcPr>
                </a:tc>
                <a:tc>
                  <a:txBody>
                    <a:bodyPr/>
                    <a:lstStyle/>
                    <a:p>
                      <a:pPr algn="l"/>
                      <a:r>
                        <a:rPr lang="zh-CN" altLang="en-US" sz="1400" b="1">
                          <a:solidFill>
                            <a:srgbClr val="FFFFFF"/>
                          </a:solidFill>
                          <a:effectLst/>
                          <a:latin typeface="+mj-ea"/>
                          <a:ea typeface="+mj-ea"/>
                        </a:rPr>
                        <a:t>核心洞察与诊断 </a:t>
                      </a:r>
                      <a:r>
                        <a:rPr lang="en-US" altLang="zh-CN" sz="1400" b="1">
                          <a:solidFill>
                            <a:srgbClr val="FFFFFF"/>
                          </a:solidFill>
                          <a:effectLst/>
                          <a:latin typeface="+mj-ea"/>
                          <a:ea typeface="+mj-ea"/>
                        </a:rPr>
                        <a:t>(</a:t>
                      </a:r>
                      <a:r>
                        <a:rPr lang="en-US" sz="1400" b="1">
                          <a:solidFill>
                            <a:srgbClr val="FFFFFF"/>
                          </a:solidFill>
                          <a:effectLst/>
                          <a:latin typeface="+mj-ea"/>
                          <a:ea typeface="+mj-ea"/>
                        </a:rPr>
                        <a:t>Core Insight &amp; Diagnosis)</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74188"/>
                    </a:solidFill>
                  </a:tcPr>
                </a:tc>
                <a:tc>
                  <a:txBody>
                    <a:bodyPr/>
                    <a:lstStyle/>
                    <a:p>
                      <a:pPr algn="l"/>
                      <a:r>
                        <a:rPr lang="zh-CN" altLang="en-US" sz="1400" b="1">
                          <a:solidFill>
                            <a:srgbClr val="FFFFFF"/>
                          </a:solidFill>
                          <a:effectLst/>
                          <a:latin typeface="+mj-ea"/>
                          <a:ea typeface="+mj-ea"/>
                        </a:rPr>
                        <a:t>战略推论与行动指引 </a:t>
                      </a:r>
                      <a:r>
                        <a:rPr lang="en-US" altLang="zh-CN" sz="1400" b="1">
                          <a:solidFill>
                            <a:srgbClr val="FFFFFF"/>
                          </a:solidFill>
                          <a:effectLst/>
                          <a:latin typeface="+mj-ea"/>
                          <a:ea typeface="+mj-ea"/>
                        </a:rPr>
                        <a:t>(</a:t>
                      </a:r>
                      <a:r>
                        <a:rPr lang="en-US" sz="1400" b="1">
                          <a:solidFill>
                            <a:srgbClr val="FFFFFF"/>
                          </a:solidFill>
                          <a:effectLst/>
                          <a:latin typeface="+mj-ea"/>
                          <a:ea typeface="+mj-ea"/>
                        </a:rPr>
                        <a:t>Strategic Implication &amp; Action Guide)</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74188"/>
                    </a:solidFill>
                  </a:tcPr>
                </a:tc>
                <a:tc>
                  <a:txBody>
                    <a:bodyPr/>
                    <a:lstStyle/>
                    <a:p>
                      <a:pPr algn="l"/>
                      <a:r>
                        <a:rPr lang="zh-CN" altLang="en-US" sz="1400" b="1" dirty="0">
                          <a:solidFill>
                            <a:srgbClr val="FFFFFF"/>
                          </a:solidFill>
                          <a:effectLst/>
                          <a:latin typeface="+mj-ea"/>
                          <a:ea typeface="+mj-ea"/>
                        </a:rPr>
                        <a:t>关键概念 </a:t>
                      </a:r>
                      <a:r>
                        <a:rPr lang="en-US" altLang="zh-CN" sz="1400" b="1" dirty="0">
                          <a:solidFill>
                            <a:srgbClr val="FFFFFF"/>
                          </a:solidFill>
                          <a:effectLst/>
                          <a:latin typeface="+mj-ea"/>
                          <a:ea typeface="+mj-ea"/>
                        </a:rPr>
                        <a:t>(</a:t>
                      </a:r>
                      <a:r>
                        <a:rPr lang="en-US" sz="1400" b="1" dirty="0">
                          <a:solidFill>
                            <a:srgbClr val="FFFFFF"/>
                          </a:solidFill>
                          <a:effectLst/>
                          <a:latin typeface="+mj-ea"/>
                          <a:ea typeface="+mj-ea"/>
                        </a:rPr>
                        <a:t>Keywords)</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74188"/>
                    </a:solidFill>
                  </a:tcPr>
                </a:tc>
                <a:extLst>
                  <a:ext uri="{0D108BD9-81ED-4DB2-BD59-A6C34878D82A}">
                    <a16:rowId xmlns:a16="http://schemas.microsoft.com/office/drawing/2014/main" val="878512429"/>
                  </a:ext>
                </a:extLst>
              </a:tr>
              <a:tr h="1305193">
                <a:tc>
                  <a:txBody>
                    <a:bodyPr/>
                    <a:lstStyle/>
                    <a:p>
                      <a:pPr algn="l"/>
                      <a:r>
                        <a:rPr lang="en-US" altLang="zh-CN" sz="1200" b="1">
                          <a:solidFill>
                            <a:srgbClr val="000000"/>
                          </a:solidFill>
                          <a:effectLst/>
                          <a:latin typeface="+mj-ea"/>
                          <a:ea typeface="+mj-ea"/>
                        </a:rPr>
                        <a:t>1</a:t>
                      </a:r>
                      <a:endParaRPr lang="zh-CN" altLang="en-US" sz="1200" b="1">
                        <a:solidFill>
                          <a:srgbClr val="000000"/>
                        </a:solidFill>
                        <a:effectLst/>
                        <a:latin typeface="+mj-ea"/>
                        <a:ea typeface="+mj-ea"/>
                      </a:endParaRP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CDE4"/>
                    </a:solidFill>
                  </a:tcPr>
                </a:tc>
                <a:tc>
                  <a:txBody>
                    <a:bodyPr/>
                    <a:lstStyle/>
                    <a:p>
                      <a:pPr algn="l"/>
                      <a:r>
                        <a:rPr lang="zh-CN" altLang="en-US" sz="1200" b="1">
                          <a:solidFill>
                            <a:schemeClr val="tx1"/>
                          </a:solidFill>
                          <a:effectLst/>
                          <a:latin typeface="+mj-ea"/>
                          <a:ea typeface="+mj-ea"/>
                        </a:rPr>
                        <a:t>时代的症结：</a:t>
                      </a:r>
                      <a:r>
                        <a:rPr lang="en-US" altLang="zh-CN" sz="1200" b="1">
                          <a:solidFill>
                            <a:schemeClr val="tx1"/>
                          </a:solidFill>
                          <a:effectLst/>
                          <a:latin typeface="+mj-ea"/>
                          <a:ea typeface="+mj-ea"/>
                        </a:rPr>
                        <a:t>N²</a:t>
                      </a:r>
                      <a:r>
                        <a:rPr lang="zh-CN" altLang="en-US" sz="1200" b="1">
                          <a:solidFill>
                            <a:schemeClr val="tx1"/>
                          </a:solidFill>
                          <a:effectLst/>
                          <a:latin typeface="+mj-ea"/>
                          <a:ea typeface="+mj-ea"/>
                        </a:rPr>
                        <a:t>复杂度爆发与旧范式终结</a:t>
                      </a:r>
                      <a:endParaRPr lang="zh-CN" altLang="en-US" sz="1200">
                        <a:solidFill>
                          <a:schemeClr val="tx1"/>
                        </a:solidFill>
                        <a:effectLst/>
                        <a:latin typeface="+mj-ea"/>
                        <a:ea typeface="+mj-ea"/>
                      </a:endParaRP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a:solidFill>
                            <a:schemeClr val="tx1"/>
                          </a:solidFill>
                          <a:effectLst/>
                          <a:latin typeface="+mj-ea"/>
                          <a:ea typeface="+mj-ea"/>
                        </a:rPr>
                        <a:t>诊断：</a:t>
                      </a:r>
                      <a:r>
                        <a:rPr lang="zh-CN" altLang="en-US" sz="1200">
                          <a:solidFill>
                            <a:schemeClr val="tx1"/>
                          </a:solidFill>
                          <a:effectLst/>
                          <a:latin typeface="+mj-ea"/>
                          <a:ea typeface="+mj-ea"/>
                        </a:rPr>
                        <a:t> 当前商业环境是协同复杂度呈指数级（</a:t>
                      </a:r>
                      <a:r>
                        <a:rPr lang="en-US" altLang="zh-CN" sz="1200">
                          <a:solidFill>
                            <a:schemeClr val="tx1"/>
                          </a:solidFill>
                          <a:effectLst/>
                          <a:latin typeface="+mj-ea"/>
                          <a:ea typeface="+mj-ea"/>
                        </a:rPr>
                        <a:t>N²</a:t>
                      </a:r>
                      <a:r>
                        <a:rPr lang="zh-CN" altLang="en-US" sz="1200">
                          <a:solidFill>
                            <a:schemeClr val="tx1"/>
                          </a:solidFill>
                          <a:effectLst/>
                          <a:latin typeface="+mj-ea"/>
                          <a:ea typeface="+mj-ea"/>
                        </a:rPr>
                        <a:t>）爆发的巨大网络。传统的工业时代“旧三角”（组织、流程、工具）范式和经验决策已彻底失效，无法驾驭此复杂性。</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dirty="0">
                          <a:solidFill>
                            <a:schemeClr val="tx1"/>
                          </a:solidFill>
                          <a:effectLst/>
                          <a:latin typeface="+mj-ea"/>
                          <a:ea typeface="+mj-ea"/>
                        </a:rPr>
                        <a:t>行动：</a:t>
                      </a:r>
                      <a:r>
                        <a:rPr lang="zh-CN" altLang="en-US" sz="1200" dirty="0">
                          <a:solidFill>
                            <a:schemeClr val="tx1"/>
                          </a:solidFill>
                          <a:effectLst/>
                          <a:latin typeface="+mj-ea"/>
                          <a:ea typeface="+mj-ea"/>
                        </a:rPr>
                        <a:t> 承认“管理确定性以驾驭不确定性”的悖论。停止在旧范式上修补“外壳”，开启一场彻底的认知革命，转向对内核的重构。</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en-US" sz="1200" b="1" dirty="0">
                          <a:solidFill>
                            <a:schemeClr val="tx1"/>
                          </a:solidFill>
                          <a:effectLst/>
                          <a:latin typeface="+mj-ea"/>
                          <a:ea typeface="+mj-ea"/>
                        </a:rPr>
                        <a:t>N²</a:t>
                      </a:r>
                      <a:r>
                        <a:rPr lang="zh-CN" altLang="en-US" sz="1200" b="1" dirty="0">
                          <a:solidFill>
                            <a:schemeClr val="tx1"/>
                          </a:solidFill>
                          <a:effectLst/>
                          <a:latin typeface="+mj-ea"/>
                          <a:ea typeface="+mj-ea"/>
                        </a:rPr>
                        <a:t>复杂度、旧范式失效、认知革命</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76927250"/>
                  </a:ext>
                </a:extLst>
              </a:tr>
              <a:tr h="981775">
                <a:tc>
                  <a:txBody>
                    <a:bodyPr/>
                    <a:lstStyle/>
                    <a:p>
                      <a:pPr algn="l"/>
                      <a:r>
                        <a:rPr lang="en-US" altLang="zh-CN" sz="1200" b="1">
                          <a:solidFill>
                            <a:srgbClr val="000000"/>
                          </a:solidFill>
                          <a:effectLst/>
                          <a:latin typeface="+mj-ea"/>
                          <a:ea typeface="+mj-ea"/>
                        </a:rPr>
                        <a:t>2</a:t>
                      </a:r>
                      <a:endParaRPr lang="zh-CN" altLang="en-US" sz="1200" b="1">
                        <a:solidFill>
                          <a:srgbClr val="000000"/>
                        </a:solidFill>
                        <a:effectLst/>
                        <a:latin typeface="+mj-ea"/>
                        <a:ea typeface="+mj-ea"/>
                      </a:endParaRP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CDE4"/>
                    </a:solidFill>
                  </a:tcPr>
                </a:tc>
                <a:tc>
                  <a:txBody>
                    <a:bodyPr/>
                    <a:lstStyle/>
                    <a:p>
                      <a:pPr algn="l"/>
                      <a:r>
                        <a:rPr lang="zh-CN" altLang="en-US" sz="1200" b="1">
                          <a:solidFill>
                            <a:schemeClr val="tx1"/>
                          </a:solidFill>
                          <a:effectLst/>
                          <a:latin typeface="+mj-ea"/>
                          <a:ea typeface="+mj-ea"/>
                        </a:rPr>
                        <a:t>数字的基石：确定性逻辑与“由下至上”路径</a:t>
                      </a:r>
                      <a:endParaRPr lang="zh-CN" altLang="en-US" sz="1200">
                        <a:solidFill>
                          <a:schemeClr val="tx1"/>
                        </a:solidFill>
                        <a:effectLst/>
                        <a:latin typeface="+mj-ea"/>
                        <a:ea typeface="+mj-ea"/>
                      </a:endParaRP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a:solidFill>
                            <a:schemeClr val="tx1"/>
                          </a:solidFill>
                          <a:effectLst/>
                          <a:latin typeface="+mj-ea"/>
                          <a:ea typeface="+mj-ea"/>
                        </a:rPr>
                        <a:t>诊断：</a:t>
                      </a:r>
                      <a:r>
                        <a:rPr lang="zh-CN" altLang="en-US" sz="1200">
                          <a:solidFill>
                            <a:schemeClr val="tx1"/>
                          </a:solidFill>
                          <a:effectLst/>
                          <a:latin typeface="+mj-ea"/>
                          <a:ea typeface="+mj-ea"/>
                        </a:rPr>
                        <a:t> 数字化系统遵循“垃圾进，垃圾出”的铁律，没有人类的模糊处理能力。其基石是绝对的确定性和精准的数据质量。</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a:solidFill>
                            <a:schemeClr val="tx1"/>
                          </a:solidFill>
                          <a:effectLst/>
                          <a:latin typeface="+mj-ea"/>
                          <a:ea typeface="+mj-ea"/>
                        </a:rPr>
                        <a:t>行动：</a:t>
                      </a:r>
                      <a:r>
                        <a:rPr lang="zh-CN" altLang="en-US" sz="1200">
                          <a:solidFill>
                            <a:schemeClr val="tx1"/>
                          </a:solidFill>
                          <a:effectLst/>
                          <a:latin typeface="+mj-ea"/>
                          <a:ea typeface="+mj-ea"/>
                        </a:rPr>
                        <a:t> 摒弃好高骛远的顶层设计冲动。“可执行性是唯一试金石”。必须采取“由下至上”的路径，先夯实底层执行层（</a:t>
                      </a:r>
                      <a:r>
                        <a:rPr lang="en-US" altLang="zh-CN" sz="1200">
                          <a:solidFill>
                            <a:schemeClr val="tx1"/>
                          </a:solidFill>
                          <a:effectLst/>
                          <a:latin typeface="+mj-ea"/>
                          <a:ea typeface="+mj-ea"/>
                        </a:rPr>
                        <a:t>S&amp;OE</a:t>
                      </a:r>
                      <a:r>
                        <a:rPr lang="zh-CN" altLang="en-US" sz="1200">
                          <a:solidFill>
                            <a:schemeClr val="tx1"/>
                          </a:solidFill>
                          <a:effectLst/>
                          <a:latin typeface="+mj-ea"/>
                          <a:ea typeface="+mj-ea"/>
                        </a:rPr>
                        <a:t>）的确定性，再构建上层计划。</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dirty="0">
                          <a:solidFill>
                            <a:schemeClr val="tx1"/>
                          </a:solidFill>
                          <a:effectLst/>
                          <a:latin typeface="+mj-ea"/>
                          <a:ea typeface="+mj-ea"/>
                        </a:rPr>
                        <a:t>确定性逻辑、数据质量</a:t>
                      </a:r>
                      <a:r>
                        <a:rPr lang="en-US" altLang="zh-CN" sz="1200" b="1" dirty="0">
                          <a:solidFill>
                            <a:schemeClr val="tx1"/>
                          </a:solidFill>
                          <a:effectLst/>
                          <a:latin typeface="+mj-ea"/>
                          <a:ea typeface="+mj-ea"/>
                        </a:rPr>
                        <a:t>(</a:t>
                      </a:r>
                      <a:r>
                        <a:rPr lang="en-US" sz="1200" b="1" dirty="0">
                          <a:solidFill>
                            <a:schemeClr val="tx1"/>
                          </a:solidFill>
                          <a:effectLst/>
                          <a:latin typeface="+mj-ea"/>
                          <a:ea typeface="+mj-ea"/>
                        </a:rPr>
                        <a:t>GIGO)</a:t>
                      </a:r>
                      <a:r>
                        <a:rPr lang="zh-CN" altLang="en-US" sz="1200" b="1" dirty="0">
                          <a:solidFill>
                            <a:schemeClr val="tx1"/>
                          </a:solidFill>
                          <a:effectLst/>
                          <a:latin typeface="+mj-ea"/>
                          <a:ea typeface="+mj-ea"/>
                        </a:rPr>
                        <a:t>、由下至上、</a:t>
                      </a:r>
                      <a:r>
                        <a:rPr lang="en-US" sz="1200" b="1" dirty="0">
                          <a:solidFill>
                            <a:schemeClr val="tx1"/>
                          </a:solidFill>
                          <a:effectLst/>
                          <a:latin typeface="+mj-ea"/>
                          <a:ea typeface="+mj-ea"/>
                        </a:rPr>
                        <a:t>S&amp;OE</a:t>
                      </a:r>
                      <a:r>
                        <a:rPr lang="zh-CN" altLang="en-US" sz="1200" b="1" dirty="0">
                          <a:solidFill>
                            <a:schemeClr val="tx1"/>
                          </a:solidFill>
                          <a:effectLst/>
                          <a:latin typeface="+mj-ea"/>
                          <a:ea typeface="+mj-ea"/>
                        </a:rPr>
                        <a:t>基石</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83648859"/>
                  </a:ext>
                </a:extLst>
              </a:tr>
              <a:tr h="981775">
                <a:tc>
                  <a:txBody>
                    <a:bodyPr/>
                    <a:lstStyle/>
                    <a:p>
                      <a:pPr algn="l"/>
                      <a:r>
                        <a:rPr lang="en-US" altLang="zh-CN" sz="1200" b="1">
                          <a:solidFill>
                            <a:srgbClr val="000000"/>
                          </a:solidFill>
                          <a:effectLst/>
                          <a:latin typeface="+mj-ea"/>
                          <a:ea typeface="+mj-ea"/>
                        </a:rPr>
                        <a:t>3</a:t>
                      </a:r>
                      <a:endParaRPr lang="zh-CN" altLang="en-US" sz="1200" b="1">
                        <a:solidFill>
                          <a:srgbClr val="000000"/>
                        </a:solidFill>
                        <a:effectLst/>
                        <a:latin typeface="+mj-ea"/>
                        <a:ea typeface="+mj-ea"/>
                      </a:endParaRP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CDE4"/>
                    </a:solidFill>
                  </a:tcPr>
                </a:tc>
                <a:tc>
                  <a:txBody>
                    <a:bodyPr/>
                    <a:lstStyle/>
                    <a:p>
                      <a:pPr algn="l"/>
                      <a:r>
                        <a:rPr lang="zh-CN" altLang="en-US" sz="1200" b="1">
                          <a:solidFill>
                            <a:schemeClr val="tx1"/>
                          </a:solidFill>
                          <a:effectLst/>
                          <a:latin typeface="+mj-ea"/>
                          <a:ea typeface="+mj-ea"/>
                        </a:rPr>
                        <a:t>转型的内核：构建基于“模型与算法”的数字决策大脑</a:t>
                      </a:r>
                      <a:endParaRPr lang="zh-CN" altLang="en-US" sz="1200">
                        <a:solidFill>
                          <a:schemeClr val="tx1"/>
                        </a:solidFill>
                        <a:effectLst/>
                        <a:latin typeface="+mj-ea"/>
                        <a:ea typeface="+mj-ea"/>
                      </a:endParaRP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a:solidFill>
                            <a:schemeClr val="tx1"/>
                          </a:solidFill>
                          <a:effectLst/>
                          <a:latin typeface="+mj-ea"/>
                          <a:ea typeface="+mj-ea"/>
                        </a:rPr>
                        <a:t>诊断：</a:t>
                      </a:r>
                      <a:r>
                        <a:rPr lang="zh-CN" altLang="en-US" sz="1200">
                          <a:solidFill>
                            <a:schemeClr val="tx1"/>
                          </a:solidFill>
                          <a:effectLst/>
                          <a:latin typeface="+mj-ea"/>
                          <a:ea typeface="+mj-ea"/>
                        </a:rPr>
                        <a:t> 转型的实质是从“流程驱动”向“算法驱动”的范式革命。目标是建立能将</a:t>
                      </a:r>
                      <a:r>
                        <a:rPr lang="en-US" altLang="zh-CN" sz="1200">
                          <a:solidFill>
                            <a:schemeClr val="tx1"/>
                          </a:solidFill>
                          <a:effectLst/>
                          <a:latin typeface="+mj-ea"/>
                          <a:ea typeface="+mj-ea"/>
                        </a:rPr>
                        <a:t>N²</a:t>
                      </a:r>
                      <a:r>
                        <a:rPr lang="zh-CN" altLang="en-US" sz="1200">
                          <a:solidFill>
                            <a:schemeClr val="tx1"/>
                          </a:solidFill>
                          <a:effectLst/>
                          <a:latin typeface="+mj-ea"/>
                          <a:ea typeface="+mj-ea"/>
                        </a:rPr>
                        <a:t>复杂度降维并自动化决策的“企业操作系统”。</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a:solidFill>
                            <a:schemeClr val="tx1"/>
                          </a:solidFill>
                          <a:effectLst/>
                          <a:latin typeface="+mj-ea"/>
                          <a:ea typeface="+mj-ea"/>
                        </a:rPr>
                        <a:t>行动：</a:t>
                      </a:r>
                      <a:r>
                        <a:rPr lang="zh-CN" altLang="en-US" sz="1200">
                          <a:solidFill>
                            <a:schemeClr val="tx1"/>
                          </a:solidFill>
                          <a:effectLst/>
                          <a:latin typeface="+mj-ea"/>
                          <a:ea typeface="+mj-ea"/>
                        </a:rPr>
                        <a:t> 业务方案的本质不再是流程图，而是“数据模型”（降维）与“业务算法”（决策逻辑）。核心能力在于构建和驾驭这个“数字大脑内核”。</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a:solidFill>
                            <a:schemeClr val="tx1"/>
                          </a:solidFill>
                          <a:effectLst/>
                          <a:latin typeface="+mj-ea"/>
                          <a:ea typeface="+mj-ea"/>
                        </a:rPr>
                        <a:t>数字决策大脑</a:t>
                      </a:r>
                      <a:r>
                        <a:rPr lang="en-US" altLang="zh-CN" sz="1200" b="1">
                          <a:solidFill>
                            <a:schemeClr val="tx1"/>
                          </a:solidFill>
                          <a:effectLst/>
                          <a:latin typeface="+mj-ea"/>
                          <a:ea typeface="+mj-ea"/>
                        </a:rPr>
                        <a:t>&lt;br&gt;</a:t>
                      </a:r>
                      <a:r>
                        <a:rPr lang="zh-CN" altLang="en-US" sz="1200" b="1">
                          <a:solidFill>
                            <a:schemeClr val="tx1"/>
                          </a:solidFill>
                          <a:effectLst/>
                          <a:latin typeface="+mj-ea"/>
                          <a:ea typeface="+mj-ea"/>
                        </a:rPr>
                        <a:t>数据模型</a:t>
                      </a:r>
                      <a:r>
                        <a:rPr lang="en-US" altLang="zh-CN" sz="1200" b="1">
                          <a:solidFill>
                            <a:schemeClr val="tx1"/>
                          </a:solidFill>
                          <a:effectLst/>
                          <a:latin typeface="+mj-ea"/>
                          <a:ea typeface="+mj-ea"/>
                        </a:rPr>
                        <a:t>&lt;br&gt;</a:t>
                      </a:r>
                      <a:r>
                        <a:rPr lang="zh-CN" altLang="en-US" sz="1200" b="1">
                          <a:solidFill>
                            <a:schemeClr val="tx1"/>
                          </a:solidFill>
                          <a:effectLst/>
                          <a:latin typeface="+mj-ea"/>
                          <a:ea typeface="+mj-ea"/>
                        </a:rPr>
                        <a:t>业务算法</a:t>
                      </a:r>
                      <a:r>
                        <a:rPr lang="en-US" altLang="zh-CN" sz="1200" b="1">
                          <a:solidFill>
                            <a:schemeClr val="tx1"/>
                          </a:solidFill>
                          <a:effectLst/>
                          <a:latin typeface="+mj-ea"/>
                          <a:ea typeface="+mj-ea"/>
                        </a:rPr>
                        <a:t>&lt;br&gt;</a:t>
                      </a:r>
                      <a:r>
                        <a:rPr lang="zh-CN" altLang="en-US" sz="1200" b="1">
                          <a:solidFill>
                            <a:schemeClr val="tx1"/>
                          </a:solidFill>
                          <a:effectLst/>
                          <a:latin typeface="+mj-ea"/>
                          <a:ea typeface="+mj-ea"/>
                        </a:rPr>
                        <a:t>企业操作系统</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54792502"/>
                  </a:ext>
                </a:extLst>
              </a:tr>
              <a:tr h="981775">
                <a:tc>
                  <a:txBody>
                    <a:bodyPr/>
                    <a:lstStyle/>
                    <a:p>
                      <a:pPr algn="l"/>
                      <a:r>
                        <a:rPr lang="en-US" altLang="zh-CN" sz="1200" b="1">
                          <a:solidFill>
                            <a:srgbClr val="000000"/>
                          </a:solidFill>
                          <a:effectLst/>
                          <a:latin typeface="+mj-ea"/>
                          <a:ea typeface="+mj-ea"/>
                        </a:rPr>
                        <a:t>4</a:t>
                      </a:r>
                      <a:endParaRPr lang="zh-CN" altLang="en-US" sz="1200" b="1">
                        <a:solidFill>
                          <a:srgbClr val="000000"/>
                        </a:solidFill>
                        <a:effectLst/>
                        <a:latin typeface="+mj-ea"/>
                        <a:ea typeface="+mj-ea"/>
                      </a:endParaRP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CDE4"/>
                    </a:solidFill>
                  </a:tcPr>
                </a:tc>
                <a:tc>
                  <a:txBody>
                    <a:bodyPr/>
                    <a:lstStyle/>
                    <a:p>
                      <a:pPr algn="l"/>
                      <a:r>
                        <a:rPr lang="zh-CN" altLang="en-US" sz="1200" b="1">
                          <a:solidFill>
                            <a:schemeClr val="tx1"/>
                          </a:solidFill>
                          <a:effectLst/>
                          <a:latin typeface="+mj-ea"/>
                          <a:ea typeface="+mj-ea"/>
                        </a:rPr>
                        <a:t>能力的载体：极度稀缺的“三位一体”融合基因</a:t>
                      </a:r>
                      <a:endParaRPr lang="zh-CN" altLang="en-US" sz="1200">
                        <a:solidFill>
                          <a:schemeClr val="tx1"/>
                        </a:solidFill>
                        <a:effectLst/>
                        <a:latin typeface="+mj-ea"/>
                        <a:ea typeface="+mj-ea"/>
                      </a:endParaRP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a:solidFill>
                            <a:schemeClr val="tx1"/>
                          </a:solidFill>
                          <a:effectLst/>
                          <a:latin typeface="+mj-ea"/>
                          <a:ea typeface="+mj-ea"/>
                        </a:rPr>
                        <a:t>诊断：</a:t>
                      </a:r>
                      <a:r>
                        <a:rPr lang="zh-CN" altLang="en-US" sz="1200">
                          <a:solidFill>
                            <a:schemeClr val="tx1"/>
                          </a:solidFill>
                          <a:effectLst/>
                          <a:latin typeface="+mj-ea"/>
                          <a:ea typeface="+mj-ea"/>
                        </a:rPr>
                        <a:t> 传统割裂的业务专家与</a:t>
                      </a:r>
                      <a:r>
                        <a:rPr lang="en-US" altLang="zh-CN" sz="1200">
                          <a:solidFill>
                            <a:schemeClr val="tx1"/>
                          </a:solidFill>
                          <a:effectLst/>
                          <a:latin typeface="+mj-ea"/>
                          <a:ea typeface="+mj-ea"/>
                        </a:rPr>
                        <a:t>IT</a:t>
                      </a:r>
                      <a:r>
                        <a:rPr lang="zh-CN" altLang="en-US" sz="1200">
                          <a:solidFill>
                            <a:schemeClr val="tx1"/>
                          </a:solidFill>
                          <a:effectLst/>
                          <a:latin typeface="+mj-ea"/>
                          <a:ea typeface="+mj-ea"/>
                        </a:rPr>
                        <a:t>专家无法驾驭数字内核，导致了“巴比塔困境”。需要一种类似“基因突变”的化学融合能力。</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a:solidFill>
                            <a:schemeClr val="tx1"/>
                          </a:solidFill>
                          <a:effectLst/>
                          <a:latin typeface="+mj-ea"/>
                          <a:ea typeface="+mj-ea"/>
                        </a:rPr>
                        <a:t>行动：</a:t>
                      </a:r>
                      <a:r>
                        <a:rPr lang="zh-CN" altLang="en-US" sz="1200">
                          <a:solidFill>
                            <a:schemeClr val="tx1"/>
                          </a:solidFill>
                          <a:effectLst/>
                          <a:latin typeface="+mj-ea"/>
                          <a:ea typeface="+mj-ea"/>
                        </a:rPr>
                        <a:t> 寻找并赋能载体。需要具备“深度业务解构力、深度技术洞察力、系统架构思维力”三位一体融合的“总设计师”或极致精英小队。</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dirty="0">
                          <a:solidFill>
                            <a:schemeClr val="tx1"/>
                          </a:solidFill>
                          <a:effectLst/>
                          <a:latin typeface="+mj-ea"/>
                          <a:ea typeface="+mj-ea"/>
                        </a:rPr>
                        <a:t>三位一体的融合能力、化学融合、总设计师、巴比塔困境</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40886425"/>
                  </a:ext>
                </a:extLst>
              </a:tr>
              <a:tr h="953655">
                <a:tc>
                  <a:txBody>
                    <a:bodyPr/>
                    <a:lstStyle/>
                    <a:p>
                      <a:pPr algn="l"/>
                      <a:r>
                        <a:rPr lang="en-US" altLang="zh-CN" sz="1200" b="1">
                          <a:solidFill>
                            <a:srgbClr val="000000"/>
                          </a:solidFill>
                          <a:effectLst/>
                          <a:latin typeface="+mj-ea"/>
                          <a:ea typeface="+mj-ea"/>
                        </a:rPr>
                        <a:t>5</a:t>
                      </a:r>
                      <a:endParaRPr lang="zh-CN" altLang="en-US" sz="1200" b="1">
                        <a:solidFill>
                          <a:srgbClr val="000000"/>
                        </a:solidFill>
                        <a:effectLst/>
                        <a:latin typeface="+mj-ea"/>
                        <a:ea typeface="+mj-ea"/>
                      </a:endParaRP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CDE4"/>
                    </a:solidFill>
                  </a:tcPr>
                </a:tc>
                <a:tc>
                  <a:txBody>
                    <a:bodyPr/>
                    <a:lstStyle/>
                    <a:p>
                      <a:pPr algn="l"/>
                      <a:r>
                        <a:rPr lang="zh-CN" altLang="en-US" sz="1200" b="1">
                          <a:solidFill>
                            <a:schemeClr val="tx1"/>
                          </a:solidFill>
                          <a:effectLst/>
                          <a:latin typeface="+mj-ea"/>
                          <a:ea typeface="+mj-ea"/>
                        </a:rPr>
                        <a:t>变革的动力：卓越领导力与核心</a:t>
                      </a:r>
                      <a:r>
                        <a:rPr lang="en-US" sz="1200" b="1">
                          <a:solidFill>
                            <a:schemeClr val="tx1"/>
                          </a:solidFill>
                          <a:effectLst/>
                          <a:latin typeface="+mj-ea"/>
                          <a:ea typeface="+mj-ea"/>
                        </a:rPr>
                        <a:t>Know-How</a:t>
                      </a:r>
                      <a:r>
                        <a:rPr lang="zh-CN" altLang="en-US" sz="1200" b="1">
                          <a:solidFill>
                            <a:schemeClr val="tx1"/>
                          </a:solidFill>
                          <a:effectLst/>
                          <a:latin typeface="+mj-ea"/>
                          <a:ea typeface="+mj-ea"/>
                        </a:rPr>
                        <a:t>的共振</a:t>
                      </a:r>
                      <a:endParaRPr lang="zh-CN" altLang="en-US" sz="1200">
                        <a:solidFill>
                          <a:schemeClr val="tx1"/>
                        </a:solidFill>
                        <a:effectLst/>
                        <a:latin typeface="+mj-ea"/>
                        <a:ea typeface="+mj-ea"/>
                      </a:endParaRP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a:solidFill>
                            <a:schemeClr val="tx1"/>
                          </a:solidFill>
                          <a:effectLst/>
                          <a:latin typeface="+mj-ea"/>
                          <a:ea typeface="+mj-ea"/>
                        </a:rPr>
                        <a:t>诊断：</a:t>
                      </a:r>
                      <a:r>
                        <a:rPr lang="zh-CN" altLang="en-US" sz="1200">
                          <a:solidFill>
                            <a:schemeClr val="tx1"/>
                          </a:solidFill>
                          <a:effectLst/>
                          <a:latin typeface="+mj-ea"/>
                          <a:ea typeface="+mj-ea"/>
                        </a:rPr>
                        <a:t> 变革是“杠杆”（卓越领导力）与“支点”（总设计师</a:t>
                      </a:r>
                      <a:r>
                        <a:rPr lang="en-US" altLang="zh-CN" sz="1200">
                          <a:solidFill>
                            <a:schemeClr val="tx1"/>
                          </a:solidFill>
                          <a:effectLst/>
                          <a:latin typeface="+mj-ea"/>
                          <a:ea typeface="+mj-ea"/>
                        </a:rPr>
                        <a:t>Know-How</a:t>
                      </a:r>
                      <a:r>
                        <a:rPr lang="zh-CN" altLang="en-US" sz="1200">
                          <a:solidFill>
                            <a:schemeClr val="tx1"/>
                          </a:solidFill>
                          <a:effectLst/>
                          <a:latin typeface="+mj-ea"/>
                          <a:ea typeface="+mj-ea"/>
                        </a:rPr>
                        <a:t>）相互作用的过程。成功依赖于二者的共振。</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a:solidFill>
                            <a:schemeClr val="tx1"/>
                          </a:solidFill>
                          <a:effectLst/>
                          <a:latin typeface="+mj-ea"/>
                          <a:ea typeface="+mj-ea"/>
                        </a:rPr>
                        <a:t>行动：</a:t>
                      </a:r>
                      <a:r>
                        <a:rPr lang="zh-CN" altLang="en-US" sz="1200">
                          <a:solidFill>
                            <a:schemeClr val="tx1"/>
                          </a:solidFill>
                          <a:effectLst/>
                          <a:latin typeface="+mj-ea"/>
                          <a:ea typeface="+mj-ea"/>
                        </a:rPr>
                        <a:t> “奇点爆破”与“能力扩散”。领导者利用职权提供支持，让总设计师在关键痛点用数据证明价值，随后推动核心能力向整个组织显性化扩散。</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lang="zh-CN" altLang="en-US" sz="1200" b="1" dirty="0">
                          <a:solidFill>
                            <a:schemeClr val="tx1"/>
                          </a:solidFill>
                          <a:effectLst/>
                          <a:latin typeface="+mj-ea"/>
                          <a:ea typeface="+mj-ea"/>
                        </a:rPr>
                        <a:t>领导力共振、杠杆与支点、奇点爆破、能力扩散</a:t>
                      </a:r>
                    </a:p>
                  </a:txBody>
                  <a:tcPr marL="17374" marR="17374" marT="8687" marB="868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03476516"/>
                  </a:ext>
                </a:extLst>
              </a:tr>
            </a:tbl>
          </a:graphicData>
        </a:graphic>
      </p:graphicFrame>
    </p:spTree>
    <p:extLst>
      <p:ext uri="{BB962C8B-B14F-4D97-AF65-F5344CB8AC3E}">
        <p14:creationId xmlns:p14="http://schemas.microsoft.com/office/powerpoint/2010/main" val="1452874037"/>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7645910B-8CB3-59FC-90D8-50FD3509F9AA}"/>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成熟度模型，我们在哪，将去何方</a:t>
            </a:r>
          </a:p>
        </p:txBody>
      </p:sp>
      <p:graphicFrame>
        <p:nvGraphicFramePr>
          <p:cNvPr id="5" name="表格 4">
            <a:extLst>
              <a:ext uri="{FF2B5EF4-FFF2-40B4-BE49-F238E27FC236}">
                <a16:creationId xmlns:a16="http://schemas.microsoft.com/office/drawing/2014/main" id="{15449151-BD60-477E-DA47-9995AFE75113}"/>
              </a:ext>
            </a:extLst>
          </p:cNvPr>
          <p:cNvGraphicFramePr>
            <a:graphicFrameLocks noGrp="1"/>
          </p:cNvGraphicFramePr>
          <p:nvPr>
            <p:extLst>
              <p:ext uri="{D42A27DB-BD31-4B8C-83A1-F6EECF244321}">
                <p14:modId xmlns:p14="http://schemas.microsoft.com/office/powerpoint/2010/main" val="2114454876"/>
              </p:ext>
            </p:extLst>
          </p:nvPr>
        </p:nvGraphicFramePr>
        <p:xfrm>
          <a:off x="916646" y="1291246"/>
          <a:ext cx="10760298" cy="4875114"/>
        </p:xfrm>
        <a:graphic>
          <a:graphicData uri="http://schemas.openxmlformats.org/drawingml/2006/table">
            <a:tbl>
              <a:tblPr firstRow="1" bandRow="1">
                <a:tableStyleId>{69012ECD-51FC-41F1-AA8D-1B2483CD663E}</a:tableStyleId>
              </a:tblPr>
              <a:tblGrid>
                <a:gridCol w="1793383">
                  <a:extLst>
                    <a:ext uri="{9D8B030D-6E8A-4147-A177-3AD203B41FA5}">
                      <a16:colId xmlns:a16="http://schemas.microsoft.com/office/drawing/2014/main" val="1845482246"/>
                    </a:ext>
                  </a:extLst>
                </a:gridCol>
                <a:gridCol w="1793383">
                  <a:extLst>
                    <a:ext uri="{9D8B030D-6E8A-4147-A177-3AD203B41FA5}">
                      <a16:colId xmlns:a16="http://schemas.microsoft.com/office/drawing/2014/main" val="3066450575"/>
                    </a:ext>
                  </a:extLst>
                </a:gridCol>
                <a:gridCol w="1793383">
                  <a:extLst>
                    <a:ext uri="{9D8B030D-6E8A-4147-A177-3AD203B41FA5}">
                      <a16:colId xmlns:a16="http://schemas.microsoft.com/office/drawing/2014/main" val="3190656005"/>
                    </a:ext>
                  </a:extLst>
                </a:gridCol>
                <a:gridCol w="1793383">
                  <a:extLst>
                    <a:ext uri="{9D8B030D-6E8A-4147-A177-3AD203B41FA5}">
                      <a16:colId xmlns:a16="http://schemas.microsoft.com/office/drawing/2014/main" val="1761428097"/>
                    </a:ext>
                  </a:extLst>
                </a:gridCol>
                <a:gridCol w="1793383">
                  <a:extLst>
                    <a:ext uri="{9D8B030D-6E8A-4147-A177-3AD203B41FA5}">
                      <a16:colId xmlns:a16="http://schemas.microsoft.com/office/drawing/2014/main" val="4260186812"/>
                    </a:ext>
                  </a:extLst>
                </a:gridCol>
                <a:gridCol w="1793383">
                  <a:extLst>
                    <a:ext uri="{9D8B030D-6E8A-4147-A177-3AD203B41FA5}">
                      <a16:colId xmlns:a16="http://schemas.microsoft.com/office/drawing/2014/main" val="3184678139"/>
                    </a:ext>
                  </a:extLst>
                </a:gridCol>
              </a:tblGrid>
              <a:tr h="373881">
                <a:tc rowSpan="2">
                  <a:txBody>
                    <a:bodyPr/>
                    <a:lstStyle>
                      <a:lvl1pPr marL="0" algn="l" defTabSz="914400" rtl="0" eaLnBrk="1" latinLnBrk="0" hangingPunct="1">
                        <a:defRPr sz="1800" b="1" kern="1200">
                          <a:solidFill>
                            <a:schemeClr val="lt1"/>
                          </a:solidFill>
                          <a:latin typeface="Arial"/>
                          <a:ea typeface="微软雅黑"/>
                        </a:defRPr>
                      </a:lvl1pPr>
                      <a:lvl2pPr marL="457200" algn="l" defTabSz="914400" rtl="0" eaLnBrk="1" latinLnBrk="0" hangingPunct="1">
                        <a:defRPr sz="1800" b="1" kern="1200">
                          <a:solidFill>
                            <a:schemeClr val="lt1"/>
                          </a:solidFill>
                          <a:latin typeface="Arial"/>
                          <a:ea typeface="微软雅黑"/>
                        </a:defRPr>
                      </a:lvl2pPr>
                      <a:lvl3pPr marL="914400" algn="l" defTabSz="914400" rtl="0" eaLnBrk="1" latinLnBrk="0" hangingPunct="1">
                        <a:defRPr sz="1800" b="1" kern="1200">
                          <a:solidFill>
                            <a:schemeClr val="lt1"/>
                          </a:solidFill>
                          <a:latin typeface="Arial"/>
                          <a:ea typeface="微软雅黑"/>
                        </a:defRPr>
                      </a:lvl3pPr>
                      <a:lvl4pPr marL="1371600" algn="l" defTabSz="914400" rtl="0" eaLnBrk="1" latinLnBrk="0" hangingPunct="1">
                        <a:defRPr sz="1800" b="1" kern="1200">
                          <a:solidFill>
                            <a:schemeClr val="lt1"/>
                          </a:solidFill>
                          <a:latin typeface="Arial"/>
                          <a:ea typeface="微软雅黑"/>
                        </a:defRPr>
                      </a:lvl4pPr>
                      <a:lvl5pPr marL="1828800" algn="l" defTabSz="914400" rtl="0" eaLnBrk="1" latinLnBrk="0" hangingPunct="1">
                        <a:defRPr sz="1800" b="1" kern="1200">
                          <a:solidFill>
                            <a:schemeClr val="lt1"/>
                          </a:solidFill>
                          <a:latin typeface="Arial"/>
                          <a:ea typeface="微软雅黑"/>
                        </a:defRPr>
                      </a:lvl5pPr>
                      <a:lvl6pPr marL="2286000" algn="l" defTabSz="914400" rtl="0" eaLnBrk="1" latinLnBrk="0" hangingPunct="1">
                        <a:defRPr sz="1800" b="1" kern="1200">
                          <a:solidFill>
                            <a:schemeClr val="lt1"/>
                          </a:solidFill>
                          <a:latin typeface="Arial"/>
                          <a:ea typeface="微软雅黑"/>
                        </a:defRPr>
                      </a:lvl6pPr>
                      <a:lvl7pPr marL="2743200" algn="l" defTabSz="914400" rtl="0" eaLnBrk="1" latinLnBrk="0" hangingPunct="1">
                        <a:defRPr sz="1800" b="1" kern="1200">
                          <a:solidFill>
                            <a:schemeClr val="lt1"/>
                          </a:solidFill>
                          <a:latin typeface="Arial"/>
                          <a:ea typeface="微软雅黑"/>
                        </a:defRPr>
                      </a:lvl7pPr>
                      <a:lvl8pPr marL="3200400" algn="l" defTabSz="914400" rtl="0" eaLnBrk="1" latinLnBrk="0" hangingPunct="1">
                        <a:defRPr sz="1800" b="1" kern="1200">
                          <a:solidFill>
                            <a:schemeClr val="lt1"/>
                          </a:solidFill>
                          <a:latin typeface="Arial"/>
                          <a:ea typeface="微软雅黑"/>
                        </a:defRPr>
                      </a:lvl8pPr>
                      <a:lvl9pPr marL="3657600" algn="l" defTabSz="914400" rtl="0" eaLnBrk="1" latinLnBrk="0" hangingPunct="1">
                        <a:defRPr sz="1800" b="1" kern="1200">
                          <a:solidFill>
                            <a:schemeClr val="lt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维度</a:t>
                      </a:r>
                    </a:p>
                  </a:txBody>
                  <a:tcPr/>
                </a:tc>
                <a:tc gridSpan="2">
                  <a:txBody>
                    <a:bodyPr/>
                    <a:lstStyle>
                      <a:lvl1pPr marL="0" algn="l" defTabSz="914400" rtl="0" eaLnBrk="1" latinLnBrk="0" hangingPunct="1">
                        <a:defRPr sz="1800" b="1" kern="1200">
                          <a:solidFill>
                            <a:schemeClr val="lt1"/>
                          </a:solidFill>
                          <a:latin typeface="Arial"/>
                          <a:ea typeface="微软雅黑"/>
                        </a:defRPr>
                      </a:lvl1pPr>
                      <a:lvl2pPr marL="457200" algn="l" defTabSz="914400" rtl="0" eaLnBrk="1" latinLnBrk="0" hangingPunct="1">
                        <a:defRPr sz="1800" b="1" kern="1200">
                          <a:solidFill>
                            <a:schemeClr val="lt1"/>
                          </a:solidFill>
                          <a:latin typeface="Arial"/>
                          <a:ea typeface="微软雅黑"/>
                        </a:defRPr>
                      </a:lvl2pPr>
                      <a:lvl3pPr marL="914400" algn="l" defTabSz="914400" rtl="0" eaLnBrk="1" latinLnBrk="0" hangingPunct="1">
                        <a:defRPr sz="1800" b="1" kern="1200">
                          <a:solidFill>
                            <a:schemeClr val="lt1"/>
                          </a:solidFill>
                          <a:latin typeface="Arial"/>
                          <a:ea typeface="微软雅黑"/>
                        </a:defRPr>
                      </a:lvl3pPr>
                      <a:lvl4pPr marL="1371600" algn="l" defTabSz="914400" rtl="0" eaLnBrk="1" latinLnBrk="0" hangingPunct="1">
                        <a:defRPr sz="1800" b="1" kern="1200">
                          <a:solidFill>
                            <a:schemeClr val="lt1"/>
                          </a:solidFill>
                          <a:latin typeface="Arial"/>
                          <a:ea typeface="微软雅黑"/>
                        </a:defRPr>
                      </a:lvl4pPr>
                      <a:lvl5pPr marL="1828800" algn="l" defTabSz="914400" rtl="0" eaLnBrk="1" latinLnBrk="0" hangingPunct="1">
                        <a:defRPr sz="1800" b="1" kern="1200">
                          <a:solidFill>
                            <a:schemeClr val="lt1"/>
                          </a:solidFill>
                          <a:latin typeface="Arial"/>
                          <a:ea typeface="微软雅黑"/>
                        </a:defRPr>
                      </a:lvl5pPr>
                      <a:lvl6pPr marL="2286000" algn="l" defTabSz="914400" rtl="0" eaLnBrk="1" latinLnBrk="0" hangingPunct="1">
                        <a:defRPr sz="1800" b="1" kern="1200">
                          <a:solidFill>
                            <a:schemeClr val="lt1"/>
                          </a:solidFill>
                          <a:latin typeface="Arial"/>
                          <a:ea typeface="微软雅黑"/>
                        </a:defRPr>
                      </a:lvl6pPr>
                      <a:lvl7pPr marL="2743200" algn="l" defTabSz="914400" rtl="0" eaLnBrk="1" latinLnBrk="0" hangingPunct="1">
                        <a:defRPr sz="1800" b="1" kern="1200">
                          <a:solidFill>
                            <a:schemeClr val="lt1"/>
                          </a:solidFill>
                          <a:latin typeface="Arial"/>
                          <a:ea typeface="微软雅黑"/>
                        </a:defRPr>
                      </a:lvl7pPr>
                      <a:lvl8pPr marL="3200400" algn="l" defTabSz="914400" rtl="0" eaLnBrk="1" latinLnBrk="0" hangingPunct="1">
                        <a:defRPr sz="1800" b="1" kern="1200">
                          <a:solidFill>
                            <a:schemeClr val="lt1"/>
                          </a:solidFill>
                          <a:latin typeface="Arial"/>
                          <a:ea typeface="微软雅黑"/>
                        </a:defRPr>
                      </a:lvl8pPr>
                      <a:lvl9pPr marL="3657600" algn="l" defTabSz="914400" rtl="0" eaLnBrk="1" latinLnBrk="0" hangingPunct="1">
                        <a:defRPr sz="1800" b="1" kern="1200">
                          <a:solidFill>
                            <a:schemeClr val="lt1"/>
                          </a:solidFill>
                          <a:latin typeface="Arial"/>
                          <a:ea typeface="微软雅黑"/>
                        </a:defRPr>
                      </a:lvl9pPr>
                    </a:lstStyle>
                    <a:p>
                      <a:pPr algn="ctr"/>
                      <a:r>
                        <a:rPr lang="zh-CN" altLang="en-US" sz="1600" b="1" dirty="0">
                          <a:solidFill>
                            <a:schemeClr val="tx1"/>
                          </a:solidFill>
                          <a:latin typeface="Arial" panose="020B0604020202020204" pitchFamily="34" charset="0"/>
                          <a:ea typeface="微软雅黑" panose="020B0503020204020204" pitchFamily="34" charset="-122"/>
                        </a:rPr>
                        <a:t>模拟计划</a:t>
                      </a:r>
                    </a:p>
                  </a:txBody>
                  <a:tcPr/>
                </a:tc>
                <a:tc hMerge="1">
                  <a:txBody>
                    <a:bodyPr/>
                    <a:lstStyle/>
                    <a:p>
                      <a:endParaRPr lang="zh-CN" altLang="en-US" dirty="0"/>
                    </a:p>
                  </a:txBody>
                  <a:tcPr/>
                </a:tc>
                <a:tc gridSpan="3">
                  <a:txBody>
                    <a:bodyPr/>
                    <a:lstStyle>
                      <a:lvl1pPr marL="0" algn="l" defTabSz="914400" rtl="0" eaLnBrk="1" latinLnBrk="0" hangingPunct="1">
                        <a:defRPr sz="1800" b="1" kern="1200">
                          <a:solidFill>
                            <a:schemeClr val="lt1"/>
                          </a:solidFill>
                          <a:latin typeface="Arial"/>
                          <a:ea typeface="微软雅黑"/>
                        </a:defRPr>
                      </a:lvl1pPr>
                      <a:lvl2pPr marL="457200" algn="l" defTabSz="914400" rtl="0" eaLnBrk="1" latinLnBrk="0" hangingPunct="1">
                        <a:defRPr sz="1800" b="1" kern="1200">
                          <a:solidFill>
                            <a:schemeClr val="lt1"/>
                          </a:solidFill>
                          <a:latin typeface="Arial"/>
                          <a:ea typeface="微软雅黑"/>
                        </a:defRPr>
                      </a:lvl2pPr>
                      <a:lvl3pPr marL="914400" algn="l" defTabSz="914400" rtl="0" eaLnBrk="1" latinLnBrk="0" hangingPunct="1">
                        <a:defRPr sz="1800" b="1" kern="1200">
                          <a:solidFill>
                            <a:schemeClr val="lt1"/>
                          </a:solidFill>
                          <a:latin typeface="Arial"/>
                          <a:ea typeface="微软雅黑"/>
                        </a:defRPr>
                      </a:lvl3pPr>
                      <a:lvl4pPr marL="1371600" algn="l" defTabSz="914400" rtl="0" eaLnBrk="1" latinLnBrk="0" hangingPunct="1">
                        <a:defRPr sz="1800" b="1" kern="1200">
                          <a:solidFill>
                            <a:schemeClr val="lt1"/>
                          </a:solidFill>
                          <a:latin typeface="Arial"/>
                          <a:ea typeface="微软雅黑"/>
                        </a:defRPr>
                      </a:lvl4pPr>
                      <a:lvl5pPr marL="1828800" algn="l" defTabSz="914400" rtl="0" eaLnBrk="1" latinLnBrk="0" hangingPunct="1">
                        <a:defRPr sz="1800" b="1" kern="1200">
                          <a:solidFill>
                            <a:schemeClr val="lt1"/>
                          </a:solidFill>
                          <a:latin typeface="Arial"/>
                          <a:ea typeface="微软雅黑"/>
                        </a:defRPr>
                      </a:lvl5pPr>
                      <a:lvl6pPr marL="2286000" algn="l" defTabSz="914400" rtl="0" eaLnBrk="1" latinLnBrk="0" hangingPunct="1">
                        <a:defRPr sz="1800" b="1" kern="1200">
                          <a:solidFill>
                            <a:schemeClr val="lt1"/>
                          </a:solidFill>
                          <a:latin typeface="Arial"/>
                          <a:ea typeface="微软雅黑"/>
                        </a:defRPr>
                      </a:lvl6pPr>
                      <a:lvl7pPr marL="2743200" algn="l" defTabSz="914400" rtl="0" eaLnBrk="1" latinLnBrk="0" hangingPunct="1">
                        <a:defRPr sz="1800" b="1" kern="1200">
                          <a:solidFill>
                            <a:schemeClr val="lt1"/>
                          </a:solidFill>
                          <a:latin typeface="Arial"/>
                          <a:ea typeface="微软雅黑"/>
                        </a:defRPr>
                      </a:lvl7pPr>
                      <a:lvl8pPr marL="3200400" algn="l" defTabSz="914400" rtl="0" eaLnBrk="1" latinLnBrk="0" hangingPunct="1">
                        <a:defRPr sz="1800" b="1" kern="1200">
                          <a:solidFill>
                            <a:schemeClr val="lt1"/>
                          </a:solidFill>
                          <a:latin typeface="Arial"/>
                          <a:ea typeface="微软雅黑"/>
                        </a:defRPr>
                      </a:lvl8pPr>
                      <a:lvl9pPr marL="3657600" algn="l" defTabSz="914400" rtl="0" eaLnBrk="1" latinLnBrk="0" hangingPunct="1">
                        <a:defRPr sz="1800" b="1" kern="1200">
                          <a:solidFill>
                            <a:schemeClr val="lt1"/>
                          </a:solidFill>
                          <a:latin typeface="Arial"/>
                          <a:ea typeface="微软雅黑"/>
                        </a:defRPr>
                      </a:lvl9pPr>
                    </a:lstStyle>
                    <a:p>
                      <a:pPr algn="ctr"/>
                      <a:r>
                        <a:rPr lang="zh-CN" altLang="en-US" sz="1600" b="1" dirty="0">
                          <a:solidFill>
                            <a:schemeClr val="tx1"/>
                          </a:solidFill>
                          <a:latin typeface="Arial" panose="020B0604020202020204" pitchFamily="34" charset="0"/>
                          <a:ea typeface="微软雅黑" panose="020B0503020204020204" pitchFamily="34" charset="-122"/>
                        </a:rPr>
                        <a:t>数字化规划</a:t>
                      </a:r>
                    </a:p>
                  </a:txBody>
                  <a:tcPr/>
                </a:tc>
                <a:tc hMerge="1">
                  <a:txBody>
                    <a:bodyPr/>
                    <a:lstStyle/>
                    <a:p>
                      <a:endParaRPr lang="zh-CN" altLang="en-US"/>
                    </a:p>
                  </a:txBody>
                  <a:tcPr/>
                </a:tc>
                <a:tc hMerge="1">
                  <a:txBody>
                    <a:bodyPr/>
                    <a:lstStyle/>
                    <a:p>
                      <a:endParaRPr lang="zh-CN" altLang="en-US" dirty="0"/>
                    </a:p>
                  </a:txBody>
                  <a:tcPr/>
                </a:tc>
                <a:extLst>
                  <a:ext uri="{0D108BD9-81ED-4DB2-BD59-A6C34878D82A}">
                    <a16:rowId xmlns:a16="http://schemas.microsoft.com/office/drawing/2014/main" val="1813979861"/>
                  </a:ext>
                </a:extLst>
              </a:tr>
              <a:tr h="373881">
                <a:tc vMerge="1">
                  <a:txBody>
                    <a:bodyPr/>
                    <a:lstStyle/>
                    <a:p>
                      <a:endParaRPr lang="zh-CN" altLang="en-US" dirty="0"/>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阶段</a:t>
                      </a:r>
                      <a:r>
                        <a:rPr lang="en-US" altLang="zh-CN" sz="1600" b="1" dirty="0">
                          <a:solidFill>
                            <a:schemeClr val="tx1"/>
                          </a:solidFill>
                          <a:latin typeface="Arial" panose="020B0604020202020204" pitchFamily="34" charset="0"/>
                          <a:ea typeface="微软雅黑" panose="020B0503020204020204" pitchFamily="34" charset="-122"/>
                        </a:rPr>
                        <a:t>1-</a:t>
                      </a:r>
                      <a:r>
                        <a:rPr lang="zh-CN" altLang="en-US" sz="1600" b="1" dirty="0">
                          <a:solidFill>
                            <a:schemeClr val="tx1"/>
                          </a:solidFill>
                          <a:latin typeface="Arial" panose="020B0604020202020204" pitchFamily="34" charset="0"/>
                          <a:ea typeface="微软雅黑" panose="020B0503020204020204" pitchFamily="34" charset="-122"/>
                        </a:rPr>
                        <a:t>反应式</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阶段</a:t>
                      </a:r>
                      <a:r>
                        <a:rPr lang="en-US" altLang="zh-CN" sz="1600" b="1" dirty="0">
                          <a:solidFill>
                            <a:schemeClr val="tx1"/>
                          </a:solidFill>
                          <a:latin typeface="Arial" panose="020B0604020202020204" pitchFamily="34" charset="0"/>
                          <a:ea typeface="微软雅黑" panose="020B0503020204020204" pitchFamily="34" charset="-122"/>
                        </a:rPr>
                        <a:t>2-</a:t>
                      </a:r>
                      <a:r>
                        <a:rPr lang="zh-CN" altLang="en-US" sz="1600" b="1" dirty="0">
                          <a:solidFill>
                            <a:schemeClr val="tx1"/>
                          </a:solidFill>
                          <a:latin typeface="Arial" panose="020B0604020202020204" pitchFamily="34" charset="0"/>
                          <a:ea typeface="微软雅黑" panose="020B0503020204020204" pitchFamily="34" charset="-122"/>
                        </a:rPr>
                        <a:t>感知式</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阶段</a:t>
                      </a:r>
                      <a:r>
                        <a:rPr lang="en-US" altLang="zh-CN" sz="1600" b="1" dirty="0">
                          <a:solidFill>
                            <a:schemeClr val="tx1"/>
                          </a:solidFill>
                          <a:latin typeface="Arial" panose="020B0604020202020204" pitchFamily="34" charset="0"/>
                          <a:ea typeface="微软雅黑" panose="020B0503020204020204" pitchFamily="34" charset="-122"/>
                        </a:rPr>
                        <a:t>3-</a:t>
                      </a:r>
                      <a:r>
                        <a:rPr lang="zh-CN" altLang="en-US" sz="1600" b="1" dirty="0">
                          <a:solidFill>
                            <a:schemeClr val="tx1"/>
                          </a:solidFill>
                          <a:latin typeface="Arial" panose="020B0604020202020204" pitchFamily="34" charset="0"/>
                          <a:ea typeface="微软雅黑" panose="020B0503020204020204" pitchFamily="34" charset="-122"/>
                        </a:rPr>
                        <a:t>前瞻式</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阶段</a:t>
                      </a:r>
                      <a:r>
                        <a:rPr lang="en-US" altLang="zh-CN" sz="1600" b="1" dirty="0">
                          <a:solidFill>
                            <a:schemeClr val="tx1"/>
                          </a:solidFill>
                          <a:latin typeface="Arial" panose="020B0604020202020204" pitchFamily="34" charset="0"/>
                          <a:ea typeface="微软雅黑" panose="020B0503020204020204" pitchFamily="34" charset="-122"/>
                        </a:rPr>
                        <a:t>4-</a:t>
                      </a:r>
                      <a:r>
                        <a:rPr lang="zh-CN" altLang="en-US" sz="1600" b="1" dirty="0">
                          <a:solidFill>
                            <a:schemeClr val="tx1"/>
                          </a:solidFill>
                          <a:latin typeface="Arial" panose="020B0604020202020204" pitchFamily="34" charset="0"/>
                          <a:ea typeface="微软雅黑" panose="020B0503020204020204" pitchFamily="34" charset="-122"/>
                        </a:rPr>
                        <a:t>自主式</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阶段</a:t>
                      </a:r>
                      <a:r>
                        <a:rPr lang="en-US" altLang="zh-CN" sz="1600" b="1" dirty="0">
                          <a:solidFill>
                            <a:schemeClr val="tx1"/>
                          </a:solidFill>
                          <a:latin typeface="Arial" panose="020B0604020202020204" pitchFamily="34" charset="0"/>
                          <a:ea typeface="微软雅黑" panose="020B0503020204020204" pitchFamily="34" charset="-122"/>
                        </a:rPr>
                        <a:t>5-</a:t>
                      </a:r>
                      <a:r>
                        <a:rPr lang="zh-CN" altLang="en-US" sz="1600" b="1" dirty="0">
                          <a:solidFill>
                            <a:schemeClr val="tx1"/>
                          </a:solidFill>
                          <a:latin typeface="Arial" panose="020B0604020202020204" pitchFamily="34" charset="0"/>
                          <a:ea typeface="微软雅黑" panose="020B0503020204020204" pitchFamily="34" charset="-122"/>
                        </a:rPr>
                        <a:t>自主与创新</a:t>
                      </a:r>
                    </a:p>
                  </a:txBody>
                  <a:tcPr/>
                </a:tc>
                <a:extLst>
                  <a:ext uri="{0D108BD9-81ED-4DB2-BD59-A6C34878D82A}">
                    <a16:rowId xmlns:a16="http://schemas.microsoft.com/office/drawing/2014/main" val="256945596"/>
                  </a:ext>
                </a:extLst>
              </a:tr>
              <a:tr h="294850">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横向协同</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dirty="0">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65765069"/>
                  </a:ext>
                </a:extLst>
              </a:tr>
              <a:tr h="373881">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纵向协同</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485751257"/>
                  </a:ext>
                </a:extLst>
              </a:tr>
              <a:tr h="672987">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自动化程度</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024471364"/>
                  </a:ext>
                </a:extLst>
              </a:tr>
              <a:tr h="373881">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决策类型混合</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066474048"/>
                  </a:ext>
                </a:extLst>
              </a:tr>
              <a:tr h="373881">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响应性</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269325067"/>
                  </a:ext>
                </a:extLst>
              </a:tr>
              <a:tr h="373881">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决策颗粒度</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240121169"/>
                  </a:ext>
                </a:extLst>
              </a:tr>
              <a:tr h="373881">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多模态规划</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dirty="0">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dirty="0">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endParaRPr lang="zh-CN" altLang="en-US" sz="1600" b="1" dirty="0">
                        <a:solidFill>
                          <a:schemeClr val="tx1"/>
                        </a:solidFill>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230508958"/>
                  </a:ext>
                </a:extLst>
              </a:tr>
              <a:tr h="373881">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阶段进展</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000" b="0" dirty="0">
                          <a:solidFill>
                            <a:schemeClr val="tx1"/>
                          </a:solidFill>
                          <a:latin typeface="Arial" panose="020B0604020202020204" pitchFamily="34" charset="0"/>
                          <a:ea typeface="微软雅黑" panose="020B0503020204020204" pitchFamily="34" charset="-122"/>
                        </a:rPr>
                        <a:t>手工</a:t>
                      </a:r>
                      <a:r>
                        <a:rPr lang="en-US" altLang="zh-CN" sz="1000" b="0" dirty="0">
                          <a:solidFill>
                            <a:schemeClr val="tx1"/>
                          </a:solidFill>
                          <a:latin typeface="Arial" panose="020B0604020202020204" pitchFamily="34" charset="0"/>
                          <a:ea typeface="微软雅黑" panose="020B0503020204020204" pitchFamily="34" charset="-122"/>
                        </a:rPr>
                        <a:t>/Excel</a:t>
                      </a:r>
                      <a:r>
                        <a:rPr lang="zh-CN" altLang="en-US" sz="1000" b="0" dirty="0">
                          <a:solidFill>
                            <a:schemeClr val="tx1"/>
                          </a:solidFill>
                          <a:latin typeface="Arial" panose="020B0604020202020204" pitchFamily="34" charset="0"/>
                          <a:ea typeface="微软雅黑" panose="020B0503020204020204" pitchFamily="34" charset="-122"/>
                        </a:rPr>
                        <a:t>来模拟</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000" b="0" dirty="0">
                          <a:solidFill>
                            <a:schemeClr val="tx1"/>
                          </a:solidFill>
                          <a:latin typeface="Arial" panose="020B0604020202020204" pitchFamily="34" charset="0"/>
                          <a:ea typeface="微软雅黑" panose="020B0503020204020204" pitchFamily="34" charset="-122"/>
                        </a:rPr>
                        <a:t>后期是数字规划的开始阶段，为提高效率开始尝试一些数字化。</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000" b="0" dirty="0">
                          <a:solidFill>
                            <a:schemeClr val="tx1"/>
                          </a:solidFill>
                          <a:latin typeface="Arial" panose="020B0604020202020204" pitchFamily="34" charset="0"/>
                          <a:ea typeface="微软雅黑" panose="020B0503020204020204" pitchFamily="34" charset="-122"/>
                        </a:rPr>
                        <a:t>加速数字化规划项目，聚焦</a:t>
                      </a:r>
                      <a:r>
                        <a:rPr lang="en-US" altLang="zh-CN" sz="1000" b="0" dirty="0">
                          <a:solidFill>
                            <a:schemeClr val="tx1"/>
                          </a:solidFill>
                          <a:latin typeface="Arial" panose="020B0604020202020204" pitchFamily="34" charset="0"/>
                          <a:ea typeface="微软雅黑" panose="020B0503020204020204" pitchFamily="34" charset="-122"/>
                        </a:rPr>
                        <a:t>E2E</a:t>
                      </a:r>
                      <a:r>
                        <a:rPr lang="zh-CN" altLang="en-US" sz="1000" b="0" dirty="0">
                          <a:solidFill>
                            <a:schemeClr val="tx1"/>
                          </a:solidFill>
                          <a:latin typeface="Arial" panose="020B0604020202020204" pitchFamily="34" charset="0"/>
                          <a:ea typeface="微软雅黑" panose="020B0503020204020204" pitchFamily="34" charset="-122"/>
                        </a:rPr>
                        <a:t>协同。更多的是数字化方案而不是</a:t>
                      </a:r>
                      <a:r>
                        <a:rPr lang="en-US" altLang="zh-CN" sz="1000" b="0" dirty="0">
                          <a:solidFill>
                            <a:schemeClr val="tx1"/>
                          </a:solidFill>
                          <a:latin typeface="Arial" panose="020B0604020202020204" pitchFamily="34" charset="0"/>
                          <a:ea typeface="微软雅黑" panose="020B0503020204020204" pitchFamily="34" charset="-122"/>
                        </a:rPr>
                        <a:t>Excel, </a:t>
                      </a:r>
                      <a:r>
                        <a:rPr lang="zh-CN" altLang="en-US" sz="1000" b="0" dirty="0">
                          <a:solidFill>
                            <a:schemeClr val="tx1"/>
                          </a:solidFill>
                          <a:latin typeface="Arial" panose="020B0604020202020204" pitchFamily="34" charset="0"/>
                          <a:ea typeface="微软雅黑" panose="020B0503020204020204" pitchFamily="34" charset="-122"/>
                        </a:rPr>
                        <a:t>执行计划做的更好</a:t>
                      </a:r>
                      <a:r>
                        <a:rPr lang="en-US" altLang="zh-CN" sz="1000" b="0" dirty="0">
                          <a:solidFill>
                            <a:schemeClr val="tx1"/>
                          </a:solidFill>
                          <a:latin typeface="Arial" panose="020B0604020202020204" pitchFamily="34" charset="0"/>
                          <a:ea typeface="微软雅黑" panose="020B0503020204020204" pitchFamily="34" charset="-122"/>
                        </a:rPr>
                        <a:t>.</a:t>
                      </a:r>
                      <a:endParaRPr lang="zh-CN" altLang="en-US" sz="1000" b="0" dirty="0">
                        <a:solidFill>
                          <a:schemeClr val="tx1"/>
                        </a:solidFill>
                        <a:latin typeface="Arial" panose="020B0604020202020204" pitchFamily="34" charset="0"/>
                        <a:ea typeface="微软雅黑" panose="020B0503020204020204" pitchFamily="34" charset="-122"/>
                      </a:endParaRP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000" b="0" dirty="0">
                          <a:solidFill>
                            <a:schemeClr val="tx1"/>
                          </a:solidFill>
                          <a:latin typeface="Arial" panose="020B0604020202020204" pitchFamily="34" charset="0"/>
                          <a:ea typeface="微软雅黑" panose="020B0503020204020204" pitchFamily="34" charset="-122"/>
                        </a:rPr>
                        <a:t>转型开始发生，进入深水区。横纵均得到增强，进入复杂的决策。</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000" b="1" dirty="0">
                          <a:solidFill>
                            <a:schemeClr val="tx1"/>
                          </a:solidFill>
                          <a:latin typeface="Arial" panose="020B0604020202020204" pitchFamily="34" charset="0"/>
                          <a:ea typeface="微软雅黑" panose="020B0503020204020204" pitchFamily="34" charset="-122"/>
                        </a:rPr>
                        <a:t>完全基于模型算法数字化，全面横纵协奏，与物理世界数字协同。</a:t>
                      </a:r>
                    </a:p>
                  </a:txBody>
                  <a:tcPr/>
                </a:tc>
                <a:extLst>
                  <a:ext uri="{0D108BD9-81ED-4DB2-BD59-A6C34878D82A}">
                    <a16:rowId xmlns:a16="http://schemas.microsoft.com/office/drawing/2014/main" val="1291744863"/>
                  </a:ext>
                </a:extLst>
              </a:tr>
              <a:tr h="373881">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600" b="1" dirty="0">
                          <a:solidFill>
                            <a:schemeClr val="tx1"/>
                          </a:solidFill>
                          <a:latin typeface="Arial" panose="020B0604020202020204" pitchFamily="34" charset="0"/>
                          <a:ea typeface="微软雅黑" panose="020B0503020204020204" pitchFamily="34" charset="-122"/>
                        </a:rPr>
                        <a:t>不足</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000" b="0" dirty="0">
                          <a:solidFill>
                            <a:schemeClr val="tx1"/>
                          </a:solidFill>
                          <a:latin typeface="Arial" panose="020B0604020202020204" pitchFamily="34" charset="0"/>
                          <a:ea typeface="微软雅黑" panose="020B0503020204020204" pitchFamily="34" charset="-122"/>
                        </a:rPr>
                        <a:t>计划生产力低下，决策质量差</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000" b="0" dirty="0">
                          <a:solidFill>
                            <a:schemeClr val="tx1"/>
                          </a:solidFill>
                          <a:latin typeface="Arial" panose="020B0604020202020204" pitchFamily="34" charset="0"/>
                          <a:ea typeface="微软雅黑" panose="020B0503020204020204" pitchFamily="34" charset="-122"/>
                        </a:rPr>
                        <a:t>手工化，碎片化与执行还比较脱节</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000" b="0" dirty="0">
                          <a:solidFill>
                            <a:schemeClr val="tx1"/>
                          </a:solidFill>
                          <a:latin typeface="Arial" panose="020B0604020202020204" pitchFamily="34" charset="0"/>
                          <a:ea typeface="微软雅黑" panose="020B0503020204020204" pitchFamily="34" charset="-122"/>
                        </a:rPr>
                        <a:t>优化不够，内外部数据有限，</a:t>
                      </a:r>
                      <a:r>
                        <a:rPr lang="en-US" altLang="zh-CN" sz="1000" b="0" dirty="0">
                          <a:solidFill>
                            <a:schemeClr val="tx1"/>
                          </a:solidFill>
                          <a:latin typeface="Arial" panose="020B0604020202020204" pitchFamily="34" charset="0"/>
                          <a:ea typeface="微软雅黑" panose="020B0503020204020204" pitchFamily="34" charset="-122"/>
                        </a:rPr>
                        <a:t>E2E</a:t>
                      </a:r>
                      <a:r>
                        <a:rPr lang="zh-CN" altLang="en-US" sz="1000" b="0" dirty="0">
                          <a:solidFill>
                            <a:schemeClr val="tx1"/>
                          </a:solidFill>
                          <a:latin typeface="Arial" panose="020B0604020202020204" pitchFamily="34" charset="0"/>
                          <a:ea typeface="微软雅黑" panose="020B0503020204020204" pitchFamily="34" charset="-122"/>
                        </a:rPr>
                        <a:t>需要更细颗粒度。纵向需要更深协同。</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000" b="0" dirty="0">
                          <a:solidFill>
                            <a:schemeClr val="tx1"/>
                          </a:solidFill>
                          <a:latin typeface="Arial" panose="020B0604020202020204" pitchFamily="34" charset="0"/>
                          <a:ea typeface="微软雅黑" panose="020B0503020204020204" pitchFamily="34" charset="-122"/>
                        </a:rPr>
                        <a:t>研发和财务参与度需要加强，</a:t>
                      </a:r>
                      <a:endParaRPr lang="en-US" altLang="zh-CN" sz="1000" b="0" dirty="0">
                        <a:solidFill>
                          <a:schemeClr val="tx1"/>
                        </a:solidFill>
                        <a:latin typeface="Arial" panose="020B0604020202020204" pitchFamily="34" charset="0"/>
                        <a:ea typeface="微软雅黑" panose="020B0503020204020204" pitchFamily="34" charset="-122"/>
                      </a:endParaRPr>
                    </a:p>
                    <a:p>
                      <a:r>
                        <a:rPr lang="zh-CN" altLang="en-US" sz="1000" b="0" dirty="0">
                          <a:solidFill>
                            <a:schemeClr val="tx1"/>
                          </a:solidFill>
                          <a:latin typeface="Arial" panose="020B0604020202020204" pitchFamily="34" charset="0"/>
                          <a:ea typeface="微软雅黑" panose="020B0503020204020204" pitchFamily="34" charset="-122"/>
                        </a:rPr>
                        <a:t>数字孪生尚未成熟，合作伙伴数据颗粒度需要增强。</a:t>
                      </a:r>
                    </a:p>
                  </a:txBody>
                  <a:tcPr/>
                </a:tc>
                <a:tc>
                  <a:txBody>
                    <a:bodyPr/>
                    <a:lstStyle>
                      <a:lvl1pPr marL="0" algn="l" defTabSz="914400" rtl="0" eaLnBrk="1" latinLnBrk="0" hangingPunct="1">
                        <a:defRPr sz="1800" kern="1200">
                          <a:solidFill>
                            <a:schemeClr val="dk1"/>
                          </a:solidFill>
                          <a:latin typeface="Arial"/>
                          <a:ea typeface="微软雅黑"/>
                        </a:defRPr>
                      </a:lvl1pPr>
                      <a:lvl2pPr marL="457200" algn="l" defTabSz="914400" rtl="0" eaLnBrk="1" latinLnBrk="0" hangingPunct="1">
                        <a:defRPr sz="1800" kern="1200">
                          <a:solidFill>
                            <a:schemeClr val="dk1"/>
                          </a:solidFill>
                          <a:latin typeface="Arial"/>
                          <a:ea typeface="微软雅黑"/>
                        </a:defRPr>
                      </a:lvl2pPr>
                      <a:lvl3pPr marL="914400" algn="l" defTabSz="914400" rtl="0" eaLnBrk="1" latinLnBrk="0" hangingPunct="1">
                        <a:defRPr sz="1800" kern="1200">
                          <a:solidFill>
                            <a:schemeClr val="dk1"/>
                          </a:solidFill>
                          <a:latin typeface="Arial"/>
                          <a:ea typeface="微软雅黑"/>
                        </a:defRPr>
                      </a:lvl3pPr>
                      <a:lvl4pPr marL="1371600" algn="l" defTabSz="914400" rtl="0" eaLnBrk="1" latinLnBrk="0" hangingPunct="1">
                        <a:defRPr sz="1800" kern="1200">
                          <a:solidFill>
                            <a:schemeClr val="dk1"/>
                          </a:solidFill>
                          <a:latin typeface="Arial"/>
                          <a:ea typeface="微软雅黑"/>
                        </a:defRPr>
                      </a:lvl4pPr>
                      <a:lvl5pPr marL="1828800" algn="l" defTabSz="914400" rtl="0" eaLnBrk="1" latinLnBrk="0" hangingPunct="1">
                        <a:defRPr sz="1800" kern="1200">
                          <a:solidFill>
                            <a:schemeClr val="dk1"/>
                          </a:solidFill>
                          <a:latin typeface="Arial"/>
                          <a:ea typeface="微软雅黑"/>
                        </a:defRPr>
                      </a:lvl5pPr>
                      <a:lvl6pPr marL="2286000" algn="l" defTabSz="914400" rtl="0" eaLnBrk="1" latinLnBrk="0" hangingPunct="1">
                        <a:defRPr sz="1800" kern="1200">
                          <a:solidFill>
                            <a:schemeClr val="dk1"/>
                          </a:solidFill>
                          <a:latin typeface="Arial"/>
                          <a:ea typeface="微软雅黑"/>
                        </a:defRPr>
                      </a:lvl6pPr>
                      <a:lvl7pPr marL="2743200" algn="l" defTabSz="914400" rtl="0" eaLnBrk="1" latinLnBrk="0" hangingPunct="1">
                        <a:defRPr sz="1800" kern="1200">
                          <a:solidFill>
                            <a:schemeClr val="dk1"/>
                          </a:solidFill>
                          <a:latin typeface="Arial"/>
                          <a:ea typeface="微软雅黑"/>
                        </a:defRPr>
                      </a:lvl7pPr>
                      <a:lvl8pPr marL="3200400" algn="l" defTabSz="914400" rtl="0" eaLnBrk="1" latinLnBrk="0" hangingPunct="1">
                        <a:defRPr sz="1800" kern="1200">
                          <a:solidFill>
                            <a:schemeClr val="dk1"/>
                          </a:solidFill>
                          <a:latin typeface="Arial"/>
                          <a:ea typeface="微软雅黑"/>
                        </a:defRPr>
                      </a:lvl8pPr>
                      <a:lvl9pPr marL="3657600" algn="l" defTabSz="914400" rtl="0" eaLnBrk="1" latinLnBrk="0" hangingPunct="1">
                        <a:defRPr sz="1800" kern="1200">
                          <a:solidFill>
                            <a:schemeClr val="dk1"/>
                          </a:solidFill>
                          <a:latin typeface="Arial"/>
                          <a:ea typeface="微软雅黑"/>
                        </a:defRPr>
                      </a:lvl9pPr>
                    </a:lstStyle>
                    <a:p>
                      <a:r>
                        <a:rPr lang="zh-CN" altLang="en-US" sz="1000" b="1" dirty="0">
                          <a:solidFill>
                            <a:schemeClr val="tx1"/>
                          </a:solidFill>
                          <a:latin typeface="Arial" panose="020B0604020202020204" pitchFamily="34" charset="0"/>
                          <a:ea typeface="微软雅黑" panose="020B0503020204020204" pitchFamily="34" charset="-122"/>
                        </a:rPr>
                        <a:t>想象力</a:t>
                      </a:r>
                    </a:p>
                  </a:txBody>
                  <a:tcPr/>
                </a:tc>
                <a:extLst>
                  <a:ext uri="{0D108BD9-81ED-4DB2-BD59-A6C34878D82A}">
                    <a16:rowId xmlns:a16="http://schemas.microsoft.com/office/drawing/2014/main" val="1490864669"/>
                  </a:ext>
                </a:extLst>
              </a:tr>
            </a:tbl>
          </a:graphicData>
        </a:graphic>
      </p:graphicFrame>
      <p:graphicFrame>
        <p:nvGraphicFramePr>
          <p:cNvPr id="6" name="图示 5">
            <a:extLst>
              <a:ext uri="{FF2B5EF4-FFF2-40B4-BE49-F238E27FC236}">
                <a16:creationId xmlns:a16="http://schemas.microsoft.com/office/drawing/2014/main" id="{3C1F4B87-548D-2641-CCA7-72E99975518B}"/>
              </a:ext>
            </a:extLst>
          </p:cNvPr>
          <p:cNvGraphicFramePr/>
          <p:nvPr>
            <p:extLst>
              <p:ext uri="{D42A27DB-BD31-4B8C-83A1-F6EECF244321}">
                <p14:modId xmlns:p14="http://schemas.microsoft.com/office/powerpoint/2010/main" val="2190154493"/>
              </p:ext>
            </p:extLst>
          </p:nvPr>
        </p:nvGraphicFramePr>
        <p:xfrm>
          <a:off x="2637192" y="2393896"/>
          <a:ext cx="8457958" cy="240885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6726590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22D02A3-BBAA-87E1-58F6-010734FE205A}"/>
              </a:ext>
            </a:extLst>
          </p:cNvPr>
          <p:cNvSpPr>
            <a:spLocks noGrp="1"/>
          </p:cNvSpPr>
          <p:nvPr>
            <p:ph type="title"/>
          </p:nvPr>
        </p:nvSpPr>
        <p:spPr/>
        <p:txBody>
          <a:bodyPr/>
          <a:lstStyle/>
          <a:p>
            <a:r>
              <a:rPr lang="en-US" altLang="zh-CN" b="1" i="0" dirty="0">
                <a:effectLst/>
                <a:latin typeface="+mj-ea"/>
              </a:rPr>
              <a:t>Gartner</a:t>
            </a:r>
            <a:r>
              <a:rPr lang="zh-CN" altLang="en-US" b="1" i="0" dirty="0">
                <a:effectLst/>
                <a:latin typeface="+mj-ea"/>
              </a:rPr>
              <a:t>成熟度模型的重新诠释</a:t>
            </a:r>
            <a:r>
              <a:rPr lang="en-US" altLang="zh-CN" b="1" i="0" dirty="0">
                <a:effectLst/>
                <a:latin typeface="+mj-ea"/>
              </a:rPr>
              <a:t>——</a:t>
            </a:r>
            <a:r>
              <a:rPr lang="zh-CN" altLang="en-US" b="1" i="0" dirty="0">
                <a:effectLst/>
                <a:latin typeface="+mj-ea"/>
              </a:rPr>
              <a:t>第一性原理的实践路径</a:t>
            </a:r>
            <a:endParaRPr lang="zh-CN" altLang="en-US" dirty="0">
              <a:latin typeface="+mj-ea"/>
            </a:endParaRPr>
          </a:p>
        </p:txBody>
      </p:sp>
      <p:graphicFrame>
        <p:nvGraphicFramePr>
          <p:cNvPr id="3" name="表格 2">
            <a:extLst>
              <a:ext uri="{FF2B5EF4-FFF2-40B4-BE49-F238E27FC236}">
                <a16:creationId xmlns:a16="http://schemas.microsoft.com/office/drawing/2014/main" id="{FE0FDF02-6369-6BA2-966D-A1964E45BB6F}"/>
              </a:ext>
            </a:extLst>
          </p:cNvPr>
          <p:cNvGraphicFramePr>
            <a:graphicFrameLocks noGrp="1"/>
          </p:cNvGraphicFramePr>
          <p:nvPr>
            <p:extLst>
              <p:ext uri="{D42A27DB-BD31-4B8C-83A1-F6EECF244321}">
                <p14:modId xmlns:p14="http://schemas.microsoft.com/office/powerpoint/2010/main" val="3183980702"/>
              </p:ext>
            </p:extLst>
          </p:nvPr>
        </p:nvGraphicFramePr>
        <p:xfrm>
          <a:off x="1428306" y="752420"/>
          <a:ext cx="9335388" cy="5892396"/>
        </p:xfrm>
        <a:graphic>
          <a:graphicData uri="http://schemas.openxmlformats.org/drawingml/2006/table">
            <a:tbl>
              <a:tblPr/>
              <a:tblGrid>
                <a:gridCol w="2333847">
                  <a:extLst>
                    <a:ext uri="{9D8B030D-6E8A-4147-A177-3AD203B41FA5}">
                      <a16:colId xmlns:a16="http://schemas.microsoft.com/office/drawing/2014/main" val="2012943902"/>
                    </a:ext>
                  </a:extLst>
                </a:gridCol>
                <a:gridCol w="2333847">
                  <a:extLst>
                    <a:ext uri="{9D8B030D-6E8A-4147-A177-3AD203B41FA5}">
                      <a16:colId xmlns:a16="http://schemas.microsoft.com/office/drawing/2014/main" val="305507987"/>
                    </a:ext>
                  </a:extLst>
                </a:gridCol>
                <a:gridCol w="2333847">
                  <a:extLst>
                    <a:ext uri="{9D8B030D-6E8A-4147-A177-3AD203B41FA5}">
                      <a16:colId xmlns:a16="http://schemas.microsoft.com/office/drawing/2014/main" val="768521375"/>
                    </a:ext>
                  </a:extLst>
                </a:gridCol>
                <a:gridCol w="2333847">
                  <a:extLst>
                    <a:ext uri="{9D8B030D-6E8A-4147-A177-3AD203B41FA5}">
                      <a16:colId xmlns:a16="http://schemas.microsoft.com/office/drawing/2014/main" val="4250204906"/>
                    </a:ext>
                  </a:extLst>
                </a:gridCol>
              </a:tblGrid>
              <a:tr h="255177">
                <a:tc>
                  <a:txBody>
                    <a:bodyPr/>
                    <a:lstStyle/>
                    <a:p>
                      <a:pPr algn="l"/>
                      <a:r>
                        <a:rPr lang="en-US" sz="1400" b="1">
                          <a:solidFill>
                            <a:srgbClr val="FFFFFF"/>
                          </a:solidFill>
                          <a:effectLst/>
                          <a:latin typeface="+mj-ea"/>
                          <a:ea typeface="+mj-ea"/>
                        </a:rPr>
                        <a:t>Gartner</a:t>
                      </a:r>
                      <a:r>
                        <a:rPr lang="zh-CN" altLang="en-US" sz="1400" b="1">
                          <a:solidFill>
                            <a:srgbClr val="FFFFFF"/>
                          </a:solidFill>
                          <a:effectLst/>
                          <a:latin typeface="+mj-ea"/>
                          <a:ea typeface="+mj-ea"/>
                        </a:rPr>
                        <a:t>阶段</a:t>
                      </a:r>
                    </a:p>
                  </a:txBody>
                  <a:tcPr marL="21946" marR="21946" marT="10973" marB="10973" anchor="ctr">
                    <a:lnL w="4763" cap="flat" cmpd="sng" algn="ctr">
                      <a:solidFill>
                        <a:srgbClr val="1C3879"/>
                      </a:solidFill>
                      <a:prstDash val="solid"/>
                      <a:round/>
                      <a:headEnd type="none" w="med" len="med"/>
                      <a:tailEnd type="none" w="med" len="med"/>
                    </a:lnL>
                    <a:lnR w="4763" cap="flat" cmpd="sng" algn="ctr">
                      <a:solidFill>
                        <a:srgbClr val="FFFFFF"/>
                      </a:solidFill>
                      <a:prstDash val="solid"/>
                      <a:round/>
                      <a:headEnd type="none" w="med" len="med"/>
                      <a:tailEnd type="none" w="med" len="med"/>
                    </a:lnR>
                    <a:lnT w="4763" cap="flat" cmpd="sng" algn="ctr">
                      <a:solidFill>
                        <a:srgbClr val="1C3879"/>
                      </a:solidFill>
                      <a:prstDash val="solid"/>
                      <a:round/>
                      <a:headEnd type="none" w="med" len="med"/>
                      <a:tailEnd type="none" w="med" len="med"/>
                    </a:lnT>
                    <a:lnB w="4763" cap="flat" cmpd="sng" algn="ctr">
                      <a:solidFill>
                        <a:srgbClr val="1C3879"/>
                      </a:solidFill>
                      <a:prstDash val="solid"/>
                      <a:round/>
                      <a:headEnd type="none" w="med" len="med"/>
                      <a:tailEnd type="none" w="med" len="med"/>
                    </a:lnB>
                    <a:solidFill>
                      <a:srgbClr val="1C3879"/>
                    </a:solidFill>
                  </a:tcPr>
                </a:tc>
                <a:tc>
                  <a:txBody>
                    <a:bodyPr/>
                    <a:lstStyle/>
                    <a:p>
                      <a:pPr algn="l"/>
                      <a:r>
                        <a:rPr lang="zh-CN" altLang="en-US" sz="1400" b="1">
                          <a:solidFill>
                            <a:srgbClr val="FFFFFF"/>
                          </a:solidFill>
                          <a:effectLst/>
                          <a:latin typeface="+mj-ea"/>
                          <a:ea typeface="+mj-ea"/>
                        </a:rPr>
                        <a:t>核心特征（您的诠释）</a:t>
                      </a:r>
                    </a:p>
                  </a:txBody>
                  <a:tcPr marL="21946" marR="21946" marT="10973" marB="10973" anchor="ctr">
                    <a:lnL w="4763"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4763" cap="flat" cmpd="sng" algn="ctr">
                      <a:solidFill>
                        <a:srgbClr val="1C3879"/>
                      </a:solidFill>
                      <a:prstDash val="solid"/>
                      <a:round/>
                      <a:headEnd type="none" w="med" len="med"/>
                      <a:tailEnd type="none" w="med" len="med"/>
                    </a:lnT>
                    <a:lnB w="4763" cap="flat" cmpd="sng" algn="ctr">
                      <a:solidFill>
                        <a:srgbClr val="1C3879"/>
                      </a:solidFill>
                      <a:prstDash val="solid"/>
                      <a:round/>
                      <a:headEnd type="none" w="med" len="med"/>
                      <a:tailEnd type="none" w="med" len="med"/>
                    </a:lnB>
                    <a:solidFill>
                      <a:srgbClr val="1C3879"/>
                    </a:solidFill>
                  </a:tcPr>
                </a:tc>
                <a:tc>
                  <a:txBody>
                    <a:bodyPr/>
                    <a:lstStyle/>
                    <a:p>
                      <a:pPr algn="l"/>
                      <a:r>
                        <a:rPr lang="zh-CN" altLang="en-US" sz="1400" b="1">
                          <a:solidFill>
                            <a:srgbClr val="FFFFFF"/>
                          </a:solidFill>
                          <a:effectLst/>
                          <a:latin typeface="+mj-ea"/>
                          <a:ea typeface="+mj-ea"/>
                        </a:rPr>
                        <a:t>关键障碍（第一性原理视角）</a:t>
                      </a:r>
                    </a:p>
                  </a:txBody>
                  <a:tcPr marL="21946" marR="21946" marT="10973" marB="10973" anchor="ctr">
                    <a:lnL w="4763"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4763" cap="flat" cmpd="sng" algn="ctr">
                      <a:solidFill>
                        <a:srgbClr val="1C3879"/>
                      </a:solidFill>
                      <a:prstDash val="solid"/>
                      <a:round/>
                      <a:headEnd type="none" w="med" len="med"/>
                      <a:tailEnd type="none" w="med" len="med"/>
                    </a:lnT>
                    <a:lnB w="4763" cap="flat" cmpd="sng" algn="ctr">
                      <a:solidFill>
                        <a:srgbClr val="1C3879"/>
                      </a:solidFill>
                      <a:prstDash val="solid"/>
                      <a:round/>
                      <a:headEnd type="none" w="med" len="med"/>
                      <a:tailEnd type="none" w="med" len="med"/>
                    </a:lnB>
                    <a:solidFill>
                      <a:srgbClr val="1C3879"/>
                    </a:solidFill>
                  </a:tcPr>
                </a:tc>
                <a:tc>
                  <a:txBody>
                    <a:bodyPr/>
                    <a:lstStyle/>
                    <a:p>
                      <a:pPr algn="l"/>
                      <a:r>
                        <a:rPr lang="zh-CN" altLang="en-US" sz="1400" b="1">
                          <a:solidFill>
                            <a:srgbClr val="FFFFFF"/>
                          </a:solidFill>
                          <a:effectLst/>
                          <a:latin typeface="+mj-ea"/>
                          <a:ea typeface="+mj-ea"/>
                        </a:rPr>
                        <a:t>破局之道（您的实践与方法论）</a:t>
                      </a:r>
                    </a:p>
                  </a:txBody>
                  <a:tcPr marL="21946" marR="21946" marT="10973" marB="10973" anchor="ctr">
                    <a:lnL w="4763" cap="flat" cmpd="sng" algn="ctr">
                      <a:solidFill>
                        <a:srgbClr val="FFFFFF"/>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1C3879"/>
                      </a:solidFill>
                      <a:prstDash val="solid"/>
                      <a:round/>
                      <a:headEnd type="none" w="med" len="med"/>
                      <a:tailEnd type="none" w="med" len="med"/>
                    </a:lnT>
                    <a:lnB w="4763" cap="flat" cmpd="sng" algn="ctr">
                      <a:solidFill>
                        <a:srgbClr val="1C3879"/>
                      </a:solidFill>
                      <a:prstDash val="solid"/>
                      <a:round/>
                      <a:headEnd type="none" w="med" len="med"/>
                      <a:tailEnd type="none" w="med" len="med"/>
                    </a:lnB>
                    <a:solidFill>
                      <a:srgbClr val="1C3879"/>
                    </a:solidFill>
                  </a:tcPr>
                </a:tc>
                <a:extLst>
                  <a:ext uri="{0D108BD9-81ED-4DB2-BD59-A6C34878D82A}">
                    <a16:rowId xmlns:a16="http://schemas.microsoft.com/office/drawing/2014/main" val="4051561080"/>
                  </a:ext>
                </a:extLst>
              </a:tr>
              <a:tr h="785162">
                <a:tc>
                  <a:txBody>
                    <a:bodyPr/>
                    <a:lstStyle/>
                    <a:p>
                      <a:pPr algn="l"/>
                      <a:r>
                        <a:rPr lang="en-US" altLang="zh-CN" sz="1400" b="1">
                          <a:solidFill>
                            <a:srgbClr val="000000"/>
                          </a:solidFill>
                          <a:effectLst/>
                          <a:latin typeface="+mj-ea"/>
                          <a:ea typeface="+mj-ea"/>
                        </a:rPr>
                        <a:t>1. </a:t>
                      </a:r>
                      <a:r>
                        <a:rPr lang="zh-CN" altLang="en-US" sz="1400" b="1">
                          <a:solidFill>
                            <a:srgbClr val="000000"/>
                          </a:solidFill>
                          <a:effectLst/>
                          <a:latin typeface="+mj-ea"/>
                          <a:ea typeface="+mj-ea"/>
                        </a:rPr>
                        <a:t>反应式</a:t>
                      </a:r>
                    </a:p>
                  </a:txBody>
                  <a:tcPr marL="21946" marR="21946" marT="10973" marB="10973" anchor="ctr">
                    <a:lnL w="4763" cap="flat" cmpd="sng" algn="ctr">
                      <a:solidFill>
                        <a:srgbClr val="1C3879"/>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1C3879"/>
                      </a:solidFill>
                      <a:prstDash val="solid"/>
                      <a:round/>
                      <a:headEnd type="none" w="med" len="med"/>
                      <a:tailEnd type="none" w="med" len="med"/>
                    </a:lnT>
                    <a:lnB w="4763" cap="flat" cmpd="sng" algn="ctr">
                      <a:solidFill>
                        <a:srgbClr val="FFFFFF"/>
                      </a:solidFill>
                      <a:prstDash val="solid"/>
                      <a:round/>
                      <a:headEnd type="none" w="med" len="med"/>
                      <a:tailEnd type="none" w="med" len="med"/>
                    </a:lnB>
                    <a:solidFill>
                      <a:srgbClr val="C5D5ED"/>
                    </a:solidFill>
                  </a:tcPr>
                </a:tc>
                <a:tc>
                  <a:txBody>
                    <a:bodyPr/>
                    <a:lstStyle/>
                    <a:p>
                      <a:pPr algn="l"/>
                      <a:r>
                        <a:rPr lang="zh-CN" altLang="en-US" sz="1400" dirty="0">
                          <a:solidFill>
                            <a:schemeClr val="tx1"/>
                          </a:solidFill>
                          <a:effectLst/>
                          <a:latin typeface="+mj-ea"/>
                          <a:ea typeface="+mj-ea"/>
                        </a:rPr>
                        <a:t>人拉肩扛，</a:t>
                      </a:r>
                      <a:r>
                        <a:rPr lang="en-US" altLang="zh-CN" sz="1400" dirty="0">
                          <a:solidFill>
                            <a:schemeClr val="tx1"/>
                          </a:solidFill>
                          <a:effectLst/>
                          <a:latin typeface="+mj-ea"/>
                          <a:ea typeface="+mj-ea"/>
                        </a:rPr>
                        <a:t>Excel</a:t>
                      </a:r>
                      <a:r>
                        <a:rPr lang="zh-CN" altLang="en-US" sz="1400" dirty="0">
                          <a:solidFill>
                            <a:schemeClr val="tx1"/>
                          </a:solidFill>
                          <a:effectLst/>
                          <a:latin typeface="+mj-ea"/>
                          <a:ea typeface="+mj-ea"/>
                        </a:rPr>
                        <a:t>救火，数据孤岛。</a:t>
                      </a:r>
                    </a:p>
                  </a:txBody>
                  <a:tcPr marL="21946" marR="21946" marT="10973" marB="10973" anchor="ctr">
                    <a:lnL w="4763" cap="flat" cmpd="sng" algn="ctr">
                      <a:solidFill>
                        <a:srgbClr val="1C3879"/>
                      </a:solidFill>
                      <a:prstDash val="solid"/>
                      <a:round/>
                      <a:headEnd type="none" w="med" len="med"/>
                      <a:tailEnd type="none" w="med" len="med"/>
                    </a:lnL>
                    <a:lnR w="4763" cap="flat" cmpd="sng" algn="ctr">
                      <a:solidFill>
                        <a:srgbClr val="FFFFFF"/>
                      </a:solidFill>
                      <a:prstDash val="solid"/>
                      <a:round/>
                      <a:headEnd type="none" w="med" len="med"/>
                      <a:tailEnd type="none" w="med" len="med"/>
                    </a:lnR>
                    <a:lnT w="4763" cap="flat" cmpd="sng" algn="ctr">
                      <a:solidFill>
                        <a:srgbClr val="1C3879"/>
                      </a:solidFill>
                      <a:prstDash val="solid"/>
                      <a:round/>
                      <a:headEnd type="none" w="med" len="med"/>
                      <a:tailEnd type="none" w="med" len="med"/>
                    </a:lnT>
                    <a:lnB w="4763" cap="flat" cmpd="sng" algn="ctr">
                      <a:solidFill>
                        <a:srgbClr val="FFFFFF"/>
                      </a:solidFill>
                      <a:prstDash val="solid"/>
                      <a:round/>
                      <a:headEnd type="none" w="med" len="med"/>
                      <a:tailEnd type="none" w="med" len="med"/>
                    </a:lnB>
                    <a:noFill/>
                  </a:tcPr>
                </a:tc>
                <a:tc>
                  <a:txBody>
                    <a:bodyPr/>
                    <a:lstStyle/>
                    <a:p>
                      <a:pPr algn="l"/>
                      <a:r>
                        <a:rPr lang="zh-CN" altLang="en-US" sz="1400">
                          <a:solidFill>
                            <a:schemeClr val="tx1"/>
                          </a:solidFill>
                          <a:effectLst/>
                          <a:latin typeface="+mj-ea"/>
                          <a:ea typeface="+mj-ea"/>
                        </a:rPr>
                        <a:t>完全受困于</a:t>
                      </a:r>
                      <a:r>
                        <a:rPr lang="en-US" altLang="zh-CN" sz="1400">
                          <a:solidFill>
                            <a:schemeClr val="tx1"/>
                          </a:solidFill>
                          <a:effectLst/>
                          <a:latin typeface="+mj-ea"/>
                          <a:ea typeface="+mj-ea"/>
                        </a:rPr>
                        <a:t>N²</a:t>
                      </a:r>
                      <a:r>
                        <a:rPr lang="zh-CN" altLang="en-US" sz="1400">
                          <a:solidFill>
                            <a:schemeClr val="tx1"/>
                          </a:solidFill>
                          <a:effectLst/>
                          <a:latin typeface="+mj-ea"/>
                          <a:ea typeface="+mj-ea"/>
                        </a:rPr>
                        <a:t>复杂度，旧范式彻底失效。</a:t>
                      </a:r>
                    </a:p>
                  </a:txBody>
                  <a:tcPr marL="21946" marR="21946" marT="10973" marB="10973" anchor="ctr">
                    <a:lnL w="4763"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4763" cap="flat" cmpd="sng" algn="ctr">
                      <a:solidFill>
                        <a:srgbClr val="1C3879"/>
                      </a:solidFill>
                      <a:prstDash val="solid"/>
                      <a:round/>
                      <a:headEnd type="none" w="med" len="med"/>
                      <a:tailEnd type="none" w="med" len="med"/>
                    </a:lnT>
                    <a:lnB w="4763" cap="flat" cmpd="sng" algn="ctr">
                      <a:solidFill>
                        <a:srgbClr val="FFFFFF"/>
                      </a:solidFill>
                      <a:prstDash val="solid"/>
                      <a:round/>
                      <a:headEnd type="none" w="med" len="med"/>
                      <a:tailEnd type="none" w="med" len="med"/>
                    </a:lnB>
                    <a:noFill/>
                  </a:tcPr>
                </a:tc>
                <a:tc>
                  <a:txBody>
                    <a:bodyPr/>
                    <a:lstStyle/>
                    <a:p>
                      <a:pPr algn="l"/>
                      <a:r>
                        <a:rPr lang="zh-CN" altLang="en-US" sz="1400">
                          <a:solidFill>
                            <a:schemeClr val="tx1"/>
                          </a:solidFill>
                          <a:effectLst/>
                          <a:latin typeface="+mj-ea"/>
                          <a:ea typeface="+mj-ea"/>
                        </a:rPr>
                        <a:t>孕育“三位一体”能力的萌芽。通过“首问负责”价值观，在“烂摊子”中开始重构系统，积累深度</a:t>
                      </a:r>
                      <a:r>
                        <a:rPr lang="en-US" altLang="zh-CN" sz="1400">
                          <a:solidFill>
                            <a:schemeClr val="tx1"/>
                          </a:solidFill>
                          <a:effectLst/>
                          <a:latin typeface="+mj-ea"/>
                          <a:ea typeface="+mj-ea"/>
                        </a:rPr>
                        <a:t>Know-How</a:t>
                      </a:r>
                      <a:r>
                        <a:rPr lang="zh-CN" altLang="en-US" sz="1400">
                          <a:solidFill>
                            <a:schemeClr val="tx1"/>
                          </a:solidFill>
                          <a:effectLst/>
                          <a:latin typeface="+mj-ea"/>
                          <a:ea typeface="+mj-ea"/>
                        </a:rPr>
                        <a:t>。</a:t>
                      </a:r>
                    </a:p>
                  </a:txBody>
                  <a:tcPr marL="21946" marR="21946" marT="10973" marB="10973" anchor="ctr">
                    <a:lnL w="4763" cap="flat" cmpd="sng" algn="ctr">
                      <a:solidFill>
                        <a:srgbClr val="FFFFFF"/>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1C3879"/>
                      </a:solidFill>
                      <a:prstDash val="solid"/>
                      <a:round/>
                      <a:headEnd type="none" w="med" len="med"/>
                      <a:tailEnd type="none" w="med" len="med"/>
                    </a:lnT>
                    <a:lnB w="4763"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4024298717"/>
                  </a:ext>
                </a:extLst>
              </a:tr>
              <a:tr h="902936">
                <a:tc>
                  <a:txBody>
                    <a:bodyPr/>
                    <a:lstStyle/>
                    <a:p>
                      <a:pPr algn="l"/>
                      <a:r>
                        <a:rPr lang="en-US" altLang="zh-CN" sz="1400" b="1">
                          <a:solidFill>
                            <a:srgbClr val="000000"/>
                          </a:solidFill>
                          <a:effectLst/>
                          <a:latin typeface="+mj-ea"/>
                          <a:ea typeface="+mj-ea"/>
                        </a:rPr>
                        <a:t>2. </a:t>
                      </a:r>
                      <a:r>
                        <a:rPr lang="zh-CN" altLang="en-US" sz="1400" b="1">
                          <a:solidFill>
                            <a:srgbClr val="000000"/>
                          </a:solidFill>
                          <a:effectLst/>
                          <a:latin typeface="+mj-ea"/>
                          <a:ea typeface="+mj-ea"/>
                        </a:rPr>
                        <a:t>感知式</a:t>
                      </a:r>
                    </a:p>
                  </a:txBody>
                  <a:tcPr marL="21946" marR="21946" marT="10973" marB="10973" anchor="ctr">
                    <a:lnL w="4763" cap="flat" cmpd="sng" algn="ctr">
                      <a:solidFill>
                        <a:srgbClr val="1C3879"/>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FFFFFF"/>
                      </a:solidFill>
                      <a:prstDash val="solid"/>
                      <a:round/>
                      <a:headEnd type="none" w="med" len="med"/>
                      <a:tailEnd type="none" w="med" len="med"/>
                    </a:lnB>
                    <a:solidFill>
                      <a:srgbClr val="C5D5ED"/>
                    </a:solidFill>
                  </a:tcPr>
                </a:tc>
                <a:tc>
                  <a:txBody>
                    <a:bodyPr/>
                    <a:lstStyle/>
                    <a:p>
                      <a:pPr algn="l"/>
                      <a:r>
                        <a:rPr lang="zh-CN" altLang="en-US" sz="1400">
                          <a:solidFill>
                            <a:schemeClr val="tx1"/>
                          </a:solidFill>
                          <a:effectLst/>
                          <a:latin typeface="+mj-ea"/>
                          <a:ea typeface="+mj-ea"/>
                        </a:rPr>
                        <a:t>有系统但“形式上线”，数据不准，协同靠会议。</a:t>
                      </a:r>
                    </a:p>
                  </a:txBody>
                  <a:tcPr marL="21946" marR="21946" marT="10973" marB="10973" anchor="ctr">
                    <a:lnL w="4763" cap="flat" cmpd="sng" algn="ctr">
                      <a:solidFill>
                        <a:srgbClr val="1C3879"/>
                      </a:solidFill>
                      <a:prstDash val="solid"/>
                      <a:round/>
                      <a:headEnd type="none" w="med" len="med"/>
                      <a:tailEnd type="none" w="med" len="med"/>
                    </a:lnL>
                    <a:lnR w="4763" cap="flat" cmpd="sng" algn="ctr">
                      <a:solidFill>
                        <a:srgbClr val="FFFFFF"/>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FFFFFF"/>
                      </a:solidFill>
                      <a:prstDash val="solid"/>
                      <a:round/>
                      <a:headEnd type="none" w="med" len="med"/>
                      <a:tailEnd type="none" w="med" len="med"/>
                    </a:lnB>
                    <a:noFill/>
                  </a:tcPr>
                </a:tc>
                <a:tc>
                  <a:txBody>
                    <a:bodyPr/>
                    <a:lstStyle/>
                    <a:p>
                      <a:pPr algn="l"/>
                      <a:r>
                        <a:rPr lang="zh-CN" altLang="en-US" sz="1400" b="1">
                          <a:solidFill>
                            <a:schemeClr val="tx1"/>
                          </a:solidFill>
                          <a:effectLst/>
                          <a:latin typeface="+mj-ea"/>
                          <a:ea typeface="+mj-ea"/>
                        </a:rPr>
                        <a:t>“认知鸿沟”的开始</a:t>
                      </a:r>
                      <a:r>
                        <a:rPr lang="zh-CN" altLang="en-US" sz="1400">
                          <a:solidFill>
                            <a:schemeClr val="tx1"/>
                          </a:solidFill>
                          <a:effectLst/>
                          <a:latin typeface="+mj-ea"/>
                          <a:ea typeface="+mj-ea"/>
                        </a:rPr>
                        <a:t>。试图用旧范式（工具至上）解决新问题，忽视</a:t>
                      </a:r>
                      <a:r>
                        <a:rPr lang="zh-CN" altLang="en-US" sz="1400" b="1">
                          <a:solidFill>
                            <a:schemeClr val="tx1"/>
                          </a:solidFill>
                          <a:effectLst/>
                          <a:latin typeface="+mj-ea"/>
                          <a:ea typeface="+mj-ea"/>
                        </a:rPr>
                        <a:t>确定性基石</a:t>
                      </a:r>
                      <a:r>
                        <a:rPr lang="zh-CN" altLang="en-US" sz="1400">
                          <a:solidFill>
                            <a:schemeClr val="tx1"/>
                          </a:solidFill>
                          <a:effectLst/>
                          <a:latin typeface="+mj-ea"/>
                          <a:ea typeface="+mj-ea"/>
                        </a:rPr>
                        <a:t>。迷信“最佳实践”外壳，不懂其</a:t>
                      </a:r>
                      <a:r>
                        <a:rPr lang="zh-CN" altLang="en-US" sz="1400" b="1">
                          <a:solidFill>
                            <a:schemeClr val="tx1"/>
                          </a:solidFill>
                          <a:effectLst/>
                          <a:latin typeface="+mj-ea"/>
                          <a:ea typeface="+mj-ea"/>
                        </a:rPr>
                        <a:t>数据模型内核</a:t>
                      </a:r>
                      <a:r>
                        <a:rPr lang="zh-CN" altLang="en-US" sz="1400">
                          <a:solidFill>
                            <a:schemeClr val="tx1"/>
                          </a:solidFill>
                          <a:effectLst/>
                          <a:latin typeface="+mj-ea"/>
                          <a:ea typeface="+mj-ea"/>
                        </a:rPr>
                        <a:t>。</a:t>
                      </a:r>
                    </a:p>
                  </a:txBody>
                  <a:tcPr marL="21946" marR="21946" marT="10973" marB="10973" anchor="ctr">
                    <a:lnL w="4763"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FFFFFF"/>
                      </a:solidFill>
                      <a:prstDash val="solid"/>
                      <a:round/>
                      <a:headEnd type="none" w="med" len="med"/>
                      <a:tailEnd type="none" w="med" len="med"/>
                    </a:lnB>
                    <a:noFill/>
                  </a:tcPr>
                </a:tc>
                <a:tc>
                  <a:txBody>
                    <a:bodyPr/>
                    <a:lstStyle/>
                    <a:p>
                      <a:pPr algn="l"/>
                      <a:r>
                        <a:rPr lang="zh-CN" altLang="en-US" sz="1400" b="1">
                          <a:solidFill>
                            <a:schemeClr val="tx1"/>
                          </a:solidFill>
                          <a:effectLst/>
                          <a:latin typeface="+mj-ea"/>
                          <a:ea typeface="+mj-ea"/>
                        </a:rPr>
                        <a:t>“奇点爆破”</a:t>
                      </a:r>
                      <a:r>
                        <a:rPr lang="zh-CN" altLang="en-US" sz="1400">
                          <a:solidFill>
                            <a:schemeClr val="tx1"/>
                          </a:solidFill>
                          <a:effectLst/>
                          <a:latin typeface="+mj-ea"/>
                          <a:ea typeface="+mj-ea"/>
                        </a:rPr>
                        <a:t>。由总设计师选择高价值痛点（如</a:t>
                      </a:r>
                      <a:r>
                        <a:rPr lang="en-US" altLang="zh-CN" sz="1400">
                          <a:solidFill>
                            <a:schemeClr val="tx1"/>
                          </a:solidFill>
                          <a:effectLst/>
                          <a:latin typeface="+mj-ea"/>
                          <a:ea typeface="+mj-ea"/>
                        </a:rPr>
                        <a:t>CTP</a:t>
                      </a:r>
                      <a:r>
                        <a:rPr lang="zh-CN" altLang="en-US" sz="1400">
                          <a:solidFill>
                            <a:schemeClr val="tx1"/>
                          </a:solidFill>
                          <a:effectLst/>
                          <a:latin typeface="+mj-ea"/>
                          <a:ea typeface="+mj-ea"/>
                        </a:rPr>
                        <a:t>），以“由下至上”路径，用一个小胜利证明新范式的威力，产生“事实引力”。</a:t>
                      </a:r>
                    </a:p>
                  </a:txBody>
                  <a:tcPr marL="21946" marR="21946" marT="10973" marB="10973" anchor="ctr">
                    <a:lnL w="4763" cap="flat" cmpd="sng" algn="ctr">
                      <a:solidFill>
                        <a:srgbClr val="FFFFFF"/>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3048358002"/>
                  </a:ext>
                </a:extLst>
              </a:tr>
              <a:tr h="961823">
                <a:tc>
                  <a:txBody>
                    <a:bodyPr/>
                    <a:lstStyle/>
                    <a:p>
                      <a:pPr algn="l"/>
                      <a:r>
                        <a:rPr lang="en-US" altLang="zh-CN" sz="1400" b="1">
                          <a:solidFill>
                            <a:srgbClr val="000000"/>
                          </a:solidFill>
                          <a:effectLst/>
                          <a:latin typeface="+mj-ea"/>
                          <a:ea typeface="+mj-ea"/>
                        </a:rPr>
                        <a:t>3. </a:t>
                      </a:r>
                      <a:r>
                        <a:rPr lang="zh-CN" altLang="en-US" sz="1400" b="1">
                          <a:solidFill>
                            <a:srgbClr val="000000"/>
                          </a:solidFill>
                          <a:effectLst/>
                          <a:latin typeface="+mj-ea"/>
                          <a:ea typeface="+mj-ea"/>
                        </a:rPr>
                        <a:t>前瞻式</a:t>
                      </a:r>
                    </a:p>
                  </a:txBody>
                  <a:tcPr marL="21946" marR="21946" marT="10973" marB="10973" anchor="ctr">
                    <a:lnL w="4763" cap="flat" cmpd="sng" algn="ctr">
                      <a:solidFill>
                        <a:srgbClr val="1C3879"/>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FFFFFF"/>
                      </a:solidFill>
                      <a:prstDash val="solid"/>
                      <a:round/>
                      <a:headEnd type="none" w="med" len="med"/>
                      <a:tailEnd type="none" w="med" len="med"/>
                    </a:lnB>
                    <a:solidFill>
                      <a:srgbClr val="C5D5ED"/>
                    </a:solidFill>
                  </a:tcPr>
                </a:tc>
                <a:tc>
                  <a:txBody>
                    <a:bodyPr/>
                    <a:lstStyle/>
                    <a:p>
                      <a:pPr algn="l"/>
                      <a:r>
                        <a:rPr lang="zh-CN" altLang="en-US" sz="1400">
                          <a:solidFill>
                            <a:schemeClr val="tx1"/>
                          </a:solidFill>
                          <a:effectLst/>
                          <a:latin typeface="+mj-ea"/>
                          <a:ea typeface="+mj-ea"/>
                        </a:rPr>
                        <a:t>实现端到端自动化，数据驱动决策，可做可靠预测。</a:t>
                      </a:r>
                    </a:p>
                  </a:txBody>
                  <a:tcPr marL="21946" marR="21946" marT="10973" marB="10973" anchor="ctr">
                    <a:lnL w="4763" cap="flat" cmpd="sng" algn="ctr">
                      <a:solidFill>
                        <a:srgbClr val="1C3879"/>
                      </a:solidFill>
                      <a:prstDash val="solid"/>
                      <a:round/>
                      <a:headEnd type="none" w="med" len="med"/>
                      <a:tailEnd type="none" w="med" len="med"/>
                    </a:lnL>
                    <a:lnR w="4763" cap="flat" cmpd="sng" algn="ctr">
                      <a:solidFill>
                        <a:srgbClr val="FFFFFF"/>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FFFFFF"/>
                      </a:solidFill>
                      <a:prstDash val="solid"/>
                      <a:round/>
                      <a:headEnd type="none" w="med" len="med"/>
                      <a:tailEnd type="none" w="med" len="med"/>
                    </a:lnB>
                    <a:noFill/>
                  </a:tcPr>
                </a:tc>
                <a:tc>
                  <a:txBody>
                    <a:bodyPr/>
                    <a:lstStyle/>
                    <a:p>
                      <a:pPr algn="l"/>
                      <a:r>
                        <a:rPr lang="zh-CN" altLang="en-US" sz="1400" b="1">
                          <a:solidFill>
                            <a:schemeClr val="tx1"/>
                          </a:solidFill>
                          <a:effectLst/>
                          <a:latin typeface="+mj-ea"/>
                          <a:ea typeface="+mj-ea"/>
                        </a:rPr>
                        <a:t>成功跨越“认知鸿沟”</a:t>
                      </a:r>
                      <a:r>
                        <a:rPr lang="zh-CN" altLang="en-US" sz="1400">
                          <a:solidFill>
                            <a:schemeClr val="tx1"/>
                          </a:solidFill>
                          <a:effectLst/>
                          <a:latin typeface="+mj-ea"/>
                          <a:ea typeface="+mj-ea"/>
                        </a:rPr>
                        <a:t>。企业已初步构建了 </a:t>
                      </a:r>
                      <a:r>
                        <a:rPr lang="zh-CN" altLang="en-US" sz="1400" b="1">
                          <a:solidFill>
                            <a:schemeClr val="tx1"/>
                          </a:solidFill>
                          <a:effectLst/>
                          <a:latin typeface="+mj-ea"/>
                          <a:ea typeface="+mj-ea"/>
                        </a:rPr>
                        <a:t>“数字决策大脑”</a:t>
                      </a:r>
                      <a:r>
                        <a:rPr lang="zh-CN" altLang="en-US" sz="1400">
                          <a:solidFill>
                            <a:schemeClr val="tx1"/>
                          </a:solidFill>
                          <a:effectLst/>
                          <a:latin typeface="+mj-ea"/>
                          <a:ea typeface="+mj-ea"/>
                        </a:rPr>
                        <a:t> ，并在执行层夯实了</a:t>
                      </a:r>
                      <a:r>
                        <a:rPr lang="zh-CN" altLang="en-US" sz="1400" b="1">
                          <a:solidFill>
                            <a:schemeClr val="tx1"/>
                          </a:solidFill>
                          <a:effectLst/>
                          <a:latin typeface="+mj-ea"/>
                          <a:ea typeface="+mj-ea"/>
                        </a:rPr>
                        <a:t>确定性基石</a:t>
                      </a:r>
                      <a:r>
                        <a:rPr lang="zh-CN" altLang="en-US" sz="1400">
                          <a:solidFill>
                            <a:schemeClr val="tx1"/>
                          </a:solidFill>
                          <a:effectLst/>
                          <a:latin typeface="+mj-ea"/>
                          <a:ea typeface="+mj-ea"/>
                        </a:rPr>
                        <a:t>。</a:t>
                      </a:r>
                    </a:p>
                  </a:txBody>
                  <a:tcPr marL="21946" marR="21946" marT="10973" marB="10973" anchor="ctr">
                    <a:lnL w="4763"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FFFFFF"/>
                      </a:solidFill>
                      <a:prstDash val="solid"/>
                      <a:round/>
                      <a:headEnd type="none" w="med" len="med"/>
                      <a:tailEnd type="none" w="med" len="med"/>
                    </a:lnB>
                    <a:noFill/>
                  </a:tcPr>
                </a:tc>
                <a:tc>
                  <a:txBody>
                    <a:bodyPr/>
                    <a:lstStyle/>
                    <a:p>
                      <a:pPr algn="l"/>
                      <a:r>
                        <a:rPr lang="zh-CN" altLang="en-US" sz="1400" b="1">
                          <a:solidFill>
                            <a:schemeClr val="tx1"/>
                          </a:solidFill>
                          <a:effectLst/>
                          <a:latin typeface="+mj-ea"/>
                          <a:ea typeface="+mj-ea"/>
                        </a:rPr>
                        <a:t>“能力重构”</a:t>
                      </a:r>
                      <a:r>
                        <a:rPr lang="zh-CN" altLang="en-US" sz="1400">
                          <a:solidFill>
                            <a:schemeClr val="tx1"/>
                          </a:solidFill>
                          <a:effectLst/>
                          <a:latin typeface="+mj-ea"/>
                          <a:ea typeface="+mj-ea"/>
                        </a:rPr>
                        <a:t>。总设计师团队将业务知识转化为可计算的</a:t>
                      </a:r>
                      <a:r>
                        <a:rPr lang="zh-CN" altLang="en-US" sz="1400" b="1">
                          <a:solidFill>
                            <a:schemeClr val="tx1"/>
                          </a:solidFill>
                          <a:effectLst/>
                          <a:latin typeface="+mj-ea"/>
                          <a:ea typeface="+mj-ea"/>
                        </a:rPr>
                        <a:t>数据模型与算法</a:t>
                      </a:r>
                      <a:r>
                        <a:rPr lang="zh-CN" altLang="en-US" sz="1400">
                          <a:solidFill>
                            <a:schemeClr val="tx1"/>
                          </a:solidFill>
                          <a:effectLst/>
                          <a:latin typeface="+mj-ea"/>
                          <a:ea typeface="+mj-ea"/>
                        </a:rPr>
                        <a:t>，实现从</a:t>
                      </a:r>
                      <a:r>
                        <a:rPr lang="en-US" altLang="zh-CN" sz="1400">
                          <a:solidFill>
                            <a:schemeClr val="tx1"/>
                          </a:solidFill>
                          <a:effectLst/>
                          <a:latin typeface="+mj-ea"/>
                          <a:ea typeface="+mj-ea"/>
                        </a:rPr>
                        <a:t>S&amp;OE</a:t>
                      </a:r>
                      <a:r>
                        <a:rPr lang="zh-CN" altLang="en-US" sz="1400">
                          <a:solidFill>
                            <a:schemeClr val="tx1"/>
                          </a:solidFill>
                          <a:effectLst/>
                          <a:latin typeface="+mj-ea"/>
                          <a:ea typeface="+mj-ea"/>
                        </a:rPr>
                        <a:t>到</a:t>
                      </a:r>
                      <a:r>
                        <a:rPr lang="en-US" altLang="zh-CN" sz="1400">
                          <a:solidFill>
                            <a:schemeClr val="tx1"/>
                          </a:solidFill>
                          <a:effectLst/>
                          <a:latin typeface="+mj-ea"/>
                          <a:ea typeface="+mj-ea"/>
                        </a:rPr>
                        <a:t>MPS</a:t>
                      </a:r>
                      <a:r>
                        <a:rPr lang="zh-CN" altLang="en-US" sz="1400">
                          <a:solidFill>
                            <a:schemeClr val="tx1"/>
                          </a:solidFill>
                          <a:effectLst/>
                          <a:latin typeface="+mj-ea"/>
                          <a:ea typeface="+mj-ea"/>
                        </a:rPr>
                        <a:t>的闭环。领导人与总设计师形成</a:t>
                      </a:r>
                      <a:r>
                        <a:rPr lang="zh-CN" altLang="en-US" sz="1400" b="1">
                          <a:solidFill>
                            <a:schemeClr val="tx1"/>
                          </a:solidFill>
                          <a:effectLst/>
                          <a:latin typeface="+mj-ea"/>
                          <a:ea typeface="+mj-ea"/>
                        </a:rPr>
                        <a:t>共生关系</a:t>
                      </a:r>
                      <a:r>
                        <a:rPr lang="zh-CN" altLang="en-US" sz="1400">
                          <a:solidFill>
                            <a:schemeClr val="tx1"/>
                          </a:solidFill>
                          <a:effectLst/>
                          <a:latin typeface="+mj-ea"/>
                          <a:ea typeface="+mj-ea"/>
                        </a:rPr>
                        <a:t>，推动变革。</a:t>
                      </a:r>
                    </a:p>
                  </a:txBody>
                  <a:tcPr marL="21946" marR="21946" marT="10973" marB="10973" anchor="ctr">
                    <a:lnL w="4763" cap="flat" cmpd="sng" algn="ctr">
                      <a:solidFill>
                        <a:srgbClr val="FFFFFF"/>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3625943932"/>
                  </a:ext>
                </a:extLst>
              </a:tr>
              <a:tr h="844049">
                <a:tc>
                  <a:txBody>
                    <a:bodyPr/>
                    <a:lstStyle/>
                    <a:p>
                      <a:pPr algn="l"/>
                      <a:r>
                        <a:rPr lang="en-US" altLang="zh-CN" sz="1400" b="1">
                          <a:solidFill>
                            <a:srgbClr val="000000"/>
                          </a:solidFill>
                          <a:effectLst/>
                          <a:latin typeface="+mj-ea"/>
                          <a:ea typeface="+mj-ea"/>
                        </a:rPr>
                        <a:t>4. </a:t>
                      </a:r>
                      <a:r>
                        <a:rPr lang="zh-CN" altLang="en-US" sz="1400" b="1">
                          <a:solidFill>
                            <a:srgbClr val="000000"/>
                          </a:solidFill>
                          <a:effectLst/>
                          <a:latin typeface="+mj-ea"/>
                          <a:ea typeface="+mj-ea"/>
                        </a:rPr>
                        <a:t>自主</a:t>
                      </a:r>
                    </a:p>
                  </a:txBody>
                  <a:tcPr marL="21946" marR="21946" marT="10973" marB="10973" anchor="ctr">
                    <a:lnL w="4763" cap="flat" cmpd="sng" algn="ctr">
                      <a:solidFill>
                        <a:srgbClr val="1C3879"/>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FFFFFF"/>
                      </a:solidFill>
                      <a:prstDash val="solid"/>
                      <a:round/>
                      <a:headEnd type="none" w="med" len="med"/>
                      <a:tailEnd type="none" w="med" len="med"/>
                    </a:lnB>
                    <a:solidFill>
                      <a:srgbClr val="C5D5ED"/>
                    </a:solidFill>
                  </a:tcPr>
                </a:tc>
                <a:tc>
                  <a:txBody>
                    <a:bodyPr/>
                    <a:lstStyle/>
                    <a:p>
                      <a:pPr algn="l"/>
                      <a:r>
                        <a:rPr lang="zh-CN" altLang="en-US" sz="1400">
                          <a:solidFill>
                            <a:schemeClr val="tx1"/>
                          </a:solidFill>
                          <a:effectLst/>
                          <a:latin typeface="+mj-ea"/>
                          <a:ea typeface="+mj-ea"/>
                        </a:rPr>
                        <a:t>系统高度自动化，能实时响应波动，自我优化。</a:t>
                      </a:r>
                    </a:p>
                  </a:txBody>
                  <a:tcPr marL="21946" marR="21946" marT="10973" marB="10973" anchor="ctr">
                    <a:lnL w="4763" cap="flat" cmpd="sng" algn="ctr">
                      <a:solidFill>
                        <a:srgbClr val="1C3879"/>
                      </a:solidFill>
                      <a:prstDash val="solid"/>
                      <a:round/>
                      <a:headEnd type="none" w="med" len="med"/>
                      <a:tailEnd type="none" w="med" len="med"/>
                    </a:lnL>
                    <a:lnR w="4763" cap="flat" cmpd="sng" algn="ctr">
                      <a:solidFill>
                        <a:srgbClr val="FFFFFF"/>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FFFFFF"/>
                      </a:solidFill>
                      <a:prstDash val="solid"/>
                      <a:round/>
                      <a:headEnd type="none" w="med" len="med"/>
                      <a:tailEnd type="none" w="med" len="med"/>
                    </a:lnB>
                    <a:noFill/>
                  </a:tcPr>
                </a:tc>
                <a:tc>
                  <a:txBody>
                    <a:bodyPr/>
                    <a:lstStyle/>
                    <a:p>
                      <a:pPr algn="l"/>
                      <a:r>
                        <a:rPr lang="zh-CN" altLang="en-US" sz="1400" b="1">
                          <a:solidFill>
                            <a:schemeClr val="tx1"/>
                          </a:solidFill>
                          <a:effectLst/>
                          <a:latin typeface="+mj-ea"/>
                          <a:ea typeface="+mj-ea"/>
                        </a:rPr>
                        <a:t>“三位一体”能力产品化、体系化</a:t>
                      </a:r>
                      <a:r>
                        <a:rPr lang="zh-CN" altLang="en-US" sz="1400">
                          <a:solidFill>
                            <a:schemeClr val="tx1"/>
                          </a:solidFill>
                          <a:effectLst/>
                          <a:latin typeface="+mj-ea"/>
                          <a:ea typeface="+mj-ea"/>
                        </a:rPr>
                        <a:t>。数字大脑不仅能执行，还能在预设规则内自我调整。</a:t>
                      </a:r>
                    </a:p>
                  </a:txBody>
                  <a:tcPr marL="21946" marR="21946" marT="10973" marB="10973" anchor="ctr">
                    <a:lnL w="4763"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FFFFFF"/>
                      </a:solidFill>
                      <a:prstDash val="solid"/>
                      <a:round/>
                      <a:headEnd type="none" w="med" len="med"/>
                      <a:tailEnd type="none" w="med" len="med"/>
                    </a:lnB>
                    <a:noFill/>
                  </a:tcPr>
                </a:tc>
                <a:tc>
                  <a:txBody>
                    <a:bodyPr/>
                    <a:lstStyle/>
                    <a:p>
                      <a:pPr algn="l"/>
                      <a:r>
                        <a:rPr lang="zh-CN" altLang="en-US" sz="1400">
                          <a:solidFill>
                            <a:schemeClr val="tx1"/>
                          </a:solidFill>
                          <a:effectLst/>
                          <a:latin typeface="+mj-ea"/>
                          <a:ea typeface="+mj-ea"/>
                        </a:rPr>
                        <a:t>将成功经验沉淀为</a:t>
                      </a:r>
                      <a:r>
                        <a:rPr lang="zh-CN" altLang="en-US" sz="1400" b="1">
                          <a:solidFill>
                            <a:schemeClr val="tx1"/>
                          </a:solidFill>
                          <a:effectLst/>
                          <a:latin typeface="+mj-ea"/>
                          <a:ea typeface="+mj-ea"/>
                        </a:rPr>
                        <a:t>可复用的方法论和产品</a:t>
                      </a:r>
                      <a:r>
                        <a:rPr lang="zh-CN" altLang="en-US" sz="1400">
                          <a:solidFill>
                            <a:schemeClr val="tx1"/>
                          </a:solidFill>
                          <a:effectLst/>
                          <a:latin typeface="+mj-ea"/>
                          <a:ea typeface="+mj-ea"/>
                        </a:rPr>
                        <a:t>。能力开始向生态伙伴（</a:t>
                      </a:r>
                      <a:r>
                        <a:rPr lang="en-US" altLang="zh-CN" sz="1400">
                          <a:solidFill>
                            <a:schemeClr val="tx1"/>
                          </a:solidFill>
                          <a:effectLst/>
                          <a:latin typeface="+mj-ea"/>
                          <a:ea typeface="+mj-ea"/>
                        </a:rPr>
                        <a:t>ODM</a:t>
                      </a:r>
                      <a:r>
                        <a:rPr lang="zh-CN" altLang="en-US" sz="1400">
                          <a:solidFill>
                            <a:schemeClr val="tx1"/>
                          </a:solidFill>
                          <a:effectLst/>
                          <a:latin typeface="+mj-ea"/>
                          <a:ea typeface="+mj-ea"/>
                        </a:rPr>
                        <a:t>）</a:t>
                      </a:r>
                      <a:r>
                        <a:rPr lang="zh-CN" altLang="en-US" sz="1400" b="1">
                          <a:solidFill>
                            <a:schemeClr val="tx1"/>
                          </a:solidFill>
                          <a:effectLst/>
                          <a:latin typeface="+mj-ea"/>
                          <a:ea typeface="+mj-ea"/>
                        </a:rPr>
                        <a:t>“有机扩散”</a:t>
                      </a:r>
                      <a:r>
                        <a:rPr lang="zh-CN" altLang="en-US" sz="1400">
                          <a:solidFill>
                            <a:schemeClr val="tx1"/>
                          </a:solidFill>
                          <a:effectLst/>
                          <a:latin typeface="+mj-ea"/>
                          <a:ea typeface="+mj-ea"/>
                        </a:rPr>
                        <a:t>。自研系统突破，验证技术自主性。</a:t>
                      </a:r>
                    </a:p>
                  </a:txBody>
                  <a:tcPr marL="21946" marR="21946" marT="10973" marB="10973" anchor="ctr">
                    <a:lnL w="4763" cap="flat" cmpd="sng" algn="ctr">
                      <a:solidFill>
                        <a:srgbClr val="FFFFFF"/>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3696941790"/>
                  </a:ext>
                </a:extLst>
              </a:tr>
              <a:tr h="726274">
                <a:tc>
                  <a:txBody>
                    <a:bodyPr/>
                    <a:lstStyle/>
                    <a:p>
                      <a:pPr algn="l"/>
                      <a:r>
                        <a:rPr lang="en-US" altLang="zh-CN" sz="1400" b="1">
                          <a:solidFill>
                            <a:srgbClr val="000000"/>
                          </a:solidFill>
                          <a:effectLst/>
                          <a:latin typeface="+mj-ea"/>
                          <a:ea typeface="+mj-ea"/>
                        </a:rPr>
                        <a:t>5. </a:t>
                      </a:r>
                      <a:r>
                        <a:rPr lang="zh-CN" altLang="en-US" sz="1400" b="1">
                          <a:solidFill>
                            <a:srgbClr val="000000"/>
                          </a:solidFill>
                          <a:effectLst/>
                          <a:latin typeface="+mj-ea"/>
                          <a:ea typeface="+mj-ea"/>
                        </a:rPr>
                        <a:t>自主与创新</a:t>
                      </a:r>
                    </a:p>
                  </a:txBody>
                  <a:tcPr marL="21946" marR="21946" marT="10973" marB="10973" anchor="ctr">
                    <a:lnL w="4763" cap="flat" cmpd="sng" algn="ctr">
                      <a:solidFill>
                        <a:srgbClr val="1C3879"/>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1C3879"/>
                      </a:solidFill>
                      <a:prstDash val="solid"/>
                      <a:round/>
                      <a:headEnd type="none" w="med" len="med"/>
                      <a:tailEnd type="none" w="med" len="med"/>
                    </a:lnB>
                    <a:solidFill>
                      <a:srgbClr val="C5D5ED"/>
                    </a:solidFill>
                  </a:tcPr>
                </a:tc>
                <a:tc>
                  <a:txBody>
                    <a:bodyPr/>
                    <a:lstStyle/>
                    <a:p>
                      <a:pPr algn="l"/>
                      <a:r>
                        <a:rPr lang="en-US" altLang="zh-CN" sz="1400">
                          <a:solidFill>
                            <a:schemeClr val="tx1"/>
                          </a:solidFill>
                          <a:effectLst/>
                          <a:latin typeface="+mj-ea"/>
                          <a:ea typeface="+mj-ea"/>
                        </a:rPr>
                        <a:t>AI</a:t>
                      </a:r>
                      <a:r>
                        <a:rPr lang="zh-CN" altLang="en-US" sz="1400">
                          <a:solidFill>
                            <a:schemeClr val="tx1"/>
                          </a:solidFill>
                          <a:effectLst/>
                          <a:latin typeface="+mj-ea"/>
                          <a:ea typeface="+mj-ea"/>
                        </a:rPr>
                        <a:t>驱动，生态协同，模式创新。</a:t>
                      </a:r>
                    </a:p>
                  </a:txBody>
                  <a:tcPr marL="21946" marR="21946" marT="10973" marB="10973" anchor="ctr">
                    <a:lnL w="4763" cap="flat" cmpd="sng" algn="ctr">
                      <a:solidFill>
                        <a:srgbClr val="1C3879"/>
                      </a:solidFill>
                      <a:prstDash val="solid"/>
                      <a:round/>
                      <a:headEnd type="none" w="med" len="med"/>
                      <a:tailEnd type="none" w="med" len="med"/>
                    </a:lnL>
                    <a:lnR w="4763" cap="flat" cmpd="sng" algn="ctr">
                      <a:solidFill>
                        <a:srgbClr val="FFFFFF"/>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1C3879"/>
                      </a:solidFill>
                      <a:prstDash val="solid"/>
                      <a:round/>
                      <a:headEnd type="none" w="med" len="med"/>
                      <a:tailEnd type="none" w="med" len="med"/>
                    </a:lnB>
                    <a:noFill/>
                  </a:tcPr>
                </a:tc>
                <a:tc>
                  <a:txBody>
                    <a:bodyPr/>
                    <a:lstStyle/>
                    <a:p>
                      <a:pPr algn="l"/>
                      <a:r>
                        <a:rPr lang="zh-CN" altLang="en-US" sz="1400" b="1">
                          <a:solidFill>
                            <a:schemeClr val="tx1"/>
                          </a:solidFill>
                          <a:effectLst/>
                          <a:latin typeface="+mj-ea"/>
                          <a:ea typeface="+mj-ea"/>
                        </a:rPr>
                        <a:t>“总设计师”的思维成为组织的基因</a:t>
                      </a:r>
                      <a:r>
                        <a:rPr lang="zh-CN" altLang="en-US" sz="1400">
                          <a:solidFill>
                            <a:schemeClr val="tx1"/>
                          </a:solidFill>
                          <a:effectLst/>
                          <a:latin typeface="+mj-ea"/>
                          <a:ea typeface="+mj-ea"/>
                        </a:rPr>
                        <a:t>。企业能够自主定义新的游戏规则。</a:t>
                      </a:r>
                    </a:p>
                  </a:txBody>
                  <a:tcPr marL="21946" marR="21946" marT="10973" marB="10973" anchor="ctr">
                    <a:lnL w="4763"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1C3879"/>
                      </a:solidFill>
                      <a:prstDash val="solid"/>
                      <a:round/>
                      <a:headEnd type="none" w="med" len="med"/>
                      <a:tailEnd type="none" w="med" len="med"/>
                    </a:lnB>
                    <a:noFill/>
                  </a:tcPr>
                </a:tc>
                <a:tc>
                  <a:txBody>
                    <a:bodyPr/>
                    <a:lstStyle/>
                    <a:p>
                      <a:pPr algn="l"/>
                      <a:r>
                        <a:rPr lang="zh-CN" altLang="en-US" sz="1400" dirty="0">
                          <a:solidFill>
                            <a:schemeClr val="tx1"/>
                          </a:solidFill>
                          <a:effectLst/>
                          <a:latin typeface="+mj-ea"/>
                          <a:ea typeface="+mj-ea"/>
                        </a:rPr>
                        <a:t>关注</a:t>
                      </a:r>
                      <a:r>
                        <a:rPr lang="zh-CN" altLang="en-US" sz="1400" b="1" dirty="0">
                          <a:solidFill>
                            <a:schemeClr val="tx1"/>
                          </a:solidFill>
                          <a:effectLst/>
                          <a:latin typeface="+mj-ea"/>
                          <a:ea typeface="+mj-ea"/>
                        </a:rPr>
                        <a:t>能力的复制与扩展</a:t>
                      </a:r>
                      <a:r>
                        <a:rPr lang="zh-CN" altLang="en-US" sz="1400" dirty="0">
                          <a:solidFill>
                            <a:schemeClr val="tx1"/>
                          </a:solidFill>
                          <a:effectLst/>
                          <a:latin typeface="+mj-ea"/>
                          <a:ea typeface="+mj-ea"/>
                        </a:rPr>
                        <a:t>。从“制造明星”到“为组织制造明星”，推动整个中国供应链管理体系的跃迁。</a:t>
                      </a:r>
                    </a:p>
                  </a:txBody>
                  <a:tcPr marL="21946" marR="21946" marT="10973" marB="10973" anchor="ctr">
                    <a:lnL w="4763" cap="flat" cmpd="sng" algn="ctr">
                      <a:solidFill>
                        <a:srgbClr val="FFFFFF"/>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FFFFFF"/>
                      </a:solidFill>
                      <a:prstDash val="solid"/>
                      <a:round/>
                      <a:headEnd type="none" w="med" len="med"/>
                      <a:tailEnd type="none" w="med" len="med"/>
                    </a:lnT>
                    <a:lnB w="4763" cap="flat" cmpd="sng" algn="ctr">
                      <a:solidFill>
                        <a:srgbClr val="1C3879"/>
                      </a:solidFill>
                      <a:prstDash val="solid"/>
                      <a:round/>
                      <a:headEnd type="none" w="med" len="med"/>
                      <a:tailEnd type="none" w="med" len="med"/>
                    </a:lnB>
                    <a:noFill/>
                  </a:tcPr>
                </a:tc>
                <a:extLst>
                  <a:ext uri="{0D108BD9-81ED-4DB2-BD59-A6C34878D82A}">
                    <a16:rowId xmlns:a16="http://schemas.microsoft.com/office/drawing/2014/main" val="446022160"/>
                  </a:ext>
                </a:extLst>
              </a:tr>
            </a:tbl>
          </a:graphicData>
        </a:graphic>
      </p:graphicFrame>
    </p:spTree>
    <p:extLst>
      <p:ext uri="{BB962C8B-B14F-4D97-AF65-F5344CB8AC3E}">
        <p14:creationId xmlns:p14="http://schemas.microsoft.com/office/powerpoint/2010/main" val="319254321"/>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18739E6-8681-24B9-AB5A-BE6EA0321652}"/>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各维度的成熟阶段</a:t>
            </a:r>
          </a:p>
        </p:txBody>
      </p:sp>
      <p:graphicFrame>
        <p:nvGraphicFramePr>
          <p:cNvPr id="3" name="表格 2">
            <a:extLst>
              <a:ext uri="{FF2B5EF4-FFF2-40B4-BE49-F238E27FC236}">
                <a16:creationId xmlns:a16="http://schemas.microsoft.com/office/drawing/2014/main" id="{5E29529F-B10B-5698-9C76-CACBA84689BB}"/>
              </a:ext>
            </a:extLst>
          </p:cNvPr>
          <p:cNvGraphicFramePr>
            <a:graphicFrameLocks noGrp="1"/>
          </p:cNvGraphicFramePr>
          <p:nvPr>
            <p:extLst>
              <p:ext uri="{D42A27DB-BD31-4B8C-83A1-F6EECF244321}">
                <p14:modId xmlns:p14="http://schemas.microsoft.com/office/powerpoint/2010/main" val="3334675731"/>
              </p:ext>
            </p:extLst>
          </p:nvPr>
        </p:nvGraphicFramePr>
        <p:xfrm>
          <a:off x="964623" y="877082"/>
          <a:ext cx="10858499" cy="5564648"/>
        </p:xfrm>
        <a:graphic>
          <a:graphicData uri="http://schemas.openxmlformats.org/drawingml/2006/table">
            <a:tbl>
              <a:tblPr firstRow="1" firstCol="1" bandRow="1">
                <a:tableStyleId>{69012ECD-51FC-41F1-AA8D-1B2483CD663E}</a:tableStyleId>
              </a:tblPr>
              <a:tblGrid>
                <a:gridCol w="1116594">
                  <a:extLst>
                    <a:ext uri="{9D8B030D-6E8A-4147-A177-3AD203B41FA5}">
                      <a16:colId xmlns:a16="http://schemas.microsoft.com/office/drawing/2014/main" val="3937052237"/>
                    </a:ext>
                  </a:extLst>
                </a:gridCol>
                <a:gridCol w="2158559">
                  <a:extLst>
                    <a:ext uri="{9D8B030D-6E8A-4147-A177-3AD203B41FA5}">
                      <a16:colId xmlns:a16="http://schemas.microsoft.com/office/drawing/2014/main" val="1311512730"/>
                    </a:ext>
                  </a:extLst>
                </a:gridCol>
                <a:gridCol w="2269177">
                  <a:extLst>
                    <a:ext uri="{9D8B030D-6E8A-4147-A177-3AD203B41FA5}">
                      <a16:colId xmlns:a16="http://schemas.microsoft.com/office/drawing/2014/main" val="3455150051"/>
                    </a:ext>
                  </a:extLst>
                </a:gridCol>
                <a:gridCol w="1749606">
                  <a:extLst>
                    <a:ext uri="{9D8B030D-6E8A-4147-A177-3AD203B41FA5}">
                      <a16:colId xmlns:a16="http://schemas.microsoft.com/office/drawing/2014/main" val="199335201"/>
                    </a:ext>
                  </a:extLst>
                </a:gridCol>
                <a:gridCol w="1933034">
                  <a:extLst>
                    <a:ext uri="{9D8B030D-6E8A-4147-A177-3AD203B41FA5}">
                      <a16:colId xmlns:a16="http://schemas.microsoft.com/office/drawing/2014/main" val="2147611928"/>
                    </a:ext>
                  </a:extLst>
                </a:gridCol>
                <a:gridCol w="1631529">
                  <a:extLst>
                    <a:ext uri="{9D8B030D-6E8A-4147-A177-3AD203B41FA5}">
                      <a16:colId xmlns:a16="http://schemas.microsoft.com/office/drawing/2014/main" val="1402529724"/>
                    </a:ext>
                  </a:extLst>
                </a:gridCol>
              </a:tblGrid>
              <a:tr h="305220">
                <a:tc rowSpan="2">
                  <a:txBody>
                    <a:bodyPr/>
                    <a:lstStyle/>
                    <a:p>
                      <a:pPr algn="l"/>
                      <a:r>
                        <a:rPr lang="zh-CN" altLang="en-US" sz="1050" dirty="0">
                          <a:solidFill>
                            <a:schemeClr val="tx1"/>
                          </a:solidFill>
                          <a:latin typeface="Arial" panose="020B0604020202020204" pitchFamily="34" charset="0"/>
                          <a:ea typeface="微软雅黑" panose="020B0503020204020204" pitchFamily="34" charset="-122"/>
                        </a:rPr>
                        <a:t>维度</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2">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模拟规划（</a:t>
                      </a:r>
                      <a:r>
                        <a:rPr lang="en-US" altLang="zh-CN" sz="1050" dirty="0">
                          <a:solidFill>
                            <a:schemeClr val="tx1"/>
                          </a:solidFill>
                          <a:latin typeface="Arial" panose="020B0604020202020204" pitchFamily="34" charset="0"/>
                          <a:ea typeface="微软雅黑" panose="020B0503020204020204" pitchFamily="34" charset="-122"/>
                        </a:rPr>
                        <a:t>Analog Planning</a:t>
                      </a:r>
                      <a:r>
                        <a:rPr lang="zh-CN" altLang="en-US" sz="1050" dirty="0">
                          <a:solidFill>
                            <a:schemeClr val="tx1"/>
                          </a:solidFill>
                          <a:latin typeface="Arial" panose="020B0604020202020204" pitchFamily="34" charset="0"/>
                          <a:ea typeface="微软雅黑" panose="020B0503020204020204" pitchFamily="34" charset="-122"/>
                        </a:rPr>
                        <a: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algn="ctr"/>
                      <a:endParaRPr lang="zh-CN" altLang="en-US" sz="1050" dirty="0"/>
                    </a:p>
                  </a:txBody>
                  <a:tcPr/>
                </a:tc>
                <a:tc gridSpan="3">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数字规划（</a:t>
                      </a:r>
                      <a:r>
                        <a:rPr lang="en-US" altLang="zh-CN" sz="1050" dirty="0">
                          <a:solidFill>
                            <a:schemeClr val="tx1"/>
                          </a:solidFill>
                          <a:latin typeface="Arial" panose="020B0604020202020204" pitchFamily="34" charset="0"/>
                          <a:ea typeface="微软雅黑" panose="020B0503020204020204" pitchFamily="34" charset="-122"/>
                        </a:rPr>
                        <a:t>Digital Planning</a:t>
                      </a:r>
                      <a:r>
                        <a:rPr lang="zh-CN" altLang="en-US" sz="1050" dirty="0">
                          <a:solidFill>
                            <a:schemeClr val="tx1"/>
                          </a:solidFill>
                          <a:latin typeface="Arial" panose="020B0604020202020204" pitchFamily="34" charset="0"/>
                          <a:ea typeface="微软雅黑" panose="020B0503020204020204" pitchFamily="34" charset="-122"/>
                        </a:rPr>
                        <a: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algn="ctr"/>
                      <a:endParaRPr lang="zh-CN" altLang="en-US" sz="1050" dirty="0"/>
                    </a:p>
                  </a:txBody>
                  <a:tcPr/>
                </a:tc>
                <a:tc hMerge="1">
                  <a:txBody>
                    <a:bodyPr/>
                    <a:lstStyle/>
                    <a:p>
                      <a:pPr algn="ctr"/>
                      <a:endParaRPr lang="zh-CN" altLang="en-US" sz="1050" dirty="0"/>
                    </a:p>
                  </a:txBody>
                  <a:tcPr/>
                </a:tc>
                <a:extLst>
                  <a:ext uri="{0D108BD9-81ED-4DB2-BD59-A6C34878D82A}">
                    <a16:rowId xmlns:a16="http://schemas.microsoft.com/office/drawing/2014/main" val="832896533"/>
                  </a:ext>
                </a:extLst>
              </a:tr>
              <a:tr h="305220">
                <a:tc vMerge="1">
                  <a:txBody>
                    <a:bodyPr/>
                    <a:lstStyle/>
                    <a:p>
                      <a:endParaRPr dirty="0"/>
                    </a:p>
                  </a:txBody>
                  <a:tcPr/>
                </a:tc>
                <a:tc>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第一阶段</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第二阶段</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第三阶段</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第四阶段</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第五阶段</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7854341"/>
                  </a:ext>
                </a:extLst>
              </a:tr>
              <a:tr h="1522219">
                <a:tc>
                  <a:txBody>
                    <a:bodyPr/>
                    <a:lstStyle/>
                    <a:p>
                      <a:r>
                        <a:rPr lang="zh-CN" altLang="en-US" sz="1050" dirty="0">
                          <a:solidFill>
                            <a:schemeClr val="tx1"/>
                          </a:solidFill>
                          <a:latin typeface="Arial" panose="020B0604020202020204" pitchFamily="34" charset="0"/>
                          <a:ea typeface="微软雅黑" panose="020B0503020204020204" pitchFamily="34" charset="-122"/>
                        </a:rPr>
                        <a:t>横向协同</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900" b="0" kern="1200" dirty="0">
                          <a:solidFill>
                            <a:schemeClr val="tx1"/>
                          </a:solidFill>
                          <a:effectLst/>
                          <a:latin typeface="Arial" panose="020B0604020202020204" pitchFamily="34" charset="0"/>
                          <a:ea typeface="微软雅黑" panose="020B0503020204020204" pitchFamily="34" charset="-122"/>
                        </a:rPr>
                        <a:t>计划是在</a:t>
                      </a:r>
                      <a:r>
                        <a:rPr lang="zh-CN" altLang="en-US" sz="900" b="1" kern="1200" dirty="0">
                          <a:solidFill>
                            <a:schemeClr val="tx1"/>
                          </a:solidFill>
                          <a:effectLst/>
                          <a:latin typeface="Arial" panose="020B0604020202020204" pitchFamily="34" charset="0"/>
                          <a:ea typeface="微软雅黑" panose="020B0503020204020204" pitchFamily="34" charset="-122"/>
                        </a:rPr>
                        <a:t>部门和</a:t>
                      </a:r>
                      <a:r>
                        <a:rPr lang="en-US" altLang="zh-CN" sz="900" b="1" kern="1200" dirty="0">
                          <a:solidFill>
                            <a:schemeClr val="tx1"/>
                          </a:solidFill>
                          <a:effectLst/>
                          <a:latin typeface="Arial" panose="020B0604020202020204" pitchFamily="34" charset="0"/>
                          <a:ea typeface="微软雅黑" panose="020B0503020204020204" pitchFamily="34" charset="-122"/>
                        </a:rPr>
                        <a:t>/</a:t>
                      </a:r>
                      <a:r>
                        <a:rPr lang="zh-CN" altLang="en-US" sz="900" b="1" kern="1200" dirty="0">
                          <a:solidFill>
                            <a:schemeClr val="tx1"/>
                          </a:solidFill>
                          <a:effectLst/>
                          <a:latin typeface="Arial" panose="020B0604020202020204" pitchFamily="34" charset="0"/>
                          <a:ea typeface="微软雅黑" panose="020B0503020204020204" pitchFamily="34" charset="-122"/>
                        </a:rPr>
                        <a:t>或</a:t>
                      </a:r>
                      <a:r>
                        <a:rPr lang="en-US" altLang="zh-CN" sz="900" b="1" kern="1200" dirty="0">
                          <a:solidFill>
                            <a:schemeClr val="tx1"/>
                          </a:solidFill>
                          <a:effectLst/>
                          <a:latin typeface="Arial" panose="020B0604020202020204" pitchFamily="34" charset="0"/>
                          <a:ea typeface="微软雅黑" panose="020B0503020204020204" pitchFamily="34" charset="-122"/>
                        </a:rPr>
                        <a:t>Site</a:t>
                      </a:r>
                      <a:r>
                        <a:rPr lang="zh-CN" altLang="en-US" sz="900" b="0" kern="1200" dirty="0">
                          <a:solidFill>
                            <a:schemeClr val="tx1"/>
                          </a:solidFill>
                          <a:effectLst/>
                          <a:latin typeface="Arial" panose="020B0604020202020204" pitchFamily="34" charset="0"/>
                          <a:ea typeface="微软雅黑" panose="020B0503020204020204" pitchFamily="34" charset="-122"/>
                        </a:rPr>
                        <a:t>层面独立制定的，因此，这些不同的计划之间没有</a:t>
                      </a:r>
                      <a:r>
                        <a:rPr lang="zh-CN" altLang="en-US" sz="900" b="1" kern="1200" dirty="0">
                          <a:solidFill>
                            <a:schemeClr val="tx1"/>
                          </a:solidFill>
                          <a:effectLst/>
                          <a:latin typeface="Arial" panose="020B0604020202020204" pitchFamily="34" charset="0"/>
                          <a:ea typeface="微软雅黑" panose="020B0503020204020204" pitchFamily="34" charset="-122"/>
                        </a:rPr>
                        <a:t>水平对齐</a:t>
                      </a:r>
                      <a:r>
                        <a:rPr lang="zh-CN" altLang="en-US" sz="900" b="0" kern="1200" dirty="0">
                          <a:solidFill>
                            <a:schemeClr val="tx1"/>
                          </a:solidFill>
                          <a:effectLst/>
                          <a:latin typeface="Arial" panose="020B0604020202020204" pitchFamily="34" charset="0"/>
                          <a:ea typeface="微软雅黑" panose="020B0503020204020204" pitchFamily="34" charset="-122"/>
                        </a:rPr>
                        <a:t>。部门计划往往</a:t>
                      </a:r>
                      <a:r>
                        <a:rPr lang="zh-CN" altLang="en-US" sz="900" b="1" kern="1200" dirty="0">
                          <a:solidFill>
                            <a:schemeClr val="tx1"/>
                          </a:solidFill>
                          <a:effectLst/>
                          <a:latin typeface="Arial" panose="020B0604020202020204" pitchFamily="34" charset="0"/>
                          <a:ea typeface="微软雅黑" panose="020B0503020204020204" pitchFamily="34" charset="-122"/>
                        </a:rPr>
                        <a:t>主要在战术层面</a:t>
                      </a:r>
                      <a:r>
                        <a:rPr lang="zh-CN" altLang="en-US" sz="900" b="0" kern="1200" dirty="0">
                          <a:solidFill>
                            <a:schemeClr val="tx1"/>
                          </a:solidFill>
                          <a:effectLst/>
                          <a:latin typeface="Arial" panose="020B0604020202020204" pitchFamily="34" charset="0"/>
                          <a:ea typeface="微软雅黑" panose="020B0503020204020204" pitchFamily="34" charset="-122"/>
                        </a:rPr>
                        <a:t>制定，导致高度的灭火措施。企业试图通过多种计划来运营其供应链。</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900" b="0" dirty="0">
                          <a:solidFill>
                            <a:schemeClr val="tx1"/>
                          </a:solidFill>
                          <a:effectLst/>
                          <a:latin typeface="Arial" panose="020B0604020202020204" pitchFamily="34" charset="0"/>
                          <a:ea typeface="微软雅黑" panose="020B0503020204020204" pitchFamily="34" charset="-122"/>
                        </a:rPr>
                        <a:t>通常在</a:t>
                      </a:r>
                      <a:r>
                        <a:rPr lang="zh-CN" altLang="en-US" sz="900" b="1" dirty="0">
                          <a:solidFill>
                            <a:schemeClr val="tx1"/>
                          </a:solidFill>
                          <a:effectLst/>
                          <a:latin typeface="Arial" panose="020B0604020202020204" pitchFamily="34" charset="0"/>
                          <a:ea typeface="微软雅黑" panose="020B0503020204020204" pitchFamily="34" charset="-122"/>
                        </a:rPr>
                        <a:t>不同的计划解决方案</a:t>
                      </a:r>
                      <a:r>
                        <a:rPr lang="zh-CN" altLang="en-US" sz="900" b="0" dirty="0">
                          <a:solidFill>
                            <a:schemeClr val="tx1"/>
                          </a:solidFill>
                          <a:effectLst/>
                          <a:latin typeface="Arial" panose="020B0604020202020204" pitchFamily="34" charset="0"/>
                          <a:ea typeface="微软雅黑" panose="020B0503020204020204" pitchFamily="34" charset="-122"/>
                        </a:rPr>
                        <a:t>中，在</a:t>
                      </a:r>
                      <a:r>
                        <a:rPr lang="zh-CN" altLang="en-US" sz="900" b="1" dirty="0">
                          <a:solidFill>
                            <a:schemeClr val="tx1"/>
                          </a:solidFill>
                          <a:effectLst/>
                          <a:latin typeface="Arial" panose="020B0604020202020204" pitchFamily="34" charset="0"/>
                          <a:ea typeface="微软雅黑" panose="020B0503020204020204" pitchFamily="34" charset="-122"/>
                        </a:rPr>
                        <a:t>功能级别</a:t>
                      </a:r>
                      <a:r>
                        <a:rPr lang="zh-CN" altLang="en-US" sz="900" b="0" dirty="0">
                          <a:solidFill>
                            <a:schemeClr val="tx1"/>
                          </a:solidFill>
                          <a:effectLst/>
                          <a:latin typeface="Arial" panose="020B0604020202020204" pitchFamily="34" charset="0"/>
                          <a:ea typeface="微软雅黑" panose="020B0503020204020204" pitchFamily="34" charset="-122"/>
                        </a:rPr>
                        <a:t>（例如，需求和</a:t>
                      </a:r>
                      <a:r>
                        <a:rPr lang="en-US" altLang="zh-CN" sz="900" b="0" dirty="0">
                          <a:solidFill>
                            <a:schemeClr val="tx1"/>
                          </a:solidFill>
                          <a:effectLst/>
                          <a:latin typeface="Arial" panose="020B0604020202020204" pitchFamily="34" charset="0"/>
                          <a:ea typeface="微软雅黑" panose="020B0503020204020204" pitchFamily="34" charset="-122"/>
                        </a:rPr>
                        <a:t>/</a:t>
                      </a:r>
                      <a:r>
                        <a:rPr lang="zh-CN" altLang="en-US" sz="900" b="0" dirty="0">
                          <a:solidFill>
                            <a:schemeClr val="tx1"/>
                          </a:solidFill>
                          <a:effectLst/>
                          <a:latin typeface="Arial" panose="020B0604020202020204" pitchFamily="34" charset="0"/>
                          <a:ea typeface="微软雅黑" panose="020B0503020204020204" pitchFamily="34" charset="-122"/>
                        </a:rPr>
                        <a:t>或供应）独立制定计划。由于这些计划是独立创建的，因此它们之间</a:t>
                      </a:r>
                      <a:r>
                        <a:rPr lang="zh-CN" altLang="en-US" sz="900" b="1" dirty="0">
                          <a:solidFill>
                            <a:schemeClr val="tx1"/>
                          </a:solidFill>
                          <a:effectLst/>
                          <a:latin typeface="Arial" panose="020B0604020202020204" pitchFamily="34" charset="0"/>
                          <a:ea typeface="微软雅黑" panose="020B0503020204020204" pitchFamily="34" charset="-122"/>
                        </a:rPr>
                        <a:t>几乎没有水平对齐</a:t>
                      </a:r>
                      <a:r>
                        <a:rPr lang="zh-CN" altLang="en-US" sz="900" b="0" dirty="0">
                          <a:solidFill>
                            <a:schemeClr val="tx1"/>
                          </a:solidFill>
                          <a:effectLst/>
                          <a:latin typeface="Arial" panose="020B0604020202020204" pitchFamily="34" charset="0"/>
                          <a:ea typeface="微软雅黑" panose="020B0503020204020204" pitchFamily="34" charset="-122"/>
                        </a:rPr>
                        <a:t>。在计划连接的地方，通常通过一个不常见的接口，存在几个功能之间的计划，并且仍然需要大量的消防工作。功能计划本身将倾向于战术（中期）性质，但同时创建一些操作（短期）计划。</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a:r>
                        <a:rPr lang="zh-CN" altLang="en-US" sz="900" b="0" dirty="0">
                          <a:solidFill>
                            <a:schemeClr val="tx1"/>
                          </a:solidFill>
                          <a:effectLst/>
                          <a:latin typeface="Arial" panose="020B0604020202020204" pitchFamily="34" charset="0"/>
                          <a:ea typeface="微软雅黑" panose="020B0503020204020204" pitchFamily="34" charset="-122"/>
                        </a:rPr>
                        <a:t>以企业</a:t>
                      </a:r>
                      <a:r>
                        <a:rPr lang="zh-CN" altLang="en-US" sz="900" b="1" dirty="0">
                          <a:solidFill>
                            <a:schemeClr val="tx1"/>
                          </a:solidFill>
                          <a:effectLst/>
                          <a:latin typeface="Arial" panose="020B0604020202020204" pitchFamily="34" charset="0"/>
                          <a:ea typeface="微软雅黑" panose="020B0503020204020204" pitchFamily="34" charset="-122"/>
                        </a:rPr>
                        <a:t>端到端</a:t>
                      </a:r>
                      <a:r>
                        <a:rPr lang="zh-CN" altLang="en-US" sz="900" b="0" dirty="0">
                          <a:solidFill>
                            <a:schemeClr val="tx1"/>
                          </a:solidFill>
                          <a:effectLst/>
                          <a:latin typeface="Arial" panose="020B0604020202020204" pitchFamily="34" charset="0"/>
                          <a:ea typeface="微软雅黑" panose="020B0503020204020204" pitchFamily="34" charset="-122"/>
                        </a:rPr>
                        <a:t>一体化的方式为初级资源制定</a:t>
                      </a:r>
                      <a:r>
                        <a:rPr lang="zh-CN" altLang="en-US" sz="900" b="1" dirty="0">
                          <a:solidFill>
                            <a:schemeClr val="tx1"/>
                          </a:solidFill>
                          <a:effectLst/>
                          <a:latin typeface="Arial" panose="020B0604020202020204" pitchFamily="34" charset="0"/>
                          <a:ea typeface="微软雅黑" panose="020B0503020204020204" pitchFamily="34" charset="-122"/>
                        </a:rPr>
                        <a:t>初级</a:t>
                      </a:r>
                      <a:r>
                        <a:rPr lang="zh-CN" altLang="en-US" sz="900" b="0" dirty="0">
                          <a:solidFill>
                            <a:schemeClr val="tx1"/>
                          </a:solidFill>
                          <a:effectLst/>
                          <a:latin typeface="Arial" panose="020B0604020202020204" pitchFamily="34" charset="0"/>
                          <a:ea typeface="微软雅黑" panose="020B0503020204020204" pitchFamily="34" charset="-122"/>
                        </a:rPr>
                        <a:t>供应链计划（需求、库存和供应）</a:t>
                      </a:r>
                      <a:br>
                        <a:rPr lang="zh-CN" altLang="en-US" sz="900" dirty="0">
                          <a:solidFill>
                            <a:schemeClr val="tx1"/>
                          </a:solidFill>
                          <a:latin typeface="Arial" panose="020B0604020202020204" pitchFamily="34" charset="0"/>
                          <a:ea typeface="微软雅黑" panose="020B0503020204020204" pitchFamily="34" charset="-122"/>
                        </a:rPr>
                      </a:br>
                      <a:r>
                        <a:rPr lang="zh-CN" altLang="en-US" sz="900" b="0" dirty="0">
                          <a:solidFill>
                            <a:schemeClr val="tx1"/>
                          </a:solidFill>
                          <a:effectLst/>
                          <a:latin typeface="Arial" panose="020B0604020202020204" pitchFamily="34" charset="0"/>
                          <a:ea typeface="微软雅黑" panose="020B0503020204020204" pitchFamily="34" charset="-122"/>
                        </a:rPr>
                        <a:t>（例如，材料和机器）。将会出现一个单一的计划系统来计划每一个项目。端到端供应链。这些</a:t>
                      </a:r>
                      <a:r>
                        <a:rPr lang="zh-CN" altLang="en-US" sz="900" b="1" dirty="0">
                          <a:solidFill>
                            <a:schemeClr val="tx1"/>
                          </a:solidFill>
                          <a:effectLst/>
                          <a:latin typeface="Arial" panose="020B0604020202020204" pitchFamily="34" charset="0"/>
                          <a:ea typeface="微软雅黑" panose="020B0503020204020204" pitchFamily="34" charset="-122"/>
                        </a:rPr>
                        <a:t>供应链计划是在操作和战术层</a:t>
                      </a:r>
                      <a:r>
                        <a:rPr lang="zh-CN" altLang="en-US" sz="900" b="0" dirty="0">
                          <a:solidFill>
                            <a:schemeClr val="tx1"/>
                          </a:solidFill>
                          <a:effectLst/>
                          <a:latin typeface="Arial" panose="020B0604020202020204" pitchFamily="34" charset="0"/>
                          <a:ea typeface="微软雅黑" panose="020B0503020204020204" pitchFamily="34" charset="-122"/>
                        </a:rPr>
                        <a:t>面制定的，尽管在计划系统之外仍有</a:t>
                      </a:r>
                      <a:r>
                        <a:rPr lang="zh-CN" altLang="en-US" sz="900" b="1" dirty="0">
                          <a:solidFill>
                            <a:schemeClr val="tx1"/>
                          </a:solidFill>
                          <a:effectLst/>
                          <a:latin typeface="Arial" panose="020B0604020202020204" pitchFamily="34" charset="0"/>
                          <a:ea typeface="微软雅黑" panose="020B0503020204020204" pitchFamily="34" charset="-122"/>
                        </a:rPr>
                        <a:t>重要的灭火措施</a:t>
                      </a:r>
                      <a:r>
                        <a:rPr lang="zh-CN" altLang="en-US" sz="900" b="0" dirty="0">
                          <a:solidFill>
                            <a:schemeClr val="tx1"/>
                          </a:solidFill>
                          <a:effectLst/>
                          <a:latin typeface="Arial" panose="020B0604020202020204" pitchFamily="34" charset="0"/>
                          <a:ea typeface="微软雅黑" panose="020B0503020204020204" pitchFamily="34" charset="-122"/>
                        </a:rPr>
                        <a:t>。</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900" b="0" dirty="0">
                          <a:solidFill>
                            <a:schemeClr val="tx1"/>
                          </a:solidFill>
                          <a:effectLst/>
                          <a:latin typeface="Arial" panose="020B0604020202020204" pitchFamily="34" charset="0"/>
                          <a:ea typeface="微软雅黑" panose="020B0503020204020204" pitchFamily="34" charset="-122"/>
                        </a:rPr>
                        <a:t>在</a:t>
                      </a:r>
                      <a:r>
                        <a:rPr lang="zh-CN" altLang="en-US" sz="900" b="1" dirty="0">
                          <a:solidFill>
                            <a:schemeClr val="tx1"/>
                          </a:solidFill>
                          <a:effectLst/>
                          <a:latin typeface="Arial" panose="020B0604020202020204" pitchFamily="34" charset="0"/>
                          <a:ea typeface="微软雅黑" panose="020B0503020204020204" pitchFamily="34" charset="-122"/>
                        </a:rPr>
                        <a:t>多企业端到端</a:t>
                      </a:r>
                      <a:r>
                        <a:rPr lang="zh-CN" altLang="en-US" sz="900" b="0" dirty="0">
                          <a:solidFill>
                            <a:schemeClr val="tx1"/>
                          </a:solidFill>
                          <a:effectLst/>
                          <a:latin typeface="Arial" panose="020B0604020202020204" pitchFamily="34" charset="0"/>
                          <a:ea typeface="微软雅黑" panose="020B0503020204020204" pitchFamily="34" charset="-122"/>
                        </a:rPr>
                        <a:t>水平上，对</a:t>
                      </a:r>
                      <a:r>
                        <a:rPr lang="zh-CN" altLang="en-US" sz="900" b="1" dirty="0">
                          <a:solidFill>
                            <a:schemeClr val="tx1"/>
                          </a:solidFill>
                          <a:effectLst/>
                          <a:latin typeface="Arial" panose="020B0604020202020204" pitchFamily="34" charset="0"/>
                          <a:ea typeface="微软雅黑" panose="020B0503020204020204" pitchFamily="34" charset="-122"/>
                        </a:rPr>
                        <a:t>主要资源</a:t>
                      </a:r>
                      <a:r>
                        <a:rPr lang="zh-CN" altLang="en-US" sz="900" b="0" dirty="0">
                          <a:solidFill>
                            <a:schemeClr val="tx1"/>
                          </a:solidFill>
                          <a:effectLst/>
                          <a:latin typeface="Arial" panose="020B0604020202020204" pitchFamily="34" charset="0"/>
                          <a:ea typeface="微软雅黑" panose="020B0503020204020204" pitchFamily="34" charset="-122"/>
                        </a:rPr>
                        <a:t>（材料和机器）和一些（但不是全部）次要资源（如供应商能力、运输、人力资源或财务）独立制定计划。</a:t>
                      </a:r>
                      <a:r>
                        <a:rPr lang="zh-CN" altLang="en-US" sz="900" b="1" dirty="0">
                          <a:solidFill>
                            <a:schemeClr val="tx1"/>
                          </a:solidFill>
                          <a:effectLst/>
                          <a:latin typeface="Arial" panose="020B0604020202020204" pitchFamily="34" charset="0"/>
                          <a:ea typeface="微软雅黑" panose="020B0503020204020204" pitchFamily="34" charset="-122"/>
                        </a:rPr>
                        <a:t>供应链计划是在战略、战术和操作层面上横向制定的</a:t>
                      </a:r>
                      <a:r>
                        <a:rPr lang="zh-CN" altLang="en-US" sz="900" b="0" dirty="0">
                          <a:solidFill>
                            <a:schemeClr val="tx1"/>
                          </a:solidFill>
                          <a:effectLst/>
                          <a:latin typeface="Arial" panose="020B0604020202020204" pitchFamily="34" charset="0"/>
                          <a:ea typeface="微软雅黑" panose="020B0503020204020204" pitchFamily="34" charset="-122"/>
                        </a:rPr>
                        <a:t>。业务计划层（</a:t>
                      </a:r>
                      <a:r>
                        <a:rPr lang="zh-CN" altLang="en-US" sz="900" b="1" dirty="0">
                          <a:solidFill>
                            <a:schemeClr val="tx1"/>
                          </a:solidFill>
                          <a:effectLst/>
                          <a:latin typeface="Arial" panose="020B0604020202020204" pitchFamily="34" charset="0"/>
                          <a:ea typeface="微软雅黑" panose="020B0503020204020204" pitchFamily="34" charset="-122"/>
                        </a:rPr>
                        <a:t>响应计划</a:t>
                      </a:r>
                      <a:r>
                        <a:rPr lang="zh-CN" altLang="en-US" sz="900" b="0" dirty="0">
                          <a:solidFill>
                            <a:schemeClr val="tx1"/>
                          </a:solidFill>
                          <a:effectLst/>
                          <a:latin typeface="Arial" panose="020B0604020202020204" pitchFamily="34" charset="0"/>
                          <a:ea typeface="微软雅黑" panose="020B0503020204020204" pitchFamily="34" charset="-122"/>
                        </a:rPr>
                        <a:t>）得到了</a:t>
                      </a:r>
                      <a:r>
                        <a:rPr lang="zh-CN" altLang="en-US" sz="900" b="1" dirty="0">
                          <a:solidFill>
                            <a:schemeClr val="tx1"/>
                          </a:solidFill>
                          <a:effectLst/>
                          <a:latin typeface="Arial" panose="020B0604020202020204" pitchFamily="34" charset="0"/>
                          <a:ea typeface="微软雅黑" panose="020B0503020204020204" pitchFamily="34" charset="-122"/>
                        </a:rPr>
                        <a:t>显著加强</a:t>
                      </a:r>
                      <a:r>
                        <a:rPr lang="zh-CN" altLang="en-US" sz="900" b="0" dirty="0">
                          <a:solidFill>
                            <a:schemeClr val="tx1"/>
                          </a:solidFill>
                          <a:effectLst/>
                          <a:latin typeface="Arial" panose="020B0604020202020204" pitchFamily="34" charset="0"/>
                          <a:ea typeface="微软雅黑" panose="020B0503020204020204" pitchFamily="34" charset="-122"/>
                        </a:rPr>
                        <a:t>，因此计划系统之外的消防工作正在成为过去</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900" b="0" dirty="0">
                          <a:solidFill>
                            <a:schemeClr val="tx1"/>
                          </a:solidFill>
                          <a:effectLst/>
                          <a:latin typeface="Arial" panose="020B0604020202020204" pitchFamily="34" charset="0"/>
                          <a:ea typeface="微软雅黑" panose="020B0503020204020204" pitchFamily="34" charset="-122"/>
                        </a:rPr>
                        <a:t>计划在多企业中进行</a:t>
                      </a:r>
                      <a:r>
                        <a:rPr lang="zh-CN" altLang="en-US" sz="900" b="1" dirty="0">
                          <a:solidFill>
                            <a:schemeClr val="tx1"/>
                          </a:solidFill>
                          <a:effectLst/>
                          <a:latin typeface="Arial" panose="020B0604020202020204" pitchFamily="34" charset="0"/>
                          <a:ea typeface="微软雅黑" panose="020B0503020204020204" pitchFamily="34" charset="-122"/>
                        </a:rPr>
                        <a:t>所有资源类型的</a:t>
                      </a:r>
                      <a:r>
                        <a:rPr lang="en-US" altLang="zh-CN" sz="900" b="1" dirty="0">
                          <a:solidFill>
                            <a:schemeClr val="tx1"/>
                          </a:solidFill>
                          <a:effectLst/>
                          <a:latin typeface="Arial" panose="020B0604020202020204" pitchFamily="34" charset="0"/>
                          <a:ea typeface="微软雅黑" panose="020B0503020204020204" pitchFamily="34" charset="-122"/>
                        </a:rPr>
                        <a:t>E2E</a:t>
                      </a:r>
                      <a:r>
                        <a:rPr lang="zh-CN" altLang="en-US" sz="900" b="0" dirty="0">
                          <a:solidFill>
                            <a:schemeClr val="tx1"/>
                          </a:solidFill>
                          <a:effectLst/>
                          <a:latin typeface="Arial" panose="020B0604020202020204" pitchFamily="34" charset="0"/>
                          <a:ea typeface="微软雅黑" panose="020B0503020204020204" pitchFamily="34" charset="-122"/>
                        </a:rPr>
                        <a:t>。</a:t>
                      </a:r>
                      <a:r>
                        <a:rPr lang="en-US" altLang="zh-CN" sz="900" b="0" dirty="0">
                          <a:solidFill>
                            <a:schemeClr val="tx1"/>
                          </a:solidFill>
                          <a:effectLst/>
                          <a:latin typeface="Arial" panose="020B0604020202020204" pitchFamily="34" charset="0"/>
                          <a:ea typeface="微软雅黑" panose="020B0503020204020204" pitchFamily="34" charset="-122"/>
                        </a:rPr>
                        <a:t>E2E</a:t>
                      </a:r>
                      <a:r>
                        <a:rPr lang="zh-CN" altLang="en-US" sz="900" b="0" dirty="0">
                          <a:solidFill>
                            <a:schemeClr val="tx1"/>
                          </a:solidFill>
                          <a:effectLst/>
                          <a:latin typeface="Arial" panose="020B0604020202020204" pitchFamily="34" charset="0"/>
                          <a:ea typeface="微软雅黑" panose="020B0503020204020204" pitchFamily="34" charset="-122"/>
                        </a:rPr>
                        <a:t>多企业计划在所有层次的粒度和时间范围内</a:t>
                      </a:r>
                      <a:r>
                        <a:rPr lang="en-US" altLang="zh-CN" sz="900" b="0" dirty="0">
                          <a:solidFill>
                            <a:schemeClr val="tx1"/>
                          </a:solidFill>
                          <a:effectLst/>
                          <a:latin typeface="Arial" panose="020B0604020202020204" pitchFamily="34" charset="0"/>
                          <a:ea typeface="微软雅黑" panose="020B0503020204020204" pitchFamily="34" charset="-122"/>
                        </a:rPr>
                        <a:t>,</a:t>
                      </a:r>
                      <a:r>
                        <a:rPr lang="zh-CN" altLang="en-US" sz="900" b="0" dirty="0">
                          <a:solidFill>
                            <a:schemeClr val="tx1"/>
                          </a:solidFill>
                          <a:effectLst/>
                          <a:latin typeface="Arial" panose="020B0604020202020204" pitchFamily="34" charset="0"/>
                          <a:ea typeface="微软雅黑" panose="020B0503020204020204" pitchFamily="34" charset="-122"/>
                        </a:rPr>
                        <a:t>考虑到所有资源类型</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2962240"/>
                  </a:ext>
                </a:extLst>
              </a:tr>
              <a:tr h="1162093">
                <a:tc>
                  <a:txBody>
                    <a:bodyPr/>
                    <a:lstStyle/>
                    <a:p>
                      <a:r>
                        <a:rPr lang="zh-CN" altLang="en-US" sz="1050" dirty="0">
                          <a:solidFill>
                            <a:schemeClr val="tx1"/>
                          </a:solidFill>
                          <a:latin typeface="Arial" panose="020B0604020202020204" pitchFamily="34" charset="0"/>
                          <a:ea typeface="微软雅黑" panose="020B0503020204020204" pitchFamily="34" charset="-122"/>
                        </a:rPr>
                        <a:t>纵向协同</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126" rtl="0" eaLnBrk="1" fontAlgn="auto" latinLnBrk="0" hangingPunct="1">
                        <a:lnSpc>
                          <a:spcPct val="100000"/>
                        </a:lnSpc>
                        <a:spcBef>
                          <a:spcPts val="0"/>
                        </a:spcBef>
                        <a:spcAft>
                          <a:spcPts val="0"/>
                        </a:spcAft>
                        <a:buClrTx/>
                        <a:buSzTx/>
                        <a:buFontTx/>
                        <a:buNone/>
                        <a:tabLst/>
                        <a:defRPr/>
                      </a:pPr>
                      <a:r>
                        <a:rPr lang="zh-CN" altLang="en-US" sz="900" b="0" kern="1200" dirty="0">
                          <a:solidFill>
                            <a:schemeClr val="tx1"/>
                          </a:solidFill>
                          <a:effectLst/>
                          <a:latin typeface="Arial" panose="020B0604020202020204" pitchFamily="34" charset="0"/>
                          <a:ea typeface="微软雅黑" panose="020B0503020204020204" pitchFamily="34" charset="-122"/>
                        </a:rPr>
                        <a:t>计划</a:t>
                      </a:r>
                      <a:r>
                        <a:rPr lang="zh-CN" altLang="en-US" sz="900" b="1" kern="1200" dirty="0">
                          <a:solidFill>
                            <a:schemeClr val="tx1"/>
                          </a:solidFill>
                          <a:effectLst/>
                          <a:latin typeface="Arial" panose="020B0604020202020204" pitchFamily="34" charset="0"/>
                          <a:ea typeface="微软雅黑" panose="020B0503020204020204" pitchFamily="34" charset="-122"/>
                        </a:rPr>
                        <a:t>没有垂直</a:t>
                      </a:r>
                      <a:r>
                        <a:rPr lang="en-US" altLang="zh-CN" sz="900" b="1" kern="1200" dirty="0">
                          <a:solidFill>
                            <a:schemeClr val="tx1"/>
                          </a:solidFill>
                          <a:effectLst/>
                          <a:latin typeface="Arial" panose="020B0604020202020204" pitchFamily="34" charset="0"/>
                          <a:ea typeface="微软雅黑" panose="020B0503020204020204" pitchFamily="34" charset="-122"/>
                        </a:rPr>
                        <a:t>/</a:t>
                      </a:r>
                      <a:r>
                        <a:rPr lang="zh-CN" altLang="en-US" sz="900" b="1" kern="1200" dirty="0">
                          <a:solidFill>
                            <a:schemeClr val="tx1"/>
                          </a:solidFill>
                          <a:effectLst/>
                          <a:latin typeface="Arial" panose="020B0604020202020204" pitchFamily="34" charset="0"/>
                          <a:ea typeface="微软雅黑" panose="020B0503020204020204" pitchFamily="34" charset="-122"/>
                        </a:rPr>
                        <a:t>纵向排列</a:t>
                      </a:r>
                      <a:r>
                        <a:rPr lang="zh-CN" altLang="en-US" sz="900" b="0" kern="1200" dirty="0">
                          <a:solidFill>
                            <a:schemeClr val="tx1"/>
                          </a:solidFill>
                          <a:effectLst/>
                          <a:latin typeface="Arial" panose="020B0604020202020204" pitchFamily="34" charset="0"/>
                          <a:ea typeface="微软雅黑" panose="020B0503020204020204" pitchFamily="34" charset="-122"/>
                        </a:rPr>
                        <a:t>。如果计划存在于不同的时间范围和粒度，那么它们之间就没有一致性。该公司试图通过不相关的财务和供应链计划来运作。</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900" b="0" dirty="0">
                          <a:solidFill>
                            <a:schemeClr val="tx1"/>
                          </a:solidFill>
                          <a:effectLst/>
                          <a:latin typeface="Arial" panose="020B0604020202020204" pitchFamily="34" charset="0"/>
                          <a:ea typeface="微软雅黑" panose="020B0503020204020204" pitchFamily="34" charset="-122"/>
                        </a:rPr>
                        <a:t>在战术和操作计划之间</a:t>
                      </a:r>
                      <a:r>
                        <a:rPr lang="zh-CN" altLang="en-US" sz="900" b="1" dirty="0">
                          <a:solidFill>
                            <a:schemeClr val="tx1"/>
                          </a:solidFill>
                          <a:effectLst/>
                          <a:latin typeface="Arial" panose="020B0604020202020204" pitchFamily="34" charset="0"/>
                          <a:ea typeface="微软雅黑" panose="020B0503020204020204" pitchFamily="34" charset="-122"/>
                        </a:rPr>
                        <a:t>存在一些垂直一致性</a:t>
                      </a:r>
                      <a:r>
                        <a:rPr lang="zh-CN" altLang="en-US" sz="900" b="0" dirty="0">
                          <a:solidFill>
                            <a:schemeClr val="tx1"/>
                          </a:solidFill>
                          <a:effectLst/>
                          <a:latin typeface="Arial" panose="020B0604020202020204" pitchFamily="34" charset="0"/>
                          <a:ea typeface="微软雅黑" panose="020B0503020204020204" pitchFamily="34" charset="-122"/>
                        </a:rPr>
                        <a:t>，特别是在供应计划方面（例如，</a:t>
                      </a:r>
                      <a:r>
                        <a:rPr lang="zh-CN" altLang="en-US" sz="900" b="1" dirty="0">
                          <a:solidFill>
                            <a:schemeClr val="tx1"/>
                          </a:solidFill>
                          <a:effectLst/>
                          <a:latin typeface="Arial" panose="020B0604020202020204" pitchFamily="34" charset="0"/>
                          <a:ea typeface="微软雅黑" panose="020B0503020204020204" pitchFamily="34" charset="-122"/>
                        </a:rPr>
                        <a:t>生产计划和排程</a:t>
                      </a:r>
                      <a:r>
                        <a:rPr lang="zh-CN" altLang="en-US" sz="900" b="0" dirty="0">
                          <a:solidFill>
                            <a:schemeClr val="tx1"/>
                          </a:solidFill>
                          <a:effectLst/>
                          <a:latin typeface="Arial" panose="020B0604020202020204" pitchFamily="34" charset="0"/>
                          <a:ea typeface="微软雅黑" panose="020B0503020204020204" pitchFamily="34" charset="-122"/>
                        </a:rPr>
                        <a:t>）。财务和供应链计划之间几乎没有一致性</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900" b="1" dirty="0">
                          <a:solidFill>
                            <a:schemeClr val="tx1"/>
                          </a:solidFill>
                          <a:effectLst/>
                          <a:latin typeface="Arial" panose="020B0604020202020204" pitchFamily="34" charset="0"/>
                          <a:ea typeface="微软雅黑" panose="020B0503020204020204" pitchFamily="34" charset="-122"/>
                        </a:rPr>
                        <a:t>战术计划和操作计划之间的紧密结合</a:t>
                      </a:r>
                      <a:r>
                        <a:rPr lang="zh-CN" altLang="en-US" sz="900" b="0" dirty="0">
                          <a:solidFill>
                            <a:schemeClr val="tx1"/>
                          </a:solidFill>
                          <a:effectLst/>
                          <a:latin typeface="Arial" panose="020B0604020202020204" pitchFamily="34" charset="0"/>
                          <a:ea typeface="微软雅黑" panose="020B0503020204020204" pitchFamily="34" charset="-122"/>
                        </a:rPr>
                        <a:t>源于使用具有</a:t>
                      </a:r>
                      <a:r>
                        <a:rPr lang="zh-CN" altLang="en-US" sz="900" b="1" dirty="0">
                          <a:solidFill>
                            <a:schemeClr val="tx1"/>
                          </a:solidFill>
                          <a:effectLst/>
                          <a:latin typeface="Arial" panose="020B0604020202020204" pitchFamily="34" charset="0"/>
                          <a:ea typeface="微软雅黑" panose="020B0503020204020204" pitchFamily="34" charset="-122"/>
                        </a:rPr>
                        <a:t>单一数据模型</a:t>
                      </a:r>
                      <a:r>
                        <a:rPr lang="zh-CN" altLang="en-US" sz="900" b="0" dirty="0">
                          <a:solidFill>
                            <a:schemeClr val="tx1"/>
                          </a:solidFill>
                          <a:effectLst/>
                          <a:latin typeface="Arial" panose="020B0604020202020204" pitchFamily="34" charset="0"/>
                          <a:ea typeface="微软雅黑" panose="020B0503020204020204" pitchFamily="34" charset="-122"/>
                        </a:rPr>
                        <a:t>的计划系统。与战略和</a:t>
                      </a:r>
                      <a:r>
                        <a:rPr lang="en-US" altLang="zh-CN" sz="900" b="0" dirty="0">
                          <a:solidFill>
                            <a:schemeClr val="tx1"/>
                          </a:solidFill>
                          <a:effectLst/>
                          <a:latin typeface="Arial" panose="020B0604020202020204" pitchFamily="34" charset="0"/>
                          <a:ea typeface="微软雅黑" panose="020B0503020204020204" pitchFamily="34" charset="-122"/>
                        </a:rPr>
                        <a:t>/</a:t>
                      </a:r>
                      <a:r>
                        <a:rPr lang="zh-CN" altLang="en-US" sz="900" b="0" dirty="0">
                          <a:solidFill>
                            <a:schemeClr val="tx1"/>
                          </a:solidFill>
                          <a:effectLst/>
                          <a:latin typeface="Arial" panose="020B0604020202020204" pitchFamily="34" charset="0"/>
                          <a:ea typeface="微软雅黑" panose="020B0503020204020204" pitchFamily="34" charset="-122"/>
                        </a:rPr>
                        <a:t>或财务计划的有限一致性作为“计划”仍然被定义为供应链计划</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a:r>
                        <a:rPr lang="zh-CN" altLang="en-US" sz="900" b="0" dirty="0">
                          <a:solidFill>
                            <a:schemeClr val="tx1"/>
                          </a:solidFill>
                          <a:effectLst/>
                          <a:latin typeface="Arial" panose="020B0604020202020204" pitchFamily="34" charset="0"/>
                          <a:ea typeface="微软雅黑" panose="020B0503020204020204" pitchFamily="34" charset="-122"/>
                        </a:rPr>
                        <a:t>利用供应链的</a:t>
                      </a:r>
                      <a:r>
                        <a:rPr lang="zh-CN" altLang="en-US" sz="900" b="1" dirty="0">
                          <a:solidFill>
                            <a:schemeClr val="tx1"/>
                          </a:solidFill>
                          <a:effectLst/>
                          <a:latin typeface="Arial" panose="020B0604020202020204" pitchFamily="34" charset="0"/>
                          <a:ea typeface="微软雅黑" panose="020B0503020204020204" pitchFamily="34" charset="-122"/>
                        </a:rPr>
                        <a:t>单一模型</a:t>
                      </a:r>
                      <a:r>
                        <a:rPr lang="zh-CN" altLang="en-US" sz="900" b="0" dirty="0">
                          <a:solidFill>
                            <a:schemeClr val="tx1"/>
                          </a:solidFill>
                          <a:effectLst/>
                          <a:latin typeface="Arial" panose="020B0604020202020204" pitchFamily="34" charset="0"/>
                          <a:ea typeface="微软雅黑" panose="020B0503020204020204" pitchFamily="34" charset="-122"/>
                        </a:rPr>
                        <a:t>，在</a:t>
                      </a:r>
                      <a:r>
                        <a:rPr lang="zh-CN" altLang="en-US" sz="900" b="1" dirty="0">
                          <a:solidFill>
                            <a:schemeClr val="tx1"/>
                          </a:solidFill>
                          <a:effectLst/>
                          <a:latin typeface="Arial" panose="020B0604020202020204" pitchFamily="34" charset="0"/>
                          <a:ea typeface="微软雅黑" panose="020B0503020204020204" pitchFamily="34" charset="-122"/>
                        </a:rPr>
                        <a:t>财务、战术和运营计划之间紧密结合</a:t>
                      </a:r>
                      <a:r>
                        <a:rPr lang="zh-CN" altLang="en-US" sz="900" b="0" dirty="0">
                          <a:solidFill>
                            <a:schemeClr val="tx1"/>
                          </a:solidFill>
                          <a:effectLst/>
                          <a:latin typeface="Arial" panose="020B0604020202020204" pitchFamily="34" charset="0"/>
                          <a:ea typeface="微软雅黑" panose="020B0503020204020204" pitchFamily="34" charset="-122"/>
                        </a:rPr>
                        <a:t>。随着</a:t>
                      </a:r>
                      <a:r>
                        <a:rPr lang="en-US" altLang="zh-CN" sz="900" b="0" dirty="0">
                          <a:solidFill>
                            <a:schemeClr val="tx1"/>
                          </a:solidFill>
                          <a:effectLst/>
                          <a:latin typeface="Arial" panose="020B0604020202020204" pitchFamily="34" charset="0"/>
                          <a:ea typeface="微软雅黑" panose="020B0503020204020204" pitchFamily="34" charset="-122"/>
                        </a:rPr>
                        <a:t>S&amp;OP</a:t>
                      </a:r>
                      <a:r>
                        <a:rPr lang="zh-CN" altLang="en-US" sz="900" b="0" dirty="0">
                          <a:solidFill>
                            <a:schemeClr val="tx1"/>
                          </a:solidFill>
                          <a:effectLst/>
                          <a:latin typeface="Arial" panose="020B0604020202020204" pitchFamily="34" charset="0"/>
                          <a:ea typeface="微软雅黑" panose="020B0503020204020204" pitchFamily="34" charset="-122"/>
                        </a:rPr>
                        <a:t>和</a:t>
                      </a:r>
                      <a:r>
                        <a:rPr lang="en-US" altLang="zh-CN" sz="900" b="0" dirty="0">
                          <a:solidFill>
                            <a:schemeClr val="tx1"/>
                          </a:solidFill>
                          <a:effectLst/>
                          <a:latin typeface="Arial" panose="020B0604020202020204" pitchFamily="34" charset="0"/>
                          <a:ea typeface="微软雅黑" panose="020B0503020204020204" pitchFamily="34" charset="-122"/>
                        </a:rPr>
                        <a:t>/</a:t>
                      </a:r>
                      <a:r>
                        <a:rPr lang="zh-CN" altLang="en-US" sz="900" b="0" dirty="0">
                          <a:solidFill>
                            <a:schemeClr val="tx1"/>
                          </a:solidFill>
                          <a:effectLst/>
                          <a:latin typeface="Arial" panose="020B0604020202020204" pitchFamily="34" charset="0"/>
                          <a:ea typeface="微软雅黑" panose="020B0503020204020204" pitchFamily="34" charset="-122"/>
                        </a:rPr>
                        <a:t>或综合业务计划（</a:t>
                      </a:r>
                      <a:r>
                        <a:rPr lang="en-US" altLang="zh-CN" sz="900" b="0" dirty="0">
                          <a:solidFill>
                            <a:schemeClr val="tx1"/>
                          </a:solidFill>
                          <a:effectLst/>
                          <a:latin typeface="Arial" panose="020B0604020202020204" pitchFamily="34" charset="0"/>
                          <a:ea typeface="微软雅黑" panose="020B0503020204020204" pitchFamily="34" charset="-122"/>
                        </a:rPr>
                        <a:t>IBP</a:t>
                      </a:r>
                      <a:r>
                        <a:rPr lang="zh-CN" altLang="en-US" sz="900" b="0" dirty="0">
                          <a:solidFill>
                            <a:schemeClr val="tx1"/>
                          </a:solidFill>
                          <a:effectLst/>
                          <a:latin typeface="Arial" panose="020B0604020202020204" pitchFamily="34" charset="0"/>
                          <a:ea typeface="微软雅黑" panose="020B0503020204020204" pitchFamily="34" charset="-122"/>
                        </a:rPr>
                        <a:t>）的成熟，</a:t>
                      </a:r>
                      <a:r>
                        <a:rPr lang="zh-CN" altLang="en-US" sz="900" b="1" dirty="0">
                          <a:solidFill>
                            <a:schemeClr val="tx1"/>
                          </a:solidFill>
                          <a:effectLst/>
                          <a:latin typeface="Arial" panose="020B0604020202020204" pitchFamily="34" charset="0"/>
                          <a:ea typeface="微软雅黑" panose="020B0503020204020204" pitchFamily="34" charset="-122"/>
                        </a:rPr>
                        <a:t>财务现在已完全成为计划过程的一部分</a:t>
                      </a:r>
                      <a:r>
                        <a:rPr lang="zh-CN" altLang="en-US" sz="900" b="0" dirty="0">
                          <a:solidFill>
                            <a:schemeClr val="tx1"/>
                          </a:solidFill>
                          <a:effectLst/>
                          <a:latin typeface="Arial" panose="020B0604020202020204" pitchFamily="34" charset="0"/>
                          <a:ea typeface="微软雅黑" panose="020B0503020204020204" pitchFamily="34" charset="-122"/>
                        </a:rPr>
                        <a:t>。通过</a:t>
                      </a:r>
                      <a:r>
                        <a:rPr lang="en-US" altLang="zh-CN" sz="900" b="0" dirty="0">
                          <a:solidFill>
                            <a:schemeClr val="tx1"/>
                          </a:solidFill>
                          <a:effectLst/>
                          <a:latin typeface="Arial" panose="020B0604020202020204" pitchFamily="34" charset="0"/>
                          <a:ea typeface="微软雅黑" panose="020B0503020204020204" pitchFamily="34" charset="-122"/>
                        </a:rPr>
                        <a:t>S&amp;OP</a:t>
                      </a:r>
                      <a:r>
                        <a:rPr lang="zh-CN" altLang="en-US" sz="900" b="0" dirty="0">
                          <a:solidFill>
                            <a:schemeClr val="tx1"/>
                          </a:solidFill>
                          <a:effectLst/>
                          <a:latin typeface="Arial" panose="020B0604020202020204" pitchFamily="34" charset="0"/>
                          <a:ea typeface="微软雅黑" panose="020B0503020204020204" pitchFamily="34" charset="-122"/>
                        </a:rPr>
                        <a:t>和</a:t>
                      </a:r>
                      <a:r>
                        <a:rPr lang="en-US" altLang="zh-CN" sz="900" b="0" dirty="0">
                          <a:solidFill>
                            <a:schemeClr val="tx1"/>
                          </a:solidFill>
                          <a:effectLst/>
                          <a:latin typeface="Arial" panose="020B0604020202020204" pitchFamily="34" charset="0"/>
                          <a:ea typeface="微软雅黑" panose="020B0503020204020204" pitchFamily="34" charset="-122"/>
                        </a:rPr>
                        <a:t>/</a:t>
                      </a:r>
                      <a:r>
                        <a:rPr lang="zh-CN" altLang="en-US" sz="900" b="0" dirty="0">
                          <a:solidFill>
                            <a:schemeClr val="tx1"/>
                          </a:solidFill>
                          <a:effectLst/>
                          <a:latin typeface="Arial" panose="020B0604020202020204" pitchFamily="34" charset="0"/>
                          <a:ea typeface="微软雅黑" panose="020B0503020204020204" pitchFamily="34" charset="-122"/>
                        </a:rPr>
                        <a:t>或</a:t>
                      </a:r>
                      <a:r>
                        <a:rPr lang="en-US" altLang="zh-CN" sz="900" b="0" dirty="0">
                          <a:solidFill>
                            <a:schemeClr val="tx1"/>
                          </a:solidFill>
                          <a:effectLst/>
                          <a:latin typeface="Arial" panose="020B0604020202020204" pitchFamily="34" charset="0"/>
                          <a:ea typeface="微软雅黑" panose="020B0503020204020204" pitchFamily="34" charset="-122"/>
                        </a:rPr>
                        <a:t>IBP</a:t>
                      </a:r>
                      <a:r>
                        <a:rPr lang="zh-CN" altLang="en-US" sz="900" b="0" dirty="0">
                          <a:solidFill>
                            <a:schemeClr val="tx1"/>
                          </a:solidFill>
                          <a:effectLst/>
                          <a:latin typeface="Arial" panose="020B0604020202020204" pitchFamily="34" charset="0"/>
                          <a:ea typeface="微软雅黑" panose="020B0503020204020204" pitchFamily="34" charset="-122"/>
                        </a:rPr>
                        <a:t>过程与战略计划有一定的一致性</a:t>
                      </a:r>
                      <a:r>
                        <a:rPr lang="en-US" altLang="zh-CN" sz="900" b="0" dirty="0">
                          <a:solidFill>
                            <a:schemeClr val="tx1"/>
                          </a:solidFill>
                          <a:effectLst/>
                          <a:latin typeface="Arial" panose="020B0604020202020204" pitchFamily="34" charset="0"/>
                          <a:ea typeface="微软雅黑" panose="020B0503020204020204" pitchFamily="34" charset="-122"/>
                        </a:rPr>
                        <a:t>.</a:t>
                      </a:r>
                      <a:r>
                        <a:rPr lang="zh-CN" altLang="en-US" sz="900" b="0" dirty="0">
                          <a:solidFill>
                            <a:schemeClr val="tx1"/>
                          </a:solidFill>
                          <a:effectLst/>
                          <a:latin typeface="Arial" panose="020B0604020202020204" pitchFamily="34" charset="0"/>
                          <a:ea typeface="微软雅黑" panose="020B0503020204020204" pitchFamily="34" charset="-122"/>
                        </a:rPr>
                        <a:t>。因此，从战略到运营，整个计划层与公司目标更加一致。</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900" b="1" dirty="0">
                          <a:solidFill>
                            <a:schemeClr val="tx1"/>
                          </a:solidFill>
                          <a:effectLst/>
                          <a:latin typeface="Arial" panose="020B0604020202020204" pitchFamily="34" charset="0"/>
                          <a:ea typeface="微软雅黑" panose="020B0503020204020204" pitchFamily="34" charset="-122"/>
                        </a:rPr>
                        <a:t>执行、操作、战术、财务和战略计划之间存在着无缝的一致性</a:t>
                      </a:r>
                      <a:r>
                        <a:rPr lang="zh-CN" altLang="en-US" sz="900" b="0" dirty="0">
                          <a:solidFill>
                            <a:schemeClr val="tx1"/>
                          </a:solidFill>
                          <a:effectLst/>
                          <a:latin typeface="Arial" panose="020B0604020202020204" pitchFamily="34" charset="0"/>
                          <a:ea typeface="微软雅黑" panose="020B0503020204020204" pitchFamily="34" charset="-122"/>
                        </a:rPr>
                        <a:t>。在这些计划层之间有适当的切换点</a:t>
                      </a:r>
                      <a:r>
                        <a:rPr lang="en-US" altLang="zh-CN" sz="900" b="0" dirty="0">
                          <a:solidFill>
                            <a:schemeClr val="tx1"/>
                          </a:solidFill>
                          <a:effectLst/>
                          <a:latin typeface="Arial" panose="020B0604020202020204" pitchFamily="34" charset="0"/>
                          <a:ea typeface="微软雅黑" panose="020B0503020204020204" pitchFamily="34" charset="-122"/>
                        </a:rPr>
                        <a:t>,</a:t>
                      </a:r>
                      <a:r>
                        <a:rPr lang="zh-CN" altLang="en-US" sz="900" b="0" dirty="0">
                          <a:solidFill>
                            <a:schemeClr val="tx1"/>
                          </a:solidFill>
                          <a:effectLst/>
                          <a:latin typeface="Arial" panose="020B0604020202020204" pitchFamily="34" charset="0"/>
                          <a:ea typeface="微软雅黑" panose="020B0503020204020204" pitchFamily="34" charset="-122"/>
                        </a:rPr>
                        <a:t>以确保策略的对齐、执行策略和由于执行更改的策略的相关调整</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0671217"/>
                  </a:ext>
                </a:extLst>
              </a:tr>
              <a:tr h="2243269">
                <a:tc>
                  <a:txBody>
                    <a:bodyPr/>
                    <a:lstStyle/>
                    <a:p>
                      <a:pPr marL="0" marR="0" lvl="0" indent="0" algn="l" defTabSz="914126" rtl="0" eaLnBrk="1" fontAlgn="auto" latinLnBrk="0" hangingPunct="1">
                        <a:lnSpc>
                          <a:spcPct val="100000"/>
                        </a:lnSpc>
                        <a:spcBef>
                          <a:spcPts val="0"/>
                        </a:spcBef>
                        <a:spcAft>
                          <a:spcPts val="0"/>
                        </a:spcAft>
                        <a:buClrTx/>
                        <a:buSzTx/>
                        <a:buFontTx/>
                        <a:buNone/>
                        <a:tabLst/>
                        <a:defRPr/>
                      </a:pPr>
                      <a:r>
                        <a:rPr lang="zh-CN" altLang="en-US" sz="1050" b="1" dirty="0">
                          <a:solidFill>
                            <a:schemeClr val="tx1"/>
                          </a:solidFill>
                          <a:latin typeface="Arial" panose="020B0604020202020204" pitchFamily="34" charset="0"/>
                          <a:ea typeface="微软雅黑" panose="020B0503020204020204" pitchFamily="34" charset="-122"/>
                        </a:rPr>
                        <a:t>决策</a:t>
                      </a:r>
                      <a:r>
                        <a:rPr lang="zh-CN" altLang="zh-CN" sz="1050" b="1" dirty="0">
                          <a:solidFill>
                            <a:schemeClr val="tx1"/>
                          </a:solidFill>
                          <a:latin typeface="Arial" panose="020B0604020202020204" pitchFamily="34" charset="0"/>
                          <a:ea typeface="微软雅黑" panose="020B0503020204020204" pitchFamily="34" charset="-122"/>
                        </a:rPr>
                        <a:t>自动</a:t>
                      </a:r>
                      <a:r>
                        <a:rPr lang="zh-CN" altLang="en-US" sz="1050" b="1" dirty="0">
                          <a:solidFill>
                            <a:schemeClr val="tx1"/>
                          </a:solidFill>
                          <a:latin typeface="Arial" panose="020B0604020202020204" pitchFamily="34" charset="0"/>
                          <a:ea typeface="微软雅黑" panose="020B0503020204020204" pitchFamily="34" charset="-122"/>
                        </a:rPr>
                        <a:t>化程度</a:t>
                      </a:r>
                      <a:r>
                        <a:rPr lang="zh-CN" altLang="zh-CN" sz="1050" b="1" dirty="0">
                          <a:solidFill>
                            <a:schemeClr val="tx1"/>
                          </a:solidFill>
                          <a:latin typeface="Arial" panose="020B0604020202020204" pitchFamily="34" charset="0"/>
                          <a:ea typeface="微软雅黑" panose="020B0503020204020204" pitchFamily="34" charset="-122"/>
                        </a:rPr>
                        <a:t> </a:t>
                      </a:r>
                      <a:endParaRPr lang="zh-CN" altLang="en-US" sz="105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900" b="0" kern="1200" dirty="0">
                          <a:solidFill>
                            <a:schemeClr val="tx1"/>
                          </a:solidFill>
                          <a:effectLst/>
                          <a:latin typeface="Arial" panose="020B0604020202020204" pitchFamily="34" charset="0"/>
                          <a:ea typeface="微软雅黑" panose="020B0503020204020204" pitchFamily="34" charset="-122"/>
                        </a:rPr>
                        <a:t>计划</a:t>
                      </a:r>
                      <a:r>
                        <a:rPr lang="zh-CN" altLang="en-US" sz="900" b="1" kern="1200" dirty="0">
                          <a:solidFill>
                            <a:schemeClr val="tx1"/>
                          </a:solidFill>
                          <a:effectLst/>
                          <a:latin typeface="Arial" panose="020B0604020202020204" pitchFamily="34" charset="0"/>
                          <a:ea typeface="微软雅黑" panose="020B0503020204020204" pitchFamily="34" charset="-122"/>
                        </a:rPr>
                        <a:t>主要是手动的，低效率</a:t>
                      </a:r>
                      <a:r>
                        <a:rPr lang="zh-CN" altLang="en-US" sz="900" b="0" kern="1200" dirty="0">
                          <a:solidFill>
                            <a:schemeClr val="tx1"/>
                          </a:solidFill>
                          <a:effectLst/>
                          <a:latin typeface="Arial" panose="020B0604020202020204" pitchFamily="34" charset="0"/>
                          <a:ea typeface="微软雅黑" panose="020B0503020204020204" pitchFamily="34" charset="-122"/>
                        </a:rPr>
                        <a:t>，表现为以在多个电子表格中进行大量数据操作。即使使用基于</a:t>
                      </a:r>
                      <a:r>
                        <a:rPr lang="en-US" altLang="zh-CN" sz="900" b="0" kern="1200" dirty="0">
                          <a:solidFill>
                            <a:schemeClr val="tx1"/>
                          </a:solidFill>
                          <a:effectLst/>
                          <a:latin typeface="Arial" panose="020B0604020202020204" pitchFamily="34" charset="0"/>
                          <a:ea typeface="微软雅黑" panose="020B0503020204020204" pitchFamily="34" charset="-122"/>
                        </a:rPr>
                        <a:t>ERP</a:t>
                      </a:r>
                      <a:r>
                        <a:rPr lang="zh-CN" altLang="en-US" sz="900" b="0" kern="1200" dirty="0">
                          <a:solidFill>
                            <a:schemeClr val="tx1"/>
                          </a:solidFill>
                          <a:effectLst/>
                          <a:latin typeface="Arial" panose="020B0604020202020204" pitchFamily="34" charset="0"/>
                          <a:ea typeface="微软雅黑" panose="020B0503020204020204" pitchFamily="34" charset="-122"/>
                        </a:rPr>
                        <a:t>的计划（</a:t>
                      </a:r>
                      <a:r>
                        <a:rPr lang="en-US" altLang="zh-CN" sz="900" b="0" kern="1200" dirty="0">
                          <a:solidFill>
                            <a:schemeClr val="tx1"/>
                          </a:solidFill>
                          <a:effectLst/>
                          <a:latin typeface="Arial" panose="020B0604020202020204" pitchFamily="34" charset="0"/>
                          <a:ea typeface="微软雅黑" panose="020B0503020204020204" pitchFamily="34" charset="-122"/>
                        </a:rPr>
                        <a:t>MRP</a:t>
                      </a:r>
                      <a:r>
                        <a:rPr lang="zh-CN" altLang="en-US" sz="900" b="0" kern="1200" dirty="0">
                          <a:solidFill>
                            <a:schemeClr val="tx1"/>
                          </a:solidFill>
                          <a:effectLst/>
                          <a:latin typeface="Arial" panose="020B0604020202020204" pitchFamily="34" charset="0"/>
                          <a:ea typeface="微软雅黑" panose="020B0503020204020204" pitchFamily="34" charset="-122"/>
                        </a:rPr>
                        <a:t>）和</a:t>
                      </a:r>
                      <a:r>
                        <a:rPr lang="en-US" altLang="zh-CN" sz="900" b="0" kern="1200" dirty="0">
                          <a:solidFill>
                            <a:schemeClr val="tx1"/>
                          </a:solidFill>
                          <a:effectLst/>
                          <a:latin typeface="Arial" panose="020B0604020202020204" pitchFamily="34" charset="0"/>
                          <a:ea typeface="微软雅黑" panose="020B0503020204020204" pitchFamily="34" charset="-122"/>
                        </a:rPr>
                        <a:t>/</a:t>
                      </a:r>
                      <a:r>
                        <a:rPr lang="zh-CN" altLang="en-US" sz="900" b="0" kern="1200" dirty="0">
                          <a:solidFill>
                            <a:schemeClr val="tx1"/>
                          </a:solidFill>
                          <a:effectLst/>
                          <a:latin typeface="Arial" panose="020B0604020202020204" pitchFamily="34" charset="0"/>
                          <a:ea typeface="微软雅黑" panose="020B0503020204020204" pitchFamily="34" charset="-122"/>
                        </a:rPr>
                        <a:t>或</a:t>
                      </a:r>
                      <a:r>
                        <a:rPr lang="en-US" altLang="zh-CN" sz="900" b="0" kern="1200" dirty="0">
                          <a:solidFill>
                            <a:schemeClr val="tx1"/>
                          </a:solidFill>
                          <a:effectLst/>
                          <a:latin typeface="Arial" panose="020B0604020202020204" pitchFamily="34" charset="0"/>
                          <a:ea typeface="微软雅黑" panose="020B0503020204020204" pitchFamily="34" charset="-122"/>
                        </a:rPr>
                        <a:t>BI</a:t>
                      </a:r>
                      <a:r>
                        <a:rPr lang="zh-CN" altLang="en-US" sz="900" b="0" kern="1200" dirty="0">
                          <a:solidFill>
                            <a:schemeClr val="tx1"/>
                          </a:solidFill>
                          <a:effectLst/>
                          <a:latin typeface="Arial" panose="020B0604020202020204" pitchFamily="34" charset="0"/>
                          <a:ea typeface="微软雅黑" panose="020B0503020204020204" pitchFamily="34" charset="-122"/>
                        </a:rPr>
                        <a:t>来辅助计划，仍然需要大量的手工数据准备和干预。</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900" b="1" dirty="0">
                          <a:solidFill>
                            <a:schemeClr val="tx1"/>
                          </a:solidFill>
                          <a:effectLst/>
                          <a:latin typeface="Arial" panose="020B0604020202020204" pitchFamily="34" charset="0"/>
                          <a:ea typeface="微软雅黑" panose="020B0503020204020204" pitchFamily="34" charset="-122"/>
                        </a:rPr>
                        <a:t>计划仍然主要是手动的</a:t>
                      </a:r>
                      <a:r>
                        <a:rPr lang="zh-CN" altLang="en-US" sz="900" b="0" dirty="0">
                          <a:solidFill>
                            <a:schemeClr val="tx1"/>
                          </a:solidFill>
                          <a:effectLst/>
                          <a:latin typeface="Arial" panose="020B0604020202020204" pitchFamily="34" charset="0"/>
                          <a:ea typeface="微软雅黑" panose="020B0503020204020204" pitchFamily="34" charset="-122"/>
                        </a:rPr>
                        <a:t>，计划人员在计划 应用程序之外操纵数据和计划。没有可用于计划的端到端供应链可见性，但在功能中会有一些自动化的计划决策预测（例如，自动化的进度创建）。计划决策处方（我应该采用哪个计划？）仍然是人为驱动的。早期的机器学习驱动的计划将会出现（例如，基于机器学习的需求预测将预测模型选择和参数操作的各个方面自动化）。</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900" b="0" dirty="0">
                          <a:solidFill>
                            <a:schemeClr val="tx1"/>
                          </a:solidFill>
                          <a:effectLst/>
                          <a:latin typeface="Arial" panose="020B0604020202020204" pitchFamily="34" charset="0"/>
                          <a:ea typeface="微软雅黑" panose="020B0503020204020204" pitchFamily="34" charset="-122"/>
                        </a:rPr>
                        <a:t>由于集成的计划环境</a:t>
                      </a:r>
                      <a:r>
                        <a:rPr lang="zh-CN" altLang="en-US" sz="900" b="1" dirty="0">
                          <a:solidFill>
                            <a:schemeClr val="tx1"/>
                          </a:solidFill>
                          <a:effectLst/>
                          <a:latin typeface="Arial" panose="020B0604020202020204" pitchFamily="34" charset="0"/>
                          <a:ea typeface="微软雅黑" panose="020B0503020204020204" pitchFamily="34" charset="-122"/>
                        </a:rPr>
                        <a:t>支持更多的端到端自动化</a:t>
                      </a:r>
                      <a:r>
                        <a:rPr lang="zh-CN" altLang="en-US" sz="900" b="0" dirty="0">
                          <a:solidFill>
                            <a:schemeClr val="tx1"/>
                          </a:solidFill>
                          <a:effectLst/>
                          <a:latin typeface="Arial" panose="020B0604020202020204" pitchFamily="34" charset="0"/>
                          <a:ea typeface="微软雅黑" panose="020B0503020204020204" pitchFamily="34" charset="-122"/>
                        </a:rPr>
                        <a:t>预测，</a:t>
                      </a:r>
                      <a:r>
                        <a:rPr lang="zh-CN" altLang="en-US" sz="900" b="1" dirty="0">
                          <a:solidFill>
                            <a:schemeClr val="tx1"/>
                          </a:solidFill>
                          <a:effectLst/>
                          <a:latin typeface="Arial" panose="020B0604020202020204" pitchFamily="34" charset="0"/>
                          <a:ea typeface="微软雅黑" panose="020B0503020204020204" pitchFamily="34" charset="-122"/>
                        </a:rPr>
                        <a:t>计划人员的工作显著减少</a:t>
                      </a:r>
                      <a:r>
                        <a:rPr lang="zh-CN" altLang="en-US" sz="900" b="0" dirty="0">
                          <a:solidFill>
                            <a:schemeClr val="tx1"/>
                          </a:solidFill>
                          <a:effectLst/>
                          <a:latin typeface="Arial" panose="020B0604020202020204" pitchFamily="34" charset="0"/>
                          <a:ea typeface="微软雅黑" panose="020B0503020204020204" pitchFamily="34" charset="-122"/>
                        </a:rPr>
                        <a:t>（即，计划和场景的创建）。然而，</a:t>
                      </a:r>
                      <a:r>
                        <a:rPr lang="zh-CN" altLang="en-US" sz="900" b="1" dirty="0">
                          <a:solidFill>
                            <a:schemeClr val="tx1"/>
                          </a:solidFill>
                          <a:effectLst/>
                          <a:latin typeface="Arial" panose="020B0604020202020204" pitchFamily="34" charset="0"/>
                          <a:ea typeface="微软雅黑" panose="020B0503020204020204" pitchFamily="34" charset="-122"/>
                        </a:rPr>
                        <a:t>计划决策方案</a:t>
                      </a:r>
                      <a:r>
                        <a:rPr lang="zh-CN" altLang="en-US" sz="900" b="0" dirty="0">
                          <a:solidFill>
                            <a:schemeClr val="tx1"/>
                          </a:solidFill>
                          <a:effectLst/>
                          <a:latin typeface="Arial" panose="020B0604020202020204" pitchFamily="34" charset="0"/>
                          <a:ea typeface="微软雅黑" panose="020B0503020204020204" pitchFamily="34" charset="-122"/>
                        </a:rPr>
                        <a:t>（我们将采用哪种场景？）</a:t>
                      </a:r>
                      <a:r>
                        <a:rPr lang="zh-CN" altLang="en-US" sz="900" b="1" dirty="0">
                          <a:solidFill>
                            <a:schemeClr val="tx1"/>
                          </a:solidFill>
                          <a:effectLst/>
                          <a:latin typeface="Arial" panose="020B0604020202020204" pitchFamily="34" charset="0"/>
                          <a:ea typeface="微软雅黑" panose="020B0503020204020204" pitchFamily="34" charset="-122"/>
                        </a:rPr>
                        <a:t>主要是手动的</a:t>
                      </a:r>
                      <a:r>
                        <a:rPr lang="zh-CN" altLang="en-US" sz="900" b="0" dirty="0">
                          <a:solidFill>
                            <a:schemeClr val="tx1"/>
                          </a:solidFill>
                          <a:effectLst/>
                          <a:latin typeface="Arial" panose="020B0604020202020204" pitchFamily="34" charset="0"/>
                          <a:ea typeface="微软雅黑" panose="020B0503020204020204" pitchFamily="34" charset="-122"/>
                        </a:rPr>
                        <a:t>。出现了</a:t>
                      </a:r>
                      <a:r>
                        <a:rPr lang="zh-CN" altLang="en-US" sz="900" b="1" dirty="0">
                          <a:solidFill>
                            <a:schemeClr val="tx1"/>
                          </a:solidFill>
                          <a:effectLst/>
                          <a:latin typeface="Arial" panose="020B0604020202020204" pitchFamily="34" charset="0"/>
                          <a:ea typeface="微软雅黑" panose="020B0503020204020204" pitchFamily="34" charset="-122"/>
                        </a:rPr>
                        <a:t>更多使用过程自动化</a:t>
                      </a:r>
                      <a:r>
                        <a:rPr lang="zh-CN" altLang="en-US" sz="900" b="0" dirty="0">
                          <a:solidFill>
                            <a:schemeClr val="tx1"/>
                          </a:solidFill>
                          <a:effectLst/>
                          <a:latin typeface="Arial" panose="020B0604020202020204" pitchFamily="34" charset="0"/>
                          <a:ea typeface="微软雅黑" panose="020B0503020204020204" pitchFamily="34" charset="-122"/>
                        </a:rPr>
                        <a:t>（例如，机器人过程自动化</a:t>
                      </a:r>
                      <a:r>
                        <a:rPr lang="en-US" altLang="zh-CN" sz="900" b="0" dirty="0">
                          <a:solidFill>
                            <a:schemeClr val="tx1"/>
                          </a:solidFill>
                          <a:effectLst/>
                          <a:latin typeface="Arial" panose="020B0604020202020204" pitchFamily="34" charset="0"/>
                          <a:ea typeface="微软雅黑" panose="020B0503020204020204" pitchFamily="34" charset="-122"/>
                        </a:rPr>
                        <a:t>[</a:t>
                      </a:r>
                      <a:r>
                        <a:rPr lang="en-US" altLang="zh-CN" sz="900" b="1" dirty="0">
                          <a:solidFill>
                            <a:schemeClr val="tx1"/>
                          </a:solidFill>
                          <a:effectLst/>
                          <a:latin typeface="Arial" panose="020B0604020202020204" pitchFamily="34" charset="0"/>
                          <a:ea typeface="微软雅黑" panose="020B0503020204020204" pitchFamily="34" charset="-122"/>
                        </a:rPr>
                        <a:t>RPA</a:t>
                      </a:r>
                      <a:r>
                        <a:rPr lang="en-US" altLang="zh-CN" sz="900" b="0" dirty="0">
                          <a:solidFill>
                            <a:schemeClr val="tx1"/>
                          </a:solidFill>
                          <a:effectLst/>
                          <a:latin typeface="Arial" panose="020B0604020202020204" pitchFamily="34" charset="0"/>
                          <a:ea typeface="微软雅黑" panose="020B0503020204020204" pitchFamily="34" charset="-122"/>
                        </a:rPr>
                        <a:t>]</a:t>
                      </a:r>
                      <a:r>
                        <a:rPr lang="zh-CN" altLang="en-US" sz="900" b="0" dirty="0">
                          <a:solidFill>
                            <a:schemeClr val="tx1"/>
                          </a:solidFill>
                          <a:effectLst/>
                          <a:latin typeface="Arial" panose="020B0604020202020204" pitchFamily="34" charset="0"/>
                          <a:ea typeface="微软雅黑" panose="020B0503020204020204" pitchFamily="34" charset="-122"/>
                        </a:rPr>
                        <a:t>）和预测的用例，以及一些模型、自动化（例如，使用</a:t>
                      </a:r>
                      <a:r>
                        <a:rPr lang="en-US" altLang="zh-CN" sz="900" b="0" dirty="0">
                          <a:solidFill>
                            <a:schemeClr val="tx1"/>
                          </a:solidFill>
                          <a:effectLst/>
                          <a:latin typeface="Arial" panose="020B0604020202020204" pitchFamily="34" charset="0"/>
                          <a:ea typeface="微软雅黑" panose="020B0503020204020204" pitchFamily="34" charset="-122"/>
                        </a:rPr>
                        <a:t>ML</a:t>
                      </a:r>
                      <a:r>
                        <a:rPr lang="zh-CN" altLang="en-US" sz="900" b="0" dirty="0">
                          <a:solidFill>
                            <a:schemeClr val="tx1"/>
                          </a:solidFill>
                          <a:effectLst/>
                          <a:latin typeface="Arial" panose="020B0604020202020204" pitchFamily="34" charset="0"/>
                          <a:ea typeface="微软雅黑" panose="020B0503020204020204" pitchFamily="34" charset="-122"/>
                        </a:rPr>
                        <a:t>）。例如，需求计划过程自动化，在需求计划和供应计划中使用</a:t>
                      </a:r>
                      <a:r>
                        <a:rPr lang="en-US" altLang="zh-CN" sz="900" b="0" dirty="0">
                          <a:solidFill>
                            <a:schemeClr val="tx1"/>
                          </a:solidFill>
                          <a:effectLst/>
                          <a:latin typeface="Arial" panose="020B0604020202020204" pitchFamily="34" charset="0"/>
                          <a:ea typeface="微软雅黑" panose="020B0503020204020204" pitchFamily="34" charset="-122"/>
                        </a:rPr>
                        <a:t>ML</a:t>
                      </a:r>
                      <a:r>
                        <a:rPr lang="zh-CN" altLang="en-US" sz="900" b="0" dirty="0">
                          <a:solidFill>
                            <a:schemeClr val="tx1"/>
                          </a:solidFill>
                          <a:effectLst/>
                          <a:latin typeface="Arial" panose="020B0604020202020204" pitchFamily="34" charset="0"/>
                          <a:ea typeface="微软雅黑" panose="020B0503020204020204" pitchFamily="34" charset="-122"/>
                        </a:rPr>
                        <a:t>的自动方案。一些主数据和模型数据修正开始的自动化（例如，预测交货时间）</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900" b="0" dirty="0">
                          <a:solidFill>
                            <a:schemeClr val="tx1"/>
                          </a:solidFill>
                          <a:effectLst/>
                          <a:latin typeface="Arial" panose="020B0604020202020204" pitchFamily="34" charset="0"/>
                          <a:ea typeface="微软雅黑" panose="020B0503020204020204" pitchFamily="34" charset="-122"/>
                        </a:rPr>
                        <a:t>在</a:t>
                      </a:r>
                      <a:r>
                        <a:rPr lang="zh-CN" altLang="en-US" sz="900" b="1" dirty="0">
                          <a:solidFill>
                            <a:schemeClr val="tx1"/>
                          </a:solidFill>
                          <a:effectLst/>
                          <a:latin typeface="Arial" panose="020B0604020202020204" pitchFamily="34" charset="0"/>
                          <a:ea typeface="微软雅黑" panose="020B0503020204020204" pitchFamily="34" charset="-122"/>
                        </a:rPr>
                        <a:t>多企业可见性</a:t>
                      </a:r>
                      <a:r>
                        <a:rPr lang="zh-CN" altLang="en-US" sz="900" b="0" dirty="0">
                          <a:solidFill>
                            <a:schemeClr val="tx1"/>
                          </a:solidFill>
                          <a:effectLst/>
                          <a:latin typeface="Arial" panose="020B0604020202020204" pitchFamily="34" charset="0"/>
                          <a:ea typeface="微软雅黑" panose="020B0503020204020204" pitchFamily="34" charset="-122"/>
                        </a:rPr>
                        <a:t>和附加</a:t>
                      </a:r>
                      <a:r>
                        <a:rPr lang="en-US" altLang="zh-CN" sz="900" b="0" dirty="0">
                          <a:solidFill>
                            <a:schemeClr val="tx1"/>
                          </a:solidFill>
                          <a:effectLst/>
                          <a:latin typeface="Arial" panose="020B0604020202020204" pitchFamily="34" charset="0"/>
                          <a:ea typeface="微软雅黑" panose="020B0503020204020204" pitchFamily="34" charset="-122"/>
                        </a:rPr>
                        <a:t>ML</a:t>
                      </a:r>
                      <a:r>
                        <a:rPr lang="zh-CN" altLang="en-US" sz="900" b="0" dirty="0">
                          <a:solidFill>
                            <a:schemeClr val="tx1"/>
                          </a:solidFill>
                          <a:effectLst/>
                          <a:latin typeface="Arial" panose="020B0604020202020204" pitchFamily="34" charset="0"/>
                          <a:ea typeface="微软雅黑" panose="020B0503020204020204" pitchFamily="34" charset="-122"/>
                        </a:rPr>
                        <a:t>的支持下，有端到端自动预测。</a:t>
                      </a:r>
                      <a:r>
                        <a:rPr lang="en-US" altLang="zh-CN" sz="900" b="0" dirty="0">
                          <a:solidFill>
                            <a:schemeClr val="tx1"/>
                          </a:solidFill>
                          <a:effectLst/>
                          <a:latin typeface="Arial" panose="020B0604020202020204" pitchFamily="34" charset="0"/>
                          <a:ea typeface="微软雅黑" panose="020B0503020204020204" pitchFamily="34" charset="-122"/>
                        </a:rPr>
                        <a:t>ML</a:t>
                      </a:r>
                      <a:r>
                        <a:rPr lang="zh-CN" altLang="en-US" sz="900" b="0" dirty="0">
                          <a:solidFill>
                            <a:schemeClr val="tx1"/>
                          </a:solidFill>
                          <a:effectLst/>
                          <a:latin typeface="Arial" panose="020B0604020202020204" pitchFamily="34" charset="0"/>
                          <a:ea typeface="微软雅黑" panose="020B0503020204020204" pitchFamily="34" charset="-122"/>
                        </a:rPr>
                        <a:t>有多种用例来支持决策自动化。这包括对诸如装运延迟和机器故障等事件的预测。自动化决策预测的早期工作已经转移到需求感知、权衡评估和选择以及事件解决等领域的自动化决策处方</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900" b="1" dirty="0">
                          <a:solidFill>
                            <a:schemeClr val="tx1"/>
                          </a:solidFill>
                          <a:effectLst/>
                          <a:latin typeface="Arial" panose="020B0604020202020204" pitchFamily="34" charset="0"/>
                          <a:ea typeface="微软雅黑" panose="020B0503020204020204" pitchFamily="34" charset="-122"/>
                        </a:rPr>
                        <a:t>网络自动化规划和最佳实践存在</a:t>
                      </a:r>
                      <a:r>
                        <a:rPr lang="zh-CN" altLang="en-US" sz="900" b="0" dirty="0">
                          <a:solidFill>
                            <a:schemeClr val="tx1"/>
                          </a:solidFill>
                          <a:effectLst/>
                          <a:latin typeface="Arial" panose="020B0604020202020204" pitchFamily="34" charset="0"/>
                          <a:ea typeface="微软雅黑" panose="020B0503020204020204" pitchFamily="34" charset="-122"/>
                        </a:rPr>
                        <a:t>。后者尤其关注于已接近自主的反应计划层</a:t>
                      </a:r>
                      <a:r>
                        <a:rPr lang="en-US" altLang="zh-CN" sz="900" b="0" dirty="0">
                          <a:solidFill>
                            <a:schemeClr val="tx1"/>
                          </a:solidFill>
                          <a:effectLst/>
                          <a:latin typeface="Arial" panose="020B0604020202020204" pitchFamily="34" charset="0"/>
                          <a:ea typeface="微软雅黑" panose="020B0503020204020204" pitchFamily="34" charset="-122"/>
                        </a:rPr>
                        <a:t>(95%</a:t>
                      </a:r>
                      <a:r>
                        <a:rPr lang="zh-CN" altLang="en-US" sz="900" b="0" dirty="0">
                          <a:solidFill>
                            <a:schemeClr val="tx1"/>
                          </a:solidFill>
                          <a:effectLst/>
                          <a:latin typeface="Arial" panose="020B0604020202020204" pitchFamily="34" charset="0"/>
                          <a:ea typeface="微软雅黑" panose="020B0503020204020204" pitchFamily="34" charset="-122"/>
                        </a:rPr>
                        <a:t>的计划决策是自主做出的</a:t>
                      </a:r>
                      <a:r>
                        <a:rPr lang="en-US" altLang="zh-CN" sz="900" b="0" dirty="0">
                          <a:solidFill>
                            <a:schemeClr val="tx1"/>
                          </a:solidFill>
                          <a:effectLst/>
                          <a:latin typeface="Arial" panose="020B0604020202020204" pitchFamily="34" charset="0"/>
                          <a:ea typeface="微软雅黑" panose="020B0503020204020204" pitchFamily="34" charset="-122"/>
                        </a:rPr>
                        <a:t>)</a:t>
                      </a:r>
                      <a:r>
                        <a:rPr lang="zh-CN" altLang="en-US" sz="900" b="0" dirty="0">
                          <a:solidFill>
                            <a:schemeClr val="tx1"/>
                          </a:solidFill>
                          <a:effectLst/>
                          <a:latin typeface="Arial" panose="020B0604020202020204" pitchFamily="34" charset="0"/>
                          <a:ea typeface="微软雅黑" panose="020B0503020204020204" pitchFamily="34" charset="-122"/>
                        </a:rPr>
                        <a:t>。有广泛的使用增强和自动化分析来支持以计划为导向的处方</a:t>
                      </a:r>
                      <a:r>
                        <a:rPr lang="en-US" altLang="zh-CN" sz="900" b="0" dirty="0">
                          <a:solidFill>
                            <a:schemeClr val="tx1"/>
                          </a:solidFill>
                          <a:effectLst/>
                          <a:latin typeface="Arial" panose="020B0604020202020204" pitchFamily="34" charset="0"/>
                          <a:ea typeface="微软雅黑" panose="020B0503020204020204" pitchFamily="34" charset="-122"/>
                        </a:rPr>
                        <a:t>,</a:t>
                      </a:r>
                      <a:r>
                        <a:rPr lang="zh-CN" altLang="en-US" sz="900" b="0" dirty="0">
                          <a:solidFill>
                            <a:schemeClr val="tx1"/>
                          </a:solidFill>
                          <a:effectLst/>
                          <a:latin typeface="Arial" panose="020B0604020202020204" pitchFamily="34" charset="0"/>
                          <a:ea typeface="微软雅黑" panose="020B0503020204020204" pitchFamily="34" charset="-122"/>
                        </a:rPr>
                        <a:t>而这些决定还没有完全自动化。</a:t>
                      </a:r>
                      <a:endParaRPr lang="zh-CN" altLang="en-US" sz="9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8828747"/>
                  </a:ext>
                </a:extLst>
              </a:tr>
            </a:tbl>
          </a:graphicData>
        </a:graphic>
      </p:graphicFrame>
    </p:spTree>
    <p:extLst>
      <p:ext uri="{BB962C8B-B14F-4D97-AF65-F5344CB8AC3E}">
        <p14:creationId xmlns:p14="http://schemas.microsoft.com/office/powerpoint/2010/main" val="2704776523"/>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D3A0F94-BFCB-F597-B41D-95CC3DAF6E2C}"/>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各维度的成熟阶段</a:t>
            </a:r>
          </a:p>
        </p:txBody>
      </p:sp>
      <p:graphicFrame>
        <p:nvGraphicFramePr>
          <p:cNvPr id="3" name="表格 2">
            <a:extLst>
              <a:ext uri="{FF2B5EF4-FFF2-40B4-BE49-F238E27FC236}">
                <a16:creationId xmlns:a16="http://schemas.microsoft.com/office/drawing/2014/main" id="{79BA8161-2E1B-11B6-0307-339FED2042DD}"/>
              </a:ext>
            </a:extLst>
          </p:cNvPr>
          <p:cNvGraphicFramePr>
            <a:graphicFrameLocks noGrp="1"/>
          </p:cNvGraphicFramePr>
          <p:nvPr>
            <p:extLst>
              <p:ext uri="{D42A27DB-BD31-4B8C-83A1-F6EECF244321}">
                <p14:modId xmlns:p14="http://schemas.microsoft.com/office/powerpoint/2010/main" val="668335076"/>
              </p:ext>
            </p:extLst>
          </p:nvPr>
        </p:nvGraphicFramePr>
        <p:xfrm>
          <a:off x="742950" y="1002890"/>
          <a:ext cx="11057176" cy="5429102"/>
        </p:xfrm>
        <a:graphic>
          <a:graphicData uri="http://schemas.openxmlformats.org/drawingml/2006/table">
            <a:tbl>
              <a:tblPr firstRow="1" firstCol="1" bandRow="1">
                <a:tableStyleId>{69012ECD-51FC-41F1-AA8D-1B2483CD663E}</a:tableStyleId>
              </a:tblPr>
              <a:tblGrid>
                <a:gridCol w="1106274">
                  <a:extLst>
                    <a:ext uri="{9D8B030D-6E8A-4147-A177-3AD203B41FA5}">
                      <a16:colId xmlns:a16="http://schemas.microsoft.com/office/drawing/2014/main" val="4060608431"/>
                    </a:ext>
                  </a:extLst>
                </a:gridCol>
                <a:gridCol w="2468694">
                  <a:extLst>
                    <a:ext uri="{9D8B030D-6E8A-4147-A177-3AD203B41FA5}">
                      <a16:colId xmlns:a16="http://schemas.microsoft.com/office/drawing/2014/main" val="2270451959"/>
                    </a:ext>
                  </a:extLst>
                </a:gridCol>
                <a:gridCol w="1916738">
                  <a:extLst>
                    <a:ext uri="{9D8B030D-6E8A-4147-A177-3AD203B41FA5}">
                      <a16:colId xmlns:a16="http://schemas.microsoft.com/office/drawing/2014/main" val="286446785"/>
                    </a:ext>
                  </a:extLst>
                </a:gridCol>
                <a:gridCol w="2155369">
                  <a:extLst>
                    <a:ext uri="{9D8B030D-6E8A-4147-A177-3AD203B41FA5}">
                      <a16:colId xmlns:a16="http://schemas.microsoft.com/office/drawing/2014/main" val="2546302161"/>
                    </a:ext>
                  </a:extLst>
                </a:gridCol>
                <a:gridCol w="1696055">
                  <a:extLst>
                    <a:ext uri="{9D8B030D-6E8A-4147-A177-3AD203B41FA5}">
                      <a16:colId xmlns:a16="http://schemas.microsoft.com/office/drawing/2014/main" val="3763735219"/>
                    </a:ext>
                  </a:extLst>
                </a:gridCol>
                <a:gridCol w="1714046">
                  <a:extLst>
                    <a:ext uri="{9D8B030D-6E8A-4147-A177-3AD203B41FA5}">
                      <a16:colId xmlns:a16="http://schemas.microsoft.com/office/drawing/2014/main" val="1357030041"/>
                    </a:ext>
                  </a:extLst>
                </a:gridCol>
              </a:tblGrid>
              <a:tr h="253768">
                <a:tc rowSpan="2">
                  <a:txBody>
                    <a:bodyPr/>
                    <a:lstStyle/>
                    <a:p>
                      <a:pPr algn="l"/>
                      <a:r>
                        <a:rPr lang="zh-CN" altLang="en-US" sz="1050" dirty="0">
                          <a:solidFill>
                            <a:schemeClr val="tx1"/>
                          </a:solidFill>
                          <a:latin typeface="Arial" panose="020B0604020202020204" pitchFamily="34" charset="0"/>
                          <a:ea typeface="微软雅黑" panose="020B0503020204020204" pitchFamily="34" charset="-122"/>
                        </a:rPr>
                        <a:t>维度</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2">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模拟规划（</a:t>
                      </a:r>
                      <a:r>
                        <a:rPr lang="en-US" altLang="zh-CN" sz="1050" dirty="0">
                          <a:solidFill>
                            <a:schemeClr val="tx1"/>
                          </a:solidFill>
                          <a:latin typeface="Arial" panose="020B0604020202020204" pitchFamily="34" charset="0"/>
                          <a:ea typeface="微软雅黑" panose="020B0503020204020204" pitchFamily="34" charset="-122"/>
                        </a:rPr>
                        <a:t>Analog Planning</a:t>
                      </a:r>
                      <a:r>
                        <a:rPr lang="zh-CN" altLang="en-US" sz="1050" dirty="0">
                          <a:solidFill>
                            <a:schemeClr val="tx1"/>
                          </a:solidFill>
                          <a:latin typeface="Arial" panose="020B0604020202020204" pitchFamily="34" charset="0"/>
                          <a:ea typeface="微软雅黑" panose="020B0503020204020204" pitchFamily="34" charset="-122"/>
                        </a:rPr>
                        <a: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algn="ctr"/>
                      <a:endParaRPr lang="zh-CN" altLang="en-US" sz="1050" dirty="0"/>
                    </a:p>
                  </a:txBody>
                  <a:tcPr/>
                </a:tc>
                <a:tc gridSpan="3">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数字规划（</a:t>
                      </a:r>
                      <a:r>
                        <a:rPr lang="en-US" altLang="zh-CN" sz="1050" dirty="0">
                          <a:solidFill>
                            <a:schemeClr val="tx1"/>
                          </a:solidFill>
                          <a:latin typeface="Arial" panose="020B0604020202020204" pitchFamily="34" charset="0"/>
                          <a:ea typeface="微软雅黑" panose="020B0503020204020204" pitchFamily="34" charset="-122"/>
                        </a:rPr>
                        <a:t>Digital Planning</a:t>
                      </a:r>
                      <a:r>
                        <a:rPr lang="zh-CN" altLang="en-US" sz="1050" dirty="0">
                          <a:solidFill>
                            <a:schemeClr val="tx1"/>
                          </a:solidFill>
                          <a:latin typeface="Arial" panose="020B0604020202020204" pitchFamily="34" charset="0"/>
                          <a:ea typeface="微软雅黑" panose="020B0503020204020204" pitchFamily="34" charset="-122"/>
                        </a:rPr>
                        <a: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algn="ctr"/>
                      <a:endParaRPr lang="zh-CN" altLang="en-US" sz="1050" dirty="0"/>
                    </a:p>
                  </a:txBody>
                  <a:tcPr/>
                </a:tc>
                <a:tc hMerge="1">
                  <a:txBody>
                    <a:bodyPr/>
                    <a:lstStyle/>
                    <a:p>
                      <a:pPr algn="ctr"/>
                      <a:endParaRPr lang="zh-CN" altLang="en-US" sz="1050" dirty="0"/>
                    </a:p>
                  </a:txBody>
                  <a:tcPr/>
                </a:tc>
                <a:extLst>
                  <a:ext uri="{0D108BD9-81ED-4DB2-BD59-A6C34878D82A}">
                    <a16:rowId xmlns:a16="http://schemas.microsoft.com/office/drawing/2014/main" val="3781201137"/>
                  </a:ext>
                </a:extLst>
              </a:tr>
              <a:tr h="253768">
                <a:tc vMerge="1">
                  <a:txBody>
                    <a:bodyPr/>
                    <a:lstStyle/>
                    <a:p>
                      <a:endParaRPr dirty="0"/>
                    </a:p>
                  </a:txBody>
                  <a:tcPr/>
                </a:tc>
                <a:tc>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第一阶段</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第二阶段</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第三阶段</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第四阶段</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50" dirty="0">
                          <a:solidFill>
                            <a:schemeClr val="tx1"/>
                          </a:solidFill>
                          <a:latin typeface="Arial" panose="020B0604020202020204" pitchFamily="34" charset="0"/>
                          <a:ea typeface="微软雅黑" panose="020B0503020204020204" pitchFamily="34" charset="-122"/>
                        </a:rPr>
                        <a:t>第五阶段</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0282022"/>
                  </a:ext>
                </a:extLst>
              </a:tr>
              <a:tr h="1445710">
                <a:tc>
                  <a:txBody>
                    <a:bodyPr/>
                    <a:lstStyle/>
                    <a:p>
                      <a:r>
                        <a:rPr lang="zh-CN" altLang="en-US" sz="1050" dirty="0">
                          <a:solidFill>
                            <a:schemeClr val="tx1"/>
                          </a:solidFill>
                          <a:latin typeface="Arial" panose="020B0604020202020204" pitchFamily="34" charset="0"/>
                          <a:ea typeface="微软雅黑" panose="020B0503020204020204" pitchFamily="34" charset="-122"/>
                        </a:rPr>
                        <a:t>决策混合类型</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kern="1200" dirty="0">
                          <a:solidFill>
                            <a:schemeClr val="tx1"/>
                          </a:solidFill>
                          <a:effectLst/>
                          <a:latin typeface="Arial" panose="020B0604020202020204" pitchFamily="34" charset="0"/>
                          <a:ea typeface="微软雅黑" panose="020B0503020204020204" pitchFamily="34" charset="-122"/>
                        </a:rPr>
                        <a:t>计划决策类型混合分为功能性简单决策（例如，部门最佳实践）和混乱的端到端决策（少数）。由于没有计划创新，也没有能力轻松地进行端到端协作，因此复杂的决策可以忽略不计。这些</a:t>
                      </a:r>
                      <a:r>
                        <a:rPr lang="zh-CN" altLang="en-US" sz="800" b="1" kern="1200" dirty="0">
                          <a:solidFill>
                            <a:schemeClr val="tx1"/>
                          </a:solidFill>
                          <a:effectLst/>
                          <a:latin typeface="Arial" panose="020B0604020202020204" pitchFamily="34" charset="0"/>
                          <a:ea typeface="微软雅黑" panose="020B0503020204020204" pitchFamily="34" charset="-122"/>
                        </a:rPr>
                        <a:t>部门</a:t>
                      </a:r>
                      <a:r>
                        <a:rPr lang="zh-CN" altLang="en-US" sz="800" b="0" kern="1200" dirty="0">
                          <a:solidFill>
                            <a:schemeClr val="tx1"/>
                          </a:solidFill>
                          <a:effectLst/>
                          <a:latin typeface="Arial" panose="020B0604020202020204" pitchFamily="34" charset="0"/>
                          <a:ea typeface="微软雅黑" panose="020B0503020204020204" pitchFamily="34" charset="-122"/>
                        </a:rPr>
                        <a:t>可以</a:t>
                      </a:r>
                      <a:r>
                        <a:rPr lang="zh-CN" altLang="en-US" sz="800" b="1" kern="1200" dirty="0">
                          <a:solidFill>
                            <a:schemeClr val="tx1"/>
                          </a:solidFill>
                          <a:effectLst/>
                          <a:latin typeface="Arial" panose="020B0604020202020204" pitchFamily="34" charset="0"/>
                          <a:ea typeface="微软雅黑" panose="020B0503020204020204" pitchFamily="34" charset="-122"/>
                        </a:rPr>
                        <a:t>独立</a:t>
                      </a:r>
                      <a:r>
                        <a:rPr lang="zh-CN" altLang="en-US" sz="800" b="0" kern="1200" dirty="0">
                          <a:solidFill>
                            <a:schemeClr val="tx1"/>
                          </a:solidFill>
                          <a:effectLst/>
                          <a:latin typeface="Arial" panose="020B0604020202020204" pitchFamily="34" charset="0"/>
                          <a:ea typeface="微软雅黑" panose="020B0503020204020204" pitchFamily="34" charset="-122"/>
                        </a:rPr>
                        <a:t>于公司其他部门制定的</a:t>
                      </a:r>
                      <a:r>
                        <a:rPr lang="zh-CN" altLang="en-US" sz="800" b="1" kern="1200" dirty="0">
                          <a:solidFill>
                            <a:schemeClr val="tx1"/>
                          </a:solidFill>
                          <a:effectLst/>
                          <a:latin typeface="Arial" panose="020B0604020202020204" pitchFamily="34" charset="0"/>
                          <a:ea typeface="微软雅黑" panose="020B0503020204020204" pitchFamily="34" charset="-122"/>
                        </a:rPr>
                        <a:t>计划决策</a:t>
                      </a:r>
                      <a:r>
                        <a:rPr lang="zh-CN" altLang="en-US" sz="800" b="0" kern="1200" dirty="0">
                          <a:solidFill>
                            <a:schemeClr val="tx1"/>
                          </a:solidFill>
                          <a:effectLst/>
                          <a:latin typeface="Arial" panose="020B0604020202020204" pitchFamily="34" charset="0"/>
                          <a:ea typeface="微软雅黑" panose="020B0503020204020204" pitchFamily="34" charset="-122"/>
                        </a:rPr>
                        <a:t>，轻松地制定自己的计划决策。然而，当涉及到任何</a:t>
                      </a:r>
                      <a:r>
                        <a:rPr lang="en-US" altLang="zh-CN" sz="800" b="0" kern="1200" dirty="0">
                          <a:solidFill>
                            <a:schemeClr val="tx1"/>
                          </a:solidFill>
                          <a:effectLst/>
                          <a:latin typeface="Arial" panose="020B0604020202020204" pitchFamily="34" charset="0"/>
                          <a:ea typeface="微软雅黑" panose="020B0503020204020204" pitchFamily="34" charset="-122"/>
                        </a:rPr>
                        <a:t>E2E</a:t>
                      </a:r>
                      <a:r>
                        <a:rPr lang="zh-CN" altLang="en-US" sz="800" b="0" kern="1200" dirty="0">
                          <a:solidFill>
                            <a:schemeClr val="tx1"/>
                          </a:solidFill>
                          <a:effectLst/>
                          <a:latin typeface="Arial" panose="020B0604020202020204" pitchFamily="34" charset="0"/>
                          <a:ea typeface="微软雅黑" panose="020B0503020204020204" pitchFamily="34" charset="-122"/>
                        </a:rPr>
                        <a:t>决策时，它们的特点是混乱的（即，因果关系是未知的）。这是因为没有真实的端到端可见性，因此没有端到端决策一致性。因此，</a:t>
                      </a:r>
                      <a:r>
                        <a:rPr lang="en-US" altLang="zh-CN" sz="800" b="1" kern="1200" dirty="0">
                          <a:solidFill>
                            <a:schemeClr val="tx1"/>
                          </a:solidFill>
                          <a:effectLst/>
                          <a:latin typeface="Arial" panose="020B0604020202020204" pitchFamily="34" charset="0"/>
                          <a:ea typeface="微软雅黑" panose="020B0503020204020204" pitchFamily="34" charset="-122"/>
                        </a:rPr>
                        <a:t>E2E</a:t>
                      </a:r>
                      <a:r>
                        <a:rPr lang="zh-CN" altLang="en-US" sz="800" b="1" kern="1200" dirty="0">
                          <a:solidFill>
                            <a:schemeClr val="tx1"/>
                          </a:solidFill>
                          <a:effectLst/>
                          <a:latin typeface="Arial" panose="020B0604020202020204" pitchFamily="34" charset="0"/>
                          <a:ea typeface="微软雅黑" panose="020B0503020204020204" pitchFamily="34" charset="-122"/>
                        </a:rPr>
                        <a:t>的决策是不知情</a:t>
                      </a:r>
                      <a:r>
                        <a:rPr lang="zh-CN" altLang="en-US" sz="800" b="0" kern="1200" dirty="0">
                          <a:solidFill>
                            <a:schemeClr val="tx1"/>
                          </a:solidFill>
                          <a:effectLst/>
                          <a:latin typeface="Arial" panose="020B0604020202020204" pitchFamily="34" charset="0"/>
                          <a:ea typeface="微软雅黑" panose="020B0503020204020204" pitchFamily="34" charset="-122"/>
                        </a:rPr>
                        <a:t>的，通常是对</a:t>
                      </a:r>
                      <a:r>
                        <a:rPr lang="zh-CN" altLang="en-US" sz="800" b="1" kern="1200" dirty="0">
                          <a:solidFill>
                            <a:schemeClr val="tx1"/>
                          </a:solidFill>
                          <a:effectLst/>
                          <a:latin typeface="Arial" panose="020B0604020202020204" pitchFamily="34" charset="0"/>
                          <a:ea typeface="微软雅黑" panose="020B0503020204020204" pitchFamily="34" charset="-122"/>
                        </a:rPr>
                        <a:t>整个供应链</a:t>
                      </a:r>
                      <a:r>
                        <a:rPr lang="zh-CN" altLang="en-US" sz="800" b="0" kern="1200" dirty="0">
                          <a:solidFill>
                            <a:schemeClr val="tx1"/>
                          </a:solidFill>
                          <a:effectLst/>
                          <a:latin typeface="Arial" panose="020B0604020202020204" pitchFamily="34" charset="0"/>
                          <a:ea typeface="微软雅黑" panose="020B0503020204020204" pitchFamily="34" charset="-122"/>
                        </a:rPr>
                        <a:t>将发生什么的</a:t>
                      </a:r>
                      <a:r>
                        <a:rPr lang="zh-CN" altLang="en-US" sz="800" b="1" kern="1200" dirty="0">
                          <a:solidFill>
                            <a:schemeClr val="tx1"/>
                          </a:solidFill>
                          <a:effectLst/>
                          <a:latin typeface="Arial" panose="020B0604020202020204" pitchFamily="34" charset="0"/>
                          <a:ea typeface="微软雅黑" panose="020B0503020204020204" pitchFamily="34" charset="-122"/>
                        </a:rPr>
                        <a:t>猜测</a:t>
                      </a:r>
                      <a:r>
                        <a:rPr lang="zh-CN" altLang="en-US" sz="800" b="0" kern="1200" dirty="0">
                          <a:solidFill>
                            <a:schemeClr val="tx1"/>
                          </a:solidFill>
                          <a:effectLst/>
                          <a:latin typeface="Arial" panose="020B0604020202020204" pitchFamily="34" charset="0"/>
                          <a:ea typeface="微软雅黑" panose="020B0503020204020204" pitchFamily="34" charset="-122"/>
                        </a:rPr>
                        <a:t>。</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dirty="0">
                          <a:solidFill>
                            <a:schemeClr val="tx1"/>
                          </a:solidFill>
                          <a:effectLst/>
                          <a:latin typeface="Arial" panose="020B0604020202020204" pitchFamily="34" charset="0"/>
                          <a:ea typeface="微软雅黑" panose="020B0503020204020204" pitchFamily="34" charset="-122"/>
                        </a:rPr>
                        <a:t>这主要是简单和混乱决策的混合。</a:t>
                      </a:r>
                      <a:r>
                        <a:rPr lang="zh-CN" altLang="en-US" sz="800" b="1" dirty="0">
                          <a:solidFill>
                            <a:schemeClr val="tx1"/>
                          </a:solidFill>
                          <a:effectLst/>
                          <a:latin typeface="Arial" panose="020B0604020202020204" pitchFamily="34" charset="0"/>
                          <a:ea typeface="微软雅黑" panose="020B0503020204020204" pitchFamily="34" charset="-122"/>
                        </a:rPr>
                        <a:t>简单的决策</a:t>
                      </a:r>
                      <a:r>
                        <a:rPr lang="zh-CN" altLang="en-US" sz="800" b="0" dirty="0">
                          <a:solidFill>
                            <a:schemeClr val="tx1"/>
                          </a:solidFill>
                          <a:effectLst/>
                          <a:latin typeface="Arial" panose="020B0604020202020204" pitchFamily="34" charset="0"/>
                          <a:ea typeface="微软雅黑" panose="020B0503020204020204" pitchFamily="34" charset="-122"/>
                        </a:rPr>
                        <a:t>现在在本质上是</a:t>
                      </a:r>
                      <a:r>
                        <a:rPr lang="zh-CN" altLang="en-US" sz="800" b="1" dirty="0">
                          <a:solidFill>
                            <a:schemeClr val="tx1"/>
                          </a:solidFill>
                          <a:effectLst/>
                          <a:latin typeface="Arial" panose="020B0604020202020204" pitchFamily="34" charset="0"/>
                          <a:ea typeface="微软雅黑" panose="020B0503020204020204" pitchFamily="34" charset="-122"/>
                        </a:rPr>
                        <a:t>功能性的</a:t>
                      </a:r>
                      <a:r>
                        <a:rPr lang="zh-CN" altLang="en-US" sz="800" b="0" dirty="0">
                          <a:solidFill>
                            <a:schemeClr val="tx1"/>
                          </a:solidFill>
                          <a:effectLst/>
                          <a:latin typeface="Arial" panose="020B0604020202020204" pitchFamily="34" charset="0"/>
                          <a:ea typeface="微软雅黑" panose="020B0503020204020204" pitchFamily="34" charset="-122"/>
                        </a:rPr>
                        <a:t>，以匹配计划的水平（例如，调度和安全库存目标）。由于持续缺乏端到端供应链可见性，任何真正的端到端决策（如服务和</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或库存平衡）本质上都是混乱的。在极少数情况下（例如，生产计划和分销计划协作），会有一些复杂的决策作为相邻的功能出现在决策制定上。不需要做出复杂的决定</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dirty="0">
                          <a:solidFill>
                            <a:schemeClr val="tx1"/>
                          </a:solidFill>
                          <a:effectLst/>
                          <a:latin typeface="Arial" panose="020B0604020202020204" pitchFamily="34" charset="0"/>
                          <a:ea typeface="微软雅黑" panose="020B0503020204020204" pitchFamily="34" charset="-122"/>
                        </a:rPr>
                        <a:t>在这个阶段，计划决策应该从本质上的专门</a:t>
                      </a:r>
                      <a:r>
                        <a:rPr lang="zh-CN" altLang="en-US" sz="800" b="1" dirty="0">
                          <a:solidFill>
                            <a:schemeClr val="tx1"/>
                          </a:solidFill>
                          <a:effectLst/>
                          <a:latin typeface="Arial" panose="020B0604020202020204" pitchFamily="34" charset="0"/>
                          <a:ea typeface="微软雅黑" panose="020B0503020204020204" pitchFamily="34" charset="-122"/>
                        </a:rPr>
                        <a:t>功能性转向企业</a:t>
                      </a:r>
                      <a:r>
                        <a:rPr lang="en-US" altLang="zh-CN" sz="800" b="1" dirty="0">
                          <a:solidFill>
                            <a:schemeClr val="tx1"/>
                          </a:solidFill>
                          <a:effectLst/>
                          <a:latin typeface="Arial" panose="020B0604020202020204" pitchFamily="34" charset="0"/>
                          <a:ea typeface="微软雅黑" panose="020B0503020204020204" pitchFamily="34" charset="-122"/>
                        </a:rPr>
                        <a:t>E2E</a:t>
                      </a:r>
                      <a:r>
                        <a:rPr lang="zh-CN" altLang="en-US" sz="800" b="0" dirty="0">
                          <a:solidFill>
                            <a:schemeClr val="tx1"/>
                          </a:solidFill>
                          <a:effectLst/>
                          <a:latin typeface="Arial" panose="020B0604020202020204" pitchFamily="34" charset="0"/>
                          <a:ea typeface="微软雅黑" panose="020B0503020204020204" pitchFamily="34" charset="-122"/>
                        </a:rPr>
                        <a:t>，主要是因为现在的水平对齐程度（参见上面的第</a:t>
                      </a:r>
                      <a:r>
                        <a:rPr lang="en-US" altLang="zh-CN" sz="800" b="0" dirty="0">
                          <a:solidFill>
                            <a:schemeClr val="tx1"/>
                          </a:solidFill>
                          <a:effectLst/>
                          <a:latin typeface="Arial" panose="020B0604020202020204" pitchFamily="34" charset="0"/>
                          <a:ea typeface="微软雅黑" panose="020B0503020204020204" pitchFamily="34" charset="-122"/>
                        </a:rPr>
                        <a:t>3</a:t>
                      </a:r>
                      <a:r>
                        <a:rPr lang="zh-CN" altLang="en-US" sz="800" b="0" dirty="0">
                          <a:solidFill>
                            <a:schemeClr val="tx1"/>
                          </a:solidFill>
                          <a:effectLst/>
                          <a:latin typeface="Arial" panose="020B0604020202020204" pitchFamily="34" charset="0"/>
                          <a:ea typeface="微软雅黑" panose="020B0503020204020204" pitchFamily="34" charset="-122"/>
                        </a:rPr>
                        <a:t>阶段水平对齐）。这就产生了复杂的端到端决策</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利益相关者可以就端到端计划决策或场景的结果进行协作。对于那些在整个供应链中得到充分理解的端到端决策，这些决策是由最佳实践支持的简单决策，并且是更全面</a:t>
                      </a:r>
                      <a:r>
                        <a:rPr lang="zh-CN" altLang="en-US" sz="800" b="1" dirty="0">
                          <a:solidFill>
                            <a:schemeClr val="tx1"/>
                          </a:solidFill>
                          <a:effectLst/>
                          <a:latin typeface="Arial" panose="020B0604020202020204" pitchFamily="34" charset="0"/>
                          <a:ea typeface="微软雅黑" panose="020B0503020204020204" pitchFamily="34" charset="-122"/>
                        </a:rPr>
                        <a:t>自动化的候选方案</a:t>
                      </a:r>
                      <a:endParaRPr lang="zh-CN" altLang="en-US" sz="8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dirty="0">
                          <a:solidFill>
                            <a:schemeClr val="tx1"/>
                          </a:solidFill>
                          <a:effectLst/>
                          <a:latin typeface="Arial" panose="020B0604020202020204" pitchFamily="34" charset="0"/>
                          <a:ea typeface="微软雅黑" panose="020B0503020204020204" pitchFamily="34" charset="-122"/>
                        </a:rPr>
                        <a:t>进一步的混合变化持续走向</a:t>
                      </a:r>
                      <a:r>
                        <a:rPr lang="zh-CN" altLang="en-US" sz="800" b="1" dirty="0">
                          <a:solidFill>
                            <a:schemeClr val="tx1"/>
                          </a:solidFill>
                          <a:effectLst/>
                          <a:latin typeface="Arial" panose="020B0604020202020204" pitchFamily="34" charset="0"/>
                          <a:ea typeface="微软雅黑" panose="020B0503020204020204" pitchFamily="34" charset="-122"/>
                        </a:rPr>
                        <a:t>更简单和更复杂的多企业端到端决策</a:t>
                      </a:r>
                      <a:r>
                        <a:rPr lang="zh-CN" altLang="en-US" sz="800" b="0" dirty="0">
                          <a:solidFill>
                            <a:schemeClr val="tx1"/>
                          </a:solidFill>
                          <a:effectLst/>
                          <a:latin typeface="Arial" panose="020B0604020202020204" pitchFamily="34" charset="0"/>
                          <a:ea typeface="微软雅黑" panose="020B0503020204020204" pitchFamily="34" charset="-122"/>
                        </a:rPr>
                        <a:t>，反映出哪些决策现在是自主的（即，简单的决策），哪些仍然需要人工评估（即，复杂的）。由于新的和不断增长的多企业可见性，大大减少了混乱决策。随着可见性的提高，就有机会对这些数据进行实验，从而导致需要数据发现和可视化的复杂计划决策的增加</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dirty="0">
                          <a:solidFill>
                            <a:schemeClr val="tx1"/>
                          </a:solidFill>
                          <a:effectLst/>
                          <a:latin typeface="Arial" panose="020B0604020202020204" pitchFamily="34" charset="0"/>
                          <a:ea typeface="微软雅黑" panose="020B0503020204020204" pitchFamily="34" charset="-122"/>
                        </a:rPr>
                        <a:t>在这里</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由于广泛的可见性</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1" dirty="0">
                          <a:solidFill>
                            <a:schemeClr val="tx1"/>
                          </a:solidFill>
                          <a:effectLst/>
                          <a:latin typeface="Arial" panose="020B0604020202020204" pitchFamily="34" charset="0"/>
                          <a:ea typeface="微软雅黑" panose="020B0503020204020204" pitchFamily="34" charset="-122"/>
                        </a:rPr>
                        <a:t>混乱的决策可以忽略不计</a:t>
                      </a:r>
                      <a:r>
                        <a:rPr lang="zh-CN" altLang="en-US" sz="800" b="0" dirty="0">
                          <a:solidFill>
                            <a:schemeClr val="tx1"/>
                          </a:solidFill>
                          <a:effectLst/>
                          <a:latin typeface="Arial" panose="020B0604020202020204" pitchFamily="34" charset="0"/>
                          <a:ea typeface="微软雅黑" panose="020B0503020204020204" pitchFamily="34" charset="-122"/>
                        </a:rPr>
                        <a:t>。简单的决策在短期和中期的时间范围内占据主导地位</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与高水平的自主计划相结合。对于尚未完全自动化的权衡</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有一些复杂的决定。广泛的、复杂的决策支持了从新的数据集和相关性中获得进一步价值的倡议</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2905279"/>
                  </a:ext>
                </a:extLst>
              </a:tr>
              <a:tr h="1076593">
                <a:tc>
                  <a:txBody>
                    <a:bodyPr/>
                    <a:lstStyle/>
                    <a:p>
                      <a:r>
                        <a:rPr lang="zh-CN" altLang="en-US" sz="1050" dirty="0">
                          <a:solidFill>
                            <a:schemeClr val="tx1"/>
                          </a:solidFill>
                          <a:latin typeface="Arial" panose="020B0604020202020204" pitchFamily="34" charset="0"/>
                          <a:ea typeface="微软雅黑" panose="020B0503020204020204" pitchFamily="34" charset="-122"/>
                        </a:rPr>
                        <a:t>响应性</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1" kern="1200" dirty="0">
                          <a:solidFill>
                            <a:schemeClr val="tx1"/>
                          </a:solidFill>
                          <a:effectLst/>
                          <a:latin typeface="Arial" panose="020B0604020202020204" pitchFamily="34" charset="0"/>
                          <a:ea typeface="微软雅黑" panose="020B0503020204020204" pitchFamily="34" charset="-122"/>
                        </a:rPr>
                        <a:t>计划数据时延高</a:t>
                      </a:r>
                      <a:r>
                        <a:rPr lang="zh-CN" altLang="en-US" sz="800" b="0" kern="1200" dirty="0">
                          <a:solidFill>
                            <a:schemeClr val="tx1"/>
                          </a:solidFill>
                          <a:effectLst/>
                          <a:latin typeface="Arial" panose="020B0604020202020204" pitchFamily="34" charset="0"/>
                          <a:ea typeface="微软雅黑" panose="020B0503020204020204" pitchFamily="34" charset="-122"/>
                        </a:rPr>
                        <a:t>。用于为计划设置初始条件的数据（例如，未完成的订单、实际库存）通常是许多天前的，主要是执行后的每周和</a:t>
                      </a:r>
                      <a:r>
                        <a:rPr lang="en-US" altLang="zh-CN" sz="800" b="0" kern="1200" dirty="0">
                          <a:solidFill>
                            <a:schemeClr val="tx1"/>
                          </a:solidFill>
                          <a:effectLst/>
                          <a:latin typeface="Arial" panose="020B0604020202020204" pitchFamily="34" charset="0"/>
                          <a:ea typeface="微软雅黑" panose="020B0503020204020204" pitchFamily="34" charset="-122"/>
                        </a:rPr>
                        <a:t>/</a:t>
                      </a:r>
                      <a:r>
                        <a:rPr lang="zh-CN" altLang="en-US" sz="800" b="0" kern="1200" dirty="0">
                          <a:solidFill>
                            <a:schemeClr val="tx1"/>
                          </a:solidFill>
                          <a:effectLst/>
                          <a:latin typeface="Arial" panose="020B0604020202020204" pitchFamily="34" charset="0"/>
                          <a:ea typeface="微软雅黑" panose="020B0503020204020204" pitchFamily="34" charset="-122"/>
                        </a:rPr>
                        <a:t>或每月更新。一些每日更新发生在日程安排等方面。次每日级别的计划更新需要手工操作。高延迟接口提供部门计划。因此，</a:t>
                      </a:r>
                      <a:r>
                        <a:rPr lang="zh-CN" altLang="en-US" sz="800" b="1" kern="1200" dirty="0">
                          <a:solidFill>
                            <a:schemeClr val="tx1"/>
                          </a:solidFill>
                          <a:effectLst/>
                          <a:latin typeface="Arial" panose="020B0604020202020204" pitchFamily="34" charset="0"/>
                          <a:ea typeface="微软雅黑" panose="020B0503020204020204" pitchFamily="34" charset="-122"/>
                        </a:rPr>
                        <a:t>计划与物理供应链的现实脱节</a:t>
                      </a:r>
                      <a:r>
                        <a:rPr lang="zh-CN" altLang="en-US" sz="800" b="0" kern="1200" dirty="0">
                          <a:solidFill>
                            <a:schemeClr val="tx1"/>
                          </a:solidFill>
                          <a:effectLst/>
                          <a:latin typeface="Arial" panose="020B0604020202020204" pitchFamily="34" charset="0"/>
                          <a:ea typeface="微软雅黑" panose="020B0503020204020204" pitchFamily="34" charset="-122"/>
                        </a:rPr>
                        <a:t>，导致供应链既不灵活也不响应</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dirty="0">
                          <a:solidFill>
                            <a:schemeClr val="tx1"/>
                          </a:solidFill>
                          <a:effectLst/>
                          <a:latin typeface="Arial" panose="020B0604020202020204" pitchFamily="34" charset="0"/>
                          <a:ea typeface="微软雅黑" panose="020B0503020204020204" pitchFamily="34" charset="-122"/>
                        </a:rPr>
                        <a:t>计划数据时延高。</a:t>
                      </a:r>
                      <a:r>
                        <a:rPr lang="zh-CN" altLang="en-US" sz="800" b="1" dirty="0">
                          <a:solidFill>
                            <a:schemeClr val="tx1"/>
                          </a:solidFill>
                          <a:effectLst/>
                          <a:latin typeface="Arial" panose="020B0604020202020204" pitchFamily="34" charset="0"/>
                          <a:ea typeface="微软雅黑" panose="020B0503020204020204" pitchFamily="34" charset="-122"/>
                        </a:rPr>
                        <a:t>主要是每周和</a:t>
                      </a:r>
                      <a:r>
                        <a:rPr lang="en-US" altLang="zh-CN" sz="800" b="1" dirty="0">
                          <a:solidFill>
                            <a:schemeClr val="tx1"/>
                          </a:solidFill>
                          <a:effectLst/>
                          <a:latin typeface="Arial" panose="020B0604020202020204" pitchFamily="34" charset="0"/>
                          <a:ea typeface="微软雅黑" panose="020B0503020204020204" pitchFamily="34" charset="-122"/>
                        </a:rPr>
                        <a:t>/</a:t>
                      </a:r>
                      <a:r>
                        <a:rPr lang="zh-CN" altLang="en-US" sz="800" b="1" dirty="0">
                          <a:solidFill>
                            <a:schemeClr val="tx1"/>
                          </a:solidFill>
                          <a:effectLst/>
                          <a:latin typeface="Arial" panose="020B0604020202020204" pitchFamily="34" charset="0"/>
                          <a:ea typeface="微软雅黑" panose="020B0503020204020204" pitchFamily="34" charset="-122"/>
                        </a:rPr>
                        <a:t>或每天从执行到功能计划的更新</a:t>
                      </a:r>
                      <a:r>
                        <a:rPr lang="zh-CN" altLang="en-US" sz="800" b="0" dirty="0">
                          <a:solidFill>
                            <a:schemeClr val="tx1"/>
                          </a:solidFill>
                          <a:effectLst/>
                          <a:latin typeface="Arial" panose="020B0604020202020204" pitchFamily="34" charset="0"/>
                          <a:ea typeface="微软雅黑" panose="020B0503020204020204" pitchFamily="34" charset="-122"/>
                        </a:rPr>
                        <a:t>。任何次日常更新都需要手动输入到计划中。主功能计划之间存在高时延接口。每个功能计划都有一个单独的数据模型，以防止从一个功能区域到其他功能区域的即时更新</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a:r>
                        <a:rPr lang="zh-CN" altLang="en-US" sz="800" b="0" dirty="0">
                          <a:solidFill>
                            <a:schemeClr val="tx1"/>
                          </a:solidFill>
                          <a:effectLst/>
                          <a:latin typeface="Arial" panose="020B0604020202020204" pitchFamily="34" charset="0"/>
                          <a:ea typeface="微软雅黑" panose="020B0503020204020204" pitchFamily="34" charset="-122"/>
                        </a:rPr>
                        <a:t>随着执行部门的更新越来越频繁，计划数据开始减少。在一些情况下，</a:t>
                      </a:r>
                      <a:r>
                        <a:rPr lang="zh-CN" altLang="en-US" sz="800" b="1" dirty="0">
                          <a:solidFill>
                            <a:schemeClr val="tx1"/>
                          </a:solidFill>
                          <a:effectLst/>
                          <a:latin typeface="Arial" panose="020B0604020202020204" pitchFamily="34" charset="0"/>
                          <a:ea typeface="微软雅黑" panose="020B0503020204020204" pitchFamily="34" charset="-122"/>
                        </a:rPr>
                        <a:t>从执行到计划将有每日和次</a:t>
                      </a:r>
                      <a:r>
                        <a:rPr lang="en-US" altLang="zh-CN" sz="800" b="1" dirty="0">
                          <a:solidFill>
                            <a:schemeClr val="tx1"/>
                          </a:solidFill>
                          <a:effectLst/>
                          <a:latin typeface="Arial" panose="020B0604020202020204" pitchFamily="34" charset="0"/>
                          <a:ea typeface="微软雅黑" panose="020B0503020204020204" pitchFamily="34" charset="-122"/>
                        </a:rPr>
                        <a:t>/</a:t>
                      </a:r>
                      <a:r>
                        <a:rPr lang="zh-CN" altLang="en-US" sz="800" b="1" dirty="0">
                          <a:solidFill>
                            <a:schemeClr val="tx1"/>
                          </a:solidFill>
                          <a:effectLst/>
                          <a:latin typeface="Arial" panose="020B0604020202020204" pitchFamily="34" charset="0"/>
                          <a:ea typeface="微软雅黑" panose="020B0503020204020204" pitchFamily="34" charset="-122"/>
                        </a:rPr>
                        <a:t>每日的更新。但是，当检测到中断时，仍然需要手动进行临时更新。</a:t>
                      </a:r>
                      <a:br>
                        <a:rPr lang="zh-CN" altLang="en-US" sz="800" dirty="0">
                          <a:solidFill>
                            <a:schemeClr val="tx1"/>
                          </a:solidFill>
                          <a:latin typeface="Arial" panose="020B0604020202020204" pitchFamily="34" charset="0"/>
                          <a:ea typeface="微软雅黑" panose="020B0503020204020204" pitchFamily="34" charset="-122"/>
                        </a:rPr>
                      </a:br>
                      <a:r>
                        <a:rPr lang="zh-CN" altLang="en-US" sz="800" b="0" dirty="0">
                          <a:solidFill>
                            <a:schemeClr val="tx1"/>
                          </a:solidFill>
                          <a:effectLst/>
                          <a:latin typeface="Arial" panose="020B0604020202020204" pitchFamily="34" charset="0"/>
                          <a:ea typeface="微软雅黑" panose="020B0503020204020204" pitchFamily="34" charset="-122"/>
                        </a:rPr>
                        <a:t>通过统一的企业供应链（</a:t>
                      </a:r>
                      <a:r>
                        <a:rPr lang="en-US" altLang="zh-CN" sz="800" b="0" dirty="0">
                          <a:solidFill>
                            <a:schemeClr val="tx1"/>
                          </a:solidFill>
                          <a:effectLst/>
                          <a:latin typeface="Arial" panose="020B0604020202020204" pitchFamily="34" charset="0"/>
                          <a:ea typeface="微软雅黑" panose="020B0503020204020204" pitchFamily="34" charset="-122"/>
                        </a:rPr>
                        <a:t>SC</a:t>
                      </a:r>
                      <a:r>
                        <a:rPr lang="zh-CN" altLang="en-US" sz="800" b="0" dirty="0">
                          <a:solidFill>
                            <a:schemeClr val="tx1"/>
                          </a:solidFill>
                          <a:effectLst/>
                          <a:latin typeface="Arial" panose="020B0604020202020204" pitchFamily="34" charset="0"/>
                          <a:ea typeface="微软雅黑" panose="020B0503020204020204" pitchFamily="34" charset="-122"/>
                        </a:rPr>
                        <a:t>）数据模型，在主要功能计划（例如，需求计划和供应计划）之间进行低延迟（少于</a:t>
                      </a:r>
                      <a:r>
                        <a:rPr lang="en-US" altLang="zh-CN" sz="800" b="0" dirty="0">
                          <a:solidFill>
                            <a:schemeClr val="tx1"/>
                          </a:solidFill>
                          <a:effectLst/>
                          <a:latin typeface="Arial" panose="020B0604020202020204" pitchFamily="34" charset="0"/>
                          <a:ea typeface="微软雅黑" panose="020B0503020204020204" pitchFamily="34" charset="-122"/>
                        </a:rPr>
                        <a:t>5</a:t>
                      </a:r>
                      <a:r>
                        <a:rPr lang="zh-CN" altLang="en-US" sz="800" b="0" dirty="0">
                          <a:solidFill>
                            <a:schemeClr val="tx1"/>
                          </a:solidFill>
                          <a:effectLst/>
                          <a:latin typeface="Arial" panose="020B0604020202020204" pitchFamily="34" charset="0"/>
                          <a:ea typeface="微软雅黑" panose="020B0503020204020204" pitchFamily="34" charset="-122"/>
                        </a:rPr>
                        <a:t>分钟）更新，支持计划解决方案。</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dirty="0">
                          <a:solidFill>
                            <a:schemeClr val="tx1"/>
                          </a:solidFill>
                          <a:effectLst/>
                          <a:latin typeface="Arial" panose="020B0604020202020204" pitchFamily="34" charset="0"/>
                          <a:ea typeface="微软雅黑" panose="020B0503020204020204" pitchFamily="34" charset="-122"/>
                        </a:rPr>
                        <a:t>进入计划系统的数据现在处于</a:t>
                      </a:r>
                      <a:r>
                        <a:rPr lang="zh-CN" altLang="en-US" sz="800" b="1" dirty="0">
                          <a:solidFill>
                            <a:schemeClr val="tx1"/>
                          </a:solidFill>
                          <a:effectLst/>
                          <a:latin typeface="Arial" panose="020B0604020202020204" pitchFamily="34" charset="0"/>
                          <a:ea typeface="微软雅黑" panose="020B0503020204020204" pitchFamily="34" charset="-122"/>
                        </a:rPr>
                        <a:t>低延迟水平</a:t>
                      </a:r>
                      <a:r>
                        <a:rPr lang="zh-CN" altLang="en-US" sz="800" b="0" dirty="0">
                          <a:solidFill>
                            <a:schemeClr val="tx1"/>
                          </a:solidFill>
                          <a:effectLst/>
                          <a:latin typeface="Arial" panose="020B0604020202020204" pitchFamily="34" charset="0"/>
                          <a:ea typeface="微软雅黑" panose="020B0503020204020204" pitchFamily="34" charset="-122"/>
                        </a:rPr>
                        <a:t>。在执行更新方面，关键计划数据的时间现在</a:t>
                      </a:r>
                      <a:r>
                        <a:rPr lang="zh-CN" altLang="en-US" sz="800" b="1" dirty="0">
                          <a:solidFill>
                            <a:schemeClr val="tx1"/>
                          </a:solidFill>
                          <a:effectLst/>
                          <a:latin typeface="Arial" panose="020B0604020202020204" pitchFamily="34" charset="0"/>
                          <a:ea typeface="微软雅黑" panose="020B0503020204020204" pitchFamily="34" charset="-122"/>
                        </a:rPr>
                        <a:t>接近</a:t>
                      </a:r>
                      <a:r>
                        <a:rPr lang="en-US" altLang="zh-CN" sz="800" b="1" dirty="0">
                          <a:solidFill>
                            <a:schemeClr val="tx1"/>
                          </a:solidFill>
                          <a:effectLst/>
                          <a:latin typeface="Arial" panose="020B0604020202020204" pitchFamily="34" charset="0"/>
                          <a:ea typeface="微软雅黑" panose="020B0503020204020204" pitchFamily="34" charset="-122"/>
                        </a:rPr>
                        <a:t>5</a:t>
                      </a:r>
                      <a:r>
                        <a:rPr lang="zh-CN" altLang="en-US" sz="800" b="1" dirty="0">
                          <a:solidFill>
                            <a:schemeClr val="tx1"/>
                          </a:solidFill>
                          <a:effectLst/>
                          <a:latin typeface="Arial" panose="020B0604020202020204" pitchFamily="34" charset="0"/>
                          <a:ea typeface="微软雅黑" panose="020B0503020204020204" pitchFamily="34" charset="-122"/>
                        </a:rPr>
                        <a:t>分钟</a:t>
                      </a:r>
                      <a:r>
                        <a:rPr lang="zh-CN" altLang="en-US" sz="800" b="0" dirty="0">
                          <a:solidFill>
                            <a:schemeClr val="tx1"/>
                          </a:solidFill>
                          <a:effectLst/>
                          <a:latin typeface="Arial" panose="020B0604020202020204" pitchFamily="34" charset="0"/>
                          <a:ea typeface="微软雅黑" panose="020B0503020204020204" pitchFamily="34" charset="-122"/>
                        </a:rPr>
                        <a:t>。通过统一的多企业</a:t>
                      </a:r>
                      <a:r>
                        <a:rPr lang="en-US" altLang="zh-CN" sz="800" b="0" dirty="0">
                          <a:solidFill>
                            <a:schemeClr val="tx1"/>
                          </a:solidFill>
                          <a:effectLst/>
                          <a:latin typeface="Arial" panose="020B0604020202020204" pitchFamily="34" charset="0"/>
                          <a:ea typeface="微软雅黑" panose="020B0503020204020204" pitchFamily="34" charset="-122"/>
                        </a:rPr>
                        <a:t>SC</a:t>
                      </a:r>
                      <a:r>
                        <a:rPr lang="zh-CN" altLang="en-US" sz="800" b="0" dirty="0">
                          <a:solidFill>
                            <a:schemeClr val="tx1"/>
                          </a:solidFill>
                          <a:effectLst/>
                          <a:latin typeface="Arial" panose="020B0604020202020204" pitchFamily="34" charset="0"/>
                          <a:ea typeface="微软雅黑" panose="020B0503020204020204" pitchFamily="34" charset="-122"/>
                        </a:rPr>
                        <a:t>数据模型，主要功能计划之间以及企业和多企业计划之间的</a:t>
                      </a:r>
                      <a:r>
                        <a:rPr lang="zh-CN" altLang="en-US" sz="800" b="1" dirty="0">
                          <a:solidFill>
                            <a:schemeClr val="tx1"/>
                          </a:solidFill>
                          <a:effectLst/>
                          <a:latin typeface="Arial" panose="020B0604020202020204" pitchFamily="34" charset="0"/>
                          <a:ea typeface="微软雅黑" panose="020B0503020204020204" pitchFamily="34" charset="-122"/>
                        </a:rPr>
                        <a:t>更新时间少于</a:t>
                      </a:r>
                      <a:r>
                        <a:rPr lang="en-US" altLang="zh-CN" sz="800" b="1" dirty="0">
                          <a:solidFill>
                            <a:schemeClr val="tx1"/>
                          </a:solidFill>
                          <a:effectLst/>
                          <a:latin typeface="Arial" panose="020B0604020202020204" pitchFamily="34" charset="0"/>
                          <a:ea typeface="微软雅黑" panose="020B0503020204020204" pitchFamily="34" charset="-122"/>
                        </a:rPr>
                        <a:t>5</a:t>
                      </a:r>
                      <a:r>
                        <a:rPr lang="zh-CN" altLang="en-US" sz="800" b="1" dirty="0">
                          <a:solidFill>
                            <a:schemeClr val="tx1"/>
                          </a:solidFill>
                          <a:effectLst/>
                          <a:latin typeface="Arial" panose="020B0604020202020204" pitchFamily="34" charset="0"/>
                          <a:ea typeface="微软雅黑" panose="020B0503020204020204" pitchFamily="34" charset="-122"/>
                        </a:rPr>
                        <a:t>秒</a:t>
                      </a:r>
                      <a:endParaRPr lang="zh-CN" altLang="en-US" sz="8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dirty="0">
                          <a:solidFill>
                            <a:schemeClr val="tx1"/>
                          </a:solidFill>
                          <a:effectLst/>
                          <a:latin typeface="Arial" panose="020B0604020202020204" pitchFamily="34" charset="0"/>
                          <a:ea typeface="微软雅黑" panose="020B0503020204020204" pitchFamily="34" charset="-122"/>
                        </a:rPr>
                        <a:t>在这个阶段</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1" dirty="0">
                          <a:solidFill>
                            <a:schemeClr val="tx1"/>
                          </a:solidFill>
                          <a:effectLst/>
                          <a:latin typeface="Arial" panose="020B0604020202020204" pitchFamily="34" charset="0"/>
                          <a:ea typeface="微软雅黑" panose="020B0503020204020204" pitchFamily="34" charset="-122"/>
                        </a:rPr>
                        <a:t>有效的是“零”数据延迟</a:t>
                      </a:r>
                      <a:r>
                        <a:rPr lang="zh-CN" altLang="en-US" sz="800" b="0" dirty="0">
                          <a:solidFill>
                            <a:schemeClr val="tx1"/>
                          </a:solidFill>
                          <a:effectLst/>
                          <a:latin typeface="Arial" panose="020B0604020202020204" pitchFamily="34" charset="0"/>
                          <a:ea typeface="微软雅黑" panose="020B0503020204020204" pitchFamily="34" charset="-122"/>
                        </a:rPr>
                        <a:t>。执行和</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或网络的更新在不到</a:t>
                      </a:r>
                      <a:r>
                        <a:rPr lang="en-US" altLang="zh-CN" sz="800" b="0" dirty="0">
                          <a:solidFill>
                            <a:schemeClr val="tx1"/>
                          </a:solidFill>
                          <a:effectLst/>
                          <a:latin typeface="Arial" panose="020B0604020202020204" pitchFamily="34" charset="0"/>
                          <a:ea typeface="微软雅黑" panose="020B0503020204020204" pitchFamily="34" charset="-122"/>
                        </a:rPr>
                        <a:t>5</a:t>
                      </a:r>
                      <a:r>
                        <a:rPr lang="zh-CN" altLang="en-US" sz="800" b="0" dirty="0">
                          <a:solidFill>
                            <a:schemeClr val="tx1"/>
                          </a:solidFill>
                          <a:effectLst/>
                          <a:latin typeface="Arial" panose="020B0604020202020204" pitchFamily="34" charset="0"/>
                          <a:ea typeface="微软雅黑" panose="020B0503020204020204" pitchFamily="34" charset="-122"/>
                        </a:rPr>
                        <a:t>秒内就会发生。对于所有功能和</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或领域计划的多企业</a:t>
                      </a:r>
                      <a:r>
                        <a:rPr lang="en-US" altLang="zh-CN" sz="800" b="0" dirty="0">
                          <a:solidFill>
                            <a:schemeClr val="tx1"/>
                          </a:solidFill>
                          <a:effectLst/>
                          <a:latin typeface="Arial" panose="020B0604020202020204" pitchFamily="34" charset="0"/>
                          <a:ea typeface="微软雅黑" panose="020B0503020204020204" pitchFamily="34" charset="-122"/>
                        </a:rPr>
                        <a:t>E2E</a:t>
                      </a:r>
                      <a:r>
                        <a:rPr lang="zh-CN" altLang="en-US" sz="800" b="0" dirty="0">
                          <a:solidFill>
                            <a:schemeClr val="tx1"/>
                          </a:solidFill>
                          <a:effectLst/>
                          <a:latin typeface="Arial" panose="020B0604020202020204" pitchFamily="34" charset="0"/>
                          <a:ea typeface="微软雅黑" panose="020B0503020204020204" pitchFamily="34" charset="-122"/>
                        </a:rPr>
                        <a:t>供应链模型的计划传播的零延迟</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7283401"/>
                  </a:ext>
                </a:extLst>
              </a:tr>
              <a:tr h="830514">
                <a:tc>
                  <a:txBody>
                    <a:bodyPr/>
                    <a:lstStyle/>
                    <a:p>
                      <a:r>
                        <a:rPr lang="zh-CN" altLang="en-US" sz="1050" dirty="0">
                          <a:solidFill>
                            <a:schemeClr val="tx1"/>
                          </a:solidFill>
                          <a:latin typeface="Arial" panose="020B0604020202020204" pitchFamily="34" charset="0"/>
                          <a:ea typeface="微软雅黑" panose="020B0503020204020204" pitchFamily="34" charset="-122"/>
                        </a:rPr>
                        <a:t>决策颗粒度</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kern="1200" dirty="0">
                          <a:solidFill>
                            <a:schemeClr val="tx1"/>
                          </a:solidFill>
                          <a:effectLst/>
                          <a:latin typeface="Arial" panose="020B0604020202020204" pitchFamily="34" charset="0"/>
                          <a:ea typeface="微软雅黑" panose="020B0503020204020204" pitchFamily="34" charset="-122"/>
                        </a:rPr>
                        <a:t>计划中使用的数据本质上通常是</a:t>
                      </a:r>
                      <a:r>
                        <a:rPr lang="zh-CN" altLang="en-US" sz="800" b="1" kern="1200" dirty="0">
                          <a:solidFill>
                            <a:schemeClr val="tx1"/>
                          </a:solidFill>
                          <a:effectLst/>
                          <a:latin typeface="Arial" panose="020B0604020202020204" pitchFamily="34" charset="0"/>
                          <a:ea typeface="微软雅黑" panose="020B0503020204020204" pitchFamily="34" charset="-122"/>
                        </a:rPr>
                        <a:t>聚合</a:t>
                      </a:r>
                      <a:r>
                        <a:rPr lang="zh-CN" altLang="en-US" sz="800" b="0" kern="1200" dirty="0">
                          <a:solidFill>
                            <a:schemeClr val="tx1"/>
                          </a:solidFill>
                          <a:effectLst/>
                          <a:latin typeface="Arial" panose="020B0604020202020204" pitchFamily="34" charset="0"/>
                          <a:ea typeface="微软雅黑" panose="020B0503020204020204" pitchFamily="34" charset="-122"/>
                        </a:rPr>
                        <a:t>的。例如，需求信号是每月的需求数字。计划通常是在公司、销售区域、产品组或资源级别制定的。这导致</a:t>
                      </a:r>
                      <a:r>
                        <a:rPr lang="zh-CN" altLang="en-US" sz="800" b="1" kern="1200" dirty="0">
                          <a:solidFill>
                            <a:schemeClr val="tx1"/>
                          </a:solidFill>
                          <a:effectLst/>
                          <a:latin typeface="Arial" panose="020B0604020202020204" pitchFamily="34" charset="0"/>
                          <a:ea typeface="微软雅黑" panose="020B0503020204020204" pitchFamily="34" charset="-122"/>
                        </a:rPr>
                        <a:t>缺乏</a:t>
                      </a:r>
                      <a:r>
                        <a:rPr lang="zh-CN" altLang="en-US" sz="800" b="0" kern="1200" dirty="0">
                          <a:solidFill>
                            <a:schemeClr val="tx1"/>
                          </a:solidFill>
                          <a:effectLst/>
                          <a:latin typeface="Arial" panose="020B0604020202020204" pitchFamily="34" charset="0"/>
                          <a:ea typeface="微软雅黑" panose="020B0503020204020204" pitchFamily="34" charset="-122"/>
                        </a:rPr>
                        <a:t>以协调的方式驱动操作活动的</a:t>
                      </a:r>
                      <a:r>
                        <a:rPr lang="zh-CN" altLang="en-US" sz="800" b="1" kern="1200" dirty="0">
                          <a:solidFill>
                            <a:schemeClr val="tx1"/>
                          </a:solidFill>
                          <a:effectLst/>
                          <a:latin typeface="Arial" panose="020B0604020202020204" pitchFamily="34" charset="0"/>
                          <a:ea typeface="微软雅黑" panose="020B0503020204020204" pitchFamily="34" charset="-122"/>
                        </a:rPr>
                        <a:t>粒度和准确性</a:t>
                      </a:r>
                      <a:endParaRPr lang="zh-CN" altLang="en-US" sz="8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dirty="0">
                          <a:solidFill>
                            <a:schemeClr val="tx1"/>
                          </a:solidFill>
                          <a:effectLst/>
                          <a:latin typeface="Arial" panose="020B0604020202020204" pitchFamily="34" charset="0"/>
                          <a:ea typeface="微软雅黑" panose="020B0503020204020204" pitchFamily="34" charset="-122"/>
                        </a:rPr>
                        <a:t>数据粒度增加。功能计划现在是在产品组、项目、</a:t>
                      </a:r>
                      <a:r>
                        <a:rPr lang="en-US" altLang="zh-CN" sz="800" b="0" dirty="0">
                          <a:solidFill>
                            <a:schemeClr val="tx1"/>
                          </a:solidFill>
                          <a:effectLst/>
                          <a:latin typeface="Arial" panose="020B0604020202020204" pitchFamily="34" charset="0"/>
                          <a:ea typeface="微软雅黑" panose="020B0503020204020204" pitchFamily="34" charset="-122"/>
                        </a:rPr>
                        <a:t>SKU</a:t>
                      </a:r>
                      <a:r>
                        <a:rPr lang="zh-CN" altLang="en-US" sz="800" b="0" dirty="0">
                          <a:solidFill>
                            <a:schemeClr val="tx1"/>
                          </a:solidFill>
                          <a:effectLst/>
                          <a:latin typeface="Arial" panose="020B0604020202020204" pitchFamily="34" charset="0"/>
                          <a:ea typeface="微软雅黑" panose="020B0503020204020204" pitchFamily="34" charset="-122"/>
                        </a:rPr>
                        <a:t>和</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或订单等级别上制定的。由于伴随的数据延迟，这些计划在</a:t>
                      </a:r>
                      <a:r>
                        <a:rPr lang="zh-CN" altLang="en-US" sz="800" b="1" dirty="0">
                          <a:solidFill>
                            <a:schemeClr val="tx1"/>
                          </a:solidFill>
                          <a:effectLst/>
                          <a:latin typeface="Arial" panose="020B0604020202020204" pitchFamily="34" charset="0"/>
                          <a:ea typeface="微软雅黑" panose="020B0503020204020204" pitchFamily="34" charset="-122"/>
                        </a:rPr>
                        <a:t>某种程度上仍然与物理供应链的现实脱节。</a:t>
                      </a:r>
                      <a:endParaRPr lang="zh-CN" altLang="en-US" sz="8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dirty="0">
                          <a:solidFill>
                            <a:schemeClr val="tx1"/>
                          </a:solidFill>
                          <a:effectLst/>
                          <a:latin typeface="Arial" panose="020B0604020202020204" pitchFamily="34" charset="0"/>
                          <a:ea typeface="微软雅黑" panose="020B0503020204020204" pitchFamily="34" charset="-122"/>
                        </a:rPr>
                        <a:t>数据粒度再次增加。这允许在较低的级别上制定计划，例如</a:t>
                      </a:r>
                      <a:r>
                        <a:rPr lang="en-US" altLang="zh-CN" sz="800" b="0" dirty="0">
                          <a:solidFill>
                            <a:schemeClr val="tx1"/>
                          </a:solidFill>
                          <a:effectLst/>
                          <a:latin typeface="Arial" panose="020B0604020202020204" pitchFamily="34" charset="0"/>
                          <a:ea typeface="微软雅黑" panose="020B0503020204020204" pitchFamily="34" charset="-122"/>
                        </a:rPr>
                        <a:t>SKU</a:t>
                      </a:r>
                      <a:r>
                        <a:rPr lang="zh-CN" altLang="en-US" sz="800" b="0" dirty="0">
                          <a:solidFill>
                            <a:schemeClr val="tx1"/>
                          </a:solidFill>
                          <a:effectLst/>
                          <a:latin typeface="Arial" panose="020B0604020202020204" pitchFamily="34" charset="0"/>
                          <a:ea typeface="微软雅黑" panose="020B0503020204020204" pitchFamily="34" charset="-122"/>
                        </a:rPr>
                        <a:t>位置、客户、客户位置和订单。随着数据延迟的减少，</a:t>
                      </a:r>
                      <a:r>
                        <a:rPr lang="zh-CN" altLang="en-US" sz="800" b="1" dirty="0">
                          <a:solidFill>
                            <a:schemeClr val="tx1"/>
                          </a:solidFill>
                          <a:effectLst/>
                          <a:latin typeface="Arial" panose="020B0604020202020204" pitchFamily="34" charset="0"/>
                          <a:ea typeface="微软雅黑" panose="020B0503020204020204" pitchFamily="34" charset="-122"/>
                        </a:rPr>
                        <a:t>计划与物理供应链和执行的联系越来越紧密。</a:t>
                      </a:r>
                      <a:endParaRPr lang="zh-CN" altLang="en-US" sz="8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1" dirty="0">
                          <a:solidFill>
                            <a:schemeClr val="tx1"/>
                          </a:solidFill>
                          <a:effectLst/>
                          <a:latin typeface="Arial" panose="020B0604020202020204" pitchFamily="34" charset="0"/>
                          <a:ea typeface="微软雅黑" panose="020B0503020204020204" pitchFamily="34" charset="-122"/>
                        </a:rPr>
                        <a:t>计划数据现在处于订单（所有类型）更改的级别</a:t>
                      </a:r>
                      <a:r>
                        <a:rPr lang="zh-CN" altLang="en-US" sz="800" b="0" dirty="0">
                          <a:solidFill>
                            <a:schemeClr val="tx1"/>
                          </a:solidFill>
                          <a:effectLst/>
                          <a:latin typeface="Arial" panose="020B0604020202020204" pitchFamily="34" charset="0"/>
                          <a:ea typeface="微软雅黑" panose="020B0503020204020204" pitchFamily="34" charset="-122"/>
                        </a:rPr>
                        <a:t>，以便可以评估和评估这些事件（例如，日期、数量、位置、产品、价格和交付更改）。</a:t>
                      </a:r>
                      <a:r>
                        <a:rPr lang="zh-CN" altLang="en-US" sz="800" b="1" dirty="0">
                          <a:solidFill>
                            <a:schemeClr val="tx1"/>
                          </a:solidFill>
                          <a:effectLst/>
                          <a:latin typeface="Arial" panose="020B0604020202020204" pitchFamily="34" charset="0"/>
                          <a:ea typeface="微软雅黑" panose="020B0503020204020204" pitchFamily="34" charset="-122"/>
                        </a:rPr>
                        <a:t>这进一步缩小了计划和执行之间的差距</a:t>
                      </a:r>
                      <a:r>
                        <a:rPr lang="en-US" altLang="zh-CN" sz="800" b="1" dirty="0">
                          <a:solidFill>
                            <a:schemeClr val="tx1"/>
                          </a:solidFill>
                          <a:effectLst/>
                          <a:latin typeface="Arial" panose="020B0604020202020204" pitchFamily="34" charset="0"/>
                          <a:ea typeface="微软雅黑" panose="020B0503020204020204" pitchFamily="34" charset="-122"/>
                        </a:rPr>
                        <a:t>.</a:t>
                      </a:r>
                      <a:endParaRPr lang="zh-CN" altLang="en-US" sz="800" b="1"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dirty="0">
                          <a:solidFill>
                            <a:schemeClr val="tx1"/>
                          </a:solidFill>
                          <a:effectLst/>
                          <a:latin typeface="Arial" panose="020B0604020202020204" pitchFamily="34" charset="0"/>
                          <a:ea typeface="微软雅黑" panose="020B0503020204020204" pitchFamily="34" charset="-122"/>
                        </a:rPr>
                        <a:t>计划数据现在处于最高的粒度。这导致了在</a:t>
                      </a:r>
                      <a:r>
                        <a:rPr lang="zh-CN" altLang="en-US" sz="800" b="1" dirty="0">
                          <a:solidFill>
                            <a:schemeClr val="tx1"/>
                          </a:solidFill>
                          <a:effectLst/>
                          <a:latin typeface="Arial" panose="020B0604020202020204" pitchFamily="34" charset="0"/>
                          <a:ea typeface="微软雅黑" panose="020B0503020204020204" pitchFamily="34" charset="-122"/>
                        </a:rPr>
                        <a:t>事件级别的计划决策</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利用非结构化数据</a:t>
                      </a:r>
                      <a:r>
                        <a:rPr lang="en-US" altLang="zh-CN" sz="800" b="0" dirty="0">
                          <a:solidFill>
                            <a:schemeClr val="tx1"/>
                          </a:solidFill>
                          <a:effectLst/>
                          <a:latin typeface="Arial" panose="020B0604020202020204" pitchFamily="34" charset="0"/>
                          <a:ea typeface="微软雅黑" panose="020B0503020204020204" pitchFamily="34" charset="-122"/>
                        </a:rPr>
                        <a:t>,IoT</a:t>
                      </a:r>
                      <a:r>
                        <a:rPr lang="zh-CN" altLang="en-US" sz="800" b="0" dirty="0">
                          <a:solidFill>
                            <a:schemeClr val="tx1"/>
                          </a:solidFill>
                          <a:effectLst/>
                          <a:latin typeface="Arial" panose="020B0604020202020204" pitchFamily="34" charset="0"/>
                          <a:ea typeface="微软雅黑" panose="020B0503020204020204" pitchFamily="34" charset="-122"/>
                        </a:rPr>
                        <a:t>感觉数据</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外部破坏数据</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宏观经济数据</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领先指标等</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3964366"/>
                  </a:ext>
                </a:extLst>
              </a:tr>
              <a:tr h="1568749">
                <a:tc>
                  <a:txBody>
                    <a:bodyPr/>
                    <a:lstStyle/>
                    <a:p>
                      <a:r>
                        <a:rPr lang="zh-CN" altLang="en-US" sz="1050" dirty="0">
                          <a:solidFill>
                            <a:schemeClr val="tx1"/>
                          </a:solidFill>
                          <a:latin typeface="Arial" panose="020B0604020202020204" pitchFamily="34" charset="0"/>
                          <a:ea typeface="微软雅黑" panose="020B0503020204020204" pitchFamily="34" charset="-122"/>
                        </a:rPr>
                        <a:t>多模态规划</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kern="1200" dirty="0">
                          <a:solidFill>
                            <a:schemeClr val="tx1"/>
                          </a:solidFill>
                          <a:effectLst/>
                          <a:latin typeface="Arial" panose="020B0604020202020204" pitchFamily="34" charset="0"/>
                          <a:ea typeface="微软雅黑" panose="020B0503020204020204" pitchFamily="34" charset="-122"/>
                        </a:rPr>
                        <a:t>模式</a:t>
                      </a:r>
                      <a:r>
                        <a:rPr lang="en-US" altLang="zh-CN" sz="800" b="0" kern="1200" dirty="0">
                          <a:solidFill>
                            <a:schemeClr val="tx1"/>
                          </a:solidFill>
                          <a:effectLst/>
                          <a:latin typeface="Arial" panose="020B0604020202020204" pitchFamily="34" charset="0"/>
                          <a:ea typeface="微软雅黑" panose="020B0503020204020204" pitchFamily="34" charset="-122"/>
                        </a:rPr>
                        <a:t>1 </a:t>
                      </a:r>
                      <a:r>
                        <a:rPr lang="zh-CN" altLang="en-US" sz="800" b="0" kern="1200" dirty="0">
                          <a:solidFill>
                            <a:schemeClr val="tx1"/>
                          </a:solidFill>
                          <a:effectLst/>
                          <a:latin typeface="Arial" panose="020B0604020202020204" pitchFamily="34" charset="0"/>
                          <a:ea typeface="微软雅黑" panose="020B0503020204020204" pitchFamily="34" charset="-122"/>
                        </a:rPr>
                        <a:t>（</a:t>
                      </a:r>
                      <a:r>
                        <a:rPr lang="en-US" altLang="zh-CN" sz="800" b="0" kern="1200" dirty="0">
                          <a:solidFill>
                            <a:schemeClr val="tx1"/>
                          </a:solidFill>
                          <a:effectLst/>
                          <a:latin typeface="Arial" panose="020B0604020202020204" pitchFamily="34" charset="0"/>
                          <a:ea typeface="微软雅黑" panose="020B0503020204020204" pitchFamily="34" charset="-122"/>
                        </a:rPr>
                        <a:t>SCP</a:t>
                      </a:r>
                      <a:r>
                        <a:rPr lang="zh-CN" altLang="en-US" sz="800" b="0" kern="1200" dirty="0">
                          <a:solidFill>
                            <a:schemeClr val="tx1"/>
                          </a:solidFill>
                          <a:effectLst/>
                          <a:latin typeface="Arial" panose="020B0604020202020204" pitchFamily="34" charset="0"/>
                          <a:ea typeface="微软雅黑" panose="020B0503020204020204" pitchFamily="34" charset="-122"/>
                        </a:rPr>
                        <a:t>目前的运行方式）在部门级进行计划。重点是努力对计划进行渐进式改进。</a:t>
                      </a:r>
                      <a:r>
                        <a:rPr lang="zh-CN" altLang="en-US" sz="800" b="1" kern="1200" dirty="0">
                          <a:solidFill>
                            <a:schemeClr val="tx1"/>
                          </a:solidFill>
                          <a:effectLst/>
                          <a:latin typeface="Arial" panose="020B0604020202020204" pitchFamily="34" charset="0"/>
                          <a:ea typeface="微软雅黑" panose="020B0503020204020204" pitchFamily="34" charset="-122"/>
                        </a:rPr>
                        <a:t>没有模式</a:t>
                      </a:r>
                      <a:r>
                        <a:rPr lang="en-US" altLang="zh-CN" sz="800" b="1" kern="1200" dirty="0">
                          <a:solidFill>
                            <a:schemeClr val="tx1"/>
                          </a:solidFill>
                          <a:effectLst/>
                          <a:latin typeface="Arial" panose="020B0604020202020204" pitchFamily="34" charset="0"/>
                          <a:ea typeface="微软雅黑" panose="020B0503020204020204" pitchFamily="34" charset="-122"/>
                        </a:rPr>
                        <a:t>2</a:t>
                      </a:r>
                      <a:r>
                        <a:rPr lang="zh-CN" altLang="en-US" sz="800" b="0" kern="1200" dirty="0">
                          <a:solidFill>
                            <a:schemeClr val="tx1"/>
                          </a:solidFill>
                          <a:effectLst/>
                          <a:latin typeface="Arial" panose="020B0604020202020204" pitchFamily="34" charset="0"/>
                          <a:ea typeface="微软雅黑" panose="020B0503020204020204" pitchFamily="34" charset="-122"/>
                        </a:rPr>
                        <a:t>（创新</a:t>
                      </a:r>
                      <a:r>
                        <a:rPr lang="en-US" altLang="zh-CN" sz="800" b="0" kern="1200" dirty="0">
                          <a:solidFill>
                            <a:schemeClr val="tx1"/>
                          </a:solidFill>
                          <a:effectLst/>
                          <a:latin typeface="Arial" panose="020B0604020202020204" pitchFamily="34" charset="0"/>
                          <a:ea typeface="微软雅黑" panose="020B0503020204020204" pitchFamily="34" charset="-122"/>
                        </a:rPr>
                        <a:t>SCP</a:t>
                      </a:r>
                      <a:r>
                        <a:rPr lang="zh-CN" altLang="en-US" sz="800" b="0" kern="1200" dirty="0">
                          <a:solidFill>
                            <a:schemeClr val="tx1"/>
                          </a:solidFill>
                          <a:effectLst/>
                          <a:latin typeface="Arial" panose="020B0604020202020204" pitchFamily="34" charset="0"/>
                          <a:ea typeface="微软雅黑" panose="020B0503020204020204" pitchFamily="34" charset="-122"/>
                        </a:rPr>
                        <a:t>）活动在进行</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dirty="0">
                          <a:solidFill>
                            <a:schemeClr val="tx1"/>
                          </a:solidFill>
                          <a:effectLst/>
                          <a:latin typeface="Arial" panose="020B0604020202020204" pitchFamily="34" charset="0"/>
                          <a:ea typeface="微软雅黑" panose="020B0503020204020204" pitchFamily="34" charset="-122"/>
                        </a:rPr>
                        <a:t>功能模式</a:t>
                      </a:r>
                      <a:r>
                        <a:rPr lang="en-US" altLang="zh-CN" sz="800" b="0" dirty="0">
                          <a:solidFill>
                            <a:schemeClr val="tx1"/>
                          </a:solidFill>
                          <a:effectLst/>
                          <a:latin typeface="Arial" panose="020B0604020202020204" pitchFamily="34" charset="0"/>
                          <a:ea typeface="微软雅黑" panose="020B0503020204020204" pitchFamily="34" charset="-122"/>
                        </a:rPr>
                        <a:t>1</a:t>
                      </a:r>
                      <a:r>
                        <a:rPr lang="zh-CN" altLang="en-US" sz="800" b="0" dirty="0">
                          <a:solidFill>
                            <a:schemeClr val="tx1"/>
                          </a:solidFill>
                          <a:effectLst/>
                          <a:latin typeface="Arial" panose="020B0604020202020204" pitchFamily="34" charset="0"/>
                          <a:ea typeface="微软雅黑" panose="020B0503020204020204" pitchFamily="34" charset="-122"/>
                        </a:rPr>
                        <a:t>计划主要存在，功能模式</a:t>
                      </a:r>
                      <a:r>
                        <a:rPr lang="en-US" altLang="zh-CN" sz="800" b="0" dirty="0">
                          <a:solidFill>
                            <a:schemeClr val="tx1"/>
                          </a:solidFill>
                          <a:effectLst/>
                          <a:latin typeface="Arial" panose="020B0604020202020204" pitchFamily="34" charset="0"/>
                          <a:ea typeface="微软雅黑" panose="020B0503020204020204" pitchFamily="34" charset="-122"/>
                        </a:rPr>
                        <a:t>1</a:t>
                      </a:r>
                      <a:r>
                        <a:rPr lang="zh-CN" altLang="en-US" sz="800" b="0" dirty="0">
                          <a:solidFill>
                            <a:schemeClr val="tx1"/>
                          </a:solidFill>
                          <a:effectLst/>
                          <a:latin typeface="Arial" panose="020B0604020202020204" pitchFamily="34" charset="0"/>
                          <a:ea typeface="微软雅黑" panose="020B0503020204020204" pitchFamily="34" charset="-122"/>
                        </a:rPr>
                        <a:t>计划的改进方法正在探索中。在需求计划或调度等方面，可能会有数量有限的功能模式</a:t>
                      </a:r>
                      <a:r>
                        <a:rPr lang="en-US" altLang="zh-CN" sz="800" b="0" dirty="0">
                          <a:solidFill>
                            <a:schemeClr val="tx1"/>
                          </a:solidFill>
                          <a:effectLst/>
                          <a:latin typeface="Arial" panose="020B0604020202020204" pitchFamily="34" charset="0"/>
                          <a:ea typeface="微软雅黑" panose="020B0503020204020204" pitchFamily="34" charset="-122"/>
                        </a:rPr>
                        <a:t>2</a:t>
                      </a:r>
                      <a:r>
                        <a:rPr lang="zh-CN" altLang="en-US" sz="800" b="0" dirty="0">
                          <a:solidFill>
                            <a:schemeClr val="tx1"/>
                          </a:solidFill>
                          <a:effectLst/>
                          <a:latin typeface="Arial" panose="020B0604020202020204" pitchFamily="34" charset="0"/>
                          <a:ea typeface="微软雅黑" panose="020B0503020204020204" pitchFamily="34" charset="-122"/>
                        </a:rPr>
                        <a:t>计划。这些努力的目的是尝试使用新的点解决方案逐步改进预测或时间表的质量。</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dirty="0">
                          <a:solidFill>
                            <a:schemeClr val="tx1"/>
                          </a:solidFill>
                          <a:effectLst/>
                          <a:latin typeface="Arial" panose="020B0604020202020204" pitchFamily="34" charset="0"/>
                          <a:ea typeface="微软雅黑" panose="020B0503020204020204" pitchFamily="34" charset="-122"/>
                        </a:rPr>
                        <a:t>计划决策在本质上主要转向了</a:t>
                      </a:r>
                      <a:r>
                        <a:rPr lang="en-US" altLang="zh-CN" sz="800" b="0" dirty="0">
                          <a:solidFill>
                            <a:schemeClr val="tx1"/>
                          </a:solidFill>
                          <a:effectLst/>
                          <a:latin typeface="Arial" panose="020B0604020202020204" pitchFamily="34" charset="0"/>
                          <a:ea typeface="微软雅黑" panose="020B0503020204020204" pitchFamily="34" charset="-122"/>
                        </a:rPr>
                        <a:t>E2E</a:t>
                      </a:r>
                      <a:r>
                        <a:rPr lang="zh-CN" altLang="en-US" sz="800" b="0" dirty="0">
                          <a:solidFill>
                            <a:schemeClr val="tx1"/>
                          </a:solidFill>
                          <a:effectLst/>
                          <a:latin typeface="Arial" panose="020B0604020202020204" pitchFamily="34" charset="0"/>
                          <a:ea typeface="微软雅黑" panose="020B0503020204020204" pitchFamily="34" charset="-122"/>
                        </a:rPr>
                        <a:t>模式，但在最佳实践到位的情况下，仍然主要是模式</a:t>
                      </a:r>
                      <a:r>
                        <a:rPr lang="en-US" altLang="zh-CN" sz="800" b="0" dirty="0">
                          <a:solidFill>
                            <a:schemeClr val="tx1"/>
                          </a:solidFill>
                          <a:effectLst/>
                          <a:latin typeface="Arial" panose="020B0604020202020204" pitchFamily="34" charset="0"/>
                          <a:ea typeface="微软雅黑" panose="020B0503020204020204" pitchFamily="34" charset="-122"/>
                        </a:rPr>
                        <a:t>1.</a:t>
                      </a:r>
                      <a:r>
                        <a:rPr lang="zh-CN" altLang="en-US" sz="800" b="0" dirty="0">
                          <a:solidFill>
                            <a:schemeClr val="tx1"/>
                          </a:solidFill>
                          <a:effectLst/>
                          <a:latin typeface="Arial" panose="020B0604020202020204" pitchFamily="34" charset="0"/>
                          <a:ea typeface="微软雅黑" panose="020B0503020204020204" pitchFamily="34" charset="-122"/>
                        </a:rPr>
                        <a:t>在销售和运营计划（</a:t>
                      </a:r>
                      <a:r>
                        <a:rPr lang="en-US" altLang="zh-CN" sz="800" b="0" dirty="0">
                          <a:solidFill>
                            <a:schemeClr val="tx1"/>
                          </a:solidFill>
                          <a:effectLst/>
                          <a:latin typeface="Arial" panose="020B0604020202020204" pitchFamily="34" charset="0"/>
                          <a:ea typeface="微软雅黑" panose="020B0503020204020204" pitchFamily="34" charset="-122"/>
                        </a:rPr>
                        <a:t>S&amp;OP</a:t>
                      </a:r>
                      <a:r>
                        <a:rPr lang="zh-CN" altLang="en-US" sz="800" b="0" dirty="0">
                          <a:solidFill>
                            <a:schemeClr val="tx1"/>
                          </a:solidFill>
                          <a:effectLst/>
                          <a:latin typeface="Arial" panose="020B0604020202020204" pitchFamily="34" charset="0"/>
                          <a:ea typeface="微软雅黑" panose="020B0503020204020204" pitchFamily="34" charset="-122"/>
                        </a:rPr>
                        <a:t>）权衡方面，出现了一些</a:t>
                      </a:r>
                      <a:r>
                        <a:rPr lang="en-US" altLang="zh-CN" sz="800" b="0" dirty="0">
                          <a:solidFill>
                            <a:schemeClr val="tx1"/>
                          </a:solidFill>
                          <a:effectLst/>
                          <a:latin typeface="Arial" panose="020B0604020202020204" pitchFamily="34" charset="0"/>
                          <a:ea typeface="微软雅黑" panose="020B0503020204020204" pitchFamily="34" charset="-122"/>
                        </a:rPr>
                        <a:t>E2E</a:t>
                      </a:r>
                      <a:r>
                        <a:rPr lang="zh-CN" altLang="en-US" sz="800" b="0" dirty="0">
                          <a:solidFill>
                            <a:schemeClr val="tx1"/>
                          </a:solidFill>
                          <a:effectLst/>
                          <a:latin typeface="Arial" panose="020B0604020202020204" pitchFamily="34" charset="0"/>
                          <a:ea typeface="微软雅黑" panose="020B0503020204020204" pitchFamily="34" charset="-122"/>
                        </a:rPr>
                        <a:t>模式</a:t>
                      </a:r>
                      <a:r>
                        <a:rPr lang="en-US" altLang="zh-CN" sz="800" b="0" dirty="0">
                          <a:solidFill>
                            <a:schemeClr val="tx1"/>
                          </a:solidFill>
                          <a:effectLst/>
                          <a:latin typeface="Arial" panose="020B0604020202020204" pitchFamily="34" charset="0"/>
                          <a:ea typeface="微软雅黑" panose="020B0503020204020204" pitchFamily="34" charset="-122"/>
                        </a:rPr>
                        <a:t>2</a:t>
                      </a:r>
                      <a:r>
                        <a:rPr lang="zh-CN" altLang="en-US" sz="800" b="0" dirty="0">
                          <a:solidFill>
                            <a:schemeClr val="tx1"/>
                          </a:solidFill>
                          <a:effectLst/>
                          <a:latin typeface="Arial" panose="020B0604020202020204" pitchFamily="34" charset="0"/>
                          <a:ea typeface="微软雅黑" panose="020B0503020204020204" pitchFamily="34" charset="-122"/>
                        </a:rPr>
                        <a:t>计划。</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a:r>
                        <a:rPr lang="zh-CN" altLang="en-US" sz="800" b="0" dirty="0">
                          <a:solidFill>
                            <a:schemeClr val="tx1"/>
                          </a:solidFill>
                          <a:effectLst/>
                          <a:latin typeface="Arial" panose="020B0604020202020204" pitchFamily="34" charset="0"/>
                          <a:ea typeface="微软雅黑" panose="020B0503020204020204" pitchFamily="34" charset="-122"/>
                        </a:rPr>
                        <a:t>多企业端到端计划决策现在是模式</a:t>
                      </a:r>
                      <a:r>
                        <a:rPr lang="en-US" altLang="zh-CN" sz="800" b="0" dirty="0">
                          <a:solidFill>
                            <a:schemeClr val="tx1"/>
                          </a:solidFill>
                          <a:effectLst/>
                          <a:latin typeface="Arial" panose="020B0604020202020204" pitchFamily="34" charset="0"/>
                          <a:ea typeface="微软雅黑" panose="020B0503020204020204" pitchFamily="34" charset="-122"/>
                        </a:rPr>
                        <a:t>1 -</a:t>
                      </a:r>
                      <a:r>
                        <a:rPr lang="zh-CN" altLang="en-US" sz="800" b="0" dirty="0">
                          <a:solidFill>
                            <a:schemeClr val="tx1"/>
                          </a:solidFill>
                          <a:effectLst/>
                          <a:latin typeface="Arial" panose="020B0604020202020204" pitchFamily="34" charset="0"/>
                          <a:ea typeface="微软雅黑" panose="020B0503020204020204" pitchFamily="34" charset="-122"/>
                        </a:rPr>
                        <a:t>端到端供应链的日常计划方式。多元企业将会越来越多</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目前在多企业需求感知（可能包括社会情绪）、多级库存优化（</a:t>
                      </a:r>
                      <a:r>
                        <a:rPr lang="en-US" altLang="zh-CN" sz="800" b="0" dirty="0">
                          <a:solidFill>
                            <a:schemeClr val="tx1"/>
                          </a:solidFill>
                          <a:effectLst/>
                          <a:latin typeface="Arial" panose="020B0604020202020204" pitchFamily="34" charset="0"/>
                          <a:ea typeface="微软雅黑" panose="020B0503020204020204" pitchFamily="34" charset="-122"/>
                        </a:rPr>
                        <a:t>MEIO</a:t>
                      </a:r>
                      <a:r>
                        <a:rPr lang="zh-CN" altLang="en-US" sz="800" b="0" dirty="0">
                          <a:solidFill>
                            <a:schemeClr val="tx1"/>
                          </a:solidFill>
                          <a:effectLst/>
                          <a:latin typeface="Arial" panose="020B0604020202020204" pitchFamily="34" charset="0"/>
                          <a:ea typeface="微软雅黑" panose="020B0503020204020204" pitchFamily="34" charset="-122"/>
                        </a:rPr>
                        <a:t>）、细分和物联网等领域正在进行的端到端模式</a:t>
                      </a:r>
                      <a:r>
                        <a:rPr lang="en-US" altLang="zh-CN" sz="800" b="0" dirty="0">
                          <a:solidFill>
                            <a:schemeClr val="tx1"/>
                          </a:solidFill>
                          <a:effectLst/>
                          <a:latin typeface="Arial" panose="020B0604020202020204" pitchFamily="34" charset="0"/>
                          <a:ea typeface="微软雅黑" panose="020B0503020204020204" pitchFamily="34" charset="-122"/>
                        </a:rPr>
                        <a:t>2</a:t>
                      </a:r>
                      <a:r>
                        <a:rPr lang="zh-CN" altLang="en-US" sz="800" b="0" dirty="0">
                          <a:solidFill>
                            <a:schemeClr val="tx1"/>
                          </a:solidFill>
                          <a:effectLst/>
                          <a:latin typeface="Arial" panose="020B0604020202020204" pitchFamily="34" charset="0"/>
                          <a:ea typeface="微软雅黑" panose="020B0503020204020204" pitchFamily="34" charset="-122"/>
                        </a:rPr>
                        <a:t>计划。这可以通过更多可用的数据实现，无论是直接的还是通过数据湖，以及更广泛的供应链模型，允许实验在新的计划方式上寻找投资回报率</a:t>
                      </a:r>
                      <a:r>
                        <a:rPr lang="en-US" altLang="zh-CN" sz="800" b="0" dirty="0">
                          <a:solidFill>
                            <a:schemeClr val="tx1"/>
                          </a:solidFill>
                          <a:effectLst/>
                          <a:latin typeface="Arial" panose="020B0604020202020204" pitchFamily="34" charset="0"/>
                          <a:ea typeface="微软雅黑" panose="020B0503020204020204" pitchFamily="34" charset="-122"/>
                        </a:rPr>
                        <a:t>.</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zh-CN" altLang="en-US" sz="800" b="0" dirty="0">
                          <a:solidFill>
                            <a:schemeClr val="tx1"/>
                          </a:solidFill>
                          <a:effectLst/>
                          <a:latin typeface="Arial" panose="020B0604020202020204" pitchFamily="34" charset="0"/>
                          <a:ea typeface="微软雅黑" panose="020B0503020204020204" pitchFamily="34" charset="-122"/>
                        </a:rPr>
                        <a:t>网络级决策现在是最佳实践模式</a:t>
                      </a:r>
                      <a:r>
                        <a:rPr lang="en-US" altLang="zh-CN" sz="800" b="0" dirty="0">
                          <a:solidFill>
                            <a:schemeClr val="tx1"/>
                          </a:solidFill>
                          <a:effectLst/>
                          <a:latin typeface="Arial" panose="020B0604020202020204" pitchFamily="34" charset="0"/>
                          <a:ea typeface="微软雅黑" panose="020B0503020204020204" pitchFamily="34" charset="-122"/>
                        </a:rPr>
                        <a:t>1</a:t>
                      </a:r>
                      <a:r>
                        <a:rPr lang="zh-CN" altLang="en-US" sz="800" b="0" dirty="0">
                          <a:solidFill>
                            <a:schemeClr val="tx1"/>
                          </a:solidFill>
                          <a:effectLst/>
                          <a:latin typeface="Arial" panose="020B0604020202020204" pitchFamily="34" charset="0"/>
                          <a:ea typeface="微软雅黑" panose="020B0503020204020204" pitchFamily="34" charset="-122"/>
                        </a:rPr>
                        <a:t>。有广泛的本地</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功能和</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或域</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和</a:t>
                      </a:r>
                      <a:r>
                        <a:rPr lang="en-US" altLang="zh-CN" sz="800" b="0" dirty="0">
                          <a:solidFill>
                            <a:schemeClr val="tx1"/>
                          </a:solidFill>
                          <a:effectLst/>
                          <a:latin typeface="Arial" panose="020B0604020202020204" pitchFamily="34" charset="0"/>
                          <a:ea typeface="微软雅黑" panose="020B0503020204020204" pitchFamily="34" charset="-122"/>
                        </a:rPr>
                        <a:t>E2E</a:t>
                      </a:r>
                      <a:r>
                        <a:rPr lang="zh-CN" altLang="en-US" sz="800" b="0" dirty="0">
                          <a:solidFill>
                            <a:schemeClr val="tx1"/>
                          </a:solidFill>
                          <a:effectLst/>
                          <a:latin typeface="Arial" panose="020B0604020202020204" pitchFamily="34" charset="0"/>
                          <a:ea typeface="微软雅黑" panose="020B0503020204020204" pitchFamily="34" charset="-122"/>
                        </a:rPr>
                        <a:t>模式</a:t>
                      </a:r>
                      <a:r>
                        <a:rPr lang="en-US" altLang="zh-CN" sz="800" b="0" dirty="0">
                          <a:solidFill>
                            <a:schemeClr val="tx1"/>
                          </a:solidFill>
                          <a:effectLst/>
                          <a:latin typeface="Arial" panose="020B0604020202020204" pitchFamily="34" charset="0"/>
                          <a:ea typeface="微软雅黑" panose="020B0503020204020204" pitchFamily="34" charset="-122"/>
                        </a:rPr>
                        <a:t>2</a:t>
                      </a:r>
                      <a:r>
                        <a:rPr lang="zh-CN" altLang="en-US" sz="800" b="0" dirty="0">
                          <a:solidFill>
                            <a:schemeClr val="tx1"/>
                          </a:solidFill>
                          <a:effectLst/>
                          <a:latin typeface="Arial" panose="020B0604020202020204" pitchFamily="34" charset="0"/>
                          <a:ea typeface="微软雅黑" panose="020B0503020204020204" pitchFamily="34" charset="-122"/>
                        </a:rPr>
                        <a:t>计划</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利用多个内部和外部数据源进行新的计划的实验。由于数字供应链双星</a:t>
                      </a:r>
                      <a:r>
                        <a:rPr lang="en-US" altLang="zh-CN" sz="800" b="0" dirty="0">
                          <a:solidFill>
                            <a:schemeClr val="tx1"/>
                          </a:solidFill>
                          <a:effectLst/>
                          <a:latin typeface="Arial" panose="020B0604020202020204" pitchFamily="34" charset="0"/>
                          <a:ea typeface="微软雅黑" panose="020B0503020204020204" pitchFamily="34" charset="-122"/>
                        </a:rPr>
                        <a:t>,</a:t>
                      </a:r>
                      <a:r>
                        <a:rPr lang="zh-CN" altLang="en-US" sz="800" b="0" dirty="0">
                          <a:solidFill>
                            <a:schemeClr val="tx1"/>
                          </a:solidFill>
                          <a:effectLst/>
                          <a:latin typeface="Arial" panose="020B0604020202020204" pitchFamily="34" charset="0"/>
                          <a:ea typeface="微软雅黑" panose="020B0503020204020204" pitchFamily="34" charset="-122"/>
                        </a:rPr>
                        <a:t>一旦通过模拟验证了</a:t>
                      </a:r>
                      <a:r>
                        <a:rPr lang="en-US" altLang="zh-CN" sz="800" b="0" dirty="0">
                          <a:solidFill>
                            <a:schemeClr val="tx1"/>
                          </a:solidFill>
                          <a:effectLst/>
                          <a:latin typeface="Arial" panose="020B0604020202020204" pitchFamily="34" charset="0"/>
                          <a:ea typeface="微软雅黑" panose="020B0503020204020204" pitchFamily="34" charset="-122"/>
                        </a:rPr>
                        <a:t>ROI,</a:t>
                      </a:r>
                      <a:r>
                        <a:rPr lang="zh-CN" altLang="en-US" sz="800" b="0" dirty="0">
                          <a:solidFill>
                            <a:schemeClr val="tx1"/>
                          </a:solidFill>
                          <a:effectLst/>
                          <a:latin typeface="Arial" panose="020B0604020202020204" pitchFamily="34" charset="0"/>
                          <a:ea typeface="微软雅黑" panose="020B0503020204020204" pitchFamily="34" charset="-122"/>
                        </a:rPr>
                        <a:t>就有一种结构化的方式来将模式</a:t>
                      </a:r>
                      <a:r>
                        <a:rPr lang="en-US" altLang="zh-CN" sz="800" b="0" dirty="0">
                          <a:solidFill>
                            <a:schemeClr val="tx1"/>
                          </a:solidFill>
                          <a:effectLst/>
                          <a:latin typeface="Arial" panose="020B0604020202020204" pitchFamily="34" charset="0"/>
                          <a:ea typeface="微软雅黑" panose="020B0503020204020204" pitchFamily="34" charset="-122"/>
                        </a:rPr>
                        <a:t>2</a:t>
                      </a:r>
                      <a:r>
                        <a:rPr lang="zh-CN" altLang="en-US" sz="800" b="0" dirty="0">
                          <a:solidFill>
                            <a:schemeClr val="tx1"/>
                          </a:solidFill>
                          <a:effectLst/>
                          <a:latin typeface="Arial" panose="020B0604020202020204" pitchFamily="34" charset="0"/>
                          <a:ea typeface="微软雅黑" panose="020B0503020204020204" pitchFamily="34" charset="-122"/>
                        </a:rPr>
                        <a:t>计划创新移动到模式</a:t>
                      </a:r>
                      <a:r>
                        <a:rPr lang="en-US" altLang="zh-CN" sz="800" b="0" dirty="0">
                          <a:solidFill>
                            <a:schemeClr val="tx1"/>
                          </a:solidFill>
                          <a:effectLst/>
                          <a:latin typeface="Arial" panose="020B0604020202020204" pitchFamily="34" charset="0"/>
                          <a:ea typeface="微软雅黑" panose="020B0503020204020204" pitchFamily="34" charset="-122"/>
                        </a:rPr>
                        <a:t>1</a:t>
                      </a:r>
                      <a:endParaRPr lang="zh-CN" altLang="en-US" sz="800" dirty="0">
                        <a:solidFill>
                          <a:schemeClr val="tx1"/>
                        </a:solidFill>
                        <a:latin typeface="Arial" panose="020B0604020202020204" pitchFamily="34" charset="0"/>
                        <a:ea typeface="微软雅黑" panose="020B0503020204020204"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0130568"/>
                  </a:ext>
                </a:extLst>
              </a:tr>
            </a:tbl>
          </a:graphicData>
        </a:graphic>
      </p:graphicFrame>
    </p:spTree>
    <p:extLst>
      <p:ext uri="{BB962C8B-B14F-4D97-AF65-F5344CB8AC3E}">
        <p14:creationId xmlns:p14="http://schemas.microsoft.com/office/powerpoint/2010/main" val="1101056677"/>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94E04A4-E0BF-39D8-B6B4-3DFEB9CE4CE6}"/>
              </a:ext>
            </a:extLst>
          </p:cNvPr>
          <p:cNvSpPr>
            <a:spLocks noGrp="1"/>
          </p:cNvSpPr>
          <p:nvPr>
            <p:ph type="title"/>
          </p:nvPr>
        </p:nvSpPr>
        <p:spPr/>
        <p:txBody>
          <a:bodyPr/>
          <a:lstStyle/>
          <a:p>
            <a:r>
              <a:rPr lang="en-US" altLang="zh-CN" dirty="0"/>
              <a:t>As-Is vs To-Be</a:t>
            </a:r>
            <a:endParaRPr lang="zh-CN" altLang="en-US" dirty="0"/>
          </a:p>
        </p:txBody>
      </p:sp>
      <p:graphicFrame>
        <p:nvGraphicFramePr>
          <p:cNvPr id="4" name="表格 3">
            <a:extLst>
              <a:ext uri="{FF2B5EF4-FFF2-40B4-BE49-F238E27FC236}">
                <a16:creationId xmlns:a16="http://schemas.microsoft.com/office/drawing/2014/main" id="{75A483D2-0219-471E-ED47-2CAAF4CDF46E}"/>
              </a:ext>
            </a:extLst>
          </p:cNvPr>
          <p:cNvGraphicFramePr>
            <a:graphicFrameLocks noGrp="1"/>
          </p:cNvGraphicFramePr>
          <p:nvPr>
            <p:extLst>
              <p:ext uri="{D42A27DB-BD31-4B8C-83A1-F6EECF244321}">
                <p14:modId xmlns:p14="http://schemas.microsoft.com/office/powerpoint/2010/main" val="372105256"/>
              </p:ext>
            </p:extLst>
          </p:nvPr>
        </p:nvGraphicFramePr>
        <p:xfrm>
          <a:off x="1722120" y="1717040"/>
          <a:ext cx="7838440" cy="1787314"/>
        </p:xfrm>
        <a:graphic>
          <a:graphicData uri="http://schemas.openxmlformats.org/drawingml/2006/table">
            <a:tbl>
              <a:tblPr firstRow="1" bandRow="1">
                <a:tableStyleId>{5C22544A-7EE6-4342-B048-85BDC9FD1C3A}</a:tableStyleId>
              </a:tblPr>
              <a:tblGrid>
                <a:gridCol w="1476735">
                  <a:extLst>
                    <a:ext uri="{9D8B030D-6E8A-4147-A177-3AD203B41FA5}">
                      <a16:colId xmlns:a16="http://schemas.microsoft.com/office/drawing/2014/main" val="1230115979"/>
                    </a:ext>
                  </a:extLst>
                </a:gridCol>
                <a:gridCol w="1476735">
                  <a:extLst>
                    <a:ext uri="{9D8B030D-6E8A-4147-A177-3AD203B41FA5}">
                      <a16:colId xmlns:a16="http://schemas.microsoft.com/office/drawing/2014/main" val="3965391147"/>
                    </a:ext>
                  </a:extLst>
                </a:gridCol>
                <a:gridCol w="1476735">
                  <a:extLst>
                    <a:ext uri="{9D8B030D-6E8A-4147-A177-3AD203B41FA5}">
                      <a16:colId xmlns:a16="http://schemas.microsoft.com/office/drawing/2014/main" val="2205541186"/>
                    </a:ext>
                  </a:extLst>
                </a:gridCol>
                <a:gridCol w="1636589">
                  <a:extLst>
                    <a:ext uri="{9D8B030D-6E8A-4147-A177-3AD203B41FA5}">
                      <a16:colId xmlns:a16="http://schemas.microsoft.com/office/drawing/2014/main" val="740612088"/>
                    </a:ext>
                  </a:extLst>
                </a:gridCol>
                <a:gridCol w="1771646">
                  <a:extLst>
                    <a:ext uri="{9D8B030D-6E8A-4147-A177-3AD203B41FA5}">
                      <a16:colId xmlns:a16="http://schemas.microsoft.com/office/drawing/2014/main" val="897251497"/>
                    </a:ext>
                  </a:extLst>
                </a:gridCol>
              </a:tblGrid>
              <a:tr h="388408">
                <a:tc>
                  <a:txBody>
                    <a:bodyPr/>
                    <a:lstStyle/>
                    <a:p>
                      <a:r>
                        <a:rPr lang="en-US" altLang="zh-CN" dirty="0"/>
                        <a:t>Model</a:t>
                      </a:r>
                      <a:endParaRPr lang="zh-CN" altLang="en-US" dirty="0"/>
                    </a:p>
                  </a:txBody>
                  <a:tcPr/>
                </a:tc>
                <a:tc>
                  <a:txBody>
                    <a:bodyPr/>
                    <a:lstStyle/>
                    <a:p>
                      <a:r>
                        <a:rPr lang="en-US" altLang="zh-CN" dirty="0"/>
                        <a:t>As-Is</a:t>
                      </a:r>
                      <a:endParaRPr lang="zh-CN" altLang="en-US" dirty="0"/>
                    </a:p>
                  </a:txBody>
                  <a:tcPr/>
                </a:tc>
                <a:tc>
                  <a:txBody>
                    <a:bodyPr/>
                    <a:lstStyle/>
                    <a:p>
                      <a:r>
                        <a:rPr lang="en-US" altLang="zh-CN" dirty="0"/>
                        <a:t>To-Be</a:t>
                      </a:r>
                      <a:endParaRPr lang="zh-CN" altLang="en-US" dirty="0"/>
                    </a:p>
                  </a:txBody>
                  <a:tcPr/>
                </a:tc>
                <a:tc>
                  <a:txBody>
                    <a:bodyPr/>
                    <a:lstStyle/>
                    <a:p>
                      <a:r>
                        <a:rPr lang="en-US" altLang="zh-CN" dirty="0"/>
                        <a:t>Efforts</a:t>
                      </a:r>
                      <a:endParaRPr lang="zh-CN" altLang="en-US" dirty="0"/>
                    </a:p>
                  </a:txBody>
                  <a:tcPr/>
                </a:tc>
                <a:tc>
                  <a:txBody>
                    <a:bodyPr/>
                    <a:lstStyle/>
                    <a:p>
                      <a:r>
                        <a:rPr lang="en-US" altLang="zh-CN" dirty="0"/>
                        <a:t>Duration</a:t>
                      </a:r>
                      <a:endParaRPr lang="zh-CN" altLang="en-US" dirty="0"/>
                    </a:p>
                  </a:txBody>
                  <a:tcPr/>
                </a:tc>
                <a:extLst>
                  <a:ext uri="{0D108BD9-81ED-4DB2-BD59-A6C34878D82A}">
                    <a16:rowId xmlns:a16="http://schemas.microsoft.com/office/drawing/2014/main" val="3476614052"/>
                  </a:ext>
                </a:extLst>
              </a:tr>
              <a:tr h="466302">
                <a:tc>
                  <a:txBody>
                    <a:bodyPr/>
                    <a:lstStyle/>
                    <a:p>
                      <a:r>
                        <a:rPr lang="en-US" altLang="zh-CN" dirty="0">
                          <a:solidFill>
                            <a:schemeClr val="bg1"/>
                          </a:solidFill>
                        </a:rPr>
                        <a:t>IBP with ICT</a:t>
                      </a:r>
                      <a:endParaRPr lang="zh-CN" altLang="en-US" dirty="0">
                        <a:solidFill>
                          <a:schemeClr val="bg1"/>
                        </a:solidFill>
                      </a:endParaRPr>
                    </a:p>
                  </a:txBody>
                  <a:tcPr/>
                </a:tc>
                <a:tc>
                  <a:txBody>
                    <a:bodyPr/>
                    <a:lstStyle/>
                    <a:p>
                      <a:endParaRPr lang="zh-CN" altLang="en-US"/>
                    </a:p>
                  </a:txBody>
                  <a:tcPr/>
                </a:tc>
                <a:tc>
                  <a:txBody>
                    <a:bodyPr/>
                    <a:lstStyle/>
                    <a:p>
                      <a:endParaRPr lang="zh-CN" altLang="en-US"/>
                    </a:p>
                  </a:txBody>
                  <a:tcPr/>
                </a:tc>
                <a:tc>
                  <a:txBody>
                    <a:bodyPr/>
                    <a:lstStyle/>
                    <a:p>
                      <a:endParaRPr lang="zh-CN" altLang="en-US"/>
                    </a:p>
                  </a:txBody>
                  <a:tcPr/>
                </a:tc>
                <a:tc>
                  <a:txBody>
                    <a:bodyPr/>
                    <a:lstStyle/>
                    <a:p>
                      <a:endParaRPr lang="zh-CN" altLang="en-US"/>
                    </a:p>
                  </a:txBody>
                  <a:tcPr/>
                </a:tc>
                <a:extLst>
                  <a:ext uri="{0D108BD9-81ED-4DB2-BD59-A6C34878D82A}">
                    <a16:rowId xmlns:a16="http://schemas.microsoft.com/office/drawing/2014/main" val="192762973"/>
                  </a:ext>
                </a:extLst>
              </a:tr>
              <a:tr h="466302">
                <a:tc>
                  <a:txBody>
                    <a:bodyPr/>
                    <a:lstStyle/>
                    <a:p>
                      <a:r>
                        <a:rPr lang="en-US" altLang="zh-CN" dirty="0">
                          <a:solidFill>
                            <a:schemeClr val="bg1"/>
                          </a:solidFill>
                        </a:rPr>
                        <a:t>ITP with ICT</a:t>
                      </a:r>
                      <a:endParaRPr lang="zh-CN" altLang="en-US" dirty="0">
                        <a:solidFill>
                          <a:schemeClr val="bg1"/>
                        </a:solidFill>
                      </a:endParaRPr>
                    </a:p>
                  </a:txBody>
                  <a:tcPr/>
                </a:tc>
                <a:tc>
                  <a:txBody>
                    <a:bodyPr/>
                    <a:lstStyle/>
                    <a:p>
                      <a:endParaRPr lang="zh-CN" altLang="en-US"/>
                    </a:p>
                  </a:txBody>
                  <a:tcPr/>
                </a:tc>
                <a:tc>
                  <a:txBody>
                    <a:bodyPr/>
                    <a:lstStyle/>
                    <a:p>
                      <a:endParaRPr lang="zh-CN" altLang="en-US"/>
                    </a:p>
                  </a:txBody>
                  <a:tcPr/>
                </a:tc>
                <a:tc>
                  <a:txBody>
                    <a:bodyPr/>
                    <a:lstStyle/>
                    <a:p>
                      <a:endParaRPr lang="zh-CN" altLang="en-US"/>
                    </a:p>
                  </a:txBody>
                  <a:tcPr/>
                </a:tc>
                <a:tc>
                  <a:txBody>
                    <a:bodyPr/>
                    <a:lstStyle/>
                    <a:p>
                      <a:endParaRPr lang="zh-CN" altLang="en-US"/>
                    </a:p>
                  </a:txBody>
                  <a:tcPr/>
                </a:tc>
                <a:extLst>
                  <a:ext uri="{0D108BD9-81ED-4DB2-BD59-A6C34878D82A}">
                    <a16:rowId xmlns:a16="http://schemas.microsoft.com/office/drawing/2014/main" val="2259262229"/>
                  </a:ext>
                </a:extLst>
              </a:tr>
              <a:tr h="466302">
                <a:tc>
                  <a:txBody>
                    <a:bodyPr/>
                    <a:lstStyle/>
                    <a:p>
                      <a:r>
                        <a:rPr lang="en-US" altLang="zh-CN" dirty="0">
                          <a:solidFill>
                            <a:schemeClr val="bg1"/>
                          </a:solidFill>
                        </a:rPr>
                        <a:t>IOP with ICT</a:t>
                      </a:r>
                      <a:endParaRPr lang="zh-CN" altLang="en-US" dirty="0">
                        <a:solidFill>
                          <a:schemeClr val="bg1"/>
                        </a:solidFill>
                      </a:endParaRPr>
                    </a:p>
                  </a:txBody>
                  <a:tcPr/>
                </a:tc>
                <a:tc>
                  <a:txBody>
                    <a:bodyPr/>
                    <a:lstStyle/>
                    <a:p>
                      <a:endParaRPr lang="zh-CN" altLang="en-US"/>
                    </a:p>
                  </a:txBody>
                  <a:tcPr/>
                </a:tc>
                <a:tc>
                  <a:txBody>
                    <a:bodyPr/>
                    <a:lstStyle/>
                    <a:p>
                      <a:endParaRPr lang="zh-CN" altLang="en-US" dirty="0"/>
                    </a:p>
                  </a:txBody>
                  <a:tcPr/>
                </a:tc>
                <a:tc>
                  <a:txBody>
                    <a:bodyPr/>
                    <a:lstStyle/>
                    <a:p>
                      <a:endParaRPr lang="zh-CN" altLang="en-US" dirty="0"/>
                    </a:p>
                  </a:txBody>
                  <a:tcPr/>
                </a:tc>
                <a:tc>
                  <a:txBody>
                    <a:bodyPr/>
                    <a:lstStyle/>
                    <a:p>
                      <a:endParaRPr lang="zh-CN" altLang="en-US" dirty="0"/>
                    </a:p>
                  </a:txBody>
                  <a:tcPr/>
                </a:tc>
                <a:extLst>
                  <a:ext uri="{0D108BD9-81ED-4DB2-BD59-A6C34878D82A}">
                    <a16:rowId xmlns:a16="http://schemas.microsoft.com/office/drawing/2014/main" val="32085189"/>
                  </a:ext>
                </a:extLst>
              </a:tr>
            </a:tbl>
          </a:graphicData>
        </a:graphic>
      </p:graphicFrame>
    </p:spTree>
    <p:extLst>
      <p:ext uri="{BB962C8B-B14F-4D97-AF65-F5344CB8AC3E}">
        <p14:creationId xmlns:p14="http://schemas.microsoft.com/office/powerpoint/2010/main" val="4268808449"/>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6ECA642-1895-9185-DA61-B5EF26897493}"/>
              </a:ext>
            </a:extLst>
          </p:cNvPr>
          <p:cNvSpPr>
            <a:spLocks noGrp="1"/>
          </p:cNvSpPr>
          <p:nvPr>
            <p:ph type="title"/>
          </p:nvPr>
        </p:nvSpPr>
        <p:spPr/>
        <p:txBody>
          <a:bodyPr/>
          <a:lstStyle/>
          <a:p>
            <a:r>
              <a:rPr lang="zh-CN" altLang="en-US" dirty="0">
                <a:solidFill>
                  <a:schemeClr val="bg1"/>
                </a:solidFill>
              </a:rPr>
              <a:t>计划与控制</a:t>
            </a:r>
          </a:p>
        </p:txBody>
      </p:sp>
      <p:grpSp>
        <p:nvGrpSpPr>
          <p:cNvPr id="4" name="组合 3">
            <a:extLst>
              <a:ext uri="{FF2B5EF4-FFF2-40B4-BE49-F238E27FC236}">
                <a16:creationId xmlns:a16="http://schemas.microsoft.com/office/drawing/2014/main" id="{70C9DFB9-8BB4-0593-C2F2-E509036B30DB}"/>
              </a:ext>
            </a:extLst>
          </p:cNvPr>
          <p:cNvGrpSpPr>
            <a:grpSpLocks noChangeAspect="1"/>
          </p:cNvGrpSpPr>
          <p:nvPr>
            <p:custDataLst>
              <p:tags r:id="rId1"/>
            </p:custDataLst>
          </p:nvPr>
        </p:nvGrpSpPr>
        <p:grpSpPr>
          <a:xfrm>
            <a:off x="886690" y="741082"/>
            <a:ext cx="10601041" cy="5773271"/>
            <a:chOff x="1060346" y="1660841"/>
            <a:chExt cx="10071308" cy="3132697"/>
          </a:xfrm>
        </p:grpSpPr>
        <p:grpSp>
          <p:nvGrpSpPr>
            <p:cNvPr id="5" name="组合 4">
              <a:extLst>
                <a:ext uri="{FF2B5EF4-FFF2-40B4-BE49-F238E27FC236}">
                  <a16:creationId xmlns:a16="http://schemas.microsoft.com/office/drawing/2014/main" id="{857E3B9C-86A8-8903-85DD-80904C2E928E}"/>
                </a:ext>
              </a:extLst>
            </p:cNvPr>
            <p:cNvGrpSpPr/>
            <p:nvPr/>
          </p:nvGrpSpPr>
          <p:grpSpPr>
            <a:xfrm>
              <a:off x="1060346" y="1660841"/>
              <a:ext cx="4521408" cy="3132697"/>
              <a:chOff x="1060346" y="1660841"/>
              <a:chExt cx="4521408" cy="3132697"/>
            </a:xfrm>
          </p:grpSpPr>
          <p:sp>
            <p:nvSpPr>
              <p:cNvPr id="11" name="1">
                <a:extLst>
                  <a:ext uri="{FF2B5EF4-FFF2-40B4-BE49-F238E27FC236}">
                    <a16:creationId xmlns:a16="http://schemas.microsoft.com/office/drawing/2014/main" id="{5A6A3DD7-E17C-BCEF-D11A-BA9E643B2777}"/>
                  </a:ext>
                </a:extLst>
              </p:cNvPr>
              <p:cNvSpPr/>
              <p:nvPr>
                <p:custDataLst>
                  <p:tags r:id="rId6"/>
                </p:custDataLst>
              </p:nvPr>
            </p:nvSpPr>
            <p:spPr>
              <a:xfrm>
                <a:off x="1188472" y="1795470"/>
                <a:ext cx="4393282" cy="2998068"/>
              </a:xfrm>
              <a:prstGeom prst="roundRect">
                <a:avLst>
                  <a:gd name="adj" fmla="val 7405"/>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12" name="1">
                <a:extLst>
                  <a:ext uri="{FF2B5EF4-FFF2-40B4-BE49-F238E27FC236}">
                    <a16:creationId xmlns:a16="http://schemas.microsoft.com/office/drawing/2014/main" id="{883F1CD1-1206-7D0A-29AA-DFBA094356D9}"/>
                  </a:ext>
                </a:extLst>
              </p:cNvPr>
              <p:cNvSpPr/>
              <p:nvPr>
                <p:custDataLst>
                  <p:tags r:id="rId7"/>
                </p:custDataLst>
              </p:nvPr>
            </p:nvSpPr>
            <p:spPr>
              <a:xfrm>
                <a:off x="1060346" y="1660841"/>
                <a:ext cx="2269409" cy="437913"/>
              </a:xfrm>
              <a:prstGeom prst="round2DiagRect">
                <a:avLst>
                  <a:gd name="adj1" fmla="val 50000"/>
                  <a:gd name="adj2" fmla="val 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13" name="Title-1">
                <a:extLst>
                  <a:ext uri="{FF2B5EF4-FFF2-40B4-BE49-F238E27FC236}">
                    <a16:creationId xmlns:a16="http://schemas.microsoft.com/office/drawing/2014/main" id="{1B9911FE-F92F-F45A-62BC-5617C4498122}"/>
                  </a:ext>
                </a:extLst>
              </p:cNvPr>
              <p:cNvSpPr txBox="1"/>
              <p:nvPr>
                <p:custDataLst>
                  <p:tags r:id="rId8"/>
                </p:custDataLst>
              </p:nvPr>
            </p:nvSpPr>
            <p:spPr>
              <a:xfrm>
                <a:off x="1188472" y="1695131"/>
                <a:ext cx="2141283" cy="369332"/>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a:ln>
                      <a:noFill/>
                    </a:ln>
                    <a:solidFill>
                      <a:prstClr val="white"/>
                    </a:solidFill>
                    <a:effectLst/>
                    <a:uLnTx/>
                    <a:uFillTx/>
                    <a:latin typeface="PingFang SC"/>
                    <a:ea typeface="黑体" panose="02010609060101010101" pitchFamily="49" charset="-122"/>
                    <a:cs typeface="+mn-cs"/>
                  </a:rPr>
                  <a:t>建立三级计划与协同组织体系：</a:t>
                </a:r>
                <a:endParaRPr kumimoji="0" lang="zh-CN" altLang="en-US" sz="1800" b="1"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endParaRPr>
              </a:p>
            </p:txBody>
          </p:sp>
          <p:sp>
            <p:nvSpPr>
              <p:cNvPr id="14" name="Body-1">
                <a:extLst>
                  <a:ext uri="{FF2B5EF4-FFF2-40B4-BE49-F238E27FC236}">
                    <a16:creationId xmlns:a16="http://schemas.microsoft.com/office/drawing/2014/main" id="{31CD214B-FFBA-86B2-C3F1-D8092CF675B6}"/>
                  </a:ext>
                </a:extLst>
              </p:cNvPr>
              <p:cNvSpPr>
                <a:spLocks/>
              </p:cNvSpPr>
              <p:nvPr>
                <p:custDataLst>
                  <p:tags r:id="rId9"/>
                </p:custDataLst>
              </p:nvPr>
            </p:nvSpPr>
            <p:spPr>
              <a:xfrm>
                <a:off x="1482547" y="2064464"/>
                <a:ext cx="4001185" cy="272907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algn="l"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战略层（</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IBP - </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集成业务计划）：由高管（销售、产品、供应链、财务负责人）组成。权责是评审并批准未来如</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18 - 24</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个月的业务计划，平衡需求、供应和财务目标，并对最终的投资回报和库存目标负责。利与公司整体利润和战略目标达成率挂钩。</a:t>
                </a:r>
              </a:p>
              <a:p>
                <a:pPr marL="285750" marR="0" lvl="0" indent="-285750" algn="l"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战术层（</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ITP - </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集成战术规划）：由各部门总监</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高级经理组成。权责是制定未来</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13</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周</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的供需平衡方案，解决资源冲突，并对预测准确率、产能利用率和库存周转率负责。计划部门在此扮演流程所有者或者数据分析师的角色，而非唯一决策者。</a:t>
                </a:r>
              </a:p>
              <a:p>
                <a:pPr marL="285750" marR="0" lvl="0" indent="-285750" algn="l"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执行层（</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IOP - </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销售与运营执行）：由计划、生产、采购、物流的运营经理组成。权责是管理未来</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0 - 3</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周的日常运营，处理订单承诺、生产排程、物料齐套和异常响应。计划部门在此扮演指挥中心（</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Control Tower</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）的角色。</a:t>
                </a:r>
                <a:endParaRPr kumimoji="0" lang="en-GB"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endParaRPr>
              </a:p>
            </p:txBody>
          </p:sp>
        </p:grpSp>
        <p:grpSp>
          <p:nvGrpSpPr>
            <p:cNvPr id="6" name="组合 5">
              <a:extLst>
                <a:ext uri="{FF2B5EF4-FFF2-40B4-BE49-F238E27FC236}">
                  <a16:creationId xmlns:a16="http://schemas.microsoft.com/office/drawing/2014/main" id="{686AD8A4-9E20-78B5-8028-ACE0DA50A7BC}"/>
                </a:ext>
              </a:extLst>
            </p:cNvPr>
            <p:cNvGrpSpPr/>
            <p:nvPr/>
          </p:nvGrpSpPr>
          <p:grpSpPr>
            <a:xfrm>
              <a:off x="6610246" y="1660841"/>
              <a:ext cx="4521408" cy="3132697"/>
              <a:chOff x="6610246" y="1660841"/>
              <a:chExt cx="4521408" cy="3132697"/>
            </a:xfrm>
          </p:grpSpPr>
          <p:sp>
            <p:nvSpPr>
              <p:cNvPr id="7" name="2">
                <a:extLst>
                  <a:ext uri="{FF2B5EF4-FFF2-40B4-BE49-F238E27FC236}">
                    <a16:creationId xmlns:a16="http://schemas.microsoft.com/office/drawing/2014/main" id="{292CFC40-09EF-8D1A-1B4E-94152109B947}"/>
                  </a:ext>
                </a:extLst>
              </p:cNvPr>
              <p:cNvSpPr/>
              <p:nvPr>
                <p:custDataLst>
                  <p:tags r:id="rId2"/>
                </p:custDataLst>
              </p:nvPr>
            </p:nvSpPr>
            <p:spPr>
              <a:xfrm>
                <a:off x="6738372" y="1795470"/>
                <a:ext cx="4393282" cy="2998068"/>
              </a:xfrm>
              <a:prstGeom prst="roundRect">
                <a:avLst>
                  <a:gd name="adj" fmla="val 7405"/>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8" name="2">
                <a:extLst>
                  <a:ext uri="{FF2B5EF4-FFF2-40B4-BE49-F238E27FC236}">
                    <a16:creationId xmlns:a16="http://schemas.microsoft.com/office/drawing/2014/main" id="{0605107C-E4EE-C6FD-8EE7-692E5CB40F41}"/>
                  </a:ext>
                </a:extLst>
              </p:cNvPr>
              <p:cNvSpPr/>
              <p:nvPr>
                <p:custDataLst>
                  <p:tags r:id="rId3"/>
                </p:custDataLst>
              </p:nvPr>
            </p:nvSpPr>
            <p:spPr>
              <a:xfrm>
                <a:off x="6610246" y="1660841"/>
                <a:ext cx="2269409" cy="437913"/>
              </a:xfrm>
              <a:prstGeom prst="round2DiagRect">
                <a:avLst>
                  <a:gd name="adj1" fmla="val 50000"/>
                  <a:gd name="adj2" fmla="val 0"/>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黑体" panose="02010609060101010101" pitchFamily="49" charset="-122"/>
                  <a:cs typeface="+mn-cs"/>
                </a:endParaRPr>
              </a:p>
            </p:txBody>
          </p:sp>
          <p:sp>
            <p:nvSpPr>
              <p:cNvPr id="9" name="Title-2">
                <a:extLst>
                  <a:ext uri="{FF2B5EF4-FFF2-40B4-BE49-F238E27FC236}">
                    <a16:creationId xmlns:a16="http://schemas.microsoft.com/office/drawing/2014/main" id="{4246BC3A-487F-7443-FA50-B2EB97EA5DE4}"/>
                  </a:ext>
                </a:extLst>
              </p:cNvPr>
              <p:cNvSpPr txBox="1"/>
              <p:nvPr>
                <p:custDataLst>
                  <p:tags r:id="rId4"/>
                </p:custDataLst>
              </p:nvPr>
            </p:nvSpPr>
            <p:spPr>
              <a:xfrm>
                <a:off x="6738372" y="1695131"/>
                <a:ext cx="2141283" cy="369332"/>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a:ln>
                      <a:noFill/>
                    </a:ln>
                    <a:solidFill>
                      <a:prstClr val="white"/>
                    </a:solidFill>
                    <a:effectLst/>
                    <a:uLnTx/>
                    <a:uFillTx/>
                    <a:latin typeface="PingFang SC"/>
                    <a:ea typeface="黑体" panose="02010609060101010101" pitchFamily="49" charset="-122"/>
                    <a:cs typeface="+mn-cs"/>
                  </a:rPr>
                  <a:t>明确关键权责边界：</a:t>
                </a:r>
                <a:endParaRPr kumimoji="0" lang="zh-CN" altLang="en-US" sz="1800" b="1"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endParaRPr>
              </a:p>
            </p:txBody>
          </p:sp>
          <p:sp>
            <p:nvSpPr>
              <p:cNvPr id="10" name="Body-2">
                <a:extLst>
                  <a:ext uri="{FF2B5EF4-FFF2-40B4-BE49-F238E27FC236}">
                    <a16:creationId xmlns:a16="http://schemas.microsoft.com/office/drawing/2014/main" id="{D33E932E-8FDC-105E-3066-E7F15F70F4E1}"/>
                  </a:ext>
                </a:extLst>
              </p:cNvPr>
              <p:cNvSpPr>
                <a:spLocks/>
              </p:cNvSpPr>
              <p:nvPr>
                <p:custDataLst>
                  <p:tags r:id="rId5"/>
                </p:custDataLst>
              </p:nvPr>
            </p:nvSpPr>
            <p:spPr>
              <a:xfrm>
                <a:off x="7032447" y="2064464"/>
                <a:ext cx="4001185" cy="272907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algn="l"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销售部门：对需求预测的准确性负责。</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KPI</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为“预测偏差率”。销售提报的“要货计划”是其对预测的承诺，由此产生的呆滞风险，销售需承担主要责任。</a:t>
                </a:r>
              </a:p>
              <a:p>
                <a:pPr marL="285750" marR="0" lvl="0" indent="-285750" algn="l"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财务部门：财务规划是始终的共同规划者和价值整合者。数据整合和建模、财务评估和模拟、集成对账与差异分析、评审决策、锁定与反馈。</a:t>
                </a:r>
              </a:p>
              <a:p>
                <a:pPr marL="285750" marR="0" lvl="0" indent="-285750" algn="l"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产品部门：对产品策略的稳定性和前瞻性负责。新产品导入或重大策略变更必须提前（如</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3 - 6</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个月）进入</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IBP</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流程评审，给供应链留出响应时间。计划部门对供需平衡过程的效率和决策质量负责。</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KPI</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为“订单履行率”、“库存周转天数”。其权力在于依据协同流程输出的共识计划，驱动执行部门工作，并对执行偏差进行监控和预警。</a:t>
                </a:r>
              </a:p>
              <a:p>
                <a:pPr marL="285750" marR="0" lvl="0" indent="-285750" algn="l"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供应链（生产</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采购）：对供应计划的执行效率和弹性负责。</a:t>
                </a:r>
                <a:r>
                  <a:rPr kumimoji="0" lang="en-US"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KPI</a:t>
                </a:r>
                <a:r>
                  <a:rPr kumimoji="0" lang="zh-CN" altLang="en-US"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rPr>
                  <a:t>为“生产计划达成率”、“采购订单准时交付率”</a:t>
                </a:r>
                <a:endParaRPr kumimoji="0" lang="en-GB" altLang="zh-CN" sz="1400" b="0" i="0" u="none" strike="noStrike" kern="1200" cap="none" spc="0" normalizeH="0" baseline="0" noProof="0" dirty="0">
                  <a:ln>
                    <a:noFill/>
                  </a:ln>
                  <a:solidFill>
                    <a:prstClr val="white"/>
                  </a:solidFill>
                  <a:effectLst/>
                  <a:uLnTx/>
                  <a:uFillTx/>
                  <a:latin typeface="PingFang SC"/>
                  <a:ea typeface="黑体" panose="02010609060101010101" pitchFamily="49" charset="-122"/>
                  <a:cs typeface="+mn-cs"/>
                </a:endParaRPr>
              </a:p>
            </p:txBody>
          </p:sp>
        </p:grpSp>
      </p:grpSp>
    </p:spTree>
    <p:extLst>
      <p:ext uri="{BB962C8B-B14F-4D97-AF65-F5344CB8AC3E}">
        <p14:creationId xmlns:p14="http://schemas.microsoft.com/office/powerpoint/2010/main" val="3004295701"/>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B71CC56D-262F-8117-4774-FF2D3AAA04BC}"/>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General Operation Mechanism  </a:t>
            </a:r>
            <a:endParaRPr lang="zh-CN" altLang="en-US" dirty="0">
              <a:latin typeface="Arial" panose="020B0604020202020204" pitchFamily="34" charset="0"/>
              <a:ea typeface="微软雅黑" panose="020B0503020204020204" pitchFamily="34" charset="-122"/>
            </a:endParaRPr>
          </a:p>
        </p:txBody>
      </p:sp>
      <p:sp>
        <p:nvSpPr>
          <p:cNvPr id="4" name="Freeform 47">
            <a:extLst>
              <a:ext uri="{FF2B5EF4-FFF2-40B4-BE49-F238E27FC236}">
                <a16:creationId xmlns:a16="http://schemas.microsoft.com/office/drawing/2014/main" id="{F7CAFEAA-33C3-5393-347A-B862197E7AA5}"/>
              </a:ext>
            </a:extLst>
          </p:cNvPr>
          <p:cNvSpPr/>
          <p:nvPr/>
        </p:nvSpPr>
        <p:spPr>
          <a:xfrm>
            <a:off x="6834524" y="801448"/>
            <a:ext cx="3198284" cy="552451"/>
          </a:xfrm>
          <a:custGeom>
            <a:avLst/>
            <a:gdLst>
              <a:gd name="connsiteX0" fmla="*/ 0 w 3155007"/>
              <a:gd name="connsiteY0" fmla="*/ 0 h 413634"/>
              <a:gd name="connsiteX1" fmla="*/ 2948190 w 3155007"/>
              <a:gd name="connsiteY1" fmla="*/ 0 h 413634"/>
              <a:gd name="connsiteX2" fmla="*/ 3155007 w 3155007"/>
              <a:gd name="connsiteY2" fmla="*/ 206817 h 413634"/>
              <a:gd name="connsiteX3" fmla="*/ 2948190 w 3155007"/>
              <a:gd name="connsiteY3" fmla="*/ 413634 h 413634"/>
              <a:gd name="connsiteX4" fmla="*/ 0 w 3155007"/>
              <a:gd name="connsiteY4" fmla="*/ 413634 h 413634"/>
              <a:gd name="connsiteX5" fmla="*/ 206817 w 3155007"/>
              <a:gd name="connsiteY5" fmla="*/ 206817 h 413634"/>
              <a:gd name="connsiteX6" fmla="*/ 0 w 3155007"/>
              <a:gd name="connsiteY6" fmla="*/ 0 h 4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5007" h="413634">
                <a:moveTo>
                  <a:pt x="0" y="0"/>
                </a:moveTo>
                <a:lnTo>
                  <a:pt x="2948190" y="0"/>
                </a:lnTo>
                <a:lnTo>
                  <a:pt x="3155007" y="206817"/>
                </a:lnTo>
                <a:lnTo>
                  <a:pt x="2948190" y="413634"/>
                </a:lnTo>
                <a:lnTo>
                  <a:pt x="0" y="413634"/>
                </a:lnTo>
                <a:lnTo>
                  <a:pt x="206817" y="206817"/>
                </a:lnTo>
                <a:lnTo>
                  <a:pt x="0" y="0"/>
                </a:lnTo>
                <a:close/>
              </a:path>
            </a:pathLst>
          </a:custGeom>
          <a:solidFill>
            <a:srgbClr val="0070C0"/>
          </a:solidFill>
          <a:ln w="25400" cap="flat" cmpd="sng" algn="ctr">
            <a:solidFill>
              <a:sysClr val="window" lastClr="FFFFFF">
                <a:hueOff val="0"/>
                <a:satOff val="0"/>
                <a:lumOff val="0"/>
                <a:alphaOff val="0"/>
              </a:sysClr>
            </a:solidFill>
            <a:prstDash val="solid"/>
          </a:ln>
          <a:effectLst/>
        </p:spPr>
        <p:txBody>
          <a:bodyPr lIns="254823" tIns="16003" rIns="222819" bIns="16003" spcCol="1270" anchor="ctr"/>
          <a:lstStyle/>
          <a:p>
            <a:pPr algn="ctr" defTabSz="533387">
              <a:lnSpc>
                <a:spcPct val="90000"/>
              </a:lnSpc>
              <a:spcAft>
                <a:spcPct val="35000"/>
              </a:spcAft>
              <a:defRPr/>
            </a:pPr>
            <a:r>
              <a:rPr lang="en-US" sz="1600" b="1" kern="0" dirty="0">
                <a:solidFill>
                  <a:prstClr val="white"/>
                </a:solidFill>
                <a:latin typeface="Arial" panose="020B0604020202020204" pitchFamily="34" charset="0"/>
                <a:ea typeface="微软雅黑" panose="020B0503020204020204" pitchFamily="34" charset="-122"/>
                <a:cs typeface="Calibri" panose="020F0502020204030204" pitchFamily="34" charset="0"/>
              </a:rPr>
              <a:t>P</a:t>
            </a:r>
            <a:r>
              <a:rPr lang="en-US" altLang="zh-CN" sz="1600" b="1" kern="0" dirty="0">
                <a:solidFill>
                  <a:prstClr val="white"/>
                </a:solidFill>
                <a:latin typeface="Arial" panose="020B0604020202020204" pitchFamily="34" charset="0"/>
                <a:ea typeface="微软雅黑" panose="020B0503020204020204" pitchFamily="34" charset="-122"/>
                <a:cs typeface="Calibri" panose="020F0502020204030204" pitchFamily="34" charset="0"/>
              </a:rPr>
              <a:t>lanning </a:t>
            </a:r>
            <a:r>
              <a:rPr lang="en-US" sz="1600" b="1" kern="0" dirty="0">
                <a:solidFill>
                  <a:prstClr val="white"/>
                </a:solidFill>
                <a:latin typeface="Arial" panose="020B0604020202020204" pitchFamily="34" charset="0"/>
                <a:ea typeface="微软雅黑" panose="020B0503020204020204" pitchFamily="34" charset="-122"/>
                <a:cs typeface="Calibri" panose="020F0502020204030204" pitchFamily="34" charset="0"/>
              </a:rPr>
              <a:t>Engine/Service</a:t>
            </a:r>
          </a:p>
        </p:txBody>
      </p:sp>
      <p:sp>
        <p:nvSpPr>
          <p:cNvPr id="5" name="Freeform 27">
            <a:extLst>
              <a:ext uri="{FF2B5EF4-FFF2-40B4-BE49-F238E27FC236}">
                <a16:creationId xmlns:a16="http://schemas.microsoft.com/office/drawing/2014/main" id="{AB19F844-1170-ABBC-07EB-E54AF7E7951A}"/>
              </a:ext>
            </a:extLst>
          </p:cNvPr>
          <p:cNvSpPr/>
          <p:nvPr/>
        </p:nvSpPr>
        <p:spPr>
          <a:xfrm>
            <a:off x="3653174" y="795098"/>
            <a:ext cx="3528484" cy="550333"/>
          </a:xfrm>
          <a:custGeom>
            <a:avLst/>
            <a:gdLst>
              <a:gd name="connsiteX0" fmla="*/ 0 w 3155007"/>
              <a:gd name="connsiteY0" fmla="*/ 0 h 413634"/>
              <a:gd name="connsiteX1" fmla="*/ 2948190 w 3155007"/>
              <a:gd name="connsiteY1" fmla="*/ 0 h 413634"/>
              <a:gd name="connsiteX2" fmla="*/ 3155007 w 3155007"/>
              <a:gd name="connsiteY2" fmla="*/ 206817 h 413634"/>
              <a:gd name="connsiteX3" fmla="*/ 2948190 w 3155007"/>
              <a:gd name="connsiteY3" fmla="*/ 413634 h 413634"/>
              <a:gd name="connsiteX4" fmla="*/ 0 w 3155007"/>
              <a:gd name="connsiteY4" fmla="*/ 413634 h 413634"/>
              <a:gd name="connsiteX5" fmla="*/ 206817 w 3155007"/>
              <a:gd name="connsiteY5" fmla="*/ 206817 h 413634"/>
              <a:gd name="connsiteX6" fmla="*/ 0 w 3155007"/>
              <a:gd name="connsiteY6" fmla="*/ 0 h 4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5007" h="413634">
                <a:moveTo>
                  <a:pt x="0" y="0"/>
                </a:moveTo>
                <a:lnTo>
                  <a:pt x="2948190" y="0"/>
                </a:lnTo>
                <a:lnTo>
                  <a:pt x="3155007" y="206817"/>
                </a:lnTo>
                <a:lnTo>
                  <a:pt x="2948190" y="413634"/>
                </a:lnTo>
                <a:lnTo>
                  <a:pt x="0" y="413634"/>
                </a:lnTo>
                <a:lnTo>
                  <a:pt x="206817" y="206817"/>
                </a:lnTo>
                <a:lnTo>
                  <a:pt x="0" y="0"/>
                </a:lnTo>
                <a:close/>
              </a:path>
            </a:pathLst>
          </a:custGeom>
          <a:solidFill>
            <a:srgbClr val="D07A7E"/>
          </a:solidFill>
          <a:ln w="25400" cap="flat" cmpd="sng" algn="ctr">
            <a:solidFill>
              <a:sysClr val="window" lastClr="FFFFFF">
                <a:hueOff val="0"/>
                <a:satOff val="0"/>
                <a:lumOff val="0"/>
                <a:alphaOff val="0"/>
              </a:sysClr>
            </a:solidFill>
            <a:prstDash val="solid"/>
          </a:ln>
          <a:effectLst/>
        </p:spPr>
        <p:txBody>
          <a:bodyPr lIns="254823" tIns="16003" rIns="222819" bIns="16003" anchor="ctr"/>
          <a:lstStyle/>
          <a:p>
            <a:pPr algn="ctr" defTabSz="533387">
              <a:lnSpc>
                <a:spcPct val="90000"/>
              </a:lnSpc>
              <a:spcAft>
                <a:spcPct val="35000"/>
              </a:spcAft>
              <a:defRPr/>
            </a:pPr>
            <a:r>
              <a:rPr lang="en-US" altLang="zh-CN" sz="1600" b="1" kern="0" dirty="0">
                <a:solidFill>
                  <a:srgbClr val="FFFFFF"/>
                </a:solidFill>
                <a:latin typeface="Arial" panose="020B0604020202020204" pitchFamily="34" charset="0"/>
                <a:ea typeface="微软雅黑" panose="020B0503020204020204" pitchFamily="34" charset="-122"/>
                <a:cs typeface="Calibri" panose="020F0502020204030204" pitchFamily="34" charset="0"/>
              </a:rPr>
              <a:t>Data Massage</a:t>
            </a:r>
            <a:r>
              <a:rPr lang="zh-CN" altLang="en-US" sz="1600" b="1" kern="0" dirty="0">
                <a:solidFill>
                  <a:srgbClr val="FFFFFF"/>
                </a:solidFill>
                <a:latin typeface="Arial" panose="020B0604020202020204" pitchFamily="34" charset="0"/>
                <a:ea typeface="微软雅黑" panose="020B0503020204020204" pitchFamily="34" charset="-122"/>
                <a:cs typeface="Calibri" panose="020F0502020204030204" pitchFamily="34" charset="0"/>
              </a:rPr>
              <a:t>（</a:t>
            </a:r>
            <a:r>
              <a:rPr lang="en-US" altLang="zh-CN" sz="1600" b="1" kern="0" dirty="0">
                <a:solidFill>
                  <a:srgbClr val="FFFFFF"/>
                </a:solidFill>
                <a:latin typeface="Arial" panose="020B0604020202020204" pitchFamily="34" charset="0"/>
                <a:ea typeface="微软雅黑" panose="020B0503020204020204" pitchFamily="34" charset="-122"/>
                <a:cs typeface="Calibri" panose="020F0502020204030204" pitchFamily="34" charset="0"/>
              </a:rPr>
              <a:t>Planning DB)</a:t>
            </a:r>
          </a:p>
        </p:txBody>
      </p:sp>
      <p:sp>
        <p:nvSpPr>
          <p:cNvPr id="6" name="Freeform 27">
            <a:extLst>
              <a:ext uri="{FF2B5EF4-FFF2-40B4-BE49-F238E27FC236}">
                <a16:creationId xmlns:a16="http://schemas.microsoft.com/office/drawing/2014/main" id="{32D9CE8D-238E-4854-33C1-9918600E4CB7}"/>
              </a:ext>
            </a:extLst>
          </p:cNvPr>
          <p:cNvSpPr/>
          <p:nvPr/>
        </p:nvSpPr>
        <p:spPr>
          <a:xfrm>
            <a:off x="886690" y="801448"/>
            <a:ext cx="3035300" cy="552451"/>
          </a:xfrm>
          <a:custGeom>
            <a:avLst/>
            <a:gdLst>
              <a:gd name="connsiteX0" fmla="*/ 0 w 3155007"/>
              <a:gd name="connsiteY0" fmla="*/ 0 h 413634"/>
              <a:gd name="connsiteX1" fmla="*/ 2948190 w 3155007"/>
              <a:gd name="connsiteY1" fmla="*/ 0 h 413634"/>
              <a:gd name="connsiteX2" fmla="*/ 3155007 w 3155007"/>
              <a:gd name="connsiteY2" fmla="*/ 206817 h 413634"/>
              <a:gd name="connsiteX3" fmla="*/ 2948190 w 3155007"/>
              <a:gd name="connsiteY3" fmla="*/ 413634 h 413634"/>
              <a:gd name="connsiteX4" fmla="*/ 0 w 3155007"/>
              <a:gd name="connsiteY4" fmla="*/ 413634 h 413634"/>
              <a:gd name="connsiteX5" fmla="*/ 206817 w 3155007"/>
              <a:gd name="connsiteY5" fmla="*/ 206817 h 413634"/>
              <a:gd name="connsiteX6" fmla="*/ 0 w 3155007"/>
              <a:gd name="connsiteY6" fmla="*/ 0 h 4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5007" h="413634">
                <a:moveTo>
                  <a:pt x="0" y="0"/>
                </a:moveTo>
                <a:lnTo>
                  <a:pt x="2948190" y="0"/>
                </a:lnTo>
                <a:lnTo>
                  <a:pt x="3155007" y="206817"/>
                </a:lnTo>
                <a:lnTo>
                  <a:pt x="2948190" y="413634"/>
                </a:lnTo>
                <a:lnTo>
                  <a:pt x="0" y="413634"/>
                </a:lnTo>
                <a:lnTo>
                  <a:pt x="206817" y="206817"/>
                </a:lnTo>
                <a:lnTo>
                  <a:pt x="0" y="0"/>
                </a:lnTo>
                <a:close/>
              </a:path>
            </a:pathLst>
          </a:custGeom>
          <a:solidFill>
            <a:srgbClr val="F5894A"/>
          </a:solidFill>
          <a:ln w="25400" cap="flat" cmpd="sng" algn="ctr">
            <a:solidFill>
              <a:sysClr val="window" lastClr="FFFFFF">
                <a:hueOff val="0"/>
                <a:satOff val="0"/>
                <a:lumOff val="0"/>
                <a:alphaOff val="0"/>
              </a:sysClr>
            </a:solidFill>
            <a:prstDash val="solid"/>
          </a:ln>
          <a:effectLst/>
        </p:spPr>
        <p:txBody>
          <a:bodyPr lIns="254823" tIns="16003" rIns="222819" bIns="16003" anchor="ctr"/>
          <a:lstStyle/>
          <a:p>
            <a:pPr algn="ctr" defTabSz="533387">
              <a:lnSpc>
                <a:spcPct val="90000"/>
              </a:lnSpc>
              <a:spcAft>
                <a:spcPct val="35000"/>
              </a:spcAft>
              <a:defRPr/>
            </a:pPr>
            <a:r>
              <a:rPr lang="en-US" altLang="zh-CN" sz="1600" b="1" kern="0" dirty="0">
                <a:solidFill>
                  <a:srgbClr val="FFFFFF"/>
                </a:solidFill>
                <a:latin typeface="Arial" panose="020B0604020202020204" pitchFamily="34" charset="0"/>
                <a:ea typeface="微软雅黑" panose="020B0503020204020204" pitchFamily="34" charset="-122"/>
                <a:cs typeface="Calibri" panose="020F0502020204030204" pitchFamily="34" charset="0"/>
              </a:rPr>
              <a:t>Integration with Enterprise Applications</a:t>
            </a:r>
          </a:p>
        </p:txBody>
      </p:sp>
      <p:graphicFrame>
        <p:nvGraphicFramePr>
          <p:cNvPr id="7" name="表格 6">
            <a:extLst>
              <a:ext uri="{FF2B5EF4-FFF2-40B4-BE49-F238E27FC236}">
                <a16:creationId xmlns:a16="http://schemas.microsoft.com/office/drawing/2014/main" id="{F802C1ED-C57E-DFEE-FF93-1AA600EFD6C8}"/>
              </a:ext>
            </a:extLst>
          </p:cNvPr>
          <p:cNvGraphicFramePr>
            <a:graphicFrameLocks noGrp="1"/>
          </p:cNvGraphicFramePr>
          <p:nvPr>
            <p:extLst>
              <p:ext uri="{D42A27DB-BD31-4B8C-83A1-F6EECF244321}">
                <p14:modId xmlns:p14="http://schemas.microsoft.com/office/powerpoint/2010/main" val="3611218756"/>
              </p:ext>
            </p:extLst>
          </p:nvPr>
        </p:nvGraphicFramePr>
        <p:xfrm>
          <a:off x="916323" y="2524415"/>
          <a:ext cx="2355850" cy="1109136"/>
        </p:xfrm>
        <a:graphic>
          <a:graphicData uri="http://schemas.openxmlformats.org/drawingml/2006/table">
            <a:tbl>
              <a:tblPr firstCol="1" bandRow="1"/>
              <a:tblGrid>
                <a:gridCol w="640193">
                  <a:extLst>
                    <a:ext uri="{9D8B030D-6E8A-4147-A177-3AD203B41FA5}">
                      <a16:colId xmlns:a16="http://schemas.microsoft.com/office/drawing/2014/main" val="20000"/>
                    </a:ext>
                  </a:extLst>
                </a:gridCol>
                <a:gridCol w="1715657">
                  <a:extLst>
                    <a:ext uri="{9D8B030D-6E8A-4147-A177-3AD203B41FA5}">
                      <a16:colId xmlns:a16="http://schemas.microsoft.com/office/drawing/2014/main" val="20001"/>
                    </a:ext>
                  </a:extLst>
                </a:gridCol>
              </a:tblGrid>
              <a:tr h="277284">
                <a:tc rowSpan="4">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altLang="zh-CN" sz="1200" dirty="0">
                          <a:latin typeface="Arial" panose="020B0604020202020204" pitchFamily="34" charset="0"/>
                          <a:ea typeface="微软雅黑" panose="020B0503020204020204" pitchFamily="34" charset="-122"/>
                        </a:rPr>
                        <a:t>Internal </a:t>
                      </a:r>
                    </a:p>
                    <a:p>
                      <a:pPr algn="ctr"/>
                      <a:r>
                        <a:rPr lang="en-US" altLang="zh-CN" sz="1200" dirty="0">
                          <a:latin typeface="Arial" panose="020B0604020202020204" pitchFamily="34" charset="0"/>
                          <a:ea typeface="微软雅黑" panose="020B0503020204020204" pitchFamily="34" charset="-122"/>
                        </a:rPr>
                        <a:t>Data</a:t>
                      </a:r>
                      <a:endParaRPr lang="zh-CN" altLang="en-US" sz="1200" dirty="0">
                        <a:latin typeface="Arial" panose="020B0604020202020204" pitchFamily="34" charset="0"/>
                        <a:ea typeface="微软雅黑" panose="020B0503020204020204" pitchFamily="34" charset="-122"/>
                      </a:endParaRPr>
                    </a:p>
                  </a:txBody>
                  <a:tcPr marL="91501" marR="91501" marT="45647" marB="45647">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6A00">
                        <a:lumMod val="60000"/>
                        <a:lumOff val="40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r>
                        <a:rPr lang="en-US" altLang="zh-CN" sz="1200" dirty="0">
                          <a:latin typeface="Arial" panose="020B0604020202020204" pitchFamily="34" charset="0"/>
                          <a:ea typeface="微软雅黑" panose="020B0503020204020204" pitchFamily="34" charset="-122"/>
                        </a:rPr>
                        <a:t>ERP system</a:t>
                      </a:r>
                      <a:endParaRPr lang="zh-CN" altLang="en-US" sz="1200" dirty="0">
                        <a:latin typeface="Arial" panose="020B0604020202020204" pitchFamily="34" charset="0"/>
                        <a:ea typeface="微软雅黑" panose="020B0503020204020204" pitchFamily="34" charset="-122"/>
                      </a:endParaRPr>
                    </a:p>
                  </a:txBody>
                  <a:tcPr marL="91501" marR="91501" marT="45647" marB="45647">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6A00">
                        <a:lumMod val="60000"/>
                        <a:lumOff val="40000"/>
                      </a:srgbClr>
                    </a:solidFill>
                  </a:tcPr>
                </a:tc>
                <a:extLst>
                  <a:ext uri="{0D108BD9-81ED-4DB2-BD59-A6C34878D82A}">
                    <a16:rowId xmlns:a16="http://schemas.microsoft.com/office/drawing/2014/main" val="10000"/>
                  </a:ext>
                </a:extLst>
              </a:tr>
              <a:tr h="277284">
                <a:tc vMerge="1">
                  <a:txBody>
                    <a:bodyPr/>
                    <a:lstStyle/>
                    <a:p>
                      <a:endParaRPr lang="zh-CN"/>
                    </a:p>
                  </a:txBody>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r>
                        <a:rPr lang="en-US" altLang="zh-CN" sz="1200" dirty="0">
                          <a:latin typeface="Arial" panose="020B0604020202020204" pitchFamily="34" charset="0"/>
                          <a:ea typeface="微软雅黑" panose="020B0503020204020204" pitchFamily="34" charset="-122"/>
                        </a:rPr>
                        <a:t>MES</a:t>
                      </a:r>
                      <a:endParaRPr lang="zh-CN" altLang="en-US" sz="1200" dirty="0">
                        <a:latin typeface="Arial" panose="020B0604020202020204" pitchFamily="34" charset="0"/>
                        <a:ea typeface="微软雅黑" panose="020B0503020204020204" pitchFamily="34" charset="-122"/>
                      </a:endParaRPr>
                    </a:p>
                  </a:txBody>
                  <a:tcPr marL="91501" marR="91501" marT="45647" marB="45647">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6A00">
                        <a:lumMod val="60000"/>
                        <a:lumOff val="40000"/>
                      </a:srgbClr>
                    </a:solidFill>
                  </a:tcPr>
                </a:tc>
                <a:extLst>
                  <a:ext uri="{0D108BD9-81ED-4DB2-BD59-A6C34878D82A}">
                    <a16:rowId xmlns:a16="http://schemas.microsoft.com/office/drawing/2014/main" val="10001"/>
                  </a:ext>
                </a:extLst>
              </a:tr>
              <a:tr h="277284">
                <a:tc vMerge="1">
                  <a:txBody>
                    <a:bodyPr/>
                    <a:lstStyle/>
                    <a:p>
                      <a:endParaRPr lang="zh-CN"/>
                    </a:p>
                  </a:txBody>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r>
                        <a:rPr lang="en-US" altLang="zh-CN" sz="1200" dirty="0">
                          <a:latin typeface="Arial" panose="020B0604020202020204" pitchFamily="34" charset="0"/>
                          <a:ea typeface="微软雅黑" panose="020B0503020204020204" pitchFamily="34" charset="-122"/>
                        </a:rPr>
                        <a:t>GL</a:t>
                      </a:r>
                    </a:p>
                  </a:txBody>
                  <a:tcPr marL="91501" marR="91501" marT="45647" marB="45647">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6A00">
                        <a:lumMod val="60000"/>
                        <a:lumOff val="40000"/>
                      </a:srgbClr>
                    </a:solidFill>
                  </a:tcPr>
                </a:tc>
                <a:extLst>
                  <a:ext uri="{0D108BD9-81ED-4DB2-BD59-A6C34878D82A}">
                    <a16:rowId xmlns:a16="http://schemas.microsoft.com/office/drawing/2014/main" val="10002"/>
                  </a:ext>
                </a:extLst>
              </a:tr>
              <a:tr h="277284">
                <a:tc vMerge="1">
                  <a:txBody>
                    <a:bodyPr/>
                    <a:lstStyle/>
                    <a:p>
                      <a:endParaRPr lang="zh-CN"/>
                    </a:p>
                  </a:txBody>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r>
                        <a:rPr lang="en-US" altLang="zh-CN" sz="1200" dirty="0">
                          <a:latin typeface="Arial" panose="020B0604020202020204" pitchFamily="34" charset="0"/>
                          <a:ea typeface="微软雅黑" panose="020B0503020204020204" pitchFamily="34" charset="-122"/>
                        </a:rPr>
                        <a:t>Etc. …..</a:t>
                      </a:r>
                    </a:p>
                  </a:txBody>
                  <a:tcPr marL="91501" marR="91501" marT="45647" marB="45647">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6A00">
                        <a:lumMod val="60000"/>
                        <a:lumOff val="40000"/>
                      </a:srgbClr>
                    </a:solidFill>
                  </a:tcPr>
                </a:tc>
                <a:extLst>
                  <a:ext uri="{0D108BD9-81ED-4DB2-BD59-A6C34878D82A}">
                    <a16:rowId xmlns:a16="http://schemas.microsoft.com/office/drawing/2014/main" val="10003"/>
                  </a:ext>
                </a:extLst>
              </a:tr>
            </a:tbl>
          </a:graphicData>
        </a:graphic>
      </p:graphicFrame>
      <p:graphicFrame>
        <p:nvGraphicFramePr>
          <p:cNvPr id="8" name="表格 6">
            <a:extLst>
              <a:ext uri="{FF2B5EF4-FFF2-40B4-BE49-F238E27FC236}">
                <a16:creationId xmlns:a16="http://schemas.microsoft.com/office/drawing/2014/main" id="{DBC429DB-7D94-4BFD-B38A-ADB289E9DE34}"/>
              </a:ext>
            </a:extLst>
          </p:cNvPr>
          <p:cNvGraphicFramePr>
            <a:graphicFrameLocks noGrp="1"/>
          </p:cNvGraphicFramePr>
          <p:nvPr>
            <p:extLst>
              <p:ext uri="{D42A27DB-BD31-4B8C-83A1-F6EECF244321}">
                <p14:modId xmlns:p14="http://schemas.microsoft.com/office/powerpoint/2010/main" val="3337781837"/>
              </p:ext>
            </p:extLst>
          </p:nvPr>
        </p:nvGraphicFramePr>
        <p:xfrm>
          <a:off x="926908" y="3654715"/>
          <a:ext cx="2355849" cy="1111248"/>
        </p:xfrm>
        <a:graphic>
          <a:graphicData uri="http://schemas.openxmlformats.org/drawingml/2006/table">
            <a:tbl>
              <a:tblPr firstCol="1" bandRow="1"/>
              <a:tblGrid>
                <a:gridCol w="627029">
                  <a:extLst>
                    <a:ext uri="{9D8B030D-6E8A-4147-A177-3AD203B41FA5}">
                      <a16:colId xmlns:a16="http://schemas.microsoft.com/office/drawing/2014/main" val="20000"/>
                    </a:ext>
                  </a:extLst>
                </a:gridCol>
                <a:gridCol w="1728820">
                  <a:extLst>
                    <a:ext uri="{9D8B030D-6E8A-4147-A177-3AD203B41FA5}">
                      <a16:colId xmlns:a16="http://schemas.microsoft.com/office/drawing/2014/main" val="20001"/>
                    </a:ext>
                  </a:extLst>
                </a:gridCol>
              </a:tblGrid>
              <a:tr h="277812">
                <a:tc rowSpan="4">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r>
                        <a:rPr lang="en-US" altLang="zh-CN" sz="1200" dirty="0">
                          <a:latin typeface="Arial" panose="020B0604020202020204" pitchFamily="34" charset="0"/>
                          <a:ea typeface="微软雅黑" panose="020B0503020204020204" pitchFamily="34" charset="-122"/>
                        </a:rPr>
                        <a:t>External</a:t>
                      </a:r>
                    </a:p>
                    <a:p>
                      <a:r>
                        <a:rPr lang="en-US" altLang="zh-CN" sz="1200" dirty="0">
                          <a:latin typeface="Arial" panose="020B0604020202020204" pitchFamily="34" charset="0"/>
                          <a:ea typeface="微软雅黑" panose="020B0503020204020204" pitchFamily="34" charset="-122"/>
                        </a:rPr>
                        <a:t>Third party</a:t>
                      </a:r>
                      <a:endParaRPr lang="zh-CN" altLang="en-US" sz="1200" dirty="0">
                        <a:latin typeface="Arial" panose="020B0604020202020204" pitchFamily="34" charset="0"/>
                        <a:ea typeface="微软雅黑" panose="020B0503020204020204" pitchFamily="34" charset="-122"/>
                      </a:endParaRPr>
                    </a:p>
                  </a:txBody>
                  <a:tcPr marL="91501" marR="91501" marT="45735" marB="45735">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6A00">
                        <a:lumMod val="40000"/>
                        <a:lumOff val="60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r>
                        <a:rPr lang="en-US" altLang="zh-CN" sz="1200" dirty="0">
                          <a:latin typeface="Arial" panose="020B0604020202020204" pitchFamily="34" charset="0"/>
                          <a:ea typeface="微软雅黑" panose="020B0503020204020204" pitchFamily="34" charset="-122"/>
                        </a:rPr>
                        <a:t>Vendor</a:t>
                      </a:r>
                      <a:endParaRPr lang="zh-CN" altLang="en-US" sz="1200" dirty="0">
                        <a:latin typeface="Arial" panose="020B0604020202020204" pitchFamily="34" charset="0"/>
                        <a:ea typeface="微软雅黑" panose="020B0503020204020204" pitchFamily="34" charset="-122"/>
                      </a:endParaRPr>
                    </a:p>
                  </a:txBody>
                  <a:tcPr marL="91501" marR="91501" marT="45735" marB="45735">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6A00">
                        <a:lumMod val="40000"/>
                        <a:lumOff val="60000"/>
                      </a:srgbClr>
                    </a:solidFill>
                  </a:tcPr>
                </a:tc>
                <a:extLst>
                  <a:ext uri="{0D108BD9-81ED-4DB2-BD59-A6C34878D82A}">
                    <a16:rowId xmlns:a16="http://schemas.microsoft.com/office/drawing/2014/main" val="10000"/>
                  </a:ext>
                </a:extLst>
              </a:tr>
              <a:tr h="277812">
                <a:tc vMerge="1">
                  <a:txBody>
                    <a:bodyPr/>
                    <a:lstStyle/>
                    <a:p>
                      <a:endParaRPr lang="zh-CN"/>
                    </a:p>
                  </a:txBody>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r>
                        <a:rPr lang="en-US" altLang="zh-CN" sz="1200" dirty="0">
                          <a:latin typeface="Arial" panose="020B0604020202020204" pitchFamily="34" charset="0"/>
                          <a:ea typeface="微软雅黑" panose="020B0503020204020204" pitchFamily="34" charset="-122"/>
                        </a:rPr>
                        <a:t>Logistic Partner</a:t>
                      </a:r>
                      <a:endParaRPr lang="zh-CN" altLang="en-US" sz="1200" dirty="0">
                        <a:latin typeface="Arial" panose="020B0604020202020204" pitchFamily="34" charset="0"/>
                        <a:ea typeface="微软雅黑" panose="020B0503020204020204" pitchFamily="34" charset="-122"/>
                      </a:endParaRPr>
                    </a:p>
                  </a:txBody>
                  <a:tcPr marL="91501" marR="91501" marT="45735" marB="45735">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6A00">
                        <a:lumMod val="40000"/>
                        <a:lumOff val="60000"/>
                      </a:srgbClr>
                    </a:solidFill>
                  </a:tcPr>
                </a:tc>
                <a:extLst>
                  <a:ext uri="{0D108BD9-81ED-4DB2-BD59-A6C34878D82A}">
                    <a16:rowId xmlns:a16="http://schemas.microsoft.com/office/drawing/2014/main" val="10001"/>
                  </a:ext>
                </a:extLst>
              </a:tr>
              <a:tr h="277812">
                <a:tc vMerge="1">
                  <a:txBody>
                    <a:bodyPr/>
                    <a:lstStyle/>
                    <a:p>
                      <a:endParaRPr lang="zh-CN"/>
                    </a:p>
                  </a:txBody>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r>
                        <a:rPr lang="en-US" altLang="zh-CN" sz="1200" dirty="0">
                          <a:latin typeface="Arial" panose="020B0604020202020204" pitchFamily="34" charset="0"/>
                          <a:ea typeface="微软雅黑" panose="020B0503020204020204" pitchFamily="34" charset="-122"/>
                        </a:rPr>
                        <a:t>BP/Customer</a:t>
                      </a:r>
                    </a:p>
                  </a:txBody>
                  <a:tcPr marL="91501" marR="91501" marT="45735" marB="45735">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6A00">
                        <a:lumMod val="40000"/>
                        <a:lumOff val="60000"/>
                      </a:srgbClr>
                    </a:solidFill>
                  </a:tcPr>
                </a:tc>
                <a:extLst>
                  <a:ext uri="{0D108BD9-81ED-4DB2-BD59-A6C34878D82A}">
                    <a16:rowId xmlns:a16="http://schemas.microsoft.com/office/drawing/2014/main" val="10002"/>
                  </a:ext>
                </a:extLst>
              </a:tr>
              <a:tr h="277812">
                <a:tc vMerge="1">
                  <a:txBody>
                    <a:bodyPr/>
                    <a:lstStyle/>
                    <a:p>
                      <a:endParaRPr lang="zh-CN"/>
                    </a:p>
                  </a:txBody>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r>
                        <a:rPr lang="en-US" altLang="zh-CN" sz="1200" dirty="0">
                          <a:latin typeface="Arial" panose="020B0604020202020204" pitchFamily="34" charset="0"/>
                          <a:ea typeface="微软雅黑" panose="020B0503020204020204" pitchFamily="34" charset="-122"/>
                        </a:rPr>
                        <a:t>Etc. …….</a:t>
                      </a:r>
                      <a:endParaRPr lang="zh-CN" altLang="en-US" sz="1200" dirty="0">
                        <a:latin typeface="Arial" panose="020B0604020202020204" pitchFamily="34" charset="0"/>
                        <a:ea typeface="微软雅黑" panose="020B0503020204020204" pitchFamily="34" charset="-122"/>
                      </a:endParaRPr>
                    </a:p>
                  </a:txBody>
                  <a:tcPr marL="91501" marR="91501" marT="45735" marB="45735">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6A00">
                        <a:lumMod val="40000"/>
                        <a:lumOff val="60000"/>
                      </a:srgbClr>
                    </a:solidFill>
                  </a:tcPr>
                </a:tc>
                <a:extLst>
                  <a:ext uri="{0D108BD9-81ED-4DB2-BD59-A6C34878D82A}">
                    <a16:rowId xmlns:a16="http://schemas.microsoft.com/office/drawing/2014/main" val="10003"/>
                  </a:ext>
                </a:extLst>
              </a:tr>
            </a:tbl>
          </a:graphicData>
        </a:graphic>
      </p:graphicFrame>
      <p:graphicFrame>
        <p:nvGraphicFramePr>
          <p:cNvPr id="9" name="表格 9">
            <a:extLst>
              <a:ext uri="{FF2B5EF4-FFF2-40B4-BE49-F238E27FC236}">
                <a16:creationId xmlns:a16="http://schemas.microsoft.com/office/drawing/2014/main" id="{A6232AC0-9ECE-EDCB-E2B2-90AE567F0FFB}"/>
              </a:ext>
            </a:extLst>
          </p:cNvPr>
          <p:cNvGraphicFramePr>
            <a:graphicFrameLocks noGrp="1"/>
          </p:cNvGraphicFramePr>
          <p:nvPr>
            <p:extLst>
              <p:ext uri="{D42A27DB-BD31-4B8C-83A1-F6EECF244321}">
                <p14:modId xmlns:p14="http://schemas.microsoft.com/office/powerpoint/2010/main" val="94523041"/>
              </p:ext>
            </p:extLst>
          </p:nvPr>
        </p:nvGraphicFramePr>
        <p:xfrm>
          <a:off x="4104024" y="2255597"/>
          <a:ext cx="2696634" cy="3002250"/>
        </p:xfrm>
        <a:graphic>
          <a:graphicData uri="http://schemas.openxmlformats.org/drawingml/2006/table">
            <a:tbl>
              <a:tblPr/>
              <a:tblGrid>
                <a:gridCol w="1098551">
                  <a:extLst>
                    <a:ext uri="{9D8B030D-6E8A-4147-A177-3AD203B41FA5}">
                      <a16:colId xmlns:a16="http://schemas.microsoft.com/office/drawing/2014/main" val="20000"/>
                    </a:ext>
                  </a:extLst>
                </a:gridCol>
                <a:gridCol w="1598083">
                  <a:extLst>
                    <a:ext uri="{9D8B030D-6E8A-4147-A177-3AD203B41FA5}">
                      <a16:colId xmlns:a16="http://schemas.microsoft.com/office/drawing/2014/main" val="20001"/>
                    </a:ext>
                  </a:extLst>
                </a:gridCol>
              </a:tblGrid>
              <a:tr h="315004">
                <a:tc gridSpan="2">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1500" b="1" i="0" u="none" strike="noStrike" cap="none" normalizeH="0" baseline="0">
                          <a:ln>
                            <a:noFill/>
                          </a:ln>
                          <a:solidFill>
                            <a:srgbClr val="FFFFFF"/>
                          </a:solidFill>
                          <a:effectLst/>
                          <a:latin typeface="Arial" panose="020B0604020202020204" pitchFamily="34" charset="0"/>
                          <a:ea typeface="微软雅黑" panose="020B0503020204020204" pitchFamily="34" charset="-122"/>
                        </a:rPr>
                        <a:t>Input Data to Engine</a:t>
                      </a:r>
                      <a:endParaRPr kumimoji="0" lang="zh-CN" altLang="en-US" sz="1500" b="1" i="0" u="none" strike="noStrike" cap="none" normalizeH="0" baseline="0">
                        <a:ln>
                          <a:noFill/>
                        </a:ln>
                        <a:solidFill>
                          <a:srgbClr val="FFFFFF"/>
                        </a:solidFill>
                        <a:effectLst/>
                        <a:latin typeface="Arial" panose="020B0604020202020204" pitchFamily="34" charset="0"/>
                        <a:ea typeface="微软雅黑" panose="020B0503020204020204" pitchFamily="34" charset="-122"/>
                      </a:endParaRPr>
                    </a:p>
                  </a:txBody>
                  <a:tcPr marT="45727" marB="45727"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D07A7E"/>
                    </a:solidFill>
                  </a:tcPr>
                </a:tc>
                <a:tc hMerge="1">
                  <a:txBody>
                    <a:bodyPr/>
                    <a:lstStyle/>
                    <a:p>
                      <a:endParaRPr lang="zh-CN"/>
                    </a:p>
                  </a:txBody>
                  <a:tcPr/>
                </a:tc>
                <a:extLst>
                  <a:ext uri="{0D108BD9-81ED-4DB2-BD59-A6C34878D82A}">
                    <a16:rowId xmlns:a16="http://schemas.microsoft.com/office/drawing/2014/main" val="10000"/>
                  </a:ext>
                </a:extLst>
              </a:tr>
              <a:tr h="1126225">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1500" b="0" i="0" u="none" strike="noStrike" cap="none" normalizeH="0" baseline="0">
                          <a:ln>
                            <a:noFill/>
                          </a:ln>
                          <a:solidFill>
                            <a:srgbClr val="000000"/>
                          </a:solidFill>
                          <a:effectLst/>
                          <a:latin typeface="Arial" panose="020B0604020202020204" pitchFamily="34" charset="0"/>
                          <a:ea typeface="微软雅黑" panose="020B0503020204020204" pitchFamily="34" charset="-122"/>
                        </a:rPr>
                        <a:t>Interim Source Data </a:t>
                      </a:r>
                      <a:endParaRPr kumimoji="0" lang="zh-CN" altLang="en-US" sz="1500" b="0" i="0" u="none" strike="noStrike" cap="none" normalizeH="0" baseline="0">
                        <a:ln>
                          <a:noFill/>
                        </a:ln>
                        <a:solidFill>
                          <a:srgbClr val="000000"/>
                        </a:solidFill>
                        <a:effectLst/>
                        <a:latin typeface="Arial" panose="020B0604020202020204" pitchFamily="34" charset="0"/>
                        <a:ea typeface="微软雅黑" panose="020B0503020204020204" pitchFamily="34" charset="-122"/>
                      </a:endParaRPr>
                    </a:p>
                  </a:txBody>
                  <a:tcPr marT="45727" marB="45727"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A9A96"/>
                    </a:solid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1500" b="0" i="0" u="none" strike="noStrike" cap="none" normalizeH="0" baseline="0">
                          <a:ln>
                            <a:noFill/>
                          </a:ln>
                          <a:solidFill>
                            <a:srgbClr val="000000"/>
                          </a:solidFill>
                          <a:effectLst/>
                          <a:latin typeface="Arial" panose="020B0604020202020204" pitchFamily="34" charset="0"/>
                          <a:ea typeface="微软雅黑" panose="020B0503020204020204" pitchFamily="34" charset="-122"/>
                        </a:rPr>
                        <a:t>Target engine standard data</a:t>
                      </a:r>
                      <a:endParaRPr kumimoji="0" lang="zh-CN" altLang="en-US" sz="1500" b="0" i="0" u="none" strike="noStrike" cap="none" normalizeH="0" baseline="0">
                        <a:ln>
                          <a:noFill/>
                        </a:ln>
                        <a:solidFill>
                          <a:srgbClr val="000000"/>
                        </a:solidFill>
                        <a:effectLst/>
                        <a:latin typeface="Arial" panose="020B0604020202020204" pitchFamily="34" charset="0"/>
                        <a:ea typeface="微软雅黑" panose="020B0503020204020204" pitchFamily="34" charset="-122"/>
                      </a:endParaRPr>
                    </a:p>
                  </a:txBody>
                  <a:tcPr marT="45727" marB="45727"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A9A96"/>
                    </a:solidFill>
                  </a:tcPr>
                </a:tc>
                <a:extLst>
                  <a:ext uri="{0D108BD9-81ED-4DB2-BD59-A6C34878D82A}">
                    <a16:rowId xmlns:a16="http://schemas.microsoft.com/office/drawing/2014/main" val="10001"/>
                  </a:ext>
                </a:extLst>
              </a:tr>
              <a:tr h="383172">
                <a:tc gridSpan="2">
                  <a:txBody>
                    <a:bodyPr/>
                    <a:lstStyle>
                      <a:lvl1pPr defTabSz="1219200">
                        <a:spcBef>
                          <a:spcPct val="20000"/>
                        </a:spcBef>
                        <a:buFont typeface="Arial" panose="020B0604020202020204" pitchFamily="34" charset="0"/>
                        <a:defRPr kumimoji="1" sz="2800">
                          <a:solidFill>
                            <a:schemeClr val="tx1"/>
                          </a:solidFill>
                          <a:latin typeface="Calibri" panose="020F0502020204030204" pitchFamily="34" charset="0"/>
                          <a:ea typeface="宋体" panose="02010600030101010101" pitchFamily="2" charset="-122"/>
                        </a:defRPr>
                      </a:lvl1pPr>
                      <a:lvl2pPr marL="742950" indent="-285750" defTabSz="1219200">
                        <a:spcBef>
                          <a:spcPct val="20000"/>
                        </a:spcBef>
                        <a:buFont typeface="Arial" panose="020B0604020202020204" pitchFamily="34" charset="0"/>
                        <a:defRPr kumimoji="1" sz="2400">
                          <a:solidFill>
                            <a:schemeClr val="tx1"/>
                          </a:solidFill>
                          <a:latin typeface="Calibri" panose="020F0502020204030204" pitchFamily="34" charset="0"/>
                          <a:ea typeface="宋体" panose="02010600030101010101" pitchFamily="2" charset="-122"/>
                        </a:defRPr>
                      </a:lvl2pPr>
                      <a:lvl3pPr marL="1143000" indent="-228600" defTabSz="1219200">
                        <a:spcBef>
                          <a:spcPct val="20000"/>
                        </a:spcBef>
                        <a:buFont typeface="Arial" panose="020B0604020202020204" pitchFamily="34" charset="0"/>
                        <a:defRPr kumimoji="1" sz="2000">
                          <a:solidFill>
                            <a:schemeClr val="tx1"/>
                          </a:solidFill>
                          <a:latin typeface="Calibri" panose="020F0502020204030204" pitchFamily="34" charset="0"/>
                          <a:ea typeface="宋体" panose="02010600030101010101" pitchFamily="2" charset="-122"/>
                        </a:defRPr>
                      </a:lvl3pPr>
                      <a:lvl4pPr marL="1600200" indent="-228600" defTabSz="1219200">
                        <a:spcBef>
                          <a:spcPct val="20000"/>
                        </a:spcBef>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4pPr>
                      <a:lvl5pPr marL="2057400" indent="-228600" defTabSz="1219200">
                        <a:spcBef>
                          <a:spcPct val="20000"/>
                        </a:spcBef>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5pPr>
                      <a:lvl6pPr marL="2514600" indent="-228600" defTabSz="12192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6pPr>
                      <a:lvl7pPr marL="2971800" indent="-228600" defTabSz="12192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7pPr>
                      <a:lvl8pPr marL="3429000" indent="-228600" defTabSz="12192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8pPr>
                      <a:lvl9pPr marL="3886200" indent="-228600" defTabSz="12192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9pPr>
                    </a:lstStyle>
                    <a:p>
                      <a:pPr marL="0" marR="0" lvl="0" indent="0" algn="ctr" defTabSz="1219200" rtl="0" eaLnBrk="1" fontAlgn="base" latinLnBrk="0" hangingPunct="1">
                        <a:lnSpc>
                          <a:spcPct val="100000"/>
                        </a:lnSpc>
                        <a:spcBef>
                          <a:spcPct val="0"/>
                        </a:spcBef>
                        <a:spcAft>
                          <a:spcPct val="0"/>
                        </a:spcAft>
                        <a:buClrTx/>
                        <a:buSzTx/>
                        <a:buFontTx/>
                        <a:buNone/>
                      </a:pPr>
                      <a:r>
                        <a:rPr kumimoji="0" lang="en-US" altLang="zh-CN" sz="1500" b="1" i="0" u="none" strike="noStrike" cap="none" normalizeH="0" baseline="0">
                          <a:ln>
                            <a:noFill/>
                          </a:ln>
                          <a:solidFill>
                            <a:srgbClr val="FFFFFF"/>
                          </a:solidFill>
                          <a:effectLst/>
                          <a:latin typeface="Arial" panose="020B0604020202020204" pitchFamily="34" charset="0"/>
                          <a:ea typeface="微软雅黑" panose="020B0503020204020204" pitchFamily="34" charset="-122"/>
                        </a:rPr>
                        <a:t>Output Data from Engine</a:t>
                      </a:r>
                      <a:endParaRPr kumimoji="0" lang="zh-CN" altLang="en-US" sz="1500" b="1" i="0" u="none" strike="noStrike" cap="none" normalizeH="0" baseline="0">
                        <a:ln>
                          <a:noFill/>
                        </a:ln>
                        <a:solidFill>
                          <a:srgbClr val="FFFFFF"/>
                        </a:solidFill>
                        <a:effectLst/>
                        <a:latin typeface="Arial" panose="020B0604020202020204" pitchFamily="34" charset="0"/>
                        <a:ea typeface="微软雅黑" panose="020B0503020204020204" pitchFamily="34" charset="-122"/>
                      </a:endParaRPr>
                    </a:p>
                  </a:txBody>
                  <a:tcPr marT="45727" marB="45727"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07A7E"/>
                    </a:solidFill>
                  </a:tcPr>
                </a:tc>
                <a:tc hMerge="1">
                  <a:txBody>
                    <a:bodyPr/>
                    <a:lstStyle/>
                    <a:p>
                      <a:endParaRPr lang="zh-CN"/>
                    </a:p>
                  </a:txBody>
                  <a:tcPr/>
                </a:tc>
                <a:extLst>
                  <a:ext uri="{0D108BD9-81ED-4DB2-BD59-A6C34878D82A}">
                    <a16:rowId xmlns:a16="http://schemas.microsoft.com/office/drawing/2014/main" val="10002"/>
                  </a:ext>
                </a:extLst>
              </a:tr>
              <a:tr h="1172799">
                <a:tc>
                  <a:txBody>
                    <a:bodyPr/>
                    <a:lstStyle>
                      <a:lvl1pPr defTabSz="1219200">
                        <a:spcBef>
                          <a:spcPct val="20000"/>
                        </a:spcBef>
                        <a:buFont typeface="Arial" panose="020B0604020202020204" pitchFamily="34" charset="0"/>
                        <a:defRPr kumimoji="1" sz="2800">
                          <a:solidFill>
                            <a:schemeClr val="tx1"/>
                          </a:solidFill>
                          <a:latin typeface="Calibri" panose="020F0502020204030204" pitchFamily="34" charset="0"/>
                          <a:ea typeface="宋体" panose="02010600030101010101" pitchFamily="2" charset="-122"/>
                        </a:defRPr>
                      </a:lvl1pPr>
                      <a:lvl2pPr marL="742950" indent="-285750" defTabSz="1219200">
                        <a:spcBef>
                          <a:spcPct val="20000"/>
                        </a:spcBef>
                        <a:buFont typeface="Arial" panose="020B0604020202020204" pitchFamily="34" charset="0"/>
                        <a:defRPr kumimoji="1" sz="2400">
                          <a:solidFill>
                            <a:schemeClr val="tx1"/>
                          </a:solidFill>
                          <a:latin typeface="Calibri" panose="020F0502020204030204" pitchFamily="34" charset="0"/>
                          <a:ea typeface="宋体" panose="02010600030101010101" pitchFamily="2" charset="-122"/>
                        </a:defRPr>
                      </a:lvl2pPr>
                      <a:lvl3pPr marL="1143000" indent="-228600" defTabSz="1219200">
                        <a:spcBef>
                          <a:spcPct val="20000"/>
                        </a:spcBef>
                        <a:buFont typeface="Arial" panose="020B0604020202020204" pitchFamily="34" charset="0"/>
                        <a:defRPr kumimoji="1" sz="2000">
                          <a:solidFill>
                            <a:schemeClr val="tx1"/>
                          </a:solidFill>
                          <a:latin typeface="Calibri" panose="020F0502020204030204" pitchFamily="34" charset="0"/>
                          <a:ea typeface="宋体" panose="02010600030101010101" pitchFamily="2" charset="-122"/>
                        </a:defRPr>
                      </a:lvl3pPr>
                      <a:lvl4pPr marL="1600200" indent="-228600" defTabSz="1219200">
                        <a:spcBef>
                          <a:spcPct val="20000"/>
                        </a:spcBef>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4pPr>
                      <a:lvl5pPr marL="2057400" indent="-228600" defTabSz="1219200">
                        <a:spcBef>
                          <a:spcPct val="20000"/>
                        </a:spcBef>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5pPr>
                      <a:lvl6pPr marL="2514600" indent="-228600" defTabSz="12192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6pPr>
                      <a:lvl7pPr marL="2971800" indent="-228600" defTabSz="12192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7pPr>
                      <a:lvl8pPr marL="3429000" indent="-228600" defTabSz="12192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8pPr>
                      <a:lvl9pPr marL="3886200" indent="-228600" defTabSz="12192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9pPr>
                    </a:lstStyle>
                    <a:p>
                      <a:pPr marL="0" marR="0" lvl="0" indent="0" algn="l" defTabSz="1219200" rtl="0" eaLnBrk="1" fontAlgn="base" latinLnBrk="0" hangingPunct="1">
                        <a:lnSpc>
                          <a:spcPct val="100000"/>
                        </a:lnSpc>
                        <a:spcBef>
                          <a:spcPct val="0"/>
                        </a:spcBef>
                        <a:spcAft>
                          <a:spcPct val="0"/>
                        </a:spcAft>
                        <a:buClrTx/>
                        <a:buSzTx/>
                        <a:buFontTx/>
                        <a:buNone/>
                      </a:pPr>
                      <a:r>
                        <a:rPr kumimoji="0" lang="en-US" altLang="zh-CN" sz="1500" b="0" i="0" u="none" strike="noStrike" cap="none" normalizeH="0" baseline="0">
                          <a:ln>
                            <a:noFill/>
                          </a:ln>
                          <a:solidFill>
                            <a:srgbClr val="000000"/>
                          </a:solidFill>
                          <a:effectLst/>
                          <a:latin typeface="Arial" panose="020B0604020202020204" pitchFamily="34" charset="0"/>
                          <a:ea typeface="微软雅黑" panose="020B0503020204020204" pitchFamily="34" charset="-122"/>
                        </a:rPr>
                        <a:t>Interim Target Data </a:t>
                      </a:r>
                      <a:endParaRPr kumimoji="0" lang="zh-CN" altLang="en-US" sz="1500" b="0" i="0" u="none" strike="noStrike" cap="none" normalizeH="0" baseline="0">
                        <a:ln>
                          <a:noFill/>
                        </a:ln>
                        <a:solidFill>
                          <a:srgbClr val="000000"/>
                        </a:solidFill>
                        <a:effectLst/>
                        <a:latin typeface="Arial" panose="020B0604020202020204" pitchFamily="34" charset="0"/>
                        <a:ea typeface="微软雅黑" panose="020B0503020204020204" pitchFamily="34" charset="-122"/>
                      </a:endParaRPr>
                    </a:p>
                    <a:p>
                      <a:pPr marL="0" marR="0" lvl="0" indent="0" algn="l" defTabSz="1219200" rtl="0" eaLnBrk="1" fontAlgn="base" latinLnBrk="0" hangingPunct="1">
                        <a:lnSpc>
                          <a:spcPct val="100000"/>
                        </a:lnSpc>
                        <a:spcBef>
                          <a:spcPct val="0"/>
                        </a:spcBef>
                        <a:spcAft>
                          <a:spcPct val="0"/>
                        </a:spcAft>
                        <a:buClrTx/>
                        <a:buSzTx/>
                        <a:buFontTx/>
                        <a:buNone/>
                      </a:pPr>
                      <a:endParaRPr kumimoji="0" lang="zh-CN" altLang="en-US" sz="1500" b="0" i="0" u="none" strike="noStrike" cap="none" normalizeH="0" baseline="0">
                        <a:ln>
                          <a:noFill/>
                        </a:ln>
                        <a:solidFill>
                          <a:srgbClr val="000000"/>
                        </a:solidFill>
                        <a:effectLst/>
                        <a:latin typeface="Arial" panose="020B0604020202020204" pitchFamily="34" charset="0"/>
                        <a:ea typeface="微软雅黑" panose="020B0503020204020204" pitchFamily="34" charset="-122"/>
                      </a:endParaRPr>
                    </a:p>
                  </a:txBody>
                  <a:tcPr marT="45727" marB="45727"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DCDCA"/>
                    </a:solidFill>
                  </a:tcPr>
                </a:tc>
                <a:tc>
                  <a:txBody>
                    <a:bodyPr/>
                    <a:lstStyle>
                      <a:lvl1pPr defTabSz="1219200">
                        <a:spcBef>
                          <a:spcPct val="20000"/>
                        </a:spcBef>
                        <a:buFont typeface="Arial" panose="020B0604020202020204" pitchFamily="34" charset="0"/>
                        <a:defRPr kumimoji="1" sz="2800">
                          <a:solidFill>
                            <a:schemeClr val="tx1"/>
                          </a:solidFill>
                          <a:latin typeface="Calibri" panose="020F0502020204030204" pitchFamily="34" charset="0"/>
                          <a:ea typeface="宋体" panose="02010600030101010101" pitchFamily="2" charset="-122"/>
                        </a:defRPr>
                      </a:lvl1pPr>
                      <a:lvl2pPr marL="742950" indent="-285750" defTabSz="1219200">
                        <a:spcBef>
                          <a:spcPct val="20000"/>
                        </a:spcBef>
                        <a:buFont typeface="Arial" panose="020B0604020202020204" pitchFamily="34" charset="0"/>
                        <a:defRPr kumimoji="1" sz="2400">
                          <a:solidFill>
                            <a:schemeClr val="tx1"/>
                          </a:solidFill>
                          <a:latin typeface="Calibri" panose="020F0502020204030204" pitchFamily="34" charset="0"/>
                          <a:ea typeface="宋体" panose="02010600030101010101" pitchFamily="2" charset="-122"/>
                        </a:defRPr>
                      </a:lvl2pPr>
                      <a:lvl3pPr marL="1143000" indent="-228600" defTabSz="1219200">
                        <a:spcBef>
                          <a:spcPct val="20000"/>
                        </a:spcBef>
                        <a:buFont typeface="Arial" panose="020B0604020202020204" pitchFamily="34" charset="0"/>
                        <a:defRPr kumimoji="1" sz="2000">
                          <a:solidFill>
                            <a:schemeClr val="tx1"/>
                          </a:solidFill>
                          <a:latin typeface="Calibri" panose="020F0502020204030204" pitchFamily="34" charset="0"/>
                          <a:ea typeface="宋体" panose="02010600030101010101" pitchFamily="2" charset="-122"/>
                        </a:defRPr>
                      </a:lvl3pPr>
                      <a:lvl4pPr marL="1600200" indent="-228600" defTabSz="1219200">
                        <a:spcBef>
                          <a:spcPct val="20000"/>
                        </a:spcBef>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4pPr>
                      <a:lvl5pPr marL="2057400" indent="-228600" defTabSz="1219200">
                        <a:spcBef>
                          <a:spcPct val="20000"/>
                        </a:spcBef>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5pPr>
                      <a:lvl6pPr marL="2514600" indent="-228600" defTabSz="12192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6pPr>
                      <a:lvl7pPr marL="2971800" indent="-228600" defTabSz="12192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7pPr>
                      <a:lvl8pPr marL="3429000" indent="-228600" defTabSz="12192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8pPr>
                      <a:lvl9pPr marL="3886200" indent="-228600" defTabSz="12192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ea typeface="宋体" panose="02010600030101010101" pitchFamily="2" charset="-122"/>
                        </a:defRPr>
                      </a:lvl9pPr>
                    </a:lstStyle>
                    <a:p>
                      <a:pPr marL="0" marR="0" lvl="0" indent="0" algn="l" defTabSz="1219200" rtl="0" eaLnBrk="1" fontAlgn="base" latinLnBrk="0" hangingPunct="1">
                        <a:lnSpc>
                          <a:spcPct val="100000"/>
                        </a:lnSpc>
                        <a:spcBef>
                          <a:spcPct val="0"/>
                        </a:spcBef>
                        <a:spcAft>
                          <a:spcPct val="0"/>
                        </a:spcAft>
                        <a:buClrTx/>
                        <a:buSzTx/>
                        <a:buFontTx/>
                        <a:buNone/>
                      </a:pPr>
                      <a:r>
                        <a:rPr kumimoji="0" lang="en-US" altLang="zh-CN" sz="1500" b="0" i="0" u="none" strike="noStrike" cap="none" normalizeH="0" baseline="0" dirty="0">
                          <a:ln>
                            <a:noFill/>
                          </a:ln>
                          <a:solidFill>
                            <a:srgbClr val="000000"/>
                          </a:solidFill>
                          <a:effectLst/>
                          <a:latin typeface="Arial" panose="020B0604020202020204" pitchFamily="34" charset="0"/>
                          <a:ea typeface="微软雅黑" panose="020B0503020204020204" pitchFamily="34" charset="-122"/>
                        </a:rPr>
                        <a:t>Source engine standard data</a:t>
                      </a:r>
                      <a:endParaRPr kumimoji="0" lang="zh-CN" altLang="en-US" sz="1500" b="0" i="0" u="none" strike="noStrike" cap="none" normalizeH="0" baseline="0" dirty="0">
                        <a:ln>
                          <a:noFill/>
                        </a:ln>
                        <a:solidFill>
                          <a:srgbClr val="000000"/>
                        </a:solidFill>
                        <a:effectLst/>
                        <a:latin typeface="Arial" panose="020B0604020202020204" pitchFamily="34" charset="0"/>
                        <a:ea typeface="微软雅黑" panose="020B0503020204020204" pitchFamily="34" charset="-122"/>
                      </a:endParaRPr>
                    </a:p>
                    <a:p>
                      <a:pPr marL="0" marR="0" lvl="0" indent="0" algn="l" defTabSz="1219200" rtl="0" eaLnBrk="1" fontAlgn="base" latinLnBrk="0" hangingPunct="1">
                        <a:lnSpc>
                          <a:spcPct val="100000"/>
                        </a:lnSpc>
                        <a:spcBef>
                          <a:spcPct val="0"/>
                        </a:spcBef>
                        <a:spcAft>
                          <a:spcPct val="0"/>
                        </a:spcAft>
                        <a:buClrTx/>
                        <a:buSzTx/>
                        <a:buFontTx/>
                        <a:buNone/>
                      </a:pPr>
                      <a:endParaRPr kumimoji="0" lang="zh-CN" altLang="en-US" sz="1500" b="0" i="0" u="none" strike="noStrike" cap="none" normalizeH="0" baseline="0" dirty="0">
                        <a:ln>
                          <a:noFill/>
                        </a:ln>
                        <a:solidFill>
                          <a:srgbClr val="000000"/>
                        </a:solidFill>
                        <a:effectLst/>
                        <a:latin typeface="Arial" panose="020B0604020202020204" pitchFamily="34" charset="0"/>
                        <a:ea typeface="微软雅黑" panose="020B0503020204020204" pitchFamily="34" charset="-122"/>
                      </a:endParaRPr>
                    </a:p>
                  </a:txBody>
                  <a:tcPr marT="45727" marB="45727"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DCDCA"/>
                    </a:solidFill>
                  </a:tcPr>
                </a:tc>
                <a:extLst>
                  <a:ext uri="{0D108BD9-81ED-4DB2-BD59-A6C34878D82A}">
                    <a16:rowId xmlns:a16="http://schemas.microsoft.com/office/drawing/2014/main" val="10003"/>
                  </a:ext>
                </a:extLst>
              </a:tr>
            </a:tbl>
          </a:graphicData>
        </a:graphic>
      </p:graphicFrame>
      <p:graphicFrame>
        <p:nvGraphicFramePr>
          <p:cNvPr id="10" name="表格 12">
            <a:extLst>
              <a:ext uri="{FF2B5EF4-FFF2-40B4-BE49-F238E27FC236}">
                <a16:creationId xmlns:a16="http://schemas.microsoft.com/office/drawing/2014/main" id="{DB61E0E8-EC89-F638-62DC-1CFD19CB3A6E}"/>
              </a:ext>
            </a:extLst>
          </p:cNvPr>
          <p:cNvGraphicFramePr>
            <a:graphicFrameLocks noGrp="1"/>
          </p:cNvGraphicFramePr>
          <p:nvPr>
            <p:extLst>
              <p:ext uri="{D42A27DB-BD31-4B8C-83A1-F6EECF244321}">
                <p14:modId xmlns:p14="http://schemas.microsoft.com/office/powerpoint/2010/main" val="478062398"/>
              </p:ext>
            </p:extLst>
          </p:nvPr>
        </p:nvGraphicFramePr>
        <p:xfrm>
          <a:off x="7632508" y="3081098"/>
          <a:ext cx="2256367" cy="1111251"/>
        </p:xfrm>
        <a:graphic>
          <a:graphicData uri="http://schemas.openxmlformats.org/drawingml/2006/table">
            <a:tbl>
              <a:tblPr bandRow="1"/>
              <a:tblGrid>
                <a:gridCol w="2256367">
                  <a:extLst>
                    <a:ext uri="{9D8B030D-6E8A-4147-A177-3AD203B41FA5}">
                      <a16:colId xmlns:a16="http://schemas.microsoft.com/office/drawing/2014/main" val="20000"/>
                    </a:ext>
                  </a:extLst>
                </a:gridCol>
              </a:tblGrid>
              <a:tr h="370417">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r>
                        <a:rPr lang="en-US" altLang="zh-CN" sz="1500" dirty="0">
                          <a:latin typeface="Arial" panose="020B0604020202020204" pitchFamily="34" charset="0"/>
                          <a:ea typeface="微软雅黑" panose="020B0503020204020204" pitchFamily="34" charset="-122"/>
                        </a:rPr>
                        <a:t>Input Data</a:t>
                      </a:r>
                      <a:endParaRPr lang="zh-CN" altLang="en-US" sz="1500" dirty="0">
                        <a:latin typeface="Arial" panose="020B0604020202020204" pitchFamily="34" charset="0"/>
                        <a:ea typeface="微软雅黑" panose="020B0503020204020204" pitchFamily="34" charset="-122"/>
                      </a:endParaRPr>
                    </a:p>
                  </a:txBody>
                  <a:tcPr marL="91488" marR="91488" marT="45668" marB="45668">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3E8DDD">
                        <a:tint val="40000"/>
                      </a:srgbClr>
                    </a:solidFill>
                  </a:tcPr>
                </a:tc>
                <a:extLst>
                  <a:ext uri="{0D108BD9-81ED-4DB2-BD59-A6C34878D82A}">
                    <a16:rowId xmlns:a16="http://schemas.microsoft.com/office/drawing/2014/main" val="10000"/>
                  </a:ext>
                </a:extLst>
              </a:tr>
              <a:tr h="370417">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r>
                        <a:rPr lang="en-US" altLang="zh-CN" sz="1500" dirty="0">
                          <a:latin typeface="Arial" panose="020B0604020202020204" pitchFamily="34" charset="0"/>
                          <a:ea typeface="微软雅黑" panose="020B0503020204020204" pitchFamily="34" charset="-122"/>
                        </a:rPr>
                        <a:t>Control Data</a:t>
                      </a:r>
                      <a:endParaRPr lang="zh-CN" altLang="en-US" sz="1500" dirty="0">
                        <a:latin typeface="Arial" panose="020B0604020202020204" pitchFamily="34" charset="0"/>
                        <a:ea typeface="微软雅黑" panose="020B0503020204020204" pitchFamily="34" charset="-122"/>
                      </a:endParaRPr>
                    </a:p>
                  </a:txBody>
                  <a:tcPr marL="91488" marR="91488" marT="45668" marB="45668">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3E8DDD">
                        <a:tint val="20000"/>
                      </a:srgbClr>
                    </a:solidFill>
                  </a:tcPr>
                </a:tc>
                <a:extLst>
                  <a:ext uri="{0D108BD9-81ED-4DB2-BD59-A6C34878D82A}">
                    <a16:rowId xmlns:a16="http://schemas.microsoft.com/office/drawing/2014/main" val="10001"/>
                  </a:ext>
                </a:extLst>
              </a:tr>
              <a:tr h="370417">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r>
                        <a:rPr lang="en-US" altLang="zh-CN" sz="1500" dirty="0">
                          <a:latin typeface="Arial" panose="020B0604020202020204" pitchFamily="34" charset="0"/>
                          <a:ea typeface="微软雅黑" panose="020B0503020204020204" pitchFamily="34" charset="-122"/>
                        </a:rPr>
                        <a:t>Calculation Data</a:t>
                      </a:r>
                      <a:endParaRPr lang="zh-CN" altLang="en-US" sz="1500" dirty="0">
                        <a:latin typeface="Arial" panose="020B0604020202020204" pitchFamily="34" charset="0"/>
                        <a:ea typeface="微软雅黑" panose="020B0503020204020204" pitchFamily="34" charset="-122"/>
                      </a:endParaRPr>
                    </a:p>
                  </a:txBody>
                  <a:tcPr marL="91488" marR="91488" marT="45668" marB="45668">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3E8DDD">
                        <a:tint val="40000"/>
                      </a:srgbClr>
                    </a:solidFill>
                  </a:tcPr>
                </a:tc>
                <a:extLst>
                  <a:ext uri="{0D108BD9-81ED-4DB2-BD59-A6C34878D82A}">
                    <a16:rowId xmlns:a16="http://schemas.microsoft.com/office/drawing/2014/main" val="10002"/>
                  </a:ext>
                </a:extLst>
              </a:tr>
            </a:tbl>
          </a:graphicData>
        </a:graphic>
      </p:graphicFrame>
      <p:cxnSp>
        <p:nvCxnSpPr>
          <p:cNvPr id="11" name="直接连接符 10">
            <a:extLst>
              <a:ext uri="{FF2B5EF4-FFF2-40B4-BE49-F238E27FC236}">
                <a16:creationId xmlns:a16="http://schemas.microsoft.com/office/drawing/2014/main" id="{443F47A9-69D5-6ABD-AB21-E3BE8FF1C09D}"/>
              </a:ext>
            </a:extLst>
          </p:cNvPr>
          <p:cNvCxnSpPr/>
          <p:nvPr/>
        </p:nvCxnSpPr>
        <p:spPr>
          <a:xfrm>
            <a:off x="3375890" y="2547698"/>
            <a:ext cx="0" cy="2226733"/>
          </a:xfrm>
          <a:prstGeom prst="line">
            <a:avLst/>
          </a:prstGeom>
          <a:noFill/>
          <a:ln w="38100" cap="flat" cmpd="sng" algn="ctr">
            <a:solidFill>
              <a:srgbClr val="FF6A00"/>
            </a:solidFill>
            <a:prstDash val="solid"/>
          </a:ln>
          <a:effectLst>
            <a:outerShdw blurRad="40000" dist="23000" dir="5400000" rotWithShape="0">
              <a:srgbClr val="000000">
                <a:alpha val="35000"/>
              </a:srgbClr>
            </a:outerShdw>
          </a:effectLst>
        </p:spPr>
      </p:cxnSp>
      <p:sp>
        <p:nvSpPr>
          <p:cNvPr id="12" name="箭头: 右 11">
            <a:extLst>
              <a:ext uri="{FF2B5EF4-FFF2-40B4-BE49-F238E27FC236}">
                <a16:creationId xmlns:a16="http://schemas.microsoft.com/office/drawing/2014/main" id="{9153EFC2-89DC-AFF7-F394-13E94A214E26}"/>
              </a:ext>
            </a:extLst>
          </p:cNvPr>
          <p:cNvSpPr/>
          <p:nvPr/>
        </p:nvSpPr>
        <p:spPr>
          <a:xfrm>
            <a:off x="3547341" y="2937165"/>
            <a:ext cx="412751" cy="209551"/>
          </a:xfrm>
          <a:prstGeom prst="rightArrow">
            <a:avLst/>
          </a:prstGeom>
          <a:solidFill>
            <a:srgbClr val="FF6A00"/>
          </a:solidFill>
          <a:ln>
            <a:noFill/>
          </a:ln>
          <a:effectLst/>
        </p:spPr>
        <p:txBody>
          <a:bodyPr anchor="ctr"/>
          <a:lstStyle/>
          <a:p>
            <a:pPr algn="ctr" defTabSz="914377">
              <a:defRPr/>
            </a:pPr>
            <a:endParaRPr lang="zh-CN" altLang="en-US" kern="0">
              <a:solidFill>
                <a:prstClr val="white"/>
              </a:solidFill>
              <a:latin typeface="Arial" panose="020B0604020202020204"/>
              <a:ea typeface="黑体" panose="02010609060101010101" charset="-122"/>
            </a:endParaRPr>
          </a:p>
        </p:txBody>
      </p:sp>
      <p:sp>
        <p:nvSpPr>
          <p:cNvPr id="13" name="箭头: 右 12">
            <a:extLst>
              <a:ext uri="{FF2B5EF4-FFF2-40B4-BE49-F238E27FC236}">
                <a16:creationId xmlns:a16="http://schemas.microsoft.com/office/drawing/2014/main" id="{67E24AFF-5E2A-7461-AACB-687B8E41378C}"/>
              </a:ext>
            </a:extLst>
          </p:cNvPr>
          <p:cNvSpPr/>
          <p:nvPr/>
        </p:nvSpPr>
        <p:spPr>
          <a:xfrm rot="10800000">
            <a:off x="3498657" y="4425182"/>
            <a:ext cx="410633" cy="209551"/>
          </a:xfrm>
          <a:prstGeom prst="rightArrow">
            <a:avLst/>
          </a:prstGeom>
          <a:solidFill>
            <a:srgbClr val="FF6A00"/>
          </a:solidFill>
          <a:ln>
            <a:noFill/>
          </a:ln>
          <a:effectLst/>
        </p:spPr>
        <p:txBody>
          <a:bodyPr anchor="ctr"/>
          <a:lstStyle/>
          <a:p>
            <a:pPr algn="ctr" defTabSz="914377">
              <a:defRPr/>
            </a:pPr>
            <a:endParaRPr lang="zh-CN" altLang="en-US" kern="0">
              <a:solidFill>
                <a:prstClr val="white"/>
              </a:solidFill>
              <a:latin typeface="Arial" panose="020B0604020202020204"/>
              <a:ea typeface="黑体" panose="02010609060101010101" charset="-122"/>
            </a:endParaRPr>
          </a:p>
        </p:txBody>
      </p:sp>
      <p:sp>
        <p:nvSpPr>
          <p:cNvPr id="14" name="箭头: 右 13">
            <a:extLst>
              <a:ext uri="{FF2B5EF4-FFF2-40B4-BE49-F238E27FC236}">
                <a16:creationId xmlns:a16="http://schemas.microsoft.com/office/drawing/2014/main" id="{D83E5465-BC5A-9C10-4279-F77D2B7D7AC1}"/>
              </a:ext>
            </a:extLst>
          </p:cNvPr>
          <p:cNvSpPr/>
          <p:nvPr/>
        </p:nvSpPr>
        <p:spPr>
          <a:xfrm>
            <a:off x="5018424" y="2977382"/>
            <a:ext cx="412751" cy="209551"/>
          </a:xfrm>
          <a:prstGeom prst="rightArrow">
            <a:avLst/>
          </a:prstGeom>
          <a:solidFill>
            <a:srgbClr val="FF6A00"/>
          </a:solidFill>
          <a:ln>
            <a:noFill/>
          </a:ln>
          <a:effectLst/>
        </p:spPr>
        <p:txBody>
          <a:bodyPr anchor="ctr"/>
          <a:lstStyle/>
          <a:p>
            <a:pPr algn="ctr" defTabSz="914377">
              <a:defRPr/>
            </a:pPr>
            <a:endParaRPr lang="zh-CN" altLang="en-US" kern="0">
              <a:solidFill>
                <a:prstClr val="white"/>
              </a:solidFill>
              <a:latin typeface="Arial" panose="020B0604020202020204"/>
              <a:ea typeface="黑体" panose="02010609060101010101" charset="-122"/>
            </a:endParaRPr>
          </a:p>
        </p:txBody>
      </p:sp>
      <p:sp>
        <p:nvSpPr>
          <p:cNvPr id="15" name="箭头: 右 14">
            <a:extLst>
              <a:ext uri="{FF2B5EF4-FFF2-40B4-BE49-F238E27FC236}">
                <a16:creationId xmlns:a16="http://schemas.microsoft.com/office/drawing/2014/main" id="{19220B68-A14B-EDD8-7821-321D679DBCF1}"/>
              </a:ext>
            </a:extLst>
          </p:cNvPr>
          <p:cNvSpPr/>
          <p:nvPr/>
        </p:nvSpPr>
        <p:spPr>
          <a:xfrm rot="1261680">
            <a:off x="6851457" y="2987965"/>
            <a:ext cx="410633" cy="209551"/>
          </a:xfrm>
          <a:prstGeom prst="rightArrow">
            <a:avLst/>
          </a:prstGeom>
          <a:solidFill>
            <a:srgbClr val="FF6A00"/>
          </a:solidFill>
          <a:ln>
            <a:noFill/>
          </a:ln>
          <a:effectLst/>
        </p:spPr>
        <p:txBody>
          <a:bodyPr anchor="ctr"/>
          <a:lstStyle/>
          <a:p>
            <a:pPr algn="ctr" defTabSz="914377">
              <a:defRPr/>
            </a:pPr>
            <a:endParaRPr lang="zh-CN" altLang="en-US" kern="0">
              <a:solidFill>
                <a:prstClr val="white"/>
              </a:solidFill>
              <a:latin typeface="Arial" panose="020B0604020202020204"/>
              <a:ea typeface="黑体" panose="02010609060101010101" charset="-122"/>
            </a:endParaRPr>
          </a:p>
        </p:txBody>
      </p:sp>
      <p:sp>
        <p:nvSpPr>
          <p:cNvPr id="16" name="箭头: 右 15">
            <a:extLst>
              <a:ext uri="{FF2B5EF4-FFF2-40B4-BE49-F238E27FC236}">
                <a16:creationId xmlns:a16="http://schemas.microsoft.com/office/drawing/2014/main" id="{51741D6A-0AFB-7E2C-C596-AE2F37E11654}"/>
              </a:ext>
            </a:extLst>
          </p:cNvPr>
          <p:cNvSpPr/>
          <p:nvPr/>
        </p:nvSpPr>
        <p:spPr>
          <a:xfrm rot="5400000">
            <a:off x="8884516" y="3552056"/>
            <a:ext cx="783167" cy="205317"/>
          </a:xfrm>
          <a:prstGeom prst="rightArrow">
            <a:avLst/>
          </a:prstGeom>
          <a:solidFill>
            <a:srgbClr val="FF6A00"/>
          </a:solidFill>
          <a:ln>
            <a:noFill/>
          </a:ln>
          <a:effectLst/>
        </p:spPr>
        <p:txBody>
          <a:bodyPr anchor="ctr"/>
          <a:lstStyle/>
          <a:p>
            <a:pPr algn="ctr" defTabSz="914377">
              <a:defRPr/>
            </a:pPr>
            <a:endParaRPr lang="zh-CN" altLang="en-US" kern="0">
              <a:solidFill>
                <a:prstClr val="white"/>
              </a:solidFill>
              <a:latin typeface="Arial" panose="020B0604020202020204"/>
              <a:ea typeface="黑体" panose="02010609060101010101" charset="-122"/>
            </a:endParaRPr>
          </a:p>
        </p:txBody>
      </p:sp>
      <p:sp>
        <p:nvSpPr>
          <p:cNvPr id="17" name="箭头: 右 16">
            <a:extLst>
              <a:ext uri="{FF2B5EF4-FFF2-40B4-BE49-F238E27FC236}">
                <a16:creationId xmlns:a16="http://schemas.microsoft.com/office/drawing/2014/main" id="{9B8F7CDB-30E2-2EF7-03A8-5E15C44CEBAF}"/>
              </a:ext>
            </a:extLst>
          </p:cNvPr>
          <p:cNvSpPr/>
          <p:nvPr/>
        </p:nvSpPr>
        <p:spPr>
          <a:xfrm rot="10800000">
            <a:off x="5018424" y="4522549"/>
            <a:ext cx="412751" cy="209551"/>
          </a:xfrm>
          <a:prstGeom prst="rightArrow">
            <a:avLst/>
          </a:prstGeom>
          <a:solidFill>
            <a:srgbClr val="FF6A00"/>
          </a:solidFill>
          <a:ln>
            <a:noFill/>
          </a:ln>
          <a:effectLst/>
        </p:spPr>
        <p:txBody>
          <a:bodyPr anchor="ctr"/>
          <a:lstStyle/>
          <a:p>
            <a:pPr algn="ctr" defTabSz="914377">
              <a:defRPr/>
            </a:pPr>
            <a:endParaRPr lang="zh-CN" altLang="en-US" kern="0">
              <a:solidFill>
                <a:prstClr val="white"/>
              </a:solidFill>
              <a:latin typeface="Arial" panose="020B0604020202020204"/>
              <a:ea typeface="黑体" panose="02010609060101010101" charset="-122"/>
            </a:endParaRPr>
          </a:p>
        </p:txBody>
      </p:sp>
      <p:sp>
        <p:nvSpPr>
          <p:cNvPr id="18" name="箭头: 右 17">
            <a:extLst>
              <a:ext uri="{FF2B5EF4-FFF2-40B4-BE49-F238E27FC236}">
                <a16:creationId xmlns:a16="http://schemas.microsoft.com/office/drawing/2014/main" id="{2C011815-88EB-4612-8C4A-E2D9D722A1D6}"/>
              </a:ext>
            </a:extLst>
          </p:cNvPr>
          <p:cNvSpPr/>
          <p:nvPr/>
        </p:nvSpPr>
        <p:spPr>
          <a:xfrm rot="8874694">
            <a:off x="6936123" y="4321465"/>
            <a:ext cx="450851" cy="224367"/>
          </a:xfrm>
          <a:prstGeom prst="rightArrow">
            <a:avLst/>
          </a:prstGeom>
          <a:solidFill>
            <a:srgbClr val="FF6A00"/>
          </a:solidFill>
          <a:ln>
            <a:noFill/>
          </a:ln>
          <a:effectLst/>
        </p:spPr>
        <p:txBody>
          <a:bodyPr anchor="ctr"/>
          <a:lstStyle/>
          <a:p>
            <a:pPr algn="ctr" defTabSz="914377">
              <a:defRPr/>
            </a:pPr>
            <a:endParaRPr lang="zh-CN" altLang="en-US" kern="0">
              <a:solidFill>
                <a:prstClr val="white"/>
              </a:solidFill>
              <a:latin typeface="Arial" panose="020B0604020202020204"/>
              <a:ea typeface="黑体" panose="02010609060101010101" charset="-122"/>
            </a:endParaRPr>
          </a:p>
        </p:txBody>
      </p:sp>
      <p:graphicFrame>
        <p:nvGraphicFramePr>
          <p:cNvPr id="19" name="表格 24">
            <a:extLst>
              <a:ext uri="{FF2B5EF4-FFF2-40B4-BE49-F238E27FC236}">
                <a16:creationId xmlns:a16="http://schemas.microsoft.com/office/drawing/2014/main" id="{5F791FAF-97A3-8A4D-20C7-8E05FF178EB8}"/>
              </a:ext>
            </a:extLst>
          </p:cNvPr>
          <p:cNvGraphicFramePr>
            <a:graphicFrameLocks noGrp="1"/>
          </p:cNvGraphicFramePr>
          <p:nvPr>
            <p:extLst>
              <p:ext uri="{D42A27DB-BD31-4B8C-83A1-F6EECF244321}">
                <p14:modId xmlns:p14="http://schemas.microsoft.com/office/powerpoint/2010/main" val="543167650"/>
              </p:ext>
            </p:extLst>
          </p:nvPr>
        </p:nvGraphicFramePr>
        <p:xfrm>
          <a:off x="8917022" y="4926819"/>
          <a:ext cx="2312665" cy="960120"/>
        </p:xfrm>
        <a:graphic>
          <a:graphicData uri="http://schemas.openxmlformats.org/drawingml/2006/table">
            <a:tbl>
              <a:tblPr bandRow="1">
                <a:gradFill rotWithShape="1">
                  <a:gsLst>
                    <a:gs pos="0">
                      <a:srgbClr val="6AC346">
                        <a:tint val="50000"/>
                        <a:satMod val="300000"/>
                      </a:srgbClr>
                    </a:gs>
                    <a:gs pos="35000">
                      <a:srgbClr val="6AC346">
                        <a:tint val="37000"/>
                        <a:satMod val="300000"/>
                      </a:srgbClr>
                    </a:gs>
                    <a:gs pos="100000">
                      <a:srgbClr val="6AC346">
                        <a:tint val="15000"/>
                        <a:satMod val="350000"/>
                      </a:srgbClr>
                    </a:gs>
                  </a:gsLst>
                  <a:lin ang="16200000" scaled="1"/>
                </a:gradFill>
                <a:effectLst>
                  <a:outerShdw blurRad="40000" dist="20000" dir="5400000" rotWithShape="0">
                    <a:srgbClr val="000000">
                      <a:alpha val="38000"/>
                    </a:srgbClr>
                  </a:outerShdw>
                </a:effectLst>
              </a:tblPr>
              <a:tblGrid>
                <a:gridCol w="2312665">
                  <a:extLst>
                    <a:ext uri="{9D8B030D-6E8A-4147-A177-3AD203B41FA5}">
                      <a16:colId xmlns:a16="http://schemas.microsoft.com/office/drawing/2014/main" val="20000"/>
                    </a:ext>
                  </a:extLst>
                </a:gridCol>
              </a:tblGrid>
              <a:tr h="228859">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altLang="zh-CN" sz="1500" dirty="0">
                          <a:latin typeface="Arial" panose="020B0604020202020204" pitchFamily="34" charset="0"/>
                          <a:ea typeface="微软雅黑" panose="020B0503020204020204" pitchFamily="34" charset="-122"/>
                        </a:rPr>
                        <a:t>Workflow</a:t>
                      </a:r>
                      <a:endParaRPr lang="zh-CN" altLang="en-US" sz="1500" dirty="0">
                        <a:latin typeface="Arial" panose="020B0604020202020204" pitchFamily="34" charset="0"/>
                        <a:ea typeface="微软雅黑" panose="020B0503020204020204" pitchFamily="34" charset="-122"/>
                      </a:endParaRPr>
                    </a:p>
                  </a:txBody>
                  <a:tcPr>
                    <a:lnL w="9525" cap="flat" cmpd="sng" algn="ctr">
                      <a:solidFill>
                        <a:srgbClr val="6AC346">
                          <a:shade val="95000"/>
                          <a:satMod val="105000"/>
                        </a:srgbClr>
                      </a:solidFill>
                      <a:prstDash val="solid"/>
                    </a:lnL>
                    <a:lnR w="9525" cap="flat" cmpd="sng" algn="ctr">
                      <a:solidFill>
                        <a:srgbClr val="6AC346">
                          <a:shade val="95000"/>
                          <a:satMod val="105000"/>
                        </a:srgbClr>
                      </a:solidFill>
                      <a:prstDash val="solid"/>
                    </a:lnR>
                    <a:lnT w="9525" cap="flat" cmpd="sng" algn="ctr">
                      <a:solidFill>
                        <a:srgbClr val="6AC346">
                          <a:shade val="95000"/>
                          <a:satMod val="105000"/>
                        </a:srgbClr>
                      </a:solidFill>
                      <a:prstDash val="solid"/>
                    </a:lnT>
                    <a:lnB w="9525" cap="flat" cmpd="sng" algn="ctr">
                      <a:solidFill>
                        <a:srgbClr val="6AC346">
                          <a:shade val="95000"/>
                          <a:satMod val="105000"/>
                        </a:srgbClr>
                      </a:solidFill>
                      <a:prstDash val="solid"/>
                    </a:lnB>
                    <a:lnTlToBr w="12700" cmpd="sng">
                      <a:noFill/>
                      <a:prstDash val="solid"/>
                    </a:lnTlToBr>
                    <a:lnBlToTr w="12700" cmpd="sng">
                      <a:noFill/>
                      <a:prstDash val="solid"/>
                    </a:lnBlToTr>
                    <a:solidFill>
                      <a:srgbClr val="6AC346">
                        <a:alpha val="40000"/>
                      </a:srgbClr>
                    </a:solidFill>
                  </a:tcPr>
                </a:tc>
                <a:extLst>
                  <a:ext uri="{0D108BD9-81ED-4DB2-BD59-A6C34878D82A}">
                    <a16:rowId xmlns:a16="http://schemas.microsoft.com/office/drawing/2014/main" val="10000"/>
                  </a:ext>
                </a:extLst>
              </a:tr>
              <a:tr h="314960">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altLang="zh-CN" sz="1500" dirty="0">
                          <a:latin typeface="Arial" panose="020B0604020202020204" pitchFamily="34" charset="0"/>
                          <a:ea typeface="微软雅黑" panose="020B0503020204020204" pitchFamily="34" charset="-122"/>
                        </a:rPr>
                        <a:t>UI</a:t>
                      </a:r>
                      <a:endParaRPr lang="zh-CN" altLang="en-US" sz="1500" dirty="0">
                        <a:latin typeface="Arial" panose="020B0604020202020204" pitchFamily="34" charset="0"/>
                        <a:ea typeface="微软雅黑" panose="020B0503020204020204" pitchFamily="34" charset="-122"/>
                      </a:endParaRPr>
                    </a:p>
                  </a:txBody>
                  <a:tcPr>
                    <a:lnL w="9525" cap="flat" cmpd="sng" algn="ctr">
                      <a:solidFill>
                        <a:srgbClr val="6AC346">
                          <a:shade val="95000"/>
                          <a:satMod val="105000"/>
                        </a:srgbClr>
                      </a:solidFill>
                      <a:prstDash val="solid"/>
                    </a:lnL>
                    <a:lnR w="9525" cap="flat" cmpd="sng" algn="ctr">
                      <a:solidFill>
                        <a:srgbClr val="6AC346">
                          <a:shade val="95000"/>
                          <a:satMod val="105000"/>
                        </a:srgbClr>
                      </a:solidFill>
                      <a:prstDash val="solid"/>
                    </a:lnR>
                    <a:lnT w="9525" cap="flat" cmpd="sng" algn="ctr">
                      <a:solidFill>
                        <a:srgbClr val="6AC346">
                          <a:shade val="95000"/>
                          <a:satMod val="105000"/>
                        </a:srgbClr>
                      </a:solidFill>
                      <a:prstDash val="solid"/>
                    </a:lnT>
                    <a:lnB w="9525" cap="flat" cmpd="sng" algn="ctr">
                      <a:solidFill>
                        <a:srgbClr val="6AC346">
                          <a:shade val="95000"/>
                          <a:satMod val="105000"/>
                        </a:srgbClr>
                      </a:solid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14960">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altLang="zh-CN" sz="1500" dirty="0">
                          <a:latin typeface="Arial" panose="020B0604020202020204" pitchFamily="34" charset="0"/>
                          <a:ea typeface="微软雅黑" panose="020B0503020204020204" pitchFamily="34" charset="-122"/>
                        </a:rPr>
                        <a:t>Reporting</a:t>
                      </a:r>
                      <a:endParaRPr lang="zh-CN" altLang="en-US" sz="1500" dirty="0">
                        <a:latin typeface="Arial" panose="020B0604020202020204" pitchFamily="34" charset="0"/>
                        <a:ea typeface="微软雅黑" panose="020B0503020204020204" pitchFamily="34" charset="-122"/>
                      </a:endParaRPr>
                    </a:p>
                  </a:txBody>
                  <a:tcPr>
                    <a:lnL w="9525" cap="flat" cmpd="sng" algn="ctr">
                      <a:solidFill>
                        <a:srgbClr val="6AC346">
                          <a:shade val="95000"/>
                          <a:satMod val="105000"/>
                        </a:srgbClr>
                      </a:solidFill>
                      <a:prstDash val="solid"/>
                    </a:lnL>
                    <a:lnR w="9525" cap="flat" cmpd="sng" algn="ctr">
                      <a:solidFill>
                        <a:srgbClr val="6AC346">
                          <a:shade val="95000"/>
                          <a:satMod val="105000"/>
                        </a:srgbClr>
                      </a:solidFill>
                      <a:prstDash val="solid"/>
                    </a:lnR>
                    <a:lnT w="9525" cap="flat" cmpd="sng" algn="ctr">
                      <a:solidFill>
                        <a:srgbClr val="6AC346">
                          <a:shade val="95000"/>
                          <a:satMod val="105000"/>
                        </a:srgbClr>
                      </a:solidFill>
                      <a:prstDash val="solid"/>
                    </a:lnT>
                    <a:lnB w="9525" cap="flat" cmpd="sng" algn="ctr">
                      <a:solidFill>
                        <a:srgbClr val="6AC346">
                          <a:shade val="95000"/>
                          <a:satMod val="105000"/>
                        </a:srgbClr>
                      </a:solidFill>
                      <a:prstDash val="solid"/>
                    </a:lnB>
                    <a:lnTlToBr w="12700" cmpd="sng">
                      <a:noFill/>
                      <a:prstDash val="solid"/>
                    </a:lnTlToBr>
                    <a:lnBlToTr w="12700" cmpd="sng">
                      <a:noFill/>
                      <a:prstDash val="solid"/>
                    </a:lnBlToTr>
                    <a:solidFill>
                      <a:srgbClr val="6AC346">
                        <a:alpha val="40000"/>
                      </a:srgbClr>
                    </a:solidFill>
                  </a:tcPr>
                </a:tc>
                <a:extLst>
                  <a:ext uri="{0D108BD9-81ED-4DB2-BD59-A6C34878D82A}">
                    <a16:rowId xmlns:a16="http://schemas.microsoft.com/office/drawing/2014/main" val="10002"/>
                  </a:ext>
                </a:extLst>
              </a:tr>
            </a:tbl>
          </a:graphicData>
        </a:graphic>
      </p:graphicFrame>
      <p:grpSp>
        <p:nvGrpSpPr>
          <p:cNvPr id="20" name="组合 19">
            <a:extLst>
              <a:ext uri="{FF2B5EF4-FFF2-40B4-BE49-F238E27FC236}">
                <a16:creationId xmlns:a16="http://schemas.microsoft.com/office/drawing/2014/main" id="{3354F0D5-968F-C268-C8F0-7B9174409D25}"/>
              </a:ext>
            </a:extLst>
          </p:cNvPr>
          <p:cNvGrpSpPr/>
          <p:nvPr/>
        </p:nvGrpSpPr>
        <p:grpSpPr>
          <a:xfrm>
            <a:off x="1773574" y="1353898"/>
            <a:ext cx="7399867" cy="709084"/>
            <a:chOff x="1102861" y="1111375"/>
            <a:chExt cx="5550352" cy="532514"/>
          </a:xfrm>
        </p:grpSpPr>
        <p:sp>
          <p:nvSpPr>
            <p:cNvPr id="21" name="流程图: 磁盘 20">
              <a:extLst>
                <a:ext uri="{FF2B5EF4-FFF2-40B4-BE49-F238E27FC236}">
                  <a16:creationId xmlns:a16="http://schemas.microsoft.com/office/drawing/2014/main" id="{85F79EA7-27A2-C355-1BEB-CBC869F353D4}"/>
                </a:ext>
              </a:extLst>
            </p:cNvPr>
            <p:cNvSpPr/>
            <p:nvPr/>
          </p:nvSpPr>
          <p:spPr>
            <a:xfrm>
              <a:off x="3452552" y="1214699"/>
              <a:ext cx="685856" cy="413294"/>
            </a:xfrm>
            <a:prstGeom prst="flowChartMagneticDisk">
              <a:avLst/>
            </a:prstGeom>
            <a:solidFill>
              <a:schemeClr val="accent2">
                <a:lumMod val="60000"/>
                <a:lumOff val="40000"/>
              </a:schemeClr>
            </a:solidFill>
          </p:spPr>
          <p:style>
            <a:lnRef idx="1">
              <a:schemeClr val="accent1"/>
            </a:lnRef>
            <a:fillRef idx="3">
              <a:schemeClr val="accent1"/>
            </a:fillRef>
            <a:effectRef idx="2">
              <a:schemeClr val="accent1"/>
            </a:effectRef>
            <a:fontRef idx="minor">
              <a:schemeClr val="lt1"/>
            </a:fontRef>
          </p:style>
          <p:txBody>
            <a:bodyPr anchor="ctr"/>
            <a:lstStyle/>
            <a:p>
              <a:pPr algn="ctr" defTabSz="609585" eaLnBrk="0" fontAlgn="base" hangingPunct="0">
                <a:spcBef>
                  <a:spcPct val="0"/>
                </a:spcBef>
                <a:spcAft>
                  <a:spcPct val="0"/>
                </a:spcAft>
                <a:defRPr/>
              </a:pPr>
              <a:r>
                <a:rPr kumimoji="1" lang="en-US" altLang="zh-CN" sz="1200" b="1" dirty="0">
                  <a:solidFill>
                    <a:prstClr val="white"/>
                  </a:solidFill>
                  <a:latin typeface="Arial" panose="020B0604020202020204" pitchFamily="34" charset="0"/>
                  <a:ea typeface="微软雅黑" panose="020B0503020204020204" pitchFamily="34" charset="-122"/>
                </a:rPr>
                <a:t>APS </a:t>
              </a:r>
              <a:r>
                <a:rPr kumimoji="1" lang="zh-CN" altLang="en-US" sz="1200" b="1" dirty="0">
                  <a:solidFill>
                    <a:prstClr val="white"/>
                  </a:solidFill>
                  <a:latin typeface="Arial" panose="020B0604020202020204" pitchFamily="34" charset="0"/>
                  <a:ea typeface="微软雅黑" panose="020B0503020204020204" pitchFamily="34" charset="-122"/>
                </a:rPr>
                <a:t>数据库软件和服务器</a:t>
              </a:r>
            </a:p>
          </p:txBody>
        </p:sp>
        <p:sp>
          <p:nvSpPr>
            <p:cNvPr id="22" name="流程图: 磁盘 21">
              <a:extLst>
                <a:ext uri="{FF2B5EF4-FFF2-40B4-BE49-F238E27FC236}">
                  <a16:creationId xmlns:a16="http://schemas.microsoft.com/office/drawing/2014/main" id="{9C83054A-D958-0AEF-A62D-C5300C792B28}"/>
                </a:ext>
              </a:extLst>
            </p:cNvPr>
            <p:cNvSpPr/>
            <p:nvPr/>
          </p:nvSpPr>
          <p:spPr>
            <a:xfrm>
              <a:off x="5965769" y="1230595"/>
              <a:ext cx="687444" cy="413294"/>
            </a:xfrm>
            <a:prstGeom prst="flowChartMagneticDisk">
              <a:avLst/>
            </a:prstGeom>
            <a:solidFill>
              <a:schemeClr val="tx2">
                <a:lumMod val="60000"/>
                <a:lumOff val="40000"/>
              </a:schemeClr>
            </a:solidFill>
          </p:spPr>
          <p:style>
            <a:lnRef idx="1">
              <a:schemeClr val="accent1"/>
            </a:lnRef>
            <a:fillRef idx="3">
              <a:schemeClr val="accent1"/>
            </a:fillRef>
            <a:effectRef idx="2">
              <a:schemeClr val="accent1"/>
            </a:effectRef>
            <a:fontRef idx="minor">
              <a:schemeClr val="lt1"/>
            </a:fontRef>
          </p:style>
          <p:txBody>
            <a:bodyPr anchor="ctr"/>
            <a:lstStyle/>
            <a:p>
              <a:pPr algn="ctr" defTabSz="609585" eaLnBrk="0" fontAlgn="base" hangingPunct="0">
                <a:spcBef>
                  <a:spcPct val="0"/>
                </a:spcBef>
                <a:spcAft>
                  <a:spcPct val="0"/>
                </a:spcAft>
                <a:defRPr/>
              </a:pPr>
              <a:r>
                <a:rPr kumimoji="1" lang="en-US" altLang="zh-CN" sz="1200" b="1" dirty="0">
                  <a:solidFill>
                    <a:schemeClr val="bg1"/>
                  </a:solidFill>
                  <a:latin typeface="Arial" panose="020B0604020202020204" pitchFamily="34" charset="0"/>
                  <a:ea typeface="微软雅黑" panose="020B0503020204020204" pitchFamily="34" charset="-122"/>
                </a:rPr>
                <a:t>APS </a:t>
              </a:r>
              <a:r>
                <a:rPr kumimoji="1" lang="zh-CN" altLang="en-US" sz="1200" b="1" dirty="0">
                  <a:solidFill>
                    <a:schemeClr val="bg1"/>
                  </a:solidFill>
                  <a:latin typeface="Arial" panose="020B0604020202020204" pitchFamily="34" charset="0"/>
                  <a:ea typeface="微软雅黑" panose="020B0503020204020204" pitchFamily="34" charset="-122"/>
                </a:rPr>
                <a:t>软件和引擎服务器</a:t>
              </a:r>
            </a:p>
          </p:txBody>
        </p:sp>
        <p:cxnSp>
          <p:nvCxnSpPr>
            <p:cNvPr id="23" name="直接箭头连接符 22">
              <a:extLst>
                <a:ext uri="{FF2B5EF4-FFF2-40B4-BE49-F238E27FC236}">
                  <a16:creationId xmlns:a16="http://schemas.microsoft.com/office/drawing/2014/main" id="{FAD648FC-D452-8251-B58D-4E684098FEBE}"/>
                </a:ext>
              </a:extLst>
            </p:cNvPr>
            <p:cNvCxnSpPr>
              <a:stCxn id="21" idx="4"/>
              <a:endCxn id="22" idx="2"/>
            </p:cNvCxnSpPr>
            <p:nvPr/>
          </p:nvCxnSpPr>
          <p:spPr>
            <a:xfrm>
              <a:off x="4138408" y="1421346"/>
              <a:ext cx="1827361" cy="15896"/>
            </a:xfrm>
            <a:prstGeom prst="straightConnector1">
              <a:avLst/>
            </a:prstGeom>
            <a:ln>
              <a:headEnd type="triangle"/>
              <a:tailEnd type="triangle"/>
            </a:ln>
          </p:spPr>
          <p:style>
            <a:lnRef idx="2">
              <a:schemeClr val="accent1"/>
            </a:lnRef>
            <a:fillRef idx="0">
              <a:schemeClr val="accent1"/>
            </a:fillRef>
            <a:effectRef idx="1">
              <a:schemeClr val="accent1"/>
            </a:effectRef>
            <a:fontRef idx="minor">
              <a:schemeClr val="tx1"/>
            </a:fontRef>
          </p:style>
        </p:cxnSp>
        <p:sp>
          <p:nvSpPr>
            <p:cNvPr id="24" name="流程图: 磁盘 23">
              <a:extLst>
                <a:ext uri="{FF2B5EF4-FFF2-40B4-BE49-F238E27FC236}">
                  <a16:creationId xmlns:a16="http://schemas.microsoft.com/office/drawing/2014/main" id="{D1346B84-3A4E-2D61-8201-F16C2F234CF5}"/>
                </a:ext>
              </a:extLst>
            </p:cNvPr>
            <p:cNvSpPr/>
            <p:nvPr/>
          </p:nvSpPr>
          <p:spPr>
            <a:xfrm>
              <a:off x="1102861" y="1214699"/>
              <a:ext cx="687443" cy="413294"/>
            </a:xfrm>
            <a:prstGeom prst="flowChartMagneticDisk">
              <a:avLst/>
            </a:prstGeom>
            <a:solidFill>
              <a:schemeClr val="accent6">
                <a:lumMod val="75000"/>
              </a:schemeClr>
            </a:solidFill>
          </p:spPr>
          <p:style>
            <a:lnRef idx="1">
              <a:schemeClr val="accent1"/>
            </a:lnRef>
            <a:fillRef idx="3">
              <a:schemeClr val="accent1"/>
            </a:fillRef>
            <a:effectRef idx="2">
              <a:schemeClr val="accent1"/>
            </a:effectRef>
            <a:fontRef idx="minor">
              <a:schemeClr val="lt1"/>
            </a:fontRef>
          </p:style>
          <p:txBody>
            <a:bodyPr anchor="ctr"/>
            <a:lstStyle/>
            <a:p>
              <a:pPr algn="ctr" defTabSz="609585" eaLnBrk="0" fontAlgn="base" hangingPunct="0">
                <a:spcBef>
                  <a:spcPct val="0"/>
                </a:spcBef>
                <a:spcAft>
                  <a:spcPct val="0"/>
                </a:spcAft>
                <a:defRPr/>
              </a:pPr>
              <a:r>
                <a:rPr kumimoji="1" lang="zh-CN" altLang="en-US" sz="1200" b="1" dirty="0">
                  <a:solidFill>
                    <a:prstClr val="white"/>
                  </a:solidFill>
                  <a:latin typeface="Arial" panose="020B0604020202020204" pitchFamily="34" charset="0"/>
                  <a:ea typeface="微软雅黑" panose="020B0503020204020204" pitchFamily="34" charset="-122"/>
                </a:rPr>
                <a:t>执行系统服务器</a:t>
              </a:r>
            </a:p>
          </p:txBody>
        </p:sp>
        <p:cxnSp>
          <p:nvCxnSpPr>
            <p:cNvPr id="25" name="直接箭头连接符 24">
              <a:extLst>
                <a:ext uri="{FF2B5EF4-FFF2-40B4-BE49-F238E27FC236}">
                  <a16:creationId xmlns:a16="http://schemas.microsoft.com/office/drawing/2014/main" id="{CB8AD075-E171-EB9D-5139-AB9F276D99CF}"/>
                </a:ext>
              </a:extLst>
            </p:cNvPr>
            <p:cNvCxnSpPr>
              <a:stCxn id="24" idx="4"/>
              <a:endCxn id="21" idx="2"/>
            </p:cNvCxnSpPr>
            <p:nvPr/>
          </p:nvCxnSpPr>
          <p:spPr>
            <a:xfrm>
              <a:off x="1790304" y="1421346"/>
              <a:ext cx="1662248" cy="0"/>
            </a:xfrm>
            <a:prstGeom prst="straightConnector1">
              <a:avLst/>
            </a:prstGeom>
            <a:ln>
              <a:headEnd type="triangle"/>
              <a:tailEnd type="triangle"/>
            </a:ln>
          </p:spPr>
          <p:style>
            <a:lnRef idx="2">
              <a:schemeClr val="accent1"/>
            </a:lnRef>
            <a:fillRef idx="0">
              <a:schemeClr val="accent1"/>
            </a:fillRef>
            <a:effectRef idx="1">
              <a:schemeClr val="accent1"/>
            </a:effectRef>
            <a:fontRef idx="minor">
              <a:schemeClr val="tx1"/>
            </a:fontRef>
          </p:style>
        </p:cxnSp>
        <p:sp>
          <p:nvSpPr>
            <p:cNvPr id="26" name="文本框 26">
              <a:extLst>
                <a:ext uri="{FF2B5EF4-FFF2-40B4-BE49-F238E27FC236}">
                  <a16:creationId xmlns:a16="http://schemas.microsoft.com/office/drawing/2014/main" id="{1CCEA1A5-6780-87D2-3BEB-306558AF5685}"/>
                </a:ext>
              </a:extLst>
            </p:cNvPr>
            <p:cNvSpPr txBox="1"/>
            <p:nvPr/>
          </p:nvSpPr>
          <p:spPr>
            <a:xfrm>
              <a:off x="2209020" y="1111375"/>
              <a:ext cx="1284259" cy="285117"/>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609585">
                <a:spcBef>
                  <a:spcPct val="0"/>
                </a:spcBef>
                <a:buNone/>
              </a:pPr>
              <a:r>
                <a:rPr lang="zh-CN" altLang="en-US" sz="1867" dirty="0">
                  <a:solidFill>
                    <a:prstClr val="black"/>
                  </a:solidFill>
                  <a:latin typeface="Arial" panose="020B0604020202020204" pitchFamily="34" charset="0"/>
                  <a:ea typeface="微软雅黑" panose="020B0503020204020204" pitchFamily="34" charset="-122"/>
                </a:rPr>
                <a:t>集成工具</a:t>
              </a:r>
            </a:p>
          </p:txBody>
        </p:sp>
        <p:sp>
          <p:nvSpPr>
            <p:cNvPr id="27" name="文本框 28">
              <a:extLst>
                <a:ext uri="{FF2B5EF4-FFF2-40B4-BE49-F238E27FC236}">
                  <a16:creationId xmlns:a16="http://schemas.microsoft.com/office/drawing/2014/main" id="{0BA0D12C-5EA2-1F80-5BB0-D5D81C416523}"/>
                </a:ext>
              </a:extLst>
            </p:cNvPr>
            <p:cNvSpPr txBox="1"/>
            <p:nvPr/>
          </p:nvSpPr>
          <p:spPr>
            <a:xfrm>
              <a:off x="4517245" y="1127802"/>
              <a:ext cx="1284259" cy="285117"/>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defTabSz="609585">
                <a:spcBef>
                  <a:spcPct val="0"/>
                </a:spcBef>
                <a:buNone/>
              </a:pPr>
              <a:r>
                <a:rPr lang="zh-CN" altLang="en-US" sz="1867" dirty="0">
                  <a:solidFill>
                    <a:prstClr val="black"/>
                  </a:solidFill>
                  <a:latin typeface="Arial" panose="020B0604020202020204" pitchFamily="34" charset="0"/>
                  <a:ea typeface="微软雅黑" panose="020B0503020204020204" pitchFamily="34" charset="-122"/>
                </a:rPr>
                <a:t>集成工具</a:t>
              </a:r>
            </a:p>
          </p:txBody>
        </p:sp>
      </p:grpSp>
      <p:sp>
        <p:nvSpPr>
          <p:cNvPr id="28" name="箭头: 上 27">
            <a:extLst>
              <a:ext uri="{FF2B5EF4-FFF2-40B4-BE49-F238E27FC236}">
                <a16:creationId xmlns:a16="http://schemas.microsoft.com/office/drawing/2014/main" id="{CFCF80E9-09BA-3810-EA64-902E6C85BCB2}"/>
              </a:ext>
            </a:extLst>
          </p:cNvPr>
          <p:cNvSpPr/>
          <p:nvPr/>
        </p:nvSpPr>
        <p:spPr>
          <a:xfrm rot="20056925">
            <a:off x="8915816" y="4229813"/>
            <a:ext cx="1225358" cy="585471"/>
          </a:xfrm>
          <a:prstGeom prst="upArrow">
            <a:avLst/>
          </a:prstGeom>
          <a:solidFill>
            <a:schemeClr val="tx2">
              <a:lumMod val="50000"/>
            </a:schemeClr>
          </a:solidFill>
          <a:ln>
            <a:no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1600" b="1" dirty="0">
                <a:latin typeface="Arial" panose="020B0604020202020204" pitchFamily="34" charset="0"/>
                <a:ea typeface="微软雅黑" panose="020B0503020204020204" pitchFamily="34" charset="-122"/>
              </a:rPr>
              <a:t>基于</a:t>
            </a:r>
          </a:p>
        </p:txBody>
      </p:sp>
      <p:grpSp>
        <p:nvGrpSpPr>
          <p:cNvPr id="46" name="组合 45">
            <a:extLst>
              <a:ext uri="{FF2B5EF4-FFF2-40B4-BE49-F238E27FC236}">
                <a16:creationId xmlns:a16="http://schemas.microsoft.com/office/drawing/2014/main" id="{94DEBBD0-FFAE-7D10-3C63-778C91BB515F}"/>
              </a:ext>
            </a:extLst>
          </p:cNvPr>
          <p:cNvGrpSpPr>
            <a:grpSpLocks noChangeAspect="1"/>
          </p:cNvGrpSpPr>
          <p:nvPr>
            <p:custDataLst>
              <p:tags r:id="rId1"/>
            </p:custDataLst>
          </p:nvPr>
        </p:nvGrpSpPr>
        <p:grpSpPr>
          <a:xfrm>
            <a:off x="675504" y="5257847"/>
            <a:ext cx="6957003" cy="1465843"/>
            <a:chOff x="-1805046" y="1732596"/>
            <a:chExt cx="16767333" cy="3939669"/>
          </a:xfrm>
        </p:grpSpPr>
        <p:grpSp>
          <p:nvGrpSpPr>
            <p:cNvPr id="47" name="组合 46">
              <a:extLst>
                <a:ext uri="{FF2B5EF4-FFF2-40B4-BE49-F238E27FC236}">
                  <a16:creationId xmlns:a16="http://schemas.microsoft.com/office/drawing/2014/main" id="{71BCCDB5-1873-BF27-EE19-F9613A25CA15}"/>
                </a:ext>
              </a:extLst>
            </p:cNvPr>
            <p:cNvGrpSpPr/>
            <p:nvPr/>
          </p:nvGrpSpPr>
          <p:grpSpPr>
            <a:xfrm>
              <a:off x="-1805046" y="1732596"/>
              <a:ext cx="9546548" cy="3939669"/>
              <a:chOff x="-1805046" y="1732596"/>
              <a:chExt cx="9546548" cy="3939669"/>
            </a:xfrm>
          </p:grpSpPr>
          <p:sp>
            <p:nvSpPr>
              <p:cNvPr id="55" name="1">
                <a:extLst>
                  <a:ext uri="{FF2B5EF4-FFF2-40B4-BE49-F238E27FC236}">
                    <a16:creationId xmlns:a16="http://schemas.microsoft.com/office/drawing/2014/main" id="{022C441D-5B6B-7D13-7207-373EB2C7A0DD}"/>
                  </a:ext>
                </a:extLst>
              </p:cNvPr>
              <p:cNvSpPr/>
              <p:nvPr>
                <p:custDataLst>
                  <p:tags r:id="rId7"/>
                </p:custDataLst>
              </p:nvPr>
            </p:nvSpPr>
            <p:spPr>
              <a:xfrm flipH="1">
                <a:off x="4141503" y="2000897"/>
                <a:ext cx="3599999" cy="3600000"/>
              </a:xfrm>
              <a:prstGeom prst="blockArc">
                <a:avLst>
                  <a:gd name="adj1" fmla="val 16179400"/>
                  <a:gd name="adj2" fmla="val 5340661"/>
                  <a:gd name="adj3" fmla="val 20646"/>
                </a:avLst>
              </a:prstGeom>
              <a:gradFill flip="none" rotWithShape="0">
                <a:gsLst>
                  <a:gs pos="0">
                    <a:schemeClr val="accent1">
                      <a:lumMod val="60000"/>
                      <a:lumOff val="40000"/>
                    </a:schemeClr>
                  </a:gs>
                  <a:gs pos="50000">
                    <a:schemeClr val="accent1"/>
                  </a:gs>
                </a:gsLst>
                <a:lin ang="2700000" scaled="0"/>
                <a:tileRect/>
              </a:gradFill>
              <a:ln w="50800" cap="flat" cmpd="sng" algn="ctr">
                <a:solidFill>
                  <a:schemeClr val="bg1"/>
                </a:solidFill>
                <a:prstDash val="solid"/>
                <a:miter lim="800000"/>
              </a:ln>
            </p:spPr>
            <p:txBody>
              <a:bodyPr lIns="108000" tIns="108000" rIns="108000" bIns="108000" rtlCol="0" anchor="ctr"/>
              <a:lstStyle/>
              <a:p>
                <a:endParaRPr lang="zh-CN" altLang="en-US" sz="1600"/>
              </a:p>
            </p:txBody>
          </p:sp>
          <p:grpSp>
            <p:nvGrpSpPr>
              <p:cNvPr id="56" name="组合 55">
                <a:extLst>
                  <a:ext uri="{FF2B5EF4-FFF2-40B4-BE49-F238E27FC236}">
                    <a16:creationId xmlns:a16="http://schemas.microsoft.com/office/drawing/2014/main" id="{81B60063-A860-A059-2DCE-B204F23D87A1}"/>
                  </a:ext>
                </a:extLst>
              </p:cNvPr>
              <p:cNvGrpSpPr/>
              <p:nvPr/>
            </p:nvGrpSpPr>
            <p:grpSpPr>
              <a:xfrm>
                <a:off x="-1805046" y="1732596"/>
                <a:ext cx="6368640" cy="3939669"/>
                <a:chOff x="-1805046" y="1696077"/>
                <a:chExt cx="6368640" cy="3939669"/>
              </a:xfrm>
            </p:grpSpPr>
            <p:sp>
              <p:nvSpPr>
                <p:cNvPr id="57" name="Title-1">
                  <a:extLst>
                    <a:ext uri="{FF2B5EF4-FFF2-40B4-BE49-F238E27FC236}">
                      <a16:creationId xmlns:a16="http://schemas.microsoft.com/office/drawing/2014/main" id="{50F1A93D-6ED2-5A34-418A-0F563B041AC9}"/>
                    </a:ext>
                  </a:extLst>
                </p:cNvPr>
                <p:cNvSpPr/>
                <p:nvPr>
                  <p:custDataLst>
                    <p:tags r:id="rId8"/>
                  </p:custDataLst>
                </p:nvPr>
              </p:nvSpPr>
              <p:spPr>
                <a:xfrm>
                  <a:off x="-1600975" y="1696077"/>
                  <a:ext cx="3835790" cy="15716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b" anchorCtr="0">
                  <a:spAutoFit/>
                </a:bodyPr>
                <a:lstStyle/>
                <a:p>
                  <a:r>
                    <a:rPr kumimoji="1" lang="zh-CN" altLang="en-US" sz="1600" b="1" dirty="0">
                      <a:solidFill>
                        <a:schemeClr val="tx1"/>
                      </a:solidFill>
                      <a:latin typeface="Arial" panose="020B0604020202020204" pitchFamily="34" charset="0"/>
                      <a:ea typeface="微软雅黑" panose="020B0503020204020204" pitchFamily="34" charset="-122"/>
                    </a:rPr>
                    <a:t>性能问题影响</a:t>
                  </a:r>
                  <a:r>
                    <a:rPr kumimoji="1" lang="en-US" altLang="zh-CN" sz="1600" b="1" dirty="0">
                      <a:solidFill>
                        <a:schemeClr val="tx1"/>
                      </a:solidFill>
                      <a:latin typeface="Arial" panose="020B0604020202020204" pitchFamily="34" charset="0"/>
                      <a:ea typeface="微软雅黑" panose="020B0503020204020204" pitchFamily="34" charset="-122"/>
                    </a:rPr>
                    <a:t>What-if</a:t>
                  </a:r>
                  <a:endParaRPr kumimoji="1" lang="zh-CN" altLang="en-US" sz="1600" b="1" dirty="0">
                    <a:solidFill>
                      <a:schemeClr val="tx1"/>
                    </a:solidFill>
                    <a:latin typeface="Arial" panose="020B0604020202020204" pitchFamily="34" charset="0"/>
                    <a:ea typeface="微软雅黑" panose="020B0503020204020204" pitchFamily="34" charset="-122"/>
                  </a:endParaRPr>
                </a:p>
              </p:txBody>
            </p:sp>
            <p:sp>
              <p:nvSpPr>
                <p:cNvPr id="58" name="Body-1">
                  <a:extLst>
                    <a:ext uri="{FF2B5EF4-FFF2-40B4-BE49-F238E27FC236}">
                      <a16:creationId xmlns:a16="http://schemas.microsoft.com/office/drawing/2014/main" id="{8AFD9845-74B4-8E03-400C-4E42752C6C97}"/>
                    </a:ext>
                  </a:extLst>
                </p:cNvPr>
                <p:cNvSpPr/>
                <p:nvPr>
                  <p:custDataLst>
                    <p:tags r:id="rId9"/>
                  </p:custDataLst>
                </p:nvPr>
              </p:nvSpPr>
              <p:spPr>
                <a:xfrm>
                  <a:off x="-1805046" y="3652200"/>
                  <a:ext cx="6368640" cy="19835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t" anchorCtr="0">
                  <a:spAutoFit/>
                </a:bodyPr>
                <a:lstStyle/>
                <a:p>
                  <a:pPr>
                    <a:lnSpc>
                      <a:spcPct val="120000"/>
                    </a:lnSpc>
                  </a:pPr>
                  <a:r>
                    <a:rPr kumimoji="1" lang="zh-CN" altLang="en-US" sz="1200" dirty="0">
                      <a:solidFill>
                        <a:schemeClr val="tx1"/>
                      </a:solidFill>
                      <a:latin typeface="Arial" panose="020B0604020202020204" pitchFamily="34" charset="0"/>
                      <a:ea typeface="微软雅黑" panose="020B0503020204020204" pitchFamily="34" charset="-122"/>
                    </a:rPr>
                    <a:t>异构系统的同步数据存在性能问题</a:t>
                  </a:r>
                </a:p>
                <a:p>
                  <a:pPr>
                    <a:lnSpc>
                      <a:spcPct val="120000"/>
                    </a:lnSpc>
                  </a:pPr>
                  <a:r>
                    <a:rPr kumimoji="1" lang="zh-CN" altLang="en-US" sz="1200" dirty="0">
                      <a:solidFill>
                        <a:schemeClr val="tx1"/>
                      </a:solidFill>
                      <a:latin typeface="Arial" panose="020B0604020202020204" pitchFamily="34" charset="0"/>
                      <a:ea typeface="微软雅黑" panose="020B0503020204020204" pitchFamily="34" charset="-122"/>
                    </a:rPr>
                    <a:t>引擎外的二次开发没有在内存运算存在性能问题</a:t>
                  </a:r>
                  <a:endParaRPr kumimoji="1" lang="en-US" altLang="zh-CN" sz="1200" dirty="0">
                    <a:solidFill>
                      <a:schemeClr val="tx1"/>
                    </a:solidFill>
                    <a:latin typeface="Arial" panose="020B0604020202020204" pitchFamily="34" charset="0"/>
                    <a:ea typeface="微软雅黑" panose="020B0503020204020204" pitchFamily="34" charset="-122"/>
                  </a:endParaRPr>
                </a:p>
              </p:txBody>
            </p:sp>
            <p:sp>
              <p:nvSpPr>
                <p:cNvPr id="59" name="Index-1">
                  <a:extLst>
                    <a:ext uri="{FF2B5EF4-FFF2-40B4-BE49-F238E27FC236}">
                      <a16:creationId xmlns:a16="http://schemas.microsoft.com/office/drawing/2014/main" id="{D683270D-F036-0454-AD72-E2872E79AA7A}"/>
                    </a:ext>
                  </a:extLst>
                </p:cNvPr>
                <p:cNvSpPr txBox="1"/>
                <p:nvPr>
                  <p:custDataLst>
                    <p:tags r:id="rId10"/>
                  </p:custDataLst>
                </p:nvPr>
              </p:nvSpPr>
              <p:spPr>
                <a:xfrm>
                  <a:off x="3290196" y="3126399"/>
                  <a:ext cx="540001" cy="540001"/>
                </a:xfrm>
                <a:prstGeom prst="rect">
                  <a:avLst/>
                </a:prstGeom>
                <a:gradFill>
                  <a:gsLst>
                    <a:gs pos="0">
                      <a:schemeClr val="accent1">
                        <a:lumMod val="60000"/>
                        <a:lumOff val="40000"/>
                      </a:schemeClr>
                    </a:gs>
                    <a:gs pos="50000">
                      <a:schemeClr val="accent1"/>
                    </a:gs>
                  </a:gsLst>
                  <a:lin ang="2700000" scaled="0"/>
                </a:gradFill>
              </p:spPr>
              <p:txBody>
                <a:bodyPr wrap="none" lIns="108000" tIns="108000" rIns="108000" bIns="108000" rtlCol="0" anchor="ctr" anchorCtr="0">
                  <a:noAutofit/>
                </a:bodyPr>
                <a:lstStyle>
                  <a:defPPr>
                    <a:defRPr lang="zh-CN"/>
                  </a:defPPr>
                  <a:lvl1pPr algn="ctr">
                    <a:defRPr kumimoji="1" b="1">
                      <a:solidFill>
                        <a:srgbClr val="FFFFFF"/>
                      </a:solidFill>
                    </a:defRPr>
                  </a:lvl1pPr>
                </a:lstStyle>
                <a:p>
                  <a:r>
                    <a:rPr lang="en-US" altLang="zh-CN" sz="1600" dirty="0">
                      <a:latin typeface="Arial" panose="020B0604020202020204" pitchFamily="34" charset="0"/>
                      <a:ea typeface="微软雅黑" panose="020B0503020204020204" pitchFamily="34" charset="-122"/>
                    </a:rPr>
                    <a:t>01</a:t>
                  </a:r>
                  <a:endParaRPr lang="zh-CN" altLang="en-US" sz="1600" dirty="0">
                    <a:latin typeface="Arial" panose="020B0604020202020204" pitchFamily="34" charset="0"/>
                    <a:ea typeface="微软雅黑" panose="020B0503020204020204" pitchFamily="34" charset="-122"/>
                  </a:endParaRPr>
                </a:p>
              </p:txBody>
            </p:sp>
            <p:cxnSp>
              <p:nvCxnSpPr>
                <p:cNvPr id="60" name="1">
                  <a:extLst>
                    <a:ext uri="{FF2B5EF4-FFF2-40B4-BE49-F238E27FC236}">
                      <a16:creationId xmlns:a16="http://schemas.microsoft.com/office/drawing/2014/main" id="{7BFF4F9D-6D29-3763-BCCA-B5878FD36335}"/>
                    </a:ext>
                  </a:extLst>
                </p:cNvPr>
                <p:cNvCxnSpPr>
                  <a:cxnSpLocks/>
                </p:cNvCxnSpPr>
                <p:nvPr>
                  <p:custDataLst>
                    <p:tags r:id="rId11"/>
                  </p:custDataLst>
                </p:nvPr>
              </p:nvCxnSpPr>
              <p:spPr>
                <a:xfrm>
                  <a:off x="1592426" y="3411331"/>
                  <a:ext cx="1742137" cy="0"/>
                </a:xfrm>
                <a:prstGeom prst="line">
                  <a:avLst/>
                </a:prstGeom>
                <a:ln w="6350">
                  <a:solidFill>
                    <a:schemeClr val="tx1">
                      <a:lumMod val="50000"/>
                      <a:lumOff val="50000"/>
                      <a:alpha val="50000"/>
                    </a:schemeClr>
                  </a:solidFill>
                  <a:tailEnd type="none"/>
                </a:ln>
              </p:spPr>
              <p:style>
                <a:lnRef idx="1">
                  <a:schemeClr val="accent1"/>
                </a:lnRef>
                <a:fillRef idx="0">
                  <a:schemeClr val="accent1"/>
                </a:fillRef>
                <a:effectRef idx="0">
                  <a:schemeClr val="accent1"/>
                </a:effectRef>
                <a:fontRef idx="minor">
                  <a:schemeClr val="tx1"/>
                </a:fontRef>
              </p:style>
            </p:cxnSp>
          </p:grpSp>
        </p:grpSp>
        <p:grpSp>
          <p:nvGrpSpPr>
            <p:cNvPr id="48" name="组合 47">
              <a:extLst>
                <a:ext uri="{FF2B5EF4-FFF2-40B4-BE49-F238E27FC236}">
                  <a16:creationId xmlns:a16="http://schemas.microsoft.com/office/drawing/2014/main" id="{8A515245-529F-85CC-C2C6-6A605AB986B6}"/>
                </a:ext>
              </a:extLst>
            </p:cNvPr>
            <p:cNvGrpSpPr/>
            <p:nvPr/>
          </p:nvGrpSpPr>
          <p:grpSpPr>
            <a:xfrm>
              <a:off x="4154324" y="1800467"/>
              <a:ext cx="10807963" cy="3800430"/>
              <a:chOff x="4154324" y="1800467"/>
              <a:chExt cx="10807963" cy="3800430"/>
            </a:xfrm>
          </p:grpSpPr>
          <p:sp>
            <p:nvSpPr>
              <p:cNvPr id="49" name="2">
                <a:extLst>
                  <a:ext uri="{FF2B5EF4-FFF2-40B4-BE49-F238E27FC236}">
                    <a16:creationId xmlns:a16="http://schemas.microsoft.com/office/drawing/2014/main" id="{FD2F4470-0EB1-3689-FAE5-9D7550B54494}"/>
                  </a:ext>
                </a:extLst>
              </p:cNvPr>
              <p:cNvSpPr/>
              <p:nvPr>
                <p:custDataLst>
                  <p:tags r:id="rId2"/>
                </p:custDataLst>
              </p:nvPr>
            </p:nvSpPr>
            <p:spPr>
              <a:xfrm>
                <a:off x="4154324" y="2000897"/>
                <a:ext cx="3599999" cy="3600000"/>
              </a:xfrm>
              <a:prstGeom prst="blockArc">
                <a:avLst>
                  <a:gd name="adj1" fmla="val 16179400"/>
                  <a:gd name="adj2" fmla="val 5471211"/>
                  <a:gd name="adj3" fmla="val 20526"/>
                </a:avLst>
              </a:prstGeom>
              <a:gradFill flip="none" rotWithShape="0">
                <a:gsLst>
                  <a:gs pos="0">
                    <a:schemeClr val="accent2">
                      <a:lumMod val="60000"/>
                      <a:lumOff val="40000"/>
                    </a:schemeClr>
                  </a:gs>
                  <a:gs pos="50000">
                    <a:schemeClr val="accent2"/>
                  </a:gs>
                </a:gsLst>
                <a:lin ang="2700000" scaled="0"/>
                <a:tileRect/>
              </a:gradFill>
              <a:ln w="50800" cap="flat" cmpd="sng" algn="ctr">
                <a:solidFill>
                  <a:schemeClr val="bg1"/>
                </a:solidFill>
                <a:prstDash val="solid"/>
                <a:miter lim="800000"/>
              </a:ln>
            </p:spPr>
            <p:txBody>
              <a:bodyPr lIns="108000" tIns="108000" rIns="108000" bIns="108000" rtlCol="0" anchor="ctr"/>
              <a:lstStyle/>
              <a:p>
                <a:endParaRPr lang="zh-CN" altLang="en-US" sz="1600" dirty="0"/>
              </a:p>
            </p:txBody>
          </p:sp>
          <p:grpSp>
            <p:nvGrpSpPr>
              <p:cNvPr id="50" name="组合 49">
                <a:extLst>
                  <a:ext uri="{FF2B5EF4-FFF2-40B4-BE49-F238E27FC236}">
                    <a16:creationId xmlns:a16="http://schemas.microsoft.com/office/drawing/2014/main" id="{031F30B5-2B35-EAD8-2B82-445031DBA875}"/>
                  </a:ext>
                </a:extLst>
              </p:cNvPr>
              <p:cNvGrpSpPr/>
              <p:nvPr/>
            </p:nvGrpSpPr>
            <p:grpSpPr>
              <a:xfrm>
                <a:off x="8548442" y="1800467"/>
                <a:ext cx="6413845" cy="3706643"/>
                <a:chOff x="7826543" y="419882"/>
                <a:chExt cx="6413845" cy="3706643"/>
              </a:xfrm>
            </p:grpSpPr>
            <p:sp>
              <p:nvSpPr>
                <p:cNvPr id="51" name="Title-2">
                  <a:extLst>
                    <a:ext uri="{FF2B5EF4-FFF2-40B4-BE49-F238E27FC236}">
                      <a16:creationId xmlns:a16="http://schemas.microsoft.com/office/drawing/2014/main" id="{DF2DDDC3-3A8E-681E-26DF-85B3698D72F0}"/>
                    </a:ext>
                  </a:extLst>
                </p:cNvPr>
                <p:cNvSpPr/>
                <p:nvPr>
                  <p:custDataLst>
                    <p:tags r:id="rId3"/>
                  </p:custDataLst>
                </p:nvPr>
              </p:nvSpPr>
              <p:spPr>
                <a:xfrm>
                  <a:off x="8493544" y="419882"/>
                  <a:ext cx="5746844" cy="15716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b" anchorCtr="0">
                  <a:spAutoFit/>
                </a:bodyPr>
                <a:lstStyle/>
                <a:p>
                  <a:r>
                    <a:rPr kumimoji="1" lang="zh-CN" altLang="en-US" sz="1600" b="1" dirty="0">
                      <a:solidFill>
                        <a:schemeClr val="tx1"/>
                      </a:solidFill>
                      <a:latin typeface="Arial" panose="020B0604020202020204" pitchFamily="34" charset="0"/>
                      <a:ea typeface="微软雅黑" panose="020B0503020204020204" pitchFamily="34" charset="-122"/>
                    </a:rPr>
                    <a:t>二次开发影响</a:t>
                  </a:r>
                  <a:r>
                    <a:rPr kumimoji="1" lang="en-US" altLang="zh-CN" sz="1600" b="1" dirty="0">
                      <a:solidFill>
                        <a:schemeClr val="tx1"/>
                      </a:solidFill>
                      <a:latin typeface="Arial" panose="020B0604020202020204" pitchFamily="34" charset="0"/>
                      <a:ea typeface="微软雅黑" panose="020B0503020204020204" pitchFamily="34" charset="-122"/>
                    </a:rPr>
                    <a:t>Package Reporting</a:t>
                  </a:r>
                  <a:endParaRPr kumimoji="1" lang="zh-CN" altLang="en-US" sz="1600" b="1" dirty="0">
                    <a:solidFill>
                      <a:schemeClr val="tx1"/>
                    </a:solidFill>
                    <a:latin typeface="Arial" panose="020B0604020202020204" pitchFamily="34" charset="0"/>
                    <a:ea typeface="微软雅黑" panose="020B0503020204020204" pitchFamily="34" charset="-122"/>
                  </a:endParaRPr>
                </a:p>
              </p:txBody>
            </p:sp>
            <p:sp>
              <p:nvSpPr>
                <p:cNvPr id="52" name="Body-2">
                  <a:extLst>
                    <a:ext uri="{FF2B5EF4-FFF2-40B4-BE49-F238E27FC236}">
                      <a16:creationId xmlns:a16="http://schemas.microsoft.com/office/drawing/2014/main" id="{A0A808E0-31DC-41C5-8B93-C6DF72ACF793}"/>
                    </a:ext>
                  </a:extLst>
                </p:cNvPr>
                <p:cNvSpPr/>
                <p:nvPr>
                  <p:custDataLst>
                    <p:tags r:id="rId4"/>
                  </p:custDataLst>
                </p:nvPr>
              </p:nvSpPr>
              <p:spPr>
                <a:xfrm>
                  <a:off x="8493541" y="2142979"/>
                  <a:ext cx="5548427" cy="19835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t" anchorCtr="0">
                  <a:spAutoFit/>
                </a:bodyPr>
                <a:lstStyle/>
                <a:p>
                  <a:pPr>
                    <a:lnSpc>
                      <a:spcPct val="120000"/>
                    </a:lnSpc>
                  </a:pPr>
                  <a:r>
                    <a:rPr kumimoji="1" lang="zh-CN" altLang="en-US" sz="1200" dirty="0">
                      <a:solidFill>
                        <a:schemeClr val="tx1"/>
                      </a:solidFill>
                      <a:latin typeface="Arial" panose="020B0604020202020204" pitchFamily="34" charset="0"/>
                      <a:ea typeface="微软雅黑" panose="020B0503020204020204" pitchFamily="34" charset="-122"/>
                    </a:rPr>
                    <a:t>二次开发的数据，逻辑和引擎分离导致标配的</a:t>
                  </a:r>
                  <a:r>
                    <a:rPr kumimoji="1" lang="en-US" altLang="zh-CN" sz="1200" dirty="0">
                      <a:solidFill>
                        <a:schemeClr val="tx1"/>
                      </a:solidFill>
                      <a:latin typeface="Arial" panose="020B0604020202020204" pitchFamily="34" charset="0"/>
                      <a:ea typeface="微软雅黑" panose="020B0503020204020204" pitchFamily="34" charset="-122"/>
                    </a:rPr>
                    <a:t>Reporting</a:t>
                  </a:r>
                  <a:r>
                    <a:rPr kumimoji="1" lang="zh-CN" altLang="en-US" sz="1200" dirty="0">
                      <a:solidFill>
                        <a:schemeClr val="tx1"/>
                      </a:solidFill>
                      <a:latin typeface="Arial" panose="020B0604020202020204" pitchFamily="34" charset="0"/>
                      <a:ea typeface="微软雅黑" panose="020B0503020204020204" pitchFamily="34" charset="-122"/>
                    </a:rPr>
                    <a:t>不能应用</a:t>
                  </a:r>
                  <a:endParaRPr kumimoji="1" lang="en-US" altLang="zh-CN" sz="1200" dirty="0">
                    <a:solidFill>
                      <a:schemeClr val="tx1"/>
                    </a:solidFill>
                    <a:latin typeface="Arial" panose="020B0604020202020204" pitchFamily="34" charset="0"/>
                    <a:ea typeface="微软雅黑" panose="020B0503020204020204" pitchFamily="34" charset="-122"/>
                  </a:endParaRPr>
                </a:p>
              </p:txBody>
            </p:sp>
            <p:sp>
              <p:nvSpPr>
                <p:cNvPr id="53" name="Index-2">
                  <a:extLst>
                    <a:ext uri="{FF2B5EF4-FFF2-40B4-BE49-F238E27FC236}">
                      <a16:creationId xmlns:a16="http://schemas.microsoft.com/office/drawing/2014/main" id="{B0DB00AC-91B9-D2F3-E23E-F2E603A6FFC3}"/>
                    </a:ext>
                  </a:extLst>
                </p:cNvPr>
                <p:cNvSpPr txBox="1"/>
                <p:nvPr>
                  <p:custDataLst>
                    <p:tags r:id="rId5"/>
                  </p:custDataLst>
                </p:nvPr>
              </p:nvSpPr>
              <p:spPr>
                <a:xfrm>
                  <a:off x="7826543" y="1797264"/>
                  <a:ext cx="540000" cy="540000"/>
                </a:xfrm>
                <a:prstGeom prst="rect">
                  <a:avLst/>
                </a:prstGeom>
                <a:gradFill>
                  <a:gsLst>
                    <a:gs pos="0">
                      <a:schemeClr val="accent2">
                        <a:lumMod val="60000"/>
                        <a:lumOff val="40000"/>
                      </a:schemeClr>
                    </a:gs>
                    <a:gs pos="50000">
                      <a:schemeClr val="accent2"/>
                    </a:gs>
                  </a:gsLst>
                  <a:lin ang="2700000" scaled="0"/>
                </a:gradFill>
              </p:spPr>
              <p:txBody>
                <a:bodyPr wrap="none" lIns="108000" tIns="108000" rIns="108000" bIns="108000" rtlCol="0" anchor="ctr" anchorCtr="0">
                  <a:noAutofit/>
                </a:bodyPr>
                <a:lstStyle>
                  <a:defPPr>
                    <a:defRPr lang="zh-CN"/>
                  </a:defPPr>
                  <a:lvl1pPr algn="ctr">
                    <a:defRPr kumimoji="1" b="1">
                      <a:solidFill>
                        <a:srgbClr val="FFFFFF"/>
                      </a:solidFill>
                    </a:defRPr>
                  </a:lvl1pPr>
                </a:lstStyle>
                <a:p>
                  <a:r>
                    <a:rPr lang="en-US" altLang="zh-CN" sz="1600" dirty="0">
                      <a:latin typeface="Arial" panose="020B0604020202020204" pitchFamily="34" charset="0"/>
                      <a:ea typeface="微软雅黑" panose="020B0503020204020204" pitchFamily="34" charset="-122"/>
                    </a:rPr>
                    <a:t>02</a:t>
                  </a:r>
                  <a:endParaRPr lang="zh-CN" altLang="en-US" sz="1600" dirty="0">
                    <a:latin typeface="Arial" panose="020B0604020202020204" pitchFamily="34" charset="0"/>
                    <a:ea typeface="微软雅黑" panose="020B0503020204020204" pitchFamily="34" charset="-122"/>
                  </a:endParaRPr>
                </a:p>
              </p:txBody>
            </p:sp>
            <p:cxnSp>
              <p:nvCxnSpPr>
                <p:cNvPr id="54" name="2">
                  <a:extLst>
                    <a:ext uri="{FF2B5EF4-FFF2-40B4-BE49-F238E27FC236}">
                      <a16:creationId xmlns:a16="http://schemas.microsoft.com/office/drawing/2014/main" id="{8BF703F7-5DF4-6FA3-B0FB-D8C5EB1296B0}"/>
                    </a:ext>
                  </a:extLst>
                </p:cNvPr>
                <p:cNvCxnSpPr>
                  <a:cxnSpLocks/>
                </p:cNvCxnSpPr>
                <p:nvPr>
                  <p:custDataLst>
                    <p:tags r:id="rId6"/>
                  </p:custDataLst>
                </p:nvPr>
              </p:nvCxnSpPr>
              <p:spPr>
                <a:xfrm>
                  <a:off x="8366543" y="2067265"/>
                  <a:ext cx="1742137" cy="0"/>
                </a:xfrm>
                <a:prstGeom prst="line">
                  <a:avLst/>
                </a:prstGeom>
                <a:ln w="6350">
                  <a:solidFill>
                    <a:schemeClr val="tx1">
                      <a:lumMod val="50000"/>
                      <a:lumOff val="50000"/>
                      <a:alpha val="50000"/>
                    </a:schemeClr>
                  </a:solidFill>
                  <a:tailEnd type="none"/>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3835849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6"/>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8"/>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20"/>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19"/>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P spid="16" grpId="0" animBg="1"/>
      <p:bldP spid="17" grpId="0" animBg="1"/>
      <p:bldP spid="18" grpId="0" animBg="1"/>
      <p:bldP spid="28"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A236874-FF8F-C269-2E1E-231A4C4796EA}"/>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技术架构</a:t>
            </a:r>
          </a:p>
        </p:txBody>
      </p:sp>
      <p:pic>
        <p:nvPicPr>
          <p:cNvPr id="6" name="图片 5">
            <a:extLst>
              <a:ext uri="{FF2B5EF4-FFF2-40B4-BE49-F238E27FC236}">
                <a16:creationId xmlns:a16="http://schemas.microsoft.com/office/drawing/2014/main" id="{3C438DA9-E1FC-ADF1-DA4D-ADD5668B22BF}"/>
              </a:ext>
            </a:extLst>
          </p:cNvPr>
          <p:cNvPicPr>
            <a:picLocks noChangeAspect="1"/>
          </p:cNvPicPr>
          <p:nvPr/>
        </p:nvPicPr>
        <p:blipFill>
          <a:blip r:embed="rId2"/>
          <a:stretch>
            <a:fillRect/>
          </a:stretch>
        </p:blipFill>
        <p:spPr>
          <a:xfrm>
            <a:off x="980388" y="1040239"/>
            <a:ext cx="10388338" cy="5554667"/>
          </a:xfrm>
          <a:prstGeom prst="rect">
            <a:avLst/>
          </a:prstGeom>
        </p:spPr>
      </p:pic>
    </p:spTree>
    <p:extLst>
      <p:ext uri="{BB962C8B-B14F-4D97-AF65-F5344CB8AC3E}">
        <p14:creationId xmlns:p14="http://schemas.microsoft.com/office/powerpoint/2010/main" val="4103050873"/>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F578412-8B9F-8CF4-9C6C-72E4067002DD}"/>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各个</a:t>
            </a:r>
            <a:r>
              <a:rPr lang="en-US" altLang="zh-CN" dirty="0">
                <a:latin typeface="Arial" panose="020B0604020202020204" pitchFamily="34" charset="0"/>
                <a:ea typeface="微软雅黑" panose="020B0503020204020204" pitchFamily="34" charset="-122"/>
              </a:rPr>
              <a:t>BU/Site</a:t>
            </a:r>
            <a:r>
              <a:rPr lang="zh-CN" altLang="en-US" dirty="0">
                <a:latin typeface="Arial" panose="020B0604020202020204" pitchFamily="34" charset="0"/>
                <a:ea typeface="微软雅黑" panose="020B0503020204020204" pitchFamily="34" charset="-122"/>
              </a:rPr>
              <a:t>成熟度不同，应区别对待</a:t>
            </a:r>
          </a:p>
        </p:txBody>
      </p:sp>
      <p:grpSp>
        <p:nvGrpSpPr>
          <p:cNvPr id="3" name="组合 2">
            <a:extLst>
              <a:ext uri="{FF2B5EF4-FFF2-40B4-BE49-F238E27FC236}">
                <a16:creationId xmlns:a16="http://schemas.microsoft.com/office/drawing/2014/main" id="{0ECA30DE-3CA6-45C3-1B36-A400B5181F04}"/>
              </a:ext>
            </a:extLst>
          </p:cNvPr>
          <p:cNvGrpSpPr>
            <a:grpSpLocks noChangeAspect="1"/>
          </p:cNvGrpSpPr>
          <p:nvPr>
            <p:custDataLst>
              <p:tags r:id="rId1"/>
            </p:custDataLst>
          </p:nvPr>
        </p:nvGrpSpPr>
        <p:grpSpPr>
          <a:xfrm>
            <a:off x="238235" y="786314"/>
            <a:ext cx="3107151" cy="1404951"/>
            <a:chOff x="958364" y="1801868"/>
            <a:chExt cx="3160769" cy="1562328"/>
          </a:xfrm>
        </p:grpSpPr>
        <p:grpSp>
          <p:nvGrpSpPr>
            <p:cNvPr id="4" name="组合 3">
              <a:extLst>
                <a:ext uri="{FF2B5EF4-FFF2-40B4-BE49-F238E27FC236}">
                  <a16:creationId xmlns:a16="http://schemas.microsoft.com/office/drawing/2014/main" id="{C5B988AD-08AD-18F2-7218-825E6C9D03E6}"/>
                </a:ext>
              </a:extLst>
            </p:cNvPr>
            <p:cNvGrpSpPr/>
            <p:nvPr/>
          </p:nvGrpSpPr>
          <p:grpSpPr>
            <a:xfrm>
              <a:off x="958364" y="1869056"/>
              <a:ext cx="1416893" cy="1495140"/>
              <a:chOff x="958364" y="1869056"/>
              <a:chExt cx="1416893" cy="1495140"/>
            </a:xfrm>
          </p:grpSpPr>
          <p:sp>
            <p:nvSpPr>
              <p:cNvPr id="9" name="Title-1">
                <a:extLst>
                  <a:ext uri="{FF2B5EF4-FFF2-40B4-BE49-F238E27FC236}">
                    <a16:creationId xmlns:a16="http://schemas.microsoft.com/office/drawing/2014/main" id="{68C39DBD-5458-108D-0CB3-4C81803F55C3}"/>
                  </a:ext>
                </a:extLst>
              </p:cNvPr>
              <p:cNvSpPr/>
              <p:nvPr>
                <p:custDataLst>
                  <p:tags r:id="rId21"/>
                </p:custDataLst>
              </p:nvPr>
            </p:nvSpPr>
            <p:spPr>
              <a:xfrm>
                <a:off x="958364" y="1869056"/>
                <a:ext cx="1416893" cy="593960"/>
              </a:xfrm>
              <a:prstGeom prst="roundRect">
                <a:avLst>
                  <a:gd name="adj" fmla="val 0"/>
                </a:avLst>
              </a:prstGeom>
              <a:solidFill>
                <a:schemeClr val="accent1"/>
              </a:solidFill>
              <a:ln w="12700" cap="rnd">
                <a:noFill/>
                <a:prstDash val="solid"/>
                <a:round/>
                <a:headEnd/>
                <a:tailEnd/>
              </a:ln>
              <a:effectLst>
                <a:outerShdw blurRad="254000" dist="127000" algn="ctr" rotWithShape="0">
                  <a:schemeClr val="accent1">
                    <a:alpha val="3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spAutoFit/>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ctr" defTabSz="913765"/>
                <a:r>
                  <a:rPr lang="zh-CN" altLang="en-US" sz="1400" b="1" dirty="0">
                    <a:solidFill>
                      <a:schemeClr val="bg1"/>
                    </a:solidFill>
                    <a:latin typeface="Arial" panose="020B0604020202020204" pitchFamily="34" charset="0"/>
                    <a:ea typeface="微软雅黑" panose="020B0503020204020204" pitchFamily="34" charset="-122"/>
                  </a:rPr>
                  <a:t>以终为始整体设计</a:t>
                </a:r>
              </a:p>
            </p:txBody>
          </p:sp>
          <p:sp>
            <p:nvSpPr>
              <p:cNvPr id="10" name="1">
                <a:extLst>
                  <a:ext uri="{FF2B5EF4-FFF2-40B4-BE49-F238E27FC236}">
                    <a16:creationId xmlns:a16="http://schemas.microsoft.com/office/drawing/2014/main" id="{9393E540-BA1C-3EB7-0AD3-4A400FA74BDC}"/>
                  </a:ext>
                </a:extLst>
              </p:cNvPr>
              <p:cNvSpPr/>
              <p:nvPr>
                <p:custDataLst>
                  <p:tags r:id="rId22"/>
                </p:custDataLst>
              </p:nvPr>
            </p:nvSpPr>
            <p:spPr>
              <a:xfrm>
                <a:off x="1536687" y="2976986"/>
                <a:ext cx="387212" cy="387210"/>
              </a:xfrm>
              <a:prstGeom prst="rect">
                <a:avLst/>
              </a:prstGeom>
              <a:solidFill>
                <a:schemeClr val="accent1"/>
              </a:solidFill>
              <a:ln w="12700" cap="rnd">
                <a:noFill/>
                <a:prstDash val="solid"/>
                <a:round/>
                <a:headEnd/>
                <a:tailEnd/>
              </a:ln>
              <a:effectLst>
                <a:outerShdw blurRad="254000" dist="127000" algn="ctr" rotWithShape="0">
                  <a:schemeClr val="accent1">
                    <a:alpha val="3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rmAutofit/>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ctr" defTabSz="914354"/>
                <a:endParaRPr lang="zh-CN" altLang="en-US" sz="1600" b="1">
                  <a:solidFill>
                    <a:schemeClr val="bg1"/>
                  </a:solidFill>
                  <a:latin typeface="+mn-ea"/>
                </a:endParaRPr>
              </a:p>
            </p:txBody>
          </p:sp>
          <p:sp>
            <p:nvSpPr>
              <p:cNvPr id="11" name="1">
                <a:extLst>
                  <a:ext uri="{FF2B5EF4-FFF2-40B4-BE49-F238E27FC236}">
                    <a16:creationId xmlns:a16="http://schemas.microsoft.com/office/drawing/2014/main" id="{FB6BBFB3-DB8E-C159-88AA-CF9B0892E669}"/>
                  </a:ext>
                </a:extLst>
              </p:cNvPr>
              <p:cNvSpPr/>
              <p:nvPr>
                <p:custDataLst>
                  <p:tags r:id="rId23"/>
                </p:custDataLst>
              </p:nvPr>
            </p:nvSpPr>
            <p:spPr bwMode="auto">
              <a:xfrm>
                <a:off x="1640703" y="3103399"/>
                <a:ext cx="179180" cy="134384"/>
              </a:xfrm>
              <a:custGeom>
                <a:avLst/>
                <a:gdLst>
                  <a:gd name="connsiteX0" fmla="*/ 534008 w 533400"/>
                  <a:gd name="connsiteY0" fmla="*/ 621 h 400050"/>
                  <a:gd name="connsiteX1" fmla="*/ 534008 w 533400"/>
                  <a:gd name="connsiteY1" fmla="*/ 400671 h 400050"/>
                  <a:gd name="connsiteX2" fmla="*/ 608 w 533400"/>
                  <a:gd name="connsiteY2" fmla="*/ 400671 h 400050"/>
                  <a:gd name="connsiteX3" fmla="*/ 608 w 533400"/>
                  <a:gd name="connsiteY3" fmla="*/ 621 h 400050"/>
                  <a:gd name="connsiteX4" fmla="*/ 534008 w 533400"/>
                  <a:gd name="connsiteY4" fmla="*/ 621 h 400050"/>
                  <a:gd name="connsiteX5" fmla="*/ 375607 w 533400"/>
                  <a:gd name="connsiteY5" fmla="*/ 172071 h 400050"/>
                  <a:gd name="connsiteX6" fmla="*/ 247401 w 533400"/>
                  <a:gd name="connsiteY6" fmla="*/ 341616 h 400050"/>
                  <a:gd name="connsiteX7" fmla="*/ 139768 w 533400"/>
                  <a:gd name="connsiteY7" fmla="*/ 235317 h 400050"/>
                  <a:gd name="connsiteX8" fmla="*/ 19658 w 533400"/>
                  <a:gd name="connsiteY8" fmla="*/ 381621 h 400050"/>
                  <a:gd name="connsiteX9" fmla="*/ 514958 w 533400"/>
                  <a:gd name="connsiteY9" fmla="*/ 381621 h 400050"/>
                  <a:gd name="connsiteX10" fmla="*/ 375607 w 533400"/>
                  <a:gd name="connsiteY10" fmla="*/ 172071 h 400050"/>
                  <a:gd name="connsiteX11" fmla="*/ 95858 w 533400"/>
                  <a:gd name="connsiteY11" fmla="*/ 57771 h 400050"/>
                  <a:gd name="connsiteX12" fmla="*/ 57758 w 533400"/>
                  <a:gd name="connsiteY12" fmla="*/ 95871 h 400050"/>
                  <a:gd name="connsiteX13" fmla="*/ 95858 w 533400"/>
                  <a:gd name="connsiteY13" fmla="*/ 133971 h 400050"/>
                  <a:gd name="connsiteX14" fmla="*/ 133958 w 533400"/>
                  <a:gd name="connsiteY14" fmla="*/ 95871 h 400050"/>
                  <a:gd name="connsiteX15" fmla="*/ 95858 w 533400"/>
                  <a:gd name="connsiteY15" fmla="*/ 57771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3400" h="400050">
                    <a:moveTo>
                      <a:pt x="534008" y="621"/>
                    </a:moveTo>
                    <a:lnTo>
                      <a:pt x="534008" y="400671"/>
                    </a:lnTo>
                    <a:lnTo>
                      <a:pt x="608" y="400671"/>
                    </a:lnTo>
                    <a:lnTo>
                      <a:pt x="608" y="621"/>
                    </a:lnTo>
                    <a:lnTo>
                      <a:pt x="534008" y="621"/>
                    </a:lnTo>
                    <a:close/>
                    <a:moveTo>
                      <a:pt x="375607" y="172071"/>
                    </a:moveTo>
                    <a:lnTo>
                      <a:pt x="247401" y="341616"/>
                    </a:lnTo>
                    <a:lnTo>
                      <a:pt x="139768" y="235317"/>
                    </a:lnTo>
                    <a:lnTo>
                      <a:pt x="19658" y="381621"/>
                    </a:lnTo>
                    <a:lnTo>
                      <a:pt x="514958" y="381621"/>
                    </a:lnTo>
                    <a:lnTo>
                      <a:pt x="375607" y="172071"/>
                    </a:lnTo>
                    <a:close/>
                    <a:moveTo>
                      <a:pt x="95858" y="57771"/>
                    </a:moveTo>
                    <a:cubicBezTo>
                      <a:pt x="74808" y="57771"/>
                      <a:pt x="57758" y="74821"/>
                      <a:pt x="57758" y="95871"/>
                    </a:cubicBezTo>
                    <a:cubicBezTo>
                      <a:pt x="57758" y="116921"/>
                      <a:pt x="74808" y="133971"/>
                      <a:pt x="95858" y="133971"/>
                    </a:cubicBezTo>
                    <a:cubicBezTo>
                      <a:pt x="116908" y="133971"/>
                      <a:pt x="133958" y="116921"/>
                      <a:pt x="133958" y="95871"/>
                    </a:cubicBezTo>
                    <a:cubicBezTo>
                      <a:pt x="133958" y="74821"/>
                      <a:pt x="116908" y="57771"/>
                      <a:pt x="95858" y="57771"/>
                    </a:cubicBezTo>
                    <a:close/>
                  </a:path>
                </a:pathLst>
              </a:custGeom>
              <a:solidFill>
                <a:srgbClr val="FFFFFF"/>
              </a:solidFill>
              <a:ln>
                <a:noFill/>
              </a:ln>
            </p:spPr>
            <p:txBody>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lgn="ctr"/>
                <a:endParaRPr lang="zh-CN" altLang="en-US" sz="1400">
                  <a:latin typeface="+mn-ea"/>
                </a:endParaRPr>
              </a:p>
            </p:txBody>
          </p:sp>
        </p:grpSp>
        <p:grpSp>
          <p:nvGrpSpPr>
            <p:cNvPr id="5" name="组合 4">
              <a:extLst>
                <a:ext uri="{FF2B5EF4-FFF2-40B4-BE49-F238E27FC236}">
                  <a16:creationId xmlns:a16="http://schemas.microsoft.com/office/drawing/2014/main" id="{1356E396-189B-BF88-B8FF-F0046DB74D0A}"/>
                </a:ext>
              </a:extLst>
            </p:cNvPr>
            <p:cNvGrpSpPr/>
            <p:nvPr/>
          </p:nvGrpSpPr>
          <p:grpSpPr>
            <a:xfrm>
              <a:off x="2575271" y="1801868"/>
              <a:ext cx="1543862" cy="1562328"/>
              <a:chOff x="2575271" y="1801868"/>
              <a:chExt cx="1543862" cy="1562328"/>
            </a:xfrm>
          </p:grpSpPr>
          <p:sp>
            <p:nvSpPr>
              <p:cNvPr id="6" name="Title-2">
                <a:extLst>
                  <a:ext uri="{FF2B5EF4-FFF2-40B4-BE49-F238E27FC236}">
                    <a16:creationId xmlns:a16="http://schemas.microsoft.com/office/drawing/2014/main" id="{663078D7-1D3F-D538-8C4C-90A6DC6D508D}"/>
                  </a:ext>
                </a:extLst>
              </p:cNvPr>
              <p:cNvSpPr/>
              <p:nvPr>
                <p:custDataLst>
                  <p:tags r:id="rId18"/>
                </p:custDataLst>
              </p:nvPr>
            </p:nvSpPr>
            <p:spPr>
              <a:xfrm>
                <a:off x="2575271" y="1801868"/>
                <a:ext cx="1543862" cy="821406"/>
              </a:xfrm>
              <a:prstGeom prst="roundRect">
                <a:avLst>
                  <a:gd name="adj" fmla="val 0"/>
                </a:avLst>
              </a:prstGeom>
              <a:solidFill>
                <a:schemeClr val="accent2"/>
              </a:solidFill>
              <a:ln w="12700" cap="rnd">
                <a:noFill/>
                <a:prstDash val="solid"/>
                <a:round/>
                <a:headEnd/>
                <a:tailEnd/>
              </a:ln>
              <a:effectLst>
                <a:outerShdw blurRad="254000" dist="127000" algn="ctr" rotWithShape="0">
                  <a:schemeClr val="accent2">
                    <a:alpha val="3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spAutoFit/>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ctr" defTabSz="913765"/>
                <a:r>
                  <a:rPr lang="zh-CN" altLang="en-US" sz="1400" b="1" dirty="0">
                    <a:solidFill>
                      <a:schemeClr val="tx1"/>
                    </a:solidFill>
                    <a:latin typeface="Arial" panose="020B0604020202020204" pitchFamily="34" charset="0"/>
                    <a:ea typeface="微软雅黑" panose="020B0503020204020204" pitchFamily="34" charset="-122"/>
                  </a:rPr>
                  <a:t>小步快跑，快速不间断地给业务带来价值</a:t>
                </a:r>
              </a:p>
            </p:txBody>
          </p:sp>
          <p:sp>
            <p:nvSpPr>
              <p:cNvPr id="7" name="2">
                <a:extLst>
                  <a:ext uri="{FF2B5EF4-FFF2-40B4-BE49-F238E27FC236}">
                    <a16:creationId xmlns:a16="http://schemas.microsoft.com/office/drawing/2014/main" id="{8A3ECFD6-4766-097E-A16C-9B0896981C50}"/>
                  </a:ext>
                </a:extLst>
              </p:cNvPr>
              <p:cNvSpPr/>
              <p:nvPr>
                <p:custDataLst>
                  <p:tags r:id="rId19"/>
                </p:custDataLst>
              </p:nvPr>
            </p:nvSpPr>
            <p:spPr>
              <a:xfrm>
                <a:off x="3280429" y="2976986"/>
                <a:ext cx="387212" cy="387210"/>
              </a:xfrm>
              <a:prstGeom prst="rect">
                <a:avLst/>
              </a:prstGeom>
              <a:solidFill>
                <a:schemeClr val="accent2"/>
              </a:solidFill>
              <a:ln w="12700" cap="rnd">
                <a:solidFill>
                  <a:schemeClr val="tx1"/>
                </a:solidFill>
                <a:prstDash val="solid"/>
                <a:round/>
                <a:headEnd/>
                <a:tailEnd/>
              </a:ln>
              <a:effectLst>
                <a:outerShdw blurRad="254000" dist="127000" algn="ctr" rotWithShape="0">
                  <a:schemeClr val="accent2">
                    <a:alpha val="3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rmAutofit/>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ctr" defTabSz="914354"/>
                <a:endParaRPr lang="zh-CN" altLang="en-US" sz="1600" b="1">
                  <a:solidFill>
                    <a:schemeClr val="bg1"/>
                  </a:solidFill>
                  <a:latin typeface="+mn-ea"/>
                </a:endParaRPr>
              </a:p>
            </p:txBody>
          </p:sp>
          <p:sp>
            <p:nvSpPr>
              <p:cNvPr id="8" name="2">
                <a:extLst>
                  <a:ext uri="{FF2B5EF4-FFF2-40B4-BE49-F238E27FC236}">
                    <a16:creationId xmlns:a16="http://schemas.microsoft.com/office/drawing/2014/main" id="{6548EA86-32D1-417E-C592-D22190767E5D}"/>
                  </a:ext>
                </a:extLst>
              </p:cNvPr>
              <p:cNvSpPr/>
              <p:nvPr>
                <p:custDataLst>
                  <p:tags r:id="rId20"/>
                </p:custDataLst>
              </p:nvPr>
            </p:nvSpPr>
            <p:spPr bwMode="auto">
              <a:xfrm>
                <a:off x="3384445" y="3097000"/>
                <a:ext cx="179180" cy="147183"/>
              </a:xfrm>
              <a:custGeom>
                <a:avLst/>
                <a:gdLst>
                  <a:gd name="connsiteX0" fmla="*/ 96626 w 533400"/>
                  <a:gd name="connsiteY0" fmla="*/ 133971 h 438150"/>
                  <a:gd name="connsiteX1" fmla="*/ 125201 w 533400"/>
                  <a:gd name="connsiteY1" fmla="*/ 286371 h 438150"/>
                  <a:gd name="connsiteX2" fmla="*/ 410951 w 533400"/>
                  <a:gd name="connsiteY2" fmla="*/ 286371 h 438150"/>
                  <a:gd name="connsiteX3" fmla="*/ 439526 w 533400"/>
                  <a:gd name="connsiteY3" fmla="*/ 133971 h 438150"/>
                  <a:gd name="connsiteX4" fmla="*/ 534776 w 533400"/>
                  <a:gd name="connsiteY4" fmla="*/ 133971 h 438150"/>
                  <a:gd name="connsiteX5" fmla="*/ 515726 w 533400"/>
                  <a:gd name="connsiteY5" fmla="*/ 381621 h 438150"/>
                  <a:gd name="connsiteX6" fmla="*/ 458576 w 533400"/>
                  <a:gd name="connsiteY6" fmla="*/ 381621 h 438150"/>
                  <a:gd name="connsiteX7" fmla="*/ 458576 w 533400"/>
                  <a:gd name="connsiteY7" fmla="*/ 438771 h 438150"/>
                  <a:gd name="connsiteX8" fmla="*/ 439526 w 533400"/>
                  <a:gd name="connsiteY8" fmla="*/ 438771 h 438150"/>
                  <a:gd name="connsiteX9" fmla="*/ 439526 w 533400"/>
                  <a:gd name="connsiteY9" fmla="*/ 381621 h 438150"/>
                  <a:gd name="connsiteX10" fmla="*/ 96626 w 533400"/>
                  <a:gd name="connsiteY10" fmla="*/ 381621 h 438150"/>
                  <a:gd name="connsiteX11" fmla="*/ 96626 w 533400"/>
                  <a:gd name="connsiteY11" fmla="*/ 438771 h 438150"/>
                  <a:gd name="connsiteX12" fmla="*/ 77576 w 533400"/>
                  <a:gd name="connsiteY12" fmla="*/ 438771 h 438150"/>
                  <a:gd name="connsiteX13" fmla="*/ 77576 w 533400"/>
                  <a:gd name="connsiteY13" fmla="*/ 381621 h 438150"/>
                  <a:gd name="connsiteX14" fmla="*/ 20426 w 533400"/>
                  <a:gd name="connsiteY14" fmla="*/ 381621 h 438150"/>
                  <a:gd name="connsiteX15" fmla="*/ 1376 w 533400"/>
                  <a:gd name="connsiteY15" fmla="*/ 133971 h 438150"/>
                  <a:gd name="connsiteX16" fmla="*/ 96626 w 533400"/>
                  <a:gd name="connsiteY16" fmla="*/ 133971 h 438150"/>
                  <a:gd name="connsiteX17" fmla="*/ 487151 w 533400"/>
                  <a:gd name="connsiteY17" fmla="*/ 621 h 438150"/>
                  <a:gd name="connsiteX18" fmla="*/ 487151 w 533400"/>
                  <a:gd name="connsiteY18" fmla="*/ 114921 h 438150"/>
                  <a:gd name="connsiteX19" fmla="*/ 425239 w 533400"/>
                  <a:gd name="connsiteY19" fmla="*/ 114921 h 438150"/>
                  <a:gd name="connsiteX20" fmla="*/ 396664 w 533400"/>
                  <a:gd name="connsiteY20" fmla="*/ 267321 h 438150"/>
                  <a:gd name="connsiteX21" fmla="*/ 139489 w 533400"/>
                  <a:gd name="connsiteY21" fmla="*/ 267321 h 438150"/>
                  <a:gd name="connsiteX22" fmla="*/ 110914 w 533400"/>
                  <a:gd name="connsiteY22" fmla="*/ 114921 h 438150"/>
                  <a:gd name="connsiteX23" fmla="*/ 58526 w 533400"/>
                  <a:gd name="connsiteY23" fmla="*/ 114921 h 438150"/>
                  <a:gd name="connsiteX24" fmla="*/ 58526 w 533400"/>
                  <a:gd name="connsiteY24" fmla="*/ 621 h 438150"/>
                  <a:gd name="connsiteX25" fmla="*/ 487151 w 533400"/>
                  <a:gd name="connsiteY25" fmla="*/ 621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33400" h="438150">
                    <a:moveTo>
                      <a:pt x="96626" y="133971"/>
                    </a:moveTo>
                    <a:lnTo>
                      <a:pt x="125201" y="286371"/>
                    </a:lnTo>
                    <a:lnTo>
                      <a:pt x="410951" y="286371"/>
                    </a:lnTo>
                    <a:lnTo>
                      <a:pt x="439526" y="133971"/>
                    </a:lnTo>
                    <a:lnTo>
                      <a:pt x="534776" y="133971"/>
                    </a:lnTo>
                    <a:lnTo>
                      <a:pt x="515726" y="381621"/>
                    </a:lnTo>
                    <a:lnTo>
                      <a:pt x="458576" y="381621"/>
                    </a:lnTo>
                    <a:lnTo>
                      <a:pt x="458576" y="438771"/>
                    </a:lnTo>
                    <a:lnTo>
                      <a:pt x="439526" y="438771"/>
                    </a:lnTo>
                    <a:lnTo>
                      <a:pt x="439526" y="381621"/>
                    </a:lnTo>
                    <a:lnTo>
                      <a:pt x="96626" y="381621"/>
                    </a:lnTo>
                    <a:lnTo>
                      <a:pt x="96626" y="438771"/>
                    </a:lnTo>
                    <a:lnTo>
                      <a:pt x="77576" y="438771"/>
                    </a:lnTo>
                    <a:lnTo>
                      <a:pt x="77576" y="381621"/>
                    </a:lnTo>
                    <a:lnTo>
                      <a:pt x="20426" y="381621"/>
                    </a:lnTo>
                    <a:lnTo>
                      <a:pt x="1376" y="133971"/>
                    </a:lnTo>
                    <a:lnTo>
                      <a:pt x="96626" y="133971"/>
                    </a:lnTo>
                    <a:close/>
                    <a:moveTo>
                      <a:pt x="487151" y="621"/>
                    </a:moveTo>
                    <a:lnTo>
                      <a:pt x="487151" y="114921"/>
                    </a:lnTo>
                    <a:lnTo>
                      <a:pt x="425239" y="114921"/>
                    </a:lnTo>
                    <a:lnTo>
                      <a:pt x="396664" y="267321"/>
                    </a:lnTo>
                    <a:lnTo>
                      <a:pt x="139489" y="267321"/>
                    </a:lnTo>
                    <a:lnTo>
                      <a:pt x="110914" y="114921"/>
                    </a:lnTo>
                    <a:lnTo>
                      <a:pt x="58526" y="114921"/>
                    </a:lnTo>
                    <a:lnTo>
                      <a:pt x="58526" y="621"/>
                    </a:lnTo>
                    <a:lnTo>
                      <a:pt x="487151" y="621"/>
                    </a:lnTo>
                    <a:close/>
                  </a:path>
                </a:pathLst>
              </a:custGeom>
              <a:solidFill>
                <a:srgbClr val="FFFFFF"/>
              </a:solidFill>
              <a:ln>
                <a:noFill/>
              </a:ln>
            </p:spPr>
            <p:txBody>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lgn="ctr"/>
                <a:endParaRPr lang="zh-CN" altLang="en-US" sz="1400">
                  <a:latin typeface="+mn-ea"/>
                </a:endParaRPr>
              </a:p>
            </p:txBody>
          </p:sp>
        </p:grpSp>
      </p:grpSp>
      <p:grpSp>
        <p:nvGrpSpPr>
          <p:cNvPr id="12" name="组合 11">
            <a:extLst>
              <a:ext uri="{FF2B5EF4-FFF2-40B4-BE49-F238E27FC236}">
                <a16:creationId xmlns:a16="http://schemas.microsoft.com/office/drawing/2014/main" id="{AFDD938D-9E6C-9D1C-35A5-FB437C0206D4}"/>
              </a:ext>
            </a:extLst>
          </p:cNvPr>
          <p:cNvGrpSpPr>
            <a:grpSpLocks noChangeAspect="1"/>
          </p:cNvGrpSpPr>
          <p:nvPr>
            <p:custDataLst>
              <p:tags r:id="rId2"/>
            </p:custDataLst>
          </p:nvPr>
        </p:nvGrpSpPr>
        <p:grpSpPr>
          <a:xfrm>
            <a:off x="568411" y="2650389"/>
            <a:ext cx="11211697" cy="3538756"/>
            <a:chOff x="798303" y="1824124"/>
            <a:chExt cx="5413663" cy="3538756"/>
          </a:xfrm>
        </p:grpSpPr>
        <p:grpSp>
          <p:nvGrpSpPr>
            <p:cNvPr id="13" name="组合 12">
              <a:extLst>
                <a:ext uri="{FF2B5EF4-FFF2-40B4-BE49-F238E27FC236}">
                  <a16:creationId xmlns:a16="http://schemas.microsoft.com/office/drawing/2014/main" id="{2731D0FA-06A8-C41F-CE21-681491AB54B7}"/>
                </a:ext>
              </a:extLst>
            </p:cNvPr>
            <p:cNvGrpSpPr/>
            <p:nvPr/>
          </p:nvGrpSpPr>
          <p:grpSpPr>
            <a:xfrm>
              <a:off x="798303" y="1945516"/>
              <a:ext cx="1970484" cy="3417364"/>
              <a:chOff x="798303" y="1945516"/>
              <a:chExt cx="1970484" cy="3417364"/>
            </a:xfrm>
          </p:grpSpPr>
          <p:sp>
            <p:nvSpPr>
              <p:cNvPr id="26" name="Title-1">
                <a:extLst>
                  <a:ext uri="{FF2B5EF4-FFF2-40B4-BE49-F238E27FC236}">
                    <a16:creationId xmlns:a16="http://schemas.microsoft.com/office/drawing/2014/main" id="{3D620931-124F-C615-435D-3FF56171D226}"/>
                  </a:ext>
                </a:extLst>
              </p:cNvPr>
              <p:cNvSpPr/>
              <p:nvPr>
                <p:custDataLst>
                  <p:tags r:id="rId13"/>
                </p:custDataLst>
              </p:nvPr>
            </p:nvSpPr>
            <p:spPr>
              <a:xfrm>
                <a:off x="901714" y="3214129"/>
                <a:ext cx="1758833" cy="485932"/>
              </a:xfrm>
              <a:prstGeom prst="chevron">
                <a:avLst/>
              </a:prstGeom>
              <a:solidFill>
                <a:schemeClr val="accent1"/>
              </a:solidFill>
              <a:ln w="12700" cap="flat">
                <a:noFill/>
                <a:prstDash val="solid"/>
                <a:miter/>
              </a:ln>
              <a:effectLst>
                <a:outerShdw blurRad="127000" dist="63500" dir="2700000" algn="tl" rotWithShape="0">
                  <a:schemeClr val="accent1">
                    <a:alpha val="40000"/>
                  </a:schemeClr>
                </a:outerShdw>
              </a:effectLst>
            </p:spPr>
            <p:txBody>
              <a:bodyPr rtlCol="0" anchor="ctr"/>
              <a:lstStyle/>
              <a:p>
                <a:pPr algn="ctr"/>
                <a:r>
                  <a:rPr lang="en-US" altLang="zh-CN" b="1">
                    <a:latin typeface="Arial" panose="020B0604020202020204" pitchFamily="34" charset="0"/>
                    <a:ea typeface="微软雅黑" panose="020B0503020204020204" pitchFamily="34" charset="-122"/>
                  </a:rPr>
                  <a:t>MRP</a:t>
                </a:r>
                <a:r>
                  <a:rPr lang="zh-CN" altLang="en-US" b="1">
                    <a:latin typeface="Arial" panose="020B0604020202020204" pitchFamily="34" charset="0"/>
                    <a:ea typeface="微软雅黑" panose="020B0503020204020204" pitchFamily="34" charset="-122"/>
                  </a:rPr>
                  <a:t>与执行计划为腰腹</a:t>
                </a:r>
                <a:r>
                  <a:rPr lang="en-US" altLang="zh-CN" b="1">
                    <a:latin typeface="Arial" panose="020B0604020202020204" pitchFamily="34" charset="0"/>
                    <a:ea typeface="微软雅黑" panose="020B0503020204020204" pitchFamily="34" charset="-122"/>
                  </a:rPr>
                  <a:t>Foundation</a:t>
                </a:r>
                <a:endParaRPr lang="en-US" altLang="zh-CN" b="1" dirty="0">
                  <a:latin typeface="Arial" panose="020B0604020202020204" pitchFamily="34" charset="0"/>
                  <a:ea typeface="微软雅黑" panose="020B0503020204020204" pitchFamily="34" charset="-122"/>
                </a:endParaRPr>
              </a:p>
            </p:txBody>
          </p:sp>
          <p:cxnSp>
            <p:nvCxnSpPr>
              <p:cNvPr id="27" name="1">
                <a:extLst>
                  <a:ext uri="{FF2B5EF4-FFF2-40B4-BE49-F238E27FC236}">
                    <a16:creationId xmlns:a16="http://schemas.microsoft.com/office/drawing/2014/main" id="{E4C10850-CB27-E7FE-77A0-C55AD996F5B4}"/>
                  </a:ext>
                </a:extLst>
              </p:cNvPr>
              <p:cNvCxnSpPr>
                <a:cxnSpLocks/>
              </p:cNvCxnSpPr>
              <p:nvPr>
                <p:custDataLst>
                  <p:tags r:id="rId14"/>
                </p:custDataLst>
              </p:nvPr>
            </p:nvCxnSpPr>
            <p:spPr>
              <a:xfrm flipV="1">
                <a:off x="1781130" y="2487095"/>
                <a:ext cx="0" cy="727191"/>
              </a:xfrm>
              <a:prstGeom prst="line">
                <a:avLst/>
              </a:prstGeom>
              <a:ln w="9525">
                <a:solidFill>
                  <a:schemeClr val="bg1">
                    <a:lumMod val="75000"/>
                  </a:schemeClr>
                </a:solidFill>
                <a:headEnd type="oval"/>
              </a:ln>
              <a:effectLst/>
            </p:spPr>
            <p:style>
              <a:lnRef idx="2">
                <a:schemeClr val="accent1"/>
              </a:lnRef>
              <a:fillRef idx="0">
                <a:schemeClr val="accent1"/>
              </a:fillRef>
              <a:effectRef idx="1">
                <a:schemeClr val="accent1"/>
              </a:effectRef>
              <a:fontRef idx="minor">
                <a:schemeClr val="tx1"/>
              </a:fontRef>
            </p:style>
          </p:cxnSp>
          <p:sp>
            <p:nvSpPr>
              <p:cNvPr id="28" name="1">
                <a:extLst>
                  <a:ext uri="{FF2B5EF4-FFF2-40B4-BE49-F238E27FC236}">
                    <a16:creationId xmlns:a16="http://schemas.microsoft.com/office/drawing/2014/main" id="{E0132916-8254-BDAD-8228-8164E290EF02}"/>
                  </a:ext>
                </a:extLst>
              </p:cNvPr>
              <p:cNvSpPr txBox="1">
                <a:spLocks noChangeAspect="1"/>
              </p:cNvSpPr>
              <p:nvPr>
                <p:custDataLst>
                  <p:tags r:id="rId15"/>
                </p:custDataLst>
              </p:nvPr>
            </p:nvSpPr>
            <p:spPr>
              <a:xfrm>
                <a:off x="1511130" y="1945516"/>
                <a:ext cx="540000" cy="540000"/>
              </a:xfrm>
              <a:prstGeom prst="roundRect">
                <a:avLst>
                  <a:gd name="adj" fmla="val 50000"/>
                </a:avLst>
              </a:prstGeom>
              <a:solidFill>
                <a:schemeClr val="accent1"/>
              </a:solidFill>
              <a:ln w="12700" cap="flat">
                <a:noFill/>
                <a:prstDash val="solid"/>
                <a:miter/>
              </a:ln>
              <a:effectLst>
                <a:outerShdw blurRad="127000" dist="63500" dir="2700000" algn="tl" rotWithShape="0">
                  <a:schemeClr val="accent1">
                    <a:alpha val="40000"/>
                  </a:schemeClr>
                </a:outerShdw>
              </a:effectLst>
            </p:spPr>
            <p:txBody>
              <a:bodyPr rtlCol="0" anchor="ctr"/>
              <a:lstStyle>
                <a:defPPr>
                  <a:defRPr lang="zh-CN"/>
                </a:defPPr>
                <a:lvl1pPr>
                  <a:defRPr>
                    <a:latin typeface="Arial" panose="020B0604020202020204" pitchFamily="34" charset="0"/>
                    <a:ea typeface="微软雅黑" panose="020B0503020204020204" pitchFamily="34" charset="-122"/>
                  </a:defRPr>
                </a:lvl1pPr>
              </a:lstStyle>
              <a:p>
                <a:endParaRPr lang="zh-CN" altLang="en-US" dirty="0">
                  <a:sym typeface="Arial" panose="020B0604020202020204" pitchFamily="34" charset="0"/>
                </a:endParaRPr>
              </a:p>
            </p:txBody>
          </p:sp>
          <p:sp>
            <p:nvSpPr>
              <p:cNvPr id="29" name="1">
                <a:extLst>
                  <a:ext uri="{FF2B5EF4-FFF2-40B4-BE49-F238E27FC236}">
                    <a16:creationId xmlns:a16="http://schemas.microsoft.com/office/drawing/2014/main" id="{81461A66-A172-3667-C3A6-52E2E92B5833}"/>
                  </a:ext>
                </a:extLst>
              </p:cNvPr>
              <p:cNvSpPr/>
              <p:nvPr>
                <p:custDataLst>
                  <p:tags r:id="rId16"/>
                </p:custDataLst>
              </p:nvPr>
            </p:nvSpPr>
            <p:spPr>
              <a:xfrm>
                <a:off x="1668016" y="2077813"/>
                <a:ext cx="226228" cy="275406"/>
              </a:xfrm>
              <a:custGeom>
                <a:avLst/>
                <a:gdLst>
                  <a:gd name="connsiteX0" fmla="*/ 284197 w 438150"/>
                  <a:gd name="connsiteY0" fmla="*/ 621 h 533400"/>
                  <a:gd name="connsiteX1" fmla="*/ 286102 w 438150"/>
                  <a:gd name="connsiteY1" fmla="*/ 621 h 533400"/>
                  <a:gd name="connsiteX2" fmla="*/ 286102 w 438150"/>
                  <a:gd name="connsiteY2" fmla="*/ 124446 h 533400"/>
                  <a:gd name="connsiteX3" fmla="*/ 286102 w 438150"/>
                  <a:gd name="connsiteY3" fmla="*/ 126351 h 533400"/>
                  <a:gd name="connsiteX4" fmla="*/ 314677 w 438150"/>
                  <a:gd name="connsiteY4" fmla="*/ 153021 h 533400"/>
                  <a:gd name="connsiteX5" fmla="*/ 314677 w 438150"/>
                  <a:gd name="connsiteY5" fmla="*/ 153021 h 533400"/>
                  <a:gd name="connsiteX6" fmla="*/ 438502 w 438150"/>
                  <a:gd name="connsiteY6" fmla="*/ 153021 h 533400"/>
                  <a:gd name="connsiteX7" fmla="*/ 438502 w 438150"/>
                  <a:gd name="connsiteY7" fmla="*/ 154926 h 533400"/>
                  <a:gd name="connsiteX8" fmla="*/ 438502 w 438150"/>
                  <a:gd name="connsiteY8" fmla="*/ 505446 h 533400"/>
                  <a:gd name="connsiteX9" fmla="*/ 409927 w 438150"/>
                  <a:gd name="connsiteY9" fmla="*/ 534021 h 533400"/>
                  <a:gd name="connsiteX10" fmla="*/ 28927 w 438150"/>
                  <a:gd name="connsiteY10" fmla="*/ 534021 h 533400"/>
                  <a:gd name="connsiteX11" fmla="*/ 352 w 438150"/>
                  <a:gd name="connsiteY11" fmla="*/ 505446 h 533400"/>
                  <a:gd name="connsiteX12" fmla="*/ 352 w 438150"/>
                  <a:gd name="connsiteY12" fmla="*/ 29196 h 533400"/>
                  <a:gd name="connsiteX13" fmla="*/ 28927 w 438150"/>
                  <a:gd name="connsiteY13" fmla="*/ 621 h 533400"/>
                  <a:gd name="connsiteX14" fmla="*/ 284197 w 438150"/>
                  <a:gd name="connsiteY14" fmla="*/ 621 h 533400"/>
                  <a:gd name="connsiteX15" fmla="*/ 248002 w 438150"/>
                  <a:gd name="connsiteY15" fmla="*/ 200646 h 533400"/>
                  <a:gd name="connsiteX16" fmla="*/ 152752 w 438150"/>
                  <a:gd name="connsiteY16" fmla="*/ 200646 h 533400"/>
                  <a:gd name="connsiteX17" fmla="*/ 152752 w 438150"/>
                  <a:gd name="connsiteY17" fmla="*/ 410196 h 533400"/>
                  <a:gd name="connsiteX18" fmla="*/ 171802 w 438150"/>
                  <a:gd name="connsiteY18" fmla="*/ 410196 h 533400"/>
                  <a:gd name="connsiteX19" fmla="*/ 171802 w 438150"/>
                  <a:gd name="connsiteY19" fmla="*/ 314946 h 533400"/>
                  <a:gd name="connsiteX20" fmla="*/ 248002 w 438150"/>
                  <a:gd name="connsiteY20" fmla="*/ 314946 h 533400"/>
                  <a:gd name="connsiteX21" fmla="*/ 249907 w 438150"/>
                  <a:gd name="connsiteY21" fmla="*/ 314946 h 533400"/>
                  <a:gd name="connsiteX22" fmla="*/ 305152 w 438150"/>
                  <a:gd name="connsiteY22" fmla="*/ 257796 h 533400"/>
                  <a:gd name="connsiteX23" fmla="*/ 248002 w 438150"/>
                  <a:gd name="connsiteY23" fmla="*/ 200646 h 533400"/>
                  <a:gd name="connsiteX24" fmla="*/ 248002 w 438150"/>
                  <a:gd name="connsiteY24" fmla="*/ 200646 h 533400"/>
                  <a:gd name="connsiteX25" fmla="*/ 248002 w 438150"/>
                  <a:gd name="connsiteY25" fmla="*/ 219696 h 533400"/>
                  <a:gd name="connsiteX26" fmla="*/ 286102 w 438150"/>
                  <a:gd name="connsiteY26" fmla="*/ 257796 h 533400"/>
                  <a:gd name="connsiteX27" fmla="*/ 248002 w 438150"/>
                  <a:gd name="connsiteY27" fmla="*/ 295896 h 533400"/>
                  <a:gd name="connsiteX28" fmla="*/ 248002 w 438150"/>
                  <a:gd name="connsiteY28" fmla="*/ 295896 h 533400"/>
                  <a:gd name="connsiteX29" fmla="*/ 171802 w 438150"/>
                  <a:gd name="connsiteY29" fmla="*/ 295896 h 533400"/>
                  <a:gd name="connsiteX30" fmla="*/ 171802 w 438150"/>
                  <a:gd name="connsiteY30" fmla="*/ 219696 h 533400"/>
                  <a:gd name="connsiteX31" fmla="*/ 248002 w 438150"/>
                  <a:gd name="connsiteY31" fmla="*/ 219696 h 533400"/>
                  <a:gd name="connsiteX32" fmla="*/ 428977 w 438150"/>
                  <a:gd name="connsiteY32" fmla="*/ 133971 h 533400"/>
                  <a:gd name="connsiteX33" fmla="*/ 314677 w 438150"/>
                  <a:gd name="connsiteY33" fmla="*/ 133971 h 533400"/>
                  <a:gd name="connsiteX34" fmla="*/ 313724 w 438150"/>
                  <a:gd name="connsiteY34" fmla="*/ 133971 h 533400"/>
                  <a:gd name="connsiteX35" fmla="*/ 305152 w 438150"/>
                  <a:gd name="connsiteY35" fmla="*/ 124446 h 533400"/>
                  <a:gd name="connsiteX36" fmla="*/ 305152 w 438150"/>
                  <a:gd name="connsiteY36" fmla="*/ 124446 h 533400"/>
                  <a:gd name="connsiteX37" fmla="*/ 305152 w 438150"/>
                  <a:gd name="connsiteY37" fmla="*/ 10146 h 533400"/>
                  <a:gd name="connsiteX38" fmla="*/ 428977 w 438150"/>
                  <a:gd name="connsiteY38" fmla="*/ 133971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38150" h="533400">
                    <a:moveTo>
                      <a:pt x="284197" y="621"/>
                    </a:moveTo>
                    <a:cubicBezTo>
                      <a:pt x="285149" y="621"/>
                      <a:pt x="286102" y="621"/>
                      <a:pt x="286102" y="621"/>
                    </a:cubicBezTo>
                    <a:lnTo>
                      <a:pt x="286102" y="124446"/>
                    </a:lnTo>
                    <a:lnTo>
                      <a:pt x="286102" y="126351"/>
                    </a:lnTo>
                    <a:cubicBezTo>
                      <a:pt x="287055" y="141591"/>
                      <a:pt x="299437" y="153021"/>
                      <a:pt x="314677" y="153021"/>
                    </a:cubicBezTo>
                    <a:lnTo>
                      <a:pt x="314677" y="153021"/>
                    </a:lnTo>
                    <a:lnTo>
                      <a:pt x="438502" y="153021"/>
                    </a:lnTo>
                    <a:cubicBezTo>
                      <a:pt x="438502" y="153974"/>
                      <a:pt x="438502" y="154926"/>
                      <a:pt x="438502" y="154926"/>
                    </a:cubicBezTo>
                    <a:lnTo>
                      <a:pt x="438502" y="505446"/>
                    </a:lnTo>
                    <a:cubicBezTo>
                      <a:pt x="438502" y="521639"/>
                      <a:pt x="426120" y="534021"/>
                      <a:pt x="409927" y="534021"/>
                    </a:cubicBezTo>
                    <a:lnTo>
                      <a:pt x="28927" y="534021"/>
                    </a:lnTo>
                    <a:cubicBezTo>
                      <a:pt x="12734" y="534021"/>
                      <a:pt x="352" y="521639"/>
                      <a:pt x="352" y="505446"/>
                    </a:cubicBezTo>
                    <a:lnTo>
                      <a:pt x="352" y="29196"/>
                    </a:lnTo>
                    <a:cubicBezTo>
                      <a:pt x="352" y="13004"/>
                      <a:pt x="12734" y="621"/>
                      <a:pt x="28927" y="621"/>
                    </a:cubicBezTo>
                    <a:lnTo>
                      <a:pt x="284197" y="621"/>
                    </a:lnTo>
                    <a:close/>
                    <a:moveTo>
                      <a:pt x="248002" y="200646"/>
                    </a:moveTo>
                    <a:lnTo>
                      <a:pt x="152752" y="200646"/>
                    </a:lnTo>
                    <a:lnTo>
                      <a:pt x="152752" y="410196"/>
                    </a:lnTo>
                    <a:lnTo>
                      <a:pt x="171802" y="410196"/>
                    </a:lnTo>
                    <a:lnTo>
                      <a:pt x="171802" y="314946"/>
                    </a:lnTo>
                    <a:lnTo>
                      <a:pt x="248002" y="314946"/>
                    </a:lnTo>
                    <a:lnTo>
                      <a:pt x="249907" y="314946"/>
                    </a:lnTo>
                    <a:cubicBezTo>
                      <a:pt x="280387" y="313994"/>
                      <a:pt x="305152" y="288276"/>
                      <a:pt x="305152" y="257796"/>
                    </a:cubicBezTo>
                    <a:cubicBezTo>
                      <a:pt x="305152" y="226364"/>
                      <a:pt x="279434" y="200646"/>
                      <a:pt x="248002" y="200646"/>
                    </a:cubicBezTo>
                    <a:lnTo>
                      <a:pt x="248002" y="200646"/>
                    </a:lnTo>
                    <a:close/>
                    <a:moveTo>
                      <a:pt x="248002" y="219696"/>
                    </a:moveTo>
                    <a:cubicBezTo>
                      <a:pt x="268957" y="219696"/>
                      <a:pt x="286102" y="236841"/>
                      <a:pt x="286102" y="257796"/>
                    </a:cubicBezTo>
                    <a:cubicBezTo>
                      <a:pt x="286102" y="278751"/>
                      <a:pt x="268957" y="295896"/>
                      <a:pt x="248002" y="295896"/>
                    </a:cubicBezTo>
                    <a:lnTo>
                      <a:pt x="248002" y="295896"/>
                    </a:lnTo>
                    <a:lnTo>
                      <a:pt x="171802" y="295896"/>
                    </a:lnTo>
                    <a:lnTo>
                      <a:pt x="171802" y="219696"/>
                    </a:lnTo>
                    <a:lnTo>
                      <a:pt x="248002" y="219696"/>
                    </a:lnTo>
                    <a:close/>
                    <a:moveTo>
                      <a:pt x="428977" y="133971"/>
                    </a:moveTo>
                    <a:lnTo>
                      <a:pt x="314677" y="133971"/>
                    </a:lnTo>
                    <a:lnTo>
                      <a:pt x="313724" y="133971"/>
                    </a:lnTo>
                    <a:cubicBezTo>
                      <a:pt x="308962" y="133019"/>
                      <a:pt x="305152" y="129209"/>
                      <a:pt x="305152" y="124446"/>
                    </a:cubicBezTo>
                    <a:lnTo>
                      <a:pt x="305152" y="124446"/>
                    </a:lnTo>
                    <a:lnTo>
                      <a:pt x="305152" y="10146"/>
                    </a:lnTo>
                    <a:lnTo>
                      <a:pt x="428977" y="133971"/>
                    </a:lnTo>
                    <a:close/>
                  </a:path>
                </a:pathLst>
              </a:custGeom>
              <a:solidFill>
                <a:srgbClr val="FFFFFF"/>
              </a:solidFill>
              <a:ln w="9525" cap="flat">
                <a:noFill/>
                <a:prstDash val="solid"/>
                <a:miter/>
              </a:ln>
            </p:spPr>
            <p:txBody>
              <a:bodyPr rtlCol="0"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dirty="0">
                  <a:latin typeface="Arial" panose="020B0604020202020204" pitchFamily="34" charset="0"/>
                  <a:ea typeface="微软雅黑" panose="020B0503020204020204" pitchFamily="34" charset="-122"/>
                  <a:sym typeface="Arial" panose="020B0604020202020204" pitchFamily="34" charset="0"/>
                </a:endParaRPr>
              </a:p>
            </p:txBody>
          </p:sp>
          <p:sp>
            <p:nvSpPr>
              <p:cNvPr id="30" name="Body-1">
                <a:extLst>
                  <a:ext uri="{FF2B5EF4-FFF2-40B4-BE49-F238E27FC236}">
                    <a16:creationId xmlns:a16="http://schemas.microsoft.com/office/drawing/2014/main" id="{F2347C59-43D9-D90F-9AB9-DB5A338E17E9}"/>
                  </a:ext>
                </a:extLst>
              </p:cNvPr>
              <p:cNvSpPr>
                <a:spLocks/>
              </p:cNvSpPr>
              <p:nvPr>
                <p:custDataLst>
                  <p:tags r:id="rId17"/>
                </p:custDataLst>
              </p:nvPr>
            </p:nvSpPr>
            <p:spPr>
              <a:xfrm>
                <a:off x="798303" y="3867918"/>
                <a:ext cx="1970484" cy="14949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30000"/>
                  </a:lnSpc>
                  <a:buSzPct val="100000"/>
                  <a:buFont typeface="Arial" panose="020B0604020202020204" pitchFamily="34" charset="0"/>
                  <a:buChar char="•"/>
                  <a:defRPr/>
                </a:pP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MRP</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为中长期客户需求准备物料和资源</a:t>
                </a:r>
              </a:p>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供应商协同打通横向协同</a:t>
                </a:r>
              </a:p>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执行计划让原材料到交付顺滑</a:t>
                </a:r>
              </a:p>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平台先行，打下基础</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p:txBody>
          </p:sp>
        </p:grpSp>
        <p:grpSp>
          <p:nvGrpSpPr>
            <p:cNvPr id="14" name="组合 13">
              <a:extLst>
                <a:ext uri="{FF2B5EF4-FFF2-40B4-BE49-F238E27FC236}">
                  <a16:creationId xmlns:a16="http://schemas.microsoft.com/office/drawing/2014/main" id="{B10769D7-32C8-9D9F-62C7-429C996B96B2}"/>
                </a:ext>
              </a:extLst>
            </p:cNvPr>
            <p:cNvGrpSpPr/>
            <p:nvPr/>
          </p:nvGrpSpPr>
          <p:grpSpPr>
            <a:xfrm>
              <a:off x="2623303" y="1824124"/>
              <a:ext cx="2174120" cy="3088360"/>
              <a:chOff x="2623303" y="1824124"/>
              <a:chExt cx="2174120" cy="3088360"/>
            </a:xfrm>
          </p:grpSpPr>
          <p:sp>
            <p:nvSpPr>
              <p:cNvPr id="21" name="Title-2">
                <a:extLst>
                  <a:ext uri="{FF2B5EF4-FFF2-40B4-BE49-F238E27FC236}">
                    <a16:creationId xmlns:a16="http://schemas.microsoft.com/office/drawing/2014/main" id="{3C687C40-3939-1106-3C5C-BA616E83ACF9}"/>
                  </a:ext>
                </a:extLst>
              </p:cNvPr>
              <p:cNvSpPr/>
              <p:nvPr>
                <p:custDataLst>
                  <p:tags r:id="rId8"/>
                </p:custDataLst>
              </p:nvPr>
            </p:nvSpPr>
            <p:spPr>
              <a:xfrm>
                <a:off x="2623303" y="3214129"/>
                <a:ext cx="1758833" cy="485932"/>
              </a:xfrm>
              <a:prstGeom prst="chevron">
                <a:avLst/>
              </a:prstGeom>
              <a:solidFill>
                <a:schemeClr val="accent2"/>
              </a:solidFill>
              <a:ln w="12700" cap="flat">
                <a:noFill/>
                <a:prstDash val="solid"/>
                <a:miter/>
              </a:ln>
              <a:effectLst>
                <a:outerShdw blurRad="127000" dist="63500" dir="2700000" algn="tl" rotWithShape="0">
                  <a:schemeClr val="accent2">
                    <a:alpha val="40000"/>
                  </a:schemeClr>
                </a:outerShdw>
              </a:effectLst>
            </p:spPr>
            <p:txBody>
              <a:bodyPr rtlCol="0" anchor="ctr"/>
              <a:lstStyle/>
              <a:p>
                <a:pPr algn="ctr"/>
                <a:r>
                  <a:rPr lang="en-US" altLang="zh-CN" b="1">
                    <a:solidFill>
                      <a:srgbClr val="00B0F0"/>
                    </a:solidFill>
                    <a:latin typeface="Arial" panose="020B0604020202020204" pitchFamily="34" charset="0"/>
                    <a:ea typeface="微软雅黑" panose="020B0503020204020204" pitchFamily="34" charset="-122"/>
                  </a:rPr>
                  <a:t>S&amp;OP/MP</a:t>
                </a:r>
                <a:endParaRPr lang="en-US" altLang="zh-CN" b="1" dirty="0">
                  <a:solidFill>
                    <a:srgbClr val="00B0F0"/>
                  </a:solidFill>
                  <a:latin typeface="Arial" panose="020B0604020202020204" pitchFamily="34" charset="0"/>
                  <a:ea typeface="微软雅黑" panose="020B0503020204020204" pitchFamily="34" charset="-122"/>
                </a:endParaRPr>
              </a:p>
            </p:txBody>
          </p:sp>
          <p:cxnSp>
            <p:nvCxnSpPr>
              <p:cNvPr id="22" name="2">
                <a:extLst>
                  <a:ext uri="{FF2B5EF4-FFF2-40B4-BE49-F238E27FC236}">
                    <a16:creationId xmlns:a16="http://schemas.microsoft.com/office/drawing/2014/main" id="{E3FBAF6E-8520-613A-0406-F848DF68A5D9}"/>
                  </a:ext>
                </a:extLst>
              </p:cNvPr>
              <p:cNvCxnSpPr>
                <a:cxnSpLocks/>
              </p:cNvCxnSpPr>
              <p:nvPr>
                <p:custDataLst>
                  <p:tags r:id="rId9"/>
                </p:custDataLst>
              </p:nvPr>
            </p:nvCxnSpPr>
            <p:spPr>
              <a:xfrm>
                <a:off x="3502719" y="3683392"/>
                <a:ext cx="0" cy="689092"/>
              </a:xfrm>
              <a:prstGeom prst="line">
                <a:avLst/>
              </a:prstGeom>
              <a:ln>
                <a:headEnd type="oval"/>
              </a:ln>
            </p:spPr>
            <p:style>
              <a:lnRef idx="1">
                <a:schemeClr val="accent1"/>
              </a:lnRef>
              <a:fillRef idx="0">
                <a:schemeClr val="accent1"/>
              </a:fillRef>
              <a:effectRef idx="0">
                <a:schemeClr val="accent1"/>
              </a:effectRef>
              <a:fontRef idx="minor">
                <a:schemeClr val="tx1"/>
              </a:fontRef>
            </p:style>
          </p:cxnSp>
          <p:sp>
            <p:nvSpPr>
              <p:cNvPr id="23" name="2">
                <a:extLst>
                  <a:ext uri="{FF2B5EF4-FFF2-40B4-BE49-F238E27FC236}">
                    <a16:creationId xmlns:a16="http://schemas.microsoft.com/office/drawing/2014/main" id="{0003A038-ACC9-37B6-65E1-765151D4B0D4}"/>
                  </a:ext>
                </a:extLst>
              </p:cNvPr>
              <p:cNvSpPr txBox="1">
                <a:spLocks noChangeAspect="1"/>
              </p:cNvSpPr>
              <p:nvPr>
                <p:custDataLst>
                  <p:tags r:id="rId10"/>
                </p:custDataLst>
              </p:nvPr>
            </p:nvSpPr>
            <p:spPr>
              <a:xfrm>
                <a:off x="3232719" y="4372484"/>
                <a:ext cx="540000" cy="540000"/>
              </a:xfrm>
              <a:prstGeom prst="roundRect">
                <a:avLst>
                  <a:gd name="adj" fmla="val 50000"/>
                </a:avLst>
              </a:prstGeom>
              <a:solidFill>
                <a:schemeClr val="accent2"/>
              </a:solidFill>
              <a:ln w="12700" cap="flat">
                <a:noFill/>
                <a:prstDash val="solid"/>
                <a:miter/>
              </a:ln>
              <a:effectLst>
                <a:outerShdw blurRad="127000" dist="63500" dir="2700000" algn="tl" rotWithShape="0">
                  <a:schemeClr val="accent2">
                    <a:alpha val="40000"/>
                  </a:schemeClr>
                </a:outerShdw>
              </a:effectLst>
            </p:spPr>
            <p:txBody>
              <a:bodyPr rtlCol="0" anchor="ctr"/>
              <a:lstStyle>
                <a:defPPr>
                  <a:defRPr lang="zh-CN"/>
                </a:defPPr>
                <a:lvl1pPr>
                  <a:defRPr>
                    <a:latin typeface="Arial" panose="020B0604020202020204" pitchFamily="34" charset="0"/>
                    <a:ea typeface="微软雅黑" panose="020B0503020204020204" pitchFamily="34" charset="-122"/>
                  </a:defRPr>
                </a:lvl1pPr>
              </a:lstStyle>
              <a:p>
                <a:endParaRPr lang="zh-CN" altLang="en-US" dirty="0">
                  <a:sym typeface="Arial" panose="020B0604020202020204" pitchFamily="34" charset="0"/>
                </a:endParaRPr>
              </a:p>
            </p:txBody>
          </p:sp>
          <p:sp>
            <p:nvSpPr>
              <p:cNvPr id="24" name="2">
                <a:extLst>
                  <a:ext uri="{FF2B5EF4-FFF2-40B4-BE49-F238E27FC236}">
                    <a16:creationId xmlns:a16="http://schemas.microsoft.com/office/drawing/2014/main" id="{E05844EC-3C6A-D628-F0CB-454F036438EB}"/>
                  </a:ext>
                </a:extLst>
              </p:cNvPr>
              <p:cNvSpPr/>
              <p:nvPr>
                <p:custDataLst>
                  <p:tags r:id="rId11"/>
                </p:custDataLst>
              </p:nvPr>
            </p:nvSpPr>
            <p:spPr>
              <a:xfrm>
                <a:off x="3374852" y="4507240"/>
                <a:ext cx="255734" cy="270488"/>
              </a:xfrm>
              <a:custGeom>
                <a:avLst/>
                <a:gdLst>
                  <a:gd name="connsiteX0" fmla="*/ 371955 w 495300"/>
                  <a:gd name="connsiteY0" fmla="*/ 621 h 523875"/>
                  <a:gd name="connsiteX1" fmla="*/ 400530 w 495300"/>
                  <a:gd name="connsiteY1" fmla="*/ 29196 h 523875"/>
                  <a:gd name="connsiteX2" fmla="*/ 400530 w 495300"/>
                  <a:gd name="connsiteY2" fmla="*/ 133971 h 523875"/>
                  <a:gd name="connsiteX3" fmla="*/ 371955 w 495300"/>
                  <a:gd name="connsiteY3" fmla="*/ 162546 h 523875"/>
                  <a:gd name="connsiteX4" fmla="*/ 257655 w 495300"/>
                  <a:gd name="connsiteY4" fmla="*/ 162546 h 523875"/>
                  <a:gd name="connsiteX5" fmla="*/ 257655 w 495300"/>
                  <a:gd name="connsiteY5" fmla="*/ 286371 h 523875"/>
                  <a:gd name="connsiteX6" fmla="*/ 419580 w 495300"/>
                  <a:gd name="connsiteY6" fmla="*/ 286371 h 523875"/>
                  <a:gd name="connsiteX7" fmla="*/ 457680 w 495300"/>
                  <a:gd name="connsiteY7" fmla="*/ 322566 h 523875"/>
                  <a:gd name="connsiteX8" fmla="*/ 457680 w 495300"/>
                  <a:gd name="connsiteY8" fmla="*/ 324471 h 523875"/>
                  <a:gd name="connsiteX9" fmla="*/ 457680 w 495300"/>
                  <a:gd name="connsiteY9" fmla="*/ 429246 h 523875"/>
                  <a:gd name="connsiteX10" fmla="*/ 476730 w 495300"/>
                  <a:gd name="connsiteY10" fmla="*/ 429246 h 523875"/>
                  <a:gd name="connsiteX11" fmla="*/ 495780 w 495300"/>
                  <a:gd name="connsiteY11" fmla="*/ 448296 h 523875"/>
                  <a:gd name="connsiteX12" fmla="*/ 495780 w 495300"/>
                  <a:gd name="connsiteY12" fmla="*/ 505446 h 523875"/>
                  <a:gd name="connsiteX13" fmla="*/ 476730 w 495300"/>
                  <a:gd name="connsiteY13" fmla="*/ 524496 h 523875"/>
                  <a:gd name="connsiteX14" fmla="*/ 419580 w 495300"/>
                  <a:gd name="connsiteY14" fmla="*/ 524496 h 523875"/>
                  <a:gd name="connsiteX15" fmla="*/ 400530 w 495300"/>
                  <a:gd name="connsiteY15" fmla="*/ 505446 h 523875"/>
                  <a:gd name="connsiteX16" fmla="*/ 400530 w 495300"/>
                  <a:gd name="connsiteY16" fmla="*/ 448296 h 523875"/>
                  <a:gd name="connsiteX17" fmla="*/ 419580 w 495300"/>
                  <a:gd name="connsiteY17" fmla="*/ 429246 h 523875"/>
                  <a:gd name="connsiteX18" fmla="*/ 438630 w 495300"/>
                  <a:gd name="connsiteY18" fmla="*/ 429246 h 523875"/>
                  <a:gd name="connsiteX19" fmla="*/ 438630 w 495300"/>
                  <a:gd name="connsiteY19" fmla="*/ 324471 h 523875"/>
                  <a:gd name="connsiteX20" fmla="*/ 420533 w 495300"/>
                  <a:gd name="connsiteY20" fmla="*/ 305421 h 523875"/>
                  <a:gd name="connsiteX21" fmla="*/ 419580 w 495300"/>
                  <a:gd name="connsiteY21" fmla="*/ 305421 h 523875"/>
                  <a:gd name="connsiteX22" fmla="*/ 257655 w 495300"/>
                  <a:gd name="connsiteY22" fmla="*/ 305421 h 523875"/>
                  <a:gd name="connsiteX23" fmla="*/ 257655 w 495300"/>
                  <a:gd name="connsiteY23" fmla="*/ 429246 h 523875"/>
                  <a:gd name="connsiteX24" fmla="*/ 276705 w 495300"/>
                  <a:gd name="connsiteY24" fmla="*/ 429246 h 523875"/>
                  <a:gd name="connsiteX25" fmla="*/ 295755 w 495300"/>
                  <a:gd name="connsiteY25" fmla="*/ 448296 h 523875"/>
                  <a:gd name="connsiteX26" fmla="*/ 295755 w 495300"/>
                  <a:gd name="connsiteY26" fmla="*/ 505446 h 523875"/>
                  <a:gd name="connsiteX27" fmla="*/ 276705 w 495300"/>
                  <a:gd name="connsiteY27" fmla="*/ 524496 h 523875"/>
                  <a:gd name="connsiteX28" fmla="*/ 219555 w 495300"/>
                  <a:gd name="connsiteY28" fmla="*/ 524496 h 523875"/>
                  <a:gd name="connsiteX29" fmla="*/ 200505 w 495300"/>
                  <a:gd name="connsiteY29" fmla="*/ 505446 h 523875"/>
                  <a:gd name="connsiteX30" fmla="*/ 200505 w 495300"/>
                  <a:gd name="connsiteY30" fmla="*/ 448296 h 523875"/>
                  <a:gd name="connsiteX31" fmla="*/ 219555 w 495300"/>
                  <a:gd name="connsiteY31" fmla="*/ 429246 h 523875"/>
                  <a:gd name="connsiteX32" fmla="*/ 238605 w 495300"/>
                  <a:gd name="connsiteY32" fmla="*/ 429246 h 523875"/>
                  <a:gd name="connsiteX33" fmla="*/ 238605 w 495300"/>
                  <a:gd name="connsiteY33" fmla="*/ 305421 h 523875"/>
                  <a:gd name="connsiteX34" fmla="*/ 76680 w 495300"/>
                  <a:gd name="connsiteY34" fmla="*/ 305421 h 523875"/>
                  <a:gd name="connsiteX35" fmla="*/ 57630 w 495300"/>
                  <a:gd name="connsiteY35" fmla="*/ 323519 h 523875"/>
                  <a:gd name="connsiteX36" fmla="*/ 57630 w 495300"/>
                  <a:gd name="connsiteY36" fmla="*/ 324471 h 523875"/>
                  <a:gd name="connsiteX37" fmla="*/ 57630 w 495300"/>
                  <a:gd name="connsiteY37" fmla="*/ 429246 h 523875"/>
                  <a:gd name="connsiteX38" fmla="*/ 76680 w 495300"/>
                  <a:gd name="connsiteY38" fmla="*/ 429246 h 523875"/>
                  <a:gd name="connsiteX39" fmla="*/ 95730 w 495300"/>
                  <a:gd name="connsiteY39" fmla="*/ 448296 h 523875"/>
                  <a:gd name="connsiteX40" fmla="*/ 95730 w 495300"/>
                  <a:gd name="connsiteY40" fmla="*/ 505446 h 523875"/>
                  <a:gd name="connsiteX41" fmla="*/ 76680 w 495300"/>
                  <a:gd name="connsiteY41" fmla="*/ 524496 h 523875"/>
                  <a:gd name="connsiteX42" fmla="*/ 19530 w 495300"/>
                  <a:gd name="connsiteY42" fmla="*/ 524496 h 523875"/>
                  <a:gd name="connsiteX43" fmla="*/ 480 w 495300"/>
                  <a:gd name="connsiteY43" fmla="*/ 505446 h 523875"/>
                  <a:gd name="connsiteX44" fmla="*/ 480 w 495300"/>
                  <a:gd name="connsiteY44" fmla="*/ 448296 h 523875"/>
                  <a:gd name="connsiteX45" fmla="*/ 19530 w 495300"/>
                  <a:gd name="connsiteY45" fmla="*/ 429246 h 523875"/>
                  <a:gd name="connsiteX46" fmla="*/ 38580 w 495300"/>
                  <a:gd name="connsiteY46" fmla="*/ 429246 h 523875"/>
                  <a:gd name="connsiteX47" fmla="*/ 38580 w 495300"/>
                  <a:gd name="connsiteY47" fmla="*/ 324471 h 523875"/>
                  <a:gd name="connsiteX48" fmla="*/ 74775 w 495300"/>
                  <a:gd name="connsiteY48" fmla="*/ 286371 h 523875"/>
                  <a:gd name="connsiteX49" fmla="*/ 76680 w 495300"/>
                  <a:gd name="connsiteY49" fmla="*/ 286371 h 523875"/>
                  <a:gd name="connsiteX50" fmla="*/ 238605 w 495300"/>
                  <a:gd name="connsiteY50" fmla="*/ 286371 h 523875"/>
                  <a:gd name="connsiteX51" fmla="*/ 238605 w 495300"/>
                  <a:gd name="connsiteY51" fmla="*/ 162546 h 523875"/>
                  <a:gd name="connsiteX52" fmla="*/ 124305 w 495300"/>
                  <a:gd name="connsiteY52" fmla="*/ 162546 h 523875"/>
                  <a:gd name="connsiteX53" fmla="*/ 95730 w 495300"/>
                  <a:gd name="connsiteY53" fmla="*/ 133971 h 523875"/>
                  <a:gd name="connsiteX54" fmla="*/ 95730 w 495300"/>
                  <a:gd name="connsiteY54" fmla="*/ 29196 h 523875"/>
                  <a:gd name="connsiteX55" fmla="*/ 124305 w 495300"/>
                  <a:gd name="connsiteY55" fmla="*/ 621 h 523875"/>
                  <a:gd name="connsiteX56" fmla="*/ 371955 w 495300"/>
                  <a:gd name="connsiteY56" fmla="*/ 621 h 523875"/>
                  <a:gd name="connsiteX57" fmla="*/ 148118 w 495300"/>
                  <a:gd name="connsiteY57" fmla="*/ 95871 h 523875"/>
                  <a:gd name="connsiteX58" fmla="*/ 133830 w 495300"/>
                  <a:gd name="connsiteY58" fmla="*/ 110159 h 523875"/>
                  <a:gd name="connsiteX59" fmla="*/ 148118 w 495300"/>
                  <a:gd name="connsiteY59" fmla="*/ 124446 h 523875"/>
                  <a:gd name="connsiteX60" fmla="*/ 162405 w 495300"/>
                  <a:gd name="connsiteY60" fmla="*/ 110159 h 523875"/>
                  <a:gd name="connsiteX61" fmla="*/ 148118 w 495300"/>
                  <a:gd name="connsiteY61" fmla="*/ 95871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95300" h="523875">
                    <a:moveTo>
                      <a:pt x="371955" y="621"/>
                    </a:moveTo>
                    <a:cubicBezTo>
                      <a:pt x="388148" y="621"/>
                      <a:pt x="400530" y="13004"/>
                      <a:pt x="400530" y="29196"/>
                    </a:cubicBezTo>
                    <a:lnTo>
                      <a:pt x="400530" y="133971"/>
                    </a:lnTo>
                    <a:cubicBezTo>
                      <a:pt x="400530" y="150164"/>
                      <a:pt x="388148" y="162546"/>
                      <a:pt x="371955" y="162546"/>
                    </a:cubicBezTo>
                    <a:lnTo>
                      <a:pt x="257655" y="162546"/>
                    </a:lnTo>
                    <a:lnTo>
                      <a:pt x="257655" y="286371"/>
                    </a:lnTo>
                    <a:lnTo>
                      <a:pt x="419580" y="286371"/>
                    </a:lnTo>
                    <a:cubicBezTo>
                      <a:pt x="439583" y="286371"/>
                      <a:pt x="456727" y="302564"/>
                      <a:pt x="457680" y="322566"/>
                    </a:cubicBezTo>
                    <a:lnTo>
                      <a:pt x="457680" y="324471"/>
                    </a:lnTo>
                    <a:lnTo>
                      <a:pt x="457680" y="429246"/>
                    </a:lnTo>
                    <a:lnTo>
                      <a:pt x="476730" y="429246"/>
                    </a:lnTo>
                    <a:cubicBezTo>
                      <a:pt x="487208" y="429246"/>
                      <a:pt x="495780" y="437819"/>
                      <a:pt x="495780" y="448296"/>
                    </a:cubicBezTo>
                    <a:lnTo>
                      <a:pt x="495780" y="505446"/>
                    </a:lnTo>
                    <a:cubicBezTo>
                      <a:pt x="495780" y="515924"/>
                      <a:pt x="487208" y="524496"/>
                      <a:pt x="476730" y="524496"/>
                    </a:cubicBezTo>
                    <a:lnTo>
                      <a:pt x="419580" y="524496"/>
                    </a:lnTo>
                    <a:cubicBezTo>
                      <a:pt x="409102" y="524496"/>
                      <a:pt x="400530" y="515924"/>
                      <a:pt x="400530" y="505446"/>
                    </a:cubicBezTo>
                    <a:lnTo>
                      <a:pt x="400530" y="448296"/>
                    </a:lnTo>
                    <a:cubicBezTo>
                      <a:pt x="400530" y="437819"/>
                      <a:pt x="409102" y="429246"/>
                      <a:pt x="419580" y="429246"/>
                    </a:cubicBezTo>
                    <a:lnTo>
                      <a:pt x="438630" y="429246"/>
                    </a:lnTo>
                    <a:lnTo>
                      <a:pt x="438630" y="324471"/>
                    </a:lnTo>
                    <a:cubicBezTo>
                      <a:pt x="438630" y="313994"/>
                      <a:pt x="431010" y="306374"/>
                      <a:pt x="420533" y="305421"/>
                    </a:cubicBezTo>
                    <a:lnTo>
                      <a:pt x="419580" y="305421"/>
                    </a:lnTo>
                    <a:lnTo>
                      <a:pt x="257655" y="305421"/>
                    </a:lnTo>
                    <a:lnTo>
                      <a:pt x="257655" y="429246"/>
                    </a:lnTo>
                    <a:lnTo>
                      <a:pt x="276705" y="429246"/>
                    </a:lnTo>
                    <a:cubicBezTo>
                      <a:pt x="287183" y="429246"/>
                      <a:pt x="295755" y="437819"/>
                      <a:pt x="295755" y="448296"/>
                    </a:cubicBezTo>
                    <a:lnTo>
                      <a:pt x="295755" y="505446"/>
                    </a:lnTo>
                    <a:cubicBezTo>
                      <a:pt x="295755" y="515924"/>
                      <a:pt x="287183" y="524496"/>
                      <a:pt x="276705" y="524496"/>
                    </a:cubicBezTo>
                    <a:lnTo>
                      <a:pt x="219555" y="524496"/>
                    </a:lnTo>
                    <a:cubicBezTo>
                      <a:pt x="209077" y="524496"/>
                      <a:pt x="200505" y="515924"/>
                      <a:pt x="200505" y="505446"/>
                    </a:cubicBezTo>
                    <a:lnTo>
                      <a:pt x="200505" y="448296"/>
                    </a:lnTo>
                    <a:cubicBezTo>
                      <a:pt x="200505" y="437819"/>
                      <a:pt x="209077" y="429246"/>
                      <a:pt x="219555" y="429246"/>
                    </a:cubicBezTo>
                    <a:lnTo>
                      <a:pt x="238605" y="429246"/>
                    </a:lnTo>
                    <a:lnTo>
                      <a:pt x="238605" y="305421"/>
                    </a:lnTo>
                    <a:lnTo>
                      <a:pt x="76680" y="305421"/>
                    </a:lnTo>
                    <a:cubicBezTo>
                      <a:pt x="66202" y="305421"/>
                      <a:pt x="58583" y="313041"/>
                      <a:pt x="57630" y="323519"/>
                    </a:cubicBezTo>
                    <a:lnTo>
                      <a:pt x="57630" y="324471"/>
                    </a:lnTo>
                    <a:lnTo>
                      <a:pt x="57630" y="429246"/>
                    </a:lnTo>
                    <a:lnTo>
                      <a:pt x="76680" y="429246"/>
                    </a:lnTo>
                    <a:cubicBezTo>
                      <a:pt x="87158" y="429246"/>
                      <a:pt x="95730" y="437819"/>
                      <a:pt x="95730" y="448296"/>
                    </a:cubicBezTo>
                    <a:lnTo>
                      <a:pt x="95730" y="505446"/>
                    </a:lnTo>
                    <a:cubicBezTo>
                      <a:pt x="95730" y="515924"/>
                      <a:pt x="87158" y="524496"/>
                      <a:pt x="76680" y="524496"/>
                    </a:cubicBezTo>
                    <a:lnTo>
                      <a:pt x="19530" y="524496"/>
                    </a:lnTo>
                    <a:cubicBezTo>
                      <a:pt x="9052" y="524496"/>
                      <a:pt x="480" y="515924"/>
                      <a:pt x="480" y="505446"/>
                    </a:cubicBezTo>
                    <a:lnTo>
                      <a:pt x="480" y="448296"/>
                    </a:lnTo>
                    <a:cubicBezTo>
                      <a:pt x="480" y="437819"/>
                      <a:pt x="9052" y="429246"/>
                      <a:pt x="19530" y="429246"/>
                    </a:cubicBezTo>
                    <a:lnTo>
                      <a:pt x="38580" y="429246"/>
                    </a:lnTo>
                    <a:lnTo>
                      <a:pt x="38580" y="324471"/>
                    </a:lnTo>
                    <a:cubicBezTo>
                      <a:pt x="38580" y="304469"/>
                      <a:pt x="54773" y="287324"/>
                      <a:pt x="74775" y="286371"/>
                    </a:cubicBezTo>
                    <a:lnTo>
                      <a:pt x="76680" y="286371"/>
                    </a:lnTo>
                    <a:lnTo>
                      <a:pt x="238605" y="286371"/>
                    </a:lnTo>
                    <a:lnTo>
                      <a:pt x="238605" y="162546"/>
                    </a:lnTo>
                    <a:lnTo>
                      <a:pt x="124305" y="162546"/>
                    </a:lnTo>
                    <a:cubicBezTo>
                      <a:pt x="108112" y="162546"/>
                      <a:pt x="95730" y="150164"/>
                      <a:pt x="95730" y="133971"/>
                    </a:cubicBezTo>
                    <a:lnTo>
                      <a:pt x="95730" y="29196"/>
                    </a:lnTo>
                    <a:cubicBezTo>
                      <a:pt x="95730" y="13004"/>
                      <a:pt x="108112" y="621"/>
                      <a:pt x="124305" y="621"/>
                    </a:cubicBezTo>
                    <a:lnTo>
                      <a:pt x="371955" y="621"/>
                    </a:lnTo>
                    <a:close/>
                    <a:moveTo>
                      <a:pt x="148118" y="95871"/>
                    </a:moveTo>
                    <a:cubicBezTo>
                      <a:pt x="140498" y="95871"/>
                      <a:pt x="133830" y="102539"/>
                      <a:pt x="133830" y="110159"/>
                    </a:cubicBezTo>
                    <a:cubicBezTo>
                      <a:pt x="133830" y="117779"/>
                      <a:pt x="140498" y="124446"/>
                      <a:pt x="148118" y="124446"/>
                    </a:cubicBezTo>
                    <a:cubicBezTo>
                      <a:pt x="155737" y="124446"/>
                      <a:pt x="162405" y="117779"/>
                      <a:pt x="162405" y="110159"/>
                    </a:cubicBezTo>
                    <a:cubicBezTo>
                      <a:pt x="162405" y="102539"/>
                      <a:pt x="155737" y="95871"/>
                      <a:pt x="148118" y="95871"/>
                    </a:cubicBezTo>
                    <a:close/>
                  </a:path>
                </a:pathLst>
              </a:custGeom>
              <a:solidFill>
                <a:srgbClr val="FFFFFF"/>
              </a:solidFill>
              <a:ln w="9525" cap="flat">
                <a:noFill/>
                <a:prstDash val="solid"/>
                <a:miter/>
              </a:ln>
            </p:spPr>
            <p:txBody>
              <a:bodyPr rtlCol="0"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25" name="Body-2">
                <a:extLst>
                  <a:ext uri="{FF2B5EF4-FFF2-40B4-BE49-F238E27FC236}">
                    <a16:creationId xmlns:a16="http://schemas.microsoft.com/office/drawing/2014/main" id="{2C1AB564-1E0B-93AB-8AAF-771AA891FC9F}"/>
                  </a:ext>
                </a:extLst>
              </p:cNvPr>
              <p:cNvSpPr>
                <a:spLocks/>
              </p:cNvSpPr>
              <p:nvPr>
                <p:custDataLst>
                  <p:tags r:id="rId12"/>
                </p:custDataLst>
              </p:nvPr>
            </p:nvSpPr>
            <p:spPr>
              <a:xfrm>
                <a:off x="2913387" y="1824124"/>
                <a:ext cx="1884036" cy="14949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30000"/>
                  </a:lnSpc>
                  <a:buSzPct val="100000"/>
                  <a:buFont typeface="Arial" panose="020B0604020202020204" pitchFamily="34" charset="0"/>
                  <a:buChar char="•"/>
                  <a:defRPr/>
                </a:pPr>
                <a:r>
                  <a:rPr kumimoji="0" lang="en-US" altLang="zh-CN" sz="1400" b="1" i="0" u="none" strike="noStrike" kern="1200" cap="none" spc="0" normalizeH="0" baseline="0" noProof="0" dirty="0">
                    <a:ln>
                      <a:noFill/>
                    </a:ln>
                    <a:solidFill>
                      <a:srgbClr val="00B0F0"/>
                    </a:solidFill>
                    <a:effectLst/>
                    <a:uLnTx/>
                    <a:uFillTx/>
                    <a:latin typeface="Arial" panose="020B0604020202020204" pitchFamily="34" charset="0"/>
                    <a:ea typeface="微软雅黑" panose="020B0503020204020204" pitchFamily="34" charset="-122"/>
                  </a:rPr>
                  <a:t>MP</a:t>
                </a:r>
                <a:r>
                  <a:rPr kumimoji="0" lang="zh-CN" altLang="en-US" sz="1400" b="1" i="0" u="none" strike="noStrike" kern="1200" cap="none" spc="0" normalizeH="0" baseline="0" noProof="0" dirty="0">
                    <a:ln>
                      <a:noFill/>
                    </a:ln>
                    <a:solidFill>
                      <a:srgbClr val="00B0F0"/>
                    </a:solidFill>
                    <a:effectLst/>
                    <a:uLnTx/>
                    <a:uFillTx/>
                    <a:latin typeface="Arial" panose="020B0604020202020204" pitchFamily="34" charset="0"/>
                    <a:ea typeface="微软雅黑" panose="020B0503020204020204" pitchFamily="34" charset="-122"/>
                  </a:rPr>
                  <a:t>统筹资源规划与战略协同</a:t>
                </a:r>
              </a:p>
              <a:p>
                <a:pPr marL="285750" indent="-285750" defTabSz="913765">
                  <a:lnSpc>
                    <a:spcPct val="130000"/>
                  </a:lnSpc>
                  <a:buSzPct val="100000"/>
                  <a:buFont typeface="Arial" panose="020B0604020202020204" pitchFamily="34" charset="0"/>
                  <a:buChar char="•"/>
                  <a:defRPr/>
                </a:pPr>
                <a:r>
                  <a:rPr kumimoji="0" lang="en-US" altLang="zh-CN" sz="1400" b="1" i="0" u="none" strike="noStrike" kern="1200" cap="none" spc="0" normalizeH="0" baseline="0" noProof="0" dirty="0">
                    <a:ln>
                      <a:noFill/>
                    </a:ln>
                    <a:solidFill>
                      <a:srgbClr val="00B0F0"/>
                    </a:solidFill>
                    <a:effectLst/>
                    <a:uLnTx/>
                    <a:uFillTx/>
                    <a:latin typeface="Arial" panose="020B0604020202020204" pitchFamily="34" charset="0"/>
                    <a:ea typeface="微软雅黑" panose="020B0503020204020204" pitchFamily="34" charset="-122"/>
                  </a:rPr>
                  <a:t>MP</a:t>
                </a:r>
                <a:r>
                  <a:rPr kumimoji="0" lang="zh-CN" altLang="en-US" sz="1400" b="1" i="0" u="none" strike="noStrike" kern="1200" cap="none" spc="0" normalizeH="0" baseline="0" noProof="0" dirty="0">
                    <a:ln>
                      <a:noFill/>
                    </a:ln>
                    <a:solidFill>
                      <a:srgbClr val="00B0F0"/>
                    </a:solidFill>
                    <a:effectLst/>
                    <a:uLnTx/>
                    <a:uFillTx/>
                    <a:latin typeface="Arial" panose="020B0604020202020204" pitchFamily="34" charset="0"/>
                    <a:ea typeface="微软雅黑" panose="020B0503020204020204" pitchFamily="34" charset="-122"/>
                  </a:rPr>
                  <a:t>与执行计划协同协奏</a:t>
                </a:r>
              </a:p>
              <a:p>
                <a:pPr marL="285750" indent="-285750" defTabSz="913765">
                  <a:lnSpc>
                    <a:spcPct val="130000"/>
                  </a:lnSpc>
                  <a:buSzPct val="100000"/>
                  <a:buFont typeface="Arial" panose="020B0604020202020204" pitchFamily="34" charset="0"/>
                  <a:buChar char="•"/>
                  <a:defRPr/>
                </a:pPr>
                <a:r>
                  <a:rPr kumimoji="0" lang="zh-CN" altLang="en-US" sz="1400" b="1" i="0" u="none" strike="noStrike" kern="1200" cap="none" spc="0" normalizeH="0" baseline="0" noProof="0" dirty="0">
                    <a:ln>
                      <a:noFill/>
                    </a:ln>
                    <a:solidFill>
                      <a:srgbClr val="00B0F0"/>
                    </a:solidFill>
                    <a:effectLst/>
                    <a:uLnTx/>
                    <a:uFillTx/>
                    <a:latin typeface="Arial" panose="020B0604020202020204" pitchFamily="34" charset="0"/>
                    <a:ea typeface="微软雅黑" panose="020B0503020204020204" pitchFamily="34" charset="-122"/>
                  </a:rPr>
                  <a:t>供应商深度协同</a:t>
                </a:r>
                <a:endParaRPr kumimoji="0" lang="en-GB" altLang="zh-CN" sz="1400" b="1" i="0" u="none" strike="noStrike" kern="1200" cap="none" spc="0" normalizeH="0" baseline="0" noProof="0" dirty="0">
                  <a:ln>
                    <a:noFill/>
                  </a:ln>
                  <a:solidFill>
                    <a:srgbClr val="00B0F0"/>
                  </a:solidFill>
                  <a:effectLst/>
                  <a:uLnTx/>
                  <a:uFillTx/>
                  <a:latin typeface="Arial" panose="020B0604020202020204" pitchFamily="34" charset="0"/>
                  <a:ea typeface="微软雅黑" panose="020B0503020204020204" pitchFamily="34" charset="-122"/>
                </a:endParaRPr>
              </a:p>
            </p:txBody>
          </p:sp>
        </p:grpSp>
        <p:grpSp>
          <p:nvGrpSpPr>
            <p:cNvPr id="15" name="组合 14">
              <a:extLst>
                <a:ext uri="{FF2B5EF4-FFF2-40B4-BE49-F238E27FC236}">
                  <a16:creationId xmlns:a16="http://schemas.microsoft.com/office/drawing/2014/main" id="{F692982D-C14C-37FF-B082-FF15132FB885}"/>
                </a:ext>
              </a:extLst>
            </p:cNvPr>
            <p:cNvGrpSpPr/>
            <p:nvPr/>
          </p:nvGrpSpPr>
          <p:grpSpPr>
            <a:xfrm>
              <a:off x="4241482" y="1945516"/>
              <a:ext cx="1970484" cy="3417364"/>
              <a:chOff x="4241482" y="1945516"/>
              <a:chExt cx="1970484" cy="3417364"/>
            </a:xfrm>
          </p:grpSpPr>
          <p:sp>
            <p:nvSpPr>
              <p:cNvPr id="16" name="Title-3">
                <a:extLst>
                  <a:ext uri="{FF2B5EF4-FFF2-40B4-BE49-F238E27FC236}">
                    <a16:creationId xmlns:a16="http://schemas.microsoft.com/office/drawing/2014/main" id="{FCC9C929-4FD0-A32B-AE0F-F5AC9A0CEB6C}"/>
                  </a:ext>
                </a:extLst>
              </p:cNvPr>
              <p:cNvSpPr/>
              <p:nvPr>
                <p:custDataLst>
                  <p:tags r:id="rId3"/>
                </p:custDataLst>
              </p:nvPr>
            </p:nvSpPr>
            <p:spPr>
              <a:xfrm>
                <a:off x="4344893" y="3214129"/>
                <a:ext cx="1758833" cy="485932"/>
              </a:xfrm>
              <a:prstGeom prst="chevron">
                <a:avLst/>
              </a:prstGeom>
              <a:solidFill>
                <a:schemeClr val="accent3"/>
              </a:solidFill>
              <a:ln w="12700" cap="flat">
                <a:noFill/>
                <a:prstDash val="solid"/>
                <a:miter/>
              </a:ln>
              <a:effectLst>
                <a:outerShdw blurRad="127000" dist="63500" dir="2700000" algn="tl" rotWithShape="0">
                  <a:schemeClr val="accent3">
                    <a:alpha val="40000"/>
                  </a:schemeClr>
                </a:outerShdw>
              </a:effectLst>
            </p:spPr>
            <p:txBody>
              <a:bodyPr rtlCol="0" anchor="ctr"/>
              <a:lstStyle/>
              <a:p>
                <a:pPr algn="ctr"/>
                <a:r>
                  <a:rPr lang="en-US" altLang="zh-CN" b="1">
                    <a:latin typeface="Arial" panose="020B0604020202020204" pitchFamily="34" charset="0"/>
                    <a:ea typeface="微软雅黑" panose="020B0503020204020204" pitchFamily="34" charset="-122"/>
                  </a:rPr>
                  <a:t>IBP &amp; Total Control Tower</a:t>
                </a:r>
                <a:endParaRPr lang="en-US" altLang="zh-CN" b="1" dirty="0">
                  <a:latin typeface="Arial" panose="020B0604020202020204" pitchFamily="34" charset="0"/>
                  <a:ea typeface="微软雅黑" panose="020B0503020204020204" pitchFamily="34" charset="-122"/>
                </a:endParaRPr>
              </a:p>
            </p:txBody>
          </p:sp>
          <p:cxnSp>
            <p:nvCxnSpPr>
              <p:cNvPr id="17" name="3">
                <a:extLst>
                  <a:ext uri="{FF2B5EF4-FFF2-40B4-BE49-F238E27FC236}">
                    <a16:creationId xmlns:a16="http://schemas.microsoft.com/office/drawing/2014/main" id="{C84E8BD5-1300-54E5-91E7-EEA9C157CACA}"/>
                  </a:ext>
                </a:extLst>
              </p:cNvPr>
              <p:cNvCxnSpPr>
                <a:cxnSpLocks/>
              </p:cNvCxnSpPr>
              <p:nvPr>
                <p:custDataLst>
                  <p:tags r:id="rId4"/>
                </p:custDataLst>
              </p:nvPr>
            </p:nvCxnSpPr>
            <p:spPr>
              <a:xfrm flipV="1">
                <a:off x="5224309" y="2487094"/>
                <a:ext cx="1" cy="727194"/>
              </a:xfrm>
              <a:prstGeom prst="line">
                <a:avLst/>
              </a:prstGeom>
              <a:ln w="9525">
                <a:solidFill>
                  <a:schemeClr val="bg1">
                    <a:lumMod val="75000"/>
                  </a:schemeClr>
                </a:solidFill>
                <a:headEnd type="oval"/>
              </a:ln>
              <a:effectLst/>
            </p:spPr>
            <p:style>
              <a:lnRef idx="2">
                <a:schemeClr val="accent1"/>
              </a:lnRef>
              <a:fillRef idx="0">
                <a:schemeClr val="accent1"/>
              </a:fillRef>
              <a:effectRef idx="1">
                <a:schemeClr val="accent1"/>
              </a:effectRef>
              <a:fontRef idx="minor">
                <a:schemeClr val="tx1"/>
              </a:fontRef>
            </p:style>
          </p:cxnSp>
          <p:sp>
            <p:nvSpPr>
              <p:cNvPr id="18" name="3">
                <a:extLst>
                  <a:ext uri="{FF2B5EF4-FFF2-40B4-BE49-F238E27FC236}">
                    <a16:creationId xmlns:a16="http://schemas.microsoft.com/office/drawing/2014/main" id="{6CB50E85-6BF1-A72D-675D-00D650C59C80}"/>
                  </a:ext>
                </a:extLst>
              </p:cNvPr>
              <p:cNvSpPr txBox="1">
                <a:spLocks noChangeAspect="1"/>
              </p:cNvSpPr>
              <p:nvPr>
                <p:custDataLst>
                  <p:tags r:id="rId5"/>
                </p:custDataLst>
              </p:nvPr>
            </p:nvSpPr>
            <p:spPr>
              <a:xfrm>
                <a:off x="4954309" y="1945516"/>
                <a:ext cx="540000" cy="540000"/>
              </a:xfrm>
              <a:prstGeom prst="roundRect">
                <a:avLst>
                  <a:gd name="adj" fmla="val 50000"/>
                </a:avLst>
              </a:prstGeom>
              <a:solidFill>
                <a:schemeClr val="accent3"/>
              </a:solidFill>
              <a:ln w="12700" cap="flat">
                <a:noFill/>
                <a:prstDash val="solid"/>
                <a:miter/>
              </a:ln>
              <a:effectLst>
                <a:outerShdw blurRad="127000" dist="63500" dir="2700000" algn="tl" rotWithShape="0">
                  <a:schemeClr val="accent3">
                    <a:alpha val="40000"/>
                  </a:schemeClr>
                </a:outerShdw>
              </a:effectLst>
            </p:spPr>
            <p:txBody>
              <a:bodyPr rtlCol="0" anchor="ctr"/>
              <a:lstStyle>
                <a:defPPr>
                  <a:defRPr lang="zh-CN"/>
                </a:defPPr>
                <a:lvl1pPr>
                  <a:defRPr>
                    <a:latin typeface="Arial" panose="020B0604020202020204" pitchFamily="34" charset="0"/>
                    <a:ea typeface="微软雅黑" panose="020B0503020204020204" pitchFamily="34" charset="-122"/>
                  </a:defRPr>
                </a:lvl1pPr>
              </a:lstStyle>
              <a:p>
                <a:endParaRPr lang="zh-CN" altLang="en-US" dirty="0">
                  <a:sym typeface="Arial" panose="020B0604020202020204" pitchFamily="34" charset="0"/>
                </a:endParaRPr>
              </a:p>
            </p:txBody>
          </p:sp>
          <p:sp>
            <p:nvSpPr>
              <p:cNvPr id="19" name="3">
                <a:extLst>
                  <a:ext uri="{FF2B5EF4-FFF2-40B4-BE49-F238E27FC236}">
                    <a16:creationId xmlns:a16="http://schemas.microsoft.com/office/drawing/2014/main" id="{722F1CE5-C806-492D-1BAB-E4D244B4B3BA}"/>
                  </a:ext>
                </a:extLst>
              </p:cNvPr>
              <p:cNvSpPr/>
              <p:nvPr>
                <p:custDataLst>
                  <p:tags r:id="rId6"/>
                </p:custDataLst>
              </p:nvPr>
            </p:nvSpPr>
            <p:spPr>
              <a:xfrm>
                <a:off x="5086606" y="2112239"/>
                <a:ext cx="275406" cy="206554"/>
              </a:xfrm>
              <a:custGeom>
                <a:avLst/>
                <a:gdLst>
                  <a:gd name="connsiteX0" fmla="*/ 505433 w 533400"/>
                  <a:gd name="connsiteY0" fmla="*/ 621 h 400050"/>
                  <a:gd name="connsiteX1" fmla="*/ 534008 w 533400"/>
                  <a:gd name="connsiteY1" fmla="*/ 29196 h 400050"/>
                  <a:gd name="connsiteX2" fmla="*/ 534008 w 533400"/>
                  <a:gd name="connsiteY2" fmla="*/ 372096 h 400050"/>
                  <a:gd name="connsiteX3" fmla="*/ 505433 w 533400"/>
                  <a:gd name="connsiteY3" fmla="*/ 400671 h 400050"/>
                  <a:gd name="connsiteX4" fmla="*/ 29183 w 533400"/>
                  <a:gd name="connsiteY4" fmla="*/ 400671 h 400050"/>
                  <a:gd name="connsiteX5" fmla="*/ 608 w 533400"/>
                  <a:gd name="connsiteY5" fmla="*/ 372096 h 400050"/>
                  <a:gd name="connsiteX6" fmla="*/ 608 w 533400"/>
                  <a:gd name="connsiteY6" fmla="*/ 29196 h 400050"/>
                  <a:gd name="connsiteX7" fmla="*/ 29183 w 533400"/>
                  <a:gd name="connsiteY7" fmla="*/ 621 h 400050"/>
                  <a:gd name="connsiteX8" fmla="*/ 505433 w 533400"/>
                  <a:gd name="connsiteY8" fmla="*/ 621 h 400050"/>
                  <a:gd name="connsiteX9" fmla="*/ 391133 w 533400"/>
                  <a:gd name="connsiteY9" fmla="*/ 198741 h 400050"/>
                  <a:gd name="connsiteX10" fmla="*/ 351128 w 533400"/>
                  <a:gd name="connsiteY10" fmla="*/ 204456 h 400050"/>
                  <a:gd name="connsiteX11" fmla="*/ 351128 w 533400"/>
                  <a:gd name="connsiteY11" fmla="*/ 204456 h 400050"/>
                  <a:gd name="connsiteX12" fmla="*/ 267308 w 533400"/>
                  <a:gd name="connsiteY12" fmla="*/ 315899 h 400050"/>
                  <a:gd name="connsiteX13" fmla="*/ 264451 w 533400"/>
                  <a:gd name="connsiteY13" fmla="*/ 318756 h 400050"/>
                  <a:gd name="connsiteX14" fmla="*/ 224446 w 533400"/>
                  <a:gd name="connsiteY14" fmla="*/ 318756 h 400050"/>
                  <a:gd name="connsiteX15" fmla="*/ 224446 w 533400"/>
                  <a:gd name="connsiteY15" fmla="*/ 318756 h 400050"/>
                  <a:gd name="connsiteX16" fmla="*/ 162533 w 533400"/>
                  <a:gd name="connsiteY16" fmla="*/ 257796 h 400050"/>
                  <a:gd name="connsiteX17" fmla="*/ 160628 w 533400"/>
                  <a:gd name="connsiteY17" fmla="*/ 255891 h 400050"/>
                  <a:gd name="connsiteX18" fmla="*/ 120623 w 533400"/>
                  <a:gd name="connsiteY18" fmla="*/ 259701 h 400050"/>
                  <a:gd name="connsiteX19" fmla="*/ 120623 w 533400"/>
                  <a:gd name="connsiteY19" fmla="*/ 259701 h 400050"/>
                  <a:gd name="connsiteX20" fmla="*/ 32993 w 533400"/>
                  <a:gd name="connsiteY20" fmla="*/ 366381 h 400050"/>
                  <a:gd name="connsiteX21" fmla="*/ 31088 w 533400"/>
                  <a:gd name="connsiteY21" fmla="*/ 372096 h 400050"/>
                  <a:gd name="connsiteX22" fmla="*/ 40613 w 533400"/>
                  <a:gd name="connsiteY22" fmla="*/ 381621 h 400050"/>
                  <a:gd name="connsiteX23" fmla="*/ 40613 w 533400"/>
                  <a:gd name="connsiteY23" fmla="*/ 381621 h 400050"/>
                  <a:gd name="connsiteX24" fmla="*/ 497813 w 533400"/>
                  <a:gd name="connsiteY24" fmla="*/ 381621 h 400050"/>
                  <a:gd name="connsiteX25" fmla="*/ 503528 w 533400"/>
                  <a:gd name="connsiteY25" fmla="*/ 379716 h 400050"/>
                  <a:gd name="connsiteX26" fmla="*/ 506386 w 533400"/>
                  <a:gd name="connsiteY26" fmla="*/ 366381 h 400050"/>
                  <a:gd name="connsiteX27" fmla="*/ 506386 w 533400"/>
                  <a:gd name="connsiteY27" fmla="*/ 366381 h 400050"/>
                  <a:gd name="connsiteX28" fmla="*/ 398753 w 533400"/>
                  <a:gd name="connsiteY28" fmla="*/ 205409 h 400050"/>
                  <a:gd name="connsiteX29" fmla="*/ 391133 w 533400"/>
                  <a:gd name="connsiteY29" fmla="*/ 198741 h 400050"/>
                  <a:gd name="connsiteX30" fmla="*/ 95858 w 533400"/>
                  <a:gd name="connsiteY30" fmla="*/ 57771 h 400050"/>
                  <a:gd name="connsiteX31" fmla="*/ 57758 w 533400"/>
                  <a:gd name="connsiteY31" fmla="*/ 95871 h 400050"/>
                  <a:gd name="connsiteX32" fmla="*/ 95858 w 533400"/>
                  <a:gd name="connsiteY32" fmla="*/ 133971 h 400050"/>
                  <a:gd name="connsiteX33" fmla="*/ 133958 w 533400"/>
                  <a:gd name="connsiteY33" fmla="*/ 95871 h 400050"/>
                  <a:gd name="connsiteX34" fmla="*/ 95858 w 533400"/>
                  <a:gd name="connsiteY34" fmla="*/ 57771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33400" h="400050">
                    <a:moveTo>
                      <a:pt x="505433" y="621"/>
                    </a:moveTo>
                    <a:cubicBezTo>
                      <a:pt x="521626" y="621"/>
                      <a:pt x="534008" y="13004"/>
                      <a:pt x="534008" y="29196"/>
                    </a:cubicBezTo>
                    <a:lnTo>
                      <a:pt x="534008" y="372096"/>
                    </a:lnTo>
                    <a:cubicBezTo>
                      <a:pt x="534008" y="388289"/>
                      <a:pt x="521626" y="400671"/>
                      <a:pt x="505433" y="400671"/>
                    </a:cubicBezTo>
                    <a:lnTo>
                      <a:pt x="29183" y="400671"/>
                    </a:lnTo>
                    <a:cubicBezTo>
                      <a:pt x="12990" y="400671"/>
                      <a:pt x="608" y="388289"/>
                      <a:pt x="608" y="372096"/>
                    </a:cubicBezTo>
                    <a:lnTo>
                      <a:pt x="608" y="29196"/>
                    </a:lnTo>
                    <a:cubicBezTo>
                      <a:pt x="608" y="13004"/>
                      <a:pt x="12990" y="621"/>
                      <a:pt x="29183" y="621"/>
                    </a:cubicBezTo>
                    <a:lnTo>
                      <a:pt x="505433" y="621"/>
                    </a:lnTo>
                    <a:close/>
                    <a:moveTo>
                      <a:pt x="391133" y="198741"/>
                    </a:moveTo>
                    <a:cubicBezTo>
                      <a:pt x="378751" y="189216"/>
                      <a:pt x="360653" y="192074"/>
                      <a:pt x="351128" y="204456"/>
                    </a:cubicBezTo>
                    <a:lnTo>
                      <a:pt x="351128" y="204456"/>
                    </a:lnTo>
                    <a:lnTo>
                      <a:pt x="267308" y="315899"/>
                    </a:lnTo>
                    <a:cubicBezTo>
                      <a:pt x="266355" y="316851"/>
                      <a:pt x="265403" y="317804"/>
                      <a:pt x="264451" y="318756"/>
                    </a:cubicBezTo>
                    <a:cubicBezTo>
                      <a:pt x="253021" y="330186"/>
                      <a:pt x="234923" y="330186"/>
                      <a:pt x="224446" y="318756"/>
                    </a:cubicBezTo>
                    <a:lnTo>
                      <a:pt x="224446" y="318756"/>
                    </a:lnTo>
                    <a:lnTo>
                      <a:pt x="162533" y="257796"/>
                    </a:lnTo>
                    <a:cubicBezTo>
                      <a:pt x="161580" y="256844"/>
                      <a:pt x="161580" y="256844"/>
                      <a:pt x="160628" y="255891"/>
                    </a:cubicBezTo>
                    <a:cubicBezTo>
                      <a:pt x="148246" y="245414"/>
                      <a:pt x="130148" y="247319"/>
                      <a:pt x="120623" y="259701"/>
                    </a:cubicBezTo>
                    <a:lnTo>
                      <a:pt x="120623" y="259701"/>
                    </a:lnTo>
                    <a:lnTo>
                      <a:pt x="32993" y="366381"/>
                    </a:lnTo>
                    <a:cubicBezTo>
                      <a:pt x="32040" y="368286"/>
                      <a:pt x="31088" y="370191"/>
                      <a:pt x="31088" y="372096"/>
                    </a:cubicBezTo>
                    <a:cubicBezTo>
                      <a:pt x="31088" y="377811"/>
                      <a:pt x="34898" y="381621"/>
                      <a:pt x="40613" y="381621"/>
                    </a:cubicBezTo>
                    <a:lnTo>
                      <a:pt x="40613" y="381621"/>
                    </a:lnTo>
                    <a:lnTo>
                      <a:pt x="497813" y="381621"/>
                    </a:lnTo>
                    <a:cubicBezTo>
                      <a:pt x="499718" y="381621"/>
                      <a:pt x="501623" y="380669"/>
                      <a:pt x="503528" y="379716"/>
                    </a:cubicBezTo>
                    <a:cubicBezTo>
                      <a:pt x="508290" y="376859"/>
                      <a:pt x="509243" y="371144"/>
                      <a:pt x="506386" y="366381"/>
                    </a:cubicBezTo>
                    <a:lnTo>
                      <a:pt x="506386" y="366381"/>
                    </a:lnTo>
                    <a:lnTo>
                      <a:pt x="398753" y="205409"/>
                    </a:lnTo>
                    <a:cubicBezTo>
                      <a:pt x="395896" y="202551"/>
                      <a:pt x="393990" y="200646"/>
                      <a:pt x="391133" y="198741"/>
                    </a:cubicBezTo>
                    <a:close/>
                    <a:moveTo>
                      <a:pt x="95858" y="57771"/>
                    </a:moveTo>
                    <a:cubicBezTo>
                      <a:pt x="74903" y="57771"/>
                      <a:pt x="57758" y="74916"/>
                      <a:pt x="57758" y="95871"/>
                    </a:cubicBezTo>
                    <a:cubicBezTo>
                      <a:pt x="57758" y="116826"/>
                      <a:pt x="74903" y="133971"/>
                      <a:pt x="95858" y="133971"/>
                    </a:cubicBezTo>
                    <a:cubicBezTo>
                      <a:pt x="116813" y="133971"/>
                      <a:pt x="133958" y="116826"/>
                      <a:pt x="133958" y="95871"/>
                    </a:cubicBezTo>
                    <a:cubicBezTo>
                      <a:pt x="133958" y="74916"/>
                      <a:pt x="116813" y="57771"/>
                      <a:pt x="95858" y="57771"/>
                    </a:cubicBezTo>
                    <a:close/>
                  </a:path>
                </a:pathLst>
              </a:custGeom>
              <a:solidFill>
                <a:srgbClr val="FFFFFF"/>
              </a:solidFill>
              <a:ln w="9525" cap="flat">
                <a:noFill/>
                <a:prstDash val="solid"/>
                <a:miter/>
              </a:ln>
            </p:spPr>
            <p:txBody>
              <a:bodyPr rtlCol="0"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20" name="Body-3">
                <a:extLst>
                  <a:ext uri="{FF2B5EF4-FFF2-40B4-BE49-F238E27FC236}">
                    <a16:creationId xmlns:a16="http://schemas.microsoft.com/office/drawing/2014/main" id="{0973B218-F95E-0208-455B-9D6F27982437}"/>
                  </a:ext>
                </a:extLst>
              </p:cNvPr>
              <p:cNvSpPr>
                <a:spLocks/>
              </p:cNvSpPr>
              <p:nvPr>
                <p:custDataLst>
                  <p:tags r:id="rId7"/>
                </p:custDataLst>
              </p:nvPr>
            </p:nvSpPr>
            <p:spPr>
              <a:xfrm>
                <a:off x="4241482" y="3867918"/>
                <a:ext cx="1970484" cy="14949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市场营销，财务，营销战略的层面协同</a:t>
                </a:r>
              </a:p>
              <a:p>
                <a:pPr marL="285750" indent="-285750" defTabSz="913765">
                  <a:lnSpc>
                    <a:spcPct val="130000"/>
                  </a:lnSpc>
                  <a:buSzPct val="100000"/>
                  <a:buFont typeface="Arial" panose="020B0604020202020204" pitchFamily="34" charset="0"/>
                  <a:buChar char="•"/>
                  <a:defRPr/>
                </a:pP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95%</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自主决策的横纵协同</a:t>
                </a:r>
              </a:p>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最佳实践的一致性决策</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p:txBody>
          </p:sp>
        </p:grpSp>
      </p:grpSp>
    </p:spTree>
    <p:extLst>
      <p:ext uri="{BB962C8B-B14F-4D97-AF65-F5344CB8AC3E}">
        <p14:creationId xmlns:p14="http://schemas.microsoft.com/office/powerpoint/2010/main" val="3952983950"/>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FB3300B-DA7E-44D0-2AD7-C8292FD6E050}"/>
              </a:ext>
            </a:extLst>
          </p:cNvPr>
          <p:cNvSpPr>
            <a:spLocks noGrp="1"/>
          </p:cNvSpPr>
          <p:nvPr>
            <p:ph type="title"/>
          </p:nvPr>
        </p:nvSpPr>
        <p:spPr/>
        <p:txBody>
          <a:bodyPr/>
          <a:lstStyle/>
          <a:p>
            <a:r>
              <a:rPr lang="zh-CN" altLang="en-US" dirty="0"/>
              <a:t>总设计师与精英团队</a:t>
            </a:r>
          </a:p>
        </p:txBody>
      </p:sp>
    </p:spTree>
    <p:extLst>
      <p:ext uri="{BB962C8B-B14F-4D97-AF65-F5344CB8AC3E}">
        <p14:creationId xmlns:p14="http://schemas.microsoft.com/office/powerpoint/2010/main" val="320428070"/>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98C558C-D14A-89CA-B1C8-FB9CA31795CD}"/>
              </a:ext>
            </a:extLst>
          </p:cNvPr>
          <p:cNvSpPr>
            <a:spLocks noGrp="1"/>
          </p:cNvSpPr>
          <p:nvPr>
            <p:ph type="title"/>
          </p:nvPr>
        </p:nvSpPr>
        <p:spPr>
          <a:xfrm>
            <a:off x="666750" y="-242874"/>
            <a:ext cx="10858500" cy="900112"/>
          </a:xfrm>
        </p:spPr>
        <p:txBody>
          <a:bodyPr>
            <a:normAutofit/>
          </a:bodyPr>
          <a:lstStyle/>
          <a:p>
            <a:r>
              <a:rPr lang="zh-CN" altLang="en-US" dirty="0">
                <a:latin typeface="Arial" panose="020B0604020202020204" pitchFamily="34" charset="0"/>
                <a:ea typeface="微软雅黑" panose="020B0503020204020204" pitchFamily="34" charset="-122"/>
              </a:rPr>
              <a:t>数字化转型的本质是能力建设，而非工具实施或流程重组</a:t>
            </a:r>
          </a:p>
        </p:txBody>
      </p:sp>
      <p:sp>
        <p:nvSpPr>
          <p:cNvPr id="3" name="文本框 2">
            <a:extLst>
              <a:ext uri="{FF2B5EF4-FFF2-40B4-BE49-F238E27FC236}">
                <a16:creationId xmlns:a16="http://schemas.microsoft.com/office/drawing/2014/main" id="{5ABBB1B0-8FF3-9A6A-C4C3-7E09B723B035}"/>
              </a:ext>
            </a:extLst>
          </p:cNvPr>
          <p:cNvSpPr txBox="1"/>
          <p:nvPr/>
        </p:nvSpPr>
        <p:spPr>
          <a:xfrm>
            <a:off x="1182283" y="875152"/>
            <a:ext cx="8763676" cy="1015663"/>
          </a:xfrm>
          <a:prstGeom prst="rect">
            <a:avLst/>
          </a:prstGeom>
          <a:noFill/>
        </p:spPr>
        <p:txBody>
          <a:bodyPr wrap="square" rtlCol="0">
            <a:spAutoFit/>
          </a:bodyPr>
          <a:lstStyle/>
          <a:p>
            <a:r>
              <a:rPr lang="zh-CN" altLang="en-US" sz="2000" dirty="0">
                <a:latin typeface="Arial" panose="020B0604020202020204" pitchFamily="34" charset="0"/>
                <a:ea typeface="微软雅黑" panose="020B0503020204020204" pitchFamily="34" charset="-122"/>
              </a:rPr>
              <a:t>这是一套以</a:t>
            </a:r>
            <a:r>
              <a:rPr lang="zh-CN" altLang="en-US" sz="2000" b="1" dirty="0">
                <a:latin typeface="Arial" panose="020B0604020202020204" pitchFamily="34" charset="0"/>
                <a:ea typeface="微软雅黑" panose="020B0503020204020204" pitchFamily="34" charset="-122"/>
              </a:rPr>
              <a:t>​“总设计师”​</a:t>
            </a:r>
            <a:r>
              <a:rPr lang="zh-CN" altLang="en-US" sz="2000" dirty="0">
                <a:latin typeface="Arial" panose="020B0604020202020204" pitchFamily="34" charset="0"/>
                <a:ea typeface="微软雅黑" panose="020B0503020204020204" pitchFamily="34" charset="-122"/>
              </a:rPr>
              <a:t>​ 为引擎，以 ​</a:t>
            </a:r>
            <a:r>
              <a:rPr lang="zh-CN" altLang="en-US" sz="2000" b="1" dirty="0">
                <a:latin typeface="Arial" panose="020B0604020202020204" pitchFamily="34" charset="0"/>
                <a:ea typeface="微软雅黑" panose="020B0503020204020204" pitchFamily="34" charset="-122"/>
              </a:rPr>
              <a:t>​“三位一体能力”​</a:t>
            </a:r>
            <a:r>
              <a:rPr lang="zh-CN" altLang="en-US" sz="2000" dirty="0">
                <a:latin typeface="Arial" panose="020B0604020202020204" pitchFamily="34" charset="0"/>
                <a:ea typeface="微软雅黑" panose="020B0503020204020204" pitchFamily="34" charset="-122"/>
              </a:rPr>
              <a:t>​ 为核心，通过 ​</a:t>
            </a:r>
            <a:r>
              <a:rPr lang="zh-CN" altLang="en-US" sz="2000" b="1" dirty="0">
                <a:latin typeface="Arial" panose="020B0604020202020204" pitchFamily="34" charset="0"/>
                <a:ea typeface="微软雅黑" panose="020B0503020204020204" pitchFamily="34" charset="-122"/>
              </a:rPr>
              <a:t>​“蓝图设计</a:t>
            </a:r>
            <a:r>
              <a:rPr lang="en-US" altLang="zh-CN" sz="2000" b="1" dirty="0">
                <a:latin typeface="Arial" panose="020B0604020202020204" pitchFamily="34" charset="0"/>
                <a:ea typeface="微软雅黑" panose="020B0503020204020204" pitchFamily="34" charset="-122"/>
              </a:rPr>
              <a:t>-</a:t>
            </a:r>
            <a:r>
              <a:rPr lang="zh-CN" altLang="en-US" sz="2000" b="1" dirty="0">
                <a:latin typeface="Arial" panose="020B0604020202020204" pitchFamily="34" charset="0"/>
                <a:ea typeface="微软雅黑" panose="020B0503020204020204" pitchFamily="34" charset="-122"/>
              </a:rPr>
              <a:t>奇点突破</a:t>
            </a:r>
            <a:r>
              <a:rPr lang="en-US" altLang="zh-CN" sz="2000" b="1" dirty="0">
                <a:latin typeface="Arial" panose="020B0604020202020204" pitchFamily="34" charset="0"/>
                <a:ea typeface="微软雅黑" panose="020B0503020204020204" pitchFamily="34" charset="-122"/>
              </a:rPr>
              <a:t>-</a:t>
            </a:r>
            <a:r>
              <a:rPr lang="zh-CN" altLang="en-US" sz="2000" b="1" dirty="0">
                <a:latin typeface="Arial" panose="020B0604020202020204" pitchFamily="34" charset="0"/>
                <a:ea typeface="微软雅黑" panose="020B0503020204020204" pitchFamily="34" charset="-122"/>
              </a:rPr>
              <a:t>价值验证</a:t>
            </a:r>
            <a:r>
              <a:rPr lang="en-US" altLang="zh-CN" sz="2000" b="1" dirty="0">
                <a:latin typeface="Arial" panose="020B0604020202020204" pitchFamily="34" charset="0"/>
                <a:ea typeface="微软雅黑" panose="020B0503020204020204" pitchFamily="34" charset="-122"/>
              </a:rPr>
              <a:t>-</a:t>
            </a:r>
            <a:r>
              <a:rPr lang="zh-CN" altLang="en-US" sz="2000" b="1" dirty="0">
                <a:latin typeface="Arial" panose="020B0604020202020204" pitchFamily="34" charset="0"/>
                <a:ea typeface="微软雅黑" panose="020B0503020204020204" pitchFamily="34" charset="-122"/>
              </a:rPr>
              <a:t>有机扩散”​</a:t>
            </a:r>
            <a:r>
              <a:rPr lang="zh-CN" altLang="en-US" sz="2000" dirty="0">
                <a:latin typeface="Arial" panose="020B0604020202020204" pitchFamily="34" charset="0"/>
                <a:ea typeface="微软雅黑" panose="020B0503020204020204" pitchFamily="34" charset="-122"/>
              </a:rPr>
              <a:t>​ 路径，为企业构建</a:t>
            </a:r>
            <a:r>
              <a:rPr lang="zh-CN" altLang="en-US" sz="2000" b="1" dirty="0">
                <a:latin typeface="Arial" panose="020B0604020202020204" pitchFamily="34" charset="0"/>
                <a:ea typeface="微软雅黑" panose="020B0503020204020204" pitchFamily="34" charset="-122"/>
              </a:rPr>
              <a:t>内生性数字化能力</a:t>
            </a:r>
            <a:r>
              <a:rPr lang="zh-CN" altLang="en-US" sz="2000" dirty="0">
                <a:latin typeface="Arial" panose="020B0604020202020204" pitchFamily="34" charset="0"/>
                <a:ea typeface="微软雅黑" panose="020B0503020204020204" pitchFamily="34" charset="-122"/>
              </a:rPr>
              <a:t>的完整方法论</a:t>
            </a:r>
          </a:p>
        </p:txBody>
      </p:sp>
      <p:grpSp>
        <p:nvGrpSpPr>
          <p:cNvPr id="4" name="组合 3">
            <a:extLst>
              <a:ext uri="{FF2B5EF4-FFF2-40B4-BE49-F238E27FC236}">
                <a16:creationId xmlns:a16="http://schemas.microsoft.com/office/drawing/2014/main" id="{DDA69BD1-E3F4-5EE3-F7EB-5C6D6B99B2C3}"/>
              </a:ext>
            </a:extLst>
          </p:cNvPr>
          <p:cNvGrpSpPr>
            <a:grpSpLocks noChangeAspect="1"/>
          </p:cNvGrpSpPr>
          <p:nvPr>
            <p:custDataLst>
              <p:tags r:id="rId1"/>
            </p:custDataLst>
          </p:nvPr>
        </p:nvGrpSpPr>
        <p:grpSpPr>
          <a:xfrm>
            <a:off x="567813" y="1901211"/>
            <a:ext cx="10901516" cy="4576504"/>
            <a:chOff x="0" y="1008475"/>
            <a:chExt cx="12141200" cy="5096929"/>
          </a:xfrm>
        </p:grpSpPr>
        <p:grpSp>
          <p:nvGrpSpPr>
            <p:cNvPr id="5" name="组合 0">
              <a:extLst>
                <a:ext uri="{FF2B5EF4-FFF2-40B4-BE49-F238E27FC236}">
                  <a16:creationId xmlns:a16="http://schemas.microsoft.com/office/drawing/2014/main" id="{ED172BFA-A4A8-58BA-FCBC-5456FD8F6DA4}"/>
                </a:ext>
              </a:extLst>
            </p:cNvPr>
            <p:cNvGrpSpPr/>
            <p:nvPr/>
          </p:nvGrpSpPr>
          <p:grpSpPr>
            <a:xfrm>
              <a:off x="0" y="1008475"/>
              <a:ext cx="12141200" cy="5096929"/>
              <a:chOff x="0" y="1008475"/>
              <a:chExt cx="12141200" cy="5096929"/>
            </a:xfrm>
          </p:grpSpPr>
          <p:sp>
            <p:nvSpPr>
              <p:cNvPr id="18" name="0">
                <a:extLst>
                  <a:ext uri="{FF2B5EF4-FFF2-40B4-BE49-F238E27FC236}">
                    <a16:creationId xmlns:a16="http://schemas.microsoft.com/office/drawing/2014/main" id="{F15CD7FE-6921-AF6A-09F0-A4D51E922614}"/>
                  </a:ext>
                </a:extLst>
              </p:cNvPr>
              <p:cNvSpPr/>
              <p:nvPr/>
            </p:nvSpPr>
            <p:spPr>
              <a:xfrm flipV="1">
                <a:off x="3760225" y="1008475"/>
                <a:ext cx="4671550" cy="4671548"/>
              </a:xfrm>
              <a:prstGeom prst="ellipse">
                <a:avLst/>
              </a:prstGeom>
              <a:gradFill flip="none" rotWithShape="1">
                <a:gsLst>
                  <a:gs pos="32000">
                    <a:schemeClr val="accent1">
                      <a:lumMod val="60000"/>
                      <a:lumOff val="40000"/>
                      <a:alpha val="0"/>
                    </a:schemeClr>
                  </a:gs>
                  <a:gs pos="80000">
                    <a:schemeClr val="accent1">
                      <a:lumMod val="40000"/>
                      <a:lumOff val="60000"/>
                      <a:alpha val="0"/>
                    </a:schemeClr>
                  </a:gs>
                  <a:gs pos="100000">
                    <a:schemeClr val="accent1">
                      <a:lumMod val="100000"/>
                    </a:schemeClr>
                  </a:gs>
                </a:gsLst>
                <a:path path="circle">
                  <a:fillToRect l="50000" t="-80000" r="50000" b="18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Roboto"/>
                  <a:ea typeface="思源黑体 CN Regular"/>
                  <a:cs typeface="+mn-cs"/>
                </a:endParaRPr>
              </a:p>
            </p:txBody>
          </p:sp>
          <p:sp>
            <p:nvSpPr>
              <p:cNvPr id="19" name="0">
                <a:extLst>
                  <a:ext uri="{FF2B5EF4-FFF2-40B4-BE49-F238E27FC236}">
                    <a16:creationId xmlns:a16="http://schemas.microsoft.com/office/drawing/2014/main" id="{D0641CD7-F0D4-93B5-7B3F-AC9301F87608}"/>
                  </a:ext>
                </a:extLst>
              </p:cNvPr>
              <p:cNvSpPr/>
              <p:nvPr/>
            </p:nvSpPr>
            <p:spPr>
              <a:xfrm>
                <a:off x="65314" y="2004843"/>
                <a:ext cx="12075886" cy="4100561"/>
              </a:xfrm>
              <a:prstGeom prst="ellipse">
                <a:avLst/>
              </a:prstGeom>
              <a:gradFill>
                <a:gsLst>
                  <a:gs pos="0">
                    <a:schemeClr val="accent1">
                      <a:lumMod val="20000"/>
                      <a:lumOff val="80000"/>
                      <a:alpha val="0"/>
                    </a:schemeClr>
                  </a:gs>
                  <a:gs pos="100000">
                    <a:schemeClr val="accent1">
                      <a:alpha val="46000"/>
                      <a:lumMod val="28000"/>
                      <a:lumOff val="72000"/>
                    </a:schemeClr>
                  </a:gs>
                </a:gsLst>
                <a:lin ang="5400000" scaled="1"/>
              </a:gradFill>
              <a:ln>
                <a:noFill/>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endParaRPr kumimoji="0" lang="zh-CN" altLang="en-US" sz="2000" i="0" u="none" strike="noStrike" kern="0" cap="none" spc="0" normalizeH="0" baseline="0" noProof="0">
                  <a:ln>
                    <a:noFill/>
                  </a:ln>
                  <a:solidFill>
                    <a:srgbClr val="FFFFFF"/>
                  </a:solidFill>
                  <a:effectLst/>
                  <a:uLnTx/>
                  <a:uFillTx/>
                  <a:latin typeface="+mn-ea"/>
                  <a:cs typeface="Calibri" panose="020F0502020204030204"/>
                </a:endParaRPr>
              </a:p>
            </p:txBody>
          </p:sp>
          <p:sp>
            <p:nvSpPr>
              <p:cNvPr id="20" name="0">
                <a:extLst>
                  <a:ext uri="{FF2B5EF4-FFF2-40B4-BE49-F238E27FC236}">
                    <a16:creationId xmlns:a16="http://schemas.microsoft.com/office/drawing/2014/main" id="{49F24596-B9A8-4DD9-7845-5CBB944936C9}"/>
                  </a:ext>
                </a:extLst>
              </p:cNvPr>
              <p:cNvSpPr/>
              <p:nvPr/>
            </p:nvSpPr>
            <p:spPr>
              <a:xfrm>
                <a:off x="992521" y="1519454"/>
                <a:ext cx="10206958" cy="2657078"/>
              </a:xfrm>
              <a:custGeom>
                <a:avLst/>
                <a:gdLst>
                  <a:gd name="connsiteX0" fmla="*/ 5323454 w 10646908"/>
                  <a:gd name="connsiteY0" fmla="*/ 154323 h 3022358"/>
                  <a:gd name="connsiteX1" fmla="*/ 1227089 w 10646908"/>
                  <a:gd name="connsiteY1" fmla="*/ 1317166 h 3022358"/>
                  <a:gd name="connsiteX2" fmla="*/ 5323454 w 10646908"/>
                  <a:gd name="connsiteY2" fmla="*/ 2480009 h 3022358"/>
                  <a:gd name="connsiteX3" fmla="*/ 9419819 w 10646908"/>
                  <a:gd name="connsiteY3" fmla="*/ 1317166 h 3022358"/>
                  <a:gd name="connsiteX4" fmla="*/ 5323454 w 10646908"/>
                  <a:gd name="connsiteY4" fmla="*/ 154323 h 3022358"/>
                  <a:gd name="connsiteX5" fmla="*/ 5323454 w 10646908"/>
                  <a:gd name="connsiteY5" fmla="*/ 0 h 3022358"/>
                  <a:gd name="connsiteX6" fmla="*/ 10646908 w 10646908"/>
                  <a:gd name="connsiteY6" fmla="*/ 1511179 h 3022358"/>
                  <a:gd name="connsiteX7" fmla="*/ 5323454 w 10646908"/>
                  <a:gd name="connsiteY7" fmla="*/ 3022358 h 3022358"/>
                  <a:gd name="connsiteX8" fmla="*/ 0 w 10646908"/>
                  <a:gd name="connsiteY8" fmla="*/ 1511179 h 3022358"/>
                  <a:gd name="connsiteX9" fmla="*/ 5323454 w 10646908"/>
                  <a:gd name="connsiteY9" fmla="*/ 0 h 302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46908" h="3022358">
                    <a:moveTo>
                      <a:pt x="5323454" y="154323"/>
                    </a:moveTo>
                    <a:cubicBezTo>
                      <a:pt x="3061094" y="154323"/>
                      <a:pt x="1227089" y="674946"/>
                      <a:pt x="1227089" y="1317166"/>
                    </a:cubicBezTo>
                    <a:cubicBezTo>
                      <a:pt x="1227089" y="1959386"/>
                      <a:pt x="3061094" y="2480009"/>
                      <a:pt x="5323454" y="2480009"/>
                    </a:cubicBezTo>
                    <a:cubicBezTo>
                      <a:pt x="7585814" y="2480009"/>
                      <a:pt x="9419819" y="1959386"/>
                      <a:pt x="9419819" y="1317166"/>
                    </a:cubicBezTo>
                    <a:cubicBezTo>
                      <a:pt x="9419819" y="674946"/>
                      <a:pt x="7585814" y="154323"/>
                      <a:pt x="5323454" y="154323"/>
                    </a:cubicBezTo>
                    <a:close/>
                    <a:moveTo>
                      <a:pt x="5323454" y="0"/>
                    </a:moveTo>
                    <a:cubicBezTo>
                      <a:pt x="8263516" y="0"/>
                      <a:pt x="10646908" y="676578"/>
                      <a:pt x="10646908" y="1511179"/>
                    </a:cubicBezTo>
                    <a:cubicBezTo>
                      <a:pt x="10646908" y="2345780"/>
                      <a:pt x="8263516" y="3022358"/>
                      <a:pt x="5323454" y="3022358"/>
                    </a:cubicBezTo>
                    <a:cubicBezTo>
                      <a:pt x="2383392" y="3022358"/>
                      <a:pt x="0" y="2345780"/>
                      <a:pt x="0" y="1511179"/>
                    </a:cubicBezTo>
                    <a:cubicBezTo>
                      <a:pt x="0" y="676578"/>
                      <a:pt x="2383392" y="0"/>
                      <a:pt x="5323454" y="0"/>
                    </a:cubicBezTo>
                    <a:close/>
                  </a:path>
                </a:pathLst>
              </a:custGeom>
              <a:gradFill>
                <a:gsLst>
                  <a:gs pos="0">
                    <a:schemeClr val="accent1">
                      <a:lumMod val="20000"/>
                      <a:lumOff val="80000"/>
                      <a:alpha val="0"/>
                    </a:schemeClr>
                  </a:gs>
                  <a:gs pos="92000">
                    <a:schemeClr val="accent1">
                      <a:lumMod val="24000"/>
                      <a:lumOff val="76000"/>
                    </a:schemeClr>
                  </a:gs>
                </a:gsLst>
                <a:lin ang="5400000" scaled="1"/>
              </a:gradFill>
              <a:ln>
                <a:noFill/>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Calibri" panose="020F0502020204030204"/>
                  <a:ea typeface="微软雅黑"/>
                  <a:cs typeface="Calibri" panose="020F0502020204030204"/>
                </a:endParaRPr>
              </a:p>
            </p:txBody>
          </p:sp>
          <p:sp>
            <p:nvSpPr>
              <p:cNvPr id="21" name="0">
                <a:extLst>
                  <a:ext uri="{FF2B5EF4-FFF2-40B4-BE49-F238E27FC236}">
                    <a16:creationId xmlns:a16="http://schemas.microsoft.com/office/drawing/2014/main" id="{A95B98A9-E134-54D6-6522-1EF08CFAE506}"/>
                  </a:ext>
                </a:extLst>
              </p:cNvPr>
              <p:cNvSpPr/>
              <p:nvPr/>
            </p:nvSpPr>
            <p:spPr>
              <a:xfrm>
                <a:off x="3003495" y="1846384"/>
                <a:ext cx="6185010" cy="1362568"/>
              </a:xfrm>
              <a:prstGeom prst="ellipse">
                <a:avLst/>
              </a:prstGeom>
              <a:gradFill>
                <a:gsLst>
                  <a:gs pos="0">
                    <a:schemeClr val="accent1">
                      <a:lumMod val="20000"/>
                      <a:lumOff val="80000"/>
                      <a:alpha val="0"/>
                    </a:schemeClr>
                  </a:gs>
                  <a:gs pos="92000">
                    <a:schemeClr val="accent1">
                      <a:lumMod val="33000"/>
                      <a:lumOff val="67000"/>
                    </a:schemeClr>
                  </a:gs>
                </a:gsLst>
                <a:lin ang="5400000" scaled="1"/>
              </a:gradFill>
              <a:ln>
                <a:noFill/>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Calibri" panose="020F0502020204030204"/>
                  <a:ea typeface="微软雅黑"/>
                  <a:cs typeface="Calibri" panose="020F0502020204030204"/>
                </a:endParaRPr>
              </a:p>
            </p:txBody>
          </p:sp>
          <p:sp>
            <p:nvSpPr>
              <p:cNvPr id="22" name="0">
                <a:extLst>
                  <a:ext uri="{FF2B5EF4-FFF2-40B4-BE49-F238E27FC236}">
                    <a16:creationId xmlns:a16="http://schemas.microsoft.com/office/drawing/2014/main" id="{E72C54CB-2683-541E-14A1-20C69A5A3F7C}"/>
                  </a:ext>
                </a:extLst>
              </p:cNvPr>
              <p:cNvSpPr/>
              <p:nvPr/>
            </p:nvSpPr>
            <p:spPr>
              <a:xfrm>
                <a:off x="0" y="4025533"/>
                <a:ext cx="12075886" cy="2050280"/>
              </a:xfrm>
              <a:custGeom>
                <a:avLst/>
                <a:gdLst>
                  <a:gd name="connsiteX0" fmla="*/ 0 w 12075886"/>
                  <a:gd name="connsiteY0" fmla="*/ 2050280 h 4100560"/>
                  <a:gd name="connsiteX1" fmla="*/ 6037943 w 12075886"/>
                  <a:gd name="connsiteY1" fmla="*/ 0 h 4100560"/>
                  <a:gd name="connsiteX2" fmla="*/ 12075886 w 12075886"/>
                  <a:gd name="connsiteY2" fmla="*/ 2050280 h 4100560"/>
                  <a:gd name="connsiteX3" fmla="*/ 6037943 w 12075886"/>
                  <a:gd name="connsiteY3" fmla="*/ 4100560 h 4100560"/>
                  <a:gd name="connsiteX4" fmla="*/ 0 w 12075886"/>
                  <a:gd name="connsiteY4" fmla="*/ 2050280 h 4100560"/>
                  <a:gd name="connsiteX0" fmla="*/ 6037943 w 12075886"/>
                  <a:gd name="connsiteY0" fmla="*/ 0 h 4100560"/>
                  <a:gd name="connsiteX1" fmla="*/ 12075886 w 12075886"/>
                  <a:gd name="connsiteY1" fmla="*/ 2050280 h 4100560"/>
                  <a:gd name="connsiteX2" fmla="*/ 6037943 w 12075886"/>
                  <a:gd name="connsiteY2" fmla="*/ 4100560 h 4100560"/>
                  <a:gd name="connsiteX3" fmla="*/ 0 w 12075886"/>
                  <a:gd name="connsiteY3" fmla="*/ 2050280 h 4100560"/>
                  <a:gd name="connsiteX4" fmla="*/ 6129383 w 12075886"/>
                  <a:gd name="connsiteY4" fmla="*/ 91440 h 4100560"/>
                  <a:gd name="connsiteX0" fmla="*/ 6037943 w 12075886"/>
                  <a:gd name="connsiteY0" fmla="*/ 0 h 4100560"/>
                  <a:gd name="connsiteX1" fmla="*/ 12075886 w 12075886"/>
                  <a:gd name="connsiteY1" fmla="*/ 2050280 h 4100560"/>
                  <a:gd name="connsiteX2" fmla="*/ 6037943 w 12075886"/>
                  <a:gd name="connsiteY2" fmla="*/ 4100560 h 4100560"/>
                  <a:gd name="connsiteX3" fmla="*/ 0 w 12075886"/>
                  <a:gd name="connsiteY3" fmla="*/ 2050280 h 4100560"/>
                  <a:gd name="connsiteX0" fmla="*/ 12075886 w 12075886"/>
                  <a:gd name="connsiteY0" fmla="*/ 0 h 2050280"/>
                  <a:gd name="connsiteX1" fmla="*/ 6037943 w 12075886"/>
                  <a:gd name="connsiteY1" fmla="*/ 2050280 h 2050280"/>
                  <a:gd name="connsiteX2" fmla="*/ 0 w 12075886"/>
                  <a:gd name="connsiteY2" fmla="*/ 0 h 2050280"/>
                </a:gdLst>
                <a:ahLst/>
                <a:cxnLst>
                  <a:cxn ang="0">
                    <a:pos x="connsiteX0" y="connsiteY0"/>
                  </a:cxn>
                  <a:cxn ang="0">
                    <a:pos x="connsiteX1" y="connsiteY1"/>
                  </a:cxn>
                  <a:cxn ang="0">
                    <a:pos x="connsiteX2" y="connsiteY2"/>
                  </a:cxn>
                </a:cxnLst>
                <a:rect l="l" t="t" r="r" b="b"/>
                <a:pathLst>
                  <a:path w="12075886" h="2050280">
                    <a:moveTo>
                      <a:pt x="12075886" y="0"/>
                    </a:moveTo>
                    <a:cubicBezTo>
                      <a:pt x="12075886" y="1132338"/>
                      <a:pt x="9372607" y="2050280"/>
                      <a:pt x="6037943" y="2050280"/>
                    </a:cubicBezTo>
                    <a:cubicBezTo>
                      <a:pt x="2703279" y="2050280"/>
                      <a:pt x="0" y="1132338"/>
                      <a:pt x="0" y="0"/>
                    </a:cubicBezTo>
                  </a:path>
                </a:pathLst>
              </a:custGeom>
              <a:noFill/>
              <a:ln>
                <a:gradFill flip="none" rotWithShape="1">
                  <a:gsLst>
                    <a:gs pos="0">
                      <a:schemeClr val="accent2">
                        <a:alpha val="0"/>
                      </a:schemeClr>
                    </a:gs>
                    <a:gs pos="51400">
                      <a:schemeClr val="accent3">
                        <a:alpha val="49000"/>
                      </a:schemeClr>
                    </a:gs>
                    <a:gs pos="100000">
                      <a:schemeClr val="accent2">
                        <a:alpha val="0"/>
                      </a:schemeClr>
                    </a:gs>
                  </a:gsLst>
                  <a:lin ang="0" scaled="1"/>
                  <a:tileRect/>
                </a:gradFill>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Calibri" panose="020F0502020204030204"/>
                  <a:ea typeface="微软雅黑"/>
                  <a:cs typeface="Calibri" panose="020F0502020204030204"/>
                </a:endParaRPr>
              </a:p>
            </p:txBody>
          </p:sp>
          <p:sp>
            <p:nvSpPr>
              <p:cNvPr id="23" name="0">
                <a:extLst>
                  <a:ext uri="{FF2B5EF4-FFF2-40B4-BE49-F238E27FC236}">
                    <a16:creationId xmlns:a16="http://schemas.microsoft.com/office/drawing/2014/main" id="{C553AC17-CD5A-10CD-666A-B35BA140F7CE}"/>
                  </a:ext>
                </a:extLst>
              </p:cNvPr>
              <p:cNvSpPr/>
              <p:nvPr/>
            </p:nvSpPr>
            <p:spPr>
              <a:xfrm>
                <a:off x="0" y="2111670"/>
                <a:ext cx="12075886" cy="2050280"/>
              </a:xfrm>
              <a:custGeom>
                <a:avLst/>
                <a:gdLst>
                  <a:gd name="connsiteX0" fmla="*/ 0 w 12075886"/>
                  <a:gd name="connsiteY0" fmla="*/ 2050280 h 4100560"/>
                  <a:gd name="connsiteX1" fmla="*/ 6037943 w 12075886"/>
                  <a:gd name="connsiteY1" fmla="*/ 0 h 4100560"/>
                  <a:gd name="connsiteX2" fmla="*/ 12075886 w 12075886"/>
                  <a:gd name="connsiteY2" fmla="*/ 2050280 h 4100560"/>
                  <a:gd name="connsiteX3" fmla="*/ 6037943 w 12075886"/>
                  <a:gd name="connsiteY3" fmla="*/ 4100560 h 4100560"/>
                  <a:gd name="connsiteX4" fmla="*/ 0 w 12075886"/>
                  <a:gd name="connsiteY4" fmla="*/ 2050280 h 4100560"/>
                  <a:gd name="connsiteX0" fmla="*/ 6037943 w 12075886"/>
                  <a:gd name="connsiteY0" fmla="*/ 0 h 4100560"/>
                  <a:gd name="connsiteX1" fmla="*/ 12075886 w 12075886"/>
                  <a:gd name="connsiteY1" fmla="*/ 2050280 h 4100560"/>
                  <a:gd name="connsiteX2" fmla="*/ 6037943 w 12075886"/>
                  <a:gd name="connsiteY2" fmla="*/ 4100560 h 4100560"/>
                  <a:gd name="connsiteX3" fmla="*/ 0 w 12075886"/>
                  <a:gd name="connsiteY3" fmla="*/ 2050280 h 4100560"/>
                  <a:gd name="connsiteX4" fmla="*/ 6129383 w 12075886"/>
                  <a:gd name="connsiteY4" fmla="*/ 91440 h 4100560"/>
                  <a:gd name="connsiteX0" fmla="*/ 6037943 w 12075886"/>
                  <a:gd name="connsiteY0" fmla="*/ 0 h 4100560"/>
                  <a:gd name="connsiteX1" fmla="*/ 12075886 w 12075886"/>
                  <a:gd name="connsiteY1" fmla="*/ 2050280 h 4100560"/>
                  <a:gd name="connsiteX2" fmla="*/ 6037943 w 12075886"/>
                  <a:gd name="connsiteY2" fmla="*/ 4100560 h 4100560"/>
                  <a:gd name="connsiteX3" fmla="*/ 0 w 12075886"/>
                  <a:gd name="connsiteY3" fmla="*/ 2050280 h 4100560"/>
                  <a:gd name="connsiteX0" fmla="*/ 12075886 w 12075886"/>
                  <a:gd name="connsiteY0" fmla="*/ 0 h 2050280"/>
                  <a:gd name="connsiteX1" fmla="*/ 6037943 w 12075886"/>
                  <a:gd name="connsiteY1" fmla="*/ 2050280 h 2050280"/>
                  <a:gd name="connsiteX2" fmla="*/ 0 w 12075886"/>
                  <a:gd name="connsiteY2" fmla="*/ 0 h 2050280"/>
                </a:gdLst>
                <a:ahLst/>
                <a:cxnLst>
                  <a:cxn ang="0">
                    <a:pos x="connsiteX0" y="connsiteY0"/>
                  </a:cxn>
                  <a:cxn ang="0">
                    <a:pos x="connsiteX1" y="connsiteY1"/>
                  </a:cxn>
                  <a:cxn ang="0">
                    <a:pos x="connsiteX2" y="connsiteY2"/>
                  </a:cxn>
                </a:cxnLst>
                <a:rect l="l" t="t" r="r" b="b"/>
                <a:pathLst>
                  <a:path w="12075886" h="2050280">
                    <a:moveTo>
                      <a:pt x="12075886" y="0"/>
                    </a:moveTo>
                    <a:cubicBezTo>
                      <a:pt x="12075886" y="1132338"/>
                      <a:pt x="9372607" y="2050280"/>
                      <a:pt x="6037943" y="2050280"/>
                    </a:cubicBezTo>
                    <a:cubicBezTo>
                      <a:pt x="2703279" y="2050280"/>
                      <a:pt x="0" y="1132338"/>
                      <a:pt x="0" y="0"/>
                    </a:cubicBezTo>
                  </a:path>
                </a:pathLst>
              </a:custGeom>
              <a:noFill/>
              <a:ln>
                <a:gradFill flip="none" rotWithShape="1">
                  <a:gsLst>
                    <a:gs pos="0">
                      <a:schemeClr val="accent2">
                        <a:alpha val="0"/>
                      </a:schemeClr>
                    </a:gs>
                    <a:gs pos="51400">
                      <a:schemeClr val="accent3"/>
                    </a:gs>
                    <a:gs pos="100000">
                      <a:schemeClr val="accent2">
                        <a:alpha val="0"/>
                      </a:schemeClr>
                    </a:gs>
                  </a:gsLst>
                  <a:lin ang="0" scaled="1"/>
                  <a:tileRect/>
                </a:gradFill>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Calibri" panose="020F0502020204030204"/>
                  <a:ea typeface="微软雅黑"/>
                  <a:cs typeface="Calibri" panose="020F0502020204030204"/>
                </a:endParaRPr>
              </a:p>
            </p:txBody>
          </p:sp>
          <p:sp>
            <p:nvSpPr>
              <p:cNvPr id="24" name="Title-0">
                <a:extLst>
                  <a:ext uri="{FF2B5EF4-FFF2-40B4-BE49-F238E27FC236}">
                    <a16:creationId xmlns:a16="http://schemas.microsoft.com/office/drawing/2014/main" id="{6BF384EE-C037-23EB-FBE1-4F2945B93F98}"/>
                  </a:ext>
                </a:extLst>
              </p:cNvPr>
              <p:cNvSpPr/>
              <p:nvPr>
                <p:custDataLst>
                  <p:tags r:id="rId10"/>
                </p:custDataLst>
              </p:nvPr>
            </p:nvSpPr>
            <p:spPr>
              <a:xfrm>
                <a:off x="4823962" y="1925678"/>
                <a:ext cx="2665743" cy="6807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1" indent="0" algn="ctr" defTabSz="914400" rtl="0" eaLnBrk="1" fontAlgn="auto" latinLnBrk="0" hangingPunct="1">
                  <a:lnSpc>
                    <a:spcPct val="100000"/>
                  </a:lnSpc>
                  <a:spcBef>
                    <a:spcPts val="0"/>
                  </a:spcBef>
                  <a:spcAft>
                    <a:spcPts val="0"/>
                  </a:spcAft>
                  <a:buClrTx/>
                  <a:buSzTx/>
                  <a:buFontTx/>
                  <a:buNone/>
                  <a:defRPr/>
                </a:pPr>
                <a:r>
                  <a:rPr kumimoji="0" lang="zh-CN" altLang="en-US" sz="3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sym typeface="Arial" panose="020B0604020202020204" pitchFamily="34" charset="0"/>
                  </a:rPr>
                  <a:t>建立持续建设的能力</a:t>
                </a:r>
                <a:endParaRPr kumimoji="0" lang="en-US" altLang="zh-CN" sz="32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 name="组合 01">
              <a:extLst>
                <a:ext uri="{FF2B5EF4-FFF2-40B4-BE49-F238E27FC236}">
                  <a16:creationId xmlns:a16="http://schemas.microsoft.com/office/drawing/2014/main" id="{F2796A15-5FCD-3E86-A119-C961FDF14BC5}"/>
                </a:ext>
              </a:extLst>
            </p:cNvPr>
            <p:cNvGrpSpPr/>
            <p:nvPr/>
          </p:nvGrpSpPr>
          <p:grpSpPr>
            <a:xfrm>
              <a:off x="863804" y="2266058"/>
              <a:ext cx="1632162" cy="2714569"/>
              <a:chOff x="863804" y="2266058"/>
              <a:chExt cx="1632162" cy="2714569"/>
            </a:xfrm>
          </p:grpSpPr>
          <p:sp>
            <p:nvSpPr>
              <p:cNvPr id="16" name="Title-1">
                <a:extLst>
                  <a:ext uri="{FF2B5EF4-FFF2-40B4-BE49-F238E27FC236}">
                    <a16:creationId xmlns:a16="http://schemas.microsoft.com/office/drawing/2014/main" id="{D738A89D-8AD1-44BC-1BA9-950FC6ECA10A}"/>
                  </a:ext>
                </a:extLst>
              </p:cNvPr>
              <p:cNvSpPr/>
              <p:nvPr>
                <p:custDataLst>
                  <p:tags r:id="rId8"/>
                </p:custDataLst>
              </p:nvPr>
            </p:nvSpPr>
            <p:spPr>
              <a:xfrm>
                <a:off x="992521" y="2266058"/>
                <a:ext cx="1368648" cy="1362568"/>
              </a:xfrm>
              <a:prstGeom prst="ellipse">
                <a:avLst/>
              </a:prstGeom>
              <a:gradFill flip="none" rotWithShape="1">
                <a:gsLst>
                  <a:gs pos="0">
                    <a:schemeClr val="accent4">
                      <a:lumMod val="20000"/>
                      <a:lumOff val="80000"/>
                    </a:schemeClr>
                  </a:gs>
                  <a:gs pos="50000">
                    <a:schemeClr val="accent4">
                      <a:lumMod val="60000"/>
                      <a:lumOff val="40000"/>
                    </a:schemeClr>
                  </a:gs>
                  <a:gs pos="100000">
                    <a:schemeClr val="accent4"/>
                  </a:gs>
                </a:gsLst>
                <a:path path="circle">
                  <a:fillToRect r="100000" b="100000"/>
                </a:path>
                <a:tileRect l="-100000" t="-100000"/>
              </a:gradFill>
              <a:ln>
                <a:noFill/>
              </a:ln>
              <a:effectLst>
                <a:outerShdw blurRad="406400" dist="127000" dir="2700000" algn="tl" rotWithShape="0">
                  <a:schemeClr val="accent4">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chemeClr val="bg2"/>
                    </a:solidFill>
                    <a:effectLst/>
                    <a:uLnTx/>
                    <a:uFillTx/>
                    <a:latin typeface="Arial" panose="020B0604020202020204" pitchFamily="34" charset="0"/>
                    <a:ea typeface="微软雅黑" panose="020B0503020204020204" pitchFamily="34" charset="-122"/>
                    <a:cs typeface="+mn-cs"/>
                  </a:rPr>
                  <a:t>阶段一​</a:t>
                </a:r>
              </a:p>
            </p:txBody>
          </p:sp>
          <p:sp>
            <p:nvSpPr>
              <p:cNvPr id="17" name="Body-1">
                <a:extLst>
                  <a:ext uri="{FF2B5EF4-FFF2-40B4-BE49-F238E27FC236}">
                    <a16:creationId xmlns:a16="http://schemas.microsoft.com/office/drawing/2014/main" id="{CCEA7ADC-BFAC-7227-14AF-DCD0C8198E2E}"/>
                  </a:ext>
                </a:extLst>
              </p:cNvPr>
              <p:cNvSpPr/>
              <p:nvPr>
                <p:custDataLst>
                  <p:tags r:id="rId9"/>
                </p:custDataLst>
              </p:nvPr>
            </p:nvSpPr>
            <p:spPr>
              <a:xfrm>
                <a:off x="863804" y="3902723"/>
                <a:ext cx="1632162" cy="10779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765" rtl="0" eaLnBrk="1" fontAlgn="auto" latinLnBrk="0" hangingPunct="1">
                  <a:lnSpc>
                    <a:spcPct val="120000"/>
                  </a:lnSpc>
                  <a:spcBef>
                    <a:spcPts val="0"/>
                  </a:spcBef>
                  <a:spcAft>
                    <a:spcPts val="0"/>
                  </a:spcAft>
                  <a:buClrTx/>
                  <a:buSzPct val="100000"/>
                  <a:buFontTx/>
                  <a:buNone/>
                  <a:defRPr/>
                </a:pPr>
                <a:r>
                  <a:rPr kumimoji="0" lang="zh-CN" altLang="en-US" sz="20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总设计师和团队</a:t>
                </a:r>
                <a:endParaRPr kumimoji="0" lang="en-GB" altLang="zh-CN" sz="20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p:txBody>
          </p:sp>
        </p:grpSp>
        <p:grpSp>
          <p:nvGrpSpPr>
            <p:cNvPr id="7" name="组合 02">
              <a:extLst>
                <a:ext uri="{FF2B5EF4-FFF2-40B4-BE49-F238E27FC236}">
                  <a16:creationId xmlns:a16="http://schemas.microsoft.com/office/drawing/2014/main" id="{71BC60CB-5107-511C-FA19-4A8BDF690EB5}"/>
                </a:ext>
              </a:extLst>
            </p:cNvPr>
            <p:cNvGrpSpPr/>
            <p:nvPr/>
          </p:nvGrpSpPr>
          <p:grpSpPr>
            <a:xfrm>
              <a:off x="3252695" y="3344249"/>
              <a:ext cx="2617981" cy="2592564"/>
              <a:chOff x="4890995" y="3344249"/>
              <a:chExt cx="2617981" cy="2592564"/>
            </a:xfrm>
          </p:grpSpPr>
          <p:sp>
            <p:nvSpPr>
              <p:cNvPr id="14" name="Body-2">
                <a:extLst>
                  <a:ext uri="{FF2B5EF4-FFF2-40B4-BE49-F238E27FC236}">
                    <a16:creationId xmlns:a16="http://schemas.microsoft.com/office/drawing/2014/main" id="{0067767F-381D-54DA-08F3-638142293226}"/>
                  </a:ext>
                </a:extLst>
              </p:cNvPr>
              <p:cNvSpPr/>
              <p:nvPr>
                <p:custDataLst>
                  <p:tags r:id="rId6"/>
                </p:custDataLst>
              </p:nvPr>
            </p:nvSpPr>
            <p:spPr>
              <a:xfrm>
                <a:off x="4890995" y="4858909"/>
                <a:ext cx="2617981" cy="10779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765" rtl="0" eaLnBrk="1" fontAlgn="auto" latinLnBrk="0" hangingPunct="1">
                  <a:lnSpc>
                    <a:spcPct val="120000"/>
                  </a:lnSpc>
                  <a:spcBef>
                    <a:spcPts val="0"/>
                  </a:spcBef>
                  <a:spcAft>
                    <a:spcPts val="0"/>
                  </a:spcAft>
                  <a:buClrTx/>
                  <a:buSzPct val="100000"/>
                  <a:buFontTx/>
                  <a:buNone/>
                  <a:defRPr/>
                </a:pPr>
                <a:r>
                  <a:rPr kumimoji="0" lang="zh-CN" altLang="en-US" sz="20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设计蓝图（高屋建瓴到毛细血管），</a:t>
                </a:r>
                <a:r>
                  <a:rPr kumimoji="0" lang="en-US" altLang="zh-CN" sz="20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Roadmap</a:t>
                </a:r>
                <a:r>
                  <a:rPr kumimoji="0" lang="zh-CN" altLang="en-US" sz="20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，解耦</a:t>
                </a:r>
                <a:endParaRPr kumimoji="0" lang="en-GB" altLang="zh-CN" sz="20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p:txBody>
          </p:sp>
          <p:sp>
            <p:nvSpPr>
              <p:cNvPr id="15" name="Title-2">
                <a:extLst>
                  <a:ext uri="{FF2B5EF4-FFF2-40B4-BE49-F238E27FC236}">
                    <a16:creationId xmlns:a16="http://schemas.microsoft.com/office/drawing/2014/main" id="{AE3F6DD5-61E7-471C-513F-90E7466C8CD8}"/>
                  </a:ext>
                </a:extLst>
              </p:cNvPr>
              <p:cNvSpPr/>
              <p:nvPr>
                <p:custDataLst>
                  <p:tags r:id="rId7"/>
                </p:custDataLst>
              </p:nvPr>
            </p:nvSpPr>
            <p:spPr>
              <a:xfrm>
                <a:off x="5414715" y="3344249"/>
                <a:ext cx="1422262" cy="1362568"/>
              </a:xfrm>
              <a:prstGeom prst="ellipse">
                <a:avLst/>
              </a:prstGeom>
              <a:gradFill flip="none" rotWithShape="1">
                <a:gsLst>
                  <a:gs pos="0">
                    <a:schemeClr val="accent4">
                      <a:lumMod val="20000"/>
                      <a:lumOff val="80000"/>
                    </a:schemeClr>
                  </a:gs>
                  <a:gs pos="50000">
                    <a:schemeClr val="accent4">
                      <a:lumMod val="60000"/>
                      <a:lumOff val="40000"/>
                    </a:schemeClr>
                  </a:gs>
                  <a:gs pos="100000">
                    <a:schemeClr val="accent4"/>
                  </a:gs>
                </a:gsLst>
                <a:path path="circle">
                  <a:fillToRect r="100000" b="100000"/>
                </a:path>
                <a:tileRect l="-100000" t="-100000"/>
              </a:gradFill>
              <a:ln>
                <a:noFill/>
              </a:ln>
              <a:effectLst>
                <a:outerShdw blurRad="406400" dist="127000" dir="2700000" algn="tl" rotWithShape="0">
                  <a:schemeClr val="accent4">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2"/>
                    </a:solidFill>
                    <a:latin typeface="Arial" panose="020B0604020202020204" pitchFamily="34" charset="0"/>
                    <a:ea typeface="微软雅黑" panose="020B0503020204020204" pitchFamily="34" charset="-122"/>
                  </a:rPr>
                  <a:t>阶段二​</a:t>
                </a:r>
              </a:p>
            </p:txBody>
          </p:sp>
        </p:grpSp>
        <p:grpSp>
          <p:nvGrpSpPr>
            <p:cNvPr id="8" name="组合 03">
              <a:extLst>
                <a:ext uri="{FF2B5EF4-FFF2-40B4-BE49-F238E27FC236}">
                  <a16:creationId xmlns:a16="http://schemas.microsoft.com/office/drawing/2014/main" id="{2128BB78-9692-FB2D-6F1A-35E0FF85F212}"/>
                </a:ext>
              </a:extLst>
            </p:cNvPr>
            <p:cNvGrpSpPr/>
            <p:nvPr/>
          </p:nvGrpSpPr>
          <p:grpSpPr>
            <a:xfrm>
              <a:off x="6758300" y="3344249"/>
              <a:ext cx="2051840" cy="2414940"/>
              <a:chOff x="5170800" y="3344249"/>
              <a:chExt cx="2051840" cy="2414940"/>
            </a:xfrm>
          </p:grpSpPr>
          <p:sp>
            <p:nvSpPr>
              <p:cNvPr id="12" name="Body-3">
                <a:extLst>
                  <a:ext uri="{FF2B5EF4-FFF2-40B4-BE49-F238E27FC236}">
                    <a16:creationId xmlns:a16="http://schemas.microsoft.com/office/drawing/2014/main" id="{0A13948A-8716-D617-82E1-5DAC6B2D6C44}"/>
                  </a:ext>
                </a:extLst>
              </p:cNvPr>
              <p:cNvSpPr/>
              <p:nvPr>
                <p:custDataLst>
                  <p:tags r:id="rId4"/>
                </p:custDataLst>
              </p:nvPr>
            </p:nvSpPr>
            <p:spPr>
              <a:xfrm>
                <a:off x="5170800" y="4681285"/>
                <a:ext cx="2051840" cy="10779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765" rtl="0" eaLnBrk="1" fontAlgn="auto" latinLnBrk="0" hangingPunct="1">
                  <a:lnSpc>
                    <a:spcPct val="120000"/>
                  </a:lnSpc>
                  <a:spcBef>
                    <a:spcPts val="0"/>
                  </a:spcBef>
                  <a:spcAft>
                    <a:spcPts val="0"/>
                  </a:spcAft>
                  <a:buClrTx/>
                  <a:buSzPct val="100000"/>
                  <a:buFontTx/>
                  <a:buNone/>
                  <a:defRPr/>
                </a:pPr>
                <a:r>
                  <a:rPr kumimoji="0" lang="zh-CN" altLang="en-US" sz="20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奇点突破</a:t>
                </a:r>
                <a:endParaRPr kumimoji="0" lang="en-US" altLang="zh-CN" sz="20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a:p>
                <a:pPr marL="0" marR="0" lvl="0" indent="0" algn="ctr" defTabSz="913765" rtl="0" eaLnBrk="1" fontAlgn="auto" latinLnBrk="0" hangingPunct="1">
                  <a:lnSpc>
                    <a:spcPct val="120000"/>
                  </a:lnSpc>
                  <a:spcBef>
                    <a:spcPts val="0"/>
                  </a:spcBef>
                  <a:spcAft>
                    <a:spcPts val="0"/>
                  </a:spcAft>
                  <a:buClrTx/>
                  <a:buSzPct val="100000"/>
                  <a:buFontTx/>
                  <a:buNone/>
                  <a:defRPr/>
                </a:pPr>
                <a:r>
                  <a:rPr kumimoji="0" lang="zh-CN" altLang="en-US" sz="20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与价值验证</a:t>
                </a:r>
                <a:endParaRPr kumimoji="0" lang="en-GB" altLang="zh-CN" sz="20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p:txBody>
          </p:sp>
          <p:sp>
            <p:nvSpPr>
              <p:cNvPr id="13" name="Title-3">
                <a:extLst>
                  <a:ext uri="{FF2B5EF4-FFF2-40B4-BE49-F238E27FC236}">
                    <a16:creationId xmlns:a16="http://schemas.microsoft.com/office/drawing/2014/main" id="{1C91E40E-7DAA-6792-BECC-3649C49E3BEF}"/>
                  </a:ext>
                </a:extLst>
              </p:cNvPr>
              <p:cNvSpPr/>
              <p:nvPr>
                <p:custDataLst>
                  <p:tags r:id="rId5"/>
                </p:custDataLst>
              </p:nvPr>
            </p:nvSpPr>
            <p:spPr>
              <a:xfrm>
                <a:off x="5414716" y="3344249"/>
                <a:ext cx="1429560" cy="1362568"/>
              </a:xfrm>
              <a:prstGeom prst="ellipse">
                <a:avLst/>
              </a:prstGeom>
              <a:gradFill flip="none" rotWithShape="1">
                <a:gsLst>
                  <a:gs pos="0">
                    <a:schemeClr val="accent4">
                      <a:lumMod val="20000"/>
                      <a:lumOff val="80000"/>
                    </a:schemeClr>
                  </a:gs>
                  <a:gs pos="50000">
                    <a:schemeClr val="accent4">
                      <a:lumMod val="60000"/>
                      <a:lumOff val="40000"/>
                    </a:schemeClr>
                  </a:gs>
                  <a:gs pos="100000">
                    <a:schemeClr val="accent4"/>
                  </a:gs>
                </a:gsLst>
                <a:path path="circle">
                  <a:fillToRect r="100000" b="100000"/>
                </a:path>
                <a:tileRect l="-100000" t="-100000"/>
              </a:gradFill>
              <a:ln>
                <a:noFill/>
              </a:ln>
              <a:effectLst>
                <a:outerShdw blurRad="406400" dist="127000" dir="2700000" algn="tl" rotWithShape="0">
                  <a:schemeClr val="accent4">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chemeClr val="bg2"/>
                    </a:solidFill>
                    <a:effectLst/>
                    <a:uLnTx/>
                    <a:uFillTx/>
                    <a:latin typeface="Arial" panose="020B0604020202020204" pitchFamily="34" charset="0"/>
                    <a:ea typeface="微软雅黑" panose="020B0503020204020204" pitchFamily="34" charset="-122"/>
                    <a:cs typeface="+mn-cs"/>
                  </a:rPr>
                  <a:t>阶段三​</a:t>
                </a:r>
              </a:p>
            </p:txBody>
          </p:sp>
        </p:grpSp>
        <p:grpSp>
          <p:nvGrpSpPr>
            <p:cNvPr id="9" name="组合 04">
              <a:extLst>
                <a:ext uri="{FF2B5EF4-FFF2-40B4-BE49-F238E27FC236}">
                  <a16:creationId xmlns:a16="http://schemas.microsoft.com/office/drawing/2014/main" id="{FAB9EB4E-D453-6D5F-22C3-D623635A51BB}"/>
                </a:ext>
              </a:extLst>
            </p:cNvPr>
            <p:cNvGrpSpPr/>
            <p:nvPr/>
          </p:nvGrpSpPr>
          <p:grpSpPr>
            <a:xfrm>
              <a:off x="9796259" y="2266058"/>
              <a:ext cx="1632162" cy="2292799"/>
              <a:chOff x="9796259" y="2266058"/>
              <a:chExt cx="1632162" cy="2292799"/>
            </a:xfrm>
          </p:grpSpPr>
          <p:sp>
            <p:nvSpPr>
              <p:cNvPr id="10" name="Title-4">
                <a:extLst>
                  <a:ext uri="{FF2B5EF4-FFF2-40B4-BE49-F238E27FC236}">
                    <a16:creationId xmlns:a16="http://schemas.microsoft.com/office/drawing/2014/main" id="{32568D44-A1C6-C729-02BD-5F8C3D7EBE53}"/>
                  </a:ext>
                </a:extLst>
              </p:cNvPr>
              <p:cNvSpPr/>
              <p:nvPr>
                <p:custDataLst>
                  <p:tags r:id="rId2"/>
                </p:custDataLst>
              </p:nvPr>
            </p:nvSpPr>
            <p:spPr>
              <a:xfrm>
                <a:off x="9848216" y="2266058"/>
                <a:ext cx="1429560" cy="1362568"/>
              </a:xfrm>
              <a:prstGeom prst="ellipse">
                <a:avLst/>
              </a:prstGeom>
              <a:gradFill flip="none" rotWithShape="1">
                <a:gsLst>
                  <a:gs pos="0">
                    <a:schemeClr val="accent4">
                      <a:lumMod val="20000"/>
                      <a:lumOff val="80000"/>
                    </a:schemeClr>
                  </a:gs>
                  <a:gs pos="50000">
                    <a:schemeClr val="accent4">
                      <a:lumMod val="60000"/>
                      <a:lumOff val="40000"/>
                    </a:schemeClr>
                  </a:gs>
                  <a:gs pos="100000">
                    <a:schemeClr val="accent4"/>
                  </a:gs>
                </a:gsLst>
                <a:path path="circle">
                  <a:fillToRect r="100000" b="100000"/>
                </a:path>
                <a:tileRect l="-100000" t="-100000"/>
              </a:gradFill>
              <a:ln>
                <a:noFill/>
              </a:ln>
              <a:effectLst>
                <a:outerShdw blurRad="406400" dist="127000" dir="2700000" algn="tl" rotWithShape="0">
                  <a:schemeClr val="accent4">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schemeClr val="bg2"/>
                    </a:solidFill>
                    <a:effectLst/>
                    <a:uLnTx/>
                    <a:uFillTx/>
                    <a:latin typeface="Arial" panose="020B0604020202020204" pitchFamily="34" charset="0"/>
                    <a:ea typeface="微软雅黑" panose="020B0503020204020204" pitchFamily="34" charset="-122"/>
                    <a:cs typeface="+mn-cs"/>
                  </a:rPr>
                  <a:t>阶段四​</a:t>
                </a:r>
              </a:p>
            </p:txBody>
          </p:sp>
          <p:sp>
            <p:nvSpPr>
              <p:cNvPr id="11" name="Body-4">
                <a:extLst>
                  <a:ext uri="{FF2B5EF4-FFF2-40B4-BE49-F238E27FC236}">
                    <a16:creationId xmlns:a16="http://schemas.microsoft.com/office/drawing/2014/main" id="{3E7909B4-F5C7-876F-46D8-20719D9938B2}"/>
                  </a:ext>
                </a:extLst>
              </p:cNvPr>
              <p:cNvSpPr/>
              <p:nvPr>
                <p:custDataLst>
                  <p:tags r:id="rId3"/>
                </p:custDataLst>
              </p:nvPr>
            </p:nvSpPr>
            <p:spPr>
              <a:xfrm>
                <a:off x="9796259" y="3480953"/>
                <a:ext cx="1632162" cy="10779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765" rtl="0" eaLnBrk="1" fontAlgn="auto" latinLnBrk="0" hangingPunct="1">
                  <a:lnSpc>
                    <a:spcPct val="120000"/>
                  </a:lnSpc>
                  <a:spcBef>
                    <a:spcPts val="0"/>
                  </a:spcBef>
                  <a:spcAft>
                    <a:spcPts val="0"/>
                  </a:spcAft>
                  <a:buClrTx/>
                  <a:buSzPct val="100000"/>
                  <a:buFontTx/>
                  <a:buNone/>
                  <a:defRPr/>
                </a:pPr>
                <a:r>
                  <a:rPr kumimoji="0" lang="zh-CN" altLang="en-US" sz="20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rPr>
                  <a:t>有机扩散</a:t>
                </a:r>
                <a:endParaRPr kumimoji="0" lang="en-GB" altLang="zh-CN" sz="20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endParaRPr>
              </a:p>
            </p:txBody>
          </p:sp>
        </p:grpSp>
      </p:grpSp>
    </p:spTree>
    <p:extLst>
      <p:ext uri="{BB962C8B-B14F-4D97-AF65-F5344CB8AC3E}">
        <p14:creationId xmlns:p14="http://schemas.microsoft.com/office/powerpoint/2010/main" val="1107514747"/>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597A0655-38C2-4D95-2AA1-B3B56B8FBC50}"/>
              </a:ext>
            </a:extLst>
          </p:cNvPr>
          <p:cNvSpPr>
            <a:spLocks noGrp="1"/>
          </p:cNvSpPr>
          <p:nvPr>
            <p:ph type="title"/>
          </p:nvPr>
        </p:nvSpPr>
        <p:spPr/>
        <p:txBody>
          <a:bodyPr/>
          <a:lstStyle/>
          <a:p>
            <a:r>
              <a:rPr lang="zh-CN" altLang="en-US" dirty="0">
                <a:latin typeface="+mj-ea"/>
              </a:rPr>
              <a:t>卓越领导力</a:t>
            </a:r>
          </a:p>
        </p:txBody>
      </p:sp>
      <p:grpSp>
        <p:nvGrpSpPr>
          <p:cNvPr id="7" name="组合 4">
            <a:extLst>
              <a:ext uri="{FF2B5EF4-FFF2-40B4-BE49-F238E27FC236}">
                <a16:creationId xmlns:a16="http://schemas.microsoft.com/office/drawing/2014/main" id="{DCC18222-8D73-A69B-2B92-E0BE13138729}"/>
              </a:ext>
            </a:extLst>
          </p:cNvPr>
          <p:cNvGrpSpPr>
            <a:grpSpLocks noChangeAspect="1"/>
          </p:cNvGrpSpPr>
          <p:nvPr>
            <p:custDataLst>
              <p:tags r:id="rId1"/>
            </p:custDataLst>
          </p:nvPr>
        </p:nvGrpSpPr>
        <p:grpSpPr>
          <a:xfrm>
            <a:off x="1772700" y="1206110"/>
            <a:ext cx="8988462" cy="5461089"/>
            <a:chOff x="1601768" y="1811502"/>
            <a:chExt cx="8988462" cy="5461089"/>
          </a:xfrm>
        </p:grpSpPr>
        <p:grpSp>
          <p:nvGrpSpPr>
            <p:cNvPr id="8" name="组合 0">
              <a:extLst>
                <a:ext uri="{FF2B5EF4-FFF2-40B4-BE49-F238E27FC236}">
                  <a16:creationId xmlns:a16="http://schemas.microsoft.com/office/drawing/2014/main" id="{2D9BF03A-F6AA-8E0C-104D-FFECE8F04A1D}"/>
                </a:ext>
              </a:extLst>
            </p:cNvPr>
            <p:cNvGrpSpPr/>
            <p:nvPr/>
          </p:nvGrpSpPr>
          <p:grpSpPr>
            <a:xfrm>
              <a:off x="1601770" y="1811502"/>
              <a:ext cx="8988460" cy="863133"/>
              <a:chOff x="484097" y="1163267"/>
              <a:chExt cx="11259820" cy="863133"/>
            </a:xfrm>
          </p:grpSpPr>
          <p:sp>
            <p:nvSpPr>
              <p:cNvPr id="24" name="0">
                <a:extLst>
                  <a:ext uri="{FF2B5EF4-FFF2-40B4-BE49-F238E27FC236}">
                    <a16:creationId xmlns:a16="http://schemas.microsoft.com/office/drawing/2014/main" id="{C6B35150-A568-BEC8-C57A-23AF82762688}"/>
                  </a:ext>
                </a:extLst>
              </p:cNvPr>
              <p:cNvSpPr/>
              <p:nvPr/>
            </p:nvSpPr>
            <p:spPr>
              <a:xfrm>
                <a:off x="484097" y="1163267"/>
                <a:ext cx="11259820" cy="863133"/>
              </a:xfrm>
              <a:custGeom>
                <a:avLst/>
                <a:gdLst/>
                <a:ahLst/>
                <a:cxnLst/>
                <a:rect l="l" t="t" r="r" b="b"/>
                <a:pathLst>
                  <a:path w="11259820" h="793114">
                    <a:moveTo>
                      <a:pt x="5629719" y="0"/>
                    </a:moveTo>
                    <a:lnTo>
                      <a:pt x="0" y="792759"/>
                    </a:lnTo>
                    <a:lnTo>
                      <a:pt x="11259451" y="792759"/>
                    </a:lnTo>
                    <a:lnTo>
                      <a:pt x="5629719" y="0"/>
                    </a:lnTo>
                    <a:close/>
                  </a:path>
                </a:pathLst>
              </a:custGeom>
              <a:solidFill>
                <a:schemeClr val="accent1"/>
              </a:solidFill>
            </p:spPr>
            <p:txBody>
              <a:bodyPr wrap="square" lIns="0" tIns="0" rIns="0" bIns="0" rtlCol="0"/>
              <a:lstStyle/>
              <a:p>
                <a:endParaRPr>
                  <a:latin typeface="+mj-ea"/>
                  <a:ea typeface="+mj-ea"/>
                </a:endParaRPr>
              </a:p>
            </p:txBody>
          </p:sp>
          <p:sp>
            <p:nvSpPr>
              <p:cNvPr id="25" name="Title-0">
                <a:extLst>
                  <a:ext uri="{FF2B5EF4-FFF2-40B4-BE49-F238E27FC236}">
                    <a16:creationId xmlns:a16="http://schemas.microsoft.com/office/drawing/2014/main" id="{CBF2E543-D543-57CF-DF94-1BA5D24D27B4}"/>
                  </a:ext>
                </a:extLst>
              </p:cNvPr>
              <p:cNvSpPr txBox="1"/>
              <p:nvPr>
                <p:custDataLst>
                  <p:tags r:id="rId8"/>
                </p:custDataLst>
              </p:nvPr>
            </p:nvSpPr>
            <p:spPr>
              <a:xfrm>
                <a:off x="4926741" y="1391433"/>
                <a:ext cx="2374535" cy="461665"/>
              </a:xfrm>
              <a:prstGeom prst="rect">
                <a:avLst/>
              </a:prstGeom>
              <a:noFill/>
              <a:ln>
                <a:noFill/>
              </a:ln>
            </p:spPr>
            <p:style>
              <a:lnRef idx="2">
                <a:schemeClr val="accent5"/>
              </a:lnRef>
              <a:fillRef idx="1">
                <a:schemeClr val="lt1"/>
              </a:fillRef>
              <a:effectRef idx="0">
                <a:schemeClr val="accent5"/>
              </a:effectRef>
              <a:fontRef idx="minor">
                <a:schemeClr val="dk1"/>
              </a:fontRef>
            </p:style>
            <p:txBody>
              <a:bodyPr wrap="square" rtlCol="0">
                <a:spAutoFit/>
              </a:bodyPr>
              <a:lstStyle/>
              <a:p>
                <a:pPr algn="ctr"/>
                <a:r>
                  <a:rPr kumimoji="1" lang="zh-CN" altLang="en-US" sz="2400" b="1" dirty="0">
                    <a:solidFill>
                      <a:schemeClr val="tx1"/>
                    </a:solidFill>
                    <a:latin typeface="+mj-ea"/>
                    <a:ea typeface="+mj-ea"/>
                    <a:cs typeface="Alibaba PuHuiTi" pitchFamily="18" charset="-122"/>
                  </a:rPr>
                  <a:t>激励与布道</a:t>
                </a:r>
              </a:p>
            </p:txBody>
          </p:sp>
        </p:grpSp>
        <p:grpSp>
          <p:nvGrpSpPr>
            <p:cNvPr id="9" name="组合 1">
              <a:extLst>
                <a:ext uri="{FF2B5EF4-FFF2-40B4-BE49-F238E27FC236}">
                  <a16:creationId xmlns:a16="http://schemas.microsoft.com/office/drawing/2014/main" id="{6A534C7A-5356-CAB9-FB4C-86461A499AB9}"/>
                </a:ext>
              </a:extLst>
            </p:cNvPr>
            <p:cNvGrpSpPr/>
            <p:nvPr/>
          </p:nvGrpSpPr>
          <p:grpSpPr>
            <a:xfrm>
              <a:off x="1601768" y="2904580"/>
              <a:ext cx="2645513" cy="4368011"/>
              <a:chOff x="504280" y="2265489"/>
              <a:chExt cx="1491020" cy="4368011"/>
            </a:xfrm>
          </p:grpSpPr>
          <p:sp>
            <p:nvSpPr>
              <p:cNvPr id="20" name="1">
                <a:extLst>
                  <a:ext uri="{FF2B5EF4-FFF2-40B4-BE49-F238E27FC236}">
                    <a16:creationId xmlns:a16="http://schemas.microsoft.com/office/drawing/2014/main" id="{79A65AB2-770D-36B8-A73F-E49B6F163C8B}"/>
                  </a:ext>
                </a:extLst>
              </p:cNvPr>
              <p:cNvSpPr/>
              <p:nvPr/>
            </p:nvSpPr>
            <p:spPr>
              <a:xfrm>
                <a:off x="504281" y="2265489"/>
                <a:ext cx="1491019" cy="680085"/>
              </a:xfrm>
              <a:custGeom>
                <a:avLst/>
                <a:gdLst/>
                <a:ahLst/>
                <a:cxnLst/>
                <a:rect l="l" t="t" r="r" b="b"/>
                <a:pathLst>
                  <a:path w="3560445" h="680085">
                    <a:moveTo>
                      <a:pt x="3560127" y="0"/>
                    </a:moveTo>
                    <a:lnTo>
                      <a:pt x="0" y="0"/>
                    </a:lnTo>
                    <a:lnTo>
                      <a:pt x="0" y="679500"/>
                    </a:lnTo>
                    <a:lnTo>
                      <a:pt x="3560127" y="679500"/>
                    </a:lnTo>
                    <a:lnTo>
                      <a:pt x="3560127" y="0"/>
                    </a:lnTo>
                    <a:close/>
                  </a:path>
                </a:pathLst>
              </a:custGeom>
              <a:solidFill>
                <a:schemeClr val="accent1"/>
              </a:solidFill>
            </p:spPr>
            <p:txBody>
              <a:bodyPr wrap="square" lIns="0" tIns="0" rIns="0" bIns="0" rtlCol="0"/>
              <a:lstStyle/>
              <a:p>
                <a:endParaRPr>
                  <a:latin typeface="+mj-ea"/>
                  <a:ea typeface="+mj-ea"/>
                </a:endParaRPr>
              </a:p>
            </p:txBody>
          </p:sp>
          <p:sp>
            <p:nvSpPr>
              <p:cNvPr id="21" name="1">
                <a:extLst>
                  <a:ext uri="{FF2B5EF4-FFF2-40B4-BE49-F238E27FC236}">
                    <a16:creationId xmlns:a16="http://schemas.microsoft.com/office/drawing/2014/main" id="{A50618E0-5AB7-A3C5-CDD5-71A0FDB68AD8}"/>
                  </a:ext>
                </a:extLst>
              </p:cNvPr>
              <p:cNvSpPr/>
              <p:nvPr/>
            </p:nvSpPr>
            <p:spPr>
              <a:xfrm>
                <a:off x="504281" y="3085561"/>
                <a:ext cx="1491019" cy="3547939"/>
              </a:xfrm>
              <a:custGeom>
                <a:avLst/>
                <a:gdLst/>
                <a:ahLst/>
                <a:cxnLst/>
                <a:rect l="l" t="t" r="r" b="b"/>
                <a:pathLst>
                  <a:path w="3560445" h="2541904">
                    <a:moveTo>
                      <a:pt x="3560127" y="2541854"/>
                    </a:moveTo>
                    <a:lnTo>
                      <a:pt x="0" y="2541854"/>
                    </a:lnTo>
                    <a:lnTo>
                      <a:pt x="0" y="0"/>
                    </a:lnTo>
                    <a:lnTo>
                      <a:pt x="3560127" y="0"/>
                    </a:lnTo>
                    <a:lnTo>
                      <a:pt x="3560127" y="2541854"/>
                    </a:lnTo>
                    <a:close/>
                  </a:path>
                </a:pathLst>
              </a:custGeom>
              <a:solidFill>
                <a:schemeClr val="bg1"/>
              </a:solidFill>
              <a:ln w="12700">
                <a:solidFill>
                  <a:schemeClr val="tx2"/>
                </a:solidFill>
                <a:prstDash val="dash"/>
              </a:ln>
            </p:spPr>
            <p:txBody>
              <a:bodyPr wrap="square" lIns="0" tIns="0" rIns="0" bIns="0" rtlCol="0"/>
              <a:lstStyle/>
              <a:p>
                <a:endParaRPr dirty="0">
                  <a:latin typeface="+mj-ea"/>
                  <a:ea typeface="+mj-ea"/>
                </a:endParaRPr>
              </a:p>
            </p:txBody>
          </p:sp>
          <p:sp>
            <p:nvSpPr>
              <p:cNvPr id="22" name="Title-1">
                <a:extLst>
                  <a:ext uri="{FF2B5EF4-FFF2-40B4-BE49-F238E27FC236}">
                    <a16:creationId xmlns:a16="http://schemas.microsoft.com/office/drawing/2014/main" id="{2D8106AB-9D17-D1C0-CECB-A7496DE054BB}"/>
                  </a:ext>
                </a:extLst>
              </p:cNvPr>
              <p:cNvSpPr txBox="1"/>
              <p:nvPr>
                <p:custDataLst>
                  <p:tags r:id="rId6"/>
                </p:custDataLst>
              </p:nvPr>
            </p:nvSpPr>
            <p:spPr>
              <a:xfrm>
                <a:off x="504281" y="2317693"/>
                <a:ext cx="1438959" cy="646331"/>
              </a:xfrm>
              <a:prstGeom prst="rect">
                <a:avLst/>
              </a:prstGeom>
              <a:noFill/>
              <a:ln>
                <a:noFill/>
              </a:ln>
            </p:spPr>
            <p:style>
              <a:lnRef idx="2">
                <a:schemeClr val="accent5"/>
              </a:lnRef>
              <a:fillRef idx="1">
                <a:schemeClr val="lt1"/>
              </a:fillRef>
              <a:effectRef idx="0">
                <a:schemeClr val="accent5"/>
              </a:effectRef>
              <a:fontRef idx="minor">
                <a:schemeClr val="dk1"/>
              </a:fontRef>
            </p:style>
            <p:txBody>
              <a:bodyPr wrap="square" rtlCol="0">
                <a:spAutoFit/>
              </a:bodyPr>
              <a:lstStyle/>
              <a:p>
                <a:pPr algn="ctr"/>
                <a:r>
                  <a:rPr kumimoji="1" lang="zh-CN" altLang="en-US" b="1" dirty="0">
                    <a:solidFill>
                      <a:schemeClr val="tx1"/>
                    </a:solidFill>
                    <a:latin typeface="+mj-ea"/>
                    <a:ea typeface="+mj-ea"/>
                    <a:cs typeface="Alibaba PuHuiTi" pitchFamily="18" charset="-122"/>
                  </a:rPr>
                  <a:t>利益重构困局：打破部门割据的“手术刀”</a:t>
                </a:r>
              </a:p>
            </p:txBody>
          </p:sp>
          <p:sp>
            <p:nvSpPr>
              <p:cNvPr id="23" name="Body-1">
                <a:extLst>
                  <a:ext uri="{FF2B5EF4-FFF2-40B4-BE49-F238E27FC236}">
                    <a16:creationId xmlns:a16="http://schemas.microsoft.com/office/drawing/2014/main" id="{9C37C718-B9B1-1095-81D0-B847DFC6C5A9}"/>
                  </a:ext>
                </a:extLst>
              </p:cNvPr>
              <p:cNvSpPr/>
              <p:nvPr>
                <p:custDataLst>
                  <p:tags r:id="rId7"/>
                </p:custDataLst>
              </p:nvPr>
            </p:nvSpPr>
            <p:spPr>
              <a:xfrm flipH="1">
                <a:off x="504280" y="3016228"/>
                <a:ext cx="1491018" cy="3617272"/>
              </a:xfrm>
              <a:prstGeom prst="rect">
                <a:avLst/>
              </a:prstGeom>
              <a:ln>
                <a:noFill/>
              </a:ln>
            </p:spPr>
            <p:txBody>
              <a:bodyPr wrap="square" lIns="91440" tIns="45720" rIns="91440" bIns="45720" anchor="t">
                <a:spAutoFit/>
              </a:bodyPr>
              <a:lstStyle/>
              <a:p>
                <a:pPr marL="171450" indent="-171450" defTabSz="457200">
                  <a:lnSpc>
                    <a:spcPct val="150000"/>
                  </a:lnSpc>
                  <a:buFont typeface="Arial" panose="020B0604020202020204" pitchFamily="34" charset="0"/>
                  <a:buChar char="•"/>
                  <a:defRPr/>
                </a:pPr>
                <a:r>
                  <a:rPr lang="zh-CN" altLang="en-US" sz="1100" b="1" dirty="0">
                    <a:latin typeface="+mj-ea"/>
                    <a:ea typeface="+mj-ea"/>
                    <a:cs typeface="+mn-ea"/>
                    <a:sym typeface="+mn-lt"/>
                  </a:rPr>
                  <a:t>现实痛点：</a:t>
                </a:r>
              </a:p>
              <a:p>
                <a:pPr marL="628650" lvl="1" indent="-171450" defTabSz="457200">
                  <a:lnSpc>
                    <a:spcPct val="150000"/>
                  </a:lnSpc>
                  <a:buFont typeface="Arial" panose="020B0604020202020204" pitchFamily="34" charset="0"/>
                  <a:buChar char="•"/>
                  <a:defRPr/>
                </a:pPr>
                <a:r>
                  <a:rPr lang="zh-CN" altLang="en-US" sz="1100" dirty="0">
                    <a:latin typeface="+mj-ea"/>
                    <a:ea typeface="+mj-ea"/>
                    <a:cs typeface="+mn-ea"/>
                    <a:sym typeface="+mn-lt"/>
                  </a:rPr>
                  <a:t>销售追求高预测准确率（牺牲灵活性），生产追求低换产次数（牺牲响应速度），采购追求大宗折扣（牺牲库存周转）。</a:t>
                </a:r>
              </a:p>
              <a:p>
                <a:pPr marL="628650" lvl="1" indent="-171450" defTabSz="457200">
                  <a:lnSpc>
                    <a:spcPct val="150000"/>
                  </a:lnSpc>
                  <a:buFont typeface="Arial" panose="020B0604020202020204" pitchFamily="34" charset="0"/>
                  <a:buChar char="•"/>
                  <a:defRPr/>
                </a:pPr>
                <a:r>
                  <a:rPr lang="zh-CN" altLang="en-US" sz="1100" dirty="0">
                    <a:latin typeface="+mj-ea"/>
                    <a:ea typeface="+mj-ea"/>
                    <a:cs typeface="+mn-ea"/>
                    <a:sym typeface="+mn-lt"/>
                  </a:rPr>
                  <a:t>某产品线、区域为追求短期利润而获得高优先级（牺牲整个集团，长期的客户满意度）。</a:t>
                </a:r>
              </a:p>
              <a:p>
                <a:pPr marL="628650" lvl="1" indent="-171450" defTabSz="457200">
                  <a:lnSpc>
                    <a:spcPct val="150000"/>
                  </a:lnSpc>
                  <a:buFont typeface="Arial" panose="020B0604020202020204" pitchFamily="34" charset="0"/>
                  <a:buChar char="•"/>
                  <a:defRPr/>
                </a:pPr>
                <a:r>
                  <a:rPr lang="zh-CN" altLang="en-US" sz="1100" dirty="0">
                    <a:latin typeface="+mj-ea"/>
                    <a:ea typeface="+mj-ea"/>
                    <a:cs typeface="+mn-ea"/>
                    <a:sym typeface="+mn-lt"/>
                  </a:rPr>
                  <a:t>局部最优导致体系劣化。</a:t>
                </a:r>
              </a:p>
              <a:p>
                <a:pPr marL="171450" indent="-171450" defTabSz="457200">
                  <a:lnSpc>
                    <a:spcPct val="150000"/>
                  </a:lnSpc>
                  <a:buFont typeface="Arial" panose="020B0604020202020204" pitchFamily="34" charset="0"/>
                  <a:buChar char="•"/>
                  <a:defRPr/>
                </a:pPr>
                <a:r>
                  <a:rPr lang="zh-CN" altLang="en-US" sz="1100" dirty="0">
                    <a:latin typeface="+mj-ea"/>
                    <a:ea typeface="+mj-ea"/>
                    <a:cs typeface="+mn-ea"/>
                    <a:sym typeface="+mn-lt"/>
                  </a:rPr>
                  <a:t>领导人的价值：</a:t>
                </a:r>
              </a:p>
              <a:p>
                <a:pPr marL="628650" lvl="1" indent="-171450" defTabSz="457200">
                  <a:lnSpc>
                    <a:spcPct val="150000"/>
                  </a:lnSpc>
                  <a:buFont typeface="Arial" panose="020B0604020202020204" pitchFamily="34" charset="0"/>
                  <a:buChar char="•"/>
                  <a:defRPr/>
                </a:pPr>
                <a:r>
                  <a:rPr lang="zh-CN" altLang="en-US" sz="1100" dirty="0">
                    <a:latin typeface="+mj-ea"/>
                    <a:ea typeface="+mj-ea"/>
                    <a:cs typeface="+mn-ea"/>
                    <a:sym typeface="+mn-lt"/>
                  </a:rPr>
                  <a:t>以组织权威强制推行“全局</a:t>
                </a:r>
                <a:r>
                  <a:rPr lang="en-US" altLang="zh-CN" sz="1100" dirty="0">
                    <a:latin typeface="+mj-ea"/>
                    <a:ea typeface="+mj-ea"/>
                    <a:cs typeface="+mn-ea"/>
                    <a:sym typeface="+mn-lt"/>
                  </a:rPr>
                  <a:t>KPI”</a:t>
                </a:r>
                <a:r>
                  <a:rPr lang="zh-CN" altLang="en-US" sz="1100" dirty="0">
                    <a:latin typeface="+mj-ea"/>
                    <a:ea typeface="+mj-ea"/>
                    <a:cs typeface="+mn-ea"/>
                    <a:sym typeface="+mn-lt"/>
                  </a:rPr>
                  <a:t>（如全链路总成本、客户履约率），重塑激励体系，使部门利益与系统目标对齐</a:t>
                </a:r>
                <a:endParaRPr lang="en-US" altLang="zh-CN" sz="1100" dirty="0">
                  <a:latin typeface="+mj-ea"/>
                  <a:ea typeface="+mj-ea"/>
                  <a:cs typeface="+mn-ea"/>
                  <a:sym typeface="+mn-lt"/>
                </a:endParaRPr>
              </a:p>
            </p:txBody>
          </p:sp>
        </p:grpSp>
        <p:grpSp>
          <p:nvGrpSpPr>
            <p:cNvPr id="10" name="组合 3">
              <a:extLst>
                <a:ext uri="{FF2B5EF4-FFF2-40B4-BE49-F238E27FC236}">
                  <a16:creationId xmlns:a16="http://schemas.microsoft.com/office/drawing/2014/main" id="{DC2BA214-FAE9-5D1E-9637-6A177AF9D270}"/>
                </a:ext>
              </a:extLst>
            </p:cNvPr>
            <p:cNvGrpSpPr/>
            <p:nvPr/>
          </p:nvGrpSpPr>
          <p:grpSpPr>
            <a:xfrm>
              <a:off x="7942721" y="2904580"/>
              <a:ext cx="2645511" cy="4368011"/>
              <a:chOff x="504281" y="2265489"/>
              <a:chExt cx="1491019" cy="4368011"/>
            </a:xfrm>
          </p:grpSpPr>
          <p:sp>
            <p:nvSpPr>
              <p:cNvPr id="16" name="3">
                <a:extLst>
                  <a:ext uri="{FF2B5EF4-FFF2-40B4-BE49-F238E27FC236}">
                    <a16:creationId xmlns:a16="http://schemas.microsoft.com/office/drawing/2014/main" id="{C4E2AA67-DCD3-3D4C-2355-2338670D2D49}"/>
                  </a:ext>
                </a:extLst>
              </p:cNvPr>
              <p:cNvSpPr/>
              <p:nvPr/>
            </p:nvSpPr>
            <p:spPr>
              <a:xfrm>
                <a:off x="504281" y="2265489"/>
                <a:ext cx="1491019" cy="680085"/>
              </a:xfrm>
              <a:custGeom>
                <a:avLst/>
                <a:gdLst/>
                <a:ahLst/>
                <a:cxnLst/>
                <a:rect l="l" t="t" r="r" b="b"/>
                <a:pathLst>
                  <a:path w="3560445" h="680085">
                    <a:moveTo>
                      <a:pt x="3560127" y="0"/>
                    </a:moveTo>
                    <a:lnTo>
                      <a:pt x="0" y="0"/>
                    </a:lnTo>
                    <a:lnTo>
                      <a:pt x="0" y="679500"/>
                    </a:lnTo>
                    <a:lnTo>
                      <a:pt x="3560127" y="679500"/>
                    </a:lnTo>
                    <a:lnTo>
                      <a:pt x="3560127" y="0"/>
                    </a:lnTo>
                    <a:close/>
                  </a:path>
                </a:pathLst>
              </a:custGeom>
              <a:solidFill>
                <a:schemeClr val="accent1"/>
              </a:solidFill>
            </p:spPr>
            <p:txBody>
              <a:bodyPr wrap="square" lIns="0" tIns="0" rIns="0" bIns="0" rtlCol="0"/>
              <a:lstStyle/>
              <a:p>
                <a:endParaRPr>
                  <a:latin typeface="+mj-ea"/>
                  <a:ea typeface="+mj-ea"/>
                </a:endParaRPr>
              </a:p>
            </p:txBody>
          </p:sp>
          <p:sp>
            <p:nvSpPr>
              <p:cNvPr id="17" name="3">
                <a:extLst>
                  <a:ext uri="{FF2B5EF4-FFF2-40B4-BE49-F238E27FC236}">
                    <a16:creationId xmlns:a16="http://schemas.microsoft.com/office/drawing/2014/main" id="{48E58BFD-C559-700A-D641-EE10880C9528}"/>
                  </a:ext>
                </a:extLst>
              </p:cNvPr>
              <p:cNvSpPr/>
              <p:nvPr/>
            </p:nvSpPr>
            <p:spPr>
              <a:xfrm>
                <a:off x="504281" y="3085561"/>
                <a:ext cx="1491019" cy="3547939"/>
              </a:xfrm>
              <a:custGeom>
                <a:avLst/>
                <a:gdLst/>
                <a:ahLst/>
                <a:cxnLst/>
                <a:rect l="l" t="t" r="r" b="b"/>
                <a:pathLst>
                  <a:path w="3560445" h="2541904">
                    <a:moveTo>
                      <a:pt x="3560127" y="2541854"/>
                    </a:moveTo>
                    <a:lnTo>
                      <a:pt x="0" y="2541854"/>
                    </a:lnTo>
                    <a:lnTo>
                      <a:pt x="0" y="0"/>
                    </a:lnTo>
                    <a:lnTo>
                      <a:pt x="3560127" y="0"/>
                    </a:lnTo>
                    <a:lnTo>
                      <a:pt x="3560127" y="2541854"/>
                    </a:lnTo>
                    <a:close/>
                  </a:path>
                </a:pathLst>
              </a:custGeom>
              <a:solidFill>
                <a:schemeClr val="bg1"/>
              </a:solidFill>
              <a:ln w="12700">
                <a:solidFill>
                  <a:schemeClr val="tx2"/>
                </a:solidFill>
                <a:prstDash val="dash"/>
              </a:ln>
            </p:spPr>
            <p:txBody>
              <a:bodyPr wrap="square" lIns="0" tIns="0" rIns="0" bIns="0" rtlCol="0"/>
              <a:lstStyle/>
              <a:p>
                <a:endParaRPr>
                  <a:latin typeface="+mj-ea"/>
                  <a:ea typeface="+mj-ea"/>
                </a:endParaRPr>
              </a:p>
            </p:txBody>
          </p:sp>
          <p:sp>
            <p:nvSpPr>
              <p:cNvPr id="18" name="Title-3">
                <a:extLst>
                  <a:ext uri="{FF2B5EF4-FFF2-40B4-BE49-F238E27FC236}">
                    <a16:creationId xmlns:a16="http://schemas.microsoft.com/office/drawing/2014/main" id="{60D215B4-6294-0B2B-FFED-81F4409FA812}"/>
                  </a:ext>
                </a:extLst>
              </p:cNvPr>
              <p:cNvSpPr txBox="1"/>
              <p:nvPr>
                <p:custDataLst>
                  <p:tags r:id="rId4"/>
                </p:custDataLst>
              </p:nvPr>
            </p:nvSpPr>
            <p:spPr>
              <a:xfrm>
                <a:off x="556339" y="2317693"/>
                <a:ext cx="1282782" cy="646331"/>
              </a:xfrm>
              <a:prstGeom prst="rect">
                <a:avLst/>
              </a:prstGeom>
              <a:noFill/>
              <a:ln>
                <a:noFill/>
              </a:ln>
            </p:spPr>
            <p:style>
              <a:lnRef idx="2">
                <a:schemeClr val="accent5"/>
              </a:lnRef>
              <a:fillRef idx="1">
                <a:schemeClr val="lt1"/>
              </a:fillRef>
              <a:effectRef idx="0">
                <a:schemeClr val="accent5"/>
              </a:effectRef>
              <a:fontRef idx="minor">
                <a:schemeClr val="dk1"/>
              </a:fontRef>
            </p:style>
            <p:txBody>
              <a:bodyPr wrap="square" rtlCol="0">
                <a:spAutoFit/>
              </a:bodyPr>
              <a:lstStyle/>
              <a:p>
                <a:pPr algn="ctr"/>
                <a:r>
                  <a:rPr kumimoji="1" lang="zh-CN" altLang="en-US" b="1" dirty="0">
                    <a:solidFill>
                      <a:schemeClr val="tx1"/>
                    </a:solidFill>
                    <a:latin typeface="+mj-ea"/>
                    <a:ea typeface="+mj-ea"/>
                    <a:cs typeface="Alibaba PuHuiTi" pitchFamily="18" charset="-122"/>
                  </a:rPr>
                  <a:t>信念塌方困局：对抗“组织抗体”的疫苗</a:t>
                </a:r>
              </a:p>
            </p:txBody>
          </p:sp>
          <p:sp>
            <p:nvSpPr>
              <p:cNvPr id="19" name="Body-3">
                <a:extLst>
                  <a:ext uri="{FF2B5EF4-FFF2-40B4-BE49-F238E27FC236}">
                    <a16:creationId xmlns:a16="http://schemas.microsoft.com/office/drawing/2014/main" id="{76DF65EB-AFA3-8F29-2489-2D5091FD9774}"/>
                  </a:ext>
                </a:extLst>
              </p:cNvPr>
              <p:cNvSpPr/>
              <p:nvPr>
                <p:custDataLst>
                  <p:tags r:id="rId5"/>
                </p:custDataLst>
              </p:nvPr>
            </p:nvSpPr>
            <p:spPr>
              <a:xfrm flipH="1">
                <a:off x="504281" y="3328501"/>
                <a:ext cx="1491018" cy="1332031"/>
              </a:xfrm>
              <a:prstGeom prst="rect">
                <a:avLst/>
              </a:prstGeom>
              <a:ln>
                <a:noFill/>
              </a:ln>
            </p:spPr>
            <p:txBody>
              <a:bodyPr wrap="square" lIns="91440" tIns="45720" rIns="91440" bIns="45720" anchor="t">
                <a:spAutoFit/>
              </a:bodyPr>
              <a:lstStyle/>
              <a:p>
                <a:pPr algn="ctr" defTabSz="457200">
                  <a:lnSpc>
                    <a:spcPct val="150000"/>
                  </a:lnSpc>
                  <a:defRPr/>
                </a:pPr>
                <a:r>
                  <a:rPr lang="zh-CN" altLang="en-US" sz="1100" dirty="0">
                    <a:latin typeface="+mj-ea"/>
                    <a:ea typeface="+mj-ea"/>
                    <a:cs typeface="+mn-ea"/>
                    <a:sym typeface="+mn-lt"/>
                  </a:rPr>
                  <a:t>当项目组因方案初期准确率仅</a:t>
                </a:r>
                <a:r>
                  <a:rPr lang="en-US" altLang="zh-CN" sz="1100" dirty="0">
                    <a:latin typeface="+mj-ea"/>
                    <a:ea typeface="+mj-ea"/>
                    <a:cs typeface="+mn-ea"/>
                    <a:sym typeface="+mn-lt"/>
                  </a:rPr>
                  <a:t>65%</a:t>
                </a:r>
                <a:r>
                  <a:rPr lang="zh-CN" altLang="en-US" sz="1100" dirty="0">
                    <a:latin typeface="+mj-ea"/>
                    <a:ea typeface="+mj-ea"/>
                    <a:cs typeface="+mn-ea"/>
                    <a:sym typeface="+mn-lt"/>
                  </a:rPr>
                  <a:t>被业务部门围攻时，领导人需现身宣示：“允许试错，但不容后退！未来</a:t>
                </a:r>
                <a:r>
                  <a:rPr lang="en-US" altLang="zh-CN" sz="1100" dirty="0">
                    <a:latin typeface="+mj-ea"/>
                    <a:ea typeface="+mj-ea"/>
                    <a:cs typeface="+mn-ea"/>
                    <a:sym typeface="+mn-lt"/>
                  </a:rPr>
                  <a:t>6</a:t>
                </a:r>
                <a:r>
                  <a:rPr lang="zh-CN" altLang="en-US" sz="1100" dirty="0">
                    <a:latin typeface="+mj-ea"/>
                    <a:ea typeface="+mj-ea"/>
                    <a:cs typeface="+mn-ea"/>
                    <a:sym typeface="+mn-lt"/>
                  </a:rPr>
                  <a:t>个月，所有计划决策必须通过新系统，旧系统、</a:t>
                </a:r>
                <a:r>
                  <a:rPr lang="en-US" altLang="zh-CN" sz="1100" dirty="0">
                    <a:latin typeface="+mj-ea"/>
                    <a:ea typeface="+mj-ea"/>
                    <a:cs typeface="+mn-ea"/>
                    <a:sym typeface="+mn-lt"/>
                  </a:rPr>
                  <a:t>Excel</a:t>
                </a:r>
                <a:r>
                  <a:rPr lang="zh-CN" altLang="en-US" sz="1100" dirty="0">
                    <a:latin typeface="+mj-ea"/>
                    <a:ea typeface="+mj-ea"/>
                    <a:cs typeface="+mn-ea"/>
                    <a:sym typeface="+mn-lt"/>
                  </a:rPr>
                  <a:t>表格即刻作废！”</a:t>
                </a:r>
                <a:endParaRPr lang="en-US" altLang="zh-CN" sz="1100" dirty="0">
                  <a:latin typeface="+mj-ea"/>
                  <a:ea typeface="+mj-ea"/>
                  <a:cs typeface="+mn-ea"/>
                  <a:sym typeface="+mn-lt"/>
                </a:endParaRPr>
              </a:p>
            </p:txBody>
          </p:sp>
        </p:grpSp>
        <p:grpSp>
          <p:nvGrpSpPr>
            <p:cNvPr id="11" name="组合 2">
              <a:extLst>
                <a:ext uri="{FF2B5EF4-FFF2-40B4-BE49-F238E27FC236}">
                  <a16:creationId xmlns:a16="http://schemas.microsoft.com/office/drawing/2014/main" id="{F3886E4D-3073-766F-68B2-EB1E1117EB66}"/>
                </a:ext>
              </a:extLst>
            </p:cNvPr>
            <p:cNvGrpSpPr/>
            <p:nvPr/>
          </p:nvGrpSpPr>
          <p:grpSpPr>
            <a:xfrm>
              <a:off x="4772246" y="2859448"/>
              <a:ext cx="2645511" cy="4413143"/>
              <a:chOff x="504281" y="2220357"/>
              <a:chExt cx="1491019" cy="4413143"/>
            </a:xfrm>
          </p:grpSpPr>
          <p:sp>
            <p:nvSpPr>
              <p:cNvPr id="12" name="2">
                <a:extLst>
                  <a:ext uri="{FF2B5EF4-FFF2-40B4-BE49-F238E27FC236}">
                    <a16:creationId xmlns:a16="http://schemas.microsoft.com/office/drawing/2014/main" id="{C9B8B30F-DE4D-11A1-2066-15C4694E4F8D}"/>
                  </a:ext>
                </a:extLst>
              </p:cNvPr>
              <p:cNvSpPr/>
              <p:nvPr/>
            </p:nvSpPr>
            <p:spPr>
              <a:xfrm>
                <a:off x="504281" y="2265489"/>
                <a:ext cx="1491019" cy="680085"/>
              </a:xfrm>
              <a:custGeom>
                <a:avLst/>
                <a:gdLst/>
                <a:ahLst/>
                <a:cxnLst/>
                <a:rect l="l" t="t" r="r" b="b"/>
                <a:pathLst>
                  <a:path w="3560445" h="680085">
                    <a:moveTo>
                      <a:pt x="3560127" y="0"/>
                    </a:moveTo>
                    <a:lnTo>
                      <a:pt x="0" y="0"/>
                    </a:lnTo>
                    <a:lnTo>
                      <a:pt x="0" y="679500"/>
                    </a:lnTo>
                    <a:lnTo>
                      <a:pt x="3560127" y="679500"/>
                    </a:lnTo>
                    <a:lnTo>
                      <a:pt x="3560127" y="0"/>
                    </a:lnTo>
                    <a:close/>
                  </a:path>
                </a:pathLst>
              </a:custGeom>
              <a:solidFill>
                <a:schemeClr val="accent1"/>
              </a:solidFill>
            </p:spPr>
            <p:txBody>
              <a:bodyPr wrap="square" lIns="0" tIns="0" rIns="0" bIns="0" rtlCol="0"/>
              <a:lstStyle/>
              <a:p>
                <a:endParaRPr>
                  <a:latin typeface="+mj-ea"/>
                  <a:ea typeface="+mj-ea"/>
                </a:endParaRPr>
              </a:p>
            </p:txBody>
          </p:sp>
          <p:sp>
            <p:nvSpPr>
              <p:cNvPr id="13" name="2">
                <a:extLst>
                  <a:ext uri="{FF2B5EF4-FFF2-40B4-BE49-F238E27FC236}">
                    <a16:creationId xmlns:a16="http://schemas.microsoft.com/office/drawing/2014/main" id="{6E6D7D39-274A-AA63-A70F-CB548D9FEDE2}"/>
                  </a:ext>
                </a:extLst>
              </p:cNvPr>
              <p:cNvSpPr/>
              <p:nvPr/>
            </p:nvSpPr>
            <p:spPr>
              <a:xfrm>
                <a:off x="504281" y="3085561"/>
                <a:ext cx="1491019" cy="3547939"/>
              </a:xfrm>
              <a:custGeom>
                <a:avLst/>
                <a:gdLst/>
                <a:ahLst/>
                <a:cxnLst/>
                <a:rect l="l" t="t" r="r" b="b"/>
                <a:pathLst>
                  <a:path w="3560445" h="2541904">
                    <a:moveTo>
                      <a:pt x="3560127" y="2541854"/>
                    </a:moveTo>
                    <a:lnTo>
                      <a:pt x="0" y="2541854"/>
                    </a:lnTo>
                    <a:lnTo>
                      <a:pt x="0" y="0"/>
                    </a:lnTo>
                    <a:lnTo>
                      <a:pt x="3560127" y="0"/>
                    </a:lnTo>
                    <a:lnTo>
                      <a:pt x="3560127" y="2541854"/>
                    </a:lnTo>
                    <a:close/>
                  </a:path>
                </a:pathLst>
              </a:custGeom>
              <a:solidFill>
                <a:schemeClr val="bg1"/>
              </a:solidFill>
              <a:ln w="12700">
                <a:solidFill>
                  <a:schemeClr val="tx2"/>
                </a:solidFill>
                <a:prstDash val="dash"/>
              </a:ln>
            </p:spPr>
            <p:txBody>
              <a:bodyPr wrap="square" lIns="0" tIns="0" rIns="0" bIns="0" rtlCol="0"/>
              <a:lstStyle/>
              <a:p>
                <a:endParaRPr>
                  <a:latin typeface="+mj-ea"/>
                  <a:ea typeface="+mj-ea"/>
                </a:endParaRPr>
              </a:p>
            </p:txBody>
          </p:sp>
          <p:sp>
            <p:nvSpPr>
              <p:cNvPr id="14" name="Title-2">
                <a:extLst>
                  <a:ext uri="{FF2B5EF4-FFF2-40B4-BE49-F238E27FC236}">
                    <a16:creationId xmlns:a16="http://schemas.microsoft.com/office/drawing/2014/main" id="{6F654EDD-D101-9BD2-063B-A1B663FD5963}"/>
                  </a:ext>
                </a:extLst>
              </p:cNvPr>
              <p:cNvSpPr txBox="1"/>
              <p:nvPr>
                <p:custDataLst>
                  <p:tags r:id="rId2"/>
                </p:custDataLst>
              </p:nvPr>
            </p:nvSpPr>
            <p:spPr>
              <a:xfrm>
                <a:off x="556339" y="2220357"/>
                <a:ext cx="1438961" cy="646331"/>
              </a:xfrm>
              <a:prstGeom prst="rect">
                <a:avLst/>
              </a:prstGeom>
              <a:noFill/>
              <a:ln>
                <a:noFill/>
              </a:ln>
            </p:spPr>
            <p:style>
              <a:lnRef idx="2">
                <a:schemeClr val="accent5"/>
              </a:lnRef>
              <a:fillRef idx="1">
                <a:schemeClr val="lt1"/>
              </a:fillRef>
              <a:effectRef idx="0">
                <a:schemeClr val="accent5"/>
              </a:effectRef>
              <a:fontRef idx="minor">
                <a:schemeClr val="dk1"/>
              </a:fontRef>
            </p:style>
            <p:txBody>
              <a:bodyPr wrap="square" rtlCol="0">
                <a:spAutoFit/>
              </a:bodyPr>
              <a:lstStyle/>
              <a:p>
                <a:pPr algn="ctr"/>
                <a:r>
                  <a:rPr kumimoji="1" lang="zh-CN" altLang="en-US" b="1" dirty="0">
                    <a:solidFill>
                      <a:schemeClr val="tx1"/>
                    </a:solidFill>
                    <a:latin typeface="+mj-ea"/>
                    <a:ea typeface="+mj-ea"/>
                    <a:cs typeface="Alibaba PuHuiTi" pitchFamily="18" charset="-122"/>
                  </a:rPr>
                  <a:t>资源投入困局：穿越“死亡之谷”的护航舰</a:t>
                </a:r>
              </a:p>
            </p:txBody>
          </p:sp>
          <p:sp>
            <p:nvSpPr>
              <p:cNvPr id="15" name="Body-2">
                <a:extLst>
                  <a:ext uri="{FF2B5EF4-FFF2-40B4-BE49-F238E27FC236}">
                    <a16:creationId xmlns:a16="http://schemas.microsoft.com/office/drawing/2014/main" id="{D8A9B478-8D31-D1F2-70B8-6AB6B038CD81}"/>
                  </a:ext>
                </a:extLst>
              </p:cNvPr>
              <p:cNvSpPr/>
              <p:nvPr>
                <p:custDataLst>
                  <p:tags r:id="rId3"/>
                </p:custDataLst>
              </p:nvPr>
            </p:nvSpPr>
            <p:spPr>
              <a:xfrm flipH="1">
                <a:off x="608399" y="3328501"/>
                <a:ext cx="1282781" cy="316369"/>
              </a:xfrm>
              <a:prstGeom prst="rect">
                <a:avLst/>
              </a:prstGeom>
              <a:ln>
                <a:noFill/>
              </a:ln>
            </p:spPr>
            <p:txBody>
              <a:bodyPr wrap="square" lIns="91440" tIns="45720" rIns="91440" bIns="45720" anchor="t">
                <a:spAutoFit/>
              </a:bodyPr>
              <a:lstStyle/>
              <a:p>
                <a:pPr algn="ctr" defTabSz="457200">
                  <a:lnSpc>
                    <a:spcPct val="150000"/>
                  </a:lnSpc>
                  <a:defRPr/>
                </a:pPr>
                <a:endParaRPr lang="en-US" altLang="zh-CN" sz="1100" dirty="0">
                  <a:latin typeface="+mj-ea"/>
                  <a:ea typeface="+mj-ea"/>
                  <a:cs typeface="+mn-ea"/>
                  <a:sym typeface="+mn-lt"/>
                </a:endParaRPr>
              </a:p>
            </p:txBody>
          </p:sp>
        </p:grpSp>
      </p:grpSp>
      <p:graphicFrame>
        <p:nvGraphicFramePr>
          <p:cNvPr id="26" name="表格 25">
            <a:extLst>
              <a:ext uri="{FF2B5EF4-FFF2-40B4-BE49-F238E27FC236}">
                <a16:creationId xmlns:a16="http://schemas.microsoft.com/office/drawing/2014/main" id="{568CAEA6-1888-2316-8FB9-21041E4E2B8B}"/>
              </a:ext>
            </a:extLst>
          </p:cNvPr>
          <p:cNvGraphicFramePr>
            <a:graphicFrameLocks noGrp="1"/>
          </p:cNvGraphicFramePr>
          <p:nvPr>
            <p:extLst>
              <p:ext uri="{D42A27DB-BD31-4B8C-83A1-F6EECF244321}">
                <p14:modId xmlns:p14="http://schemas.microsoft.com/office/powerpoint/2010/main" val="3373116510"/>
              </p:ext>
            </p:extLst>
          </p:nvPr>
        </p:nvGraphicFramePr>
        <p:xfrm>
          <a:off x="4996273" y="3287617"/>
          <a:ext cx="2553147" cy="3379960"/>
        </p:xfrm>
        <a:graphic>
          <a:graphicData uri="http://schemas.openxmlformats.org/drawingml/2006/table">
            <a:tbl>
              <a:tblPr/>
              <a:tblGrid>
                <a:gridCol w="851049">
                  <a:extLst>
                    <a:ext uri="{9D8B030D-6E8A-4147-A177-3AD203B41FA5}">
                      <a16:colId xmlns:a16="http://schemas.microsoft.com/office/drawing/2014/main" val="4084672518"/>
                    </a:ext>
                  </a:extLst>
                </a:gridCol>
                <a:gridCol w="851049">
                  <a:extLst>
                    <a:ext uri="{9D8B030D-6E8A-4147-A177-3AD203B41FA5}">
                      <a16:colId xmlns:a16="http://schemas.microsoft.com/office/drawing/2014/main" val="3770877431"/>
                    </a:ext>
                  </a:extLst>
                </a:gridCol>
                <a:gridCol w="851049">
                  <a:extLst>
                    <a:ext uri="{9D8B030D-6E8A-4147-A177-3AD203B41FA5}">
                      <a16:colId xmlns:a16="http://schemas.microsoft.com/office/drawing/2014/main" val="1403870287"/>
                    </a:ext>
                  </a:extLst>
                </a:gridCol>
              </a:tblGrid>
              <a:tr h="325104">
                <a:tc>
                  <a:txBody>
                    <a:bodyPr/>
                    <a:lstStyle/>
                    <a:p>
                      <a:pPr fontAlgn="t"/>
                      <a:r>
                        <a:rPr lang="zh-CN" altLang="en-US" sz="1050" b="1">
                          <a:solidFill>
                            <a:srgbClr val="FFFFFF"/>
                          </a:solidFill>
                          <a:effectLst/>
                          <a:latin typeface="+mj-ea"/>
                          <a:ea typeface="+mj-ea"/>
                        </a:rPr>
                        <a:t>转型阶段</a:t>
                      </a:r>
                    </a:p>
                  </a:txBody>
                  <a:tcPr marL="57150" marR="57150" marT="47625" marB="47625">
                    <a:lnL w="4763" cap="flat" cmpd="sng" algn="ctr">
                      <a:solidFill>
                        <a:srgbClr val="1C3879"/>
                      </a:solidFill>
                      <a:prstDash val="solid"/>
                      <a:round/>
                      <a:headEnd type="none" w="med" len="med"/>
                      <a:tailEnd type="none" w="med" len="med"/>
                    </a:lnL>
                    <a:lnR w="2381" cap="flat" cmpd="sng" algn="ctr">
                      <a:solidFill>
                        <a:srgbClr val="1C3879"/>
                      </a:solidFill>
                      <a:prstDash val="solid"/>
                      <a:round/>
                      <a:headEnd type="none" w="med" len="med"/>
                      <a:tailEnd type="none" w="med" len="med"/>
                    </a:lnR>
                    <a:lnT w="4763" cap="flat" cmpd="sng" algn="ctr">
                      <a:solidFill>
                        <a:srgbClr val="1C3879"/>
                      </a:solidFill>
                      <a:prstDash val="solid"/>
                      <a:round/>
                      <a:headEnd type="none" w="med" len="med"/>
                      <a:tailEnd type="none" w="med" len="med"/>
                    </a:lnT>
                    <a:lnB w="2381" cap="flat" cmpd="sng" algn="ctr">
                      <a:solidFill>
                        <a:srgbClr val="1C3879"/>
                      </a:solidFill>
                      <a:prstDash val="solid"/>
                      <a:round/>
                      <a:headEnd type="none" w="med" len="med"/>
                      <a:tailEnd type="none" w="med" len="med"/>
                    </a:lnB>
                    <a:solidFill>
                      <a:srgbClr val="1C3879"/>
                    </a:solidFill>
                  </a:tcPr>
                </a:tc>
                <a:tc>
                  <a:txBody>
                    <a:bodyPr/>
                    <a:lstStyle/>
                    <a:p>
                      <a:pPr fontAlgn="t"/>
                      <a:r>
                        <a:rPr lang="zh-CN" altLang="en-US" sz="1050" b="1" dirty="0">
                          <a:solidFill>
                            <a:srgbClr val="FFFFFF"/>
                          </a:solidFill>
                          <a:effectLst/>
                          <a:latin typeface="+mj-ea"/>
                          <a:ea typeface="+mj-ea"/>
                        </a:rPr>
                        <a:t>资源黑洞</a:t>
                      </a:r>
                    </a:p>
                  </a:txBody>
                  <a:tcPr marL="57150" marR="57150" marT="47625" marB="47625">
                    <a:lnL w="2381" cap="flat" cmpd="sng" algn="ctr">
                      <a:solidFill>
                        <a:srgbClr val="1C3879"/>
                      </a:solidFill>
                      <a:prstDash val="solid"/>
                      <a:round/>
                      <a:headEnd type="none" w="med" len="med"/>
                      <a:tailEnd type="none" w="med" len="med"/>
                    </a:lnL>
                    <a:lnR w="2381" cap="flat" cmpd="sng" algn="ctr">
                      <a:solidFill>
                        <a:srgbClr val="1C3879"/>
                      </a:solidFill>
                      <a:prstDash val="solid"/>
                      <a:round/>
                      <a:headEnd type="none" w="med" len="med"/>
                      <a:tailEnd type="none" w="med" len="med"/>
                    </a:lnR>
                    <a:lnT w="4763" cap="flat" cmpd="sng" algn="ctr">
                      <a:solidFill>
                        <a:srgbClr val="1C3879"/>
                      </a:solidFill>
                      <a:prstDash val="solid"/>
                      <a:round/>
                      <a:headEnd type="none" w="med" len="med"/>
                      <a:tailEnd type="none" w="med" len="med"/>
                    </a:lnT>
                    <a:lnB w="2381" cap="flat" cmpd="sng" algn="ctr">
                      <a:solidFill>
                        <a:srgbClr val="1C3879"/>
                      </a:solidFill>
                      <a:prstDash val="solid"/>
                      <a:round/>
                      <a:headEnd type="none" w="med" len="med"/>
                      <a:tailEnd type="none" w="med" len="med"/>
                    </a:lnB>
                    <a:solidFill>
                      <a:srgbClr val="1C3879"/>
                    </a:solidFill>
                  </a:tcPr>
                </a:tc>
                <a:tc>
                  <a:txBody>
                    <a:bodyPr/>
                    <a:lstStyle/>
                    <a:p>
                      <a:pPr fontAlgn="t"/>
                      <a:r>
                        <a:rPr lang="zh-CN" altLang="en-US" sz="1050" b="1" dirty="0">
                          <a:solidFill>
                            <a:srgbClr val="FFFFFF"/>
                          </a:solidFill>
                          <a:effectLst/>
                          <a:latin typeface="+mj-ea"/>
                          <a:ea typeface="+mj-ea"/>
                        </a:rPr>
                        <a:t>关键动作</a:t>
                      </a:r>
                    </a:p>
                  </a:txBody>
                  <a:tcPr marL="57150" marR="57150" marT="47625" marB="47625">
                    <a:lnL w="2381" cap="flat" cmpd="sng" algn="ctr">
                      <a:solidFill>
                        <a:srgbClr val="1C3879"/>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1C3879"/>
                      </a:solidFill>
                      <a:prstDash val="solid"/>
                      <a:round/>
                      <a:headEnd type="none" w="med" len="med"/>
                      <a:tailEnd type="none" w="med" len="med"/>
                    </a:lnT>
                    <a:lnB w="2381" cap="flat" cmpd="sng" algn="ctr">
                      <a:solidFill>
                        <a:srgbClr val="1C3879"/>
                      </a:solidFill>
                      <a:prstDash val="solid"/>
                      <a:round/>
                      <a:headEnd type="none" w="med" len="med"/>
                      <a:tailEnd type="none" w="med" len="med"/>
                    </a:lnB>
                    <a:solidFill>
                      <a:srgbClr val="1C3879"/>
                    </a:solidFill>
                  </a:tcPr>
                </a:tc>
                <a:extLst>
                  <a:ext uri="{0D108BD9-81ED-4DB2-BD59-A6C34878D82A}">
                    <a16:rowId xmlns:a16="http://schemas.microsoft.com/office/drawing/2014/main" val="3603451338"/>
                  </a:ext>
                </a:extLst>
              </a:tr>
              <a:tr h="564622">
                <a:tc>
                  <a:txBody>
                    <a:bodyPr/>
                    <a:lstStyle/>
                    <a:p>
                      <a:pPr fontAlgn="t"/>
                      <a:r>
                        <a:rPr lang="zh-CN" altLang="en-US" sz="1050" b="1">
                          <a:solidFill>
                            <a:schemeClr val="tx1"/>
                          </a:solidFill>
                          <a:effectLst/>
                          <a:latin typeface="+mj-ea"/>
                          <a:ea typeface="+mj-ea"/>
                        </a:rPr>
                        <a:t>建设期</a:t>
                      </a:r>
                    </a:p>
                  </a:txBody>
                  <a:tcPr marL="57150" marR="57150" marT="47625" marB="47625">
                    <a:lnL w="4763" cap="flat" cmpd="sng" algn="ctr">
                      <a:solidFill>
                        <a:srgbClr val="C5D5ED"/>
                      </a:solidFill>
                      <a:prstDash val="solid"/>
                      <a:round/>
                      <a:headEnd type="none" w="med" len="med"/>
                      <a:tailEnd type="none" w="med" len="med"/>
                    </a:lnL>
                    <a:lnR w="2381" cap="flat" cmpd="sng" algn="ctr">
                      <a:solidFill>
                        <a:srgbClr val="C5D5ED"/>
                      </a:solidFill>
                      <a:prstDash val="solid"/>
                      <a:round/>
                      <a:headEnd type="none" w="med" len="med"/>
                      <a:tailEnd type="none" w="med" len="med"/>
                    </a:lnR>
                    <a:lnT w="2381" cap="flat" cmpd="sng" algn="ctr">
                      <a:solidFill>
                        <a:srgbClr val="1C3879"/>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chemeClr val="bg2"/>
                    </a:solidFill>
                  </a:tcPr>
                </a:tc>
                <a:tc>
                  <a:txBody>
                    <a:bodyPr/>
                    <a:lstStyle/>
                    <a:p>
                      <a:pPr fontAlgn="t"/>
                      <a:r>
                        <a:rPr lang="zh-CN" altLang="en-US" sz="1050" dirty="0">
                          <a:solidFill>
                            <a:schemeClr val="tx1"/>
                          </a:solidFill>
                          <a:effectLst/>
                          <a:latin typeface="+mj-ea"/>
                          <a:ea typeface="+mj-ea"/>
                        </a:rPr>
                        <a:t>技术投入巨大</a:t>
                      </a:r>
                      <a:r>
                        <a:rPr lang="zh-CN" altLang="en-US" sz="1050" b="0" i="0" kern="1200" dirty="0">
                          <a:solidFill>
                            <a:schemeClr val="tx1"/>
                          </a:solidFill>
                          <a:effectLst/>
                          <a:latin typeface="+mj-ea"/>
                          <a:ea typeface="+mj-ea"/>
                          <a:cs typeface="+mn-cs"/>
                        </a:rPr>
                        <a:t>（占年收入</a:t>
                      </a:r>
                      <a:r>
                        <a:rPr lang="en-US" altLang="zh-CN" sz="1050" b="0" i="0" kern="1200" dirty="0">
                          <a:solidFill>
                            <a:schemeClr val="tx1"/>
                          </a:solidFill>
                          <a:effectLst/>
                          <a:latin typeface="+mj-ea"/>
                          <a:ea typeface="+mj-ea"/>
                          <a:cs typeface="+mn-cs"/>
                        </a:rPr>
                        <a:t>3%-5%</a:t>
                      </a:r>
                      <a:r>
                        <a:rPr lang="zh-CN" altLang="en-US" sz="1050" b="0" i="0" kern="1200" dirty="0">
                          <a:solidFill>
                            <a:schemeClr val="tx1"/>
                          </a:solidFill>
                          <a:effectLst/>
                          <a:latin typeface="+mj-ea"/>
                          <a:ea typeface="+mj-ea"/>
                          <a:cs typeface="+mn-cs"/>
                        </a:rPr>
                        <a:t>，保障预算不缩水，而收益未显）</a:t>
                      </a:r>
                      <a:endParaRPr lang="zh-CN" altLang="en-US" sz="1050" dirty="0">
                        <a:solidFill>
                          <a:schemeClr val="tx1"/>
                        </a:solidFill>
                        <a:effectLst/>
                        <a:latin typeface="+mj-ea"/>
                        <a:ea typeface="+mj-ea"/>
                      </a:endParaRPr>
                    </a:p>
                  </a:txBody>
                  <a:tcPr marL="57150" marR="57150" marT="47625" marB="47625">
                    <a:lnL w="2381" cap="flat" cmpd="sng" algn="ctr">
                      <a:solidFill>
                        <a:srgbClr val="C5D5ED"/>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1C3879"/>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050">
                          <a:solidFill>
                            <a:schemeClr val="tx1"/>
                          </a:solidFill>
                          <a:effectLst/>
                          <a:latin typeface="+mj-ea"/>
                          <a:ea typeface="+mj-ea"/>
                        </a:rPr>
                        <a:t>顶住财报压力</a:t>
                      </a:r>
                    </a:p>
                  </a:txBody>
                  <a:tcPr marL="57150" marR="57150" marT="47625" marB="47625">
                    <a:lnL w="2381"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2381" cap="flat" cmpd="sng" algn="ctr">
                      <a:solidFill>
                        <a:srgbClr val="1C3879"/>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3963214653"/>
                  </a:ext>
                </a:extLst>
              </a:tr>
              <a:tr h="999743">
                <a:tc>
                  <a:txBody>
                    <a:bodyPr/>
                    <a:lstStyle/>
                    <a:p>
                      <a:pPr fontAlgn="t"/>
                      <a:r>
                        <a:rPr lang="zh-CN" altLang="en-US" sz="1050" b="1">
                          <a:solidFill>
                            <a:schemeClr val="tx1"/>
                          </a:solidFill>
                          <a:effectLst/>
                          <a:latin typeface="+mj-ea"/>
                          <a:ea typeface="+mj-ea"/>
                        </a:rPr>
                        <a:t>动荡期</a:t>
                      </a:r>
                    </a:p>
                  </a:txBody>
                  <a:tcPr marL="57150" marR="57150" marT="47625" marB="47625">
                    <a:lnL w="4763" cap="flat" cmpd="sng" algn="ctr">
                      <a:solidFill>
                        <a:srgbClr val="C5D5ED"/>
                      </a:solidFill>
                      <a:prstDash val="solid"/>
                      <a:round/>
                      <a:headEnd type="none" w="med" len="med"/>
                      <a:tailEnd type="none" w="med" len="med"/>
                    </a:lnL>
                    <a:lnR w="2381" cap="flat" cmpd="sng" algn="ctr">
                      <a:solidFill>
                        <a:srgbClr val="C5D5ED"/>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chemeClr val="bg2"/>
                    </a:solidFill>
                  </a:tcPr>
                </a:tc>
                <a:tc>
                  <a:txBody>
                    <a:bodyPr/>
                    <a:lstStyle/>
                    <a:p>
                      <a:pPr fontAlgn="t"/>
                      <a:r>
                        <a:rPr lang="zh-CN" altLang="en-US" sz="1050">
                          <a:solidFill>
                            <a:schemeClr val="tx1"/>
                          </a:solidFill>
                          <a:effectLst/>
                          <a:latin typeface="+mj-ea"/>
                          <a:ea typeface="+mj-ea"/>
                        </a:rPr>
                        <a:t>旧体系切换新体系未稳，运营效率短期下降</a:t>
                      </a:r>
                    </a:p>
                  </a:txBody>
                  <a:tcPr marL="57150" marR="57150" marT="47625" marB="47625">
                    <a:lnL w="2381" cap="flat" cmpd="sng" algn="ctr">
                      <a:solidFill>
                        <a:srgbClr val="C5D5ED"/>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050">
                          <a:solidFill>
                            <a:schemeClr val="tx1"/>
                          </a:solidFill>
                          <a:effectLst/>
                          <a:latin typeface="+mj-ea"/>
                          <a:ea typeface="+mj-ea"/>
                        </a:rPr>
                        <a:t>公开承担风险，暂换抵制变革的管理者</a:t>
                      </a:r>
                    </a:p>
                  </a:txBody>
                  <a:tcPr marL="57150" marR="57150" marT="47625" marB="47625">
                    <a:lnL w="2381"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2601262351"/>
                  </a:ext>
                </a:extLst>
              </a:tr>
              <a:tr h="999743">
                <a:tc>
                  <a:txBody>
                    <a:bodyPr/>
                    <a:lstStyle/>
                    <a:p>
                      <a:pPr fontAlgn="t"/>
                      <a:r>
                        <a:rPr lang="zh-CN" altLang="en-US" sz="1050" b="1" dirty="0">
                          <a:solidFill>
                            <a:schemeClr val="tx1"/>
                          </a:solidFill>
                          <a:effectLst/>
                          <a:latin typeface="+mj-ea"/>
                          <a:ea typeface="+mj-ea"/>
                        </a:rPr>
                        <a:t>收益期</a:t>
                      </a:r>
                    </a:p>
                  </a:txBody>
                  <a:tcPr marL="57150" marR="57150" marT="47625" marB="47625">
                    <a:lnL w="4763" cap="flat" cmpd="sng" algn="ctr">
                      <a:solidFill>
                        <a:srgbClr val="C5D5ED"/>
                      </a:solidFill>
                      <a:prstDash val="solid"/>
                      <a:round/>
                      <a:headEnd type="none" w="med" len="med"/>
                      <a:tailEnd type="none" w="med" len="med"/>
                    </a:lnL>
                    <a:lnR w="2381" cap="flat" cmpd="sng" algn="ctr">
                      <a:solidFill>
                        <a:srgbClr val="C5D5ED"/>
                      </a:solidFill>
                      <a:prstDash val="solid"/>
                      <a:round/>
                      <a:headEnd type="none" w="med" len="med"/>
                      <a:tailEnd type="none" w="med" len="med"/>
                    </a:lnR>
                    <a:lnT w="2381" cap="flat" cmpd="sng" algn="ctr">
                      <a:solidFill>
                        <a:srgbClr val="DDDDDD"/>
                      </a:solidFill>
                      <a:prstDash val="solid"/>
                      <a:round/>
                      <a:headEnd type="none" w="med" len="med"/>
                      <a:tailEnd type="none" w="med" len="med"/>
                    </a:lnT>
                    <a:lnB w="4763" cap="flat" cmpd="sng" algn="ctr">
                      <a:solidFill>
                        <a:srgbClr val="1C3879"/>
                      </a:solidFill>
                      <a:prstDash val="solid"/>
                      <a:round/>
                      <a:headEnd type="none" w="med" len="med"/>
                      <a:tailEnd type="none" w="med" len="med"/>
                    </a:lnB>
                    <a:solidFill>
                      <a:schemeClr val="bg2"/>
                    </a:solidFill>
                  </a:tcPr>
                </a:tc>
                <a:tc>
                  <a:txBody>
                    <a:bodyPr/>
                    <a:lstStyle/>
                    <a:p>
                      <a:pPr fontAlgn="t"/>
                      <a:r>
                        <a:rPr lang="zh-CN" altLang="en-US" sz="1050">
                          <a:solidFill>
                            <a:schemeClr val="tx1"/>
                          </a:solidFill>
                          <a:effectLst/>
                          <a:latin typeface="+mj-ea"/>
                          <a:ea typeface="+mj-ea"/>
                        </a:rPr>
                        <a:t>销售部门争抢转型红利，黑箱系统加速劣化</a:t>
                      </a:r>
                    </a:p>
                  </a:txBody>
                  <a:tcPr marL="57150" marR="57150" marT="47625" marB="47625">
                    <a:lnL w="2381" cap="flat" cmpd="sng" algn="ctr">
                      <a:solidFill>
                        <a:srgbClr val="C5D5ED"/>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4763" cap="flat" cmpd="sng" algn="ctr">
                      <a:solidFill>
                        <a:srgbClr val="1C3879"/>
                      </a:solidFill>
                      <a:prstDash val="solid"/>
                      <a:round/>
                      <a:headEnd type="none" w="med" len="med"/>
                      <a:tailEnd type="none" w="med" len="med"/>
                    </a:lnB>
                    <a:noFill/>
                  </a:tcPr>
                </a:tc>
                <a:tc>
                  <a:txBody>
                    <a:bodyPr/>
                    <a:lstStyle/>
                    <a:p>
                      <a:pPr fontAlgn="t"/>
                      <a:r>
                        <a:rPr lang="zh-CN" altLang="en-US" sz="1050" dirty="0">
                          <a:solidFill>
                            <a:schemeClr val="tx1"/>
                          </a:solidFill>
                          <a:effectLst/>
                          <a:latin typeface="+mj-ea"/>
                          <a:ea typeface="+mj-ea"/>
                        </a:rPr>
                        <a:t>将节省成本的</a:t>
                      </a:r>
                      <a:r>
                        <a:rPr lang="en-US" altLang="zh-CN" sz="1050" dirty="0">
                          <a:solidFill>
                            <a:schemeClr val="tx1"/>
                          </a:solidFill>
                          <a:effectLst/>
                          <a:latin typeface="+mj-ea"/>
                          <a:ea typeface="+mj-ea"/>
                        </a:rPr>
                        <a:t>50%</a:t>
                      </a:r>
                      <a:r>
                        <a:rPr lang="zh-CN" altLang="en-US" sz="1050" dirty="0">
                          <a:solidFill>
                            <a:schemeClr val="tx1"/>
                          </a:solidFill>
                          <a:effectLst/>
                          <a:latin typeface="+mj-ea"/>
                          <a:ea typeface="+mj-ea"/>
                        </a:rPr>
                        <a:t>再投资于技术优化</a:t>
                      </a:r>
                    </a:p>
                  </a:txBody>
                  <a:tcPr marL="57150" marR="57150" marT="47625" marB="47625">
                    <a:lnL w="2381"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4763" cap="flat" cmpd="sng" algn="ctr">
                      <a:solidFill>
                        <a:srgbClr val="1C3879"/>
                      </a:solidFill>
                      <a:prstDash val="solid"/>
                      <a:round/>
                      <a:headEnd type="none" w="med" len="med"/>
                      <a:tailEnd type="none" w="med" len="med"/>
                    </a:lnB>
                    <a:noFill/>
                  </a:tcPr>
                </a:tc>
                <a:extLst>
                  <a:ext uri="{0D108BD9-81ED-4DB2-BD59-A6C34878D82A}">
                    <a16:rowId xmlns:a16="http://schemas.microsoft.com/office/drawing/2014/main" val="289069440"/>
                  </a:ext>
                </a:extLst>
              </a:tr>
            </a:tbl>
          </a:graphicData>
        </a:graphic>
      </p:graphicFrame>
    </p:spTree>
    <p:extLst>
      <p:ext uri="{BB962C8B-B14F-4D97-AF65-F5344CB8AC3E}">
        <p14:creationId xmlns:p14="http://schemas.microsoft.com/office/powerpoint/2010/main" val="1372453825"/>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CE8746-89CE-63E2-1E9A-D7EA3CB08AE5}"/>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87D140B0-F44C-178E-0B23-7A221D70C332}"/>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数字化变革的维度</a:t>
            </a:r>
          </a:p>
        </p:txBody>
      </p:sp>
      <p:grpSp>
        <p:nvGrpSpPr>
          <p:cNvPr id="74" name="组合 73">
            <a:extLst>
              <a:ext uri="{FF2B5EF4-FFF2-40B4-BE49-F238E27FC236}">
                <a16:creationId xmlns:a16="http://schemas.microsoft.com/office/drawing/2014/main" id="{073AF73F-999C-94F4-870D-FCB501A1E59A}"/>
              </a:ext>
            </a:extLst>
          </p:cNvPr>
          <p:cNvGrpSpPr>
            <a:grpSpLocks noChangeAspect="1"/>
          </p:cNvGrpSpPr>
          <p:nvPr>
            <p:custDataLst>
              <p:tags r:id="rId1"/>
            </p:custDataLst>
          </p:nvPr>
        </p:nvGrpSpPr>
        <p:grpSpPr>
          <a:xfrm>
            <a:off x="1441649" y="1444711"/>
            <a:ext cx="8541800" cy="4676544"/>
            <a:chOff x="2534822" y="1621299"/>
            <a:chExt cx="6746924" cy="4004802"/>
          </a:xfrm>
        </p:grpSpPr>
        <p:grpSp>
          <p:nvGrpSpPr>
            <p:cNvPr id="75" name="组合 74">
              <a:extLst>
                <a:ext uri="{FF2B5EF4-FFF2-40B4-BE49-F238E27FC236}">
                  <a16:creationId xmlns:a16="http://schemas.microsoft.com/office/drawing/2014/main" id="{018A1F39-F2CF-D8AD-0775-BDE196723BB1}"/>
                </a:ext>
              </a:extLst>
            </p:cNvPr>
            <p:cNvGrpSpPr/>
            <p:nvPr/>
          </p:nvGrpSpPr>
          <p:grpSpPr>
            <a:xfrm>
              <a:off x="2534822" y="1621299"/>
              <a:ext cx="6746924" cy="4004802"/>
              <a:chOff x="2534822" y="1621299"/>
              <a:chExt cx="6746924" cy="4004802"/>
            </a:xfrm>
          </p:grpSpPr>
          <p:grpSp>
            <p:nvGrpSpPr>
              <p:cNvPr id="91" name="组合 90">
                <a:extLst>
                  <a:ext uri="{FF2B5EF4-FFF2-40B4-BE49-F238E27FC236}">
                    <a16:creationId xmlns:a16="http://schemas.microsoft.com/office/drawing/2014/main" id="{DA976AFB-2DD2-6C85-83C7-833EC64C4DA4}"/>
                  </a:ext>
                </a:extLst>
              </p:cNvPr>
              <p:cNvGrpSpPr/>
              <p:nvPr/>
            </p:nvGrpSpPr>
            <p:grpSpPr>
              <a:xfrm>
                <a:off x="2534822" y="1621299"/>
                <a:ext cx="6746924" cy="4004802"/>
                <a:chOff x="2534822" y="1621299"/>
                <a:chExt cx="6746924" cy="4004802"/>
              </a:xfrm>
            </p:grpSpPr>
            <p:sp>
              <p:nvSpPr>
                <p:cNvPr id="97" name="1">
                  <a:extLst>
                    <a:ext uri="{FF2B5EF4-FFF2-40B4-BE49-F238E27FC236}">
                      <a16:creationId xmlns:a16="http://schemas.microsoft.com/office/drawing/2014/main" id="{294AD2E8-EC7B-4C4E-68F2-3890B14A92E9}"/>
                    </a:ext>
                  </a:extLst>
                </p:cNvPr>
                <p:cNvSpPr/>
                <p:nvPr>
                  <p:custDataLst>
                    <p:tags r:id="rId12"/>
                  </p:custDataLst>
                </p:nvPr>
              </p:nvSpPr>
              <p:spPr>
                <a:xfrm>
                  <a:off x="3216150" y="1621301"/>
                  <a:ext cx="2988153" cy="504000"/>
                </a:xfrm>
                <a:prstGeom prst="flowChartAlternateProcess">
                  <a:avLst/>
                </a:prstGeom>
                <a:solidFill>
                  <a:schemeClr val="bg2">
                    <a:lumMod val="50000"/>
                    <a:lumOff val="50000"/>
                  </a:schemeClr>
                </a:solidFill>
                <a:ln>
                  <a:noFill/>
                </a:ln>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r>
                    <a:rPr lang="zh-CN" altLang="en-US" b="1" dirty="0">
                      <a:solidFill>
                        <a:schemeClr val="tx1"/>
                      </a:solidFill>
                      <a:latin typeface="Arial" panose="020B0604020202020204" pitchFamily="34" charset="0"/>
                      <a:ea typeface="微软雅黑" panose="020B0503020204020204" pitchFamily="34" charset="-122"/>
                    </a:rPr>
                    <a:t>业务数字化变革</a:t>
                  </a:r>
                </a:p>
              </p:txBody>
            </p:sp>
            <p:sp>
              <p:nvSpPr>
                <p:cNvPr id="98" name="1">
                  <a:extLst>
                    <a:ext uri="{FF2B5EF4-FFF2-40B4-BE49-F238E27FC236}">
                      <a16:creationId xmlns:a16="http://schemas.microsoft.com/office/drawing/2014/main" id="{5AE70D8B-15AC-013E-56AD-DBB1E3BECADD}"/>
                    </a:ext>
                  </a:extLst>
                </p:cNvPr>
                <p:cNvSpPr/>
                <p:nvPr>
                  <p:custDataLst>
                    <p:tags r:id="rId13"/>
                  </p:custDataLst>
                </p:nvPr>
              </p:nvSpPr>
              <p:spPr>
                <a:xfrm>
                  <a:off x="6293593" y="1621299"/>
                  <a:ext cx="2988153" cy="504000"/>
                </a:xfrm>
                <a:prstGeom prst="flowChartAlternateProcess">
                  <a:avLst/>
                </a:prstGeom>
                <a:ln/>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latin typeface="Arial" panose="020B0604020202020204" pitchFamily="34" charset="0"/>
                      <a:ea typeface="微软雅黑" panose="020B0503020204020204" pitchFamily="34" charset="-122"/>
                    </a:rPr>
                    <a:t>系统智能化变革</a:t>
                  </a:r>
                </a:p>
              </p:txBody>
            </p:sp>
            <p:sp>
              <p:nvSpPr>
                <p:cNvPr id="99" name="1">
                  <a:extLst>
                    <a:ext uri="{FF2B5EF4-FFF2-40B4-BE49-F238E27FC236}">
                      <a16:creationId xmlns:a16="http://schemas.microsoft.com/office/drawing/2014/main" id="{C21F68E3-ED17-7CF3-BA1D-F7A21ADDF3B9}"/>
                    </a:ext>
                  </a:extLst>
                </p:cNvPr>
                <p:cNvSpPr/>
                <p:nvPr>
                  <p:custDataLst>
                    <p:tags r:id="rId14"/>
                  </p:custDataLst>
                </p:nvPr>
              </p:nvSpPr>
              <p:spPr>
                <a:xfrm>
                  <a:off x="2534822" y="2280069"/>
                  <a:ext cx="504000" cy="1632211"/>
                </a:xfrm>
                <a:prstGeom prst="flowChartAlternateProcess">
                  <a:avLst/>
                </a:prstGeom>
                <a:solidFill>
                  <a:schemeClr val="bg2">
                    <a:lumMod val="50000"/>
                    <a:lumOff val="50000"/>
                  </a:schemeClr>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b="1" dirty="0">
                      <a:solidFill>
                        <a:schemeClr val="tx1"/>
                      </a:solidFill>
                      <a:latin typeface="Arial" panose="020B0604020202020204" pitchFamily="34" charset="0"/>
                      <a:ea typeface="微软雅黑" panose="020B0503020204020204" pitchFamily="34" charset="-122"/>
                    </a:rPr>
                    <a:t>计划</a:t>
                  </a:r>
                </a:p>
              </p:txBody>
            </p:sp>
            <p:sp>
              <p:nvSpPr>
                <p:cNvPr id="100" name="1">
                  <a:extLst>
                    <a:ext uri="{FF2B5EF4-FFF2-40B4-BE49-F238E27FC236}">
                      <a16:creationId xmlns:a16="http://schemas.microsoft.com/office/drawing/2014/main" id="{42F68A3D-82AE-C085-7E9F-71678A37E7CC}"/>
                    </a:ext>
                  </a:extLst>
                </p:cNvPr>
                <p:cNvSpPr/>
                <p:nvPr>
                  <p:custDataLst>
                    <p:tags r:id="rId15"/>
                  </p:custDataLst>
                </p:nvPr>
              </p:nvSpPr>
              <p:spPr>
                <a:xfrm>
                  <a:off x="2534822" y="3993890"/>
                  <a:ext cx="504000" cy="1632211"/>
                </a:xfrm>
                <a:prstGeom prst="flowChartAlternateProcess">
                  <a:avLst/>
                </a:prstGeom>
                <a:solidFill>
                  <a:schemeClr val="bg2">
                    <a:lumMod val="75000"/>
                    <a:lumOff val="25000"/>
                  </a:schemeClr>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zh-CN" altLang="en-US" b="1" dirty="0">
                      <a:solidFill>
                        <a:schemeClr val="tx1"/>
                      </a:solidFill>
                      <a:latin typeface="Arial" panose="020B0604020202020204" pitchFamily="34" charset="0"/>
                      <a:ea typeface="微软雅黑" panose="020B0503020204020204" pitchFamily="34" charset="-122"/>
                    </a:rPr>
                    <a:t>相关业务</a:t>
                  </a:r>
                </a:p>
              </p:txBody>
            </p:sp>
          </p:grpSp>
          <p:grpSp>
            <p:nvGrpSpPr>
              <p:cNvPr id="92" name="组合 91">
                <a:extLst>
                  <a:ext uri="{FF2B5EF4-FFF2-40B4-BE49-F238E27FC236}">
                    <a16:creationId xmlns:a16="http://schemas.microsoft.com/office/drawing/2014/main" id="{393AC8DD-48B7-CD93-0731-13ADD030DFB5}"/>
                  </a:ext>
                </a:extLst>
              </p:cNvPr>
              <p:cNvGrpSpPr/>
              <p:nvPr/>
            </p:nvGrpSpPr>
            <p:grpSpPr>
              <a:xfrm>
                <a:off x="3216150" y="2280069"/>
                <a:ext cx="2988153" cy="1632211"/>
                <a:chOff x="3216150" y="2280069"/>
                <a:chExt cx="2988153" cy="1632211"/>
              </a:xfrm>
            </p:grpSpPr>
            <p:sp>
              <p:nvSpPr>
                <p:cNvPr id="93" name="1">
                  <a:extLst>
                    <a:ext uri="{FF2B5EF4-FFF2-40B4-BE49-F238E27FC236}">
                      <a16:creationId xmlns:a16="http://schemas.microsoft.com/office/drawing/2014/main" id="{A2D18836-19EF-2660-5EB3-7B763C1880C7}"/>
                    </a:ext>
                  </a:extLst>
                </p:cNvPr>
                <p:cNvSpPr/>
                <p:nvPr>
                  <p:custDataLst>
                    <p:tags r:id="rId10"/>
                  </p:custDataLst>
                </p:nvPr>
              </p:nvSpPr>
              <p:spPr>
                <a:xfrm>
                  <a:off x="3216150" y="2280069"/>
                  <a:ext cx="2988153" cy="1632211"/>
                </a:xfrm>
                <a:prstGeom prst="rect">
                  <a:avLst/>
                </a:prstGeom>
                <a:solidFill>
                  <a:schemeClr val="bg2">
                    <a:lumMod val="50000"/>
                    <a:lumOff val="50000"/>
                  </a:schemeClr>
                </a:solidFill>
                <a:ln>
                  <a:noFill/>
                </a:ln>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endParaRPr lang="zh-CN" altLang="en-US" b="1">
                    <a:solidFill>
                      <a:schemeClr val="tx1"/>
                    </a:solidFill>
                    <a:latin typeface="+mn-ea"/>
                  </a:endParaRPr>
                </a:p>
              </p:txBody>
            </p:sp>
            <p:sp>
              <p:nvSpPr>
                <p:cNvPr id="95" name="Title-1">
                  <a:extLst>
                    <a:ext uri="{FF2B5EF4-FFF2-40B4-BE49-F238E27FC236}">
                      <a16:creationId xmlns:a16="http://schemas.microsoft.com/office/drawing/2014/main" id="{5661B561-44F4-8BEB-6B59-21171743EDB0}"/>
                    </a:ext>
                  </a:extLst>
                </p:cNvPr>
                <p:cNvSpPr txBox="1"/>
                <p:nvPr>
                  <p:custDataLst>
                    <p:tags r:id="rId11"/>
                  </p:custDataLst>
                </p:nvPr>
              </p:nvSpPr>
              <p:spPr>
                <a:xfrm>
                  <a:off x="3365494" y="2524351"/>
                  <a:ext cx="2689464" cy="334289"/>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noAutofit/>
                </a:bodyPr>
                <a:lstStyle/>
                <a:p>
                  <a:r>
                    <a:rPr lang="en-US" altLang="zh-CN" b="1" dirty="0">
                      <a:solidFill>
                        <a:schemeClr val="tx1"/>
                      </a:solidFill>
                      <a:latin typeface="Arial" panose="020B0604020202020204" pitchFamily="34" charset="0"/>
                      <a:ea typeface="微软雅黑" panose="020B0503020204020204" pitchFamily="34" charset="-122"/>
                    </a:rPr>
                    <a:t>PC, </a:t>
                  </a:r>
                  <a:r>
                    <a:rPr lang="zh-CN" altLang="en-US" b="1" dirty="0">
                      <a:solidFill>
                        <a:schemeClr val="tx1"/>
                      </a:solidFill>
                      <a:latin typeface="Arial" panose="020B0604020202020204" pitchFamily="34" charset="0"/>
                      <a:ea typeface="微软雅黑" panose="020B0503020204020204" pitchFamily="34" charset="-122"/>
                    </a:rPr>
                    <a:t>物控，跟单，调度</a:t>
                  </a:r>
                </a:p>
              </p:txBody>
            </p:sp>
          </p:grpSp>
        </p:grpSp>
        <p:grpSp>
          <p:nvGrpSpPr>
            <p:cNvPr id="76" name="组合 75">
              <a:extLst>
                <a:ext uri="{FF2B5EF4-FFF2-40B4-BE49-F238E27FC236}">
                  <a16:creationId xmlns:a16="http://schemas.microsoft.com/office/drawing/2014/main" id="{B0160B82-6698-3017-0AF5-8EDB3EB3459C}"/>
                </a:ext>
              </a:extLst>
            </p:cNvPr>
            <p:cNvGrpSpPr/>
            <p:nvPr/>
          </p:nvGrpSpPr>
          <p:grpSpPr>
            <a:xfrm>
              <a:off x="6293593" y="2280069"/>
              <a:ext cx="2988153" cy="1632211"/>
              <a:chOff x="6293593" y="2280069"/>
              <a:chExt cx="2988153" cy="1632211"/>
            </a:xfrm>
          </p:grpSpPr>
          <p:sp>
            <p:nvSpPr>
              <p:cNvPr id="87" name="2">
                <a:extLst>
                  <a:ext uri="{FF2B5EF4-FFF2-40B4-BE49-F238E27FC236}">
                    <a16:creationId xmlns:a16="http://schemas.microsoft.com/office/drawing/2014/main" id="{320D2483-E964-22F4-0C81-F975FB1AEB7A}"/>
                  </a:ext>
                </a:extLst>
              </p:cNvPr>
              <p:cNvSpPr/>
              <p:nvPr>
                <p:custDataLst>
                  <p:tags r:id="rId8"/>
                </p:custDataLst>
              </p:nvPr>
            </p:nvSpPr>
            <p:spPr>
              <a:xfrm>
                <a:off x="6293593" y="2280069"/>
                <a:ext cx="2988153" cy="1632211"/>
              </a:xfrm>
              <a:prstGeom prst="rect">
                <a:avLst/>
              </a:prstGeom>
              <a:solidFill>
                <a:schemeClr val="accent3">
                  <a:lumMod val="75000"/>
                </a:schemeClr>
              </a:solid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endParaRPr lang="zh-CN" altLang="en-US">
                  <a:latin typeface="+mn-ea"/>
                </a:endParaRPr>
              </a:p>
            </p:txBody>
          </p:sp>
          <p:sp>
            <p:nvSpPr>
              <p:cNvPr id="89" name="Title-2">
                <a:extLst>
                  <a:ext uri="{FF2B5EF4-FFF2-40B4-BE49-F238E27FC236}">
                    <a16:creationId xmlns:a16="http://schemas.microsoft.com/office/drawing/2014/main" id="{441C9EB7-F61B-75C0-6790-9074D8C0D1C1}"/>
                  </a:ext>
                </a:extLst>
              </p:cNvPr>
              <p:cNvSpPr txBox="1"/>
              <p:nvPr>
                <p:custDataLst>
                  <p:tags r:id="rId9"/>
                </p:custDataLst>
              </p:nvPr>
            </p:nvSpPr>
            <p:spPr>
              <a:xfrm>
                <a:off x="6442936" y="2524351"/>
                <a:ext cx="2689464" cy="794957"/>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noAutofit/>
              </a:bodyPr>
              <a:lstStyle>
                <a:defPPr>
                  <a:defRPr lang="zh-CN"/>
                </a:defPPr>
                <a:lvl1pPr>
                  <a:defRPr b="1">
                    <a:solidFill>
                      <a:schemeClr val="tx1"/>
                    </a:solidFill>
                    <a:latin typeface="Arial" panose="020B0604020202020204" pitchFamily="34" charset="0"/>
                    <a:ea typeface="微软雅黑" panose="020B0503020204020204" pitchFamily="34" charset="-122"/>
                  </a:defRPr>
                </a:lvl1pPr>
              </a:lstStyle>
              <a:p>
                <a:r>
                  <a:rPr lang="en-US" altLang="zh-CN" dirty="0"/>
                  <a:t>MRP, MP, </a:t>
                </a:r>
                <a:r>
                  <a:rPr lang="zh-CN" altLang="en-US" dirty="0"/>
                  <a:t>执行计划，</a:t>
                </a:r>
                <a:r>
                  <a:rPr lang="en-US" altLang="zh-CN" dirty="0"/>
                  <a:t>Detailed Scheduling, Call</a:t>
                </a:r>
                <a:r>
                  <a:rPr lang="zh-CN" altLang="en-US" dirty="0"/>
                  <a:t>，</a:t>
                </a:r>
                <a:r>
                  <a:rPr lang="en-US" altLang="zh-CN" dirty="0"/>
                  <a:t>Supplier Collaboration.</a:t>
                </a:r>
              </a:p>
              <a:p>
                <a:endParaRPr lang="zh-CN" altLang="en-US" dirty="0"/>
              </a:p>
            </p:txBody>
          </p:sp>
        </p:grpSp>
        <p:grpSp>
          <p:nvGrpSpPr>
            <p:cNvPr id="77" name="组合 76">
              <a:extLst>
                <a:ext uri="{FF2B5EF4-FFF2-40B4-BE49-F238E27FC236}">
                  <a16:creationId xmlns:a16="http://schemas.microsoft.com/office/drawing/2014/main" id="{DC6375F8-C459-F498-4937-1E432BAFC389}"/>
                </a:ext>
              </a:extLst>
            </p:cNvPr>
            <p:cNvGrpSpPr/>
            <p:nvPr/>
          </p:nvGrpSpPr>
          <p:grpSpPr>
            <a:xfrm>
              <a:off x="3216150" y="3993890"/>
              <a:ext cx="2988153" cy="1632211"/>
              <a:chOff x="3216150" y="3993890"/>
              <a:chExt cx="2988153" cy="1632211"/>
            </a:xfrm>
          </p:grpSpPr>
          <p:sp>
            <p:nvSpPr>
              <p:cNvPr id="83" name="3">
                <a:extLst>
                  <a:ext uri="{FF2B5EF4-FFF2-40B4-BE49-F238E27FC236}">
                    <a16:creationId xmlns:a16="http://schemas.microsoft.com/office/drawing/2014/main" id="{D1D45128-1106-0A59-F68C-86DEA1F0E7C6}"/>
                  </a:ext>
                </a:extLst>
              </p:cNvPr>
              <p:cNvSpPr/>
              <p:nvPr>
                <p:custDataLst>
                  <p:tags r:id="rId5"/>
                </p:custDataLst>
              </p:nvPr>
            </p:nvSpPr>
            <p:spPr>
              <a:xfrm>
                <a:off x="3216150" y="3993890"/>
                <a:ext cx="2988153" cy="1632211"/>
              </a:xfrm>
              <a:prstGeom prst="rect">
                <a:avLst/>
              </a:prstGeom>
              <a:solidFill>
                <a:schemeClr val="bg2">
                  <a:lumMod val="75000"/>
                  <a:lumOff val="25000"/>
                </a:schemeClr>
              </a:solidFill>
              <a:ln>
                <a:noFill/>
              </a:ln>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endParaRPr lang="zh-CN" altLang="en-US" b="1">
                  <a:solidFill>
                    <a:schemeClr val="tx1"/>
                  </a:solidFill>
                  <a:latin typeface="+mn-ea"/>
                </a:endParaRPr>
              </a:p>
            </p:txBody>
          </p:sp>
          <p:grpSp>
            <p:nvGrpSpPr>
              <p:cNvPr id="84" name="组合 83">
                <a:extLst>
                  <a:ext uri="{FF2B5EF4-FFF2-40B4-BE49-F238E27FC236}">
                    <a16:creationId xmlns:a16="http://schemas.microsoft.com/office/drawing/2014/main" id="{07D04F0A-4B29-ABAC-8CE6-9049274578A0}"/>
                  </a:ext>
                </a:extLst>
              </p:cNvPr>
              <p:cNvGrpSpPr/>
              <p:nvPr/>
            </p:nvGrpSpPr>
            <p:grpSpPr>
              <a:xfrm>
                <a:off x="3365494" y="4196352"/>
                <a:ext cx="2689465" cy="1429749"/>
                <a:chOff x="3124607" y="2442684"/>
                <a:chExt cx="2455201" cy="1579625"/>
              </a:xfrm>
            </p:grpSpPr>
            <p:sp>
              <p:nvSpPr>
                <p:cNvPr id="85" name="Title-3">
                  <a:extLst>
                    <a:ext uri="{FF2B5EF4-FFF2-40B4-BE49-F238E27FC236}">
                      <a16:creationId xmlns:a16="http://schemas.microsoft.com/office/drawing/2014/main" id="{BC823E8C-C18C-DE74-CA6E-EBE31453C8A5}"/>
                    </a:ext>
                  </a:extLst>
                </p:cNvPr>
                <p:cNvSpPr txBox="1"/>
                <p:nvPr>
                  <p:custDataLst>
                    <p:tags r:id="rId6"/>
                  </p:custDataLst>
                </p:nvPr>
              </p:nvSpPr>
              <p:spPr>
                <a:xfrm>
                  <a:off x="3124607" y="2442684"/>
                  <a:ext cx="2455200" cy="922015"/>
                </a:xfrm>
                <a:prstGeom prst="rect">
                  <a:avLst/>
                </a:prstGeom>
                <a:noFill/>
                <a:ln>
                  <a:noFill/>
                </a:ln>
              </p:spPr>
              <p:style>
                <a:lnRef idx="1">
                  <a:schemeClr val="dk1"/>
                </a:lnRef>
                <a:fillRef idx="3">
                  <a:schemeClr val="dk1"/>
                </a:fillRef>
                <a:effectRef idx="2">
                  <a:schemeClr val="dk1"/>
                </a:effectRef>
                <a:fontRef idx="minor">
                  <a:schemeClr val="lt1"/>
                </a:fontRef>
              </p:style>
              <p:txBody>
                <a:bodyPr wrap="square" rtlCol="0">
                  <a:noAutofit/>
                </a:bodyPr>
                <a:lstStyle/>
                <a:p>
                  <a:r>
                    <a:rPr lang="zh-CN" altLang="en-US" b="1" dirty="0">
                      <a:solidFill>
                        <a:schemeClr val="tx1"/>
                      </a:solidFill>
                      <a:latin typeface="Arial" panose="020B0604020202020204" pitchFamily="34" charset="0"/>
                      <a:ea typeface="微软雅黑" panose="020B0503020204020204" pitchFamily="34" charset="-122"/>
                    </a:rPr>
                    <a:t>物流，生产，研发，财务，采购，供应商，客户的变革方案。</a:t>
                  </a:r>
                </a:p>
                <a:p>
                  <a:endParaRPr lang="zh-CN" altLang="en-US" b="1" dirty="0">
                    <a:solidFill>
                      <a:schemeClr val="tx1"/>
                    </a:solidFill>
                    <a:latin typeface="Arial" panose="020B0604020202020204" pitchFamily="34" charset="0"/>
                    <a:ea typeface="微软雅黑" panose="020B0503020204020204" pitchFamily="34" charset="-122"/>
                  </a:endParaRPr>
                </a:p>
              </p:txBody>
            </p:sp>
            <p:sp>
              <p:nvSpPr>
                <p:cNvPr id="86" name="Body-3">
                  <a:extLst>
                    <a:ext uri="{FF2B5EF4-FFF2-40B4-BE49-F238E27FC236}">
                      <a16:creationId xmlns:a16="http://schemas.microsoft.com/office/drawing/2014/main" id="{85FAC089-DD42-39E7-C546-45D049617458}"/>
                    </a:ext>
                  </a:extLst>
                </p:cNvPr>
                <p:cNvSpPr>
                  <a:spLocks/>
                </p:cNvSpPr>
                <p:nvPr>
                  <p:custDataLst>
                    <p:tags r:id="rId7"/>
                  </p:custDataLst>
                </p:nvPr>
              </p:nvSpPr>
              <p:spPr>
                <a:xfrm>
                  <a:off x="3124608" y="2692455"/>
                  <a:ext cx="2455200" cy="13298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defRPr/>
                  </a:pPr>
                  <a:endParaRPr kumimoji="0" lang="en-GB" altLang="zh-CN" sz="1400" b="0" i="0" u="none" strike="noStrike" kern="1200" cap="none" spc="0" normalizeH="0" baseline="0" noProof="0" dirty="0">
                    <a:ln>
                      <a:noFill/>
                    </a:ln>
                    <a:solidFill>
                      <a:schemeClr val="tx2">
                        <a:lumMod val="90000"/>
                        <a:lumOff val="10000"/>
                      </a:schemeClr>
                    </a:solidFill>
                    <a:effectLst/>
                    <a:uLnTx/>
                    <a:uFillTx/>
                    <a:latin typeface="+mn-ea"/>
                    <a:cs typeface="+mn-cs"/>
                  </a:endParaRPr>
                </a:p>
              </p:txBody>
            </p:sp>
          </p:grpSp>
        </p:grpSp>
        <p:grpSp>
          <p:nvGrpSpPr>
            <p:cNvPr id="78" name="组合 77">
              <a:extLst>
                <a:ext uri="{FF2B5EF4-FFF2-40B4-BE49-F238E27FC236}">
                  <a16:creationId xmlns:a16="http://schemas.microsoft.com/office/drawing/2014/main" id="{5FDF0D87-7BF7-0DBE-1AD5-95BEA53648E6}"/>
                </a:ext>
              </a:extLst>
            </p:cNvPr>
            <p:cNvGrpSpPr/>
            <p:nvPr/>
          </p:nvGrpSpPr>
          <p:grpSpPr>
            <a:xfrm>
              <a:off x="6293593" y="3993890"/>
              <a:ext cx="2988153" cy="1632211"/>
              <a:chOff x="6293593" y="3993890"/>
              <a:chExt cx="2988153" cy="1632211"/>
            </a:xfrm>
          </p:grpSpPr>
          <p:sp>
            <p:nvSpPr>
              <p:cNvPr id="79" name="4">
                <a:extLst>
                  <a:ext uri="{FF2B5EF4-FFF2-40B4-BE49-F238E27FC236}">
                    <a16:creationId xmlns:a16="http://schemas.microsoft.com/office/drawing/2014/main" id="{D53A94CA-3492-BA85-51B6-D275078BDFCA}"/>
                  </a:ext>
                </a:extLst>
              </p:cNvPr>
              <p:cNvSpPr/>
              <p:nvPr>
                <p:custDataLst>
                  <p:tags r:id="rId2"/>
                </p:custDataLst>
              </p:nvPr>
            </p:nvSpPr>
            <p:spPr>
              <a:xfrm>
                <a:off x="6293593" y="3993890"/>
                <a:ext cx="2988153" cy="1632211"/>
              </a:xfrm>
              <a:prstGeom prst="rect">
                <a:avLst/>
              </a:prstGeom>
              <a:solidFill>
                <a:schemeClr val="accent3">
                  <a:lumMod val="75000"/>
                </a:schemeClr>
              </a:solid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endParaRPr lang="zh-CN" altLang="en-US">
                  <a:latin typeface="+mn-ea"/>
                </a:endParaRPr>
              </a:p>
            </p:txBody>
          </p:sp>
          <p:grpSp>
            <p:nvGrpSpPr>
              <p:cNvPr id="80" name="组合 79">
                <a:extLst>
                  <a:ext uri="{FF2B5EF4-FFF2-40B4-BE49-F238E27FC236}">
                    <a16:creationId xmlns:a16="http://schemas.microsoft.com/office/drawing/2014/main" id="{59CA7D91-5627-3ECA-289D-A031F36CF6C3}"/>
                  </a:ext>
                </a:extLst>
              </p:cNvPr>
              <p:cNvGrpSpPr/>
              <p:nvPr/>
            </p:nvGrpSpPr>
            <p:grpSpPr>
              <a:xfrm>
                <a:off x="6442936" y="4196353"/>
                <a:ext cx="2689465" cy="1429748"/>
                <a:chOff x="3124607" y="2442685"/>
                <a:chExt cx="2455201" cy="1579624"/>
              </a:xfrm>
            </p:grpSpPr>
            <p:sp>
              <p:nvSpPr>
                <p:cNvPr id="81" name="Title-4">
                  <a:extLst>
                    <a:ext uri="{FF2B5EF4-FFF2-40B4-BE49-F238E27FC236}">
                      <a16:creationId xmlns:a16="http://schemas.microsoft.com/office/drawing/2014/main" id="{75F1B852-50BB-230F-B544-862EEE19B728}"/>
                    </a:ext>
                  </a:extLst>
                </p:cNvPr>
                <p:cNvSpPr txBox="1"/>
                <p:nvPr>
                  <p:custDataLst>
                    <p:tags r:id="rId3"/>
                  </p:custDataLst>
                </p:nvPr>
              </p:nvSpPr>
              <p:spPr>
                <a:xfrm>
                  <a:off x="3124607" y="2442685"/>
                  <a:ext cx="2455200" cy="922014"/>
                </a:xfrm>
                <a:prstGeom prst="rect">
                  <a:avLst/>
                </a:prstGeom>
                <a:noFill/>
                <a:ln>
                  <a:noFill/>
                </a:ln>
              </p:spPr>
              <p:style>
                <a:lnRef idx="1">
                  <a:schemeClr val="dk1"/>
                </a:lnRef>
                <a:fillRef idx="3">
                  <a:schemeClr val="dk1"/>
                </a:fillRef>
                <a:effectRef idx="2">
                  <a:schemeClr val="dk1"/>
                </a:effectRef>
                <a:fontRef idx="minor">
                  <a:schemeClr val="lt1"/>
                </a:fontRef>
              </p:style>
              <p:txBody>
                <a:bodyPr wrap="square" rtlCol="0">
                  <a:noAutofit/>
                </a:bodyPr>
                <a:lstStyle>
                  <a:defPPr>
                    <a:defRPr lang="zh-CN"/>
                  </a:defPPr>
                  <a:lvl1pPr>
                    <a:defRPr b="1">
                      <a:latin typeface="Arial" panose="020B0604020202020204" pitchFamily="34" charset="0"/>
                      <a:ea typeface="微软雅黑" panose="020B0503020204020204" pitchFamily="34" charset="-122"/>
                    </a:defRPr>
                  </a:lvl1pPr>
                </a:lstStyle>
                <a:p>
                  <a:r>
                    <a:rPr lang="en-US" altLang="zh-CN" dirty="0">
                      <a:solidFill>
                        <a:schemeClr val="tx1"/>
                      </a:solidFill>
                    </a:rPr>
                    <a:t>ERP, PLM, CRM,MES, WMS, SRM etc.</a:t>
                  </a:r>
                </a:p>
                <a:p>
                  <a:endParaRPr lang="zh-CN" altLang="en-US" dirty="0">
                    <a:solidFill>
                      <a:schemeClr val="tx1"/>
                    </a:solidFill>
                  </a:endParaRPr>
                </a:p>
              </p:txBody>
            </p:sp>
            <p:sp>
              <p:nvSpPr>
                <p:cNvPr id="82" name="Body-4">
                  <a:extLst>
                    <a:ext uri="{FF2B5EF4-FFF2-40B4-BE49-F238E27FC236}">
                      <a16:creationId xmlns:a16="http://schemas.microsoft.com/office/drawing/2014/main" id="{544FD825-B90C-3155-E94E-24ABE84BC235}"/>
                    </a:ext>
                  </a:extLst>
                </p:cNvPr>
                <p:cNvSpPr>
                  <a:spLocks/>
                </p:cNvSpPr>
                <p:nvPr>
                  <p:custDataLst>
                    <p:tags r:id="rId4"/>
                  </p:custDataLst>
                </p:nvPr>
              </p:nvSpPr>
              <p:spPr>
                <a:xfrm>
                  <a:off x="3124608" y="2692455"/>
                  <a:ext cx="2455200" cy="13298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defRPr/>
                  </a:pPr>
                  <a:endParaRPr kumimoji="0" lang="en-GB" altLang="zh-CN" sz="1400" b="0" i="0" u="none" strike="noStrike" kern="1200" cap="none" spc="0" normalizeH="0" baseline="0" noProof="0" dirty="0">
                    <a:ln>
                      <a:noFill/>
                    </a:ln>
                    <a:solidFill>
                      <a:schemeClr val="tx2">
                        <a:lumMod val="90000"/>
                        <a:lumOff val="10000"/>
                      </a:schemeClr>
                    </a:solidFill>
                    <a:effectLst/>
                    <a:uLnTx/>
                    <a:uFillTx/>
                    <a:latin typeface="+mn-ea"/>
                    <a:cs typeface="+mn-cs"/>
                  </a:endParaRPr>
                </a:p>
              </p:txBody>
            </p:sp>
          </p:grpSp>
        </p:grpSp>
      </p:grpSp>
    </p:spTree>
    <p:extLst>
      <p:ext uri="{BB962C8B-B14F-4D97-AF65-F5344CB8AC3E}">
        <p14:creationId xmlns:p14="http://schemas.microsoft.com/office/powerpoint/2010/main" val="3535262635"/>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2846DF4-F560-A888-E576-49A2D6F63936}"/>
              </a:ext>
            </a:extLst>
          </p:cNvPr>
          <p:cNvSpPr>
            <a:spLocks noGrp="1"/>
          </p:cNvSpPr>
          <p:nvPr>
            <p:ph type="title"/>
          </p:nvPr>
        </p:nvSpPr>
        <p:spPr/>
        <p:txBody>
          <a:bodyPr/>
          <a:lstStyle/>
          <a:p>
            <a:r>
              <a:rPr lang="zh-CN" altLang="en-US" dirty="0">
                <a:latin typeface="+mj-ea"/>
              </a:rPr>
              <a:t>项目管理 </a:t>
            </a:r>
          </a:p>
        </p:txBody>
      </p:sp>
      <p:sp>
        <p:nvSpPr>
          <p:cNvPr id="3" name="Rectangle 50">
            <a:extLst>
              <a:ext uri="{FF2B5EF4-FFF2-40B4-BE49-F238E27FC236}">
                <a16:creationId xmlns:a16="http://schemas.microsoft.com/office/drawing/2014/main" id="{85708B5C-E0EA-B4D1-22EC-016114D51D1A}"/>
              </a:ext>
            </a:extLst>
          </p:cNvPr>
          <p:cNvSpPr/>
          <p:nvPr/>
        </p:nvSpPr>
        <p:spPr>
          <a:xfrm>
            <a:off x="1136330" y="2159968"/>
            <a:ext cx="5242030" cy="719092"/>
          </a:xfrm>
          <a:prstGeom prst="rect">
            <a:avLst/>
          </a:prstGeom>
          <a:ln/>
        </p:spPr>
        <p:style>
          <a:lnRef idx="1">
            <a:schemeClr val="accent5"/>
          </a:lnRef>
          <a:fillRef idx="3">
            <a:schemeClr val="accent5"/>
          </a:fillRef>
          <a:effectRef idx="2">
            <a:schemeClr val="accent5"/>
          </a:effectRef>
          <a:fontRef idx="minor">
            <a:schemeClr val="lt1"/>
          </a:fontRef>
        </p:style>
        <p:txBody>
          <a:bodyPr rot="0" spcFirstLastPara="0" vertOverflow="overflow" horzOverflow="overflow" vert="horz" wrap="square" lIns="53340" tIns="7620" rIns="53340" bIns="7620" numCol="1" spcCol="0" rtlCol="0" fromWordArt="0" anchor="ctr" anchorCtr="0" forceAA="0" compatLnSpc="1">
            <a:noAutofit/>
          </a:bodyPr>
          <a:lstStyle/>
          <a:p>
            <a:pPr marL="0" marR="0" lvl="0" indent="0" algn="ctr" defTabSz="1219200" rtl="0" eaLnBrk="1" fontAlgn="auto" latinLnBrk="0" hangingPunct="1">
              <a:lnSpc>
                <a:spcPct val="100000"/>
              </a:lnSpc>
              <a:spcBef>
                <a:spcPts val="300"/>
              </a:spcBef>
              <a:spcAft>
                <a:spcPts val="300"/>
              </a:spcAft>
              <a:buClrTx/>
              <a:buSzTx/>
              <a:buFontTx/>
              <a:buNone/>
              <a:defRPr/>
            </a:pPr>
            <a:r>
              <a:rPr kumimoji="0" lang="en-US" sz="1400" b="1" i="0" u="none" strike="noStrike" kern="1200" cap="none" spc="0" normalizeH="0" baseline="0" noProof="0" dirty="0">
                <a:ln>
                  <a:noFill/>
                </a:ln>
                <a:solidFill>
                  <a:prstClr val="white"/>
                </a:solidFill>
                <a:effectLst/>
                <a:uLnTx/>
                <a:uFillTx/>
                <a:latin typeface="+mj-ea"/>
                <a:ea typeface="+mj-ea"/>
                <a:cs typeface="+mn-cs"/>
              </a:rPr>
              <a:t>Program Team</a:t>
            </a:r>
          </a:p>
        </p:txBody>
      </p:sp>
      <p:cxnSp>
        <p:nvCxnSpPr>
          <p:cNvPr id="6" name="Connector: Elbow 57">
            <a:extLst>
              <a:ext uri="{FF2B5EF4-FFF2-40B4-BE49-F238E27FC236}">
                <a16:creationId xmlns:a16="http://schemas.microsoft.com/office/drawing/2014/main" id="{DEC6B3BD-EDAB-2C7D-02EA-6F30B3CB4CEF}"/>
              </a:ext>
            </a:extLst>
          </p:cNvPr>
          <p:cNvCxnSpPr>
            <a:cxnSpLocks/>
            <a:stCxn id="3" idx="2"/>
          </p:cNvCxnSpPr>
          <p:nvPr/>
        </p:nvCxnSpPr>
        <p:spPr>
          <a:xfrm rot="5400000">
            <a:off x="3032602" y="2331531"/>
            <a:ext cx="177215" cy="1272272"/>
          </a:xfrm>
          <a:prstGeom prst="bentConnector2">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nector: Elbow 58">
            <a:extLst>
              <a:ext uri="{FF2B5EF4-FFF2-40B4-BE49-F238E27FC236}">
                <a16:creationId xmlns:a16="http://schemas.microsoft.com/office/drawing/2014/main" id="{55079CA9-67CE-D018-4FC0-F4BD9D4D614B}"/>
              </a:ext>
            </a:extLst>
          </p:cNvPr>
          <p:cNvCxnSpPr>
            <a:cxnSpLocks/>
            <a:stCxn id="3" idx="2"/>
          </p:cNvCxnSpPr>
          <p:nvPr/>
        </p:nvCxnSpPr>
        <p:spPr>
          <a:xfrm rot="16200000" flipH="1">
            <a:off x="4412577" y="2223828"/>
            <a:ext cx="188086" cy="1498550"/>
          </a:xfrm>
          <a:prstGeom prst="bentConnector2">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8" name="Table 14">
            <a:extLst>
              <a:ext uri="{FF2B5EF4-FFF2-40B4-BE49-F238E27FC236}">
                <a16:creationId xmlns:a16="http://schemas.microsoft.com/office/drawing/2014/main" id="{73C0F613-DEF5-3C5C-34B7-D5D6580F8EBB}"/>
              </a:ext>
            </a:extLst>
          </p:cNvPr>
          <p:cNvGraphicFramePr>
            <a:graphicFrameLocks noGrp="1"/>
          </p:cNvGraphicFramePr>
          <p:nvPr>
            <p:extLst>
              <p:ext uri="{D42A27DB-BD31-4B8C-83A1-F6EECF244321}">
                <p14:modId xmlns:p14="http://schemas.microsoft.com/office/powerpoint/2010/main" val="4117174346"/>
              </p:ext>
            </p:extLst>
          </p:nvPr>
        </p:nvGraphicFramePr>
        <p:xfrm>
          <a:off x="1055988" y="3112906"/>
          <a:ext cx="1673889" cy="3109164"/>
        </p:xfrm>
        <a:graphic>
          <a:graphicData uri="http://schemas.openxmlformats.org/drawingml/2006/table">
            <a:tbl>
              <a:tblPr firstRow="1" bandRow="1">
                <a:tableStyleId>{5A111915-BE36-4E01-A7E5-04B1672EAD32}</a:tableStyleId>
              </a:tblPr>
              <a:tblGrid>
                <a:gridCol w="1673889">
                  <a:extLst>
                    <a:ext uri="{9D8B030D-6E8A-4147-A177-3AD203B41FA5}">
                      <a16:colId xmlns:a16="http://schemas.microsoft.com/office/drawing/2014/main" val="20000"/>
                    </a:ext>
                  </a:extLst>
                </a:gridCol>
              </a:tblGrid>
              <a:tr h="790779">
                <a:tc>
                  <a:txBody>
                    <a:bodyPr/>
                    <a:lstStyle/>
                    <a:p>
                      <a:pPr algn="ctr"/>
                      <a:r>
                        <a:rPr lang="en-US" sz="1400" dirty="0"/>
                        <a:t>DT Workstream Team</a:t>
                      </a:r>
                      <a:endParaRPr lang="en-US" sz="1400" dirty="0">
                        <a:latin typeface="Arial" panose="020B0604020202020204" pitchFamily="34" charset="0"/>
                        <a:ea typeface="微软雅黑" panose="020B0503020204020204" pitchFamily="34" charset="-122"/>
                      </a:endParaRPr>
                    </a:p>
                  </a:txBody>
                  <a:tcPr anchor="ctr"/>
                </a:tc>
                <a:extLst>
                  <a:ext uri="{0D108BD9-81ED-4DB2-BD59-A6C34878D82A}">
                    <a16:rowId xmlns:a16="http://schemas.microsoft.com/office/drawing/2014/main" val="10000"/>
                  </a:ext>
                </a:extLst>
              </a:tr>
              <a:tr h="2318385">
                <a:tc>
                  <a:txBody>
                    <a:bodyPr/>
                    <a:lstStyle/>
                    <a:p>
                      <a:pPr marL="285750" indent="-285750" algn="l">
                        <a:spcBef>
                          <a:spcPts val="300"/>
                        </a:spcBef>
                        <a:spcAft>
                          <a:spcPts val="300"/>
                        </a:spcAft>
                        <a:buFont typeface="Arial" panose="020B0604020202020204" pitchFamily="34" charset="0"/>
                        <a:buChar char="•"/>
                      </a:pPr>
                      <a:endParaRPr lang="en-US" sz="1400" dirty="0">
                        <a:latin typeface="Arial" panose="020B0604020202020204" pitchFamily="34" charset="0"/>
                        <a:ea typeface="微软雅黑" panose="020B0503020204020204" pitchFamily="34" charset="-122"/>
                      </a:endParaRPr>
                    </a:p>
                  </a:txBody>
                  <a:tcPr anchor="ctr"/>
                </a:tc>
                <a:extLst>
                  <a:ext uri="{0D108BD9-81ED-4DB2-BD59-A6C34878D82A}">
                    <a16:rowId xmlns:a16="http://schemas.microsoft.com/office/drawing/2014/main" val="10001"/>
                  </a:ext>
                </a:extLst>
              </a:tr>
            </a:tbl>
          </a:graphicData>
        </a:graphic>
      </p:graphicFrame>
      <p:graphicFrame>
        <p:nvGraphicFramePr>
          <p:cNvPr id="9" name="Table 14">
            <a:extLst>
              <a:ext uri="{FF2B5EF4-FFF2-40B4-BE49-F238E27FC236}">
                <a16:creationId xmlns:a16="http://schemas.microsoft.com/office/drawing/2014/main" id="{11A08EA4-441C-5DEC-CE54-8FD9E5AEB2AB}"/>
              </a:ext>
            </a:extLst>
          </p:cNvPr>
          <p:cNvGraphicFramePr>
            <a:graphicFrameLocks noGrp="1"/>
          </p:cNvGraphicFramePr>
          <p:nvPr>
            <p:extLst>
              <p:ext uri="{D42A27DB-BD31-4B8C-83A1-F6EECF244321}">
                <p14:modId xmlns:p14="http://schemas.microsoft.com/office/powerpoint/2010/main" val="3568190550"/>
              </p:ext>
            </p:extLst>
          </p:nvPr>
        </p:nvGraphicFramePr>
        <p:xfrm>
          <a:off x="4889664" y="3067147"/>
          <a:ext cx="1673889" cy="3153125"/>
        </p:xfrm>
        <a:graphic>
          <a:graphicData uri="http://schemas.openxmlformats.org/drawingml/2006/table">
            <a:tbl>
              <a:tblPr firstRow="1" bandRow="1">
                <a:tableStyleId>{5A111915-BE36-4E01-A7E5-04B1672EAD32}</a:tableStyleId>
              </a:tblPr>
              <a:tblGrid>
                <a:gridCol w="1673889">
                  <a:extLst>
                    <a:ext uri="{9D8B030D-6E8A-4147-A177-3AD203B41FA5}">
                      <a16:colId xmlns:a16="http://schemas.microsoft.com/office/drawing/2014/main" val="20000"/>
                    </a:ext>
                  </a:extLst>
                </a:gridCol>
              </a:tblGrid>
              <a:tr h="875380">
                <a:tc>
                  <a:txBody>
                    <a:bodyPr/>
                    <a:lstStyle/>
                    <a:p>
                      <a:pPr algn="ctr"/>
                      <a:r>
                        <a:rPr lang="en-US" sz="1400" dirty="0"/>
                        <a:t>IT Workstream Team</a:t>
                      </a:r>
                      <a:endParaRPr lang="en-US" sz="1400" dirty="0">
                        <a:latin typeface="Arial" panose="020B0604020202020204" pitchFamily="34" charset="0"/>
                        <a:ea typeface="微软雅黑" panose="020B0503020204020204" pitchFamily="34" charset="-122"/>
                      </a:endParaRPr>
                    </a:p>
                  </a:txBody>
                  <a:tcPr anchor="ctr"/>
                </a:tc>
                <a:extLst>
                  <a:ext uri="{0D108BD9-81ED-4DB2-BD59-A6C34878D82A}">
                    <a16:rowId xmlns:a16="http://schemas.microsoft.com/office/drawing/2014/main" val="10000"/>
                  </a:ext>
                </a:extLst>
              </a:tr>
              <a:tr h="2277745">
                <a:tc>
                  <a:txBody>
                    <a:bodyPr/>
                    <a:lstStyle/>
                    <a:p>
                      <a:pPr marL="285750" indent="-285750" algn="l">
                        <a:spcBef>
                          <a:spcPts val="300"/>
                        </a:spcBef>
                        <a:spcAft>
                          <a:spcPts val="300"/>
                        </a:spcAft>
                        <a:buFont typeface="Arial" panose="020B0604020202020204" pitchFamily="34" charset="0"/>
                        <a:buChar char="•"/>
                      </a:pPr>
                      <a:endParaRPr lang="en-US" sz="1050" dirty="0">
                        <a:latin typeface="Arial" panose="020B0604020202020204" pitchFamily="34" charset="0"/>
                        <a:ea typeface="微软雅黑" panose="020B0503020204020204" pitchFamily="34" charset="-122"/>
                      </a:endParaRPr>
                    </a:p>
                  </a:txBody>
                  <a:tcPr anchor="ctr"/>
                </a:tc>
                <a:extLst>
                  <a:ext uri="{0D108BD9-81ED-4DB2-BD59-A6C34878D82A}">
                    <a16:rowId xmlns:a16="http://schemas.microsoft.com/office/drawing/2014/main" val="10001"/>
                  </a:ext>
                </a:extLst>
              </a:tr>
            </a:tbl>
          </a:graphicData>
        </a:graphic>
      </p:graphicFrame>
      <p:cxnSp>
        <p:nvCxnSpPr>
          <p:cNvPr id="10" name="Straight Connector 36">
            <a:extLst>
              <a:ext uri="{FF2B5EF4-FFF2-40B4-BE49-F238E27FC236}">
                <a16:creationId xmlns:a16="http://schemas.microsoft.com/office/drawing/2014/main" id="{38582388-2C89-0235-E14D-3A8FDEDFC014}"/>
              </a:ext>
            </a:extLst>
          </p:cNvPr>
          <p:cNvCxnSpPr>
            <a:cxnSpLocks/>
          </p:cNvCxnSpPr>
          <p:nvPr/>
        </p:nvCxnSpPr>
        <p:spPr>
          <a:xfrm flipV="1">
            <a:off x="5204932" y="1169608"/>
            <a:ext cx="2016" cy="19179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38">
            <a:extLst>
              <a:ext uri="{FF2B5EF4-FFF2-40B4-BE49-F238E27FC236}">
                <a16:creationId xmlns:a16="http://schemas.microsoft.com/office/drawing/2014/main" id="{FB4BBC4A-B89F-88F6-D6A3-5DB16ACF15F9}"/>
              </a:ext>
            </a:extLst>
          </p:cNvPr>
          <p:cNvSpPr/>
          <p:nvPr/>
        </p:nvSpPr>
        <p:spPr>
          <a:xfrm>
            <a:off x="1136331" y="935762"/>
            <a:ext cx="5242030" cy="990360"/>
          </a:xfrm>
          <a:prstGeom prst="rect">
            <a:avLst/>
          </a:prstGeom>
          <a:solidFill>
            <a:schemeClr val="accent5">
              <a:alpha val="5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53340" tIns="7620" rIns="53340" bIns="7620" numCol="1" spcCol="0" rtlCol="0" fromWordArt="0" anchor="ctr" anchorCtr="0" forceAA="0" compatLnSpc="1">
            <a:noAutofit/>
          </a:bodyPr>
          <a:lstStyle/>
          <a:p>
            <a:pPr marL="0" marR="0" lvl="0" indent="0" algn="ctr" defTabSz="1219200" rtl="0" eaLnBrk="1" fontAlgn="auto" latinLnBrk="0" hangingPunct="1">
              <a:lnSpc>
                <a:spcPct val="100000"/>
              </a:lnSpc>
              <a:spcBef>
                <a:spcPts val="300"/>
              </a:spcBef>
              <a:spcAft>
                <a:spcPts val="300"/>
              </a:spcAft>
              <a:buClrTx/>
              <a:buSzTx/>
              <a:buFontTx/>
              <a:buNone/>
              <a:defRPr/>
            </a:pPr>
            <a:r>
              <a:rPr kumimoji="0" lang="en-US" altLang="zh-CN" sz="1600" b="1" i="0" u="sng" strike="noStrike" kern="1200" cap="none" spc="0" normalizeH="0" baseline="0" noProof="0" dirty="0">
                <a:ln>
                  <a:noFill/>
                </a:ln>
                <a:solidFill>
                  <a:prstClr val="white"/>
                </a:solidFill>
                <a:effectLst/>
                <a:uLnTx/>
                <a:uFillTx/>
                <a:latin typeface="+mj-ea"/>
                <a:ea typeface="+mj-ea"/>
                <a:cs typeface="+mn-cs"/>
              </a:rPr>
              <a:t>Executive Lead</a:t>
            </a:r>
            <a:r>
              <a:rPr kumimoji="0" lang="en-US" altLang="zh-CN" sz="1600" b="1" i="0" u="none" strike="noStrike" kern="1200" cap="none" spc="0" normalizeH="0" baseline="0" noProof="0" dirty="0">
                <a:ln>
                  <a:noFill/>
                </a:ln>
                <a:solidFill>
                  <a:prstClr val="white"/>
                </a:solidFill>
                <a:effectLst/>
                <a:uLnTx/>
                <a:uFillTx/>
                <a:latin typeface="+mj-ea"/>
                <a:ea typeface="+mj-ea"/>
                <a:cs typeface="+mn-cs"/>
              </a:rPr>
              <a:t>:</a:t>
            </a:r>
            <a:endParaRPr kumimoji="0" lang="en-US" sz="1600" b="1" i="0" u="none" strike="noStrike" kern="1200" cap="none" spc="0" normalizeH="0" baseline="0" noProof="0" dirty="0">
              <a:ln>
                <a:noFill/>
              </a:ln>
              <a:solidFill>
                <a:prstClr val="white"/>
              </a:solidFill>
              <a:effectLst/>
              <a:uLnTx/>
              <a:uFillTx/>
              <a:latin typeface="+mj-ea"/>
              <a:ea typeface="+mj-ea"/>
              <a:cs typeface="+mn-cs"/>
            </a:endParaRPr>
          </a:p>
          <a:p>
            <a:pPr marL="0" marR="0" lvl="0" indent="0" algn="l" defTabSz="1219200" rtl="0" eaLnBrk="1" fontAlgn="auto" latinLnBrk="0" hangingPunct="1">
              <a:lnSpc>
                <a:spcPct val="100000"/>
              </a:lnSpc>
              <a:spcBef>
                <a:spcPts val="300"/>
              </a:spcBef>
              <a:spcAft>
                <a:spcPts val="300"/>
              </a:spcAft>
              <a:buClrTx/>
              <a:buSzTx/>
              <a:buFontTx/>
              <a:buNone/>
              <a:defRPr/>
            </a:pPr>
            <a:endParaRPr kumimoji="0" lang="en-US" sz="1600" b="1" i="0" u="sng" strike="noStrike" kern="1200" cap="none" spc="0" normalizeH="0" baseline="0" noProof="0" dirty="0">
              <a:ln>
                <a:noFill/>
              </a:ln>
              <a:solidFill>
                <a:prstClr val="white"/>
              </a:solidFill>
              <a:effectLst/>
              <a:uLnTx/>
              <a:uFillTx/>
              <a:latin typeface="+mj-ea"/>
              <a:ea typeface="+mj-ea"/>
              <a:cs typeface="+mn-cs"/>
            </a:endParaRPr>
          </a:p>
        </p:txBody>
      </p:sp>
      <p:grpSp>
        <p:nvGrpSpPr>
          <p:cNvPr id="20" name="组合 19">
            <a:extLst>
              <a:ext uri="{FF2B5EF4-FFF2-40B4-BE49-F238E27FC236}">
                <a16:creationId xmlns:a16="http://schemas.microsoft.com/office/drawing/2014/main" id="{878F53A7-11DF-6AA4-C209-E56F12C30C3C}"/>
              </a:ext>
            </a:extLst>
          </p:cNvPr>
          <p:cNvGrpSpPr/>
          <p:nvPr/>
        </p:nvGrpSpPr>
        <p:grpSpPr>
          <a:xfrm>
            <a:off x="6936107" y="1106489"/>
            <a:ext cx="4719458" cy="5215585"/>
            <a:chOff x="522257" y="1145832"/>
            <a:chExt cx="11133306" cy="5556691"/>
          </a:xfrm>
        </p:grpSpPr>
        <p:pic>
          <p:nvPicPr>
            <p:cNvPr id="13" name="Content Placeholder 28" descr="Chevron arrows with solid fill">
              <a:extLst>
                <a:ext uri="{FF2B5EF4-FFF2-40B4-BE49-F238E27FC236}">
                  <a16:creationId xmlns:a16="http://schemas.microsoft.com/office/drawing/2014/main" id="{317F7802-A034-6B2E-CBF1-043AF4576A50}"/>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21973" y="1328458"/>
              <a:ext cx="520936" cy="520936"/>
            </a:xfrm>
            <a:prstGeom prst="rect">
              <a:avLst/>
            </a:prstGeom>
          </p:spPr>
        </p:pic>
        <p:cxnSp>
          <p:nvCxnSpPr>
            <p:cNvPr id="14" name="Straight Connector 7">
              <a:extLst>
                <a:ext uri="{FF2B5EF4-FFF2-40B4-BE49-F238E27FC236}">
                  <a16:creationId xmlns:a16="http://schemas.microsoft.com/office/drawing/2014/main" id="{97AE773E-78ED-31A7-EBFB-E38CC26F5076}"/>
                </a:ext>
              </a:extLst>
            </p:cNvPr>
            <p:cNvCxnSpPr/>
            <p:nvPr/>
          </p:nvCxnSpPr>
          <p:spPr>
            <a:xfrm>
              <a:off x="4910172" y="1752351"/>
              <a:ext cx="0" cy="4390888"/>
            </a:xfrm>
            <a:prstGeom prst="line">
              <a:avLst/>
            </a:prstGeom>
            <a:ln w="6350" cap="flat">
              <a:solidFill>
                <a:srgbClr val="7F7F7F"/>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 name="TextBox 8">
              <a:extLst>
                <a:ext uri="{FF2B5EF4-FFF2-40B4-BE49-F238E27FC236}">
                  <a16:creationId xmlns:a16="http://schemas.microsoft.com/office/drawing/2014/main" id="{C476DB96-D628-3940-5774-061CAE2E0474}"/>
                </a:ext>
              </a:extLst>
            </p:cNvPr>
            <p:cNvSpPr txBox="1"/>
            <p:nvPr/>
          </p:nvSpPr>
          <p:spPr>
            <a:xfrm>
              <a:off x="536447" y="1849394"/>
              <a:ext cx="4373726" cy="3811903"/>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6255" lvl="2" indent="-287655">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880">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1219200" rtl="0" eaLnBrk="1" fontAlgn="auto" latinLnBrk="0" hangingPunct="1">
                <a:lnSpc>
                  <a:spcPct val="100000"/>
                </a:lnSpc>
                <a:spcBef>
                  <a:spcPts val="300"/>
                </a:spcBef>
                <a:spcAft>
                  <a:spcPts val="300"/>
                </a:spcAft>
                <a:buClrTx/>
                <a:buSzTx/>
                <a:buFont typeface="Segoe UI" panose="020B0502040204020203" pitchFamily="34" charset="0"/>
                <a:buNone/>
                <a:defRPr/>
              </a:pPr>
              <a:r>
                <a:rPr kumimoji="0" lang="zh-CN" altLang="en-US" b="1" i="0" u="none" strike="noStrike" kern="1200" cap="none" spc="0" normalizeH="0" baseline="0" noProof="0" dirty="0">
                  <a:ln>
                    <a:noFill/>
                  </a:ln>
                  <a:effectLst/>
                  <a:uLnTx/>
                  <a:uFillTx/>
                  <a:latin typeface="+mj-ea"/>
                  <a:ea typeface="+mj-ea"/>
                  <a:cs typeface="Arial" panose="020B0604020202020204" pitchFamily="34" charset="0"/>
                </a:rPr>
                <a:t>激励</a:t>
              </a:r>
              <a:r>
                <a:rPr kumimoji="0" lang="en-US" b="1" i="0" u="none" strike="noStrike" kern="1200" cap="none" spc="0" normalizeH="0" baseline="0" noProof="0" dirty="0">
                  <a:ln>
                    <a:noFill/>
                  </a:ln>
                  <a:effectLst/>
                  <a:uLnTx/>
                  <a:uFillTx/>
                  <a:latin typeface="+mj-ea"/>
                  <a:ea typeface="+mj-ea"/>
                  <a:cs typeface="Arial" panose="020B0604020202020204" pitchFamily="34" charset="0"/>
                </a:rPr>
                <a:t> </a:t>
              </a:r>
              <a:r>
                <a:rPr lang="en-US" b="1" dirty="0">
                  <a:latin typeface="+mj-ea"/>
                  <a:ea typeface="+mj-ea"/>
                </a:rPr>
                <a:t>DT</a:t>
              </a:r>
              <a:r>
                <a:rPr lang="zh-CN" altLang="en-US" b="1" dirty="0">
                  <a:latin typeface="+mj-ea"/>
                  <a:ea typeface="+mj-ea"/>
                </a:rPr>
                <a:t>和</a:t>
              </a:r>
              <a:r>
                <a:rPr lang="en-US" altLang="zh-CN" b="1" dirty="0">
                  <a:latin typeface="+mj-ea"/>
                  <a:ea typeface="+mj-ea"/>
                </a:rPr>
                <a:t>IT</a:t>
              </a:r>
              <a:r>
                <a:rPr lang="zh-CN" altLang="en-US" b="1" dirty="0">
                  <a:latin typeface="+mj-ea"/>
                  <a:ea typeface="+mj-ea"/>
                </a:rPr>
                <a:t>团队高质量的完成既定目标</a:t>
              </a:r>
              <a:endParaRPr lang="en-US" altLang="zh-CN" b="1" dirty="0">
                <a:latin typeface="+mj-ea"/>
                <a:ea typeface="+mj-ea"/>
              </a:endParaRPr>
            </a:p>
            <a:p>
              <a:pPr marL="0" marR="0" lvl="0" indent="0" algn="l" defTabSz="1219200" rtl="0" eaLnBrk="1" fontAlgn="auto" latinLnBrk="0" hangingPunct="1">
                <a:lnSpc>
                  <a:spcPct val="100000"/>
                </a:lnSpc>
                <a:spcBef>
                  <a:spcPts val="300"/>
                </a:spcBef>
                <a:spcAft>
                  <a:spcPts val="300"/>
                </a:spcAft>
                <a:buClrTx/>
                <a:buSzTx/>
                <a:buFont typeface="Segoe UI" panose="020B0502040204020203" pitchFamily="34" charset="0"/>
                <a:buNone/>
                <a:defRPr/>
              </a:pPr>
              <a:endParaRPr kumimoji="0" lang="en-US" sz="1800" b="0" i="0" u="none" strike="noStrike" kern="1200" cap="none" spc="0" normalizeH="0" baseline="0" noProof="0" dirty="0">
                <a:ln>
                  <a:noFill/>
                </a:ln>
                <a:effectLst/>
                <a:uLnTx/>
                <a:uFillTx/>
                <a:latin typeface="+mj-ea"/>
                <a:ea typeface="+mj-ea"/>
                <a:cs typeface="Arial" panose="020B0604020202020204" pitchFamily="34" charset="0"/>
              </a:endParaRPr>
            </a:p>
            <a:p>
              <a:pPr lvl="1">
                <a:buFont typeface="Arial" panose="020B0604020202020204" pitchFamily="34" charset="0"/>
                <a:buChar char="•"/>
              </a:pPr>
              <a:r>
                <a:rPr lang="zh-CN" altLang="en-US" i="0" dirty="0">
                  <a:effectLst/>
                  <a:latin typeface="+mj-ea"/>
                  <a:ea typeface="+mj-ea"/>
                </a:rPr>
                <a:t>在整个项目中拥有端到端的视图和完全的可见性。</a:t>
              </a:r>
              <a:endParaRPr lang="en-US" altLang="zh-CN" i="0" dirty="0">
                <a:effectLst/>
                <a:latin typeface="+mj-ea"/>
                <a:ea typeface="+mj-ea"/>
              </a:endParaRPr>
            </a:p>
            <a:p>
              <a:pPr lvl="1">
                <a:buFont typeface="Arial" panose="020B0604020202020204" pitchFamily="34" charset="0"/>
                <a:buChar char="•"/>
              </a:pPr>
              <a:endParaRPr lang="zh-CN" altLang="en-US" i="0" dirty="0">
                <a:effectLst/>
                <a:latin typeface="+mj-ea"/>
                <a:ea typeface="+mj-ea"/>
              </a:endParaRPr>
            </a:p>
            <a:p>
              <a:pPr lvl="1">
                <a:buFont typeface="Arial" panose="020B0604020202020204" pitchFamily="34" charset="0"/>
                <a:buChar char="•"/>
              </a:pPr>
              <a:r>
                <a:rPr lang="zh-CN" altLang="en-US" i="0" dirty="0">
                  <a:effectLst/>
                  <a:latin typeface="+mj-ea"/>
                  <a:ea typeface="+mj-ea"/>
                </a:rPr>
                <a:t>分享指导并协调变更。</a:t>
              </a:r>
              <a:endParaRPr lang="en-US" altLang="zh-CN" i="0" dirty="0">
                <a:effectLst/>
                <a:latin typeface="+mj-ea"/>
                <a:ea typeface="+mj-ea"/>
              </a:endParaRPr>
            </a:p>
            <a:p>
              <a:pPr lvl="1">
                <a:buNone/>
              </a:pPr>
              <a:endParaRPr lang="zh-CN" altLang="en-US" i="0" dirty="0">
                <a:effectLst/>
                <a:latin typeface="+mj-ea"/>
                <a:ea typeface="+mj-ea"/>
              </a:endParaRPr>
            </a:p>
            <a:p>
              <a:pPr lvl="1">
                <a:buFont typeface="Arial" panose="020B0604020202020204" pitchFamily="34" charset="0"/>
                <a:buChar char="•"/>
              </a:pPr>
              <a:r>
                <a:rPr lang="zh-CN" altLang="en-US" i="0" dirty="0">
                  <a:effectLst/>
                  <a:latin typeface="+mj-ea"/>
                  <a:ea typeface="+mj-ea"/>
                </a:rPr>
                <a:t>获得支持和推动这些变更的承诺</a:t>
              </a:r>
              <a:r>
                <a:rPr lang="zh-CN" altLang="en-US" b="0" i="0" dirty="0">
                  <a:effectLst/>
                  <a:latin typeface="+mj-ea"/>
                  <a:ea typeface="+mj-ea"/>
                </a:rPr>
                <a:t>。</a:t>
              </a:r>
            </a:p>
            <a:p>
              <a:pPr marR="0" lvl="0" algn="l" defTabSz="1219200" rtl="0" eaLnBrk="1" fontAlgn="auto" latinLnBrk="0" hangingPunct="1">
                <a:lnSpc>
                  <a:spcPct val="100000"/>
                </a:lnSpc>
                <a:spcBef>
                  <a:spcPts val="300"/>
                </a:spcBef>
                <a:spcAft>
                  <a:spcPts val="300"/>
                </a:spcAft>
                <a:buClrTx/>
                <a:buSzTx/>
                <a:buNone/>
                <a:defRPr/>
              </a:pPr>
              <a:endParaRPr kumimoji="0" lang="en-US" sz="1600" b="0" i="0" u="none" strike="noStrike" kern="1200" cap="none" spc="0" normalizeH="0" baseline="0" noProof="0" dirty="0">
                <a:ln>
                  <a:noFill/>
                </a:ln>
                <a:effectLst/>
                <a:uLnTx/>
                <a:uFillTx/>
                <a:latin typeface="+mj-ea"/>
                <a:ea typeface="+mj-ea"/>
                <a:cs typeface="Arial" panose="020B0604020202020204" pitchFamily="34" charset="0"/>
              </a:endParaRPr>
            </a:p>
          </p:txBody>
        </p:sp>
        <p:sp>
          <p:nvSpPr>
            <p:cNvPr id="16" name="TextBox 9">
              <a:extLst>
                <a:ext uri="{FF2B5EF4-FFF2-40B4-BE49-F238E27FC236}">
                  <a16:creationId xmlns:a16="http://schemas.microsoft.com/office/drawing/2014/main" id="{86B3C4D9-71E3-B9C7-00C9-A4B3C1F2E3B9}"/>
                </a:ext>
              </a:extLst>
            </p:cNvPr>
            <p:cNvSpPr txBox="1"/>
            <p:nvPr/>
          </p:nvSpPr>
          <p:spPr>
            <a:xfrm>
              <a:off x="5184919" y="1171777"/>
              <a:ext cx="4846753" cy="327906"/>
            </a:xfrm>
            <a:prstGeom prst="rect">
              <a:avLst/>
            </a:prstGeom>
          </p:spPr>
          <p:txBody>
            <a:bodyPr vert="horz" wrap="square" lIns="0" tIns="0" rIns="0" bIns="0" rtlCol="0" anchor="b" anchorCtr="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6255" lvl="2" indent="-287655">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880">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1219200" rtl="0" eaLnBrk="1" fontAlgn="auto" latinLnBrk="0" hangingPunct="1">
                <a:lnSpc>
                  <a:spcPct val="100000"/>
                </a:lnSpc>
                <a:spcBef>
                  <a:spcPts val="300"/>
                </a:spcBef>
                <a:spcAft>
                  <a:spcPts val="300"/>
                </a:spcAft>
                <a:buClrTx/>
                <a:buSzTx/>
                <a:buFont typeface="Segoe UI" panose="020B0502040204020203" pitchFamily="34" charset="0"/>
                <a:buChar char="​"/>
                <a:defRPr/>
              </a:pPr>
              <a:r>
                <a:rPr kumimoji="0" lang="en-GB" sz="2000" b="1" i="0" u="none" strike="noStrike" kern="1200" cap="none" spc="0" normalizeH="0" baseline="0" noProof="0" dirty="0">
                  <a:ln>
                    <a:noFill/>
                  </a:ln>
                  <a:effectLst/>
                  <a:uLnTx/>
                  <a:uFillTx/>
                  <a:latin typeface="+mj-ea"/>
                  <a:ea typeface="+mj-ea"/>
                  <a:cs typeface="Arial" panose="020B0604020202020204" pitchFamily="34" charset="0"/>
                </a:rPr>
                <a:t>   </a:t>
              </a:r>
              <a:r>
                <a:rPr kumimoji="0" lang="zh-CN" altLang="en-US" sz="2000" b="1" i="0" u="none" strike="noStrike" kern="1200" cap="none" spc="0" normalizeH="0" baseline="0" noProof="0" dirty="0">
                  <a:ln>
                    <a:noFill/>
                  </a:ln>
                  <a:effectLst/>
                  <a:uLnTx/>
                  <a:uFillTx/>
                  <a:latin typeface="+mj-ea"/>
                  <a:ea typeface="+mj-ea"/>
                  <a:cs typeface="Arial" panose="020B0604020202020204" pitchFamily="34" charset="0"/>
                </a:rPr>
                <a:t>提案</a:t>
              </a:r>
              <a:endParaRPr kumimoji="0" lang="en-GB" sz="2000" b="1" i="0" u="none" strike="noStrike" kern="1200" cap="none" spc="0" normalizeH="0" baseline="0" noProof="0" dirty="0">
                <a:ln>
                  <a:noFill/>
                </a:ln>
                <a:effectLst/>
                <a:uLnTx/>
                <a:uFillTx/>
                <a:latin typeface="+mj-ea"/>
                <a:ea typeface="+mj-ea"/>
                <a:cs typeface="Arial" panose="020B0604020202020204" pitchFamily="34" charset="0"/>
              </a:endParaRPr>
            </a:p>
          </p:txBody>
        </p:sp>
        <p:sp>
          <p:nvSpPr>
            <p:cNvPr id="17" name="TextBox 10">
              <a:extLst>
                <a:ext uri="{FF2B5EF4-FFF2-40B4-BE49-F238E27FC236}">
                  <a16:creationId xmlns:a16="http://schemas.microsoft.com/office/drawing/2014/main" id="{6CC20A16-E60C-4E26-9457-A30B3E5534A6}"/>
                </a:ext>
              </a:extLst>
            </p:cNvPr>
            <p:cNvSpPr txBox="1"/>
            <p:nvPr/>
          </p:nvSpPr>
          <p:spPr>
            <a:xfrm>
              <a:off x="522257" y="1145832"/>
              <a:ext cx="4943796" cy="327906"/>
            </a:xfrm>
            <a:prstGeom prst="rect">
              <a:avLst/>
            </a:prstGeom>
          </p:spPr>
          <p:txBody>
            <a:bodyPr vert="horz" wrap="square" lIns="0" tIns="0" rIns="0" bIns="0" rtlCol="0" anchor="b" anchorCtr="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6255" lvl="2" indent="-287655">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880">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1219200" rtl="0" eaLnBrk="1" fontAlgn="auto" latinLnBrk="0" hangingPunct="1">
                <a:lnSpc>
                  <a:spcPct val="100000"/>
                </a:lnSpc>
                <a:spcBef>
                  <a:spcPts val="300"/>
                </a:spcBef>
                <a:spcAft>
                  <a:spcPts val="300"/>
                </a:spcAft>
                <a:buClrTx/>
                <a:buSzTx/>
                <a:buFont typeface="Segoe UI" panose="020B0502040204020203" pitchFamily="34" charset="0"/>
                <a:buChar char="​"/>
                <a:defRPr/>
              </a:pPr>
              <a:r>
                <a:rPr kumimoji="0" lang="zh-CN" altLang="en-US" sz="2000" b="1" i="0" u="none" strike="noStrike" kern="1200" cap="none" spc="0" normalizeH="0" baseline="0" noProof="0" dirty="0">
                  <a:ln>
                    <a:noFill/>
                  </a:ln>
                  <a:effectLst/>
                  <a:uLnTx/>
                  <a:uFillTx/>
                  <a:latin typeface="+mj-ea"/>
                  <a:ea typeface="+mj-ea"/>
                  <a:cs typeface="Arial" panose="020B0604020202020204" pitchFamily="34" charset="0"/>
                </a:rPr>
                <a:t>目标</a:t>
              </a:r>
              <a:endParaRPr kumimoji="0" lang="en-GB" sz="2000" b="1" i="0" u="none" strike="noStrike" kern="1200" cap="none" spc="0" normalizeH="0" baseline="0" noProof="0" dirty="0">
                <a:ln>
                  <a:noFill/>
                </a:ln>
                <a:effectLst/>
                <a:uLnTx/>
                <a:uFillTx/>
                <a:latin typeface="+mj-ea"/>
                <a:ea typeface="+mj-ea"/>
                <a:cs typeface="Arial" panose="020B0604020202020204" pitchFamily="34" charset="0"/>
              </a:endParaRPr>
            </a:p>
          </p:txBody>
        </p:sp>
        <p:cxnSp>
          <p:nvCxnSpPr>
            <p:cNvPr id="18" name="Straight Connector 11">
              <a:extLst>
                <a:ext uri="{FF2B5EF4-FFF2-40B4-BE49-F238E27FC236}">
                  <a16:creationId xmlns:a16="http://schemas.microsoft.com/office/drawing/2014/main" id="{B929F122-9560-A793-DD81-BCEF18B2AC96}"/>
                </a:ext>
              </a:extLst>
            </p:cNvPr>
            <p:cNvCxnSpPr/>
            <p:nvPr/>
          </p:nvCxnSpPr>
          <p:spPr>
            <a:xfrm>
              <a:off x="536441" y="1569015"/>
              <a:ext cx="11084212" cy="0"/>
            </a:xfrm>
            <a:prstGeom prst="line">
              <a:avLst/>
            </a:prstGeom>
            <a:ln w="12700" cap="rnd">
              <a:solidFill>
                <a:srgbClr val="7F7F7F"/>
              </a:solidFill>
              <a:round/>
              <a:tailEnd type="none"/>
            </a:ln>
          </p:spPr>
          <p:style>
            <a:lnRef idx="1">
              <a:schemeClr val="accent1"/>
            </a:lnRef>
            <a:fillRef idx="0">
              <a:schemeClr val="accent1"/>
            </a:fillRef>
            <a:effectRef idx="0">
              <a:schemeClr val="accent1"/>
            </a:effectRef>
            <a:fontRef idx="minor">
              <a:schemeClr val="tx1"/>
            </a:fontRef>
          </p:style>
        </p:cxnSp>
        <p:sp>
          <p:nvSpPr>
            <p:cNvPr id="19" name="Subtitle 1">
              <a:extLst>
                <a:ext uri="{FF2B5EF4-FFF2-40B4-BE49-F238E27FC236}">
                  <a16:creationId xmlns:a16="http://schemas.microsoft.com/office/drawing/2014/main" id="{EE60367F-79A3-CFDE-7927-2DCB246B896C}"/>
                </a:ext>
              </a:extLst>
            </p:cNvPr>
            <p:cNvSpPr txBox="1"/>
            <p:nvPr/>
          </p:nvSpPr>
          <p:spPr>
            <a:xfrm>
              <a:off x="5142909" y="1926757"/>
              <a:ext cx="6512654" cy="4775766"/>
            </a:xfrm>
            <a:prstGeom prst="rect">
              <a:avLst/>
            </a:prstGeom>
          </p:spPr>
          <p:txBody>
            <a:bodyPr/>
            <a:lstStyle>
              <a:lvl1pPr marL="457200" indent="-457200" algn="l" defTabSz="1219200" rtl="0" eaLnBrk="1" latinLnBrk="0" hangingPunct="1">
                <a:spcBef>
                  <a:spcPct val="20000"/>
                </a:spcBef>
                <a:buClr>
                  <a:schemeClr val="tx2"/>
                </a:buClr>
                <a:buFont typeface="Wingdings" panose="05000000000000000000" pitchFamily="2" charset="2"/>
                <a:buChar char="§"/>
                <a:defRPr sz="4300" kern="1200">
                  <a:solidFill>
                    <a:schemeClr val="tx1"/>
                  </a:solidFill>
                  <a:latin typeface="Arial" panose="020B0604020202020204" pitchFamily="34" charset="0"/>
                  <a:ea typeface="+mn-ea"/>
                  <a:cs typeface="Arial" panose="020B0604020202020204" pitchFamily="34" charset="0"/>
                </a:defRPr>
              </a:lvl1pPr>
              <a:lvl2pPr marL="990600" indent="-381000" algn="l" defTabSz="1219200" rtl="0" eaLnBrk="1" latinLnBrk="0" hangingPunct="1">
                <a:spcBef>
                  <a:spcPct val="20000"/>
                </a:spcBef>
                <a:buClr>
                  <a:schemeClr val="tx2"/>
                </a:buClr>
                <a:buFont typeface="Wingdings" panose="05000000000000000000" pitchFamily="2" charset="2"/>
                <a:buChar char="§"/>
                <a:defRPr sz="3700" kern="1200">
                  <a:solidFill>
                    <a:schemeClr val="tx1"/>
                  </a:solidFill>
                  <a:latin typeface="Arial" panose="020B0604020202020204" pitchFamily="34" charset="0"/>
                  <a:ea typeface="+mn-ea"/>
                  <a:cs typeface="Arial" panose="020B0604020202020204" pitchFamily="34" charset="0"/>
                </a:defRPr>
              </a:lvl2pPr>
              <a:lvl3pPr marL="1524000" indent="-304800" algn="l" defTabSz="1219200" rtl="0" eaLnBrk="1" latinLnBrk="0" hangingPunct="1">
                <a:spcBef>
                  <a:spcPct val="20000"/>
                </a:spcBef>
                <a:buClr>
                  <a:schemeClr val="tx2"/>
                </a:buClr>
                <a:buFont typeface="Wingdings" panose="05000000000000000000" pitchFamily="2" charset="2"/>
                <a:buChar char="§"/>
                <a:defRPr sz="3200" kern="1200">
                  <a:solidFill>
                    <a:schemeClr val="tx1"/>
                  </a:solidFill>
                  <a:latin typeface="Arial" panose="020B0604020202020204" pitchFamily="34" charset="0"/>
                  <a:ea typeface="+mn-ea"/>
                  <a:cs typeface="Arial" panose="020B0604020202020204" pitchFamily="34" charset="0"/>
                </a:defRPr>
              </a:lvl3pPr>
              <a:lvl4pPr marL="2132965" indent="-304800" algn="l" defTabSz="1219200" rtl="0" eaLnBrk="1" latinLnBrk="0" hangingPunct="1">
                <a:spcBef>
                  <a:spcPct val="20000"/>
                </a:spcBef>
                <a:buClr>
                  <a:schemeClr val="tx2"/>
                </a:buClr>
                <a:buFont typeface="Wingdings" panose="05000000000000000000" pitchFamily="2" charset="2"/>
                <a:buChar char="§"/>
                <a:defRPr sz="2700" kern="1200">
                  <a:solidFill>
                    <a:schemeClr val="tx1"/>
                  </a:solidFill>
                  <a:latin typeface="Arial" panose="020B0604020202020204" pitchFamily="34" charset="0"/>
                  <a:ea typeface="+mn-ea"/>
                  <a:cs typeface="Arial" panose="020B0604020202020204" pitchFamily="34" charset="0"/>
                </a:defRPr>
              </a:lvl4pPr>
              <a:lvl5pPr marL="2742565" indent="-304800" algn="l" defTabSz="1219200" rtl="0" eaLnBrk="1" latinLnBrk="0" hangingPunct="1">
                <a:spcBef>
                  <a:spcPct val="20000"/>
                </a:spcBef>
                <a:buClr>
                  <a:schemeClr val="tx2"/>
                </a:buClr>
                <a:buFont typeface="Wingdings" panose="05000000000000000000" pitchFamily="2" charset="2"/>
                <a:buChar char="§"/>
                <a:defRPr sz="2700" kern="1200">
                  <a:solidFill>
                    <a:schemeClr val="tx1"/>
                  </a:solidFill>
                  <a:latin typeface="Arial" panose="020B0604020202020204" pitchFamily="34" charset="0"/>
                  <a:ea typeface="+mn-ea"/>
                  <a:cs typeface="Arial" panose="020B0604020202020204" pitchFamily="34" charset="0"/>
                </a:defRPr>
              </a:lvl5pPr>
              <a:lvl6pPr marL="3352165" indent="-304800" algn="l" defTabSz="1219200" rtl="0" eaLnBrk="1" latinLnBrk="0" hangingPunct="1">
                <a:spcBef>
                  <a:spcPct val="20000"/>
                </a:spcBef>
                <a:buFont typeface="Arial" panose="020B0604020202020204" pitchFamily="34" charset="0"/>
                <a:buChar char="•"/>
                <a:defRPr sz="2700" kern="1200">
                  <a:solidFill>
                    <a:schemeClr val="tx1"/>
                  </a:solidFill>
                  <a:latin typeface="+mn-lt"/>
                  <a:ea typeface="+mn-ea"/>
                  <a:cs typeface="+mn-cs"/>
                </a:defRPr>
              </a:lvl6pPr>
              <a:lvl7pPr marL="3961765" indent="-304800" algn="l" defTabSz="1219200" rtl="0" eaLnBrk="1" latinLnBrk="0" hangingPunct="1">
                <a:spcBef>
                  <a:spcPct val="20000"/>
                </a:spcBef>
                <a:buFont typeface="Arial" panose="020B0604020202020204" pitchFamily="34" charset="0"/>
                <a:buChar char="•"/>
                <a:defRPr sz="2700" kern="1200">
                  <a:solidFill>
                    <a:schemeClr val="tx1"/>
                  </a:solidFill>
                  <a:latin typeface="+mn-lt"/>
                  <a:ea typeface="+mn-ea"/>
                  <a:cs typeface="+mn-cs"/>
                </a:defRPr>
              </a:lvl7pPr>
              <a:lvl8pPr marL="4571365" indent="-304800" algn="l" defTabSz="1219200" rtl="0" eaLnBrk="1" latinLnBrk="0" hangingPunct="1">
                <a:spcBef>
                  <a:spcPct val="20000"/>
                </a:spcBef>
                <a:buFont typeface="Arial" panose="020B0604020202020204" pitchFamily="34" charset="0"/>
                <a:buChar char="•"/>
                <a:defRPr sz="2700" kern="1200">
                  <a:solidFill>
                    <a:schemeClr val="tx1"/>
                  </a:solidFill>
                  <a:latin typeface="+mn-lt"/>
                  <a:ea typeface="+mn-ea"/>
                  <a:cs typeface="+mn-cs"/>
                </a:defRPr>
              </a:lvl8pPr>
              <a:lvl9pPr marL="5180965" indent="-304800" algn="l" defTabSz="1219200" rtl="0" eaLnBrk="1" latinLnBrk="0" hangingPunct="1">
                <a:spcBef>
                  <a:spcPct val="20000"/>
                </a:spcBef>
                <a:buFont typeface="Arial" panose="020B0604020202020204" pitchFamily="34" charset="0"/>
                <a:buChar char="•"/>
                <a:defRPr sz="2700" kern="1200">
                  <a:solidFill>
                    <a:schemeClr val="tx1"/>
                  </a:solidFill>
                  <a:latin typeface="+mn-lt"/>
                  <a:ea typeface="+mn-ea"/>
                  <a:cs typeface="+mn-cs"/>
                </a:defRPr>
              </a:lvl9pPr>
            </a:lstStyle>
            <a:p>
              <a:pPr marL="0" indent="0">
                <a:spcBef>
                  <a:spcPts val="300"/>
                </a:spcBef>
                <a:spcAft>
                  <a:spcPts val="300"/>
                </a:spcAft>
                <a:buClrTx/>
                <a:buNone/>
                <a:defRPr/>
              </a:pPr>
              <a:r>
                <a:rPr lang="zh-CN" altLang="en-US" sz="1600" b="1" dirty="0">
                  <a:latin typeface="+mj-ea"/>
                  <a:ea typeface="+mj-ea"/>
                </a:rPr>
                <a:t>审查与支持</a:t>
              </a:r>
              <a:endParaRPr lang="en-US" altLang="zh-CN" sz="1600" b="1" dirty="0">
                <a:latin typeface="+mj-ea"/>
                <a:ea typeface="+mj-ea"/>
              </a:endParaRPr>
            </a:p>
            <a:p>
              <a:pPr marL="0" indent="0">
                <a:spcBef>
                  <a:spcPts val="300"/>
                </a:spcBef>
                <a:spcAft>
                  <a:spcPts val="300"/>
                </a:spcAft>
                <a:buClrTx/>
                <a:buNone/>
                <a:defRPr/>
              </a:pPr>
              <a:endParaRPr kumimoji="0" lang="en-US" sz="1600" b="1" i="0" u="none" strike="noStrike" kern="1200" cap="none" spc="0" normalizeH="0" baseline="0" noProof="0" dirty="0">
                <a:ln>
                  <a:noFill/>
                </a:ln>
                <a:effectLst/>
                <a:uLnTx/>
                <a:uFillTx/>
                <a:latin typeface="+mj-ea"/>
                <a:ea typeface="+mj-ea"/>
                <a:cs typeface="Arial" panose="020B0604020202020204" pitchFamily="34" charset="0"/>
              </a:endParaRPr>
            </a:p>
            <a:p>
              <a:pPr algn="l">
                <a:buFont typeface="Arial" panose="020B0604020202020204" pitchFamily="34" charset="0"/>
                <a:buChar char="•"/>
              </a:pPr>
              <a:r>
                <a:rPr lang="zh-CN" altLang="en-US" sz="1400" b="0" i="0" dirty="0">
                  <a:effectLst/>
                  <a:latin typeface="+mj-ea"/>
                  <a:ea typeface="+mj-ea"/>
                </a:rPr>
                <a:t>与高管工作组建立双周</a:t>
              </a:r>
              <a:r>
                <a:rPr lang="en-US" altLang="zh-CN" sz="1400" b="0" i="0" dirty="0">
                  <a:effectLst/>
                  <a:latin typeface="+mj-ea"/>
                  <a:ea typeface="+mj-ea"/>
                </a:rPr>
                <a:t>/</a:t>
              </a:r>
              <a:r>
                <a:rPr lang="zh-CN" altLang="en-US" sz="1400" b="0" i="0" dirty="0">
                  <a:effectLst/>
                  <a:latin typeface="+mj-ea"/>
                  <a:ea typeface="+mj-ea"/>
                </a:rPr>
                <a:t>月度的</a:t>
              </a:r>
              <a:r>
                <a:rPr lang="en-US" altLang="zh-CN" sz="1400" b="0" i="0" dirty="0">
                  <a:effectLst/>
                  <a:latin typeface="+mj-ea"/>
                  <a:ea typeface="+mj-ea"/>
                </a:rPr>
                <a:t>BMS</a:t>
              </a:r>
              <a:r>
                <a:rPr lang="zh-CN" altLang="en-US" sz="1400" b="0" i="0" dirty="0">
                  <a:effectLst/>
                  <a:latin typeface="+mj-ea"/>
                  <a:ea typeface="+mj-ea"/>
                </a:rPr>
                <a:t>会议机制，旨在提出瓶颈问题，并要求就流程转型和数字化能力赋能做出决策。</a:t>
              </a:r>
              <a:endParaRPr lang="en-US" altLang="zh-CN" sz="1400" b="0" i="0" dirty="0">
                <a:effectLst/>
                <a:latin typeface="+mj-ea"/>
                <a:ea typeface="+mj-ea"/>
              </a:endParaRPr>
            </a:p>
            <a:p>
              <a:pPr marL="0" indent="0" algn="l">
                <a:buNone/>
              </a:pPr>
              <a:endParaRPr lang="zh-CN" altLang="en-US" sz="1400" b="0" i="0" dirty="0">
                <a:effectLst/>
                <a:latin typeface="+mj-ea"/>
                <a:ea typeface="+mj-ea"/>
              </a:endParaRPr>
            </a:p>
            <a:p>
              <a:pPr algn="l">
                <a:buFont typeface="Arial" panose="020B0604020202020204" pitchFamily="34" charset="0"/>
                <a:buChar char="•"/>
              </a:pPr>
              <a:r>
                <a:rPr lang="zh-CN" altLang="en-US" sz="1400" b="0" i="0" dirty="0">
                  <a:effectLst/>
                  <a:latin typeface="+mj-ea"/>
                  <a:ea typeface="+mj-ea"/>
                </a:rPr>
                <a:t>与项目团队建立双周</a:t>
              </a:r>
              <a:r>
                <a:rPr lang="en-US" altLang="zh-CN" sz="1400" b="0" i="0" dirty="0">
                  <a:effectLst/>
                  <a:latin typeface="+mj-ea"/>
                  <a:ea typeface="+mj-ea"/>
                </a:rPr>
                <a:t>/</a:t>
              </a:r>
              <a:r>
                <a:rPr lang="zh-CN" altLang="en-US" sz="1400" b="0" i="0" dirty="0">
                  <a:effectLst/>
                  <a:latin typeface="+mj-ea"/>
                  <a:ea typeface="+mj-ea"/>
                </a:rPr>
                <a:t>周度的</a:t>
              </a:r>
              <a:r>
                <a:rPr lang="en-US" altLang="zh-CN" sz="1400" b="0" i="0" dirty="0">
                  <a:effectLst/>
                  <a:latin typeface="+mj-ea"/>
                  <a:ea typeface="+mj-ea"/>
                </a:rPr>
                <a:t>BMS</a:t>
              </a:r>
              <a:r>
                <a:rPr lang="zh-CN" altLang="en-US" sz="1400" b="0" i="0" dirty="0">
                  <a:effectLst/>
                  <a:latin typeface="+mj-ea"/>
                  <a:ea typeface="+mj-ea"/>
                </a:rPr>
                <a:t>会议机制。</a:t>
              </a:r>
            </a:p>
          </p:txBody>
        </p:sp>
      </p:grpSp>
    </p:spTree>
    <p:extLst>
      <p:ext uri="{BB962C8B-B14F-4D97-AF65-F5344CB8AC3E}">
        <p14:creationId xmlns:p14="http://schemas.microsoft.com/office/powerpoint/2010/main" val="201871004"/>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770FFA5-62D2-90AB-3DDE-07A9F8F74663}"/>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风险与依赖管理</a:t>
            </a:r>
          </a:p>
        </p:txBody>
      </p:sp>
      <p:graphicFrame>
        <p:nvGraphicFramePr>
          <p:cNvPr id="3" name="Table 2">
            <a:extLst>
              <a:ext uri="{FF2B5EF4-FFF2-40B4-BE49-F238E27FC236}">
                <a16:creationId xmlns:a16="http://schemas.microsoft.com/office/drawing/2014/main" id="{6280789C-2F49-99F4-EC2F-8F48DE5C2ACE}"/>
              </a:ext>
            </a:extLst>
          </p:cNvPr>
          <p:cNvGraphicFramePr>
            <a:graphicFrameLocks noGrp="1"/>
          </p:cNvGraphicFramePr>
          <p:nvPr>
            <p:extLst>
              <p:ext uri="{D42A27DB-BD31-4B8C-83A1-F6EECF244321}">
                <p14:modId xmlns:p14="http://schemas.microsoft.com/office/powerpoint/2010/main" val="2852492611"/>
              </p:ext>
            </p:extLst>
          </p:nvPr>
        </p:nvGraphicFramePr>
        <p:xfrm>
          <a:off x="333189" y="954259"/>
          <a:ext cx="11164816" cy="2286000"/>
        </p:xfrm>
        <a:graphic>
          <a:graphicData uri="http://schemas.openxmlformats.org/drawingml/2006/table">
            <a:tbl>
              <a:tblPr firstRow="1" bandRow="1">
                <a:tableStyleId>{69012ECD-51FC-41F1-AA8D-1B2483CD663E}</a:tableStyleId>
              </a:tblPr>
              <a:tblGrid>
                <a:gridCol w="390525">
                  <a:extLst>
                    <a:ext uri="{9D8B030D-6E8A-4147-A177-3AD203B41FA5}">
                      <a16:colId xmlns:a16="http://schemas.microsoft.com/office/drawing/2014/main" val="20000"/>
                    </a:ext>
                  </a:extLst>
                </a:gridCol>
                <a:gridCol w="5041207">
                  <a:extLst>
                    <a:ext uri="{9D8B030D-6E8A-4147-A177-3AD203B41FA5}">
                      <a16:colId xmlns:a16="http://schemas.microsoft.com/office/drawing/2014/main" val="20001"/>
                    </a:ext>
                  </a:extLst>
                </a:gridCol>
                <a:gridCol w="2725566">
                  <a:extLst>
                    <a:ext uri="{9D8B030D-6E8A-4147-A177-3AD203B41FA5}">
                      <a16:colId xmlns:a16="http://schemas.microsoft.com/office/drawing/2014/main" val="20002"/>
                    </a:ext>
                  </a:extLst>
                </a:gridCol>
                <a:gridCol w="1907381">
                  <a:extLst>
                    <a:ext uri="{9D8B030D-6E8A-4147-A177-3AD203B41FA5}">
                      <a16:colId xmlns:a16="http://schemas.microsoft.com/office/drawing/2014/main" val="20003"/>
                    </a:ext>
                  </a:extLst>
                </a:gridCol>
                <a:gridCol w="1100137">
                  <a:extLst>
                    <a:ext uri="{9D8B030D-6E8A-4147-A177-3AD203B41FA5}">
                      <a16:colId xmlns:a16="http://schemas.microsoft.com/office/drawing/2014/main" val="20004"/>
                    </a:ext>
                  </a:extLst>
                </a:gridCol>
              </a:tblGrid>
              <a:tr h="370840">
                <a:tc>
                  <a:txBody>
                    <a:bodyPr/>
                    <a:lstStyle/>
                    <a:p>
                      <a:pPr algn="ctr"/>
                      <a:endParaRPr lang="en-US" sz="1600">
                        <a:solidFill>
                          <a:schemeClr val="tx1"/>
                        </a:solidFill>
                        <a:latin typeface="Arial" panose="020B0604020202020204" pitchFamily="34" charset="0"/>
                        <a:ea typeface="微软雅黑" panose="020B0503020204020204" pitchFamily="34" charset="-122"/>
                      </a:endParaRPr>
                    </a:p>
                  </a:txBody>
                  <a:tcPr/>
                </a:tc>
                <a:tc>
                  <a:txBody>
                    <a:bodyPr/>
                    <a:lstStyle/>
                    <a:p>
                      <a:pPr algn="ctr"/>
                      <a:r>
                        <a:rPr lang="en-US" sz="1800" dirty="0">
                          <a:solidFill>
                            <a:schemeClr val="tx1"/>
                          </a:solidFill>
                          <a:latin typeface="Arial" panose="020B0604020202020204" pitchFamily="34" charset="0"/>
                          <a:ea typeface="微软雅黑" panose="020B0503020204020204" pitchFamily="34" charset="-122"/>
                        </a:rPr>
                        <a:t>Key Risk</a:t>
                      </a:r>
                    </a:p>
                  </a:txBody>
                  <a:tcPr/>
                </a:tc>
                <a:tc>
                  <a:txBody>
                    <a:bodyPr/>
                    <a:lstStyle/>
                    <a:p>
                      <a:pPr algn="ctr"/>
                      <a:r>
                        <a:rPr lang="en-US" sz="1800">
                          <a:solidFill>
                            <a:schemeClr val="tx1"/>
                          </a:solidFill>
                          <a:latin typeface="Arial" panose="020B0604020202020204" pitchFamily="34" charset="0"/>
                          <a:ea typeface="微软雅黑" panose="020B0503020204020204" pitchFamily="34" charset="-122"/>
                        </a:rPr>
                        <a:t>Mitigation Plan</a:t>
                      </a:r>
                    </a:p>
                  </a:txBody>
                  <a:tcPr/>
                </a:tc>
                <a:tc>
                  <a:txBody>
                    <a:bodyPr/>
                    <a:lstStyle/>
                    <a:p>
                      <a:pPr algn="ctr"/>
                      <a:r>
                        <a:rPr lang="en-US" sz="1800">
                          <a:solidFill>
                            <a:schemeClr val="tx1"/>
                          </a:solidFill>
                          <a:latin typeface="Arial" panose="020B0604020202020204" pitchFamily="34" charset="0"/>
                          <a:ea typeface="微软雅黑" panose="020B0503020204020204" pitchFamily="34" charset="-122"/>
                        </a:rPr>
                        <a:t>Owner</a:t>
                      </a:r>
                    </a:p>
                  </a:txBody>
                  <a:tcPr/>
                </a:tc>
                <a:tc>
                  <a:txBody>
                    <a:bodyPr/>
                    <a:lstStyle/>
                    <a:p>
                      <a:pPr algn="ctr"/>
                      <a:r>
                        <a:rPr lang="en-US" sz="1800" dirty="0">
                          <a:solidFill>
                            <a:schemeClr val="tx1"/>
                          </a:solidFill>
                          <a:latin typeface="Arial" panose="020B0604020202020204" pitchFamily="34" charset="0"/>
                          <a:ea typeface="微软雅黑" panose="020B0503020204020204" pitchFamily="34" charset="-122"/>
                        </a:rPr>
                        <a:t>Due Date</a:t>
                      </a:r>
                    </a:p>
                  </a:txBody>
                  <a:tcPr/>
                </a:tc>
                <a:extLst>
                  <a:ext uri="{0D108BD9-81ED-4DB2-BD59-A6C34878D82A}">
                    <a16:rowId xmlns:a16="http://schemas.microsoft.com/office/drawing/2014/main" val="10000"/>
                  </a:ext>
                </a:extLst>
              </a:tr>
              <a:tr h="370840">
                <a:tc>
                  <a:txBody>
                    <a:bodyPr/>
                    <a:lstStyle/>
                    <a:p>
                      <a:r>
                        <a:rPr lang="en-US" sz="1600" b="1">
                          <a:solidFill>
                            <a:schemeClr val="tx1"/>
                          </a:solidFill>
                          <a:latin typeface="Arial" panose="020B0604020202020204" pitchFamily="34" charset="0"/>
                          <a:ea typeface="微软雅黑" panose="020B0503020204020204" pitchFamily="34" charset="-122"/>
                        </a:rPr>
                        <a:t>1</a:t>
                      </a:r>
                    </a:p>
                  </a:txBody>
                  <a:tcPr/>
                </a:tc>
                <a:tc>
                  <a:txBody>
                    <a:bodyPr/>
                    <a:lstStyle/>
                    <a:p>
                      <a:r>
                        <a:rPr lang="zh-CN" altLang="en-US" sz="1600" dirty="0">
                          <a:solidFill>
                            <a:schemeClr val="tx1"/>
                          </a:solidFill>
                          <a:latin typeface="Arial" panose="020B0604020202020204" pitchFamily="34" charset="0"/>
                          <a:ea typeface="微软雅黑" panose="020B0503020204020204" pitchFamily="34" charset="-122"/>
                        </a:rPr>
                        <a:t>不仅</a:t>
                      </a:r>
                      <a:r>
                        <a:rPr lang="en-US" altLang="zh-CN" sz="1600" dirty="0">
                          <a:solidFill>
                            <a:schemeClr val="tx1"/>
                          </a:solidFill>
                          <a:latin typeface="Arial" panose="020B0604020202020204" pitchFamily="34" charset="0"/>
                          <a:ea typeface="微软雅黑" panose="020B0503020204020204" pitchFamily="34" charset="-122"/>
                        </a:rPr>
                        <a:t>Planning, </a:t>
                      </a:r>
                      <a:r>
                        <a:rPr lang="zh-CN" altLang="en-US" sz="1600" dirty="0">
                          <a:solidFill>
                            <a:schemeClr val="tx1"/>
                          </a:solidFill>
                          <a:latin typeface="Arial" panose="020B0604020202020204" pitchFamily="34" charset="0"/>
                          <a:ea typeface="微软雅黑" panose="020B0503020204020204" pitchFamily="34" charset="-122"/>
                        </a:rPr>
                        <a:t>研发，采购，物流，仓储，生产，交付以及供应商和客户的流程都需要梳理优化。我们需要所有相关业务团队的高度紧密配合</a:t>
                      </a:r>
                      <a:endParaRPr lang="en-US" sz="1600" dirty="0">
                        <a:solidFill>
                          <a:schemeClr val="tx1"/>
                        </a:solidFill>
                        <a:latin typeface="Arial" panose="020B0604020202020204" pitchFamily="34" charset="0"/>
                        <a:ea typeface="微软雅黑" panose="020B0503020204020204" pitchFamily="34" charset="-122"/>
                      </a:endParaRPr>
                    </a:p>
                  </a:txBody>
                  <a:tcPr/>
                </a:tc>
                <a:tc>
                  <a:txBody>
                    <a:bodyPr/>
                    <a:lstStyle/>
                    <a:p>
                      <a:pPr marL="0" indent="0">
                        <a:buFont typeface="Arial" panose="020B0604020202020204" pitchFamily="34" charset="0"/>
                        <a:buNone/>
                      </a:pPr>
                      <a:r>
                        <a:rPr lang="zh-CN" altLang="en-US" sz="1600" dirty="0">
                          <a:solidFill>
                            <a:schemeClr val="tx1"/>
                          </a:solidFill>
                          <a:latin typeface="Arial" panose="020B0604020202020204" pitchFamily="34" charset="0"/>
                          <a:ea typeface="微软雅黑" panose="020B0503020204020204" pitchFamily="34" charset="-122"/>
                        </a:rPr>
                        <a:t>我们需要</a:t>
                      </a:r>
                      <a:r>
                        <a:rPr lang="en-US" altLang="zh-CN" sz="1600" dirty="0">
                          <a:solidFill>
                            <a:schemeClr val="tx1"/>
                          </a:solidFill>
                          <a:latin typeface="Arial" panose="020B0604020202020204" pitchFamily="34" charset="0"/>
                          <a:ea typeface="微软雅黑" panose="020B0503020204020204" pitchFamily="34" charset="-122"/>
                        </a:rPr>
                        <a:t>Sponsor</a:t>
                      </a:r>
                      <a:r>
                        <a:rPr lang="zh-CN" altLang="en-US" sz="1600" dirty="0">
                          <a:solidFill>
                            <a:schemeClr val="tx1"/>
                          </a:solidFill>
                          <a:latin typeface="Arial" panose="020B0604020202020204" pitchFamily="34" charset="0"/>
                          <a:ea typeface="微软雅黑" panose="020B0503020204020204" pitchFamily="34" charset="-122"/>
                        </a:rPr>
                        <a:t>以及布道者</a:t>
                      </a:r>
                      <a:endParaRPr lang="en-US" sz="1600" dirty="0">
                        <a:solidFill>
                          <a:schemeClr val="tx1"/>
                        </a:solidFill>
                        <a:latin typeface="Arial" panose="020B0604020202020204" pitchFamily="34" charset="0"/>
                        <a:ea typeface="微软雅黑" panose="020B0503020204020204" pitchFamily="34" charset="-122"/>
                      </a:endParaRPr>
                    </a:p>
                  </a:txBody>
                  <a:tcPr/>
                </a:tc>
                <a:tc>
                  <a:txBody>
                    <a:bodyPr/>
                    <a:lstStyle/>
                    <a:p>
                      <a:pPr algn="ctr"/>
                      <a:endParaRPr lang="en-US" sz="1600" dirty="0">
                        <a:solidFill>
                          <a:schemeClr val="tx1"/>
                        </a:solidFill>
                        <a:latin typeface="Arial" panose="020B0604020202020204" pitchFamily="34" charset="0"/>
                        <a:ea typeface="微软雅黑" panose="020B0503020204020204" pitchFamily="34" charset="-122"/>
                      </a:endParaRPr>
                    </a:p>
                  </a:txBody>
                  <a:tcPr anchor="ctr"/>
                </a:tc>
                <a:tc>
                  <a:txBody>
                    <a:bodyPr/>
                    <a:lstStyle/>
                    <a:p>
                      <a:pPr algn="ctr"/>
                      <a:endParaRPr lang="en-US" sz="1600" dirty="0">
                        <a:solidFill>
                          <a:schemeClr val="tx1"/>
                        </a:solidFill>
                        <a:latin typeface="Arial" panose="020B0604020202020204" pitchFamily="34" charset="0"/>
                        <a:ea typeface="微软雅黑" panose="020B0503020204020204" pitchFamily="34" charset="-122"/>
                      </a:endParaRPr>
                    </a:p>
                  </a:txBody>
                  <a:tcPr anchor="ctr"/>
                </a:tc>
                <a:extLst>
                  <a:ext uri="{0D108BD9-81ED-4DB2-BD59-A6C34878D82A}">
                    <a16:rowId xmlns:a16="http://schemas.microsoft.com/office/drawing/2014/main" val="10001"/>
                  </a:ext>
                </a:extLst>
              </a:tr>
              <a:tr h="370840">
                <a:tc>
                  <a:txBody>
                    <a:bodyPr/>
                    <a:lstStyle/>
                    <a:p>
                      <a:r>
                        <a:rPr lang="en-US" sz="1600" b="1">
                          <a:solidFill>
                            <a:schemeClr val="tx1"/>
                          </a:solidFill>
                          <a:latin typeface="Arial" panose="020B0604020202020204" pitchFamily="34" charset="0"/>
                          <a:ea typeface="微软雅黑" panose="020B0503020204020204" pitchFamily="34" charset="-122"/>
                        </a:rPr>
                        <a:t>2</a:t>
                      </a:r>
                    </a:p>
                  </a:txBody>
                  <a:tcPr/>
                </a:tc>
                <a:tc>
                  <a:txBody>
                    <a:bodyPr/>
                    <a:lstStyle/>
                    <a:p>
                      <a:r>
                        <a:rPr lang="en-US" sz="1600" dirty="0">
                          <a:solidFill>
                            <a:schemeClr val="tx1"/>
                          </a:solidFill>
                          <a:latin typeface="Arial" panose="020B0604020202020204" pitchFamily="34" charset="0"/>
                          <a:ea typeface="微软雅黑" panose="020B0503020204020204" pitchFamily="34" charset="-122"/>
                        </a:rPr>
                        <a:t>Planning</a:t>
                      </a:r>
                      <a:r>
                        <a:rPr lang="zh-CN" altLang="en-US" sz="1600" dirty="0">
                          <a:solidFill>
                            <a:schemeClr val="tx1"/>
                          </a:solidFill>
                          <a:latin typeface="Arial" panose="020B0604020202020204" pitchFamily="34" charset="0"/>
                          <a:ea typeface="微软雅黑" panose="020B0503020204020204" pitchFamily="34" charset="-122"/>
                        </a:rPr>
                        <a:t>系统新建，系统周边系统如</a:t>
                      </a:r>
                      <a:r>
                        <a:rPr lang="en-US" altLang="zh-CN" sz="1600" dirty="0">
                          <a:solidFill>
                            <a:schemeClr val="tx1"/>
                          </a:solidFill>
                          <a:latin typeface="Arial" panose="020B0604020202020204" pitchFamily="34" charset="0"/>
                          <a:ea typeface="微软雅黑" panose="020B0503020204020204" pitchFamily="34" charset="-122"/>
                        </a:rPr>
                        <a:t>SAP, LES, WMS, PLM,SRM</a:t>
                      </a:r>
                      <a:r>
                        <a:rPr lang="zh-CN" altLang="en-US" sz="1600" dirty="0">
                          <a:solidFill>
                            <a:schemeClr val="tx1"/>
                          </a:solidFill>
                          <a:latin typeface="Arial" panose="020B0604020202020204" pitchFamily="34" charset="0"/>
                          <a:ea typeface="微软雅黑" panose="020B0503020204020204" pitchFamily="34" charset="-122"/>
                        </a:rPr>
                        <a:t>都需要优化和高度集成。我们需要</a:t>
                      </a:r>
                      <a:r>
                        <a:rPr lang="en-US" altLang="zh-CN" sz="1600" dirty="0">
                          <a:solidFill>
                            <a:schemeClr val="tx1"/>
                          </a:solidFill>
                          <a:latin typeface="Arial" panose="020B0604020202020204" pitchFamily="34" charset="0"/>
                          <a:ea typeface="微软雅黑" panose="020B0503020204020204" pitchFamily="34" charset="-122"/>
                        </a:rPr>
                        <a:t>IT</a:t>
                      </a:r>
                      <a:r>
                        <a:rPr lang="zh-CN" altLang="en-US" sz="1600" dirty="0">
                          <a:solidFill>
                            <a:schemeClr val="tx1"/>
                          </a:solidFill>
                          <a:latin typeface="Arial" panose="020B0604020202020204" pitchFamily="34" charset="0"/>
                          <a:ea typeface="微软雅黑" panose="020B0503020204020204" pitchFamily="34" charset="-122"/>
                        </a:rPr>
                        <a:t>资源的投入和高度紧密配合</a:t>
                      </a:r>
                      <a:endParaRPr lang="en-US" sz="1600" dirty="0">
                        <a:solidFill>
                          <a:schemeClr val="tx1"/>
                        </a:solidFill>
                        <a:latin typeface="Arial" panose="020B0604020202020204" pitchFamily="34" charset="0"/>
                        <a:ea typeface="微软雅黑" panose="020B0503020204020204" pitchFamily="34" charset="-122"/>
                      </a:endParaRPr>
                    </a:p>
                  </a:txBody>
                  <a:tcPr/>
                </a:tc>
                <a:tc>
                  <a:txBody>
                    <a:bodyPr/>
                    <a:lstStyle/>
                    <a:p>
                      <a:pPr marL="285750" marR="0" lvl="0" indent="-285750" algn="l" defTabSz="1219200" rtl="0" eaLnBrk="1" fontAlgn="auto" latinLnBrk="0" hangingPunct="1">
                        <a:lnSpc>
                          <a:spcPct val="100000"/>
                        </a:lnSpc>
                        <a:spcBef>
                          <a:spcPts val="0"/>
                        </a:spcBef>
                        <a:spcAft>
                          <a:spcPts val="0"/>
                        </a:spcAft>
                        <a:buClrTx/>
                        <a:buSzTx/>
                        <a:buFont typeface="Arial" panose="020B0604020202020204" pitchFamily="34" charset="0"/>
                        <a:buChar char="•"/>
                        <a:defRPr/>
                      </a:pPr>
                      <a:endParaRPr lang="en-US" sz="1600" dirty="0">
                        <a:solidFill>
                          <a:schemeClr val="tx1"/>
                        </a:solidFill>
                        <a:latin typeface="Arial" panose="020B0604020202020204" pitchFamily="34" charset="0"/>
                        <a:ea typeface="微软雅黑" panose="020B0503020204020204" pitchFamily="34" charset="-122"/>
                      </a:endParaRPr>
                    </a:p>
                  </a:txBody>
                  <a:tcPr/>
                </a:tc>
                <a:tc>
                  <a:txBody>
                    <a:bodyPr/>
                    <a:lstStyle/>
                    <a:p>
                      <a:pPr algn="ctr"/>
                      <a:endParaRPr lang="en-US" sz="1600" dirty="0">
                        <a:solidFill>
                          <a:schemeClr val="tx1"/>
                        </a:solidFill>
                        <a:latin typeface="Arial" panose="020B0604020202020204" pitchFamily="34" charset="0"/>
                        <a:ea typeface="微软雅黑" panose="020B0503020204020204" pitchFamily="34" charset="-122"/>
                      </a:endParaRPr>
                    </a:p>
                  </a:txBody>
                  <a:tcPr anchor="ctr"/>
                </a:tc>
                <a:tc>
                  <a:txBody>
                    <a:bodyPr/>
                    <a:lstStyle/>
                    <a:p>
                      <a:pPr marL="0" marR="0" lvl="0" indent="0" algn="ctr" defTabSz="1219200" rtl="0" eaLnBrk="1" fontAlgn="auto" latinLnBrk="0" hangingPunct="1">
                        <a:lnSpc>
                          <a:spcPct val="100000"/>
                        </a:lnSpc>
                        <a:spcBef>
                          <a:spcPts val="0"/>
                        </a:spcBef>
                        <a:spcAft>
                          <a:spcPts val="0"/>
                        </a:spcAft>
                        <a:buClrTx/>
                        <a:buSzTx/>
                        <a:buFontTx/>
                        <a:buNone/>
                        <a:defRPr/>
                      </a:pPr>
                      <a:endParaRPr lang="en-US" sz="1600" dirty="0">
                        <a:solidFill>
                          <a:schemeClr val="tx1"/>
                        </a:solidFill>
                        <a:latin typeface="Arial" panose="020B0604020202020204" pitchFamily="34" charset="0"/>
                        <a:ea typeface="微软雅黑" panose="020B0503020204020204" pitchFamily="34" charset="-122"/>
                      </a:endParaRPr>
                    </a:p>
                  </a:txBody>
                  <a:tcPr anchor="ctr"/>
                </a:tc>
                <a:extLst>
                  <a:ext uri="{0D108BD9-81ED-4DB2-BD59-A6C34878D82A}">
                    <a16:rowId xmlns:a16="http://schemas.microsoft.com/office/drawing/2014/main" val="10002"/>
                  </a:ext>
                </a:extLst>
              </a:tr>
            </a:tbl>
          </a:graphicData>
        </a:graphic>
      </p:graphicFrame>
      <p:graphicFrame>
        <p:nvGraphicFramePr>
          <p:cNvPr id="5" name="Table 2">
            <a:extLst>
              <a:ext uri="{FF2B5EF4-FFF2-40B4-BE49-F238E27FC236}">
                <a16:creationId xmlns:a16="http://schemas.microsoft.com/office/drawing/2014/main" id="{E9ECEEA9-2961-3DD2-EAA6-832481ABFB74}"/>
              </a:ext>
            </a:extLst>
          </p:cNvPr>
          <p:cNvGraphicFramePr>
            <a:graphicFrameLocks noGrp="1"/>
          </p:cNvGraphicFramePr>
          <p:nvPr>
            <p:extLst>
              <p:ext uri="{D42A27DB-BD31-4B8C-83A1-F6EECF244321}">
                <p14:modId xmlns:p14="http://schemas.microsoft.com/office/powerpoint/2010/main" val="1470579753"/>
              </p:ext>
            </p:extLst>
          </p:nvPr>
        </p:nvGraphicFramePr>
        <p:xfrm>
          <a:off x="333189" y="3935679"/>
          <a:ext cx="11164816" cy="1772920"/>
        </p:xfrm>
        <a:graphic>
          <a:graphicData uri="http://schemas.openxmlformats.org/drawingml/2006/table">
            <a:tbl>
              <a:tblPr firstRow="1" bandRow="1">
                <a:tableStyleId>{69012ECD-51FC-41F1-AA8D-1B2483CD663E}</a:tableStyleId>
              </a:tblPr>
              <a:tblGrid>
                <a:gridCol w="400558">
                  <a:extLst>
                    <a:ext uri="{9D8B030D-6E8A-4147-A177-3AD203B41FA5}">
                      <a16:colId xmlns:a16="http://schemas.microsoft.com/office/drawing/2014/main" val="20000"/>
                    </a:ext>
                  </a:extLst>
                </a:gridCol>
                <a:gridCol w="2436564">
                  <a:extLst>
                    <a:ext uri="{9D8B030D-6E8A-4147-A177-3AD203B41FA5}">
                      <a16:colId xmlns:a16="http://schemas.microsoft.com/office/drawing/2014/main" val="20001"/>
                    </a:ext>
                  </a:extLst>
                </a:gridCol>
                <a:gridCol w="3273502">
                  <a:extLst>
                    <a:ext uri="{9D8B030D-6E8A-4147-A177-3AD203B41FA5}">
                      <a16:colId xmlns:a16="http://schemas.microsoft.com/office/drawing/2014/main" val="20002"/>
                    </a:ext>
                  </a:extLst>
                </a:gridCol>
                <a:gridCol w="3399856">
                  <a:extLst>
                    <a:ext uri="{9D8B030D-6E8A-4147-A177-3AD203B41FA5}">
                      <a16:colId xmlns:a16="http://schemas.microsoft.com/office/drawing/2014/main" val="20003"/>
                    </a:ext>
                  </a:extLst>
                </a:gridCol>
                <a:gridCol w="1654336">
                  <a:extLst>
                    <a:ext uri="{9D8B030D-6E8A-4147-A177-3AD203B41FA5}">
                      <a16:colId xmlns:a16="http://schemas.microsoft.com/office/drawing/2014/main" val="20004"/>
                    </a:ext>
                  </a:extLst>
                </a:gridCol>
              </a:tblGrid>
              <a:tr h="370840">
                <a:tc>
                  <a:txBody>
                    <a:bodyPr/>
                    <a:lstStyle/>
                    <a:p>
                      <a:pPr algn="ctr"/>
                      <a:endParaRPr lang="en-US" sz="1600" dirty="0">
                        <a:solidFill>
                          <a:schemeClr val="tx1"/>
                        </a:solidFill>
                        <a:latin typeface="Arial" panose="020B0604020202020204" pitchFamily="34" charset="0"/>
                        <a:ea typeface="微软雅黑" panose="020B0503020204020204" pitchFamily="34" charset="-122"/>
                      </a:endParaRPr>
                    </a:p>
                  </a:txBody>
                  <a:tcPr/>
                </a:tc>
                <a:tc>
                  <a:txBody>
                    <a:bodyPr/>
                    <a:lstStyle/>
                    <a:p>
                      <a:pPr algn="ctr"/>
                      <a:r>
                        <a:rPr lang="en-US" sz="1600">
                          <a:solidFill>
                            <a:schemeClr val="tx1"/>
                          </a:solidFill>
                          <a:latin typeface="Arial" panose="020B0604020202020204" pitchFamily="34" charset="0"/>
                          <a:ea typeface="微软雅黑" panose="020B0503020204020204" pitchFamily="34" charset="-122"/>
                        </a:rPr>
                        <a:t>Dependency</a:t>
                      </a:r>
                    </a:p>
                  </a:txBody>
                  <a:tcPr/>
                </a:tc>
                <a:tc>
                  <a:txBody>
                    <a:bodyPr/>
                    <a:lstStyle/>
                    <a:p>
                      <a:pPr algn="ctr"/>
                      <a:r>
                        <a:rPr lang="en-US" sz="1600">
                          <a:solidFill>
                            <a:schemeClr val="tx1"/>
                          </a:solidFill>
                          <a:latin typeface="Arial" panose="020B0604020202020204" pitchFamily="34" charset="0"/>
                          <a:ea typeface="微软雅黑" panose="020B0503020204020204" pitchFamily="34" charset="-122"/>
                        </a:rPr>
                        <a:t>Impact</a:t>
                      </a:r>
                    </a:p>
                  </a:txBody>
                  <a:tcPr/>
                </a:tc>
                <a:tc>
                  <a:txBody>
                    <a:bodyPr/>
                    <a:lstStyle/>
                    <a:p>
                      <a:pPr algn="ctr"/>
                      <a:r>
                        <a:rPr lang="en-US" sz="1600">
                          <a:solidFill>
                            <a:schemeClr val="tx1"/>
                          </a:solidFill>
                          <a:latin typeface="Arial" panose="020B0604020202020204" pitchFamily="34" charset="0"/>
                          <a:ea typeface="微软雅黑" panose="020B0503020204020204" pitchFamily="34" charset="-122"/>
                        </a:rPr>
                        <a:t>Actions</a:t>
                      </a:r>
                    </a:p>
                  </a:txBody>
                  <a:tcPr/>
                </a:tc>
                <a:tc>
                  <a:txBody>
                    <a:bodyPr/>
                    <a:lstStyle/>
                    <a:p>
                      <a:pPr algn="ctr"/>
                      <a:r>
                        <a:rPr lang="en-US" sz="1600">
                          <a:solidFill>
                            <a:schemeClr val="tx1"/>
                          </a:solidFill>
                          <a:latin typeface="Arial" panose="020B0604020202020204" pitchFamily="34" charset="0"/>
                          <a:ea typeface="微软雅黑" panose="020B0503020204020204" pitchFamily="34" charset="-122"/>
                        </a:rPr>
                        <a:t>Owner</a:t>
                      </a:r>
                    </a:p>
                  </a:txBody>
                  <a:tcPr/>
                </a:tc>
                <a:extLst>
                  <a:ext uri="{0D108BD9-81ED-4DB2-BD59-A6C34878D82A}">
                    <a16:rowId xmlns:a16="http://schemas.microsoft.com/office/drawing/2014/main" val="10000"/>
                  </a:ext>
                </a:extLst>
              </a:tr>
              <a:tr h="370840">
                <a:tc>
                  <a:txBody>
                    <a:bodyPr/>
                    <a:lstStyle/>
                    <a:p>
                      <a:r>
                        <a:rPr lang="en-US" sz="1600" b="1">
                          <a:solidFill>
                            <a:schemeClr val="tx1"/>
                          </a:solidFill>
                          <a:latin typeface="Arial" panose="020B0604020202020204" pitchFamily="34" charset="0"/>
                          <a:ea typeface="微软雅黑" panose="020B0503020204020204" pitchFamily="34" charset="-122"/>
                        </a:rPr>
                        <a:t>1</a:t>
                      </a:r>
                    </a:p>
                  </a:txBody>
                  <a:tcPr/>
                </a:tc>
                <a:tc>
                  <a:txBody>
                    <a:bodyPr/>
                    <a:lstStyle/>
                    <a:p>
                      <a:r>
                        <a:rPr lang="zh-CN" altLang="en-US" sz="1600" dirty="0">
                          <a:solidFill>
                            <a:schemeClr val="tx1"/>
                          </a:solidFill>
                          <a:latin typeface="Arial" panose="020B0604020202020204" pitchFamily="34" charset="0"/>
                          <a:ea typeface="微软雅黑" panose="020B0503020204020204" pitchFamily="34" charset="-122"/>
                        </a:rPr>
                        <a:t>九个月的时间，对全球任何团队都是极大的挑战</a:t>
                      </a:r>
                      <a:endParaRPr lang="en-US" sz="1600" dirty="0">
                        <a:solidFill>
                          <a:schemeClr val="tx1"/>
                        </a:solidFill>
                        <a:latin typeface="Arial" panose="020B0604020202020204" pitchFamily="34" charset="0"/>
                        <a:ea typeface="微软雅黑" panose="020B0503020204020204" pitchFamily="34" charset="-122"/>
                      </a:endParaRPr>
                    </a:p>
                  </a:txBody>
                  <a:tcPr/>
                </a:tc>
                <a:tc>
                  <a:txBody>
                    <a:bodyPr/>
                    <a:lstStyle/>
                    <a:p>
                      <a:pPr marL="285750" indent="-285750">
                        <a:buFont typeface="Arial" panose="020B0604020202020204" pitchFamily="34" charset="0"/>
                        <a:buChar char="•"/>
                      </a:pPr>
                      <a:r>
                        <a:rPr lang="zh-CN" altLang="en-US" sz="1600" dirty="0">
                          <a:solidFill>
                            <a:schemeClr val="tx1"/>
                          </a:solidFill>
                          <a:latin typeface="Arial" panose="020B0604020202020204" pitchFamily="34" charset="0"/>
                          <a:ea typeface="微软雅黑" panose="020B0503020204020204" pitchFamily="34" charset="-122"/>
                        </a:rPr>
                        <a:t>我们需要尽快拿到资源</a:t>
                      </a:r>
                      <a:endParaRPr lang="en-US" sz="1600" dirty="0">
                        <a:solidFill>
                          <a:schemeClr val="tx1"/>
                        </a:solidFill>
                        <a:latin typeface="Arial" panose="020B0604020202020204" pitchFamily="34" charset="0"/>
                        <a:ea typeface="微软雅黑" panose="020B0503020204020204" pitchFamily="34" charset="-122"/>
                      </a:endParaRPr>
                    </a:p>
                  </a:txBody>
                  <a:tcPr/>
                </a:tc>
                <a:tc>
                  <a:txBody>
                    <a:bodyPr/>
                    <a:lstStyle/>
                    <a:p>
                      <a:pPr algn="ctr"/>
                      <a:endParaRPr lang="en-US" sz="1600" dirty="0">
                        <a:solidFill>
                          <a:schemeClr val="tx1"/>
                        </a:solidFill>
                        <a:latin typeface="Arial" panose="020B0604020202020204" pitchFamily="34" charset="0"/>
                        <a:ea typeface="微软雅黑" panose="020B0503020204020204" pitchFamily="34" charset="-122"/>
                      </a:endParaRPr>
                    </a:p>
                  </a:txBody>
                  <a:tcPr anchor="ctr"/>
                </a:tc>
                <a:tc>
                  <a:txBody>
                    <a:bodyPr/>
                    <a:lstStyle/>
                    <a:p>
                      <a:pPr algn="ctr"/>
                      <a:endParaRPr lang="en-US" sz="1600" dirty="0">
                        <a:solidFill>
                          <a:schemeClr val="tx1"/>
                        </a:solidFill>
                        <a:latin typeface="Arial" panose="020B0604020202020204" pitchFamily="34" charset="0"/>
                        <a:ea typeface="微软雅黑" panose="020B0503020204020204" pitchFamily="34" charset="-122"/>
                      </a:endParaRPr>
                    </a:p>
                  </a:txBody>
                  <a:tcPr anchor="ctr"/>
                </a:tc>
                <a:extLst>
                  <a:ext uri="{0D108BD9-81ED-4DB2-BD59-A6C34878D82A}">
                    <a16:rowId xmlns:a16="http://schemas.microsoft.com/office/drawing/2014/main" val="10001"/>
                  </a:ext>
                </a:extLst>
              </a:tr>
              <a:tr h="370840">
                <a:tc>
                  <a:txBody>
                    <a:bodyPr/>
                    <a:lstStyle/>
                    <a:p>
                      <a:r>
                        <a:rPr lang="en-US" sz="1600" b="1">
                          <a:solidFill>
                            <a:schemeClr val="tx1"/>
                          </a:solidFill>
                          <a:latin typeface="Arial" panose="020B0604020202020204" pitchFamily="34" charset="0"/>
                          <a:ea typeface="微软雅黑" panose="020B0503020204020204" pitchFamily="34" charset="-122"/>
                        </a:rPr>
                        <a:t>2</a:t>
                      </a:r>
                    </a:p>
                  </a:txBody>
                  <a:tcPr/>
                </a:tc>
                <a:tc>
                  <a:txBody>
                    <a:bodyPr/>
                    <a:lstStyle/>
                    <a:p>
                      <a:r>
                        <a:rPr lang="zh-CN" altLang="en-US" sz="1600" dirty="0">
                          <a:solidFill>
                            <a:schemeClr val="tx1"/>
                          </a:solidFill>
                          <a:latin typeface="Arial" panose="020B0604020202020204" pitchFamily="34" charset="0"/>
                          <a:ea typeface="微软雅黑" panose="020B0503020204020204" pitchFamily="34" charset="-122"/>
                        </a:rPr>
                        <a:t>能提供智能体系变革方案和实施一体的团队非常稀缺</a:t>
                      </a:r>
                      <a:endParaRPr lang="en-US" sz="1600" dirty="0">
                        <a:solidFill>
                          <a:schemeClr val="tx1"/>
                        </a:solidFill>
                        <a:latin typeface="Arial" panose="020B0604020202020204" pitchFamily="34" charset="0"/>
                        <a:ea typeface="微软雅黑" panose="020B0503020204020204" pitchFamily="34" charset="-122"/>
                      </a:endParaRPr>
                    </a:p>
                  </a:txBody>
                  <a:tcPr/>
                </a:tc>
                <a:tc>
                  <a:txBody>
                    <a:bodyPr/>
                    <a:lstStyle/>
                    <a:p>
                      <a:pPr marL="285750" marR="0" lvl="0" indent="-285750" algn="l" defTabSz="1219200" rtl="0" eaLnBrk="1" fontAlgn="auto" latinLnBrk="0" hangingPunct="1">
                        <a:lnSpc>
                          <a:spcPct val="100000"/>
                        </a:lnSpc>
                        <a:spcBef>
                          <a:spcPts val="0"/>
                        </a:spcBef>
                        <a:spcAft>
                          <a:spcPts val="0"/>
                        </a:spcAft>
                        <a:buClrTx/>
                        <a:buSzTx/>
                        <a:buFont typeface="Arial" panose="020B0604020202020204" pitchFamily="34" charset="0"/>
                        <a:buChar char="•"/>
                        <a:defRPr/>
                      </a:pPr>
                      <a:r>
                        <a:rPr lang="zh-CN" altLang="en-US" sz="1600" dirty="0">
                          <a:solidFill>
                            <a:schemeClr val="tx1"/>
                          </a:solidFill>
                          <a:latin typeface="Arial" panose="020B0604020202020204" pitchFamily="34" charset="0"/>
                          <a:ea typeface="微软雅黑" panose="020B0503020204020204" pitchFamily="34" charset="-122"/>
                        </a:rPr>
                        <a:t>我们需要尽快找到最合适的资源</a:t>
                      </a:r>
                      <a:endParaRPr lang="en-US" sz="1600" dirty="0">
                        <a:solidFill>
                          <a:schemeClr val="tx1"/>
                        </a:solidFill>
                        <a:latin typeface="Arial" panose="020B0604020202020204" pitchFamily="34" charset="0"/>
                        <a:ea typeface="微软雅黑" panose="020B0503020204020204" pitchFamily="34" charset="-122"/>
                      </a:endParaRPr>
                    </a:p>
                  </a:txBody>
                  <a:tcPr/>
                </a:tc>
                <a:tc>
                  <a:txBody>
                    <a:bodyPr/>
                    <a:lstStyle/>
                    <a:p>
                      <a:pPr algn="ctr"/>
                      <a:endParaRPr lang="en-US" sz="1600" dirty="0">
                        <a:solidFill>
                          <a:schemeClr val="tx1"/>
                        </a:solidFill>
                        <a:latin typeface="Arial" panose="020B0604020202020204" pitchFamily="34" charset="0"/>
                        <a:ea typeface="微软雅黑" panose="020B0503020204020204" pitchFamily="34" charset="-122"/>
                      </a:endParaRPr>
                    </a:p>
                  </a:txBody>
                  <a:tcPr anchor="ctr"/>
                </a:tc>
                <a:tc>
                  <a:txBody>
                    <a:bodyPr/>
                    <a:lstStyle/>
                    <a:p>
                      <a:pPr marL="0" marR="0" lvl="0" indent="0" algn="ctr" defTabSz="1219200" rtl="0" eaLnBrk="1" fontAlgn="auto" latinLnBrk="0" hangingPunct="1">
                        <a:lnSpc>
                          <a:spcPct val="100000"/>
                        </a:lnSpc>
                        <a:spcBef>
                          <a:spcPts val="0"/>
                        </a:spcBef>
                        <a:spcAft>
                          <a:spcPts val="0"/>
                        </a:spcAft>
                        <a:buClrTx/>
                        <a:buSzTx/>
                        <a:buFontTx/>
                        <a:buNone/>
                        <a:defRPr/>
                      </a:pPr>
                      <a:endParaRPr lang="en-US" sz="1600" dirty="0">
                        <a:solidFill>
                          <a:schemeClr val="tx1"/>
                        </a:solidFill>
                        <a:latin typeface="Arial" panose="020B0604020202020204" pitchFamily="34" charset="0"/>
                        <a:ea typeface="微软雅黑" panose="020B0503020204020204" pitchFamily="34" charset="-122"/>
                      </a:endParaRPr>
                    </a:p>
                  </a:txBody>
                  <a:tcPr anchor="ct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968811684"/>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0A027EB-1E8E-267A-5888-ACC665DF3581}"/>
              </a:ext>
            </a:extLst>
          </p:cNvPr>
          <p:cNvSpPr>
            <a:spLocks noGrp="1"/>
          </p:cNvSpPr>
          <p:nvPr>
            <p:ph type="title"/>
          </p:nvPr>
        </p:nvSpPr>
        <p:spPr/>
        <p:txBody>
          <a:bodyPr/>
          <a:lstStyle/>
          <a:p>
            <a:r>
              <a:rPr lang="zh-CN" altLang="en-US" b="1" i="0" dirty="0">
                <a:effectLst/>
                <a:latin typeface="-apple-system"/>
              </a:rPr>
              <a:t>数字化转型的终极交付：可持续的能力跃迁</a:t>
            </a:r>
            <a:endParaRPr lang="zh-CN" altLang="en-US" dirty="0"/>
          </a:p>
        </p:txBody>
      </p:sp>
      <p:grpSp>
        <p:nvGrpSpPr>
          <p:cNvPr id="48" name="组合 47">
            <a:extLst>
              <a:ext uri="{FF2B5EF4-FFF2-40B4-BE49-F238E27FC236}">
                <a16:creationId xmlns:a16="http://schemas.microsoft.com/office/drawing/2014/main" id="{DD527FA7-69DF-7C0C-4E23-648B674B3F9B}"/>
              </a:ext>
            </a:extLst>
          </p:cNvPr>
          <p:cNvGrpSpPr>
            <a:grpSpLocks noChangeAspect="1"/>
          </p:cNvGrpSpPr>
          <p:nvPr>
            <p:custDataLst>
              <p:tags r:id="rId1"/>
            </p:custDataLst>
          </p:nvPr>
        </p:nvGrpSpPr>
        <p:grpSpPr>
          <a:xfrm>
            <a:off x="150211" y="1499795"/>
            <a:ext cx="6501413" cy="4098245"/>
            <a:chOff x="2494598" y="1353714"/>
            <a:chExt cx="7907226" cy="3052171"/>
          </a:xfrm>
        </p:grpSpPr>
        <p:grpSp>
          <p:nvGrpSpPr>
            <p:cNvPr id="49" name="组合 48">
              <a:extLst>
                <a:ext uri="{FF2B5EF4-FFF2-40B4-BE49-F238E27FC236}">
                  <a16:creationId xmlns:a16="http://schemas.microsoft.com/office/drawing/2014/main" id="{1A712AFD-A1A8-C477-DA32-55660E76A659}"/>
                </a:ext>
              </a:extLst>
            </p:cNvPr>
            <p:cNvGrpSpPr/>
            <p:nvPr/>
          </p:nvGrpSpPr>
          <p:grpSpPr>
            <a:xfrm>
              <a:off x="2494598" y="2827496"/>
              <a:ext cx="7907226" cy="1578389"/>
              <a:chOff x="2494598" y="2827496"/>
              <a:chExt cx="7907226" cy="1578389"/>
            </a:xfrm>
          </p:grpSpPr>
          <p:sp>
            <p:nvSpPr>
              <p:cNvPr id="63" name="3">
                <a:extLst>
                  <a:ext uri="{FF2B5EF4-FFF2-40B4-BE49-F238E27FC236}">
                    <a16:creationId xmlns:a16="http://schemas.microsoft.com/office/drawing/2014/main" id="{76D843F0-C659-7F85-22B7-ECA66A1A34B4}"/>
                  </a:ext>
                </a:extLst>
              </p:cNvPr>
              <p:cNvSpPr/>
              <p:nvPr>
                <p:custDataLst>
                  <p:tags r:id="rId11"/>
                </p:custDataLst>
              </p:nvPr>
            </p:nvSpPr>
            <p:spPr bwMode="auto">
              <a:xfrm>
                <a:off x="2996054" y="2827496"/>
                <a:ext cx="2381597" cy="686921"/>
              </a:xfrm>
              <a:custGeom>
                <a:avLst/>
                <a:gdLst>
                  <a:gd name="T0" fmla="*/ 2104537 w 21600"/>
                  <a:gd name="T1" fmla="*/ 731139 h 21600"/>
                  <a:gd name="T2" fmla="*/ 2104537 w 21600"/>
                  <a:gd name="T3" fmla="*/ 731139 h 21600"/>
                  <a:gd name="T4" fmla="*/ 2104537 w 21600"/>
                  <a:gd name="T5" fmla="*/ 731139 h 21600"/>
                  <a:gd name="T6" fmla="*/ 2104537 w 21600"/>
                  <a:gd name="T7" fmla="*/ 731139 h 21600"/>
                  <a:gd name="T8" fmla="*/ 0 60000 65536"/>
                  <a:gd name="T9" fmla="*/ 0 60000 65536"/>
                  <a:gd name="T10" fmla="*/ 0 60000 65536"/>
                  <a:gd name="T11" fmla="*/ 0 60000 65536"/>
                  <a:gd name="connsiteX0" fmla="*/ 10857 w 21657"/>
                  <a:gd name="connsiteY0" fmla="*/ 0 h 21600"/>
                  <a:gd name="connsiteX1" fmla="*/ 0 w 21657"/>
                  <a:gd name="connsiteY1" fmla="*/ 9469 h 21600"/>
                  <a:gd name="connsiteX2" fmla="*/ 10857 w 21657"/>
                  <a:gd name="connsiteY2" fmla="*/ 21600 h 21600"/>
                  <a:gd name="connsiteX3" fmla="*/ 21657 w 21657"/>
                  <a:gd name="connsiteY3" fmla="*/ 9469 h 21600"/>
                  <a:gd name="connsiteX4" fmla="*/ 10857 w 21657"/>
                  <a:gd name="connsiteY4" fmla="*/ 0 h 21600"/>
                  <a:gd name="connsiteX0" fmla="*/ 10857 w 21685"/>
                  <a:gd name="connsiteY0" fmla="*/ 0 h 21600"/>
                  <a:gd name="connsiteX1" fmla="*/ 0 w 21685"/>
                  <a:gd name="connsiteY1" fmla="*/ 9469 h 21600"/>
                  <a:gd name="connsiteX2" fmla="*/ 10857 w 21685"/>
                  <a:gd name="connsiteY2" fmla="*/ 21600 h 21600"/>
                  <a:gd name="connsiteX3" fmla="*/ 21685 w 21685"/>
                  <a:gd name="connsiteY3" fmla="*/ 9604 h 21600"/>
                  <a:gd name="connsiteX4" fmla="*/ 10857 w 21685"/>
                  <a:gd name="connsiteY4" fmla="*/ 0 h 21600"/>
                  <a:gd name="connsiteX0" fmla="*/ 10857 w 21685"/>
                  <a:gd name="connsiteY0" fmla="*/ 0 h 21600"/>
                  <a:gd name="connsiteX1" fmla="*/ 0 w 21685"/>
                  <a:gd name="connsiteY1" fmla="*/ 9537 h 21600"/>
                  <a:gd name="connsiteX2" fmla="*/ 10857 w 21685"/>
                  <a:gd name="connsiteY2" fmla="*/ 21600 h 21600"/>
                  <a:gd name="connsiteX3" fmla="*/ 21685 w 21685"/>
                  <a:gd name="connsiteY3" fmla="*/ 9604 h 21600"/>
                  <a:gd name="connsiteX4" fmla="*/ 10857 w 21685"/>
                  <a:gd name="connsiteY4" fmla="*/ 0 h 21600"/>
                  <a:gd name="connsiteX0" fmla="*/ 10914 w 21742"/>
                  <a:gd name="connsiteY0" fmla="*/ 0 h 21600"/>
                  <a:gd name="connsiteX1" fmla="*/ 0 w 21742"/>
                  <a:gd name="connsiteY1" fmla="*/ 9672 h 21600"/>
                  <a:gd name="connsiteX2" fmla="*/ 10914 w 21742"/>
                  <a:gd name="connsiteY2" fmla="*/ 21600 h 21600"/>
                  <a:gd name="connsiteX3" fmla="*/ 21742 w 21742"/>
                  <a:gd name="connsiteY3" fmla="*/ 9604 h 21600"/>
                  <a:gd name="connsiteX4" fmla="*/ 10914 w 21742"/>
                  <a:gd name="connsiteY4" fmla="*/ 0 h 21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2" h="21600">
                    <a:moveTo>
                      <a:pt x="10914" y="0"/>
                    </a:moveTo>
                    <a:lnTo>
                      <a:pt x="0" y="9672"/>
                    </a:lnTo>
                    <a:lnTo>
                      <a:pt x="10914" y="21600"/>
                    </a:lnTo>
                    <a:lnTo>
                      <a:pt x="21742" y="9604"/>
                    </a:lnTo>
                    <a:lnTo>
                      <a:pt x="10914" y="0"/>
                    </a:lnTo>
                    <a:close/>
                  </a:path>
                </a:pathLst>
              </a:custGeom>
              <a:solidFill>
                <a:schemeClr val="accent3"/>
              </a:solidFill>
              <a:ln>
                <a:noFill/>
              </a:ln>
              <a:effectLst/>
            </p:spPr>
            <p:txBody>
              <a:bodyPr wrap="square" lIns="91440" tIns="45720" rIns="91440" bIns="4572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64" name="3">
                <a:extLst>
                  <a:ext uri="{FF2B5EF4-FFF2-40B4-BE49-F238E27FC236}">
                    <a16:creationId xmlns:a16="http://schemas.microsoft.com/office/drawing/2014/main" id="{2A6A064A-02BB-ACAB-BDC7-385696EC3D98}"/>
                  </a:ext>
                </a:extLst>
              </p:cNvPr>
              <p:cNvSpPr/>
              <p:nvPr>
                <p:custDataLst>
                  <p:tags r:id="rId12"/>
                </p:custDataLst>
              </p:nvPr>
            </p:nvSpPr>
            <p:spPr bwMode="auto">
              <a:xfrm>
                <a:off x="4185497" y="3130934"/>
                <a:ext cx="1691819" cy="1274951"/>
              </a:xfrm>
              <a:custGeom>
                <a:avLst/>
                <a:gdLst>
                  <a:gd name="T0" fmla="*/ 1463094 w 21600"/>
                  <a:gd name="T1" fmla="*/ 1319385 h 21600"/>
                  <a:gd name="T2" fmla="*/ 1463094 w 21600"/>
                  <a:gd name="T3" fmla="*/ 1319385 h 21600"/>
                  <a:gd name="T4" fmla="*/ 1463094 w 21600"/>
                  <a:gd name="T5" fmla="*/ 1319385 h 21600"/>
                  <a:gd name="T6" fmla="*/ 1463094 w 21600"/>
                  <a:gd name="T7" fmla="*/ 13193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151" y="0"/>
                    </a:moveTo>
                    <a:lnTo>
                      <a:pt x="0" y="6467"/>
                    </a:lnTo>
                    <a:lnTo>
                      <a:pt x="0" y="21599"/>
                    </a:lnTo>
                    <a:lnTo>
                      <a:pt x="21599" y="12378"/>
                    </a:lnTo>
                    <a:lnTo>
                      <a:pt x="15151" y="0"/>
                    </a:lnTo>
                    <a:close/>
                  </a:path>
                </a:pathLst>
              </a:custGeom>
              <a:solidFill>
                <a:schemeClr val="accent3">
                  <a:lumMod val="60000"/>
                  <a:lumOff val="40000"/>
                </a:schemeClr>
              </a:solidFill>
              <a:ln>
                <a:noFill/>
              </a:ln>
              <a:effectLst/>
            </p:spPr>
            <p:txBody>
              <a:bodyPr wrap="square" lIns="91440" tIns="45720" rIns="91440" bIns="4572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65" name="3">
                <a:extLst>
                  <a:ext uri="{FF2B5EF4-FFF2-40B4-BE49-F238E27FC236}">
                    <a16:creationId xmlns:a16="http://schemas.microsoft.com/office/drawing/2014/main" id="{79A49C00-BA01-EF27-D25C-F8A206D3A408}"/>
                  </a:ext>
                </a:extLst>
              </p:cNvPr>
              <p:cNvSpPr/>
              <p:nvPr>
                <p:custDataLst>
                  <p:tags r:id="rId13"/>
                </p:custDataLst>
              </p:nvPr>
            </p:nvSpPr>
            <p:spPr bwMode="auto">
              <a:xfrm>
                <a:off x="2494598" y="3130931"/>
                <a:ext cx="1691819" cy="1274951"/>
              </a:xfrm>
              <a:custGeom>
                <a:avLst/>
                <a:gdLst>
                  <a:gd name="T0" fmla="*/ 1463094 w 21600"/>
                  <a:gd name="T1" fmla="*/ 1319385 h 21600"/>
                  <a:gd name="T2" fmla="*/ 1463094 w 21600"/>
                  <a:gd name="T3" fmla="*/ 1319385 h 21600"/>
                  <a:gd name="T4" fmla="*/ 1463094 w 21600"/>
                  <a:gd name="T5" fmla="*/ 1319385 h 21600"/>
                  <a:gd name="T6" fmla="*/ 1463094 w 21600"/>
                  <a:gd name="T7" fmla="*/ 13193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448" y="0"/>
                    </a:moveTo>
                    <a:lnTo>
                      <a:pt x="0" y="12378"/>
                    </a:lnTo>
                    <a:lnTo>
                      <a:pt x="21599" y="21599"/>
                    </a:lnTo>
                    <a:lnTo>
                      <a:pt x="21599" y="6467"/>
                    </a:lnTo>
                    <a:lnTo>
                      <a:pt x="6448" y="0"/>
                    </a:lnTo>
                    <a:close/>
                  </a:path>
                </a:pathLst>
              </a:custGeom>
              <a:solidFill>
                <a:schemeClr val="accent3">
                  <a:lumMod val="20000"/>
                  <a:lumOff val="80000"/>
                </a:schemeClr>
              </a:solidFill>
              <a:ln>
                <a:noFill/>
              </a:ln>
              <a:effectLst/>
            </p:spPr>
            <p:txBody>
              <a:bodyPr wrap="square" lIns="91440" tIns="45720" rIns="91440" bIns="4572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66" name="Title-3">
                <a:extLst>
                  <a:ext uri="{FF2B5EF4-FFF2-40B4-BE49-F238E27FC236}">
                    <a16:creationId xmlns:a16="http://schemas.microsoft.com/office/drawing/2014/main" id="{BF50B8EA-36F8-81E4-168E-A26CB3100A5F}"/>
                  </a:ext>
                </a:extLst>
              </p:cNvPr>
              <p:cNvSpPr txBox="1"/>
              <p:nvPr>
                <p:custDataLst>
                  <p:tags r:id="rId14"/>
                </p:custDataLst>
              </p:nvPr>
            </p:nvSpPr>
            <p:spPr>
              <a:xfrm>
                <a:off x="6316197" y="3224024"/>
                <a:ext cx="4085627" cy="79621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srgbClr val="75BDA7"/>
                    </a:solidFill>
                    <a:effectLst/>
                    <a:uLnTx/>
                    <a:uFillTx/>
                    <a:latin typeface="微软雅黑" panose="020B0503020204020204" pitchFamily="34" charset="-122"/>
                    <a:ea typeface="微软雅黑" panose="020B0503020204020204" pitchFamily="34" charset="-122"/>
                    <a:cs typeface="+mn-cs"/>
                  </a:rPr>
                  <a:t>L1</a:t>
                </a:r>
                <a:r>
                  <a:rPr kumimoji="0" lang="zh-CN" altLang="en-US" sz="1800" b="1" i="0" u="none" strike="noStrike" kern="1200" cap="none" spc="0" normalizeH="0" baseline="0" noProof="0" dirty="0">
                    <a:ln>
                      <a:noFill/>
                    </a:ln>
                    <a:solidFill>
                      <a:srgbClr val="75BDA7"/>
                    </a:solidFill>
                    <a:effectLst/>
                    <a:uLnTx/>
                    <a:uFillTx/>
                    <a:latin typeface="微软雅黑" panose="020B0503020204020204" pitchFamily="34" charset="-122"/>
                    <a:ea typeface="微软雅黑" panose="020B0503020204020204" pitchFamily="34" charset="-122"/>
                    <a:cs typeface="+mn-cs"/>
                  </a:rPr>
                  <a:t>（执行）</a:t>
                </a:r>
                <a:r>
                  <a:rPr kumimoji="0" lang="en-US" altLang="zh-CN" sz="1800" b="1" i="0" u="none" strike="noStrike" kern="1200" cap="none" spc="0" normalizeH="0" baseline="0" noProof="0" dirty="0">
                    <a:ln>
                      <a:noFill/>
                    </a:ln>
                    <a:solidFill>
                      <a:srgbClr val="75BDA7"/>
                    </a:solidFill>
                    <a:effectLst/>
                    <a:uLnTx/>
                    <a:uFillTx/>
                    <a:latin typeface="微软雅黑" panose="020B0503020204020204" pitchFamily="34" charset="-122"/>
                    <a:ea typeface="微软雅黑" panose="020B0503020204020204" pitchFamily="34" charset="-122"/>
                    <a:cs typeface="+mn-cs"/>
                  </a:rPr>
                  <a:t>: </a:t>
                </a:r>
                <a:r>
                  <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标准化执行能力</a:t>
                </a:r>
                <a:r>
                  <a:rPr kumimoji="0" lang="zh-CN" altLang="en-US"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 </a:t>
                </a:r>
                <a:r>
                  <a:rPr kumimoji="0" lang="en-US" altLang="zh-CN"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 </a:t>
                </a:r>
                <a:r>
                  <a:rPr kumimoji="0" lang="zh-CN" altLang="en-US"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能够依据</a:t>
                </a:r>
                <a:r>
                  <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统一的数据模型</a:t>
                </a:r>
                <a:r>
                  <a:rPr kumimoji="0" lang="zh-CN" altLang="en-US"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，精准执行业务算法产出的计划</a:t>
                </a:r>
                <a:endPar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cxnSp>
            <p:nvCxnSpPr>
              <p:cNvPr id="68" name="3">
                <a:extLst>
                  <a:ext uri="{FF2B5EF4-FFF2-40B4-BE49-F238E27FC236}">
                    <a16:creationId xmlns:a16="http://schemas.microsoft.com/office/drawing/2014/main" id="{4F554B3D-852F-1CB8-C7E1-75D6349AFDFC}"/>
                  </a:ext>
                </a:extLst>
              </p:cNvPr>
              <p:cNvCxnSpPr/>
              <p:nvPr>
                <p:custDataLst>
                  <p:tags r:id="rId15"/>
                </p:custDataLst>
              </p:nvPr>
            </p:nvCxnSpPr>
            <p:spPr>
              <a:xfrm>
                <a:off x="6413781" y="3943760"/>
                <a:ext cx="3451578" cy="0"/>
              </a:xfrm>
              <a:prstGeom prst="line">
                <a:avLst/>
              </a:prstGeom>
              <a:ln w="6350" cap="rnd">
                <a:solidFill>
                  <a:schemeClr val="accent3"/>
                </a:solidFill>
                <a:prstDash val="dash"/>
                <a:round/>
              </a:ln>
            </p:spPr>
            <p:style>
              <a:lnRef idx="1">
                <a:schemeClr val="accent1"/>
              </a:lnRef>
              <a:fillRef idx="0">
                <a:schemeClr val="accent1"/>
              </a:fillRef>
              <a:effectRef idx="0">
                <a:schemeClr val="accent1"/>
              </a:effectRef>
              <a:fontRef idx="minor">
                <a:schemeClr val="tx1"/>
              </a:fontRef>
            </p:style>
          </p:cxnSp>
        </p:grpSp>
        <p:grpSp>
          <p:nvGrpSpPr>
            <p:cNvPr id="50" name="组合 49">
              <a:extLst>
                <a:ext uri="{FF2B5EF4-FFF2-40B4-BE49-F238E27FC236}">
                  <a16:creationId xmlns:a16="http://schemas.microsoft.com/office/drawing/2014/main" id="{A012507A-E30D-A7E7-0FF6-D24C8553890A}"/>
                </a:ext>
              </a:extLst>
            </p:cNvPr>
            <p:cNvGrpSpPr/>
            <p:nvPr/>
          </p:nvGrpSpPr>
          <p:grpSpPr>
            <a:xfrm>
              <a:off x="3087607" y="2070249"/>
              <a:ext cx="7314216" cy="1241741"/>
              <a:chOff x="3087607" y="2070249"/>
              <a:chExt cx="7314216" cy="1241741"/>
            </a:xfrm>
          </p:grpSpPr>
          <p:sp>
            <p:nvSpPr>
              <p:cNvPr id="57" name="2">
                <a:extLst>
                  <a:ext uri="{FF2B5EF4-FFF2-40B4-BE49-F238E27FC236}">
                    <a16:creationId xmlns:a16="http://schemas.microsoft.com/office/drawing/2014/main" id="{753FB34D-04E7-C4CE-97FE-7B0657ABF219}"/>
                  </a:ext>
                </a:extLst>
              </p:cNvPr>
              <p:cNvSpPr/>
              <p:nvPr>
                <p:custDataLst>
                  <p:tags r:id="rId6"/>
                </p:custDataLst>
              </p:nvPr>
            </p:nvSpPr>
            <p:spPr bwMode="auto">
              <a:xfrm>
                <a:off x="3588388" y="2070249"/>
                <a:ext cx="1192341" cy="360810"/>
              </a:xfrm>
              <a:custGeom>
                <a:avLst/>
                <a:gdLst>
                  <a:gd name="T0" fmla="*/ 1065832 w 21600"/>
                  <a:gd name="T1" fmla="*/ 370019 h 21600"/>
                  <a:gd name="T2" fmla="*/ 1065832 w 21600"/>
                  <a:gd name="T3" fmla="*/ 370019 h 21600"/>
                  <a:gd name="T4" fmla="*/ 1065832 w 21600"/>
                  <a:gd name="T5" fmla="*/ 370019 h 21600"/>
                  <a:gd name="T6" fmla="*/ 1065832 w 21600"/>
                  <a:gd name="T7" fmla="*/ 3700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lnTo>
                      <a:pt x="0" y="9469"/>
                    </a:lnTo>
                    <a:lnTo>
                      <a:pt x="10800" y="21600"/>
                    </a:lnTo>
                    <a:lnTo>
                      <a:pt x="21600" y="9469"/>
                    </a:lnTo>
                    <a:lnTo>
                      <a:pt x="10800" y="0"/>
                    </a:lnTo>
                    <a:close/>
                  </a:path>
                </a:pathLst>
              </a:custGeom>
              <a:solidFill>
                <a:schemeClr val="accent2"/>
              </a:solidFill>
              <a:ln>
                <a:noFill/>
              </a:ln>
              <a:effectLst/>
            </p:spPr>
            <p:txBody>
              <a:bodyPr wrap="square" lIns="91440" tIns="45720" rIns="91440" bIns="4572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58" name="2">
                <a:extLst>
                  <a:ext uri="{FF2B5EF4-FFF2-40B4-BE49-F238E27FC236}">
                    <a16:creationId xmlns:a16="http://schemas.microsoft.com/office/drawing/2014/main" id="{4DAE37DF-9B41-07EB-3C77-16C0A794AE4C}"/>
                  </a:ext>
                </a:extLst>
              </p:cNvPr>
              <p:cNvSpPr/>
              <p:nvPr>
                <p:custDataLst>
                  <p:tags r:id="rId7"/>
                </p:custDataLst>
              </p:nvPr>
            </p:nvSpPr>
            <p:spPr bwMode="auto">
              <a:xfrm>
                <a:off x="4186416" y="2228052"/>
                <a:ext cx="1097891" cy="1083938"/>
              </a:xfrm>
              <a:custGeom>
                <a:avLst/>
                <a:gdLst>
                  <a:gd name="T0" fmla="*/ 949170 w 21600"/>
                  <a:gd name="T1" fmla="*/ 1121967 h 21600"/>
                  <a:gd name="T2" fmla="*/ 949170 w 21600"/>
                  <a:gd name="T3" fmla="*/ 1121967 h 21600"/>
                  <a:gd name="T4" fmla="*/ 949170 w 21600"/>
                  <a:gd name="T5" fmla="*/ 1121967 h 21600"/>
                  <a:gd name="T6" fmla="*/ 949170 w 21600"/>
                  <a:gd name="T7" fmla="*/ 1121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661" y="0"/>
                    </a:moveTo>
                    <a:lnTo>
                      <a:pt x="0" y="3801"/>
                    </a:lnTo>
                    <a:lnTo>
                      <a:pt x="0" y="21600"/>
                    </a:lnTo>
                    <a:lnTo>
                      <a:pt x="21600" y="14559"/>
                    </a:lnTo>
                    <a:lnTo>
                      <a:pt x="11661" y="0"/>
                    </a:lnTo>
                    <a:close/>
                  </a:path>
                </a:pathLst>
              </a:custGeom>
              <a:solidFill>
                <a:schemeClr val="accent2">
                  <a:lumMod val="60000"/>
                  <a:lumOff val="40000"/>
                </a:schemeClr>
              </a:solidFill>
              <a:ln>
                <a:noFill/>
              </a:ln>
              <a:effectLst/>
            </p:spPr>
            <p:txBody>
              <a:bodyPr wrap="square" lIns="91440" tIns="45720" rIns="91440" bIns="4572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59" name="2">
                <a:extLst>
                  <a:ext uri="{FF2B5EF4-FFF2-40B4-BE49-F238E27FC236}">
                    <a16:creationId xmlns:a16="http://schemas.microsoft.com/office/drawing/2014/main" id="{93B953C7-6489-2679-E956-A3E3D62F4303}"/>
                  </a:ext>
                </a:extLst>
              </p:cNvPr>
              <p:cNvSpPr/>
              <p:nvPr>
                <p:custDataLst>
                  <p:tags r:id="rId8"/>
                </p:custDataLst>
              </p:nvPr>
            </p:nvSpPr>
            <p:spPr bwMode="auto">
              <a:xfrm>
                <a:off x="3087607" y="2228052"/>
                <a:ext cx="1098808" cy="1083938"/>
              </a:xfrm>
              <a:custGeom>
                <a:avLst/>
                <a:gdLst>
                  <a:gd name="T0" fmla="*/ 949963 w 21600"/>
                  <a:gd name="T1" fmla="*/ 1121967 h 21600"/>
                  <a:gd name="T2" fmla="*/ 949963 w 21600"/>
                  <a:gd name="T3" fmla="*/ 1121967 h 21600"/>
                  <a:gd name="T4" fmla="*/ 949963 w 21600"/>
                  <a:gd name="T5" fmla="*/ 1121967 h 21600"/>
                  <a:gd name="T6" fmla="*/ 949963 w 21600"/>
                  <a:gd name="T7" fmla="*/ 1121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938" y="0"/>
                    </a:moveTo>
                    <a:lnTo>
                      <a:pt x="0" y="14559"/>
                    </a:lnTo>
                    <a:lnTo>
                      <a:pt x="21600" y="21600"/>
                    </a:lnTo>
                    <a:lnTo>
                      <a:pt x="21600" y="3801"/>
                    </a:lnTo>
                    <a:lnTo>
                      <a:pt x="9938" y="0"/>
                    </a:lnTo>
                    <a:close/>
                  </a:path>
                </a:pathLst>
              </a:custGeom>
              <a:solidFill>
                <a:schemeClr val="accent2">
                  <a:lumMod val="20000"/>
                  <a:lumOff val="80000"/>
                </a:schemeClr>
              </a:solidFill>
              <a:ln>
                <a:noFill/>
              </a:ln>
              <a:effectLst/>
            </p:spPr>
            <p:txBody>
              <a:bodyPr wrap="square" lIns="91440" tIns="45720" rIns="91440" bIns="4572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60" name="Title-2">
                <a:extLst>
                  <a:ext uri="{FF2B5EF4-FFF2-40B4-BE49-F238E27FC236}">
                    <a16:creationId xmlns:a16="http://schemas.microsoft.com/office/drawing/2014/main" id="{DBD17EF6-6297-4271-CEBE-424847369C3E}"/>
                  </a:ext>
                </a:extLst>
              </p:cNvPr>
              <p:cNvSpPr txBox="1"/>
              <p:nvPr>
                <p:custDataLst>
                  <p:tags r:id="rId9"/>
                </p:custDataLst>
              </p:nvPr>
            </p:nvSpPr>
            <p:spPr>
              <a:xfrm>
                <a:off x="5671662" y="2288869"/>
                <a:ext cx="4730161" cy="68765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srgbClr val="58B6C0"/>
                    </a:solidFill>
                    <a:effectLst/>
                    <a:uLnTx/>
                    <a:uFillTx/>
                    <a:latin typeface="微软雅黑" panose="020B0503020204020204" pitchFamily="34" charset="-122"/>
                    <a:ea typeface="微软雅黑" panose="020B0503020204020204" pitchFamily="34" charset="-122"/>
                    <a:cs typeface="+mn-cs"/>
                  </a:rPr>
                  <a:t>L2</a:t>
                </a:r>
                <a:r>
                  <a:rPr kumimoji="0" lang="zh-CN" altLang="en-US" sz="1800" b="1" i="0" u="none" strike="noStrike" kern="1200" cap="none" spc="0" normalizeH="0" baseline="0" noProof="0" dirty="0">
                    <a:ln>
                      <a:noFill/>
                    </a:ln>
                    <a:solidFill>
                      <a:srgbClr val="58B6C0"/>
                    </a:solidFill>
                    <a:effectLst/>
                    <a:uLnTx/>
                    <a:uFillTx/>
                    <a:latin typeface="微软雅黑" panose="020B0503020204020204" pitchFamily="34" charset="-122"/>
                    <a:ea typeface="微软雅黑" panose="020B0503020204020204" pitchFamily="34" charset="-122"/>
                    <a:cs typeface="+mn-cs"/>
                  </a:rPr>
                  <a:t>（设计）：</a:t>
                </a:r>
                <a:r>
                  <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流程与算法设计能力</a:t>
                </a:r>
                <a:r>
                  <a:rPr kumimoji="0" lang="zh-CN" altLang="en-US"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 </a:t>
                </a:r>
                <a:r>
                  <a:rPr kumimoji="0" lang="en-US" altLang="zh-CN"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 </a:t>
                </a:r>
                <a:r>
                  <a:rPr kumimoji="0" lang="zh-CN" altLang="en-US"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能够自主</a:t>
                </a:r>
                <a:r>
                  <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定义和优化数据模型</a:t>
                </a:r>
                <a:r>
                  <a:rPr kumimoji="0" lang="zh-CN" altLang="en-US"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a:t>
                </a:r>
                <a:r>
                  <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重构业务算法</a:t>
                </a:r>
                <a:r>
                  <a:rPr kumimoji="0" lang="zh-CN" altLang="en-US"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以解决特定业务痛点</a:t>
                </a:r>
                <a:endPar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cxnSp>
            <p:nvCxnSpPr>
              <p:cNvPr id="62" name="2">
                <a:extLst>
                  <a:ext uri="{FF2B5EF4-FFF2-40B4-BE49-F238E27FC236}">
                    <a16:creationId xmlns:a16="http://schemas.microsoft.com/office/drawing/2014/main" id="{743366F6-235C-58B9-34A6-E1900B6E18B1}"/>
                  </a:ext>
                </a:extLst>
              </p:cNvPr>
              <p:cNvCxnSpPr/>
              <p:nvPr>
                <p:custDataLst>
                  <p:tags r:id="rId10"/>
                </p:custDataLst>
              </p:nvPr>
            </p:nvCxnSpPr>
            <p:spPr>
              <a:xfrm>
                <a:off x="5708726" y="2994511"/>
                <a:ext cx="3451578" cy="0"/>
              </a:xfrm>
              <a:prstGeom prst="line">
                <a:avLst/>
              </a:prstGeom>
              <a:ln w="6350" cap="rnd">
                <a:solidFill>
                  <a:schemeClr val="accent2"/>
                </a:solidFill>
                <a:prstDash val="dash"/>
                <a:round/>
              </a:ln>
            </p:spPr>
            <p:style>
              <a:lnRef idx="1">
                <a:schemeClr val="accent1"/>
              </a:lnRef>
              <a:fillRef idx="0">
                <a:schemeClr val="accent1"/>
              </a:fillRef>
              <a:effectRef idx="0">
                <a:schemeClr val="accent1"/>
              </a:effectRef>
              <a:fontRef idx="minor">
                <a:schemeClr val="tx1"/>
              </a:fontRef>
            </p:style>
          </p:cxnSp>
        </p:grpSp>
        <p:grpSp>
          <p:nvGrpSpPr>
            <p:cNvPr id="51" name="组合 50">
              <a:extLst>
                <a:ext uri="{FF2B5EF4-FFF2-40B4-BE49-F238E27FC236}">
                  <a16:creationId xmlns:a16="http://schemas.microsoft.com/office/drawing/2014/main" id="{1E70E12E-9502-1670-E47D-FCE9B8FBC846}"/>
                </a:ext>
              </a:extLst>
            </p:cNvPr>
            <p:cNvGrpSpPr/>
            <p:nvPr/>
          </p:nvGrpSpPr>
          <p:grpSpPr>
            <a:xfrm>
              <a:off x="3686123" y="1353714"/>
              <a:ext cx="6715698" cy="888253"/>
              <a:chOff x="3686123" y="1353714"/>
              <a:chExt cx="6715698" cy="888253"/>
            </a:xfrm>
          </p:grpSpPr>
          <p:sp>
            <p:nvSpPr>
              <p:cNvPr id="52" name="1">
                <a:extLst>
                  <a:ext uri="{FF2B5EF4-FFF2-40B4-BE49-F238E27FC236}">
                    <a16:creationId xmlns:a16="http://schemas.microsoft.com/office/drawing/2014/main" id="{3829F3DB-B33C-5EF9-AA7B-C0DECA2D066A}"/>
                  </a:ext>
                </a:extLst>
              </p:cNvPr>
              <p:cNvSpPr/>
              <p:nvPr>
                <p:custDataLst>
                  <p:tags r:id="rId2"/>
                </p:custDataLst>
              </p:nvPr>
            </p:nvSpPr>
            <p:spPr bwMode="auto">
              <a:xfrm>
                <a:off x="4185498" y="1359015"/>
                <a:ext cx="500293" cy="882952"/>
              </a:xfrm>
              <a:custGeom>
                <a:avLst/>
                <a:gdLst>
                  <a:gd name="T0" fmla="*/ 432267 w 21600"/>
                  <a:gd name="T1" fmla="*/ 913958 h 21600"/>
                  <a:gd name="T2" fmla="*/ 432267 w 21600"/>
                  <a:gd name="T3" fmla="*/ 913958 h 21600"/>
                  <a:gd name="T4" fmla="*/ 432267 w 21600"/>
                  <a:gd name="T5" fmla="*/ 913958 h 21600"/>
                  <a:gd name="T6" fmla="*/ 432267 w 21600"/>
                  <a:gd name="T7" fmla="*/ 9139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0" y="21600"/>
                    </a:lnTo>
                    <a:lnTo>
                      <a:pt x="21599" y="17667"/>
                    </a:lnTo>
                    <a:lnTo>
                      <a:pt x="0" y="0"/>
                    </a:lnTo>
                    <a:close/>
                  </a:path>
                </a:pathLst>
              </a:custGeom>
              <a:solidFill>
                <a:schemeClr val="accent1">
                  <a:lumMod val="60000"/>
                  <a:lumOff val="40000"/>
                </a:schemeClr>
              </a:solidFill>
              <a:ln>
                <a:noFill/>
              </a:ln>
              <a:effectLst/>
            </p:spPr>
            <p:txBody>
              <a:bodyPr wrap="square" lIns="91440" tIns="45720" rIns="91440" bIns="4572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53" name="1">
                <a:extLst>
                  <a:ext uri="{FF2B5EF4-FFF2-40B4-BE49-F238E27FC236}">
                    <a16:creationId xmlns:a16="http://schemas.microsoft.com/office/drawing/2014/main" id="{F118EE4A-9116-33E3-AB38-40AF84CE65C0}"/>
                  </a:ext>
                </a:extLst>
              </p:cNvPr>
              <p:cNvSpPr/>
              <p:nvPr>
                <p:custDataLst>
                  <p:tags r:id="rId3"/>
                </p:custDataLst>
              </p:nvPr>
            </p:nvSpPr>
            <p:spPr bwMode="auto">
              <a:xfrm>
                <a:off x="3686123" y="1359015"/>
                <a:ext cx="499377" cy="882952"/>
              </a:xfrm>
              <a:custGeom>
                <a:avLst/>
                <a:gdLst>
                  <a:gd name="T0" fmla="*/ 431474 w 21600"/>
                  <a:gd name="T1" fmla="*/ 913958 h 21600"/>
                  <a:gd name="T2" fmla="*/ 431474 w 21600"/>
                  <a:gd name="T3" fmla="*/ 913958 h 21600"/>
                  <a:gd name="T4" fmla="*/ 431474 w 21600"/>
                  <a:gd name="T5" fmla="*/ 913958 h 21600"/>
                  <a:gd name="T6" fmla="*/ 431474 w 21600"/>
                  <a:gd name="T7" fmla="*/ 9139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7667"/>
                    </a:lnTo>
                    <a:lnTo>
                      <a:pt x="21599" y="21600"/>
                    </a:lnTo>
                    <a:lnTo>
                      <a:pt x="21599" y="0"/>
                    </a:lnTo>
                    <a:close/>
                  </a:path>
                </a:pathLst>
              </a:custGeom>
              <a:solidFill>
                <a:schemeClr val="accent1">
                  <a:lumMod val="20000"/>
                  <a:lumOff val="80000"/>
                </a:schemeClr>
              </a:solidFill>
              <a:ln>
                <a:noFill/>
              </a:ln>
              <a:effectLst/>
            </p:spPr>
            <p:txBody>
              <a:bodyPr wrap="square" lIns="91440" tIns="45720" rIns="91440" bIns="4572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54" name="Title-1">
                <a:extLst>
                  <a:ext uri="{FF2B5EF4-FFF2-40B4-BE49-F238E27FC236}">
                    <a16:creationId xmlns:a16="http://schemas.microsoft.com/office/drawing/2014/main" id="{0877AA1E-885E-669C-4374-893E5B1CC605}"/>
                  </a:ext>
                </a:extLst>
              </p:cNvPr>
              <p:cNvSpPr txBox="1"/>
              <p:nvPr>
                <p:custDataLst>
                  <p:tags r:id="rId4"/>
                </p:custDataLst>
              </p:nvPr>
            </p:nvSpPr>
            <p:spPr>
              <a:xfrm>
                <a:off x="5027128" y="1353714"/>
                <a:ext cx="5374693" cy="68765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srgbClr val="3494BA"/>
                    </a:solidFill>
                    <a:effectLst/>
                    <a:uLnTx/>
                    <a:uFillTx/>
                    <a:latin typeface="微软雅黑" panose="020B0503020204020204" pitchFamily="34" charset="-122"/>
                    <a:ea typeface="微软雅黑" panose="020B0503020204020204" pitchFamily="34" charset="-122"/>
                    <a:cs typeface="+mn-cs"/>
                  </a:rPr>
                  <a:t>L3</a:t>
                </a:r>
                <a:r>
                  <a:rPr kumimoji="0" lang="zh-CN" altLang="en-US" sz="1800" b="1" i="0" u="none" strike="noStrike" kern="1200" cap="none" spc="0" normalizeH="0" baseline="0" noProof="0" dirty="0">
                    <a:ln>
                      <a:noFill/>
                    </a:ln>
                    <a:solidFill>
                      <a:srgbClr val="3494BA"/>
                    </a:solidFill>
                    <a:effectLst/>
                    <a:uLnTx/>
                    <a:uFillTx/>
                    <a:latin typeface="微软雅黑" panose="020B0503020204020204" pitchFamily="34" charset="-122"/>
                    <a:ea typeface="微软雅黑" panose="020B0503020204020204" pitchFamily="34" charset="-122"/>
                    <a:cs typeface="+mn-cs"/>
                  </a:rPr>
                  <a:t>（内化）：</a:t>
                </a:r>
                <a:r>
                  <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体系与范式架构能力</a:t>
                </a:r>
                <a:r>
                  <a:rPr kumimoji="0" lang="zh-CN" altLang="en-US"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 </a:t>
                </a:r>
                <a:r>
                  <a:rPr kumimoji="0" lang="en-US" altLang="zh-CN"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 </a:t>
                </a:r>
                <a:r>
                  <a:rPr kumimoji="0" lang="zh-CN" altLang="en-US"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能够基于第一性原理，​</a:t>
                </a:r>
                <a:r>
                  <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架构新的数据模型和业务算法体系</a:t>
                </a:r>
                <a:r>
                  <a:rPr kumimoji="0" lang="zh-CN" altLang="en-US"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，以支撑颠覆性的商业模式</a:t>
                </a:r>
                <a:endPar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cxnSp>
            <p:nvCxnSpPr>
              <p:cNvPr id="56" name="1">
                <a:extLst>
                  <a:ext uri="{FF2B5EF4-FFF2-40B4-BE49-F238E27FC236}">
                    <a16:creationId xmlns:a16="http://schemas.microsoft.com/office/drawing/2014/main" id="{F08076D5-3821-6F56-62AB-0FE8314A9B61}"/>
                  </a:ext>
                </a:extLst>
              </p:cNvPr>
              <p:cNvCxnSpPr/>
              <p:nvPr>
                <p:custDataLst>
                  <p:tags r:id="rId5"/>
                </p:custDataLst>
              </p:nvPr>
            </p:nvCxnSpPr>
            <p:spPr>
              <a:xfrm>
                <a:off x="5116028" y="2070250"/>
                <a:ext cx="3451578" cy="0"/>
              </a:xfrm>
              <a:prstGeom prst="line">
                <a:avLst/>
              </a:prstGeom>
              <a:ln w="6350" cap="rnd">
                <a:solidFill>
                  <a:schemeClr val="accent1"/>
                </a:solidFill>
                <a:prstDash val="dash"/>
                <a:round/>
              </a:ln>
            </p:spPr>
            <p:style>
              <a:lnRef idx="1">
                <a:schemeClr val="accent1"/>
              </a:lnRef>
              <a:fillRef idx="0">
                <a:schemeClr val="accent1"/>
              </a:fillRef>
              <a:effectRef idx="0">
                <a:schemeClr val="accent1"/>
              </a:effectRef>
              <a:fontRef idx="minor">
                <a:schemeClr val="tx1"/>
              </a:fontRef>
            </p:style>
          </p:cxnSp>
        </p:grpSp>
      </p:grpSp>
      <p:pic>
        <p:nvPicPr>
          <p:cNvPr id="69" name="图片 68">
            <a:extLst>
              <a:ext uri="{FF2B5EF4-FFF2-40B4-BE49-F238E27FC236}">
                <a16:creationId xmlns:a16="http://schemas.microsoft.com/office/drawing/2014/main" id="{DEE4005B-F7BF-9C2C-94F0-26FDDD46658C}"/>
              </a:ext>
            </a:extLst>
          </p:cNvPr>
          <p:cNvPicPr>
            <a:picLocks noChangeAspect="1"/>
          </p:cNvPicPr>
          <p:nvPr/>
        </p:nvPicPr>
        <p:blipFill>
          <a:blip r:embed="rId17"/>
          <a:stretch>
            <a:fillRect/>
          </a:stretch>
        </p:blipFill>
        <p:spPr>
          <a:xfrm>
            <a:off x="6893361" y="1141713"/>
            <a:ext cx="5298639" cy="466284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1956980192"/>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7EFABAF8-E9C7-12E3-2442-967AB4D6DFB0}"/>
              </a:ext>
            </a:extLst>
          </p:cNvPr>
          <p:cNvSpPr txBox="1"/>
          <p:nvPr/>
        </p:nvSpPr>
        <p:spPr>
          <a:xfrm>
            <a:off x="2337118" y="2403475"/>
            <a:ext cx="7517765" cy="1322070"/>
          </a:xfrm>
          <a:prstGeom prst="rect">
            <a:avLst/>
          </a:prstGeom>
          <a:noFill/>
        </p:spPr>
        <p:txBody>
          <a:bodyPr wrap="square" rtlCol="0">
            <a:spAutoFit/>
          </a:bodyPr>
          <a:lstStyle/>
          <a:p>
            <a:pPr marL="0" marR="0" lvl="0" indent="0" algn="ctr" defTabSz="913765" rtl="0" eaLnBrk="1" fontAlgn="auto" latinLnBrk="0" hangingPunct="1">
              <a:lnSpc>
                <a:spcPct val="100000"/>
              </a:lnSpc>
              <a:spcBef>
                <a:spcPts val="0"/>
              </a:spcBef>
              <a:spcAft>
                <a:spcPts val="0"/>
              </a:spcAft>
              <a:buClrTx/>
              <a:buSzTx/>
              <a:buFontTx/>
              <a:buNone/>
            </a:pPr>
            <a:r>
              <a:rPr kumimoji="0" lang="en-US" sz="8000" b="1" i="0" u="none" strike="noStrike" kern="1200" cap="none" spc="-100" normalizeH="0" baseline="0" noProof="0" dirty="0">
                <a:ln>
                  <a:noFill/>
                </a:ln>
                <a:solidFill>
                  <a:schemeClr val="accent3">
                    <a:lumMod val="75000"/>
                  </a:schemeClr>
                </a:solidFill>
                <a:effectLst/>
                <a:uLnTx/>
                <a:uFillTx/>
                <a:latin typeface="Arial" panose="020B0604020202020204" pitchFamily="34" charset="0"/>
                <a:ea typeface="微软雅黑" panose="020B0503020204020204" pitchFamily="34" charset="-122"/>
                <a:cs typeface="Arial" panose="020B0604020202020204" pitchFamily="34" charset="0"/>
                <a:sym typeface="+mn-lt"/>
              </a:rPr>
              <a:t>THANK YOU</a:t>
            </a:r>
          </a:p>
        </p:txBody>
      </p:sp>
    </p:spTree>
    <p:extLst>
      <p:ext uri="{BB962C8B-B14F-4D97-AF65-F5344CB8AC3E}">
        <p14:creationId xmlns:p14="http://schemas.microsoft.com/office/powerpoint/2010/main" val="490439493"/>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E6E4B97-58F9-D150-A2B1-08FB9809A0B9}"/>
              </a:ext>
            </a:extLst>
          </p:cNvPr>
          <p:cNvSpPr>
            <a:spLocks noGrp="1"/>
          </p:cNvSpPr>
          <p:nvPr>
            <p:ph type="title"/>
          </p:nvPr>
        </p:nvSpPr>
        <p:spPr/>
        <p:txBody>
          <a:bodyPr/>
          <a:lstStyle/>
          <a:p>
            <a:r>
              <a:rPr lang="zh-CN" altLang="en-US" dirty="0">
                <a:solidFill>
                  <a:schemeClr val="bg1"/>
                </a:solidFill>
                <a:latin typeface="Arial" panose="020B0604020202020204" pitchFamily="34" charset="0"/>
                <a:ea typeface="微软雅黑" panose="020B0503020204020204" pitchFamily="34" charset="-122"/>
              </a:rPr>
              <a:t>主料先分配，然后可作为辅料</a:t>
            </a:r>
          </a:p>
        </p:txBody>
      </p:sp>
      <p:grpSp>
        <p:nvGrpSpPr>
          <p:cNvPr id="3" name="组合 2">
            <a:extLst>
              <a:ext uri="{FF2B5EF4-FFF2-40B4-BE49-F238E27FC236}">
                <a16:creationId xmlns:a16="http://schemas.microsoft.com/office/drawing/2014/main" id="{8189C0D2-4C4B-0F69-1F19-37E797333A88}"/>
              </a:ext>
            </a:extLst>
          </p:cNvPr>
          <p:cNvGrpSpPr/>
          <p:nvPr/>
        </p:nvGrpSpPr>
        <p:grpSpPr>
          <a:xfrm>
            <a:off x="855619" y="2295714"/>
            <a:ext cx="10522040" cy="4378817"/>
            <a:chOff x="341290" y="1674253"/>
            <a:chExt cx="10522040" cy="4378817"/>
          </a:xfrm>
        </p:grpSpPr>
        <p:grpSp>
          <p:nvGrpSpPr>
            <p:cNvPr id="4" name="组合 3">
              <a:extLst>
                <a:ext uri="{FF2B5EF4-FFF2-40B4-BE49-F238E27FC236}">
                  <a16:creationId xmlns:a16="http://schemas.microsoft.com/office/drawing/2014/main" id="{21EE1D8C-79E3-BC08-0F1A-3FB8B2A12C09}"/>
                </a:ext>
              </a:extLst>
            </p:cNvPr>
            <p:cNvGrpSpPr/>
            <p:nvPr/>
          </p:nvGrpSpPr>
          <p:grpSpPr>
            <a:xfrm>
              <a:off x="1493949" y="1674253"/>
              <a:ext cx="9369381" cy="4378817"/>
              <a:chOff x="1493949" y="1674253"/>
              <a:chExt cx="9369381" cy="4378817"/>
            </a:xfrm>
          </p:grpSpPr>
          <p:cxnSp>
            <p:nvCxnSpPr>
              <p:cNvPr id="9" name="直接连接符 8">
                <a:extLst>
                  <a:ext uri="{FF2B5EF4-FFF2-40B4-BE49-F238E27FC236}">
                    <a16:creationId xmlns:a16="http://schemas.microsoft.com/office/drawing/2014/main" id="{0A81E891-83D0-526E-035A-3530376BB14D}"/>
                  </a:ext>
                </a:extLst>
              </p:cNvPr>
              <p:cNvCxnSpPr/>
              <p:nvPr/>
            </p:nvCxnSpPr>
            <p:spPr>
              <a:xfrm>
                <a:off x="1500389" y="3844343"/>
                <a:ext cx="9362941" cy="0"/>
              </a:xfrm>
              <a:prstGeom prst="line">
                <a:avLst/>
              </a:prstGeom>
              <a:ln>
                <a:solidFill>
                  <a:schemeClr val="tx1"/>
                </a:solidFill>
              </a:ln>
            </p:spPr>
            <p:style>
              <a:lnRef idx="1">
                <a:schemeClr val="accent2"/>
              </a:lnRef>
              <a:fillRef idx="0">
                <a:schemeClr val="accent2"/>
              </a:fillRef>
              <a:effectRef idx="0">
                <a:schemeClr val="accent2"/>
              </a:effectRef>
              <a:fontRef idx="minor">
                <a:schemeClr val="tx1"/>
              </a:fontRef>
            </p:style>
          </p:cxnSp>
          <p:cxnSp>
            <p:nvCxnSpPr>
              <p:cNvPr id="10" name="直接连接符 9">
                <a:extLst>
                  <a:ext uri="{FF2B5EF4-FFF2-40B4-BE49-F238E27FC236}">
                    <a16:creationId xmlns:a16="http://schemas.microsoft.com/office/drawing/2014/main" id="{ABFC269A-EA05-2AA8-A858-74BC9D3DED78}"/>
                  </a:ext>
                </a:extLst>
              </p:cNvPr>
              <p:cNvCxnSpPr>
                <a:cxnSpLocks/>
              </p:cNvCxnSpPr>
              <p:nvPr/>
            </p:nvCxnSpPr>
            <p:spPr>
              <a:xfrm>
                <a:off x="1493949" y="1674253"/>
                <a:ext cx="0" cy="4378817"/>
              </a:xfrm>
              <a:prstGeom prst="line">
                <a:avLst/>
              </a:prstGeom>
              <a:ln>
                <a:solidFill>
                  <a:schemeClr val="tx1"/>
                </a:solidFill>
              </a:ln>
            </p:spPr>
            <p:style>
              <a:lnRef idx="1">
                <a:schemeClr val="accent2"/>
              </a:lnRef>
              <a:fillRef idx="0">
                <a:schemeClr val="accent2"/>
              </a:fillRef>
              <a:effectRef idx="0">
                <a:schemeClr val="accent2"/>
              </a:effectRef>
              <a:fontRef idx="minor">
                <a:schemeClr val="tx1"/>
              </a:fontRef>
            </p:style>
          </p:cxnSp>
        </p:grpSp>
        <p:sp>
          <p:nvSpPr>
            <p:cNvPr id="5" name="文本框 4">
              <a:extLst>
                <a:ext uri="{FF2B5EF4-FFF2-40B4-BE49-F238E27FC236}">
                  <a16:creationId xmlns:a16="http://schemas.microsoft.com/office/drawing/2014/main" id="{38E99FF8-0629-D6F6-6A73-FE1631271E63}"/>
                </a:ext>
              </a:extLst>
            </p:cNvPr>
            <p:cNvSpPr txBox="1"/>
            <p:nvPr/>
          </p:nvSpPr>
          <p:spPr>
            <a:xfrm>
              <a:off x="341290" y="2382592"/>
              <a:ext cx="1152659" cy="369332"/>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Demand</a:t>
              </a:r>
              <a:endParaRPr kumimoji="0" lang="zh-CN" altLang="en-US" sz="1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sp>
          <p:nvSpPr>
            <p:cNvPr id="6" name="文本框 5">
              <a:extLst>
                <a:ext uri="{FF2B5EF4-FFF2-40B4-BE49-F238E27FC236}">
                  <a16:creationId xmlns:a16="http://schemas.microsoft.com/office/drawing/2014/main" id="{CA522B16-5203-2411-DE07-231DA12F1E37}"/>
                </a:ext>
              </a:extLst>
            </p:cNvPr>
            <p:cNvSpPr txBox="1"/>
            <p:nvPr/>
          </p:nvSpPr>
          <p:spPr>
            <a:xfrm>
              <a:off x="419638" y="4814415"/>
              <a:ext cx="1152659" cy="369332"/>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Supply</a:t>
              </a:r>
              <a:endParaRPr kumimoji="0" lang="zh-CN" altLang="en-US" sz="1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cxnSp>
          <p:nvCxnSpPr>
            <p:cNvPr id="7" name="直接连接符 6">
              <a:extLst>
                <a:ext uri="{FF2B5EF4-FFF2-40B4-BE49-F238E27FC236}">
                  <a16:creationId xmlns:a16="http://schemas.microsoft.com/office/drawing/2014/main" id="{3A8ADB50-C88B-0195-1F61-519A2F67AEF8}"/>
                </a:ext>
              </a:extLst>
            </p:cNvPr>
            <p:cNvCxnSpPr/>
            <p:nvPr/>
          </p:nvCxnSpPr>
          <p:spPr>
            <a:xfrm>
              <a:off x="5995115" y="3161763"/>
              <a:ext cx="0" cy="1339403"/>
            </a:xfrm>
            <a:prstGeom prst="line">
              <a:avLst/>
            </a:prstGeom>
            <a:noFill/>
            <a:ln w="12700" cap="flat" cmpd="sng" algn="ctr">
              <a:solidFill>
                <a:schemeClr val="tx1"/>
              </a:solidFill>
              <a:prstDash val="solid"/>
              <a:miter lim="800000"/>
            </a:ln>
            <a:effectLst/>
          </p:spPr>
        </p:cxnSp>
        <p:sp>
          <p:nvSpPr>
            <p:cNvPr id="8" name="文本框 7">
              <a:extLst>
                <a:ext uri="{FF2B5EF4-FFF2-40B4-BE49-F238E27FC236}">
                  <a16:creationId xmlns:a16="http://schemas.microsoft.com/office/drawing/2014/main" id="{CE383C5A-804F-AF66-10D9-E5868A37EA97}"/>
                </a:ext>
              </a:extLst>
            </p:cNvPr>
            <p:cNvSpPr txBox="1"/>
            <p:nvPr/>
          </p:nvSpPr>
          <p:spPr>
            <a:xfrm>
              <a:off x="5449423" y="4624639"/>
              <a:ext cx="1719818" cy="1231106"/>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8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Window:</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400" b="0" i="1"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Could be defined dynamically through </a:t>
              </a:r>
              <a:r>
                <a:rPr kumimoji="0" lang="en-US" altLang="zh-CN" sz="1400" b="0" i="1" u="none" strike="noStrike" kern="0" cap="none" spc="0" normalizeH="0" baseline="0" noProof="0" dirty="0" err="1">
                  <a:ln>
                    <a:noFill/>
                  </a:ln>
                  <a:solidFill>
                    <a:schemeClr val="bg1"/>
                  </a:solidFill>
                  <a:effectLst/>
                  <a:uLnTx/>
                  <a:uFillTx/>
                  <a:latin typeface="Arial" panose="020B0604020202020204" pitchFamily="34" charset="0"/>
                  <a:ea typeface="微软雅黑" panose="020B0503020204020204" pitchFamily="34" charset="-122"/>
                </a:rPr>
                <a:t>materialsite.excess</a:t>
              </a:r>
              <a:endParaRPr kumimoji="0" lang="en-US" altLang="zh-CN" sz="1400" b="0" i="1"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sp>
        <p:nvSpPr>
          <p:cNvPr id="11" name="矩形 10">
            <a:extLst>
              <a:ext uri="{FF2B5EF4-FFF2-40B4-BE49-F238E27FC236}">
                <a16:creationId xmlns:a16="http://schemas.microsoft.com/office/drawing/2014/main" id="{601F3500-4690-8D98-2163-BE0D33C2B5F0}"/>
              </a:ext>
            </a:extLst>
          </p:cNvPr>
          <p:cNvSpPr/>
          <p:nvPr/>
        </p:nvSpPr>
        <p:spPr>
          <a:xfrm>
            <a:off x="2343955" y="3919166"/>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P1(15)</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12" name="矩形 11">
            <a:extLst>
              <a:ext uri="{FF2B5EF4-FFF2-40B4-BE49-F238E27FC236}">
                <a16:creationId xmlns:a16="http://schemas.microsoft.com/office/drawing/2014/main" id="{BD801099-74AB-67F0-8CCA-AB580D66CD6A}"/>
              </a:ext>
            </a:extLst>
          </p:cNvPr>
          <p:cNvSpPr/>
          <p:nvPr/>
        </p:nvSpPr>
        <p:spPr>
          <a:xfrm>
            <a:off x="2340732" y="357788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P2(5)</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13" name="矩形 12">
            <a:extLst>
              <a:ext uri="{FF2B5EF4-FFF2-40B4-BE49-F238E27FC236}">
                <a16:creationId xmlns:a16="http://schemas.microsoft.com/office/drawing/2014/main" id="{22765919-8692-298B-D689-94C27F390D70}"/>
              </a:ext>
            </a:extLst>
          </p:cNvPr>
          <p:cNvSpPr/>
          <p:nvPr/>
        </p:nvSpPr>
        <p:spPr>
          <a:xfrm>
            <a:off x="2340733" y="324947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P1(10)</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cxnSp>
        <p:nvCxnSpPr>
          <p:cNvPr id="14" name="直接箭头连接符 13">
            <a:extLst>
              <a:ext uri="{FF2B5EF4-FFF2-40B4-BE49-F238E27FC236}">
                <a16:creationId xmlns:a16="http://schemas.microsoft.com/office/drawing/2014/main" id="{41840922-1E91-22E0-02A1-84DF1186F06B}"/>
              </a:ext>
            </a:extLst>
          </p:cNvPr>
          <p:cNvCxnSpPr/>
          <p:nvPr/>
        </p:nvCxnSpPr>
        <p:spPr>
          <a:xfrm>
            <a:off x="2215167" y="3210837"/>
            <a:ext cx="0" cy="1043180"/>
          </a:xfrm>
          <a:prstGeom prst="straightConnector1">
            <a:avLst/>
          </a:prstGeom>
          <a:ln>
            <a:solidFill>
              <a:schemeClr val="tx1"/>
            </a:solidFill>
            <a:tailEnd type="triangle"/>
          </a:ln>
        </p:spPr>
        <p:style>
          <a:lnRef idx="1">
            <a:schemeClr val="accent2"/>
          </a:lnRef>
          <a:fillRef idx="0">
            <a:schemeClr val="accent2"/>
          </a:fillRef>
          <a:effectRef idx="0">
            <a:schemeClr val="accent2"/>
          </a:effectRef>
          <a:fontRef idx="minor">
            <a:schemeClr val="tx1"/>
          </a:fontRef>
        </p:style>
      </p:cxnSp>
      <p:sp>
        <p:nvSpPr>
          <p:cNvPr id="15" name="文本框 14">
            <a:extLst>
              <a:ext uri="{FF2B5EF4-FFF2-40B4-BE49-F238E27FC236}">
                <a16:creationId xmlns:a16="http://schemas.microsoft.com/office/drawing/2014/main" id="{99CC1610-5372-9D49-1179-38E8A81F238C}"/>
              </a:ext>
            </a:extLst>
          </p:cNvPr>
          <p:cNvSpPr txBox="1"/>
          <p:nvPr/>
        </p:nvSpPr>
        <p:spPr>
          <a:xfrm>
            <a:off x="1981200" y="2841958"/>
            <a:ext cx="1043189" cy="276999"/>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altLang="zh-CN" sz="1200" b="1" dirty="0">
                <a:solidFill>
                  <a:schemeClr val="bg1"/>
                </a:solidFill>
                <a:latin typeface="Arial" panose="020B0604020202020204" pitchFamily="34" charset="0"/>
                <a:ea typeface="微软雅黑" panose="020B0503020204020204" pitchFamily="34" charset="-122"/>
              </a:rPr>
              <a:t>Priority</a:t>
            </a:r>
            <a:endParaRPr lang="zh-CN" altLang="en-US" sz="1200" b="1" dirty="0">
              <a:solidFill>
                <a:schemeClr val="bg1"/>
              </a:solidFill>
              <a:latin typeface="Arial" panose="020B0604020202020204" pitchFamily="34" charset="0"/>
              <a:ea typeface="微软雅黑" panose="020B0503020204020204" pitchFamily="34" charset="-122"/>
            </a:endParaRPr>
          </a:p>
        </p:txBody>
      </p:sp>
      <p:sp>
        <p:nvSpPr>
          <p:cNvPr id="16" name="矩形 15">
            <a:extLst>
              <a:ext uri="{FF2B5EF4-FFF2-40B4-BE49-F238E27FC236}">
                <a16:creationId xmlns:a16="http://schemas.microsoft.com/office/drawing/2014/main" id="{3DF49EAE-6B6A-4C1C-B132-7EAB963DE907}"/>
              </a:ext>
            </a:extLst>
          </p:cNvPr>
          <p:cNvSpPr/>
          <p:nvPr/>
        </p:nvSpPr>
        <p:spPr>
          <a:xfrm>
            <a:off x="4432483" y="3892276"/>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P3(10)</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17" name="矩形 16">
            <a:extLst>
              <a:ext uri="{FF2B5EF4-FFF2-40B4-BE49-F238E27FC236}">
                <a16:creationId xmlns:a16="http://schemas.microsoft.com/office/drawing/2014/main" id="{C37B857D-7DEC-DA87-F7D1-AFEADCE7E793}"/>
              </a:ext>
            </a:extLst>
          </p:cNvPr>
          <p:cNvSpPr/>
          <p:nvPr/>
        </p:nvSpPr>
        <p:spPr>
          <a:xfrm>
            <a:off x="4429260" y="355099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P3(5)</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18" name="矩形 17">
            <a:extLst>
              <a:ext uri="{FF2B5EF4-FFF2-40B4-BE49-F238E27FC236}">
                <a16:creationId xmlns:a16="http://schemas.microsoft.com/office/drawing/2014/main" id="{ECF00F5D-A1A3-EE32-E55D-76B3158F383C}"/>
              </a:ext>
            </a:extLst>
          </p:cNvPr>
          <p:cNvSpPr/>
          <p:nvPr/>
        </p:nvSpPr>
        <p:spPr>
          <a:xfrm>
            <a:off x="4429261" y="322258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P3(5)</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cxnSp>
        <p:nvCxnSpPr>
          <p:cNvPr id="19" name="直接箭头连接符 18">
            <a:extLst>
              <a:ext uri="{FF2B5EF4-FFF2-40B4-BE49-F238E27FC236}">
                <a16:creationId xmlns:a16="http://schemas.microsoft.com/office/drawing/2014/main" id="{8101C081-895C-3162-0323-92BF08459FF7}"/>
              </a:ext>
            </a:extLst>
          </p:cNvPr>
          <p:cNvCxnSpPr/>
          <p:nvPr/>
        </p:nvCxnSpPr>
        <p:spPr>
          <a:xfrm>
            <a:off x="5417717" y="3158181"/>
            <a:ext cx="0" cy="1043180"/>
          </a:xfrm>
          <a:prstGeom prst="straightConnector1">
            <a:avLst/>
          </a:prstGeom>
          <a:ln>
            <a:solidFill>
              <a:schemeClr val="tx1"/>
            </a:solidFill>
            <a:tailEnd type="triangle"/>
          </a:ln>
        </p:spPr>
        <p:style>
          <a:lnRef idx="1">
            <a:schemeClr val="accent2"/>
          </a:lnRef>
          <a:fillRef idx="0">
            <a:schemeClr val="accent2"/>
          </a:fillRef>
          <a:effectRef idx="0">
            <a:schemeClr val="accent2"/>
          </a:effectRef>
          <a:fontRef idx="minor">
            <a:schemeClr val="tx1"/>
          </a:fontRef>
        </p:style>
      </p:cxnSp>
      <p:sp>
        <p:nvSpPr>
          <p:cNvPr id="20" name="文本框 19">
            <a:extLst>
              <a:ext uri="{FF2B5EF4-FFF2-40B4-BE49-F238E27FC236}">
                <a16:creationId xmlns:a16="http://schemas.microsoft.com/office/drawing/2014/main" id="{0D50252C-5765-EB3D-E3A4-233B8F79FBC8}"/>
              </a:ext>
            </a:extLst>
          </p:cNvPr>
          <p:cNvSpPr txBox="1"/>
          <p:nvPr/>
        </p:nvSpPr>
        <p:spPr>
          <a:xfrm>
            <a:off x="5052811" y="2829675"/>
            <a:ext cx="1043189" cy="276999"/>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altLang="zh-CN" sz="1200" b="1" dirty="0">
                <a:solidFill>
                  <a:schemeClr val="bg1"/>
                </a:solidFill>
                <a:latin typeface="Arial" panose="020B0604020202020204" pitchFamily="34" charset="0"/>
                <a:ea typeface="微软雅黑" panose="020B0503020204020204" pitchFamily="34" charset="-122"/>
              </a:rPr>
              <a:t>Priority</a:t>
            </a:r>
            <a:endParaRPr lang="zh-CN" altLang="en-US" sz="1200" b="1" dirty="0">
              <a:solidFill>
                <a:schemeClr val="bg1"/>
              </a:solidFill>
              <a:latin typeface="Arial" panose="020B0604020202020204" pitchFamily="34" charset="0"/>
              <a:ea typeface="微软雅黑" panose="020B0503020204020204" pitchFamily="34" charset="-122"/>
            </a:endParaRPr>
          </a:p>
        </p:txBody>
      </p:sp>
      <p:sp>
        <p:nvSpPr>
          <p:cNvPr id="21" name="矩形 20">
            <a:extLst>
              <a:ext uri="{FF2B5EF4-FFF2-40B4-BE49-F238E27FC236}">
                <a16:creationId xmlns:a16="http://schemas.microsoft.com/office/drawing/2014/main" id="{C3BC48CE-A7B2-B938-8F6A-829896B553A9}"/>
              </a:ext>
            </a:extLst>
          </p:cNvPr>
          <p:cNvSpPr/>
          <p:nvPr/>
        </p:nvSpPr>
        <p:spPr>
          <a:xfrm>
            <a:off x="2936383" y="5252130"/>
            <a:ext cx="1867437" cy="800210"/>
          </a:xfrm>
          <a:prstGeom prst="rect">
            <a:avLst/>
          </a:prstGeom>
          <a:solidFill>
            <a:srgbClr val="388600"/>
          </a:solidFill>
          <a:ln w="12700" cap="flat" cmpd="sng" algn="ctr">
            <a:solidFill>
              <a:srgbClr val="525354">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P3 (40)</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cxnSp>
        <p:nvCxnSpPr>
          <p:cNvPr id="22" name="连接符: 肘形 31">
            <a:extLst>
              <a:ext uri="{FF2B5EF4-FFF2-40B4-BE49-F238E27FC236}">
                <a16:creationId xmlns:a16="http://schemas.microsoft.com/office/drawing/2014/main" id="{242DFDFC-9EF8-438B-9EF9-2472698D4EFE}"/>
              </a:ext>
            </a:extLst>
          </p:cNvPr>
          <p:cNvCxnSpPr>
            <a:stCxn id="21" idx="0"/>
            <a:endCxn id="16" idx="1"/>
          </p:cNvCxnSpPr>
          <p:nvPr/>
        </p:nvCxnSpPr>
        <p:spPr>
          <a:xfrm rot="5400000" flipH="1" flipV="1">
            <a:off x="3548637" y="4368285"/>
            <a:ext cx="1205311" cy="562381"/>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cxnSp>
        <p:nvCxnSpPr>
          <p:cNvPr id="23" name="连接符: 肘形 31">
            <a:extLst>
              <a:ext uri="{FF2B5EF4-FFF2-40B4-BE49-F238E27FC236}">
                <a16:creationId xmlns:a16="http://schemas.microsoft.com/office/drawing/2014/main" id="{E1EF361C-F268-EA49-2537-6FB3B7812568}"/>
              </a:ext>
            </a:extLst>
          </p:cNvPr>
          <p:cNvCxnSpPr>
            <a:cxnSpLocks/>
            <a:endCxn id="17" idx="1"/>
          </p:cNvCxnSpPr>
          <p:nvPr/>
        </p:nvCxnSpPr>
        <p:spPr>
          <a:xfrm rot="5400000" flipH="1" flipV="1">
            <a:off x="3390256" y="4188606"/>
            <a:ext cx="1522072" cy="555936"/>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cxnSp>
        <p:nvCxnSpPr>
          <p:cNvPr id="24" name="连接符: 肘形 31">
            <a:extLst>
              <a:ext uri="{FF2B5EF4-FFF2-40B4-BE49-F238E27FC236}">
                <a16:creationId xmlns:a16="http://schemas.microsoft.com/office/drawing/2014/main" id="{CF46DA67-0343-76A7-F08E-D969FDB292EA}"/>
              </a:ext>
            </a:extLst>
          </p:cNvPr>
          <p:cNvCxnSpPr>
            <a:cxnSpLocks/>
            <a:stCxn id="21" idx="0"/>
            <a:endCxn id="18" idx="1"/>
          </p:cNvCxnSpPr>
          <p:nvPr/>
        </p:nvCxnSpPr>
        <p:spPr>
          <a:xfrm rot="5400000" flipH="1" flipV="1">
            <a:off x="3212180" y="4035050"/>
            <a:ext cx="1875002" cy="559159"/>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cxnSp>
        <p:nvCxnSpPr>
          <p:cNvPr id="25" name="连接符: 肘形 31">
            <a:extLst>
              <a:ext uri="{FF2B5EF4-FFF2-40B4-BE49-F238E27FC236}">
                <a16:creationId xmlns:a16="http://schemas.microsoft.com/office/drawing/2014/main" id="{95E83B04-7447-7436-3635-FAF70189419E}"/>
              </a:ext>
            </a:extLst>
          </p:cNvPr>
          <p:cNvCxnSpPr>
            <a:cxnSpLocks/>
            <a:stCxn id="21" idx="0"/>
            <a:endCxn id="11" idx="3"/>
          </p:cNvCxnSpPr>
          <p:nvPr/>
        </p:nvCxnSpPr>
        <p:spPr>
          <a:xfrm rot="16200000" flipV="1">
            <a:off x="2876816" y="4258844"/>
            <a:ext cx="1178421" cy="808152"/>
          </a:xfrm>
          <a:prstGeom prst="curvedConnector2">
            <a:avLst/>
          </a:prstGeom>
          <a:noFill/>
          <a:ln w="9525" cap="flat" cmpd="sng" algn="ctr">
            <a:solidFill>
              <a:schemeClr val="tx1"/>
            </a:solidFill>
            <a:prstDash val="solid"/>
            <a:round/>
            <a:headEnd type="none" w="med" len="med"/>
            <a:tailEnd type="arrow" w="med" len="med"/>
          </a:ln>
          <a:effectLst/>
        </p:spPr>
      </p:cxnSp>
      <p:cxnSp>
        <p:nvCxnSpPr>
          <p:cNvPr id="26" name="连接符: 肘形 31">
            <a:extLst>
              <a:ext uri="{FF2B5EF4-FFF2-40B4-BE49-F238E27FC236}">
                <a16:creationId xmlns:a16="http://schemas.microsoft.com/office/drawing/2014/main" id="{6D85038C-890F-83DD-2EDB-349295910A29}"/>
              </a:ext>
            </a:extLst>
          </p:cNvPr>
          <p:cNvCxnSpPr>
            <a:cxnSpLocks/>
            <a:stCxn id="21" idx="0"/>
            <a:endCxn id="12" idx="3"/>
          </p:cNvCxnSpPr>
          <p:nvPr/>
        </p:nvCxnSpPr>
        <p:spPr>
          <a:xfrm rot="16200000" flipV="1">
            <a:off x="2704564" y="4086591"/>
            <a:ext cx="1519702" cy="811375"/>
          </a:xfrm>
          <a:prstGeom prst="curvedConnector2">
            <a:avLst/>
          </a:prstGeom>
          <a:ln w="9525" cap="flat" cmpd="sng" algn="ctr">
            <a:solidFill>
              <a:schemeClr val="tx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27" name="矩形 26">
            <a:extLst>
              <a:ext uri="{FF2B5EF4-FFF2-40B4-BE49-F238E27FC236}">
                <a16:creationId xmlns:a16="http://schemas.microsoft.com/office/drawing/2014/main" id="{19EE924C-E033-096C-4504-B8DF66306BEE}"/>
              </a:ext>
            </a:extLst>
          </p:cNvPr>
          <p:cNvSpPr/>
          <p:nvPr/>
        </p:nvSpPr>
        <p:spPr>
          <a:xfrm>
            <a:off x="7330227" y="3919166"/>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P1(15)</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28" name="矩形 27">
            <a:extLst>
              <a:ext uri="{FF2B5EF4-FFF2-40B4-BE49-F238E27FC236}">
                <a16:creationId xmlns:a16="http://schemas.microsoft.com/office/drawing/2014/main" id="{69DE3D56-114D-2C3A-0115-D4336EAFE218}"/>
              </a:ext>
            </a:extLst>
          </p:cNvPr>
          <p:cNvSpPr/>
          <p:nvPr/>
        </p:nvSpPr>
        <p:spPr>
          <a:xfrm>
            <a:off x="7327004" y="357788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P2(5)</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29" name="矩形 28">
            <a:extLst>
              <a:ext uri="{FF2B5EF4-FFF2-40B4-BE49-F238E27FC236}">
                <a16:creationId xmlns:a16="http://schemas.microsoft.com/office/drawing/2014/main" id="{29E3273A-DFBF-DCA9-0ED6-28C1013D1150}"/>
              </a:ext>
            </a:extLst>
          </p:cNvPr>
          <p:cNvSpPr/>
          <p:nvPr/>
        </p:nvSpPr>
        <p:spPr>
          <a:xfrm>
            <a:off x="7327005" y="324947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P1(10)</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cxnSp>
        <p:nvCxnSpPr>
          <p:cNvPr id="30" name="直接箭头连接符 29">
            <a:extLst>
              <a:ext uri="{FF2B5EF4-FFF2-40B4-BE49-F238E27FC236}">
                <a16:creationId xmlns:a16="http://schemas.microsoft.com/office/drawing/2014/main" id="{FAC0B116-842F-830C-681A-DB27E13C06A2}"/>
              </a:ext>
            </a:extLst>
          </p:cNvPr>
          <p:cNvCxnSpPr/>
          <p:nvPr/>
        </p:nvCxnSpPr>
        <p:spPr>
          <a:xfrm>
            <a:off x="7201439" y="3210837"/>
            <a:ext cx="0" cy="1043180"/>
          </a:xfrm>
          <a:prstGeom prst="straightConnector1">
            <a:avLst/>
          </a:prstGeom>
          <a:ln>
            <a:solidFill>
              <a:schemeClr val="tx1"/>
            </a:solidFill>
            <a:tailEnd type="triangle"/>
          </a:ln>
        </p:spPr>
        <p:style>
          <a:lnRef idx="1">
            <a:schemeClr val="accent2"/>
          </a:lnRef>
          <a:fillRef idx="0">
            <a:schemeClr val="accent2"/>
          </a:fillRef>
          <a:effectRef idx="0">
            <a:schemeClr val="accent2"/>
          </a:effectRef>
          <a:fontRef idx="minor">
            <a:schemeClr val="tx1"/>
          </a:fontRef>
        </p:style>
      </p:cxnSp>
      <p:sp>
        <p:nvSpPr>
          <p:cNvPr id="31" name="文本框 30">
            <a:extLst>
              <a:ext uri="{FF2B5EF4-FFF2-40B4-BE49-F238E27FC236}">
                <a16:creationId xmlns:a16="http://schemas.microsoft.com/office/drawing/2014/main" id="{C8092BB1-02EA-A582-6836-F01A4D393006}"/>
              </a:ext>
            </a:extLst>
          </p:cNvPr>
          <p:cNvSpPr txBox="1"/>
          <p:nvPr/>
        </p:nvSpPr>
        <p:spPr>
          <a:xfrm>
            <a:off x="6967472" y="2841958"/>
            <a:ext cx="1043189" cy="276999"/>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altLang="zh-CN" sz="1200" b="1" dirty="0">
                <a:solidFill>
                  <a:schemeClr val="bg1"/>
                </a:solidFill>
                <a:latin typeface="Arial" panose="020B0604020202020204" pitchFamily="34" charset="0"/>
                <a:ea typeface="微软雅黑" panose="020B0503020204020204" pitchFamily="34" charset="-122"/>
              </a:rPr>
              <a:t>Priority</a:t>
            </a:r>
            <a:endParaRPr lang="zh-CN" altLang="en-US" sz="1200" b="1" dirty="0">
              <a:solidFill>
                <a:schemeClr val="bg1"/>
              </a:solidFill>
              <a:latin typeface="Arial" panose="020B0604020202020204" pitchFamily="34" charset="0"/>
              <a:ea typeface="微软雅黑" panose="020B0503020204020204" pitchFamily="34" charset="-122"/>
            </a:endParaRPr>
          </a:p>
        </p:txBody>
      </p:sp>
      <p:sp>
        <p:nvSpPr>
          <p:cNvPr id="32" name="矩形 31">
            <a:extLst>
              <a:ext uri="{FF2B5EF4-FFF2-40B4-BE49-F238E27FC236}">
                <a16:creationId xmlns:a16="http://schemas.microsoft.com/office/drawing/2014/main" id="{B157932A-E91C-651E-4281-CBE7B68D4290}"/>
              </a:ext>
            </a:extLst>
          </p:cNvPr>
          <p:cNvSpPr/>
          <p:nvPr/>
        </p:nvSpPr>
        <p:spPr>
          <a:xfrm>
            <a:off x="9418755" y="3892276"/>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P3(10)</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33" name="矩形 32">
            <a:extLst>
              <a:ext uri="{FF2B5EF4-FFF2-40B4-BE49-F238E27FC236}">
                <a16:creationId xmlns:a16="http://schemas.microsoft.com/office/drawing/2014/main" id="{FB8282B8-5A75-7869-55D3-F7447CD9452E}"/>
              </a:ext>
            </a:extLst>
          </p:cNvPr>
          <p:cNvSpPr/>
          <p:nvPr/>
        </p:nvSpPr>
        <p:spPr>
          <a:xfrm>
            <a:off x="9415532" y="355099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P3(5)</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sp>
        <p:nvSpPr>
          <p:cNvPr id="34" name="矩形 33">
            <a:extLst>
              <a:ext uri="{FF2B5EF4-FFF2-40B4-BE49-F238E27FC236}">
                <a16:creationId xmlns:a16="http://schemas.microsoft.com/office/drawing/2014/main" id="{32787C25-C263-1005-1C62-39867CC62E98}"/>
              </a:ext>
            </a:extLst>
          </p:cNvPr>
          <p:cNvSpPr/>
          <p:nvPr/>
        </p:nvSpPr>
        <p:spPr>
          <a:xfrm>
            <a:off x="9415533" y="3222585"/>
            <a:ext cx="717995" cy="309085"/>
          </a:xfrm>
          <a:prstGeom prst="rect">
            <a:avLst/>
          </a:prstGeom>
          <a:solidFill>
            <a:srgbClr val="093091"/>
          </a:solidFill>
          <a:ln w="12700" cap="flat" cmpd="sng" algn="ctr">
            <a:solidFill>
              <a:srgbClr val="093091">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P3(5)</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cxnSp>
        <p:nvCxnSpPr>
          <p:cNvPr id="35" name="直接箭头连接符 34">
            <a:extLst>
              <a:ext uri="{FF2B5EF4-FFF2-40B4-BE49-F238E27FC236}">
                <a16:creationId xmlns:a16="http://schemas.microsoft.com/office/drawing/2014/main" id="{62AECAE5-BA77-8096-ACDE-C3D25B6B37EC}"/>
              </a:ext>
            </a:extLst>
          </p:cNvPr>
          <p:cNvCxnSpPr/>
          <p:nvPr/>
        </p:nvCxnSpPr>
        <p:spPr>
          <a:xfrm>
            <a:off x="10403989" y="3158181"/>
            <a:ext cx="0" cy="1043180"/>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sp>
        <p:nvSpPr>
          <p:cNvPr id="36" name="文本框 35">
            <a:extLst>
              <a:ext uri="{FF2B5EF4-FFF2-40B4-BE49-F238E27FC236}">
                <a16:creationId xmlns:a16="http://schemas.microsoft.com/office/drawing/2014/main" id="{F4CC5A9C-23A4-2B82-E537-EBC995DAA72D}"/>
              </a:ext>
            </a:extLst>
          </p:cNvPr>
          <p:cNvSpPr txBox="1"/>
          <p:nvPr/>
        </p:nvSpPr>
        <p:spPr>
          <a:xfrm>
            <a:off x="10039083" y="2829675"/>
            <a:ext cx="1043189" cy="276999"/>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altLang="zh-CN" sz="1200" b="1" dirty="0">
                <a:solidFill>
                  <a:schemeClr val="bg1"/>
                </a:solidFill>
                <a:latin typeface="Arial" panose="020B0604020202020204" pitchFamily="34" charset="0"/>
                <a:ea typeface="微软雅黑" panose="020B0503020204020204" pitchFamily="34" charset="-122"/>
              </a:rPr>
              <a:t>Priority</a:t>
            </a:r>
            <a:endParaRPr lang="zh-CN" altLang="en-US" sz="1200" b="1" dirty="0">
              <a:solidFill>
                <a:schemeClr val="bg1"/>
              </a:solidFill>
              <a:latin typeface="Arial" panose="020B0604020202020204" pitchFamily="34" charset="0"/>
              <a:ea typeface="微软雅黑" panose="020B0503020204020204" pitchFamily="34" charset="-122"/>
            </a:endParaRPr>
          </a:p>
        </p:txBody>
      </p:sp>
      <p:sp>
        <p:nvSpPr>
          <p:cNvPr id="37" name="矩形 36">
            <a:extLst>
              <a:ext uri="{FF2B5EF4-FFF2-40B4-BE49-F238E27FC236}">
                <a16:creationId xmlns:a16="http://schemas.microsoft.com/office/drawing/2014/main" id="{377A8E70-EBFF-D1FC-F57E-29FE8D99E6A9}"/>
              </a:ext>
            </a:extLst>
          </p:cNvPr>
          <p:cNvSpPr/>
          <p:nvPr/>
        </p:nvSpPr>
        <p:spPr>
          <a:xfrm>
            <a:off x="7922655" y="5252130"/>
            <a:ext cx="1867437" cy="800210"/>
          </a:xfrm>
          <a:prstGeom prst="rect">
            <a:avLst/>
          </a:prstGeom>
          <a:solidFill>
            <a:srgbClr val="388600"/>
          </a:solidFill>
          <a:ln w="12700" cap="flat" cmpd="sng" algn="ctr">
            <a:solidFill>
              <a:srgbClr val="525354">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P3 (40)</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cxnSp>
        <p:nvCxnSpPr>
          <p:cNvPr id="38" name="连接符: 肘形 31">
            <a:extLst>
              <a:ext uri="{FF2B5EF4-FFF2-40B4-BE49-F238E27FC236}">
                <a16:creationId xmlns:a16="http://schemas.microsoft.com/office/drawing/2014/main" id="{6FC7A840-40D1-7045-12CA-82971C3985E3}"/>
              </a:ext>
            </a:extLst>
          </p:cNvPr>
          <p:cNvCxnSpPr>
            <a:stCxn id="37" idx="0"/>
            <a:endCxn id="32" idx="1"/>
          </p:cNvCxnSpPr>
          <p:nvPr/>
        </p:nvCxnSpPr>
        <p:spPr>
          <a:xfrm rot="5400000" flipH="1" flipV="1">
            <a:off x="8534909" y="4368285"/>
            <a:ext cx="1205311" cy="562381"/>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cxnSp>
        <p:nvCxnSpPr>
          <p:cNvPr id="39" name="连接符: 肘形 31">
            <a:extLst>
              <a:ext uri="{FF2B5EF4-FFF2-40B4-BE49-F238E27FC236}">
                <a16:creationId xmlns:a16="http://schemas.microsoft.com/office/drawing/2014/main" id="{9034421D-1BEB-ADCA-4D22-ABD3C7697D59}"/>
              </a:ext>
            </a:extLst>
          </p:cNvPr>
          <p:cNvCxnSpPr>
            <a:cxnSpLocks/>
            <a:stCxn id="37" idx="0"/>
            <a:endCxn id="27" idx="3"/>
          </p:cNvCxnSpPr>
          <p:nvPr/>
        </p:nvCxnSpPr>
        <p:spPr>
          <a:xfrm rot="16200000" flipV="1">
            <a:off x="7863088" y="4258844"/>
            <a:ext cx="1178421" cy="808152"/>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cxnSp>
        <p:nvCxnSpPr>
          <p:cNvPr id="40" name="连接符: 肘形 31">
            <a:extLst>
              <a:ext uri="{FF2B5EF4-FFF2-40B4-BE49-F238E27FC236}">
                <a16:creationId xmlns:a16="http://schemas.microsoft.com/office/drawing/2014/main" id="{268CED76-130D-0BC8-9659-25664E051E6C}"/>
              </a:ext>
            </a:extLst>
          </p:cNvPr>
          <p:cNvCxnSpPr>
            <a:cxnSpLocks/>
            <a:stCxn id="37" idx="0"/>
            <a:endCxn id="28" idx="3"/>
          </p:cNvCxnSpPr>
          <p:nvPr/>
        </p:nvCxnSpPr>
        <p:spPr>
          <a:xfrm rot="16200000" flipV="1">
            <a:off x="7690836" y="4086591"/>
            <a:ext cx="1519702" cy="811375"/>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cxnSp>
        <p:nvCxnSpPr>
          <p:cNvPr id="41" name="连接符: 肘形 31">
            <a:extLst>
              <a:ext uri="{FF2B5EF4-FFF2-40B4-BE49-F238E27FC236}">
                <a16:creationId xmlns:a16="http://schemas.microsoft.com/office/drawing/2014/main" id="{B4D86E35-0A66-2218-B44F-19DF4DB4690B}"/>
              </a:ext>
            </a:extLst>
          </p:cNvPr>
          <p:cNvCxnSpPr>
            <a:cxnSpLocks/>
            <a:stCxn id="37" idx="0"/>
            <a:endCxn id="29" idx="3"/>
          </p:cNvCxnSpPr>
          <p:nvPr/>
        </p:nvCxnSpPr>
        <p:spPr>
          <a:xfrm rot="16200000" flipV="1">
            <a:off x="7526631" y="3922387"/>
            <a:ext cx="1848112" cy="811374"/>
          </a:xfrm>
          <a:prstGeom prst="curvedConnector2">
            <a:avLst/>
          </a:prstGeom>
          <a:ln>
            <a:solidFill>
              <a:schemeClr val="tx1"/>
            </a:solidFill>
            <a:headEnd type="none" w="med" len="med"/>
            <a:tailEnd type="arrow" w="med" len="med"/>
          </a:ln>
        </p:spPr>
        <p:style>
          <a:lnRef idx="1">
            <a:schemeClr val="accent2"/>
          </a:lnRef>
          <a:fillRef idx="0">
            <a:schemeClr val="accent2"/>
          </a:fillRef>
          <a:effectRef idx="0">
            <a:schemeClr val="accent2"/>
          </a:effectRef>
          <a:fontRef idx="minor">
            <a:schemeClr val="tx1"/>
          </a:fontRef>
        </p:style>
      </p:cxnSp>
      <p:sp>
        <p:nvSpPr>
          <p:cNvPr id="42" name="文本框 41">
            <a:extLst>
              <a:ext uri="{FF2B5EF4-FFF2-40B4-BE49-F238E27FC236}">
                <a16:creationId xmlns:a16="http://schemas.microsoft.com/office/drawing/2014/main" id="{B8462BF5-B2C6-1321-0B98-823DC56C1BFA}"/>
              </a:ext>
            </a:extLst>
          </p:cNvPr>
          <p:cNvSpPr txBox="1"/>
          <p:nvPr/>
        </p:nvSpPr>
        <p:spPr>
          <a:xfrm>
            <a:off x="10633652" y="5000426"/>
            <a:ext cx="1152659" cy="369332"/>
          </a:xfrm>
          <a:prstGeom prst="rect">
            <a:avLst/>
          </a:prstGeom>
          <a:noFill/>
        </p:spPr>
        <p:txBody>
          <a:bodyPr wrap="square" rtlCol="0">
            <a:spAutoFit/>
          </a:bodyPr>
          <a:lstStyle/>
          <a:p>
            <a:r>
              <a:rPr lang="en-US" altLang="zh-CN" b="1" dirty="0">
                <a:solidFill>
                  <a:schemeClr val="bg1"/>
                </a:solidFill>
                <a:latin typeface="Arial" panose="020B0604020202020204" pitchFamily="34" charset="0"/>
                <a:ea typeface="微软雅黑" panose="020B0503020204020204" pitchFamily="34" charset="-122"/>
              </a:rPr>
              <a:t>Time</a:t>
            </a:r>
            <a:endParaRPr lang="zh-CN" altLang="en-US" b="1" dirty="0">
              <a:solidFill>
                <a:schemeClr val="bg1"/>
              </a:solidFill>
              <a:latin typeface="Arial" panose="020B0604020202020204" pitchFamily="34" charset="0"/>
              <a:ea typeface="微软雅黑" panose="020B0503020204020204" pitchFamily="34" charset="-122"/>
            </a:endParaRPr>
          </a:p>
        </p:txBody>
      </p:sp>
      <p:sp>
        <p:nvSpPr>
          <p:cNvPr id="43" name="矩形 42">
            <a:extLst>
              <a:ext uri="{FF2B5EF4-FFF2-40B4-BE49-F238E27FC236}">
                <a16:creationId xmlns:a16="http://schemas.microsoft.com/office/drawing/2014/main" id="{F854FBBC-EAE7-6E1C-1351-B2DAD3797E53}"/>
              </a:ext>
            </a:extLst>
          </p:cNvPr>
          <p:cNvSpPr/>
          <p:nvPr/>
        </p:nvSpPr>
        <p:spPr>
          <a:xfrm>
            <a:off x="3428170" y="1073549"/>
            <a:ext cx="846001" cy="312449"/>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a:ln>
                  <a:noFill/>
                </a:ln>
                <a:solidFill>
                  <a:schemeClr val="bg1"/>
                </a:solidFill>
                <a:effectLst/>
                <a:uLnTx/>
                <a:uFillTx/>
                <a:latin typeface="Arial" panose="020B0604020202020204" pitchFamily="34" charset="0"/>
                <a:ea typeface="微软雅黑" panose="020B0503020204020204" pitchFamily="34" charset="-122"/>
                <a:cs typeface="+mn-cs"/>
              </a:rPr>
              <a:t>FG11</a:t>
            </a:r>
            <a:r>
              <a:rPr kumimoji="0" lang="en-US" altLang="zh-CN" sz="105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….n</a:t>
            </a:r>
            <a:endParaRPr kumimoji="0" lang="zh-CN" altLang="en-US" sz="105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grpSp>
        <p:nvGrpSpPr>
          <p:cNvPr id="44" name="组合 43">
            <a:extLst>
              <a:ext uri="{FF2B5EF4-FFF2-40B4-BE49-F238E27FC236}">
                <a16:creationId xmlns:a16="http://schemas.microsoft.com/office/drawing/2014/main" id="{79D68EFA-4411-7DA1-40F9-0113E9C8E2B5}"/>
              </a:ext>
            </a:extLst>
          </p:cNvPr>
          <p:cNvGrpSpPr/>
          <p:nvPr/>
        </p:nvGrpSpPr>
        <p:grpSpPr>
          <a:xfrm>
            <a:off x="2871483" y="1840207"/>
            <a:ext cx="811905" cy="412963"/>
            <a:chOff x="2678806" y="1841679"/>
            <a:chExt cx="811905" cy="412963"/>
          </a:xfrm>
        </p:grpSpPr>
        <p:sp>
          <p:nvSpPr>
            <p:cNvPr id="45" name="等腰三角形 44">
              <a:extLst>
                <a:ext uri="{FF2B5EF4-FFF2-40B4-BE49-F238E27FC236}">
                  <a16:creationId xmlns:a16="http://schemas.microsoft.com/office/drawing/2014/main" id="{20B1E129-D60A-666A-34BF-2266F8779E4E}"/>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700" b="1" i="0" u="none" strike="noStrike" kern="0" cap="none" spc="0" normalizeH="0" baseline="0" noProof="0" dirty="0">
                <a:ln>
                  <a:noFill/>
                </a:ln>
                <a:solidFill>
                  <a:schemeClr val="bg1"/>
                </a:solidFill>
                <a:effectLst/>
                <a:uLnTx/>
                <a:uFillTx/>
                <a:latin typeface="Arial"/>
                <a:ea typeface="微软雅黑"/>
                <a:cs typeface="+mn-cs"/>
              </a:endParaRPr>
            </a:p>
          </p:txBody>
        </p:sp>
        <p:sp>
          <p:nvSpPr>
            <p:cNvPr id="46" name="文本框 45">
              <a:extLst>
                <a:ext uri="{FF2B5EF4-FFF2-40B4-BE49-F238E27FC236}">
                  <a16:creationId xmlns:a16="http://schemas.microsoft.com/office/drawing/2014/main" id="{EE4AAE87-F659-A568-D0E1-7EFF67EC1632}"/>
                </a:ext>
              </a:extLst>
            </p:cNvPr>
            <p:cNvSpPr txBox="1"/>
            <p:nvPr/>
          </p:nvSpPr>
          <p:spPr>
            <a:xfrm>
              <a:off x="2751536" y="1977643"/>
              <a:ext cx="739175"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P1/1</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grpSp>
        <p:nvGrpSpPr>
          <p:cNvPr id="47" name="组合 46">
            <a:extLst>
              <a:ext uri="{FF2B5EF4-FFF2-40B4-BE49-F238E27FC236}">
                <a16:creationId xmlns:a16="http://schemas.microsoft.com/office/drawing/2014/main" id="{DEB2F045-67D3-F55E-1954-AAD74904A24D}"/>
              </a:ext>
            </a:extLst>
          </p:cNvPr>
          <p:cNvGrpSpPr/>
          <p:nvPr/>
        </p:nvGrpSpPr>
        <p:grpSpPr>
          <a:xfrm>
            <a:off x="3527681" y="1840857"/>
            <a:ext cx="811905" cy="412963"/>
            <a:chOff x="2678806" y="1841679"/>
            <a:chExt cx="811905" cy="412963"/>
          </a:xfrm>
        </p:grpSpPr>
        <p:sp>
          <p:nvSpPr>
            <p:cNvPr id="48" name="等腰三角形 47">
              <a:extLst>
                <a:ext uri="{FF2B5EF4-FFF2-40B4-BE49-F238E27FC236}">
                  <a16:creationId xmlns:a16="http://schemas.microsoft.com/office/drawing/2014/main" id="{7BC43366-4D59-BAE4-3893-E788DD8C49F7}"/>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700" b="1" i="0" u="none" strike="noStrike" kern="0" cap="none" spc="0" normalizeH="0" baseline="0" noProof="0" dirty="0">
                <a:ln>
                  <a:noFill/>
                </a:ln>
                <a:solidFill>
                  <a:schemeClr val="bg1"/>
                </a:solidFill>
                <a:effectLst/>
                <a:uLnTx/>
                <a:uFillTx/>
                <a:latin typeface="Arial"/>
                <a:ea typeface="微软雅黑"/>
                <a:cs typeface="+mn-cs"/>
              </a:endParaRPr>
            </a:p>
          </p:txBody>
        </p:sp>
        <p:sp>
          <p:nvSpPr>
            <p:cNvPr id="49" name="文本框 48">
              <a:extLst>
                <a:ext uri="{FF2B5EF4-FFF2-40B4-BE49-F238E27FC236}">
                  <a16:creationId xmlns:a16="http://schemas.microsoft.com/office/drawing/2014/main" id="{A7916730-5E89-3F82-E472-B8B39F4B14FD}"/>
                </a:ext>
              </a:extLst>
            </p:cNvPr>
            <p:cNvSpPr txBox="1"/>
            <p:nvPr/>
          </p:nvSpPr>
          <p:spPr>
            <a:xfrm>
              <a:off x="2751536" y="1977643"/>
              <a:ext cx="739175"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P2/2</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grpSp>
        <p:nvGrpSpPr>
          <p:cNvPr id="50" name="组合 49">
            <a:extLst>
              <a:ext uri="{FF2B5EF4-FFF2-40B4-BE49-F238E27FC236}">
                <a16:creationId xmlns:a16="http://schemas.microsoft.com/office/drawing/2014/main" id="{75D75A03-CCAB-0AA9-7CCA-EA8693532107}"/>
              </a:ext>
            </a:extLst>
          </p:cNvPr>
          <p:cNvGrpSpPr/>
          <p:nvPr/>
        </p:nvGrpSpPr>
        <p:grpSpPr>
          <a:xfrm>
            <a:off x="4242161" y="1846074"/>
            <a:ext cx="811905" cy="412963"/>
            <a:chOff x="2678806" y="1841679"/>
            <a:chExt cx="811905" cy="412963"/>
          </a:xfrm>
        </p:grpSpPr>
        <p:sp>
          <p:nvSpPr>
            <p:cNvPr id="51" name="等腰三角形 50">
              <a:extLst>
                <a:ext uri="{FF2B5EF4-FFF2-40B4-BE49-F238E27FC236}">
                  <a16:creationId xmlns:a16="http://schemas.microsoft.com/office/drawing/2014/main" id="{9F592D98-EA82-E6DC-772C-A36F8F4E348F}"/>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700" b="1" i="0" u="none" strike="noStrike" kern="0" cap="none" spc="0" normalizeH="0" baseline="0" noProof="0" dirty="0">
                <a:ln>
                  <a:noFill/>
                </a:ln>
                <a:solidFill>
                  <a:schemeClr val="bg1"/>
                </a:solidFill>
                <a:effectLst/>
                <a:uLnTx/>
                <a:uFillTx/>
                <a:latin typeface="Arial"/>
                <a:ea typeface="微软雅黑"/>
                <a:cs typeface="+mn-cs"/>
              </a:endParaRPr>
            </a:p>
          </p:txBody>
        </p:sp>
        <p:sp>
          <p:nvSpPr>
            <p:cNvPr id="52" name="文本框 51">
              <a:extLst>
                <a:ext uri="{FF2B5EF4-FFF2-40B4-BE49-F238E27FC236}">
                  <a16:creationId xmlns:a16="http://schemas.microsoft.com/office/drawing/2014/main" id="{C44F5E52-1DDB-AF20-82B3-9FF942A9F533}"/>
                </a:ext>
              </a:extLst>
            </p:cNvPr>
            <p:cNvSpPr txBox="1"/>
            <p:nvPr/>
          </p:nvSpPr>
          <p:spPr>
            <a:xfrm>
              <a:off x="2751536" y="1977643"/>
              <a:ext cx="739175"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P3/3</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cxnSp>
        <p:nvCxnSpPr>
          <p:cNvPr id="53" name="连接符: 肘形 52">
            <a:extLst>
              <a:ext uri="{FF2B5EF4-FFF2-40B4-BE49-F238E27FC236}">
                <a16:creationId xmlns:a16="http://schemas.microsoft.com/office/drawing/2014/main" id="{51CF0AFE-2539-5CBF-8392-EE58407C45C5}"/>
              </a:ext>
            </a:extLst>
          </p:cNvPr>
          <p:cNvCxnSpPr>
            <a:cxnSpLocks/>
            <a:stCxn id="45" idx="0"/>
            <a:endCxn id="43" idx="2"/>
          </p:cNvCxnSpPr>
          <p:nvPr/>
        </p:nvCxnSpPr>
        <p:spPr>
          <a:xfrm rot="5400000" flipH="1" flipV="1">
            <a:off x="3288765" y="1277802"/>
            <a:ext cx="454209" cy="670603"/>
          </a:xfrm>
          <a:prstGeom prst="bentConnector3">
            <a:avLst>
              <a:gd name="adj1" fmla="val 50000"/>
            </a:avLst>
          </a:prstGeom>
          <a:noFill/>
          <a:ln w="9525" cap="flat" cmpd="sng" algn="ctr">
            <a:solidFill>
              <a:srgbClr val="031329"/>
            </a:solidFill>
            <a:prstDash val="dash"/>
            <a:round/>
            <a:headEnd type="none" w="med" len="med"/>
            <a:tailEnd type="none" w="med" len="med"/>
          </a:ln>
          <a:effectLst/>
        </p:spPr>
      </p:cxnSp>
      <p:cxnSp>
        <p:nvCxnSpPr>
          <p:cNvPr id="54" name="连接符: 肘形 53">
            <a:extLst>
              <a:ext uri="{FF2B5EF4-FFF2-40B4-BE49-F238E27FC236}">
                <a16:creationId xmlns:a16="http://schemas.microsoft.com/office/drawing/2014/main" id="{9D7E7E22-CB54-06D9-6533-369B59D4C7BE}"/>
              </a:ext>
            </a:extLst>
          </p:cNvPr>
          <p:cNvCxnSpPr>
            <a:cxnSpLocks/>
            <a:stCxn id="48" idx="0"/>
            <a:endCxn id="43" idx="2"/>
          </p:cNvCxnSpPr>
          <p:nvPr/>
        </p:nvCxnSpPr>
        <p:spPr>
          <a:xfrm rot="5400000" flipH="1" flipV="1">
            <a:off x="3616539" y="1606226"/>
            <a:ext cx="454859" cy="14405"/>
          </a:xfrm>
          <a:prstGeom prst="bentConnector3">
            <a:avLst/>
          </a:prstGeom>
          <a:noFill/>
          <a:ln w="9525" cap="flat" cmpd="sng" algn="ctr">
            <a:solidFill>
              <a:srgbClr val="031329"/>
            </a:solidFill>
            <a:prstDash val="dash"/>
            <a:round/>
            <a:headEnd type="none" w="med" len="med"/>
            <a:tailEnd type="none" w="med" len="med"/>
          </a:ln>
          <a:effectLst/>
        </p:spPr>
      </p:cxnSp>
      <p:cxnSp>
        <p:nvCxnSpPr>
          <p:cNvPr id="55" name="连接符: 肘形 54">
            <a:extLst>
              <a:ext uri="{FF2B5EF4-FFF2-40B4-BE49-F238E27FC236}">
                <a16:creationId xmlns:a16="http://schemas.microsoft.com/office/drawing/2014/main" id="{D321D5EE-0A70-14B8-E0E1-42A385004C42}"/>
              </a:ext>
            </a:extLst>
          </p:cNvPr>
          <p:cNvCxnSpPr>
            <a:cxnSpLocks/>
            <a:stCxn id="51" idx="0"/>
            <a:endCxn id="43" idx="2"/>
          </p:cNvCxnSpPr>
          <p:nvPr/>
        </p:nvCxnSpPr>
        <p:spPr>
          <a:xfrm rot="16200000" flipV="1">
            <a:off x="3971171" y="1265998"/>
            <a:ext cx="460076" cy="700075"/>
          </a:xfrm>
          <a:prstGeom prst="bentConnector3">
            <a:avLst>
              <a:gd name="adj1" fmla="val 50000"/>
            </a:avLst>
          </a:prstGeom>
          <a:noFill/>
          <a:ln w="9525" cap="flat" cmpd="sng" algn="ctr">
            <a:solidFill>
              <a:srgbClr val="031329"/>
            </a:solidFill>
            <a:prstDash val="dash"/>
            <a:round/>
            <a:headEnd type="none" w="med" len="med"/>
            <a:tailEnd type="none" w="med" len="med"/>
          </a:ln>
          <a:effectLst/>
        </p:spPr>
      </p:cxnSp>
      <p:sp>
        <p:nvSpPr>
          <p:cNvPr id="56" name="矩形 55">
            <a:extLst>
              <a:ext uri="{FF2B5EF4-FFF2-40B4-BE49-F238E27FC236}">
                <a16:creationId xmlns:a16="http://schemas.microsoft.com/office/drawing/2014/main" id="{277337D2-F7FA-EE50-A34B-ECAB820F9141}"/>
              </a:ext>
            </a:extLst>
          </p:cNvPr>
          <p:cNvSpPr/>
          <p:nvPr/>
        </p:nvSpPr>
        <p:spPr>
          <a:xfrm>
            <a:off x="5637695" y="1103605"/>
            <a:ext cx="682596" cy="273268"/>
          </a:xfrm>
          <a:prstGeom prst="rect">
            <a:avLst/>
          </a:prstGeom>
          <a:solidFill>
            <a:srgbClr val="093091"/>
          </a:solidFill>
          <a:ln w="19050"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rPr>
              <a:t>FG21…m</a:t>
            </a:r>
            <a:endParaRPr kumimoji="0" lang="zh-CN" altLang="en-US" sz="105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cs typeface="+mn-cs"/>
            </a:endParaRPr>
          </a:p>
        </p:txBody>
      </p:sp>
      <p:grpSp>
        <p:nvGrpSpPr>
          <p:cNvPr id="57" name="组合 56">
            <a:extLst>
              <a:ext uri="{FF2B5EF4-FFF2-40B4-BE49-F238E27FC236}">
                <a16:creationId xmlns:a16="http://schemas.microsoft.com/office/drawing/2014/main" id="{85088070-A4B2-7805-4189-DB7E75A814E4}"/>
              </a:ext>
            </a:extLst>
          </p:cNvPr>
          <p:cNvGrpSpPr/>
          <p:nvPr/>
        </p:nvGrpSpPr>
        <p:grpSpPr>
          <a:xfrm>
            <a:off x="5674322" y="1864063"/>
            <a:ext cx="811905" cy="412963"/>
            <a:chOff x="2678806" y="1841679"/>
            <a:chExt cx="811905" cy="412963"/>
          </a:xfrm>
        </p:grpSpPr>
        <p:sp>
          <p:nvSpPr>
            <p:cNvPr id="58" name="等腰三角形 57">
              <a:extLst>
                <a:ext uri="{FF2B5EF4-FFF2-40B4-BE49-F238E27FC236}">
                  <a16:creationId xmlns:a16="http://schemas.microsoft.com/office/drawing/2014/main" id="{107648AF-67C6-75ED-F68B-A728DEEC28F1}"/>
                </a:ext>
              </a:extLst>
            </p:cNvPr>
            <p:cNvSpPr/>
            <p:nvPr/>
          </p:nvSpPr>
          <p:spPr>
            <a:xfrm>
              <a:off x="2678806" y="1841679"/>
              <a:ext cx="618170" cy="384518"/>
            </a:xfrm>
            <a:prstGeom prst="triangle">
              <a:avLst/>
            </a:prstGeom>
            <a:solidFill>
              <a:srgbClr val="093091"/>
            </a:solidFill>
            <a:ln w="19050" cap="flat" cmpd="sng" algn="ctr">
              <a:solidFill>
                <a:srgbClr val="FFFFFF"/>
              </a:solid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700" b="1" i="0" u="none" strike="noStrike" kern="0" cap="none" spc="0" normalizeH="0" baseline="0" noProof="0" dirty="0">
                <a:ln>
                  <a:noFill/>
                </a:ln>
                <a:solidFill>
                  <a:schemeClr val="bg1"/>
                </a:solidFill>
                <a:effectLst/>
                <a:uLnTx/>
                <a:uFillTx/>
                <a:latin typeface="Arial"/>
                <a:ea typeface="微软雅黑"/>
                <a:cs typeface="+mn-cs"/>
              </a:endParaRPr>
            </a:p>
          </p:txBody>
        </p:sp>
        <p:sp>
          <p:nvSpPr>
            <p:cNvPr id="59" name="文本框 58">
              <a:extLst>
                <a:ext uri="{FF2B5EF4-FFF2-40B4-BE49-F238E27FC236}">
                  <a16:creationId xmlns:a16="http://schemas.microsoft.com/office/drawing/2014/main" id="{30702B9D-6D27-E699-92EB-210787F1C6F3}"/>
                </a:ext>
              </a:extLst>
            </p:cNvPr>
            <p:cNvSpPr txBox="1"/>
            <p:nvPr/>
          </p:nvSpPr>
          <p:spPr>
            <a:xfrm>
              <a:off x="2751536" y="1977643"/>
              <a:ext cx="739175"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rPr>
                <a:t>P3/1</a:t>
              </a:r>
              <a:endParaRPr kumimoji="0" lang="zh-CN" altLang="en-US" sz="1200" b="1" i="0" u="none" strike="noStrike" kern="0" cap="none" spc="0" normalizeH="0" baseline="0" noProof="0" dirty="0">
                <a:ln>
                  <a:noFill/>
                </a:ln>
                <a:solidFill>
                  <a:schemeClr val="bg1"/>
                </a:solidFill>
                <a:effectLst/>
                <a:uLnTx/>
                <a:uFillTx/>
                <a:latin typeface="Arial" panose="020B0604020202020204" pitchFamily="34" charset="0"/>
                <a:ea typeface="微软雅黑" panose="020B0503020204020204" pitchFamily="34" charset="-122"/>
              </a:endParaRPr>
            </a:p>
          </p:txBody>
        </p:sp>
      </p:grpSp>
      <p:cxnSp>
        <p:nvCxnSpPr>
          <p:cNvPr id="60" name="连接符: 肘形 59">
            <a:extLst>
              <a:ext uri="{FF2B5EF4-FFF2-40B4-BE49-F238E27FC236}">
                <a16:creationId xmlns:a16="http://schemas.microsoft.com/office/drawing/2014/main" id="{5CA3DD2B-1CF0-CA4D-4506-BB79A5523A1C}"/>
              </a:ext>
            </a:extLst>
          </p:cNvPr>
          <p:cNvCxnSpPr>
            <a:cxnSpLocks/>
            <a:stCxn id="58" idx="0"/>
            <a:endCxn id="56" idx="2"/>
          </p:cNvCxnSpPr>
          <p:nvPr/>
        </p:nvCxnSpPr>
        <p:spPr>
          <a:xfrm rot="16200000" flipV="1">
            <a:off x="5737605" y="1618261"/>
            <a:ext cx="487190" cy="4414"/>
          </a:xfrm>
          <a:prstGeom prst="bentConnector3">
            <a:avLst>
              <a:gd name="adj1" fmla="val 50000"/>
            </a:avLst>
          </a:prstGeom>
          <a:noFill/>
          <a:ln w="9525" cap="flat" cmpd="sng" algn="ctr">
            <a:solidFill>
              <a:srgbClr val="031329"/>
            </a:solidFill>
            <a:prstDash val="dash"/>
            <a:round/>
            <a:headEnd type="none" w="med" len="med"/>
            <a:tailEnd type="none" w="med" len="med"/>
          </a:ln>
          <a:effectLst/>
        </p:spPr>
      </p:cxnSp>
      <p:graphicFrame>
        <p:nvGraphicFramePr>
          <p:cNvPr id="61" name="图示 60">
            <a:extLst>
              <a:ext uri="{FF2B5EF4-FFF2-40B4-BE49-F238E27FC236}">
                <a16:creationId xmlns:a16="http://schemas.microsoft.com/office/drawing/2014/main" id="{AE1BA08E-311C-2FC4-3585-C2C23CB789F0}"/>
              </a:ext>
            </a:extLst>
          </p:cNvPr>
          <p:cNvGraphicFramePr/>
          <p:nvPr>
            <p:extLst>
              <p:ext uri="{D42A27DB-BD31-4B8C-83A1-F6EECF244321}">
                <p14:modId xmlns:p14="http://schemas.microsoft.com/office/powerpoint/2010/main" val="2359491546"/>
              </p:ext>
            </p:extLst>
          </p:nvPr>
        </p:nvGraphicFramePr>
        <p:xfrm>
          <a:off x="6856878" y="1399352"/>
          <a:ext cx="4082611" cy="86558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62" name="文本框 61">
            <a:extLst>
              <a:ext uri="{FF2B5EF4-FFF2-40B4-BE49-F238E27FC236}">
                <a16:creationId xmlns:a16="http://schemas.microsoft.com/office/drawing/2014/main" id="{CB09D430-D369-46F9-8BC0-7CB639DCF16B}"/>
              </a:ext>
            </a:extLst>
          </p:cNvPr>
          <p:cNvSpPr txBox="1"/>
          <p:nvPr/>
        </p:nvSpPr>
        <p:spPr>
          <a:xfrm>
            <a:off x="4102996" y="2440290"/>
            <a:ext cx="4753377" cy="369332"/>
          </a:xfrm>
          <a:prstGeom prst="rect">
            <a:avLst/>
          </a:prstGeom>
          <a:noFill/>
        </p:spPr>
        <p:txBody>
          <a:bodyPr wrap="square" rtlCol="0">
            <a:spAutoFit/>
          </a:bodyPr>
          <a:lstStyle/>
          <a:p>
            <a:r>
              <a:rPr lang="zh-CN" altLang="en-US" b="1" dirty="0">
                <a:solidFill>
                  <a:schemeClr val="bg1"/>
                </a:solidFill>
                <a:latin typeface="Arial" panose="020B0604020202020204" pitchFamily="34" charset="0"/>
                <a:ea typeface="微软雅黑" panose="020B0503020204020204" pitchFamily="34" charset="-122"/>
              </a:rPr>
              <a:t>主料剩余的供应才可作为替换料的供应</a:t>
            </a:r>
            <a:endParaRPr lang="zh-CN" altLang="en-US" dirty="0">
              <a:solidFill>
                <a:schemeClr val="bg1"/>
              </a:solidFill>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410305769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4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41"/>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8"/>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063AFD6-CFB8-949D-602E-A9E5CDC444D1}"/>
              </a:ext>
            </a:extLst>
          </p:cNvPr>
          <p:cNvSpPr>
            <a:spLocks noGrp="1"/>
          </p:cNvSpPr>
          <p:nvPr>
            <p:ph type="title"/>
          </p:nvPr>
        </p:nvSpPr>
        <p:spPr>
          <a:xfrm>
            <a:off x="788914" y="-279013"/>
            <a:ext cx="10858500" cy="1028700"/>
          </a:xfrm>
          <a:prstGeom prst="rect">
            <a:avLst/>
          </a:prstGeom>
        </p:spPr>
        <p:txBody>
          <a:bodyPr/>
          <a:lstStyle/>
          <a:p>
            <a:r>
              <a:rPr lang="zh-CN" altLang="en-US" b="1" dirty="0">
                <a:latin typeface="Arial" panose="020B0604020202020204" pitchFamily="34" charset="0"/>
                <a:ea typeface="微软雅黑" panose="020B0503020204020204" pitchFamily="34" charset="-122"/>
              </a:rPr>
              <a:t>什么不是</a:t>
            </a:r>
            <a:r>
              <a:rPr lang="en-US" altLang="zh-CN" b="1" dirty="0">
                <a:latin typeface="Arial" panose="020B0604020202020204" pitchFamily="34" charset="0"/>
                <a:ea typeface="微软雅黑" panose="020B0503020204020204" pitchFamily="34" charset="-122"/>
              </a:rPr>
              <a:t>Digital Planning</a:t>
            </a:r>
            <a:r>
              <a:rPr lang="zh-CN" altLang="en-US" b="1" dirty="0">
                <a:latin typeface="Arial" panose="020B0604020202020204" pitchFamily="34" charset="0"/>
                <a:ea typeface="微软雅黑" panose="020B0503020204020204" pitchFamily="34" charset="-122"/>
              </a:rPr>
              <a:t>？ </a:t>
            </a:r>
            <a:r>
              <a:rPr lang="en-US" altLang="zh-CN" b="1" dirty="0">
                <a:latin typeface="Arial" panose="020B0604020202020204" pitchFamily="34" charset="0"/>
                <a:ea typeface="微软雅黑" panose="020B0503020204020204" pitchFamily="34" charset="-122"/>
              </a:rPr>
              <a:t>- Gartner</a:t>
            </a:r>
            <a:endParaRPr lang="zh-CN" altLang="en-US" dirty="0">
              <a:latin typeface="Arial" panose="020B0604020202020204" pitchFamily="34" charset="0"/>
              <a:ea typeface="微软雅黑" panose="020B0503020204020204" pitchFamily="34" charset="-122"/>
            </a:endParaRPr>
          </a:p>
        </p:txBody>
      </p:sp>
      <p:grpSp>
        <p:nvGrpSpPr>
          <p:cNvPr id="308" name="Group 11">
            <a:extLst>
              <a:ext uri="{FF2B5EF4-FFF2-40B4-BE49-F238E27FC236}">
                <a16:creationId xmlns:a16="http://schemas.microsoft.com/office/drawing/2014/main" id="{B14CDCF1-07F1-D8B7-AC08-EC7648788B70}"/>
              </a:ext>
            </a:extLst>
          </p:cNvPr>
          <p:cNvGrpSpPr>
            <a:grpSpLocks noChangeAspect="1"/>
          </p:cNvGrpSpPr>
          <p:nvPr>
            <p:custDataLst>
              <p:tags r:id="rId1"/>
            </p:custDataLst>
          </p:nvPr>
        </p:nvGrpSpPr>
        <p:grpSpPr>
          <a:xfrm>
            <a:off x="932835" y="1294062"/>
            <a:ext cx="10570657" cy="5039083"/>
            <a:chOff x="660400" y="2210766"/>
            <a:chExt cx="10874739" cy="4024934"/>
          </a:xfrm>
        </p:grpSpPr>
        <p:grpSp>
          <p:nvGrpSpPr>
            <p:cNvPr id="309" name="Group 10">
              <a:extLst>
                <a:ext uri="{FF2B5EF4-FFF2-40B4-BE49-F238E27FC236}">
                  <a16:creationId xmlns:a16="http://schemas.microsoft.com/office/drawing/2014/main" id="{EB7BF1C8-2060-6E81-3CB2-E13A65B15214}"/>
                </a:ext>
              </a:extLst>
            </p:cNvPr>
            <p:cNvGrpSpPr/>
            <p:nvPr/>
          </p:nvGrpSpPr>
          <p:grpSpPr>
            <a:xfrm>
              <a:off x="660400" y="2210766"/>
              <a:ext cx="10871200" cy="963592"/>
              <a:chOff x="660400" y="2210766"/>
              <a:chExt cx="10871200" cy="963592"/>
            </a:xfrm>
          </p:grpSpPr>
          <p:sp>
            <p:nvSpPr>
              <p:cNvPr id="319" name="Title-1">
                <a:extLst>
                  <a:ext uri="{FF2B5EF4-FFF2-40B4-BE49-F238E27FC236}">
                    <a16:creationId xmlns:a16="http://schemas.microsoft.com/office/drawing/2014/main" id="{C6B9865E-B702-58DF-A895-020C005C3824}"/>
                  </a:ext>
                </a:extLst>
              </p:cNvPr>
              <p:cNvSpPr/>
              <p:nvPr>
                <p:custDataLst>
                  <p:tags r:id="rId8"/>
                </p:custDataLst>
              </p:nvPr>
            </p:nvSpPr>
            <p:spPr>
              <a:xfrm>
                <a:off x="660400" y="2210766"/>
                <a:ext cx="3115519" cy="963592"/>
              </a:xfrm>
              <a:prstGeom prst="rect">
                <a:avLst/>
              </a:prstGeom>
              <a:solidFill>
                <a:schemeClr val="accent1">
                  <a:lumMod val="75000"/>
                </a:schemeClr>
              </a:solidFill>
              <a:ln>
                <a:noFill/>
              </a:ln>
              <a:effectLst>
                <a:outerShdw blurRad="254000" dist="127000" dir="2700000" algn="tl" rotWithShape="0">
                  <a:schemeClr val="accent1">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1">
                <a:noAutofit/>
              </a:bodyPr>
              <a:lstStyle/>
              <a:p>
                <a:pPr algn="ctr">
                  <a:lnSpc>
                    <a:spcPct val="100000"/>
                  </a:lnSpc>
                </a:pPr>
                <a:r>
                  <a:rPr lang="zh-CN" altLang="en-US" sz="2000" b="1" dirty="0">
                    <a:solidFill>
                      <a:schemeClr val="tx1"/>
                    </a:solidFill>
                    <a:latin typeface="Arial" panose="020B0604020202020204" pitchFamily="34" charset="0"/>
                    <a:ea typeface="微软雅黑" panose="020B0503020204020204" pitchFamily="34" charset="-122"/>
                  </a:rPr>
                  <a:t>单纯的技术应用 ≠ 数字化计划</a:t>
                </a:r>
              </a:p>
            </p:txBody>
          </p:sp>
          <p:sp>
            <p:nvSpPr>
              <p:cNvPr id="320" name="Body-1">
                <a:extLst>
                  <a:ext uri="{FF2B5EF4-FFF2-40B4-BE49-F238E27FC236}">
                    <a16:creationId xmlns:a16="http://schemas.microsoft.com/office/drawing/2014/main" id="{04B151BF-C3B4-651E-683D-9AEEC60E280A}"/>
                  </a:ext>
                </a:extLst>
              </p:cNvPr>
              <p:cNvSpPr/>
              <p:nvPr>
                <p:custDataLst>
                  <p:tags r:id="rId9"/>
                </p:custDataLst>
              </p:nvPr>
            </p:nvSpPr>
            <p:spPr>
              <a:xfrm>
                <a:off x="3775919" y="2210766"/>
                <a:ext cx="7755681" cy="963592"/>
              </a:xfrm>
              <a:prstGeom prst="rect">
                <a:avLst/>
              </a:prstGeom>
              <a:solidFill>
                <a:schemeClr val="tx2">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80000" rIns="180000" rtlCol="0" anchor="ctr">
                <a:noAutofit/>
              </a:bodyPr>
              <a:lstStyle/>
              <a:p>
                <a:pPr>
                  <a:lnSpc>
                    <a:spcPct val="120000"/>
                  </a:lnSpc>
                </a:pPr>
                <a:r>
                  <a:rPr kumimoji="1" lang="zh-CN" altLang="en-US" sz="1600" b="1" dirty="0">
                    <a:solidFill>
                      <a:schemeClr val="tx1"/>
                    </a:solidFill>
                    <a:latin typeface="Arial" panose="020B0604020202020204" pitchFamily="34" charset="0"/>
                    <a:ea typeface="微软雅黑" panose="020B0503020204020204" pitchFamily="34" charset="-122"/>
                  </a:rPr>
                  <a:t>实例</a:t>
                </a:r>
                <a:r>
                  <a:rPr kumimoji="1" lang="en-US" altLang="zh-CN" sz="1600" b="1" dirty="0">
                    <a:solidFill>
                      <a:schemeClr val="tx1"/>
                    </a:solidFill>
                    <a:latin typeface="Arial" panose="020B0604020202020204" pitchFamily="34" charset="0"/>
                    <a:ea typeface="微软雅黑" panose="020B0503020204020204" pitchFamily="34" charset="-122"/>
                  </a:rPr>
                  <a:t>1</a:t>
                </a:r>
                <a:r>
                  <a:rPr kumimoji="1" lang="zh-CN" altLang="en-US" sz="1600" b="1" dirty="0">
                    <a:solidFill>
                      <a:schemeClr val="tx1"/>
                    </a:solidFill>
                    <a:latin typeface="Arial" panose="020B0604020202020204" pitchFamily="34" charset="0"/>
                    <a:ea typeface="微软雅黑" panose="020B0503020204020204" pitchFamily="34" charset="-122"/>
                  </a:rPr>
                  <a:t>：仅通过</a:t>
                </a:r>
                <a:r>
                  <a:rPr kumimoji="1" lang="en-US" altLang="zh-CN" sz="1600" b="1" dirty="0">
                    <a:solidFill>
                      <a:schemeClr val="tx1"/>
                    </a:solidFill>
                    <a:latin typeface="Arial" panose="020B0604020202020204" pitchFamily="34" charset="0"/>
                    <a:ea typeface="微软雅黑" panose="020B0503020204020204" pitchFamily="34" charset="-122"/>
                  </a:rPr>
                  <a:t>RPA</a:t>
                </a:r>
                <a:r>
                  <a:rPr kumimoji="1" lang="zh-CN" altLang="en-US" sz="1600" b="1" dirty="0">
                    <a:solidFill>
                      <a:schemeClr val="tx1"/>
                    </a:solidFill>
                    <a:latin typeface="Arial" panose="020B0604020202020204" pitchFamily="34" charset="0"/>
                    <a:ea typeface="微软雅黑" panose="020B0503020204020204" pitchFamily="34" charset="-122"/>
                  </a:rPr>
                  <a:t>自动化手工流程（如报表生成），但未改善决策质量。 </a:t>
                </a:r>
              </a:p>
              <a:p>
                <a:pPr>
                  <a:lnSpc>
                    <a:spcPct val="120000"/>
                  </a:lnSpc>
                </a:pPr>
                <a:r>
                  <a:rPr kumimoji="1" lang="zh-CN" altLang="en-US" sz="1600" b="1" dirty="0">
                    <a:solidFill>
                      <a:schemeClr val="tx1"/>
                    </a:solidFill>
                    <a:latin typeface="Arial" panose="020B0604020202020204" pitchFamily="34" charset="0"/>
                    <a:ea typeface="微软雅黑" panose="020B0503020204020204" pitchFamily="34" charset="-122"/>
                  </a:rPr>
                  <a:t>敬告：“自动执行低质量决策仍是低质量决策。”</a:t>
                </a:r>
              </a:p>
              <a:p>
                <a:pPr>
                  <a:lnSpc>
                    <a:spcPct val="120000"/>
                  </a:lnSpc>
                </a:pPr>
                <a:r>
                  <a:rPr kumimoji="1" lang="zh-CN" altLang="en-US" sz="1600" b="1" dirty="0">
                    <a:solidFill>
                      <a:schemeClr val="tx1"/>
                    </a:solidFill>
                    <a:latin typeface="Arial" panose="020B0604020202020204" pitchFamily="34" charset="0"/>
                    <a:ea typeface="微软雅黑" panose="020B0503020204020204" pitchFamily="34" charset="-122"/>
                  </a:rPr>
                  <a:t>实例</a:t>
                </a:r>
                <a:r>
                  <a:rPr kumimoji="1" lang="en-US" altLang="zh-CN" sz="1600" b="1" dirty="0">
                    <a:solidFill>
                      <a:schemeClr val="tx1"/>
                    </a:solidFill>
                    <a:latin typeface="Arial" panose="020B0604020202020204" pitchFamily="34" charset="0"/>
                    <a:ea typeface="微软雅黑" panose="020B0503020204020204" pitchFamily="34" charset="-122"/>
                  </a:rPr>
                  <a:t>2</a:t>
                </a:r>
                <a:r>
                  <a:rPr kumimoji="1" lang="zh-CN" altLang="en-US" sz="1600" b="1" dirty="0">
                    <a:solidFill>
                      <a:schemeClr val="tx1"/>
                    </a:solidFill>
                    <a:latin typeface="Arial" panose="020B0604020202020204" pitchFamily="34" charset="0"/>
                    <a:ea typeface="微软雅黑" panose="020B0503020204020204" pitchFamily="34" charset="-122"/>
                  </a:rPr>
                  <a:t>：在孤立系统应用</a:t>
                </a:r>
                <a:r>
                  <a:rPr kumimoji="1" lang="en-US" altLang="zh-CN" sz="1600" b="1" dirty="0">
                    <a:solidFill>
                      <a:schemeClr val="tx1"/>
                    </a:solidFill>
                    <a:latin typeface="Arial" panose="020B0604020202020204" pitchFamily="34" charset="0"/>
                    <a:ea typeface="微软雅黑" panose="020B0503020204020204" pitchFamily="34" charset="-122"/>
                  </a:rPr>
                  <a:t>ML</a:t>
                </a:r>
                <a:r>
                  <a:rPr kumimoji="1" lang="zh-CN" altLang="en-US" sz="1600" b="1" dirty="0">
                    <a:solidFill>
                      <a:schemeClr val="tx1"/>
                    </a:solidFill>
                    <a:latin typeface="Arial" panose="020B0604020202020204" pitchFamily="34" charset="0"/>
                    <a:ea typeface="微软雅黑" panose="020B0503020204020204" pitchFamily="34" charset="-122"/>
                  </a:rPr>
                  <a:t>提升预测精度，但未整合到全局计划（如预测结果未触发供应链响应）。</a:t>
                </a:r>
              </a:p>
            </p:txBody>
          </p:sp>
        </p:grpSp>
        <p:grpSp>
          <p:nvGrpSpPr>
            <p:cNvPr id="310" name="Group 9">
              <a:extLst>
                <a:ext uri="{FF2B5EF4-FFF2-40B4-BE49-F238E27FC236}">
                  <a16:creationId xmlns:a16="http://schemas.microsoft.com/office/drawing/2014/main" id="{D1127795-E182-6A85-AEA0-72516430BCB2}"/>
                </a:ext>
              </a:extLst>
            </p:cNvPr>
            <p:cNvGrpSpPr/>
            <p:nvPr/>
          </p:nvGrpSpPr>
          <p:grpSpPr>
            <a:xfrm>
              <a:off x="660400" y="3231213"/>
              <a:ext cx="10871200" cy="963592"/>
              <a:chOff x="660400" y="3429001"/>
              <a:chExt cx="10871200" cy="963592"/>
            </a:xfrm>
          </p:grpSpPr>
          <p:sp>
            <p:nvSpPr>
              <p:cNvPr id="317" name="Title-2">
                <a:extLst>
                  <a:ext uri="{FF2B5EF4-FFF2-40B4-BE49-F238E27FC236}">
                    <a16:creationId xmlns:a16="http://schemas.microsoft.com/office/drawing/2014/main" id="{020C5517-4DC0-43A7-1922-E02889CC0921}"/>
                  </a:ext>
                </a:extLst>
              </p:cNvPr>
              <p:cNvSpPr/>
              <p:nvPr>
                <p:custDataLst>
                  <p:tags r:id="rId6"/>
                </p:custDataLst>
              </p:nvPr>
            </p:nvSpPr>
            <p:spPr>
              <a:xfrm>
                <a:off x="660400" y="3429001"/>
                <a:ext cx="3115519" cy="963592"/>
              </a:xfrm>
              <a:prstGeom prst="rect">
                <a:avLst/>
              </a:prstGeom>
              <a:solidFill>
                <a:schemeClr val="accent1">
                  <a:lumMod val="60000"/>
                  <a:lumOff val="4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1">
                <a:noAutofit/>
              </a:bodyPr>
              <a:lstStyle/>
              <a:p>
                <a:pPr algn="ctr">
                  <a:lnSpc>
                    <a:spcPct val="100000"/>
                  </a:lnSpc>
                </a:pPr>
                <a:r>
                  <a:rPr lang="zh-CN" altLang="en-US" sz="2000" b="1" dirty="0">
                    <a:solidFill>
                      <a:schemeClr val="bg1"/>
                    </a:solidFill>
                    <a:latin typeface="Arial" panose="020B0604020202020204" pitchFamily="34" charset="0"/>
                    <a:ea typeface="微软雅黑" panose="020B0503020204020204" pitchFamily="34" charset="-122"/>
                  </a:rPr>
                  <a:t>控制的假象：伪协同与控制塔</a:t>
                </a:r>
              </a:p>
            </p:txBody>
          </p:sp>
          <p:sp>
            <p:nvSpPr>
              <p:cNvPr id="318" name="Body-2">
                <a:extLst>
                  <a:ext uri="{FF2B5EF4-FFF2-40B4-BE49-F238E27FC236}">
                    <a16:creationId xmlns:a16="http://schemas.microsoft.com/office/drawing/2014/main" id="{F390626D-0E01-19BE-0F62-885B6345D6F4}"/>
                  </a:ext>
                </a:extLst>
              </p:cNvPr>
              <p:cNvSpPr/>
              <p:nvPr>
                <p:custDataLst>
                  <p:tags r:id="rId7"/>
                </p:custDataLst>
              </p:nvPr>
            </p:nvSpPr>
            <p:spPr>
              <a:xfrm>
                <a:off x="3775919" y="3429001"/>
                <a:ext cx="7755681" cy="963592"/>
              </a:xfrm>
              <a:prstGeom prst="rect">
                <a:avLst/>
              </a:prstGeom>
              <a:solidFill>
                <a:schemeClr val="tx2">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80000" rIns="180000" rtlCol="0" anchor="ctr">
                <a:noAutofit/>
              </a:bodyPr>
              <a:lstStyle/>
              <a:p>
                <a:pPr>
                  <a:lnSpc>
                    <a:spcPct val="120000"/>
                  </a:lnSpc>
                </a:pPr>
                <a:r>
                  <a:rPr kumimoji="1" lang="zh-CN" altLang="en-US" sz="1600" b="1" dirty="0">
                    <a:solidFill>
                      <a:schemeClr val="tx1"/>
                    </a:solidFill>
                    <a:latin typeface="Arial" panose="020B0604020202020204" pitchFamily="34" charset="0"/>
                    <a:ea typeface="微软雅黑" panose="020B0503020204020204" pitchFamily="34" charset="-122"/>
                  </a:rPr>
                  <a:t>反例：部署</a:t>
                </a:r>
                <a:r>
                  <a:rPr kumimoji="1" lang="zh-CN" altLang="en-US" sz="1600" b="1">
                    <a:solidFill>
                      <a:schemeClr val="tx1"/>
                    </a:solidFill>
                    <a:latin typeface="Arial" panose="020B0604020202020204" pitchFamily="34" charset="0"/>
                    <a:ea typeface="微软雅黑" panose="020B0503020204020204" pitchFamily="34" charset="-122"/>
                  </a:rPr>
                  <a:t>“控制塔”（</a:t>
                </a:r>
                <a:r>
                  <a:rPr kumimoji="1" lang="en-US" altLang="zh-CN" sz="1600" b="1" dirty="0">
                    <a:solidFill>
                      <a:schemeClr val="tx1"/>
                    </a:solidFill>
                    <a:latin typeface="Arial" panose="020B0604020202020204" pitchFamily="34" charset="0"/>
                    <a:ea typeface="微软雅黑" panose="020B0503020204020204" pitchFamily="34" charset="-122"/>
                  </a:rPr>
                  <a:t>Control Tower</a:t>
                </a:r>
                <a:r>
                  <a:rPr kumimoji="1" lang="zh-CN" altLang="en-US" sz="1600" b="1" dirty="0">
                    <a:solidFill>
                      <a:schemeClr val="tx1"/>
                    </a:solidFill>
                    <a:latin typeface="Arial" panose="020B0604020202020204" pitchFamily="34" charset="0"/>
                    <a:ea typeface="微软雅黑" panose="020B0503020204020204" pitchFamily="34" charset="-122"/>
                  </a:rPr>
                  <a:t>）但仅响应警报，无法根除低质量计划引发的异常。 </a:t>
                </a:r>
              </a:p>
              <a:p>
                <a:pPr>
                  <a:lnSpc>
                    <a:spcPct val="120000"/>
                  </a:lnSpc>
                </a:pPr>
                <a:r>
                  <a:rPr kumimoji="1" lang="zh-CN" altLang="en-US" sz="1600" b="1" dirty="0">
                    <a:solidFill>
                      <a:schemeClr val="tx1"/>
                    </a:solidFill>
                    <a:latin typeface="Arial" panose="020B0604020202020204" pitchFamily="34" charset="0"/>
                    <a:ea typeface="微软雅黑" panose="020B0503020204020204" pitchFamily="34" charset="-122"/>
                  </a:rPr>
                  <a:t>敬告：“除非控制塔支持横向和纵向协同，否则仅是治标不治本。”</a:t>
                </a:r>
              </a:p>
            </p:txBody>
          </p:sp>
        </p:grpSp>
        <p:grpSp>
          <p:nvGrpSpPr>
            <p:cNvPr id="311" name="Group 8">
              <a:extLst>
                <a:ext uri="{FF2B5EF4-FFF2-40B4-BE49-F238E27FC236}">
                  <a16:creationId xmlns:a16="http://schemas.microsoft.com/office/drawing/2014/main" id="{F688E08D-36D3-2CC6-B600-29509A4EE0D8}"/>
                </a:ext>
              </a:extLst>
            </p:cNvPr>
            <p:cNvGrpSpPr/>
            <p:nvPr/>
          </p:nvGrpSpPr>
          <p:grpSpPr>
            <a:xfrm>
              <a:off x="663939" y="4251660"/>
              <a:ext cx="10871200" cy="963592"/>
              <a:chOff x="663939" y="4647236"/>
              <a:chExt cx="10871200" cy="963592"/>
            </a:xfrm>
          </p:grpSpPr>
          <p:sp>
            <p:nvSpPr>
              <p:cNvPr id="315" name="Title-3">
                <a:extLst>
                  <a:ext uri="{FF2B5EF4-FFF2-40B4-BE49-F238E27FC236}">
                    <a16:creationId xmlns:a16="http://schemas.microsoft.com/office/drawing/2014/main" id="{DC024A18-0A4C-64D8-81F6-FFAB1BEB72A1}"/>
                  </a:ext>
                </a:extLst>
              </p:cNvPr>
              <p:cNvSpPr/>
              <p:nvPr>
                <p:custDataLst>
                  <p:tags r:id="rId4"/>
                </p:custDataLst>
              </p:nvPr>
            </p:nvSpPr>
            <p:spPr>
              <a:xfrm>
                <a:off x="663939" y="4647236"/>
                <a:ext cx="3115519" cy="963592"/>
              </a:xfrm>
              <a:prstGeom prst="rect">
                <a:avLst/>
              </a:prstGeom>
              <a:solidFill>
                <a:schemeClr val="accent1">
                  <a:lumMod val="75000"/>
                </a:schemeClr>
              </a:solidFill>
              <a:ln>
                <a:noFill/>
              </a:ln>
              <a:effectLst>
                <a:outerShdw blurRad="254000" dist="127000" dir="2700000" algn="tl" rotWithShape="0">
                  <a:schemeClr val="accent1">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1">
                <a:noAutofit/>
              </a:bodyPr>
              <a:lstStyle/>
              <a:p>
                <a:pPr>
                  <a:lnSpc>
                    <a:spcPct val="100000"/>
                  </a:lnSpc>
                </a:pPr>
                <a:r>
                  <a:rPr lang="zh-CN" altLang="en-US" sz="2000" b="1" dirty="0">
                    <a:solidFill>
                      <a:schemeClr val="tx1"/>
                    </a:solidFill>
                    <a:latin typeface="Arial" panose="020B0604020202020204" pitchFamily="34" charset="0"/>
                    <a:ea typeface="微软雅黑" panose="020B0503020204020204" pitchFamily="34" charset="-122"/>
                  </a:rPr>
                  <a:t>数据鼓捣和局部优化</a:t>
                </a:r>
              </a:p>
            </p:txBody>
          </p:sp>
          <p:sp>
            <p:nvSpPr>
              <p:cNvPr id="316" name="Body-3">
                <a:extLst>
                  <a:ext uri="{FF2B5EF4-FFF2-40B4-BE49-F238E27FC236}">
                    <a16:creationId xmlns:a16="http://schemas.microsoft.com/office/drawing/2014/main" id="{F504128C-52CB-8A23-53C4-13D63F7FD2F0}"/>
                  </a:ext>
                </a:extLst>
              </p:cNvPr>
              <p:cNvSpPr/>
              <p:nvPr>
                <p:custDataLst>
                  <p:tags r:id="rId5"/>
                </p:custDataLst>
              </p:nvPr>
            </p:nvSpPr>
            <p:spPr>
              <a:xfrm>
                <a:off x="3779458" y="4647236"/>
                <a:ext cx="7755681" cy="963592"/>
              </a:xfrm>
              <a:prstGeom prst="rect">
                <a:avLst/>
              </a:prstGeom>
              <a:solidFill>
                <a:schemeClr val="tx2">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80000" rIns="180000" rtlCol="0" anchor="ctr">
                <a:noAutofit/>
              </a:bodyPr>
              <a:lstStyle/>
              <a:p>
                <a:pPr>
                  <a:lnSpc>
                    <a:spcPct val="120000"/>
                  </a:lnSpc>
                </a:pPr>
                <a:r>
                  <a:rPr kumimoji="1" lang="zh-CN" altLang="en-US" sz="1600" b="1" dirty="0">
                    <a:solidFill>
                      <a:schemeClr val="tx1"/>
                    </a:solidFill>
                    <a:latin typeface="Arial" panose="020B0604020202020204" pitchFamily="34" charset="0"/>
                    <a:ea typeface="微软雅黑" panose="020B0503020204020204" pitchFamily="34" charset="-122"/>
                  </a:rPr>
                  <a:t>反例：各部门使用数字化工具（如独立的最佳实践模型），但未实现全链路对齐（如销售与生产计划脱节）。</a:t>
                </a:r>
              </a:p>
              <a:p>
                <a:pPr>
                  <a:lnSpc>
                    <a:spcPct val="120000"/>
                  </a:lnSpc>
                </a:pPr>
                <a:r>
                  <a:rPr kumimoji="1" lang="zh-CN" altLang="en-US" sz="1600" b="1" dirty="0">
                    <a:solidFill>
                      <a:schemeClr val="tx1"/>
                    </a:solidFill>
                    <a:latin typeface="Arial" panose="020B0604020202020204" pitchFamily="34" charset="0"/>
                    <a:ea typeface="微软雅黑" panose="020B0503020204020204" pitchFamily="34" charset="-122"/>
                  </a:rPr>
                  <a:t> 敬告： 这被视为“功能筒仓的数字化”，未触及横向与纵向对齐的核心。</a:t>
                </a:r>
              </a:p>
            </p:txBody>
          </p:sp>
        </p:grpSp>
        <p:grpSp>
          <p:nvGrpSpPr>
            <p:cNvPr id="312" name="Group 13">
              <a:extLst>
                <a:ext uri="{FF2B5EF4-FFF2-40B4-BE49-F238E27FC236}">
                  <a16:creationId xmlns:a16="http://schemas.microsoft.com/office/drawing/2014/main" id="{62000749-0CE7-900D-360B-1E3F2325A790}"/>
                </a:ext>
              </a:extLst>
            </p:cNvPr>
            <p:cNvGrpSpPr/>
            <p:nvPr/>
          </p:nvGrpSpPr>
          <p:grpSpPr>
            <a:xfrm>
              <a:off x="663939" y="5272108"/>
              <a:ext cx="10871200" cy="963592"/>
              <a:chOff x="663939" y="4647236"/>
              <a:chExt cx="10871200" cy="963592"/>
            </a:xfrm>
          </p:grpSpPr>
          <p:sp>
            <p:nvSpPr>
              <p:cNvPr id="313" name="Title-4">
                <a:extLst>
                  <a:ext uri="{FF2B5EF4-FFF2-40B4-BE49-F238E27FC236}">
                    <a16:creationId xmlns:a16="http://schemas.microsoft.com/office/drawing/2014/main" id="{ED0F4EBF-9F45-5EFE-8E10-434DEEF179F6}"/>
                  </a:ext>
                </a:extLst>
              </p:cNvPr>
              <p:cNvSpPr/>
              <p:nvPr>
                <p:custDataLst>
                  <p:tags r:id="rId2"/>
                </p:custDataLst>
              </p:nvPr>
            </p:nvSpPr>
            <p:spPr>
              <a:xfrm>
                <a:off x="663939" y="4647236"/>
                <a:ext cx="3115519" cy="963592"/>
              </a:xfrm>
              <a:prstGeom prst="rect">
                <a:avLst/>
              </a:prstGeom>
              <a:solidFill>
                <a:schemeClr val="accent1">
                  <a:lumMod val="60000"/>
                  <a:lumOff val="4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1">
                <a:noAutofit/>
              </a:bodyPr>
              <a:lstStyle/>
              <a:p>
                <a:pPr algn="ctr">
                  <a:lnSpc>
                    <a:spcPct val="100000"/>
                  </a:lnSpc>
                </a:pPr>
                <a:r>
                  <a:rPr lang="zh-CN" altLang="en-US" sz="2000" b="1" dirty="0">
                    <a:solidFill>
                      <a:schemeClr val="bg1"/>
                    </a:solidFill>
                    <a:latin typeface="Arial" panose="020B0604020202020204" pitchFamily="34" charset="0"/>
                    <a:ea typeface="微软雅黑" panose="020B0503020204020204" pitchFamily="34" charset="-122"/>
                  </a:rPr>
                  <a:t>脱离业务价值的“技术先进性”</a:t>
                </a:r>
              </a:p>
            </p:txBody>
          </p:sp>
          <p:sp>
            <p:nvSpPr>
              <p:cNvPr id="314" name="Body-4">
                <a:extLst>
                  <a:ext uri="{FF2B5EF4-FFF2-40B4-BE49-F238E27FC236}">
                    <a16:creationId xmlns:a16="http://schemas.microsoft.com/office/drawing/2014/main" id="{B5794724-CF16-ECB8-684B-2860737F5A97}"/>
                  </a:ext>
                </a:extLst>
              </p:cNvPr>
              <p:cNvSpPr/>
              <p:nvPr>
                <p:custDataLst>
                  <p:tags r:id="rId3"/>
                </p:custDataLst>
              </p:nvPr>
            </p:nvSpPr>
            <p:spPr>
              <a:xfrm>
                <a:off x="3779458" y="4647236"/>
                <a:ext cx="7755681" cy="963592"/>
              </a:xfrm>
              <a:prstGeom prst="rect">
                <a:avLst/>
              </a:prstGeom>
              <a:solidFill>
                <a:schemeClr val="tx2">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80000" rIns="180000" rtlCol="0" anchor="ctr">
                <a:noAutofit/>
              </a:bodyPr>
              <a:lstStyle/>
              <a:p>
                <a:pPr>
                  <a:lnSpc>
                    <a:spcPct val="120000"/>
                  </a:lnSpc>
                </a:pPr>
                <a:r>
                  <a:rPr kumimoji="1" lang="zh-CN" altLang="en-US" sz="1600" b="1" dirty="0">
                    <a:solidFill>
                      <a:schemeClr val="tx1"/>
                    </a:solidFill>
                    <a:latin typeface="Arial" panose="020B0604020202020204" pitchFamily="34" charset="0"/>
                    <a:ea typeface="微软雅黑" panose="020B0503020204020204" pitchFamily="34" charset="-122"/>
                  </a:rPr>
                  <a:t>反例：盲目应用区块链或聊天机器人等技术，但未解决关键决策问题（如供需失衡）。 </a:t>
                </a:r>
              </a:p>
              <a:p>
                <a:pPr>
                  <a:lnSpc>
                    <a:spcPct val="120000"/>
                  </a:lnSpc>
                </a:pPr>
                <a:r>
                  <a:rPr kumimoji="1" lang="zh-CN" altLang="en-US" sz="1600" b="1" dirty="0">
                    <a:solidFill>
                      <a:schemeClr val="tx1"/>
                    </a:solidFill>
                    <a:latin typeface="Arial" panose="020B0604020202020204" pitchFamily="34" charset="0"/>
                    <a:ea typeface="微软雅黑" panose="020B0503020204020204" pitchFamily="34" charset="-122"/>
                  </a:rPr>
                  <a:t>敬告：“真正的数字化指向影响七大维度的技术应用，而非技术本身。”</a:t>
                </a:r>
              </a:p>
            </p:txBody>
          </p:sp>
        </p:grpSp>
      </p:grpSp>
    </p:spTree>
    <p:extLst>
      <p:ext uri="{BB962C8B-B14F-4D97-AF65-F5344CB8AC3E}">
        <p14:creationId xmlns:p14="http://schemas.microsoft.com/office/powerpoint/2010/main" val="1736391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直接连接符 2">
            <a:extLst>
              <a:ext uri="{FF2B5EF4-FFF2-40B4-BE49-F238E27FC236}">
                <a16:creationId xmlns:a16="http://schemas.microsoft.com/office/drawing/2014/main" id="{03FDFDC6-7661-804E-D215-88B53CF7F621}"/>
              </a:ext>
            </a:extLst>
          </p:cNvPr>
          <p:cNvCxnSpPr>
            <a:cxnSpLocks/>
          </p:cNvCxnSpPr>
          <p:nvPr/>
        </p:nvCxnSpPr>
        <p:spPr>
          <a:xfrm>
            <a:off x="4029185" y="2718948"/>
            <a:ext cx="5115115" cy="7374"/>
          </a:xfrm>
          <a:prstGeom prst="line">
            <a:avLst/>
          </a:prstGeom>
        </p:spPr>
        <p:style>
          <a:lnRef idx="1">
            <a:schemeClr val="accent1"/>
          </a:lnRef>
          <a:fillRef idx="0">
            <a:schemeClr val="accent1"/>
          </a:fillRef>
          <a:effectRef idx="0">
            <a:schemeClr val="accent1"/>
          </a:effectRef>
          <a:fontRef idx="minor">
            <a:schemeClr val="tx1"/>
          </a:fontRef>
        </p:style>
      </p:cxnSp>
      <p:cxnSp>
        <p:nvCxnSpPr>
          <p:cNvPr id="4" name="直接连接符 3">
            <a:extLst>
              <a:ext uri="{FF2B5EF4-FFF2-40B4-BE49-F238E27FC236}">
                <a16:creationId xmlns:a16="http://schemas.microsoft.com/office/drawing/2014/main" id="{35303D8B-DFE2-D76D-A4FF-344062EA86BB}"/>
              </a:ext>
            </a:extLst>
          </p:cNvPr>
          <p:cNvCxnSpPr/>
          <p:nvPr/>
        </p:nvCxnSpPr>
        <p:spPr>
          <a:xfrm>
            <a:off x="4493759" y="2549342"/>
            <a:ext cx="0" cy="169607"/>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直接连接符 4">
            <a:extLst>
              <a:ext uri="{FF2B5EF4-FFF2-40B4-BE49-F238E27FC236}">
                <a16:creationId xmlns:a16="http://schemas.microsoft.com/office/drawing/2014/main" id="{2B511DDF-5720-D7D9-079A-2EF92F7C0581}"/>
              </a:ext>
            </a:extLst>
          </p:cNvPr>
          <p:cNvCxnSpPr/>
          <p:nvPr/>
        </p:nvCxnSpPr>
        <p:spPr>
          <a:xfrm>
            <a:off x="4889508" y="2549341"/>
            <a:ext cx="0" cy="169607"/>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直接连接符 5">
            <a:extLst>
              <a:ext uri="{FF2B5EF4-FFF2-40B4-BE49-F238E27FC236}">
                <a16:creationId xmlns:a16="http://schemas.microsoft.com/office/drawing/2014/main" id="{44B4D6E4-0BE5-CEEF-9D04-B2F97AB2DDB5}"/>
              </a:ext>
            </a:extLst>
          </p:cNvPr>
          <p:cNvCxnSpPr/>
          <p:nvPr/>
        </p:nvCxnSpPr>
        <p:spPr>
          <a:xfrm>
            <a:off x="5250843" y="2540739"/>
            <a:ext cx="0" cy="169607"/>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直接连接符 6">
            <a:extLst>
              <a:ext uri="{FF2B5EF4-FFF2-40B4-BE49-F238E27FC236}">
                <a16:creationId xmlns:a16="http://schemas.microsoft.com/office/drawing/2014/main" id="{6AB4F75B-084C-F444-409B-833481465220}"/>
              </a:ext>
            </a:extLst>
          </p:cNvPr>
          <p:cNvCxnSpPr/>
          <p:nvPr/>
        </p:nvCxnSpPr>
        <p:spPr>
          <a:xfrm>
            <a:off x="5599720" y="2549341"/>
            <a:ext cx="0" cy="169607"/>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1BE1E5F2-7C23-2402-85B8-C7BD2F883241}"/>
              </a:ext>
            </a:extLst>
          </p:cNvPr>
          <p:cNvCxnSpPr/>
          <p:nvPr/>
        </p:nvCxnSpPr>
        <p:spPr>
          <a:xfrm>
            <a:off x="5921895" y="2540739"/>
            <a:ext cx="0" cy="169607"/>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720BF337-9B39-D3DC-B472-113E8A26C248}"/>
              </a:ext>
            </a:extLst>
          </p:cNvPr>
          <p:cNvCxnSpPr/>
          <p:nvPr/>
        </p:nvCxnSpPr>
        <p:spPr>
          <a:xfrm>
            <a:off x="6229151" y="2549341"/>
            <a:ext cx="0" cy="169607"/>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直接连接符 9">
            <a:extLst>
              <a:ext uri="{FF2B5EF4-FFF2-40B4-BE49-F238E27FC236}">
                <a16:creationId xmlns:a16="http://schemas.microsoft.com/office/drawing/2014/main" id="{1D676BBC-80D9-CF28-78D5-B4B13535360A}"/>
              </a:ext>
            </a:extLst>
          </p:cNvPr>
          <p:cNvCxnSpPr>
            <a:cxnSpLocks/>
          </p:cNvCxnSpPr>
          <p:nvPr/>
        </p:nvCxnSpPr>
        <p:spPr>
          <a:xfrm>
            <a:off x="6558533" y="2548113"/>
            <a:ext cx="0" cy="178209"/>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直接连接符 10">
            <a:extLst>
              <a:ext uri="{FF2B5EF4-FFF2-40B4-BE49-F238E27FC236}">
                <a16:creationId xmlns:a16="http://schemas.microsoft.com/office/drawing/2014/main" id="{6FEE5632-46DE-3CAB-84C5-D212A7223249}"/>
              </a:ext>
            </a:extLst>
          </p:cNvPr>
          <p:cNvCxnSpPr>
            <a:cxnSpLocks/>
          </p:cNvCxnSpPr>
          <p:nvPr/>
        </p:nvCxnSpPr>
        <p:spPr>
          <a:xfrm>
            <a:off x="6910037" y="2545654"/>
            <a:ext cx="0" cy="169607"/>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直接连接符 11">
            <a:extLst>
              <a:ext uri="{FF2B5EF4-FFF2-40B4-BE49-F238E27FC236}">
                <a16:creationId xmlns:a16="http://schemas.microsoft.com/office/drawing/2014/main" id="{93D03D62-0960-710F-24FE-BFA5850450A0}"/>
              </a:ext>
            </a:extLst>
          </p:cNvPr>
          <p:cNvCxnSpPr>
            <a:cxnSpLocks/>
          </p:cNvCxnSpPr>
          <p:nvPr/>
        </p:nvCxnSpPr>
        <p:spPr>
          <a:xfrm>
            <a:off x="7268914" y="2550567"/>
            <a:ext cx="0" cy="169607"/>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直接连接符 12">
            <a:extLst>
              <a:ext uri="{FF2B5EF4-FFF2-40B4-BE49-F238E27FC236}">
                <a16:creationId xmlns:a16="http://schemas.microsoft.com/office/drawing/2014/main" id="{F08EE167-8773-9E2A-AECC-AC4F037200B2}"/>
              </a:ext>
            </a:extLst>
          </p:cNvPr>
          <p:cNvCxnSpPr>
            <a:cxnSpLocks/>
          </p:cNvCxnSpPr>
          <p:nvPr/>
        </p:nvCxnSpPr>
        <p:spPr>
          <a:xfrm>
            <a:off x="7615503" y="2549340"/>
            <a:ext cx="0" cy="169607"/>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2B2AE7C5-163A-1A7D-9345-F3A8AD711D21}"/>
              </a:ext>
            </a:extLst>
          </p:cNvPr>
          <p:cNvCxnSpPr>
            <a:cxnSpLocks/>
          </p:cNvCxnSpPr>
          <p:nvPr/>
        </p:nvCxnSpPr>
        <p:spPr>
          <a:xfrm>
            <a:off x="8947603" y="2548113"/>
            <a:ext cx="0" cy="169607"/>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直接连接符 14">
            <a:extLst>
              <a:ext uri="{FF2B5EF4-FFF2-40B4-BE49-F238E27FC236}">
                <a16:creationId xmlns:a16="http://schemas.microsoft.com/office/drawing/2014/main" id="{5CB024FE-E749-AEA0-FA71-27A8BFB77956}"/>
              </a:ext>
            </a:extLst>
          </p:cNvPr>
          <p:cNvCxnSpPr>
            <a:cxnSpLocks/>
          </p:cNvCxnSpPr>
          <p:nvPr/>
        </p:nvCxnSpPr>
        <p:spPr>
          <a:xfrm>
            <a:off x="8603643" y="2554256"/>
            <a:ext cx="0" cy="169607"/>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a16="http://schemas.microsoft.com/office/drawing/2014/main" id="{C0701597-1515-CB8D-5CFB-789F061661E7}"/>
              </a:ext>
            </a:extLst>
          </p:cNvPr>
          <p:cNvCxnSpPr>
            <a:cxnSpLocks/>
          </p:cNvCxnSpPr>
          <p:nvPr/>
        </p:nvCxnSpPr>
        <p:spPr>
          <a:xfrm>
            <a:off x="8298844" y="2554256"/>
            <a:ext cx="0" cy="169607"/>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97131CDE-37FF-C3DD-C13E-7E6F2E63FA06}"/>
              </a:ext>
            </a:extLst>
          </p:cNvPr>
          <p:cNvCxnSpPr>
            <a:cxnSpLocks/>
          </p:cNvCxnSpPr>
          <p:nvPr/>
        </p:nvCxnSpPr>
        <p:spPr>
          <a:xfrm>
            <a:off x="7959118" y="2557946"/>
            <a:ext cx="0" cy="168376"/>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5495DD3F-816B-307C-8EA8-EC6561C573BE}"/>
              </a:ext>
            </a:extLst>
          </p:cNvPr>
          <p:cNvCxnSpPr/>
          <p:nvPr/>
        </p:nvCxnSpPr>
        <p:spPr>
          <a:xfrm>
            <a:off x="6229151" y="1627568"/>
            <a:ext cx="0" cy="1924665"/>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直接连接符 18">
            <a:extLst>
              <a:ext uri="{FF2B5EF4-FFF2-40B4-BE49-F238E27FC236}">
                <a16:creationId xmlns:a16="http://schemas.microsoft.com/office/drawing/2014/main" id="{481D6244-7B28-9036-070E-7C23F8B57244}"/>
              </a:ext>
            </a:extLst>
          </p:cNvPr>
          <p:cNvCxnSpPr/>
          <p:nvPr/>
        </p:nvCxnSpPr>
        <p:spPr>
          <a:xfrm>
            <a:off x="7959118" y="1663209"/>
            <a:ext cx="0" cy="1924665"/>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直接连接符 19">
            <a:extLst>
              <a:ext uri="{FF2B5EF4-FFF2-40B4-BE49-F238E27FC236}">
                <a16:creationId xmlns:a16="http://schemas.microsoft.com/office/drawing/2014/main" id="{8F9AECB9-4016-E70F-32CE-6C75D3E993B9}"/>
              </a:ext>
            </a:extLst>
          </p:cNvPr>
          <p:cNvCxnSpPr/>
          <p:nvPr/>
        </p:nvCxnSpPr>
        <p:spPr>
          <a:xfrm>
            <a:off x="4493759" y="1679801"/>
            <a:ext cx="0" cy="1924665"/>
          </a:xfrm>
          <a:prstGeom prst="line">
            <a:avLst/>
          </a:prstGeom>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EEFAABDA-4C65-8C6B-78D9-F4E24B8A1627}"/>
              </a:ext>
            </a:extLst>
          </p:cNvPr>
          <p:cNvSpPr txBox="1"/>
          <p:nvPr/>
        </p:nvSpPr>
        <p:spPr>
          <a:xfrm>
            <a:off x="3174035" y="1948291"/>
            <a:ext cx="212868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Demand</a:t>
            </a:r>
            <a:endParaRPr kumimoji="0" lang="zh-CN" altLang="en-US" sz="12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22" name="文本框 21">
            <a:extLst>
              <a:ext uri="{FF2B5EF4-FFF2-40B4-BE49-F238E27FC236}">
                <a16:creationId xmlns:a16="http://schemas.microsoft.com/office/drawing/2014/main" id="{D0FD8D66-576F-C8C1-A967-72FA0F321299}"/>
              </a:ext>
            </a:extLst>
          </p:cNvPr>
          <p:cNvSpPr txBox="1"/>
          <p:nvPr/>
        </p:nvSpPr>
        <p:spPr>
          <a:xfrm>
            <a:off x="3245188" y="2968361"/>
            <a:ext cx="212868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Supply</a:t>
            </a:r>
            <a:endParaRPr kumimoji="0" lang="zh-CN" altLang="en-US" sz="12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23" name="矩形 22">
            <a:extLst>
              <a:ext uri="{FF2B5EF4-FFF2-40B4-BE49-F238E27FC236}">
                <a16:creationId xmlns:a16="http://schemas.microsoft.com/office/drawing/2014/main" id="{64063D62-9C6E-20B9-522B-9E9156EA8947}"/>
              </a:ext>
            </a:extLst>
          </p:cNvPr>
          <p:cNvSpPr/>
          <p:nvPr/>
        </p:nvSpPr>
        <p:spPr>
          <a:xfrm>
            <a:off x="5864235" y="1493210"/>
            <a:ext cx="352053" cy="278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10</a:t>
            </a:r>
            <a:endParaRPr kumimoji="0" lang="zh-CN" altLang="en-US"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24" name="矩形 23">
            <a:extLst>
              <a:ext uri="{FF2B5EF4-FFF2-40B4-BE49-F238E27FC236}">
                <a16:creationId xmlns:a16="http://schemas.microsoft.com/office/drawing/2014/main" id="{C0F2D597-12D5-E1A1-4829-584B5FC74EFB}"/>
              </a:ext>
            </a:extLst>
          </p:cNvPr>
          <p:cNvSpPr/>
          <p:nvPr/>
        </p:nvSpPr>
        <p:spPr>
          <a:xfrm>
            <a:off x="5872668" y="1814973"/>
            <a:ext cx="340624" cy="329411"/>
          </a:xfrm>
          <a:prstGeom prst="rect">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6</a:t>
            </a:r>
            <a:endParaRPr kumimoji="0" lang="zh-CN" altLang="en-US"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25" name="矩形 24">
            <a:extLst>
              <a:ext uri="{FF2B5EF4-FFF2-40B4-BE49-F238E27FC236}">
                <a16:creationId xmlns:a16="http://schemas.microsoft.com/office/drawing/2014/main" id="{5E8C03D5-A3E7-9BB2-E6DF-B4BF54E72255}"/>
              </a:ext>
            </a:extLst>
          </p:cNvPr>
          <p:cNvSpPr/>
          <p:nvPr/>
        </p:nvSpPr>
        <p:spPr>
          <a:xfrm>
            <a:off x="4113193" y="2941183"/>
            <a:ext cx="317476" cy="276995"/>
          </a:xfrm>
          <a:prstGeom prst="rect">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8</a:t>
            </a:r>
            <a:endParaRPr kumimoji="0" lang="zh-CN" altLang="en-US"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26" name="矩形 25">
            <a:extLst>
              <a:ext uri="{FF2B5EF4-FFF2-40B4-BE49-F238E27FC236}">
                <a16:creationId xmlns:a16="http://schemas.microsoft.com/office/drawing/2014/main" id="{D7AB642D-7833-728F-218D-DB22D46A0DD8}"/>
              </a:ext>
            </a:extLst>
          </p:cNvPr>
          <p:cNvSpPr/>
          <p:nvPr/>
        </p:nvSpPr>
        <p:spPr>
          <a:xfrm>
            <a:off x="5261292" y="2965821"/>
            <a:ext cx="363893" cy="276995"/>
          </a:xfrm>
          <a:prstGeom prst="rect">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15</a:t>
            </a:r>
            <a:endParaRPr kumimoji="0" lang="zh-CN" altLang="en-US"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27" name="矩形 26">
            <a:extLst>
              <a:ext uri="{FF2B5EF4-FFF2-40B4-BE49-F238E27FC236}">
                <a16:creationId xmlns:a16="http://schemas.microsoft.com/office/drawing/2014/main" id="{D7F53BB8-DA8A-5BB1-9530-B6F63FBEFDE5}"/>
              </a:ext>
            </a:extLst>
          </p:cNvPr>
          <p:cNvSpPr/>
          <p:nvPr/>
        </p:nvSpPr>
        <p:spPr>
          <a:xfrm>
            <a:off x="6910582" y="2970467"/>
            <a:ext cx="363893" cy="276995"/>
          </a:xfrm>
          <a:prstGeom prst="rect">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15</a:t>
            </a:r>
            <a:endParaRPr kumimoji="0" lang="zh-CN" altLang="en-US"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28" name="矩形 27">
            <a:extLst>
              <a:ext uri="{FF2B5EF4-FFF2-40B4-BE49-F238E27FC236}">
                <a16:creationId xmlns:a16="http://schemas.microsoft.com/office/drawing/2014/main" id="{698BC718-AC2C-E60D-FD65-ACD00456DC31}"/>
              </a:ext>
            </a:extLst>
          </p:cNvPr>
          <p:cNvSpPr/>
          <p:nvPr/>
        </p:nvSpPr>
        <p:spPr>
          <a:xfrm>
            <a:off x="8028489" y="2970941"/>
            <a:ext cx="363893" cy="276995"/>
          </a:xfrm>
          <a:prstGeom prst="rect">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15</a:t>
            </a:r>
            <a:endParaRPr kumimoji="0" lang="zh-CN" altLang="en-US"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29" name="文本框 28">
            <a:extLst>
              <a:ext uri="{FF2B5EF4-FFF2-40B4-BE49-F238E27FC236}">
                <a16:creationId xmlns:a16="http://schemas.microsoft.com/office/drawing/2014/main" id="{6C19FC0E-6D28-EB79-6406-8413CBB16ADF}"/>
              </a:ext>
            </a:extLst>
          </p:cNvPr>
          <p:cNvSpPr txBox="1"/>
          <p:nvPr/>
        </p:nvSpPr>
        <p:spPr>
          <a:xfrm>
            <a:off x="4108427" y="3242816"/>
            <a:ext cx="377190" cy="25391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S1</a:t>
            </a:r>
            <a:endParaRPr kumimoji="0" lang="zh-CN" altLang="en-US" sz="10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30" name="文本框 29">
            <a:extLst>
              <a:ext uri="{FF2B5EF4-FFF2-40B4-BE49-F238E27FC236}">
                <a16:creationId xmlns:a16="http://schemas.microsoft.com/office/drawing/2014/main" id="{BBE26A4C-9B6C-945C-B7EA-306206E5A983}"/>
              </a:ext>
            </a:extLst>
          </p:cNvPr>
          <p:cNvSpPr txBox="1"/>
          <p:nvPr/>
        </p:nvSpPr>
        <p:spPr>
          <a:xfrm>
            <a:off x="5250843" y="3255910"/>
            <a:ext cx="377190" cy="25391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S2</a:t>
            </a:r>
            <a:endParaRPr kumimoji="0" lang="zh-CN" altLang="en-US" sz="10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31" name="文本框 30">
            <a:extLst>
              <a:ext uri="{FF2B5EF4-FFF2-40B4-BE49-F238E27FC236}">
                <a16:creationId xmlns:a16="http://schemas.microsoft.com/office/drawing/2014/main" id="{ED969CAE-89BB-D495-896C-7704FC837A26}"/>
              </a:ext>
            </a:extLst>
          </p:cNvPr>
          <p:cNvSpPr txBox="1"/>
          <p:nvPr/>
        </p:nvSpPr>
        <p:spPr>
          <a:xfrm>
            <a:off x="6913795" y="3283610"/>
            <a:ext cx="377190" cy="25391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S3</a:t>
            </a:r>
            <a:endParaRPr kumimoji="0" lang="zh-CN" altLang="en-US" sz="10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32" name="文本框 31">
            <a:extLst>
              <a:ext uri="{FF2B5EF4-FFF2-40B4-BE49-F238E27FC236}">
                <a16:creationId xmlns:a16="http://schemas.microsoft.com/office/drawing/2014/main" id="{7C2019A4-18A4-00C7-6511-82CECFE0503D}"/>
              </a:ext>
            </a:extLst>
          </p:cNvPr>
          <p:cNvSpPr txBox="1"/>
          <p:nvPr/>
        </p:nvSpPr>
        <p:spPr>
          <a:xfrm>
            <a:off x="8028489" y="3298317"/>
            <a:ext cx="377190" cy="25391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S4</a:t>
            </a:r>
            <a:endParaRPr kumimoji="0" lang="zh-CN" altLang="en-US" sz="1000" b="1"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33" name="矩形 32">
            <a:extLst>
              <a:ext uri="{FF2B5EF4-FFF2-40B4-BE49-F238E27FC236}">
                <a16:creationId xmlns:a16="http://schemas.microsoft.com/office/drawing/2014/main" id="{DB7E1D80-186A-CE60-04BF-0847777F414A}"/>
              </a:ext>
            </a:extLst>
          </p:cNvPr>
          <p:cNvSpPr/>
          <p:nvPr/>
        </p:nvSpPr>
        <p:spPr>
          <a:xfrm>
            <a:off x="5878917" y="2185088"/>
            <a:ext cx="340624" cy="329411"/>
          </a:xfrm>
          <a:prstGeom prst="rect">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10</a:t>
            </a:r>
            <a:endParaRPr kumimoji="0" lang="zh-CN" altLang="en-US"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34" name="矩形 33">
            <a:extLst>
              <a:ext uri="{FF2B5EF4-FFF2-40B4-BE49-F238E27FC236}">
                <a16:creationId xmlns:a16="http://schemas.microsoft.com/office/drawing/2014/main" id="{4230D9E5-D406-5912-DEEE-907F696AE2BB}"/>
              </a:ext>
            </a:extLst>
          </p:cNvPr>
          <p:cNvSpPr/>
          <p:nvPr/>
        </p:nvSpPr>
        <p:spPr>
          <a:xfrm>
            <a:off x="7599276" y="1486516"/>
            <a:ext cx="352053" cy="278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8</a:t>
            </a:r>
            <a:endParaRPr kumimoji="0" lang="zh-CN" altLang="en-US"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35" name="矩形 34">
            <a:extLst>
              <a:ext uri="{FF2B5EF4-FFF2-40B4-BE49-F238E27FC236}">
                <a16:creationId xmlns:a16="http://schemas.microsoft.com/office/drawing/2014/main" id="{6963785E-F070-DDCF-8DAC-E336A0BAE8FB}"/>
              </a:ext>
            </a:extLst>
          </p:cNvPr>
          <p:cNvSpPr/>
          <p:nvPr/>
        </p:nvSpPr>
        <p:spPr>
          <a:xfrm>
            <a:off x="7607709" y="1808279"/>
            <a:ext cx="340624" cy="329411"/>
          </a:xfrm>
          <a:prstGeom prst="rect">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6</a:t>
            </a:r>
            <a:endParaRPr kumimoji="0" lang="zh-CN" altLang="en-US"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36" name="矩形 35">
            <a:extLst>
              <a:ext uri="{FF2B5EF4-FFF2-40B4-BE49-F238E27FC236}">
                <a16:creationId xmlns:a16="http://schemas.microsoft.com/office/drawing/2014/main" id="{01E6ECD8-A870-A882-E0A9-BE45D9BB34C3}"/>
              </a:ext>
            </a:extLst>
          </p:cNvPr>
          <p:cNvSpPr/>
          <p:nvPr/>
        </p:nvSpPr>
        <p:spPr>
          <a:xfrm>
            <a:off x="7595307" y="2164527"/>
            <a:ext cx="340624" cy="329411"/>
          </a:xfrm>
          <a:prstGeom prst="rect">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8</a:t>
            </a:r>
            <a:endParaRPr kumimoji="0" lang="zh-CN" altLang="en-US" sz="10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37" name="矩形 36">
            <a:extLst>
              <a:ext uri="{FF2B5EF4-FFF2-40B4-BE49-F238E27FC236}">
                <a16:creationId xmlns:a16="http://schemas.microsoft.com/office/drawing/2014/main" id="{792D0714-F712-E1C2-3FCF-B3403FC0371B}"/>
              </a:ext>
            </a:extLst>
          </p:cNvPr>
          <p:cNvSpPr/>
          <p:nvPr/>
        </p:nvSpPr>
        <p:spPr>
          <a:xfrm>
            <a:off x="876606" y="1997531"/>
            <a:ext cx="461532" cy="217205"/>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High</a:t>
            </a:r>
            <a:endParaRPr kumimoji="0" lang="zh-CN" altLang="en-US" sz="800"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38" name="矩形 37">
            <a:extLst>
              <a:ext uri="{FF2B5EF4-FFF2-40B4-BE49-F238E27FC236}">
                <a16:creationId xmlns:a16="http://schemas.microsoft.com/office/drawing/2014/main" id="{BD9FDF27-A052-A258-17AA-1B32334ACFC9}"/>
              </a:ext>
            </a:extLst>
          </p:cNvPr>
          <p:cNvSpPr/>
          <p:nvPr/>
        </p:nvSpPr>
        <p:spPr>
          <a:xfrm>
            <a:off x="864069" y="2358015"/>
            <a:ext cx="461532" cy="217205"/>
          </a:xfrm>
          <a:prstGeom prst="rect">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Med</a:t>
            </a:r>
            <a:endParaRPr kumimoji="0" lang="zh-CN" altLang="en-US" sz="800"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sp>
        <p:nvSpPr>
          <p:cNvPr id="39" name="文本框 38">
            <a:extLst>
              <a:ext uri="{FF2B5EF4-FFF2-40B4-BE49-F238E27FC236}">
                <a16:creationId xmlns:a16="http://schemas.microsoft.com/office/drawing/2014/main" id="{E9F4ED4D-82E5-DD16-0D65-DD489960456C}"/>
              </a:ext>
            </a:extLst>
          </p:cNvPr>
          <p:cNvSpPr txBox="1"/>
          <p:nvPr/>
        </p:nvSpPr>
        <p:spPr>
          <a:xfrm>
            <a:off x="1376684" y="1953126"/>
            <a:ext cx="72478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FIFF</a:t>
            </a:r>
            <a:endParaRPr kumimoji="0" lang="zh-CN" altLang="en-US" sz="11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40" name="文本框 39">
            <a:extLst>
              <a:ext uri="{FF2B5EF4-FFF2-40B4-BE49-F238E27FC236}">
                <a16:creationId xmlns:a16="http://schemas.microsoft.com/office/drawing/2014/main" id="{6E322FD3-AEC1-FA98-344E-CDE7EE783F2C}"/>
              </a:ext>
            </a:extLst>
          </p:cNvPr>
          <p:cNvSpPr txBox="1"/>
          <p:nvPr/>
        </p:nvSpPr>
        <p:spPr>
          <a:xfrm>
            <a:off x="1363634" y="2329232"/>
            <a:ext cx="872957"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Fair Share</a:t>
            </a:r>
            <a:endParaRPr kumimoji="0" lang="zh-CN" altLang="en-US" sz="11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grpSp>
        <p:nvGrpSpPr>
          <p:cNvPr id="41" name="组合 40">
            <a:extLst>
              <a:ext uri="{FF2B5EF4-FFF2-40B4-BE49-F238E27FC236}">
                <a16:creationId xmlns:a16="http://schemas.microsoft.com/office/drawing/2014/main" id="{918BFB55-B019-6F8C-086D-C6F46BFF5E93}"/>
              </a:ext>
            </a:extLst>
          </p:cNvPr>
          <p:cNvGrpSpPr/>
          <p:nvPr/>
        </p:nvGrpSpPr>
        <p:grpSpPr>
          <a:xfrm>
            <a:off x="4271931" y="1554549"/>
            <a:ext cx="1592304" cy="1335014"/>
            <a:chOff x="4271931" y="1437198"/>
            <a:chExt cx="1592304" cy="1335014"/>
          </a:xfrm>
        </p:grpSpPr>
        <p:cxnSp>
          <p:nvCxnSpPr>
            <p:cNvPr id="42" name="连接符: 曲线 41">
              <a:extLst>
                <a:ext uri="{FF2B5EF4-FFF2-40B4-BE49-F238E27FC236}">
                  <a16:creationId xmlns:a16="http://schemas.microsoft.com/office/drawing/2014/main" id="{D2FEB4EB-3BF3-898E-4A83-77D7E777C1FE}"/>
                </a:ext>
              </a:extLst>
            </p:cNvPr>
            <p:cNvCxnSpPr>
              <a:stCxn id="25" idx="0"/>
              <a:endCxn id="23" idx="1"/>
            </p:cNvCxnSpPr>
            <p:nvPr/>
          </p:nvCxnSpPr>
          <p:spPr>
            <a:xfrm rot="5400000" flipH="1" flipV="1">
              <a:off x="4413739" y="1321716"/>
              <a:ext cx="1308688" cy="1592304"/>
            </a:xfrm>
            <a:prstGeom prst="curved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43" name="文本框 42">
              <a:extLst>
                <a:ext uri="{FF2B5EF4-FFF2-40B4-BE49-F238E27FC236}">
                  <a16:creationId xmlns:a16="http://schemas.microsoft.com/office/drawing/2014/main" id="{A10AC6C2-9007-26FA-A013-772EB9058C32}"/>
                </a:ext>
              </a:extLst>
            </p:cNvPr>
            <p:cNvSpPr txBox="1"/>
            <p:nvPr/>
          </p:nvSpPr>
          <p:spPr>
            <a:xfrm>
              <a:off x="4852772" y="1437198"/>
              <a:ext cx="260008"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8</a:t>
              </a:r>
              <a:endParaRPr kumimoji="0" lang="zh-CN" altLang="en-US"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grpSp>
      <p:grpSp>
        <p:nvGrpSpPr>
          <p:cNvPr id="44" name="组合 43">
            <a:extLst>
              <a:ext uri="{FF2B5EF4-FFF2-40B4-BE49-F238E27FC236}">
                <a16:creationId xmlns:a16="http://schemas.microsoft.com/office/drawing/2014/main" id="{C390EA85-50D4-CD52-ADC0-62CF0953E47B}"/>
              </a:ext>
            </a:extLst>
          </p:cNvPr>
          <p:cNvGrpSpPr/>
          <p:nvPr/>
        </p:nvGrpSpPr>
        <p:grpSpPr>
          <a:xfrm>
            <a:off x="5373869" y="1632495"/>
            <a:ext cx="505115" cy="1333326"/>
            <a:chOff x="5307500" y="1586635"/>
            <a:chExt cx="505115" cy="1333326"/>
          </a:xfrm>
        </p:grpSpPr>
        <p:cxnSp>
          <p:nvCxnSpPr>
            <p:cNvPr id="45" name="连接符: 曲线 44">
              <a:extLst>
                <a:ext uri="{FF2B5EF4-FFF2-40B4-BE49-F238E27FC236}">
                  <a16:creationId xmlns:a16="http://schemas.microsoft.com/office/drawing/2014/main" id="{1EE7AB6D-D0F6-F3B9-6062-3496E4691247}"/>
                </a:ext>
              </a:extLst>
            </p:cNvPr>
            <p:cNvCxnSpPr>
              <a:cxnSpLocks/>
              <a:stCxn id="26" idx="0"/>
              <a:endCxn id="23" idx="1"/>
            </p:cNvCxnSpPr>
            <p:nvPr/>
          </p:nvCxnSpPr>
          <p:spPr>
            <a:xfrm rot="5400000" flipH="1" flipV="1">
              <a:off x="4935454" y="2042800"/>
              <a:ext cx="1333326" cy="420996"/>
            </a:xfrm>
            <a:prstGeom prst="curved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46" name="文本框 45">
              <a:extLst>
                <a:ext uri="{FF2B5EF4-FFF2-40B4-BE49-F238E27FC236}">
                  <a16:creationId xmlns:a16="http://schemas.microsoft.com/office/drawing/2014/main" id="{B6284111-F993-C8E6-0611-07BCA56B2D46}"/>
                </a:ext>
              </a:extLst>
            </p:cNvPr>
            <p:cNvSpPr txBox="1"/>
            <p:nvPr/>
          </p:nvSpPr>
          <p:spPr>
            <a:xfrm>
              <a:off x="5307500" y="1638255"/>
              <a:ext cx="260008"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2</a:t>
              </a:r>
              <a:endParaRPr kumimoji="0" lang="zh-CN" altLang="en-US"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grpSp>
      <p:grpSp>
        <p:nvGrpSpPr>
          <p:cNvPr id="47" name="组合 46">
            <a:extLst>
              <a:ext uri="{FF2B5EF4-FFF2-40B4-BE49-F238E27FC236}">
                <a16:creationId xmlns:a16="http://schemas.microsoft.com/office/drawing/2014/main" id="{18F4B85E-7D58-3888-0713-8454F6DC1818}"/>
              </a:ext>
            </a:extLst>
          </p:cNvPr>
          <p:cNvGrpSpPr/>
          <p:nvPr/>
        </p:nvGrpSpPr>
        <p:grpSpPr>
          <a:xfrm>
            <a:off x="6267911" y="1912000"/>
            <a:ext cx="687770" cy="386057"/>
            <a:chOff x="6201542" y="1794649"/>
            <a:chExt cx="687770" cy="386057"/>
          </a:xfrm>
        </p:grpSpPr>
        <p:sp>
          <p:nvSpPr>
            <p:cNvPr id="48" name="右大括号 47">
              <a:extLst>
                <a:ext uri="{FF2B5EF4-FFF2-40B4-BE49-F238E27FC236}">
                  <a16:creationId xmlns:a16="http://schemas.microsoft.com/office/drawing/2014/main" id="{0A995AA7-FDE4-8BF7-5B6C-4D8C5F52FC8D}"/>
                </a:ext>
              </a:extLst>
            </p:cNvPr>
            <p:cNvSpPr/>
            <p:nvPr/>
          </p:nvSpPr>
          <p:spPr>
            <a:xfrm>
              <a:off x="6201542" y="1794649"/>
              <a:ext cx="193529" cy="386057"/>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effectLst/>
                <a:uLnTx/>
                <a:uFillTx/>
                <a:latin typeface="+mn-ea"/>
                <a:cs typeface="+mn-cs"/>
              </a:endParaRPr>
            </a:p>
          </p:txBody>
        </p:sp>
        <p:sp>
          <p:nvSpPr>
            <p:cNvPr id="49" name="文本框 48">
              <a:extLst>
                <a:ext uri="{FF2B5EF4-FFF2-40B4-BE49-F238E27FC236}">
                  <a16:creationId xmlns:a16="http://schemas.microsoft.com/office/drawing/2014/main" id="{75DDAFE1-361C-9EFC-0234-66B1EE119172}"/>
                </a:ext>
              </a:extLst>
            </p:cNvPr>
            <p:cNvSpPr txBox="1"/>
            <p:nvPr/>
          </p:nvSpPr>
          <p:spPr>
            <a:xfrm>
              <a:off x="6350323" y="1854927"/>
              <a:ext cx="53898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3:5</a:t>
              </a:r>
              <a:endParaRPr kumimoji="0" lang="zh-CN" altLang="en-US" sz="12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grpSp>
      <p:grpSp>
        <p:nvGrpSpPr>
          <p:cNvPr id="50" name="组合 49">
            <a:extLst>
              <a:ext uri="{FF2B5EF4-FFF2-40B4-BE49-F238E27FC236}">
                <a16:creationId xmlns:a16="http://schemas.microsoft.com/office/drawing/2014/main" id="{6346ECD5-D384-38CB-362D-29716A9C2305}"/>
              </a:ext>
            </a:extLst>
          </p:cNvPr>
          <p:cNvGrpSpPr/>
          <p:nvPr/>
        </p:nvGrpSpPr>
        <p:grpSpPr>
          <a:xfrm>
            <a:off x="5443238" y="1979680"/>
            <a:ext cx="435680" cy="986142"/>
            <a:chOff x="5443238" y="1836622"/>
            <a:chExt cx="435680" cy="986142"/>
          </a:xfrm>
        </p:grpSpPr>
        <p:grpSp>
          <p:nvGrpSpPr>
            <p:cNvPr id="51" name="组合 50">
              <a:extLst>
                <a:ext uri="{FF2B5EF4-FFF2-40B4-BE49-F238E27FC236}">
                  <a16:creationId xmlns:a16="http://schemas.microsoft.com/office/drawing/2014/main" id="{9F9D9E61-3591-478A-96F1-AA83C2F1EB71}"/>
                </a:ext>
              </a:extLst>
            </p:cNvPr>
            <p:cNvGrpSpPr/>
            <p:nvPr/>
          </p:nvGrpSpPr>
          <p:grpSpPr>
            <a:xfrm>
              <a:off x="5443238" y="1836622"/>
              <a:ext cx="429429" cy="986142"/>
              <a:chOff x="5443238" y="1836622"/>
              <a:chExt cx="429429" cy="986142"/>
            </a:xfrm>
          </p:grpSpPr>
          <p:sp>
            <p:nvSpPr>
              <p:cNvPr id="55" name="文本框 54">
                <a:extLst>
                  <a:ext uri="{FF2B5EF4-FFF2-40B4-BE49-F238E27FC236}">
                    <a16:creationId xmlns:a16="http://schemas.microsoft.com/office/drawing/2014/main" id="{894A30B8-8150-2F02-B292-BC79BE831106}"/>
                  </a:ext>
                </a:extLst>
              </p:cNvPr>
              <p:cNvSpPr txBox="1"/>
              <p:nvPr/>
            </p:nvSpPr>
            <p:spPr>
              <a:xfrm>
                <a:off x="5578669" y="1888242"/>
                <a:ext cx="22585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5</a:t>
                </a:r>
                <a:endParaRPr kumimoji="0" lang="zh-CN" altLang="en-US"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cxnSp>
            <p:nvCxnSpPr>
              <p:cNvPr id="56" name="连接符: 曲线 55">
                <a:extLst>
                  <a:ext uri="{FF2B5EF4-FFF2-40B4-BE49-F238E27FC236}">
                    <a16:creationId xmlns:a16="http://schemas.microsoft.com/office/drawing/2014/main" id="{B09CB8E6-0307-91D1-3B2A-ECC6F0D6BDF5}"/>
                  </a:ext>
                </a:extLst>
              </p:cNvPr>
              <p:cNvCxnSpPr>
                <a:stCxn id="26" idx="0"/>
                <a:endCxn id="24" idx="1"/>
              </p:cNvCxnSpPr>
              <p:nvPr/>
            </p:nvCxnSpPr>
            <p:spPr>
              <a:xfrm rot="5400000" flipH="1" flipV="1">
                <a:off x="5164882" y="2114978"/>
                <a:ext cx="986142" cy="429429"/>
              </a:xfrm>
              <a:prstGeom prst="curvedConnector2">
                <a:avLst/>
              </a:prstGeom>
              <a:ln>
                <a:tailEnd type="triangle"/>
              </a:ln>
            </p:spPr>
            <p:style>
              <a:lnRef idx="1">
                <a:schemeClr val="accent1"/>
              </a:lnRef>
              <a:fillRef idx="0">
                <a:schemeClr val="accent1"/>
              </a:fillRef>
              <a:effectRef idx="0">
                <a:schemeClr val="accent1"/>
              </a:effectRef>
              <a:fontRef idx="minor">
                <a:schemeClr val="tx1"/>
              </a:fontRef>
            </p:style>
          </p:cxnSp>
        </p:grpSp>
        <p:grpSp>
          <p:nvGrpSpPr>
            <p:cNvPr id="52" name="组合 51">
              <a:extLst>
                <a:ext uri="{FF2B5EF4-FFF2-40B4-BE49-F238E27FC236}">
                  <a16:creationId xmlns:a16="http://schemas.microsoft.com/office/drawing/2014/main" id="{25E4BD75-8550-FC9F-3DDD-36BAEC8EE3D5}"/>
                </a:ext>
              </a:extLst>
            </p:cNvPr>
            <p:cNvGrpSpPr/>
            <p:nvPr/>
          </p:nvGrpSpPr>
          <p:grpSpPr>
            <a:xfrm>
              <a:off x="5443240" y="2206736"/>
              <a:ext cx="435678" cy="616027"/>
              <a:chOff x="5443240" y="2206736"/>
              <a:chExt cx="435678" cy="616027"/>
            </a:xfrm>
          </p:grpSpPr>
          <p:cxnSp>
            <p:nvCxnSpPr>
              <p:cNvPr id="53" name="连接符: 曲线 52">
                <a:extLst>
                  <a:ext uri="{FF2B5EF4-FFF2-40B4-BE49-F238E27FC236}">
                    <a16:creationId xmlns:a16="http://schemas.microsoft.com/office/drawing/2014/main" id="{BD7AEBAC-BFF4-4977-3096-8F6F681BA541}"/>
                  </a:ext>
                </a:extLst>
              </p:cNvPr>
              <p:cNvCxnSpPr>
                <a:stCxn id="26" idx="0"/>
                <a:endCxn id="33" idx="1"/>
              </p:cNvCxnSpPr>
              <p:nvPr/>
            </p:nvCxnSpPr>
            <p:spPr>
              <a:xfrm rot="5400000" flipH="1" flipV="1">
                <a:off x="5353065" y="2296911"/>
                <a:ext cx="616027" cy="435678"/>
              </a:xfrm>
              <a:prstGeom prst="curved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54" name="文本框 53">
                <a:extLst>
                  <a:ext uri="{FF2B5EF4-FFF2-40B4-BE49-F238E27FC236}">
                    <a16:creationId xmlns:a16="http://schemas.microsoft.com/office/drawing/2014/main" id="{6121B980-BA7D-1A08-A7F0-1073781324F1}"/>
                  </a:ext>
                </a:extLst>
              </p:cNvPr>
              <p:cNvSpPr txBox="1"/>
              <p:nvPr/>
            </p:nvSpPr>
            <p:spPr>
              <a:xfrm>
                <a:off x="5560641" y="2280463"/>
                <a:ext cx="22585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7</a:t>
                </a:r>
                <a:endParaRPr kumimoji="0" lang="zh-CN" altLang="en-US"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grpSp>
      </p:grpSp>
      <p:grpSp>
        <p:nvGrpSpPr>
          <p:cNvPr id="57" name="组合 56">
            <a:extLst>
              <a:ext uri="{FF2B5EF4-FFF2-40B4-BE49-F238E27FC236}">
                <a16:creationId xmlns:a16="http://schemas.microsoft.com/office/drawing/2014/main" id="{38CE97AC-8953-190A-DEBA-65010FE22C99}"/>
              </a:ext>
            </a:extLst>
          </p:cNvPr>
          <p:cNvGrpSpPr/>
          <p:nvPr/>
        </p:nvGrpSpPr>
        <p:grpSpPr>
          <a:xfrm>
            <a:off x="6213292" y="1979679"/>
            <a:ext cx="879237" cy="990788"/>
            <a:chOff x="6213292" y="1979679"/>
            <a:chExt cx="879237" cy="990788"/>
          </a:xfrm>
        </p:grpSpPr>
        <p:cxnSp>
          <p:nvCxnSpPr>
            <p:cNvPr id="58" name="连接符: 曲线 57">
              <a:extLst>
                <a:ext uri="{FF2B5EF4-FFF2-40B4-BE49-F238E27FC236}">
                  <a16:creationId xmlns:a16="http://schemas.microsoft.com/office/drawing/2014/main" id="{98249CAE-A4F0-139D-EB75-0DC9C92381A6}"/>
                </a:ext>
              </a:extLst>
            </p:cNvPr>
            <p:cNvCxnSpPr>
              <a:cxnSpLocks/>
              <a:stCxn id="27" idx="0"/>
              <a:endCxn id="24" idx="3"/>
            </p:cNvCxnSpPr>
            <p:nvPr/>
          </p:nvCxnSpPr>
          <p:spPr>
            <a:xfrm rot="16200000" flipV="1">
              <a:off x="6157517" y="2035454"/>
              <a:ext cx="990788" cy="879237"/>
            </a:xfrm>
            <a:prstGeom prst="curved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59" name="七边形 58">
              <a:extLst>
                <a:ext uri="{FF2B5EF4-FFF2-40B4-BE49-F238E27FC236}">
                  <a16:creationId xmlns:a16="http://schemas.microsoft.com/office/drawing/2014/main" id="{37835C03-E41E-C889-A189-03EFDD1B752D}"/>
                </a:ext>
              </a:extLst>
            </p:cNvPr>
            <p:cNvSpPr/>
            <p:nvPr/>
          </p:nvSpPr>
          <p:spPr>
            <a:xfrm>
              <a:off x="6685870" y="2052587"/>
              <a:ext cx="135434" cy="147017"/>
            </a:xfrm>
            <a:prstGeom prst="heptagon">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dirty="0">
                  <a:ln>
                    <a:noFill/>
                  </a:ln>
                  <a:solidFill>
                    <a:srgbClr val="031329"/>
                  </a:solidFill>
                  <a:effectLst/>
                  <a:uLnTx/>
                  <a:uFillTx/>
                  <a:latin typeface="Arial" panose="020B0604020202020204" pitchFamily="34" charset="0"/>
                  <a:ea typeface="微软雅黑" panose="020B0503020204020204" pitchFamily="34" charset="-122"/>
                  <a:cs typeface="+mn-cs"/>
                </a:rPr>
                <a:t>1</a:t>
              </a:r>
              <a:endParaRPr kumimoji="0" lang="zh-CN" altLang="en-US" sz="1000" b="1" i="0" u="none" strike="noStrike" kern="1200" cap="none" spc="0" normalizeH="0" baseline="0" noProof="0" dirty="0">
                <a:ln>
                  <a:noFill/>
                </a:ln>
                <a:solidFill>
                  <a:srgbClr val="031329"/>
                </a:solidFill>
                <a:effectLst/>
                <a:uLnTx/>
                <a:uFillTx/>
                <a:latin typeface="Arial" panose="020B0604020202020204" pitchFamily="34" charset="0"/>
                <a:ea typeface="微软雅黑" panose="020B0503020204020204" pitchFamily="34" charset="-122"/>
                <a:cs typeface="+mn-cs"/>
              </a:endParaRPr>
            </a:p>
          </p:txBody>
        </p:sp>
      </p:grpSp>
      <p:cxnSp>
        <p:nvCxnSpPr>
          <p:cNvPr id="60" name="连接符: 曲线 59">
            <a:extLst>
              <a:ext uri="{FF2B5EF4-FFF2-40B4-BE49-F238E27FC236}">
                <a16:creationId xmlns:a16="http://schemas.microsoft.com/office/drawing/2014/main" id="{75C09808-C9D1-4F56-5380-BD2131F15FE3}"/>
              </a:ext>
            </a:extLst>
          </p:cNvPr>
          <p:cNvCxnSpPr>
            <a:cxnSpLocks/>
            <a:stCxn id="27" idx="0"/>
            <a:endCxn id="33" idx="3"/>
          </p:cNvCxnSpPr>
          <p:nvPr/>
        </p:nvCxnSpPr>
        <p:spPr>
          <a:xfrm rot="16200000" flipV="1">
            <a:off x="6345699" y="2223637"/>
            <a:ext cx="620673" cy="872988"/>
          </a:xfrm>
          <a:prstGeom prst="curved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61" name="七边形 60">
            <a:extLst>
              <a:ext uri="{FF2B5EF4-FFF2-40B4-BE49-F238E27FC236}">
                <a16:creationId xmlns:a16="http://schemas.microsoft.com/office/drawing/2014/main" id="{4DA120C7-3FF1-ED59-2857-BDF11C78DD59}"/>
              </a:ext>
            </a:extLst>
          </p:cNvPr>
          <p:cNvSpPr/>
          <p:nvPr/>
        </p:nvSpPr>
        <p:spPr>
          <a:xfrm>
            <a:off x="6596172" y="2395876"/>
            <a:ext cx="135434" cy="147017"/>
          </a:xfrm>
          <a:prstGeom prst="heptagon">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noProof="0" dirty="0">
                <a:ln>
                  <a:noFill/>
                </a:ln>
                <a:solidFill>
                  <a:srgbClr val="031329"/>
                </a:solidFill>
                <a:effectLst/>
                <a:uLnTx/>
                <a:uFillTx/>
                <a:latin typeface="Arial" panose="020B0604020202020204" pitchFamily="34" charset="0"/>
                <a:ea typeface="微软雅黑" panose="020B0503020204020204" pitchFamily="34" charset="-122"/>
                <a:cs typeface="+mn-cs"/>
              </a:rPr>
              <a:t>1</a:t>
            </a:r>
            <a:endParaRPr kumimoji="0" lang="zh-CN" altLang="en-US" sz="1000" b="1" i="0" u="none" strike="noStrike" kern="1200" cap="none" spc="0" normalizeH="0" baseline="0" noProof="0" dirty="0">
              <a:ln>
                <a:noFill/>
              </a:ln>
              <a:solidFill>
                <a:srgbClr val="031329"/>
              </a:solidFill>
              <a:effectLst/>
              <a:uLnTx/>
              <a:uFillTx/>
              <a:latin typeface="Arial" panose="020B0604020202020204" pitchFamily="34" charset="0"/>
              <a:ea typeface="微软雅黑" panose="020B0503020204020204" pitchFamily="34" charset="-122"/>
              <a:cs typeface="+mn-cs"/>
            </a:endParaRPr>
          </a:p>
        </p:txBody>
      </p:sp>
      <p:grpSp>
        <p:nvGrpSpPr>
          <p:cNvPr id="62" name="组合 61">
            <a:extLst>
              <a:ext uri="{FF2B5EF4-FFF2-40B4-BE49-F238E27FC236}">
                <a16:creationId xmlns:a16="http://schemas.microsoft.com/office/drawing/2014/main" id="{9DB22715-1146-7D9F-26CC-DFEA6FAD27D9}"/>
              </a:ext>
            </a:extLst>
          </p:cNvPr>
          <p:cNvGrpSpPr/>
          <p:nvPr/>
        </p:nvGrpSpPr>
        <p:grpSpPr>
          <a:xfrm>
            <a:off x="7092528" y="1625802"/>
            <a:ext cx="519561" cy="1344666"/>
            <a:chOff x="7079714" y="1558151"/>
            <a:chExt cx="519561" cy="1344666"/>
          </a:xfrm>
        </p:grpSpPr>
        <p:cxnSp>
          <p:nvCxnSpPr>
            <p:cNvPr id="63" name="连接符: 曲线 62">
              <a:extLst>
                <a:ext uri="{FF2B5EF4-FFF2-40B4-BE49-F238E27FC236}">
                  <a16:creationId xmlns:a16="http://schemas.microsoft.com/office/drawing/2014/main" id="{5F845689-12C9-AA36-179B-0906DC3A30C0}"/>
                </a:ext>
              </a:extLst>
            </p:cNvPr>
            <p:cNvCxnSpPr>
              <a:stCxn id="27" idx="0"/>
              <a:endCxn id="34" idx="1"/>
            </p:cNvCxnSpPr>
            <p:nvPr/>
          </p:nvCxnSpPr>
          <p:spPr>
            <a:xfrm rot="5400000" flipH="1" flipV="1">
              <a:off x="6673569" y="1977110"/>
              <a:ext cx="1344666" cy="506747"/>
            </a:xfrm>
            <a:prstGeom prst="curved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CBC21B6B-BCF1-B837-80E6-F588654FA0CB}"/>
                </a:ext>
              </a:extLst>
            </p:cNvPr>
            <p:cNvSpPr txBox="1"/>
            <p:nvPr/>
          </p:nvSpPr>
          <p:spPr>
            <a:xfrm>
              <a:off x="7079714" y="1609771"/>
              <a:ext cx="278812"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8</a:t>
              </a:r>
              <a:endParaRPr kumimoji="0" lang="zh-CN" altLang="en-US"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grpSp>
      <p:graphicFrame>
        <p:nvGraphicFramePr>
          <p:cNvPr id="65" name="表格 64">
            <a:extLst>
              <a:ext uri="{FF2B5EF4-FFF2-40B4-BE49-F238E27FC236}">
                <a16:creationId xmlns:a16="http://schemas.microsoft.com/office/drawing/2014/main" id="{22E75A3E-4DB3-2D97-605A-7EA5F3F768C3}"/>
              </a:ext>
            </a:extLst>
          </p:cNvPr>
          <p:cNvGraphicFramePr>
            <a:graphicFrameLocks noGrp="1"/>
          </p:cNvGraphicFramePr>
          <p:nvPr>
            <p:extLst>
              <p:ext uri="{D42A27DB-BD31-4B8C-83A1-F6EECF244321}">
                <p14:modId xmlns:p14="http://schemas.microsoft.com/office/powerpoint/2010/main" val="1037916239"/>
              </p:ext>
            </p:extLst>
          </p:nvPr>
        </p:nvGraphicFramePr>
        <p:xfrm>
          <a:off x="9250307" y="1233444"/>
          <a:ext cx="2380721" cy="2072376"/>
        </p:xfrm>
        <a:graphic>
          <a:graphicData uri="http://schemas.openxmlformats.org/drawingml/2006/table">
            <a:tbl>
              <a:tblPr firstRow="1" bandRow="1">
                <a:tableStyleId>{69012ECD-51FC-41F1-AA8D-1B2483CD663E}</a:tableStyleId>
              </a:tblPr>
              <a:tblGrid>
                <a:gridCol w="585893">
                  <a:extLst>
                    <a:ext uri="{9D8B030D-6E8A-4147-A177-3AD203B41FA5}">
                      <a16:colId xmlns:a16="http://schemas.microsoft.com/office/drawing/2014/main" val="1508689377"/>
                    </a:ext>
                  </a:extLst>
                </a:gridCol>
                <a:gridCol w="573405">
                  <a:extLst>
                    <a:ext uri="{9D8B030D-6E8A-4147-A177-3AD203B41FA5}">
                      <a16:colId xmlns:a16="http://schemas.microsoft.com/office/drawing/2014/main" val="2151564550"/>
                    </a:ext>
                  </a:extLst>
                </a:gridCol>
                <a:gridCol w="670243">
                  <a:extLst>
                    <a:ext uri="{9D8B030D-6E8A-4147-A177-3AD203B41FA5}">
                      <a16:colId xmlns:a16="http://schemas.microsoft.com/office/drawing/2014/main" val="1045738506"/>
                    </a:ext>
                  </a:extLst>
                </a:gridCol>
                <a:gridCol w="551180">
                  <a:extLst>
                    <a:ext uri="{9D8B030D-6E8A-4147-A177-3AD203B41FA5}">
                      <a16:colId xmlns:a16="http://schemas.microsoft.com/office/drawing/2014/main" val="2053909415"/>
                    </a:ext>
                  </a:extLst>
                </a:gridCol>
              </a:tblGrid>
              <a:tr h="274056">
                <a:tc>
                  <a:txBody>
                    <a:bodyPr/>
                    <a:lstStyle/>
                    <a:p>
                      <a:r>
                        <a:rPr lang="en-US" altLang="zh-CN" sz="800" dirty="0">
                          <a:latin typeface="Arial" panose="020B0604020202020204" pitchFamily="34" charset="0"/>
                          <a:ea typeface="微软雅黑" panose="020B0503020204020204" pitchFamily="34" charset="-122"/>
                        </a:rPr>
                        <a:t>Demand</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Net Qty</a:t>
                      </a:r>
                      <a:endParaRPr lang="zh-CN" altLang="en-US" sz="800" dirty="0">
                        <a:latin typeface="Arial" panose="020B0604020202020204" pitchFamily="34" charset="0"/>
                        <a:ea typeface="微软雅黑" panose="020B0503020204020204" pitchFamily="34" charset="-122"/>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800" dirty="0">
                          <a:latin typeface="Arial" panose="020B0604020202020204" pitchFamily="34" charset="0"/>
                          <a:ea typeface="微软雅黑" panose="020B0503020204020204" pitchFamily="34" charset="-122"/>
                        </a:rPr>
                        <a:t>Allocated</a:t>
                      </a:r>
                      <a:endParaRPr lang="zh-CN" altLang="en-US" sz="800" dirty="0">
                        <a:latin typeface="Arial" panose="020B0604020202020204" pitchFamily="34" charset="0"/>
                        <a:ea typeface="微软雅黑" panose="020B0503020204020204" pitchFamily="34" charset="-122"/>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800" dirty="0">
                          <a:latin typeface="Arial" panose="020B0604020202020204" pitchFamily="34" charset="0"/>
                          <a:ea typeface="微软雅黑" panose="020B0503020204020204" pitchFamily="34" charset="-122"/>
                        </a:rPr>
                        <a:t>Supply</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961309310"/>
                  </a:ext>
                </a:extLst>
              </a:tr>
              <a:tr h="203925">
                <a:tc>
                  <a:txBody>
                    <a:bodyPr/>
                    <a:lstStyle/>
                    <a:p>
                      <a:r>
                        <a:rPr lang="en-US" altLang="zh-CN" sz="800" dirty="0">
                          <a:latin typeface="Arial" panose="020B0604020202020204" pitchFamily="34" charset="0"/>
                          <a:ea typeface="微软雅黑" panose="020B0503020204020204" pitchFamily="34" charset="-122"/>
                        </a:rPr>
                        <a:t>D4</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8</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8</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S3</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566492801"/>
                  </a:ext>
                </a:extLst>
              </a:tr>
              <a:tr h="203925">
                <a:tc>
                  <a:txBody>
                    <a:bodyPr/>
                    <a:lstStyle/>
                    <a:p>
                      <a:r>
                        <a:rPr lang="en-US" altLang="zh-CN" sz="800" dirty="0">
                          <a:latin typeface="Arial" panose="020B0604020202020204" pitchFamily="34" charset="0"/>
                          <a:ea typeface="微软雅黑" panose="020B0503020204020204" pitchFamily="34" charset="-122"/>
                        </a:rPr>
                        <a:t>D2</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1</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=7*1/18 round to 1</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S3</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134353205"/>
                  </a:ext>
                </a:extLst>
              </a:tr>
              <a:tr h="203925">
                <a:tc>
                  <a:txBody>
                    <a:bodyPr/>
                    <a:lstStyle/>
                    <a:p>
                      <a:r>
                        <a:rPr lang="en-US" altLang="zh-CN" sz="800" dirty="0">
                          <a:latin typeface="Arial" panose="020B0604020202020204" pitchFamily="34" charset="0"/>
                          <a:ea typeface="微软雅黑" panose="020B0503020204020204" pitchFamily="34" charset="-122"/>
                        </a:rPr>
                        <a:t>D3</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3</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=(7-1)*3/17 round to 1</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S3</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829725099"/>
                  </a:ext>
                </a:extLst>
              </a:tr>
              <a:tr h="203925">
                <a:tc>
                  <a:txBody>
                    <a:bodyPr/>
                    <a:lstStyle/>
                    <a:p>
                      <a:r>
                        <a:rPr lang="en-US" altLang="zh-CN" sz="800" dirty="0">
                          <a:latin typeface="Arial" panose="020B0604020202020204" pitchFamily="34" charset="0"/>
                          <a:ea typeface="微软雅黑" panose="020B0503020204020204" pitchFamily="34" charset="-122"/>
                        </a:rPr>
                        <a:t>D5</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6</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=(6-1)*6/16 round to 2</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S3</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455905225"/>
                  </a:ext>
                </a:extLst>
              </a:tr>
              <a:tr h="203925">
                <a:tc>
                  <a:txBody>
                    <a:bodyPr/>
                    <a:lstStyle/>
                    <a:p>
                      <a:r>
                        <a:rPr lang="en-US" altLang="zh-CN" sz="800" dirty="0">
                          <a:latin typeface="Arial" panose="020B0604020202020204" pitchFamily="34" charset="0"/>
                          <a:ea typeface="微软雅黑" panose="020B0503020204020204" pitchFamily="34" charset="-122"/>
                        </a:rPr>
                        <a:t>D6</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8</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Round to 3</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S3</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617824315"/>
                  </a:ext>
                </a:extLst>
              </a:tr>
            </a:tbl>
          </a:graphicData>
        </a:graphic>
      </p:graphicFrame>
      <p:grpSp>
        <p:nvGrpSpPr>
          <p:cNvPr id="66" name="组合 65">
            <a:extLst>
              <a:ext uri="{FF2B5EF4-FFF2-40B4-BE49-F238E27FC236}">
                <a16:creationId xmlns:a16="http://schemas.microsoft.com/office/drawing/2014/main" id="{5C365801-2D09-2C62-A0A5-B71536EB1593}"/>
              </a:ext>
            </a:extLst>
          </p:cNvPr>
          <p:cNvGrpSpPr/>
          <p:nvPr/>
        </p:nvGrpSpPr>
        <p:grpSpPr>
          <a:xfrm>
            <a:off x="7092529" y="1972985"/>
            <a:ext cx="515180" cy="997482"/>
            <a:chOff x="7092529" y="1909256"/>
            <a:chExt cx="515180" cy="997482"/>
          </a:xfrm>
        </p:grpSpPr>
        <p:cxnSp>
          <p:nvCxnSpPr>
            <p:cNvPr id="67" name="连接符: 曲线 66">
              <a:extLst>
                <a:ext uri="{FF2B5EF4-FFF2-40B4-BE49-F238E27FC236}">
                  <a16:creationId xmlns:a16="http://schemas.microsoft.com/office/drawing/2014/main" id="{B410AAE6-B8A4-E3B9-0B3D-77C85665477A}"/>
                </a:ext>
              </a:extLst>
            </p:cNvPr>
            <p:cNvCxnSpPr>
              <a:stCxn id="27" idx="0"/>
              <a:endCxn id="35" idx="1"/>
            </p:cNvCxnSpPr>
            <p:nvPr/>
          </p:nvCxnSpPr>
          <p:spPr>
            <a:xfrm rot="5400000" flipH="1" flipV="1">
              <a:off x="6851378" y="2150407"/>
              <a:ext cx="997482" cy="515180"/>
            </a:xfrm>
            <a:prstGeom prst="curved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4F418B03-D6A4-2391-B992-1644F40E341E}"/>
                </a:ext>
              </a:extLst>
            </p:cNvPr>
            <p:cNvSpPr txBox="1"/>
            <p:nvPr/>
          </p:nvSpPr>
          <p:spPr>
            <a:xfrm>
              <a:off x="7252996" y="1960876"/>
              <a:ext cx="13808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2</a:t>
              </a:r>
              <a:endParaRPr kumimoji="0" lang="zh-CN" altLang="en-US"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grpSp>
      <p:grpSp>
        <p:nvGrpSpPr>
          <p:cNvPr id="69" name="组合 68">
            <a:extLst>
              <a:ext uri="{FF2B5EF4-FFF2-40B4-BE49-F238E27FC236}">
                <a16:creationId xmlns:a16="http://schemas.microsoft.com/office/drawing/2014/main" id="{3990A2F2-6B84-A49E-39A4-93625506AC47}"/>
              </a:ext>
            </a:extLst>
          </p:cNvPr>
          <p:cNvGrpSpPr/>
          <p:nvPr/>
        </p:nvGrpSpPr>
        <p:grpSpPr>
          <a:xfrm>
            <a:off x="7092529" y="2329233"/>
            <a:ext cx="502778" cy="641234"/>
            <a:chOff x="7092529" y="2226905"/>
            <a:chExt cx="502778" cy="641234"/>
          </a:xfrm>
        </p:grpSpPr>
        <p:cxnSp>
          <p:nvCxnSpPr>
            <p:cNvPr id="70" name="连接符: 曲线 69">
              <a:extLst>
                <a:ext uri="{FF2B5EF4-FFF2-40B4-BE49-F238E27FC236}">
                  <a16:creationId xmlns:a16="http://schemas.microsoft.com/office/drawing/2014/main" id="{54C89643-0CDC-AD15-C800-E6318A7435F5}"/>
                </a:ext>
              </a:extLst>
            </p:cNvPr>
            <p:cNvCxnSpPr>
              <a:stCxn id="27" idx="0"/>
              <a:endCxn id="36" idx="1"/>
            </p:cNvCxnSpPr>
            <p:nvPr/>
          </p:nvCxnSpPr>
          <p:spPr>
            <a:xfrm rot="5400000" flipH="1" flipV="1">
              <a:off x="7023301" y="2296133"/>
              <a:ext cx="641234" cy="502778"/>
            </a:xfrm>
            <a:prstGeom prst="curved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71" name="文本框 70">
              <a:extLst>
                <a:ext uri="{FF2B5EF4-FFF2-40B4-BE49-F238E27FC236}">
                  <a16:creationId xmlns:a16="http://schemas.microsoft.com/office/drawing/2014/main" id="{3D8333C9-EA01-D5C4-C866-7BF2DB265006}"/>
                </a:ext>
              </a:extLst>
            </p:cNvPr>
            <p:cNvSpPr txBox="1"/>
            <p:nvPr/>
          </p:nvSpPr>
          <p:spPr>
            <a:xfrm>
              <a:off x="7252996" y="2278525"/>
              <a:ext cx="19063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3</a:t>
              </a:r>
              <a:endParaRPr kumimoji="0" lang="zh-CN" altLang="en-US" sz="10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grpSp>
      <p:graphicFrame>
        <p:nvGraphicFramePr>
          <p:cNvPr id="72" name="表格 71">
            <a:extLst>
              <a:ext uri="{FF2B5EF4-FFF2-40B4-BE49-F238E27FC236}">
                <a16:creationId xmlns:a16="http://schemas.microsoft.com/office/drawing/2014/main" id="{D48646DC-38A1-DFBA-96E9-D97B44486D2D}"/>
              </a:ext>
            </a:extLst>
          </p:cNvPr>
          <p:cNvGraphicFramePr>
            <a:graphicFrameLocks noGrp="1"/>
          </p:cNvGraphicFramePr>
          <p:nvPr>
            <p:extLst>
              <p:ext uri="{D42A27DB-BD31-4B8C-83A1-F6EECF244321}">
                <p14:modId xmlns:p14="http://schemas.microsoft.com/office/powerpoint/2010/main" val="150321550"/>
              </p:ext>
            </p:extLst>
          </p:nvPr>
        </p:nvGraphicFramePr>
        <p:xfrm>
          <a:off x="3033428" y="3580386"/>
          <a:ext cx="3553314" cy="3041802"/>
        </p:xfrm>
        <a:graphic>
          <a:graphicData uri="http://schemas.openxmlformats.org/drawingml/2006/table">
            <a:tbl>
              <a:tblPr firstRow="1" bandRow="1">
                <a:tableStyleId>{69012ECD-51FC-41F1-AA8D-1B2483CD663E}</a:tableStyleId>
              </a:tblPr>
              <a:tblGrid>
                <a:gridCol w="1090762">
                  <a:extLst>
                    <a:ext uri="{9D8B030D-6E8A-4147-A177-3AD203B41FA5}">
                      <a16:colId xmlns:a16="http://schemas.microsoft.com/office/drawing/2014/main" val="1508689377"/>
                    </a:ext>
                  </a:extLst>
                </a:gridCol>
                <a:gridCol w="1214755">
                  <a:extLst>
                    <a:ext uri="{9D8B030D-6E8A-4147-A177-3AD203B41FA5}">
                      <a16:colId xmlns:a16="http://schemas.microsoft.com/office/drawing/2014/main" val="2151564550"/>
                    </a:ext>
                  </a:extLst>
                </a:gridCol>
                <a:gridCol w="1247797">
                  <a:extLst>
                    <a:ext uri="{9D8B030D-6E8A-4147-A177-3AD203B41FA5}">
                      <a16:colId xmlns:a16="http://schemas.microsoft.com/office/drawing/2014/main" val="1045738506"/>
                    </a:ext>
                  </a:extLst>
                </a:gridCol>
              </a:tblGrid>
              <a:tr h="262094">
                <a:tc>
                  <a:txBody>
                    <a:bodyPr/>
                    <a:lstStyle/>
                    <a:p>
                      <a:r>
                        <a:rPr lang="en-US" altLang="zh-CN" sz="800" dirty="0">
                          <a:latin typeface="Arial" panose="020B0604020202020204" pitchFamily="34" charset="0"/>
                          <a:ea typeface="微软雅黑" panose="020B0503020204020204" pitchFamily="34" charset="-122"/>
                        </a:rPr>
                        <a:t>Demand</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Net Qty</a:t>
                      </a:r>
                      <a:endParaRPr lang="zh-CN" altLang="en-US" sz="800" dirty="0">
                        <a:latin typeface="Arial" panose="020B0604020202020204" pitchFamily="34" charset="0"/>
                        <a:ea typeface="微软雅黑" panose="020B0503020204020204" pitchFamily="34" charset="-122"/>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800" dirty="0">
                          <a:latin typeface="Arial" panose="020B0604020202020204" pitchFamily="34" charset="0"/>
                          <a:ea typeface="微软雅黑" panose="020B0503020204020204" pitchFamily="34" charset="-122"/>
                        </a:rPr>
                        <a:t>Supply(Aggregation)</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961309310"/>
                  </a:ext>
                </a:extLst>
              </a:tr>
              <a:tr h="177772">
                <a:tc>
                  <a:txBody>
                    <a:bodyPr/>
                    <a:lstStyle/>
                    <a:p>
                      <a:r>
                        <a:rPr lang="en-US" altLang="zh-CN" sz="800" dirty="0">
                          <a:latin typeface="Arial" panose="020B0604020202020204" pitchFamily="34" charset="0"/>
                          <a:ea typeface="微软雅黑" panose="020B0503020204020204" pitchFamily="34" charset="-122"/>
                        </a:rPr>
                        <a:t>D1</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8</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S1</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085472386"/>
                  </a:ext>
                </a:extLst>
              </a:tr>
              <a:tr h="177772">
                <a:tc>
                  <a:txBody>
                    <a:bodyPr/>
                    <a:lstStyle/>
                    <a:p>
                      <a:r>
                        <a:rPr lang="en-US" altLang="zh-CN" sz="800" dirty="0">
                          <a:latin typeface="Arial" panose="020B0604020202020204" pitchFamily="34" charset="0"/>
                          <a:ea typeface="微软雅黑" panose="020B0503020204020204" pitchFamily="34" charset="-122"/>
                        </a:rPr>
                        <a:t>D1</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2</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S2</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346697101"/>
                  </a:ext>
                </a:extLst>
              </a:tr>
              <a:tr h="177772">
                <a:tc>
                  <a:txBody>
                    <a:bodyPr/>
                    <a:lstStyle/>
                    <a:p>
                      <a:r>
                        <a:rPr lang="en-US" altLang="zh-CN" sz="800" dirty="0">
                          <a:latin typeface="Arial" panose="020B0604020202020204" pitchFamily="34" charset="0"/>
                          <a:ea typeface="微软雅黑" panose="020B0503020204020204" pitchFamily="34" charset="-122"/>
                        </a:rPr>
                        <a:t>D2</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5</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S2</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4034782518"/>
                  </a:ext>
                </a:extLst>
              </a:tr>
              <a:tr h="177772">
                <a:tc>
                  <a:txBody>
                    <a:bodyPr/>
                    <a:lstStyle/>
                    <a:p>
                      <a:r>
                        <a:rPr lang="en-US" altLang="zh-CN" sz="800" dirty="0">
                          <a:latin typeface="Arial" panose="020B0604020202020204" pitchFamily="34" charset="0"/>
                          <a:ea typeface="微软雅黑" panose="020B0503020204020204" pitchFamily="34" charset="-122"/>
                        </a:rPr>
                        <a:t>D3</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7</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S2</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1093275270"/>
                  </a:ext>
                </a:extLst>
              </a:tr>
              <a:tr h="177772">
                <a:tc>
                  <a:txBody>
                    <a:bodyPr/>
                    <a:lstStyle/>
                    <a:p>
                      <a:r>
                        <a:rPr lang="en-US" altLang="zh-CN" sz="800" dirty="0">
                          <a:latin typeface="Arial" panose="020B0604020202020204" pitchFamily="34" charset="0"/>
                          <a:ea typeface="微软雅黑" panose="020B0503020204020204" pitchFamily="34" charset="-122"/>
                        </a:rPr>
                        <a:t>D4</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8</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S3</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566492801"/>
                  </a:ext>
                </a:extLst>
              </a:tr>
              <a:tr h="262094">
                <a:tc>
                  <a:txBody>
                    <a:bodyPr/>
                    <a:lstStyle/>
                    <a:p>
                      <a:r>
                        <a:rPr lang="en-US" altLang="zh-CN" sz="800" dirty="0">
                          <a:latin typeface="Arial" panose="020B0604020202020204" pitchFamily="34" charset="0"/>
                          <a:ea typeface="微软雅黑" panose="020B0503020204020204" pitchFamily="34" charset="-122"/>
                        </a:rPr>
                        <a:t>D2</a:t>
                      </a:r>
                      <a:endParaRPr lang="zh-CN" altLang="en-US" sz="800" dirty="0">
                        <a:latin typeface="Arial" panose="020B0604020202020204" pitchFamily="34" charset="0"/>
                        <a:ea typeface="微软雅黑" panose="020B0503020204020204" pitchFamily="34" charset="-122"/>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800" dirty="0">
                          <a:latin typeface="Arial" panose="020B0604020202020204" pitchFamily="34" charset="0"/>
                          <a:ea typeface="微软雅黑" panose="020B0503020204020204" pitchFamily="34" charset="-122"/>
                        </a:rPr>
                        <a:t>=7*1/18 round to 1</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S3</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134353205"/>
                  </a:ext>
                </a:extLst>
              </a:tr>
              <a:tr h="262094">
                <a:tc>
                  <a:txBody>
                    <a:bodyPr/>
                    <a:lstStyle/>
                    <a:p>
                      <a:r>
                        <a:rPr lang="en-US" altLang="zh-CN" sz="800" dirty="0">
                          <a:latin typeface="Arial" panose="020B0604020202020204" pitchFamily="34" charset="0"/>
                          <a:ea typeface="微软雅黑" panose="020B0503020204020204" pitchFamily="34" charset="-122"/>
                        </a:rPr>
                        <a:t>D3</a:t>
                      </a:r>
                      <a:endParaRPr lang="zh-CN" altLang="en-US" sz="800" dirty="0">
                        <a:latin typeface="Arial" panose="020B0604020202020204" pitchFamily="34" charset="0"/>
                        <a:ea typeface="微软雅黑" panose="020B0503020204020204" pitchFamily="34" charset="-122"/>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800" dirty="0">
                          <a:latin typeface="Arial" panose="020B0604020202020204" pitchFamily="34" charset="0"/>
                          <a:ea typeface="微软雅黑" panose="020B0503020204020204" pitchFamily="34" charset="-122"/>
                        </a:rPr>
                        <a:t>=(7-1)*3/17 round to 1</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S3</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2829725099"/>
                  </a:ext>
                </a:extLst>
              </a:tr>
              <a:tr h="279357">
                <a:tc>
                  <a:txBody>
                    <a:bodyPr/>
                    <a:lstStyle/>
                    <a:p>
                      <a:r>
                        <a:rPr lang="en-US" altLang="zh-CN" sz="800" dirty="0">
                          <a:latin typeface="Arial" panose="020B0604020202020204" pitchFamily="34" charset="0"/>
                          <a:ea typeface="微软雅黑" panose="020B0503020204020204" pitchFamily="34" charset="-122"/>
                        </a:rPr>
                        <a:t>D5</a:t>
                      </a:r>
                      <a:endParaRPr lang="zh-CN" altLang="en-US" sz="800" dirty="0">
                        <a:latin typeface="Arial" panose="020B0604020202020204" pitchFamily="34" charset="0"/>
                        <a:ea typeface="微软雅黑" panose="020B0503020204020204" pitchFamily="34" charset="-122"/>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800" dirty="0">
                          <a:latin typeface="Arial" panose="020B0604020202020204" pitchFamily="34" charset="0"/>
                          <a:ea typeface="微软雅黑" panose="020B0503020204020204" pitchFamily="34" charset="-122"/>
                        </a:rPr>
                        <a:t>=(6-1)*6/16 round to 2</a:t>
                      </a:r>
                      <a:endParaRPr lang="zh-CN" altLang="en-US" sz="800" dirty="0">
                        <a:latin typeface="Arial" panose="020B0604020202020204" pitchFamily="34" charset="0"/>
                        <a:ea typeface="微软雅黑" panose="020B0503020204020204" pitchFamily="34" charset="-122"/>
                      </a:endParaRPr>
                    </a:p>
                    <a:p>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S3</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455905225"/>
                  </a:ext>
                </a:extLst>
              </a:tr>
              <a:tr h="177772">
                <a:tc>
                  <a:txBody>
                    <a:bodyPr/>
                    <a:lstStyle/>
                    <a:p>
                      <a:r>
                        <a:rPr lang="en-US" altLang="zh-CN" sz="800" dirty="0">
                          <a:latin typeface="Arial" panose="020B0604020202020204" pitchFamily="34" charset="0"/>
                          <a:ea typeface="微软雅黑" panose="020B0503020204020204" pitchFamily="34" charset="-122"/>
                        </a:rPr>
                        <a:t>D6</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3</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S3</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617824315"/>
                  </a:ext>
                </a:extLst>
              </a:tr>
              <a:tr h="177772">
                <a:tc>
                  <a:txBody>
                    <a:bodyPr/>
                    <a:lstStyle/>
                    <a:p>
                      <a:r>
                        <a:rPr lang="en-US" altLang="zh-CN" sz="800" dirty="0">
                          <a:latin typeface="Arial" panose="020B0604020202020204" pitchFamily="34" charset="0"/>
                          <a:ea typeface="微软雅黑" panose="020B0503020204020204" pitchFamily="34" charset="-122"/>
                        </a:rPr>
                        <a:t>D3</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2</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S4</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752897031"/>
                  </a:ext>
                </a:extLst>
              </a:tr>
              <a:tr h="177772">
                <a:tc>
                  <a:txBody>
                    <a:bodyPr/>
                    <a:lstStyle/>
                    <a:p>
                      <a:r>
                        <a:rPr lang="en-US" altLang="zh-CN" sz="800" dirty="0">
                          <a:latin typeface="Arial" panose="020B0604020202020204" pitchFamily="34" charset="0"/>
                          <a:ea typeface="微软雅黑" panose="020B0503020204020204" pitchFamily="34" charset="-122"/>
                        </a:rPr>
                        <a:t>D5</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4</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S4</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211250240"/>
                  </a:ext>
                </a:extLst>
              </a:tr>
              <a:tr h="177772">
                <a:tc>
                  <a:txBody>
                    <a:bodyPr/>
                    <a:lstStyle/>
                    <a:p>
                      <a:r>
                        <a:rPr lang="en-US" altLang="zh-CN" sz="800" dirty="0">
                          <a:latin typeface="Arial" panose="020B0604020202020204" pitchFamily="34" charset="0"/>
                          <a:ea typeface="微软雅黑" panose="020B0503020204020204" pitchFamily="34" charset="-122"/>
                        </a:rPr>
                        <a:t>D6</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5</a:t>
                      </a:r>
                      <a:endParaRPr lang="zh-CN" altLang="en-US" sz="800" dirty="0">
                        <a:latin typeface="Arial" panose="020B0604020202020204" pitchFamily="34" charset="0"/>
                        <a:ea typeface="微软雅黑" panose="020B0503020204020204" pitchFamily="34" charset="-122"/>
                      </a:endParaRPr>
                    </a:p>
                  </a:txBody>
                  <a:tcPr/>
                </a:tc>
                <a:tc>
                  <a:txBody>
                    <a:bodyPr/>
                    <a:lstStyle/>
                    <a:p>
                      <a:r>
                        <a:rPr lang="en-US" altLang="zh-CN" sz="800" dirty="0">
                          <a:latin typeface="Arial" panose="020B0604020202020204" pitchFamily="34" charset="0"/>
                          <a:ea typeface="微软雅黑" panose="020B0503020204020204" pitchFamily="34" charset="-122"/>
                        </a:rPr>
                        <a:t>S4</a:t>
                      </a:r>
                      <a:endParaRPr lang="zh-CN" altLang="en-US" sz="800" dirty="0">
                        <a:latin typeface="Arial" panose="020B0604020202020204" pitchFamily="34" charset="0"/>
                        <a:ea typeface="微软雅黑" panose="020B0503020204020204" pitchFamily="34" charset="-122"/>
                      </a:endParaRPr>
                    </a:p>
                  </a:txBody>
                  <a:tcPr/>
                </a:tc>
                <a:extLst>
                  <a:ext uri="{0D108BD9-81ED-4DB2-BD59-A6C34878D82A}">
                    <a16:rowId xmlns:a16="http://schemas.microsoft.com/office/drawing/2014/main" val="3090395365"/>
                  </a:ext>
                </a:extLst>
              </a:tr>
            </a:tbl>
          </a:graphicData>
        </a:graphic>
      </p:graphicFrame>
      <p:grpSp>
        <p:nvGrpSpPr>
          <p:cNvPr id="73" name="组合 72">
            <a:extLst>
              <a:ext uri="{FF2B5EF4-FFF2-40B4-BE49-F238E27FC236}">
                <a16:creationId xmlns:a16="http://schemas.microsoft.com/office/drawing/2014/main" id="{90E00BE6-5315-C2FC-224B-490A5357113F}"/>
              </a:ext>
            </a:extLst>
          </p:cNvPr>
          <p:cNvGrpSpPr/>
          <p:nvPr/>
        </p:nvGrpSpPr>
        <p:grpSpPr>
          <a:xfrm>
            <a:off x="6049229" y="2514499"/>
            <a:ext cx="2161207" cy="456442"/>
            <a:chOff x="6049229" y="2514499"/>
            <a:chExt cx="2161207" cy="456442"/>
          </a:xfrm>
        </p:grpSpPr>
        <p:cxnSp>
          <p:nvCxnSpPr>
            <p:cNvPr id="74" name="连接符: 曲线 73">
              <a:extLst>
                <a:ext uri="{FF2B5EF4-FFF2-40B4-BE49-F238E27FC236}">
                  <a16:creationId xmlns:a16="http://schemas.microsoft.com/office/drawing/2014/main" id="{1502D4BF-0616-6C22-B772-FDB3AC86A296}"/>
                </a:ext>
              </a:extLst>
            </p:cNvPr>
            <p:cNvCxnSpPr>
              <a:cxnSpLocks/>
              <a:stCxn id="28" idx="0"/>
              <a:endCxn id="33" idx="2"/>
            </p:cNvCxnSpPr>
            <p:nvPr/>
          </p:nvCxnSpPr>
          <p:spPr>
            <a:xfrm rot="16200000" flipV="1">
              <a:off x="6901612" y="1662116"/>
              <a:ext cx="456442" cy="2161207"/>
            </a:xfrm>
            <a:prstGeom prst="curved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75" name="文本框 74">
              <a:extLst>
                <a:ext uri="{FF2B5EF4-FFF2-40B4-BE49-F238E27FC236}">
                  <a16:creationId xmlns:a16="http://schemas.microsoft.com/office/drawing/2014/main" id="{E3DA1E94-4B12-465B-5633-EACEDABC065F}"/>
                </a:ext>
              </a:extLst>
            </p:cNvPr>
            <p:cNvSpPr txBox="1"/>
            <p:nvPr/>
          </p:nvSpPr>
          <p:spPr>
            <a:xfrm>
              <a:off x="6354738" y="2672979"/>
              <a:ext cx="20510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dirty="0">
                  <a:ln>
                    <a:noFill/>
                  </a:ln>
                  <a:solidFill>
                    <a:srgbClr val="031329"/>
                  </a:solidFill>
                  <a:effectLst/>
                  <a:uLnTx/>
                  <a:uFillTx/>
                  <a:latin typeface="Arial" panose="020B0604020202020204" pitchFamily="34" charset="0"/>
                  <a:ea typeface="微软雅黑" panose="020B0503020204020204" pitchFamily="34" charset="-122"/>
                  <a:cs typeface="+mn-cs"/>
                </a:rPr>
                <a:t>2</a:t>
              </a:r>
              <a:endParaRPr kumimoji="0" lang="zh-CN" altLang="en-US" sz="1000" b="0" i="0" u="none" strike="noStrike" kern="1200" cap="none" spc="0" normalizeH="0" baseline="0" noProof="0" dirty="0">
                <a:ln>
                  <a:noFill/>
                </a:ln>
                <a:solidFill>
                  <a:srgbClr val="031329"/>
                </a:solidFill>
                <a:effectLst/>
                <a:uLnTx/>
                <a:uFillTx/>
                <a:latin typeface="Arial" panose="020B0604020202020204" pitchFamily="34" charset="0"/>
                <a:ea typeface="微软雅黑" panose="020B0503020204020204" pitchFamily="34" charset="-122"/>
                <a:cs typeface="+mn-cs"/>
              </a:endParaRPr>
            </a:p>
          </p:txBody>
        </p:sp>
      </p:grpSp>
      <p:cxnSp>
        <p:nvCxnSpPr>
          <p:cNvPr id="76" name="连接符: 曲线 75">
            <a:extLst>
              <a:ext uri="{FF2B5EF4-FFF2-40B4-BE49-F238E27FC236}">
                <a16:creationId xmlns:a16="http://schemas.microsoft.com/office/drawing/2014/main" id="{05E4E9D3-4CC1-2C28-6CDF-BCD2F67B916F}"/>
              </a:ext>
            </a:extLst>
          </p:cNvPr>
          <p:cNvCxnSpPr>
            <a:stCxn id="28" idx="0"/>
            <a:endCxn id="35" idx="3"/>
          </p:cNvCxnSpPr>
          <p:nvPr/>
        </p:nvCxnSpPr>
        <p:spPr>
          <a:xfrm rot="16200000" flipV="1">
            <a:off x="7580407" y="2340911"/>
            <a:ext cx="997956" cy="262103"/>
          </a:xfrm>
          <a:prstGeom prst="curved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7" name="连接符: 曲线 76">
            <a:extLst>
              <a:ext uri="{FF2B5EF4-FFF2-40B4-BE49-F238E27FC236}">
                <a16:creationId xmlns:a16="http://schemas.microsoft.com/office/drawing/2014/main" id="{1517888D-086F-67C0-6AE9-87452022703E}"/>
              </a:ext>
            </a:extLst>
          </p:cNvPr>
          <p:cNvCxnSpPr>
            <a:cxnSpLocks/>
            <a:stCxn id="28" idx="0"/>
            <a:endCxn id="36" idx="3"/>
          </p:cNvCxnSpPr>
          <p:nvPr/>
        </p:nvCxnSpPr>
        <p:spPr>
          <a:xfrm rot="16200000" flipV="1">
            <a:off x="7752330" y="2512834"/>
            <a:ext cx="641708" cy="274505"/>
          </a:xfrm>
          <a:prstGeom prst="curved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文本框 95">
            <a:extLst>
              <a:ext uri="{FF2B5EF4-FFF2-40B4-BE49-F238E27FC236}">
                <a16:creationId xmlns:a16="http://schemas.microsoft.com/office/drawing/2014/main" id="{9444A048-772B-8EFB-455A-2D9DF94C8F40}"/>
              </a:ext>
            </a:extLst>
          </p:cNvPr>
          <p:cNvSpPr txBox="1"/>
          <p:nvPr/>
        </p:nvSpPr>
        <p:spPr>
          <a:xfrm>
            <a:off x="648611" y="1047246"/>
            <a:ext cx="8589907"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Assume you have demands and supplies spread over several weeks. The demands have bucket </a:t>
            </a:r>
            <a:r>
              <a:rPr kumimoji="0" lang="zh-CN" altLang="en-US" sz="12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a:t>
            </a:r>
            <a:r>
              <a:rPr kumimoji="0" lang="en-US" altLang="zh-CN" sz="12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Week</a:t>
            </a:r>
            <a:r>
              <a:rPr kumimoji="0" lang="zh-CN" altLang="en-US" sz="12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a:t>
            </a:r>
            <a:r>
              <a:rPr kumimoji="0" lang="en-US" altLang="zh-CN" sz="12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rPr>
              <a:t>The supplies and demands in each allocation interval are shown in the following illustration.</a:t>
            </a:r>
            <a:endParaRPr kumimoji="0" lang="zh-CN" altLang="en-US" sz="1200" b="0" i="0" u="none" strike="noStrike" kern="1200" cap="none" spc="0" normalizeH="0" baseline="0" noProof="0" dirty="0">
              <a:ln>
                <a:noFill/>
              </a:ln>
              <a:effectLst/>
              <a:uLnTx/>
              <a:uFillTx/>
              <a:latin typeface="Arial" panose="020B0604020202020204" pitchFamily="34" charset="0"/>
              <a:ea typeface="微软雅黑" panose="020B0503020204020204" pitchFamily="34" charset="-122"/>
              <a:cs typeface="+mn-cs"/>
            </a:endParaRPr>
          </a:p>
        </p:txBody>
      </p:sp>
      <p:sp>
        <p:nvSpPr>
          <p:cNvPr id="97" name="标题 1">
            <a:extLst>
              <a:ext uri="{FF2B5EF4-FFF2-40B4-BE49-F238E27FC236}">
                <a16:creationId xmlns:a16="http://schemas.microsoft.com/office/drawing/2014/main" id="{A4085FEC-B193-EA19-29E8-D0511CB090B0}"/>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Allocation</a:t>
            </a:r>
            <a:r>
              <a:rPr lang="en-US" altLang="zh-CN" sz="2800" dirty="0">
                <a:latin typeface="Arial" panose="020B0604020202020204" pitchFamily="34" charset="0"/>
                <a:ea typeface="微软雅黑" panose="020B0503020204020204" pitchFamily="34" charset="-122"/>
              </a:rPr>
              <a:t> – </a:t>
            </a:r>
            <a:r>
              <a:rPr lang="zh-CN" altLang="en-US" sz="2800" dirty="0">
                <a:latin typeface="Arial" panose="020B0604020202020204" pitchFamily="34" charset="0"/>
                <a:ea typeface="微软雅黑" panose="020B0503020204020204" pitchFamily="34" charset="-122"/>
              </a:rPr>
              <a:t>分配规则</a:t>
            </a:r>
            <a:endParaRPr lang="zh-CN" altLang="en-US"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1422295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500"/>
                                        <p:tgtEl>
                                          <p:spTgt spid="41"/>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44"/>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47"/>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0"/>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65"/>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2"/>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57"/>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61"/>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60"/>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nodeType="clickEffect">
                                  <p:stCondLst>
                                    <p:cond delay="0"/>
                                  </p:stCondLst>
                                  <p:childTnLst>
                                    <p:set>
                                      <p:cBhvr>
                                        <p:cTn id="43" dur="1" fill="hold">
                                          <p:stCondLst>
                                            <p:cond delay="0"/>
                                          </p:stCondLst>
                                        </p:cTn>
                                        <p:tgtEl>
                                          <p:spTgt spid="6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69"/>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nodeType="clickEffect">
                                  <p:stCondLst>
                                    <p:cond delay="0"/>
                                  </p:stCondLst>
                                  <p:childTnLst>
                                    <p:set>
                                      <p:cBhvr>
                                        <p:cTn id="51" dur="1" fill="hold">
                                          <p:stCondLst>
                                            <p:cond delay="0"/>
                                          </p:stCondLst>
                                        </p:cTn>
                                        <p:tgtEl>
                                          <p:spTgt spid="72"/>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nodeType="clickEffect">
                                  <p:stCondLst>
                                    <p:cond delay="0"/>
                                  </p:stCondLst>
                                  <p:childTnLst>
                                    <p:set>
                                      <p:cBhvr>
                                        <p:cTn id="55" dur="1" fill="hold">
                                          <p:stCondLst>
                                            <p:cond delay="0"/>
                                          </p:stCondLst>
                                        </p:cTn>
                                        <p:tgtEl>
                                          <p:spTgt spid="76"/>
                                        </p:tgtEl>
                                        <p:attrNameLst>
                                          <p:attrName>style.visibility</p:attrName>
                                        </p:attrNameLst>
                                      </p:cBhvr>
                                      <p:to>
                                        <p:strVal val="visible"/>
                                      </p:to>
                                    </p:set>
                                  </p:childTnLst>
                                </p:cTn>
                              </p:par>
                              <p:par>
                                <p:cTn id="56" presetID="1" presetClass="entr" presetSubtype="0" fill="hold" nodeType="withEffect">
                                  <p:stCondLst>
                                    <p:cond delay="0"/>
                                  </p:stCondLst>
                                  <p:childTnLst>
                                    <p:set>
                                      <p:cBhvr>
                                        <p:cTn id="57" dur="1" fill="hold">
                                          <p:stCondLst>
                                            <p:cond delay="0"/>
                                          </p:stCondLst>
                                        </p:cTn>
                                        <p:tgtEl>
                                          <p:spTgt spid="77"/>
                                        </p:tgtEl>
                                        <p:attrNameLst>
                                          <p:attrName>style.visibility</p:attrName>
                                        </p:attrNameLst>
                                      </p:cBhvr>
                                      <p:to>
                                        <p:strVal val="visible"/>
                                      </p:to>
                                    </p:set>
                                  </p:childTnLst>
                                </p:cTn>
                              </p:par>
                              <p:par>
                                <p:cTn id="58" presetID="1" presetClass="entr" presetSubtype="0" fill="hold" nodeType="withEffect">
                                  <p:stCondLst>
                                    <p:cond delay="0"/>
                                  </p:stCondLst>
                                  <p:childTnLst>
                                    <p:set>
                                      <p:cBhvr>
                                        <p:cTn id="59" dur="1" fill="hold">
                                          <p:stCondLst>
                                            <p:cond delay="0"/>
                                          </p:stCondLst>
                                        </p:cTn>
                                        <p:tgtEl>
                                          <p:spTgt spid="7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2"/>
          <p:cNvSpPr txBox="1">
            <a:spLocks/>
          </p:cNvSpPr>
          <p:nvPr/>
        </p:nvSpPr>
        <p:spPr bwMode="gray">
          <a:xfrm>
            <a:off x="537544" y="274320"/>
            <a:ext cx="11073384" cy="521208"/>
          </a:xfrm>
          <a:prstGeom prst="rect">
            <a:avLst/>
          </a:prstGeom>
          <a:noFill/>
        </p:spPr>
        <p:txBody>
          <a:bodyPr vert="horz" wrap="square" lIns="0" tIns="0" rIns="0" bIns="0" rtlCol="0" anchor="ctr" anchorCtr="0">
            <a:noAutofit/>
          </a:bodyPr>
          <a:lstStyle>
            <a:lvl1pPr marL="0" algn="l" defTabSz="1218987" rtl="0" eaLnBrk="1" latinLnBrk="0" hangingPunct="1">
              <a:lnSpc>
                <a:spcPct val="100000"/>
              </a:lnSpc>
              <a:spcBef>
                <a:spcPct val="0"/>
              </a:spcBef>
              <a:buNone/>
              <a:tabLst>
                <a:tab pos="1218987" algn="l"/>
              </a:tabLst>
              <a:defRPr lang="en-US" sz="3600" kern="1200" cap="none" spc="0" baseline="0" dirty="0">
                <a:solidFill>
                  <a:schemeClr val="tx1"/>
                </a:solidFill>
                <a:latin typeface="Arial" pitchFamily="34" charset="0"/>
                <a:ea typeface="+mn-ea"/>
                <a:cs typeface="Arial" pitchFamily="34" charset="0"/>
              </a:defRPr>
            </a:lvl1pPr>
          </a:lstStyle>
          <a:p>
            <a:pPr fontAlgn="base">
              <a:spcAft>
                <a:spcPct val="0"/>
              </a:spcAft>
            </a:pPr>
            <a:r>
              <a:rPr lang="en-US" dirty="0">
                <a:ea typeface="微软雅黑" panose="020B0503020204020204" pitchFamily="34" charset="-122"/>
              </a:rPr>
              <a:t>Order To Fulfillment - CORE</a:t>
            </a:r>
          </a:p>
        </p:txBody>
      </p:sp>
      <p:grpSp>
        <p:nvGrpSpPr>
          <p:cNvPr id="8" name="组合 7">
            <a:extLst>
              <a:ext uri="{FF2B5EF4-FFF2-40B4-BE49-F238E27FC236}">
                <a16:creationId xmlns:a16="http://schemas.microsoft.com/office/drawing/2014/main" id="{7EDD6D62-78A1-4904-8C63-888FC02A1306}"/>
              </a:ext>
            </a:extLst>
          </p:cNvPr>
          <p:cNvGrpSpPr/>
          <p:nvPr/>
        </p:nvGrpSpPr>
        <p:grpSpPr>
          <a:xfrm>
            <a:off x="1087811" y="1527595"/>
            <a:ext cx="10894805" cy="2099852"/>
            <a:chOff x="1087811" y="1146275"/>
            <a:chExt cx="10894805" cy="2099852"/>
          </a:xfrm>
        </p:grpSpPr>
        <p:sp>
          <p:nvSpPr>
            <p:cNvPr id="86" name="Rectangle 34">
              <a:extLst>
                <a:ext uri="{FF2B5EF4-FFF2-40B4-BE49-F238E27FC236}">
                  <a16:creationId xmlns:a16="http://schemas.microsoft.com/office/drawing/2014/main" id="{A97F0D08-BC7E-4027-92A2-023EE110B8B2}"/>
                </a:ext>
              </a:extLst>
            </p:cNvPr>
            <p:cNvSpPr/>
            <p:nvPr/>
          </p:nvSpPr>
          <p:spPr>
            <a:xfrm>
              <a:off x="9569036" y="2853650"/>
              <a:ext cx="1914287" cy="375880"/>
            </a:xfrm>
            <a:prstGeom prst="rect">
              <a:avLst/>
            </a:prstGeom>
            <a:solidFill>
              <a:srgbClr val="C00000"/>
            </a:solidFill>
            <a:ln/>
          </p:spPr>
          <p:style>
            <a:lnRef idx="3">
              <a:schemeClr val="lt1"/>
            </a:lnRef>
            <a:fillRef idx="1">
              <a:schemeClr val="accent1"/>
            </a:fillRef>
            <a:effectRef idx="1">
              <a:schemeClr val="accent1"/>
            </a:effectRef>
            <a:fontRef idx="minor">
              <a:schemeClr val="lt1"/>
            </a:fontRef>
          </p:style>
          <p:txBody>
            <a:bodyPr rtlCol="0" anchor="ctr"/>
            <a:lstStyle/>
            <a:p>
              <a:pPr algn="ctr" fontAlgn="base">
                <a:spcBef>
                  <a:spcPct val="0"/>
                </a:spcBef>
                <a:spcAft>
                  <a:spcPct val="0"/>
                </a:spcAft>
              </a:pPr>
              <a:r>
                <a:rPr lang="en-US" sz="1100" b="1" dirty="0">
                  <a:solidFill>
                    <a:schemeClr val="tx1"/>
                  </a:solidFill>
                  <a:latin typeface="Arial" panose="020B0604020202020204" pitchFamily="34" charset="0"/>
                  <a:ea typeface="微软雅黑" panose="020B0503020204020204" pitchFamily="34" charset="-122"/>
                </a:rPr>
                <a:t>M4</a:t>
              </a:r>
            </a:p>
          </p:txBody>
        </p:sp>
        <p:sp>
          <p:nvSpPr>
            <p:cNvPr id="11" name="Text Box 8"/>
            <p:cNvSpPr txBox="1">
              <a:spLocks noChangeArrowheads="1"/>
            </p:cNvSpPr>
            <p:nvPr/>
          </p:nvSpPr>
          <p:spPr bwMode="auto">
            <a:xfrm>
              <a:off x="1087811" y="2471661"/>
              <a:ext cx="549056" cy="328423"/>
            </a:xfrm>
            <a:prstGeom prst="rect">
              <a:avLst/>
            </a:prstGeom>
            <a:noFill/>
            <a:ln w="9525" algn="ctr">
              <a:noFill/>
              <a:miter lim="800000"/>
              <a:headEnd/>
              <a:tailEnd/>
            </a:ln>
            <a:effectLst/>
          </p:spPr>
          <p:txBody>
            <a:bodyPr wrap="square" lIns="0" tIns="0" rIns="0" bIns="0">
              <a:spAutoFit/>
            </a:bodyPr>
            <a:lstStyle/>
            <a:p>
              <a:pPr algn="ctr" fontAlgn="base">
                <a:lnSpc>
                  <a:spcPct val="97000"/>
                </a:lnSpc>
                <a:spcBef>
                  <a:spcPct val="0"/>
                </a:spcBef>
                <a:spcAft>
                  <a:spcPct val="0"/>
                </a:spcAft>
              </a:pPr>
              <a:r>
                <a:rPr lang="en-US" sz="1100" b="1" dirty="0">
                  <a:latin typeface="Arial" panose="020B0604020202020204" pitchFamily="34" charset="0"/>
                  <a:ea typeface="微软雅黑" panose="020B0503020204020204" pitchFamily="34" charset="-122"/>
                  <a:cs typeface="Arial" charset="0"/>
                </a:rPr>
                <a:t>Order </a:t>
              </a:r>
            </a:p>
            <a:p>
              <a:pPr algn="ctr" fontAlgn="base">
                <a:lnSpc>
                  <a:spcPct val="97000"/>
                </a:lnSpc>
                <a:spcBef>
                  <a:spcPct val="0"/>
                </a:spcBef>
                <a:spcAft>
                  <a:spcPct val="0"/>
                </a:spcAft>
              </a:pPr>
              <a:r>
                <a:rPr lang="en-US" sz="1100" b="1" dirty="0">
                  <a:latin typeface="Arial" panose="020B0604020202020204" pitchFamily="34" charset="0"/>
                  <a:ea typeface="微软雅黑" panose="020B0503020204020204" pitchFamily="34" charset="-122"/>
                  <a:cs typeface="Arial" charset="0"/>
                </a:rPr>
                <a:t>Receipt</a:t>
              </a:r>
            </a:p>
          </p:txBody>
        </p:sp>
        <p:sp>
          <p:nvSpPr>
            <p:cNvPr id="12" name="Text Box 9"/>
            <p:cNvSpPr txBox="1">
              <a:spLocks noChangeArrowheads="1"/>
            </p:cNvSpPr>
            <p:nvPr/>
          </p:nvSpPr>
          <p:spPr bwMode="auto">
            <a:xfrm>
              <a:off x="2550903" y="2471661"/>
              <a:ext cx="414671" cy="328423"/>
            </a:xfrm>
            <a:prstGeom prst="rect">
              <a:avLst/>
            </a:prstGeom>
            <a:noFill/>
            <a:ln w="9525" algn="ctr">
              <a:noFill/>
              <a:miter lim="800000"/>
              <a:headEnd/>
              <a:tailEnd/>
            </a:ln>
            <a:effectLst/>
          </p:spPr>
          <p:txBody>
            <a:bodyPr wrap="square" lIns="0" tIns="0" rIns="0" bIns="0">
              <a:spAutoFit/>
            </a:bodyPr>
            <a:lstStyle/>
            <a:p>
              <a:pPr algn="ctr" fontAlgn="base">
                <a:lnSpc>
                  <a:spcPct val="97000"/>
                </a:lnSpc>
                <a:spcBef>
                  <a:spcPct val="0"/>
                </a:spcBef>
                <a:spcAft>
                  <a:spcPct val="0"/>
                </a:spcAft>
              </a:pPr>
              <a:r>
                <a:rPr lang="en-US" sz="1100" b="1" dirty="0">
                  <a:latin typeface="Arial" panose="020B0604020202020204" pitchFamily="34" charset="0"/>
                  <a:ea typeface="微软雅黑" panose="020B0503020204020204" pitchFamily="34" charset="-122"/>
                  <a:cs typeface="Arial" charset="0"/>
                </a:rPr>
                <a:t>Order </a:t>
              </a:r>
            </a:p>
            <a:p>
              <a:pPr algn="ctr" fontAlgn="base">
                <a:lnSpc>
                  <a:spcPct val="97000"/>
                </a:lnSpc>
                <a:spcBef>
                  <a:spcPct val="0"/>
                </a:spcBef>
                <a:spcAft>
                  <a:spcPct val="0"/>
                </a:spcAft>
              </a:pPr>
              <a:r>
                <a:rPr lang="en-US" sz="1100" b="1" dirty="0">
                  <a:latin typeface="Arial" panose="020B0604020202020204" pitchFamily="34" charset="0"/>
                  <a:ea typeface="微软雅黑" panose="020B0503020204020204" pitchFamily="34" charset="-122"/>
                  <a:cs typeface="Arial" charset="0"/>
                </a:rPr>
                <a:t>Entry</a:t>
              </a:r>
            </a:p>
          </p:txBody>
        </p:sp>
        <p:sp>
          <p:nvSpPr>
            <p:cNvPr id="13" name="Text Box 10"/>
            <p:cNvSpPr txBox="1">
              <a:spLocks noChangeArrowheads="1"/>
            </p:cNvSpPr>
            <p:nvPr/>
          </p:nvSpPr>
          <p:spPr bwMode="auto">
            <a:xfrm>
              <a:off x="3804941" y="2471661"/>
              <a:ext cx="571417" cy="328423"/>
            </a:xfrm>
            <a:prstGeom prst="rect">
              <a:avLst/>
            </a:prstGeom>
            <a:noFill/>
            <a:ln w="9525" algn="ctr">
              <a:noFill/>
              <a:miter lim="800000"/>
              <a:headEnd/>
              <a:tailEnd/>
            </a:ln>
            <a:effectLst/>
          </p:spPr>
          <p:txBody>
            <a:bodyPr wrap="square" lIns="0" tIns="0" rIns="0" bIns="0">
              <a:spAutoFit/>
            </a:bodyPr>
            <a:lstStyle/>
            <a:p>
              <a:pPr algn="ctr" fontAlgn="base">
                <a:lnSpc>
                  <a:spcPct val="97000"/>
                </a:lnSpc>
                <a:spcBef>
                  <a:spcPct val="0"/>
                </a:spcBef>
                <a:spcAft>
                  <a:spcPct val="0"/>
                </a:spcAft>
              </a:pPr>
              <a:r>
                <a:rPr lang="en-US" sz="1100" b="1" dirty="0">
                  <a:latin typeface="Arial" panose="020B0604020202020204" pitchFamily="34" charset="0"/>
                  <a:ea typeface="微软雅黑" panose="020B0503020204020204" pitchFamily="34" charset="-122"/>
                  <a:cs typeface="Arial" charset="0"/>
                </a:rPr>
                <a:t>Order</a:t>
              </a:r>
            </a:p>
            <a:p>
              <a:pPr algn="ctr" fontAlgn="base">
                <a:lnSpc>
                  <a:spcPct val="97000"/>
                </a:lnSpc>
                <a:spcBef>
                  <a:spcPct val="0"/>
                </a:spcBef>
                <a:spcAft>
                  <a:spcPct val="0"/>
                </a:spcAft>
              </a:pPr>
              <a:r>
                <a:rPr lang="en-US" sz="1100" b="1" dirty="0">
                  <a:latin typeface="Arial" panose="020B0604020202020204" pitchFamily="34" charset="0"/>
                  <a:ea typeface="微软雅黑" panose="020B0503020204020204" pitchFamily="34" charset="-122"/>
                  <a:cs typeface="Arial" charset="0"/>
                </a:rPr>
                <a:t>Release</a:t>
              </a:r>
            </a:p>
          </p:txBody>
        </p:sp>
        <p:sp>
          <p:nvSpPr>
            <p:cNvPr id="14" name="Text Box 11"/>
            <p:cNvSpPr txBox="1">
              <a:spLocks noChangeArrowheads="1"/>
            </p:cNvSpPr>
            <p:nvPr/>
          </p:nvSpPr>
          <p:spPr bwMode="auto">
            <a:xfrm>
              <a:off x="8960567" y="2471661"/>
              <a:ext cx="555034" cy="328423"/>
            </a:xfrm>
            <a:prstGeom prst="rect">
              <a:avLst/>
            </a:prstGeom>
            <a:noFill/>
            <a:ln w="9525" algn="ctr">
              <a:noFill/>
              <a:miter lim="800000"/>
              <a:headEnd/>
              <a:tailEnd/>
            </a:ln>
            <a:effectLst/>
          </p:spPr>
          <p:txBody>
            <a:bodyPr wrap="square" lIns="0" tIns="0" rIns="0" bIns="0">
              <a:spAutoFit/>
            </a:bodyPr>
            <a:lstStyle/>
            <a:p>
              <a:pPr algn="ctr" fontAlgn="base">
                <a:lnSpc>
                  <a:spcPct val="97000"/>
                </a:lnSpc>
                <a:spcBef>
                  <a:spcPct val="0"/>
                </a:spcBef>
                <a:spcAft>
                  <a:spcPct val="0"/>
                </a:spcAft>
              </a:pPr>
              <a:r>
                <a:rPr lang="en-US" sz="1100" b="1" dirty="0">
                  <a:latin typeface="Arial" panose="020B0604020202020204" pitchFamily="34" charset="0"/>
                  <a:ea typeface="微软雅黑" panose="020B0503020204020204" pitchFamily="34" charset="-122"/>
                  <a:cs typeface="Arial" charset="0"/>
                </a:rPr>
                <a:t>Order</a:t>
              </a:r>
            </a:p>
            <a:p>
              <a:pPr algn="ctr" fontAlgn="base">
                <a:lnSpc>
                  <a:spcPct val="97000"/>
                </a:lnSpc>
                <a:spcBef>
                  <a:spcPct val="0"/>
                </a:spcBef>
                <a:spcAft>
                  <a:spcPct val="0"/>
                </a:spcAft>
              </a:pPr>
              <a:r>
                <a:rPr lang="en-US" sz="1100" b="1" dirty="0">
                  <a:latin typeface="Arial" panose="020B0604020202020204" pitchFamily="34" charset="0"/>
                  <a:ea typeface="微软雅黑" panose="020B0503020204020204" pitchFamily="34" charset="-122"/>
                  <a:cs typeface="Arial" charset="0"/>
                </a:rPr>
                <a:t>Ship</a:t>
              </a:r>
            </a:p>
          </p:txBody>
        </p:sp>
        <p:sp>
          <p:nvSpPr>
            <p:cNvPr id="15" name="Text Box 12"/>
            <p:cNvSpPr txBox="1">
              <a:spLocks noChangeArrowheads="1"/>
            </p:cNvSpPr>
            <p:nvPr/>
          </p:nvSpPr>
          <p:spPr bwMode="auto">
            <a:xfrm>
              <a:off x="11387792" y="2471661"/>
              <a:ext cx="594824" cy="328423"/>
            </a:xfrm>
            <a:prstGeom prst="rect">
              <a:avLst/>
            </a:prstGeom>
            <a:noFill/>
            <a:ln w="9525" algn="ctr">
              <a:noFill/>
              <a:miter lim="800000"/>
              <a:headEnd/>
              <a:tailEnd/>
            </a:ln>
            <a:effectLst/>
          </p:spPr>
          <p:txBody>
            <a:bodyPr wrap="square" lIns="0" tIns="0" rIns="0" bIns="0">
              <a:spAutoFit/>
            </a:bodyPr>
            <a:lstStyle/>
            <a:p>
              <a:pPr algn="ctr" fontAlgn="base">
                <a:lnSpc>
                  <a:spcPct val="97000"/>
                </a:lnSpc>
                <a:spcBef>
                  <a:spcPct val="0"/>
                </a:spcBef>
                <a:spcAft>
                  <a:spcPct val="0"/>
                </a:spcAft>
              </a:pPr>
              <a:r>
                <a:rPr lang="en-US" sz="1100" b="1" dirty="0">
                  <a:latin typeface="Arial" panose="020B0604020202020204" pitchFamily="34" charset="0"/>
                  <a:ea typeface="微软雅黑" panose="020B0503020204020204" pitchFamily="34" charset="-122"/>
                  <a:cs typeface="Arial" charset="0"/>
                </a:rPr>
                <a:t>Order</a:t>
              </a:r>
            </a:p>
            <a:p>
              <a:pPr algn="ctr" fontAlgn="base">
                <a:lnSpc>
                  <a:spcPct val="97000"/>
                </a:lnSpc>
                <a:spcBef>
                  <a:spcPct val="0"/>
                </a:spcBef>
                <a:spcAft>
                  <a:spcPct val="0"/>
                </a:spcAft>
              </a:pPr>
              <a:r>
                <a:rPr lang="en-US" sz="1100" b="1" dirty="0">
                  <a:latin typeface="Arial" panose="020B0604020202020204" pitchFamily="34" charset="0"/>
                  <a:ea typeface="微软雅黑" panose="020B0503020204020204" pitchFamily="34" charset="-122"/>
                  <a:cs typeface="Arial" charset="0"/>
                </a:rPr>
                <a:t>Delivery</a:t>
              </a:r>
            </a:p>
          </p:txBody>
        </p:sp>
        <p:sp>
          <p:nvSpPr>
            <p:cNvPr id="16" name="Rectangle 26"/>
            <p:cNvSpPr>
              <a:spLocks noChangeArrowheads="1"/>
            </p:cNvSpPr>
            <p:nvPr/>
          </p:nvSpPr>
          <p:spPr bwMode="auto">
            <a:xfrm>
              <a:off x="1318368" y="1146275"/>
              <a:ext cx="2676430" cy="275014"/>
            </a:xfrm>
            <a:prstGeom prst="rect">
              <a:avLst/>
            </a:prstGeom>
            <a:solidFill>
              <a:srgbClr val="C00000"/>
            </a:solidFill>
            <a:ln>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algn="ctr" fontAlgn="base">
                <a:spcBef>
                  <a:spcPct val="0"/>
                </a:spcBef>
                <a:spcAft>
                  <a:spcPct val="0"/>
                </a:spcAft>
              </a:pPr>
              <a:r>
                <a:rPr lang="en-US" sz="1200" b="1" dirty="0">
                  <a:solidFill>
                    <a:schemeClr val="tx1"/>
                  </a:solidFill>
                  <a:latin typeface="Arial" panose="020B0604020202020204" pitchFamily="34" charset="0"/>
                  <a:ea typeface="微软雅黑" panose="020B0503020204020204" pitchFamily="34" charset="-122"/>
                  <a:cs typeface="Arial" charset="0"/>
                </a:rPr>
                <a:t>FRONT END </a:t>
              </a:r>
            </a:p>
          </p:txBody>
        </p:sp>
        <p:sp>
          <p:nvSpPr>
            <p:cNvPr id="17" name="Rectangle 27"/>
            <p:cNvSpPr>
              <a:spLocks noChangeArrowheads="1"/>
            </p:cNvSpPr>
            <p:nvPr/>
          </p:nvSpPr>
          <p:spPr bwMode="auto">
            <a:xfrm>
              <a:off x="4125753" y="1147263"/>
              <a:ext cx="5049457" cy="274029"/>
            </a:xfrm>
            <a:prstGeom prst="rect">
              <a:avLst/>
            </a:prstGeom>
            <a:solidFill>
              <a:srgbClr val="C00000"/>
            </a:solidFill>
            <a:ln>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algn="ctr" fontAlgn="base">
                <a:spcBef>
                  <a:spcPct val="0"/>
                </a:spcBef>
                <a:spcAft>
                  <a:spcPct val="0"/>
                </a:spcAft>
              </a:pPr>
              <a:r>
                <a:rPr lang="en-US" sz="1200" b="1" dirty="0">
                  <a:solidFill>
                    <a:schemeClr val="tx1"/>
                  </a:solidFill>
                  <a:latin typeface="Arial" panose="020B0604020202020204" pitchFamily="34" charset="0"/>
                  <a:ea typeface="微软雅黑" panose="020B0503020204020204" pitchFamily="34" charset="-122"/>
                  <a:cs typeface="Arial" charset="0"/>
                </a:rPr>
                <a:t>CORE</a:t>
              </a:r>
            </a:p>
          </p:txBody>
        </p:sp>
        <p:sp>
          <p:nvSpPr>
            <p:cNvPr id="18" name="Text Box 10"/>
            <p:cNvSpPr txBox="1">
              <a:spLocks noChangeArrowheads="1"/>
            </p:cNvSpPr>
            <p:nvPr/>
          </p:nvSpPr>
          <p:spPr bwMode="auto">
            <a:xfrm>
              <a:off x="7844963" y="2471661"/>
              <a:ext cx="414779" cy="492635"/>
            </a:xfrm>
            <a:prstGeom prst="rect">
              <a:avLst/>
            </a:prstGeom>
            <a:noFill/>
            <a:ln w="9525" algn="ctr">
              <a:noFill/>
              <a:miter lim="800000"/>
              <a:headEnd/>
              <a:tailEnd/>
            </a:ln>
            <a:effectLst/>
          </p:spPr>
          <p:txBody>
            <a:bodyPr wrap="square" lIns="0" tIns="0" rIns="0" bIns="0">
              <a:spAutoFit/>
            </a:bodyPr>
            <a:lstStyle/>
            <a:p>
              <a:pPr algn="ctr" fontAlgn="base">
                <a:lnSpc>
                  <a:spcPct val="97000"/>
                </a:lnSpc>
                <a:spcBef>
                  <a:spcPct val="0"/>
                </a:spcBef>
                <a:spcAft>
                  <a:spcPct val="0"/>
                </a:spcAft>
              </a:pPr>
              <a:r>
                <a:rPr lang="en-US" sz="1100" i="1" dirty="0">
                  <a:latin typeface="Arial" panose="020B0604020202020204" pitchFamily="34" charset="0"/>
                  <a:ea typeface="微软雅黑" panose="020B0503020204020204" pitchFamily="34" charset="-122"/>
                  <a:cs typeface="Arial" charset="0"/>
                </a:rPr>
                <a:t>MO </a:t>
              </a:r>
            </a:p>
            <a:p>
              <a:pPr algn="ctr" fontAlgn="base">
                <a:lnSpc>
                  <a:spcPct val="97000"/>
                </a:lnSpc>
                <a:spcBef>
                  <a:spcPct val="0"/>
                </a:spcBef>
                <a:spcAft>
                  <a:spcPct val="0"/>
                </a:spcAft>
              </a:pPr>
              <a:r>
                <a:rPr lang="en-US" sz="1100" i="1" dirty="0">
                  <a:latin typeface="Arial" panose="020B0604020202020204" pitchFamily="34" charset="0"/>
                  <a:ea typeface="微软雅黑" panose="020B0503020204020204" pitchFamily="34" charset="-122"/>
                  <a:cs typeface="Arial" charset="0"/>
                </a:rPr>
                <a:t>Output</a:t>
              </a:r>
            </a:p>
          </p:txBody>
        </p:sp>
        <p:sp>
          <p:nvSpPr>
            <p:cNvPr id="19" name="Rectangle 18"/>
            <p:cNvSpPr/>
            <p:nvPr/>
          </p:nvSpPr>
          <p:spPr>
            <a:xfrm>
              <a:off x="1829911" y="2906250"/>
              <a:ext cx="493349" cy="304800"/>
            </a:xfrm>
            <a:prstGeom prst="rect">
              <a:avLst/>
            </a:prstGeom>
            <a:solidFill>
              <a:srgbClr val="C00000"/>
            </a:solidFill>
            <a:ln/>
          </p:spPr>
          <p:style>
            <a:lnRef idx="3">
              <a:schemeClr val="lt1"/>
            </a:lnRef>
            <a:fillRef idx="1">
              <a:schemeClr val="accent1"/>
            </a:fillRef>
            <a:effectRef idx="1">
              <a:schemeClr val="accent1"/>
            </a:effectRef>
            <a:fontRef idx="minor">
              <a:schemeClr val="lt1"/>
            </a:fontRef>
          </p:style>
          <p:txBody>
            <a:bodyPr rtlCol="0" anchor="ctr"/>
            <a:lstStyle/>
            <a:p>
              <a:pPr algn="ctr" fontAlgn="base">
                <a:spcBef>
                  <a:spcPct val="0"/>
                </a:spcBef>
                <a:spcAft>
                  <a:spcPct val="0"/>
                </a:spcAft>
              </a:pPr>
              <a:r>
                <a:rPr lang="en-US" sz="1100" b="1" dirty="0">
                  <a:solidFill>
                    <a:schemeClr val="tx1"/>
                  </a:solidFill>
                  <a:latin typeface="Arial" panose="020B0604020202020204" pitchFamily="34" charset="0"/>
                  <a:ea typeface="微软雅黑" panose="020B0503020204020204" pitchFamily="34" charset="-122"/>
                </a:rPr>
                <a:t>M1</a:t>
              </a:r>
            </a:p>
          </p:txBody>
        </p:sp>
        <p:sp>
          <p:nvSpPr>
            <p:cNvPr id="20" name="Rectangle 19"/>
            <p:cNvSpPr/>
            <p:nvPr/>
          </p:nvSpPr>
          <p:spPr>
            <a:xfrm>
              <a:off x="3178688" y="2906250"/>
              <a:ext cx="493349" cy="304800"/>
            </a:xfrm>
            <a:prstGeom prst="rect">
              <a:avLst/>
            </a:prstGeom>
            <a:solidFill>
              <a:srgbClr val="C00000"/>
            </a:solidFill>
            <a:ln/>
          </p:spPr>
          <p:style>
            <a:lnRef idx="3">
              <a:schemeClr val="lt1"/>
            </a:lnRef>
            <a:fillRef idx="1">
              <a:schemeClr val="accent1"/>
            </a:fillRef>
            <a:effectRef idx="1">
              <a:schemeClr val="accent1"/>
            </a:effectRef>
            <a:fontRef idx="minor">
              <a:schemeClr val="lt1"/>
            </a:fontRef>
          </p:style>
          <p:txBody>
            <a:bodyPr rtlCol="0" anchor="ctr"/>
            <a:lstStyle/>
            <a:p>
              <a:pPr algn="ctr" fontAlgn="base">
                <a:spcBef>
                  <a:spcPct val="0"/>
                </a:spcBef>
                <a:spcAft>
                  <a:spcPct val="0"/>
                </a:spcAft>
              </a:pPr>
              <a:r>
                <a:rPr lang="en-US" sz="1100" b="1" dirty="0">
                  <a:solidFill>
                    <a:schemeClr val="tx1"/>
                  </a:solidFill>
                  <a:latin typeface="Arial" panose="020B0604020202020204" pitchFamily="34" charset="0"/>
                  <a:ea typeface="微软雅黑" panose="020B0503020204020204" pitchFamily="34" charset="-122"/>
                </a:rPr>
                <a:t>M2</a:t>
              </a:r>
            </a:p>
          </p:txBody>
        </p:sp>
        <p:sp>
          <p:nvSpPr>
            <p:cNvPr id="21" name="Rectangle 20"/>
            <p:cNvSpPr/>
            <p:nvPr/>
          </p:nvSpPr>
          <p:spPr>
            <a:xfrm>
              <a:off x="10894443" y="2898031"/>
              <a:ext cx="493349" cy="304800"/>
            </a:xfrm>
            <a:prstGeom prst="rect">
              <a:avLst/>
            </a:prstGeom>
            <a:solidFill>
              <a:srgbClr val="C00000"/>
            </a:solidFill>
            <a:ln/>
          </p:spPr>
          <p:style>
            <a:lnRef idx="3">
              <a:schemeClr val="lt1"/>
            </a:lnRef>
            <a:fillRef idx="1">
              <a:schemeClr val="accent1"/>
            </a:fillRef>
            <a:effectRef idx="1">
              <a:schemeClr val="accent1"/>
            </a:effectRef>
            <a:fontRef idx="minor">
              <a:schemeClr val="lt1"/>
            </a:fontRef>
          </p:style>
          <p:txBody>
            <a:bodyPr rtlCol="0" anchor="ctr"/>
            <a:lstStyle/>
            <a:p>
              <a:pPr algn="ctr" fontAlgn="base">
                <a:spcBef>
                  <a:spcPct val="0"/>
                </a:spcBef>
                <a:spcAft>
                  <a:spcPct val="0"/>
                </a:spcAft>
              </a:pPr>
              <a:r>
                <a:rPr lang="en-US" sz="1100" b="1" dirty="0">
                  <a:solidFill>
                    <a:schemeClr val="tx1"/>
                  </a:solidFill>
                  <a:latin typeface="Arial" panose="020B0604020202020204" pitchFamily="34" charset="0"/>
                  <a:ea typeface="微软雅黑" panose="020B0503020204020204" pitchFamily="34" charset="-122"/>
                </a:rPr>
                <a:t>M4.5</a:t>
              </a:r>
            </a:p>
          </p:txBody>
        </p:sp>
        <p:sp>
          <p:nvSpPr>
            <p:cNvPr id="29" name="Rectangle 18"/>
            <p:cNvSpPr>
              <a:spLocks noChangeArrowheads="1"/>
            </p:cNvSpPr>
            <p:nvPr/>
          </p:nvSpPr>
          <p:spPr bwMode="auto">
            <a:xfrm>
              <a:off x="2842257" y="1463342"/>
              <a:ext cx="1158266" cy="1052981"/>
            </a:xfrm>
            <a:prstGeom prst="rect">
              <a:avLst/>
            </a:prstGeom>
            <a:noFill/>
            <a:ln w="19050" algn="ctr">
              <a:noFill/>
              <a:miter lim="800000"/>
              <a:headEnd/>
              <a:tailEnd/>
            </a:ln>
            <a:effectLst/>
          </p:spPr>
          <p:txBody>
            <a:bodyPr wrap="square" lIns="0" tIns="0" rIns="0" bIns="0">
              <a:spAutoFit/>
            </a:bodyPr>
            <a:lstStyle/>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Sourcing</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Clear credit</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Clear blocks</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Prepayment</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DC Management</a:t>
              </a:r>
            </a:p>
          </p:txBody>
        </p:sp>
        <p:sp>
          <p:nvSpPr>
            <p:cNvPr id="30" name="Rectangle 19"/>
            <p:cNvSpPr>
              <a:spLocks noChangeArrowheads="1"/>
            </p:cNvSpPr>
            <p:nvPr/>
          </p:nvSpPr>
          <p:spPr bwMode="auto">
            <a:xfrm>
              <a:off x="4172955" y="1463339"/>
              <a:ext cx="1336252" cy="1217193"/>
            </a:xfrm>
            <a:prstGeom prst="rect">
              <a:avLst/>
            </a:prstGeom>
            <a:noFill/>
            <a:ln w="19050" algn="ctr">
              <a:noFill/>
              <a:miter lim="800000"/>
              <a:headEnd/>
              <a:tailEnd/>
            </a:ln>
            <a:effectLst/>
          </p:spPr>
          <p:txBody>
            <a:bodyPr wrap="square" lIns="0" tIns="0" rIns="0" bIns="0">
              <a:spAutoFit/>
            </a:bodyPr>
            <a:lstStyle/>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PO Release</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Delivery Plan</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Production Plan</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MO release</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Missing Parts publish and feedback</a:t>
              </a:r>
            </a:p>
          </p:txBody>
        </p:sp>
        <p:sp>
          <p:nvSpPr>
            <p:cNvPr id="31" name="Rectangle 20"/>
            <p:cNvSpPr>
              <a:spLocks noChangeArrowheads="1"/>
            </p:cNvSpPr>
            <p:nvPr/>
          </p:nvSpPr>
          <p:spPr bwMode="auto">
            <a:xfrm>
              <a:off x="10512066" y="1463336"/>
              <a:ext cx="957017" cy="690702"/>
            </a:xfrm>
            <a:prstGeom prst="rect">
              <a:avLst/>
            </a:prstGeom>
            <a:noFill/>
            <a:ln w="19050" algn="ctr">
              <a:noFill/>
              <a:miter lim="800000"/>
              <a:headEnd/>
              <a:tailEnd/>
            </a:ln>
            <a:effectLst/>
          </p:spPr>
          <p:txBody>
            <a:bodyPr wrap="square" lIns="0" tIns="0" rIns="0" bIns="0">
              <a:spAutoFit/>
            </a:bodyPr>
            <a:lstStyle/>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Customs</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Transit time</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Customer delivery</a:t>
              </a:r>
            </a:p>
          </p:txBody>
        </p:sp>
        <p:sp>
          <p:nvSpPr>
            <p:cNvPr id="32" name="Rectangle 21"/>
            <p:cNvSpPr>
              <a:spLocks noChangeArrowheads="1"/>
            </p:cNvSpPr>
            <p:nvPr/>
          </p:nvSpPr>
          <p:spPr bwMode="auto">
            <a:xfrm>
              <a:off x="8110861" y="1463459"/>
              <a:ext cx="1015892" cy="526491"/>
            </a:xfrm>
            <a:prstGeom prst="rect">
              <a:avLst/>
            </a:prstGeom>
            <a:noFill/>
            <a:ln w="19050" algn="ctr">
              <a:noFill/>
              <a:miter lim="800000"/>
              <a:headEnd/>
              <a:tailEnd/>
            </a:ln>
            <a:effectLst/>
          </p:spPr>
          <p:txBody>
            <a:bodyPr wrap="square" lIns="0" tIns="0" rIns="0" bIns="0">
              <a:spAutoFit/>
            </a:bodyPr>
            <a:lstStyle/>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DDL</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Pick/Pack</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Goods Issue</a:t>
              </a:r>
            </a:p>
          </p:txBody>
        </p:sp>
        <p:sp>
          <p:nvSpPr>
            <p:cNvPr id="33" name="Rectangle 19"/>
            <p:cNvSpPr>
              <a:spLocks noChangeArrowheads="1"/>
            </p:cNvSpPr>
            <p:nvPr/>
          </p:nvSpPr>
          <p:spPr bwMode="auto">
            <a:xfrm>
              <a:off x="6809813" y="1471803"/>
              <a:ext cx="1129787" cy="345351"/>
            </a:xfrm>
            <a:prstGeom prst="rect">
              <a:avLst/>
            </a:prstGeom>
            <a:noFill/>
            <a:ln w="19050" algn="ctr">
              <a:noFill/>
              <a:miter lim="800000"/>
              <a:headEnd/>
              <a:tailEnd/>
            </a:ln>
            <a:effectLst/>
          </p:spPr>
          <p:txBody>
            <a:bodyPr wrap="square" lIns="0" tIns="0" rIns="0" bIns="0">
              <a:spAutoFit/>
            </a:bodyPr>
            <a:lstStyle/>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Manufacturing</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Assembly</a:t>
              </a:r>
            </a:p>
          </p:txBody>
        </p:sp>
        <p:sp>
          <p:nvSpPr>
            <p:cNvPr id="34" name="Rectangle 17"/>
            <p:cNvSpPr>
              <a:spLocks noChangeArrowheads="1"/>
            </p:cNvSpPr>
            <p:nvPr/>
          </p:nvSpPr>
          <p:spPr bwMode="auto">
            <a:xfrm>
              <a:off x="1425956" y="1463342"/>
              <a:ext cx="1275228" cy="1052981"/>
            </a:xfrm>
            <a:prstGeom prst="rect">
              <a:avLst/>
            </a:prstGeom>
            <a:noFill/>
            <a:ln w="19050" algn="ctr">
              <a:noFill/>
              <a:miter lim="800000"/>
              <a:headEnd/>
              <a:tailEnd/>
            </a:ln>
            <a:effectLst/>
          </p:spPr>
          <p:txBody>
            <a:bodyPr wrap="square" lIns="0" tIns="0" rIns="0" bIns="0">
              <a:spAutoFit/>
            </a:bodyPr>
            <a:lstStyle/>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Pricing</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Stuck Orders</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Material Setup</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ONL</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Firm Order Policy</a:t>
              </a:r>
            </a:p>
          </p:txBody>
        </p:sp>
        <p:sp>
          <p:nvSpPr>
            <p:cNvPr id="35" name="Rectangle 34"/>
            <p:cNvSpPr/>
            <p:nvPr/>
          </p:nvSpPr>
          <p:spPr>
            <a:xfrm>
              <a:off x="9731230" y="2906250"/>
              <a:ext cx="493349" cy="304800"/>
            </a:xfrm>
            <a:prstGeom prst="rect">
              <a:avLst/>
            </a:prstGeom>
            <a:solidFill>
              <a:srgbClr val="C00000"/>
            </a:solidFill>
            <a:ln/>
          </p:spPr>
          <p:style>
            <a:lnRef idx="3">
              <a:schemeClr val="lt1"/>
            </a:lnRef>
            <a:fillRef idx="1">
              <a:schemeClr val="accent1"/>
            </a:fillRef>
            <a:effectRef idx="1">
              <a:schemeClr val="accent1"/>
            </a:effectRef>
            <a:fontRef idx="minor">
              <a:schemeClr val="lt1"/>
            </a:fontRef>
          </p:style>
          <p:txBody>
            <a:bodyPr rtlCol="0" anchor="ctr"/>
            <a:lstStyle/>
            <a:p>
              <a:pPr algn="ctr" fontAlgn="base">
                <a:spcBef>
                  <a:spcPct val="0"/>
                </a:spcBef>
                <a:spcAft>
                  <a:spcPct val="0"/>
                </a:spcAft>
              </a:pPr>
              <a:r>
                <a:rPr lang="en-US" sz="1100" b="1" dirty="0">
                  <a:solidFill>
                    <a:schemeClr val="tx1"/>
                  </a:solidFill>
                  <a:latin typeface="Arial" panose="020B0604020202020204" pitchFamily="34" charset="0"/>
                  <a:ea typeface="微软雅黑" panose="020B0503020204020204" pitchFamily="34" charset="-122"/>
                </a:rPr>
                <a:t>M4.0</a:t>
              </a:r>
            </a:p>
          </p:txBody>
        </p:sp>
        <p:sp>
          <p:nvSpPr>
            <p:cNvPr id="36" name="Line 14"/>
            <p:cNvSpPr>
              <a:spLocks noChangeShapeType="1"/>
            </p:cNvSpPr>
            <p:nvPr/>
          </p:nvSpPr>
          <p:spPr bwMode="auto">
            <a:xfrm>
              <a:off x="1341603" y="1463336"/>
              <a:ext cx="0" cy="972000"/>
            </a:xfrm>
            <a:prstGeom prst="line">
              <a:avLst/>
            </a:prstGeom>
            <a:noFill/>
            <a:ln w="19050">
              <a:solidFill>
                <a:schemeClr val="accent6"/>
              </a:solidFill>
              <a:round/>
              <a:headEnd/>
              <a:tailEnd/>
            </a:ln>
            <a:effectLst/>
          </p:spPr>
          <p:txBody>
            <a:bodyPr wrap="square" lIns="0" tIns="0" rIns="0" bIns="0" anchor="ctr">
              <a:spAutoFit/>
            </a:bodyPr>
            <a:lstStyle/>
            <a:p>
              <a:pPr fontAlgn="base">
                <a:spcBef>
                  <a:spcPct val="0"/>
                </a:spcBef>
                <a:spcAft>
                  <a:spcPct val="0"/>
                </a:spcAft>
              </a:pPr>
              <a:endParaRPr lang="en-US" sz="1100" dirty="0">
                <a:latin typeface="Arial" pitchFamily="34" charset="0"/>
                <a:ea typeface="SimSun" pitchFamily="2" charset="-122"/>
              </a:endParaRPr>
            </a:p>
          </p:txBody>
        </p:sp>
        <p:sp>
          <p:nvSpPr>
            <p:cNvPr id="37" name="Line 15"/>
            <p:cNvSpPr>
              <a:spLocks noChangeShapeType="1"/>
            </p:cNvSpPr>
            <p:nvPr/>
          </p:nvSpPr>
          <p:spPr bwMode="auto">
            <a:xfrm>
              <a:off x="2761810" y="1463336"/>
              <a:ext cx="0" cy="972000"/>
            </a:xfrm>
            <a:prstGeom prst="line">
              <a:avLst/>
            </a:prstGeom>
            <a:noFill/>
            <a:ln w="19050">
              <a:solidFill>
                <a:schemeClr val="accent6"/>
              </a:solidFill>
              <a:round/>
              <a:headEnd/>
              <a:tailEnd/>
            </a:ln>
            <a:effectLst/>
          </p:spPr>
          <p:txBody>
            <a:bodyPr wrap="square" lIns="0" tIns="0" rIns="0" bIns="0" anchor="ctr">
              <a:noAutofit/>
            </a:bodyPr>
            <a:lstStyle/>
            <a:p>
              <a:pPr fontAlgn="base">
                <a:spcBef>
                  <a:spcPct val="0"/>
                </a:spcBef>
                <a:spcAft>
                  <a:spcPct val="0"/>
                </a:spcAft>
              </a:pPr>
              <a:endParaRPr lang="en-US" sz="1100" dirty="0">
                <a:latin typeface="Arial" pitchFamily="34" charset="0"/>
                <a:ea typeface="SimSun" pitchFamily="2" charset="-122"/>
              </a:endParaRPr>
            </a:p>
          </p:txBody>
        </p:sp>
        <p:sp>
          <p:nvSpPr>
            <p:cNvPr id="38" name="Line 38"/>
            <p:cNvSpPr>
              <a:spLocks noChangeShapeType="1"/>
            </p:cNvSpPr>
            <p:nvPr/>
          </p:nvSpPr>
          <p:spPr bwMode="auto">
            <a:xfrm>
              <a:off x="4064598" y="1463336"/>
              <a:ext cx="1457" cy="972000"/>
            </a:xfrm>
            <a:prstGeom prst="line">
              <a:avLst/>
            </a:prstGeom>
            <a:noFill/>
            <a:ln w="19050">
              <a:solidFill>
                <a:schemeClr val="accent6"/>
              </a:solidFill>
              <a:round/>
              <a:headEnd/>
              <a:tailEnd/>
            </a:ln>
            <a:effectLst/>
          </p:spPr>
          <p:txBody>
            <a:bodyPr wrap="square" lIns="0" tIns="0" rIns="0" bIns="0" anchor="ctr">
              <a:spAutoFit/>
            </a:bodyPr>
            <a:lstStyle/>
            <a:p>
              <a:pPr fontAlgn="base">
                <a:spcBef>
                  <a:spcPct val="0"/>
                </a:spcBef>
                <a:spcAft>
                  <a:spcPct val="0"/>
                </a:spcAft>
              </a:pPr>
              <a:endParaRPr lang="en-US" sz="1100" dirty="0">
                <a:latin typeface="Arial" pitchFamily="34" charset="0"/>
                <a:ea typeface="SimSun" pitchFamily="2" charset="-122"/>
              </a:endParaRPr>
            </a:p>
          </p:txBody>
        </p:sp>
        <p:sp>
          <p:nvSpPr>
            <p:cNvPr id="39" name="Line 38"/>
            <p:cNvSpPr>
              <a:spLocks noChangeShapeType="1"/>
            </p:cNvSpPr>
            <p:nvPr/>
          </p:nvSpPr>
          <p:spPr bwMode="auto">
            <a:xfrm>
              <a:off x="8047277" y="1463336"/>
              <a:ext cx="0" cy="972000"/>
            </a:xfrm>
            <a:prstGeom prst="line">
              <a:avLst/>
            </a:prstGeom>
            <a:noFill/>
            <a:ln w="19050">
              <a:solidFill>
                <a:schemeClr val="accent6"/>
              </a:solidFill>
              <a:round/>
              <a:headEnd/>
              <a:tailEnd/>
            </a:ln>
            <a:effectLst/>
          </p:spPr>
          <p:txBody>
            <a:bodyPr wrap="square" lIns="0" tIns="0" rIns="0" bIns="0" anchor="ctr">
              <a:spAutoFit/>
            </a:bodyPr>
            <a:lstStyle/>
            <a:p>
              <a:pPr fontAlgn="base">
                <a:spcBef>
                  <a:spcPct val="0"/>
                </a:spcBef>
                <a:spcAft>
                  <a:spcPct val="0"/>
                </a:spcAft>
              </a:pPr>
              <a:endParaRPr lang="en-US" sz="1100" dirty="0">
                <a:latin typeface="Arial" pitchFamily="34" charset="0"/>
                <a:ea typeface="SimSun" pitchFamily="2" charset="-122"/>
              </a:endParaRPr>
            </a:p>
          </p:txBody>
        </p:sp>
        <p:sp>
          <p:nvSpPr>
            <p:cNvPr id="40" name="Line 14"/>
            <p:cNvSpPr>
              <a:spLocks noChangeShapeType="1"/>
            </p:cNvSpPr>
            <p:nvPr/>
          </p:nvSpPr>
          <p:spPr bwMode="auto">
            <a:xfrm>
              <a:off x="11715272" y="1463336"/>
              <a:ext cx="0" cy="972000"/>
            </a:xfrm>
            <a:prstGeom prst="line">
              <a:avLst/>
            </a:prstGeom>
            <a:noFill/>
            <a:ln w="19050">
              <a:solidFill>
                <a:schemeClr val="accent6"/>
              </a:solidFill>
              <a:round/>
              <a:headEnd/>
              <a:tailEnd/>
            </a:ln>
            <a:effectLst/>
          </p:spPr>
          <p:txBody>
            <a:bodyPr wrap="square" lIns="0" tIns="0" rIns="0" bIns="0" anchor="ctr">
              <a:spAutoFit/>
            </a:bodyPr>
            <a:lstStyle/>
            <a:p>
              <a:pPr fontAlgn="base">
                <a:spcBef>
                  <a:spcPct val="0"/>
                </a:spcBef>
                <a:spcAft>
                  <a:spcPct val="0"/>
                </a:spcAft>
              </a:pPr>
              <a:endParaRPr lang="en-US" sz="1100" dirty="0">
                <a:latin typeface="Arial" pitchFamily="34" charset="0"/>
                <a:ea typeface="SimSun" pitchFamily="2" charset="-122"/>
              </a:endParaRPr>
            </a:p>
          </p:txBody>
        </p:sp>
        <p:sp>
          <p:nvSpPr>
            <p:cNvPr id="41" name="Line 38"/>
            <p:cNvSpPr>
              <a:spLocks noChangeShapeType="1"/>
            </p:cNvSpPr>
            <p:nvPr/>
          </p:nvSpPr>
          <p:spPr bwMode="auto">
            <a:xfrm>
              <a:off x="5455438" y="1463336"/>
              <a:ext cx="0" cy="972000"/>
            </a:xfrm>
            <a:prstGeom prst="line">
              <a:avLst/>
            </a:prstGeom>
            <a:noFill/>
            <a:ln w="19050">
              <a:solidFill>
                <a:schemeClr val="accent6"/>
              </a:solidFill>
              <a:round/>
              <a:headEnd/>
              <a:tailEnd/>
            </a:ln>
            <a:effectLst/>
          </p:spPr>
          <p:txBody>
            <a:bodyPr wrap="square" lIns="0" tIns="0" rIns="0" bIns="0" anchor="ctr">
              <a:spAutoFit/>
            </a:bodyPr>
            <a:lstStyle/>
            <a:p>
              <a:pPr fontAlgn="base">
                <a:spcBef>
                  <a:spcPct val="0"/>
                </a:spcBef>
                <a:spcAft>
                  <a:spcPct val="0"/>
                </a:spcAft>
              </a:pPr>
              <a:endParaRPr lang="en-US" sz="1100" dirty="0">
                <a:latin typeface="Arial" pitchFamily="34" charset="0"/>
                <a:ea typeface="SimSun" pitchFamily="2" charset="-122"/>
              </a:endParaRPr>
            </a:p>
          </p:txBody>
        </p:sp>
        <p:sp>
          <p:nvSpPr>
            <p:cNvPr id="42" name="Line 38"/>
            <p:cNvSpPr>
              <a:spLocks noChangeShapeType="1"/>
            </p:cNvSpPr>
            <p:nvPr/>
          </p:nvSpPr>
          <p:spPr bwMode="auto">
            <a:xfrm>
              <a:off x="10441532" y="1463336"/>
              <a:ext cx="0" cy="972000"/>
            </a:xfrm>
            <a:prstGeom prst="line">
              <a:avLst/>
            </a:prstGeom>
            <a:noFill/>
            <a:ln w="19050">
              <a:solidFill>
                <a:schemeClr val="accent6"/>
              </a:solidFill>
              <a:round/>
              <a:headEnd/>
              <a:tailEnd/>
            </a:ln>
            <a:effectLst/>
          </p:spPr>
          <p:txBody>
            <a:bodyPr wrap="square" lIns="0" tIns="0" rIns="0" bIns="0" anchor="ctr">
              <a:spAutoFit/>
            </a:bodyPr>
            <a:lstStyle/>
            <a:p>
              <a:pPr fontAlgn="base">
                <a:spcBef>
                  <a:spcPct val="0"/>
                </a:spcBef>
                <a:spcAft>
                  <a:spcPct val="0"/>
                </a:spcAft>
              </a:pPr>
              <a:endParaRPr lang="en-US" sz="1100" dirty="0">
                <a:latin typeface="Arial" pitchFamily="34" charset="0"/>
                <a:ea typeface="SimSun" pitchFamily="2" charset="-122"/>
              </a:endParaRPr>
            </a:p>
          </p:txBody>
        </p:sp>
        <p:sp>
          <p:nvSpPr>
            <p:cNvPr id="43" name="Line 39"/>
            <p:cNvSpPr>
              <a:spLocks noChangeShapeType="1"/>
            </p:cNvSpPr>
            <p:nvPr/>
          </p:nvSpPr>
          <p:spPr bwMode="auto">
            <a:xfrm>
              <a:off x="9230524" y="1463336"/>
              <a:ext cx="1457" cy="972000"/>
            </a:xfrm>
            <a:prstGeom prst="line">
              <a:avLst/>
            </a:prstGeom>
            <a:noFill/>
            <a:ln w="19050">
              <a:solidFill>
                <a:schemeClr val="accent6"/>
              </a:solidFill>
              <a:round/>
              <a:headEnd/>
              <a:tailEnd/>
            </a:ln>
            <a:effectLst/>
          </p:spPr>
          <p:txBody>
            <a:bodyPr wrap="square" lIns="0" tIns="0" rIns="0" bIns="0" anchor="ctr">
              <a:spAutoFit/>
            </a:bodyPr>
            <a:lstStyle/>
            <a:p>
              <a:pPr fontAlgn="base">
                <a:spcBef>
                  <a:spcPct val="0"/>
                </a:spcBef>
                <a:spcAft>
                  <a:spcPct val="0"/>
                </a:spcAft>
              </a:pPr>
              <a:endParaRPr lang="en-US" sz="1100" dirty="0">
                <a:latin typeface="Arial" pitchFamily="34" charset="0"/>
                <a:ea typeface="SimSun" pitchFamily="2" charset="-122"/>
              </a:endParaRPr>
            </a:p>
          </p:txBody>
        </p:sp>
        <p:sp>
          <p:nvSpPr>
            <p:cNvPr id="44" name="Rectangle 20"/>
            <p:cNvSpPr>
              <a:spLocks noChangeArrowheads="1"/>
            </p:cNvSpPr>
            <p:nvPr/>
          </p:nvSpPr>
          <p:spPr bwMode="auto">
            <a:xfrm>
              <a:off x="9321788" y="1463459"/>
              <a:ext cx="1026052" cy="509563"/>
            </a:xfrm>
            <a:prstGeom prst="rect">
              <a:avLst/>
            </a:prstGeom>
            <a:noFill/>
            <a:ln w="19050" algn="ctr">
              <a:noFill/>
              <a:miter lim="800000"/>
              <a:headEnd/>
              <a:tailEnd/>
            </a:ln>
            <a:effectLst/>
          </p:spPr>
          <p:txBody>
            <a:bodyPr wrap="square" lIns="0" tIns="0" rIns="0" bIns="0">
              <a:spAutoFit/>
            </a:bodyPr>
            <a:lstStyle/>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Carrier Pickup</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sz="1100" dirty="0">
                  <a:latin typeface="Arial" panose="020B0604020202020204" pitchFamily="34" charset="0"/>
                  <a:ea typeface="微软雅黑" panose="020B0503020204020204" pitchFamily="34" charset="-122"/>
                </a:rPr>
                <a:t>Customs</a:t>
              </a:r>
            </a:p>
          </p:txBody>
        </p:sp>
        <p:sp>
          <p:nvSpPr>
            <p:cNvPr id="45" name="Text Box 10"/>
            <p:cNvSpPr txBox="1">
              <a:spLocks noChangeArrowheads="1"/>
            </p:cNvSpPr>
            <p:nvPr/>
          </p:nvSpPr>
          <p:spPr bwMode="auto">
            <a:xfrm>
              <a:off x="10041437" y="2471661"/>
              <a:ext cx="957016" cy="328423"/>
            </a:xfrm>
            <a:prstGeom prst="rect">
              <a:avLst/>
            </a:prstGeom>
            <a:noFill/>
            <a:ln w="9525" algn="ctr">
              <a:noFill/>
              <a:miter lim="800000"/>
              <a:headEnd/>
              <a:tailEnd/>
            </a:ln>
            <a:effectLst/>
          </p:spPr>
          <p:txBody>
            <a:bodyPr wrap="square" lIns="0" tIns="0" rIns="0" bIns="0">
              <a:spAutoFit/>
            </a:bodyPr>
            <a:lstStyle/>
            <a:p>
              <a:pPr algn="ctr" fontAlgn="base">
                <a:lnSpc>
                  <a:spcPct val="97000"/>
                </a:lnSpc>
                <a:spcBef>
                  <a:spcPct val="0"/>
                </a:spcBef>
                <a:spcAft>
                  <a:spcPct val="0"/>
                </a:spcAft>
              </a:pPr>
              <a:r>
                <a:rPr lang="en-US" sz="1100" i="1" dirty="0">
                  <a:latin typeface="Arial" panose="020B0604020202020204" pitchFamily="34" charset="0"/>
                  <a:ea typeface="微软雅黑" panose="020B0503020204020204" pitchFamily="34" charset="-122"/>
                  <a:cs typeface="Arial" charset="0"/>
                </a:rPr>
                <a:t>Cargo Uplift /</a:t>
              </a:r>
            </a:p>
            <a:p>
              <a:pPr algn="ctr" fontAlgn="base">
                <a:lnSpc>
                  <a:spcPct val="97000"/>
                </a:lnSpc>
                <a:spcBef>
                  <a:spcPct val="0"/>
                </a:spcBef>
                <a:spcAft>
                  <a:spcPct val="0"/>
                </a:spcAft>
              </a:pPr>
              <a:r>
                <a:rPr lang="en-US" sz="1100" i="1" dirty="0">
                  <a:latin typeface="Arial" panose="020B0604020202020204" pitchFamily="34" charset="0"/>
                  <a:ea typeface="微软雅黑" panose="020B0503020204020204" pitchFamily="34" charset="-122"/>
                  <a:cs typeface="Arial" charset="0"/>
                </a:rPr>
                <a:t>On Board</a:t>
              </a:r>
            </a:p>
          </p:txBody>
        </p:sp>
        <p:sp>
          <p:nvSpPr>
            <p:cNvPr id="46" name="Rectangle 27"/>
            <p:cNvSpPr>
              <a:spLocks noChangeArrowheads="1"/>
            </p:cNvSpPr>
            <p:nvPr/>
          </p:nvSpPr>
          <p:spPr bwMode="auto">
            <a:xfrm>
              <a:off x="9268395" y="1152525"/>
              <a:ext cx="2437841" cy="268769"/>
            </a:xfrm>
            <a:prstGeom prst="rect">
              <a:avLst/>
            </a:prstGeom>
            <a:solidFill>
              <a:srgbClr val="C00000"/>
            </a:solidFill>
            <a:ln>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algn="ctr" fontAlgn="base">
                <a:spcBef>
                  <a:spcPct val="0"/>
                </a:spcBef>
                <a:spcAft>
                  <a:spcPct val="0"/>
                </a:spcAft>
              </a:pPr>
              <a:r>
                <a:rPr lang="en-US" sz="1200" b="1" dirty="0">
                  <a:solidFill>
                    <a:schemeClr val="tx1"/>
                  </a:solidFill>
                  <a:latin typeface="Arial" panose="020B0604020202020204" pitchFamily="34" charset="0"/>
                  <a:ea typeface="微软雅黑" panose="020B0503020204020204" pitchFamily="34" charset="-122"/>
                  <a:cs typeface="Arial" charset="0"/>
                </a:rPr>
                <a:t>BACK END </a:t>
              </a:r>
            </a:p>
          </p:txBody>
        </p:sp>
        <p:sp>
          <p:nvSpPr>
            <p:cNvPr id="52" name="Line 38"/>
            <p:cNvSpPr>
              <a:spLocks noChangeShapeType="1"/>
            </p:cNvSpPr>
            <p:nvPr/>
          </p:nvSpPr>
          <p:spPr bwMode="auto">
            <a:xfrm>
              <a:off x="6665863" y="1456034"/>
              <a:ext cx="0" cy="972000"/>
            </a:xfrm>
            <a:prstGeom prst="line">
              <a:avLst/>
            </a:prstGeom>
            <a:noFill/>
            <a:ln w="19050">
              <a:solidFill>
                <a:schemeClr val="accent6"/>
              </a:solidFill>
              <a:round/>
              <a:headEnd/>
              <a:tailEnd/>
            </a:ln>
            <a:effectLst/>
          </p:spPr>
          <p:txBody>
            <a:bodyPr wrap="square" lIns="0" tIns="0" rIns="0" bIns="0" anchor="ctr">
              <a:spAutoFit/>
            </a:bodyPr>
            <a:lstStyle/>
            <a:p>
              <a:pPr fontAlgn="base">
                <a:spcBef>
                  <a:spcPct val="0"/>
                </a:spcBef>
                <a:spcAft>
                  <a:spcPct val="0"/>
                </a:spcAft>
              </a:pPr>
              <a:endParaRPr lang="en-US" sz="1100" dirty="0">
                <a:latin typeface="Arial" pitchFamily="34" charset="0"/>
                <a:ea typeface="SimSun" pitchFamily="2" charset="-122"/>
              </a:endParaRPr>
            </a:p>
          </p:txBody>
        </p:sp>
        <p:sp>
          <p:nvSpPr>
            <p:cNvPr id="53" name="矩形 54"/>
            <p:cNvSpPr/>
            <p:nvPr/>
          </p:nvSpPr>
          <p:spPr>
            <a:xfrm>
              <a:off x="5576040" y="1409173"/>
              <a:ext cx="994674" cy="437684"/>
            </a:xfrm>
            <a:prstGeom prst="rect">
              <a:avLst/>
            </a:prstGeom>
          </p:spPr>
          <p:txBody>
            <a:bodyPr wrap="square">
              <a:spAutoFit/>
            </a:bodyPr>
            <a:lstStyle/>
            <a:p>
              <a:pPr marL="197607" lvl="1" indent="-195987" defTabSz="913526" fontAlgn="base">
                <a:lnSpc>
                  <a:spcPct val="97000"/>
                </a:lnSpc>
                <a:spcBef>
                  <a:spcPct val="10000"/>
                </a:spcBef>
                <a:spcAft>
                  <a:spcPct val="0"/>
                </a:spcAft>
                <a:buClr>
                  <a:srgbClr val="C00000"/>
                </a:buClr>
                <a:buSzPct val="125000"/>
                <a:buFont typeface="Arial" charset="0"/>
                <a:buChar char="▪"/>
              </a:pPr>
              <a:r>
                <a:rPr lang="en-US" altLang="zh-CN" sz="1100" dirty="0">
                  <a:latin typeface="Arial" panose="020B0604020202020204" pitchFamily="34" charset="0"/>
                  <a:ea typeface="微软雅黑" panose="020B0503020204020204" pitchFamily="34" charset="-122"/>
                </a:rPr>
                <a:t>Schedule</a:t>
              </a:r>
            </a:p>
            <a:p>
              <a:pPr marL="197607" lvl="1" indent="-195987" defTabSz="913526" fontAlgn="base">
                <a:lnSpc>
                  <a:spcPct val="97000"/>
                </a:lnSpc>
                <a:spcBef>
                  <a:spcPct val="10000"/>
                </a:spcBef>
                <a:spcAft>
                  <a:spcPct val="0"/>
                </a:spcAft>
                <a:buClr>
                  <a:srgbClr val="C00000"/>
                </a:buClr>
                <a:buSzPct val="125000"/>
                <a:buFont typeface="Arial" charset="0"/>
                <a:buChar char="▪"/>
              </a:pPr>
              <a:r>
                <a:rPr lang="en-US" altLang="zh-CN" sz="1100" dirty="0">
                  <a:latin typeface="Arial" panose="020B0604020202020204" pitchFamily="34" charset="0"/>
                  <a:ea typeface="微软雅黑" panose="020B0503020204020204" pitchFamily="34" charset="-122"/>
                </a:rPr>
                <a:t>Kitting</a:t>
              </a:r>
            </a:p>
          </p:txBody>
        </p:sp>
        <p:grpSp>
          <p:nvGrpSpPr>
            <p:cNvPr id="5" name="组合 4">
              <a:extLst>
                <a:ext uri="{FF2B5EF4-FFF2-40B4-BE49-F238E27FC236}">
                  <a16:creationId xmlns:a16="http://schemas.microsoft.com/office/drawing/2014/main" id="{4830AC9E-1BD2-4B78-B52E-3A80CB097968}"/>
                </a:ext>
              </a:extLst>
            </p:cNvPr>
            <p:cNvGrpSpPr/>
            <p:nvPr/>
          </p:nvGrpSpPr>
          <p:grpSpPr>
            <a:xfrm>
              <a:off x="4284676" y="2831261"/>
              <a:ext cx="4827854" cy="414866"/>
              <a:chOff x="3824168" y="3361595"/>
              <a:chExt cx="4907128" cy="414866"/>
            </a:xfrm>
          </p:grpSpPr>
          <p:sp>
            <p:nvSpPr>
              <p:cNvPr id="71" name="Rectangle 24">
                <a:extLst>
                  <a:ext uri="{FF2B5EF4-FFF2-40B4-BE49-F238E27FC236}">
                    <a16:creationId xmlns:a16="http://schemas.microsoft.com/office/drawing/2014/main" id="{FC6FE9DF-DAB5-4769-AE54-CA79C4E46765}"/>
                  </a:ext>
                </a:extLst>
              </p:cNvPr>
              <p:cNvSpPr/>
              <p:nvPr/>
            </p:nvSpPr>
            <p:spPr>
              <a:xfrm>
                <a:off x="3824168" y="3361595"/>
                <a:ext cx="4907128" cy="414866"/>
              </a:xfrm>
              <a:prstGeom prst="rect">
                <a:avLst/>
              </a:prstGeom>
              <a:solidFill>
                <a:srgbClr val="C00000"/>
              </a:solidFill>
              <a:ln/>
            </p:spPr>
            <p:style>
              <a:lnRef idx="3">
                <a:schemeClr val="lt1"/>
              </a:lnRef>
              <a:fillRef idx="1">
                <a:schemeClr val="accent1"/>
              </a:fillRef>
              <a:effectRef idx="1">
                <a:schemeClr val="accent1"/>
              </a:effectRef>
              <a:fontRef idx="minor">
                <a:schemeClr val="lt1"/>
              </a:fontRef>
            </p:style>
            <p:txBody>
              <a:bodyPr rtlCol="0" anchor="ctr"/>
              <a:lstStyle/>
              <a:p>
                <a:pPr algn="ctr" fontAlgn="base">
                  <a:spcBef>
                    <a:spcPct val="0"/>
                  </a:spcBef>
                  <a:spcAft>
                    <a:spcPct val="0"/>
                  </a:spcAft>
                </a:pPr>
                <a:r>
                  <a:rPr lang="en-US" sz="1100" b="1" dirty="0">
                    <a:solidFill>
                      <a:schemeClr val="tx1"/>
                    </a:solidFill>
                    <a:latin typeface="Arial" panose="020B0604020202020204" pitchFamily="34" charset="0"/>
                    <a:ea typeface="微软雅黑" panose="020B0503020204020204" pitchFamily="34" charset="-122"/>
                  </a:rPr>
                  <a:t>M3</a:t>
                </a:r>
              </a:p>
            </p:txBody>
          </p:sp>
          <p:sp>
            <p:nvSpPr>
              <p:cNvPr id="22" name="Rectangle 21"/>
              <p:cNvSpPr/>
              <p:nvPr/>
            </p:nvSpPr>
            <p:spPr>
              <a:xfrm>
                <a:off x="8025635" y="3420563"/>
                <a:ext cx="501450" cy="304800"/>
              </a:xfrm>
              <a:prstGeom prst="rect">
                <a:avLst/>
              </a:prstGeom>
              <a:solidFill>
                <a:srgbClr val="C00000"/>
              </a:solidFill>
              <a:ln/>
            </p:spPr>
            <p:style>
              <a:lnRef idx="3">
                <a:schemeClr val="lt1"/>
              </a:lnRef>
              <a:fillRef idx="1">
                <a:schemeClr val="accent1"/>
              </a:fillRef>
              <a:effectRef idx="1">
                <a:schemeClr val="accent1"/>
              </a:effectRef>
              <a:fontRef idx="minor">
                <a:schemeClr val="lt1"/>
              </a:fontRef>
            </p:style>
            <p:txBody>
              <a:bodyPr rtlCol="0" anchor="ctr"/>
              <a:lstStyle/>
              <a:p>
                <a:pPr algn="ctr" fontAlgn="base">
                  <a:spcBef>
                    <a:spcPct val="0"/>
                  </a:spcBef>
                  <a:spcAft>
                    <a:spcPct val="0"/>
                  </a:spcAft>
                </a:pPr>
                <a:r>
                  <a:rPr lang="en-US" sz="1100" b="1" dirty="0">
                    <a:solidFill>
                      <a:schemeClr val="tx1"/>
                    </a:solidFill>
                    <a:latin typeface="Arial" panose="020B0604020202020204" pitchFamily="34" charset="0"/>
                    <a:ea typeface="微软雅黑" panose="020B0503020204020204" pitchFamily="34" charset="-122"/>
                  </a:rPr>
                  <a:t>M3.5</a:t>
                </a:r>
              </a:p>
            </p:txBody>
          </p:sp>
          <p:sp>
            <p:nvSpPr>
              <p:cNvPr id="25" name="Rectangle 24"/>
              <p:cNvSpPr/>
              <p:nvPr/>
            </p:nvSpPr>
            <p:spPr>
              <a:xfrm>
                <a:off x="6756732" y="3420563"/>
                <a:ext cx="501450" cy="304800"/>
              </a:xfrm>
              <a:prstGeom prst="rect">
                <a:avLst/>
              </a:prstGeom>
              <a:solidFill>
                <a:srgbClr val="C00000"/>
              </a:solidFill>
              <a:ln/>
            </p:spPr>
            <p:style>
              <a:lnRef idx="3">
                <a:schemeClr val="lt1"/>
              </a:lnRef>
              <a:fillRef idx="1">
                <a:schemeClr val="accent1"/>
              </a:fillRef>
              <a:effectRef idx="1">
                <a:schemeClr val="accent1"/>
              </a:effectRef>
              <a:fontRef idx="minor">
                <a:schemeClr val="lt1"/>
              </a:fontRef>
            </p:style>
            <p:txBody>
              <a:bodyPr rtlCol="0" anchor="ctr"/>
              <a:lstStyle/>
              <a:p>
                <a:pPr algn="ctr" fontAlgn="base">
                  <a:spcBef>
                    <a:spcPct val="0"/>
                  </a:spcBef>
                  <a:spcAft>
                    <a:spcPct val="0"/>
                  </a:spcAft>
                </a:pPr>
                <a:r>
                  <a:rPr lang="en-US" sz="1100" b="1" dirty="0">
                    <a:solidFill>
                      <a:schemeClr val="tx1"/>
                    </a:solidFill>
                    <a:latin typeface="Arial" panose="020B0604020202020204" pitchFamily="34" charset="0"/>
                    <a:ea typeface="微软雅黑" panose="020B0503020204020204" pitchFamily="34" charset="-122"/>
                  </a:rPr>
                  <a:t>M3.0</a:t>
                </a:r>
              </a:p>
            </p:txBody>
          </p:sp>
          <p:sp>
            <p:nvSpPr>
              <p:cNvPr id="26" name="Rectangle 25"/>
              <p:cNvSpPr/>
              <p:nvPr/>
            </p:nvSpPr>
            <p:spPr>
              <a:xfrm>
                <a:off x="3904456" y="3420563"/>
                <a:ext cx="776564" cy="304800"/>
              </a:xfrm>
              <a:prstGeom prst="rect">
                <a:avLst/>
              </a:prstGeom>
              <a:solidFill>
                <a:srgbClr val="C00000"/>
              </a:solidFill>
              <a:ln/>
            </p:spPr>
            <p:style>
              <a:lnRef idx="3">
                <a:schemeClr val="lt1"/>
              </a:lnRef>
              <a:fillRef idx="1">
                <a:schemeClr val="accent1"/>
              </a:fillRef>
              <a:effectRef idx="1">
                <a:schemeClr val="accent1"/>
              </a:effectRef>
              <a:fontRef idx="minor">
                <a:schemeClr val="lt1"/>
              </a:fontRef>
            </p:style>
            <p:txBody>
              <a:bodyPr rtlCol="0" anchor="ctr"/>
              <a:lstStyle/>
              <a:p>
                <a:pPr algn="ctr" fontAlgn="base">
                  <a:spcBef>
                    <a:spcPct val="0"/>
                  </a:spcBef>
                  <a:spcAft>
                    <a:spcPct val="0"/>
                  </a:spcAft>
                </a:pPr>
                <a:r>
                  <a:rPr lang="en-US" sz="1100" b="1" dirty="0">
                    <a:solidFill>
                      <a:schemeClr val="tx1"/>
                    </a:solidFill>
                    <a:latin typeface="Arial" panose="020B0604020202020204" pitchFamily="34" charset="0"/>
                    <a:ea typeface="微软雅黑" panose="020B0503020204020204" pitchFamily="34" charset="-122"/>
                  </a:rPr>
                  <a:t>M2.5.1</a:t>
                </a:r>
              </a:p>
            </p:txBody>
          </p:sp>
          <p:sp>
            <p:nvSpPr>
              <p:cNvPr id="54" name="Rectangle 94"/>
              <p:cNvSpPr/>
              <p:nvPr/>
            </p:nvSpPr>
            <p:spPr>
              <a:xfrm>
                <a:off x="5233606" y="3410409"/>
                <a:ext cx="776564" cy="304800"/>
              </a:xfrm>
              <a:prstGeom prst="rect">
                <a:avLst/>
              </a:prstGeom>
              <a:solidFill>
                <a:srgbClr val="C00000"/>
              </a:solidFill>
              <a:ln/>
            </p:spPr>
            <p:style>
              <a:lnRef idx="3">
                <a:schemeClr val="lt1"/>
              </a:lnRef>
              <a:fillRef idx="1">
                <a:schemeClr val="accent1"/>
              </a:fillRef>
              <a:effectRef idx="1">
                <a:schemeClr val="accent1"/>
              </a:effectRef>
              <a:fontRef idx="minor">
                <a:schemeClr val="lt1"/>
              </a:fontRef>
            </p:style>
            <p:txBody>
              <a:bodyPr rtlCol="0" anchor="ctr"/>
              <a:lstStyle/>
              <a:p>
                <a:pPr algn="ctr" fontAlgn="base">
                  <a:spcBef>
                    <a:spcPct val="0"/>
                  </a:spcBef>
                  <a:spcAft>
                    <a:spcPct val="0"/>
                  </a:spcAft>
                </a:pPr>
                <a:r>
                  <a:rPr lang="en-US" sz="1100" b="1" dirty="0">
                    <a:solidFill>
                      <a:schemeClr val="tx1"/>
                    </a:solidFill>
                    <a:latin typeface="Arial" panose="020B0604020202020204" pitchFamily="34" charset="0"/>
                    <a:ea typeface="微软雅黑" panose="020B0503020204020204" pitchFamily="34" charset="-122"/>
                  </a:rPr>
                  <a:t>M2.5.2</a:t>
                </a:r>
              </a:p>
            </p:txBody>
          </p:sp>
        </p:grpSp>
        <p:sp>
          <p:nvSpPr>
            <p:cNvPr id="55" name="矩形 56"/>
            <p:cNvSpPr/>
            <p:nvPr/>
          </p:nvSpPr>
          <p:spPr>
            <a:xfrm>
              <a:off x="5104570" y="2417834"/>
              <a:ext cx="772650" cy="437684"/>
            </a:xfrm>
            <a:prstGeom prst="rect">
              <a:avLst/>
            </a:prstGeom>
          </p:spPr>
          <p:txBody>
            <a:bodyPr wrap="square">
              <a:spAutoFit/>
            </a:bodyPr>
            <a:lstStyle/>
            <a:p>
              <a:pPr marL="197607" lvl="1" indent="-195987" defTabSz="913526" fontAlgn="base">
                <a:lnSpc>
                  <a:spcPct val="97000"/>
                </a:lnSpc>
                <a:spcBef>
                  <a:spcPct val="10000"/>
                </a:spcBef>
                <a:spcAft>
                  <a:spcPct val="0"/>
                </a:spcAft>
                <a:buClr>
                  <a:srgbClr val="C00000"/>
                </a:buClr>
                <a:buSzPct val="125000"/>
              </a:pPr>
              <a:r>
                <a:rPr lang="en-US" altLang="zh-CN" sz="1100" i="1" dirty="0">
                  <a:latin typeface="Arial" panose="020B0604020202020204" pitchFamily="34" charset="0"/>
                  <a:ea typeface="微软雅黑" panose="020B0503020204020204" pitchFamily="34" charset="-122"/>
                </a:rPr>
                <a:t>   MO </a:t>
              </a:r>
            </a:p>
            <a:p>
              <a:pPr marL="197607" lvl="1" indent="-195987" defTabSz="913526" fontAlgn="base">
                <a:lnSpc>
                  <a:spcPct val="97000"/>
                </a:lnSpc>
                <a:spcBef>
                  <a:spcPct val="10000"/>
                </a:spcBef>
                <a:spcAft>
                  <a:spcPct val="0"/>
                </a:spcAft>
                <a:buClr>
                  <a:srgbClr val="C00000"/>
                </a:buClr>
                <a:buSzPct val="125000"/>
              </a:pPr>
              <a:r>
                <a:rPr lang="en-US" altLang="zh-CN" sz="1100" i="1" dirty="0">
                  <a:latin typeface="Arial" panose="020B0604020202020204" pitchFamily="34" charset="0"/>
                  <a:ea typeface="微软雅黑" panose="020B0503020204020204" pitchFamily="34" charset="-122"/>
                </a:rPr>
                <a:t>Creation</a:t>
              </a:r>
            </a:p>
          </p:txBody>
        </p:sp>
        <p:sp>
          <p:nvSpPr>
            <p:cNvPr id="93" name="矩形 87"/>
            <p:cNvSpPr/>
            <p:nvPr/>
          </p:nvSpPr>
          <p:spPr>
            <a:xfrm>
              <a:off x="6366012" y="2412910"/>
              <a:ext cx="607817" cy="437684"/>
            </a:xfrm>
            <a:prstGeom prst="rect">
              <a:avLst/>
            </a:prstGeom>
          </p:spPr>
          <p:txBody>
            <a:bodyPr wrap="square">
              <a:spAutoFit/>
            </a:bodyPr>
            <a:lstStyle/>
            <a:p>
              <a:pPr marL="197607" lvl="1" indent="-195987" defTabSz="913526" fontAlgn="base">
                <a:lnSpc>
                  <a:spcPct val="97000"/>
                </a:lnSpc>
                <a:spcBef>
                  <a:spcPct val="10000"/>
                </a:spcBef>
                <a:spcAft>
                  <a:spcPct val="0"/>
                </a:spcAft>
                <a:buClr>
                  <a:srgbClr val="C00000"/>
                </a:buClr>
                <a:buSzPct val="125000"/>
              </a:pPr>
              <a:r>
                <a:rPr lang="en-US" altLang="zh-CN" sz="1100" i="1" dirty="0">
                  <a:latin typeface="Arial" panose="020B0604020202020204" pitchFamily="34" charset="0"/>
                  <a:ea typeface="微软雅黑" panose="020B0503020204020204" pitchFamily="34" charset="-122"/>
                </a:rPr>
                <a:t>Kitting </a:t>
              </a:r>
            </a:p>
            <a:p>
              <a:pPr marL="197607" lvl="1" indent="-195987" defTabSz="913526" fontAlgn="base">
                <a:lnSpc>
                  <a:spcPct val="97000"/>
                </a:lnSpc>
                <a:spcBef>
                  <a:spcPct val="10000"/>
                </a:spcBef>
                <a:spcAft>
                  <a:spcPct val="0"/>
                </a:spcAft>
                <a:buClr>
                  <a:srgbClr val="C00000"/>
                </a:buClr>
                <a:buSzPct val="125000"/>
              </a:pPr>
              <a:r>
                <a:rPr lang="en-US" altLang="zh-CN" sz="1100" i="1" dirty="0">
                  <a:latin typeface="Arial" panose="020B0604020202020204" pitchFamily="34" charset="0"/>
                  <a:ea typeface="微软雅黑" panose="020B0503020204020204" pitchFamily="34" charset="-122"/>
                </a:rPr>
                <a:t>Input</a:t>
              </a:r>
            </a:p>
          </p:txBody>
        </p:sp>
      </p:grpSp>
      <p:graphicFrame>
        <p:nvGraphicFramePr>
          <p:cNvPr id="3" name="表格 2">
            <a:extLst>
              <a:ext uri="{FF2B5EF4-FFF2-40B4-BE49-F238E27FC236}">
                <a16:creationId xmlns:a16="http://schemas.microsoft.com/office/drawing/2014/main" id="{A3259833-4223-46F9-8667-FE6D8CD80398}"/>
              </a:ext>
            </a:extLst>
          </p:cNvPr>
          <p:cNvGraphicFramePr>
            <a:graphicFrameLocks noGrp="1"/>
          </p:cNvGraphicFramePr>
          <p:nvPr>
            <p:extLst>
              <p:ext uri="{D42A27DB-BD31-4B8C-83A1-F6EECF244321}">
                <p14:modId xmlns:p14="http://schemas.microsoft.com/office/powerpoint/2010/main" val="3020265423"/>
              </p:ext>
            </p:extLst>
          </p:nvPr>
        </p:nvGraphicFramePr>
        <p:xfrm>
          <a:off x="1341603" y="5055745"/>
          <a:ext cx="10394522" cy="1212338"/>
        </p:xfrm>
        <a:graphic>
          <a:graphicData uri="http://schemas.openxmlformats.org/drawingml/2006/table">
            <a:tbl>
              <a:tblPr firstRow="1" bandRow="1">
                <a:tableStyleId>{5C22544A-7EE6-4342-B048-85BDC9FD1C3A}</a:tableStyleId>
              </a:tblPr>
              <a:tblGrid>
                <a:gridCol w="1555637">
                  <a:extLst>
                    <a:ext uri="{9D8B030D-6E8A-4147-A177-3AD203B41FA5}">
                      <a16:colId xmlns:a16="http://schemas.microsoft.com/office/drawing/2014/main" val="4208020279"/>
                    </a:ext>
                  </a:extLst>
                </a:gridCol>
                <a:gridCol w="1269028">
                  <a:extLst>
                    <a:ext uri="{9D8B030D-6E8A-4147-A177-3AD203B41FA5}">
                      <a16:colId xmlns:a16="http://schemas.microsoft.com/office/drawing/2014/main" val="1024290695"/>
                    </a:ext>
                  </a:extLst>
                </a:gridCol>
                <a:gridCol w="5138013">
                  <a:extLst>
                    <a:ext uri="{9D8B030D-6E8A-4147-A177-3AD203B41FA5}">
                      <a16:colId xmlns:a16="http://schemas.microsoft.com/office/drawing/2014/main" val="2975402271"/>
                    </a:ext>
                  </a:extLst>
                </a:gridCol>
                <a:gridCol w="2431844">
                  <a:extLst>
                    <a:ext uri="{9D8B030D-6E8A-4147-A177-3AD203B41FA5}">
                      <a16:colId xmlns:a16="http://schemas.microsoft.com/office/drawing/2014/main" val="273651246"/>
                    </a:ext>
                  </a:extLst>
                </a:gridCol>
              </a:tblGrid>
              <a:tr h="397708">
                <a:tc gridSpan="4">
                  <a:txBody>
                    <a:bodyPr/>
                    <a:lstStyle/>
                    <a:p>
                      <a:pPr algn="ctr"/>
                      <a:r>
                        <a:rPr lang="en-US" altLang="zh-CN" sz="1200" dirty="0">
                          <a:solidFill>
                            <a:schemeClr val="tx1"/>
                          </a:solidFill>
                          <a:latin typeface="Arial" panose="020B0604020202020204" pitchFamily="34" charset="0"/>
                          <a:ea typeface="微软雅黑" panose="020B0503020204020204" pitchFamily="34" charset="-122"/>
                        </a:rPr>
                        <a:t>Reliability – Delivery Accuracy(T1) </a:t>
                      </a:r>
                      <a:endParaRPr lang="zh-CN" altLang="en-US" sz="1200" b="1" dirty="0">
                        <a:solidFill>
                          <a:schemeClr val="tx1"/>
                        </a:solidFill>
                        <a:latin typeface="Arial" panose="020B0604020202020204" pitchFamily="34" charset="0"/>
                        <a:ea typeface="微软雅黑" panose="020B0503020204020204" pitchFamily="34" charset="-122"/>
                      </a:endParaRPr>
                    </a:p>
                  </a:txBody>
                  <a:tcP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dirty="0"/>
                    </a:p>
                  </a:txBody>
                  <a:tcPr/>
                </a:tc>
                <a:extLst>
                  <a:ext uri="{0D108BD9-81ED-4DB2-BD59-A6C34878D82A}">
                    <a16:rowId xmlns:a16="http://schemas.microsoft.com/office/drawing/2014/main" val="1871702002"/>
                  </a:ext>
                </a:extLst>
              </a:tr>
              <a:tr h="281585">
                <a:tc>
                  <a:txBody>
                    <a:bodyPr/>
                    <a:lstStyle/>
                    <a:p>
                      <a:endParaRPr lang="zh-CN" altLang="en-US" sz="1200" dirty="0">
                        <a:solidFill>
                          <a:schemeClr val="tx1"/>
                        </a:solidFill>
                        <a:latin typeface="Arial" panose="020B0604020202020204" pitchFamily="34" charset="0"/>
                        <a:ea typeface="微软雅黑" panose="020B0503020204020204" pitchFamily="34" charset="-122"/>
                      </a:endParaRPr>
                    </a:p>
                  </a:txBody>
                  <a:tcPr>
                    <a:solidFill>
                      <a:schemeClr val="accent2"/>
                    </a:solidFill>
                  </a:tcPr>
                </a:tc>
                <a:tc>
                  <a:txBody>
                    <a:bodyPr/>
                    <a:lstStyle/>
                    <a:p>
                      <a:pPr algn="ctr"/>
                      <a:r>
                        <a:rPr lang="en-US" altLang="zh-CN" sz="1050" b="1" dirty="0">
                          <a:solidFill>
                            <a:schemeClr val="tx1"/>
                          </a:solidFill>
                          <a:latin typeface="Arial" panose="020B0604020202020204" pitchFamily="34" charset="0"/>
                          <a:ea typeface="微软雅黑" panose="020B0503020204020204" pitchFamily="34" charset="-122"/>
                        </a:rPr>
                        <a:t>DC Accurate</a:t>
                      </a:r>
                      <a:endParaRPr lang="zh-CN" altLang="en-US" sz="1050" b="1" dirty="0">
                        <a:solidFill>
                          <a:schemeClr val="tx1"/>
                        </a:solidFill>
                        <a:latin typeface="Arial" panose="020B0604020202020204" pitchFamily="34" charset="0"/>
                        <a:ea typeface="微软雅黑" panose="020B0503020204020204" pitchFamily="34" charset="-122"/>
                      </a:endParaRPr>
                    </a:p>
                  </a:txBody>
                  <a:tcPr>
                    <a:solidFill>
                      <a:schemeClr val="accent2"/>
                    </a:solidFill>
                  </a:tcPr>
                </a:tc>
                <a:tc>
                  <a:txBody>
                    <a:bodyPr/>
                    <a:lstStyle/>
                    <a:p>
                      <a:pPr algn="ctr"/>
                      <a:r>
                        <a:rPr lang="en-US" altLang="zh-CN" sz="1050" b="1" dirty="0">
                          <a:solidFill>
                            <a:schemeClr val="tx1"/>
                          </a:solidFill>
                          <a:latin typeface="Arial" panose="020B0604020202020204" pitchFamily="34" charset="0"/>
                          <a:ea typeface="微软雅黑" panose="020B0503020204020204" pitchFamily="34" charset="-122"/>
                        </a:rPr>
                        <a:t>MFG Site FPSD Accuracy/ PSD Churn</a:t>
                      </a:r>
                      <a:endParaRPr lang="zh-CN" altLang="en-US" sz="1050" b="1" dirty="0">
                        <a:solidFill>
                          <a:schemeClr val="tx1"/>
                        </a:solidFill>
                        <a:latin typeface="Arial" panose="020B0604020202020204" pitchFamily="34" charset="0"/>
                        <a:ea typeface="微软雅黑" panose="020B0503020204020204" pitchFamily="34" charset="-122"/>
                      </a:endParaRPr>
                    </a:p>
                  </a:txBody>
                  <a:tcPr>
                    <a:solidFill>
                      <a:schemeClr val="accent2"/>
                    </a:solidFill>
                  </a:tcPr>
                </a:tc>
                <a:tc>
                  <a:txBody>
                    <a:bodyPr/>
                    <a:lstStyle/>
                    <a:p>
                      <a:pPr algn="ctr"/>
                      <a:r>
                        <a:rPr lang="en-US" altLang="zh-CN" sz="1050" b="1" dirty="0">
                          <a:solidFill>
                            <a:schemeClr val="tx1"/>
                          </a:solidFill>
                          <a:latin typeface="Arial" panose="020B0604020202020204" pitchFamily="34" charset="0"/>
                          <a:ea typeface="微软雅黑" panose="020B0503020204020204" pitchFamily="34" charset="-122"/>
                        </a:rPr>
                        <a:t>CDD</a:t>
                      </a:r>
                      <a:endParaRPr lang="zh-CN" altLang="en-US" sz="1050" b="1" dirty="0">
                        <a:solidFill>
                          <a:schemeClr val="tx1"/>
                        </a:solidFill>
                        <a:latin typeface="Arial" panose="020B0604020202020204" pitchFamily="34" charset="0"/>
                        <a:ea typeface="微软雅黑" panose="020B0503020204020204" pitchFamily="34" charset="-122"/>
                      </a:endParaRPr>
                    </a:p>
                  </a:txBody>
                  <a:tcPr>
                    <a:solidFill>
                      <a:schemeClr val="accent2"/>
                    </a:solidFill>
                  </a:tcPr>
                </a:tc>
                <a:extLst>
                  <a:ext uri="{0D108BD9-81ED-4DB2-BD59-A6C34878D82A}">
                    <a16:rowId xmlns:a16="http://schemas.microsoft.com/office/drawing/2014/main" val="1733171625"/>
                  </a:ext>
                </a:extLst>
              </a:tr>
              <a:tr h="281585">
                <a:tc gridSpan="4">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lang="en-US" altLang="zh-CN" sz="1200" b="1" kern="1200" dirty="0">
                          <a:solidFill>
                            <a:schemeClr val="tx1"/>
                          </a:solidFill>
                          <a:latin typeface="Arial" panose="020B0604020202020204" pitchFamily="34" charset="0"/>
                          <a:ea typeface="微软雅黑" panose="020B0503020204020204" pitchFamily="34" charset="-122"/>
                          <a:cs typeface="+mn-cs"/>
                          <a:sym typeface="Tahoma" charset="0"/>
                        </a:rPr>
                        <a:t>Responsiveness – Order To Delivery Cycle Time(T1)</a:t>
                      </a:r>
                    </a:p>
                  </a:txBody>
                  <a:tcP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dirty="0"/>
                    </a:p>
                  </a:txBody>
                  <a:tcPr/>
                </a:tc>
                <a:extLst>
                  <a:ext uri="{0D108BD9-81ED-4DB2-BD59-A6C34878D82A}">
                    <a16:rowId xmlns:a16="http://schemas.microsoft.com/office/drawing/2014/main" val="2107977226"/>
                  </a:ext>
                </a:extLst>
              </a:tr>
              <a:tr h="221236">
                <a:tc>
                  <a:txBody>
                    <a:bodyPr/>
                    <a:lstStyle/>
                    <a:p>
                      <a:pPr marL="0" algn="ctr" defTabSz="1218987" rtl="0" eaLnBrk="1" latinLnBrk="0" hangingPunct="1"/>
                      <a:r>
                        <a:rPr lang="en-US" altLang="zh-CN" sz="1050" b="1" kern="1200" dirty="0">
                          <a:solidFill>
                            <a:schemeClr val="tx1"/>
                          </a:solidFill>
                          <a:latin typeface="Arial" panose="020B0604020202020204" pitchFamily="34" charset="0"/>
                          <a:ea typeface="微软雅黑" panose="020B0503020204020204" pitchFamily="34" charset="-122"/>
                          <a:cs typeface="+mn-cs"/>
                        </a:rPr>
                        <a:t>M1 OTS</a:t>
                      </a:r>
                      <a:endParaRPr lang="zh-CN" altLang="en-US" sz="1050" b="1" kern="1200" dirty="0">
                        <a:solidFill>
                          <a:schemeClr val="tx1"/>
                        </a:solidFill>
                        <a:latin typeface="Arial" panose="020B0604020202020204" pitchFamily="34" charset="0"/>
                        <a:ea typeface="微软雅黑" panose="020B0503020204020204" pitchFamily="34" charset="-122"/>
                        <a:cs typeface="+mn-cs"/>
                      </a:endParaRPr>
                    </a:p>
                  </a:txBody>
                  <a:tcPr>
                    <a:solidFill>
                      <a:schemeClr val="accent2"/>
                    </a:solidFill>
                  </a:tcPr>
                </a:tc>
                <a:tc>
                  <a:txBody>
                    <a:bodyPr/>
                    <a:lstStyle/>
                    <a:p>
                      <a:pPr marL="0" algn="ctr" defTabSz="1218987" rtl="0" eaLnBrk="1" latinLnBrk="0" hangingPunct="1"/>
                      <a:r>
                        <a:rPr lang="en-US" altLang="zh-CN" sz="1050" b="1" kern="1200" dirty="0">
                          <a:solidFill>
                            <a:schemeClr val="tx1"/>
                          </a:solidFill>
                          <a:latin typeface="Arial" panose="020B0604020202020204" pitchFamily="34" charset="0"/>
                          <a:ea typeface="微软雅黑" panose="020B0503020204020204" pitchFamily="34" charset="-122"/>
                          <a:cs typeface="+mn-cs"/>
                        </a:rPr>
                        <a:t>M2 OTS</a:t>
                      </a:r>
                      <a:endParaRPr lang="zh-CN" altLang="en-US" sz="1050" b="1" kern="1200" dirty="0">
                        <a:solidFill>
                          <a:schemeClr val="tx1"/>
                        </a:solidFill>
                        <a:latin typeface="Arial" panose="020B0604020202020204" pitchFamily="34" charset="0"/>
                        <a:ea typeface="微软雅黑" panose="020B0503020204020204" pitchFamily="34" charset="-122"/>
                        <a:cs typeface="+mn-cs"/>
                      </a:endParaRPr>
                    </a:p>
                  </a:txBody>
                  <a:tcPr>
                    <a:solidFill>
                      <a:schemeClr val="accent2"/>
                    </a:solidFill>
                  </a:tcPr>
                </a:tc>
                <a:tc>
                  <a:txBody>
                    <a:bodyPr/>
                    <a:lstStyle/>
                    <a:p>
                      <a:pPr marL="0" algn="ctr" defTabSz="1218987" rtl="0" eaLnBrk="1" latinLnBrk="0" hangingPunct="1"/>
                      <a:r>
                        <a:rPr lang="en-US" altLang="zh-CN" sz="1050" b="1" kern="1200" dirty="0">
                          <a:solidFill>
                            <a:schemeClr val="tx1"/>
                          </a:solidFill>
                          <a:latin typeface="Arial" panose="020B0604020202020204" pitchFamily="34" charset="0"/>
                          <a:ea typeface="微软雅黑" panose="020B0503020204020204" pitchFamily="34" charset="-122"/>
                          <a:cs typeface="+mn-cs"/>
                        </a:rPr>
                        <a:t>M3 OTS</a:t>
                      </a:r>
                      <a:endParaRPr lang="zh-CN" altLang="en-US" sz="1050" b="1" kern="1200" dirty="0">
                        <a:solidFill>
                          <a:schemeClr val="tx1"/>
                        </a:solidFill>
                        <a:latin typeface="Arial" panose="020B0604020202020204" pitchFamily="34" charset="0"/>
                        <a:ea typeface="微软雅黑" panose="020B0503020204020204" pitchFamily="34" charset="-122"/>
                        <a:cs typeface="+mn-cs"/>
                      </a:endParaRPr>
                    </a:p>
                  </a:txBody>
                  <a:tcPr>
                    <a:solidFill>
                      <a:schemeClr val="accent2"/>
                    </a:solidFill>
                  </a:tcPr>
                </a:tc>
                <a:tc>
                  <a:txBody>
                    <a:bodyPr/>
                    <a:lstStyle/>
                    <a:p>
                      <a:pPr marL="0" algn="ctr" defTabSz="1218987" rtl="0" eaLnBrk="1" latinLnBrk="0" hangingPunct="1"/>
                      <a:r>
                        <a:rPr lang="en-US" altLang="zh-CN" sz="1050" b="1" kern="1200" dirty="0">
                          <a:solidFill>
                            <a:schemeClr val="tx1"/>
                          </a:solidFill>
                          <a:latin typeface="Arial" panose="020B0604020202020204" pitchFamily="34" charset="0"/>
                          <a:ea typeface="微软雅黑" panose="020B0503020204020204" pitchFamily="34" charset="-122"/>
                          <a:cs typeface="+mn-cs"/>
                        </a:rPr>
                        <a:t>CDD</a:t>
                      </a:r>
                      <a:endParaRPr lang="zh-CN" altLang="en-US" sz="1050" b="1" kern="1200" dirty="0">
                        <a:solidFill>
                          <a:schemeClr val="tx1"/>
                        </a:solidFill>
                        <a:latin typeface="Arial" panose="020B0604020202020204" pitchFamily="34" charset="0"/>
                        <a:ea typeface="微软雅黑" panose="020B0503020204020204" pitchFamily="34" charset="-122"/>
                        <a:cs typeface="+mn-cs"/>
                      </a:endParaRPr>
                    </a:p>
                  </a:txBody>
                  <a:tcPr>
                    <a:solidFill>
                      <a:schemeClr val="accent2"/>
                    </a:solidFill>
                  </a:tcPr>
                </a:tc>
                <a:extLst>
                  <a:ext uri="{0D108BD9-81ED-4DB2-BD59-A6C34878D82A}">
                    <a16:rowId xmlns:a16="http://schemas.microsoft.com/office/drawing/2014/main" val="1810943496"/>
                  </a:ext>
                </a:extLst>
              </a:tr>
            </a:tbl>
          </a:graphicData>
        </a:graphic>
      </p:graphicFrame>
      <p:grpSp>
        <p:nvGrpSpPr>
          <p:cNvPr id="2" name="组合 1">
            <a:extLst>
              <a:ext uri="{FF2B5EF4-FFF2-40B4-BE49-F238E27FC236}">
                <a16:creationId xmlns:a16="http://schemas.microsoft.com/office/drawing/2014/main" id="{6A0CA434-ACB6-4BF4-9857-7CB9C2D37479}"/>
              </a:ext>
            </a:extLst>
          </p:cNvPr>
          <p:cNvGrpSpPr/>
          <p:nvPr/>
        </p:nvGrpSpPr>
        <p:grpSpPr>
          <a:xfrm>
            <a:off x="1280792" y="3852794"/>
            <a:ext cx="10447310" cy="917584"/>
            <a:chOff x="1280792" y="3471474"/>
            <a:chExt cx="10447310" cy="917584"/>
          </a:xfrm>
        </p:grpSpPr>
        <p:sp>
          <p:nvSpPr>
            <p:cNvPr id="56" name="Rectangle 49">
              <a:extLst>
                <a:ext uri="{FF2B5EF4-FFF2-40B4-BE49-F238E27FC236}">
                  <a16:creationId xmlns:a16="http://schemas.microsoft.com/office/drawing/2014/main" id="{297359D3-B291-4894-8BEE-F16F79051A4A}"/>
                </a:ext>
              </a:extLst>
            </p:cNvPr>
            <p:cNvSpPr/>
            <p:nvPr/>
          </p:nvSpPr>
          <p:spPr>
            <a:xfrm>
              <a:off x="1296063" y="3471474"/>
              <a:ext cx="10432039" cy="67911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nchorCtr="1"/>
            <a:lstStyle/>
            <a:p>
              <a:pPr algn="ctr" defTabSz="1217613" fontAlgn="base">
                <a:spcBef>
                  <a:spcPct val="0"/>
                </a:spcBef>
                <a:spcAft>
                  <a:spcPct val="0"/>
                </a:spcAft>
              </a:pPr>
              <a:r>
                <a:rPr lang="en-GB" sz="1200" b="1" dirty="0">
                  <a:solidFill>
                    <a:schemeClr val="bg1"/>
                  </a:solidFill>
                  <a:latin typeface="Arial" panose="020B0604020202020204" pitchFamily="34" charset="0"/>
                  <a:ea typeface="微软雅黑" panose="020B0503020204020204" pitchFamily="34" charset="-122"/>
                </a:rPr>
                <a:t>WW CF Ownership</a:t>
              </a:r>
            </a:p>
          </p:txBody>
        </p:sp>
        <p:sp>
          <p:nvSpPr>
            <p:cNvPr id="49" name="Rectangle 48"/>
            <p:cNvSpPr/>
            <p:nvPr/>
          </p:nvSpPr>
          <p:spPr>
            <a:xfrm>
              <a:off x="1280792" y="3487505"/>
              <a:ext cx="2697664" cy="294262"/>
            </a:xfrm>
            <a:prstGeom prst="rect">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7613" fontAlgn="base">
                <a:spcBef>
                  <a:spcPct val="0"/>
                </a:spcBef>
                <a:spcAft>
                  <a:spcPct val="0"/>
                </a:spcAft>
              </a:pPr>
              <a:r>
                <a:rPr lang="en-GB" sz="1200" b="1" dirty="0">
                  <a:solidFill>
                    <a:schemeClr val="bg1"/>
                  </a:solidFill>
                  <a:latin typeface="Arial" panose="020B0604020202020204" pitchFamily="34" charset="0"/>
                  <a:ea typeface="微软雅黑" panose="020B0503020204020204" pitchFamily="34" charset="-122"/>
                </a:rPr>
                <a:t>WW CF Ownership</a:t>
              </a:r>
            </a:p>
          </p:txBody>
        </p:sp>
        <p:sp>
          <p:nvSpPr>
            <p:cNvPr id="50" name="Rectangle 49"/>
            <p:cNvSpPr/>
            <p:nvPr/>
          </p:nvSpPr>
          <p:spPr>
            <a:xfrm>
              <a:off x="4219802" y="3491690"/>
              <a:ext cx="5089404" cy="294262"/>
            </a:xfrm>
            <a:prstGeom prst="rect">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7613" fontAlgn="base">
                <a:spcBef>
                  <a:spcPct val="0"/>
                </a:spcBef>
                <a:spcAft>
                  <a:spcPct val="0"/>
                </a:spcAft>
              </a:pPr>
              <a:r>
                <a:rPr lang="en-GB" sz="1200" b="1" dirty="0">
                  <a:solidFill>
                    <a:schemeClr val="bg1"/>
                  </a:solidFill>
                  <a:latin typeface="Arial" panose="020B0604020202020204" pitchFamily="34" charset="0"/>
                  <a:ea typeface="微软雅黑" panose="020B0503020204020204" pitchFamily="34" charset="-122"/>
                </a:rPr>
                <a:t>LME / Procurement Ownership(OE/GSM), Quality, GL, IBP support</a:t>
              </a:r>
            </a:p>
          </p:txBody>
        </p:sp>
        <p:sp>
          <p:nvSpPr>
            <p:cNvPr id="51" name="Rectangle 50"/>
            <p:cNvSpPr/>
            <p:nvPr/>
          </p:nvSpPr>
          <p:spPr>
            <a:xfrm>
              <a:off x="9417856" y="3490151"/>
              <a:ext cx="2310245" cy="291616"/>
            </a:xfrm>
            <a:prstGeom prst="rect">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7613" fontAlgn="base">
                <a:spcBef>
                  <a:spcPct val="0"/>
                </a:spcBef>
                <a:spcAft>
                  <a:spcPct val="0"/>
                </a:spcAft>
              </a:pPr>
              <a:r>
                <a:rPr lang="en-GB" sz="1200" b="1" dirty="0">
                  <a:solidFill>
                    <a:schemeClr val="bg1"/>
                  </a:solidFill>
                  <a:latin typeface="Arial" panose="020B0604020202020204" pitchFamily="34" charset="0"/>
                  <a:ea typeface="微软雅黑" panose="020B0503020204020204" pitchFamily="34" charset="-122"/>
                </a:rPr>
                <a:t>WW &amp; Geo GL Ownership</a:t>
              </a:r>
            </a:p>
          </p:txBody>
        </p:sp>
        <p:sp>
          <p:nvSpPr>
            <p:cNvPr id="57" name="Rectangle 49">
              <a:extLst>
                <a:ext uri="{FF2B5EF4-FFF2-40B4-BE49-F238E27FC236}">
                  <a16:creationId xmlns:a16="http://schemas.microsoft.com/office/drawing/2014/main" id="{E72C92EA-8173-426C-AD0A-F3B621D44757}"/>
                </a:ext>
              </a:extLst>
            </p:cNvPr>
            <p:cNvSpPr/>
            <p:nvPr/>
          </p:nvSpPr>
          <p:spPr>
            <a:xfrm>
              <a:off x="1280792" y="4137058"/>
              <a:ext cx="10447310" cy="252000"/>
            </a:xfrm>
            <a:prstGeom prst="rect">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7613" fontAlgn="base">
                <a:spcBef>
                  <a:spcPct val="0"/>
                </a:spcBef>
                <a:spcAft>
                  <a:spcPct val="0"/>
                </a:spcAft>
              </a:pPr>
              <a:r>
                <a:rPr lang="en-GB" sz="1200" b="1" dirty="0">
                  <a:solidFill>
                    <a:schemeClr val="bg1"/>
                  </a:solidFill>
                  <a:latin typeface="Arial" panose="020B0604020202020204" pitchFamily="34" charset="0"/>
                  <a:ea typeface="微软雅黑" panose="020B0503020204020204" pitchFamily="34" charset="-122"/>
                </a:rPr>
                <a:t>Performance CF Serviceability Management/ S &amp; O Ownership</a:t>
              </a:r>
            </a:p>
          </p:txBody>
        </p:sp>
      </p:grpSp>
      <p:sp>
        <p:nvSpPr>
          <p:cNvPr id="10" name="文本框 9">
            <a:extLst>
              <a:ext uri="{FF2B5EF4-FFF2-40B4-BE49-F238E27FC236}">
                <a16:creationId xmlns:a16="http://schemas.microsoft.com/office/drawing/2014/main" id="{20ECB823-8DB4-4AE4-B343-00BFB72C9D13}"/>
              </a:ext>
            </a:extLst>
          </p:cNvPr>
          <p:cNvSpPr txBox="1"/>
          <p:nvPr/>
        </p:nvSpPr>
        <p:spPr>
          <a:xfrm>
            <a:off x="5097" y="2409360"/>
            <a:ext cx="1090317" cy="369332"/>
          </a:xfrm>
          <a:prstGeom prst="rect">
            <a:avLst/>
          </a:prstGeom>
          <a:noFill/>
        </p:spPr>
        <p:txBody>
          <a:bodyPr wrap="square" rtlCol="0">
            <a:spAutoFit/>
          </a:bodyPr>
          <a:lstStyle/>
          <a:p>
            <a:r>
              <a:rPr lang="en-US" altLang="zh-CN" sz="1800" dirty="0">
                <a:latin typeface="Arial" panose="020B0604020202020204" pitchFamily="34" charset="0"/>
                <a:ea typeface="微软雅黑" panose="020B0503020204020204" pitchFamily="34" charset="-122"/>
                <a:cs typeface="Arial" pitchFamily="34" charset="0"/>
              </a:rPr>
              <a:t>Process</a:t>
            </a:r>
            <a:endParaRPr lang="zh-CN" altLang="en-US" sz="1800" dirty="0" err="1">
              <a:latin typeface="Arial" panose="020B0604020202020204" pitchFamily="34" charset="0"/>
              <a:ea typeface="微软雅黑" panose="020B0503020204020204" pitchFamily="34" charset="-122"/>
              <a:cs typeface="Arial" pitchFamily="34" charset="0"/>
            </a:endParaRPr>
          </a:p>
        </p:txBody>
      </p:sp>
      <p:sp>
        <p:nvSpPr>
          <p:cNvPr id="58" name="文本框 57">
            <a:extLst>
              <a:ext uri="{FF2B5EF4-FFF2-40B4-BE49-F238E27FC236}">
                <a16:creationId xmlns:a16="http://schemas.microsoft.com/office/drawing/2014/main" id="{6DAA2171-E0B4-46BD-B1A2-1EA2D5DDE977}"/>
              </a:ext>
            </a:extLst>
          </p:cNvPr>
          <p:cNvSpPr txBox="1"/>
          <p:nvPr/>
        </p:nvSpPr>
        <p:spPr>
          <a:xfrm>
            <a:off x="5097" y="4080213"/>
            <a:ext cx="1090317" cy="369332"/>
          </a:xfrm>
          <a:prstGeom prst="rect">
            <a:avLst/>
          </a:prstGeom>
          <a:noFill/>
        </p:spPr>
        <p:txBody>
          <a:bodyPr wrap="square" rtlCol="0">
            <a:spAutoFit/>
          </a:bodyPr>
          <a:lstStyle/>
          <a:p>
            <a:r>
              <a:rPr lang="en-US" altLang="zh-CN" sz="1800" dirty="0">
                <a:latin typeface="Arial" panose="020B0604020202020204" pitchFamily="34" charset="0"/>
                <a:ea typeface="微软雅黑" panose="020B0503020204020204" pitchFamily="34" charset="-122"/>
                <a:cs typeface="Arial" pitchFamily="34" charset="0"/>
              </a:rPr>
              <a:t>Partner</a:t>
            </a:r>
            <a:endParaRPr lang="zh-CN" altLang="en-US" sz="1800" dirty="0" err="1">
              <a:latin typeface="Arial" panose="020B0604020202020204" pitchFamily="34" charset="0"/>
              <a:ea typeface="微软雅黑" panose="020B0503020204020204" pitchFamily="34" charset="-122"/>
              <a:cs typeface="Arial" pitchFamily="34" charset="0"/>
            </a:endParaRPr>
          </a:p>
        </p:txBody>
      </p:sp>
      <p:sp>
        <p:nvSpPr>
          <p:cNvPr id="59" name="文本框 58">
            <a:extLst>
              <a:ext uri="{FF2B5EF4-FFF2-40B4-BE49-F238E27FC236}">
                <a16:creationId xmlns:a16="http://schemas.microsoft.com/office/drawing/2014/main" id="{9F8C04C3-70E8-4B8D-8C19-7BE3EB14B64C}"/>
              </a:ext>
            </a:extLst>
          </p:cNvPr>
          <p:cNvSpPr txBox="1"/>
          <p:nvPr/>
        </p:nvSpPr>
        <p:spPr>
          <a:xfrm>
            <a:off x="5098" y="5418954"/>
            <a:ext cx="1090316" cy="646331"/>
          </a:xfrm>
          <a:prstGeom prst="rect">
            <a:avLst/>
          </a:prstGeom>
          <a:noFill/>
        </p:spPr>
        <p:txBody>
          <a:bodyPr wrap="square" rtlCol="0">
            <a:spAutoFit/>
          </a:bodyPr>
          <a:lstStyle/>
          <a:p>
            <a:r>
              <a:rPr lang="en-US" altLang="zh-CN" sz="1800" dirty="0">
                <a:latin typeface="Arial" panose="020B0604020202020204" pitchFamily="34" charset="0"/>
                <a:ea typeface="微软雅黑" panose="020B0503020204020204" pitchFamily="34" charset="-122"/>
                <a:cs typeface="Arial" pitchFamily="34" charset="0"/>
              </a:rPr>
              <a:t>Performance</a:t>
            </a:r>
            <a:endParaRPr lang="zh-CN" altLang="en-US" sz="1800" dirty="0" err="1">
              <a:latin typeface="Arial" panose="020B0604020202020204" pitchFamily="34" charset="0"/>
              <a:ea typeface="微软雅黑" panose="020B0503020204020204" pitchFamily="34" charset="-122"/>
              <a:cs typeface="Arial" pitchFamily="34" charset="0"/>
            </a:endParaRPr>
          </a:p>
        </p:txBody>
      </p:sp>
      <p:cxnSp>
        <p:nvCxnSpPr>
          <p:cNvPr id="24" name="直接连接符 23">
            <a:extLst>
              <a:ext uri="{FF2B5EF4-FFF2-40B4-BE49-F238E27FC236}">
                <a16:creationId xmlns:a16="http://schemas.microsoft.com/office/drawing/2014/main" id="{A3F98A70-135D-4767-B45E-03744617C23B}"/>
              </a:ext>
            </a:extLst>
          </p:cNvPr>
          <p:cNvCxnSpPr/>
          <p:nvPr/>
        </p:nvCxnSpPr>
        <p:spPr>
          <a:xfrm>
            <a:off x="1087811" y="1527595"/>
            <a:ext cx="0" cy="2217127"/>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D19412DB-2359-48D5-801C-D20AFADFE38C}"/>
              </a:ext>
            </a:extLst>
          </p:cNvPr>
          <p:cNvCxnSpPr>
            <a:cxnSpLocks/>
          </p:cNvCxnSpPr>
          <p:nvPr/>
        </p:nvCxnSpPr>
        <p:spPr>
          <a:xfrm>
            <a:off x="1087811" y="3848390"/>
            <a:ext cx="7603" cy="100951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5578CB50-FAB6-4AB8-A7CF-15F3DC7B888A}"/>
              </a:ext>
            </a:extLst>
          </p:cNvPr>
          <p:cNvCxnSpPr>
            <a:cxnSpLocks/>
          </p:cNvCxnSpPr>
          <p:nvPr/>
        </p:nvCxnSpPr>
        <p:spPr>
          <a:xfrm>
            <a:off x="1086369" y="5012863"/>
            <a:ext cx="0" cy="1220617"/>
          </a:xfrm>
          <a:prstGeom prst="line">
            <a:avLst/>
          </a:prstGeom>
          <a:ln w="25400">
            <a:solidFill>
              <a:srgbClr val="FFA565"/>
            </a:solidFill>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a16="http://schemas.microsoft.com/office/drawing/2014/main" id="{8EAB0873-6F0A-4E6C-BC0D-2307B8C02C99}"/>
              </a:ext>
            </a:extLst>
          </p:cNvPr>
          <p:cNvCxnSpPr/>
          <p:nvPr/>
        </p:nvCxnSpPr>
        <p:spPr>
          <a:xfrm>
            <a:off x="9387839" y="5765074"/>
            <a:ext cx="0" cy="627017"/>
          </a:xfrm>
          <a:prstGeom prst="line">
            <a:avLst/>
          </a:prstGeom>
          <a:ln w="25400"/>
        </p:spPr>
        <p:style>
          <a:lnRef idx="1">
            <a:schemeClr val="dk1"/>
          </a:lnRef>
          <a:fillRef idx="0">
            <a:schemeClr val="dk1"/>
          </a:fillRef>
          <a:effectRef idx="0">
            <a:schemeClr val="dk1"/>
          </a:effectRef>
          <a:fontRef idx="minor">
            <a:schemeClr val="tx1"/>
          </a:fontRef>
        </p:style>
      </p:cxnSp>
      <p:cxnSp>
        <p:nvCxnSpPr>
          <p:cNvPr id="63" name="直接连接符 62">
            <a:extLst>
              <a:ext uri="{FF2B5EF4-FFF2-40B4-BE49-F238E27FC236}">
                <a16:creationId xmlns:a16="http://schemas.microsoft.com/office/drawing/2014/main" id="{CC741617-C359-4A97-8B00-DA847801923B}"/>
              </a:ext>
            </a:extLst>
          </p:cNvPr>
          <p:cNvCxnSpPr/>
          <p:nvPr/>
        </p:nvCxnSpPr>
        <p:spPr>
          <a:xfrm>
            <a:off x="11691256" y="5760719"/>
            <a:ext cx="0" cy="627017"/>
          </a:xfrm>
          <a:prstGeom prst="line">
            <a:avLst/>
          </a:prstGeom>
          <a:ln w="25400"/>
        </p:spPr>
        <p:style>
          <a:lnRef idx="1">
            <a:schemeClr val="dk1"/>
          </a:lnRef>
          <a:fillRef idx="0">
            <a:schemeClr val="dk1"/>
          </a:fillRef>
          <a:effectRef idx="0">
            <a:schemeClr val="dk1"/>
          </a:effectRef>
          <a:fontRef idx="minor">
            <a:schemeClr val="tx1"/>
          </a:fontRef>
        </p:style>
      </p:cxnSp>
      <p:sp>
        <p:nvSpPr>
          <p:cNvPr id="28" name="动作按钮: 帮助 27">
            <a:hlinkClick r:id="" action="ppaction://noaction" highlightClick="1"/>
            <a:extLst>
              <a:ext uri="{FF2B5EF4-FFF2-40B4-BE49-F238E27FC236}">
                <a16:creationId xmlns:a16="http://schemas.microsoft.com/office/drawing/2014/main" id="{7C6B1FF2-C3A7-4A17-AE91-9A11FC13C43E}"/>
              </a:ext>
            </a:extLst>
          </p:cNvPr>
          <p:cNvSpPr/>
          <p:nvPr/>
        </p:nvSpPr>
        <p:spPr>
          <a:xfrm>
            <a:off x="10075817" y="5886994"/>
            <a:ext cx="801189" cy="505097"/>
          </a:xfrm>
          <a:prstGeom prst="actionButtonHelp">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Tree>
    <p:extLst>
      <p:ext uri="{BB962C8B-B14F-4D97-AF65-F5344CB8AC3E}">
        <p14:creationId xmlns:p14="http://schemas.microsoft.com/office/powerpoint/2010/main" val="30154416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AF6DA92-538F-32EA-B32E-CA5F2353E850}"/>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Background &amp; Strategy Benefits</a:t>
            </a:r>
            <a:endParaRPr lang="zh-CN" altLang="en-US" dirty="0">
              <a:latin typeface="Arial" panose="020B0604020202020204" pitchFamily="34" charset="0"/>
              <a:ea typeface="微软雅黑" panose="020B0503020204020204" pitchFamily="34" charset="-122"/>
            </a:endParaRPr>
          </a:p>
        </p:txBody>
      </p:sp>
      <p:sp>
        <p:nvSpPr>
          <p:cNvPr id="5" name="灯片编号占位符 1">
            <a:extLst>
              <a:ext uri="{FF2B5EF4-FFF2-40B4-BE49-F238E27FC236}">
                <a16:creationId xmlns:a16="http://schemas.microsoft.com/office/drawing/2014/main" id="{55DC9557-DE3A-2643-37E6-9BCB6A24B6F6}"/>
              </a:ext>
            </a:extLst>
          </p:cNvPr>
          <p:cNvSpPr txBox="1">
            <a:spLocks/>
          </p:cNvSpPr>
          <p:nvPr/>
        </p:nvSpPr>
        <p:spPr>
          <a:xfrm>
            <a:off x="9644063" y="6478588"/>
            <a:ext cx="2547937" cy="206375"/>
          </a:xfrm>
          <a:prstGeom prst="rect">
            <a:avLst/>
          </a:prstGeom>
        </p:spPr>
        <p:txBody>
          <a:bodyPr vert="horz" lIns="91440" tIns="45720" rIns="91440" bIns="45720" rtlCol="0" anchor="ctr"/>
          <a:lstStyle>
            <a:defPPr>
              <a:defRPr lang="zh-CN"/>
            </a:defPPr>
            <a:lvl1pPr marL="0" algn="r" defTabSz="914400" rtl="0" eaLnBrk="1" latinLnBrk="0" hangingPunct="1">
              <a:defRPr sz="10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49AE70B2-8BF9-45C0-BB95-33D1B9D3A854}" type="slidenum">
              <a:rPr lang="zh-CN" altLang="en-US" kern="0" smtClean="0">
                <a:latin typeface="Arial" panose="020B0604020202020204" pitchFamily="34" charset="0"/>
                <a:ea typeface="微软雅黑" panose="020B0503020204020204" pitchFamily="34" charset="-122"/>
              </a:rPr>
              <a:pPr/>
              <a:t>178</a:t>
            </a:fld>
            <a:endParaRPr lang="zh-CN" altLang="en-US" kern="0" dirty="0">
              <a:latin typeface="Arial" panose="020B0604020202020204" pitchFamily="34" charset="0"/>
              <a:ea typeface="微软雅黑" panose="020B0503020204020204" pitchFamily="34" charset="-122"/>
            </a:endParaRPr>
          </a:p>
        </p:txBody>
      </p:sp>
      <p:pic>
        <p:nvPicPr>
          <p:cNvPr id="7" name="图片 6">
            <a:extLst>
              <a:ext uri="{FF2B5EF4-FFF2-40B4-BE49-F238E27FC236}">
                <a16:creationId xmlns:a16="http://schemas.microsoft.com/office/drawing/2014/main" id="{BE4FC40C-AC90-07AB-EC5A-68EC52AC8B4D}"/>
              </a:ext>
            </a:extLst>
          </p:cNvPr>
          <p:cNvPicPr>
            <a:picLocks noChangeAspect="1"/>
          </p:cNvPicPr>
          <p:nvPr/>
        </p:nvPicPr>
        <p:blipFill>
          <a:blip r:embed="rId2">
            <a:extLst>
              <a:ext uri="{BEBA8EAE-BF5A-486C-A8C5-ECC9F3942E4B}">
                <a14:imgProps xmlns:a14="http://schemas.microsoft.com/office/drawing/2010/main">
                  <a14:imgLayer r:embed="rId3">
                    <a14:imgEffect>
                      <a14:sharpenSoften amount="60000"/>
                    </a14:imgEffect>
                  </a14:imgLayer>
                </a14:imgProps>
              </a:ext>
              <a:ext uri="{28A0092B-C50C-407E-A947-70E740481C1C}">
                <a14:useLocalDpi xmlns:a14="http://schemas.microsoft.com/office/drawing/2010/main" val="0"/>
              </a:ext>
            </a:extLst>
          </a:blip>
          <a:stretch>
            <a:fillRect/>
          </a:stretch>
        </p:blipFill>
        <p:spPr>
          <a:xfrm>
            <a:off x="8641908" y="2611359"/>
            <a:ext cx="3550092" cy="3751900"/>
          </a:xfrm>
          <a:prstGeom prst="rect">
            <a:avLst/>
          </a:prstGeom>
          <a:ln>
            <a:noFill/>
          </a:ln>
          <a:effectLst>
            <a:softEdge rad="112500"/>
          </a:effectLst>
        </p:spPr>
      </p:pic>
      <p:sp>
        <p:nvSpPr>
          <p:cNvPr id="8" name="文本框 7">
            <a:extLst>
              <a:ext uri="{FF2B5EF4-FFF2-40B4-BE49-F238E27FC236}">
                <a16:creationId xmlns:a16="http://schemas.microsoft.com/office/drawing/2014/main" id="{A1B7D35C-31DA-A15F-4CB2-38419763B095}"/>
              </a:ext>
            </a:extLst>
          </p:cNvPr>
          <p:cNvSpPr txBox="1"/>
          <p:nvPr/>
        </p:nvSpPr>
        <p:spPr>
          <a:xfrm>
            <a:off x="8641908" y="1295701"/>
            <a:ext cx="3271399" cy="1200329"/>
          </a:xfrm>
          <a:prstGeom prst="rect">
            <a:avLst/>
          </a:prstGeom>
          <a:noFill/>
        </p:spPr>
        <p:txBody>
          <a:bodyPr wrap="square" rtlCol="0">
            <a:spAutoFit/>
          </a:bodyPr>
          <a:lstStyle/>
          <a:p>
            <a:r>
              <a:rPr lang="zh-CN" altLang="en-US" b="1" dirty="0">
                <a:latin typeface="Arial" panose="020B0604020202020204" pitchFamily="34" charset="0"/>
                <a:ea typeface="微软雅黑" panose="020B0503020204020204" pitchFamily="34" charset="-122"/>
              </a:rPr>
              <a:t>我们将开启破冰之旅，</a:t>
            </a:r>
            <a:endParaRPr lang="en-US" altLang="zh-CN" b="1" dirty="0">
              <a:latin typeface="Arial" panose="020B0604020202020204" pitchFamily="34" charset="0"/>
              <a:ea typeface="微软雅黑" panose="020B0503020204020204" pitchFamily="34" charset="-122"/>
            </a:endParaRPr>
          </a:p>
          <a:p>
            <a:r>
              <a:rPr lang="zh-CN" altLang="en-US" b="1" dirty="0">
                <a:latin typeface="Arial" panose="020B0604020202020204" pitchFamily="34" charset="0"/>
                <a:ea typeface="微软雅黑" panose="020B0503020204020204" pitchFamily="34" charset="-122"/>
              </a:rPr>
              <a:t>缔造颠覆的方案，</a:t>
            </a:r>
            <a:endParaRPr lang="en-US" altLang="zh-CN" b="1" dirty="0">
              <a:latin typeface="Arial" panose="020B0604020202020204" pitchFamily="34" charset="0"/>
              <a:ea typeface="微软雅黑" panose="020B0503020204020204" pitchFamily="34" charset="-122"/>
            </a:endParaRPr>
          </a:p>
          <a:p>
            <a:r>
              <a:rPr lang="zh-CN" altLang="en-US" b="1" dirty="0">
                <a:latin typeface="Arial" panose="020B0604020202020204" pitchFamily="34" charset="0"/>
                <a:ea typeface="微软雅黑" panose="020B0503020204020204" pitchFamily="34" charset="-122"/>
              </a:rPr>
              <a:t>其诞生于中国，</a:t>
            </a:r>
            <a:endParaRPr lang="en-US" altLang="zh-CN" b="1" dirty="0">
              <a:latin typeface="Arial" panose="020B0604020202020204" pitchFamily="34" charset="0"/>
              <a:ea typeface="微软雅黑" panose="020B0503020204020204" pitchFamily="34" charset="-122"/>
            </a:endParaRPr>
          </a:p>
          <a:p>
            <a:r>
              <a:rPr lang="zh-CN" altLang="en-US" b="1" dirty="0">
                <a:latin typeface="Arial" panose="020B0604020202020204" pitchFamily="34" charset="0"/>
                <a:ea typeface="微软雅黑" panose="020B0503020204020204" pitchFamily="34" charset="-122"/>
              </a:rPr>
              <a:t>必将领先于世界。</a:t>
            </a:r>
          </a:p>
        </p:txBody>
      </p:sp>
      <p:graphicFrame>
        <p:nvGraphicFramePr>
          <p:cNvPr id="124" name="图示 123">
            <a:extLst>
              <a:ext uri="{FF2B5EF4-FFF2-40B4-BE49-F238E27FC236}">
                <a16:creationId xmlns:a16="http://schemas.microsoft.com/office/drawing/2014/main" id="{4AC47EB5-3063-2B4F-3E66-5269E5631E7C}"/>
              </a:ext>
            </a:extLst>
          </p:cNvPr>
          <p:cNvGraphicFramePr/>
          <p:nvPr>
            <p:extLst>
              <p:ext uri="{D42A27DB-BD31-4B8C-83A1-F6EECF244321}">
                <p14:modId xmlns:p14="http://schemas.microsoft.com/office/powerpoint/2010/main" val="3961449751"/>
              </p:ext>
            </p:extLst>
          </p:nvPr>
        </p:nvGraphicFramePr>
        <p:xfrm>
          <a:off x="706256" y="1024057"/>
          <a:ext cx="7828143" cy="5339202"/>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3742531786"/>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2315384B-37E4-8D88-AE14-84A48AA21B31}"/>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成功的关键因素</a:t>
            </a:r>
          </a:p>
        </p:txBody>
      </p:sp>
      <p:grpSp>
        <p:nvGrpSpPr>
          <p:cNvPr id="2" name="组合 1">
            <a:extLst>
              <a:ext uri="{FF2B5EF4-FFF2-40B4-BE49-F238E27FC236}">
                <a16:creationId xmlns:a16="http://schemas.microsoft.com/office/drawing/2014/main" id="{A8CC566B-476C-0DEE-5D03-C562AEF8820D}"/>
              </a:ext>
            </a:extLst>
          </p:cNvPr>
          <p:cNvGrpSpPr>
            <a:grpSpLocks noChangeAspect="1"/>
          </p:cNvGrpSpPr>
          <p:nvPr>
            <p:custDataLst>
              <p:tags r:id="rId1"/>
            </p:custDataLst>
          </p:nvPr>
        </p:nvGrpSpPr>
        <p:grpSpPr>
          <a:xfrm>
            <a:off x="1186086" y="1024561"/>
            <a:ext cx="9486910" cy="5516991"/>
            <a:chOff x="1835150" y="941588"/>
            <a:chExt cx="8521700" cy="4955685"/>
          </a:xfrm>
        </p:grpSpPr>
        <p:grpSp>
          <p:nvGrpSpPr>
            <p:cNvPr id="3" name="组合 2">
              <a:extLst>
                <a:ext uri="{FF2B5EF4-FFF2-40B4-BE49-F238E27FC236}">
                  <a16:creationId xmlns:a16="http://schemas.microsoft.com/office/drawing/2014/main" id="{8D21FC30-50E6-B693-EAC7-56A4FC79E6D7}"/>
                </a:ext>
              </a:extLst>
            </p:cNvPr>
            <p:cNvGrpSpPr/>
            <p:nvPr/>
          </p:nvGrpSpPr>
          <p:grpSpPr>
            <a:xfrm>
              <a:off x="1835150" y="941588"/>
              <a:ext cx="8521700" cy="677346"/>
              <a:chOff x="1574800" y="1451520"/>
              <a:chExt cx="8521700" cy="677346"/>
            </a:xfrm>
          </p:grpSpPr>
          <p:sp>
            <p:nvSpPr>
              <p:cNvPr id="30" name="1">
                <a:extLst>
                  <a:ext uri="{FF2B5EF4-FFF2-40B4-BE49-F238E27FC236}">
                    <a16:creationId xmlns:a16="http://schemas.microsoft.com/office/drawing/2014/main" id="{57FB1CB9-11B3-2208-1198-34A43DAC776D}"/>
                  </a:ext>
                </a:extLst>
              </p:cNvPr>
              <p:cNvSpPr/>
              <p:nvPr>
                <p:custDataLst>
                  <p:tags r:id="rId22"/>
                </p:custDataLst>
              </p:nvPr>
            </p:nvSpPr>
            <p:spPr>
              <a:xfrm>
                <a:off x="1574800" y="1470660"/>
                <a:ext cx="8521700" cy="658206"/>
              </a:xfrm>
              <a:prstGeom prst="roundRect">
                <a:avLst/>
              </a:prstGeom>
              <a:solidFill>
                <a:srgbClr val="002060"/>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r"/>
                <a:endParaRPr lang="zh-CN" altLang="en-US" sz="2400" b="1" dirty="0">
                  <a:solidFill>
                    <a:schemeClr val="tx1"/>
                  </a:solidFill>
                  <a:latin typeface="+mn-ea"/>
                </a:endParaRPr>
              </a:p>
            </p:txBody>
          </p:sp>
          <p:sp>
            <p:nvSpPr>
              <p:cNvPr id="31" name="1">
                <a:extLst>
                  <a:ext uri="{FF2B5EF4-FFF2-40B4-BE49-F238E27FC236}">
                    <a16:creationId xmlns:a16="http://schemas.microsoft.com/office/drawing/2014/main" id="{31206F07-9C1A-781C-9959-B5AFF74815DD}"/>
                  </a:ext>
                </a:extLst>
              </p:cNvPr>
              <p:cNvSpPr/>
              <p:nvPr>
                <p:custDataLst>
                  <p:tags r:id="rId23"/>
                </p:custDataLst>
              </p:nvPr>
            </p:nvSpPr>
            <p:spPr>
              <a:xfrm>
                <a:off x="1813560" y="1593583"/>
                <a:ext cx="1780540" cy="412358"/>
              </a:xfrm>
              <a:prstGeom prst="roundRect">
                <a:avLst>
                  <a:gd name="adj" fmla="val 24395"/>
                </a:avLst>
              </a:prstGeom>
              <a:solidFill>
                <a:schemeClr val="bg1">
                  <a:lumMod val="95000"/>
                </a:schemeClr>
              </a:solidFill>
              <a:ln w="25400">
                <a:gradFill>
                  <a:gsLst>
                    <a:gs pos="0">
                      <a:schemeClr val="bg1"/>
                    </a:gs>
                    <a:gs pos="100000">
                      <a:schemeClr val="bg1">
                        <a:lumMod val="85000"/>
                      </a:schemeClr>
                    </a:gs>
                  </a:gsLst>
                  <a:lin ang="5400000" scaled="1"/>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a:solidFill>
                    <a:schemeClr val="tx1"/>
                  </a:solidFill>
                  <a:latin typeface="+mn-ea"/>
                </a:endParaRPr>
              </a:p>
            </p:txBody>
          </p:sp>
          <p:sp>
            <p:nvSpPr>
              <p:cNvPr id="32" name="Title-1">
                <a:extLst>
                  <a:ext uri="{FF2B5EF4-FFF2-40B4-BE49-F238E27FC236}">
                    <a16:creationId xmlns:a16="http://schemas.microsoft.com/office/drawing/2014/main" id="{38C32B54-D0C0-21A5-1C8E-FF62A086D864}"/>
                  </a:ext>
                </a:extLst>
              </p:cNvPr>
              <p:cNvSpPr txBox="1"/>
              <p:nvPr>
                <p:custDataLst>
                  <p:tags r:id="rId24"/>
                </p:custDataLst>
              </p:nvPr>
            </p:nvSpPr>
            <p:spPr>
              <a:xfrm>
                <a:off x="1813560" y="1634234"/>
                <a:ext cx="2134682" cy="390846"/>
              </a:xfrm>
              <a:prstGeom prst="rect">
                <a:avLst/>
              </a:prstGeom>
              <a:noFill/>
            </p:spPr>
            <p:txBody>
              <a:bodyPr wrap="square" rtlCol="0">
                <a:noAutofit/>
              </a:bodyPr>
              <a:lstStyle/>
              <a:p>
                <a:r>
                  <a:rPr lang="en-US" altLang="zh-CN" b="1" dirty="0">
                    <a:latin typeface="Arial" panose="020B0604020202020204" pitchFamily="34" charset="0"/>
                    <a:ea typeface="微软雅黑" panose="020B0503020204020204" pitchFamily="34" charset="-122"/>
                  </a:rPr>
                  <a:t>01 </a:t>
                </a:r>
                <a:r>
                  <a:rPr lang="zh-CN" altLang="en-US" b="1" dirty="0">
                    <a:latin typeface="Arial" panose="020B0604020202020204" pitchFamily="34" charset="0"/>
                    <a:ea typeface="微软雅黑" panose="020B0503020204020204" pitchFamily="34" charset="-122"/>
                  </a:rPr>
                  <a:t>“一把手”</a:t>
                </a:r>
              </a:p>
            </p:txBody>
          </p:sp>
          <p:sp>
            <p:nvSpPr>
              <p:cNvPr id="33" name="Body-1">
                <a:extLst>
                  <a:ext uri="{FF2B5EF4-FFF2-40B4-BE49-F238E27FC236}">
                    <a16:creationId xmlns:a16="http://schemas.microsoft.com/office/drawing/2014/main" id="{91E215AC-C2C0-EB67-2785-DE6FDE2DBE4C}"/>
                  </a:ext>
                </a:extLst>
              </p:cNvPr>
              <p:cNvSpPr>
                <a:spLocks/>
              </p:cNvSpPr>
              <p:nvPr>
                <p:custDataLst>
                  <p:tags r:id="rId25"/>
                </p:custDataLst>
              </p:nvPr>
            </p:nvSpPr>
            <p:spPr>
              <a:xfrm>
                <a:off x="3738606" y="1451520"/>
                <a:ext cx="4344944"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由其发起并支持说明其项目为公司运营的关键举措</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 </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参与部署激励团队</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 </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使团队主动应用方案</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grpSp>
        <p:grpSp>
          <p:nvGrpSpPr>
            <p:cNvPr id="5" name="组合 4">
              <a:extLst>
                <a:ext uri="{FF2B5EF4-FFF2-40B4-BE49-F238E27FC236}">
                  <a16:creationId xmlns:a16="http://schemas.microsoft.com/office/drawing/2014/main" id="{497FA47A-BC96-26A2-072D-F61042A7D056}"/>
                </a:ext>
              </a:extLst>
            </p:cNvPr>
            <p:cNvGrpSpPr/>
            <p:nvPr/>
          </p:nvGrpSpPr>
          <p:grpSpPr>
            <a:xfrm>
              <a:off x="1835150" y="1816396"/>
              <a:ext cx="8521700" cy="658206"/>
              <a:chOff x="1574800" y="1470660"/>
              <a:chExt cx="8521700" cy="658206"/>
            </a:xfrm>
          </p:grpSpPr>
          <p:sp>
            <p:nvSpPr>
              <p:cNvPr id="26" name="2">
                <a:extLst>
                  <a:ext uri="{FF2B5EF4-FFF2-40B4-BE49-F238E27FC236}">
                    <a16:creationId xmlns:a16="http://schemas.microsoft.com/office/drawing/2014/main" id="{84B662E5-9B0E-A1D5-AB3F-1BE4E6BA497F}"/>
                  </a:ext>
                </a:extLst>
              </p:cNvPr>
              <p:cNvSpPr/>
              <p:nvPr>
                <p:custDataLst>
                  <p:tags r:id="rId18"/>
                </p:custDataLst>
              </p:nvPr>
            </p:nvSpPr>
            <p:spPr>
              <a:xfrm>
                <a:off x="1574800" y="1470660"/>
                <a:ext cx="8521700" cy="658206"/>
              </a:xfrm>
              <a:prstGeom prst="roundRect">
                <a:avLst/>
              </a:prstGeom>
              <a:solidFill>
                <a:srgbClr val="7030A0"/>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r"/>
                <a:endParaRPr lang="zh-CN" altLang="en-US" sz="2400" b="1" dirty="0">
                  <a:solidFill>
                    <a:schemeClr val="tx1"/>
                  </a:solidFill>
                  <a:latin typeface="+mn-ea"/>
                </a:endParaRPr>
              </a:p>
            </p:txBody>
          </p:sp>
          <p:sp>
            <p:nvSpPr>
              <p:cNvPr id="27" name="2">
                <a:extLst>
                  <a:ext uri="{FF2B5EF4-FFF2-40B4-BE49-F238E27FC236}">
                    <a16:creationId xmlns:a16="http://schemas.microsoft.com/office/drawing/2014/main" id="{FB66C7C9-D919-FFEF-17ED-12688B9B1C52}"/>
                  </a:ext>
                </a:extLst>
              </p:cNvPr>
              <p:cNvSpPr/>
              <p:nvPr>
                <p:custDataLst>
                  <p:tags r:id="rId19"/>
                </p:custDataLst>
              </p:nvPr>
            </p:nvSpPr>
            <p:spPr>
              <a:xfrm>
                <a:off x="1813560" y="1593583"/>
                <a:ext cx="1780540" cy="412358"/>
              </a:xfrm>
              <a:prstGeom prst="roundRect">
                <a:avLst>
                  <a:gd name="adj" fmla="val 24395"/>
                </a:avLst>
              </a:prstGeom>
              <a:solidFill>
                <a:schemeClr val="bg1">
                  <a:lumMod val="95000"/>
                </a:schemeClr>
              </a:solidFill>
              <a:ln w="25400">
                <a:gradFill>
                  <a:gsLst>
                    <a:gs pos="0">
                      <a:schemeClr val="bg1"/>
                    </a:gs>
                    <a:gs pos="100000">
                      <a:schemeClr val="bg1">
                        <a:lumMod val="85000"/>
                      </a:schemeClr>
                    </a:gs>
                  </a:gsLst>
                  <a:lin ang="5400000" scaled="1"/>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a:solidFill>
                    <a:schemeClr val="tx1"/>
                  </a:solidFill>
                  <a:latin typeface="+mn-ea"/>
                </a:endParaRPr>
              </a:p>
            </p:txBody>
          </p:sp>
          <p:sp>
            <p:nvSpPr>
              <p:cNvPr id="28" name="Title-2">
                <a:extLst>
                  <a:ext uri="{FF2B5EF4-FFF2-40B4-BE49-F238E27FC236}">
                    <a16:creationId xmlns:a16="http://schemas.microsoft.com/office/drawing/2014/main" id="{1BD080E2-2562-70B9-C094-D3456DC05E7E}"/>
                  </a:ext>
                </a:extLst>
              </p:cNvPr>
              <p:cNvSpPr txBox="1"/>
              <p:nvPr>
                <p:custDataLst>
                  <p:tags r:id="rId20"/>
                </p:custDataLst>
              </p:nvPr>
            </p:nvSpPr>
            <p:spPr>
              <a:xfrm>
                <a:off x="1897653" y="1615095"/>
                <a:ext cx="1840953" cy="369332"/>
              </a:xfrm>
              <a:prstGeom prst="rect">
                <a:avLst/>
              </a:prstGeom>
              <a:noFill/>
            </p:spPr>
            <p:txBody>
              <a:bodyPr wrap="square" rtlCol="0">
                <a:noAutofit/>
              </a:bodyPr>
              <a:lstStyle/>
              <a:p>
                <a:r>
                  <a:rPr lang="en-US" altLang="zh-CN" b="1" dirty="0">
                    <a:latin typeface="Arial" panose="020B0604020202020204" pitchFamily="34" charset="0"/>
                    <a:ea typeface="微软雅黑" panose="020B0503020204020204" pitchFamily="34" charset="-122"/>
                  </a:rPr>
                  <a:t>02 </a:t>
                </a:r>
                <a:r>
                  <a:rPr lang="zh-CN" altLang="en-US" b="1" dirty="0">
                    <a:latin typeface="Arial" panose="020B0604020202020204" pitchFamily="34" charset="0"/>
                    <a:ea typeface="微软雅黑" panose="020B0503020204020204" pitchFamily="34" charset="-122"/>
                  </a:rPr>
                  <a:t>布道</a:t>
                </a:r>
              </a:p>
            </p:txBody>
          </p:sp>
          <p:sp>
            <p:nvSpPr>
              <p:cNvPr id="29" name="Body-2">
                <a:extLst>
                  <a:ext uri="{FF2B5EF4-FFF2-40B4-BE49-F238E27FC236}">
                    <a16:creationId xmlns:a16="http://schemas.microsoft.com/office/drawing/2014/main" id="{65CD55E3-DD0C-C12E-B07C-BE1D564854BF}"/>
                  </a:ext>
                </a:extLst>
              </p:cNvPr>
              <p:cNvSpPr>
                <a:spLocks/>
              </p:cNvSpPr>
              <p:nvPr>
                <p:custDataLst>
                  <p:tags r:id="rId21"/>
                </p:custDataLst>
              </p:nvPr>
            </p:nvSpPr>
            <p:spPr>
              <a:xfrm>
                <a:off x="3678193" y="1564325"/>
                <a:ext cx="4344944"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 有影响力的人帮助布道</a:t>
                </a:r>
                <a:r>
                  <a:rPr kumimoji="0" lang="en-US" altLang="zh-CN"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 </a:t>
                </a:r>
                <a:r>
                  <a:rPr kumimoji="0" lang="zh-CN" altLang="en-US"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培训响应业务方案和系统功能</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grpSp>
        <p:grpSp>
          <p:nvGrpSpPr>
            <p:cNvPr id="6" name="组合 5">
              <a:extLst>
                <a:ext uri="{FF2B5EF4-FFF2-40B4-BE49-F238E27FC236}">
                  <a16:creationId xmlns:a16="http://schemas.microsoft.com/office/drawing/2014/main" id="{716C997A-C4B3-03A4-7511-06DC82AA46CE}"/>
                </a:ext>
              </a:extLst>
            </p:cNvPr>
            <p:cNvGrpSpPr/>
            <p:nvPr/>
          </p:nvGrpSpPr>
          <p:grpSpPr>
            <a:xfrm>
              <a:off x="1835150" y="2672064"/>
              <a:ext cx="8521700" cy="658206"/>
              <a:chOff x="1574800" y="1470660"/>
              <a:chExt cx="8521700" cy="658206"/>
            </a:xfrm>
          </p:grpSpPr>
          <p:sp>
            <p:nvSpPr>
              <p:cNvPr id="22" name="3">
                <a:extLst>
                  <a:ext uri="{FF2B5EF4-FFF2-40B4-BE49-F238E27FC236}">
                    <a16:creationId xmlns:a16="http://schemas.microsoft.com/office/drawing/2014/main" id="{B9CB38FB-66F4-D0DA-8EF5-F8A5595258D6}"/>
                  </a:ext>
                </a:extLst>
              </p:cNvPr>
              <p:cNvSpPr/>
              <p:nvPr>
                <p:custDataLst>
                  <p:tags r:id="rId14"/>
                </p:custDataLst>
              </p:nvPr>
            </p:nvSpPr>
            <p:spPr>
              <a:xfrm>
                <a:off x="1574800" y="1470660"/>
                <a:ext cx="8521700" cy="658206"/>
              </a:xfrm>
              <a:prstGeom prst="roundRect">
                <a:avLst/>
              </a:prstGeom>
              <a:solidFill>
                <a:srgbClr val="0070C0"/>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r"/>
                <a:endParaRPr lang="zh-CN" altLang="en-US" sz="2400" b="1" dirty="0">
                  <a:solidFill>
                    <a:schemeClr val="tx1"/>
                  </a:solidFill>
                  <a:latin typeface="+mn-ea"/>
                </a:endParaRPr>
              </a:p>
            </p:txBody>
          </p:sp>
          <p:sp>
            <p:nvSpPr>
              <p:cNvPr id="23" name="3">
                <a:extLst>
                  <a:ext uri="{FF2B5EF4-FFF2-40B4-BE49-F238E27FC236}">
                    <a16:creationId xmlns:a16="http://schemas.microsoft.com/office/drawing/2014/main" id="{1E4618B9-5FFE-2AA2-4382-E6D5EF018571}"/>
                  </a:ext>
                </a:extLst>
              </p:cNvPr>
              <p:cNvSpPr/>
              <p:nvPr>
                <p:custDataLst>
                  <p:tags r:id="rId15"/>
                </p:custDataLst>
              </p:nvPr>
            </p:nvSpPr>
            <p:spPr>
              <a:xfrm>
                <a:off x="1813560" y="1593583"/>
                <a:ext cx="1780540" cy="412358"/>
              </a:xfrm>
              <a:prstGeom prst="roundRect">
                <a:avLst>
                  <a:gd name="adj" fmla="val 24395"/>
                </a:avLst>
              </a:prstGeom>
              <a:solidFill>
                <a:schemeClr val="bg1">
                  <a:lumMod val="95000"/>
                </a:schemeClr>
              </a:solidFill>
              <a:ln w="25400">
                <a:gradFill>
                  <a:gsLst>
                    <a:gs pos="0">
                      <a:schemeClr val="bg1"/>
                    </a:gs>
                    <a:gs pos="100000">
                      <a:schemeClr val="bg1">
                        <a:lumMod val="85000"/>
                      </a:schemeClr>
                    </a:gs>
                  </a:gsLst>
                  <a:lin ang="5400000" scaled="1"/>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a:solidFill>
                    <a:schemeClr val="tx1"/>
                  </a:solidFill>
                  <a:latin typeface="+mn-ea"/>
                </a:endParaRPr>
              </a:p>
            </p:txBody>
          </p:sp>
          <p:sp>
            <p:nvSpPr>
              <p:cNvPr id="24" name="Title-3">
                <a:extLst>
                  <a:ext uri="{FF2B5EF4-FFF2-40B4-BE49-F238E27FC236}">
                    <a16:creationId xmlns:a16="http://schemas.microsoft.com/office/drawing/2014/main" id="{3E3A993D-CD35-CC9C-5BD4-DFC728E73936}"/>
                  </a:ext>
                </a:extLst>
              </p:cNvPr>
              <p:cNvSpPr txBox="1"/>
              <p:nvPr>
                <p:custDataLst>
                  <p:tags r:id="rId16"/>
                </p:custDataLst>
              </p:nvPr>
            </p:nvSpPr>
            <p:spPr>
              <a:xfrm>
                <a:off x="1897653" y="1615095"/>
                <a:ext cx="1840953" cy="369332"/>
              </a:xfrm>
              <a:prstGeom prst="rect">
                <a:avLst/>
              </a:prstGeom>
              <a:noFill/>
            </p:spPr>
            <p:txBody>
              <a:bodyPr wrap="square" rtlCol="0">
                <a:noAutofit/>
              </a:bodyPr>
              <a:lstStyle/>
              <a:p>
                <a:r>
                  <a:rPr lang="en-US" altLang="zh-CN" b="1" dirty="0">
                    <a:latin typeface="Arial" panose="020B0604020202020204" pitchFamily="34" charset="0"/>
                    <a:ea typeface="微软雅黑" panose="020B0503020204020204" pitchFamily="34" charset="-122"/>
                  </a:rPr>
                  <a:t>03 </a:t>
                </a:r>
                <a:r>
                  <a:rPr lang="zh-CN" altLang="en-US" b="1" dirty="0">
                    <a:latin typeface="Arial" panose="020B0604020202020204" pitchFamily="34" charset="0"/>
                    <a:ea typeface="微软雅黑" panose="020B0503020204020204" pitchFamily="34" charset="-122"/>
                  </a:rPr>
                  <a:t>项目管理</a:t>
                </a:r>
              </a:p>
            </p:txBody>
          </p:sp>
          <p:sp>
            <p:nvSpPr>
              <p:cNvPr id="25" name="Body-3">
                <a:extLst>
                  <a:ext uri="{FF2B5EF4-FFF2-40B4-BE49-F238E27FC236}">
                    <a16:creationId xmlns:a16="http://schemas.microsoft.com/office/drawing/2014/main" id="{CA373FCD-5D19-C3E8-9C3C-E4C5FC62474C}"/>
                  </a:ext>
                </a:extLst>
              </p:cNvPr>
              <p:cNvSpPr>
                <a:spLocks/>
              </p:cNvSpPr>
              <p:nvPr>
                <p:custDataLst>
                  <p:tags r:id="rId17"/>
                </p:custDataLst>
              </p:nvPr>
            </p:nvSpPr>
            <p:spPr>
              <a:xfrm>
                <a:off x="3738605" y="1547804"/>
                <a:ext cx="5510171"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en-US" altLang="zh-CN" b="1" i="0" u="none" strike="noStrike" kern="1200" cap="none" spc="0" normalizeH="0" baseline="0" noProof="0" dirty="0">
                    <a:ln>
                      <a:noFill/>
                    </a:ln>
                    <a:solidFill>
                      <a:schemeClr val="accent1">
                        <a:lumMod val="60000"/>
                        <a:lumOff val="40000"/>
                      </a:schemeClr>
                    </a:solidFill>
                    <a:effectLst/>
                    <a:uLnTx/>
                    <a:uFillTx/>
                    <a:latin typeface="Arial" panose="020B0604020202020204" pitchFamily="34" charset="0"/>
                    <a:ea typeface="微软雅黑" panose="020B0503020204020204" pitchFamily="34" charset="-122"/>
                    <a:cs typeface="+mn-cs"/>
                  </a:rPr>
                  <a:t>HOW</a:t>
                </a:r>
                <a:r>
                  <a:rPr kumimoji="0" lang="zh-CN" altLang="en-US" sz="1400" b="1"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怎么做</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 </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组织构架</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管理机制保障</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里程碑</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沟通机制</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 </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风险识别和管控</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grpSp>
        <p:grpSp>
          <p:nvGrpSpPr>
            <p:cNvPr id="7" name="组合 6">
              <a:extLst>
                <a:ext uri="{FF2B5EF4-FFF2-40B4-BE49-F238E27FC236}">
                  <a16:creationId xmlns:a16="http://schemas.microsoft.com/office/drawing/2014/main" id="{3DF123AA-B2FC-3B9B-F6C9-5C8E618A68C6}"/>
                </a:ext>
              </a:extLst>
            </p:cNvPr>
            <p:cNvGrpSpPr/>
            <p:nvPr/>
          </p:nvGrpSpPr>
          <p:grpSpPr>
            <a:xfrm>
              <a:off x="1835150" y="3527731"/>
              <a:ext cx="8521700" cy="658206"/>
              <a:chOff x="1574800" y="1470660"/>
              <a:chExt cx="8521700" cy="658206"/>
            </a:xfrm>
          </p:grpSpPr>
          <p:sp>
            <p:nvSpPr>
              <p:cNvPr id="18" name="4">
                <a:extLst>
                  <a:ext uri="{FF2B5EF4-FFF2-40B4-BE49-F238E27FC236}">
                    <a16:creationId xmlns:a16="http://schemas.microsoft.com/office/drawing/2014/main" id="{C906109D-F8AF-F211-A61E-40B71704F8F6}"/>
                  </a:ext>
                </a:extLst>
              </p:cNvPr>
              <p:cNvSpPr/>
              <p:nvPr>
                <p:custDataLst>
                  <p:tags r:id="rId10"/>
                </p:custDataLst>
              </p:nvPr>
            </p:nvSpPr>
            <p:spPr>
              <a:xfrm>
                <a:off x="1574800" y="1470660"/>
                <a:ext cx="8521700" cy="658206"/>
              </a:xfrm>
              <a:prstGeom prst="roundRect">
                <a:avLst/>
              </a:prstGeom>
              <a:solidFill>
                <a:srgbClr val="7030A0"/>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r"/>
                <a:endParaRPr lang="zh-CN" altLang="en-US" sz="2400" b="1" dirty="0">
                  <a:solidFill>
                    <a:schemeClr val="tx1"/>
                  </a:solidFill>
                  <a:latin typeface="+mn-ea"/>
                </a:endParaRPr>
              </a:p>
            </p:txBody>
          </p:sp>
          <p:sp>
            <p:nvSpPr>
              <p:cNvPr id="19" name="4">
                <a:extLst>
                  <a:ext uri="{FF2B5EF4-FFF2-40B4-BE49-F238E27FC236}">
                    <a16:creationId xmlns:a16="http://schemas.microsoft.com/office/drawing/2014/main" id="{2694F2B1-DE6D-40E1-0F62-BF0D8BD1B5E8}"/>
                  </a:ext>
                </a:extLst>
              </p:cNvPr>
              <p:cNvSpPr/>
              <p:nvPr>
                <p:custDataLst>
                  <p:tags r:id="rId11"/>
                </p:custDataLst>
              </p:nvPr>
            </p:nvSpPr>
            <p:spPr>
              <a:xfrm>
                <a:off x="1813560" y="1593583"/>
                <a:ext cx="1780540" cy="412358"/>
              </a:xfrm>
              <a:prstGeom prst="roundRect">
                <a:avLst>
                  <a:gd name="adj" fmla="val 24395"/>
                </a:avLst>
              </a:prstGeom>
              <a:solidFill>
                <a:schemeClr val="bg1">
                  <a:lumMod val="95000"/>
                </a:schemeClr>
              </a:solidFill>
              <a:ln w="25400">
                <a:gradFill>
                  <a:gsLst>
                    <a:gs pos="0">
                      <a:schemeClr val="bg1"/>
                    </a:gs>
                    <a:gs pos="100000">
                      <a:schemeClr val="bg1">
                        <a:lumMod val="85000"/>
                      </a:schemeClr>
                    </a:gs>
                  </a:gsLst>
                  <a:lin ang="5400000" scaled="1"/>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a:solidFill>
                    <a:schemeClr val="tx1"/>
                  </a:solidFill>
                  <a:latin typeface="+mn-ea"/>
                </a:endParaRPr>
              </a:p>
            </p:txBody>
          </p:sp>
          <p:sp>
            <p:nvSpPr>
              <p:cNvPr id="20" name="Title-4">
                <a:extLst>
                  <a:ext uri="{FF2B5EF4-FFF2-40B4-BE49-F238E27FC236}">
                    <a16:creationId xmlns:a16="http://schemas.microsoft.com/office/drawing/2014/main" id="{BF9CFCD1-2DF7-CC70-EB43-808AD3503491}"/>
                  </a:ext>
                </a:extLst>
              </p:cNvPr>
              <p:cNvSpPr txBox="1"/>
              <p:nvPr>
                <p:custDataLst>
                  <p:tags r:id="rId12"/>
                </p:custDataLst>
              </p:nvPr>
            </p:nvSpPr>
            <p:spPr>
              <a:xfrm>
                <a:off x="1897653" y="1615095"/>
                <a:ext cx="1840953" cy="369332"/>
              </a:xfrm>
              <a:prstGeom prst="rect">
                <a:avLst/>
              </a:prstGeom>
              <a:noFill/>
            </p:spPr>
            <p:txBody>
              <a:bodyPr wrap="square" rtlCol="0">
                <a:noAutofit/>
              </a:bodyPr>
              <a:lstStyle/>
              <a:p>
                <a:r>
                  <a:rPr lang="en-US" altLang="zh-CN" b="1" dirty="0">
                    <a:latin typeface="Arial" panose="020B0604020202020204" pitchFamily="34" charset="0"/>
                    <a:ea typeface="微软雅黑" panose="020B0503020204020204" pitchFamily="34" charset="-122"/>
                  </a:rPr>
                  <a:t>04 </a:t>
                </a:r>
                <a:r>
                  <a:rPr lang="zh-CN" altLang="en-US" b="1" dirty="0">
                    <a:latin typeface="Arial" panose="020B0604020202020204" pitchFamily="34" charset="0"/>
                    <a:ea typeface="微软雅黑" panose="020B0503020204020204" pitchFamily="34" charset="-122"/>
                  </a:rPr>
                  <a:t>实施团队</a:t>
                </a:r>
              </a:p>
            </p:txBody>
          </p:sp>
          <p:sp>
            <p:nvSpPr>
              <p:cNvPr id="21" name="Body-4">
                <a:extLst>
                  <a:ext uri="{FF2B5EF4-FFF2-40B4-BE49-F238E27FC236}">
                    <a16:creationId xmlns:a16="http://schemas.microsoft.com/office/drawing/2014/main" id="{A80EBCCC-7011-5BE1-2A89-FA559FEDFE0B}"/>
                  </a:ext>
                </a:extLst>
              </p:cNvPr>
              <p:cNvSpPr>
                <a:spLocks/>
              </p:cNvSpPr>
              <p:nvPr>
                <p:custDataLst>
                  <p:tags r:id="rId13"/>
                </p:custDataLst>
              </p:nvPr>
            </p:nvSpPr>
            <p:spPr>
              <a:xfrm>
                <a:off x="3678193" y="1564325"/>
                <a:ext cx="4344944"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明确整体构架和目标</a:t>
                </a:r>
                <a:r>
                  <a:rPr kumimoji="0" lang="en-US" altLang="zh-CN"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 </a:t>
                </a:r>
                <a:r>
                  <a:rPr kumimoji="0" lang="zh-CN" altLang="en-US"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明确角色</a:t>
                </a:r>
                <a:r>
                  <a:rPr kumimoji="0" lang="en-US" altLang="zh-CN"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a:t>
                </a:r>
                <a:r>
                  <a:rPr kumimoji="0" lang="zh-CN" altLang="en-US"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任务</a:t>
                </a:r>
                <a:r>
                  <a:rPr kumimoji="0" lang="en-US" altLang="zh-CN"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a:t>
                </a:r>
                <a:r>
                  <a:rPr kumimoji="0" lang="zh-CN" altLang="en-US"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时间</a:t>
                </a:r>
                <a:r>
                  <a:rPr kumimoji="0" lang="en-US" altLang="zh-CN"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grpSp>
        <p:grpSp>
          <p:nvGrpSpPr>
            <p:cNvPr id="8" name="组合 7">
              <a:extLst>
                <a:ext uri="{FF2B5EF4-FFF2-40B4-BE49-F238E27FC236}">
                  <a16:creationId xmlns:a16="http://schemas.microsoft.com/office/drawing/2014/main" id="{70AFFB1F-4A05-36FA-2F5D-ABFEC3DB41FE}"/>
                </a:ext>
              </a:extLst>
            </p:cNvPr>
            <p:cNvGrpSpPr/>
            <p:nvPr/>
          </p:nvGrpSpPr>
          <p:grpSpPr>
            <a:xfrm>
              <a:off x="1835150" y="4383399"/>
              <a:ext cx="8521700" cy="658206"/>
              <a:chOff x="1574800" y="1470660"/>
              <a:chExt cx="8521700" cy="658206"/>
            </a:xfrm>
          </p:grpSpPr>
          <p:sp>
            <p:nvSpPr>
              <p:cNvPr id="14" name="5">
                <a:extLst>
                  <a:ext uri="{FF2B5EF4-FFF2-40B4-BE49-F238E27FC236}">
                    <a16:creationId xmlns:a16="http://schemas.microsoft.com/office/drawing/2014/main" id="{31A1BCF1-ADC1-F020-9D7B-99642E690922}"/>
                  </a:ext>
                </a:extLst>
              </p:cNvPr>
              <p:cNvSpPr/>
              <p:nvPr>
                <p:custDataLst>
                  <p:tags r:id="rId6"/>
                </p:custDataLst>
              </p:nvPr>
            </p:nvSpPr>
            <p:spPr>
              <a:xfrm>
                <a:off x="1574800" y="1470660"/>
                <a:ext cx="8521700" cy="658206"/>
              </a:xfrm>
              <a:prstGeom prst="roundRect">
                <a:avLst/>
              </a:prstGeom>
              <a:solidFill>
                <a:srgbClr val="00B0F0"/>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r"/>
                <a:endParaRPr lang="zh-CN" altLang="en-US" sz="2400" b="1" dirty="0">
                  <a:solidFill>
                    <a:schemeClr val="tx1"/>
                  </a:solidFill>
                  <a:latin typeface="+mn-ea"/>
                </a:endParaRPr>
              </a:p>
            </p:txBody>
          </p:sp>
          <p:sp>
            <p:nvSpPr>
              <p:cNvPr id="15" name="5">
                <a:extLst>
                  <a:ext uri="{FF2B5EF4-FFF2-40B4-BE49-F238E27FC236}">
                    <a16:creationId xmlns:a16="http://schemas.microsoft.com/office/drawing/2014/main" id="{75330A28-6202-484D-CE91-01E7DE6ABF7B}"/>
                  </a:ext>
                </a:extLst>
              </p:cNvPr>
              <p:cNvSpPr/>
              <p:nvPr>
                <p:custDataLst>
                  <p:tags r:id="rId7"/>
                </p:custDataLst>
              </p:nvPr>
            </p:nvSpPr>
            <p:spPr>
              <a:xfrm>
                <a:off x="1813560" y="1593583"/>
                <a:ext cx="1780540" cy="412358"/>
              </a:xfrm>
              <a:prstGeom prst="roundRect">
                <a:avLst>
                  <a:gd name="adj" fmla="val 24395"/>
                </a:avLst>
              </a:prstGeom>
              <a:solidFill>
                <a:schemeClr val="bg1">
                  <a:lumMod val="95000"/>
                </a:schemeClr>
              </a:solidFill>
              <a:ln w="25400">
                <a:gradFill>
                  <a:gsLst>
                    <a:gs pos="0">
                      <a:schemeClr val="bg1"/>
                    </a:gs>
                    <a:gs pos="100000">
                      <a:schemeClr val="bg1">
                        <a:lumMod val="85000"/>
                      </a:schemeClr>
                    </a:gs>
                  </a:gsLst>
                  <a:lin ang="5400000" scaled="1"/>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a:solidFill>
                    <a:schemeClr val="tx1"/>
                  </a:solidFill>
                  <a:latin typeface="+mn-ea"/>
                </a:endParaRPr>
              </a:p>
            </p:txBody>
          </p:sp>
          <p:sp>
            <p:nvSpPr>
              <p:cNvPr id="16" name="Title-5">
                <a:extLst>
                  <a:ext uri="{FF2B5EF4-FFF2-40B4-BE49-F238E27FC236}">
                    <a16:creationId xmlns:a16="http://schemas.microsoft.com/office/drawing/2014/main" id="{7CBFF854-93EF-C90B-2AAF-85F327306C7D}"/>
                  </a:ext>
                </a:extLst>
              </p:cNvPr>
              <p:cNvSpPr txBox="1"/>
              <p:nvPr>
                <p:custDataLst>
                  <p:tags r:id="rId8"/>
                </p:custDataLst>
              </p:nvPr>
            </p:nvSpPr>
            <p:spPr>
              <a:xfrm>
                <a:off x="1897653" y="1615095"/>
                <a:ext cx="1840953" cy="369332"/>
              </a:xfrm>
              <a:prstGeom prst="rect">
                <a:avLst/>
              </a:prstGeom>
              <a:noFill/>
            </p:spPr>
            <p:txBody>
              <a:bodyPr wrap="square" rtlCol="0">
                <a:noAutofit/>
              </a:bodyPr>
              <a:lstStyle/>
              <a:p>
                <a:r>
                  <a:rPr lang="en-US" altLang="zh-CN" b="1" dirty="0">
                    <a:latin typeface="Arial" panose="020B0604020202020204" pitchFamily="34" charset="0"/>
                    <a:ea typeface="微软雅黑" panose="020B0503020204020204" pitchFamily="34" charset="-122"/>
                  </a:rPr>
                  <a:t>05 KPI</a:t>
                </a:r>
                <a:endParaRPr lang="zh-CN" altLang="en-US" b="1" dirty="0">
                  <a:latin typeface="Arial" panose="020B0604020202020204" pitchFamily="34" charset="0"/>
                  <a:ea typeface="微软雅黑" panose="020B0503020204020204" pitchFamily="34" charset="-122"/>
                </a:endParaRPr>
              </a:p>
            </p:txBody>
          </p:sp>
          <p:sp>
            <p:nvSpPr>
              <p:cNvPr id="17" name="Body-5">
                <a:extLst>
                  <a:ext uri="{FF2B5EF4-FFF2-40B4-BE49-F238E27FC236}">
                    <a16:creationId xmlns:a16="http://schemas.microsoft.com/office/drawing/2014/main" id="{70D39A1E-3053-DEF5-8AAE-EFBFE0AD8913}"/>
                  </a:ext>
                </a:extLst>
              </p:cNvPr>
              <p:cNvSpPr>
                <a:spLocks/>
              </p:cNvSpPr>
              <p:nvPr>
                <p:custDataLst>
                  <p:tags r:id="rId9"/>
                </p:custDataLst>
              </p:nvPr>
            </p:nvSpPr>
            <p:spPr>
              <a:xfrm>
                <a:off x="3738605" y="1513556"/>
                <a:ext cx="4710671"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设定可衡量的供应链</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KPI(</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如交付速度</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交付准确性</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a:t>
                </a:r>
                <a:r>
                  <a:rPr kumimoji="0" lang="zh-CN" altLang="en-US"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库存水平等</a:t>
                </a:r>
                <a:r>
                  <a:rPr kumimoji="0" lang="en-US"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rPr>
                  <a:t>)</a:t>
                </a: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grpSp>
        <p:grpSp>
          <p:nvGrpSpPr>
            <p:cNvPr id="9" name="组合 8">
              <a:extLst>
                <a:ext uri="{FF2B5EF4-FFF2-40B4-BE49-F238E27FC236}">
                  <a16:creationId xmlns:a16="http://schemas.microsoft.com/office/drawing/2014/main" id="{CA7794CB-5D56-B199-55EC-BC3B75236302}"/>
                </a:ext>
              </a:extLst>
            </p:cNvPr>
            <p:cNvGrpSpPr/>
            <p:nvPr/>
          </p:nvGrpSpPr>
          <p:grpSpPr>
            <a:xfrm>
              <a:off x="1835150" y="5239067"/>
              <a:ext cx="8521700" cy="658206"/>
              <a:chOff x="1574800" y="1470660"/>
              <a:chExt cx="8521700" cy="658206"/>
            </a:xfrm>
          </p:grpSpPr>
          <p:sp>
            <p:nvSpPr>
              <p:cNvPr id="10" name="6">
                <a:extLst>
                  <a:ext uri="{FF2B5EF4-FFF2-40B4-BE49-F238E27FC236}">
                    <a16:creationId xmlns:a16="http://schemas.microsoft.com/office/drawing/2014/main" id="{AD55C665-6E9D-81CF-5995-06A1BD8E9635}"/>
                  </a:ext>
                </a:extLst>
              </p:cNvPr>
              <p:cNvSpPr/>
              <p:nvPr>
                <p:custDataLst>
                  <p:tags r:id="rId2"/>
                </p:custDataLst>
              </p:nvPr>
            </p:nvSpPr>
            <p:spPr>
              <a:xfrm>
                <a:off x="1574800" y="1470660"/>
                <a:ext cx="8521700" cy="658206"/>
              </a:xfrm>
              <a:prstGeom prst="roundRect">
                <a:avLst/>
              </a:prstGeom>
              <a:gradFill flip="none" rotWithShape="1">
                <a:gsLst>
                  <a:gs pos="0">
                    <a:schemeClr val="accent6"/>
                  </a:gs>
                  <a:gs pos="100000">
                    <a:schemeClr val="accent6">
                      <a:lumMod val="75000"/>
                    </a:schemeClr>
                  </a:gs>
                </a:gsLst>
                <a:lin ang="2700000" scaled="1"/>
                <a:tileRect/>
              </a:gra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r"/>
                <a:endParaRPr lang="zh-CN" altLang="en-US" sz="2400" b="1" dirty="0">
                  <a:solidFill>
                    <a:schemeClr val="tx1"/>
                  </a:solidFill>
                  <a:latin typeface="+mn-ea"/>
                </a:endParaRPr>
              </a:p>
            </p:txBody>
          </p:sp>
          <p:sp>
            <p:nvSpPr>
              <p:cNvPr id="11" name="6">
                <a:extLst>
                  <a:ext uri="{FF2B5EF4-FFF2-40B4-BE49-F238E27FC236}">
                    <a16:creationId xmlns:a16="http://schemas.microsoft.com/office/drawing/2014/main" id="{D1277A7B-CE3C-1D2E-2CDB-C0E7A635025B}"/>
                  </a:ext>
                </a:extLst>
              </p:cNvPr>
              <p:cNvSpPr/>
              <p:nvPr>
                <p:custDataLst>
                  <p:tags r:id="rId3"/>
                </p:custDataLst>
              </p:nvPr>
            </p:nvSpPr>
            <p:spPr>
              <a:xfrm>
                <a:off x="1813560" y="1593583"/>
                <a:ext cx="1780540" cy="412358"/>
              </a:xfrm>
              <a:prstGeom prst="roundRect">
                <a:avLst>
                  <a:gd name="adj" fmla="val 24395"/>
                </a:avLst>
              </a:prstGeom>
              <a:solidFill>
                <a:schemeClr val="bg1">
                  <a:lumMod val="95000"/>
                </a:schemeClr>
              </a:solidFill>
              <a:ln w="25400">
                <a:gradFill>
                  <a:gsLst>
                    <a:gs pos="0">
                      <a:schemeClr val="bg1"/>
                    </a:gs>
                    <a:gs pos="100000">
                      <a:schemeClr val="bg1">
                        <a:lumMod val="85000"/>
                      </a:schemeClr>
                    </a:gs>
                  </a:gsLst>
                  <a:lin ang="5400000" scaled="1"/>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a:solidFill>
                    <a:schemeClr val="tx1"/>
                  </a:solidFill>
                  <a:latin typeface="+mn-ea"/>
                </a:endParaRPr>
              </a:p>
            </p:txBody>
          </p:sp>
          <p:sp>
            <p:nvSpPr>
              <p:cNvPr id="12" name="Title-6">
                <a:extLst>
                  <a:ext uri="{FF2B5EF4-FFF2-40B4-BE49-F238E27FC236}">
                    <a16:creationId xmlns:a16="http://schemas.microsoft.com/office/drawing/2014/main" id="{4265D5A7-33D8-7115-DE05-902FC55EF1FA}"/>
                  </a:ext>
                </a:extLst>
              </p:cNvPr>
              <p:cNvSpPr txBox="1"/>
              <p:nvPr>
                <p:custDataLst>
                  <p:tags r:id="rId4"/>
                </p:custDataLst>
              </p:nvPr>
            </p:nvSpPr>
            <p:spPr>
              <a:xfrm>
                <a:off x="1897653" y="1615095"/>
                <a:ext cx="1840953" cy="369332"/>
              </a:xfrm>
              <a:prstGeom prst="rect">
                <a:avLst/>
              </a:prstGeom>
              <a:noFill/>
            </p:spPr>
            <p:txBody>
              <a:bodyPr wrap="square" rtlCol="0">
                <a:noAutofit/>
              </a:bodyPr>
              <a:lstStyle/>
              <a:p>
                <a:r>
                  <a:rPr lang="en-US" altLang="zh-CN" b="1" dirty="0">
                    <a:latin typeface="Arial" panose="020B0604020202020204" pitchFamily="34" charset="0"/>
                    <a:ea typeface="微软雅黑" panose="020B0503020204020204" pitchFamily="34" charset="-122"/>
                  </a:rPr>
                  <a:t>06 </a:t>
                </a:r>
                <a:r>
                  <a:rPr lang="zh-CN" altLang="en-US" b="1" dirty="0">
                    <a:latin typeface="Arial" panose="020B0604020202020204" pitchFamily="34" charset="0"/>
                    <a:ea typeface="微软雅黑" panose="020B0503020204020204" pitchFamily="34" charset="-122"/>
                  </a:rPr>
                  <a:t>变更管理</a:t>
                </a:r>
              </a:p>
            </p:txBody>
          </p:sp>
          <p:sp>
            <p:nvSpPr>
              <p:cNvPr id="13" name="Body-6">
                <a:extLst>
                  <a:ext uri="{FF2B5EF4-FFF2-40B4-BE49-F238E27FC236}">
                    <a16:creationId xmlns:a16="http://schemas.microsoft.com/office/drawing/2014/main" id="{E7E372CE-71C5-86A5-1368-90C90D12EBB5}"/>
                  </a:ext>
                </a:extLst>
              </p:cNvPr>
              <p:cNvSpPr>
                <a:spLocks/>
              </p:cNvSpPr>
              <p:nvPr>
                <p:custDataLst>
                  <p:tags r:id="rId5"/>
                </p:custDataLst>
              </p:nvPr>
            </p:nvSpPr>
            <p:spPr>
              <a:xfrm>
                <a:off x="3678193" y="1564325"/>
                <a:ext cx="4344944"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其目的是帮助快速平稳过渡</a:t>
                </a:r>
                <a:r>
                  <a:rPr kumimoji="0" lang="en-US" altLang="zh-CN"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 PPS. </a:t>
                </a:r>
                <a:r>
                  <a:rPr kumimoji="0" lang="zh-CN" altLang="en-US" sz="1400" b="0" i="0" u="none" strike="noStrike" kern="1200" cap="none" spc="0" normalizeH="0" baseline="0" noProof="0">
                    <a:ln>
                      <a:noFill/>
                    </a:ln>
                    <a:solidFill>
                      <a:schemeClr val="tx1"/>
                    </a:solidFill>
                    <a:effectLst/>
                    <a:uLnTx/>
                    <a:uFillTx/>
                    <a:latin typeface="Arial" panose="020B0604020202020204" pitchFamily="34" charset="0"/>
                    <a:ea typeface="微软雅黑" panose="020B0503020204020204" pitchFamily="34" charset="-122"/>
                    <a:cs typeface="+mn-cs"/>
                  </a:rPr>
                  <a:t>需整体把控节奏</a:t>
                </a:r>
              </a:p>
              <a:p>
                <a:pPr marL="0" marR="0" lvl="0" indent="0" defTabSz="913765" rtl="0" eaLnBrk="1" fontAlgn="auto" latinLnBrk="0" hangingPunct="1">
                  <a:lnSpc>
                    <a:spcPct val="130000"/>
                  </a:lnSpc>
                  <a:spcBef>
                    <a:spcPts val="0"/>
                  </a:spcBef>
                  <a:spcAft>
                    <a:spcPts val="0"/>
                  </a:spcAft>
                  <a:buClrTx/>
                  <a:buSzPct val="100000"/>
                  <a:buFontTx/>
                  <a:buNone/>
                  <a:tabLst/>
                  <a:defRPr/>
                </a:pPr>
                <a:endParaRPr kumimoji="0" lang="en-GB" altLang="zh-CN" sz="1400" b="0" i="0" u="none" strike="noStrike" kern="1200" cap="none" spc="0" normalizeH="0" baseline="0" noProof="0" dirty="0">
                  <a:ln>
                    <a:noFill/>
                  </a:ln>
                  <a:solidFill>
                    <a:schemeClr val="tx1"/>
                  </a:solidFill>
                  <a:effectLst/>
                  <a:uLnTx/>
                  <a:uFillTx/>
                  <a:latin typeface="Arial" panose="020B0604020202020204" pitchFamily="34" charset="0"/>
                  <a:ea typeface="微软雅黑" panose="020B0503020204020204" pitchFamily="34" charset="-122"/>
                  <a:cs typeface="+mn-cs"/>
                </a:endParaRPr>
              </a:p>
            </p:txBody>
          </p:sp>
        </p:grpSp>
      </p:grpSp>
    </p:spTree>
    <p:extLst>
      <p:ext uri="{BB962C8B-B14F-4D97-AF65-F5344CB8AC3E}">
        <p14:creationId xmlns:p14="http://schemas.microsoft.com/office/powerpoint/2010/main" val="992267878"/>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84E3EED-6263-0143-5D98-D4A17FBD15AA}"/>
              </a:ext>
            </a:extLst>
          </p:cNvPr>
          <p:cNvSpPr>
            <a:spLocks noGrp="1"/>
          </p:cNvSpPr>
          <p:nvPr>
            <p:ph type="title"/>
          </p:nvPr>
        </p:nvSpPr>
        <p:spPr/>
        <p:txBody>
          <a:bodyPr/>
          <a:lstStyle/>
          <a:p>
            <a:r>
              <a:rPr lang="zh-CN" altLang="en-US" dirty="0">
                <a:latin typeface="+mn-ea"/>
                <a:ea typeface="+mn-ea"/>
              </a:rPr>
              <a:t>企业战略类型</a:t>
            </a:r>
          </a:p>
        </p:txBody>
      </p:sp>
      <p:grpSp>
        <p:nvGrpSpPr>
          <p:cNvPr id="49" name="组合 48">
            <a:extLst>
              <a:ext uri="{FF2B5EF4-FFF2-40B4-BE49-F238E27FC236}">
                <a16:creationId xmlns:a16="http://schemas.microsoft.com/office/drawing/2014/main" id="{590ADAEA-0928-C24F-526D-E38BB9D43C44}"/>
              </a:ext>
            </a:extLst>
          </p:cNvPr>
          <p:cNvGrpSpPr>
            <a:grpSpLocks noChangeAspect="1"/>
          </p:cNvGrpSpPr>
          <p:nvPr>
            <p:custDataLst>
              <p:tags r:id="rId1"/>
            </p:custDataLst>
          </p:nvPr>
        </p:nvGrpSpPr>
        <p:grpSpPr>
          <a:xfrm>
            <a:off x="430306" y="1087717"/>
            <a:ext cx="11247718" cy="5653741"/>
            <a:chOff x="1600483" y="2368488"/>
            <a:chExt cx="8991034" cy="2121024"/>
          </a:xfrm>
        </p:grpSpPr>
        <p:grpSp>
          <p:nvGrpSpPr>
            <p:cNvPr id="50" name="组合 49">
              <a:extLst>
                <a:ext uri="{FF2B5EF4-FFF2-40B4-BE49-F238E27FC236}">
                  <a16:creationId xmlns:a16="http://schemas.microsoft.com/office/drawing/2014/main" id="{FDF9858C-DD9A-A74F-D8D3-23B86C521529}"/>
                </a:ext>
              </a:extLst>
            </p:cNvPr>
            <p:cNvGrpSpPr/>
            <p:nvPr/>
          </p:nvGrpSpPr>
          <p:grpSpPr>
            <a:xfrm>
              <a:off x="1600483" y="2368488"/>
              <a:ext cx="2714059" cy="2121024"/>
              <a:chOff x="1600483" y="1893253"/>
              <a:chExt cx="2714059" cy="2121024"/>
            </a:xfrm>
          </p:grpSpPr>
          <p:sp>
            <p:nvSpPr>
              <p:cNvPr id="59" name="1">
                <a:extLst>
                  <a:ext uri="{FF2B5EF4-FFF2-40B4-BE49-F238E27FC236}">
                    <a16:creationId xmlns:a16="http://schemas.microsoft.com/office/drawing/2014/main" id="{530DF28A-AF2B-5009-BF8F-D06D228802AA}"/>
                  </a:ext>
                </a:extLst>
              </p:cNvPr>
              <p:cNvSpPr/>
              <p:nvPr>
                <p:custDataLst>
                  <p:tags r:id="rId8"/>
                </p:custDataLst>
              </p:nvPr>
            </p:nvSpPr>
            <p:spPr>
              <a:xfrm rot="10800000" flipH="1">
                <a:off x="1600483" y="1936194"/>
                <a:ext cx="144557" cy="1492805"/>
              </a:xfrm>
              <a:prstGeom prst="flowChartManualInpu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dirty="0"/>
              </a:p>
            </p:txBody>
          </p:sp>
          <p:sp>
            <p:nvSpPr>
              <p:cNvPr id="60" name="Title-1">
                <a:extLst>
                  <a:ext uri="{FF2B5EF4-FFF2-40B4-BE49-F238E27FC236}">
                    <a16:creationId xmlns:a16="http://schemas.microsoft.com/office/drawing/2014/main" id="{C0111996-2A9A-7F5D-8143-5D536F2F9DCB}"/>
                  </a:ext>
                </a:extLst>
              </p:cNvPr>
              <p:cNvSpPr txBox="1"/>
              <p:nvPr>
                <p:custDataLst>
                  <p:tags r:id="rId9"/>
                </p:custDataLst>
              </p:nvPr>
            </p:nvSpPr>
            <p:spPr>
              <a:xfrm>
                <a:off x="1859341" y="1893253"/>
                <a:ext cx="2455200" cy="369332"/>
              </a:xfrm>
              <a:prstGeom prst="rect">
                <a:avLst/>
              </a:prstGeom>
              <a:noFill/>
            </p:spPr>
            <p:txBody>
              <a:bodyPr wrap="square" rtlCol="0">
                <a:noAutofit/>
              </a:bodyPr>
              <a:lstStyle/>
              <a:p>
                <a:r>
                  <a:rPr lang="zh-CN" altLang="en-US" b="1">
                    <a:solidFill>
                      <a:schemeClr val="accent1"/>
                    </a:solidFill>
                    <a:latin typeface="黑体" panose="02010609060101010101" pitchFamily="49" charset="-122"/>
                    <a:ea typeface="黑体" panose="02010609060101010101" pitchFamily="49" charset="-122"/>
                  </a:rPr>
                  <a:t>成本领先战略：</a:t>
                </a:r>
                <a:endParaRPr lang="zh-CN" altLang="en-US" b="1" dirty="0">
                  <a:solidFill>
                    <a:schemeClr val="accent1"/>
                  </a:solidFill>
                  <a:latin typeface="黑体" panose="02010609060101010101" pitchFamily="49" charset="-122"/>
                  <a:ea typeface="黑体" panose="02010609060101010101" pitchFamily="49" charset="-122"/>
                </a:endParaRPr>
              </a:p>
            </p:txBody>
          </p:sp>
          <p:sp>
            <p:nvSpPr>
              <p:cNvPr id="61" name="Body-1">
                <a:extLst>
                  <a:ext uri="{FF2B5EF4-FFF2-40B4-BE49-F238E27FC236}">
                    <a16:creationId xmlns:a16="http://schemas.microsoft.com/office/drawing/2014/main" id="{ADC4F7AD-2723-A930-BBBB-28121DC9F8AF}"/>
                  </a:ext>
                </a:extLst>
              </p:cNvPr>
              <p:cNvSpPr>
                <a:spLocks/>
              </p:cNvSpPr>
              <p:nvPr>
                <p:custDataLst>
                  <p:tags r:id="rId10"/>
                </p:custDataLst>
              </p:nvPr>
            </p:nvSpPr>
            <p:spPr>
              <a:xfrm>
                <a:off x="1859342" y="2143023"/>
                <a:ext cx="2455200" cy="18712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黑体" panose="02010609060101010101" pitchFamily="49" charset="-122"/>
                    <a:ea typeface="黑体" panose="02010609060101010101" pitchFamily="49" charset="-122"/>
                    <a:cs typeface="+mn-cs"/>
                  </a:rPr>
                  <a:t>目标：成为行业内成本最低的生产者，从而能够以更低的价格竞争或获得更高利。 </a:t>
                </a:r>
              </a:p>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黑体" panose="02010609060101010101" pitchFamily="49" charset="-122"/>
                    <a:ea typeface="黑体" panose="02010609060101010101" pitchFamily="49" charset="-122"/>
                    <a:cs typeface="+mn-cs"/>
                  </a:rPr>
                  <a:t>特点：专注于运营效率、标准化产品、大规模生产、严格控制成本（包括供应商成本）。 </a:t>
                </a:r>
              </a:p>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黑体" panose="02010609060101010101" pitchFamily="49" charset="-122"/>
                    <a:ea typeface="黑体" panose="02010609060101010101" pitchFamily="49" charset="-122"/>
                    <a:cs typeface="+mn-cs"/>
                  </a:rPr>
                  <a:t>例子：联想、小米、</a:t>
                </a:r>
                <a:r>
                  <a:rPr lang="zh-CN" altLang="en-US" sz="1400" dirty="0">
                    <a:solidFill>
                      <a:schemeClr val="tx2">
                        <a:lumMod val="75000"/>
                        <a:lumOff val="25000"/>
                      </a:schemeClr>
                    </a:solidFill>
                    <a:latin typeface="黑体" panose="02010609060101010101" pitchFamily="49" charset="-122"/>
                    <a:ea typeface="黑体" panose="02010609060101010101" pitchFamily="49" charset="-122"/>
                  </a:rPr>
                  <a:t>海尔、美的</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黑体" panose="02010609060101010101" pitchFamily="49" charset="-122"/>
                  <a:ea typeface="黑体" panose="02010609060101010101" pitchFamily="49" charset="-122"/>
                  <a:cs typeface="+mn-cs"/>
                </a:endParaRPr>
              </a:p>
            </p:txBody>
          </p:sp>
        </p:grpSp>
        <p:grpSp>
          <p:nvGrpSpPr>
            <p:cNvPr id="51" name="组合 50">
              <a:extLst>
                <a:ext uri="{FF2B5EF4-FFF2-40B4-BE49-F238E27FC236}">
                  <a16:creationId xmlns:a16="http://schemas.microsoft.com/office/drawing/2014/main" id="{19F1F394-82B5-CCCB-4809-EEF24CD95DB5}"/>
                </a:ext>
              </a:extLst>
            </p:cNvPr>
            <p:cNvGrpSpPr/>
            <p:nvPr/>
          </p:nvGrpSpPr>
          <p:grpSpPr>
            <a:xfrm>
              <a:off x="4738971" y="2368488"/>
              <a:ext cx="2714059" cy="2121024"/>
              <a:chOff x="4738971" y="1893253"/>
              <a:chExt cx="2714059" cy="2121024"/>
            </a:xfrm>
          </p:grpSpPr>
          <p:sp>
            <p:nvSpPr>
              <p:cNvPr id="56" name="2">
                <a:extLst>
                  <a:ext uri="{FF2B5EF4-FFF2-40B4-BE49-F238E27FC236}">
                    <a16:creationId xmlns:a16="http://schemas.microsoft.com/office/drawing/2014/main" id="{C112691B-5641-EDFA-EDFD-59D8A7E1580B}"/>
                  </a:ext>
                </a:extLst>
              </p:cNvPr>
              <p:cNvSpPr/>
              <p:nvPr>
                <p:custDataLst>
                  <p:tags r:id="rId5"/>
                </p:custDataLst>
              </p:nvPr>
            </p:nvSpPr>
            <p:spPr>
              <a:xfrm rot="10800000" flipH="1">
                <a:off x="4738971" y="1936194"/>
                <a:ext cx="144557" cy="1492805"/>
              </a:xfrm>
              <a:prstGeom prst="flowChartManualInpu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dirty="0"/>
              </a:p>
            </p:txBody>
          </p:sp>
          <p:sp>
            <p:nvSpPr>
              <p:cNvPr id="57" name="Title-2">
                <a:extLst>
                  <a:ext uri="{FF2B5EF4-FFF2-40B4-BE49-F238E27FC236}">
                    <a16:creationId xmlns:a16="http://schemas.microsoft.com/office/drawing/2014/main" id="{C68BE61F-A95A-2744-7112-73D946758736}"/>
                  </a:ext>
                </a:extLst>
              </p:cNvPr>
              <p:cNvSpPr txBox="1"/>
              <p:nvPr>
                <p:custDataLst>
                  <p:tags r:id="rId6"/>
                </p:custDataLst>
              </p:nvPr>
            </p:nvSpPr>
            <p:spPr>
              <a:xfrm>
                <a:off x="4997829" y="1893253"/>
                <a:ext cx="2455200" cy="369332"/>
              </a:xfrm>
              <a:prstGeom prst="rect">
                <a:avLst/>
              </a:prstGeom>
              <a:noFill/>
            </p:spPr>
            <p:txBody>
              <a:bodyPr wrap="square" rtlCol="0">
                <a:noAutofit/>
              </a:bodyPr>
              <a:lstStyle/>
              <a:p>
                <a:r>
                  <a:rPr lang="zh-CN" altLang="en-US" b="1" dirty="0">
                    <a:solidFill>
                      <a:schemeClr val="accent2"/>
                    </a:solidFill>
                    <a:latin typeface="黑体" panose="02010609060101010101" pitchFamily="49" charset="-122"/>
                    <a:ea typeface="黑体" panose="02010609060101010101" pitchFamily="49" charset="-122"/>
                  </a:rPr>
                  <a:t>差异化战略：</a:t>
                </a:r>
              </a:p>
            </p:txBody>
          </p:sp>
          <p:sp>
            <p:nvSpPr>
              <p:cNvPr id="58" name="Body-2">
                <a:extLst>
                  <a:ext uri="{FF2B5EF4-FFF2-40B4-BE49-F238E27FC236}">
                    <a16:creationId xmlns:a16="http://schemas.microsoft.com/office/drawing/2014/main" id="{7FD80DE7-DD3C-0031-CEC0-C3F006B93982}"/>
                  </a:ext>
                </a:extLst>
              </p:cNvPr>
              <p:cNvSpPr>
                <a:spLocks/>
              </p:cNvSpPr>
              <p:nvPr>
                <p:custDataLst>
                  <p:tags r:id="rId7"/>
                </p:custDataLst>
              </p:nvPr>
            </p:nvSpPr>
            <p:spPr>
              <a:xfrm>
                <a:off x="4997830" y="2143023"/>
                <a:ext cx="2455200" cy="18712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黑体" panose="02010609060101010101" pitchFamily="49" charset="-122"/>
                    <a:ea typeface="黑体" panose="02010609060101010101" pitchFamily="49" charset="-122"/>
                    <a:cs typeface="+mn-cs"/>
                  </a:rPr>
                  <a:t>目标：提供独特的产品或服务，使客户愿意支付溢价。 </a:t>
                </a:r>
              </a:p>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黑体" panose="02010609060101010101" pitchFamily="49" charset="-122"/>
                    <a:ea typeface="黑体" panose="02010609060101010101" pitchFamily="49" charset="-122"/>
                    <a:cs typeface="+mn-cs"/>
                  </a:rPr>
                  <a:t>特点：专注于创新、质量、功能、品牌形象或客户服务。产品通常有更多特性、选项或模型。 </a:t>
                </a:r>
              </a:p>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黑体" panose="02010609060101010101" pitchFamily="49" charset="-122"/>
                    <a:ea typeface="黑体" panose="02010609060101010101" pitchFamily="49" charset="-122"/>
                    <a:cs typeface="+mn-cs"/>
                  </a:rPr>
                  <a:t>例子：苹果、特斯拉、华为、大疆。</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黑体" panose="02010609060101010101" pitchFamily="49" charset="-122"/>
                  <a:ea typeface="黑体" panose="02010609060101010101" pitchFamily="49" charset="-122"/>
                  <a:cs typeface="+mn-cs"/>
                </a:endParaRPr>
              </a:p>
            </p:txBody>
          </p:sp>
        </p:grpSp>
        <p:grpSp>
          <p:nvGrpSpPr>
            <p:cNvPr id="52" name="组合 51">
              <a:extLst>
                <a:ext uri="{FF2B5EF4-FFF2-40B4-BE49-F238E27FC236}">
                  <a16:creationId xmlns:a16="http://schemas.microsoft.com/office/drawing/2014/main" id="{31FCB1FC-8660-93C7-F404-37A7A8B11CE8}"/>
                </a:ext>
              </a:extLst>
            </p:cNvPr>
            <p:cNvGrpSpPr/>
            <p:nvPr/>
          </p:nvGrpSpPr>
          <p:grpSpPr>
            <a:xfrm>
              <a:off x="7877458" y="2368488"/>
              <a:ext cx="2714059" cy="2121024"/>
              <a:chOff x="7877458" y="1893253"/>
              <a:chExt cx="2714059" cy="2121024"/>
            </a:xfrm>
          </p:grpSpPr>
          <p:sp>
            <p:nvSpPr>
              <p:cNvPr id="53" name="3">
                <a:extLst>
                  <a:ext uri="{FF2B5EF4-FFF2-40B4-BE49-F238E27FC236}">
                    <a16:creationId xmlns:a16="http://schemas.microsoft.com/office/drawing/2014/main" id="{AFA5D44C-E2B4-8107-3C41-409AF9E39BBD}"/>
                  </a:ext>
                </a:extLst>
              </p:cNvPr>
              <p:cNvSpPr/>
              <p:nvPr>
                <p:custDataLst>
                  <p:tags r:id="rId2"/>
                </p:custDataLst>
              </p:nvPr>
            </p:nvSpPr>
            <p:spPr>
              <a:xfrm rot="10800000" flipH="1">
                <a:off x="7877458" y="1936194"/>
                <a:ext cx="144557" cy="1492805"/>
              </a:xfrm>
              <a:prstGeom prst="flowChartManualInpu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dirty="0"/>
              </a:p>
            </p:txBody>
          </p:sp>
          <p:sp>
            <p:nvSpPr>
              <p:cNvPr id="54" name="Title-3">
                <a:extLst>
                  <a:ext uri="{FF2B5EF4-FFF2-40B4-BE49-F238E27FC236}">
                    <a16:creationId xmlns:a16="http://schemas.microsoft.com/office/drawing/2014/main" id="{C423FE63-F95F-E3C7-E9DF-DD4B5A0E3CF0}"/>
                  </a:ext>
                </a:extLst>
              </p:cNvPr>
              <p:cNvSpPr txBox="1"/>
              <p:nvPr>
                <p:custDataLst>
                  <p:tags r:id="rId3"/>
                </p:custDataLst>
              </p:nvPr>
            </p:nvSpPr>
            <p:spPr>
              <a:xfrm>
                <a:off x="8136316" y="1893253"/>
                <a:ext cx="2455200" cy="369332"/>
              </a:xfrm>
              <a:prstGeom prst="rect">
                <a:avLst/>
              </a:prstGeom>
              <a:noFill/>
            </p:spPr>
            <p:txBody>
              <a:bodyPr wrap="square" rtlCol="0">
                <a:noAutofit/>
              </a:bodyPr>
              <a:lstStyle/>
              <a:p>
                <a:r>
                  <a:rPr lang="zh-CN" altLang="en-US" b="1">
                    <a:solidFill>
                      <a:schemeClr val="accent3"/>
                    </a:solidFill>
                    <a:latin typeface="黑体" panose="02010609060101010101" pitchFamily="49" charset="-122"/>
                    <a:ea typeface="黑体" panose="02010609060101010101" pitchFamily="49" charset="-122"/>
                  </a:rPr>
                  <a:t>聚焦战略：</a:t>
                </a:r>
                <a:endParaRPr lang="zh-CN" altLang="en-US" b="1" dirty="0">
                  <a:solidFill>
                    <a:schemeClr val="accent3"/>
                  </a:solidFill>
                  <a:latin typeface="黑体" panose="02010609060101010101" pitchFamily="49" charset="-122"/>
                  <a:ea typeface="黑体" panose="02010609060101010101" pitchFamily="49" charset="-122"/>
                </a:endParaRPr>
              </a:p>
            </p:txBody>
          </p:sp>
          <p:sp>
            <p:nvSpPr>
              <p:cNvPr id="55" name="Body-3">
                <a:extLst>
                  <a:ext uri="{FF2B5EF4-FFF2-40B4-BE49-F238E27FC236}">
                    <a16:creationId xmlns:a16="http://schemas.microsoft.com/office/drawing/2014/main" id="{93F7BED4-8D3F-6791-3CE8-414253B5C8F5}"/>
                  </a:ext>
                </a:extLst>
              </p:cNvPr>
              <p:cNvSpPr>
                <a:spLocks/>
              </p:cNvSpPr>
              <p:nvPr>
                <p:custDataLst>
                  <p:tags r:id="rId4"/>
                </p:custDataLst>
              </p:nvPr>
            </p:nvSpPr>
            <p:spPr>
              <a:xfrm>
                <a:off x="8136317" y="2143023"/>
                <a:ext cx="2455200" cy="18712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黑体" panose="02010609060101010101" pitchFamily="49" charset="-122"/>
                    <a:ea typeface="黑体" panose="02010609060101010101" pitchFamily="49" charset="-122"/>
                    <a:cs typeface="+mn-cs"/>
                  </a:rPr>
                  <a:t>目标：专注于一个特定的、细分的市场或客户群体，而不是面向大众市场。 </a:t>
                </a:r>
              </a:p>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黑体" panose="02010609060101010101" pitchFamily="49" charset="-122"/>
                    <a:ea typeface="黑体" panose="02010609060101010101" pitchFamily="49" charset="-122"/>
                    <a:cs typeface="+mn-cs"/>
                  </a:rPr>
                  <a:t>特点：在选定的细分市场内，既可以采用成本聚焦（成为该细分市场的成本领先者），也可以采用差异化聚焦（为该细分市场提供独特价值）。 </a:t>
                </a:r>
              </a:p>
              <a:p>
                <a:pPr marL="285750" indent="-285750" defTabSz="913765">
                  <a:lnSpc>
                    <a:spcPct val="130000"/>
                  </a:lnSpc>
                  <a:buSzPct val="100000"/>
                  <a:buFont typeface="Arial" panose="020B0604020202020204" pitchFamily="34" charset="0"/>
                  <a:buChar char="•"/>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黑体" panose="02010609060101010101" pitchFamily="49" charset="-122"/>
                    <a:ea typeface="黑体" panose="02010609060101010101" pitchFamily="49" charset="-122"/>
                    <a:cs typeface="+mn-cs"/>
                  </a:rPr>
                  <a:t>例子：</a:t>
                </a:r>
                <a:r>
                  <a:rPr lang="zh-CN" altLang="en-US" sz="1400" dirty="0">
                    <a:solidFill>
                      <a:schemeClr val="tx2">
                        <a:lumMod val="75000"/>
                        <a:lumOff val="25000"/>
                      </a:schemeClr>
                    </a:solidFill>
                    <a:latin typeface="黑体" panose="02010609060101010101" pitchFamily="49" charset="-122"/>
                    <a:ea typeface="黑体" panose="02010609060101010101" pitchFamily="49" charset="-122"/>
                  </a:rPr>
                  <a:t>劳斯莱斯、法拉利、大疆</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黑体" panose="02010609060101010101" pitchFamily="49" charset="-122"/>
                  <a:ea typeface="黑体" panose="02010609060101010101" pitchFamily="49" charset="-122"/>
                  <a:cs typeface="+mn-cs"/>
                </a:endParaRPr>
              </a:p>
            </p:txBody>
          </p:sp>
        </p:grpSp>
      </p:grpSp>
      <p:sp>
        <p:nvSpPr>
          <p:cNvPr id="62" name="文本框 61">
            <a:extLst>
              <a:ext uri="{FF2B5EF4-FFF2-40B4-BE49-F238E27FC236}">
                <a16:creationId xmlns:a16="http://schemas.microsoft.com/office/drawing/2014/main" id="{D57AD69B-03E7-8093-7CDD-2CC80E537EF7}"/>
              </a:ext>
            </a:extLst>
          </p:cNvPr>
          <p:cNvSpPr txBox="1"/>
          <p:nvPr/>
        </p:nvSpPr>
        <p:spPr>
          <a:xfrm>
            <a:off x="2990626" y="5778642"/>
            <a:ext cx="6847242" cy="369332"/>
          </a:xfrm>
          <a:prstGeom prst="rect">
            <a:avLst/>
          </a:prstGeom>
          <a:noFill/>
        </p:spPr>
        <p:txBody>
          <a:bodyPr wrap="square" rtlCol="0">
            <a:spAutoFit/>
          </a:bodyPr>
          <a:lstStyle/>
          <a:p>
            <a:r>
              <a:rPr lang="zh-CN" altLang="en-US" b="1" dirty="0"/>
              <a:t>一般都是混合式战略，这些战略决定了企业如何响应市场</a:t>
            </a:r>
          </a:p>
        </p:txBody>
      </p:sp>
    </p:spTree>
    <p:extLst>
      <p:ext uri="{BB962C8B-B14F-4D97-AF65-F5344CB8AC3E}">
        <p14:creationId xmlns:p14="http://schemas.microsoft.com/office/powerpoint/2010/main" val="3157599014"/>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1978035-4C90-8969-F677-8B9F6CC7829B}"/>
              </a:ext>
            </a:extLst>
          </p:cNvPr>
          <p:cNvSpPr>
            <a:spLocks noGrp="1"/>
          </p:cNvSpPr>
          <p:nvPr>
            <p:ph type="title"/>
          </p:nvPr>
        </p:nvSpPr>
        <p:spPr/>
        <p:txBody>
          <a:bodyPr/>
          <a:lstStyle/>
          <a:p>
            <a:r>
              <a:rPr lang="zh-CN" altLang="en-US" dirty="0"/>
              <a:t>运营驱动型战略 </a:t>
            </a:r>
            <a:r>
              <a:rPr lang="en-US" altLang="zh-CN" dirty="0"/>
              <a:t>– </a:t>
            </a:r>
            <a:r>
              <a:rPr lang="zh-CN" altLang="en-US" dirty="0"/>
              <a:t>如何响应市场</a:t>
            </a:r>
          </a:p>
        </p:txBody>
      </p:sp>
      <p:grpSp>
        <p:nvGrpSpPr>
          <p:cNvPr id="5" name="组合 4">
            <a:extLst>
              <a:ext uri="{FF2B5EF4-FFF2-40B4-BE49-F238E27FC236}">
                <a16:creationId xmlns:a16="http://schemas.microsoft.com/office/drawing/2014/main" id="{65A29C19-374D-75D0-CB61-D4BF4FEDAA9D}"/>
              </a:ext>
            </a:extLst>
          </p:cNvPr>
          <p:cNvGrpSpPr>
            <a:grpSpLocks noChangeAspect="1"/>
          </p:cNvGrpSpPr>
          <p:nvPr>
            <p:custDataLst>
              <p:tags r:id="rId1"/>
            </p:custDataLst>
          </p:nvPr>
        </p:nvGrpSpPr>
        <p:grpSpPr>
          <a:xfrm>
            <a:off x="453356" y="1285539"/>
            <a:ext cx="11146973" cy="4604272"/>
            <a:chOff x="522514" y="1645625"/>
            <a:chExt cx="11146973" cy="3566751"/>
          </a:xfrm>
        </p:grpSpPr>
        <p:grpSp>
          <p:nvGrpSpPr>
            <p:cNvPr id="6" name="组合 5">
              <a:extLst>
                <a:ext uri="{FF2B5EF4-FFF2-40B4-BE49-F238E27FC236}">
                  <a16:creationId xmlns:a16="http://schemas.microsoft.com/office/drawing/2014/main" id="{2355102B-812D-7C01-7F83-E716868C38E8}"/>
                </a:ext>
              </a:extLst>
            </p:cNvPr>
            <p:cNvGrpSpPr/>
            <p:nvPr/>
          </p:nvGrpSpPr>
          <p:grpSpPr>
            <a:xfrm>
              <a:off x="522514" y="1645625"/>
              <a:ext cx="3505200" cy="3566751"/>
              <a:chOff x="522514" y="1645625"/>
              <a:chExt cx="3505200" cy="3566751"/>
            </a:xfrm>
          </p:grpSpPr>
          <p:sp>
            <p:nvSpPr>
              <p:cNvPr id="19" name="1">
                <a:extLst>
                  <a:ext uri="{FF2B5EF4-FFF2-40B4-BE49-F238E27FC236}">
                    <a16:creationId xmlns:a16="http://schemas.microsoft.com/office/drawing/2014/main" id="{561429DD-45E1-4A5D-F8A8-31DE41FFAAF3}"/>
                  </a:ext>
                </a:extLst>
              </p:cNvPr>
              <p:cNvSpPr/>
              <p:nvPr>
                <p:custDataLst>
                  <p:tags r:id="rId10"/>
                </p:custDataLst>
              </p:nvPr>
            </p:nvSpPr>
            <p:spPr>
              <a:xfrm>
                <a:off x="522514" y="1645625"/>
                <a:ext cx="3505200" cy="3566751"/>
              </a:xfrm>
              <a:prstGeom prst="roundRect">
                <a:avLst>
                  <a:gd name="adj" fmla="val 5800"/>
                </a:avLst>
              </a:prstGeom>
              <a:noFill/>
              <a:ln w="571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a:p>
            </p:txBody>
          </p:sp>
          <p:sp>
            <p:nvSpPr>
              <p:cNvPr id="20" name="1">
                <a:extLst>
                  <a:ext uri="{FF2B5EF4-FFF2-40B4-BE49-F238E27FC236}">
                    <a16:creationId xmlns:a16="http://schemas.microsoft.com/office/drawing/2014/main" id="{97DB8D0F-B6EF-5930-335D-9BE0340324BF}"/>
                  </a:ext>
                </a:extLst>
              </p:cNvPr>
              <p:cNvSpPr/>
              <p:nvPr>
                <p:custDataLst>
                  <p:tags r:id="rId11"/>
                </p:custDataLst>
              </p:nvPr>
            </p:nvSpPr>
            <p:spPr>
              <a:xfrm>
                <a:off x="522514" y="1645626"/>
                <a:ext cx="3505200" cy="854664"/>
              </a:xfrm>
              <a:custGeom>
                <a:avLst/>
                <a:gdLst>
                  <a:gd name="connsiteX0" fmla="*/ 180792 w 3505200"/>
                  <a:gd name="connsiteY0" fmla="*/ 0 h 854664"/>
                  <a:gd name="connsiteX1" fmla="*/ 3324408 w 3505200"/>
                  <a:gd name="connsiteY1" fmla="*/ 0 h 854664"/>
                  <a:gd name="connsiteX2" fmla="*/ 3505200 w 3505200"/>
                  <a:gd name="connsiteY2" fmla="*/ 180792 h 854664"/>
                  <a:gd name="connsiteX3" fmla="*/ 3505200 w 3505200"/>
                  <a:gd name="connsiteY3" fmla="*/ 762000 h 854664"/>
                  <a:gd name="connsiteX4" fmla="*/ 1932781 w 3505200"/>
                  <a:gd name="connsiteY4" fmla="*/ 762000 h 854664"/>
                  <a:gd name="connsiteX5" fmla="*/ 1752600 w 3505200"/>
                  <a:gd name="connsiteY5" fmla="*/ 854664 h 854664"/>
                  <a:gd name="connsiteX6" fmla="*/ 1572419 w 3505200"/>
                  <a:gd name="connsiteY6" fmla="*/ 762000 h 854664"/>
                  <a:gd name="connsiteX7" fmla="*/ 0 w 3505200"/>
                  <a:gd name="connsiteY7" fmla="*/ 762000 h 854664"/>
                  <a:gd name="connsiteX8" fmla="*/ 0 w 3505200"/>
                  <a:gd name="connsiteY8" fmla="*/ 180792 h 854664"/>
                  <a:gd name="connsiteX9" fmla="*/ 180792 w 3505200"/>
                  <a:gd name="connsiteY9" fmla="*/ 0 h 85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05200" h="854664">
                    <a:moveTo>
                      <a:pt x="180792" y="0"/>
                    </a:moveTo>
                    <a:lnTo>
                      <a:pt x="3324408" y="0"/>
                    </a:lnTo>
                    <a:cubicBezTo>
                      <a:pt x="3424257" y="0"/>
                      <a:pt x="3505200" y="80943"/>
                      <a:pt x="3505200" y="180792"/>
                    </a:cubicBezTo>
                    <a:lnTo>
                      <a:pt x="3505200" y="762000"/>
                    </a:lnTo>
                    <a:lnTo>
                      <a:pt x="1932781" y="762000"/>
                    </a:lnTo>
                    <a:lnTo>
                      <a:pt x="1752600" y="854664"/>
                    </a:lnTo>
                    <a:lnTo>
                      <a:pt x="1572419" y="762000"/>
                    </a:lnTo>
                    <a:lnTo>
                      <a:pt x="0" y="762000"/>
                    </a:lnTo>
                    <a:lnTo>
                      <a:pt x="0" y="180792"/>
                    </a:lnTo>
                    <a:cubicBezTo>
                      <a:pt x="0" y="80943"/>
                      <a:pt x="80943" y="0"/>
                      <a:pt x="180792" y="0"/>
                    </a:cubicBezTo>
                    <a:close/>
                  </a:path>
                </a:pathLst>
              </a:custGeom>
              <a:solidFill>
                <a:schemeClr val="accent1"/>
              </a:solidFill>
              <a:ln w="571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1" name="Body-1">
                <a:extLst>
                  <a:ext uri="{FF2B5EF4-FFF2-40B4-BE49-F238E27FC236}">
                    <a16:creationId xmlns:a16="http://schemas.microsoft.com/office/drawing/2014/main" id="{13159381-0D7F-0DC0-476D-B80F06286CF2}"/>
                  </a:ext>
                </a:extLst>
              </p:cNvPr>
              <p:cNvSpPr>
                <a:spLocks/>
              </p:cNvSpPr>
              <p:nvPr>
                <p:custDataLst>
                  <p:tags r:id="rId12"/>
                </p:custDataLst>
              </p:nvPr>
            </p:nvSpPr>
            <p:spPr>
              <a:xfrm>
                <a:off x="711336" y="2527266"/>
                <a:ext cx="3127556" cy="25301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a:ln>
                      <a:noFill/>
                    </a:ln>
                    <a:solidFill>
                      <a:schemeClr val="tx2">
                        <a:lumMod val="75000"/>
                        <a:lumOff val="25000"/>
                      </a:schemeClr>
                    </a:solidFill>
                    <a:effectLst/>
                    <a:uLnTx/>
                    <a:uFillTx/>
                    <a:latin typeface="system-ui"/>
                    <a:ea typeface="黑体" panose="02010609060101010101" pitchFamily="49" charset="-122"/>
                    <a:cs typeface="+mn-cs"/>
                  </a:rPr>
                  <a:t>特点：基于对未来需求的预测进行生产和库存部署。适用于需求稳定、可预测的产品。</a:t>
                </a:r>
              </a:p>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a:ln>
                      <a:noFill/>
                    </a:ln>
                    <a:solidFill>
                      <a:schemeClr val="tx2">
                        <a:lumMod val="75000"/>
                        <a:lumOff val="25000"/>
                      </a:schemeClr>
                    </a:solidFill>
                    <a:effectLst/>
                    <a:uLnTx/>
                    <a:uFillTx/>
                    <a:latin typeface="system-ui"/>
                    <a:ea typeface="黑体" panose="02010609060101010101" pitchFamily="49" charset="-122"/>
                    <a:cs typeface="+mn-cs"/>
                  </a:rPr>
                  <a:t>目标：通过规模经济实现高效率、低成本。</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system-ui"/>
                  <a:ea typeface="黑体" panose="02010609060101010101" pitchFamily="49" charset="-122"/>
                  <a:cs typeface="+mn-cs"/>
                </a:endParaRPr>
              </a:p>
            </p:txBody>
          </p:sp>
          <p:sp>
            <p:nvSpPr>
              <p:cNvPr id="22" name="Title-1">
                <a:extLst>
                  <a:ext uri="{FF2B5EF4-FFF2-40B4-BE49-F238E27FC236}">
                    <a16:creationId xmlns:a16="http://schemas.microsoft.com/office/drawing/2014/main" id="{EE539703-A1AA-73BB-0581-B7B64BA721DF}"/>
                  </a:ext>
                </a:extLst>
              </p:cNvPr>
              <p:cNvSpPr txBox="1"/>
              <p:nvPr>
                <p:custDataLst>
                  <p:tags r:id="rId13"/>
                </p:custDataLst>
              </p:nvPr>
            </p:nvSpPr>
            <p:spPr>
              <a:xfrm>
                <a:off x="711336" y="1771689"/>
                <a:ext cx="3127556" cy="369332"/>
              </a:xfrm>
              <a:prstGeom prst="rect">
                <a:avLst/>
              </a:prstGeom>
              <a:noFill/>
            </p:spPr>
            <p:txBody>
              <a:bodyPr wrap="square" rtlCol="0">
                <a:noAutofit/>
              </a:bodyPr>
              <a:lstStyle/>
              <a:p>
                <a:r>
                  <a:rPr lang="en-US" altLang="zh-CN" b="1" dirty="0">
                    <a:solidFill>
                      <a:schemeClr val="bg1"/>
                    </a:solidFill>
                    <a:latin typeface="system-ui"/>
                    <a:ea typeface="黑体" panose="02010609060101010101" pitchFamily="49" charset="-122"/>
                  </a:rPr>
                  <a:t>Forecast-driven Enterprise</a:t>
                </a:r>
                <a:r>
                  <a:rPr lang="zh-CN" altLang="en-US" b="1" dirty="0">
                    <a:solidFill>
                      <a:schemeClr val="bg1"/>
                    </a:solidFill>
                    <a:latin typeface="system-ui"/>
                    <a:ea typeface="黑体" panose="02010609060101010101" pitchFamily="49" charset="-122"/>
                  </a:rPr>
                  <a:t>（预测驱动型</a:t>
                </a:r>
                <a:r>
                  <a:rPr lang="en-US" altLang="zh-CN" b="1" dirty="0">
                    <a:solidFill>
                      <a:schemeClr val="bg1"/>
                    </a:solidFill>
                    <a:latin typeface="system-ui"/>
                    <a:ea typeface="黑体" panose="02010609060101010101" pitchFamily="49" charset="-122"/>
                  </a:rPr>
                  <a:t>/</a:t>
                </a:r>
                <a:r>
                  <a:rPr lang="zh-CN" altLang="en-US" b="1" dirty="0">
                    <a:solidFill>
                      <a:schemeClr val="bg1"/>
                    </a:solidFill>
                    <a:latin typeface="system-ui"/>
                    <a:ea typeface="黑体" panose="02010609060101010101" pitchFamily="49" charset="-122"/>
                  </a:rPr>
                  <a:t>推式战略）：</a:t>
                </a:r>
              </a:p>
            </p:txBody>
          </p:sp>
        </p:grpSp>
        <p:grpSp>
          <p:nvGrpSpPr>
            <p:cNvPr id="7" name="组合 6">
              <a:extLst>
                <a:ext uri="{FF2B5EF4-FFF2-40B4-BE49-F238E27FC236}">
                  <a16:creationId xmlns:a16="http://schemas.microsoft.com/office/drawing/2014/main" id="{637FC823-6A39-B613-C0EA-E18AAA80F940}"/>
                </a:ext>
              </a:extLst>
            </p:cNvPr>
            <p:cNvGrpSpPr/>
            <p:nvPr/>
          </p:nvGrpSpPr>
          <p:grpSpPr>
            <a:xfrm>
              <a:off x="4343400" y="1645625"/>
              <a:ext cx="3505200" cy="3566751"/>
              <a:chOff x="4343400" y="1645625"/>
              <a:chExt cx="3505200" cy="3566751"/>
            </a:xfrm>
          </p:grpSpPr>
          <p:sp>
            <p:nvSpPr>
              <p:cNvPr id="14" name="2">
                <a:extLst>
                  <a:ext uri="{FF2B5EF4-FFF2-40B4-BE49-F238E27FC236}">
                    <a16:creationId xmlns:a16="http://schemas.microsoft.com/office/drawing/2014/main" id="{169A9F03-8ED8-0B06-4CCC-0CD88927700F}"/>
                  </a:ext>
                </a:extLst>
              </p:cNvPr>
              <p:cNvSpPr/>
              <p:nvPr>
                <p:custDataLst>
                  <p:tags r:id="rId6"/>
                </p:custDataLst>
              </p:nvPr>
            </p:nvSpPr>
            <p:spPr>
              <a:xfrm>
                <a:off x="4343400" y="1645625"/>
                <a:ext cx="3505200" cy="3566751"/>
              </a:xfrm>
              <a:prstGeom prst="roundRect">
                <a:avLst>
                  <a:gd name="adj" fmla="val 5800"/>
                </a:avLst>
              </a:prstGeom>
              <a:noFill/>
              <a:ln w="571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a:p>
            </p:txBody>
          </p:sp>
          <p:sp>
            <p:nvSpPr>
              <p:cNvPr id="15" name="2">
                <a:extLst>
                  <a:ext uri="{FF2B5EF4-FFF2-40B4-BE49-F238E27FC236}">
                    <a16:creationId xmlns:a16="http://schemas.microsoft.com/office/drawing/2014/main" id="{00024A10-7C46-B067-4C7B-F75830B3EC37}"/>
                  </a:ext>
                </a:extLst>
              </p:cNvPr>
              <p:cNvSpPr/>
              <p:nvPr>
                <p:custDataLst>
                  <p:tags r:id="rId7"/>
                </p:custDataLst>
              </p:nvPr>
            </p:nvSpPr>
            <p:spPr>
              <a:xfrm>
                <a:off x="4343400" y="1645626"/>
                <a:ext cx="3505200" cy="854664"/>
              </a:xfrm>
              <a:custGeom>
                <a:avLst/>
                <a:gdLst>
                  <a:gd name="connsiteX0" fmla="*/ 180792 w 3505200"/>
                  <a:gd name="connsiteY0" fmla="*/ 0 h 854664"/>
                  <a:gd name="connsiteX1" fmla="*/ 3324408 w 3505200"/>
                  <a:gd name="connsiteY1" fmla="*/ 0 h 854664"/>
                  <a:gd name="connsiteX2" fmla="*/ 3505200 w 3505200"/>
                  <a:gd name="connsiteY2" fmla="*/ 180792 h 854664"/>
                  <a:gd name="connsiteX3" fmla="*/ 3505200 w 3505200"/>
                  <a:gd name="connsiteY3" fmla="*/ 762000 h 854664"/>
                  <a:gd name="connsiteX4" fmla="*/ 1932781 w 3505200"/>
                  <a:gd name="connsiteY4" fmla="*/ 762000 h 854664"/>
                  <a:gd name="connsiteX5" fmla="*/ 1752600 w 3505200"/>
                  <a:gd name="connsiteY5" fmla="*/ 854664 h 854664"/>
                  <a:gd name="connsiteX6" fmla="*/ 1572419 w 3505200"/>
                  <a:gd name="connsiteY6" fmla="*/ 762000 h 854664"/>
                  <a:gd name="connsiteX7" fmla="*/ 0 w 3505200"/>
                  <a:gd name="connsiteY7" fmla="*/ 762000 h 854664"/>
                  <a:gd name="connsiteX8" fmla="*/ 0 w 3505200"/>
                  <a:gd name="connsiteY8" fmla="*/ 180792 h 854664"/>
                  <a:gd name="connsiteX9" fmla="*/ 180792 w 3505200"/>
                  <a:gd name="connsiteY9" fmla="*/ 0 h 85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05200" h="854664">
                    <a:moveTo>
                      <a:pt x="180792" y="0"/>
                    </a:moveTo>
                    <a:lnTo>
                      <a:pt x="3324408" y="0"/>
                    </a:lnTo>
                    <a:cubicBezTo>
                      <a:pt x="3424257" y="0"/>
                      <a:pt x="3505200" y="80943"/>
                      <a:pt x="3505200" y="180792"/>
                    </a:cubicBezTo>
                    <a:lnTo>
                      <a:pt x="3505200" y="762000"/>
                    </a:lnTo>
                    <a:lnTo>
                      <a:pt x="1932781" y="762000"/>
                    </a:lnTo>
                    <a:lnTo>
                      <a:pt x="1752600" y="854664"/>
                    </a:lnTo>
                    <a:lnTo>
                      <a:pt x="1572419" y="762000"/>
                    </a:lnTo>
                    <a:lnTo>
                      <a:pt x="0" y="762000"/>
                    </a:lnTo>
                    <a:lnTo>
                      <a:pt x="0" y="180792"/>
                    </a:lnTo>
                    <a:cubicBezTo>
                      <a:pt x="0" y="80943"/>
                      <a:pt x="80943" y="0"/>
                      <a:pt x="180792" y="0"/>
                    </a:cubicBezTo>
                    <a:close/>
                  </a:path>
                </a:pathLst>
              </a:custGeom>
              <a:solidFill>
                <a:schemeClr val="accent2"/>
              </a:solidFill>
              <a:ln w="571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6" name="Body-2">
                <a:extLst>
                  <a:ext uri="{FF2B5EF4-FFF2-40B4-BE49-F238E27FC236}">
                    <a16:creationId xmlns:a16="http://schemas.microsoft.com/office/drawing/2014/main" id="{E57BFC6C-5C46-2F7E-4FC7-3B4DB412A33B}"/>
                  </a:ext>
                </a:extLst>
              </p:cNvPr>
              <p:cNvSpPr>
                <a:spLocks/>
              </p:cNvSpPr>
              <p:nvPr>
                <p:custDataLst>
                  <p:tags r:id="rId8"/>
                </p:custDataLst>
              </p:nvPr>
            </p:nvSpPr>
            <p:spPr>
              <a:xfrm>
                <a:off x="4532222" y="2527266"/>
                <a:ext cx="3127556" cy="25301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a:ln>
                      <a:noFill/>
                    </a:ln>
                    <a:solidFill>
                      <a:schemeClr val="tx2">
                        <a:lumMod val="75000"/>
                        <a:lumOff val="25000"/>
                      </a:schemeClr>
                    </a:solidFill>
                    <a:effectLst/>
                    <a:uLnTx/>
                    <a:uFillTx/>
                    <a:latin typeface="system-ui"/>
                    <a:ea typeface="黑体" panose="02010609060101010101" pitchFamily="49" charset="-122"/>
                    <a:cs typeface="+mn-cs"/>
                  </a:rPr>
                  <a:t>特点：根据实际客户订单来触发生产活动。适用于需求波动大、不确定性高的产品。</a:t>
                </a:r>
              </a:p>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a:ln>
                      <a:noFill/>
                    </a:ln>
                    <a:solidFill>
                      <a:schemeClr val="tx2">
                        <a:lumMod val="75000"/>
                        <a:lumOff val="25000"/>
                      </a:schemeClr>
                    </a:solidFill>
                    <a:effectLst/>
                    <a:uLnTx/>
                    <a:uFillTx/>
                    <a:latin typeface="system-ui"/>
                    <a:ea typeface="黑体" panose="02010609060101010101" pitchFamily="49" charset="-122"/>
                    <a:cs typeface="+mn-cs"/>
                  </a:rPr>
                  <a:t>目标：实现高响应速度、降低库存风险、提高灵活性。</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system-ui"/>
                  <a:ea typeface="黑体" panose="02010609060101010101" pitchFamily="49" charset="-122"/>
                  <a:cs typeface="+mn-cs"/>
                </a:endParaRPr>
              </a:p>
            </p:txBody>
          </p:sp>
          <p:sp>
            <p:nvSpPr>
              <p:cNvPr id="17" name="Title-2">
                <a:extLst>
                  <a:ext uri="{FF2B5EF4-FFF2-40B4-BE49-F238E27FC236}">
                    <a16:creationId xmlns:a16="http://schemas.microsoft.com/office/drawing/2014/main" id="{7CAF9847-EA36-7E71-06D9-4A34A2D353F5}"/>
                  </a:ext>
                </a:extLst>
              </p:cNvPr>
              <p:cNvSpPr txBox="1"/>
              <p:nvPr>
                <p:custDataLst>
                  <p:tags r:id="rId9"/>
                </p:custDataLst>
              </p:nvPr>
            </p:nvSpPr>
            <p:spPr>
              <a:xfrm>
                <a:off x="4554453" y="1759190"/>
                <a:ext cx="3127556" cy="369332"/>
              </a:xfrm>
              <a:prstGeom prst="rect">
                <a:avLst/>
              </a:prstGeom>
              <a:noFill/>
            </p:spPr>
            <p:txBody>
              <a:bodyPr wrap="square" rtlCol="0">
                <a:noAutofit/>
              </a:bodyPr>
              <a:lstStyle/>
              <a:p>
                <a:r>
                  <a:rPr lang="en-US" altLang="zh-CN" b="1" dirty="0">
                    <a:solidFill>
                      <a:schemeClr val="bg1"/>
                    </a:solidFill>
                    <a:latin typeface="system-ui"/>
                    <a:ea typeface="黑体" panose="02010609060101010101" pitchFamily="49" charset="-122"/>
                  </a:rPr>
                  <a:t>Demand-driven Enterprise</a:t>
                </a:r>
                <a:r>
                  <a:rPr lang="zh-CN" altLang="en-US" b="1" dirty="0">
                    <a:solidFill>
                      <a:schemeClr val="bg1"/>
                    </a:solidFill>
                    <a:latin typeface="system-ui"/>
                    <a:ea typeface="黑体" panose="02010609060101010101" pitchFamily="49" charset="-122"/>
                  </a:rPr>
                  <a:t>（需求驱动型</a:t>
                </a:r>
                <a:r>
                  <a:rPr lang="en-US" altLang="zh-CN" b="1" dirty="0">
                    <a:solidFill>
                      <a:schemeClr val="bg1"/>
                    </a:solidFill>
                    <a:latin typeface="system-ui"/>
                    <a:ea typeface="黑体" panose="02010609060101010101" pitchFamily="49" charset="-122"/>
                  </a:rPr>
                  <a:t>/</a:t>
                </a:r>
                <a:r>
                  <a:rPr lang="zh-CN" altLang="en-US" b="1" dirty="0">
                    <a:solidFill>
                      <a:schemeClr val="bg1"/>
                    </a:solidFill>
                    <a:latin typeface="system-ui"/>
                    <a:ea typeface="黑体" panose="02010609060101010101" pitchFamily="49" charset="-122"/>
                  </a:rPr>
                  <a:t>拉式战略）：</a:t>
                </a:r>
              </a:p>
            </p:txBody>
          </p:sp>
        </p:grpSp>
        <p:grpSp>
          <p:nvGrpSpPr>
            <p:cNvPr id="8" name="组合 7">
              <a:extLst>
                <a:ext uri="{FF2B5EF4-FFF2-40B4-BE49-F238E27FC236}">
                  <a16:creationId xmlns:a16="http://schemas.microsoft.com/office/drawing/2014/main" id="{8460298B-8064-C551-265D-3CFC7E721477}"/>
                </a:ext>
              </a:extLst>
            </p:cNvPr>
            <p:cNvGrpSpPr/>
            <p:nvPr/>
          </p:nvGrpSpPr>
          <p:grpSpPr>
            <a:xfrm>
              <a:off x="8164287" y="1645625"/>
              <a:ext cx="3505200" cy="3566751"/>
              <a:chOff x="8164287" y="1645625"/>
              <a:chExt cx="3505200" cy="3566751"/>
            </a:xfrm>
          </p:grpSpPr>
          <p:sp>
            <p:nvSpPr>
              <p:cNvPr id="9" name="3">
                <a:extLst>
                  <a:ext uri="{FF2B5EF4-FFF2-40B4-BE49-F238E27FC236}">
                    <a16:creationId xmlns:a16="http://schemas.microsoft.com/office/drawing/2014/main" id="{DD8CC3DF-6697-3C62-2AD1-F8F7C697DC75}"/>
                  </a:ext>
                </a:extLst>
              </p:cNvPr>
              <p:cNvSpPr/>
              <p:nvPr>
                <p:custDataLst>
                  <p:tags r:id="rId2"/>
                </p:custDataLst>
              </p:nvPr>
            </p:nvSpPr>
            <p:spPr>
              <a:xfrm>
                <a:off x="8164287" y="1645625"/>
                <a:ext cx="3505200" cy="3566751"/>
              </a:xfrm>
              <a:prstGeom prst="roundRect">
                <a:avLst>
                  <a:gd name="adj" fmla="val 5800"/>
                </a:avLst>
              </a:prstGeom>
              <a:noFill/>
              <a:ln w="571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a:p>
            </p:txBody>
          </p:sp>
          <p:sp>
            <p:nvSpPr>
              <p:cNvPr id="10" name="3">
                <a:extLst>
                  <a:ext uri="{FF2B5EF4-FFF2-40B4-BE49-F238E27FC236}">
                    <a16:creationId xmlns:a16="http://schemas.microsoft.com/office/drawing/2014/main" id="{77E56857-D1E8-669D-A8AF-78FC9C82C2A7}"/>
                  </a:ext>
                </a:extLst>
              </p:cNvPr>
              <p:cNvSpPr/>
              <p:nvPr>
                <p:custDataLst>
                  <p:tags r:id="rId3"/>
                </p:custDataLst>
              </p:nvPr>
            </p:nvSpPr>
            <p:spPr>
              <a:xfrm>
                <a:off x="8164287" y="1645626"/>
                <a:ext cx="3505200" cy="854664"/>
              </a:xfrm>
              <a:custGeom>
                <a:avLst/>
                <a:gdLst>
                  <a:gd name="connsiteX0" fmla="*/ 180792 w 3505200"/>
                  <a:gd name="connsiteY0" fmla="*/ 0 h 854664"/>
                  <a:gd name="connsiteX1" fmla="*/ 3324408 w 3505200"/>
                  <a:gd name="connsiteY1" fmla="*/ 0 h 854664"/>
                  <a:gd name="connsiteX2" fmla="*/ 3505200 w 3505200"/>
                  <a:gd name="connsiteY2" fmla="*/ 180792 h 854664"/>
                  <a:gd name="connsiteX3" fmla="*/ 3505200 w 3505200"/>
                  <a:gd name="connsiteY3" fmla="*/ 762000 h 854664"/>
                  <a:gd name="connsiteX4" fmla="*/ 1932781 w 3505200"/>
                  <a:gd name="connsiteY4" fmla="*/ 762000 h 854664"/>
                  <a:gd name="connsiteX5" fmla="*/ 1752600 w 3505200"/>
                  <a:gd name="connsiteY5" fmla="*/ 854664 h 854664"/>
                  <a:gd name="connsiteX6" fmla="*/ 1572419 w 3505200"/>
                  <a:gd name="connsiteY6" fmla="*/ 762000 h 854664"/>
                  <a:gd name="connsiteX7" fmla="*/ 0 w 3505200"/>
                  <a:gd name="connsiteY7" fmla="*/ 762000 h 854664"/>
                  <a:gd name="connsiteX8" fmla="*/ 0 w 3505200"/>
                  <a:gd name="connsiteY8" fmla="*/ 180792 h 854664"/>
                  <a:gd name="connsiteX9" fmla="*/ 180792 w 3505200"/>
                  <a:gd name="connsiteY9" fmla="*/ 0 h 85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05200" h="854664">
                    <a:moveTo>
                      <a:pt x="180792" y="0"/>
                    </a:moveTo>
                    <a:lnTo>
                      <a:pt x="3324408" y="0"/>
                    </a:lnTo>
                    <a:cubicBezTo>
                      <a:pt x="3424257" y="0"/>
                      <a:pt x="3505200" y="80943"/>
                      <a:pt x="3505200" y="180792"/>
                    </a:cubicBezTo>
                    <a:lnTo>
                      <a:pt x="3505200" y="762000"/>
                    </a:lnTo>
                    <a:lnTo>
                      <a:pt x="1932781" y="762000"/>
                    </a:lnTo>
                    <a:lnTo>
                      <a:pt x="1752600" y="854664"/>
                    </a:lnTo>
                    <a:lnTo>
                      <a:pt x="1572419" y="762000"/>
                    </a:lnTo>
                    <a:lnTo>
                      <a:pt x="0" y="762000"/>
                    </a:lnTo>
                    <a:lnTo>
                      <a:pt x="0" y="180792"/>
                    </a:lnTo>
                    <a:cubicBezTo>
                      <a:pt x="0" y="80943"/>
                      <a:pt x="80943" y="0"/>
                      <a:pt x="180792" y="0"/>
                    </a:cubicBezTo>
                    <a:close/>
                  </a:path>
                </a:pathLst>
              </a:custGeom>
              <a:solidFill>
                <a:schemeClr val="accent3"/>
              </a:solidFill>
              <a:ln w="571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 name="Body-3">
                <a:extLst>
                  <a:ext uri="{FF2B5EF4-FFF2-40B4-BE49-F238E27FC236}">
                    <a16:creationId xmlns:a16="http://schemas.microsoft.com/office/drawing/2014/main" id="{0AE729C4-DE75-0DC8-7691-27DE6E40FF7A}"/>
                  </a:ext>
                </a:extLst>
              </p:cNvPr>
              <p:cNvSpPr>
                <a:spLocks/>
              </p:cNvSpPr>
              <p:nvPr>
                <p:custDataLst>
                  <p:tags r:id="rId4"/>
                </p:custDataLst>
              </p:nvPr>
            </p:nvSpPr>
            <p:spPr>
              <a:xfrm>
                <a:off x="8353109" y="2527266"/>
                <a:ext cx="3127556" cy="25301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dirty="0">
                    <a:ln>
                      <a:noFill/>
                    </a:ln>
                    <a:solidFill>
                      <a:schemeClr val="tx2">
                        <a:lumMod val="75000"/>
                        <a:lumOff val="25000"/>
                      </a:schemeClr>
                    </a:solidFill>
                    <a:effectLst/>
                    <a:uLnTx/>
                    <a:uFillTx/>
                    <a:latin typeface="system-ui"/>
                    <a:ea typeface="黑体" panose="02010609060101010101" pitchFamily="49" charset="-122"/>
                    <a:cs typeface="+mn-cs"/>
                  </a:rPr>
                  <a:t>“在现实中，大多数组织追求推</a:t>
                </a:r>
                <a:r>
                  <a:rPr kumimoji="0" lang="en-US" altLang="zh-CN" sz="1400" b="0" i="0" u="none" strike="noStrike" kern="1200" cap="none" spc="0" normalizeH="0" baseline="0" noProof="0" dirty="0">
                    <a:ln>
                      <a:noFill/>
                    </a:ln>
                    <a:solidFill>
                      <a:schemeClr val="tx2">
                        <a:lumMod val="75000"/>
                        <a:lumOff val="25000"/>
                      </a:schemeClr>
                    </a:solidFill>
                    <a:effectLst/>
                    <a:uLnTx/>
                    <a:uFillTx/>
                    <a:latin typeface="system-ui"/>
                    <a:ea typeface="黑体" panose="02010609060101010101" pitchFamily="49" charset="-122"/>
                    <a:cs typeface="+mn-cs"/>
                  </a:rPr>
                  <a:t>-</a:t>
                </a:r>
                <a:r>
                  <a:rPr kumimoji="0" lang="zh-CN" altLang="en-US" sz="1400" b="0" i="0" u="none" strike="noStrike" kern="1200" cap="none" spc="0" normalizeH="0" baseline="0" noProof="0" dirty="0">
                    <a:ln>
                      <a:noFill/>
                    </a:ln>
                    <a:solidFill>
                      <a:schemeClr val="tx2">
                        <a:lumMod val="75000"/>
                        <a:lumOff val="25000"/>
                      </a:schemeClr>
                    </a:solidFill>
                    <a:effectLst/>
                    <a:uLnTx/>
                    <a:uFillTx/>
                    <a:latin typeface="system-ui"/>
                    <a:ea typeface="黑体" panose="02010609060101010101" pitchFamily="49" charset="-122"/>
                    <a:cs typeface="+mn-cs"/>
                  </a:rPr>
                  <a:t>拉战略，而从推式转向拉式的转折点是关键的战略决策。” 例如，采用“延迟策略”，通用部件按预测生产（推式），最终产品的定制化组装按订单进行（拉式）</a:t>
                </a:r>
                <a:endParaRPr kumimoji="0" lang="en-GB" altLang="zh-CN" sz="1400" b="0" i="0" u="none" strike="noStrike" kern="1200" cap="none" spc="0" normalizeH="0" baseline="0" noProof="0" dirty="0">
                  <a:ln>
                    <a:noFill/>
                  </a:ln>
                  <a:solidFill>
                    <a:schemeClr val="tx2">
                      <a:lumMod val="75000"/>
                      <a:lumOff val="25000"/>
                    </a:schemeClr>
                  </a:solidFill>
                  <a:effectLst/>
                  <a:uLnTx/>
                  <a:uFillTx/>
                  <a:latin typeface="system-ui"/>
                  <a:ea typeface="黑体" panose="02010609060101010101" pitchFamily="49" charset="-122"/>
                  <a:cs typeface="+mn-cs"/>
                </a:endParaRPr>
              </a:p>
            </p:txBody>
          </p:sp>
          <p:sp>
            <p:nvSpPr>
              <p:cNvPr id="12" name="Title-3">
                <a:extLst>
                  <a:ext uri="{FF2B5EF4-FFF2-40B4-BE49-F238E27FC236}">
                    <a16:creationId xmlns:a16="http://schemas.microsoft.com/office/drawing/2014/main" id="{73B4D40D-FF5E-8FD8-DAF4-A1EF77E141EB}"/>
                  </a:ext>
                </a:extLst>
              </p:cNvPr>
              <p:cNvSpPr txBox="1"/>
              <p:nvPr>
                <p:custDataLst>
                  <p:tags r:id="rId5"/>
                </p:custDataLst>
              </p:nvPr>
            </p:nvSpPr>
            <p:spPr>
              <a:xfrm>
                <a:off x="8353109" y="1771689"/>
                <a:ext cx="3127556" cy="369332"/>
              </a:xfrm>
              <a:prstGeom prst="rect">
                <a:avLst/>
              </a:prstGeom>
              <a:noFill/>
            </p:spPr>
            <p:txBody>
              <a:bodyPr wrap="square" rtlCol="0">
                <a:noAutofit/>
              </a:bodyPr>
              <a:lstStyle/>
              <a:p>
                <a:r>
                  <a:rPr lang="en-US" altLang="zh-CN" b="1" dirty="0">
                    <a:solidFill>
                      <a:schemeClr val="bg1"/>
                    </a:solidFill>
                    <a:latin typeface="system-ui"/>
                    <a:ea typeface="黑体" panose="02010609060101010101" pitchFamily="49" charset="-122"/>
                  </a:rPr>
                  <a:t>Push-Pull Strategy</a:t>
                </a:r>
                <a:r>
                  <a:rPr lang="zh-CN" altLang="en-US" b="1" dirty="0">
                    <a:solidFill>
                      <a:schemeClr val="bg1"/>
                    </a:solidFill>
                    <a:latin typeface="system-ui"/>
                    <a:ea typeface="黑体" panose="02010609060101010101" pitchFamily="49" charset="-122"/>
                  </a:rPr>
                  <a:t>（推</a:t>
                </a:r>
                <a:r>
                  <a:rPr lang="en-US" altLang="zh-CN" b="1" dirty="0">
                    <a:solidFill>
                      <a:schemeClr val="bg1"/>
                    </a:solidFill>
                    <a:latin typeface="system-ui"/>
                    <a:ea typeface="黑体" panose="02010609060101010101" pitchFamily="49" charset="-122"/>
                  </a:rPr>
                  <a:t>-</a:t>
                </a:r>
                <a:r>
                  <a:rPr lang="zh-CN" altLang="en-US" b="1" dirty="0">
                    <a:solidFill>
                      <a:schemeClr val="bg1"/>
                    </a:solidFill>
                    <a:latin typeface="system-ui"/>
                    <a:ea typeface="黑体" panose="02010609060101010101" pitchFamily="49" charset="-122"/>
                  </a:rPr>
                  <a:t>拉结合战略）：</a:t>
                </a:r>
              </a:p>
            </p:txBody>
          </p:sp>
        </p:grpSp>
      </p:grpSp>
    </p:spTree>
    <p:extLst>
      <p:ext uri="{BB962C8B-B14F-4D97-AF65-F5344CB8AC3E}">
        <p14:creationId xmlns:p14="http://schemas.microsoft.com/office/powerpoint/2010/main" val="1470551821"/>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3F4C505-CE7E-1BBD-1822-53E1418BF2D1}"/>
              </a:ext>
            </a:extLst>
          </p:cNvPr>
          <p:cNvSpPr>
            <a:spLocks noGrp="1"/>
          </p:cNvSpPr>
          <p:nvPr>
            <p:ph type="title"/>
          </p:nvPr>
        </p:nvSpPr>
        <p:spPr/>
        <p:txBody>
          <a:bodyPr/>
          <a:lstStyle/>
          <a:p>
            <a:r>
              <a:rPr lang="zh-CN" altLang="en-US" dirty="0"/>
              <a:t>供应链在战略中的角色和决策</a:t>
            </a:r>
          </a:p>
        </p:txBody>
      </p:sp>
      <p:sp>
        <p:nvSpPr>
          <p:cNvPr id="3" name="文本框 2">
            <a:extLst>
              <a:ext uri="{FF2B5EF4-FFF2-40B4-BE49-F238E27FC236}">
                <a16:creationId xmlns:a16="http://schemas.microsoft.com/office/drawing/2014/main" id="{73B46CB6-BCBC-E7E3-F05A-CDF745EC2E0D}"/>
              </a:ext>
            </a:extLst>
          </p:cNvPr>
          <p:cNvSpPr txBox="1"/>
          <p:nvPr/>
        </p:nvSpPr>
        <p:spPr>
          <a:xfrm>
            <a:off x="1166883" y="730885"/>
            <a:ext cx="5063320" cy="369332"/>
          </a:xfrm>
          <a:prstGeom prst="rect">
            <a:avLst/>
          </a:prstGeom>
          <a:noFill/>
        </p:spPr>
        <p:txBody>
          <a:bodyPr wrap="square" rtlCol="0">
            <a:spAutoFit/>
          </a:bodyPr>
          <a:lstStyle/>
          <a:p>
            <a:r>
              <a:rPr lang="zh-CN" altLang="en-US" b="1" i="0" dirty="0">
                <a:effectLst/>
                <a:latin typeface="system-ui"/>
              </a:rPr>
              <a:t>战略执行的核心和竞争优势的来源</a:t>
            </a:r>
            <a:endParaRPr lang="zh-CN" altLang="en-US" dirty="0"/>
          </a:p>
        </p:txBody>
      </p:sp>
      <p:grpSp>
        <p:nvGrpSpPr>
          <p:cNvPr id="21" name="组合 20">
            <a:extLst>
              <a:ext uri="{FF2B5EF4-FFF2-40B4-BE49-F238E27FC236}">
                <a16:creationId xmlns:a16="http://schemas.microsoft.com/office/drawing/2014/main" id="{A5CF6838-B676-6628-625A-EB9ED72C85A8}"/>
              </a:ext>
            </a:extLst>
          </p:cNvPr>
          <p:cNvGrpSpPr>
            <a:grpSpLocks noChangeAspect="1"/>
          </p:cNvGrpSpPr>
          <p:nvPr>
            <p:custDataLst>
              <p:tags r:id="rId1"/>
            </p:custDataLst>
          </p:nvPr>
        </p:nvGrpSpPr>
        <p:grpSpPr>
          <a:xfrm>
            <a:off x="738188" y="1150654"/>
            <a:ext cx="10801350" cy="5951932"/>
            <a:chOff x="1792645" y="847031"/>
            <a:chExt cx="8642818" cy="5922159"/>
          </a:xfrm>
        </p:grpSpPr>
        <p:grpSp>
          <p:nvGrpSpPr>
            <p:cNvPr id="22" name="组合 21">
              <a:extLst>
                <a:ext uri="{FF2B5EF4-FFF2-40B4-BE49-F238E27FC236}">
                  <a16:creationId xmlns:a16="http://schemas.microsoft.com/office/drawing/2014/main" id="{D3506255-4707-C1A3-B5DF-1A3AD55FE7CE}"/>
                </a:ext>
              </a:extLst>
            </p:cNvPr>
            <p:cNvGrpSpPr/>
            <p:nvPr/>
          </p:nvGrpSpPr>
          <p:grpSpPr>
            <a:xfrm>
              <a:off x="1835150" y="847031"/>
              <a:ext cx="8521700" cy="1589569"/>
              <a:chOff x="1835150" y="847031"/>
              <a:chExt cx="8521700" cy="1589569"/>
            </a:xfrm>
          </p:grpSpPr>
          <p:sp>
            <p:nvSpPr>
              <p:cNvPr id="33" name="1">
                <a:extLst>
                  <a:ext uri="{FF2B5EF4-FFF2-40B4-BE49-F238E27FC236}">
                    <a16:creationId xmlns:a16="http://schemas.microsoft.com/office/drawing/2014/main" id="{9A9F1AD1-939D-C399-8138-920D4CFAFB3B}"/>
                  </a:ext>
                </a:extLst>
              </p:cNvPr>
              <p:cNvSpPr/>
              <p:nvPr>
                <p:custDataLst>
                  <p:tags r:id="rId10"/>
                </p:custDataLst>
              </p:nvPr>
            </p:nvSpPr>
            <p:spPr>
              <a:xfrm>
                <a:off x="1835150" y="897802"/>
                <a:ext cx="8521700" cy="1308414"/>
              </a:xfrm>
              <a:prstGeom prst="roundRect">
                <a:avLst/>
              </a:prstGeom>
              <a:gradFill flip="none" rotWithShape="1">
                <a:gsLst>
                  <a:gs pos="0">
                    <a:schemeClr val="accent1"/>
                  </a:gs>
                  <a:gs pos="100000">
                    <a:schemeClr val="accent1">
                      <a:lumMod val="75000"/>
                    </a:schemeClr>
                  </a:gs>
                </a:gsLst>
                <a:lin ang="2700000" scaled="1"/>
                <a:tileRect/>
              </a:gra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r"/>
                <a:endParaRPr lang="zh-CN" altLang="en-US" sz="1600" b="1" dirty="0">
                  <a:latin typeface="+mj-ea"/>
                  <a:ea typeface="+mj-ea"/>
                </a:endParaRPr>
              </a:p>
            </p:txBody>
          </p:sp>
          <p:sp>
            <p:nvSpPr>
              <p:cNvPr id="34" name="1">
                <a:extLst>
                  <a:ext uri="{FF2B5EF4-FFF2-40B4-BE49-F238E27FC236}">
                    <a16:creationId xmlns:a16="http://schemas.microsoft.com/office/drawing/2014/main" id="{4F62FC22-6A51-009D-EA87-EFAE8DF7E412}"/>
                  </a:ext>
                </a:extLst>
              </p:cNvPr>
              <p:cNvSpPr/>
              <p:nvPr>
                <p:custDataLst>
                  <p:tags r:id="rId11"/>
                </p:custDataLst>
              </p:nvPr>
            </p:nvSpPr>
            <p:spPr>
              <a:xfrm>
                <a:off x="2073910" y="1020725"/>
                <a:ext cx="1780540" cy="470871"/>
              </a:xfrm>
              <a:prstGeom prst="roundRect">
                <a:avLst>
                  <a:gd name="adj" fmla="val 24395"/>
                </a:avLst>
              </a:prstGeom>
              <a:solidFill>
                <a:schemeClr val="bg1">
                  <a:lumMod val="95000"/>
                </a:schemeClr>
              </a:solidFill>
              <a:ln w="25400">
                <a:gradFill>
                  <a:gsLst>
                    <a:gs pos="0">
                      <a:schemeClr val="bg1"/>
                    </a:gs>
                    <a:gs pos="100000">
                      <a:schemeClr val="bg1">
                        <a:lumMod val="85000"/>
                      </a:schemeClr>
                    </a:gs>
                  </a:gsLst>
                  <a:lin ang="5400000" scaled="1"/>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sz="1200">
                  <a:solidFill>
                    <a:prstClr val="white"/>
                  </a:solidFill>
                  <a:latin typeface="+mj-ea"/>
                  <a:ea typeface="+mj-ea"/>
                </a:endParaRPr>
              </a:p>
            </p:txBody>
          </p:sp>
          <p:sp>
            <p:nvSpPr>
              <p:cNvPr id="35" name="Title-1">
                <a:extLst>
                  <a:ext uri="{FF2B5EF4-FFF2-40B4-BE49-F238E27FC236}">
                    <a16:creationId xmlns:a16="http://schemas.microsoft.com/office/drawing/2014/main" id="{9501A133-D73C-CFC4-250D-A1B7785C57BF}"/>
                  </a:ext>
                </a:extLst>
              </p:cNvPr>
              <p:cNvSpPr txBox="1"/>
              <p:nvPr>
                <p:custDataLst>
                  <p:tags r:id="rId12"/>
                </p:custDataLst>
              </p:nvPr>
            </p:nvSpPr>
            <p:spPr>
              <a:xfrm>
                <a:off x="2097589" y="1002527"/>
                <a:ext cx="1840953" cy="369332"/>
              </a:xfrm>
              <a:prstGeom prst="rect">
                <a:avLst/>
              </a:prstGeom>
              <a:noFill/>
            </p:spPr>
            <p:txBody>
              <a:bodyPr wrap="square" rtlCol="0">
                <a:noAutofit/>
              </a:bodyPr>
              <a:lstStyle/>
              <a:p>
                <a:r>
                  <a:rPr lang="en-US" altLang="zh-CN" sz="1200" b="1" dirty="0">
                    <a:solidFill>
                      <a:schemeClr val="tx1">
                        <a:lumMod val="75000"/>
                        <a:lumOff val="25000"/>
                      </a:schemeClr>
                    </a:solidFill>
                    <a:latin typeface="+mj-ea"/>
                    <a:ea typeface="+mj-ea"/>
                  </a:rPr>
                  <a:t>1. </a:t>
                </a:r>
                <a:r>
                  <a:rPr lang="zh-CN" altLang="en-US" sz="1200" b="1" dirty="0">
                    <a:solidFill>
                      <a:schemeClr val="tx1">
                        <a:lumMod val="75000"/>
                        <a:lumOff val="25000"/>
                      </a:schemeClr>
                    </a:solidFill>
                    <a:latin typeface="+mj-ea"/>
                    <a:ea typeface="+mj-ea"/>
                  </a:rPr>
                  <a:t>战略对齐：确保供应链战略支撑企业战略</a:t>
                </a:r>
              </a:p>
            </p:txBody>
          </p:sp>
          <p:sp>
            <p:nvSpPr>
              <p:cNvPr id="36" name="Body-1">
                <a:extLst>
                  <a:ext uri="{FF2B5EF4-FFF2-40B4-BE49-F238E27FC236}">
                    <a16:creationId xmlns:a16="http://schemas.microsoft.com/office/drawing/2014/main" id="{CAD9D172-1923-46AA-77CA-317548BE9CB5}"/>
                  </a:ext>
                </a:extLst>
              </p:cNvPr>
              <p:cNvSpPr>
                <a:spLocks/>
              </p:cNvSpPr>
              <p:nvPr>
                <p:custDataLst>
                  <p:tags r:id="rId13"/>
                </p:custDataLst>
              </p:nvPr>
            </p:nvSpPr>
            <p:spPr>
              <a:xfrm>
                <a:off x="3938542" y="847031"/>
                <a:ext cx="6095454" cy="15895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050" b="1" i="0" u="none" strike="noStrike" kern="1200" cap="none" spc="0" normalizeH="0" baseline="0" noProof="0" dirty="0">
                    <a:ln>
                      <a:noFill/>
                    </a:ln>
                    <a:solidFill>
                      <a:schemeClr val="bg1"/>
                    </a:solidFill>
                    <a:effectLst/>
                    <a:uLnTx/>
                    <a:uFillTx/>
                    <a:latin typeface="+mj-ea"/>
                    <a:ea typeface="+mj-ea"/>
                    <a:cs typeface="+mn-cs"/>
                  </a:rPr>
                  <a:t>如果企业战略是成本领先：</a:t>
                </a:r>
                <a:r>
                  <a:rPr kumimoji="0" lang="zh-CN" altLang="en-US" sz="1050" i="0" u="none" strike="noStrike" kern="1200" cap="none" spc="0" normalizeH="0" baseline="0" noProof="0" dirty="0">
                    <a:ln>
                      <a:noFill/>
                    </a:ln>
                    <a:solidFill>
                      <a:schemeClr val="bg1"/>
                    </a:solidFill>
                    <a:effectLst/>
                    <a:uLnTx/>
                    <a:uFillTx/>
                    <a:latin typeface="+mj-ea"/>
                    <a:ea typeface="+mj-ea"/>
                    <a:cs typeface="+mn-cs"/>
                  </a:rPr>
                  <a:t>供应链战略应侧重于效率。决策包括：追求规模经济、自动化、标准化流程、与能提供最低总成本的供应商合作、最小化库存。</a:t>
                </a:r>
              </a:p>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050" b="1" i="0" u="none" strike="noStrike" kern="1200" cap="none" spc="0" normalizeH="0" baseline="0" noProof="0" dirty="0">
                    <a:ln>
                      <a:noFill/>
                    </a:ln>
                    <a:solidFill>
                      <a:schemeClr val="bg1"/>
                    </a:solidFill>
                    <a:effectLst/>
                    <a:uLnTx/>
                    <a:uFillTx/>
                    <a:latin typeface="+mj-ea"/>
                    <a:ea typeface="+mj-ea"/>
                    <a:cs typeface="+mn-cs"/>
                  </a:rPr>
                  <a:t>如果企业战略是差异化：</a:t>
                </a:r>
                <a:r>
                  <a:rPr kumimoji="0" lang="zh-CN" altLang="en-US" sz="1050" i="0" u="none" strike="noStrike" kern="1200" cap="none" spc="0" normalizeH="0" baseline="0" noProof="0" dirty="0">
                    <a:ln>
                      <a:noFill/>
                    </a:ln>
                    <a:solidFill>
                      <a:schemeClr val="bg1"/>
                    </a:solidFill>
                    <a:effectLst/>
                    <a:uLnTx/>
                    <a:uFillTx/>
                    <a:latin typeface="+mj-ea"/>
                    <a:ea typeface="+mj-ea"/>
                    <a:cs typeface="+mn-cs"/>
                  </a:rPr>
                  <a:t>供应链战略应侧重于响应能力和灵活性。决策包括：投资于敏捷制造、模块化设计和延迟策略、与能提供创新技术或高质量元件的供应商建立战略伙伴关系、接受更高的成本以换取速度和质量。</a:t>
                </a:r>
              </a:p>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050" b="1" i="0" u="none" strike="noStrike" kern="1200" cap="none" spc="0" normalizeH="0" baseline="0" noProof="0" dirty="0">
                    <a:ln>
                      <a:noFill/>
                    </a:ln>
                    <a:solidFill>
                      <a:schemeClr val="bg1"/>
                    </a:solidFill>
                    <a:effectLst/>
                    <a:uLnTx/>
                    <a:uFillTx/>
                    <a:latin typeface="+mj-ea"/>
                    <a:ea typeface="+mj-ea"/>
                    <a:cs typeface="+mn-cs"/>
                  </a:rPr>
                  <a:t>如果企业战略是聚焦：</a:t>
                </a:r>
                <a:r>
                  <a:rPr kumimoji="0" lang="zh-CN" altLang="en-US" sz="1050" i="0" u="none" strike="noStrike" kern="1200" cap="none" spc="0" normalizeH="0" baseline="0" noProof="0" dirty="0">
                    <a:ln>
                      <a:noFill/>
                    </a:ln>
                    <a:solidFill>
                      <a:schemeClr val="bg1"/>
                    </a:solidFill>
                    <a:effectLst/>
                    <a:uLnTx/>
                    <a:uFillTx/>
                    <a:latin typeface="+mj-ea"/>
                    <a:ea typeface="+mj-ea"/>
                    <a:cs typeface="+mn-cs"/>
                  </a:rPr>
                  <a:t>供应链必须根据特定细分市场的独特需求进行量身定制。</a:t>
                </a:r>
                <a:endParaRPr kumimoji="0" lang="en-GB" altLang="zh-CN" sz="1050" i="0" u="none" strike="noStrike" kern="1200" cap="none" spc="0" normalizeH="0" baseline="0" noProof="0" dirty="0">
                  <a:ln>
                    <a:noFill/>
                  </a:ln>
                  <a:solidFill>
                    <a:schemeClr val="bg1"/>
                  </a:solidFill>
                  <a:effectLst/>
                  <a:uLnTx/>
                  <a:uFillTx/>
                  <a:latin typeface="+mj-ea"/>
                  <a:ea typeface="+mj-ea"/>
                  <a:cs typeface="+mn-cs"/>
                </a:endParaRPr>
              </a:p>
            </p:txBody>
          </p:sp>
        </p:grpSp>
        <p:grpSp>
          <p:nvGrpSpPr>
            <p:cNvPr id="23" name="组合 22">
              <a:extLst>
                <a:ext uri="{FF2B5EF4-FFF2-40B4-BE49-F238E27FC236}">
                  <a16:creationId xmlns:a16="http://schemas.microsoft.com/office/drawing/2014/main" id="{14D406F0-B3BA-9A8C-0D5A-1EA6FA294230}"/>
                </a:ext>
              </a:extLst>
            </p:cNvPr>
            <p:cNvGrpSpPr/>
            <p:nvPr/>
          </p:nvGrpSpPr>
          <p:grpSpPr>
            <a:xfrm>
              <a:off x="1792645" y="2280539"/>
              <a:ext cx="8564204" cy="1190883"/>
              <a:chOff x="1792645" y="2280539"/>
              <a:chExt cx="8564204" cy="1190883"/>
            </a:xfrm>
          </p:grpSpPr>
          <p:sp>
            <p:nvSpPr>
              <p:cNvPr id="29" name="2">
                <a:extLst>
                  <a:ext uri="{FF2B5EF4-FFF2-40B4-BE49-F238E27FC236}">
                    <a16:creationId xmlns:a16="http://schemas.microsoft.com/office/drawing/2014/main" id="{D5C6C0AF-1F00-54BA-F4C9-60197E37663C}"/>
                  </a:ext>
                </a:extLst>
              </p:cNvPr>
              <p:cNvSpPr/>
              <p:nvPr>
                <p:custDataLst>
                  <p:tags r:id="rId6"/>
                </p:custDataLst>
              </p:nvPr>
            </p:nvSpPr>
            <p:spPr>
              <a:xfrm>
                <a:off x="1792645" y="2331310"/>
                <a:ext cx="8564204" cy="1140112"/>
              </a:xfrm>
              <a:prstGeom prst="roundRect">
                <a:avLst/>
              </a:prstGeom>
              <a:gradFill flip="none" rotWithShape="1">
                <a:gsLst>
                  <a:gs pos="0">
                    <a:schemeClr val="accent2"/>
                  </a:gs>
                  <a:gs pos="100000">
                    <a:schemeClr val="accent2">
                      <a:lumMod val="75000"/>
                    </a:schemeClr>
                  </a:gs>
                </a:gsLst>
                <a:lin ang="2700000" scaled="1"/>
                <a:tileRect/>
              </a:gra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r"/>
                <a:endParaRPr lang="zh-CN" altLang="en-US" sz="1600" b="1" dirty="0">
                  <a:latin typeface="+mj-ea"/>
                  <a:ea typeface="+mj-ea"/>
                </a:endParaRPr>
              </a:p>
            </p:txBody>
          </p:sp>
          <p:sp>
            <p:nvSpPr>
              <p:cNvPr id="30" name="2">
                <a:extLst>
                  <a:ext uri="{FF2B5EF4-FFF2-40B4-BE49-F238E27FC236}">
                    <a16:creationId xmlns:a16="http://schemas.microsoft.com/office/drawing/2014/main" id="{2D330412-3181-DC62-13B3-03B661D6881D}"/>
                  </a:ext>
                </a:extLst>
              </p:cNvPr>
              <p:cNvSpPr/>
              <p:nvPr>
                <p:custDataLst>
                  <p:tags r:id="rId7"/>
                </p:custDataLst>
              </p:nvPr>
            </p:nvSpPr>
            <p:spPr>
              <a:xfrm>
                <a:off x="2030673" y="2436600"/>
                <a:ext cx="1823777" cy="470871"/>
              </a:xfrm>
              <a:prstGeom prst="roundRect">
                <a:avLst>
                  <a:gd name="adj" fmla="val 24395"/>
                </a:avLst>
              </a:prstGeom>
              <a:solidFill>
                <a:schemeClr val="bg1">
                  <a:lumMod val="95000"/>
                </a:schemeClr>
              </a:solidFill>
              <a:ln w="25400">
                <a:gradFill>
                  <a:gsLst>
                    <a:gs pos="0">
                      <a:schemeClr val="bg1"/>
                    </a:gs>
                    <a:gs pos="100000">
                      <a:schemeClr val="bg1">
                        <a:lumMod val="85000"/>
                      </a:schemeClr>
                    </a:gs>
                  </a:gsLst>
                  <a:lin ang="5400000" scaled="1"/>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sz="1200">
                  <a:solidFill>
                    <a:prstClr val="white"/>
                  </a:solidFill>
                  <a:latin typeface="+mj-ea"/>
                  <a:ea typeface="+mj-ea"/>
                </a:endParaRPr>
              </a:p>
            </p:txBody>
          </p:sp>
          <p:sp>
            <p:nvSpPr>
              <p:cNvPr id="31" name="Title-2">
                <a:extLst>
                  <a:ext uri="{FF2B5EF4-FFF2-40B4-BE49-F238E27FC236}">
                    <a16:creationId xmlns:a16="http://schemas.microsoft.com/office/drawing/2014/main" id="{7436FCB1-86C2-7680-02B7-4E2189D9FE52}"/>
                  </a:ext>
                </a:extLst>
              </p:cNvPr>
              <p:cNvSpPr txBox="1"/>
              <p:nvPr>
                <p:custDataLst>
                  <p:tags r:id="rId8"/>
                </p:custDataLst>
              </p:nvPr>
            </p:nvSpPr>
            <p:spPr>
              <a:xfrm>
                <a:off x="1996662" y="2432515"/>
                <a:ext cx="1840953" cy="369332"/>
              </a:xfrm>
              <a:prstGeom prst="rect">
                <a:avLst/>
              </a:prstGeom>
              <a:noFill/>
            </p:spPr>
            <p:txBody>
              <a:bodyPr wrap="square" rtlCol="0">
                <a:noAutofit/>
              </a:bodyPr>
              <a:lstStyle/>
              <a:p>
                <a:r>
                  <a:rPr lang="en-US" altLang="zh-CN" sz="1200" b="1" dirty="0">
                    <a:solidFill>
                      <a:schemeClr val="tx1">
                        <a:lumMod val="75000"/>
                        <a:lumOff val="25000"/>
                      </a:schemeClr>
                    </a:solidFill>
                    <a:latin typeface="+mj-ea"/>
                    <a:ea typeface="+mj-ea"/>
                  </a:rPr>
                  <a:t>2. </a:t>
                </a:r>
                <a:r>
                  <a:rPr lang="zh-CN" altLang="en-US" sz="1200" b="1" dirty="0">
                    <a:solidFill>
                      <a:schemeClr val="tx1">
                        <a:lumMod val="75000"/>
                        <a:lumOff val="25000"/>
                      </a:schemeClr>
                    </a:solidFill>
                    <a:latin typeface="+mj-ea"/>
                    <a:ea typeface="+mj-ea"/>
                  </a:rPr>
                  <a:t>价值创造：通过供应链能力直接创造竞争优势</a:t>
                </a:r>
              </a:p>
            </p:txBody>
          </p:sp>
          <p:sp>
            <p:nvSpPr>
              <p:cNvPr id="32" name="Body-2">
                <a:extLst>
                  <a:ext uri="{FF2B5EF4-FFF2-40B4-BE49-F238E27FC236}">
                    <a16:creationId xmlns:a16="http://schemas.microsoft.com/office/drawing/2014/main" id="{C4CBF68B-0888-292C-F1B0-7639ABFFE49B}"/>
                  </a:ext>
                </a:extLst>
              </p:cNvPr>
              <p:cNvSpPr>
                <a:spLocks/>
              </p:cNvSpPr>
              <p:nvPr>
                <p:custDataLst>
                  <p:tags r:id="rId9"/>
                </p:custDataLst>
              </p:nvPr>
            </p:nvSpPr>
            <p:spPr>
              <a:xfrm>
                <a:off x="3938542" y="2280539"/>
                <a:ext cx="6095454" cy="11401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050" b="1" i="0" u="none" strike="noStrike" kern="1200" cap="none" spc="0" normalizeH="0" baseline="0" noProof="0" dirty="0">
                    <a:ln>
                      <a:noFill/>
                    </a:ln>
                    <a:solidFill>
                      <a:schemeClr val="bg1"/>
                    </a:solidFill>
                    <a:effectLst/>
                    <a:uLnTx/>
                    <a:uFillTx/>
                    <a:latin typeface="+mj-ea"/>
                    <a:ea typeface="+mj-ea"/>
                    <a:cs typeface="+mn-cs"/>
                  </a:rPr>
                  <a:t>速度（</a:t>
                </a:r>
                <a:r>
                  <a:rPr kumimoji="0" lang="en-US" altLang="zh-CN" sz="1050" b="1" i="0" u="none" strike="noStrike" kern="1200" cap="none" spc="0" normalizeH="0" baseline="0" noProof="0" dirty="0">
                    <a:ln>
                      <a:noFill/>
                    </a:ln>
                    <a:solidFill>
                      <a:schemeClr val="bg1"/>
                    </a:solidFill>
                    <a:effectLst/>
                    <a:uLnTx/>
                    <a:uFillTx/>
                    <a:latin typeface="+mj-ea"/>
                    <a:ea typeface="+mj-ea"/>
                    <a:cs typeface="+mn-cs"/>
                  </a:rPr>
                  <a:t>Velocity</a:t>
                </a:r>
                <a:r>
                  <a:rPr kumimoji="0" lang="zh-CN" altLang="en-US" sz="1050" b="1" i="0" u="none" strike="noStrike" kern="1200" cap="none" spc="0" normalizeH="0" baseline="0" noProof="0" dirty="0">
                    <a:ln>
                      <a:noFill/>
                    </a:ln>
                    <a:solidFill>
                      <a:schemeClr val="bg1"/>
                    </a:solidFill>
                    <a:effectLst/>
                    <a:uLnTx/>
                    <a:uFillTx/>
                    <a:latin typeface="+mj-ea"/>
                    <a:ea typeface="+mj-ea"/>
                    <a:cs typeface="+mn-cs"/>
                  </a:rPr>
                  <a:t>）：</a:t>
                </a:r>
                <a:r>
                  <a:rPr kumimoji="0" lang="zh-CN" altLang="en-US" sz="1050" i="0" u="none" strike="noStrike" kern="1200" cap="none" spc="0" normalizeH="0" baseline="0" noProof="0" dirty="0">
                    <a:ln>
                      <a:noFill/>
                    </a:ln>
                    <a:solidFill>
                      <a:schemeClr val="bg1"/>
                    </a:solidFill>
                    <a:effectLst/>
                    <a:uLnTx/>
                    <a:uFillTx/>
                    <a:latin typeface="+mj-ea"/>
                    <a:ea typeface="+mj-ea"/>
                    <a:cs typeface="+mn-cs"/>
                  </a:rPr>
                  <a:t>加快产品从原材料到客户手中的流程。</a:t>
                </a:r>
              </a:p>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050" b="1" i="0" u="none" strike="noStrike" kern="1200" cap="none" spc="0" normalizeH="0" baseline="0" noProof="0" dirty="0">
                    <a:ln>
                      <a:noFill/>
                    </a:ln>
                    <a:solidFill>
                      <a:schemeClr val="bg1"/>
                    </a:solidFill>
                    <a:effectLst/>
                    <a:uLnTx/>
                    <a:uFillTx/>
                    <a:latin typeface="+mj-ea"/>
                    <a:ea typeface="+mj-ea"/>
                    <a:cs typeface="+mn-cs"/>
                  </a:rPr>
                  <a:t>可视性（</a:t>
                </a:r>
                <a:r>
                  <a:rPr kumimoji="0" lang="en-US" altLang="zh-CN" sz="1050" b="1" i="0" u="none" strike="noStrike" kern="1200" cap="none" spc="0" normalizeH="0" baseline="0" noProof="0" dirty="0">
                    <a:ln>
                      <a:noFill/>
                    </a:ln>
                    <a:solidFill>
                      <a:schemeClr val="bg1"/>
                    </a:solidFill>
                    <a:effectLst/>
                    <a:uLnTx/>
                    <a:uFillTx/>
                    <a:latin typeface="+mj-ea"/>
                    <a:ea typeface="+mj-ea"/>
                    <a:cs typeface="+mn-cs"/>
                  </a:rPr>
                  <a:t>Visibility</a:t>
                </a:r>
                <a:r>
                  <a:rPr kumimoji="0" lang="zh-CN" altLang="en-US" sz="1050" b="1" i="0" u="none" strike="noStrike" kern="1200" cap="none" spc="0" normalizeH="0" baseline="0" noProof="0" dirty="0">
                    <a:ln>
                      <a:noFill/>
                    </a:ln>
                    <a:solidFill>
                      <a:schemeClr val="bg1"/>
                    </a:solidFill>
                    <a:effectLst/>
                    <a:uLnTx/>
                    <a:uFillTx/>
                    <a:latin typeface="+mj-ea"/>
                    <a:ea typeface="+mj-ea"/>
                    <a:cs typeface="+mn-cs"/>
                  </a:rPr>
                  <a:t>）：</a:t>
                </a:r>
                <a:r>
                  <a:rPr kumimoji="0" lang="zh-CN" altLang="en-US" sz="1050" i="0" u="none" strike="noStrike" kern="1200" cap="none" spc="0" normalizeH="0" baseline="0" noProof="0" dirty="0">
                    <a:ln>
                      <a:noFill/>
                    </a:ln>
                    <a:solidFill>
                      <a:schemeClr val="bg1"/>
                    </a:solidFill>
                    <a:effectLst/>
                    <a:uLnTx/>
                    <a:uFillTx/>
                    <a:latin typeface="+mj-ea"/>
                    <a:ea typeface="+mj-ea"/>
                    <a:cs typeface="+mn-cs"/>
                  </a:rPr>
                  <a:t>洞察整个供应链的实时状态，以便快速应对变化。</a:t>
                </a:r>
              </a:p>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050" b="1" i="0" u="none" strike="noStrike" kern="1200" cap="none" spc="0" normalizeH="0" baseline="0" noProof="0" dirty="0">
                    <a:ln>
                      <a:noFill/>
                    </a:ln>
                    <a:solidFill>
                      <a:schemeClr val="bg1"/>
                    </a:solidFill>
                    <a:effectLst/>
                    <a:uLnTx/>
                    <a:uFillTx/>
                    <a:latin typeface="+mj-ea"/>
                    <a:ea typeface="+mj-ea"/>
                    <a:cs typeface="+mn-cs"/>
                  </a:rPr>
                  <a:t>可变性降低（</a:t>
                </a:r>
                <a:r>
                  <a:rPr kumimoji="0" lang="en-US" altLang="zh-CN" sz="1050" b="1" i="0" u="none" strike="noStrike" kern="1200" cap="none" spc="0" normalizeH="0" baseline="0" noProof="0" dirty="0">
                    <a:ln>
                      <a:noFill/>
                    </a:ln>
                    <a:solidFill>
                      <a:schemeClr val="bg1"/>
                    </a:solidFill>
                    <a:effectLst/>
                    <a:uLnTx/>
                    <a:uFillTx/>
                    <a:latin typeface="+mj-ea"/>
                    <a:ea typeface="+mj-ea"/>
                    <a:cs typeface="+mn-cs"/>
                  </a:rPr>
                  <a:t>Reduced Variability</a:t>
                </a:r>
                <a:r>
                  <a:rPr kumimoji="0" lang="zh-CN" altLang="en-US" sz="1050" b="1" i="0" u="none" strike="noStrike" kern="1200" cap="none" spc="0" normalizeH="0" baseline="0" noProof="0" dirty="0">
                    <a:ln>
                      <a:noFill/>
                    </a:ln>
                    <a:solidFill>
                      <a:schemeClr val="bg1"/>
                    </a:solidFill>
                    <a:effectLst/>
                    <a:uLnTx/>
                    <a:uFillTx/>
                    <a:latin typeface="+mj-ea"/>
                    <a:ea typeface="+mj-ea"/>
                    <a:cs typeface="+mn-cs"/>
                  </a:rPr>
                  <a:t>）：</a:t>
                </a:r>
                <a:r>
                  <a:rPr kumimoji="0" lang="zh-CN" altLang="en-US" sz="1050" i="0" u="none" strike="noStrike" kern="1200" cap="none" spc="0" normalizeH="0" baseline="0" noProof="0" dirty="0">
                    <a:ln>
                      <a:noFill/>
                    </a:ln>
                    <a:solidFill>
                      <a:schemeClr val="bg1"/>
                    </a:solidFill>
                    <a:effectLst/>
                    <a:uLnTx/>
                    <a:uFillTx/>
                    <a:latin typeface="+mj-ea"/>
                    <a:ea typeface="+mj-ea"/>
                    <a:cs typeface="+mn-cs"/>
                  </a:rPr>
                  <a:t>减少流程中的波动，提高可靠性和可预测性</a:t>
                </a:r>
                <a:r>
                  <a:rPr kumimoji="0" lang="zh-CN" altLang="en-US" sz="1050" b="1" i="0" u="none" strike="noStrike" kern="1200" cap="none" spc="0" normalizeH="0" baseline="0" noProof="0" dirty="0">
                    <a:ln>
                      <a:noFill/>
                    </a:ln>
                    <a:solidFill>
                      <a:schemeClr val="bg1"/>
                    </a:solidFill>
                    <a:effectLst/>
                    <a:uLnTx/>
                    <a:uFillTx/>
                    <a:latin typeface="+mj-ea"/>
                    <a:ea typeface="+mj-ea"/>
                    <a:cs typeface="+mn-cs"/>
                  </a:rPr>
                  <a:t>。</a:t>
                </a:r>
              </a:p>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050" b="1" i="0" u="none" strike="noStrike" kern="1200" cap="none" spc="0" normalizeH="0" baseline="0" noProof="0" dirty="0">
                    <a:ln>
                      <a:noFill/>
                    </a:ln>
                    <a:solidFill>
                      <a:schemeClr val="bg1"/>
                    </a:solidFill>
                    <a:effectLst/>
                    <a:uLnTx/>
                    <a:uFillTx/>
                    <a:latin typeface="+mj-ea"/>
                    <a:ea typeface="+mj-ea"/>
                    <a:cs typeface="+mn-cs"/>
                  </a:rPr>
                  <a:t>韧性（</a:t>
                </a:r>
                <a:r>
                  <a:rPr kumimoji="0" lang="en-US" altLang="zh-CN" sz="1050" b="1" i="0" u="none" strike="noStrike" kern="1200" cap="none" spc="0" normalizeH="0" baseline="0" noProof="0" dirty="0">
                    <a:ln>
                      <a:noFill/>
                    </a:ln>
                    <a:solidFill>
                      <a:schemeClr val="bg1"/>
                    </a:solidFill>
                    <a:effectLst/>
                    <a:uLnTx/>
                    <a:uFillTx/>
                    <a:latin typeface="+mj-ea"/>
                    <a:ea typeface="+mj-ea"/>
                    <a:cs typeface="+mn-cs"/>
                  </a:rPr>
                  <a:t>Resilience</a:t>
                </a:r>
                <a:r>
                  <a:rPr kumimoji="0" lang="zh-CN" altLang="en-US" sz="1050" b="1" i="0" u="none" strike="noStrike" kern="1200" cap="none" spc="0" normalizeH="0" baseline="0" noProof="0" dirty="0">
                    <a:ln>
                      <a:noFill/>
                    </a:ln>
                    <a:solidFill>
                      <a:schemeClr val="bg1"/>
                    </a:solidFill>
                    <a:effectLst/>
                    <a:uLnTx/>
                    <a:uFillTx/>
                    <a:latin typeface="+mj-ea"/>
                    <a:ea typeface="+mj-ea"/>
                    <a:cs typeface="+mn-cs"/>
                  </a:rPr>
                  <a:t>）：</a:t>
                </a:r>
                <a:r>
                  <a:rPr kumimoji="0" lang="zh-CN" altLang="en-US" sz="1050" i="0" u="none" strike="noStrike" kern="1200" cap="none" spc="0" normalizeH="0" baseline="0" noProof="0" dirty="0">
                    <a:ln>
                      <a:noFill/>
                    </a:ln>
                    <a:solidFill>
                      <a:schemeClr val="bg1"/>
                    </a:solidFill>
                    <a:effectLst/>
                    <a:uLnTx/>
                    <a:uFillTx/>
                    <a:latin typeface="+mj-ea"/>
                    <a:ea typeface="+mj-ea"/>
                    <a:cs typeface="+mn-cs"/>
                  </a:rPr>
                  <a:t>建立能够应对中断（如疫情、地缘政治、自然灾害）的能力。</a:t>
                </a:r>
                <a:endParaRPr kumimoji="0" lang="en-GB" altLang="zh-CN" sz="1050" i="0" u="none" strike="noStrike" kern="1200" cap="none" spc="0" normalizeH="0" baseline="0" noProof="0" dirty="0">
                  <a:ln>
                    <a:noFill/>
                  </a:ln>
                  <a:solidFill>
                    <a:schemeClr val="bg1"/>
                  </a:solidFill>
                  <a:effectLst/>
                  <a:uLnTx/>
                  <a:uFillTx/>
                  <a:latin typeface="+mj-ea"/>
                  <a:ea typeface="+mj-ea"/>
                  <a:cs typeface="+mn-cs"/>
                </a:endParaRPr>
              </a:p>
            </p:txBody>
          </p:sp>
        </p:grpSp>
        <p:grpSp>
          <p:nvGrpSpPr>
            <p:cNvPr id="24" name="组合 23">
              <a:extLst>
                <a:ext uri="{FF2B5EF4-FFF2-40B4-BE49-F238E27FC236}">
                  <a16:creationId xmlns:a16="http://schemas.microsoft.com/office/drawing/2014/main" id="{0FCBD72B-0B0B-CD85-F6BD-07E19984C7B2}"/>
                </a:ext>
              </a:extLst>
            </p:cNvPr>
            <p:cNvGrpSpPr/>
            <p:nvPr/>
          </p:nvGrpSpPr>
          <p:grpSpPr>
            <a:xfrm>
              <a:off x="1792645" y="3471422"/>
              <a:ext cx="8642818" cy="3297768"/>
              <a:chOff x="1792645" y="3471422"/>
              <a:chExt cx="8642818" cy="3297768"/>
            </a:xfrm>
          </p:grpSpPr>
          <p:sp>
            <p:nvSpPr>
              <p:cNvPr id="25" name="3">
                <a:extLst>
                  <a:ext uri="{FF2B5EF4-FFF2-40B4-BE49-F238E27FC236}">
                    <a16:creationId xmlns:a16="http://schemas.microsoft.com/office/drawing/2014/main" id="{8FD535F5-8596-608E-42DB-8582A192CD8C}"/>
                  </a:ext>
                </a:extLst>
              </p:cNvPr>
              <p:cNvSpPr/>
              <p:nvPr>
                <p:custDataLst>
                  <p:tags r:id="rId2"/>
                </p:custDataLst>
              </p:nvPr>
            </p:nvSpPr>
            <p:spPr>
              <a:xfrm>
                <a:off x="1792645" y="3572626"/>
                <a:ext cx="8642818" cy="2901075"/>
              </a:xfrm>
              <a:prstGeom prst="roundRect">
                <a:avLst/>
              </a:prstGeom>
              <a:gradFill flip="none" rotWithShape="1">
                <a:gsLst>
                  <a:gs pos="0">
                    <a:schemeClr val="accent3"/>
                  </a:gs>
                  <a:gs pos="100000">
                    <a:schemeClr val="accent3">
                      <a:lumMod val="75000"/>
                    </a:schemeClr>
                  </a:gs>
                </a:gsLst>
                <a:lin ang="2700000" scaled="1"/>
                <a:tileRect/>
              </a:gra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r"/>
                <a:endParaRPr lang="zh-CN" altLang="en-US" sz="1600" b="1" dirty="0">
                  <a:latin typeface="+mj-ea"/>
                  <a:ea typeface="+mj-ea"/>
                </a:endParaRPr>
              </a:p>
            </p:txBody>
          </p:sp>
          <p:sp>
            <p:nvSpPr>
              <p:cNvPr id="26" name="3">
                <a:extLst>
                  <a:ext uri="{FF2B5EF4-FFF2-40B4-BE49-F238E27FC236}">
                    <a16:creationId xmlns:a16="http://schemas.microsoft.com/office/drawing/2014/main" id="{1F76B09F-54EA-4A76-67DD-CD2EAABDFFE0}"/>
                  </a:ext>
                </a:extLst>
              </p:cNvPr>
              <p:cNvSpPr/>
              <p:nvPr>
                <p:custDataLst>
                  <p:tags r:id="rId3"/>
                </p:custDataLst>
              </p:nvPr>
            </p:nvSpPr>
            <p:spPr>
              <a:xfrm>
                <a:off x="1996662" y="3614189"/>
                <a:ext cx="1780540" cy="470871"/>
              </a:xfrm>
              <a:prstGeom prst="roundRect">
                <a:avLst>
                  <a:gd name="adj" fmla="val 24395"/>
                </a:avLst>
              </a:prstGeom>
              <a:solidFill>
                <a:schemeClr val="bg1">
                  <a:lumMod val="95000"/>
                </a:schemeClr>
              </a:solidFill>
              <a:ln w="25400">
                <a:gradFill>
                  <a:gsLst>
                    <a:gs pos="0">
                      <a:schemeClr val="bg1"/>
                    </a:gs>
                    <a:gs pos="100000">
                      <a:schemeClr val="bg1">
                        <a:lumMod val="85000"/>
                      </a:schemeClr>
                    </a:gs>
                  </a:gsLst>
                  <a:lin ang="5400000" scaled="1"/>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sz="1200">
                  <a:solidFill>
                    <a:prstClr val="white"/>
                  </a:solidFill>
                  <a:latin typeface="+mj-ea"/>
                  <a:ea typeface="+mj-ea"/>
                </a:endParaRPr>
              </a:p>
            </p:txBody>
          </p:sp>
          <p:sp>
            <p:nvSpPr>
              <p:cNvPr id="27" name="Title-3">
                <a:extLst>
                  <a:ext uri="{FF2B5EF4-FFF2-40B4-BE49-F238E27FC236}">
                    <a16:creationId xmlns:a16="http://schemas.microsoft.com/office/drawing/2014/main" id="{068BC421-9653-D2B3-8723-FDF331F45B03}"/>
                  </a:ext>
                </a:extLst>
              </p:cNvPr>
              <p:cNvSpPr txBox="1"/>
              <p:nvPr>
                <p:custDataLst>
                  <p:tags r:id="rId4"/>
                </p:custDataLst>
              </p:nvPr>
            </p:nvSpPr>
            <p:spPr>
              <a:xfrm>
                <a:off x="2043702" y="3687491"/>
                <a:ext cx="1840953" cy="369332"/>
              </a:xfrm>
              <a:prstGeom prst="rect">
                <a:avLst/>
              </a:prstGeom>
              <a:noFill/>
            </p:spPr>
            <p:txBody>
              <a:bodyPr wrap="square" rtlCol="0">
                <a:noAutofit/>
              </a:bodyPr>
              <a:lstStyle/>
              <a:p>
                <a:r>
                  <a:rPr lang="en-US" altLang="zh-CN" sz="1200" b="1" dirty="0">
                    <a:solidFill>
                      <a:schemeClr val="tx1">
                        <a:lumMod val="75000"/>
                        <a:lumOff val="25000"/>
                      </a:schemeClr>
                    </a:solidFill>
                    <a:latin typeface="+mj-ea"/>
                    <a:ea typeface="+mj-ea"/>
                  </a:rPr>
                  <a:t>3. </a:t>
                </a:r>
                <a:r>
                  <a:rPr lang="zh-CN" altLang="en-US" sz="1200" b="1" dirty="0">
                    <a:solidFill>
                      <a:schemeClr val="tx1">
                        <a:lumMod val="75000"/>
                        <a:lumOff val="25000"/>
                      </a:schemeClr>
                    </a:solidFill>
                    <a:latin typeface="+mj-ea"/>
                    <a:ea typeface="+mj-ea"/>
                  </a:rPr>
                  <a:t>关键战略决策领域</a:t>
                </a:r>
              </a:p>
            </p:txBody>
          </p:sp>
          <p:sp>
            <p:nvSpPr>
              <p:cNvPr id="28" name="Body-3">
                <a:extLst>
                  <a:ext uri="{FF2B5EF4-FFF2-40B4-BE49-F238E27FC236}">
                    <a16:creationId xmlns:a16="http://schemas.microsoft.com/office/drawing/2014/main" id="{A2139859-846C-8192-7CEA-F01B87DA4E23}"/>
                  </a:ext>
                </a:extLst>
              </p:cNvPr>
              <p:cNvSpPr>
                <a:spLocks/>
              </p:cNvSpPr>
              <p:nvPr>
                <p:custDataLst>
                  <p:tags r:id="rId5"/>
                </p:custDataLst>
              </p:nvPr>
            </p:nvSpPr>
            <p:spPr>
              <a:xfrm>
                <a:off x="3981220" y="3471422"/>
                <a:ext cx="6385648" cy="329776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050" b="1" i="0" u="none" strike="noStrike" kern="1200" cap="none" spc="0" normalizeH="0" baseline="0" noProof="0" dirty="0">
                    <a:ln>
                      <a:noFill/>
                    </a:ln>
                    <a:solidFill>
                      <a:schemeClr val="bg1"/>
                    </a:solidFill>
                    <a:effectLst/>
                    <a:uLnTx/>
                    <a:uFillTx/>
                    <a:latin typeface="+mj-ea"/>
                    <a:ea typeface="+mj-ea"/>
                    <a:cs typeface="+mn-cs"/>
                  </a:rPr>
                  <a:t>网络设计决策：</a:t>
                </a:r>
              </a:p>
              <a:p>
                <a:pPr marL="742950" lvl="1" indent="-2857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bg1"/>
                    </a:solidFill>
                    <a:effectLst/>
                    <a:uLnTx/>
                    <a:uFillTx/>
                    <a:latin typeface="+mj-ea"/>
                    <a:ea typeface="+mj-ea"/>
                    <a:cs typeface="+mn-cs"/>
                  </a:rPr>
                  <a:t>设施选址与规模：工厂、仓库、配送中心应设在哪里？规模多大？这直接影响成本、响应时间和税收。</a:t>
                </a:r>
              </a:p>
              <a:p>
                <a:pPr marL="742950" lvl="1" indent="-2857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bg1"/>
                    </a:solidFill>
                    <a:effectLst/>
                    <a:uLnTx/>
                    <a:uFillTx/>
                    <a:latin typeface="+mj-ea"/>
                    <a:ea typeface="+mj-ea"/>
                    <a:cs typeface="+mn-cs"/>
                  </a:rPr>
                  <a:t>所有权模式：是自建、外包还是采用混合模式？</a:t>
                </a:r>
              </a:p>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050" b="1" i="0" u="none" strike="noStrike" kern="1200" cap="none" spc="0" normalizeH="0" baseline="0" noProof="0" dirty="0">
                    <a:ln>
                      <a:noFill/>
                    </a:ln>
                    <a:solidFill>
                      <a:schemeClr val="bg1"/>
                    </a:solidFill>
                    <a:effectLst/>
                    <a:uLnTx/>
                    <a:uFillTx/>
                    <a:latin typeface="+mj-ea"/>
                    <a:ea typeface="+mj-ea"/>
                    <a:cs typeface="+mn-cs"/>
                  </a:rPr>
                  <a:t>运营模式决策：</a:t>
                </a:r>
              </a:p>
              <a:p>
                <a:pPr marL="628650" lvl="1" indent="-171450" defTabSz="913765">
                  <a:lnSpc>
                    <a:spcPct val="130000"/>
                  </a:lnSpc>
                  <a:buSzPct val="100000"/>
                  <a:buFont typeface="Arial" panose="020B0604020202020204" pitchFamily="34" charset="0"/>
                  <a:buChar char="•"/>
                  <a:defRPr/>
                </a:pPr>
                <a:r>
                  <a:rPr kumimoji="0" lang="en-US" altLang="zh-CN" sz="1050" b="0" i="0" u="none" strike="noStrike" kern="1200" cap="none" spc="0" normalizeH="0" baseline="0" noProof="0" dirty="0">
                    <a:ln>
                      <a:noFill/>
                    </a:ln>
                    <a:solidFill>
                      <a:schemeClr val="bg1"/>
                    </a:solidFill>
                    <a:effectLst/>
                    <a:uLnTx/>
                    <a:uFillTx/>
                    <a:latin typeface="+mj-ea"/>
                    <a:ea typeface="+mj-ea"/>
                    <a:cs typeface="+mn-cs"/>
                  </a:rPr>
                  <a:t>Make-to-Stock</a:t>
                </a:r>
                <a:r>
                  <a:rPr kumimoji="0" lang="zh-CN" altLang="en-US" sz="1050" b="0" i="0" u="none" strike="noStrike" kern="1200" cap="none" spc="0" normalizeH="0" baseline="0" noProof="0" dirty="0">
                    <a:ln>
                      <a:noFill/>
                    </a:ln>
                    <a:solidFill>
                      <a:schemeClr val="bg1"/>
                    </a:solidFill>
                    <a:effectLst/>
                    <a:uLnTx/>
                    <a:uFillTx/>
                    <a:latin typeface="+mj-ea"/>
                    <a:ea typeface="+mj-ea"/>
                    <a:cs typeface="+mn-cs"/>
                  </a:rPr>
                  <a:t>（按库存生产）：支持效率战略。</a:t>
                </a:r>
              </a:p>
              <a:p>
                <a:pPr marL="628650" lvl="1" indent="-171450" defTabSz="913765">
                  <a:lnSpc>
                    <a:spcPct val="130000"/>
                  </a:lnSpc>
                  <a:buSzPct val="100000"/>
                  <a:buFont typeface="Arial" panose="020B0604020202020204" pitchFamily="34" charset="0"/>
                  <a:buChar char="•"/>
                  <a:defRPr/>
                </a:pPr>
                <a:r>
                  <a:rPr kumimoji="0" lang="en-US" altLang="zh-CN" sz="1050" b="0" i="0" u="none" strike="noStrike" kern="1200" cap="none" spc="0" normalizeH="0" baseline="0" noProof="0" dirty="0">
                    <a:ln>
                      <a:noFill/>
                    </a:ln>
                    <a:solidFill>
                      <a:schemeClr val="bg1"/>
                    </a:solidFill>
                    <a:effectLst/>
                    <a:uLnTx/>
                    <a:uFillTx/>
                    <a:latin typeface="+mj-ea"/>
                    <a:ea typeface="+mj-ea"/>
                    <a:cs typeface="+mn-cs"/>
                  </a:rPr>
                  <a:t>Make-to-Order</a:t>
                </a:r>
                <a:r>
                  <a:rPr kumimoji="0" lang="zh-CN" altLang="en-US" sz="1050" b="0" i="0" u="none" strike="noStrike" kern="1200" cap="none" spc="0" normalizeH="0" baseline="0" noProof="0" dirty="0">
                    <a:ln>
                      <a:noFill/>
                    </a:ln>
                    <a:solidFill>
                      <a:schemeClr val="bg1"/>
                    </a:solidFill>
                    <a:effectLst/>
                    <a:uLnTx/>
                    <a:uFillTx/>
                    <a:latin typeface="+mj-ea"/>
                    <a:ea typeface="+mj-ea"/>
                    <a:cs typeface="+mn-cs"/>
                  </a:rPr>
                  <a:t>（按订单生产） </a:t>
                </a:r>
                <a:r>
                  <a:rPr kumimoji="0" lang="en-US" altLang="zh-CN" sz="1050" b="0" i="0" u="none" strike="noStrike" kern="1200" cap="none" spc="0" normalizeH="0" baseline="0" noProof="0" dirty="0">
                    <a:ln>
                      <a:noFill/>
                    </a:ln>
                    <a:solidFill>
                      <a:schemeClr val="bg1"/>
                    </a:solidFill>
                    <a:effectLst/>
                    <a:uLnTx/>
                    <a:uFillTx/>
                    <a:latin typeface="+mj-ea"/>
                    <a:ea typeface="+mj-ea"/>
                    <a:cs typeface="+mn-cs"/>
                  </a:rPr>
                  <a:t>/ Assemble-to-Order</a:t>
                </a:r>
                <a:r>
                  <a:rPr kumimoji="0" lang="zh-CN" altLang="en-US" sz="1050" b="0" i="0" u="none" strike="noStrike" kern="1200" cap="none" spc="0" normalizeH="0" baseline="0" noProof="0" dirty="0">
                    <a:ln>
                      <a:noFill/>
                    </a:ln>
                    <a:solidFill>
                      <a:schemeClr val="bg1"/>
                    </a:solidFill>
                    <a:effectLst/>
                    <a:uLnTx/>
                    <a:uFillTx/>
                    <a:latin typeface="+mj-ea"/>
                    <a:ea typeface="+mj-ea"/>
                    <a:cs typeface="+mn-cs"/>
                  </a:rPr>
                  <a:t>（按订单装配）：支持响应性和定制化战略。</a:t>
                </a:r>
              </a:p>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050" b="1" i="0" u="none" strike="noStrike" kern="1200" cap="none" spc="0" normalizeH="0" baseline="0" noProof="0" dirty="0">
                    <a:ln>
                      <a:noFill/>
                    </a:ln>
                    <a:solidFill>
                      <a:schemeClr val="bg1"/>
                    </a:solidFill>
                    <a:effectLst/>
                    <a:uLnTx/>
                    <a:uFillTx/>
                    <a:latin typeface="+mj-ea"/>
                    <a:ea typeface="+mj-ea"/>
                    <a:cs typeface="+mn-cs"/>
                  </a:rPr>
                  <a:t>技术决策</a:t>
                </a:r>
                <a:r>
                  <a:rPr kumimoji="0" lang="zh-CN" altLang="en-US" sz="1050" b="0" i="0" u="none" strike="noStrike" kern="1200" cap="none" spc="0" normalizeH="0" baseline="0" noProof="0" dirty="0">
                    <a:ln>
                      <a:noFill/>
                    </a:ln>
                    <a:solidFill>
                      <a:schemeClr val="bg1"/>
                    </a:solidFill>
                    <a:effectLst/>
                    <a:uLnTx/>
                    <a:uFillTx/>
                    <a:latin typeface="+mj-ea"/>
                    <a:ea typeface="+mj-ea"/>
                    <a:cs typeface="+mn-cs"/>
                  </a:rPr>
                  <a:t>：</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bg1"/>
                    </a:solidFill>
                    <a:effectLst/>
                    <a:uLnTx/>
                    <a:uFillTx/>
                    <a:latin typeface="+mj-ea"/>
                    <a:ea typeface="+mj-ea"/>
                    <a:cs typeface="+mn-cs"/>
                  </a:rPr>
                  <a:t>选择何种信息系统（如</a:t>
                </a:r>
                <a:r>
                  <a:rPr kumimoji="0" lang="en-US" altLang="zh-CN" sz="1050" b="0" i="0" u="none" strike="noStrike" kern="1200" cap="none" spc="0" normalizeH="0" baseline="0" noProof="0" dirty="0">
                    <a:ln>
                      <a:noFill/>
                    </a:ln>
                    <a:solidFill>
                      <a:schemeClr val="bg1"/>
                    </a:solidFill>
                    <a:effectLst/>
                    <a:uLnTx/>
                    <a:uFillTx/>
                    <a:latin typeface="+mj-ea"/>
                    <a:ea typeface="+mj-ea"/>
                    <a:cs typeface="+mn-cs"/>
                  </a:rPr>
                  <a:t>ERP</a:t>
                </a:r>
                <a:r>
                  <a:rPr kumimoji="0" lang="zh-CN" altLang="en-US" sz="1050" b="0" i="0" u="none" strike="noStrike" kern="1200" cap="none" spc="0" normalizeH="0" baseline="0" noProof="0" dirty="0">
                    <a:ln>
                      <a:noFill/>
                    </a:ln>
                    <a:solidFill>
                      <a:schemeClr val="bg1"/>
                    </a:solidFill>
                    <a:effectLst/>
                    <a:uLnTx/>
                    <a:uFillTx/>
                    <a:latin typeface="+mj-ea"/>
                    <a:ea typeface="+mj-ea"/>
                    <a:cs typeface="+mn-cs"/>
                  </a:rPr>
                  <a:t>、高级计划系统）来实现端到端的可视性和集成。</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bg1"/>
                    </a:solidFill>
                    <a:effectLst/>
                    <a:uLnTx/>
                    <a:uFillTx/>
                    <a:latin typeface="+mj-ea"/>
                    <a:ea typeface="+mj-ea"/>
                    <a:cs typeface="+mn-cs"/>
                  </a:rPr>
                  <a:t>如何利用数据分析、物联网等技术进行预测和优化。</a:t>
                </a:r>
              </a:p>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050" b="1" i="0" u="none" strike="noStrike" kern="1200" cap="none" spc="0" normalizeH="0" baseline="0" noProof="0" dirty="0">
                    <a:ln>
                      <a:noFill/>
                    </a:ln>
                    <a:solidFill>
                      <a:schemeClr val="bg1"/>
                    </a:solidFill>
                    <a:effectLst/>
                    <a:uLnTx/>
                    <a:uFillTx/>
                    <a:latin typeface="+mj-ea"/>
                    <a:ea typeface="+mj-ea"/>
                    <a:cs typeface="+mn-cs"/>
                  </a:rPr>
                  <a:t>供应商关系管理（</a:t>
                </a:r>
                <a:r>
                  <a:rPr kumimoji="0" lang="en-US" altLang="zh-CN" sz="1050" b="1" i="0" u="none" strike="noStrike" kern="1200" cap="none" spc="0" normalizeH="0" baseline="0" noProof="0" dirty="0">
                    <a:ln>
                      <a:noFill/>
                    </a:ln>
                    <a:solidFill>
                      <a:schemeClr val="bg1"/>
                    </a:solidFill>
                    <a:effectLst/>
                    <a:uLnTx/>
                    <a:uFillTx/>
                    <a:latin typeface="+mj-ea"/>
                    <a:ea typeface="+mj-ea"/>
                    <a:cs typeface="+mn-cs"/>
                  </a:rPr>
                  <a:t>SRM</a:t>
                </a:r>
                <a:r>
                  <a:rPr kumimoji="0" lang="zh-CN" altLang="en-US" sz="1050" b="1" i="0" u="none" strike="noStrike" kern="1200" cap="none" spc="0" normalizeH="0" baseline="0" noProof="0" dirty="0">
                    <a:ln>
                      <a:noFill/>
                    </a:ln>
                    <a:solidFill>
                      <a:schemeClr val="bg1"/>
                    </a:solidFill>
                    <a:effectLst/>
                    <a:uLnTx/>
                    <a:uFillTx/>
                    <a:latin typeface="+mj-ea"/>
                    <a:ea typeface="+mj-ea"/>
                    <a:cs typeface="+mn-cs"/>
                  </a:rPr>
                  <a:t>）决策：</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bg1"/>
                    </a:solidFill>
                    <a:effectLst/>
                    <a:uLnTx/>
                    <a:uFillTx/>
                    <a:latin typeface="+mj-ea"/>
                    <a:ea typeface="+mj-ea"/>
                    <a:cs typeface="+mn-cs"/>
                  </a:rPr>
                  <a:t>供应商细分：根据物料的战略重要性和供应风险，将供应商分为交易型、优先型、战略型等，并采取不同的管理策略。</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bg1"/>
                    </a:solidFill>
                    <a:effectLst/>
                    <a:uLnTx/>
                    <a:uFillTx/>
                    <a:latin typeface="+mj-ea"/>
                    <a:ea typeface="+mj-ea"/>
                    <a:cs typeface="+mn-cs"/>
                  </a:rPr>
                  <a:t>外包与自制决策：专注于核心能力，将非核心业务外包。</a:t>
                </a:r>
              </a:p>
              <a:p>
                <a:pPr marL="171450" marR="0" lvl="0" indent="-171450" defTabSz="913765" rtl="0" eaLnBrk="1" fontAlgn="auto" latinLnBrk="0" hangingPunct="1">
                  <a:lnSpc>
                    <a:spcPct val="130000"/>
                  </a:lnSpc>
                  <a:spcBef>
                    <a:spcPts val="0"/>
                  </a:spcBef>
                  <a:spcAft>
                    <a:spcPts val="0"/>
                  </a:spcAft>
                  <a:buClrTx/>
                  <a:buSzPct val="100000"/>
                  <a:buFont typeface="Arial" panose="020B0604020202020204" pitchFamily="34" charset="0"/>
                  <a:buChar char="•"/>
                  <a:tabLst/>
                  <a:defRPr/>
                </a:pPr>
                <a:r>
                  <a:rPr kumimoji="0" lang="zh-CN" altLang="en-US" sz="1050" b="1" i="0" u="none" strike="noStrike" kern="1200" cap="none" spc="0" normalizeH="0" baseline="0" noProof="0" dirty="0">
                    <a:ln>
                      <a:noFill/>
                    </a:ln>
                    <a:solidFill>
                      <a:schemeClr val="bg1"/>
                    </a:solidFill>
                    <a:effectLst/>
                    <a:uLnTx/>
                    <a:uFillTx/>
                    <a:latin typeface="+mj-ea"/>
                    <a:ea typeface="+mj-ea"/>
                    <a:cs typeface="+mn-cs"/>
                  </a:rPr>
                  <a:t>风险管理决策：</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bg1"/>
                    </a:solidFill>
                    <a:effectLst/>
                    <a:uLnTx/>
                    <a:uFillTx/>
                    <a:latin typeface="+mj-ea"/>
                    <a:ea typeface="+mj-ea"/>
                    <a:cs typeface="+mn-cs"/>
                  </a:rPr>
                  <a:t>识别、评估和缓解供应链中的各种风险（供应中断、价格波动、合规问题等）</a:t>
                </a:r>
                <a:endParaRPr kumimoji="0" lang="en-GB" altLang="zh-CN" sz="1050" b="0" i="0" u="none" strike="noStrike" kern="1200" cap="none" spc="0" normalizeH="0" baseline="0" noProof="0" dirty="0">
                  <a:ln>
                    <a:noFill/>
                  </a:ln>
                  <a:solidFill>
                    <a:schemeClr val="bg1"/>
                  </a:solidFill>
                  <a:effectLst/>
                  <a:uLnTx/>
                  <a:uFillTx/>
                  <a:latin typeface="+mj-ea"/>
                  <a:ea typeface="+mj-ea"/>
                  <a:cs typeface="+mn-cs"/>
                </a:endParaRPr>
              </a:p>
            </p:txBody>
          </p:sp>
        </p:grpSp>
      </p:grpSp>
    </p:spTree>
    <p:extLst>
      <p:ext uri="{BB962C8B-B14F-4D97-AF65-F5344CB8AC3E}">
        <p14:creationId xmlns:p14="http://schemas.microsoft.com/office/powerpoint/2010/main" val="1330512005"/>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D0AA9E4-7300-6A1A-0F28-9F569942AF75}"/>
              </a:ext>
            </a:extLst>
          </p:cNvPr>
          <p:cNvSpPr>
            <a:spLocks noGrp="1"/>
          </p:cNvSpPr>
          <p:nvPr>
            <p:ph type="title"/>
          </p:nvPr>
        </p:nvSpPr>
        <p:spPr/>
        <p:txBody>
          <a:bodyPr/>
          <a:lstStyle/>
          <a:p>
            <a:r>
              <a:rPr lang="zh-CN" altLang="en-US" dirty="0"/>
              <a:t>计划与控制是供应链的神经中枢系统</a:t>
            </a:r>
          </a:p>
        </p:txBody>
      </p:sp>
      <p:grpSp>
        <p:nvGrpSpPr>
          <p:cNvPr id="125" name="组合 124">
            <a:extLst>
              <a:ext uri="{FF2B5EF4-FFF2-40B4-BE49-F238E27FC236}">
                <a16:creationId xmlns:a16="http://schemas.microsoft.com/office/drawing/2014/main" id="{710859DE-9007-6731-2857-4FF4AF9117CC}"/>
              </a:ext>
            </a:extLst>
          </p:cNvPr>
          <p:cNvGrpSpPr>
            <a:grpSpLocks noChangeAspect="1"/>
          </p:cNvGrpSpPr>
          <p:nvPr>
            <p:custDataLst>
              <p:tags r:id="rId1"/>
            </p:custDataLst>
          </p:nvPr>
        </p:nvGrpSpPr>
        <p:grpSpPr>
          <a:xfrm>
            <a:off x="735103" y="625968"/>
            <a:ext cx="10858499" cy="6154955"/>
            <a:chOff x="910364" y="1245204"/>
            <a:chExt cx="5136638" cy="4115583"/>
          </a:xfrm>
        </p:grpSpPr>
        <p:grpSp>
          <p:nvGrpSpPr>
            <p:cNvPr id="126" name="组合 125">
              <a:extLst>
                <a:ext uri="{FF2B5EF4-FFF2-40B4-BE49-F238E27FC236}">
                  <a16:creationId xmlns:a16="http://schemas.microsoft.com/office/drawing/2014/main" id="{9A9BAC8E-2199-0725-800E-FB14B6A142D5}"/>
                </a:ext>
              </a:extLst>
            </p:cNvPr>
            <p:cNvGrpSpPr/>
            <p:nvPr/>
          </p:nvGrpSpPr>
          <p:grpSpPr>
            <a:xfrm>
              <a:off x="910364" y="1245204"/>
              <a:ext cx="5136638" cy="1476008"/>
              <a:chOff x="645969" y="1152842"/>
              <a:chExt cx="5136638" cy="1476008"/>
            </a:xfrm>
          </p:grpSpPr>
          <p:sp>
            <p:nvSpPr>
              <p:cNvPr id="137" name="1">
                <a:extLst>
                  <a:ext uri="{FF2B5EF4-FFF2-40B4-BE49-F238E27FC236}">
                    <a16:creationId xmlns:a16="http://schemas.microsoft.com/office/drawing/2014/main" id="{89131DCC-F1E1-9B1C-B53C-139ECD16515C}"/>
                  </a:ext>
                </a:extLst>
              </p:cNvPr>
              <p:cNvSpPr/>
              <p:nvPr/>
            </p:nvSpPr>
            <p:spPr>
              <a:xfrm>
                <a:off x="908629" y="1155323"/>
                <a:ext cx="4866638" cy="1473527"/>
              </a:xfrm>
              <a:prstGeom prst="roundRect">
                <a:avLst>
                  <a:gd name="adj" fmla="val 91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242640" tIns="45720" rIns="174240" bIns="45720" rtlCol="0" anchor="ctr"/>
              <a:lstStyle/>
              <a:p>
                <a:pPr>
                  <a:lnSpc>
                    <a:spcPct val="130000"/>
                  </a:lnSpc>
                </a:pPr>
                <a:endParaRPr kumimoji="1" lang="en-US" altLang="zh-CN" sz="1050" dirty="0">
                  <a:solidFill>
                    <a:schemeClr val="tx1"/>
                  </a:solidFill>
                  <a:cs typeface="+mn-ea"/>
                  <a:sym typeface="+mn-lt"/>
                </a:endParaRPr>
              </a:p>
            </p:txBody>
          </p:sp>
          <p:sp>
            <p:nvSpPr>
              <p:cNvPr id="138" name="Index-1">
                <a:extLst>
                  <a:ext uri="{FF2B5EF4-FFF2-40B4-BE49-F238E27FC236}">
                    <a16:creationId xmlns:a16="http://schemas.microsoft.com/office/drawing/2014/main" id="{BCED3E4B-EDC1-6279-486D-83E145013352}"/>
                  </a:ext>
                </a:extLst>
              </p:cNvPr>
              <p:cNvSpPr txBox="1">
                <a:spLocks noChangeAspect="1"/>
              </p:cNvSpPr>
              <p:nvPr>
                <p:custDataLst>
                  <p:tags r:id="rId8"/>
                </p:custDataLst>
              </p:nvPr>
            </p:nvSpPr>
            <p:spPr>
              <a:xfrm>
                <a:off x="645969" y="1616787"/>
                <a:ext cx="540000" cy="540000"/>
              </a:xfrm>
              <a:prstGeom prst="roundRect">
                <a:avLst>
                  <a:gd name="adj" fmla="val 50000"/>
                </a:avLst>
              </a:prstGeom>
              <a:solidFill>
                <a:schemeClr val="accent1"/>
              </a:solidFill>
              <a:ln w="12700" cap="flat">
                <a:noFill/>
                <a:prstDash val="solid"/>
                <a:miter/>
              </a:ln>
              <a:effectLst>
                <a:outerShdw blurRad="127000" dist="63500" dir="2700000" algn="tl" rotWithShape="0">
                  <a:schemeClr val="accent1">
                    <a:alpha val="40000"/>
                  </a:schemeClr>
                </a:outerShdw>
              </a:effectLst>
            </p:spPr>
            <p:txBody>
              <a:bodyPr wrap="none" rtlCol="0" anchor="ctr"/>
              <a:lstStyle>
                <a:defPPr>
                  <a:defRPr lang="zh-CN"/>
                </a:defPPr>
                <a:lvl1pPr algn="ctr">
                  <a:defRPr b="1">
                    <a:solidFill>
                      <a:srgbClr val="FFFFFF"/>
                    </a:solidFill>
                    <a:latin typeface="Arial" panose="020B0604020202020204" pitchFamily="34" charset="0"/>
                    <a:ea typeface="Microsoft YaHei" panose="020B0503020204020204" pitchFamily="34" charset="-122"/>
                  </a:defRPr>
                </a:lvl1pPr>
              </a:lstStyle>
              <a:p>
                <a:r>
                  <a:rPr lang="en-US" altLang="zh-CN" sz="1100" dirty="0">
                    <a:solidFill>
                      <a:schemeClr val="tx1"/>
                    </a:solidFill>
                    <a:latin typeface="+mn-lt"/>
                    <a:ea typeface="+mn-ea"/>
                    <a:cs typeface="+mn-ea"/>
                    <a:sym typeface="+mn-lt"/>
                  </a:rPr>
                  <a:t>01</a:t>
                </a:r>
                <a:endParaRPr lang="zh-CN" altLang="en-US" sz="1100" dirty="0">
                  <a:solidFill>
                    <a:schemeClr val="tx1"/>
                  </a:solidFill>
                  <a:latin typeface="+mn-lt"/>
                  <a:ea typeface="+mn-ea"/>
                  <a:cs typeface="+mn-ea"/>
                  <a:sym typeface="+mn-lt"/>
                </a:endParaRPr>
              </a:p>
            </p:txBody>
          </p:sp>
          <p:sp>
            <p:nvSpPr>
              <p:cNvPr id="139" name="Title-1">
                <a:extLst>
                  <a:ext uri="{FF2B5EF4-FFF2-40B4-BE49-F238E27FC236}">
                    <a16:creationId xmlns:a16="http://schemas.microsoft.com/office/drawing/2014/main" id="{8758E37F-1C40-348C-7046-BCB41AE3F856}"/>
                  </a:ext>
                </a:extLst>
              </p:cNvPr>
              <p:cNvSpPr txBox="1"/>
              <p:nvPr>
                <p:custDataLst>
                  <p:tags r:id="rId9"/>
                </p:custDataLst>
              </p:nvPr>
            </p:nvSpPr>
            <p:spPr>
              <a:xfrm>
                <a:off x="1298644" y="1152842"/>
                <a:ext cx="2458594" cy="263420"/>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a:ln>
                      <a:noFill/>
                    </a:ln>
                    <a:effectLst/>
                    <a:uLnTx/>
                    <a:uFillTx/>
                    <a:latin typeface="Arial" panose="020B0604020202020204" pitchFamily="34" charset="0"/>
                    <a:ea typeface="黑体" panose="02010609060101010101" pitchFamily="49" charset="-122"/>
                    <a:cs typeface="+mn-cs"/>
                  </a:rPr>
                  <a:t>战略对齐的桥梁：</a:t>
                </a:r>
                <a:endParaRPr kumimoji="0" lang="zh-CN" altLang="en-US" sz="1200" b="1" i="0" u="none" strike="noStrike" kern="0" cap="none" spc="0" normalizeH="0" baseline="0" noProof="0" dirty="0">
                  <a:ln>
                    <a:noFill/>
                  </a:ln>
                  <a:effectLst/>
                  <a:uLnTx/>
                  <a:uFillTx/>
                  <a:latin typeface="Arial" panose="020B0604020202020204" pitchFamily="34" charset="0"/>
                  <a:ea typeface="黑体" panose="02010609060101010101" pitchFamily="49" charset="-122"/>
                  <a:cs typeface="+mn-cs"/>
                </a:endParaRPr>
              </a:p>
            </p:txBody>
          </p:sp>
          <p:sp>
            <p:nvSpPr>
              <p:cNvPr id="140" name="Body-1">
                <a:extLst>
                  <a:ext uri="{FF2B5EF4-FFF2-40B4-BE49-F238E27FC236}">
                    <a16:creationId xmlns:a16="http://schemas.microsoft.com/office/drawing/2014/main" id="{5AA91AE9-B8A5-A54F-FB14-43F11946004A}"/>
                  </a:ext>
                </a:extLst>
              </p:cNvPr>
              <p:cNvSpPr/>
              <p:nvPr>
                <p:custDataLst>
                  <p:tags r:id="rId10"/>
                </p:custDataLst>
              </p:nvPr>
            </p:nvSpPr>
            <p:spPr>
              <a:xfrm>
                <a:off x="1305985" y="1251110"/>
                <a:ext cx="4476622" cy="698404"/>
              </a:xfrm>
              <a:prstGeom prst="rect">
                <a:avLst/>
              </a:prstGeom>
              <a:noFill/>
              <a:ln w="12700" cap="flat" cmpd="sng" algn="ctr">
                <a:noFill/>
                <a:prstDash val="solid"/>
                <a:miter lim="800000"/>
              </a:ln>
              <a:effectLst/>
            </p:spPr>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71450"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作用：计划系统将企业战略（如成本领先、差异化或聚焦）转化为具体的供应链操作计划。</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如果企业采用成本领先战略，计划与控制侧重于效率优化：通过预测驱动（推式）计划，实现大规模生产、库存最小化和成本控制。控制机制监控成本偏差，确保运营符合预算。 </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如果企业采用差异化战略，计划与控制侧重于响应性和灵活性：采用需求驱动（拉式）或推</a:t>
                </a:r>
                <a:r>
                  <a:rPr kumimoji="0" lang="en-US"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a:t>
                </a: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拉结合计划，如按订单生产（</a:t>
                </a:r>
                <a:r>
                  <a:rPr kumimoji="0" lang="en-US"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MTO</a:t>
                </a: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）或延迟策略。控制系统实时调整生产计划，以应对客户定制需求，确保高质量和快速交付。</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如果企业采用聚焦战略，计划与控制必须量身定制：针对特定细分市场，平衡成本与响应性。例如，为高端专业人士生产工具时，计划可能结合推</a:t>
                </a:r>
                <a:r>
                  <a:rPr kumimoji="0" lang="en-US"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a:t>
                </a: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拉策略，确保小批量、高精度生产。</a:t>
                </a:r>
              </a:p>
              <a:p>
                <a:pPr marL="171450"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角色：计划系统将战略目标分解为可执行的任务（如需求预测、生产调度），而控制系统通过绩效指标（如库存周转率、订单履行率）监控执行情况，确保战略落地。</a:t>
                </a:r>
                <a:endParaRPr kumimoji="0" lang="en-GB"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endParaRPr>
              </a:p>
            </p:txBody>
          </p:sp>
        </p:grpSp>
        <p:grpSp>
          <p:nvGrpSpPr>
            <p:cNvPr id="127" name="组合 126">
              <a:extLst>
                <a:ext uri="{FF2B5EF4-FFF2-40B4-BE49-F238E27FC236}">
                  <a16:creationId xmlns:a16="http://schemas.microsoft.com/office/drawing/2014/main" id="{8CB2FEB9-AB43-E214-2DAF-4530D7B2F210}"/>
                </a:ext>
              </a:extLst>
            </p:cNvPr>
            <p:cNvGrpSpPr/>
            <p:nvPr/>
          </p:nvGrpSpPr>
          <p:grpSpPr>
            <a:xfrm>
              <a:off x="910364" y="2810781"/>
              <a:ext cx="5129298" cy="1230219"/>
              <a:chOff x="645969" y="2718419"/>
              <a:chExt cx="5129298" cy="1230219"/>
            </a:xfrm>
          </p:grpSpPr>
          <p:sp>
            <p:nvSpPr>
              <p:cNvPr id="133" name="2">
                <a:extLst>
                  <a:ext uri="{FF2B5EF4-FFF2-40B4-BE49-F238E27FC236}">
                    <a16:creationId xmlns:a16="http://schemas.microsoft.com/office/drawing/2014/main" id="{4EAF0FD9-DA5D-63D9-AEE3-A9A4ACB875D4}"/>
                  </a:ext>
                </a:extLst>
              </p:cNvPr>
              <p:cNvSpPr/>
              <p:nvPr/>
            </p:nvSpPr>
            <p:spPr>
              <a:xfrm>
                <a:off x="908629" y="2724638"/>
                <a:ext cx="4866638" cy="1224000"/>
              </a:xfrm>
              <a:prstGeom prst="roundRect">
                <a:avLst>
                  <a:gd name="adj" fmla="val 91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30000"/>
                  </a:lnSpc>
                </a:pPr>
                <a:endParaRPr kumimoji="1" lang="en-US" altLang="zh-CN" sz="1000" dirty="0">
                  <a:solidFill>
                    <a:schemeClr val="tx1"/>
                  </a:solidFill>
                  <a:cs typeface="+mn-ea"/>
                  <a:sym typeface="+mn-lt"/>
                </a:endParaRPr>
              </a:p>
            </p:txBody>
          </p:sp>
          <p:sp>
            <p:nvSpPr>
              <p:cNvPr id="134" name="Index-2">
                <a:extLst>
                  <a:ext uri="{FF2B5EF4-FFF2-40B4-BE49-F238E27FC236}">
                    <a16:creationId xmlns:a16="http://schemas.microsoft.com/office/drawing/2014/main" id="{6B225FE8-1DD5-FBDA-D623-E2707A147821}"/>
                  </a:ext>
                </a:extLst>
              </p:cNvPr>
              <p:cNvSpPr txBox="1">
                <a:spLocks noChangeAspect="1"/>
              </p:cNvSpPr>
              <p:nvPr>
                <p:custDataLst>
                  <p:tags r:id="rId5"/>
                </p:custDataLst>
              </p:nvPr>
            </p:nvSpPr>
            <p:spPr>
              <a:xfrm>
                <a:off x="645969" y="3018744"/>
                <a:ext cx="540000" cy="540000"/>
              </a:xfrm>
              <a:prstGeom prst="roundRect">
                <a:avLst>
                  <a:gd name="adj" fmla="val 50000"/>
                </a:avLst>
              </a:prstGeom>
              <a:solidFill>
                <a:schemeClr val="accent2"/>
              </a:solidFill>
              <a:ln w="12700" cap="flat">
                <a:noFill/>
                <a:prstDash val="solid"/>
                <a:miter/>
              </a:ln>
              <a:effectLst>
                <a:outerShdw blurRad="127000" dist="63500" dir="2700000" algn="tl" rotWithShape="0">
                  <a:schemeClr val="accent2">
                    <a:alpha val="40000"/>
                  </a:schemeClr>
                </a:outerShdw>
              </a:effectLst>
            </p:spPr>
            <p:txBody>
              <a:bodyPr wrap="none" rtlCol="0" anchor="ctr"/>
              <a:lstStyle>
                <a:defPPr>
                  <a:defRPr lang="zh-CN"/>
                </a:defPPr>
                <a:lvl1pPr algn="ctr">
                  <a:defRPr b="1">
                    <a:solidFill>
                      <a:srgbClr val="FFFFFF"/>
                    </a:solidFill>
                    <a:latin typeface="Arial" panose="020B0604020202020204" pitchFamily="34" charset="0"/>
                    <a:ea typeface="Microsoft YaHei" panose="020B0503020204020204" pitchFamily="34" charset="-122"/>
                  </a:defRPr>
                </a:lvl1pPr>
              </a:lstStyle>
              <a:p>
                <a:r>
                  <a:rPr lang="en-US" altLang="zh-CN" sz="1100" dirty="0">
                    <a:solidFill>
                      <a:schemeClr val="tx1"/>
                    </a:solidFill>
                    <a:latin typeface="+mn-lt"/>
                    <a:ea typeface="+mn-ea"/>
                    <a:cs typeface="+mn-ea"/>
                    <a:sym typeface="+mn-lt"/>
                  </a:rPr>
                  <a:t>02</a:t>
                </a:r>
                <a:endParaRPr lang="zh-CN" altLang="en-US" sz="1100" dirty="0">
                  <a:solidFill>
                    <a:schemeClr val="tx1"/>
                  </a:solidFill>
                  <a:latin typeface="+mn-lt"/>
                  <a:ea typeface="+mn-ea"/>
                  <a:cs typeface="+mn-ea"/>
                  <a:sym typeface="+mn-lt"/>
                </a:endParaRPr>
              </a:p>
            </p:txBody>
          </p:sp>
          <p:sp>
            <p:nvSpPr>
              <p:cNvPr id="135" name="Title-2">
                <a:extLst>
                  <a:ext uri="{FF2B5EF4-FFF2-40B4-BE49-F238E27FC236}">
                    <a16:creationId xmlns:a16="http://schemas.microsoft.com/office/drawing/2014/main" id="{BA1D2E2C-5EE6-E8CE-F0AF-2D5C17272505}"/>
                  </a:ext>
                </a:extLst>
              </p:cNvPr>
              <p:cNvSpPr txBox="1"/>
              <p:nvPr>
                <p:custDataLst>
                  <p:tags r:id="rId6"/>
                </p:custDataLst>
              </p:nvPr>
            </p:nvSpPr>
            <p:spPr>
              <a:xfrm>
                <a:off x="1245095" y="2718419"/>
                <a:ext cx="2458594" cy="263420"/>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a:ln>
                      <a:noFill/>
                    </a:ln>
                    <a:effectLst/>
                    <a:uLnTx/>
                    <a:uFillTx/>
                    <a:latin typeface="Arial" panose="020B0604020202020204" pitchFamily="34" charset="0"/>
                    <a:ea typeface="黑体" panose="02010609060101010101" pitchFamily="49" charset="-122"/>
                    <a:cs typeface="+mn-cs"/>
                  </a:rPr>
                  <a:t>价值创造的关键工具：</a:t>
                </a:r>
              </a:p>
            </p:txBody>
          </p:sp>
          <p:sp>
            <p:nvSpPr>
              <p:cNvPr id="136" name="Body-2">
                <a:extLst>
                  <a:ext uri="{FF2B5EF4-FFF2-40B4-BE49-F238E27FC236}">
                    <a16:creationId xmlns:a16="http://schemas.microsoft.com/office/drawing/2014/main" id="{D2E45EE3-5A4C-66B2-6342-4B045981D078}"/>
                  </a:ext>
                </a:extLst>
              </p:cNvPr>
              <p:cNvSpPr/>
              <p:nvPr>
                <p:custDataLst>
                  <p:tags r:id="rId7"/>
                </p:custDataLst>
              </p:nvPr>
            </p:nvSpPr>
            <p:spPr>
              <a:xfrm>
                <a:off x="1255392" y="2882034"/>
                <a:ext cx="4363945" cy="698404"/>
              </a:xfrm>
              <a:prstGeom prst="rect">
                <a:avLst/>
              </a:prstGeom>
              <a:noFill/>
              <a:ln w="12700" cap="flat" cmpd="sng" algn="ctr">
                <a:noFill/>
                <a:prstDash val="solid"/>
                <a:miter lim="800000"/>
              </a:ln>
              <a:effectLst/>
            </p:spPr>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71450"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计划与控制直接贡献于供应链价值创造维度： </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速度（</a:t>
                </a:r>
                <a:r>
                  <a:rPr kumimoji="0" lang="en-US"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Velocity</a:t>
                </a: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）：计划系统优化流程（如生产排程、物流路线），缩短周期时间；控制系统跟踪延迟，及时纠正。 </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可视性（</a:t>
                </a:r>
                <a:r>
                  <a:rPr kumimoji="0" lang="en-US"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Visibility</a:t>
                </a: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）：计划系统集成数据（如需求、库存水平），提供端到端洞察；控制系统通过实时仪表板报警异常，增强透明度。 </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可变性降低（</a:t>
                </a:r>
                <a:r>
                  <a:rPr kumimoji="0" lang="en-US"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Reduced Variability</a:t>
                </a: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）：计划系统使用统计方法平滑需求波动；控制系统通过标准化流程减少操作偏差，提高可靠性。</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韧性（</a:t>
                </a:r>
                <a:r>
                  <a:rPr kumimoji="0" lang="en-US"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Resilience</a:t>
                </a: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）：计划系统包含风险缓冲（如安全库存）；控制系统监测中断事件（如供应商延迟），触发应急计划。 </a:t>
                </a:r>
              </a:p>
              <a:p>
                <a:pPr marL="171450"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角色：计划是“前瞻性”的，预测未来需求并资源配置；控制是“反馈性”的，评估实际绩效并调整行动，共同确保供应链的稳定性和适应性。</a:t>
                </a:r>
                <a:endParaRPr kumimoji="0" lang="en-GB"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endParaRPr>
              </a:p>
            </p:txBody>
          </p:sp>
        </p:grpSp>
        <p:grpSp>
          <p:nvGrpSpPr>
            <p:cNvPr id="128" name="组合 127">
              <a:extLst>
                <a:ext uri="{FF2B5EF4-FFF2-40B4-BE49-F238E27FC236}">
                  <a16:creationId xmlns:a16="http://schemas.microsoft.com/office/drawing/2014/main" id="{8A0B5895-6E99-8B7F-B4D1-B9A5A2EBFA0E}"/>
                </a:ext>
              </a:extLst>
            </p:cNvPr>
            <p:cNvGrpSpPr/>
            <p:nvPr/>
          </p:nvGrpSpPr>
          <p:grpSpPr>
            <a:xfrm>
              <a:off x="910364" y="4136787"/>
              <a:ext cx="5136638" cy="1224000"/>
              <a:chOff x="645969" y="4044425"/>
              <a:chExt cx="5136638" cy="1224000"/>
            </a:xfrm>
          </p:grpSpPr>
          <p:sp>
            <p:nvSpPr>
              <p:cNvPr id="129" name="3">
                <a:extLst>
                  <a:ext uri="{FF2B5EF4-FFF2-40B4-BE49-F238E27FC236}">
                    <a16:creationId xmlns:a16="http://schemas.microsoft.com/office/drawing/2014/main" id="{0C263A93-496E-FE37-F562-C93742123696}"/>
                  </a:ext>
                </a:extLst>
              </p:cNvPr>
              <p:cNvSpPr/>
              <p:nvPr/>
            </p:nvSpPr>
            <p:spPr>
              <a:xfrm>
                <a:off x="915969" y="4044425"/>
                <a:ext cx="4866638" cy="1224000"/>
              </a:xfrm>
              <a:prstGeom prst="roundRect">
                <a:avLst>
                  <a:gd name="adj" fmla="val 91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30000"/>
                  </a:lnSpc>
                </a:pPr>
                <a:endParaRPr kumimoji="1" lang="en-US" altLang="zh-CN" sz="1000" dirty="0">
                  <a:solidFill>
                    <a:schemeClr val="tx1"/>
                  </a:solidFill>
                  <a:cs typeface="+mn-ea"/>
                  <a:sym typeface="+mn-lt"/>
                </a:endParaRPr>
              </a:p>
            </p:txBody>
          </p:sp>
          <p:sp>
            <p:nvSpPr>
              <p:cNvPr id="130" name="Index-3">
                <a:extLst>
                  <a:ext uri="{FF2B5EF4-FFF2-40B4-BE49-F238E27FC236}">
                    <a16:creationId xmlns:a16="http://schemas.microsoft.com/office/drawing/2014/main" id="{0A57C480-42FC-1072-B10D-BE94E31AB9E9}"/>
                  </a:ext>
                </a:extLst>
              </p:cNvPr>
              <p:cNvSpPr txBox="1">
                <a:spLocks noChangeAspect="1"/>
              </p:cNvSpPr>
              <p:nvPr>
                <p:custDataLst>
                  <p:tags r:id="rId2"/>
                </p:custDataLst>
              </p:nvPr>
            </p:nvSpPr>
            <p:spPr>
              <a:xfrm>
                <a:off x="645969" y="4492142"/>
                <a:ext cx="540000" cy="540000"/>
              </a:xfrm>
              <a:prstGeom prst="roundRect">
                <a:avLst>
                  <a:gd name="adj" fmla="val 50000"/>
                </a:avLst>
              </a:prstGeom>
              <a:solidFill>
                <a:schemeClr val="accent1"/>
              </a:solidFill>
              <a:ln w="12700" cap="flat">
                <a:noFill/>
                <a:prstDash val="solid"/>
                <a:miter/>
              </a:ln>
              <a:effectLst>
                <a:outerShdw blurRad="127000" dist="63500" dir="2700000" algn="tl" rotWithShape="0">
                  <a:schemeClr val="accent1">
                    <a:alpha val="40000"/>
                  </a:schemeClr>
                </a:outerShdw>
              </a:effectLst>
            </p:spPr>
            <p:txBody>
              <a:bodyPr wrap="none" rtlCol="0" anchor="ctr"/>
              <a:lstStyle>
                <a:defPPr>
                  <a:defRPr lang="zh-CN"/>
                </a:defPPr>
                <a:lvl1pPr algn="ctr">
                  <a:defRPr b="1">
                    <a:solidFill>
                      <a:srgbClr val="FFFFFF"/>
                    </a:solidFill>
                    <a:latin typeface="Arial" panose="020B0604020202020204" pitchFamily="34" charset="0"/>
                    <a:ea typeface="Microsoft YaHei" panose="020B0503020204020204" pitchFamily="34" charset="-122"/>
                  </a:defRPr>
                </a:lvl1pPr>
              </a:lstStyle>
              <a:p>
                <a:r>
                  <a:rPr lang="en-US" altLang="zh-CN" sz="1100" dirty="0">
                    <a:solidFill>
                      <a:schemeClr val="tx1"/>
                    </a:solidFill>
                    <a:latin typeface="+mn-lt"/>
                    <a:ea typeface="+mn-ea"/>
                    <a:cs typeface="+mn-ea"/>
                    <a:sym typeface="+mn-lt"/>
                  </a:rPr>
                  <a:t>03</a:t>
                </a:r>
                <a:endParaRPr lang="zh-CN" altLang="en-US" sz="1100" dirty="0">
                  <a:solidFill>
                    <a:schemeClr val="tx1"/>
                  </a:solidFill>
                  <a:latin typeface="+mn-lt"/>
                  <a:ea typeface="+mn-ea"/>
                  <a:cs typeface="+mn-ea"/>
                  <a:sym typeface="+mn-lt"/>
                </a:endParaRPr>
              </a:p>
            </p:txBody>
          </p:sp>
          <p:sp>
            <p:nvSpPr>
              <p:cNvPr id="131" name="Title-3">
                <a:extLst>
                  <a:ext uri="{FF2B5EF4-FFF2-40B4-BE49-F238E27FC236}">
                    <a16:creationId xmlns:a16="http://schemas.microsoft.com/office/drawing/2014/main" id="{8AA6625C-4FBF-8009-F3DF-33824D38DCFE}"/>
                  </a:ext>
                </a:extLst>
              </p:cNvPr>
              <p:cNvSpPr txBox="1"/>
              <p:nvPr>
                <p:custDataLst>
                  <p:tags r:id="rId3"/>
                </p:custDataLst>
              </p:nvPr>
            </p:nvSpPr>
            <p:spPr>
              <a:xfrm>
                <a:off x="1298645" y="4060704"/>
                <a:ext cx="2458594" cy="263420"/>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a:ln>
                      <a:noFill/>
                    </a:ln>
                    <a:effectLst/>
                    <a:uLnTx/>
                    <a:uFillTx/>
                    <a:latin typeface="Arial" panose="020B0604020202020204" pitchFamily="34" charset="0"/>
                    <a:ea typeface="黑体" panose="02010609060101010101" pitchFamily="49" charset="-122"/>
                    <a:cs typeface="+mn-cs"/>
                  </a:rPr>
                  <a:t>支持关键战略决策：</a:t>
                </a:r>
              </a:p>
            </p:txBody>
          </p:sp>
          <p:sp>
            <p:nvSpPr>
              <p:cNvPr id="132" name="Body-3">
                <a:extLst>
                  <a:ext uri="{FF2B5EF4-FFF2-40B4-BE49-F238E27FC236}">
                    <a16:creationId xmlns:a16="http://schemas.microsoft.com/office/drawing/2014/main" id="{5B501E98-B5D2-BC99-6E07-26829FFD3F98}"/>
                  </a:ext>
                </a:extLst>
              </p:cNvPr>
              <p:cNvSpPr/>
              <p:nvPr>
                <p:custDataLst>
                  <p:tags r:id="rId4"/>
                </p:custDataLst>
              </p:nvPr>
            </p:nvSpPr>
            <p:spPr>
              <a:xfrm>
                <a:off x="1302315" y="4197831"/>
                <a:ext cx="4363945" cy="698404"/>
              </a:xfrm>
              <a:prstGeom prst="rect">
                <a:avLst/>
              </a:prstGeom>
              <a:noFill/>
              <a:ln w="12700" cap="flat" cmpd="sng" algn="ctr">
                <a:noFill/>
                <a:prstDash val="solid"/>
                <a:miter lim="800000"/>
              </a:ln>
              <a:effectLst/>
            </p:spPr>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71450"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计划与控制为供应链决策领域提供支持： </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网络设计决策：计划模型模拟不同设施选址的影响（如成本、响应时间）；控制跟踪设施利用率，优化网络布局。 </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运营模式决策：计划系统决定采用按库存生产（</a:t>
                </a:r>
                <a:r>
                  <a:rPr kumimoji="0" lang="en-US"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MTS</a:t>
                </a: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）还是按订单生产（</a:t>
                </a:r>
                <a:r>
                  <a:rPr kumimoji="0" lang="en-US"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MTO</a:t>
                </a: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），以平衡效率与响应性；控制确保模式切换顺畅。</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技术决策：计划系统依赖</a:t>
                </a:r>
                <a:r>
                  <a:rPr kumimoji="0" lang="en-US"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ERP</a:t>
                </a: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或高级计划系统进行数据集成；控制利用这些系统进行绩效分析。 </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供应商关系管理（</a:t>
                </a:r>
                <a:r>
                  <a:rPr kumimoji="0" lang="en-US"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SRM</a:t>
                </a: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）：计划系统协调供应商交付计划；控制评估供应商绩效，优化合作。 </a:t>
                </a:r>
              </a:p>
              <a:p>
                <a:pPr marL="628650" lvl="1"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风险管理：计划系统识别潜在风险（如需求突变）；控制实施缓解措施，如多源采购。 </a:t>
                </a:r>
              </a:p>
              <a:p>
                <a:pPr marL="171450" indent="-171450" defTabSz="913765">
                  <a:lnSpc>
                    <a:spcPct val="130000"/>
                  </a:lnSpc>
                  <a:buSzPct val="100000"/>
                  <a:buFont typeface="Arial" panose="020B0604020202020204" pitchFamily="34" charset="0"/>
                  <a:buChar char="•"/>
                  <a:defRPr/>
                </a:pPr>
                <a:r>
                  <a:rPr kumimoji="0" lang="zh-CN" altLang="en-US"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rPr>
                  <a:t>角色：计划提供决策基础，控制确保决策执行有效，形成闭环管理。</a:t>
                </a:r>
                <a:endParaRPr kumimoji="0" lang="en-GB" altLang="zh-CN" sz="1050" b="0" i="0" u="none" strike="noStrike" kern="1200" cap="none" spc="0" normalizeH="0" baseline="0" noProof="0" dirty="0">
                  <a:ln>
                    <a:noFill/>
                  </a:ln>
                  <a:solidFill>
                    <a:schemeClr val="tx1"/>
                  </a:solidFill>
                  <a:effectLst/>
                  <a:uLnTx/>
                  <a:uFillTx/>
                  <a:latin typeface="Arial" panose="020B0604020202020204" pitchFamily="34" charset="0"/>
                  <a:ea typeface="黑体" panose="02010609060101010101" pitchFamily="49" charset="-122"/>
                  <a:cs typeface="+mn-cs"/>
                </a:endParaRPr>
              </a:p>
            </p:txBody>
          </p:sp>
        </p:grpSp>
      </p:grpSp>
    </p:spTree>
    <p:extLst>
      <p:ext uri="{BB962C8B-B14F-4D97-AF65-F5344CB8AC3E}">
        <p14:creationId xmlns:p14="http://schemas.microsoft.com/office/powerpoint/2010/main" val="2126316617"/>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668ED1-7044-C164-8569-043092754DD1}"/>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0CEBB13D-CB7F-EFC9-6EDA-8D4A53CB1CAE}"/>
              </a:ext>
            </a:extLst>
          </p:cNvPr>
          <p:cNvSpPr>
            <a:spLocks noGrp="1"/>
          </p:cNvSpPr>
          <p:nvPr>
            <p:ph type="title"/>
          </p:nvPr>
        </p:nvSpPr>
        <p:spPr/>
        <p:txBody>
          <a:bodyPr/>
          <a:lstStyle/>
          <a:p>
            <a:r>
              <a:rPr lang="zh-CN" altLang="en-US" dirty="0">
                <a:latin typeface="Arial" panose="020B0604020202020204" pitchFamily="34" charset="0"/>
                <a:ea typeface="微软雅黑" panose="020B0503020204020204" pitchFamily="34" charset="-122"/>
              </a:rPr>
              <a:t>这场变革，永远在路上</a:t>
            </a:r>
          </a:p>
        </p:txBody>
      </p:sp>
      <p:grpSp>
        <p:nvGrpSpPr>
          <p:cNvPr id="115" name="组合 112">
            <a:extLst>
              <a:ext uri="{FF2B5EF4-FFF2-40B4-BE49-F238E27FC236}">
                <a16:creationId xmlns:a16="http://schemas.microsoft.com/office/drawing/2014/main" id="{75F0C54C-A6DF-5095-A017-E94BF1A20B88}"/>
              </a:ext>
            </a:extLst>
          </p:cNvPr>
          <p:cNvGrpSpPr/>
          <p:nvPr/>
        </p:nvGrpSpPr>
        <p:grpSpPr>
          <a:xfrm>
            <a:off x="886690" y="1696995"/>
            <a:ext cx="10632761" cy="5057732"/>
            <a:chOff x="872838" y="1479567"/>
            <a:chExt cx="10646870" cy="4947574"/>
          </a:xfrm>
        </p:grpSpPr>
        <p:grpSp>
          <p:nvGrpSpPr>
            <p:cNvPr id="116" name="组合 57">
              <a:extLst>
                <a:ext uri="{FF2B5EF4-FFF2-40B4-BE49-F238E27FC236}">
                  <a16:creationId xmlns:a16="http://schemas.microsoft.com/office/drawing/2014/main" id="{B89DE5D5-C19F-1439-91D2-61FC585D4095}"/>
                </a:ext>
              </a:extLst>
            </p:cNvPr>
            <p:cNvGrpSpPr/>
            <p:nvPr/>
          </p:nvGrpSpPr>
          <p:grpSpPr>
            <a:xfrm>
              <a:off x="872838" y="2023387"/>
              <a:ext cx="10618298" cy="4263769"/>
              <a:chOff x="1526736" y="1938143"/>
              <a:chExt cx="10034389" cy="4263769"/>
            </a:xfrm>
          </p:grpSpPr>
          <p:sp>
            <p:nvSpPr>
              <p:cNvPr id="169" name="矩形 58">
                <a:extLst>
                  <a:ext uri="{FF2B5EF4-FFF2-40B4-BE49-F238E27FC236}">
                    <a16:creationId xmlns:a16="http://schemas.microsoft.com/office/drawing/2014/main" id="{632450DC-7C37-4AAC-9579-35103426D783}"/>
                  </a:ext>
                </a:extLst>
              </p:cNvPr>
              <p:cNvSpPr/>
              <p:nvPr/>
            </p:nvSpPr>
            <p:spPr>
              <a:xfrm>
                <a:off x="1526736" y="2995481"/>
                <a:ext cx="10034854" cy="3206431"/>
              </a:xfrm>
              <a:prstGeom prst="rect">
                <a:avLst/>
              </a:prstGeom>
              <a:solidFill>
                <a:srgbClr val="0376A3"/>
              </a:solidFill>
              <a:ln w="12700" cap="flat" cmpd="sng" algn="ctr">
                <a:no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sp>
            <p:nvSpPr>
              <p:cNvPr id="170" name="矩形 59">
                <a:extLst>
                  <a:ext uri="{FF2B5EF4-FFF2-40B4-BE49-F238E27FC236}">
                    <a16:creationId xmlns:a16="http://schemas.microsoft.com/office/drawing/2014/main" id="{EE77A6C4-F76E-BC87-7AA4-7AF3DFDD40C8}"/>
                  </a:ext>
                </a:extLst>
              </p:cNvPr>
              <p:cNvSpPr/>
              <p:nvPr/>
            </p:nvSpPr>
            <p:spPr>
              <a:xfrm>
                <a:off x="1526736" y="1937646"/>
                <a:ext cx="10034854" cy="1057834"/>
              </a:xfrm>
              <a:prstGeom prst="rect">
                <a:avLst/>
              </a:prstGeom>
              <a:solidFill>
                <a:srgbClr val="FF8D75"/>
              </a:solidFill>
              <a:ln w="12700" cap="flat" cmpd="sng" algn="ctr">
                <a:no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grpSp>
        <p:sp>
          <p:nvSpPr>
            <p:cNvPr id="117" name="矩形 60">
              <a:extLst>
                <a:ext uri="{FF2B5EF4-FFF2-40B4-BE49-F238E27FC236}">
                  <a16:creationId xmlns:a16="http://schemas.microsoft.com/office/drawing/2014/main" id="{3959C522-FE3F-2B31-716E-FB2683F3C0D0}"/>
                </a:ext>
              </a:extLst>
            </p:cNvPr>
            <p:cNvSpPr/>
            <p:nvPr/>
          </p:nvSpPr>
          <p:spPr>
            <a:xfrm>
              <a:off x="4194990" y="5221090"/>
              <a:ext cx="7296638" cy="1066066"/>
            </a:xfrm>
            <a:prstGeom prst="rect">
              <a:avLst/>
            </a:prstGeom>
            <a:solidFill>
              <a:srgbClr val="789ED3"/>
            </a:solidFill>
            <a:ln w="12700" cap="flat" cmpd="sng" algn="ctr">
              <a:no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sp>
          <p:nvSpPr>
            <p:cNvPr id="118" name="矩形 61">
              <a:extLst>
                <a:ext uri="{FF2B5EF4-FFF2-40B4-BE49-F238E27FC236}">
                  <a16:creationId xmlns:a16="http://schemas.microsoft.com/office/drawing/2014/main" id="{2006B756-7D28-30E8-BF7B-E7C3AB5CDBC2}"/>
                </a:ext>
              </a:extLst>
            </p:cNvPr>
            <p:cNvSpPr/>
            <p:nvPr/>
          </p:nvSpPr>
          <p:spPr>
            <a:xfrm>
              <a:off x="5125969" y="4155023"/>
              <a:ext cx="6365659" cy="1066066"/>
            </a:xfrm>
            <a:prstGeom prst="rect">
              <a:avLst/>
            </a:prstGeom>
            <a:solidFill>
              <a:srgbClr val="B5E9F3"/>
            </a:solidFill>
            <a:ln w="12700" cap="flat" cmpd="sng" algn="ctr">
              <a:noFill/>
              <a:prstDash val="solid"/>
              <a:miter lim="800000"/>
            </a:ln>
            <a:effectLst/>
          </p:spPr>
          <p:txBody>
            <a:bodyPr anchor="ctr"/>
            <a:lstStyle/>
            <a:p>
              <a:pPr algn="ctr" defTabSz="1219170">
                <a:defRPr/>
              </a:pPr>
              <a:endParaRPr lang="zh-CN" altLang="en-US" sz="2133" b="1" kern="0" dirty="0">
                <a:solidFill>
                  <a:prstClr val="white"/>
                </a:solidFill>
                <a:latin typeface="+mn-ea"/>
                <a:cs typeface="Arial" panose="020B0604020202020204"/>
              </a:endParaRPr>
            </a:p>
          </p:txBody>
        </p:sp>
        <p:sp>
          <p:nvSpPr>
            <p:cNvPr id="119" name="矩形 62">
              <a:extLst>
                <a:ext uri="{FF2B5EF4-FFF2-40B4-BE49-F238E27FC236}">
                  <a16:creationId xmlns:a16="http://schemas.microsoft.com/office/drawing/2014/main" id="{7350C96B-79BC-4FCB-F70D-CC7B8943A5D0}"/>
                </a:ext>
              </a:extLst>
            </p:cNvPr>
            <p:cNvSpPr/>
            <p:nvPr/>
          </p:nvSpPr>
          <p:spPr>
            <a:xfrm>
              <a:off x="6056950" y="3088957"/>
              <a:ext cx="5434678" cy="1066066"/>
            </a:xfrm>
            <a:prstGeom prst="rect">
              <a:avLst/>
            </a:prstGeom>
            <a:solidFill>
              <a:srgbClr val="B7C8E7"/>
            </a:solidFill>
            <a:ln w="12700" cap="flat" cmpd="sng" algn="ctr">
              <a:no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grpSp>
          <p:nvGrpSpPr>
            <p:cNvPr id="120" name="组合 63">
              <a:extLst>
                <a:ext uri="{FF2B5EF4-FFF2-40B4-BE49-F238E27FC236}">
                  <a16:creationId xmlns:a16="http://schemas.microsoft.com/office/drawing/2014/main" id="{A48C8CE4-60E7-A3DB-3CF4-FC1B87345EAA}"/>
                </a:ext>
              </a:extLst>
            </p:cNvPr>
            <p:cNvGrpSpPr/>
            <p:nvPr/>
          </p:nvGrpSpPr>
          <p:grpSpPr>
            <a:xfrm>
              <a:off x="3264558" y="3089329"/>
              <a:ext cx="2792481" cy="3197827"/>
              <a:chOff x="5196201" y="3004084"/>
              <a:chExt cx="2792481" cy="3197827"/>
            </a:xfrm>
          </p:grpSpPr>
          <p:sp>
            <p:nvSpPr>
              <p:cNvPr id="166" name="直角三角形 64">
                <a:extLst>
                  <a:ext uri="{FF2B5EF4-FFF2-40B4-BE49-F238E27FC236}">
                    <a16:creationId xmlns:a16="http://schemas.microsoft.com/office/drawing/2014/main" id="{53D5D135-BCA3-7CF8-B45E-8B20E4420DF5}"/>
                  </a:ext>
                </a:extLst>
              </p:cNvPr>
              <p:cNvSpPr/>
              <p:nvPr/>
            </p:nvSpPr>
            <p:spPr>
              <a:xfrm flipH="1">
                <a:off x="5195653" y="5135845"/>
                <a:ext cx="930981" cy="1066066"/>
              </a:xfrm>
              <a:prstGeom prst="rtTriangle">
                <a:avLst/>
              </a:prstGeom>
              <a:solidFill>
                <a:srgbClr val="789ED3"/>
              </a:solidFill>
              <a:ln w="12700" cap="flat" cmpd="sng" algn="ctr">
                <a:no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sp>
            <p:nvSpPr>
              <p:cNvPr id="167" name="直角三角形 65">
                <a:extLst>
                  <a:ext uri="{FF2B5EF4-FFF2-40B4-BE49-F238E27FC236}">
                    <a16:creationId xmlns:a16="http://schemas.microsoft.com/office/drawing/2014/main" id="{E15DF3D2-A2C5-2B9C-E171-2290A311130A}"/>
                  </a:ext>
                </a:extLst>
              </p:cNvPr>
              <p:cNvSpPr/>
              <p:nvPr/>
            </p:nvSpPr>
            <p:spPr>
              <a:xfrm flipH="1">
                <a:off x="6126633" y="4069778"/>
                <a:ext cx="930979" cy="1066066"/>
              </a:xfrm>
              <a:prstGeom prst="rtTriangle">
                <a:avLst/>
              </a:prstGeom>
              <a:solidFill>
                <a:srgbClr val="B5E9F3"/>
              </a:solidFill>
              <a:ln w="12700" cap="flat" cmpd="sng" algn="ctr">
                <a:no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sp>
            <p:nvSpPr>
              <p:cNvPr id="168" name="直角三角形 66">
                <a:extLst>
                  <a:ext uri="{FF2B5EF4-FFF2-40B4-BE49-F238E27FC236}">
                    <a16:creationId xmlns:a16="http://schemas.microsoft.com/office/drawing/2014/main" id="{1335054D-84E2-96EF-A60E-3AAEFC9B1603}"/>
                  </a:ext>
                </a:extLst>
              </p:cNvPr>
              <p:cNvSpPr/>
              <p:nvPr/>
            </p:nvSpPr>
            <p:spPr>
              <a:xfrm flipH="1">
                <a:off x="7057613" y="3003712"/>
                <a:ext cx="930981" cy="1066066"/>
              </a:xfrm>
              <a:prstGeom prst="rtTriangle">
                <a:avLst/>
              </a:prstGeom>
              <a:solidFill>
                <a:srgbClr val="B7C8E7"/>
              </a:solidFill>
              <a:ln w="12700" cap="flat" cmpd="sng" algn="ctr">
                <a:no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grpSp>
        <p:sp>
          <p:nvSpPr>
            <p:cNvPr id="121" name="等腰三角形 67">
              <a:extLst>
                <a:ext uri="{FF2B5EF4-FFF2-40B4-BE49-F238E27FC236}">
                  <a16:creationId xmlns:a16="http://schemas.microsoft.com/office/drawing/2014/main" id="{4E9AB26C-E99B-643D-657D-7F8546DDD897}"/>
                </a:ext>
              </a:extLst>
            </p:cNvPr>
            <p:cNvSpPr/>
            <p:nvPr/>
          </p:nvSpPr>
          <p:spPr>
            <a:xfrm>
              <a:off x="6056950" y="1880886"/>
              <a:ext cx="2088765" cy="1212187"/>
            </a:xfrm>
            <a:prstGeom prst="triangle">
              <a:avLst/>
            </a:prstGeom>
            <a:solidFill>
              <a:srgbClr val="E6D9F0"/>
            </a:solidFill>
            <a:ln w="12700" cap="flat" cmpd="sng" algn="ctr">
              <a:no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sp>
          <p:nvSpPr>
            <p:cNvPr id="122" name="等腰三角形 68">
              <a:extLst>
                <a:ext uri="{FF2B5EF4-FFF2-40B4-BE49-F238E27FC236}">
                  <a16:creationId xmlns:a16="http://schemas.microsoft.com/office/drawing/2014/main" id="{2E96129D-7D08-CD0F-3D9B-8E7C087AF6D1}"/>
                </a:ext>
              </a:extLst>
            </p:cNvPr>
            <p:cNvSpPr/>
            <p:nvPr/>
          </p:nvSpPr>
          <p:spPr>
            <a:xfrm rot="10800000">
              <a:off x="8141395" y="3088957"/>
              <a:ext cx="930981" cy="541266"/>
            </a:xfrm>
            <a:prstGeom prst="triangle">
              <a:avLst>
                <a:gd name="adj" fmla="val 45882"/>
              </a:avLst>
            </a:prstGeom>
            <a:solidFill>
              <a:srgbClr val="0376A3"/>
            </a:solidFill>
            <a:ln w="12700" cap="flat" cmpd="sng" algn="ctr">
              <a:no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sp>
          <p:nvSpPr>
            <p:cNvPr id="123" name="等腰三角形 69">
              <a:extLst>
                <a:ext uri="{FF2B5EF4-FFF2-40B4-BE49-F238E27FC236}">
                  <a16:creationId xmlns:a16="http://schemas.microsoft.com/office/drawing/2014/main" id="{9BDB6760-047F-0A17-0BEE-7730A0408B54}"/>
                </a:ext>
              </a:extLst>
            </p:cNvPr>
            <p:cNvSpPr/>
            <p:nvPr/>
          </p:nvSpPr>
          <p:spPr>
            <a:xfrm>
              <a:off x="9087495" y="1479567"/>
              <a:ext cx="2432213" cy="1601158"/>
            </a:xfrm>
            <a:prstGeom prst="triangle">
              <a:avLst/>
            </a:prstGeom>
            <a:solidFill>
              <a:srgbClr val="E6D9F0"/>
            </a:solidFill>
            <a:ln w="12700" cap="flat" cmpd="sng" algn="ctr">
              <a:no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grpSp>
          <p:nvGrpSpPr>
            <p:cNvPr id="124" name="组合 70">
              <a:extLst>
                <a:ext uri="{FF2B5EF4-FFF2-40B4-BE49-F238E27FC236}">
                  <a16:creationId xmlns:a16="http://schemas.microsoft.com/office/drawing/2014/main" id="{CC9D81F1-4D47-1E31-9ECD-27F03F1DE10B}"/>
                </a:ext>
              </a:extLst>
            </p:cNvPr>
            <p:cNvGrpSpPr/>
            <p:nvPr/>
          </p:nvGrpSpPr>
          <p:grpSpPr>
            <a:xfrm>
              <a:off x="1908493" y="2257097"/>
              <a:ext cx="1215741" cy="3564653"/>
              <a:chOff x="2521089" y="2321531"/>
              <a:chExt cx="1215741" cy="3564653"/>
            </a:xfrm>
          </p:grpSpPr>
          <p:sp>
            <p:nvSpPr>
              <p:cNvPr id="162" name="矩形 71">
                <a:extLst>
                  <a:ext uri="{FF2B5EF4-FFF2-40B4-BE49-F238E27FC236}">
                    <a16:creationId xmlns:a16="http://schemas.microsoft.com/office/drawing/2014/main" id="{51948584-C0E3-A3DB-8D15-36E75571A5E7}"/>
                  </a:ext>
                </a:extLst>
              </p:cNvPr>
              <p:cNvSpPr/>
              <p:nvPr/>
            </p:nvSpPr>
            <p:spPr>
              <a:xfrm>
                <a:off x="2542606" y="2321531"/>
                <a:ext cx="1026008" cy="329177"/>
              </a:xfrm>
              <a:prstGeom prst="rect">
                <a:avLst/>
              </a:prstGeom>
              <a:noFill/>
              <a:ln w="9525">
                <a:noFill/>
              </a:ln>
            </p:spPr>
            <p:txBody>
              <a:bodyPr wrap="none">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spcBef>
                    <a:spcPct val="0"/>
                  </a:spcBef>
                  <a:buNone/>
                </a:pPr>
                <a:r>
                  <a:rPr lang="zh-CN" altLang="en-US" sz="1600" b="1" dirty="0">
                    <a:solidFill>
                      <a:srgbClr val="F2F2F2"/>
                    </a:solidFill>
                    <a:latin typeface="Arial" panose="020B0604020202020204" pitchFamily="34" charset="0"/>
                    <a:ea typeface="微软雅黑" panose="020B0503020204020204" pitchFamily="34" charset="-122"/>
                  </a:rPr>
                  <a:t>业务方案</a:t>
                </a:r>
              </a:p>
            </p:txBody>
          </p:sp>
          <p:sp>
            <p:nvSpPr>
              <p:cNvPr id="163" name="矩形 72">
                <a:extLst>
                  <a:ext uri="{FF2B5EF4-FFF2-40B4-BE49-F238E27FC236}">
                    <a16:creationId xmlns:a16="http://schemas.microsoft.com/office/drawing/2014/main" id="{ED8911AA-D14F-B48D-261A-C43526E37B4B}"/>
                  </a:ext>
                </a:extLst>
              </p:cNvPr>
              <p:cNvSpPr/>
              <p:nvPr/>
            </p:nvSpPr>
            <p:spPr>
              <a:xfrm>
                <a:off x="2521089" y="3418340"/>
                <a:ext cx="1215741" cy="329177"/>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spcBef>
                    <a:spcPct val="0"/>
                  </a:spcBef>
                  <a:buNone/>
                </a:pPr>
                <a:r>
                  <a:rPr lang="zh-CN" altLang="en-US" sz="1600" b="1" dirty="0">
                    <a:solidFill>
                      <a:srgbClr val="F2F2F2"/>
                    </a:solidFill>
                    <a:latin typeface="Arial" panose="020B0604020202020204" pitchFamily="34" charset="0"/>
                    <a:ea typeface="微软雅黑" panose="020B0503020204020204" pitchFamily="34" charset="-122"/>
                  </a:rPr>
                  <a:t>产品构架</a:t>
                </a:r>
              </a:p>
            </p:txBody>
          </p:sp>
          <p:sp>
            <p:nvSpPr>
              <p:cNvPr id="164" name="矩形 73">
                <a:extLst>
                  <a:ext uri="{FF2B5EF4-FFF2-40B4-BE49-F238E27FC236}">
                    <a16:creationId xmlns:a16="http://schemas.microsoft.com/office/drawing/2014/main" id="{2E090D20-DB24-0AE9-C60D-C38BEE18D8FA}"/>
                  </a:ext>
                </a:extLst>
              </p:cNvPr>
              <p:cNvSpPr/>
              <p:nvPr/>
            </p:nvSpPr>
            <p:spPr>
              <a:xfrm>
                <a:off x="2581934" y="4496786"/>
                <a:ext cx="1140057" cy="329177"/>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spcBef>
                    <a:spcPct val="0"/>
                  </a:spcBef>
                  <a:buNone/>
                </a:pPr>
                <a:r>
                  <a:rPr lang="zh-CN" altLang="en-US" sz="1600" b="1" dirty="0">
                    <a:solidFill>
                      <a:srgbClr val="F2F2F2"/>
                    </a:solidFill>
                    <a:latin typeface="Arial" panose="020B0604020202020204" pitchFamily="34" charset="0"/>
                    <a:ea typeface="微软雅黑" panose="020B0503020204020204" pitchFamily="34" charset="-122"/>
                  </a:rPr>
                  <a:t>项目交付</a:t>
                </a:r>
              </a:p>
            </p:txBody>
          </p:sp>
          <p:sp>
            <p:nvSpPr>
              <p:cNvPr id="165" name="矩形 74">
                <a:extLst>
                  <a:ext uri="{FF2B5EF4-FFF2-40B4-BE49-F238E27FC236}">
                    <a16:creationId xmlns:a16="http://schemas.microsoft.com/office/drawing/2014/main" id="{12D4D66B-17FE-BD25-1D93-FDE20082018E}"/>
                  </a:ext>
                </a:extLst>
              </p:cNvPr>
              <p:cNvSpPr/>
              <p:nvPr/>
            </p:nvSpPr>
            <p:spPr>
              <a:xfrm>
                <a:off x="2562581" y="5557007"/>
                <a:ext cx="1026008" cy="329177"/>
              </a:xfrm>
              <a:prstGeom prst="rect">
                <a:avLst/>
              </a:prstGeom>
              <a:noFill/>
              <a:ln w="9525">
                <a:noFill/>
              </a:ln>
            </p:spPr>
            <p:txBody>
              <a:bodyPr wrap="none">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spcBef>
                    <a:spcPct val="0"/>
                  </a:spcBef>
                  <a:buNone/>
                </a:pPr>
                <a:r>
                  <a:rPr lang="zh-CN" altLang="en-US" sz="1600" b="1" dirty="0">
                    <a:solidFill>
                      <a:srgbClr val="F2F2F2"/>
                    </a:solidFill>
                    <a:latin typeface="Arial" panose="020B0604020202020204" pitchFamily="34" charset="0"/>
                    <a:ea typeface="微软雅黑" panose="020B0503020204020204" pitchFamily="34" charset="-122"/>
                  </a:rPr>
                  <a:t>高效运营</a:t>
                </a:r>
              </a:p>
            </p:txBody>
          </p:sp>
        </p:grpSp>
        <p:sp>
          <p:nvSpPr>
            <p:cNvPr id="125" name="矩形 75">
              <a:extLst>
                <a:ext uri="{FF2B5EF4-FFF2-40B4-BE49-F238E27FC236}">
                  <a16:creationId xmlns:a16="http://schemas.microsoft.com/office/drawing/2014/main" id="{A932C49C-C77D-D797-00A2-617459E980DC}"/>
                </a:ext>
              </a:extLst>
            </p:cNvPr>
            <p:cNvSpPr/>
            <p:nvPr/>
          </p:nvSpPr>
          <p:spPr>
            <a:xfrm>
              <a:off x="1849179" y="2169012"/>
              <a:ext cx="1326269" cy="648283"/>
            </a:xfrm>
            <a:prstGeom prst="rect">
              <a:avLst/>
            </a:prstGeom>
            <a:noFill/>
            <a:ln w="9525" cap="flat" cmpd="sng" algn="ctr">
              <a:solidFill>
                <a:sysClr val="window" lastClr="FFFFFF"/>
              </a:solid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sp>
          <p:nvSpPr>
            <p:cNvPr id="126" name="矩形 76">
              <a:extLst>
                <a:ext uri="{FF2B5EF4-FFF2-40B4-BE49-F238E27FC236}">
                  <a16:creationId xmlns:a16="http://schemas.microsoft.com/office/drawing/2014/main" id="{8A6F4747-5882-B5FE-EF53-42BBBF412070}"/>
                </a:ext>
              </a:extLst>
            </p:cNvPr>
            <p:cNvSpPr/>
            <p:nvPr/>
          </p:nvSpPr>
          <p:spPr>
            <a:xfrm>
              <a:off x="1849179" y="3302993"/>
              <a:ext cx="1326269" cy="648284"/>
            </a:xfrm>
            <a:prstGeom prst="rect">
              <a:avLst/>
            </a:prstGeom>
            <a:noFill/>
            <a:ln w="9525" cap="flat" cmpd="sng" algn="ctr">
              <a:solidFill>
                <a:sysClr val="window" lastClr="FFFFFF"/>
              </a:solid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sp>
          <p:nvSpPr>
            <p:cNvPr id="127" name="矩形 77">
              <a:extLst>
                <a:ext uri="{FF2B5EF4-FFF2-40B4-BE49-F238E27FC236}">
                  <a16:creationId xmlns:a16="http://schemas.microsoft.com/office/drawing/2014/main" id="{205FD2D7-2654-D0AC-A017-26BDA0E648E8}"/>
                </a:ext>
              </a:extLst>
            </p:cNvPr>
            <p:cNvSpPr/>
            <p:nvPr/>
          </p:nvSpPr>
          <p:spPr>
            <a:xfrm>
              <a:off x="1877259" y="4362886"/>
              <a:ext cx="1324109" cy="648283"/>
            </a:xfrm>
            <a:prstGeom prst="rect">
              <a:avLst/>
            </a:prstGeom>
            <a:noFill/>
            <a:ln w="9525" cap="flat" cmpd="sng" algn="ctr">
              <a:solidFill>
                <a:sysClr val="window" lastClr="FFFFFF"/>
              </a:solid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sp>
          <p:nvSpPr>
            <p:cNvPr id="128" name="矩形 78">
              <a:extLst>
                <a:ext uri="{FF2B5EF4-FFF2-40B4-BE49-F238E27FC236}">
                  <a16:creationId xmlns:a16="http://schemas.microsoft.com/office/drawing/2014/main" id="{AE72DD2D-98E8-E6D6-E7BF-635FD12520F2}"/>
                </a:ext>
              </a:extLst>
            </p:cNvPr>
            <p:cNvSpPr/>
            <p:nvPr/>
          </p:nvSpPr>
          <p:spPr>
            <a:xfrm>
              <a:off x="1877259" y="5431010"/>
              <a:ext cx="1324109" cy="648284"/>
            </a:xfrm>
            <a:prstGeom prst="rect">
              <a:avLst/>
            </a:prstGeom>
            <a:noFill/>
            <a:ln w="9525" cap="flat" cmpd="sng" algn="ctr">
              <a:solidFill>
                <a:sysClr val="window" lastClr="FFFFFF"/>
              </a:solidFill>
              <a:prstDash val="solid"/>
              <a:miter lim="800000"/>
            </a:ln>
            <a:effectLst/>
          </p:spPr>
          <p:txBody>
            <a:bodyPr anchor="ctr"/>
            <a:lstStyle/>
            <a:p>
              <a:pPr algn="ctr" defTabSz="1219170">
                <a:defRPr/>
              </a:pPr>
              <a:endParaRPr lang="zh-CN" altLang="en-US" sz="2133" b="1" kern="0">
                <a:solidFill>
                  <a:prstClr val="white"/>
                </a:solidFill>
                <a:latin typeface="+mn-ea"/>
                <a:cs typeface="Arial" panose="020B0604020202020204"/>
              </a:endParaRPr>
            </a:p>
          </p:txBody>
        </p:sp>
        <p:cxnSp>
          <p:nvCxnSpPr>
            <p:cNvPr id="129" name="直接连接符 79">
              <a:extLst>
                <a:ext uri="{FF2B5EF4-FFF2-40B4-BE49-F238E27FC236}">
                  <a16:creationId xmlns:a16="http://schemas.microsoft.com/office/drawing/2014/main" id="{730188BA-F689-1903-5263-11A3C8406779}"/>
                </a:ext>
              </a:extLst>
            </p:cNvPr>
            <p:cNvCxnSpPr>
              <a:stCxn id="125" idx="3"/>
              <a:endCxn id="121" idx="1"/>
            </p:cNvCxnSpPr>
            <p:nvPr/>
          </p:nvCxnSpPr>
          <p:spPr>
            <a:xfrm flipV="1">
              <a:off x="3174682" y="2487343"/>
              <a:ext cx="3404716" cy="5898"/>
            </a:xfrm>
            <a:prstGeom prst="line">
              <a:avLst/>
            </a:prstGeom>
            <a:ln w="9525" cap="flat" cmpd="sng">
              <a:solidFill>
                <a:srgbClr val="F2F2F2"/>
              </a:solidFill>
              <a:prstDash val="solid"/>
              <a:miter/>
              <a:headEnd type="none" w="med" len="med"/>
              <a:tailEnd type="none" w="med" len="med"/>
            </a:ln>
          </p:spPr>
        </p:cxnSp>
        <p:cxnSp>
          <p:nvCxnSpPr>
            <p:cNvPr id="130" name="直接连接符 80">
              <a:extLst>
                <a:ext uri="{FF2B5EF4-FFF2-40B4-BE49-F238E27FC236}">
                  <a16:creationId xmlns:a16="http://schemas.microsoft.com/office/drawing/2014/main" id="{CD910B46-CBA4-462E-D1FD-0E8CA5C09F81}"/>
                </a:ext>
              </a:extLst>
            </p:cNvPr>
            <p:cNvCxnSpPr>
              <a:stCxn id="126" idx="3"/>
              <a:endCxn id="168" idx="5"/>
            </p:cNvCxnSpPr>
            <p:nvPr/>
          </p:nvCxnSpPr>
          <p:spPr>
            <a:xfrm flipV="1">
              <a:off x="3174682" y="3622300"/>
              <a:ext cx="2416943" cy="4485"/>
            </a:xfrm>
            <a:prstGeom prst="line">
              <a:avLst/>
            </a:prstGeom>
            <a:ln w="9525" cap="flat" cmpd="sng">
              <a:solidFill>
                <a:srgbClr val="F2F2F2"/>
              </a:solidFill>
              <a:prstDash val="solid"/>
              <a:miter/>
              <a:headEnd type="none" w="med" len="med"/>
              <a:tailEnd type="none" w="med" len="med"/>
            </a:ln>
          </p:spPr>
        </p:cxnSp>
        <p:cxnSp>
          <p:nvCxnSpPr>
            <p:cNvPr id="131" name="直接连接符 81">
              <a:extLst>
                <a:ext uri="{FF2B5EF4-FFF2-40B4-BE49-F238E27FC236}">
                  <a16:creationId xmlns:a16="http://schemas.microsoft.com/office/drawing/2014/main" id="{746C4EA5-568C-38DD-7C12-FD7A1F1429D4}"/>
                </a:ext>
              </a:extLst>
            </p:cNvPr>
            <p:cNvCxnSpPr>
              <a:stCxn id="127" idx="3"/>
              <a:endCxn id="167" idx="5"/>
            </p:cNvCxnSpPr>
            <p:nvPr/>
          </p:nvCxnSpPr>
          <p:spPr>
            <a:xfrm>
              <a:off x="3202127" y="4686690"/>
              <a:ext cx="1458671" cy="1553"/>
            </a:xfrm>
            <a:prstGeom prst="line">
              <a:avLst/>
            </a:prstGeom>
            <a:ln w="9525" cap="flat" cmpd="sng">
              <a:solidFill>
                <a:srgbClr val="F2F2F2"/>
              </a:solidFill>
              <a:prstDash val="solid"/>
              <a:miter/>
              <a:headEnd type="none" w="med" len="med"/>
              <a:tailEnd type="none" w="med" len="med"/>
            </a:ln>
          </p:spPr>
        </p:cxnSp>
        <p:cxnSp>
          <p:nvCxnSpPr>
            <p:cNvPr id="132" name="直接连接符 82">
              <a:extLst>
                <a:ext uri="{FF2B5EF4-FFF2-40B4-BE49-F238E27FC236}">
                  <a16:creationId xmlns:a16="http://schemas.microsoft.com/office/drawing/2014/main" id="{67DC5381-7287-D977-8443-01B0505251C8}"/>
                </a:ext>
              </a:extLst>
            </p:cNvPr>
            <p:cNvCxnSpPr>
              <a:stCxn id="128" idx="3"/>
              <a:endCxn id="166" idx="5"/>
            </p:cNvCxnSpPr>
            <p:nvPr/>
          </p:nvCxnSpPr>
          <p:spPr>
            <a:xfrm flipV="1">
              <a:off x="3202127" y="5754185"/>
              <a:ext cx="527844" cy="842"/>
            </a:xfrm>
            <a:prstGeom prst="line">
              <a:avLst/>
            </a:prstGeom>
            <a:ln w="9525" cap="flat" cmpd="sng">
              <a:solidFill>
                <a:srgbClr val="F2F2F2"/>
              </a:solidFill>
              <a:prstDash val="solid"/>
              <a:miter/>
              <a:headEnd type="none" w="med" len="med"/>
              <a:tailEnd type="none" w="med" len="med"/>
            </a:ln>
          </p:spPr>
        </p:cxnSp>
        <p:sp>
          <p:nvSpPr>
            <p:cNvPr id="133" name="文本框 83">
              <a:extLst>
                <a:ext uri="{FF2B5EF4-FFF2-40B4-BE49-F238E27FC236}">
                  <a16:creationId xmlns:a16="http://schemas.microsoft.com/office/drawing/2014/main" id="{0F886121-8F4E-AF95-E04E-D96262B8DD7A}"/>
                </a:ext>
              </a:extLst>
            </p:cNvPr>
            <p:cNvSpPr txBox="1"/>
            <p:nvPr/>
          </p:nvSpPr>
          <p:spPr>
            <a:xfrm>
              <a:off x="6515842" y="2289866"/>
              <a:ext cx="1791047" cy="807982"/>
            </a:xfrm>
            <a:prstGeom prst="rect">
              <a:avLst/>
            </a:prstGeom>
            <a:noFill/>
            <a:ln w="9525">
              <a:noFill/>
            </a:ln>
          </p:spPr>
          <p:txBody>
            <a:bodyPr wrap="square">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116837" indent="-116837">
                <a:spcBef>
                  <a:spcPct val="0"/>
                </a:spcBef>
              </a:pPr>
              <a:r>
                <a:rPr lang="zh-CN" altLang="en-US" sz="1600" b="1" dirty="0">
                  <a:solidFill>
                    <a:srgbClr val="000000"/>
                  </a:solidFill>
                  <a:latin typeface="Arial" panose="020B0604020202020204" pitchFamily="34" charset="0"/>
                  <a:ea typeface="微软雅黑" panose="020B0503020204020204" pitchFamily="34" charset="-122"/>
                </a:rPr>
                <a:t>战略</a:t>
              </a:r>
              <a:r>
                <a:rPr lang="en-US" altLang="zh-CN" sz="1600" b="1" dirty="0">
                  <a:solidFill>
                    <a:srgbClr val="000000"/>
                  </a:solidFill>
                  <a:latin typeface="Arial" panose="020B0604020202020204" pitchFamily="34" charset="0"/>
                  <a:ea typeface="微软雅黑" panose="020B0503020204020204" pitchFamily="34" charset="-122"/>
                </a:rPr>
                <a:t> </a:t>
              </a:r>
            </a:p>
            <a:p>
              <a:pPr marL="116837" indent="-116837">
                <a:spcBef>
                  <a:spcPct val="0"/>
                </a:spcBef>
              </a:pPr>
              <a:r>
                <a:rPr lang="zh-CN" altLang="en-US" sz="1600" b="1" dirty="0">
                  <a:solidFill>
                    <a:srgbClr val="000000"/>
                  </a:solidFill>
                  <a:latin typeface="Arial" panose="020B0604020202020204" pitchFamily="34" charset="0"/>
                  <a:ea typeface="微软雅黑" panose="020B0503020204020204" pitchFamily="34" charset="-122"/>
                </a:rPr>
                <a:t>业务能力</a:t>
              </a:r>
              <a:endParaRPr lang="en-US" altLang="zh-CN" sz="1600" b="1" dirty="0">
                <a:solidFill>
                  <a:srgbClr val="000000"/>
                </a:solidFill>
                <a:latin typeface="Arial" panose="020B0604020202020204" pitchFamily="34" charset="0"/>
                <a:ea typeface="微软雅黑" panose="020B0503020204020204" pitchFamily="34" charset="-122"/>
              </a:endParaRPr>
            </a:p>
            <a:p>
              <a:pPr marL="116837" indent="-116837">
                <a:spcBef>
                  <a:spcPct val="0"/>
                </a:spcBef>
              </a:pPr>
              <a:r>
                <a:rPr lang="zh-CN" altLang="en-US" sz="1600" b="1" dirty="0">
                  <a:solidFill>
                    <a:srgbClr val="000000"/>
                  </a:solidFill>
                  <a:latin typeface="Arial" panose="020B0604020202020204" pitchFamily="34" charset="0"/>
                  <a:ea typeface="微软雅黑" panose="020B0503020204020204" pitchFamily="34" charset="-122"/>
                </a:rPr>
                <a:t>业务逻辑</a:t>
              </a:r>
              <a:r>
                <a:rPr lang="en-US" altLang="zh-CN" sz="1600" b="1" dirty="0">
                  <a:solidFill>
                    <a:srgbClr val="000000"/>
                  </a:solidFill>
                  <a:latin typeface="Arial" panose="020B0604020202020204" pitchFamily="34" charset="0"/>
                  <a:ea typeface="微软雅黑" panose="020B0503020204020204" pitchFamily="34" charset="-122"/>
                </a:rPr>
                <a:t>/</a:t>
              </a:r>
              <a:r>
                <a:rPr lang="zh-CN" altLang="en-US" sz="1600" b="1" dirty="0">
                  <a:solidFill>
                    <a:srgbClr val="000000"/>
                  </a:solidFill>
                  <a:latin typeface="Arial" panose="020B0604020202020204" pitchFamily="34" charset="0"/>
                  <a:ea typeface="微软雅黑" panose="020B0503020204020204" pitchFamily="34" charset="-122"/>
                </a:rPr>
                <a:t>方案</a:t>
              </a:r>
              <a:endParaRPr lang="en-US" altLang="zh-CN" sz="1600" b="1" dirty="0">
                <a:solidFill>
                  <a:srgbClr val="000000"/>
                </a:solidFill>
                <a:latin typeface="Arial" panose="020B0604020202020204" pitchFamily="34" charset="0"/>
                <a:ea typeface="微软雅黑" panose="020B0503020204020204" pitchFamily="34" charset="-122"/>
              </a:endParaRPr>
            </a:p>
          </p:txBody>
        </p:sp>
        <p:sp>
          <p:nvSpPr>
            <p:cNvPr id="134" name="文本框 84">
              <a:extLst>
                <a:ext uri="{FF2B5EF4-FFF2-40B4-BE49-F238E27FC236}">
                  <a16:creationId xmlns:a16="http://schemas.microsoft.com/office/drawing/2014/main" id="{08FB975F-7424-D7C9-6317-283207E44E7F}"/>
                </a:ext>
              </a:extLst>
            </p:cNvPr>
            <p:cNvSpPr txBox="1"/>
            <p:nvPr/>
          </p:nvSpPr>
          <p:spPr>
            <a:xfrm>
              <a:off x="5929553" y="3375518"/>
              <a:ext cx="2824708" cy="572039"/>
            </a:xfrm>
            <a:prstGeom prst="rect">
              <a:avLst/>
            </a:prstGeom>
            <a:noFill/>
            <a:ln w="9525">
              <a:noFill/>
            </a:ln>
          </p:spPr>
          <p:txBody>
            <a:bodyPr wrap="none">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116837" indent="-116837">
                <a:spcBef>
                  <a:spcPct val="0"/>
                </a:spcBef>
              </a:pPr>
              <a:r>
                <a:rPr lang="zh-CN" altLang="en-US" sz="1600" b="1" dirty="0">
                  <a:solidFill>
                    <a:srgbClr val="000000"/>
                  </a:solidFill>
                  <a:latin typeface="Arial" panose="020B0604020202020204" pitchFamily="34" charset="0"/>
                  <a:ea typeface="微软雅黑" panose="020B0503020204020204" pitchFamily="34" charset="-122"/>
                </a:rPr>
                <a:t>产品路线图和投资组合</a:t>
              </a:r>
              <a:endParaRPr lang="en-US" altLang="zh-CN" sz="1600" b="1" dirty="0">
                <a:solidFill>
                  <a:srgbClr val="000000"/>
                </a:solidFill>
                <a:latin typeface="Arial" panose="020B0604020202020204" pitchFamily="34" charset="0"/>
                <a:ea typeface="微软雅黑" panose="020B0503020204020204" pitchFamily="34" charset="-122"/>
              </a:endParaRPr>
            </a:p>
            <a:p>
              <a:pPr marL="116837" indent="-116837">
                <a:spcBef>
                  <a:spcPct val="0"/>
                </a:spcBef>
              </a:pPr>
              <a:r>
                <a:rPr lang="zh-CN" altLang="en-US" sz="1600" b="1" dirty="0">
                  <a:solidFill>
                    <a:srgbClr val="000000"/>
                  </a:solidFill>
                  <a:latin typeface="Arial" panose="020B0604020202020204" pitchFamily="34" charset="0"/>
                  <a:ea typeface="微软雅黑" panose="020B0503020204020204" pitchFamily="34" charset="-122"/>
                </a:rPr>
                <a:t>自研，</a:t>
              </a:r>
              <a:r>
                <a:rPr lang="en-US" altLang="zh-CN" sz="1600" b="1" dirty="0">
                  <a:solidFill>
                    <a:srgbClr val="000000"/>
                  </a:solidFill>
                  <a:latin typeface="Arial" panose="020B0604020202020204" pitchFamily="34" charset="0"/>
                  <a:ea typeface="微软雅黑" panose="020B0503020204020204" pitchFamily="34" charset="-122"/>
                </a:rPr>
                <a:t>Licenses</a:t>
              </a:r>
              <a:r>
                <a:rPr lang="zh-CN" altLang="en-US" sz="1600" b="1" dirty="0">
                  <a:solidFill>
                    <a:srgbClr val="000000"/>
                  </a:solidFill>
                  <a:latin typeface="Arial" panose="020B0604020202020204" pitchFamily="34" charset="0"/>
                  <a:ea typeface="微软雅黑" panose="020B0503020204020204" pitchFamily="34" charset="-122"/>
                </a:rPr>
                <a:t>，合作伙伴</a:t>
              </a:r>
              <a:endParaRPr lang="en-US" altLang="zh-CN" sz="1600" b="1" dirty="0">
                <a:solidFill>
                  <a:srgbClr val="000000"/>
                </a:solidFill>
                <a:latin typeface="Arial" panose="020B0604020202020204" pitchFamily="34" charset="0"/>
                <a:ea typeface="微软雅黑" panose="020B0503020204020204" pitchFamily="34" charset="-122"/>
              </a:endParaRPr>
            </a:p>
          </p:txBody>
        </p:sp>
        <p:sp>
          <p:nvSpPr>
            <p:cNvPr id="135" name="文本框 85">
              <a:extLst>
                <a:ext uri="{FF2B5EF4-FFF2-40B4-BE49-F238E27FC236}">
                  <a16:creationId xmlns:a16="http://schemas.microsoft.com/office/drawing/2014/main" id="{0F110DDB-C914-8CDF-4B42-1537577E61C5}"/>
                </a:ext>
              </a:extLst>
            </p:cNvPr>
            <p:cNvSpPr txBox="1"/>
            <p:nvPr/>
          </p:nvSpPr>
          <p:spPr>
            <a:xfrm>
              <a:off x="5097641" y="4189270"/>
              <a:ext cx="2402745" cy="1047383"/>
            </a:xfrm>
            <a:prstGeom prst="rect">
              <a:avLst/>
            </a:prstGeom>
            <a:noFill/>
            <a:ln w="9525">
              <a:noFill/>
            </a:ln>
          </p:spPr>
          <p:txBody>
            <a:bodyPr wrap="none">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116837" indent="-116837">
                <a:spcBef>
                  <a:spcPct val="0"/>
                </a:spcBef>
              </a:pPr>
              <a:r>
                <a:rPr lang="zh-CN" altLang="en-US" sz="1600" b="1" dirty="0">
                  <a:solidFill>
                    <a:srgbClr val="000000"/>
                  </a:solidFill>
                  <a:latin typeface="Arial" panose="020B0604020202020204" pitchFamily="34" charset="0"/>
                  <a:ea typeface="微软雅黑" panose="020B0503020204020204" pitchFamily="34" charset="-122"/>
                </a:rPr>
                <a:t>系统方案设计</a:t>
              </a:r>
              <a:endParaRPr lang="en-US" altLang="zh-CN" sz="1600" b="1" dirty="0">
                <a:solidFill>
                  <a:srgbClr val="000000"/>
                </a:solidFill>
                <a:latin typeface="Arial" panose="020B0604020202020204" pitchFamily="34" charset="0"/>
                <a:ea typeface="微软雅黑" panose="020B0503020204020204" pitchFamily="34" charset="-122"/>
              </a:endParaRPr>
            </a:p>
            <a:p>
              <a:pPr marL="116837" indent="-116837">
                <a:spcBef>
                  <a:spcPct val="0"/>
                </a:spcBef>
              </a:pPr>
              <a:r>
                <a:rPr lang="zh-CN" altLang="en-US" sz="1600" b="1" dirty="0">
                  <a:solidFill>
                    <a:srgbClr val="000000"/>
                  </a:solidFill>
                  <a:latin typeface="Arial" panose="020B0604020202020204" pitchFamily="34" charset="0"/>
                  <a:ea typeface="微软雅黑" panose="020B0503020204020204" pitchFamily="34" charset="-122"/>
                </a:rPr>
                <a:t>开发配置</a:t>
              </a:r>
              <a:endParaRPr lang="en-US" altLang="zh-CN" sz="1600" b="1" dirty="0">
                <a:solidFill>
                  <a:srgbClr val="000000"/>
                </a:solidFill>
                <a:latin typeface="Arial" panose="020B0604020202020204" pitchFamily="34" charset="0"/>
                <a:ea typeface="微软雅黑" panose="020B0503020204020204" pitchFamily="34" charset="-122"/>
              </a:endParaRPr>
            </a:p>
            <a:p>
              <a:pPr marL="116837" indent="-116837">
                <a:spcBef>
                  <a:spcPct val="0"/>
                </a:spcBef>
              </a:pPr>
              <a:r>
                <a:rPr lang="zh-CN" altLang="en-US" sz="1600" b="1" dirty="0">
                  <a:solidFill>
                    <a:srgbClr val="000000"/>
                  </a:solidFill>
                  <a:latin typeface="Arial" panose="020B0604020202020204" pitchFamily="34" charset="0"/>
                  <a:ea typeface="微软雅黑" panose="020B0503020204020204" pitchFamily="34" charset="-122"/>
                </a:rPr>
                <a:t>功能，性能，用户测试</a:t>
              </a:r>
              <a:endParaRPr lang="en-US" altLang="zh-CN" sz="1600" b="1" dirty="0">
                <a:solidFill>
                  <a:srgbClr val="000000"/>
                </a:solidFill>
                <a:latin typeface="Arial" panose="020B0604020202020204" pitchFamily="34" charset="0"/>
                <a:ea typeface="微软雅黑" panose="020B0503020204020204" pitchFamily="34" charset="-122"/>
              </a:endParaRPr>
            </a:p>
            <a:p>
              <a:pPr marL="116837" indent="-116837">
                <a:spcBef>
                  <a:spcPct val="0"/>
                </a:spcBef>
              </a:pPr>
              <a:r>
                <a:rPr lang="zh-CN" altLang="en-US" sz="1600" b="1" dirty="0">
                  <a:solidFill>
                    <a:srgbClr val="000000"/>
                  </a:solidFill>
                  <a:latin typeface="Arial" panose="020B0604020202020204" pitchFamily="34" charset="0"/>
                  <a:ea typeface="微软雅黑" panose="020B0503020204020204" pitchFamily="34" charset="-122"/>
                </a:rPr>
                <a:t>上线支持</a:t>
              </a:r>
              <a:r>
                <a:rPr lang="en-US" altLang="zh-CN" sz="1600" b="1" dirty="0">
                  <a:solidFill>
                    <a:srgbClr val="000000"/>
                  </a:solidFill>
                  <a:latin typeface="Arial" panose="020B0604020202020204" pitchFamily="34" charset="0"/>
                  <a:ea typeface="微软雅黑" panose="020B0503020204020204" pitchFamily="34" charset="-122"/>
                </a:rPr>
                <a:t>PPS</a:t>
              </a:r>
              <a:endParaRPr lang="zh-CN" altLang="en-US" sz="1600" b="1" dirty="0">
                <a:solidFill>
                  <a:srgbClr val="000000"/>
                </a:solidFill>
                <a:latin typeface="Arial" panose="020B0604020202020204" pitchFamily="34" charset="0"/>
                <a:ea typeface="微软雅黑" panose="020B0503020204020204" pitchFamily="34" charset="-122"/>
              </a:endParaRPr>
            </a:p>
          </p:txBody>
        </p:sp>
        <p:sp>
          <p:nvSpPr>
            <p:cNvPr id="136" name="矩形 86">
              <a:extLst>
                <a:ext uri="{FF2B5EF4-FFF2-40B4-BE49-F238E27FC236}">
                  <a16:creationId xmlns:a16="http://schemas.microsoft.com/office/drawing/2014/main" id="{BB1DE6AE-3EC0-DEA1-DC1D-06E7D20DD029}"/>
                </a:ext>
              </a:extLst>
            </p:cNvPr>
            <p:cNvSpPr/>
            <p:nvPr/>
          </p:nvSpPr>
          <p:spPr>
            <a:xfrm>
              <a:off x="3952282" y="5389637"/>
              <a:ext cx="3421105" cy="807982"/>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228594" indent="-228594">
                <a:spcBef>
                  <a:spcPct val="0"/>
                </a:spcBef>
              </a:pPr>
              <a:r>
                <a:rPr lang="zh-CN" altLang="en-US" sz="1600" b="1" dirty="0">
                  <a:solidFill>
                    <a:srgbClr val="000000"/>
                  </a:solidFill>
                  <a:latin typeface="Arial" panose="020B0604020202020204" pitchFamily="34" charset="0"/>
                  <a:ea typeface="微软雅黑" panose="020B0503020204020204" pitchFamily="34" charset="-122"/>
                </a:rPr>
                <a:t>问题响应</a:t>
              </a:r>
              <a:endParaRPr lang="en-US" altLang="zh-CN" sz="1600" b="1" dirty="0">
                <a:solidFill>
                  <a:srgbClr val="000000"/>
                </a:solidFill>
                <a:latin typeface="Arial" panose="020B0604020202020204" pitchFamily="34" charset="0"/>
                <a:ea typeface="微软雅黑" panose="020B0503020204020204" pitchFamily="34" charset="-122"/>
              </a:endParaRPr>
            </a:p>
            <a:p>
              <a:pPr marL="228594" indent="-228594">
                <a:spcBef>
                  <a:spcPct val="0"/>
                </a:spcBef>
              </a:pPr>
              <a:r>
                <a:rPr lang="zh-CN" altLang="en-US" sz="1600" b="1" dirty="0">
                  <a:solidFill>
                    <a:srgbClr val="000000"/>
                  </a:solidFill>
                  <a:latin typeface="Arial" panose="020B0604020202020204" pitchFamily="34" charset="0"/>
                  <a:ea typeface="微软雅黑" panose="020B0503020204020204" pitchFamily="34" charset="-122"/>
                </a:rPr>
                <a:t>智能监控</a:t>
              </a:r>
              <a:endParaRPr lang="en-US" altLang="zh-CN" sz="1600" b="1" dirty="0">
                <a:solidFill>
                  <a:srgbClr val="000000"/>
                </a:solidFill>
                <a:latin typeface="Arial" panose="020B0604020202020204" pitchFamily="34" charset="0"/>
                <a:ea typeface="微软雅黑" panose="020B0503020204020204" pitchFamily="34" charset="-122"/>
              </a:endParaRPr>
            </a:p>
            <a:p>
              <a:pPr marL="228594" indent="-228594">
                <a:spcBef>
                  <a:spcPct val="0"/>
                </a:spcBef>
              </a:pPr>
              <a:r>
                <a:rPr lang="zh-CN" altLang="en-US" sz="1600" b="1" dirty="0">
                  <a:solidFill>
                    <a:srgbClr val="000000"/>
                  </a:solidFill>
                  <a:latin typeface="Arial" panose="020B0604020202020204" pitchFamily="34" charset="0"/>
                  <a:ea typeface="微软雅黑" panose="020B0503020204020204" pitchFamily="34" charset="-122"/>
                </a:rPr>
                <a:t>健康检查</a:t>
              </a:r>
              <a:endParaRPr lang="en-US" altLang="zh-CN" sz="1600" b="1" dirty="0">
                <a:solidFill>
                  <a:srgbClr val="000000"/>
                </a:solidFill>
                <a:latin typeface="Arial" panose="020B0604020202020204" pitchFamily="34" charset="0"/>
                <a:ea typeface="微软雅黑" panose="020B0503020204020204" pitchFamily="34" charset="-122"/>
              </a:endParaRPr>
            </a:p>
          </p:txBody>
        </p:sp>
        <p:sp>
          <p:nvSpPr>
            <p:cNvPr id="137" name="矩形 87">
              <a:extLst>
                <a:ext uri="{FF2B5EF4-FFF2-40B4-BE49-F238E27FC236}">
                  <a16:creationId xmlns:a16="http://schemas.microsoft.com/office/drawing/2014/main" id="{3E34D77E-2C6A-8F00-77E5-AD44645A279E}"/>
                </a:ext>
              </a:extLst>
            </p:cNvPr>
            <p:cNvSpPr/>
            <p:nvPr/>
          </p:nvSpPr>
          <p:spPr>
            <a:xfrm>
              <a:off x="8231670" y="3323455"/>
              <a:ext cx="2198168" cy="428991"/>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spcBef>
                  <a:spcPct val="0"/>
                </a:spcBef>
                <a:buNone/>
              </a:pPr>
              <a:r>
                <a:rPr lang="zh-CN" altLang="en-US" sz="1467" b="1" dirty="0">
                  <a:solidFill>
                    <a:srgbClr val="000000"/>
                  </a:solidFill>
                  <a:latin typeface="Arial" panose="020B0604020202020204" pitchFamily="34" charset="0"/>
                  <a:ea typeface="微软雅黑" panose="020B0503020204020204" pitchFamily="34" charset="-122"/>
                </a:rPr>
                <a:t>蓄能更新</a:t>
              </a:r>
              <a:endParaRPr lang="en-US" altLang="zh-CN" sz="1467" b="1" dirty="0">
                <a:solidFill>
                  <a:srgbClr val="000000"/>
                </a:solidFill>
                <a:latin typeface="Arial" panose="020B0604020202020204" pitchFamily="34" charset="0"/>
                <a:ea typeface="微软雅黑" panose="020B0503020204020204" pitchFamily="34" charset="-122"/>
              </a:endParaRPr>
            </a:p>
            <a:p>
              <a:pPr marL="0" indent="0">
                <a:spcBef>
                  <a:spcPct val="0"/>
                </a:spcBef>
                <a:buNone/>
              </a:pPr>
              <a:endParaRPr lang="en-US" altLang="zh-CN" sz="800" b="1" dirty="0">
                <a:solidFill>
                  <a:srgbClr val="000000"/>
                </a:solidFill>
                <a:latin typeface="Arial" panose="020B0604020202020204" pitchFamily="34" charset="0"/>
                <a:ea typeface="微软雅黑" panose="020B0503020204020204" pitchFamily="34" charset="-122"/>
              </a:endParaRPr>
            </a:p>
          </p:txBody>
        </p:sp>
        <p:sp>
          <p:nvSpPr>
            <p:cNvPr id="138" name="矩形 88">
              <a:extLst>
                <a:ext uri="{FF2B5EF4-FFF2-40B4-BE49-F238E27FC236}">
                  <a16:creationId xmlns:a16="http://schemas.microsoft.com/office/drawing/2014/main" id="{5979BA1B-E877-52D2-1B94-A784538349F0}"/>
                </a:ext>
              </a:extLst>
            </p:cNvPr>
            <p:cNvSpPr/>
            <p:nvPr/>
          </p:nvSpPr>
          <p:spPr>
            <a:xfrm>
              <a:off x="7616504" y="5373385"/>
              <a:ext cx="1648790" cy="1053756"/>
            </a:xfrm>
            <a:prstGeom prst="rect">
              <a:avLst/>
            </a:prstGeom>
          </p:spPr>
          <p:txBody>
            <a:bodyPr wrap="none">
              <a:spAutoFit/>
            </a:bodyPr>
            <a:lstStyle/>
            <a:p>
              <a:pPr marL="228594" indent="-228594" defTabSz="609585" eaLnBrk="0" fontAlgn="base" hangingPunct="0">
                <a:spcBef>
                  <a:spcPct val="0"/>
                </a:spcBef>
                <a:spcAft>
                  <a:spcPct val="0"/>
                </a:spcAft>
                <a:buFont typeface="Arial" panose="020B0604020202020204" pitchFamily="34" charset="0"/>
                <a:buChar char="•"/>
                <a:defRPr/>
              </a:pPr>
              <a:r>
                <a:rPr kumimoji="1" lang="zh-CN" altLang="en-US" sz="1600" b="1" dirty="0">
                  <a:solidFill>
                    <a:prstClr val="black"/>
                  </a:solidFill>
                  <a:latin typeface="Arial" panose="020B0604020202020204" pitchFamily="34" charset="0"/>
                  <a:ea typeface="微软雅黑" panose="020B0503020204020204" pitchFamily="34" charset="-122"/>
                </a:rPr>
                <a:t>特殊时期支持</a:t>
              </a:r>
              <a:endParaRPr kumimoji="1" lang="en-US" altLang="zh-CN" sz="1600" b="1" dirty="0">
                <a:solidFill>
                  <a:prstClr val="black"/>
                </a:solidFill>
                <a:latin typeface="Arial" panose="020B0604020202020204" pitchFamily="34" charset="0"/>
                <a:ea typeface="微软雅黑" panose="020B0503020204020204" pitchFamily="34" charset="-122"/>
              </a:endParaRPr>
            </a:p>
            <a:p>
              <a:pPr marL="228594" indent="-228594" defTabSz="609585" eaLnBrk="0" fontAlgn="base" hangingPunct="0">
                <a:spcBef>
                  <a:spcPct val="0"/>
                </a:spcBef>
                <a:spcAft>
                  <a:spcPct val="0"/>
                </a:spcAft>
                <a:buFont typeface="Arial" panose="020B0604020202020204" pitchFamily="34" charset="0"/>
                <a:buChar char="•"/>
                <a:defRPr/>
              </a:pPr>
              <a:r>
                <a:rPr kumimoji="1" lang="zh-CN" altLang="en-US" sz="1600" b="1" dirty="0">
                  <a:solidFill>
                    <a:prstClr val="black"/>
                  </a:solidFill>
                  <a:latin typeface="Arial" panose="020B0604020202020204" pitchFamily="34" charset="0"/>
                  <a:ea typeface="微软雅黑" panose="020B0503020204020204" pitchFamily="34" charset="-122"/>
                </a:rPr>
                <a:t>生命周期管理</a:t>
              </a:r>
              <a:endParaRPr kumimoji="1" lang="en-US" altLang="zh-CN" sz="1600" b="1" dirty="0">
                <a:solidFill>
                  <a:prstClr val="black"/>
                </a:solidFill>
                <a:latin typeface="Arial" panose="020B0604020202020204" pitchFamily="34" charset="0"/>
                <a:ea typeface="微软雅黑" panose="020B0503020204020204" pitchFamily="34" charset="-122"/>
              </a:endParaRPr>
            </a:p>
            <a:p>
              <a:pPr marL="228594" indent="-228594" defTabSz="609585" eaLnBrk="0" fontAlgn="base" hangingPunct="0">
                <a:spcBef>
                  <a:spcPct val="0"/>
                </a:spcBef>
                <a:spcAft>
                  <a:spcPct val="0"/>
                </a:spcAft>
                <a:buFont typeface="Arial" panose="020B0604020202020204" pitchFamily="34" charset="0"/>
                <a:buChar char="•"/>
                <a:defRPr/>
              </a:pPr>
              <a:r>
                <a:rPr kumimoji="1" lang="zh-CN" altLang="en-US" sz="1600" b="1" dirty="0">
                  <a:solidFill>
                    <a:prstClr val="black"/>
                  </a:solidFill>
                  <a:latin typeface="Arial" panose="020B0604020202020204" pitchFamily="34" charset="0"/>
                  <a:ea typeface="微软雅黑" panose="020B0503020204020204" pitchFamily="34" charset="-122"/>
                </a:rPr>
                <a:t>业务系统增强</a:t>
              </a:r>
              <a:endParaRPr kumimoji="1" lang="en-US" altLang="zh-CN" sz="1600" b="1" dirty="0">
                <a:solidFill>
                  <a:prstClr val="black"/>
                </a:solidFill>
                <a:latin typeface="Arial" panose="020B0604020202020204" pitchFamily="34" charset="0"/>
                <a:ea typeface="微软雅黑" panose="020B0503020204020204" pitchFamily="34" charset="-122"/>
              </a:endParaRPr>
            </a:p>
            <a:p>
              <a:pPr defTabSz="609585" eaLnBrk="0" fontAlgn="base" hangingPunct="0">
                <a:spcBef>
                  <a:spcPct val="0"/>
                </a:spcBef>
                <a:spcAft>
                  <a:spcPct val="0"/>
                </a:spcAft>
                <a:defRPr/>
              </a:pPr>
              <a:endParaRPr kumimoji="1" lang="en-US" altLang="zh-CN" sz="1600" b="1" dirty="0">
                <a:solidFill>
                  <a:prstClr val="black"/>
                </a:solidFill>
                <a:latin typeface="Arial" panose="020B0604020202020204" pitchFamily="34" charset="0"/>
                <a:ea typeface="微软雅黑" panose="020B0503020204020204" pitchFamily="34" charset="-122"/>
              </a:endParaRPr>
            </a:p>
          </p:txBody>
        </p:sp>
        <p:grpSp>
          <p:nvGrpSpPr>
            <p:cNvPr id="139" name="组合 89">
              <a:extLst>
                <a:ext uri="{FF2B5EF4-FFF2-40B4-BE49-F238E27FC236}">
                  <a16:creationId xmlns:a16="http://schemas.microsoft.com/office/drawing/2014/main" id="{ACDEAD53-0518-EFEB-E3C2-FF9DD3052E7C}"/>
                </a:ext>
              </a:extLst>
            </p:cNvPr>
            <p:cNvGrpSpPr/>
            <p:nvPr/>
          </p:nvGrpSpPr>
          <p:grpSpPr>
            <a:xfrm>
              <a:off x="1109109" y="4410287"/>
              <a:ext cx="595844" cy="597088"/>
              <a:chOff x="4876800" y="3048000"/>
              <a:chExt cx="760413" cy="762000"/>
            </a:xfrm>
          </p:grpSpPr>
          <p:sp>
            <p:nvSpPr>
              <p:cNvPr id="160" name="Oval 28">
                <a:extLst>
                  <a:ext uri="{FF2B5EF4-FFF2-40B4-BE49-F238E27FC236}">
                    <a16:creationId xmlns:a16="http://schemas.microsoft.com/office/drawing/2014/main" id="{778CBC6A-B4CD-D4C8-7746-357ED5892282}"/>
                  </a:ext>
                </a:extLst>
              </p:cNvPr>
              <p:cNvSpPr/>
              <p:nvPr/>
            </p:nvSpPr>
            <p:spPr>
              <a:xfrm>
                <a:off x="4876800" y="3048000"/>
                <a:ext cx="760413" cy="762000"/>
              </a:xfrm>
              <a:prstGeom prst="ellipse">
                <a:avLst/>
              </a:prstGeom>
              <a:solidFill>
                <a:srgbClr val="4F5A69"/>
              </a:solidFill>
              <a:ln w="9525">
                <a:noFill/>
              </a:ln>
            </p:spPr>
            <p:txBody>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indent="0">
                  <a:spcBef>
                    <a:spcPct val="0"/>
                  </a:spcBef>
                  <a:buNone/>
                </a:pPr>
                <a:endParaRPr lang="zh-CN" altLang="en-US" sz="2133" b="1" dirty="0">
                  <a:solidFill>
                    <a:srgbClr val="000000"/>
                  </a:solidFill>
                  <a:latin typeface="+mn-ea"/>
                </a:endParaRPr>
              </a:p>
            </p:txBody>
          </p:sp>
          <p:sp>
            <p:nvSpPr>
              <p:cNvPr id="161" name="Freeform 96">
                <a:extLst>
                  <a:ext uri="{FF2B5EF4-FFF2-40B4-BE49-F238E27FC236}">
                    <a16:creationId xmlns:a16="http://schemas.microsoft.com/office/drawing/2014/main" id="{3039A826-30B9-7D94-3BA0-8ADEEBA5BFF6}"/>
                  </a:ext>
                </a:extLst>
              </p:cNvPr>
              <p:cNvSpPr>
                <a:spLocks noEditPoints="1"/>
              </p:cNvSpPr>
              <p:nvPr/>
            </p:nvSpPr>
            <p:spPr>
              <a:xfrm>
                <a:off x="5045075" y="3238499"/>
                <a:ext cx="509368" cy="429614"/>
              </a:xfrm>
              <a:custGeom>
                <a:avLst/>
                <a:gdLst/>
                <a:ahLst/>
                <a:cxnLst>
                  <a:cxn ang="0">
                    <a:pos x="0" y="2147483646"/>
                  </a:cxn>
                  <a:cxn ang="0">
                    <a:pos x="2147483646" y="0"/>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0" y="2147483646"/>
                  </a:cxn>
                  <a:cxn ang="0">
                    <a:pos x="2147483646" y="2147483646"/>
                  </a:cxn>
                </a:cxnLst>
                <a:rect l="0" t="0" r="0" b="0"/>
                <a:pathLst>
                  <a:path w="135" h="120">
                    <a:moveTo>
                      <a:pt x="9" y="45"/>
                    </a:moveTo>
                    <a:cubicBezTo>
                      <a:pt x="0" y="45"/>
                      <a:pt x="0" y="45"/>
                      <a:pt x="0" y="45"/>
                    </a:cubicBezTo>
                    <a:cubicBezTo>
                      <a:pt x="0" y="6"/>
                      <a:pt x="0" y="6"/>
                      <a:pt x="0" y="6"/>
                    </a:cubicBezTo>
                    <a:cubicBezTo>
                      <a:pt x="0" y="3"/>
                      <a:pt x="2" y="0"/>
                      <a:pt x="5" y="0"/>
                    </a:cubicBezTo>
                    <a:cubicBezTo>
                      <a:pt x="116" y="0"/>
                      <a:pt x="116" y="0"/>
                      <a:pt x="116" y="0"/>
                    </a:cubicBezTo>
                    <a:cubicBezTo>
                      <a:pt x="119" y="0"/>
                      <a:pt x="121" y="3"/>
                      <a:pt x="121" y="6"/>
                    </a:cubicBezTo>
                    <a:cubicBezTo>
                      <a:pt x="121" y="45"/>
                      <a:pt x="121" y="45"/>
                      <a:pt x="121" y="45"/>
                    </a:cubicBezTo>
                    <a:cubicBezTo>
                      <a:pt x="112" y="45"/>
                      <a:pt x="112" y="45"/>
                      <a:pt x="112" y="45"/>
                    </a:cubicBezTo>
                    <a:cubicBezTo>
                      <a:pt x="112" y="12"/>
                      <a:pt x="112" y="12"/>
                      <a:pt x="112" y="12"/>
                    </a:cubicBezTo>
                    <a:cubicBezTo>
                      <a:pt x="112" y="10"/>
                      <a:pt x="110" y="8"/>
                      <a:pt x="108" y="8"/>
                    </a:cubicBezTo>
                    <a:cubicBezTo>
                      <a:pt x="13" y="8"/>
                      <a:pt x="13" y="8"/>
                      <a:pt x="13" y="8"/>
                    </a:cubicBezTo>
                    <a:cubicBezTo>
                      <a:pt x="11" y="8"/>
                      <a:pt x="9" y="10"/>
                      <a:pt x="9" y="12"/>
                    </a:cubicBezTo>
                    <a:lnTo>
                      <a:pt x="9" y="45"/>
                    </a:lnTo>
                    <a:close/>
                    <a:moveTo>
                      <a:pt x="85" y="111"/>
                    </a:moveTo>
                    <a:cubicBezTo>
                      <a:pt x="75" y="111"/>
                      <a:pt x="75" y="111"/>
                      <a:pt x="75" y="111"/>
                    </a:cubicBezTo>
                    <a:cubicBezTo>
                      <a:pt x="75" y="102"/>
                      <a:pt x="75" y="102"/>
                      <a:pt x="75" y="102"/>
                    </a:cubicBezTo>
                    <a:cubicBezTo>
                      <a:pt x="46" y="102"/>
                      <a:pt x="46" y="102"/>
                      <a:pt x="46" y="102"/>
                    </a:cubicBezTo>
                    <a:cubicBezTo>
                      <a:pt x="46" y="111"/>
                      <a:pt x="46" y="111"/>
                      <a:pt x="46" y="111"/>
                    </a:cubicBezTo>
                    <a:cubicBezTo>
                      <a:pt x="36" y="111"/>
                      <a:pt x="36" y="111"/>
                      <a:pt x="36" y="111"/>
                    </a:cubicBezTo>
                    <a:cubicBezTo>
                      <a:pt x="36" y="111"/>
                      <a:pt x="35" y="112"/>
                      <a:pt x="35" y="113"/>
                    </a:cubicBezTo>
                    <a:cubicBezTo>
                      <a:pt x="35" y="119"/>
                      <a:pt x="35" y="119"/>
                      <a:pt x="35" y="119"/>
                    </a:cubicBezTo>
                    <a:cubicBezTo>
                      <a:pt x="35" y="120"/>
                      <a:pt x="36" y="120"/>
                      <a:pt x="36" y="120"/>
                    </a:cubicBezTo>
                    <a:cubicBezTo>
                      <a:pt x="85" y="120"/>
                      <a:pt x="85" y="120"/>
                      <a:pt x="85" y="120"/>
                    </a:cubicBezTo>
                    <a:cubicBezTo>
                      <a:pt x="85" y="120"/>
                      <a:pt x="86" y="120"/>
                      <a:pt x="86" y="119"/>
                    </a:cubicBezTo>
                    <a:cubicBezTo>
                      <a:pt x="86" y="113"/>
                      <a:pt x="86" y="113"/>
                      <a:pt x="86" y="113"/>
                    </a:cubicBezTo>
                    <a:cubicBezTo>
                      <a:pt x="86" y="112"/>
                      <a:pt x="85" y="111"/>
                      <a:pt x="85" y="111"/>
                    </a:cubicBezTo>
                    <a:close/>
                    <a:moveTo>
                      <a:pt x="134" y="84"/>
                    </a:moveTo>
                    <a:cubicBezTo>
                      <a:pt x="128" y="87"/>
                      <a:pt x="128" y="87"/>
                      <a:pt x="128" y="87"/>
                    </a:cubicBezTo>
                    <a:cubicBezTo>
                      <a:pt x="128" y="88"/>
                      <a:pt x="128" y="89"/>
                      <a:pt x="127" y="90"/>
                    </a:cubicBezTo>
                    <a:cubicBezTo>
                      <a:pt x="133" y="95"/>
                      <a:pt x="133" y="95"/>
                      <a:pt x="133" y="95"/>
                    </a:cubicBezTo>
                    <a:cubicBezTo>
                      <a:pt x="134" y="95"/>
                      <a:pt x="134" y="96"/>
                      <a:pt x="134" y="97"/>
                    </a:cubicBezTo>
                    <a:cubicBezTo>
                      <a:pt x="131" y="102"/>
                      <a:pt x="131" y="102"/>
                      <a:pt x="131" y="102"/>
                    </a:cubicBezTo>
                    <a:cubicBezTo>
                      <a:pt x="130" y="103"/>
                      <a:pt x="129" y="103"/>
                      <a:pt x="129" y="103"/>
                    </a:cubicBezTo>
                    <a:cubicBezTo>
                      <a:pt x="122" y="100"/>
                      <a:pt x="122" y="100"/>
                      <a:pt x="122" y="100"/>
                    </a:cubicBezTo>
                    <a:cubicBezTo>
                      <a:pt x="121" y="101"/>
                      <a:pt x="120" y="102"/>
                      <a:pt x="119" y="103"/>
                    </a:cubicBezTo>
                    <a:cubicBezTo>
                      <a:pt x="120" y="110"/>
                      <a:pt x="120" y="110"/>
                      <a:pt x="120" y="110"/>
                    </a:cubicBezTo>
                    <a:cubicBezTo>
                      <a:pt x="120" y="111"/>
                      <a:pt x="120" y="112"/>
                      <a:pt x="119" y="112"/>
                    </a:cubicBezTo>
                    <a:cubicBezTo>
                      <a:pt x="113" y="114"/>
                      <a:pt x="113" y="114"/>
                      <a:pt x="113" y="114"/>
                    </a:cubicBezTo>
                    <a:cubicBezTo>
                      <a:pt x="112" y="114"/>
                      <a:pt x="111" y="114"/>
                      <a:pt x="111" y="113"/>
                    </a:cubicBezTo>
                    <a:cubicBezTo>
                      <a:pt x="108" y="106"/>
                      <a:pt x="108" y="106"/>
                      <a:pt x="108" y="106"/>
                    </a:cubicBezTo>
                    <a:cubicBezTo>
                      <a:pt x="107" y="106"/>
                      <a:pt x="105" y="106"/>
                      <a:pt x="104" y="106"/>
                    </a:cubicBezTo>
                    <a:cubicBezTo>
                      <a:pt x="100" y="112"/>
                      <a:pt x="100" y="112"/>
                      <a:pt x="100" y="112"/>
                    </a:cubicBezTo>
                    <a:cubicBezTo>
                      <a:pt x="100" y="112"/>
                      <a:pt x="99" y="113"/>
                      <a:pt x="98" y="112"/>
                    </a:cubicBezTo>
                    <a:cubicBezTo>
                      <a:pt x="92" y="109"/>
                      <a:pt x="92" y="109"/>
                      <a:pt x="92" y="109"/>
                    </a:cubicBezTo>
                    <a:cubicBezTo>
                      <a:pt x="92" y="109"/>
                      <a:pt x="91" y="108"/>
                      <a:pt x="92" y="107"/>
                    </a:cubicBezTo>
                    <a:cubicBezTo>
                      <a:pt x="94" y="100"/>
                      <a:pt x="94" y="100"/>
                      <a:pt x="94" y="100"/>
                    </a:cubicBezTo>
                    <a:cubicBezTo>
                      <a:pt x="93" y="100"/>
                      <a:pt x="92" y="99"/>
                      <a:pt x="92" y="97"/>
                    </a:cubicBezTo>
                    <a:cubicBezTo>
                      <a:pt x="84" y="99"/>
                      <a:pt x="84" y="99"/>
                      <a:pt x="84" y="99"/>
                    </a:cubicBezTo>
                    <a:cubicBezTo>
                      <a:pt x="84" y="99"/>
                      <a:pt x="83" y="98"/>
                      <a:pt x="83" y="98"/>
                    </a:cubicBezTo>
                    <a:cubicBezTo>
                      <a:pt x="81" y="91"/>
                      <a:pt x="81" y="91"/>
                      <a:pt x="81" y="91"/>
                    </a:cubicBezTo>
                    <a:cubicBezTo>
                      <a:pt x="81" y="91"/>
                      <a:pt x="81" y="90"/>
                      <a:pt x="82" y="90"/>
                    </a:cubicBezTo>
                    <a:cubicBezTo>
                      <a:pt x="88" y="87"/>
                      <a:pt x="88" y="87"/>
                      <a:pt x="88" y="87"/>
                    </a:cubicBezTo>
                    <a:cubicBezTo>
                      <a:pt x="88" y="85"/>
                      <a:pt x="88" y="84"/>
                      <a:pt x="89" y="83"/>
                    </a:cubicBezTo>
                    <a:cubicBezTo>
                      <a:pt x="83" y="78"/>
                      <a:pt x="83" y="78"/>
                      <a:pt x="83" y="78"/>
                    </a:cubicBezTo>
                    <a:cubicBezTo>
                      <a:pt x="82" y="78"/>
                      <a:pt x="82" y="77"/>
                      <a:pt x="82" y="77"/>
                    </a:cubicBezTo>
                    <a:cubicBezTo>
                      <a:pt x="85" y="71"/>
                      <a:pt x="85" y="71"/>
                      <a:pt x="85" y="71"/>
                    </a:cubicBezTo>
                    <a:cubicBezTo>
                      <a:pt x="86" y="70"/>
                      <a:pt x="87" y="70"/>
                      <a:pt x="87" y="70"/>
                    </a:cubicBezTo>
                    <a:cubicBezTo>
                      <a:pt x="94" y="73"/>
                      <a:pt x="94" y="73"/>
                      <a:pt x="94" y="73"/>
                    </a:cubicBezTo>
                    <a:cubicBezTo>
                      <a:pt x="95" y="72"/>
                      <a:pt x="96" y="71"/>
                      <a:pt x="97" y="70"/>
                    </a:cubicBezTo>
                    <a:cubicBezTo>
                      <a:pt x="96" y="63"/>
                      <a:pt x="96" y="63"/>
                      <a:pt x="96" y="63"/>
                    </a:cubicBezTo>
                    <a:cubicBezTo>
                      <a:pt x="96" y="62"/>
                      <a:pt x="96" y="62"/>
                      <a:pt x="97" y="61"/>
                    </a:cubicBezTo>
                    <a:cubicBezTo>
                      <a:pt x="103" y="59"/>
                      <a:pt x="103" y="59"/>
                      <a:pt x="103" y="59"/>
                    </a:cubicBezTo>
                    <a:cubicBezTo>
                      <a:pt x="104" y="59"/>
                      <a:pt x="105" y="60"/>
                      <a:pt x="105" y="60"/>
                    </a:cubicBezTo>
                    <a:cubicBezTo>
                      <a:pt x="108" y="67"/>
                      <a:pt x="108" y="67"/>
                      <a:pt x="108" y="67"/>
                    </a:cubicBezTo>
                    <a:cubicBezTo>
                      <a:pt x="109" y="67"/>
                      <a:pt x="111" y="67"/>
                      <a:pt x="112" y="67"/>
                    </a:cubicBezTo>
                    <a:cubicBezTo>
                      <a:pt x="116" y="61"/>
                      <a:pt x="116" y="61"/>
                      <a:pt x="116" y="61"/>
                    </a:cubicBezTo>
                    <a:cubicBezTo>
                      <a:pt x="117" y="61"/>
                      <a:pt x="117" y="61"/>
                      <a:pt x="118" y="61"/>
                    </a:cubicBezTo>
                    <a:cubicBezTo>
                      <a:pt x="124" y="64"/>
                      <a:pt x="124" y="64"/>
                      <a:pt x="124" y="64"/>
                    </a:cubicBezTo>
                    <a:cubicBezTo>
                      <a:pt x="124" y="64"/>
                      <a:pt x="125" y="65"/>
                      <a:pt x="124" y="66"/>
                    </a:cubicBezTo>
                    <a:cubicBezTo>
                      <a:pt x="122" y="73"/>
                      <a:pt x="122" y="73"/>
                      <a:pt x="122" y="73"/>
                    </a:cubicBezTo>
                    <a:cubicBezTo>
                      <a:pt x="123" y="74"/>
                      <a:pt x="124" y="75"/>
                      <a:pt x="124" y="76"/>
                    </a:cubicBezTo>
                    <a:cubicBezTo>
                      <a:pt x="132" y="74"/>
                      <a:pt x="132" y="74"/>
                      <a:pt x="132" y="74"/>
                    </a:cubicBezTo>
                    <a:cubicBezTo>
                      <a:pt x="132" y="74"/>
                      <a:pt x="133" y="75"/>
                      <a:pt x="133" y="76"/>
                    </a:cubicBezTo>
                    <a:cubicBezTo>
                      <a:pt x="135" y="82"/>
                      <a:pt x="135" y="82"/>
                      <a:pt x="135" y="82"/>
                    </a:cubicBezTo>
                    <a:cubicBezTo>
                      <a:pt x="135" y="82"/>
                      <a:pt x="135" y="83"/>
                      <a:pt x="134" y="84"/>
                    </a:cubicBezTo>
                    <a:close/>
                    <a:moveTo>
                      <a:pt x="121" y="83"/>
                    </a:moveTo>
                    <a:cubicBezTo>
                      <a:pt x="118" y="76"/>
                      <a:pt x="111" y="72"/>
                      <a:pt x="104" y="74"/>
                    </a:cubicBezTo>
                    <a:cubicBezTo>
                      <a:pt x="97" y="76"/>
                      <a:pt x="93" y="83"/>
                      <a:pt x="95" y="90"/>
                    </a:cubicBezTo>
                    <a:cubicBezTo>
                      <a:pt x="98" y="97"/>
                      <a:pt x="105" y="101"/>
                      <a:pt x="112" y="99"/>
                    </a:cubicBezTo>
                    <a:cubicBezTo>
                      <a:pt x="119" y="97"/>
                      <a:pt x="123" y="90"/>
                      <a:pt x="121" y="83"/>
                    </a:cubicBezTo>
                    <a:close/>
                    <a:moveTo>
                      <a:pt x="119" y="83"/>
                    </a:moveTo>
                    <a:cubicBezTo>
                      <a:pt x="121" y="89"/>
                      <a:pt x="117" y="96"/>
                      <a:pt x="111" y="98"/>
                    </a:cubicBezTo>
                    <a:cubicBezTo>
                      <a:pt x="105" y="99"/>
                      <a:pt x="99" y="96"/>
                      <a:pt x="97" y="90"/>
                    </a:cubicBezTo>
                    <a:cubicBezTo>
                      <a:pt x="95" y="84"/>
                      <a:pt x="99" y="77"/>
                      <a:pt x="105" y="76"/>
                    </a:cubicBezTo>
                    <a:cubicBezTo>
                      <a:pt x="111" y="74"/>
                      <a:pt x="117" y="77"/>
                      <a:pt x="119" y="83"/>
                    </a:cubicBezTo>
                    <a:close/>
                    <a:moveTo>
                      <a:pt x="116" y="84"/>
                    </a:moveTo>
                    <a:cubicBezTo>
                      <a:pt x="115" y="80"/>
                      <a:pt x="110" y="77"/>
                      <a:pt x="106" y="79"/>
                    </a:cubicBezTo>
                    <a:cubicBezTo>
                      <a:pt x="101" y="80"/>
                      <a:pt x="99" y="85"/>
                      <a:pt x="100" y="89"/>
                    </a:cubicBezTo>
                    <a:cubicBezTo>
                      <a:pt x="101" y="93"/>
                      <a:pt x="106" y="96"/>
                      <a:pt x="110" y="95"/>
                    </a:cubicBezTo>
                    <a:cubicBezTo>
                      <a:pt x="115" y="93"/>
                      <a:pt x="117" y="89"/>
                      <a:pt x="116" y="84"/>
                    </a:cubicBezTo>
                    <a:close/>
                    <a:moveTo>
                      <a:pt x="112" y="63"/>
                    </a:moveTo>
                    <a:cubicBezTo>
                      <a:pt x="115" y="60"/>
                      <a:pt x="115" y="60"/>
                      <a:pt x="115" y="60"/>
                    </a:cubicBezTo>
                    <a:cubicBezTo>
                      <a:pt x="116" y="58"/>
                      <a:pt x="118" y="57"/>
                      <a:pt x="120" y="58"/>
                    </a:cubicBezTo>
                    <a:cubicBezTo>
                      <a:pt x="121" y="59"/>
                      <a:pt x="121" y="59"/>
                      <a:pt x="121" y="59"/>
                    </a:cubicBezTo>
                    <a:cubicBezTo>
                      <a:pt x="121" y="50"/>
                      <a:pt x="121" y="50"/>
                      <a:pt x="121" y="50"/>
                    </a:cubicBezTo>
                    <a:cubicBezTo>
                      <a:pt x="112" y="50"/>
                      <a:pt x="112" y="50"/>
                      <a:pt x="112" y="50"/>
                    </a:cubicBezTo>
                    <a:lnTo>
                      <a:pt x="112" y="63"/>
                    </a:lnTo>
                    <a:close/>
                    <a:moveTo>
                      <a:pt x="80" y="99"/>
                    </a:moveTo>
                    <a:cubicBezTo>
                      <a:pt x="78" y="93"/>
                      <a:pt x="78" y="93"/>
                      <a:pt x="78" y="93"/>
                    </a:cubicBezTo>
                    <a:cubicBezTo>
                      <a:pt x="13" y="93"/>
                      <a:pt x="13" y="93"/>
                      <a:pt x="13" y="93"/>
                    </a:cubicBezTo>
                    <a:cubicBezTo>
                      <a:pt x="11" y="93"/>
                      <a:pt x="9" y="91"/>
                      <a:pt x="9" y="88"/>
                    </a:cubicBezTo>
                    <a:cubicBezTo>
                      <a:pt x="9" y="50"/>
                      <a:pt x="9" y="50"/>
                      <a:pt x="9" y="50"/>
                    </a:cubicBezTo>
                    <a:cubicBezTo>
                      <a:pt x="0" y="50"/>
                      <a:pt x="0" y="50"/>
                      <a:pt x="0" y="50"/>
                    </a:cubicBezTo>
                    <a:cubicBezTo>
                      <a:pt x="0" y="95"/>
                      <a:pt x="0" y="95"/>
                      <a:pt x="0" y="95"/>
                    </a:cubicBezTo>
                    <a:cubicBezTo>
                      <a:pt x="0" y="98"/>
                      <a:pt x="2" y="100"/>
                      <a:pt x="5" y="100"/>
                    </a:cubicBezTo>
                    <a:cubicBezTo>
                      <a:pt x="81" y="100"/>
                      <a:pt x="81" y="100"/>
                      <a:pt x="81" y="100"/>
                    </a:cubicBezTo>
                    <a:cubicBezTo>
                      <a:pt x="80" y="100"/>
                      <a:pt x="80" y="100"/>
                      <a:pt x="80" y="99"/>
                    </a:cubicBezTo>
                    <a:close/>
                  </a:path>
                </a:pathLst>
              </a:custGeom>
              <a:solidFill>
                <a:srgbClr val="FFFFFF">
                  <a:alpha val="100000"/>
                </a:srgbClr>
              </a:solidFill>
              <a:ln w="9525">
                <a:noFill/>
              </a:ln>
            </p:spPr>
            <p:txBody>
              <a:bodyPr/>
              <a:lstStyle/>
              <a:p>
                <a:endParaRPr lang="zh-CN" altLang="en-US" sz="2400" b="1">
                  <a:latin typeface="+mn-ea"/>
                </a:endParaRPr>
              </a:p>
            </p:txBody>
          </p:sp>
        </p:grpSp>
        <p:grpSp>
          <p:nvGrpSpPr>
            <p:cNvPr id="140" name="组合 92">
              <a:extLst>
                <a:ext uri="{FF2B5EF4-FFF2-40B4-BE49-F238E27FC236}">
                  <a16:creationId xmlns:a16="http://schemas.microsoft.com/office/drawing/2014/main" id="{33A4A0D1-7C62-8262-66A8-3D00F70AA749}"/>
                </a:ext>
              </a:extLst>
            </p:cNvPr>
            <p:cNvGrpSpPr/>
            <p:nvPr/>
          </p:nvGrpSpPr>
          <p:grpSpPr>
            <a:xfrm>
              <a:off x="1109109" y="5474437"/>
              <a:ext cx="595844" cy="597088"/>
              <a:chOff x="54235" y="5756885"/>
              <a:chExt cx="595844" cy="597088"/>
            </a:xfrm>
          </p:grpSpPr>
          <p:sp>
            <p:nvSpPr>
              <p:cNvPr id="155" name="Oval 28">
                <a:extLst>
                  <a:ext uri="{FF2B5EF4-FFF2-40B4-BE49-F238E27FC236}">
                    <a16:creationId xmlns:a16="http://schemas.microsoft.com/office/drawing/2014/main" id="{9C50C092-2B37-CAF9-98CA-AEBA2A2D3BCF}"/>
                  </a:ext>
                </a:extLst>
              </p:cNvPr>
              <p:cNvSpPr>
                <a:spLocks noChangeArrowheads="1"/>
              </p:cNvSpPr>
              <p:nvPr/>
            </p:nvSpPr>
            <p:spPr bwMode="auto">
              <a:xfrm>
                <a:off x="53409" y="5756678"/>
                <a:ext cx="596173" cy="596833"/>
              </a:xfrm>
              <a:prstGeom prst="ellipse">
                <a:avLst/>
              </a:prstGeom>
              <a:solidFill>
                <a:srgbClr val="4F5A69"/>
              </a:solidFill>
              <a:ln>
                <a:noFill/>
              </a:ln>
            </p:spPr>
            <p:txBody>
              <a:bodyPr/>
              <a:lstStyle/>
              <a:p>
                <a:pPr defTabSz="1219170">
                  <a:defRPr/>
                </a:pPr>
                <a:endParaRPr lang="zh-CN" altLang="en-US" sz="2133" b="1" kern="0">
                  <a:solidFill>
                    <a:prstClr val="black"/>
                  </a:solidFill>
                  <a:latin typeface="+mn-ea"/>
                </a:endParaRPr>
              </a:p>
            </p:txBody>
          </p:sp>
          <p:grpSp>
            <p:nvGrpSpPr>
              <p:cNvPr id="156" name="组合 94">
                <a:extLst>
                  <a:ext uri="{FF2B5EF4-FFF2-40B4-BE49-F238E27FC236}">
                    <a16:creationId xmlns:a16="http://schemas.microsoft.com/office/drawing/2014/main" id="{A31E053B-FF35-385E-E9B6-612453561EE5}"/>
                  </a:ext>
                </a:extLst>
              </p:cNvPr>
              <p:cNvGrpSpPr/>
              <p:nvPr/>
            </p:nvGrpSpPr>
            <p:grpSpPr>
              <a:xfrm>
                <a:off x="111651" y="5892928"/>
                <a:ext cx="437132" cy="335718"/>
                <a:chOff x="9381258" y="4481716"/>
                <a:chExt cx="623596" cy="478922"/>
              </a:xfrm>
              <a:solidFill>
                <a:sysClr val="window" lastClr="FFFFFF"/>
              </a:solidFill>
            </p:grpSpPr>
            <p:sp>
              <p:nvSpPr>
                <p:cNvPr id="157" name="Freeform 359">
                  <a:extLst>
                    <a:ext uri="{FF2B5EF4-FFF2-40B4-BE49-F238E27FC236}">
                      <a16:creationId xmlns:a16="http://schemas.microsoft.com/office/drawing/2014/main" id="{820DBDEB-9F10-3D8B-F57A-A08B4C09F545}"/>
                    </a:ext>
                  </a:extLst>
                </p:cNvPr>
                <p:cNvSpPr>
                  <a:spLocks noEditPoints="1"/>
                </p:cNvSpPr>
                <p:nvPr/>
              </p:nvSpPr>
              <p:spPr bwMode="auto">
                <a:xfrm>
                  <a:off x="9632359" y="4481716"/>
                  <a:ext cx="372495" cy="437350"/>
                </a:xfrm>
                <a:custGeom>
                  <a:avLst/>
                  <a:gdLst>
                    <a:gd name="T0" fmla="*/ 89 w 179"/>
                    <a:gd name="T1" fmla="*/ 210 h 210"/>
                    <a:gd name="T2" fmla="*/ 13 w 179"/>
                    <a:gd name="T3" fmla="*/ 157 h 210"/>
                    <a:gd name="T4" fmla="*/ 0 w 179"/>
                    <a:gd name="T5" fmla="*/ 124 h 210"/>
                    <a:gd name="T6" fmla="*/ 0 w 179"/>
                    <a:gd name="T7" fmla="*/ 38 h 210"/>
                    <a:gd name="T8" fmla="*/ 16 w 179"/>
                    <a:gd name="T9" fmla="*/ 15 h 210"/>
                    <a:gd name="T10" fmla="*/ 162 w 179"/>
                    <a:gd name="T11" fmla="*/ 15 h 210"/>
                    <a:gd name="T12" fmla="*/ 179 w 179"/>
                    <a:gd name="T13" fmla="*/ 38 h 210"/>
                    <a:gd name="T14" fmla="*/ 179 w 179"/>
                    <a:gd name="T15" fmla="*/ 124 h 210"/>
                    <a:gd name="T16" fmla="*/ 165 w 179"/>
                    <a:gd name="T17" fmla="*/ 157 h 210"/>
                    <a:gd name="T18" fmla="*/ 89 w 179"/>
                    <a:gd name="T19" fmla="*/ 210 h 210"/>
                    <a:gd name="T20" fmla="*/ 89 w 179"/>
                    <a:gd name="T21" fmla="*/ 11 h 210"/>
                    <a:gd name="T22" fmla="*/ 19 w 179"/>
                    <a:gd name="T23" fmla="*/ 22 h 210"/>
                    <a:gd name="T24" fmla="*/ 7 w 179"/>
                    <a:gd name="T25" fmla="*/ 38 h 210"/>
                    <a:gd name="T26" fmla="*/ 7 w 179"/>
                    <a:gd name="T27" fmla="*/ 124 h 210"/>
                    <a:gd name="T28" fmla="*/ 18 w 179"/>
                    <a:gd name="T29" fmla="*/ 153 h 210"/>
                    <a:gd name="T30" fmla="*/ 89 w 179"/>
                    <a:gd name="T31" fmla="*/ 203 h 210"/>
                    <a:gd name="T32" fmla="*/ 160 w 179"/>
                    <a:gd name="T33" fmla="*/ 152 h 210"/>
                    <a:gd name="T34" fmla="*/ 171 w 179"/>
                    <a:gd name="T35" fmla="*/ 124 h 210"/>
                    <a:gd name="T36" fmla="*/ 171 w 179"/>
                    <a:gd name="T37" fmla="*/ 38 h 210"/>
                    <a:gd name="T38" fmla="*/ 160 w 179"/>
                    <a:gd name="T39" fmla="*/ 22 h 210"/>
                    <a:gd name="T40" fmla="*/ 89 w 179"/>
                    <a:gd name="T41" fmla="*/ 1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9" h="210">
                      <a:moveTo>
                        <a:pt x="89" y="210"/>
                      </a:moveTo>
                      <a:cubicBezTo>
                        <a:pt x="68" y="210"/>
                        <a:pt x="47" y="193"/>
                        <a:pt x="13" y="157"/>
                      </a:cubicBezTo>
                      <a:cubicBezTo>
                        <a:pt x="5" y="149"/>
                        <a:pt x="0" y="134"/>
                        <a:pt x="0" y="124"/>
                      </a:cubicBezTo>
                      <a:cubicBezTo>
                        <a:pt x="0" y="38"/>
                        <a:pt x="0" y="38"/>
                        <a:pt x="0" y="38"/>
                      </a:cubicBezTo>
                      <a:cubicBezTo>
                        <a:pt x="0" y="28"/>
                        <a:pt x="7" y="18"/>
                        <a:pt x="16" y="15"/>
                      </a:cubicBezTo>
                      <a:cubicBezTo>
                        <a:pt x="64" y="0"/>
                        <a:pt x="115" y="0"/>
                        <a:pt x="162" y="15"/>
                      </a:cubicBezTo>
                      <a:cubicBezTo>
                        <a:pt x="171" y="18"/>
                        <a:pt x="179" y="28"/>
                        <a:pt x="179" y="38"/>
                      </a:cubicBezTo>
                      <a:cubicBezTo>
                        <a:pt x="179" y="124"/>
                        <a:pt x="179" y="124"/>
                        <a:pt x="179" y="124"/>
                      </a:cubicBezTo>
                      <a:cubicBezTo>
                        <a:pt x="178" y="134"/>
                        <a:pt x="173" y="149"/>
                        <a:pt x="165" y="157"/>
                      </a:cubicBezTo>
                      <a:cubicBezTo>
                        <a:pt x="131" y="193"/>
                        <a:pt x="110" y="210"/>
                        <a:pt x="89" y="210"/>
                      </a:cubicBezTo>
                      <a:close/>
                      <a:moveTo>
                        <a:pt x="89" y="11"/>
                      </a:moveTo>
                      <a:cubicBezTo>
                        <a:pt x="65" y="11"/>
                        <a:pt x="42" y="14"/>
                        <a:pt x="19" y="22"/>
                      </a:cubicBezTo>
                      <a:cubicBezTo>
                        <a:pt x="12" y="24"/>
                        <a:pt x="7" y="31"/>
                        <a:pt x="7" y="38"/>
                      </a:cubicBezTo>
                      <a:cubicBezTo>
                        <a:pt x="7" y="124"/>
                        <a:pt x="7" y="124"/>
                        <a:pt x="7" y="124"/>
                      </a:cubicBezTo>
                      <a:cubicBezTo>
                        <a:pt x="7" y="132"/>
                        <a:pt x="12" y="146"/>
                        <a:pt x="18" y="153"/>
                      </a:cubicBezTo>
                      <a:cubicBezTo>
                        <a:pt x="51" y="186"/>
                        <a:pt x="71" y="203"/>
                        <a:pt x="89" y="203"/>
                      </a:cubicBezTo>
                      <a:cubicBezTo>
                        <a:pt x="107" y="203"/>
                        <a:pt x="127" y="186"/>
                        <a:pt x="160" y="152"/>
                      </a:cubicBezTo>
                      <a:cubicBezTo>
                        <a:pt x="167" y="146"/>
                        <a:pt x="171" y="132"/>
                        <a:pt x="171" y="124"/>
                      </a:cubicBezTo>
                      <a:cubicBezTo>
                        <a:pt x="171" y="38"/>
                        <a:pt x="171" y="38"/>
                        <a:pt x="171" y="38"/>
                      </a:cubicBezTo>
                      <a:cubicBezTo>
                        <a:pt x="171" y="31"/>
                        <a:pt x="166" y="24"/>
                        <a:pt x="160" y="22"/>
                      </a:cubicBezTo>
                      <a:cubicBezTo>
                        <a:pt x="137" y="14"/>
                        <a:pt x="113" y="11"/>
                        <a:pt x="89" y="11"/>
                      </a:cubicBezTo>
                      <a:close/>
                    </a:path>
                  </a:pathLst>
                </a:custGeom>
                <a:grpFill/>
                <a:ln>
                  <a:noFill/>
                </a:ln>
              </p:spPr>
              <p:txBody>
                <a:bodyPr/>
                <a:lstStyle/>
                <a:p>
                  <a:pPr defTabSz="1219170">
                    <a:defRPr/>
                  </a:pPr>
                  <a:endParaRPr lang="en-US" sz="2133" b="1" kern="0">
                    <a:solidFill>
                      <a:prstClr val="black"/>
                    </a:solidFill>
                    <a:latin typeface="+mn-ea"/>
                  </a:endParaRPr>
                </a:p>
              </p:txBody>
            </p:sp>
            <p:sp>
              <p:nvSpPr>
                <p:cNvPr id="158" name="Freeform 360">
                  <a:extLst>
                    <a:ext uri="{FF2B5EF4-FFF2-40B4-BE49-F238E27FC236}">
                      <a16:creationId xmlns:a16="http://schemas.microsoft.com/office/drawing/2014/main" id="{7204B352-AA58-C4B2-55C3-2B0036251894}"/>
                    </a:ext>
                  </a:extLst>
                </p:cNvPr>
                <p:cNvSpPr>
                  <a:spLocks noEditPoints="1"/>
                </p:cNvSpPr>
                <p:nvPr/>
              </p:nvSpPr>
              <p:spPr bwMode="auto">
                <a:xfrm>
                  <a:off x="9660629" y="4519963"/>
                  <a:ext cx="312630" cy="370833"/>
                </a:xfrm>
                <a:custGeom>
                  <a:avLst/>
                  <a:gdLst>
                    <a:gd name="T0" fmla="*/ 144 w 150"/>
                    <a:gd name="T1" fmla="*/ 11 h 178"/>
                    <a:gd name="T2" fmla="*/ 75 w 150"/>
                    <a:gd name="T3" fmla="*/ 0 h 178"/>
                    <a:gd name="T4" fmla="*/ 7 w 150"/>
                    <a:gd name="T5" fmla="*/ 11 h 178"/>
                    <a:gd name="T6" fmla="*/ 0 w 150"/>
                    <a:gd name="T7" fmla="*/ 20 h 178"/>
                    <a:gd name="T8" fmla="*/ 0 w 150"/>
                    <a:gd name="T9" fmla="*/ 106 h 178"/>
                    <a:gd name="T10" fmla="*/ 9 w 150"/>
                    <a:gd name="T11" fmla="*/ 130 h 178"/>
                    <a:gd name="T12" fmla="*/ 75 w 150"/>
                    <a:gd name="T13" fmla="*/ 178 h 178"/>
                    <a:gd name="T14" fmla="*/ 141 w 150"/>
                    <a:gd name="T15" fmla="*/ 130 h 178"/>
                    <a:gd name="T16" fmla="*/ 150 w 150"/>
                    <a:gd name="T17" fmla="*/ 106 h 178"/>
                    <a:gd name="T18" fmla="*/ 150 w 150"/>
                    <a:gd name="T19" fmla="*/ 20 h 178"/>
                    <a:gd name="T20" fmla="*/ 144 w 150"/>
                    <a:gd name="T21" fmla="*/ 11 h 178"/>
                    <a:gd name="T22" fmla="*/ 134 w 150"/>
                    <a:gd name="T23" fmla="*/ 31 h 178"/>
                    <a:gd name="T24" fmla="*/ 74 w 150"/>
                    <a:gd name="T25" fmla="*/ 51 h 178"/>
                    <a:gd name="T26" fmla="*/ 74 w 150"/>
                    <a:gd name="T27" fmla="*/ 60 h 178"/>
                    <a:gd name="T28" fmla="*/ 134 w 150"/>
                    <a:gd name="T29" fmla="*/ 40 h 178"/>
                    <a:gd name="T30" fmla="*/ 134 w 150"/>
                    <a:gd name="T31" fmla="*/ 50 h 178"/>
                    <a:gd name="T32" fmla="*/ 74 w 150"/>
                    <a:gd name="T33" fmla="*/ 70 h 178"/>
                    <a:gd name="T34" fmla="*/ 74 w 150"/>
                    <a:gd name="T35" fmla="*/ 79 h 178"/>
                    <a:gd name="T36" fmla="*/ 134 w 150"/>
                    <a:gd name="T37" fmla="*/ 59 h 178"/>
                    <a:gd name="T38" fmla="*/ 134 w 150"/>
                    <a:gd name="T39" fmla="*/ 70 h 178"/>
                    <a:gd name="T40" fmla="*/ 74 w 150"/>
                    <a:gd name="T41" fmla="*/ 89 h 178"/>
                    <a:gd name="T42" fmla="*/ 74 w 150"/>
                    <a:gd name="T43" fmla="*/ 98 h 178"/>
                    <a:gd name="T44" fmla="*/ 134 w 150"/>
                    <a:gd name="T45" fmla="*/ 79 h 178"/>
                    <a:gd name="T46" fmla="*/ 134 w 150"/>
                    <a:gd name="T47" fmla="*/ 89 h 178"/>
                    <a:gd name="T48" fmla="*/ 74 w 150"/>
                    <a:gd name="T49" fmla="*/ 108 h 178"/>
                    <a:gd name="T50" fmla="*/ 74 w 150"/>
                    <a:gd name="T51" fmla="*/ 118 h 178"/>
                    <a:gd name="T52" fmla="*/ 134 w 150"/>
                    <a:gd name="T53" fmla="*/ 98 h 178"/>
                    <a:gd name="T54" fmla="*/ 134 w 150"/>
                    <a:gd name="T55" fmla="*/ 106 h 178"/>
                    <a:gd name="T56" fmla="*/ 134 w 150"/>
                    <a:gd name="T57" fmla="*/ 108 h 178"/>
                    <a:gd name="T58" fmla="*/ 74 w 150"/>
                    <a:gd name="T59" fmla="*/ 128 h 178"/>
                    <a:gd name="T60" fmla="*/ 74 w 150"/>
                    <a:gd name="T61" fmla="*/ 137 h 178"/>
                    <a:gd name="T62" fmla="*/ 129 w 150"/>
                    <a:gd name="T63" fmla="*/ 119 h 178"/>
                    <a:gd name="T64" fmla="*/ 114 w 150"/>
                    <a:gd name="T65" fmla="*/ 134 h 178"/>
                    <a:gd name="T66" fmla="*/ 74 w 150"/>
                    <a:gd name="T67" fmla="*/ 147 h 178"/>
                    <a:gd name="T68" fmla="*/ 74 w 150"/>
                    <a:gd name="T69" fmla="*/ 156 h 178"/>
                    <a:gd name="T70" fmla="*/ 99 w 150"/>
                    <a:gd name="T71" fmla="*/ 148 h 178"/>
                    <a:gd name="T72" fmla="*/ 75 w 150"/>
                    <a:gd name="T73" fmla="*/ 162 h 178"/>
                    <a:gd name="T74" fmla="*/ 21 w 150"/>
                    <a:gd name="T75" fmla="*/ 118 h 178"/>
                    <a:gd name="T76" fmla="*/ 16 w 150"/>
                    <a:gd name="T77" fmla="*/ 106 h 178"/>
                    <a:gd name="T78" fmla="*/ 16 w 150"/>
                    <a:gd name="T79" fmla="*/ 25 h 178"/>
                    <a:gd name="T80" fmla="*/ 74 w 150"/>
                    <a:gd name="T81" fmla="*/ 16 h 178"/>
                    <a:gd name="T82" fmla="*/ 74 w 150"/>
                    <a:gd name="T83" fmla="*/ 21 h 178"/>
                    <a:gd name="T84" fmla="*/ 89 w 150"/>
                    <a:gd name="T85" fmla="*/ 16 h 178"/>
                    <a:gd name="T86" fmla="*/ 111 w 150"/>
                    <a:gd name="T87" fmla="*/ 19 h 178"/>
                    <a:gd name="T88" fmla="*/ 74 w 150"/>
                    <a:gd name="T89" fmla="*/ 31 h 178"/>
                    <a:gd name="T90" fmla="*/ 74 w 150"/>
                    <a:gd name="T91" fmla="*/ 40 h 178"/>
                    <a:gd name="T92" fmla="*/ 128 w 150"/>
                    <a:gd name="T93" fmla="*/ 23 h 178"/>
                    <a:gd name="T94" fmla="*/ 134 w 150"/>
                    <a:gd name="T95" fmla="*/ 25 h 178"/>
                    <a:gd name="T96" fmla="*/ 134 w 150"/>
                    <a:gd name="T97" fmla="*/ 3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0" h="178">
                      <a:moveTo>
                        <a:pt x="144" y="11"/>
                      </a:moveTo>
                      <a:cubicBezTo>
                        <a:pt x="121" y="3"/>
                        <a:pt x="98" y="0"/>
                        <a:pt x="75" y="0"/>
                      </a:cubicBezTo>
                      <a:cubicBezTo>
                        <a:pt x="52" y="0"/>
                        <a:pt x="29" y="3"/>
                        <a:pt x="7" y="11"/>
                      </a:cubicBezTo>
                      <a:cubicBezTo>
                        <a:pt x="3" y="12"/>
                        <a:pt x="0" y="17"/>
                        <a:pt x="0" y="20"/>
                      </a:cubicBezTo>
                      <a:cubicBezTo>
                        <a:pt x="0" y="106"/>
                        <a:pt x="0" y="106"/>
                        <a:pt x="0" y="106"/>
                      </a:cubicBezTo>
                      <a:cubicBezTo>
                        <a:pt x="0" y="112"/>
                        <a:pt x="4" y="124"/>
                        <a:pt x="9" y="130"/>
                      </a:cubicBezTo>
                      <a:cubicBezTo>
                        <a:pt x="40" y="161"/>
                        <a:pt x="60" y="178"/>
                        <a:pt x="75" y="178"/>
                      </a:cubicBezTo>
                      <a:cubicBezTo>
                        <a:pt x="91" y="178"/>
                        <a:pt x="110" y="161"/>
                        <a:pt x="141" y="130"/>
                      </a:cubicBezTo>
                      <a:cubicBezTo>
                        <a:pt x="146" y="124"/>
                        <a:pt x="150" y="112"/>
                        <a:pt x="150" y="106"/>
                      </a:cubicBezTo>
                      <a:cubicBezTo>
                        <a:pt x="150" y="20"/>
                        <a:pt x="150" y="20"/>
                        <a:pt x="150" y="20"/>
                      </a:cubicBezTo>
                      <a:cubicBezTo>
                        <a:pt x="150" y="17"/>
                        <a:pt x="147" y="12"/>
                        <a:pt x="144" y="11"/>
                      </a:cubicBezTo>
                      <a:close/>
                      <a:moveTo>
                        <a:pt x="134" y="31"/>
                      </a:moveTo>
                      <a:cubicBezTo>
                        <a:pt x="74" y="51"/>
                        <a:pt x="74" y="51"/>
                        <a:pt x="74" y="51"/>
                      </a:cubicBezTo>
                      <a:cubicBezTo>
                        <a:pt x="74" y="60"/>
                        <a:pt x="74" y="60"/>
                        <a:pt x="74" y="60"/>
                      </a:cubicBezTo>
                      <a:cubicBezTo>
                        <a:pt x="134" y="40"/>
                        <a:pt x="134" y="40"/>
                        <a:pt x="134" y="40"/>
                      </a:cubicBezTo>
                      <a:cubicBezTo>
                        <a:pt x="134" y="50"/>
                        <a:pt x="134" y="50"/>
                        <a:pt x="134" y="50"/>
                      </a:cubicBezTo>
                      <a:cubicBezTo>
                        <a:pt x="74" y="70"/>
                        <a:pt x="74" y="70"/>
                        <a:pt x="74" y="70"/>
                      </a:cubicBezTo>
                      <a:cubicBezTo>
                        <a:pt x="74" y="79"/>
                        <a:pt x="74" y="79"/>
                        <a:pt x="74" y="79"/>
                      </a:cubicBezTo>
                      <a:cubicBezTo>
                        <a:pt x="134" y="59"/>
                        <a:pt x="134" y="59"/>
                        <a:pt x="134" y="59"/>
                      </a:cubicBezTo>
                      <a:cubicBezTo>
                        <a:pt x="134" y="70"/>
                        <a:pt x="134" y="70"/>
                        <a:pt x="134" y="70"/>
                      </a:cubicBezTo>
                      <a:cubicBezTo>
                        <a:pt x="74" y="89"/>
                        <a:pt x="74" y="89"/>
                        <a:pt x="74" y="89"/>
                      </a:cubicBezTo>
                      <a:cubicBezTo>
                        <a:pt x="74" y="98"/>
                        <a:pt x="74" y="98"/>
                        <a:pt x="74" y="98"/>
                      </a:cubicBezTo>
                      <a:cubicBezTo>
                        <a:pt x="134" y="79"/>
                        <a:pt x="134" y="79"/>
                        <a:pt x="134" y="79"/>
                      </a:cubicBezTo>
                      <a:cubicBezTo>
                        <a:pt x="134" y="89"/>
                        <a:pt x="134" y="89"/>
                        <a:pt x="134" y="89"/>
                      </a:cubicBezTo>
                      <a:cubicBezTo>
                        <a:pt x="74" y="108"/>
                        <a:pt x="74" y="108"/>
                        <a:pt x="74" y="108"/>
                      </a:cubicBezTo>
                      <a:cubicBezTo>
                        <a:pt x="74" y="118"/>
                        <a:pt x="74" y="118"/>
                        <a:pt x="74" y="118"/>
                      </a:cubicBezTo>
                      <a:cubicBezTo>
                        <a:pt x="134" y="98"/>
                        <a:pt x="134" y="98"/>
                        <a:pt x="134" y="98"/>
                      </a:cubicBezTo>
                      <a:cubicBezTo>
                        <a:pt x="134" y="106"/>
                        <a:pt x="134" y="106"/>
                        <a:pt x="134" y="106"/>
                      </a:cubicBezTo>
                      <a:cubicBezTo>
                        <a:pt x="134" y="107"/>
                        <a:pt x="134" y="108"/>
                        <a:pt x="134" y="108"/>
                      </a:cubicBezTo>
                      <a:cubicBezTo>
                        <a:pt x="74" y="128"/>
                        <a:pt x="74" y="128"/>
                        <a:pt x="74" y="128"/>
                      </a:cubicBezTo>
                      <a:cubicBezTo>
                        <a:pt x="74" y="137"/>
                        <a:pt x="74" y="137"/>
                        <a:pt x="74" y="137"/>
                      </a:cubicBezTo>
                      <a:cubicBezTo>
                        <a:pt x="129" y="119"/>
                        <a:pt x="129" y="119"/>
                        <a:pt x="129" y="119"/>
                      </a:cubicBezTo>
                      <a:cubicBezTo>
                        <a:pt x="125" y="123"/>
                        <a:pt x="120" y="129"/>
                        <a:pt x="114" y="134"/>
                      </a:cubicBezTo>
                      <a:cubicBezTo>
                        <a:pt x="74" y="147"/>
                        <a:pt x="74" y="147"/>
                        <a:pt x="74" y="147"/>
                      </a:cubicBezTo>
                      <a:cubicBezTo>
                        <a:pt x="74" y="156"/>
                        <a:pt x="74" y="156"/>
                        <a:pt x="74" y="156"/>
                      </a:cubicBezTo>
                      <a:cubicBezTo>
                        <a:pt x="99" y="148"/>
                        <a:pt x="99" y="148"/>
                        <a:pt x="99" y="148"/>
                      </a:cubicBezTo>
                      <a:cubicBezTo>
                        <a:pt x="89" y="156"/>
                        <a:pt x="81" y="162"/>
                        <a:pt x="75" y="162"/>
                      </a:cubicBezTo>
                      <a:cubicBezTo>
                        <a:pt x="63" y="162"/>
                        <a:pt x="35" y="133"/>
                        <a:pt x="21" y="118"/>
                      </a:cubicBezTo>
                      <a:cubicBezTo>
                        <a:pt x="19" y="116"/>
                        <a:pt x="16" y="109"/>
                        <a:pt x="16" y="106"/>
                      </a:cubicBezTo>
                      <a:cubicBezTo>
                        <a:pt x="16" y="25"/>
                        <a:pt x="16" y="25"/>
                        <a:pt x="16" y="25"/>
                      </a:cubicBezTo>
                      <a:cubicBezTo>
                        <a:pt x="35" y="19"/>
                        <a:pt x="54" y="16"/>
                        <a:pt x="74" y="16"/>
                      </a:cubicBezTo>
                      <a:cubicBezTo>
                        <a:pt x="74" y="21"/>
                        <a:pt x="74" y="21"/>
                        <a:pt x="74" y="21"/>
                      </a:cubicBezTo>
                      <a:cubicBezTo>
                        <a:pt x="89" y="16"/>
                        <a:pt x="89" y="16"/>
                        <a:pt x="89" y="16"/>
                      </a:cubicBezTo>
                      <a:cubicBezTo>
                        <a:pt x="96" y="17"/>
                        <a:pt x="104" y="18"/>
                        <a:pt x="111" y="19"/>
                      </a:cubicBezTo>
                      <a:cubicBezTo>
                        <a:pt x="74" y="31"/>
                        <a:pt x="74" y="31"/>
                        <a:pt x="74" y="31"/>
                      </a:cubicBezTo>
                      <a:cubicBezTo>
                        <a:pt x="74" y="40"/>
                        <a:pt x="74" y="40"/>
                        <a:pt x="74" y="40"/>
                      </a:cubicBezTo>
                      <a:cubicBezTo>
                        <a:pt x="128" y="23"/>
                        <a:pt x="128" y="23"/>
                        <a:pt x="128" y="23"/>
                      </a:cubicBezTo>
                      <a:cubicBezTo>
                        <a:pt x="130" y="23"/>
                        <a:pt x="132" y="24"/>
                        <a:pt x="134" y="25"/>
                      </a:cubicBezTo>
                      <a:lnTo>
                        <a:pt x="134" y="31"/>
                      </a:lnTo>
                      <a:close/>
                    </a:path>
                  </a:pathLst>
                </a:custGeom>
                <a:grpFill/>
                <a:ln>
                  <a:noFill/>
                </a:ln>
              </p:spPr>
              <p:txBody>
                <a:bodyPr/>
                <a:lstStyle/>
                <a:p>
                  <a:pPr defTabSz="1219170">
                    <a:defRPr/>
                  </a:pPr>
                  <a:endParaRPr lang="en-US" sz="2133" b="1" kern="0">
                    <a:solidFill>
                      <a:prstClr val="black"/>
                    </a:solidFill>
                    <a:latin typeface="+mn-ea"/>
                  </a:endParaRPr>
                </a:p>
              </p:txBody>
            </p:sp>
            <p:sp>
              <p:nvSpPr>
                <p:cNvPr id="159" name="Freeform 361">
                  <a:extLst>
                    <a:ext uri="{FF2B5EF4-FFF2-40B4-BE49-F238E27FC236}">
                      <a16:creationId xmlns:a16="http://schemas.microsoft.com/office/drawing/2014/main" id="{BA158EA4-9202-27BF-81EA-40340A94546A}"/>
                    </a:ext>
                  </a:extLst>
                </p:cNvPr>
                <p:cNvSpPr>
                  <a:spLocks noEditPoints="1"/>
                </p:cNvSpPr>
                <p:nvPr/>
              </p:nvSpPr>
              <p:spPr bwMode="auto">
                <a:xfrm>
                  <a:off x="9381258" y="4521626"/>
                  <a:ext cx="397439" cy="439012"/>
                </a:xfrm>
                <a:custGeom>
                  <a:avLst/>
                  <a:gdLst>
                    <a:gd name="T0" fmla="*/ 145 w 190"/>
                    <a:gd name="T1" fmla="*/ 193 h 211"/>
                    <a:gd name="T2" fmla="*/ 142 w 190"/>
                    <a:gd name="T3" fmla="*/ 142 h 211"/>
                    <a:gd name="T4" fmla="*/ 88 w 190"/>
                    <a:gd name="T5" fmla="*/ 130 h 211"/>
                    <a:gd name="T6" fmla="*/ 124 w 190"/>
                    <a:gd name="T7" fmla="*/ 113 h 211"/>
                    <a:gd name="T8" fmla="*/ 123 w 190"/>
                    <a:gd name="T9" fmla="*/ 99 h 211"/>
                    <a:gd name="T10" fmla="*/ 87 w 190"/>
                    <a:gd name="T11" fmla="*/ 84 h 211"/>
                    <a:gd name="T12" fmla="*/ 120 w 190"/>
                    <a:gd name="T13" fmla="*/ 70 h 211"/>
                    <a:gd name="T14" fmla="*/ 123 w 190"/>
                    <a:gd name="T15" fmla="*/ 56 h 211"/>
                    <a:gd name="T16" fmla="*/ 97 w 190"/>
                    <a:gd name="T17" fmla="*/ 43 h 211"/>
                    <a:gd name="T18" fmla="*/ 123 w 190"/>
                    <a:gd name="T19" fmla="*/ 18 h 211"/>
                    <a:gd name="T20" fmla="*/ 120 w 190"/>
                    <a:gd name="T21" fmla="*/ 0 h 211"/>
                    <a:gd name="T22" fmla="*/ 0 w 190"/>
                    <a:gd name="T23" fmla="*/ 104 h 211"/>
                    <a:gd name="T24" fmla="*/ 120 w 190"/>
                    <a:gd name="T25" fmla="*/ 211 h 211"/>
                    <a:gd name="T26" fmla="*/ 178 w 190"/>
                    <a:gd name="T27" fmla="*/ 175 h 211"/>
                    <a:gd name="T28" fmla="*/ 76 w 190"/>
                    <a:gd name="T29" fmla="*/ 62 h 211"/>
                    <a:gd name="T30" fmla="*/ 95 w 190"/>
                    <a:gd name="T31" fmla="*/ 62 h 211"/>
                    <a:gd name="T32" fmla="*/ 94 w 190"/>
                    <a:gd name="T33" fmla="*/ 18 h 211"/>
                    <a:gd name="T34" fmla="*/ 66 w 190"/>
                    <a:gd name="T35" fmla="*/ 51 h 211"/>
                    <a:gd name="T36" fmla="*/ 94 w 190"/>
                    <a:gd name="T37" fmla="*/ 18 h 211"/>
                    <a:gd name="T38" fmla="*/ 63 w 190"/>
                    <a:gd name="T39" fmla="*/ 65 h 211"/>
                    <a:gd name="T40" fmla="*/ 72 w 190"/>
                    <a:gd name="T41" fmla="*/ 99 h 211"/>
                    <a:gd name="T42" fmla="*/ 32 w 190"/>
                    <a:gd name="T43" fmla="*/ 84 h 211"/>
                    <a:gd name="T44" fmla="*/ 22 w 190"/>
                    <a:gd name="T45" fmla="*/ 113 h 211"/>
                    <a:gd name="T46" fmla="*/ 22 w 190"/>
                    <a:gd name="T47" fmla="*/ 94 h 211"/>
                    <a:gd name="T48" fmla="*/ 22 w 190"/>
                    <a:gd name="T49" fmla="*/ 113 h 211"/>
                    <a:gd name="T50" fmla="*/ 31 w 190"/>
                    <a:gd name="T51" fmla="*/ 124 h 211"/>
                    <a:gd name="T52" fmla="*/ 72 w 190"/>
                    <a:gd name="T53" fmla="*/ 113 h 211"/>
                    <a:gd name="T54" fmla="*/ 63 w 190"/>
                    <a:gd name="T55" fmla="*/ 147 h 211"/>
                    <a:gd name="T56" fmla="*/ 50 w 190"/>
                    <a:gd name="T57" fmla="*/ 164 h 211"/>
                    <a:gd name="T58" fmla="*/ 83 w 190"/>
                    <a:gd name="T59" fmla="*/ 174 h 211"/>
                    <a:gd name="T60" fmla="*/ 50 w 190"/>
                    <a:gd name="T61" fmla="*/ 164 h 211"/>
                    <a:gd name="T62" fmla="*/ 75 w 190"/>
                    <a:gd name="T63" fmla="*/ 152 h 211"/>
                    <a:gd name="T64" fmla="*/ 94 w 190"/>
                    <a:gd name="T65" fmla="*/ 152 h 211"/>
                    <a:gd name="T66" fmla="*/ 120 w 190"/>
                    <a:gd name="T67" fmla="*/ 194 h 211"/>
                    <a:gd name="T68" fmla="*/ 107 w 190"/>
                    <a:gd name="T69" fmla="*/ 156 h 211"/>
                    <a:gd name="T70" fmla="*/ 120 w 190"/>
                    <a:gd name="T71" fmla="*/ 194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0" h="211">
                      <a:moveTo>
                        <a:pt x="178" y="175"/>
                      </a:moveTo>
                      <a:cubicBezTo>
                        <a:pt x="169" y="183"/>
                        <a:pt x="157" y="190"/>
                        <a:pt x="145" y="193"/>
                      </a:cubicBezTo>
                      <a:cubicBezTo>
                        <a:pt x="151" y="185"/>
                        <a:pt x="157" y="174"/>
                        <a:pt x="160" y="160"/>
                      </a:cubicBezTo>
                      <a:cubicBezTo>
                        <a:pt x="155" y="155"/>
                        <a:pt x="149" y="149"/>
                        <a:pt x="142" y="142"/>
                      </a:cubicBezTo>
                      <a:cubicBezTo>
                        <a:pt x="130" y="141"/>
                        <a:pt x="117" y="141"/>
                        <a:pt x="105" y="142"/>
                      </a:cubicBezTo>
                      <a:cubicBezTo>
                        <a:pt x="102" y="135"/>
                        <a:pt x="95" y="131"/>
                        <a:pt x="88" y="130"/>
                      </a:cubicBezTo>
                      <a:cubicBezTo>
                        <a:pt x="87" y="124"/>
                        <a:pt x="87" y="119"/>
                        <a:pt x="86" y="113"/>
                      </a:cubicBezTo>
                      <a:cubicBezTo>
                        <a:pt x="124" y="113"/>
                        <a:pt x="124" y="113"/>
                        <a:pt x="124" y="113"/>
                      </a:cubicBezTo>
                      <a:cubicBezTo>
                        <a:pt x="124" y="110"/>
                        <a:pt x="123" y="107"/>
                        <a:pt x="123" y="105"/>
                      </a:cubicBezTo>
                      <a:cubicBezTo>
                        <a:pt x="123" y="99"/>
                        <a:pt x="123" y="99"/>
                        <a:pt x="123" y="99"/>
                      </a:cubicBezTo>
                      <a:cubicBezTo>
                        <a:pt x="86" y="99"/>
                        <a:pt x="86" y="99"/>
                        <a:pt x="86" y="99"/>
                      </a:cubicBezTo>
                      <a:cubicBezTo>
                        <a:pt x="86" y="94"/>
                        <a:pt x="87" y="89"/>
                        <a:pt x="87" y="84"/>
                      </a:cubicBezTo>
                      <a:cubicBezTo>
                        <a:pt x="96" y="83"/>
                        <a:pt x="103" y="78"/>
                        <a:pt x="106" y="70"/>
                      </a:cubicBezTo>
                      <a:cubicBezTo>
                        <a:pt x="111" y="70"/>
                        <a:pt x="115" y="70"/>
                        <a:pt x="120" y="70"/>
                      </a:cubicBezTo>
                      <a:cubicBezTo>
                        <a:pt x="121" y="70"/>
                        <a:pt x="122" y="70"/>
                        <a:pt x="123" y="70"/>
                      </a:cubicBezTo>
                      <a:cubicBezTo>
                        <a:pt x="123" y="56"/>
                        <a:pt x="123" y="56"/>
                        <a:pt x="123" y="56"/>
                      </a:cubicBezTo>
                      <a:cubicBezTo>
                        <a:pt x="118" y="56"/>
                        <a:pt x="112" y="56"/>
                        <a:pt x="106" y="56"/>
                      </a:cubicBezTo>
                      <a:cubicBezTo>
                        <a:pt x="105" y="50"/>
                        <a:pt x="101" y="46"/>
                        <a:pt x="97" y="43"/>
                      </a:cubicBezTo>
                      <a:cubicBezTo>
                        <a:pt x="103" y="27"/>
                        <a:pt x="112" y="17"/>
                        <a:pt x="120" y="17"/>
                      </a:cubicBezTo>
                      <a:cubicBezTo>
                        <a:pt x="121" y="17"/>
                        <a:pt x="122" y="17"/>
                        <a:pt x="123" y="18"/>
                      </a:cubicBezTo>
                      <a:cubicBezTo>
                        <a:pt x="124" y="11"/>
                        <a:pt x="128" y="5"/>
                        <a:pt x="134" y="1"/>
                      </a:cubicBezTo>
                      <a:cubicBezTo>
                        <a:pt x="129" y="1"/>
                        <a:pt x="124" y="0"/>
                        <a:pt x="120" y="0"/>
                      </a:cubicBezTo>
                      <a:cubicBezTo>
                        <a:pt x="70" y="0"/>
                        <a:pt x="29" y="35"/>
                        <a:pt x="18" y="82"/>
                      </a:cubicBezTo>
                      <a:cubicBezTo>
                        <a:pt x="8" y="84"/>
                        <a:pt x="0" y="93"/>
                        <a:pt x="0" y="104"/>
                      </a:cubicBezTo>
                      <a:cubicBezTo>
                        <a:pt x="0" y="114"/>
                        <a:pt x="7" y="123"/>
                        <a:pt x="17" y="125"/>
                      </a:cubicBezTo>
                      <a:cubicBezTo>
                        <a:pt x="26" y="174"/>
                        <a:pt x="69" y="211"/>
                        <a:pt x="120" y="211"/>
                      </a:cubicBezTo>
                      <a:cubicBezTo>
                        <a:pt x="147" y="211"/>
                        <a:pt x="172" y="200"/>
                        <a:pt x="190" y="183"/>
                      </a:cubicBezTo>
                      <a:cubicBezTo>
                        <a:pt x="187" y="181"/>
                        <a:pt x="182" y="178"/>
                        <a:pt x="178" y="175"/>
                      </a:cubicBezTo>
                      <a:close/>
                      <a:moveTo>
                        <a:pt x="85" y="72"/>
                      </a:moveTo>
                      <a:cubicBezTo>
                        <a:pt x="80" y="72"/>
                        <a:pt x="76" y="67"/>
                        <a:pt x="76" y="62"/>
                      </a:cubicBezTo>
                      <a:cubicBezTo>
                        <a:pt x="76" y="57"/>
                        <a:pt x="80" y="53"/>
                        <a:pt x="85" y="53"/>
                      </a:cubicBezTo>
                      <a:cubicBezTo>
                        <a:pt x="91" y="53"/>
                        <a:pt x="95" y="57"/>
                        <a:pt x="95" y="62"/>
                      </a:cubicBezTo>
                      <a:cubicBezTo>
                        <a:pt x="95" y="67"/>
                        <a:pt x="91" y="72"/>
                        <a:pt x="85" y="72"/>
                      </a:cubicBezTo>
                      <a:close/>
                      <a:moveTo>
                        <a:pt x="94" y="18"/>
                      </a:moveTo>
                      <a:cubicBezTo>
                        <a:pt x="90" y="24"/>
                        <a:pt x="86" y="32"/>
                        <a:pt x="83" y="40"/>
                      </a:cubicBezTo>
                      <a:cubicBezTo>
                        <a:pt x="76" y="41"/>
                        <a:pt x="70" y="45"/>
                        <a:pt x="66" y="51"/>
                      </a:cubicBezTo>
                      <a:cubicBezTo>
                        <a:pt x="61" y="50"/>
                        <a:pt x="55" y="49"/>
                        <a:pt x="50" y="48"/>
                      </a:cubicBezTo>
                      <a:cubicBezTo>
                        <a:pt x="61" y="34"/>
                        <a:pt x="77" y="23"/>
                        <a:pt x="94" y="18"/>
                      </a:cubicBezTo>
                      <a:close/>
                      <a:moveTo>
                        <a:pt x="42" y="60"/>
                      </a:moveTo>
                      <a:cubicBezTo>
                        <a:pt x="49" y="62"/>
                        <a:pt x="56" y="64"/>
                        <a:pt x="63" y="65"/>
                      </a:cubicBezTo>
                      <a:cubicBezTo>
                        <a:pt x="64" y="72"/>
                        <a:pt x="68" y="78"/>
                        <a:pt x="74" y="81"/>
                      </a:cubicBezTo>
                      <a:cubicBezTo>
                        <a:pt x="73" y="87"/>
                        <a:pt x="72" y="93"/>
                        <a:pt x="72" y="99"/>
                      </a:cubicBezTo>
                      <a:cubicBezTo>
                        <a:pt x="44" y="99"/>
                        <a:pt x="44" y="99"/>
                        <a:pt x="44" y="99"/>
                      </a:cubicBezTo>
                      <a:cubicBezTo>
                        <a:pt x="42" y="92"/>
                        <a:pt x="38" y="87"/>
                        <a:pt x="32" y="84"/>
                      </a:cubicBezTo>
                      <a:cubicBezTo>
                        <a:pt x="34" y="76"/>
                        <a:pt x="37" y="68"/>
                        <a:pt x="42" y="60"/>
                      </a:cubicBezTo>
                      <a:close/>
                      <a:moveTo>
                        <a:pt x="22" y="113"/>
                      </a:moveTo>
                      <a:cubicBezTo>
                        <a:pt x="17" y="113"/>
                        <a:pt x="13" y="109"/>
                        <a:pt x="13" y="104"/>
                      </a:cubicBezTo>
                      <a:cubicBezTo>
                        <a:pt x="13" y="98"/>
                        <a:pt x="17" y="94"/>
                        <a:pt x="22" y="94"/>
                      </a:cubicBezTo>
                      <a:cubicBezTo>
                        <a:pt x="27" y="94"/>
                        <a:pt x="32" y="98"/>
                        <a:pt x="32" y="104"/>
                      </a:cubicBezTo>
                      <a:cubicBezTo>
                        <a:pt x="32" y="109"/>
                        <a:pt x="27" y="113"/>
                        <a:pt x="22" y="113"/>
                      </a:cubicBezTo>
                      <a:close/>
                      <a:moveTo>
                        <a:pt x="42" y="151"/>
                      </a:moveTo>
                      <a:cubicBezTo>
                        <a:pt x="37" y="143"/>
                        <a:pt x="33" y="134"/>
                        <a:pt x="31" y="124"/>
                      </a:cubicBezTo>
                      <a:cubicBezTo>
                        <a:pt x="36" y="121"/>
                        <a:pt x="40" y="118"/>
                        <a:pt x="42" y="113"/>
                      </a:cubicBezTo>
                      <a:cubicBezTo>
                        <a:pt x="72" y="113"/>
                        <a:pt x="72" y="113"/>
                        <a:pt x="72" y="113"/>
                      </a:cubicBezTo>
                      <a:cubicBezTo>
                        <a:pt x="72" y="120"/>
                        <a:pt x="73" y="126"/>
                        <a:pt x="74" y="132"/>
                      </a:cubicBezTo>
                      <a:cubicBezTo>
                        <a:pt x="69" y="136"/>
                        <a:pt x="65" y="141"/>
                        <a:pt x="63" y="147"/>
                      </a:cubicBezTo>
                      <a:cubicBezTo>
                        <a:pt x="56" y="148"/>
                        <a:pt x="49" y="150"/>
                        <a:pt x="42" y="151"/>
                      </a:cubicBezTo>
                      <a:close/>
                      <a:moveTo>
                        <a:pt x="50" y="164"/>
                      </a:moveTo>
                      <a:cubicBezTo>
                        <a:pt x="55" y="163"/>
                        <a:pt x="60" y="162"/>
                        <a:pt x="65" y="161"/>
                      </a:cubicBezTo>
                      <a:cubicBezTo>
                        <a:pt x="68" y="168"/>
                        <a:pt x="75" y="173"/>
                        <a:pt x="83" y="174"/>
                      </a:cubicBezTo>
                      <a:cubicBezTo>
                        <a:pt x="87" y="181"/>
                        <a:pt x="90" y="188"/>
                        <a:pt x="94" y="193"/>
                      </a:cubicBezTo>
                      <a:cubicBezTo>
                        <a:pt x="77" y="188"/>
                        <a:pt x="61" y="178"/>
                        <a:pt x="50" y="164"/>
                      </a:cubicBezTo>
                      <a:close/>
                      <a:moveTo>
                        <a:pt x="85" y="161"/>
                      </a:moveTo>
                      <a:cubicBezTo>
                        <a:pt x="80" y="161"/>
                        <a:pt x="75" y="157"/>
                        <a:pt x="75" y="152"/>
                      </a:cubicBezTo>
                      <a:cubicBezTo>
                        <a:pt x="75" y="146"/>
                        <a:pt x="80" y="142"/>
                        <a:pt x="85" y="142"/>
                      </a:cubicBezTo>
                      <a:cubicBezTo>
                        <a:pt x="90" y="142"/>
                        <a:pt x="94" y="146"/>
                        <a:pt x="94" y="152"/>
                      </a:cubicBezTo>
                      <a:cubicBezTo>
                        <a:pt x="94" y="157"/>
                        <a:pt x="90" y="161"/>
                        <a:pt x="85" y="161"/>
                      </a:cubicBezTo>
                      <a:close/>
                      <a:moveTo>
                        <a:pt x="120" y="194"/>
                      </a:moveTo>
                      <a:cubicBezTo>
                        <a:pt x="112" y="194"/>
                        <a:pt x="104" y="185"/>
                        <a:pt x="97" y="170"/>
                      </a:cubicBezTo>
                      <a:cubicBezTo>
                        <a:pt x="102" y="167"/>
                        <a:pt x="105" y="162"/>
                        <a:pt x="107" y="156"/>
                      </a:cubicBezTo>
                      <a:cubicBezTo>
                        <a:pt x="120" y="155"/>
                        <a:pt x="133" y="156"/>
                        <a:pt x="147" y="157"/>
                      </a:cubicBezTo>
                      <a:cubicBezTo>
                        <a:pt x="140" y="180"/>
                        <a:pt x="130" y="194"/>
                        <a:pt x="120" y="194"/>
                      </a:cubicBezTo>
                      <a:close/>
                    </a:path>
                  </a:pathLst>
                </a:custGeom>
                <a:grpFill/>
                <a:ln>
                  <a:noFill/>
                </a:ln>
              </p:spPr>
              <p:txBody>
                <a:bodyPr/>
                <a:lstStyle/>
                <a:p>
                  <a:pPr defTabSz="1219170">
                    <a:defRPr/>
                  </a:pPr>
                  <a:endParaRPr lang="en-US" sz="2133" b="1" kern="0">
                    <a:solidFill>
                      <a:prstClr val="black"/>
                    </a:solidFill>
                    <a:latin typeface="+mn-ea"/>
                  </a:endParaRPr>
                </a:p>
              </p:txBody>
            </p:sp>
          </p:grpSp>
        </p:grpSp>
        <p:grpSp>
          <p:nvGrpSpPr>
            <p:cNvPr id="141" name="组合 98">
              <a:extLst>
                <a:ext uri="{FF2B5EF4-FFF2-40B4-BE49-F238E27FC236}">
                  <a16:creationId xmlns:a16="http://schemas.microsoft.com/office/drawing/2014/main" id="{6A5EE078-6365-675E-088C-5ADB8094DF94}"/>
                </a:ext>
              </a:extLst>
            </p:cNvPr>
            <p:cNvGrpSpPr/>
            <p:nvPr/>
          </p:nvGrpSpPr>
          <p:grpSpPr>
            <a:xfrm>
              <a:off x="1063033" y="3349551"/>
              <a:ext cx="595844" cy="597088"/>
              <a:chOff x="-175750" y="4395789"/>
              <a:chExt cx="595844" cy="597088"/>
            </a:xfrm>
          </p:grpSpPr>
          <p:sp>
            <p:nvSpPr>
              <p:cNvPr id="146" name="Oval 28">
                <a:extLst>
                  <a:ext uri="{FF2B5EF4-FFF2-40B4-BE49-F238E27FC236}">
                    <a16:creationId xmlns:a16="http://schemas.microsoft.com/office/drawing/2014/main" id="{CE724A9B-C135-F78F-55F4-D1B6A1E83EC5}"/>
                  </a:ext>
                </a:extLst>
              </p:cNvPr>
              <p:cNvSpPr>
                <a:spLocks noChangeArrowheads="1"/>
              </p:cNvSpPr>
              <p:nvPr/>
            </p:nvSpPr>
            <p:spPr bwMode="auto">
              <a:xfrm>
                <a:off x="-175860" y="4396567"/>
                <a:ext cx="596173" cy="596833"/>
              </a:xfrm>
              <a:prstGeom prst="ellipse">
                <a:avLst/>
              </a:prstGeom>
              <a:solidFill>
                <a:srgbClr val="4F5A69"/>
              </a:solidFill>
              <a:ln>
                <a:noFill/>
              </a:ln>
            </p:spPr>
            <p:txBody>
              <a:bodyPr/>
              <a:lstStyle/>
              <a:p>
                <a:pPr defTabSz="1219170">
                  <a:defRPr/>
                </a:pPr>
                <a:endParaRPr lang="zh-CN" altLang="en-US" sz="2133" b="1" kern="0">
                  <a:solidFill>
                    <a:prstClr val="black"/>
                  </a:solidFill>
                  <a:latin typeface="+mn-ea"/>
                </a:endParaRPr>
              </a:p>
            </p:txBody>
          </p:sp>
          <p:grpSp>
            <p:nvGrpSpPr>
              <p:cNvPr id="147" name="组合 100">
                <a:extLst>
                  <a:ext uri="{FF2B5EF4-FFF2-40B4-BE49-F238E27FC236}">
                    <a16:creationId xmlns:a16="http://schemas.microsoft.com/office/drawing/2014/main" id="{E338B3FB-E359-8AA2-26CC-0CD6D8F78F25}"/>
                  </a:ext>
                </a:extLst>
              </p:cNvPr>
              <p:cNvGrpSpPr/>
              <p:nvPr/>
            </p:nvGrpSpPr>
            <p:grpSpPr>
              <a:xfrm>
                <a:off x="-55794" y="4518039"/>
                <a:ext cx="344636" cy="340659"/>
                <a:chOff x="4931272" y="4471739"/>
                <a:chExt cx="432361" cy="427371"/>
              </a:xfrm>
              <a:solidFill>
                <a:sysClr val="window" lastClr="FFFFFF"/>
              </a:solidFill>
            </p:grpSpPr>
            <p:sp>
              <p:nvSpPr>
                <p:cNvPr id="148" name="Freeform 187">
                  <a:extLst>
                    <a:ext uri="{FF2B5EF4-FFF2-40B4-BE49-F238E27FC236}">
                      <a16:creationId xmlns:a16="http://schemas.microsoft.com/office/drawing/2014/main" id="{EE280ABA-B450-C45A-B7F5-D14AF702F0F6}"/>
                    </a:ext>
                  </a:extLst>
                </p:cNvPr>
                <p:cNvSpPr/>
                <p:nvPr/>
              </p:nvSpPr>
              <p:spPr bwMode="auto">
                <a:xfrm>
                  <a:off x="5049339" y="4722840"/>
                  <a:ext cx="292675" cy="176270"/>
                </a:xfrm>
                <a:custGeom>
                  <a:avLst/>
                  <a:gdLst>
                    <a:gd name="T0" fmla="*/ 100 w 141"/>
                    <a:gd name="T1" fmla="*/ 0 h 84"/>
                    <a:gd name="T2" fmla="*/ 71 w 141"/>
                    <a:gd name="T3" fmla="*/ 0 h 84"/>
                    <a:gd name="T4" fmla="*/ 89 w 141"/>
                    <a:gd name="T5" fmla="*/ 23 h 84"/>
                    <a:gd name="T6" fmla="*/ 100 w 141"/>
                    <a:gd name="T7" fmla="*/ 23 h 84"/>
                    <a:gd name="T8" fmla="*/ 119 w 141"/>
                    <a:gd name="T9" fmla="*/ 42 h 84"/>
                    <a:gd name="T10" fmla="*/ 100 w 141"/>
                    <a:gd name="T11" fmla="*/ 62 h 84"/>
                    <a:gd name="T12" fmla="*/ 42 w 141"/>
                    <a:gd name="T13" fmla="*/ 62 h 84"/>
                    <a:gd name="T14" fmla="*/ 23 w 141"/>
                    <a:gd name="T15" fmla="*/ 42 h 84"/>
                    <a:gd name="T16" fmla="*/ 26 w 141"/>
                    <a:gd name="T17" fmla="*/ 31 h 84"/>
                    <a:gd name="T18" fmla="*/ 2 w 141"/>
                    <a:gd name="T19" fmla="*/ 31 h 84"/>
                    <a:gd name="T20" fmla="*/ 0 w 141"/>
                    <a:gd name="T21" fmla="*/ 42 h 84"/>
                    <a:gd name="T22" fmla="*/ 42 w 141"/>
                    <a:gd name="T23" fmla="*/ 84 h 84"/>
                    <a:gd name="T24" fmla="*/ 100 w 141"/>
                    <a:gd name="T25" fmla="*/ 84 h 84"/>
                    <a:gd name="T26" fmla="*/ 141 w 141"/>
                    <a:gd name="T27" fmla="*/ 42 h 84"/>
                    <a:gd name="T28" fmla="*/ 100 w 141"/>
                    <a:gd name="T29"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1" h="84">
                      <a:moveTo>
                        <a:pt x="100" y="0"/>
                      </a:moveTo>
                      <a:cubicBezTo>
                        <a:pt x="71" y="0"/>
                        <a:pt x="71" y="0"/>
                        <a:pt x="71" y="0"/>
                      </a:cubicBezTo>
                      <a:cubicBezTo>
                        <a:pt x="79" y="6"/>
                        <a:pt x="86" y="14"/>
                        <a:pt x="89" y="23"/>
                      </a:cubicBezTo>
                      <a:cubicBezTo>
                        <a:pt x="100" y="23"/>
                        <a:pt x="100" y="23"/>
                        <a:pt x="100" y="23"/>
                      </a:cubicBezTo>
                      <a:cubicBezTo>
                        <a:pt x="110" y="23"/>
                        <a:pt x="119" y="32"/>
                        <a:pt x="119" y="42"/>
                      </a:cubicBezTo>
                      <a:cubicBezTo>
                        <a:pt x="119" y="53"/>
                        <a:pt x="110" y="62"/>
                        <a:pt x="100" y="62"/>
                      </a:cubicBezTo>
                      <a:cubicBezTo>
                        <a:pt x="42" y="62"/>
                        <a:pt x="42" y="62"/>
                        <a:pt x="42" y="62"/>
                      </a:cubicBezTo>
                      <a:cubicBezTo>
                        <a:pt x="32" y="62"/>
                        <a:pt x="23" y="53"/>
                        <a:pt x="23" y="42"/>
                      </a:cubicBezTo>
                      <a:cubicBezTo>
                        <a:pt x="23" y="38"/>
                        <a:pt x="24" y="34"/>
                        <a:pt x="26" y="31"/>
                      </a:cubicBezTo>
                      <a:cubicBezTo>
                        <a:pt x="2" y="31"/>
                        <a:pt x="2" y="31"/>
                        <a:pt x="2" y="31"/>
                      </a:cubicBezTo>
                      <a:cubicBezTo>
                        <a:pt x="1" y="35"/>
                        <a:pt x="0" y="38"/>
                        <a:pt x="0" y="42"/>
                      </a:cubicBezTo>
                      <a:cubicBezTo>
                        <a:pt x="0" y="65"/>
                        <a:pt x="19" y="84"/>
                        <a:pt x="42" y="84"/>
                      </a:cubicBezTo>
                      <a:cubicBezTo>
                        <a:pt x="100" y="84"/>
                        <a:pt x="100" y="84"/>
                        <a:pt x="100" y="84"/>
                      </a:cubicBezTo>
                      <a:cubicBezTo>
                        <a:pt x="123" y="84"/>
                        <a:pt x="141" y="65"/>
                        <a:pt x="141" y="42"/>
                      </a:cubicBezTo>
                      <a:cubicBezTo>
                        <a:pt x="141" y="19"/>
                        <a:pt x="123" y="0"/>
                        <a:pt x="100" y="0"/>
                      </a:cubicBezTo>
                      <a:close/>
                    </a:path>
                  </a:pathLst>
                </a:custGeom>
                <a:grpFill/>
                <a:ln>
                  <a:noFill/>
                </a:ln>
              </p:spPr>
              <p:txBody>
                <a:bodyPr/>
                <a:lstStyle/>
                <a:p>
                  <a:pPr defTabSz="1219170">
                    <a:defRPr/>
                  </a:pPr>
                  <a:endParaRPr lang="en-US" sz="2133" b="1" kern="0">
                    <a:solidFill>
                      <a:prstClr val="black"/>
                    </a:solidFill>
                    <a:latin typeface="+mn-ea"/>
                  </a:endParaRPr>
                </a:p>
              </p:txBody>
            </p:sp>
            <p:sp>
              <p:nvSpPr>
                <p:cNvPr id="149" name="Freeform 188">
                  <a:extLst>
                    <a:ext uri="{FF2B5EF4-FFF2-40B4-BE49-F238E27FC236}">
                      <a16:creationId xmlns:a16="http://schemas.microsoft.com/office/drawing/2014/main" id="{A62D899D-4D43-11DC-D23E-FFD6907A2311}"/>
                    </a:ext>
                  </a:extLst>
                </p:cNvPr>
                <p:cNvSpPr/>
                <p:nvPr/>
              </p:nvSpPr>
              <p:spPr bwMode="auto">
                <a:xfrm>
                  <a:off x="4931272" y="4722840"/>
                  <a:ext cx="294338" cy="176270"/>
                </a:xfrm>
                <a:custGeom>
                  <a:avLst/>
                  <a:gdLst>
                    <a:gd name="T0" fmla="*/ 53 w 141"/>
                    <a:gd name="T1" fmla="*/ 62 h 84"/>
                    <a:gd name="T2" fmla="*/ 42 w 141"/>
                    <a:gd name="T3" fmla="*/ 62 h 84"/>
                    <a:gd name="T4" fmla="*/ 22 w 141"/>
                    <a:gd name="T5" fmla="*/ 42 h 84"/>
                    <a:gd name="T6" fmla="*/ 42 w 141"/>
                    <a:gd name="T7" fmla="*/ 23 h 84"/>
                    <a:gd name="T8" fmla="*/ 48 w 141"/>
                    <a:gd name="T9" fmla="*/ 23 h 84"/>
                    <a:gd name="T10" fmla="*/ 99 w 141"/>
                    <a:gd name="T11" fmla="*/ 23 h 84"/>
                    <a:gd name="T12" fmla="*/ 119 w 141"/>
                    <a:gd name="T13" fmla="*/ 42 h 84"/>
                    <a:gd name="T14" fmla="*/ 118 w 141"/>
                    <a:gd name="T15" fmla="*/ 46 h 84"/>
                    <a:gd name="T16" fmla="*/ 114 w 141"/>
                    <a:gd name="T17" fmla="*/ 54 h 84"/>
                    <a:gd name="T18" fmla="*/ 139 w 141"/>
                    <a:gd name="T19" fmla="*/ 54 h 84"/>
                    <a:gd name="T20" fmla="*/ 141 w 141"/>
                    <a:gd name="T21" fmla="*/ 46 h 84"/>
                    <a:gd name="T22" fmla="*/ 141 w 141"/>
                    <a:gd name="T23" fmla="*/ 46 h 84"/>
                    <a:gd name="T24" fmla="*/ 141 w 141"/>
                    <a:gd name="T25" fmla="*/ 42 h 84"/>
                    <a:gd name="T26" fmla="*/ 99 w 141"/>
                    <a:gd name="T27" fmla="*/ 0 h 84"/>
                    <a:gd name="T28" fmla="*/ 48 w 141"/>
                    <a:gd name="T29" fmla="*/ 0 h 84"/>
                    <a:gd name="T30" fmla="*/ 42 w 141"/>
                    <a:gd name="T31" fmla="*/ 0 h 84"/>
                    <a:gd name="T32" fmla="*/ 0 w 141"/>
                    <a:gd name="T33" fmla="*/ 42 h 84"/>
                    <a:gd name="T34" fmla="*/ 42 w 141"/>
                    <a:gd name="T35" fmla="*/ 84 h 84"/>
                    <a:gd name="T36" fmla="*/ 72 w 141"/>
                    <a:gd name="T37" fmla="*/ 84 h 84"/>
                    <a:gd name="T38" fmla="*/ 53 w 141"/>
                    <a:gd name="T39" fmla="*/ 6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1" h="84">
                      <a:moveTo>
                        <a:pt x="53" y="62"/>
                      </a:moveTo>
                      <a:cubicBezTo>
                        <a:pt x="42" y="62"/>
                        <a:pt x="42" y="62"/>
                        <a:pt x="42" y="62"/>
                      </a:cubicBezTo>
                      <a:cubicBezTo>
                        <a:pt x="31" y="62"/>
                        <a:pt x="22" y="53"/>
                        <a:pt x="22" y="42"/>
                      </a:cubicBezTo>
                      <a:cubicBezTo>
                        <a:pt x="22" y="32"/>
                        <a:pt x="31" y="23"/>
                        <a:pt x="42" y="23"/>
                      </a:cubicBezTo>
                      <a:cubicBezTo>
                        <a:pt x="48" y="23"/>
                        <a:pt x="48" y="23"/>
                        <a:pt x="48" y="23"/>
                      </a:cubicBezTo>
                      <a:cubicBezTo>
                        <a:pt x="99" y="23"/>
                        <a:pt x="99" y="23"/>
                        <a:pt x="99" y="23"/>
                      </a:cubicBezTo>
                      <a:cubicBezTo>
                        <a:pt x="110" y="23"/>
                        <a:pt x="119" y="32"/>
                        <a:pt x="119" y="42"/>
                      </a:cubicBezTo>
                      <a:cubicBezTo>
                        <a:pt x="119" y="44"/>
                        <a:pt x="118" y="45"/>
                        <a:pt x="118" y="46"/>
                      </a:cubicBezTo>
                      <a:cubicBezTo>
                        <a:pt x="118" y="49"/>
                        <a:pt x="116" y="52"/>
                        <a:pt x="114" y="54"/>
                      </a:cubicBezTo>
                      <a:cubicBezTo>
                        <a:pt x="139" y="54"/>
                        <a:pt x="139" y="54"/>
                        <a:pt x="139" y="54"/>
                      </a:cubicBezTo>
                      <a:cubicBezTo>
                        <a:pt x="140" y="52"/>
                        <a:pt x="140" y="49"/>
                        <a:pt x="141" y="46"/>
                      </a:cubicBezTo>
                      <a:cubicBezTo>
                        <a:pt x="141" y="46"/>
                        <a:pt x="141" y="46"/>
                        <a:pt x="141" y="46"/>
                      </a:cubicBezTo>
                      <a:cubicBezTo>
                        <a:pt x="141" y="45"/>
                        <a:pt x="141" y="44"/>
                        <a:pt x="141" y="42"/>
                      </a:cubicBezTo>
                      <a:cubicBezTo>
                        <a:pt x="141" y="19"/>
                        <a:pt x="122" y="0"/>
                        <a:pt x="99" y="0"/>
                      </a:cubicBezTo>
                      <a:cubicBezTo>
                        <a:pt x="48" y="0"/>
                        <a:pt x="48" y="0"/>
                        <a:pt x="48" y="0"/>
                      </a:cubicBezTo>
                      <a:cubicBezTo>
                        <a:pt x="42" y="0"/>
                        <a:pt x="42" y="0"/>
                        <a:pt x="42" y="0"/>
                      </a:cubicBezTo>
                      <a:cubicBezTo>
                        <a:pt x="19" y="0"/>
                        <a:pt x="0" y="19"/>
                        <a:pt x="0" y="42"/>
                      </a:cubicBezTo>
                      <a:cubicBezTo>
                        <a:pt x="0" y="65"/>
                        <a:pt x="19" y="84"/>
                        <a:pt x="42" y="84"/>
                      </a:cubicBezTo>
                      <a:cubicBezTo>
                        <a:pt x="72" y="84"/>
                        <a:pt x="72" y="84"/>
                        <a:pt x="72" y="84"/>
                      </a:cubicBezTo>
                      <a:cubicBezTo>
                        <a:pt x="64" y="79"/>
                        <a:pt x="57" y="71"/>
                        <a:pt x="53" y="62"/>
                      </a:cubicBezTo>
                      <a:close/>
                    </a:path>
                  </a:pathLst>
                </a:custGeom>
                <a:grpFill/>
                <a:ln>
                  <a:noFill/>
                </a:ln>
              </p:spPr>
              <p:txBody>
                <a:bodyPr/>
                <a:lstStyle/>
                <a:p>
                  <a:pPr defTabSz="1219170">
                    <a:defRPr/>
                  </a:pPr>
                  <a:endParaRPr lang="en-US" sz="2133" b="1" kern="0">
                    <a:solidFill>
                      <a:prstClr val="black"/>
                    </a:solidFill>
                    <a:latin typeface="+mn-ea"/>
                  </a:endParaRPr>
                </a:p>
              </p:txBody>
            </p:sp>
            <p:sp>
              <p:nvSpPr>
                <p:cNvPr id="150" name="Freeform 189">
                  <a:extLst>
                    <a:ext uri="{FF2B5EF4-FFF2-40B4-BE49-F238E27FC236}">
                      <a16:creationId xmlns:a16="http://schemas.microsoft.com/office/drawing/2014/main" id="{1952BBB9-D562-188B-145D-812BCF05F76C}"/>
                    </a:ext>
                  </a:extLst>
                </p:cNvPr>
                <p:cNvSpPr>
                  <a:spLocks noEditPoints="1"/>
                </p:cNvSpPr>
                <p:nvPr/>
              </p:nvSpPr>
              <p:spPr bwMode="auto">
                <a:xfrm>
                  <a:off x="5029384" y="4471739"/>
                  <a:ext cx="216180" cy="214518"/>
                </a:xfrm>
                <a:custGeom>
                  <a:avLst/>
                  <a:gdLst>
                    <a:gd name="T0" fmla="*/ 52 w 103"/>
                    <a:gd name="T1" fmla="*/ 0 h 103"/>
                    <a:gd name="T2" fmla="*/ 0 w 103"/>
                    <a:gd name="T3" fmla="*/ 51 h 103"/>
                    <a:gd name="T4" fmla="*/ 52 w 103"/>
                    <a:gd name="T5" fmla="*/ 103 h 103"/>
                    <a:gd name="T6" fmla="*/ 103 w 103"/>
                    <a:gd name="T7" fmla="*/ 51 h 103"/>
                    <a:gd name="T8" fmla="*/ 52 w 103"/>
                    <a:gd name="T9" fmla="*/ 0 h 103"/>
                    <a:gd name="T10" fmla="*/ 82 w 103"/>
                    <a:gd name="T11" fmla="*/ 59 h 103"/>
                    <a:gd name="T12" fmla="*/ 60 w 103"/>
                    <a:gd name="T13" fmla="*/ 59 h 103"/>
                    <a:gd name="T14" fmla="*/ 60 w 103"/>
                    <a:gd name="T15" fmla="*/ 81 h 103"/>
                    <a:gd name="T16" fmla="*/ 43 w 103"/>
                    <a:gd name="T17" fmla="*/ 81 h 103"/>
                    <a:gd name="T18" fmla="*/ 43 w 103"/>
                    <a:gd name="T19" fmla="*/ 59 h 103"/>
                    <a:gd name="T20" fmla="*/ 22 w 103"/>
                    <a:gd name="T21" fmla="*/ 59 h 103"/>
                    <a:gd name="T22" fmla="*/ 22 w 103"/>
                    <a:gd name="T23" fmla="*/ 43 h 103"/>
                    <a:gd name="T24" fmla="*/ 43 w 103"/>
                    <a:gd name="T25" fmla="*/ 43 h 103"/>
                    <a:gd name="T26" fmla="*/ 43 w 103"/>
                    <a:gd name="T27" fmla="*/ 21 h 103"/>
                    <a:gd name="T28" fmla="*/ 60 w 103"/>
                    <a:gd name="T29" fmla="*/ 21 h 103"/>
                    <a:gd name="T30" fmla="*/ 60 w 103"/>
                    <a:gd name="T31" fmla="*/ 43 h 103"/>
                    <a:gd name="T32" fmla="*/ 82 w 103"/>
                    <a:gd name="T33" fmla="*/ 43 h 103"/>
                    <a:gd name="T34" fmla="*/ 82 w 103"/>
                    <a:gd name="T35" fmla="*/ 5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3" h="103">
                      <a:moveTo>
                        <a:pt x="52" y="0"/>
                      </a:moveTo>
                      <a:cubicBezTo>
                        <a:pt x="23" y="0"/>
                        <a:pt x="0" y="23"/>
                        <a:pt x="0" y="51"/>
                      </a:cubicBezTo>
                      <a:cubicBezTo>
                        <a:pt x="0" y="80"/>
                        <a:pt x="23" y="103"/>
                        <a:pt x="52" y="103"/>
                      </a:cubicBezTo>
                      <a:cubicBezTo>
                        <a:pt x="80" y="103"/>
                        <a:pt x="103" y="80"/>
                        <a:pt x="103" y="51"/>
                      </a:cubicBezTo>
                      <a:cubicBezTo>
                        <a:pt x="103" y="23"/>
                        <a:pt x="80" y="0"/>
                        <a:pt x="52" y="0"/>
                      </a:cubicBezTo>
                      <a:close/>
                      <a:moveTo>
                        <a:pt x="82" y="59"/>
                      </a:moveTo>
                      <a:cubicBezTo>
                        <a:pt x="60" y="59"/>
                        <a:pt x="60" y="59"/>
                        <a:pt x="60" y="59"/>
                      </a:cubicBezTo>
                      <a:cubicBezTo>
                        <a:pt x="60" y="81"/>
                        <a:pt x="60" y="81"/>
                        <a:pt x="60" y="81"/>
                      </a:cubicBezTo>
                      <a:cubicBezTo>
                        <a:pt x="43" y="81"/>
                        <a:pt x="43" y="81"/>
                        <a:pt x="43" y="81"/>
                      </a:cubicBezTo>
                      <a:cubicBezTo>
                        <a:pt x="43" y="59"/>
                        <a:pt x="43" y="59"/>
                        <a:pt x="43" y="59"/>
                      </a:cubicBezTo>
                      <a:cubicBezTo>
                        <a:pt x="22" y="59"/>
                        <a:pt x="22" y="59"/>
                        <a:pt x="22" y="59"/>
                      </a:cubicBezTo>
                      <a:cubicBezTo>
                        <a:pt x="22" y="43"/>
                        <a:pt x="22" y="43"/>
                        <a:pt x="22" y="43"/>
                      </a:cubicBezTo>
                      <a:cubicBezTo>
                        <a:pt x="43" y="43"/>
                        <a:pt x="43" y="43"/>
                        <a:pt x="43" y="43"/>
                      </a:cubicBezTo>
                      <a:cubicBezTo>
                        <a:pt x="43" y="21"/>
                        <a:pt x="43" y="21"/>
                        <a:pt x="43" y="21"/>
                      </a:cubicBezTo>
                      <a:cubicBezTo>
                        <a:pt x="60" y="21"/>
                        <a:pt x="60" y="21"/>
                        <a:pt x="60" y="21"/>
                      </a:cubicBezTo>
                      <a:cubicBezTo>
                        <a:pt x="60" y="43"/>
                        <a:pt x="60" y="43"/>
                        <a:pt x="60" y="43"/>
                      </a:cubicBezTo>
                      <a:cubicBezTo>
                        <a:pt x="82" y="43"/>
                        <a:pt x="82" y="43"/>
                        <a:pt x="82" y="43"/>
                      </a:cubicBezTo>
                      <a:lnTo>
                        <a:pt x="82" y="59"/>
                      </a:lnTo>
                      <a:close/>
                    </a:path>
                  </a:pathLst>
                </a:custGeom>
                <a:grpFill/>
                <a:ln>
                  <a:noFill/>
                </a:ln>
              </p:spPr>
              <p:txBody>
                <a:bodyPr/>
                <a:lstStyle/>
                <a:p>
                  <a:pPr defTabSz="1219170">
                    <a:defRPr/>
                  </a:pPr>
                  <a:endParaRPr lang="en-US" sz="2133" b="1" kern="0">
                    <a:solidFill>
                      <a:prstClr val="black"/>
                    </a:solidFill>
                    <a:latin typeface="+mn-ea"/>
                  </a:endParaRPr>
                </a:p>
              </p:txBody>
            </p:sp>
            <p:sp>
              <p:nvSpPr>
                <p:cNvPr id="151" name="Rectangle 190">
                  <a:extLst>
                    <a:ext uri="{FF2B5EF4-FFF2-40B4-BE49-F238E27FC236}">
                      <a16:creationId xmlns:a16="http://schemas.microsoft.com/office/drawing/2014/main" id="{8AD42971-9581-0E6D-C642-418545670793}"/>
                    </a:ext>
                  </a:extLst>
                </p:cNvPr>
                <p:cNvSpPr>
                  <a:spLocks noChangeArrowheads="1"/>
                </p:cNvSpPr>
                <p:nvPr/>
              </p:nvSpPr>
              <p:spPr bwMode="auto">
                <a:xfrm>
                  <a:off x="5295452" y="4583154"/>
                  <a:ext cx="28270" cy="109753"/>
                </a:xfrm>
                <a:prstGeom prst="rect">
                  <a:avLst/>
                </a:prstGeom>
                <a:grpFill/>
                <a:ln>
                  <a:noFill/>
                </a:ln>
              </p:spPr>
              <p:txBody>
                <a:bodyPr/>
                <a:lstStyle/>
                <a:p>
                  <a:pPr defTabSz="1219170">
                    <a:defRPr/>
                  </a:pPr>
                  <a:endParaRPr lang="en-US" sz="2133" b="1" kern="0">
                    <a:solidFill>
                      <a:prstClr val="black"/>
                    </a:solidFill>
                    <a:latin typeface="+mn-ea"/>
                  </a:endParaRPr>
                </a:p>
              </p:txBody>
            </p:sp>
            <p:sp>
              <p:nvSpPr>
                <p:cNvPr id="152" name="Rectangle 191">
                  <a:extLst>
                    <a:ext uri="{FF2B5EF4-FFF2-40B4-BE49-F238E27FC236}">
                      <a16:creationId xmlns:a16="http://schemas.microsoft.com/office/drawing/2014/main" id="{FD6C10D8-EAAD-6D83-3D80-D3B03F7C5E10}"/>
                    </a:ext>
                  </a:extLst>
                </p:cNvPr>
                <p:cNvSpPr>
                  <a:spLocks noChangeArrowheads="1"/>
                </p:cNvSpPr>
                <p:nvPr/>
              </p:nvSpPr>
              <p:spPr bwMode="auto">
                <a:xfrm>
                  <a:off x="5255542" y="4623064"/>
                  <a:ext cx="108091" cy="29933"/>
                </a:xfrm>
                <a:prstGeom prst="rect">
                  <a:avLst/>
                </a:prstGeom>
                <a:grpFill/>
                <a:ln>
                  <a:noFill/>
                </a:ln>
              </p:spPr>
              <p:txBody>
                <a:bodyPr/>
                <a:lstStyle/>
                <a:p>
                  <a:pPr defTabSz="1219170">
                    <a:defRPr/>
                  </a:pPr>
                  <a:endParaRPr lang="en-US" sz="2133" b="1" kern="0">
                    <a:solidFill>
                      <a:prstClr val="black"/>
                    </a:solidFill>
                    <a:latin typeface="+mn-ea"/>
                  </a:endParaRPr>
                </a:p>
              </p:txBody>
            </p:sp>
            <p:sp>
              <p:nvSpPr>
                <p:cNvPr id="153" name="Rectangle 192">
                  <a:extLst>
                    <a:ext uri="{FF2B5EF4-FFF2-40B4-BE49-F238E27FC236}">
                      <a16:creationId xmlns:a16="http://schemas.microsoft.com/office/drawing/2014/main" id="{FDCBB3BF-1474-67DB-4132-13E69292C484}"/>
                    </a:ext>
                  </a:extLst>
                </p:cNvPr>
                <p:cNvSpPr>
                  <a:spLocks noChangeArrowheads="1"/>
                </p:cNvSpPr>
                <p:nvPr/>
              </p:nvSpPr>
              <p:spPr bwMode="auto">
                <a:xfrm>
                  <a:off x="4956216" y="4614750"/>
                  <a:ext cx="18293" cy="64855"/>
                </a:xfrm>
                <a:prstGeom prst="rect">
                  <a:avLst/>
                </a:prstGeom>
                <a:grpFill/>
                <a:ln>
                  <a:noFill/>
                </a:ln>
              </p:spPr>
              <p:txBody>
                <a:bodyPr/>
                <a:lstStyle/>
                <a:p>
                  <a:pPr defTabSz="1219170">
                    <a:defRPr/>
                  </a:pPr>
                  <a:endParaRPr lang="en-US" sz="2133" b="1" kern="0">
                    <a:solidFill>
                      <a:prstClr val="black"/>
                    </a:solidFill>
                    <a:latin typeface="+mn-ea"/>
                  </a:endParaRPr>
                </a:p>
              </p:txBody>
            </p:sp>
            <p:sp>
              <p:nvSpPr>
                <p:cNvPr id="154" name="Rectangle 193">
                  <a:extLst>
                    <a:ext uri="{FF2B5EF4-FFF2-40B4-BE49-F238E27FC236}">
                      <a16:creationId xmlns:a16="http://schemas.microsoft.com/office/drawing/2014/main" id="{4C607F7A-1CD6-387E-6715-AFD590FDAA1B}"/>
                    </a:ext>
                  </a:extLst>
                </p:cNvPr>
                <p:cNvSpPr>
                  <a:spLocks noChangeArrowheads="1"/>
                </p:cNvSpPr>
                <p:nvPr/>
              </p:nvSpPr>
              <p:spPr bwMode="auto">
                <a:xfrm>
                  <a:off x="4931272" y="4638031"/>
                  <a:ext cx="68180" cy="18293"/>
                </a:xfrm>
                <a:prstGeom prst="rect">
                  <a:avLst/>
                </a:prstGeom>
                <a:grpFill/>
                <a:ln>
                  <a:noFill/>
                </a:ln>
              </p:spPr>
              <p:txBody>
                <a:bodyPr/>
                <a:lstStyle/>
                <a:p>
                  <a:pPr defTabSz="1219170">
                    <a:defRPr/>
                  </a:pPr>
                  <a:endParaRPr lang="en-US" sz="2133" b="1" kern="0">
                    <a:solidFill>
                      <a:prstClr val="black"/>
                    </a:solidFill>
                    <a:latin typeface="+mn-ea"/>
                  </a:endParaRPr>
                </a:p>
              </p:txBody>
            </p:sp>
          </p:grpSp>
        </p:grpSp>
        <p:grpSp>
          <p:nvGrpSpPr>
            <p:cNvPr id="142" name="组合 108">
              <a:extLst>
                <a:ext uri="{FF2B5EF4-FFF2-40B4-BE49-F238E27FC236}">
                  <a16:creationId xmlns:a16="http://schemas.microsoft.com/office/drawing/2014/main" id="{5BE86751-AC54-00B9-E75B-80736F9D7F74}"/>
                </a:ext>
              </a:extLst>
            </p:cNvPr>
            <p:cNvGrpSpPr/>
            <p:nvPr/>
          </p:nvGrpSpPr>
          <p:grpSpPr>
            <a:xfrm>
              <a:off x="1042178" y="2209105"/>
              <a:ext cx="636645" cy="636645"/>
              <a:chOff x="7623175" y="3046413"/>
              <a:chExt cx="758825" cy="758825"/>
            </a:xfrm>
          </p:grpSpPr>
          <p:sp>
            <p:nvSpPr>
              <p:cNvPr id="144" name="Oval 34">
                <a:extLst>
                  <a:ext uri="{FF2B5EF4-FFF2-40B4-BE49-F238E27FC236}">
                    <a16:creationId xmlns:a16="http://schemas.microsoft.com/office/drawing/2014/main" id="{B3ED6D93-8002-7385-11BF-DE3BC9B71A65}"/>
                  </a:ext>
                </a:extLst>
              </p:cNvPr>
              <p:cNvSpPr>
                <a:spLocks noChangeArrowheads="1"/>
              </p:cNvSpPr>
              <p:nvPr/>
            </p:nvSpPr>
            <p:spPr bwMode="auto">
              <a:xfrm>
                <a:off x="7622155" y="3045232"/>
                <a:ext cx="759503" cy="760432"/>
              </a:xfrm>
              <a:prstGeom prst="ellipse">
                <a:avLst/>
              </a:prstGeom>
              <a:solidFill>
                <a:srgbClr val="4F5A69"/>
              </a:solidFill>
              <a:ln>
                <a:noFill/>
              </a:ln>
            </p:spPr>
            <p:txBody>
              <a:bodyPr/>
              <a:lstStyle/>
              <a:p>
                <a:pPr defTabSz="1219170">
                  <a:defRPr/>
                </a:pPr>
                <a:endParaRPr lang="zh-CN" altLang="en-US" sz="2133" b="1" kern="0">
                  <a:solidFill>
                    <a:prstClr val="black"/>
                  </a:solidFill>
                  <a:latin typeface="+mn-ea"/>
                </a:endParaRPr>
              </a:p>
            </p:txBody>
          </p:sp>
          <p:sp>
            <p:nvSpPr>
              <p:cNvPr id="145" name="Freeform 166">
                <a:extLst>
                  <a:ext uri="{FF2B5EF4-FFF2-40B4-BE49-F238E27FC236}">
                    <a16:creationId xmlns:a16="http://schemas.microsoft.com/office/drawing/2014/main" id="{0ED973EC-4078-D944-6402-703D96E3B147}"/>
                  </a:ext>
                </a:extLst>
              </p:cNvPr>
              <p:cNvSpPr>
                <a:spLocks noEditPoints="1"/>
              </p:cNvSpPr>
              <p:nvPr/>
            </p:nvSpPr>
            <p:spPr bwMode="auto">
              <a:xfrm>
                <a:off x="7781779" y="3207131"/>
                <a:ext cx="442829" cy="436635"/>
              </a:xfrm>
              <a:custGeom>
                <a:avLst/>
                <a:gdLst>
                  <a:gd name="T0" fmla="*/ 75 w 279"/>
                  <a:gd name="T1" fmla="*/ 110 h 275"/>
                  <a:gd name="T2" fmla="*/ 52 w 279"/>
                  <a:gd name="T3" fmla="*/ 68 h 275"/>
                  <a:gd name="T4" fmla="*/ 28 w 279"/>
                  <a:gd name="T5" fmla="*/ 110 h 275"/>
                  <a:gd name="T6" fmla="*/ 91 w 279"/>
                  <a:gd name="T7" fmla="*/ 110 h 275"/>
                  <a:gd name="T8" fmla="*/ 58 w 279"/>
                  <a:gd name="T9" fmla="*/ 68 h 275"/>
                  <a:gd name="T10" fmla="*/ 91 w 279"/>
                  <a:gd name="T11" fmla="*/ 110 h 275"/>
                  <a:gd name="T12" fmla="*/ 175 w 279"/>
                  <a:gd name="T13" fmla="*/ 110 h 275"/>
                  <a:gd name="T14" fmla="*/ 99 w 279"/>
                  <a:gd name="T15" fmla="*/ 110 h 275"/>
                  <a:gd name="T16" fmla="*/ 183 w 279"/>
                  <a:gd name="T17" fmla="*/ 110 h 275"/>
                  <a:gd name="T18" fmla="*/ 217 w 279"/>
                  <a:gd name="T19" fmla="*/ 68 h 275"/>
                  <a:gd name="T20" fmla="*/ 183 w 279"/>
                  <a:gd name="T21" fmla="*/ 110 h 275"/>
                  <a:gd name="T22" fmla="*/ 199 w 279"/>
                  <a:gd name="T23" fmla="*/ 110 h 275"/>
                  <a:gd name="T24" fmla="*/ 221 w 279"/>
                  <a:gd name="T25" fmla="*/ 68 h 275"/>
                  <a:gd name="T26" fmla="*/ 199 w 279"/>
                  <a:gd name="T27" fmla="*/ 110 h 275"/>
                  <a:gd name="T28" fmla="*/ 137 w 279"/>
                  <a:gd name="T29" fmla="*/ 68 h 275"/>
                  <a:gd name="T30" fmla="*/ 137 w 279"/>
                  <a:gd name="T31" fmla="*/ 68 h 275"/>
                  <a:gd name="T32" fmla="*/ 137 w 279"/>
                  <a:gd name="T33" fmla="*/ 68 h 275"/>
                  <a:gd name="T34" fmla="*/ 83 w 279"/>
                  <a:gd name="T35" fmla="*/ 122 h 275"/>
                  <a:gd name="T36" fmla="*/ 191 w 279"/>
                  <a:gd name="T37" fmla="*/ 122 h 275"/>
                  <a:gd name="T38" fmla="*/ 137 w 279"/>
                  <a:gd name="T39" fmla="*/ 257 h 275"/>
                  <a:gd name="T40" fmla="*/ 99 w 279"/>
                  <a:gd name="T41" fmla="*/ 122 h 275"/>
                  <a:gd name="T42" fmla="*/ 28 w 279"/>
                  <a:gd name="T43" fmla="*/ 122 h 275"/>
                  <a:gd name="T44" fmla="*/ 255 w 279"/>
                  <a:gd name="T45" fmla="*/ 0 h 275"/>
                  <a:gd name="T46" fmla="*/ 279 w 279"/>
                  <a:gd name="T47" fmla="*/ 24 h 275"/>
                  <a:gd name="T48" fmla="*/ 255 w 279"/>
                  <a:gd name="T49" fmla="*/ 48 h 275"/>
                  <a:gd name="T50" fmla="*/ 231 w 279"/>
                  <a:gd name="T51" fmla="*/ 24 h 275"/>
                  <a:gd name="T52" fmla="*/ 255 w 279"/>
                  <a:gd name="T53" fmla="*/ 0 h 275"/>
                  <a:gd name="T54" fmla="*/ 34 w 279"/>
                  <a:gd name="T55" fmla="*/ 210 h 275"/>
                  <a:gd name="T56" fmla="*/ 68 w 279"/>
                  <a:gd name="T57" fmla="*/ 244 h 275"/>
                  <a:gd name="T58" fmla="*/ 34 w 279"/>
                  <a:gd name="T59" fmla="*/ 275 h 275"/>
                  <a:gd name="T60" fmla="*/ 0 w 279"/>
                  <a:gd name="T61" fmla="*/ 244 h 275"/>
                  <a:gd name="T62" fmla="*/ 34 w 279"/>
                  <a:gd name="T63" fmla="*/ 21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9" h="275">
                    <a:moveTo>
                      <a:pt x="28" y="110"/>
                    </a:moveTo>
                    <a:lnTo>
                      <a:pt x="75" y="110"/>
                    </a:lnTo>
                    <a:lnTo>
                      <a:pt x="54" y="68"/>
                    </a:lnTo>
                    <a:lnTo>
                      <a:pt x="52" y="68"/>
                    </a:lnTo>
                    <a:lnTo>
                      <a:pt x="28" y="110"/>
                    </a:lnTo>
                    <a:lnTo>
                      <a:pt x="28" y="110"/>
                    </a:lnTo>
                    <a:close/>
                    <a:moveTo>
                      <a:pt x="91" y="110"/>
                    </a:moveTo>
                    <a:lnTo>
                      <a:pt x="91" y="110"/>
                    </a:lnTo>
                    <a:lnTo>
                      <a:pt x="121" y="68"/>
                    </a:lnTo>
                    <a:lnTo>
                      <a:pt x="58" y="68"/>
                    </a:lnTo>
                    <a:lnTo>
                      <a:pt x="91" y="110"/>
                    </a:lnTo>
                    <a:lnTo>
                      <a:pt x="91" y="110"/>
                    </a:lnTo>
                    <a:close/>
                    <a:moveTo>
                      <a:pt x="99" y="110"/>
                    </a:moveTo>
                    <a:lnTo>
                      <a:pt x="175" y="110"/>
                    </a:lnTo>
                    <a:lnTo>
                      <a:pt x="137" y="68"/>
                    </a:lnTo>
                    <a:lnTo>
                      <a:pt x="99" y="110"/>
                    </a:lnTo>
                    <a:lnTo>
                      <a:pt x="99" y="110"/>
                    </a:lnTo>
                    <a:close/>
                    <a:moveTo>
                      <a:pt x="183" y="110"/>
                    </a:moveTo>
                    <a:lnTo>
                      <a:pt x="183" y="110"/>
                    </a:lnTo>
                    <a:lnTo>
                      <a:pt x="217" y="68"/>
                    </a:lnTo>
                    <a:lnTo>
                      <a:pt x="153" y="68"/>
                    </a:lnTo>
                    <a:lnTo>
                      <a:pt x="183" y="110"/>
                    </a:lnTo>
                    <a:lnTo>
                      <a:pt x="183" y="110"/>
                    </a:lnTo>
                    <a:close/>
                    <a:moveTo>
                      <a:pt x="199" y="110"/>
                    </a:moveTo>
                    <a:lnTo>
                      <a:pt x="245" y="110"/>
                    </a:lnTo>
                    <a:lnTo>
                      <a:pt x="221" y="68"/>
                    </a:lnTo>
                    <a:lnTo>
                      <a:pt x="221" y="68"/>
                    </a:lnTo>
                    <a:lnTo>
                      <a:pt x="199" y="110"/>
                    </a:lnTo>
                    <a:lnTo>
                      <a:pt x="199" y="110"/>
                    </a:lnTo>
                    <a:close/>
                    <a:moveTo>
                      <a:pt x="137" y="68"/>
                    </a:moveTo>
                    <a:lnTo>
                      <a:pt x="137" y="68"/>
                    </a:lnTo>
                    <a:lnTo>
                      <a:pt x="137" y="68"/>
                    </a:lnTo>
                    <a:lnTo>
                      <a:pt x="137" y="68"/>
                    </a:lnTo>
                    <a:lnTo>
                      <a:pt x="137" y="68"/>
                    </a:lnTo>
                    <a:close/>
                    <a:moveTo>
                      <a:pt x="28" y="122"/>
                    </a:moveTo>
                    <a:lnTo>
                      <a:pt x="83" y="122"/>
                    </a:lnTo>
                    <a:lnTo>
                      <a:pt x="137" y="257"/>
                    </a:lnTo>
                    <a:lnTo>
                      <a:pt x="191" y="122"/>
                    </a:lnTo>
                    <a:lnTo>
                      <a:pt x="245" y="122"/>
                    </a:lnTo>
                    <a:lnTo>
                      <a:pt x="137" y="257"/>
                    </a:lnTo>
                    <a:lnTo>
                      <a:pt x="175" y="122"/>
                    </a:lnTo>
                    <a:lnTo>
                      <a:pt x="99" y="122"/>
                    </a:lnTo>
                    <a:lnTo>
                      <a:pt x="137" y="257"/>
                    </a:lnTo>
                    <a:lnTo>
                      <a:pt x="28" y="122"/>
                    </a:lnTo>
                    <a:lnTo>
                      <a:pt x="28" y="122"/>
                    </a:lnTo>
                    <a:close/>
                    <a:moveTo>
                      <a:pt x="255" y="0"/>
                    </a:moveTo>
                    <a:lnTo>
                      <a:pt x="261" y="18"/>
                    </a:lnTo>
                    <a:lnTo>
                      <a:pt x="279" y="24"/>
                    </a:lnTo>
                    <a:lnTo>
                      <a:pt x="261" y="30"/>
                    </a:lnTo>
                    <a:lnTo>
                      <a:pt x="255" y="48"/>
                    </a:lnTo>
                    <a:lnTo>
                      <a:pt x="249" y="30"/>
                    </a:lnTo>
                    <a:lnTo>
                      <a:pt x="231" y="24"/>
                    </a:lnTo>
                    <a:lnTo>
                      <a:pt x="249" y="18"/>
                    </a:lnTo>
                    <a:lnTo>
                      <a:pt x="255" y="0"/>
                    </a:lnTo>
                    <a:lnTo>
                      <a:pt x="255" y="0"/>
                    </a:lnTo>
                    <a:close/>
                    <a:moveTo>
                      <a:pt x="34" y="210"/>
                    </a:moveTo>
                    <a:lnTo>
                      <a:pt x="42" y="236"/>
                    </a:lnTo>
                    <a:lnTo>
                      <a:pt x="68" y="244"/>
                    </a:lnTo>
                    <a:lnTo>
                      <a:pt x="42" y="251"/>
                    </a:lnTo>
                    <a:lnTo>
                      <a:pt x="34" y="275"/>
                    </a:lnTo>
                    <a:lnTo>
                      <a:pt x="26" y="251"/>
                    </a:lnTo>
                    <a:lnTo>
                      <a:pt x="0" y="244"/>
                    </a:lnTo>
                    <a:lnTo>
                      <a:pt x="26" y="236"/>
                    </a:lnTo>
                    <a:lnTo>
                      <a:pt x="34" y="210"/>
                    </a:lnTo>
                    <a:lnTo>
                      <a:pt x="34" y="210"/>
                    </a:lnTo>
                    <a:close/>
                  </a:path>
                </a:pathLst>
              </a:custGeom>
              <a:solidFill>
                <a:sysClr val="window" lastClr="FFFFFF"/>
              </a:solidFill>
              <a:ln>
                <a:noFill/>
              </a:ln>
            </p:spPr>
            <p:txBody>
              <a:bodyPr/>
              <a:lstStyle/>
              <a:p>
                <a:pPr defTabSz="1219170">
                  <a:defRPr/>
                </a:pPr>
                <a:endParaRPr lang="zh-CN" altLang="en-US" sz="2133" b="1" kern="0">
                  <a:solidFill>
                    <a:prstClr val="black"/>
                  </a:solidFill>
                  <a:latin typeface="+mn-ea"/>
                </a:endParaRPr>
              </a:p>
            </p:txBody>
          </p:sp>
        </p:grpSp>
        <p:sp>
          <p:nvSpPr>
            <p:cNvPr id="143" name="箭头: 下弧形 111">
              <a:extLst>
                <a:ext uri="{FF2B5EF4-FFF2-40B4-BE49-F238E27FC236}">
                  <a16:creationId xmlns:a16="http://schemas.microsoft.com/office/drawing/2014/main" id="{27CF4547-BFFA-7849-7260-22516169D3A2}"/>
                </a:ext>
              </a:extLst>
            </p:cNvPr>
            <p:cNvSpPr/>
            <p:nvPr/>
          </p:nvSpPr>
          <p:spPr>
            <a:xfrm>
              <a:off x="8206196" y="3535553"/>
              <a:ext cx="792738" cy="191397"/>
            </a:xfrm>
            <a:prstGeom prst="curvedUpArrow">
              <a:avLst/>
            </a:prstGeom>
            <a:solidFill>
              <a:srgbClr val="FFC000"/>
            </a:solidFill>
            <a:ln w="12700" cap="flat" cmpd="sng" algn="ctr">
              <a:solidFill>
                <a:srgbClr val="FFC000">
                  <a:shade val="50000"/>
                </a:srgbClr>
              </a:solidFill>
              <a:prstDash val="solid"/>
              <a:miter lim="800000"/>
            </a:ln>
            <a:effectLst/>
          </p:spPr>
          <p:txBody>
            <a:bodyPr anchor="ctr"/>
            <a:lstStyle/>
            <a:p>
              <a:pPr algn="ctr" defTabSz="1219170">
                <a:defRPr/>
              </a:pPr>
              <a:endParaRPr lang="zh-CN" altLang="en-US" sz="2133" b="1" kern="0">
                <a:solidFill>
                  <a:prstClr val="black"/>
                </a:solidFill>
                <a:latin typeface="+mn-ea"/>
                <a:cs typeface="Arial" panose="020B0604020202020204"/>
              </a:endParaRPr>
            </a:p>
          </p:txBody>
        </p:sp>
      </p:grpSp>
      <p:sp>
        <p:nvSpPr>
          <p:cNvPr id="180" name="文本框 179">
            <a:extLst>
              <a:ext uri="{FF2B5EF4-FFF2-40B4-BE49-F238E27FC236}">
                <a16:creationId xmlns:a16="http://schemas.microsoft.com/office/drawing/2014/main" id="{3B7E94C1-ED27-8E82-CCD3-1C7209FA9B63}"/>
              </a:ext>
            </a:extLst>
          </p:cNvPr>
          <p:cNvSpPr txBox="1"/>
          <p:nvPr/>
        </p:nvSpPr>
        <p:spPr>
          <a:xfrm>
            <a:off x="996779" y="1005016"/>
            <a:ext cx="10494630" cy="687881"/>
          </a:xfrm>
          <a:prstGeom prst="rect">
            <a:avLst/>
          </a:prstGeom>
          <a:noFill/>
        </p:spPr>
        <p:txBody>
          <a:bodyPr wrap="square" rtlCol="0">
            <a:spAutoFit/>
          </a:bodyPr>
          <a:lstStyle/>
          <a:p>
            <a:pPr marL="0" lvl="0" indent="0" algn="l" defTabSz="622300">
              <a:lnSpc>
                <a:spcPct val="90000"/>
              </a:lnSpc>
              <a:spcBef>
                <a:spcPct val="0"/>
              </a:spcBef>
              <a:spcAft>
                <a:spcPct val="35000"/>
              </a:spcAft>
              <a:buNone/>
            </a:pPr>
            <a:r>
              <a:rPr kumimoji="1" lang="zh-CN" altLang="en-US" sz="1800" b="1" kern="1200" dirty="0">
                <a:latin typeface="Arial" panose="020B0604020202020204" pitchFamily="34" charset="0"/>
                <a:ea typeface="微软雅黑" panose="020B0503020204020204" pitchFamily="34" charset="-122"/>
              </a:rPr>
              <a:t>以终为始，</a:t>
            </a:r>
            <a:r>
              <a:rPr lang="zh-CN" altLang="en-US" sz="1800" b="1" kern="1200" dirty="0">
                <a:latin typeface="Arial" panose="020B0604020202020204" pitchFamily="34" charset="0"/>
                <a:ea typeface="微软雅黑" panose="020B0503020204020204" pitchFamily="34" charset="-122"/>
              </a:rPr>
              <a:t>需要端到端和全生命周期闭环的去设计，计划和执行</a:t>
            </a:r>
            <a:r>
              <a:rPr lang="en-US" altLang="zh-CN" sz="1800" b="1" kern="1200" dirty="0">
                <a:latin typeface="Arial" panose="020B0604020202020204" pitchFamily="34" charset="0"/>
                <a:ea typeface="微软雅黑" panose="020B0503020204020204" pitchFamily="34" charset="-122"/>
              </a:rPr>
              <a:t>, </a:t>
            </a:r>
            <a:r>
              <a:rPr lang="zh-CN" altLang="en-US" sz="1800" b="1" kern="1200" dirty="0">
                <a:latin typeface="Arial" panose="020B0604020202020204" pitchFamily="34" charset="0"/>
                <a:ea typeface="微软雅黑" panose="020B0503020204020204" pitchFamily="34" charset="-122"/>
              </a:rPr>
              <a:t>蓄能更新</a:t>
            </a:r>
            <a:endParaRPr lang="en-US" altLang="zh-CN" sz="1800" b="1" kern="1200" dirty="0">
              <a:latin typeface="Arial" panose="020B0604020202020204" pitchFamily="34" charset="0"/>
              <a:ea typeface="微软雅黑" panose="020B0503020204020204" pitchFamily="34" charset="-122"/>
            </a:endParaRPr>
          </a:p>
          <a:p>
            <a:pPr defTabSz="622300">
              <a:lnSpc>
                <a:spcPct val="90000"/>
              </a:lnSpc>
              <a:spcBef>
                <a:spcPct val="0"/>
              </a:spcBef>
              <a:spcAft>
                <a:spcPct val="35000"/>
              </a:spcAft>
            </a:pPr>
            <a:r>
              <a:rPr kumimoji="1" lang="zh-CN" altLang="zh-CN" sz="1800" b="1" kern="1200" dirty="0">
                <a:latin typeface="Arial" panose="020B0604020202020204" pitchFamily="34" charset="0"/>
                <a:ea typeface="微软雅黑" panose="020B0503020204020204" pitchFamily="34" charset="-122"/>
              </a:rPr>
              <a:t>通过业务</a:t>
            </a:r>
            <a:r>
              <a:rPr kumimoji="1" lang="zh-CN" altLang="en-US" sz="1800" b="1" kern="1200" dirty="0">
                <a:latin typeface="Arial" panose="020B0604020202020204" pitchFamily="34" charset="0"/>
                <a:ea typeface="微软雅黑" panose="020B0503020204020204" pitchFamily="34" charset="-122"/>
              </a:rPr>
              <a:t>框架</a:t>
            </a:r>
            <a:r>
              <a:rPr kumimoji="1" lang="en-US" altLang="zh-CN" sz="1800" b="1" kern="1200" dirty="0">
                <a:latin typeface="Arial" panose="020B0604020202020204" pitchFamily="34" charset="0"/>
                <a:ea typeface="微软雅黑" panose="020B0503020204020204" pitchFamily="34" charset="-122"/>
              </a:rPr>
              <a:t>Know-How</a:t>
            </a:r>
            <a:r>
              <a:rPr kumimoji="1" lang="zh-CN" altLang="zh-CN" sz="1800" b="1" kern="1200" dirty="0">
                <a:latin typeface="Arial" panose="020B0604020202020204" pitchFamily="34" charset="0"/>
                <a:ea typeface="微软雅黑" panose="020B0503020204020204" pitchFamily="34" charset="-122"/>
              </a:rPr>
              <a:t>指导流程重组，组织调整</a:t>
            </a:r>
            <a:r>
              <a:rPr kumimoji="1" lang="zh-CN" altLang="en-US" sz="1800" b="1" kern="1200" dirty="0">
                <a:latin typeface="Arial" panose="020B0604020202020204" pitchFamily="34" charset="0"/>
                <a:ea typeface="微软雅黑" panose="020B0503020204020204" pitchFamily="34" charset="-122"/>
              </a:rPr>
              <a:t>，系统构架和新技术引入</a:t>
            </a:r>
            <a:endParaRPr lang="en-US" altLang="zh-CN" sz="1800" b="1" kern="1200"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2400857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fade">
                                      <p:cBhvr>
                                        <p:cTn id="7" dur="1000"/>
                                        <p:tgtEl>
                                          <p:spTgt spid="115"/>
                                        </p:tgtEl>
                                      </p:cBhvr>
                                    </p:animEffect>
                                    <p:anim calcmode="lin" valueType="num">
                                      <p:cBhvr>
                                        <p:cTn id="8" dur="1000" fill="hold"/>
                                        <p:tgtEl>
                                          <p:spTgt spid="115"/>
                                        </p:tgtEl>
                                        <p:attrNameLst>
                                          <p:attrName>ppt_x</p:attrName>
                                        </p:attrNameLst>
                                      </p:cBhvr>
                                      <p:tavLst>
                                        <p:tav tm="0">
                                          <p:val>
                                            <p:strVal val="#ppt_x"/>
                                          </p:val>
                                        </p:tav>
                                        <p:tav tm="100000">
                                          <p:val>
                                            <p:strVal val="#ppt_x"/>
                                          </p:val>
                                        </p:tav>
                                      </p:tavLst>
                                    </p:anim>
                                    <p:anim calcmode="lin" valueType="num">
                                      <p:cBhvr>
                                        <p:cTn id="9" dur="1000" fill="hold"/>
                                        <p:tgtEl>
                                          <p:spTgt spid="1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7C41918-89B4-D095-29DE-C8FE79841123}"/>
              </a:ext>
            </a:extLst>
          </p:cNvPr>
          <p:cNvSpPr>
            <a:spLocks noGrp="1"/>
          </p:cNvSpPr>
          <p:nvPr>
            <p:ph type="title"/>
          </p:nvPr>
        </p:nvSpPr>
        <p:spPr/>
        <p:txBody>
          <a:bodyPr/>
          <a:lstStyle/>
          <a:p>
            <a:r>
              <a:rPr lang="en-US" altLang="zh-CN" dirty="0">
                <a:solidFill>
                  <a:schemeClr val="bg1"/>
                </a:solidFill>
                <a:latin typeface="Arial" panose="020B0604020202020204" pitchFamily="34" charset="0"/>
                <a:ea typeface="微软雅黑" panose="020B0503020204020204" pitchFamily="34" charset="-122"/>
              </a:rPr>
              <a:t>IPS(Intelligent Planning &amp; Scheduling)</a:t>
            </a:r>
            <a:endParaRPr lang="zh-CN" altLang="en-US" dirty="0">
              <a:solidFill>
                <a:schemeClr val="bg1"/>
              </a:solidFill>
              <a:latin typeface="Arial" panose="020B0604020202020204" pitchFamily="34" charset="0"/>
              <a:ea typeface="微软雅黑" panose="020B0503020204020204" pitchFamily="34" charset="-122"/>
            </a:endParaRPr>
          </a:p>
        </p:txBody>
      </p:sp>
      <p:sp>
        <p:nvSpPr>
          <p:cNvPr id="4" name="矩形 3">
            <a:extLst>
              <a:ext uri="{FF2B5EF4-FFF2-40B4-BE49-F238E27FC236}">
                <a16:creationId xmlns:a16="http://schemas.microsoft.com/office/drawing/2014/main" id="{F2FDB861-CEED-51EB-4BB8-D8C8CEEEED74}"/>
              </a:ext>
            </a:extLst>
          </p:cNvPr>
          <p:cNvSpPr/>
          <p:nvPr/>
        </p:nvSpPr>
        <p:spPr>
          <a:xfrm>
            <a:off x="77448" y="1213932"/>
            <a:ext cx="12018877" cy="2781008"/>
          </a:xfrm>
          <a:prstGeom prst="rect">
            <a:avLst/>
          </a:prstGeom>
          <a:solidFill>
            <a:srgbClr val="D1E5FF"/>
          </a:solidFill>
          <a:ln w="63500"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3717" tIns="36858" rIns="73717" bIns="36858" numCol="1" spcCol="0" rtlCol="0" fromWordArt="0" anchor="ctr" anchorCtr="0" forceAA="0" compatLnSpc="1">
            <a:prstTxWarp prst="textNoShape">
              <a:avLst/>
            </a:prstTxWarp>
            <a:noAutofit/>
          </a:bodyPr>
          <a:lstStyle/>
          <a:p>
            <a:pPr algn="ctr" defTabSz="1218621"/>
            <a:endParaRPr lang="zh-CN" altLang="en-US" sz="1934" dirty="0">
              <a:solidFill>
                <a:prstClr val="white"/>
              </a:solidFill>
              <a:latin typeface="Arial"/>
              <a:ea typeface="黑体" panose="02010609060101010101" pitchFamily="49" charset="-122"/>
            </a:endParaRPr>
          </a:p>
        </p:txBody>
      </p:sp>
      <p:sp>
        <p:nvSpPr>
          <p:cNvPr id="5" name="文本框 4">
            <a:extLst>
              <a:ext uri="{FF2B5EF4-FFF2-40B4-BE49-F238E27FC236}">
                <a16:creationId xmlns:a16="http://schemas.microsoft.com/office/drawing/2014/main" id="{41221F6F-B732-2A5F-3B5D-92D7D6927182}"/>
              </a:ext>
            </a:extLst>
          </p:cNvPr>
          <p:cNvSpPr txBox="1"/>
          <p:nvPr/>
        </p:nvSpPr>
        <p:spPr>
          <a:xfrm>
            <a:off x="8402013" y="1379122"/>
            <a:ext cx="3677420" cy="2005680"/>
          </a:xfrm>
          <a:prstGeom prst="rect">
            <a:avLst/>
          </a:prstGeom>
          <a:noFill/>
          <a:ln>
            <a:solidFill>
              <a:srgbClr val="4C8F34"/>
            </a:solidFill>
            <a:prstDash val="sysDash"/>
          </a:ln>
        </p:spPr>
        <p:style>
          <a:lnRef idx="3">
            <a:schemeClr val="lt1"/>
          </a:lnRef>
          <a:fillRef idx="1">
            <a:schemeClr val="accent4"/>
          </a:fillRef>
          <a:effectRef idx="1">
            <a:schemeClr val="accent4"/>
          </a:effectRef>
          <a:fontRef idx="minor">
            <a:schemeClr val="lt1"/>
          </a:fontRef>
        </p:style>
        <p:txBody>
          <a:bodyPr wrap="square" rtlCol="0">
            <a:spAutoFit/>
          </a:bodyPr>
          <a:lstStyle/>
          <a:p>
            <a:pPr defTabSz="1218621"/>
            <a:endParaRPr lang="en-US" altLang="zh-CN" sz="968" b="1" dirty="0">
              <a:solidFill>
                <a:prstClr val="white"/>
              </a:solidFill>
              <a:latin typeface="Arial"/>
              <a:ea typeface="黑体" panose="02010609060101010101" pitchFamily="49" charset="-122"/>
            </a:endParaRPr>
          </a:p>
        </p:txBody>
      </p:sp>
      <p:sp>
        <p:nvSpPr>
          <p:cNvPr id="6" name="矩形: 圆角 5">
            <a:extLst>
              <a:ext uri="{FF2B5EF4-FFF2-40B4-BE49-F238E27FC236}">
                <a16:creationId xmlns:a16="http://schemas.microsoft.com/office/drawing/2014/main" id="{B3CE367A-0B2B-D8AF-7CBF-5285E17E2734}"/>
              </a:ext>
            </a:extLst>
          </p:cNvPr>
          <p:cNvSpPr/>
          <p:nvPr/>
        </p:nvSpPr>
        <p:spPr>
          <a:xfrm>
            <a:off x="1464689" y="1875581"/>
            <a:ext cx="2067868" cy="1014891"/>
          </a:xfrm>
          <a:prstGeom prst="roundRect">
            <a:avLst/>
          </a:prstGeom>
          <a:gradFill flip="none" rotWithShape="1">
            <a:gsLst>
              <a:gs pos="0">
                <a:srgbClr val="007AD6">
                  <a:shade val="30000"/>
                  <a:satMod val="115000"/>
                </a:srgbClr>
              </a:gs>
              <a:gs pos="48000">
                <a:srgbClr val="0088EE"/>
              </a:gs>
              <a:gs pos="100000">
                <a:srgbClr val="007AD6">
                  <a:shade val="100000"/>
                  <a:satMod val="115000"/>
                  <a:alpha val="70000"/>
                </a:srgbClr>
              </a:gs>
            </a:gsLst>
            <a:lin ang="10800000" scaled="1"/>
            <a:tileRect/>
          </a:gradFill>
          <a:ln w="12700" cap="flat" cmpd="sng" algn="ctr">
            <a:noFill/>
            <a:prstDash val="solid"/>
            <a:miter lim="800000"/>
          </a:ln>
          <a:effectLst/>
        </p:spPr>
        <p:txBody>
          <a:bodyPr rot="0" spcFirstLastPara="0" vertOverflow="overflow" horzOverflow="overflow" vert="horz" wrap="square" lIns="68562" tIns="34281" rIns="68562" bIns="34281" numCol="1" spcCol="0" rtlCol="0" fromWordArt="0" anchor="ctr" anchorCtr="0" forceAA="0" compatLnSpc="1">
            <a:prstTxWarp prst="textNoShape">
              <a:avLst/>
            </a:prstTxWarp>
            <a:noAutofit/>
          </a:bodyPr>
          <a:lstStyle/>
          <a:p>
            <a:pPr algn="ctr" defTabSz="914126"/>
            <a:endParaRPr lang="zh-CN" altLang="en-US" sz="1799" b="1" kern="0" dirty="0">
              <a:ln w="0"/>
              <a:solidFill>
                <a:prstClr val="white"/>
              </a:solidFill>
              <a:effectLst>
                <a:outerShdw blurRad="38100" dist="19050" dir="2700000" algn="tl" rotWithShape="0">
                  <a:prstClr val="black">
                    <a:alpha val="40000"/>
                  </a:prstClr>
                </a:outerShdw>
              </a:effectLst>
              <a:latin typeface="微软雅黑" panose="020B0503020204020204" pitchFamily="34" charset="-122"/>
              <a:ea typeface="微软雅黑" panose="020B0503020204020204" pitchFamily="34" charset="-122"/>
            </a:endParaRPr>
          </a:p>
        </p:txBody>
      </p:sp>
      <p:sp>
        <p:nvSpPr>
          <p:cNvPr id="7" name="矩形 6">
            <a:extLst>
              <a:ext uri="{FF2B5EF4-FFF2-40B4-BE49-F238E27FC236}">
                <a16:creationId xmlns:a16="http://schemas.microsoft.com/office/drawing/2014/main" id="{44754249-BCEB-967A-6D97-D760511912AB}"/>
              </a:ext>
            </a:extLst>
          </p:cNvPr>
          <p:cNvSpPr/>
          <p:nvPr/>
        </p:nvSpPr>
        <p:spPr>
          <a:xfrm>
            <a:off x="176463" y="4644836"/>
            <a:ext cx="11760678" cy="1718568"/>
          </a:xfrm>
          <a:prstGeom prst="rect">
            <a:avLst/>
          </a:prstGeom>
          <a:solidFill>
            <a:srgbClr val="299CF3">
              <a:alpha val="20000"/>
            </a:srgbClr>
          </a:solidFill>
          <a:ln w="635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3717" tIns="36858" rIns="73717" bIns="36858" numCol="1" spcCol="0" rtlCol="0" fromWordArt="0" anchor="ctr" anchorCtr="0" forceAA="0" compatLnSpc="1">
            <a:prstTxWarp prst="textNoShape">
              <a:avLst/>
            </a:prstTxWarp>
            <a:noAutofit/>
          </a:bodyPr>
          <a:lstStyle/>
          <a:p>
            <a:pPr algn="ctr" defTabSz="1218621"/>
            <a:endParaRPr lang="zh-CN" altLang="en-US" sz="1934">
              <a:solidFill>
                <a:prstClr val="white"/>
              </a:solidFill>
              <a:latin typeface="Arial"/>
              <a:ea typeface="黑体" panose="02010609060101010101" pitchFamily="49" charset="-122"/>
            </a:endParaRPr>
          </a:p>
        </p:txBody>
      </p:sp>
      <p:sp>
        <p:nvSpPr>
          <p:cNvPr id="8" name="圆角矩形 4">
            <a:extLst>
              <a:ext uri="{FF2B5EF4-FFF2-40B4-BE49-F238E27FC236}">
                <a16:creationId xmlns:a16="http://schemas.microsoft.com/office/drawing/2014/main" id="{AE3E1298-7659-F261-D43C-05D8E2F9F899}"/>
              </a:ext>
            </a:extLst>
          </p:cNvPr>
          <p:cNvSpPr/>
          <p:nvPr/>
        </p:nvSpPr>
        <p:spPr>
          <a:xfrm>
            <a:off x="1520631" y="2365172"/>
            <a:ext cx="680695" cy="447367"/>
          </a:xfrm>
          <a:prstGeom prst="roundRect">
            <a:avLst/>
          </a:prstGeom>
          <a:solidFill>
            <a:srgbClr val="87D8F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621"/>
            <a:r>
              <a:rPr lang="en-US" altLang="zh-CN" sz="968" b="1" dirty="0">
                <a:solidFill>
                  <a:prstClr val="white"/>
                </a:solidFill>
                <a:latin typeface="Arial" panose="020B0604020202020204" pitchFamily="34" charset="0"/>
                <a:ea typeface="微软雅黑" panose="020B0503020204020204" pitchFamily="34" charset="-122"/>
              </a:rPr>
              <a:t>W/O FPSD</a:t>
            </a:r>
          </a:p>
        </p:txBody>
      </p:sp>
      <p:sp>
        <p:nvSpPr>
          <p:cNvPr id="9" name="圆角矩形 4">
            <a:extLst>
              <a:ext uri="{FF2B5EF4-FFF2-40B4-BE49-F238E27FC236}">
                <a16:creationId xmlns:a16="http://schemas.microsoft.com/office/drawing/2014/main" id="{551C9A15-92E1-624D-875E-C2E450E2AF82}"/>
              </a:ext>
            </a:extLst>
          </p:cNvPr>
          <p:cNvSpPr/>
          <p:nvPr/>
        </p:nvSpPr>
        <p:spPr>
          <a:xfrm>
            <a:off x="2126910" y="2365172"/>
            <a:ext cx="680695" cy="448891"/>
          </a:xfrm>
          <a:prstGeom prst="roundRect">
            <a:avLst/>
          </a:prstGeom>
          <a:solidFill>
            <a:srgbClr val="04AF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621"/>
            <a:r>
              <a:rPr lang="en-US" altLang="zh-CN" sz="968" b="1" dirty="0">
                <a:solidFill>
                  <a:prstClr val="white"/>
                </a:solidFill>
                <a:latin typeface="Arial" panose="020B0604020202020204" pitchFamily="34" charset="0"/>
                <a:ea typeface="微软雅黑" panose="020B0503020204020204" pitchFamily="34" charset="-122"/>
              </a:rPr>
              <a:t>W/ FPSD</a:t>
            </a:r>
          </a:p>
        </p:txBody>
      </p:sp>
      <p:sp>
        <p:nvSpPr>
          <p:cNvPr id="10" name="圆角矩形 4">
            <a:extLst>
              <a:ext uri="{FF2B5EF4-FFF2-40B4-BE49-F238E27FC236}">
                <a16:creationId xmlns:a16="http://schemas.microsoft.com/office/drawing/2014/main" id="{DA4D6672-469C-7907-74B3-1EB93857D0E5}"/>
              </a:ext>
            </a:extLst>
          </p:cNvPr>
          <p:cNvSpPr/>
          <p:nvPr/>
        </p:nvSpPr>
        <p:spPr>
          <a:xfrm>
            <a:off x="2736386" y="2358507"/>
            <a:ext cx="717130" cy="448890"/>
          </a:xfrm>
          <a:prstGeom prst="roundRect">
            <a:avLst/>
          </a:prstGeom>
          <a:solidFill>
            <a:srgbClr val="299C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621"/>
            <a:endParaRPr lang="en-US" altLang="zh-CN" sz="968" b="1" dirty="0">
              <a:solidFill>
                <a:prstClr val="white">
                  <a:lumMod val="95000"/>
                </a:prstClr>
              </a:solidFill>
              <a:latin typeface="Arial" panose="020B0604020202020204" pitchFamily="34" charset="0"/>
              <a:ea typeface="微软雅黑" panose="020B0503020204020204" pitchFamily="34" charset="-122"/>
            </a:endParaRPr>
          </a:p>
          <a:p>
            <a:pPr algn="ctr" defTabSz="1218621"/>
            <a:r>
              <a:rPr lang="en-US" altLang="zh-CN" sz="968" b="1" dirty="0">
                <a:solidFill>
                  <a:prstClr val="white">
                    <a:lumMod val="95000"/>
                  </a:prstClr>
                </a:solidFill>
                <a:latin typeface="Arial" panose="020B0604020202020204" pitchFamily="34" charset="0"/>
                <a:ea typeface="微软雅黑" panose="020B0503020204020204" pitchFamily="34" charset="-122"/>
              </a:rPr>
              <a:t>Flexible </a:t>
            </a:r>
            <a:r>
              <a:rPr lang="en-US" altLang="zh-CN" sz="968" b="1" i="1" dirty="0">
                <a:solidFill>
                  <a:srgbClr val="FFFF00"/>
                </a:solidFill>
                <a:latin typeface="Arial" panose="020B0604020202020204" pitchFamily="34" charset="0"/>
                <a:ea typeface="微软雅黑" panose="020B0503020204020204" pitchFamily="34" charset="-122"/>
              </a:rPr>
              <a:t>(default  20)</a:t>
            </a:r>
            <a:endParaRPr lang="zh-CN" altLang="en-US" sz="968" b="1" i="1" dirty="0">
              <a:solidFill>
                <a:srgbClr val="FFFF00"/>
              </a:solidFill>
              <a:latin typeface="Arial" panose="020B0604020202020204" pitchFamily="34" charset="0"/>
              <a:ea typeface="微软雅黑" panose="020B0503020204020204" pitchFamily="34" charset="-122"/>
            </a:endParaRPr>
          </a:p>
          <a:p>
            <a:pPr algn="ctr" defTabSz="1218621"/>
            <a:endParaRPr lang="zh-CN" altLang="en-US" sz="887" dirty="0">
              <a:solidFill>
                <a:prstClr val="white"/>
              </a:solidFill>
              <a:latin typeface="Arial" panose="020B0604020202020204" pitchFamily="34" charset="0"/>
              <a:ea typeface="微软雅黑" panose="020B0503020204020204" pitchFamily="34" charset="-122"/>
            </a:endParaRPr>
          </a:p>
        </p:txBody>
      </p:sp>
      <p:sp>
        <p:nvSpPr>
          <p:cNvPr id="11" name="燕尾形 29">
            <a:extLst>
              <a:ext uri="{FF2B5EF4-FFF2-40B4-BE49-F238E27FC236}">
                <a16:creationId xmlns:a16="http://schemas.microsoft.com/office/drawing/2014/main" id="{A3C5FC66-7CFB-AD76-4696-B6DC117CEDD4}"/>
              </a:ext>
            </a:extLst>
          </p:cNvPr>
          <p:cNvSpPr/>
          <p:nvPr/>
        </p:nvSpPr>
        <p:spPr>
          <a:xfrm rot="10800000">
            <a:off x="2044106" y="2316325"/>
            <a:ext cx="166355" cy="183671"/>
          </a:xfrm>
          <a:prstGeom prst="chevron">
            <a:avLst/>
          </a:prstGeom>
          <a:solidFill>
            <a:schemeClr val="accent3"/>
          </a:solidFill>
          <a:ln>
            <a:noFill/>
          </a:ln>
        </p:spPr>
        <p:style>
          <a:lnRef idx="0">
            <a:scrgbClr r="0" g="0" b="0"/>
          </a:lnRef>
          <a:fillRef idx="0">
            <a:scrgbClr r="0" g="0" b="0"/>
          </a:fillRef>
          <a:effectRef idx="0">
            <a:scrgbClr r="0" g="0" b="0"/>
          </a:effectRef>
          <a:fontRef idx="minor">
            <a:schemeClr val="lt1"/>
          </a:fontRef>
        </p:style>
        <p:txBody>
          <a:bodyPr rtlCol="0" anchor="ctr"/>
          <a:lstStyle/>
          <a:p>
            <a:pPr algn="ctr" defTabSz="1218621"/>
            <a:endParaRPr lang="zh-CN" altLang="en-US" sz="806" dirty="0">
              <a:solidFill>
                <a:prstClr val="black"/>
              </a:solidFill>
              <a:latin typeface="Arial"/>
              <a:ea typeface="黑体" panose="02010609060101010101" pitchFamily="49" charset="-122"/>
            </a:endParaRPr>
          </a:p>
        </p:txBody>
      </p:sp>
      <p:graphicFrame>
        <p:nvGraphicFramePr>
          <p:cNvPr id="12" name="图示 11">
            <a:extLst>
              <a:ext uri="{FF2B5EF4-FFF2-40B4-BE49-F238E27FC236}">
                <a16:creationId xmlns:a16="http://schemas.microsoft.com/office/drawing/2014/main" id="{8CF73432-A6CE-FADB-D676-10F14C9749BD}"/>
              </a:ext>
            </a:extLst>
          </p:cNvPr>
          <p:cNvGraphicFramePr/>
          <p:nvPr>
            <p:extLst>
              <p:ext uri="{D42A27DB-BD31-4B8C-83A1-F6EECF244321}">
                <p14:modId xmlns:p14="http://schemas.microsoft.com/office/powerpoint/2010/main" val="704641280"/>
              </p:ext>
            </p:extLst>
          </p:nvPr>
        </p:nvGraphicFramePr>
        <p:xfrm>
          <a:off x="2160049" y="4185680"/>
          <a:ext cx="6520044" cy="211045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13" name="连接符: 肘形 80">
            <a:extLst>
              <a:ext uri="{FF2B5EF4-FFF2-40B4-BE49-F238E27FC236}">
                <a16:creationId xmlns:a16="http://schemas.microsoft.com/office/drawing/2014/main" id="{C4F781F5-16E1-47E1-B74D-E39A161FA98E}"/>
              </a:ext>
            </a:extLst>
          </p:cNvPr>
          <p:cNvCxnSpPr>
            <a:cxnSpLocks/>
          </p:cNvCxnSpPr>
          <p:nvPr/>
        </p:nvCxnSpPr>
        <p:spPr>
          <a:xfrm rot="16200000" flipV="1">
            <a:off x="-876666" y="4859931"/>
            <a:ext cx="2809759" cy="2"/>
          </a:xfrm>
          <a:prstGeom prst="bentConnector3">
            <a:avLst>
              <a:gd name="adj1" fmla="val 50000"/>
            </a:avLst>
          </a:prstGeom>
          <a:ln w="381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连接符: 肘形 95">
            <a:extLst>
              <a:ext uri="{FF2B5EF4-FFF2-40B4-BE49-F238E27FC236}">
                <a16:creationId xmlns:a16="http://schemas.microsoft.com/office/drawing/2014/main" id="{1E62975F-EA3A-A18C-B443-9F42132E127E}"/>
              </a:ext>
            </a:extLst>
          </p:cNvPr>
          <p:cNvCxnSpPr>
            <a:cxnSpLocks/>
          </p:cNvCxnSpPr>
          <p:nvPr/>
        </p:nvCxnSpPr>
        <p:spPr>
          <a:xfrm flipV="1">
            <a:off x="3921094" y="3416787"/>
            <a:ext cx="7841225" cy="2839482"/>
          </a:xfrm>
          <a:prstGeom prst="bentConnector3">
            <a:avLst>
              <a:gd name="adj1" fmla="val 100023"/>
            </a:avLst>
          </a:prstGeom>
          <a:ln w="381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直接连接符 14">
            <a:extLst>
              <a:ext uri="{FF2B5EF4-FFF2-40B4-BE49-F238E27FC236}">
                <a16:creationId xmlns:a16="http://schemas.microsoft.com/office/drawing/2014/main" id="{94E6A3B9-6831-2138-372B-224A7A7024F9}"/>
              </a:ext>
            </a:extLst>
          </p:cNvPr>
          <p:cNvCxnSpPr>
            <a:cxnSpLocks/>
          </p:cNvCxnSpPr>
          <p:nvPr/>
        </p:nvCxnSpPr>
        <p:spPr>
          <a:xfrm>
            <a:off x="6274026" y="6033530"/>
            <a:ext cx="0" cy="222741"/>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a16="http://schemas.microsoft.com/office/drawing/2014/main" id="{58A9737B-FBA8-0E41-0156-9CDCE2A62A05}"/>
              </a:ext>
            </a:extLst>
          </p:cNvPr>
          <p:cNvCxnSpPr>
            <a:cxnSpLocks/>
          </p:cNvCxnSpPr>
          <p:nvPr/>
        </p:nvCxnSpPr>
        <p:spPr>
          <a:xfrm>
            <a:off x="7911314" y="6021176"/>
            <a:ext cx="0" cy="235094"/>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7" name="组合 16">
            <a:extLst>
              <a:ext uri="{FF2B5EF4-FFF2-40B4-BE49-F238E27FC236}">
                <a16:creationId xmlns:a16="http://schemas.microsoft.com/office/drawing/2014/main" id="{42BF3452-E9D3-8A8F-58F0-370CF15F5BAD}"/>
              </a:ext>
            </a:extLst>
          </p:cNvPr>
          <p:cNvGrpSpPr/>
          <p:nvPr/>
        </p:nvGrpSpPr>
        <p:grpSpPr>
          <a:xfrm>
            <a:off x="8468369" y="2079967"/>
            <a:ext cx="3444250" cy="699596"/>
            <a:chOff x="10637172" y="3181831"/>
            <a:chExt cx="5305415" cy="470385"/>
          </a:xfrm>
          <a:gradFill flip="none" rotWithShape="1">
            <a:gsLst>
              <a:gs pos="8365">
                <a:srgbClr val="92D050"/>
              </a:gs>
              <a:gs pos="26000">
                <a:srgbClr val="92D050"/>
              </a:gs>
              <a:gs pos="49000">
                <a:srgbClr val="92D050"/>
              </a:gs>
              <a:gs pos="74000">
                <a:srgbClr val="92D050"/>
              </a:gs>
              <a:gs pos="97000">
                <a:srgbClr val="00B050"/>
              </a:gs>
            </a:gsLst>
            <a:path path="circle">
              <a:fillToRect l="100000" t="100000"/>
            </a:path>
            <a:tileRect r="-100000" b="-100000"/>
          </a:gradFill>
        </p:grpSpPr>
        <p:sp>
          <p:nvSpPr>
            <p:cNvPr id="18" name="任意多边形 219">
              <a:extLst>
                <a:ext uri="{FF2B5EF4-FFF2-40B4-BE49-F238E27FC236}">
                  <a16:creationId xmlns:a16="http://schemas.microsoft.com/office/drawing/2014/main" id="{1BE451E3-39FD-C820-0C28-00BF2B09E711}"/>
                </a:ext>
              </a:extLst>
            </p:cNvPr>
            <p:cNvSpPr/>
            <p:nvPr/>
          </p:nvSpPr>
          <p:spPr>
            <a:xfrm>
              <a:off x="10637172" y="3181831"/>
              <a:ext cx="783976" cy="470385"/>
            </a:xfrm>
            <a:custGeom>
              <a:avLst/>
              <a:gdLst>
                <a:gd name="connsiteX0" fmla="*/ 0 w 783976"/>
                <a:gd name="connsiteY0" fmla="*/ 47039 h 470385"/>
                <a:gd name="connsiteX1" fmla="*/ 47039 w 783976"/>
                <a:gd name="connsiteY1" fmla="*/ 0 h 470385"/>
                <a:gd name="connsiteX2" fmla="*/ 736938 w 783976"/>
                <a:gd name="connsiteY2" fmla="*/ 0 h 470385"/>
                <a:gd name="connsiteX3" fmla="*/ 783977 w 783976"/>
                <a:gd name="connsiteY3" fmla="*/ 47039 h 470385"/>
                <a:gd name="connsiteX4" fmla="*/ 783976 w 783976"/>
                <a:gd name="connsiteY4" fmla="*/ 423347 h 470385"/>
                <a:gd name="connsiteX5" fmla="*/ 736937 w 783976"/>
                <a:gd name="connsiteY5" fmla="*/ 470386 h 470385"/>
                <a:gd name="connsiteX6" fmla="*/ 47039 w 783976"/>
                <a:gd name="connsiteY6" fmla="*/ 470385 h 470385"/>
                <a:gd name="connsiteX7" fmla="*/ 0 w 783976"/>
                <a:gd name="connsiteY7" fmla="*/ 423346 h 470385"/>
                <a:gd name="connsiteX8" fmla="*/ 0 w 783976"/>
                <a:gd name="connsiteY8" fmla="*/ 47039 h 47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3976" h="470385">
                  <a:moveTo>
                    <a:pt x="0" y="47039"/>
                  </a:moveTo>
                  <a:cubicBezTo>
                    <a:pt x="0" y="21060"/>
                    <a:pt x="21060" y="0"/>
                    <a:pt x="47039" y="0"/>
                  </a:cubicBezTo>
                  <a:lnTo>
                    <a:pt x="736938" y="0"/>
                  </a:lnTo>
                  <a:cubicBezTo>
                    <a:pt x="762917" y="0"/>
                    <a:pt x="783977" y="21060"/>
                    <a:pt x="783977" y="47039"/>
                  </a:cubicBezTo>
                  <a:cubicBezTo>
                    <a:pt x="783977" y="172475"/>
                    <a:pt x="783976" y="297911"/>
                    <a:pt x="783976" y="423347"/>
                  </a:cubicBezTo>
                  <a:cubicBezTo>
                    <a:pt x="783976" y="449326"/>
                    <a:pt x="762916" y="470386"/>
                    <a:pt x="736937" y="470386"/>
                  </a:cubicBezTo>
                  <a:lnTo>
                    <a:pt x="47039" y="470385"/>
                  </a:lnTo>
                  <a:cubicBezTo>
                    <a:pt x="21060" y="470385"/>
                    <a:pt x="0" y="449325"/>
                    <a:pt x="0" y="423346"/>
                  </a:cubicBezTo>
                  <a:lnTo>
                    <a:pt x="0" y="47039"/>
                  </a:lnTo>
                  <a:close/>
                </a:path>
              </a:pathLst>
            </a:custGeom>
            <a:grpFill/>
          </p:spPr>
          <p:style>
            <a:lnRef idx="2">
              <a:schemeClr val="lt1">
                <a:hueOff val="0"/>
                <a:satOff val="0"/>
                <a:lumOff val="0"/>
                <a:alphaOff val="0"/>
              </a:schemeClr>
            </a:lnRef>
            <a:fillRef idx="1">
              <a:schemeClr val="accent6">
                <a:alpha val="90000"/>
                <a:hueOff val="0"/>
                <a:satOff val="0"/>
                <a:lumOff val="0"/>
                <a:alphaOff val="0"/>
              </a:schemeClr>
            </a:fillRef>
            <a:effectRef idx="0">
              <a:schemeClr val="accent6">
                <a:alpha val="90000"/>
                <a:hueOff val="0"/>
                <a:satOff val="0"/>
                <a:lumOff val="0"/>
                <a:alphaOff val="0"/>
              </a:schemeClr>
            </a:effectRef>
            <a:fontRef idx="minor">
              <a:schemeClr val="lt1"/>
            </a:fontRef>
          </p:style>
          <p:txBody>
            <a:bodyPr spcFirstLastPara="0" vert="horz" wrap="square" lIns="75608" tIns="75608" rIns="75608" bIns="75608" numCol="1" spcCol="1270" anchor="ctr" anchorCtr="0">
              <a:noAutofit/>
            </a:bodyPr>
            <a:lstStyle/>
            <a:p>
              <a:pPr algn="ctr" defTabSz="752508">
                <a:lnSpc>
                  <a:spcPct val="90000"/>
                </a:lnSpc>
                <a:spcBef>
                  <a:spcPct val="0"/>
                </a:spcBef>
                <a:spcAft>
                  <a:spcPct val="35000"/>
                </a:spcAft>
              </a:pPr>
              <a:r>
                <a:rPr lang="en-US" altLang="zh-CN" sz="1129" dirty="0">
                  <a:solidFill>
                    <a:prstClr val="white"/>
                  </a:solidFill>
                  <a:latin typeface="Arial" panose="020B0604020202020204" pitchFamily="34" charset="0"/>
                  <a:ea typeface="微软雅黑" panose="020B0503020204020204" pitchFamily="34" charset="-122"/>
                </a:rPr>
                <a:t>FG</a:t>
              </a:r>
              <a:endParaRPr lang="zh-CN" altLang="en-US" sz="1129" dirty="0">
                <a:solidFill>
                  <a:prstClr val="white"/>
                </a:solidFill>
                <a:latin typeface="Arial" panose="020B0604020202020204" pitchFamily="34" charset="0"/>
                <a:ea typeface="微软雅黑" panose="020B0503020204020204" pitchFamily="34" charset="-122"/>
              </a:endParaRPr>
            </a:p>
          </p:txBody>
        </p:sp>
        <p:sp>
          <p:nvSpPr>
            <p:cNvPr id="19" name="任意多边形 220">
              <a:extLst>
                <a:ext uri="{FF2B5EF4-FFF2-40B4-BE49-F238E27FC236}">
                  <a16:creationId xmlns:a16="http://schemas.microsoft.com/office/drawing/2014/main" id="{F1FC4325-848D-A5BF-1FE8-A3784B72C5F4}"/>
                </a:ext>
              </a:extLst>
            </p:cNvPr>
            <p:cNvSpPr/>
            <p:nvPr/>
          </p:nvSpPr>
          <p:spPr>
            <a:xfrm>
              <a:off x="11454714" y="3181831"/>
              <a:ext cx="783977" cy="470385"/>
            </a:xfrm>
            <a:custGeom>
              <a:avLst/>
              <a:gdLst>
                <a:gd name="connsiteX0" fmla="*/ 0 w 783976"/>
                <a:gd name="connsiteY0" fmla="*/ 47039 h 470385"/>
                <a:gd name="connsiteX1" fmla="*/ 47039 w 783976"/>
                <a:gd name="connsiteY1" fmla="*/ 0 h 470385"/>
                <a:gd name="connsiteX2" fmla="*/ 736938 w 783976"/>
                <a:gd name="connsiteY2" fmla="*/ 0 h 470385"/>
                <a:gd name="connsiteX3" fmla="*/ 783977 w 783976"/>
                <a:gd name="connsiteY3" fmla="*/ 47039 h 470385"/>
                <a:gd name="connsiteX4" fmla="*/ 783976 w 783976"/>
                <a:gd name="connsiteY4" fmla="*/ 423347 h 470385"/>
                <a:gd name="connsiteX5" fmla="*/ 736937 w 783976"/>
                <a:gd name="connsiteY5" fmla="*/ 470386 h 470385"/>
                <a:gd name="connsiteX6" fmla="*/ 47039 w 783976"/>
                <a:gd name="connsiteY6" fmla="*/ 470385 h 470385"/>
                <a:gd name="connsiteX7" fmla="*/ 0 w 783976"/>
                <a:gd name="connsiteY7" fmla="*/ 423346 h 470385"/>
                <a:gd name="connsiteX8" fmla="*/ 0 w 783976"/>
                <a:gd name="connsiteY8" fmla="*/ 47039 h 47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3976" h="470385">
                  <a:moveTo>
                    <a:pt x="0" y="47039"/>
                  </a:moveTo>
                  <a:cubicBezTo>
                    <a:pt x="0" y="21060"/>
                    <a:pt x="21060" y="0"/>
                    <a:pt x="47039" y="0"/>
                  </a:cubicBezTo>
                  <a:lnTo>
                    <a:pt x="736938" y="0"/>
                  </a:lnTo>
                  <a:cubicBezTo>
                    <a:pt x="762917" y="0"/>
                    <a:pt x="783977" y="21060"/>
                    <a:pt x="783977" y="47039"/>
                  </a:cubicBezTo>
                  <a:cubicBezTo>
                    <a:pt x="783977" y="172475"/>
                    <a:pt x="783976" y="297911"/>
                    <a:pt x="783976" y="423347"/>
                  </a:cubicBezTo>
                  <a:cubicBezTo>
                    <a:pt x="783976" y="449326"/>
                    <a:pt x="762916" y="470386"/>
                    <a:pt x="736937" y="470386"/>
                  </a:cubicBezTo>
                  <a:lnTo>
                    <a:pt x="47039" y="470385"/>
                  </a:lnTo>
                  <a:cubicBezTo>
                    <a:pt x="21060" y="470385"/>
                    <a:pt x="0" y="449325"/>
                    <a:pt x="0" y="423346"/>
                  </a:cubicBezTo>
                  <a:lnTo>
                    <a:pt x="0" y="47039"/>
                  </a:lnTo>
                  <a:close/>
                </a:path>
              </a:pathLst>
            </a:custGeom>
            <a:grpFill/>
          </p:spPr>
          <p:style>
            <a:lnRef idx="2">
              <a:schemeClr val="lt1">
                <a:hueOff val="0"/>
                <a:satOff val="0"/>
                <a:lumOff val="0"/>
                <a:alphaOff val="0"/>
              </a:schemeClr>
            </a:lnRef>
            <a:fillRef idx="1">
              <a:schemeClr val="accent6">
                <a:alpha val="90000"/>
                <a:hueOff val="0"/>
                <a:satOff val="0"/>
                <a:lumOff val="0"/>
                <a:alphaOff val="-8000"/>
              </a:schemeClr>
            </a:fillRef>
            <a:effectRef idx="0">
              <a:schemeClr val="accent6">
                <a:alpha val="90000"/>
                <a:hueOff val="0"/>
                <a:satOff val="0"/>
                <a:lumOff val="0"/>
                <a:alphaOff val="-8000"/>
              </a:schemeClr>
            </a:effectRef>
            <a:fontRef idx="minor">
              <a:schemeClr val="lt1"/>
            </a:fontRef>
          </p:style>
          <p:txBody>
            <a:bodyPr spcFirstLastPara="0" vert="horz" wrap="square" lIns="75608" tIns="75608" rIns="75608" bIns="75608" numCol="1" spcCol="1270" anchor="ctr" anchorCtr="0">
              <a:noAutofit/>
            </a:bodyPr>
            <a:lstStyle/>
            <a:p>
              <a:pPr algn="ctr" defTabSz="752508">
                <a:lnSpc>
                  <a:spcPct val="90000"/>
                </a:lnSpc>
                <a:spcBef>
                  <a:spcPct val="0"/>
                </a:spcBef>
                <a:spcAft>
                  <a:spcPct val="35000"/>
                </a:spcAft>
              </a:pPr>
              <a:r>
                <a:rPr lang="en-US" altLang="zh-CN" sz="1129" dirty="0">
                  <a:solidFill>
                    <a:prstClr val="white"/>
                  </a:solidFill>
                  <a:latin typeface="Arial" panose="020B0604020202020204" pitchFamily="34" charset="0"/>
                  <a:ea typeface="微软雅黑" panose="020B0503020204020204" pitchFamily="34" charset="-122"/>
                </a:rPr>
                <a:t>WIP</a:t>
              </a:r>
              <a:endParaRPr lang="zh-CN" altLang="en-US" sz="1129" dirty="0">
                <a:solidFill>
                  <a:prstClr val="white"/>
                </a:solidFill>
                <a:latin typeface="Arial" panose="020B0604020202020204" pitchFamily="34" charset="0"/>
                <a:ea typeface="微软雅黑" panose="020B0503020204020204" pitchFamily="34" charset="-122"/>
              </a:endParaRPr>
            </a:p>
          </p:txBody>
        </p:sp>
        <p:sp>
          <p:nvSpPr>
            <p:cNvPr id="20" name="任意多边形 221">
              <a:extLst>
                <a:ext uri="{FF2B5EF4-FFF2-40B4-BE49-F238E27FC236}">
                  <a16:creationId xmlns:a16="http://schemas.microsoft.com/office/drawing/2014/main" id="{2F54241E-5809-E557-0D20-0ECD0D868249}"/>
                </a:ext>
              </a:extLst>
            </p:cNvPr>
            <p:cNvSpPr/>
            <p:nvPr/>
          </p:nvSpPr>
          <p:spPr>
            <a:xfrm>
              <a:off x="12279761" y="3181831"/>
              <a:ext cx="783977" cy="470385"/>
            </a:xfrm>
            <a:custGeom>
              <a:avLst/>
              <a:gdLst>
                <a:gd name="connsiteX0" fmla="*/ 0 w 783976"/>
                <a:gd name="connsiteY0" fmla="*/ 47039 h 470385"/>
                <a:gd name="connsiteX1" fmla="*/ 47039 w 783976"/>
                <a:gd name="connsiteY1" fmla="*/ 0 h 470385"/>
                <a:gd name="connsiteX2" fmla="*/ 736938 w 783976"/>
                <a:gd name="connsiteY2" fmla="*/ 0 h 470385"/>
                <a:gd name="connsiteX3" fmla="*/ 783977 w 783976"/>
                <a:gd name="connsiteY3" fmla="*/ 47039 h 470385"/>
                <a:gd name="connsiteX4" fmla="*/ 783976 w 783976"/>
                <a:gd name="connsiteY4" fmla="*/ 423347 h 470385"/>
                <a:gd name="connsiteX5" fmla="*/ 736937 w 783976"/>
                <a:gd name="connsiteY5" fmla="*/ 470386 h 470385"/>
                <a:gd name="connsiteX6" fmla="*/ 47039 w 783976"/>
                <a:gd name="connsiteY6" fmla="*/ 470385 h 470385"/>
                <a:gd name="connsiteX7" fmla="*/ 0 w 783976"/>
                <a:gd name="connsiteY7" fmla="*/ 423346 h 470385"/>
                <a:gd name="connsiteX8" fmla="*/ 0 w 783976"/>
                <a:gd name="connsiteY8" fmla="*/ 47039 h 47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3976" h="470385">
                  <a:moveTo>
                    <a:pt x="0" y="47039"/>
                  </a:moveTo>
                  <a:cubicBezTo>
                    <a:pt x="0" y="21060"/>
                    <a:pt x="21060" y="0"/>
                    <a:pt x="47039" y="0"/>
                  </a:cubicBezTo>
                  <a:lnTo>
                    <a:pt x="736938" y="0"/>
                  </a:lnTo>
                  <a:cubicBezTo>
                    <a:pt x="762917" y="0"/>
                    <a:pt x="783977" y="21060"/>
                    <a:pt x="783977" y="47039"/>
                  </a:cubicBezTo>
                  <a:cubicBezTo>
                    <a:pt x="783977" y="172475"/>
                    <a:pt x="783976" y="297911"/>
                    <a:pt x="783976" y="423347"/>
                  </a:cubicBezTo>
                  <a:cubicBezTo>
                    <a:pt x="783976" y="449326"/>
                    <a:pt x="762916" y="470386"/>
                    <a:pt x="736937" y="470386"/>
                  </a:cubicBezTo>
                  <a:lnTo>
                    <a:pt x="47039" y="470385"/>
                  </a:lnTo>
                  <a:cubicBezTo>
                    <a:pt x="21060" y="470385"/>
                    <a:pt x="0" y="449325"/>
                    <a:pt x="0" y="423346"/>
                  </a:cubicBezTo>
                  <a:lnTo>
                    <a:pt x="0" y="47039"/>
                  </a:lnTo>
                  <a:close/>
                </a:path>
              </a:pathLst>
            </a:custGeom>
            <a:grpFill/>
          </p:spPr>
          <p:style>
            <a:lnRef idx="2">
              <a:schemeClr val="lt1">
                <a:hueOff val="0"/>
                <a:satOff val="0"/>
                <a:lumOff val="0"/>
                <a:alphaOff val="0"/>
              </a:schemeClr>
            </a:lnRef>
            <a:fillRef idx="1">
              <a:schemeClr val="accent6">
                <a:alpha val="90000"/>
                <a:hueOff val="0"/>
                <a:satOff val="0"/>
                <a:lumOff val="0"/>
                <a:alphaOff val="-16000"/>
              </a:schemeClr>
            </a:fillRef>
            <a:effectRef idx="0">
              <a:schemeClr val="accent6">
                <a:alpha val="90000"/>
                <a:hueOff val="0"/>
                <a:satOff val="0"/>
                <a:lumOff val="0"/>
                <a:alphaOff val="-16000"/>
              </a:schemeClr>
            </a:effectRef>
            <a:fontRef idx="minor">
              <a:schemeClr val="lt1"/>
            </a:fontRef>
          </p:style>
          <p:txBody>
            <a:bodyPr spcFirstLastPara="0" vert="horz" wrap="square" lIns="75608" tIns="75608" rIns="75608" bIns="75608" numCol="1" spcCol="1270" anchor="ctr" anchorCtr="0">
              <a:noAutofit/>
            </a:bodyPr>
            <a:lstStyle/>
            <a:p>
              <a:pPr algn="ctr" defTabSz="752508">
                <a:lnSpc>
                  <a:spcPct val="90000"/>
                </a:lnSpc>
                <a:spcBef>
                  <a:spcPct val="0"/>
                </a:spcBef>
                <a:spcAft>
                  <a:spcPct val="35000"/>
                </a:spcAft>
              </a:pPr>
              <a:r>
                <a:rPr lang="en-US" altLang="zh-CN" sz="1129" dirty="0">
                  <a:solidFill>
                    <a:prstClr val="white"/>
                  </a:solidFill>
                  <a:latin typeface="Arial" panose="020B0604020202020204" pitchFamily="34" charset="0"/>
                  <a:ea typeface="微软雅黑" panose="020B0503020204020204" pitchFamily="34" charset="-122"/>
                </a:rPr>
                <a:t>OH</a:t>
              </a:r>
              <a:endParaRPr lang="zh-CN" altLang="en-US" sz="1129" dirty="0">
                <a:solidFill>
                  <a:prstClr val="white"/>
                </a:solidFill>
                <a:latin typeface="Arial" panose="020B0604020202020204" pitchFamily="34" charset="0"/>
                <a:ea typeface="微软雅黑" panose="020B0503020204020204" pitchFamily="34" charset="-122"/>
              </a:endParaRPr>
            </a:p>
          </p:txBody>
        </p:sp>
        <p:sp>
          <p:nvSpPr>
            <p:cNvPr id="21" name="任意多边形 222">
              <a:extLst>
                <a:ext uri="{FF2B5EF4-FFF2-40B4-BE49-F238E27FC236}">
                  <a16:creationId xmlns:a16="http://schemas.microsoft.com/office/drawing/2014/main" id="{AE45C9A5-4382-9536-8979-B7F4EB86CD94}"/>
                </a:ext>
              </a:extLst>
            </p:cNvPr>
            <p:cNvSpPr/>
            <p:nvPr/>
          </p:nvSpPr>
          <p:spPr>
            <a:xfrm>
              <a:off x="13104807" y="3181831"/>
              <a:ext cx="783977" cy="470385"/>
            </a:xfrm>
            <a:custGeom>
              <a:avLst/>
              <a:gdLst>
                <a:gd name="connsiteX0" fmla="*/ 0 w 783976"/>
                <a:gd name="connsiteY0" fmla="*/ 47039 h 470385"/>
                <a:gd name="connsiteX1" fmla="*/ 47039 w 783976"/>
                <a:gd name="connsiteY1" fmla="*/ 0 h 470385"/>
                <a:gd name="connsiteX2" fmla="*/ 736938 w 783976"/>
                <a:gd name="connsiteY2" fmla="*/ 0 h 470385"/>
                <a:gd name="connsiteX3" fmla="*/ 783977 w 783976"/>
                <a:gd name="connsiteY3" fmla="*/ 47039 h 470385"/>
                <a:gd name="connsiteX4" fmla="*/ 783976 w 783976"/>
                <a:gd name="connsiteY4" fmla="*/ 423347 h 470385"/>
                <a:gd name="connsiteX5" fmla="*/ 736937 w 783976"/>
                <a:gd name="connsiteY5" fmla="*/ 470386 h 470385"/>
                <a:gd name="connsiteX6" fmla="*/ 47039 w 783976"/>
                <a:gd name="connsiteY6" fmla="*/ 470385 h 470385"/>
                <a:gd name="connsiteX7" fmla="*/ 0 w 783976"/>
                <a:gd name="connsiteY7" fmla="*/ 423346 h 470385"/>
                <a:gd name="connsiteX8" fmla="*/ 0 w 783976"/>
                <a:gd name="connsiteY8" fmla="*/ 47039 h 47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3976" h="470385">
                  <a:moveTo>
                    <a:pt x="0" y="47039"/>
                  </a:moveTo>
                  <a:cubicBezTo>
                    <a:pt x="0" y="21060"/>
                    <a:pt x="21060" y="0"/>
                    <a:pt x="47039" y="0"/>
                  </a:cubicBezTo>
                  <a:lnTo>
                    <a:pt x="736938" y="0"/>
                  </a:lnTo>
                  <a:cubicBezTo>
                    <a:pt x="762917" y="0"/>
                    <a:pt x="783977" y="21060"/>
                    <a:pt x="783977" y="47039"/>
                  </a:cubicBezTo>
                  <a:cubicBezTo>
                    <a:pt x="783977" y="172475"/>
                    <a:pt x="783976" y="297911"/>
                    <a:pt x="783976" y="423347"/>
                  </a:cubicBezTo>
                  <a:cubicBezTo>
                    <a:pt x="783976" y="449326"/>
                    <a:pt x="762916" y="470386"/>
                    <a:pt x="736937" y="470386"/>
                  </a:cubicBezTo>
                  <a:lnTo>
                    <a:pt x="47039" y="470385"/>
                  </a:lnTo>
                  <a:cubicBezTo>
                    <a:pt x="21060" y="470385"/>
                    <a:pt x="0" y="449325"/>
                    <a:pt x="0" y="423346"/>
                  </a:cubicBezTo>
                  <a:lnTo>
                    <a:pt x="0" y="47039"/>
                  </a:lnTo>
                  <a:close/>
                </a:path>
              </a:pathLst>
            </a:custGeom>
            <a:grpFill/>
          </p:spPr>
          <p:style>
            <a:lnRef idx="2">
              <a:schemeClr val="lt1">
                <a:hueOff val="0"/>
                <a:satOff val="0"/>
                <a:lumOff val="0"/>
                <a:alphaOff val="0"/>
              </a:schemeClr>
            </a:lnRef>
            <a:fillRef idx="1">
              <a:schemeClr val="accent6">
                <a:alpha val="90000"/>
                <a:hueOff val="0"/>
                <a:satOff val="0"/>
                <a:lumOff val="0"/>
                <a:alphaOff val="-24000"/>
              </a:schemeClr>
            </a:fillRef>
            <a:effectRef idx="0">
              <a:schemeClr val="accent6">
                <a:alpha val="90000"/>
                <a:hueOff val="0"/>
                <a:satOff val="0"/>
                <a:lumOff val="0"/>
                <a:alphaOff val="-24000"/>
              </a:schemeClr>
            </a:effectRef>
            <a:fontRef idx="minor">
              <a:schemeClr val="lt1"/>
            </a:fontRef>
          </p:style>
          <p:txBody>
            <a:bodyPr spcFirstLastPara="0" vert="horz" wrap="square" lIns="75608" tIns="75608" rIns="75608" bIns="75608" numCol="1" spcCol="1270" anchor="ctr" anchorCtr="0">
              <a:noAutofit/>
            </a:bodyPr>
            <a:lstStyle/>
            <a:p>
              <a:pPr algn="ctr" defTabSz="752508">
                <a:lnSpc>
                  <a:spcPct val="90000"/>
                </a:lnSpc>
                <a:spcBef>
                  <a:spcPct val="0"/>
                </a:spcBef>
                <a:spcAft>
                  <a:spcPct val="35000"/>
                </a:spcAft>
              </a:pPr>
              <a:r>
                <a:rPr lang="en-US" altLang="zh-CN" sz="1129" dirty="0">
                  <a:solidFill>
                    <a:prstClr val="white"/>
                  </a:solidFill>
                  <a:latin typeface="Arial" panose="020B0604020202020204" pitchFamily="34" charset="0"/>
                  <a:ea typeface="微软雅黑" panose="020B0503020204020204" pitchFamily="34" charset="-122"/>
                </a:rPr>
                <a:t>BNR</a:t>
              </a:r>
              <a:endParaRPr lang="zh-CN" altLang="en-US" sz="1129" dirty="0">
                <a:solidFill>
                  <a:prstClr val="white"/>
                </a:solidFill>
                <a:latin typeface="Arial" panose="020B0604020202020204" pitchFamily="34" charset="0"/>
                <a:ea typeface="微软雅黑" panose="020B0503020204020204" pitchFamily="34" charset="-122"/>
              </a:endParaRPr>
            </a:p>
          </p:txBody>
        </p:sp>
        <p:sp>
          <p:nvSpPr>
            <p:cNvPr id="22" name="任意多边形 223">
              <a:extLst>
                <a:ext uri="{FF2B5EF4-FFF2-40B4-BE49-F238E27FC236}">
                  <a16:creationId xmlns:a16="http://schemas.microsoft.com/office/drawing/2014/main" id="{3D223A2D-B335-E196-2BC6-38D90AA84E7C}"/>
                </a:ext>
              </a:extLst>
            </p:cNvPr>
            <p:cNvSpPr/>
            <p:nvPr/>
          </p:nvSpPr>
          <p:spPr>
            <a:xfrm>
              <a:off x="13929853" y="3181831"/>
              <a:ext cx="783977" cy="470385"/>
            </a:xfrm>
            <a:custGeom>
              <a:avLst/>
              <a:gdLst>
                <a:gd name="connsiteX0" fmla="*/ 0 w 783976"/>
                <a:gd name="connsiteY0" fmla="*/ 47039 h 470385"/>
                <a:gd name="connsiteX1" fmla="*/ 47039 w 783976"/>
                <a:gd name="connsiteY1" fmla="*/ 0 h 470385"/>
                <a:gd name="connsiteX2" fmla="*/ 736938 w 783976"/>
                <a:gd name="connsiteY2" fmla="*/ 0 h 470385"/>
                <a:gd name="connsiteX3" fmla="*/ 783977 w 783976"/>
                <a:gd name="connsiteY3" fmla="*/ 47039 h 470385"/>
                <a:gd name="connsiteX4" fmla="*/ 783976 w 783976"/>
                <a:gd name="connsiteY4" fmla="*/ 423347 h 470385"/>
                <a:gd name="connsiteX5" fmla="*/ 736937 w 783976"/>
                <a:gd name="connsiteY5" fmla="*/ 470386 h 470385"/>
                <a:gd name="connsiteX6" fmla="*/ 47039 w 783976"/>
                <a:gd name="connsiteY6" fmla="*/ 470385 h 470385"/>
                <a:gd name="connsiteX7" fmla="*/ 0 w 783976"/>
                <a:gd name="connsiteY7" fmla="*/ 423346 h 470385"/>
                <a:gd name="connsiteX8" fmla="*/ 0 w 783976"/>
                <a:gd name="connsiteY8" fmla="*/ 47039 h 47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3976" h="470385">
                  <a:moveTo>
                    <a:pt x="0" y="47039"/>
                  </a:moveTo>
                  <a:cubicBezTo>
                    <a:pt x="0" y="21060"/>
                    <a:pt x="21060" y="0"/>
                    <a:pt x="47039" y="0"/>
                  </a:cubicBezTo>
                  <a:lnTo>
                    <a:pt x="736938" y="0"/>
                  </a:lnTo>
                  <a:cubicBezTo>
                    <a:pt x="762917" y="0"/>
                    <a:pt x="783977" y="21060"/>
                    <a:pt x="783977" y="47039"/>
                  </a:cubicBezTo>
                  <a:cubicBezTo>
                    <a:pt x="783977" y="172475"/>
                    <a:pt x="783976" y="297911"/>
                    <a:pt x="783976" y="423347"/>
                  </a:cubicBezTo>
                  <a:cubicBezTo>
                    <a:pt x="783976" y="449326"/>
                    <a:pt x="762916" y="470386"/>
                    <a:pt x="736937" y="470386"/>
                  </a:cubicBezTo>
                  <a:lnTo>
                    <a:pt x="47039" y="470385"/>
                  </a:lnTo>
                  <a:cubicBezTo>
                    <a:pt x="21060" y="470385"/>
                    <a:pt x="0" y="449325"/>
                    <a:pt x="0" y="423346"/>
                  </a:cubicBezTo>
                  <a:lnTo>
                    <a:pt x="0" y="47039"/>
                  </a:lnTo>
                  <a:close/>
                </a:path>
              </a:pathLst>
            </a:custGeom>
            <a:grpFill/>
          </p:spPr>
          <p:style>
            <a:lnRef idx="2">
              <a:schemeClr val="lt1">
                <a:hueOff val="0"/>
                <a:satOff val="0"/>
                <a:lumOff val="0"/>
                <a:alphaOff val="0"/>
              </a:schemeClr>
            </a:lnRef>
            <a:fillRef idx="1">
              <a:schemeClr val="accent6">
                <a:alpha val="90000"/>
                <a:hueOff val="0"/>
                <a:satOff val="0"/>
                <a:lumOff val="0"/>
                <a:alphaOff val="-32000"/>
              </a:schemeClr>
            </a:fillRef>
            <a:effectRef idx="0">
              <a:schemeClr val="accent6">
                <a:alpha val="90000"/>
                <a:hueOff val="0"/>
                <a:satOff val="0"/>
                <a:lumOff val="0"/>
                <a:alphaOff val="-32000"/>
              </a:schemeClr>
            </a:effectRef>
            <a:fontRef idx="minor">
              <a:schemeClr val="lt1"/>
            </a:fontRef>
          </p:style>
          <p:txBody>
            <a:bodyPr spcFirstLastPara="0" vert="horz" wrap="square" lIns="75608" tIns="75608" rIns="75608" bIns="75608" numCol="1" spcCol="1270" anchor="ctr" anchorCtr="0">
              <a:noAutofit/>
            </a:bodyPr>
            <a:lstStyle/>
            <a:p>
              <a:pPr algn="ctr" defTabSz="752508">
                <a:lnSpc>
                  <a:spcPct val="90000"/>
                </a:lnSpc>
                <a:spcBef>
                  <a:spcPct val="0"/>
                </a:spcBef>
                <a:spcAft>
                  <a:spcPct val="35000"/>
                </a:spcAft>
              </a:pPr>
              <a:r>
                <a:rPr lang="en-US" altLang="zh-CN" sz="1129" dirty="0">
                  <a:solidFill>
                    <a:prstClr val="white"/>
                  </a:solidFill>
                  <a:latin typeface="Arial" panose="020B0604020202020204" pitchFamily="34" charset="0"/>
                  <a:ea typeface="微软雅黑" panose="020B0503020204020204" pitchFamily="34" charset="-122"/>
                </a:rPr>
                <a:t>ETA</a:t>
              </a:r>
              <a:endParaRPr lang="zh-CN" altLang="en-US" sz="1129" dirty="0">
                <a:solidFill>
                  <a:prstClr val="white"/>
                </a:solidFill>
                <a:latin typeface="Arial" panose="020B0604020202020204" pitchFamily="34" charset="0"/>
                <a:ea typeface="微软雅黑" panose="020B0503020204020204" pitchFamily="34" charset="-122"/>
              </a:endParaRPr>
            </a:p>
          </p:txBody>
        </p:sp>
        <p:sp>
          <p:nvSpPr>
            <p:cNvPr id="23" name="任意多边形 224">
              <a:extLst>
                <a:ext uri="{FF2B5EF4-FFF2-40B4-BE49-F238E27FC236}">
                  <a16:creationId xmlns:a16="http://schemas.microsoft.com/office/drawing/2014/main" id="{64484995-0CD1-EE04-42D9-640F2A7F4EE8}"/>
                </a:ext>
              </a:extLst>
            </p:cNvPr>
            <p:cNvSpPr/>
            <p:nvPr/>
          </p:nvSpPr>
          <p:spPr>
            <a:xfrm>
              <a:off x="14762402" y="3181831"/>
              <a:ext cx="1180185" cy="470385"/>
            </a:xfrm>
            <a:custGeom>
              <a:avLst/>
              <a:gdLst>
                <a:gd name="connsiteX0" fmla="*/ 0 w 783976"/>
                <a:gd name="connsiteY0" fmla="*/ 47039 h 470385"/>
                <a:gd name="connsiteX1" fmla="*/ 47039 w 783976"/>
                <a:gd name="connsiteY1" fmla="*/ 0 h 470385"/>
                <a:gd name="connsiteX2" fmla="*/ 736938 w 783976"/>
                <a:gd name="connsiteY2" fmla="*/ 0 h 470385"/>
                <a:gd name="connsiteX3" fmla="*/ 783977 w 783976"/>
                <a:gd name="connsiteY3" fmla="*/ 47039 h 470385"/>
                <a:gd name="connsiteX4" fmla="*/ 783976 w 783976"/>
                <a:gd name="connsiteY4" fmla="*/ 423347 h 470385"/>
                <a:gd name="connsiteX5" fmla="*/ 736937 w 783976"/>
                <a:gd name="connsiteY5" fmla="*/ 470386 h 470385"/>
                <a:gd name="connsiteX6" fmla="*/ 47039 w 783976"/>
                <a:gd name="connsiteY6" fmla="*/ 470385 h 470385"/>
                <a:gd name="connsiteX7" fmla="*/ 0 w 783976"/>
                <a:gd name="connsiteY7" fmla="*/ 423346 h 470385"/>
                <a:gd name="connsiteX8" fmla="*/ 0 w 783976"/>
                <a:gd name="connsiteY8" fmla="*/ 47039 h 47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3976" h="470385">
                  <a:moveTo>
                    <a:pt x="0" y="47039"/>
                  </a:moveTo>
                  <a:cubicBezTo>
                    <a:pt x="0" y="21060"/>
                    <a:pt x="21060" y="0"/>
                    <a:pt x="47039" y="0"/>
                  </a:cubicBezTo>
                  <a:lnTo>
                    <a:pt x="736938" y="0"/>
                  </a:lnTo>
                  <a:cubicBezTo>
                    <a:pt x="762917" y="0"/>
                    <a:pt x="783977" y="21060"/>
                    <a:pt x="783977" y="47039"/>
                  </a:cubicBezTo>
                  <a:cubicBezTo>
                    <a:pt x="783977" y="172475"/>
                    <a:pt x="783976" y="297911"/>
                    <a:pt x="783976" y="423347"/>
                  </a:cubicBezTo>
                  <a:cubicBezTo>
                    <a:pt x="783976" y="449326"/>
                    <a:pt x="762916" y="470386"/>
                    <a:pt x="736937" y="470386"/>
                  </a:cubicBezTo>
                  <a:lnTo>
                    <a:pt x="47039" y="470385"/>
                  </a:lnTo>
                  <a:cubicBezTo>
                    <a:pt x="21060" y="470385"/>
                    <a:pt x="0" y="449325"/>
                    <a:pt x="0" y="423346"/>
                  </a:cubicBezTo>
                  <a:lnTo>
                    <a:pt x="0" y="47039"/>
                  </a:lnTo>
                  <a:close/>
                </a:path>
              </a:pathLst>
            </a:custGeom>
            <a:grpFill/>
          </p:spPr>
          <p:style>
            <a:lnRef idx="2">
              <a:schemeClr val="lt1">
                <a:hueOff val="0"/>
                <a:satOff val="0"/>
                <a:lumOff val="0"/>
                <a:alphaOff val="0"/>
              </a:schemeClr>
            </a:lnRef>
            <a:fillRef idx="1">
              <a:schemeClr val="accent6">
                <a:alpha val="90000"/>
                <a:hueOff val="0"/>
                <a:satOff val="0"/>
                <a:lumOff val="0"/>
                <a:alphaOff val="-32000"/>
              </a:schemeClr>
            </a:fillRef>
            <a:effectRef idx="0">
              <a:schemeClr val="accent6">
                <a:alpha val="90000"/>
                <a:hueOff val="0"/>
                <a:satOff val="0"/>
                <a:lumOff val="0"/>
                <a:alphaOff val="-32000"/>
              </a:schemeClr>
            </a:effectRef>
            <a:fontRef idx="minor">
              <a:schemeClr val="lt1"/>
            </a:fontRef>
          </p:style>
          <p:txBody>
            <a:bodyPr spcFirstLastPara="0" vert="horz" wrap="square" lIns="75608" tIns="75608" rIns="75608" bIns="75608" numCol="1" spcCol="1270" anchor="ctr" anchorCtr="0">
              <a:noAutofit/>
            </a:bodyPr>
            <a:lstStyle/>
            <a:p>
              <a:pPr algn="ctr" defTabSz="752508">
                <a:lnSpc>
                  <a:spcPct val="90000"/>
                </a:lnSpc>
                <a:spcBef>
                  <a:spcPct val="0"/>
                </a:spcBef>
                <a:spcAft>
                  <a:spcPct val="35000"/>
                </a:spcAft>
              </a:pPr>
              <a:r>
                <a:rPr lang="en-US" altLang="zh-CN" sz="1129" dirty="0">
                  <a:solidFill>
                    <a:prstClr val="white"/>
                  </a:solidFill>
                  <a:latin typeface="Arial" panose="020B0604020202020204" pitchFamily="34" charset="0"/>
                  <a:ea typeface="微软雅黑" panose="020B0503020204020204" pitchFamily="34" charset="-122"/>
                </a:rPr>
                <a:t>Supply Commit</a:t>
              </a:r>
              <a:endParaRPr lang="zh-CN" altLang="en-US" sz="1129" dirty="0">
                <a:solidFill>
                  <a:prstClr val="white"/>
                </a:solidFill>
                <a:latin typeface="Arial" panose="020B0604020202020204" pitchFamily="34" charset="0"/>
                <a:ea typeface="微软雅黑" panose="020B0503020204020204" pitchFamily="34" charset="-122"/>
              </a:endParaRPr>
            </a:p>
          </p:txBody>
        </p:sp>
      </p:grpSp>
      <p:sp>
        <p:nvSpPr>
          <p:cNvPr id="24" name="AutoShape 73">
            <a:extLst>
              <a:ext uri="{FF2B5EF4-FFF2-40B4-BE49-F238E27FC236}">
                <a16:creationId xmlns:a16="http://schemas.microsoft.com/office/drawing/2014/main" id="{54FD63A5-909B-A4DF-1FC2-183B125B0643}"/>
              </a:ext>
            </a:extLst>
          </p:cNvPr>
          <p:cNvSpPr>
            <a:spLocks noChangeArrowheads="1"/>
          </p:cNvSpPr>
          <p:nvPr/>
        </p:nvSpPr>
        <p:spPr bwMode="auto">
          <a:xfrm rot="16200000">
            <a:off x="1763356" y="1621226"/>
            <a:ext cx="75147" cy="2712759"/>
          </a:xfrm>
          <a:prstGeom prst="upDownArrow">
            <a:avLst>
              <a:gd name="adj1" fmla="val 49620"/>
              <a:gd name="adj2" fmla="val 142646"/>
            </a:avLst>
          </a:prstGeom>
          <a:gradFill flip="none" rotWithShape="1">
            <a:gsLst>
              <a:gs pos="100000">
                <a:schemeClr val="accent6">
                  <a:lumMod val="67000"/>
                </a:schemeClr>
              </a:gs>
              <a:gs pos="48000">
                <a:schemeClr val="accent6">
                  <a:lumMod val="97000"/>
                  <a:lumOff val="3000"/>
                </a:schemeClr>
              </a:gs>
              <a:gs pos="0">
                <a:schemeClr val="accent6">
                  <a:lumMod val="60000"/>
                  <a:lumOff val="40000"/>
                </a:schemeClr>
              </a:gs>
            </a:gsLst>
            <a:lin ang="16200000" scaled="1"/>
            <a:tileRect/>
          </a:gradFill>
          <a:ln w="9525" algn="ctr">
            <a:solidFill>
              <a:schemeClr val="tx1"/>
            </a:solidFill>
            <a:miter lim="800000"/>
            <a:headEnd/>
            <a:tailEnd/>
          </a:ln>
        </p:spPr>
        <p:txBody>
          <a:bodyPr wrap="none" anchor="ctr"/>
          <a:lstStyle/>
          <a:p>
            <a:pPr defTabSz="1218621"/>
            <a:endParaRPr lang="en-US" sz="1934" dirty="0">
              <a:solidFill>
                <a:prstClr val="black"/>
              </a:solidFill>
              <a:latin typeface="Arial"/>
            </a:endParaRPr>
          </a:p>
        </p:txBody>
      </p:sp>
      <p:sp>
        <p:nvSpPr>
          <p:cNvPr id="25" name="矩形 24">
            <a:extLst>
              <a:ext uri="{FF2B5EF4-FFF2-40B4-BE49-F238E27FC236}">
                <a16:creationId xmlns:a16="http://schemas.microsoft.com/office/drawing/2014/main" id="{1D493E7A-4000-7C8B-596A-3D6A3039D793}"/>
              </a:ext>
            </a:extLst>
          </p:cNvPr>
          <p:cNvSpPr/>
          <p:nvPr/>
        </p:nvSpPr>
        <p:spPr>
          <a:xfrm>
            <a:off x="981173" y="3016835"/>
            <a:ext cx="1936910" cy="241222"/>
          </a:xfrm>
          <a:prstGeom prst="rect">
            <a:avLst/>
          </a:prstGeom>
        </p:spPr>
        <p:txBody>
          <a:bodyPr wrap="square">
            <a:spAutoFit/>
          </a:bodyPr>
          <a:lstStyle/>
          <a:p>
            <a:pPr defTabSz="1218621"/>
            <a:r>
              <a:rPr lang="en-US" altLang="zh-CN" sz="968" b="1" dirty="0">
                <a:solidFill>
                  <a:prstClr val="black"/>
                </a:solidFill>
                <a:latin typeface="Arial" panose="020B0604020202020204" pitchFamily="34" charset="0"/>
                <a:ea typeface="微软雅黑" panose="020B0503020204020204" pitchFamily="34" charset="-122"/>
              </a:rPr>
              <a:t>Give a date, keep the date</a:t>
            </a:r>
          </a:p>
        </p:txBody>
      </p:sp>
      <p:sp>
        <p:nvSpPr>
          <p:cNvPr id="26" name="Text Box 74">
            <a:extLst>
              <a:ext uri="{FF2B5EF4-FFF2-40B4-BE49-F238E27FC236}">
                <a16:creationId xmlns:a16="http://schemas.microsoft.com/office/drawing/2014/main" id="{D89D68D6-1CFA-2DFD-3220-21D2DF8B39D5}"/>
              </a:ext>
            </a:extLst>
          </p:cNvPr>
          <p:cNvSpPr txBox="1">
            <a:spLocks noChangeArrowheads="1"/>
          </p:cNvSpPr>
          <p:nvPr/>
        </p:nvSpPr>
        <p:spPr bwMode="auto">
          <a:xfrm>
            <a:off x="263280" y="3013550"/>
            <a:ext cx="431528" cy="241285"/>
          </a:xfrm>
          <a:prstGeom prst="rect">
            <a:avLst/>
          </a:prstGeom>
          <a:noFill/>
          <a:ln w="9525" algn="ctr">
            <a:noFill/>
            <a:miter lim="800000"/>
            <a:headEnd/>
            <a:tailEnd/>
          </a:ln>
        </p:spPr>
        <p:txBody>
          <a:bodyPr wrap="none">
            <a:spAutoFit/>
          </a:bodyPr>
          <a:lstStyle/>
          <a:p>
            <a:pPr defTabSz="1218621"/>
            <a:r>
              <a:rPr lang="en-GB" sz="968" b="1" dirty="0">
                <a:solidFill>
                  <a:prstClr val="black"/>
                </a:solidFill>
                <a:latin typeface="Arial" panose="020B0604020202020204" pitchFamily="34" charset="0"/>
                <a:ea typeface="微软雅黑" panose="020B0503020204020204" pitchFamily="34" charset="-122"/>
              </a:rPr>
              <a:t>Low</a:t>
            </a:r>
            <a:endParaRPr lang="en-GB" sz="887" b="1" dirty="0">
              <a:solidFill>
                <a:prstClr val="black"/>
              </a:solidFill>
              <a:latin typeface="Arial" panose="020B0604020202020204" pitchFamily="34" charset="0"/>
              <a:ea typeface="微软雅黑" panose="020B0503020204020204" pitchFamily="34" charset="-122"/>
            </a:endParaRPr>
          </a:p>
        </p:txBody>
      </p:sp>
      <p:sp>
        <p:nvSpPr>
          <p:cNvPr id="27" name="Text Box 75">
            <a:extLst>
              <a:ext uri="{FF2B5EF4-FFF2-40B4-BE49-F238E27FC236}">
                <a16:creationId xmlns:a16="http://schemas.microsoft.com/office/drawing/2014/main" id="{2E7EDA85-0D6D-CCDE-C051-728927F68BDE}"/>
              </a:ext>
            </a:extLst>
          </p:cNvPr>
          <p:cNvSpPr txBox="1">
            <a:spLocks noChangeArrowheads="1"/>
          </p:cNvSpPr>
          <p:nvPr/>
        </p:nvSpPr>
        <p:spPr bwMode="auto">
          <a:xfrm>
            <a:off x="3114091" y="2996847"/>
            <a:ext cx="470966" cy="241222"/>
          </a:xfrm>
          <a:prstGeom prst="rect">
            <a:avLst/>
          </a:prstGeom>
          <a:noFill/>
          <a:ln w="9525" algn="ctr">
            <a:noFill/>
            <a:miter lim="800000"/>
            <a:headEnd/>
            <a:tailEnd/>
          </a:ln>
        </p:spPr>
        <p:txBody>
          <a:bodyPr wrap="square">
            <a:spAutoFit/>
          </a:bodyPr>
          <a:lstStyle/>
          <a:p>
            <a:pPr defTabSz="1218621"/>
            <a:r>
              <a:rPr lang="en-GB" sz="968" b="1" dirty="0">
                <a:solidFill>
                  <a:prstClr val="black"/>
                </a:solidFill>
                <a:latin typeface="Arial" panose="020B0604020202020204" pitchFamily="34" charset="0"/>
                <a:ea typeface="微软雅黑" panose="020B0503020204020204" pitchFamily="34" charset="-122"/>
              </a:rPr>
              <a:t>High</a:t>
            </a:r>
            <a:endParaRPr lang="en-GB" sz="887" b="1" dirty="0">
              <a:solidFill>
                <a:prstClr val="black"/>
              </a:solidFill>
              <a:latin typeface="Arial" panose="020B0604020202020204" pitchFamily="34" charset="0"/>
              <a:ea typeface="微软雅黑" panose="020B0503020204020204" pitchFamily="34" charset="-122"/>
            </a:endParaRPr>
          </a:p>
        </p:txBody>
      </p:sp>
      <p:grpSp>
        <p:nvGrpSpPr>
          <p:cNvPr id="28" name="组合 27">
            <a:extLst>
              <a:ext uri="{FF2B5EF4-FFF2-40B4-BE49-F238E27FC236}">
                <a16:creationId xmlns:a16="http://schemas.microsoft.com/office/drawing/2014/main" id="{790ED1CF-0E61-F820-A602-26C04CF3B2B3}"/>
              </a:ext>
            </a:extLst>
          </p:cNvPr>
          <p:cNvGrpSpPr/>
          <p:nvPr/>
        </p:nvGrpSpPr>
        <p:grpSpPr>
          <a:xfrm>
            <a:off x="5114022" y="1737489"/>
            <a:ext cx="1640928" cy="1340100"/>
            <a:chOff x="6083017" y="3087685"/>
            <a:chExt cx="6516440" cy="4372748"/>
          </a:xfrm>
        </p:grpSpPr>
        <p:sp>
          <p:nvSpPr>
            <p:cNvPr id="29" name="任意多边形 233">
              <a:extLst>
                <a:ext uri="{FF2B5EF4-FFF2-40B4-BE49-F238E27FC236}">
                  <a16:creationId xmlns:a16="http://schemas.microsoft.com/office/drawing/2014/main" id="{96DCE1FC-87B0-121B-2027-BB54A1E06DFA}"/>
                </a:ext>
              </a:extLst>
            </p:cNvPr>
            <p:cNvSpPr/>
            <p:nvPr/>
          </p:nvSpPr>
          <p:spPr>
            <a:xfrm>
              <a:off x="6282534" y="3752218"/>
              <a:ext cx="5792789" cy="3222133"/>
            </a:xfrm>
            <a:custGeom>
              <a:avLst/>
              <a:gdLst>
                <a:gd name="connsiteX0" fmla="*/ 0 w 5506467"/>
                <a:gd name="connsiteY0" fmla="*/ 0 h 3401247"/>
                <a:gd name="connsiteX1" fmla="*/ 5506467 w 5506467"/>
                <a:gd name="connsiteY1" fmla="*/ 0 h 3401247"/>
                <a:gd name="connsiteX2" fmla="*/ 5506467 w 5506467"/>
                <a:gd name="connsiteY2" fmla="*/ 3401247 h 3401247"/>
                <a:gd name="connsiteX3" fmla="*/ 0 w 5506467"/>
                <a:gd name="connsiteY3" fmla="*/ 3401247 h 3401247"/>
                <a:gd name="connsiteX4" fmla="*/ 0 w 5506467"/>
                <a:gd name="connsiteY4" fmla="*/ 0 h 3401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6467" h="3401247">
                  <a:moveTo>
                    <a:pt x="0" y="0"/>
                  </a:moveTo>
                  <a:lnTo>
                    <a:pt x="5506467" y="0"/>
                  </a:lnTo>
                  <a:lnTo>
                    <a:pt x="5506467" y="3401247"/>
                  </a:lnTo>
                  <a:lnTo>
                    <a:pt x="0" y="340124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44361" tIns="144361" rIns="144361" bIns="144361" numCol="1" spcCol="1270" anchor="ctr" anchorCtr="0">
              <a:noAutofit/>
            </a:bodyPr>
            <a:lstStyle/>
            <a:p>
              <a:pPr algn="ctr" defTabSz="1684186">
                <a:lnSpc>
                  <a:spcPct val="90000"/>
                </a:lnSpc>
                <a:spcBef>
                  <a:spcPct val="0"/>
                </a:spcBef>
                <a:spcAft>
                  <a:spcPct val="35000"/>
                </a:spcAft>
              </a:pPr>
              <a:r>
                <a:rPr lang="en-US" altLang="zh-CN" sz="1400" b="1" dirty="0">
                  <a:solidFill>
                    <a:prstClr val="black">
                      <a:hueOff val="0"/>
                      <a:satOff val="0"/>
                      <a:lumOff val="0"/>
                      <a:alphaOff val="0"/>
                    </a:prstClr>
                  </a:solidFill>
                  <a:latin typeface="Arial" panose="020B0604020202020204" pitchFamily="34" charset="0"/>
                  <a:ea typeface="微软雅黑" panose="020B0503020204020204" pitchFamily="34" charset="-122"/>
                </a:rPr>
                <a:t>Optimized Algorithm</a:t>
              </a:r>
            </a:p>
            <a:p>
              <a:pPr algn="ctr" defTabSz="1684186">
                <a:lnSpc>
                  <a:spcPct val="90000"/>
                </a:lnSpc>
                <a:spcBef>
                  <a:spcPct val="0"/>
                </a:spcBef>
                <a:spcAft>
                  <a:spcPct val="35000"/>
                </a:spcAft>
              </a:pPr>
              <a:r>
                <a:rPr lang="en-US" altLang="zh-CN" sz="1400" dirty="0">
                  <a:solidFill>
                    <a:prstClr val="black">
                      <a:hueOff val="0"/>
                      <a:satOff val="0"/>
                      <a:lumOff val="0"/>
                      <a:alphaOff val="0"/>
                    </a:prstClr>
                  </a:solidFill>
                  <a:latin typeface="Arial" panose="020B0604020202020204" pitchFamily="34" charset="0"/>
                  <a:ea typeface="微软雅黑" panose="020B0503020204020204" pitchFamily="34" charset="-122"/>
                </a:rPr>
                <a:t>to best deliver and maximize resources</a:t>
              </a:r>
              <a:endParaRPr lang="zh-CN" altLang="en-US" sz="1400" dirty="0">
                <a:solidFill>
                  <a:prstClr val="black">
                    <a:hueOff val="0"/>
                    <a:satOff val="0"/>
                    <a:lumOff val="0"/>
                    <a:alphaOff val="0"/>
                  </a:prstClr>
                </a:solidFill>
                <a:latin typeface="Arial" panose="020B0604020202020204" pitchFamily="34" charset="0"/>
                <a:ea typeface="微软雅黑" panose="020B0503020204020204" pitchFamily="34" charset="-122"/>
              </a:endParaRPr>
            </a:p>
          </p:txBody>
        </p:sp>
        <p:sp>
          <p:nvSpPr>
            <p:cNvPr id="30" name="半闭框 29">
              <a:extLst>
                <a:ext uri="{FF2B5EF4-FFF2-40B4-BE49-F238E27FC236}">
                  <a16:creationId xmlns:a16="http://schemas.microsoft.com/office/drawing/2014/main" id="{3E599846-C9DA-42B7-69C2-1F48244B75A0}"/>
                </a:ext>
              </a:extLst>
            </p:cNvPr>
            <p:cNvSpPr/>
            <p:nvPr/>
          </p:nvSpPr>
          <p:spPr>
            <a:xfrm>
              <a:off x="6083017" y="3087685"/>
              <a:ext cx="1322439" cy="1322781"/>
            </a:xfrm>
            <a:prstGeom prst="halfFrame">
              <a:avLst>
                <a:gd name="adj1" fmla="val 25770"/>
                <a:gd name="adj2" fmla="val 25770"/>
              </a:avLst>
            </a:prstGeom>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a:lstStyle/>
            <a:p>
              <a:endParaRPr lang="zh-CN" altLang="en-US"/>
            </a:p>
          </p:txBody>
        </p:sp>
        <p:sp>
          <p:nvSpPr>
            <p:cNvPr id="31" name="半闭框 30">
              <a:extLst>
                <a:ext uri="{FF2B5EF4-FFF2-40B4-BE49-F238E27FC236}">
                  <a16:creationId xmlns:a16="http://schemas.microsoft.com/office/drawing/2014/main" id="{54B773DA-57F1-711A-8668-724B816EB107}"/>
                </a:ext>
              </a:extLst>
            </p:cNvPr>
            <p:cNvSpPr/>
            <p:nvPr/>
          </p:nvSpPr>
          <p:spPr>
            <a:xfrm rot="5400000">
              <a:off x="11276847" y="3087856"/>
              <a:ext cx="1322781" cy="1322439"/>
            </a:xfrm>
            <a:prstGeom prst="halfFrame">
              <a:avLst>
                <a:gd name="adj1" fmla="val 25770"/>
                <a:gd name="adj2" fmla="val 25770"/>
              </a:avLst>
            </a:prstGeom>
          </p:spPr>
          <p:style>
            <a:lnRef idx="2">
              <a:schemeClr val="lt1">
                <a:hueOff val="0"/>
                <a:satOff val="0"/>
                <a:lumOff val="0"/>
                <a:alphaOff val="0"/>
              </a:schemeClr>
            </a:lnRef>
            <a:fillRef idx="1">
              <a:schemeClr val="accent5">
                <a:hueOff val="-1784193"/>
                <a:satOff val="-7666"/>
                <a:lumOff val="-2157"/>
                <a:alphaOff val="0"/>
              </a:schemeClr>
            </a:fillRef>
            <a:effectRef idx="0">
              <a:schemeClr val="accent5">
                <a:hueOff val="-1784193"/>
                <a:satOff val="-7666"/>
                <a:lumOff val="-2157"/>
                <a:alphaOff val="0"/>
              </a:schemeClr>
            </a:effectRef>
            <a:fontRef idx="minor">
              <a:schemeClr val="lt1"/>
            </a:fontRef>
          </p:style>
          <p:txBody>
            <a:bodyPr/>
            <a:lstStyle/>
            <a:p>
              <a:pPr defTabSz="1218621"/>
              <a:endParaRPr lang="zh-CN" altLang="en-US" sz="2399">
                <a:solidFill>
                  <a:prstClr val="white"/>
                </a:solidFill>
                <a:latin typeface="Arial"/>
                <a:ea typeface="黑体" panose="02010609060101010101" pitchFamily="49" charset="-122"/>
              </a:endParaRPr>
            </a:p>
          </p:txBody>
        </p:sp>
        <p:sp>
          <p:nvSpPr>
            <p:cNvPr id="32" name="半闭框 31">
              <a:extLst>
                <a:ext uri="{FF2B5EF4-FFF2-40B4-BE49-F238E27FC236}">
                  <a16:creationId xmlns:a16="http://schemas.microsoft.com/office/drawing/2014/main" id="{8A5CE34B-1980-CB0D-DD20-239AD7E1AC3B}"/>
                </a:ext>
              </a:extLst>
            </p:cNvPr>
            <p:cNvSpPr/>
            <p:nvPr/>
          </p:nvSpPr>
          <p:spPr>
            <a:xfrm rot="16200000">
              <a:off x="6082846" y="6137823"/>
              <a:ext cx="1322781" cy="1322439"/>
            </a:xfrm>
            <a:prstGeom prst="halfFrame">
              <a:avLst>
                <a:gd name="adj1" fmla="val 25770"/>
                <a:gd name="adj2" fmla="val 25770"/>
              </a:avLst>
            </a:prstGeom>
          </p:spPr>
          <p:style>
            <a:lnRef idx="2">
              <a:schemeClr val="lt1">
                <a:hueOff val="0"/>
                <a:satOff val="0"/>
                <a:lumOff val="0"/>
                <a:alphaOff val="0"/>
              </a:schemeClr>
            </a:lnRef>
            <a:fillRef idx="1">
              <a:schemeClr val="accent5">
                <a:hueOff val="-3568386"/>
                <a:satOff val="-15333"/>
                <a:lumOff val="-4313"/>
                <a:alphaOff val="0"/>
              </a:schemeClr>
            </a:fillRef>
            <a:effectRef idx="0">
              <a:schemeClr val="accent5">
                <a:hueOff val="-3568386"/>
                <a:satOff val="-15333"/>
                <a:lumOff val="-4313"/>
                <a:alphaOff val="0"/>
              </a:schemeClr>
            </a:effectRef>
            <a:fontRef idx="minor">
              <a:schemeClr val="lt1"/>
            </a:fontRef>
          </p:style>
          <p:txBody>
            <a:bodyPr/>
            <a:lstStyle/>
            <a:p>
              <a:endParaRPr lang="zh-CN" altLang="en-US"/>
            </a:p>
          </p:txBody>
        </p:sp>
        <p:sp>
          <p:nvSpPr>
            <p:cNvPr id="33" name="半闭框 32">
              <a:extLst>
                <a:ext uri="{FF2B5EF4-FFF2-40B4-BE49-F238E27FC236}">
                  <a16:creationId xmlns:a16="http://schemas.microsoft.com/office/drawing/2014/main" id="{50BD9415-A935-373A-B735-65A93749F72F}"/>
                </a:ext>
              </a:extLst>
            </p:cNvPr>
            <p:cNvSpPr/>
            <p:nvPr/>
          </p:nvSpPr>
          <p:spPr>
            <a:xfrm rot="10800000">
              <a:off x="11277018" y="6137652"/>
              <a:ext cx="1322439" cy="1322781"/>
            </a:xfrm>
            <a:prstGeom prst="halfFrame">
              <a:avLst>
                <a:gd name="adj1" fmla="val 25770"/>
                <a:gd name="adj2" fmla="val 25770"/>
              </a:avLst>
            </a:prstGeom>
          </p:spPr>
          <p:style>
            <a:lnRef idx="2">
              <a:schemeClr val="lt1">
                <a:hueOff val="0"/>
                <a:satOff val="0"/>
                <a:lumOff val="0"/>
                <a:alphaOff val="0"/>
              </a:schemeClr>
            </a:lnRef>
            <a:fillRef idx="1">
              <a:schemeClr val="accent5">
                <a:hueOff val="-5352578"/>
                <a:satOff val="-22999"/>
                <a:lumOff val="-6470"/>
                <a:alphaOff val="0"/>
              </a:schemeClr>
            </a:fillRef>
            <a:effectRef idx="0">
              <a:schemeClr val="accent5">
                <a:hueOff val="-5352578"/>
                <a:satOff val="-22999"/>
                <a:lumOff val="-6470"/>
                <a:alphaOff val="0"/>
              </a:schemeClr>
            </a:effectRef>
            <a:fontRef idx="minor">
              <a:schemeClr val="lt1"/>
            </a:fontRef>
          </p:style>
          <p:txBody>
            <a:bodyPr/>
            <a:lstStyle/>
            <a:p>
              <a:endParaRPr lang="zh-CN" altLang="en-US"/>
            </a:p>
          </p:txBody>
        </p:sp>
      </p:grpSp>
      <p:sp>
        <p:nvSpPr>
          <p:cNvPr id="34" name="圆角矩形 5">
            <a:extLst>
              <a:ext uri="{FF2B5EF4-FFF2-40B4-BE49-F238E27FC236}">
                <a16:creationId xmlns:a16="http://schemas.microsoft.com/office/drawing/2014/main" id="{302D33FD-A273-1E14-72D4-6769B98C2458}"/>
              </a:ext>
            </a:extLst>
          </p:cNvPr>
          <p:cNvSpPr txBox="1"/>
          <p:nvPr/>
        </p:nvSpPr>
        <p:spPr>
          <a:xfrm>
            <a:off x="5310262" y="3164026"/>
            <a:ext cx="1458703" cy="272572"/>
          </a:xfrm>
          <a:prstGeom prst="rect">
            <a:avLst/>
          </a:prstGeom>
          <a:ln/>
        </p:spPr>
        <p:style>
          <a:lnRef idx="2">
            <a:schemeClr val="accent4"/>
          </a:lnRef>
          <a:fillRef idx="1">
            <a:schemeClr val="lt1"/>
          </a:fillRef>
          <a:effectRef idx="0">
            <a:schemeClr val="accent4"/>
          </a:effectRef>
          <a:fontRef idx="minor">
            <a:schemeClr val="dk1"/>
          </a:fontRef>
        </p:style>
        <p:txBody>
          <a:bodyPr spcFirstLastPara="0" vert="horz" wrap="square" lIns="46073" tIns="46073" rIns="46073" bIns="46073" numCol="1" spcCol="1270" anchor="ctr" anchorCtr="0">
            <a:noAutofit/>
          </a:bodyPr>
          <a:lstStyle>
            <a:defPPr>
              <a:defRPr lang="zh-CN"/>
            </a:defPPr>
            <a:lvl1pPr algn="ctr" defTabSz="537506">
              <a:lnSpc>
                <a:spcPct val="90000"/>
              </a:lnSpc>
              <a:spcBef>
                <a:spcPct val="0"/>
              </a:spcBef>
              <a:spcAft>
                <a:spcPct val="35000"/>
              </a:spcAft>
              <a:defRPr sz="1210">
                <a:solidFill>
                  <a:prstClr val="black">
                    <a:hueOff val="0"/>
                    <a:satOff val="0"/>
                    <a:lumOff val="0"/>
                    <a:alphaOff val="0"/>
                  </a:prstClr>
                </a:solidFill>
                <a:latin typeface="Arial"/>
                <a:ea typeface="黑体" panose="02010609060101010101" pitchFamily="49" charset="-122"/>
              </a:defRPr>
            </a:lvl1pPr>
            <a:lvl2pPr>
              <a:defRPr>
                <a:solidFill>
                  <a:schemeClr val="dk1"/>
                </a:solidFill>
              </a:defRPr>
            </a:lvl2pPr>
            <a:lvl3pPr>
              <a:defRPr>
                <a:solidFill>
                  <a:schemeClr val="dk1"/>
                </a:solidFill>
              </a:defRPr>
            </a:lvl3pPr>
            <a:lvl4pPr>
              <a:defRPr>
                <a:solidFill>
                  <a:schemeClr val="dk1"/>
                </a:solidFill>
              </a:defRPr>
            </a:lvl4pPr>
            <a:lvl5pPr>
              <a:defRPr>
                <a:solidFill>
                  <a:schemeClr val="dk1"/>
                </a:solidFill>
              </a:defRPr>
            </a:lvl5pPr>
            <a:lvl6pPr>
              <a:defRPr>
                <a:solidFill>
                  <a:schemeClr val="dk1"/>
                </a:solidFill>
              </a:defRPr>
            </a:lvl6pPr>
            <a:lvl7pPr>
              <a:defRPr>
                <a:solidFill>
                  <a:schemeClr val="dk1"/>
                </a:solidFill>
              </a:defRPr>
            </a:lvl7pPr>
            <a:lvl8pPr>
              <a:defRPr>
                <a:solidFill>
                  <a:schemeClr val="dk1"/>
                </a:solidFill>
              </a:defRPr>
            </a:lvl8pPr>
            <a:lvl9pPr>
              <a:defRPr>
                <a:solidFill>
                  <a:schemeClr val="dk1"/>
                </a:solidFill>
              </a:defRPr>
            </a:lvl9pPr>
          </a:lstStyle>
          <a:p>
            <a:r>
              <a:rPr lang="en-US" altLang="zh-CN" sz="1100" b="1" dirty="0">
                <a:solidFill>
                  <a:schemeClr val="bg1"/>
                </a:solidFill>
                <a:latin typeface="Arial" panose="020B0604020202020204" pitchFamily="34" charset="0"/>
                <a:ea typeface="微软雅黑" panose="020B0503020204020204" pitchFamily="34" charset="-122"/>
              </a:rPr>
              <a:t>Allocation</a:t>
            </a:r>
            <a:endParaRPr lang="zh-CN" altLang="en-US" sz="1100" b="1" dirty="0">
              <a:solidFill>
                <a:schemeClr val="bg1"/>
              </a:solidFill>
              <a:latin typeface="Arial" panose="020B0604020202020204" pitchFamily="34" charset="0"/>
              <a:ea typeface="微软雅黑" panose="020B0503020204020204" pitchFamily="34" charset="-122"/>
            </a:endParaRPr>
          </a:p>
        </p:txBody>
      </p:sp>
      <p:sp>
        <p:nvSpPr>
          <p:cNvPr id="35" name="圆角矩形 5">
            <a:extLst>
              <a:ext uri="{FF2B5EF4-FFF2-40B4-BE49-F238E27FC236}">
                <a16:creationId xmlns:a16="http://schemas.microsoft.com/office/drawing/2014/main" id="{78DAA5A6-3122-0B0B-D844-F0C7DA82A426}"/>
              </a:ext>
            </a:extLst>
          </p:cNvPr>
          <p:cNvSpPr txBox="1"/>
          <p:nvPr/>
        </p:nvSpPr>
        <p:spPr>
          <a:xfrm>
            <a:off x="6849204" y="3167009"/>
            <a:ext cx="1385278" cy="261905"/>
          </a:xfrm>
          <a:prstGeom prst="rect">
            <a:avLst/>
          </a:prstGeom>
          <a:ln/>
        </p:spPr>
        <p:style>
          <a:lnRef idx="2">
            <a:schemeClr val="accent4"/>
          </a:lnRef>
          <a:fillRef idx="1">
            <a:schemeClr val="lt1"/>
          </a:fillRef>
          <a:effectRef idx="0">
            <a:schemeClr val="accent4"/>
          </a:effectRef>
          <a:fontRef idx="minor">
            <a:schemeClr val="dk1"/>
          </a:fontRef>
        </p:style>
        <p:txBody>
          <a:bodyPr spcFirstLastPara="0" vert="horz" wrap="square" lIns="46073" tIns="46073" rIns="46073" bIns="46073" numCol="1" spcCol="1270" anchor="ctr" anchorCtr="0">
            <a:noAutofit/>
          </a:bodyPr>
          <a:lstStyle>
            <a:defPPr>
              <a:defRPr lang="zh-CN"/>
            </a:defPPr>
            <a:lvl1pPr algn="ctr" defTabSz="537506">
              <a:lnSpc>
                <a:spcPct val="90000"/>
              </a:lnSpc>
              <a:spcBef>
                <a:spcPct val="0"/>
              </a:spcBef>
              <a:spcAft>
                <a:spcPct val="35000"/>
              </a:spcAft>
              <a:defRPr sz="1210">
                <a:solidFill>
                  <a:prstClr val="black">
                    <a:hueOff val="0"/>
                    <a:satOff val="0"/>
                    <a:lumOff val="0"/>
                    <a:alphaOff val="0"/>
                  </a:prstClr>
                </a:solidFill>
                <a:latin typeface="Arial"/>
                <a:ea typeface="黑体" panose="02010609060101010101" pitchFamily="49" charset="-122"/>
              </a:defRPr>
            </a:lvl1pPr>
            <a:lvl2pPr>
              <a:defRPr>
                <a:solidFill>
                  <a:schemeClr val="dk1"/>
                </a:solidFill>
              </a:defRPr>
            </a:lvl2pPr>
            <a:lvl3pPr>
              <a:defRPr>
                <a:solidFill>
                  <a:schemeClr val="dk1"/>
                </a:solidFill>
              </a:defRPr>
            </a:lvl3pPr>
            <a:lvl4pPr>
              <a:defRPr>
                <a:solidFill>
                  <a:schemeClr val="dk1"/>
                </a:solidFill>
              </a:defRPr>
            </a:lvl4pPr>
            <a:lvl5pPr>
              <a:defRPr>
                <a:solidFill>
                  <a:schemeClr val="dk1"/>
                </a:solidFill>
              </a:defRPr>
            </a:lvl5pPr>
            <a:lvl6pPr>
              <a:defRPr>
                <a:solidFill>
                  <a:schemeClr val="dk1"/>
                </a:solidFill>
              </a:defRPr>
            </a:lvl6pPr>
            <a:lvl7pPr>
              <a:defRPr>
                <a:solidFill>
                  <a:schemeClr val="dk1"/>
                </a:solidFill>
              </a:defRPr>
            </a:lvl7pPr>
            <a:lvl8pPr>
              <a:defRPr>
                <a:solidFill>
                  <a:schemeClr val="dk1"/>
                </a:solidFill>
              </a:defRPr>
            </a:lvl8pPr>
            <a:lvl9pPr>
              <a:defRPr>
                <a:solidFill>
                  <a:schemeClr val="dk1"/>
                </a:solidFill>
              </a:defRPr>
            </a:lvl9pPr>
          </a:lstStyle>
          <a:p>
            <a:r>
              <a:rPr lang="en-US" altLang="zh-CN" sz="1200" b="1" dirty="0">
                <a:solidFill>
                  <a:schemeClr val="bg1"/>
                </a:solidFill>
                <a:latin typeface="Arial" panose="020B0604020202020204" pitchFamily="34" charset="0"/>
                <a:ea typeface="微软雅黑" panose="020B0503020204020204" pitchFamily="34" charset="-122"/>
              </a:rPr>
              <a:t>Parts Reservation</a:t>
            </a:r>
            <a:endParaRPr lang="zh-CN" altLang="en-US" sz="1200" b="1" dirty="0">
              <a:solidFill>
                <a:schemeClr val="bg1"/>
              </a:solidFill>
              <a:latin typeface="Arial" panose="020B0604020202020204" pitchFamily="34" charset="0"/>
              <a:ea typeface="微软雅黑" panose="020B0503020204020204" pitchFamily="34" charset="-122"/>
            </a:endParaRPr>
          </a:p>
        </p:txBody>
      </p:sp>
      <p:sp>
        <p:nvSpPr>
          <p:cNvPr id="36" name="下箭头 245">
            <a:extLst>
              <a:ext uri="{FF2B5EF4-FFF2-40B4-BE49-F238E27FC236}">
                <a16:creationId xmlns:a16="http://schemas.microsoft.com/office/drawing/2014/main" id="{6B131888-ADCB-226F-3841-F5F2A2D1F685}"/>
              </a:ext>
            </a:extLst>
          </p:cNvPr>
          <p:cNvSpPr/>
          <p:nvPr/>
        </p:nvSpPr>
        <p:spPr>
          <a:xfrm>
            <a:off x="1701660" y="4034752"/>
            <a:ext cx="557423" cy="417552"/>
          </a:xfrm>
          <a:prstGeom prst="downArrow">
            <a:avLst/>
          </a:prstGeom>
          <a:gradFill flip="none" rotWithShape="1">
            <a:gsLst>
              <a:gs pos="0">
                <a:schemeClr val="accent2">
                  <a:lumMod val="0"/>
                  <a:lumOff val="100000"/>
                  <a:alpha val="30000"/>
                </a:schemeClr>
              </a:gs>
              <a:gs pos="35000">
                <a:schemeClr val="accent2">
                  <a:lumMod val="0"/>
                  <a:lumOff val="100000"/>
                </a:schemeClr>
              </a:gs>
              <a:gs pos="100000">
                <a:srgbClr val="0668EA"/>
              </a:gs>
            </a:gsLst>
            <a:path path="circle">
              <a:fillToRect l="50000" t="-80000" r="50000" b="18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621"/>
            <a:endParaRPr lang="zh-CN" altLang="en-US" sz="1934">
              <a:solidFill>
                <a:prstClr val="white"/>
              </a:solidFill>
              <a:latin typeface="Arial"/>
              <a:ea typeface="黑体" panose="02010609060101010101" pitchFamily="49" charset="-122"/>
            </a:endParaRPr>
          </a:p>
        </p:txBody>
      </p:sp>
      <p:sp>
        <p:nvSpPr>
          <p:cNvPr id="37" name="下箭头 246">
            <a:extLst>
              <a:ext uri="{FF2B5EF4-FFF2-40B4-BE49-F238E27FC236}">
                <a16:creationId xmlns:a16="http://schemas.microsoft.com/office/drawing/2014/main" id="{0385973A-B930-E9B1-004D-8E8771A8A97D}"/>
              </a:ext>
            </a:extLst>
          </p:cNvPr>
          <p:cNvSpPr/>
          <p:nvPr/>
        </p:nvSpPr>
        <p:spPr>
          <a:xfrm>
            <a:off x="5223145" y="4047944"/>
            <a:ext cx="557423" cy="417552"/>
          </a:xfrm>
          <a:prstGeom prst="downArrow">
            <a:avLst/>
          </a:prstGeom>
          <a:gradFill flip="none" rotWithShape="1">
            <a:gsLst>
              <a:gs pos="0">
                <a:schemeClr val="accent2">
                  <a:lumMod val="0"/>
                  <a:lumOff val="100000"/>
                  <a:alpha val="30000"/>
                </a:schemeClr>
              </a:gs>
              <a:gs pos="35000">
                <a:schemeClr val="accent2">
                  <a:lumMod val="0"/>
                  <a:lumOff val="100000"/>
                </a:schemeClr>
              </a:gs>
              <a:gs pos="100000">
                <a:srgbClr val="0668EA"/>
              </a:gs>
            </a:gsLst>
            <a:path path="circle">
              <a:fillToRect l="50000" t="-80000" r="50000" b="18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621"/>
            <a:endParaRPr lang="zh-CN" altLang="en-US" sz="1934">
              <a:solidFill>
                <a:prstClr val="white"/>
              </a:solidFill>
              <a:latin typeface="Arial"/>
              <a:ea typeface="黑体" panose="02010609060101010101" pitchFamily="49" charset="-122"/>
            </a:endParaRPr>
          </a:p>
        </p:txBody>
      </p:sp>
      <p:sp>
        <p:nvSpPr>
          <p:cNvPr id="38" name="下箭头 247">
            <a:extLst>
              <a:ext uri="{FF2B5EF4-FFF2-40B4-BE49-F238E27FC236}">
                <a16:creationId xmlns:a16="http://schemas.microsoft.com/office/drawing/2014/main" id="{C0413D1B-6752-FA70-DCC4-4BC4C7017353}"/>
              </a:ext>
            </a:extLst>
          </p:cNvPr>
          <p:cNvSpPr/>
          <p:nvPr/>
        </p:nvSpPr>
        <p:spPr>
          <a:xfrm>
            <a:off x="7386270" y="4022940"/>
            <a:ext cx="557423" cy="417552"/>
          </a:xfrm>
          <a:prstGeom prst="downArrow">
            <a:avLst/>
          </a:prstGeom>
          <a:gradFill flip="none" rotWithShape="1">
            <a:gsLst>
              <a:gs pos="0">
                <a:schemeClr val="accent2">
                  <a:lumMod val="0"/>
                  <a:lumOff val="100000"/>
                  <a:alpha val="30000"/>
                </a:schemeClr>
              </a:gs>
              <a:gs pos="35000">
                <a:schemeClr val="accent2">
                  <a:lumMod val="0"/>
                  <a:lumOff val="100000"/>
                </a:schemeClr>
              </a:gs>
              <a:gs pos="100000">
                <a:srgbClr val="0668EA"/>
              </a:gs>
            </a:gsLst>
            <a:path path="circle">
              <a:fillToRect l="50000" t="-80000" r="50000" b="18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621"/>
            <a:endParaRPr lang="zh-CN" altLang="en-US" sz="1934">
              <a:solidFill>
                <a:prstClr val="white"/>
              </a:solidFill>
              <a:latin typeface="Arial"/>
              <a:ea typeface="黑体" panose="02010609060101010101" pitchFamily="49" charset="-122"/>
            </a:endParaRPr>
          </a:p>
        </p:txBody>
      </p:sp>
      <p:sp>
        <p:nvSpPr>
          <p:cNvPr id="39" name="下箭头 248">
            <a:extLst>
              <a:ext uri="{FF2B5EF4-FFF2-40B4-BE49-F238E27FC236}">
                <a16:creationId xmlns:a16="http://schemas.microsoft.com/office/drawing/2014/main" id="{C855E4BC-4612-A6E7-3030-9717D75C1540}"/>
              </a:ext>
            </a:extLst>
          </p:cNvPr>
          <p:cNvSpPr/>
          <p:nvPr/>
        </p:nvSpPr>
        <p:spPr>
          <a:xfrm>
            <a:off x="10236837" y="4026925"/>
            <a:ext cx="557423" cy="417552"/>
          </a:xfrm>
          <a:prstGeom prst="downArrow">
            <a:avLst/>
          </a:prstGeom>
          <a:gradFill flip="none" rotWithShape="1">
            <a:gsLst>
              <a:gs pos="0">
                <a:schemeClr val="accent2">
                  <a:lumMod val="0"/>
                  <a:lumOff val="100000"/>
                  <a:alpha val="30000"/>
                </a:schemeClr>
              </a:gs>
              <a:gs pos="35000">
                <a:schemeClr val="accent2">
                  <a:lumMod val="0"/>
                  <a:lumOff val="100000"/>
                </a:schemeClr>
              </a:gs>
              <a:gs pos="100000">
                <a:srgbClr val="0668EA"/>
              </a:gs>
            </a:gsLst>
            <a:path path="circle">
              <a:fillToRect l="50000" t="-80000" r="50000" b="18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621"/>
            <a:endParaRPr lang="zh-CN" altLang="en-US" sz="1934">
              <a:solidFill>
                <a:prstClr val="white"/>
              </a:solidFill>
              <a:latin typeface="Arial"/>
              <a:ea typeface="黑体" panose="02010609060101010101" pitchFamily="49" charset="-122"/>
            </a:endParaRPr>
          </a:p>
        </p:txBody>
      </p:sp>
      <p:cxnSp>
        <p:nvCxnSpPr>
          <p:cNvPr id="40" name="直接连接符 39">
            <a:extLst>
              <a:ext uri="{FF2B5EF4-FFF2-40B4-BE49-F238E27FC236}">
                <a16:creationId xmlns:a16="http://schemas.microsoft.com/office/drawing/2014/main" id="{0F2D90BD-6DD6-3BB7-904B-D7ABCBEE06C6}"/>
              </a:ext>
            </a:extLst>
          </p:cNvPr>
          <p:cNvCxnSpPr>
            <a:cxnSpLocks/>
          </p:cNvCxnSpPr>
          <p:nvPr/>
        </p:nvCxnSpPr>
        <p:spPr>
          <a:xfrm>
            <a:off x="4567559" y="6041281"/>
            <a:ext cx="0" cy="211743"/>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C550BC26-994C-1A3B-DA2F-E4ECA064D436}"/>
              </a:ext>
            </a:extLst>
          </p:cNvPr>
          <p:cNvSpPr txBox="1"/>
          <p:nvPr/>
        </p:nvSpPr>
        <p:spPr>
          <a:xfrm>
            <a:off x="147654" y="1334836"/>
            <a:ext cx="3387739" cy="1987051"/>
          </a:xfrm>
          <a:prstGeom prst="rect">
            <a:avLst/>
          </a:prstGeom>
          <a:noFill/>
          <a:ln>
            <a:solidFill>
              <a:srgbClr val="0070C0"/>
            </a:solidFill>
            <a:prstDash val="sysDash"/>
          </a:ln>
        </p:spPr>
        <p:style>
          <a:lnRef idx="3">
            <a:schemeClr val="lt1"/>
          </a:lnRef>
          <a:fillRef idx="1">
            <a:schemeClr val="accent4"/>
          </a:fillRef>
          <a:effectRef idx="1">
            <a:schemeClr val="accent4"/>
          </a:effectRef>
          <a:fontRef idx="minor">
            <a:schemeClr val="lt1"/>
          </a:fontRef>
        </p:style>
        <p:txBody>
          <a:bodyPr wrap="square" rtlCol="0">
            <a:spAutoFit/>
          </a:bodyPr>
          <a:lstStyle/>
          <a:p>
            <a:pPr defTabSz="1218621"/>
            <a:endParaRPr lang="en-US" altLang="zh-CN" sz="968" b="1" dirty="0">
              <a:solidFill>
                <a:prstClr val="white"/>
              </a:solidFill>
              <a:latin typeface="Arial"/>
              <a:ea typeface="黑体" panose="02010609060101010101" pitchFamily="49" charset="-122"/>
            </a:endParaRPr>
          </a:p>
        </p:txBody>
      </p:sp>
      <p:cxnSp>
        <p:nvCxnSpPr>
          <p:cNvPr id="42" name="直接连接符 41">
            <a:extLst>
              <a:ext uri="{FF2B5EF4-FFF2-40B4-BE49-F238E27FC236}">
                <a16:creationId xmlns:a16="http://schemas.microsoft.com/office/drawing/2014/main" id="{5C316D08-C84C-34D0-B599-483FFE49F6BD}"/>
              </a:ext>
            </a:extLst>
          </p:cNvPr>
          <p:cNvCxnSpPr>
            <a:cxnSpLocks/>
          </p:cNvCxnSpPr>
          <p:nvPr/>
        </p:nvCxnSpPr>
        <p:spPr>
          <a:xfrm flipH="1">
            <a:off x="513682" y="6253025"/>
            <a:ext cx="3529913" cy="1"/>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43" name="矩形 42">
            <a:extLst>
              <a:ext uri="{FF2B5EF4-FFF2-40B4-BE49-F238E27FC236}">
                <a16:creationId xmlns:a16="http://schemas.microsoft.com/office/drawing/2014/main" id="{B1F60F1A-5F02-4B45-52BA-E3279573F338}"/>
              </a:ext>
            </a:extLst>
          </p:cNvPr>
          <p:cNvSpPr/>
          <p:nvPr/>
        </p:nvSpPr>
        <p:spPr>
          <a:xfrm>
            <a:off x="8710205" y="1354315"/>
            <a:ext cx="2819329" cy="266029"/>
          </a:xfrm>
          <a:prstGeom prst="rect">
            <a:avLst/>
          </a:prstGeom>
          <a:ln/>
        </p:spPr>
        <p:style>
          <a:lnRef idx="2">
            <a:schemeClr val="accent3"/>
          </a:lnRef>
          <a:fillRef idx="1">
            <a:schemeClr val="lt1"/>
          </a:fillRef>
          <a:effectRef idx="0">
            <a:schemeClr val="accent3"/>
          </a:effectRef>
          <a:fontRef idx="minor">
            <a:schemeClr val="dk1"/>
          </a:fontRef>
        </p:style>
        <p:txBody>
          <a:bodyPr wrap="square">
            <a:spAutoFit/>
          </a:bodyPr>
          <a:lstStyle/>
          <a:p>
            <a:pPr defTabSz="1218621"/>
            <a:r>
              <a:rPr lang="en-US" altLang="zh-CN" sz="1129" b="1" dirty="0">
                <a:solidFill>
                  <a:schemeClr val="bg1"/>
                </a:solidFill>
                <a:latin typeface="Arial" panose="020B0604020202020204" pitchFamily="34" charset="0"/>
                <a:ea typeface="微软雅黑" panose="020B0503020204020204" pitchFamily="34" charset="-122"/>
              </a:rPr>
              <a:t>Supply with Arrival Date &amp; Dimension</a:t>
            </a:r>
          </a:p>
        </p:txBody>
      </p:sp>
      <p:sp>
        <p:nvSpPr>
          <p:cNvPr id="44" name="矩形 43">
            <a:extLst>
              <a:ext uri="{FF2B5EF4-FFF2-40B4-BE49-F238E27FC236}">
                <a16:creationId xmlns:a16="http://schemas.microsoft.com/office/drawing/2014/main" id="{BB88D1D9-2426-89BB-0621-7CB422CC8B84}"/>
              </a:ext>
            </a:extLst>
          </p:cNvPr>
          <p:cNvSpPr/>
          <p:nvPr/>
        </p:nvSpPr>
        <p:spPr>
          <a:xfrm>
            <a:off x="112567" y="1348640"/>
            <a:ext cx="3421953" cy="266098"/>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p>
            <a:pPr defTabSz="1218621"/>
            <a:r>
              <a:rPr lang="en-US" altLang="zh-CN" sz="1100" b="1" dirty="0">
                <a:solidFill>
                  <a:schemeClr val="bg1"/>
                </a:solidFill>
                <a:latin typeface="Arial" panose="020B0604020202020204" pitchFamily="34" charset="0"/>
                <a:ea typeface="微软雅黑" panose="020B0503020204020204" pitchFamily="34" charset="-122"/>
              </a:rPr>
              <a:t>Order with Prioritization, Due date &amp; Dimension </a:t>
            </a:r>
          </a:p>
        </p:txBody>
      </p:sp>
      <p:sp>
        <p:nvSpPr>
          <p:cNvPr id="45" name="Rectangle 48">
            <a:extLst>
              <a:ext uri="{FF2B5EF4-FFF2-40B4-BE49-F238E27FC236}">
                <a16:creationId xmlns:a16="http://schemas.microsoft.com/office/drawing/2014/main" id="{69B71039-0AD4-34D3-6F81-2F7EB33EF781}"/>
              </a:ext>
            </a:extLst>
          </p:cNvPr>
          <p:cNvSpPr/>
          <p:nvPr/>
        </p:nvSpPr>
        <p:spPr>
          <a:xfrm>
            <a:off x="5343075" y="5835535"/>
            <a:ext cx="1907503" cy="284326"/>
          </a:xfrm>
          <a:prstGeom prst="rect">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7248" fontAlgn="base">
              <a:spcBef>
                <a:spcPct val="0"/>
              </a:spcBef>
              <a:spcAft>
                <a:spcPct val="0"/>
              </a:spcAft>
            </a:pPr>
            <a:r>
              <a:rPr lang="en-GB" altLang="zh-CN" sz="1000" b="1" dirty="0">
                <a:solidFill>
                  <a:srgbClr val="0070C0"/>
                </a:solidFill>
                <a:latin typeface="Arial" panose="020B0604020202020204" pitchFamily="34" charset="0"/>
                <a:ea typeface="微软雅黑" panose="020B0503020204020204" pitchFamily="34" charset="-122"/>
              </a:rPr>
              <a:t>Procurement(OE/GSM/Buyer)</a:t>
            </a:r>
            <a:endParaRPr lang="en-GB" sz="1000" b="1" dirty="0">
              <a:solidFill>
                <a:srgbClr val="0070C0"/>
              </a:solidFill>
              <a:latin typeface="Arial" panose="020B0604020202020204" pitchFamily="34" charset="0"/>
              <a:ea typeface="微软雅黑" panose="020B0503020204020204" pitchFamily="34" charset="-122"/>
            </a:endParaRPr>
          </a:p>
        </p:txBody>
      </p:sp>
      <p:sp>
        <p:nvSpPr>
          <p:cNvPr id="46" name="Rectangle 48">
            <a:extLst>
              <a:ext uri="{FF2B5EF4-FFF2-40B4-BE49-F238E27FC236}">
                <a16:creationId xmlns:a16="http://schemas.microsoft.com/office/drawing/2014/main" id="{00189794-1BE6-4FB9-54C4-498247FADDD3}"/>
              </a:ext>
            </a:extLst>
          </p:cNvPr>
          <p:cNvSpPr/>
          <p:nvPr/>
        </p:nvSpPr>
        <p:spPr>
          <a:xfrm>
            <a:off x="7383165" y="5837581"/>
            <a:ext cx="1083605" cy="284258"/>
          </a:xfrm>
          <a:prstGeom prst="rect">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7248" fontAlgn="base">
              <a:spcBef>
                <a:spcPct val="0"/>
              </a:spcBef>
              <a:spcAft>
                <a:spcPct val="0"/>
              </a:spcAft>
            </a:pPr>
            <a:r>
              <a:rPr lang="en-GB" altLang="zh-CN" sz="1000" b="1" dirty="0">
                <a:solidFill>
                  <a:srgbClr val="0070C0"/>
                </a:solidFill>
                <a:latin typeface="Arial" panose="020B0604020202020204" pitchFamily="34" charset="0"/>
                <a:ea typeface="微软雅黑" panose="020B0503020204020204" pitchFamily="34" charset="-122"/>
              </a:rPr>
              <a:t>MPD</a:t>
            </a:r>
            <a:endParaRPr lang="en-GB" sz="1000" b="1" dirty="0">
              <a:solidFill>
                <a:srgbClr val="0070C0"/>
              </a:solidFill>
              <a:latin typeface="Arial" panose="020B0604020202020204" pitchFamily="34" charset="0"/>
              <a:ea typeface="微软雅黑" panose="020B0503020204020204" pitchFamily="34" charset="-122"/>
            </a:endParaRPr>
          </a:p>
        </p:txBody>
      </p:sp>
      <p:sp>
        <p:nvSpPr>
          <p:cNvPr id="47" name="Rectangle 48">
            <a:extLst>
              <a:ext uri="{FF2B5EF4-FFF2-40B4-BE49-F238E27FC236}">
                <a16:creationId xmlns:a16="http://schemas.microsoft.com/office/drawing/2014/main" id="{06B20042-54EA-828A-BAE0-900FF340CAC5}"/>
              </a:ext>
            </a:extLst>
          </p:cNvPr>
          <p:cNvSpPr/>
          <p:nvPr/>
        </p:nvSpPr>
        <p:spPr>
          <a:xfrm>
            <a:off x="4026969" y="5838869"/>
            <a:ext cx="1083605" cy="284326"/>
          </a:xfrm>
          <a:prstGeom prst="rect">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7248" fontAlgn="base">
              <a:spcBef>
                <a:spcPct val="0"/>
              </a:spcBef>
              <a:spcAft>
                <a:spcPct val="0"/>
              </a:spcAft>
            </a:pPr>
            <a:r>
              <a:rPr lang="en-GB" altLang="zh-CN" sz="1000" b="1" dirty="0">
                <a:solidFill>
                  <a:srgbClr val="0070C0"/>
                </a:solidFill>
                <a:latin typeface="Arial" panose="020B0604020202020204" pitchFamily="34" charset="0"/>
                <a:ea typeface="微软雅黑" panose="020B0503020204020204" pitchFamily="34" charset="-122"/>
              </a:rPr>
              <a:t>GL</a:t>
            </a:r>
            <a:endParaRPr lang="en-GB" sz="1000" b="1" dirty="0">
              <a:solidFill>
                <a:srgbClr val="0070C0"/>
              </a:solidFill>
              <a:latin typeface="Arial" panose="020B0604020202020204" pitchFamily="34" charset="0"/>
              <a:ea typeface="微软雅黑" panose="020B0503020204020204" pitchFamily="34" charset="-122"/>
            </a:endParaRPr>
          </a:p>
        </p:txBody>
      </p:sp>
      <p:cxnSp>
        <p:nvCxnSpPr>
          <p:cNvPr id="48" name="直接连接符 47">
            <a:extLst>
              <a:ext uri="{FF2B5EF4-FFF2-40B4-BE49-F238E27FC236}">
                <a16:creationId xmlns:a16="http://schemas.microsoft.com/office/drawing/2014/main" id="{9642694F-745A-660B-0440-1CA289EB524A}"/>
              </a:ext>
            </a:extLst>
          </p:cNvPr>
          <p:cNvCxnSpPr>
            <a:cxnSpLocks/>
          </p:cNvCxnSpPr>
          <p:nvPr/>
        </p:nvCxnSpPr>
        <p:spPr>
          <a:xfrm>
            <a:off x="2912306" y="6021177"/>
            <a:ext cx="0" cy="211743"/>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49" name="Rectangle 48">
            <a:extLst>
              <a:ext uri="{FF2B5EF4-FFF2-40B4-BE49-F238E27FC236}">
                <a16:creationId xmlns:a16="http://schemas.microsoft.com/office/drawing/2014/main" id="{3EEC3EF8-45AE-11B8-7BA6-B4269A144277}"/>
              </a:ext>
            </a:extLst>
          </p:cNvPr>
          <p:cNvSpPr/>
          <p:nvPr/>
        </p:nvSpPr>
        <p:spPr>
          <a:xfrm>
            <a:off x="2342923" y="5835953"/>
            <a:ext cx="1138769" cy="283908"/>
          </a:xfrm>
          <a:prstGeom prst="rect">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7248" fontAlgn="base">
              <a:spcBef>
                <a:spcPct val="0"/>
              </a:spcBef>
              <a:spcAft>
                <a:spcPct val="0"/>
              </a:spcAft>
            </a:pPr>
            <a:r>
              <a:rPr lang="en-GB" sz="1000" b="1" dirty="0">
                <a:solidFill>
                  <a:srgbClr val="0070C0"/>
                </a:solidFill>
                <a:latin typeface="Arial" panose="020B0604020202020204" pitchFamily="34" charset="0"/>
                <a:ea typeface="微软雅黑" panose="020B0503020204020204" pitchFamily="34" charset="-122"/>
              </a:rPr>
              <a:t>OE/CF</a:t>
            </a:r>
          </a:p>
        </p:txBody>
      </p:sp>
      <p:grpSp>
        <p:nvGrpSpPr>
          <p:cNvPr id="50" name="组合 49">
            <a:extLst>
              <a:ext uri="{FF2B5EF4-FFF2-40B4-BE49-F238E27FC236}">
                <a16:creationId xmlns:a16="http://schemas.microsoft.com/office/drawing/2014/main" id="{6B12E376-3DF6-7386-EC5E-B0E83FA14743}"/>
              </a:ext>
            </a:extLst>
          </p:cNvPr>
          <p:cNvGrpSpPr/>
          <p:nvPr/>
        </p:nvGrpSpPr>
        <p:grpSpPr>
          <a:xfrm>
            <a:off x="4343705" y="1452754"/>
            <a:ext cx="3361348" cy="204166"/>
            <a:chOff x="1695843" y="1216187"/>
            <a:chExt cx="1178019" cy="748042"/>
          </a:xfrm>
        </p:grpSpPr>
        <p:sp>
          <p:nvSpPr>
            <p:cNvPr id="51" name="圆角矩形 60">
              <a:extLst>
                <a:ext uri="{FF2B5EF4-FFF2-40B4-BE49-F238E27FC236}">
                  <a16:creationId xmlns:a16="http://schemas.microsoft.com/office/drawing/2014/main" id="{7BDF1A61-C81B-A482-E4E5-1520DAEE884B}"/>
                </a:ext>
              </a:extLst>
            </p:cNvPr>
            <p:cNvSpPr/>
            <p:nvPr/>
          </p:nvSpPr>
          <p:spPr>
            <a:xfrm>
              <a:off x="1695843" y="1216187"/>
              <a:ext cx="1178019" cy="748042"/>
            </a:xfrm>
            <a:prstGeom prst="roundRect">
              <a:avLst>
                <a:gd name="adj" fmla="val 10000"/>
              </a:avLst>
            </a:prstGeom>
          </p:spPr>
          <p:style>
            <a:lnRef idx="2">
              <a:schemeClr val="accent6">
                <a:tint val="90000"/>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zh-CN" altLang="en-US">
                <a:solidFill>
                  <a:schemeClr val="bg1"/>
                </a:solidFill>
              </a:endParaRPr>
            </a:p>
          </p:txBody>
        </p:sp>
        <p:sp>
          <p:nvSpPr>
            <p:cNvPr id="52" name="圆角矩形 5">
              <a:extLst>
                <a:ext uri="{FF2B5EF4-FFF2-40B4-BE49-F238E27FC236}">
                  <a16:creationId xmlns:a16="http://schemas.microsoft.com/office/drawing/2014/main" id="{62A9EB44-4938-AD4C-85C9-730C36D4D1A7}"/>
                </a:ext>
              </a:extLst>
            </p:cNvPr>
            <p:cNvSpPr txBox="1"/>
            <p:nvPr/>
          </p:nvSpPr>
          <p:spPr>
            <a:xfrm>
              <a:off x="1717752" y="1238096"/>
              <a:ext cx="1134201" cy="704224"/>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46073" tIns="46073" rIns="46073" bIns="46073" numCol="1" spcCol="1270" anchor="ctr" anchorCtr="0">
              <a:noAutofit/>
            </a:bodyPr>
            <a:lstStyle/>
            <a:p>
              <a:pPr algn="ctr" defTabSz="537506">
                <a:lnSpc>
                  <a:spcPct val="90000"/>
                </a:lnSpc>
                <a:spcBef>
                  <a:spcPct val="0"/>
                </a:spcBef>
                <a:spcAft>
                  <a:spcPct val="35000"/>
                </a:spcAft>
              </a:pPr>
              <a:r>
                <a:rPr lang="en-US" altLang="zh-CN" sz="1210" dirty="0">
                  <a:solidFill>
                    <a:schemeClr val="bg1"/>
                  </a:solidFill>
                  <a:latin typeface="Arial" panose="020B0604020202020204" pitchFamily="34" charset="0"/>
                  <a:ea typeface="微软雅黑" panose="020B0503020204020204" pitchFamily="34" charset="-122"/>
                </a:rPr>
                <a:t>Constraints Programming</a:t>
              </a:r>
              <a:endParaRPr lang="zh-CN" altLang="en-US" sz="1210" dirty="0">
                <a:solidFill>
                  <a:schemeClr val="bg1"/>
                </a:solidFill>
                <a:latin typeface="Arial" panose="020B0604020202020204" pitchFamily="34" charset="0"/>
                <a:ea typeface="微软雅黑" panose="020B0503020204020204" pitchFamily="34" charset="-122"/>
              </a:endParaRPr>
            </a:p>
          </p:txBody>
        </p:sp>
      </p:grpSp>
      <p:sp>
        <p:nvSpPr>
          <p:cNvPr id="53" name="圆角矩形 5">
            <a:extLst>
              <a:ext uri="{FF2B5EF4-FFF2-40B4-BE49-F238E27FC236}">
                <a16:creationId xmlns:a16="http://schemas.microsoft.com/office/drawing/2014/main" id="{58DE8F10-D693-741B-4E9A-341C69268C5B}"/>
              </a:ext>
            </a:extLst>
          </p:cNvPr>
          <p:cNvSpPr txBox="1"/>
          <p:nvPr/>
        </p:nvSpPr>
        <p:spPr>
          <a:xfrm>
            <a:off x="3592086" y="3155007"/>
            <a:ext cx="1675001" cy="273156"/>
          </a:xfrm>
          <a:prstGeom prst="rect">
            <a:avLst/>
          </a:prstGeom>
          <a:ln/>
        </p:spPr>
        <p:style>
          <a:lnRef idx="2">
            <a:schemeClr val="accent4"/>
          </a:lnRef>
          <a:fillRef idx="1">
            <a:schemeClr val="lt1"/>
          </a:fillRef>
          <a:effectRef idx="0">
            <a:schemeClr val="accent4"/>
          </a:effectRef>
          <a:fontRef idx="minor">
            <a:schemeClr val="dk1"/>
          </a:fontRef>
        </p:style>
        <p:txBody>
          <a:bodyPr spcFirstLastPara="0" vert="horz" wrap="square" lIns="46073" tIns="46073" rIns="46073" bIns="46073" numCol="1" spcCol="1270" anchor="ctr" anchorCtr="0">
            <a:noAutofit/>
          </a:bodyPr>
          <a:lstStyle/>
          <a:p>
            <a:pPr algn="ctr" defTabSz="537506">
              <a:lnSpc>
                <a:spcPct val="90000"/>
              </a:lnSpc>
              <a:spcBef>
                <a:spcPct val="0"/>
              </a:spcBef>
              <a:spcAft>
                <a:spcPct val="35000"/>
              </a:spcAft>
            </a:pPr>
            <a:r>
              <a:rPr lang="en-US" altLang="zh-CN" sz="1100" b="1" dirty="0">
                <a:solidFill>
                  <a:schemeClr val="bg1"/>
                </a:solidFill>
                <a:latin typeface="Arial" panose="020B0604020202020204" pitchFamily="34" charset="0"/>
                <a:ea typeface="微软雅黑" panose="020B0503020204020204" pitchFamily="34" charset="-122"/>
              </a:rPr>
              <a:t>Reprioritization/SWAP</a:t>
            </a:r>
            <a:endParaRPr lang="zh-CN" altLang="en-US" sz="1100" b="1" dirty="0">
              <a:solidFill>
                <a:schemeClr val="bg1"/>
              </a:solidFill>
              <a:latin typeface="Arial" panose="020B0604020202020204" pitchFamily="34" charset="0"/>
              <a:ea typeface="微软雅黑" panose="020B0503020204020204" pitchFamily="34" charset="-122"/>
            </a:endParaRPr>
          </a:p>
        </p:txBody>
      </p:sp>
      <p:sp>
        <p:nvSpPr>
          <p:cNvPr id="54" name="虚尾箭头 205">
            <a:extLst>
              <a:ext uri="{FF2B5EF4-FFF2-40B4-BE49-F238E27FC236}">
                <a16:creationId xmlns:a16="http://schemas.microsoft.com/office/drawing/2014/main" id="{1FCF0BC0-5965-79A3-EA93-098F47E5A620}"/>
              </a:ext>
            </a:extLst>
          </p:cNvPr>
          <p:cNvSpPr/>
          <p:nvPr/>
        </p:nvSpPr>
        <p:spPr>
          <a:xfrm>
            <a:off x="3501968" y="1691147"/>
            <a:ext cx="1901887" cy="1463860"/>
          </a:xfrm>
          <a:prstGeom prst="stripedRightArrow">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3717" tIns="36858" rIns="73717" bIns="36858" numCol="1" spcCol="0" rtlCol="0" fromWordArt="0" anchor="ctr" anchorCtr="0" forceAA="0" compatLnSpc="1">
            <a:prstTxWarp prst="textNoShape">
              <a:avLst/>
            </a:prstTxWarp>
            <a:noAutofit/>
          </a:bodyPr>
          <a:lstStyle/>
          <a:p>
            <a:pPr algn="ctr" defTabSz="1218621"/>
            <a:r>
              <a:rPr lang="en-US" altLang="zh-CN" sz="1934" dirty="0">
                <a:solidFill>
                  <a:prstClr val="white"/>
                </a:solidFill>
                <a:latin typeface="Arial" panose="020B0604020202020204" pitchFamily="34" charset="0"/>
                <a:ea typeface="微软雅黑" panose="020B0503020204020204" pitchFamily="34" charset="-122"/>
              </a:rPr>
              <a:t>Demand</a:t>
            </a:r>
            <a:endParaRPr lang="zh-CN" altLang="en-US" sz="1934" dirty="0">
              <a:solidFill>
                <a:prstClr val="white"/>
              </a:solidFill>
              <a:latin typeface="Arial" panose="020B0604020202020204" pitchFamily="34" charset="0"/>
              <a:ea typeface="微软雅黑" panose="020B0503020204020204" pitchFamily="34" charset="-122"/>
            </a:endParaRPr>
          </a:p>
        </p:txBody>
      </p:sp>
      <p:sp>
        <p:nvSpPr>
          <p:cNvPr id="55" name="虚尾箭头 241">
            <a:extLst>
              <a:ext uri="{FF2B5EF4-FFF2-40B4-BE49-F238E27FC236}">
                <a16:creationId xmlns:a16="http://schemas.microsoft.com/office/drawing/2014/main" id="{3DF2C758-2AF9-E9FB-7467-B58D3F225E67}"/>
              </a:ext>
            </a:extLst>
          </p:cNvPr>
          <p:cNvSpPr/>
          <p:nvPr/>
        </p:nvSpPr>
        <p:spPr>
          <a:xfrm flipH="1">
            <a:off x="6500127" y="1679772"/>
            <a:ext cx="1901887" cy="1463860"/>
          </a:xfrm>
          <a:prstGeom prst="stripedRightArrow">
            <a:avLst/>
          </a:prstGeom>
          <a:solidFill>
            <a:srgbClr val="74C25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3717" tIns="36858" rIns="73717" bIns="36858" numCol="1" spcCol="0" rtlCol="0" fromWordArt="0" anchor="ctr" anchorCtr="0" forceAA="0" compatLnSpc="1">
            <a:prstTxWarp prst="textNoShape">
              <a:avLst/>
            </a:prstTxWarp>
            <a:noAutofit/>
          </a:bodyPr>
          <a:lstStyle/>
          <a:p>
            <a:pPr algn="ctr" defTabSz="1218621"/>
            <a:r>
              <a:rPr lang="en-US" altLang="zh-CN" sz="1934" dirty="0">
                <a:solidFill>
                  <a:prstClr val="white"/>
                </a:solidFill>
                <a:latin typeface="Arial" panose="020B0604020202020204" pitchFamily="34" charset="0"/>
                <a:ea typeface="微软雅黑" panose="020B0503020204020204" pitchFamily="34" charset="-122"/>
              </a:rPr>
              <a:t>Supply</a:t>
            </a:r>
            <a:endParaRPr lang="zh-CN" altLang="en-US" sz="1934" dirty="0">
              <a:solidFill>
                <a:prstClr val="white"/>
              </a:solidFill>
              <a:latin typeface="Arial" panose="020B0604020202020204" pitchFamily="34" charset="0"/>
              <a:ea typeface="微软雅黑" panose="020B0503020204020204" pitchFamily="34" charset="-122"/>
            </a:endParaRPr>
          </a:p>
        </p:txBody>
      </p:sp>
      <p:sp>
        <p:nvSpPr>
          <p:cNvPr id="56" name="任意多边形 219">
            <a:extLst>
              <a:ext uri="{FF2B5EF4-FFF2-40B4-BE49-F238E27FC236}">
                <a16:creationId xmlns:a16="http://schemas.microsoft.com/office/drawing/2014/main" id="{7998B39B-DDFC-1EB7-81A1-75BC0D1FF316}"/>
              </a:ext>
            </a:extLst>
          </p:cNvPr>
          <p:cNvSpPr/>
          <p:nvPr/>
        </p:nvSpPr>
        <p:spPr>
          <a:xfrm>
            <a:off x="8469693" y="1726740"/>
            <a:ext cx="3361348" cy="291022"/>
          </a:xfrm>
          <a:custGeom>
            <a:avLst/>
            <a:gdLst>
              <a:gd name="connsiteX0" fmla="*/ 0 w 783976"/>
              <a:gd name="connsiteY0" fmla="*/ 47039 h 470385"/>
              <a:gd name="connsiteX1" fmla="*/ 47039 w 783976"/>
              <a:gd name="connsiteY1" fmla="*/ 0 h 470385"/>
              <a:gd name="connsiteX2" fmla="*/ 736938 w 783976"/>
              <a:gd name="connsiteY2" fmla="*/ 0 h 470385"/>
              <a:gd name="connsiteX3" fmla="*/ 783977 w 783976"/>
              <a:gd name="connsiteY3" fmla="*/ 47039 h 470385"/>
              <a:gd name="connsiteX4" fmla="*/ 783976 w 783976"/>
              <a:gd name="connsiteY4" fmla="*/ 423347 h 470385"/>
              <a:gd name="connsiteX5" fmla="*/ 736937 w 783976"/>
              <a:gd name="connsiteY5" fmla="*/ 470386 h 470385"/>
              <a:gd name="connsiteX6" fmla="*/ 47039 w 783976"/>
              <a:gd name="connsiteY6" fmla="*/ 470385 h 470385"/>
              <a:gd name="connsiteX7" fmla="*/ 0 w 783976"/>
              <a:gd name="connsiteY7" fmla="*/ 423346 h 470385"/>
              <a:gd name="connsiteX8" fmla="*/ 0 w 783976"/>
              <a:gd name="connsiteY8" fmla="*/ 47039 h 47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3976" h="470385">
                <a:moveTo>
                  <a:pt x="0" y="47039"/>
                </a:moveTo>
                <a:cubicBezTo>
                  <a:pt x="0" y="21060"/>
                  <a:pt x="21060" y="0"/>
                  <a:pt x="47039" y="0"/>
                </a:cubicBezTo>
                <a:lnTo>
                  <a:pt x="736938" y="0"/>
                </a:lnTo>
                <a:cubicBezTo>
                  <a:pt x="762917" y="0"/>
                  <a:pt x="783977" y="21060"/>
                  <a:pt x="783977" y="47039"/>
                </a:cubicBezTo>
                <a:cubicBezTo>
                  <a:pt x="783977" y="172475"/>
                  <a:pt x="783976" y="297911"/>
                  <a:pt x="783976" y="423347"/>
                </a:cubicBezTo>
                <a:cubicBezTo>
                  <a:pt x="783976" y="449326"/>
                  <a:pt x="762916" y="470386"/>
                  <a:pt x="736937" y="470386"/>
                </a:cubicBezTo>
                <a:lnTo>
                  <a:pt x="47039" y="470385"/>
                </a:lnTo>
                <a:cubicBezTo>
                  <a:pt x="21060" y="470385"/>
                  <a:pt x="0" y="449325"/>
                  <a:pt x="0" y="423346"/>
                </a:cubicBezTo>
                <a:lnTo>
                  <a:pt x="0" y="47039"/>
                </a:lnTo>
                <a:close/>
              </a:path>
            </a:pathLst>
          </a:custGeom>
          <a:noFill/>
          <a:ln>
            <a:solidFill>
              <a:srgbClr val="6CA757"/>
            </a:solidFill>
          </a:ln>
        </p:spPr>
        <p:style>
          <a:lnRef idx="2">
            <a:schemeClr val="lt1">
              <a:hueOff val="0"/>
              <a:satOff val="0"/>
              <a:lumOff val="0"/>
              <a:alphaOff val="0"/>
            </a:schemeClr>
          </a:lnRef>
          <a:fillRef idx="1">
            <a:schemeClr val="accent6">
              <a:alpha val="90000"/>
              <a:hueOff val="0"/>
              <a:satOff val="0"/>
              <a:lumOff val="0"/>
              <a:alphaOff val="0"/>
            </a:schemeClr>
          </a:fillRef>
          <a:effectRef idx="0">
            <a:schemeClr val="accent6">
              <a:alpha val="90000"/>
              <a:hueOff val="0"/>
              <a:satOff val="0"/>
              <a:lumOff val="0"/>
              <a:alphaOff val="0"/>
            </a:schemeClr>
          </a:effectRef>
          <a:fontRef idx="minor">
            <a:schemeClr val="lt1"/>
          </a:fontRef>
        </p:style>
        <p:txBody>
          <a:bodyPr spcFirstLastPara="0" vert="horz" wrap="square" lIns="75608" tIns="75608" rIns="75608" bIns="75608" numCol="1" spcCol="1270" anchor="ctr" anchorCtr="0">
            <a:noAutofit/>
          </a:bodyPr>
          <a:lstStyle/>
          <a:p>
            <a:pPr algn="ctr" defTabSz="752508">
              <a:lnSpc>
                <a:spcPct val="90000"/>
              </a:lnSpc>
              <a:spcBef>
                <a:spcPct val="0"/>
              </a:spcBef>
              <a:spcAft>
                <a:spcPct val="35000"/>
              </a:spcAft>
            </a:pPr>
            <a:r>
              <a:rPr lang="en-US" altLang="zh-CN" sz="1129" dirty="0">
                <a:solidFill>
                  <a:srgbClr val="599244"/>
                </a:solidFill>
                <a:latin typeface="Arial" panose="020B0604020202020204" pitchFamily="34" charset="0"/>
                <a:ea typeface="微软雅黑" panose="020B0503020204020204" pitchFamily="34" charset="-122"/>
              </a:rPr>
              <a:t>Capacity</a:t>
            </a:r>
            <a:endParaRPr lang="zh-CN" altLang="en-US" sz="1129" dirty="0">
              <a:solidFill>
                <a:srgbClr val="599244"/>
              </a:solidFill>
              <a:latin typeface="Arial" panose="020B0604020202020204" pitchFamily="34" charset="0"/>
              <a:ea typeface="微软雅黑" panose="020B0503020204020204" pitchFamily="34" charset="-122"/>
            </a:endParaRPr>
          </a:p>
        </p:txBody>
      </p:sp>
      <p:sp>
        <p:nvSpPr>
          <p:cNvPr id="57" name="圆角矩形 4">
            <a:extLst>
              <a:ext uri="{FF2B5EF4-FFF2-40B4-BE49-F238E27FC236}">
                <a16:creationId xmlns:a16="http://schemas.microsoft.com/office/drawing/2014/main" id="{A9A9AF3C-C4D5-B411-5370-43466E5EB6A7}"/>
              </a:ext>
            </a:extLst>
          </p:cNvPr>
          <p:cNvSpPr/>
          <p:nvPr/>
        </p:nvSpPr>
        <p:spPr>
          <a:xfrm>
            <a:off x="176464" y="1871450"/>
            <a:ext cx="1244469" cy="1019021"/>
          </a:xfrm>
          <a:prstGeom prst="roundRect">
            <a:avLst/>
          </a:prstGeom>
          <a:gradFill flip="none" rotWithShape="1">
            <a:gsLst>
              <a:gs pos="0">
                <a:srgbClr val="007AD6">
                  <a:shade val="30000"/>
                  <a:satMod val="115000"/>
                </a:srgbClr>
              </a:gs>
              <a:gs pos="48000">
                <a:srgbClr val="0088EE"/>
              </a:gs>
              <a:gs pos="100000">
                <a:srgbClr val="007AD6">
                  <a:shade val="100000"/>
                  <a:satMod val="115000"/>
                  <a:alpha val="70000"/>
                </a:srgbClr>
              </a:gs>
            </a:gsLst>
            <a:lin ang="10800000" scaled="1"/>
            <a:tileRect/>
          </a:gradFill>
          <a:ln w="12700" cap="flat" cmpd="sng" algn="ctr">
            <a:noFill/>
            <a:prstDash val="solid"/>
            <a:miter lim="800000"/>
          </a:ln>
          <a:effectLst/>
        </p:spPr>
        <p:txBody>
          <a:bodyPr rot="0" spcFirstLastPara="0" vertOverflow="overflow" horzOverflow="overflow" vert="horz" wrap="square" lIns="68562" tIns="34281" rIns="68562" bIns="34281" numCol="1" spcCol="0" rtlCol="0" fromWordArt="0" anchor="ctr" anchorCtr="0" forceAA="0" compatLnSpc="1">
            <a:prstTxWarp prst="textNoShape">
              <a:avLst/>
            </a:prstTxWarp>
            <a:noAutofit/>
          </a:bodyPr>
          <a:lstStyle/>
          <a:p>
            <a:pPr algn="ctr" defTabSz="914126"/>
            <a:r>
              <a:rPr lang="en-US" altLang="zh-CN" sz="1799" b="1" kern="0" dirty="0">
                <a:ln w="0"/>
                <a:solidFill>
                  <a:prstClr val="white"/>
                </a:solidFill>
                <a:effectLst>
                  <a:outerShdw blurRad="38100" dist="19050" dir="2700000" algn="tl" rotWithShape="0">
                    <a:prstClr val="black">
                      <a:alpha val="40000"/>
                    </a:prstClr>
                  </a:outerShdw>
                </a:effectLst>
                <a:latin typeface="Arial" panose="020B0604020202020204" pitchFamily="34" charset="0"/>
                <a:ea typeface="微软雅黑" panose="020B0503020204020204" pitchFamily="34" charset="-122"/>
              </a:rPr>
              <a:t>Netted Forecast</a:t>
            </a:r>
          </a:p>
        </p:txBody>
      </p:sp>
      <p:sp>
        <p:nvSpPr>
          <p:cNvPr id="58" name="燕尾形 29">
            <a:extLst>
              <a:ext uri="{FF2B5EF4-FFF2-40B4-BE49-F238E27FC236}">
                <a16:creationId xmlns:a16="http://schemas.microsoft.com/office/drawing/2014/main" id="{90DBEA98-42E4-8067-8457-484DA5FD362B}"/>
              </a:ext>
            </a:extLst>
          </p:cNvPr>
          <p:cNvSpPr/>
          <p:nvPr/>
        </p:nvSpPr>
        <p:spPr>
          <a:xfrm rot="10800000">
            <a:off x="2642313" y="2316325"/>
            <a:ext cx="166355" cy="183671"/>
          </a:xfrm>
          <a:prstGeom prst="chevron">
            <a:avLst/>
          </a:prstGeom>
          <a:solidFill>
            <a:schemeClr val="accent3"/>
          </a:solidFill>
          <a:ln>
            <a:noFill/>
          </a:ln>
        </p:spPr>
        <p:style>
          <a:lnRef idx="0">
            <a:scrgbClr r="0" g="0" b="0"/>
          </a:lnRef>
          <a:fillRef idx="0">
            <a:scrgbClr r="0" g="0" b="0"/>
          </a:fillRef>
          <a:effectRef idx="0">
            <a:scrgbClr r="0" g="0" b="0"/>
          </a:effectRef>
          <a:fontRef idx="minor">
            <a:schemeClr val="lt1"/>
          </a:fontRef>
        </p:style>
        <p:txBody>
          <a:bodyPr rtlCol="0" anchor="ctr"/>
          <a:lstStyle/>
          <a:p>
            <a:pPr algn="ctr" defTabSz="1218621"/>
            <a:endParaRPr lang="zh-CN" altLang="en-US" sz="806" dirty="0">
              <a:solidFill>
                <a:prstClr val="black"/>
              </a:solidFill>
              <a:latin typeface="Arial"/>
              <a:ea typeface="黑体" panose="02010609060101010101" pitchFamily="49" charset="-122"/>
            </a:endParaRPr>
          </a:p>
        </p:txBody>
      </p:sp>
      <p:sp>
        <p:nvSpPr>
          <p:cNvPr id="59" name="文本框 58">
            <a:extLst>
              <a:ext uri="{FF2B5EF4-FFF2-40B4-BE49-F238E27FC236}">
                <a16:creationId xmlns:a16="http://schemas.microsoft.com/office/drawing/2014/main" id="{38AC4E19-8B54-B927-DC3E-0F89C229F798}"/>
              </a:ext>
            </a:extLst>
          </p:cNvPr>
          <p:cNvSpPr txBox="1"/>
          <p:nvPr/>
        </p:nvSpPr>
        <p:spPr>
          <a:xfrm>
            <a:off x="1819528" y="1984873"/>
            <a:ext cx="1483098" cy="338554"/>
          </a:xfrm>
          <a:prstGeom prst="rect">
            <a:avLst/>
          </a:prstGeom>
          <a:noFill/>
        </p:spPr>
        <p:txBody>
          <a:bodyPr wrap="none" rtlCol="0">
            <a:spAutoFit/>
          </a:bodyPr>
          <a:lstStyle/>
          <a:p>
            <a:pPr defTabSz="1218621"/>
            <a:r>
              <a:rPr lang="en-US" altLang="zh-CN" sz="1600" b="1" dirty="0">
                <a:solidFill>
                  <a:prstClr val="white"/>
                </a:solidFill>
                <a:latin typeface="Arial" panose="020B0604020202020204" pitchFamily="34" charset="0"/>
                <a:ea typeface="微软雅黑" panose="020B0503020204020204" pitchFamily="34" charset="-122"/>
                <a:cs typeface="Arial" pitchFamily="34" charset="0"/>
              </a:rPr>
              <a:t>Real Demand</a:t>
            </a:r>
            <a:endParaRPr lang="zh-CN" altLang="en-US" sz="1600" b="1" dirty="0">
              <a:solidFill>
                <a:prstClr val="white"/>
              </a:solidFill>
              <a:latin typeface="Arial" panose="020B0604020202020204" pitchFamily="34" charset="0"/>
              <a:ea typeface="微软雅黑" panose="020B0503020204020204" pitchFamily="34" charset="-122"/>
              <a:cs typeface="Arial" pitchFamily="34" charset="0"/>
            </a:endParaRPr>
          </a:p>
        </p:txBody>
      </p:sp>
      <p:sp>
        <p:nvSpPr>
          <p:cNvPr id="60" name="燕尾形 29">
            <a:extLst>
              <a:ext uri="{FF2B5EF4-FFF2-40B4-BE49-F238E27FC236}">
                <a16:creationId xmlns:a16="http://schemas.microsoft.com/office/drawing/2014/main" id="{243CB733-4462-A6F2-72C0-FFE3D33E41D2}"/>
              </a:ext>
            </a:extLst>
          </p:cNvPr>
          <p:cNvSpPr/>
          <p:nvPr/>
        </p:nvSpPr>
        <p:spPr>
          <a:xfrm rot="10800000">
            <a:off x="1337231" y="1998953"/>
            <a:ext cx="304522" cy="290498"/>
          </a:xfrm>
          <a:prstGeom prst="chevron">
            <a:avLst/>
          </a:prstGeom>
          <a:solidFill>
            <a:schemeClr val="bg1"/>
          </a:solidFill>
          <a:ln>
            <a:noFill/>
          </a:ln>
        </p:spPr>
        <p:style>
          <a:lnRef idx="0">
            <a:scrgbClr r="0" g="0" b="0"/>
          </a:lnRef>
          <a:fillRef idx="0">
            <a:scrgbClr r="0" g="0" b="0"/>
          </a:fillRef>
          <a:effectRef idx="0">
            <a:scrgbClr r="0" g="0" b="0"/>
          </a:effectRef>
          <a:fontRef idx="minor">
            <a:schemeClr val="lt1"/>
          </a:fontRef>
        </p:style>
        <p:txBody>
          <a:bodyPr rtlCol="0" anchor="ctr"/>
          <a:lstStyle/>
          <a:p>
            <a:pPr algn="ctr" defTabSz="1218621"/>
            <a:endParaRPr lang="zh-CN" altLang="en-US" sz="806" dirty="0">
              <a:solidFill>
                <a:prstClr val="black"/>
              </a:solidFill>
              <a:latin typeface="Arial"/>
              <a:ea typeface="黑体" panose="02010609060101010101" pitchFamily="49" charset="-122"/>
            </a:endParaRPr>
          </a:p>
        </p:txBody>
      </p:sp>
      <p:sp>
        <p:nvSpPr>
          <p:cNvPr id="61" name="圆角矩形 5">
            <a:extLst>
              <a:ext uri="{FF2B5EF4-FFF2-40B4-BE49-F238E27FC236}">
                <a16:creationId xmlns:a16="http://schemas.microsoft.com/office/drawing/2014/main" id="{FA6755CA-3DC3-7757-139D-33E833782EC1}"/>
              </a:ext>
            </a:extLst>
          </p:cNvPr>
          <p:cNvSpPr txBox="1"/>
          <p:nvPr/>
        </p:nvSpPr>
        <p:spPr>
          <a:xfrm>
            <a:off x="3591297" y="3476440"/>
            <a:ext cx="4673949" cy="234822"/>
          </a:xfrm>
          <a:prstGeom prst="rect">
            <a:avLst/>
          </a:prstGeom>
        </p:spPr>
        <p:style>
          <a:lnRef idx="2">
            <a:schemeClr val="accent4"/>
          </a:lnRef>
          <a:fillRef idx="1">
            <a:schemeClr val="lt1"/>
          </a:fillRef>
          <a:effectRef idx="0">
            <a:schemeClr val="accent4"/>
          </a:effectRef>
          <a:fontRef idx="minor">
            <a:schemeClr val="dk1"/>
          </a:fontRef>
        </p:style>
        <p:txBody>
          <a:bodyPr spcFirstLastPara="0" vert="horz" wrap="square" lIns="46073" tIns="46073" rIns="46073" bIns="46073" numCol="1" spcCol="1270" anchor="ctr" anchorCtr="0">
            <a:noAutofit/>
          </a:bodyPr>
          <a:lstStyle/>
          <a:p>
            <a:pPr algn="ctr" defTabSz="537506">
              <a:lnSpc>
                <a:spcPct val="90000"/>
              </a:lnSpc>
              <a:spcBef>
                <a:spcPct val="0"/>
              </a:spcBef>
              <a:spcAft>
                <a:spcPct val="35000"/>
              </a:spcAft>
            </a:pPr>
            <a:r>
              <a:rPr lang="en-US" altLang="zh-CN" sz="1210" b="1" dirty="0">
                <a:solidFill>
                  <a:schemeClr val="bg1"/>
                </a:solidFill>
                <a:latin typeface="Arial" panose="020B0604020202020204" pitchFamily="34" charset="0"/>
                <a:ea typeface="微软雅黑" panose="020B0503020204020204" pitchFamily="34" charset="-122"/>
              </a:rPr>
              <a:t>AI / ML autonomous adjust algorithm/parameter</a:t>
            </a:r>
            <a:endParaRPr lang="zh-CN" altLang="en-US" sz="1210" b="1" dirty="0">
              <a:solidFill>
                <a:schemeClr val="bg1"/>
              </a:solidFill>
              <a:latin typeface="Arial" panose="020B0604020202020204" pitchFamily="34" charset="0"/>
              <a:ea typeface="微软雅黑" panose="020B0503020204020204" pitchFamily="34" charset="-122"/>
            </a:endParaRPr>
          </a:p>
        </p:txBody>
      </p:sp>
      <p:sp>
        <p:nvSpPr>
          <p:cNvPr id="62" name="圆角矩形 5">
            <a:extLst>
              <a:ext uri="{FF2B5EF4-FFF2-40B4-BE49-F238E27FC236}">
                <a16:creationId xmlns:a16="http://schemas.microsoft.com/office/drawing/2014/main" id="{151EB847-6403-B605-402C-559F407D9125}"/>
              </a:ext>
            </a:extLst>
          </p:cNvPr>
          <p:cNvSpPr txBox="1"/>
          <p:nvPr/>
        </p:nvSpPr>
        <p:spPr>
          <a:xfrm>
            <a:off x="3581429" y="3730773"/>
            <a:ext cx="4683789" cy="229547"/>
          </a:xfrm>
          <a:prstGeom prst="rect">
            <a:avLst/>
          </a:prstGeom>
        </p:spPr>
        <p:style>
          <a:lnRef idx="2">
            <a:schemeClr val="accent4"/>
          </a:lnRef>
          <a:fillRef idx="1">
            <a:schemeClr val="lt1"/>
          </a:fillRef>
          <a:effectRef idx="0">
            <a:schemeClr val="accent4"/>
          </a:effectRef>
          <a:fontRef idx="minor">
            <a:schemeClr val="dk1"/>
          </a:fontRef>
        </p:style>
        <p:txBody>
          <a:bodyPr spcFirstLastPara="0" vert="horz" wrap="square" lIns="46073" tIns="46073" rIns="46073" bIns="46073" numCol="1" spcCol="1270" anchor="ctr" anchorCtr="0">
            <a:noAutofit/>
          </a:bodyPr>
          <a:lstStyle/>
          <a:p>
            <a:pPr algn="ctr" defTabSz="537506">
              <a:lnSpc>
                <a:spcPct val="90000"/>
              </a:lnSpc>
              <a:spcBef>
                <a:spcPct val="0"/>
              </a:spcBef>
              <a:spcAft>
                <a:spcPct val="35000"/>
              </a:spcAft>
            </a:pPr>
            <a:r>
              <a:rPr lang="en-US" altLang="zh-CN" sz="1210" b="1" dirty="0">
                <a:solidFill>
                  <a:schemeClr val="bg1"/>
                </a:solidFill>
                <a:latin typeface="Arial" panose="020B0604020202020204" pitchFamily="34" charset="0"/>
                <a:ea typeface="微软雅黑" panose="020B0503020204020204" pitchFamily="34" charset="-122"/>
              </a:rPr>
              <a:t>What-if Simulation</a:t>
            </a:r>
            <a:endParaRPr lang="zh-CN" altLang="en-US" sz="1210" b="1" dirty="0">
              <a:solidFill>
                <a:schemeClr val="bg1"/>
              </a:solidFill>
              <a:latin typeface="Arial" panose="020B0604020202020204" pitchFamily="34" charset="0"/>
              <a:ea typeface="微软雅黑" panose="020B0503020204020204" pitchFamily="34" charset="-122"/>
            </a:endParaRPr>
          </a:p>
        </p:txBody>
      </p:sp>
      <p:graphicFrame>
        <p:nvGraphicFramePr>
          <p:cNvPr id="63" name="图示 62">
            <a:extLst>
              <a:ext uri="{FF2B5EF4-FFF2-40B4-BE49-F238E27FC236}">
                <a16:creationId xmlns:a16="http://schemas.microsoft.com/office/drawing/2014/main" id="{7775A459-1FF3-D55E-DB53-6ED7B619169E}"/>
              </a:ext>
            </a:extLst>
          </p:cNvPr>
          <p:cNvGraphicFramePr/>
          <p:nvPr/>
        </p:nvGraphicFramePr>
        <p:xfrm>
          <a:off x="9385550" y="4091117"/>
          <a:ext cx="2280899" cy="153860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64" name="图示 63">
            <a:extLst>
              <a:ext uri="{FF2B5EF4-FFF2-40B4-BE49-F238E27FC236}">
                <a16:creationId xmlns:a16="http://schemas.microsoft.com/office/drawing/2014/main" id="{581EA2F7-5980-AD78-E973-BB5D4D1865BB}"/>
              </a:ext>
            </a:extLst>
          </p:cNvPr>
          <p:cNvGraphicFramePr/>
          <p:nvPr/>
        </p:nvGraphicFramePr>
        <p:xfrm>
          <a:off x="1539451" y="4242084"/>
          <a:ext cx="2257531" cy="1205632"/>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cxnSp>
        <p:nvCxnSpPr>
          <p:cNvPr id="65" name="直接连接符 64">
            <a:extLst>
              <a:ext uri="{FF2B5EF4-FFF2-40B4-BE49-F238E27FC236}">
                <a16:creationId xmlns:a16="http://schemas.microsoft.com/office/drawing/2014/main" id="{B48C3449-79D0-BF4E-6CD2-30C8B7CB26C7}"/>
              </a:ext>
            </a:extLst>
          </p:cNvPr>
          <p:cNvCxnSpPr>
            <a:cxnSpLocks/>
          </p:cNvCxnSpPr>
          <p:nvPr/>
        </p:nvCxnSpPr>
        <p:spPr>
          <a:xfrm>
            <a:off x="10618660" y="4952605"/>
            <a:ext cx="0" cy="128031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66" name="图示 65">
            <a:extLst>
              <a:ext uri="{FF2B5EF4-FFF2-40B4-BE49-F238E27FC236}">
                <a16:creationId xmlns:a16="http://schemas.microsoft.com/office/drawing/2014/main" id="{81152070-EEA9-B379-9EB1-A0112BA14D4C}"/>
              </a:ext>
            </a:extLst>
          </p:cNvPr>
          <p:cNvGraphicFramePr/>
          <p:nvPr>
            <p:extLst>
              <p:ext uri="{D42A27DB-BD31-4B8C-83A1-F6EECF244321}">
                <p14:modId xmlns:p14="http://schemas.microsoft.com/office/powerpoint/2010/main" val="462622322"/>
              </p:ext>
            </p:extLst>
          </p:nvPr>
        </p:nvGraphicFramePr>
        <p:xfrm>
          <a:off x="6943142" y="3770638"/>
          <a:ext cx="2269523" cy="1409039"/>
        </p:xfrm>
        <a:graphic>
          <a:graphicData uri="http://schemas.openxmlformats.org/drawingml/2006/diagram">
            <dgm:relIds xmlns:dgm="http://schemas.openxmlformats.org/drawingml/2006/diagram" xmlns:r="http://schemas.openxmlformats.org/officeDocument/2006/relationships" r:dm="rId17" r:lo="rId18" r:qs="rId19" r:cs="rId20"/>
          </a:graphicData>
        </a:graphic>
      </p:graphicFrame>
      <p:sp>
        <p:nvSpPr>
          <p:cNvPr id="67" name="Rectangle 48">
            <a:extLst>
              <a:ext uri="{FF2B5EF4-FFF2-40B4-BE49-F238E27FC236}">
                <a16:creationId xmlns:a16="http://schemas.microsoft.com/office/drawing/2014/main" id="{6C4C69C9-8416-E9AB-04C3-C0B0C8D56B5C}"/>
              </a:ext>
            </a:extLst>
          </p:cNvPr>
          <p:cNvSpPr/>
          <p:nvPr/>
        </p:nvSpPr>
        <p:spPr>
          <a:xfrm>
            <a:off x="10043686" y="4856067"/>
            <a:ext cx="1083605" cy="284258"/>
          </a:xfrm>
          <a:prstGeom prst="rect">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7248" fontAlgn="base">
              <a:spcBef>
                <a:spcPct val="0"/>
              </a:spcBef>
              <a:spcAft>
                <a:spcPct val="0"/>
              </a:spcAft>
            </a:pPr>
            <a:r>
              <a:rPr lang="en-GB" sz="1000" b="1" dirty="0">
                <a:solidFill>
                  <a:srgbClr val="0070C0"/>
                </a:solidFill>
                <a:latin typeface="Arial" panose="020B0604020202020204" pitchFamily="34" charset="0"/>
                <a:ea typeface="微软雅黑" panose="020B0503020204020204" pitchFamily="34" charset="-122"/>
              </a:rPr>
              <a:t>GPSM</a:t>
            </a:r>
          </a:p>
        </p:txBody>
      </p:sp>
      <p:sp>
        <p:nvSpPr>
          <p:cNvPr id="68" name="Rectangle 48">
            <a:extLst>
              <a:ext uri="{FF2B5EF4-FFF2-40B4-BE49-F238E27FC236}">
                <a16:creationId xmlns:a16="http://schemas.microsoft.com/office/drawing/2014/main" id="{810117FB-C958-A086-2ED9-528714E06EC8}"/>
              </a:ext>
            </a:extLst>
          </p:cNvPr>
          <p:cNvSpPr/>
          <p:nvPr/>
        </p:nvSpPr>
        <p:spPr>
          <a:xfrm>
            <a:off x="2009733" y="4861842"/>
            <a:ext cx="1083605" cy="284258"/>
          </a:xfrm>
          <a:prstGeom prst="rect">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7248" fontAlgn="base">
              <a:spcBef>
                <a:spcPct val="0"/>
              </a:spcBef>
              <a:spcAft>
                <a:spcPct val="0"/>
              </a:spcAft>
            </a:pPr>
            <a:r>
              <a:rPr lang="en-GB" sz="1000" b="1" dirty="0">
                <a:solidFill>
                  <a:srgbClr val="0070C0"/>
                </a:solidFill>
                <a:latin typeface="Arial" panose="020B0604020202020204" pitchFamily="34" charset="0"/>
                <a:ea typeface="微软雅黑" panose="020B0503020204020204" pitchFamily="34" charset="-122"/>
              </a:rPr>
              <a:t>GPSM</a:t>
            </a:r>
          </a:p>
        </p:txBody>
      </p:sp>
      <p:sp>
        <p:nvSpPr>
          <p:cNvPr id="69" name="Rectangle 48">
            <a:extLst>
              <a:ext uri="{FF2B5EF4-FFF2-40B4-BE49-F238E27FC236}">
                <a16:creationId xmlns:a16="http://schemas.microsoft.com/office/drawing/2014/main" id="{3D837C52-01CF-4E21-7B1B-FAAA15C63C8D}"/>
              </a:ext>
            </a:extLst>
          </p:cNvPr>
          <p:cNvSpPr/>
          <p:nvPr/>
        </p:nvSpPr>
        <p:spPr>
          <a:xfrm>
            <a:off x="7536101" y="4856067"/>
            <a:ext cx="1083605" cy="284258"/>
          </a:xfrm>
          <a:prstGeom prst="rect">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7248" fontAlgn="base">
              <a:spcBef>
                <a:spcPct val="0"/>
              </a:spcBef>
              <a:spcAft>
                <a:spcPct val="0"/>
              </a:spcAft>
            </a:pPr>
            <a:r>
              <a:rPr lang="en-GB" sz="1000" b="1" dirty="0">
                <a:solidFill>
                  <a:srgbClr val="0070C0"/>
                </a:solidFill>
                <a:latin typeface="Arial" panose="020B0604020202020204" pitchFamily="34" charset="0"/>
                <a:ea typeface="微软雅黑" panose="020B0503020204020204" pitchFamily="34" charset="-122"/>
              </a:rPr>
              <a:t>MPC</a:t>
            </a:r>
          </a:p>
        </p:txBody>
      </p:sp>
    </p:spTree>
    <p:extLst>
      <p:ext uri="{BB962C8B-B14F-4D97-AF65-F5344CB8AC3E}">
        <p14:creationId xmlns:p14="http://schemas.microsoft.com/office/powerpoint/2010/main" val="2892520082"/>
      </p:ext>
    </p:extLst>
  </p:cSld>
  <p:clrMapOvr>
    <a:overrideClrMapping bg1="dk1" tx1="lt1" bg2="dk2" tx2="lt2" accent1="accent1" accent2="accent2" accent3="accent3" accent4="accent4" accent5="accent5" accent6="accent6" hlink="hlink" folHlink="folHlink"/>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84E90D4-FEE2-EDC6-9590-63563AD4103A}"/>
              </a:ext>
            </a:extLst>
          </p:cNvPr>
          <p:cNvSpPr>
            <a:spLocks noGrp="1"/>
          </p:cNvSpPr>
          <p:nvPr>
            <p:ph type="title"/>
          </p:nvPr>
        </p:nvSpPr>
        <p:spPr/>
        <p:txBody>
          <a:bodyPr/>
          <a:lstStyle/>
          <a:p>
            <a:r>
              <a:rPr lang="zh-CN" altLang="en-US" dirty="0"/>
              <a:t>从</a:t>
            </a:r>
            <a:r>
              <a:rPr lang="en-US" altLang="zh-CN" dirty="0"/>
              <a:t>S&amp;OP</a:t>
            </a:r>
            <a:r>
              <a:rPr lang="zh-CN" altLang="en-US" dirty="0"/>
              <a:t>到</a:t>
            </a:r>
            <a:r>
              <a:rPr lang="en-US" altLang="zh-CN" dirty="0"/>
              <a:t>IBP</a:t>
            </a:r>
            <a:endParaRPr lang="zh-CN" altLang="en-US" dirty="0"/>
          </a:p>
        </p:txBody>
      </p:sp>
      <p:graphicFrame>
        <p:nvGraphicFramePr>
          <p:cNvPr id="3" name="表格 2">
            <a:extLst>
              <a:ext uri="{FF2B5EF4-FFF2-40B4-BE49-F238E27FC236}">
                <a16:creationId xmlns:a16="http://schemas.microsoft.com/office/drawing/2014/main" id="{557E49CD-991E-83BF-3611-F82C3409E3AA}"/>
              </a:ext>
            </a:extLst>
          </p:cNvPr>
          <p:cNvGraphicFramePr>
            <a:graphicFrameLocks noGrp="1"/>
          </p:cNvGraphicFramePr>
          <p:nvPr>
            <p:extLst>
              <p:ext uri="{D42A27DB-BD31-4B8C-83A1-F6EECF244321}">
                <p14:modId xmlns:p14="http://schemas.microsoft.com/office/powerpoint/2010/main" val="3635605541"/>
              </p:ext>
            </p:extLst>
          </p:nvPr>
        </p:nvGraphicFramePr>
        <p:xfrm>
          <a:off x="802641" y="605859"/>
          <a:ext cx="7288847" cy="5697824"/>
        </p:xfrm>
        <a:graphic>
          <a:graphicData uri="http://schemas.openxmlformats.org/drawingml/2006/table">
            <a:tbl>
              <a:tblPr/>
              <a:tblGrid>
                <a:gridCol w="868481">
                  <a:extLst>
                    <a:ext uri="{9D8B030D-6E8A-4147-A177-3AD203B41FA5}">
                      <a16:colId xmlns:a16="http://schemas.microsoft.com/office/drawing/2014/main" val="2703259961"/>
                    </a:ext>
                  </a:extLst>
                </a:gridCol>
                <a:gridCol w="2791714">
                  <a:extLst>
                    <a:ext uri="{9D8B030D-6E8A-4147-A177-3AD203B41FA5}">
                      <a16:colId xmlns:a16="http://schemas.microsoft.com/office/drawing/2014/main" val="1734631505"/>
                    </a:ext>
                  </a:extLst>
                </a:gridCol>
                <a:gridCol w="3628652">
                  <a:extLst>
                    <a:ext uri="{9D8B030D-6E8A-4147-A177-3AD203B41FA5}">
                      <a16:colId xmlns:a16="http://schemas.microsoft.com/office/drawing/2014/main" val="4258916658"/>
                    </a:ext>
                  </a:extLst>
                </a:gridCol>
              </a:tblGrid>
              <a:tr h="297393">
                <a:tc>
                  <a:txBody>
                    <a:bodyPr/>
                    <a:lstStyle/>
                    <a:p>
                      <a:r>
                        <a:rPr lang="zh-CN" altLang="en-US" sz="1400" b="1">
                          <a:solidFill>
                            <a:srgbClr val="FFFFFF"/>
                          </a:solidFill>
                          <a:latin typeface="+mj-ea"/>
                          <a:ea typeface="+mj-ea"/>
                        </a:rPr>
                        <a:t>特征</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r>
                        <a:rPr lang="zh-CN" altLang="en-US" sz="1100" b="1">
                          <a:solidFill>
                            <a:srgbClr val="FFFFFF"/>
                          </a:solidFill>
                          <a:latin typeface="+mj-ea"/>
                          <a:ea typeface="+mj-ea"/>
                        </a:rPr>
                        <a:t>销售与运营计划 </a:t>
                      </a:r>
                      <a:r>
                        <a:rPr lang="en-US" altLang="zh-CN" sz="1100" b="1">
                          <a:solidFill>
                            <a:srgbClr val="FFFFFF"/>
                          </a:solidFill>
                          <a:latin typeface="+mj-ea"/>
                          <a:ea typeface="+mj-ea"/>
                        </a:rPr>
                        <a:t>(</a:t>
                      </a:r>
                      <a:r>
                        <a:rPr lang="en-US" sz="1100" b="1">
                          <a:solidFill>
                            <a:srgbClr val="FFFFFF"/>
                          </a:solidFill>
                          <a:latin typeface="+mj-ea"/>
                          <a:ea typeface="+mj-ea"/>
                        </a:rPr>
                        <a:t>S&amp;OP) </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r>
                        <a:rPr lang="zh-CN" altLang="en-US" sz="1100" b="1" dirty="0">
                          <a:solidFill>
                            <a:srgbClr val="FFFFFF"/>
                          </a:solidFill>
                          <a:latin typeface="+mj-ea"/>
                          <a:ea typeface="+mj-ea"/>
                        </a:rPr>
                        <a:t>集成业务计划 </a:t>
                      </a:r>
                      <a:r>
                        <a:rPr lang="en-US" altLang="zh-CN" sz="1100" b="1" dirty="0">
                          <a:solidFill>
                            <a:srgbClr val="FFFFFF"/>
                          </a:solidFill>
                          <a:latin typeface="+mj-ea"/>
                          <a:ea typeface="+mj-ea"/>
                        </a:rPr>
                        <a:t>(IBP) </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extLst>
                  <a:ext uri="{0D108BD9-81ED-4DB2-BD59-A6C34878D82A}">
                    <a16:rowId xmlns:a16="http://schemas.microsoft.com/office/drawing/2014/main" val="471376243"/>
                  </a:ext>
                </a:extLst>
              </a:tr>
              <a:tr h="797790">
                <a:tc>
                  <a:txBody>
                    <a:bodyPr/>
                    <a:lstStyle/>
                    <a:p>
                      <a:r>
                        <a:rPr lang="zh-CN" altLang="en-US" sz="1100" b="1">
                          <a:solidFill>
                            <a:srgbClr val="000000"/>
                          </a:solidFill>
                          <a:latin typeface="+mj-ea"/>
                          <a:ea typeface="+mj-ea"/>
                        </a:rPr>
                        <a:t>核心焦点</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r>
                        <a:rPr lang="zh-CN" altLang="en-US" sz="1000" b="1">
                          <a:solidFill>
                            <a:schemeClr val="tx1"/>
                          </a:solidFill>
                          <a:latin typeface="+mj-ea"/>
                          <a:ea typeface="+mj-ea"/>
                        </a:rPr>
                        <a:t>供需平衡</a:t>
                      </a:r>
                      <a:r>
                        <a:rPr lang="zh-CN" altLang="en-US" sz="1000">
                          <a:solidFill>
                            <a:schemeClr val="tx1"/>
                          </a:solidFill>
                          <a:latin typeface="+mj-ea"/>
                          <a:ea typeface="+mj-ea"/>
                        </a:rPr>
                        <a:t>。专注于协调销售（需求）和运营（供应），以解决运营问题，防止库存积压或短缺。</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1000" b="1">
                          <a:solidFill>
                            <a:schemeClr val="tx1"/>
                          </a:solidFill>
                          <a:latin typeface="+mj-ea"/>
                          <a:ea typeface="+mj-ea"/>
                        </a:rPr>
                        <a:t>战略执行与业务绩效</a:t>
                      </a:r>
                      <a:r>
                        <a:rPr lang="zh-CN" altLang="en-US" sz="1000">
                          <a:solidFill>
                            <a:schemeClr val="tx1"/>
                          </a:solidFill>
                          <a:latin typeface="+mj-ea"/>
                          <a:ea typeface="+mj-ea"/>
                        </a:rPr>
                        <a:t>。专注于将公司所有职能对齐，以确保</a:t>
                      </a:r>
                      <a:r>
                        <a:rPr lang="zh-CN" altLang="en-US" sz="1000" b="1">
                          <a:solidFill>
                            <a:schemeClr val="tx1"/>
                          </a:solidFill>
                          <a:latin typeface="+mj-ea"/>
                          <a:ea typeface="+mj-ea"/>
                        </a:rPr>
                        <a:t>业务战略</a:t>
                      </a:r>
                      <a:r>
                        <a:rPr lang="zh-CN" altLang="en-US" sz="1000">
                          <a:solidFill>
                            <a:schemeClr val="tx1"/>
                          </a:solidFill>
                          <a:latin typeface="+mj-ea"/>
                          <a:ea typeface="+mj-ea"/>
                        </a:rPr>
                        <a:t>得以执行，并实现预期的财务结果。</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3310548"/>
                  </a:ext>
                </a:extLst>
              </a:tr>
              <a:tr h="613685">
                <a:tc>
                  <a:txBody>
                    <a:bodyPr/>
                    <a:lstStyle/>
                    <a:p>
                      <a:r>
                        <a:rPr lang="zh-CN" altLang="en-US" sz="1100" b="1">
                          <a:solidFill>
                            <a:srgbClr val="000000"/>
                          </a:solidFill>
                          <a:latin typeface="+mj-ea"/>
                          <a:ea typeface="+mj-ea"/>
                        </a:rPr>
                        <a:t>流程范围</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r>
                        <a:rPr lang="zh-CN" altLang="en-US" sz="1000" b="1">
                          <a:solidFill>
                            <a:schemeClr val="tx1"/>
                          </a:solidFill>
                          <a:latin typeface="+mj-ea"/>
                          <a:ea typeface="+mj-ea"/>
                        </a:rPr>
                        <a:t>部门级</a:t>
                      </a:r>
                      <a:r>
                        <a:rPr lang="en-US" altLang="zh-CN" sz="1000" b="1">
                          <a:solidFill>
                            <a:schemeClr val="tx1"/>
                          </a:solidFill>
                          <a:latin typeface="+mj-ea"/>
                          <a:ea typeface="+mj-ea"/>
                        </a:rPr>
                        <a:t>/</a:t>
                      </a:r>
                      <a:r>
                        <a:rPr lang="zh-CN" altLang="en-US" sz="1000" b="1">
                          <a:solidFill>
                            <a:schemeClr val="tx1"/>
                          </a:solidFill>
                          <a:latin typeface="+mj-ea"/>
                          <a:ea typeface="+mj-ea"/>
                        </a:rPr>
                        <a:t>职能级</a:t>
                      </a:r>
                      <a:r>
                        <a:rPr lang="zh-CN" altLang="en-US" sz="1000">
                          <a:solidFill>
                            <a:schemeClr val="tx1"/>
                          </a:solidFill>
                          <a:latin typeface="+mj-ea"/>
                          <a:ea typeface="+mj-ea"/>
                        </a:rPr>
                        <a:t>。主要涉及销售、营销、运营、供应链等部门。</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1000" b="1">
                          <a:solidFill>
                            <a:schemeClr val="tx1"/>
                          </a:solidFill>
                          <a:latin typeface="+mj-ea"/>
                          <a:ea typeface="+mj-ea"/>
                        </a:rPr>
                        <a:t>企业级</a:t>
                      </a:r>
                      <a:r>
                        <a:rPr lang="zh-CN" altLang="en-US" sz="1000">
                          <a:solidFill>
                            <a:schemeClr val="tx1"/>
                          </a:solidFill>
                          <a:latin typeface="+mj-ea"/>
                          <a:ea typeface="+mj-ea"/>
                        </a:rPr>
                        <a:t>。囊括了所有关键业务职能，包括：</a:t>
                      </a:r>
                      <a:r>
                        <a:rPr lang="zh-CN" altLang="en-US" sz="1000" b="1">
                          <a:solidFill>
                            <a:schemeClr val="tx1"/>
                          </a:solidFill>
                          <a:latin typeface="+mj-ea"/>
                          <a:ea typeface="+mj-ea"/>
                        </a:rPr>
                        <a:t>产品管理、需求管理、供应管理、财务管理和战略管理</a:t>
                      </a:r>
                      <a:r>
                        <a:rPr lang="zh-CN" altLang="en-US" sz="1000">
                          <a:solidFill>
                            <a:schemeClr val="tx1"/>
                          </a:solidFill>
                          <a:latin typeface="+mj-ea"/>
                          <a:ea typeface="+mj-ea"/>
                        </a:rPr>
                        <a:t>。</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07688192"/>
                  </a:ext>
                </a:extLst>
              </a:tr>
              <a:tr h="981897">
                <a:tc>
                  <a:txBody>
                    <a:bodyPr/>
                    <a:lstStyle/>
                    <a:p>
                      <a:r>
                        <a:rPr lang="zh-CN" altLang="en-US" sz="1100" b="1">
                          <a:solidFill>
                            <a:srgbClr val="000000"/>
                          </a:solidFill>
                          <a:latin typeface="+mj-ea"/>
                          <a:ea typeface="+mj-ea"/>
                        </a:rPr>
                        <a:t>财务整合深度</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r>
                        <a:rPr lang="zh-CN" altLang="en-US" sz="1000" b="1">
                          <a:solidFill>
                            <a:schemeClr val="tx1"/>
                          </a:solidFill>
                          <a:latin typeface="+mj-ea"/>
                          <a:ea typeface="+mj-ea"/>
                        </a:rPr>
                        <a:t>较浅或滞后</a:t>
                      </a:r>
                      <a:r>
                        <a:rPr lang="zh-CN" altLang="en-US" sz="1000">
                          <a:solidFill>
                            <a:schemeClr val="tx1"/>
                          </a:solidFill>
                          <a:latin typeface="+mj-ea"/>
                          <a:ea typeface="+mj-ea"/>
                        </a:rPr>
                        <a:t>。财务可能作为结果的计算者或审批者参与，但财务计划和运营计划往往是分开的。</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1000" b="1">
                          <a:solidFill>
                            <a:schemeClr val="tx1"/>
                          </a:solidFill>
                          <a:latin typeface="+mj-ea"/>
                          <a:ea typeface="+mj-ea"/>
                        </a:rPr>
                        <a:t>深度且同步</a:t>
                      </a:r>
                      <a:r>
                        <a:rPr lang="zh-CN" altLang="en-US" sz="1000">
                          <a:solidFill>
                            <a:schemeClr val="tx1"/>
                          </a:solidFill>
                          <a:latin typeface="+mj-ea"/>
                          <a:ea typeface="+mj-ea"/>
                        </a:rPr>
                        <a:t>。财务完全集成在流程中。运营数据（单位、工时等）</a:t>
                      </a:r>
                      <a:r>
                        <a:rPr lang="zh-CN" altLang="en-US" sz="1000" b="1">
                          <a:solidFill>
                            <a:schemeClr val="tx1"/>
                          </a:solidFill>
                          <a:latin typeface="+mj-ea"/>
                          <a:ea typeface="+mj-ea"/>
                        </a:rPr>
                        <a:t>实时</a:t>
                      </a:r>
                      <a:r>
                        <a:rPr lang="zh-CN" altLang="en-US" sz="1000">
                          <a:solidFill>
                            <a:schemeClr val="tx1"/>
                          </a:solidFill>
                          <a:latin typeface="+mj-ea"/>
                          <a:ea typeface="+mj-ea"/>
                        </a:rPr>
                        <a:t>转化为财务数据（收入、利润、现金流）。</a:t>
                      </a:r>
                      <a:r>
                        <a:rPr lang="en-US" altLang="zh-CN" sz="1000">
                          <a:solidFill>
                            <a:schemeClr val="tx1"/>
                          </a:solidFill>
                          <a:latin typeface="+mj-ea"/>
                          <a:ea typeface="+mj-ea"/>
                        </a:rPr>
                        <a:t>IBP</a:t>
                      </a:r>
                      <a:r>
                        <a:rPr lang="zh-CN" altLang="en-US" sz="1000">
                          <a:solidFill>
                            <a:schemeClr val="tx1"/>
                          </a:solidFill>
                          <a:latin typeface="+mj-ea"/>
                          <a:ea typeface="+mj-ea"/>
                        </a:rPr>
                        <a:t>的输出是“一套数字”，同时包含运营和财务意义。</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7693771"/>
                  </a:ext>
                </a:extLst>
              </a:tr>
              <a:tr h="981897">
                <a:tc>
                  <a:txBody>
                    <a:bodyPr/>
                    <a:lstStyle/>
                    <a:p>
                      <a:r>
                        <a:rPr lang="zh-CN" altLang="en-US" sz="1100" b="1">
                          <a:solidFill>
                            <a:srgbClr val="000000"/>
                          </a:solidFill>
                          <a:latin typeface="+mj-ea"/>
                          <a:ea typeface="+mj-ea"/>
                        </a:rPr>
                        <a:t>与战略的关系</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r>
                        <a:rPr lang="zh-CN" altLang="en-US" sz="1000" b="1">
                          <a:solidFill>
                            <a:schemeClr val="tx1"/>
                          </a:solidFill>
                          <a:latin typeface="+mj-ea"/>
                          <a:ea typeface="+mj-ea"/>
                        </a:rPr>
                        <a:t>支持战略</a:t>
                      </a:r>
                      <a:r>
                        <a:rPr lang="zh-CN" altLang="en-US" sz="1000">
                          <a:solidFill>
                            <a:schemeClr val="tx1"/>
                          </a:solidFill>
                          <a:latin typeface="+mj-ea"/>
                          <a:ea typeface="+mj-ea"/>
                        </a:rPr>
                        <a:t>。执行由战略规划流程制定的年度计划，但本身不直接挑战或调整战略。</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1000" b="1">
                          <a:solidFill>
                            <a:schemeClr val="tx1"/>
                          </a:solidFill>
                          <a:latin typeface="+mj-ea"/>
                          <a:ea typeface="+mj-ea"/>
                        </a:rPr>
                        <a:t>驱动和挑战战略</a:t>
                      </a:r>
                      <a:r>
                        <a:rPr lang="zh-CN" altLang="en-US" sz="1000">
                          <a:solidFill>
                            <a:schemeClr val="tx1"/>
                          </a:solidFill>
                          <a:latin typeface="+mj-ea"/>
                          <a:ea typeface="+mj-ea"/>
                        </a:rPr>
                        <a:t>。每月审视业务计划与战略目标的一致性。当发现偏差时，会触发行动来</a:t>
                      </a:r>
                      <a:r>
                        <a:rPr lang="zh-CN" altLang="en-US" sz="1000" b="1">
                          <a:solidFill>
                            <a:schemeClr val="tx1"/>
                          </a:solidFill>
                          <a:latin typeface="+mj-ea"/>
                          <a:ea typeface="+mj-ea"/>
                        </a:rPr>
                        <a:t>调整运营计划或甚至修正战略本身</a:t>
                      </a:r>
                      <a:r>
                        <a:rPr lang="zh-CN" altLang="en-US" sz="1000">
                          <a:solidFill>
                            <a:schemeClr val="tx1"/>
                          </a:solidFill>
                          <a:latin typeface="+mj-ea"/>
                          <a:ea typeface="+mj-ea"/>
                        </a:rPr>
                        <a:t>。它是一个动态的战略管理工具。</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45523832"/>
                  </a:ext>
                </a:extLst>
              </a:tr>
              <a:tr h="981897">
                <a:tc>
                  <a:txBody>
                    <a:bodyPr/>
                    <a:lstStyle/>
                    <a:p>
                      <a:r>
                        <a:rPr lang="zh-CN" altLang="en-US" sz="1100" b="1">
                          <a:solidFill>
                            <a:srgbClr val="000000"/>
                          </a:solidFill>
                          <a:latin typeface="+mj-ea"/>
                          <a:ea typeface="+mj-ea"/>
                        </a:rPr>
                        <a:t>输出成果</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r>
                        <a:rPr lang="zh-CN" altLang="en-US" sz="1000" b="1">
                          <a:solidFill>
                            <a:schemeClr val="tx1"/>
                          </a:solidFill>
                          <a:latin typeface="+mj-ea"/>
                          <a:ea typeface="+mj-ea"/>
                        </a:rPr>
                        <a:t>一个供需平衡的、可行的运营计划</a:t>
                      </a:r>
                      <a:r>
                        <a:rPr lang="zh-CN" altLang="en-US" sz="1000">
                          <a:solidFill>
                            <a:schemeClr val="tx1"/>
                          </a:solidFill>
                          <a:latin typeface="+mj-ea"/>
                          <a:ea typeface="+mj-ea"/>
                        </a:rPr>
                        <a:t>。</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1000" b="1" dirty="0">
                          <a:solidFill>
                            <a:schemeClr val="tx1"/>
                          </a:solidFill>
                          <a:latin typeface="+mj-ea"/>
                          <a:ea typeface="+mj-ea"/>
                        </a:rPr>
                        <a:t>一个统一的、被领导团队批准的“单一游戏计划”</a:t>
                      </a:r>
                      <a:r>
                        <a:rPr lang="zh-CN" altLang="en-US" sz="1000" dirty="0">
                          <a:solidFill>
                            <a:schemeClr val="tx1"/>
                          </a:solidFill>
                          <a:latin typeface="+mj-ea"/>
                          <a:ea typeface="+mj-ea"/>
                        </a:rPr>
                        <a:t>。这个计划集成了产品、需求、供应和财务，并明确了为实现战略目标所需的行动和资源分配。</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50482817"/>
                  </a:ext>
                </a:extLst>
              </a:tr>
              <a:tr h="613685">
                <a:tc>
                  <a:txBody>
                    <a:bodyPr/>
                    <a:lstStyle/>
                    <a:p>
                      <a:r>
                        <a:rPr lang="zh-CN" altLang="en-US" sz="1100" b="1">
                          <a:solidFill>
                            <a:srgbClr val="000000"/>
                          </a:solidFill>
                          <a:latin typeface="+mj-ea"/>
                          <a:ea typeface="+mj-ea"/>
                        </a:rPr>
                        <a:t>领导角色</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r>
                        <a:rPr lang="zh-CN" altLang="en-US" sz="1000" b="1">
                          <a:solidFill>
                            <a:schemeClr val="tx1"/>
                          </a:solidFill>
                          <a:latin typeface="+mj-ea"/>
                          <a:ea typeface="+mj-ea"/>
                        </a:rPr>
                        <a:t>中层管理主导</a:t>
                      </a:r>
                      <a:r>
                        <a:rPr lang="zh-CN" altLang="en-US" sz="1000">
                          <a:solidFill>
                            <a:schemeClr val="tx1"/>
                          </a:solidFill>
                          <a:latin typeface="+mj-ea"/>
                          <a:ea typeface="+mj-ea"/>
                        </a:rPr>
                        <a:t>。通常由供应链或运营副总裁领导。</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1000" b="1">
                          <a:solidFill>
                            <a:schemeClr val="tx1"/>
                          </a:solidFill>
                          <a:latin typeface="+mj-ea"/>
                          <a:ea typeface="+mj-ea"/>
                        </a:rPr>
                        <a:t>高管层主导</a:t>
                      </a:r>
                      <a:r>
                        <a:rPr lang="zh-CN" altLang="en-US" sz="1000">
                          <a:solidFill>
                            <a:schemeClr val="tx1"/>
                          </a:solidFill>
                          <a:latin typeface="+mj-ea"/>
                          <a:ea typeface="+mj-ea"/>
                        </a:rPr>
                        <a:t>。需要</a:t>
                      </a:r>
                      <a:r>
                        <a:rPr lang="en-US" altLang="zh-CN" sz="1000">
                          <a:solidFill>
                            <a:schemeClr val="tx1"/>
                          </a:solidFill>
                          <a:latin typeface="+mj-ea"/>
                          <a:ea typeface="+mj-ea"/>
                        </a:rPr>
                        <a:t>CEO</a:t>
                      </a:r>
                      <a:r>
                        <a:rPr lang="zh-CN" altLang="en-US" sz="1000">
                          <a:solidFill>
                            <a:schemeClr val="tx1"/>
                          </a:solidFill>
                          <a:latin typeface="+mj-ea"/>
                          <a:ea typeface="+mj-ea"/>
                        </a:rPr>
                        <a:t>和整个高管团队的深度参与和决策，因为涉及公司整体资源的分配和战略方向。</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10765820"/>
                  </a:ext>
                </a:extLst>
              </a:tr>
              <a:tr h="429580">
                <a:tc>
                  <a:txBody>
                    <a:bodyPr/>
                    <a:lstStyle/>
                    <a:p>
                      <a:r>
                        <a:rPr lang="zh-CN" altLang="en-US" sz="1100" b="1" dirty="0">
                          <a:solidFill>
                            <a:srgbClr val="000000"/>
                          </a:solidFill>
                          <a:latin typeface="+mj-ea"/>
                          <a:ea typeface="+mj-ea"/>
                        </a:rPr>
                        <a:t>成熟度</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r>
                        <a:rPr lang="zh-CN" altLang="en-US" sz="1000" b="1" dirty="0">
                          <a:solidFill>
                            <a:schemeClr val="tx1"/>
                          </a:solidFill>
                          <a:latin typeface="+mj-ea"/>
                          <a:ea typeface="+mj-ea"/>
                        </a:rPr>
                        <a:t>基础到中级</a:t>
                      </a:r>
                      <a:r>
                        <a:rPr lang="zh-CN" altLang="en-US" sz="1000" dirty="0">
                          <a:solidFill>
                            <a:schemeClr val="tx1"/>
                          </a:solidFill>
                          <a:latin typeface="+mj-ea"/>
                          <a:ea typeface="+mj-ea"/>
                        </a:rPr>
                        <a:t>的协同流程。许多公司停留在此阶段。</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1000" b="1" dirty="0">
                          <a:solidFill>
                            <a:schemeClr val="tx1"/>
                          </a:solidFill>
                          <a:latin typeface="+mj-ea"/>
                          <a:ea typeface="+mj-ea"/>
                        </a:rPr>
                        <a:t>高级或最佳实践</a:t>
                      </a:r>
                      <a:r>
                        <a:rPr lang="zh-CN" altLang="en-US" sz="1000" dirty="0">
                          <a:solidFill>
                            <a:schemeClr val="tx1"/>
                          </a:solidFill>
                          <a:latin typeface="+mj-ea"/>
                          <a:ea typeface="+mj-ea"/>
                        </a:rPr>
                        <a:t>的集成管理流程。代表了</a:t>
                      </a:r>
                      <a:r>
                        <a:rPr lang="en-US" altLang="zh-CN" sz="1000" dirty="0">
                          <a:solidFill>
                            <a:schemeClr val="tx1"/>
                          </a:solidFill>
                          <a:latin typeface="+mj-ea"/>
                          <a:ea typeface="+mj-ea"/>
                        </a:rPr>
                        <a:t>S&amp;OP</a:t>
                      </a:r>
                      <a:r>
                        <a:rPr lang="zh-CN" altLang="en-US" sz="1000" dirty="0">
                          <a:solidFill>
                            <a:schemeClr val="tx1"/>
                          </a:solidFill>
                          <a:latin typeface="+mj-ea"/>
                          <a:ea typeface="+mj-ea"/>
                        </a:rPr>
                        <a:t>的演进和成熟形态。 </a:t>
                      </a:r>
                    </a:p>
                  </a:txBody>
                  <a:tcPr marL="47655" marR="47655" marT="23828" marB="238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66084762"/>
                  </a:ext>
                </a:extLst>
              </a:tr>
            </a:tbl>
          </a:graphicData>
        </a:graphic>
      </p:graphicFrame>
      <p:graphicFrame>
        <p:nvGraphicFramePr>
          <p:cNvPr id="24" name="图示 23">
            <a:extLst>
              <a:ext uri="{FF2B5EF4-FFF2-40B4-BE49-F238E27FC236}">
                <a16:creationId xmlns:a16="http://schemas.microsoft.com/office/drawing/2014/main" id="{7A33C5C9-977C-834D-7147-FFEC7B350AED}"/>
              </a:ext>
            </a:extLst>
          </p:cNvPr>
          <p:cNvGraphicFramePr/>
          <p:nvPr>
            <p:extLst>
              <p:ext uri="{D42A27DB-BD31-4B8C-83A1-F6EECF244321}">
                <p14:modId xmlns:p14="http://schemas.microsoft.com/office/powerpoint/2010/main" val="1960407842"/>
              </p:ext>
            </p:extLst>
          </p:nvPr>
        </p:nvGraphicFramePr>
        <p:xfrm>
          <a:off x="8191499" y="629679"/>
          <a:ext cx="3671888" cy="565018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41751606"/>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A0F7C038-E151-9169-9D84-2BC5511EFB09}"/>
              </a:ext>
            </a:extLst>
          </p:cNvPr>
          <p:cNvSpPr>
            <a:spLocks noGrp="1"/>
          </p:cNvSpPr>
          <p:nvPr>
            <p:ph type="title"/>
          </p:nvPr>
        </p:nvSpPr>
        <p:spPr/>
        <p:txBody>
          <a:bodyPr/>
          <a:lstStyle/>
          <a:p>
            <a:r>
              <a:rPr lang="en-US" altLang="zh-CN" dirty="0">
                <a:latin typeface="Arial" panose="020B0604020202020204" pitchFamily="34" charset="0"/>
                <a:ea typeface="微软雅黑" panose="020B0503020204020204" pitchFamily="34" charset="-122"/>
              </a:rPr>
              <a:t>IBP Overview</a:t>
            </a:r>
            <a:endParaRPr lang="zh-CN" altLang="en-US" dirty="0">
              <a:latin typeface="Arial" panose="020B0604020202020204" pitchFamily="34" charset="0"/>
              <a:ea typeface="微软雅黑" panose="020B0503020204020204" pitchFamily="34" charset="-122"/>
            </a:endParaRPr>
          </a:p>
        </p:txBody>
      </p:sp>
      <p:grpSp>
        <p:nvGrpSpPr>
          <p:cNvPr id="27" name="组合 26">
            <a:extLst>
              <a:ext uri="{FF2B5EF4-FFF2-40B4-BE49-F238E27FC236}">
                <a16:creationId xmlns:a16="http://schemas.microsoft.com/office/drawing/2014/main" id="{9BB8235D-F742-15AE-019D-D002AC8161CA}"/>
              </a:ext>
            </a:extLst>
          </p:cNvPr>
          <p:cNvGrpSpPr>
            <a:grpSpLocks noChangeAspect="1"/>
          </p:cNvGrpSpPr>
          <p:nvPr>
            <p:custDataLst>
              <p:tags r:id="rId1"/>
            </p:custDataLst>
          </p:nvPr>
        </p:nvGrpSpPr>
        <p:grpSpPr>
          <a:xfrm>
            <a:off x="1072776" y="973298"/>
            <a:ext cx="10139082" cy="2771659"/>
            <a:chOff x="675644" y="1047414"/>
            <a:chExt cx="10139082" cy="2771659"/>
          </a:xfrm>
        </p:grpSpPr>
        <p:grpSp>
          <p:nvGrpSpPr>
            <p:cNvPr id="28" name="组合 27">
              <a:extLst>
                <a:ext uri="{FF2B5EF4-FFF2-40B4-BE49-F238E27FC236}">
                  <a16:creationId xmlns:a16="http://schemas.microsoft.com/office/drawing/2014/main" id="{02C209E6-3956-3199-254B-0EBBCB36B749}"/>
                </a:ext>
              </a:extLst>
            </p:cNvPr>
            <p:cNvGrpSpPr>
              <a:grpSpLocks/>
            </p:cNvGrpSpPr>
            <p:nvPr/>
          </p:nvGrpSpPr>
          <p:grpSpPr>
            <a:xfrm>
              <a:off x="675644" y="2214206"/>
              <a:ext cx="10139082" cy="774187"/>
              <a:chOff x="6278556" y="1478987"/>
              <a:chExt cx="10139082" cy="774187"/>
            </a:xfrm>
          </p:grpSpPr>
          <p:sp>
            <p:nvSpPr>
              <p:cNvPr id="37" name="2">
                <a:extLst>
                  <a:ext uri="{FF2B5EF4-FFF2-40B4-BE49-F238E27FC236}">
                    <a16:creationId xmlns:a16="http://schemas.microsoft.com/office/drawing/2014/main" id="{A961792F-868E-F6CF-4A3B-114482744452}"/>
                  </a:ext>
                </a:extLst>
              </p:cNvPr>
              <p:cNvSpPr/>
              <p:nvPr>
                <p:custDataLst>
                  <p:tags r:id="rId16"/>
                </p:custDataLst>
              </p:nvPr>
            </p:nvSpPr>
            <p:spPr>
              <a:xfrm>
                <a:off x="8012106" y="1478987"/>
                <a:ext cx="8405532" cy="774187"/>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400"/>
              </a:p>
            </p:txBody>
          </p:sp>
          <p:sp>
            <p:nvSpPr>
              <p:cNvPr id="38" name="Title-2">
                <a:extLst>
                  <a:ext uri="{FF2B5EF4-FFF2-40B4-BE49-F238E27FC236}">
                    <a16:creationId xmlns:a16="http://schemas.microsoft.com/office/drawing/2014/main" id="{142A17F7-6180-CE57-0F92-4279D4B3B56B}"/>
                  </a:ext>
                </a:extLst>
              </p:cNvPr>
              <p:cNvSpPr/>
              <p:nvPr>
                <p:custDataLst>
                  <p:tags r:id="rId17"/>
                </p:custDataLst>
              </p:nvPr>
            </p:nvSpPr>
            <p:spPr>
              <a:xfrm>
                <a:off x="6278556" y="1478987"/>
                <a:ext cx="1733550" cy="774187"/>
              </a:xfrm>
              <a:prstGeom prst="rect">
                <a:avLst/>
              </a:prstGeom>
              <a:solidFill>
                <a:schemeClr val="accent2"/>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algn="ctr" defTabSz="913765"/>
                <a:r>
                  <a:rPr lang="zh-CN" altLang="en-US" sz="2000" b="1">
                    <a:solidFill>
                      <a:srgbClr val="FFFFFF"/>
                    </a:solidFill>
                    <a:latin typeface="Arial" panose="020B0604020202020204" pitchFamily="34" charset="0"/>
                    <a:ea typeface="黑体" panose="02010609060101010101" pitchFamily="49" charset="-122"/>
                  </a:rPr>
                  <a:t>综合预测：</a:t>
                </a:r>
                <a:endParaRPr lang="zh-CN" altLang="en-US" sz="2000" b="1" dirty="0">
                  <a:solidFill>
                    <a:srgbClr val="FFFFFF"/>
                  </a:solidFill>
                  <a:latin typeface="Arial" panose="020B0604020202020204" pitchFamily="34" charset="0"/>
                  <a:ea typeface="黑体" panose="02010609060101010101" pitchFamily="49" charset="-122"/>
                </a:endParaRPr>
              </a:p>
            </p:txBody>
          </p:sp>
          <p:sp>
            <p:nvSpPr>
              <p:cNvPr id="39" name="Body-2">
                <a:extLst>
                  <a:ext uri="{FF2B5EF4-FFF2-40B4-BE49-F238E27FC236}">
                    <a16:creationId xmlns:a16="http://schemas.microsoft.com/office/drawing/2014/main" id="{6DEB0E88-8D42-4916-EFA3-F52BB48CBA76}"/>
                  </a:ext>
                </a:extLst>
              </p:cNvPr>
              <p:cNvSpPr txBox="1"/>
              <p:nvPr>
                <p:custDataLst>
                  <p:tags r:id="rId18"/>
                </p:custDataLst>
              </p:nvPr>
            </p:nvSpPr>
            <p:spPr>
              <a:xfrm>
                <a:off x="8092415" y="1551099"/>
                <a:ext cx="8133977" cy="583686"/>
              </a:xfrm>
              <a:prstGeom prst="rect">
                <a:avLst/>
              </a:prstGeom>
              <a:noFill/>
            </p:spPr>
            <p:txBody>
              <a:bodyPr wrap="square" rtlCol="0">
                <a:spAutoFit/>
              </a:bodyPr>
              <a:lstStyle>
                <a:defPPr>
                  <a:defRPr lang="zh-CN"/>
                </a:defPPr>
                <a:lvl1pPr>
                  <a:lnSpc>
                    <a:spcPct val="120000"/>
                  </a:lnSpc>
                  <a:defRPr sz="1400">
                    <a:latin typeface="Arial" panose="020B0604020202020204" pitchFamily="34" charset="0"/>
                    <a:ea typeface="Microsoft YaHei" panose="020B0503020204020204" pitchFamily="34" charset="-122"/>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285750" indent="-285750">
                  <a:buFont typeface="Arial" panose="020B0604020202020204" pitchFamily="34" charset="0"/>
                  <a:buChar char="•"/>
                </a:pPr>
                <a:r>
                  <a:rPr lang="zh-CN" altLang="en-US" dirty="0">
                    <a:solidFill>
                      <a:schemeClr val="bg1"/>
                    </a:solidFill>
                    <a:ea typeface="黑体" panose="02010609060101010101" pitchFamily="49" charset="-122"/>
                  </a:rPr>
                  <a:t>内容：涉及“各职能收集聚合历史数据”、“发布综合预测”和“分析发布综合预测”。</a:t>
                </a:r>
              </a:p>
              <a:p>
                <a:pPr marL="285750" indent="-285750">
                  <a:buFont typeface="Arial" panose="020B0604020202020204" pitchFamily="34" charset="0"/>
                  <a:buChar char="•"/>
                </a:pPr>
                <a:r>
                  <a:rPr lang="zh-CN" altLang="en-US" dirty="0">
                    <a:solidFill>
                      <a:schemeClr val="bg1"/>
                    </a:solidFill>
                    <a:ea typeface="黑体" panose="02010609060101010101" pitchFamily="49" charset="-122"/>
                  </a:rPr>
                  <a:t>作用：代表部门间沟通，将统计预测与各部门知识结合，形成更全面的视图。强调跨职能数据聚合。</a:t>
                </a:r>
                <a:endParaRPr lang="en-US" altLang="zh-CN" dirty="0">
                  <a:solidFill>
                    <a:schemeClr val="bg1"/>
                  </a:solidFill>
                  <a:ea typeface="黑体" panose="02010609060101010101" pitchFamily="49" charset="-122"/>
                </a:endParaRPr>
              </a:p>
            </p:txBody>
          </p:sp>
        </p:grpSp>
        <p:grpSp>
          <p:nvGrpSpPr>
            <p:cNvPr id="29" name="组合 28">
              <a:extLst>
                <a:ext uri="{FF2B5EF4-FFF2-40B4-BE49-F238E27FC236}">
                  <a16:creationId xmlns:a16="http://schemas.microsoft.com/office/drawing/2014/main" id="{E47D0DC2-C531-D367-A6F7-9FE085F749EA}"/>
                </a:ext>
              </a:extLst>
            </p:cNvPr>
            <p:cNvGrpSpPr>
              <a:grpSpLocks/>
            </p:cNvGrpSpPr>
            <p:nvPr/>
          </p:nvGrpSpPr>
          <p:grpSpPr>
            <a:xfrm>
              <a:off x="675644" y="1047414"/>
              <a:ext cx="10139082" cy="1109372"/>
              <a:chOff x="675644" y="1747907"/>
              <a:chExt cx="10139082" cy="1109372"/>
            </a:xfrm>
          </p:grpSpPr>
          <p:sp>
            <p:nvSpPr>
              <p:cNvPr id="34" name="1">
                <a:extLst>
                  <a:ext uri="{FF2B5EF4-FFF2-40B4-BE49-F238E27FC236}">
                    <a16:creationId xmlns:a16="http://schemas.microsoft.com/office/drawing/2014/main" id="{E3313CDD-C2B2-6E63-3E00-6F32897F6EE9}"/>
                  </a:ext>
                </a:extLst>
              </p:cNvPr>
              <p:cNvSpPr/>
              <p:nvPr>
                <p:custDataLst>
                  <p:tags r:id="rId13"/>
                </p:custDataLst>
              </p:nvPr>
            </p:nvSpPr>
            <p:spPr>
              <a:xfrm>
                <a:off x="2409194" y="1747907"/>
                <a:ext cx="8405532" cy="110937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400"/>
              </a:p>
            </p:txBody>
          </p:sp>
          <p:sp>
            <p:nvSpPr>
              <p:cNvPr id="35" name="Title-1">
                <a:extLst>
                  <a:ext uri="{FF2B5EF4-FFF2-40B4-BE49-F238E27FC236}">
                    <a16:creationId xmlns:a16="http://schemas.microsoft.com/office/drawing/2014/main" id="{AC9B27E5-D352-51A9-D187-C576271084DA}"/>
                  </a:ext>
                </a:extLst>
              </p:cNvPr>
              <p:cNvSpPr/>
              <p:nvPr>
                <p:custDataLst>
                  <p:tags r:id="rId14"/>
                </p:custDataLst>
              </p:nvPr>
            </p:nvSpPr>
            <p:spPr>
              <a:xfrm>
                <a:off x="675644" y="1747907"/>
                <a:ext cx="1733550" cy="1109372"/>
              </a:xfrm>
              <a:prstGeom prst="rect">
                <a:avLst/>
              </a:prstGeom>
              <a:solidFill>
                <a:schemeClr val="accent1"/>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algn="ctr" defTabSz="913765"/>
                <a:r>
                  <a:rPr lang="zh-CN" altLang="en-US" sz="2000" b="1">
                    <a:solidFill>
                      <a:srgbClr val="FFFFFF"/>
                    </a:solidFill>
                    <a:latin typeface="Arial" panose="020B0604020202020204" pitchFamily="34" charset="0"/>
                    <a:ea typeface="黑体" panose="02010609060101010101" pitchFamily="49" charset="-122"/>
                  </a:rPr>
                  <a:t>统计预测：</a:t>
                </a:r>
                <a:endParaRPr lang="zh-CN" altLang="en-US" sz="2000" b="1" dirty="0">
                  <a:solidFill>
                    <a:srgbClr val="FFFFFF"/>
                  </a:solidFill>
                  <a:latin typeface="Arial" panose="020B0604020202020204" pitchFamily="34" charset="0"/>
                  <a:ea typeface="黑体" panose="02010609060101010101" pitchFamily="49" charset="-122"/>
                </a:endParaRPr>
              </a:p>
            </p:txBody>
          </p:sp>
          <p:sp>
            <p:nvSpPr>
              <p:cNvPr id="36" name="Body-1">
                <a:extLst>
                  <a:ext uri="{FF2B5EF4-FFF2-40B4-BE49-F238E27FC236}">
                    <a16:creationId xmlns:a16="http://schemas.microsoft.com/office/drawing/2014/main" id="{11CB3B06-0742-B01A-86AB-8F839BB92950}"/>
                  </a:ext>
                </a:extLst>
              </p:cNvPr>
              <p:cNvSpPr txBox="1"/>
              <p:nvPr>
                <p:custDataLst>
                  <p:tags r:id="rId15"/>
                </p:custDataLst>
              </p:nvPr>
            </p:nvSpPr>
            <p:spPr>
              <a:xfrm>
                <a:off x="2489503" y="1752105"/>
                <a:ext cx="7416799" cy="1100751"/>
              </a:xfrm>
              <a:prstGeom prst="rect">
                <a:avLst/>
              </a:prstGeom>
              <a:noFill/>
            </p:spPr>
            <p:txBody>
              <a:bodyPr wrap="square" rtlCol="0">
                <a:spAutoFit/>
              </a:bodyPr>
              <a:lstStyle>
                <a:defPPr>
                  <a:defRPr lang="zh-CN"/>
                </a:defPPr>
                <a:lvl1pPr algn="ctr">
                  <a:lnSpc>
                    <a:spcPct val="150000"/>
                  </a:lnSpc>
                  <a:defRPr sz="1200">
                    <a:solidFill>
                      <a:schemeClr val="bg1">
                        <a:lumMod val="50000"/>
                      </a:schemeClr>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285750" indent="-285750" algn="l">
                  <a:lnSpc>
                    <a:spcPct val="120000"/>
                  </a:lnSpc>
                  <a:buFont typeface="Arial" panose="020B0604020202020204" pitchFamily="34" charset="0"/>
                  <a:buChar char="•"/>
                </a:pPr>
                <a:r>
                  <a:rPr lang="zh-CN" altLang="en-US" sz="1400" dirty="0">
                    <a:solidFill>
                      <a:schemeClr val="bg1"/>
                    </a:solidFill>
                    <a:latin typeface="Arial" panose="020B0604020202020204" pitchFamily="34" charset="0"/>
                    <a:ea typeface="黑体" panose="02010609060101010101" pitchFamily="49" charset="-122"/>
                  </a:rPr>
                  <a:t>内容：聚焦数据基础，包括“历史数据清晰和汇总”、“拟合与预测计算”（使用多种模型并行模拟）、“预测模型评估与分析”以及“统计预测分解”。</a:t>
                </a:r>
              </a:p>
              <a:p>
                <a:pPr marL="285750" indent="-285750" algn="l">
                  <a:lnSpc>
                    <a:spcPct val="120000"/>
                  </a:lnSpc>
                  <a:buFont typeface="Arial" panose="020B0604020202020204" pitchFamily="34" charset="0"/>
                  <a:buChar char="•"/>
                </a:pPr>
                <a:r>
                  <a:rPr lang="zh-CN" altLang="en-US" sz="1400" dirty="0">
                    <a:solidFill>
                      <a:schemeClr val="bg1"/>
                    </a:solidFill>
                    <a:latin typeface="Arial" panose="020B0604020202020204" pitchFamily="34" charset="0"/>
                    <a:ea typeface="黑体" panose="02010609060101010101" pitchFamily="49" charset="-122"/>
                  </a:rPr>
                  <a:t>作用：这是规划的“心脏”，提供客观、量化的预测基础，确保规划始于可靠数据。图标象征核心驱动力。</a:t>
                </a:r>
                <a:endParaRPr lang="en-US" altLang="zh-CN" sz="1100" dirty="0">
                  <a:solidFill>
                    <a:schemeClr val="bg1"/>
                  </a:solidFill>
                  <a:latin typeface="Arial" panose="020B0604020202020204" pitchFamily="34" charset="0"/>
                  <a:ea typeface="黑体" panose="02010609060101010101" pitchFamily="49" charset="-122"/>
                </a:endParaRPr>
              </a:p>
            </p:txBody>
          </p:sp>
        </p:grpSp>
        <p:grpSp>
          <p:nvGrpSpPr>
            <p:cNvPr id="30" name="组合 29">
              <a:extLst>
                <a:ext uri="{FF2B5EF4-FFF2-40B4-BE49-F238E27FC236}">
                  <a16:creationId xmlns:a16="http://schemas.microsoft.com/office/drawing/2014/main" id="{0FBC994A-AC3E-BFE6-2810-77A6EF2C43FB}"/>
                </a:ext>
              </a:extLst>
            </p:cNvPr>
            <p:cNvGrpSpPr/>
            <p:nvPr/>
          </p:nvGrpSpPr>
          <p:grpSpPr>
            <a:xfrm>
              <a:off x="675644" y="3044886"/>
              <a:ext cx="10139082" cy="774187"/>
              <a:chOff x="675644" y="2309667"/>
              <a:chExt cx="10139082" cy="774187"/>
            </a:xfrm>
          </p:grpSpPr>
          <p:sp>
            <p:nvSpPr>
              <p:cNvPr id="31" name="3">
                <a:extLst>
                  <a:ext uri="{FF2B5EF4-FFF2-40B4-BE49-F238E27FC236}">
                    <a16:creationId xmlns:a16="http://schemas.microsoft.com/office/drawing/2014/main" id="{7B90E7D1-18E2-A4CD-0EA1-44796B233E63}"/>
                  </a:ext>
                </a:extLst>
              </p:cNvPr>
              <p:cNvSpPr/>
              <p:nvPr>
                <p:custDataLst>
                  <p:tags r:id="rId10"/>
                </p:custDataLst>
              </p:nvPr>
            </p:nvSpPr>
            <p:spPr>
              <a:xfrm>
                <a:off x="2409194" y="2309667"/>
                <a:ext cx="8405532" cy="774187"/>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400"/>
              </a:p>
            </p:txBody>
          </p:sp>
          <p:sp>
            <p:nvSpPr>
              <p:cNvPr id="32" name="Title-3">
                <a:extLst>
                  <a:ext uri="{FF2B5EF4-FFF2-40B4-BE49-F238E27FC236}">
                    <a16:creationId xmlns:a16="http://schemas.microsoft.com/office/drawing/2014/main" id="{9D72D80C-9013-66BA-1328-93C9623AE1D7}"/>
                  </a:ext>
                </a:extLst>
              </p:cNvPr>
              <p:cNvSpPr/>
              <p:nvPr>
                <p:custDataLst>
                  <p:tags r:id="rId11"/>
                </p:custDataLst>
              </p:nvPr>
            </p:nvSpPr>
            <p:spPr>
              <a:xfrm>
                <a:off x="675644" y="2309667"/>
                <a:ext cx="1733550" cy="774187"/>
              </a:xfrm>
              <a:prstGeom prst="rect">
                <a:avLst/>
              </a:prstGeom>
              <a:solidFill>
                <a:schemeClr val="accent3"/>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algn="ctr" defTabSz="913765"/>
                <a:r>
                  <a:rPr lang="zh-CN" altLang="en-US" sz="2000" b="1">
                    <a:solidFill>
                      <a:srgbClr val="FFFFFF"/>
                    </a:solidFill>
                    <a:latin typeface="Arial" panose="020B0604020202020204" pitchFamily="34" charset="0"/>
                    <a:ea typeface="黑体" panose="02010609060101010101" pitchFamily="49" charset="-122"/>
                  </a:rPr>
                  <a:t>共识预测：</a:t>
                </a:r>
                <a:endParaRPr lang="en-US" altLang="zh-CN" sz="2000" b="1" dirty="0">
                  <a:solidFill>
                    <a:srgbClr val="FFFFFF"/>
                  </a:solidFill>
                  <a:latin typeface="Arial" panose="020B0604020202020204" pitchFamily="34" charset="0"/>
                  <a:ea typeface="黑体" panose="02010609060101010101" pitchFamily="49" charset="-122"/>
                </a:endParaRPr>
              </a:p>
            </p:txBody>
          </p:sp>
          <p:sp>
            <p:nvSpPr>
              <p:cNvPr id="33" name="Body-3">
                <a:extLst>
                  <a:ext uri="{FF2B5EF4-FFF2-40B4-BE49-F238E27FC236}">
                    <a16:creationId xmlns:a16="http://schemas.microsoft.com/office/drawing/2014/main" id="{3ACFE545-9EEA-70AC-D775-C9E555189CE0}"/>
                  </a:ext>
                </a:extLst>
              </p:cNvPr>
              <p:cNvSpPr txBox="1"/>
              <p:nvPr>
                <p:custDataLst>
                  <p:tags r:id="rId12"/>
                </p:custDataLst>
              </p:nvPr>
            </p:nvSpPr>
            <p:spPr>
              <a:xfrm>
                <a:off x="2489503" y="2373035"/>
                <a:ext cx="7528616" cy="583686"/>
              </a:xfrm>
              <a:prstGeom prst="rect">
                <a:avLst/>
              </a:prstGeom>
              <a:noFill/>
            </p:spPr>
            <p:txBody>
              <a:bodyPr wrap="square" rtlCol="0">
                <a:spAutoFit/>
              </a:bodyPr>
              <a:lstStyle>
                <a:defPPr>
                  <a:defRPr lang="zh-CN"/>
                </a:defPPr>
                <a:lvl1pPr>
                  <a:lnSpc>
                    <a:spcPct val="120000"/>
                  </a:lnSpc>
                  <a:defRPr sz="1400">
                    <a:latin typeface="Arial" panose="020B0604020202020204" pitchFamily="34" charset="0"/>
                    <a:ea typeface="Microsoft YaHei" panose="020B0503020204020204" pitchFamily="34" charset="-122"/>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285750" indent="-285750">
                  <a:buFont typeface="Arial" panose="020B0604020202020204" pitchFamily="34" charset="0"/>
                  <a:buChar char="•"/>
                </a:pPr>
                <a:r>
                  <a:rPr lang="zh-CN" altLang="en-US" dirty="0">
                    <a:solidFill>
                      <a:schemeClr val="bg1"/>
                    </a:solidFill>
                    <a:ea typeface="黑体" panose="02010609060101010101" pitchFamily="49" charset="-122"/>
                  </a:rPr>
                  <a:t>内容：通过“分解比率确定”、“权重系数确定”达成“基线共识预测达成发布”。</a:t>
                </a:r>
              </a:p>
              <a:p>
                <a:pPr marL="285750" indent="-285750">
                  <a:buFont typeface="Arial" panose="020B0604020202020204" pitchFamily="34" charset="0"/>
                  <a:buChar char="•"/>
                </a:pPr>
                <a:r>
                  <a:rPr lang="zh-CN" altLang="en-US" dirty="0">
                    <a:solidFill>
                      <a:schemeClr val="bg1"/>
                    </a:solidFill>
                    <a:ea typeface="黑体" panose="02010609060101010101" pitchFamily="49" charset="-122"/>
                  </a:rPr>
                  <a:t>作用：这是协同决策的关键阶段，平衡不同部门利益，形成一致同意的预测基线。</a:t>
                </a:r>
                <a:endParaRPr lang="en-US" altLang="zh-CN" dirty="0">
                  <a:solidFill>
                    <a:schemeClr val="bg1"/>
                  </a:solidFill>
                  <a:ea typeface="黑体" panose="02010609060101010101" pitchFamily="49" charset="-122"/>
                </a:endParaRPr>
              </a:p>
            </p:txBody>
          </p:sp>
        </p:grpSp>
      </p:grpSp>
      <p:grpSp>
        <p:nvGrpSpPr>
          <p:cNvPr id="53" name="组合 52">
            <a:extLst>
              <a:ext uri="{FF2B5EF4-FFF2-40B4-BE49-F238E27FC236}">
                <a16:creationId xmlns:a16="http://schemas.microsoft.com/office/drawing/2014/main" id="{75D9D35C-084B-AC41-53BF-497BEB43CBFD}"/>
              </a:ext>
            </a:extLst>
          </p:cNvPr>
          <p:cNvGrpSpPr>
            <a:grpSpLocks noChangeAspect="1"/>
          </p:cNvGrpSpPr>
          <p:nvPr>
            <p:custDataLst>
              <p:tags r:id="rId2"/>
            </p:custDataLst>
          </p:nvPr>
        </p:nvGrpSpPr>
        <p:grpSpPr>
          <a:xfrm>
            <a:off x="1072776" y="3779578"/>
            <a:ext cx="10139082" cy="842218"/>
            <a:chOff x="675644" y="1620116"/>
            <a:chExt cx="10996708" cy="842218"/>
          </a:xfrm>
        </p:grpSpPr>
        <p:sp>
          <p:nvSpPr>
            <p:cNvPr id="54" name="1">
              <a:extLst>
                <a:ext uri="{FF2B5EF4-FFF2-40B4-BE49-F238E27FC236}">
                  <a16:creationId xmlns:a16="http://schemas.microsoft.com/office/drawing/2014/main" id="{4A896D95-719F-067E-D345-6C34CF85A99D}"/>
                </a:ext>
              </a:extLst>
            </p:cNvPr>
            <p:cNvSpPr/>
            <p:nvPr>
              <p:custDataLst>
                <p:tags r:id="rId7"/>
              </p:custDataLst>
            </p:nvPr>
          </p:nvSpPr>
          <p:spPr>
            <a:xfrm>
              <a:off x="2409194" y="1640339"/>
              <a:ext cx="9263158" cy="7741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400"/>
            </a:p>
          </p:txBody>
        </p:sp>
        <p:sp>
          <p:nvSpPr>
            <p:cNvPr id="55" name="Title-1">
              <a:extLst>
                <a:ext uri="{FF2B5EF4-FFF2-40B4-BE49-F238E27FC236}">
                  <a16:creationId xmlns:a16="http://schemas.microsoft.com/office/drawing/2014/main" id="{F2DA858F-BE15-B972-C24C-D0896BEFFA9C}"/>
                </a:ext>
              </a:extLst>
            </p:cNvPr>
            <p:cNvSpPr/>
            <p:nvPr>
              <p:custDataLst>
                <p:tags r:id="rId8"/>
              </p:custDataLst>
            </p:nvPr>
          </p:nvSpPr>
          <p:spPr>
            <a:xfrm>
              <a:off x="675644" y="1640339"/>
              <a:ext cx="1880184" cy="774187"/>
            </a:xfrm>
            <a:prstGeom prst="rect">
              <a:avLst/>
            </a:prstGeom>
            <a:solidFill>
              <a:schemeClr val="accent1"/>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algn="ctr" defTabSz="913765"/>
              <a:r>
                <a:rPr lang="zh-CN" altLang="en-US" sz="2000" b="1">
                  <a:solidFill>
                    <a:srgbClr val="FFFFFF"/>
                  </a:solidFill>
                  <a:latin typeface="Arial" panose="020B0604020202020204" pitchFamily="34" charset="0"/>
                  <a:ea typeface="黑体" panose="02010609060101010101" pitchFamily="49" charset="-122"/>
                </a:rPr>
                <a:t>需求塑造：</a:t>
              </a:r>
              <a:endParaRPr lang="zh-CN" altLang="en-US" sz="2000" b="1" dirty="0">
                <a:solidFill>
                  <a:srgbClr val="FFFFFF"/>
                </a:solidFill>
                <a:latin typeface="Arial" panose="020B0604020202020204" pitchFamily="34" charset="0"/>
                <a:ea typeface="黑体" panose="02010609060101010101" pitchFamily="49" charset="-122"/>
              </a:endParaRPr>
            </a:p>
          </p:txBody>
        </p:sp>
        <p:sp>
          <p:nvSpPr>
            <p:cNvPr id="56" name="Body-1">
              <a:extLst>
                <a:ext uri="{FF2B5EF4-FFF2-40B4-BE49-F238E27FC236}">
                  <a16:creationId xmlns:a16="http://schemas.microsoft.com/office/drawing/2014/main" id="{7BE48D46-FBD0-3EB4-2934-C2A803B2F37A}"/>
                </a:ext>
              </a:extLst>
            </p:cNvPr>
            <p:cNvSpPr txBox="1"/>
            <p:nvPr>
              <p:custDataLst>
                <p:tags r:id="rId9"/>
              </p:custDataLst>
            </p:nvPr>
          </p:nvSpPr>
          <p:spPr>
            <a:xfrm>
              <a:off x="2642930" y="1620116"/>
              <a:ext cx="8846429" cy="842218"/>
            </a:xfrm>
            <a:prstGeom prst="rect">
              <a:avLst/>
            </a:prstGeom>
            <a:noFill/>
          </p:spPr>
          <p:txBody>
            <a:bodyPr wrap="square" rtlCol="0">
              <a:spAutoFit/>
            </a:bodyPr>
            <a:lstStyle>
              <a:defPPr>
                <a:defRPr lang="zh-CN"/>
              </a:defPPr>
              <a:lvl1pPr algn="ctr">
                <a:lnSpc>
                  <a:spcPct val="150000"/>
                </a:lnSpc>
                <a:defRPr sz="1200">
                  <a:solidFill>
                    <a:schemeClr val="bg1">
                      <a:lumMod val="50000"/>
                    </a:schemeClr>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285750" indent="-285750" algn="l">
                <a:lnSpc>
                  <a:spcPct val="120000"/>
                </a:lnSpc>
                <a:buFont typeface="Arial" panose="020B0604020202020204" pitchFamily="34" charset="0"/>
                <a:buChar char="•"/>
              </a:pPr>
              <a:r>
                <a:rPr lang="zh-CN" altLang="en-US" sz="1400" dirty="0">
                  <a:solidFill>
                    <a:schemeClr val="bg1"/>
                  </a:solidFill>
                  <a:latin typeface="Arial" panose="020B0604020202020204" pitchFamily="34" charset="0"/>
                  <a:ea typeface="黑体" panose="02010609060101010101" pitchFamily="49" charset="-122"/>
                </a:rPr>
                <a:t>内容：包括“事件活动归类”、“市场情报、竞品分析、新品发布、促销”等，以及使用模型（如线性、指数、巴斯扩散）分析“潜在商机”。</a:t>
              </a:r>
            </a:p>
            <a:p>
              <a:pPr marL="285750" indent="-285750" algn="l">
                <a:lnSpc>
                  <a:spcPct val="120000"/>
                </a:lnSpc>
                <a:buFont typeface="Arial" panose="020B0604020202020204" pitchFamily="34" charset="0"/>
                <a:buChar char="•"/>
              </a:pPr>
              <a:r>
                <a:rPr lang="zh-CN" altLang="en-US" sz="1400" dirty="0">
                  <a:solidFill>
                    <a:schemeClr val="bg1"/>
                  </a:solidFill>
                  <a:latin typeface="Arial" panose="020B0604020202020204" pitchFamily="34" charset="0"/>
                  <a:ea typeface="黑体" panose="02010609060101010101" pitchFamily="49" charset="-122"/>
                </a:rPr>
                <a:t>作用：此阶段主动影响需求（如通过促销），而不仅是被动预测，提升规划的前瞻性。</a:t>
              </a:r>
              <a:endParaRPr lang="en-US" altLang="zh-CN" sz="1100" dirty="0">
                <a:solidFill>
                  <a:schemeClr val="bg1"/>
                </a:solidFill>
                <a:latin typeface="Arial" panose="020B0604020202020204" pitchFamily="34" charset="0"/>
                <a:ea typeface="黑体" panose="02010609060101010101" pitchFamily="49" charset="-122"/>
              </a:endParaRPr>
            </a:p>
          </p:txBody>
        </p:sp>
      </p:grpSp>
      <p:grpSp>
        <p:nvGrpSpPr>
          <p:cNvPr id="57" name="组合 56">
            <a:extLst>
              <a:ext uri="{FF2B5EF4-FFF2-40B4-BE49-F238E27FC236}">
                <a16:creationId xmlns:a16="http://schemas.microsoft.com/office/drawing/2014/main" id="{AF5A4D2D-2484-7DCE-5B21-6B6B456A6DD1}"/>
              </a:ext>
            </a:extLst>
          </p:cNvPr>
          <p:cNvGrpSpPr>
            <a:grpSpLocks noChangeAspect="1"/>
          </p:cNvGrpSpPr>
          <p:nvPr>
            <p:custDataLst>
              <p:tags r:id="rId3"/>
            </p:custDataLst>
          </p:nvPr>
        </p:nvGrpSpPr>
        <p:grpSpPr>
          <a:xfrm>
            <a:off x="1072777" y="4628832"/>
            <a:ext cx="10139081" cy="1152467"/>
            <a:chOff x="675644" y="1747907"/>
            <a:chExt cx="10632141" cy="1152467"/>
          </a:xfrm>
        </p:grpSpPr>
        <p:sp>
          <p:nvSpPr>
            <p:cNvPr id="58" name="1">
              <a:extLst>
                <a:ext uri="{FF2B5EF4-FFF2-40B4-BE49-F238E27FC236}">
                  <a16:creationId xmlns:a16="http://schemas.microsoft.com/office/drawing/2014/main" id="{382F9844-9BE7-52F0-CEB5-1F277EA18351}"/>
                </a:ext>
              </a:extLst>
            </p:cNvPr>
            <p:cNvSpPr/>
            <p:nvPr>
              <p:custDataLst>
                <p:tags r:id="rId4"/>
              </p:custDataLst>
            </p:nvPr>
          </p:nvSpPr>
          <p:spPr>
            <a:xfrm>
              <a:off x="2409194" y="1747907"/>
              <a:ext cx="8898591" cy="1152467"/>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4400"/>
            </a:p>
          </p:txBody>
        </p:sp>
        <p:sp>
          <p:nvSpPr>
            <p:cNvPr id="59" name="Title-1">
              <a:extLst>
                <a:ext uri="{FF2B5EF4-FFF2-40B4-BE49-F238E27FC236}">
                  <a16:creationId xmlns:a16="http://schemas.microsoft.com/office/drawing/2014/main" id="{D835866D-5F85-9F30-47FE-B87D9BB37D00}"/>
                </a:ext>
              </a:extLst>
            </p:cNvPr>
            <p:cNvSpPr/>
            <p:nvPr>
              <p:custDataLst>
                <p:tags r:id="rId5"/>
              </p:custDataLst>
            </p:nvPr>
          </p:nvSpPr>
          <p:spPr>
            <a:xfrm>
              <a:off x="675644" y="1747907"/>
              <a:ext cx="1810381" cy="1152467"/>
            </a:xfrm>
            <a:prstGeom prst="rect">
              <a:avLst/>
            </a:prstGeom>
            <a:solidFill>
              <a:schemeClr val="accent2">
                <a:lumMod val="75000"/>
              </a:schemeClr>
            </a:solidFill>
            <a:ln w="5715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algn="ctr" defTabSz="913765"/>
              <a:r>
                <a:rPr lang="zh-CN" altLang="en-US" sz="2000" b="1" dirty="0">
                  <a:solidFill>
                    <a:srgbClr val="FFFFFF"/>
                  </a:solidFill>
                  <a:latin typeface="Arial" panose="020B0604020202020204" pitchFamily="34" charset="0"/>
                  <a:ea typeface="黑体" panose="02010609060101010101" pitchFamily="49" charset="-122"/>
                </a:rPr>
                <a:t>财务规划：</a:t>
              </a:r>
            </a:p>
          </p:txBody>
        </p:sp>
        <p:sp>
          <p:nvSpPr>
            <p:cNvPr id="60" name="Body-1">
              <a:extLst>
                <a:ext uri="{FF2B5EF4-FFF2-40B4-BE49-F238E27FC236}">
                  <a16:creationId xmlns:a16="http://schemas.microsoft.com/office/drawing/2014/main" id="{E64BC307-BED5-B175-E2AB-F6C3D72640B4}"/>
                </a:ext>
              </a:extLst>
            </p:cNvPr>
            <p:cNvSpPr txBox="1"/>
            <p:nvPr>
              <p:custDataLst>
                <p:tags r:id="rId6"/>
              </p:custDataLst>
            </p:nvPr>
          </p:nvSpPr>
          <p:spPr>
            <a:xfrm>
              <a:off x="2610770" y="1799623"/>
              <a:ext cx="8649204" cy="1100751"/>
            </a:xfrm>
            <a:prstGeom prst="rect">
              <a:avLst/>
            </a:prstGeom>
            <a:noFill/>
          </p:spPr>
          <p:txBody>
            <a:bodyPr wrap="square" rtlCol="0">
              <a:spAutoFit/>
            </a:bodyPr>
            <a:lstStyle>
              <a:defPPr>
                <a:defRPr lang="zh-CN"/>
              </a:defPPr>
              <a:lvl1pPr algn="ctr">
                <a:lnSpc>
                  <a:spcPct val="150000"/>
                </a:lnSpc>
                <a:defRPr sz="1200">
                  <a:solidFill>
                    <a:schemeClr val="bg1">
                      <a:lumMod val="50000"/>
                    </a:schemeClr>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285750" indent="-285750" algn="l">
                <a:lnSpc>
                  <a:spcPct val="120000"/>
                </a:lnSpc>
                <a:buFont typeface="Arial" panose="020B0604020202020204" pitchFamily="34" charset="0"/>
                <a:buChar char="•"/>
              </a:pPr>
              <a:r>
                <a:rPr lang="zh-CN" altLang="en-US" sz="1400" dirty="0">
                  <a:solidFill>
                    <a:schemeClr val="bg1"/>
                  </a:solidFill>
                  <a:latin typeface="Arial" panose="020B0604020202020204" pitchFamily="34" charset="0"/>
                  <a:ea typeface="黑体" panose="02010609060101010101" pitchFamily="49" charset="-122"/>
                </a:rPr>
                <a:t>内容：涵盖“数据整合与财务建模”、“财务评估与模拟”、“集成对账与差距分析”、“管理业务评审与决策”等，最终“计划锁定、执行、反馈”。</a:t>
              </a:r>
            </a:p>
            <a:p>
              <a:pPr marL="285750" indent="-285750" algn="l">
                <a:lnSpc>
                  <a:spcPct val="120000"/>
                </a:lnSpc>
                <a:buFont typeface="Arial" panose="020B0604020202020204" pitchFamily="34" charset="0"/>
                <a:buChar char="•"/>
              </a:pPr>
              <a:r>
                <a:rPr lang="zh-CN" altLang="en-US" sz="1400" dirty="0">
                  <a:solidFill>
                    <a:schemeClr val="bg1"/>
                  </a:solidFill>
                  <a:latin typeface="Arial" panose="020B0604020202020204" pitchFamily="34" charset="0"/>
                  <a:ea typeface="黑体" panose="02010609060101010101" pitchFamily="49" charset="-122"/>
                </a:rPr>
                <a:t>作用：图标象征战略决策者，这是规划的落地环节，将需求转化为财务目标，确保与公司战略一致，并管理执行风险。</a:t>
              </a:r>
              <a:endParaRPr lang="en-US" altLang="zh-CN" sz="1100" dirty="0">
                <a:solidFill>
                  <a:schemeClr val="bg1"/>
                </a:solidFill>
                <a:latin typeface="Arial" panose="020B0604020202020204" pitchFamily="34" charset="0"/>
                <a:ea typeface="黑体" panose="02010609060101010101" pitchFamily="49" charset="-122"/>
              </a:endParaRPr>
            </a:p>
          </p:txBody>
        </p:sp>
      </p:grpSp>
    </p:spTree>
    <p:extLst>
      <p:ext uri="{BB962C8B-B14F-4D97-AF65-F5344CB8AC3E}">
        <p14:creationId xmlns:p14="http://schemas.microsoft.com/office/powerpoint/2010/main" val="2455012587"/>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E387772-D93E-3B91-9531-6C3253721E0D}"/>
              </a:ext>
            </a:extLst>
          </p:cNvPr>
          <p:cNvSpPr>
            <a:spLocks noGrp="1"/>
          </p:cNvSpPr>
          <p:nvPr>
            <p:ph type="title"/>
          </p:nvPr>
        </p:nvSpPr>
        <p:spPr/>
        <p:txBody>
          <a:bodyPr/>
          <a:lstStyle/>
          <a:p>
            <a:r>
              <a:rPr lang="zh-CN" altLang="en-US" dirty="0">
                <a:solidFill>
                  <a:schemeClr val="bg1"/>
                </a:solidFill>
                <a:latin typeface="+mj-ea"/>
              </a:rPr>
              <a:t>方法论：</a:t>
            </a:r>
            <a:r>
              <a:rPr lang="zh-CN" altLang="en-US" b="1" i="0" dirty="0">
                <a:effectLst/>
                <a:latin typeface="+mj-ea"/>
              </a:rPr>
              <a:t>愿景与能力驱动型转型</a:t>
            </a:r>
            <a:r>
              <a:rPr lang="en-US" altLang="zh-CN" b="1" i="0" dirty="0">
                <a:effectLst/>
                <a:latin typeface="+mj-ea"/>
              </a:rPr>
              <a:t>——</a:t>
            </a:r>
            <a:r>
              <a:rPr lang="zh-CN" altLang="en-US" b="1" i="0" dirty="0">
                <a:effectLst/>
                <a:latin typeface="+mj-ea"/>
              </a:rPr>
              <a:t>以终为始，敏捷迭代</a:t>
            </a:r>
            <a:endParaRPr lang="zh-CN" altLang="en-US" dirty="0"/>
          </a:p>
        </p:txBody>
      </p:sp>
      <p:grpSp>
        <p:nvGrpSpPr>
          <p:cNvPr id="21" name="组合 20">
            <a:extLst>
              <a:ext uri="{FF2B5EF4-FFF2-40B4-BE49-F238E27FC236}">
                <a16:creationId xmlns:a16="http://schemas.microsoft.com/office/drawing/2014/main" id="{BED7A439-7444-E28D-A78E-D6112DEFF056}"/>
              </a:ext>
            </a:extLst>
          </p:cNvPr>
          <p:cNvGrpSpPr/>
          <p:nvPr/>
        </p:nvGrpSpPr>
        <p:grpSpPr>
          <a:xfrm>
            <a:off x="866346" y="955353"/>
            <a:ext cx="1881718" cy="5328716"/>
            <a:chOff x="866346" y="955352"/>
            <a:chExt cx="2630561" cy="5490995"/>
          </a:xfrm>
        </p:grpSpPr>
        <p:sp>
          <p:nvSpPr>
            <p:cNvPr id="3" name="矩形 2">
              <a:extLst>
                <a:ext uri="{FF2B5EF4-FFF2-40B4-BE49-F238E27FC236}">
                  <a16:creationId xmlns:a16="http://schemas.microsoft.com/office/drawing/2014/main" id="{73151ED9-7E36-ADFC-0F7E-271D30CD192E}"/>
                </a:ext>
              </a:extLst>
            </p:cNvPr>
            <p:cNvSpPr/>
            <p:nvPr/>
          </p:nvSpPr>
          <p:spPr>
            <a:xfrm>
              <a:off x="964222" y="955352"/>
              <a:ext cx="2447511" cy="660951"/>
            </a:xfrm>
            <a:prstGeom prst="rect">
              <a:avLst/>
            </a:prstGeom>
            <a:solidFill>
              <a:srgbClr val="1C387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解码企业战略</a:t>
              </a:r>
              <a:endParaRPr kumimoji="0" lang="en-US" altLang="zh-CN"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4" name="矩形 3">
              <a:extLst>
                <a:ext uri="{FF2B5EF4-FFF2-40B4-BE49-F238E27FC236}">
                  <a16:creationId xmlns:a16="http://schemas.microsoft.com/office/drawing/2014/main" id="{75329FBF-E8C5-2CD1-F779-A7F14A3A03A9}"/>
                </a:ext>
              </a:extLst>
            </p:cNvPr>
            <p:cNvSpPr/>
            <p:nvPr/>
          </p:nvSpPr>
          <p:spPr>
            <a:xfrm>
              <a:off x="936750" y="4106555"/>
              <a:ext cx="2489752" cy="540000"/>
            </a:xfrm>
            <a:prstGeom prst="rect">
              <a:avLst/>
            </a:prstGeom>
            <a:solidFill>
              <a:srgbClr val="1C387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规划转型路径</a:t>
              </a:r>
            </a:p>
          </p:txBody>
        </p:sp>
        <p:sp>
          <p:nvSpPr>
            <p:cNvPr id="5" name="矩形 4">
              <a:extLst>
                <a:ext uri="{FF2B5EF4-FFF2-40B4-BE49-F238E27FC236}">
                  <a16:creationId xmlns:a16="http://schemas.microsoft.com/office/drawing/2014/main" id="{C18F1811-9648-ECC2-842F-505E9EFB5C65}"/>
                </a:ext>
              </a:extLst>
            </p:cNvPr>
            <p:cNvSpPr/>
            <p:nvPr/>
          </p:nvSpPr>
          <p:spPr>
            <a:xfrm>
              <a:off x="919948" y="5006451"/>
              <a:ext cx="2529508" cy="540000"/>
            </a:xfrm>
            <a:prstGeom prst="rect">
              <a:avLst/>
            </a:prstGeom>
            <a:solidFill>
              <a:srgbClr val="1C387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变革管理与敏捷实施</a:t>
              </a:r>
            </a:p>
          </p:txBody>
        </p:sp>
        <p:sp>
          <p:nvSpPr>
            <p:cNvPr id="6" name="矩形 5">
              <a:extLst>
                <a:ext uri="{FF2B5EF4-FFF2-40B4-BE49-F238E27FC236}">
                  <a16:creationId xmlns:a16="http://schemas.microsoft.com/office/drawing/2014/main" id="{1104FE5B-879C-E949-00DA-3041F6CF76A5}"/>
                </a:ext>
              </a:extLst>
            </p:cNvPr>
            <p:cNvSpPr/>
            <p:nvPr/>
          </p:nvSpPr>
          <p:spPr>
            <a:xfrm>
              <a:off x="866346" y="5906347"/>
              <a:ext cx="2630561" cy="540000"/>
            </a:xfrm>
            <a:prstGeom prst="rect">
              <a:avLst/>
            </a:prstGeom>
            <a:solidFill>
              <a:srgbClr val="1C387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内化优化能力</a:t>
              </a:r>
            </a:p>
          </p:txBody>
        </p:sp>
        <p:cxnSp>
          <p:nvCxnSpPr>
            <p:cNvPr id="8" name="连接符: 曲线 7">
              <a:extLst>
                <a:ext uri="{FF2B5EF4-FFF2-40B4-BE49-F238E27FC236}">
                  <a16:creationId xmlns:a16="http://schemas.microsoft.com/office/drawing/2014/main" id="{4244C6BE-FA03-2561-9497-287DC5045222}"/>
                </a:ext>
              </a:extLst>
            </p:cNvPr>
            <p:cNvCxnSpPr>
              <a:cxnSpLocks/>
              <a:stCxn id="4" idx="2"/>
              <a:endCxn id="5" idx="0"/>
            </p:cNvCxnSpPr>
            <p:nvPr/>
          </p:nvCxnSpPr>
          <p:spPr>
            <a:xfrm rot="16200000" flipH="1">
              <a:off x="2003216" y="4824965"/>
              <a:ext cx="359896" cy="3076"/>
            </a:xfrm>
            <a:prstGeom prst="curvedConnector3">
              <a:avLst/>
            </a:prstGeom>
            <a:ln w="127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9" name="连接符: 曲线 8">
              <a:extLst>
                <a:ext uri="{FF2B5EF4-FFF2-40B4-BE49-F238E27FC236}">
                  <a16:creationId xmlns:a16="http://schemas.microsoft.com/office/drawing/2014/main" id="{09A73173-084D-1C56-0EF7-D8C5F2C07132}"/>
                </a:ext>
              </a:extLst>
            </p:cNvPr>
            <p:cNvCxnSpPr>
              <a:cxnSpLocks/>
              <a:stCxn id="5" idx="2"/>
              <a:endCxn id="6" idx="0"/>
            </p:cNvCxnSpPr>
            <p:nvPr/>
          </p:nvCxnSpPr>
          <p:spPr>
            <a:xfrm rot="5400000">
              <a:off x="2003217" y="5724862"/>
              <a:ext cx="359896" cy="3075"/>
            </a:xfrm>
            <a:prstGeom prst="curvedConnector3">
              <a:avLst/>
            </a:prstGeom>
            <a:ln w="127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0" name="连接符: 肘形 9">
              <a:extLst>
                <a:ext uri="{FF2B5EF4-FFF2-40B4-BE49-F238E27FC236}">
                  <a16:creationId xmlns:a16="http://schemas.microsoft.com/office/drawing/2014/main" id="{75F788CD-15C3-F6C8-A68A-C94026FB4BF2}"/>
                </a:ext>
              </a:extLst>
            </p:cNvPr>
            <p:cNvCxnSpPr>
              <a:cxnSpLocks/>
              <a:stCxn id="6" idx="3"/>
              <a:endCxn id="3" idx="3"/>
            </p:cNvCxnSpPr>
            <p:nvPr/>
          </p:nvCxnSpPr>
          <p:spPr>
            <a:xfrm flipH="1" flipV="1">
              <a:off x="3411733" y="1285828"/>
              <a:ext cx="85174" cy="4890519"/>
            </a:xfrm>
            <a:prstGeom prst="bentConnector3">
              <a:avLst>
                <a:gd name="adj1" fmla="val -268392"/>
              </a:avLst>
            </a:prstGeom>
            <a:ln w="127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9" name="矩形 18">
              <a:extLst>
                <a:ext uri="{FF2B5EF4-FFF2-40B4-BE49-F238E27FC236}">
                  <a16:creationId xmlns:a16="http://schemas.microsoft.com/office/drawing/2014/main" id="{463A3AC5-7FCE-1B27-FD8C-1DA97FB62F15}"/>
                </a:ext>
              </a:extLst>
            </p:cNvPr>
            <p:cNvSpPr/>
            <p:nvPr/>
          </p:nvSpPr>
          <p:spPr>
            <a:xfrm>
              <a:off x="966367" y="1958228"/>
              <a:ext cx="2447511" cy="660951"/>
            </a:xfrm>
            <a:prstGeom prst="rect">
              <a:avLst/>
            </a:prstGeom>
            <a:solidFill>
              <a:srgbClr val="1C387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定义各职能（产品、营销、供应链）能力</a:t>
              </a:r>
              <a:endParaRPr kumimoji="0" lang="en-US" altLang="zh-CN"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20" name="矩形 19">
              <a:extLst>
                <a:ext uri="{FF2B5EF4-FFF2-40B4-BE49-F238E27FC236}">
                  <a16:creationId xmlns:a16="http://schemas.microsoft.com/office/drawing/2014/main" id="{1EF7ED88-B1ED-DD79-1260-4C22A965FD74}"/>
                </a:ext>
              </a:extLst>
            </p:cNvPr>
            <p:cNvSpPr/>
            <p:nvPr/>
          </p:nvSpPr>
          <p:spPr>
            <a:xfrm>
              <a:off x="960571" y="2997046"/>
              <a:ext cx="2447511" cy="660951"/>
            </a:xfrm>
            <a:prstGeom prst="rect">
              <a:avLst/>
            </a:prstGeom>
            <a:solidFill>
              <a:srgbClr val="1C387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探寻全球最佳方案</a:t>
              </a:r>
              <a:endParaRPr kumimoji="0" lang="en-US" altLang="zh-CN" sz="14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grpSp>
      <p:graphicFrame>
        <p:nvGraphicFramePr>
          <p:cNvPr id="22" name="表格 21">
            <a:extLst>
              <a:ext uri="{FF2B5EF4-FFF2-40B4-BE49-F238E27FC236}">
                <a16:creationId xmlns:a16="http://schemas.microsoft.com/office/drawing/2014/main" id="{497C0539-0D07-29B3-0C9B-FC40A1861693}"/>
              </a:ext>
            </a:extLst>
          </p:cNvPr>
          <p:cNvGraphicFramePr>
            <a:graphicFrameLocks noGrp="1"/>
          </p:cNvGraphicFramePr>
          <p:nvPr>
            <p:extLst>
              <p:ext uri="{D42A27DB-BD31-4B8C-83A1-F6EECF244321}">
                <p14:modId xmlns:p14="http://schemas.microsoft.com/office/powerpoint/2010/main" val="322144202"/>
              </p:ext>
            </p:extLst>
          </p:nvPr>
        </p:nvGraphicFramePr>
        <p:xfrm>
          <a:off x="3063510" y="702960"/>
          <a:ext cx="9052290" cy="5915203"/>
        </p:xfrm>
        <a:graphic>
          <a:graphicData uri="http://schemas.openxmlformats.org/drawingml/2006/table">
            <a:tbl>
              <a:tblPr/>
              <a:tblGrid>
                <a:gridCol w="1335996">
                  <a:extLst>
                    <a:ext uri="{9D8B030D-6E8A-4147-A177-3AD203B41FA5}">
                      <a16:colId xmlns:a16="http://schemas.microsoft.com/office/drawing/2014/main" val="3024547675"/>
                    </a:ext>
                  </a:extLst>
                </a:gridCol>
                <a:gridCol w="2439895">
                  <a:extLst>
                    <a:ext uri="{9D8B030D-6E8A-4147-A177-3AD203B41FA5}">
                      <a16:colId xmlns:a16="http://schemas.microsoft.com/office/drawing/2014/main" val="3423427042"/>
                    </a:ext>
                  </a:extLst>
                </a:gridCol>
                <a:gridCol w="3191000">
                  <a:extLst>
                    <a:ext uri="{9D8B030D-6E8A-4147-A177-3AD203B41FA5}">
                      <a16:colId xmlns:a16="http://schemas.microsoft.com/office/drawing/2014/main" val="2289897294"/>
                    </a:ext>
                  </a:extLst>
                </a:gridCol>
                <a:gridCol w="2085399">
                  <a:extLst>
                    <a:ext uri="{9D8B030D-6E8A-4147-A177-3AD203B41FA5}">
                      <a16:colId xmlns:a16="http://schemas.microsoft.com/office/drawing/2014/main" val="2425110031"/>
                    </a:ext>
                  </a:extLst>
                </a:gridCol>
              </a:tblGrid>
              <a:tr h="164796">
                <a:tc>
                  <a:txBody>
                    <a:bodyPr/>
                    <a:lstStyle/>
                    <a:p>
                      <a:pPr fontAlgn="t"/>
                      <a:r>
                        <a:rPr lang="zh-CN" altLang="en-US" sz="1200" b="1" dirty="0">
                          <a:solidFill>
                            <a:schemeClr val="bg1"/>
                          </a:solidFill>
                          <a:effectLst/>
                          <a:latin typeface="+mj-ea"/>
                          <a:ea typeface="+mj-ea"/>
                        </a:rPr>
                        <a:t>步骤</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fontAlgn="t"/>
                      <a:r>
                        <a:rPr lang="zh-CN" altLang="en-US" sz="1200" b="1" dirty="0">
                          <a:solidFill>
                            <a:schemeClr val="bg1"/>
                          </a:solidFill>
                          <a:effectLst/>
                          <a:latin typeface="+mj-ea"/>
                          <a:ea typeface="+mj-ea"/>
                        </a:rPr>
                        <a:t>核心目标</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fontAlgn="t"/>
                      <a:r>
                        <a:rPr lang="zh-CN" altLang="en-US" sz="1200" b="1">
                          <a:solidFill>
                            <a:schemeClr val="bg1"/>
                          </a:solidFill>
                          <a:effectLst/>
                          <a:latin typeface="+mj-ea"/>
                          <a:ea typeface="+mj-ea"/>
                        </a:rPr>
                        <a:t>关键活动与方法论</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fontAlgn="t"/>
                      <a:r>
                        <a:rPr lang="zh-CN" altLang="en-US" sz="1200" b="1" dirty="0">
                          <a:solidFill>
                            <a:schemeClr val="bg1"/>
                          </a:solidFill>
                          <a:effectLst/>
                          <a:latin typeface="+mj-ea"/>
                          <a:ea typeface="+mj-ea"/>
                        </a:rPr>
                        <a:t>核心产出物</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extLst>
                  <a:ext uri="{0D108BD9-81ED-4DB2-BD59-A6C34878D82A}">
                    <a16:rowId xmlns:a16="http://schemas.microsoft.com/office/drawing/2014/main" val="3752792710"/>
                  </a:ext>
                </a:extLst>
              </a:tr>
              <a:tr h="819826">
                <a:tc>
                  <a:txBody>
                    <a:bodyPr/>
                    <a:lstStyle/>
                    <a:p>
                      <a:pPr fontAlgn="t"/>
                      <a:r>
                        <a:rPr lang="en-US" altLang="zh-CN" sz="1100" b="1" dirty="0">
                          <a:solidFill>
                            <a:schemeClr val="tx1"/>
                          </a:solidFill>
                          <a:effectLst/>
                          <a:latin typeface="+mj-ea"/>
                          <a:ea typeface="+mj-ea"/>
                        </a:rPr>
                        <a:t>1. </a:t>
                      </a:r>
                      <a:r>
                        <a:rPr lang="zh-CN" altLang="en-US" sz="1100" b="1" dirty="0">
                          <a:solidFill>
                            <a:schemeClr val="tx1"/>
                          </a:solidFill>
                          <a:effectLst/>
                          <a:latin typeface="+mj-ea"/>
                          <a:ea typeface="+mj-ea"/>
                        </a:rPr>
                        <a:t>解码企业战略</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fontAlgn="t"/>
                      <a:r>
                        <a:rPr lang="zh-CN" altLang="en-US" sz="1100" b="1" dirty="0">
                          <a:solidFill>
                            <a:schemeClr val="bg1"/>
                          </a:solidFill>
                          <a:effectLst/>
                          <a:latin typeface="+mj-ea"/>
                          <a:ea typeface="+mj-ea"/>
                        </a:rPr>
                        <a:t>理解“为什么”</a:t>
                      </a:r>
                      <a:br>
                        <a:rPr lang="zh-CN" altLang="en-US" sz="1100" dirty="0">
                          <a:solidFill>
                            <a:schemeClr val="bg1"/>
                          </a:solidFill>
                          <a:effectLst/>
                          <a:latin typeface="+mj-ea"/>
                          <a:ea typeface="+mj-ea"/>
                        </a:rPr>
                      </a:br>
                      <a:r>
                        <a:rPr lang="zh-CN" altLang="en-US" sz="1100" dirty="0">
                          <a:solidFill>
                            <a:schemeClr val="bg1"/>
                          </a:solidFill>
                          <a:effectLst/>
                          <a:latin typeface="+mj-ea"/>
                          <a:ea typeface="+mj-ea"/>
                        </a:rPr>
                        <a:t>确保各职能所有举措与公司总体方向同频共振。</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t"/>
                      <a:r>
                        <a:rPr lang="en-US" altLang="zh-CN" sz="1100" dirty="0">
                          <a:solidFill>
                            <a:schemeClr val="bg1"/>
                          </a:solidFill>
                          <a:effectLst/>
                          <a:latin typeface="+mj-ea"/>
                          <a:ea typeface="+mj-ea"/>
                        </a:rPr>
                        <a:t>• </a:t>
                      </a:r>
                      <a:r>
                        <a:rPr lang="zh-CN" altLang="en-US" sz="1100" b="1" dirty="0">
                          <a:solidFill>
                            <a:schemeClr val="bg1"/>
                          </a:solidFill>
                          <a:effectLst/>
                          <a:latin typeface="+mj-ea"/>
                          <a:ea typeface="+mj-ea"/>
                        </a:rPr>
                        <a:t>战略框架分析</a:t>
                      </a:r>
                      <a:r>
                        <a:rPr lang="zh-CN" altLang="en-US" sz="1100" dirty="0">
                          <a:solidFill>
                            <a:schemeClr val="bg1"/>
                          </a:solidFill>
                          <a:effectLst/>
                          <a:latin typeface="+mj-ea"/>
                          <a:ea typeface="+mj-ea"/>
                        </a:rPr>
                        <a:t>：运用定位派、资源基础观等理论，深入解读企业竞争战略（如成本领先、产品创新）</a:t>
                      </a:r>
                      <a:endParaRPr lang="en-US" altLang="zh-CN" sz="1100" dirty="0">
                        <a:solidFill>
                          <a:schemeClr val="bg1"/>
                        </a:solidFill>
                        <a:effectLst/>
                        <a:latin typeface="+mj-ea"/>
                        <a:ea typeface="+mj-ea"/>
                      </a:endParaRPr>
                    </a:p>
                    <a:p>
                      <a:pPr lvl="0" fontAlgn="t"/>
                      <a:r>
                        <a:rPr lang="en-US" altLang="zh-CN" sz="1100" dirty="0">
                          <a:solidFill>
                            <a:schemeClr val="bg1"/>
                          </a:solidFill>
                          <a:effectLst/>
                          <a:latin typeface="+mj-ea"/>
                          <a:ea typeface="+mj-ea"/>
                        </a:rPr>
                        <a:t>• </a:t>
                      </a:r>
                      <a:r>
                        <a:rPr lang="zh-CN" altLang="en-US" sz="1100" b="1" dirty="0">
                          <a:solidFill>
                            <a:schemeClr val="bg1"/>
                          </a:solidFill>
                          <a:effectLst/>
                          <a:latin typeface="+mj-ea"/>
                          <a:ea typeface="+mj-ea"/>
                        </a:rPr>
                        <a:t>高层访谈与共创</a:t>
                      </a:r>
                      <a:r>
                        <a:rPr lang="zh-CN" altLang="en-US" sz="1100" dirty="0">
                          <a:solidFill>
                            <a:schemeClr val="bg1"/>
                          </a:solidFill>
                          <a:effectLst/>
                          <a:latin typeface="+mj-ea"/>
                          <a:ea typeface="+mj-ea"/>
                        </a:rPr>
                        <a:t>：与最高管理层对齐，理解战略背后的深层意图与期望。</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t"/>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企业战略输入文档</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，明确各职能需要支撑的公司级战略目标与挑战。</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65041064"/>
                  </a:ext>
                </a:extLst>
              </a:tr>
              <a:tr h="979693">
                <a:tc>
                  <a:txBody>
                    <a:bodyPr/>
                    <a:lstStyle/>
                    <a:p>
                      <a:pPr fontAlgn="t"/>
                      <a:r>
                        <a:rPr lang="en-US" altLang="zh-CN" sz="1100" b="1" dirty="0">
                          <a:solidFill>
                            <a:schemeClr val="tx1"/>
                          </a:solidFill>
                          <a:effectLst/>
                          <a:latin typeface="+mj-ea"/>
                          <a:ea typeface="+mj-ea"/>
                        </a:rPr>
                        <a:t>2. </a:t>
                      </a:r>
                      <a:r>
                        <a:rPr lang="zh-CN" altLang="en-US" sz="1100" b="1" dirty="0">
                          <a:solidFill>
                            <a:schemeClr val="tx1"/>
                          </a:solidFill>
                          <a:effectLst/>
                          <a:latin typeface="+mj-ea"/>
                          <a:ea typeface="+mj-ea"/>
                        </a:rPr>
                        <a:t>定义各职能（产品、营销、供应链）能力</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fontAlgn="t"/>
                      <a:r>
                        <a:rPr lang="zh-CN" altLang="en-US" sz="1100" b="1" dirty="0">
                          <a:solidFill>
                            <a:schemeClr val="bg1"/>
                          </a:solidFill>
                          <a:effectLst/>
                          <a:latin typeface="+mj-ea"/>
                          <a:ea typeface="+mj-ea"/>
                        </a:rPr>
                        <a:t>明确“做什么”</a:t>
                      </a:r>
                      <a:br>
                        <a:rPr lang="zh-CN" altLang="en-US" sz="1100" dirty="0">
                          <a:solidFill>
                            <a:schemeClr val="bg1"/>
                          </a:solidFill>
                          <a:effectLst/>
                          <a:latin typeface="+mj-ea"/>
                          <a:ea typeface="+mj-ea"/>
                        </a:rPr>
                      </a:br>
                      <a:r>
                        <a:rPr lang="zh-CN" altLang="en-US" sz="1100" dirty="0">
                          <a:solidFill>
                            <a:schemeClr val="bg1"/>
                          </a:solidFill>
                          <a:effectLst/>
                          <a:latin typeface="+mj-ea"/>
                          <a:ea typeface="+mj-ea"/>
                        </a:rPr>
                        <a:t>将企业战略翻译为各职能必须具备的核心能力清单。</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t"/>
                      <a:r>
                        <a:rPr lang="en-US" altLang="zh-CN" sz="1100" dirty="0">
                          <a:solidFill>
                            <a:schemeClr val="bg1"/>
                          </a:solidFill>
                          <a:effectLst/>
                          <a:latin typeface="+mj-ea"/>
                          <a:ea typeface="+mj-ea"/>
                        </a:rPr>
                        <a:t>• </a:t>
                      </a:r>
                      <a:r>
                        <a:rPr lang="zh-CN" altLang="en-US" sz="1100" b="1" dirty="0">
                          <a:solidFill>
                            <a:schemeClr val="bg1"/>
                          </a:solidFill>
                          <a:effectLst/>
                          <a:latin typeface="+mj-ea"/>
                          <a:ea typeface="+mj-ea"/>
                        </a:rPr>
                        <a:t>战略</a:t>
                      </a:r>
                      <a:r>
                        <a:rPr lang="en-US" altLang="zh-CN" sz="1100" b="1" dirty="0">
                          <a:solidFill>
                            <a:schemeClr val="bg1"/>
                          </a:solidFill>
                          <a:effectLst/>
                          <a:latin typeface="+mj-ea"/>
                          <a:ea typeface="+mj-ea"/>
                        </a:rPr>
                        <a:t>-</a:t>
                      </a:r>
                      <a:r>
                        <a:rPr lang="zh-CN" altLang="en-US" sz="1100" b="1" dirty="0">
                          <a:solidFill>
                            <a:schemeClr val="bg1"/>
                          </a:solidFill>
                          <a:effectLst/>
                          <a:latin typeface="+mj-ea"/>
                          <a:ea typeface="+mj-ea"/>
                        </a:rPr>
                        <a:t>能力映射</a:t>
                      </a:r>
                      <a:r>
                        <a:rPr lang="zh-CN" altLang="en-US" sz="1100" dirty="0">
                          <a:solidFill>
                            <a:schemeClr val="bg1"/>
                          </a:solidFill>
                          <a:effectLst/>
                          <a:latin typeface="+mj-ea"/>
                          <a:ea typeface="+mj-ea"/>
                        </a:rPr>
                        <a:t>：将战略目标转化为具体的、可衡量的能力需求（如：为支撑“产品创新”，需具备“新品快速导入与敏捷供应链”能力）。</a:t>
                      </a:r>
                      <a:br>
                        <a:rPr lang="zh-CN" altLang="en-US" sz="1100" dirty="0">
                          <a:solidFill>
                            <a:schemeClr val="bg1"/>
                          </a:solidFill>
                          <a:effectLst/>
                          <a:latin typeface="+mj-ea"/>
                          <a:ea typeface="+mj-ea"/>
                        </a:rPr>
                      </a:br>
                      <a:r>
                        <a:rPr lang="en-US" altLang="zh-CN" sz="1100" dirty="0">
                          <a:solidFill>
                            <a:schemeClr val="bg1"/>
                          </a:solidFill>
                          <a:effectLst/>
                          <a:latin typeface="+mj-ea"/>
                          <a:ea typeface="+mj-ea"/>
                        </a:rPr>
                        <a:t>• </a:t>
                      </a:r>
                      <a:r>
                        <a:rPr lang="zh-CN" altLang="en-US" sz="1100" b="1" dirty="0">
                          <a:solidFill>
                            <a:schemeClr val="bg1"/>
                          </a:solidFill>
                          <a:effectLst/>
                          <a:latin typeface="+mj-ea"/>
                          <a:ea typeface="+mj-ea"/>
                        </a:rPr>
                        <a:t>能力蓝图规划</a:t>
                      </a:r>
                      <a:r>
                        <a:rPr lang="zh-CN" altLang="en-US" sz="1100" dirty="0">
                          <a:solidFill>
                            <a:schemeClr val="bg1"/>
                          </a:solidFill>
                          <a:effectLst/>
                          <a:latin typeface="+mj-ea"/>
                          <a:ea typeface="+mj-ea"/>
                        </a:rPr>
                        <a:t>：绘制未来</a:t>
                      </a:r>
                      <a:r>
                        <a:rPr lang="en-US" altLang="zh-CN" sz="1100" dirty="0">
                          <a:solidFill>
                            <a:schemeClr val="bg1"/>
                          </a:solidFill>
                          <a:effectLst/>
                          <a:latin typeface="+mj-ea"/>
                          <a:ea typeface="+mj-ea"/>
                        </a:rPr>
                        <a:t>3-5</a:t>
                      </a:r>
                      <a:r>
                        <a:rPr lang="zh-CN" altLang="en-US" sz="1100" dirty="0">
                          <a:solidFill>
                            <a:schemeClr val="bg1"/>
                          </a:solidFill>
                          <a:effectLst/>
                          <a:latin typeface="+mj-ea"/>
                          <a:ea typeface="+mj-ea"/>
                        </a:rPr>
                        <a:t>年各职能的“</a:t>
                      </a:r>
                      <a:r>
                        <a:rPr lang="en-US" altLang="zh-CN" sz="1100" dirty="0">
                          <a:solidFill>
                            <a:schemeClr val="bg1"/>
                          </a:solidFill>
                          <a:effectLst/>
                          <a:latin typeface="+mj-ea"/>
                          <a:ea typeface="+mj-ea"/>
                        </a:rPr>
                        <a:t>To-Be”</a:t>
                      </a:r>
                      <a:r>
                        <a:rPr lang="zh-CN" altLang="en-US" sz="1100" dirty="0">
                          <a:solidFill>
                            <a:schemeClr val="bg1"/>
                          </a:solidFill>
                          <a:effectLst/>
                          <a:latin typeface="+mj-ea"/>
                          <a:ea typeface="+mj-ea"/>
                        </a:rPr>
                        <a:t>能力蓝图。</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t"/>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各职能核心能力蓝图</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，清晰列出为支撑战略必须构建的跨部门、端到端能力。</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14288672"/>
                  </a:ext>
                </a:extLst>
              </a:tr>
              <a:tr h="979693">
                <a:tc>
                  <a:txBody>
                    <a:bodyPr/>
                    <a:lstStyle/>
                    <a:p>
                      <a:pPr fontAlgn="t"/>
                      <a:r>
                        <a:rPr lang="en-US" altLang="zh-CN" sz="1100" b="1" dirty="0">
                          <a:solidFill>
                            <a:schemeClr val="tx1"/>
                          </a:solidFill>
                          <a:effectLst/>
                          <a:latin typeface="+mj-ea"/>
                          <a:ea typeface="+mj-ea"/>
                        </a:rPr>
                        <a:t>3. </a:t>
                      </a:r>
                      <a:r>
                        <a:rPr lang="zh-CN" altLang="en-US" sz="1100" b="1" dirty="0">
                          <a:solidFill>
                            <a:schemeClr val="tx1"/>
                          </a:solidFill>
                          <a:effectLst/>
                          <a:latin typeface="+mj-ea"/>
                          <a:ea typeface="+mj-ea"/>
                        </a:rPr>
                        <a:t>探寻最佳实践</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fontAlgn="t"/>
                      <a:r>
                        <a:rPr lang="zh-CN" altLang="en-US" sz="1100" b="1" dirty="0">
                          <a:solidFill>
                            <a:schemeClr val="bg1"/>
                          </a:solidFill>
                          <a:effectLst/>
                          <a:latin typeface="+mj-ea"/>
                          <a:ea typeface="+mj-ea"/>
                        </a:rPr>
                        <a:t>设计“如何最优的做”：</a:t>
                      </a:r>
                      <a:endParaRPr lang="en-US" altLang="zh-CN" sz="1100" b="1" dirty="0">
                        <a:solidFill>
                          <a:schemeClr val="bg1"/>
                        </a:solidFill>
                        <a:effectLst/>
                        <a:latin typeface="+mj-ea"/>
                        <a:ea typeface="+mj-ea"/>
                      </a:endParaRPr>
                    </a:p>
                    <a:p>
                      <a:pPr fontAlgn="t"/>
                      <a:r>
                        <a:rPr lang="zh-CN" altLang="en-US" sz="1100" b="0" dirty="0">
                          <a:solidFill>
                            <a:schemeClr val="bg1"/>
                          </a:solidFill>
                          <a:effectLst/>
                          <a:latin typeface="+mj-ea"/>
                          <a:ea typeface="+mj-ea"/>
                        </a:rPr>
                        <a:t>找出对应能力的全球最佳实践，定义未来</a:t>
                      </a:r>
                      <a:r>
                        <a:rPr lang="en-US" altLang="zh-CN" sz="1100" b="0" dirty="0">
                          <a:solidFill>
                            <a:schemeClr val="bg1"/>
                          </a:solidFill>
                          <a:effectLst/>
                          <a:latin typeface="+mj-ea"/>
                          <a:ea typeface="+mj-ea"/>
                        </a:rPr>
                        <a:t>to-be</a:t>
                      </a:r>
                      <a:r>
                        <a:rPr lang="zh-CN" altLang="en-US" sz="1100" b="0" dirty="0">
                          <a:solidFill>
                            <a:schemeClr val="bg1"/>
                          </a:solidFill>
                          <a:effectLst/>
                          <a:latin typeface="+mj-ea"/>
                          <a:ea typeface="+mj-ea"/>
                        </a:rPr>
                        <a:t>的理想状态</a:t>
                      </a:r>
                      <a:endParaRPr lang="en-US" altLang="zh-CN" sz="1100" b="0" dirty="0">
                        <a:solidFill>
                          <a:schemeClr val="bg1"/>
                        </a:solidFill>
                        <a:effectLst/>
                        <a:latin typeface="+mj-ea"/>
                        <a:ea typeface="+mj-ea"/>
                      </a:endParaRPr>
                    </a:p>
                    <a:p>
                      <a:pPr fontAlgn="t"/>
                      <a:endParaRPr lang="zh-CN" altLang="en-US" sz="1100" dirty="0">
                        <a:solidFill>
                          <a:schemeClr val="bg1"/>
                        </a:solidFill>
                        <a:effectLst/>
                        <a:latin typeface="+mj-ea"/>
                        <a:ea typeface="+mj-ea"/>
                      </a:endParaRP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buFont typeface="+mj-lt"/>
                        <a:buNone/>
                      </a:pPr>
                      <a:r>
                        <a:rPr lang="zh-CN" altLang="en-US" sz="1100" b="1" i="0" dirty="0">
                          <a:solidFill>
                            <a:schemeClr val="bg1"/>
                          </a:solidFill>
                          <a:effectLst/>
                          <a:latin typeface="+mj-ea"/>
                          <a:ea typeface="+mj-ea"/>
                        </a:rPr>
                        <a:t>解构卓越内核</a:t>
                      </a:r>
                      <a:r>
                        <a:rPr lang="zh-CN" altLang="en-US" sz="1100" b="0" i="0" dirty="0">
                          <a:solidFill>
                            <a:schemeClr val="bg1"/>
                          </a:solidFill>
                          <a:effectLst/>
                          <a:latin typeface="+mj-ea"/>
                          <a:ea typeface="+mj-ea"/>
                        </a:rPr>
                        <a:t>：穿透全球领先实践的“流程外壳”，</a:t>
                      </a:r>
                      <a:r>
                        <a:rPr lang="zh-CN" altLang="en-US" sz="1100" b="1" i="0" dirty="0">
                          <a:solidFill>
                            <a:schemeClr val="bg1"/>
                          </a:solidFill>
                          <a:effectLst/>
                          <a:latin typeface="+mj-ea"/>
                          <a:ea typeface="+mj-ea"/>
                        </a:rPr>
                        <a:t>萃取其实现卓越绩效的底层逻辑</a:t>
                      </a:r>
                      <a:r>
                        <a:rPr lang="en-US" altLang="zh-CN" sz="1100" b="0" i="0" dirty="0">
                          <a:solidFill>
                            <a:schemeClr val="bg1"/>
                          </a:solidFill>
                          <a:effectLst/>
                          <a:latin typeface="+mj-ea"/>
                          <a:ea typeface="+mj-ea"/>
                        </a:rPr>
                        <a:t>——</a:t>
                      </a:r>
                      <a:r>
                        <a:rPr lang="zh-CN" altLang="en-US" sz="1100" b="0" i="0" dirty="0">
                          <a:solidFill>
                            <a:schemeClr val="bg1"/>
                          </a:solidFill>
                          <a:effectLst/>
                          <a:latin typeface="+mj-ea"/>
                          <a:ea typeface="+mj-ea"/>
                        </a:rPr>
                        <a:t>即精准的</a:t>
                      </a:r>
                      <a:r>
                        <a:rPr lang="zh-CN" altLang="en-US" sz="1100" b="1" i="0" dirty="0">
                          <a:solidFill>
                            <a:schemeClr val="bg1"/>
                          </a:solidFill>
                          <a:effectLst/>
                          <a:latin typeface="+mj-ea"/>
                          <a:ea typeface="+mj-ea"/>
                        </a:rPr>
                        <a:t>业务模型（数据模型）</a:t>
                      </a:r>
                      <a:r>
                        <a:rPr lang="zh-CN" altLang="en-US" sz="1100" b="0" i="0" dirty="0">
                          <a:solidFill>
                            <a:schemeClr val="bg1"/>
                          </a:solidFill>
                          <a:effectLst/>
                          <a:latin typeface="+mj-ea"/>
                          <a:ea typeface="+mj-ea"/>
                        </a:rPr>
                        <a:t> 与高效的</a:t>
                      </a:r>
                      <a:r>
                        <a:rPr lang="zh-CN" altLang="en-US" sz="1100" b="1" i="0" dirty="0">
                          <a:solidFill>
                            <a:schemeClr val="bg1"/>
                          </a:solidFill>
                          <a:effectLst/>
                          <a:latin typeface="+mj-ea"/>
                          <a:ea typeface="+mj-ea"/>
                        </a:rPr>
                        <a:t>业务规则与商业智慧（业务算法）</a:t>
                      </a:r>
                      <a:r>
                        <a:rPr lang="zh-CN" altLang="en-US" sz="1100" b="0" i="0" dirty="0">
                          <a:solidFill>
                            <a:schemeClr val="bg1"/>
                          </a:solidFill>
                          <a:effectLst/>
                          <a:latin typeface="+mj-ea"/>
                          <a:ea typeface="+mj-ea"/>
                        </a:rPr>
                        <a:t>。</a:t>
                      </a:r>
                    </a:p>
                    <a:p>
                      <a:pPr algn="l">
                        <a:buFont typeface="+mj-lt"/>
                        <a:buNone/>
                      </a:pPr>
                      <a:r>
                        <a:rPr lang="zh-CN" altLang="en-US" sz="1100" b="1" i="0" dirty="0">
                          <a:solidFill>
                            <a:schemeClr val="bg1"/>
                          </a:solidFill>
                          <a:effectLst/>
                          <a:latin typeface="+mj-ea"/>
                          <a:ea typeface="+mj-ea"/>
                        </a:rPr>
                        <a:t>场景化设计与创新</a:t>
                      </a:r>
                      <a:r>
                        <a:rPr lang="zh-CN" altLang="en-US" sz="1100" b="0" i="0" dirty="0">
                          <a:solidFill>
                            <a:schemeClr val="bg1"/>
                          </a:solidFill>
                          <a:effectLst/>
                          <a:latin typeface="+mj-ea"/>
                          <a:ea typeface="+mj-ea"/>
                        </a:rPr>
                        <a:t>：基于企业独特的战略与能力蓝图，对萃取出的内核进行</a:t>
                      </a:r>
                      <a:r>
                        <a:rPr lang="zh-CN" altLang="en-US" sz="1100" b="1" i="0" dirty="0">
                          <a:solidFill>
                            <a:schemeClr val="bg1"/>
                          </a:solidFill>
                          <a:effectLst/>
                          <a:latin typeface="+mj-ea"/>
                          <a:ea typeface="+mj-ea"/>
                        </a:rPr>
                        <a:t>批判性评估与适配性重构</a:t>
                      </a:r>
                      <a:r>
                        <a:rPr lang="zh-CN" altLang="en-US" sz="1100" b="0" i="0" dirty="0">
                          <a:solidFill>
                            <a:schemeClr val="bg1"/>
                          </a:solidFill>
                          <a:effectLst/>
                          <a:latin typeface="+mj-ea"/>
                          <a:ea typeface="+mj-ea"/>
                        </a:rPr>
                        <a:t>，</a:t>
                      </a:r>
                      <a:r>
                        <a:rPr lang="zh-CN" altLang="en-US" sz="1100" b="1" i="0" dirty="0">
                          <a:solidFill>
                            <a:schemeClr val="bg1"/>
                          </a:solidFill>
                          <a:effectLst/>
                          <a:latin typeface="+mj-ea"/>
                          <a:ea typeface="+mj-ea"/>
                        </a:rPr>
                        <a:t>设计</a:t>
                      </a:r>
                      <a:r>
                        <a:rPr lang="zh-CN" altLang="en-US" sz="1100" b="0" i="0" dirty="0">
                          <a:solidFill>
                            <a:schemeClr val="bg1"/>
                          </a:solidFill>
                          <a:effectLst/>
                          <a:latin typeface="+mj-ea"/>
                          <a:ea typeface="+mj-ea"/>
                        </a:rPr>
                        <a:t>出专属的、更具竞争力的最优方案。</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332" rtl="0" eaLnBrk="1" fontAlgn="t" latinLnBrk="0" hangingPunct="1">
                        <a:lnSpc>
                          <a:spcPct val="100000"/>
                        </a:lnSpc>
                        <a:spcBef>
                          <a:spcPts val="0"/>
                        </a:spcBef>
                        <a:spcAft>
                          <a:spcPts val="0"/>
                        </a:spcAft>
                        <a:buClrTx/>
                        <a:buSzTx/>
                        <a:buFontTx/>
                        <a:buNone/>
                        <a:tabLst/>
                        <a:defRPr/>
                      </a:pP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未来业务流程蓝图</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业务</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数据模型架构图</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业务算法逻辑库</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a:t>
                      </a:r>
                      <a:endParaRPr lang="zh-CN" altLang="en-US" sz="1100" kern="1200" dirty="0">
                        <a:solidFill>
                          <a:schemeClr val="bg1"/>
                        </a:solidFill>
                        <a:effectLst/>
                        <a:latin typeface="+mj-ea"/>
                        <a:ea typeface="+mj-ea"/>
                        <a:cs typeface="+mn-cs"/>
                      </a:endParaRPr>
                    </a:p>
                    <a:p>
                      <a:pPr fontAlgn="t"/>
                      <a:endParaRPr lang="zh-CN" altLang="en-US" sz="1100" dirty="0">
                        <a:solidFill>
                          <a:schemeClr val="bg1"/>
                        </a:solidFill>
                        <a:effectLst/>
                        <a:latin typeface="+mj-ea"/>
                        <a:ea typeface="+mj-ea"/>
                      </a:endParaRP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68948305"/>
                  </a:ext>
                </a:extLst>
              </a:tr>
              <a:tr h="843877">
                <a:tc>
                  <a:txBody>
                    <a:bodyPr/>
                    <a:lstStyle/>
                    <a:p>
                      <a:pPr fontAlgn="t"/>
                      <a:r>
                        <a:rPr lang="en-US" altLang="zh-CN" sz="1100" b="1">
                          <a:solidFill>
                            <a:schemeClr val="tx1"/>
                          </a:solidFill>
                          <a:effectLst/>
                          <a:latin typeface="+mj-ea"/>
                          <a:ea typeface="+mj-ea"/>
                        </a:rPr>
                        <a:t>4. </a:t>
                      </a:r>
                      <a:r>
                        <a:rPr lang="zh-CN" altLang="en-US" sz="1100" b="1">
                          <a:solidFill>
                            <a:schemeClr val="tx1"/>
                          </a:solidFill>
                          <a:effectLst/>
                          <a:latin typeface="+mj-ea"/>
                          <a:ea typeface="+mj-ea"/>
                        </a:rPr>
                        <a:t>规划实施路径</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fontAlgn="t"/>
                      <a:r>
                        <a:rPr lang="zh-CN" altLang="en-US" sz="1100" b="1">
                          <a:solidFill>
                            <a:schemeClr val="bg1"/>
                          </a:solidFill>
                          <a:effectLst/>
                          <a:latin typeface="+mj-ea"/>
                          <a:ea typeface="+mj-ea"/>
                        </a:rPr>
                        <a:t>规划“路线图”</a:t>
                      </a:r>
                      <a:br>
                        <a:rPr lang="zh-CN" altLang="en-US" sz="1100">
                          <a:solidFill>
                            <a:schemeClr val="bg1"/>
                          </a:solidFill>
                          <a:effectLst/>
                          <a:latin typeface="+mj-ea"/>
                          <a:ea typeface="+mj-ea"/>
                        </a:rPr>
                      </a:br>
                      <a:r>
                        <a:rPr lang="zh-CN" altLang="en-US" sz="1100">
                          <a:solidFill>
                            <a:schemeClr val="bg1"/>
                          </a:solidFill>
                          <a:effectLst/>
                          <a:latin typeface="+mj-ea"/>
                          <a:ea typeface="+mj-ea"/>
                        </a:rPr>
                        <a:t>基于现状与目标的差距，制定务实、分阶段的实施计划。</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332" rtl="0" eaLnBrk="1" fontAlgn="t" latinLnBrk="0" hangingPunct="1">
                        <a:lnSpc>
                          <a:spcPct val="100000"/>
                        </a:lnSpc>
                        <a:spcBef>
                          <a:spcPts val="0"/>
                        </a:spcBef>
                        <a:spcAft>
                          <a:spcPts val="0"/>
                        </a:spcAft>
                        <a:buClrTx/>
                        <a:buSzTx/>
                        <a:buFontTx/>
                        <a:buNone/>
                        <a:tabLst/>
                        <a:defRPr/>
                      </a:pPr>
                      <a:r>
                        <a:rPr lang="en-US" altLang="zh-CN" sz="1100" dirty="0">
                          <a:solidFill>
                            <a:schemeClr val="bg1"/>
                          </a:solidFill>
                          <a:effectLst/>
                          <a:latin typeface="+mj-ea"/>
                          <a:ea typeface="+mj-ea"/>
                        </a:rPr>
                        <a:t>• </a:t>
                      </a:r>
                      <a:r>
                        <a:rPr lang="zh-CN" altLang="en-US" sz="1100" b="1" dirty="0">
                          <a:solidFill>
                            <a:schemeClr val="bg1"/>
                          </a:solidFill>
                          <a:effectLst/>
                          <a:latin typeface="+mj-ea"/>
                          <a:ea typeface="+mj-ea"/>
                        </a:rPr>
                        <a:t>差距分析与成熟度评估</a:t>
                      </a:r>
                      <a:r>
                        <a:rPr lang="zh-CN" altLang="en-US" sz="1100" dirty="0">
                          <a:solidFill>
                            <a:schemeClr val="bg1"/>
                          </a:solidFill>
                          <a:effectLst/>
                          <a:latin typeface="+mj-ea"/>
                          <a:ea typeface="+mj-ea"/>
                        </a:rPr>
                        <a:t>：评估当前能力（</a:t>
                      </a:r>
                      <a:r>
                        <a:rPr lang="en-US" altLang="zh-CN" sz="1100" dirty="0">
                          <a:solidFill>
                            <a:schemeClr val="bg1"/>
                          </a:solidFill>
                          <a:effectLst/>
                          <a:latin typeface="+mj-ea"/>
                          <a:ea typeface="+mj-ea"/>
                        </a:rPr>
                        <a:t>As-Is</a:t>
                      </a:r>
                      <a:r>
                        <a:rPr lang="zh-CN" altLang="en-US" sz="1100" dirty="0">
                          <a:solidFill>
                            <a:schemeClr val="bg1"/>
                          </a:solidFill>
                          <a:effectLst/>
                          <a:latin typeface="+mj-ea"/>
                          <a:ea typeface="+mj-ea"/>
                        </a:rPr>
                        <a:t>）与未来蓝图（</a:t>
                      </a:r>
                      <a:r>
                        <a:rPr lang="en-US" altLang="zh-CN" sz="1100" dirty="0">
                          <a:solidFill>
                            <a:schemeClr val="bg1"/>
                          </a:solidFill>
                          <a:effectLst/>
                          <a:latin typeface="+mj-ea"/>
                          <a:ea typeface="+mj-ea"/>
                        </a:rPr>
                        <a:t>To-Be</a:t>
                      </a:r>
                      <a:r>
                        <a:rPr lang="zh-CN" altLang="en-US" sz="1100" dirty="0">
                          <a:solidFill>
                            <a:schemeClr val="bg1"/>
                          </a:solidFill>
                          <a:effectLst/>
                          <a:latin typeface="+mj-ea"/>
                          <a:ea typeface="+mj-ea"/>
                        </a:rPr>
                        <a:t>）的差距，确定优先级。</a:t>
                      </a:r>
                      <a:br>
                        <a:rPr lang="zh-CN" altLang="en-US" sz="1100" dirty="0">
                          <a:solidFill>
                            <a:schemeClr val="bg1"/>
                          </a:solidFill>
                          <a:effectLst/>
                          <a:latin typeface="+mj-ea"/>
                          <a:ea typeface="+mj-ea"/>
                        </a:rPr>
                      </a:br>
                      <a:r>
                        <a:rPr lang="en-US" altLang="zh-CN" sz="1100" dirty="0">
                          <a:solidFill>
                            <a:schemeClr val="bg1"/>
                          </a:solidFill>
                          <a:effectLst/>
                          <a:latin typeface="+mj-ea"/>
                          <a:ea typeface="+mj-ea"/>
                        </a:rPr>
                        <a:t>• </a:t>
                      </a:r>
                      <a:r>
                        <a:rPr lang="zh-CN" altLang="en-US" sz="1100" b="1" dirty="0">
                          <a:solidFill>
                            <a:schemeClr val="bg1"/>
                          </a:solidFill>
                          <a:effectLst/>
                          <a:latin typeface="+mj-ea"/>
                          <a:ea typeface="+mj-ea"/>
                        </a:rPr>
                        <a:t>路线图制定</a:t>
                      </a:r>
                      <a:r>
                        <a:rPr lang="zh-CN" altLang="en-US" sz="1100" dirty="0">
                          <a:solidFill>
                            <a:schemeClr val="bg1"/>
                          </a:solidFill>
                          <a:effectLst/>
                          <a:latin typeface="+mj-ea"/>
                          <a:ea typeface="+mj-ea"/>
                        </a:rPr>
                        <a:t>：规划分阶段的实施路线图，明确每个阶段的里程碑、投资和预期价值。</a:t>
                      </a:r>
                      <a:r>
                        <a:rPr kumimoji="0" lang="zh-CN" altLang="en-US" sz="1100" b="1" i="0" u="none" strike="noStrike" kern="1200" cap="none" spc="0" normalizeH="0" baseline="0" noProof="0" dirty="0">
                          <a:ln>
                            <a:noFill/>
                          </a:ln>
                          <a:solidFill>
                            <a:schemeClr val="bg1"/>
                          </a:solidFill>
                          <a:effectLst/>
                          <a:uLnTx/>
                          <a:uFillTx/>
                          <a:latin typeface="+mj-ea"/>
                          <a:ea typeface="+mj-ea"/>
                          <a:cs typeface="+mn-cs"/>
                        </a:rPr>
                        <a:t>自然推导出时间序列的组织构架和应用构架。</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t"/>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数字化转型路线图</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，包含详细的项目计划、资源需求和投资回报分析。</a:t>
                      </a:r>
                      <a:r>
                        <a:rPr lang="zh-CN" altLang="en-US" sz="1100" kern="1200" dirty="0">
                          <a:solidFill>
                            <a:schemeClr val="bg1"/>
                          </a:solidFill>
                          <a:effectLst/>
                          <a:latin typeface="+mj-ea"/>
                          <a:ea typeface="+mj-ea"/>
                          <a:cs typeface="+mn-cs"/>
                        </a:rPr>
                        <a:t>组织与流程重构，应用架构调整。总体投入回报分析。</a:t>
                      </a:r>
                      <a:endParaRPr lang="zh-CN" altLang="en-US" sz="1100" dirty="0">
                        <a:solidFill>
                          <a:schemeClr val="bg1"/>
                        </a:solidFill>
                        <a:effectLst/>
                        <a:latin typeface="+mj-ea"/>
                        <a:ea typeface="+mj-ea"/>
                      </a:endParaRP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8630483"/>
                  </a:ext>
                </a:extLst>
              </a:tr>
              <a:tr h="843877">
                <a:tc>
                  <a:txBody>
                    <a:bodyPr/>
                    <a:lstStyle/>
                    <a:p>
                      <a:pPr fontAlgn="t"/>
                      <a:r>
                        <a:rPr lang="en-US" altLang="zh-CN" sz="1100" b="1">
                          <a:solidFill>
                            <a:schemeClr val="tx1"/>
                          </a:solidFill>
                          <a:effectLst/>
                          <a:latin typeface="+mj-ea"/>
                          <a:ea typeface="+mj-ea"/>
                        </a:rPr>
                        <a:t>5. </a:t>
                      </a:r>
                      <a:r>
                        <a:rPr lang="zh-CN" altLang="en-US" sz="1100" b="1">
                          <a:solidFill>
                            <a:schemeClr val="tx1"/>
                          </a:solidFill>
                          <a:effectLst/>
                          <a:latin typeface="+mj-ea"/>
                          <a:ea typeface="+mj-ea"/>
                        </a:rPr>
                        <a:t>敏捷实施与变革</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fontAlgn="t"/>
                      <a:r>
                        <a:rPr lang="zh-CN" altLang="en-US" sz="1100" b="1">
                          <a:solidFill>
                            <a:schemeClr val="bg1"/>
                          </a:solidFill>
                          <a:effectLst/>
                          <a:latin typeface="+mj-ea"/>
                          <a:ea typeface="+mj-ea"/>
                        </a:rPr>
                        <a:t>确保“做成功”</a:t>
                      </a:r>
                      <a:br>
                        <a:rPr lang="zh-CN" altLang="en-US" sz="1100">
                          <a:solidFill>
                            <a:schemeClr val="bg1"/>
                          </a:solidFill>
                          <a:effectLst/>
                          <a:latin typeface="+mj-ea"/>
                          <a:ea typeface="+mj-ea"/>
                        </a:rPr>
                      </a:br>
                      <a:r>
                        <a:rPr lang="zh-CN" altLang="en-US" sz="1100">
                          <a:solidFill>
                            <a:schemeClr val="bg1"/>
                          </a:solidFill>
                          <a:effectLst/>
                          <a:latin typeface="+mj-ea"/>
                          <a:ea typeface="+mj-ea"/>
                        </a:rPr>
                        <a:t>以敏捷方式交付价值，并通过强有力的变革管理克服阻力。</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t"/>
                      <a:r>
                        <a:rPr lang="en-US" altLang="zh-CN" sz="1100">
                          <a:solidFill>
                            <a:schemeClr val="bg1"/>
                          </a:solidFill>
                          <a:effectLst/>
                          <a:latin typeface="+mj-ea"/>
                          <a:ea typeface="+mj-ea"/>
                        </a:rPr>
                        <a:t>• </a:t>
                      </a:r>
                      <a:r>
                        <a:rPr lang="zh-CN" altLang="en-US" sz="1100" b="1">
                          <a:solidFill>
                            <a:schemeClr val="bg1"/>
                          </a:solidFill>
                          <a:effectLst/>
                          <a:latin typeface="+mj-ea"/>
                          <a:ea typeface="+mj-ea"/>
                        </a:rPr>
                        <a:t>敏捷项目实施</a:t>
                      </a:r>
                      <a:r>
                        <a:rPr lang="zh-CN" altLang="en-US" sz="1100">
                          <a:solidFill>
                            <a:schemeClr val="bg1"/>
                          </a:solidFill>
                          <a:effectLst/>
                          <a:latin typeface="+mj-ea"/>
                          <a:ea typeface="+mj-ea"/>
                        </a:rPr>
                        <a:t>：采用“小步快跑”的迭代模式，快速验证假设，持续交付可用的业务价值。</a:t>
                      </a:r>
                      <a:br>
                        <a:rPr lang="zh-CN" altLang="en-US" sz="1100">
                          <a:solidFill>
                            <a:schemeClr val="bg1"/>
                          </a:solidFill>
                          <a:effectLst/>
                          <a:latin typeface="+mj-ea"/>
                          <a:ea typeface="+mj-ea"/>
                        </a:rPr>
                      </a:br>
                      <a:r>
                        <a:rPr lang="en-US" altLang="zh-CN" sz="1100">
                          <a:solidFill>
                            <a:schemeClr val="bg1"/>
                          </a:solidFill>
                          <a:effectLst/>
                          <a:latin typeface="+mj-ea"/>
                          <a:ea typeface="+mj-ea"/>
                        </a:rPr>
                        <a:t>• </a:t>
                      </a:r>
                      <a:r>
                        <a:rPr lang="zh-CN" altLang="en-US" sz="1100" b="1">
                          <a:solidFill>
                            <a:schemeClr val="bg1"/>
                          </a:solidFill>
                          <a:effectLst/>
                          <a:latin typeface="+mj-ea"/>
                          <a:ea typeface="+mj-ea"/>
                        </a:rPr>
                        <a:t>变革领导力</a:t>
                      </a:r>
                      <a:r>
                        <a:rPr lang="zh-CN" altLang="en-US" sz="1100">
                          <a:solidFill>
                            <a:schemeClr val="bg1"/>
                          </a:solidFill>
                          <a:effectLst/>
                          <a:latin typeface="+mj-ea"/>
                          <a:ea typeface="+mj-ea"/>
                        </a:rPr>
                        <a:t>：高层亲自推动，持续沟通愿景，赋能团队，重塑激励机制，管理变革阻力。</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t"/>
                      <a:r>
                        <a:rPr lang="zh-CN" altLang="en-US" sz="1100" dirty="0">
                          <a:solidFill>
                            <a:schemeClr val="bg1"/>
                          </a:solidFill>
                          <a:effectLst/>
                          <a:latin typeface="+mj-ea"/>
                          <a:ea typeface="+mj-ea"/>
                        </a:rPr>
                        <a:t>可用的系统功能模块、逐步提升的业务绩效指标、具备新能力的团队。</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37481310"/>
                  </a:ext>
                </a:extLst>
              </a:tr>
              <a:tr h="979693">
                <a:tc>
                  <a:txBody>
                    <a:bodyPr/>
                    <a:lstStyle/>
                    <a:p>
                      <a:pPr fontAlgn="t"/>
                      <a:r>
                        <a:rPr lang="en-US" altLang="zh-CN" sz="1100" b="1" dirty="0">
                          <a:solidFill>
                            <a:schemeClr val="tx1"/>
                          </a:solidFill>
                          <a:effectLst/>
                          <a:latin typeface="+mj-ea"/>
                          <a:ea typeface="+mj-ea"/>
                        </a:rPr>
                        <a:t>6. </a:t>
                      </a:r>
                      <a:r>
                        <a:rPr lang="zh-CN" altLang="en-US" sz="1100" b="1" dirty="0">
                          <a:solidFill>
                            <a:schemeClr val="tx1"/>
                          </a:solidFill>
                          <a:effectLst/>
                          <a:latin typeface="+mj-ea"/>
                          <a:ea typeface="+mj-ea"/>
                        </a:rPr>
                        <a:t>内化优化能力</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fontAlgn="t"/>
                      <a:r>
                        <a:rPr lang="zh-CN" altLang="en-US" sz="1100" b="1">
                          <a:solidFill>
                            <a:schemeClr val="bg1"/>
                          </a:solidFill>
                          <a:effectLst/>
                          <a:latin typeface="+mj-ea"/>
                          <a:ea typeface="+mj-ea"/>
                        </a:rPr>
                        <a:t>实现“自适应”</a:t>
                      </a:r>
                      <a:br>
                        <a:rPr lang="zh-CN" altLang="en-US" sz="1100">
                          <a:solidFill>
                            <a:schemeClr val="bg1"/>
                          </a:solidFill>
                          <a:effectLst/>
                          <a:latin typeface="+mj-ea"/>
                          <a:ea typeface="+mj-ea"/>
                        </a:rPr>
                      </a:br>
                      <a:r>
                        <a:rPr lang="zh-CN" altLang="en-US" sz="1100">
                          <a:solidFill>
                            <a:schemeClr val="bg1"/>
                          </a:solidFill>
                          <a:effectLst/>
                          <a:latin typeface="+mj-ea"/>
                          <a:ea typeface="+mj-ea"/>
                        </a:rPr>
                        <a:t>将项目成果转化为组织固有的、可持续的自我优化机制。</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t"/>
                      <a:r>
                        <a:rPr lang="en-US" altLang="zh-CN" sz="1100" dirty="0">
                          <a:solidFill>
                            <a:schemeClr val="bg1"/>
                          </a:solidFill>
                          <a:effectLst/>
                          <a:latin typeface="+mj-ea"/>
                          <a:ea typeface="+mj-ea"/>
                        </a:rPr>
                        <a:t>• </a:t>
                      </a:r>
                      <a:r>
                        <a:rPr lang="zh-CN" altLang="en-US" sz="1100" b="1" dirty="0">
                          <a:solidFill>
                            <a:schemeClr val="bg1"/>
                          </a:solidFill>
                          <a:effectLst/>
                          <a:latin typeface="+mj-ea"/>
                          <a:ea typeface="+mj-ea"/>
                        </a:rPr>
                        <a:t>能力转移与知识管理</a:t>
                      </a:r>
                      <a:r>
                        <a:rPr lang="zh-CN" altLang="en-US" sz="1100" dirty="0">
                          <a:solidFill>
                            <a:schemeClr val="bg1"/>
                          </a:solidFill>
                          <a:effectLst/>
                          <a:latin typeface="+mj-ea"/>
                          <a:ea typeface="+mj-ea"/>
                        </a:rPr>
                        <a:t>：将项目知识和最佳实践固化到组织流程、绩效考核和培训体系中。</a:t>
                      </a:r>
                      <a:br>
                        <a:rPr lang="zh-CN" altLang="en-US" sz="1100" dirty="0">
                          <a:solidFill>
                            <a:schemeClr val="bg1"/>
                          </a:solidFill>
                          <a:effectLst/>
                          <a:latin typeface="+mj-ea"/>
                          <a:ea typeface="+mj-ea"/>
                        </a:rPr>
                      </a:br>
                      <a:r>
                        <a:rPr lang="en-US" altLang="zh-CN" sz="1100" dirty="0">
                          <a:solidFill>
                            <a:schemeClr val="bg1"/>
                          </a:solidFill>
                          <a:effectLst/>
                          <a:latin typeface="+mj-ea"/>
                          <a:ea typeface="+mj-ea"/>
                        </a:rPr>
                        <a:t>• </a:t>
                      </a:r>
                      <a:r>
                        <a:rPr lang="zh-CN" altLang="en-US" sz="1100" b="1" dirty="0">
                          <a:solidFill>
                            <a:schemeClr val="bg1"/>
                          </a:solidFill>
                          <a:effectLst/>
                          <a:latin typeface="+mj-ea"/>
                          <a:ea typeface="+mj-ea"/>
                        </a:rPr>
                        <a:t>建立持续优化循环</a:t>
                      </a:r>
                      <a:r>
                        <a:rPr lang="zh-CN" altLang="en-US" sz="1100" dirty="0">
                          <a:solidFill>
                            <a:schemeClr val="bg1"/>
                          </a:solidFill>
                          <a:effectLst/>
                          <a:latin typeface="+mj-ea"/>
                          <a:ea typeface="+mj-ea"/>
                        </a:rPr>
                        <a:t>：利用系统数据建立业务绩效看板，定期复盘，形成“衡量</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分析</a:t>
                      </a:r>
                      <a:r>
                        <a:rPr lang="en-US" altLang="zh-CN" sz="1100" dirty="0">
                          <a:solidFill>
                            <a:schemeClr val="bg1"/>
                          </a:solidFill>
                          <a:effectLst/>
                          <a:latin typeface="+mj-ea"/>
                          <a:ea typeface="+mj-ea"/>
                        </a:rPr>
                        <a:t>-</a:t>
                      </a:r>
                      <a:r>
                        <a:rPr lang="zh-CN" altLang="en-US" sz="1100" dirty="0">
                          <a:solidFill>
                            <a:schemeClr val="bg1"/>
                          </a:solidFill>
                          <a:effectLst/>
                          <a:latin typeface="+mj-ea"/>
                          <a:ea typeface="+mj-ea"/>
                        </a:rPr>
                        <a:t>改进”的闭环文化。</a:t>
                      </a: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t"/>
                      <a:r>
                        <a:rPr lang="zh-CN" altLang="en-US" sz="1100" b="0" i="0" kern="1200" dirty="0">
                          <a:solidFill>
                            <a:schemeClr val="bg1"/>
                          </a:solidFill>
                          <a:effectLst/>
                          <a:latin typeface="+mj-ea"/>
                          <a:ea typeface="+mj-ea"/>
                          <a:cs typeface="+mn-cs"/>
                        </a:rPr>
                        <a:t>一个能够自我诊断、自我优化、持续进化的“活”的企业</a:t>
                      </a:r>
                      <a:endParaRPr lang="zh-CN" altLang="en-US" sz="1100" dirty="0">
                        <a:solidFill>
                          <a:schemeClr val="bg1"/>
                        </a:solidFill>
                        <a:effectLst/>
                        <a:latin typeface="+mj-ea"/>
                        <a:ea typeface="+mj-ea"/>
                      </a:endParaRPr>
                    </a:p>
                  </a:txBody>
                  <a:tcPr marL="19511" marR="19511" marT="16259" marB="16259">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40205919"/>
                  </a:ext>
                </a:extLst>
              </a:tr>
            </a:tbl>
          </a:graphicData>
        </a:graphic>
      </p:graphicFrame>
      <p:cxnSp>
        <p:nvCxnSpPr>
          <p:cNvPr id="12" name="直接箭头连接符 11">
            <a:extLst>
              <a:ext uri="{FF2B5EF4-FFF2-40B4-BE49-F238E27FC236}">
                <a16:creationId xmlns:a16="http://schemas.microsoft.com/office/drawing/2014/main" id="{7FC6588E-6B66-2A1D-C200-04A6B17125BF}"/>
              </a:ext>
            </a:extLst>
          </p:cNvPr>
          <p:cNvCxnSpPr>
            <a:cxnSpLocks/>
            <a:endCxn id="19" idx="0"/>
          </p:cNvCxnSpPr>
          <p:nvPr/>
        </p:nvCxnSpPr>
        <p:spPr>
          <a:xfrm>
            <a:off x="1812118" y="1596770"/>
            <a:ext cx="1165" cy="331820"/>
          </a:xfrm>
          <a:prstGeom prst="straightConnector1">
            <a:avLst/>
          </a:prstGeom>
          <a:ln w="127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0C2A2286-842F-A407-617D-B8652E9F6C73}"/>
              </a:ext>
            </a:extLst>
          </p:cNvPr>
          <p:cNvCxnSpPr>
            <a:cxnSpLocks/>
            <a:stCxn id="19" idx="2"/>
            <a:endCxn id="20" idx="0"/>
          </p:cNvCxnSpPr>
          <p:nvPr/>
        </p:nvCxnSpPr>
        <p:spPr>
          <a:xfrm flipH="1">
            <a:off x="1809137" y="2570007"/>
            <a:ext cx="4146" cy="366700"/>
          </a:xfrm>
          <a:prstGeom prst="straightConnector1">
            <a:avLst/>
          </a:prstGeom>
          <a:ln w="127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直接箭头连接符 14">
            <a:extLst>
              <a:ext uri="{FF2B5EF4-FFF2-40B4-BE49-F238E27FC236}">
                <a16:creationId xmlns:a16="http://schemas.microsoft.com/office/drawing/2014/main" id="{FDA994B2-D29B-408F-DC41-6C7FBDBFD479}"/>
              </a:ext>
            </a:extLst>
          </p:cNvPr>
          <p:cNvCxnSpPr>
            <a:cxnSpLocks/>
          </p:cNvCxnSpPr>
          <p:nvPr/>
        </p:nvCxnSpPr>
        <p:spPr>
          <a:xfrm>
            <a:off x="1807020" y="3578124"/>
            <a:ext cx="370" cy="435302"/>
          </a:xfrm>
          <a:prstGeom prst="straightConnector1">
            <a:avLst/>
          </a:prstGeom>
          <a:ln w="12700">
            <a:solidFill>
              <a:schemeClr val="bg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4544202"/>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4577B7E-6311-9C18-603D-1495B8F9DB16}"/>
              </a:ext>
            </a:extLst>
          </p:cNvPr>
          <p:cNvSpPr>
            <a:spLocks noGrp="1"/>
          </p:cNvSpPr>
          <p:nvPr>
            <p:ph type="title"/>
          </p:nvPr>
        </p:nvSpPr>
        <p:spPr/>
        <p:txBody>
          <a:bodyPr/>
          <a:lstStyle/>
          <a:p>
            <a:r>
              <a:rPr lang="zh-CN" altLang="en-US" dirty="0"/>
              <a:t>看似相同，本质不同的方法论</a:t>
            </a:r>
          </a:p>
        </p:txBody>
      </p:sp>
      <p:graphicFrame>
        <p:nvGraphicFramePr>
          <p:cNvPr id="3" name="表格 2">
            <a:extLst>
              <a:ext uri="{FF2B5EF4-FFF2-40B4-BE49-F238E27FC236}">
                <a16:creationId xmlns:a16="http://schemas.microsoft.com/office/drawing/2014/main" id="{00477BCB-60D3-C5AC-64F8-74EB2CBAAC51}"/>
              </a:ext>
            </a:extLst>
          </p:cNvPr>
          <p:cNvGraphicFramePr>
            <a:graphicFrameLocks noGrp="1"/>
          </p:cNvGraphicFramePr>
          <p:nvPr/>
        </p:nvGraphicFramePr>
        <p:xfrm>
          <a:off x="968188" y="747059"/>
          <a:ext cx="10100237" cy="5415412"/>
        </p:xfrm>
        <a:graphic>
          <a:graphicData uri="http://schemas.openxmlformats.org/drawingml/2006/table">
            <a:tbl>
              <a:tblPr/>
              <a:tblGrid>
                <a:gridCol w="2501348">
                  <a:extLst>
                    <a:ext uri="{9D8B030D-6E8A-4147-A177-3AD203B41FA5}">
                      <a16:colId xmlns:a16="http://schemas.microsoft.com/office/drawing/2014/main" val="813311364"/>
                    </a:ext>
                  </a:extLst>
                </a:gridCol>
                <a:gridCol w="2501348">
                  <a:extLst>
                    <a:ext uri="{9D8B030D-6E8A-4147-A177-3AD203B41FA5}">
                      <a16:colId xmlns:a16="http://schemas.microsoft.com/office/drawing/2014/main" val="2045257028"/>
                    </a:ext>
                  </a:extLst>
                </a:gridCol>
                <a:gridCol w="2501348">
                  <a:extLst>
                    <a:ext uri="{9D8B030D-6E8A-4147-A177-3AD203B41FA5}">
                      <a16:colId xmlns:a16="http://schemas.microsoft.com/office/drawing/2014/main" val="3490957517"/>
                    </a:ext>
                  </a:extLst>
                </a:gridCol>
                <a:gridCol w="2596193">
                  <a:extLst>
                    <a:ext uri="{9D8B030D-6E8A-4147-A177-3AD203B41FA5}">
                      <a16:colId xmlns:a16="http://schemas.microsoft.com/office/drawing/2014/main" val="982782600"/>
                    </a:ext>
                  </a:extLst>
                </a:gridCol>
              </a:tblGrid>
              <a:tr h="480927">
                <a:tc>
                  <a:txBody>
                    <a:bodyPr/>
                    <a:lstStyle/>
                    <a:p>
                      <a:pPr fontAlgn="t"/>
                      <a:r>
                        <a:rPr lang="zh-CN" altLang="en-US" sz="1200" b="1">
                          <a:solidFill>
                            <a:srgbClr val="FFFFFF"/>
                          </a:solidFill>
                          <a:effectLst/>
                          <a:latin typeface="+mj-ea"/>
                          <a:ea typeface="+mj-ea"/>
                        </a:rPr>
                        <a:t>步骤</a:t>
                      </a:r>
                    </a:p>
                  </a:txBody>
                  <a:tcPr marL="39441" marR="39441" marT="32868" marB="32868">
                    <a:lnL w="4763" cap="flat" cmpd="sng" algn="ctr">
                      <a:solidFill>
                        <a:srgbClr val="1C3879"/>
                      </a:solidFill>
                      <a:prstDash val="solid"/>
                      <a:round/>
                      <a:headEnd type="none" w="med" len="med"/>
                      <a:tailEnd type="none" w="med" len="med"/>
                    </a:lnL>
                    <a:lnR w="2381" cap="flat" cmpd="sng" algn="ctr">
                      <a:solidFill>
                        <a:srgbClr val="1C3879"/>
                      </a:solidFill>
                      <a:prstDash val="solid"/>
                      <a:round/>
                      <a:headEnd type="none" w="med" len="med"/>
                      <a:tailEnd type="none" w="med" len="med"/>
                    </a:lnR>
                    <a:lnT w="4763" cap="flat" cmpd="sng" algn="ctr">
                      <a:solidFill>
                        <a:srgbClr val="1C3879"/>
                      </a:solidFill>
                      <a:prstDash val="solid"/>
                      <a:round/>
                      <a:headEnd type="none" w="med" len="med"/>
                      <a:tailEnd type="none" w="med" len="med"/>
                    </a:lnT>
                    <a:lnB w="2381" cap="flat" cmpd="sng" algn="ctr">
                      <a:solidFill>
                        <a:srgbClr val="1C3879"/>
                      </a:solidFill>
                      <a:prstDash val="solid"/>
                      <a:round/>
                      <a:headEnd type="none" w="med" len="med"/>
                      <a:tailEnd type="none" w="med" len="med"/>
                    </a:lnB>
                    <a:solidFill>
                      <a:srgbClr val="1C3879"/>
                    </a:solidFill>
                  </a:tcPr>
                </a:tc>
                <a:tc>
                  <a:txBody>
                    <a:bodyPr/>
                    <a:lstStyle/>
                    <a:p>
                      <a:pPr fontAlgn="t"/>
                      <a:r>
                        <a:rPr lang="zh-CN" altLang="en-US" sz="1200" b="1">
                          <a:solidFill>
                            <a:srgbClr val="FFFFFF"/>
                          </a:solidFill>
                          <a:effectLst/>
                          <a:latin typeface="+mj-ea"/>
                          <a:ea typeface="+mj-ea"/>
                        </a:rPr>
                        <a:t>国际主流方法论（流程驱动）</a:t>
                      </a:r>
                    </a:p>
                  </a:txBody>
                  <a:tcPr marL="39441" marR="39441" marT="32868" marB="32868">
                    <a:lnL w="2381" cap="flat" cmpd="sng" algn="ctr">
                      <a:solidFill>
                        <a:srgbClr val="1C3879"/>
                      </a:solidFill>
                      <a:prstDash val="solid"/>
                      <a:round/>
                      <a:headEnd type="none" w="med" len="med"/>
                      <a:tailEnd type="none" w="med" len="med"/>
                    </a:lnL>
                    <a:lnR w="2381" cap="flat" cmpd="sng" algn="ctr">
                      <a:solidFill>
                        <a:srgbClr val="1C3879"/>
                      </a:solidFill>
                      <a:prstDash val="solid"/>
                      <a:round/>
                      <a:headEnd type="none" w="med" len="med"/>
                      <a:tailEnd type="none" w="med" len="med"/>
                    </a:lnR>
                    <a:lnT w="4763" cap="flat" cmpd="sng" algn="ctr">
                      <a:solidFill>
                        <a:srgbClr val="1C3879"/>
                      </a:solidFill>
                      <a:prstDash val="solid"/>
                      <a:round/>
                      <a:headEnd type="none" w="med" len="med"/>
                      <a:tailEnd type="none" w="med" len="med"/>
                    </a:lnT>
                    <a:lnB w="2381" cap="flat" cmpd="sng" algn="ctr">
                      <a:solidFill>
                        <a:srgbClr val="1C3879"/>
                      </a:solidFill>
                      <a:prstDash val="solid"/>
                      <a:round/>
                      <a:headEnd type="none" w="med" len="med"/>
                      <a:tailEnd type="none" w="med" len="med"/>
                    </a:lnB>
                    <a:solidFill>
                      <a:srgbClr val="1C3879"/>
                    </a:solidFill>
                  </a:tcPr>
                </a:tc>
                <a:tc>
                  <a:txBody>
                    <a:bodyPr/>
                    <a:lstStyle/>
                    <a:p>
                      <a:pPr fontAlgn="t"/>
                      <a:r>
                        <a:rPr lang="zh-CN" altLang="en-US" sz="1200" b="1">
                          <a:solidFill>
                            <a:srgbClr val="FFFFFF"/>
                          </a:solidFill>
                          <a:effectLst/>
                          <a:latin typeface="+mj-ea"/>
                          <a:ea typeface="+mj-ea"/>
                        </a:rPr>
                        <a:t>您的方法论（内核与能力驱动）</a:t>
                      </a:r>
                    </a:p>
                  </a:txBody>
                  <a:tcPr marL="39441" marR="39441" marT="32868" marB="32868">
                    <a:lnL w="2381" cap="flat" cmpd="sng" algn="ctr">
                      <a:solidFill>
                        <a:srgbClr val="1C3879"/>
                      </a:solidFill>
                      <a:prstDash val="solid"/>
                      <a:round/>
                      <a:headEnd type="none" w="med" len="med"/>
                      <a:tailEnd type="none" w="med" len="med"/>
                    </a:lnL>
                    <a:lnR w="2381" cap="flat" cmpd="sng" algn="ctr">
                      <a:solidFill>
                        <a:srgbClr val="1C3879"/>
                      </a:solidFill>
                      <a:prstDash val="solid"/>
                      <a:round/>
                      <a:headEnd type="none" w="med" len="med"/>
                      <a:tailEnd type="none" w="med" len="med"/>
                    </a:lnR>
                    <a:lnT w="4763" cap="flat" cmpd="sng" algn="ctr">
                      <a:solidFill>
                        <a:srgbClr val="1C3879"/>
                      </a:solidFill>
                      <a:prstDash val="solid"/>
                      <a:round/>
                      <a:headEnd type="none" w="med" len="med"/>
                      <a:tailEnd type="none" w="med" len="med"/>
                    </a:lnT>
                    <a:lnB w="2381" cap="flat" cmpd="sng" algn="ctr">
                      <a:solidFill>
                        <a:srgbClr val="1C3879"/>
                      </a:solidFill>
                      <a:prstDash val="solid"/>
                      <a:round/>
                      <a:headEnd type="none" w="med" len="med"/>
                      <a:tailEnd type="none" w="med" len="med"/>
                    </a:lnB>
                    <a:solidFill>
                      <a:srgbClr val="1C3879"/>
                    </a:solidFill>
                  </a:tcPr>
                </a:tc>
                <a:tc>
                  <a:txBody>
                    <a:bodyPr/>
                    <a:lstStyle/>
                    <a:p>
                      <a:pPr fontAlgn="t"/>
                      <a:r>
                        <a:rPr lang="zh-CN" altLang="en-US" sz="1200" b="1">
                          <a:solidFill>
                            <a:srgbClr val="FFFFFF"/>
                          </a:solidFill>
                          <a:effectLst/>
                          <a:latin typeface="+mj-ea"/>
                          <a:ea typeface="+mj-ea"/>
                        </a:rPr>
                        <a:t>最核心的区别</a:t>
                      </a:r>
                    </a:p>
                  </a:txBody>
                  <a:tcPr marL="39441" marR="39441" marT="32868" marB="32868">
                    <a:lnL w="2381" cap="flat" cmpd="sng" algn="ctr">
                      <a:solidFill>
                        <a:srgbClr val="1C3879"/>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1C3879"/>
                      </a:solidFill>
                      <a:prstDash val="solid"/>
                      <a:round/>
                      <a:headEnd type="none" w="med" len="med"/>
                      <a:tailEnd type="none" w="med" len="med"/>
                    </a:lnT>
                    <a:lnB w="2381" cap="flat" cmpd="sng" algn="ctr">
                      <a:solidFill>
                        <a:srgbClr val="1C3879"/>
                      </a:solidFill>
                      <a:prstDash val="solid"/>
                      <a:round/>
                      <a:headEnd type="none" w="med" len="med"/>
                      <a:tailEnd type="none" w="med" len="med"/>
                    </a:lnB>
                    <a:solidFill>
                      <a:srgbClr val="1C3879"/>
                    </a:solidFill>
                  </a:tcPr>
                </a:tc>
                <a:extLst>
                  <a:ext uri="{0D108BD9-81ED-4DB2-BD59-A6C34878D82A}">
                    <a16:rowId xmlns:a16="http://schemas.microsoft.com/office/drawing/2014/main" val="1377136079"/>
                  </a:ext>
                </a:extLst>
              </a:tr>
              <a:tr h="480927">
                <a:tc>
                  <a:txBody>
                    <a:bodyPr/>
                    <a:lstStyle/>
                    <a:p>
                      <a:pPr fontAlgn="t"/>
                      <a:r>
                        <a:rPr lang="en-US" altLang="zh-CN" sz="1200" b="1">
                          <a:solidFill>
                            <a:srgbClr val="000000"/>
                          </a:solidFill>
                          <a:effectLst/>
                          <a:latin typeface="+mj-ea"/>
                          <a:ea typeface="+mj-ea"/>
                        </a:rPr>
                        <a:t>1. </a:t>
                      </a:r>
                      <a:r>
                        <a:rPr lang="zh-CN" altLang="en-US" sz="1200" b="1">
                          <a:solidFill>
                            <a:srgbClr val="000000"/>
                          </a:solidFill>
                          <a:effectLst/>
                          <a:latin typeface="+mj-ea"/>
                          <a:ea typeface="+mj-ea"/>
                        </a:rPr>
                        <a:t>解码战略</a:t>
                      </a:r>
                    </a:p>
                  </a:txBody>
                  <a:tcPr marL="39441" marR="39441" marT="32868" marB="32868">
                    <a:lnL w="4763" cap="flat" cmpd="sng" algn="ctr">
                      <a:solidFill>
                        <a:srgbClr val="C5D5ED"/>
                      </a:solidFill>
                      <a:prstDash val="solid"/>
                      <a:round/>
                      <a:headEnd type="none" w="med" len="med"/>
                      <a:tailEnd type="none" w="med" len="med"/>
                    </a:lnL>
                    <a:lnR w="2381" cap="flat" cmpd="sng" algn="ctr">
                      <a:solidFill>
                        <a:srgbClr val="C5D5ED"/>
                      </a:solidFill>
                      <a:prstDash val="solid"/>
                      <a:round/>
                      <a:headEnd type="none" w="med" len="med"/>
                      <a:tailEnd type="none" w="med" len="med"/>
                    </a:lnR>
                    <a:lnT w="2381" cap="flat" cmpd="sng" algn="ctr">
                      <a:solidFill>
                        <a:srgbClr val="1C3879"/>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rgbClr val="C5D5ED"/>
                    </a:solidFill>
                  </a:tcPr>
                </a:tc>
                <a:tc>
                  <a:txBody>
                    <a:bodyPr/>
                    <a:lstStyle/>
                    <a:p>
                      <a:pPr fontAlgn="t"/>
                      <a:r>
                        <a:rPr lang="zh-CN" altLang="en-US" sz="1200" b="1" dirty="0">
                          <a:solidFill>
                            <a:schemeClr val="tx1"/>
                          </a:solidFill>
                          <a:effectLst/>
                          <a:latin typeface="+mj-ea"/>
                          <a:ea typeface="+mj-ea"/>
                        </a:rPr>
                        <a:t>目标：</a:t>
                      </a:r>
                      <a:r>
                        <a:rPr lang="zh-CN" altLang="en-US" sz="1200" dirty="0">
                          <a:solidFill>
                            <a:schemeClr val="tx1"/>
                          </a:solidFill>
                          <a:effectLst/>
                          <a:latin typeface="+mj-ea"/>
                          <a:ea typeface="+mj-ea"/>
                        </a:rPr>
                        <a:t> 理解“为什么”</a:t>
                      </a:r>
                      <a:br>
                        <a:rPr lang="zh-CN" altLang="en-US" sz="1200" dirty="0">
                          <a:solidFill>
                            <a:schemeClr val="tx1"/>
                          </a:solidFill>
                          <a:effectLst/>
                          <a:latin typeface="+mj-ea"/>
                          <a:ea typeface="+mj-ea"/>
                        </a:rPr>
                      </a:br>
                      <a:r>
                        <a:rPr lang="zh-CN" altLang="en-US" sz="1200" b="1" dirty="0">
                          <a:solidFill>
                            <a:schemeClr val="tx1"/>
                          </a:solidFill>
                          <a:effectLst/>
                          <a:latin typeface="+mj-ea"/>
                          <a:ea typeface="+mj-ea"/>
                        </a:rPr>
                        <a:t>产出：</a:t>
                      </a:r>
                      <a:r>
                        <a:rPr lang="zh-CN" altLang="en-US" sz="1200" dirty="0">
                          <a:solidFill>
                            <a:schemeClr val="tx1"/>
                          </a:solidFill>
                          <a:effectLst/>
                          <a:latin typeface="+mj-ea"/>
                          <a:ea typeface="+mj-ea"/>
                        </a:rPr>
                        <a:t> </a:t>
                      </a:r>
                      <a:r>
                        <a:rPr lang="en-US" altLang="zh-CN" sz="1200" dirty="0">
                          <a:solidFill>
                            <a:schemeClr val="tx1"/>
                          </a:solidFill>
                          <a:effectLst/>
                          <a:latin typeface="+mj-ea"/>
                          <a:ea typeface="+mj-ea"/>
                        </a:rPr>
                        <a:t>《</a:t>
                      </a:r>
                      <a:r>
                        <a:rPr lang="zh-CN" altLang="en-US" sz="1200" dirty="0">
                          <a:solidFill>
                            <a:schemeClr val="tx1"/>
                          </a:solidFill>
                          <a:effectLst/>
                          <a:latin typeface="+mj-ea"/>
                          <a:ea typeface="+mj-ea"/>
                        </a:rPr>
                        <a:t>战略输入文档</a:t>
                      </a:r>
                      <a:r>
                        <a:rPr lang="en-US" altLang="zh-CN" sz="1200" dirty="0">
                          <a:solidFill>
                            <a:schemeClr val="tx1"/>
                          </a:solidFill>
                          <a:effectLst/>
                          <a:latin typeface="+mj-ea"/>
                          <a:ea typeface="+mj-ea"/>
                        </a:rPr>
                        <a:t>》</a:t>
                      </a:r>
                    </a:p>
                  </a:txBody>
                  <a:tcPr marL="39441" marR="39441" marT="32868" marB="32868">
                    <a:lnL w="2381" cap="flat" cmpd="sng" algn="ctr">
                      <a:solidFill>
                        <a:srgbClr val="C5D5ED"/>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1C3879"/>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200" b="1" dirty="0">
                          <a:solidFill>
                            <a:schemeClr val="tx1"/>
                          </a:solidFill>
                          <a:effectLst/>
                          <a:latin typeface="+mj-ea"/>
                          <a:ea typeface="+mj-ea"/>
                        </a:rPr>
                        <a:t>目标：</a:t>
                      </a:r>
                      <a:r>
                        <a:rPr lang="zh-CN" altLang="en-US" sz="1200" dirty="0">
                          <a:solidFill>
                            <a:schemeClr val="tx1"/>
                          </a:solidFill>
                          <a:effectLst/>
                          <a:latin typeface="+mj-ea"/>
                          <a:ea typeface="+mj-ea"/>
                        </a:rPr>
                        <a:t> 理解“为什么”</a:t>
                      </a:r>
                      <a:br>
                        <a:rPr lang="zh-CN" altLang="en-US" sz="1200" dirty="0">
                          <a:solidFill>
                            <a:schemeClr val="tx1"/>
                          </a:solidFill>
                          <a:effectLst/>
                          <a:latin typeface="+mj-ea"/>
                          <a:ea typeface="+mj-ea"/>
                        </a:rPr>
                      </a:br>
                      <a:r>
                        <a:rPr lang="zh-CN" altLang="en-US" sz="1200" b="1" dirty="0">
                          <a:solidFill>
                            <a:schemeClr val="tx1"/>
                          </a:solidFill>
                          <a:effectLst/>
                          <a:latin typeface="+mj-ea"/>
                          <a:ea typeface="+mj-ea"/>
                        </a:rPr>
                        <a:t>产出：</a:t>
                      </a:r>
                      <a:r>
                        <a:rPr lang="zh-CN" altLang="en-US" sz="1200" dirty="0">
                          <a:solidFill>
                            <a:schemeClr val="tx1"/>
                          </a:solidFill>
                          <a:effectLst/>
                          <a:latin typeface="+mj-ea"/>
                          <a:ea typeface="+mj-ea"/>
                        </a:rPr>
                        <a:t> </a:t>
                      </a:r>
                      <a:r>
                        <a:rPr lang="en-US" altLang="zh-CN" sz="1200" dirty="0">
                          <a:solidFill>
                            <a:schemeClr val="tx1"/>
                          </a:solidFill>
                          <a:effectLst/>
                          <a:latin typeface="+mj-ea"/>
                          <a:ea typeface="+mj-ea"/>
                        </a:rPr>
                        <a:t>《</a:t>
                      </a:r>
                      <a:r>
                        <a:rPr lang="zh-CN" altLang="en-US" sz="1200" dirty="0">
                          <a:solidFill>
                            <a:schemeClr val="tx1"/>
                          </a:solidFill>
                          <a:effectLst/>
                          <a:latin typeface="+mj-ea"/>
                          <a:ea typeface="+mj-ea"/>
                        </a:rPr>
                        <a:t>战略输入文档</a:t>
                      </a:r>
                      <a:r>
                        <a:rPr lang="en-US" altLang="zh-CN" sz="1200" dirty="0">
                          <a:solidFill>
                            <a:schemeClr val="tx1"/>
                          </a:solidFill>
                          <a:effectLst/>
                          <a:latin typeface="+mj-ea"/>
                          <a:ea typeface="+mj-ea"/>
                        </a:rPr>
                        <a:t>》</a:t>
                      </a:r>
                    </a:p>
                  </a:txBody>
                  <a:tcPr marL="39441" marR="39441" marT="32868" marB="32868">
                    <a:lnL w="2381" cap="flat" cmpd="sng" algn="ctr">
                      <a:solidFill>
                        <a:srgbClr val="FFFFFF"/>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1C3879"/>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200" b="1">
                          <a:solidFill>
                            <a:schemeClr val="tx1"/>
                          </a:solidFill>
                          <a:effectLst/>
                          <a:latin typeface="+mj-ea"/>
                          <a:ea typeface="+mj-ea"/>
                        </a:rPr>
                        <a:t>基本一致</a:t>
                      </a:r>
                      <a:r>
                        <a:rPr lang="zh-CN" altLang="en-US" sz="1200">
                          <a:solidFill>
                            <a:schemeClr val="tx1"/>
                          </a:solidFill>
                          <a:effectLst/>
                          <a:latin typeface="+mj-ea"/>
                          <a:ea typeface="+mj-ea"/>
                        </a:rPr>
                        <a:t>，都强调战略对齐。</a:t>
                      </a:r>
                    </a:p>
                  </a:txBody>
                  <a:tcPr marL="39441" marR="39441" marT="32868" marB="32868">
                    <a:lnL w="2381"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2381" cap="flat" cmpd="sng" algn="ctr">
                      <a:solidFill>
                        <a:srgbClr val="1C3879"/>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2045681219"/>
                  </a:ext>
                </a:extLst>
              </a:tr>
              <a:tr h="480927">
                <a:tc>
                  <a:txBody>
                    <a:bodyPr/>
                    <a:lstStyle/>
                    <a:p>
                      <a:pPr fontAlgn="t"/>
                      <a:r>
                        <a:rPr lang="en-US" altLang="zh-CN" sz="1200" b="1" dirty="0">
                          <a:solidFill>
                            <a:srgbClr val="000000"/>
                          </a:solidFill>
                          <a:effectLst/>
                          <a:latin typeface="+mj-ea"/>
                          <a:ea typeface="+mj-ea"/>
                        </a:rPr>
                        <a:t>2. </a:t>
                      </a:r>
                      <a:r>
                        <a:rPr lang="zh-CN" altLang="en-US" sz="1200" b="1" dirty="0">
                          <a:solidFill>
                            <a:srgbClr val="000000"/>
                          </a:solidFill>
                          <a:effectLst/>
                          <a:latin typeface="+mj-ea"/>
                          <a:ea typeface="+mj-ea"/>
                        </a:rPr>
                        <a:t>定义职能能力</a:t>
                      </a:r>
                    </a:p>
                  </a:txBody>
                  <a:tcPr marL="39441" marR="39441" marT="32868" marB="32868">
                    <a:lnL w="4763" cap="flat" cmpd="sng" algn="ctr">
                      <a:solidFill>
                        <a:srgbClr val="C5D5ED"/>
                      </a:solidFill>
                      <a:prstDash val="solid"/>
                      <a:round/>
                      <a:headEnd type="none" w="med" len="med"/>
                      <a:tailEnd type="none" w="med" len="med"/>
                    </a:lnL>
                    <a:lnR w="2381" cap="flat" cmpd="sng" algn="ctr">
                      <a:solidFill>
                        <a:srgbClr val="C5D5ED"/>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rgbClr val="C5D5ED"/>
                    </a:solidFill>
                  </a:tcPr>
                </a:tc>
                <a:tc>
                  <a:txBody>
                    <a:bodyPr/>
                    <a:lstStyle/>
                    <a:p>
                      <a:pPr fontAlgn="t"/>
                      <a:r>
                        <a:rPr lang="zh-CN" altLang="en-US" sz="1200" b="1">
                          <a:solidFill>
                            <a:schemeClr val="tx1"/>
                          </a:solidFill>
                          <a:effectLst/>
                          <a:latin typeface="+mj-ea"/>
                          <a:ea typeface="+mj-ea"/>
                        </a:rPr>
                        <a:t>目标：</a:t>
                      </a:r>
                      <a:r>
                        <a:rPr lang="zh-CN" altLang="en-US" sz="1200">
                          <a:solidFill>
                            <a:schemeClr val="tx1"/>
                          </a:solidFill>
                          <a:effectLst/>
                          <a:latin typeface="+mj-ea"/>
                          <a:ea typeface="+mj-ea"/>
                        </a:rPr>
                        <a:t> 明确“做什么”</a:t>
                      </a:r>
                      <a:br>
                        <a:rPr lang="zh-CN" altLang="en-US" sz="1200">
                          <a:solidFill>
                            <a:schemeClr val="tx1"/>
                          </a:solidFill>
                          <a:effectLst/>
                          <a:latin typeface="+mj-ea"/>
                          <a:ea typeface="+mj-ea"/>
                        </a:rPr>
                      </a:br>
                      <a:r>
                        <a:rPr lang="zh-CN" altLang="en-US" sz="1200" b="1">
                          <a:solidFill>
                            <a:schemeClr val="tx1"/>
                          </a:solidFill>
                          <a:effectLst/>
                          <a:latin typeface="+mj-ea"/>
                          <a:ea typeface="+mj-ea"/>
                        </a:rPr>
                        <a:t>产出：</a:t>
                      </a:r>
                      <a:r>
                        <a:rPr lang="zh-CN" altLang="en-US" sz="1200">
                          <a:solidFill>
                            <a:schemeClr val="tx1"/>
                          </a:solidFill>
                          <a:effectLst/>
                          <a:latin typeface="+mj-ea"/>
                          <a:ea typeface="+mj-ea"/>
                        </a:rPr>
                        <a:t> </a:t>
                      </a:r>
                      <a:r>
                        <a:rPr lang="en-US" altLang="zh-CN" sz="1200">
                          <a:solidFill>
                            <a:schemeClr val="tx1"/>
                          </a:solidFill>
                          <a:effectLst/>
                          <a:latin typeface="+mj-ea"/>
                          <a:ea typeface="+mj-ea"/>
                        </a:rPr>
                        <a:t>《</a:t>
                      </a:r>
                      <a:r>
                        <a:rPr lang="zh-CN" altLang="en-US" sz="1200">
                          <a:solidFill>
                            <a:schemeClr val="tx1"/>
                          </a:solidFill>
                          <a:effectLst/>
                          <a:latin typeface="+mj-ea"/>
                          <a:ea typeface="+mj-ea"/>
                        </a:rPr>
                        <a:t>职能能力蓝图</a:t>
                      </a:r>
                      <a:r>
                        <a:rPr lang="en-US" altLang="zh-CN" sz="1200">
                          <a:solidFill>
                            <a:schemeClr val="tx1"/>
                          </a:solidFill>
                          <a:effectLst/>
                          <a:latin typeface="+mj-ea"/>
                          <a:ea typeface="+mj-ea"/>
                        </a:rPr>
                        <a:t>》</a:t>
                      </a:r>
                    </a:p>
                  </a:txBody>
                  <a:tcPr marL="39441" marR="39441" marT="32868" marB="32868">
                    <a:lnL w="2381" cap="flat" cmpd="sng" algn="ctr">
                      <a:solidFill>
                        <a:srgbClr val="C5D5ED"/>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200" b="1" dirty="0">
                          <a:solidFill>
                            <a:schemeClr val="tx1"/>
                          </a:solidFill>
                          <a:effectLst/>
                          <a:latin typeface="+mj-ea"/>
                          <a:ea typeface="+mj-ea"/>
                        </a:rPr>
                        <a:t>目标：</a:t>
                      </a:r>
                      <a:r>
                        <a:rPr lang="zh-CN" altLang="en-US" sz="1200" dirty="0">
                          <a:solidFill>
                            <a:schemeClr val="tx1"/>
                          </a:solidFill>
                          <a:effectLst/>
                          <a:latin typeface="+mj-ea"/>
                          <a:ea typeface="+mj-ea"/>
                        </a:rPr>
                        <a:t> 明确“做什么”</a:t>
                      </a:r>
                      <a:br>
                        <a:rPr lang="zh-CN" altLang="en-US" sz="1200" dirty="0">
                          <a:solidFill>
                            <a:schemeClr val="tx1"/>
                          </a:solidFill>
                          <a:effectLst/>
                          <a:latin typeface="+mj-ea"/>
                          <a:ea typeface="+mj-ea"/>
                        </a:rPr>
                      </a:br>
                      <a:r>
                        <a:rPr lang="zh-CN" altLang="en-US" sz="1200" b="1" dirty="0">
                          <a:solidFill>
                            <a:schemeClr val="tx1"/>
                          </a:solidFill>
                          <a:effectLst/>
                          <a:latin typeface="+mj-ea"/>
                          <a:ea typeface="+mj-ea"/>
                        </a:rPr>
                        <a:t>产出：</a:t>
                      </a:r>
                      <a:r>
                        <a:rPr lang="zh-CN" altLang="en-US" sz="1200" dirty="0">
                          <a:solidFill>
                            <a:schemeClr val="tx1"/>
                          </a:solidFill>
                          <a:effectLst/>
                          <a:latin typeface="+mj-ea"/>
                          <a:ea typeface="+mj-ea"/>
                        </a:rPr>
                        <a:t> </a:t>
                      </a:r>
                      <a:r>
                        <a:rPr lang="en-US" altLang="zh-CN" sz="1200" dirty="0">
                          <a:solidFill>
                            <a:schemeClr val="tx1"/>
                          </a:solidFill>
                          <a:effectLst/>
                          <a:latin typeface="+mj-ea"/>
                          <a:ea typeface="+mj-ea"/>
                        </a:rPr>
                        <a:t>《</a:t>
                      </a:r>
                      <a:r>
                        <a:rPr lang="zh-CN" altLang="en-US" sz="1200" dirty="0">
                          <a:solidFill>
                            <a:schemeClr val="tx1"/>
                          </a:solidFill>
                          <a:effectLst/>
                          <a:latin typeface="+mj-ea"/>
                          <a:ea typeface="+mj-ea"/>
                        </a:rPr>
                        <a:t>职能能力蓝图</a:t>
                      </a:r>
                      <a:r>
                        <a:rPr lang="en-US" altLang="zh-CN" sz="1200" dirty="0">
                          <a:solidFill>
                            <a:schemeClr val="tx1"/>
                          </a:solidFill>
                          <a:effectLst/>
                          <a:latin typeface="+mj-ea"/>
                          <a:ea typeface="+mj-ea"/>
                        </a:rPr>
                        <a:t>》</a:t>
                      </a:r>
                    </a:p>
                  </a:txBody>
                  <a:tcPr marL="39441" marR="39441" marT="32868" marB="32868">
                    <a:lnL w="2381" cap="flat" cmpd="sng" algn="ctr">
                      <a:solidFill>
                        <a:srgbClr val="FFFFFF"/>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200" b="1" dirty="0">
                          <a:solidFill>
                            <a:schemeClr val="tx1"/>
                          </a:solidFill>
                          <a:effectLst/>
                          <a:latin typeface="+mj-ea"/>
                          <a:ea typeface="+mj-ea"/>
                        </a:rPr>
                        <a:t>基本一致</a:t>
                      </a:r>
                      <a:r>
                        <a:rPr lang="zh-CN" altLang="en-US" sz="1200" dirty="0">
                          <a:solidFill>
                            <a:schemeClr val="tx1"/>
                          </a:solidFill>
                          <a:effectLst/>
                          <a:latin typeface="+mj-ea"/>
                          <a:ea typeface="+mj-ea"/>
                        </a:rPr>
                        <a:t>，都进行能力规划。</a:t>
                      </a:r>
                    </a:p>
                  </a:txBody>
                  <a:tcPr marL="39441" marR="39441" marT="32868" marB="32868">
                    <a:lnL w="2381"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3159361304"/>
                  </a:ext>
                </a:extLst>
              </a:tr>
              <a:tr h="1505388">
                <a:tc>
                  <a:txBody>
                    <a:bodyPr/>
                    <a:lstStyle/>
                    <a:p>
                      <a:pPr fontAlgn="t"/>
                      <a:r>
                        <a:rPr lang="en-US" altLang="zh-CN" sz="1200" b="1">
                          <a:solidFill>
                            <a:srgbClr val="000000"/>
                          </a:solidFill>
                          <a:effectLst/>
                          <a:latin typeface="+mj-ea"/>
                          <a:ea typeface="+mj-ea"/>
                        </a:rPr>
                        <a:t>3. </a:t>
                      </a:r>
                      <a:r>
                        <a:rPr lang="zh-CN" altLang="en-US" sz="1200" b="1">
                          <a:solidFill>
                            <a:srgbClr val="000000"/>
                          </a:solidFill>
                          <a:effectLst/>
                          <a:latin typeface="+mj-ea"/>
                          <a:ea typeface="+mj-ea"/>
                        </a:rPr>
                        <a:t>解构最佳实践（根本分水岭）</a:t>
                      </a:r>
                    </a:p>
                  </a:txBody>
                  <a:tcPr marL="39441" marR="39441" marT="32868" marB="32868">
                    <a:lnL w="4763" cap="flat" cmpd="sng" algn="ctr">
                      <a:solidFill>
                        <a:srgbClr val="C5D5ED"/>
                      </a:solidFill>
                      <a:prstDash val="solid"/>
                      <a:round/>
                      <a:headEnd type="none" w="med" len="med"/>
                      <a:tailEnd type="none" w="med" len="med"/>
                    </a:lnL>
                    <a:lnR w="2381" cap="flat" cmpd="sng" algn="ctr">
                      <a:solidFill>
                        <a:srgbClr val="C5D5ED"/>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rgbClr val="C5D5ED"/>
                    </a:solidFill>
                  </a:tcPr>
                </a:tc>
                <a:tc>
                  <a:txBody>
                    <a:bodyPr/>
                    <a:lstStyle/>
                    <a:p>
                      <a:pPr fontAlgn="t"/>
                      <a:r>
                        <a:rPr lang="zh-CN" altLang="en-US" sz="1200" b="1">
                          <a:solidFill>
                            <a:schemeClr val="tx1"/>
                          </a:solidFill>
                          <a:effectLst/>
                          <a:latin typeface="+mj-ea"/>
                          <a:ea typeface="+mj-ea"/>
                        </a:rPr>
                        <a:t>活动：</a:t>
                      </a:r>
                      <a:r>
                        <a:rPr lang="zh-CN" altLang="en-US" sz="1200">
                          <a:solidFill>
                            <a:schemeClr val="tx1"/>
                          </a:solidFill>
                          <a:effectLst/>
                          <a:latin typeface="+mj-ea"/>
                          <a:ea typeface="+mj-ea"/>
                        </a:rPr>
                        <a:t> 设计“业务流程”</a:t>
                      </a:r>
                      <a:br>
                        <a:rPr lang="zh-CN" altLang="en-US" sz="1200">
                          <a:solidFill>
                            <a:schemeClr val="tx1"/>
                          </a:solidFill>
                          <a:effectLst/>
                          <a:latin typeface="+mj-ea"/>
                          <a:ea typeface="+mj-ea"/>
                        </a:rPr>
                      </a:br>
                      <a:r>
                        <a:rPr lang="zh-CN" altLang="en-US" sz="1200" b="1">
                          <a:solidFill>
                            <a:schemeClr val="tx1"/>
                          </a:solidFill>
                          <a:effectLst/>
                          <a:latin typeface="+mj-ea"/>
                          <a:ea typeface="+mj-ea"/>
                        </a:rPr>
                        <a:t>产出：</a:t>
                      </a:r>
                      <a:r>
                        <a:rPr lang="zh-CN" altLang="en-US" sz="1200">
                          <a:solidFill>
                            <a:schemeClr val="tx1"/>
                          </a:solidFill>
                          <a:effectLst/>
                          <a:latin typeface="+mj-ea"/>
                          <a:ea typeface="+mj-ea"/>
                        </a:rPr>
                        <a:t> </a:t>
                      </a:r>
                      <a:r>
                        <a:rPr lang="en-US" altLang="zh-CN" sz="1200">
                          <a:solidFill>
                            <a:schemeClr val="tx1"/>
                          </a:solidFill>
                          <a:effectLst/>
                          <a:latin typeface="+mj-ea"/>
                          <a:ea typeface="+mj-ea"/>
                        </a:rPr>
                        <a:t>《</a:t>
                      </a:r>
                      <a:r>
                        <a:rPr lang="zh-CN" altLang="en-US" sz="1200">
                          <a:solidFill>
                            <a:schemeClr val="tx1"/>
                          </a:solidFill>
                          <a:effectLst/>
                          <a:latin typeface="+mj-ea"/>
                          <a:ea typeface="+mj-ea"/>
                        </a:rPr>
                        <a:t>业务流程蓝图</a:t>
                      </a:r>
                      <a:r>
                        <a:rPr lang="en-US" altLang="zh-CN" sz="1200">
                          <a:solidFill>
                            <a:schemeClr val="tx1"/>
                          </a:solidFill>
                          <a:effectLst/>
                          <a:latin typeface="+mj-ea"/>
                          <a:ea typeface="+mj-ea"/>
                        </a:rPr>
                        <a:t>》</a:t>
                      </a:r>
                      <a:br>
                        <a:rPr lang="en-US" altLang="zh-CN" sz="1200">
                          <a:solidFill>
                            <a:schemeClr val="tx1"/>
                          </a:solidFill>
                          <a:effectLst/>
                          <a:latin typeface="+mj-ea"/>
                          <a:ea typeface="+mj-ea"/>
                        </a:rPr>
                      </a:br>
                      <a:r>
                        <a:rPr lang="zh-CN" altLang="en-US" sz="1200" b="1">
                          <a:solidFill>
                            <a:schemeClr val="tx1"/>
                          </a:solidFill>
                          <a:effectLst/>
                          <a:latin typeface="+mj-ea"/>
                          <a:ea typeface="+mj-ea"/>
                        </a:rPr>
                        <a:t>（焦点：流程步骤）</a:t>
                      </a:r>
                      <a:endParaRPr lang="zh-CN" altLang="en-US" sz="1200">
                        <a:solidFill>
                          <a:schemeClr val="tx1"/>
                        </a:solidFill>
                        <a:effectLst/>
                        <a:latin typeface="+mj-ea"/>
                        <a:ea typeface="+mj-ea"/>
                      </a:endParaRPr>
                    </a:p>
                  </a:txBody>
                  <a:tcPr marL="39441" marR="39441" marT="32868" marB="32868">
                    <a:lnL w="2381" cap="flat" cmpd="sng" algn="ctr">
                      <a:solidFill>
                        <a:srgbClr val="C5D5ED"/>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200" b="1">
                          <a:solidFill>
                            <a:schemeClr val="tx1"/>
                          </a:solidFill>
                          <a:effectLst/>
                          <a:latin typeface="+mj-ea"/>
                          <a:ea typeface="+mj-ea"/>
                        </a:rPr>
                        <a:t>活动：</a:t>
                      </a:r>
                      <a:r>
                        <a:rPr lang="zh-CN" altLang="en-US" sz="1200">
                          <a:solidFill>
                            <a:schemeClr val="tx1"/>
                          </a:solidFill>
                          <a:effectLst/>
                          <a:latin typeface="+mj-ea"/>
                          <a:ea typeface="+mj-ea"/>
                        </a:rPr>
                        <a:t> 解构到“数据模型”与“业务算法”</a:t>
                      </a:r>
                      <a:br>
                        <a:rPr lang="zh-CN" altLang="en-US" sz="1200">
                          <a:solidFill>
                            <a:schemeClr val="tx1"/>
                          </a:solidFill>
                          <a:effectLst/>
                          <a:latin typeface="+mj-ea"/>
                          <a:ea typeface="+mj-ea"/>
                        </a:rPr>
                      </a:br>
                      <a:r>
                        <a:rPr lang="zh-CN" altLang="en-US" sz="1200" b="1">
                          <a:solidFill>
                            <a:schemeClr val="tx1"/>
                          </a:solidFill>
                          <a:effectLst/>
                          <a:latin typeface="+mj-ea"/>
                          <a:ea typeface="+mj-ea"/>
                        </a:rPr>
                        <a:t>产出：</a:t>
                      </a:r>
                      <a:r>
                        <a:rPr lang="zh-CN" altLang="en-US" sz="1200">
                          <a:solidFill>
                            <a:schemeClr val="tx1"/>
                          </a:solidFill>
                          <a:effectLst/>
                          <a:latin typeface="+mj-ea"/>
                          <a:ea typeface="+mj-ea"/>
                        </a:rPr>
                        <a:t> </a:t>
                      </a:r>
                      <a:r>
                        <a:rPr lang="en-US" altLang="zh-CN" sz="1200" b="1">
                          <a:solidFill>
                            <a:schemeClr val="tx1"/>
                          </a:solidFill>
                          <a:effectLst/>
                          <a:latin typeface="+mj-ea"/>
                          <a:ea typeface="+mj-ea"/>
                        </a:rPr>
                        <a:t>《</a:t>
                      </a:r>
                      <a:r>
                        <a:rPr lang="zh-CN" altLang="en-US" sz="1200" b="1">
                          <a:solidFill>
                            <a:schemeClr val="tx1"/>
                          </a:solidFill>
                          <a:effectLst/>
                          <a:latin typeface="+mj-ea"/>
                          <a:ea typeface="+mj-ea"/>
                        </a:rPr>
                        <a:t>数据模型架构图</a:t>
                      </a:r>
                      <a:r>
                        <a:rPr lang="en-US" altLang="zh-CN" sz="1200" b="1">
                          <a:solidFill>
                            <a:schemeClr val="tx1"/>
                          </a:solidFill>
                          <a:effectLst/>
                          <a:latin typeface="+mj-ea"/>
                          <a:ea typeface="+mj-ea"/>
                        </a:rPr>
                        <a:t>》</a:t>
                      </a:r>
                      <a:r>
                        <a:rPr lang="zh-CN" altLang="en-US" sz="1200">
                          <a:solidFill>
                            <a:schemeClr val="tx1"/>
                          </a:solidFill>
                          <a:effectLst/>
                          <a:latin typeface="+mj-ea"/>
                          <a:ea typeface="+mj-ea"/>
                        </a:rPr>
                        <a:t> 与 </a:t>
                      </a:r>
                      <a:r>
                        <a:rPr lang="en-US" altLang="zh-CN" sz="1200" b="1">
                          <a:solidFill>
                            <a:schemeClr val="tx1"/>
                          </a:solidFill>
                          <a:effectLst/>
                          <a:latin typeface="+mj-ea"/>
                          <a:ea typeface="+mj-ea"/>
                        </a:rPr>
                        <a:t>《</a:t>
                      </a:r>
                      <a:r>
                        <a:rPr lang="zh-CN" altLang="en-US" sz="1200" b="1">
                          <a:solidFill>
                            <a:schemeClr val="tx1"/>
                          </a:solidFill>
                          <a:effectLst/>
                          <a:latin typeface="+mj-ea"/>
                          <a:ea typeface="+mj-ea"/>
                        </a:rPr>
                        <a:t>业务算法逻辑库</a:t>
                      </a:r>
                      <a:r>
                        <a:rPr lang="en-US" altLang="zh-CN" sz="1200" b="1">
                          <a:solidFill>
                            <a:schemeClr val="tx1"/>
                          </a:solidFill>
                          <a:effectLst/>
                          <a:latin typeface="+mj-ea"/>
                          <a:ea typeface="+mj-ea"/>
                        </a:rPr>
                        <a:t>》</a:t>
                      </a:r>
                      <a:br>
                        <a:rPr lang="zh-CN" altLang="en-US" sz="1200">
                          <a:solidFill>
                            <a:schemeClr val="tx1"/>
                          </a:solidFill>
                          <a:effectLst/>
                          <a:latin typeface="+mj-ea"/>
                          <a:ea typeface="+mj-ea"/>
                        </a:rPr>
                      </a:br>
                      <a:r>
                        <a:rPr lang="zh-CN" altLang="en-US" sz="1200" b="1">
                          <a:solidFill>
                            <a:schemeClr val="tx1"/>
                          </a:solidFill>
                          <a:effectLst/>
                          <a:latin typeface="+mj-ea"/>
                          <a:ea typeface="+mj-ea"/>
                        </a:rPr>
                        <a:t>（焦点：底层逻辑）</a:t>
                      </a:r>
                      <a:endParaRPr lang="zh-CN" altLang="en-US" sz="1200">
                        <a:solidFill>
                          <a:schemeClr val="tx1"/>
                        </a:solidFill>
                        <a:effectLst/>
                        <a:latin typeface="+mj-ea"/>
                        <a:ea typeface="+mj-ea"/>
                      </a:endParaRPr>
                    </a:p>
                  </a:txBody>
                  <a:tcPr marL="39441" marR="39441" marT="32868" marB="32868">
                    <a:lnL w="2381" cap="flat" cmpd="sng" algn="ctr">
                      <a:solidFill>
                        <a:srgbClr val="FFFFFF"/>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200" b="1" dirty="0">
                          <a:solidFill>
                            <a:schemeClr val="tx1"/>
                          </a:solidFill>
                          <a:effectLst/>
                          <a:latin typeface="+mj-ea"/>
                          <a:ea typeface="+mj-ea"/>
                        </a:rPr>
                        <a:t>本质差异：</a:t>
                      </a:r>
                      <a:r>
                        <a:rPr lang="zh-CN" altLang="en-US" sz="1200" dirty="0">
                          <a:solidFill>
                            <a:schemeClr val="tx1"/>
                          </a:solidFill>
                          <a:effectLst/>
                          <a:latin typeface="+mj-ea"/>
                          <a:ea typeface="+mj-ea"/>
                        </a:rPr>
                        <a:t> 主流交付的是“操作说明书”（流程），您交付的是系统的“基因图纸”（数据与算法）。</a:t>
                      </a:r>
                      <a:r>
                        <a:rPr lang="zh-CN" altLang="en-US" sz="1200" b="1" dirty="0">
                          <a:solidFill>
                            <a:schemeClr val="tx1"/>
                          </a:solidFill>
                          <a:effectLst/>
                          <a:latin typeface="+mj-ea"/>
                          <a:ea typeface="+mj-ea"/>
                        </a:rPr>
                        <a:t>流程本身不是方案，其底层的数据模型和业务算法才是。</a:t>
                      </a:r>
                      <a:endParaRPr lang="zh-CN" altLang="en-US" sz="1200" dirty="0">
                        <a:solidFill>
                          <a:schemeClr val="tx1"/>
                        </a:solidFill>
                        <a:effectLst/>
                        <a:latin typeface="+mj-ea"/>
                        <a:ea typeface="+mj-ea"/>
                      </a:endParaRPr>
                    </a:p>
                  </a:txBody>
                  <a:tcPr marL="39441" marR="39441" marT="32868" marB="32868">
                    <a:lnL w="2381"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1565141268"/>
                  </a:ext>
                </a:extLst>
              </a:tr>
              <a:tr h="890712">
                <a:tc>
                  <a:txBody>
                    <a:bodyPr/>
                    <a:lstStyle/>
                    <a:p>
                      <a:pPr fontAlgn="t"/>
                      <a:r>
                        <a:rPr lang="en-US" altLang="zh-CN" sz="1200" b="1">
                          <a:solidFill>
                            <a:srgbClr val="000000"/>
                          </a:solidFill>
                          <a:effectLst/>
                          <a:latin typeface="+mj-ea"/>
                          <a:ea typeface="+mj-ea"/>
                        </a:rPr>
                        <a:t>4. </a:t>
                      </a:r>
                      <a:r>
                        <a:rPr lang="zh-CN" altLang="en-US" sz="1200" b="1">
                          <a:solidFill>
                            <a:srgbClr val="000000"/>
                          </a:solidFill>
                          <a:effectLst/>
                          <a:latin typeface="+mj-ea"/>
                          <a:ea typeface="+mj-ea"/>
                        </a:rPr>
                        <a:t>规划转型路径</a:t>
                      </a:r>
                    </a:p>
                  </a:txBody>
                  <a:tcPr marL="39441" marR="39441" marT="32868" marB="32868">
                    <a:lnL w="4763" cap="flat" cmpd="sng" algn="ctr">
                      <a:solidFill>
                        <a:srgbClr val="C5D5ED"/>
                      </a:solidFill>
                      <a:prstDash val="solid"/>
                      <a:round/>
                      <a:headEnd type="none" w="med" len="med"/>
                      <a:tailEnd type="none" w="med" len="med"/>
                    </a:lnL>
                    <a:lnR w="2381" cap="flat" cmpd="sng" algn="ctr">
                      <a:solidFill>
                        <a:srgbClr val="C5D5ED"/>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rgbClr val="C5D5ED"/>
                    </a:solidFill>
                  </a:tcPr>
                </a:tc>
                <a:tc>
                  <a:txBody>
                    <a:bodyPr/>
                    <a:lstStyle/>
                    <a:p>
                      <a:pPr fontAlgn="t"/>
                      <a:r>
                        <a:rPr lang="zh-CN" altLang="en-US" sz="1200" b="1">
                          <a:solidFill>
                            <a:schemeClr val="tx1"/>
                          </a:solidFill>
                          <a:effectLst/>
                          <a:latin typeface="+mj-ea"/>
                          <a:ea typeface="+mj-ea"/>
                        </a:rPr>
                        <a:t>基础：</a:t>
                      </a:r>
                      <a:r>
                        <a:rPr lang="zh-CN" altLang="en-US" sz="1200">
                          <a:solidFill>
                            <a:schemeClr val="tx1"/>
                          </a:solidFill>
                          <a:effectLst/>
                          <a:latin typeface="+mj-ea"/>
                          <a:ea typeface="+mj-ea"/>
                        </a:rPr>
                        <a:t> 基于能力差距</a:t>
                      </a:r>
                      <a:br>
                        <a:rPr lang="zh-CN" altLang="en-US" sz="1200">
                          <a:solidFill>
                            <a:schemeClr val="tx1"/>
                          </a:solidFill>
                          <a:effectLst/>
                          <a:latin typeface="+mj-ea"/>
                          <a:ea typeface="+mj-ea"/>
                        </a:rPr>
                      </a:br>
                      <a:r>
                        <a:rPr lang="zh-CN" altLang="en-US" sz="1200" b="1">
                          <a:solidFill>
                            <a:schemeClr val="tx1"/>
                          </a:solidFill>
                          <a:effectLst/>
                          <a:latin typeface="+mj-ea"/>
                          <a:ea typeface="+mj-ea"/>
                        </a:rPr>
                        <a:t>产出：</a:t>
                      </a:r>
                      <a:r>
                        <a:rPr lang="zh-CN" altLang="en-US" sz="1200">
                          <a:solidFill>
                            <a:schemeClr val="tx1"/>
                          </a:solidFill>
                          <a:effectLst/>
                          <a:latin typeface="+mj-ea"/>
                          <a:ea typeface="+mj-ea"/>
                        </a:rPr>
                        <a:t> </a:t>
                      </a:r>
                      <a:r>
                        <a:rPr lang="en-US" altLang="zh-CN" sz="1200">
                          <a:solidFill>
                            <a:schemeClr val="tx1"/>
                          </a:solidFill>
                          <a:effectLst/>
                          <a:latin typeface="+mj-ea"/>
                          <a:ea typeface="+mj-ea"/>
                        </a:rPr>
                        <a:t>《</a:t>
                      </a:r>
                      <a:r>
                        <a:rPr lang="zh-CN" altLang="en-US" sz="1200">
                          <a:solidFill>
                            <a:schemeClr val="tx1"/>
                          </a:solidFill>
                          <a:effectLst/>
                          <a:latin typeface="+mj-ea"/>
                          <a:ea typeface="+mj-ea"/>
                        </a:rPr>
                        <a:t>转型路线图</a:t>
                      </a:r>
                      <a:r>
                        <a:rPr lang="en-US" altLang="zh-CN" sz="1200">
                          <a:solidFill>
                            <a:schemeClr val="tx1"/>
                          </a:solidFill>
                          <a:effectLst/>
                          <a:latin typeface="+mj-ea"/>
                          <a:ea typeface="+mj-ea"/>
                        </a:rPr>
                        <a:t>》</a:t>
                      </a:r>
                    </a:p>
                  </a:txBody>
                  <a:tcPr marL="39441" marR="39441" marT="32868" marB="32868">
                    <a:lnL w="2381" cap="flat" cmpd="sng" algn="ctr">
                      <a:solidFill>
                        <a:srgbClr val="C5D5ED"/>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200" b="1">
                          <a:solidFill>
                            <a:schemeClr val="tx1"/>
                          </a:solidFill>
                          <a:effectLst/>
                          <a:latin typeface="+mj-ea"/>
                          <a:ea typeface="+mj-ea"/>
                        </a:rPr>
                        <a:t>基础：</a:t>
                      </a:r>
                      <a:r>
                        <a:rPr lang="zh-CN" altLang="en-US" sz="1200">
                          <a:solidFill>
                            <a:schemeClr val="tx1"/>
                          </a:solidFill>
                          <a:effectLst/>
                          <a:latin typeface="+mj-ea"/>
                          <a:ea typeface="+mj-ea"/>
                        </a:rPr>
                        <a:t> 基于</a:t>
                      </a:r>
                      <a:r>
                        <a:rPr lang="zh-CN" altLang="en-US" sz="1200" b="1">
                          <a:solidFill>
                            <a:schemeClr val="tx1"/>
                          </a:solidFill>
                          <a:effectLst/>
                          <a:latin typeface="+mj-ea"/>
                          <a:ea typeface="+mj-ea"/>
                        </a:rPr>
                        <a:t>数据模型</a:t>
                      </a:r>
                      <a:r>
                        <a:rPr lang="en-US" altLang="zh-CN" sz="1200" b="1">
                          <a:solidFill>
                            <a:schemeClr val="tx1"/>
                          </a:solidFill>
                          <a:effectLst/>
                          <a:latin typeface="+mj-ea"/>
                          <a:ea typeface="+mj-ea"/>
                        </a:rPr>
                        <a:t>/</a:t>
                      </a:r>
                      <a:r>
                        <a:rPr lang="zh-CN" altLang="en-US" sz="1200" b="1">
                          <a:solidFill>
                            <a:schemeClr val="tx1"/>
                          </a:solidFill>
                          <a:effectLst/>
                          <a:latin typeface="+mj-ea"/>
                          <a:ea typeface="+mj-ea"/>
                        </a:rPr>
                        <a:t>算法的实现复杂度</a:t>
                      </a:r>
                      <a:r>
                        <a:rPr lang="zh-CN" altLang="en-US" sz="1200">
                          <a:solidFill>
                            <a:schemeClr val="tx1"/>
                          </a:solidFill>
                          <a:effectLst/>
                          <a:latin typeface="+mj-ea"/>
                          <a:ea typeface="+mj-ea"/>
                        </a:rPr>
                        <a:t>与能力差距</a:t>
                      </a:r>
                      <a:br>
                        <a:rPr lang="zh-CN" altLang="en-US" sz="1200">
                          <a:solidFill>
                            <a:schemeClr val="tx1"/>
                          </a:solidFill>
                          <a:effectLst/>
                          <a:latin typeface="+mj-ea"/>
                          <a:ea typeface="+mj-ea"/>
                        </a:rPr>
                      </a:br>
                      <a:r>
                        <a:rPr lang="zh-CN" altLang="en-US" sz="1200" b="1">
                          <a:solidFill>
                            <a:schemeClr val="tx1"/>
                          </a:solidFill>
                          <a:effectLst/>
                          <a:latin typeface="+mj-ea"/>
                          <a:ea typeface="+mj-ea"/>
                        </a:rPr>
                        <a:t>产出：</a:t>
                      </a:r>
                      <a:r>
                        <a:rPr lang="zh-CN" altLang="en-US" sz="1200">
                          <a:solidFill>
                            <a:schemeClr val="tx1"/>
                          </a:solidFill>
                          <a:effectLst/>
                          <a:latin typeface="+mj-ea"/>
                          <a:ea typeface="+mj-ea"/>
                        </a:rPr>
                        <a:t> </a:t>
                      </a:r>
                      <a:r>
                        <a:rPr lang="en-US" altLang="zh-CN" sz="1200">
                          <a:solidFill>
                            <a:schemeClr val="tx1"/>
                          </a:solidFill>
                          <a:effectLst/>
                          <a:latin typeface="+mj-ea"/>
                          <a:ea typeface="+mj-ea"/>
                        </a:rPr>
                        <a:t>《</a:t>
                      </a:r>
                      <a:r>
                        <a:rPr lang="zh-CN" altLang="en-US" sz="1200">
                          <a:solidFill>
                            <a:schemeClr val="tx1"/>
                          </a:solidFill>
                          <a:effectLst/>
                          <a:latin typeface="+mj-ea"/>
                          <a:ea typeface="+mj-ea"/>
                        </a:rPr>
                        <a:t>转型路线图</a:t>
                      </a:r>
                      <a:r>
                        <a:rPr lang="en-US" altLang="zh-CN" sz="1200">
                          <a:solidFill>
                            <a:schemeClr val="tx1"/>
                          </a:solidFill>
                          <a:effectLst/>
                          <a:latin typeface="+mj-ea"/>
                          <a:ea typeface="+mj-ea"/>
                        </a:rPr>
                        <a:t>》</a:t>
                      </a:r>
                    </a:p>
                  </a:txBody>
                  <a:tcPr marL="39441" marR="39441" marT="32868" marB="32868">
                    <a:lnL w="2381" cap="flat" cmpd="sng" algn="ctr">
                      <a:solidFill>
                        <a:srgbClr val="FFFFFF"/>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200" b="1" dirty="0">
                          <a:solidFill>
                            <a:schemeClr val="tx1"/>
                          </a:solidFill>
                          <a:effectLst/>
                          <a:latin typeface="+mj-ea"/>
                          <a:ea typeface="+mj-ea"/>
                        </a:rPr>
                        <a:t>规划依据不同：</a:t>
                      </a:r>
                      <a:r>
                        <a:rPr lang="zh-CN" altLang="en-US" sz="1200" dirty="0">
                          <a:solidFill>
                            <a:schemeClr val="tx1"/>
                          </a:solidFill>
                          <a:effectLst/>
                          <a:latin typeface="+mj-ea"/>
                          <a:ea typeface="+mj-ea"/>
                        </a:rPr>
                        <a:t> 您的路线图基于更硬核、更精确的技术实现评估。</a:t>
                      </a:r>
                    </a:p>
                  </a:txBody>
                  <a:tcPr marL="39441" marR="39441" marT="32868" marB="32868">
                    <a:lnL w="2381"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4175402024"/>
                  </a:ext>
                </a:extLst>
              </a:tr>
              <a:tr h="685819">
                <a:tc>
                  <a:txBody>
                    <a:bodyPr/>
                    <a:lstStyle/>
                    <a:p>
                      <a:pPr fontAlgn="t"/>
                      <a:r>
                        <a:rPr lang="en-US" altLang="zh-CN" sz="1200" b="1">
                          <a:solidFill>
                            <a:srgbClr val="000000"/>
                          </a:solidFill>
                          <a:effectLst/>
                          <a:latin typeface="+mj-ea"/>
                          <a:ea typeface="+mj-ea"/>
                        </a:rPr>
                        <a:t>5. </a:t>
                      </a:r>
                      <a:r>
                        <a:rPr lang="zh-CN" altLang="en-US" sz="1200" b="1">
                          <a:solidFill>
                            <a:srgbClr val="000000"/>
                          </a:solidFill>
                          <a:effectLst/>
                          <a:latin typeface="+mj-ea"/>
                          <a:ea typeface="+mj-ea"/>
                        </a:rPr>
                        <a:t>敏捷实施与变革</a:t>
                      </a:r>
                    </a:p>
                  </a:txBody>
                  <a:tcPr marL="39441" marR="39441" marT="32868" marB="32868">
                    <a:lnL w="4763" cap="flat" cmpd="sng" algn="ctr">
                      <a:solidFill>
                        <a:srgbClr val="C5D5ED"/>
                      </a:solidFill>
                      <a:prstDash val="solid"/>
                      <a:round/>
                      <a:headEnd type="none" w="med" len="med"/>
                      <a:tailEnd type="none" w="med" len="med"/>
                    </a:lnL>
                    <a:lnR w="2381" cap="flat" cmpd="sng" algn="ctr">
                      <a:solidFill>
                        <a:srgbClr val="C5D5ED"/>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solidFill>
                      <a:srgbClr val="C5D5ED"/>
                    </a:solidFill>
                  </a:tcPr>
                </a:tc>
                <a:tc>
                  <a:txBody>
                    <a:bodyPr/>
                    <a:lstStyle/>
                    <a:p>
                      <a:pPr fontAlgn="t"/>
                      <a:r>
                        <a:rPr lang="zh-CN" altLang="en-US" sz="1200" b="1">
                          <a:solidFill>
                            <a:schemeClr val="tx1"/>
                          </a:solidFill>
                          <a:effectLst/>
                          <a:latin typeface="+mj-ea"/>
                          <a:ea typeface="+mj-ea"/>
                        </a:rPr>
                        <a:t>模式：</a:t>
                      </a:r>
                      <a:r>
                        <a:rPr lang="zh-CN" altLang="en-US" sz="1200">
                          <a:solidFill>
                            <a:schemeClr val="tx1"/>
                          </a:solidFill>
                          <a:effectLst/>
                          <a:latin typeface="+mj-ea"/>
                          <a:ea typeface="+mj-ea"/>
                        </a:rPr>
                        <a:t> 敏捷开发，变革管理</a:t>
                      </a:r>
                    </a:p>
                  </a:txBody>
                  <a:tcPr marL="39441" marR="39441" marT="32868" marB="32868">
                    <a:lnL w="2381" cap="flat" cmpd="sng" algn="ctr">
                      <a:solidFill>
                        <a:srgbClr val="C5D5ED"/>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200" b="1">
                          <a:solidFill>
                            <a:schemeClr val="tx1"/>
                          </a:solidFill>
                          <a:effectLst/>
                          <a:latin typeface="+mj-ea"/>
                          <a:ea typeface="+mj-ea"/>
                        </a:rPr>
                        <a:t>模式：</a:t>
                      </a:r>
                      <a:r>
                        <a:rPr lang="zh-CN" altLang="en-US" sz="1200">
                          <a:solidFill>
                            <a:schemeClr val="tx1"/>
                          </a:solidFill>
                          <a:effectLst/>
                          <a:latin typeface="+mj-ea"/>
                          <a:ea typeface="+mj-ea"/>
                        </a:rPr>
                        <a:t> </a:t>
                      </a:r>
                      <a:r>
                        <a:rPr lang="zh-CN" altLang="en-US" sz="1200" b="1">
                          <a:solidFill>
                            <a:schemeClr val="tx1"/>
                          </a:solidFill>
                          <a:effectLst/>
                          <a:latin typeface="+mj-ea"/>
                          <a:ea typeface="+mj-ea"/>
                        </a:rPr>
                        <a:t>“小步快跑”</a:t>
                      </a:r>
                      <a:r>
                        <a:rPr lang="zh-CN" altLang="en-US" sz="1200">
                          <a:solidFill>
                            <a:schemeClr val="tx1"/>
                          </a:solidFill>
                          <a:effectLst/>
                          <a:latin typeface="+mj-ea"/>
                          <a:ea typeface="+mj-ea"/>
                        </a:rPr>
                        <a:t>，用</a:t>
                      </a:r>
                      <a:r>
                        <a:rPr lang="zh-CN" altLang="en-US" sz="1200" b="1">
                          <a:solidFill>
                            <a:schemeClr val="tx1"/>
                          </a:solidFill>
                          <a:effectLst/>
                          <a:latin typeface="+mj-ea"/>
                          <a:ea typeface="+mj-ea"/>
                        </a:rPr>
                        <a:t>可验证的业务指标</a:t>
                      </a:r>
                      <a:r>
                        <a:rPr lang="zh-CN" altLang="en-US" sz="1200">
                          <a:solidFill>
                            <a:schemeClr val="tx1"/>
                          </a:solidFill>
                          <a:effectLst/>
                          <a:latin typeface="+mj-ea"/>
                          <a:ea typeface="+mj-ea"/>
                        </a:rPr>
                        <a:t>驱动，高层强力推动。</a:t>
                      </a:r>
                    </a:p>
                  </a:txBody>
                  <a:tcPr marL="39441" marR="39441" marT="32868" marB="32868">
                    <a:lnL w="2381" cap="flat" cmpd="sng" algn="ctr">
                      <a:solidFill>
                        <a:srgbClr val="FFFFFF"/>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200" b="1" dirty="0">
                          <a:solidFill>
                            <a:schemeClr val="tx1"/>
                          </a:solidFill>
                          <a:effectLst/>
                          <a:latin typeface="+mj-ea"/>
                          <a:ea typeface="+mj-ea"/>
                        </a:rPr>
                        <a:t>实施焦点不同：</a:t>
                      </a:r>
                      <a:r>
                        <a:rPr lang="zh-CN" altLang="en-US" sz="1200" dirty="0">
                          <a:solidFill>
                            <a:schemeClr val="tx1"/>
                          </a:solidFill>
                          <a:effectLst/>
                          <a:latin typeface="+mj-ea"/>
                          <a:ea typeface="+mj-ea"/>
                        </a:rPr>
                        <a:t> 您更强调以可衡量的业务价值成果为导向的迭代。</a:t>
                      </a:r>
                    </a:p>
                  </a:txBody>
                  <a:tcPr marL="39441" marR="39441" marT="32868" marB="32868">
                    <a:lnL w="2381"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2706084383"/>
                  </a:ext>
                </a:extLst>
              </a:tr>
              <a:tr h="890712">
                <a:tc>
                  <a:txBody>
                    <a:bodyPr/>
                    <a:lstStyle/>
                    <a:p>
                      <a:pPr fontAlgn="t"/>
                      <a:r>
                        <a:rPr lang="en-US" altLang="zh-CN" sz="1200" b="1" dirty="0">
                          <a:solidFill>
                            <a:srgbClr val="000000"/>
                          </a:solidFill>
                          <a:effectLst/>
                          <a:latin typeface="+mj-ea"/>
                          <a:ea typeface="+mj-ea"/>
                        </a:rPr>
                        <a:t>6. </a:t>
                      </a:r>
                      <a:r>
                        <a:rPr lang="zh-CN" altLang="en-US" sz="1200" b="1" dirty="0">
                          <a:solidFill>
                            <a:srgbClr val="000000"/>
                          </a:solidFill>
                          <a:effectLst/>
                          <a:latin typeface="+mj-ea"/>
                          <a:ea typeface="+mj-ea"/>
                        </a:rPr>
                        <a:t>内化优化能力</a:t>
                      </a:r>
                    </a:p>
                  </a:txBody>
                  <a:tcPr marL="39441" marR="39441" marT="32868" marB="32868">
                    <a:lnL w="4763" cap="flat" cmpd="sng" algn="ctr">
                      <a:solidFill>
                        <a:srgbClr val="C5D5ED"/>
                      </a:solidFill>
                      <a:prstDash val="solid"/>
                      <a:round/>
                      <a:headEnd type="none" w="med" len="med"/>
                      <a:tailEnd type="none" w="med" len="med"/>
                    </a:lnL>
                    <a:lnR w="2381" cap="flat" cmpd="sng" algn="ctr">
                      <a:solidFill>
                        <a:srgbClr val="C5D5ED"/>
                      </a:solidFill>
                      <a:prstDash val="solid"/>
                      <a:round/>
                      <a:headEnd type="none" w="med" len="med"/>
                      <a:tailEnd type="none" w="med" len="med"/>
                    </a:lnR>
                    <a:lnT w="2381" cap="flat" cmpd="sng" algn="ctr">
                      <a:solidFill>
                        <a:srgbClr val="DDDDDD"/>
                      </a:solidFill>
                      <a:prstDash val="solid"/>
                      <a:round/>
                      <a:headEnd type="none" w="med" len="med"/>
                      <a:tailEnd type="none" w="med" len="med"/>
                    </a:lnT>
                    <a:lnB w="4763" cap="flat" cmpd="sng" algn="ctr">
                      <a:solidFill>
                        <a:srgbClr val="1C3879"/>
                      </a:solidFill>
                      <a:prstDash val="solid"/>
                      <a:round/>
                      <a:headEnd type="none" w="med" len="med"/>
                      <a:tailEnd type="none" w="med" len="med"/>
                    </a:lnB>
                    <a:solidFill>
                      <a:srgbClr val="C5D5ED"/>
                    </a:solidFill>
                  </a:tcPr>
                </a:tc>
                <a:tc>
                  <a:txBody>
                    <a:bodyPr/>
                    <a:lstStyle/>
                    <a:p>
                      <a:pPr fontAlgn="t"/>
                      <a:r>
                        <a:rPr lang="zh-CN" altLang="en-US" sz="1200" b="1">
                          <a:solidFill>
                            <a:schemeClr val="tx1"/>
                          </a:solidFill>
                          <a:effectLst/>
                          <a:latin typeface="+mj-ea"/>
                          <a:ea typeface="+mj-ea"/>
                        </a:rPr>
                        <a:t>目标：</a:t>
                      </a:r>
                      <a:r>
                        <a:rPr lang="zh-CN" altLang="en-US" sz="1200">
                          <a:solidFill>
                            <a:schemeClr val="tx1"/>
                          </a:solidFill>
                          <a:effectLst/>
                          <a:latin typeface="+mj-ea"/>
                          <a:ea typeface="+mj-ea"/>
                        </a:rPr>
                        <a:t> 建立支持体系，持续改进</a:t>
                      </a:r>
                    </a:p>
                  </a:txBody>
                  <a:tcPr marL="39441" marR="39441" marT="32868" marB="32868">
                    <a:lnL w="2381" cap="flat" cmpd="sng" algn="ctr">
                      <a:solidFill>
                        <a:srgbClr val="C5D5ED"/>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4763" cap="flat" cmpd="sng" algn="ctr">
                      <a:solidFill>
                        <a:srgbClr val="1C3879"/>
                      </a:solidFill>
                      <a:prstDash val="solid"/>
                      <a:round/>
                      <a:headEnd type="none" w="med" len="med"/>
                      <a:tailEnd type="none" w="med" len="med"/>
                    </a:lnB>
                    <a:noFill/>
                  </a:tcPr>
                </a:tc>
                <a:tc>
                  <a:txBody>
                    <a:bodyPr/>
                    <a:lstStyle/>
                    <a:p>
                      <a:pPr fontAlgn="t"/>
                      <a:r>
                        <a:rPr lang="zh-CN" altLang="en-US" sz="1200" b="1">
                          <a:solidFill>
                            <a:schemeClr val="tx1"/>
                          </a:solidFill>
                          <a:effectLst/>
                          <a:latin typeface="+mj-ea"/>
                          <a:ea typeface="+mj-ea"/>
                        </a:rPr>
                        <a:t>目标：</a:t>
                      </a:r>
                      <a:r>
                        <a:rPr lang="zh-CN" altLang="en-US" sz="1200">
                          <a:solidFill>
                            <a:schemeClr val="tx1"/>
                          </a:solidFill>
                          <a:effectLst/>
                          <a:latin typeface="+mj-ea"/>
                          <a:ea typeface="+mj-ea"/>
                        </a:rPr>
                        <a:t> 将能力</a:t>
                      </a:r>
                      <a:r>
                        <a:rPr lang="zh-CN" altLang="en-US" sz="1200" b="1">
                          <a:solidFill>
                            <a:schemeClr val="tx1"/>
                          </a:solidFill>
                          <a:effectLst/>
                          <a:latin typeface="+mj-ea"/>
                          <a:ea typeface="+mj-ea"/>
                        </a:rPr>
                        <a:t>固化到组织体系</a:t>
                      </a:r>
                      <a:r>
                        <a:rPr lang="zh-CN" altLang="en-US" sz="1200">
                          <a:solidFill>
                            <a:schemeClr val="tx1"/>
                          </a:solidFill>
                          <a:effectLst/>
                          <a:latin typeface="+mj-ea"/>
                          <a:ea typeface="+mj-ea"/>
                        </a:rPr>
                        <a:t>，建立“衡量</a:t>
                      </a:r>
                      <a:r>
                        <a:rPr lang="en-US" altLang="zh-CN" sz="1200">
                          <a:solidFill>
                            <a:schemeClr val="tx1"/>
                          </a:solidFill>
                          <a:effectLst/>
                          <a:latin typeface="+mj-ea"/>
                          <a:ea typeface="+mj-ea"/>
                        </a:rPr>
                        <a:t>-</a:t>
                      </a:r>
                      <a:r>
                        <a:rPr lang="zh-CN" altLang="en-US" sz="1200">
                          <a:solidFill>
                            <a:schemeClr val="tx1"/>
                          </a:solidFill>
                          <a:effectLst/>
                          <a:latin typeface="+mj-ea"/>
                          <a:ea typeface="+mj-ea"/>
                        </a:rPr>
                        <a:t>分析</a:t>
                      </a:r>
                      <a:r>
                        <a:rPr lang="en-US" altLang="zh-CN" sz="1200">
                          <a:solidFill>
                            <a:schemeClr val="tx1"/>
                          </a:solidFill>
                          <a:effectLst/>
                          <a:latin typeface="+mj-ea"/>
                          <a:ea typeface="+mj-ea"/>
                        </a:rPr>
                        <a:t>-</a:t>
                      </a:r>
                      <a:r>
                        <a:rPr lang="zh-CN" altLang="en-US" sz="1200">
                          <a:solidFill>
                            <a:schemeClr val="tx1"/>
                          </a:solidFill>
                          <a:effectLst/>
                          <a:latin typeface="+mj-ea"/>
                          <a:ea typeface="+mj-ea"/>
                        </a:rPr>
                        <a:t>改进”的</a:t>
                      </a:r>
                      <a:r>
                        <a:rPr lang="zh-CN" altLang="en-US" sz="1200" b="1">
                          <a:solidFill>
                            <a:schemeClr val="tx1"/>
                          </a:solidFill>
                          <a:effectLst/>
                          <a:latin typeface="+mj-ea"/>
                          <a:ea typeface="+mj-ea"/>
                        </a:rPr>
                        <a:t>闭环文化</a:t>
                      </a:r>
                      <a:r>
                        <a:rPr lang="zh-CN" altLang="en-US" sz="1200">
                          <a:solidFill>
                            <a:schemeClr val="tx1"/>
                          </a:solidFill>
                          <a:effectLst/>
                          <a:latin typeface="+mj-ea"/>
                          <a:ea typeface="+mj-ea"/>
                        </a:rPr>
                        <a:t>，打造“活”的生态。</a:t>
                      </a:r>
                    </a:p>
                  </a:txBody>
                  <a:tcPr marL="39441" marR="39441" marT="32868" marB="32868">
                    <a:lnL w="2381" cap="flat" cmpd="sng" algn="ctr">
                      <a:solidFill>
                        <a:srgbClr val="FFFFFF"/>
                      </a:solidFill>
                      <a:prstDash val="solid"/>
                      <a:round/>
                      <a:headEnd type="none" w="med" len="med"/>
                      <a:tailEnd type="none" w="med" len="med"/>
                    </a:lnL>
                    <a:lnR w="2381"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4763" cap="flat" cmpd="sng" algn="ctr">
                      <a:solidFill>
                        <a:srgbClr val="1C3879"/>
                      </a:solidFill>
                      <a:prstDash val="solid"/>
                      <a:round/>
                      <a:headEnd type="none" w="med" len="med"/>
                      <a:tailEnd type="none" w="med" len="med"/>
                    </a:lnB>
                    <a:noFill/>
                  </a:tcPr>
                </a:tc>
                <a:tc>
                  <a:txBody>
                    <a:bodyPr/>
                    <a:lstStyle/>
                    <a:p>
                      <a:pPr fontAlgn="t"/>
                      <a:r>
                        <a:rPr lang="zh-CN" altLang="en-US" sz="1200" b="1" dirty="0">
                          <a:solidFill>
                            <a:schemeClr val="tx1"/>
                          </a:solidFill>
                          <a:effectLst/>
                          <a:latin typeface="+mj-ea"/>
                          <a:ea typeface="+mj-ea"/>
                        </a:rPr>
                        <a:t>最终状态不同：</a:t>
                      </a:r>
                      <a:r>
                        <a:rPr lang="zh-CN" altLang="en-US" sz="1200" dirty="0">
                          <a:solidFill>
                            <a:schemeClr val="tx1"/>
                          </a:solidFill>
                          <a:effectLst/>
                          <a:latin typeface="+mj-ea"/>
                          <a:ea typeface="+mj-ea"/>
                        </a:rPr>
                        <a:t> 您致力于让优化能力成为组织的“生理本能”，实现真正的自适应。</a:t>
                      </a:r>
                    </a:p>
                  </a:txBody>
                  <a:tcPr marL="39441" marR="39441" marT="32868" marB="32868">
                    <a:lnL w="2381" cap="flat" cmpd="sng" algn="ctr">
                      <a:solidFill>
                        <a:srgbClr val="FFFFFF"/>
                      </a:solidFill>
                      <a:prstDash val="solid"/>
                      <a:round/>
                      <a:headEnd type="none" w="med" len="med"/>
                      <a:tailEnd type="none" w="med" len="med"/>
                    </a:lnL>
                    <a:lnR w="4763" cap="flat" cmpd="sng" algn="ctr">
                      <a:solidFill>
                        <a:srgbClr val="FFFFFF"/>
                      </a:solidFill>
                      <a:prstDash val="solid"/>
                      <a:round/>
                      <a:headEnd type="none" w="med" len="med"/>
                      <a:tailEnd type="none" w="med" len="med"/>
                    </a:lnR>
                    <a:lnT w="2381" cap="flat" cmpd="sng" algn="ctr">
                      <a:solidFill>
                        <a:srgbClr val="DDDDDD"/>
                      </a:solidFill>
                      <a:prstDash val="solid"/>
                      <a:round/>
                      <a:headEnd type="none" w="med" len="med"/>
                      <a:tailEnd type="none" w="med" len="med"/>
                    </a:lnT>
                    <a:lnB w="4763" cap="flat" cmpd="sng" algn="ctr">
                      <a:solidFill>
                        <a:srgbClr val="1C3879"/>
                      </a:solidFill>
                      <a:prstDash val="solid"/>
                      <a:round/>
                      <a:headEnd type="none" w="med" len="med"/>
                      <a:tailEnd type="none" w="med" len="med"/>
                    </a:lnB>
                    <a:noFill/>
                  </a:tcPr>
                </a:tc>
                <a:extLst>
                  <a:ext uri="{0D108BD9-81ED-4DB2-BD59-A6C34878D82A}">
                    <a16:rowId xmlns:a16="http://schemas.microsoft.com/office/drawing/2014/main" val="3129976247"/>
                  </a:ext>
                </a:extLst>
              </a:tr>
            </a:tbl>
          </a:graphicData>
        </a:graphic>
      </p:graphicFrame>
    </p:spTree>
    <p:extLst>
      <p:ext uri="{BB962C8B-B14F-4D97-AF65-F5344CB8AC3E}">
        <p14:creationId xmlns:p14="http://schemas.microsoft.com/office/powerpoint/2010/main" val="3312198562"/>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8F0364E-82CC-0A2D-CFC1-B257BD5104A8}"/>
              </a:ext>
            </a:extLst>
          </p:cNvPr>
          <p:cNvSpPr>
            <a:spLocks noGrp="1"/>
          </p:cNvSpPr>
          <p:nvPr>
            <p:ph type="title"/>
          </p:nvPr>
        </p:nvSpPr>
        <p:spPr/>
        <p:txBody>
          <a:bodyPr>
            <a:normAutofit/>
          </a:bodyPr>
          <a:lstStyle/>
          <a:p>
            <a:r>
              <a:rPr lang="zh-CN" altLang="en-US" dirty="0">
                <a:latin typeface="+mj-ea"/>
              </a:rPr>
              <a:t>轮式生产</a:t>
            </a:r>
            <a:r>
              <a:rPr lang="en-US" altLang="zh-CN" dirty="0">
                <a:latin typeface="+mj-ea"/>
              </a:rPr>
              <a:t>(</a:t>
            </a:r>
            <a:r>
              <a:rPr lang="en-US" altLang="zh-CN" dirty="0"/>
              <a:t>Production Wheel</a:t>
            </a:r>
            <a:r>
              <a:rPr lang="zh-CN" altLang="en-US" dirty="0"/>
              <a:t>）</a:t>
            </a:r>
            <a:r>
              <a:rPr lang="en-US" altLang="zh-CN" dirty="0">
                <a:latin typeface="+mj-ea"/>
              </a:rPr>
              <a:t>)</a:t>
            </a:r>
            <a:endParaRPr lang="zh-CN" altLang="en-US" dirty="0">
              <a:latin typeface="+mj-ea"/>
            </a:endParaRPr>
          </a:p>
        </p:txBody>
      </p:sp>
      <p:grpSp>
        <p:nvGrpSpPr>
          <p:cNvPr id="109" name="组合 01">
            <a:extLst>
              <a:ext uri="{FF2B5EF4-FFF2-40B4-BE49-F238E27FC236}">
                <a16:creationId xmlns:a16="http://schemas.microsoft.com/office/drawing/2014/main" id="{3FCA4E50-31E0-C8D2-7BB2-B2A9BC66A9EC}"/>
              </a:ext>
            </a:extLst>
          </p:cNvPr>
          <p:cNvGrpSpPr>
            <a:grpSpLocks noChangeAspect="1"/>
          </p:cNvGrpSpPr>
          <p:nvPr>
            <p:custDataLst>
              <p:tags r:id="rId1"/>
            </p:custDataLst>
          </p:nvPr>
        </p:nvGrpSpPr>
        <p:grpSpPr>
          <a:xfrm>
            <a:off x="868297" y="1290320"/>
            <a:ext cx="11037879" cy="4638040"/>
            <a:chOff x="618976" y="1474727"/>
            <a:chExt cx="11037879" cy="4536836"/>
          </a:xfrm>
        </p:grpSpPr>
        <p:grpSp>
          <p:nvGrpSpPr>
            <p:cNvPr id="110" name="组合 04">
              <a:extLst>
                <a:ext uri="{FF2B5EF4-FFF2-40B4-BE49-F238E27FC236}">
                  <a16:creationId xmlns:a16="http://schemas.microsoft.com/office/drawing/2014/main" id="{840FB169-D424-7F3D-D8BE-06CB85ED92C5}"/>
                </a:ext>
              </a:extLst>
            </p:cNvPr>
            <p:cNvGrpSpPr/>
            <p:nvPr/>
          </p:nvGrpSpPr>
          <p:grpSpPr>
            <a:xfrm>
              <a:off x="6115910" y="1603794"/>
              <a:ext cx="5540945" cy="2811187"/>
              <a:chOff x="6115910" y="1603794"/>
              <a:chExt cx="5540945" cy="2811187"/>
            </a:xfrm>
          </p:grpSpPr>
          <p:sp>
            <p:nvSpPr>
              <p:cNvPr id="135" name="4">
                <a:extLst>
                  <a:ext uri="{FF2B5EF4-FFF2-40B4-BE49-F238E27FC236}">
                    <a16:creationId xmlns:a16="http://schemas.microsoft.com/office/drawing/2014/main" id="{63412729-5F0E-829A-7D8B-403A57F76E2C}"/>
                  </a:ext>
                </a:extLst>
              </p:cNvPr>
              <p:cNvSpPr/>
              <p:nvPr/>
            </p:nvSpPr>
            <p:spPr>
              <a:xfrm flipH="1">
                <a:off x="8547666" y="1603794"/>
                <a:ext cx="3054425" cy="1538634"/>
              </a:xfrm>
              <a:prstGeom prst="rect">
                <a:avLst/>
              </a:prstGeom>
              <a:solidFill>
                <a:schemeClr val="accent1">
                  <a:lumMod val="20000"/>
                  <a:lumOff val="80000"/>
                  <a:alpha val="3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6" name="4">
                <a:extLst>
                  <a:ext uri="{FF2B5EF4-FFF2-40B4-BE49-F238E27FC236}">
                    <a16:creationId xmlns:a16="http://schemas.microsoft.com/office/drawing/2014/main" id="{FA5E7612-049C-36AE-0ACC-365B1903BA78}"/>
                  </a:ext>
                </a:extLst>
              </p:cNvPr>
              <p:cNvSpPr/>
              <p:nvPr/>
            </p:nvSpPr>
            <p:spPr>
              <a:xfrm flipH="1">
                <a:off x="8547667" y="1603794"/>
                <a:ext cx="82532" cy="1107739"/>
              </a:xfrm>
              <a:prstGeom prst="rect">
                <a:avLst/>
              </a:prstGeom>
              <a:gradFill flip="none" rotWithShape="1">
                <a:gsLst>
                  <a:gs pos="18000">
                    <a:schemeClr val="accent1"/>
                  </a:gs>
                  <a:gs pos="100000">
                    <a:schemeClr val="accent2"/>
                  </a:gs>
                </a:gsLst>
                <a:lin ang="16200000" scaled="1"/>
                <a:tileRect/>
              </a:gradFill>
              <a:ln>
                <a:noFill/>
              </a:ln>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p>
                <a:pPr algn="ctr"/>
                <a:endParaRPr lang="zh-CN" altLang="en-US">
                  <a:solidFill>
                    <a:srgbClr val="FFFFFF"/>
                  </a:solidFill>
                  <a:latin typeface="微软雅黑" panose="020B0503020204020204" charset="-122"/>
                  <a:ea typeface="微软雅黑" panose="020B0503020204020204" charset="-122"/>
                  <a:cs typeface="+mn-ea"/>
                </a:endParaRPr>
              </a:p>
            </p:txBody>
          </p:sp>
          <p:sp>
            <p:nvSpPr>
              <p:cNvPr id="137" name="4">
                <a:extLst>
                  <a:ext uri="{FF2B5EF4-FFF2-40B4-BE49-F238E27FC236}">
                    <a16:creationId xmlns:a16="http://schemas.microsoft.com/office/drawing/2014/main" id="{05E95711-1C4E-2BAC-9EBF-55381C194287}"/>
                  </a:ext>
                </a:extLst>
              </p:cNvPr>
              <p:cNvSpPr/>
              <p:nvPr/>
            </p:nvSpPr>
            <p:spPr>
              <a:xfrm rot="10211422">
                <a:off x="6115910" y="2697941"/>
                <a:ext cx="1976120" cy="1717040"/>
              </a:xfrm>
              <a:custGeom>
                <a:avLst/>
                <a:gdLst>
                  <a:gd name="connsiteX0" fmla="*/ 399162 w 2099855"/>
                  <a:gd name="connsiteY0" fmla="*/ 367537 h 1824061"/>
                  <a:gd name="connsiteX1" fmla="*/ 1748017 w 2099855"/>
                  <a:gd name="connsiteY1" fmla="*/ 0 h 1824061"/>
                  <a:gd name="connsiteX2" fmla="*/ 1926741 w 2099855"/>
                  <a:gd name="connsiteY2" fmla="*/ 5214 h 1824061"/>
                  <a:gd name="connsiteX3" fmla="*/ 2099855 w 2099855"/>
                  <a:gd name="connsiteY3" fmla="*/ 20479 h 1824061"/>
                  <a:gd name="connsiteX4" fmla="*/ 2037937 w 2099855"/>
                  <a:gd name="connsiteY4" fmla="*/ 22939 h 1824061"/>
                  <a:gd name="connsiteX5" fmla="*/ 1347109 w 2099855"/>
                  <a:gd name="connsiteY5" fmla="*/ 265482 h 1824061"/>
                  <a:gd name="connsiteX6" fmla="*/ 706400 w 2099855"/>
                  <a:gd name="connsiteY6" fmla="*/ 1781741 h 1824061"/>
                  <a:gd name="connsiteX7" fmla="*/ 716523 w 2099855"/>
                  <a:gd name="connsiteY7" fmla="*/ 1824061 h 1824061"/>
                  <a:gd name="connsiteX8" fmla="*/ 636116 w 2099855"/>
                  <a:gd name="connsiteY8" fmla="*/ 1789320 h 1824061"/>
                  <a:gd name="connsiteX9" fmla="*/ 0 w 2099855"/>
                  <a:gd name="connsiteY9" fmla="*/ 1009975 h 1824061"/>
                  <a:gd name="connsiteX10" fmla="*/ 399162 w 2099855"/>
                  <a:gd name="connsiteY10" fmla="*/ 367537 h 18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855" h="1824061">
                    <a:moveTo>
                      <a:pt x="399162" y="367537"/>
                    </a:moveTo>
                    <a:cubicBezTo>
                      <a:pt x="719774" y="143073"/>
                      <a:pt x="1204978" y="0"/>
                      <a:pt x="1748017" y="0"/>
                    </a:cubicBezTo>
                    <a:cubicBezTo>
                      <a:pt x="1808355" y="-1"/>
                      <a:pt x="1867979" y="1766"/>
                      <a:pt x="1926741" y="5214"/>
                    </a:cubicBezTo>
                    <a:lnTo>
                      <a:pt x="2099855" y="20479"/>
                    </a:lnTo>
                    <a:lnTo>
                      <a:pt x="2037937" y="22939"/>
                    </a:lnTo>
                    <a:cubicBezTo>
                      <a:pt x="1798756" y="44044"/>
                      <a:pt x="1561276" y="123433"/>
                      <a:pt x="1347109" y="265482"/>
                    </a:cubicBezTo>
                    <a:cubicBezTo>
                      <a:pt x="833109" y="606400"/>
                      <a:pt x="599375" y="1211416"/>
                      <a:pt x="706400" y="1781741"/>
                    </a:cubicBezTo>
                    <a:lnTo>
                      <a:pt x="716523" y="1824061"/>
                    </a:lnTo>
                    <a:lnTo>
                      <a:pt x="636116" y="1789320"/>
                    </a:lnTo>
                    <a:cubicBezTo>
                      <a:pt x="247624" y="1604076"/>
                      <a:pt x="0" y="1323734"/>
                      <a:pt x="0" y="1009975"/>
                    </a:cubicBezTo>
                    <a:cubicBezTo>
                      <a:pt x="0" y="765940"/>
                      <a:pt x="149797" y="542120"/>
                      <a:pt x="399162" y="367537"/>
                    </a:cubicBezTo>
                    <a:close/>
                  </a:path>
                </a:pathLst>
              </a:custGeom>
              <a:gradFill flip="none" rotWithShape="1">
                <a:gsLst>
                  <a:gs pos="18000">
                    <a:schemeClr val="accent1"/>
                  </a:gs>
                  <a:gs pos="100000">
                    <a:schemeClr val="accent2"/>
                  </a:gs>
                </a:gsLst>
                <a:lin ang="10800000" scaled="1"/>
                <a:tileRect/>
              </a:gradFill>
              <a:ln>
                <a:noFill/>
              </a:ln>
              <a:effectLst>
                <a:outerShdw blurRad="114300" dist="50800" dir="8100000" algn="tr" rotWithShape="0">
                  <a:schemeClr val="accent3">
                    <a:alpha val="20000"/>
                  </a:schemeClr>
                </a:outerShdw>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defPPr>
                  <a:defRPr lang="zh-CN"/>
                </a:defPPr>
                <a:lvl1pPr marL="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1pPr>
                <a:lvl2pPr marL="457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2pPr>
                <a:lvl3pPr marL="914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3pPr>
                <a:lvl4pPr marL="1371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4pPr>
                <a:lvl5pPr marL="18288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5pPr>
                <a:lvl6pPr marL="22860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6pPr>
                <a:lvl7pPr marL="2743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7pPr>
                <a:lvl8pPr marL="3200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8pPr>
                <a:lvl9pPr marL="3657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9pPr>
              </a:lstStyle>
              <a:p>
                <a:pPr algn="ctr"/>
                <a:endParaRPr lang="zh-CN" altLang="en-US" dirty="0">
                  <a:sym typeface="微软雅黑" panose="020B0503020204020204" charset="-122"/>
                </a:endParaRPr>
              </a:p>
            </p:txBody>
          </p:sp>
          <p:cxnSp>
            <p:nvCxnSpPr>
              <p:cNvPr id="138" name="4">
                <a:extLst>
                  <a:ext uri="{FF2B5EF4-FFF2-40B4-BE49-F238E27FC236}">
                    <a16:creationId xmlns:a16="http://schemas.microsoft.com/office/drawing/2014/main" id="{F5E9DB8E-E9A7-5625-DB15-4CED0C288BC8}"/>
                  </a:ext>
                </a:extLst>
              </p:cNvPr>
              <p:cNvCxnSpPr>
                <a:cxnSpLocks/>
              </p:cNvCxnSpPr>
              <p:nvPr/>
            </p:nvCxnSpPr>
            <p:spPr>
              <a:xfrm>
                <a:off x="7641071" y="2123385"/>
                <a:ext cx="640080" cy="0"/>
              </a:xfrm>
              <a:prstGeom prst="line">
                <a:avLst/>
              </a:prstGeom>
              <a:ln>
                <a:solidFill>
                  <a:schemeClr val="accent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9" name="Body-4">
                <a:extLst>
                  <a:ext uri="{FF2B5EF4-FFF2-40B4-BE49-F238E27FC236}">
                    <a16:creationId xmlns:a16="http://schemas.microsoft.com/office/drawing/2014/main" id="{A557FAC8-B883-A0D5-CAEC-3A6428A7F90C}"/>
                  </a:ext>
                </a:extLst>
              </p:cNvPr>
              <p:cNvSpPr/>
              <p:nvPr>
                <p:custDataLst>
                  <p:tags r:id="rId11"/>
                </p:custDataLst>
              </p:nvPr>
            </p:nvSpPr>
            <p:spPr>
              <a:xfrm flipH="1">
                <a:off x="8777824" y="2000347"/>
                <a:ext cx="2740435" cy="7111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20000"/>
                  </a:lnSpc>
                  <a:spcBef>
                    <a:spcPts val="0"/>
                  </a:spcBef>
                  <a:spcAft>
                    <a:spcPts val="0"/>
                  </a:spcAft>
                  <a:buClrTx/>
                  <a:buSzPct val="100000"/>
                  <a:buFont typeface="Arial" panose="020B0604020202020204" pitchFamily="34" charset="0"/>
                  <a:buChar char="•"/>
                  <a:defRPr/>
                </a:pPr>
                <a:r>
                  <a:rPr kumimoji="0" lang="zh-CN" altLang="en-US" sz="13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通过轮式生产，将不均衡的市场需求“拉平”为稳定、可预测的生产节奏，实现均衡生产。</a:t>
                </a:r>
                <a:endParaRPr lang="en-US" altLang="zh-CN" sz="1300"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140" name="Title-4">
                <a:extLst>
                  <a:ext uri="{FF2B5EF4-FFF2-40B4-BE49-F238E27FC236}">
                    <a16:creationId xmlns:a16="http://schemas.microsoft.com/office/drawing/2014/main" id="{C981601B-A415-BEC0-F3DC-827E11C129CF}"/>
                  </a:ext>
                </a:extLst>
              </p:cNvPr>
              <p:cNvSpPr/>
              <p:nvPr>
                <p:custDataLst>
                  <p:tags r:id="rId12"/>
                </p:custDataLst>
              </p:nvPr>
            </p:nvSpPr>
            <p:spPr>
              <a:xfrm flipH="1">
                <a:off x="8787141" y="1739080"/>
                <a:ext cx="2869714" cy="2382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1" indent="0" defTabSz="914400" rtl="0" eaLnBrk="1" fontAlgn="auto" latinLnBrk="0" hangingPunct="1">
                  <a:lnSpc>
                    <a:spcPct val="100000"/>
                  </a:lnSpc>
                  <a:spcBef>
                    <a:spcPts val="0"/>
                  </a:spcBef>
                  <a:spcAft>
                    <a:spcPts val="0"/>
                  </a:spcAft>
                  <a:buClrTx/>
                  <a:buSzTx/>
                  <a:buFontTx/>
                  <a:buNone/>
                  <a:defRPr/>
                </a:pPr>
                <a:r>
                  <a:rPr kumimoji="0" lang="zh-CN" altLang="en-US" b="1" i="0" u="none" strike="noStrike" kern="1200" cap="none" spc="0" normalizeH="0" baseline="0" noProof="0">
                    <a:ln>
                      <a:noFill/>
                    </a:ln>
                    <a:solidFill>
                      <a:schemeClr val="accent3"/>
                    </a:solidFill>
                    <a:effectLst/>
                    <a:uLnTx/>
                    <a:uFillTx/>
                    <a:latin typeface="微软雅黑" panose="020B0503020204020204" pitchFamily="34" charset="-122"/>
                    <a:ea typeface="微软雅黑" panose="020B0503020204020204" pitchFamily="34" charset="-122"/>
                    <a:sym typeface="Arial" panose="020B0604020202020204" pitchFamily="34" charset="0"/>
                  </a:rPr>
                  <a:t>协同需求与供应：</a:t>
                </a:r>
                <a:endParaRPr kumimoji="0" lang="en-US" altLang="zh-CN" b="1" i="0" u="none" strike="noStrike" kern="1200" cap="none" spc="0" normalizeH="0" baseline="0" noProof="0" dirty="0">
                  <a:ln>
                    <a:noFill/>
                  </a:ln>
                  <a:solidFill>
                    <a:schemeClr val="accent3"/>
                  </a:solidFill>
                  <a:effectLst/>
                  <a:uLnTx/>
                  <a:uFillTx/>
                  <a:latin typeface="微软雅黑" panose="020B0503020204020204" pitchFamily="34" charset="-122"/>
                  <a:ea typeface="微软雅黑" panose="020B0503020204020204" pitchFamily="34" charset="-122"/>
                  <a:sym typeface="Arial" panose="020B0604020202020204" pitchFamily="34" charset="0"/>
                </a:endParaRPr>
              </a:p>
            </p:txBody>
          </p:sp>
          <p:sp>
            <p:nvSpPr>
              <p:cNvPr id="141" name="Index-4">
                <a:extLst>
                  <a:ext uri="{FF2B5EF4-FFF2-40B4-BE49-F238E27FC236}">
                    <a16:creationId xmlns:a16="http://schemas.microsoft.com/office/drawing/2014/main" id="{B759F031-3D5E-938E-963D-69964CF859EF}"/>
                  </a:ext>
                </a:extLst>
              </p:cNvPr>
              <p:cNvSpPr/>
              <p:nvPr>
                <p:custDataLst>
                  <p:tags r:id="rId13"/>
                </p:custDataLst>
              </p:nvPr>
            </p:nvSpPr>
            <p:spPr>
              <a:xfrm>
                <a:off x="7464251" y="2978687"/>
                <a:ext cx="358552" cy="358552"/>
              </a:xfrm>
              <a:prstGeom prst="ellipse">
                <a:avLst/>
              </a:prstGeom>
              <a:solidFill>
                <a:schemeClr val="bg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accent2"/>
                    </a:solidFill>
                  </a:rPr>
                  <a:t>4</a:t>
                </a:r>
                <a:endParaRPr lang="zh-CN" altLang="en-US" sz="2400" b="1" dirty="0">
                  <a:solidFill>
                    <a:schemeClr val="accent2"/>
                  </a:solidFill>
                </a:endParaRPr>
              </a:p>
            </p:txBody>
          </p:sp>
        </p:grpSp>
        <p:grpSp>
          <p:nvGrpSpPr>
            <p:cNvPr id="111" name="组合 03">
              <a:extLst>
                <a:ext uri="{FF2B5EF4-FFF2-40B4-BE49-F238E27FC236}">
                  <a16:creationId xmlns:a16="http://schemas.microsoft.com/office/drawing/2014/main" id="{655C1716-91F3-86CB-1D78-7B924CE47276}"/>
                </a:ext>
              </a:extLst>
            </p:cNvPr>
            <p:cNvGrpSpPr/>
            <p:nvPr/>
          </p:nvGrpSpPr>
          <p:grpSpPr>
            <a:xfrm>
              <a:off x="5135091" y="3406518"/>
              <a:ext cx="6521764" cy="2605045"/>
              <a:chOff x="5135091" y="3406518"/>
              <a:chExt cx="6521764" cy="2605045"/>
            </a:xfrm>
          </p:grpSpPr>
          <p:sp>
            <p:nvSpPr>
              <p:cNvPr id="128" name="3">
                <a:extLst>
                  <a:ext uri="{FF2B5EF4-FFF2-40B4-BE49-F238E27FC236}">
                    <a16:creationId xmlns:a16="http://schemas.microsoft.com/office/drawing/2014/main" id="{07658471-12FC-D67D-0173-9D0524C11A0C}"/>
                  </a:ext>
                </a:extLst>
              </p:cNvPr>
              <p:cNvSpPr/>
              <p:nvPr/>
            </p:nvSpPr>
            <p:spPr>
              <a:xfrm flipH="1">
                <a:off x="8547665" y="4089174"/>
                <a:ext cx="3054425" cy="1922389"/>
              </a:xfrm>
              <a:prstGeom prst="rect">
                <a:avLst/>
              </a:prstGeom>
              <a:solidFill>
                <a:schemeClr val="accent1">
                  <a:lumMod val="20000"/>
                  <a:lumOff val="80000"/>
                  <a:alpha val="3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3">
                <a:extLst>
                  <a:ext uri="{FF2B5EF4-FFF2-40B4-BE49-F238E27FC236}">
                    <a16:creationId xmlns:a16="http://schemas.microsoft.com/office/drawing/2014/main" id="{542833A5-0B70-2FA2-877E-9FC7F95D961B}"/>
                  </a:ext>
                </a:extLst>
              </p:cNvPr>
              <p:cNvSpPr/>
              <p:nvPr/>
            </p:nvSpPr>
            <p:spPr>
              <a:xfrm flipH="1">
                <a:off x="8547667" y="4089174"/>
                <a:ext cx="82532" cy="1107739"/>
              </a:xfrm>
              <a:prstGeom prst="rect">
                <a:avLst/>
              </a:prstGeom>
              <a:gradFill flip="none" rotWithShape="1">
                <a:gsLst>
                  <a:gs pos="18000">
                    <a:schemeClr val="accent2"/>
                  </a:gs>
                  <a:gs pos="100000">
                    <a:schemeClr val="accent3"/>
                  </a:gs>
                </a:gsLst>
                <a:lin ang="16200000" scaled="1"/>
                <a:tileRect/>
              </a:gradFill>
              <a:ln>
                <a:noFill/>
              </a:ln>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p>
                <a:pPr algn="ctr"/>
                <a:endParaRPr lang="zh-CN" altLang="en-US">
                  <a:solidFill>
                    <a:srgbClr val="FFFFFF"/>
                  </a:solidFill>
                  <a:latin typeface="微软雅黑" panose="020B0503020204020204" charset="-122"/>
                  <a:ea typeface="微软雅黑" panose="020B0503020204020204" charset="-122"/>
                  <a:cs typeface="+mn-ea"/>
                </a:endParaRPr>
              </a:p>
            </p:txBody>
          </p:sp>
          <p:cxnSp>
            <p:nvCxnSpPr>
              <p:cNvPr id="130" name="3">
                <a:extLst>
                  <a:ext uri="{FF2B5EF4-FFF2-40B4-BE49-F238E27FC236}">
                    <a16:creationId xmlns:a16="http://schemas.microsoft.com/office/drawing/2014/main" id="{4B79BB36-4751-117D-D510-FF2E69D614D0}"/>
                  </a:ext>
                </a:extLst>
              </p:cNvPr>
              <p:cNvCxnSpPr>
                <a:cxnSpLocks/>
              </p:cNvCxnSpPr>
              <p:nvPr/>
            </p:nvCxnSpPr>
            <p:spPr>
              <a:xfrm>
                <a:off x="7641071" y="4660873"/>
                <a:ext cx="640080" cy="0"/>
              </a:xfrm>
              <a:prstGeom prst="line">
                <a:avLst/>
              </a:prstGeom>
              <a:ln>
                <a:solidFill>
                  <a:schemeClr val="accent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1" name="3">
                <a:extLst>
                  <a:ext uri="{FF2B5EF4-FFF2-40B4-BE49-F238E27FC236}">
                    <a16:creationId xmlns:a16="http://schemas.microsoft.com/office/drawing/2014/main" id="{FBF48064-AFE1-1553-4FB5-9079467C8340}"/>
                  </a:ext>
                </a:extLst>
              </p:cNvPr>
              <p:cNvSpPr/>
              <p:nvPr/>
            </p:nvSpPr>
            <p:spPr>
              <a:xfrm rot="15611422">
                <a:off x="5005233" y="3536376"/>
                <a:ext cx="1976755" cy="1717040"/>
              </a:xfrm>
              <a:custGeom>
                <a:avLst/>
                <a:gdLst>
                  <a:gd name="connsiteX0" fmla="*/ 399162 w 2099855"/>
                  <a:gd name="connsiteY0" fmla="*/ 367537 h 1824061"/>
                  <a:gd name="connsiteX1" fmla="*/ 1748017 w 2099855"/>
                  <a:gd name="connsiteY1" fmla="*/ 0 h 1824061"/>
                  <a:gd name="connsiteX2" fmla="*/ 1926741 w 2099855"/>
                  <a:gd name="connsiteY2" fmla="*/ 5214 h 1824061"/>
                  <a:gd name="connsiteX3" fmla="*/ 2099855 w 2099855"/>
                  <a:gd name="connsiteY3" fmla="*/ 20479 h 1824061"/>
                  <a:gd name="connsiteX4" fmla="*/ 2037937 w 2099855"/>
                  <a:gd name="connsiteY4" fmla="*/ 22939 h 1824061"/>
                  <a:gd name="connsiteX5" fmla="*/ 1347109 w 2099855"/>
                  <a:gd name="connsiteY5" fmla="*/ 265482 h 1824061"/>
                  <a:gd name="connsiteX6" fmla="*/ 706400 w 2099855"/>
                  <a:gd name="connsiteY6" fmla="*/ 1781741 h 1824061"/>
                  <a:gd name="connsiteX7" fmla="*/ 716523 w 2099855"/>
                  <a:gd name="connsiteY7" fmla="*/ 1824061 h 1824061"/>
                  <a:gd name="connsiteX8" fmla="*/ 636116 w 2099855"/>
                  <a:gd name="connsiteY8" fmla="*/ 1789320 h 1824061"/>
                  <a:gd name="connsiteX9" fmla="*/ 0 w 2099855"/>
                  <a:gd name="connsiteY9" fmla="*/ 1009975 h 1824061"/>
                  <a:gd name="connsiteX10" fmla="*/ 399162 w 2099855"/>
                  <a:gd name="connsiteY10" fmla="*/ 367537 h 18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855" h="1824061">
                    <a:moveTo>
                      <a:pt x="399162" y="367537"/>
                    </a:moveTo>
                    <a:cubicBezTo>
                      <a:pt x="719774" y="143073"/>
                      <a:pt x="1204978" y="0"/>
                      <a:pt x="1748017" y="0"/>
                    </a:cubicBezTo>
                    <a:cubicBezTo>
                      <a:pt x="1808355" y="-1"/>
                      <a:pt x="1867979" y="1766"/>
                      <a:pt x="1926741" y="5214"/>
                    </a:cubicBezTo>
                    <a:lnTo>
                      <a:pt x="2099855" y="20479"/>
                    </a:lnTo>
                    <a:lnTo>
                      <a:pt x="2037937" y="22939"/>
                    </a:lnTo>
                    <a:cubicBezTo>
                      <a:pt x="1798756" y="44044"/>
                      <a:pt x="1561276" y="123433"/>
                      <a:pt x="1347109" y="265482"/>
                    </a:cubicBezTo>
                    <a:cubicBezTo>
                      <a:pt x="833109" y="606400"/>
                      <a:pt x="599375" y="1211416"/>
                      <a:pt x="706400" y="1781741"/>
                    </a:cubicBezTo>
                    <a:lnTo>
                      <a:pt x="716523" y="1824061"/>
                    </a:lnTo>
                    <a:lnTo>
                      <a:pt x="636116" y="1789320"/>
                    </a:lnTo>
                    <a:cubicBezTo>
                      <a:pt x="247624" y="1604076"/>
                      <a:pt x="0" y="1323734"/>
                      <a:pt x="0" y="1009975"/>
                    </a:cubicBezTo>
                    <a:cubicBezTo>
                      <a:pt x="0" y="765940"/>
                      <a:pt x="149797" y="542120"/>
                      <a:pt x="399162" y="367537"/>
                    </a:cubicBezTo>
                    <a:close/>
                  </a:path>
                </a:pathLst>
              </a:custGeom>
              <a:gradFill>
                <a:gsLst>
                  <a:gs pos="18000">
                    <a:schemeClr val="accent2"/>
                  </a:gs>
                  <a:gs pos="100000">
                    <a:schemeClr val="accent3"/>
                  </a:gs>
                </a:gsLst>
                <a:lin ang="2700000" scaled="0"/>
              </a:gradFill>
              <a:ln>
                <a:noFill/>
              </a:ln>
              <a:effectLst>
                <a:outerShdw blurRad="114300" dist="50800" dir="8100000" algn="tr" rotWithShape="0">
                  <a:schemeClr val="accent3">
                    <a:alpha val="20000"/>
                  </a:schemeClr>
                </a:outerShdw>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defPPr>
                  <a:defRPr lang="zh-CN"/>
                </a:defPPr>
                <a:lvl1pPr marL="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1pPr>
                <a:lvl2pPr marL="457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2pPr>
                <a:lvl3pPr marL="914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3pPr>
                <a:lvl4pPr marL="1371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4pPr>
                <a:lvl5pPr marL="18288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5pPr>
                <a:lvl6pPr marL="22860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6pPr>
                <a:lvl7pPr marL="2743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7pPr>
                <a:lvl8pPr marL="3200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8pPr>
                <a:lvl9pPr marL="3657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9pPr>
              </a:lstStyle>
              <a:p>
                <a:pPr algn="ctr"/>
                <a:endParaRPr lang="zh-CN" altLang="en-US">
                  <a:sym typeface="微软雅黑" panose="020B0503020204020204" charset="-122"/>
                </a:endParaRPr>
              </a:p>
            </p:txBody>
          </p:sp>
          <p:sp>
            <p:nvSpPr>
              <p:cNvPr id="132" name="Body-3">
                <a:extLst>
                  <a:ext uri="{FF2B5EF4-FFF2-40B4-BE49-F238E27FC236}">
                    <a16:creationId xmlns:a16="http://schemas.microsoft.com/office/drawing/2014/main" id="{39A72509-E4E7-45B6-F2E4-D94672975B16}"/>
                  </a:ext>
                </a:extLst>
              </p:cNvPr>
              <p:cNvSpPr/>
              <p:nvPr>
                <p:custDataLst>
                  <p:tags r:id="rId8"/>
                </p:custDataLst>
              </p:nvPr>
            </p:nvSpPr>
            <p:spPr>
              <a:xfrm flipH="1">
                <a:off x="8777826" y="4485727"/>
                <a:ext cx="2824266" cy="7111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20000"/>
                  </a:lnSpc>
                  <a:spcBef>
                    <a:spcPts val="0"/>
                  </a:spcBef>
                  <a:spcAft>
                    <a:spcPts val="0"/>
                  </a:spcAft>
                  <a:buClrTx/>
                  <a:buSzPct val="100000"/>
                  <a:buFont typeface="Arial" panose="020B0604020202020204" pitchFamily="34" charset="0"/>
                  <a:buChar char="•"/>
                  <a:defRPr/>
                </a:pPr>
                <a:r>
                  <a:rPr kumimoji="0" lang="zh-CN" altLang="en-US" sz="13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明确生产中的瓶颈或关键约束资源，并为其设定消耗规则（如最小</a:t>
                </a:r>
                <a:r>
                  <a:rPr kumimoji="0" lang="en-US" altLang="zh-CN" sz="13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a:t>
                </a:r>
                <a:r>
                  <a:rPr kumimoji="0" lang="zh-CN" altLang="en-US" sz="13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最大使用率）。</a:t>
                </a:r>
              </a:p>
              <a:p>
                <a:pPr marL="285750" marR="0" lvl="0" indent="-285750" defTabSz="913765" rtl="0" eaLnBrk="1" fontAlgn="auto" latinLnBrk="0" hangingPunct="1">
                  <a:lnSpc>
                    <a:spcPct val="120000"/>
                  </a:lnSpc>
                  <a:spcBef>
                    <a:spcPts val="0"/>
                  </a:spcBef>
                  <a:spcAft>
                    <a:spcPts val="0"/>
                  </a:spcAft>
                  <a:buClrTx/>
                  <a:buSzPct val="100000"/>
                  <a:buFont typeface="Arial" panose="020B0604020202020204" pitchFamily="34" charset="0"/>
                  <a:buChar char="•"/>
                  <a:defRPr/>
                </a:pPr>
                <a:r>
                  <a:rPr kumimoji="0" lang="zh-CN" altLang="en-US" sz="13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制定处理剩余产能或未满足需求的规则（如将任务“拉前”生产或“推后”至下个周期）。</a:t>
                </a:r>
                <a:endParaRPr lang="en-US" altLang="zh-CN" sz="1300"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133" name="Title-3">
                <a:extLst>
                  <a:ext uri="{FF2B5EF4-FFF2-40B4-BE49-F238E27FC236}">
                    <a16:creationId xmlns:a16="http://schemas.microsoft.com/office/drawing/2014/main" id="{C05862D7-2844-2DE1-58B0-A65D3E53E2A8}"/>
                  </a:ext>
                </a:extLst>
              </p:cNvPr>
              <p:cNvSpPr/>
              <p:nvPr>
                <p:custDataLst>
                  <p:tags r:id="rId9"/>
                </p:custDataLst>
              </p:nvPr>
            </p:nvSpPr>
            <p:spPr>
              <a:xfrm flipH="1">
                <a:off x="8787141" y="4224460"/>
                <a:ext cx="2869714" cy="2382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1" indent="0" defTabSz="914400" rtl="0" eaLnBrk="1" fontAlgn="auto" latinLnBrk="0" hangingPunct="1">
                  <a:lnSpc>
                    <a:spcPct val="100000"/>
                  </a:lnSpc>
                  <a:spcBef>
                    <a:spcPts val="0"/>
                  </a:spcBef>
                  <a:spcAft>
                    <a:spcPts val="0"/>
                  </a:spcAft>
                  <a:buClrTx/>
                  <a:buSzTx/>
                  <a:buFontTx/>
                  <a:buNone/>
                  <a:defRPr/>
                </a:pPr>
                <a:r>
                  <a:rPr kumimoji="0" lang="zh-CN" altLang="en-US" b="1" i="0" u="none" strike="noStrike" kern="1200" cap="none" spc="0" normalizeH="0" baseline="0" noProof="0">
                    <a:ln>
                      <a:noFill/>
                    </a:ln>
                    <a:solidFill>
                      <a:schemeClr val="accent3"/>
                    </a:solidFill>
                    <a:effectLst/>
                    <a:uLnTx/>
                    <a:uFillTx/>
                    <a:latin typeface="微软雅黑" panose="020B0503020204020204" pitchFamily="34" charset="-122"/>
                    <a:ea typeface="微软雅黑" panose="020B0503020204020204" pitchFamily="34" charset="-122"/>
                    <a:sym typeface="Arial" panose="020B0604020202020204" pitchFamily="34" charset="0"/>
                  </a:rPr>
                  <a:t>管理约束与规则：</a:t>
                </a:r>
                <a:endParaRPr kumimoji="0" lang="en-US" altLang="zh-CN" b="1" i="0" u="none" strike="noStrike" kern="1200" cap="none" spc="0" normalizeH="0" baseline="0" noProof="0" dirty="0">
                  <a:ln>
                    <a:noFill/>
                  </a:ln>
                  <a:solidFill>
                    <a:schemeClr val="accent3"/>
                  </a:solidFill>
                  <a:effectLst/>
                  <a:uLnTx/>
                  <a:uFillTx/>
                  <a:latin typeface="微软雅黑" panose="020B0503020204020204" pitchFamily="34" charset="-122"/>
                  <a:ea typeface="微软雅黑" panose="020B0503020204020204" pitchFamily="34" charset="-122"/>
                  <a:sym typeface="Arial" panose="020B0604020202020204" pitchFamily="34" charset="0"/>
                </a:endParaRPr>
              </a:p>
            </p:txBody>
          </p:sp>
          <p:sp>
            <p:nvSpPr>
              <p:cNvPr id="134" name="Index-3">
                <a:extLst>
                  <a:ext uri="{FF2B5EF4-FFF2-40B4-BE49-F238E27FC236}">
                    <a16:creationId xmlns:a16="http://schemas.microsoft.com/office/drawing/2014/main" id="{BC164D70-49A0-A150-5150-5035F343AF2D}"/>
                  </a:ext>
                </a:extLst>
              </p:cNvPr>
              <p:cNvSpPr/>
              <p:nvPr>
                <p:custDataLst>
                  <p:tags r:id="rId10"/>
                </p:custDataLst>
              </p:nvPr>
            </p:nvSpPr>
            <p:spPr>
              <a:xfrm>
                <a:off x="6160124" y="4801778"/>
                <a:ext cx="358552" cy="354958"/>
              </a:xfrm>
              <a:prstGeom prst="ellipse">
                <a:avLst/>
              </a:prstGeom>
              <a:solidFill>
                <a:schemeClr val="bg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accent3"/>
                    </a:solidFill>
                  </a:rPr>
                  <a:t>3</a:t>
                </a:r>
                <a:endParaRPr lang="zh-CN" altLang="en-US" sz="2400" b="1" dirty="0">
                  <a:solidFill>
                    <a:schemeClr val="accent3"/>
                  </a:solidFill>
                </a:endParaRPr>
              </a:p>
            </p:txBody>
          </p:sp>
        </p:grpSp>
        <p:grpSp>
          <p:nvGrpSpPr>
            <p:cNvPr id="112" name="组合 02">
              <a:extLst>
                <a:ext uri="{FF2B5EF4-FFF2-40B4-BE49-F238E27FC236}">
                  <a16:creationId xmlns:a16="http://schemas.microsoft.com/office/drawing/2014/main" id="{07A7A603-DABA-F356-756F-3816576BECBE}"/>
                </a:ext>
              </a:extLst>
            </p:cNvPr>
            <p:cNvGrpSpPr/>
            <p:nvPr/>
          </p:nvGrpSpPr>
          <p:grpSpPr>
            <a:xfrm>
              <a:off x="618976" y="2446613"/>
              <a:ext cx="5540946" cy="3375999"/>
              <a:chOff x="618976" y="2446613"/>
              <a:chExt cx="5540946" cy="3375999"/>
            </a:xfrm>
          </p:grpSpPr>
          <p:sp>
            <p:nvSpPr>
              <p:cNvPr id="121" name="2">
                <a:extLst>
                  <a:ext uri="{FF2B5EF4-FFF2-40B4-BE49-F238E27FC236}">
                    <a16:creationId xmlns:a16="http://schemas.microsoft.com/office/drawing/2014/main" id="{D982F507-E594-579C-5EC4-2F0E72DFF4B3}"/>
                  </a:ext>
                </a:extLst>
              </p:cNvPr>
              <p:cNvSpPr/>
              <p:nvPr/>
            </p:nvSpPr>
            <p:spPr>
              <a:xfrm>
                <a:off x="673739" y="4089173"/>
                <a:ext cx="3054425" cy="1733439"/>
              </a:xfrm>
              <a:prstGeom prst="rect">
                <a:avLst/>
              </a:prstGeom>
              <a:solidFill>
                <a:schemeClr val="accent1">
                  <a:lumMod val="20000"/>
                  <a:lumOff val="80000"/>
                  <a:alpha val="3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2">
                <a:extLst>
                  <a:ext uri="{FF2B5EF4-FFF2-40B4-BE49-F238E27FC236}">
                    <a16:creationId xmlns:a16="http://schemas.microsoft.com/office/drawing/2014/main" id="{62388E96-76AC-E479-CB82-44E15FFD7247}"/>
                  </a:ext>
                </a:extLst>
              </p:cNvPr>
              <p:cNvSpPr/>
              <p:nvPr/>
            </p:nvSpPr>
            <p:spPr>
              <a:xfrm>
                <a:off x="3645632" y="4089174"/>
                <a:ext cx="82532" cy="1107739"/>
              </a:xfrm>
              <a:prstGeom prst="rect">
                <a:avLst/>
              </a:prstGeom>
              <a:gradFill flip="none" rotWithShape="1">
                <a:gsLst>
                  <a:gs pos="18000">
                    <a:schemeClr val="accent1"/>
                  </a:gs>
                  <a:gs pos="100000">
                    <a:schemeClr val="accent2"/>
                  </a:gs>
                </a:gsLst>
                <a:lin ang="16200000" scaled="1"/>
                <a:tileRect/>
              </a:gradFill>
              <a:ln>
                <a:noFill/>
              </a:ln>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p>
                <a:pPr algn="ctr"/>
                <a:endParaRPr lang="zh-CN" altLang="en-US">
                  <a:solidFill>
                    <a:srgbClr val="FFFFFF"/>
                  </a:solidFill>
                  <a:latin typeface="微软雅黑" panose="020B0503020204020204" charset="-122"/>
                  <a:ea typeface="微软雅黑" panose="020B0503020204020204" charset="-122"/>
                  <a:cs typeface="+mn-ea"/>
                </a:endParaRPr>
              </a:p>
            </p:txBody>
          </p:sp>
          <p:cxnSp>
            <p:nvCxnSpPr>
              <p:cNvPr id="123" name="2">
                <a:extLst>
                  <a:ext uri="{FF2B5EF4-FFF2-40B4-BE49-F238E27FC236}">
                    <a16:creationId xmlns:a16="http://schemas.microsoft.com/office/drawing/2014/main" id="{01C6134A-DC21-1187-293C-9525398DEEAC}"/>
                  </a:ext>
                </a:extLst>
              </p:cNvPr>
              <p:cNvCxnSpPr>
                <a:cxnSpLocks/>
              </p:cNvCxnSpPr>
              <p:nvPr/>
            </p:nvCxnSpPr>
            <p:spPr>
              <a:xfrm flipH="1">
                <a:off x="3980857" y="4660873"/>
                <a:ext cx="640080" cy="0"/>
              </a:xfrm>
              <a:prstGeom prst="line">
                <a:avLst/>
              </a:prstGeom>
              <a:ln>
                <a:solidFill>
                  <a:schemeClr val="accent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24" name="2">
                <a:extLst>
                  <a:ext uri="{FF2B5EF4-FFF2-40B4-BE49-F238E27FC236}">
                    <a16:creationId xmlns:a16="http://schemas.microsoft.com/office/drawing/2014/main" id="{85E20085-AA91-B408-1875-3DC3BFC40730}"/>
                  </a:ext>
                </a:extLst>
              </p:cNvPr>
              <p:cNvSpPr/>
              <p:nvPr/>
            </p:nvSpPr>
            <p:spPr>
              <a:xfrm rot="21011422">
                <a:off x="4183802" y="2446613"/>
                <a:ext cx="1976120" cy="1717040"/>
              </a:xfrm>
              <a:custGeom>
                <a:avLst/>
                <a:gdLst>
                  <a:gd name="connsiteX0" fmla="*/ 399162 w 2099855"/>
                  <a:gd name="connsiteY0" fmla="*/ 367537 h 1824061"/>
                  <a:gd name="connsiteX1" fmla="*/ 1748017 w 2099855"/>
                  <a:gd name="connsiteY1" fmla="*/ 0 h 1824061"/>
                  <a:gd name="connsiteX2" fmla="*/ 1926741 w 2099855"/>
                  <a:gd name="connsiteY2" fmla="*/ 5214 h 1824061"/>
                  <a:gd name="connsiteX3" fmla="*/ 2099855 w 2099855"/>
                  <a:gd name="connsiteY3" fmla="*/ 20479 h 1824061"/>
                  <a:gd name="connsiteX4" fmla="*/ 2037937 w 2099855"/>
                  <a:gd name="connsiteY4" fmla="*/ 22939 h 1824061"/>
                  <a:gd name="connsiteX5" fmla="*/ 1347109 w 2099855"/>
                  <a:gd name="connsiteY5" fmla="*/ 265482 h 1824061"/>
                  <a:gd name="connsiteX6" fmla="*/ 706400 w 2099855"/>
                  <a:gd name="connsiteY6" fmla="*/ 1781741 h 1824061"/>
                  <a:gd name="connsiteX7" fmla="*/ 716523 w 2099855"/>
                  <a:gd name="connsiteY7" fmla="*/ 1824061 h 1824061"/>
                  <a:gd name="connsiteX8" fmla="*/ 636116 w 2099855"/>
                  <a:gd name="connsiteY8" fmla="*/ 1789320 h 1824061"/>
                  <a:gd name="connsiteX9" fmla="*/ 0 w 2099855"/>
                  <a:gd name="connsiteY9" fmla="*/ 1009975 h 1824061"/>
                  <a:gd name="connsiteX10" fmla="*/ 399162 w 2099855"/>
                  <a:gd name="connsiteY10" fmla="*/ 367537 h 18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855" h="1824061">
                    <a:moveTo>
                      <a:pt x="399162" y="367537"/>
                    </a:moveTo>
                    <a:cubicBezTo>
                      <a:pt x="719774" y="143073"/>
                      <a:pt x="1204978" y="0"/>
                      <a:pt x="1748017" y="0"/>
                    </a:cubicBezTo>
                    <a:cubicBezTo>
                      <a:pt x="1808355" y="-1"/>
                      <a:pt x="1867979" y="1766"/>
                      <a:pt x="1926741" y="5214"/>
                    </a:cubicBezTo>
                    <a:lnTo>
                      <a:pt x="2099855" y="20479"/>
                    </a:lnTo>
                    <a:lnTo>
                      <a:pt x="2037937" y="22939"/>
                    </a:lnTo>
                    <a:cubicBezTo>
                      <a:pt x="1798756" y="44044"/>
                      <a:pt x="1561276" y="123433"/>
                      <a:pt x="1347109" y="265482"/>
                    </a:cubicBezTo>
                    <a:cubicBezTo>
                      <a:pt x="833109" y="606400"/>
                      <a:pt x="599375" y="1211416"/>
                      <a:pt x="706400" y="1781741"/>
                    </a:cubicBezTo>
                    <a:lnTo>
                      <a:pt x="716523" y="1824061"/>
                    </a:lnTo>
                    <a:lnTo>
                      <a:pt x="636116" y="1789320"/>
                    </a:lnTo>
                    <a:cubicBezTo>
                      <a:pt x="247624" y="1604076"/>
                      <a:pt x="0" y="1323734"/>
                      <a:pt x="0" y="1009975"/>
                    </a:cubicBezTo>
                    <a:cubicBezTo>
                      <a:pt x="0" y="765940"/>
                      <a:pt x="149797" y="542120"/>
                      <a:pt x="399162" y="367537"/>
                    </a:cubicBezTo>
                    <a:close/>
                  </a:path>
                </a:pathLst>
              </a:custGeom>
              <a:gradFill flip="none" rotWithShape="1">
                <a:gsLst>
                  <a:gs pos="18000">
                    <a:schemeClr val="accent1"/>
                  </a:gs>
                  <a:gs pos="100000">
                    <a:schemeClr val="accent2"/>
                  </a:gs>
                </a:gsLst>
                <a:lin ang="10800000" scaled="1"/>
                <a:tileRect/>
              </a:gradFill>
              <a:ln>
                <a:noFill/>
              </a:ln>
              <a:effectLst>
                <a:outerShdw blurRad="114300" dist="50800" dir="8100000" algn="tr" rotWithShape="0">
                  <a:schemeClr val="accent3">
                    <a:alpha val="20000"/>
                  </a:schemeClr>
                </a:outerShdw>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defPPr>
                  <a:defRPr lang="zh-CN"/>
                </a:defPPr>
                <a:lvl1pPr marL="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1pPr>
                <a:lvl2pPr marL="457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2pPr>
                <a:lvl3pPr marL="914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3pPr>
                <a:lvl4pPr marL="1371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4pPr>
                <a:lvl5pPr marL="18288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5pPr>
                <a:lvl6pPr marL="22860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6pPr>
                <a:lvl7pPr marL="2743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7pPr>
                <a:lvl8pPr marL="3200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8pPr>
                <a:lvl9pPr marL="3657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9pPr>
              </a:lstStyle>
              <a:p>
                <a:pPr algn="ctr"/>
                <a:endParaRPr lang="zh-CN" altLang="en-US">
                  <a:sym typeface="微软雅黑" panose="020B0503020204020204" charset="-122"/>
                </a:endParaRPr>
              </a:p>
            </p:txBody>
          </p:sp>
          <p:sp>
            <p:nvSpPr>
              <p:cNvPr id="125" name="Body-2">
                <a:extLst>
                  <a:ext uri="{FF2B5EF4-FFF2-40B4-BE49-F238E27FC236}">
                    <a16:creationId xmlns:a16="http://schemas.microsoft.com/office/drawing/2014/main" id="{90AEC851-71BC-7425-1C19-60D8C4491DDC}"/>
                  </a:ext>
                </a:extLst>
              </p:cNvPr>
              <p:cNvSpPr/>
              <p:nvPr>
                <p:custDataLst>
                  <p:tags r:id="rId5"/>
                </p:custDataLst>
              </p:nvPr>
            </p:nvSpPr>
            <p:spPr>
              <a:xfrm>
                <a:off x="673739" y="4485727"/>
                <a:ext cx="2824266" cy="7111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20000"/>
                  </a:lnSpc>
                  <a:spcBef>
                    <a:spcPts val="0"/>
                  </a:spcBef>
                  <a:spcAft>
                    <a:spcPts val="0"/>
                  </a:spcAft>
                  <a:buClrTx/>
                  <a:buSzPct val="100000"/>
                  <a:buFont typeface="Arial" panose="020B0604020202020204" pitchFamily="34" charset="0"/>
                  <a:buChar char="•"/>
                  <a:defRPr/>
                </a:pPr>
                <a:r>
                  <a:rPr kumimoji="0" lang="zh-CN" altLang="en-US" sz="13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将工艺相似或共享资源的产品归类为生产组。</a:t>
                </a:r>
              </a:p>
              <a:p>
                <a:pPr marL="285750" marR="0" lvl="0" indent="-285750" defTabSz="913765" rtl="0" eaLnBrk="1" fontAlgn="auto" latinLnBrk="0" hangingPunct="1">
                  <a:lnSpc>
                    <a:spcPct val="120000"/>
                  </a:lnSpc>
                  <a:spcBef>
                    <a:spcPts val="0"/>
                  </a:spcBef>
                  <a:spcAft>
                    <a:spcPts val="0"/>
                  </a:spcAft>
                  <a:buClrTx/>
                  <a:buSzPct val="100000"/>
                  <a:buFont typeface="Arial" panose="020B0604020202020204" pitchFamily="34" charset="0"/>
                  <a:buChar char="•"/>
                  <a:defRPr/>
                </a:pPr>
                <a:r>
                  <a:rPr kumimoji="0" lang="zh-CN" altLang="en-US" sz="13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在每个周期内，预定义产品的生产序列，以最小化不同产品组之间的主要换线时间。</a:t>
                </a:r>
                <a:endParaRPr lang="en-US" altLang="zh-CN" sz="1300"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126" name="Title-2">
                <a:extLst>
                  <a:ext uri="{FF2B5EF4-FFF2-40B4-BE49-F238E27FC236}">
                    <a16:creationId xmlns:a16="http://schemas.microsoft.com/office/drawing/2014/main" id="{4F5BEE21-9441-F102-F484-EA38F6CEB68E}"/>
                  </a:ext>
                </a:extLst>
              </p:cNvPr>
              <p:cNvSpPr/>
              <p:nvPr>
                <p:custDataLst>
                  <p:tags r:id="rId6"/>
                </p:custDataLst>
              </p:nvPr>
            </p:nvSpPr>
            <p:spPr>
              <a:xfrm>
                <a:off x="618976" y="4224460"/>
                <a:ext cx="2869714" cy="2382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1" indent="0" algn="r" defTabSz="914400" rtl="0" eaLnBrk="1" fontAlgn="auto" latinLnBrk="0" hangingPunct="1">
                  <a:lnSpc>
                    <a:spcPct val="100000"/>
                  </a:lnSpc>
                  <a:spcBef>
                    <a:spcPts val="0"/>
                  </a:spcBef>
                  <a:spcAft>
                    <a:spcPts val="0"/>
                  </a:spcAft>
                  <a:buClrTx/>
                  <a:buSzTx/>
                  <a:buFontTx/>
                  <a:buNone/>
                  <a:defRPr/>
                </a:pPr>
                <a:r>
                  <a:rPr kumimoji="0" lang="zh-CN" altLang="en-US" b="1" i="0" u="none" strike="noStrike" kern="1200" cap="none" spc="0" normalizeH="0" baseline="0" noProof="0">
                    <a:ln>
                      <a:noFill/>
                    </a:ln>
                    <a:solidFill>
                      <a:schemeClr val="accent3"/>
                    </a:solidFill>
                    <a:effectLst/>
                    <a:uLnTx/>
                    <a:uFillTx/>
                    <a:latin typeface="微软雅黑" panose="020B0503020204020204" pitchFamily="34" charset="-122"/>
                    <a:ea typeface="微软雅黑" panose="020B0503020204020204" pitchFamily="34" charset="-122"/>
                    <a:sym typeface="Arial" panose="020B0604020202020204" pitchFamily="34" charset="0"/>
                  </a:rPr>
                  <a:t>产品分组与排序：</a:t>
                </a:r>
                <a:endParaRPr kumimoji="0" lang="en-US" altLang="zh-CN" b="1" i="0" u="none" strike="noStrike" kern="1200" cap="none" spc="0" normalizeH="0" baseline="0" noProof="0" dirty="0">
                  <a:ln>
                    <a:noFill/>
                  </a:ln>
                  <a:solidFill>
                    <a:schemeClr val="accent3"/>
                  </a:solidFill>
                  <a:effectLst/>
                  <a:uLnTx/>
                  <a:uFillTx/>
                  <a:latin typeface="微软雅黑" panose="020B0503020204020204" pitchFamily="34" charset="-122"/>
                  <a:ea typeface="微软雅黑" panose="020B0503020204020204" pitchFamily="34" charset="-122"/>
                  <a:sym typeface="Arial" panose="020B0604020202020204" pitchFamily="34" charset="0"/>
                </a:endParaRPr>
              </a:p>
            </p:txBody>
          </p:sp>
          <p:sp>
            <p:nvSpPr>
              <p:cNvPr id="127" name="Index-2">
                <a:extLst>
                  <a:ext uri="{FF2B5EF4-FFF2-40B4-BE49-F238E27FC236}">
                    <a16:creationId xmlns:a16="http://schemas.microsoft.com/office/drawing/2014/main" id="{FD76734C-51DA-F08A-A22F-7A65F80F5D62}"/>
                  </a:ext>
                </a:extLst>
              </p:cNvPr>
              <p:cNvSpPr/>
              <p:nvPr>
                <p:custDataLst>
                  <p:tags r:id="rId7"/>
                </p:custDataLst>
              </p:nvPr>
            </p:nvSpPr>
            <p:spPr>
              <a:xfrm>
                <a:off x="4470713" y="3556461"/>
                <a:ext cx="358552" cy="358552"/>
              </a:xfrm>
              <a:prstGeom prst="ellipse">
                <a:avLst/>
              </a:prstGeom>
              <a:solidFill>
                <a:schemeClr val="bg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accent2"/>
                    </a:solidFill>
                  </a:rPr>
                  <a:t>2</a:t>
                </a:r>
                <a:endParaRPr lang="zh-CN" altLang="en-US" sz="2400" b="1" dirty="0">
                  <a:solidFill>
                    <a:schemeClr val="accent2"/>
                  </a:solidFill>
                </a:endParaRPr>
              </a:p>
            </p:txBody>
          </p:sp>
        </p:grpSp>
        <p:grpSp>
          <p:nvGrpSpPr>
            <p:cNvPr id="113" name="组合 01">
              <a:extLst>
                <a:ext uri="{FF2B5EF4-FFF2-40B4-BE49-F238E27FC236}">
                  <a16:creationId xmlns:a16="http://schemas.microsoft.com/office/drawing/2014/main" id="{D08E665F-94D1-3A1F-1EB6-7B59A031EC14}"/>
                </a:ext>
              </a:extLst>
            </p:cNvPr>
            <p:cNvGrpSpPr/>
            <p:nvPr/>
          </p:nvGrpSpPr>
          <p:grpSpPr>
            <a:xfrm>
              <a:off x="618976" y="1474727"/>
              <a:ext cx="6521753" cy="1976755"/>
              <a:chOff x="618976" y="1474727"/>
              <a:chExt cx="6521753" cy="1976755"/>
            </a:xfrm>
          </p:grpSpPr>
          <p:sp>
            <p:nvSpPr>
              <p:cNvPr id="114" name="1">
                <a:extLst>
                  <a:ext uri="{FF2B5EF4-FFF2-40B4-BE49-F238E27FC236}">
                    <a16:creationId xmlns:a16="http://schemas.microsoft.com/office/drawing/2014/main" id="{B20E3014-E25F-4DD9-78F0-10CC178C7F33}"/>
                  </a:ext>
                </a:extLst>
              </p:cNvPr>
              <p:cNvSpPr/>
              <p:nvPr/>
            </p:nvSpPr>
            <p:spPr>
              <a:xfrm>
                <a:off x="673739" y="1603794"/>
                <a:ext cx="3054425" cy="1733443"/>
              </a:xfrm>
              <a:prstGeom prst="rect">
                <a:avLst/>
              </a:prstGeom>
              <a:solidFill>
                <a:schemeClr val="accent1">
                  <a:lumMod val="20000"/>
                  <a:lumOff val="80000"/>
                  <a:alpha val="3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1">
                <a:extLst>
                  <a:ext uri="{FF2B5EF4-FFF2-40B4-BE49-F238E27FC236}">
                    <a16:creationId xmlns:a16="http://schemas.microsoft.com/office/drawing/2014/main" id="{E44ADA9B-91F0-BFBF-3BB6-0AD7656CEE3B}"/>
                  </a:ext>
                </a:extLst>
              </p:cNvPr>
              <p:cNvSpPr/>
              <p:nvPr/>
            </p:nvSpPr>
            <p:spPr>
              <a:xfrm>
                <a:off x="3645632" y="1603794"/>
                <a:ext cx="82532" cy="1107739"/>
              </a:xfrm>
              <a:prstGeom prst="rect">
                <a:avLst/>
              </a:prstGeom>
              <a:gradFill flip="none" rotWithShape="1">
                <a:gsLst>
                  <a:gs pos="18000">
                    <a:schemeClr val="accent2"/>
                  </a:gs>
                  <a:gs pos="100000">
                    <a:schemeClr val="accent3"/>
                  </a:gs>
                </a:gsLst>
                <a:lin ang="16200000" scaled="1"/>
                <a:tileRect/>
              </a:gradFill>
              <a:ln>
                <a:noFill/>
              </a:ln>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p>
                <a:pPr algn="ctr"/>
                <a:endParaRPr lang="zh-CN" altLang="en-US">
                  <a:solidFill>
                    <a:srgbClr val="FFFFFF"/>
                  </a:solidFill>
                  <a:latin typeface="微软雅黑" panose="020B0503020204020204" charset="-122"/>
                  <a:ea typeface="微软雅黑" panose="020B0503020204020204" charset="-122"/>
                  <a:cs typeface="+mn-ea"/>
                </a:endParaRPr>
              </a:p>
            </p:txBody>
          </p:sp>
          <p:sp>
            <p:nvSpPr>
              <p:cNvPr id="116" name="1">
                <a:extLst>
                  <a:ext uri="{FF2B5EF4-FFF2-40B4-BE49-F238E27FC236}">
                    <a16:creationId xmlns:a16="http://schemas.microsoft.com/office/drawing/2014/main" id="{C23C2210-2D4D-ED9B-3C2B-79220B995645}"/>
                  </a:ext>
                </a:extLst>
              </p:cNvPr>
              <p:cNvSpPr/>
              <p:nvPr/>
            </p:nvSpPr>
            <p:spPr>
              <a:xfrm rot="4811422">
                <a:off x="5293831" y="1604585"/>
                <a:ext cx="1976755" cy="1717040"/>
              </a:xfrm>
              <a:custGeom>
                <a:avLst/>
                <a:gdLst>
                  <a:gd name="connsiteX0" fmla="*/ 399162 w 2099855"/>
                  <a:gd name="connsiteY0" fmla="*/ 367537 h 1824061"/>
                  <a:gd name="connsiteX1" fmla="*/ 1748017 w 2099855"/>
                  <a:gd name="connsiteY1" fmla="*/ 0 h 1824061"/>
                  <a:gd name="connsiteX2" fmla="*/ 1926741 w 2099855"/>
                  <a:gd name="connsiteY2" fmla="*/ 5214 h 1824061"/>
                  <a:gd name="connsiteX3" fmla="*/ 2099855 w 2099855"/>
                  <a:gd name="connsiteY3" fmla="*/ 20479 h 1824061"/>
                  <a:gd name="connsiteX4" fmla="*/ 2037937 w 2099855"/>
                  <a:gd name="connsiteY4" fmla="*/ 22939 h 1824061"/>
                  <a:gd name="connsiteX5" fmla="*/ 1347109 w 2099855"/>
                  <a:gd name="connsiteY5" fmla="*/ 265482 h 1824061"/>
                  <a:gd name="connsiteX6" fmla="*/ 706400 w 2099855"/>
                  <a:gd name="connsiteY6" fmla="*/ 1781741 h 1824061"/>
                  <a:gd name="connsiteX7" fmla="*/ 716523 w 2099855"/>
                  <a:gd name="connsiteY7" fmla="*/ 1824061 h 1824061"/>
                  <a:gd name="connsiteX8" fmla="*/ 636116 w 2099855"/>
                  <a:gd name="connsiteY8" fmla="*/ 1789320 h 1824061"/>
                  <a:gd name="connsiteX9" fmla="*/ 0 w 2099855"/>
                  <a:gd name="connsiteY9" fmla="*/ 1009975 h 1824061"/>
                  <a:gd name="connsiteX10" fmla="*/ 399162 w 2099855"/>
                  <a:gd name="connsiteY10" fmla="*/ 367537 h 18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855" h="1824061">
                    <a:moveTo>
                      <a:pt x="399162" y="367537"/>
                    </a:moveTo>
                    <a:cubicBezTo>
                      <a:pt x="719774" y="143073"/>
                      <a:pt x="1204978" y="0"/>
                      <a:pt x="1748017" y="0"/>
                    </a:cubicBezTo>
                    <a:cubicBezTo>
                      <a:pt x="1808355" y="-1"/>
                      <a:pt x="1867979" y="1766"/>
                      <a:pt x="1926741" y="5214"/>
                    </a:cubicBezTo>
                    <a:lnTo>
                      <a:pt x="2099855" y="20479"/>
                    </a:lnTo>
                    <a:lnTo>
                      <a:pt x="2037937" y="22939"/>
                    </a:lnTo>
                    <a:cubicBezTo>
                      <a:pt x="1798756" y="44044"/>
                      <a:pt x="1561276" y="123433"/>
                      <a:pt x="1347109" y="265482"/>
                    </a:cubicBezTo>
                    <a:cubicBezTo>
                      <a:pt x="833109" y="606400"/>
                      <a:pt x="599375" y="1211416"/>
                      <a:pt x="706400" y="1781741"/>
                    </a:cubicBezTo>
                    <a:lnTo>
                      <a:pt x="716523" y="1824061"/>
                    </a:lnTo>
                    <a:lnTo>
                      <a:pt x="636116" y="1789320"/>
                    </a:lnTo>
                    <a:cubicBezTo>
                      <a:pt x="247624" y="1604076"/>
                      <a:pt x="0" y="1323734"/>
                      <a:pt x="0" y="1009975"/>
                    </a:cubicBezTo>
                    <a:cubicBezTo>
                      <a:pt x="0" y="765940"/>
                      <a:pt x="149797" y="542120"/>
                      <a:pt x="399162" y="367537"/>
                    </a:cubicBezTo>
                    <a:close/>
                  </a:path>
                </a:pathLst>
              </a:custGeom>
              <a:gradFill>
                <a:gsLst>
                  <a:gs pos="18000">
                    <a:schemeClr val="accent2"/>
                  </a:gs>
                  <a:gs pos="100000">
                    <a:schemeClr val="accent3"/>
                  </a:gs>
                </a:gsLst>
                <a:lin ang="2700000" scaled="0"/>
              </a:gradFill>
              <a:ln>
                <a:noFill/>
              </a:ln>
              <a:effectLst>
                <a:outerShdw blurRad="114300" dist="50800" dir="8100000" algn="tr" rotWithShape="0">
                  <a:schemeClr val="accent3">
                    <a:alpha val="20000"/>
                  </a:schemeClr>
                </a:outerShdw>
              </a:effectLst>
            </p:spPr>
            <p:style>
              <a:lnRef idx="2">
                <a:srgbClr val="376FFF">
                  <a:shade val="50000"/>
                </a:srgbClr>
              </a:lnRef>
              <a:fillRef idx="1">
                <a:srgbClr val="376FFF"/>
              </a:fillRef>
              <a:effectRef idx="0">
                <a:srgbClr val="376FFF"/>
              </a:effectRef>
              <a:fontRef idx="minor">
                <a:srgbClr val="FFFFFF"/>
              </a:fontRef>
            </p:style>
            <p:txBody>
              <a:bodyPr vert="horz" wrap="square" numCol="1" spcCol="0" rtlCol="0" fromWordArt="0" anchor="ctr" anchorCtr="0" forceAA="0" compatLnSpc="1">
                <a:noAutofit/>
              </a:bodyPr>
              <a:lstStyle>
                <a:defPPr>
                  <a:defRPr lang="zh-CN"/>
                </a:defPPr>
                <a:lvl1pPr marL="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1pPr>
                <a:lvl2pPr marL="457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2pPr>
                <a:lvl3pPr marL="914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3pPr>
                <a:lvl4pPr marL="1371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4pPr>
                <a:lvl5pPr marL="18288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5pPr>
                <a:lvl6pPr marL="22860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6pPr>
                <a:lvl7pPr marL="27432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7pPr>
                <a:lvl8pPr marL="32004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8pPr>
                <a:lvl9pPr marL="3657600" algn="l" defTabSz="914400" rtl="0" eaLnBrk="1" latinLnBrk="0" hangingPunct="1">
                  <a:defRPr sz="1800" kern="1200">
                    <a:solidFill>
                      <a:srgbClr val="FFFFFF"/>
                    </a:solidFill>
                    <a:latin typeface="微软雅黑" panose="020B0503020204020204" charset="-122"/>
                    <a:ea typeface="微软雅黑" panose="020B0503020204020204" charset="-122"/>
                    <a:cs typeface="+mn-ea"/>
                  </a:defRPr>
                </a:lvl9pPr>
              </a:lstStyle>
              <a:p>
                <a:pPr algn="ctr"/>
                <a:endParaRPr lang="zh-CN" altLang="en-US">
                  <a:sym typeface="微软雅黑" panose="020B0503020204020204" charset="-122"/>
                </a:endParaRPr>
              </a:p>
            </p:txBody>
          </p:sp>
          <p:cxnSp>
            <p:nvCxnSpPr>
              <p:cNvPr id="117" name="1">
                <a:extLst>
                  <a:ext uri="{FF2B5EF4-FFF2-40B4-BE49-F238E27FC236}">
                    <a16:creationId xmlns:a16="http://schemas.microsoft.com/office/drawing/2014/main" id="{92CD7E01-EC64-6387-328F-2AD2658895D8}"/>
                  </a:ext>
                </a:extLst>
              </p:cNvPr>
              <p:cNvCxnSpPr>
                <a:cxnSpLocks/>
              </p:cNvCxnSpPr>
              <p:nvPr/>
            </p:nvCxnSpPr>
            <p:spPr>
              <a:xfrm flipH="1">
                <a:off x="3980857" y="2123385"/>
                <a:ext cx="640080" cy="0"/>
              </a:xfrm>
              <a:prstGeom prst="line">
                <a:avLst/>
              </a:prstGeom>
              <a:ln>
                <a:solidFill>
                  <a:schemeClr val="accent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18" name="Index-1">
                <a:extLst>
                  <a:ext uri="{FF2B5EF4-FFF2-40B4-BE49-F238E27FC236}">
                    <a16:creationId xmlns:a16="http://schemas.microsoft.com/office/drawing/2014/main" id="{DCCA3ED6-7D0B-1515-A6C5-A62FE6439C1A}"/>
                  </a:ext>
                </a:extLst>
              </p:cNvPr>
              <p:cNvSpPr/>
              <p:nvPr>
                <p:custDataLst>
                  <p:tags r:id="rId2"/>
                </p:custDataLst>
              </p:nvPr>
            </p:nvSpPr>
            <p:spPr>
              <a:xfrm>
                <a:off x="5749358" y="1750930"/>
                <a:ext cx="358552" cy="358552"/>
              </a:xfrm>
              <a:prstGeom prst="ellipse">
                <a:avLst/>
              </a:prstGeom>
              <a:solidFill>
                <a:schemeClr val="bg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2400" b="1" dirty="0">
                    <a:solidFill>
                      <a:schemeClr val="accent3"/>
                    </a:solidFill>
                  </a:rPr>
                  <a:t>1</a:t>
                </a:r>
                <a:endParaRPr lang="zh-CN" altLang="en-US" sz="2400" b="1" dirty="0">
                  <a:solidFill>
                    <a:schemeClr val="accent3"/>
                  </a:solidFill>
                </a:endParaRPr>
              </a:p>
            </p:txBody>
          </p:sp>
          <p:sp>
            <p:nvSpPr>
              <p:cNvPr id="119" name="Body-1">
                <a:extLst>
                  <a:ext uri="{FF2B5EF4-FFF2-40B4-BE49-F238E27FC236}">
                    <a16:creationId xmlns:a16="http://schemas.microsoft.com/office/drawing/2014/main" id="{D6606303-0F57-B0C9-255A-D610905DE0AF}"/>
                  </a:ext>
                </a:extLst>
              </p:cNvPr>
              <p:cNvSpPr/>
              <p:nvPr>
                <p:custDataLst>
                  <p:tags r:id="rId3"/>
                </p:custDataLst>
              </p:nvPr>
            </p:nvSpPr>
            <p:spPr>
              <a:xfrm>
                <a:off x="673739" y="2000347"/>
                <a:ext cx="2824266" cy="7111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marR="0" lvl="0" indent="-285750" defTabSz="913765" rtl="0" eaLnBrk="1" fontAlgn="auto" latinLnBrk="0" hangingPunct="1">
                  <a:lnSpc>
                    <a:spcPct val="120000"/>
                  </a:lnSpc>
                  <a:spcBef>
                    <a:spcPts val="0"/>
                  </a:spcBef>
                  <a:spcAft>
                    <a:spcPts val="0"/>
                  </a:spcAft>
                  <a:buClrTx/>
                  <a:buSzPct val="100000"/>
                  <a:buFont typeface="Arial" panose="020B0604020202020204" pitchFamily="34" charset="0"/>
                  <a:buChar char="•"/>
                  <a:defRPr/>
                </a:pPr>
                <a:r>
                  <a:rPr kumimoji="0" lang="zh-CN" altLang="en-US" sz="13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设置一个重复的生产轮 时长（如</a:t>
                </a:r>
                <a:r>
                  <a:rPr kumimoji="0" lang="en-US" altLang="zh-CN" sz="13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4</a:t>
                </a:r>
                <a:r>
                  <a:rPr kumimoji="0" lang="zh-CN" altLang="en-US" sz="13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周）。</a:t>
                </a:r>
              </a:p>
              <a:p>
                <a:pPr marL="285750" marR="0" lvl="0" indent="-285750" defTabSz="913765" rtl="0" eaLnBrk="1" fontAlgn="auto" latinLnBrk="0" hangingPunct="1">
                  <a:lnSpc>
                    <a:spcPct val="120000"/>
                  </a:lnSpc>
                  <a:spcBef>
                    <a:spcPts val="0"/>
                  </a:spcBef>
                  <a:spcAft>
                    <a:spcPts val="0"/>
                  </a:spcAft>
                  <a:buClrTx/>
                  <a:buSzPct val="100000"/>
                  <a:buFont typeface="Arial" panose="020B0604020202020204" pitchFamily="34" charset="0"/>
                  <a:buChar char="•"/>
                  <a:defRPr/>
                </a:pPr>
                <a:r>
                  <a:rPr kumimoji="0" lang="zh-CN" altLang="en-US" sz="13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将每个轮划分为固定的周期（如每周一个周期），并为每个周期分配固定的产能。</a:t>
                </a:r>
                <a:endParaRPr lang="en-US" altLang="zh-CN" sz="1300"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120" name="Title-1">
                <a:extLst>
                  <a:ext uri="{FF2B5EF4-FFF2-40B4-BE49-F238E27FC236}">
                    <a16:creationId xmlns:a16="http://schemas.microsoft.com/office/drawing/2014/main" id="{8B0C346C-99B1-95E8-EDDA-496C365C7C19}"/>
                  </a:ext>
                </a:extLst>
              </p:cNvPr>
              <p:cNvSpPr/>
              <p:nvPr>
                <p:custDataLst>
                  <p:tags r:id="rId4"/>
                </p:custDataLst>
              </p:nvPr>
            </p:nvSpPr>
            <p:spPr>
              <a:xfrm>
                <a:off x="618976" y="1739080"/>
                <a:ext cx="2869714" cy="2382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1" indent="0" algn="r" defTabSz="914400" rtl="0" eaLnBrk="1" fontAlgn="auto" latinLnBrk="0" hangingPunct="1">
                  <a:lnSpc>
                    <a:spcPct val="100000"/>
                  </a:lnSpc>
                  <a:spcBef>
                    <a:spcPts val="0"/>
                  </a:spcBef>
                  <a:spcAft>
                    <a:spcPts val="0"/>
                  </a:spcAft>
                  <a:buClrTx/>
                  <a:buSzTx/>
                  <a:buFontTx/>
                  <a:buNone/>
                  <a:defRPr/>
                </a:pPr>
                <a:r>
                  <a:rPr kumimoji="0" lang="zh-CN" altLang="en-US" b="1" i="0" u="none" strike="noStrike" kern="1200" cap="none" spc="0" normalizeH="0" baseline="0" noProof="0">
                    <a:ln>
                      <a:noFill/>
                    </a:ln>
                    <a:solidFill>
                      <a:schemeClr val="accent3"/>
                    </a:solidFill>
                    <a:effectLst/>
                    <a:uLnTx/>
                    <a:uFillTx/>
                    <a:latin typeface="微软雅黑" panose="020B0503020204020204" pitchFamily="34" charset="-122"/>
                    <a:ea typeface="微软雅黑" panose="020B0503020204020204" pitchFamily="34" charset="-122"/>
                    <a:sym typeface="Arial" panose="020B0604020202020204" pitchFamily="34" charset="0"/>
                  </a:rPr>
                  <a:t>定义生产轮与固定周期：</a:t>
                </a:r>
                <a:endParaRPr kumimoji="0" lang="en-US" altLang="zh-CN" b="1" i="0" u="none" strike="noStrike" kern="1200" cap="none" spc="0" normalizeH="0" baseline="0" noProof="0" dirty="0">
                  <a:ln>
                    <a:noFill/>
                  </a:ln>
                  <a:solidFill>
                    <a:schemeClr val="accent3"/>
                  </a:solidFill>
                  <a:effectLst/>
                  <a:uLnTx/>
                  <a:uFillTx/>
                  <a:latin typeface="微软雅黑" panose="020B0503020204020204" pitchFamily="34" charset="-122"/>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422327460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242F9BA-7C72-9680-B290-7BC7D6F201BE}"/>
              </a:ext>
            </a:extLst>
          </p:cNvPr>
          <p:cNvSpPr>
            <a:spLocks noGrp="1"/>
          </p:cNvSpPr>
          <p:nvPr>
            <p:ph type="title"/>
          </p:nvPr>
        </p:nvSpPr>
        <p:spPr/>
        <p:txBody>
          <a:bodyPr/>
          <a:lstStyle/>
          <a:p>
            <a:r>
              <a:rPr lang="zh-CN" altLang="en-US" dirty="0"/>
              <a:t>轮式生产（</a:t>
            </a:r>
            <a:r>
              <a:rPr lang="en-US" altLang="zh-CN" dirty="0"/>
              <a:t>Production Wheel</a:t>
            </a:r>
            <a:r>
              <a:rPr lang="zh-CN" altLang="en-US" dirty="0"/>
              <a:t>）收益</a:t>
            </a:r>
          </a:p>
        </p:txBody>
      </p:sp>
      <p:grpSp>
        <p:nvGrpSpPr>
          <p:cNvPr id="73" name="组合 72">
            <a:extLst>
              <a:ext uri="{FF2B5EF4-FFF2-40B4-BE49-F238E27FC236}">
                <a16:creationId xmlns:a16="http://schemas.microsoft.com/office/drawing/2014/main" id="{BE40B151-0EB0-1B50-8049-C456A6A4E817}"/>
              </a:ext>
            </a:extLst>
          </p:cNvPr>
          <p:cNvGrpSpPr>
            <a:grpSpLocks noChangeAspect="1"/>
          </p:cNvGrpSpPr>
          <p:nvPr>
            <p:custDataLst>
              <p:tags r:id="rId1"/>
            </p:custDataLst>
          </p:nvPr>
        </p:nvGrpSpPr>
        <p:grpSpPr>
          <a:xfrm>
            <a:off x="1996439" y="812860"/>
            <a:ext cx="9649855" cy="5674006"/>
            <a:chOff x="2904417" y="1659286"/>
            <a:chExt cx="6383166" cy="3783102"/>
          </a:xfrm>
        </p:grpSpPr>
        <p:grpSp>
          <p:nvGrpSpPr>
            <p:cNvPr id="74" name="组合 73">
              <a:extLst>
                <a:ext uri="{FF2B5EF4-FFF2-40B4-BE49-F238E27FC236}">
                  <a16:creationId xmlns:a16="http://schemas.microsoft.com/office/drawing/2014/main" id="{A36597FB-99A3-74B3-C96A-CAD18099B521}"/>
                </a:ext>
              </a:extLst>
            </p:cNvPr>
            <p:cNvGrpSpPr/>
            <p:nvPr/>
          </p:nvGrpSpPr>
          <p:grpSpPr>
            <a:xfrm>
              <a:off x="2904417" y="1659286"/>
              <a:ext cx="6383166" cy="769441"/>
              <a:chOff x="2904417" y="1659286"/>
              <a:chExt cx="6383166" cy="769441"/>
            </a:xfrm>
          </p:grpSpPr>
          <p:sp>
            <p:nvSpPr>
              <p:cNvPr id="93" name="1">
                <a:extLst>
                  <a:ext uri="{FF2B5EF4-FFF2-40B4-BE49-F238E27FC236}">
                    <a16:creationId xmlns:a16="http://schemas.microsoft.com/office/drawing/2014/main" id="{BCB2AE63-BD5B-F437-7F4B-4955AAEA156E}"/>
                  </a:ext>
                </a:extLst>
              </p:cNvPr>
              <p:cNvSpPr/>
              <p:nvPr>
                <p:custDataLst>
                  <p:tags r:id="rId17"/>
                </p:custDataLst>
              </p:nvPr>
            </p:nvSpPr>
            <p:spPr>
              <a:xfrm>
                <a:off x="2904417" y="1675734"/>
                <a:ext cx="6268865" cy="736545"/>
              </a:xfrm>
              <a:prstGeom prst="roundRect">
                <a:avLst>
                  <a:gd name="adj" fmla="val 28076"/>
                </a:avLst>
              </a:prstGeom>
              <a:solidFill>
                <a:schemeClr val="bg1">
                  <a:lumMod val="95000"/>
                </a:schemeClr>
              </a:solidFill>
              <a:ln w="25400">
                <a:noFill/>
              </a:ln>
              <a:effectLst>
                <a:outerShdw blurRad="381000" dist="63500" sx="90000" sy="90000" algn="ctr" rotWithShape="0">
                  <a:schemeClr val="tx1">
                    <a:lumMod val="50000"/>
                    <a:lumOff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b="1" dirty="0">
                  <a:solidFill>
                    <a:prstClr val="white"/>
                  </a:solidFill>
                  <a:latin typeface="+mj-ea"/>
                  <a:ea typeface="+mj-ea"/>
                </a:endParaRPr>
              </a:p>
            </p:txBody>
          </p:sp>
          <p:sp>
            <p:nvSpPr>
              <p:cNvPr id="94" name="1">
                <a:extLst>
                  <a:ext uri="{FF2B5EF4-FFF2-40B4-BE49-F238E27FC236}">
                    <a16:creationId xmlns:a16="http://schemas.microsoft.com/office/drawing/2014/main" id="{3BD9C463-6F39-281A-4F52-AA4386DBD752}"/>
                  </a:ext>
                </a:extLst>
              </p:cNvPr>
              <p:cNvSpPr/>
              <p:nvPr>
                <p:custDataLst>
                  <p:tags r:id="rId18"/>
                </p:custDataLst>
              </p:nvPr>
            </p:nvSpPr>
            <p:spPr>
              <a:xfrm>
                <a:off x="2904418" y="1674827"/>
                <a:ext cx="1687065" cy="738359"/>
              </a:xfrm>
              <a:custGeom>
                <a:avLst/>
                <a:gdLst>
                  <a:gd name="connsiteX0" fmla="*/ 709001 w 1687065"/>
                  <a:gd name="connsiteY0" fmla="*/ 0 h 738359"/>
                  <a:gd name="connsiteX1" fmla="*/ 1120121 w 1687065"/>
                  <a:gd name="connsiteY1" fmla="*/ 0 h 738359"/>
                  <a:gd name="connsiteX2" fmla="*/ 1120121 w 1687065"/>
                  <a:gd name="connsiteY2" fmla="*/ 359 h 738359"/>
                  <a:gd name="connsiteX3" fmla="*/ 1687065 w 1687065"/>
                  <a:gd name="connsiteY3" fmla="*/ 359 h 738359"/>
                  <a:gd name="connsiteX4" fmla="*/ 1120121 w 1687065"/>
                  <a:gd name="connsiteY4" fmla="*/ 738359 h 738359"/>
                  <a:gd name="connsiteX5" fmla="*/ 1120121 w 1687065"/>
                  <a:gd name="connsiteY5" fmla="*/ 738000 h 738359"/>
                  <a:gd name="connsiteX6" fmla="*/ 833457 w 1687065"/>
                  <a:gd name="connsiteY6" fmla="*/ 738000 h 738359"/>
                  <a:gd name="connsiteX7" fmla="*/ 829906 w 1687065"/>
                  <a:gd name="connsiteY7" fmla="*/ 738358 h 738359"/>
                  <a:gd name="connsiteX8" fmla="*/ 191954 w 1687065"/>
                  <a:gd name="connsiteY8" fmla="*/ 738358 h 738359"/>
                  <a:gd name="connsiteX9" fmla="*/ 0 w 1687065"/>
                  <a:gd name="connsiteY9" fmla="*/ 546404 h 738359"/>
                  <a:gd name="connsiteX10" fmla="*/ 0 w 1687065"/>
                  <a:gd name="connsiteY10" fmla="*/ 192312 h 738359"/>
                  <a:gd name="connsiteX11" fmla="*/ 191954 w 1687065"/>
                  <a:gd name="connsiteY11" fmla="*/ 358 h 738359"/>
                  <a:gd name="connsiteX12" fmla="*/ 709001 w 1687065"/>
                  <a:gd name="connsiteY12" fmla="*/ 358 h 738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7065" h="738359">
                    <a:moveTo>
                      <a:pt x="709001" y="0"/>
                    </a:moveTo>
                    <a:lnTo>
                      <a:pt x="1120121" y="0"/>
                    </a:lnTo>
                    <a:lnTo>
                      <a:pt x="1120121" y="359"/>
                    </a:lnTo>
                    <a:lnTo>
                      <a:pt x="1687065" y="359"/>
                    </a:lnTo>
                    <a:lnTo>
                      <a:pt x="1120121" y="738359"/>
                    </a:lnTo>
                    <a:lnTo>
                      <a:pt x="1120121" y="738000"/>
                    </a:lnTo>
                    <a:lnTo>
                      <a:pt x="833457" y="738000"/>
                    </a:lnTo>
                    <a:lnTo>
                      <a:pt x="829906" y="738358"/>
                    </a:lnTo>
                    <a:lnTo>
                      <a:pt x="191954" y="738358"/>
                    </a:lnTo>
                    <a:cubicBezTo>
                      <a:pt x="85941" y="738358"/>
                      <a:pt x="0" y="652417"/>
                      <a:pt x="0" y="546404"/>
                    </a:cubicBezTo>
                    <a:lnTo>
                      <a:pt x="0" y="192312"/>
                    </a:lnTo>
                    <a:cubicBezTo>
                      <a:pt x="0" y="86299"/>
                      <a:pt x="85941" y="358"/>
                      <a:pt x="191954" y="358"/>
                    </a:cubicBezTo>
                    <a:lnTo>
                      <a:pt x="709001" y="358"/>
                    </a:lnTo>
                    <a:close/>
                  </a:path>
                </a:pathLst>
              </a:custGeom>
              <a:gradFill flip="none" rotWithShape="1">
                <a:gsLst>
                  <a:gs pos="0">
                    <a:schemeClr val="accent1"/>
                  </a:gs>
                  <a:gs pos="100000">
                    <a:schemeClr val="accent1">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b="1" dirty="0">
                  <a:latin typeface="+mj-ea"/>
                  <a:ea typeface="+mj-ea"/>
                </a:endParaRPr>
              </a:p>
            </p:txBody>
          </p:sp>
          <p:sp>
            <p:nvSpPr>
              <p:cNvPr id="95" name="Title-1">
                <a:extLst>
                  <a:ext uri="{FF2B5EF4-FFF2-40B4-BE49-F238E27FC236}">
                    <a16:creationId xmlns:a16="http://schemas.microsoft.com/office/drawing/2014/main" id="{EED78113-058A-7906-1A01-14D4CC819C36}"/>
                  </a:ext>
                </a:extLst>
              </p:cNvPr>
              <p:cNvSpPr txBox="1"/>
              <p:nvPr>
                <p:custDataLst>
                  <p:tags r:id="rId19"/>
                </p:custDataLst>
              </p:nvPr>
            </p:nvSpPr>
            <p:spPr>
              <a:xfrm>
                <a:off x="3018719" y="1873837"/>
                <a:ext cx="1129809" cy="340338"/>
              </a:xfrm>
              <a:prstGeom prst="rect">
                <a:avLst/>
              </a:prstGeom>
              <a:noFill/>
            </p:spPr>
            <p:txBody>
              <a:bodyPr wrap="square" rtlCol="0">
                <a:noAutofit/>
              </a:bodyPr>
              <a:lstStyle/>
              <a:p>
                <a:r>
                  <a:rPr lang="zh-CN" altLang="en-US" b="1">
                    <a:solidFill>
                      <a:schemeClr val="bg1"/>
                    </a:solidFill>
                    <a:latin typeface="+mj-ea"/>
                    <a:ea typeface="+mj-ea"/>
                  </a:rPr>
                  <a:t>生产稳定化，提升效率：</a:t>
                </a:r>
                <a:endParaRPr lang="zh-CN" altLang="en-US" b="1" dirty="0">
                  <a:solidFill>
                    <a:schemeClr val="bg1"/>
                  </a:solidFill>
                  <a:latin typeface="+mj-ea"/>
                  <a:ea typeface="+mj-ea"/>
                </a:endParaRPr>
              </a:p>
            </p:txBody>
          </p:sp>
          <p:sp>
            <p:nvSpPr>
              <p:cNvPr id="96" name="Index-1">
                <a:extLst>
                  <a:ext uri="{FF2B5EF4-FFF2-40B4-BE49-F238E27FC236}">
                    <a16:creationId xmlns:a16="http://schemas.microsoft.com/office/drawing/2014/main" id="{4C92D716-75E8-BE48-0749-08C40EFE760C}"/>
                  </a:ext>
                </a:extLst>
              </p:cNvPr>
              <p:cNvSpPr txBox="1"/>
              <p:nvPr>
                <p:custDataLst>
                  <p:tags r:id="rId20"/>
                </p:custDataLst>
              </p:nvPr>
            </p:nvSpPr>
            <p:spPr>
              <a:xfrm>
                <a:off x="8023434" y="1659286"/>
                <a:ext cx="1264149" cy="769441"/>
              </a:xfrm>
              <a:prstGeom prst="rect">
                <a:avLst/>
              </a:prstGeom>
              <a:noFill/>
            </p:spPr>
            <p:txBody>
              <a:bodyPr wrap="square" rtlCol="0">
                <a:noAutofit/>
              </a:bodyPr>
              <a:lstStyle/>
              <a:p>
                <a:pPr algn="ctr"/>
                <a:r>
                  <a:rPr lang="en-US" altLang="zh-CN" sz="4400" b="1" i="1" dirty="0">
                    <a:solidFill>
                      <a:schemeClr val="accent1">
                        <a:alpha val="50000"/>
                      </a:schemeClr>
                    </a:solidFill>
                    <a:latin typeface="+mj-ea"/>
                    <a:ea typeface="+mj-ea"/>
                  </a:rPr>
                  <a:t>01</a:t>
                </a:r>
                <a:endParaRPr lang="zh-CN" altLang="en-US" sz="4400" b="1" i="1" dirty="0">
                  <a:solidFill>
                    <a:schemeClr val="accent1">
                      <a:alpha val="50000"/>
                    </a:schemeClr>
                  </a:solidFill>
                  <a:latin typeface="+mj-ea"/>
                  <a:ea typeface="+mj-ea"/>
                </a:endParaRPr>
              </a:p>
            </p:txBody>
          </p:sp>
          <p:sp>
            <p:nvSpPr>
              <p:cNvPr id="97" name="Body-1">
                <a:extLst>
                  <a:ext uri="{FF2B5EF4-FFF2-40B4-BE49-F238E27FC236}">
                    <a16:creationId xmlns:a16="http://schemas.microsoft.com/office/drawing/2014/main" id="{5BAC69DC-D70C-69DF-F57E-F18BD0EA1CDB}"/>
                  </a:ext>
                </a:extLst>
              </p:cNvPr>
              <p:cNvSpPr>
                <a:spLocks/>
              </p:cNvSpPr>
              <p:nvPr>
                <p:custDataLst>
                  <p:tags r:id="rId21"/>
                </p:custDataLst>
              </p:nvPr>
            </p:nvSpPr>
            <p:spPr>
              <a:xfrm>
                <a:off x="4419387" y="1808571"/>
                <a:ext cx="3604046"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1" i="0" u="none" strike="noStrike" kern="1200" cap="none" spc="0" normalizeH="0" baseline="0" noProof="0">
                    <a:ln>
                      <a:noFill/>
                    </a:ln>
                    <a:solidFill>
                      <a:schemeClr val="tx2">
                        <a:lumMod val="75000"/>
                        <a:lumOff val="25000"/>
                      </a:schemeClr>
                    </a:solidFill>
                    <a:effectLst/>
                    <a:uLnTx/>
                    <a:uFillTx/>
                    <a:latin typeface="+mj-ea"/>
                    <a:ea typeface="+mj-ea"/>
                    <a:cs typeface="+mn-cs"/>
                  </a:rPr>
                  <a:t>固定的周期和序列使生产节奏变得稳定可预测，减少了换线的混乱和停机时间，显著提升设备利用率和劳动生产率。</a:t>
                </a:r>
                <a:endParaRPr kumimoji="0" lang="en-GB" altLang="zh-CN" sz="1400" b="1" i="0" u="none" strike="noStrike" kern="1200" cap="none" spc="0" normalizeH="0" baseline="0" noProof="0" dirty="0">
                  <a:ln>
                    <a:noFill/>
                  </a:ln>
                  <a:solidFill>
                    <a:schemeClr val="tx2">
                      <a:lumMod val="75000"/>
                      <a:lumOff val="25000"/>
                    </a:schemeClr>
                  </a:solidFill>
                  <a:effectLst/>
                  <a:uLnTx/>
                  <a:uFillTx/>
                  <a:latin typeface="+mj-ea"/>
                  <a:ea typeface="+mj-ea"/>
                  <a:cs typeface="+mn-cs"/>
                </a:endParaRPr>
              </a:p>
            </p:txBody>
          </p:sp>
        </p:grpSp>
        <p:grpSp>
          <p:nvGrpSpPr>
            <p:cNvPr id="75" name="组合 74">
              <a:extLst>
                <a:ext uri="{FF2B5EF4-FFF2-40B4-BE49-F238E27FC236}">
                  <a16:creationId xmlns:a16="http://schemas.microsoft.com/office/drawing/2014/main" id="{36E703DC-71F8-DD24-35A0-A6A1D1902F0C}"/>
                </a:ext>
              </a:extLst>
            </p:cNvPr>
            <p:cNvGrpSpPr/>
            <p:nvPr/>
          </p:nvGrpSpPr>
          <p:grpSpPr>
            <a:xfrm>
              <a:off x="2904417" y="2496463"/>
              <a:ext cx="6383166" cy="1087904"/>
              <a:chOff x="2904417" y="2496463"/>
              <a:chExt cx="6383166" cy="1087904"/>
            </a:xfrm>
          </p:grpSpPr>
          <p:sp>
            <p:nvSpPr>
              <p:cNvPr id="88" name="2">
                <a:extLst>
                  <a:ext uri="{FF2B5EF4-FFF2-40B4-BE49-F238E27FC236}">
                    <a16:creationId xmlns:a16="http://schemas.microsoft.com/office/drawing/2014/main" id="{7335A28D-113A-F96E-DEB1-F3688601B5BC}"/>
                  </a:ext>
                </a:extLst>
              </p:cNvPr>
              <p:cNvSpPr/>
              <p:nvPr>
                <p:custDataLst>
                  <p:tags r:id="rId12"/>
                </p:custDataLst>
              </p:nvPr>
            </p:nvSpPr>
            <p:spPr>
              <a:xfrm>
                <a:off x="2904417" y="2590839"/>
                <a:ext cx="6268865" cy="993528"/>
              </a:xfrm>
              <a:prstGeom prst="roundRect">
                <a:avLst>
                  <a:gd name="adj" fmla="val 28076"/>
                </a:avLst>
              </a:prstGeom>
              <a:solidFill>
                <a:schemeClr val="bg1">
                  <a:lumMod val="95000"/>
                </a:schemeClr>
              </a:solidFill>
              <a:ln w="25400">
                <a:noFill/>
              </a:ln>
              <a:effectLst>
                <a:outerShdw blurRad="381000" dist="63500" sx="90000" sy="90000" algn="ctr" rotWithShape="0">
                  <a:schemeClr val="tx1">
                    <a:lumMod val="50000"/>
                    <a:lumOff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b="1" dirty="0">
                  <a:solidFill>
                    <a:prstClr val="white"/>
                  </a:solidFill>
                  <a:latin typeface="+mj-ea"/>
                  <a:ea typeface="+mj-ea"/>
                </a:endParaRPr>
              </a:p>
            </p:txBody>
          </p:sp>
          <p:sp>
            <p:nvSpPr>
              <p:cNvPr id="89" name="2">
                <a:extLst>
                  <a:ext uri="{FF2B5EF4-FFF2-40B4-BE49-F238E27FC236}">
                    <a16:creationId xmlns:a16="http://schemas.microsoft.com/office/drawing/2014/main" id="{B54DDD66-9AA5-F8A5-C6FD-F83949BCC6D2}"/>
                  </a:ext>
                </a:extLst>
              </p:cNvPr>
              <p:cNvSpPr/>
              <p:nvPr>
                <p:custDataLst>
                  <p:tags r:id="rId13"/>
                </p:custDataLst>
              </p:nvPr>
            </p:nvSpPr>
            <p:spPr>
              <a:xfrm>
                <a:off x="2904418" y="2598156"/>
                <a:ext cx="1687065" cy="942861"/>
              </a:xfrm>
              <a:custGeom>
                <a:avLst/>
                <a:gdLst>
                  <a:gd name="connsiteX0" fmla="*/ 709001 w 1687065"/>
                  <a:gd name="connsiteY0" fmla="*/ 0 h 738359"/>
                  <a:gd name="connsiteX1" fmla="*/ 1120121 w 1687065"/>
                  <a:gd name="connsiteY1" fmla="*/ 0 h 738359"/>
                  <a:gd name="connsiteX2" fmla="*/ 1120121 w 1687065"/>
                  <a:gd name="connsiteY2" fmla="*/ 359 h 738359"/>
                  <a:gd name="connsiteX3" fmla="*/ 1687065 w 1687065"/>
                  <a:gd name="connsiteY3" fmla="*/ 359 h 738359"/>
                  <a:gd name="connsiteX4" fmla="*/ 1120121 w 1687065"/>
                  <a:gd name="connsiteY4" fmla="*/ 738359 h 738359"/>
                  <a:gd name="connsiteX5" fmla="*/ 1120121 w 1687065"/>
                  <a:gd name="connsiteY5" fmla="*/ 738000 h 738359"/>
                  <a:gd name="connsiteX6" fmla="*/ 833457 w 1687065"/>
                  <a:gd name="connsiteY6" fmla="*/ 738000 h 738359"/>
                  <a:gd name="connsiteX7" fmla="*/ 829906 w 1687065"/>
                  <a:gd name="connsiteY7" fmla="*/ 738358 h 738359"/>
                  <a:gd name="connsiteX8" fmla="*/ 191954 w 1687065"/>
                  <a:gd name="connsiteY8" fmla="*/ 738358 h 738359"/>
                  <a:gd name="connsiteX9" fmla="*/ 0 w 1687065"/>
                  <a:gd name="connsiteY9" fmla="*/ 546404 h 738359"/>
                  <a:gd name="connsiteX10" fmla="*/ 0 w 1687065"/>
                  <a:gd name="connsiteY10" fmla="*/ 192312 h 738359"/>
                  <a:gd name="connsiteX11" fmla="*/ 191954 w 1687065"/>
                  <a:gd name="connsiteY11" fmla="*/ 358 h 738359"/>
                  <a:gd name="connsiteX12" fmla="*/ 709001 w 1687065"/>
                  <a:gd name="connsiteY12" fmla="*/ 358 h 738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7065" h="738359">
                    <a:moveTo>
                      <a:pt x="709001" y="0"/>
                    </a:moveTo>
                    <a:lnTo>
                      <a:pt x="1120121" y="0"/>
                    </a:lnTo>
                    <a:lnTo>
                      <a:pt x="1120121" y="359"/>
                    </a:lnTo>
                    <a:lnTo>
                      <a:pt x="1687065" y="359"/>
                    </a:lnTo>
                    <a:lnTo>
                      <a:pt x="1120121" y="738359"/>
                    </a:lnTo>
                    <a:lnTo>
                      <a:pt x="1120121" y="738000"/>
                    </a:lnTo>
                    <a:lnTo>
                      <a:pt x="833457" y="738000"/>
                    </a:lnTo>
                    <a:lnTo>
                      <a:pt x="829906" y="738358"/>
                    </a:lnTo>
                    <a:lnTo>
                      <a:pt x="191954" y="738358"/>
                    </a:lnTo>
                    <a:cubicBezTo>
                      <a:pt x="85941" y="738358"/>
                      <a:pt x="0" y="652417"/>
                      <a:pt x="0" y="546404"/>
                    </a:cubicBezTo>
                    <a:lnTo>
                      <a:pt x="0" y="192312"/>
                    </a:lnTo>
                    <a:cubicBezTo>
                      <a:pt x="0" y="86299"/>
                      <a:pt x="85941" y="358"/>
                      <a:pt x="191954" y="358"/>
                    </a:cubicBezTo>
                    <a:lnTo>
                      <a:pt x="709001" y="358"/>
                    </a:lnTo>
                    <a:close/>
                  </a:path>
                </a:pathLst>
              </a:custGeom>
              <a:gradFill flip="none" rotWithShape="1">
                <a:gsLst>
                  <a:gs pos="0">
                    <a:schemeClr val="accent2"/>
                  </a:gs>
                  <a:gs pos="100000">
                    <a:schemeClr val="accent2">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b="1" dirty="0">
                  <a:latin typeface="+mj-ea"/>
                  <a:ea typeface="+mj-ea"/>
                </a:endParaRPr>
              </a:p>
            </p:txBody>
          </p:sp>
          <p:sp>
            <p:nvSpPr>
              <p:cNvPr id="90" name="Title-2">
                <a:extLst>
                  <a:ext uri="{FF2B5EF4-FFF2-40B4-BE49-F238E27FC236}">
                    <a16:creationId xmlns:a16="http://schemas.microsoft.com/office/drawing/2014/main" id="{E2C02D7F-CDC7-4278-E55E-2F0D00D1FE9F}"/>
                  </a:ext>
                </a:extLst>
              </p:cNvPr>
              <p:cNvSpPr txBox="1"/>
              <p:nvPr>
                <p:custDataLst>
                  <p:tags r:id="rId14"/>
                </p:custDataLst>
              </p:nvPr>
            </p:nvSpPr>
            <p:spPr>
              <a:xfrm>
                <a:off x="3018718" y="2925251"/>
                <a:ext cx="1129809" cy="340338"/>
              </a:xfrm>
              <a:prstGeom prst="rect">
                <a:avLst/>
              </a:prstGeom>
              <a:noFill/>
            </p:spPr>
            <p:txBody>
              <a:bodyPr wrap="square" rtlCol="0">
                <a:noAutofit/>
              </a:bodyPr>
              <a:lstStyle/>
              <a:p>
                <a:r>
                  <a:rPr lang="zh-CN" altLang="en-US" b="1" dirty="0">
                    <a:solidFill>
                      <a:schemeClr val="bg1"/>
                    </a:solidFill>
                    <a:latin typeface="+mj-ea"/>
                    <a:ea typeface="+mj-ea"/>
                  </a:rPr>
                  <a:t>显著降低成本：</a:t>
                </a:r>
              </a:p>
            </p:txBody>
          </p:sp>
          <p:sp>
            <p:nvSpPr>
              <p:cNvPr id="91" name="Index-2">
                <a:extLst>
                  <a:ext uri="{FF2B5EF4-FFF2-40B4-BE49-F238E27FC236}">
                    <a16:creationId xmlns:a16="http://schemas.microsoft.com/office/drawing/2014/main" id="{C54BDB50-164C-DE62-B04B-63602ECC2C74}"/>
                  </a:ext>
                </a:extLst>
              </p:cNvPr>
              <p:cNvSpPr txBox="1"/>
              <p:nvPr>
                <p:custDataLst>
                  <p:tags r:id="rId15"/>
                </p:custDataLst>
              </p:nvPr>
            </p:nvSpPr>
            <p:spPr>
              <a:xfrm>
                <a:off x="8023434" y="2582615"/>
                <a:ext cx="1264149" cy="769441"/>
              </a:xfrm>
              <a:prstGeom prst="rect">
                <a:avLst/>
              </a:prstGeom>
              <a:noFill/>
            </p:spPr>
            <p:txBody>
              <a:bodyPr wrap="square" rtlCol="0">
                <a:noAutofit/>
              </a:bodyPr>
              <a:lstStyle/>
              <a:p>
                <a:pPr algn="ctr"/>
                <a:r>
                  <a:rPr lang="en-US" altLang="zh-CN" sz="4400" b="1" i="1" dirty="0">
                    <a:solidFill>
                      <a:schemeClr val="accent2">
                        <a:alpha val="50000"/>
                      </a:schemeClr>
                    </a:solidFill>
                    <a:latin typeface="+mj-ea"/>
                    <a:ea typeface="+mj-ea"/>
                  </a:rPr>
                  <a:t>02</a:t>
                </a:r>
                <a:endParaRPr lang="zh-CN" altLang="en-US" sz="4400" b="1" i="1" dirty="0">
                  <a:solidFill>
                    <a:schemeClr val="accent2">
                      <a:alpha val="50000"/>
                    </a:schemeClr>
                  </a:solidFill>
                  <a:latin typeface="+mj-ea"/>
                  <a:ea typeface="+mj-ea"/>
                </a:endParaRPr>
              </a:p>
            </p:txBody>
          </p:sp>
          <p:sp>
            <p:nvSpPr>
              <p:cNvPr id="92" name="Body-2">
                <a:extLst>
                  <a:ext uri="{FF2B5EF4-FFF2-40B4-BE49-F238E27FC236}">
                    <a16:creationId xmlns:a16="http://schemas.microsoft.com/office/drawing/2014/main" id="{3A68FC56-4EF6-6C9D-3F21-A975ECA7C6E1}"/>
                  </a:ext>
                </a:extLst>
              </p:cNvPr>
              <p:cNvSpPr>
                <a:spLocks/>
              </p:cNvSpPr>
              <p:nvPr>
                <p:custDataLst>
                  <p:tags r:id="rId16"/>
                </p:custDataLst>
              </p:nvPr>
            </p:nvSpPr>
            <p:spPr>
              <a:xfrm>
                <a:off x="4654609" y="2496463"/>
                <a:ext cx="3942170"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库存成本：</a:t>
                </a:r>
              </a:p>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通过小批量、多批次的均衡生产，大幅降低在制品和成品库存水平。文档指出，从批量生产转为循环</a:t>
                </a:r>
                <a:r>
                  <a:rPr kumimoji="0" lang="en-US" altLang="zh-CN"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JIT</a:t>
                </a: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生产可使库存降低</a:t>
                </a:r>
                <a:r>
                  <a:rPr kumimoji="0" lang="en-US" altLang="zh-CN"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20</a:t>
                </a: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倍。</a:t>
                </a:r>
              </a:p>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换线成本：</a:t>
                </a:r>
              </a:p>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优化的生产序列将相似的生产任务分组，极大减少了换线时间和相关成本。</a:t>
                </a:r>
                <a:endParaRPr kumimoji="0" lang="en-GB" altLang="zh-CN" sz="1400" b="1" i="0" u="none" strike="noStrike" kern="1200" cap="none" spc="0" normalizeH="0" baseline="0" noProof="0" dirty="0">
                  <a:ln>
                    <a:noFill/>
                  </a:ln>
                  <a:solidFill>
                    <a:schemeClr val="tx2">
                      <a:lumMod val="75000"/>
                      <a:lumOff val="25000"/>
                    </a:schemeClr>
                  </a:solidFill>
                  <a:effectLst/>
                  <a:uLnTx/>
                  <a:uFillTx/>
                  <a:latin typeface="+mj-ea"/>
                  <a:ea typeface="+mj-ea"/>
                  <a:cs typeface="+mn-cs"/>
                </a:endParaRPr>
              </a:p>
            </p:txBody>
          </p:sp>
        </p:grpSp>
        <p:grpSp>
          <p:nvGrpSpPr>
            <p:cNvPr id="76" name="组合 75">
              <a:extLst>
                <a:ext uri="{FF2B5EF4-FFF2-40B4-BE49-F238E27FC236}">
                  <a16:creationId xmlns:a16="http://schemas.microsoft.com/office/drawing/2014/main" id="{8B0A20AF-2436-3FF3-F41B-3C863EDF3BB8}"/>
                </a:ext>
              </a:extLst>
            </p:cNvPr>
            <p:cNvGrpSpPr/>
            <p:nvPr/>
          </p:nvGrpSpPr>
          <p:grpSpPr>
            <a:xfrm>
              <a:off x="2904417" y="3720495"/>
              <a:ext cx="6381671" cy="809160"/>
              <a:chOff x="2904417" y="3720495"/>
              <a:chExt cx="6381671" cy="809160"/>
            </a:xfrm>
          </p:grpSpPr>
          <p:sp>
            <p:nvSpPr>
              <p:cNvPr id="83" name="3">
                <a:extLst>
                  <a:ext uri="{FF2B5EF4-FFF2-40B4-BE49-F238E27FC236}">
                    <a16:creationId xmlns:a16="http://schemas.microsoft.com/office/drawing/2014/main" id="{B6929B91-0CE6-B34E-C31C-814D588C15C7}"/>
                  </a:ext>
                </a:extLst>
              </p:cNvPr>
              <p:cNvSpPr/>
              <p:nvPr>
                <p:custDataLst>
                  <p:tags r:id="rId7"/>
                </p:custDataLst>
              </p:nvPr>
            </p:nvSpPr>
            <p:spPr>
              <a:xfrm>
                <a:off x="2904417" y="3739163"/>
                <a:ext cx="6268865" cy="736545"/>
              </a:xfrm>
              <a:prstGeom prst="roundRect">
                <a:avLst>
                  <a:gd name="adj" fmla="val 28076"/>
                </a:avLst>
              </a:prstGeom>
              <a:solidFill>
                <a:schemeClr val="bg1">
                  <a:lumMod val="95000"/>
                </a:schemeClr>
              </a:solidFill>
              <a:ln w="25400">
                <a:noFill/>
              </a:ln>
              <a:effectLst>
                <a:outerShdw blurRad="381000" dist="63500" sx="90000" sy="90000" algn="ctr" rotWithShape="0">
                  <a:schemeClr val="tx1">
                    <a:lumMod val="50000"/>
                    <a:lumOff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b="1" dirty="0">
                  <a:solidFill>
                    <a:prstClr val="white"/>
                  </a:solidFill>
                  <a:latin typeface="+mj-ea"/>
                  <a:ea typeface="+mj-ea"/>
                </a:endParaRPr>
              </a:p>
            </p:txBody>
          </p:sp>
          <p:sp>
            <p:nvSpPr>
              <p:cNvPr id="84" name="3">
                <a:extLst>
                  <a:ext uri="{FF2B5EF4-FFF2-40B4-BE49-F238E27FC236}">
                    <a16:creationId xmlns:a16="http://schemas.microsoft.com/office/drawing/2014/main" id="{BFCC9AF3-01E0-10F7-4C9F-AD76DB4A4AEC}"/>
                  </a:ext>
                </a:extLst>
              </p:cNvPr>
              <p:cNvSpPr/>
              <p:nvPr>
                <p:custDataLst>
                  <p:tags r:id="rId8"/>
                </p:custDataLst>
              </p:nvPr>
            </p:nvSpPr>
            <p:spPr>
              <a:xfrm>
                <a:off x="2904418" y="3738255"/>
                <a:ext cx="1687065" cy="738359"/>
              </a:xfrm>
              <a:custGeom>
                <a:avLst/>
                <a:gdLst>
                  <a:gd name="connsiteX0" fmla="*/ 709001 w 1687065"/>
                  <a:gd name="connsiteY0" fmla="*/ 0 h 738359"/>
                  <a:gd name="connsiteX1" fmla="*/ 1120121 w 1687065"/>
                  <a:gd name="connsiteY1" fmla="*/ 0 h 738359"/>
                  <a:gd name="connsiteX2" fmla="*/ 1120121 w 1687065"/>
                  <a:gd name="connsiteY2" fmla="*/ 359 h 738359"/>
                  <a:gd name="connsiteX3" fmla="*/ 1687065 w 1687065"/>
                  <a:gd name="connsiteY3" fmla="*/ 359 h 738359"/>
                  <a:gd name="connsiteX4" fmla="*/ 1120121 w 1687065"/>
                  <a:gd name="connsiteY4" fmla="*/ 738359 h 738359"/>
                  <a:gd name="connsiteX5" fmla="*/ 1120121 w 1687065"/>
                  <a:gd name="connsiteY5" fmla="*/ 738000 h 738359"/>
                  <a:gd name="connsiteX6" fmla="*/ 833457 w 1687065"/>
                  <a:gd name="connsiteY6" fmla="*/ 738000 h 738359"/>
                  <a:gd name="connsiteX7" fmla="*/ 829906 w 1687065"/>
                  <a:gd name="connsiteY7" fmla="*/ 738358 h 738359"/>
                  <a:gd name="connsiteX8" fmla="*/ 191954 w 1687065"/>
                  <a:gd name="connsiteY8" fmla="*/ 738358 h 738359"/>
                  <a:gd name="connsiteX9" fmla="*/ 0 w 1687065"/>
                  <a:gd name="connsiteY9" fmla="*/ 546404 h 738359"/>
                  <a:gd name="connsiteX10" fmla="*/ 0 w 1687065"/>
                  <a:gd name="connsiteY10" fmla="*/ 192312 h 738359"/>
                  <a:gd name="connsiteX11" fmla="*/ 191954 w 1687065"/>
                  <a:gd name="connsiteY11" fmla="*/ 358 h 738359"/>
                  <a:gd name="connsiteX12" fmla="*/ 709001 w 1687065"/>
                  <a:gd name="connsiteY12" fmla="*/ 358 h 738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7065" h="738359">
                    <a:moveTo>
                      <a:pt x="709001" y="0"/>
                    </a:moveTo>
                    <a:lnTo>
                      <a:pt x="1120121" y="0"/>
                    </a:lnTo>
                    <a:lnTo>
                      <a:pt x="1120121" y="359"/>
                    </a:lnTo>
                    <a:lnTo>
                      <a:pt x="1687065" y="359"/>
                    </a:lnTo>
                    <a:lnTo>
                      <a:pt x="1120121" y="738359"/>
                    </a:lnTo>
                    <a:lnTo>
                      <a:pt x="1120121" y="738000"/>
                    </a:lnTo>
                    <a:lnTo>
                      <a:pt x="833457" y="738000"/>
                    </a:lnTo>
                    <a:lnTo>
                      <a:pt x="829906" y="738358"/>
                    </a:lnTo>
                    <a:lnTo>
                      <a:pt x="191954" y="738358"/>
                    </a:lnTo>
                    <a:cubicBezTo>
                      <a:pt x="85941" y="738358"/>
                      <a:pt x="0" y="652417"/>
                      <a:pt x="0" y="546404"/>
                    </a:cubicBezTo>
                    <a:lnTo>
                      <a:pt x="0" y="192312"/>
                    </a:lnTo>
                    <a:cubicBezTo>
                      <a:pt x="0" y="86299"/>
                      <a:pt x="85941" y="358"/>
                      <a:pt x="191954" y="358"/>
                    </a:cubicBezTo>
                    <a:lnTo>
                      <a:pt x="709001" y="358"/>
                    </a:lnTo>
                    <a:close/>
                  </a:path>
                </a:pathLst>
              </a:custGeom>
              <a:gradFill flip="none" rotWithShape="1">
                <a:gsLst>
                  <a:gs pos="0">
                    <a:schemeClr val="accent3"/>
                  </a:gs>
                  <a:gs pos="100000">
                    <a:schemeClr val="accent3">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b="1" dirty="0">
                  <a:latin typeface="+mj-ea"/>
                  <a:ea typeface="+mj-ea"/>
                </a:endParaRPr>
              </a:p>
            </p:txBody>
          </p:sp>
          <p:sp>
            <p:nvSpPr>
              <p:cNvPr id="85" name="Title-3">
                <a:extLst>
                  <a:ext uri="{FF2B5EF4-FFF2-40B4-BE49-F238E27FC236}">
                    <a16:creationId xmlns:a16="http://schemas.microsoft.com/office/drawing/2014/main" id="{CAA014D4-DBD4-32A1-9EDC-2B0BBE20CD8E}"/>
                  </a:ext>
                </a:extLst>
              </p:cNvPr>
              <p:cNvSpPr txBox="1"/>
              <p:nvPr>
                <p:custDataLst>
                  <p:tags r:id="rId9"/>
                </p:custDataLst>
              </p:nvPr>
            </p:nvSpPr>
            <p:spPr>
              <a:xfrm>
                <a:off x="3018719" y="3720495"/>
                <a:ext cx="1129809" cy="340338"/>
              </a:xfrm>
              <a:prstGeom prst="rect">
                <a:avLst/>
              </a:prstGeom>
              <a:noFill/>
            </p:spPr>
            <p:txBody>
              <a:bodyPr wrap="square" rtlCol="0">
                <a:noAutofit/>
              </a:bodyPr>
              <a:lstStyle/>
              <a:p>
                <a:r>
                  <a:rPr lang="zh-CN" altLang="en-US" b="1">
                    <a:solidFill>
                      <a:schemeClr val="bg1"/>
                    </a:solidFill>
                    <a:latin typeface="+mj-ea"/>
                    <a:ea typeface="+mj-ea"/>
                  </a:rPr>
                  <a:t>改善交付绩效：</a:t>
                </a:r>
                <a:endParaRPr lang="zh-CN" altLang="en-US" b="1" dirty="0">
                  <a:solidFill>
                    <a:schemeClr val="bg1"/>
                  </a:solidFill>
                  <a:latin typeface="+mj-ea"/>
                  <a:ea typeface="+mj-ea"/>
                </a:endParaRPr>
              </a:p>
            </p:txBody>
          </p:sp>
          <p:sp>
            <p:nvSpPr>
              <p:cNvPr id="86" name="Index-3">
                <a:extLst>
                  <a:ext uri="{FF2B5EF4-FFF2-40B4-BE49-F238E27FC236}">
                    <a16:creationId xmlns:a16="http://schemas.microsoft.com/office/drawing/2014/main" id="{E24168AF-377F-7344-5075-732E2A1BA427}"/>
                  </a:ext>
                </a:extLst>
              </p:cNvPr>
              <p:cNvSpPr txBox="1"/>
              <p:nvPr>
                <p:custDataLst>
                  <p:tags r:id="rId10"/>
                </p:custDataLst>
              </p:nvPr>
            </p:nvSpPr>
            <p:spPr>
              <a:xfrm>
                <a:off x="8021939" y="3760214"/>
                <a:ext cx="1264149" cy="769441"/>
              </a:xfrm>
              <a:prstGeom prst="rect">
                <a:avLst/>
              </a:prstGeom>
              <a:noFill/>
            </p:spPr>
            <p:txBody>
              <a:bodyPr wrap="square" rtlCol="0">
                <a:noAutofit/>
              </a:bodyPr>
              <a:lstStyle/>
              <a:p>
                <a:pPr algn="ctr"/>
                <a:r>
                  <a:rPr lang="en-US" altLang="zh-CN" sz="4400" b="1" i="1" dirty="0">
                    <a:solidFill>
                      <a:schemeClr val="accent3">
                        <a:alpha val="50000"/>
                      </a:schemeClr>
                    </a:solidFill>
                    <a:latin typeface="+mj-ea"/>
                    <a:ea typeface="+mj-ea"/>
                  </a:rPr>
                  <a:t>03</a:t>
                </a:r>
                <a:endParaRPr lang="zh-CN" altLang="en-US" sz="4400" b="1" i="1" dirty="0">
                  <a:solidFill>
                    <a:schemeClr val="accent3">
                      <a:alpha val="50000"/>
                    </a:schemeClr>
                  </a:solidFill>
                  <a:latin typeface="+mj-ea"/>
                  <a:ea typeface="+mj-ea"/>
                </a:endParaRPr>
              </a:p>
            </p:txBody>
          </p:sp>
          <p:sp>
            <p:nvSpPr>
              <p:cNvPr id="87" name="Body-3">
                <a:extLst>
                  <a:ext uri="{FF2B5EF4-FFF2-40B4-BE49-F238E27FC236}">
                    <a16:creationId xmlns:a16="http://schemas.microsoft.com/office/drawing/2014/main" id="{38BB37FB-9794-3729-61F9-181BC1789DFD}"/>
                  </a:ext>
                </a:extLst>
              </p:cNvPr>
              <p:cNvSpPr>
                <a:spLocks/>
              </p:cNvSpPr>
              <p:nvPr>
                <p:custDataLst>
                  <p:tags r:id="rId11"/>
                </p:custDataLst>
              </p:nvPr>
            </p:nvSpPr>
            <p:spPr>
              <a:xfrm>
                <a:off x="4452989" y="3853008"/>
                <a:ext cx="3604046"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稳定的生产计划使交付周期变得更短、更可靠，从而提升对客户订单的准时交付率。</a:t>
                </a:r>
                <a:endParaRPr kumimoji="0" lang="en-GB" altLang="zh-CN" sz="1400" b="1" i="0" u="none" strike="noStrike" kern="1200" cap="none" spc="0" normalizeH="0" baseline="0" noProof="0" dirty="0">
                  <a:ln>
                    <a:noFill/>
                  </a:ln>
                  <a:solidFill>
                    <a:schemeClr val="tx2">
                      <a:lumMod val="75000"/>
                      <a:lumOff val="25000"/>
                    </a:schemeClr>
                  </a:solidFill>
                  <a:effectLst/>
                  <a:uLnTx/>
                  <a:uFillTx/>
                  <a:latin typeface="+mj-ea"/>
                  <a:ea typeface="+mj-ea"/>
                  <a:cs typeface="+mn-cs"/>
                </a:endParaRPr>
              </a:p>
            </p:txBody>
          </p:sp>
        </p:grpSp>
        <p:grpSp>
          <p:nvGrpSpPr>
            <p:cNvPr id="77" name="组合 76">
              <a:extLst>
                <a:ext uri="{FF2B5EF4-FFF2-40B4-BE49-F238E27FC236}">
                  <a16:creationId xmlns:a16="http://schemas.microsoft.com/office/drawing/2014/main" id="{443DFE71-3D35-B1B6-9D0C-B3254C49C69C}"/>
                </a:ext>
              </a:extLst>
            </p:cNvPr>
            <p:cNvGrpSpPr/>
            <p:nvPr/>
          </p:nvGrpSpPr>
          <p:grpSpPr>
            <a:xfrm>
              <a:off x="2904417" y="4643824"/>
              <a:ext cx="6381671" cy="798564"/>
              <a:chOff x="2904417" y="4643824"/>
              <a:chExt cx="6381671" cy="798564"/>
            </a:xfrm>
          </p:grpSpPr>
          <p:sp>
            <p:nvSpPr>
              <p:cNvPr id="78" name="4">
                <a:extLst>
                  <a:ext uri="{FF2B5EF4-FFF2-40B4-BE49-F238E27FC236}">
                    <a16:creationId xmlns:a16="http://schemas.microsoft.com/office/drawing/2014/main" id="{2A4ED597-8A9E-1943-0B46-6E3010BE1607}"/>
                  </a:ext>
                </a:extLst>
              </p:cNvPr>
              <p:cNvSpPr/>
              <p:nvPr>
                <p:custDataLst>
                  <p:tags r:id="rId2"/>
                </p:custDataLst>
              </p:nvPr>
            </p:nvSpPr>
            <p:spPr>
              <a:xfrm>
                <a:off x="2904417" y="4672947"/>
                <a:ext cx="6268865" cy="736545"/>
              </a:xfrm>
              <a:prstGeom prst="roundRect">
                <a:avLst>
                  <a:gd name="adj" fmla="val 28076"/>
                </a:avLst>
              </a:prstGeom>
              <a:solidFill>
                <a:schemeClr val="bg1">
                  <a:lumMod val="95000"/>
                </a:schemeClr>
              </a:solidFill>
              <a:ln w="25400">
                <a:noFill/>
              </a:ln>
              <a:effectLst>
                <a:outerShdw blurRad="381000" dist="63500" sx="90000" sy="90000" algn="ctr" rotWithShape="0">
                  <a:schemeClr val="tx1">
                    <a:lumMod val="50000"/>
                    <a:lumOff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b="1" dirty="0">
                  <a:solidFill>
                    <a:prstClr val="white"/>
                  </a:solidFill>
                  <a:latin typeface="+mj-ea"/>
                  <a:ea typeface="+mj-ea"/>
                </a:endParaRPr>
              </a:p>
            </p:txBody>
          </p:sp>
          <p:sp>
            <p:nvSpPr>
              <p:cNvPr id="79" name="4">
                <a:extLst>
                  <a:ext uri="{FF2B5EF4-FFF2-40B4-BE49-F238E27FC236}">
                    <a16:creationId xmlns:a16="http://schemas.microsoft.com/office/drawing/2014/main" id="{618D25CE-805B-CAC0-14DE-80494B2AA733}"/>
                  </a:ext>
                </a:extLst>
              </p:cNvPr>
              <p:cNvSpPr/>
              <p:nvPr>
                <p:custDataLst>
                  <p:tags r:id="rId3"/>
                </p:custDataLst>
              </p:nvPr>
            </p:nvSpPr>
            <p:spPr>
              <a:xfrm>
                <a:off x="2904418" y="4661584"/>
                <a:ext cx="1687065" cy="738359"/>
              </a:xfrm>
              <a:custGeom>
                <a:avLst/>
                <a:gdLst>
                  <a:gd name="connsiteX0" fmla="*/ 709001 w 1687065"/>
                  <a:gd name="connsiteY0" fmla="*/ 0 h 738359"/>
                  <a:gd name="connsiteX1" fmla="*/ 1120121 w 1687065"/>
                  <a:gd name="connsiteY1" fmla="*/ 0 h 738359"/>
                  <a:gd name="connsiteX2" fmla="*/ 1120121 w 1687065"/>
                  <a:gd name="connsiteY2" fmla="*/ 359 h 738359"/>
                  <a:gd name="connsiteX3" fmla="*/ 1687065 w 1687065"/>
                  <a:gd name="connsiteY3" fmla="*/ 359 h 738359"/>
                  <a:gd name="connsiteX4" fmla="*/ 1120121 w 1687065"/>
                  <a:gd name="connsiteY4" fmla="*/ 738359 h 738359"/>
                  <a:gd name="connsiteX5" fmla="*/ 1120121 w 1687065"/>
                  <a:gd name="connsiteY5" fmla="*/ 738000 h 738359"/>
                  <a:gd name="connsiteX6" fmla="*/ 833457 w 1687065"/>
                  <a:gd name="connsiteY6" fmla="*/ 738000 h 738359"/>
                  <a:gd name="connsiteX7" fmla="*/ 829906 w 1687065"/>
                  <a:gd name="connsiteY7" fmla="*/ 738358 h 738359"/>
                  <a:gd name="connsiteX8" fmla="*/ 191954 w 1687065"/>
                  <a:gd name="connsiteY8" fmla="*/ 738358 h 738359"/>
                  <a:gd name="connsiteX9" fmla="*/ 0 w 1687065"/>
                  <a:gd name="connsiteY9" fmla="*/ 546404 h 738359"/>
                  <a:gd name="connsiteX10" fmla="*/ 0 w 1687065"/>
                  <a:gd name="connsiteY10" fmla="*/ 192312 h 738359"/>
                  <a:gd name="connsiteX11" fmla="*/ 191954 w 1687065"/>
                  <a:gd name="connsiteY11" fmla="*/ 358 h 738359"/>
                  <a:gd name="connsiteX12" fmla="*/ 709001 w 1687065"/>
                  <a:gd name="connsiteY12" fmla="*/ 358 h 738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7065" h="738359">
                    <a:moveTo>
                      <a:pt x="709001" y="0"/>
                    </a:moveTo>
                    <a:lnTo>
                      <a:pt x="1120121" y="0"/>
                    </a:lnTo>
                    <a:lnTo>
                      <a:pt x="1120121" y="359"/>
                    </a:lnTo>
                    <a:lnTo>
                      <a:pt x="1687065" y="359"/>
                    </a:lnTo>
                    <a:lnTo>
                      <a:pt x="1120121" y="738359"/>
                    </a:lnTo>
                    <a:lnTo>
                      <a:pt x="1120121" y="738000"/>
                    </a:lnTo>
                    <a:lnTo>
                      <a:pt x="833457" y="738000"/>
                    </a:lnTo>
                    <a:lnTo>
                      <a:pt x="829906" y="738358"/>
                    </a:lnTo>
                    <a:lnTo>
                      <a:pt x="191954" y="738358"/>
                    </a:lnTo>
                    <a:cubicBezTo>
                      <a:pt x="85941" y="738358"/>
                      <a:pt x="0" y="652417"/>
                      <a:pt x="0" y="546404"/>
                    </a:cubicBezTo>
                    <a:lnTo>
                      <a:pt x="0" y="192312"/>
                    </a:lnTo>
                    <a:cubicBezTo>
                      <a:pt x="0" y="86299"/>
                      <a:pt x="85941" y="358"/>
                      <a:pt x="191954" y="358"/>
                    </a:cubicBezTo>
                    <a:lnTo>
                      <a:pt x="709001" y="358"/>
                    </a:lnTo>
                    <a:close/>
                  </a:path>
                </a:pathLst>
              </a:custGeom>
              <a:gradFill flip="none" rotWithShape="1">
                <a:gsLst>
                  <a:gs pos="0">
                    <a:schemeClr val="accent4"/>
                  </a:gs>
                  <a:gs pos="100000">
                    <a:schemeClr val="accent4">
                      <a:lumMod val="60000"/>
                      <a:lumOff val="40000"/>
                    </a:schemeClr>
                  </a:gs>
                </a:gsLst>
                <a:lin ang="0" scaled="1"/>
                <a:tileRect/>
              </a:gradFill>
              <a:ln w="381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b="1" dirty="0">
                  <a:latin typeface="+mj-ea"/>
                  <a:ea typeface="+mj-ea"/>
                </a:endParaRPr>
              </a:p>
            </p:txBody>
          </p:sp>
          <p:sp>
            <p:nvSpPr>
              <p:cNvPr id="80" name="Title-4">
                <a:extLst>
                  <a:ext uri="{FF2B5EF4-FFF2-40B4-BE49-F238E27FC236}">
                    <a16:creationId xmlns:a16="http://schemas.microsoft.com/office/drawing/2014/main" id="{9AB7802B-7641-BE5C-761C-5F12FCBE33F2}"/>
                  </a:ext>
                </a:extLst>
              </p:cNvPr>
              <p:cNvSpPr txBox="1"/>
              <p:nvPr>
                <p:custDataLst>
                  <p:tags r:id="rId4"/>
                </p:custDataLst>
              </p:nvPr>
            </p:nvSpPr>
            <p:spPr>
              <a:xfrm>
                <a:off x="3018719" y="4643824"/>
                <a:ext cx="1129809" cy="340338"/>
              </a:xfrm>
              <a:prstGeom prst="rect">
                <a:avLst/>
              </a:prstGeom>
              <a:noFill/>
            </p:spPr>
            <p:txBody>
              <a:bodyPr wrap="square" rtlCol="0">
                <a:noAutofit/>
              </a:bodyPr>
              <a:lstStyle/>
              <a:p>
                <a:r>
                  <a:rPr lang="zh-CN" altLang="en-US" b="1">
                    <a:solidFill>
                      <a:schemeClr val="bg1"/>
                    </a:solidFill>
                    <a:latin typeface="+mj-ea"/>
                    <a:ea typeface="+mj-ea"/>
                  </a:rPr>
                  <a:t>简化管理，增强可视性：</a:t>
                </a:r>
                <a:endParaRPr lang="zh-CN" altLang="en-US" b="1" dirty="0">
                  <a:solidFill>
                    <a:schemeClr val="bg1"/>
                  </a:solidFill>
                  <a:latin typeface="+mj-ea"/>
                  <a:ea typeface="+mj-ea"/>
                </a:endParaRPr>
              </a:p>
            </p:txBody>
          </p:sp>
          <p:sp>
            <p:nvSpPr>
              <p:cNvPr id="81" name="Index-4">
                <a:extLst>
                  <a:ext uri="{FF2B5EF4-FFF2-40B4-BE49-F238E27FC236}">
                    <a16:creationId xmlns:a16="http://schemas.microsoft.com/office/drawing/2014/main" id="{D63B3C40-0F61-CBCC-92CE-38146BC12B45}"/>
                  </a:ext>
                </a:extLst>
              </p:cNvPr>
              <p:cNvSpPr txBox="1"/>
              <p:nvPr>
                <p:custDataLst>
                  <p:tags r:id="rId5"/>
                </p:custDataLst>
              </p:nvPr>
            </p:nvSpPr>
            <p:spPr>
              <a:xfrm>
                <a:off x="8021939" y="4672947"/>
                <a:ext cx="1264149" cy="769441"/>
              </a:xfrm>
              <a:prstGeom prst="rect">
                <a:avLst/>
              </a:prstGeom>
              <a:noFill/>
            </p:spPr>
            <p:txBody>
              <a:bodyPr wrap="square" rtlCol="0">
                <a:noAutofit/>
              </a:bodyPr>
              <a:lstStyle/>
              <a:p>
                <a:pPr algn="ctr"/>
                <a:r>
                  <a:rPr lang="en-US" altLang="zh-CN" sz="4400" b="1" i="1" dirty="0">
                    <a:solidFill>
                      <a:schemeClr val="accent4">
                        <a:alpha val="50000"/>
                      </a:schemeClr>
                    </a:solidFill>
                    <a:latin typeface="+mj-ea"/>
                    <a:ea typeface="+mj-ea"/>
                  </a:rPr>
                  <a:t>04</a:t>
                </a:r>
                <a:endParaRPr lang="zh-CN" altLang="en-US" sz="4400" b="1" i="1" dirty="0">
                  <a:solidFill>
                    <a:schemeClr val="accent4">
                      <a:alpha val="50000"/>
                    </a:schemeClr>
                  </a:solidFill>
                  <a:latin typeface="+mj-ea"/>
                  <a:ea typeface="+mj-ea"/>
                </a:endParaRPr>
              </a:p>
            </p:txBody>
          </p:sp>
          <p:sp>
            <p:nvSpPr>
              <p:cNvPr id="82" name="Body-4">
                <a:extLst>
                  <a:ext uri="{FF2B5EF4-FFF2-40B4-BE49-F238E27FC236}">
                    <a16:creationId xmlns:a16="http://schemas.microsoft.com/office/drawing/2014/main" id="{83F0C422-BE39-3B7D-D787-210C4114796D}"/>
                  </a:ext>
                </a:extLst>
              </p:cNvPr>
              <p:cNvSpPr>
                <a:spLocks/>
              </p:cNvSpPr>
              <p:nvPr>
                <p:custDataLst>
                  <p:tags r:id="rId6"/>
                </p:custDataLst>
              </p:nvPr>
            </p:nvSpPr>
            <p:spPr>
              <a:xfrm>
                <a:off x="4452990" y="4795328"/>
                <a:ext cx="3604046" cy="470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1" i="0" u="none" strike="noStrike" kern="1200" cap="none" spc="0" normalizeH="0" baseline="0" noProof="0" dirty="0">
                    <a:ln>
                      <a:noFill/>
                    </a:ln>
                    <a:solidFill>
                      <a:schemeClr val="tx2">
                        <a:lumMod val="75000"/>
                        <a:lumOff val="25000"/>
                      </a:schemeClr>
                    </a:solidFill>
                    <a:effectLst/>
                    <a:uLnTx/>
                    <a:uFillTx/>
                    <a:latin typeface="+mj-ea"/>
                    <a:ea typeface="+mj-ea"/>
                    <a:cs typeface="+mn-cs"/>
                  </a:rPr>
                  <a:t>为生产管理提供了一个清晰的框架，使得产能状况、生产进度一目了然，简化了排程和管控的复杂度。</a:t>
                </a:r>
                <a:endParaRPr kumimoji="0" lang="en-GB" altLang="zh-CN" sz="1400" b="1" i="0" u="none" strike="noStrike" kern="1200" cap="none" spc="0" normalizeH="0" baseline="0" noProof="0" dirty="0">
                  <a:ln>
                    <a:noFill/>
                  </a:ln>
                  <a:solidFill>
                    <a:schemeClr val="tx2">
                      <a:lumMod val="75000"/>
                      <a:lumOff val="25000"/>
                    </a:schemeClr>
                  </a:solidFill>
                  <a:effectLst/>
                  <a:uLnTx/>
                  <a:uFillTx/>
                  <a:latin typeface="+mj-ea"/>
                  <a:ea typeface="+mj-ea"/>
                  <a:cs typeface="+mn-cs"/>
                </a:endParaRPr>
              </a:p>
            </p:txBody>
          </p:sp>
        </p:grpSp>
      </p:grpSp>
    </p:spTree>
    <p:extLst>
      <p:ext uri="{BB962C8B-B14F-4D97-AF65-F5344CB8AC3E}">
        <p14:creationId xmlns:p14="http://schemas.microsoft.com/office/powerpoint/2010/main" val="2836744408"/>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79B306E-2214-CE34-5CA4-BD027BD0B6B1}"/>
              </a:ext>
            </a:extLst>
          </p:cNvPr>
          <p:cNvSpPr>
            <a:spLocks noGrp="1"/>
          </p:cNvSpPr>
          <p:nvPr>
            <p:ph type="title"/>
          </p:nvPr>
        </p:nvSpPr>
        <p:spPr/>
        <p:txBody>
          <a:bodyPr/>
          <a:lstStyle/>
          <a:p>
            <a:r>
              <a:rPr lang="zh-CN" altLang="en-US" dirty="0"/>
              <a:t>战役规划</a:t>
            </a:r>
            <a:r>
              <a:rPr lang="en-US" altLang="zh-CN" b="1" i="0" dirty="0">
                <a:effectLst/>
                <a:latin typeface="system-ui"/>
              </a:rPr>
              <a:t>Campaign Planning</a:t>
            </a:r>
            <a:r>
              <a:rPr lang="zh-CN" altLang="en-US" b="1" i="0" dirty="0">
                <a:effectLst/>
                <a:latin typeface="system-ui"/>
              </a:rPr>
              <a:t>方案</a:t>
            </a:r>
            <a:endParaRPr lang="zh-CN" altLang="en-US" dirty="0"/>
          </a:p>
        </p:txBody>
      </p:sp>
      <p:grpSp>
        <p:nvGrpSpPr>
          <p:cNvPr id="5" name="组合 4">
            <a:extLst>
              <a:ext uri="{FF2B5EF4-FFF2-40B4-BE49-F238E27FC236}">
                <a16:creationId xmlns:a16="http://schemas.microsoft.com/office/drawing/2014/main" id="{F1ADC7F2-993F-BB8D-B7F8-A98457422A28}"/>
              </a:ext>
            </a:extLst>
          </p:cNvPr>
          <p:cNvGrpSpPr>
            <a:grpSpLocks noChangeAspect="1"/>
          </p:cNvGrpSpPr>
          <p:nvPr>
            <p:custDataLst>
              <p:tags r:id="rId1"/>
            </p:custDataLst>
          </p:nvPr>
        </p:nvGrpSpPr>
        <p:grpSpPr>
          <a:xfrm>
            <a:off x="1397000" y="1222216"/>
            <a:ext cx="8941222" cy="4598406"/>
            <a:chOff x="1777151" y="1420893"/>
            <a:chExt cx="8941222" cy="4598406"/>
          </a:xfrm>
        </p:grpSpPr>
        <p:grpSp>
          <p:nvGrpSpPr>
            <p:cNvPr id="6" name="组合 5">
              <a:extLst>
                <a:ext uri="{FF2B5EF4-FFF2-40B4-BE49-F238E27FC236}">
                  <a16:creationId xmlns:a16="http://schemas.microsoft.com/office/drawing/2014/main" id="{6E614D7E-4D0D-E20F-3E87-8C6819AF5CFB}"/>
                </a:ext>
              </a:extLst>
            </p:cNvPr>
            <p:cNvGrpSpPr/>
            <p:nvPr/>
          </p:nvGrpSpPr>
          <p:grpSpPr>
            <a:xfrm>
              <a:off x="4645306" y="2288388"/>
              <a:ext cx="2901388" cy="2901388"/>
              <a:chOff x="4645306" y="2288388"/>
              <a:chExt cx="2901388" cy="2901388"/>
            </a:xfrm>
          </p:grpSpPr>
          <p:sp>
            <p:nvSpPr>
              <p:cNvPr id="16" name="0">
                <a:extLst>
                  <a:ext uri="{FF2B5EF4-FFF2-40B4-BE49-F238E27FC236}">
                    <a16:creationId xmlns:a16="http://schemas.microsoft.com/office/drawing/2014/main" id="{753365CC-3C3C-A946-0A02-6835FE8D844E}"/>
                  </a:ext>
                </a:extLst>
              </p:cNvPr>
              <p:cNvSpPr/>
              <p:nvPr/>
            </p:nvSpPr>
            <p:spPr>
              <a:xfrm>
                <a:off x="5034454" y="2677536"/>
                <a:ext cx="2123092" cy="2123092"/>
              </a:xfrm>
              <a:prstGeom prst="ellipse">
                <a:avLst/>
              </a:prstGeom>
              <a:noFill/>
              <a:ln w="12700">
                <a:solidFill>
                  <a:schemeClr val="accent2">
                    <a:lumMod val="40000"/>
                    <a:lumOff val="6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400">
                  <a:latin typeface="+mj-ea"/>
                  <a:ea typeface="+mj-ea"/>
                </a:endParaRPr>
              </a:p>
            </p:txBody>
          </p:sp>
          <p:sp>
            <p:nvSpPr>
              <p:cNvPr id="17" name="0">
                <a:extLst>
                  <a:ext uri="{FF2B5EF4-FFF2-40B4-BE49-F238E27FC236}">
                    <a16:creationId xmlns:a16="http://schemas.microsoft.com/office/drawing/2014/main" id="{680C66A2-3760-DFE9-299C-B6640DE387B8}"/>
                  </a:ext>
                </a:extLst>
              </p:cNvPr>
              <p:cNvSpPr/>
              <p:nvPr/>
            </p:nvSpPr>
            <p:spPr>
              <a:xfrm>
                <a:off x="5832782" y="3602554"/>
                <a:ext cx="14032" cy="13899"/>
              </a:xfrm>
              <a:custGeom>
                <a:avLst/>
                <a:gdLst>
                  <a:gd name="connsiteX0" fmla="*/ 22523 w 22523"/>
                  <a:gd name="connsiteY0" fmla="*/ 0 h 22308"/>
                  <a:gd name="connsiteX1" fmla="*/ 0 w 22523"/>
                  <a:gd name="connsiteY1" fmla="*/ 22308 h 22308"/>
                  <a:gd name="connsiteX2" fmla="*/ 9627 w 22523"/>
                  <a:gd name="connsiteY2" fmla="*/ 10640 h 22308"/>
                  <a:gd name="connsiteX3" fmla="*/ 22523 w 22523"/>
                  <a:gd name="connsiteY3" fmla="*/ 0 h 22308"/>
                </a:gdLst>
                <a:ahLst/>
                <a:cxnLst>
                  <a:cxn ang="0">
                    <a:pos x="connsiteX0" y="connsiteY0"/>
                  </a:cxn>
                  <a:cxn ang="0">
                    <a:pos x="connsiteX1" y="connsiteY1"/>
                  </a:cxn>
                  <a:cxn ang="0">
                    <a:pos x="connsiteX2" y="connsiteY2"/>
                  </a:cxn>
                  <a:cxn ang="0">
                    <a:pos x="connsiteX3" y="connsiteY3"/>
                  </a:cxn>
                </a:cxnLst>
                <a:rect l="l" t="t" r="r" b="b"/>
                <a:pathLst>
                  <a:path w="22523" h="22308">
                    <a:moveTo>
                      <a:pt x="22523" y="0"/>
                    </a:moveTo>
                    <a:lnTo>
                      <a:pt x="0" y="22308"/>
                    </a:lnTo>
                    <a:lnTo>
                      <a:pt x="9627" y="10640"/>
                    </a:lnTo>
                    <a:lnTo>
                      <a:pt x="22523"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latin typeface="+mj-ea"/>
                  <a:ea typeface="+mj-ea"/>
                </a:endParaRPr>
              </a:p>
            </p:txBody>
          </p:sp>
          <p:sp>
            <p:nvSpPr>
              <p:cNvPr id="18" name="0">
                <a:extLst>
                  <a:ext uri="{FF2B5EF4-FFF2-40B4-BE49-F238E27FC236}">
                    <a16:creationId xmlns:a16="http://schemas.microsoft.com/office/drawing/2014/main" id="{43660A5B-0582-A1F9-440E-6DDB69FD7B83}"/>
                  </a:ext>
                </a:extLst>
              </p:cNvPr>
              <p:cNvSpPr/>
              <p:nvPr/>
            </p:nvSpPr>
            <p:spPr>
              <a:xfrm>
                <a:off x="6345190" y="3602557"/>
                <a:ext cx="14026" cy="13892"/>
              </a:xfrm>
              <a:custGeom>
                <a:avLst/>
                <a:gdLst>
                  <a:gd name="connsiteX0" fmla="*/ 0 w 22512"/>
                  <a:gd name="connsiteY0" fmla="*/ 0 h 22298"/>
                  <a:gd name="connsiteX1" fmla="*/ 12889 w 22512"/>
                  <a:gd name="connsiteY1" fmla="*/ 10635 h 22298"/>
                  <a:gd name="connsiteX2" fmla="*/ 22512 w 22512"/>
                  <a:gd name="connsiteY2" fmla="*/ 22298 h 22298"/>
                  <a:gd name="connsiteX3" fmla="*/ 0 w 22512"/>
                  <a:gd name="connsiteY3" fmla="*/ 0 h 22298"/>
                </a:gdLst>
                <a:ahLst/>
                <a:cxnLst>
                  <a:cxn ang="0">
                    <a:pos x="connsiteX0" y="connsiteY0"/>
                  </a:cxn>
                  <a:cxn ang="0">
                    <a:pos x="connsiteX1" y="connsiteY1"/>
                  </a:cxn>
                  <a:cxn ang="0">
                    <a:pos x="connsiteX2" y="connsiteY2"/>
                  </a:cxn>
                  <a:cxn ang="0">
                    <a:pos x="connsiteX3" y="connsiteY3"/>
                  </a:cxn>
                </a:cxnLst>
                <a:rect l="l" t="t" r="r" b="b"/>
                <a:pathLst>
                  <a:path w="22512" h="22298">
                    <a:moveTo>
                      <a:pt x="0" y="0"/>
                    </a:moveTo>
                    <a:lnTo>
                      <a:pt x="12889" y="10635"/>
                    </a:lnTo>
                    <a:lnTo>
                      <a:pt x="22512" y="22298"/>
                    </a:lnTo>
                    <a:lnTo>
                      <a:pt x="0"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latin typeface="+mj-ea"/>
                  <a:ea typeface="+mj-ea"/>
                </a:endParaRPr>
              </a:p>
            </p:txBody>
          </p:sp>
          <p:sp>
            <p:nvSpPr>
              <p:cNvPr id="19" name="0">
                <a:extLst>
                  <a:ext uri="{FF2B5EF4-FFF2-40B4-BE49-F238E27FC236}">
                    <a16:creationId xmlns:a16="http://schemas.microsoft.com/office/drawing/2014/main" id="{0D301234-2501-D482-7259-20C9F74FF337}"/>
                  </a:ext>
                </a:extLst>
              </p:cNvPr>
              <p:cNvSpPr/>
              <p:nvPr/>
            </p:nvSpPr>
            <p:spPr>
              <a:xfrm>
                <a:off x="4917316" y="2560398"/>
                <a:ext cx="2357367" cy="2357367"/>
              </a:xfrm>
              <a:prstGeom prst="ellipse">
                <a:avLst/>
              </a:prstGeom>
              <a:noFill/>
              <a:ln w="25400">
                <a:solidFill>
                  <a:schemeClr val="accent2">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400">
                  <a:latin typeface="+mj-ea"/>
                  <a:ea typeface="+mj-ea"/>
                </a:endParaRPr>
              </a:p>
            </p:txBody>
          </p:sp>
          <p:sp>
            <p:nvSpPr>
              <p:cNvPr id="20" name="0">
                <a:extLst>
                  <a:ext uri="{FF2B5EF4-FFF2-40B4-BE49-F238E27FC236}">
                    <a16:creationId xmlns:a16="http://schemas.microsoft.com/office/drawing/2014/main" id="{A277CD1A-3247-E35D-6740-6AAB6D153DBF}"/>
                  </a:ext>
                </a:extLst>
              </p:cNvPr>
              <p:cNvSpPr/>
              <p:nvPr/>
            </p:nvSpPr>
            <p:spPr>
              <a:xfrm>
                <a:off x="4645306" y="2288388"/>
                <a:ext cx="2901388" cy="2901388"/>
              </a:xfrm>
              <a:prstGeom prst="arc">
                <a:avLst>
                  <a:gd name="adj1" fmla="val 10174394"/>
                  <a:gd name="adj2" fmla="val 15005146"/>
                </a:avLst>
              </a:prstGeom>
              <a:noFill/>
              <a:ln w="101600">
                <a:gradFill flip="none" rotWithShape="1">
                  <a:gsLst>
                    <a:gs pos="10000">
                      <a:schemeClr val="accent1">
                        <a:alpha val="0"/>
                      </a:schemeClr>
                    </a:gs>
                    <a:gs pos="100000">
                      <a:schemeClr val="accent1"/>
                    </a:gs>
                  </a:gsLst>
                  <a:lin ang="16200000" scaled="1"/>
                  <a:tileRect/>
                </a:gra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400">
                  <a:latin typeface="+mj-ea"/>
                  <a:ea typeface="+mj-ea"/>
                </a:endParaRPr>
              </a:p>
            </p:txBody>
          </p:sp>
          <p:sp>
            <p:nvSpPr>
              <p:cNvPr id="21" name="0">
                <a:extLst>
                  <a:ext uri="{FF2B5EF4-FFF2-40B4-BE49-F238E27FC236}">
                    <a16:creationId xmlns:a16="http://schemas.microsoft.com/office/drawing/2014/main" id="{BF6EC8FF-1E99-E432-00A0-693BF711656E}"/>
                  </a:ext>
                </a:extLst>
              </p:cNvPr>
              <p:cNvSpPr/>
              <p:nvPr/>
            </p:nvSpPr>
            <p:spPr>
              <a:xfrm>
                <a:off x="5459544" y="3010215"/>
                <a:ext cx="1268916" cy="1093892"/>
              </a:xfrm>
              <a:prstGeom prst="triangle">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400">
                  <a:latin typeface="+mj-ea"/>
                  <a:ea typeface="+mj-ea"/>
                </a:endParaRPr>
              </a:p>
            </p:txBody>
          </p:sp>
          <p:sp>
            <p:nvSpPr>
              <p:cNvPr id="22" name="0">
                <a:extLst>
                  <a:ext uri="{FF2B5EF4-FFF2-40B4-BE49-F238E27FC236}">
                    <a16:creationId xmlns:a16="http://schemas.microsoft.com/office/drawing/2014/main" id="{DDD88A41-5616-DFFD-67B6-DDBCFD3F2028}"/>
                  </a:ext>
                </a:extLst>
              </p:cNvPr>
              <p:cNvSpPr/>
              <p:nvPr/>
            </p:nvSpPr>
            <p:spPr>
              <a:xfrm>
                <a:off x="5634804" y="3222080"/>
                <a:ext cx="918396" cy="791720"/>
              </a:xfrm>
              <a:prstGeom prst="triangl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400">
                  <a:latin typeface="+mj-ea"/>
                  <a:ea typeface="+mj-ea"/>
                </a:endParaRPr>
              </a:p>
            </p:txBody>
          </p:sp>
          <p:sp>
            <p:nvSpPr>
              <p:cNvPr id="23" name="0">
                <a:extLst>
                  <a:ext uri="{FF2B5EF4-FFF2-40B4-BE49-F238E27FC236}">
                    <a16:creationId xmlns:a16="http://schemas.microsoft.com/office/drawing/2014/main" id="{E4D0425F-BB04-2B3A-D5B2-0224BAC7BBFA}"/>
                  </a:ext>
                </a:extLst>
              </p:cNvPr>
              <p:cNvSpPr/>
              <p:nvPr/>
            </p:nvSpPr>
            <p:spPr>
              <a:xfrm rot="6979929">
                <a:off x="4645306" y="2288388"/>
                <a:ext cx="2901388" cy="2901388"/>
              </a:xfrm>
              <a:prstGeom prst="arc">
                <a:avLst>
                  <a:gd name="adj1" fmla="val 10174394"/>
                  <a:gd name="adj2" fmla="val 15005146"/>
                </a:avLst>
              </a:prstGeom>
              <a:noFill/>
              <a:ln w="101600">
                <a:gradFill flip="none" rotWithShape="1">
                  <a:gsLst>
                    <a:gs pos="10000">
                      <a:schemeClr val="accent2">
                        <a:alpha val="0"/>
                      </a:schemeClr>
                    </a:gs>
                    <a:gs pos="100000">
                      <a:schemeClr val="accent2"/>
                    </a:gs>
                  </a:gsLst>
                  <a:lin ang="16200000" scaled="1"/>
                  <a:tileRect/>
                </a:gra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400">
                  <a:latin typeface="+mj-ea"/>
                  <a:ea typeface="+mj-ea"/>
                </a:endParaRPr>
              </a:p>
            </p:txBody>
          </p:sp>
          <p:sp>
            <p:nvSpPr>
              <p:cNvPr id="24" name="0">
                <a:extLst>
                  <a:ext uri="{FF2B5EF4-FFF2-40B4-BE49-F238E27FC236}">
                    <a16:creationId xmlns:a16="http://schemas.microsoft.com/office/drawing/2014/main" id="{D4A4D114-9695-375D-570F-EE9EFEDD5D12}"/>
                  </a:ext>
                </a:extLst>
              </p:cNvPr>
              <p:cNvSpPr/>
              <p:nvPr/>
            </p:nvSpPr>
            <p:spPr>
              <a:xfrm rot="14368474">
                <a:off x="4645306" y="2288388"/>
                <a:ext cx="2901388" cy="2901388"/>
              </a:xfrm>
              <a:prstGeom prst="arc">
                <a:avLst>
                  <a:gd name="adj1" fmla="val 10174394"/>
                  <a:gd name="adj2" fmla="val 15005146"/>
                </a:avLst>
              </a:prstGeom>
              <a:noFill/>
              <a:ln w="101600">
                <a:gradFill flip="none" rotWithShape="1">
                  <a:gsLst>
                    <a:gs pos="10000">
                      <a:schemeClr val="accent3">
                        <a:alpha val="0"/>
                      </a:schemeClr>
                    </a:gs>
                    <a:gs pos="100000">
                      <a:schemeClr val="accent3"/>
                    </a:gs>
                  </a:gsLst>
                  <a:lin ang="16200000" scaled="1"/>
                  <a:tileRect/>
                </a:gra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400">
                  <a:latin typeface="+mj-ea"/>
                  <a:ea typeface="+mj-ea"/>
                </a:endParaRPr>
              </a:p>
            </p:txBody>
          </p:sp>
          <p:sp>
            <p:nvSpPr>
              <p:cNvPr id="25" name="0">
                <a:extLst>
                  <a:ext uri="{FF2B5EF4-FFF2-40B4-BE49-F238E27FC236}">
                    <a16:creationId xmlns:a16="http://schemas.microsoft.com/office/drawing/2014/main" id="{14AAB380-8E1B-D4A3-6E13-9C56E5E4DE3C}"/>
                  </a:ext>
                </a:extLst>
              </p:cNvPr>
              <p:cNvSpPr/>
              <p:nvPr/>
            </p:nvSpPr>
            <p:spPr>
              <a:xfrm rot="5400000" flipV="1">
                <a:off x="5464475" y="2488274"/>
                <a:ext cx="657800" cy="342618"/>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latin typeface="+mj-ea"/>
                  <a:ea typeface="+mj-ea"/>
                </a:endParaRPr>
              </a:p>
            </p:txBody>
          </p:sp>
          <p:sp>
            <p:nvSpPr>
              <p:cNvPr id="26" name="0">
                <a:extLst>
                  <a:ext uri="{FF2B5EF4-FFF2-40B4-BE49-F238E27FC236}">
                    <a16:creationId xmlns:a16="http://schemas.microsoft.com/office/drawing/2014/main" id="{BA902A54-7750-9945-4AC1-C935ACF6DA0B}"/>
                  </a:ext>
                </a:extLst>
              </p:cNvPr>
              <p:cNvSpPr/>
              <p:nvPr/>
            </p:nvSpPr>
            <p:spPr>
              <a:xfrm rot="5400000">
                <a:off x="6069724" y="2488274"/>
                <a:ext cx="657800" cy="342617"/>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latin typeface="+mj-ea"/>
                  <a:ea typeface="+mj-ea"/>
                </a:endParaRPr>
              </a:p>
            </p:txBody>
          </p:sp>
          <p:sp>
            <p:nvSpPr>
              <p:cNvPr id="27" name="0">
                <a:extLst>
                  <a:ext uri="{FF2B5EF4-FFF2-40B4-BE49-F238E27FC236}">
                    <a16:creationId xmlns:a16="http://schemas.microsoft.com/office/drawing/2014/main" id="{E9A02444-932D-3487-A97A-65D22BD67D33}"/>
                  </a:ext>
                </a:extLst>
              </p:cNvPr>
              <p:cNvSpPr/>
              <p:nvPr/>
            </p:nvSpPr>
            <p:spPr>
              <a:xfrm rot="5400000">
                <a:off x="5736230" y="2295818"/>
                <a:ext cx="727529" cy="727528"/>
              </a:xfrm>
              <a:prstGeom prst="ellipse">
                <a:avLst/>
              </a:prstGeom>
              <a:solidFill>
                <a:schemeClr val="bg1"/>
              </a:solidFill>
              <a:ln>
                <a:noFill/>
              </a:ln>
              <a:effectLst>
                <a:outerShdw blurRad="50800" dist="38100" dir="10800000" algn="r" rotWithShape="0">
                  <a:schemeClr val="accent2">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400" dirty="0">
                  <a:solidFill>
                    <a:schemeClr val="accent2"/>
                  </a:solidFill>
                  <a:latin typeface="+mj-ea"/>
                  <a:ea typeface="+mj-ea"/>
                </a:endParaRPr>
              </a:p>
            </p:txBody>
          </p:sp>
          <p:sp>
            <p:nvSpPr>
              <p:cNvPr id="28" name="0">
                <a:extLst>
                  <a:ext uri="{FF2B5EF4-FFF2-40B4-BE49-F238E27FC236}">
                    <a16:creationId xmlns:a16="http://schemas.microsoft.com/office/drawing/2014/main" id="{AD181EF8-A3F0-784B-4BBB-FF537081EF1F}"/>
                  </a:ext>
                </a:extLst>
              </p:cNvPr>
              <p:cNvSpPr/>
              <p:nvPr/>
            </p:nvSpPr>
            <p:spPr>
              <a:xfrm>
                <a:off x="5853697" y="2407722"/>
                <a:ext cx="493986" cy="493986"/>
              </a:xfrm>
              <a:prstGeom prst="ellips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chorCtr="1"/>
              <a:lstStyle/>
              <a:p>
                <a:pPr algn="ctr"/>
                <a:r>
                  <a:rPr lang="en-US" altLang="zh-CN" sz="2400" dirty="0">
                    <a:latin typeface="+mj-ea"/>
                    <a:ea typeface="+mj-ea"/>
                  </a:rPr>
                  <a:t>01</a:t>
                </a:r>
                <a:endParaRPr lang="zh-CN" altLang="en-US" sz="2400" dirty="0">
                  <a:latin typeface="+mj-ea"/>
                  <a:ea typeface="+mj-ea"/>
                </a:endParaRPr>
              </a:p>
            </p:txBody>
          </p:sp>
          <p:sp>
            <p:nvSpPr>
              <p:cNvPr id="29" name="0">
                <a:extLst>
                  <a:ext uri="{FF2B5EF4-FFF2-40B4-BE49-F238E27FC236}">
                    <a16:creationId xmlns:a16="http://schemas.microsoft.com/office/drawing/2014/main" id="{EB17D6BE-642E-6467-1DDE-F6EC3E8EF6C5}"/>
                  </a:ext>
                </a:extLst>
              </p:cNvPr>
              <p:cNvSpPr/>
              <p:nvPr/>
            </p:nvSpPr>
            <p:spPr>
              <a:xfrm rot="12600000" flipV="1">
                <a:off x="6853286" y="3845441"/>
                <a:ext cx="657800" cy="342618"/>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latin typeface="+mj-ea"/>
                  <a:ea typeface="+mj-ea"/>
                </a:endParaRPr>
              </a:p>
            </p:txBody>
          </p:sp>
          <p:sp>
            <p:nvSpPr>
              <p:cNvPr id="30" name="0">
                <a:extLst>
                  <a:ext uri="{FF2B5EF4-FFF2-40B4-BE49-F238E27FC236}">
                    <a16:creationId xmlns:a16="http://schemas.microsoft.com/office/drawing/2014/main" id="{F0647103-B7E3-F782-098B-93211B06E3B8}"/>
                  </a:ext>
                </a:extLst>
              </p:cNvPr>
              <p:cNvSpPr/>
              <p:nvPr/>
            </p:nvSpPr>
            <p:spPr>
              <a:xfrm rot="12600000">
                <a:off x="6550661" y="4369602"/>
                <a:ext cx="657800" cy="342617"/>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latin typeface="+mj-ea"/>
                  <a:ea typeface="+mj-ea"/>
                </a:endParaRPr>
              </a:p>
            </p:txBody>
          </p:sp>
          <p:sp>
            <p:nvSpPr>
              <p:cNvPr id="31" name="0">
                <a:extLst>
                  <a:ext uri="{FF2B5EF4-FFF2-40B4-BE49-F238E27FC236}">
                    <a16:creationId xmlns:a16="http://schemas.microsoft.com/office/drawing/2014/main" id="{F738FD6C-7A7E-24D8-716D-676CC72810B0}"/>
                  </a:ext>
                </a:extLst>
              </p:cNvPr>
              <p:cNvSpPr/>
              <p:nvPr/>
            </p:nvSpPr>
            <p:spPr>
              <a:xfrm rot="12600000">
                <a:off x="6665112" y="3918527"/>
                <a:ext cx="727529" cy="727528"/>
              </a:xfrm>
              <a:prstGeom prst="ellipse">
                <a:avLst/>
              </a:prstGeom>
              <a:solidFill>
                <a:schemeClr val="bg1"/>
              </a:solidFill>
              <a:ln>
                <a:noFill/>
              </a:ln>
              <a:effectLst>
                <a:outerShdw blurRad="50800" dist="38100" dir="10800000" algn="r" rotWithShape="0">
                  <a:schemeClr val="accent2">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400" dirty="0">
                  <a:solidFill>
                    <a:schemeClr val="accent2"/>
                  </a:solidFill>
                  <a:latin typeface="+mj-ea"/>
                  <a:ea typeface="+mj-ea"/>
                </a:endParaRPr>
              </a:p>
            </p:txBody>
          </p:sp>
          <p:sp>
            <p:nvSpPr>
              <p:cNvPr id="32" name="0">
                <a:extLst>
                  <a:ext uri="{FF2B5EF4-FFF2-40B4-BE49-F238E27FC236}">
                    <a16:creationId xmlns:a16="http://schemas.microsoft.com/office/drawing/2014/main" id="{DA36C2AA-F3FC-D351-2C49-D3F2662167DD}"/>
                  </a:ext>
                </a:extLst>
              </p:cNvPr>
              <p:cNvSpPr/>
              <p:nvPr/>
            </p:nvSpPr>
            <p:spPr>
              <a:xfrm>
                <a:off x="6785752" y="4038333"/>
                <a:ext cx="493986" cy="493986"/>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chorCtr="1"/>
              <a:lstStyle/>
              <a:p>
                <a:pPr algn="ctr"/>
                <a:r>
                  <a:rPr lang="en-US" altLang="zh-CN" sz="2400" dirty="0">
                    <a:latin typeface="+mj-ea"/>
                    <a:ea typeface="+mj-ea"/>
                  </a:rPr>
                  <a:t>02</a:t>
                </a:r>
                <a:endParaRPr lang="zh-CN" altLang="en-US" sz="2400" dirty="0">
                  <a:latin typeface="+mj-ea"/>
                  <a:ea typeface="+mj-ea"/>
                </a:endParaRPr>
              </a:p>
            </p:txBody>
          </p:sp>
          <p:sp>
            <p:nvSpPr>
              <p:cNvPr id="33" name="0">
                <a:extLst>
                  <a:ext uri="{FF2B5EF4-FFF2-40B4-BE49-F238E27FC236}">
                    <a16:creationId xmlns:a16="http://schemas.microsoft.com/office/drawing/2014/main" id="{07DE5F50-DB78-0971-579A-91A0DE60FB00}"/>
                  </a:ext>
                </a:extLst>
              </p:cNvPr>
              <p:cNvSpPr/>
              <p:nvPr/>
            </p:nvSpPr>
            <p:spPr>
              <a:xfrm rot="19800000" flipV="1">
                <a:off x="4983539" y="4369603"/>
                <a:ext cx="657800" cy="342618"/>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latin typeface="+mj-ea"/>
                  <a:ea typeface="+mj-ea"/>
                </a:endParaRPr>
              </a:p>
            </p:txBody>
          </p:sp>
          <p:sp>
            <p:nvSpPr>
              <p:cNvPr id="34" name="0">
                <a:extLst>
                  <a:ext uri="{FF2B5EF4-FFF2-40B4-BE49-F238E27FC236}">
                    <a16:creationId xmlns:a16="http://schemas.microsoft.com/office/drawing/2014/main" id="{DB27472B-0D5A-3DDA-E1AC-32E3F199A460}"/>
                  </a:ext>
                </a:extLst>
              </p:cNvPr>
              <p:cNvSpPr/>
              <p:nvPr/>
            </p:nvSpPr>
            <p:spPr>
              <a:xfrm rot="19800000">
                <a:off x="4680915" y="3845443"/>
                <a:ext cx="657800" cy="342617"/>
              </a:xfrm>
              <a:custGeom>
                <a:avLst/>
                <a:gdLst>
                  <a:gd name="connsiteX0" fmla="*/ 527906 w 1055811"/>
                  <a:gd name="connsiteY0" fmla="*/ 0 h 549923"/>
                  <a:gd name="connsiteX1" fmla="*/ 626950 w 1055811"/>
                  <a:gd name="connsiteY1" fmla="*/ 32740 h 549923"/>
                  <a:gd name="connsiteX2" fmla="*/ 927871 w 1055811"/>
                  <a:gd name="connsiteY2" fmla="*/ 330791 h 549923"/>
                  <a:gd name="connsiteX3" fmla="*/ 950383 w 1055811"/>
                  <a:gd name="connsiteY3" fmla="*/ 353089 h 549923"/>
                  <a:gd name="connsiteX4" fmla="*/ 1012055 w 1055811"/>
                  <a:gd name="connsiteY4" fmla="*/ 427836 h 549923"/>
                  <a:gd name="connsiteX5" fmla="*/ 1055811 w 1055811"/>
                  <a:gd name="connsiteY5" fmla="*/ 508451 h 549923"/>
                  <a:gd name="connsiteX6" fmla="*/ 1049563 w 1055811"/>
                  <a:gd name="connsiteY6" fmla="*/ 516981 h 549923"/>
                  <a:gd name="connsiteX7" fmla="*/ 950340 w 1055811"/>
                  <a:gd name="connsiteY7" fmla="*/ 549923 h 549923"/>
                  <a:gd name="connsiteX8" fmla="*/ 105471 w 1055811"/>
                  <a:gd name="connsiteY8" fmla="*/ 549923 h 549923"/>
                  <a:gd name="connsiteX9" fmla="*/ 6248 w 1055811"/>
                  <a:gd name="connsiteY9" fmla="*/ 516981 h 549923"/>
                  <a:gd name="connsiteX10" fmla="*/ 0 w 1055811"/>
                  <a:gd name="connsiteY10" fmla="*/ 508450 h 549923"/>
                  <a:gd name="connsiteX11" fmla="*/ 43755 w 1055811"/>
                  <a:gd name="connsiteY11" fmla="*/ 427836 h 549923"/>
                  <a:gd name="connsiteX12" fmla="*/ 105423 w 1055811"/>
                  <a:gd name="connsiteY12" fmla="*/ 353094 h 549923"/>
                  <a:gd name="connsiteX13" fmla="*/ 127946 w 1055811"/>
                  <a:gd name="connsiteY13" fmla="*/ 330786 h 549923"/>
                  <a:gd name="connsiteX14" fmla="*/ 428861 w 1055811"/>
                  <a:gd name="connsiteY14" fmla="*/ 32740 h 549923"/>
                  <a:gd name="connsiteX15" fmla="*/ 527906 w 1055811"/>
                  <a:gd name="connsiteY15" fmla="*/ 0 h 5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5811" h="549923">
                    <a:moveTo>
                      <a:pt x="527906" y="0"/>
                    </a:moveTo>
                    <a:cubicBezTo>
                      <a:pt x="566409" y="0"/>
                      <a:pt x="604913" y="10913"/>
                      <a:pt x="626950" y="32740"/>
                    </a:cubicBezTo>
                    <a:lnTo>
                      <a:pt x="927871" y="330791"/>
                    </a:lnTo>
                    <a:lnTo>
                      <a:pt x="950383" y="353089"/>
                    </a:lnTo>
                    <a:lnTo>
                      <a:pt x="1012055" y="427836"/>
                    </a:lnTo>
                    <a:lnTo>
                      <a:pt x="1055811" y="508451"/>
                    </a:lnTo>
                    <a:lnTo>
                      <a:pt x="1049563" y="516981"/>
                    </a:lnTo>
                    <a:cubicBezTo>
                      <a:pt x="1030299" y="536193"/>
                      <a:pt x="994468" y="549923"/>
                      <a:pt x="950340" y="549923"/>
                    </a:cubicBezTo>
                    <a:lnTo>
                      <a:pt x="105471" y="549923"/>
                    </a:lnTo>
                    <a:cubicBezTo>
                      <a:pt x="61344" y="549923"/>
                      <a:pt x="25513" y="536193"/>
                      <a:pt x="6248" y="516981"/>
                    </a:cubicBezTo>
                    <a:lnTo>
                      <a:pt x="0" y="508450"/>
                    </a:lnTo>
                    <a:lnTo>
                      <a:pt x="43755" y="427836"/>
                    </a:lnTo>
                    <a:lnTo>
                      <a:pt x="105423" y="353094"/>
                    </a:lnTo>
                    <a:lnTo>
                      <a:pt x="127946" y="330786"/>
                    </a:lnTo>
                    <a:lnTo>
                      <a:pt x="428861" y="32740"/>
                    </a:lnTo>
                    <a:cubicBezTo>
                      <a:pt x="450899" y="10913"/>
                      <a:pt x="489402" y="0"/>
                      <a:pt x="527906" y="0"/>
                    </a:cubicBez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latin typeface="+mj-ea"/>
                  <a:ea typeface="+mj-ea"/>
                </a:endParaRPr>
              </a:p>
            </p:txBody>
          </p:sp>
          <p:sp>
            <p:nvSpPr>
              <p:cNvPr id="35" name="0">
                <a:extLst>
                  <a:ext uri="{FF2B5EF4-FFF2-40B4-BE49-F238E27FC236}">
                    <a16:creationId xmlns:a16="http://schemas.microsoft.com/office/drawing/2014/main" id="{2B7E04A8-4677-44A5-4680-3D3CCBC9FA69}"/>
                  </a:ext>
                </a:extLst>
              </p:cNvPr>
              <p:cNvSpPr/>
              <p:nvPr/>
            </p:nvSpPr>
            <p:spPr>
              <a:xfrm rot="19800000">
                <a:off x="4795364" y="3911608"/>
                <a:ext cx="727529" cy="727528"/>
              </a:xfrm>
              <a:prstGeom prst="ellipse">
                <a:avLst/>
              </a:prstGeom>
              <a:solidFill>
                <a:schemeClr val="bg1"/>
              </a:solidFill>
              <a:ln>
                <a:noFill/>
              </a:ln>
              <a:effectLst>
                <a:outerShdw blurRad="50800" dist="38100" dir="10800000" algn="r" rotWithShape="0">
                  <a:schemeClr val="accent2">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2400" dirty="0">
                  <a:solidFill>
                    <a:schemeClr val="accent2"/>
                  </a:solidFill>
                  <a:latin typeface="+mj-ea"/>
                  <a:ea typeface="+mj-ea"/>
                </a:endParaRPr>
              </a:p>
            </p:txBody>
          </p:sp>
          <p:sp>
            <p:nvSpPr>
              <p:cNvPr id="36" name="0">
                <a:extLst>
                  <a:ext uri="{FF2B5EF4-FFF2-40B4-BE49-F238E27FC236}">
                    <a16:creationId xmlns:a16="http://schemas.microsoft.com/office/drawing/2014/main" id="{E482439C-E7A0-C83D-BAD0-6A4232BBF4F2}"/>
                  </a:ext>
                </a:extLst>
              </p:cNvPr>
              <p:cNvSpPr/>
              <p:nvPr/>
            </p:nvSpPr>
            <p:spPr>
              <a:xfrm>
                <a:off x="4907573" y="4030210"/>
                <a:ext cx="493986" cy="493986"/>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nchorCtr="1"/>
              <a:lstStyle/>
              <a:p>
                <a:pPr algn="ctr"/>
                <a:r>
                  <a:rPr lang="en-US" altLang="zh-CN" sz="2400" dirty="0">
                    <a:latin typeface="+mj-ea"/>
                    <a:ea typeface="+mj-ea"/>
                  </a:rPr>
                  <a:t>03</a:t>
                </a:r>
                <a:endParaRPr lang="zh-CN" altLang="en-US" sz="2400" dirty="0">
                  <a:latin typeface="+mj-ea"/>
                  <a:ea typeface="+mj-ea"/>
                </a:endParaRPr>
              </a:p>
            </p:txBody>
          </p:sp>
          <p:pic>
            <p:nvPicPr>
              <p:cNvPr id="37" name="0">
                <a:extLst>
                  <a:ext uri="{FF2B5EF4-FFF2-40B4-BE49-F238E27FC236}">
                    <a16:creationId xmlns:a16="http://schemas.microsoft.com/office/drawing/2014/main" id="{888204D0-3F64-CD88-BE41-F31F5CD9E69D}"/>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871796" y="3511486"/>
                <a:ext cx="443294" cy="443294"/>
              </a:xfrm>
              <a:prstGeom prst="rect">
                <a:avLst/>
              </a:prstGeom>
            </p:spPr>
          </p:pic>
        </p:grpSp>
        <p:grpSp>
          <p:nvGrpSpPr>
            <p:cNvPr id="7" name="组合 6">
              <a:extLst>
                <a:ext uri="{FF2B5EF4-FFF2-40B4-BE49-F238E27FC236}">
                  <a16:creationId xmlns:a16="http://schemas.microsoft.com/office/drawing/2014/main" id="{B3CBBCE2-83C9-CFD0-DEFF-B6B3C33CDD38}"/>
                </a:ext>
              </a:extLst>
            </p:cNvPr>
            <p:cNvGrpSpPr/>
            <p:nvPr/>
          </p:nvGrpSpPr>
          <p:grpSpPr>
            <a:xfrm>
              <a:off x="3919604" y="1420893"/>
              <a:ext cx="4339650" cy="714257"/>
              <a:chOff x="3919604" y="1420893"/>
              <a:chExt cx="4339650" cy="714257"/>
            </a:xfrm>
          </p:grpSpPr>
          <p:sp>
            <p:nvSpPr>
              <p:cNvPr id="14" name="Title-1">
                <a:extLst>
                  <a:ext uri="{FF2B5EF4-FFF2-40B4-BE49-F238E27FC236}">
                    <a16:creationId xmlns:a16="http://schemas.microsoft.com/office/drawing/2014/main" id="{8F03D566-7875-E943-17C3-11A43D19D8A1}"/>
                  </a:ext>
                </a:extLst>
              </p:cNvPr>
              <p:cNvSpPr txBox="1"/>
              <p:nvPr>
                <p:custDataLst>
                  <p:tags r:id="rId6"/>
                </p:custDataLst>
              </p:nvPr>
            </p:nvSpPr>
            <p:spPr>
              <a:xfrm>
                <a:off x="5381544" y="1420893"/>
                <a:ext cx="1415772" cy="461665"/>
              </a:xfrm>
              <a:prstGeom prst="rect">
                <a:avLst/>
              </a:prstGeom>
              <a:noFill/>
            </p:spPr>
            <p:txBody>
              <a:bodyPr wrap="none" rtlCol="0">
                <a:spAutoFit/>
              </a:bodyPr>
              <a:lstStyle/>
              <a:p>
                <a:pPr algn="ctr"/>
                <a:r>
                  <a:rPr lang="zh-CN" altLang="en-US" sz="2400" b="1" dirty="0">
                    <a:solidFill>
                      <a:schemeClr val="accent1"/>
                    </a:solidFill>
                    <a:latin typeface="+mj-ea"/>
                    <a:ea typeface="+mj-ea"/>
                  </a:rPr>
                  <a:t>固定批量</a:t>
                </a:r>
              </a:p>
            </p:txBody>
          </p:sp>
          <p:sp>
            <p:nvSpPr>
              <p:cNvPr id="15" name="Body-1">
                <a:extLst>
                  <a:ext uri="{FF2B5EF4-FFF2-40B4-BE49-F238E27FC236}">
                    <a16:creationId xmlns:a16="http://schemas.microsoft.com/office/drawing/2014/main" id="{BE69FD79-88AC-C235-5A16-6879F92DD533}"/>
                  </a:ext>
                </a:extLst>
              </p:cNvPr>
              <p:cNvSpPr txBox="1"/>
              <p:nvPr>
                <p:custDataLst>
                  <p:tags r:id="rId7"/>
                </p:custDataLst>
              </p:nvPr>
            </p:nvSpPr>
            <p:spPr>
              <a:xfrm>
                <a:off x="3919604" y="1765818"/>
                <a:ext cx="4339650" cy="369332"/>
              </a:xfrm>
              <a:prstGeom prst="rect">
                <a:avLst/>
              </a:prstGeom>
              <a:noFill/>
            </p:spPr>
            <p:txBody>
              <a:bodyPr wrap="none" rtlCol="0">
                <a:spAutoFit/>
              </a:bodyPr>
              <a:lstStyle/>
              <a:p>
                <a:pPr algn="ctr"/>
                <a:r>
                  <a:rPr lang="zh-CN" altLang="en-US" dirty="0">
                    <a:solidFill>
                      <a:schemeClr val="tx1">
                        <a:lumMod val="75000"/>
                        <a:lumOff val="25000"/>
                      </a:schemeClr>
                    </a:solidFill>
                    <a:latin typeface="+mj-ea"/>
                    <a:ea typeface="+mj-ea"/>
                  </a:rPr>
                  <a:t>每次生产都按一个固定的标准数量进行。</a:t>
                </a:r>
              </a:p>
            </p:txBody>
          </p:sp>
        </p:grpSp>
        <p:grpSp>
          <p:nvGrpSpPr>
            <p:cNvPr id="8" name="组合 7">
              <a:extLst>
                <a:ext uri="{FF2B5EF4-FFF2-40B4-BE49-F238E27FC236}">
                  <a16:creationId xmlns:a16="http://schemas.microsoft.com/office/drawing/2014/main" id="{9FCB7CC2-6848-0F39-A771-BBFDBD968441}"/>
                </a:ext>
              </a:extLst>
            </p:cNvPr>
            <p:cNvGrpSpPr/>
            <p:nvPr/>
          </p:nvGrpSpPr>
          <p:grpSpPr>
            <a:xfrm>
              <a:off x="7237934" y="4547787"/>
              <a:ext cx="3480439" cy="1203266"/>
              <a:chOff x="7237934" y="4547787"/>
              <a:chExt cx="3480439" cy="1203266"/>
            </a:xfrm>
          </p:grpSpPr>
          <p:sp>
            <p:nvSpPr>
              <p:cNvPr id="12" name="Title-2">
                <a:extLst>
                  <a:ext uri="{FF2B5EF4-FFF2-40B4-BE49-F238E27FC236}">
                    <a16:creationId xmlns:a16="http://schemas.microsoft.com/office/drawing/2014/main" id="{C2D3CF65-DD32-CB34-6BD1-576D95BD7339}"/>
                  </a:ext>
                </a:extLst>
              </p:cNvPr>
              <p:cNvSpPr txBox="1"/>
              <p:nvPr>
                <p:custDataLst>
                  <p:tags r:id="rId4"/>
                </p:custDataLst>
              </p:nvPr>
            </p:nvSpPr>
            <p:spPr>
              <a:xfrm>
                <a:off x="7237934" y="4547787"/>
                <a:ext cx="1415772" cy="461665"/>
              </a:xfrm>
              <a:prstGeom prst="rect">
                <a:avLst/>
              </a:prstGeom>
              <a:noFill/>
            </p:spPr>
            <p:txBody>
              <a:bodyPr wrap="none" rtlCol="0">
                <a:spAutoFit/>
              </a:bodyPr>
              <a:lstStyle/>
              <a:p>
                <a:pPr algn="ctr"/>
                <a:r>
                  <a:rPr lang="zh-CN" altLang="en-US" sz="2400" b="1">
                    <a:solidFill>
                      <a:schemeClr val="accent2"/>
                    </a:solidFill>
                    <a:latin typeface="+mj-ea"/>
                    <a:ea typeface="+mj-ea"/>
                  </a:rPr>
                  <a:t>战役规模</a:t>
                </a:r>
                <a:endParaRPr lang="zh-CN" altLang="en-US" sz="2400" b="1" dirty="0">
                  <a:solidFill>
                    <a:schemeClr val="accent2"/>
                  </a:solidFill>
                  <a:latin typeface="+mj-ea"/>
                  <a:ea typeface="+mj-ea"/>
                </a:endParaRPr>
              </a:p>
            </p:txBody>
          </p:sp>
          <p:sp>
            <p:nvSpPr>
              <p:cNvPr id="13" name="Body-2">
                <a:extLst>
                  <a:ext uri="{FF2B5EF4-FFF2-40B4-BE49-F238E27FC236}">
                    <a16:creationId xmlns:a16="http://schemas.microsoft.com/office/drawing/2014/main" id="{CB789715-4D8B-DCC6-B136-88DEEBDF6369}"/>
                  </a:ext>
                </a:extLst>
              </p:cNvPr>
              <p:cNvSpPr txBox="1"/>
              <p:nvPr>
                <p:custDataLst>
                  <p:tags r:id="rId5"/>
                </p:custDataLst>
              </p:nvPr>
            </p:nvSpPr>
            <p:spPr>
              <a:xfrm>
                <a:off x="7451510" y="5104722"/>
                <a:ext cx="3266863" cy="646331"/>
              </a:xfrm>
              <a:prstGeom prst="rect">
                <a:avLst/>
              </a:prstGeom>
              <a:noFill/>
            </p:spPr>
            <p:txBody>
              <a:bodyPr wrap="square" rtlCol="0">
                <a:spAutoFit/>
              </a:bodyPr>
              <a:lstStyle/>
              <a:p>
                <a:r>
                  <a:rPr lang="zh-CN" altLang="en-US" dirty="0">
                    <a:solidFill>
                      <a:schemeClr val="tx1">
                        <a:lumMod val="75000"/>
                        <a:lumOff val="25000"/>
                      </a:schemeClr>
                    </a:solidFill>
                    <a:latin typeface="+mj-ea"/>
                    <a:ea typeface="+mj-ea"/>
                  </a:rPr>
                  <a:t>设定每个战役的最少和最多生产量，以控制战役的持续时间。</a:t>
                </a:r>
              </a:p>
            </p:txBody>
          </p:sp>
        </p:grpSp>
        <p:grpSp>
          <p:nvGrpSpPr>
            <p:cNvPr id="9" name="组合 8">
              <a:extLst>
                <a:ext uri="{FF2B5EF4-FFF2-40B4-BE49-F238E27FC236}">
                  <a16:creationId xmlns:a16="http://schemas.microsoft.com/office/drawing/2014/main" id="{4C1C0220-40F2-9838-F752-385D816BCBA2}"/>
                </a:ext>
              </a:extLst>
            </p:cNvPr>
            <p:cNvGrpSpPr/>
            <p:nvPr/>
          </p:nvGrpSpPr>
          <p:grpSpPr>
            <a:xfrm>
              <a:off x="1777151" y="4590768"/>
              <a:ext cx="3038457" cy="1428531"/>
              <a:chOff x="1777151" y="4590768"/>
              <a:chExt cx="3038457" cy="1428531"/>
            </a:xfrm>
          </p:grpSpPr>
          <p:sp>
            <p:nvSpPr>
              <p:cNvPr id="10" name="Title-3">
                <a:extLst>
                  <a:ext uri="{FF2B5EF4-FFF2-40B4-BE49-F238E27FC236}">
                    <a16:creationId xmlns:a16="http://schemas.microsoft.com/office/drawing/2014/main" id="{EFCBC7F6-8EAB-A2E0-2687-4E5711A4EDEE}"/>
                  </a:ext>
                </a:extLst>
              </p:cNvPr>
              <p:cNvSpPr txBox="1"/>
              <p:nvPr>
                <p:custDataLst>
                  <p:tags r:id="rId2"/>
                </p:custDataLst>
              </p:nvPr>
            </p:nvSpPr>
            <p:spPr>
              <a:xfrm flipH="1">
                <a:off x="3138006" y="4590768"/>
                <a:ext cx="1415773" cy="461665"/>
              </a:xfrm>
              <a:prstGeom prst="rect">
                <a:avLst/>
              </a:prstGeom>
              <a:noFill/>
            </p:spPr>
            <p:txBody>
              <a:bodyPr wrap="none" rtlCol="0">
                <a:spAutoFit/>
              </a:bodyPr>
              <a:lstStyle/>
              <a:p>
                <a:pPr algn="r"/>
                <a:r>
                  <a:rPr lang="zh-CN" altLang="en-US" sz="2400" b="1">
                    <a:solidFill>
                      <a:schemeClr val="accent3"/>
                    </a:solidFill>
                    <a:latin typeface="+mj-ea"/>
                    <a:ea typeface="+mj-ea"/>
                  </a:rPr>
                  <a:t>连续排程</a:t>
                </a:r>
                <a:endParaRPr lang="zh-CN" altLang="en-US" sz="2400" b="1" dirty="0">
                  <a:solidFill>
                    <a:schemeClr val="accent3"/>
                  </a:solidFill>
                  <a:latin typeface="+mj-ea"/>
                  <a:ea typeface="+mj-ea"/>
                </a:endParaRPr>
              </a:p>
            </p:txBody>
          </p:sp>
          <p:sp>
            <p:nvSpPr>
              <p:cNvPr id="11" name="Body-3">
                <a:extLst>
                  <a:ext uri="{FF2B5EF4-FFF2-40B4-BE49-F238E27FC236}">
                    <a16:creationId xmlns:a16="http://schemas.microsoft.com/office/drawing/2014/main" id="{41F7A9D3-E789-E1C1-B5BC-A864155594E8}"/>
                  </a:ext>
                </a:extLst>
              </p:cNvPr>
              <p:cNvSpPr txBox="1"/>
              <p:nvPr>
                <p:custDataLst>
                  <p:tags r:id="rId3"/>
                </p:custDataLst>
              </p:nvPr>
            </p:nvSpPr>
            <p:spPr>
              <a:xfrm flipH="1">
                <a:off x="1777151" y="5095969"/>
                <a:ext cx="3038457" cy="923330"/>
              </a:xfrm>
              <a:prstGeom prst="rect">
                <a:avLst/>
              </a:prstGeom>
              <a:noFill/>
            </p:spPr>
            <p:txBody>
              <a:bodyPr wrap="square" rtlCol="0">
                <a:spAutoFit/>
              </a:bodyPr>
              <a:lstStyle/>
              <a:p>
                <a:r>
                  <a:rPr lang="zh-CN" altLang="en-US" dirty="0">
                    <a:solidFill>
                      <a:schemeClr val="tx1">
                        <a:lumMod val="75000"/>
                        <a:lumOff val="25000"/>
                      </a:schemeClr>
                    </a:solidFill>
                    <a:latin typeface="+mj-ea"/>
                    <a:ea typeface="+mj-ea"/>
                  </a:rPr>
                  <a:t>一个战役内的所有批量必须在关键设备上不间断地连续生产。</a:t>
                </a:r>
              </a:p>
            </p:txBody>
          </p:sp>
        </p:grpSp>
      </p:grpSp>
    </p:spTree>
    <p:extLst>
      <p:ext uri="{BB962C8B-B14F-4D97-AF65-F5344CB8AC3E}">
        <p14:creationId xmlns:p14="http://schemas.microsoft.com/office/powerpoint/2010/main" val="2785639109"/>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E7C723A-78CD-B396-17CB-6F734C6FF363}"/>
              </a:ext>
            </a:extLst>
          </p:cNvPr>
          <p:cNvSpPr>
            <a:spLocks noGrp="1"/>
          </p:cNvSpPr>
          <p:nvPr>
            <p:ph type="title"/>
          </p:nvPr>
        </p:nvSpPr>
        <p:spPr/>
        <p:txBody>
          <a:bodyPr/>
          <a:lstStyle/>
          <a:p>
            <a:r>
              <a:rPr lang="zh-CN" altLang="en-US" dirty="0"/>
              <a:t>战役规划</a:t>
            </a:r>
            <a:r>
              <a:rPr lang="en-US" altLang="zh-CN" b="1" i="0" dirty="0">
                <a:effectLst/>
                <a:latin typeface="system-ui"/>
              </a:rPr>
              <a:t>Campaign Planning</a:t>
            </a:r>
            <a:r>
              <a:rPr lang="zh-CN" altLang="en-US" b="1" i="0" dirty="0">
                <a:effectLst/>
                <a:latin typeface="system-ui"/>
              </a:rPr>
              <a:t>的收益</a:t>
            </a:r>
            <a:endParaRPr lang="zh-CN" altLang="en-US" dirty="0"/>
          </a:p>
        </p:txBody>
      </p:sp>
      <p:grpSp>
        <p:nvGrpSpPr>
          <p:cNvPr id="44" name="组合 43">
            <a:extLst>
              <a:ext uri="{FF2B5EF4-FFF2-40B4-BE49-F238E27FC236}">
                <a16:creationId xmlns:a16="http://schemas.microsoft.com/office/drawing/2014/main" id="{BBF7A81D-8EF0-E607-858B-48E9F5DDBE0C}"/>
              </a:ext>
            </a:extLst>
          </p:cNvPr>
          <p:cNvGrpSpPr>
            <a:grpSpLocks noChangeAspect="1"/>
          </p:cNvGrpSpPr>
          <p:nvPr>
            <p:custDataLst>
              <p:tags r:id="rId1"/>
            </p:custDataLst>
          </p:nvPr>
        </p:nvGrpSpPr>
        <p:grpSpPr>
          <a:xfrm>
            <a:off x="610868" y="1004655"/>
            <a:ext cx="10057132" cy="4338897"/>
            <a:chOff x="673099" y="1365059"/>
            <a:chExt cx="7205981" cy="4338897"/>
          </a:xfrm>
        </p:grpSpPr>
        <p:grpSp>
          <p:nvGrpSpPr>
            <p:cNvPr id="45" name="组合 44">
              <a:extLst>
                <a:ext uri="{FF2B5EF4-FFF2-40B4-BE49-F238E27FC236}">
                  <a16:creationId xmlns:a16="http://schemas.microsoft.com/office/drawing/2014/main" id="{D2B38CEC-29CA-57F6-8952-E32B8A5C03B2}"/>
                </a:ext>
              </a:extLst>
            </p:cNvPr>
            <p:cNvGrpSpPr/>
            <p:nvPr/>
          </p:nvGrpSpPr>
          <p:grpSpPr>
            <a:xfrm>
              <a:off x="673099" y="1365059"/>
              <a:ext cx="1746251" cy="4338896"/>
              <a:chOff x="673099" y="1365059"/>
              <a:chExt cx="1746251" cy="4338896"/>
            </a:xfrm>
          </p:grpSpPr>
          <p:sp>
            <p:nvSpPr>
              <p:cNvPr id="61" name="1">
                <a:extLst>
                  <a:ext uri="{FF2B5EF4-FFF2-40B4-BE49-F238E27FC236}">
                    <a16:creationId xmlns:a16="http://schemas.microsoft.com/office/drawing/2014/main" id="{0533E392-962C-FEEC-1ABF-C19A1593A4AC}"/>
                  </a:ext>
                </a:extLst>
              </p:cNvPr>
              <p:cNvSpPr/>
              <p:nvPr>
                <p:custDataLst>
                  <p:tags r:id="rId14"/>
                </p:custDataLst>
              </p:nvPr>
            </p:nvSpPr>
            <p:spPr>
              <a:xfrm>
                <a:off x="673099" y="1365059"/>
                <a:ext cx="1746251" cy="4338896"/>
              </a:xfrm>
              <a:prstGeom prst="roundRect">
                <a:avLst>
                  <a:gd name="adj" fmla="val 5088"/>
                </a:avLst>
              </a:prstGeom>
              <a:solidFill>
                <a:schemeClr val="accent1">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Index-1">
                <a:extLst>
                  <a:ext uri="{FF2B5EF4-FFF2-40B4-BE49-F238E27FC236}">
                    <a16:creationId xmlns:a16="http://schemas.microsoft.com/office/drawing/2014/main" id="{FFBCD9D4-FA27-F3DE-93DD-40E5A5E9783A}"/>
                  </a:ext>
                </a:extLst>
              </p:cNvPr>
              <p:cNvSpPr txBox="1">
                <a:spLocks/>
              </p:cNvSpPr>
              <p:nvPr>
                <p:custDataLst>
                  <p:tags r:id="rId15"/>
                </p:custDataLst>
              </p:nvPr>
            </p:nvSpPr>
            <p:spPr>
              <a:xfrm>
                <a:off x="1258224" y="1774457"/>
                <a:ext cx="576000" cy="407032"/>
              </a:xfrm>
              <a:prstGeom prst="roundRect">
                <a:avLst/>
              </a:prstGeom>
              <a:gradFill>
                <a:gsLst>
                  <a:gs pos="0">
                    <a:schemeClr val="accent1">
                      <a:lumMod val="60000"/>
                      <a:lumOff val="40000"/>
                    </a:schemeClr>
                  </a:gs>
                  <a:gs pos="60000">
                    <a:schemeClr val="accent1"/>
                  </a:gs>
                </a:gsLst>
                <a:lin ang="2700000" scaled="0"/>
              </a:gradFill>
              <a:ln w="57150" cap="rnd">
                <a:noFill/>
                <a:prstDash val="solid"/>
                <a:round/>
              </a:ln>
              <a:effectLst>
                <a:outerShdw blurRad="76200" dist="50800" dir="5400000" algn="ctr" rotWithShape="0">
                  <a:schemeClr val="accent1">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91440" tIns="45720" rIns="91440" bIns="45720" numCol="1" spcCol="0" rtlCol="0" fromWordArt="0" anchor="ctr" anchorCtr="0" forceAA="0" compatLnSpc="1">
                <a:noAutofit/>
              </a:bodyPr>
              <a:lstStyle>
                <a:defPPr>
                  <a:defRPr lang="zh-CN"/>
                </a:defPPr>
                <a:lvl1pPr algn="ctr" defTabSz="913765">
                  <a:defRPr b="1">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t>01</a:t>
                </a:r>
                <a:endParaRPr lang="zh-CN" altLang="en-US" dirty="0"/>
              </a:p>
            </p:txBody>
          </p:sp>
          <p:sp>
            <p:nvSpPr>
              <p:cNvPr id="63" name="Body-1">
                <a:extLst>
                  <a:ext uri="{FF2B5EF4-FFF2-40B4-BE49-F238E27FC236}">
                    <a16:creationId xmlns:a16="http://schemas.microsoft.com/office/drawing/2014/main" id="{36344F4C-E5CB-82F3-0ED3-846213024F61}"/>
                  </a:ext>
                </a:extLst>
              </p:cNvPr>
              <p:cNvSpPr>
                <a:spLocks/>
              </p:cNvSpPr>
              <p:nvPr>
                <p:custDataLst>
                  <p:tags r:id="rId16"/>
                </p:custDataLst>
              </p:nvPr>
            </p:nvSpPr>
            <p:spPr>
              <a:xfrm>
                <a:off x="755649" y="2813584"/>
                <a:ext cx="1581150" cy="26191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defRPr/>
                </a:pPr>
                <a:r>
                  <a:rPr kumimoji="0" lang="zh-CN" altLang="en-US" sz="14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rPr>
                  <a:t>流程行业的设备换产（如清洗、重新配置）往往耗时很长且成本高昂。战役规划通过将多个批次合并到一个连续的生产运行中，最大限度地减少了主要的、高成本的换产次数。</a:t>
                </a:r>
                <a:endParaRPr kumimoji="0" lang="en-GB" altLang="zh-CN" sz="14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endParaRPr>
              </a:p>
            </p:txBody>
          </p:sp>
          <p:sp>
            <p:nvSpPr>
              <p:cNvPr id="64" name="Title-1">
                <a:extLst>
                  <a:ext uri="{FF2B5EF4-FFF2-40B4-BE49-F238E27FC236}">
                    <a16:creationId xmlns:a16="http://schemas.microsoft.com/office/drawing/2014/main" id="{6364D436-EB7E-943D-4D7B-4BD3544FFC60}"/>
                  </a:ext>
                </a:extLst>
              </p:cNvPr>
              <p:cNvSpPr>
                <a:spLocks/>
              </p:cNvSpPr>
              <p:nvPr>
                <p:custDataLst>
                  <p:tags r:id="rId17"/>
                </p:custDataLst>
              </p:nvPr>
            </p:nvSpPr>
            <p:spPr>
              <a:xfrm>
                <a:off x="811055" y="2380439"/>
                <a:ext cx="1470339" cy="4070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lvl="1" algn="ctr"/>
                <a:r>
                  <a:rPr lang="zh-CN" altLang="en-US" b="1">
                    <a:solidFill>
                      <a:schemeClr val="accent1"/>
                    </a:solidFill>
                    <a:latin typeface="微软雅黑" panose="020B0503020204020204" pitchFamily="34" charset="-122"/>
                    <a:ea typeface="微软雅黑" panose="020B0503020204020204" pitchFamily="34" charset="-122"/>
                    <a:sym typeface="Arial" panose="020B0604020202020204" pitchFamily="34" charset="0"/>
                  </a:rPr>
                  <a:t>显著降低换产成本</a:t>
                </a:r>
                <a:endParaRPr lang="en-US" altLang="zh-CN" b="1" dirty="0">
                  <a:solidFill>
                    <a:schemeClr val="accent1"/>
                  </a:solidFill>
                  <a:latin typeface="微软雅黑" panose="020B0503020204020204" pitchFamily="34" charset="-122"/>
                  <a:ea typeface="微软雅黑" panose="020B0503020204020204" pitchFamily="34" charset="-122"/>
                  <a:sym typeface="Arial" panose="020B0604020202020204" pitchFamily="34" charset="0"/>
                </a:endParaRPr>
              </a:p>
            </p:txBody>
          </p:sp>
        </p:grpSp>
        <p:grpSp>
          <p:nvGrpSpPr>
            <p:cNvPr id="46" name="组合 45">
              <a:extLst>
                <a:ext uri="{FF2B5EF4-FFF2-40B4-BE49-F238E27FC236}">
                  <a16:creationId xmlns:a16="http://schemas.microsoft.com/office/drawing/2014/main" id="{BB56ECAF-400A-A3FC-7EF6-2B57A0BFA486}"/>
                </a:ext>
              </a:extLst>
            </p:cNvPr>
            <p:cNvGrpSpPr/>
            <p:nvPr/>
          </p:nvGrpSpPr>
          <p:grpSpPr>
            <a:xfrm>
              <a:off x="4312919" y="1365059"/>
              <a:ext cx="1746251" cy="4338897"/>
              <a:chOff x="4312919" y="1365059"/>
              <a:chExt cx="1746251" cy="4338897"/>
            </a:xfrm>
          </p:grpSpPr>
          <p:sp>
            <p:nvSpPr>
              <p:cNvPr id="57" name="3">
                <a:extLst>
                  <a:ext uri="{FF2B5EF4-FFF2-40B4-BE49-F238E27FC236}">
                    <a16:creationId xmlns:a16="http://schemas.microsoft.com/office/drawing/2014/main" id="{226BD8D5-B2CA-87EB-2C09-795D33D79052}"/>
                  </a:ext>
                </a:extLst>
              </p:cNvPr>
              <p:cNvSpPr>
                <a:spLocks/>
              </p:cNvSpPr>
              <p:nvPr>
                <p:custDataLst>
                  <p:tags r:id="rId10"/>
                </p:custDataLst>
              </p:nvPr>
            </p:nvSpPr>
            <p:spPr>
              <a:xfrm>
                <a:off x="4312919" y="1365059"/>
                <a:ext cx="1746251" cy="4338897"/>
              </a:xfrm>
              <a:prstGeom prst="roundRect">
                <a:avLst>
                  <a:gd name="adj" fmla="val 5088"/>
                </a:avLst>
              </a:prstGeom>
              <a:solidFill>
                <a:schemeClr val="accent3">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8" name="Body-3">
                <a:extLst>
                  <a:ext uri="{FF2B5EF4-FFF2-40B4-BE49-F238E27FC236}">
                    <a16:creationId xmlns:a16="http://schemas.microsoft.com/office/drawing/2014/main" id="{72319D71-2DF6-5426-B22B-26F5F6EBAC51}"/>
                  </a:ext>
                </a:extLst>
              </p:cNvPr>
              <p:cNvSpPr>
                <a:spLocks/>
              </p:cNvSpPr>
              <p:nvPr>
                <p:custDataLst>
                  <p:tags r:id="rId11"/>
                </p:custDataLst>
              </p:nvPr>
            </p:nvSpPr>
            <p:spPr>
              <a:xfrm>
                <a:off x="4395469" y="2813585"/>
                <a:ext cx="1581150" cy="26191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defRPr/>
                </a:pPr>
                <a:r>
                  <a:rPr kumimoji="0" lang="zh-CN" altLang="en-US" sz="1400"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rPr>
                  <a:t>在许多流程中（如化工、制药），产品品质在生产运行的初期可能不稳定，会随着运行的持续而逐渐达到最佳状态。长时间的战役生产有助于维持稳定的工艺参数，从而保证更一致的产品质量。</a:t>
                </a:r>
                <a:endParaRPr kumimoji="0" lang="en-GB" altLang="zh-CN" sz="1400"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endParaRPr>
              </a:p>
            </p:txBody>
          </p:sp>
          <p:sp>
            <p:nvSpPr>
              <p:cNvPr id="59" name="Index-3">
                <a:extLst>
                  <a:ext uri="{FF2B5EF4-FFF2-40B4-BE49-F238E27FC236}">
                    <a16:creationId xmlns:a16="http://schemas.microsoft.com/office/drawing/2014/main" id="{7CEC90E2-F680-AA64-94CC-B6A78E59099B}"/>
                  </a:ext>
                </a:extLst>
              </p:cNvPr>
              <p:cNvSpPr txBox="1">
                <a:spLocks/>
              </p:cNvSpPr>
              <p:nvPr>
                <p:custDataLst>
                  <p:tags r:id="rId12"/>
                </p:custDataLst>
              </p:nvPr>
            </p:nvSpPr>
            <p:spPr>
              <a:xfrm>
                <a:off x="4898044" y="1774458"/>
                <a:ext cx="576000" cy="407032"/>
              </a:xfrm>
              <a:prstGeom prst="roundRect">
                <a:avLst/>
              </a:prstGeom>
              <a:gradFill>
                <a:gsLst>
                  <a:gs pos="0">
                    <a:schemeClr val="accent3">
                      <a:lumMod val="60000"/>
                      <a:lumOff val="40000"/>
                    </a:schemeClr>
                  </a:gs>
                  <a:gs pos="60000">
                    <a:schemeClr val="accent3"/>
                  </a:gs>
                </a:gsLst>
                <a:lin ang="2700000" scaled="0"/>
              </a:gradFill>
              <a:ln w="57150" cap="rnd">
                <a:noFill/>
                <a:prstDash val="solid"/>
                <a:round/>
              </a:ln>
              <a:effectLst>
                <a:outerShdw blurRad="76200" dist="50800" dir="5400000" algn="ctr" rotWithShape="0">
                  <a:schemeClr val="accent3">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91440" tIns="45720" rIns="91440" bIns="45720" numCol="1" spcCol="0" rtlCol="0" fromWordArt="0" anchor="ctr" anchorCtr="0" forceAA="0" compatLnSpc="1">
                <a:noAutofit/>
              </a:bodyPr>
              <a:lstStyle>
                <a:defPPr>
                  <a:defRPr lang="zh-CN"/>
                </a:defPPr>
                <a:lvl1pPr algn="ctr" defTabSz="913765">
                  <a:defRPr b="1">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t>03</a:t>
                </a:r>
                <a:endParaRPr lang="zh-CN" altLang="en-US" dirty="0"/>
              </a:p>
            </p:txBody>
          </p:sp>
          <p:sp>
            <p:nvSpPr>
              <p:cNvPr id="60" name="Title-3">
                <a:extLst>
                  <a:ext uri="{FF2B5EF4-FFF2-40B4-BE49-F238E27FC236}">
                    <a16:creationId xmlns:a16="http://schemas.microsoft.com/office/drawing/2014/main" id="{C4ECFC7A-7D0E-3E97-3813-DA5775E23975}"/>
                  </a:ext>
                </a:extLst>
              </p:cNvPr>
              <p:cNvSpPr>
                <a:spLocks/>
              </p:cNvSpPr>
              <p:nvPr>
                <p:custDataLst>
                  <p:tags r:id="rId13"/>
                </p:custDataLst>
              </p:nvPr>
            </p:nvSpPr>
            <p:spPr>
              <a:xfrm>
                <a:off x="4450875" y="2387852"/>
                <a:ext cx="1470339" cy="3922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120000"/>
                  </a:lnSpc>
                </a:pPr>
                <a:r>
                  <a:rPr lang="zh-CN" altLang="en-US" b="1">
                    <a:solidFill>
                      <a:schemeClr val="accent3"/>
                    </a:solidFill>
                    <a:latin typeface="微软雅黑" panose="020B0503020204020204" pitchFamily="34" charset="-122"/>
                    <a:ea typeface="微软雅黑" panose="020B0503020204020204" pitchFamily="34" charset="-122"/>
                    <a:sym typeface="Arial" panose="020B0604020202020204" pitchFamily="34" charset="0"/>
                  </a:rPr>
                  <a:t>稳定和改善产品质量</a:t>
                </a:r>
                <a:endParaRPr lang="en-US" altLang="zh-CN" b="1" dirty="0">
                  <a:solidFill>
                    <a:schemeClr val="accent3"/>
                  </a:solidFill>
                  <a:latin typeface="微软雅黑" panose="020B0503020204020204" pitchFamily="34" charset="-122"/>
                  <a:ea typeface="微软雅黑" panose="020B0503020204020204" pitchFamily="34" charset="-122"/>
                  <a:sym typeface="Arial" panose="020B0604020202020204" pitchFamily="34" charset="0"/>
                </a:endParaRPr>
              </a:p>
            </p:txBody>
          </p:sp>
        </p:grpSp>
        <p:grpSp>
          <p:nvGrpSpPr>
            <p:cNvPr id="47" name="组合 46">
              <a:extLst>
                <a:ext uri="{FF2B5EF4-FFF2-40B4-BE49-F238E27FC236}">
                  <a16:creationId xmlns:a16="http://schemas.microsoft.com/office/drawing/2014/main" id="{804E87D2-97E1-1F9E-0499-7ADDD823CD98}"/>
                </a:ext>
              </a:extLst>
            </p:cNvPr>
            <p:cNvGrpSpPr/>
            <p:nvPr/>
          </p:nvGrpSpPr>
          <p:grpSpPr>
            <a:xfrm>
              <a:off x="2493009" y="1365059"/>
              <a:ext cx="1746251" cy="4338897"/>
              <a:chOff x="2493009" y="1365059"/>
              <a:chExt cx="1746251" cy="4338897"/>
            </a:xfrm>
          </p:grpSpPr>
          <p:sp>
            <p:nvSpPr>
              <p:cNvPr id="53" name="2">
                <a:extLst>
                  <a:ext uri="{FF2B5EF4-FFF2-40B4-BE49-F238E27FC236}">
                    <a16:creationId xmlns:a16="http://schemas.microsoft.com/office/drawing/2014/main" id="{4092CACC-18DC-888B-4660-FBFEF0EE4807}"/>
                  </a:ext>
                </a:extLst>
              </p:cNvPr>
              <p:cNvSpPr>
                <a:spLocks/>
              </p:cNvSpPr>
              <p:nvPr>
                <p:custDataLst>
                  <p:tags r:id="rId6"/>
                </p:custDataLst>
              </p:nvPr>
            </p:nvSpPr>
            <p:spPr>
              <a:xfrm>
                <a:off x="2493009" y="1365059"/>
                <a:ext cx="1746251" cy="4338897"/>
              </a:xfrm>
              <a:prstGeom prst="roundRect">
                <a:avLst>
                  <a:gd name="adj" fmla="val 5088"/>
                </a:avLst>
              </a:prstGeom>
              <a:solidFill>
                <a:schemeClr val="accent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Index-2">
                <a:extLst>
                  <a:ext uri="{FF2B5EF4-FFF2-40B4-BE49-F238E27FC236}">
                    <a16:creationId xmlns:a16="http://schemas.microsoft.com/office/drawing/2014/main" id="{0E028183-5E13-F5A0-AF28-3FD21C80D161}"/>
                  </a:ext>
                </a:extLst>
              </p:cNvPr>
              <p:cNvSpPr txBox="1">
                <a:spLocks/>
              </p:cNvSpPr>
              <p:nvPr>
                <p:custDataLst>
                  <p:tags r:id="rId7"/>
                </p:custDataLst>
              </p:nvPr>
            </p:nvSpPr>
            <p:spPr>
              <a:xfrm>
                <a:off x="3078134" y="1774458"/>
                <a:ext cx="576000" cy="407032"/>
              </a:xfrm>
              <a:prstGeom prst="roundRect">
                <a:avLst/>
              </a:prstGeom>
              <a:gradFill>
                <a:gsLst>
                  <a:gs pos="0">
                    <a:schemeClr val="accent2">
                      <a:lumMod val="60000"/>
                      <a:lumOff val="40000"/>
                    </a:schemeClr>
                  </a:gs>
                  <a:gs pos="60000">
                    <a:schemeClr val="accent2"/>
                  </a:gs>
                </a:gsLst>
                <a:lin ang="2700000" scaled="0"/>
              </a:gradFill>
              <a:ln w="57150" cap="rnd">
                <a:noFill/>
                <a:prstDash val="solid"/>
                <a:round/>
              </a:ln>
              <a:effectLst>
                <a:outerShdw blurRad="76200" dist="50800" dir="5400000" algn="ctr" rotWithShape="0">
                  <a:schemeClr val="accent2">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91440" tIns="45720" rIns="91440" bIns="45720" numCol="1" spcCol="0" rtlCol="0" fromWordArt="0" anchor="ctr" anchorCtr="0" forceAA="0" compatLnSpc="1">
                <a:noAutofit/>
              </a:bodyPr>
              <a:lstStyle>
                <a:defPPr>
                  <a:defRPr lang="zh-CN"/>
                </a:defPPr>
                <a:lvl1pPr algn="ctr" defTabSz="913765">
                  <a:defRPr b="1">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a:t>02</a:t>
                </a:r>
                <a:endParaRPr lang="zh-CN" altLang="en-US" dirty="0"/>
              </a:p>
            </p:txBody>
          </p:sp>
          <p:sp>
            <p:nvSpPr>
              <p:cNvPr id="55" name="Body-2">
                <a:extLst>
                  <a:ext uri="{FF2B5EF4-FFF2-40B4-BE49-F238E27FC236}">
                    <a16:creationId xmlns:a16="http://schemas.microsoft.com/office/drawing/2014/main" id="{11FECDDB-7C90-2786-1877-EBC73489F389}"/>
                  </a:ext>
                </a:extLst>
              </p:cNvPr>
              <p:cNvSpPr>
                <a:spLocks/>
              </p:cNvSpPr>
              <p:nvPr>
                <p:custDataLst>
                  <p:tags r:id="rId8"/>
                </p:custDataLst>
              </p:nvPr>
            </p:nvSpPr>
            <p:spPr>
              <a:xfrm>
                <a:off x="2575559" y="2813585"/>
                <a:ext cx="1581150" cy="26191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defRPr/>
                </a:pPr>
                <a:r>
                  <a:rPr kumimoji="0" lang="zh-CN" altLang="en-US" sz="14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rPr>
                  <a:t>通过减少非生产性的换产停机时间，设备可以更长时间地处于高效运行状态。连续的生产流程也减少了启动和停机带来的效率损失。</a:t>
                </a:r>
                <a:endParaRPr kumimoji="0" lang="en-GB" altLang="zh-CN" sz="14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endParaRPr>
              </a:p>
            </p:txBody>
          </p:sp>
          <p:sp>
            <p:nvSpPr>
              <p:cNvPr id="56" name="Title-2">
                <a:extLst>
                  <a:ext uri="{FF2B5EF4-FFF2-40B4-BE49-F238E27FC236}">
                    <a16:creationId xmlns:a16="http://schemas.microsoft.com/office/drawing/2014/main" id="{A3A804F5-B560-DCAE-CD8F-3D1E8F03C70C}"/>
                  </a:ext>
                </a:extLst>
              </p:cNvPr>
              <p:cNvSpPr>
                <a:spLocks/>
              </p:cNvSpPr>
              <p:nvPr>
                <p:custDataLst>
                  <p:tags r:id="rId9"/>
                </p:custDataLst>
              </p:nvPr>
            </p:nvSpPr>
            <p:spPr>
              <a:xfrm>
                <a:off x="2630965" y="2388513"/>
                <a:ext cx="1470339" cy="390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120000"/>
                  </a:lnSpc>
                </a:pPr>
                <a:r>
                  <a:rPr lang="zh-CN" altLang="en-US" b="1">
                    <a:solidFill>
                      <a:schemeClr val="accent2"/>
                    </a:solidFill>
                    <a:latin typeface="微软雅黑" panose="020B0503020204020204" pitchFamily="34" charset="-122"/>
                    <a:ea typeface="微软雅黑" panose="020B0503020204020204" pitchFamily="34" charset="-122"/>
                    <a:sym typeface="Arial" panose="020B0604020202020204" pitchFamily="34" charset="0"/>
                  </a:rPr>
                  <a:t>提升设备利用率和生产效率</a:t>
                </a:r>
                <a:endParaRPr lang="en-US" altLang="zh-CN" b="1" dirty="0">
                  <a:solidFill>
                    <a:schemeClr val="accent2"/>
                  </a:solidFill>
                  <a:latin typeface="微软雅黑" panose="020B0503020204020204" pitchFamily="34" charset="-122"/>
                  <a:ea typeface="微软雅黑" panose="020B0503020204020204" pitchFamily="34" charset="-122"/>
                  <a:sym typeface="Arial" panose="020B0604020202020204" pitchFamily="34" charset="0"/>
                </a:endParaRPr>
              </a:p>
            </p:txBody>
          </p:sp>
        </p:grpSp>
        <p:grpSp>
          <p:nvGrpSpPr>
            <p:cNvPr id="48" name="组合 47">
              <a:extLst>
                <a:ext uri="{FF2B5EF4-FFF2-40B4-BE49-F238E27FC236}">
                  <a16:creationId xmlns:a16="http://schemas.microsoft.com/office/drawing/2014/main" id="{7E8C6AA6-2C52-107F-69DB-BE012AAD0AC3}"/>
                </a:ext>
              </a:extLst>
            </p:cNvPr>
            <p:cNvGrpSpPr/>
            <p:nvPr/>
          </p:nvGrpSpPr>
          <p:grpSpPr>
            <a:xfrm>
              <a:off x="6132829" y="1365059"/>
              <a:ext cx="1746251" cy="4338897"/>
              <a:chOff x="6132829" y="1365059"/>
              <a:chExt cx="1746251" cy="4338897"/>
            </a:xfrm>
          </p:grpSpPr>
          <p:sp>
            <p:nvSpPr>
              <p:cNvPr id="49" name="4">
                <a:extLst>
                  <a:ext uri="{FF2B5EF4-FFF2-40B4-BE49-F238E27FC236}">
                    <a16:creationId xmlns:a16="http://schemas.microsoft.com/office/drawing/2014/main" id="{C56B3FB5-FE47-FD26-546D-E5E778315CC6}"/>
                  </a:ext>
                </a:extLst>
              </p:cNvPr>
              <p:cNvSpPr>
                <a:spLocks/>
              </p:cNvSpPr>
              <p:nvPr>
                <p:custDataLst>
                  <p:tags r:id="rId2"/>
                </p:custDataLst>
              </p:nvPr>
            </p:nvSpPr>
            <p:spPr>
              <a:xfrm>
                <a:off x="6132829" y="1365059"/>
                <a:ext cx="1746251" cy="4338897"/>
              </a:xfrm>
              <a:prstGeom prst="roundRect">
                <a:avLst>
                  <a:gd name="adj" fmla="val 5088"/>
                </a:avLst>
              </a:prstGeom>
              <a:solidFill>
                <a:schemeClr val="accent4">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Body-4">
                <a:extLst>
                  <a:ext uri="{FF2B5EF4-FFF2-40B4-BE49-F238E27FC236}">
                    <a16:creationId xmlns:a16="http://schemas.microsoft.com/office/drawing/2014/main" id="{F6BD614C-74F0-C1C1-0832-8C3154405893}"/>
                  </a:ext>
                </a:extLst>
              </p:cNvPr>
              <p:cNvSpPr>
                <a:spLocks/>
              </p:cNvSpPr>
              <p:nvPr>
                <p:custDataLst>
                  <p:tags r:id="rId3"/>
                </p:custDataLst>
              </p:nvPr>
            </p:nvSpPr>
            <p:spPr>
              <a:xfrm>
                <a:off x="6215379" y="2813584"/>
                <a:ext cx="1581150" cy="26191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defRPr/>
                </a:pPr>
                <a:r>
                  <a:rPr kumimoji="0" lang="zh-CN" altLang="en-US" sz="14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rPr>
                  <a:t>战役规划为计划员提供了一个清晰的框架，将众多小订单聚合为少量大订单进行管理。这大大降低了排程的复杂性，使生产计划更稳定、更易于管理。</a:t>
                </a:r>
                <a:endParaRPr kumimoji="0" lang="en-GB" altLang="zh-CN" sz="14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endParaRPr>
              </a:p>
            </p:txBody>
          </p:sp>
          <p:sp>
            <p:nvSpPr>
              <p:cNvPr id="51" name="Index-4">
                <a:extLst>
                  <a:ext uri="{FF2B5EF4-FFF2-40B4-BE49-F238E27FC236}">
                    <a16:creationId xmlns:a16="http://schemas.microsoft.com/office/drawing/2014/main" id="{630D2039-CD8B-E1EA-96E3-61A80DD6CB65}"/>
                  </a:ext>
                </a:extLst>
              </p:cNvPr>
              <p:cNvSpPr txBox="1">
                <a:spLocks/>
              </p:cNvSpPr>
              <p:nvPr>
                <p:custDataLst>
                  <p:tags r:id="rId4"/>
                </p:custDataLst>
              </p:nvPr>
            </p:nvSpPr>
            <p:spPr>
              <a:xfrm>
                <a:off x="6717954" y="1774458"/>
                <a:ext cx="576000" cy="407032"/>
              </a:xfrm>
              <a:prstGeom prst="roundRect">
                <a:avLst/>
              </a:prstGeom>
              <a:gradFill>
                <a:gsLst>
                  <a:gs pos="0">
                    <a:schemeClr val="accent4">
                      <a:lumMod val="60000"/>
                      <a:lumOff val="40000"/>
                    </a:schemeClr>
                  </a:gs>
                  <a:gs pos="60000">
                    <a:schemeClr val="accent4"/>
                  </a:gs>
                </a:gsLst>
                <a:lin ang="2700000" scaled="0"/>
              </a:gradFill>
              <a:ln w="57150" cap="rnd">
                <a:noFill/>
                <a:prstDash val="solid"/>
                <a:round/>
              </a:ln>
              <a:effectLst>
                <a:outerShdw blurRad="76200" dist="50800" dir="5400000" algn="ctr" rotWithShape="0">
                  <a:schemeClr val="accent4">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91440" tIns="45720" rIns="91440" bIns="45720" numCol="1" spcCol="0" rtlCol="0" fromWordArt="0" anchor="ctr" anchorCtr="0" forceAA="0" compatLnSpc="1">
                <a:noAutofit/>
              </a:bodyPr>
              <a:lstStyle>
                <a:defPPr>
                  <a:defRPr lang="zh-CN"/>
                </a:defPPr>
                <a:lvl1pPr algn="ctr" defTabSz="913765">
                  <a:defRPr b="1">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t>04</a:t>
                </a:r>
                <a:endParaRPr lang="zh-CN" altLang="en-US" dirty="0"/>
              </a:p>
            </p:txBody>
          </p:sp>
          <p:sp>
            <p:nvSpPr>
              <p:cNvPr id="52" name="Title-4">
                <a:extLst>
                  <a:ext uri="{FF2B5EF4-FFF2-40B4-BE49-F238E27FC236}">
                    <a16:creationId xmlns:a16="http://schemas.microsoft.com/office/drawing/2014/main" id="{1EFBD2F6-5F37-16AA-E055-808DD21BB646}"/>
                  </a:ext>
                </a:extLst>
              </p:cNvPr>
              <p:cNvSpPr>
                <a:spLocks/>
              </p:cNvSpPr>
              <p:nvPr>
                <p:custDataLst>
                  <p:tags r:id="rId5"/>
                </p:custDataLst>
              </p:nvPr>
            </p:nvSpPr>
            <p:spPr>
              <a:xfrm>
                <a:off x="6270785" y="2387885"/>
                <a:ext cx="1470339" cy="3921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ctr"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120000"/>
                  </a:lnSpc>
                </a:pPr>
                <a:r>
                  <a:rPr lang="zh-CN" altLang="en-US" b="1">
                    <a:solidFill>
                      <a:schemeClr val="accent4"/>
                    </a:solidFill>
                    <a:latin typeface="微软雅黑" panose="020B0503020204020204" pitchFamily="34" charset="-122"/>
                    <a:ea typeface="微软雅黑" panose="020B0503020204020204" pitchFamily="34" charset="-122"/>
                    <a:sym typeface="Arial" panose="020B0604020202020204" pitchFamily="34" charset="0"/>
                  </a:rPr>
                  <a:t>简化生产计划与排程</a:t>
                </a:r>
                <a:endParaRPr lang="en-US" altLang="zh-CN" b="1" dirty="0">
                  <a:solidFill>
                    <a:schemeClr val="accent4"/>
                  </a:solidFill>
                  <a:latin typeface="微软雅黑" panose="020B0503020204020204" pitchFamily="34" charset="-122"/>
                  <a:ea typeface="微软雅黑" panose="020B0503020204020204" pitchFamily="34" charset="-122"/>
                  <a:sym typeface="Arial" panose="020B0604020202020204" pitchFamily="34" charset="0"/>
                </a:endParaRPr>
              </a:p>
            </p:txBody>
          </p:sp>
        </p:grpSp>
      </p:grpSp>
    </p:spTree>
    <p:extLst>
      <p:ext uri="{BB962C8B-B14F-4D97-AF65-F5344CB8AC3E}">
        <p14:creationId xmlns:p14="http://schemas.microsoft.com/office/powerpoint/2010/main" val="3896800249"/>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53"/>
          <p:cNvSpPr/>
          <p:nvPr/>
        </p:nvSpPr>
        <p:spPr>
          <a:xfrm>
            <a:off x="3005667" y="4914900"/>
            <a:ext cx="4660900" cy="1066800"/>
          </a:xfrm>
          <a:prstGeom prst="rect">
            <a:avLst/>
          </a:prstGeom>
          <a:solidFill>
            <a:schemeClr val="accent3">
              <a:lumMod val="75000"/>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SHORTAGE</a:t>
            </a:r>
          </a:p>
        </p:txBody>
      </p:sp>
      <p:cxnSp>
        <p:nvCxnSpPr>
          <p:cNvPr id="4" name="直接箭头连接符 6"/>
          <p:cNvCxnSpPr/>
          <p:nvPr/>
        </p:nvCxnSpPr>
        <p:spPr>
          <a:xfrm>
            <a:off x="960967" y="3367617"/>
            <a:ext cx="9330267"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13"/>
          <p:cNvCxnSpPr>
            <a:stCxn id="29704" idx="2"/>
          </p:cNvCxnSpPr>
          <p:nvPr/>
        </p:nvCxnSpPr>
        <p:spPr>
          <a:xfrm flipH="1">
            <a:off x="4290484" y="2538895"/>
            <a:ext cx="1059" cy="85412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6" name="直接箭头连接符 15"/>
          <p:cNvCxnSpPr>
            <a:stCxn id="29705" idx="2"/>
          </p:cNvCxnSpPr>
          <p:nvPr/>
        </p:nvCxnSpPr>
        <p:spPr>
          <a:xfrm>
            <a:off x="6546851" y="2490211"/>
            <a:ext cx="0" cy="877407"/>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7" name="直接箭头连接符 23"/>
          <p:cNvCxnSpPr/>
          <p:nvPr/>
        </p:nvCxnSpPr>
        <p:spPr>
          <a:xfrm flipV="1">
            <a:off x="2999317" y="3367618"/>
            <a:ext cx="0" cy="67310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8" name="直接箭头连接符 35"/>
          <p:cNvCxnSpPr/>
          <p:nvPr/>
        </p:nvCxnSpPr>
        <p:spPr>
          <a:xfrm flipV="1">
            <a:off x="2999317" y="4243917"/>
            <a:ext cx="0" cy="670984"/>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704" name="矩形 8"/>
          <p:cNvSpPr/>
          <p:nvPr/>
        </p:nvSpPr>
        <p:spPr>
          <a:xfrm>
            <a:off x="3570818" y="2169585"/>
            <a:ext cx="1441449"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en-US" altLang="zh-CN"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rPr>
              <a:t>DEMAND1</a:t>
            </a:r>
            <a:endParaRPr kumimoji="1"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endParaRPr>
          </a:p>
        </p:txBody>
      </p:sp>
      <p:sp>
        <p:nvSpPr>
          <p:cNvPr id="29705" name="矩形 9"/>
          <p:cNvSpPr/>
          <p:nvPr/>
        </p:nvSpPr>
        <p:spPr>
          <a:xfrm>
            <a:off x="5827184" y="2120901"/>
            <a:ext cx="1439333"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en-US" altLang="zh-CN"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rPr>
              <a:t>DEMAND2</a:t>
            </a:r>
            <a:endParaRPr kumimoji="1"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endParaRPr>
          </a:p>
        </p:txBody>
      </p:sp>
      <p:sp>
        <p:nvSpPr>
          <p:cNvPr id="29706" name="矩形 10"/>
          <p:cNvSpPr/>
          <p:nvPr/>
        </p:nvSpPr>
        <p:spPr>
          <a:xfrm>
            <a:off x="1416052" y="3560233"/>
            <a:ext cx="1390649" cy="369310"/>
          </a:xfrm>
          <a:prstGeom prst="rect">
            <a:avLst/>
          </a:prstGeom>
          <a:solidFill>
            <a:srgbClr val="FFC00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en-US" altLang="zh-CN"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rPr>
              <a:t>Stock A</a:t>
            </a:r>
            <a:endParaRPr kumimoji="1"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endParaRPr>
          </a:p>
        </p:txBody>
      </p:sp>
      <p:sp>
        <p:nvSpPr>
          <p:cNvPr id="12" name="矩形 11"/>
          <p:cNvSpPr/>
          <p:nvPr/>
        </p:nvSpPr>
        <p:spPr>
          <a:xfrm>
            <a:off x="3581401" y="4940300"/>
            <a:ext cx="1361017" cy="369310"/>
          </a:xfrm>
          <a:prstGeom prst="rect">
            <a:avLst/>
          </a:prstGeom>
          <a:solidFill>
            <a:schemeClr val="accent3">
              <a:lumMod val="20000"/>
              <a:lumOff val="80000"/>
              <a:alpha val="50000"/>
            </a:schemeClr>
          </a:solidFill>
        </p:spPr>
        <p:txBody>
          <a:bodyPr lIns="121899" tIns="60949" rIns="121899" bIns="60949">
            <a:spAutoFit/>
          </a:bodyPr>
          <a:lstStyle/>
          <a:p>
            <a:pPr marL="0" marR="0" lvl="0" indent="0" algn="ctr" defTabSz="1217476" rtl="0" eaLnBrk="1" fontAlgn="base" latinLnBrk="0" hangingPunct="1">
              <a:lnSpc>
                <a:spcPct val="100000"/>
              </a:lnSpc>
              <a:spcBef>
                <a:spcPct val="0"/>
              </a:spcBef>
              <a:spcAft>
                <a:spcPct val="0"/>
              </a:spcAft>
              <a:buClrTx/>
              <a:buSzTx/>
              <a:buFontTx/>
              <a:buNone/>
              <a:tabLst/>
              <a:defRPr/>
            </a:pPr>
            <a:r>
              <a:rPr kumimoji="0" lang="en-US" altLang="zh-CN"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rPr>
              <a:t>Short C</a:t>
            </a: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endParaRPr>
          </a:p>
        </p:txBody>
      </p:sp>
      <p:sp>
        <p:nvSpPr>
          <p:cNvPr id="29708" name="矩形 12"/>
          <p:cNvSpPr/>
          <p:nvPr/>
        </p:nvSpPr>
        <p:spPr>
          <a:xfrm>
            <a:off x="1416052" y="4375151"/>
            <a:ext cx="1390649"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en-US" altLang="zh-CN"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rPr>
              <a:t>Stock B</a:t>
            </a:r>
            <a:endParaRPr kumimoji="1"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endParaRPr>
          </a:p>
        </p:txBody>
      </p:sp>
      <p:sp>
        <p:nvSpPr>
          <p:cNvPr id="14" name="Line 58"/>
          <p:cNvSpPr>
            <a:spLocks noChangeShapeType="1"/>
          </p:cNvSpPr>
          <p:nvPr/>
        </p:nvSpPr>
        <p:spPr bwMode="auto">
          <a:xfrm>
            <a:off x="6548967" y="2997200"/>
            <a:ext cx="213784" cy="2006600"/>
          </a:xfrm>
          <a:prstGeom prst="line">
            <a:avLst/>
          </a:prstGeom>
          <a:ln>
            <a:tailEnd type="triangle" w="med" len="med"/>
          </a:ln>
        </p:spPr>
        <p:style>
          <a:lnRef idx="2">
            <a:schemeClr val="accent1"/>
          </a:lnRef>
          <a:fillRef idx="0">
            <a:schemeClr val="accent1"/>
          </a:fillRef>
          <a:effectRef idx="1">
            <a:schemeClr val="accent1"/>
          </a:effectRef>
          <a:fontRef idx="minor">
            <a:schemeClr val="tx1"/>
          </a:fontRef>
        </p:style>
        <p:txBody>
          <a:bodyPr lIns="162504" tIns="81251" rIns="162504" bIns="81251"/>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rgbClr val="000000"/>
              </a:solidFill>
              <a:effectLst/>
              <a:uLnTx/>
              <a:uFillTx/>
              <a:latin typeface="黑体" panose="02010609060101010101" pitchFamily="49" charset="-122"/>
              <a:ea typeface="黑体" panose="02010609060101010101" pitchFamily="49" charset="-122"/>
              <a:cs typeface="+mn-cs"/>
            </a:endParaRPr>
          </a:p>
        </p:txBody>
      </p:sp>
      <p:sp>
        <p:nvSpPr>
          <p:cNvPr id="15" name="Line 58"/>
          <p:cNvSpPr>
            <a:spLocks noChangeShapeType="1"/>
          </p:cNvSpPr>
          <p:nvPr/>
        </p:nvSpPr>
        <p:spPr bwMode="auto">
          <a:xfrm flipH="1">
            <a:off x="2980267" y="2992967"/>
            <a:ext cx="3543300" cy="781051"/>
          </a:xfrm>
          <a:prstGeom prst="line">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lIns="162504" tIns="81251" rIns="162504" bIns="81251"/>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rgbClr val="000000"/>
              </a:solidFill>
              <a:effectLst/>
              <a:uLnTx/>
              <a:uFillTx/>
              <a:latin typeface="黑体" panose="02010609060101010101" pitchFamily="49" charset="-122"/>
              <a:ea typeface="黑体" panose="02010609060101010101" pitchFamily="49" charset="-122"/>
              <a:cs typeface="+mn-cs"/>
            </a:endParaRPr>
          </a:p>
        </p:txBody>
      </p:sp>
      <p:sp>
        <p:nvSpPr>
          <p:cNvPr id="16" name="矩形标注 15"/>
          <p:cNvSpPr/>
          <p:nvPr/>
        </p:nvSpPr>
        <p:spPr>
          <a:xfrm>
            <a:off x="3088218" y="1358900"/>
            <a:ext cx="2328333" cy="508000"/>
          </a:xfrm>
          <a:prstGeom prst="wedgeRectCallout">
            <a:avLst>
              <a:gd name="adj1" fmla="val 782"/>
              <a:gd name="adj2" fmla="val 90562"/>
            </a:avLst>
          </a:prstGeom>
          <a:ln>
            <a:noFill/>
          </a:ln>
        </p:spPr>
        <p:style>
          <a:lnRef idx="2">
            <a:schemeClr val="accent2">
              <a:shade val="50000"/>
            </a:schemeClr>
          </a:lnRef>
          <a:fillRef idx="1">
            <a:schemeClr val="accent2"/>
          </a:fillRef>
          <a:effectRef idx="0">
            <a:schemeClr val="accent2"/>
          </a:effectRef>
          <a:fontRef idx="minor">
            <a:schemeClr val="lt1"/>
          </a:fontRef>
        </p:style>
        <p:txBody>
          <a:bodyPr lIns="121899" tIns="60949" rIns="121899" bIns="60949" anchor="ctr"/>
          <a:lstStyle/>
          <a:p>
            <a:pPr marL="0" marR="0" lvl="0" indent="0" algn="ctr" defTabSz="1217476" rtl="0" eaLnBrk="1" fontAlgn="base" latinLnBrk="0" hangingPunct="1">
              <a:lnSpc>
                <a:spcPct val="100000"/>
              </a:lnSpc>
              <a:spcBef>
                <a:spcPct val="0"/>
              </a:spcBef>
              <a:spcAft>
                <a:spcPct val="0"/>
              </a:spcAft>
              <a:buClrTx/>
              <a:buSzTx/>
              <a:buFontTx/>
              <a:buNone/>
              <a:tabLst/>
              <a:defRPr/>
            </a:pPr>
            <a:r>
              <a:rPr kumimoji="0" lang="en-US" altLang="zh-CN" sz="20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rPr>
              <a:t>MRP</a:t>
            </a:r>
            <a:endParaRPr kumimoji="0" lang="zh-CN" altLang="en-US" sz="1333"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endParaRPr>
          </a:p>
        </p:txBody>
      </p:sp>
      <p:sp>
        <p:nvSpPr>
          <p:cNvPr id="17" name="矩形标注 16"/>
          <p:cNvSpPr/>
          <p:nvPr/>
        </p:nvSpPr>
        <p:spPr>
          <a:xfrm>
            <a:off x="5416552" y="1358901"/>
            <a:ext cx="2250017" cy="522817"/>
          </a:xfrm>
          <a:prstGeom prst="wedgeRectCallout">
            <a:avLst>
              <a:gd name="adj1" fmla="val 782"/>
              <a:gd name="adj2" fmla="val 90562"/>
            </a:avLst>
          </a:prstGeom>
          <a:ln>
            <a:noFill/>
          </a:ln>
        </p:spPr>
        <p:style>
          <a:lnRef idx="2">
            <a:schemeClr val="accent2">
              <a:shade val="50000"/>
            </a:schemeClr>
          </a:lnRef>
          <a:fillRef idx="1">
            <a:schemeClr val="accent2"/>
          </a:fillRef>
          <a:effectRef idx="0">
            <a:schemeClr val="accent2"/>
          </a:effectRef>
          <a:fontRef idx="minor">
            <a:schemeClr val="lt1"/>
          </a:fontRef>
        </p:style>
        <p:txBody>
          <a:bodyPr lIns="121899" tIns="60949" rIns="121899" bIns="60949" anchor="ctr"/>
          <a:lstStyle/>
          <a:p>
            <a:pPr marL="0" marR="0" lvl="0" indent="0" algn="ctr" defTabSz="1217476" rtl="0" eaLnBrk="1" fontAlgn="base" latinLnBrk="0" hangingPunct="1">
              <a:lnSpc>
                <a:spcPct val="100000"/>
              </a:lnSpc>
              <a:spcBef>
                <a:spcPct val="0"/>
              </a:spcBef>
              <a:spcAft>
                <a:spcPct val="0"/>
              </a:spcAft>
              <a:buClrTx/>
              <a:buSzTx/>
              <a:buFontTx/>
              <a:buNone/>
              <a:tabLst/>
              <a:defRPr/>
            </a:pPr>
            <a:r>
              <a:rPr kumimoji="0" lang="en-US" altLang="zh-CN" sz="20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rPr>
              <a:t>MRP</a:t>
            </a:r>
            <a:endParaRPr kumimoji="0" lang="zh-CN" altLang="en-US" sz="1333"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endParaRPr>
          </a:p>
        </p:txBody>
      </p:sp>
      <p:sp>
        <p:nvSpPr>
          <p:cNvPr id="18" name="Line 58"/>
          <p:cNvSpPr>
            <a:spLocks noChangeShapeType="1"/>
          </p:cNvSpPr>
          <p:nvPr/>
        </p:nvSpPr>
        <p:spPr bwMode="auto">
          <a:xfrm flipH="1">
            <a:off x="3943352" y="2529418"/>
            <a:ext cx="319617" cy="2465917"/>
          </a:xfrm>
          <a:prstGeom prst="line">
            <a:avLst/>
          </a:prstGeom>
          <a:ln>
            <a:tailEnd type="triangle" w="med" len="med"/>
          </a:ln>
        </p:spPr>
        <p:style>
          <a:lnRef idx="2">
            <a:schemeClr val="accent1"/>
          </a:lnRef>
          <a:fillRef idx="0">
            <a:schemeClr val="accent1"/>
          </a:fillRef>
          <a:effectRef idx="1">
            <a:schemeClr val="accent1"/>
          </a:effectRef>
          <a:fontRef idx="minor">
            <a:schemeClr val="tx1"/>
          </a:fontRef>
        </p:style>
        <p:txBody>
          <a:bodyPr lIns="162504" tIns="81251" rIns="162504" bIns="81251"/>
          <a:lstStyle/>
          <a:p>
            <a:pPr marL="0" marR="0" lvl="0" indent="0" algn="l" defTabSz="1624713" rtl="0" eaLnBrk="1" fontAlgn="auto" latinLnBrk="0" hangingPunct="1">
              <a:lnSpc>
                <a:spcPct val="100000"/>
              </a:lnSpc>
              <a:spcBef>
                <a:spcPts val="0"/>
              </a:spcBef>
              <a:spcAft>
                <a:spcPts val="0"/>
              </a:spcAft>
              <a:buClrTx/>
              <a:buSzTx/>
              <a:buFontTx/>
              <a:buNone/>
              <a:tabLst/>
              <a:defRPr/>
            </a:pPr>
            <a:endParaRPr kumimoji="0" lang="zh-CN" altLang="en-US" sz="3200" b="0" i="0" u="none" strike="noStrike" kern="0" cap="none" spc="0" normalizeH="0" baseline="0" noProof="0" dirty="0">
              <a:ln>
                <a:noFill/>
              </a:ln>
              <a:solidFill>
                <a:srgbClr val="000000"/>
              </a:solidFill>
              <a:effectLst/>
              <a:uLnTx/>
              <a:uFillTx/>
              <a:latin typeface="黑体" panose="02010609060101010101" pitchFamily="49" charset="-122"/>
              <a:ea typeface="黑体" panose="02010609060101010101" pitchFamily="49" charset="-122"/>
              <a:cs typeface="+mn-cs"/>
            </a:endParaRPr>
          </a:p>
        </p:txBody>
      </p:sp>
      <p:sp>
        <p:nvSpPr>
          <p:cNvPr id="19" name="TextBox 47"/>
          <p:cNvSpPr txBox="1"/>
          <p:nvPr/>
        </p:nvSpPr>
        <p:spPr>
          <a:xfrm>
            <a:off x="812095" y="5700184"/>
            <a:ext cx="6110817" cy="1200306"/>
          </a:xfrm>
          <a:prstGeom prst="rect">
            <a:avLst/>
          </a:prstGeom>
          <a:noFill/>
        </p:spPr>
        <p:txBody>
          <a:bodyPr lIns="121899" tIns="60949" rIns="121899" bIns="60949">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Key assumption</a:t>
            </a:r>
          </a:p>
          <a:p>
            <a:pPr marL="286166" marR="0" lvl="0" indent="-286166"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400" b="0"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DEMAND1 is assembled by part A and C</a:t>
            </a:r>
          </a:p>
          <a:p>
            <a:pPr marL="286166" marR="0" lvl="0" indent="-286166"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400" b="0"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DEMAND2 is assembled by part A and B</a:t>
            </a:r>
          </a:p>
          <a:p>
            <a:pPr marL="286166" marR="0" lvl="0" indent="-286166"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400" b="0"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DEMAND Priority: DEMAND1 &gt; DEMAND2</a:t>
            </a:r>
          </a:p>
          <a:p>
            <a:pPr marL="286166" marR="0" lvl="0" indent="-286166"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400" b="0" i="0" u="none" strike="noStrike" kern="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Stock A can fulfill only one of DEMAND1 and DEMAND2</a:t>
            </a:r>
          </a:p>
        </p:txBody>
      </p:sp>
      <p:sp>
        <p:nvSpPr>
          <p:cNvPr id="20" name="矩形标注 19"/>
          <p:cNvSpPr/>
          <p:nvPr/>
        </p:nvSpPr>
        <p:spPr>
          <a:xfrm>
            <a:off x="5923936" y="1351652"/>
            <a:ext cx="1439333" cy="510117"/>
          </a:xfrm>
          <a:prstGeom prst="wedgeRectCallout">
            <a:avLst>
              <a:gd name="adj1" fmla="val 782"/>
              <a:gd name="adj2" fmla="val 90562"/>
            </a:avLst>
          </a:prstGeom>
          <a:ln>
            <a:noFill/>
          </a:ln>
        </p:spPr>
        <p:style>
          <a:lnRef idx="2">
            <a:schemeClr val="accent4">
              <a:shade val="50000"/>
            </a:schemeClr>
          </a:lnRef>
          <a:fillRef idx="1">
            <a:schemeClr val="accent4"/>
          </a:fillRef>
          <a:effectRef idx="0">
            <a:schemeClr val="accent4"/>
          </a:effectRef>
          <a:fontRef idx="minor">
            <a:schemeClr val="lt1"/>
          </a:fontRef>
        </p:style>
        <p:txBody>
          <a:bodyPr lIns="121899" tIns="60949" rIns="121899" bIns="60949" anchor="ctr"/>
          <a:lstStyle/>
          <a:p>
            <a:pPr marL="0" marR="0" lvl="0" indent="0" algn="ctr" defTabSz="1217476" rtl="0" eaLnBrk="1" fontAlgn="base" latinLnBrk="0" hangingPunct="1">
              <a:lnSpc>
                <a:spcPct val="100000"/>
              </a:lnSpc>
              <a:spcBef>
                <a:spcPct val="0"/>
              </a:spcBef>
              <a:spcAft>
                <a:spcPct val="0"/>
              </a:spcAft>
              <a:buClrTx/>
              <a:buSzTx/>
              <a:buFontTx/>
              <a:buNone/>
              <a:tabLst/>
              <a:defRPr/>
            </a:pPr>
            <a:r>
              <a:rPr kumimoji="0" lang="en-US" altLang="zh-CN"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rPr>
              <a:t>Production Planning</a:t>
            </a:r>
            <a:endParaRPr kumimoji="0"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endParaRPr>
          </a:p>
        </p:txBody>
      </p:sp>
      <p:sp>
        <p:nvSpPr>
          <p:cNvPr id="21" name="Line 58"/>
          <p:cNvSpPr>
            <a:spLocks noChangeShapeType="1"/>
          </p:cNvSpPr>
          <p:nvPr/>
        </p:nvSpPr>
        <p:spPr bwMode="auto">
          <a:xfrm flipH="1">
            <a:off x="3005667" y="2997200"/>
            <a:ext cx="3517900" cy="1583267"/>
          </a:xfrm>
          <a:prstGeom prst="line">
            <a:avLst/>
          </a:prstGeom>
          <a:ln>
            <a:tailEnd type="triangle" w="med" len="med"/>
          </a:ln>
        </p:spPr>
        <p:style>
          <a:lnRef idx="2">
            <a:schemeClr val="accent1"/>
          </a:lnRef>
          <a:fillRef idx="0">
            <a:schemeClr val="accent1"/>
          </a:fillRef>
          <a:effectRef idx="1">
            <a:schemeClr val="accent1"/>
          </a:effectRef>
          <a:fontRef idx="minor">
            <a:schemeClr val="tx1"/>
          </a:fontRef>
        </p:style>
        <p:txBody>
          <a:bodyPr lIns="162504" tIns="81251" rIns="162504" bIns="81251"/>
          <a:lstStyle/>
          <a:p>
            <a:pPr marL="0" marR="0" lvl="0" indent="0" algn="l" defTabSz="1624713" rtl="0" eaLnBrk="1" fontAlgn="auto" latinLnBrk="0" hangingPunct="1">
              <a:lnSpc>
                <a:spcPct val="100000"/>
              </a:lnSpc>
              <a:spcBef>
                <a:spcPts val="0"/>
              </a:spcBef>
              <a:spcAft>
                <a:spcPts val="0"/>
              </a:spcAft>
              <a:buClrTx/>
              <a:buSzTx/>
              <a:buFontTx/>
              <a:buNone/>
              <a:tabLst/>
              <a:defRPr/>
            </a:pPr>
            <a:endParaRPr kumimoji="0" lang="zh-CN" altLang="en-US" sz="3200" b="0" i="0" u="none" strike="noStrike" kern="0" cap="none" spc="0" normalizeH="0" baseline="0" noProof="0" dirty="0">
              <a:ln>
                <a:noFill/>
              </a:ln>
              <a:solidFill>
                <a:srgbClr val="000000"/>
              </a:solidFill>
              <a:effectLst/>
              <a:uLnTx/>
              <a:uFillTx/>
              <a:latin typeface="黑体" panose="02010609060101010101" pitchFamily="49" charset="-122"/>
              <a:ea typeface="黑体" panose="02010609060101010101" pitchFamily="49" charset="-122"/>
              <a:cs typeface="+mn-cs"/>
            </a:endParaRPr>
          </a:p>
        </p:txBody>
      </p:sp>
      <p:sp>
        <p:nvSpPr>
          <p:cNvPr id="22" name="Line 58"/>
          <p:cNvSpPr>
            <a:spLocks noChangeShapeType="1"/>
          </p:cNvSpPr>
          <p:nvPr/>
        </p:nvSpPr>
        <p:spPr bwMode="auto">
          <a:xfrm flipH="1">
            <a:off x="3005667" y="2529417"/>
            <a:ext cx="1272117" cy="1244600"/>
          </a:xfrm>
          <a:prstGeom prst="line">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txBody>
          <a:bodyPr lIns="162504" tIns="81251" rIns="162504" bIns="81251"/>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rgbClr val="000000"/>
              </a:solidFill>
              <a:effectLst/>
              <a:uLnTx/>
              <a:uFillTx/>
              <a:latin typeface="黑体" panose="02010609060101010101" pitchFamily="49" charset="-122"/>
              <a:ea typeface="黑体" panose="02010609060101010101" pitchFamily="49" charset="-122"/>
              <a:cs typeface="+mn-cs"/>
            </a:endParaRPr>
          </a:p>
        </p:txBody>
      </p:sp>
      <p:sp>
        <p:nvSpPr>
          <p:cNvPr id="23" name="矩形标注 22"/>
          <p:cNvSpPr/>
          <p:nvPr/>
        </p:nvSpPr>
        <p:spPr>
          <a:xfrm>
            <a:off x="3623338" y="1361541"/>
            <a:ext cx="1439333" cy="508000"/>
          </a:xfrm>
          <a:prstGeom prst="wedgeRectCallout">
            <a:avLst>
              <a:gd name="adj1" fmla="val -3010"/>
              <a:gd name="adj2" fmla="val 106668"/>
            </a:avLst>
          </a:prstGeom>
          <a:ln>
            <a:noFill/>
          </a:ln>
        </p:spPr>
        <p:style>
          <a:lnRef idx="2">
            <a:schemeClr val="accent4">
              <a:shade val="50000"/>
            </a:schemeClr>
          </a:lnRef>
          <a:fillRef idx="1">
            <a:schemeClr val="accent4"/>
          </a:fillRef>
          <a:effectRef idx="0">
            <a:schemeClr val="accent4"/>
          </a:effectRef>
          <a:fontRef idx="minor">
            <a:schemeClr val="lt1"/>
          </a:fontRef>
        </p:style>
        <p:txBody>
          <a:bodyPr lIns="121899" tIns="60949" rIns="121899" bIns="60949" anchor="ctr"/>
          <a:lstStyle/>
          <a:p>
            <a:pPr marL="0" marR="0" lvl="0" indent="0" algn="ctr" defTabSz="1217476" rtl="0" eaLnBrk="1" fontAlgn="base" latinLnBrk="0" hangingPunct="1">
              <a:lnSpc>
                <a:spcPct val="100000"/>
              </a:lnSpc>
              <a:spcBef>
                <a:spcPct val="0"/>
              </a:spcBef>
              <a:spcAft>
                <a:spcPct val="0"/>
              </a:spcAft>
              <a:buClrTx/>
              <a:buSzTx/>
              <a:buFontTx/>
              <a:buNone/>
              <a:tabLst/>
              <a:defRPr/>
            </a:pPr>
            <a:r>
              <a:rPr kumimoji="0" lang="en-US" altLang="zh-CN"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rPr>
              <a:t>Production Planning</a:t>
            </a:r>
            <a:endParaRPr kumimoji="0"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endParaRPr>
          </a:p>
        </p:txBody>
      </p:sp>
      <p:sp>
        <p:nvSpPr>
          <p:cNvPr id="24" name="TextBox 48"/>
          <p:cNvSpPr txBox="1"/>
          <p:nvPr/>
        </p:nvSpPr>
        <p:spPr>
          <a:xfrm>
            <a:off x="8077200" y="753533"/>
            <a:ext cx="3454400" cy="902854"/>
          </a:xfrm>
          <a:prstGeom prst="rect">
            <a:avLst/>
          </a:prstGeom>
          <a:no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l"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en-US" altLang="zh-CN" sz="1867"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rPr>
              <a:t>MRP:</a:t>
            </a:r>
          </a:p>
          <a:p>
            <a:pPr marL="0" marR="0" lvl="0" indent="0" algn="l" defTabSz="1217476"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1" lang="en-US" altLang="zh-CN" sz="16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rPr>
              <a:t>DEMAND1 Shortage of C</a:t>
            </a:r>
            <a:endParaRPr kumimoji="1" lang="zh-CN" altLang="en-US" sz="16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endParaRPr>
          </a:p>
          <a:p>
            <a:pPr marL="0" marR="0" lvl="0" indent="0" algn="l" defTabSz="1217476"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1" lang="en-US" altLang="zh-CN" sz="16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rPr>
              <a:t>DEMAND2 Shortage of A</a:t>
            </a:r>
            <a:endParaRPr kumimoji="1" lang="zh-CN" altLang="en-US" sz="16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endParaRPr>
          </a:p>
        </p:txBody>
      </p:sp>
      <p:sp>
        <p:nvSpPr>
          <p:cNvPr id="25" name="TextBox 74"/>
          <p:cNvSpPr txBox="1"/>
          <p:nvPr/>
        </p:nvSpPr>
        <p:spPr>
          <a:xfrm>
            <a:off x="8100486" y="1496974"/>
            <a:ext cx="4240537" cy="1846637"/>
          </a:xfrm>
          <a:prstGeom prst="rect">
            <a:avLst/>
          </a:prstGeom>
          <a:noFill/>
          <a:ln w="9525">
            <a:noFill/>
          </a:ln>
        </p:spPr>
        <p:txBody>
          <a:bodyPr wrap="square"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l"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en-US" altLang="zh-CN" sz="1600"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rPr>
              <a:t>Production Planning: </a:t>
            </a:r>
          </a:p>
          <a:p>
            <a:pPr marL="0" marR="0" lvl="0" indent="0" algn="l" defTabSz="1217476"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1" lang="en-US" altLang="zh-CN" sz="16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rPr>
              <a:t>DEMAND2 MO generate.</a:t>
            </a:r>
          </a:p>
          <a:p>
            <a:pPr marL="0" marR="0" lvl="0" indent="0" algn="l" defTabSz="1217476"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1" lang="en-US" altLang="zh-CN" sz="16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rPr>
              <a:t>DEMAND1 Shortage of A and C</a:t>
            </a:r>
          </a:p>
          <a:p>
            <a:pPr marL="0" marR="0" lvl="0" indent="0" algn="l"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en-US" altLang="zh-CN" sz="16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rPr>
              <a:t>The Shortage A from Production Planning process  is earlier than the reported shortage. It will impact delivery speed of DEMAND2</a:t>
            </a:r>
          </a:p>
        </p:txBody>
      </p:sp>
      <p:sp>
        <p:nvSpPr>
          <p:cNvPr id="26" name="圆角矩形 25"/>
          <p:cNvSpPr/>
          <p:nvPr/>
        </p:nvSpPr>
        <p:spPr>
          <a:xfrm>
            <a:off x="8011585" y="3663951"/>
            <a:ext cx="3611033" cy="1619251"/>
          </a:xfrm>
          <a:prstGeom prst="round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lvl1pPr marL="284480" indent="-284480" defTabSz="913130">
              <a:defRPr kumimoji="1" sz="2400">
                <a:solidFill>
                  <a:schemeClr val="tx1"/>
                </a:solidFill>
                <a:latin typeface="Calibri" panose="020F0502020204030204" pitchFamily="34" charset="0"/>
                <a:ea typeface="宋体" panose="02010600030101010101" pitchFamily="2" charset="-122"/>
              </a:defRPr>
            </a:lvl1pPr>
            <a:lvl2pPr marL="742950" indent="-285750" defTabSz="913130">
              <a:defRPr kumimoji="1" sz="2400">
                <a:solidFill>
                  <a:schemeClr val="tx1"/>
                </a:solidFill>
                <a:latin typeface="Calibri" panose="020F0502020204030204" pitchFamily="34" charset="0"/>
                <a:ea typeface="宋体" panose="02010600030101010101" pitchFamily="2" charset="-122"/>
              </a:defRPr>
            </a:lvl2pPr>
            <a:lvl3pPr marL="1143000" indent="-228600" defTabSz="913130">
              <a:defRPr kumimoji="1" sz="2400">
                <a:solidFill>
                  <a:schemeClr val="tx1"/>
                </a:solidFill>
                <a:latin typeface="Calibri" panose="020F0502020204030204" pitchFamily="34" charset="0"/>
                <a:ea typeface="宋体" panose="02010600030101010101" pitchFamily="2" charset="-122"/>
              </a:defRPr>
            </a:lvl3pPr>
            <a:lvl4pPr marL="1600200" indent="-228600" defTabSz="913130">
              <a:defRPr kumimoji="1" sz="2400">
                <a:solidFill>
                  <a:schemeClr val="tx1"/>
                </a:solidFill>
                <a:latin typeface="Calibri" panose="020F0502020204030204" pitchFamily="34" charset="0"/>
                <a:ea typeface="宋体" panose="02010600030101010101" pitchFamily="2" charset="-122"/>
              </a:defRPr>
            </a:lvl4pPr>
            <a:lvl5pPr marL="2057400" indent="-228600" defTabSz="913130">
              <a:defRPr kumimoji="1" sz="2400">
                <a:solidFill>
                  <a:schemeClr val="tx1"/>
                </a:solidFill>
                <a:latin typeface="Calibri" panose="020F0502020204030204" pitchFamily="34" charset="0"/>
                <a:ea typeface="宋体" panose="02010600030101010101" pitchFamily="2" charset="-122"/>
              </a:defRPr>
            </a:lvl5pPr>
            <a:lvl6pPr marL="25146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6pPr>
            <a:lvl7pPr marL="29718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7pPr>
            <a:lvl8pPr marL="34290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8pPr>
            <a:lvl9pPr marL="3886200" indent="-228600" defTabSz="913130" eaLnBrk="0" fontAlgn="base" hangingPunct="0">
              <a:spcBef>
                <a:spcPct val="0"/>
              </a:spcBef>
              <a:spcAft>
                <a:spcPct val="0"/>
              </a:spcAft>
              <a:defRPr kumimoji="1" sz="2400">
                <a:solidFill>
                  <a:schemeClr val="tx1"/>
                </a:solidFill>
                <a:latin typeface="Calibri" panose="020F0502020204030204" pitchFamily="34" charset="0"/>
                <a:ea typeface="宋体" panose="02010600030101010101" pitchFamily="2" charset="-122"/>
              </a:defRPr>
            </a:lvl9pPr>
          </a:lstStyle>
          <a:p>
            <a:pPr marL="379297" marR="0" lvl="0" indent="-379297" algn="l" defTabSz="1217476" rtl="0" eaLnBrk="1" fontAlgn="base" latinLnBrk="0" hangingPunct="1">
              <a:lnSpc>
                <a:spcPct val="100000"/>
              </a:lnSpc>
              <a:spcBef>
                <a:spcPct val="0"/>
              </a:spcBef>
              <a:spcAft>
                <a:spcPct val="0"/>
              </a:spcAft>
              <a:buClrTx/>
              <a:buSzTx/>
              <a:buFont typeface="Wingdings" panose="05000000000000000000" pitchFamily="2" charset="2"/>
              <a:buChar char="p"/>
              <a:tabLst/>
              <a:defRPr/>
            </a:pPr>
            <a:r>
              <a:rPr kumimoji="0" lang="en-US" altLang="zh-CN" sz="1600"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Shortage: </a:t>
            </a:r>
            <a:r>
              <a:rPr kumimoji="0" lang="en-US" altLang="zh-CN" sz="1600" b="0" i="0" u="sng"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Lock the parts </a:t>
            </a:r>
            <a:r>
              <a:rPr kumimoji="0" lang="en-US" altLang="zh-CN" sz="16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by the higher priority order even if it is un-kitted</a:t>
            </a:r>
          </a:p>
          <a:p>
            <a:pPr marL="379297" marR="0" lvl="0" indent="-379297" algn="l" defTabSz="1217476" rtl="0" eaLnBrk="1" fontAlgn="base" latinLnBrk="0" hangingPunct="1">
              <a:lnSpc>
                <a:spcPct val="100000"/>
              </a:lnSpc>
              <a:spcBef>
                <a:spcPct val="0"/>
              </a:spcBef>
              <a:spcAft>
                <a:spcPct val="0"/>
              </a:spcAft>
              <a:buClrTx/>
              <a:buSzTx/>
              <a:buFont typeface="Wingdings" panose="05000000000000000000" pitchFamily="2" charset="2"/>
              <a:buChar char="p"/>
              <a:tabLst/>
              <a:defRPr/>
            </a:pPr>
            <a:r>
              <a:rPr kumimoji="0" lang="en-US" altLang="zh-CN" sz="1600"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Production Planning: </a:t>
            </a:r>
            <a:r>
              <a:rPr kumimoji="0" lang="en-US" altLang="zh-CN" sz="16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Don’t lock parts for un-kitted parts</a:t>
            </a:r>
          </a:p>
        </p:txBody>
      </p:sp>
      <p:sp>
        <p:nvSpPr>
          <p:cNvPr id="29722" name="Title 34"/>
          <p:cNvSpPr>
            <a:spLocks noGrp="1"/>
          </p:cNvSpPr>
          <p:nvPr>
            <p:ph type="title" idx="4294967295"/>
          </p:nvPr>
        </p:nvSpPr>
        <p:spPr>
          <a:xfrm>
            <a:off x="1116013" y="123825"/>
            <a:ext cx="11075987" cy="520700"/>
          </a:xfrm>
          <a:prstGeom prst="rect">
            <a:avLst/>
          </a:prstGeom>
        </p:spPr>
        <p:txBody>
          <a:bodyPr vert="horz" wrap="square" lIns="121920" tIns="60960" rIns="121920" bIns="60960" anchor="ctr" anchorCtr="0">
            <a:normAutofit/>
          </a:bodyPr>
          <a:lstStyle/>
          <a:p>
            <a:pPr eaLnBrk="1" hangingPunct="1"/>
            <a:r>
              <a:rPr lang="en-US" altLang="zh-CN" b="1" dirty="0">
                <a:solidFill>
                  <a:schemeClr val="bg1"/>
                </a:solidFill>
                <a:latin typeface="Arial" panose="020B0604020202020204" pitchFamily="34" charset="0"/>
                <a:ea typeface="微软雅黑" panose="020B0503020204020204" pitchFamily="34" charset="-122"/>
              </a:rPr>
              <a:t>Scenario #1: Challenge C</a:t>
            </a:r>
          </a:p>
        </p:txBody>
      </p:sp>
      <p:sp>
        <p:nvSpPr>
          <p:cNvPr id="28" name="矩形 27"/>
          <p:cNvSpPr/>
          <p:nvPr/>
        </p:nvSpPr>
        <p:spPr>
          <a:xfrm>
            <a:off x="5820834" y="4938184"/>
            <a:ext cx="1363133" cy="369310"/>
          </a:xfrm>
          <a:prstGeom prst="rect">
            <a:avLst/>
          </a:prstGeom>
          <a:solidFill>
            <a:schemeClr val="accent3">
              <a:lumMod val="20000"/>
              <a:lumOff val="80000"/>
              <a:alpha val="50000"/>
            </a:schemeClr>
          </a:solidFill>
        </p:spPr>
        <p:txBody>
          <a:bodyPr lIns="121899" tIns="60949" rIns="121899" bIns="60949">
            <a:spAutoFit/>
          </a:bodyPr>
          <a:lstStyle/>
          <a:p>
            <a:pPr marL="0" marR="0" lvl="0" indent="0" algn="ctr" defTabSz="1217476" rtl="0" eaLnBrk="1" fontAlgn="base" latinLnBrk="0" hangingPunct="1">
              <a:lnSpc>
                <a:spcPct val="100000"/>
              </a:lnSpc>
              <a:spcBef>
                <a:spcPct val="0"/>
              </a:spcBef>
              <a:spcAft>
                <a:spcPct val="0"/>
              </a:spcAft>
              <a:buClrTx/>
              <a:buSzTx/>
              <a:buFontTx/>
              <a:buNone/>
              <a:tabLst/>
              <a:defRPr/>
            </a:pPr>
            <a:r>
              <a:rPr kumimoji="0" lang="en-US" altLang="zh-CN"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rPr>
              <a:t>Short A</a:t>
            </a: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endParaRPr>
          </a:p>
        </p:txBody>
      </p:sp>
      <p:sp>
        <p:nvSpPr>
          <p:cNvPr id="29" name="Line 58"/>
          <p:cNvSpPr>
            <a:spLocks noChangeShapeType="1"/>
          </p:cNvSpPr>
          <p:nvPr/>
        </p:nvSpPr>
        <p:spPr bwMode="auto">
          <a:xfrm flipH="1">
            <a:off x="3005667" y="2529418"/>
            <a:ext cx="1272117" cy="1030817"/>
          </a:xfrm>
          <a:prstGeom prst="line">
            <a:avLst/>
          </a:prstGeom>
          <a:ln>
            <a:tailEnd type="triangle" w="med" len="med"/>
          </a:ln>
        </p:spPr>
        <p:style>
          <a:lnRef idx="2">
            <a:schemeClr val="accent1"/>
          </a:lnRef>
          <a:fillRef idx="0">
            <a:schemeClr val="accent1"/>
          </a:fillRef>
          <a:effectRef idx="1">
            <a:schemeClr val="accent1"/>
          </a:effectRef>
          <a:fontRef idx="minor">
            <a:schemeClr val="tx1"/>
          </a:fontRef>
        </p:style>
        <p:txBody>
          <a:bodyPr lIns="162504" tIns="81251" rIns="162504" bIns="81251"/>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rgbClr val="000000"/>
              </a:solidFill>
              <a:effectLst/>
              <a:uLnTx/>
              <a:uFillTx/>
              <a:latin typeface="黑体" panose="02010609060101010101" pitchFamily="49" charset="-122"/>
              <a:ea typeface="黑体" panose="02010609060101010101" pitchFamily="49" charset="-122"/>
              <a:cs typeface="+mn-cs"/>
            </a:endParaRPr>
          </a:p>
        </p:txBody>
      </p:sp>
      <p:cxnSp>
        <p:nvCxnSpPr>
          <p:cNvPr id="30" name="直接箭头连接符 4"/>
          <p:cNvCxnSpPr>
            <a:stCxn id="29" idx="0"/>
            <a:endCxn id="12" idx="0"/>
          </p:cNvCxnSpPr>
          <p:nvPr/>
        </p:nvCxnSpPr>
        <p:spPr>
          <a:xfrm flipH="1">
            <a:off x="4261910" y="2529418"/>
            <a:ext cx="15874" cy="2410882"/>
          </a:xfrm>
          <a:prstGeom prst="straightConnector1">
            <a:avLst/>
          </a:prstGeom>
          <a:ln>
            <a:solidFill>
              <a:schemeClr val="tx1"/>
            </a:solidFill>
            <a:prstDash val="dash"/>
            <a:tailEnd type="triangle"/>
          </a:ln>
        </p:spPr>
        <p:style>
          <a:lnRef idx="1">
            <a:schemeClr val="dk1"/>
          </a:lnRef>
          <a:fillRef idx="0">
            <a:schemeClr val="dk1"/>
          </a:fillRef>
          <a:effectRef idx="0">
            <a:schemeClr val="dk1"/>
          </a:effectRef>
          <a:fontRef idx="minor">
            <a:schemeClr val="tx1"/>
          </a:fontRef>
        </p:style>
      </p:cxnSp>
      <p:sp>
        <p:nvSpPr>
          <p:cNvPr id="31" name="矩形 30"/>
          <p:cNvSpPr/>
          <p:nvPr/>
        </p:nvSpPr>
        <p:spPr>
          <a:xfrm>
            <a:off x="3539067" y="5611284"/>
            <a:ext cx="1363133" cy="369310"/>
          </a:xfrm>
          <a:prstGeom prst="rect">
            <a:avLst/>
          </a:prstGeom>
          <a:solidFill>
            <a:schemeClr val="accent4">
              <a:alpha val="50000"/>
            </a:schemeClr>
          </a:solidFill>
        </p:spPr>
        <p:txBody>
          <a:bodyPr lIns="121899" tIns="60949" rIns="121899" bIns="60949">
            <a:spAutoFit/>
          </a:bodyPr>
          <a:lstStyle/>
          <a:p>
            <a:pPr marL="0" marR="0" lvl="0" indent="0" algn="ctr" defTabSz="1217476" rtl="0" eaLnBrk="1" fontAlgn="base" latinLnBrk="0" hangingPunct="1">
              <a:lnSpc>
                <a:spcPct val="100000"/>
              </a:lnSpc>
              <a:spcBef>
                <a:spcPct val="0"/>
              </a:spcBef>
              <a:spcAft>
                <a:spcPct val="0"/>
              </a:spcAft>
              <a:buClrTx/>
              <a:buSzTx/>
              <a:buFontTx/>
              <a:buNone/>
              <a:tabLst/>
              <a:defRPr/>
            </a:pPr>
            <a:r>
              <a:rPr kumimoji="0" lang="en-US" altLang="zh-CN"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rPr>
              <a:t>Short A</a:t>
            </a: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微软雅黑" panose="020B0503020204020204" pitchFamily="34" charset="-122"/>
            </a:endParaRPr>
          </a:p>
        </p:txBody>
      </p:sp>
      <p:cxnSp>
        <p:nvCxnSpPr>
          <p:cNvPr id="32" name="直接箭头连接符 43"/>
          <p:cNvCxnSpPr>
            <a:stCxn id="29" idx="0"/>
          </p:cNvCxnSpPr>
          <p:nvPr/>
        </p:nvCxnSpPr>
        <p:spPr>
          <a:xfrm>
            <a:off x="4277785" y="2529417"/>
            <a:ext cx="336551" cy="3081867"/>
          </a:xfrm>
          <a:prstGeom prst="straightConnector1">
            <a:avLst/>
          </a:prstGeom>
          <a:ln>
            <a:solidFill>
              <a:schemeClr val="tx1"/>
            </a:solidFill>
            <a:prstDash val="dash"/>
            <a:tailEnd type="triangle"/>
          </a:ln>
        </p:spPr>
        <p:style>
          <a:lnRef idx="1">
            <a:schemeClr val="dk1"/>
          </a:lnRef>
          <a:fillRef idx="0">
            <a:schemeClr val="dk1"/>
          </a:fillRef>
          <a:effectRef idx="0">
            <a:schemeClr val="dk1"/>
          </a:effectRef>
          <a:fontRef idx="minor">
            <a:schemeClr val="tx1"/>
          </a:fontRef>
        </p:style>
      </p:cxnSp>
      <p:cxnSp>
        <p:nvCxnSpPr>
          <p:cNvPr id="33" name="直接箭头连接符 11"/>
          <p:cNvCxnSpPr>
            <a:cxnSpLocks/>
            <a:stCxn id="29705" idx="2"/>
          </p:cNvCxnSpPr>
          <p:nvPr/>
        </p:nvCxnSpPr>
        <p:spPr>
          <a:xfrm flipH="1">
            <a:off x="2992966" y="2490211"/>
            <a:ext cx="3553885" cy="1283807"/>
          </a:xfrm>
          <a:prstGeom prst="straightConnector1">
            <a:avLst/>
          </a:prstGeom>
          <a:ln>
            <a:tailEnd type="triangle"/>
          </a:ln>
        </p:spPr>
        <p:style>
          <a:lnRef idx="2">
            <a:schemeClr val="accent1"/>
          </a:lnRef>
          <a:fillRef idx="0">
            <a:schemeClr val="accent1"/>
          </a:fillRef>
          <a:effectRef idx="1">
            <a:schemeClr val="accent1"/>
          </a:effectRef>
          <a:fontRef idx="minor">
            <a:schemeClr val="tx1"/>
          </a:fontRef>
        </p:style>
      </p:cxnSp>
      <p:cxnSp>
        <p:nvCxnSpPr>
          <p:cNvPr id="34" name="直接箭头连接符 45"/>
          <p:cNvCxnSpPr/>
          <p:nvPr/>
        </p:nvCxnSpPr>
        <p:spPr>
          <a:xfrm flipH="1">
            <a:off x="3015345" y="2491397"/>
            <a:ext cx="3549651" cy="2091267"/>
          </a:xfrm>
          <a:prstGeom prst="straightConnector1">
            <a:avLst/>
          </a:prstGeom>
          <a:ln>
            <a:tailEnd type="triangle"/>
          </a:ln>
        </p:spPr>
        <p:style>
          <a:lnRef idx="2">
            <a:schemeClr val="accent1"/>
          </a:lnRef>
          <a:fillRef idx="0">
            <a:schemeClr val="accent1"/>
          </a:fillRef>
          <a:effectRef idx="1">
            <a:schemeClr val="accent1"/>
          </a:effectRef>
          <a:fontRef idx="minor">
            <a:schemeClr val="tx1"/>
          </a:fontRef>
        </p:style>
      </p:cxnSp>
      <p:cxnSp>
        <p:nvCxnSpPr>
          <p:cNvPr id="35" name="直接连接符 7"/>
          <p:cNvCxnSpPr/>
          <p:nvPr/>
        </p:nvCxnSpPr>
        <p:spPr>
          <a:xfrm>
            <a:off x="3088217" y="1109134"/>
            <a:ext cx="0" cy="2199217"/>
          </a:xfrm>
          <a:prstGeom prst="line">
            <a:avLst/>
          </a:prstGeom>
          <a:ln w="25400">
            <a:prstDash val="dash"/>
          </a:ln>
        </p:spPr>
        <p:style>
          <a:lnRef idx="1">
            <a:schemeClr val="accent1"/>
          </a:lnRef>
          <a:fillRef idx="0">
            <a:schemeClr val="accent1"/>
          </a:fillRef>
          <a:effectRef idx="0">
            <a:schemeClr val="accent1"/>
          </a:effectRef>
          <a:fontRef idx="minor">
            <a:schemeClr val="tx1"/>
          </a:fontRef>
        </p:style>
      </p:cxnSp>
      <p:cxnSp>
        <p:nvCxnSpPr>
          <p:cNvPr id="36" name="直接连接符 7"/>
          <p:cNvCxnSpPr/>
          <p:nvPr/>
        </p:nvCxnSpPr>
        <p:spPr>
          <a:xfrm>
            <a:off x="5446184" y="1109134"/>
            <a:ext cx="0" cy="4068233"/>
          </a:xfrm>
          <a:prstGeom prst="line">
            <a:avLst/>
          </a:prstGeom>
          <a:ln w="25400">
            <a:prstDash val="dash"/>
          </a:ln>
        </p:spPr>
        <p:style>
          <a:lnRef idx="1">
            <a:schemeClr val="accent1"/>
          </a:lnRef>
          <a:fillRef idx="0">
            <a:schemeClr val="accent1"/>
          </a:fillRef>
          <a:effectRef idx="0">
            <a:schemeClr val="accent1"/>
          </a:effectRef>
          <a:fontRef idx="minor">
            <a:schemeClr val="tx1"/>
          </a:fontRef>
        </p:style>
      </p:cxnSp>
      <p:cxnSp>
        <p:nvCxnSpPr>
          <p:cNvPr id="37" name="直接连接符 7"/>
          <p:cNvCxnSpPr/>
          <p:nvPr/>
        </p:nvCxnSpPr>
        <p:spPr>
          <a:xfrm>
            <a:off x="7666567" y="1109134"/>
            <a:ext cx="0" cy="4070351"/>
          </a:xfrm>
          <a:prstGeom prst="line">
            <a:avLst/>
          </a:prstGeom>
          <a:ln w="25400">
            <a:prstDash val="dash"/>
          </a:ln>
        </p:spPr>
        <p:style>
          <a:lnRef idx="1">
            <a:schemeClr val="accent1"/>
          </a:lnRef>
          <a:fillRef idx="0">
            <a:schemeClr val="accent1"/>
          </a:fillRef>
          <a:effectRef idx="0">
            <a:schemeClr val="accent1"/>
          </a:effectRef>
          <a:fontRef idx="minor">
            <a:schemeClr val="tx1"/>
          </a:fontRef>
        </p:style>
      </p:cxnSp>
      <p:sp>
        <p:nvSpPr>
          <p:cNvPr id="29733" name="文本框 1"/>
          <p:cNvSpPr txBox="1"/>
          <p:nvPr/>
        </p:nvSpPr>
        <p:spPr>
          <a:xfrm>
            <a:off x="1411817" y="850901"/>
            <a:ext cx="1587500"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en-US" altLang="zh-CN" sz="1733"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Arial" panose="020B0604020202020204" pitchFamily="34" charset="0"/>
              </a:rPr>
              <a:t>Day 1</a:t>
            </a:r>
            <a:endParaRPr kumimoji="1" lang="zh-CN" altLang="en-US" sz="1733"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endParaRPr>
          </a:p>
        </p:txBody>
      </p:sp>
      <p:sp>
        <p:nvSpPr>
          <p:cNvPr id="29734" name="文本框 1"/>
          <p:cNvSpPr txBox="1"/>
          <p:nvPr/>
        </p:nvSpPr>
        <p:spPr>
          <a:xfrm>
            <a:off x="3547534" y="850901"/>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en-US" altLang="zh-CN" sz="1733"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Arial" panose="020B0604020202020204" pitchFamily="34" charset="0"/>
              </a:rPr>
              <a:t>Day 2</a:t>
            </a:r>
            <a:endParaRPr kumimoji="1" lang="zh-CN" altLang="en-US" sz="1733"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endParaRPr>
          </a:p>
        </p:txBody>
      </p:sp>
      <p:sp>
        <p:nvSpPr>
          <p:cNvPr id="29735" name="文本框 1"/>
          <p:cNvSpPr txBox="1"/>
          <p:nvPr/>
        </p:nvSpPr>
        <p:spPr>
          <a:xfrm>
            <a:off x="5820834" y="831851"/>
            <a:ext cx="1589617" cy="359009"/>
          </a:xfrm>
          <a:prstGeom prst="rect">
            <a:avLst/>
          </a:prstGeom>
          <a:noFill/>
          <a:ln w="9525">
            <a:noFill/>
          </a:ln>
        </p:spPr>
        <p:txBody>
          <a:bodyPr>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en-US" altLang="zh-CN" sz="1733"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Arial" panose="020B0604020202020204" pitchFamily="34" charset="0"/>
              </a:rPr>
              <a:t>Day 3</a:t>
            </a:r>
            <a:endParaRPr kumimoji="1" lang="zh-CN" altLang="en-US" sz="1733" b="1"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endParaRPr>
          </a:p>
        </p:txBody>
      </p:sp>
      <p:sp>
        <p:nvSpPr>
          <p:cNvPr id="2" name="文本框 1">
            <a:extLst>
              <a:ext uri="{FF2B5EF4-FFF2-40B4-BE49-F238E27FC236}">
                <a16:creationId xmlns:a16="http://schemas.microsoft.com/office/drawing/2014/main" id="{60018AA8-1A78-DB84-D367-5DF2E5520400}"/>
              </a:ext>
            </a:extLst>
          </p:cNvPr>
          <p:cNvSpPr txBox="1"/>
          <p:nvPr/>
        </p:nvSpPr>
        <p:spPr>
          <a:xfrm>
            <a:off x="10241085" y="3165502"/>
            <a:ext cx="130256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Time</a:t>
            </a:r>
            <a:endParaRPr kumimoji="0"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Tree>
    <p:custDataLst>
      <p:tags r:id="rId1"/>
    </p:custDataLst>
    <p:extLst>
      <p:ext uri="{BB962C8B-B14F-4D97-AF65-F5344CB8AC3E}">
        <p14:creationId xmlns:p14="http://schemas.microsoft.com/office/powerpoint/2010/main" val="226529033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10" presetClass="entr" presetSubtype="0" fill="hold" nodeType="withEffect">
                                  <p:stCondLst>
                                    <p:cond delay="0"/>
                                  </p:stCondLst>
                                  <p:childTnLst>
                                    <p:set>
                                      <p:cBhvr>
                                        <p:cTn id="8" dur="1" fill="hold">
                                          <p:stCondLst>
                                            <p:cond delay="0"/>
                                          </p:stCondLst>
                                        </p:cTn>
                                        <p:tgtEl>
                                          <p:spTgt spid="18"/>
                                        </p:tgtEl>
                                        <p:attrNameLst>
                                          <p:attrName>style.visibility</p:attrName>
                                        </p:attrNameLst>
                                      </p:cBhvr>
                                      <p:to>
                                        <p:strVal val="visible"/>
                                      </p:to>
                                    </p:set>
                                    <p:animEffect transition="in" filter="fade">
                                      <p:cBhvr>
                                        <p:cTn id="9" dur="500"/>
                                        <p:tgtEl>
                                          <p:spTgt spid="18"/>
                                        </p:tgtEl>
                                      </p:cBhvr>
                                    </p:animEffect>
                                  </p:childTnLst>
                                </p:cTn>
                              </p:par>
                              <p:par>
                                <p:cTn id="10" presetID="1" presetClass="entr" presetSubtype="0" fill="hold" nodeType="withEffect">
                                  <p:stCondLst>
                                    <p:cond delay="0"/>
                                  </p:stCondLst>
                                  <p:childTnLst>
                                    <p:set>
                                      <p:cBhvr>
                                        <p:cTn id="11" dur="1" fill="hold">
                                          <p:stCondLst>
                                            <p:cond delay="0"/>
                                          </p:stCondLst>
                                        </p:cTn>
                                        <p:tgtEl>
                                          <p:spTgt spid="18"/>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2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17"/>
                                        </p:tgtEl>
                                        <p:attrNameLst>
                                          <p:attrName>style.visibility</p:attrName>
                                        </p:attrNameLst>
                                      </p:cBhvr>
                                      <p:to>
                                        <p:strVal val="visible"/>
                                      </p:to>
                                    </p:set>
                                  </p:childTnLst>
                                </p:cTn>
                              </p:par>
                              <p:par>
                                <p:cTn id="18" presetID="10" presetClass="entr" presetSubtype="0" fill="hold" nodeType="with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par>
                                <p:cTn id="21" presetID="10" presetClass="entr" presetSubtype="0"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fade">
                                      <p:cBhvr>
                                        <p:cTn id="23" dur="500"/>
                                        <p:tgtEl>
                                          <p:spTgt spid="21"/>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xit" presetSubtype="0" fill="hold" nodeType="clickEffect">
                                  <p:stCondLst>
                                    <p:cond delay="0"/>
                                  </p:stCondLst>
                                  <p:childTnLst>
                                    <p:animEffect transition="out" filter="fade">
                                      <p:cBhvr>
                                        <p:cTn id="27" dur="500"/>
                                        <p:tgtEl>
                                          <p:spTgt spid="15"/>
                                        </p:tgtEl>
                                      </p:cBhvr>
                                    </p:animEffect>
                                    <p:set>
                                      <p:cBhvr>
                                        <p:cTn id="28" dur="1" fill="hold">
                                          <p:stCondLst>
                                            <p:cond delay="499"/>
                                          </p:stCondLst>
                                        </p:cTn>
                                        <p:tgtEl>
                                          <p:spTgt spid="15"/>
                                        </p:tgtEl>
                                        <p:attrNameLst>
                                          <p:attrName>style.visibility</p:attrName>
                                        </p:attrNameLst>
                                      </p:cBhvr>
                                      <p:to>
                                        <p:strVal val="hidden"/>
                                      </p:to>
                                    </p:set>
                                  </p:childTnLst>
                                </p:cTn>
                              </p:par>
                              <p:par>
                                <p:cTn id="29" presetID="10" presetClass="entr" presetSubtype="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fade">
                                      <p:cBhvr>
                                        <p:cTn id="34" dur="500"/>
                                        <p:tgtEl>
                                          <p:spTgt spid="24"/>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xit" presetSubtype="0" fill="hold" grpId="1" nodeType="clickEffect">
                                  <p:stCondLst>
                                    <p:cond delay="0"/>
                                  </p:stCondLst>
                                  <p:childTnLst>
                                    <p:animEffect transition="out" filter="fade">
                                      <p:cBhvr>
                                        <p:cTn id="38" dur="500"/>
                                        <p:tgtEl>
                                          <p:spTgt spid="16"/>
                                        </p:tgtEl>
                                      </p:cBhvr>
                                    </p:animEffect>
                                    <p:set>
                                      <p:cBhvr>
                                        <p:cTn id="39" dur="1" fill="hold">
                                          <p:stCondLst>
                                            <p:cond delay="499"/>
                                          </p:stCondLst>
                                        </p:cTn>
                                        <p:tgtEl>
                                          <p:spTgt spid="16"/>
                                        </p:tgtEl>
                                        <p:attrNameLst>
                                          <p:attrName>style.visibility</p:attrName>
                                        </p:attrNameLst>
                                      </p:cBhvr>
                                      <p:to>
                                        <p:strVal val="hidden"/>
                                      </p:to>
                                    </p:set>
                                  </p:childTnLst>
                                </p:cTn>
                              </p:par>
                              <p:par>
                                <p:cTn id="40" presetID="10" presetClass="exit" presetSubtype="0" fill="hold" nodeType="withEffect">
                                  <p:stCondLst>
                                    <p:cond delay="0"/>
                                  </p:stCondLst>
                                  <p:childTnLst>
                                    <p:animEffect transition="out" filter="fade">
                                      <p:cBhvr>
                                        <p:cTn id="41" dur="500"/>
                                        <p:tgtEl>
                                          <p:spTgt spid="22"/>
                                        </p:tgtEl>
                                      </p:cBhvr>
                                    </p:animEffect>
                                    <p:set>
                                      <p:cBhvr>
                                        <p:cTn id="42" dur="1" fill="hold">
                                          <p:stCondLst>
                                            <p:cond delay="499"/>
                                          </p:stCondLst>
                                        </p:cTn>
                                        <p:tgtEl>
                                          <p:spTgt spid="22"/>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17"/>
                                        </p:tgtEl>
                                      </p:cBhvr>
                                    </p:animEffect>
                                    <p:set>
                                      <p:cBhvr>
                                        <p:cTn id="45" dur="1" fill="hold">
                                          <p:stCondLst>
                                            <p:cond delay="499"/>
                                          </p:stCondLst>
                                        </p:cTn>
                                        <p:tgtEl>
                                          <p:spTgt spid="17"/>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15"/>
                                        </p:tgtEl>
                                      </p:cBhvr>
                                    </p:animEffect>
                                    <p:set>
                                      <p:cBhvr>
                                        <p:cTn id="48" dur="1" fill="hold">
                                          <p:stCondLst>
                                            <p:cond delay="499"/>
                                          </p:stCondLst>
                                        </p:cTn>
                                        <p:tgtEl>
                                          <p:spTgt spid="15"/>
                                        </p:tgtEl>
                                        <p:attrNameLst>
                                          <p:attrName>style.visibility</p:attrName>
                                        </p:attrNameLst>
                                      </p:cBhvr>
                                      <p:to>
                                        <p:strVal val="hidden"/>
                                      </p:to>
                                    </p:set>
                                  </p:childTnLst>
                                </p:cTn>
                              </p:par>
                              <p:par>
                                <p:cTn id="49" presetID="10" presetClass="exit" presetSubtype="0" fill="hold" nodeType="withEffect">
                                  <p:stCondLst>
                                    <p:cond delay="0"/>
                                  </p:stCondLst>
                                  <p:childTnLst>
                                    <p:animEffect transition="out" filter="fade">
                                      <p:cBhvr>
                                        <p:cTn id="50" dur="500"/>
                                        <p:tgtEl>
                                          <p:spTgt spid="21"/>
                                        </p:tgtEl>
                                      </p:cBhvr>
                                    </p:animEffect>
                                    <p:set>
                                      <p:cBhvr>
                                        <p:cTn id="51" dur="1" fill="hold">
                                          <p:stCondLst>
                                            <p:cond delay="499"/>
                                          </p:stCondLst>
                                        </p:cTn>
                                        <p:tgtEl>
                                          <p:spTgt spid="21"/>
                                        </p:tgtEl>
                                        <p:attrNameLst>
                                          <p:attrName>style.visibility</p:attrName>
                                        </p:attrNameLst>
                                      </p:cBhvr>
                                      <p:to>
                                        <p:strVal val="hidden"/>
                                      </p:to>
                                    </p:set>
                                  </p:childTnLst>
                                </p:cTn>
                              </p:par>
                              <p:par>
                                <p:cTn id="52" presetID="10" presetClass="exit" presetSubtype="0" fill="hold" nodeType="withEffect">
                                  <p:stCondLst>
                                    <p:cond delay="0"/>
                                  </p:stCondLst>
                                  <p:childTnLst>
                                    <p:animEffect transition="out" filter="fade">
                                      <p:cBhvr>
                                        <p:cTn id="53" dur="500"/>
                                        <p:tgtEl>
                                          <p:spTgt spid="18"/>
                                        </p:tgtEl>
                                      </p:cBhvr>
                                    </p:animEffect>
                                    <p:set>
                                      <p:cBhvr>
                                        <p:cTn id="54" dur="1" fill="hold">
                                          <p:stCondLst>
                                            <p:cond delay="499"/>
                                          </p:stCondLst>
                                        </p:cTn>
                                        <p:tgtEl>
                                          <p:spTgt spid="18"/>
                                        </p:tgtEl>
                                        <p:attrNameLst>
                                          <p:attrName>style.visibility</p:attrName>
                                        </p:attrNameLst>
                                      </p:cBhvr>
                                      <p:to>
                                        <p:strVal val="hidden"/>
                                      </p:to>
                                    </p:set>
                                  </p:childTnLst>
                                </p:cTn>
                              </p:par>
                              <p:par>
                                <p:cTn id="55" presetID="10" presetClass="exit" presetSubtype="0" fill="hold" nodeType="withEffect">
                                  <p:stCondLst>
                                    <p:cond delay="0"/>
                                  </p:stCondLst>
                                  <p:childTnLst>
                                    <p:animEffect transition="out" filter="fade">
                                      <p:cBhvr>
                                        <p:cTn id="56" dur="500"/>
                                        <p:tgtEl>
                                          <p:spTgt spid="14"/>
                                        </p:tgtEl>
                                      </p:cBhvr>
                                    </p:animEffect>
                                    <p:set>
                                      <p:cBhvr>
                                        <p:cTn id="57" dur="1" fill="hold">
                                          <p:stCondLst>
                                            <p:cond delay="499"/>
                                          </p:stCondLst>
                                        </p:cTn>
                                        <p:tgtEl>
                                          <p:spTgt spid="14"/>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3"/>
                                        </p:tgtEl>
                                        <p:attrNameLst>
                                          <p:attrName>style.visibility</p:attrName>
                                        </p:attrNameLst>
                                      </p:cBhvr>
                                      <p:to>
                                        <p:strVal val="visible"/>
                                      </p:to>
                                    </p:set>
                                    <p:animEffect transition="in" filter="fade">
                                      <p:cBhvr>
                                        <p:cTn id="62" dur="500"/>
                                        <p:tgtEl>
                                          <p:spTgt spid="23"/>
                                        </p:tgtEl>
                                      </p:cBhvr>
                                    </p:animEffect>
                                  </p:childTnLst>
                                </p:cTn>
                              </p:par>
                              <p:par>
                                <p:cTn id="63" presetID="10" presetClass="entr" presetSubtype="0" fill="hold" nodeType="withEffect">
                                  <p:stCondLst>
                                    <p:cond delay="0"/>
                                  </p:stCondLst>
                                  <p:childTnLst>
                                    <p:set>
                                      <p:cBhvr>
                                        <p:cTn id="64" dur="1" fill="hold">
                                          <p:stCondLst>
                                            <p:cond delay="0"/>
                                          </p:stCondLst>
                                        </p:cTn>
                                        <p:tgtEl>
                                          <p:spTgt spid="29"/>
                                        </p:tgtEl>
                                        <p:attrNameLst>
                                          <p:attrName>style.visibility</p:attrName>
                                        </p:attrNameLst>
                                      </p:cBhvr>
                                      <p:to>
                                        <p:strVal val="visible"/>
                                      </p:to>
                                    </p:set>
                                    <p:animEffect transition="in" filter="fade">
                                      <p:cBhvr>
                                        <p:cTn id="65" dur="500"/>
                                        <p:tgtEl>
                                          <p:spTgt spid="29"/>
                                        </p:tgtEl>
                                      </p:cBhvr>
                                    </p:animEffect>
                                  </p:childTnLst>
                                </p:cTn>
                              </p:par>
                              <p:par>
                                <p:cTn id="66" presetID="10" presetClass="entr" presetSubtype="0" fill="hold" nodeType="withEffect">
                                  <p:stCondLst>
                                    <p:cond delay="0"/>
                                  </p:stCondLst>
                                  <p:childTnLst>
                                    <p:set>
                                      <p:cBhvr>
                                        <p:cTn id="67" dur="1" fill="hold">
                                          <p:stCondLst>
                                            <p:cond delay="0"/>
                                          </p:stCondLst>
                                        </p:cTn>
                                        <p:tgtEl>
                                          <p:spTgt spid="30"/>
                                        </p:tgtEl>
                                        <p:attrNameLst>
                                          <p:attrName>style.visibility</p:attrName>
                                        </p:attrNameLst>
                                      </p:cBhvr>
                                      <p:to>
                                        <p:strVal val="visible"/>
                                      </p:to>
                                    </p:set>
                                    <p:animEffect transition="in" filter="fade">
                                      <p:cBhvr>
                                        <p:cTn id="68" dur="500"/>
                                        <p:tgtEl>
                                          <p:spTgt spid="30"/>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xit" presetSubtype="0" fill="hold" nodeType="clickEffect">
                                  <p:stCondLst>
                                    <p:cond delay="0"/>
                                  </p:stCondLst>
                                  <p:childTnLst>
                                    <p:animEffect transition="out" filter="fade">
                                      <p:cBhvr>
                                        <p:cTn id="72" dur="500"/>
                                        <p:tgtEl>
                                          <p:spTgt spid="29"/>
                                        </p:tgtEl>
                                      </p:cBhvr>
                                    </p:animEffect>
                                    <p:set>
                                      <p:cBhvr>
                                        <p:cTn id="73" dur="1" fill="hold">
                                          <p:stCondLst>
                                            <p:cond delay="499"/>
                                          </p:stCondLst>
                                        </p:cTn>
                                        <p:tgtEl>
                                          <p:spTgt spid="29"/>
                                        </p:tgtEl>
                                        <p:attrNameLst>
                                          <p:attrName>style.visibility</p:attrName>
                                        </p:attrNameLst>
                                      </p:cBhvr>
                                      <p:to>
                                        <p:strVal val="hidden"/>
                                      </p:to>
                                    </p:se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0"/>
                                        </p:tgtEl>
                                        <p:attrNameLst>
                                          <p:attrName>style.visibility</p:attrName>
                                        </p:attrNameLst>
                                      </p:cBhvr>
                                      <p:to>
                                        <p:strVal val="visible"/>
                                      </p:to>
                                    </p:set>
                                    <p:animEffect transition="in" filter="fade">
                                      <p:cBhvr>
                                        <p:cTn id="78" dur="500"/>
                                        <p:tgtEl>
                                          <p:spTgt spid="20"/>
                                        </p:tgtEl>
                                      </p:cBhvr>
                                    </p:animEffect>
                                  </p:childTnLst>
                                </p:cTn>
                              </p:par>
                              <p:par>
                                <p:cTn id="79" presetID="10" presetClass="entr" presetSubtype="0" fill="hold" nodeType="withEffect">
                                  <p:stCondLst>
                                    <p:cond delay="0"/>
                                  </p:stCondLst>
                                  <p:childTnLst>
                                    <p:set>
                                      <p:cBhvr>
                                        <p:cTn id="80" dur="1" fill="hold">
                                          <p:stCondLst>
                                            <p:cond delay="0"/>
                                          </p:stCondLst>
                                        </p:cTn>
                                        <p:tgtEl>
                                          <p:spTgt spid="33"/>
                                        </p:tgtEl>
                                        <p:attrNameLst>
                                          <p:attrName>style.visibility</p:attrName>
                                        </p:attrNameLst>
                                      </p:cBhvr>
                                      <p:to>
                                        <p:strVal val="visible"/>
                                      </p:to>
                                    </p:set>
                                    <p:animEffect transition="in" filter="fade">
                                      <p:cBhvr>
                                        <p:cTn id="81" dur="500"/>
                                        <p:tgtEl>
                                          <p:spTgt spid="33"/>
                                        </p:tgtEl>
                                      </p:cBhvr>
                                    </p:animEffect>
                                  </p:childTnLst>
                                </p:cTn>
                              </p:par>
                              <p:par>
                                <p:cTn id="82" presetID="10" presetClass="entr" presetSubtype="0" fill="hold" nodeType="withEffect">
                                  <p:stCondLst>
                                    <p:cond delay="0"/>
                                  </p:stCondLst>
                                  <p:childTnLst>
                                    <p:set>
                                      <p:cBhvr>
                                        <p:cTn id="83" dur="1" fill="hold">
                                          <p:stCondLst>
                                            <p:cond delay="0"/>
                                          </p:stCondLst>
                                        </p:cTn>
                                        <p:tgtEl>
                                          <p:spTgt spid="34"/>
                                        </p:tgtEl>
                                        <p:attrNameLst>
                                          <p:attrName>style.visibility</p:attrName>
                                        </p:attrNameLst>
                                      </p:cBhvr>
                                      <p:to>
                                        <p:strVal val="visible"/>
                                      </p:to>
                                    </p:set>
                                    <p:animEffect transition="in" filter="fade">
                                      <p:cBhvr>
                                        <p:cTn id="84" dur="500"/>
                                        <p:tgtEl>
                                          <p:spTgt spid="34"/>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25"/>
                                        </p:tgtEl>
                                        <p:attrNameLst>
                                          <p:attrName>style.visibility</p:attrName>
                                        </p:attrNameLst>
                                      </p:cBhvr>
                                      <p:to>
                                        <p:strVal val="visible"/>
                                      </p:to>
                                    </p:set>
                                    <p:animEffect transition="in" filter="fade">
                                      <p:cBhvr>
                                        <p:cTn id="87" dur="500"/>
                                        <p:tgtEl>
                                          <p:spTgt spid="25"/>
                                        </p:tgtEl>
                                      </p:cBhvr>
                                    </p:animEffect>
                                  </p:childTnLst>
                                </p:cTn>
                              </p:par>
                              <p:par>
                                <p:cTn id="88" presetID="10" presetClass="entr" presetSubtype="0" fill="hold" nodeType="withEffect">
                                  <p:stCondLst>
                                    <p:cond delay="0"/>
                                  </p:stCondLst>
                                  <p:childTnLst>
                                    <p:set>
                                      <p:cBhvr>
                                        <p:cTn id="89" dur="1" fill="hold">
                                          <p:stCondLst>
                                            <p:cond delay="0"/>
                                          </p:stCondLst>
                                        </p:cTn>
                                        <p:tgtEl>
                                          <p:spTgt spid="32"/>
                                        </p:tgtEl>
                                        <p:attrNameLst>
                                          <p:attrName>style.visibility</p:attrName>
                                        </p:attrNameLst>
                                      </p:cBhvr>
                                      <p:to>
                                        <p:strVal val="visible"/>
                                      </p:to>
                                    </p:set>
                                    <p:animEffect transition="in" filter="fade">
                                      <p:cBhvr>
                                        <p:cTn id="90" dur="500"/>
                                        <p:tgtEl>
                                          <p:spTgt spid="32"/>
                                        </p:tgtEl>
                                      </p:cBhvr>
                                    </p:animEffect>
                                  </p:childTnLst>
                                </p:cTn>
                              </p:par>
                              <p:par>
                                <p:cTn id="91" presetID="3" presetClass="entr" presetSubtype="10" fill="hold" grpId="0" nodeType="withEffect">
                                  <p:stCondLst>
                                    <p:cond delay="0"/>
                                  </p:stCondLst>
                                  <p:childTnLst>
                                    <p:set>
                                      <p:cBhvr>
                                        <p:cTn id="92" dur="1" fill="hold">
                                          <p:stCondLst>
                                            <p:cond delay="0"/>
                                          </p:stCondLst>
                                        </p:cTn>
                                        <p:tgtEl>
                                          <p:spTgt spid="31"/>
                                        </p:tgtEl>
                                        <p:attrNameLst>
                                          <p:attrName>style.visibility</p:attrName>
                                        </p:attrNameLst>
                                      </p:cBhvr>
                                      <p:to>
                                        <p:strVal val="visible"/>
                                      </p:to>
                                    </p:set>
                                    <p:animEffect transition="in" filter="blinds(horizontal)">
                                      <p:cBhvr>
                                        <p:cTn id="93" dur="500"/>
                                        <p:tgtEl>
                                          <p:spTgt spid="31"/>
                                        </p:tgtEl>
                                      </p:cBhvr>
                                    </p:animEffect>
                                  </p:childTnLst>
                                </p:cTn>
                              </p:par>
                              <p:par>
                                <p:cTn id="94" presetID="1" presetClass="entr" presetSubtype="0" fill="hold" nodeType="withEffect">
                                  <p:stCondLst>
                                    <p:cond delay="0"/>
                                  </p:stCondLst>
                                  <p:childTnLst>
                                    <p:set>
                                      <p:cBhvr>
                                        <p:cTn id="95" dur="1" fill="hold">
                                          <p:stCondLst>
                                            <p:cond delay="0"/>
                                          </p:stCondLst>
                                        </p:cTn>
                                        <p:tgtEl>
                                          <p:spTgt spid="32"/>
                                        </p:tgtEl>
                                        <p:attrNameLst>
                                          <p:attrName>style.visibility</p:attrName>
                                        </p:attrNameLst>
                                      </p:cBhvr>
                                      <p:to>
                                        <p:strVal val="visible"/>
                                      </p:to>
                                    </p:set>
                                  </p:childTnLst>
                                </p:cTn>
                              </p:par>
                              <p:par>
                                <p:cTn id="96" presetID="3" presetClass="entr" presetSubtype="10"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Effect transition="in" filter="blinds(horizontal)">
                                      <p:cBhvr>
                                        <p:cTn id="98"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6" grpId="1" animBg="1"/>
      <p:bldP spid="17" grpId="0" animBg="1"/>
      <p:bldP spid="17" grpId="1" animBg="1"/>
      <p:bldP spid="20" grpId="0" animBg="1"/>
      <p:bldP spid="23" grpId="0" animBg="1"/>
      <p:bldP spid="24" grpId="0"/>
      <p:bldP spid="25" grpId="0"/>
      <p:bldP spid="26" grpId="0" animBg="1"/>
      <p:bldP spid="31"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组合 16">
            <a:extLst>
              <a:ext uri="{FF2B5EF4-FFF2-40B4-BE49-F238E27FC236}">
                <a16:creationId xmlns:a16="http://schemas.microsoft.com/office/drawing/2014/main" id="{D41B42A1-6070-D56C-7F2B-F058974B9963}"/>
              </a:ext>
            </a:extLst>
          </p:cNvPr>
          <p:cNvGrpSpPr/>
          <p:nvPr/>
        </p:nvGrpSpPr>
        <p:grpSpPr>
          <a:xfrm>
            <a:off x="2926927" y="1221846"/>
            <a:ext cx="5891953" cy="4488074"/>
            <a:chOff x="2764367" y="1300480"/>
            <a:chExt cx="5891953" cy="4488074"/>
          </a:xfrm>
        </p:grpSpPr>
        <p:cxnSp>
          <p:nvCxnSpPr>
            <p:cNvPr id="3" name="直接箭头连接符 6">
              <a:extLst>
                <a:ext uri="{FF2B5EF4-FFF2-40B4-BE49-F238E27FC236}">
                  <a16:creationId xmlns:a16="http://schemas.microsoft.com/office/drawing/2014/main" id="{9EE40E1D-3E1E-146C-4D88-99DD10B3701C}"/>
                </a:ext>
              </a:extLst>
            </p:cNvPr>
            <p:cNvCxnSpPr>
              <a:cxnSpLocks/>
            </p:cNvCxnSpPr>
            <p:nvPr/>
          </p:nvCxnSpPr>
          <p:spPr>
            <a:xfrm>
              <a:off x="2764367" y="3474297"/>
              <a:ext cx="5891953"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6" name="直接连接符 7">
              <a:extLst>
                <a:ext uri="{FF2B5EF4-FFF2-40B4-BE49-F238E27FC236}">
                  <a16:creationId xmlns:a16="http://schemas.microsoft.com/office/drawing/2014/main" id="{9C2F17BA-3C23-3F72-45D7-D0DA70B63821}"/>
                </a:ext>
              </a:extLst>
            </p:cNvPr>
            <p:cNvCxnSpPr>
              <a:cxnSpLocks/>
            </p:cNvCxnSpPr>
            <p:nvPr/>
          </p:nvCxnSpPr>
          <p:spPr>
            <a:xfrm>
              <a:off x="5155777" y="1366731"/>
              <a:ext cx="0" cy="4348057"/>
            </a:xfrm>
            <a:prstGeom prst="line">
              <a:avLst/>
            </a:prstGeom>
            <a:ln w="25400">
              <a:prstDash val="dash"/>
            </a:ln>
          </p:spPr>
          <p:style>
            <a:lnRef idx="1">
              <a:schemeClr val="accent1"/>
            </a:lnRef>
            <a:fillRef idx="0">
              <a:schemeClr val="accent1"/>
            </a:fillRef>
            <a:effectRef idx="0">
              <a:schemeClr val="accent1"/>
            </a:effectRef>
            <a:fontRef idx="minor">
              <a:schemeClr val="tx1"/>
            </a:fontRef>
          </p:style>
        </p:cxnSp>
        <p:cxnSp>
          <p:nvCxnSpPr>
            <p:cNvPr id="9" name="直接连接符 7">
              <a:extLst>
                <a:ext uri="{FF2B5EF4-FFF2-40B4-BE49-F238E27FC236}">
                  <a16:creationId xmlns:a16="http://schemas.microsoft.com/office/drawing/2014/main" id="{B0747C1D-BAA4-DF84-A9B5-8BDBCF13FFFC}"/>
                </a:ext>
              </a:extLst>
            </p:cNvPr>
            <p:cNvCxnSpPr>
              <a:cxnSpLocks/>
            </p:cNvCxnSpPr>
            <p:nvPr/>
          </p:nvCxnSpPr>
          <p:spPr>
            <a:xfrm>
              <a:off x="7569200" y="1300480"/>
              <a:ext cx="0" cy="4488074"/>
            </a:xfrm>
            <a:prstGeom prst="line">
              <a:avLst/>
            </a:prstGeom>
            <a:ln w="25400">
              <a:prstDash val="dash"/>
            </a:ln>
          </p:spPr>
          <p:style>
            <a:lnRef idx="1">
              <a:schemeClr val="accent1"/>
            </a:lnRef>
            <a:fillRef idx="0">
              <a:schemeClr val="accent1"/>
            </a:fillRef>
            <a:effectRef idx="0">
              <a:schemeClr val="accent1"/>
            </a:effectRef>
            <a:fontRef idx="minor">
              <a:schemeClr val="tx1"/>
            </a:fontRef>
          </p:style>
        </p:cxnSp>
        <p:cxnSp>
          <p:nvCxnSpPr>
            <p:cNvPr id="10" name="直接连接符 7">
              <a:extLst>
                <a:ext uri="{FF2B5EF4-FFF2-40B4-BE49-F238E27FC236}">
                  <a16:creationId xmlns:a16="http://schemas.microsoft.com/office/drawing/2014/main" id="{4588809D-3DED-97CE-179D-574DE8D386A4}"/>
                </a:ext>
              </a:extLst>
            </p:cNvPr>
            <p:cNvCxnSpPr>
              <a:cxnSpLocks/>
            </p:cNvCxnSpPr>
            <p:nvPr/>
          </p:nvCxnSpPr>
          <p:spPr>
            <a:xfrm>
              <a:off x="2764367" y="1366731"/>
              <a:ext cx="0" cy="4348057"/>
            </a:xfrm>
            <a:prstGeom prst="line">
              <a:avLst/>
            </a:prstGeom>
            <a:ln w="25400">
              <a:prstDash val="dash"/>
            </a:ln>
          </p:spPr>
          <p:style>
            <a:lnRef idx="1">
              <a:schemeClr val="accent1"/>
            </a:lnRef>
            <a:fillRef idx="0">
              <a:schemeClr val="accent1"/>
            </a:fillRef>
            <a:effectRef idx="0">
              <a:schemeClr val="accent1"/>
            </a:effectRef>
            <a:fontRef idx="minor">
              <a:schemeClr val="tx1"/>
            </a:fontRef>
          </p:style>
        </p:cxnSp>
      </p:grpSp>
      <p:sp>
        <p:nvSpPr>
          <p:cNvPr id="19" name="标题 1">
            <a:extLst>
              <a:ext uri="{FF2B5EF4-FFF2-40B4-BE49-F238E27FC236}">
                <a16:creationId xmlns:a16="http://schemas.microsoft.com/office/drawing/2014/main" id="{3E545B3A-6BF4-C91C-44BB-A282C286AE35}"/>
              </a:ext>
            </a:extLst>
          </p:cNvPr>
          <p:cNvSpPr txBox="1">
            <a:spLocks/>
          </p:cNvSpPr>
          <p:nvPr/>
        </p:nvSpPr>
        <p:spPr>
          <a:xfrm>
            <a:off x="911689" y="193146"/>
            <a:ext cx="10858500" cy="1028700"/>
          </a:xfrm>
          <a:prstGeom prst="rect">
            <a:avLst/>
          </a:prstGeom>
        </p:spPr>
        <p:txBody>
          <a:bodyPr/>
          <a:lstStyle>
            <a:lvl1pPr algn="l" defTabSz="914332" rtl="0" eaLnBrk="1" latinLnBrk="0" hangingPunct="1">
              <a:lnSpc>
                <a:spcPct val="90000"/>
              </a:lnSpc>
              <a:spcBef>
                <a:spcPct val="0"/>
              </a:spcBef>
              <a:buNone/>
              <a:defRPr sz="2400" b="1" kern="1200">
                <a:solidFill>
                  <a:schemeClr val="tx1"/>
                </a:solidFill>
                <a:latin typeface="+mj-lt"/>
                <a:ea typeface="+mj-ea"/>
                <a:cs typeface="+mj-cs"/>
              </a:defRPr>
            </a:lvl1pPr>
          </a:lstStyle>
          <a:p>
            <a:r>
              <a:rPr lang="en-US" altLang="zh-CN" dirty="0"/>
              <a:t>By Bucket</a:t>
            </a:r>
            <a:r>
              <a:rPr lang="zh-CN" altLang="en-US" dirty="0"/>
              <a:t>供需分配</a:t>
            </a:r>
          </a:p>
        </p:txBody>
      </p:sp>
      <p:sp>
        <p:nvSpPr>
          <p:cNvPr id="20" name="文本框 19">
            <a:extLst>
              <a:ext uri="{FF2B5EF4-FFF2-40B4-BE49-F238E27FC236}">
                <a16:creationId xmlns:a16="http://schemas.microsoft.com/office/drawing/2014/main" id="{538108E4-62DA-BE3F-09A0-04F04C2B0399}"/>
              </a:ext>
            </a:extLst>
          </p:cNvPr>
          <p:cNvSpPr txBox="1"/>
          <p:nvPr/>
        </p:nvSpPr>
        <p:spPr>
          <a:xfrm>
            <a:off x="3322320" y="1325880"/>
            <a:ext cx="1397000" cy="369332"/>
          </a:xfrm>
          <a:prstGeom prst="rect">
            <a:avLst/>
          </a:prstGeom>
          <a:noFill/>
        </p:spPr>
        <p:txBody>
          <a:bodyPr wrap="square" rtlCol="0">
            <a:spAutoFit/>
          </a:bodyPr>
          <a:lstStyle/>
          <a:p>
            <a:r>
              <a:rPr lang="en-US" altLang="zh-CN" dirty="0"/>
              <a:t>Bucket1</a:t>
            </a:r>
            <a:endParaRPr lang="zh-CN" altLang="en-US" dirty="0"/>
          </a:p>
        </p:txBody>
      </p:sp>
      <p:sp>
        <p:nvSpPr>
          <p:cNvPr id="21" name="文本框 20">
            <a:extLst>
              <a:ext uri="{FF2B5EF4-FFF2-40B4-BE49-F238E27FC236}">
                <a16:creationId xmlns:a16="http://schemas.microsoft.com/office/drawing/2014/main" id="{3978FCC0-8A82-DC3D-5E6D-5FE79A886D58}"/>
              </a:ext>
            </a:extLst>
          </p:cNvPr>
          <p:cNvSpPr txBox="1"/>
          <p:nvPr/>
        </p:nvSpPr>
        <p:spPr>
          <a:xfrm>
            <a:off x="5888142" y="1325880"/>
            <a:ext cx="1397000" cy="369332"/>
          </a:xfrm>
          <a:prstGeom prst="rect">
            <a:avLst/>
          </a:prstGeom>
          <a:noFill/>
        </p:spPr>
        <p:txBody>
          <a:bodyPr wrap="square" rtlCol="0">
            <a:spAutoFit/>
          </a:bodyPr>
          <a:lstStyle/>
          <a:p>
            <a:r>
              <a:rPr lang="en-US" altLang="zh-CN" dirty="0"/>
              <a:t>Bucket2</a:t>
            </a:r>
            <a:endParaRPr lang="zh-CN" altLang="en-US" dirty="0"/>
          </a:p>
        </p:txBody>
      </p:sp>
      <p:sp>
        <p:nvSpPr>
          <p:cNvPr id="23" name="矩形 10">
            <a:extLst>
              <a:ext uri="{FF2B5EF4-FFF2-40B4-BE49-F238E27FC236}">
                <a16:creationId xmlns:a16="http://schemas.microsoft.com/office/drawing/2014/main" id="{97C35E08-0ECB-CE0C-8DC5-345A536703F4}"/>
              </a:ext>
            </a:extLst>
          </p:cNvPr>
          <p:cNvSpPr/>
          <p:nvPr/>
        </p:nvSpPr>
        <p:spPr>
          <a:xfrm>
            <a:off x="3427308" y="3684374"/>
            <a:ext cx="1390649"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lang="zh-CN" altLang="en-US" sz="1600" dirty="0">
                <a:solidFill>
                  <a:srgbClr val="000000"/>
                </a:solidFill>
                <a:latin typeface="Arial" panose="020B0604020202020204" pitchFamily="34" charset="0"/>
                <a:ea typeface="微软雅黑" panose="020B0503020204020204" pitchFamily="34" charset="-122"/>
              </a:rPr>
              <a:t>供应</a:t>
            </a:r>
            <a:r>
              <a:rPr lang="en-US" altLang="zh-CN" sz="1600" dirty="0">
                <a:solidFill>
                  <a:srgbClr val="000000"/>
                </a:solidFill>
                <a:latin typeface="Arial" panose="020B0604020202020204" pitchFamily="34" charset="0"/>
                <a:ea typeface="微软雅黑" panose="020B0503020204020204" pitchFamily="34" charset="-122"/>
              </a:rPr>
              <a:t>A 100</a:t>
            </a:r>
            <a:endParaRPr kumimoji="1"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endParaRPr>
          </a:p>
        </p:txBody>
      </p:sp>
      <p:sp>
        <p:nvSpPr>
          <p:cNvPr id="24" name="矩形 12">
            <a:extLst>
              <a:ext uri="{FF2B5EF4-FFF2-40B4-BE49-F238E27FC236}">
                <a16:creationId xmlns:a16="http://schemas.microsoft.com/office/drawing/2014/main" id="{9FB8851D-B56A-138F-8E51-3A438AE4E941}"/>
              </a:ext>
            </a:extLst>
          </p:cNvPr>
          <p:cNvSpPr/>
          <p:nvPr/>
        </p:nvSpPr>
        <p:spPr>
          <a:xfrm>
            <a:off x="3427308" y="4499292"/>
            <a:ext cx="1390649"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rPr>
              <a:t>供应</a:t>
            </a:r>
            <a:r>
              <a:rPr kumimoji="1" lang="en-US" altLang="zh-CN"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rPr>
              <a:t>B 100</a:t>
            </a:r>
            <a:endParaRPr kumimoji="1"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endParaRPr>
          </a:p>
        </p:txBody>
      </p:sp>
      <p:sp>
        <p:nvSpPr>
          <p:cNvPr id="25" name="矩形 12">
            <a:extLst>
              <a:ext uri="{FF2B5EF4-FFF2-40B4-BE49-F238E27FC236}">
                <a16:creationId xmlns:a16="http://schemas.microsoft.com/office/drawing/2014/main" id="{08893703-3905-E20C-CD6F-6938C82C05B6}"/>
              </a:ext>
            </a:extLst>
          </p:cNvPr>
          <p:cNvSpPr/>
          <p:nvPr/>
        </p:nvSpPr>
        <p:spPr>
          <a:xfrm>
            <a:off x="5818718" y="4499292"/>
            <a:ext cx="1390649" cy="369310"/>
          </a:xfrm>
          <a:prstGeom prst="rect">
            <a:avLst/>
          </a:prstGeom>
          <a:solidFill>
            <a:srgbClr val="00B05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rPr>
              <a:t>供应</a:t>
            </a:r>
            <a:r>
              <a:rPr kumimoji="1" lang="en-US" altLang="zh-CN"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rPr>
              <a:t>C 100</a:t>
            </a:r>
            <a:endParaRPr kumimoji="1"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endParaRPr>
          </a:p>
        </p:txBody>
      </p:sp>
      <p:sp>
        <p:nvSpPr>
          <p:cNvPr id="26" name="文本框 25">
            <a:extLst>
              <a:ext uri="{FF2B5EF4-FFF2-40B4-BE49-F238E27FC236}">
                <a16:creationId xmlns:a16="http://schemas.microsoft.com/office/drawing/2014/main" id="{EAD37B38-3CB3-F5EA-7BF0-47A58BEF8B6A}"/>
              </a:ext>
            </a:extLst>
          </p:cNvPr>
          <p:cNvSpPr txBox="1"/>
          <p:nvPr/>
        </p:nvSpPr>
        <p:spPr>
          <a:xfrm>
            <a:off x="863600" y="6045335"/>
            <a:ext cx="6868160" cy="738664"/>
          </a:xfrm>
          <a:prstGeom prst="rect">
            <a:avLst/>
          </a:prstGeom>
          <a:noFill/>
        </p:spPr>
        <p:txBody>
          <a:bodyPr wrap="square" rtlCol="0">
            <a:spAutoFit/>
          </a:bodyPr>
          <a:lstStyle/>
          <a:p>
            <a:pPr marL="285750" indent="-285750">
              <a:buFont typeface="Arial" panose="020B0604020202020204" pitchFamily="34" charset="0"/>
              <a:buChar char="•"/>
            </a:pPr>
            <a:r>
              <a:rPr lang="zh-CN" altLang="en-US" sz="1400" b="1" dirty="0">
                <a:latin typeface="+mj-ea"/>
                <a:ea typeface="+mj-ea"/>
              </a:rPr>
              <a:t>需求</a:t>
            </a:r>
            <a:r>
              <a:rPr lang="en-US" altLang="zh-CN" sz="1400" b="1" dirty="0">
                <a:latin typeface="+mj-ea"/>
                <a:ea typeface="+mj-ea"/>
              </a:rPr>
              <a:t>1</a:t>
            </a:r>
            <a:r>
              <a:rPr lang="zh-CN" altLang="en-US" sz="1400" b="1" dirty="0">
                <a:latin typeface="+mj-ea"/>
                <a:ea typeface="+mj-ea"/>
              </a:rPr>
              <a:t>由</a:t>
            </a:r>
            <a:r>
              <a:rPr lang="en-US" altLang="zh-CN" sz="1400" b="1" dirty="0">
                <a:latin typeface="+mj-ea"/>
                <a:ea typeface="+mj-ea"/>
              </a:rPr>
              <a:t>A</a:t>
            </a:r>
            <a:r>
              <a:rPr lang="zh-CN" altLang="en-US" sz="1400" b="1" dirty="0">
                <a:latin typeface="+mj-ea"/>
                <a:ea typeface="+mj-ea"/>
              </a:rPr>
              <a:t>和</a:t>
            </a:r>
            <a:r>
              <a:rPr lang="en-US" altLang="zh-CN" sz="1400" b="1" dirty="0">
                <a:latin typeface="+mj-ea"/>
                <a:ea typeface="+mj-ea"/>
              </a:rPr>
              <a:t>C</a:t>
            </a:r>
            <a:r>
              <a:rPr lang="zh-CN" altLang="en-US" sz="1400" b="1" dirty="0">
                <a:latin typeface="+mj-ea"/>
                <a:ea typeface="+mj-ea"/>
              </a:rPr>
              <a:t>供应生产</a:t>
            </a:r>
            <a:endParaRPr lang="en-US" altLang="zh-CN" sz="1400" b="1" dirty="0">
              <a:latin typeface="+mj-ea"/>
              <a:ea typeface="+mj-ea"/>
            </a:endParaRPr>
          </a:p>
          <a:p>
            <a:pPr marL="285750" indent="-285750">
              <a:buFont typeface="Arial" panose="020B0604020202020204" pitchFamily="34" charset="0"/>
              <a:buChar char="•"/>
            </a:pPr>
            <a:r>
              <a:rPr lang="zh-CN" altLang="en-US" sz="1400" b="1" dirty="0">
                <a:latin typeface="+mj-ea"/>
                <a:ea typeface="+mj-ea"/>
              </a:rPr>
              <a:t>需求</a:t>
            </a:r>
            <a:r>
              <a:rPr lang="en-US" altLang="zh-CN" sz="1400" b="1" dirty="0">
                <a:latin typeface="+mj-ea"/>
                <a:ea typeface="+mj-ea"/>
              </a:rPr>
              <a:t>2</a:t>
            </a:r>
            <a:r>
              <a:rPr lang="zh-CN" altLang="en-US" sz="1400" b="1" dirty="0">
                <a:latin typeface="+mj-ea"/>
                <a:ea typeface="+mj-ea"/>
              </a:rPr>
              <a:t>为需求</a:t>
            </a:r>
            <a:r>
              <a:rPr lang="en-US" altLang="zh-CN" sz="1400" b="1" dirty="0">
                <a:latin typeface="+mj-ea"/>
                <a:ea typeface="+mj-ea"/>
              </a:rPr>
              <a:t>1</a:t>
            </a:r>
            <a:r>
              <a:rPr lang="zh-CN" altLang="en-US" sz="1400" b="1" dirty="0">
                <a:latin typeface="+mj-ea"/>
                <a:ea typeface="+mj-ea"/>
              </a:rPr>
              <a:t>计划之后的新订单，由</a:t>
            </a:r>
            <a:r>
              <a:rPr lang="en-US" altLang="zh-CN" sz="1400" b="1" dirty="0">
                <a:latin typeface="+mj-ea"/>
                <a:ea typeface="+mj-ea"/>
              </a:rPr>
              <a:t>A</a:t>
            </a:r>
            <a:r>
              <a:rPr lang="zh-CN" altLang="en-US" sz="1400" b="1" dirty="0">
                <a:latin typeface="+mj-ea"/>
                <a:ea typeface="+mj-ea"/>
              </a:rPr>
              <a:t>和</a:t>
            </a:r>
            <a:r>
              <a:rPr lang="en-US" altLang="zh-CN" sz="1400" b="1" dirty="0">
                <a:latin typeface="+mj-ea"/>
                <a:ea typeface="+mj-ea"/>
              </a:rPr>
              <a:t>C</a:t>
            </a:r>
            <a:r>
              <a:rPr lang="zh-CN" altLang="en-US" sz="1400" b="1" dirty="0">
                <a:latin typeface="+mj-ea"/>
                <a:ea typeface="+mj-ea"/>
              </a:rPr>
              <a:t>供应生产</a:t>
            </a:r>
            <a:endParaRPr lang="en-US" altLang="zh-CN" sz="1400" b="1" dirty="0">
              <a:latin typeface="+mj-ea"/>
              <a:ea typeface="+mj-ea"/>
            </a:endParaRPr>
          </a:p>
          <a:p>
            <a:pPr marL="285750" indent="-285750">
              <a:buFont typeface="Arial" panose="020B0604020202020204" pitchFamily="34" charset="0"/>
              <a:buChar char="•"/>
            </a:pPr>
            <a:r>
              <a:rPr lang="zh-CN" altLang="en-US" sz="1400" b="1" dirty="0">
                <a:latin typeface="+mj-ea"/>
                <a:ea typeface="+mj-ea"/>
              </a:rPr>
              <a:t>供应是一个</a:t>
            </a:r>
            <a:r>
              <a:rPr lang="en-US" altLang="zh-CN" sz="1400" b="1" dirty="0">
                <a:latin typeface="+mj-ea"/>
                <a:ea typeface="+mj-ea"/>
              </a:rPr>
              <a:t>bucket</a:t>
            </a:r>
            <a:r>
              <a:rPr lang="zh-CN" altLang="en-US" sz="1400" b="1" dirty="0">
                <a:latin typeface="+mj-ea"/>
                <a:ea typeface="+mj-ea"/>
              </a:rPr>
              <a:t>，一个</a:t>
            </a:r>
            <a:r>
              <a:rPr lang="en-US" altLang="zh-CN" sz="1400" b="1" dirty="0">
                <a:latin typeface="+mj-ea"/>
                <a:ea typeface="+mj-ea"/>
              </a:rPr>
              <a:t>bucket</a:t>
            </a:r>
            <a:r>
              <a:rPr lang="zh-CN" altLang="en-US" sz="1400" b="1" dirty="0">
                <a:latin typeface="+mj-ea"/>
                <a:ea typeface="+mj-ea"/>
              </a:rPr>
              <a:t>的看</a:t>
            </a:r>
          </a:p>
        </p:txBody>
      </p:sp>
      <p:sp>
        <p:nvSpPr>
          <p:cNvPr id="27" name="矩形 8">
            <a:extLst>
              <a:ext uri="{FF2B5EF4-FFF2-40B4-BE49-F238E27FC236}">
                <a16:creationId xmlns:a16="http://schemas.microsoft.com/office/drawing/2014/main" id="{2FF518A0-771B-2A7C-6F85-E017B5A61ECF}"/>
              </a:ext>
            </a:extLst>
          </p:cNvPr>
          <p:cNvSpPr/>
          <p:nvPr/>
        </p:nvSpPr>
        <p:spPr>
          <a:xfrm>
            <a:off x="3401907" y="2009664"/>
            <a:ext cx="1441449"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kumimoji="1"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rPr>
              <a:t>需求</a:t>
            </a:r>
            <a:r>
              <a:rPr kumimoji="1" lang="en-US" altLang="zh-CN"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rPr>
              <a:t>1</a:t>
            </a:r>
            <a:endParaRPr kumimoji="1"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endParaRPr>
          </a:p>
        </p:txBody>
      </p:sp>
      <p:grpSp>
        <p:nvGrpSpPr>
          <p:cNvPr id="32" name="组合 31">
            <a:extLst>
              <a:ext uri="{FF2B5EF4-FFF2-40B4-BE49-F238E27FC236}">
                <a16:creationId xmlns:a16="http://schemas.microsoft.com/office/drawing/2014/main" id="{15B187AB-0215-D2F8-2F58-70433986E05B}"/>
              </a:ext>
            </a:extLst>
          </p:cNvPr>
          <p:cNvGrpSpPr/>
          <p:nvPr/>
        </p:nvGrpSpPr>
        <p:grpSpPr>
          <a:xfrm>
            <a:off x="4122632" y="2378974"/>
            <a:ext cx="1144905" cy="1305400"/>
            <a:chOff x="4122632" y="2378974"/>
            <a:chExt cx="1144905" cy="1305400"/>
          </a:xfrm>
        </p:grpSpPr>
        <p:cxnSp>
          <p:nvCxnSpPr>
            <p:cNvPr id="29" name="直接箭头连接符 28">
              <a:extLst>
                <a:ext uri="{FF2B5EF4-FFF2-40B4-BE49-F238E27FC236}">
                  <a16:creationId xmlns:a16="http://schemas.microsoft.com/office/drawing/2014/main" id="{03BF0385-2AEA-27D8-CB0B-F55FBFC45E85}"/>
                </a:ext>
              </a:extLst>
            </p:cNvPr>
            <p:cNvCxnSpPr>
              <a:cxnSpLocks/>
              <a:stCxn id="27" idx="2"/>
              <a:endCxn id="23" idx="0"/>
            </p:cNvCxnSpPr>
            <p:nvPr/>
          </p:nvCxnSpPr>
          <p:spPr>
            <a:xfrm>
              <a:off x="4122632" y="2378974"/>
              <a:ext cx="1" cy="1305400"/>
            </a:xfrm>
            <a:prstGeom prst="straightConnector1">
              <a:avLst/>
            </a:prstGeom>
            <a:ln w="19050" cap="flat" cmpd="sng" algn="ctr">
              <a:solidFill>
                <a:schemeClr val="accent1"/>
              </a:solidFill>
              <a:prstDash val="dash"/>
              <a:round/>
              <a:headEnd type="none" w="med" len="med"/>
              <a:tailEnd type="triangle" w="med" len="med"/>
            </a:ln>
          </p:spPr>
          <p:style>
            <a:lnRef idx="0">
              <a:scrgbClr r="0" g="0" b="0"/>
            </a:lnRef>
            <a:fillRef idx="0">
              <a:scrgbClr r="0" g="0" b="0"/>
            </a:fillRef>
            <a:effectRef idx="0">
              <a:scrgbClr r="0" g="0" b="0"/>
            </a:effectRef>
            <a:fontRef idx="minor">
              <a:schemeClr val="tx1"/>
            </a:fontRef>
          </p:style>
        </p:cxnSp>
        <p:sp>
          <p:nvSpPr>
            <p:cNvPr id="31" name="文本框 30">
              <a:extLst>
                <a:ext uri="{FF2B5EF4-FFF2-40B4-BE49-F238E27FC236}">
                  <a16:creationId xmlns:a16="http://schemas.microsoft.com/office/drawing/2014/main" id="{03E65FA3-1E9E-C182-112B-B6019ADCD06E}"/>
                </a:ext>
              </a:extLst>
            </p:cNvPr>
            <p:cNvSpPr txBox="1"/>
            <p:nvPr/>
          </p:nvSpPr>
          <p:spPr>
            <a:xfrm>
              <a:off x="4149937" y="2782674"/>
              <a:ext cx="1117600" cy="307777"/>
            </a:xfrm>
            <a:prstGeom prst="rect">
              <a:avLst/>
            </a:prstGeom>
            <a:noFill/>
          </p:spPr>
          <p:txBody>
            <a:bodyPr wrap="square" rtlCol="0">
              <a:spAutoFit/>
            </a:bodyPr>
            <a:lstStyle/>
            <a:p>
              <a:r>
                <a:rPr lang="zh-CN" altLang="en-US" sz="1400" b="1" dirty="0"/>
                <a:t>不齐套</a:t>
              </a:r>
            </a:p>
          </p:txBody>
        </p:sp>
      </p:grpSp>
      <p:cxnSp>
        <p:nvCxnSpPr>
          <p:cNvPr id="34" name="直接箭头连接符 33">
            <a:extLst>
              <a:ext uri="{FF2B5EF4-FFF2-40B4-BE49-F238E27FC236}">
                <a16:creationId xmlns:a16="http://schemas.microsoft.com/office/drawing/2014/main" id="{274D79EE-3150-61CC-DCBF-7DA5D9BC713B}"/>
              </a:ext>
            </a:extLst>
          </p:cNvPr>
          <p:cNvCxnSpPr>
            <a:endCxn id="25" idx="0"/>
          </p:cNvCxnSpPr>
          <p:nvPr/>
        </p:nvCxnSpPr>
        <p:spPr>
          <a:xfrm>
            <a:off x="4412717" y="2378974"/>
            <a:ext cx="2101326" cy="2120318"/>
          </a:xfrm>
          <a:prstGeom prst="straightConnector1">
            <a:avLst/>
          </a:prstGeom>
          <a:ln w="19050" cap="flat" cmpd="sng" algn="ctr">
            <a:solidFill>
              <a:schemeClr val="accent1"/>
            </a:solidFill>
            <a:prstDash val="solid"/>
            <a:round/>
            <a:headEnd type="none" w="med" len="med"/>
            <a:tailEnd type="triangle" w="med" len="med"/>
          </a:ln>
        </p:spPr>
        <p:style>
          <a:lnRef idx="0">
            <a:scrgbClr r="0" g="0" b="0"/>
          </a:lnRef>
          <a:fillRef idx="0">
            <a:scrgbClr r="0" g="0" b="0"/>
          </a:fillRef>
          <a:effectRef idx="0">
            <a:scrgbClr r="0" g="0" b="0"/>
          </a:effectRef>
          <a:fontRef idx="minor">
            <a:schemeClr val="tx1"/>
          </a:fontRef>
        </p:style>
      </p:cxnSp>
      <p:cxnSp>
        <p:nvCxnSpPr>
          <p:cNvPr id="36" name="直接箭头连接符 35">
            <a:extLst>
              <a:ext uri="{FF2B5EF4-FFF2-40B4-BE49-F238E27FC236}">
                <a16:creationId xmlns:a16="http://schemas.microsoft.com/office/drawing/2014/main" id="{0010476F-2236-7DD5-E08A-AF0FEDC26419}"/>
              </a:ext>
            </a:extLst>
          </p:cNvPr>
          <p:cNvCxnSpPr/>
          <p:nvPr/>
        </p:nvCxnSpPr>
        <p:spPr>
          <a:xfrm>
            <a:off x="4348065" y="2378974"/>
            <a:ext cx="0" cy="1305400"/>
          </a:xfrm>
          <a:prstGeom prst="straightConnector1">
            <a:avLst/>
          </a:prstGeom>
          <a:ln w="19050" cap="flat" cmpd="sng" algn="ctr">
            <a:solidFill>
              <a:schemeClr val="accent1"/>
            </a:solidFill>
            <a:prstDash val="solid"/>
            <a:round/>
            <a:headEnd type="none" w="med" len="med"/>
            <a:tailEnd type="triangle"/>
          </a:ln>
        </p:spPr>
        <p:style>
          <a:lnRef idx="0">
            <a:scrgbClr r="0" g="0" b="0"/>
          </a:lnRef>
          <a:fillRef idx="0">
            <a:scrgbClr r="0" g="0" b="0"/>
          </a:fillRef>
          <a:effectRef idx="0">
            <a:scrgbClr r="0" g="0" b="0"/>
          </a:effectRef>
          <a:fontRef idx="minor">
            <a:schemeClr val="tx1"/>
          </a:fontRef>
        </p:style>
      </p:cxnSp>
      <p:sp>
        <p:nvSpPr>
          <p:cNvPr id="37" name="矩形 8">
            <a:extLst>
              <a:ext uri="{FF2B5EF4-FFF2-40B4-BE49-F238E27FC236}">
                <a16:creationId xmlns:a16="http://schemas.microsoft.com/office/drawing/2014/main" id="{FD0AE5E7-8EB0-37CD-3242-0945393B6A74}"/>
              </a:ext>
            </a:extLst>
          </p:cNvPr>
          <p:cNvSpPr/>
          <p:nvPr/>
        </p:nvSpPr>
        <p:spPr>
          <a:xfrm>
            <a:off x="5865917" y="1989729"/>
            <a:ext cx="1441449" cy="369310"/>
          </a:xfrm>
          <a:prstGeom prst="rect">
            <a:avLst/>
          </a:prstGeom>
          <a:solidFill>
            <a:srgbClr val="0070C0"/>
          </a:solidFill>
          <a:ln w="9525">
            <a:noFill/>
          </a:ln>
        </p:spPr>
        <p:txBody>
          <a:bodyPr lIns="121899" tIns="60949" rIns="121899" bIns="60949">
            <a:spAutoFit/>
          </a:bodyPr>
          <a:lstStyle>
            <a:lvl1pPr marL="342900" indent="-342900" algn="l" defTabSz="457200" rtl="0" eaLnBrk="0" fontAlgn="base" hangingPunct="0">
              <a:spcBef>
                <a:spcPct val="20000"/>
              </a:spcBef>
              <a:spcAft>
                <a:spcPct val="0"/>
              </a:spcAft>
              <a:buFont typeface="Arial" panose="020B0604020202020204" pitchFamily="34" charset="0"/>
              <a:buChar char="•"/>
              <a:defRPr kumimoji="1" sz="3200" kern="1200">
                <a:solidFill>
                  <a:schemeClr val="tx1"/>
                </a:solidFill>
                <a:latin typeface="+mn-lt"/>
                <a:ea typeface="+mn-ea"/>
                <a:cs typeface="宋体" panose="02010600030101010101" pitchFamily="2" charset="-122"/>
              </a:defRPr>
            </a:lvl1pPr>
            <a:lvl2pPr marL="742950" indent="-285750" algn="l" defTabSz="457200" rtl="0" eaLnBrk="0" fontAlgn="base" hangingPunct="0">
              <a:spcBef>
                <a:spcPct val="20000"/>
              </a:spcBef>
              <a:spcAft>
                <a:spcPct val="0"/>
              </a:spcAft>
              <a:buFont typeface="Arial" panose="020B0604020202020204" pitchFamily="34" charset="0"/>
              <a:buChar char="–"/>
              <a:defRPr kumimoji="1" sz="2800" kern="1200">
                <a:solidFill>
                  <a:schemeClr val="tx1"/>
                </a:solidFill>
                <a:latin typeface="+mn-lt"/>
                <a:ea typeface="+mn-ea"/>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kumimoji="1" sz="2400" kern="1200">
                <a:solidFill>
                  <a:schemeClr val="tx1"/>
                </a:solidFill>
                <a:latin typeface="+mn-lt"/>
                <a:ea typeface="+mn-ea"/>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kumimoji="1" sz="2000" kern="1200">
                <a:solidFill>
                  <a:schemeClr val="tx1"/>
                </a:solidFill>
                <a:latin typeface="+mn-lt"/>
                <a:ea typeface="+mn-ea"/>
                <a:cs typeface="+mn-cs"/>
              </a:defRPr>
            </a:lvl5pPr>
          </a:lstStyle>
          <a:p>
            <a:pPr marL="0" marR="0" lvl="0" indent="0" algn="ctr" defTabSz="1217476" rtl="0" eaLnBrk="1" fontAlgn="base" latinLnBrk="0" hangingPunct="1">
              <a:lnSpc>
                <a:spcPct val="100000"/>
              </a:lnSpc>
              <a:spcBef>
                <a:spcPct val="0"/>
              </a:spcBef>
              <a:spcAft>
                <a:spcPct val="0"/>
              </a:spcAft>
              <a:buClrTx/>
              <a:buSzTx/>
              <a:buFont typeface="Arial" panose="020B0604020202020204" pitchFamily="34" charset="0"/>
              <a:buNone/>
              <a:tabLst/>
              <a:defRPr/>
            </a:pPr>
            <a:r>
              <a:rPr lang="zh-CN" altLang="en-US" sz="1600" dirty="0">
                <a:solidFill>
                  <a:srgbClr val="000000"/>
                </a:solidFill>
                <a:latin typeface="Arial" panose="020B0604020202020204" pitchFamily="34" charset="0"/>
                <a:ea typeface="微软雅黑" panose="020B0503020204020204" pitchFamily="34" charset="-122"/>
              </a:rPr>
              <a:t>新</a:t>
            </a:r>
            <a:r>
              <a:rPr kumimoji="1"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rPr>
              <a:t>需求</a:t>
            </a:r>
            <a:r>
              <a:rPr lang="en-US" altLang="zh-CN" sz="1600" dirty="0">
                <a:solidFill>
                  <a:srgbClr val="000000"/>
                </a:solidFill>
                <a:latin typeface="Arial" panose="020B0604020202020204" pitchFamily="34" charset="0"/>
                <a:ea typeface="微软雅黑" panose="020B0503020204020204" pitchFamily="34" charset="-122"/>
              </a:rPr>
              <a:t>2</a:t>
            </a:r>
            <a:endParaRPr kumimoji="1" lang="zh-CN" altLang="en-US" sz="16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endParaRPr>
          </a:p>
        </p:txBody>
      </p:sp>
      <p:sp>
        <p:nvSpPr>
          <p:cNvPr id="38" name="文本框 37">
            <a:extLst>
              <a:ext uri="{FF2B5EF4-FFF2-40B4-BE49-F238E27FC236}">
                <a16:creationId xmlns:a16="http://schemas.microsoft.com/office/drawing/2014/main" id="{9C7690C8-8A65-FD93-333A-4FDA48320668}"/>
              </a:ext>
            </a:extLst>
          </p:cNvPr>
          <p:cNvSpPr txBox="1"/>
          <p:nvPr/>
        </p:nvSpPr>
        <p:spPr>
          <a:xfrm>
            <a:off x="3084659" y="842489"/>
            <a:ext cx="2656115" cy="307777"/>
          </a:xfrm>
          <a:prstGeom prst="rect">
            <a:avLst/>
          </a:prstGeom>
          <a:noFill/>
        </p:spPr>
        <p:txBody>
          <a:bodyPr wrap="square" rtlCol="0">
            <a:spAutoFit/>
          </a:bodyPr>
          <a:lstStyle/>
          <a:p>
            <a:r>
              <a:rPr lang="zh-CN" altLang="en-US" sz="1400" b="1" dirty="0">
                <a:latin typeface="+mj-ea"/>
                <a:ea typeface="+mj-ea"/>
              </a:rPr>
              <a:t>第</a:t>
            </a:r>
            <a:r>
              <a:rPr lang="en-US" altLang="zh-CN" sz="1400" b="1" dirty="0">
                <a:latin typeface="+mj-ea"/>
                <a:ea typeface="+mj-ea"/>
              </a:rPr>
              <a:t>N</a:t>
            </a:r>
            <a:r>
              <a:rPr lang="zh-CN" altLang="en-US" sz="1400" b="1" dirty="0">
                <a:latin typeface="+mj-ea"/>
                <a:ea typeface="+mj-ea"/>
              </a:rPr>
              <a:t>次运行</a:t>
            </a:r>
            <a:r>
              <a:rPr lang="en-US" altLang="zh-CN" sz="1400" b="1" dirty="0">
                <a:latin typeface="+mj-ea"/>
                <a:ea typeface="+mj-ea"/>
              </a:rPr>
              <a:t>Planning</a:t>
            </a:r>
            <a:endParaRPr lang="zh-CN" altLang="en-US" sz="1400" b="1" dirty="0">
              <a:latin typeface="+mj-ea"/>
              <a:ea typeface="+mj-ea"/>
            </a:endParaRPr>
          </a:p>
        </p:txBody>
      </p:sp>
      <p:sp>
        <p:nvSpPr>
          <p:cNvPr id="39" name="文本框 38">
            <a:extLst>
              <a:ext uri="{FF2B5EF4-FFF2-40B4-BE49-F238E27FC236}">
                <a16:creationId xmlns:a16="http://schemas.microsoft.com/office/drawing/2014/main" id="{CA9D86AA-ADDD-FC73-DD89-6A3AA9AB3933}"/>
              </a:ext>
            </a:extLst>
          </p:cNvPr>
          <p:cNvSpPr txBox="1"/>
          <p:nvPr/>
        </p:nvSpPr>
        <p:spPr>
          <a:xfrm>
            <a:off x="5563491" y="858994"/>
            <a:ext cx="2656115" cy="307777"/>
          </a:xfrm>
          <a:prstGeom prst="rect">
            <a:avLst/>
          </a:prstGeom>
          <a:noFill/>
        </p:spPr>
        <p:txBody>
          <a:bodyPr wrap="square" rtlCol="0">
            <a:spAutoFit/>
          </a:bodyPr>
          <a:lstStyle/>
          <a:p>
            <a:r>
              <a:rPr lang="zh-CN" altLang="en-US" sz="1400" b="1" dirty="0">
                <a:latin typeface="+mj-ea"/>
                <a:ea typeface="+mj-ea"/>
              </a:rPr>
              <a:t>第</a:t>
            </a:r>
            <a:r>
              <a:rPr lang="en-US" altLang="zh-CN" sz="1400" b="1" dirty="0">
                <a:latin typeface="+mj-ea"/>
                <a:ea typeface="+mj-ea"/>
              </a:rPr>
              <a:t>N</a:t>
            </a:r>
            <a:r>
              <a:rPr lang="zh-CN" altLang="en-US" sz="1400" b="1" dirty="0">
                <a:latin typeface="+mj-ea"/>
                <a:ea typeface="+mj-ea"/>
              </a:rPr>
              <a:t>次运行</a:t>
            </a:r>
            <a:r>
              <a:rPr lang="en-US" altLang="zh-CN" sz="1400" b="1" dirty="0">
                <a:latin typeface="+mj-ea"/>
                <a:ea typeface="+mj-ea"/>
              </a:rPr>
              <a:t>Planning</a:t>
            </a:r>
            <a:endParaRPr lang="zh-CN" altLang="en-US" sz="1400" b="1" dirty="0">
              <a:latin typeface="+mj-ea"/>
              <a:ea typeface="+mj-ea"/>
            </a:endParaRPr>
          </a:p>
        </p:txBody>
      </p:sp>
      <p:sp>
        <p:nvSpPr>
          <p:cNvPr id="40" name="文本框 39">
            <a:extLst>
              <a:ext uri="{FF2B5EF4-FFF2-40B4-BE49-F238E27FC236}">
                <a16:creationId xmlns:a16="http://schemas.microsoft.com/office/drawing/2014/main" id="{D98E1A96-6A4F-530D-0E69-15BDFF01513C}"/>
              </a:ext>
            </a:extLst>
          </p:cNvPr>
          <p:cNvSpPr txBox="1"/>
          <p:nvPr/>
        </p:nvSpPr>
        <p:spPr>
          <a:xfrm>
            <a:off x="5626723" y="5096115"/>
            <a:ext cx="2242094" cy="307777"/>
          </a:xfrm>
          <a:prstGeom prst="rect">
            <a:avLst/>
          </a:prstGeom>
          <a:noFill/>
        </p:spPr>
        <p:txBody>
          <a:bodyPr wrap="square" rtlCol="0">
            <a:spAutoFit/>
          </a:bodyPr>
          <a:lstStyle/>
          <a:p>
            <a:r>
              <a:rPr lang="en-US" altLang="zh-CN" sz="1400" b="1" dirty="0">
                <a:latin typeface="+mj-ea"/>
                <a:ea typeface="+mj-ea"/>
              </a:rPr>
              <a:t>Bucket2</a:t>
            </a:r>
            <a:r>
              <a:rPr lang="zh-CN" altLang="en-US" sz="1400" b="1" dirty="0">
                <a:latin typeface="+mj-ea"/>
                <a:ea typeface="+mj-ea"/>
              </a:rPr>
              <a:t>的供应导入</a:t>
            </a:r>
          </a:p>
        </p:txBody>
      </p:sp>
      <p:grpSp>
        <p:nvGrpSpPr>
          <p:cNvPr id="46" name="组合 45">
            <a:extLst>
              <a:ext uri="{FF2B5EF4-FFF2-40B4-BE49-F238E27FC236}">
                <a16:creationId xmlns:a16="http://schemas.microsoft.com/office/drawing/2014/main" id="{A1D6E4C8-772B-0454-8B57-3C50B302BAFB}"/>
              </a:ext>
            </a:extLst>
          </p:cNvPr>
          <p:cNvGrpSpPr/>
          <p:nvPr/>
        </p:nvGrpSpPr>
        <p:grpSpPr>
          <a:xfrm>
            <a:off x="4817957" y="2359039"/>
            <a:ext cx="1768685" cy="2324908"/>
            <a:chOff x="4817957" y="2359039"/>
            <a:chExt cx="1768685" cy="2324908"/>
          </a:xfrm>
        </p:grpSpPr>
        <p:cxnSp>
          <p:nvCxnSpPr>
            <p:cNvPr id="42" name="直接箭头连接符 41">
              <a:extLst>
                <a:ext uri="{FF2B5EF4-FFF2-40B4-BE49-F238E27FC236}">
                  <a16:creationId xmlns:a16="http://schemas.microsoft.com/office/drawing/2014/main" id="{572AD4DA-3AC5-E199-1885-AD2347BD1B1F}"/>
                </a:ext>
              </a:extLst>
            </p:cNvPr>
            <p:cNvCxnSpPr>
              <a:stCxn id="37" idx="2"/>
              <a:endCxn id="23" idx="3"/>
            </p:cNvCxnSpPr>
            <p:nvPr/>
          </p:nvCxnSpPr>
          <p:spPr>
            <a:xfrm flipH="1">
              <a:off x="4817957" y="2359039"/>
              <a:ext cx="1768685" cy="1509990"/>
            </a:xfrm>
            <a:prstGeom prst="straightConnector1">
              <a:avLst/>
            </a:prstGeom>
            <a:ln w="19050" cap="flat" cmpd="sng" algn="ctr">
              <a:solidFill>
                <a:schemeClr val="accent2"/>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44" name="直接箭头连接符 43">
              <a:extLst>
                <a:ext uri="{FF2B5EF4-FFF2-40B4-BE49-F238E27FC236}">
                  <a16:creationId xmlns:a16="http://schemas.microsoft.com/office/drawing/2014/main" id="{DEC709E8-7392-CE85-623B-0D6C1A9E24FF}"/>
                </a:ext>
              </a:extLst>
            </p:cNvPr>
            <p:cNvCxnSpPr>
              <a:stCxn id="37" idx="2"/>
              <a:endCxn id="24" idx="3"/>
            </p:cNvCxnSpPr>
            <p:nvPr/>
          </p:nvCxnSpPr>
          <p:spPr>
            <a:xfrm flipH="1">
              <a:off x="4817957" y="2359039"/>
              <a:ext cx="1768685" cy="2324908"/>
            </a:xfrm>
            <a:prstGeom prst="straightConnector1">
              <a:avLst/>
            </a:prstGeom>
            <a:ln w="19050" cap="flat" cmpd="sng" algn="ctr">
              <a:solidFill>
                <a:schemeClr val="accent1"/>
              </a:solidFill>
              <a:prstDash val="solid"/>
              <a:round/>
              <a:headEnd type="none" w="med" len="med"/>
              <a:tailEnd type="triangle"/>
            </a:ln>
          </p:spPr>
          <p:style>
            <a:lnRef idx="0">
              <a:scrgbClr r="0" g="0" b="0"/>
            </a:lnRef>
            <a:fillRef idx="0">
              <a:scrgbClr r="0" g="0" b="0"/>
            </a:fillRef>
            <a:effectRef idx="0">
              <a:scrgbClr r="0" g="0" b="0"/>
            </a:effectRef>
            <a:fontRef idx="minor">
              <a:schemeClr val="tx1"/>
            </a:fontRef>
          </p:style>
        </p:cxnSp>
        <p:sp>
          <p:nvSpPr>
            <p:cNvPr id="45" name="文本框 44">
              <a:extLst>
                <a:ext uri="{FF2B5EF4-FFF2-40B4-BE49-F238E27FC236}">
                  <a16:creationId xmlns:a16="http://schemas.microsoft.com/office/drawing/2014/main" id="{76733D0A-4E97-A8AB-C21C-1F941C68531A}"/>
                </a:ext>
              </a:extLst>
            </p:cNvPr>
            <p:cNvSpPr txBox="1"/>
            <p:nvPr/>
          </p:nvSpPr>
          <p:spPr>
            <a:xfrm>
              <a:off x="5418339" y="2754220"/>
              <a:ext cx="369801" cy="307777"/>
            </a:xfrm>
            <a:prstGeom prst="rect">
              <a:avLst/>
            </a:prstGeom>
            <a:noFill/>
          </p:spPr>
          <p:txBody>
            <a:bodyPr wrap="square" rtlCol="0">
              <a:spAutoFit/>
            </a:bodyPr>
            <a:lstStyle/>
            <a:p>
              <a:r>
                <a:rPr lang="zh-CN" altLang="en-US" sz="1400" b="1" dirty="0"/>
                <a:t>偷</a:t>
              </a:r>
            </a:p>
          </p:txBody>
        </p:sp>
      </p:grpSp>
    </p:spTree>
    <p:extLst>
      <p:ext uri="{BB962C8B-B14F-4D97-AF65-F5344CB8AC3E}">
        <p14:creationId xmlns:p14="http://schemas.microsoft.com/office/powerpoint/2010/main" val="1761066021"/>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nodeType="clickEffect">
                                  <p:stCondLst>
                                    <p:cond delay="0"/>
                                  </p:stCondLst>
                                  <p:childTnLst>
                                    <p:set>
                                      <p:cBhvr>
                                        <p:cTn id="10" dur="1" fill="hold">
                                          <p:stCondLst>
                                            <p:cond delay="0"/>
                                          </p:stCondLst>
                                        </p:cTn>
                                        <p:tgtEl>
                                          <p:spTgt spid="32"/>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34"/>
                                        </p:tgtEl>
                                        <p:attrNameLst>
                                          <p:attrName>style.visibility</p:attrName>
                                        </p:attrNameLst>
                                      </p:cBhvr>
                                      <p:to>
                                        <p:strVal val="visible"/>
                                      </p:to>
                                    </p:set>
                                    <p:animEffect transition="in" filter="fade">
                                      <p:cBhvr>
                                        <p:cTn id="23" dur="500"/>
                                        <p:tgtEl>
                                          <p:spTgt spid="34"/>
                                        </p:tgtEl>
                                      </p:cBhvr>
                                    </p:animEffect>
                                  </p:childTnLst>
                                </p:cTn>
                              </p:par>
                              <p:par>
                                <p:cTn id="24" presetID="10" presetClass="entr" presetSubtype="0" fill="hold" nodeType="withEffect">
                                  <p:stCondLst>
                                    <p:cond delay="0"/>
                                  </p:stCondLst>
                                  <p:childTnLst>
                                    <p:set>
                                      <p:cBhvr>
                                        <p:cTn id="25" dur="1" fill="hold">
                                          <p:stCondLst>
                                            <p:cond delay="0"/>
                                          </p:stCondLst>
                                        </p:cTn>
                                        <p:tgtEl>
                                          <p:spTgt spid="36"/>
                                        </p:tgtEl>
                                        <p:attrNameLst>
                                          <p:attrName>style.visibility</p:attrName>
                                        </p:attrNameLst>
                                      </p:cBhvr>
                                      <p:to>
                                        <p:strVal val="visible"/>
                                      </p:to>
                                    </p:set>
                                    <p:animEffect transition="in" filter="fade">
                                      <p:cBhvr>
                                        <p:cTn id="26" dur="500"/>
                                        <p:tgtEl>
                                          <p:spTgt spid="36"/>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xit" presetSubtype="4" fill="hold" grpId="1" nodeType="clickEffect">
                                  <p:stCondLst>
                                    <p:cond delay="0"/>
                                  </p:stCondLst>
                                  <p:childTnLst>
                                    <p:animEffect transition="out" filter="wipe(down)">
                                      <p:cBhvr>
                                        <p:cTn id="30" dur="500"/>
                                        <p:tgtEl>
                                          <p:spTgt spid="25"/>
                                        </p:tgtEl>
                                      </p:cBhvr>
                                    </p:animEffect>
                                    <p:set>
                                      <p:cBhvr>
                                        <p:cTn id="31" dur="1" fill="hold">
                                          <p:stCondLst>
                                            <p:cond delay="499"/>
                                          </p:stCondLst>
                                        </p:cTn>
                                        <p:tgtEl>
                                          <p:spTgt spid="25"/>
                                        </p:tgtEl>
                                        <p:attrNameLst>
                                          <p:attrName>style.visibility</p:attrName>
                                        </p:attrNameLst>
                                      </p:cBhvr>
                                      <p:to>
                                        <p:strVal val="hidden"/>
                                      </p:to>
                                    </p:set>
                                  </p:childTnLst>
                                </p:cTn>
                              </p:par>
                              <p:par>
                                <p:cTn id="32" presetID="22" presetClass="exit" presetSubtype="4" fill="hold" nodeType="withEffect">
                                  <p:stCondLst>
                                    <p:cond delay="0"/>
                                  </p:stCondLst>
                                  <p:childTnLst>
                                    <p:animEffect transition="out" filter="wipe(down)">
                                      <p:cBhvr>
                                        <p:cTn id="33" dur="500"/>
                                        <p:tgtEl>
                                          <p:spTgt spid="36"/>
                                        </p:tgtEl>
                                      </p:cBhvr>
                                    </p:animEffect>
                                    <p:set>
                                      <p:cBhvr>
                                        <p:cTn id="34" dur="1" fill="hold">
                                          <p:stCondLst>
                                            <p:cond delay="499"/>
                                          </p:stCondLst>
                                        </p:cTn>
                                        <p:tgtEl>
                                          <p:spTgt spid="36"/>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nodeType="clickEffect">
                                  <p:stCondLst>
                                    <p:cond delay="0"/>
                                  </p:stCondLst>
                                  <p:childTnLst>
                                    <p:set>
                                      <p:cBhvr>
                                        <p:cTn id="38" dur="1" fill="hold">
                                          <p:stCondLst>
                                            <p:cond delay="0"/>
                                          </p:stCondLst>
                                        </p:cTn>
                                        <p:tgtEl>
                                          <p:spTgt spid="3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0" presetClass="exit" presetSubtype="0" fill="hold" grpId="1" nodeType="clickEffect">
                                  <p:stCondLst>
                                    <p:cond delay="0"/>
                                  </p:stCondLst>
                                  <p:childTnLst>
                                    <p:animEffect transition="out" filter="fade">
                                      <p:cBhvr>
                                        <p:cTn id="42" dur="500"/>
                                        <p:tgtEl>
                                          <p:spTgt spid="40"/>
                                        </p:tgtEl>
                                      </p:cBhvr>
                                    </p:animEffect>
                                    <p:set>
                                      <p:cBhvr>
                                        <p:cTn id="43" dur="1" fill="hold">
                                          <p:stCondLst>
                                            <p:cond delay="499"/>
                                          </p:stCondLst>
                                        </p:cTn>
                                        <p:tgtEl>
                                          <p:spTgt spid="40"/>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39"/>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37"/>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nodeType="clickEffect">
                                  <p:stCondLst>
                                    <p:cond delay="0"/>
                                  </p:stCondLst>
                                  <p:childTnLst>
                                    <p:set>
                                      <p:cBhvr>
                                        <p:cTn id="55"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5" grpId="1" animBg="1"/>
      <p:bldP spid="37" grpId="0" animBg="1"/>
      <p:bldP spid="39" grpId="0"/>
      <p:bldP spid="40" grpId="0"/>
      <p:bldP spid="40" grpId="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122EBB3-8D3A-646F-F6E7-7D72BEE39226}"/>
              </a:ext>
            </a:extLst>
          </p:cNvPr>
          <p:cNvSpPr>
            <a:spLocks noGrp="1"/>
          </p:cNvSpPr>
          <p:nvPr>
            <p:ph type="title"/>
          </p:nvPr>
        </p:nvSpPr>
        <p:spPr/>
        <p:txBody>
          <a:bodyPr/>
          <a:lstStyle/>
          <a:p>
            <a:r>
              <a:rPr lang="zh-CN" altLang="en-US" dirty="0"/>
              <a:t>计算计算构架</a:t>
            </a:r>
          </a:p>
        </p:txBody>
      </p:sp>
      <p:pic>
        <p:nvPicPr>
          <p:cNvPr id="3" name="图片 2">
            <a:extLst>
              <a:ext uri="{FF2B5EF4-FFF2-40B4-BE49-F238E27FC236}">
                <a16:creationId xmlns:a16="http://schemas.microsoft.com/office/drawing/2014/main" id="{0579319A-1088-5D9B-F770-95D7C14A8F20}"/>
              </a:ext>
            </a:extLst>
          </p:cNvPr>
          <p:cNvPicPr>
            <a:picLocks noChangeAspect="1"/>
          </p:cNvPicPr>
          <p:nvPr/>
        </p:nvPicPr>
        <p:blipFill>
          <a:blip r:embed="rId2">
            <a:duotone>
              <a:prstClr val="black"/>
              <a:srgbClr val="D9C3A5">
                <a:tint val="50000"/>
                <a:satMod val="180000"/>
              </a:srgbClr>
            </a:duotone>
          </a:blip>
          <a:stretch>
            <a:fillRect/>
          </a:stretch>
        </p:blipFill>
        <p:spPr>
          <a:xfrm>
            <a:off x="693272" y="816724"/>
            <a:ext cx="8247528" cy="5569133"/>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4" name="箭头: 下 3">
            <a:extLst>
              <a:ext uri="{FF2B5EF4-FFF2-40B4-BE49-F238E27FC236}">
                <a16:creationId xmlns:a16="http://schemas.microsoft.com/office/drawing/2014/main" id="{8E2719C8-B574-2107-BCA4-6D319F102069}"/>
              </a:ext>
            </a:extLst>
          </p:cNvPr>
          <p:cNvSpPr/>
          <p:nvPr/>
        </p:nvSpPr>
        <p:spPr>
          <a:xfrm>
            <a:off x="9311341" y="1069788"/>
            <a:ext cx="1721222" cy="5235388"/>
          </a:xfrm>
          <a:prstGeom prst="downArrow">
            <a:avLst/>
          </a:prstGeom>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r>
              <a:rPr lang="zh-CN" altLang="en-US" b="1" dirty="0">
                <a:latin typeface="+mj-ea"/>
                <a:ea typeface="+mj-ea"/>
              </a:rPr>
              <a:t>越底层越快</a:t>
            </a:r>
          </a:p>
        </p:txBody>
      </p:sp>
    </p:spTree>
    <p:extLst>
      <p:ext uri="{BB962C8B-B14F-4D97-AF65-F5344CB8AC3E}">
        <p14:creationId xmlns:p14="http://schemas.microsoft.com/office/powerpoint/2010/main" val="1692182426"/>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04A79BD1-03F0-31BE-F007-076A2C0C18A0}"/>
              </a:ext>
            </a:extLst>
          </p:cNvPr>
          <p:cNvSpPr>
            <a:spLocks noGrp="1"/>
          </p:cNvSpPr>
          <p:nvPr>
            <p:ph type="title"/>
          </p:nvPr>
        </p:nvSpPr>
        <p:spPr/>
        <p:txBody>
          <a:bodyPr/>
          <a:lstStyle/>
          <a:p>
            <a:r>
              <a:rPr lang="zh-CN" altLang="en-US" dirty="0">
                <a:latin typeface="+mj-ea"/>
              </a:rPr>
              <a:t>数据模型操作</a:t>
            </a:r>
          </a:p>
        </p:txBody>
      </p:sp>
      <p:sp>
        <p:nvSpPr>
          <p:cNvPr id="4" name="矩形 3">
            <a:extLst>
              <a:ext uri="{FF2B5EF4-FFF2-40B4-BE49-F238E27FC236}">
                <a16:creationId xmlns:a16="http://schemas.microsoft.com/office/drawing/2014/main" id="{F6568E6B-724F-881C-06D7-08A0EB871844}"/>
              </a:ext>
            </a:extLst>
          </p:cNvPr>
          <p:cNvSpPr/>
          <p:nvPr/>
        </p:nvSpPr>
        <p:spPr>
          <a:xfrm>
            <a:off x="2787749" y="754552"/>
            <a:ext cx="1452880" cy="61975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j-ea"/>
                <a:ea typeface="+mj-ea"/>
              </a:rPr>
              <a:t>SQL</a:t>
            </a:r>
          </a:p>
          <a:p>
            <a:pPr algn="ctr"/>
            <a:r>
              <a:rPr lang="zh-CN" altLang="en-US" sz="1100" dirty="0">
                <a:solidFill>
                  <a:schemeClr val="tx1"/>
                </a:solidFill>
                <a:latin typeface="+mj-ea"/>
                <a:ea typeface="+mj-ea"/>
              </a:rPr>
              <a:t>声明式语言，专注</a:t>
            </a:r>
            <a:endParaRPr lang="en-US" altLang="zh-CN" sz="1100" dirty="0">
              <a:solidFill>
                <a:schemeClr val="tx1"/>
              </a:solidFill>
              <a:latin typeface="+mj-ea"/>
              <a:ea typeface="+mj-ea"/>
            </a:endParaRPr>
          </a:p>
          <a:p>
            <a:pPr algn="ctr"/>
            <a:r>
              <a:rPr lang="en-US" altLang="zh-CN" sz="1100" dirty="0">
                <a:solidFill>
                  <a:schemeClr val="tx1"/>
                </a:solidFill>
                <a:latin typeface="+mj-ea"/>
                <a:ea typeface="+mj-ea"/>
              </a:rPr>
              <a:t>“</a:t>
            </a:r>
            <a:r>
              <a:rPr lang="zh-CN" altLang="en-US" sz="1100" dirty="0">
                <a:solidFill>
                  <a:schemeClr val="tx1"/>
                </a:solidFill>
                <a:latin typeface="+mj-ea"/>
                <a:ea typeface="+mj-ea"/>
              </a:rPr>
              <a:t>做什么</a:t>
            </a:r>
            <a:r>
              <a:rPr lang="en-US" altLang="zh-CN" sz="1100" dirty="0">
                <a:solidFill>
                  <a:schemeClr val="tx1"/>
                </a:solidFill>
                <a:latin typeface="+mj-ea"/>
                <a:ea typeface="+mj-ea"/>
              </a:rPr>
              <a:t>”</a:t>
            </a:r>
            <a:endParaRPr lang="zh-CN" altLang="en-US" sz="1100" dirty="0">
              <a:solidFill>
                <a:schemeClr val="tx1"/>
              </a:solidFill>
              <a:latin typeface="+mj-ea"/>
              <a:ea typeface="+mj-ea"/>
            </a:endParaRPr>
          </a:p>
        </p:txBody>
      </p:sp>
      <p:sp>
        <p:nvSpPr>
          <p:cNvPr id="5" name="矩形 4">
            <a:extLst>
              <a:ext uri="{FF2B5EF4-FFF2-40B4-BE49-F238E27FC236}">
                <a16:creationId xmlns:a16="http://schemas.microsoft.com/office/drawing/2014/main" id="{1A414EBD-B894-5C7A-F955-A84162262D4F}"/>
              </a:ext>
            </a:extLst>
          </p:cNvPr>
          <p:cNvSpPr/>
          <p:nvPr/>
        </p:nvSpPr>
        <p:spPr>
          <a:xfrm>
            <a:off x="1665069" y="1955800"/>
            <a:ext cx="1452880" cy="61975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j-ea"/>
                <a:ea typeface="+mj-ea"/>
              </a:rPr>
              <a:t>C/JAVA</a:t>
            </a:r>
          </a:p>
          <a:p>
            <a:pPr algn="ctr"/>
            <a:r>
              <a:rPr lang="zh-CN" altLang="en-US" sz="1100" dirty="0">
                <a:solidFill>
                  <a:schemeClr val="tx1"/>
                </a:solidFill>
                <a:latin typeface="+mj-ea"/>
                <a:ea typeface="+mj-ea"/>
              </a:rPr>
              <a:t>命令式语言，专注于“怎么做”</a:t>
            </a:r>
          </a:p>
        </p:txBody>
      </p:sp>
      <p:sp>
        <p:nvSpPr>
          <p:cNvPr id="6" name="矩形 5">
            <a:extLst>
              <a:ext uri="{FF2B5EF4-FFF2-40B4-BE49-F238E27FC236}">
                <a16:creationId xmlns:a16="http://schemas.microsoft.com/office/drawing/2014/main" id="{32B50C41-3C58-D3B7-ADD7-79C9D0408D70}"/>
              </a:ext>
            </a:extLst>
          </p:cNvPr>
          <p:cNvSpPr/>
          <p:nvPr/>
        </p:nvSpPr>
        <p:spPr>
          <a:xfrm>
            <a:off x="1665068" y="2946400"/>
            <a:ext cx="1452880" cy="61975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sz="1100" dirty="0">
                <a:solidFill>
                  <a:schemeClr val="tx1"/>
                </a:solidFill>
                <a:latin typeface="+mj-ea"/>
                <a:ea typeface="+mj-ea"/>
              </a:rPr>
              <a:t>数据结构</a:t>
            </a:r>
            <a:endParaRPr lang="en-US" altLang="zh-CN" sz="1100" dirty="0">
              <a:solidFill>
                <a:schemeClr val="tx1"/>
              </a:solidFill>
              <a:latin typeface="+mj-ea"/>
              <a:ea typeface="+mj-ea"/>
            </a:endParaRPr>
          </a:p>
          <a:p>
            <a:pPr algn="ctr"/>
            <a:r>
              <a:rPr lang="zh-CN" altLang="en-US" sz="1100" dirty="0">
                <a:solidFill>
                  <a:schemeClr val="tx1"/>
                </a:solidFill>
                <a:latin typeface="+mj-ea"/>
                <a:ea typeface="+mj-ea"/>
              </a:rPr>
              <a:t>在内存中组织数据</a:t>
            </a:r>
          </a:p>
        </p:txBody>
      </p:sp>
      <p:sp>
        <p:nvSpPr>
          <p:cNvPr id="7" name="矩形 6">
            <a:extLst>
              <a:ext uri="{FF2B5EF4-FFF2-40B4-BE49-F238E27FC236}">
                <a16:creationId xmlns:a16="http://schemas.microsoft.com/office/drawing/2014/main" id="{77150757-7BB9-024E-C670-44A9418E96EA}"/>
              </a:ext>
            </a:extLst>
          </p:cNvPr>
          <p:cNvSpPr/>
          <p:nvPr/>
        </p:nvSpPr>
        <p:spPr>
          <a:xfrm>
            <a:off x="302434" y="3980339"/>
            <a:ext cx="1452880" cy="61975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sz="1100" dirty="0">
                <a:solidFill>
                  <a:schemeClr val="tx1"/>
                </a:solidFill>
                <a:latin typeface="+mj-ea"/>
                <a:ea typeface="+mj-ea"/>
              </a:rPr>
              <a:t>编译与优化</a:t>
            </a:r>
            <a:endParaRPr lang="en-US" altLang="zh-CN" sz="1100" dirty="0">
              <a:solidFill>
                <a:schemeClr val="tx1"/>
              </a:solidFill>
              <a:latin typeface="+mj-ea"/>
              <a:ea typeface="+mj-ea"/>
            </a:endParaRPr>
          </a:p>
          <a:p>
            <a:pPr algn="ctr"/>
            <a:r>
              <a:rPr lang="zh-CN" altLang="en-US" sz="1100" dirty="0">
                <a:solidFill>
                  <a:schemeClr val="tx1"/>
                </a:solidFill>
                <a:latin typeface="+mj-ea"/>
                <a:ea typeface="+mj-ea"/>
              </a:rPr>
              <a:t>将高级代码转换为低级表示</a:t>
            </a:r>
          </a:p>
        </p:txBody>
      </p:sp>
      <p:sp>
        <p:nvSpPr>
          <p:cNvPr id="8" name="矩形 7">
            <a:extLst>
              <a:ext uri="{FF2B5EF4-FFF2-40B4-BE49-F238E27FC236}">
                <a16:creationId xmlns:a16="http://schemas.microsoft.com/office/drawing/2014/main" id="{D8B15A3E-8BD4-955E-54DC-0BA90E6808C1}"/>
              </a:ext>
            </a:extLst>
          </p:cNvPr>
          <p:cNvSpPr/>
          <p:nvPr/>
        </p:nvSpPr>
        <p:spPr>
          <a:xfrm>
            <a:off x="3885029" y="1958491"/>
            <a:ext cx="1452880" cy="61975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sz="1100" dirty="0">
                <a:solidFill>
                  <a:schemeClr val="tx1"/>
                </a:solidFill>
                <a:latin typeface="+mj-ea"/>
                <a:ea typeface="+mj-ea"/>
              </a:rPr>
              <a:t>数据库引擎</a:t>
            </a:r>
            <a:endParaRPr lang="en-US" altLang="zh-CN" sz="1100" dirty="0">
              <a:solidFill>
                <a:schemeClr val="tx1"/>
              </a:solidFill>
              <a:latin typeface="+mj-ea"/>
              <a:ea typeface="+mj-ea"/>
            </a:endParaRPr>
          </a:p>
          <a:p>
            <a:pPr algn="ctr"/>
            <a:r>
              <a:rPr lang="zh-CN" altLang="en-US" sz="1100" dirty="0">
                <a:solidFill>
                  <a:schemeClr val="tx1"/>
                </a:solidFill>
                <a:latin typeface="+mj-ea"/>
                <a:ea typeface="+mj-ea"/>
              </a:rPr>
              <a:t>通常由</a:t>
            </a:r>
            <a:r>
              <a:rPr lang="en-US" altLang="zh-CN" sz="1100" dirty="0">
                <a:solidFill>
                  <a:schemeClr val="tx1"/>
                </a:solidFill>
                <a:latin typeface="+mj-ea"/>
                <a:ea typeface="+mj-ea"/>
              </a:rPr>
              <a:t>C/C++</a:t>
            </a:r>
            <a:r>
              <a:rPr lang="zh-CN" altLang="en-US" sz="1100" dirty="0">
                <a:solidFill>
                  <a:schemeClr val="tx1"/>
                </a:solidFill>
                <a:latin typeface="+mj-ea"/>
                <a:ea typeface="+mj-ea"/>
              </a:rPr>
              <a:t>编写</a:t>
            </a:r>
          </a:p>
        </p:txBody>
      </p:sp>
      <p:sp>
        <p:nvSpPr>
          <p:cNvPr id="9" name="矩形 8">
            <a:extLst>
              <a:ext uri="{FF2B5EF4-FFF2-40B4-BE49-F238E27FC236}">
                <a16:creationId xmlns:a16="http://schemas.microsoft.com/office/drawing/2014/main" id="{1AC84E46-CDB8-6834-4848-2A06A3C1DA20}"/>
              </a:ext>
            </a:extLst>
          </p:cNvPr>
          <p:cNvSpPr/>
          <p:nvPr/>
        </p:nvSpPr>
        <p:spPr>
          <a:xfrm>
            <a:off x="2940149" y="3992887"/>
            <a:ext cx="1452880" cy="61975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sz="1100" dirty="0">
                <a:solidFill>
                  <a:schemeClr val="tx1"/>
                </a:solidFill>
                <a:latin typeface="+mj-ea"/>
                <a:ea typeface="+mj-ea"/>
              </a:rPr>
              <a:t>内存访问模式</a:t>
            </a:r>
            <a:endParaRPr lang="en-US" altLang="zh-CN" sz="1100" dirty="0">
              <a:solidFill>
                <a:schemeClr val="tx1"/>
              </a:solidFill>
              <a:latin typeface="+mj-ea"/>
              <a:ea typeface="+mj-ea"/>
            </a:endParaRPr>
          </a:p>
          <a:p>
            <a:pPr algn="ctr"/>
            <a:r>
              <a:rPr lang="zh-CN" altLang="en-US" sz="1100" dirty="0">
                <a:solidFill>
                  <a:schemeClr val="tx1"/>
                </a:solidFill>
                <a:latin typeface="+mj-ea"/>
                <a:ea typeface="+mj-ea"/>
              </a:rPr>
              <a:t>影响执行效率</a:t>
            </a:r>
          </a:p>
        </p:txBody>
      </p:sp>
      <p:sp>
        <p:nvSpPr>
          <p:cNvPr id="10" name="矩形 9">
            <a:extLst>
              <a:ext uri="{FF2B5EF4-FFF2-40B4-BE49-F238E27FC236}">
                <a16:creationId xmlns:a16="http://schemas.microsoft.com/office/drawing/2014/main" id="{3AD45E2F-E90B-E1B3-FC2C-5A2DD65D8B02}"/>
              </a:ext>
            </a:extLst>
          </p:cNvPr>
          <p:cNvSpPr/>
          <p:nvPr/>
        </p:nvSpPr>
        <p:spPr>
          <a:xfrm>
            <a:off x="1580800" y="5931739"/>
            <a:ext cx="1452880" cy="61975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sz="1100" dirty="0">
                <a:solidFill>
                  <a:schemeClr val="tx1"/>
                </a:solidFill>
                <a:latin typeface="+mj-ea"/>
                <a:ea typeface="+mj-ea"/>
              </a:rPr>
              <a:t>机器码</a:t>
            </a:r>
            <a:endParaRPr lang="en-US" altLang="zh-CN" sz="1100" dirty="0">
              <a:solidFill>
                <a:schemeClr val="tx1"/>
              </a:solidFill>
              <a:latin typeface="+mj-ea"/>
              <a:ea typeface="+mj-ea"/>
            </a:endParaRPr>
          </a:p>
          <a:p>
            <a:pPr algn="ctr"/>
            <a:r>
              <a:rPr lang="en-US" altLang="zh-CN" sz="1100" dirty="0">
                <a:solidFill>
                  <a:schemeClr val="tx1"/>
                </a:solidFill>
                <a:latin typeface="+mj-ea"/>
                <a:ea typeface="+mj-ea"/>
              </a:rPr>
              <a:t>CPU</a:t>
            </a:r>
            <a:r>
              <a:rPr lang="zh-CN" altLang="en-US" sz="1100" dirty="0">
                <a:solidFill>
                  <a:schemeClr val="tx1"/>
                </a:solidFill>
                <a:latin typeface="+mj-ea"/>
                <a:ea typeface="+mj-ea"/>
              </a:rPr>
              <a:t>直接执行的二进制代码</a:t>
            </a:r>
          </a:p>
        </p:txBody>
      </p:sp>
      <p:sp>
        <p:nvSpPr>
          <p:cNvPr id="11" name="矩形 10">
            <a:extLst>
              <a:ext uri="{FF2B5EF4-FFF2-40B4-BE49-F238E27FC236}">
                <a16:creationId xmlns:a16="http://schemas.microsoft.com/office/drawing/2014/main" id="{C4ED093C-3CC7-FFF0-E170-C777B87C09DB}"/>
              </a:ext>
            </a:extLst>
          </p:cNvPr>
          <p:cNvSpPr/>
          <p:nvPr/>
        </p:nvSpPr>
        <p:spPr>
          <a:xfrm>
            <a:off x="1574824" y="4956039"/>
            <a:ext cx="1452880" cy="61975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zh-CN" altLang="en-US" sz="1100" dirty="0">
                <a:solidFill>
                  <a:schemeClr val="tx1"/>
                </a:solidFill>
                <a:latin typeface="+mj-ea"/>
                <a:ea typeface="+mj-ea"/>
              </a:rPr>
              <a:t>汇编语言</a:t>
            </a:r>
            <a:endParaRPr lang="en-US" altLang="zh-CN" sz="1100" dirty="0">
              <a:solidFill>
                <a:schemeClr val="tx1"/>
              </a:solidFill>
              <a:latin typeface="+mj-ea"/>
              <a:ea typeface="+mj-ea"/>
            </a:endParaRPr>
          </a:p>
          <a:p>
            <a:pPr algn="ctr"/>
            <a:r>
              <a:rPr lang="zh-CN" altLang="en-US" sz="1100" dirty="0">
                <a:solidFill>
                  <a:schemeClr val="tx1"/>
                </a:solidFill>
                <a:latin typeface="+mj-ea"/>
                <a:ea typeface="+mj-ea"/>
              </a:rPr>
              <a:t>人类可读的机器指令</a:t>
            </a:r>
          </a:p>
        </p:txBody>
      </p:sp>
      <p:cxnSp>
        <p:nvCxnSpPr>
          <p:cNvPr id="14" name="连接符: 肘形 13">
            <a:extLst>
              <a:ext uri="{FF2B5EF4-FFF2-40B4-BE49-F238E27FC236}">
                <a16:creationId xmlns:a16="http://schemas.microsoft.com/office/drawing/2014/main" id="{397CDE92-39A5-23B1-D1CF-720CF762152D}"/>
              </a:ext>
            </a:extLst>
          </p:cNvPr>
          <p:cNvCxnSpPr>
            <a:cxnSpLocks/>
            <a:stCxn id="4" idx="1"/>
            <a:endCxn id="5" idx="0"/>
          </p:cNvCxnSpPr>
          <p:nvPr/>
        </p:nvCxnSpPr>
        <p:spPr>
          <a:xfrm rot="10800000" flipV="1">
            <a:off x="2391509" y="1064432"/>
            <a:ext cx="396240" cy="891368"/>
          </a:xfrm>
          <a:prstGeom prst="bentConnector2">
            <a:avLst/>
          </a:prstGeom>
          <a:ln w="12700">
            <a:solidFill>
              <a:schemeClr val="tx1"/>
            </a:solidFill>
            <a:headEnd type="none" w="med" len="med"/>
            <a:tailEnd type="triangle"/>
          </a:ln>
        </p:spPr>
        <p:style>
          <a:lnRef idx="1">
            <a:schemeClr val="accent3"/>
          </a:lnRef>
          <a:fillRef idx="0">
            <a:schemeClr val="accent3"/>
          </a:fillRef>
          <a:effectRef idx="0">
            <a:schemeClr val="accent3"/>
          </a:effectRef>
          <a:fontRef idx="minor">
            <a:schemeClr val="tx1"/>
          </a:fontRef>
        </p:style>
      </p:cxnSp>
      <p:cxnSp>
        <p:nvCxnSpPr>
          <p:cNvPr id="18" name="连接符: 肘形 17">
            <a:extLst>
              <a:ext uri="{FF2B5EF4-FFF2-40B4-BE49-F238E27FC236}">
                <a16:creationId xmlns:a16="http://schemas.microsoft.com/office/drawing/2014/main" id="{844D05B5-5AB6-F4B1-84E9-907EBFD12092}"/>
              </a:ext>
            </a:extLst>
          </p:cNvPr>
          <p:cNvCxnSpPr>
            <a:cxnSpLocks/>
            <a:stCxn id="8" idx="3"/>
            <a:endCxn id="4" idx="3"/>
          </p:cNvCxnSpPr>
          <p:nvPr/>
        </p:nvCxnSpPr>
        <p:spPr>
          <a:xfrm flipH="1" flipV="1">
            <a:off x="4240629" y="1064432"/>
            <a:ext cx="1097280" cy="1203939"/>
          </a:xfrm>
          <a:prstGeom prst="bentConnector3">
            <a:avLst>
              <a:gd name="adj1" fmla="val -20833"/>
            </a:avLst>
          </a:prstGeom>
          <a:ln w="12700">
            <a:solidFill>
              <a:schemeClr val="tx1"/>
            </a:solidFill>
            <a:headEnd type="none" w="med" len="med"/>
            <a:tailEnd type="triangle"/>
          </a:ln>
        </p:spPr>
        <p:style>
          <a:lnRef idx="1">
            <a:schemeClr val="accent3"/>
          </a:lnRef>
          <a:fillRef idx="0">
            <a:schemeClr val="accent3"/>
          </a:fillRef>
          <a:effectRef idx="0">
            <a:schemeClr val="accent3"/>
          </a:effectRef>
          <a:fontRef idx="minor">
            <a:schemeClr val="tx1"/>
          </a:fontRef>
        </p:style>
      </p:cxnSp>
      <p:cxnSp>
        <p:nvCxnSpPr>
          <p:cNvPr id="21" name="连接符: 肘形 20">
            <a:extLst>
              <a:ext uri="{FF2B5EF4-FFF2-40B4-BE49-F238E27FC236}">
                <a16:creationId xmlns:a16="http://schemas.microsoft.com/office/drawing/2014/main" id="{79CE03DB-4E43-3FC1-EF78-40359CB59104}"/>
              </a:ext>
            </a:extLst>
          </p:cNvPr>
          <p:cNvCxnSpPr>
            <a:cxnSpLocks/>
            <a:stCxn id="5" idx="3"/>
            <a:endCxn id="8" idx="1"/>
          </p:cNvCxnSpPr>
          <p:nvPr/>
        </p:nvCxnSpPr>
        <p:spPr>
          <a:xfrm>
            <a:off x="3117949" y="2265680"/>
            <a:ext cx="767080" cy="2691"/>
          </a:xfrm>
          <a:prstGeom prst="bentConnector3">
            <a:avLst>
              <a:gd name="adj1" fmla="val 50000"/>
            </a:avLst>
          </a:prstGeom>
          <a:ln w="12700">
            <a:solidFill>
              <a:schemeClr val="tx1"/>
            </a:solidFill>
            <a:headEnd type="none" w="med" len="med"/>
            <a:tailEnd type="triangle"/>
          </a:ln>
        </p:spPr>
        <p:style>
          <a:lnRef idx="1">
            <a:schemeClr val="accent3"/>
          </a:lnRef>
          <a:fillRef idx="0">
            <a:schemeClr val="accent3"/>
          </a:fillRef>
          <a:effectRef idx="0">
            <a:schemeClr val="accent3"/>
          </a:effectRef>
          <a:fontRef idx="minor">
            <a:schemeClr val="tx1"/>
          </a:fontRef>
        </p:style>
      </p:cxnSp>
      <p:cxnSp>
        <p:nvCxnSpPr>
          <p:cNvPr id="25" name="连接符: 肘形 24">
            <a:extLst>
              <a:ext uri="{FF2B5EF4-FFF2-40B4-BE49-F238E27FC236}">
                <a16:creationId xmlns:a16="http://schemas.microsoft.com/office/drawing/2014/main" id="{A7262F65-7498-DEB9-DD36-CD1531533FE3}"/>
              </a:ext>
            </a:extLst>
          </p:cNvPr>
          <p:cNvCxnSpPr>
            <a:cxnSpLocks/>
            <a:stCxn id="5" idx="2"/>
            <a:endCxn id="6" idx="0"/>
          </p:cNvCxnSpPr>
          <p:nvPr/>
        </p:nvCxnSpPr>
        <p:spPr>
          <a:xfrm rot="5400000">
            <a:off x="2206089" y="2760979"/>
            <a:ext cx="370841" cy="1"/>
          </a:xfrm>
          <a:prstGeom prst="bentConnector3">
            <a:avLst>
              <a:gd name="adj1" fmla="val 50000"/>
            </a:avLst>
          </a:prstGeom>
          <a:ln w="12700">
            <a:solidFill>
              <a:schemeClr val="tx1"/>
            </a:solidFill>
            <a:headEnd type="none" w="med" len="med"/>
            <a:tailEnd type="triangle"/>
          </a:ln>
        </p:spPr>
        <p:style>
          <a:lnRef idx="1">
            <a:schemeClr val="accent3"/>
          </a:lnRef>
          <a:fillRef idx="0">
            <a:schemeClr val="accent3"/>
          </a:fillRef>
          <a:effectRef idx="0">
            <a:schemeClr val="accent3"/>
          </a:effectRef>
          <a:fontRef idx="minor">
            <a:schemeClr val="tx1"/>
          </a:fontRef>
        </p:style>
      </p:cxnSp>
      <p:cxnSp>
        <p:nvCxnSpPr>
          <p:cNvPr id="29" name="连接符: 肘形 28">
            <a:extLst>
              <a:ext uri="{FF2B5EF4-FFF2-40B4-BE49-F238E27FC236}">
                <a16:creationId xmlns:a16="http://schemas.microsoft.com/office/drawing/2014/main" id="{7A6E6D38-3A2E-F995-3319-0AA91FCC4964}"/>
              </a:ext>
            </a:extLst>
          </p:cNvPr>
          <p:cNvCxnSpPr>
            <a:cxnSpLocks/>
            <a:stCxn id="6" idx="1"/>
            <a:endCxn id="7" idx="0"/>
          </p:cNvCxnSpPr>
          <p:nvPr/>
        </p:nvCxnSpPr>
        <p:spPr>
          <a:xfrm rot="10800000" flipV="1">
            <a:off x="1028874" y="3256279"/>
            <a:ext cx="636194" cy="724059"/>
          </a:xfrm>
          <a:prstGeom prst="bentConnector2">
            <a:avLst/>
          </a:prstGeom>
          <a:ln w="12700">
            <a:solidFill>
              <a:schemeClr val="tx1"/>
            </a:solidFill>
            <a:headEnd type="none" w="med" len="med"/>
            <a:tailEnd type="triangle"/>
          </a:ln>
        </p:spPr>
        <p:style>
          <a:lnRef idx="1">
            <a:schemeClr val="accent3"/>
          </a:lnRef>
          <a:fillRef idx="0">
            <a:schemeClr val="accent3"/>
          </a:fillRef>
          <a:effectRef idx="0">
            <a:schemeClr val="accent3"/>
          </a:effectRef>
          <a:fontRef idx="minor">
            <a:schemeClr val="tx1"/>
          </a:fontRef>
        </p:style>
      </p:cxnSp>
      <p:cxnSp>
        <p:nvCxnSpPr>
          <p:cNvPr id="32" name="连接符: 肘形 31">
            <a:extLst>
              <a:ext uri="{FF2B5EF4-FFF2-40B4-BE49-F238E27FC236}">
                <a16:creationId xmlns:a16="http://schemas.microsoft.com/office/drawing/2014/main" id="{D069D710-9F0D-1554-6A39-838246B585D0}"/>
              </a:ext>
            </a:extLst>
          </p:cNvPr>
          <p:cNvCxnSpPr>
            <a:cxnSpLocks/>
            <a:stCxn id="6" idx="3"/>
            <a:endCxn id="9" idx="0"/>
          </p:cNvCxnSpPr>
          <p:nvPr/>
        </p:nvCxnSpPr>
        <p:spPr>
          <a:xfrm>
            <a:off x="3117948" y="3256280"/>
            <a:ext cx="548641" cy="736607"/>
          </a:xfrm>
          <a:prstGeom prst="bentConnector2">
            <a:avLst/>
          </a:prstGeom>
          <a:ln w="12700">
            <a:solidFill>
              <a:schemeClr val="tx1"/>
            </a:solidFill>
            <a:headEnd type="none" w="med" len="med"/>
            <a:tailEnd type="triangle"/>
          </a:ln>
        </p:spPr>
        <p:style>
          <a:lnRef idx="1">
            <a:schemeClr val="accent3"/>
          </a:lnRef>
          <a:fillRef idx="0">
            <a:schemeClr val="accent3"/>
          </a:fillRef>
          <a:effectRef idx="0">
            <a:schemeClr val="accent3"/>
          </a:effectRef>
          <a:fontRef idx="minor">
            <a:schemeClr val="tx1"/>
          </a:fontRef>
        </p:style>
      </p:cxnSp>
      <p:cxnSp>
        <p:nvCxnSpPr>
          <p:cNvPr id="35" name="连接符: 肘形 34">
            <a:extLst>
              <a:ext uri="{FF2B5EF4-FFF2-40B4-BE49-F238E27FC236}">
                <a16:creationId xmlns:a16="http://schemas.microsoft.com/office/drawing/2014/main" id="{9DA0E4B4-38D7-7407-C3E3-6C5E46F77FFB}"/>
              </a:ext>
            </a:extLst>
          </p:cNvPr>
          <p:cNvCxnSpPr>
            <a:cxnSpLocks/>
            <a:stCxn id="9" idx="2"/>
            <a:endCxn id="11" idx="3"/>
          </p:cNvCxnSpPr>
          <p:nvPr/>
        </p:nvCxnSpPr>
        <p:spPr>
          <a:xfrm rot="5400000">
            <a:off x="3020511" y="4619840"/>
            <a:ext cx="653273" cy="638885"/>
          </a:xfrm>
          <a:prstGeom prst="bentConnector2">
            <a:avLst/>
          </a:prstGeom>
          <a:ln w="12700">
            <a:solidFill>
              <a:schemeClr val="tx1"/>
            </a:solidFill>
            <a:headEnd type="none" w="med" len="med"/>
            <a:tailEnd type="triangle"/>
          </a:ln>
        </p:spPr>
        <p:style>
          <a:lnRef idx="1">
            <a:schemeClr val="accent3"/>
          </a:lnRef>
          <a:fillRef idx="0">
            <a:schemeClr val="accent3"/>
          </a:fillRef>
          <a:effectRef idx="0">
            <a:schemeClr val="accent3"/>
          </a:effectRef>
          <a:fontRef idx="minor">
            <a:schemeClr val="tx1"/>
          </a:fontRef>
        </p:style>
      </p:cxnSp>
      <p:cxnSp>
        <p:nvCxnSpPr>
          <p:cNvPr id="38" name="连接符: 肘形 37">
            <a:extLst>
              <a:ext uri="{FF2B5EF4-FFF2-40B4-BE49-F238E27FC236}">
                <a16:creationId xmlns:a16="http://schemas.microsoft.com/office/drawing/2014/main" id="{9E9C7EF7-7542-949D-B1BD-C6A66E8969C1}"/>
              </a:ext>
            </a:extLst>
          </p:cNvPr>
          <p:cNvCxnSpPr>
            <a:cxnSpLocks/>
            <a:stCxn id="7" idx="2"/>
            <a:endCxn id="11" idx="1"/>
          </p:cNvCxnSpPr>
          <p:nvPr/>
        </p:nvCxnSpPr>
        <p:spPr>
          <a:xfrm rot="16200000" flipH="1">
            <a:off x="968939" y="4660033"/>
            <a:ext cx="665821" cy="545950"/>
          </a:xfrm>
          <a:prstGeom prst="bentConnector2">
            <a:avLst/>
          </a:prstGeom>
          <a:ln w="12700">
            <a:solidFill>
              <a:schemeClr val="tx1"/>
            </a:solidFill>
            <a:headEnd type="none" w="med" len="med"/>
            <a:tailEnd type="triangle"/>
          </a:ln>
        </p:spPr>
        <p:style>
          <a:lnRef idx="1">
            <a:schemeClr val="accent3"/>
          </a:lnRef>
          <a:fillRef idx="0">
            <a:schemeClr val="accent3"/>
          </a:fillRef>
          <a:effectRef idx="0">
            <a:schemeClr val="accent3"/>
          </a:effectRef>
          <a:fontRef idx="minor">
            <a:schemeClr val="tx1"/>
          </a:fontRef>
        </p:style>
      </p:cxnSp>
      <p:cxnSp>
        <p:nvCxnSpPr>
          <p:cNvPr id="41" name="连接符: 肘形 40">
            <a:extLst>
              <a:ext uri="{FF2B5EF4-FFF2-40B4-BE49-F238E27FC236}">
                <a16:creationId xmlns:a16="http://schemas.microsoft.com/office/drawing/2014/main" id="{FC32D1B1-7FD0-77C1-22E9-55786A4434E3}"/>
              </a:ext>
            </a:extLst>
          </p:cNvPr>
          <p:cNvCxnSpPr>
            <a:cxnSpLocks/>
            <a:stCxn id="11" idx="2"/>
            <a:endCxn id="10" idx="0"/>
          </p:cNvCxnSpPr>
          <p:nvPr/>
        </p:nvCxnSpPr>
        <p:spPr>
          <a:xfrm rot="16200000" flipH="1">
            <a:off x="2126282" y="5750780"/>
            <a:ext cx="355941" cy="5976"/>
          </a:xfrm>
          <a:prstGeom prst="bentConnector3">
            <a:avLst>
              <a:gd name="adj1" fmla="val 50000"/>
            </a:avLst>
          </a:prstGeom>
          <a:ln w="12700">
            <a:solidFill>
              <a:schemeClr val="tx1"/>
            </a:solidFill>
            <a:headEnd type="none" w="med" len="med"/>
            <a:tailEnd type="triangle"/>
          </a:ln>
        </p:spPr>
        <p:style>
          <a:lnRef idx="1">
            <a:schemeClr val="accent3"/>
          </a:lnRef>
          <a:fillRef idx="0">
            <a:schemeClr val="accent3"/>
          </a:fillRef>
          <a:effectRef idx="0">
            <a:schemeClr val="accent3"/>
          </a:effectRef>
          <a:fontRef idx="minor">
            <a:schemeClr val="tx1"/>
          </a:fontRef>
        </p:style>
      </p:cxnSp>
      <p:sp>
        <p:nvSpPr>
          <p:cNvPr id="46" name="文本框 45">
            <a:extLst>
              <a:ext uri="{FF2B5EF4-FFF2-40B4-BE49-F238E27FC236}">
                <a16:creationId xmlns:a16="http://schemas.microsoft.com/office/drawing/2014/main" id="{EF1F315D-FFA6-8C28-133E-C9CB54EF6AE1}"/>
              </a:ext>
            </a:extLst>
          </p:cNvPr>
          <p:cNvSpPr txBox="1"/>
          <p:nvPr/>
        </p:nvSpPr>
        <p:spPr>
          <a:xfrm>
            <a:off x="6221505" y="1114215"/>
            <a:ext cx="6096000" cy="646331"/>
          </a:xfrm>
          <a:prstGeom prst="rect">
            <a:avLst/>
          </a:prstGeom>
          <a:noFill/>
        </p:spPr>
        <p:txBody>
          <a:bodyPr wrap="square">
            <a:spAutoFit/>
          </a:bodyPr>
          <a:lstStyle/>
          <a:p>
            <a:pPr marL="285750" indent="-285750">
              <a:buFont typeface="Arial" panose="020B0604020202020204" pitchFamily="34" charset="0"/>
              <a:buChar char="•"/>
            </a:pPr>
            <a:r>
              <a:rPr lang="zh-CN" altLang="en-US" b="1" i="0" dirty="0">
                <a:effectLst/>
                <a:latin typeface="+mj-ea"/>
                <a:ea typeface="+mj-ea"/>
              </a:rPr>
              <a:t>越往上，越接近人类思维（声明式、抽象）</a:t>
            </a:r>
            <a:endParaRPr lang="en-US" altLang="zh-CN" b="1" i="0" dirty="0">
              <a:effectLst/>
              <a:latin typeface="+mj-ea"/>
              <a:ea typeface="+mj-ea"/>
            </a:endParaRPr>
          </a:p>
          <a:p>
            <a:pPr marL="285750" indent="-285750">
              <a:buFont typeface="Arial" panose="020B0604020202020204" pitchFamily="34" charset="0"/>
              <a:buChar char="•"/>
            </a:pPr>
            <a:r>
              <a:rPr lang="zh-CN" altLang="en-US" b="1" i="0" dirty="0">
                <a:effectLst/>
                <a:latin typeface="+mj-ea"/>
                <a:ea typeface="+mj-ea"/>
              </a:rPr>
              <a:t>越往下，越接近机器操作（命令式、具体）</a:t>
            </a:r>
            <a:endParaRPr lang="zh-CN" altLang="en-US" dirty="0">
              <a:latin typeface="+mj-ea"/>
              <a:ea typeface="+mj-ea"/>
            </a:endParaRPr>
          </a:p>
        </p:txBody>
      </p:sp>
      <p:grpSp>
        <p:nvGrpSpPr>
          <p:cNvPr id="77" name="组合 76">
            <a:extLst>
              <a:ext uri="{FF2B5EF4-FFF2-40B4-BE49-F238E27FC236}">
                <a16:creationId xmlns:a16="http://schemas.microsoft.com/office/drawing/2014/main" id="{A4AEB08F-43D6-511C-90D0-91F8377502CF}"/>
              </a:ext>
            </a:extLst>
          </p:cNvPr>
          <p:cNvGrpSpPr>
            <a:grpSpLocks noChangeAspect="1"/>
          </p:cNvGrpSpPr>
          <p:nvPr>
            <p:custDataLst>
              <p:tags r:id="rId1"/>
            </p:custDataLst>
          </p:nvPr>
        </p:nvGrpSpPr>
        <p:grpSpPr>
          <a:xfrm>
            <a:off x="5366203" y="1954669"/>
            <a:ext cx="6818730" cy="4784889"/>
            <a:chOff x="-1566501" y="1255551"/>
            <a:chExt cx="16027029" cy="5374477"/>
          </a:xfrm>
        </p:grpSpPr>
        <p:grpSp>
          <p:nvGrpSpPr>
            <p:cNvPr id="78" name="组合 77">
              <a:extLst>
                <a:ext uri="{FF2B5EF4-FFF2-40B4-BE49-F238E27FC236}">
                  <a16:creationId xmlns:a16="http://schemas.microsoft.com/office/drawing/2014/main" id="{C7A6AEFD-1236-EF40-C962-62028F7F416E}"/>
                </a:ext>
              </a:extLst>
            </p:cNvPr>
            <p:cNvGrpSpPr/>
            <p:nvPr/>
          </p:nvGrpSpPr>
          <p:grpSpPr>
            <a:xfrm>
              <a:off x="2826065" y="2404423"/>
              <a:ext cx="7480046" cy="3379172"/>
              <a:chOff x="2826065" y="2404423"/>
              <a:chExt cx="7480046" cy="3379172"/>
            </a:xfrm>
          </p:grpSpPr>
          <p:sp>
            <p:nvSpPr>
              <p:cNvPr id="109" name="0">
                <a:extLst>
                  <a:ext uri="{FF2B5EF4-FFF2-40B4-BE49-F238E27FC236}">
                    <a16:creationId xmlns:a16="http://schemas.microsoft.com/office/drawing/2014/main" id="{A53AECE1-88BA-2913-A4D6-71DA02D87057}"/>
                  </a:ext>
                </a:extLst>
              </p:cNvPr>
              <p:cNvSpPr/>
              <p:nvPr/>
            </p:nvSpPr>
            <p:spPr>
              <a:xfrm rot="20529339">
                <a:off x="8392616" y="5368507"/>
                <a:ext cx="936745" cy="353782"/>
              </a:xfrm>
              <a:prstGeom prst="triangle">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latin typeface="+mj-ea"/>
                  <a:ea typeface="+mj-ea"/>
                </a:endParaRPr>
              </a:p>
            </p:txBody>
          </p:sp>
          <p:sp>
            <p:nvSpPr>
              <p:cNvPr id="110" name="0">
                <a:extLst>
                  <a:ext uri="{FF2B5EF4-FFF2-40B4-BE49-F238E27FC236}">
                    <a16:creationId xmlns:a16="http://schemas.microsoft.com/office/drawing/2014/main" id="{5BD6670E-6260-7950-E92B-9800EB892C13}"/>
                  </a:ext>
                </a:extLst>
              </p:cNvPr>
              <p:cNvSpPr/>
              <p:nvPr/>
            </p:nvSpPr>
            <p:spPr>
              <a:xfrm>
                <a:off x="3161842" y="2409779"/>
                <a:ext cx="5251228" cy="3101779"/>
              </a:xfrm>
              <a:custGeom>
                <a:avLst/>
                <a:gdLst>
                  <a:gd name="connsiteX0" fmla="*/ 9376 w 9376"/>
                  <a:gd name="connsiteY0" fmla="*/ 5058 h 5058"/>
                  <a:gd name="connsiteX1" fmla="*/ 1501 w 9376"/>
                  <a:gd name="connsiteY1" fmla="*/ 3039 h 5058"/>
                  <a:gd name="connsiteX2" fmla="*/ 6397 w 9376"/>
                  <a:gd name="connsiteY2" fmla="*/ 1107 h 5058"/>
                  <a:gd name="connsiteX3" fmla="*/ 0 w 9376"/>
                  <a:gd name="connsiteY3" fmla="*/ 0 h 5058"/>
                  <a:gd name="connsiteX0" fmla="*/ 10000 w 10000"/>
                  <a:gd name="connsiteY0" fmla="*/ 10000 h 10000"/>
                  <a:gd name="connsiteX1" fmla="*/ 1601 w 10000"/>
                  <a:gd name="connsiteY1" fmla="*/ 6008 h 10000"/>
                  <a:gd name="connsiteX2" fmla="*/ 6823 w 10000"/>
                  <a:gd name="connsiteY2" fmla="*/ 2189 h 10000"/>
                  <a:gd name="connsiteX3" fmla="*/ 0 w 10000"/>
                  <a:gd name="connsiteY3" fmla="*/ 0 h 10000"/>
                  <a:gd name="connsiteX0" fmla="*/ 10000 w 10000"/>
                  <a:gd name="connsiteY0" fmla="*/ 10000 h 10000"/>
                  <a:gd name="connsiteX1" fmla="*/ 1601 w 10000"/>
                  <a:gd name="connsiteY1" fmla="*/ 6008 h 10000"/>
                  <a:gd name="connsiteX2" fmla="*/ 6823 w 10000"/>
                  <a:gd name="connsiteY2" fmla="*/ 2189 h 10000"/>
                  <a:gd name="connsiteX3" fmla="*/ 0 w 10000"/>
                  <a:gd name="connsiteY3" fmla="*/ 0 h 10000"/>
                  <a:gd name="connsiteX0" fmla="*/ 10000 w 10000"/>
                  <a:gd name="connsiteY0" fmla="*/ 10000 h 10000"/>
                  <a:gd name="connsiteX1" fmla="*/ 1601 w 10000"/>
                  <a:gd name="connsiteY1" fmla="*/ 6008 h 10000"/>
                  <a:gd name="connsiteX2" fmla="*/ 6823 w 10000"/>
                  <a:gd name="connsiteY2" fmla="*/ 2189 h 10000"/>
                  <a:gd name="connsiteX3" fmla="*/ 0 w 10000"/>
                  <a:gd name="connsiteY3" fmla="*/ 0 h 10000"/>
                  <a:gd name="connsiteX0" fmla="*/ 10000 w 10000"/>
                  <a:gd name="connsiteY0" fmla="*/ 10000 h 10000"/>
                  <a:gd name="connsiteX1" fmla="*/ 1601 w 10000"/>
                  <a:gd name="connsiteY1" fmla="*/ 6008 h 10000"/>
                  <a:gd name="connsiteX2" fmla="*/ 6823 w 10000"/>
                  <a:gd name="connsiteY2" fmla="*/ 2189 h 10000"/>
                  <a:gd name="connsiteX3" fmla="*/ 0 w 10000"/>
                  <a:gd name="connsiteY3" fmla="*/ 0 h 10000"/>
                  <a:gd name="connsiteX0" fmla="*/ 10000 w 10000"/>
                  <a:gd name="connsiteY0" fmla="*/ 10000 h 10000"/>
                  <a:gd name="connsiteX1" fmla="*/ 1601 w 10000"/>
                  <a:gd name="connsiteY1" fmla="*/ 6008 h 10000"/>
                  <a:gd name="connsiteX2" fmla="*/ 6823 w 10000"/>
                  <a:gd name="connsiteY2" fmla="*/ 2189 h 10000"/>
                  <a:gd name="connsiteX3" fmla="*/ 0 w 10000"/>
                  <a:gd name="connsiteY3" fmla="*/ 0 h 10000"/>
                </a:gdLst>
                <a:ahLst/>
                <a:cxnLst>
                  <a:cxn ang="0">
                    <a:pos x="connsiteX0" y="connsiteY0"/>
                  </a:cxn>
                  <a:cxn ang="0">
                    <a:pos x="connsiteX1" y="connsiteY1"/>
                  </a:cxn>
                  <a:cxn ang="0">
                    <a:pos x="connsiteX2" y="connsiteY2"/>
                  </a:cxn>
                  <a:cxn ang="0">
                    <a:pos x="connsiteX3" y="connsiteY3"/>
                  </a:cxn>
                </a:cxnLst>
                <a:rect l="l" t="t" r="r" b="b"/>
                <a:pathLst>
                  <a:path w="10000" h="10000">
                    <a:moveTo>
                      <a:pt x="10000" y="10000"/>
                    </a:moveTo>
                    <a:cubicBezTo>
                      <a:pt x="5754" y="9253"/>
                      <a:pt x="1649" y="8074"/>
                      <a:pt x="1601" y="6008"/>
                    </a:cubicBezTo>
                    <a:cubicBezTo>
                      <a:pt x="1553" y="3942"/>
                      <a:pt x="6861" y="4008"/>
                      <a:pt x="6823" y="2189"/>
                    </a:cubicBezTo>
                    <a:cubicBezTo>
                      <a:pt x="6784" y="370"/>
                      <a:pt x="1898" y="1518"/>
                      <a:pt x="0" y="0"/>
                    </a:cubicBezTo>
                  </a:path>
                </a:pathLst>
              </a:custGeom>
              <a:noFill/>
              <a:ln w="279400" cap="rnd">
                <a:solidFill>
                  <a:schemeClr val="accent1">
                    <a:lumMod val="20000"/>
                    <a:lumOff val="80000"/>
                  </a:schemeClr>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sz="1050">
                  <a:latin typeface="+mj-ea"/>
                  <a:ea typeface="+mj-ea"/>
                </a:endParaRPr>
              </a:p>
            </p:txBody>
          </p:sp>
          <p:sp>
            <p:nvSpPr>
              <p:cNvPr id="111" name="0">
                <a:extLst>
                  <a:ext uri="{FF2B5EF4-FFF2-40B4-BE49-F238E27FC236}">
                    <a16:creationId xmlns:a16="http://schemas.microsoft.com/office/drawing/2014/main" id="{9375F6B2-6A48-E0F0-14A0-83E46A85ACC2}"/>
                  </a:ext>
                </a:extLst>
              </p:cNvPr>
              <p:cNvSpPr/>
              <p:nvPr/>
            </p:nvSpPr>
            <p:spPr>
              <a:xfrm>
                <a:off x="3508331" y="2923217"/>
                <a:ext cx="3270670" cy="441813"/>
              </a:xfrm>
              <a:prstGeom prst="ellipse">
                <a:avLst/>
              </a:prstGeom>
              <a:noFill/>
              <a:ln>
                <a:gradFill flip="none" rotWithShape="1">
                  <a:gsLst>
                    <a:gs pos="0">
                      <a:schemeClr val="accent1">
                        <a:lumMod val="60000"/>
                        <a:lumOff val="40000"/>
                        <a:alpha val="45000"/>
                      </a:schemeClr>
                    </a:gs>
                    <a:gs pos="38000">
                      <a:schemeClr val="accent1">
                        <a:lumMod val="60000"/>
                        <a:lumOff val="40000"/>
                        <a:alpha val="0"/>
                      </a:schemeClr>
                    </a:gs>
                  </a:gsLst>
                  <a:lin ang="10800000" scaled="1"/>
                  <a:tileRect/>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latin typeface="+mj-ea"/>
                  <a:ea typeface="+mj-ea"/>
                </a:endParaRPr>
              </a:p>
            </p:txBody>
          </p:sp>
          <p:sp>
            <p:nvSpPr>
              <p:cNvPr id="112" name="0">
                <a:extLst>
                  <a:ext uri="{FF2B5EF4-FFF2-40B4-BE49-F238E27FC236}">
                    <a16:creationId xmlns:a16="http://schemas.microsoft.com/office/drawing/2014/main" id="{42BE16AE-85C7-A01E-6194-7F6A2A3ADC87}"/>
                  </a:ext>
                </a:extLst>
              </p:cNvPr>
              <p:cNvSpPr/>
              <p:nvPr/>
            </p:nvSpPr>
            <p:spPr>
              <a:xfrm flipH="1">
                <a:off x="4463293" y="3949921"/>
                <a:ext cx="3606878" cy="838374"/>
              </a:xfrm>
              <a:prstGeom prst="ellipse">
                <a:avLst/>
              </a:prstGeom>
              <a:noFill/>
              <a:ln>
                <a:gradFill flip="none" rotWithShape="1">
                  <a:gsLst>
                    <a:gs pos="0">
                      <a:schemeClr val="accent1">
                        <a:lumMod val="60000"/>
                        <a:lumOff val="40000"/>
                        <a:alpha val="45000"/>
                      </a:schemeClr>
                    </a:gs>
                    <a:gs pos="31000">
                      <a:schemeClr val="accent1">
                        <a:lumMod val="60000"/>
                        <a:lumOff val="40000"/>
                        <a:alpha val="0"/>
                      </a:schemeClr>
                    </a:gs>
                  </a:gsLst>
                  <a:lin ang="10800000" scaled="1"/>
                  <a:tileRect/>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latin typeface="+mj-ea"/>
                  <a:ea typeface="+mj-ea"/>
                </a:endParaRPr>
              </a:p>
            </p:txBody>
          </p:sp>
          <p:sp>
            <p:nvSpPr>
              <p:cNvPr id="113" name="0">
                <a:extLst>
                  <a:ext uri="{FF2B5EF4-FFF2-40B4-BE49-F238E27FC236}">
                    <a16:creationId xmlns:a16="http://schemas.microsoft.com/office/drawing/2014/main" id="{04FE98C4-D1AC-73EB-C345-B7C970072EA1}"/>
                  </a:ext>
                </a:extLst>
              </p:cNvPr>
              <p:cNvSpPr/>
              <p:nvPr/>
            </p:nvSpPr>
            <p:spPr>
              <a:xfrm rot="319249" flipH="1" flipV="1">
                <a:off x="5912014" y="5440784"/>
                <a:ext cx="4394097" cy="342811"/>
              </a:xfrm>
              <a:prstGeom prst="arc">
                <a:avLst>
                  <a:gd name="adj1" fmla="val 11796187"/>
                  <a:gd name="adj2" fmla="val 21475629"/>
                </a:avLst>
              </a:prstGeom>
              <a:noFill/>
              <a:ln>
                <a:gradFill flip="none" rotWithShape="1">
                  <a:gsLst>
                    <a:gs pos="0">
                      <a:schemeClr val="accent1">
                        <a:lumMod val="60000"/>
                        <a:lumOff val="40000"/>
                        <a:alpha val="34000"/>
                      </a:schemeClr>
                    </a:gs>
                    <a:gs pos="69000">
                      <a:schemeClr val="accent1">
                        <a:lumMod val="60000"/>
                        <a:lumOff val="40000"/>
                        <a:alpha val="0"/>
                      </a:schemeClr>
                    </a:gs>
                  </a:gsLst>
                  <a:lin ang="5400000" scaled="1"/>
                  <a:tileRect/>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solidFill>
                    <a:schemeClr val="lt1"/>
                  </a:solidFill>
                  <a:latin typeface="+mj-ea"/>
                  <a:ea typeface="+mj-ea"/>
                </a:endParaRPr>
              </a:p>
            </p:txBody>
          </p:sp>
          <p:sp>
            <p:nvSpPr>
              <p:cNvPr id="114" name="0">
                <a:extLst>
                  <a:ext uri="{FF2B5EF4-FFF2-40B4-BE49-F238E27FC236}">
                    <a16:creationId xmlns:a16="http://schemas.microsoft.com/office/drawing/2014/main" id="{93111CAC-EED1-61EE-52DD-19DAA427A5E1}"/>
                  </a:ext>
                </a:extLst>
              </p:cNvPr>
              <p:cNvSpPr/>
              <p:nvPr/>
            </p:nvSpPr>
            <p:spPr>
              <a:xfrm rot="522230" flipV="1">
                <a:off x="2826065" y="2503830"/>
                <a:ext cx="1718450" cy="342811"/>
              </a:xfrm>
              <a:prstGeom prst="arc">
                <a:avLst>
                  <a:gd name="adj1" fmla="val 11796187"/>
                  <a:gd name="adj2" fmla="val 21475629"/>
                </a:avLst>
              </a:prstGeom>
              <a:noFill/>
              <a:ln>
                <a:gradFill flip="none" rotWithShape="1">
                  <a:gsLst>
                    <a:gs pos="0">
                      <a:schemeClr val="accent1">
                        <a:lumMod val="60000"/>
                        <a:lumOff val="40000"/>
                        <a:alpha val="45000"/>
                      </a:schemeClr>
                    </a:gs>
                    <a:gs pos="69000">
                      <a:schemeClr val="accent1">
                        <a:lumMod val="60000"/>
                        <a:lumOff val="40000"/>
                        <a:alpha val="0"/>
                      </a:schemeClr>
                    </a:gs>
                  </a:gsLst>
                  <a:lin ang="5400000" scaled="1"/>
                  <a:tileRect/>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solidFill>
                    <a:schemeClr val="lt1"/>
                  </a:solidFill>
                  <a:latin typeface="+mj-ea"/>
                  <a:ea typeface="+mj-ea"/>
                </a:endParaRPr>
              </a:p>
            </p:txBody>
          </p:sp>
          <p:sp>
            <p:nvSpPr>
              <p:cNvPr id="115" name="0">
                <a:extLst>
                  <a:ext uri="{FF2B5EF4-FFF2-40B4-BE49-F238E27FC236}">
                    <a16:creationId xmlns:a16="http://schemas.microsoft.com/office/drawing/2014/main" id="{4A702312-3E5A-7316-0380-CC534351BAC5}"/>
                  </a:ext>
                </a:extLst>
              </p:cNvPr>
              <p:cNvSpPr/>
              <p:nvPr/>
            </p:nvSpPr>
            <p:spPr>
              <a:xfrm>
                <a:off x="3174720" y="2404423"/>
                <a:ext cx="5953760" cy="3211830"/>
              </a:xfrm>
              <a:custGeom>
                <a:avLst/>
                <a:gdLst>
                  <a:gd name="connsiteX0" fmla="*/ 9376 w 9376"/>
                  <a:gd name="connsiteY0" fmla="*/ 5058 h 5058"/>
                  <a:gd name="connsiteX1" fmla="*/ 1501 w 9376"/>
                  <a:gd name="connsiteY1" fmla="*/ 3039 h 5058"/>
                  <a:gd name="connsiteX2" fmla="*/ 6397 w 9376"/>
                  <a:gd name="connsiteY2" fmla="*/ 1107 h 5058"/>
                  <a:gd name="connsiteX3" fmla="*/ 0 w 9376"/>
                  <a:gd name="connsiteY3" fmla="*/ 0 h 5058"/>
                  <a:gd name="connsiteX0" fmla="*/ 10000 w 10000"/>
                  <a:gd name="connsiteY0" fmla="*/ 10000 h 10000"/>
                  <a:gd name="connsiteX1" fmla="*/ 1601 w 10000"/>
                  <a:gd name="connsiteY1" fmla="*/ 6008 h 10000"/>
                  <a:gd name="connsiteX2" fmla="*/ 6823 w 10000"/>
                  <a:gd name="connsiteY2" fmla="*/ 2189 h 10000"/>
                  <a:gd name="connsiteX3" fmla="*/ 0 w 10000"/>
                  <a:gd name="connsiteY3" fmla="*/ 0 h 10000"/>
                  <a:gd name="connsiteX0" fmla="*/ 10000 w 10000"/>
                  <a:gd name="connsiteY0" fmla="*/ 10000 h 10000"/>
                  <a:gd name="connsiteX1" fmla="*/ 1601 w 10000"/>
                  <a:gd name="connsiteY1" fmla="*/ 6008 h 10000"/>
                  <a:gd name="connsiteX2" fmla="*/ 6823 w 10000"/>
                  <a:gd name="connsiteY2" fmla="*/ 2189 h 10000"/>
                  <a:gd name="connsiteX3" fmla="*/ 0 w 10000"/>
                  <a:gd name="connsiteY3" fmla="*/ 0 h 10000"/>
                  <a:gd name="connsiteX0" fmla="*/ 10000 w 10000"/>
                  <a:gd name="connsiteY0" fmla="*/ 10000 h 10000"/>
                  <a:gd name="connsiteX1" fmla="*/ 1601 w 10000"/>
                  <a:gd name="connsiteY1" fmla="*/ 6008 h 10000"/>
                  <a:gd name="connsiteX2" fmla="*/ 6823 w 10000"/>
                  <a:gd name="connsiteY2" fmla="*/ 2189 h 10000"/>
                  <a:gd name="connsiteX3" fmla="*/ 0 w 10000"/>
                  <a:gd name="connsiteY3" fmla="*/ 0 h 10000"/>
                  <a:gd name="connsiteX0" fmla="*/ 10000 w 10000"/>
                  <a:gd name="connsiteY0" fmla="*/ 10000 h 10000"/>
                  <a:gd name="connsiteX1" fmla="*/ 1601 w 10000"/>
                  <a:gd name="connsiteY1" fmla="*/ 6008 h 10000"/>
                  <a:gd name="connsiteX2" fmla="*/ 6823 w 10000"/>
                  <a:gd name="connsiteY2" fmla="*/ 2189 h 10000"/>
                  <a:gd name="connsiteX3" fmla="*/ 0 w 10000"/>
                  <a:gd name="connsiteY3" fmla="*/ 0 h 10000"/>
                  <a:gd name="connsiteX0" fmla="*/ 10000 w 10000"/>
                  <a:gd name="connsiteY0" fmla="*/ 10000 h 10000"/>
                  <a:gd name="connsiteX1" fmla="*/ 1601 w 10000"/>
                  <a:gd name="connsiteY1" fmla="*/ 6008 h 10000"/>
                  <a:gd name="connsiteX2" fmla="*/ 6823 w 10000"/>
                  <a:gd name="connsiteY2" fmla="*/ 2189 h 10000"/>
                  <a:gd name="connsiteX3" fmla="*/ 0 w 10000"/>
                  <a:gd name="connsiteY3" fmla="*/ 0 h 10000"/>
                </a:gdLst>
                <a:ahLst/>
                <a:cxnLst>
                  <a:cxn ang="0">
                    <a:pos x="connsiteX0" y="connsiteY0"/>
                  </a:cxn>
                  <a:cxn ang="0">
                    <a:pos x="connsiteX1" y="connsiteY1"/>
                  </a:cxn>
                  <a:cxn ang="0">
                    <a:pos x="connsiteX2" y="connsiteY2"/>
                  </a:cxn>
                  <a:cxn ang="0">
                    <a:pos x="connsiteX3" y="connsiteY3"/>
                  </a:cxn>
                </a:cxnLst>
                <a:rect l="l" t="t" r="r" b="b"/>
                <a:pathLst>
                  <a:path w="10000" h="10000">
                    <a:moveTo>
                      <a:pt x="10000" y="10000"/>
                    </a:moveTo>
                    <a:cubicBezTo>
                      <a:pt x="5754" y="9253"/>
                      <a:pt x="1649" y="8074"/>
                      <a:pt x="1601" y="6008"/>
                    </a:cubicBezTo>
                    <a:cubicBezTo>
                      <a:pt x="1553" y="3942"/>
                      <a:pt x="6861" y="4008"/>
                      <a:pt x="6823" y="2189"/>
                    </a:cubicBezTo>
                    <a:cubicBezTo>
                      <a:pt x="6784" y="370"/>
                      <a:pt x="1898" y="1518"/>
                      <a:pt x="0" y="0"/>
                    </a:cubicBezTo>
                  </a:path>
                </a:pathLst>
              </a:custGeom>
              <a:noFill/>
              <a:ln w="25400" cap="rnd">
                <a:solidFill>
                  <a:schemeClr val="bg1"/>
                </a:solidFill>
                <a:prstDash val="lgDash"/>
              </a:ln>
            </p:spPr>
            <p:style>
              <a:lnRef idx="2">
                <a:schemeClr val="accent1">
                  <a:lumMod val="75000"/>
                </a:schemeClr>
              </a:lnRef>
              <a:fillRef idx="1">
                <a:schemeClr val="accent1"/>
              </a:fillRef>
              <a:effectRef idx="0">
                <a:srgbClr val="FFFFFF"/>
              </a:effectRef>
              <a:fontRef idx="minor">
                <a:schemeClr val="lt1"/>
              </a:fontRef>
            </p:style>
            <p:txBody>
              <a:bodyPr rtlCol="0" anchor="ct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sz="1050">
                  <a:latin typeface="+mj-ea"/>
                  <a:ea typeface="+mj-ea"/>
                </a:endParaRPr>
              </a:p>
            </p:txBody>
          </p:sp>
        </p:grpSp>
        <p:grpSp>
          <p:nvGrpSpPr>
            <p:cNvPr id="79" name="组合 78">
              <a:extLst>
                <a:ext uri="{FF2B5EF4-FFF2-40B4-BE49-F238E27FC236}">
                  <a16:creationId xmlns:a16="http://schemas.microsoft.com/office/drawing/2014/main" id="{6F60DBDD-3319-FEC2-74FB-E4A32FFBA375}"/>
                </a:ext>
              </a:extLst>
            </p:cNvPr>
            <p:cNvGrpSpPr/>
            <p:nvPr/>
          </p:nvGrpSpPr>
          <p:grpSpPr>
            <a:xfrm>
              <a:off x="-139542" y="1255551"/>
              <a:ext cx="3524107" cy="1098218"/>
              <a:chOff x="-44298" y="1255551"/>
              <a:chExt cx="3524107" cy="1098218"/>
            </a:xfrm>
          </p:grpSpPr>
          <p:sp>
            <p:nvSpPr>
              <p:cNvPr id="104" name="1">
                <a:extLst>
                  <a:ext uri="{FF2B5EF4-FFF2-40B4-BE49-F238E27FC236}">
                    <a16:creationId xmlns:a16="http://schemas.microsoft.com/office/drawing/2014/main" id="{48D8AC43-F288-9AF2-5299-6F75A9286441}"/>
                  </a:ext>
                </a:extLst>
              </p:cNvPr>
              <p:cNvSpPr/>
              <p:nvPr/>
            </p:nvSpPr>
            <p:spPr>
              <a:xfrm>
                <a:off x="3058934" y="1844775"/>
                <a:ext cx="282676" cy="282676"/>
              </a:xfrm>
              <a:prstGeom prst="ellipse">
                <a:avLst/>
              </a:prstGeom>
              <a:noFill/>
              <a:ln w="2222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latin typeface="+mj-ea"/>
                  <a:ea typeface="+mj-ea"/>
                </a:endParaRPr>
              </a:p>
            </p:txBody>
          </p:sp>
          <p:sp>
            <p:nvSpPr>
              <p:cNvPr id="105" name="1">
                <a:extLst>
                  <a:ext uri="{FF2B5EF4-FFF2-40B4-BE49-F238E27FC236}">
                    <a16:creationId xmlns:a16="http://schemas.microsoft.com/office/drawing/2014/main" id="{AFA95BC0-0AAD-4B09-F2FB-A063391CDD11}"/>
                  </a:ext>
                </a:extLst>
              </p:cNvPr>
              <p:cNvSpPr/>
              <p:nvPr/>
            </p:nvSpPr>
            <p:spPr>
              <a:xfrm>
                <a:off x="3118000" y="1903489"/>
                <a:ext cx="165249" cy="165249"/>
              </a:xfrm>
              <a:prstGeom prst="ellipse">
                <a:avLst/>
              </a:prstGeom>
              <a:solidFill>
                <a:schemeClr val="accent1">
                  <a:lumMod val="20000"/>
                  <a:lumOff val="80000"/>
                </a:schemeClr>
              </a:solidFill>
              <a:ln w="222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latin typeface="+mj-ea"/>
                  <a:ea typeface="+mj-ea"/>
                </a:endParaRPr>
              </a:p>
            </p:txBody>
          </p:sp>
          <p:pic>
            <p:nvPicPr>
              <p:cNvPr id="106" name="1" descr="定位">
                <a:extLst>
                  <a:ext uri="{FF2B5EF4-FFF2-40B4-BE49-F238E27FC236}">
                    <a16:creationId xmlns:a16="http://schemas.microsoft.com/office/drawing/2014/main" id="{4AAD5824-AB21-A911-A4EA-26C403C071E4}"/>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2921255" y="1795215"/>
                <a:ext cx="558554" cy="558554"/>
              </a:xfrm>
              <a:prstGeom prst="rect">
                <a:avLst/>
              </a:prstGeom>
              <a:effectLst>
                <a:outerShdw blurRad="50800" dir="5400000" sx="90000" sy="-19000" rotWithShape="0">
                  <a:prstClr val="black">
                    <a:alpha val="61000"/>
                  </a:prstClr>
                </a:outerShdw>
              </a:effectLst>
            </p:spPr>
          </p:pic>
          <p:sp>
            <p:nvSpPr>
              <p:cNvPr id="107" name="Title-1">
                <a:extLst>
                  <a:ext uri="{FF2B5EF4-FFF2-40B4-BE49-F238E27FC236}">
                    <a16:creationId xmlns:a16="http://schemas.microsoft.com/office/drawing/2014/main" id="{1BA17161-4B35-E7B0-0D0C-EA72F180CB50}"/>
                  </a:ext>
                </a:extLst>
              </p:cNvPr>
              <p:cNvSpPr txBox="1"/>
              <p:nvPr>
                <p:custDataLst>
                  <p:tags r:id="rId10"/>
                </p:custDataLst>
              </p:nvPr>
            </p:nvSpPr>
            <p:spPr>
              <a:xfrm>
                <a:off x="434877" y="1255551"/>
                <a:ext cx="2848371" cy="285203"/>
              </a:xfrm>
              <a:prstGeom prst="rect">
                <a:avLst/>
              </a:prstGeom>
              <a:noFill/>
            </p:spPr>
            <p:txBody>
              <a:bodyPr wrap="square" rtlCol="0">
                <a:spAutoFit/>
              </a:bodyPr>
              <a:lstStyle/>
              <a:p>
                <a:pPr algn="r"/>
                <a:r>
                  <a:rPr lang="zh-CN" altLang="en-US" sz="1050" b="1" dirty="0">
                    <a:solidFill>
                      <a:schemeClr val="accent1"/>
                    </a:solidFill>
                    <a:latin typeface="+mj-ea"/>
                    <a:ea typeface="+mj-ea"/>
                  </a:rPr>
                  <a:t>声明意图（</a:t>
                </a:r>
                <a:r>
                  <a:rPr lang="en-US" altLang="zh-CN" sz="1050" b="1" dirty="0">
                    <a:solidFill>
                      <a:schemeClr val="accent1"/>
                    </a:solidFill>
                    <a:latin typeface="+mj-ea"/>
                    <a:ea typeface="+mj-ea"/>
                  </a:rPr>
                  <a:t>SQL</a:t>
                </a:r>
                <a:r>
                  <a:rPr lang="zh-CN" altLang="en-US" sz="1050" b="1" dirty="0">
                    <a:solidFill>
                      <a:schemeClr val="accent1"/>
                    </a:solidFill>
                    <a:latin typeface="+mj-ea"/>
                    <a:ea typeface="+mj-ea"/>
                  </a:rPr>
                  <a:t>）</a:t>
                </a:r>
              </a:p>
            </p:txBody>
          </p:sp>
          <p:sp>
            <p:nvSpPr>
              <p:cNvPr id="108" name="Body-1">
                <a:extLst>
                  <a:ext uri="{FF2B5EF4-FFF2-40B4-BE49-F238E27FC236}">
                    <a16:creationId xmlns:a16="http://schemas.microsoft.com/office/drawing/2014/main" id="{BEB7C730-991D-D326-F042-DE0DA61D3857}"/>
                  </a:ext>
                </a:extLst>
              </p:cNvPr>
              <p:cNvSpPr txBox="1"/>
              <p:nvPr>
                <p:custDataLst>
                  <p:tags r:id="rId11"/>
                </p:custDataLst>
              </p:nvPr>
            </p:nvSpPr>
            <p:spPr>
              <a:xfrm>
                <a:off x="-44298" y="1581574"/>
                <a:ext cx="2848371" cy="690681"/>
              </a:xfrm>
              <a:prstGeom prst="rect">
                <a:avLst/>
              </a:prstGeom>
              <a:noFill/>
            </p:spPr>
            <p:txBody>
              <a:bodyPr wrap="square" rtlCol="0">
                <a:spAutoFit/>
              </a:bodyPr>
              <a:lstStyle/>
              <a:p>
                <a:pPr>
                  <a:lnSpc>
                    <a:spcPct val="130000"/>
                  </a:lnSpc>
                </a:pPr>
                <a:r>
                  <a:rPr lang="zh-CN" altLang="en-US" sz="900" dirty="0">
                    <a:solidFill>
                      <a:schemeClr val="tx1">
                        <a:lumMod val="75000"/>
                        <a:lumOff val="25000"/>
                      </a:schemeClr>
                    </a:solidFill>
                    <a:latin typeface="+mj-ea"/>
                    <a:ea typeface="+mj-ea"/>
                  </a:rPr>
                  <a:t>你在应用程序中提交一条</a:t>
                </a:r>
                <a:r>
                  <a:rPr lang="en-US" altLang="zh-CN" sz="900" dirty="0">
                    <a:solidFill>
                      <a:schemeClr val="tx1">
                        <a:lumMod val="75000"/>
                        <a:lumOff val="25000"/>
                      </a:schemeClr>
                    </a:solidFill>
                    <a:latin typeface="+mj-ea"/>
                    <a:ea typeface="+mj-ea"/>
                  </a:rPr>
                  <a:t>SQL</a:t>
                </a:r>
                <a:r>
                  <a:rPr lang="zh-CN" altLang="en-US" sz="900" dirty="0">
                    <a:solidFill>
                      <a:schemeClr val="tx1">
                        <a:lumMod val="75000"/>
                        <a:lumOff val="25000"/>
                      </a:schemeClr>
                    </a:solidFill>
                    <a:latin typeface="+mj-ea"/>
                    <a:ea typeface="+mj-ea"/>
                  </a:rPr>
                  <a:t>语句，描述你的数据需求。</a:t>
                </a:r>
                <a:endParaRPr lang="en-US" altLang="zh-CN" sz="900" dirty="0">
                  <a:solidFill>
                    <a:schemeClr val="tx1">
                      <a:lumMod val="75000"/>
                      <a:lumOff val="25000"/>
                    </a:schemeClr>
                  </a:solidFill>
                  <a:latin typeface="+mj-ea"/>
                  <a:ea typeface="+mj-ea"/>
                </a:endParaRPr>
              </a:p>
            </p:txBody>
          </p:sp>
        </p:grpSp>
        <p:grpSp>
          <p:nvGrpSpPr>
            <p:cNvPr id="80" name="组合 79">
              <a:extLst>
                <a:ext uri="{FF2B5EF4-FFF2-40B4-BE49-F238E27FC236}">
                  <a16:creationId xmlns:a16="http://schemas.microsoft.com/office/drawing/2014/main" id="{8B854FDC-D5C4-8179-AC54-8041693C9244}"/>
                </a:ext>
              </a:extLst>
            </p:cNvPr>
            <p:cNvGrpSpPr/>
            <p:nvPr/>
          </p:nvGrpSpPr>
          <p:grpSpPr>
            <a:xfrm>
              <a:off x="6018679" y="1562952"/>
              <a:ext cx="4460865" cy="1198210"/>
              <a:chOff x="6113923" y="1562952"/>
              <a:chExt cx="4460865" cy="1198210"/>
            </a:xfrm>
          </p:grpSpPr>
          <p:sp>
            <p:nvSpPr>
              <p:cNvPr id="99" name="2">
                <a:extLst>
                  <a:ext uri="{FF2B5EF4-FFF2-40B4-BE49-F238E27FC236}">
                    <a16:creationId xmlns:a16="http://schemas.microsoft.com/office/drawing/2014/main" id="{7AF8EF02-2020-C364-B6AB-11FD9DF89397}"/>
                  </a:ext>
                </a:extLst>
              </p:cNvPr>
              <p:cNvSpPr/>
              <p:nvPr/>
            </p:nvSpPr>
            <p:spPr>
              <a:xfrm>
                <a:off x="6251602" y="2252168"/>
                <a:ext cx="282676" cy="282676"/>
              </a:xfrm>
              <a:prstGeom prst="ellipse">
                <a:avLst/>
              </a:prstGeom>
              <a:noFill/>
              <a:ln w="2222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latin typeface="+mj-ea"/>
                  <a:ea typeface="+mj-ea"/>
                </a:endParaRPr>
              </a:p>
            </p:txBody>
          </p:sp>
          <p:sp>
            <p:nvSpPr>
              <p:cNvPr id="100" name="2">
                <a:extLst>
                  <a:ext uri="{FF2B5EF4-FFF2-40B4-BE49-F238E27FC236}">
                    <a16:creationId xmlns:a16="http://schemas.microsoft.com/office/drawing/2014/main" id="{5E756FD5-E7EC-3B0E-A494-569F9E5B0424}"/>
                  </a:ext>
                </a:extLst>
              </p:cNvPr>
              <p:cNvSpPr/>
              <p:nvPr/>
            </p:nvSpPr>
            <p:spPr>
              <a:xfrm>
                <a:off x="6310668" y="2310882"/>
                <a:ext cx="165249" cy="165249"/>
              </a:xfrm>
              <a:prstGeom prst="ellipse">
                <a:avLst/>
              </a:prstGeom>
              <a:solidFill>
                <a:schemeClr val="accent4">
                  <a:lumMod val="40000"/>
                  <a:lumOff val="60000"/>
                </a:schemeClr>
              </a:solidFill>
              <a:ln w="222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latin typeface="+mj-ea"/>
                  <a:ea typeface="+mj-ea"/>
                </a:endParaRPr>
              </a:p>
            </p:txBody>
          </p:sp>
          <p:pic>
            <p:nvPicPr>
              <p:cNvPr id="101" name="2" descr="定位">
                <a:extLst>
                  <a:ext uri="{FF2B5EF4-FFF2-40B4-BE49-F238E27FC236}">
                    <a16:creationId xmlns:a16="http://schemas.microsoft.com/office/drawing/2014/main" id="{DAFE72F5-EF2D-7BAD-C497-28F00771A26D}"/>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113923" y="2202608"/>
                <a:ext cx="558554" cy="558554"/>
              </a:xfrm>
              <a:prstGeom prst="rect">
                <a:avLst/>
              </a:prstGeom>
              <a:effectLst>
                <a:outerShdw blurRad="50800" dir="5400000" sx="90000" sy="-19000" rotWithShape="0">
                  <a:prstClr val="black">
                    <a:alpha val="61000"/>
                  </a:prstClr>
                </a:outerShdw>
              </a:effectLst>
            </p:spPr>
          </p:pic>
          <p:sp>
            <p:nvSpPr>
              <p:cNvPr id="102" name="Title-2">
                <a:extLst>
                  <a:ext uri="{FF2B5EF4-FFF2-40B4-BE49-F238E27FC236}">
                    <a16:creationId xmlns:a16="http://schemas.microsoft.com/office/drawing/2014/main" id="{AD8FF975-F5F1-D7F1-9F7B-CCA059E4B44B}"/>
                  </a:ext>
                </a:extLst>
              </p:cNvPr>
              <p:cNvSpPr txBox="1"/>
              <p:nvPr>
                <p:custDataLst>
                  <p:tags r:id="rId8"/>
                </p:custDataLst>
              </p:nvPr>
            </p:nvSpPr>
            <p:spPr>
              <a:xfrm>
                <a:off x="6671953" y="1562952"/>
                <a:ext cx="3515849" cy="285203"/>
              </a:xfrm>
              <a:prstGeom prst="rect">
                <a:avLst/>
              </a:prstGeom>
              <a:noFill/>
            </p:spPr>
            <p:txBody>
              <a:bodyPr wrap="square" rtlCol="0">
                <a:spAutoFit/>
              </a:bodyPr>
              <a:lstStyle/>
              <a:p>
                <a:r>
                  <a:rPr lang="zh-CN" altLang="en-US" sz="1050" b="1" dirty="0">
                    <a:solidFill>
                      <a:schemeClr val="accent4">
                        <a:lumMod val="75000"/>
                      </a:schemeClr>
                    </a:solidFill>
                    <a:latin typeface="+mj-ea"/>
                    <a:ea typeface="+mj-ea"/>
                  </a:rPr>
                  <a:t>发出指令（</a:t>
                </a:r>
                <a:r>
                  <a:rPr lang="en-US" altLang="zh-CN" sz="1050" b="1" dirty="0">
                    <a:solidFill>
                      <a:schemeClr val="accent4">
                        <a:lumMod val="75000"/>
                      </a:schemeClr>
                    </a:solidFill>
                    <a:latin typeface="+mj-ea"/>
                    <a:ea typeface="+mj-ea"/>
                  </a:rPr>
                  <a:t>C</a:t>
                </a:r>
                <a:r>
                  <a:rPr lang="zh-CN" altLang="en-US" sz="1050" b="1" dirty="0">
                    <a:solidFill>
                      <a:schemeClr val="accent4">
                        <a:lumMod val="75000"/>
                      </a:schemeClr>
                    </a:solidFill>
                    <a:latin typeface="+mj-ea"/>
                    <a:ea typeface="+mj-ea"/>
                  </a:rPr>
                  <a:t>程序）</a:t>
                </a:r>
              </a:p>
            </p:txBody>
          </p:sp>
          <p:sp>
            <p:nvSpPr>
              <p:cNvPr id="103" name="Body-2">
                <a:extLst>
                  <a:ext uri="{FF2B5EF4-FFF2-40B4-BE49-F238E27FC236}">
                    <a16:creationId xmlns:a16="http://schemas.microsoft.com/office/drawing/2014/main" id="{A0D90F32-3EBC-C602-D32D-BA856A6AE1E3}"/>
                  </a:ext>
                </a:extLst>
              </p:cNvPr>
              <p:cNvSpPr txBox="1"/>
              <p:nvPr>
                <p:custDataLst>
                  <p:tags r:id="rId9"/>
                </p:custDataLst>
              </p:nvPr>
            </p:nvSpPr>
            <p:spPr>
              <a:xfrm>
                <a:off x="7058939" y="2012311"/>
                <a:ext cx="3515849" cy="690682"/>
              </a:xfrm>
              <a:prstGeom prst="rect">
                <a:avLst/>
              </a:prstGeom>
              <a:noFill/>
            </p:spPr>
            <p:txBody>
              <a:bodyPr wrap="square" rtlCol="0">
                <a:spAutoFit/>
              </a:bodyPr>
              <a:lstStyle/>
              <a:p>
                <a:pPr>
                  <a:lnSpc>
                    <a:spcPct val="130000"/>
                  </a:lnSpc>
                </a:pPr>
                <a:r>
                  <a:rPr lang="zh-CN" altLang="en-US" sz="900" dirty="0">
                    <a:solidFill>
                      <a:schemeClr val="tx1">
                        <a:lumMod val="75000"/>
                        <a:lumOff val="25000"/>
                      </a:schemeClr>
                    </a:solidFill>
                    <a:latin typeface="+mj-ea"/>
                    <a:ea typeface="+mj-ea"/>
                  </a:rPr>
                  <a:t>你的</a:t>
                </a:r>
                <a:r>
                  <a:rPr lang="en-US" altLang="zh-CN" sz="900" dirty="0">
                    <a:solidFill>
                      <a:schemeClr val="tx1">
                        <a:lumMod val="75000"/>
                        <a:lumOff val="25000"/>
                      </a:schemeClr>
                    </a:solidFill>
                    <a:latin typeface="+mj-ea"/>
                    <a:ea typeface="+mj-ea"/>
                  </a:rPr>
                  <a:t>C</a:t>
                </a:r>
                <a:r>
                  <a:rPr lang="zh-CN" altLang="en-US" sz="900" dirty="0">
                    <a:solidFill>
                      <a:schemeClr val="tx1">
                        <a:lumMod val="75000"/>
                        <a:lumOff val="25000"/>
                      </a:schemeClr>
                    </a:solidFill>
                    <a:latin typeface="+mj-ea"/>
                    <a:ea typeface="+mj-ea"/>
                  </a:rPr>
                  <a:t>语言程序通过数据库连接库，将这条</a:t>
                </a:r>
                <a:r>
                  <a:rPr lang="en-US" altLang="zh-CN" sz="900" dirty="0">
                    <a:solidFill>
                      <a:schemeClr val="tx1">
                        <a:lumMod val="75000"/>
                        <a:lumOff val="25000"/>
                      </a:schemeClr>
                    </a:solidFill>
                    <a:latin typeface="+mj-ea"/>
                    <a:ea typeface="+mj-ea"/>
                  </a:rPr>
                  <a:t>SQL</a:t>
                </a:r>
                <a:r>
                  <a:rPr lang="zh-CN" altLang="en-US" sz="900" dirty="0">
                    <a:solidFill>
                      <a:schemeClr val="tx1">
                        <a:lumMod val="75000"/>
                        <a:lumOff val="25000"/>
                      </a:schemeClr>
                    </a:solidFill>
                    <a:latin typeface="+mj-ea"/>
                    <a:ea typeface="+mj-ea"/>
                  </a:rPr>
                  <a:t>语句发送给数据库服务器</a:t>
                </a:r>
                <a:endParaRPr lang="en-US" altLang="zh-CN" sz="900" dirty="0">
                  <a:solidFill>
                    <a:schemeClr val="tx1">
                      <a:lumMod val="75000"/>
                      <a:lumOff val="25000"/>
                    </a:schemeClr>
                  </a:solidFill>
                  <a:latin typeface="+mj-ea"/>
                  <a:ea typeface="+mj-ea"/>
                </a:endParaRPr>
              </a:p>
            </p:txBody>
          </p:sp>
        </p:grpSp>
        <p:grpSp>
          <p:nvGrpSpPr>
            <p:cNvPr id="81" name="组合 80">
              <a:extLst>
                <a:ext uri="{FF2B5EF4-FFF2-40B4-BE49-F238E27FC236}">
                  <a16:creationId xmlns:a16="http://schemas.microsoft.com/office/drawing/2014/main" id="{612CABEB-7C0B-D603-D592-28705C66D7DC}"/>
                </a:ext>
              </a:extLst>
            </p:cNvPr>
            <p:cNvGrpSpPr/>
            <p:nvPr/>
          </p:nvGrpSpPr>
          <p:grpSpPr>
            <a:xfrm>
              <a:off x="-1566501" y="3265638"/>
              <a:ext cx="6506835" cy="1851384"/>
              <a:chOff x="-1471257" y="3265638"/>
              <a:chExt cx="6506835" cy="1851384"/>
            </a:xfrm>
          </p:grpSpPr>
          <p:sp>
            <p:nvSpPr>
              <p:cNvPr id="94" name="3">
                <a:extLst>
                  <a:ext uri="{FF2B5EF4-FFF2-40B4-BE49-F238E27FC236}">
                    <a16:creationId xmlns:a16="http://schemas.microsoft.com/office/drawing/2014/main" id="{47CEA316-33EC-C5DE-6530-25CF0EAAEF9E}"/>
                  </a:ext>
                </a:extLst>
              </p:cNvPr>
              <p:cNvSpPr/>
              <p:nvPr/>
            </p:nvSpPr>
            <p:spPr>
              <a:xfrm>
                <a:off x="4614703" y="3393438"/>
                <a:ext cx="282676" cy="282676"/>
              </a:xfrm>
              <a:prstGeom prst="ellipse">
                <a:avLst/>
              </a:prstGeom>
              <a:noFill/>
              <a:ln w="2222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latin typeface="+mj-ea"/>
                  <a:ea typeface="+mj-ea"/>
                </a:endParaRPr>
              </a:p>
            </p:txBody>
          </p:sp>
          <p:sp>
            <p:nvSpPr>
              <p:cNvPr id="95" name="3">
                <a:extLst>
                  <a:ext uri="{FF2B5EF4-FFF2-40B4-BE49-F238E27FC236}">
                    <a16:creationId xmlns:a16="http://schemas.microsoft.com/office/drawing/2014/main" id="{F744CB09-7E73-4A04-3749-E82F885C421F}"/>
                  </a:ext>
                </a:extLst>
              </p:cNvPr>
              <p:cNvSpPr/>
              <p:nvPr/>
            </p:nvSpPr>
            <p:spPr>
              <a:xfrm>
                <a:off x="4673769" y="3452152"/>
                <a:ext cx="165249" cy="165249"/>
              </a:xfrm>
              <a:prstGeom prst="ellipse">
                <a:avLst/>
              </a:prstGeom>
              <a:solidFill>
                <a:schemeClr val="accent1">
                  <a:lumMod val="20000"/>
                  <a:lumOff val="80000"/>
                </a:schemeClr>
              </a:solidFill>
              <a:ln w="222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latin typeface="+mj-ea"/>
                  <a:ea typeface="+mj-ea"/>
                </a:endParaRPr>
              </a:p>
            </p:txBody>
          </p:sp>
          <p:pic>
            <p:nvPicPr>
              <p:cNvPr id="96" name="3" descr="定位">
                <a:extLst>
                  <a:ext uri="{FF2B5EF4-FFF2-40B4-BE49-F238E27FC236}">
                    <a16:creationId xmlns:a16="http://schemas.microsoft.com/office/drawing/2014/main" id="{161A6FE5-0D3E-03D3-BA1D-072BBF8C80D5}"/>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4477024" y="3343878"/>
                <a:ext cx="558554" cy="558554"/>
              </a:xfrm>
              <a:prstGeom prst="rect">
                <a:avLst/>
              </a:prstGeom>
              <a:effectLst>
                <a:outerShdw blurRad="50800" dir="5400000" sx="90000" sy="-19000" rotWithShape="0">
                  <a:prstClr val="black">
                    <a:alpha val="61000"/>
                  </a:prstClr>
                </a:outerShdw>
              </a:effectLst>
            </p:spPr>
          </p:pic>
          <p:sp>
            <p:nvSpPr>
              <p:cNvPr id="97" name="Title-3">
                <a:extLst>
                  <a:ext uri="{FF2B5EF4-FFF2-40B4-BE49-F238E27FC236}">
                    <a16:creationId xmlns:a16="http://schemas.microsoft.com/office/drawing/2014/main" id="{B1A6C7FA-D48B-5979-06BC-999BA8FBDDB5}"/>
                  </a:ext>
                </a:extLst>
              </p:cNvPr>
              <p:cNvSpPr txBox="1"/>
              <p:nvPr>
                <p:custDataLst>
                  <p:tags r:id="rId6"/>
                </p:custDataLst>
              </p:nvPr>
            </p:nvSpPr>
            <p:spPr>
              <a:xfrm>
                <a:off x="-555853" y="3265638"/>
                <a:ext cx="4370337" cy="285203"/>
              </a:xfrm>
              <a:prstGeom prst="rect">
                <a:avLst/>
              </a:prstGeom>
              <a:noFill/>
            </p:spPr>
            <p:txBody>
              <a:bodyPr wrap="square" rtlCol="0">
                <a:spAutoFit/>
              </a:bodyPr>
              <a:lstStyle/>
              <a:p>
                <a:pPr algn="r"/>
                <a:r>
                  <a:rPr lang="zh-CN" altLang="en-US" sz="1050" b="1" dirty="0">
                    <a:solidFill>
                      <a:schemeClr val="accent1"/>
                    </a:solidFill>
                    <a:latin typeface="+mj-ea"/>
                    <a:ea typeface="+mj-ea"/>
                  </a:rPr>
                  <a:t>解析与优化（数据库引擎）</a:t>
                </a:r>
              </a:p>
            </p:txBody>
          </p:sp>
          <p:sp>
            <p:nvSpPr>
              <p:cNvPr id="98" name="Body-3">
                <a:extLst>
                  <a:ext uri="{FF2B5EF4-FFF2-40B4-BE49-F238E27FC236}">
                    <a16:creationId xmlns:a16="http://schemas.microsoft.com/office/drawing/2014/main" id="{C9FC9726-1910-8513-BD48-7F27E6AD60FB}"/>
                  </a:ext>
                </a:extLst>
              </p:cNvPr>
              <p:cNvSpPr txBox="1"/>
              <p:nvPr>
                <p:custDataLst>
                  <p:tags r:id="rId7"/>
                </p:custDataLst>
              </p:nvPr>
            </p:nvSpPr>
            <p:spPr>
              <a:xfrm>
                <a:off x="-1471257" y="3617401"/>
                <a:ext cx="5104716" cy="1499621"/>
              </a:xfrm>
              <a:prstGeom prst="rect">
                <a:avLst/>
              </a:prstGeom>
              <a:noFill/>
            </p:spPr>
            <p:txBody>
              <a:bodyPr wrap="square" rtlCol="0">
                <a:spAutoFit/>
              </a:bodyPr>
              <a:lstStyle/>
              <a:p>
                <a:pPr algn="r">
                  <a:lnSpc>
                    <a:spcPct val="130000"/>
                  </a:lnSpc>
                </a:pPr>
                <a:r>
                  <a:rPr lang="zh-CN" altLang="en-US" sz="900" dirty="0">
                    <a:solidFill>
                      <a:schemeClr val="tx1">
                        <a:lumMod val="75000"/>
                        <a:lumOff val="25000"/>
                      </a:schemeClr>
                    </a:solidFill>
                    <a:latin typeface="+mj-ea"/>
                    <a:ea typeface="+mj-ea"/>
                  </a:rPr>
                  <a:t>用</a:t>
                </a:r>
                <a:r>
                  <a:rPr lang="en-US" altLang="zh-CN" sz="900" dirty="0">
                    <a:solidFill>
                      <a:schemeClr val="tx1">
                        <a:lumMod val="75000"/>
                        <a:lumOff val="25000"/>
                      </a:schemeClr>
                    </a:solidFill>
                    <a:latin typeface="+mj-ea"/>
                    <a:ea typeface="+mj-ea"/>
                  </a:rPr>
                  <a:t>C/C++</a:t>
                </a:r>
                <a:r>
                  <a:rPr lang="zh-CN" altLang="en-US" sz="900" dirty="0">
                    <a:solidFill>
                      <a:schemeClr val="tx1">
                        <a:lumMod val="75000"/>
                        <a:lumOff val="25000"/>
                      </a:schemeClr>
                    </a:solidFill>
                    <a:latin typeface="+mj-ea"/>
                    <a:ea typeface="+mj-ea"/>
                  </a:rPr>
                  <a:t>编写的数据库引擎开始工作。它首先解析</a:t>
                </a:r>
                <a:r>
                  <a:rPr lang="en-US" altLang="zh-CN" sz="900" dirty="0">
                    <a:solidFill>
                      <a:schemeClr val="tx1">
                        <a:lumMod val="75000"/>
                        <a:lumOff val="25000"/>
                      </a:schemeClr>
                    </a:solidFill>
                    <a:latin typeface="+mj-ea"/>
                    <a:ea typeface="+mj-ea"/>
                  </a:rPr>
                  <a:t>SQL</a:t>
                </a:r>
                <a:r>
                  <a:rPr lang="zh-CN" altLang="en-US" sz="900" dirty="0">
                    <a:solidFill>
                      <a:schemeClr val="tx1">
                        <a:lumMod val="75000"/>
                        <a:lumOff val="25000"/>
                      </a:schemeClr>
                    </a:solidFill>
                    <a:latin typeface="+mj-ea"/>
                    <a:ea typeface="+mj-ea"/>
                  </a:rPr>
                  <a:t>语句，检查其语法和语义。然后，查询优化器（一个非常复杂的</a:t>
                </a:r>
                <a:r>
                  <a:rPr lang="en-US" altLang="zh-CN" sz="900" dirty="0">
                    <a:solidFill>
                      <a:schemeClr val="tx1">
                        <a:lumMod val="75000"/>
                        <a:lumOff val="25000"/>
                      </a:schemeClr>
                    </a:solidFill>
                    <a:latin typeface="+mj-ea"/>
                    <a:ea typeface="+mj-ea"/>
                  </a:rPr>
                  <a:t>C/C++</a:t>
                </a:r>
                <a:r>
                  <a:rPr lang="zh-CN" altLang="en-US" sz="900" dirty="0">
                    <a:solidFill>
                      <a:schemeClr val="tx1">
                        <a:lumMod val="75000"/>
                        <a:lumOff val="25000"/>
                      </a:schemeClr>
                    </a:solidFill>
                    <a:latin typeface="+mj-ea"/>
                    <a:ea typeface="+mj-ea"/>
                  </a:rPr>
                  <a:t>程序）会参考数据统计信息和索引（基于高效的数据结构，如</a:t>
                </a:r>
                <a:r>
                  <a:rPr lang="en-US" altLang="zh-CN" sz="900" dirty="0">
                    <a:solidFill>
                      <a:schemeClr val="tx1">
                        <a:lumMod val="75000"/>
                        <a:lumOff val="25000"/>
                      </a:schemeClr>
                    </a:solidFill>
                    <a:latin typeface="+mj-ea"/>
                    <a:ea typeface="+mj-ea"/>
                  </a:rPr>
                  <a:t>B+</a:t>
                </a:r>
                <a:r>
                  <a:rPr lang="zh-CN" altLang="en-US" sz="900" dirty="0">
                    <a:solidFill>
                      <a:schemeClr val="tx1">
                        <a:lumMod val="75000"/>
                        <a:lumOff val="25000"/>
                      </a:schemeClr>
                    </a:solidFill>
                    <a:latin typeface="+mj-ea"/>
                    <a:ea typeface="+mj-ea"/>
                  </a:rPr>
                  <a:t>树），生成一个最高效的执行计划（查询计划）这个计划本质上是一系列操作的步骤。</a:t>
                </a:r>
                <a:endParaRPr lang="en-US" altLang="zh-CN" sz="900" dirty="0">
                  <a:solidFill>
                    <a:schemeClr val="tx1">
                      <a:lumMod val="75000"/>
                      <a:lumOff val="25000"/>
                    </a:schemeClr>
                  </a:solidFill>
                  <a:latin typeface="+mj-ea"/>
                  <a:ea typeface="+mj-ea"/>
                </a:endParaRPr>
              </a:p>
            </p:txBody>
          </p:sp>
        </p:grpSp>
        <p:grpSp>
          <p:nvGrpSpPr>
            <p:cNvPr id="82" name="组合 81">
              <a:extLst>
                <a:ext uri="{FF2B5EF4-FFF2-40B4-BE49-F238E27FC236}">
                  <a16:creationId xmlns:a16="http://schemas.microsoft.com/office/drawing/2014/main" id="{DDC4AB9A-A372-FC3A-CD52-DCC311889BDB}"/>
                </a:ext>
              </a:extLst>
            </p:cNvPr>
            <p:cNvGrpSpPr/>
            <p:nvPr/>
          </p:nvGrpSpPr>
          <p:grpSpPr>
            <a:xfrm>
              <a:off x="5830065" y="3516723"/>
              <a:ext cx="6431339" cy="1654073"/>
              <a:chOff x="5925309" y="3516723"/>
              <a:chExt cx="6431339" cy="1654073"/>
            </a:xfrm>
          </p:grpSpPr>
          <p:sp>
            <p:nvSpPr>
              <p:cNvPr id="89" name="4">
                <a:extLst>
                  <a:ext uri="{FF2B5EF4-FFF2-40B4-BE49-F238E27FC236}">
                    <a16:creationId xmlns:a16="http://schemas.microsoft.com/office/drawing/2014/main" id="{34851E45-F51D-AFF7-326A-AB6624E349E5}"/>
                  </a:ext>
                </a:extLst>
              </p:cNvPr>
              <p:cNvSpPr/>
              <p:nvPr/>
            </p:nvSpPr>
            <p:spPr>
              <a:xfrm>
                <a:off x="6062988" y="4661802"/>
                <a:ext cx="282676" cy="282676"/>
              </a:xfrm>
              <a:prstGeom prst="ellipse">
                <a:avLst/>
              </a:prstGeom>
              <a:noFill/>
              <a:ln w="2222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latin typeface="+mj-ea"/>
                  <a:ea typeface="+mj-ea"/>
                </a:endParaRPr>
              </a:p>
            </p:txBody>
          </p:sp>
          <p:sp>
            <p:nvSpPr>
              <p:cNvPr id="90" name="4">
                <a:extLst>
                  <a:ext uri="{FF2B5EF4-FFF2-40B4-BE49-F238E27FC236}">
                    <a16:creationId xmlns:a16="http://schemas.microsoft.com/office/drawing/2014/main" id="{CB468A0B-7391-16E7-DF86-D365E3BEB46E}"/>
                  </a:ext>
                </a:extLst>
              </p:cNvPr>
              <p:cNvSpPr/>
              <p:nvPr/>
            </p:nvSpPr>
            <p:spPr>
              <a:xfrm>
                <a:off x="6122054" y="4720516"/>
                <a:ext cx="165249" cy="165249"/>
              </a:xfrm>
              <a:prstGeom prst="ellipse">
                <a:avLst/>
              </a:prstGeom>
              <a:solidFill>
                <a:schemeClr val="accent4">
                  <a:lumMod val="40000"/>
                  <a:lumOff val="60000"/>
                </a:schemeClr>
              </a:solidFill>
              <a:ln w="222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latin typeface="+mj-ea"/>
                  <a:ea typeface="+mj-ea"/>
                </a:endParaRPr>
              </a:p>
            </p:txBody>
          </p:sp>
          <p:pic>
            <p:nvPicPr>
              <p:cNvPr id="91" name="4" descr="定位">
                <a:extLst>
                  <a:ext uri="{FF2B5EF4-FFF2-40B4-BE49-F238E27FC236}">
                    <a16:creationId xmlns:a16="http://schemas.microsoft.com/office/drawing/2014/main" id="{82F43CED-E23F-89E1-898E-AD2959B67E78}"/>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5925309" y="4612242"/>
                <a:ext cx="558554" cy="558554"/>
              </a:xfrm>
              <a:prstGeom prst="rect">
                <a:avLst/>
              </a:prstGeom>
              <a:effectLst>
                <a:outerShdw blurRad="50800" dir="5400000" sx="90000" sy="-19000" rotWithShape="0">
                  <a:prstClr val="black">
                    <a:alpha val="61000"/>
                  </a:prstClr>
                </a:outerShdw>
              </a:effectLst>
            </p:spPr>
          </p:pic>
          <p:sp>
            <p:nvSpPr>
              <p:cNvPr id="92" name="Title-4">
                <a:extLst>
                  <a:ext uri="{FF2B5EF4-FFF2-40B4-BE49-F238E27FC236}">
                    <a16:creationId xmlns:a16="http://schemas.microsoft.com/office/drawing/2014/main" id="{0E948C7E-559D-ADA4-77FD-4E57B58F5EB6}"/>
                  </a:ext>
                </a:extLst>
              </p:cNvPr>
              <p:cNvSpPr txBox="1"/>
              <p:nvPr>
                <p:custDataLst>
                  <p:tags r:id="rId4"/>
                </p:custDataLst>
              </p:nvPr>
            </p:nvSpPr>
            <p:spPr>
              <a:xfrm>
                <a:off x="7052720" y="3516723"/>
                <a:ext cx="3336615" cy="285203"/>
              </a:xfrm>
              <a:prstGeom prst="rect">
                <a:avLst/>
              </a:prstGeom>
              <a:noFill/>
            </p:spPr>
            <p:txBody>
              <a:bodyPr wrap="square" rtlCol="0">
                <a:spAutoFit/>
              </a:bodyPr>
              <a:lstStyle/>
              <a:p>
                <a:r>
                  <a:rPr lang="zh-CN" altLang="en-US" sz="1050" b="1" dirty="0">
                    <a:solidFill>
                      <a:schemeClr val="accent4">
                        <a:lumMod val="75000"/>
                      </a:schemeClr>
                    </a:solidFill>
                    <a:latin typeface="+mj-ea"/>
                    <a:ea typeface="+mj-ea"/>
                  </a:rPr>
                  <a:t>执行计划（引擎内部）</a:t>
                </a:r>
              </a:p>
            </p:txBody>
          </p:sp>
          <p:sp>
            <p:nvSpPr>
              <p:cNvPr id="93" name="Body-4">
                <a:extLst>
                  <a:ext uri="{FF2B5EF4-FFF2-40B4-BE49-F238E27FC236}">
                    <a16:creationId xmlns:a16="http://schemas.microsoft.com/office/drawing/2014/main" id="{C87B9971-08BE-CACB-D7A5-1CEC0E68C082}"/>
                  </a:ext>
                </a:extLst>
              </p:cNvPr>
              <p:cNvSpPr txBox="1"/>
              <p:nvPr>
                <p:custDataLst>
                  <p:tags r:id="rId5"/>
                </p:custDataLst>
              </p:nvPr>
            </p:nvSpPr>
            <p:spPr>
              <a:xfrm>
                <a:off x="6563480" y="3854318"/>
                <a:ext cx="5793168" cy="892915"/>
              </a:xfrm>
              <a:prstGeom prst="rect">
                <a:avLst/>
              </a:prstGeom>
              <a:noFill/>
            </p:spPr>
            <p:txBody>
              <a:bodyPr wrap="square" rtlCol="0">
                <a:spAutoFit/>
              </a:bodyPr>
              <a:lstStyle/>
              <a:p>
                <a:pPr>
                  <a:lnSpc>
                    <a:spcPct val="130000"/>
                  </a:lnSpc>
                </a:pPr>
                <a:r>
                  <a:rPr lang="zh-CN" altLang="en-US" sz="900" dirty="0">
                    <a:solidFill>
                      <a:schemeClr val="tx1">
                        <a:lumMod val="75000"/>
                        <a:lumOff val="25000"/>
                      </a:schemeClr>
                    </a:solidFill>
                    <a:latin typeface="+mj-ea"/>
                    <a:ea typeface="+mj-ea"/>
                  </a:rPr>
                  <a:t>数据库的执行引擎开始逐步运行查询计划。为了完成计划，它会调用索引管理器、缓冲区管理器等组件，这些组件内部大量使用了各种数据结构和算法来快速访问和操作数据。</a:t>
                </a:r>
                <a:endParaRPr lang="en-US" altLang="zh-CN" sz="900" dirty="0">
                  <a:solidFill>
                    <a:schemeClr val="tx1">
                      <a:lumMod val="75000"/>
                      <a:lumOff val="25000"/>
                    </a:schemeClr>
                  </a:solidFill>
                  <a:latin typeface="+mj-ea"/>
                  <a:ea typeface="+mj-ea"/>
                </a:endParaRPr>
              </a:p>
            </p:txBody>
          </p:sp>
        </p:grpSp>
        <p:grpSp>
          <p:nvGrpSpPr>
            <p:cNvPr id="83" name="组合 82">
              <a:extLst>
                <a:ext uri="{FF2B5EF4-FFF2-40B4-BE49-F238E27FC236}">
                  <a16:creationId xmlns:a16="http://schemas.microsoft.com/office/drawing/2014/main" id="{AABA0156-A3B2-15FB-6A0C-1521A96E3DEE}"/>
                </a:ext>
              </a:extLst>
            </p:cNvPr>
            <p:cNvGrpSpPr/>
            <p:nvPr/>
          </p:nvGrpSpPr>
          <p:grpSpPr>
            <a:xfrm>
              <a:off x="8471434" y="4780399"/>
              <a:ext cx="5989094" cy="1849629"/>
              <a:chOff x="8566678" y="4780399"/>
              <a:chExt cx="5989094" cy="1849629"/>
            </a:xfrm>
          </p:grpSpPr>
          <p:sp>
            <p:nvSpPr>
              <p:cNvPr id="84" name="5">
                <a:extLst>
                  <a:ext uri="{FF2B5EF4-FFF2-40B4-BE49-F238E27FC236}">
                    <a16:creationId xmlns:a16="http://schemas.microsoft.com/office/drawing/2014/main" id="{C7A74C32-E215-D6DC-1CA5-F005B9907CD4}"/>
                  </a:ext>
                </a:extLst>
              </p:cNvPr>
              <p:cNvSpPr/>
              <p:nvPr/>
            </p:nvSpPr>
            <p:spPr>
              <a:xfrm>
                <a:off x="9098474" y="5032016"/>
                <a:ext cx="282676" cy="282676"/>
              </a:xfrm>
              <a:prstGeom prst="ellipse">
                <a:avLst/>
              </a:prstGeom>
              <a:noFill/>
              <a:ln w="2222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050">
                  <a:latin typeface="+mj-ea"/>
                  <a:ea typeface="+mj-ea"/>
                </a:endParaRPr>
              </a:p>
            </p:txBody>
          </p:sp>
          <p:pic>
            <p:nvPicPr>
              <p:cNvPr id="86" name="5" descr="定位">
                <a:extLst>
                  <a:ext uri="{FF2B5EF4-FFF2-40B4-BE49-F238E27FC236}">
                    <a16:creationId xmlns:a16="http://schemas.microsoft.com/office/drawing/2014/main" id="{A7F13A4C-7D1E-25D9-7983-B35B0FF1E3E3}"/>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8566678" y="4961249"/>
                <a:ext cx="558554" cy="558554"/>
              </a:xfrm>
              <a:prstGeom prst="rect">
                <a:avLst/>
              </a:prstGeom>
              <a:effectLst>
                <a:outerShdw blurRad="50800" dir="5400000" sx="90000" sy="-19000" rotWithShape="0">
                  <a:prstClr val="black">
                    <a:alpha val="61000"/>
                  </a:prstClr>
                </a:outerShdw>
              </a:effectLst>
            </p:spPr>
          </p:pic>
          <p:sp>
            <p:nvSpPr>
              <p:cNvPr id="87" name="Title-5">
                <a:extLst>
                  <a:ext uri="{FF2B5EF4-FFF2-40B4-BE49-F238E27FC236}">
                    <a16:creationId xmlns:a16="http://schemas.microsoft.com/office/drawing/2014/main" id="{CB979DE9-9751-B359-665B-5FAECC379EDF}"/>
                  </a:ext>
                </a:extLst>
              </p:cNvPr>
              <p:cNvSpPr txBox="1"/>
              <p:nvPr>
                <p:custDataLst>
                  <p:tags r:id="rId2"/>
                </p:custDataLst>
              </p:nvPr>
            </p:nvSpPr>
            <p:spPr>
              <a:xfrm>
                <a:off x="9716340" y="4780399"/>
                <a:ext cx="4139906" cy="285203"/>
              </a:xfrm>
              <a:prstGeom prst="rect">
                <a:avLst/>
              </a:prstGeom>
              <a:noFill/>
            </p:spPr>
            <p:txBody>
              <a:bodyPr wrap="square" rtlCol="0">
                <a:spAutoFit/>
              </a:bodyPr>
              <a:lstStyle/>
              <a:p>
                <a:r>
                  <a:rPr lang="zh-CN" altLang="en-US" sz="1050" b="1" dirty="0">
                    <a:solidFill>
                      <a:schemeClr val="accent1"/>
                    </a:solidFill>
                    <a:latin typeface="+mj-ea"/>
                    <a:ea typeface="+mj-ea"/>
                  </a:rPr>
                  <a:t>编译为机器码（</a:t>
                </a:r>
                <a:r>
                  <a:rPr lang="en-US" altLang="zh-CN" sz="1050" b="1" dirty="0">
                    <a:solidFill>
                      <a:schemeClr val="accent1"/>
                    </a:solidFill>
                    <a:latin typeface="+mj-ea"/>
                    <a:ea typeface="+mj-ea"/>
                  </a:rPr>
                  <a:t>CPU</a:t>
                </a:r>
                <a:r>
                  <a:rPr lang="zh-CN" altLang="en-US" sz="1050" b="1" dirty="0">
                    <a:solidFill>
                      <a:schemeClr val="accent1"/>
                    </a:solidFill>
                    <a:latin typeface="+mj-ea"/>
                    <a:ea typeface="+mj-ea"/>
                  </a:rPr>
                  <a:t>执行）</a:t>
                </a:r>
              </a:p>
            </p:txBody>
          </p:sp>
          <p:sp>
            <p:nvSpPr>
              <p:cNvPr id="88" name="Body-5">
                <a:extLst>
                  <a:ext uri="{FF2B5EF4-FFF2-40B4-BE49-F238E27FC236}">
                    <a16:creationId xmlns:a16="http://schemas.microsoft.com/office/drawing/2014/main" id="{5A920803-9035-DC27-24AB-86CC4B381D97}"/>
                  </a:ext>
                </a:extLst>
              </p:cNvPr>
              <p:cNvSpPr txBox="1"/>
              <p:nvPr>
                <p:custDataLst>
                  <p:tags r:id="rId3"/>
                </p:custDataLst>
              </p:nvPr>
            </p:nvSpPr>
            <p:spPr>
              <a:xfrm>
                <a:off x="9381151" y="5130408"/>
                <a:ext cx="5174621" cy="1499620"/>
              </a:xfrm>
              <a:prstGeom prst="rect">
                <a:avLst/>
              </a:prstGeom>
              <a:noFill/>
            </p:spPr>
            <p:txBody>
              <a:bodyPr wrap="square" rtlCol="0">
                <a:spAutoFit/>
              </a:bodyPr>
              <a:lstStyle/>
              <a:p>
                <a:pPr>
                  <a:lnSpc>
                    <a:spcPct val="130000"/>
                  </a:lnSpc>
                </a:pPr>
                <a:r>
                  <a:rPr lang="zh-CN" altLang="en-US" sz="900" dirty="0">
                    <a:solidFill>
                      <a:schemeClr val="tx1">
                        <a:lumMod val="75000"/>
                        <a:lumOff val="25000"/>
                      </a:schemeClr>
                    </a:solidFill>
                    <a:latin typeface="+mj-ea"/>
                    <a:ea typeface="+mj-ea"/>
                  </a:rPr>
                  <a:t>整个数据库引擎这个庞大的</a:t>
                </a:r>
                <a:r>
                  <a:rPr lang="en-US" altLang="zh-CN" sz="900" dirty="0">
                    <a:solidFill>
                      <a:schemeClr val="tx1">
                        <a:lumMod val="75000"/>
                        <a:lumOff val="25000"/>
                      </a:schemeClr>
                    </a:solidFill>
                    <a:latin typeface="+mj-ea"/>
                    <a:ea typeface="+mj-ea"/>
                  </a:rPr>
                  <a:t>C/C++</a:t>
                </a:r>
                <a:r>
                  <a:rPr lang="zh-CN" altLang="en-US" sz="900" dirty="0">
                    <a:solidFill>
                      <a:schemeClr val="tx1">
                        <a:lumMod val="75000"/>
                        <a:lumOff val="25000"/>
                      </a:schemeClr>
                    </a:solidFill>
                    <a:latin typeface="+mj-ea"/>
                    <a:ea typeface="+mj-ea"/>
                  </a:rPr>
                  <a:t>程序，早已被编译成包含了机器码的可执行文件。当它执行第</a:t>
                </a:r>
                <a:r>
                  <a:rPr lang="en-US" altLang="zh-CN" sz="900" dirty="0">
                    <a:solidFill>
                      <a:schemeClr val="tx1">
                        <a:lumMod val="75000"/>
                        <a:lumOff val="25000"/>
                      </a:schemeClr>
                    </a:solidFill>
                    <a:latin typeface="+mj-ea"/>
                    <a:ea typeface="+mj-ea"/>
                  </a:rPr>
                  <a:t>4</a:t>
                </a:r>
                <a:r>
                  <a:rPr lang="zh-CN" altLang="en-US" sz="900" dirty="0">
                    <a:solidFill>
                      <a:schemeClr val="tx1">
                        <a:lumMod val="75000"/>
                        <a:lumOff val="25000"/>
                      </a:schemeClr>
                    </a:solidFill>
                    <a:latin typeface="+mj-ea"/>
                    <a:ea typeface="+mj-ea"/>
                  </a:rPr>
                  <a:t>步中的操作时，</a:t>
                </a:r>
                <a:r>
                  <a:rPr lang="en-US" altLang="zh-CN" sz="900" dirty="0">
                    <a:solidFill>
                      <a:schemeClr val="tx1">
                        <a:lumMod val="75000"/>
                        <a:lumOff val="25000"/>
                      </a:schemeClr>
                    </a:solidFill>
                    <a:latin typeface="+mj-ea"/>
                    <a:ea typeface="+mj-ea"/>
                  </a:rPr>
                  <a:t>CPU</a:t>
                </a:r>
                <a:r>
                  <a:rPr lang="zh-CN" altLang="en-US" sz="900" dirty="0">
                    <a:solidFill>
                      <a:schemeClr val="tx1">
                        <a:lumMod val="75000"/>
                        <a:lumOff val="25000"/>
                      </a:schemeClr>
                    </a:solidFill>
                    <a:latin typeface="+mj-ea"/>
                    <a:ea typeface="+mj-ea"/>
                  </a:rPr>
                  <a:t>实际运行的就是这些操作对应的机器码。编译器在编译过程中，会将</a:t>
                </a:r>
                <a:r>
                  <a:rPr lang="en-US" altLang="zh-CN" sz="900" dirty="0">
                    <a:solidFill>
                      <a:schemeClr val="tx1">
                        <a:lumMod val="75000"/>
                        <a:lumOff val="25000"/>
                      </a:schemeClr>
                    </a:solidFill>
                    <a:latin typeface="+mj-ea"/>
                    <a:ea typeface="+mj-ea"/>
                  </a:rPr>
                  <a:t>C</a:t>
                </a:r>
                <a:r>
                  <a:rPr lang="zh-CN" altLang="en-US" sz="900" dirty="0">
                    <a:solidFill>
                      <a:schemeClr val="tx1">
                        <a:lumMod val="75000"/>
                        <a:lumOff val="25000"/>
                      </a:schemeClr>
                    </a:solidFill>
                    <a:latin typeface="+mj-ea"/>
                    <a:ea typeface="+mj-ea"/>
                  </a:rPr>
                  <a:t>代码中对数据结构的操作（如遍历链表）转换为高效的汇编指令，最终变成机器码。</a:t>
                </a:r>
                <a:endParaRPr lang="en-US" altLang="zh-CN" sz="900" dirty="0">
                  <a:solidFill>
                    <a:schemeClr val="tx1">
                      <a:lumMod val="75000"/>
                      <a:lumOff val="25000"/>
                    </a:schemeClr>
                  </a:solidFill>
                  <a:latin typeface="+mj-ea"/>
                  <a:ea typeface="+mj-ea"/>
                </a:endParaRPr>
              </a:p>
            </p:txBody>
          </p:sp>
        </p:grpSp>
      </p:grpSp>
    </p:spTree>
    <p:extLst>
      <p:ext uri="{BB962C8B-B14F-4D97-AF65-F5344CB8AC3E}">
        <p14:creationId xmlns:p14="http://schemas.microsoft.com/office/powerpoint/2010/main" val="961221972"/>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2166A5C-D244-AABB-6847-A6DE342D5F19}"/>
              </a:ext>
            </a:extLst>
          </p:cNvPr>
          <p:cNvSpPr>
            <a:spLocks noGrp="1"/>
          </p:cNvSpPr>
          <p:nvPr>
            <p:ph type="title"/>
          </p:nvPr>
        </p:nvSpPr>
        <p:spPr/>
        <p:txBody>
          <a:bodyPr/>
          <a:lstStyle/>
          <a:p>
            <a:r>
              <a:rPr lang="zh-CN" altLang="en-US" dirty="0"/>
              <a:t>内存计算</a:t>
            </a:r>
          </a:p>
        </p:txBody>
      </p:sp>
      <p:graphicFrame>
        <p:nvGraphicFramePr>
          <p:cNvPr id="4" name="表格 3">
            <a:extLst>
              <a:ext uri="{FF2B5EF4-FFF2-40B4-BE49-F238E27FC236}">
                <a16:creationId xmlns:a16="http://schemas.microsoft.com/office/drawing/2014/main" id="{B5622A38-C4C5-9672-0781-4E207B518C58}"/>
              </a:ext>
            </a:extLst>
          </p:cNvPr>
          <p:cNvGraphicFramePr>
            <a:graphicFrameLocks noGrp="1"/>
          </p:cNvGraphicFramePr>
          <p:nvPr>
            <p:extLst>
              <p:ext uri="{D42A27DB-BD31-4B8C-83A1-F6EECF244321}">
                <p14:modId xmlns:p14="http://schemas.microsoft.com/office/powerpoint/2010/main" val="115500627"/>
              </p:ext>
            </p:extLst>
          </p:nvPr>
        </p:nvGraphicFramePr>
        <p:xfrm>
          <a:off x="660400" y="1426210"/>
          <a:ext cx="10858500" cy="4411980"/>
        </p:xfrm>
        <a:graphic>
          <a:graphicData uri="http://schemas.openxmlformats.org/drawingml/2006/table">
            <a:tbl>
              <a:tblPr/>
              <a:tblGrid>
                <a:gridCol w="2171700">
                  <a:extLst>
                    <a:ext uri="{9D8B030D-6E8A-4147-A177-3AD203B41FA5}">
                      <a16:colId xmlns:a16="http://schemas.microsoft.com/office/drawing/2014/main" val="4254529671"/>
                    </a:ext>
                  </a:extLst>
                </a:gridCol>
                <a:gridCol w="2171700">
                  <a:extLst>
                    <a:ext uri="{9D8B030D-6E8A-4147-A177-3AD203B41FA5}">
                      <a16:colId xmlns:a16="http://schemas.microsoft.com/office/drawing/2014/main" val="3730682907"/>
                    </a:ext>
                  </a:extLst>
                </a:gridCol>
                <a:gridCol w="2171700">
                  <a:extLst>
                    <a:ext uri="{9D8B030D-6E8A-4147-A177-3AD203B41FA5}">
                      <a16:colId xmlns:a16="http://schemas.microsoft.com/office/drawing/2014/main" val="2317854114"/>
                    </a:ext>
                  </a:extLst>
                </a:gridCol>
                <a:gridCol w="2171700">
                  <a:extLst>
                    <a:ext uri="{9D8B030D-6E8A-4147-A177-3AD203B41FA5}">
                      <a16:colId xmlns:a16="http://schemas.microsoft.com/office/drawing/2014/main" val="419638382"/>
                    </a:ext>
                  </a:extLst>
                </a:gridCol>
                <a:gridCol w="2171700">
                  <a:extLst>
                    <a:ext uri="{9D8B030D-6E8A-4147-A177-3AD203B41FA5}">
                      <a16:colId xmlns:a16="http://schemas.microsoft.com/office/drawing/2014/main" val="400070566"/>
                    </a:ext>
                  </a:extLst>
                </a:gridCol>
              </a:tblGrid>
              <a:tr h="0">
                <a:tc>
                  <a:txBody>
                    <a:bodyPr/>
                    <a:lstStyle/>
                    <a:p>
                      <a:pPr algn="l" fontAlgn="base" latinLnBrk="0"/>
                      <a:r>
                        <a:rPr lang="zh-CN" altLang="en-US" b="1">
                          <a:solidFill>
                            <a:srgbClr val="FFFFFF"/>
                          </a:solidFill>
                          <a:effectLst/>
                          <a:latin typeface="+mj-ea"/>
                          <a:ea typeface="+mj-ea"/>
                        </a:rPr>
                        <a:t>对比维度</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algn="l" fontAlgn="base" latinLnBrk="0"/>
                      <a:r>
                        <a:rPr lang="zh-CN" altLang="en-US" b="1">
                          <a:solidFill>
                            <a:srgbClr val="FFFFFF"/>
                          </a:solidFill>
                          <a:effectLst/>
                          <a:latin typeface="+mj-ea"/>
                          <a:ea typeface="+mj-ea"/>
                        </a:rPr>
                        <a:t>传统磁盘数据库 </a:t>
                      </a:r>
                      <a:r>
                        <a:rPr lang="en-US" altLang="zh-CN" b="1">
                          <a:solidFill>
                            <a:srgbClr val="FFFFFF"/>
                          </a:solidFill>
                          <a:effectLst/>
                          <a:latin typeface="+mj-ea"/>
                          <a:ea typeface="+mj-ea"/>
                        </a:rPr>
                        <a:t>(</a:t>
                      </a:r>
                      <a:r>
                        <a:rPr lang="zh-CN" altLang="en-US" b="1">
                          <a:solidFill>
                            <a:srgbClr val="FFFFFF"/>
                          </a:solidFill>
                          <a:effectLst/>
                          <a:latin typeface="+mj-ea"/>
                          <a:ea typeface="+mj-ea"/>
                        </a:rPr>
                        <a:t>如 </a:t>
                      </a:r>
                      <a:r>
                        <a:rPr lang="en-US" altLang="zh-CN" b="1">
                          <a:solidFill>
                            <a:srgbClr val="FFFFFF"/>
                          </a:solidFill>
                          <a:effectLst/>
                          <a:latin typeface="+mj-ea"/>
                          <a:ea typeface="+mj-ea"/>
                        </a:rPr>
                        <a:t>MySQL)</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algn="l" fontAlgn="base" latinLnBrk="0"/>
                      <a:r>
                        <a:rPr lang="zh-CN" altLang="en-US" b="1">
                          <a:solidFill>
                            <a:srgbClr val="FFFFFF"/>
                          </a:solidFill>
                          <a:effectLst/>
                          <a:latin typeface="+mj-ea"/>
                          <a:ea typeface="+mj-ea"/>
                        </a:rPr>
                        <a:t>内存数据库 </a:t>
                      </a:r>
                      <a:r>
                        <a:rPr lang="en-US" altLang="zh-CN" b="1">
                          <a:solidFill>
                            <a:srgbClr val="FFFFFF"/>
                          </a:solidFill>
                          <a:effectLst/>
                          <a:latin typeface="+mj-ea"/>
                          <a:ea typeface="+mj-ea"/>
                        </a:rPr>
                        <a:t>(</a:t>
                      </a:r>
                      <a:r>
                        <a:rPr lang="zh-CN" altLang="en-US" b="1">
                          <a:solidFill>
                            <a:srgbClr val="FFFFFF"/>
                          </a:solidFill>
                          <a:effectLst/>
                          <a:latin typeface="+mj-ea"/>
                          <a:ea typeface="+mj-ea"/>
                        </a:rPr>
                        <a:t>如 </a:t>
                      </a:r>
                      <a:r>
                        <a:rPr lang="en-US" b="1">
                          <a:solidFill>
                            <a:srgbClr val="FFFFFF"/>
                          </a:solidFill>
                          <a:effectLst/>
                          <a:latin typeface="+mj-ea"/>
                          <a:ea typeface="+mj-ea"/>
                        </a:rPr>
                        <a:t>Redis, Altibase)</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algn="l" fontAlgn="base" latinLnBrk="0"/>
                      <a:r>
                        <a:rPr lang="en-US" b="1">
                          <a:solidFill>
                            <a:srgbClr val="FFFFFF"/>
                          </a:solidFill>
                          <a:effectLst/>
                          <a:latin typeface="+mj-ea"/>
                          <a:ea typeface="+mj-ea"/>
                        </a:rPr>
                        <a:t>C/C++ </a:t>
                      </a:r>
                      <a:r>
                        <a:rPr lang="zh-CN" altLang="en-US" b="1">
                          <a:solidFill>
                            <a:srgbClr val="FFFFFF"/>
                          </a:solidFill>
                          <a:effectLst/>
                          <a:latin typeface="+mj-ea"/>
                          <a:ea typeface="+mj-ea"/>
                        </a:rPr>
                        <a:t>内存运算</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algn="l" fontAlgn="base" latinLnBrk="0"/>
                      <a:r>
                        <a:rPr lang="en-US" b="1">
                          <a:solidFill>
                            <a:srgbClr val="FFFFFF"/>
                          </a:solidFill>
                          <a:effectLst/>
                          <a:latin typeface="+mj-ea"/>
                          <a:ea typeface="+mj-ea"/>
                        </a:rPr>
                        <a:t>Java </a:t>
                      </a:r>
                      <a:r>
                        <a:rPr lang="zh-CN" altLang="en-US" b="1">
                          <a:solidFill>
                            <a:srgbClr val="FFFFFF"/>
                          </a:solidFill>
                          <a:effectLst/>
                          <a:latin typeface="+mj-ea"/>
                          <a:ea typeface="+mj-ea"/>
                        </a:rPr>
                        <a:t>内存运算</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extLst>
                  <a:ext uri="{0D108BD9-81ED-4DB2-BD59-A6C34878D82A}">
                    <a16:rowId xmlns:a16="http://schemas.microsoft.com/office/drawing/2014/main" val="4166681752"/>
                  </a:ext>
                </a:extLst>
              </a:tr>
              <a:tr h="0">
                <a:tc>
                  <a:txBody>
                    <a:bodyPr/>
                    <a:lstStyle/>
                    <a:p>
                      <a:pPr algn="l" fontAlgn="base" latinLnBrk="0"/>
                      <a:r>
                        <a:rPr lang="zh-CN" altLang="en-US" b="1">
                          <a:solidFill>
                            <a:srgbClr val="000000"/>
                          </a:solidFill>
                          <a:effectLst/>
                          <a:latin typeface="+mj-ea"/>
                          <a:ea typeface="+mj-ea"/>
                        </a:rPr>
                        <a:t>核心存储介质</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a:solidFill>
                            <a:schemeClr val="tx1"/>
                          </a:solidFill>
                          <a:effectLst/>
                          <a:latin typeface="+mj-ea"/>
                          <a:ea typeface="+mj-ea"/>
                        </a:rPr>
                        <a:t>硬盘 </a:t>
                      </a:r>
                      <a:r>
                        <a:rPr lang="en-US" altLang="zh-CN">
                          <a:solidFill>
                            <a:schemeClr val="tx1"/>
                          </a:solidFill>
                          <a:effectLst/>
                          <a:latin typeface="+mj-ea"/>
                          <a:ea typeface="+mj-ea"/>
                        </a:rPr>
                        <a:t>(</a:t>
                      </a:r>
                      <a:r>
                        <a:rPr lang="en-US">
                          <a:solidFill>
                            <a:schemeClr val="tx1"/>
                          </a:solidFill>
                          <a:effectLst/>
                          <a:latin typeface="+mj-ea"/>
                          <a:ea typeface="+mj-ea"/>
                        </a:rPr>
                        <a:t>HDD/SSD)</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a:solidFill>
                            <a:schemeClr val="tx1"/>
                          </a:solidFill>
                          <a:effectLst/>
                          <a:latin typeface="+mj-ea"/>
                          <a:ea typeface="+mj-ea"/>
                        </a:rPr>
                        <a:t>内存 </a:t>
                      </a:r>
                      <a:r>
                        <a:rPr lang="en-US" altLang="zh-CN">
                          <a:solidFill>
                            <a:schemeClr val="tx1"/>
                          </a:solidFill>
                          <a:effectLst/>
                          <a:latin typeface="+mj-ea"/>
                          <a:ea typeface="+mj-ea"/>
                        </a:rPr>
                        <a:t>(</a:t>
                      </a:r>
                      <a:r>
                        <a:rPr lang="zh-CN" altLang="en-US">
                          <a:solidFill>
                            <a:schemeClr val="tx1"/>
                          </a:solidFill>
                          <a:effectLst/>
                          <a:latin typeface="+mj-ea"/>
                          <a:ea typeface="+mj-ea"/>
                        </a:rPr>
                        <a:t>主存</a:t>
                      </a:r>
                      <a:r>
                        <a:rPr lang="en-US" altLang="zh-CN">
                          <a:solidFill>
                            <a:schemeClr val="tx1"/>
                          </a:solidFill>
                          <a:effectLst/>
                          <a:latin typeface="+mj-ea"/>
                          <a:ea typeface="+mj-ea"/>
                        </a:rPr>
                        <a:t>)</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a:solidFill>
                            <a:schemeClr val="tx1"/>
                          </a:solidFill>
                          <a:effectLst/>
                          <a:latin typeface="+mj-ea"/>
                          <a:ea typeface="+mj-ea"/>
                        </a:rPr>
                        <a:t>内存 </a:t>
                      </a:r>
                      <a:r>
                        <a:rPr lang="en-US" altLang="zh-CN">
                          <a:solidFill>
                            <a:schemeClr val="tx1"/>
                          </a:solidFill>
                          <a:effectLst/>
                          <a:latin typeface="+mj-ea"/>
                          <a:ea typeface="+mj-ea"/>
                        </a:rPr>
                        <a:t>(</a:t>
                      </a:r>
                      <a:r>
                        <a:rPr lang="zh-CN" altLang="en-US">
                          <a:solidFill>
                            <a:schemeClr val="tx1"/>
                          </a:solidFill>
                          <a:effectLst/>
                          <a:latin typeface="+mj-ea"/>
                          <a:ea typeface="+mj-ea"/>
                        </a:rPr>
                        <a:t>主存</a:t>
                      </a:r>
                      <a:r>
                        <a:rPr lang="en-US" altLang="zh-CN">
                          <a:solidFill>
                            <a:schemeClr val="tx1"/>
                          </a:solidFill>
                          <a:effectLst/>
                          <a:latin typeface="+mj-ea"/>
                          <a:ea typeface="+mj-ea"/>
                        </a:rPr>
                        <a:t>)</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a:solidFill>
                            <a:schemeClr val="tx1"/>
                          </a:solidFill>
                          <a:effectLst/>
                          <a:latin typeface="+mj-ea"/>
                          <a:ea typeface="+mj-ea"/>
                        </a:rPr>
                        <a:t>内存 </a:t>
                      </a:r>
                      <a:r>
                        <a:rPr lang="en-US" altLang="zh-CN">
                          <a:solidFill>
                            <a:schemeClr val="tx1"/>
                          </a:solidFill>
                          <a:effectLst/>
                          <a:latin typeface="+mj-ea"/>
                          <a:ea typeface="+mj-ea"/>
                        </a:rPr>
                        <a:t>(</a:t>
                      </a:r>
                      <a:r>
                        <a:rPr lang="zh-CN" altLang="en-US">
                          <a:solidFill>
                            <a:schemeClr val="tx1"/>
                          </a:solidFill>
                          <a:effectLst/>
                          <a:latin typeface="+mj-ea"/>
                          <a:ea typeface="+mj-ea"/>
                        </a:rPr>
                        <a:t>堆内存</a:t>
                      </a:r>
                      <a:r>
                        <a:rPr lang="en-US" altLang="zh-CN">
                          <a:solidFill>
                            <a:schemeClr val="tx1"/>
                          </a:solidFill>
                          <a:effectLst/>
                          <a:latin typeface="+mj-ea"/>
                          <a:ea typeface="+mj-ea"/>
                        </a:rPr>
                        <a:t>)</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08054641"/>
                  </a:ext>
                </a:extLst>
              </a:tr>
              <a:tr h="0">
                <a:tc>
                  <a:txBody>
                    <a:bodyPr/>
                    <a:lstStyle/>
                    <a:p>
                      <a:pPr algn="l" fontAlgn="base" latinLnBrk="0"/>
                      <a:r>
                        <a:rPr lang="zh-CN" altLang="en-US" b="1">
                          <a:solidFill>
                            <a:srgbClr val="000000"/>
                          </a:solidFill>
                          <a:effectLst/>
                          <a:latin typeface="+mj-ea"/>
                          <a:ea typeface="+mj-ea"/>
                        </a:rPr>
                        <a:t>数据组织方式</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a:solidFill>
                            <a:schemeClr val="tx1"/>
                          </a:solidFill>
                          <a:effectLst/>
                          <a:latin typeface="+mj-ea"/>
                          <a:ea typeface="+mj-ea"/>
                        </a:rPr>
                        <a:t>基于磁盘优化的结构 </a:t>
                      </a:r>
                      <a:r>
                        <a:rPr lang="en-US" altLang="zh-CN">
                          <a:solidFill>
                            <a:schemeClr val="tx1"/>
                          </a:solidFill>
                          <a:effectLst/>
                          <a:latin typeface="+mj-ea"/>
                          <a:ea typeface="+mj-ea"/>
                        </a:rPr>
                        <a:t>(</a:t>
                      </a:r>
                      <a:r>
                        <a:rPr lang="zh-CN" altLang="en-US">
                          <a:solidFill>
                            <a:schemeClr val="tx1"/>
                          </a:solidFill>
                          <a:effectLst/>
                          <a:latin typeface="+mj-ea"/>
                          <a:ea typeface="+mj-ea"/>
                        </a:rPr>
                        <a:t>如 </a:t>
                      </a:r>
                      <a:r>
                        <a:rPr lang="en-US" altLang="zh-CN">
                          <a:solidFill>
                            <a:schemeClr val="tx1"/>
                          </a:solidFill>
                          <a:effectLst/>
                          <a:latin typeface="+mj-ea"/>
                          <a:ea typeface="+mj-ea"/>
                        </a:rPr>
                        <a:t>B+</a:t>
                      </a:r>
                      <a:r>
                        <a:rPr lang="zh-CN" altLang="en-US">
                          <a:solidFill>
                            <a:schemeClr val="tx1"/>
                          </a:solidFill>
                          <a:effectLst/>
                          <a:latin typeface="+mj-ea"/>
                          <a:ea typeface="+mj-ea"/>
                        </a:rPr>
                        <a:t>树</a:t>
                      </a:r>
                      <a:r>
                        <a:rPr lang="en-US" altLang="zh-CN">
                          <a:solidFill>
                            <a:schemeClr val="tx1"/>
                          </a:solidFill>
                          <a:effectLst/>
                          <a:latin typeface="+mj-ea"/>
                          <a:ea typeface="+mj-ea"/>
                        </a:rPr>
                        <a:t>)</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a:solidFill>
                            <a:schemeClr val="tx1"/>
                          </a:solidFill>
                          <a:effectLst/>
                          <a:latin typeface="+mj-ea"/>
                          <a:ea typeface="+mj-ea"/>
                        </a:rPr>
                        <a:t>为内存重新设计的数据结构</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a:solidFill>
                            <a:schemeClr val="tx1"/>
                          </a:solidFill>
                          <a:effectLst/>
                          <a:latin typeface="+mj-ea"/>
                          <a:ea typeface="+mj-ea"/>
                        </a:rPr>
                        <a:t>程序自定义的高效数据结构 </a:t>
                      </a:r>
                      <a:r>
                        <a:rPr lang="en-US" altLang="zh-CN">
                          <a:solidFill>
                            <a:schemeClr val="tx1"/>
                          </a:solidFill>
                          <a:effectLst/>
                          <a:latin typeface="+mj-ea"/>
                          <a:ea typeface="+mj-ea"/>
                        </a:rPr>
                        <a:t>(</a:t>
                      </a:r>
                      <a:r>
                        <a:rPr lang="zh-CN" altLang="en-US">
                          <a:solidFill>
                            <a:schemeClr val="tx1"/>
                          </a:solidFill>
                          <a:effectLst/>
                          <a:latin typeface="+mj-ea"/>
                          <a:ea typeface="+mj-ea"/>
                        </a:rPr>
                        <a:t>如数组、链表</a:t>
                      </a:r>
                      <a:r>
                        <a:rPr lang="en-US" altLang="zh-CN">
                          <a:solidFill>
                            <a:schemeClr val="tx1"/>
                          </a:solidFill>
                          <a:effectLst/>
                          <a:latin typeface="+mj-ea"/>
                          <a:ea typeface="+mj-ea"/>
                        </a:rPr>
                        <a:t>)</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a:solidFill>
                            <a:schemeClr val="tx1"/>
                          </a:solidFill>
                          <a:effectLst/>
                          <a:latin typeface="+mj-ea"/>
                          <a:ea typeface="+mj-ea"/>
                        </a:rPr>
                        <a:t>程序自定义的数据结构 </a:t>
                      </a:r>
                      <a:r>
                        <a:rPr lang="en-US" altLang="zh-CN">
                          <a:solidFill>
                            <a:schemeClr val="tx1"/>
                          </a:solidFill>
                          <a:effectLst/>
                          <a:latin typeface="+mj-ea"/>
                          <a:ea typeface="+mj-ea"/>
                        </a:rPr>
                        <a:t>(</a:t>
                      </a:r>
                      <a:r>
                        <a:rPr lang="zh-CN" altLang="en-US">
                          <a:solidFill>
                            <a:schemeClr val="tx1"/>
                          </a:solidFill>
                          <a:effectLst/>
                          <a:latin typeface="+mj-ea"/>
                          <a:ea typeface="+mj-ea"/>
                        </a:rPr>
                        <a:t>受 </a:t>
                      </a:r>
                      <a:r>
                        <a:rPr lang="en-US" altLang="zh-CN">
                          <a:solidFill>
                            <a:schemeClr val="tx1"/>
                          </a:solidFill>
                          <a:effectLst/>
                          <a:latin typeface="+mj-ea"/>
                          <a:ea typeface="+mj-ea"/>
                        </a:rPr>
                        <a:t>JVM </a:t>
                      </a:r>
                      <a:r>
                        <a:rPr lang="zh-CN" altLang="en-US">
                          <a:solidFill>
                            <a:schemeClr val="tx1"/>
                          </a:solidFill>
                          <a:effectLst/>
                          <a:latin typeface="+mj-ea"/>
                          <a:ea typeface="+mj-ea"/>
                        </a:rPr>
                        <a:t>管理</a:t>
                      </a:r>
                      <a:r>
                        <a:rPr lang="en-US" altLang="zh-CN">
                          <a:solidFill>
                            <a:schemeClr val="tx1"/>
                          </a:solidFill>
                          <a:effectLst/>
                          <a:latin typeface="+mj-ea"/>
                          <a:ea typeface="+mj-ea"/>
                        </a:rPr>
                        <a:t>)</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21551149"/>
                  </a:ext>
                </a:extLst>
              </a:tr>
              <a:tr h="0">
                <a:tc>
                  <a:txBody>
                    <a:bodyPr/>
                    <a:lstStyle/>
                    <a:p>
                      <a:pPr algn="l" fontAlgn="base" latinLnBrk="0"/>
                      <a:r>
                        <a:rPr lang="zh-CN" altLang="en-US" b="1">
                          <a:solidFill>
                            <a:srgbClr val="000000"/>
                          </a:solidFill>
                          <a:effectLst/>
                          <a:latin typeface="+mj-ea"/>
                          <a:ea typeface="+mj-ea"/>
                        </a:rPr>
                        <a:t>执行引擎</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a:solidFill>
                            <a:schemeClr val="tx1"/>
                          </a:solidFill>
                          <a:effectLst/>
                          <a:latin typeface="+mj-ea"/>
                          <a:ea typeface="+mj-ea"/>
                        </a:rPr>
                        <a:t>磁盘</a:t>
                      </a:r>
                      <a:r>
                        <a:rPr lang="en-US" altLang="zh-CN">
                          <a:solidFill>
                            <a:schemeClr val="tx1"/>
                          </a:solidFill>
                          <a:effectLst/>
                          <a:latin typeface="+mj-ea"/>
                          <a:ea typeface="+mj-ea"/>
                        </a:rPr>
                        <a:t>I/O</a:t>
                      </a:r>
                      <a:r>
                        <a:rPr lang="zh-CN" altLang="en-US">
                          <a:solidFill>
                            <a:schemeClr val="tx1"/>
                          </a:solidFill>
                          <a:effectLst/>
                          <a:latin typeface="+mj-ea"/>
                          <a:ea typeface="+mj-ea"/>
                        </a:rPr>
                        <a:t>密集型 </a:t>
                      </a:r>
                      <a:r>
                        <a:rPr lang="en-US" altLang="zh-CN">
                          <a:solidFill>
                            <a:schemeClr val="tx1"/>
                          </a:solidFill>
                          <a:effectLst/>
                          <a:latin typeface="+mj-ea"/>
                          <a:ea typeface="+mj-ea"/>
                        </a:rPr>
                        <a:t>+ </a:t>
                      </a:r>
                      <a:r>
                        <a:rPr lang="zh-CN" altLang="en-US">
                          <a:solidFill>
                            <a:schemeClr val="tx1"/>
                          </a:solidFill>
                          <a:effectLst/>
                          <a:latin typeface="+mj-ea"/>
                          <a:ea typeface="+mj-ea"/>
                        </a:rPr>
                        <a:t>复杂</a:t>
                      </a:r>
                      <a:r>
                        <a:rPr lang="en-US" altLang="zh-CN">
                          <a:solidFill>
                            <a:schemeClr val="tx1"/>
                          </a:solidFill>
                          <a:effectLst/>
                          <a:latin typeface="+mj-ea"/>
                          <a:ea typeface="+mj-ea"/>
                        </a:rPr>
                        <a:t>SQL</a:t>
                      </a:r>
                      <a:r>
                        <a:rPr lang="zh-CN" altLang="en-US">
                          <a:solidFill>
                            <a:schemeClr val="tx1"/>
                          </a:solidFill>
                          <a:effectLst/>
                          <a:latin typeface="+mj-ea"/>
                          <a:ea typeface="+mj-ea"/>
                        </a:rPr>
                        <a:t>优化器</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a:solidFill>
                            <a:schemeClr val="tx1"/>
                          </a:solidFill>
                          <a:effectLst/>
                          <a:latin typeface="+mj-ea"/>
                          <a:ea typeface="+mj-ea"/>
                        </a:rPr>
                        <a:t>内存直接计算 </a:t>
                      </a:r>
                      <a:r>
                        <a:rPr lang="en-US" altLang="zh-CN">
                          <a:solidFill>
                            <a:schemeClr val="tx1"/>
                          </a:solidFill>
                          <a:effectLst/>
                          <a:latin typeface="+mj-ea"/>
                          <a:ea typeface="+mj-ea"/>
                        </a:rPr>
                        <a:t>+ </a:t>
                      </a:r>
                      <a:r>
                        <a:rPr lang="zh-CN" altLang="en-US">
                          <a:solidFill>
                            <a:schemeClr val="tx1"/>
                          </a:solidFill>
                          <a:effectLst/>
                          <a:latin typeface="+mj-ea"/>
                          <a:ea typeface="+mj-ea"/>
                        </a:rPr>
                        <a:t>简化指令</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a:solidFill>
                            <a:schemeClr val="tx1"/>
                          </a:solidFill>
                          <a:effectLst/>
                          <a:latin typeface="+mj-ea"/>
                          <a:ea typeface="+mj-ea"/>
                        </a:rPr>
                        <a:t>直接编译为机器码，无额外开销</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a:solidFill>
                            <a:schemeClr val="tx1"/>
                          </a:solidFill>
                          <a:effectLst/>
                          <a:latin typeface="+mj-ea"/>
                          <a:ea typeface="+mj-ea"/>
                        </a:rPr>
                        <a:t>在</a:t>
                      </a:r>
                      <a:r>
                        <a:rPr lang="en-US" altLang="zh-CN">
                          <a:solidFill>
                            <a:schemeClr val="tx1"/>
                          </a:solidFill>
                          <a:effectLst/>
                          <a:latin typeface="+mj-ea"/>
                          <a:ea typeface="+mj-ea"/>
                        </a:rPr>
                        <a:t>JVM</a:t>
                      </a:r>
                      <a:r>
                        <a:rPr lang="zh-CN" altLang="en-US">
                          <a:solidFill>
                            <a:schemeClr val="tx1"/>
                          </a:solidFill>
                          <a:effectLst/>
                          <a:latin typeface="+mj-ea"/>
                          <a:ea typeface="+mj-ea"/>
                        </a:rPr>
                        <a:t>上通过字节码解释执行或</a:t>
                      </a:r>
                      <a:r>
                        <a:rPr lang="en-US" altLang="zh-CN">
                          <a:solidFill>
                            <a:schemeClr val="tx1"/>
                          </a:solidFill>
                          <a:effectLst/>
                          <a:latin typeface="+mj-ea"/>
                          <a:ea typeface="+mj-ea"/>
                        </a:rPr>
                        <a:t>JIT</a:t>
                      </a:r>
                      <a:r>
                        <a:rPr lang="zh-CN" altLang="en-US">
                          <a:solidFill>
                            <a:schemeClr val="tx1"/>
                          </a:solidFill>
                          <a:effectLst/>
                          <a:latin typeface="+mj-ea"/>
                          <a:ea typeface="+mj-ea"/>
                        </a:rPr>
                        <a:t>编译</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26927146"/>
                  </a:ext>
                </a:extLst>
              </a:tr>
              <a:tr h="0">
                <a:tc>
                  <a:txBody>
                    <a:bodyPr/>
                    <a:lstStyle/>
                    <a:p>
                      <a:pPr algn="l" fontAlgn="base" latinLnBrk="0"/>
                      <a:r>
                        <a:rPr lang="zh-CN" altLang="en-US" b="1">
                          <a:solidFill>
                            <a:srgbClr val="000000"/>
                          </a:solidFill>
                          <a:effectLst/>
                          <a:latin typeface="+mj-ea"/>
                          <a:ea typeface="+mj-ea"/>
                        </a:rPr>
                        <a:t>速度关键制约</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b="1">
                          <a:solidFill>
                            <a:schemeClr val="tx1"/>
                          </a:solidFill>
                          <a:effectLst/>
                          <a:latin typeface="+mj-ea"/>
                          <a:ea typeface="+mj-ea"/>
                        </a:rPr>
                        <a:t>磁盘</a:t>
                      </a:r>
                      <a:r>
                        <a:rPr lang="en-US" b="1">
                          <a:solidFill>
                            <a:schemeClr val="tx1"/>
                          </a:solidFill>
                          <a:effectLst/>
                          <a:latin typeface="+mj-ea"/>
                          <a:ea typeface="+mj-ea"/>
                        </a:rPr>
                        <a:t>I/O</a:t>
                      </a:r>
                      <a:r>
                        <a:rPr lang="en-US">
                          <a:solidFill>
                            <a:schemeClr val="tx1"/>
                          </a:solidFill>
                          <a:effectLst/>
                          <a:latin typeface="+mj-ea"/>
                          <a:ea typeface="+mj-ea"/>
                        </a:rPr>
                        <a:t>(</a:t>
                      </a:r>
                      <a:r>
                        <a:rPr lang="zh-CN" altLang="en-US">
                          <a:solidFill>
                            <a:schemeClr val="tx1"/>
                          </a:solidFill>
                          <a:effectLst/>
                          <a:latin typeface="+mj-ea"/>
                          <a:ea typeface="+mj-ea"/>
                        </a:rPr>
                        <a:t>机械硬盘比内存慢</a:t>
                      </a:r>
                      <a:r>
                        <a:rPr lang="en-US" altLang="zh-CN">
                          <a:solidFill>
                            <a:schemeClr val="tx1"/>
                          </a:solidFill>
                          <a:effectLst/>
                          <a:latin typeface="+mj-ea"/>
                          <a:ea typeface="+mj-ea"/>
                        </a:rPr>
                        <a:t>10</a:t>
                      </a:r>
                      <a:r>
                        <a:rPr lang="zh-CN" altLang="en-US">
                          <a:solidFill>
                            <a:schemeClr val="tx1"/>
                          </a:solidFill>
                          <a:effectLst/>
                          <a:latin typeface="+mj-ea"/>
                          <a:ea typeface="+mj-ea"/>
                        </a:rPr>
                        <a:t>万倍，</a:t>
                      </a:r>
                      <a:r>
                        <a:rPr lang="en-US">
                          <a:solidFill>
                            <a:schemeClr val="tx1"/>
                          </a:solidFill>
                          <a:effectLst/>
                          <a:latin typeface="+mj-ea"/>
                          <a:ea typeface="+mj-ea"/>
                        </a:rPr>
                        <a:t>SSD</a:t>
                      </a:r>
                      <a:r>
                        <a:rPr lang="zh-CN" altLang="en-US">
                          <a:solidFill>
                            <a:schemeClr val="tx1"/>
                          </a:solidFill>
                          <a:effectLst/>
                          <a:latin typeface="+mj-ea"/>
                          <a:ea typeface="+mj-ea"/>
                        </a:rPr>
                        <a:t>慢</a:t>
                      </a:r>
                      <a:r>
                        <a:rPr lang="en-US" altLang="zh-CN">
                          <a:solidFill>
                            <a:schemeClr val="tx1"/>
                          </a:solidFill>
                          <a:effectLst/>
                          <a:latin typeface="+mj-ea"/>
                          <a:ea typeface="+mj-ea"/>
                        </a:rPr>
                        <a:t>30-100</a:t>
                      </a:r>
                      <a:r>
                        <a:rPr lang="zh-CN" altLang="en-US">
                          <a:solidFill>
                            <a:schemeClr val="tx1"/>
                          </a:solidFill>
                          <a:effectLst/>
                          <a:latin typeface="+mj-ea"/>
                          <a:ea typeface="+mj-ea"/>
                        </a:rPr>
                        <a:t>倍</a:t>
                      </a:r>
                      <a:r>
                        <a:rPr lang="en-US" altLang="zh-CN">
                          <a:solidFill>
                            <a:schemeClr val="tx1"/>
                          </a:solidFill>
                          <a:effectLst/>
                          <a:latin typeface="+mj-ea"/>
                          <a:ea typeface="+mj-ea"/>
                        </a:rPr>
                        <a:t>)</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en-US" altLang="zh-CN" b="1">
                          <a:solidFill>
                            <a:schemeClr val="tx1"/>
                          </a:solidFill>
                          <a:effectLst/>
                          <a:latin typeface="+mj-ea"/>
                          <a:ea typeface="+mj-ea"/>
                        </a:rPr>
                        <a:t>CPU/</a:t>
                      </a:r>
                      <a:r>
                        <a:rPr lang="zh-CN" altLang="en-US" b="1">
                          <a:solidFill>
                            <a:schemeClr val="tx1"/>
                          </a:solidFill>
                          <a:effectLst/>
                          <a:latin typeface="+mj-ea"/>
                          <a:ea typeface="+mj-ea"/>
                        </a:rPr>
                        <a:t>内存带宽</a:t>
                      </a:r>
                      <a:r>
                        <a:rPr lang="zh-CN" altLang="en-US">
                          <a:solidFill>
                            <a:schemeClr val="tx1"/>
                          </a:solidFill>
                          <a:effectLst/>
                          <a:latin typeface="+mj-ea"/>
                          <a:ea typeface="+mj-ea"/>
                        </a:rPr>
                        <a:t>、网络序列化</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en-US" altLang="zh-CN" b="1">
                          <a:solidFill>
                            <a:schemeClr val="tx1"/>
                          </a:solidFill>
                          <a:effectLst/>
                          <a:latin typeface="+mj-ea"/>
                          <a:ea typeface="+mj-ea"/>
                        </a:rPr>
                        <a:t>CPU/</a:t>
                      </a:r>
                      <a:r>
                        <a:rPr lang="zh-CN" altLang="en-US" b="1">
                          <a:solidFill>
                            <a:schemeClr val="tx1"/>
                          </a:solidFill>
                          <a:effectLst/>
                          <a:latin typeface="+mj-ea"/>
                          <a:ea typeface="+mj-ea"/>
                        </a:rPr>
                        <a:t>内存带宽</a:t>
                      </a:r>
                      <a:r>
                        <a:rPr lang="zh-CN" altLang="en-US">
                          <a:solidFill>
                            <a:schemeClr val="tx1"/>
                          </a:solidFill>
                          <a:effectLst/>
                          <a:latin typeface="+mj-ea"/>
                          <a:ea typeface="+mj-ea"/>
                        </a:rPr>
                        <a:t>、算法效率</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en-US" altLang="zh-CN" b="1">
                          <a:solidFill>
                            <a:schemeClr val="tx1"/>
                          </a:solidFill>
                          <a:effectLst/>
                          <a:latin typeface="+mj-ea"/>
                          <a:ea typeface="+mj-ea"/>
                        </a:rPr>
                        <a:t>GC</a:t>
                      </a:r>
                      <a:r>
                        <a:rPr lang="zh-CN" altLang="en-US" b="1">
                          <a:solidFill>
                            <a:schemeClr val="tx1"/>
                          </a:solidFill>
                          <a:effectLst/>
                          <a:latin typeface="+mj-ea"/>
                          <a:ea typeface="+mj-ea"/>
                        </a:rPr>
                        <a:t>暂停</a:t>
                      </a:r>
                      <a:r>
                        <a:rPr lang="zh-CN" altLang="en-US">
                          <a:solidFill>
                            <a:schemeClr val="tx1"/>
                          </a:solidFill>
                          <a:effectLst/>
                          <a:latin typeface="+mj-ea"/>
                          <a:ea typeface="+mj-ea"/>
                        </a:rPr>
                        <a:t>、</a:t>
                      </a:r>
                      <a:r>
                        <a:rPr lang="en-US" altLang="zh-CN">
                          <a:solidFill>
                            <a:schemeClr val="tx1"/>
                          </a:solidFill>
                          <a:effectLst/>
                          <a:latin typeface="+mj-ea"/>
                          <a:ea typeface="+mj-ea"/>
                        </a:rPr>
                        <a:t>JVM</a:t>
                      </a:r>
                      <a:r>
                        <a:rPr lang="zh-CN" altLang="en-US">
                          <a:solidFill>
                            <a:schemeClr val="tx1"/>
                          </a:solidFill>
                          <a:effectLst/>
                          <a:latin typeface="+mj-ea"/>
                          <a:ea typeface="+mj-ea"/>
                        </a:rPr>
                        <a:t>开销、对象模型</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29512382"/>
                  </a:ext>
                </a:extLst>
              </a:tr>
              <a:tr h="0">
                <a:tc>
                  <a:txBody>
                    <a:bodyPr/>
                    <a:lstStyle/>
                    <a:p>
                      <a:pPr algn="l" fontAlgn="base" latinLnBrk="0"/>
                      <a:r>
                        <a:rPr lang="zh-CN" altLang="en-US" b="1" dirty="0">
                          <a:solidFill>
                            <a:srgbClr val="000000"/>
                          </a:solidFill>
                          <a:effectLst/>
                          <a:latin typeface="+mj-ea"/>
                          <a:ea typeface="+mj-ea"/>
                        </a:rPr>
                        <a:t>典型延迟</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a:solidFill>
                            <a:schemeClr val="tx1"/>
                          </a:solidFill>
                          <a:effectLst/>
                          <a:latin typeface="+mj-ea"/>
                          <a:ea typeface="+mj-ea"/>
                        </a:rPr>
                        <a:t>毫秒 </a:t>
                      </a:r>
                      <a:r>
                        <a:rPr lang="en-US" altLang="zh-CN">
                          <a:solidFill>
                            <a:schemeClr val="tx1"/>
                          </a:solidFill>
                          <a:effectLst/>
                          <a:latin typeface="+mj-ea"/>
                          <a:ea typeface="+mj-ea"/>
                        </a:rPr>
                        <a:t>(ms) </a:t>
                      </a:r>
                      <a:r>
                        <a:rPr lang="zh-CN" altLang="en-US">
                          <a:solidFill>
                            <a:schemeClr val="tx1"/>
                          </a:solidFill>
                          <a:effectLst/>
                          <a:latin typeface="+mj-ea"/>
                          <a:ea typeface="+mj-ea"/>
                        </a:rPr>
                        <a:t>到 </a:t>
                      </a:r>
                      <a:r>
                        <a:rPr lang="en-US" altLang="zh-CN">
                          <a:solidFill>
                            <a:schemeClr val="tx1"/>
                          </a:solidFill>
                          <a:effectLst/>
                          <a:latin typeface="+mj-ea"/>
                          <a:ea typeface="+mj-ea"/>
                        </a:rPr>
                        <a:t>10</a:t>
                      </a:r>
                      <a:r>
                        <a:rPr lang="zh-CN" altLang="en-US">
                          <a:solidFill>
                            <a:schemeClr val="tx1"/>
                          </a:solidFill>
                          <a:effectLst/>
                          <a:latin typeface="+mj-ea"/>
                          <a:ea typeface="+mj-ea"/>
                        </a:rPr>
                        <a:t>毫秒级</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a:solidFill>
                            <a:schemeClr val="tx1"/>
                          </a:solidFill>
                          <a:effectLst/>
                          <a:latin typeface="+mj-ea"/>
                          <a:ea typeface="+mj-ea"/>
                        </a:rPr>
                        <a:t>微秒 </a:t>
                      </a:r>
                      <a:r>
                        <a:rPr lang="en-US" altLang="zh-CN">
                          <a:solidFill>
                            <a:schemeClr val="tx1"/>
                          </a:solidFill>
                          <a:effectLst/>
                          <a:latin typeface="+mj-ea"/>
                          <a:ea typeface="+mj-ea"/>
                        </a:rPr>
                        <a:t>(µ</a:t>
                      </a:r>
                      <a:r>
                        <a:rPr lang="en-US">
                          <a:solidFill>
                            <a:schemeClr val="tx1"/>
                          </a:solidFill>
                          <a:effectLst/>
                          <a:latin typeface="+mj-ea"/>
                          <a:ea typeface="+mj-ea"/>
                        </a:rPr>
                        <a:t>s) </a:t>
                      </a:r>
                      <a:r>
                        <a:rPr lang="zh-CN" altLang="en-US">
                          <a:solidFill>
                            <a:schemeClr val="tx1"/>
                          </a:solidFill>
                          <a:effectLst/>
                          <a:latin typeface="+mj-ea"/>
                          <a:ea typeface="+mj-ea"/>
                        </a:rPr>
                        <a:t>到 亚毫秒级</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b="1">
                          <a:solidFill>
                            <a:schemeClr val="tx1"/>
                          </a:solidFill>
                          <a:effectLst/>
                          <a:latin typeface="+mj-ea"/>
                          <a:ea typeface="+mj-ea"/>
                        </a:rPr>
                        <a:t>纳秒 </a:t>
                      </a:r>
                      <a:r>
                        <a:rPr lang="en-US" altLang="zh-CN" b="1">
                          <a:solidFill>
                            <a:schemeClr val="tx1"/>
                          </a:solidFill>
                          <a:effectLst/>
                          <a:latin typeface="+mj-ea"/>
                          <a:ea typeface="+mj-ea"/>
                        </a:rPr>
                        <a:t>(</a:t>
                      </a:r>
                      <a:r>
                        <a:rPr lang="en-US" b="1">
                          <a:solidFill>
                            <a:schemeClr val="tx1"/>
                          </a:solidFill>
                          <a:effectLst/>
                          <a:latin typeface="+mj-ea"/>
                          <a:ea typeface="+mj-ea"/>
                        </a:rPr>
                        <a:t>ns) </a:t>
                      </a:r>
                      <a:r>
                        <a:rPr lang="zh-CN" altLang="en-US" b="1">
                          <a:solidFill>
                            <a:schemeClr val="tx1"/>
                          </a:solidFill>
                          <a:effectLst/>
                          <a:latin typeface="+mj-ea"/>
                          <a:ea typeface="+mj-ea"/>
                        </a:rPr>
                        <a:t>到微秒 </a:t>
                      </a:r>
                      <a:r>
                        <a:rPr lang="en-US" altLang="zh-CN" b="1">
                          <a:solidFill>
                            <a:schemeClr val="tx1"/>
                          </a:solidFill>
                          <a:effectLst/>
                          <a:latin typeface="+mj-ea"/>
                          <a:ea typeface="+mj-ea"/>
                        </a:rPr>
                        <a:t>(µ</a:t>
                      </a:r>
                      <a:r>
                        <a:rPr lang="en-US" b="1">
                          <a:solidFill>
                            <a:schemeClr val="tx1"/>
                          </a:solidFill>
                          <a:effectLst/>
                          <a:latin typeface="+mj-ea"/>
                          <a:ea typeface="+mj-ea"/>
                        </a:rPr>
                        <a:t>s) </a:t>
                      </a:r>
                      <a:r>
                        <a:rPr lang="zh-CN" altLang="en-US" b="1">
                          <a:solidFill>
                            <a:schemeClr val="tx1"/>
                          </a:solidFill>
                          <a:effectLst/>
                          <a:latin typeface="+mj-ea"/>
                          <a:ea typeface="+mj-ea"/>
                        </a:rPr>
                        <a:t>级</a:t>
                      </a:r>
                      <a:r>
                        <a:rPr lang="en-US" altLang="zh-CN">
                          <a:solidFill>
                            <a:schemeClr val="tx1"/>
                          </a:solidFill>
                          <a:effectLst/>
                          <a:latin typeface="+mj-ea"/>
                          <a:ea typeface="+mj-ea"/>
                        </a:rPr>
                        <a:t>(</a:t>
                      </a:r>
                      <a:r>
                        <a:rPr lang="zh-CN" altLang="en-US">
                          <a:solidFill>
                            <a:schemeClr val="tx1"/>
                          </a:solidFill>
                          <a:effectLst/>
                          <a:latin typeface="+mj-ea"/>
                          <a:ea typeface="+mj-ea"/>
                        </a:rPr>
                        <a:t>极致优化下</a:t>
                      </a:r>
                      <a:r>
                        <a:rPr lang="en-US" altLang="zh-CN">
                          <a:solidFill>
                            <a:schemeClr val="tx1"/>
                          </a:solidFill>
                          <a:effectLst/>
                          <a:latin typeface="+mj-ea"/>
                          <a:ea typeface="+mj-ea"/>
                        </a:rPr>
                        <a:t>)</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dirty="0">
                          <a:solidFill>
                            <a:schemeClr val="tx1"/>
                          </a:solidFill>
                          <a:effectLst/>
                          <a:latin typeface="+mj-ea"/>
                          <a:ea typeface="+mj-ea"/>
                        </a:rPr>
                        <a:t>微秒 </a:t>
                      </a:r>
                      <a:r>
                        <a:rPr lang="en-US" altLang="zh-CN" dirty="0">
                          <a:solidFill>
                            <a:schemeClr val="tx1"/>
                          </a:solidFill>
                          <a:effectLst/>
                          <a:latin typeface="+mj-ea"/>
                          <a:ea typeface="+mj-ea"/>
                        </a:rPr>
                        <a:t>(µ</a:t>
                      </a:r>
                      <a:r>
                        <a:rPr lang="en-US" dirty="0">
                          <a:solidFill>
                            <a:schemeClr val="tx1"/>
                          </a:solidFill>
                          <a:effectLst/>
                          <a:latin typeface="+mj-ea"/>
                          <a:ea typeface="+mj-ea"/>
                        </a:rPr>
                        <a:t>s) </a:t>
                      </a:r>
                      <a:r>
                        <a:rPr lang="zh-CN" altLang="en-US" dirty="0">
                          <a:solidFill>
                            <a:schemeClr val="tx1"/>
                          </a:solidFill>
                          <a:effectLst/>
                          <a:latin typeface="+mj-ea"/>
                          <a:ea typeface="+mj-ea"/>
                        </a:rPr>
                        <a:t>到 毫秒 </a:t>
                      </a:r>
                      <a:r>
                        <a:rPr lang="en-US" altLang="zh-CN" dirty="0">
                          <a:solidFill>
                            <a:schemeClr val="tx1"/>
                          </a:solidFill>
                          <a:effectLst/>
                          <a:latin typeface="+mj-ea"/>
                          <a:ea typeface="+mj-ea"/>
                        </a:rPr>
                        <a:t>(</a:t>
                      </a:r>
                      <a:r>
                        <a:rPr lang="en-US" dirty="0" err="1">
                          <a:solidFill>
                            <a:schemeClr val="tx1"/>
                          </a:solidFill>
                          <a:effectLst/>
                          <a:latin typeface="+mj-ea"/>
                          <a:ea typeface="+mj-ea"/>
                        </a:rPr>
                        <a:t>ms</a:t>
                      </a:r>
                      <a:r>
                        <a:rPr lang="en-US" dirty="0">
                          <a:solidFill>
                            <a:schemeClr val="tx1"/>
                          </a:solidFill>
                          <a:effectLst/>
                          <a:latin typeface="+mj-ea"/>
                          <a:ea typeface="+mj-ea"/>
                        </a:rPr>
                        <a:t>) </a:t>
                      </a:r>
                      <a:r>
                        <a:rPr lang="zh-CN" altLang="en-US" dirty="0">
                          <a:solidFill>
                            <a:schemeClr val="tx1"/>
                          </a:solidFill>
                          <a:effectLst/>
                          <a:latin typeface="+mj-ea"/>
                          <a:ea typeface="+mj-ea"/>
                        </a:rPr>
                        <a:t>级</a:t>
                      </a:r>
                    </a:p>
                  </a:txBody>
                  <a:tcPr marR="95250" marT="47625" marB="476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57634924"/>
                  </a:ext>
                </a:extLst>
              </a:tr>
            </a:tbl>
          </a:graphicData>
        </a:graphic>
      </p:graphicFrame>
    </p:spTree>
    <p:extLst>
      <p:ext uri="{BB962C8B-B14F-4D97-AF65-F5344CB8AC3E}">
        <p14:creationId xmlns:p14="http://schemas.microsoft.com/office/powerpoint/2010/main" val="3150055511"/>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3D31FBD-6912-4F02-C70B-422CDC833054}"/>
              </a:ext>
            </a:extLst>
          </p:cNvPr>
          <p:cNvSpPr>
            <a:spLocks noGrp="1"/>
          </p:cNvSpPr>
          <p:nvPr>
            <p:ph type="title"/>
          </p:nvPr>
        </p:nvSpPr>
        <p:spPr/>
        <p:txBody>
          <a:bodyPr/>
          <a:lstStyle/>
          <a:p>
            <a:r>
              <a:rPr lang="zh-CN" altLang="en-US" dirty="0"/>
              <a:t>内存运算 </a:t>
            </a:r>
            <a:r>
              <a:rPr lang="en-US" altLang="zh-CN" dirty="0"/>
              <a:t>On HANA</a:t>
            </a:r>
            <a:endParaRPr lang="zh-CN" altLang="en-US" dirty="0"/>
          </a:p>
        </p:txBody>
      </p:sp>
      <p:graphicFrame>
        <p:nvGraphicFramePr>
          <p:cNvPr id="3" name="表格 2">
            <a:extLst>
              <a:ext uri="{FF2B5EF4-FFF2-40B4-BE49-F238E27FC236}">
                <a16:creationId xmlns:a16="http://schemas.microsoft.com/office/drawing/2014/main" id="{87FF75F1-8755-D6C7-7E87-9E2A674781C5}"/>
              </a:ext>
            </a:extLst>
          </p:cNvPr>
          <p:cNvGraphicFramePr>
            <a:graphicFrameLocks noGrp="1"/>
          </p:cNvGraphicFramePr>
          <p:nvPr>
            <p:extLst>
              <p:ext uri="{D42A27DB-BD31-4B8C-83A1-F6EECF244321}">
                <p14:modId xmlns:p14="http://schemas.microsoft.com/office/powerpoint/2010/main" val="1555470274"/>
              </p:ext>
            </p:extLst>
          </p:nvPr>
        </p:nvGraphicFramePr>
        <p:xfrm>
          <a:off x="803946" y="1068650"/>
          <a:ext cx="9778773" cy="5011052"/>
        </p:xfrm>
        <a:graphic>
          <a:graphicData uri="http://schemas.openxmlformats.org/drawingml/2006/table">
            <a:tbl>
              <a:tblPr/>
              <a:tblGrid>
                <a:gridCol w="1850217">
                  <a:extLst>
                    <a:ext uri="{9D8B030D-6E8A-4147-A177-3AD203B41FA5}">
                      <a16:colId xmlns:a16="http://schemas.microsoft.com/office/drawing/2014/main" val="3513497712"/>
                    </a:ext>
                  </a:extLst>
                </a:gridCol>
                <a:gridCol w="2642852">
                  <a:extLst>
                    <a:ext uri="{9D8B030D-6E8A-4147-A177-3AD203B41FA5}">
                      <a16:colId xmlns:a16="http://schemas.microsoft.com/office/drawing/2014/main" val="2122327416"/>
                    </a:ext>
                  </a:extLst>
                </a:gridCol>
                <a:gridCol w="2642852">
                  <a:extLst>
                    <a:ext uri="{9D8B030D-6E8A-4147-A177-3AD203B41FA5}">
                      <a16:colId xmlns:a16="http://schemas.microsoft.com/office/drawing/2014/main" val="3161863888"/>
                    </a:ext>
                  </a:extLst>
                </a:gridCol>
                <a:gridCol w="2642852">
                  <a:extLst>
                    <a:ext uri="{9D8B030D-6E8A-4147-A177-3AD203B41FA5}">
                      <a16:colId xmlns:a16="http://schemas.microsoft.com/office/drawing/2014/main" val="1203373074"/>
                    </a:ext>
                  </a:extLst>
                </a:gridCol>
              </a:tblGrid>
              <a:tr h="359799">
                <a:tc>
                  <a:txBody>
                    <a:bodyPr/>
                    <a:lstStyle/>
                    <a:p>
                      <a:pPr algn="l" fontAlgn="base" latinLnBrk="0"/>
                      <a:r>
                        <a:rPr lang="zh-CN" altLang="en-US" sz="1800" b="1">
                          <a:solidFill>
                            <a:srgbClr val="FFFFFF"/>
                          </a:solidFill>
                          <a:effectLst/>
                          <a:latin typeface="+mj-ea"/>
                          <a:ea typeface="+mj-ea"/>
                        </a:rPr>
                        <a:t>优化维度</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algn="l" fontAlgn="base" latinLnBrk="0"/>
                      <a:r>
                        <a:rPr lang="zh-CN" altLang="en-US" sz="1800" b="1">
                          <a:solidFill>
                            <a:srgbClr val="FFFFFF"/>
                          </a:solidFill>
                          <a:effectLst/>
                          <a:latin typeface="+mj-ea"/>
                          <a:ea typeface="+mj-ea"/>
                        </a:rPr>
                        <a:t>核心技术</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algn="l" fontAlgn="base" latinLnBrk="0"/>
                      <a:r>
                        <a:rPr lang="zh-CN" altLang="en-US" sz="1800" b="1">
                          <a:solidFill>
                            <a:srgbClr val="FFFFFF"/>
                          </a:solidFill>
                          <a:effectLst/>
                          <a:latin typeface="+mj-ea"/>
                          <a:ea typeface="+mj-ea"/>
                        </a:rPr>
                        <a:t>优化原理</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algn="l" fontAlgn="base" latinLnBrk="0"/>
                      <a:r>
                        <a:rPr lang="zh-CN" altLang="en-US" sz="1800" b="1">
                          <a:solidFill>
                            <a:srgbClr val="FFFFFF"/>
                          </a:solidFill>
                          <a:effectLst/>
                          <a:latin typeface="+mj-ea"/>
                          <a:ea typeface="+mj-ea"/>
                        </a:rPr>
                        <a:t>带来的关键收益</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extLst>
                  <a:ext uri="{0D108BD9-81ED-4DB2-BD59-A6C34878D82A}">
                    <a16:rowId xmlns:a16="http://schemas.microsoft.com/office/drawing/2014/main" val="299087667"/>
                  </a:ext>
                </a:extLst>
              </a:tr>
              <a:tr h="1161000">
                <a:tc>
                  <a:txBody>
                    <a:bodyPr/>
                    <a:lstStyle/>
                    <a:p>
                      <a:pPr algn="l" fontAlgn="base" latinLnBrk="0"/>
                      <a:r>
                        <a:rPr lang="zh-CN" altLang="en-US" sz="1800" b="1">
                          <a:solidFill>
                            <a:srgbClr val="000000"/>
                          </a:solidFill>
                          <a:effectLst/>
                          <a:latin typeface="+mj-ea"/>
                          <a:ea typeface="+mj-ea"/>
                        </a:rPr>
                        <a:t>数据布局</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400">
                          <a:solidFill>
                            <a:schemeClr val="tx1"/>
                          </a:solidFill>
                          <a:effectLst/>
                          <a:latin typeface="+mj-ea"/>
                          <a:ea typeface="+mj-ea"/>
                        </a:rPr>
                        <a:t>列式存储 </a:t>
                      </a:r>
                      <a:r>
                        <a:rPr lang="en-US" altLang="zh-CN" sz="1400">
                          <a:solidFill>
                            <a:schemeClr val="tx1"/>
                          </a:solidFill>
                          <a:effectLst/>
                          <a:latin typeface="+mj-ea"/>
                          <a:ea typeface="+mj-ea"/>
                        </a:rPr>
                        <a:t>(</a:t>
                      </a:r>
                      <a:r>
                        <a:rPr lang="en-US" sz="1400">
                          <a:solidFill>
                            <a:schemeClr val="tx1"/>
                          </a:solidFill>
                          <a:effectLst/>
                          <a:latin typeface="+mj-ea"/>
                          <a:ea typeface="+mj-ea"/>
                        </a:rPr>
                        <a:t>Columnar Storage)</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a:solidFill>
                            <a:schemeClr val="tx1"/>
                          </a:solidFill>
                          <a:effectLst/>
                          <a:latin typeface="+mj-ea"/>
                          <a:ea typeface="+mj-ea"/>
                        </a:rPr>
                        <a:t>查询只需读取相关列，数据连续存储便于压缩和向量化处理</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a:solidFill>
                            <a:schemeClr val="tx1"/>
                          </a:solidFill>
                          <a:effectLst/>
                          <a:latin typeface="+mj-ea"/>
                          <a:ea typeface="+mj-ea"/>
                        </a:rPr>
                        <a:t>极高的数据压缩率，大幅减少内存占用和</a:t>
                      </a:r>
                      <a:r>
                        <a:rPr lang="en-US" altLang="zh-CN" sz="1400">
                          <a:solidFill>
                            <a:schemeClr val="tx1"/>
                          </a:solidFill>
                          <a:effectLst/>
                          <a:latin typeface="+mj-ea"/>
                          <a:ea typeface="+mj-ea"/>
                        </a:rPr>
                        <a:t>CPU</a:t>
                      </a:r>
                      <a:r>
                        <a:rPr lang="zh-CN" altLang="en-US" sz="1400">
                          <a:solidFill>
                            <a:schemeClr val="tx1"/>
                          </a:solidFill>
                          <a:effectLst/>
                          <a:latin typeface="+mj-ea"/>
                          <a:ea typeface="+mj-ea"/>
                        </a:rPr>
                        <a:t>缓存未命中，提升分析型查询速度</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45059535"/>
                  </a:ext>
                </a:extLst>
              </a:tr>
              <a:tr h="1161000">
                <a:tc>
                  <a:txBody>
                    <a:bodyPr/>
                    <a:lstStyle/>
                    <a:p>
                      <a:pPr algn="l" fontAlgn="base" latinLnBrk="0"/>
                      <a:r>
                        <a:rPr lang="zh-CN" altLang="en-US" sz="1800" b="1">
                          <a:solidFill>
                            <a:srgbClr val="000000"/>
                          </a:solidFill>
                          <a:effectLst/>
                          <a:latin typeface="+mj-ea"/>
                          <a:ea typeface="+mj-ea"/>
                        </a:rPr>
                        <a:t>数据编码与压缩</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400">
                          <a:solidFill>
                            <a:schemeClr val="tx1"/>
                          </a:solidFill>
                          <a:effectLst/>
                          <a:latin typeface="+mj-ea"/>
                          <a:ea typeface="+mj-ea"/>
                        </a:rPr>
                        <a:t>字典编码 </a:t>
                      </a:r>
                      <a:r>
                        <a:rPr lang="en-US" altLang="zh-CN" sz="1400">
                          <a:solidFill>
                            <a:schemeClr val="tx1"/>
                          </a:solidFill>
                          <a:effectLst/>
                          <a:latin typeface="+mj-ea"/>
                          <a:ea typeface="+mj-ea"/>
                        </a:rPr>
                        <a:t>(</a:t>
                      </a:r>
                      <a:r>
                        <a:rPr lang="en-US" sz="1400">
                          <a:solidFill>
                            <a:schemeClr val="tx1"/>
                          </a:solidFill>
                          <a:effectLst/>
                          <a:latin typeface="+mj-ea"/>
                          <a:ea typeface="+mj-ea"/>
                        </a:rPr>
                        <a:t>Dictionary Encoding)</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a:solidFill>
                            <a:schemeClr val="tx1"/>
                          </a:solidFill>
                          <a:effectLst/>
                          <a:latin typeface="+mj-ea"/>
                          <a:ea typeface="+mj-ea"/>
                        </a:rPr>
                        <a:t>用整型数字代替重复的字符串，结合增量构建和按查询构建的策略</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a:solidFill>
                            <a:schemeClr val="tx1"/>
                          </a:solidFill>
                          <a:effectLst/>
                          <a:latin typeface="+mj-ea"/>
                          <a:ea typeface="+mj-ea"/>
                        </a:rPr>
                        <a:t>将数据压缩到原始大小的</a:t>
                      </a:r>
                      <a:r>
                        <a:rPr lang="en-US" altLang="zh-CN" sz="1400">
                          <a:solidFill>
                            <a:schemeClr val="tx1"/>
                          </a:solidFill>
                          <a:effectLst/>
                          <a:latin typeface="+mj-ea"/>
                          <a:ea typeface="+mj-ea"/>
                        </a:rPr>
                        <a:t>1/5</a:t>
                      </a:r>
                      <a:r>
                        <a:rPr lang="zh-CN" altLang="en-US" sz="1400">
                          <a:solidFill>
                            <a:schemeClr val="tx1"/>
                          </a:solidFill>
                          <a:effectLst/>
                          <a:latin typeface="+mj-ea"/>
                          <a:ea typeface="+mj-ea"/>
                        </a:rPr>
                        <a:t>甚至</a:t>
                      </a:r>
                      <a:r>
                        <a:rPr lang="en-US" altLang="zh-CN" sz="1400">
                          <a:solidFill>
                            <a:schemeClr val="tx1"/>
                          </a:solidFill>
                          <a:effectLst/>
                          <a:latin typeface="+mj-ea"/>
                          <a:ea typeface="+mj-ea"/>
                        </a:rPr>
                        <a:t>1/10</a:t>
                      </a:r>
                      <a:r>
                        <a:rPr lang="zh-CN" altLang="en-US" sz="1400">
                          <a:solidFill>
                            <a:schemeClr val="tx1"/>
                          </a:solidFill>
                          <a:effectLst/>
                          <a:latin typeface="+mj-ea"/>
                          <a:ea typeface="+mj-ea"/>
                        </a:rPr>
                        <a:t>，降低</a:t>
                      </a:r>
                      <a:r>
                        <a:rPr lang="en-US" altLang="zh-CN" sz="1400">
                          <a:solidFill>
                            <a:schemeClr val="tx1"/>
                          </a:solidFill>
                          <a:effectLst/>
                          <a:latin typeface="+mj-ea"/>
                          <a:ea typeface="+mj-ea"/>
                        </a:rPr>
                        <a:t>TCO</a:t>
                      </a:r>
                      <a:r>
                        <a:rPr lang="zh-CN" altLang="en-US" sz="1400">
                          <a:solidFill>
                            <a:schemeClr val="tx1"/>
                          </a:solidFill>
                          <a:effectLst/>
                          <a:latin typeface="+mj-ea"/>
                          <a:ea typeface="+mj-ea"/>
                        </a:rPr>
                        <a:t>；使连接操作变为数组间高效的整数匹配</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109127"/>
                  </a:ext>
                </a:extLst>
              </a:tr>
              <a:tr h="1161000">
                <a:tc>
                  <a:txBody>
                    <a:bodyPr/>
                    <a:lstStyle/>
                    <a:p>
                      <a:pPr algn="l" fontAlgn="base" latinLnBrk="0"/>
                      <a:r>
                        <a:rPr lang="zh-CN" altLang="en-US" sz="1800" b="1">
                          <a:solidFill>
                            <a:srgbClr val="000000"/>
                          </a:solidFill>
                          <a:effectLst/>
                          <a:latin typeface="+mj-ea"/>
                          <a:ea typeface="+mj-ea"/>
                        </a:rPr>
                        <a:t>查询执行引擎</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400">
                          <a:solidFill>
                            <a:schemeClr val="tx1"/>
                          </a:solidFill>
                          <a:effectLst/>
                          <a:latin typeface="+mj-ea"/>
                          <a:ea typeface="+mj-ea"/>
                        </a:rPr>
                        <a:t>多路连接感知优化器 </a:t>
                      </a:r>
                      <a:r>
                        <a:rPr lang="en-US" altLang="zh-CN" sz="1400">
                          <a:solidFill>
                            <a:schemeClr val="tx1"/>
                          </a:solidFill>
                          <a:effectLst/>
                          <a:latin typeface="+mj-ea"/>
                          <a:ea typeface="+mj-ea"/>
                        </a:rPr>
                        <a:t>(</a:t>
                      </a:r>
                      <a:r>
                        <a:rPr lang="en-US" sz="1400">
                          <a:solidFill>
                            <a:schemeClr val="tx1"/>
                          </a:solidFill>
                          <a:effectLst/>
                          <a:latin typeface="+mj-ea"/>
                          <a:ea typeface="+mj-ea"/>
                        </a:rPr>
                        <a:t>m-way Join Aware Optimizer)</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a:solidFill>
                            <a:schemeClr val="tx1"/>
                          </a:solidFill>
                          <a:effectLst/>
                          <a:latin typeface="+mj-ea"/>
                          <a:ea typeface="+mj-ea"/>
                        </a:rPr>
                        <a:t>将多个表的连接作为一个整体单元（</a:t>
                      </a:r>
                      <a:r>
                        <a:rPr lang="en-US" altLang="zh-CN" sz="1400">
                          <a:solidFill>
                            <a:schemeClr val="tx1"/>
                          </a:solidFill>
                          <a:effectLst/>
                          <a:latin typeface="+mj-ea"/>
                          <a:ea typeface="+mj-ea"/>
                        </a:rPr>
                        <a:t>m-way join unit</a:t>
                      </a:r>
                      <a:r>
                        <a:rPr lang="zh-CN" altLang="en-US" sz="1400">
                          <a:solidFill>
                            <a:schemeClr val="tx1"/>
                          </a:solidFill>
                          <a:effectLst/>
                          <a:latin typeface="+mj-ea"/>
                          <a:ea typeface="+mj-ea"/>
                        </a:rPr>
                        <a:t>）进行优化，避免生成巨大的中间结果</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a:solidFill>
                            <a:schemeClr val="tx1"/>
                          </a:solidFill>
                          <a:effectLst/>
                          <a:latin typeface="+mj-ea"/>
                          <a:ea typeface="+mj-ea"/>
                        </a:rPr>
                        <a:t>显著减少内存中的计算负担和数据移动，特别适用于星型模型查询</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43922954"/>
                  </a:ext>
                </a:extLst>
              </a:tr>
              <a:tr h="1161000">
                <a:tc>
                  <a:txBody>
                    <a:bodyPr/>
                    <a:lstStyle/>
                    <a:p>
                      <a:pPr algn="l" fontAlgn="base" latinLnBrk="0"/>
                      <a:r>
                        <a:rPr lang="zh-CN" altLang="en-US" sz="1800" b="1">
                          <a:solidFill>
                            <a:srgbClr val="000000"/>
                          </a:solidFill>
                          <a:effectLst/>
                          <a:latin typeface="+mj-ea"/>
                          <a:ea typeface="+mj-ea"/>
                        </a:rPr>
                        <a:t>计算下推</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400">
                          <a:solidFill>
                            <a:schemeClr val="tx1"/>
                          </a:solidFill>
                          <a:effectLst/>
                          <a:latin typeface="+mj-ea"/>
                          <a:ea typeface="+mj-ea"/>
                        </a:rPr>
                        <a:t>将计算逻辑移至数据层</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a:solidFill>
                            <a:schemeClr val="tx1"/>
                          </a:solidFill>
                          <a:effectLst/>
                          <a:latin typeface="+mj-ea"/>
                          <a:ea typeface="+mj-ea"/>
                        </a:rPr>
                        <a:t>在数据库内部直接执行复杂计算（通过</a:t>
                      </a:r>
                      <a:r>
                        <a:rPr lang="en-US" altLang="zh-CN" sz="1400">
                          <a:solidFill>
                            <a:schemeClr val="tx1"/>
                          </a:solidFill>
                          <a:effectLst/>
                          <a:latin typeface="+mj-ea"/>
                          <a:ea typeface="+mj-ea"/>
                        </a:rPr>
                        <a:t>SQLScript</a:t>
                      </a:r>
                      <a:r>
                        <a:rPr lang="zh-CN" altLang="en-US" sz="1400">
                          <a:solidFill>
                            <a:schemeClr val="tx1"/>
                          </a:solidFill>
                          <a:effectLst/>
                          <a:latin typeface="+mj-ea"/>
                          <a:ea typeface="+mj-ea"/>
                        </a:rPr>
                        <a:t>、</a:t>
                      </a:r>
                      <a:r>
                        <a:rPr lang="en-US" altLang="zh-CN" sz="1400">
                          <a:solidFill>
                            <a:schemeClr val="tx1"/>
                          </a:solidFill>
                          <a:effectLst/>
                          <a:latin typeface="+mj-ea"/>
                          <a:ea typeface="+mj-ea"/>
                        </a:rPr>
                        <a:t>AMDP</a:t>
                      </a:r>
                      <a:r>
                        <a:rPr lang="zh-CN" altLang="en-US" sz="1400">
                          <a:solidFill>
                            <a:schemeClr val="tx1"/>
                          </a:solidFill>
                          <a:effectLst/>
                          <a:latin typeface="+mj-ea"/>
                          <a:ea typeface="+mj-ea"/>
                        </a:rPr>
                        <a:t>等），而非将数据取到应用层</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b="1" dirty="0">
                          <a:solidFill>
                            <a:schemeClr val="tx1"/>
                          </a:solidFill>
                          <a:effectLst/>
                          <a:latin typeface="+mj-ea"/>
                          <a:ea typeface="+mj-ea"/>
                        </a:rPr>
                        <a:t>“移动计算而非移动数据”</a:t>
                      </a:r>
                      <a:r>
                        <a:rPr lang="zh-CN" altLang="en-US" sz="1400" dirty="0">
                          <a:solidFill>
                            <a:schemeClr val="tx1"/>
                          </a:solidFill>
                          <a:effectLst/>
                          <a:latin typeface="+mj-ea"/>
                          <a:ea typeface="+mj-ea"/>
                        </a:rPr>
                        <a:t>，最大化减少网络传输和序列化开销</a:t>
                      </a:r>
                    </a:p>
                  </a:txBody>
                  <a:tcPr marL="89022" marR="92732" marT="46366" marB="4636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49819348"/>
                  </a:ext>
                </a:extLst>
              </a:tr>
            </a:tbl>
          </a:graphicData>
        </a:graphic>
      </p:graphicFrame>
    </p:spTree>
    <p:extLst>
      <p:ext uri="{BB962C8B-B14F-4D97-AF65-F5344CB8AC3E}">
        <p14:creationId xmlns:p14="http://schemas.microsoft.com/office/powerpoint/2010/main" val="1155606919"/>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4CFC466-9E14-5F45-ED51-5AEA119E4707}"/>
              </a:ext>
            </a:extLst>
          </p:cNvPr>
          <p:cNvSpPr>
            <a:spLocks noGrp="1"/>
          </p:cNvSpPr>
          <p:nvPr>
            <p:ph type="title"/>
          </p:nvPr>
        </p:nvSpPr>
        <p:spPr>
          <a:xfrm>
            <a:off x="866346" y="-316256"/>
            <a:ext cx="13120688" cy="900112"/>
          </a:xfrm>
        </p:spPr>
        <p:txBody>
          <a:bodyPr>
            <a:normAutofit/>
          </a:bodyPr>
          <a:lstStyle/>
          <a:p>
            <a:r>
              <a:rPr lang="en-US" altLang="zh-CN" sz="1800" dirty="0">
                <a:latin typeface="+mj-ea"/>
              </a:rPr>
              <a:t>SAP</a:t>
            </a:r>
            <a:r>
              <a:rPr lang="zh-CN" altLang="en-US" sz="1800" dirty="0">
                <a:latin typeface="+mj-ea"/>
              </a:rPr>
              <a:t>环境中另建引擎和</a:t>
            </a:r>
            <a:r>
              <a:rPr lang="en-US" altLang="zh-CN" sz="1800" dirty="0">
                <a:latin typeface="+mj-ea"/>
              </a:rPr>
              <a:t>HANA</a:t>
            </a:r>
            <a:r>
              <a:rPr lang="zh-CN" altLang="en-US" sz="1800" dirty="0">
                <a:latin typeface="+mj-ea"/>
              </a:rPr>
              <a:t>对比</a:t>
            </a:r>
          </a:p>
        </p:txBody>
      </p:sp>
      <p:graphicFrame>
        <p:nvGraphicFramePr>
          <p:cNvPr id="3" name="表格 2">
            <a:extLst>
              <a:ext uri="{FF2B5EF4-FFF2-40B4-BE49-F238E27FC236}">
                <a16:creationId xmlns:a16="http://schemas.microsoft.com/office/drawing/2014/main" id="{2C4FAAA2-192B-FDD0-E5BD-6B2B7EB8C33C}"/>
              </a:ext>
            </a:extLst>
          </p:cNvPr>
          <p:cNvGraphicFramePr>
            <a:graphicFrameLocks noGrp="1"/>
          </p:cNvGraphicFramePr>
          <p:nvPr>
            <p:extLst>
              <p:ext uri="{D42A27DB-BD31-4B8C-83A1-F6EECF244321}">
                <p14:modId xmlns:p14="http://schemas.microsoft.com/office/powerpoint/2010/main" val="3059093417"/>
              </p:ext>
            </p:extLst>
          </p:nvPr>
        </p:nvGraphicFramePr>
        <p:xfrm>
          <a:off x="922690" y="739817"/>
          <a:ext cx="9785140" cy="4615029"/>
        </p:xfrm>
        <a:graphic>
          <a:graphicData uri="http://schemas.openxmlformats.org/drawingml/2006/table">
            <a:tbl>
              <a:tblPr/>
              <a:tblGrid>
                <a:gridCol w="2548206">
                  <a:extLst>
                    <a:ext uri="{9D8B030D-6E8A-4147-A177-3AD203B41FA5}">
                      <a16:colId xmlns:a16="http://schemas.microsoft.com/office/drawing/2014/main" val="3495236819"/>
                    </a:ext>
                  </a:extLst>
                </a:gridCol>
                <a:gridCol w="3618467">
                  <a:extLst>
                    <a:ext uri="{9D8B030D-6E8A-4147-A177-3AD203B41FA5}">
                      <a16:colId xmlns:a16="http://schemas.microsoft.com/office/drawing/2014/main" val="2732843647"/>
                    </a:ext>
                  </a:extLst>
                </a:gridCol>
                <a:gridCol w="3618467">
                  <a:extLst>
                    <a:ext uri="{9D8B030D-6E8A-4147-A177-3AD203B41FA5}">
                      <a16:colId xmlns:a16="http://schemas.microsoft.com/office/drawing/2014/main" val="1248368120"/>
                    </a:ext>
                  </a:extLst>
                </a:gridCol>
              </a:tblGrid>
              <a:tr h="456278">
                <a:tc>
                  <a:txBody>
                    <a:bodyPr/>
                    <a:lstStyle/>
                    <a:p>
                      <a:pPr algn="l" fontAlgn="base" latinLnBrk="0"/>
                      <a:r>
                        <a:rPr lang="zh-CN" altLang="en-US" sz="1400" b="1" dirty="0">
                          <a:solidFill>
                            <a:srgbClr val="FFFFFF"/>
                          </a:solidFill>
                          <a:effectLst/>
                          <a:latin typeface="+mj-ea"/>
                          <a:ea typeface="+mj-ea"/>
                        </a:rPr>
                        <a:t>对比维度</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algn="l" fontAlgn="base" latinLnBrk="0"/>
                      <a:r>
                        <a:rPr lang="zh-CN" altLang="en-US" sz="1400" b="1">
                          <a:solidFill>
                            <a:srgbClr val="FFFFFF"/>
                          </a:solidFill>
                          <a:effectLst/>
                          <a:latin typeface="+mj-ea"/>
                          <a:ea typeface="+mj-ea"/>
                        </a:rPr>
                        <a:t>路径一：在</a:t>
                      </a:r>
                      <a:r>
                        <a:rPr lang="en-US" altLang="zh-CN" sz="1400" b="1">
                          <a:solidFill>
                            <a:srgbClr val="FFFFFF"/>
                          </a:solidFill>
                          <a:effectLst/>
                          <a:latin typeface="+mj-ea"/>
                          <a:ea typeface="+mj-ea"/>
                        </a:rPr>
                        <a:t>SAP HANA</a:t>
                      </a:r>
                      <a:r>
                        <a:rPr lang="zh-CN" altLang="en-US" sz="1400" b="1">
                          <a:solidFill>
                            <a:srgbClr val="FFFFFF"/>
                          </a:solidFill>
                          <a:effectLst/>
                          <a:latin typeface="+mj-ea"/>
                          <a:ea typeface="+mj-ea"/>
                        </a:rPr>
                        <a:t>平台上深度开发</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pPr algn="l" fontAlgn="base" latinLnBrk="0"/>
                      <a:r>
                        <a:rPr lang="zh-CN" altLang="en-US" sz="1400" b="1">
                          <a:solidFill>
                            <a:srgbClr val="FFFFFF"/>
                          </a:solidFill>
                          <a:effectLst/>
                          <a:latin typeface="+mj-ea"/>
                          <a:ea typeface="+mj-ea"/>
                        </a:rPr>
                        <a:t>路径二：使用</a:t>
                      </a:r>
                      <a:r>
                        <a:rPr lang="en-US" altLang="zh-CN" sz="1400" b="1">
                          <a:solidFill>
                            <a:srgbClr val="FFFFFF"/>
                          </a:solidFill>
                          <a:effectLst/>
                          <a:latin typeface="+mj-ea"/>
                          <a:ea typeface="+mj-ea"/>
                        </a:rPr>
                        <a:t>Java</a:t>
                      </a:r>
                      <a:r>
                        <a:rPr lang="zh-CN" altLang="en-US" sz="1400" b="1">
                          <a:solidFill>
                            <a:srgbClr val="FFFFFF"/>
                          </a:solidFill>
                          <a:effectLst/>
                          <a:latin typeface="+mj-ea"/>
                          <a:ea typeface="+mj-ea"/>
                        </a:rPr>
                        <a:t>技术栈自研引擎</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extLst>
                  <a:ext uri="{0D108BD9-81ED-4DB2-BD59-A6C34878D82A}">
                    <a16:rowId xmlns:a16="http://schemas.microsoft.com/office/drawing/2014/main" val="3858124920"/>
                  </a:ext>
                </a:extLst>
              </a:tr>
              <a:tr h="637233">
                <a:tc>
                  <a:txBody>
                    <a:bodyPr/>
                    <a:lstStyle/>
                    <a:p>
                      <a:pPr algn="l" fontAlgn="base" latinLnBrk="0"/>
                      <a:r>
                        <a:rPr lang="zh-CN" altLang="en-US" sz="1400" b="1">
                          <a:solidFill>
                            <a:srgbClr val="000000"/>
                          </a:solidFill>
                          <a:effectLst/>
                          <a:latin typeface="+mj-ea"/>
                          <a:ea typeface="+mj-ea"/>
                        </a:rPr>
                        <a:t>核心策略</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400" b="1">
                          <a:solidFill>
                            <a:schemeClr val="tx1"/>
                          </a:solidFill>
                          <a:effectLst/>
                          <a:latin typeface="+mj-ea"/>
                          <a:ea typeface="+mj-ea"/>
                        </a:rPr>
                        <a:t>增强与集成</a:t>
                      </a:r>
                      <a:r>
                        <a:rPr lang="zh-CN" altLang="en-US" sz="1400">
                          <a:solidFill>
                            <a:schemeClr val="tx1"/>
                          </a:solidFill>
                          <a:effectLst/>
                          <a:latin typeface="+mj-ea"/>
                          <a:ea typeface="+mj-ea"/>
                        </a:rPr>
                        <a:t>：将自研算法作为</a:t>
                      </a:r>
                      <a:r>
                        <a:rPr lang="en-US" altLang="zh-CN" sz="1400">
                          <a:solidFill>
                            <a:schemeClr val="tx1"/>
                          </a:solidFill>
                          <a:effectLst/>
                          <a:latin typeface="+mj-ea"/>
                          <a:ea typeface="+mj-ea"/>
                        </a:rPr>
                        <a:t>SAP</a:t>
                      </a:r>
                      <a:r>
                        <a:rPr lang="zh-CN" altLang="en-US" sz="1400">
                          <a:solidFill>
                            <a:schemeClr val="tx1"/>
                          </a:solidFill>
                          <a:effectLst/>
                          <a:latin typeface="+mj-ea"/>
                          <a:ea typeface="+mj-ea"/>
                        </a:rPr>
                        <a:t>的“增强大脑”，与现有</a:t>
                      </a:r>
                      <a:r>
                        <a:rPr lang="en-US" altLang="zh-CN" sz="1400">
                          <a:solidFill>
                            <a:schemeClr val="tx1"/>
                          </a:solidFill>
                          <a:effectLst/>
                          <a:latin typeface="+mj-ea"/>
                          <a:ea typeface="+mj-ea"/>
                        </a:rPr>
                        <a:t>ERP</a:t>
                      </a:r>
                      <a:r>
                        <a:rPr lang="zh-CN" altLang="en-US" sz="1400">
                          <a:solidFill>
                            <a:schemeClr val="tx1"/>
                          </a:solidFill>
                          <a:effectLst/>
                          <a:latin typeface="+mj-ea"/>
                          <a:ea typeface="+mj-ea"/>
                        </a:rPr>
                        <a:t>无缝集成。</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b="1">
                          <a:solidFill>
                            <a:schemeClr val="tx1"/>
                          </a:solidFill>
                          <a:effectLst/>
                          <a:latin typeface="+mj-ea"/>
                          <a:ea typeface="+mj-ea"/>
                        </a:rPr>
                        <a:t>新建与对接</a:t>
                      </a:r>
                      <a:r>
                        <a:rPr lang="zh-CN" altLang="en-US" sz="1400">
                          <a:solidFill>
                            <a:schemeClr val="tx1"/>
                          </a:solidFill>
                          <a:effectLst/>
                          <a:latin typeface="+mj-ea"/>
                          <a:ea typeface="+mj-ea"/>
                        </a:rPr>
                        <a:t>：在</a:t>
                      </a:r>
                      <a:r>
                        <a:rPr lang="en-US" altLang="zh-CN" sz="1400">
                          <a:solidFill>
                            <a:schemeClr val="tx1"/>
                          </a:solidFill>
                          <a:effectLst/>
                          <a:latin typeface="+mj-ea"/>
                          <a:ea typeface="+mj-ea"/>
                        </a:rPr>
                        <a:t>SAP</a:t>
                      </a:r>
                      <a:r>
                        <a:rPr lang="zh-CN" altLang="en-US" sz="1400">
                          <a:solidFill>
                            <a:schemeClr val="tx1"/>
                          </a:solidFill>
                          <a:effectLst/>
                          <a:latin typeface="+mj-ea"/>
                          <a:ea typeface="+mj-ea"/>
                        </a:rPr>
                        <a:t>系统之外，从零开始构建一个独立的计划引擎。</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0132117"/>
                  </a:ext>
                </a:extLst>
              </a:tr>
              <a:tr h="651366">
                <a:tc>
                  <a:txBody>
                    <a:bodyPr/>
                    <a:lstStyle/>
                    <a:p>
                      <a:pPr algn="l" fontAlgn="base" latinLnBrk="0"/>
                      <a:r>
                        <a:rPr lang="zh-CN" altLang="en-US" sz="1400" b="1">
                          <a:solidFill>
                            <a:srgbClr val="000000"/>
                          </a:solidFill>
                          <a:effectLst/>
                          <a:latin typeface="+mj-ea"/>
                          <a:ea typeface="+mj-ea"/>
                        </a:rPr>
                        <a:t>技术可行性</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400" b="1">
                          <a:solidFill>
                            <a:schemeClr val="tx1"/>
                          </a:solidFill>
                          <a:effectLst/>
                          <a:latin typeface="+mj-ea"/>
                          <a:ea typeface="+mj-ea"/>
                        </a:rPr>
                        <a:t>极高</a:t>
                      </a:r>
                      <a:r>
                        <a:rPr lang="zh-CN" altLang="en-US" sz="1400">
                          <a:solidFill>
                            <a:schemeClr val="tx1"/>
                          </a:solidFill>
                          <a:effectLst/>
                          <a:latin typeface="+mj-ea"/>
                          <a:ea typeface="+mj-ea"/>
                        </a:rPr>
                        <a:t>：</a:t>
                      </a:r>
                      <a:r>
                        <a:rPr lang="en-US" altLang="zh-CN" sz="1400">
                          <a:solidFill>
                            <a:schemeClr val="tx1"/>
                          </a:solidFill>
                          <a:effectLst/>
                          <a:latin typeface="+mj-ea"/>
                          <a:ea typeface="+mj-ea"/>
                        </a:rPr>
                        <a:t>HANA</a:t>
                      </a:r>
                      <a:r>
                        <a:rPr lang="zh-CN" altLang="en-US" sz="1400">
                          <a:solidFill>
                            <a:schemeClr val="tx1"/>
                          </a:solidFill>
                          <a:effectLst/>
                          <a:latin typeface="+mj-ea"/>
                          <a:ea typeface="+mj-ea"/>
                        </a:rPr>
                        <a:t>作为内存计算平台，完全支持用</a:t>
                      </a:r>
                      <a:r>
                        <a:rPr lang="en-US" altLang="zh-CN" sz="1400">
                          <a:solidFill>
                            <a:schemeClr val="tx1"/>
                          </a:solidFill>
                          <a:effectLst/>
                          <a:latin typeface="+mj-ea"/>
                          <a:ea typeface="+mj-ea"/>
                        </a:rPr>
                        <a:t>SQL/SQLScript</a:t>
                      </a:r>
                      <a:r>
                        <a:rPr lang="zh-CN" altLang="en-US" sz="1400">
                          <a:solidFill>
                            <a:schemeClr val="tx1"/>
                          </a:solidFill>
                          <a:effectLst/>
                          <a:latin typeface="+mj-ea"/>
                          <a:ea typeface="+mj-ea"/>
                        </a:rPr>
                        <a:t>或自定义库（</a:t>
                      </a:r>
                      <a:r>
                        <a:rPr lang="en-US" altLang="zh-CN" sz="1400">
                          <a:solidFill>
                            <a:schemeClr val="tx1"/>
                          </a:solidFill>
                          <a:effectLst/>
                          <a:latin typeface="+mj-ea"/>
                          <a:ea typeface="+mj-ea"/>
                        </a:rPr>
                        <a:t>C++/Java</a:t>
                      </a:r>
                      <a:r>
                        <a:rPr lang="zh-CN" altLang="en-US" sz="1400">
                          <a:solidFill>
                            <a:schemeClr val="tx1"/>
                          </a:solidFill>
                          <a:effectLst/>
                          <a:latin typeface="+mj-ea"/>
                          <a:ea typeface="+mj-ea"/>
                        </a:rPr>
                        <a:t>）实现复杂算法。</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b="1">
                          <a:solidFill>
                            <a:schemeClr val="tx1"/>
                          </a:solidFill>
                          <a:effectLst/>
                          <a:latin typeface="+mj-ea"/>
                          <a:ea typeface="+mj-ea"/>
                        </a:rPr>
                        <a:t>极高</a:t>
                      </a:r>
                      <a:r>
                        <a:rPr lang="zh-CN" altLang="en-US" sz="1400">
                          <a:solidFill>
                            <a:schemeClr val="tx1"/>
                          </a:solidFill>
                          <a:effectLst/>
                          <a:latin typeface="+mj-ea"/>
                          <a:ea typeface="+mj-ea"/>
                        </a:rPr>
                        <a:t>：从底层数据结构到上层逻辑完全自主控制，技术栈灵活。</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02606053"/>
                  </a:ext>
                </a:extLst>
              </a:tr>
              <a:tr h="651366">
                <a:tc>
                  <a:txBody>
                    <a:bodyPr/>
                    <a:lstStyle/>
                    <a:p>
                      <a:pPr algn="l" fontAlgn="base" latinLnBrk="0"/>
                      <a:r>
                        <a:rPr lang="zh-CN" altLang="en-US" sz="1400" b="1">
                          <a:solidFill>
                            <a:srgbClr val="000000"/>
                          </a:solidFill>
                          <a:effectLst/>
                          <a:latin typeface="+mj-ea"/>
                          <a:ea typeface="+mj-ea"/>
                        </a:rPr>
                        <a:t>开发重心与成本</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400" b="1">
                          <a:solidFill>
                            <a:schemeClr val="tx1"/>
                          </a:solidFill>
                          <a:effectLst/>
                          <a:latin typeface="+mj-ea"/>
                          <a:ea typeface="+mj-ea"/>
                        </a:rPr>
                        <a:t>集中于业务逻辑</a:t>
                      </a:r>
                      <a:r>
                        <a:rPr lang="zh-CN" altLang="en-US" sz="1400">
                          <a:solidFill>
                            <a:schemeClr val="tx1"/>
                          </a:solidFill>
                          <a:effectLst/>
                          <a:latin typeface="+mj-ea"/>
                          <a:ea typeface="+mj-ea"/>
                        </a:rPr>
                        <a:t>：无需关心数据持久化、基础并发等，可复用</a:t>
                      </a:r>
                      <a:r>
                        <a:rPr lang="en-US" altLang="zh-CN" sz="1400">
                          <a:solidFill>
                            <a:schemeClr val="tx1"/>
                          </a:solidFill>
                          <a:effectLst/>
                          <a:latin typeface="+mj-ea"/>
                          <a:ea typeface="+mj-ea"/>
                        </a:rPr>
                        <a:t>SAP</a:t>
                      </a:r>
                      <a:r>
                        <a:rPr lang="zh-CN" altLang="en-US" sz="1400">
                          <a:solidFill>
                            <a:schemeClr val="tx1"/>
                          </a:solidFill>
                          <a:effectLst/>
                          <a:latin typeface="+mj-ea"/>
                          <a:ea typeface="+mj-ea"/>
                        </a:rPr>
                        <a:t>成熟的数据模型和接口。</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b="1" dirty="0">
                          <a:solidFill>
                            <a:schemeClr val="tx1"/>
                          </a:solidFill>
                          <a:effectLst/>
                          <a:latin typeface="+mj-ea"/>
                          <a:ea typeface="+mj-ea"/>
                        </a:rPr>
                        <a:t>全栈投入</a:t>
                      </a:r>
                      <a:r>
                        <a:rPr lang="zh-CN" altLang="en-US" sz="1400" dirty="0">
                          <a:solidFill>
                            <a:schemeClr val="tx1"/>
                          </a:solidFill>
                          <a:effectLst/>
                          <a:latin typeface="+mj-ea"/>
                          <a:ea typeface="+mj-ea"/>
                        </a:rPr>
                        <a:t>：需自行设计并实现从数据存取、计算引擎到</a:t>
                      </a:r>
                      <a:r>
                        <a:rPr lang="en-US" altLang="zh-CN" sz="1400" dirty="0">
                          <a:solidFill>
                            <a:schemeClr val="tx1"/>
                          </a:solidFill>
                          <a:effectLst/>
                          <a:latin typeface="+mj-ea"/>
                          <a:ea typeface="+mj-ea"/>
                        </a:rPr>
                        <a:t>API</a:t>
                      </a:r>
                      <a:r>
                        <a:rPr lang="zh-CN" altLang="en-US" sz="1400" dirty="0">
                          <a:solidFill>
                            <a:schemeClr val="tx1"/>
                          </a:solidFill>
                          <a:effectLst/>
                          <a:latin typeface="+mj-ea"/>
                          <a:ea typeface="+mj-ea"/>
                        </a:rPr>
                        <a:t>接口的所有底层架构。</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07769432"/>
                  </a:ext>
                </a:extLst>
              </a:tr>
              <a:tr h="651366">
                <a:tc>
                  <a:txBody>
                    <a:bodyPr/>
                    <a:lstStyle/>
                    <a:p>
                      <a:pPr algn="l" fontAlgn="base" latinLnBrk="0"/>
                      <a:r>
                        <a:rPr lang="zh-CN" altLang="en-US" sz="1400" b="1">
                          <a:solidFill>
                            <a:srgbClr val="000000"/>
                          </a:solidFill>
                          <a:effectLst/>
                          <a:latin typeface="+mj-ea"/>
                          <a:ea typeface="+mj-ea"/>
                        </a:rPr>
                        <a:t>与</a:t>
                      </a:r>
                      <a:r>
                        <a:rPr lang="en-US" sz="1400" b="1">
                          <a:solidFill>
                            <a:srgbClr val="000000"/>
                          </a:solidFill>
                          <a:effectLst/>
                          <a:latin typeface="+mj-ea"/>
                          <a:ea typeface="+mj-ea"/>
                        </a:rPr>
                        <a:t>SAP</a:t>
                      </a:r>
                      <a:r>
                        <a:rPr lang="zh-CN" altLang="en-US" sz="1400" b="1">
                          <a:solidFill>
                            <a:srgbClr val="000000"/>
                          </a:solidFill>
                          <a:effectLst/>
                          <a:latin typeface="+mj-ea"/>
                          <a:ea typeface="+mj-ea"/>
                        </a:rPr>
                        <a:t>生态集成</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400" b="1">
                          <a:solidFill>
                            <a:schemeClr val="tx1"/>
                          </a:solidFill>
                          <a:effectLst/>
                          <a:latin typeface="+mj-ea"/>
                          <a:ea typeface="+mj-ea"/>
                        </a:rPr>
                        <a:t>原生无缝</a:t>
                      </a:r>
                      <a:r>
                        <a:rPr lang="zh-CN" altLang="en-US" sz="1400">
                          <a:solidFill>
                            <a:schemeClr val="tx1"/>
                          </a:solidFill>
                          <a:effectLst/>
                          <a:latin typeface="+mj-ea"/>
                          <a:ea typeface="+mj-ea"/>
                        </a:rPr>
                        <a:t>：计划结果（如预测、补货建议）可直接写入</a:t>
                      </a:r>
                      <a:r>
                        <a:rPr lang="en-US" altLang="zh-CN" sz="1400">
                          <a:solidFill>
                            <a:schemeClr val="tx1"/>
                          </a:solidFill>
                          <a:effectLst/>
                          <a:latin typeface="+mj-ea"/>
                          <a:ea typeface="+mj-ea"/>
                        </a:rPr>
                        <a:t>SAP</a:t>
                      </a:r>
                      <a:r>
                        <a:rPr lang="zh-CN" altLang="en-US" sz="1400">
                          <a:solidFill>
                            <a:schemeClr val="tx1"/>
                          </a:solidFill>
                          <a:effectLst/>
                          <a:latin typeface="+mj-ea"/>
                          <a:ea typeface="+mj-ea"/>
                        </a:rPr>
                        <a:t>表，触发下游生产、采购执行。</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b="1" dirty="0">
                          <a:solidFill>
                            <a:schemeClr val="tx1"/>
                          </a:solidFill>
                          <a:effectLst/>
                          <a:latin typeface="+mj-ea"/>
                          <a:ea typeface="+mj-ea"/>
                        </a:rPr>
                        <a:t>接口依赖</a:t>
                      </a:r>
                      <a:r>
                        <a:rPr lang="zh-CN" altLang="en-US" sz="1400" dirty="0">
                          <a:solidFill>
                            <a:schemeClr val="tx1"/>
                          </a:solidFill>
                          <a:effectLst/>
                          <a:latin typeface="+mj-ea"/>
                          <a:ea typeface="+mj-ea"/>
                        </a:rPr>
                        <a:t>：需通过大量接口（如</a:t>
                      </a:r>
                      <a:r>
                        <a:rPr lang="en-US" altLang="zh-CN" sz="1400" dirty="0">
                          <a:solidFill>
                            <a:schemeClr val="tx1"/>
                          </a:solidFill>
                          <a:effectLst/>
                          <a:latin typeface="+mj-ea"/>
                          <a:ea typeface="+mj-ea"/>
                        </a:rPr>
                        <a:t>BAPI</a:t>
                      </a:r>
                      <a:r>
                        <a:rPr lang="zh-CN" altLang="en-US" sz="1400" dirty="0">
                          <a:solidFill>
                            <a:schemeClr val="tx1"/>
                          </a:solidFill>
                          <a:effectLst/>
                          <a:latin typeface="+mj-ea"/>
                          <a:ea typeface="+mj-ea"/>
                        </a:rPr>
                        <a:t>、</a:t>
                      </a:r>
                      <a:r>
                        <a:rPr lang="en-US" altLang="zh-CN" sz="1400" dirty="0">
                          <a:solidFill>
                            <a:schemeClr val="tx1"/>
                          </a:solidFill>
                          <a:effectLst/>
                          <a:latin typeface="+mj-ea"/>
                          <a:ea typeface="+mj-ea"/>
                        </a:rPr>
                        <a:t>IDoc</a:t>
                      </a:r>
                      <a:r>
                        <a:rPr lang="zh-CN" altLang="en-US" sz="1400" dirty="0">
                          <a:solidFill>
                            <a:schemeClr val="tx1"/>
                          </a:solidFill>
                          <a:effectLst/>
                          <a:latin typeface="+mj-ea"/>
                          <a:ea typeface="+mj-ea"/>
                        </a:rPr>
                        <a:t>、</a:t>
                      </a:r>
                      <a:r>
                        <a:rPr lang="en-US" altLang="zh-CN" sz="1400" dirty="0">
                          <a:solidFill>
                            <a:schemeClr val="tx1"/>
                          </a:solidFill>
                          <a:effectLst/>
                          <a:latin typeface="+mj-ea"/>
                          <a:ea typeface="+mj-ea"/>
                        </a:rPr>
                        <a:t>RFC</a:t>
                      </a:r>
                      <a:r>
                        <a:rPr lang="zh-CN" altLang="en-US" sz="1400" dirty="0">
                          <a:solidFill>
                            <a:schemeClr val="tx1"/>
                          </a:solidFill>
                          <a:effectLst/>
                          <a:latin typeface="+mj-ea"/>
                          <a:ea typeface="+mj-ea"/>
                        </a:rPr>
                        <a:t>）与</a:t>
                      </a:r>
                      <a:r>
                        <a:rPr lang="en-US" altLang="zh-CN" sz="1400" dirty="0">
                          <a:solidFill>
                            <a:schemeClr val="tx1"/>
                          </a:solidFill>
                          <a:effectLst/>
                          <a:latin typeface="+mj-ea"/>
                          <a:ea typeface="+mj-ea"/>
                        </a:rPr>
                        <a:t>SAP</a:t>
                      </a:r>
                      <a:r>
                        <a:rPr lang="zh-CN" altLang="en-US" sz="1400" dirty="0">
                          <a:solidFill>
                            <a:schemeClr val="tx1"/>
                          </a:solidFill>
                          <a:effectLst/>
                          <a:latin typeface="+mj-ea"/>
                          <a:ea typeface="+mj-ea"/>
                        </a:rPr>
                        <a:t>交互，存在延迟、一致性风险和维护成本。</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64012827"/>
                  </a:ext>
                </a:extLst>
              </a:tr>
              <a:tr h="651366">
                <a:tc>
                  <a:txBody>
                    <a:bodyPr/>
                    <a:lstStyle/>
                    <a:p>
                      <a:pPr algn="l" fontAlgn="base" latinLnBrk="0"/>
                      <a:r>
                        <a:rPr lang="zh-CN" altLang="en-US" sz="1400" b="1">
                          <a:solidFill>
                            <a:srgbClr val="000000"/>
                          </a:solidFill>
                          <a:effectLst/>
                          <a:latin typeface="+mj-ea"/>
                          <a:ea typeface="+mj-ea"/>
                        </a:rPr>
                        <a:t>性能发挥</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400" b="1">
                          <a:solidFill>
                            <a:schemeClr val="tx1"/>
                          </a:solidFill>
                          <a:effectLst/>
                          <a:latin typeface="+mj-ea"/>
                          <a:ea typeface="+mj-ea"/>
                        </a:rPr>
                        <a:t>极致</a:t>
                      </a:r>
                      <a:r>
                        <a:rPr lang="zh-CN" altLang="en-US" sz="1400">
                          <a:solidFill>
                            <a:schemeClr val="tx1"/>
                          </a:solidFill>
                          <a:effectLst/>
                          <a:latin typeface="+mj-ea"/>
                          <a:ea typeface="+mj-ea"/>
                        </a:rPr>
                        <a:t>：算法可直接在数据库内核的同一内存空间中运行，</a:t>
                      </a:r>
                      <a:r>
                        <a:rPr lang="zh-CN" altLang="en-US" sz="1400" b="1">
                          <a:solidFill>
                            <a:schemeClr val="tx1"/>
                          </a:solidFill>
                          <a:effectLst/>
                          <a:latin typeface="+mj-ea"/>
                          <a:ea typeface="+mj-ea"/>
                        </a:rPr>
                        <a:t>“移动计算而非数据”</a:t>
                      </a:r>
                      <a:r>
                        <a:rPr lang="zh-CN" altLang="en-US" sz="1400">
                          <a:solidFill>
                            <a:schemeClr val="tx1"/>
                          </a:solidFill>
                          <a:effectLst/>
                          <a:latin typeface="+mj-ea"/>
                          <a:ea typeface="+mj-ea"/>
                        </a:rPr>
                        <a:t>，效率最高。</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b="1">
                          <a:solidFill>
                            <a:schemeClr val="tx1"/>
                          </a:solidFill>
                          <a:effectLst/>
                          <a:latin typeface="+mj-ea"/>
                          <a:ea typeface="+mj-ea"/>
                        </a:rPr>
                        <a:t>依赖架构</a:t>
                      </a:r>
                      <a:r>
                        <a:rPr lang="zh-CN" altLang="en-US" sz="1400">
                          <a:solidFill>
                            <a:schemeClr val="tx1"/>
                          </a:solidFill>
                          <a:effectLst/>
                          <a:latin typeface="+mj-ea"/>
                          <a:ea typeface="+mj-ea"/>
                        </a:rPr>
                        <a:t>：性能取决于自研引擎的设计，但需频繁通过网络与</a:t>
                      </a:r>
                      <a:r>
                        <a:rPr lang="en-US" altLang="zh-CN" sz="1400">
                          <a:solidFill>
                            <a:schemeClr val="tx1"/>
                          </a:solidFill>
                          <a:effectLst/>
                          <a:latin typeface="+mj-ea"/>
                          <a:ea typeface="+mj-ea"/>
                        </a:rPr>
                        <a:t>SAP</a:t>
                      </a:r>
                      <a:r>
                        <a:rPr lang="zh-CN" altLang="en-US" sz="1400">
                          <a:solidFill>
                            <a:schemeClr val="tx1"/>
                          </a:solidFill>
                          <a:effectLst/>
                          <a:latin typeface="+mj-ea"/>
                          <a:ea typeface="+mj-ea"/>
                        </a:rPr>
                        <a:t>数据库交换数据，易成瓶颈。</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86725522"/>
                  </a:ext>
                </a:extLst>
              </a:tr>
              <a:tr h="651366">
                <a:tc>
                  <a:txBody>
                    <a:bodyPr/>
                    <a:lstStyle/>
                    <a:p>
                      <a:pPr algn="l" fontAlgn="base" latinLnBrk="0"/>
                      <a:r>
                        <a:rPr lang="zh-CN" altLang="en-US" sz="1400" b="1">
                          <a:solidFill>
                            <a:srgbClr val="000000"/>
                          </a:solidFill>
                          <a:effectLst/>
                          <a:latin typeface="+mj-ea"/>
                          <a:ea typeface="+mj-ea"/>
                        </a:rPr>
                        <a:t>长远</a:t>
                      </a:r>
                      <a:r>
                        <a:rPr lang="en-US" altLang="zh-CN" sz="1400" b="1">
                          <a:solidFill>
                            <a:srgbClr val="000000"/>
                          </a:solidFill>
                          <a:effectLst/>
                          <a:latin typeface="+mj-ea"/>
                          <a:ea typeface="+mj-ea"/>
                        </a:rPr>
                        <a:t>TCO</a:t>
                      </a:r>
                      <a:r>
                        <a:rPr lang="zh-CN" altLang="en-US" sz="1400" b="1">
                          <a:solidFill>
                            <a:srgbClr val="000000"/>
                          </a:solidFill>
                          <a:effectLst/>
                          <a:latin typeface="+mj-ea"/>
                          <a:ea typeface="+mj-ea"/>
                        </a:rPr>
                        <a:t>（总体拥有成本）</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fontAlgn="base" latinLnBrk="0"/>
                      <a:r>
                        <a:rPr lang="zh-CN" altLang="en-US" sz="1400" b="1">
                          <a:solidFill>
                            <a:schemeClr val="tx1"/>
                          </a:solidFill>
                          <a:effectLst/>
                          <a:latin typeface="+mj-ea"/>
                          <a:ea typeface="+mj-ea"/>
                        </a:rPr>
                        <a:t>可控</a:t>
                      </a:r>
                      <a:r>
                        <a:rPr lang="zh-CN" altLang="en-US" sz="1400">
                          <a:solidFill>
                            <a:schemeClr val="tx1"/>
                          </a:solidFill>
                          <a:effectLst/>
                          <a:latin typeface="+mj-ea"/>
                          <a:ea typeface="+mj-ea"/>
                        </a:rPr>
                        <a:t>：主要投入在开发阶段。运维可沿用现有</a:t>
                      </a:r>
                      <a:r>
                        <a:rPr lang="en-US" altLang="zh-CN" sz="1400">
                          <a:solidFill>
                            <a:schemeClr val="tx1"/>
                          </a:solidFill>
                          <a:effectLst/>
                          <a:latin typeface="+mj-ea"/>
                          <a:ea typeface="+mj-ea"/>
                        </a:rPr>
                        <a:t>SAP BASIS</a:t>
                      </a:r>
                      <a:r>
                        <a:rPr lang="zh-CN" altLang="en-US" sz="1400">
                          <a:solidFill>
                            <a:schemeClr val="tx1"/>
                          </a:solidFill>
                          <a:effectLst/>
                          <a:latin typeface="+mj-ea"/>
                          <a:ea typeface="+mj-ea"/>
                        </a:rPr>
                        <a:t>体系，风险相对可预测。</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ase" latinLnBrk="0"/>
                      <a:r>
                        <a:rPr lang="zh-CN" altLang="en-US" sz="1400" b="1" dirty="0">
                          <a:solidFill>
                            <a:schemeClr val="tx1"/>
                          </a:solidFill>
                          <a:effectLst/>
                          <a:latin typeface="+mj-ea"/>
                          <a:ea typeface="+mj-ea"/>
                        </a:rPr>
                        <a:t>隐性成本高</a:t>
                      </a:r>
                      <a:r>
                        <a:rPr lang="zh-CN" altLang="en-US" sz="1400" dirty="0">
                          <a:solidFill>
                            <a:schemeClr val="tx1"/>
                          </a:solidFill>
                          <a:effectLst/>
                          <a:latin typeface="+mj-ea"/>
                          <a:ea typeface="+mj-ea"/>
                        </a:rPr>
                        <a:t>：高昂的研发和持续的运维成本，以及为保障集成可靠性所需的长期投入。</a:t>
                      </a:r>
                    </a:p>
                  </a:txBody>
                  <a:tcPr marL="74360" marR="77458" marT="38729" marB="38729"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4156162"/>
                  </a:ext>
                </a:extLst>
              </a:tr>
            </a:tbl>
          </a:graphicData>
        </a:graphic>
      </p:graphicFrame>
      <p:sp>
        <p:nvSpPr>
          <p:cNvPr id="5" name="文本框 4">
            <a:extLst>
              <a:ext uri="{FF2B5EF4-FFF2-40B4-BE49-F238E27FC236}">
                <a16:creationId xmlns:a16="http://schemas.microsoft.com/office/drawing/2014/main" id="{CA85352C-D307-43E5-DD96-A5800DF8152B}"/>
              </a:ext>
            </a:extLst>
          </p:cNvPr>
          <p:cNvSpPr txBox="1"/>
          <p:nvPr/>
        </p:nvSpPr>
        <p:spPr>
          <a:xfrm>
            <a:off x="1567167" y="5469243"/>
            <a:ext cx="8496185" cy="1169551"/>
          </a:xfrm>
          <a:prstGeom prst="rect">
            <a:avLst/>
          </a:prstGeom>
          <a:noFill/>
        </p:spPr>
        <p:txBody>
          <a:bodyPr wrap="square">
            <a:spAutoFit/>
          </a:bodyPr>
          <a:lstStyle/>
          <a:p>
            <a:pPr marL="285750" indent="-285750" algn="l" fontAlgn="base" latinLnBrk="0">
              <a:buFont typeface="Arial" panose="020B0604020202020204" pitchFamily="34" charset="0"/>
              <a:buChar char="•"/>
            </a:pPr>
            <a:r>
              <a:rPr lang="zh-CN" altLang="en-US" sz="1400" b="1" i="0" dirty="0">
                <a:effectLst/>
                <a:latin typeface="+mj-ea"/>
                <a:ea typeface="+mj-ea"/>
              </a:rPr>
              <a:t>极高的集成开销</a:t>
            </a:r>
            <a:r>
              <a:rPr lang="zh-CN" altLang="en-US" sz="1400" b="0" i="0" dirty="0">
                <a:effectLst/>
                <a:latin typeface="+mj-ea"/>
                <a:ea typeface="+mj-ea"/>
              </a:rPr>
              <a:t>：您的</a:t>
            </a:r>
            <a:r>
              <a:rPr lang="en-US" altLang="zh-CN" sz="1400" b="0" i="0" dirty="0">
                <a:effectLst/>
                <a:latin typeface="+mj-ea"/>
                <a:ea typeface="+mj-ea"/>
              </a:rPr>
              <a:t>Java</a:t>
            </a:r>
            <a:r>
              <a:rPr lang="zh-CN" altLang="en-US" sz="1400" b="0" i="0" dirty="0">
                <a:effectLst/>
                <a:latin typeface="+mj-ea"/>
                <a:ea typeface="+mj-ea"/>
              </a:rPr>
              <a:t>引擎需要通过各种接口（如</a:t>
            </a:r>
            <a:r>
              <a:rPr lang="en-US" altLang="zh-CN" sz="1400" b="0" i="0" dirty="0">
                <a:effectLst/>
                <a:latin typeface="+mj-ea"/>
                <a:ea typeface="+mj-ea"/>
              </a:rPr>
              <a:t>RFC</a:t>
            </a:r>
            <a:r>
              <a:rPr lang="zh-CN" altLang="en-US" sz="1400" b="0" i="0" dirty="0">
                <a:effectLst/>
                <a:latin typeface="+mj-ea"/>
                <a:ea typeface="+mj-ea"/>
              </a:rPr>
              <a:t>、</a:t>
            </a:r>
            <a:r>
              <a:rPr lang="en-US" altLang="zh-CN" sz="1400" b="0" i="0" dirty="0">
                <a:effectLst/>
                <a:latin typeface="+mj-ea"/>
                <a:ea typeface="+mj-ea"/>
              </a:rPr>
              <a:t>BAPI</a:t>
            </a:r>
            <a:r>
              <a:rPr lang="zh-CN" altLang="en-US" sz="1400" b="0" i="0" dirty="0">
                <a:effectLst/>
                <a:latin typeface="+mj-ea"/>
                <a:ea typeface="+mj-ea"/>
              </a:rPr>
              <a:t>）与</a:t>
            </a:r>
            <a:r>
              <a:rPr lang="en-US" altLang="zh-CN" sz="1400" b="0" i="0" dirty="0">
                <a:effectLst/>
                <a:latin typeface="+mj-ea"/>
                <a:ea typeface="+mj-ea"/>
              </a:rPr>
              <a:t>SAP</a:t>
            </a:r>
            <a:r>
              <a:rPr lang="zh-CN" altLang="en-US" sz="1400" b="0" i="0" dirty="0">
                <a:effectLst/>
                <a:latin typeface="+mj-ea"/>
                <a:ea typeface="+mj-ea"/>
              </a:rPr>
              <a:t>系统进行数据同步，这种高频的、网络层面的数据交换不仅引入延迟，更增加了系统的复杂性和维护负担。</a:t>
            </a:r>
          </a:p>
          <a:p>
            <a:pPr marL="285750" indent="-285750" algn="l" fontAlgn="base" latinLnBrk="0">
              <a:buFont typeface="Arial" panose="020B0604020202020204" pitchFamily="34" charset="0"/>
              <a:buChar char="•"/>
            </a:pPr>
            <a:r>
              <a:rPr lang="zh-CN" altLang="en-US" sz="1400" b="1" i="0" dirty="0">
                <a:effectLst/>
                <a:latin typeface="+mj-ea"/>
                <a:ea typeface="+mj-ea"/>
              </a:rPr>
              <a:t>重复建设底层架构</a:t>
            </a:r>
            <a:r>
              <a:rPr lang="zh-CN" altLang="en-US" sz="1400" b="0" i="0" dirty="0">
                <a:effectLst/>
                <a:latin typeface="+mj-ea"/>
                <a:ea typeface="+mj-ea"/>
              </a:rPr>
              <a:t>：您需要投入大量精力去构建一个独立引擎所需的一切基础组件，而非专注于优化您的核心算法</a:t>
            </a:r>
            <a:r>
              <a:rPr lang="en-US" altLang="zh-CN" sz="1400" b="0" i="0" dirty="0">
                <a:effectLst/>
                <a:latin typeface="+mj-ea"/>
                <a:ea typeface="+mj-ea"/>
              </a:rPr>
              <a:t>.</a:t>
            </a:r>
          </a:p>
          <a:p>
            <a:pPr marL="285750" indent="-285750" algn="l" fontAlgn="base" latinLnBrk="0">
              <a:buFont typeface="Arial" panose="020B0604020202020204" pitchFamily="34" charset="0"/>
              <a:buChar char="•"/>
            </a:pPr>
            <a:r>
              <a:rPr lang="zh-CN" altLang="en-US" sz="1400" b="1" dirty="0">
                <a:latin typeface="+mj-ea"/>
                <a:ea typeface="+mj-ea"/>
              </a:rPr>
              <a:t>数据结构算法优化：</a:t>
            </a:r>
            <a:r>
              <a:rPr lang="zh-CN" altLang="en-US" sz="1400" dirty="0">
                <a:latin typeface="+mj-ea"/>
                <a:ea typeface="+mj-ea"/>
              </a:rPr>
              <a:t>这是除数据模型和业务算法外的另一个能力挑战</a:t>
            </a:r>
            <a:endParaRPr lang="zh-CN" altLang="en-US" sz="1400" i="0" dirty="0">
              <a:effectLst/>
              <a:latin typeface="+mj-ea"/>
              <a:ea typeface="+mj-ea"/>
            </a:endParaRPr>
          </a:p>
        </p:txBody>
      </p:sp>
    </p:spTree>
    <p:extLst>
      <p:ext uri="{BB962C8B-B14F-4D97-AF65-F5344CB8AC3E}">
        <p14:creationId xmlns:p14="http://schemas.microsoft.com/office/powerpoint/2010/main" val="482896330"/>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3B829B51-0187-21F3-28EB-DE3C6244121C}"/>
              </a:ext>
            </a:extLst>
          </p:cNvPr>
          <p:cNvSpPr>
            <a:spLocks noGrp="1"/>
          </p:cNvSpPr>
          <p:nvPr>
            <p:ph type="ctrTitle"/>
          </p:nvPr>
        </p:nvSpPr>
        <p:spPr/>
        <p:txBody>
          <a:bodyPr/>
          <a:lstStyle/>
          <a:p>
            <a:r>
              <a:rPr lang="en-US" altLang="zh-CN" dirty="0"/>
              <a:t>ETO/</a:t>
            </a:r>
            <a:r>
              <a:rPr lang="zh-CN" altLang="en-US" dirty="0"/>
              <a:t>项目管理</a:t>
            </a:r>
          </a:p>
        </p:txBody>
      </p:sp>
    </p:spTree>
    <p:extLst>
      <p:ext uri="{BB962C8B-B14F-4D97-AF65-F5344CB8AC3E}">
        <p14:creationId xmlns:p14="http://schemas.microsoft.com/office/powerpoint/2010/main" val="1011429380"/>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098C60E-4B90-6D1E-20D0-2BAB20B29E9C}"/>
              </a:ext>
            </a:extLst>
          </p:cNvPr>
          <p:cNvSpPr>
            <a:spLocks noGrp="1"/>
          </p:cNvSpPr>
          <p:nvPr>
            <p:ph type="title"/>
          </p:nvPr>
        </p:nvSpPr>
        <p:spPr/>
        <p:txBody>
          <a:bodyPr/>
          <a:lstStyle/>
          <a:p>
            <a:r>
              <a:rPr lang="en-US" altLang="zh-CN" dirty="0"/>
              <a:t>ETO </a:t>
            </a:r>
            <a:r>
              <a:rPr lang="zh-CN" altLang="en-US" dirty="0"/>
              <a:t>模式下答复交期的思维框架</a:t>
            </a:r>
          </a:p>
        </p:txBody>
      </p:sp>
      <p:sp>
        <p:nvSpPr>
          <p:cNvPr id="3" name="文本框 2">
            <a:extLst>
              <a:ext uri="{FF2B5EF4-FFF2-40B4-BE49-F238E27FC236}">
                <a16:creationId xmlns:a16="http://schemas.microsoft.com/office/drawing/2014/main" id="{6A40FD9D-BDCF-1DF0-BB75-2648240D9330}"/>
              </a:ext>
            </a:extLst>
          </p:cNvPr>
          <p:cNvSpPr txBox="1"/>
          <p:nvPr/>
        </p:nvSpPr>
        <p:spPr>
          <a:xfrm>
            <a:off x="757451" y="907576"/>
            <a:ext cx="9928746" cy="369332"/>
          </a:xfrm>
          <a:prstGeom prst="rect">
            <a:avLst/>
          </a:prstGeom>
          <a:noFill/>
        </p:spPr>
        <p:txBody>
          <a:bodyPr wrap="square" rtlCol="0">
            <a:spAutoFit/>
          </a:bodyPr>
          <a:lstStyle/>
          <a:p>
            <a:r>
              <a:rPr lang="zh-CN" altLang="en-US" b="0" i="0" dirty="0">
                <a:effectLst/>
                <a:latin typeface="+mj-ea"/>
                <a:ea typeface="+mj-ea"/>
              </a:rPr>
              <a:t>在</a:t>
            </a:r>
            <a:r>
              <a:rPr lang="en-US" altLang="zh-CN" b="0" i="0" dirty="0">
                <a:effectLst/>
                <a:latin typeface="+mj-ea"/>
                <a:ea typeface="+mj-ea"/>
              </a:rPr>
              <a:t>ETO</a:t>
            </a:r>
            <a:r>
              <a:rPr lang="zh-CN" altLang="en-US" b="0" i="0" dirty="0">
                <a:effectLst/>
                <a:latin typeface="+mj-ea"/>
                <a:ea typeface="+mj-ea"/>
              </a:rPr>
              <a:t>模式下，答复交期不应是一个一次性动作，而是一个贯穿项目前期的</a:t>
            </a:r>
            <a:r>
              <a:rPr lang="zh-CN" altLang="en-US" b="1" i="0" dirty="0">
                <a:effectLst/>
                <a:latin typeface="+mj-ea"/>
                <a:ea typeface="+mj-ea"/>
              </a:rPr>
              <a:t>动态沟通和管理过程</a:t>
            </a:r>
            <a:endParaRPr lang="zh-CN" altLang="en-US" dirty="0">
              <a:latin typeface="+mj-ea"/>
              <a:ea typeface="+mj-ea"/>
            </a:endParaRPr>
          </a:p>
        </p:txBody>
      </p:sp>
      <p:graphicFrame>
        <p:nvGraphicFramePr>
          <p:cNvPr id="6" name="图示 5">
            <a:extLst>
              <a:ext uri="{FF2B5EF4-FFF2-40B4-BE49-F238E27FC236}">
                <a16:creationId xmlns:a16="http://schemas.microsoft.com/office/drawing/2014/main" id="{1F5A00A9-7114-B74D-630D-E77592F1DB1E}"/>
              </a:ext>
            </a:extLst>
          </p:cNvPr>
          <p:cNvGraphicFramePr/>
          <p:nvPr>
            <p:extLst>
              <p:ext uri="{D42A27DB-BD31-4B8C-83A1-F6EECF244321}">
                <p14:modId xmlns:p14="http://schemas.microsoft.com/office/powerpoint/2010/main" val="1454832516"/>
              </p:ext>
            </p:extLst>
          </p:nvPr>
        </p:nvGraphicFramePr>
        <p:xfrm>
          <a:off x="1615554" y="1990257"/>
          <a:ext cx="9384542" cy="411711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97142016"/>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BC08CC5-1094-BF71-1BC4-8C4148247245}"/>
              </a:ext>
            </a:extLst>
          </p:cNvPr>
          <p:cNvSpPr>
            <a:spLocks noGrp="1"/>
          </p:cNvSpPr>
          <p:nvPr>
            <p:ph type="title"/>
          </p:nvPr>
        </p:nvSpPr>
        <p:spPr/>
        <p:txBody>
          <a:bodyPr/>
          <a:lstStyle/>
          <a:p>
            <a:r>
              <a:rPr lang="zh-CN" altLang="en-US" dirty="0">
                <a:latin typeface="+mj-ea"/>
              </a:rPr>
              <a:t>初始阶段：拒绝天真承诺，提供基于经验的预估</a:t>
            </a:r>
          </a:p>
        </p:txBody>
      </p:sp>
      <p:grpSp>
        <p:nvGrpSpPr>
          <p:cNvPr id="38" name="组合 37">
            <a:extLst>
              <a:ext uri="{FF2B5EF4-FFF2-40B4-BE49-F238E27FC236}">
                <a16:creationId xmlns:a16="http://schemas.microsoft.com/office/drawing/2014/main" id="{B79CDADE-970E-3457-D816-6DD99EBBEC5D}"/>
              </a:ext>
            </a:extLst>
          </p:cNvPr>
          <p:cNvGrpSpPr>
            <a:grpSpLocks noChangeAspect="1"/>
          </p:cNvGrpSpPr>
          <p:nvPr>
            <p:custDataLst>
              <p:tags r:id="rId1"/>
            </p:custDataLst>
          </p:nvPr>
        </p:nvGrpSpPr>
        <p:grpSpPr>
          <a:xfrm>
            <a:off x="866346" y="1706611"/>
            <a:ext cx="10738380" cy="3568890"/>
            <a:chOff x="1465767" y="2127593"/>
            <a:chExt cx="9260467" cy="2602815"/>
          </a:xfrm>
        </p:grpSpPr>
        <p:grpSp>
          <p:nvGrpSpPr>
            <p:cNvPr id="39" name="组合 38">
              <a:extLst>
                <a:ext uri="{FF2B5EF4-FFF2-40B4-BE49-F238E27FC236}">
                  <a16:creationId xmlns:a16="http://schemas.microsoft.com/office/drawing/2014/main" id="{69D306FA-9D91-59E4-0E14-1776079633C9}"/>
                </a:ext>
              </a:extLst>
            </p:cNvPr>
            <p:cNvGrpSpPr/>
            <p:nvPr/>
          </p:nvGrpSpPr>
          <p:grpSpPr>
            <a:xfrm>
              <a:off x="1465767" y="2127593"/>
              <a:ext cx="9260467" cy="1096317"/>
              <a:chOff x="874133" y="2127593"/>
              <a:chExt cx="9260467" cy="1096317"/>
            </a:xfrm>
          </p:grpSpPr>
          <p:sp>
            <p:nvSpPr>
              <p:cNvPr id="46" name="1">
                <a:extLst>
                  <a:ext uri="{FF2B5EF4-FFF2-40B4-BE49-F238E27FC236}">
                    <a16:creationId xmlns:a16="http://schemas.microsoft.com/office/drawing/2014/main" id="{13D1ECC7-E152-1E2D-8CA6-C7A507F7E7EC}"/>
                  </a:ext>
                </a:extLst>
              </p:cNvPr>
              <p:cNvSpPr/>
              <p:nvPr>
                <p:custDataLst>
                  <p:tags r:id="rId7"/>
                </p:custDataLst>
              </p:nvPr>
            </p:nvSpPr>
            <p:spPr>
              <a:xfrm>
                <a:off x="1421931" y="2236378"/>
                <a:ext cx="5811205" cy="379302"/>
              </a:xfrm>
              <a:prstGeom prst="parallelogram">
                <a:avLst/>
              </a:prstGeom>
              <a:solidFill>
                <a:schemeClr val="tx2">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a:p>
            </p:txBody>
          </p:sp>
          <p:sp>
            <p:nvSpPr>
              <p:cNvPr id="47" name="1">
                <a:extLst>
                  <a:ext uri="{FF2B5EF4-FFF2-40B4-BE49-F238E27FC236}">
                    <a16:creationId xmlns:a16="http://schemas.microsoft.com/office/drawing/2014/main" id="{17A1D8EF-71D1-51D9-D1DB-BDF5CA1D51B9}"/>
                  </a:ext>
                </a:extLst>
              </p:cNvPr>
              <p:cNvSpPr/>
              <p:nvPr>
                <p:custDataLst>
                  <p:tags r:id="rId8"/>
                </p:custDataLst>
              </p:nvPr>
            </p:nvSpPr>
            <p:spPr>
              <a:xfrm>
                <a:off x="1421930" y="2615680"/>
                <a:ext cx="8712670" cy="607511"/>
              </a:xfrm>
              <a:prstGeom prst="parallelogram">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a:p>
            </p:txBody>
          </p:sp>
          <p:sp>
            <p:nvSpPr>
              <p:cNvPr id="48" name="Index-1">
                <a:extLst>
                  <a:ext uri="{FF2B5EF4-FFF2-40B4-BE49-F238E27FC236}">
                    <a16:creationId xmlns:a16="http://schemas.microsoft.com/office/drawing/2014/main" id="{3CE6B992-B0F9-B4CA-95AF-871AE79B1BDF}"/>
                  </a:ext>
                </a:extLst>
              </p:cNvPr>
              <p:cNvSpPr/>
              <p:nvPr>
                <p:custDataLst>
                  <p:tags r:id="rId9"/>
                </p:custDataLst>
              </p:nvPr>
            </p:nvSpPr>
            <p:spPr>
              <a:xfrm>
                <a:off x="874133" y="2127593"/>
                <a:ext cx="1095598" cy="1095598"/>
              </a:xfrm>
              <a:prstGeom prst="flowChartConnector">
                <a:avLst/>
              </a:prstGeom>
              <a:solidFill>
                <a:schemeClr val="bg1">
                  <a:lumMod val="95000"/>
                </a:schemeClr>
              </a:solidFill>
              <a:ln w="25400">
                <a:gradFill>
                  <a:gsLst>
                    <a:gs pos="0">
                      <a:schemeClr val="bg1"/>
                    </a:gs>
                    <a:gs pos="100000">
                      <a:schemeClr val="bg1">
                        <a:lumMod val="85000"/>
                      </a:schemeClr>
                    </a:gs>
                  </a:gsLst>
                  <a:lin ang="5400000" scaled="1"/>
                </a:gradFill>
              </a:ln>
              <a:effectLst>
                <a:outerShdw blurRad="381000" dist="63500" algn="ctr" rotWithShape="0">
                  <a:schemeClr val="tx1">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r>
                  <a:rPr lang="en-US" altLang="zh-CN" sz="3200" b="1" i="1" dirty="0">
                    <a:solidFill>
                      <a:schemeClr val="tx1"/>
                    </a:solidFill>
                    <a:latin typeface="+mj-ea"/>
                    <a:ea typeface="+mj-ea"/>
                  </a:rPr>
                  <a:t>01</a:t>
                </a:r>
                <a:endParaRPr lang="zh-CN" altLang="en-US" sz="3200" b="1" i="1" dirty="0">
                  <a:solidFill>
                    <a:schemeClr val="tx1"/>
                  </a:solidFill>
                  <a:latin typeface="+mj-ea"/>
                  <a:ea typeface="+mj-ea"/>
                </a:endParaRPr>
              </a:p>
            </p:txBody>
          </p:sp>
          <p:sp>
            <p:nvSpPr>
              <p:cNvPr id="49" name="Title-1">
                <a:extLst>
                  <a:ext uri="{FF2B5EF4-FFF2-40B4-BE49-F238E27FC236}">
                    <a16:creationId xmlns:a16="http://schemas.microsoft.com/office/drawing/2014/main" id="{40715D0C-3DE4-A77E-B4AA-B1CE21BD8935}"/>
                  </a:ext>
                </a:extLst>
              </p:cNvPr>
              <p:cNvSpPr txBox="1"/>
              <p:nvPr>
                <p:custDataLst>
                  <p:tags r:id="rId10"/>
                </p:custDataLst>
              </p:nvPr>
            </p:nvSpPr>
            <p:spPr>
              <a:xfrm>
                <a:off x="1974877" y="2257642"/>
                <a:ext cx="4677623" cy="340338"/>
              </a:xfrm>
              <a:prstGeom prst="rect">
                <a:avLst/>
              </a:prstGeom>
              <a:noFill/>
            </p:spPr>
            <p:txBody>
              <a:bodyPr wrap="square" rtlCol="0">
                <a:noAutofit/>
              </a:bodyPr>
              <a:lstStyle/>
              <a:p>
                <a:r>
                  <a:rPr lang="zh-CN" altLang="en-US" b="1">
                    <a:solidFill>
                      <a:schemeClr val="bg1"/>
                    </a:solidFill>
                    <a:latin typeface="微软雅黑" panose="020B0503020204020204" pitchFamily="34" charset="-122"/>
                    <a:ea typeface="微软雅黑" panose="020B0503020204020204" pitchFamily="34" charset="-122"/>
                  </a:rPr>
                  <a:t>首要动作是“研究”而非“承诺”：</a:t>
                </a:r>
                <a:endParaRPr lang="zh-CN" altLang="en-US" b="1" dirty="0">
                  <a:solidFill>
                    <a:schemeClr val="bg1"/>
                  </a:solidFill>
                  <a:latin typeface="微软雅黑" panose="020B0503020204020204" pitchFamily="34" charset="-122"/>
                  <a:ea typeface="微软雅黑" panose="020B0503020204020204" pitchFamily="34" charset="-122"/>
                </a:endParaRPr>
              </a:p>
            </p:txBody>
          </p:sp>
          <p:sp>
            <p:nvSpPr>
              <p:cNvPr id="50" name="Body-1">
                <a:extLst>
                  <a:ext uri="{FF2B5EF4-FFF2-40B4-BE49-F238E27FC236}">
                    <a16:creationId xmlns:a16="http://schemas.microsoft.com/office/drawing/2014/main" id="{DEB787E3-AA35-8AF3-F08A-7DA51A477FE8}"/>
                  </a:ext>
                </a:extLst>
              </p:cNvPr>
              <p:cNvSpPr>
                <a:spLocks/>
              </p:cNvSpPr>
              <p:nvPr>
                <p:custDataLst>
                  <p:tags r:id="rId11"/>
                </p:custDataLst>
              </p:nvPr>
            </p:nvSpPr>
            <p:spPr>
              <a:xfrm>
                <a:off x="1940662" y="2545187"/>
                <a:ext cx="7332306" cy="6787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首先需要调研现有库存（是否有可用的通用件或原材料）和评估当前订单积压（产能负荷）。</a:t>
                </a:r>
                <a:endParaRPr kumimoji="0" lang="en-GB" altLang="zh-CN" sz="14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endParaRPr>
              </a:p>
            </p:txBody>
          </p:sp>
        </p:grpSp>
        <p:grpSp>
          <p:nvGrpSpPr>
            <p:cNvPr id="40" name="组合 39">
              <a:extLst>
                <a:ext uri="{FF2B5EF4-FFF2-40B4-BE49-F238E27FC236}">
                  <a16:creationId xmlns:a16="http://schemas.microsoft.com/office/drawing/2014/main" id="{74A4C7F5-EC12-F4BC-C45F-05C4DADF8EE1}"/>
                </a:ext>
              </a:extLst>
            </p:cNvPr>
            <p:cNvGrpSpPr/>
            <p:nvPr/>
          </p:nvGrpSpPr>
          <p:grpSpPr>
            <a:xfrm>
              <a:off x="1465767" y="3634091"/>
              <a:ext cx="9260467" cy="1096317"/>
              <a:chOff x="874133" y="3634091"/>
              <a:chExt cx="9260467" cy="1096317"/>
            </a:xfrm>
          </p:grpSpPr>
          <p:sp>
            <p:nvSpPr>
              <p:cNvPr id="41" name="2">
                <a:extLst>
                  <a:ext uri="{FF2B5EF4-FFF2-40B4-BE49-F238E27FC236}">
                    <a16:creationId xmlns:a16="http://schemas.microsoft.com/office/drawing/2014/main" id="{2DC12F1B-E07A-51F9-F606-05629077F772}"/>
                  </a:ext>
                </a:extLst>
              </p:cNvPr>
              <p:cNvSpPr/>
              <p:nvPr>
                <p:custDataLst>
                  <p:tags r:id="rId2"/>
                </p:custDataLst>
              </p:nvPr>
            </p:nvSpPr>
            <p:spPr>
              <a:xfrm>
                <a:off x="1421931" y="3742876"/>
                <a:ext cx="5811205" cy="379302"/>
              </a:xfrm>
              <a:prstGeom prst="parallelogram">
                <a:avLst/>
              </a:prstGeom>
              <a:solidFill>
                <a:schemeClr val="tx2">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a:p>
            </p:txBody>
          </p:sp>
          <p:sp>
            <p:nvSpPr>
              <p:cNvPr id="42" name="2">
                <a:extLst>
                  <a:ext uri="{FF2B5EF4-FFF2-40B4-BE49-F238E27FC236}">
                    <a16:creationId xmlns:a16="http://schemas.microsoft.com/office/drawing/2014/main" id="{90808E63-E1CD-CEE7-BCE4-8396CB5E9D42}"/>
                  </a:ext>
                </a:extLst>
              </p:cNvPr>
              <p:cNvSpPr/>
              <p:nvPr>
                <p:custDataLst>
                  <p:tags r:id="rId3"/>
                </p:custDataLst>
              </p:nvPr>
            </p:nvSpPr>
            <p:spPr>
              <a:xfrm>
                <a:off x="1421930" y="4122178"/>
                <a:ext cx="8712670" cy="607511"/>
              </a:xfrm>
              <a:prstGeom prst="parallelogram">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a:p>
            </p:txBody>
          </p:sp>
          <p:sp>
            <p:nvSpPr>
              <p:cNvPr id="43" name="Index-2">
                <a:extLst>
                  <a:ext uri="{FF2B5EF4-FFF2-40B4-BE49-F238E27FC236}">
                    <a16:creationId xmlns:a16="http://schemas.microsoft.com/office/drawing/2014/main" id="{518A322D-649A-E0E1-FC97-46AC610D2C33}"/>
                  </a:ext>
                </a:extLst>
              </p:cNvPr>
              <p:cNvSpPr/>
              <p:nvPr>
                <p:custDataLst>
                  <p:tags r:id="rId4"/>
                </p:custDataLst>
              </p:nvPr>
            </p:nvSpPr>
            <p:spPr>
              <a:xfrm>
                <a:off x="874133" y="3634091"/>
                <a:ext cx="1095598" cy="1095598"/>
              </a:xfrm>
              <a:prstGeom prst="flowChartConnector">
                <a:avLst/>
              </a:prstGeom>
              <a:solidFill>
                <a:schemeClr val="bg1">
                  <a:lumMod val="95000"/>
                </a:schemeClr>
              </a:solidFill>
              <a:ln w="25400">
                <a:gradFill>
                  <a:gsLst>
                    <a:gs pos="0">
                      <a:schemeClr val="bg1"/>
                    </a:gs>
                    <a:gs pos="100000">
                      <a:schemeClr val="bg1">
                        <a:lumMod val="85000"/>
                      </a:schemeClr>
                    </a:gs>
                  </a:gsLst>
                  <a:lin ang="5400000" scaled="1"/>
                </a:gradFill>
              </a:ln>
              <a:effectLst>
                <a:outerShdw blurRad="381000" dist="63500" algn="ctr" rotWithShape="0">
                  <a:schemeClr val="tx1">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r>
                  <a:rPr lang="en-US" altLang="zh-CN" sz="3200" b="1" i="1" dirty="0">
                    <a:solidFill>
                      <a:schemeClr val="tx1"/>
                    </a:solidFill>
                    <a:latin typeface="+mj-ea"/>
                    <a:ea typeface="+mj-ea"/>
                  </a:rPr>
                  <a:t>02</a:t>
                </a:r>
                <a:endParaRPr lang="zh-CN" altLang="en-US" sz="3200" b="1" i="1" dirty="0">
                  <a:solidFill>
                    <a:schemeClr val="tx1"/>
                  </a:solidFill>
                  <a:latin typeface="+mj-ea"/>
                  <a:ea typeface="+mj-ea"/>
                </a:endParaRPr>
              </a:p>
            </p:txBody>
          </p:sp>
          <p:sp>
            <p:nvSpPr>
              <p:cNvPr id="44" name="Title-2">
                <a:extLst>
                  <a:ext uri="{FF2B5EF4-FFF2-40B4-BE49-F238E27FC236}">
                    <a16:creationId xmlns:a16="http://schemas.microsoft.com/office/drawing/2014/main" id="{CF4D0451-8EC5-932B-39AF-21493A6964BB}"/>
                  </a:ext>
                </a:extLst>
              </p:cNvPr>
              <p:cNvSpPr txBox="1"/>
              <p:nvPr>
                <p:custDataLst>
                  <p:tags r:id="rId5"/>
                </p:custDataLst>
              </p:nvPr>
            </p:nvSpPr>
            <p:spPr>
              <a:xfrm>
                <a:off x="1974877" y="3764140"/>
                <a:ext cx="4677623" cy="340338"/>
              </a:xfrm>
              <a:prstGeom prst="rect">
                <a:avLst/>
              </a:prstGeom>
              <a:noFill/>
            </p:spPr>
            <p:txBody>
              <a:bodyPr wrap="square" rtlCol="0">
                <a:noAutofit/>
              </a:bodyPr>
              <a:lstStyle/>
              <a:p>
                <a:r>
                  <a:rPr lang="zh-CN" altLang="en-US" b="1">
                    <a:solidFill>
                      <a:schemeClr val="bg1"/>
                    </a:solidFill>
                    <a:latin typeface="微软雅黑" panose="020B0503020204020204" pitchFamily="34" charset="-122"/>
                    <a:ea typeface="微软雅黑" panose="020B0503020204020204" pitchFamily="34" charset="-122"/>
                  </a:rPr>
                  <a:t>初期答复是“预估”而非“承诺”：</a:t>
                </a:r>
                <a:endParaRPr lang="zh-CN" altLang="en-US" b="1" dirty="0">
                  <a:solidFill>
                    <a:schemeClr val="bg1"/>
                  </a:solidFill>
                  <a:latin typeface="微软雅黑" panose="020B0503020204020204" pitchFamily="34" charset="-122"/>
                  <a:ea typeface="微软雅黑" panose="020B0503020204020204" pitchFamily="34" charset="-122"/>
                </a:endParaRPr>
              </a:p>
            </p:txBody>
          </p:sp>
          <p:sp>
            <p:nvSpPr>
              <p:cNvPr id="45" name="Body-2">
                <a:extLst>
                  <a:ext uri="{FF2B5EF4-FFF2-40B4-BE49-F238E27FC236}">
                    <a16:creationId xmlns:a16="http://schemas.microsoft.com/office/drawing/2014/main" id="{6944D6A2-005F-060D-618B-957AFC609275}"/>
                  </a:ext>
                </a:extLst>
              </p:cNvPr>
              <p:cNvSpPr>
                <a:spLocks/>
              </p:cNvSpPr>
              <p:nvPr>
                <p:custDataLst>
                  <p:tags r:id="rId6"/>
                </p:custDataLst>
              </p:nvPr>
            </p:nvSpPr>
            <p:spPr>
              <a:xfrm>
                <a:off x="1940662" y="4051685"/>
                <a:ext cx="7332306" cy="6787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基于对类似项目的历史数据和当前资源状况，提供一个 “预估交期范围”。</a:t>
                </a:r>
              </a:p>
              <a:p>
                <a:pPr marL="0" marR="0" lvl="0" indent="0" defTabSz="913765" rtl="0" eaLnBrk="1" fontAlgn="auto" latinLnBrk="0" hangingPunct="1">
                  <a:lnSpc>
                    <a:spcPct val="130000"/>
                  </a:lnSpc>
                  <a:spcBef>
                    <a:spcPts val="0"/>
                  </a:spcBef>
                  <a:spcAft>
                    <a:spcPts val="0"/>
                  </a:spcAft>
                  <a:buClrTx/>
                  <a:buSzPct val="100000"/>
                  <a:buFontTx/>
                  <a:buNone/>
                  <a:tabLst/>
                  <a:defRPr/>
                </a:pPr>
                <a:r>
                  <a:rPr kumimoji="0" lang="zh-CN" altLang="en-US" sz="14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话术示例：“基于我们以往类似复杂度的项目经验，初步预估交付周期在</a:t>
                </a:r>
                <a:r>
                  <a:rPr kumimoji="0" lang="en-US" altLang="zh-CN" sz="14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12-16</a:t>
                </a:r>
                <a:r>
                  <a:rPr kumimoji="0" lang="zh-CN" altLang="en-US" sz="14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周。准确的交期需要在完成初步设计，明确物料清单和关键长周期物料后确认。</a:t>
                </a:r>
                <a:endParaRPr kumimoji="0" lang="en-GB" altLang="zh-CN" sz="14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endParaRPr>
              </a:p>
            </p:txBody>
          </p:sp>
        </p:grpSp>
      </p:grpSp>
    </p:spTree>
    <p:extLst>
      <p:ext uri="{BB962C8B-B14F-4D97-AF65-F5344CB8AC3E}">
        <p14:creationId xmlns:p14="http://schemas.microsoft.com/office/powerpoint/2010/main" val="274237099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AD34AF4-1291-2AE5-2304-2AF3AF2FA4BD}"/>
              </a:ext>
            </a:extLst>
          </p:cNvPr>
          <p:cNvSpPr>
            <a:spLocks noGrp="1"/>
          </p:cNvSpPr>
          <p:nvPr>
            <p:ph type="title"/>
          </p:nvPr>
        </p:nvSpPr>
        <p:spPr/>
        <p:txBody>
          <a:bodyPr/>
          <a:lstStyle/>
          <a:p>
            <a:r>
              <a:rPr lang="zh-CN" altLang="en-US" dirty="0"/>
              <a:t>设计过程中：逐步细化承诺</a:t>
            </a:r>
          </a:p>
        </p:txBody>
      </p:sp>
      <p:graphicFrame>
        <p:nvGraphicFramePr>
          <p:cNvPr id="3" name="表格 2">
            <a:extLst>
              <a:ext uri="{FF2B5EF4-FFF2-40B4-BE49-F238E27FC236}">
                <a16:creationId xmlns:a16="http://schemas.microsoft.com/office/drawing/2014/main" id="{689D59D7-2C53-7565-3428-BE15B74A930C}"/>
              </a:ext>
            </a:extLst>
          </p:cNvPr>
          <p:cNvGraphicFramePr>
            <a:graphicFrameLocks noGrp="1"/>
          </p:cNvGraphicFramePr>
          <p:nvPr>
            <p:extLst>
              <p:ext uri="{D42A27DB-BD31-4B8C-83A1-F6EECF244321}">
                <p14:modId xmlns:p14="http://schemas.microsoft.com/office/powerpoint/2010/main" val="4261497390"/>
              </p:ext>
            </p:extLst>
          </p:nvPr>
        </p:nvGraphicFramePr>
        <p:xfrm>
          <a:off x="1581699" y="971918"/>
          <a:ext cx="9068370" cy="5003800"/>
        </p:xfrm>
        <a:graphic>
          <a:graphicData uri="http://schemas.openxmlformats.org/drawingml/2006/table">
            <a:tbl>
              <a:tblPr/>
              <a:tblGrid>
                <a:gridCol w="968274">
                  <a:extLst>
                    <a:ext uri="{9D8B030D-6E8A-4147-A177-3AD203B41FA5}">
                      <a16:colId xmlns:a16="http://schemas.microsoft.com/office/drawing/2014/main" val="4071460023"/>
                    </a:ext>
                  </a:extLst>
                </a:gridCol>
                <a:gridCol w="2700032">
                  <a:extLst>
                    <a:ext uri="{9D8B030D-6E8A-4147-A177-3AD203B41FA5}">
                      <a16:colId xmlns:a16="http://schemas.microsoft.com/office/drawing/2014/main" val="1689622451"/>
                    </a:ext>
                  </a:extLst>
                </a:gridCol>
                <a:gridCol w="2700032">
                  <a:extLst>
                    <a:ext uri="{9D8B030D-6E8A-4147-A177-3AD203B41FA5}">
                      <a16:colId xmlns:a16="http://schemas.microsoft.com/office/drawing/2014/main" val="2025853804"/>
                    </a:ext>
                  </a:extLst>
                </a:gridCol>
                <a:gridCol w="2700032">
                  <a:extLst>
                    <a:ext uri="{9D8B030D-6E8A-4147-A177-3AD203B41FA5}">
                      <a16:colId xmlns:a16="http://schemas.microsoft.com/office/drawing/2014/main" val="3135051177"/>
                    </a:ext>
                  </a:extLst>
                </a:gridCol>
              </a:tblGrid>
              <a:tr h="384908">
                <a:tc>
                  <a:txBody>
                    <a:bodyPr/>
                    <a:lstStyle/>
                    <a:p>
                      <a:r>
                        <a:rPr lang="zh-CN" altLang="en-US" sz="1400" b="1">
                          <a:solidFill>
                            <a:srgbClr val="FFFFFF"/>
                          </a:solidFill>
                          <a:latin typeface="+mj-ea"/>
                          <a:ea typeface="+mj-ea"/>
                        </a:rPr>
                        <a:t>阶段</a:t>
                      </a:r>
                    </a:p>
                  </a:txBody>
                  <a:tcPr marL="54987" marR="54987" marT="27493" marB="27493" anchor="ctr">
                    <a:lnL>
                      <a:noFill/>
                    </a:lnL>
                    <a:lnR>
                      <a:noFill/>
                    </a:lnR>
                    <a:lnT>
                      <a:solidFill>
                        <a:srgbClr val="1C3879"/>
                      </a:solidFill>
                      <a:prstDash val="solid"/>
                    </a:lnT>
                    <a:lnB>
                      <a:solidFill>
                        <a:srgbClr val="1C3879"/>
                      </a:solidFill>
                      <a:prstDash val="solid"/>
                    </a:lnB>
                    <a:solidFill>
                      <a:srgbClr val="1C3879"/>
                    </a:solidFill>
                  </a:tcPr>
                </a:tc>
                <a:tc>
                  <a:txBody>
                    <a:bodyPr/>
                    <a:lstStyle/>
                    <a:p>
                      <a:r>
                        <a:rPr lang="zh-CN" altLang="en-US" sz="1400" b="1">
                          <a:solidFill>
                            <a:srgbClr val="FFFFFF"/>
                          </a:solidFill>
                          <a:latin typeface="+mj-ea"/>
                          <a:ea typeface="+mj-ea"/>
                        </a:rPr>
                        <a:t>设计里程碑</a:t>
                      </a:r>
                    </a:p>
                  </a:txBody>
                  <a:tcPr marL="54987" marR="54987" marT="27493" marB="27493" anchor="ctr">
                    <a:lnL>
                      <a:noFill/>
                    </a:lnL>
                    <a:lnR>
                      <a:noFill/>
                    </a:lnR>
                    <a:lnT>
                      <a:solidFill>
                        <a:srgbClr val="1C3879"/>
                      </a:solidFill>
                      <a:prstDash val="solid"/>
                    </a:lnT>
                    <a:lnB>
                      <a:solidFill>
                        <a:srgbClr val="1C3879"/>
                      </a:solidFill>
                      <a:prstDash val="solid"/>
                    </a:lnB>
                    <a:solidFill>
                      <a:srgbClr val="1C3879"/>
                    </a:solidFill>
                  </a:tcPr>
                </a:tc>
                <a:tc>
                  <a:txBody>
                    <a:bodyPr/>
                    <a:lstStyle/>
                    <a:p>
                      <a:r>
                        <a:rPr lang="en-US" sz="1400" b="1">
                          <a:solidFill>
                            <a:srgbClr val="FFFFFF"/>
                          </a:solidFill>
                          <a:latin typeface="+mj-ea"/>
                          <a:ea typeface="+mj-ea"/>
                        </a:rPr>
                        <a:t>BOM </a:t>
                      </a:r>
                      <a:r>
                        <a:rPr lang="zh-CN" altLang="en-US" sz="1400" b="1">
                          <a:solidFill>
                            <a:srgbClr val="FFFFFF"/>
                          </a:solidFill>
                          <a:latin typeface="+mj-ea"/>
                          <a:ea typeface="+mj-ea"/>
                        </a:rPr>
                        <a:t>状态</a:t>
                      </a:r>
                    </a:p>
                  </a:txBody>
                  <a:tcPr marL="54987" marR="54987" marT="27493" marB="27493" anchor="ctr">
                    <a:lnL>
                      <a:noFill/>
                    </a:lnL>
                    <a:lnR>
                      <a:noFill/>
                    </a:lnR>
                    <a:lnT>
                      <a:solidFill>
                        <a:srgbClr val="1C3879"/>
                      </a:solidFill>
                      <a:prstDash val="solid"/>
                    </a:lnT>
                    <a:lnB>
                      <a:solidFill>
                        <a:srgbClr val="1C3879"/>
                      </a:solidFill>
                      <a:prstDash val="solid"/>
                    </a:lnB>
                    <a:solidFill>
                      <a:srgbClr val="1C3879"/>
                    </a:solidFill>
                  </a:tcPr>
                </a:tc>
                <a:tc>
                  <a:txBody>
                    <a:bodyPr/>
                    <a:lstStyle/>
                    <a:p>
                      <a:r>
                        <a:rPr lang="zh-CN" altLang="en-US" sz="1400" b="1">
                          <a:solidFill>
                            <a:srgbClr val="FFFFFF"/>
                          </a:solidFill>
                          <a:latin typeface="+mj-ea"/>
                          <a:ea typeface="+mj-ea"/>
                        </a:rPr>
                        <a:t>交期答复依据与方式</a:t>
                      </a:r>
                    </a:p>
                  </a:txBody>
                  <a:tcPr marL="54987" marR="54987" marT="27493" marB="27493" anchor="ctr">
                    <a:lnL>
                      <a:noFill/>
                    </a:lnL>
                    <a:lnR>
                      <a:noFill/>
                    </a:lnR>
                    <a:lnT>
                      <a:solidFill>
                        <a:srgbClr val="1C3879"/>
                      </a:solidFill>
                      <a:prstDash val="solid"/>
                    </a:lnT>
                    <a:lnB>
                      <a:solidFill>
                        <a:srgbClr val="1C3879"/>
                      </a:solidFill>
                      <a:prstDash val="solid"/>
                    </a:lnB>
                    <a:solidFill>
                      <a:srgbClr val="1C3879"/>
                    </a:solidFill>
                  </a:tcPr>
                </a:tc>
                <a:extLst>
                  <a:ext uri="{0D108BD9-81ED-4DB2-BD59-A6C34878D82A}">
                    <a16:rowId xmlns:a16="http://schemas.microsoft.com/office/drawing/2014/main" val="3455042504"/>
                  </a:ext>
                </a:extLst>
              </a:tr>
              <a:tr h="1704591">
                <a:tc>
                  <a:txBody>
                    <a:bodyPr/>
                    <a:lstStyle/>
                    <a:p>
                      <a:r>
                        <a:rPr lang="zh-CN" altLang="en-US" sz="1400" b="1">
                          <a:solidFill>
                            <a:srgbClr val="000000"/>
                          </a:solidFill>
                          <a:latin typeface="+mj-ea"/>
                          <a:ea typeface="+mj-ea"/>
                        </a:rPr>
                        <a:t>概念设计</a:t>
                      </a:r>
                    </a:p>
                  </a:txBody>
                  <a:tcPr marL="54987" marR="54987" marT="27493" marB="27493" anchor="ctr">
                    <a:lnL>
                      <a:noFill/>
                    </a:lnL>
                    <a:lnR>
                      <a:noFill/>
                    </a:lnR>
                    <a:lnT>
                      <a:solidFill>
                        <a:srgbClr val="1C3879"/>
                      </a:solidFill>
                      <a:prstDash val="solid"/>
                    </a:lnT>
                    <a:lnB>
                      <a:solidFill>
                        <a:srgbClr val="DDDDDD"/>
                      </a:solidFill>
                      <a:prstDash val="solid"/>
                    </a:lnB>
                    <a:solidFill>
                      <a:srgbClr val="C5D5ED"/>
                    </a:solidFill>
                  </a:tcPr>
                </a:tc>
                <a:tc>
                  <a:txBody>
                    <a:bodyPr/>
                    <a:lstStyle/>
                    <a:p>
                      <a:r>
                        <a:rPr lang="zh-CN" altLang="en-US" sz="1400">
                          <a:solidFill>
                            <a:schemeClr val="tx1"/>
                          </a:solidFill>
                          <a:latin typeface="+mj-ea"/>
                          <a:ea typeface="+mj-ea"/>
                        </a:rPr>
                        <a:t>客户需求确认，初步技术方案</a:t>
                      </a:r>
                    </a:p>
                  </a:txBody>
                  <a:tcPr marL="54987" marR="54987" marT="27493" marB="27493" anchor="ctr">
                    <a:lnL>
                      <a:noFill/>
                    </a:lnL>
                    <a:lnR>
                      <a:noFill/>
                    </a:lnR>
                    <a:lnT>
                      <a:solidFill>
                        <a:srgbClr val="1C3879"/>
                      </a:solidFill>
                      <a:prstDash val="solid"/>
                    </a:lnT>
                    <a:lnB>
                      <a:solidFill>
                        <a:srgbClr val="DDDDDD"/>
                      </a:solidFill>
                      <a:prstDash val="solid"/>
                    </a:lnB>
                    <a:noFill/>
                  </a:tcPr>
                </a:tc>
                <a:tc>
                  <a:txBody>
                    <a:bodyPr/>
                    <a:lstStyle/>
                    <a:p>
                      <a:r>
                        <a:rPr lang="zh-CN" altLang="en-US" sz="1400" dirty="0">
                          <a:solidFill>
                            <a:schemeClr val="tx1"/>
                          </a:solidFill>
                          <a:latin typeface="+mj-ea"/>
                          <a:ea typeface="+mj-ea"/>
                        </a:rPr>
                        <a:t>仅有核心功能模块清单</a:t>
                      </a:r>
                    </a:p>
                  </a:txBody>
                  <a:tcPr marL="54987" marR="54987" marT="27493" marB="27493" anchor="ctr">
                    <a:lnL>
                      <a:noFill/>
                    </a:lnL>
                    <a:lnR>
                      <a:noFill/>
                    </a:lnR>
                    <a:lnT>
                      <a:solidFill>
                        <a:srgbClr val="1C3879"/>
                      </a:solidFill>
                      <a:prstDash val="solid"/>
                    </a:lnT>
                    <a:lnB>
                      <a:solidFill>
                        <a:srgbClr val="DDDDDD"/>
                      </a:solidFill>
                      <a:prstDash val="solid"/>
                    </a:lnB>
                    <a:noFill/>
                  </a:tcPr>
                </a:tc>
                <a:tc>
                  <a:txBody>
                    <a:bodyPr/>
                    <a:lstStyle/>
                    <a:p>
                      <a:r>
                        <a:rPr lang="zh-CN" altLang="en-US" sz="1400" b="1">
                          <a:solidFill>
                            <a:schemeClr val="tx1"/>
                          </a:solidFill>
                          <a:latin typeface="+mj-ea"/>
                          <a:ea typeface="+mj-ea"/>
                        </a:rPr>
                        <a:t>提供宽泛的预估范围</a:t>
                      </a:r>
                      <a:r>
                        <a:rPr lang="zh-CN" altLang="en-US" sz="1400">
                          <a:solidFill>
                            <a:schemeClr val="tx1"/>
                          </a:solidFill>
                          <a:latin typeface="+mj-ea"/>
                          <a:ea typeface="+mj-ea"/>
                        </a:rPr>
                        <a:t>（如：</a:t>
                      </a:r>
                      <a:r>
                        <a:rPr lang="en-US" altLang="zh-CN" sz="1400">
                          <a:solidFill>
                            <a:schemeClr val="tx1"/>
                          </a:solidFill>
                          <a:latin typeface="+mj-ea"/>
                          <a:ea typeface="+mj-ea"/>
                        </a:rPr>
                        <a:t>20-30</a:t>
                      </a:r>
                      <a:r>
                        <a:rPr lang="zh-CN" altLang="en-US" sz="1400">
                          <a:solidFill>
                            <a:schemeClr val="tx1"/>
                          </a:solidFill>
                          <a:latin typeface="+mj-ea"/>
                          <a:ea typeface="+mj-ea"/>
                        </a:rPr>
                        <a:t>周）。强调此日期仅为初步估算。</a:t>
                      </a:r>
                    </a:p>
                  </a:txBody>
                  <a:tcPr marL="54987" marR="54987" marT="27493" marB="27493" anchor="ctr">
                    <a:lnL>
                      <a:noFill/>
                    </a:lnL>
                    <a:lnR>
                      <a:noFill/>
                    </a:lnR>
                    <a:lnT>
                      <a:solidFill>
                        <a:srgbClr val="1C3879"/>
                      </a:solidFill>
                      <a:prstDash val="solid"/>
                    </a:lnT>
                    <a:lnB>
                      <a:solidFill>
                        <a:srgbClr val="DDDDDD"/>
                      </a:solidFill>
                      <a:prstDash val="solid"/>
                    </a:lnB>
                    <a:noFill/>
                  </a:tcPr>
                </a:tc>
                <a:extLst>
                  <a:ext uri="{0D108BD9-81ED-4DB2-BD59-A6C34878D82A}">
                    <a16:rowId xmlns:a16="http://schemas.microsoft.com/office/drawing/2014/main" val="4182787040"/>
                  </a:ext>
                </a:extLst>
              </a:tr>
              <a:tr h="1869552">
                <a:tc>
                  <a:txBody>
                    <a:bodyPr/>
                    <a:lstStyle/>
                    <a:p>
                      <a:r>
                        <a:rPr lang="zh-CN" altLang="en-US" sz="1400" b="1">
                          <a:solidFill>
                            <a:srgbClr val="000000"/>
                          </a:solidFill>
                          <a:latin typeface="+mj-ea"/>
                          <a:ea typeface="+mj-ea"/>
                        </a:rPr>
                        <a:t>初步设计</a:t>
                      </a:r>
                    </a:p>
                  </a:txBody>
                  <a:tcPr marL="54987" marR="54987" marT="27493" marB="27493" anchor="ctr">
                    <a:lnL>
                      <a:noFill/>
                    </a:lnL>
                    <a:lnR>
                      <a:noFill/>
                    </a:lnR>
                    <a:lnT>
                      <a:solidFill>
                        <a:srgbClr val="DDDDDD"/>
                      </a:solidFill>
                      <a:prstDash val="solid"/>
                    </a:lnT>
                    <a:lnB>
                      <a:solidFill>
                        <a:srgbClr val="DDDDDD"/>
                      </a:solidFill>
                      <a:prstDash val="solid"/>
                    </a:lnB>
                    <a:solidFill>
                      <a:srgbClr val="C5D5ED"/>
                    </a:solidFill>
                  </a:tcPr>
                </a:tc>
                <a:tc>
                  <a:txBody>
                    <a:bodyPr/>
                    <a:lstStyle/>
                    <a:p>
                      <a:r>
                        <a:rPr lang="zh-CN" altLang="en-US" sz="1400">
                          <a:solidFill>
                            <a:schemeClr val="tx1"/>
                          </a:solidFill>
                          <a:latin typeface="+mj-ea"/>
                          <a:ea typeface="+mj-ea"/>
                        </a:rPr>
                        <a:t>主要子系统方案确定，关键物料清单（</a:t>
                      </a:r>
                      <a:r>
                        <a:rPr lang="en-US" altLang="zh-CN" sz="1400">
                          <a:solidFill>
                            <a:schemeClr val="tx1"/>
                          </a:solidFill>
                          <a:latin typeface="+mj-ea"/>
                          <a:ea typeface="+mj-ea"/>
                        </a:rPr>
                        <a:t>L1/L2</a:t>
                      </a:r>
                      <a:r>
                        <a:rPr lang="zh-CN" altLang="en-US" sz="1400">
                          <a:solidFill>
                            <a:schemeClr val="tx1"/>
                          </a:solidFill>
                          <a:latin typeface="+mj-ea"/>
                          <a:ea typeface="+mj-ea"/>
                        </a:rPr>
                        <a:t>层级）明确</a:t>
                      </a:r>
                    </a:p>
                  </a:txBody>
                  <a:tcPr marL="54987" marR="54987" marT="27493" marB="27493" anchor="ctr">
                    <a:lnL>
                      <a:noFill/>
                    </a:lnL>
                    <a:lnR>
                      <a:noFill/>
                    </a:lnR>
                    <a:lnT>
                      <a:solidFill>
                        <a:srgbClr val="DDDDDD"/>
                      </a:solidFill>
                      <a:prstDash val="solid"/>
                    </a:lnT>
                    <a:lnB>
                      <a:solidFill>
                        <a:srgbClr val="DDDDDD"/>
                      </a:solidFill>
                      <a:prstDash val="solid"/>
                    </a:lnB>
                    <a:noFill/>
                  </a:tcPr>
                </a:tc>
                <a:tc>
                  <a:txBody>
                    <a:bodyPr/>
                    <a:lstStyle/>
                    <a:p>
                      <a:r>
                        <a:rPr lang="zh-CN" altLang="en-US" sz="1400">
                          <a:solidFill>
                            <a:schemeClr val="tx1"/>
                          </a:solidFill>
                          <a:latin typeface="+mj-ea"/>
                          <a:ea typeface="+mj-ea"/>
                        </a:rPr>
                        <a:t>识别出</a:t>
                      </a:r>
                      <a:r>
                        <a:rPr lang="zh-CN" altLang="en-US" sz="1400" b="1">
                          <a:solidFill>
                            <a:schemeClr val="tx1"/>
                          </a:solidFill>
                          <a:latin typeface="+mj-ea"/>
                          <a:ea typeface="+mj-ea"/>
                        </a:rPr>
                        <a:t>关键长周期物料</a:t>
                      </a:r>
                      <a:r>
                        <a:rPr lang="zh-CN" altLang="en-US" sz="1400">
                          <a:solidFill>
                            <a:schemeClr val="tx1"/>
                          </a:solidFill>
                          <a:latin typeface="+mj-ea"/>
                          <a:ea typeface="+mj-ea"/>
                        </a:rPr>
                        <a:t>（如定制芯片、特殊型号电机）</a:t>
                      </a:r>
                    </a:p>
                  </a:txBody>
                  <a:tcPr marL="54987" marR="54987" marT="27493" marB="27493" anchor="ctr">
                    <a:lnL>
                      <a:noFill/>
                    </a:lnL>
                    <a:lnR>
                      <a:noFill/>
                    </a:lnR>
                    <a:lnT>
                      <a:solidFill>
                        <a:srgbClr val="DDDDDD"/>
                      </a:solidFill>
                      <a:prstDash val="solid"/>
                    </a:lnT>
                    <a:lnB>
                      <a:solidFill>
                        <a:srgbClr val="DDDDDD"/>
                      </a:solidFill>
                      <a:prstDash val="solid"/>
                    </a:lnB>
                    <a:noFill/>
                  </a:tcPr>
                </a:tc>
                <a:tc>
                  <a:txBody>
                    <a:bodyPr/>
                    <a:lstStyle/>
                    <a:p>
                      <a:r>
                        <a:rPr lang="zh-CN" altLang="en-US" sz="1400" b="1">
                          <a:solidFill>
                            <a:schemeClr val="tx1"/>
                          </a:solidFill>
                          <a:latin typeface="+mj-ea"/>
                          <a:ea typeface="+mj-ea"/>
                        </a:rPr>
                        <a:t>承诺“关键路径”日期</a:t>
                      </a:r>
                      <a:r>
                        <a:rPr lang="zh-CN" altLang="en-US" sz="1400">
                          <a:solidFill>
                            <a:schemeClr val="tx1"/>
                          </a:solidFill>
                          <a:latin typeface="+mj-ea"/>
                          <a:ea typeface="+mj-ea"/>
                        </a:rPr>
                        <a:t>。基于</a:t>
                      </a:r>
                      <a:r>
                        <a:rPr lang="zh-CN" altLang="en-US" sz="1400" b="1">
                          <a:solidFill>
                            <a:schemeClr val="tx1"/>
                          </a:solidFill>
                          <a:latin typeface="+mj-ea"/>
                          <a:ea typeface="+mj-ea"/>
                        </a:rPr>
                        <a:t>累积提前期</a:t>
                      </a:r>
                      <a:r>
                        <a:rPr lang="zh-CN" altLang="en-US" sz="1400">
                          <a:solidFill>
                            <a:schemeClr val="tx1"/>
                          </a:solidFill>
                          <a:latin typeface="+mj-ea"/>
                          <a:ea typeface="+mj-ea"/>
                        </a:rPr>
                        <a:t> 计算。答复变为：“</a:t>
                      </a:r>
                      <a:r>
                        <a:rPr lang="zh-CN" altLang="en-US" sz="1400" b="1">
                          <a:solidFill>
                            <a:schemeClr val="tx1"/>
                          </a:solidFill>
                          <a:latin typeface="+mj-ea"/>
                          <a:ea typeface="+mj-ea"/>
                        </a:rPr>
                        <a:t>一旦</a:t>
                      </a:r>
                      <a:r>
                        <a:rPr lang="en-US" altLang="zh-CN" sz="1400" b="1">
                          <a:solidFill>
                            <a:schemeClr val="tx1"/>
                          </a:solidFill>
                          <a:latin typeface="+mj-ea"/>
                          <a:ea typeface="+mj-ea"/>
                        </a:rPr>
                        <a:t>XX</a:t>
                      </a:r>
                      <a:r>
                        <a:rPr lang="zh-CN" altLang="en-US" sz="1400" b="1">
                          <a:solidFill>
                            <a:schemeClr val="tx1"/>
                          </a:solidFill>
                          <a:latin typeface="+mj-ea"/>
                          <a:ea typeface="+mj-ea"/>
                        </a:rPr>
                        <a:t>长周期物料在</a:t>
                      </a:r>
                      <a:r>
                        <a:rPr lang="en-US" altLang="zh-CN" sz="1400" b="1">
                          <a:solidFill>
                            <a:schemeClr val="tx1"/>
                          </a:solidFill>
                          <a:latin typeface="+mj-ea"/>
                          <a:ea typeface="+mj-ea"/>
                        </a:rPr>
                        <a:t>X</a:t>
                      </a:r>
                      <a:r>
                        <a:rPr lang="zh-CN" altLang="en-US" sz="1400" b="1">
                          <a:solidFill>
                            <a:schemeClr val="tx1"/>
                          </a:solidFill>
                          <a:latin typeface="+mj-ea"/>
                          <a:ea typeface="+mj-ea"/>
                        </a:rPr>
                        <a:t>月</a:t>
                      </a:r>
                      <a:r>
                        <a:rPr lang="en-US" altLang="zh-CN" sz="1400" b="1">
                          <a:solidFill>
                            <a:schemeClr val="tx1"/>
                          </a:solidFill>
                          <a:latin typeface="+mj-ea"/>
                          <a:ea typeface="+mj-ea"/>
                        </a:rPr>
                        <a:t>X</a:t>
                      </a:r>
                      <a:r>
                        <a:rPr lang="zh-CN" altLang="en-US" sz="1400" b="1">
                          <a:solidFill>
                            <a:schemeClr val="tx1"/>
                          </a:solidFill>
                          <a:latin typeface="+mj-ea"/>
                          <a:ea typeface="+mj-ea"/>
                        </a:rPr>
                        <a:t>日到位，我们承诺在</a:t>
                      </a:r>
                      <a:r>
                        <a:rPr lang="en-US" altLang="zh-CN" sz="1400" b="1">
                          <a:solidFill>
                            <a:schemeClr val="tx1"/>
                          </a:solidFill>
                          <a:latin typeface="+mj-ea"/>
                          <a:ea typeface="+mj-ea"/>
                        </a:rPr>
                        <a:t>Y</a:t>
                      </a:r>
                      <a:r>
                        <a:rPr lang="zh-CN" altLang="en-US" sz="1400" b="1">
                          <a:solidFill>
                            <a:schemeClr val="tx1"/>
                          </a:solidFill>
                          <a:latin typeface="+mj-ea"/>
                          <a:ea typeface="+mj-ea"/>
                        </a:rPr>
                        <a:t>周内完成最终交付。</a:t>
                      </a:r>
                      <a:r>
                        <a:rPr lang="zh-CN" altLang="en-US" sz="1400">
                          <a:solidFill>
                            <a:schemeClr val="tx1"/>
                          </a:solidFill>
                          <a:latin typeface="+mj-ea"/>
                          <a:ea typeface="+mj-ea"/>
                        </a:rPr>
                        <a:t>”</a:t>
                      </a:r>
                    </a:p>
                  </a:txBody>
                  <a:tcPr marL="54987" marR="54987" marT="27493" marB="27493" anchor="ctr">
                    <a:lnL>
                      <a:noFill/>
                    </a:lnL>
                    <a:lnR>
                      <a:noFill/>
                    </a:lnR>
                    <a:lnT>
                      <a:solidFill>
                        <a:srgbClr val="DDDDDD"/>
                      </a:solidFill>
                      <a:prstDash val="solid"/>
                    </a:lnT>
                    <a:lnB>
                      <a:solidFill>
                        <a:srgbClr val="DDDDDD"/>
                      </a:solidFill>
                      <a:prstDash val="solid"/>
                    </a:lnB>
                    <a:noFill/>
                  </a:tcPr>
                </a:tc>
                <a:extLst>
                  <a:ext uri="{0D108BD9-81ED-4DB2-BD59-A6C34878D82A}">
                    <a16:rowId xmlns:a16="http://schemas.microsoft.com/office/drawing/2014/main" val="3255557207"/>
                  </a:ext>
                </a:extLst>
              </a:tr>
              <a:tr h="1044749">
                <a:tc>
                  <a:txBody>
                    <a:bodyPr/>
                    <a:lstStyle/>
                    <a:p>
                      <a:r>
                        <a:rPr lang="zh-CN" altLang="en-US" sz="1400" b="1">
                          <a:solidFill>
                            <a:srgbClr val="000000"/>
                          </a:solidFill>
                          <a:latin typeface="+mj-ea"/>
                          <a:ea typeface="+mj-ea"/>
                        </a:rPr>
                        <a:t>详细设计</a:t>
                      </a:r>
                    </a:p>
                  </a:txBody>
                  <a:tcPr marL="54987" marR="54987" marT="27493" marB="27493" anchor="ctr">
                    <a:lnL>
                      <a:noFill/>
                    </a:lnL>
                    <a:lnR>
                      <a:noFill/>
                    </a:lnR>
                    <a:lnT>
                      <a:solidFill>
                        <a:srgbClr val="DDDDDD"/>
                      </a:solidFill>
                      <a:prstDash val="solid"/>
                    </a:lnT>
                    <a:lnB>
                      <a:solidFill>
                        <a:srgbClr val="1C3879"/>
                      </a:solidFill>
                      <a:prstDash val="solid"/>
                    </a:lnB>
                    <a:solidFill>
                      <a:srgbClr val="C5D5ED"/>
                    </a:solidFill>
                  </a:tcPr>
                </a:tc>
                <a:tc>
                  <a:txBody>
                    <a:bodyPr/>
                    <a:lstStyle/>
                    <a:p>
                      <a:r>
                        <a:rPr lang="zh-CN" altLang="en-US" sz="1400">
                          <a:solidFill>
                            <a:schemeClr val="tx1"/>
                          </a:solidFill>
                          <a:latin typeface="+mj-ea"/>
                          <a:ea typeface="+mj-ea"/>
                        </a:rPr>
                        <a:t>全部图纸和技术文件完成</a:t>
                      </a:r>
                    </a:p>
                  </a:txBody>
                  <a:tcPr marL="54987" marR="54987" marT="27493" marB="27493" anchor="ctr">
                    <a:lnL>
                      <a:noFill/>
                    </a:lnL>
                    <a:lnR>
                      <a:noFill/>
                    </a:lnR>
                    <a:lnT>
                      <a:solidFill>
                        <a:srgbClr val="DDDDDD"/>
                      </a:solidFill>
                      <a:prstDash val="solid"/>
                    </a:lnT>
                    <a:lnB>
                      <a:solidFill>
                        <a:srgbClr val="1C3879"/>
                      </a:solidFill>
                      <a:prstDash val="solid"/>
                    </a:lnB>
                    <a:noFill/>
                  </a:tcPr>
                </a:tc>
                <a:tc>
                  <a:txBody>
                    <a:bodyPr/>
                    <a:lstStyle/>
                    <a:p>
                      <a:r>
                        <a:rPr lang="zh-CN" altLang="en-US" sz="1400">
                          <a:solidFill>
                            <a:schemeClr val="tx1"/>
                          </a:solidFill>
                          <a:latin typeface="+mj-ea"/>
                          <a:ea typeface="+mj-ea"/>
                        </a:rPr>
                        <a:t>完整、准确的</a:t>
                      </a:r>
                      <a:r>
                        <a:rPr lang="en-US" sz="1400">
                          <a:solidFill>
                            <a:schemeClr val="tx1"/>
                          </a:solidFill>
                          <a:latin typeface="+mj-ea"/>
                          <a:ea typeface="+mj-ea"/>
                        </a:rPr>
                        <a:t>BOM</a:t>
                      </a:r>
                      <a:r>
                        <a:rPr lang="zh-CN" altLang="en-US" sz="1400">
                          <a:solidFill>
                            <a:schemeClr val="tx1"/>
                          </a:solidFill>
                          <a:latin typeface="+mj-ea"/>
                          <a:ea typeface="+mj-ea"/>
                        </a:rPr>
                        <a:t>生成</a:t>
                      </a:r>
                    </a:p>
                  </a:txBody>
                  <a:tcPr marL="54987" marR="54987" marT="27493" marB="27493" anchor="ctr">
                    <a:lnL>
                      <a:noFill/>
                    </a:lnL>
                    <a:lnR>
                      <a:noFill/>
                    </a:lnR>
                    <a:lnT>
                      <a:solidFill>
                        <a:srgbClr val="DDDDDD"/>
                      </a:solidFill>
                      <a:prstDash val="solid"/>
                    </a:lnT>
                    <a:lnB>
                      <a:solidFill>
                        <a:srgbClr val="1C3879"/>
                      </a:solidFill>
                      <a:prstDash val="solid"/>
                    </a:lnB>
                    <a:noFill/>
                  </a:tcPr>
                </a:tc>
                <a:tc>
                  <a:txBody>
                    <a:bodyPr/>
                    <a:lstStyle/>
                    <a:p>
                      <a:r>
                        <a:rPr lang="zh-CN" altLang="en-US" sz="1400" b="1" dirty="0">
                          <a:solidFill>
                            <a:schemeClr val="tx1"/>
                          </a:solidFill>
                          <a:latin typeface="+mj-ea"/>
                          <a:ea typeface="+mj-ea"/>
                        </a:rPr>
                        <a:t>承诺精确的交期</a:t>
                      </a:r>
                      <a:r>
                        <a:rPr lang="zh-CN" altLang="en-US" sz="1400" dirty="0">
                          <a:solidFill>
                            <a:schemeClr val="tx1"/>
                          </a:solidFill>
                          <a:latin typeface="+mj-ea"/>
                          <a:ea typeface="+mj-ea"/>
                        </a:rPr>
                        <a:t>。基于完整的物料需求计划（</a:t>
                      </a:r>
                      <a:r>
                        <a:rPr lang="en-US" altLang="zh-CN" sz="1400" dirty="0">
                          <a:solidFill>
                            <a:schemeClr val="tx1"/>
                          </a:solidFill>
                          <a:latin typeface="+mj-ea"/>
                          <a:ea typeface="+mj-ea"/>
                        </a:rPr>
                        <a:t>MRP</a:t>
                      </a:r>
                      <a:r>
                        <a:rPr lang="zh-CN" altLang="en-US" sz="1400" dirty="0">
                          <a:solidFill>
                            <a:schemeClr val="tx1"/>
                          </a:solidFill>
                          <a:latin typeface="+mj-ea"/>
                          <a:ea typeface="+mj-ea"/>
                        </a:rPr>
                        <a:t>）和产能计划得出。此时答复是确定的日期</a:t>
                      </a:r>
                    </a:p>
                  </a:txBody>
                  <a:tcPr marL="54987" marR="54987" marT="27493" marB="27493" anchor="ctr">
                    <a:lnL>
                      <a:noFill/>
                    </a:lnL>
                    <a:lnR>
                      <a:noFill/>
                    </a:lnR>
                    <a:lnT>
                      <a:solidFill>
                        <a:srgbClr val="DDDDDD"/>
                      </a:solidFill>
                      <a:prstDash val="solid"/>
                    </a:lnT>
                    <a:lnB>
                      <a:solidFill>
                        <a:srgbClr val="1C3879"/>
                      </a:solidFill>
                      <a:prstDash val="solid"/>
                    </a:lnB>
                    <a:noFill/>
                  </a:tcPr>
                </a:tc>
                <a:extLst>
                  <a:ext uri="{0D108BD9-81ED-4DB2-BD59-A6C34878D82A}">
                    <a16:rowId xmlns:a16="http://schemas.microsoft.com/office/drawing/2014/main" val="308236479"/>
                  </a:ext>
                </a:extLst>
              </a:tr>
            </a:tbl>
          </a:graphicData>
        </a:graphic>
      </p:graphicFrame>
    </p:spTree>
    <p:extLst>
      <p:ext uri="{BB962C8B-B14F-4D97-AF65-F5344CB8AC3E}">
        <p14:creationId xmlns:p14="http://schemas.microsoft.com/office/powerpoint/2010/main" val="730772051"/>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07DB1F2-6803-A882-C6FF-83804914ACCF}"/>
              </a:ext>
            </a:extLst>
          </p:cNvPr>
          <p:cNvSpPr>
            <a:spLocks noGrp="1"/>
          </p:cNvSpPr>
          <p:nvPr>
            <p:ph type="title"/>
          </p:nvPr>
        </p:nvSpPr>
        <p:spPr/>
        <p:txBody>
          <a:bodyPr/>
          <a:lstStyle/>
          <a:p>
            <a:r>
              <a:rPr lang="zh-CN" altLang="en-US" dirty="0"/>
              <a:t>管理不确定性和关键路径</a:t>
            </a:r>
          </a:p>
        </p:txBody>
      </p:sp>
      <p:grpSp>
        <p:nvGrpSpPr>
          <p:cNvPr id="5" name="组合 4">
            <a:extLst>
              <a:ext uri="{FF2B5EF4-FFF2-40B4-BE49-F238E27FC236}">
                <a16:creationId xmlns:a16="http://schemas.microsoft.com/office/drawing/2014/main" id="{074AC0F3-EE54-C161-7BCC-13AB875307B5}"/>
              </a:ext>
            </a:extLst>
          </p:cNvPr>
          <p:cNvGrpSpPr>
            <a:grpSpLocks noChangeAspect="1"/>
          </p:cNvGrpSpPr>
          <p:nvPr>
            <p:custDataLst>
              <p:tags r:id="rId1"/>
            </p:custDataLst>
          </p:nvPr>
        </p:nvGrpSpPr>
        <p:grpSpPr>
          <a:xfrm>
            <a:off x="1305859" y="1506071"/>
            <a:ext cx="9580282" cy="4170795"/>
            <a:chOff x="910364" y="1343603"/>
            <a:chExt cx="5129298" cy="4170795"/>
          </a:xfrm>
        </p:grpSpPr>
        <p:grpSp>
          <p:nvGrpSpPr>
            <p:cNvPr id="6" name="组合 5">
              <a:extLst>
                <a:ext uri="{FF2B5EF4-FFF2-40B4-BE49-F238E27FC236}">
                  <a16:creationId xmlns:a16="http://schemas.microsoft.com/office/drawing/2014/main" id="{5984E00A-4C2D-A7D9-CEE8-BCCE0BBCCA72}"/>
                </a:ext>
              </a:extLst>
            </p:cNvPr>
            <p:cNvGrpSpPr/>
            <p:nvPr/>
          </p:nvGrpSpPr>
          <p:grpSpPr>
            <a:xfrm>
              <a:off x="910364" y="1343603"/>
              <a:ext cx="5129298" cy="1224000"/>
              <a:chOff x="645969" y="1251241"/>
              <a:chExt cx="5129298" cy="1224000"/>
            </a:xfrm>
          </p:grpSpPr>
          <p:sp>
            <p:nvSpPr>
              <p:cNvPr id="17" name="1">
                <a:extLst>
                  <a:ext uri="{FF2B5EF4-FFF2-40B4-BE49-F238E27FC236}">
                    <a16:creationId xmlns:a16="http://schemas.microsoft.com/office/drawing/2014/main" id="{38A861DD-9AE9-01A5-770A-382592FD138B}"/>
                  </a:ext>
                </a:extLst>
              </p:cNvPr>
              <p:cNvSpPr/>
              <p:nvPr/>
            </p:nvSpPr>
            <p:spPr>
              <a:xfrm>
                <a:off x="908629" y="1251241"/>
                <a:ext cx="4866638" cy="1224000"/>
              </a:xfrm>
              <a:prstGeom prst="roundRect">
                <a:avLst>
                  <a:gd name="adj" fmla="val 91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242640" tIns="45720" rIns="174240" bIns="45720" rtlCol="0" anchor="ctr"/>
              <a:lstStyle/>
              <a:p>
                <a:pPr>
                  <a:lnSpc>
                    <a:spcPct val="130000"/>
                  </a:lnSpc>
                </a:pPr>
                <a:endParaRPr kumimoji="1" lang="en-US" altLang="zh-CN" sz="1200" dirty="0">
                  <a:solidFill>
                    <a:schemeClr val="tx1"/>
                  </a:solidFill>
                  <a:latin typeface="+mj-ea"/>
                  <a:ea typeface="+mj-ea"/>
                  <a:cs typeface="+mn-ea"/>
                  <a:sym typeface="+mn-lt"/>
                </a:endParaRPr>
              </a:p>
            </p:txBody>
          </p:sp>
          <p:sp>
            <p:nvSpPr>
              <p:cNvPr id="18" name="Index-1">
                <a:extLst>
                  <a:ext uri="{FF2B5EF4-FFF2-40B4-BE49-F238E27FC236}">
                    <a16:creationId xmlns:a16="http://schemas.microsoft.com/office/drawing/2014/main" id="{36235B31-B2AE-03AD-88B7-E313029D4B99}"/>
                  </a:ext>
                </a:extLst>
              </p:cNvPr>
              <p:cNvSpPr txBox="1">
                <a:spLocks noChangeAspect="1"/>
              </p:cNvSpPr>
              <p:nvPr>
                <p:custDataLst>
                  <p:tags r:id="rId8"/>
                </p:custDataLst>
              </p:nvPr>
            </p:nvSpPr>
            <p:spPr>
              <a:xfrm>
                <a:off x="645969" y="1616787"/>
                <a:ext cx="540000" cy="540000"/>
              </a:xfrm>
              <a:prstGeom prst="roundRect">
                <a:avLst>
                  <a:gd name="adj" fmla="val 50000"/>
                </a:avLst>
              </a:prstGeom>
              <a:solidFill>
                <a:schemeClr val="accent1"/>
              </a:solidFill>
              <a:ln w="12700" cap="flat">
                <a:noFill/>
                <a:prstDash val="solid"/>
                <a:miter/>
              </a:ln>
              <a:effectLst>
                <a:outerShdw blurRad="127000" dist="63500" dir="2700000" algn="tl" rotWithShape="0">
                  <a:schemeClr val="accent1">
                    <a:alpha val="40000"/>
                  </a:schemeClr>
                </a:outerShdw>
              </a:effectLst>
            </p:spPr>
            <p:txBody>
              <a:bodyPr wrap="none" rtlCol="0" anchor="ctr"/>
              <a:lstStyle>
                <a:defPPr>
                  <a:defRPr lang="zh-CN"/>
                </a:defPPr>
                <a:lvl1pPr algn="ctr">
                  <a:defRPr b="1">
                    <a:solidFill>
                      <a:srgbClr val="FFFFFF"/>
                    </a:solidFill>
                    <a:latin typeface="Arial" panose="020B0604020202020204" pitchFamily="34" charset="0"/>
                    <a:ea typeface="Microsoft YaHei" panose="020B0503020204020204" pitchFamily="34" charset="-122"/>
                  </a:defRPr>
                </a:lvl1pPr>
              </a:lstStyle>
              <a:p>
                <a:r>
                  <a:rPr lang="en-US" altLang="zh-CN" sz="1600" dirty="0">
                    <a:solidFill>
                      <a:schemeClr val="tx1"/>
                    </a:solidFill>
                    <a:latin typeface="+mj-ea"/>
                    <a:ea typeface="+mj-ea"/>
                    <a:cs typeface="+mn-ea"/>
                    <a:sym typeface="+mn-lt"/>
                  </a:rPr>
                  <a:t>01</a:t>
                </a:r>
                <a:endParaRPr lang="zh-CN" altLang="en-US" sz="1600" dirty="0">
                  <a:solidFill>
                    <a:schemeClr val="tx1"/>
                  </a:solidFill>
                  <a:latin typeface="+mj-ea"/>
                  <a:ea typeface="+mj-ea"/>
                  <a:cs typeface="+mn-ea"/>
                  <a:sym typeface="+mn-lt"/>
                </a:endParaRPr>
              </a:p>
            </p:txBody>
          </p:sp>
          <p:sp>
            <p:nvSpPr>
              <p:cNvPr id="19" name="Title-1">
                <a:extLst>
                  <a:ext uri="{FF2B5EF4-FFF2-40B4-BE49-F238E27FC236}">
                    <a16:creationId xmlns:a16="http://schemas.microsoft.com/office/drawing/2014/main" id="{6875C197-3D9F-3578-6F59-AE9E008910C3}"/>
                  </a:ext>
                </a:extLst>
              </p:cNvPr>
              <p:cNvSpPr txBox="1"/>
              <p:nvPr>
                <p:custDataLst>
                  <p:tags r:id="rId9"/>
                </p:custDataLst>
              </p:nvPr>
            </p:nvSpPr>
            <p:spPr>
              <a:xfrm>
                <a:off x="1298646" y="1419894"/>
                <a:ext cx="2458594" cy="263420"/>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800" b="1" i="0" u="none" strike="noStrike" kern="0" cap="none" spc="0" normalizeH="0" baseline="0" noProof="0">
                    <a:ln>
                      <a:noFill/>
                    </a:ln>
                    <a:effectLst/>
                    <a:uLnTx/>
                    <a:uFillTx/>
                    <a:latin typeface="+mj-ea"/>
                    <a:ea typeface="+mj-ea"/>
                    <a:cs typeface="+mn-cs"/>
                  </a:rPr>
                  <a:t>依赖“规划物料清单”进行模拟：</a:t>
                </a:r>
                <a:endParaRPr kumimoji="0" lang="zh-CN" altLang="en-US" sz="1800" b="1" i="0" u="none" strike="noStrike" kern="0" cap="none" spc="0" normalizeH="0" baseline="0" noProof="0" dirty="0">
                  <a:ln>
                    <a:noFill/>
                  </a:ln>
                  <a:effectLst/>
                  <a:uLnTx/>
                  <a:uFillTx/>
                  <a:latin typeface="+mj-ea"/>
                  <a:ea typeface="+mj-ea"/>
                  <a:cs typeface="+mn-cs"/>
                </a:endParaRPr>
              </a:p>
            </p:txBody>
          </p:sp>
          <p:sp>
            <p:nvSpPr>
              <p:cNvPr id="20" name="Body-1">
                <a:extLst>
                  <a:ext uri="{FF2B5EF4-FFF2-40B4-BE49-F238E27FC236}">
                    <a16:creationId xmlns:a16="http://schemas.microsoft.com/office/drawing/2014/main" id="{275A27E4-954C-B0E8-08BD-31968233701E}"/>
                  </a:ext>
                </a:extLst>
              </p:cNvPr>
              <p:cNvSpPr/>
              <p:nvPr>
                <p:custDataLst>
                  <p:tags r:id="rId10"/>
                </p:custDataLst>
              </p:nvPr>
            </p:nvSpPr>
            <p:spPr>
              <a:xfrm>
                <a:off x="1298645" y="1699496"/>
                <a:ext cx="4363945" cy="698404"/>
              </a:xfrm>
              <a:prstGeom prst="rect">
                <a:avLst/>
              </a:prstGeom>
              <a:noFill/>
              <a:ln w="12700" cap="flat" cmpd="sng" algn="ctr">
                <a:noFill/>
                <a:prstDash val="solid"/>
                <a:miter lim="800000"/>
              </a:ln>
              <a:effectLst/>
            </p:spPr>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defRPr/>
                </a:pPr>
                <a:r>
                  <a:rPr kumimoji="0" lang="zh-CN" altLang="en-US" sz="1400" b="0" i="0" u="none" strike="noStrike" kern="1200" cap="none" spc="0" normalizeH="0" baseline="0" noProof="0">
                    <a:ln>
                      <a:noFill/>
                    </a:ln>
                    <a:solidFill>
                      <a:schemeClr val="tx1"/>
                    </a:solidFill>
                    <a:effectLst/>
                    <a:uLnTx/>
                    <a:uFillTx/>
                    <a:latin typeface="+mj-ea"/>
                    <a:ea typeface="+mj-ea"/>
                    <a:cs typeface="+mn-cs"/>
                  </a:rPr>
                  <a:t>在</a:t>
                </a:r>
                <a:r>
                  <a:rPr kumimoji="0" lang="en-US" altLang="zh-CN" sz="1400" b="0" i="0" u="none" strike="noStrike" kern="1200" cap="none" spc="0" normalizeH="0" baseline="0" noProof="0">
                    <a:ln>
                      <a:noFill/>
                    </a:ln>
                    <a:solidFill>
                      <a:schemeClr val="tx1"/>
                    </a:solidFill>
                    <a:effectLst/>
                    <a:uLnTx/>
                    <a:uFillTx/>
                    <a:latin typeface="+mj-ea"/>
                    <a:ea typeface="+mj-ea"/>
                    <a:cs typeface="+mn-cs"/>
                  </a:rPr>
                  <a:t>BOM</a:t>
                </a:r>
                <a:r>
                  <a:rPr kumimoji="0" lang="zh-CN" altLang="en-US" sz="1400" b="0" i="0" u="none" strike="noStrike" kern="1200" cap="none" spc="0" normalizeH="0" baseline="0" noProof="0">
                    <a:ln>
                      <a:noFill/>
                    </a:ln>
                    <a:solidFill>
                      <a:schemeClr val="tx1"/>
                    </a:solidFill>
                    <a:effectLst/>
                    <a:uLnTx/>
                    <a:uFillTx/>
                    <a:latin typeface="+mj-ea"/>
                    <a:ea typeface="+mj-ea"/>
                    <a:cs typeface="+mn-cs"/>
                  </a:rPr>
                  <a:t>不全时，可以利用规划物料清单 来模拟可能的产品配置和物料需求。利用类似项目的规划</a:t>
                </a:r>
                <a:r>
                  <a:rPr kumimoji="0" lang="en-US" altLang="zh-CN" sz="1400" b="0" i="0" u="none" strike="noStrike" kern="1200" cap="none" spc="0" normalizeH="0" baseline="0" noProof="0">
                    <a:ln>
                      <a:noFill/>
                    </a:ln>
                    <a:solidFill>
                      <a:schemeClr val="tx1"/>
                    </a:solidFill>
                    <a:effectLst/>
                    <a:uLnTx/>
                    <a:uFillTx/>
                    <a:latin typeface="+mj-ea"/>
                    <a:ea typeface="+mj-ea"/>
                    <a:cs typeface="+mn-cs"/>
                  </a:rPr>
                  <a:t>BOM</a:t>
                </a:r>
                <a:r>
                  <a:rPr kumimoji="0" lang="zh-CN" altLang="en-US" sz="1400" b="0" i="0" u="none" strike="noStrike" kern="1200" cap="none" spc="0" normalizeH="0" baseline="0" noProof="0">
                    <a:ln>
                      <a:noFill/>
                    </a:ln>
                    <a:solidFill>
                      <a:schemeClr val="tx1"/>
                    </a:solidFill>
                    <a:effectLst/>
                    <a:uLnTx/>
                    <a:uFillTx/>
                    <a:latin typeface="+mj-ea"/>
                    <a:ea typeface="+mj-ea"/>
                    <a:cs typeface="+mn-cs"/>
                  </a:rPr>
                  <a:t>，结合新项目的特殊要求，可以快速模拟出大致的物料需求和提前期。</a:t>
                </a:r>
                <a:endParaRPr kumimoji="0" lang="en-GB" altLang="zh-CN" sz="1400" b="0" i="0" u="none" strike="noStrike" kern="1200" cap="none" spc="0" normalizeH="0" baseline="0" noProof="0" dirty="0">
                  <a:ln>
                    <a:noFill/>
                  </a:ln>
                  <a:solidFill>
                    <a:schemeClr val="tx1"/>
                  </a:solidFill>
                  <a:effectLst/>
                  <a:uLnTx/>
                  <a:uFillTx/>
                  <a:latin typeface="+mj-ea"/>
                  <a:ea typeface="+mj-ea"/>
                  <a:cs typeface="+mn-cs"/>
                </a:endParaRPr>
              </a:p>
            </p:txBody>
          </p:sp>
        </p:grpSp>
        <p:grpSp>
          <p:nvGrpSpPr>
            <p:cNvPr id="7" name="组合 6">
              <a:extLst>
                <a:ext uri="{FF2B5EF4-FFF2-40B4-BE49-F238E27FC236}">
                  <a16:creationId xmlns:a16="http://schemas.microsoft.com/office/drawing/2014/main" id="{D5291708-9C83-1C00-1BD1-A02BB29C584C}"/>
                </a:ext>
              </a:extLst>
            </p:cNvPr>
            <p:cNvGrpSpPr/>
            <p:nvPr/>
          </p:nvGrpSpPr>
          <p:grpSpPr>
            <a:xfrm>
              <a:off x="910364" y="2817000"/>
              <a:ext cx="5129298" cy="1224000"/>
              <a:chOff x="645969" y="2724638"/>
              <a:chExt cx="5129298" cy="1224000"/>
            </a:xfrm>
          </p:grpSpPr>
          <p:sp>
            <p:nvSpPr>
              <p:cNvPr id="13" name="2">
                <a:extLst>
                  <a:ext uri="{FF2B5EF4-FFF2-40B4-BE49-F238E27FC236}">
                    <a16:creationId xmlns:a16="http://schemas.microsoft.com/office/drawing/2014/main" id="{74EE355B-CE80-07D1-A21F-B2CC776A1E52}"/>
                  </a:ext>
                </a:extLst>
              </p:cNvPr>
              <p:cNvSpPr/>
              <p:nvPr/>
            </p:nvSpPr>
            <p:spPr>
              <a:xfrm>
                <a:off x="908629" y="2724638"/>
                <a:ext cx="4866638" cy="1224000"/>
              </a:xfrm>
              <a:prstGeom prst="roundRect">
                <a:avLst>
                  <a:gd name="adj" fmla="val 91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30000"/>
                  </a:lnSpc>
                </a:pPr>
                <a:endParaRPr kumimoji="1" lang="en-US" altLang="zh-CN" sz="1200" dirty="0">
                  <a:solidFill>
                    <a:schemeClr val="tx1"/>
                  </a:solidFill>
                  <a:latin typeface="+mj-ea"/>
                  <a:ea typeface="+mj-ea"/>
                  <a:cs typeface="+mn-ea"/>
                  <a:sym typeface="+mn-lt"/>
                </a:endParaRPr>
              </a:p>
            </p:txBody>
          </p:sp>
          <p:sp>
            <p:nvSpPr>
              <p:cNvPr id="14" name="Index-2">
                <a:extLst>
                  <a:ext uri="{FF2B5EF4-FFF2-40B4-BE49-F238E27FC236}">
                    <a16:creationId xmlns:a16="http://schemas.microsoft.com/office/drawing/2014/main" id="{7055E30E-BB3C-FF14-2003-162A3659F504}"/>
                  </a:ext>
                </a:extLst>
              </p:cNvPr>
              <p:cNvSpPr txBox="1">
                <a:spLocks noChangeAspect="1"/>
              </p:cNvSpPr>
              <p:nvPr>
                <p:custDataLst>
                  <p:tags r:id="rId5"/>
                </p:custDataLst>
              </p:nvPr>
            </p:nvSpPr>
            <p:spPr>
              <a:xfrm>
                <a:off x="645969" y="3018744"/>
                <a:ext cx="540000" cy="540000"/>
              </a:xfrm>
              <a:prstGeom prst="roundRect">
                <a:avLst>
                  <a:gd name="adj" fmla="val 50000"/>
                </a:avLst>
              </a:prstGeom>
              <a:solidFill>
                <a:schemeClr val="accent2"/>
              </a:solidFill>
              <a:ln w="12700" cap="flat">
                <a:noFill/>
                <a:prstDash val="solid"/>
                <a:miter/>
              </a:ln>
              <a:effectLst>
                <a:outerShdw blurRad="127000" dist="63500" dir="2700000" algn="tl" rotWithShape="0">
                  <a:schemeClr val="accent2">
                    <a:alpha val="40000"/>
                  </a:schemeClr>
                </a:outerShdw>
              </a:effectLst>
            </p:spPr>
            <p:txBody>
              <a:bodyPr wrap="none" rtlCol="0" anchor="ctr"/>
              <a:lstStyle>
                <a:defPPr>
                  <a:defRPr lang="zh-CN"/>
                </a:defPPr>
                <a:lvl1pPr algn="ctr">
                  <a:defRPr b="1">
                    <a:solidFill>
                      <a:srgbClr val="FFFFFF"/>
                    </a:solidFill>
                    <a:latin typeface="Arial" panose="020B0604020202020204" pitchFamily="34" charset="0"/>
                    <a:ea typeface="Microsoft YaHei" panose="020B0503020204020204" pitchFamily="34" charset="-122"/>
                  </a:defRPr>
                </a:lvl1pPr>
              </a:lstStyle>
              <a:p>
                <a:r>
                  <a:rPr lang="en-US" altLang="zh-CN" sz="1600" dirty="0">
                    <a:solidFill>
                      <a:schemeClr val="tx1"/>
                    </a:solidFill>
                    <a:latin typeface="+mj-ea"/>
                    <a:ea typeface="+mj-ea"/>
                    <a:cs typeface="+mn-ea"/>
                    <a:sym typeface="+mn-lt"/>
                  </a:rPr>
                  <a:t>02</a:t>
                </a:r>
                <a:endParaRPr lang="zh-CN" altLang="en-US" sz="1600" dirty="0">
                  <a:solidFill>
                    <a:schemeClr val="tx1"/>
                  </a:solidFill>
                  <a:latin typeface="+mj-ea"/>
                  <a:ea typeface="+mj-ea"/>
                  <a:cs typeface="+mn-ea"/>
                  <a:sym typeface="+mn-lt"/>
                </a:endParaRPr>
              </a:p>
            </p:txBody>
          </p:sp>
          <p:sp>
            <p:nvSpPr>
              <p:cNvPr id="15" name="Title-2">
                <a:extLst>
                  <a:ext uri="{FF2B5EF4-FFF2-40B4-BE49-F238E27FC236}">
                    <a16:creationId xmlns:a16="http://schemas.microsoft.com/office/drawing/2014/main" id="{94DB0CE8-6827-C170-AF14-B14E92B5EB6F}"/>
                  </a:ext>
                </a:extLst>
              </p:cNvPr>
              <p:cNvSpPr txBox="1"/>
              <p:nvPr>
                <p:custDataLst>
                  <p:tags r:id="rId6"/>
                </p:custDataLst>
              </p:nvPr>
            </p:nvSpPr>
            <p:spPr>
              <a:xfrm>
                <a:off x="1298646" y="2875871"/>
                <a:ext cx="2458594" cy="263420"/>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800" b="1" i="0" u="none" strike="noStrike" kern="0" cap="none" spc="0" normalizeH="0" baseline="0" noProof="0">
                    <a:ln>
                      <a:noFill/>
                    </a:ln>
                    <a:effectLst/>
                    <a:uLnTx/>
                    <a:uFillTx/>
                    <a:latin typeface="+mj-ea"/>
                    <a:ea typeface="+mj-ea"/>
                    <a:cs typeface="+mn-cs"/>
                  </a:rPr>
                  <a:t>重点管理长周期物料：</a:t>
                </a:r>
                <a:endParaRPr kumimoji="0" lang="zh-CN" altLang="en-US" sz="1800" b="1" i="0" u="none" strike="noStrike" kern="0" cap="none" spc="0" normalizeH="0" baseline="0" noProof="0" dirty="0">
                  <a:ln>
                    <a:noFill/>
                  </a:ln>
                  <a:effectLst/>
                  <a:uLnTx/>
                  <a:uFillTx/>
                  <a:latin typeface="+mj-ea"/>
                  <a:ea typeface="+mj-ea"/>
                  <a:cs typeface="+mn-cs"/>
                </a:endParaRPr>
              </a:p>
            </p:txBody>
          </p:sp>
          <p:sp>
            <p:nvSpPr>
              <p:cNvPr id="16" name="Body-2">
                <a:extLst>
                  <a:ext uri="{FF2B5EF4-FFF2-40B4-BE49-F238E27FC236}">
                    <a16:creationId xmlns:a16="http://schemas.microsoft.com/office/drawing/2014/main" id="{71F9D58E-D3CD-91ED-9E14-F07B1395C769}"/>
                  </a:ext>
                </a:extLst>
              </p:cNvPr>
              <p:cNvSpPr/>
              <p:nvPr>
                <p:custDataLst>
                  <p:tags r:id="rId7"/>
                </p:custDataLst>
              </p:nvPr>
            </p:nvSpPr>
            <p:spPr>
              <a:xfrm>
                <a:off x="1298645" y="3155473"/>
                <a:ext cx="4363945" cy="698404"/>
              </a:xfrm>
              <a:prstGeom prst="rect">
                <a:avLst/>
              </a:prstGeom>
              <a:noFill/>
              <a:ln w="12700" cap="flat" cmpd="sng" algn="ctr">
                <a:noFill/>
                <a:prstDash val="solid"/>
                <a:miter lim="800000"/>
              </a:ln>
              <a:effectLst/>
            </p:spPr>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defRPr/>
                </a:pPr>
                <a:r>
                  <a:rPr kumimoji="0" lang="en-US" altLang="zh-CN" sz="1400" b="0" i="0" u="none" strike="noStrike" kern="1200" cap="none" spc="0" normalizeH="0" baseline="0" noProof="0">
                    <a:ln>
                      <a:noFill/>
                    </a:ln>
                    <a:solidFill>
                      <a:schemeClr val="tx1"/>
                    </a:solidFill>
                    <a:effectLst/>
                    <a:uLnTx/>
                    <a:uFillTx/>
                    <a:latin typeface="+mj-ea"/>
                    <a:ea typeface="+mj-ea"/>
                    <a:cs typeface="+mn-cs"/>
                  </a:rPr>
                  <a:t>ETO</a:t>
                </a:r>
                <a:r>
                  <a:rPr kumimoji="0" lang="zh-CN" altLang="en-US" sz="1400" b="0" i="0" u="none" strike="noStrike" kern="1200" cap="none" spc="0" normalizeH="0" baseline="0" noProof="0">
                    <a:ln>
                      <a:noFill/>
                    </a:ln>
                    <a:solidFill>
                      <a:schemeClr val="tx1"/>
                    </a:solidFill>
                    <a:effectLst/>
                    <a:uLnTx/>
                    <a:uFillTx/>
                    <a:latin typeface="+mj-ea"/>
                    <a:ea typeface="+mj-ea"/>
                    <a:cs typeface="+mn-cs"/>
                  </a:rPr>
                  <a:t>项目的总交期往往由最长的物料采购或设计周期决定。初期就应识别出这些瓶颈物料，并立即启动供应商寻源和询价，即使设计还未完全冻结。</a:t>
                </a:r>
                <a:endParaRPr kumimoji="0" lang="en-GB" altLang="zh-CN" sz="1400" b="0" i="0" u="none" strike="noStrike" kern="1200" cap="none" spc="0" normalizeH="0" baseline="0" noProof="0" dirty="0">
                  <a:ln>
                    <a:noFill/>
                  </a:ln>
                  <a:solidFill>
                    <a:schemeClr val="tx1"/>
                  </a:solidFill>
                  <a:effectLst/>
                  <a:uLnTx/>
                  <a:uFillTx/>
                  <a:latin typeface="+mj-ea"/>
                  <a:ea typeface="+mj-ea"/>
                  <a:cs typeface="+mn-cs"/>
                </a:endParaRPr>
              </a:p>
            </p:txBody>
          </p:sp>
        </p:grpSp>
        <p:grpSp>
          <p:nvGrpSpPr>
            <p:cNvPr id="8" name="组合 7">
              <a:extLst>
                <a:ext uri="{FF2B5EF4-FFF2-40B4-BE49-F238E27FC236}">
                  <a16:creationId xmlns:a16="http://schemas.microsoft.com/office/drawing/2014/main" id="{87A9243A-117A-007D-EC29-9E8BC510DF20}"/>
                </a:ext>
              </a:extLst>
            </p:cNvPr>
            <p:cNvGrpSpPr/>
            <p:nvPr/>
          </p:nvGrpSpPr>
          <p:grpSpPr>
            <a:xfrm>
              <a:off x="910364" y="4290398"/>
              <a:ext cx="5129298" cy="1224000"/>
              <a:chOff x="645969" y="4198036"/>
              <a:chExt cx="5129298" cy="1224000"/>
            </a:xfrm>
          </p:grpSpPr>
          <p:sp>
            <p:nvSpPr>
              <p:cNvPr id="9" name="3">
                <a:extLst>
                  <a:ext uri="{FF2B5EF4-FFF2-40B4-BE49-F238E27FC236}">
                    <a16:creationId xmlns:a16="http://schemas.microsoft.com/office/drawing/2014/main" id="{CA5613BB-7BCD-5462-D8CE-64B354A15EE4}"/>
                  </a:ext>
                </a:extLst>
              </p:cNvPr>
              <p:cNvSpPr/>
              <p:nvPr/>
            </p:nvSpPr>
            <p:spPr>
              <a:xfrm>
                <a:off x="908629" y="4198036"/>
                <a:ext cx="4866638" cy="1224000"/>
              </a:xfrm>
              <a:prstGeom prst="roundRect">
                <a:avLst>
                  <a:gd name="adj" fmla="val 91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30000"/>
                  </a:lnSpc>
                </a:pPr>
                <a:endParaRPr kumimoji="1" lang="en-US" altLang="zh-CN" sz="1200" dirty="0">
                  <a:solidFill>
                    <a:schemeClr val="tx1"/>
                  </a:solidFill>
                  <a:latin typeface="+mj-ea"/>
                  <a:ea typeface="+mj-ea"/>
                  <a:cs typeface="+mn-ea"/>
                  <a:sym typeface="+mn-lt"/>
                </a:endParaRPr>
              </a:p>
            </p:txBody>
          </p:sp>
          <p:sp>
            <p:nvSpPr>
              <p:cNvPr id="10" name="Index-3">
                <a:extLst>
                  <a:ext uri="{FF2B5EF4-FFF2-40B4-BE49-F238E27FC236}">
                    <a16:creationId xmlns:a16="http://schemas.microsoft.com/office/drawing/2014/main" id="{FA4B5543-94D0-3901-A495-B824CC6039E1}"/>
                  </a:ext>
                </a:extLst>
              </p:cNvPr>
              <p:cNvSpPr txBox="1">
                <a:spLocks noChangeAspect="1"/>
              </p:cNvSpPr>
              <p:nvPr>
                <p:custDataLst>
                  <p:tags r:id="rId2"/>
                </p:custDataLst>
              </p:nvPr>
            </p:nvSpPr>
            <p:spPr>
              <a:xfrm>
                <a:off x="645969" y="4492142"/>
                <a:ext cx="540000" cy="540000"/>
              </a:xfrm>
              <a:prstGeom prst="roundRect">
                <a:avLst>
                  <a:gd name="adj" fmla="val 50000"/>
                </a:avLst>
              </a:prstGeom>
              <a:solidFill>
                <a:schemeClr val="accent1"/>
              </a:solidFill>
              <a:ln w="12700" cap="flat">
                <a:noFill/>
                <a:prstDash val="solid"/>
                <a:miter/>
              </a:ln>
              <a:effectLst>
                <a:outerShdw blurRad="127000" dist="63500" dir="2700000" algn="tl" rotWithShape="0">
                  <a:schemeClr val="accent1">
                    <a:alpha val="40000"/>
                  </a:schemeClr>
                </a:outerShdw>
              </a:effectLst>
            </p:spPr>
            <p:txBody>
              <a:bodyPr wrap="none" rtlCol="0" anchor="ctr"/>
              <a:lstStyle>
                <a:defPPr>
                  <a:defRPr lang="zh-CN"/>
                </a:defPPr>
                <a:lvl1pPr algn="ctr">
                  <a:defRPr b="1">
                    <a:solidFill>
                      <a:srgbClr val="FFFFFF"/>
                    </a:solidFill>
                    <a:latin typeface="Arial" panose="020B0604020202020204" pitchFamily="34" charset="0"/>
                    <a:ea typeface="Microsoft YaHei" panose="020B0503020204020204" pitchFamily="34" charset="-122"/>
                  </a:defRPr>
                </a:lvl1pPr>
              </a:lstStyle>
              <a:p>
                <a:r>
                  <a:rPr lang="en-US" altLang="zh-CN" sz="1600" dirty="0">
                    <a:solidFill>
                      <a:schemeClr val="tx1"/>
                    </a:solidFill>
                    <a:latin typeface="+mj-ea"/>
                    <a:ea typeface="+mj-ea"/>
                    <a:cs typeface="+mn-ea"/>
                    <a:sym typeface="+mn-lt"/>
                  </a:rPr>
                  <a:t>03</a:t>
                </a:r>
                <a:endParaRPr lang="zh-CN" altLang="en-US" sz="1600" dirty="0">
                  <a:solidFill>
                    <a:schemeClr val="tx1"/>
                  </a:solidFill>
                  <a:latin typeface="+mj-ea"/>
                  <a:ea typeface="+mj-ea"/>
                  <a:cs typeface="+mn-ea"/>
                  <a:sym typeface="+mn-lt"/>
                </a:endParaRPr>
              </a:p>
            </p:txBody>
          </p:sp>
          <p:sp>
            <p:nvSpPr>
              <p:cNvPr id="11" name="Title-3">
                <a:extLst>
                  <a:ext uri="{FF2B5EF4-FFF2-40B4-BE49-F238E27FC236}">
                    <a16:creationId xmlns:a16="http://schemas.microsoft.com/office/drawing/2014/main" id="{3E770A96-AC2B-8233-ECC9-FEB95305A633}"/>
                  </a:ext>
                </a:extLst>
              </p:cNvPr>
              <p:cNvSpPr txBox="1"/>
              <p:nvPr>
                <p:custDataLst>
                  <p:tags r:id="rId3"/>
                </p:custDataLst>
              </p:nvPr>
            </p:nvSpPr>
            <p:spPr>
              <a:xfrm>
                <a:off x="1298646" y="4304621"/>
                <a:ext cx="2458594" cy="263420"/>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800" b="1" i="0" u="none" strike="noStrike" kern="0" cap="none" spc="0" normalizeH="0" baseline="0" noProof="0">
                    <a:ln>
                      <a:noFill/>
                    </a:ln>
                    <a:effectLst/>
                    <a:uLnTx/>
                    <a:uFillTx/>
                    <a:latin typeface="+mj-ea"/>
                    <a:ea typeface="+mj-ea"/>
                    <a:cs typeface="+mn-cs"/>
                  </a:rPr>
                  <a:t>建立强大的变更管理流程：</a:t>
                </a:r>
                <a:endParaRPr kumimoji="0" lang="zh-CN" altLang="en-US" sz="1800" b="1" i="0" u="none" strike="noStrike" kern="0" cap="none" spc="0" normalizeH="0" baseline="0" noProof="0" dirty="0">
                  <a:ln>
                    <a:noFill/>
                  </a:ln>
                  <a:effectLst/>
                  <a:uLnTx/>
                  <a:uFillTx/>
                  <a:latin typeface="+mj-ea"/>
                  <a:ea typeface="+mj-ea"/>
                  <a:cs typeface="+mn-cs"/>
                </a:endParaRPr>
              </a:p>
            </p:txBody>
          </p:sp>
          <p:sp>
            <p:nvSpPr>
              <p:cNvPr id="12" name="Body-3">
                <a:extLst>
                  <a:ext uri="{FF2B5EF4-FFF2-40B4-BE49-F238E27FC236}">
                    <a16:creationId xmlns:a16="http://schemas.microsoft.com/office/drawing/2014/main" id="{176DE432-A200-64EA-EA03-26BE5E0BC084}"/>
                  </a:ext>
                </a:extLst>
              </p:cNvPr>
              <p:cNvSpPr/>
              <p:nvPr>
                <p:custDataLst>
                  <p:tags r:id="rId4"/>
                </p:custDataLst>
              </p:nvPr>
            </p:nvSpPr>
            <p:spPr>
              <a:xfrm>
                <a:off x="1298645" y="4584223"/>
                <a:ext cx="4363945" cy="698404"/>
              </a:xfrm>
              <a:prstGeom prst="rect">
                <a:avLst/>
              </a:prstGeom>
              <a:noFill/>
              <a:ln w="12700" cap="flat" cmpd="sng" algn="ctr">
                <a:noFill/>
                <a:prstDash val="solid"/>
                <a:miter lim="800000"/>
              </a:ln>
              <a:effectLst/>
            </p:spPr>
            <p:txBody>
              <a:bodyPr wrap="square" lIns="108000" tIns="108000" rIns="108000" bIns="108000" rtlCol="0" anchor="t" anchorCtr="0">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defTabSz="913765">
                  <a:lnSpc>
                    <a:spcPct val="130000"/>
                  </a:lnSpc>
                  <a:buSzPct val="100000"/>
                  <a:defRPr/>
                </a:pPr>
                <a:r>
                  <a:rPr kumimoji="0" lang="zh-CN" altLang="en-US" sz="1400" b="0" i="0" u="none" strike="noStrike" kern="1200" cap="none" spc="0" normalizeH="0" baseline="0" noProof="0">
                    <a:ln>
                      <a:noFill/>
                    </a:ln>
                    <a:solidFill>
                      <a:schemeClr val="tx1"/>
                    </a:solidFill>
                    <a:effectLst/>
                    <a:uLnTx/>
                    <a:uFillTx/>
                    <a:latin typeface="+mj-ea"/>
                    <a:ea typeface="+mj-ea"/>
                    <a:cs typeface="+mn-cs"/>
                  </a:rPr>
                  <a:t>必须有一个严格的流程来评估任何设计变更对交期和成本的影响，并与客户沟通确认。</a:t>
                </a:r>
                <a:endParaRPr kumimoji="0" lang="en-GB" altLang="zh-CN" sz="1400" b="0" i="0" u="none" strike="noStrike" kern="1200" cap="none" spc="0" normalizeH="0" baseline="0" noProof="0" dirty="0">
                  <a:ln>
                    <a:noFill/>
                  </a:ln>
                  <a:solidFill>
                    <a:schemeClr val="tx1"/>
                  </a:solidFill>
                  <a:effectLst/>
                  <a:uLnTx/>
                  <a:uFillTx/>
                  <a:latin typeface="+mj-ea"/>
                  <a:ea typeface="+mj-ea"/>
                  <a:cs typeface="+mn-cs"/>
                </a:endParaRPr>
              </a:p>
            </p:txBody>
          </p:sp>
        </p:grpSp>
      </p:grpSp>
    </p:spTree>
    <p:extLst>
      <p:ext uri="{BB962C8B-B14F-4D97-AF65-F5344CB8AC3E}">
        <p14:creationId xmlns:p14="http://schemas.microsoft.com/office/powerpoint/2010/main" val="4286220461"/>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40C50A9B-E86C-C7EB-680C-F32E208D4FA9}"/>
              </a:ext>
            </a:extLst>
          </p:cNvPr>
          <p:cNvSpPr>
            <a:spLocks noGrp="1"/>
          </p:cNvSpPr>
          <p:nvPr>
            <p:ph type="ctrTitle"/>
          </p:nvPr>
        </p:nvSpPr>
        <p:spPr/>
        <p:txBody>
          <a:bodyPr/>
          <a:lstStyle/>
          <a:p>
            <a:r>
              <a:rPr lang="zh-CN" altLang="en-US" dirty="0"/>
              <a:t>供应链数字化转型的第一性原理</a:t>
            </a:r>
          </a:p>
        </p:txBody>
      </p:sp>
    </p:spTree>
    <p:extLst>
      <p:ext uri="{BB962C8B-B14F-4D97-AF65-F5344CB8AC3E}">
        <p14:creationId xmlns:p14="http://schemas.microsoft.com/office/powerpoint/2010/main" val="3415461597"/>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096BA2A5-BBF4-58A4-F34B-F166ED496BA6}"/>
              </a:ext>
            </a:extLst>
          </p:cNvPr>
          <p:cNvSpPr>
            <a:spLocks noGrp="1"/>
          </p:cNvSpPr>
          <p:nvPr>
            <p:ph type="title"/>
          </p:nvPr>
        </p:nvSpPr>
        <p:spPr>
          <a:xfrm>
            <a:off x="959394" y="-218307"/>
            <a:ext cx="9801933" cy="1028700"/>
          </a:xfrm>
        </p:spPr>
        <p:txBody>
          <a:bodyPr>
            <a:normAutofit/>
          </a:bodyPr>
          <a:lstStyle/>
          <a:p>
            <a:r>
              <a:rPr lang="zh-CN" altLang="en-US" dirty="0">
                <a:latin typeface="+mj-ea"/>
              </a:rPr>
              <a:t>第一性原理一：</a:t>
            </a:r>
            <a:r>
              <a:rPr lang="zh-CN" altLang="en-US" b="1" i="0" dirty="0">
                <a:effectLst/>
                <a:latin typeface="+mj-ea"/>
              </a:rPr>
              <a:t>数字化时代的挑战是“</a:t>
            </a:r>
            <a:r>
              <a:rPr lang="en-US" altLang="zh-CN" b="1" i="0" dirty="0">
                <a:effectLst/>
                <a:latin typeface="+mj-ea"/>
              </a:rPr>
              <a:t>N²</a:t>
            </a:r>
            <a:r>
              <a:rPr lang="zh-CN" altLang="en-US" b="1" i="0" dirty="0">
                <a:effectLst/>
                <a:latin typeface="+mj-ea"/>
              </a:rPr>
              <a:t>复杂度”的爆发，传统管理范式已失效</a:t>
            </a:r>
            <a:endParaRPr lang="zh-CN" altLang="en-US" dirty="0">
              <a:latin typeface="+mj-ea"/>
            </a:endParaRPr>
          </a:p>
        </p:txBody>
      </p:sp>
      <p:grpSp>
        <p:nvGrpSpPr>
          <p:cNvPr id="4" name="组合 3">
            <a:extLst>
              <a:ext uri="{FF2B5EF4-FFF2-40B4-BE49-F238E27FC236}">
                <a16:creationId xmlns:a16="http://schemas.microsoft.com/office/drawing/2014/main" id="{5B45ACB6-14A4-237E-9156-6A45A6E72661}"/>
              </a:ext>
            </a:extLst>
          </p:cNvPr>
          <p:cNvGrpSpPr>
            <a:grpSpLocks noChangeAspect="1"/>
          </p:cNvGrpSpPr>
          <p:nvPr>
            <p:custDataLst>
              <p:tags r:id="rId1"/>
            </p:custDataLst>
          </p:nvPr>
        </p:nvGrpSpPr>
        <p:grpSpPr>
          <a:xfrm>
            <a:off x="1233715" y="908272"/>
            <a:ext cx="9480510" cy="4528626"/>
            <a:chOff x="1094466" y="1804136"/>
            <a:chExt cx="5605124" cy="4991384"/>
          </a:xfrm>
        </p:grpSpPr>
        <p:grpSp>
          <p:nvGrpSpPr>
            <p:cNvPr id="5" name="组合 1">
              <a:extLst>
                <a:ext uri="{FF2B5EF4-FFF2-40B4-BE49-F238E27FC236}">
                  <a16:creationId xmlns:a16="http://schemas.microsoft.com/office/drawing/2014/main" id="{CA076809-11B7-F0C7-C943-10F4C0D676A7}"/>
                </a:ext>
              </a:extLst>
            </p:cNvPr>
            <p:cNvGrpSpPr/>
            <p:nvPr/>
          </p:nvGrpSpPr>
          <p:grpSpPr>
            <a:xfrm>
              <a:off x="1094466" y="1804138"/>
              <a:ext cx="2922779" cy="4991382"/>
              <a:chOff x="660400" y="2229530"/>
              <a:chExt cx="2039907" cy="5099216"/>
            </a:xfrm>
          </p:grpSpPr>
          <p:sp>
            <p:nvSpPr>
              <p:cNvPr id="12" name="1">
                <a:extLst>
                  <a:ext uri="{FF2B5EF4-FFF2-40B4-BE49-F238E27FC236}">
                    <a16:creationId xmlns:a16="http://schemas.microsoft.com/office/drawing/2014/main" id="{28FC2269-5EFE-F8CD-346B-5FE878139E80}"/>
                  </a:ext>
                </a:extLst>
              </p:cNvPr>
              <p:cNvSpPr/>
              <p:nvPr/>
            </p:nvSpPr>
            <p:spPr>
              <a:xfrm>
                <a:off x="660400" y="2229530"/>
                <a:ext cx="2039907" cy="5099216"/>
              </a:xfrm>
              <a:prstGeom prst="homePlate">
                <a:avLst>
                  <a:gd name="adj" fmla="val 21858"/>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endParaRPr>
              </a:p>
            </p:txBody>
          </p:sp>
          <p:sp>
            <p:nvSpPr>
              <p:cNvPr id="13" name="Title-1">
                <a:extLst>
                  <a:ext uri="{FF2B5EF4-FFF2-40B4-BE49-F238E27FC236}">
                    <a16:creationId xmlns:a16="http://schemas.microsoft.com/office/drawing/2014/main" id="{6FA297C5-36D7-0E3D-75D3-EC97E3AD544F}"/>
                  </a:ext>
                </a:extLst>
              </p:cNvPr>
              <p:cNvSpPr txBox="1"/>
              <p:nvPr>
                <p:custDataLst>
                  <p:tags r:id="rId4"/>
                </p:custDataLst>
              </p:nvPr>
            </p:nvSpPr>
            <p:spPr>
              <a:xfrm>
                <a:off x="731206" y="2431268"/>
                <a:ext cx="1536420" cy="415867"/>
              </a:xfrm>
              <a:prstGeom prst="rect">
                <a:avLst/>
              </a:prstGeom>
              <a:noFill/>
            </p:spPr>
            <p:txBody>
              <a:bodyPr wrap="square" lIns="0" rIns="0" rtlCol="0">
                <a:sp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0" lang="zh-CN" altLang="en-US" sz="1800" b="1" i="0" u="none" strike="noStrike" kern="1200" cap="none" spc="0" normalizeH="0" baseline="0" noProof="0" dirty="0">
                    <a:ln>
                      <a:noFill/>
                    </a:ln>
                    <a:solidFill>
                      <a:srgbClr val="3494BA"/>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a:t>
                </a:r>
                <a:r>
                  <a:rPr kumimoji="0" lang="en-US" altLang="zh-CN" sz="1800" b="1" i="0" u="none" strike="noStrike" kern="1200" cap="none" spc="0" normalizeH="0" baseline="0" noProof="0" dirty="0">
                    <a:ln>
                      <a:noFill/>
                    </a:ln>
                    <a:solidFill>
                      <a:srgbClr val="3494BA"/>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1. </a:t>
                </a:r>
                <a:r>
                  <a:rPr kumimoji="0" lang="zh-CN" altLang="en-US" sz="1800" b="1" i="0" u="none" strike="noStrike" kern="1200" cap="none" spc="0" normalizeH="0" baseline="0" noProof="0" dirty="0">
                    <a:ln>
                      <a:noFill/>
                    </a:ln>
                    <a:solidFill>
                      <a:srgbClr val="3494BA"/>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职能间天然的“断裂”与目标冲突​</a:t>
                </a:r>
              </a:p>
            </p:txBody>
          </p:sp>
          <p:sp>
            <p:nvSpPr>
              <p:cNvPr id="14" name="Body-1">
                <a:extLst>
                  <a:ext uri="{FF2B5EF4-FFF2-40B4-BE49-F238E27FC236}">
                    <a16:creationId xmlns:a16="http://schemas.microsoft.com/office/drawing/2014/main" id="{19C982ED-9070-6B87-AB79-1134EB3D6DE0}"/>
                  </a:ext>
                </a:extLst>
              </p:cNvPr>
              <p:cNvSpPr txBox="1"/>
              <p:nvPr>
                <p:custDataLst>
                  <p:tags r:id="rId5"/>
                </p:custDataLst>
              </p:nvPr>
            </p:nvSpPr>
            <p:spPr>
              <a:xfrm>
                <a:off x="684297" y="3464803"/>
                <a:ext cx="1609310" cy="3699913"/>
              </a:xfrm>
              <a:prstGeom prst="rect">
                <a:avLst/>
              </a:prstGeom>
              <a:noFill/>
            </p:spPr>
            <p:txBody>
              <a:bodyPr wrap="square" lIns="0" rIns="0" rtlCol="0">
                <a:spAutoFit/>
              </a:bodyPr>
              <a:lstStyle/>
              <a:p>
                <a:pPr marL="0" marR="0" lvl="0" indent="0" algn="l" defTabSz="914400" rtl="0" eaLnBrk="1" fontAlgn="auto" latinLnBrk="0" hangingPunct="1">
                  <a:lnSpc>
                    <a:spcPct val="150000"/>
                  </a:lnSpc>
                  <a:spcBef>
                    <a:spcPts val="0"/>
                  </a:spcBef>
                  <a:spcAft>
                    <a:spcPts val="0"/>
                  </a:spcAft>
                  <a:buClrTx/>
                  <a:buSzPct val="80000"/>
                  <a:buFontTx/>
                  <a:buNone/>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各职能的优先权本质上是冲突的，导致“竖井”和内部耗散：</a:t>
                </a:r>
              </a:p>
              <a:p>
                <a:pPr marL="742950" marR="0" lvl="1" indent="-285750" algn="l" defTabSz="914400" rtl="0" eaLnBrk="1" fontAlgn="auto" latinLnBrk="0" hangingPunct="1">
                  <a:lnSpc>
                    <a:spcPct val="150000"/>
                  </a:lnSpc>
                  <a:spcBef>
                    <a:spcPts val="0"/>
                  </a:spcBef>
                  <a:spcAft>
                    <a:spcPts val="0"/>
                  </a:spcAft>
                  <a:buClrTx/>
                  <a:buSzPct val="80000"/>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​研发的“创新多变” </a:t>
                </a:r>
                <a:r>
                  <a:rPr kumimoji="0" lang="en-US" altLang="zh-CN"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vs ​</a:t>
                </a: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供应链的“稳定高效”。</a:t>
                </a:r>
              </a:p>
              <a:p>
                <a:pPr marL="742950" marR="0" lvl="1" indent="-285750" algn="l" defTabSz="914400" rtl="0" eaLnBrk="1" fontAlgn="auto" latinLnBrk="0" hangingPunct="1">
                  <a:lnSpc>
                    <a:spcPct val="150000"/>
                  </a:lnSpc>
                  <a:spcBef>
                    <a:spcPts val="0"/>
                  </a:spcBef>
                  <a:spcAft>
                    <a:spcPts val="0"/>
                  </a:spcAft>
                  <a:buClrTx/>
                  <a:buSzPct val="80000"/>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​营销的“需求波动” </a:t>
                </a:r>
                <a:r>
                  <a:rPr kumimoji="0" lang="en-US" altLang="zh-CN"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vs ​</a:t>
                </a: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供应链的“产能刚性” </a:t>
                </a:r>
                <a:r>
                  <a:rPr kumimoji="0" lang="en-US" altLang="zh-CN"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vs ​</a:t>
                </a: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财务的“库存与成本控制”。</a:t>
                </a:r>
              </a:p>
              <a:p>
                <a:pPr marL="742950" marR="0" lvl="1" indent="-285750" algn="l" defTabSz="914400" rtl="0" eaLnBrk="1" fontAlgn="auto" latinLnBrk="0" hangingPunct="1">
                  <a:lnSpc>
                    <a:spcPct val="150000"/>
                  </a:lnSpc>
                  <a:spcBef>
                    <a:spcPts val="0"/>
                  </a:spcBef>
                  <a:spcAft>
                    <a:spcPts val="0"/>
                  </a:spcAft>
                  <a:buClrTx/>
                  <a:buSzPct val="80000"/>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所有职能的“资源需求” </a:t>
                </a:r>
                <a:r>
                  <a:rPr kumimoji="0" lang="en-US" altLang="zh-CN"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vs ​</a:t>
                </a: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财务的“资金约束”。</a:t>
                </a:r>
              </a:p>
              <a:p>
                <a:pPr marL="742950" marR="0" lvl="1" indent="-285750" algn="l" defTabSz="914400" rtl="0" eaLnBrk="1" fontAlgn="auto" latinLnBrk="0" hangingPunct="1">
                  <a:lnSpc>
                    <a:spcPct val="150000"/>
                  </a:lnSpc>
                  <a:spcBef>
                    <a:spcPts val="0"/>
                  </a:spcBef>
                  <a:spcAft>
                    <a:spcPts val="0"/>
                  </a:spcAft>
                  <a:buClrTx/>
                  <a:buSzPct val="80000"/>
                  <a:buFont typeface="Arial" panose="020B0604020202020204" pitchFamily="34" charset="0"/>
                  <a:buChar char="•"/>
                  <a:tabLst/>
                  <a:defRPr/>
                </a:pPr>
                <a:r>
                  <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每个职能都在自己的“孤岛”里追求局部最优，却可能导致整体战略的失败。</a:t>
                </a:r>
              </a:p>
            </p:txBody>
          </p:sp>
          <p:cxnSp>
            <p:nvCxnSpPr>
              <p:cNvPr id="15" name="1">
                <a:extLst>
                  <a:ext uri="{FF2B5EF4-FFF2-40B4-BE49-F238E27FC236}">
                    <a16:creationId xmlns:a16="http://schemas.microsoft.com/office/drawing/2014/main" id="{E1A284CF-07BD-91BF-77BB-73D58FE64FEE}"/>
                  </a:ext>
                </a:extLst>
              </p:cNvPr>
              <p:cNvCxnSpPr>
                <a:cxnSpLocks/>
              </p:cNvCxnSpPr>
              <p:nvPr/>
            </p:nvCxnSpPr>
            <p:spPr>
              <a:xfrm>
                <a:off x="888126" y="3367787"/>
                <a:ext cx="1253477" cy="0"/>
              </a:xfrm>
              <a:prstGeom prst="line">
                <a:avLst/>
              </a:prstGeom>
            </p:spPr>
            <p:style>
              <a:lnRef idx="2">
                <a:schemeClr val="accent1"/>
              </a:lnRef>
              <a:fillRef idx="0">
                <a:schemeClr val="accent1"/>
              </a:fillRef>
              <a:effectRef idx="1">
                <a:schemeClr val="accent1"/>
              </a:effectRef>
              <a:fontRef idx="minor">
                <a:schemeClr val="tx1"/>
              </a:fontRef>
            </p:style>
          </p:cxnSp>
          <p:sp>
            <p:nvSpPr>
              <p:cNvPr id="16" name="1">
                <a:extLst>
                  <a:ext uri="{FF2B5EF4-FFF2-40B4-BE49-F238E27FC236}">
                    <a16:creationId xmlns:a16="http://schemas.microsoft.com/office/drawing/2014/main" id="{BE9822D9-22D8-25CC-2899-B8DCF727671A}"/>
                  </a:ext>
                </a:extLst>
              </p:cNvPr>
              <p:cNvSpPr/>
              <p:nvPr/>
            </p:nvSpPr>
            <p:spPr>
              <a:xfrm rot="5400000">
                <a:off x="1514531" y="2882454"/>
                <a:ext cx="180027" cy="707630"/>
              </a:xfrm>
              <a:prstGeom prst="chevron">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endParaRPr>
              </a:p>
            </p:txBody>
          </p:sp>
        </p:grpSp>
        <p:grpSp>
          <p:nvGrpSpPr>
            <p:cNvPr id="6" name="组合 2">
              <a:extLst>
                <a:ext uri="{FF2B5EF4-FFF2-40B4-BE49-F238E27FC236}">
                  <a16:creationId xmlns:a16="http://schemas.microsoft.com/office/drawing/2014/main" id="{A913945A-A36D-8155-AE6E-6FB2083C0B9F}"/>
                </a:ext>
              </a:extLst>
            </p:cNvPr>
            <p:cNvGrpSpPr/>
            <p:nvPr/>
          </p:nvGrpSpPr>
          <p:grpSpPr>
            <a:xfrm>
              <a:off x="3543020" y="1804136"/>
              <a:ext cx="3156570" cy="4981719"/>
              <a:chOff x="9558100" y="2219649"/>
              <a:chExt cx="2203078" cy="5089343"/>
            </a:xfrm>
          </p:grpSpPr>
          <p:sp>
            <p:nvSpPr>
              <p:cNvPr id="7" name="2">
                <a:extLst>
                  <a:ext uri="{FF2B5EF4-FFF2-40B4-BE49-F238E27FC236}">
                    <a16:creationId xmlns:a16="http://schemas.microsoft.com/office/drawing/2014/main" id="{023BB1C0-C87B-FC75-874A-5B1C63C1AAD5}"/>
                  </a:ext>
                </a:extLst>
              </p:cNvPr>
              <p:cNvSpPr/>
              <p:nvPr/>
            </p:nvSpPr>
            <p:spPr>
              <a:xfrm>
                <a:off x="9558100" y="2219649"/>
                <a:ext cx="2203078" cy="5089343"/>
              </a:xfrm>
              <a:custGeom>
                <a:avLst/>
                <a:gdLst>
                  <a:gd name="connsiteX0" fmla="*/ 0 w 2058464"/>
                  <a:gd name="connsiteY0" fmla="*/ 0 h 2466125"/>
                  <a:gd name="connsiteX1" fmla="*/ 1632959 w 2058464"/>
                  <a:gd name="connsiteY1" fmla="*/ 0 h 2466125"/>
                  <a:gd name="connsiteX2" fmla="*/ 2058464 w 2058464"/>
                  <a:gd name="connsiteY2" fmla="*/ 1233063 h 2466125"/>
                  <a:gd name="connsiteX3" fmla="*/ 1632959 w 2058464"/>
                  <a:gd name="connsiteY3" fmla="*/ 2466125 h 2466125"/>
                  <a:gd name="connsiteX4" fmla="*/ 0 w 2058464"/>
                  <a:gd name="connsiteY4" fmla="*/ 2466125 h 2466125"/>
                  <a:gd name="connsiteX5" fmla="*/ 425505 w 2058464"/>
                  <a:gd name="connsiteY5" fmla="*/ 1233063 h 2466125"/>
                  <a:gd name="connsiteX6" fmla="*/ 0 w 2058464"/>
                  <a:gd name="connsiteY6" fmla="*/ 0 h 2466125"/>
                  <a:gd name="connsiteX0" fmla="*/ 0 w 1632959"/>
                  <a:gd name="connsiteY0" fmla="*/ 0 h 2466125"/>
                  <a:gd name="connsiteX1" fmla="*/ 1632959 w 1632959"/>
                  <a:gd name="connsiteY1" fmla="*/ 0 h 2466125"/>
                  <a:gd name="connsiteX2" fmla="*/ 1629839 w 1632959"/>
                  <a:gd name="connsiteY2" fmla="*/ 1223538 h 2466125"/>
                  <a:gd name="connsiteX3" fmla="*/ 1632959 w 1632959"/>
                  <a:gd name="connsiteY3" fmla="*/ 2466125 h 2466125"/>
                  <a:gd name="connsiteX4" fmla="*/ 0 w 1632959"/>
                  <a:gd name="connsiteY4" fmla="*/ 2466125 h 2466125"/>
                  <a:gd name="connsiteX5" fmla="*/ 425505 w 1632959"/>
                  <a:gd name="connsiteY5" fmla="*/ 1233063 h 2466125"/>
                  <a:gd name="connsiteX6" fmla="*/ 0 w 1632959"/>
                  <a:gd name="connsiteY6" fmla="*/ 0 h 2466125"/>
                  <a:gd name="connsiteX0" fmla="*/ 0 w 1677464"/>
                  <a:gd name="connsiteY0" fmla="*/ 0 h 2466125"/>
                  <a:gd name="connsiteX1" fmla="*/ 1632959 w 1677464"/>
                  <a:gd name="connsiteY1" fmla="*/ 0 h 2466125"/>
                  <a:gd name="connsiteX2" fmla="*/ 1677464 w 1677464"/>
                  <a:gd name="connsiteY2" fmla="*/ 1233063 h 2466125"/>
                  <a:gd name="connsiteX3" fmla="*/ 1632959 w 1677464"/>
                  <a:gd name="connsiteY3" fmla="*/ 2466125 h 2466125"/>
                  <a:gd name="connsiteX4" fmla="*/ 0 w 1677464"/>
                  <a:gd name="connsiteY4" fmla="*/ 2466125 h 2466125"/>
                  <a:gd name="connsiteX5" fmla="*/ 425505 w 1677464"/>
                  <a:gd name="connsiteY5" fmla="*/ 1233063 h 2466125"/>
                  <a:gd name="connsiteX6" fmla="*/ 0 w 1677464"/>
                  <a:gd name="connsiteY6" fmla="*/ 0 h 2466125"/>
                  <a:gd name="connsiteX0" fmla="*/ 0 w 1639364"/>
                  <a:gd name="connsiteY0" fmla="*/ 0 h 2466125"/>
                  <a:gd name="connsiteX1" fmla="*/ 1632959 w 1639364"/>
                  <a:gd name="connsiteY1" fmla="*/ 0 h 2466125"/>
                  <a:gd name="connsiteX2" fmla="*/ 1639364 w 1639364"/>
                  <a:gd name="connsiteY2" fmla="*/ 1242588 h 2466125"/>
                  <a:gd name="connsiteX3" fmla="*/ 1632959 w 1639364"/>
                  <a:gd name="connsiteY3" fmla="*/ 2466125 h 2466125"/>
                  <a:gd name="connsiteX4" fmla="*/ 0 w 1639364"/>
                  <a:gd name="connsiteY4" fmla="*/ 2466125 h 2466125"/>
                  <a:gd name="connsiteX5" fmla="*/ 425505 w 1639364"/>
                  <a:gd name="connsiteY5" fmla="*/ 1233063 h 2466125"/>
                  <a:gd name="connsiteX6" fmla="*/ 0 w 1639364"/>
                  <a:gd name="connsiteY6" fmla="*/ 0 h 2466125"/>
                  <a:gd name="connsiteX0" fmla="*/ 0 w 1639364"/>
                  <a:gd name="connsiteY0" fmla="*/ 0 h 2466125"/>
                  <a:gd name="connsiteX1" fmla="*/ 1632959 w 1639364"/>
                  <a:gd name="connsiteY1" fmla="*/ 0 h 2466125"/>
                  <a:gd name="connsiteX2" fmla="*/ 1639364 w 1639364"/>
                  <a:gd name="connsiteY2" fmla="*/ 1242588 h 2466125"/>
                  <a:gd name="connsiteX3" fmla="*/ 1632959 w 1639364"/>
                  <a:gd name="connsiteY3" fmla="*/ 2466125 h 2466125"/>
                  <a:gd name="connsiteX4" fmla="*/ 0 w 1639364"/>
                  <a:gd name="connsiteY4" fmla="*/ 2466125 h 2466125"/>
                  <a:gd name="connsiteX5" fmla="*/ 385004 w 1639364"/>
                  <a:gd name="connsiteY5" fmla="*/ 1224976 h 2466125"/>
                  <a:gd name="connsiteX6" fmla="*/ 0 w 1639364"/>
                  <a:gd name="connsiteY6" fmla="*/ 0 h 2466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9364" h="2466125">
                    <a:moveTo>
                      <a:pt x="0" y="0"/>
                    </a:moveTo>
                    <a:lnTo>
                      <a:pt x="1632959" y="0"/>
                    </a:lnTo>
                    <a:lnTo>
                      <a:pt x="1639364" y="1242588"/>
                    </a:lnTo>
                    <a:lnTo>
                      <a:pt x="1632959" y="2466125"/>
                    </a:lnTo>
                    <a:lnTo>
                      <a:pt x="0" y="2466125"/>
                    </a:lnTo>
                    <a:lnTo>
                      <a:pt x="385004" y="1224976"/>
                    </a:lnTo>
                    <a:lnTo>
                      <a:pt x="0" y="0"/>
                    </a:lnTo>
                    <a:close/>
                  </a:path>
                </a:pathLst>
              </a:cu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endParaRPr>
              </a:p>
            </p:txBody>
          </p:sp>
          <p:sp>
            <p:nvSpPr>
              <p:cNvPr id="8" name="Title-2">
                <a:extLst>
                  <a:ext uri="{FF2B5EF4-FFF2-40B4-BE49-F238E27FC236}">
                    <a16:creationId xmlns:a16="http://schemas.microsoft.com/office/drawing/2014/main" id="{1676996B-763A-E6D3-1D49-3FD84F0B7D07}"/>
                  </a:ext>
                </a:extLst>
              </p:cNvPr>
              <p:cNvSpPr txBox="1"/>
              <p:nvPr>
                <p:custDataLst>
                  <p:tags r:id="rId2"/>
                </p:custDataLst>
              </p:nvPr>
            </p:nvSpPr>
            <p:spPr>
              <a:xfrm>
                <a:off x="9889078" y="2364824"/>
                <a:ext cx="1829916" cy="415867"/>
              </a:xfrm>
              <a:prstGeom prst="rect">
                <a:avLst/>
              </a:prstGeom>
              <a:noFill/>
            </p:spPr>
            <p:txBody>
              <a:bodyPr wrap="square" lIns="0" rIns="0" rtlCol="0">
                <a:sp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a:t>
                </a:r>
                <a:r>
                  <a:rPr kumimoji="0" lang="en-US" altLang="zh-CN"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2. </a:t>
                </a:r>
                <a:r>
                  <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协同决策的复杂度呈“</a:t>
                </a:r>
                <a:r>
                  <a:rPr kumimoji="0" lang="en-US" altLang="zh-CN"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N²”</a:t>
                </a:r>
                <a:r>
                  <a:rPr kumimoji="0" lang="zh-CN" altLang="en-US" sz="1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rPr>
                  <a:t>级增长​</a:t>
                </a:r>
              </a:p>
            </p:txBody>
          </p:sp>
          <p:sp>
            <p:nvSpPr>
              <p:cNvPr id="9" name="Body-2">
                <a:extLst>
                  <a:ext uri="{FF2B5EF4-FFF2-40B4-BE49-F238E27FC236}">
                    <a16:creationId xmlns:a16="http://schemas.microsoft.com/office/drawing/2014/main" id="{227A9270-BEE3-0797-1707-A0D38D1FCC3D}"/>
                  </a:ext>
                </a:extLst>
              </p:cNvPr>
              <p:cNvSpPr txBox="1"/>
              <p:nvPr>
                <p:custDataLst>
                  <p:tags r:id="rId3"/>
                </p:custDataLst>
              </p:nvPr>
            </p:nvSpPr>
            <p:spPr>
              <a:xfrm>
                <a:off x="10122587" y="3464803"/>
                <a:ext cx="1491480" cy="3810015"/>
              </a:xfrm>
              <a:prstGeom prst="rect">
                <a:avLst/>
              </a:prstGeom>
              <a:noFill/>
            </p:spPr>
            <p:txBody>
              <a:bodyPr wrap="square" lIns="0" rIns="0" rtlCol="0">
                <a:spAutoFit/>
              </a:bodyPr>
              <a:lstStyle/>
              <a:p>
                <a:pPr marL="285750" marR="0" lvl="0" indent="-285750" algn="l" defTabSz="914400" rtl="0" eaLnBrk="1" fontAlgn="auto" latinLnBrk="0" hangingPunct="1">
                  <a:lnSpc>
                    <a:spcPct val="150000"/>
                  </a:lnSpc>
                  <a:spcBef>
                    <a:spcPts val="0"/>
                  </a:spcBef>
                  <a:spcAft>
                    <a:spcPts val="0"/>
                  </a:spcAft>
                  <a:buClrTx/>
                  <a:buSzPct val="80000"/>
                  <a:buFont typeface="Arial" panose="020B0604020202020204" pitchFamily="34" charset="0"/>
                  <a:buChar char="•"/>
                  <a:tabLst/>
                  <a:defRPr/>
                </a:pPr>
                <a:r>
                  <a:rPr kumimoji="0" lang="zh-CN" altLang="en-US" sz="12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更严峻的挑战在于协同的复杂度。从战略到执行，每一个行动都需要相关职能的共同决策。假设有</a:t>
                </a:r>
                <a:r>
                  <a:rPr kumimoji="0" lang="en-US" altLang="zh-CN" sz="12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N</a:t>
                </a:r>
                <a:r>
                  <a:rPr kumimoji="0" lang="zh-CN" altLang="en-US" sz="12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个职能相关关系人：</a:t>
                </a:r>
              </a:p>
              <a:p>
                <a:pPr marL="285750" marR="0" lvl="0" indent="-285750" algn="l" defTabSz="914400" rtl="0" eaLnBrk="1" fontAlgn="auto" latinLnBrk="0" hangingPunct="1">
                  <a:lnSpc>
                    <a:spcPct val="150000"/>
                  </a:lnSpc>
                  <a:spcBef>
                    <a:spcPts val="0"/>
                  </a:spcBef>
                  <a:spcAft>
                    <a:spcPts val="0"/>
                  </a:spcAft>
                  <a:buClrTx/>
                  <a:buSzPct val="80000"/>
                  <a:buFont typeface="Arial" panose="020B0604020202020204" pitchFamily="34" charset="0"/>
                  <a:buChar char="•"/>
                  <a:tabLst/>
                  <a:defRPr/>
                </a:pPr>
                <a:r>
                  <a:rPr kumimoji="0" lang="zh-CN" altLang="en-US" sz="12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​潜在的协同关系数量不是简单的</a:t>
                </a:r>
                <a:r>
                  <a:rPr kumimoji="0" lang="en-US" altLang="zh-CN" sz="12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N</a:t>
                </a:r>
                <a:r>
                  <a:rPr kumimoji="0" lang="zh-CN" altLang="en-US" sz="12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，而是组合数公式：​</a:t>
                </a:r>
                <a:r>
                  <a:rPr kumimoji="0" lang="en-US" altLang="zh-CN" sz="12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N(N-1)/2</a:t>
                </a:r>
                <a:r>
                  <a:rPr kumimoji="0" lang="zh-CN" altLang="en-US" sz="12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。这还只是两两之间的协同。</a:t>
                </a:r>
              </a:p>
              <a:p>
                <a:pPr marL="285750" marR="0" lvl="0" indent="-285750" algn="l" defTabSz="914400" rtl="0" eaLnBrk="1" fontAlgn="auto" latinLnBrk="0" hangingPunct="1">
                  <a:lnSpc>
                    <a:spcPct val="150000"/>
                  </a:lnSpc>
                  <a:spcBef>
                    <a:spcPts val="0"/>
                  </a:spcBef>
                  <a:spcAft>
                    <a:spcPts val="0"/>
                  </a:spcAft>
                  <a:buClrTx/>
                  <a:buSzPct val="80000"/>
                  <a:buFont typeface="Arial" panose="020B0604020202020204" pitchFamily="34" charset="0"/>
                  <a:buChar char="•"/>
                  <a:tabLst/>
                  <a:defRPr/>
                </a:pPr>
                <a:r>
                  <a:rPr kumimoji="0" lang="zh-CN" altLang="en-US" sz="12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在实际操作中，一个决策（如发布新品）往往需要多个职能干系人同时参与，沟通路径和决策节点呈指数级增长，复杂度接近 ​</a:t>
                </a:r>
                <a:r>
                  <a:rPr kumimoji="0" lang="en-US" altLang="zh-CN" sz="12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O(N²)​</a:t>
                </a:r>
                <a:r>
                  <a:rPr kumimoji="0" lang="zh-CN" altLang="en-US" sz="12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rPr>
                  <a:t>。</a:t>
                </a:r>
                <a:endParaRPr kumimoji="0" lang="en-US" altLang="zh-CN" sz="12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endParaRPr>
              </a:p>
              <a:p>
                <a:pPr marL="285750" marR="0" lvl="0" indent="-285750" algn="l" defTabSz="914400" rtl="0" eaLnBrk="1" fontAlgn="auto" latinLnBrk="0" hangingPunct="1">
                  <a:lnSpc>
                    <a:spcPct val="150000"/>
                  </a:lnSpc>
                  <a:spcBef>
                    <a:spcPts val="0"/>
                  </a:spcBef>
                  <a:spcAft>
                    <a:spcPts val="0"/>
                  </a:spcAft>
                  <a:buClrTx/>
                  <a:buSzPct val="80000"/>
                  <a:buFont typeface="Arial" panose="020B0604020202020204" pitchFamily="34" charset="0"/>
                  <a:buChar char="•"/>
                  <a:tabLst/>
                  <a:defRPr/>
                </a:pPr>
                <a:r>
                  <a:rPr lang="en-US" altLang="zh-CN" sz="1200" b="1" i="0" dirty="0">
                    <a:solidFill>
                      <a:srgbClr val="000000"/>
                    </a:solidFill>
                    <a:effectLst/>
                    <a:latin typeface="+mj-ea"/>
                    <a:ea typeface="+mj-ea"/>
                  </a:rPr>
                  <a:t>N² </a:t>
                </a:r>
                <a:r>
                  <a:rPr lang="zh-CN" altLang="en-US" sz="1200" b="1" i="0" dirty="0">
                    <a:solidFill>
                      <a:srgbClr val="000000"/>
                    </a:solidFill>
                    <a:effectLst/>
                    <a:latin typeface="+mj-ea"/>
                    <a:ea typeface="+mj-ea"/>
                  </a:rPr>
                  <a:t>是协同的“物理复杂度”，而人性与利益则注入了“化学复杂度”，两者叠加产生的“化学反应”足以让任何试图靠“开会”和“说服”来协同的组织崩溃。</a:t>
                </a:r>
                <a:endParaRPr kumimoji="0" lang="zh-CN" altLang="en-US" sz="1200" b="1" i="0" u="none" strike="noStrike" kern="1200" cap="none" spc="0" normalizeH="0" baseline="0" noProof="0" dirty="0">
                  <a:ln>
                    <a:noFill/>
                  </a:ln>
                  <a:solidFill>
                    <a:prstClr val="black"/>
                  </a:solidFill>
                  <a:effectLst/>
                  <a:uLnTx/>
                  <a:uFillTx/>
                  <a:latin typeface="+mj-ea"/>
                  <a:ea typeface="+mj-ea"/>
                  <a:cs typeface="+mn-cs"/>
                  <a:sym typeface="Microsoft YaHei" panose="020B0503020204020204" pitchFamily="34" charset="-122"/>
                </a:endParaRPr>
              </a:p>
            </p:txBody>
          </p:sp>
          <p:cxnSp>
            <p:nvCxnSpPr>
              <p:cNvPr id="10" name="2">
                <a:extLst>
                  <a:ext uri="{FF2B5EF4-FFF2-40B4-BE49-F238E27FC236}">
                    <a16:creationId xmlns:a16="http://schemas.microsoft.com/office/drawing/2014/main" id="{C18D3614-EF78-EBFD-551E-0AD8BC684431}"/>
                  </a:ext>
                </a:extLst>
              </p:cNvPr>
              <p:cNvCxnSpPr>
                <a:cxnSpLocks/>
              </p:cNvCxnSpPr>
              <p:nvPr/>
            </p:nvCxnSpPr>
            <p:spPr>
              <a:xfrm>
                <a:off x="10208587" y="3367787"/>
                <a:ext cx="1253477"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sp>
            <p:nvSpPr>
              <p:cNvPr id="11" name="2">
                <a:extLst>
                  <a:ext uri="{FF2B5EF4-FFF2-40B4-BE49-F238E27FC236}">
                    <a16:creationId xmlns:a16="http://schemas.microsoft.com/office/drawing/2014/main" id="{D4226687-9673-5A2D-AFC3-FA9D164E9357}"/>
                  </a:ext>
                </a:extLst>
              </p:cNvPr>
              <p:cNvSpPr/>
              <p:nvPr/>
            </p:nvSpPr>
            <p:spPr>
              <a:xfrm rot="5400000">
                <a:off x="10880576" y="2874863"/>
                <a:ext cx="180027" cy="707630"/>
              </a:xfrm>
              <a:prstGeom prst="chevron">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600" b="0" i="0" u="none" strike="noStrike" kern="1200" cap="none" spc="0" normalizeH="0" baseline="0" noProof="0">
                  <a:ln>
                    <a:noFill/>
                  </a:ln>
                  <a:solidFill>
                    <a:prstClr val="black"/>
                  </a:solidFill>
                  <a:effectLst/>
                  <a:uLnTx/>
                  <a:uFillTx/>
                  <a:latin typeface="微软雅黑" panose="020B0503020204020204" pitchFamily="34" charset="-122"/>
                  <a:ea typeface="微软雅黑" panose="020B0503020204020204" pitchFamily="34" charset="-122"/>
                  <a:cs typeface="+mn-cs"/>
                  <a:sym typeface="Microsoft YaHei" panose="020B0503020204020204" pitchFamily="34" charset="-122"/>
                </a:endParaRPr>
              </a:p>
            </p:txBody>
          </p:sp>
        </p:grpSp>
      </p:grpSp>
      <p:sp>
        <p:nvSpPr>
          <p:cNvPr id="18" name="文本框 17">
            <a:extLst>
              <a:ext uri="{FF2B5EF4-FFF2-40B4-BE49-F238E27FC236}">
                <a16:creationId xmlns:a16="http://schemas.microsoft.com/office/drawing/2014/main" id="{B6E67751-2BF9-E2C3-6D93-DAF97375F7BF}"/>
              </a:ext>
            </a:extLst>
          </p:cNvPr>
          <p:cNvSpPr txBox="1"/>
          <p:nvPr/>
        </p:nvSpPr>
        <p:spPr>
          <a:xfrm>
            <a:off x="1551940" y="5534778"/>
            <a:ext cx="9593580" cy="1323439"/>
          </a:xfrm>
          <a:prstGeom prst="rect">
            <a:avLst/>
          </a:prstGeom>
          <a:noFill/>
        </p:spPr>
        <p:txBody>
          <a:bodyPr wrap="square">
            <a:spAutoFit/>
          </a:bodyPr>
          <a:lstStyle/>
          <a:p>
            <a:pPr marL="285750" indent="-285750">
              <a:buFont typeface="Arial" panose="020B0604020202020204" pitchFamily="34" charset="0"/>
              <a:buChar char="•"/>
            </a:pPr>
            <a:r>
              <a:rPr lang="en-US" altLang="zh-CN" sz="1600" dirty="0">
                <a:latin typeface="+mj-ea"/>
                <a:ea typeface="+mj-ea"/>
              </a:rPr>
              <a:t>N²</a:t>
            </a:r>
            <a:r>
              <a:rPr lang="zh-CN" altLang="en-US" sz="1600" dirty="0">
                <a:latin typeface="+mj-ea"/>
                <a:ea typeface="+mj-ea"/>
              </a:rPr>
              <a:t>）这种复杂性是无法通过工业时代赖以成功的“组织、流程、工具”这“旧三角”范式来应对的。传统的“人拉肩扛”、经验决策和部门博弈，面对</a:t>
            </a:r>
            <a:r>
              <a:rPr lang="en-US" altLang="zh-CN" sz="1600" dirty="0">
                <a:latin typeface="+mj-ea"/>
                <a:ea typeface="+mj-ea"/>
              </a:rPr>
              <a:t>N²</a:t>
            </a:r>
            <a:r>
              <a:rPr lang="zh-CN" altLang="en-US" sz="1600" dirty="0">
                <a:latin typeface="+mj-ea"/>
                <a:ea typeface="+mj-ea"/>
              </a:rPr>
              <a:t>复杂度必然导致效率崩溃。</a:t>
            </a:r>
          </a:p>
          <a:p>
            <a:pPr marL="285750" indent="-285750">
              <a:buFont typeface="Arial" panose="020B0604020202020204" pitchFamily="34" charset="0"/>
              <a:buChar char="•"/>
            </a:pPr>
            <a:r>
              <a:rPr lang="zh-CN" altLang="en-US" sz="1600" dirty="0">
                <a:latin typeface="+mj-ea"/>
                <a:ea typeface="+mj-ea"/>
              </a:rPr>
              <a:t>推论： </a:t>
            </a:r>
            <a:r>
              <a:rPr lang="en-US" altLang="zh-CN" sz="1600" dirty="0">
                <a:latin typeface="+mj-ea"/>
                <a:ea typeface="+mj-ea"/>
              </a:rPr>
              <a:t>1.</a:t>
            </a:r>
            <a:r>
              <a:rPr lang="zh-CN" altLang="en-US" sz="1600" dirty="0">
                <a:latin typeface="+mj-ea"/>
                <a:ea typeface="+mj-ea"/>
              </a:rPr>
              <a:t>不能“管理确定性去驾驭不确定性”的悖论</a:t>
            </a:r>
            <a:endParaRPr lang="en-US" altLang="zh-CN" sz="1600" dirty="0">
              <a:latin typeface="+mj-ea"/>
              <a:ea typeface="+mj-ea"/>
            </a:endParaRPr>
          </a:p>
          <a:p>
            <a:pPr lvl="2"/>
            <a:r>
              <a:rPr lang="en-US" altLang="zh-CN" sz="1600" dirty="0">
                <a:latin typeface="+mj-ea"/>
                <a:ea typeface="+mj-ea"/>
              </a:rPr>
              <a:t> 2. </a:t>
            </a:r>
            <a:r>
              <a:rPr lang="zh-CN" altLang="en-US" sz="1600" dirty="0">
                <a:latin typeface="+mj-ea"/>
                <a:ea typeface="+mj-ea"/>
              </a:rPr>
              <a:t>以及传统管理咨询、软件厂商和实施方的局限性</a:t>
            </a:r>
            <a:r>
              <a:rPr lang="en-US" altLang="zh-CN" sz="1600" dirty="0">
                <a:latin typeface="+mj-ea"/>
                <a:ea typeface="+mj-ea"/>
              </a:rPr>
              <a:t>——</a:t>
            </a:r>
            <a:r>
              <a:rPr lang="zh-CN" altLang="en-US" sz="1600" dirty="0">
                <a:latin typeface="+mj-ea"/>
                <a:ea typeface="+mj-ea"/>
              </a:rPr>
              <a:t>它们本质上都是在旧范式下提供“外壳”   而非“内核”的解决方案。</a:t>
            </a:r>
          </a:p>
        </p:txBody>
      </p:sp>
    </p:spTree>
    <p:extLst>
      <p:ext uri="{BB962C8B-B14F-4D97-AF65-F5344CB8AC3E}">
        <p14:creationId xmlns:p14="http://schemas.microsoft.com/office/powerpoint/2010/main" val="857297662"/>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096BA2A5-BBF4-58A4-F34B-F166ED496BA6}"/>
              </a:ext>
            </a:extLst>
          </p:cNvPr>
          <p:cNvSpPr>
            <a:spLocks noGrp="1"/>
          </p:cNvSpPr>
          <p:nvPr>
            <p:ph type="title"/>
          </p:nvPr>
        </p:nvSpPr>
        <p:spPr>
          <a:xfrm>
            <a:off x="1400228" y="-119266"/>
            <a:ext cx="9630339" cy="1028700"/>
          </a:xfrm>
        </p:spPr>
        <p:txBody>
          <a:bodyPr>
            <a:normAutofit/>
          </a:bodyPr>
          <a:lstStyle/>
          <a:p>
            <a:r>
              <a:rPr lang="zh-CN" altLang="en-US" b="1" i="0" dirty="0">
                <a:effectLst/>
                <a:latin typeface="Inter"/>
              </a:rPr>
              <a:t>第一性原理二：数字化系统的核心基石是“确定性”和“数据质量”，其运行逻辑与人类截然相反</a:t>
            </a:r>
            <a:endParaRPr lang="zh-CN" altLang="en-US" dirty="0">
              <a:latin typeface="+mj-ea"/>
            </a:endParaRPr>
          </a:p>
        </p:txBody>
      </p:sp>
      <p:sp>
        <p:nvSpPr>
          <p:cNvPr id="17" name="文本框 16">
            <a:extLst>
              <a:ext uri="{FF2B5EF4-FFF2-40B4-BE49-F238E27FC236}">
                <a16:creationId xmlns:a16="http://schemas.microsoft.com/office/drawing/2014/main" id="{F5486EBD-3A2B-E7F2-DB9C-BC47F2093CE7}"/>
              </a:ext>
            </a:extLst>
          </p:cNvPr>
          <p:cNvSpPr txBox="1"/>
          <p:nvPr/>
        </p:nvSpPr>
        <p:spPr>
          <a:xfrm>
            <a:off x="1229360" y="1895316"/>
            <a:ext cx="9123680" cy="923330"/>
          </a:xfrm>
          <a:prstGeom prst="rect">
            <a:avLst/>
          </a:prstGeom>
          <a:noFill/>
        </p:spPr>
        <p:txBody>
          <a:bodyPr wrap="square">
            <a:spAutoFit/>
          </a:bodyPr>
          <a:lstStyle/>
          <a:p>
            <a:r>
              <a:rPr lang="zh-CN" altLang="en-US" b="0" i="0" dirty="0">
                <a:effectLst/>
                <a:latin typeface="+mj-ea"/>
                <a:ea typeface="+mj-ea"/>
              </a:rPr>
              <a:t>“垃圾进，垃圾出”是数字化系统不可逾越的铁律。</a:t>
            </a:r>
            <a:r>
              <a:rPr lang="zh-CN" altLang="en-US" b="1" i="0" dirty="0">
                <a:effectLst/>
                <a:latin typeface="+mj-ea"/>
                <a:ea typeface="+mj-ea"/>
              </a:rPr>
              <a:t>系统没有人类模糊处理、弹性应变的能力</a:t>
            </a:r>
            <a:r>
              <a:rPr lang="zh-CN" altLang="en-US" b="0" i="0" dirty="0">
                <a:effectLst/>
                <a:latin typeface="+mj-ea"/>
                <a:ea typeface="+mj-ea"/>
              </a:rPr>
              <a:t>，它需要的是精准、实时、一致的数据和明确的规则。这意味着，任何数字化转型，都</a:t>
            </a:r>
            <a:r>
              <a:rPr lang="zh-CN" altLang="en-US" b="1" i="0" dirty="0">
                <a:effectLst/>
                <a:latin typeface="+mj-ea"/>
                <a:ea typeface="+mj-ea"/>
              </a:rPr>
              <a:t>必须先</a:t>
            </a:r>
            <a:r>
              <a:rPr lang="zh-CN" altLang="en-US" b="1" dirty="0">
                <a:latin typeface="+mj-ea"/>
                <a:ea typeface="+mj-ea"/>
              </a:rPr>
              <a:t>解决下一</a:t>
            </a:r>
            <a:r>
              <a:rPr lang="zh-CN" altLang="en-US" b="1" i="0" dirty="0">
                <a:effectLst/>
                <a:latin typeface="+mj-ea"/>
                <a:ea typeface="+mj-ea"/>
              </a:rPr>
              <a:t>层的可靠性和执行的确定性问题</a:t>
            </a:r>
            <a:r>
              <a:rPr lang="zh-CN" altLang="en-US" b="0" i="0" dirty="0">
                <a:effectLst/>
                <a:latin typeface="+mj-ea"/>
                <a:ea typeface="+mj-ea"/>
              </a:rPr>
              <a:t>。</a:t>
            </a:r>
            <a:endParaRPr lang="zh-CN" altLang="en-US" dirty="0">
              <a:latin typeface="+mj-ea"/>
              <a:ea typeface="+mj-ea"/>
            </a:endParaRPr>
          </a:p>
        </p:txBody>
      </p:sp>
      <p:sp>
        <p:nvSpPr>
          <p:cNvPr id="20" name="文本框 19">
            <a:extLst>
              <a:ext uri="{FF2B5EF4-FFF2-40B4-BE49-F238E27FC236}">
                <a16:creationId xmlns:a16="http://schemas.microsoft.com/office/drawing/2014/main" id="{6ECCF762-554B-86B5-3DF5-2C8F7DDECFDB}"/>
              </a:ext>
            </a:extLst>
          </p:cNvPr>
          <p:cNvSpPr txBox="1"/>
          <p:nvPr/>
        </p:nvSpPr>
        <p:spPr>
          <a:xfrm>
            <a:off x="1400228" y="3975438"/>
            <a:ext cx="8671560" cy="1754326"/>
          </a:xfrm>
          <a:prstGeom prst="rect">
            <a:avLst/>
          </a:prstGeom>
          <a:noFill/>
        </p:spPr>
        <p:txBody>
          <a:bodyPr wrap="square">
            <a:spAutoFit/>
          </a:bodyPr>
          <a:lstStyle/>
          <a:p>
            <a:pPr algn="l">
              <a:buFont typeface="Arial" panose="020B0604020202020204" pitchFamily="34" charset="0"/>
              <a:buChar char="•"/>
            </a:pPr>
            <a:r>
              <a:rPr lang="zh-CN" altLang="en-US" b="1" i="0" dirty="0">
                <a:effectLst/>
                <a:latin typeface="+mj-ea"/>
                <a:ea typeface="+mj-ea"/>
              </a:rPr>
              <a:t>推论：</a:t>
            </a:r>
            <a:endParaRPr lang="en-US" altLang="zh-CN" b="0" i="0" dirty="0">
              <a:effectLst/>
              <a:latin typeface="+mj-ea"/>
              <a:ea typeface="+mj-ea"/>
            </a:endParaRPr>
          </a:p>
          <a:p>
            <a:pPr lvl="1">
              <a:buFont typeface="Arial" panose="020B0604020202020204" pitchFamily="34" charset="0"/>
              <a:buChar char="•"/>
            </a:pPr>
            <a:r>
              <a:rPr lang="zh-CN" altLang="en-US" b="1" i="0" dirty="0">
                <a:effectLst/>
                <a:latin typeface="+mj-ea"/>
                <a:ea typeface="+mj-ea"/>
              </a:rPr>
              <a:t>可执行性是计划的唯一试金石</a:t>
            </a:r>
            <a:r>
              <a:rPr lang="zh-CN" altLang="en-US" b="0" i="0" dirty="0">
                <a:effectLst/>
                <a:latin typeface="+mj-ea"/>
                <a:ea typeface="+mj-ea"/>
              </a:rPr>
              <a:t>：如果计划不能在底层执行中被精确地自动化，那么它就是无意义的“噪音”。</a:t>
            </a:r>
          </a:p>
          <a:p>
            <a:pPr lvl="1">
              <a:buFont typeface="Arial" panose="020B0604020202020204" pitchFamily="34" charset="0"/>
              <a:buChar char="•"/>
            </a:pPr>
            <a:r>
              <a:rPr lang="zh-CN" altLang="en-US" b="1" i="0" dirty="0">
                <a:effectLst/>
                <a:latin typeface="+mj-ea"/>
                <a:ea typeface="+mj-ea"/>
              </a:rPr>
              <a:t>“由下至上”的路径是必然选择：</a:t>
            </a:r>
            <a:r>
              <a:rPr lang="zh-CN" altLang="en-US" b="0" i="0" dirty="0">
                <a:effectLst/>
                <a:latin typeface="+mj-ea"/>
                <a:ea typeface="+mj-ea"/>
              </a:rPr>
              <a:t>由于系统需要确定性，所以必须从最能提供确定性、最需要确保数据质量的执行层（</a:t>
            </a:r>
            <a:r>
              <a:rPr lang="en-US" altLang="zh-CN" b="0" i="0" dirty="0">
                <a:effectLst/>
                <a:latin typeface="+mj-ea"/>
                <a:ea typeface="+mj-ea"/>
              </a:rPr>
              <a:t>S&amp;OE</a:t>
            </a:r>
            <a:r>
              <a:rPr lang="zh-CN" altLang="en-US" b="0" i="0" dirty="0">
                <a:effectLst/>
                <a:latin typeface="+mj-ea"/>
                <a:ea typeface="+mj-ea"/>
              </a:rPr>
              <a:t>）入手，夯实基础，才能支撑上层的战术（</a:t>
            </a:r>
            <a:r>
              <a:rPr lang="en-US" altLang="zh-CN" b="0" i="0" dirty="0">
                <a:effectLst/>
                <a:latin typeface="+mj-ea"/>
                <a:ea typeface="+mj-ea"/>
              </a:rPr>
              <a:t>MPS</a:t>
            </a:r>
            <a:r>
              <a:rPr lang="zh-CN" altLang="en-US" b="0" i="0" dirty="0">
                <a:effectLst/>
                <a:latin typeface="+mj-ea"/>
                <a:ea typeface="+mj-ea"/>
              </a:rPr>
              <a:t>）和战略（</a:t>
            </a:r>
            <a:r>
              <a:rPr lang="en-US" altLang="zh-CN" b="0" i="0" dirty="0">
                <a:effectLst/>
                <a:latin typeface="+mj-ea"/>
                <a:ea typeface="+mj-ea"/>
              </a:rPr>
              <a:t>S&amp;OP</a:t>
            </a:r>
            <a:r>
              <a:rPr lang="zh-CN" altLang="en-US" b="0" i="0" dirty="0">
                <a:effectLst/>
                <a:latin typeface="+mj-ea"/>
                <a:ea typeface="+mj-ea"/>
              </a:rPr>
              <a:t>）。直接从上层开始，就像在沙地建高楼</a:t>
            </a:r>
          </a:p>
        </p:txBody>
      </p:sp>
    </p:spTree>
    <p:extLst>
      <p:ext uri="{BB962C8B-B14F-4D97-AF65-F5344CB8AC3E}">
        <p14:creationId xmlns:p14="http://schemas.microsoft.com/office/powerpoint/2010/main" val="3004884086"/>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F2EB66F-9B52-EE0B-C2B7-AED5C399977C}"/>
              </a:ext>
            </a:extLst>
          </p:cNvPr>
          <p:cNvSpPr>
            <a:spLocks noGrp="1"/>
          </p:cNvSpPr>
          <p:nvPr>
            <p:ph type="title"/>
          </p:nvPr>
        </p:nvSpPr>
        <p:spPr/>
        <p:txBody>
          <a:bodyPr/>
          <a:lstStyle/>
          <a:p>
            <a:r>
              <a:rPr lang="zh-CN" altLang="en-US" dirty="0"/>
              <a:t>数字化为必选项</a:t>
            </a:r>
            <a:r>
              <a:rPr lang="en-US" altLang="zh-CN" dirty="0"/>
              <a:t>——</a:t>
            </a:r>
            <a:r>
              <a:rPr lang="zh-CN" altLang="en-US" dirty="0"/>
              <a:t>支撑数据模型和业务算法</a:t>
            </a:r>
          </a:p>
        </p:txBody>
      </p:sp>
      <p:graphicFrame>
        <p:nvGraphicFramePr>
          <p:cNvPr id="22" name="图示 21">
            <a:extLst>
              <a:ext uri="{FF2B5EF4-FFF2-40B4-BE49-F238E27FC236}">
                <a16:creationId xmlns:a16="http://schemas.microsoft.com/office/drawing/2014/main" id="{7130BDBD-0637-F208-5674-C718509AB32C}"/>
              </a:ext>
            </a:extLst>
          </p:cNvPr>
          <p:cNvGraphicFramePr/>
          <p:nvPr/>
        </p:nvGraphicFramePr>
        <p:xfrm>
          <a:off x="1282834" y="727255"/>
          <a:ext cx="8080039" cy="285651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69" name="表格 68">
            <a:extLst>
              <a:ext uri="{FF2B5EF4-FFF2-40B4-BE49-F238E27FC236}">
                <a16:creationId xmlns:a16="http://schemas.microsoft.com/office/drawing/2014/main" id="{09A242C6-4603-9DF8-90EE-0E6420DB943E}"/>
              </a:ext>
            </a:extLst>
          </p:cNvPr>
          <p:cNvGraphicFramePr>
            <a:graphicFrameLocks noGrp="1"/>
          </p:cNvGraphicFramePr>
          <p:nvPr/>
        </p:nvGraphicFramePr>
        <p:xfrm>
          <a:off x="1282834" y="3710226"/>
          <a:ext cx="8025872" cy="2940421"/>
        </p:xfrm>
        <a:graphic>
          <a:graphicData uri="http://schemas.openxmlformats.org/drawingml/2006/table">
            <a:tbl>
              <a:tblPr/>
              <a:tblGrid>
                <a:gridCol w="2532313">
                  <a:extLst>
                    <a:ext uri="{9D8B030D-6E8A-4147-A177-3AD203B41FA5}">
                      <a16:colId xmlns:a16="http://schemas.microsoft.com/office/drawing/2014/main" val="2484359887"/>
                    </a:ext>
                  </a:extLst>
                </a:gridCol>
                <a:gridCol w="5493559">
                  <a:extLst>
                    <a:ext uri="{9D8B030D-6E8A-4147-A177-3AD203B41FA5}">
                      <a16:colId xmlns:a16="http://schemas.microsoft.com/office/drawing/2014/main" val="2558789350"/>
                    </a:ext>
                  </a:extLst>
                </a:gridCol>
              </a:tblGrid>
              <a:tr h="292452">
                <a:tc>
                  <a:txBody>
                    <a:bodyPr/>
                    <a:lstStyle/>
                    <a:p>
                      <a:pPr fontAlgn="t"/>
                      <a:r>
                        <a:rPr lang="zh-CN" altLang="en-US" sz="1400" b="1" dirty="0">
                          <a:solidFill>
                            <a:srgbClr val="000000"/>
                          </a:solidFill>
                          <a:effectLst/>
                          <a:latin typeface="+mj-ea"/>
                          <a:ea typeface="+mj-ea"/>
                        </a:rPr>
                        <a:t>数字化实现的核心能力</a:t>
                      </a:r>
                    </a:p>
                  </a:txBody>
                  <a:tcPr marL="57150" marR="57150" marT="47625" marB="47625">
                    <a:lnL w="4763" cap="flat" cmpd="sng" algn="ctr">
                      <a:solidFill>
                        <a:srgbClr val="A0C49D"/>
                      </a:solidFill>
                      <a:prstDash val="solid"/>
                      <a:round/>
                      <a:headEnd type="none" w="med" len="med"/>
                      <a:tailEnd type="none" w="med" len="med"/>
                    </a:lnL>
                    <a:lnR w="2381" cap="flat" cmpd="sng" algn="ctr">
                      <a:solidFill>
                        <a:srgbClr val="DDDDDD"/>
                      </a:solidFill>
                      <a:prstDash val="solid"/>
                      <a:round/>
                      <a:headEnd type="none" w="med" len="med"/>
                      <a:tailEnd type="none" w="med" len="med"/>
                    </a:lnR>
                    <a:lnT w="4763" cap="flat" cmpd="sng" algn="ctr">
                      <a:solidFill>
                        <a:srgbClr val="A0C49D"/>
                      </a:solidFill>
                      <a:prstDash val="solid"/>
                      <a:round/>
                      <a:headEnd type="none" w="med" len="med"/>
                      <a:tailEnd type="none" w="med" len="med"/>
                    </a:lnT>
                    <a:lnB w="2381" cap="flat" cmpd="sng" algn="ctr">
                      <a:solidFill>
                        <a:srgbClr val="A0C49D"/>
                      </a:solidFill>
                      <a:prstDash val="solid"/>
                      <a:round/>
                      <a:headEnd type="none" w="med" len="med"/>
                      <a:tailEnd type="none" w="med" len="med"/>
                    </a:lnB>
                    <a:solidFill>
                      <a:srgbClr val="A0C49D"/>
                    </a:solidFill>
                  </a:tcPr>
                </a:tc>
                <a:tc>
                  <a:txBody>
                    <a:bodyPr/>
                    <a:lstStyle/>
                    <a:p>
                      <a:pPr fontAlgn="t"/>
                      <a:r>
                        <a:rPr lang="zh-CN" altLang="en-US" sz="1400" b="1" dirty="0">
                          <a:solidFill>
                            <a:srgbClr val="000000"/>
                          </a:solidFill>
                          <a:effectLst/>
                          <a:latin typeface="+mj-ea"/>
                          <a:ea typeface="+mj-ea"/>
                        </a:rPr>
                        <a:t>不仅解决问题还会放大收益</a:t>
                      </a:r>
                    </a:p>
                  </a:txBody>
                  <a:tcPr marL="57150" marR="57150" marT="47625" marB="47625">
                    <a:lnL w="2381" cap="flat" cmpd="sng" algn="ctr">
                      <a:solidFill>
                        <a:srgbClr val="DDDDDD"/>
                      </a:solidFill>
                      <a:prstDash val="solid"/>
                      <a:round/>
                      <a:headEnd type="none" w="med" len="med"/>
                      <a:tailEnd type="none" w="med" len="med"/>
                    </a:lnL>
                    <a:lnR w="4763" cap="flat" cmpd="sng" algn="ctr">
                      <a:solidFill>
                        <a:srgbClr val="A0C49D"/>
                      </a:solidFill>
                      <a:prstDash val="solid"/>
                      <a:round/>
                      <a:headEnd type="none" w="med" len="med"/>
                      <a:tailEnd type="none" w="med" len="med"/>
                    </a:lnR>
                    <a:lnT w="4763" cap="flat" cmpd="sng" algn="ctr">
                      <a:solidFill>
                        <a:srgbClr val="A0C49D"/>
                      </a:solidFill>
                      <a:prstDash val="solid"/>
                      <a:round/>
                      <a:headEnd type="none" w="med" len="med"/>
                      <a:tailEnd type="none" w="med" len="med"/>
                    </a:lnT>
                    <a:lnB w="2381" cap="flat" cmpd="sng" algn="ctr">
                      <a:solidFill>
                        <a:srgbClr val="A0C49D"/>
                      </a:solidFill>
                      <a:prstDash val="solid"/>
                      <a:round/>
                      <a:headEnd type="none" w="med" len="med"/>
                      <a:tailEnd type="none" w="med" len="med"/>
                    </a:lnB>
                    <a:solidFill>
                      <a:srgbClr val="A0C49D"/>
                    </a:solidFill>
                  </a:tcPr>
                </a:tc>
                <a:extLst>
                  <a:ext uri="{0D108BD9-81ED-4DB2-BD59-A6C34878D82A}">
                    <a16:rowId xmlns:a16="http://schemas.microsoft.com/office/drawing/2014/main" val="909597666"/>
                  </a:ext>
                </a:extLst>
              </a:tr>
              <a:tr h="921369">
                <a:tc>
                  <a:txBody>
                    <a:bodyPr/>
                    <a:lstStyle/>
                    <a:p>
                      <a:pPr fontAlgn="t"/>
                      <a:r>
                        <a:rPr lang="en-US" altLang="zh-CN" sz="1200" b="1">
                          <a:solidFill>
                            <a:schemeClr val="tx1"/>
                          </a:solidFill>
                          <a:effectLst/>
                          <a:latin typeface="+mj-ea"/>
                          <a:ea typeface="+mj-ea"/>
                        </a:rPr>
                        <a:t>1. </a:t>
                      </a:r>
                      <a:r>
                        <a:rPr lang="zh-CN" altLang="en-US" sz="1200" b="1">
                          <a:solidFill>
                            <a:schemeClr val="tx1"/>
                          </a:solidFill>
                          <a:effectLst/>
                          <a:latin typeface="+mj-ea"/>
                          <a:ea typeface="+mj-ea"/>
                        </a:rPr>
                        <a:t>实时协同与自动执行</a:t>
                      </a:r>
                      <a:endParaRPr lang="zh-CN" altLang="en-US" sz="1200">
                        <a:solidFill>
                          <a:schemeClr val="tx1"/>
                        </a:solidFill>
                        <a:effectLst/>
                        <a:latin typeface="+mj-ea"/>
                        <a:ea typeface="+mj-ea"/>
                      </a:endParaRPr>
                    </a:p>
                  </a:txBody>
                  <a:tcPr marL="57150" marR="57150" marT="47625" marB="47625">
                    <a:lnL w="4763" cap="flat" cmpd="sng" algn="ctr">
                      <a:solidFill>
                        <a:srgbClr val="A0C49D"/>
                      </a:solidFill>
                      <a:prstDash val="solid"/>
                      <a:round/>
                      <a:headEnd type="none" w="med" len="med"/>
                      <a:tailEnd type="none" w="med" len="med"/>
                    </a:lnL>
                    <a:lnR w="2381" cap="flat" cmpd="sng" algn="ctr">
                      <a:solidFill>
                        <a:srgbClr val="DDDDDD"/>
                      </a:solidFill>
                      <a:prstDash val="solid"/>
                      <a:round/>
                      <a:headEnd type="none" w="med" len="med"/>
                      <a:tailEnd type="none" w="med" len="med"/>
                    </a:lnR>
                    <a:lnT w="2381" cap="flat" cmpd="sng" algn="ctr">
                      <a:solidFill>
                        <a:srgbClr val="A0C49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200" dirty="0">
                          <a:solidFill>
                            <a:schemeClr val="tx1"/>
                          </a:solidFill>
                          <a:effectLst/>
                          <a:latin typeface="+mj-ea"/>
                          <a:ea typeface="+mj-ea"/>
                        </a:rPr>
                        <a:t>→ </a:t>
                      </a:r>
                      <a:r>
                        <a:rPr lang="zh-CN" altLang="en-US" sz="1200" b="1" dirty="0">
                          <a:solidFill>
                            <a:schemeClr val="tx1"/>
                          </a:solidFill>
                          <a:effectLst/>
                          <a:latin typeface="+mj-ea"/>
                          <a:ea typeface="+mj-ea"/>
                        </a:rPr>
                        <a:t>运营价值（可量化的卓越绩效）</a:t>
                      </a:r>
                      <a:r>
                        <a:rPr lang="zh-CN" altLang="en-US" sz="1200" dirty="0">
                          <a:solidFill>
                            <a:schemeClr val="tx1"/>
                          </a:solidFill>
                          <a:effectLst/>
                          <a:latin typeface="+mj-ea"/>
                          <a:ea typeface="+mj-ea"/>
                        </a:rPr>
                        <a:t>：系统确保流程无缝衔接，实现可靠性、响应速度、效率的极致提升。</a:t>
                      </a:r>
                      <a:br>
                        <a:rPr lang="zh-CN" altLang="en-US" sz="1200" dirty="0">
                          <a:solidFill>
                            <a:schemeClr val="tx1"/>
                          </a:solidFill>
                          <a:effectLst/>
                          <a:latin typeface="+mj-ea"/>
                          <a:ea typeface="+mj-ea"/>
                        </a:rPr>
                      </a:br>
                      <a:r>
                        <a:rPr lang="zh-CN" altLang="en-US" sz="1200" dirty="0">
                          <a:solidFill>
                            <a:schemeClr val="tx1"/>
                          </a:solidFill>
                          <a:effectLst/>
                          <a:latin typeface="+mj-ea"/>
                          <a:ea typeface="+mj-ea"/>
                        </a:rPr>
                        <a:t>→ </a:t>
                      </a:r>
                      <a:r>
                        <a:rPr lang="zh-CN" altLang="en-US" sz="1200" b="1" dirty="0">
                          <a:solidFill>
                            <a:schemeClr val="tx1"/>
                          </a:solidFill>
                          <a:effectLst/>
                          <a:latin typeface="+mj-ea"/>
                          <a:ea typeface="+mj-ea"/>
                        </a:rPr>
                        <a:t>风险与韧性价值</a:t>
                      </a:r>
                      <a:r>
                        <a:rPr lang="zh-CN" altLang="en-US" sz="1200" dirty="0">
                          <a:solidFill>
                            <a:schemeClr val="tx1"/>
                          </a:solidFill>
                          <a:effectLst/>
                          <a:latin typeface="+mj-ea"/>
                          <a:ea typeface="+mj-ea"/>
                        </a:rPr>
                        <a:t>：系统可实时模拟风险情景，增强供应链韧性。</a:t>
                      </a:r>
                    </a:p>
                  </a:txBody>
                  <a:tcPr marL="57150" marR="57150" marT="47625" marB="47625">
                    <a:lnL w="2381" cap="flat" cmpd="sng" algn="ctr">
                      <a:solidFill>
                        <a:srgbClr val="DDDDDD"/>
                      </a:solidFill>
                      <a:prstDash val="solid"/>
                      <a:round/>
                      <a:headEnd type="none" w="med" len="med"/>
                      <a:tailEnd type="none" w="med" len="med"/>
                    </a:lnL>
                    <a:lnR w="4763" cap="flat" cmpd="sng" algn="ctr">
                      <a:solidFill>
                        <a:srgbClr val="A0C49D"/>
                      </a:solidFill>
                      <a:prstDash val="solid"/>
                      <a:round/>
                      <a:headEnd type="none" w="med" len="med"/>
                      <a:tailEnd type="none" w="med" len="med"/>
                    </a:lnR>
                    <a:lnT w="2381" cap="flat" cmpd="sng" algn="ctr">
                      <a:solidFill>
                        <a:srgbClr val="A0C49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2183084843"/>
                  </a:ext>
                </a:extLst>
              </a:tr>
              <a:tr h="1055451">
                <a:tc>
                  <a:txBody>
                    <a:bodyPr/>
                    <a:lstStyle/>
                    <a:p>
                      <a:pPr fontAlgn="t"/>
                      <a:r>
                        <a:rPr lang="en-US" altLang="zh-CN" sz="1200" b="1">
                          <a:solidFill>
                            <a:schemeClr val="tx1"/>
                          </a:solidFill>
                          <a:effectLst/>
                          <a:latin typeface="+mj-ea"/>
                          <a:ea typeface="+mj-ea"/>
                        </a:rPr>
                        <a:t>2. </a:t>
                      </a:r>
                      <a:r>
                        <a:rPr lang="zh-CN" altLang="en-US" sz="1200" b="1">
                          <a:solidFill>
                            <a:schemeClr val="tx1"/>
                          </a:solidFill>
                          <a:effectLst/>
                          <a:latin typeface="+mj-ea"/>
                          <a:ea typeface="+mj-ea"/>
                        </a:rPr>
                        <a:t>闭环优化与持续学习</a:t>
                      </a:r>
                      <a:endParaRPr lang="zh-CN" altLang="en-US" sz="1200">
                        <a:solidFill>
                          <a:schemeClr val="tx1"/>
                        </a:solidFill>
                        <a:effectLst/>
                        <a:latin typeface="+mj-ea"/>
                        <a:ea typeface="+mj-ea"/>
                      </a:endParaRPr>
                    </a:p>
                  </a:txBody>
                  <a:tcPr marL="57150" marR="57150" marT="47625" marB="47625">
                    <a:lnL w="4763" cap="flat" cmpd="sng" algn="ctr">
                      <a:solidFill>
                        <a:srgbClr val="A0C49D"/>
                      </a:solidFill>
                      <a:prstDash val="solid"/>
                      <a:round/>
                      <a:headEnd type="none" w="med" len="med"/>
                      <a:tailEnd type="none" w="med" len="med"/>
                    </a:lnL>
                    <a:lnR w="2381" cap="flat" cmpd="sng" algn="ctr">
                      <a:solidFill>
                        <a:srgbClr val="DDDDDD"/>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tc>
                  <a:txBody>
                    <a:bodyPr/>
                    <a:lstStyle/>
                    <a:p>
                      <a:pPr fontAlgn="t"/>
                      <a:r>
                        <a:rPr lang="zh-CN" altLang="en-US" sz="1200" dirty="0">
                          <a:solidFill>
                            <a:schemeClr val="tx1"/>
                          </a:solidFill>
                          <a:effectLst/>
                          <a:latin typeface="+mj-ea"/>
                          <a:ea typeface="+mj-ea"/>
                        </a:rPr>
                        <a:t>→ </a:t>
                      </a:r>
                      <a:r>
                        <a:rPr lang="zh-CN" altLang="en-US" sz="1200" b="1" dirty="0">
                          <a:solidFill>
                            <a:schemeClr val="tx1"/>
                          </a:solidFill>
                          <a:effectLst/>
                          <a:latin typeface="+mj-ea"/>
                          <a:ea typeface="+mj-ea"/>
                        </a:rPr>
                        <a:t>战略价值（从成本中心到价值引擎）</a:t>
                      </a:r>
                      <a:r>
                        <a:rPr lang="zh-CN" altLang="en-US" sz="1200" dirty="0">
                          <a:solidFill>
                            <a:schemeClr val="tx1"/>
                          </a:solidFill>
                          <a:effectLst/>
                          <a:latin typeface="+mj-ea"/>
                          <a:ea typeface="+mj-ea"/>
                        </a:rPr>
                        <a:t>：系统通过持续的数据反馈和算法优化，使企业决策越来越精准，成为核心竞争力。</a:t>
                      </a:r>
                      <a:br>
                        <a:rPr lang="zh-CN" altLang="en-US" sz="1200" dirty="0">
                          <a:solidFill>
                            <a:schemeClr val="tx1"/>
                          </a:solidFill>
                          <a:effectLst/>
                          <a:latin typeface="+mj-ea"/>
                          <a:ea typeface="+mj-ea"/>
                        </a:rPr>
                      </a:br>
                      <a:r>
                        <a:rPr lang="zh-CN" altLang="en-US" sz="1200" dirty="0">
                          <a:solidFill>
                            <a:schemeClr val="tx1"/>
                          </a:solidFill>
                          <a:effectLst/>
                          <a:latin typeface="+mj-ea"/>
                          <a:ea typeface="+mj-ea"/>
                        </a:rPr>
                        <a:t>→ </a:t>
                      </a:r>
                      <a:r>
                        <a:rPr lang="zh-CN" altLang="en-US" sz="1200" b="1" dirty="0">
                          <a:solidFill>
                            <a:schemeClr val="tx1"/>
                          </a:solidFill>
                          <a:effectLst/>
                          <a:latin typeface="+mj-ea"/>
                          <a:ea typeface="+mj-ea"/>
                        </a:rPr>
                        <a:t>组织与文化价值</a:t>
                      </a:r>
                      <a:r>
                        <a:rPr lang="zh-CN" altLang="en-US" sz="1200" dirty="0">
                          <a:solidFill>
                            <a:schemeClr val="tx1"/>
                          </a:solidFill>
                          <a:effectLst/>
                          <a:latin typeface="+mj-ea"/>
                          <a:ea typeface="+mj-ea"/>
                        </a:rPr>
                        <a:t>：系统将人才从重复劳动中解放，聚焦于异常处理和策略创新，推动科学决策文化。</a:t>
                      </a:r>
                    </a:p>
                  </a:txBody>
                  <a:tcPr marL="57150" marR="57150" marT="47625" marB="47625">
                    <a:lnL w="2381" cap="flat" cmpd="sng" algn="ctr">
                      <a:solidFill>
                        <a:srgbClr val="DDDDDD"/>
                      </a:solidFill>
                      <a:prstDash val="solid"/>
                      <a:round/>
                      <a:headEnd type="none" w="med" len="med"/>
                      <a:tailEnd type="none" w="med" len="med"/>
                    </a:lnL>
                    <a:lnR w="4763" cap="flat" cmpd="sng" algn="ctr">
                      <a:solidFill>
                        <a:srgbClr val="A0C49D"/>
                      </a:solidFill>
                      <a:prstDash val="solid"/>
                      <a:round/>
                      <a:headEnd type="none" w="med" len="med"/>
                      <a:tailEnd type="none" w="med" len="med"/>
                    </a:lnR>
                    <a:lnT w="2381" cap="flat" cmpd="sng" algn="ctr">
                      <a:solidFill>
                        <a:srgbClr val="DDDDDD"/>
                      </a:solidFill>
                      <a:prstDash val="solid"/>
                      <a:round/>
                      <a:headEnd type="none" w="med" len="med"/>
                      <a:tailEnd type="none" w="med" len="med"/>
                    </a:lnT>
                    <a:lnB w="2381"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3884460125"/>
                  </a:ext>
                </a:extLst>
              </a:tr>
              <a:tr h="654991">
                <a:tc>
                  <a:txBody>
                    <a:bodyPr/>
                    <a:lstStyle/>
                    <a:p>
                      <a:pPr fontAlgn="t"/>
                      <a:r>
                        <a:rPr lang="en-US" altLang="zh-CN" sz="1200" b="1">
                          <a:solidFill>
                            <a:schemeClr val="tx1"/>
                          </a:solidFill>
                          <a:effectLst/>
                          <a:latin typeface="+mj-ea"/>
                          <a:ea typeface="+mj-ea"/>
                        </a:rPr>
                        <a:t>3. </a:t>
                      </a:r>
                      <a:r>
                        <a:rPr lang="zh-CN" altLang="en-US" sz="1200" b="1">
                          <a:solidFill>
                            <a:schemeClr val="tx1"/>
                          </a:solidFill>
                          <a:effectLst/>
                          <a:latin typeface="+mj-ea"/>
                          <a:ea typeface="+mj-ea"/>
                        </a:rPr>
                        <a:t>能力固化与组织赋能</a:t>
                      </a:r>
                      <a:endParaRPr lang="zh-CN" altLang="en-US" sz="1200">
                        <a:solidFill>
                          <a:schemeClr val="tx1"/>
                        </a:solidFill>
                        <a:effectLst/>
                        <a:latin typeface="+mj-ea"/>
                        <a:ea typeface="+mj-ea"/>
                      </a:endParaRPr>
                    </a:p>
                  </a:txBody>
                  <a:tcPr marL="57150" marR="57150" marT="47625" marB="47625">
                    <a:lnL w="4763" cap="flat" cmpd="sng" algn="ctr">
                      <a:solidFill>
                        <a:srgbClr val="A0C49D"/>
                      </a:solidFill>
                      <a:prstDash val="solid"/>
                      <a:round/>
                      <a:headEnd type="none" w="med" len="med"/>
                      <a:tailEnd type="none" w="med" len="med"/>
                    </a:lnL>
                    <a:lnR w="2381" cap="flat" cmpd="sng" algn="ctr">
                      <a:solidFill>
                        <a:srgbClr val="DDDDDD"/>
                      </a:solidFill>
                      <a:prstDash val="solid"/>
                      <a:round/>
                      <a:headEnd type="none" w="med" len="med"/>
                      <a:tailEnd type="none" w="med" len="med"/>
                    </a:lnR>
                    <a:lnT w="2381" cap="flat" cmpd="sng" algn="ctr">
                      <a:solidFill>
                        <a:srgbClr val="DDDDDD"/>
                      </a:solidFill>
                      <a:prstDash val="solid"/>
                      <a:round/>
                      <a:headEnd type="none" w="med" len="med"/>
                      <a:tailEnd type="none" w="med" len="med"/>
                    </a:lnT>
                    <a:lnB w="4763" cap="flat" cmpd="sng" algn="ctr">
                      <a:solidFill>
                        <a:srgbClr val="A0C49D"/>
                      </a:solidFill>
                      <a:prstDash val="solid"/>
                      <a:round/>
                      <a:headEnd type="none" w="med" len="med"/>
                      <a:tailEnd type="none" w="med" len="med"/>
                    </a:lnB>
                    <a:noFill/>
                  </a:tcPr>
                </a:tc>
                <a:tc>
                  <a:txBody>
                    <a:bodyPr/>
                    <a:lstStyle/>
                    <a:p>
                      <a:pPr fontAlgn="t"/>
                      <a:r>
                        <a:rPr lang="zh-CN" altLang="en-US" sz="1200" dirty="0">
                          <a:solidFill>
                            <a:schemeClr val="tx1"/>
                          </a:solidFill>
                          <a:effectLst/>
                          <a:latin typeface="+mj-ea"/>
                          <a:ea typeface="+mj-ea"/>
                        </a:rPr>
                        <a:t>→ </a:t>
                      </a:r>
                      <a:r>
                        <a:rPr lang="zh-CN" altLang="en-US" sz="1200" b="1" dirty="0">
                          <a:solidFill>
                            <a:schemeClr val="tx1"/>
                          </a:solidFill>
                          <a:effectLst/>
                          <a:latin typeface="+mj-ea"/>
                          <a:ea typeface="+mj-ea"/>
                        </a:rPr>
                        <a:t>所有价值的基石</a:t>
                      </a:r>
                      <a:r>
                        <a:rPr lang="zh-CN" altLang="en-US" sz="1200" dirty="0">
                          <a:solidFill>
                            <a:schemeClr val="tx1"/>
                          </a:solidFill>
                          <a:effectLst/>
                          <a:latin typeface="+mj-ea"/>
                          <a:ea typeface="+mj-ea"/>
                        </a:rPr>
                        <a:t>：将精英的洞察（算法与模型）转化为不依赖个人的组织资产，确保企业持续进化，成为“活”的系统。</a:t>
                      </a:r>
                    </a:p>
                  </a:txBody>
                  <a:tcPr marL="57150" marR="57150" marT="47625" marB="47625">
                    <a:lnL w="2381" cap="flat" cmpd="sng" algn="ctr">
                      <a:solidFill>
                        <a:srgbClr val="DDDDDD"/>
                      </a:solidFill>
                      <a:prstDash val="solid"/>
                      <a:round/>
                      <a:headEnd type="none" w="med" len="med"/>
                      <a:tailEnd type="none" w="med" len="med"/>
                    </a:lnL>
                    <a:lnR w="4763" cap="flat" cmpd="sng" algn="ctr">
                      <a:solidFill>
                        <a:srgbClr val="A0C49D"/>
                      </a:solidFill>
                      <a:prstDash val="solid"/>
                      <a:round/>
                      <a:headEnd type="none" w="med" len="med"/>
                      <a:tailEnd type="none" w="med" len="med"/>
                    </a:lnR>
                    <a:lnT w="2381" cap="flat" cmpd="sng" algn="ctr">
                      <a:solidFill>
                        <a:srgbClr val="DDDDDD"/>
                      </a:solidFill>
                      <a:prstDash val="solid"/>
                      <a:round/>
                      <a:headEnd type="none" w="med" len="med"/>
                      <a:tailEnd type="none" w="med" len="med"/>
                    </a:lnT>
                    <a:lnB w="4763" cap="flat" cmpd="sng" algn="ctr">
                      <a:solidFill>
                        <a:srgbClr val="A0C49D"/>
                      </a:solidFill>
                      <a:prstDash val="solid"/>
                      <a:round/>
                      <a:headEnd type="none" w="med" len="med"/>
                      <a:tailEnd type="none" w="med" len="med"/>
                    </a:lnB>
                    <a:noFill/>
                  </a:tcPr>
                </a:tc>
                <a:extLst>
                  <a:ext uri="{0D108BD9-81ED-4DB2-BD59-A6C34878D82A}">
                    <a16:rowId xmlns:a16="http://schemas.microsoft.com/office/drawing/2014/main" val="4115282642"/>
                  </a:ext>
                </a:extLst>
              </a:tr>
            </a:tbl>
          </a:graphicData>
        </a:graphic>
      </p:graphicFrame>
    </p:spTree>
    <p:extLst>
      <p:ext uri="{BB962C8B-B14F-4D97-AF65-F5344CB8AC3E}">
        <p14:creationId xmlns:p14="http://schemas.microsoft.com/office/powerpoint/2010/main" val="2677897800"/>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5D84B53-99AB-67C3-317F-16EA84D2E800}"/>
              </a:ext>
            </a:extLst>
          </p:cNvPr>
          <p:cNvSpPr>
            <a:spLocks noGrp="1"/>
          </p:cNvSpPr>
          <p:nvPr>
            <p:ph type="title"/>
          </p:nvPr>
        </p:nvSpPr>
        <p:spPr/>
        <p:txBody>
          <a:bodyPr vert="horz" lIns="91440" tIns="45720" rIns="91440" bIns="45720" rtlCol="0" anchor="b">
            <a:normAutofit/>
          </a:bodyPr>
          <a:lstStyle/>
          <a:p>
            <a:r>
              <a:rPr lang="en-US" altLang="zh-CN" dirty="0">
                <a:latin typeface="Arial" panose="020B0604020202020204" pitchFamily="34" charset="0"/>
                <a:ea typeface="微软雅黑" panose="020B0503020204020204" pitchFamily="34" charset="-122"/>
              </a:rPr>
              <a:t>  IPS(Intelligent Planning Solution)</a:t>
            </a:r>
            <a:endParaRPr lang="zh-CN" altLang="en-US" dirty="0">
              <a:latin typeface="Arial" panose="020B0604020202020204" pitchFamily="34" charset="0"/>
              <a:ea typeface="微软雅黑" panose="020B0503020204020204" pitchFamily="34" charset="-122"/>
            </a:endParaRPr>
          </a:p>
        </p:txBody>
      </p:sp>
      <p:sp>
        <p:nvSpPr>
          <p:cNvPr id="4" name="圆角矩形 2">
            <a:extLst>
              <a:ext uri="{FF2B5EF4-FFF2-40B4-BE49-F238E27FC236}">
                <a16:creationId xmlns:a16="http://schemas.microsoft.com/office/drawing/2014/main" id="{DEA48CE4-F40D-4BB2-A437-29463E8E6639}"/>
              </a:ext>
            </a:extLst>
          </p:cNvPr>
          <p:cNvSpPr/>
          <p:nvPr/>
        </p:nvSpPr>
        <p:spPr>
          <a:xfrm>
            <a:off x="5012899" y="1384002"/>
            <a:ext cx="836295" cy="720090"/>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ITP-MRP</a:t>
            </a:r>
            <a:endParaRPr kumimoji="0" lang="zh-CN" altLang="en-US"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5" name="圆角矩形 2">
            <a:extLst>
              <a:ext uri="{FF2B5EF4-FFF2-40B4-BE49-F238E27FC236}">
                <a16:creationId xmlns:a16="http://schemas.microsoft.com/office/drawing/2014/main" id="{750E6A97-A900-9A67-AD9F-988DC33E0DD2}"/>
              </a:ext>
            </a:extLst>
          </p:cNvPr>
          <p:cNvSpPr/>
          <p:nvPr/>
        </p:nvSpPr>
        <p:spPr>
          <a:xfrm>
            <a:off x="2562202" y="1393289"/>
            <a:ext cx="836295" cy="720090"/>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SRM</a:t>
            </a:r>
            <a:endParaRPr kumimoji="0" lang="zh-CN" altLang="en-US"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nvGrpSpPr>
          <p:cNvPr id="6" name="组合 5">
            <a:extLst>
              <a:ext uri="{FF2B5EF4-FFF2-40B4-BE49-F238E27FC236}">
                <a16:creationId xmlns:a16="http://schemas.microsoft.com/office/drawing/2014/main" id="{92655559-E16C-5D42-64AA-372EA8B6DB67}"/>
              </a:ext>
            </a:extLst>
          </p:cNvPr>
          <p:cNvGrpSpPr/>
          <p:nvPr/>
        </p:nvGrpSpPr>
        <p:grpSpPr>
          <a:xfrm>
            <a:off x="3371947" y="1505957"/>
            <a:ext cx="2722919" cy="335722"/>
            <a:chOff x="3398497" y="1174449"/>
            <a:chExt cx="2722919" cy="335722"/>
          </a:xfrm>
        </p:grpSpPr>
        <p:cxnSp>
          <p:nvCxnSpPr>
            <p:cNvPr id="7" name="直接箭头连接符 6">
              <a:extLst>
                <a:ext uri="{FF2B5EF4-FFF2-40B4-BE49-F238E27FC236}">
                  <a16:creationId xmlns:a16="http://schemas.microsoft.com/office/drawing/2014/main" id="{4C450326-D5C8-25EB-1B2D-55492899AECD}"/>
                </a:ext>
              </a:extLst>
            </p:cNvPr>
            <p:cNvCxnSpPr>
              <a:cxnSpLocks/>
            </p:cNvCxnSpPr>
            <p:nvPr/>
          </p:nvCxnSpPr>
          <p:spPr>
            <a:xfrm flipH="1">
              <a:off x="3398497" y="1500884"/>
              <a:ext cx="1614402" cy="92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DA65CD5A-9910-1757-56F9-A796D6DB3AE5}"/>
                </a:ext>
              </a:extLst>
            </p:cNvPr>
            <p:cNvSpPr txBox="1"/>
            <p:nvPr/>
          </p:nvSpPr>
          <p:spPr>
            <a:xfrm>
              <a:off x="3670719" y="1174449"/>
              <a:ext cx="2450697"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Parts Forecast</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sp>
        <p:nvSpPr>
          <p:cNvPr id="9" name="圆角矩形 2">
            <a:extLst>
              <a:ext uri="{FF2B5EF4-FFF2-40B4-BE49-F238E27FC236}">
                <a16:creationId xmlns:a16="http://schemas.microsoft.com/office/drawing/2014/main" id="{90378B0D-9917-CBFB-B6A5-799955702B55}"/>
              </a:ext>
            </a:extLst>
          </p:cNvPr>
          <p:cNvSpPr/>
          <p:nvPr/>
        </p:nvSpPr>
        <p:spPr>
          <a:xfrm>
            <a:off x="7774898" y="1376507"/>
            <a:ext cx="1084289" cy="720090"/>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ERP-PP</a:t>
            </a:r>
            <a:endParaRPr kumimoji="0" lang="zh-CN" altLang="en-US"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10" name="圆角矩形 2">
            <a:extLst>
              <a:ext uri="{FF2B5EF4-FFF2-40B4-BE49-F238E27FC236}">
                <a16:creationId xmlns:a16="http://schemas.microsoft.com/office/drawing/2014/main" id="{6903542A-7990-4C65-6079-00521EDE3A6E}"/>
              </a:ext>
            </a:extLst>
          </p:cNvPr>
          <p:cNvSpPr/>
          <p:nvPr/>
        </p:nvSpPr>
        <p:spPr>
          <a:xfrm>
            <a:off x="5012899" y="2456642"/>
            <a:ext cx="836295" cy="720090"/>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ITP</a:t>
            </a:r>
            <a:r>
              <a:rPr kumimoji="0" lang="en-US" altLang="zh-CN" sz="12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-Closed Loop MRP</a:t>
            </a:r>
            <a:endParaRPr kumimoji="0" lang="zh-CN" altLang="en-US" sz="12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nvGrpSpPr>
          <p:cNvPr id="11" name="组合 10">
            <a:extLst>
              <a:ext uri="{FF2B5EF4-FFF2-40B4-BE49-F238E27FC236}">
                <a16:creationId xmlns:a16="http://schemas.microsoft.com/office/drawing/2014/main" id="{41E0900B-EC43-73F1-B70E-DCC2609F10D8}"/>
              </a:ext>
            </a:extLst>
          </p:cNvPr>
          <p:cNvGrpSpPr/>
          <p:nvPr/>
        </p:nvGrpSpPr>
        <p:grpSpPr>
          <a:xfrm>
            <a:off x="2980349" y="2113379"/>
            <a:ext cx="2032549" cy="703308"/>
            <a:chOff x="2980349" y="2070994"/>
            <a:chExt cx="2032549" cy="703308"/>
          </a:xfrm>
        </p:grpSpPr>
        <p:cxnSp>
          <p:nvCxnSpPr>
            <p:cNvPr id="12" name="连接符: 肘形 11">
              <a:extLst>
                <a:ext uri="{FF2B5EF4-FFF2-40B4-BE49-F238E27FC236}">
                  <a16:creationId xmlns:a16="http://schemas.microsoft.com/office/drawing/2014/main" id="{6A2E7CB4-BC2C-42E4-5572-C0DF4E8F00D9}"/>
                </a:ext>
              </a:extLst>
            </p:cNvPr>
            <p:cNvCxnSpPr>
              <a:stCxn id="5" idx="2"/>
              <a:endCxn id="10" idx="1"/>
            </p:cNvCxnSpPr>
            <p:nvPr/>
          </p:nvCxnSpPr>
          <p:spPr>
            <a:xfrm rot="16200000" flipH="1">
              <a:off x="3644970" y="1406373"/>
              <a:ext cx="703308" cy="2032549"/>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816C2567-0044-4E1F-63D4-CC3A1F1C36E1}"/>
                </a:ext>
              </a:extLst>
            </p:cNvPr>
            <p:cNvSpPr txBox="1"/>
            <p:nvPr/>
          </p:nvSpPr>
          <p:spPr>
            <a:xfrm>
              <a:off x="3082500" y="2122630"/>
              <a:ext cx="1873771"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Supply Commit pegging PF</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grpSp>
        <p:nvGrpSpPr>
          <p:cNvPr id="14" name="组合 13">
            <a:extLst>
              <a:ext uri="{FF2B5EF4-FFF2-40B4-BE49-F238E27FC236}">
                <a16:creationId xmlns:a16="http://schemas.microsoft.com/office/drawing/2014/main" id="{C348E63F-E72A-316D-7259-A5469DB3A220}"/>
              </a:ext>
            </a:extLst>
          </p:cNvPr>
          <p:cNvGrpSpPr/>
          <p:nvPr/>
        </p:nvGrpSpPr>
        <p:grpSpPr>
          <a:xfrm>
            <a:off x="5849194" y="2096598"/>
            <a:ext cx="2467849" cy="720090"/>
            <a:chOff x="5849194" y="2096598"/>
            <a:chExt cx="2467849" cy="720090"/>
          </a:xfrm>
        </p:grpSpPr>
        <p:sp>
          <p:nvSpPr>
            <p:cNvPr id="15" name="文本框 14">
              <a:extLst>
                <a:ext uri="{FF2B5EF4-FFF2-40B4-BE49-F238E27FC236}">
                  <a16:creationId xmlns:a16="http://schemas.microsoft.com/office/drawing/2014/main" id="{F4F15713-97E1-B804-6E42-EDF0072C747A}"/>
                </a:ext>
              </a:extLst>
            </p:cNvPr>
            <p:cNvSpPr txBox="1"/>
            <p:nvPr/>
          </p:nvSpPr>
          <p:spPr>
            <a:xfrm>
              <a:off x="6426120" y="2223279"/>
              <a:ext cx="187377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Constraints</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cxnSp>
          <p:nvCxnSpPr>
            <p:cNvPr id="16" name="连接符: 肘形 15">
              <a:extLst>
                <a:ext uri="{FF2B5EF4-FFF2-40B4-BE49-F238E27FC236}">
                  <a16:creationId xmlns:a16="http://schemas.microsoft.com/office/drawing/2014/main" id="{81196C79-B699-62C9-7607-97E79A9A68D5}"/>
                </a:ext>
              </a:extLst>
            </p:cNvPr>
            <p:cNvCxnSpPr>
              <a:cxnSpLocks/>
              <a:stCxn id="9" idx="2"/>
              <a:endCxn id="10" idx="3"/>
            </p:cNvCxnSpPr>
            <p:nvPr/>
          </p:nvCxnSpPr>
          <p:spPr>
            <a:xfrm rot="5400000">
              <a:off x="6723074" y="1222718"/>
              <a:ext cx="720090" cy="2467849"/>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grpSp>
      <p:grpSp>
        <p:nvGrpSpPr>
          <p:cNvPr id="17" name="组合 16">
            <a:extLst>
              <a:ext uri="{FF2B5EF4-FFF2-40B4-BE49-F238E27FC236}">
                <a16:creationId xmlns:a16="http://schemas.microsoft.com/office/drawing/2014/main" id="{33A1FC95-D304-D82D-B796-618C3B87471C}"/>
              </a:ext>
            </a:extLst>
          </p:cNvPr>
          <p:cNvGrpSpPr/>
          <p:nvPr/>
        </p:nvGrpSpPr>
        <p:grpSpPr>
          <a:xfrm>
            <a:off x="2980350" y="2113380"/>
            <a:ext cx="2450697" cy="1063353"/>
            <a:chOff x="2991642" y="2302736"/>
            <a:chExt cx="2450697" cy="1063353"/>
          </a:xfrm>
        </p:grpSpPr>
        <p:cxnSp>
          <p:nvCxnSpPr>
            <p:cNvPr id="18" name="连接符: 肘形 17">
              <a:extLst>
                <a:ext uri="{FF2B5EF4-FFF2-40B4-BE49-F238E27FC236}">
                  <a16:creationId xmlns:a16="http://schemas.microsoft.com/office/drawing/2014/main" id="{8CE2D50C-32C4-C502-84ED-6700B83CF298}"/>
                </a:ext>
              </a:extLst>
            </p:cNvPr>
            <p:cNvCxnSpPr>
              <a:cxnSpLocks/>
              <a:stCxn id="10" idx="2"/>
              <a:endCxn id="5" idx="2"/>
            </p:cNvCxnSpPr>
            <p:nvPr/>
          </p:nvCxnSpPr>
          <p:spPr>
            <a:xfrm rot="5400000" flipH="1">
              <a:off x="3685314" y="1609064"/>
              <a:ext cx="1063353" cy="2450697"/>
            </a:xfrm>
            <a:prstGeom prst="bentConnector3">
              <a:avLst>
                <a:gd name="adj1" fmla="val -26763"/>
              </a:avLst>
            </a:prstGeom>
            <a:ln>
              <a:tailEnd type="triangle"/>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84874A6A-C7D6-500D-F3DC-9B6B732E9E95}"/>
                </a:ext>
              </a:extLst>
            </p:cNvPr>
            <p:cNvSpPr txBox="1"/>
            <p:nvPr/>
          </p:nvSpPr>
          <p:spPr>
            <a:xfrm>
              <a:off x="3112899" y="2749708"/>
              <a:ext cx="214160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Rescheduled Commit/SR</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grpSp>
        <p:nvGrpSpPr>
          <p:cNvPr id="20" name="组合 19">
            <a:extLst>
              <a:ext uri="{FF2B5EF4-FFF2-40B4-BE49-F238E27FC236}">
                <a16:creationId xmlns:a16="http://schemas.microsoft.com/office/drawing/2014/main" id="{73F604BB-AE79-3CC2-D285-06EABBB57090}"/>
              </a:ext>
            </a:extLst>
          </p:cNvPr>
          <p:cNvGrpSpPr/>
          <p:nvPr/>
        </p:nvGrpSpPr>
        <p:grpSpPr>
          <a:xfrm>
            <a:off x="5431047" y="2096597"/>
            <a:ext cx="2885996" cy="1080135"/>
            <a:chOff x="5431047" y="2096597"/>
            <a:chExt cx="2885996" cy="1080135"/>
          </a:xfrm>
        </p:grpSpPr>
        <p:cxnSp>
          <p:nvCxnSpPr>
            <p:cNvPr id="21" name="连接符: 肘形 20">
              <a:extLst>
                <a:ext uri="{FF2B5EF4-FFF2-40B4-BE49-F238E27FC236}">
                  <a16:creationId xmlns:a16="http://schemas.microsoft.com/office/drawing/2014/main" id="{2881CE89-C0EA-9199-A817-C68DFB8EE70E}"/>
                </a:ext>
              </a:extLst>
            </p:cNvPr>
            <p:cNvCxnSpPr>
              <a:cxnSpLocks/>
              <a:stCxn id="10" idx="2"/>
              <a:endCxn id="9" idx="2"/>
            </p:cNvCxnSpPr>
            <p:nvPr/>
          </p:nvCxnSpPr>
          <p:spPr>
            <a:xfrm rot="5400000" flipH="1" flipV="1">
              <a:off x="6333977" y="1193667"/>
              <a:ext cx="1080135" cy="2885996"/>
            </a:xfrm>
            <a:prstGeom prst="bentConnector3">
              <a:avLst>
                <a:gd name="adj1" fmla="val -26347"/>
              </a:avLst>
            </a:prstGeom>
            <a:ln>
              <a:tailEnd type="triangle"/>
            </a:ln>
          </p:spPr>
          <p:style>
            <a:lnRef idx="1">
              <a:schemeClr val="accent1"/>
            </a:lnRef>
            <a:fillRef idx="0">
              <a:schemeClr val="accent1"/>
            </a:fillRef>
            <a:effectRef idx="0">
              <a:schemeClr val="accent1"/>
            </a:effectRef>
            <a:fontRef idx="minor">
              <a:schemeClr val="tx1"/>
            </a:fontRef>
          </p:style>
        </p:cxnSp>
        <p:sp>
          <p:nvSpPr>
            <p:cNvPr id="22" name="文本框 21">
              <a:extLst>
                <a:ext uri="{FF2B5EF4-FFF2-40B4-BE49-F238E27FC236}">
                  <a16:creationId xmlns:a16="http://schemas.microsoft.com/office/drawing/2014/main" id="{86977389-8BFE-A245-BC1D-AAD17685449A}"/>
                </a:ext>
              </a:extLst>
            </p:cNvPr>
            <p:cNvSpPr txBox="1"/>
            <p:nvPr/>
          </p:nvSpPr>
          <p:spPr>
            <a:xfrm>
              <a:off x="6426119" y="2787453"/>
              <a:ext cx="187377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Capacity Plan</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sp>
        <p:nvSpPr>
          <p:cNvPr id="23" name="圆角矩形 2">
            <a:extLst>
              <a:ext uri="{FF2B5EF4-FFF2-40B4-BE49-F238E27FC236}">
                <a16:creationId xmlns:a16="http://schemas.microsoft.com/office/drawing/2014/main" id="{653302B5-169B-B67F-DC81-DCFB198A46D0}"/>
              </a:ext>
            </a:extLst>
          </p:cNvPr>
          <p:cNvSpPr/>
          <p:nvPr/>
        </p:nvSpPr>
        <p:spPr>
          <a:xfrm>
            <a:off x="4770655" y="3896823"/>
            <a:ext cx="1350761" cy="543392"/>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4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IOP</a:t>
            </a:r>
            <a:r>
              <a:rPr kumimoji="0" lang="en-US" altLang="zh-CN"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a:t>
            </a:r>
            <a:r>
              <a:rPr kumimoji="0" lang="en-US" altLang="zh-CN" sz="11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Intelligent Operational Planning</a:t>
            </a:r>
            <a:r>
              <a:rPr kumimoji="0" lang="en-US" altLang="zh-CN"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a:t>
            </a:r>
            <a:endParaRPr kumimoji="0" lang="zh-CN" altLang="en-US"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nvGrpSpPr>
          <p:cNvPr id="24" name="组合 23">
            <a:extLst>
              <a:ext uri="{FF2B5EF4-FFF2-40B4-BE49-F238E27FC236}">
                <a16:creationId xmlns:a16="http://schemas.microsoft.com/office/drawing/2014/main" id="{0BEBDF43-28A7-08DB-8023-18BB00DAB410}"/>
              </a:ext>
            </a:extLst>
          </p:cNvPr>
          <p:cNvGrpSpPr/>
          <p:nvPr/>
        </p:nvGrpSpPr>
        <p:grpSpPr>
          <a:xfrm>
            <a:off x="5431047" y="3176732"/>
            <a:ext cx="3880523" cy="720091"/>
            <a:chOff x="5431047" y="3176732"/>
            <a:chExt cx="3880523" cy="720091"/>
          </a:xfrm>
        </p:grpSpPr>
        <p:cxnSp>
          <p:nvCxnSpPr>
            <p:cNvPr id="25" name="直接箭头连接符 24">
              <a:extLst>
                <a:ext uri="{FF2B5EF4-FFF2-40B4-BE49-F238E27FC236}">
                  <a16:creationId xmlns:a16="http://schemas.microsoft.com/office/drawing/2014/main" id="{9777E0EA-767B-4841-8927-B9CA5CB71B14}"/>
                </a:ext>
              </a:extLst>
            </p:cNvPr>
            <p:cNvCxnSpPr>
              <a:stCxn id="10" idx="2"/>
              <a:endCxn id="23" idx="0"/>
            </p:cNvCxnSpPr>
            <p:nvPr/>
          </p:nvCxnSpPr>
          <p:spPr>
            <a:xfrm>
              <a:off x="5431047" y="3176732"/>
              <a:ext cx="14989" cy="72009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B17D6DBD-EB08-DF23-2AEC-3A994A3CF7CB}"/>
                </a:ext>
              </a:extLst>
            </p:cNvPr>
            <p:cNvSpPr txBox="1"/>
            <p:nvPr/>
          </p:nvSpPr>
          <p:spPr>
            <a:xfrm>
              <a:off x="5874357" y="3415533"/>
              <a:ext cx="343721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Supply &amp; Capacity allotment</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grpSp>
        <p:nvGrpSpPr>
          <p:cNvPr id="27" name="组合 26">
            <a:extLst>
              <a:ext uri="{FF2B5EF4-FFF2-40B4-BE49-F238E27FC236}">
                <a16:creationId xmlns:a16="http://schemas.microsoft.com/office/drawing/2014/main" id="{B6B9AE65-63D0-5C5A-A803-5C1D748E1C24}"/>
              </a:ext>
            </a:extLst>
          </p:cNvPr>
          <p:cNvGrpSpPr/>
          <p:nvPr/>
        </p:nvGrpSpPr>
        <p:grpSpPr>
          <a:xfrm>
            <a:off x="5849194" y="1428122"/>
            <a:ext cx="1925703" cy="303029"/>
            <a:chOff x="5849194" y="1169669"/>
            <a:chExt cx="1740065" cy="323597"/>
          </a:xfrm>
        </p:grpSpPr>
        <p:cxnSp>
          <p:nvCxnSpPr>
            <p:cNvPr id="28" name="连接符: 肘形 27">
              <a:extLst>
                <a:ext uri="{FF2B5EF4-FFF2-40B4-BE49-F238E27FC236}">
                  <a16:creationId xmlns:a16="http://schemas.microsoft.com/office/drawing/2014/main" id="{FC855B30-869F-A917-E21B-3481F6FA245D}"/>
                </a:ext>
              </a:extLst>
            </p:cNvPr>
            <p:cNvCxnSpPr>
              <a:cxnSpLocks/>
            </p:cNvCxnSpPr>
            <p:nvPr/>
          </p:nvCxnSpPr>
          <p:spPr>
            <a:xfrm flipV="1">
              <a:off x="5849194" y="1486599"/>
              <a:ext cx="1740065" cy="6667"/>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7BB05121-1260-AC6E-6AF2-B7EA2967D163}"/>
                </a:ext>
              </a:extLst>
            </p:cNvPr>
            <p:cNvSpPr txBox="1"/>
            <p:nvPr/>
          </p:nvSpPr>
          <p:spPr>
            <a:xfrm>
              <a:off x="6342808" y="1169669"/>
              <a:ext cx="836295" cy="295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CRP</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sp>
        <p:nvSpPr>
          <p:cNvPr id="30" name="圆角矩形 2">
            <a:extLst>
              <a:ext uri="{FF2B5EF4-FFF2-40B4-BE49-F238E27FC236}">
                <a16:creationId xmlns:a16="http://schemas.microsoft.com/office/drawing/2014/main" id="{FB73E025-0ACE-E18D-B229-B9B31057FF48}"/>
              </a:ext>
            </a:extLst>
          </p:cNvPr>
          <p:cNvSpPr/>
          <p:nvPr/>
        </p:nvSpPr>
        <p:spPr>
          <a:xfrm>
            <a:off x="2562201" y="5186582"/>
            <a:ext cx="836295" cy="543393"/>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400" dirty="0">
                <a:solidFill>
                  <a:srgbClr val="000000"/>
                </a:solidFill>
                <a:latin typeface="Arial" panose="020B0604020202020204" pitchFamily="34" charset="0"/>
                <a:ea typeface="微软雅黑" panose="020B0503020204020204" pitchFamily="34" charset="-122"/>
              </a:rPr>
              <a:t>IBP/</a:t>
            </a:r>
            <a:r>
              <a:rPr kumimoji="0" lang="en-US" altLang="zh-CN"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CRM/OM</a:t>
            </a:r>
            <a:endParaRPr kumimoji="0" lang="zh-CN" altLang="en-US"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nvGrpSpPr>
          <p:cNvPr id="31" name="组合 30">
            <a:extLst>
              <a:ext uri="{FF2B5EF4-FFF2-40B4-BE49-F238E27FC236}">
                <a16:creationId xmlns:a16="http://schemas.microsoft.com/office/drawing/2014/main" id="{6754C4DC-F406-9052-C1C5-06F43AD97EF3}"/>
              </a:ext>
            </a:extLst>
          </p:cNvPr>
          <p:cNvGrpSpPr/>
          <p:nvPr/>
        </p:nvGrpSpPr>
        <p:grpSpPr>
          <a:xfrm>
            <a:off x="2980349" y="2113379"/>
            <a:ext cx="1908554" cy="2055140"/>
            <a:chOff x="2980349" y="2113379"/>
            <a:chExt cx="1908554" cy="2055140"/>
          </a:xfrm>
        </p:grpSpPr>
        <p:cxnSp>
          <p:nvCxnSpPr>
            <p:cNvPr id="32" name="连接符: 肘形 31">
              <a:extLst>
                <a:ext uri="{FF2B5EF4-FFF2-40B4-BE49-F238E27FC236}">
                  <a16:creationId xmlns:a16="http://schemas.microsoft.com/office/drawing/2014/main" id="{3765A8BF-BA65-8B9E-E458-D3C6444289F8}"/>
                </a:ext>
              </a:extLst>
            </p:cNvPr>
            <p:cNvCxnSpPr>
              <a:stCxn id="5" idx="2"/>
              <a:endCxn id="23" idx="1"/>
            </p:cNvCxnSpPr>
            <p:nvPr/>
          </p:nvCxnSpPr>
          <p:spPr>
            <a:xfrm rot="16200000" flipH="1">
              <a:off x="2847932" y="2245796"/>
              <a:ext cx="2055140" cy="1790305"/>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26D577D7-C1E0-D23F-33BE-AAE3D913776E}"/>
                </a:ext>
              </a:extLst>
            </p:cNvPr>
            <p:cNvSpPr txBox="1"/>
            <p:nvPr/>
          </p:nvSpPr>
          <p:spPr>
            <a:xfrm>
              <a:off x="3252487" y="3457931"/>
              <a:ext cx="163641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Supply Commit/ETA/ASN</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grpSp>
        <p:nvGrpSpPr>
          <p:cNvPr id="34" name="组合 33">
            <a:extLst>
              <a:ext uri="{FF2B5EF4-FFF2-40B4-BE49-F238E27FC236}">
                <a16:creationId xmlns:a16="http://schemas.microsoft.com/office/drawing/2014/main" id="{6816A442-87DF-7DAF-A231-661CC934F565}"/>
              </a:ext>
            </a:extLst>
          </p:cNvPr>
          <p:cNvGrpSpPr/>
          <p:nvPr/>
        </p:nvGrpSpPr>
        <p:grpSpPr>
          <a:xfrm>
            <a:off x="6121416" y="2096598"/>
            <a:ext cx="2195627" cy="2071922"/>
            <a:chOff x="6121416" y="2124541"/>
            <a:chExt cx="2195627" cy="2071922"/>
          </a:xfrm>
        </p:grpSpPr>
        <p:cxnSp>
          <p:nvCxnSpPr>
            <p:cNvPr id="35" name="连接符: 肘形 34">
              <a:extLst>
                <a:ext uri="{FF2B5EF4-FFF2-40B4-BE49-F238E27FC236}">
                  <a16:creationId xmlns:a16="http://schemas.microsoft.com/office/drawing/2014/main" id="{9E212A50-085D-3E31-E841-D12424B59DBE}"/>
                </a:ext>
              </a:extLst>
            </p:cNvPr>
            <p:cNvCxnSpPr>
              <a:cxnSpLocks/>
              <a:stCxn id="9" idx="2"/>
              <a:endCxn id="23" idx="3"/>
            </p:cNvCxnSpPr>
            <p:nvPr/>
          </p:nvCxnSpPr>
          <p:spPr>
            <a:xfrm rot="5400000">
              <a:off x="6183269" y="2062688"/>
              <a:ext cx="2071922" cy="2195627"/>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30E041BC-5907-BF25-2523-AAE210C86121}"/>
                </a:ext>
              </a:extLst>
            </p:cNvPr>
            <p:cNvSpPr txBox="1"/>
            <p:nvPr/>
          </p:nvSpPr>
          <p:spPr>
            <a:xfrm>
              <a:off x="6598435" y="3832401"/>
              <a:ext cx="1499437"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Constraints</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grpSp>
        <p:nvGrpSpPr>
          <p:cNvPr id="37" name="组合 36">
            <a:extLst>
              <a:ext uri="{FF2B5EF4-FFF2-40B4-BE49-F238E27FC236}">
                <a16:creationId xmlns:a16="http://schemas.microsoft.com/office/drawing/2014/main" id="{182F946C-20D6-3F89-0436-99B18A607123}"/>
              </a:ext>
            </a:extLst>
          </p:cNvPr>
          <p:cNvGrpSpPr/>
          <p:nvPr/>
        </p:nvGrpSpPr>
        <p:grpSpPr>
          <a:xfrm>
            <a:off x="5446036" y="2096599"/>
            <a:ext cx="2871007" cy="2498479"/>
            <a:chOff x="5446036" y="2085666"/>
            <a:chExt cx="2871007" cy="2375591"/>
          </a:xfrm>
        </p:grpSpPr>
        <p:cxnSp>
          <p:nvCxnSpPr>
            <p:cNvPr id="38" name="连接符: 肘形 37">
              <a:extLst>
                <a:ext uri="{FF2B5EF4-FFF2-40B4-BE49-F238E27FC236}">
                  <a16:creationId xmlns:a16="http://schemas.microsoft.com/office/drawing/2014/main" id="{E62C83EC-493E-36C8-5758-09C12D2E43B5}"/>
                </a:ext>
              </a:extLst>
            </p:cNvPr>
            <p:cNvCxnSpPr>
              <a:cxnSpLocks/>
              <a:stCxn id="23" idx="2"/>
              <a:endCxn id="9" idx="2"/>
            </p:cNvCxnSpPr>
            <p:nvPr/>
          </p:nvCxnSpPr>
          <p:spPr>
            <a:xfrm rot="5400000" flipH="1" flipV="1">
              <a:off x="5767366" y="1764336"/>
              <a:ext cx="2228347" cy="2871007"/>
            </a:xfrm>
            <a:prstGeom prst="bentConnector3">
              <a:avLst>
                <a:gd name="adj1" fmla="val -9754"/>
              </a:avLst>
            </a:prstGeom>
            <a:ln>
              <a:tailEnd type="triangle"/>
            </a:ln>
          </p:spPr>
          <p:style>
            <a:lnRef idx="1">
              <a:schemeClr val="accent1"/>
            </a:lnRef>
            <a:fillRef idx="0">
              <a:schemeClr val="accent1"/>
            </a:fillRef>
            <a:effectRef idx="0">
              <a:schemeClr val="accent1"/>
            </a:effectRef>
            <a:fontRef idx="minor">
              <a:schemeClr val="tx1"/>
            </a:fontRef>
          </p:style>
        </p:cxnSp>
        <p:sp>
          <p:nvSpPr>
            <p:cNvPr id="39" name="文本框 38">
              <a:extLst>
                <a:ext uri="{FF2B5EF4-FFF2-40B4-BE49-F238E27FC236}">
                  <a16:creationId xmlns:a16="http://schemas.microsoft.com/office/drawing/2014/main" id="{E5B3ED4C-978B-0D80-10EB-31F04D80C27A}"/>
                </a:ext>
              </a:extLst>
            </p:cNvPr>
            <p:cNvSpPr txBox="1"/>
            <p:nvPr/>
          </p:nvSpPr>
          <p:spPr>
            <a:xfrm>
              <a:off x="6209782" y="4197882"/>
              <a:ext cx="2093906" cy="2633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Manufacture Order</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grpSp>
        <p:nvGrpSpPr>
          <p:cNvPr id="40" name="组合 39">
            <a:extLst>
              <a:ext uri="{FF2B5EF4-FFF2-40B4-BE49-F238E27FC236}">
                <a16:creationId xmlns:a16="http://schemas.microsoft.com/office/drawing/2014/main" id="{B9FFEBB8-D89A-6EB7-6E00-3CA1D28047A3}"/>
              </a:ext>
            </a:extLst>
          </p:cNvPr>
          <p:cNvGrpSpPr/>
          <p:nvPr/>
        </p:nvGrpSpPr>
        <p:grpSpPr>
          <a:xfrm>
            <a:off x="2958115" y="2113379"/>
            <a:ext cx="2487921" cy="2510779"/>
            <a:chOff x="2958115" y="2113379"/>
            <a:chExt cx="2487921" cy="2510779"/>
          </a:xfrm>
        </p:grpSpPr>
        <p:cxnSp>
          <p:nvCxnSpPr>
            <p:cNvPr id="41" name="连接符: 肘形 40">
              <a:extLst>
                <a:ext uri="{FF2B5EF4-FFF2-40B4-BE49-F238E27FC236}">
                  <a16:creationId xmlns:a16="http://schemas.microsoft.com/office/drawing/2014/main" id="{BB3ADC78-81F3-3557-C555-9F6A76591D61}"/>
                </a:ext>
              </a:extLst>
            </p:cNvPr>
            <p:cNvCxnSpPr>
              <a:stCxn id="23" idx="2"/>
              <a:endCxn id="5" idx="2"/>
            </p:cNvCxnSpPr>
            <p:nvPr/>
          </p:nvCxnSpPr>
          <p:spPr>
            <a:xfrm rot="5400000" flipH="1">
              <a:off x="3049775" y="2043954"/>
              <a:ext cx="2326836" cy="2465686"/>
            </a:xfrm>
            <a:prstGeom prst="bentConnector3">
              <a:avLst>
                <a:gd name="adj1" fmla="val -9824"/>
              </a:avLst>
            </a:prstGeom>
            <a:ln>
              <a:tailEnd type="triangle"/>
            </a:ln>
          </p:spPr>
          <p:style>
            <a:lnRef idx="1">
              <a:schemeClr val="accent1"/>
            </a:lnRef>
            <a:fillRef idx="0">
              <a:schemeClr val="accent1"/>
            </a:fillRef>
            <a:effectRef idx="0">
              <a:schemeClr val="accent1"/>
            </a:effectRef>
            <a:fontRef idx="minor">
              <a:schemeClr val="tx1"/>
            </a:fontRef>
          </p:style>
        </p:cxnSp>
        <p:sp>
          <p:nvSpPr>
            <p:cNvPr id="42" name="文本框 41">
              <a:extLst>
                <a:ext uri="{FF2B5EF4-FFF2-40B4-BE49-F238E27FC236}">
                  <a16:creationId xmlns:a16="http://schemas.microsoft.com/office/drawing/2014/main" id="{A1B52B52-71B4-B983-0E04-4AB85AE6F101}"/>
                </a:ext>
              </a:extLst>
            </p:cNvPr>
            <p:cNvSpPr txBox="1"/>
            <p:nvPr/>
          </p:nvSpPr>
          <p:spPr>
            <a:xfrm>
              <a:off x="2958115" y="4347159"/>
              <a:ext cx="206892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Rescheduled</a:t>
              </a:r>
              <a:r>
                <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 </a:t>
              </a: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Commit</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grpSp>
        <p:nvGrpSpPr>
          <p:cNvPr id="43" name="组合 42">
            <a:extLst>
              <a:ext uri="{FF2B5EF4-FFF2-40B4-BE49-F238E27FC236}">
                <a16:creationId xmlns:a16="http://schemas.microsoft.com/office/drawing/2014/main" id="{52636AB2-C093-13C5-3CC7-D1A8F4BF2390}"/>
              </a:ext>
            </a:extLst>
          </p:cNvPr>
          <p:cNvGrpSpPr/>
          <p:nvPr/>
        </p:nvGrpSpPr>
        <p:grpSpPr>
          <a:xfrm>
            <a:off x="3398496" y="4440215"/>
            <a:ext cx="2047540" cy="1018064"/>
            <a:chOff x="3398496" y="4440215"/>
            <a:chExt cx="2047540" cy="1018064"/>
          </a:xfrm>
        </p:grpSpPr>
        <p:cxnSp>
          <p:nvCxnSpPr>
            <p:cNvPr id="44" name="连接符: 肘形 43">
              <a:extLst>
                <a:ext uri="{FF2B5EF4-FFF2-40B4-BE49-F238E27FC236}">
                  <a16:creationId xmlns:a16="http://schemas.microsoft.com/office/drawing/2014/main" id="{EEAAD956-36B6-AD7C-D71D-D54A5AB5FA6D}"/>
                </a:ext>
              </a:extLst>
            </p:cNvPr>
            <p:cNvCxnSpPr>
              <a:stCxn id="23" idx="2"/>
              <a:endCxn id="30" idx="3"/>
            </p:cNvCxnSpPr>
            <p:nvPr/>
          </p:nvCxnSpPr>
          <p:spPr>
            <a:xfrm rot="5400000">
              <a:off x="3913234" y="3925477"/>
              <a:ext cx="1018064" cy="2047540"/>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45" name="文本框 44">
              <a:extLst>
                <a:ext uri="{FF2B5EF4-FFF2-40B4-BE49-F238E27FC236}">
                  <a16:creationId xmlns:a16="http://schemas.microsoft.com/office/drawing/2014/main" id="{95D1B145-DD59-41E5-1663-AC60D873E140}"/>
                </a:ext>
              </a:extLst>
            </p:cNvPr>
            <p:cNvSpPr txBox="1"/>
            <p:nvPr/>
          </p:nvSpPr>
          <p:spPr>
            <a:xfrm>
              <a:off x="3499353" y="4965602"/>
              <a:ext cx="1914577"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Commit/Delivery Plan</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sp>
        <p:nvSpPr>
          <p:cNvPr id="46" name="圆角矩形 2">
            <a:extLst>
              <a:ext uri="{FF2B5EF4-FFF2-40B4-BE49-F238E27FC236}">
                <a16:creationId xmlns:a16="http://schemas.microsoft.com/office/drawing/2014/main" id="{B228A9D6-6EF4-930E-CE99-8D44B8DE234E}"/>
              </a:ext>
            </a:extLst>
          </p:cNvPr>
          <p:cNvSpPr/>
          <p:nvPr/>
        </p:nvSpPr>
        <p:spPr>
          <a:xfrm>
            <a:off x="2562200" y="6167343"/>
            <a:ext cx="836295" cy="543393"/>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GL</a:t>
            </a:r>
            <a:endParaRPr kumimoji="0" lang="zh-CN" altLang="en-US"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nvGrpSpPr>
          <p:cNvPr id="47" name="组合 46">
            <a:extLst>
              <a:ext uri="{FF2B5EF4-FFF2-40B4-BE49-F238E27FC236}">
                <a16:creationId xmlns:a16="http://schemas.microsoft.com/office/drawing/2014/main" id="{35CE55EC-ABC0-9872-F3CF-8F77A11A80D7}"/>
              </a:ext>
            </a:extLst>
          </p:cNvPr>
          <p:cNvGrpSpPr/>
          <p:nvPr/>
        </p:nvGrpSpPr>
        <p:grpSpPr>
          <a:xfrm>
            <a:off x="3398496" y="4440215"/>
            <a:ext cx="2047541" cy="1998825"/>
            <a:chOff x="3398496" y="4440215"/>
            <a:chExt cx="2047541" cy="1998825"/>
          </a:xfrm>
        </p:grpSpPr>
        <p:cxnSp>
          <p:nvCxnSpPr>
            <p:cNvPr id="48" name="连接符: 肘形 47">
              <a:extLst>
                <a:ext uri="{FF2B5EF4-FFF2-40B4-BE49-F238E27FC236}">
                  <a16:creationId xmlns:a16="http://schemas.microsoft.com/office/drawing/2014/main" id="{4114F769-EBE3-78F4-D475-AA4CB34EBD22}"/>
                </a:ext>
              </a:extLst>
            </p:cNvPr>
            <p:cNvCxnSpPr>
              <a:stCxn id="23" idx="2"/>
              <a:endCxn id="46" idx="3"/>
            </p:cNvCxnSpPr>
            <p:nvPr/>
          </p:nvCxnSpPr>
          <p:spPr>
            <a:xfrm rot="5400000">
              <a:off x="3422854" y="4415857"/>
              <a:ext cx="1998825" cy="2047541"/>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49" name="文本框 48">
              <a:extLst>
                <a:ext uri="{FF2B5EF4-FFF2-40B4-BE49-F238E27FC236}">
                  <a16:creationId xmlns:a16="http://schemas.microsoft.com/office/drawing/2014/main" id="{6370BE1F-FAED-2F1F-3C7F-605C7A75A60E}"/>
                </a:ext>
              </a:extLst>
            </p:cNvPr>
            <p:cNvSpPr txBox="1"/>
            <p:nvPr/>
          </p:nvSpPr>
          <p:spPr>
            <a:xfrm>
              <a:off x="3545279" y="5782992"/>
              <a:ext cx="1774577"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Delivery Notes</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sp>
        <p:nvSpPr>
          <p:cNvPr id="50" name="圆角矩形 2">
            <a:extLst>
              <a:ext uri="{FF2B5EF4-FFF2-40B4-BE49-F238E27FC236}">
                <a16:creationId xmlns:a16="http://schemas.microsoft.com/office/drawing/2014/main" id="{8C6D8CC7-8A02-4CD1-9D39-0382BCECF588}"/>
              </a:ext>
            </a:extLst>
          </p:cNvPr>
          <p:cNvSpPr/>
          <p:nvPr/>
        </p:nvSpPr>
        <p:spPr>
          <a:xfrm>
            <a:off x="7852109" y="5165607"/>
            <a:ext cx="971321" cy="543393"/>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IOP- Call</a:t>
            </a:r>
            <a:endParaRPr kumimoji="0" lang="zh-CN" altLang="en-US" sz="12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nvGrpSpPr>
          <p:cNvPr id="51" name="组合 50">
            <a:extLst>
              <a:ext uri="{FF2B5EF4-FFF2-40B4-BE49-F238E27FC236}">
                <a16:creationId xmlns:a16="http://schemas.microsoft.com/office/drawing/2014/main" id="{E35AD943-A095-E7FE-6E7A-E1D3A79B6134}"/>
              </a:ext>
            </a:extLst>
          </p:cNvPr>
          <p:cNvGrpSpPr/>
          <p:nvPr/>
        </p:nvGrpSpPr>
        <p:grpSpPr>
          <a:xfrm>
            <a:off x="6514147" y="4902981"/>
            <a:ext cx="2125770" cy="534581"/>
            <a:chOff x="6520132" y="4692844"/>
            <a:chExt cx="2125770" cy="534581"/>
          </a:xfrm>
        </p:grpSpPr>
        <p:cxnSp>
          <p:nvCxnSpPr>
            <p:cNvPr id="52" name="连接符: 肘形 51">
              <a:extLst>
                <a:ext uri="{FF2B5EF4-FFF2-40B4-BE49-F238E27FC236}">
                  <a16:creationId xmlns:a16="http://schemas.microsoft.com/office/drawing/2014/main" id="{B0397E25-B673-FE3D-8BE9-F64F84026677}"/>
                </a:ext>
              </a:extLst>
            </p:cNvPr>
            <p:cNvCxnSpPr>
              <a:cxnSpLocks/>
              <a:stCxn id="50" idx="1"/>
              <a:endCxn id="68" idx="3"/>
            </p:cNvCxnSpPr>
            <p:nvPr/>
          </p:nvCxnSpPr>
          <p:spPr>
            <a:xfrm rot="10800000" flipV="1">
              <a:off x="6520132" y="5227167"/>
              <a:ext cx="1337962" cy="258"/>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53" name="文本框 52">
              <a:extLst>
                <a:ext uri="{FF2B5EF4-FFF2-40B4-BE49-F238E27FC236}">
                  <a16:creationId xmlns:a16="http://schemas.microsoft.com/office/drawing/2014/main" id="{16A08B54-EB37-A825-3E6A-60999B7CC68F}"/>
                </a:ext>
              </a:extLst>
            </p:cNvPr>
            <p:cNvSpPr txBox="1"/>
            <p:nvPr/>
          </p:nvSpPr>
          <p:spPr>
            <a:xfrm>
              <a:off x="6551996" y="4692844"/>
              <a:ext cx="209390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Pull Signal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Transition Order</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sp>
        <p:nvSpPr>
          <p:cNvPr id="54" name="圆角矩形 2">
            <a:extLst>
              <a:ext uri="{FF2B5EF4-FFF2-40B4-BE49-F238E27FC236}">
                <a16:creationId xmlns:a16="http://schemas.microsoft.com/office/drawing/2014/main" id="{44B18D14-4A80-1C9A-5DDB-7B0246374828}"/>
              </a:ext>
            </a:extLst>
          </p:cNvPr>
          <p:cNvSpPr/>
          <p:nvPr/>
        </p:nvSpPr>
        <p:spPr>
          <a:xfrm>
            <a:off x="9693737" y="6003972"/>
            <a:ext cx="836295" cy="543393"/>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MES</a:t>
            </a:r>
            <a:endParaRPr kumimoji="0" lang="zh-CN" altLang="en-US"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55" name="圆角矩形 2">
            <a:extLst>
              <a:ext uri="{FF2B5EF4-FFF2-40B4-BE49-F238E27FC236}">
                <a16:creationId xmlns:a16="http://schemas.microsoft.com/office/drawing/2014/main" id="{80A27F88-CFA6-E79D-C73E-5180AB036579}"/>
              </a:ext>
            </a:extLst>
          </p:cNvPr>
          <p:cNvSpPr/>
          <p:nvPr/>
        </p:nvSpPr>
        <p:spPr>
          <a:xfrm>
            <a:off x="9429819" y="3874425"/>
            <a:ext cx="1364135" cy="543393"/>
          </a:xfrm>
          <a:prstGeom prst="roundRect">
            <a:avLst/>
          </a:prstGeom>
          <a:solidFill>
            <a:srgbClr val="0070C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IOP - Detailed Scheduling</a:t>
            </a:r>
            <a:endParaRPr kumimoji="0" lang="zh-CN" altLang="en-US"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nvGrpSpPr>
          <p:cNvPr id="56" name="组合 55">
            <a:extLst>
              <a:ext uri="{FF2B5EF4-FFF2-40B4-BE49-F238E27FC236}">
                <a16:creationId xmlns:a16="http://schemas.microsoft.com/office/drawing/2014/main" id="{1538731E-5826-9B9E-E139-8A4D12479861}"/>
              </a:ext>
            </a:extLst>
          </p:cNvPr>
          <p:cNvGrpSpPr/>
          <p:nvPr/>
        </p:nvGrpSpPr>
        <p:grpSpPr>
          <a:xfrm>
            <a:off x="8577001" y="1736552"/>
            <a:ext cx="1581798" cy="2137873"/>
            <a:chOff x="8577001" y="1736552"/>
            <a:chExt cx="1581798" cy="2137873"/>
          </a:xfrm>
        </p:grpSpPr>
        <p:cxnSp>
          <p:nvCxnSpPr>
            <p:cNvPr id="57" name="连接符: 肘形 56">
              <a:extLst>
                <a:ext uri="{FF2B5EF4-FFF2-40B4-BE49-F238E27FC236}">
                  <a16:creationId xmlns:a16="http://schemas.microsoft.com/office/drawing/2014/main" id="{628ADF5B-92AE-DBE3-B8E0-634904CA3790}"/>
                </a:ext>
              </a:extLst>
            </p:cNvPr>
            <p:cNvCxnSpPr>
              <a:stCxn id="9" idx="3"/>
              <a:endCxn id="55" idx="0"/>
            </p:cNvCxnSpPr>
            <p:nvPr/>
          </p:nvCxnSpPr>
          <p:spPr>
            <a:xfrm>
              <a:off x="8859187" y="1736552"/>
              <a:ext cx="1252700" cy="2137873"/>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58" name="文本框 57">
              <a:extLst>
                <a:ext uri="{FF2B5EF4-FFF2-40B4-BE49-F238E27FC236}">
                  <a16:creationId xmlns:a16="http://schemas.microsoft.com/office/drawing/2014/main" id="{EB16396D-BF23-2542-0CEC-E6120370D703}"/>
                </a:ext>
              </a:extLst>
            </p:cNvPr>
            <p:cNvSpPr txBox="1"/>
            <p:nvPr/>
          </p:nvSpPr>
          <p:spPr>
            <a:xfrm>
              <a:off x="8577001" y="2491916"/>
              <a:ext cx="1581798"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Manufacturing Order</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grpSp>
        <p:nvGrpSpPr>
          <p:cNvPr id="59" name="组合 58">
            <a:extLst>
              <a:ext uri="{FF2B5EF4-FFF2-40B4-BE49-F238E27FC236}">
                <a16:creationId xmlns:a16="http://schemas.microsoft.com/office/drawing/2014/main" id="{D7305B4A-A0F0-91C1-3D49-730A227EF419}"/>
              </a:ext>
            </a:extLst>
          </p:cNvPr>
          <p:cNvGrpSpPr/>
          <p:nvPr/>
        </p:nvGrpSpPr>
        <p:grpSpPr>
          <a:xfrm>
            <a:off x="10111885" y="4417818"/>
            <a:ext cx="1543143" cy="1586154"/>
            <a:chOff x="10111885" y="4417818"/>
            <a:chExt cx="1543143" cy="1586154"/>
          </a:xfrm>
        </p:grpSpPr>
        <p:cxnSp>
          <p:nvCxnSpPr>
            <p:cNvPr id="60" name="连接符: 肘形 59">
              <a:extLst>
                <a:ext uri="{FF2B5EF4-FFF2-40B4-BE49-F238E27FC236}">
                  <a16:creationId xmlns:a16="http://schemas.microsoft.com/office/drawing/2014/main" id="{8486AA02-CBEC-9EC4-2C38-367DA268E4FA}"/>
                </a:ext>
              </a:extLst>
            </p:cNvPr>
            <p:cNvCxnSpPr>
              <a:stCxn id="55" idx="2"/>
              <a:endCxn id="54" idx="0"/>
            </p:cNvCxnSpPr>
            <p:nvPr/>
          </p:nvCxnSpPr>
          <p:spPr>
            <a:xfrm rot="5400000">
              <a:off x="9318809" y="5210894"/>
              <a:ext cx="1586154" cy="2"/>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17F24E29-F2E3-0848-1226-01A43C8CCD11}"/>
                </a:ext>
              </a:extLst>
            </p:cNvPr>
            <p:cNvSpPr txBox="1"/>
            <p:nvPr/>
          </p:nvSpPr>
          <p:spPr>
            <a:xfrm>
              <a:off x="10111885" y="4649205"/>
              <a:ext cx="154314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MO Sequence</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grpSp>
        <p:nvGrpSpPr>
          <p:cNvPr id="62" name="组合 61">
            <a:extLst>
              <a:ext uri="{FF2B5EF4-FFF2-40B4-BE49-F238E27FC236}">
                <a16:creationId xmlns:a16="http://schemas.microsoft.com/office/drawing/2014/main" id="{F1D423EC-4474-796F-5662-54DD30C36EC4}"/>
              </a:ext>
            </a:extLst>
          </p:cNvPr>
          <p:cNvGrpSpPr/>
          <p:nvPr/>
        </p:nvGrpSpPr>
        <p:grpSpPr>
          <a:xfrm>
            <a:off x="8812138" y="4417819"/>
            <a:ext cx="1406547" cy="1019486"/>
            <a:chOff x="8812138" y="4417819"/>
            <a:chExt cx="1406547" cy="1019486"/>
          </a:xfrm>
        </p:grpSpPr>
        <p:cxnSp>
          <p:nvCxnSpPr>
            <p:cNvPr id="63" name="连接符: 肘形 62">
              <a:extLst>
                <a:ext uri="{FF2B5EF4-FFF2-40B4-BE49-F238E27FC236}">
                  <a16:creationId xmlns:a16="http://schemas.microsoft.com/office/drawing/2014/main" id="{0CED379F-F94A-8192-484E-E1FAA3B1FC3A}"/>
                </a:ext>
              </a:extLst>
            </p:cNvPr>
            <p:cNvCxnSpPr>
              <a:cxnSpLocks/>
              <a:stCxn id="55" idx="2"/>
              <a:endCxn id="50" idx="3"/>
            </p:cNvCxnSpPr>
            <p:nvPr/>
          </p:nvCxnSpPr>
          <p:spPr>
            <a:xfrm rot="5400000">
              <a:off x="8957916" y="4283333"/>
              <a:ext cx="1019486" cy="1288457"/>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1491E300-F4B7-284A-BA51-A692A62F6D84}"/>
                </a:ext>
              </a:extLst>
            </p:cNvPr>
            <p:cNvSpPr txBox="1"/>
            <p:nvPr/>
          </p:nvSpPr>
          <p:spPr>
            <a:xfrm>
              <a:off x="8812138" y="4787705"/>
              <a:ext cx="140654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MO Sequence &amp;Site Location</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grpSp>
        <p:nvGrpSpPr>
          <p:cNvPr id="65" name="组合 64">
            <a:extLst>
              <a:ext uri="{FF2B5EF4-FFF2-40B4-BE49-F238E27FC236}">
                <a16:creationId xmlns:a16="http://schemas.microsoft.com/office/drawing/2014/main" id="{093C5CE1-7FC3-021D-7218-31B45263350C}"/>
              </a:ext>
            </a:extLst>
          </p:cNvPr>
          <p:cNvGrpSpPr/>
          <p:nvPr/>
        </p:nvGrpSpPr>
        <p:grpSpPr>
          <a:xfrm>
            <a:off x="6096000" y="5709000"/>
            <a:ext cx="2241770" cy="772114"/>
            <a:chOff x="7443409" y="3515070"/>
            <a:chExt cx="2241770" cy="772114"/>
          </a:xfrm>
        </p:grpSpPr>
        <p:cxnSp>
          <p:nvCxnSpPr>
            <p:cNvPr id="66" name="连接符: 肘形 65">
              <a:extLst>
                <a:ext uri="{FF2B5EF4-FFF2-40B4-BE49-F238E27FC236}">
                  <a16:creationId xmlns:a16="http://schemas.microsoft.com/office/drawing/2014/main" id="{7EAB330A-DF4B-50FE-EE5D-9A910F54C1DB}"/>
                </a:ext>
              </a:extLst>
            </p:cNvPr>
            <p:cNvCxnSpPr>
              <a:cxnSpLocks/>
              <a:stCxn id="68" idx="2"/>
              <a:endCxn id="50" idx="2"/>
            </p:cNvCxnSpPr>
            <p:nvPr/>
          </p:nvCxnSpPr>
          <p:spPr>
            <a:xfrm rot="5400000" flipH="1" flipV="1">
              <a:off x="8564165" y="2394314"/>
              <a:ext cx="258" cy="2241770"/>
            </a:xfrm>
            <a:prstGeom prst="bentConnector3">
              <a:avLst>
                <a:gd name="adj1" fmla="val -88604651"/>
              </a:avLst>
            </a:prstGeom>
            <a:ln>
              <a:tailEnd type="triangle"/>
            </a:ln>
          </p:spPr>
          <p:style>
            <a:lnRef idx="1">
              <a:schemeClr val="accent1"/>
            </a:lnRef>
            <a:fillRef idx="0">
              <a:schemeClr val="accent1"/>
            </a:fillRef>
            <a:effectRef idx="0">
              <a:schemeClr val="accent1"/>
            </a:effectRef>
            <a:fontRef idx="minor">
              <a:schemeClr val="tx1"/>
            </a:fontRef>
          </p:style>
        </p:cxnSp>
        <p:sp>
          <p:nvSpPr>
            <p:cNvPr id="67" name="文本框 66">
              <a:extLst>
                <a:ext uri="{FF2B5EF4-FFF2-40B4-BE49-F238E27FC236}">
                  <a16:creationId xmlns:a16="http://schemas.microsoft.com/office/drawing/2014/main" id="{35AD34A6-148D-6C07-7F72-8E85D83CFDAB}"/>
                </a:ext>
              </a:extLst>
            </p:cNvPr>
            <p:cNvSpPr txBox="1"/>
            <p:nvPr/>
          </p:nvSpPr>
          <p:spPr>
            <a:xfrm>
              <a:off x="8228948" y="3825519"/>
              <a:ext cx="1127344"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Movement Status</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sp>
        <p:nvSpPr>
          <p:cNvPr id="68" name="圆角矩形 2">
            <a:extLst>
              <a:ext uri="{FF2B5EF4-FFF2-40B4-BE49-F238E27FC236}">
                <a16:creationId xmlns:a16="http://schemas.microsoft.com/office/drawing/2014/main" id="{6FAC6E6A-79D4-9B76-CFF8-0ED692574F14}"/>
              </a:ext>
            </a:extLst>
          </p:cNvPr>
          <p:cNvSpPr/>
          <p:nvPr/>
        </p:nvSpPr>
        <p:spPr>
          <a:xfrm>
            <a:off x="5677852" y="5165865"/>
            <a:ext cx="836295" cy="543393"/>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WMS</a:t>
            </a:r>
            <a:endParaRPr kumimoji="0" lang="zh-CN" altLang="en-US"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nvGrpSpPr>
          <p:cNvPr id="69" name="组合 68">
            <a:extLst>
              <a:ext uri="{FF2B5EF4-FFF2-40B4-BE49-F238E27FC236}">
                <a16:creationId xmlns:a16="http://schemas.microsoft.com/office/drawing/2014/main" id="{E85DEA29-EBC8-C519-7E68-01DF6C545426}"/>
              </a:ext>
            </a:extLst>
          </p:cNvPr>
          <p:cNvGrpSpPr/>
          <p:nvPr/>
        </p:nvGrpSpPr>
        <p:grpSpPr>
          <a:xfrm>
            <a:off x="8311182" y="2096597"/>
            <a:ext cx="1051893" cy="3037216"/>
            <a:chOff x="8311182" y="2096597"/>
            <a:chExt cx="1051893" cy="3037216"/>
          </a:xfrm>
        </p:grpSpPr>
        <p:cxnSp>
          <p:nvCxnSpPr>
            <p:cNvPr id="70" name="直接箭头连接符 69">
              <a:extLst>
                <a:ext uri="{FF2B5EF4-FFF2-40B4-BE49-F238E27FC236}">
                  <a16:creationId xmlns:a16="http://schemas.microsoft.com/office/drawing/2014/main" id="{62E64E3C-460F-0080-1BE6-0A3A27C5683B}"/>
                </a:ext>
              </a:extLst>
            </p:cNvPr>
            <p:cNvCxnSpPr>
              <a:cxnSpLocks/>
              <a:endCxn id="9" idx="2"/>
            </p:cNvCxnSpPr>
            <p:nvPr/>
          </p:nvCxnSpPr>
          <p:spPr>
            <a:xfrm flipV="1">
              <a:off x="8311182" y="2096597"/>
              <a:ext cx="5861" cy="303721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71" name="文本框 70">
              <a:extLst>
                <a:ext uri="{FF2B5EF4-FFF2-40B4-BE49-F238E27FC236}">
                  <a16:creationId xmlns:a16="http://schemas.microsoft.com/office/drawing/2014/main" id="{3F5ADB90-F4F4-B056-0233-57B2CBB1017C}"/>
                </a:ext>
              </a:extLst>
            </p:cNvPr>
            <p:cNvSpPr txBox="1"/>
            <p:nvPr/>
          </p:nvSpPr>
          <p:spPr>
            <a:xfrm>
              <a:off x="8374932" y="4530387"/>
              <a:ext cx="98814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MO Status</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grpSp>
        <p:nvGrpSpPr>
          <p:cNvPr id="72" name="组合 71">
            <a:extLst>
              <a:ext uri="{FF2B5EF4-FFF2-40B4-BE49-F238E27FC236}">
                <a16:creationId xmlns:a16="http://schemas.microsoft.com/office/drawing/2014/main" id="{3D3F5988-DBA5-3D40-71DF-E5FB937C8A9D}"/>
              </a:ext>
            </a:extLst>
          </p:cNvPr>
          <p:cNvGrpSpPr/>
          <p:nvPr/>
        </p:nvGrpSpPr>
        <p:grpSpPr>
          <a:xfrm>
            <a:off x="8859187" y="1736552"/>
            <a:ext cx="2871006" cy="4539117"/>
            <a:chOff x="8859187" y="1736552"/>
            <a:chExt cx="2871006" cy="4539117"/>
          </a:xfrm>
        </p:grpSpPr>
        <p:cxnSp>
          <p:nvCxnSpPr>
            <p:cNvPr id="73" name="连接符: 肘形 72">
              <a:extLst>
                <a:ext uri="{FF2B5EF4-FFF2-40B4-BE49-F238E27FC236}">
                  <a16:creationId xmlns:a16="http://schemas.microsoft.com/office/drawing/2014/main" id="{1F0306A3-CC8A-78A0-B3A6-8DBBA0171BCB}"/>
                </a:ext>
              </a:extLst>
            </p:cNvPr>
            <p:cNvCxnSpPr>
              <a:stCxn id="9" idx="3"/>
              <a:endCxn id="54" idx="3"/>
            </p:cNvCxnSpPr>
            <p:nvPr/>
          </p:nvCxnSpPr>
          <p:spPr>
            <a:xfrm>
              <a:off x="8859187" y="1736552"/>
              <a:ext cx="1670845" cy="4539117"/>
            </a:xfrm>
            <a:prstGeom prst="bentConnector3">
              <a:avLst>
                <a:gd name="adj1" fmla="val 16285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A9F20726-4453-D9F1-DE7A-F4C60B05FA65}"/>
                </a:ext>
              </a:extLst>
            </p:cNvPr>
            <p:cNvSpPr txBox="1"/>
            <p:nvPr/>
          </p:nvSpPr>
          <p:spPr>
            <a:xfrm>
              <a:off x="10479687" y="3117226"/>
              <a:ext cx="1250506"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MO Process</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sp>
        <p:nvSpPr>
          <p:cNvPr id="75" name="圆角矩形 2">
            <a:extLst>
              <a:ext uri="{FF2B5EF4-FFF2-40B4-BE49-F238E27FC236}">
                <a16:creationId xmlns:a16="http://schemas.microsoft.com/office/drawing/2014/main" id="{B3A19D84-111C-577B-943C-745AFDD1B658}"/>
              </a:ext>
            </a:extLst>
          </p:cNvPr>
          <p:cNvSpPr/>
          <p:nvPr/>
        </p:nvSpPr>
        <p:spPr>
          <a:xfrm>
            <a:off x="909437" y="3004278"/>
            <a:ext cx="836295" cy="543393"/>
          </a:xfrm>
          <a:prstGeom prst="roundRect">
            <a:avLst/>
          </a:prstGeom>
          <a:solidFill>
            <a:srgbClr val="7030A0"/>
          </a:solidFill>
          <a:ln>
            <a:no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rPr>
              <a:t>ERP- MM</a:t>
            </a:r>
            <a:endParaRPr kumimoji="0" lang="zh-CN" altLang="en-US" sz="14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pitchFamily="34" charset="-122"/>
              <a:cs typeface="+mn-cs"/>
            </a:endParaRPr>
          </a:p>
        </p:txBody>
      </p:sp>
      <p:grpSp>
        <p:nvGrpSpPr>
          <p:cNvPr id="76" name="组合 75">
            <a:extLst>
              <a:ext uri="{FF2B5EF4-FFF2-40B4-BE49-F238E27FC236}">
                <a16:creationId xmlns:a16="http://schemas.microsoft.com/office/drawing/2014/main" id="{E6076724-CF21-72A7-D68F-F25F4C432B0B}"/>
              </a:ext>
            </a:extLst>
          </p:cNvPr>
          <p:cNvGrpSpPr/>
          <p:nvPr/>
        </p:nvGrpSpPr>
        <p:grpSpPr>
          <a:xfrm>
            <a:off x="2077318" y="3176732"/>
            <a:ext cx="3353730" cy="2009850"/>
            <a:chOff x="5039185" y="3120713"/>
            <a:chExt cx="5099452" cy="2009850"/>
          </a:xfrm>
        </p:grpSpPr>
        <p:cxnSp>
          <p:nvCxnSpPr>
            <p:cNvPr id="77" name="连接符: 肘形 76">
              <a:extLst>
                <a:ext uri="{FF2B5EF4-FFF2-40B4-BE49-F238E27FC236}">
                  <a16:creationId xmlns:a16="http://schemas.microsoft.com/office/drawing/2014/main" id="{61E72D35-26D4-16CD-1A54-11EF4E8A8599}"/>
                </a:ext>
              </a:extLst>
            </p:cNvPr>
            <p:cNvCxnSpPr>
              <a:cxnSpLocks/>
              <a:stCxn id="10" idx="2"/>
              <a:endCxn id="30" idx="0"/>
            </p:cNvCxnSpPr>
            <p:nvPr/>
          </p:nvCxnSpPr>
          <p:spPr>
            <a:xfrm rot="5400000">
              <a:off x="7270530" y="2262456"/>
              <a:ext cx="2009850" cy="3726364"/>
            </a:xfrm>
            <a:prstGeom prst="bentConnector3">
              <a:avLst>
                <a:gd name="adj1" fmla="val 13789"/>
              </a:avLst>
            </a:prstGeom>
            <a:ln>
              <a:tailEnd type="triangle"/>
            </a:ln>
          </p:spPr>
          <p:style>
            <a:lnRef idx="1">
              <a:schemeClr val="accent1"/>
            </a:lnRef>
            <a:fillRef idx="0">
              <a:schemeClr val="accent1"/>
            </a:fillRef>
            <a:effectRef idx="0">
              <a:schemeClr val="accent1"/>
            </a:effectRef>
            <a:fontRef idx="minor">
              <a:schemeClr val="tx1"/>
            </a:fontRef>
          </p:style>
        </p:cxnSp>
        <p:sp>
          <p:nvSpPr>
            <p:cNvPr id="78" name="文本框 77">
              <a:extLst>
                <a:ext uri="{FF2B5EF4-FFF2-40B4-BE49-F238E27FC236}">
                  <a16:creationId xmlns:a16="http://schemas.microsoft.com/office/drawing/2014/main" id="{40C0AB39-2739-7792-C370-F1595A981524}"/>
                </a:ext>
              </a:extLst>
            </p:cNvPr>
            <p:cNvSpPr txBox="1"/>
            <p:nvPr/>
          </p:nvSpPr>
          <p:spPr>
            <a:xfrm>
              <a:off x="5039185" y="4395247"/>
              <a:ext cx="165641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Forecast Commit</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grpSp>
      <p:grpSp>
        <p:nvGrpSpPr>
          <p:cNvPr id="79" name="组合 78">
            <a:extLst>
              <a:ext uri="{FF2B5EF4-FFF2-40B4-BE49-F238E27FC236}">
                <a16:creationId xmlns:a16="http://schemas.microsoft.com/office/drawing/2014/main" id="{F790F451-36F6-0CFF-4502-91A5613740ED}"/>
              </a:ext>
            </a:extLst>
          </p:cNvPr>
          <p:cNvGrpSpPr/>
          <p:nvPr/>
        </p:nvGrpSpPr>
        <p:grpSpPr>
          <a:xfrm>
            <a:off x="689981" y="1384003"/>
            <a:ext cx="4741066" cy="4074277"/>
            <a:chOff x="689981" y="1384003"/>
            <a:chExt cx="4741066" cy="4074277"/>
          </a:xfrm>
        </p:grpSpPr>
        <p:cxnSp>
          <p:nvCxnSpPr>
            <p:cNvPr id="80" name="连接符: 肘形 79">
              <a:extLst>
                <a:ext uri="{FF2B5EF4-FFF2-40B4-BE49-F238E27FC236}">
                  <a16:creationId xmlns:a16="http://schemas.microsoft.com/office/drawing/2014/main" id="{0D88AED4-AD84-9029-33A0-5039504AF28D}"/>
                </a:ext>
              </a:extLst>
            </p:cNvPr>
            <p:cNvCxnSpPr>
              <a:stCxn id="30" idx="1"/>
              <a:endCxn id="4" idx="0"/>
            </p:cNvCxnSpPr>
            <p:nvPr/>
          </p:nvCxnSpPr>
          <p:spPr>
            <a:xfrm rot="10800000" flipH="1">
              <a:off x="2562201" y="1384003"/>
              <a:ext cx="2868846" cy="4074277"/>
            </a:xfrm>
            <a:prstGeom prst="bentConnector4">
              <a:avLst>
                <a:gd name="adj1" fmla="val -65871"/>
                <a:gd name="adj2" fmla="val 105611"/>
              </a:avLst>
            </a:prstGeom>
            <a:ln>
              <a:tailEnd type="triangle"/>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32D90406-C109-9D34-FF06-CA3C169F0FD6}"/>
                </a:ext>
              </a:extLst>
            </p:cNvPr>
            <p:cNvSpPr txBox="1"/>
            <p:nvPr/>
          </p:nvSpPr>
          <p:spPr>
            <a:xfrm>
              <a:off x="689981" y="3963012"/>
              <a:ext cx="141853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dirty="0">
                  <a:solidFill>
                    <a:srgbClr val="FFFFFF"/>
                  </a:solidFill>
                  <a:latin typeface="Arial" panose="020B0604020202020204" pitchFamily="34" charset="0"/>
                  <a:ea typeface="微软雅黑" panose="020B0503020204020204" pitchFamily="34" charset="-122"/>
                </a:rPr>
                <a:t>Consensus </a:t>
              </a: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Forecast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Replenish Order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Sales Order</a:t>
              </a:r>
              <a:r>
                <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 </a:t>
              </a: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etc.</a:t>
              </a:r>
            </a:p>
          </p:txBody>
        </p:sp>
      </p:grpSp>
      <p:grpSp>
        <p:nvGrpSpPr>
          <p:cNvPr id="82" name="组合 81">
            <a:extLst>
              <a:ext uri="{FF2B5EF4-FFF2-40B4-BE49-F238E27FC236}">
                <a16:creationId xmlns:a16="http://schemas.microsoft.com/office/drawing/2014/main" id="{3A1C0F5F-BBDC-C1E2-6196-26A92DBE7F04}"/>
              </a:ext>
            </a:extLst>
          </p:cNvPr>
          <p:cNvGrpSpPr/>
          <p:nvPr/>
        </p:nvGrpSpPr>
        <p:grpSpPr>
          <a:xfrm>
            <a:off x="756425" y="1384003"/>
            <a:ext cx="4674622" cy="1891973"/>
            <a:chOff x="756425" y="1384003"/>
            <a:chExt cx="4674622" cy="1891973"/>
          </a:xfrm>
        </p:grpSpPr>
        <p:sp>
          <p:nvSpPr>
            <p:cNvPr id="83" name="文本框 82">
              <a:extLst>
                <a:ext uri="{FF2B5EF4-FFF2-40B4-BE49-F238E27FC236}">
                  <a16:creationId xmlns:a16="http://schemas.microsoft.com/office/drawing/2014/main" id="{5C5180CD-98E4-C284-A368-A466C1D79519}"/>
                </a:ext>
              </a:extLst>
            </p:cNvPr>
            <p:cNvSpPr txBox="1"/>
            <p:nvPr/>
          </p:nvSpPr>
          <p:spPr>
            <a:xfrm>
              <a:off x="756425" y="1932800"/>
              <a:ext cx="155555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Inventory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Scheduled Receipt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Master Data</a:t>
              </a:r>
              <a:endPar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endParaRPr>
            </a:p>
          </p:txBody>
        </p:sp>
        <p:cxnSp>
          <p:nvCxnSpPr>
            <p:cNvPr id="84" name="连接符: 肘形 83">
              <a:extLst>
                <a:ext uri="{FF2B5EF4-FFF2-40B4-BE49-F238E27FC236}">
                  <a16:creationId xmlns:a16="http://schemas.microsoft.com/office/drawing/2014/main" id="{797714AE-0DAF-6B9E-444A-BC8AF183C03E}"/>
                </a:ext>
              </a:extLst>
            </p:cNvPr>
            <p:cNvCxnSpPr>
              <a:cxnSpLocks/>
              <a:stCxn id="75" idx="1"/>
              <a:endCxn id="4" idx="0"/>
            </p:cNvCxnSpPr>
            <p:nvPr/>
          </p:nvCxnSpPr>
          <p:spPr>
            <a:xfrm rot="10800000" flipH="1">
              <a:off x="909437" y="1384003"/>
              <a:ext cx="4521610" cy="1891973"/>
            </a:xfrm>
            <a:prstGeom prst="bentConnector4">
              <a:avLst>
                <a:gd name="adj1" fmla="val -5056"/>
                <a:gd name="adj2" fmla="val 112083"/>
              </a:avLst>
            </a:prstGeom>
            <a:ln>
              <a:tailEnd type="triangle"/>
            </a:ln>
          </p:spPr>
          <p:style>
            <a:lnRef idx="1">
              <a:schemeClr val="accent1"/>
            </a:lnRef>
            <a:fillRef idx="0">
              <a:schemeClr val="accent1"/>
            </a:fillRef>
            <a:effectRef idx="0">
              <a:schemeClr val="accent1"/>
            </a:effectRef>
            <a:fontRef idx="minor">
              <a:schemeClr val="tx1"/>
            </a:fontRef>
          </p:style>
        </p:cxnSp>
      </p:grpSp>
      <p:grpSp>
        <p:nvGrpSpPr>
          <p:cNvPr id="87" name="组合 86">
            <a:extLst>
              <a:ext uri="{FF2B5EF4-FFF2-40B4-BE49-F238E27FC236}">
                <a16:creationId xmlns:a16="http://schemas.microsoft.com/office/drawing/2014/main" id="{BC25D6C2-508B-0DA0-9BC9-7B72CF3738E7}"/>
              </a:ext>
            </a:extLst>
          </p:cNvPr>
          <p:cNvGrpSpPr/>
          <p:nvPr/>
        </p:nvGrpSpPr>
        <p:grpSpPr>
          <a:xfrm>
            <a:off x="1836524" y="3874992"/>
            <a:ext cx="2934132" cy="1311590"/>
            <a:chOff x="1836524" y="3874992"/>
            <a:chExt cx="2934132" cy="1311590"/>
          </a:xfrm>
        </p:grpSpPr>
        <p:cxnSp>
          <p:nvCxnSpPr>
            <p:cNvPr id="85" name="连接符: 肘形 84">
              <a:extLst>
                <a:ext uri="{FF2B5EF4-FFF2-40B4-BE49-F238E27FC236}">
                  <a16:creationId xmlns:a16="http://schemas.microsoft.com/office/drawing/2014/main" id="{06663C8C-9151-0204-8F4D-97282C087597}"/>
                </a:ext>
              </a:extLst>
            </p:cNvPr>
            <p:cNvCxnSpPr>
              <a:stCxn id="30" idx="0"/>
              <a:endCxn id="23" idx="1"/>
            </p:cNvCxnSpPr>
            <p:nvPr/>
          </p:nvCxnSpPr>
          <p:spPr>
            <a:xfrm rot="5400000" flipH="1" flipV="1">
              <a:off x="3366471" y="3782398"/>
              <a:ext cx="1018063" cy="1790306"/>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86" name="文本框 85">
              <a:extLst>
                <a:ext uri="{FF2B5EF4-FFF2-40B4-BE49-F238E27FC236}">
                  <a16:creationId xmlns:a16="http://schemas.microsoft.com/office/drawing/2014/main" id="{DA683F70-C8FE-FC15-FEF3-266E7F7DC1D2}"/>
                </a:ext>
              </a:extLst>
            </p:cNvPr>
            <p:cNvSpPr txBox="1"/>
            <p:nvPr/>
          </p:nvSpPr>
          <p:spPr>
            <a:xfrm>
              <a:off x="1836524" y="3874992"/>
              <a:ext cx="1418534"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Replenish Order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Sales Order</a:t>
              </a:r>
              <a:r>
                <a:rPr kumimoji="0" lang="zh-CN" altLang="en-US"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 </a:t>
              </a:r>
              <a:r>
                <a:rPr kumimoji="0" lang="en-US" altLang="zh-CN" sz="1200" b="0" i="0" u="none" strike="noStrike" kern="1200" cap="none" spc="0" normalizeH="0" baseline="0" noProof="0" dirty="0">
                  <a:ln>
                    <a:noFill/>
                  </a:ln>
                  <a:solidFill>
                    <a:srgbClr val="FFFFFF"/>
                  </a:solidFill>
                  <a:effectLst/>
                  <a:uLnTx/>
                  <a:uFillTx/>
                  <a:latin typeface="Arial" panose="020B0604020202020204" pitchFamily="34" charset="0"/>
                  <a:ea typeface="微软雅黑" panose="020B0503020204020204" pitchFamily="34" charset="-122"/>
                  <a:cs typeface="+mn-cs"/>
                </a:rPr>
                <a:t>etc.</a:t>
              </a:r>
            </a:p>
          </p:txBody>
        </p:sp>
      </p:grpSp>
    </p:spTree>
    <p:extLst>
      <p:ext uri="{BB962C8B-B14F-4D97-AF65-F5344CB8AC3E}">
        <p14:creationId xmlns:p14="http://schemas.microsoft.com/office/powerpoint/2010/main" val="3837089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0"/>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75"/>
                                        </p:tgtEl>
                                        <p:attrNameLst>
                                          <p:attrName>style.visibility</p:attrName>
                                        </p:attrNameLst>
                                      </p:cBhvr>
                                      <p:to>
                                        <p:strVal val="visible"/>
                                      </p:to>
                                    </p:set>
                                    <p:animEffect transition="in" filter="fade">
                                      <p:cBhvr>
                                        <p:cTn id="16" dur="500"/>
                                        <p:tgtEl>
                                          <p:spTgt spid="75"/>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8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79"/>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500"/>
                                        <p:tgtEl>
                                          <p:spTgt spid="6"/>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fade">
                                      <p:cBhvr>
                                        <p:cTn id="38" dur="500"/>
                                        <p:tgtEl>
                                          <p:spTgt spid="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500"/>
                                        <p:tgtEl>
                                          <p:spTgt spid="27"/>
                                        </p:tgtEl>
                                      </p:cBhvr>
                                    </p:animEffec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0"/>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nodeType="clickEffect">
                                  <p:stCondLst>
                                    <p:cond delay="0"/>
                                  </p:stCondLst>
                                  <p:childTnLst>
                                    <p:set>
                                      <p:cBhvr>
                                        <p:cTn id="51" dur="1" fill="hold">
                                          <p:stCondLst>
                                            <p:cond delay="0"/>
                                          </p:stCondLst>
                                        </p:cTn>
                                        <p:tgtEl>
                                          <p:spTgt spid="11"/>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500"/>
                                        <p:tgtEl>
                                          <p:spTgt spid="14"/>
                                        </p:tgtEl>
                                      </p:cBhvr>
                                    </p:animEffec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17"/>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fade">
                                      <p:cBhvr>
                                        <p:cTn id="65" dur="500"/>
                                        <p:tgtEl>
                                          <p:spTgt spid="20"/>
                                        </p:tgtEl>
                                      </p:cBhvr>
                                    </p:animEffect>
                                  </p:childTnLst>
                                </p:cTn>
                              </p:par>
                            </p:childTnLst>
                          </p:cTn>
                        </p:par>
                      </p:childTnLst>
                    </p:cTn>
                  </p:par>
                  <p:par>
                    <p:cTn id="66" fill="hold">
                      <p:stCondLst>
                        <p:cond delay="indefinite"/>
                      </p:stCondLst>
                      <p:childTnLst>
                        <p:par>
                          <p:cTn id="67" fill="hold">
                            <p:stCondLst>
                              <p:cond delay="0"/>
                            </p:stCondLst>
                            <p:childTnLst>
                              <p:par>
                                <p:cTn id="68" presetID="1" presetClass="entr" presetSubtype="0" fill="hold" nodeType="clickEffect">
                                  <p:stCondLst>
                                    <p:cond delay="0"/>
                                  </p:stCondLst>
                                  <p:childTnLst>
                                    <p:set>
                                      <p:cBhvr>
                                        <p:cTn id="69" dur="1" fill="hold">
                                          <p:stCondLst>
                                            <p:cond delay="0"/>
                                          </p:stCondLst>
                                        </p:cTn>
                                        <p:tgtEl>
                                          <p:spTgt spid="76"/>
                                        </p:tgtEl>
                                        <p:attrNameLst>
                                          <p:attrName>style.visibility</p:attrName>
                                        </p:attrNameLst>
                                      </p:cBhvr>
                                      <p:to>
                                        <p:strVal val="visible"/>
                                      </p:to>
                                    </p:set>
                                  </p:childTnLst>
                                </p:cTn>
                              </p:par>
                            </p:childTnLst>
                          </p:cTn>
                        </p:par>
                      </p:childTnLst>
                    </p:cTn>
                  </p:par>
                  <p:par>
                    <p:cTn id="70" fill="hold">
                      <p:stCondLst>
                        <p:cond delay="indefinite"/>
                      </p:stCondLst>
                      <p:childTnLst>
                        <p:par>
                          <p:cTn id="71" fill="hold">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23"/>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1" presetClass="entr" presetSubtype="0" fill="hold" nodeType="clickEffect">
                                  <p:stCondLst>
                                    <p:cond delay="0"/>
                                  </p:stCondLst>
                                  <p:childTnLst>
                                    <p:set>
                                      <p:cBhvr>
                                        <p:cTn id="77" dur="1" fill="hold">
                                          <p:stCondLst>
                                            <p:cond delay="0"/>
                                          </p:stCondLst>
                                        </p:cTn>
                                        <p:tgtEl>
                                          <p:spTgt spid="87"/>
                                        </p:tgtEl>
                                        <p:attrNameLst>
                                          <p:attrName>style.visibility</p:attrName>
                                        </p:attrNameLst>
                                      </p:cBhvr>
                                      <p:to>
                                        <p:strVal val="visible"/>
                                      </p:to>
                                    </p:se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4"/>
                                        </p:tgtEl>
                                        <p:attrNameLst>
                                          <p:attrName>style.visibility</p:attrName>
                                        </p:attrNameLst>
                                      </p:cBhvr>
                                      <p:to>
                                        <p:strVal val="visible"/>
                                      </p:to>
                                    </p:set>
                                    <p:animEffect transition="in" filter="fade">
                                      <p:cBhvr>
                                        <p:cTn id="82" dur="500"/>
                                        <p:tgtEl>
                                          <p:spTgt spid="2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31"/>
                                        </p:tgtEl>
                                        <p:attrNameLst>
                                          <p:attrName>style.visibility</p:attrName>
                                        </p:attrNameLst>
                                      </p:cBhvr>
                                      <p:to>
                                        <p:strVal val="visible"/>
                                      </p:to>
                                    </p:set>
                                    <p:animEffect transition="in" filter="fade">
                                      <p:cBhvr>
                                        <p:cTn id="87" dur="500"/>
                                        <p:tgtEl>
                                          <p:spTgt spid="31"/>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34"/>
                                        </p:tgtEl>
                                        <p:attrNameLst>
                                          <p:attrName>style.visibility</p:attrName>
                                        </p:attrNameLst>
                                      </p:cBhvr>
                                      <p:to>
                                        <p:strVal val="visible"/>
                                      </p:to>
                                    </p:set>
                                    <p:animEffect transition="in" filter="fade">
                                      <p:cBhvr>
                                        <p:cTn id="92" dur="500"/>
                                        <p:tgtEl>
                                          <p:spTgt spid="34"/>
                                        </p:tgtEl>
                                      </p:cBhvr>
                                    </p:animEffect>
                                  </p:childTnLst>
                                </p:cTn>
                              </p:par>
                            </p:childTnLst>
                          </p:cTn>
                        </p:par>
                      </p:childTnLst>
                    </p:cTn>
                  </p:par>
                  <p:par>
                    <p:cTn id="93" fill="hold">
                      <p:stCondLst>
                        <p:cond delay="indefinite"/>
                      </p:stCondLst>
                      <p:childTnLst>
                        <p:par>
                          <p:cTn id="94" fill="hold">
                            <p:stCondLst>
                              <p:cond delay="0"/>
                            </p:stCondLst>
                            <p:childTnLst>
                              <p:par>
                                <p:cTn id="95" presetID="1" presetClass="entr" presetSubtype="0" fill="hold" nodeType="clickEffect">
                                  <p:stCondLst>
                                    <p:cond delay="0"/>
                                  </p:stCondLst>
                                  <p:childTnLst>
                                    <p:set>
                                      <p:cBhvr>
                                        <p:cTn id="96" dur="1" fill="hold">
                                          <p:stCondLst>
                                            <p:cond delay="0"/>
                                          </p:stCondLst>
                                        </p:cTn>
                                        <p:tgtEl>
                                          <p:spTgt spid="40"/>
                                        </p:tgtEl>
                                        <p:attrNameLst>
                                          <p:attrName>style.visibility</p:attrName>
                                        </p:attrNameLst>
                                      </p:cBhvr>
                                      <p:to>
                                        <p:strVal val="visible"/>
                                      </p:to>
                                    </p:set>
                                  </p:childTnLst>
                                </p:cTn>
                              </p:par>
                            </p:childTnLst>
                          </p:cTn>
                        </p:par>
                      </p:childTnLst>
                    </p:cTn>
                  </p:par>
                  <p:par>
                    <p:cTn id="97" fill="hold">
                      <p:stCondLst>
                        <p:cond delay="indefinite"/>
                      </p:stCondLst>
                      <p:childTnLst>
                        <p:par>
                          <p:cTn id="98" fill="hold">
                            <p:stCondLst>
                              <p:cond delay="0"/>
                            </p:stCondLst>
                            <p:childTnLst>
                              <p:par>
                                <p:cTn id="99" presetID="1" presetClass="entr" presetSubtype="0" fill="hold" nodeType="clickEffect">
                                  <p:stCondLst>
                                    <p:cond delay="0"/>
                                  </p:stCondLst>
                                  <p:childTnLst>
                                    <p:set>
                                      <p:cBhvr>
                                        <p:cTn id="100" dur="1" fill="hold">
                                          <p:stCondLst>
                                            <p:cond delay="0"/>
                                          </p:stCondLst>
                                        </p:cTn>
                                        <p:tgtEl>
                                          <p:spTgt spid="37"/>
                                        </p:tgtEl>
                                        <p:attrNameLst>
                                          <p:attrName>style.visibility</p:attrName>
                                        </p:attrNameLst>
                                      </p:cBhvr>
                                      <p:to>
                                        <p:strVal val="visible"/>
                                      </p:to>
                                    </p:set>
                                  </p:childTnLst>
                                </p:cTn>
                              </p:par>
                            </p:childTnLst>
                          </p:cTn>
                        </p:par>
                      </p:childTnLst>
                    </p:cTn>
                  </p:par>
                  <p:par>
                    <p:cTn id="101" fill="hold">
                      <p:stCondLst>
                        <p:cond delay="indefinite"/>
                      </p:stCondLst>
                      <p:childTnLst>
                        <p:par>
                          <p:cTn id="102" fill="hold">
                            <p:stCondLst>
                              <p:cond delay="0"/>
                            </p:stCondLst>
                            <p:childTnLst>
                              <p:par>
                                <p:cTn id="103" presetID="1" presetClass="entr" presetSubtype="0" fill="hold" nodeType="clickEffect">
                                  <p:stCondLst>
                                    <p:cond delay="0"/>
                                  </p:stCondLst>
                                  <p:childTnLst>
                                    <p:set>
                                      <p:cBhvr>
                                        <p:cTn id="104" dur="1" fill="hold">
                                          <p:stCondLst>
                                            <p:cond delay="0"/>
                                          </p:stCondLst>
                                        </p:cTn>
                                        <p:tgtEl>
                                          <p:spTgt spid="43"/>
                                        </p:tgtEl>
                                        <p:attrNameLst>
                                          <p:attrName>style.visibility</p:attrName>
                                        </p:attrNameLst>
                                      </p:cBhvr>
                                      <p:to>
                                        <p:strVal val="visible"/>
                                      </p:to>
                                    </p:set>
                                  </p:childTnLst>
                                </p:cTn>
                              </p:par>
                            </p:childTnLst>
                          </p:cTn>
                        </p:par>
                      </p:childTnLst>
                    </p:cTn>
                  </p:par>
                  <p:par>
                    <p:cTn id="105" fill="hold">
                      <p:stCondLst>
                        <p:cond delay="indefinite"/>
                      </p:stCondLst>
                      <p:childTnLst>
                        <p:par>
                          <p:cTn id="106" fill="hold">
                            <p:stCondLst>
                              <p:cond delay="0"/>
                            </p:stCondLst>
                            <p:childTnLst>
                              <p:par>
                                <p:cTn id="107" presetID="1" presetClass="entr" presetSubtype="0" fill="hold" grpId="0" nodeType="clickEffect">
                                  <p:stCondLst>
                                    <p:cond delay="0"/>
                                  </p:stCondLst>
                                  <p:childTnLst>
                                    <p:set>
                                      <p:cBhvr>
                                        <p:cTn id="108" dur="1" fill="hold">
                                          <p:stCondLst>
                                            <p:cond delay="0"/>
                                          </p:stCondLst>
                                        </p:cTn>
                                        <p:tgtEl>
                                          <p:spTgt spid="46"/>
                                        </p:tgtEl>
                                        <p:attrNameLst>
                                          <p:attrName>style.visibility</p:attrName>
                                        </p:attrNameLst>
                                      </p:cBhvr>
                                      <p:to>
                                        <p:strVal val="visible"/>
                                      </p:to>
                                    </p:set>
                                  </p:childTnLst>
                                </p:cTn>
                              </p:par>
                            </p:childTnLst>
                          </p:cTn>
                        </p:par>
                      </p:childTnLst>
                    </p:cTn>
                  </p:par>
                  <p:par>
                    <p:cTn id="109" fill="hold">
                      <p:stCondLst>
                        <p:cond delay="indefinite"/>
                      </p:stCondLst>
                      <p:childTnLst>
                        <p:par>
                          <p:cTn id="110" fill="hold">
                            <p:stCondLst>
                              <p:cond delay="0"/>
                            </p:stCondLst>
                            <p:childTnLst>
                              <p:par>
                                <p:cTn id="111" presetID="1" presetClass="entr" presetSubtype="0" fill="hold" nodeType="clickEffect">
                                  <p:stCondLst>
                                    <p:cond delay="0"/>
                                  </p:stCondLst>
                                  <p:childTnLst>
                                    <p:set>
                                      <p:cBhvr>
                                        <p:cTn id="112" dur="1" fill="hold">
                                          <p:stCondLst>
                                            <p:cond delay="0"/>
                                          </p:stCondLst>
                                        </p:cTn>
                                        <p:tgtEl>
                                          <p:spTgt spid="47"/>
                                        </p:tgtEl>
                                        <p:attrNameLst>
                                          <p:attrName>style.visibility</p:attrName>
                                        </p:attrNameLst>
                                      </p:cBhvr>
                                      <p:to>
                                        <p:strVal val="visible"/>
                                      </p:to>
                                    </p:set>
                                  </p:childTnLst>
                                </p:cTn>
                              </p:par>
                            </p:childTnLst>
                          </p:cTn>
                        </p:par>
                      </p:childTnLst>
                    </p:cTn>
                  </p:par>
                  <p:par>
                    <p:cTn id="113" fill="hold">
                      <p:stCondLst>
                        <p:cond delay="indefinite"/>
                      </p:stCondLst>
                      <p:childTnLst>
                        <p:par>
                          <p:cTn id="114" fill="hold">
                            <p:stCondLst>
                              <p:cond delay="0"/>
                            </p:stCondLst>
                            <p:childTnLst>
                              <p:par>
                                <p:cTn id="115" presetID="1" presetClass="entr" presetSubtype="0" fill="hold" grpId="0" nodeType="clickEffect">
                                  <p:stCondLst>
                                    <p:cond delay="0"/>
                                  </p:stCondLst>
                                  <p:childTnLst>
                                    <p:set>
                                      <p:cBhvr>
                                        <p:cTn id="116" dur="1" fill="hold">
                                          <p:stCondLst>
                                            <p:cond delay="0"/>
                                          </p:stCondLst>
                                        </p:cTn>
                                        <p:tgtEl>
                                          <p:spTgt spid="55"/>
                                        </p:tgtEl>
                                        <p:attrNameLst>
                                          <p:attrName>style.visibility</p:attrName>
                                        </p:attrNameLst>
                                      </p:cBhvr>
                                      <p:to>
                                        <p:strVal val="visible"/>
                                      </p:to>
                                    </p:set>
                                  </p:childTnLst>
                                </p:cTn>
                              </p:par>
                            </p:childTnLst>
                          </p:cTn>
                        </p:par>
                      </p:childTnLst>
                    </p:cTn>
                  </p:par>
                  <p:par>
                    <p:cTn id="117" fill="hold">
                      <p:stCondLst>
                        <p:cond delay="indefinite"/>
                      </p:stCondLst>
                      <p:childTnLst>
                        <p:par>
                          <p:cTn id="118" fill="hold">
                            <p:stCondLst>
                              <p:cond delay="0"/>
                            </p:stCondLst>
                            <p:childTnLst>
                              <p:par>
                                <p:cTn id="119" presetID="1" presetClass="entr" presetSubtype="0" fill="hold" nodeType="clickEffect">
                                  <p:stCondLst>
                                    <p:cond delay="0"/>
                                  </p:stCondLst>
                                  <p:childTnLst>
                                    <p:set>
                                      <p:cBhvr>
                                        <p:cTn id="120" dur="1" fill="hold">
                                          <p:stCondLst>
                                            <p:cond delay="0"/>
                                          </p:stCondLst>
                                        </p:cTn>
                                        <p:tgtEl>
                                          <p:spTgt spid="56"/>
                                        </p:tgtEl>
                                        <p:attrNameLst>
                                          <p:attrName>style.visibility</p:attrName>
                                        </p:attrNameLst>
                                      </p:cBhvr>
                                      <p:to>
                                        <p:strVal val="visible"/>
                                      </p:to>
                                    </p:set>
                                  </p:childTnLst>
                                </p:cTn>
                              </p:par>
                            </p:childTnLst>
                          </p:cTn>
                        </p:par>
                      </p:childTnLst>
                    </p:cTn>
                  </p:par>
                  <p:par>
                    <p:cTn id="121" fill="hold">
                      <p:stCondLst>
                        <p:cond delay="indefinite"/>
                      </p:stCondLst>
                      <p:childTnLst>
                        <p:par>
                          <p:cTn id="122" fill="hold">
                            <p:stCondLst>
                              <p:cond delay="0"/>
                            </p:stCondLst>
                            <p:childTnLst>
                              <p:par>
                                <p:cTn id="123" presetID="1" presetClass="entr" presetSubtype="0" fill="hold" grpId="0" nodeType="clickEffect">
                                  <p:stCondLst>
                                    <p:cond delay="0"/>
                                  </p:stCondLst>
                                  <p:childTnLst>
                                    <p:set>
                                      <p:cBhvr>
                                        <p:cTn id="124" dur="1" fill="hold">
                                          <p:stCondLst>
                                            <p:cond delay="0"/>
                                          </p:stCondLst>
                                        </p:cTn>
                                        <p:tgtEl>
                                          <p:spTgt spid="54"/>
                                        </p:tgtEl>
                                        <p:attrNameLst>
                                          <p:attrName>style.visibility</p:attrName>
                                        </p:attrNameLst>
                                      </p:cBhvr>
                                      <p:to>
                                        <p:strVal val="visible"/>
                                      </p:to>
                                    </p:set>
                                  </p:childTnLst>
                                </p:cTn>
                              </p:par>
                            </p:childTnLst>
                          </p:cTn>
                        </p:par>
                      </p:childTnLst>
                    </p:cTn>
                  </p:par>
                  <p:par>
                    <p:cTn id="125" fill="hold">
                      <p:stCondLst>
                        <p:cond delay="indefinite"/>
                      </p:stCondLst>
                      <p:childTnLst>
                        <p:par>
                          <p:cTn id="126" fill="hold">
                            <p:stCondLst>
                              <p:cond delay="0"/>
                            </p:stCondLst>
                            <p:childTnLst>
                              <p:par>
                                <p:cTn id="127" presetID="1" presetClass="entr" presetSubtype="0" fill="hold" nodeType="clickEffect">
                                  <p:stCondLst>
                                    <p:cond delay="0"/>
                                  </p:stCondLst>
                                  <p:childTnLst>
                                    <p:set>
                                      <p:cBhvr>
                                        <p:cTn id="128" dur="1" fill="hold">
                                          <p:stCondLst>
                                            <p:cond delay="0"/>
                                          </p:stCondLst>
                                        </p:cTn>
                                        <p:tgtEl>
                                          <p:spTgt spid="59"/>
                                        </p:tgtEl>
                                        <p:attrNameLst>
                                          <p:attrName>style.visibility</p:attrName>
                                        </p:attrNameLst>
                                      </p:cBhvr>
                                      <p:to>
                                        <p:strVal val="visible"/>
                                      </p:to>
                                    </p:set>
                                  </p:childTnLst>
                                </p:cTn>
                              </p:par>
                            </p:childTnLst>
                          </p:cTn>
                        </p:par>
                      </p:childTnLst>
                    </p:cTn>
                  </p:par>
                  <p:par>
                    <p:cTn id="129" fill="hold">
                      <p:stCondLst>
                        <p:cond delay="indefinite"/>
                      </p:stCondLst>
                      <p:childTnLst>
                        <p:par>
                          <p:cTn id="130" fill="hold">
                            <p:stCondLst>
                              <p:cond delay="0"/>
                            </p:stCondLst>
                            <p:childTnLst>
                              <p:par>
                                <p:cTn id="131" presetID="1" presetClass="entr" presetSubtype="0" fill="hold" grpId="0" nodeType="clickEffect">
                                  <p:stCondLst>
                                    <p:cond delay="0"/>
                                  </p:stCondLst>
                                  <p:childTnLst>
                                    <p:set>
                                      <p:cBhvr>
                                        <p:cTn id="132" dur="1" fill="hold">
                                          <p:stCondLst>
                                            <p:cond delay="0"/>
                                          </p:stCondLst>
                                        </p:cTn>
                                        <p:tgtEl>
                                          <p:spTgt spid="50"/>
                                        </p:tgtEl>
                                        <p:attrNameLst>
                                          <p:attrName>style.visibility</p:attrName>
                                        </p:attrNameLst>
                                      </p:cBhvr>
                                      <p:to>
                                        <p:strVal val="visible"/>
                                      </p:to>
                                    </p:set>
                                  </p:childTnLst>
                                </p:cTn>
                              </p:par>
                            </p:childTnLst>
                          </p:cTn>
                        </p:par>
                      </p:childTnLst>
                    </p:cTn>
                  </p:par>
                  <p:par>
                    <p:cTn id="133" fill="hold">
                      <p:stCondLst>
                        <p:cond delay="indefinite"/>
                      </p:stCondLst>
                      <p:childTnLst>
                        <p:par>
                          <p:cTn id="134" fill="hold">
                            <p:stCondLst>
                              <p:cond delay="0"/>
                            </p:stCondLst>
                            <p:childTnLst>
                              <p:par>
                                <p:cTn id="135" presetID="1" presetClass="entr" presetSubtype="0" fill="hold" nodeType="clickEffect">
                                  <p:stCondLst>
                                    <p:cond delay="0"/>
                                  </p:stCondLst>
                                  <p:childTnLst>
                                    <p:set>
                                      <p:cBhvr>
                                        <p:cTn id="136" dur="1" fill="hold">
                                          <p:stCondLst>
                                            <p:cond delay="0"/>
                                          </p:stCondLst>
                                        </p:cTn>
                                        <p:tgtEl>
                                          <p:spTgt spid="62"/>
                                        </p:tgtEl>
                                        <p:attrNameLst>
                                          <p:attrName>style.visibility</p:attrName>
                                        </p:attrNameLst>
                                      </p:cBhvr>
                                      <p:to>
                                        <p:strVal val="visible"/>
                                      </p:to>
                                    </p:set>
                                  </p:childTnLst>
                                </p:cTn>
                              </p:par>
                            </p:childTnLst>
                          </p:cTn>
                        </p:par>
                      </p:childTnLst>
                    </p:cTn>
                  </p:par>
                  <p:par>
                    <p:cTn id="137" fill="hold">
                      <p:stCondLst>
                        <p:cond delay="indefinite"/>
                      </p:stCondLst>
                      <p:childTnLst>
                        <p:par>
                          <p:cTn id="138" fill="hold">
                            <p:stCondLst>
                              <p:cond delay="0"/>
                            </p:stCondLst>
                            <p:childTnLst>
                              <p:par>
                                <p:cTn id="139" presetID="1" presetClass="entr" presetSubtype="0" fill="hold" grpId="0" nodeType="clickEffect">
                                  <p:stCondLst>
                                    <p:cond delay="0"/>
                                  </p:stCondLst>
                                  <p:childTnLst>
                                    <p:set>
                                      <p:cBhvr>
                                        <p:cTn id="140" dur="1" fill="hold">
                                          <p:stCondLst>
                                            <p:cond delay="0"/>
                                          </p:stCondLst>
                                        </p:cTn>
                                        <p:tgtEl>
                                          <p:spTgt spid="68"/>
                                        </p:tgtEl>
                                        <p:attrNameLst>
                                          <p:attrName>style.visibility</p:attrName>
                                        </p:attrNameLst>
                                      </p:cBhvr>
                                      <p:to>
                                        <p:strVal val="visible"/>
                                      </p:to>
                                    </p:set>
                                  </p:childTnLst>
                                </p:cTn>
                              </p:par>
                            </p:childTnLst>
                          </p:cTn>
                        </p:par>
                      </p:childTnLst>
                    </p:cTn>
                  </p:par>
                  <p:par>
                    <p:cTn id="141" fill="hold">
                      <p:stCondLst>
                        <p:cond delay="indefinite"/>
                      </p:stCondLst>
                      <p:childTnLst>
                        <p:par>
                          <p:cTn id="142" fill="hold">
                            <p:stCondLst>
                              <p:cond delay="0"/>
                            </p:stCondLst>
                            <p:childTnLst>
                              <p:par>
                                <p:cTn id="143" presetID="1" presetClass="entr" presetSubtype="0" fill="hold" nodeType="clickEffect">
                                  <p:stCondLst>
                                    <p:cond delay="0"/>
                                  </p:stCondLst>
                                  <p:childTnLst>
                                    <p:set>
                                      <p:cBhvr>
                                        <p:cTn id="144" dur="1" fill="hold">
                                          <p:stCondLst>
                                            <p:cond delay="0"/>
                                          </p:stCondLst>
                                        </p:cTn>
                                        <p:tgtEl>
                                          <p:spTgt spid="51"/>
                                        </p:tgtEl>
                                        <p:attrNameLst>
                                          <p:attrName>style.visibility</p:attrName>
                                        </p:attrNameLst>
                                      </p:cBhvr>
                                      <p:to>
                                        <p:strVal val="visible"/>
                                      </p:to>
                                    </p:set>
                                  </p:childTnLst>
                                </p:cTn>
                              </p:par>
                            </p:childTnLst>
                          </p:cTn>
                        </p:par>
                      </p:childTnLst>
                    </p:cTn>
                  </p:par>
                  <p:par>
                    <p:cTn id="145" fill="hold">
                      <p:stCondLst>
                        <p:cond delay="indefinite"/>
                      </p:stCondLst>
                      <p:childTnLst>
                        <p:par>
                          <p:cTn id="146" fill="hold">
                            <p:stCondLst>
                              <p:cond delay="0"/>
                            </p:stCondLst>
                            <p:childTnLst>
                              <p:par>
                                <p:cTn id="147" presetID="1" presetClass="entr" presetSubtype="0" fill="hold" nodeType="clickEffect">
                                  <p:stCondLst>
                                    <p:cond delay="0"/>
                                  </p:stCondLst>
                                  <p:childTnLst>
                                    <p:set>
                                      <p:cBhvr>
                                        <p:cTn id="148" dur="1" fill="hold">
                                          <p:stCondLst>
                                            <p:cond delay="0"/>
                                          </p:stCondLst>
                                        </p:cTn>
                                        <p:tgtEl>
                                          <p:spTgt spid="65"/>
                                        </p:tgtEl>
                                        <p:attrNameLst>
                                          <p:attrName>style.visibility</p:attrName>
                                        </p:attrNameLst>
                                      </p:cBhvr>
                                      <p:to>
                                        <p:strVal val="visible"/>
                                      </p:to>
                                    </p:set>
                                  </p:childTnLst>
                                </p:cTn>
                              </p:par>
                            </p:childTnLst>
                          </p:cTn>
                        </p:par>
                      </p:childTnLst>
                    </p:cTn>
                  </p:par>
                  <p:par>
                    <p:cTn id="149" fill="hold">
                      <p:stCondLst>
                        <p:cond delay="indefinite"/>
                      </p:stCondLst>
                      <p:childTnLst>
                        <p:par>
                          <p:cTn id="150" fill="hold">
                            <p:stCondLst>
                              <p:cond delay="0"/>
                            </p:stCondLst>
                            <p:childTnLst>
                              <p:par>
                                <p:cTn id="151" presetID="10" presetClass="entr" presetSubtype="0" fill="hold" nodeType="clickEffect">
                                  <p:stCondLst>
                                    <p:cond delay="0"/>
                                  </p:stCondLst>
                                  <p:childTnLst>
                                    <p:set>
                                      <p:cBhvr>
                                        <p:cTn id="152" dur="1" fill="hold">
                                          <p:stCondLst>
                                            <p:cond delay="0"/>
                                          </p:stCondLst>
                                        </p:cTn>
                                        <p:tgtEl>
                                          <p:spTgt spid="69"/>
                                        </p:tgtEl>
                                        <p:attrNameLst>
                                          <p:attrName>style.visibility</p:attrName>
                                        </p:attrNameLst>
                                      </p:cBhvr>
                                      <p:to>
                                        <p:strVal val="visible"/>
                                      </p:to>
                                    </p:set>
                                    <p:animEffect transition="in" filter="fade">
                                      <p:cBhvr>
                                        <p:cTn id="153" dur="500"/>
                                        <p:tgtEl>
                                          <p:spTgt spid="69"/>
                                        </p:tgtEl>
                                      </p:cBhvr>
                                    </p:animEffect>
                                  </p:childTnLst>
                                </p:cTn>
                              </p:par>
                            </p:childTnLst>
                          </p:cTn>
                        </p:par>
                      </p:childTnLst>
                    </p:cTn>
                  </p:par>
                  <p:par>
                    <p:cTn id="154" fill="hold">
                      <p:stCondLst>
                        <p:cond delay="indefinite"/>
                      </p:stCondLst>
                      <p:childTnLst>
                        <p:par>
                          <p:cTn id="155" fill="hold">
                            <p:stCondLst>
                              <p:cond delay="0"/>
                            </p:stCondLst>
                            <p:childTnLst>
                              <p:par>
                                <p:cTn id="156" presetID="10" presetClass="entr" presetSubtype="0" fill="hold" nodeType="clickEffect">
                                  <p:stCondLst>
                                    <p:cond delay="0"/>
                                  </p:stCondLst>
                                  <p:childTnLst>
                                    <p:set>
                                      <p:cBhvr>
                                        <p:cTn id="157" dur="1" fill="hold">
                                          <p:stCondLst>
                                            <p:cond delay="0"/>
                                          </p:stCondLst>
                                        </p:cTn>
                                        <p:tgtEl>
                                          <p:spTgt spid="72"/>
                                        </p:tgtEl>
                                        <p:attrNameLst>
                                          <p:attrName>style.visibility</p:attrName>
                                        </p:attrNameLst>
                                      </p:cBhvr>
                                      <p:to>
                                        <p:strVal val="visible"/>
                                      </p:to>
                                    </p:set>
                                    <p:animEffect transition="in" filter="fade">
                                      <p:cBhvr>
                                        <p:cTn id="158"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9" grpId="0" animBg="1"/>
      <p:bldP spid="10" grpId="0" animBg="1"/>
      <p:bldP spid="23" grpId="0" animBg="1"/>
      <p:bldP spid="30" grpId="0" animBg="1"/>
      <p:bldP spid="46" grpId="0" animBg="1"/>
      <p:bldP spid="50" grpId="0" animBg="1"/>
      <p:bldP spid="54" grpId="0" animBg="1"/>
      <p:bldP spid="55" grpId="0" animBg="1"/>
      <p:bldP spid="68" grpId="0" animBg="1"/>
      <p:bldP spid="75"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DB5C8E8-60D4-7345-957A-8EBCB28B4C76}"/>
              </a:ext>
            </a:extLst>
          </p:cNvPr>
          <p:cNvSpPr>
            <a:spLocks noGrp="1"/>
          </p:cNvSpPr>
          <p:nvPr>
            <p:ph type="title"/>
          </p:nvPr>
        </p:nvSpPr>
        <p:spPr/>
        <p:txBody>
          <a:bodyPr/>
          <a:lstStyle/>
          <a:p>
            <a:r>
              <a:rPr lang="zh-CN" altLang="en-US" dirty="0"/>
              <a:t>核心哲学：一体两面 </a:t>
            </a:r>
          </a:p>
        </p:txBody>
      </p:sp>
      <p:sp>
        <p:nvSpPr>
          <p:cNvPr id="4" name="文本框 3">
            <a:extLst>
              <a:ext uri="{FF2B5EF4-FFF2-40B4-BE49-F238E27FC236}">
                <a16:creationId xmlns:a16="http://schemas.microsoft.com/office/drawing/2014/main" id="{1AA405DC-EF8F-3301-41F5-379075ACD20B}"/>
              </a:ext>
            </a:extLst>
          </p:cNvPr>
          <p:cNvSpPr txBox="1"/>
          <p:nvPr/>
        </p:nvSpPr>
        <p:spPr>
          <a:xfrm>
            <a:off x="1623302" y="1545024"/>
            <a:ext cx="6096810" cy="1754326"/>
          </a:xfrm>
          <a:prstGeom prst="rect">
            <a:avLst/>
          </a:prstGeom>
          <a:noFill/>
        </p:spPr>
        <p:txBody>
          <a:bodyPr wrap="square">
            <a:spAutoFit/>
          </a:bodyPr>
          <a:lstStyle/>
          <a:p>
            <a:r>
              <a:rPr lang="zh-CN" altLang="en-US" dirty="0"/>
              <a:t>整个 </a:t>
            </a:r>
            <a:r>
              <a:rPr lang="en-US" altLang="zh-CN" dirty="0"/>
              <a:t>IPC </a:t>
            </a:r>
            <a:r>
              <a:rPr lang="zh-CN" altLang="en-US" dirty="0"/>
              <a:t>的五层循环结构及其进化闭环，同时承载着两重属性：</a:t>
            </a:r>
          </a:p>
          <a:p>
            <a:pPr lvl="1">
              <a:buFont typeface="+mj-lt"/>
              <a:buAutoNum type="arabicPeriod"/>
            </a:pPr>
            <a:r>
              <a:rPr lang="zh-CN" altLang="en-US" b="1" dirty="0"/>
              <a:t>业务视角：</a:t>
            </a:r>
            <a:r>
              <a:rPr lang="zh-CN" altLang="en-US" dirty="0"/>
              <a:t> 它是企业赖以生存的战略、能力、运营和进化的真实业务循环。</a:t>
            </a:r>
          </a:p>
          <a:p>
            <a:pPr lvl="1">
              <a:buFont typeface="+mj-lt"/>
              <a:buAutoNum type="arabicPeriod"/>
            </a:pPr>
            <a:r>
              <a:rPr lang="zh-CN" altLang="en-US" b="1" dirty="0"/>
              <a:t>数字视角：</a:t>
            </a:r>
            <a:r>
              <a:rPr lang="zh-CN" altLang="en-US" dirty="0"/>
              <a:t> 它直接就是 </a:t>
            </a:r>
            <a:r>
              <a:rPr lang="en-US" altLang="zh-CN" dirty="0"/>
              <a:t>IPC </a:t>
            </a:r>
            <a:r>
              <a:rPr lang="zh-CN" altLang="en-US" dirty="0"/>
              <a:t>系统底层的数据模型结构和驱动业务运行的核心算法逻辑。</a:t>
            </a:r>
          </a:p>
        </p:txBody>
      </p:sp>
    </p:spTree>
    <p:extLst>
      <p:ext uri="{BB962C8B-B14F-4D97-AF65-F5344CB8AC3E}">
        <p14:creationId xmlns:p14="http://schemas.microsoft.com/office/powerpoint/2010/main" val="1279960595"/>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7C2AAEB-C29F-1CB9-A9F4-7BC3391F3C79}"/>
              </a:ext>
            </a:extLst>
          </p:cNvPr>
          <p:cNvSpPr>
            <a:spLocks noGrp="1"/>
          </p:cNvSpPr>
          <p:nvPr>
            <p:ph type="title"/>
          </p:nvPr>
        </p:nvSpPr>
        <p:spPr/>
        <p:txBody>
          <a:bodyPr/>
          <a:lstStyle/>
          <a:p>
            <a:r>
              <a:rPr lang="zh-CN" altLang="en-US" dirty="0"/>
              <a:t>业务世界</a:t>
            </a:r>
          </a:p>
        </p:txBody>
      </p:sp>
      <p:sp>
        <p:nvSpPr>
          <p:cNvPr id="3" name="文本框 2">
            <a:extLst>
              <a:ext uri="{FF2B5EF4-FFF2-40B4-BE49-F238E27FC236}">
                <a16:creationId xmlns:a16="http://schemas.microsoft.com/office/drawing/2014/main" id="{5D3C4274-0A1A-1A7D-05DB-45A870467510}"/>
              </a:ext>
            </a:extLst>
          </p:cNvPr>
          <p:cNvSpPr txBox="1"/>
          <p:nvPr/>
        </p:nvSpPr>
        <p:spPr>
          <a:xfrm>
            <a:off x="1303506" y="821987"/>
            <a:ext cx="8195553" cy="5078313"/>
          </a:xfrm>
          <a:prstGeom prst="rect">
            <a:avLst/>
          </a:prstGeom>
          <a:noFill/>
        </p:spPr>
        <p:txBody>
          <a:bodyPr wrap="square" rtlCol="0">
            <a:spAutoFit/>
          </a:bodyPr>
          <a:lstStyle/>
          <a:p>
            <a:pPr marL="285750" indent="-285750">
              <a:buFont typeface="Arial" panose="020B0604020202020204" pitchFamily="34" charset="0"/>
              <a:buChar char="•"/>
            </a:pPr>
            <a:r>
              <a:rPr lang="zh-CN" altLang="en-US" dirty="0"/>
              <a:t>源起</a:t>
            </a:r>
            <a:endParaRPr lang="en-US" altLang="zh-CN" dirty="0"/>
          </a:p>
          <a:p>
            <a:pPr marL="742950" lvl="1" indent="-285750">
              <a:buFont typeface="Arial" panose="020B0604020202020204" pitchFamily="34" charset="0"/>
              <a:buChar char="•"/>
            </a:pPr>
            <a:r>
              <a:rPr lang="zh-CN" altLang="en-US" dirty="0"/>
              <a:t>企业的最高战略指引与宏观布局。</a:t>
            </a:r>
            <a:r>
              <a:rPr lang="zh-CN" altLang="en-US" i="1" dirty="0"/>
              <a:t>决定了企业“我是谁”、“阵地在哪”以及“根本原则”。</a:t>
            </a:r>
            <a:endParaRPr lang="en-US" altLang="zh-CN" i="1" dirty="0"/>
          </a:p>
          <a:p>
            <a:pPr marL="285750" indent="-285750">
              <a:buFont typeface="Arial" panose="020B0604020202020204" pitchFamily="34" charset="0"/>
              <a:buChar char="•"/>
            </a:pPr>
            <a:r>
              <a:rPr lang="zh-CN" altLang="en-US" dirty="0"/>
              <a:t>解码</a:t>
            </a:r>
            <a:endParaRPr lang="en-US" altLang="zh-CN" dirty="0"/>
          </a:p>
          <a:p>
            <a:pPr marL="742950" lvl="1" indent="-285750">
              <a:buFont typeface="Arial" panose="020B0604020202020204" pitchFamily="34" charset="0"/>
              <a:buChar char="•"/>
            </a:pPr>
            <a:r>
              <a:rPr lang="zh-CN" altLang="en-US" dirty="0"/>
              <a:t>跨职能的全域协同作战能力组合。</a:t>
            </a:r>
            <a:r>
              <a:rPr lang="zh-CN" altLang="en-US" i="1" dirty="0"/>
              <a:t>打破部门墙，定义研发、供应链、销售如何为了同一目标协同工作（如 </a:t>
            </a:r>
            <a:r>
              <a:rPr lang="en-US" altLang="zh-CN" i="1" dirty="0"/>
              <a:t>ETO</a:t>
            </a:r>
            <a:r>
              <a:rPr lang="zh-CN" altLang="en-US" i="1" dirty="0"/>
              <a:t>、</a:t>
            </a:r>
            <a:r>
              <a:rPr lang="en-US" altLang="zh-CN" i="1" dirty="0"/>
              <a:t>ATO</a:t>
            </a:r>
            <a:r>
              <a:rPr lang="zh-CN" altLang="en-US" i="1" dirty="0"/>
              <a:t>、</a:t>
            </a:r>
            <a:r>
              <a:rPr lang="en-US" altLang="zh-CN" i="1" dirty="0"/>
              <a:t>MTS </a:t>
            </a:r>
            <a:r>
              <a:rPr lang="zh-CN" altLang="en-US" i="1" dirty="0"/>
              <a:t>模式）。</a:t>
            </a:r>
            <a:endParaRPr lang="en-US" altLang="zh-CN" i="1" dirty="0"/>
          </a:p>
          <a:p>
            <a:pPr marL="285750" indent="-285750">
              <a:buFont typeface="Arial" panose="020B0604020202020204" pitchFamily="34" charset="0"/>
              <a:buChar char="•"/>
            </a:pPr>
            <a:r>
              <a:rPr lang="zh-CN" altLang="en-US" dirty="0"/>
              <a:t>内核</a:t>
            </a:r>
            <a:endParaRPr lang="en-US" altLang="zh-CN" dirty="0"/>
          </a:p>
          <a:p>
            <a:pPr marL="742950" lvl="1" indent="-285750">
              <a:buFont typeface="Arial" panose="020B0604020202020204" pitchFamily="34" charset="0"/>
              <a:buChar char="•"/>
            </a:pPr>
            <a:r>
              <a:rPr lang="zh-CN" altLang="en-US" dirty="0"/>
              <a:t>企业的“活力中枢”，负责实时的资源调度与指挥。</a:t>
            </a:r>
            <a:r>
              <a:rPr lang="zh-CN" altLang="en-US" i="1" dirty="0"/>
              <a:t>是感知现状、依据规则进行权衡并做出最优决策的大脑。</a:t>
            </a:r>
            <a:endParaRPr lang="en-US" altLang="zh-CN" i="1" dirty="0"/>
          </a:p>
          <a:p>
            <a:pPr marL="285750" indent="-285750">
              <a:buFont typeface="Arial" panose="020B0604020202020204" pitchFamily="34" charset="0"/>
              <a:buChar char="•"/>
            </a:pPr>
            <a:r>
              <a:rPr lang="zh-CN" altLang="en-US" dirty="0"/>
              <a:t>执行</a:t>
            </a:r>
            <a:endParaRPr lang="en-US" altLang="zh-CN" dirty="0"/>
          </a:p>
          <a:p>
            <a:pPr marL="742950" lvl="1" indent="-285750">
              <a:buFont typeface="Arial" panose="020B0604020202020204" pitchFamily="34" charset="0"/>
              <a:buChar char="•"/>
            </a:pPr>
            <a:r>
              <a:rPr lang="zh-CN" altLang="en-US" dirty="0"/>
              <a:t>物理世界的确定性动作与反馈。</a:t>
            </a:r>
            <a:r>
              <a:rPr lang="zh-CN" altLang="en-US" i="1" dirty="0"/>
              <a:t>工厂生产、物流运输的实际发生，以及对偏差的感知</a:t>
            </a:r>
            <a:r>
              <a:rPr lang="zh-CN" altLang="en-US" dirty="0"/>
              <a:t>。</a:t>
            </a:r>
            <a:endParaRPr lang="en-US" altLang="zh-CN" dirty="0"/>
          </a:p>
          <a:p>
            <a:pPr marL="285750" indent="-285750">
              <a:buFont typeface="Arial" panose="020B0604020202020204" pitchFamily="34" charset="0"/>
              <a:buChar char="•"/>
            </a:pPr>
            <a:r>
              <a:rPr lang="zh-CN" altLang="en-US" dirty="0"/>
              <a:t>终局</a:t>
            </a:r>
            <a:endParaRPr lang="en-US" altLang="zh-CN" dirty="0"/>
          </a:p>
          <a:p>
            <a:pPr marL="742950" lvl="1" indent="-285750">
              <a:buFont typeface="Arial" panose="020B0604020202020204" pitchFamily="34" charset="0"/>
              <a:buChar char="•"/>
            </a:pPr>
            <a:r>
              <a:rPr lang="zh-CN" altLang="en-US" dirty="0"/>
              <a:t>商业胜利的最终兑现。</a:t>
            </a:r>
            <a:r>
              <a:rPr lang="zh-CN" altLang="en-US" i="1" dirty="0"/>
              <a:t>财务报表上的利润、现金流，以及资本市场上的估值和生存权。</a:t>
            </a:r>
            <a:endParaRPr lang="en-US" altLang="zh-CN" i="1" dirty="0"/>
          </a:p>
          <a:p>
            <a:pPr marL="285750" indent="-285750">
              <a:buFont typeface="Arial" panose="020B0604020202020204" pitchFamily="34" charset="0"/>
              <a:buChar char="•"/>
            </a:pPr>
            <a:r>
              <a:rPr lang="zh-CN" altLang="en-US" dirty="0"/>
              <a:t>闭环</a:t>
            </a:r>
            <a:endParaRPr lang="en-US" altLang="zh-CN" dirty="0"/>
          </a:p>
          <a:p>
            <a:pPr marL="742950" lvl="1" indent="-285750">
              <a:buFont typeface="Arial" panose="020B0604020202020204" pitchFamily="34" charset="0"/>
              <a:buChar char="•"/>
            </a:pPr>
            <a:r>
              <a:rPr lang="zh-CN" altLang="en-US" dirty="0"/>
              <a:t>战略控制塔监控下的企业自我进化。</a:t>
            </a:r>
            <a:r>
              <a:rPr lang="zh-CN" altLang="en-US" i="1" dirty="0"/>
              <a:t>发现战略与执行的偏差，主动调整能力、规则甚至重构战略。</a:t>
            </a:r>
            <a:endParaRPr lang="en-US" altLang="zh-CN" i="1" dirty="0"/>
          </a:p>
        </p:txBody>
      </p:sp>
    </p:spTree>
    <p:extLst>
      <p:ext uri="{BB962C8B-B14F-4D97-AF65-F5344CB8AC3E}">
        <p14:creationId xmlns:p14="http://schemas.microsoft.com/office/powerpoint/2010/main" val="3445321851"/>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0110B49-C586-0BDD-F1E4-56C439DF6928}"/>
              </a:ext>
            </a:extLst>
          </p:cNvPr>
          <p:cNvSpPr>
            <a:spLocks noGrp="1"/>
          </p:cNvSpPr>
          <p:nvPr>
            <p:ph type="title"/>
          </p:nvPr>
        </p:nvSpPr>
        <p:spPr/>
        <p:txBody>
          <a:bodyPr/>
          <a:lstStyle/>
          <a:p>
            <a:r>
              <a:rPr lang="en-US" altLang="zh-CN" dirty="0"/>
              <a:t>IPC </a:t>
            </a:r>
            <a:r>
              <a:rPr lang="zh-CN" altLang="en-US" dirty="0"/>
              <a:t>数字世界</a:t>
            </a:r>
          </a:p>
        </p:txBody>
      </p:sp>
      <p:sp>
        <p:nvSpPr>
          <p:cNvPr id="3" name="文本框 2">
            <a:extLst>
              <a:ext uri="{FF2B5EF4-FFF2-40B4-BE49-F238E27FC236}">
                <a16:creationId xmlns:a16="http://schemas.microsoft.com/office/drawing/2014/main" id="{A79F002F-2C04-A700-0CDB-EF9EA346112F}"/>
              </a:ext>
            </a:extLst>
          </p:cNvPr>
          <p:cNvSpPr txBox="1"/>
          <p:nvPr/>
        </p:nvSpPr>
        <p:spPr>
          <a:xfrm>
            <a:off x="1076527" y="802531"/>
            <a:ext cx="10038945" cy="5909310"/>
          </a:xfrm>
          <a:prstGeom prst="rect">
            <a:avLst/>
          </a:prstGeom>
          <a:noFill/>
        </p:spPr>
        <p:txBody>
          <a:bodyPr wrap="square" rtlCol="0">
            <a:spAutoFit/>
          </a:bodyPr>
          <a:lstStyle/>
          <a:p>
            <a:pPr marL="285750" indent="-285750">
              <a:buFont typeface="Arial" panose="020B0604020202020204" pitchFamily="34" charset="0"/>
              <a:buChar char="•"/>
            </a:pPr>
            <a:r>
              <a:rPr lang="zh-CN" altLang="en-US" sz="1400" dirty="0"/>
              <a:t>源起</a:t>
            </a:r>
            <a:endParaRPr lang="en-US" altLang="zh-CN" sz="1400" dirty="0"/>
          </a:p>
          <a:p>
            <a:pPr marL="742950" lvl="1" indent="-285750">
              <a:buFont typeface="Arial" panose="020B0604020202020204" pitchFamily="34" charset="0"/>
              <a:buChar char="•"/>
            </a:pPr>
            <a:r>
              <a:rPr lang="zh-CN" altLang="en-US" sz="1400" dirty="0"/>
              <a:t>算法的“宪法”与顶层约束模型</a:t>
            </a:r>
            <a:r>
              <a:rPr lang="zh-CN" altLang="en-US" sz="1400" i="1" dirty="0"/>
              <a:t>。</a:t>
            </a:r>
            <a:endParaRPr lang="en-US" altLang="zh-CN" sz="1400" i="1" dirty="0"/>
          </a:p>
          <a:p>
            <a:pPr marL="1200150" lvl="2" indent="-285750">
              <a:buFont typeface="Arial" panose="020B0604020202020204" pitchFamily="34" charset="0"/>
              <a:buChar char="•"/>
            </a:pPr>
            <a:r>
              <a:rPr lang="zh-CN" altLang="en-US" sz="1400" b="1" dirty="0"/>
              <a:t>数据模型：</a:t>
            </a:r>
            <a:r>
              <a:rPr lang="zh-CN" altLang="en-US" sz="1400" dirty="0"/>
              <a:t> 存储战略坐标参数、宏观资源网络节点定义、市场优先级列表</a:t>
            </a:r>
            <a:endParaRPr lang="en-US" altLang="zh-CN" sz="1400" dirty="0"/>
          </a:p>
          <a:p>
            <a:pPr marL="1200150" lvl="2" indent="-285750">
              <a:buFont typeface="Arial" panose="020B0604020202020204" pitchFamily="34" charset="0"/>
              <a:buChar char="•"/>
            </a:pPr>
            <a:r>
              <a:rPr lang="zh-CN" altLang="en-US" sz="1400" b="1" dirty="0"/>
              <a:t>业务算法：</a:t>
            </a:r>
            <a:r>
              <a:rPr lang="zh-CN" altLang="en-US" sz="1400" dirty="0"/>
              <a:t> 定义全局目标函数 </a:t>
            </a:r>
            <a:r>
              <a:rPr lang="en-US" altLang="zh-CN" sz="1400" dirty="0"/>
              <a:t>(Objective Function</a:t>
            </a:r>
            <a:r>
              <a:rPr lang="zh-CN" altLang="en-US" sz="1400" dirty="0"/>
              <a:t>，如极小化成本</a:t>
            </a:r>
            <a:r>
              <a:rPr lang="en-US" altLang="zh-CN" sz="1400" dirty="0"/>
              <a:t>) </a:t>
            </a:r>
            <a:r>
              <a:rPr lang="zh-CN" altLang="en-US" sz="1400" dirty="0"/>
              <a:t>和违反原则的极值罚金算法 </a:t>
            </a:r>
            <a:r>
              <a:rPr lang="en-US" altLang="zh-CN" sz="1400" dirty="0"/>
              <a:t>(Penalty Algorithm)</a:t>
            </a:r>
            <a:r>
              <a:rPr lang="zh-CN" altLang="en-US" sz="1400" dirty="0"/>
              <a:t>。</a:t>
            </a:r>
            <a:endParaRPr lang="en-US" altLang="zh-CN" sz="1400" i="1" dirty="0"/>
          </a:p>
          <a:p>
            <a:pPr marL="285750" indent="-285750">
              <a:buFont typeface="Arial" panose="020B0604020202020204" pitchFamily="34" charset="0"/>
              <a:buChar char="•"/>
            </a:pPr>
            <a:r>
              <a:rPr lang="zh-CN" altLang="en-US" sz="1400" dirty="0"/>
              <a:t>解码</a:t>
            </a:r>
            <a:endParaRPr lang="en-US" altLang="zh-CN" sz="1400" dirty="0"/>
          </a:p>
          <a:p>
            <a:pPr marL="742950" lvl="1" indent="-285750">
              <a:buFont typeface="Arial" panose="020B0604020202020204" pitchFamily="34" charset="0"/>
              <a:buChar char="•"/>
            </a:pPr>
            <a:r>
              <a:rPr lang="zh-CN" altLang="en-US" sz="1400" dirty="0"/>
              <a:t>模块化的业务流程模版与协同算法</a:t>
            </a:r>
            <a:endParaRPr lang="en-US" altLang="zh-CN" sz="1400" dirty="0"/>
          </a:p>
          <a:p>
            <a:pPr marL="1200150" lvl="2" indent="-285750">
              <a:buFont typeface="Arial" panose="020B0604020202020204" pitchFamily="34" charset="0"/>
              <a:buChar char="•"/>
            </a:pPr>
            <a:r>
              <a:rPr lang="zh-CN" altLang="en-US" sz="1400" dirty="0"/>
              <a:t>数据模型： 定义不同模式下的标准作业流程 </a:t>
            </a:r>
            <a:r>
              <a:rPr lang="en-US" altLang="zh-CN" sz="1400" dirty="0"/>
              <a:t>(SOP) </a:t>
            </a:r>
            <a:r>
              <a:rPr lang="zh-CN" altLang="en-US" sz="1400" dirty="0"/>
              <a:t>模版、跨系统的单据映射关系。</a:t>
            </a:r>
            <a:endParaRPr lang="en-US" altLang="zh-CN" sz="1400" dirty="0"/>
          </a:p>
          <a:p>
            <a:pPr marL="1200150" lvl="2" indent="-285750">
              <a:buFont typeface="Arial" panose="020B0604020202020204" pitchFamily="34" charset="0"/>
              <a:buChar char="•"/>
            </a:pPr>
            <a:r>
              <a:rPr lang="zh-CN" altLang="en-US" sz="1400" dirty="0"/>
              <a:t>业务算法： 跨领域的协同逻辑（如 </a:t>
            </a:r>
            <a:r>
              <a:rPr lang="en-US" altLang="zh-CN" sz="1400" dirty="0"/>
              <a:t>ECN </a:t>
            </a:r>
            <a:r>
              <a:rPr lang="zh-CN" altLang="en-US" sz="1400" dirty="0"/>
              <a:t>变更波及分析算法、</a:t>
            </a:r>
            <a:r>
              <a:rPr lang="en-US" altLang="zh-CN" sz="1400" dirty="0"/>
              <a:t>CPQ-ATP </a:t>
            </a:r>
            <a:r>
              <a:rPr lang="zh-CN" altLang="en-US" sz="1400" dirty="0"/>
              <a:t>约束检查算法、需求感知算法）</a:t>
            </a:r>
            <a:endParaRPr lang="en-US" altLang="zh-CN" sz="1400" dirty="0"/>
          </a:p>
          <a:p>
            <a:pPr marL="285750" indent="-285750">
              <a:buFont typeface="Arial" panose="020B0604020202020204" pitchFamily="34" charset="0"/>
              <a:buChar char="•"/>
            </a:pPr>
            <a:r>
              <a:rPr lang="zh-CN" altLang="en-US" sz="1400" dirty="0"/>
              <a:t>内核</a:t>
            </a:r>
            <a:endParaRPr lang="en-US" altLang="zh-CN" sz="1400" dirty="0"/>
          </a:p>
          <a:p>
            <a:pPr marL="742950" lvl="1" indent="-285750">
              <a:buFont typeface="Arial" panose="020B0604020202020204" pitchFamily="34" charset="0"/>
              <a:buChar char="•"/>
            </a:pPr>
            <a:r>
              <a:rPr lang="zh-CN" altLang="en-US" sz="1400" dirty="0"/>
              <a:t>动态数字神经系统 </a:t>
            </a:r>
            <a:r>
              <a:rPr lang="en-US" altLang="zh-CN" sz="1400" dirty="0"/>
              <a:t>(</a:t>
            </a:r>
            <a:r>
              <a:rPr lang="zh-CN" altLang="en-US" sz="1400" dirty="0"/>
              <a:t>核心引擎</a:t>
            </a:r>
            <a:r>
              <a:rPr lang="en-US" altLang="zh-CN" sz="1400" dirty="0"/>
              <a:t>)</a:t>
            </a:r>
            <a:r>
              <a:rPr lang="zh-CN" altLang="en-US" sz="1400" dirty="0"/>
              <a:t>。</a:t>
            </a:r>
            <a:endParaRPr lang="en-US" altLang="zh-CN" sz="1400" dirty="0"/>
          </a:p>
          <a:p>
            <a:pPr marL="1657350" lvl="3" indent="-285750">
              <a:buFont typeface="Arial" panose="020B0604020202020204" pitchFamily="34" charset="0"/>
              <a:buChar char="•"/>
            </a:pPr>
            <a:r>
              <a:rPr lang="zh-CN" altLang="en-US" sz="1400" b="1" dirty="0"/>
              <a:t>数据模型 </a:t>
            </a:r>
            <a:r>
              <a:rPr lang="en-US" altLang="zh-CN" sz="1400" b="1" dirty="0"/>
              <a:t>(</a:t>
            </a:r>
            <a:r>
              <a:rPr lang="zh-CN" altLang="en-US" sz="1400" b="1" dirty="0"/>
              <a:t>骨架与血液</a:t>
            </a:r>
            <a:r>
              <a:rPr lang="en-US" altLang="zh-CN" sz="1400" b="1" dirty="0"/>
              <a:t>)</a:t>
            </a:r>
            <a:r>
              <a:rPr lang="zh-CN" altLang="en-US" sz="1400" b="1" dirty="0"/>
              <a:t>：</a:t>
            </a:r>
            <a:r>
              <a:rPr lang="zh-CN" altLang="en-US" sz="1400" dirty="0"/>
              <a:t> 实时更新的“供应链网络图谱”</a:t>
            </a:r>
            <a:r>
              <a:rPr lang="en-US" altLang="zh-CN" sz="1400" dirty="0"/>
              <a:t>(Graph Model) </a:t>
            </a:r>
            <a:r>
              <a:rPr lang="zh-CN" altLang="en-US" sz="1400" dirty="0"/>
              <a:t>和流动的“运营状态数据”</a:t>
            </a:r>
            <a:r>
              <a:rPr lang="en-US" altLang="zh-CN" sz="1400" dirty="0"/>
              <a:t>(Stream Data)</a:t>
            </a:r>
            <a:r>
              <a:rPr lang="zh-CN" altLang="en-US" sz="1400" dirty="0"/>
              <a:t>。</a:t>
            </a:r>
            <a:endParaRPr lang="en-US" altLang="zh-CN" sz="1400" dirty="0"/>
          </a:p>
          <a:p>
            <a:pPr marL="1657350" lvl="3" indent="-285750">
              <a:buFont typeface="Arial" panose="020B0604020202020204" pitchFamily="34" charset="0"/>
              <a:buChar char="•"/>
            </a:pPr>
            <a:r>
              <a:rPr lang="zh-CN" altLang="en-US" sz="1400" b="1" dirty="0"/>
              <a:t>业务算法 </a:t>
            </a:r>
            <a:r>
              <a:rPr lang="en-US" altLang="zh-CN" sz="1400" b="1" dirty="0"/>
              <a:t>(</a:t>
            </a:r>
            <a:r>
              <a:rPr lang="zh-CN" altLang="en-US" sz="1400" b="1" dirty="0"/>
              <a:t>意识与大脑</a:t>
            </a:r>
            <a:r>
              <a:rPr lang="en-US" altLang="zh-CN" sz="1400" b="1" dirty="0"/>
              <a:t>)</a:t>
            </a:r>
            <a:r>
              <a:rPr lang="zh-CN" altLang="en-US" sz="1400" b="1" dirty="0"/>
              <a:t>：</a:t>
            </a:r>
            <a:r>
              <a:rPr lang="zh-CN" altLang="en-US" sz="1400" dirty="0"/>
              <a:t> 将商业规则固化为代码的“规则引擎”</a:t>
            </a:r>
            <a:r>
              <a:rPr lang="en-US" altLang="zh-CN" sz="1400" dirty="0"/>
              <a:t>(Rule Engine) </a:t>
            </a:r>
            <a:r>
              <a:rPr lang="zh-CN" altLang="en-US" sz="1400" dirty="0"/>
              <a:t>和进行多目标寻优的“高级求解器”</a:t>
            </a:r>
            <a:r>
              <a:rPr lang="en-US" altLang="zh-CN" sz="1400" dirty="0"/>
              <a:t>(Solver/AI Engine)</a:t>
            </a:r>
            <a:r>
              <a:rPr lang="zh-CN" altLang="en-US" sz="1400" dirty="0"/>
              <a:t>。</a:t>
            </a:r>
            <a:endParaRPr lang="en-US" altLang="zh-CN" sz="1400" dirty="0"/>
          </a:p>
          <a:p>
            <a:pPr marL="285750" indent="-285750">
              <a:buFont typeface="Arial" panose="020B0604020202020204" pitchFamily="34" charset="0"/>
              <a:buChar char="•"/>
            </a:pPr>
            <a:r>
              <a:rPr lang="zh-CN" altLang="en-US" sz="1400" dirty="0"/>
              <a:t>执行</a:t>
            </a:r>
            <a:endParaRPr lang="en-US" altLang="zh-CN" sz="1400" dirty="0"/>
          </a:p>
          <a:p>
            <a:pPr marL="742950" lvl="1" indent="-285750">
              <a:buFont typeface="Arial" panose="020B0604020202020204" pitchFamily="34" charset="0"/>
              <a:buChar char="•"/>
            </a:pPr>
            <a:r>
              <a:rPr lang="en-US" altLang="zh-CN" sz="1400" dirty="0"/>
              <a:t>CPS </a:t>
            </a:r>
            <a:r>
              <a:rPr lang="zh-CN" altLang="en-US" sz="1400" dirty="0"/>
              <a:t>闭环指令与传感数据流。</a:t>
            </a:r>
            <a:endParaRPr lang="en-US" altLang="zh-CN" sz="1400" dirty="0"/>
          </a:p>
          <a:p>
            <a:pPr marL="1657350" lvl="3" indent="-285750">
              <a:buFont typeface="Arial" panose="020B0604020202020204" pitchFamily="34" charset="0"/>
              <a:buChar char="•"/>
            </a:pPr>
            <a:r>
              <a:rPr lang="zh-CN" altLang="en-US" sz="1400" b="1" dirty="0"/>
              <a:t>业务算法 </a:t>
            </a:r>
            <a:r>
              <a:rPr lang="en-US" altLang="zh-CN" sz="1400" b="1" dirty="0"/>
              <a:t>(</a:t>
            </a:r>
            <a:r>
              <a:rPr lang="zh-CN" altLang="en-US" sz="1400" b="1" dirty="0"/>
              <a:t>下行</a:t>
            </a:r>
            <a:r>
              <a:rPr lang="en-US" altLang="zh-CN" sz="1400" b="1" dirty="0"/>
              <a:t>)</a:t>
            </a:r>
            <a:r>
              <a:rPr lang="zh-CN" altLang="en-US" sz="1400" b="1" dirty="0"/>
              <a:t>：</a:t>
            </a:r>
            <a:r>
              <a:rPr lang="zh-CN" altLang="en-US" sz="1400" dirty="0"/>
              <a:t> 将</a:t>
            </a:r>
            <a:r>
              <a:rPr lang="en-US" altLang="zh-CN" sz="1400" dirty="0"/>
              <a:t>L3</a:t>
            </a:r>
            <a:r>
              <a:rPr lang="zh-CN" altLang="en-US" sz="1400" dirty="0"/>
              <a:t>决策转化为精确指令的调度算法 </a:t>
            </a:r>
            <a:r>
              <a:rPr lang="en-US" altLang="zh-CN" sz="1400" dirty="0"/>
              <a:t>(Scheduling Algo) </a:t>
            </a:r>
            <a:r>
              <a:rPr lang="zh-CN" altLang="en-US" sz="1400" dirty="0"/>
              <a:t>和发运算法。</a:t>
            </a:r>
            <a:endParaRPr lang="en-US" altLang="zh-CN" sz="1400" dirty="0"/>
          </a:p>
          <a:p>
            <a:pPr marL="1657350" lvl="3" indent="-285750">
              <a:buFont typeface="Arial" panose="020B0604020202020204" pitchFamily="34" charset="0"/>
              <a:buChar char="•"/>
            </a:pPr>
            <a:r>
              <a:rPr lang="zh-CN" altLang="en-US" sz="1400" b="1" dirty="0"/>
              <a:t>数据模型 </a:t>
            </a:r>
            <a:r>
              <a:rPr lang="en-US" altLang="zh-CN" sz="1400" b="1" dirty="0"/>
              <a:t>(</a:t>
            </a:r>
            <a:r>
              <a:rPr lang="zh-CN" altLang="en-US" sz="1400" b="1" dirty="0"/>
              <a:t>上行</a:t>
            </a:r>
            <a:r>
              <a:rPr lang="en-US" altLang="zh-CN" sz="1400" b="1" dirty="0"/>
              <a:t>)</a:t>
            </a:r>
            <a:r>
              <a:rPr lang="zh-CN" altLang="en-US" sz="1400" b="1" dirty="0"/>
              <a:t>：</a:t>
            </a:r>
            <a:r>
              <a:rPr lang="zh-CN" altLang="en-US" sz="1400" dirty="0"/>
              <a:t> </a:t>
            </a:r>
            <a:r>
              <a:rPr lang="en-US" altLang="zh-CN" sz="1400" dirty="0"/>
              <a:t>IoT </a:t>
            </a:r>
            <a:r>
              <a:rPr lang="zh-CN" altLang="en-US" sz="1400" dirty="0"/>
              <a:t>设备和各执行系统回传的实时传感数据模型 </a:t>
            </a:r>
            <a:r>
              <a:rPr lang="en-US" altLang="zh-CN" sz="1400" dirty="0"/>
              <a:t>(Sensor Data Model)</a:t>
            </a:r>
            <a:r>
              <a:rPr lang="zh-CN" altLang="en-US" sz="1400" dirty="0"/>
              <a:t>。</a:t>
            </a:r>
            <a:endParaRPr lang="en-US" altLang="zh-CN" sz="1400" dirty="0"/>
          </a:p>
          <a:p>
            <a:pPr marL="285750" indent="-285750">
              <a:buFont typeface="Arial" panose="020B0604020202020204" pitchFamily="34" charset="0"/>
              <a:buChar char="•"/>
            </a:pPr>
            <a:r>
              <a:rPr lang="zh-CN" altLang="en-US" sz="1400" dirty="0"/>
              <a:t>终局</a:t>
            </a:r>
            <a:endParaRPr lang="en-US" altLang="zh-CN" sz="1400" dirty="0"/>
          </a:p>
          <a:p>
            <a:pPr marL="742950" lvl="1" indent="-285750">
              <a:buFont typeface="Arial" panose="020B0604020202020204" pitchFamily="34" charset="0"/>
              <a:buChar char="•"/>
            </a:pPr>
            <a:r>
              <a:rPr lang="zh-CN" altLang="en-US" sz="1400" dirty="0"/>
              <a:t>价值计算模型与预测算法。</a:t>
            </a:r>
            <a:endParaRPr lang="en-US" altLang="zh-CN" sz="1400" dirty="0"/>
          </a:p>
          <a:p>
            <a:pPr marL="1200150" lvl="2" indent="-285750">
              <a:buFont typeface="Arial" panose="020B0604020202020204" pitchFamily="34" charset="0"/>
              <a:buChar char="•"/>
            </a:pPr>
            <a:r>
              <a:rPr lang="zh-CN" altLang="en-US" sz="1400" b="1" dirty="0"/>
              <a:t>数据模型：</a:t>
            </a:r>
            <a:r>
              <a:rPr lang="zh-CN" altLang="en-US" sz="1400" dirty="0"/>
              <a:t> 实时计算的财务 </a:t>
            </a:r>
            <a:r>
              <a:rPr lang="en-US" altLang="zh-CN" sz="1400" dirty="0"/>
              <a:t>KPI </a:t>
            </a:r>
            <a:r>
              <a:rPr lang="zh-CN" altLang="en-US" sz="1400" dirty="0"/>
              <a:t>指标集 </a:t>
            </a:r>
            <a:r>
              <a:rPr lang="en-US" altLang="zh-CN" sz="1400" dirty="0"/>
              <a:t>(Financial Metrics Model)</a:t>
            </a:r>
            <a:r>
              <a:rPr lang="zh-CN" altLang="en-US" sz="1400" dirty="0"/>
              <a:t>。</a:t>
            </a:r>
            <a:endParaRPr lang="en-US" altLang="zh-CN" sz="1400" dirty="0"/>
          </a:p>
          <a:p>
            <a:pPr marL="1200150" lvl="2" indent="-285750">
              <a:buFont typeface="Arial" panose="020B0604020202020204" pitchFamily="34" charset="0"/>
              <a:buChar char="•"/>
            </a:pPr>
            <a:r>
              <a:rPr lang="zh-CN" altLang="en-US" sz="1400" b="1" dirty="0"/>
              <a:t>业务算法：</a:t>
            </a:r>
            <a:r>
              <a:rPr lang="zh-CN" altLang="en-US" sz="1400" dirty="0"/>
              <a:t> 基于运营状态预测未来业绩指引的预测算法 </a:t>
            </a:r>
            <a:r>
              <a:rPr lang="en-US" altLang="zh-CN" sz="1400" dirty="0"/>
              <a:t>(Forecasting Algo) </a:t>
            </a:r>
            <a:r>
              <a:rPr lang="zh-CN" altLang="en-US" sz="1400" dirty="0"/>
              <a:t>和 </a:t>
            </a:r>
            <a:r>
              <a:rPr lang="en-US" altLang="zh-CN" sz="1400" dirty="0"/>
              <a:t>What-If </a:t>
            </a:r>
            <a:r>
              <a:rPr lang="zh-CN" altLang="en-US" sz="1400" dirty="0"/>
              <a:t>模拟算法。</a:t>
            </a:r>
            <a:endParaRPr lang="en-US" altLang="zh-CN" sz="1400" dirty="0"/>
          </a:p>
          <a:p>
            <a:pPr marL="285750" indent="-285750">
              <a:buFont typeface="Arial" panose="020B0604020202020204" pitchFamily="34" charset="0"/>
              <a:buChar char="•"/>
            </a:pPr>
            <a:r>
              <a:rPr lang="zh-CN" altLang="en-US" sz="1400" dirty="0"/>
              <a:t>闭环</a:t>
            </a:r>
            <a:endParaRPr lang="en-US" altLang="zh-CN" sz="1400" dirty="0"/>
          </a:p>
          <a:p>
            <a:pPr marL="742950" lvl="1" indent="-285750">
              <a:buFont typeface="Arial" panose="020B0604020202020204" pitchFamily="34" charset="0"/>
              <a:buChar char="•"/>
            </a:pPr>
            <a:r>
              <a:rPr lang="zh-CN" altLang="en-US" sz="1400" dirty="0"/>
              <a:t>基于反馈的机器学习与参数自优化。</a:t>
            </a:r>
            <a:endParaRPr lang="en-US" altLang="zh-CN" sz="1400" i="1" dirty="0"/>
          </a:p>
          <a:p>
            <a:pPr marL="1200150" lvl="2" indent="-285750">
              <a:buFont typeface="Arial" panose="020B0604020202020204" pitchFamily="34" charset="0"/>
              <a:buChar char="•"/>
            </a:pPr>
            <a:r>
              <a:rPr lang="zh-CN" altLang="en-US" sz="1400" dirty="0"/>
              <a:t>数据模型：触发 </a:t>
            </a:r>
            <a:r>
              <a:rPr lang="en-US" altLang="zh-CN" sz="1400" dirty="0"/>
              <a:t>L3 </a:t>
            </a:r>
            <a:r>
              <a:rPr lang="zh-CN" altLang="en-US" sz="1400" dirty="0"/>
              <a:t>核心参数的自动修正 </a:t>
            </a:r>
            <a:r>
              <a:rPr lang="en-US" altLang="zh-CN" sz="1400" dirty="0"/>
              <a:t>(ML Retraining)</a:t>
            </a:r>
            <a:r>
              <a:rPr lang="zh-CN" altLang="en-US" sz="1400" dirty="0"/>
              <a:t>，或触发对 </a:t>
            </a:r>
            <a:r>
              <a:rPr lang="en-US" altLang="zh-CN" sz="1400" dirty="0"/>
              <a:t>L1/L2 </a:t>
            </a:r>
            <a:r>
              <a:rPr lang="zh-CN" altLang="en-US" sz="1400" dirty="0"/>
              <a:t>模型结构的调整建议。</a:t>
            </a:r>
            <a:endParaRPr lang="en-US" altLang="zh-CN" sz="1400" dirty="0"/>
          </a:p>
          <a:p>
            <a:pPr marL="1200150" lvl="2" indent="-285750">
              <a:buFont typeface="Arial" panose="020B0604020202020204" pitchFamily="34" charset="0"/>
              <a:buChar char="•"/>
            </a:pPr>
            <a:r>
              <a:rPr lang="zh-CN" altLang="en-US" sz="1400" dirty="0"/>
              <a:t>业务算法：实时对比计划与实际、战略与结果的偏差分析算法。</a:t>
            </a:r>
            <a:endParaRPr lang="en-US" altLang="zh-CN" sz="1400" dirty="0"/>
          </a:p>
        </p:txBody>
      </p:sp>
    </p:spTree>
    <p:extLst>
      <p:ext uri="{BB962C8B-B14F-4D97-AF65-F5344CB8AC3E}">
        <p14:creationId xmlns:p14="http://schemas.microsoft.com/office/powerpoint/2010/main" val="175896263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E48FCFB-D5DA-3F31-2E96-24551E16C0DE}"/>
              </a:ext>
            </a:extLst>
          </p:cNvPr>
          <p:cNvSpPr>
            <a:spLocks noGrp="1"/>
          </p:cNvSpPr>
          <p:nvPr>
            <p:ph type="title"/>
          </p:nvPr>
        </p:nvSpPr>
        <p:spPr/>
        <p:txBody>
          <a:bodyPr/>
          <a:lstStyle/>
          <a:p>
            <a:endParaRPr lang="zh-CN" altLang="en-US"/>
          </a:p>
        </p:txBody>
      </p:sp>
      <p:sp>
        <p:nvSpPr>
          <p:cNvPr id="3" name="文本框 2">
            <a:extLst>
              <a:ext uri="{FF2B5EF4-FFF2-40B4-BE49-F238E27FC236}">
                <a16:creationId xmlns:a16="http://schemas.microsoft.com/office/drawing/2014/main" id="{716EA7BF-FBAA-8A5D-5E0D-25965D842E5A}"/>
              </a:ext>
            </a:extLst>
          </p:cNvPr>
          <p:cNvSpPr txBox="1"/>
          <p:nvPr/>
        </p:nvSpPr>
        <p:spPr>
          <a:xfrm>
            <a:off x="2524328" y="1502924"/>
            <a:ext cx="5189706" cy="1754326"/>
          </a:xfrm>
          <a:prstGeom prst="rect">
            <a:avLst/>
          </a:prstGeom>
          <a:noFill/>
        </p:spPr>
        <p:txBody>
          <a:bodyPr wrap="square" rtlCol="0">
            <a:spAutoFit/>
          </a:bodyPr>
          <a:lstStyle/>
          <a:p>
            <a:r>
              <a:rPr lang="zh-CN" altLang="en-US" dirty="0"/>
              <a:t>数据模型：</a:t>
            </a:r>
            <a:endParaRPr lang="en-US" altLang="zh-CN" dirty="0"/>
          </a:p>
          <a:p>
            <a:pPr marL="342900" indent="-342900">
              <a:buAutoNum type="arabicPeriod"/>
            </a:pPr>
            <a:r>
              <a:rPr lang="zh-CN" altLang="en-US" dirty="0"/>
              <a:t>输入</a:t>
            </a:r>
            <a:r>
              <a:rPr lang="en-US" altLang="zh-CN" dirty="0"/>
              <a:t>-</a:t>
            </a:r>
            <a:r>
              <a:rPr lang="zh-CN" altLang="en-US" dirty="0"/>
              <a:t>供应链网络</a:t>
            </a:r>
            <a:endParaRPr lang="en-US" altLang="zh-CN" dirty="0"/>
          </a:p>
          <a:p>
            <a:pPr marL="342900" indent="-342900">
              <a:buAutoNum type="arabicPeriod"/>
            </a:pPr>
            <a:r>
              <a:rPr lang="zh-CN" altLang="en-US" dirty="0"/>
              <a:t>输入</a:t>
            </a:r>
            <a:r>
              <a:rPr lang="en-US" altLang="zh-CN" dirty="0"/>
              <a:t>-</a:t>
            </a:r>
            <a:r>
              <a:rPr lang="zh-CN" altLang="en-US" dirty="0"/>
              <a:t>控制数据（商业智慧、业务规则）</a:t>
            </a:r>
            <a:endParaRPr lang="en-US" altLang="zh-CN" dirty="0"/>
          </a:p>
          <a:p>
            <a:pPr marL="342900" indent="-342900">
              <a:buAutoNum type="arabicPeriod"/>
            </a:pPr>
            <a:r>
              <a:rPr lang="zh-CN" altLang="en-US" dirty="0"/>
              <a:t>引擎</a:t>
            </a:r>
            <a:r>
              <a:rPr lang="en-US" altLang="zh-CN" dirty="0"/>
              <a:t>/</a:t>
            </a:r>
            <a:r>
              <a:rPr lang="zh-CN" altLang="en-US" dirty="0"/>
              <a:t>计算</a:t>
            </a:r>
            <a:r>
              <a:rPr lang="en-US" altLang="zh-CN" dirty="0"/>
              <a:t>-</a:t>
            </a:r>
            <a:r>
              <a:rPr lang="zh-CN" altLang="en-US" dirty="0"/>
              <a:t>分析和决策（之前是代码）显性化</a:t>
            </a:r>
            <a:endParaRPr lang="en-US" altLang="zh-CN" dirty="0"/>
          </a:p>
          <a:p>
            <a:pPr marL="342900" indent="-342900">
              <a:buAutoNum type="arabicPeriod"/>
            </a:pPr>
            <a:r>
              <a:rPr lang="zh-CN" altLang="en-US" dirty="0"/>
              <a:t>输出</a:t>
            </a:r>
            <a:r>
              <a:rPr lang="en-US" altLang="zh-CN" dirty="0"/>
              <a:t>-</a:t>
            </a:r>
            <a:r>
              <a:rPr lang="zh-CN" altLang="en-US" dirty="0"/>
              <a:t>决策数据</a:t>
            </a:r>
            <a:endParaRPr lang="en-US" altLang="zh-CN" dirty="0"/>
          </a:p>
          <a:p>
            <a:pPr marL="342900" indent="-342900">
              <a:buAutoNum type="arabicPeriod"/>
            </a:pPr>
            <a:r>
              <a:rPr lang="zh-CN" altLang="en-US" dirty="0"/>
              <a:t>数据模型和</a:t>
            </a:r>
            <a:r>
              <a:rPr lang="en-US" altLang="zh-CN" dirty="0"/>
              <a:t>LLM</a:t>
            </a:r>
            <a:r>
              <a:rPr lang="zh-CN" altLang="en-US" dirty="0"/>
              <a:t>的映射</a:t>
            </a:r>
          </a:p>
        </p:txBody>
      </p:sp>
    </p:spTree>
    <p:extLst>
      <p:ext uri="{BB962C8B-B14F-4D97-AF65-F5344CB8AC3E}">
        <p14:creationId xmlns:p14="http://schemas.microsoft.com/office/powerpoint/2010/main" val="1934654312"/>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C337390-50D7-1B8B-5C72-C275E1CA81D2}"/>
              </a:ext>
            </a:extLst>
          </p:cNvPr>
          <p:cNvSpPr>
            <a:spLocks noGrp="1"/>
          </p:cNvSpPr>
          <p:nvPr>
            <p:ph type="title"/>
          </p:nvPr>
        </p:nvSpPr>
        <p:spPr/>
        <p:txBody>
          <a:bodyPr/>
          <a:lstStyle/>
          <a:p>
            <a:r>
              <a:rPr lang="en-US" altLang="zh-CN" dirty="0"/>
              <a:t>MHC </a:t>
            </a:r>
            <a:r>
              <a:rPr lang="zh-CN" altLang="en-US" dirty="0"/>
              <a:t>认知层级详细对照表 </a:t>
            </a:r>
            <a:r>
              <a:rPr lang="en-US" altLang="zh-CN" dirty="0"/>
              <a:t>(</a:t>
            </a:r>
            <a:r>
              <a:rPr lang="zh-CN" altLang="en-US" dirty="0"/>
              <a:t>通用版</a:t>
            </a:r>
            <a:r>
              <a:rPr lang="en-US" altLang="zh-CN" dirty="0"/>
              <a:t>)</a:t>
            </a:r>
            <a:endParaRPr lang="zh-CN" altLang="en-US" dirty="0"/>
          </a:p>
        </p:txBody>
      </p:sp>
      <p:graphicFrame>
        <p:nvGraphicFramePr>
          <p:cNvPr id="3" name="表格 2">
            <a:extLst>
              <a:ext uri="{FF2B5EF4-FFF2-40B4-BE49-F238E27FC236}">
                <a16:creationId xmlns:a16="http://schemas.microsoft.com/office/drawing/2014/main" id="{1CF92172-BB69-5570-7B50-B068FA915835}"/>
              </a:ext>
            </a:extLst>
          </p:cNvPr>
          <p:cNvGraphicFramePr>
            <a:graphicFrameLocks noGrp="1"/>
          </p:cNvGraphicFramePr>
          <p:nvPr>
            <p:extLst>
              <p:ext uri="{D42A27DB-BD31-4B8C-83A1-F6EECF244321}">
                <p14:modId xmlns:p14="http://schemas.microsoft.com/office/powerpoint/2010/main" val="2391444408"/>
              </p:ext>
            </p:extLst>
          </p:nvPr>
        </p:nvGraphicFramePr>
        <p:xfrm>
          <a:off x="319760" y="723667"/>
          <a:ext cx="11752563" cy="5957627"/>
        </p:xfrm>
        <a:graphic>
          <a:graphicData uri="http://schemas.openxmlformats.org/drawingml/2006/table">
            <a:tbl>
              <a:tblPr firstRow="1" firstCol="1"/>
              <a:tblGrid>
                <a:gridCol w="320363">
                  <a:extLst>
                    <a:ext uri="{9D8B030D-6E8A-4147-A177-3AD203B41FA5}">
                      <a16:colId xmlns:a16="http://schemas.microsoft.com/office/drawing/2014/main" val="3998629808"/>
                    </a:ext>
                  </a:extLst>
                </a:gridCol>
                <a:gridCol w="902456">
                  <a:extLst>
                    <a:ext uri="{9D8B030D-6E8A-4147-A177-3AD203B41FA5}">
                      <a16:colId xmlns:a16="http://schemas.microsoft.com/office/drawing/2014/main" val="803818247"/>
                    </a:ext>
                  </a:extLst>
                </a:gridCol>
                <a:gridCol w="2254527">
                  <a:extLst>
                    <a:ext uri="{9D8B030D-6E8A-4147-A177-3AD203B41FA5}">
                      <a16:colId xmlns:a16="http://schemas.microsoft.com/office/drawing/2014/main" val="786753662"/>
                    </a:ext>
                  </a:extLst>
                </a:gridCol>
                <a:gridCol w="3813269">
                  <a:extLst>
                    <a:ext uri="{9D8B030D-6E8A-4147-A177-3AD203B41FA5}">
                      <a16:colId xmlns:a16="http://schemas.microsoft.com/office/drawing/2014/main" val="764321177"/>
                    </a:ext>
                  </a:extLst>
                </a:gridCol>
                <a:gridCol w="3351381">
                  <a:extLst>
                    <a:ext uri="{9D8B030D-6E8A-4147-A177-3AD203B41FA5}">
                      <a16:colId xmlns:a16="http://schemas.microsoft.com/office/drawing/2014/main" val="589465462"/>
                    </a:ext>
                  </a:extLst>
                </a:gridCol>
                <a:gridCol w="1110567">
                  <a:extLst>
                    <a:ext uri="{9D8B030D-6E8A-4147-A177-3AD203B41FA5}">
                      <a16:colId xmlns:a16="http://schemas.microsoft.com/office/drawing/2014/main" val="729495083"/>
                    </a:ext>
                  </a:extLst>
                </a:gridCol>
              </a:tblGrid>
              <a:tr h="293467">
                <a:tc>
                  <a:txBody>
                    <a:bodyPr/>
                    <a:lstStyle/>
                    <a:p>
                      <a:pPr rtl="0"/>
                      <a:r>
                        <a:rPr lang="zh-CN" altLang="en-US" sz="800" b="1">
                          <a:solidFill>
                            <a:srgbClr val="FFFFFF"/>
                          </a:solidFill>
                          <a:effectLst/>
                          <a:latin typeface="+mj-ea"/>
                          <a:ea typeface="+mj-ea"/>
                        </a:rPr>
                        <a:t>阶次</a:t>
                      </a:r>
                    </a:p>
                  </a:txBody>
                  <a:tcPr marL="8991" marR="8991" marT="5994" marB="5994"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rgbClr val="1C3879"/>
                    </a:solidFill>
                  </a:tcPr>
                </a:tc>
                <a:tc>
                  <a:txBody>
                    <a:bodyPr/>
                    <a:lstStyle/>
                    <a:p>
                      <a:pPr rtl="0"/>
                      <a:r>
                        <a:rPr lang="zh-CN" altLang="en-US" sz="800" b="1">
                          <a:solidFill>
                            <a:srgbClr val="FFFFFF"/>
                          </a:solidFill>
                          <a:effectLst/>
                          <a:latin typeface="+mj-ea"/>
                          <a:ea typeface="+mj-ea"/>
                        </a:rPr>
                        <a:t>阶段名称</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rgbClr val="1C3879"/>
                    </a:solidFill>
                  </a:tcPr>
                </a:tc>
                <a:tc>
                  <a:txBody>
                    <a:bodyPr/>
                    <a:lstStyle/>
                    <a:p>
                      <a:pPr rtl="0"/>
                      <a:r>
                        <a:rPr lang="zh-CN" altLang="en-US" sz="800" b="1">
                          <a:solidFill>
                            <a:srgbClr val="FFFFFF"/>
                          </a:solidFill>
                          <a:effectLst/>
                          <a:latin typeface="+mj-ea"/>
                          <a:ea typeface="+mj-ea"/>
                        </a:rPr>
                        <a:t>核心思维逻辑</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rgbClr val="1C3879"/>
                    </a:solidFill>
                  </a:tcPr>
                </a:tc>
                <a:tc>
                  <a:txBody>
                    <a:bodyPr/>
                    <a:lstStyle/>
                    <a:p>
                      <a:pPr rtl="0"/>
                      <a:r>
                        <a:rPr lang="zh-CN" altLang="en-US" sz="800" b="1">
                          <a:solidFill>
                            <a:srgbClr val="FFFFFF"/>
                          </a:solidFill>
                          <a:effectLst/>
                          <a:latin typeface="+mj-ea"/>
                          <a:ea typeface="+mj-ea"/>
                        </a:rPr>
                        <a:t>详细特征描述</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rgbClr val="1C3879"/>
                    </a:solidFill>
                  </a:tcPr>
                </a:tc>
                <a:tc>
                  <a:txBody>
                    <a:bodyPr/>
                    <a:lstStyle/>
                    <a:p>
                      <a:pPr rtl="0"/>
                      <a:r>
                        <a:rPr lang="zh-CN" altLang="en-US" sz="800" b="1">
                          <a:solidFill>
                            <a:srgbClr val="FFFFFF"/>
                          </a:solidFill>
                          <a:effectLst/>
                          <a:latin typeface="+mj-ea"/>
                          <a:ea typeface="+mj-ea"/>
                        </a:rPr>
                        <a:t>耳熟能详的例子 </a:t>
                      </a:r>
                      <a:r>
                        <a:rPr lang="en-US" altLang="zh-CN" sz="800" b="1">
                          <a:solidFill>
                            <a:srgbClr val="FFFFFF"/>
                          </a:solidFill>
                          <a:effectLst/>
                          <a:latin typeface="+mj-ea"/>
                          <a:ea typeface="+mj-ea"/>
                        </a:rPr>
                        <a:t>(</a:t>
                      </a:r>
                      <a:r>
                        <a:rPr lang="zh-CN" altLang="en-US" sz="800" b="1">
                          <a:solidFill>
                            <a:srgbClr val="FFFFFF"/>
                          </a:solidFill>
                          <a:effectLst/>
                          <a:latin typeface="+mj-ea"/>
                          <a:ea typeface="+mj-ea"/>
                        </a:rPr>
                        <a:t>生活</a:t>
                      </a:r>
                      <a:r>
                        <a:rPr lang="en-US" altLang="zh-CN" sz="800" b="1">
                          <a:solidFill>
                            <a:srgbClr val="FFFFFF"/>
                          </a:solidFill>
                          <a:effectLst/>
                          <a:latin typeface="+mj-ea"/>
                          <a:ea typeface="+mj-ea"/>
                        </a:rPr>
                        <a:t>/</a:t>
                      </a:r>
                      <a:r>
                        <a:rPr lang="zh-CN" altLang="en-US" sz="800" b="1">
                          <a:solidFill>
                            <a:srgbClr val="FFFFFF"/>
                          </a:solidFill>
                          <a:effectLst/>
                          <a:latin typeface="+mj-ea"/>
                          <a:ea typeface="+mj-ea"/>
                        </a:rPr>
                        <a:t>职场</a:t>
                      </a:r>
                      <a:r>
                        <a:rPr lang="en-US" altLang="zh-CN" sz="800" b="1">
                          <a:solidFill>
                            <a:srgbClr val="FFFFFF"/>
                          </a:solidFill>
                          <a:effectLst/>
                          <a:latin typeface="+mj-ea"/>
                          <a:ea typeface="+mj-ea"/>
                        </a:rPr>
                        <a:t>/</a:t>
                      </a:r>
                      <a:r>
                        <a:rPr lang="zh-CN" altLang="en-US" sz="800" b="1">
                          <a:solidFill>
                            <a:srgbClr val="FFFFFF"/>
                          </a:solidFill>
                          <a:effectLst/>
                          <a:latin typeface="+mj-ea"/>
                          <a:ea typeface="+mj-ea"/>
                        </a:rPr>
                        <a:t>历史</a:t>
                      </a:r>
                      <a:r>
                        <a:rPr lang="en-US" altLang="zh-CN" sz="800" b="1">
                          <a:solidFill>
                            <a:srgbClr val="FFFFFF"/>
                          </a:solidFill>
                          <a:effectLst/>
                          <a:latin typeface="+mj-ea"/>
                          <a:ea typeface="+mj-ea"/>
                        </a:rPr>
                        <a:t>)</a:t>
                      </a:r>
                      <a:endParaRPr lang="zh-CN" altLang="en-US" sz="800" b="1">
                        <a:solidFill>
                          <a:srgbClr val="FFFFFF"/>
                        </a:solidFill>
                        <a:effectLst/>
                        <a:latin typeface="+mj-ea"/>
                        <a:ea typeface="+mj-ea"/>
                      </a:endParaRPr>
                    </a:p>
                  </a:txBody>
                  <a:tcPr marL="8991" marR="8991" marT="5994" marB="5994"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rgbClr val="1C3879"/>
                    </a:solidFill>
                  </a:tcPr>
                </a:tc>
                <a:tc>
                  <a:txBody>
                    <a:bodyPr/>
                    <a:lstStyle/>
                    <a:p>
                      <a:pPr rtl="0"/>
                      <a:r>
                        <a:rPr lang="zh-CN" altLang="en-US" sz="800" b="1" dirty="0">
                          <a:solidFill>
                            <a:srgbClr val="FFFFFF"/>
                          </a:solidFill>
                          <a:effectLst/>
                          <a:latin typeface="+mj-ea"/>
                          <a:ea typeface="+mj-ea"/>
                        </a:rPr>
                        <a:t>成年人口估算</a:t>
                      </a:r>
                    </a:p>
                  </a:txBody>
                  <a:tcPr marL="8991" marR="8991" marT="5994" marB="599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extLst>
                  <a:ext uri="{0D108BD9-81ED-4DB2-BD59-A6C34878D82A}">
                    <a16:rowId xmlns:a16="http://schemas.microsoft.com/office/drawing/2014/main" val="3855351312"/>
                  </a:ext>
                </a:extLst>
              </a:tr>
              <a:tr h="852897">
                <a:tc>
                  <a:txBody>
                    <a:bodyPr/>
                    <a:lstStyle/>
                    <a:p>
                      <a:pPr rtl="0"/>
                      <a:r>
                        <a:rPr lang="en-US" altLang="zh-CN" sz="800" b="1">
                          <a:solidFill>
                            <a:srgbClr val="000000"/>
                          </a:solidFill>
                          <a:effectLst/>
                          <a:latin typeface="+mj-ea"/>
                          <a:ea typeface="+mj-ea"/>
                        </a:rPr>
                        <a:t>9</a:t>
                      </a:r>
                      <a:endParaRPr lang="zh-CN" altLang="en-US" sz="800" b="1">
                        <a:solidFill>
                          <a:srgbClr val="000000"/>
                        </a:solidFill>
                        <a:effectLst/>
                        <a:latin typeface="+mj-ea"/>
                        <a:ea typeface="+mj-ea"/>
                      </a:endParaRPr>
                    </a:p>
                  </a:txBody>
                  <a:tcPr marL="8991" marR="8991" marT="5994" marB="5994"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C5D5ED"/>
                    </a:solidFill>
                  </a:tcPr>
                </a:tc>
                <a:tc>
                  <a:txBody>
                    <a:bodyPr/>
                    <a:lstStyle/>
                    <a:p>
                      <a:pPr algn="l" rtl="0"/>
                      <a:r>
                        <a:rPr lang="zh-CN" altLang="en-US" sz="800" b="1">
                          <a:solidFill>
                            <a:srgbClr val="000000"/>
                          </a:solidFill>
                          <a:effectLst/>
                          <a:latin typeface="+mj-ea"/>
                          <a:ea typeface="+mj-ea"/>
                        </a:rPr>
                        <a:t>具体运算</a:t>
                      </a:r>
                      <a:endParaRPr lang="zh-CN" altLang="en-US" sz="800">
                        <a:solidFill>
                          <a:srgbClr val="000000"/>
                        </a:solidFill>
                        <a:effectLst/>
                        <a:latin typeface="+mj-ea"/>
                        <a:ea typeface="+mj-ea"/>
                      </a:endParaRPr>
                    </a:p>
                    <a:p>
                      <a:pPr algn="l" rtl="0"/>
                      <a:br>
                        <a:rPr lang="zh-CN" altLang="en-US" sz="800">
                          <a:solidFill>
                            <a:srgbClr val="000000"/>
                          </a:solidFill>
                          <a:effectLst/>
                          <a:latin typeface="+mj-ea"/>
                          <a:ea typeface="+mj-ea"/>
                        </a:rPr>
                      </a:br>
                      <a:r>
                        <a:rPr lang="en-US" altLang="zh-CN" sz="800">
                          <a:solidFill>
                            <a:srgbClr val="000000"/>
                          </a:solidFill>
                          <a:effectLst/>
                          <a:latin typeface="+mj-ea"/>
                          <a:ea typeface="+mj-ea"/>
                        </a:rPr>
                        <a:t>(</a:t>
                      </a:r>
                      <a:r>
                        <a:rPr lang="en-US" sz="800">
                          <a:solidFill>
                            <a:srgbClr val="000000"/>
                          </a:solidFill>
                          <a:effectLst/>
                          <a:latin typeface="+mj-ea"/>
                          <a:ea typeface="+mj-ea"/>
                        </a:rPr>
                        <a:t>Concrete)</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zh-CN" altLang="en-US" sz="800" b="1" dirty="0">
                          <a:solidFill>
                            <a:srgbClr val="000000"/>
                          </a:solidFill>
                          <a:effectLst/>
                          <a:latin typeface="+mj-ea"/>
                          <a:ea typeface="+mj-ea"/>
                        </a:rPr>
                        <a:t>守恒、线性、规则</a:t>
                      </a:r>
                      <a:endParaRPr lang="zh-CN" altLang="en-US" sz="800" dirty="0">
                        <a:solidFill>
                          <a:srgbClr val="000000"/>
                        </a:solidFill>
                        <a:effectLst/>
                        <a:latin typeface="+mj-ea"/>
                        <a:ea typeface="+mj-ea"/>
                      </a:endParaRPr>
                    </a:p>
                    <a:p>
                      <a:pPr algn="l" rtl="0"/>
                      <a:r>
                        <a:rPr lang="zh-CN" altLang="en-US" sz="800" dirty="0">
                          <a:solidFill>
                            <a:srgbClr val="000000"/>
                          </a:solidFill>
                          <a:effectLst/>
                          <a:latin typeface="+mj-ea"/>
                          <a:ea typeface="+mj-ea"/>
                        </a:rPr>
                        <a:t>思维依赖具体的事物和既定的规则。非黑即白，难以理解变通。</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zh-CN" altLang="en-US" sz="800" b="1" dirty="0">
                          <a:solidFill>
                            <a:srgbClr val="000000"/>
                          </a:solidFill>
                          <a:effectLst/>
                          <a:latin typeface="+mj-ea"/>
                          <a:ea typeface="+mj-ea"/>
                        </a:rPr>
                        <a:t>“照章办事型”</a:t>
                      </a:r>
                      <a:endParaRPr lang="zh-CN" altLang="en-US" sz="800" dirty="0">
                        <a:solidFill>
                          <a:srgbClr val="000000"/>
                        </a:solidFill>
                        <a:effectLst/>
                        <a:latin typeface="+mj-ea"/>
                        <a:ea typeface="+mj-ea"/>
                      </a:endParaRPr>
                    </a:p>
                    <a:p>
                      <a:pPr marL="228600" indent="-228600" algn="l" rtl="0">
                        <a:buFont typeface="+mj-lt"/>
                        <a:buAutoNum type="arabicPeriod"/>
                      </a:pPr>
                      <a:r>
                        <a:rPr lang="zh-CN" altLang="en-US" sz="800" b="1" dirty="0">
                          <a:solidFill>
                            <a:srgbClr val="000000"/>
                          </a:solidFill>
                          <a:effectLst/>
                          <a:latin typeface="+mj-ea"/>
                          <a:ea typeface="+mj-ea"/>
                        </a:rPr>
                        <a:t>真理观</a:t>
                      </a:r>
                      <a:r>
                        <a:rPr lang="zh-CN" altLang="en-US" sz="800" dirty="0">
                          <a:solidFill>
                            <a:srgbClr val="000000"/>
                          </a:solidFill>
                          <a:effectLst/>
                          <a:latin typeface="+mj-ea"/>
                          <a:ea typeface="+mj-ea"/>
                        </a:rPr>
                        <a:t>：真理是外部权威（父母、老师、法律）规定的。书上怎么说，我就怎么做。</a:t>
                      </a:r>
                    </a:p>
                    <a:p>
                      <a:pPr marL="228600" indent="-228600" algn="l" rtl="0">
                        <a:buFont typeface="+mj-lt"/>
                        <a:buAutoNum type="arabicPeriod"/>
                      </a:pPr>
                      <a:r>
                        <a:rPr lang="zh-CN" altLang="en-US" sz="800" b="1" dirty="0">
                          <a:solidFill>
                            <a:srgbClr val="000000"/>
                          </a:solidFill>
                          <a:effectLst/>
                          <a:latin typeface="+mj-ea"/>
                          <a:ea typeface="+mj-ea"/>
                        </a:rPr>
                        <a:t>社交</a:t>
                      </a:r>
                      <a:r>
                        <a:rPr lang="zh-CN" altLang="en-US" sz="800" dirty="0">
                          <a:solidFill>
                            <a:srgbClr val="000000"/>
                          </a:solidFill>
                          <a:effectLst/>
                          <a:latin typeface="+mj-ea"/>
                          <a:ea typeface="+mj-ea"/>
                        </a:rPr>
                        <a:t>：看重具体的互惠（你给我一颗糖，我还你一颗糖）。</a:t>
                      </a:r>
                    </a:p>
                    <a:p>
                      <a:pPr marL="228600" indent="-228600" algn="l" rtl="0">
                        <a:buFont typeface="+mj-lt"/>
                        <a:buAutoNum type="arabicPeriod"/>
                      </a:pPr>
                      <a:r>
                        <a:rPr lang="zh-CN" altLang="en-US" sz="800" b="1" dirty="0">
                          <a:solidFill>
                            <a:srgbClr val="000000"/>
                          </a:solidFill>
                          <a:effectLst/>
                          <a:latin typeface="+mj-ea"/>
                          <a:ea typeface="+mj-ea"/>
                        </a:rPr>
                        <a:t>盲点</a:t>
                      </a:r>
                      <a:r>
                        <a:rPr lang="zh-CN" altLang="en-US" sz="800" dirty="0">
                          <a:solidFill>
                            <a:srgbClr val="000000"/>
                          </a:solidFill>
                          <a:effectLst/>
                          <a:latin typeface="+mj-ea"/>
                          <a:ea typeface="+mj-ea"/>
                        </a:rPr>
                        <a:t>：无法理解“语境”和“反讽”，只能听懂字面意思。</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en-US" altLang="zh-CN" sz="800" b="1" dirty="0">
                          <a:solidFill>
                            <a:srgbClr val="000000"/>
                          </a:solidFill>
                          <a:effectLst/>
                          <a:latin typeface="+mj-ea"/>
                          <a:ea typeface="+mj-ea"/>
                        </a:rPr>
                        <a:t>1. </a:t>
                      </a:r>
                      <a:r>
                        <a:rPr lang="zh-CN" altLang="en-US" sz="800" b="1" dirty="0">
                          <a:solidFill>
                            <a:srgbClr val="000000"/>
                          </a:solidFill>
                          <a:effectLst/>
                          <a:latin typeface="+mj-ea"/>
                          <a:ea typeface="+mj-ea"/>
                        </a:rPr>
                        <a:t>办事窗口的刻板职员</a:t>
                      </a:r>
                      <a:r>
                        <a:rPr lang="zh-CN" altLang="en-US" sz="800" dirty="0">
                          <a:solidFill>
                            <a:srgbClr val="000000"/>
                          </a:solidFill>
                          <a:effectLst/>
                          <a:latin typeface="+mj-ea"/>
                          <a:ea typeface="+mj-ea"/>
                        </a:rPr>
                        <a:t>：</a:t>
                      </a:r>
                    </a:p>
                    <a:p>
                      <a:pPr algn="l" rtl="0"/>
                      <a:r>
                        <a:rPr lang="zh-CN" altLang="en-US" sz="800" dirty="0">
                          <a:solidFill>
                            <a:srgbClr val="000000"/>
                          </a:solidFill>
                          <a:effectLst/>
                          <a:latin typeface="+mj-ea"/>
                          <a:ea typeface="+mj-ea"/>
                        </a:rPr>
                        <a:t>“表格这里必须填黑色墨水，蓝色不行，哪怕内容都对也不行。”（只认规则，不认目的）</a:t>
                      </a:r>
                    </a:p>
                    <a:p>
                      <a:pPr algn="l" rtl="0"/>
                      <a:r>
                        <a:rPr lang="en-US" altLang="zh-CN" sz="800" b="1" dirty="0">
                          <a:solidFill>
                            <a:srgbClr val="000000"/>
                          </a:solidFill>
                          <a:effectLst/>
                          <a:latin typeface="+mj-ea"/>
                          <a:ea typeface="+mj-ea"/>
                        </a:rPr>
                        <a:t>2. </a:t>
                      </a:r>
                      <a:r>
                        <a:rPr lang="zh-CN" altLang="en-US" sz="800" b="1" dirty="0">
                          <a:solidFill>
                            <a:srgbClr val="000000"/>
                          </a:solidFill>
                          <a:effectLst/>
                          <a:latin typeface="+mj-ea"/>
                          <a:ea typeface="+mj-ea"/>
                        </a:rPr>
                        <a:t>传统的长辈</a:t>
                      </a:r>
                      <a:r>
                        <a:rPr lang="zh-CN" altLang="en-US" sz="800" dirty="0">
                          <a:solidFill>
                            <a:srgbClr val="000000"/>
                          </a:solidFill>
                          <a:effectLst/>
                          <a:latin typeface="+mj-ea"/>
                          <a:ea typeface="+mj-ea"/>
                        </a:rPr>
                        <a:t>：</a:t>
                      </a:r>
                    </a:p>
                    <a:p>
                      <a:pPr algn="l" rtl="0"/>
                      <a:r>
                        <a:rPr lang="zh-CN" altLang="en-US" sz="800" dirty="0">
                          <a:solidFill>
                            <a:srgbClr val="000000"/>
                          </a:solidFill>
                          <a:effectLst/>
                          <a:latin typeface="+mj-ea"/>
                          <a:ea typeface="+mj-ea"/>
                        </a:rPr>
                        <a:t>“吃饭必须把碗端起来，不端就是不孝顺。”（将具体行为直接等同于抽象道德）</a:t>
                      </a:r>
                    </a:p>
                  </a:txBody>
                  <a:tcPr marL="8991" marR="8991" marT="5994" marB="5994"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en-US" altLang="zh-CN" sz="800" b="1" dirty="0">
                          <a:solidFill>
                            <a:srgbClr val="000000"/>
                          </a:solidFill>
                          <a:effectLst/>
                          <a:latin typeface="+mj-ea"/>
                          <a:ea typeface="+mj-ea"/>
                        </a:rPr>
                        <a:t>30% - 40%</a:t>
                      </a:r>
                      <a:endParaRPr lang="zh-CN" altLang="en-US" sz="800" dirty="0">
                        <a:solidFill>
                          <a:srgbClr val="000000"/>
                        </a:solidFill>
                        <a:effectLst/>
                        <a:latin typeface="+mj-ea"/>
                        <a:ea typeface="+mj-ea"/>
                      </a:endParaRPr>
                    </a:p>
                    <a:p>
                      <a:pPr algn="l" rtl="0"/>
                      <a:br>
                        <a:rPr lang="zh-CN" altLang="en-US" sz="800" dirty="0">
                          <a:solidFill>
                            <a:srgbClr val="000000"/>
                          </a:solidFill>
                          <a:effectLst/>
                          <a:latin typeface="+mj-ea"/>
                          <a:ea typeface="+mj-ea"/>
                        </a:rPr>
                      </a:br>
                      <a:r>
                        <a:rPr lang="en-US" altLang="zh-CN" sz="800" dirty="0">
                          <a:solidFill>
                            <a:srgbClr val="000000"/>
                          </a:solidFill>
                          <a:effectLst/>
                          <a:latin typeface="+mj-ea"/>
                          <a:ea typeface="+mj-ea"/>
                        </a:rPr>
                        <a:t>(</a:t>
                      </a:r>
                      <a:r>
                        <a:rPr lang="zh-CN" altLang="en-US" sz="800" dirty="0">
                          <a:solidFill>
                            <a:srgbClr val="000000"/>
                          </a:solidFill>
                          <a:effectLst/>
                          <a:latin typeface="+mj-ea"/>
                          <a:ea typeface="+mj-ea"/>
                        </a:rPr>
                        <a:t>社会运转的基石</a:t>
                      </a:r>
                      <a:r>
                        <a:rPr lang="en-US" altLang="zh-CN" sz="800" dirty="0">
                          <a:solidFill>
                            <a:srgbClr val="000000"/>
                          </a:solidFill>
                          <a:effectLst/>
                          <a:latin typeface="+mj-ea"/>
                          <a:ea typeface="+mj-ea"/>
                        </a:rPr>
                        <a:t>)</a:t>
                      </a:r>
                    </a:p>
                  </a:txBody>
                  <a:tcPr marL="8991" marR="8991" marT="5994" marB="599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899597819"/>
                  </a:ext>
                </a:extLst>
              </a:tr>
              <a:tr h="949575">
                <a:tc>
                  <a:txBody>
                    <a:bodyPr/>
                    <a:lstStyle/>
                    <a:p>
                      <a:pPr rtl="0"/>
                      <a:r>
                        <a:rPr lang="en-US" altLang="zh-CN" sz="800" b="1">
                          <a:solidFill>
                            <a:srgbClr val="000000"/>
                          </a:solidFill>
                          <a:effectLst/>
                          <a:latin typeface="+mj-ea"/>
                          <a:ea typeface="+mj-ea"/>
                        </a:rPr>
                        <a:t>10</a:t>
                      </a:r>
                      <a:endParaRPr lang="zh-CN" altLang="en-US" sz="800" b="1">
                        <a:solidFill>
                          <a:srgbClr val="000000"/>
                        </a:solidFill>
                        <a:effectLst/>
                        <a:latin typeface="+mj-ea"/>
                        <a:ea typeface="+mj-ea"/>
                      </a:endParaRPr>
                    </a:p>
                  </a:txBody>
                  <a:tcPr marL="8991" marR="8991" marT="5994" marB="5994"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C5D5ED"/>
                    </a:solidFill>
                  </a:tcPr>
                </a:tc>
                <a:tc>
                  <a:txBody>
                    <a:bodyPr/>
                    <a:lstStyle/>
                    <a:p>
                      <a:pPr algn="l" rtl="0"/>
                      <a:r>
                        <a:rPr lang="zh-CN" altLang="en-US" sz="800" b="1">
                          <a:solidFill>
                            <a:srgbClr val="000000"/>
                          </a:solidFill>
                          <a:effectLst/>
                          <a:latin typeface="+mj-ea"/>
                          <a:ea typeface="+mj-ea"/>
                        </a:rPr>
                        <a:t>抽象运算</a:t>
                      </a:r>
                      <a:endParaRPr lang="zh-CN" altLang="en-US" sz="800">
                        <a:solidFill>
                          <a:srgbClr val="000000"/>
                        </a:solidFill>
                        <a:effectLst/>
                        <a:latin typeface="+mj-ea"/>
                        <a:ea typeface="+mj-ea"/>
                      </a:endParaRPr>
                    </a:p>
                    <a:p>
                      <a:pPr algn="l" rtl="0"/>
                      <a:br>
                        <a:rPr lang="zh-CN" altLang="en-US" sz="800">
                          <a:solidFill>
                            <a:srgbClr val="000000"/>
                          </a:solidFill>
                          <a:effectLst/>
                          <a:latin typeface="+mj-ea"/>
                          <a:ea typeface="+mj-ea"/>
                        </a:rPr>
                      </a:br>
                      <a:r>
                        <a:rPr lang="en-US" altLang="zh-CN" sz="800">
                          <a:solidFill>
                            <a:srgbClr val="000000"/>
                          </a:solidFill>
                          <a:effectLst/>
                          <a:latin typeface="+mj-ea"/>
                          <a:ea typeface="+mj-ea"/>
                        </a:rPr>
                        <a:t>(</a:t>
                      </a:r>
                      <a:r>
                        <a:rPr lang="en-US" sz="800">
                          <a:solidFill>
                            <a:srgbClr val="000000"/>
                          </a:solidFill>
                          <a:effectLst/>
                          <a:latin typeface="+mj-ea"/>
                          <a:ea typeface="+mj-ea"/>
                        </a:rPr>
                        <a:t>Abstract)</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zh-CN" altLang="en-US" sz="800" b="1">
                          <a:solidFill>
                            <a:srgbClr val="000000"/>
                          </a:solidFill>
                          <a:effectLst/>
                          <a:latin typeface="+mj-ea"/>
                          <a:ea typeface="+mj-ea"/>
                        </a:rPr>
                        <a:t>变量提取、定性</a:t>
                      </a:r>
                      <a:endParaRPr lang="zh-CN" altLang="en-US" sz="800">
                        <a:solidFill>
                          <a:srgbClr val="000000"/>
                        </a:solidFill>
                        <a:effectLst/>
                        <a:latin typeface="+mj-ea"/>
                        <a:ea typeface="+mj-ea"/>
                      </a:endParaRPr>
                    </a:p>
                    <a:p>
                      <a:pPr algn="l" rtl="0"/>
                      <a:br>
                        <a:rPr lang="zh-CN" altLang="en-US" sz="800">
                          <a:solidFill>
                            <a:srgbClr val="000000"/>
                          </a:solidFill>
                          <a:effectLst/>
                          <a:latin typeface="+mj-ea"/>
                          <a:ea typeface="+mj-ea"/>
                        </a:rPr>
                      </a:br>
                      <a:r>
                        <a:rPr lang="zh-CN" altLang="en-US" sz="800">
                          <a:solidFill>
                            <a:srgbClr val="000000"/>
                          </a:solidFill>
                          <a:effectLst/>
                          <a:latin typeface="+mj-ea"/>
                          <a:ea typeface="+mj-ea"/>
                        </a:rPr>
                        <a:t>能形成抽象概念（如“成功”、“友谊”），但定义模糊，依赖社会共识。</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zh-CN" altLang="en-US" sz="800" b="1" dirty="0">
                          <a:solidFill>
                            <a:srgbClr val="000000"/>
                          </a:solidFill>
                          <a:effectLst/>
                          <a:latin typeface="+mj-ea"/>
                          <a:ea typeface="+mj-ea"/>
                        </a:rPr>
                        <a:t>“随大流</a:t>
                      </a:r>
                      <a:r>
                        <a:rPr lang="en-US" altLang="zh-CN" sz="800" b="1" dirty="0">
                          <a:solidFill>
                            <a:srgbClr val="000000"/>
                          </a:solidFill>
                          <a:effectLst/>
                          <a:latin typeface="+mj-ea"/>
                          <a:ea typeface="+mj-ea"/>
                        </a:rPr>
                        <a:t>/</a:t>
                      </a:r>
                      <a:r>
                        <a:rPr lang="zh-CN" altLang="en-US" sz="800" b="1" dirty="0">
                          <a:solidFill>
                            <a:srgbClr val="000000"/>
                          </a:solidFill>
                          <a:effectLst/>
                          <a:latin typeface="+mj-ea"/>
                          <a:ea typeface="+mj-ea"/>
                        </a:rPr>
                        <a:t>标签型”</a:t>
                      </a:r>
                      <a:endParaRPr lang="zh-CN" altLang="en-US" sz="800" dirty="0">
                        <a:solidFill>
                          <a:srgbClr val="000000"/>
                        </a:solidFill>
                        <a:effectLst/>
                        <a:latin typeface="+mj-ea"/>
                        <a:ea typeface="+mj-ea"/>
                      </a:endParaRPr>
                    </a:p>
                    <a:p>
                      <a:pPr marL="228600" indent="-228600" algn="l" rtl="0">
                        <a:buFont typeface="+mj-lt"/>
                        <a:buAutoNum type="arabicPeriod"/>
                      </a:pPr>
                      <a:r>
                        <a:rPr lang="zh-CN" altLang="en-US" sz="800" b="1" dirty="0">
                          <a:solidFill>
                            <a:srgbClr val="000000"/>
                          </a:solidFill>
                          <a:effectLst/>
                          <a:latin typeface="+mj-ea"/>
                          <a:ea typeface="+mj-ea"/>
                        </a:rPr>
                        <a:t>真理观</a:t>
                      </a:r>
                      <a:r>
                        <a:rPr lang="zh-CN" altLang="en-US" sz="800" dirty="0">
                          <a:solidFill>
                            <a:srgbClr val="000000"/>
                          </a:solidFill>
                          <a:effectLst/>
                          <a:latin typeface="+mj-ea"/>
                          <a:ea typeface="+mj-ea"/>
                        </a:rPr>
                        <a:t>：真理是“大家都这么认为”。容易被群体情绪煽动。</a:t>
                      </a:r>
                    </a:p>
                    <a:p>
                      <a:pPr marL="228600" indent="-228600" algn="l" rtl="0">
                        <a:buFont typeface="+mj-lt"/>
                        <a:buAutoNum type="arabicPeriod"/>
                      </a:pPr>
                      <a:r>
                        <a:rPr lang="zh-CN" altLang="en-US" sz="800" b="1" dirty="0">
                          <a:solidFill>
                            <a:srgbClr val="000000"/>
                          </a:solidFill>
                          <a:effectLst/>
                          <a:latin typeface="+mj-ea"/>
                          <a:ea typeface="+mj-ea"/>
                        </a:rPr>
                        <a:t>沟通</a:t>
                      </a:r>
                      <a:r>
                        <a:rPr lang="zh-CN" altLang="en-US" sz="800" dirty="0">
                          <a:solidFill>
                            <a:srgbClr val="000000"/>
                          </a:solidFill>
                          <a:effectLst/>
                          <a:latin typeface="+mj-ea"/>
                          <a:ea typeface="+mj-ea"/>
                        </a:rPr>
                        <a:t>：使用大词（“正能量”、“格局”），但如果你问他这些词的具体定义，他答不上来，或者会生气。</a:t>
                      </a:r>
                    </a:p>
                    <a:p>
                      <a:pPr marL="228600" indent="-228600" algn="l" rtl="0">
                        <a:buFont typeface="+mj-lt"/>
                        <a:buAutoNum type="arabicPeriod"/>
                      </a:pPr>
                      <a:r>
                        <a:rPr lang="zh-CN" altLang="en-US" sz="800" b="1" dirty="0">
                          <a:solidFill>
                            <a:srgbClr val="000000"/>
                          </a:solidFill>
                          <a:effectLst/>
                          <a:latin typeface="+mj-ea"/>
                          <a:ea typeface="+mj-ea"/>
                        </a:rPr>
                        <a:t>盲点</a:t>
                      </a:r>
                      <a:r>
                        <a:rPr lang="zh-CN" altLang="en-US" sz="800" dirty="0">
                          <a:solidFill>
                            <a:srgbClr val="000000"/>
                          </a:solidFill>
                          <a:effectLst/>
                          <a:latin typeface="+mj-ea"/>
                          <a:ea typeface="+mj-ea"/>
                        </a:rPr>
                        <a:t>：容易陷入刻板印象，把人简单分类（好人</a:t>
                      </a:r>
                      <a:r>
                        <a:rPr lang="en-US" altLang="zh-CN" sz="800" dirty="0">
                          <a:solidFill>
                            <a:srgbClr val="000000"/>
                          </a:solidFill>
                          <a:effectLst/>
                          <a:latin typeface="+mj-ea"/>
                          <a:ea typeface="+mj-ea"/>
                        </a:rPr>
                        <a:t>/</a:t>
                      </a:r>
                      <a:r>
                        <a:rPr lang="zh-CN" altLang="en-US" sz="800" dirty="0">
                          <a:solidFill>
                            <a:srgbClr val="000000"/>
                          </a:solidFill>
                          <a:effectLst/>
                          <a:latin typeface="+mj-ea"/>
                          <a:ea typeface="+mj-ea"/>
                        </a:rPr>
                        <a:t>坏人）。</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en-US" altLang="zh-CN" sz="800" b="1" dirty="0">
                          <a:solidFill>
                            <a:srgbClr val="000000"/>
                          </a:solidFill>
                          <a:effectLst/>
                          <a:latin typeface="+mj-ea"/>
                          <a:ea typeface="+mj-ea"/>
                        </a:rPr>
                        <a:t>1. </a:t>
                      </a:r>
                      <a:r>
                        <a:rPr lang="zh-CN" altLang="en-US" sz="800" b="1" dirty="0">
                          <a:solidFill>
                            <a:srgbClr val="000000"/>
                          </a:solidFill>
                          <a:effectLst/>
                          <a:latin typeface="+mj-ea"/>
                          <a:ea typeface="+mj-ea"/>
                        </a:rPr>
                        <a:t>青春期社交</a:t>
                      </a:r>
                      <a:r>
                        <a:rPr lang="en-US" altLang="zh-CN" sz="800" b="1" dirty="0">
                          <a:solidFill>
                            <a:srgbClr val="000000"/>
                          </a:solidFill>
                          <a:effectLst/>
                          <a:latin typeface="+mj-ea"/>
                          <a:ea typeface="+mj-ea"/>
                        </a:rPr>
                        <a:t>/</a:t>
                      </a:r>
                      <a:r>
                        <a:rPr lang="zh-CN" altLang="en-US" sz="800" b="1" dirty="0">
                          <a:solidFill>
                            <a:srgbClr val="000000"/>
                          </a:solidFill>
                          <a:effectLst/>
                          <a:latin typeface="+mj-ea"/>
                          <a:ea typeface="+mj-ea"/>
                        </a:rPr>
                        <a:t>饭圈思维</a:t>
                      </a:r>
                      <a:r>
                        <a:rPr lang="zh-CN" altLang="en-US" sz="800" dirty="0">
                          <a:solidFill>
                            <a:srgbClr val="000000"/>
                          </a:solidFill>
                          <a:effectLst/>
                          <a:latin typeface="+mj-ea"/>
                          <a:ea typeface="+mj-ea"/>
                        </a:rPr>
                        <a:t>：</a:t>
                      </a:r>
                    </a:p>
                    <a:p>
                      <a:pPr algn="l" rtl="0"/>
                      <a:r>
                        <a:rPr lang="zh-CN" altLang="en-US" sz="800" dirty="0">
                          <a:solidFill>
                            <a:srgbClr val="000000"/>
                          </a:solidFill>
                          <a:effectLst/>
                          <a:latin typeface="+mj-ea"/>
                          <a:ea typeface="+mj-ea"/>
                        </a:rPr>
                        <a:t>“我们要为了哥哥（偶像）而战！”（为了一个抽象的概念狂热，但逻辑经不起推敲）</a:t>
                      </a:r>
                    </a:p>
                    <a:p>
                      <a:pPr algn="l" rtl="0"/>
                      <a:r>
                        <a:rPr lang="en-US" altLang="zh-CN" sz="800" b="1" dirty="0">
                          <a:solidFill>
                            <a:srgbClr val="000000"/>
                          </a:solidFill>
                          <a:effectLst/>
                          <a:latin typeface="+mj-ea"/>
                          <a:ea typeface="+mj-ea"/>
                        </a:rPr>
                        <a:t>2. </a:t>
                      </a:r>
                      <a:r>
                        <a:rPr lang="zh-CN" altLang="en-US" sz="800" b="1" dirty="0">
                          <a:solidFill>
                            <a:srgbClr val="000000"/>
                          </a:solidFill>
                          <a:effectLst/>
                          <a:latin typeface="+mj-ea"/>
                          <a:ea typeface="+mj-ea"/>
                        </a:rPr>
                        <a:t>职场上的“差不多先生”</a:t>
                      </a:r>
                      <a:r>
                        <a:rPr lang="zh-CN" altLang="en-US" sz="800" dirty="0">
                          <a:solidFill>
                            <a:srgbClr val="000000"/>
                          </a:solidFill>
                          <a:effectLst/>
                          <a:latin typeface="+mj-ea"/>
                          <a:ea typeface="+mj-ea"/>
                        </a:rPr>
                        <a:t>：</a:t>
                      </a:r>
                    </a:p>
                    <a:p>
                      <a:pPr algn="l" rtl="0"/>
                      <a:r>
                        <a:rPr lang="zh-CN" altLang="en-US" sz="800" dirty="0">
                          <a:solidFill>
                            <a:srgbClr val="000000"/>
                          </a:solidFill>
                          <a:effectLst/>
                          <a:latin typeface="+mj-ea"/>
                          <a:ea typeface="+mj-ea"/>
                        </a:rPr>
                        <a:t>“我觉得这个方案没‘感觉’。”（无法量化哪里不好，纯凭模糊的主观直觉）</a:t>
                      </a:r>
                    </a:p>
                  </a:txBody>
                  <a:tcPr marL="8991" marR="8991" marT="5994" marB="5994"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en-US" altLang="zh-CN" sz="800" b="1" dirty="0">
                          <a:solidFill>
                            <a:srgbClr val="000000"/>
                          </a:solidFill>
                          <a:effectLst/>
                          <a:latin typeface="+mj-ea"/>
                          <a:ea typeface="+mj-ea"/>
                        </a:rPr>
                        <a:t>25% - 30%</a:t>
                      </a:r>
                      <a:endParaRPr lang="zh-CN" altLang="en-US" sz="800" dirty="0">
                        <a:solidFill>
                          <a:srgbClr val="000000"/>
                        </a:solidFill>
                        <a:effectLst/>
                        <a:latin typeface="+mj-ea"/>
                        <a:ea typeface="+mj-ea"/>
                      </a:endParaRPr>
                    </a:p>
                  </a:txBody>
                  <a:tcPr marL="8991" marR="8991" marT="5994" marB="599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3323855007"/>
                  </a:ext>
                </a:extLst>
              </a:tr>
              <a:tr h="881619">
                <a:tc>
                  <a:txBody>
                    <a:bodyPr/>
                    <a:lstStyle/>
                    <a:p>
                      <a:pPr rtl="0"/>
                      <a:r>
                        <a:rPr lang="en-US" altLang="zh-CN" sz="800" b="1" dirty="0">
                          <a:solidFill>
                            <a:srgbClr val="000000"/>
                          </a:solidFill>
                          <a:effectLst/>
                          <a:latin typeface="+mj-ea"/>
                          <a:ea typeface="+mj-ea"/>
                        </a:rPr>
                        <a:t>11</a:t>
                      </a:r>
                      <a:endParaRPr lang="zh-CN" altLang="en-US" sz="800" b="1" dirty="0">
                        <a:solidFill>
                          <a:srgbClr val="000000"/>
                        </a:solidFill>
                        <a:effectLst/>
                        <a:latin typeface="+mj-ea"/>
                        <a:ea typeface="+mj-ea"/>
                      </a:endParaRPr>
                    </a:p>
                  </a:txBody>
                  <a:tcPr marL="8991" marR="8991" marT="5994" marB="5994"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C5D5ED"/>
                    </a:solidFill>
                  </a:tcPr>
                </a:tc>
                <a:tc>
                  <a:txBody>
                    <a:bodyPr/>
                    <a:lstStyle/>
                    <a:p>
                      <a:pPr algn="l" rtl="0"/>
                      <a:r>
                        <a:rPr lang="zh-CN" altLang="en-US" sz="800" b="1">
                          <a:solidFill>
                            <a:srgbClr val="000000"/>
                          </a:solidFill>
                          <a:effectLst/>
                          <a:latin typeface="+mj-ea"/>
                          <a:ea typeface="+mj-ea"/>
                        </a:rPr>
                        <a:t>形式运算</a:t>
                      </a:r>
                      <a:endParaRPr lang="zh-CN" altLang="en-US" sz="800">
                        <a:solidFill>
                          <a:srgbClr val="000000"/>
                        </a:solidFill>
                        <a:effectLst/>
                        <a:latin typeface="+mj-ea"/>
                        <a:ea typeface="+mj-ea"/>
                      </a:endParaRPr>
                    </a:p>
                    <a:p>
                      <a:pPr algn="l" rtl="0"/>
                      <a:br>
                        <a:rPr lang="zh-CN" altLang="en-US" sz="800">
                          <a:solidFill>
                            <a:srgbClr val="000000"/>
                          </a:solidFill>
                          <a:effectLst/>
                          <a:latin typeface="+mj-ea"/>
                          <a:ea typeface="+mj-ea"/>
                        </a:rPr>
                      </a:br>
                      <a:r>
                        <a:rPr lang="en-US" altLang="zh-CN" sz="800">
                          <a:solidFill>
                            <a:srgbClr val="000000"/>
                          </a:solidFill>
                          <a:effectLst/>
                          <a:latin typeface="+mj-ea"/>
                          <a:ea typeface="+mj-ea"/>
                        </a:rPr>
                        <a:t>(</a:t>
                      </a:r>
                      <a:r>
                        <a:rPr lang="en-US" sz="800">
                          <a:solidFill>
                            <a:srgbClr val="000000"/>
                          </a:solidFill>
                          <a:effectLst/>
                          <a:latin typeface="+mj-ea"/>
                          <a:ea typeface="+mj-ea"/>
                        </a:rPr>
                        <a:t>Formal)</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zh-CN" altLang="en-US" sz="800" b="1">
                          <a:solidFill>
                            <a:srgbClr val="000000"/>
                          </a:solidFill>
                          <a:effectLst/>
                          <a:latin typeface="+mj-ea"/>
                          <a:ea typeface="+mj-ea"/>
                        </a:rPr>
                        <a:t>假设</a:t>
                      </a:r>
                      <a:r>
                        <a:rPr lang="en-US" altLang="zh-CN" sz="800" b="1">
                          <a:solidFill>
                            <a:srgbClr val="000000"/>
                          </a:solidFill>
                          <a:effectLst/>
                          <a:latin typeface="+mj-ea"/>
                          <a:ea typeface="+mj-ea"/>
                        </a:rPr>
                        <a:t>-</a:t>
                      </a:r>
                      <a:r>
                        <a:rPr lang="zh-CN" altLang="en-US" sz="800" b="1">
                          <a:solidFill>
                            <a:srgbClr val="000000"/>
                          </a:solidFill>
                          <a:effectLst/>
                          <a:latin typeface="+mj-ea"/>
                          <a:ea typeface="+mj-ea"/>
                        </a:rPr>
                        <a:t>演绎、线性逻辑</a:t>
                      </a:r>
                      <a:endParaRPr lang="zh-CN" altLang="en-US" sz="800">
                        <a:solidFill>
                          <a:srgbClr val="000000"/>
                        </a:solidFill>
                        <a:effectLst/>
                        <a:latin typeface="+mj-ea"/>
                        <a:ea typeface="+mj-ea"/>
                      </a:endParaRPr>
                    </a:p>
                    <a:p>
                      <a:pPr algn="l" rtl="0"/>
                      <a:br>
                        <a:rPr lang="zh-CN" altLang="en-US" sz="800">
                          <a:solidFill>
                            <a:srgbClr val="000000"/>
                          </a:solidFill>
                          <a:effectLst/>
                          <a:latin typeface="+mj-ea"/>
                          <a:ea typeface="+mj-ea"/>
                        </a:rPr>
                      </a:br>
                      <a:r>
                        <a:rPr lang="zh-CN" altLang="en-US" sz="800">
                          <a:solidFill>
                            <a:srgbClr val="000000"/>
                          </a:solidFill>
                          <a:effectLst/>
                          <a:latin typeface="+mj-ea"/>
                          <a:ea typeface="+mj-ea"/>
                        </a:rPr>
                        <a:t>因果关系明确。能控制变量，通过实证和逻辑推导寻找“正确答案”。</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zh-CN" altLang="en-US" sz="800" b="1" dirty="0">
                          <a:solidFill>
                            <a:srgbClr val="000000"/>
                          </a:solidFill>
                          <a:effectLst/>
                          <a:latin typeface="+mj-ea"/>
                          <a:ea typeface="+mj-ea"/>
                        </a:rPr>
                        <a:t>“工程师</a:t>
                      </a:r>
                      <a:r>
                        <a:rPr lang="en-US" altLang="zh-CN" sz="800" b="1" dirty="0">
                          <a:solidFill>
                            <a:srgbClr val="000000"/>
                          </a:solidFill>
                          <a:effectLst/>
                          <a:latin typeface="+mj-ea"/>
                          <a:ea typeface="+mj-ea"/>
                        </a:rPr>
                        <a:t>/</a:t>
                      </a:r>
                      <a:r>
                        <a:rPr lang="zh-CN" altLang="en-US" sz="800" b="1" dirty="0">
                          <a:solidFill>
                            <a:srgbClr val="000000"/>
                          </a:solidFill>
                          <a:effectLst/>
                          <a:latin typeface="+mj-ea"/>
                          <a:ea typeface="+mj-ea"/>
                        </a:rPr>
                        <a:t>专家型”</a:t>
                      </a:r>
                      <a:endParaRPr lang="zh-CN" altLang="en-US" sz="800" dirty="0">
                        <a:solidFill>
                          <a:srgbClr val="000000"/>
                        </a:solidFill>
                        <a:effectLst/>
                        <a:latin typeface="+mj-ea"/>
                        <a:ea typeface="+mj-ea"/>
                      </a:endParaRPr>
                    </a:p>
                    <a:p>
                      <a:pPr marL="228600" indent="-228600" algn="l" rtl="0">
                        <a:buFont typeface="+mj-lt"/>
                        <a:buAutoNum type="arabicPeriod"/>
                      </a:pPr>
                      <a:r>
                        <a:rPr lang="zh-CN" altLang="en-US" sz="800" b="1" dirty="0">
                          <a:solidFill>
                            <a:srgbClr val="000000"/>
                          </a:solidFill>
                          <a:effectLst/>
                          <a:latin typeface="+mj-ea"/>
                          <a:ea typeface="+mj-ea"/>
                        </a:rPr>
                        <a:t>真理观</a:t>
                      </a:r>
                      <a:r>
                        <a:rPr lang="zh-CN" altLang="en-US" sz="800" dirty="0">
                          <a:solidFill>
                            <a:srgbClr val="000000"/>
                          </a:solidFill>
                          <a:effectLst/>
                          <a:latin typeface="+mj-ea"/>
                          <a:ea typeface="+mj-ea"/>
                        </a:rPr>
                        <a:t>：真理是可以被证明的。相信数据、证据和逻辑推导。</a:t>
                      </a:r>
                    </a:p>
                    <a:p>
                      <a:pPr marL="228600" indent="-228600" algn="l" rtl="0">
                        <a:buFont typeface="+mj-lt"/>
                        <a:buAutoNum type="arabicPeriod"/>
                      </a:pPr>
                      <a:r>
                        <a:rPr lang="zh-CN" altLang="en-US" sz="800" b="1" dirty="0">
                          <a:solidFill>
                            <a:srgbClr val="000000"/>
                          </a:solidFill>
                          <a:effectLst/>
                          <a:latin typeface="+mj-ea"/>
                          <a:ea typeface="+mj-ea"/>
                        </a:rPr>
                        <a:t>解决问题</a:t>
                      </a:r>
                      <a:r>
                        <a:rPr lang="zh-CN" altLang="en-US" sz="800" dirty="0">
                          <a:solidFill>
                            <a:srgbClr val="000000"/>
                          </a:solidFill>
                          <a:effectLst/>
                          <a:latin typeface="+mj-ea"/>
                          <a:ea typeface="+mj-ea"/>
                        </a:rPr>
                        <a:t>：擅长解决单一领域的技术难题。相信“只要输入</a:t>
                      </a:r>
                      <a:r>
                        <a:rPr lang="en-US" altLang="zh-CN" sz="800" dirty="0">
                          <a:solidFill>
                            <a:srgbClr val="000000"/>
                          </a:solidFill>
                          <a:effectLst/>
                          <a:latin typeface="+mj-ea"/>
                          <a:ea typeface="+mj-ea"/>
                        </a:rPr>
                        <a:t>A</a:t>
                      </a:r>
                      <a:r>
                        <a:rPr lang="zh-CN" altLang="en-US" sz="800" dirty="0">
                          <a:solidFill>
                            <a:srgbClr val="000000"/>
                          </a:solidFill>
                          <a:effectLst/>
                          <a:latin typeface="+mj-ea"/>
                          <a:ea typeface="+mj-ea"/>
                        </a:rPr>
                        <a:t>，必定得到</a:t>
                      </a:r>
                      <a:r>
                        <a:rPr lang="en-US" altLang="zh-CN" sz="800" dirty="0">
                          <a:solidFill>
                            <a:srgbClr val="000000"/>
                          </a:solidFill>
                          <a:effectLst/>
                          <a:latin typeface="+mj-ea"/>
                          <a:ea typeface="+mj-ea"/>
                        </a:rPr>
                        <a:t>B”</a:t>
                      </a:r>
                      <a:r>
                        <a:rPr lang="zh-CN" altLang="en-US" sz="800" dirty="0">
                          <a:solidFill>
                            <a:srgbClr val="000000"/>
                          </a:solidFill>
                          <a:effectLst/>
                          <a:latin typeface="+mj-ea"/>
                          <a:ea typeface="+mj-ea"/>
                        </a:rPr>
                        <a:t>。</a:t>
                      </a:r>
                    </a:p>
                    <a:p>
                      <a:pPr marL="228600" indent="-228600" algn="l" rtl="0">
                        <a:buFont typeface="+mj-lt"/>
                        <a:buAutoNum type="arabicPeriod"/>
                      </a:pPr>
                      <a:r>
                        <a:rPr lang="zh-CN" altLang="en-US" sz="800" b="1" dirty="0">
                          <a:solidFill>
                            <a:srgbClr val="000000"/>
                          </a:solidFill>
                          <a:effectLst/>
                          <a:latin typeface="+mj-ea"/>
                          <a:ea typeface="+mj-ea"/>
                        </a:rPr>
                        <a:t>盲点</a:t>
                      </a:r>
                      <a:r>
                        <a:rPr lang="zh-CN" altLang="en-US" sz="800" dirty="0">
                          <a:solidFill>
                            <a:srgbClr val="000000"/>
                          </a:solidFill>
                          <a:effectLst/>
                          <a:latin typeface="+mj-ea"/>
                          <a:ea typeface="+mj-ea"/>
                        </a:rPr>
                        <a:t>：容易陷入“理性的自负”，认为凡是不符合逻辑（如情绪）的东西都是无效的。</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en-US" altLang="zh-CN" sz="800" b="1" dirty="0">
                          <a:solidFill>
                            <a:srgbClr val="000000"/>
                          </a:solidFill>
                          <a:effectLst/>
                          <a:latin typeface="+mj-ea"/>
                          <a:ea typeface="+mj-ea"/>
                        </a:rPr>
                        <a:t>1. </a:t>
                      </a:r>
                      <a:r>
                        <a:rPr lang="zh-CN" altLang="en-US" sz="800" b="1" dirty="0">
                          <a:solidFill>
                            <a:srgbClr val="000000"/>
                          </a:solidFill>
                          <a:effectLst/>
                          <a:latin typeface="+mj-ea"/>
                          <a:ea typeface="+mj-ea"/>
                        </a:rPr>
                        <a:t>谢尔顿 </a:t>
                      </a:r>
                      <a:r>
                        <a:rPr lang="en-US" altLang="zh-CN" sz="800" b="1" dirty="0">
                          <a:solidFill>
                            <a:srgbClr val="000000"/>
                          </a:solidFill>
                          <a:effectLst/>
                          <a:latin typeface="+mj-ea"/>
                          <a:ea typeface="+mj-ea"/>
                        </a:rPr>
                        <a:t>(</a:t>
                      </a:r>
                      <a:r>
                        <a:rPr lang="zh-CN" altLang="en-US" sz="800" b="1" dirty="0">
                          <a:solidFill>
                            <a:srgbClr val="000000"/>
                          </a:solidFill>
                          <a:effectLst/>
                          <a:latin typeface="+mj-ea"/>
                          <a:ea typeface="+mj-ea"/>
                        </a:rPr>
                        <a:t>生活大爆炸</a:t>
                      </a:r>
                      <a:r>
                        <a:rPr lang="en-US" altLang="zh-CN" sz="800" b="1" dirty="0">
                          <a:solidFill>
                            <a:srgbClr val="000000"/>
                          </a:solidFill>
                          <a:effectLst/>
                          <a:latin typeface="+mj-ea"/>
                          <a:ea typeface="+mj-ea"/>
                        </a:rPr>
                        <a:t>)</a:t>
                      </a:r>
                      <a:r>
                        <a:rPr lang="zh-CN" altLang="en-US" sz="800" dirty="0">
                          <a:solidFill>
                            <a:srgbClr val="000000"/>
                          </a:solidFill>
                          <a:effectLst/>
                          <a:latin typeface="+mj-ea"/>
                          <a:ea typeface="+mj-ea"/>
                        </a:rPr>
                        <a:t>：</a:t>
                      </a:r>
                    </a:p>
                    <a:p>
                      <a:pPr algn="l" rtl="0"/>
                      <a:r>
                        <a:rPr lang="zh-CN" altLang="en-US" sz="800" dirty="0">
                          <a:solidFill>
                            <a:srgbClr val="000000"/>
                          </a:solidFill>
                          <a:effectLst/>
                          <a:latin typeface="+mj-ea"/>
                          <a:ea typeface="+mj-ea"/>
                        </a:rPr>
                        <a:t>极度聪明，逻辑严密，但完全无法理解社交暗示和情感逻辑。</a:t>
                      </a:r>
                    </a:p>
                    <a:p>
                      <a:pPr algn="l" rtl="0"/>
                      <a:r>
                        <a:rPr lang="en-US" altLang="zh-CN" sz="800" b="1" dirty="0">
                          <a:solidFill>
                            <a:srgbClr val="000000"/>
                          </a:solidFill>
                          <a:effectLst/>
                          <a:latin typeface="+mj-ea"/>
                          <a:ea typeface="+mj-ea"/>
                        </a:rPr>
                        <a:t>2. </a:t>
                      </a:r>
                      <a:r>
                        <a:rPr lang="zh-CN" altLang="en-US" sz="800" b="1" dirty="0">
                          <a:solidFill>
                            <a:srgbClr val="000000"/>
                          </a:solidFill>
                          <a:effectLst/>
                          <a:latin typeface="+mj-ea"/>
                          <a:ea typeface="+mj-ea"/>
                        </a:rPr>
                        <a:t>典型的技术争论</a:t>
                      </a:r>
                      <a:r>
                        <a:rPr lang="zh-CN" altLang="en-US" sz="800" dirty="0">
                          <a:solidFill>
                            <a:srgbClr val="000000"/>
                          </a:solidFill>
                          <a:effectLst/>
                          <a:latin typeface="+mj-ea"/>
                          <a:ea typeface="+mj-ea"/>
                        </a:rPr>
                        <a:t>：</a:t>
                      </a:r>
                    </a:p>
                    <a:p>
                      <a:pPr algn="l" rtl="0"/>
                      <a:r>
                        <a:rPr lang="zh-CN" altLang="en-US" sz="800" dirty="0">
                          <a:solidFill>
                            <a:srgbClr val="000000"/>
                          </a:solidFill>
                          <a:effectLst/>
                          <a:latin typeface="+mj-ea"/>
                          <a:ea typeface="+mj-ea"/>
                        </a:rPr>
                        <a:t>数据表明这样做效率最高，所以我们就该这样做。”（忽略了员工可能会因为情绪抵触而导致效率下降）</a:t>
                      </a:r>
                    </a:p>
                  </a:txBody>
                  <a:tcPr marL="8991" marR="8991" marT="5994" marB="5994"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en-US" altLang="zh-CN" sz="800" b="1">
                          <a:solidFill>
                            <a:srgbClr val="000000"/>
                          </a:solidFill>
                          <a:effectLst/>
                          <a:latin typeface="+mj-ea"/>
                          <a:ea typeface="+mj-ea"/>
                        </a:rPr>
                        <a:t>20% - 25%</a:t>
                      </a:r>
                      <a:endParaRPr lang="zh-CN" altLang="en-US" sz="800">
                        <a:solidFill>
                          <a:srgbClr val="000000"/>
                        </a:solidFill>
                        <a:effectLst/>
                        <a:latin typeface="+mj-ea"/>
                        <a:ea typeface="+mj-ea"/>
                      </a:endParaRPr>
                    </a:p>
                    <a:p>
                      <a:pPr algn="l" rtl="0"/>
                      <a:br>
                        <a:rPr lang="zh-CN" altLang="en-US" sz="800">
                          <a:solidFill>
                            <a:srgbClr val="000000"/>
                          </a:solidFill>
                          <a:effectLst/>
                          <a:latin typeface="+mj-ea"/>
                          <a:ea typeface="+mj-ea"/>
                        </a:rPr>
                      </a:br>
                      <a:r>
                        <a:rPr lang="en-US" altLang="zh-CN" sz="800">
                          <a:solidFill>
                            <a:srgbClr val="000000"/>
                          </a:solidFill>
                          <a:effectLst/>
                          <a:latin typeface="+mj-ea"/>
                          <a:ea typeface="+mj-ea"/>
                        </a:rPr>
                        <a:t>(</a:t>
                      </a:r>
                      <a:r>
                        <a:rPr lang="zh-CN" altLang="en-US" sz="800">
                          <a:solidFill>
                            <a:srgbClr val="000000"/>
                          </a:solidFill>
                          <a:effectLst/>
                          <a:latin typeface="+mj-ea"/>
                          <a:ea typeface="+mj-ea"/>
                        </a:rPr>
                        <a:t>专业人士的主力</a:t>
                      </a:r>
                      <a:r>
                        <a:rPr lang="en-US" altLang="zh-CN" sz="800">
                          <a:solidFill>
                            <a:srgbClr val="000000"/>
                          </a:solidFill>
                          <a:effectLst/>
                          <a:latin typeface="+mj-ea"/>
                          <a:ea typeface="+mj-ea"/>
                        </a:rPr>
                        <a:t>)</a:t>
                      </a:r>
                    </a:p>
                  </a:txBody>
                  <a:tcPr marL="8991" marR="8991" marT="5994" marB="599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547909362"/>
                  </a:ext>
                </a:extLst>
              </a:tr>
              <a:tr h="997451">
                <a:tc>
                  <a:txBody>
                    <a:bodyPr/>
                    <a:lstStyle/>
                    <a:p>
                      <a:pPr rtl="0"/>
                      <a:r>
                        <a:rPr lang="en-US" altLang="zh-CN" sz="800" b="1">
                          <a:solidFill>
                            <a:srgbClr val="000000"/>
                          </a:solidFill>
                          <a:effectLst/>
                          <a:latin typeface="+mj-ea"/>
                          <a:ea typeface="+mj-ea"/>
                        </a:rPr>
                        <a:t>12</a:t>
                      </a:r>
                      <a:endParaRPr lang="zh-CN" altLang="en-US" sz="800" b="1">
                        <a:solidFill>
                          <a:srgbClr val="000000"/>
                        </a:solidFill>
                        <a:effectLst/>
                        <a:latin typeface="+mj-ea"/>
                        <a:ea typeface="+mj-ea"/>
                      </a:endParaRPr>
                    </a:p>
                  </a:txBody>
                  <a:tcPr marL="8991" marR="8991" marT="5994" marB="5994"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C5D5ED"/>
                    </a:solidFill>
                  </a:tcPr>
                </a:tc>
                <a:tc>
                  <a:txBody>
                    <a:bodyPr/>
                    <a:lstStyle/>
                    <a:p>
                      <a:pPr algn="l" rtl="0"/>
                      <a:r>
                        <a:rPr lang="zh-CN" altLang="en-US" sz="800" b="1">
                          <a:solidFill>
                            <a:srgbClr val="000000"/>
                          </a:solidFill>
                          <a:effectLst/>
                          <a:latin typeface="+mj-ea"/>
                          <a:ea typeface="+mj-ea"/>
                        </a:rPr>
                        <a:t>系统性</a:t>
                      </a:r>
                      <a:endParaRPr lang="zh-CN" altLang="en-US" sz="800">
                        <a:solidFill>
                          <a:srgbClr val="000000"/>
                        </a:solidFill>
                        <a:effectLst/>
                        <a:latin typeface="+mj-ea"/>
                        <a:ea typeface="+mj-ea"/>
                      </a:endParaRPr>
                    </a:p>
                    <a:p>
                      <a:pPr algn="l" rtl="0"/>
                      <a:br>
                        <a:rPr lang="zh-CN" altLang="en-US" sz="800">
                          <a:solidFill>
                            <a:srgbClr val="000000"/>
                          </a:solidFill>
                          <a:effectLst/>
                          <a:latin typeface="+mj-ea"/>
                          <a:ea typeface="+mj-ea"/>
                        </a:rPr>
                      </a:br>
                      <a:r>
                        <a:rPr lang="en-US" altLang="zh-CN" sz="800">
                          <a:solidFill>
                            <a:srgbClr val="000000"/>
                          </a:solidFill>
                          <a:effectLst/>
                          <a:latin typeface="+mj-ea"/>
                          <a:ea typeface="+mj-ea"/>
                        </a:rPr>
                        <a:t>(</a:t>
                      </a:r>
                      <a:r>
                        <a:rPr lang="en-US" sz="800">
                          <a:solidFill>
                            <a:srgbClr val="000000"/>
                          </a:solidFill>
                          <a:effectLst/>
                          <a:latin typeface="+mj-ea"/>
                          <a:ea typeface="+mj-ea"/>
                        </a:rPr>
                        <a:t>Systematic)</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zh-CN" altLang="en-US" sz="800" b="1" dirty="0">
                          <a:solidFill>
                            <a:srgbClr val="000000"/>
                          </a:solidFill>
                          <a:effectLst/>
                          <a:latin typeface="+mj-ea"/>
                          <a:ea typeface="+mj-ea"/>
                        </a:rPr>
                        <a:t>多变量、网络、情境</a:t>
                      </a:r>
                      <a:endParaRPr lang="zh-CN" altLang="en-US" sz="800" dirty="0">
                        <a:solidFill>
                          <a:srgbClr val="000000"/>
                        </a:solidFill>
                        <a:effectLst/>
                        <a:latin typeface="+mj-ea"/>
                        <a:ea typeface="+mj-ea"/>
                      </a:endParaRPr>
                    </a:p>
                    <a:p>
                      <a:pPr algn="l" rtl="0"/>
                      <a:br>
                        <a:rPr lang="zh-CN" altLang="en-US" sz="800" dirty="0">
                          <a:solidFill>
                            <a:srgbClr val="000000"/>
                          </a:solidFill>
                          <a:effectLst/>
                          <a:latin typeface="+mj-ea"/>
                          <a:ea typeface="+mj-ea"/>
                        </a:rPr>
                      </a:br>
                      <a:r>
                        <a:rPr lang="zh-CN" altLang="en-US" sz="800" dirty="0">
                          <a:solidFill>
                            <a:srgbClr val="000000"/>
                          </a:solidFill>
                          <a:effectLst/>
                          <a:latin typeface="+mj-ea"/>
                          <a:ea typeface="+mj-ea"/>
                        </a:rPr>
                        <a:t>理解事物是复杂的系统。没有绝对的对错，只有在特定情境下的“最优解”。</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zh-CN" altLang="en-US" sz="800" b="1" dirty="0">
                          <a:solidFill>
                            <a:srgbClr val="000000"/>
                          </a:solidFill>
                          <a:effectLst/>
                          <a:latin typeface="+mj-ea"/>
                          <a:ea typeface="+mj-ea"/>
                        </a:rPr>
                        <a:t>“操盘手</a:t>
                      </a:r>
                      <a:r>
                        <a:rPr lang="en-US" altLang="zh-CN" sz="800" b="1" dirty="0">
                          <a:solidFill>
                            <a:srgbClr val="000000"/>
                          </a:solidFill>
                          <a:effectLst/>
                          <a:latin typeface="+mj-ea"/>
                          <a:ea typeface="+mj-ea"/>
                        </a:rPr>
                        <a:t>/</a:t>
                      </a:r>
                      <a:r>
                        <a:rPr lang="zh-CN" altLang="en-US" sz="800" b="1" dirty="0">
                          <a:solidFill>
                            <a:srgbClr val="000000"/>
                          </a:solidFill>
                          <a:effectLst/>
                          <a:latin typeface="+mj-ea"/>
                          <a:ea typeface="+mj-ea"/>
                        </a:rPr>
                        <a:t>管理者型”</a:t>
                      </a:r>
                      <a:endParaRPr lang="zh-CN" altLang="en-US" sz="800" dirty="0">
                        <a:solidFill>
                          <a:srgbClr val="000000"/>
                        </a:solidFill>
                        <a:effectLst/>
                        <a:latin typeface="+mj-ea"/>
                        <a:ea typeface="+mj-ea"/>
                      </a:endParaRPr>
                    </a:p>
                    <a:p>
                      <a:pPr marL="228600" indent="-228600" algn="l" rtl="0">
                        <a:buFont typeface="+mj-lt"/>
                        <a:buAutoNum type="arabicPeriod"/>
                      </a:pPr>
                      <a:r>
                        <a:rPr lang="zh-CN" altLang="en-US" sz="800" b="1" dirty="0">
                          <a:solidFill>
                            <a:srgbClr val="000000"/>
                          </a:solidFill>
                          <a:effectLst/>
                          <a:latin typeface="+mj-ea"/>
                          <a:ea typeface="+mj-ea"/>
                        </a:rPr>
                        <a:t>真理观</a:t>
                      </a:r>
                      <a:r>
                        <a:rPr lang="zh-CN" altLang="en-US" sz="800" dirty="0">
                          <a:solidFill>
                            <a:srgbClr val="000000"/>
                          </a:solidFill>
                          <a:effectLst/>
                          <a:latin typeface="+mj-ea"/>
                          <a:ea typeface="+mj-ea"/>
                        </a:rPr>
                        <a:t>：真理是动态的，取决于系统环境。</a:t>
                      </a:r>
                      <a:r>
                        <a:rPr lang="en-US" altLang="zh-CN" sz="800" dirty="0">
                          <a:solidFill>
                            <a:srgbClr val="000000"/>
                          </a:solidFill>
                          <a:effectLst/>
                          <a:latin typeface="+mj-ea"/>
                          <a:ea typeface="+mj-ea"/>
                        </a:rPr>
                        <a:t>A</a:t>
                      </a:r>
                      <a:r>
                        <a:rPr lang="zh-CN" altLang="en-US" sz="800" dirty="0">
                          <a:solidFill>
                            <a:srgbClr val="000000"/>
                          </a:solidFill>
                          <a:effectLst/>
                          <a:latin typeface="+mj-ea"/>
                          <a:ea typeface="+mj-ea"/>
                        </a:rPr>
                        <a:t>在昨天是对的，今天可能是错的。</a:t>
                      </a:r>
                    </a:p>
                    <a:p>
                      <a:pPr marL="228600" indent="-228600" algn="l" rtl="0">
                        <a:buFont typeface="+mj-lt"/>
                        <a:buAutoNum type="arabicPeriod"/>
                      </a:pPr>
                      <a:r>
                        <a:rPr lang="zh-CN" altLang="en-US" sz="800" b="1" dirty="0">
                          <a:solidFill>
                            <a:srgbClr val="000000"/>
                          </a:solidFill>
                          <a:effectLst/>
                          <a:latin typeface="+mj-ea"/>
                          <a:ea typeface="+mj-ea"/>
                        </a:rPr>
                        <a:t>能力</a:t>
                      </a:r>
                      <a:r>
                        <a:rPr lang="zh-CN" altLang="en-US" sz="800" dirty="0">
                          <a:solidFill>
                            <a:srgbClr val="000000"/>
                          </a:solidFill>
                          <a:effectLst/>
                          <a:latin typeface="+mj-ea"/>
                          <a:ea typeface="+mj-ea"/>
                        </a:rPr>
                        <a:t>：能同时处理矛盾的变量（如：既要降低成本，又要提高质量）。理解“按下葫芦浮起瓢”。</a:t>
                      </a:r>
                    </a:p>
                    <a:p>
                      <a:pPr marL="228600" indent="-228600" algn="l" rtl="0">
                        <a:buFont typeface="+mj-lt"/>
                        <a:buAutoNum type="arabicPeriod"/>
                      </a:pPr>
                      <a:r>
                        <a:rPr lang="zh-CN" altLang="en-US" sz="800" b="1" dirty="0">
                          <a:solidFill>
                            <a:srgbClr val="000000"/>
                          </a:solidFill>
                          <a:effectLst/>
                          <a:latin typeface="+mj-ea"/>
                          <a:ea typeface="+mj-ea"/>
                        </a:rPr>
                        <a:t>特征</a:t>
                      </a:r>
                      <a:r>
                        <a:rPr lang="zh-CN" altLang="en-US" sz="800" dirty="0">
                          <a:solidFill>
                            <a:srgbClr val="000000"/>
                          </a:solidFill>
                          <a:effectLst/>
                          <a:latin typeface="+mj-ea"/>
                          <a:ea typeface="+mj-ea"/>
                        </a:rPr>
                        <a:t>：哪怕不喜欢一个人，也能为了大局跟他合作。</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en-US" altLang="zh-CN" sz="800" b="1" dirty="0">
                          <a:solidFill>
                            <a:srgbClr val="000000"/>
                          </a:solidFill>
                          <a:effectLst/>
                          <a:latin typeface="+mj-ea"/>
                          <a:ea typeface="+mj-ea"/>
                        </a:rPr>
                        <a:t>1. </a:t>
                      </a:r>
                      <a:r>
                        <a:rPr lang="zh-CN" altLang="en-US" sz="800" b="1" dirty="0">
                          <a:solidFill>
                            <a:srgbClr val="000000"/>
                          </a:solidFill>
                          <a:effectLst/>
                          <a:latin typeface="+mj-ea"/>
                          <a:ea typeface="+mj-ea"/>
                        </a:rPr>
                        <a:t>诸葛亮 </a:t>
                      </a:r>
                      <a:r>
                        <a:rPr lang="en-US" altLang="zh-CN" sz="800" b="1" dirty="0">
                          <a:solidFill>
                            <a:srgbClr val="000000"/>
                          </a:solidFill>
                          <a:effectLst/>
                          <a:latin typeface="+mj-ea"/>
                          <a:ea typeface="+mj-ea"/>
                        </a:rPr>
                        <a:t>(</a:t>
                      </a:r>
                      <a:r>
                        <a:rPr lang="zh-CN" altLang="en-US" sz="800" b="1" dirty="0">
                          <a:solidFill>
                            <a:srgbClr val="000000"/>
                          </a:solidFill>
                          <a:effectLst/>
                          <a:latin typeface="+mj-ea"/>
                          <a:ea typeface="+mj-ea"/>
                        </a:rPr>
                        <a:t>隆中对</a:t>
                      </a:r>
                      <a:r>
                        <a:rPr lang="en-US" altLang="zh-CN" sz="800" b="1" dirty="0">
                          <a:solidFill>
                            <a:srgbClr val="000000"/>
                          </a:solidFill>
                          <a:effectLst/>
                          <a:latin typeface="+mj-ea"/>
                          <a:ea typeface="+mj-ea"/>
                        </a:rPr>
                        <a:t>)</a:t>
                      </a:r>
                      <a:r>
                        <a:rPr lang="zh-CN" altLang="en-US" sz="800" dirty="0">
                          <a:solidFill>
                            <a:srgbClr val="000000"/>
                          </a:solidFill>
                          <a:effectLst/>
                          <a:latin typeface="+mj-ea"/>
                          <a:ea typeface="+mj-ea"/>
                        </a:rPr>
                        <a:t>：</a:t>
                      </a:r>
                    </a:p>
                    <a:p>
                      <a:pPr algn="l" rtl="0"/>
                      <a:r>
                        <a:rPr lang="zh-CN" altLang="en-US" sz="800" dirty="0">
                          <a:solidFill>
                            <a:srgbClr val="000000"/>
                          </a:solidFill>
                          <a:effectLst/>
                          <a:latin typeface="+mj-ea"/>
                          <a:ea typeface="+mj-ea"/>
                        </a:rPr>
                        <a:t>不只是看一场仗的输赢，而是分析天下大势（魏蜀吴多方系统）的动态平衡。</a:t>
                      </a:r>
                    </a:p>
                    <a:p>
                      <a:pPr algn="l" rtl="0"/>
                      <a:r>
                        <a:rPr lang="en-US" altLang="zh-CN" sz="800" b="1" dirty="0">
                          <a:solidFill>
                            <a:srgbClr val="000000"/>
                          </a:solidFill>
                          <a:effectLst/>
                          <a:latin typeface="+mj-ea"/>
                          <a:ea typeface="+mj-ea"/>
                        </a:rPr>
                        <a:t>2. </a:t>
                      </a:r>
                      <a:r>
                        <a:rPr lang="zh-CN" altLang="en-US" sz="800" b="1" dirty="0">
                          <a:solidFill>
                            <a:srgbClr val="000000"/>
                          </a:solidFill>
                          <a:effectLst/>
                          <a:latin typeface="+mj-ea"/>
                          <a:ea typeface="+mj-ea"/>
                        </a:rPr>
                        <a:t>资深医生</a:t>
                      </a:r>
                      <a:r>
                        <a:rPr lang="zh-CN" altLang="en-US" sz="800" dirty="0">
                          <a:solidFill>
                            <a:srgbClr val="000000"/>
                          </a:solidFill>
                          <a:effectLst/>
                          <a:latin typeface="+mj-ea"/>
                          <a:ea typeface="+mj-ea"/>
                        </a:rPr>
                        <a:t>：</a:t>
                      </a:r>
                    </a:p>
                    <a:p>
                      <a:pPr algn="l" rtl="0"/>
                      <a:r>
                        <a:rPr lang="zh-CN" altLang="en-US" sz="800" dirty="0">
                          <a:solidFill>
                            <a:srgbClr val="000000"/>
                          </a:solidFill>
                          <a:effectLst/>
                          <a:latin typeface="+mj-ea"/>
                          <a:ea typeface="+mj-ea"/>
                        </a:rPr>
                        <a:t>开药时不仅看这个病怎么治，还会考虑病人的经济状况、家庭照护能力、心理承受力（全人治疗）。</a:t>
                      </a:r>
                    </a:p>
                  </a:txBody>
                  <a:tcPr marL="8991" marR="8991" marT="5994" marB="5994"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en-US" altLang="zh-CN" sz="800" b="1" dirty="0">
                          <a:solidFill>
                            <a:srgbClr val="000000"/>
                          </a:solidFill>
                          <a:effectLst/>
                          <a:latin typeface="+mj-ea"/>
                          <a:ea typeface="+mj-ea"/>
                        </a:rPr>
                        <a:t>5% - 10%</a:t>
                      </a:r>
                      <a:endParaRPr lang="zh-CN" altLang="en-US" sz="800" dirty="0">
                        <a:solidFill>
                          <a:srgbClr val="000000"/>
                        </a:solidFill>
                        <a:effectLst/>
                        <a:latin typeface="+mj-ea"/>
                        <a:ea typeface="+mj-ea"/>
                      </a:endParaRPr>
                    </a:p>
                  </a:txBody>
                  <a:tcPr marL="8991" marR="8991" marT="5994" marB="599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3454481177"/>
                  </a:ext>
                </a:extLst>
              </a:tr>
              <a:tr h="992755">
                <a:tc>
                  <a:txBody>
                    <a:bodyPr/>
                    <a:lstStyle/>
                    <a:p>
                      <a:pPr rtl="0"/>
                      <a:r>
                        <a:rPr lang="en-US" altLang="zh-CN" sz="800" b="1">
                          <a:solidFill>
                            <a:srgbClr val="000000"/>
                          </a:solidFill>
                          <a:effectLst/>
                          <a:latin typeface="+mj-ea"/>
                          <a:ea typeface="+mj-ea"/>
                        </a:rPr>
                        <a:t>13</a:t>
                      </a:r>
                      <a:endParaRPr lang="zh-CN" altLang="en-US" sz="800" b="1">
                        <a:solidFill>
                          <a:srgbClr val="000000"/>
                        </a:solidFill>
                        <a:effectLst/>
                        <a:latin typeface="+mj-ea"/>
                        <a:ea typeface="+mj-ea"/>
                      </a:endParaRPr>
                    </a:p>
                  </a:txBody>
                  <a:tcPr marL="8991" marR="8991" marT="5994" marB="5994"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C5D5ED"/>
                    </a:solidFill>
                  </a:tcPr>
                </a:tc>
                <a:tc>
                  <a:txBody>
                    <a:bodyPr/>
                    <a:lstStyle/>
                    <a:p>
                      <a:pPr algn="l" rtl="0"/>
                      <a:r>
                        <a:rPr lang="zh-CN" altLang="en-US" sz="800" b="1">
                          <a:solidFill>
                            <a:srgbClr val="000000"/>
                          </a:solidFill>
                          <a:effectLst/>
                          <a:latin typeface="+mj-ea"/>
                          <a:ea typeface="+mj-ea"/>
                        </a:rPr>
                        <a:t>元系统</a:t>
                      </a:r>
                      <a:endParaRPr lang="zh-CN" altLang="en-US" sz="800">
                        <a:solidFill>
                          <a:srgbClr val="000000"/>
                        </a:solidFill>
                        <a:effectLst/>
                        <a:latin typeface="+mj-ea"/>
                        <a:ea typeface="+mj-ea"/>
                      </a:endParaRPr>
                    </a:p>
                    <a:p>
                      <a:pPr algn="l" rtl="0"/>
                      <a:br>
                        <a:rPr lang="zh-CN" altLang="en-US" sz="800">
                          <a:solidFill>
                            <a:srgbClr val="000000"/>
                          </a:solidFill>
                          <a:effectLst/>
                          <a:latin typeface="+mj-ea"/>
                          <a:ea typeface="+mj-ea"/>
                        </a:rPr>
                      </a:br>
                      <a:r>
                        <a:rPr lang="en-US" altLang="zh-CN" sz="800">
                          <a:solidFill>
                            <a:srgbClr val="000000"/>
                          </a:solidFill>
                          <a:effectLst/>
                          <a:latin typeface="+mj-ea"/>
                          <a:ea typeface="+mj-ea"/>
                        </a:rPr>
                        <a:t>(</a:t>
                      </a:r>
                      <a:r>
                        <a:rPr lang="en-US" sz="800">
                          <a:solidFill>
                            <a:srgbClr val="000000"/>
                          </a:solidFill>
                          <a:effectLst/>
                          <a:latin typeface="+mj-ea"/>
                          <a:ea typeface="+mj-ea"/>
                        </a:rPr>
                        <a:t>Metasystematic)</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zh-CN" altLang="en-US" sz="800" b="1">
                          <a:solidFill>
                            <a:srgbClr val="000000"/>
                          </a:solidFill>
                          <a:effectLst/>
                          <a:latin typeface="+mj-ea"/>
                          <a:ea typeface="+mj-ea"/>
                        </a:rPr>
                        <a:t>原理、跨系统综合</a:t>
                      </a:r>
                      <a:endParaRPr lang="zh-CN" altLang="en-US" sz="800">
                        <a:solidFill>
                          <a:srgbClr val="000000"/>
                        </a:solidFill>
                        <a:effectLst/>
                        <a:latin typeface="+mj-ea"/>
                        <a:ea typeface="+mj-ea"/>
                      </a:endParaRPr>
                    </a:p>
                    <a:p>
                      <a:pPr algn="l" rtl="0"/>
                      <a:br>
                        <a:rPr lang="zh-CN" altLang="en-US" sz="800">
                          <a:solidFill>
                            <a:srgbClr val="000000"/>
                          </a:solidFill>
                          <a:effectLst/>
                          <a:latin typeface="+mj-ea"/>
                          <a:ea typeface="+mj-ea"/>
                        </a:rPr>
                      </a:br>
                      <a:r>
                        <a:rPr lang="zh-CN" altLang="en-US" sz="800">
                          <a:solidFill>
                            <a:srgbClr val="000000"/>
                          </a:solidFill>
                          <a:effectLst/>
                          <a:latin typeface="+mj-ea"/>
                          <a:ea typeface="+mj-ea"/>
                        </a:rPr>
                        <a:t>将“系统”本身作为对象进行比较。思考公理、原则和普遍规律。</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zh-CN" altLang="en-US" sz="800" b="1" dirty="0">
                          <a:solidFill>
                            <a:srgbClr val="000000"/>
                          </a:solidFill>
                          <a:effectLst/>
                          <a:latin typeface="+mj-ea"/>
                          <a:ea typeface="+mj-ea"/>
                        </a:rPr>
                        <a:t>“思想家</a:t>
                      </a:r>
                      <a:r>
                        <a:rPr lang="en-US" altLang="zh-CN" sz="800" b="1" dirty="0">
                          <a:solidFill>
                            <a:srgbClr val="000000"/>
                          </a:solidFill>
                          <a:effectLst/>
                          <a:latin typeface="+mj-ea"/>
                          <a:ea typeface="+mj-ea"/>
                        </a:rPr>
                        <a:t>/</a:t>
                      </a:r>
                      <a:r>
                        <a:rPr lang="zh-CN" altLang="en-US" sz="800" b="1" dirty="0">
                          <a:solidFill>
                            <a:srgbClr val="000000"/>
                          </a:solidFill>
                          <a:effectLst/>
                          <a:latin typeface="+mj-ea"/>
                          <a:ea typeface="+mj-ea"/>
                        </a:rPr>
                        <a:t>架构师型”</a:t>
                      </a:r>
                      <a:endParaRPr lang="zh-CN" altLang="en-US" sz="800" dirty="0">
                        <a:solidFill>
                          <a:srgbClr val="000000"/>
                        </a:solidFill>
                        <a:effectLst/>
                        <a:latin typeface="+mj-ea"/>
                        <a:ea typeface="+mj-ea"/>
                      </a:endParaRPr>
                    </a:p>
                    <a:p>
                      <a:pPr marL="228600" indent="-228600" algn="l" rtl="0">
                        <a:buFont typeface="+mj-lt"/>
                        <a:buAutoNum type="arabicPeriod"/>
                      </a:pPr>
                      <a:r>
                        <a:rPr lang="zh-CN" altLang="en-US" sz="800" b="1" dirty="0">
                          <a:solidFill>
                            <a:srgbClr val="000000"/>
                          </a:solidFill>
                          <a:effectLst/>
                          <a:latin typeface="+mj-ea"/>
                          <a:ea typeface="+mj-ea"/>
                        </a:rPr>
                        <a:t>视野</a:t>
                      </a:r>
                      <a:r>
                        <a:rPr lang="zh-CN" altLang="en-US" sz="800" dirty="0">
                          <a:solidFill>
                            <a:srgbClr val="000000"/>
                          </a:solidFill>
                          <a:effectLst/>
                          <a:latin typeface="+mj-ea"/>
                          <a:ea typeface="+mj-ea"/>
                        </a:rPr>
                        <a:t>：能跳出系统看系统。比如，不只是在玩游戏，而是在分析游戏规则是如何被设计的。</a:t>
                      </a:r>
                      <a:endParaRPr lang="en-US" altLang="zh-CN" sz="800" dirty="0">
                        <a:solidFill>
                          <a:srgbClr val="000000"/>
                        </a:solidFill>
                        <a:effectLst/>
                        <a:latin typeface="+mj-ea"/>
                        <a:ea typeface="+mj-ea"/>
                      </a:endParaRPr>
                    </a:p>
                    <a:p>
                      <a:pPr marL="228600" indent="-228600" algn="l" rtl="0">
                        <a:buFont typeface="+mj-lt"/>
                        <a:buAutoNum type="arabicPeriod"/>
                      </a:pPr>
                      <a:r>
                        <a:rPr lang="en-US" altLang="zh-CN" sz="800" dirty="0">
                          <a:solidFill>
                            <a:srgbClr val="000000"/>
                          </a:solidFill>
                          <a:effectLst/>
                          <a:latin typeface="+mj-ea"/>
                          <a:ea typeface="+mj-ea"/>
                        </a:rPr>
                        <a:t> </a:t>
                      </a:r>
                      <a:r>
                        <a:rPr lang="zh-CN" altLang="en-US" sz="800" b="1" dirty="0">
                          <a:solidFill>
                            <a:srgbClr val="000000"/>
                          </a:solidFill>
                          <a:effectLst/>
                          <a:latin typeface="+mj-ea"/>
                          <a:ea typeface="+mj-ea"/>
                        </a:rPr>
                        <a:t>能力</a:t>
                      </a:r>
                      <a:r>
                        <a:rPr lang="zh-CN" altLang="en-US" sz="800" dirty="0">
                          <a:solidFill>
                            <a:srgbClr val="000000"/>
                          </a:solidFill>
                          <a:effectLst/>
                          <a:latin typeface="+mj-ea"/>
                          <a:ea typeface="+mj-ea"/>
                        </a:rPr>
                        <a:t>：能整合互不兼容的学科（如将心理学与经济学结合）。</a:t>
                      </a:r>
                    </a:p>
                    <a:p>
                      <a:pPr marL="228600" indent="-228600" algn="l" rtl="0">
                        <a:buFont typeface="+mj-lt"/>
                        <a:buAutoNum type="arabicPeriod"/>
                      </a:pPr>
                      <a:r>
                        <a:rPr lang="en-US" altLang="zh-CN" sz="800" dirty="0">
                          <a:solidFill>
                            <a:srgbClr val="000000"/>
                          </a:solidFill>
                          <a:effectLst/>
                          <a:latin typeface="+mj-ea"/>
                          <a:ea typeface="+mj-ea"/>
                        </a:rPr>
                        <a:t> </a:t>
                      </a:r>
                      <a:r>
                        <a:rPr lang="zh-CN" altLang="en-US" sz="800" b="1" dirty="0">
                          <a:solidFill>
                            <a:srgbClr val="000000"/>
                          </a:solidFill>
                          <a:effectLst/>
                          <a:latin typeface="+mj-ea"/>
                          <a:ea typeface="+mj-ea"/>
                        </a:rPr>
                        <a:t>盲点</a:t>
                      </a:r>
                      <a:r>
                        <a:rPr lang="zh-CN" altLang="en-US" sz="800" dirty="0">
                          <a:solidFill>
                            <a:srgbClr val="000000"/>
                          </a:solidFill>
                          <a:effectLst/>
                          <a:latin typeface="+mj-ea"/>
                          <a:ea typeface="+mj-ea"/>
                        </a:rPr>
                        <a:t>：容易过度抽象，导致“不接地气”，没人听得懂。</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endParaRPr lang="en-US" altLang="zh-CN" sz="800" b="1" dirty="0">
                        <a:solidFill>
                          <a:srgbClr val="000000"/>
                        </a:solidFill>
                        <a:effectLst/>
                        <a:latin typeface="+mj-ea"/>
                        <a:ea typeface="+mj-ea"/>
                      </a:endParaRPr>
                    </a:p>
                    <a:p>
                      <a:pPr algn="l" rtl="0"/>
                      <a:r>
                        <a:rPr lang="en-US" altLang="zh-CN" sz="800" b="1" dirty="0">
                          <a:solidFill>
                            <a:srgbClr val="000000"/>
                          </a:solidFill>
                          <a:effectLst/>
                          <a:latin typeface="+mj-ea"/>
                          <a:ea typeface="+mj-ea"/>
                        </a:rPr>
                        <a:t>1. </a:t>
                      </a:r>
                      <a:r>
                        <a:rPr lang="zh-CN" altLang="en-US" sz="800" b="1" dirty="0">
                          <a:solidFill>
                            <a:srgbClr val="000000"/>
                          </a:solidFill>
                          <a:effectLst/>
                          <a:latin typeface="+mj-ea"/>
                          <a:ea typeface="+mj-ea"/>
                        </a:rPr>
                        <a:t>马克思</a:t>
                      </a:r>
                      <a:r>
                        <a:rPr lang="zh-CN" altLang="en-US" sz="800" dirty="0">
                          <a:solidFill>
                            <a:srgbClr val="000000"/>
                          </a:solidFill>
                          <a:effectLst/>
                          <a:latin typeface="+mj-ea"/>
                          <a:ea typeface="+mj-ea"/>
                        </a:rPr>
                        <a:t>：</a:t>
                      </a:r>
                    </a:p>
                    <a:p>
                      <a:pPr algn="l" rtl="0"/>
                      <a:r>
                        <a:rPr lang="zh-CN" altLang="en-US" sz="800" dirty="0">
                          <a:solidFill>
                            <a:srgbClr val="000000"/>
                          </a:solidFill>
                          <a:effectLst/>
                          <a:latin typeface="+mj-ea"/>
                          <a:ea typeface="+mj-ea"/>
                        </a:rPr>
                        <a:t>他研究的不是某一家公司的管理，而是整个资本主义社会的运作逻辑（政治经济学系统）。</a:t>
                      </a:r>
                    </a:p>
                    <a:p>
                      <a:pPr algn="l" rtl="0"/>
                      <a:r>
                        <a:rPr lang="en-US" altLang="zh-CN" sz="800" b="1" dirty="0">
                          <a:solidFill>
                            <a:srgbClr val="000000"/>
                          </a:solidFill>
                          <a:effectLst/>
                          <a:latin typeface="+mj-ea"/>
                          <a:ea typeface="+mj-ea"/>
                        </a:rPr>
                        <a:t>2. </a:t>
                      </a:r>
                      <a:r>
                        <a:rPr lang="zh-CN" altLang="en-US" sz="800" b="1" dirty="0">
                          <a:solidFill>
                            <a:srgbClr val="000000"/>
                          </a:solidFill>
                          <a:effectLst/>
                          <a:latin typeface="+mj-ea"/>
                          <a:ea typeface="+mj-ea"/>
                        </a:rPr>
                        <a:t>美国宪法的设计者</a:t>
                      </a:r>
                      <a:r>
                        <a:rPr lang="zh-CN" altLang="en-US" sz="800" dirty="0">
                          <a:solidFill>
                            <a:srgbClr val="000000"/>
                          </a:solidFill>
                          <a:effectLst/>
                          <a:latin typeface="+mj-ea"/>
                          <a:ea typeface="+mj-ea"/>
                        </a:rPr>
                        <a:t>：</a:t>
                      </a:r>
                    </a:p>
                    <a:p>
                      <a:pPr algn="l" rtl="0"/>
                      <a:r>
                        <a:rPr lang="zh-CN" altLang="en-US" sz="800" dirty="0">
                          <a:solidFill>
                            <a:srgbClr val="000000"/>
                          </a:solidFill>
                          <a:effectLst/>
                          <a:latin typeface="+mj-ea"/>
                          <a:ea typeface="+mj-ea"/>
                        </a:rPr>
                        <a:t>设计了一套“制衡系统”来管理未来的政府系统（对系统本身进行立法）。</a:t>
                      </a:r>
                    </a:p>
                  </a:txBody>
                  <a:tcPr marL="8991" marR="8991" marT="5994" marB="5994"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l" rtl="0"/>
                      <a:r>
                        <a:rPr lang="en-US" altLang="zh-CN" sz="800" b="1" dirty="0">
                          <a:solidFill>
                            <a:srgbClr val="000000"/>
                          </a:solidFill>
                          <a:effectLst/>
                          <a:latin typeface="+mj-ea"/>
                          <a:ea typeface="+mj-ea"/>
                        </a:rPr>
                        <a:t>1% - 2%</a:t>
                      </a:r>
                      <a:endParaRPr lang="zh-CN" altLang="en-US" sz="800" dirty="0">
                        <a:solidFill>
                          <a:srgbClr val="000000"/>
                        </a:solidFill>
                        <a:effectLst/>
                        <a:latin typeface="+mj-ea"/>
                        <a:ea typeface="+mj-ea"/>
                      </a:endParaRPr>
                    </a:p>
                  </a:txBody>
                  <a:tcPr marL="8991" marR="8991" marT="5994" marB="599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3412526965"/>
                  </a:ext>
                </a:extLst>
              </a:tr>
              <a:tr h="989863">
                <a:tc>
                  <a:txBody>
                    <a:bodyPr/>
                    <a:lstStyle/>
                    <a:p>
                      <a:pPr rtl="0"/>
                      <a:r>
                        <a:rPr lang="en-US" altLang="zh-CN" sz="800" b="1">
                          <a:solidFill>
                            <a:srgbClr val="000000"/>
                          </a:solidFill>
                          <a:effectLst/>
                          <a:latin typeface="+mj-ea"/>
                          <a:ea typeface="+mj-ea"/>
                        </a:rPr>
                        <a:t>14</a:t>
                      </a:r>
                      <a:endParaRPr lang="zh-CN" altLang="en-US" sz="800" b="1">
                        <a:solidFill>
                          <a:srgbClr val="000000"/>
                        </a:solidFill>
                        <a:effectLst/>
                        <a:latin typeface="+mj-ea"/>
                        <a:ea typeface="+mj-ea"/>
                      </a:endParaRPr>
                    </a:p>
                  </a:txBody>
                  <a:tcPr marL="8991" marR="8991" marT="5994" marB="5994"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pPr algn="l" rtl="0"/>
                      <a:r>
                        <a:rPr lang="zh-CN" altLang="en-US" sz="800" b="1">
                          <a:solidFill>
                            <a:srgbClr val="000000"/>
                          </a:solidFill>
                          <a:effectLst/>
                          <a:latin typeface="+mj-ea"/>
                          <a:ea typeface="+mj-ea"/>
                        </a:rPr>
                        <a:t>范式性</a:t>
                      </a:r>
                      <a:endParaRPr lang="zh-CN" altLang="en-US" sz="800">
                        <a:solidFill>
                          <a:srgbClr val="000000"/>
                        </a:solidFill>
                        <a:effectLst/>
                        <a:latin typeface="+mj-ea"/>
                        <a:ea typeface="+mj-ea"/>
                      </a:endParaRPr>
                    </a:p>
                    <a:p>
                      <a:pPr algn="l" rtl="0"/>
                      <a:br>
                        <a:rPr lang="zh-CN" altLang="en-US" sz="800">
                          <a:solidFill>
                            <a:srgbClr val="000000"/>
                          </a:solidFill>
                          <a:effectLst/>
                          <a:latin typeface="+mj-ea"/>
                          <a:ea typeface="+mj-ea"/>
                        </a:rPr>
                      </a:br>
                      <a:r>
                        <a:rPr lang="en-US" altLang="zh-CN" sz="800">
                          <a:solidFill>
                            <a:srgbClr val="000000"/>
                          </a:solidFill>
                          <a:effectLst/>
                          <a:latin typeface="+mj-ea"/>
                          <a:ea typeface="+mj-ea"/>
                        </a:rPr>
                        <a:t>(</a:t>
                      </a:r>
                      <a:r>
                        <a:rPr lang="en-US" sz="800">
                          <a:solidFill>
                            <a:srgbClr val="000000"/>
                          </a:solidFill>
                          <a:effectLst/>
                          <a:latin typeface="+mj-ea"/>
                          <a:ea typeface="+mj-ea"/>
                        </a:rPr>
                        <a:t>Paradigmatic)</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l" rtl="0"/>
                      <a:r>
                        <a:rPr lang="zh-CN" altLang="en-US" sz="800" b="1">
                          <a:solidFill>
                            <a:srgbClr val="000000"/>
                          </a:solidFill>
                          <a:effectLst/>
                          <a:latin typeface="+mj-ea"/>
                          <a:ea typeface="+mj-ea"/>
                        </a:rPr>
                        <a:t>重塑公理、颠覆</a:t>
                      </a:r>
                      <a:endParaRPr lang="zh-CN" altLang="en-US" sz="800">
                        <a:solidFill>
                          <a:srgbClr val="000000"/>
                        </a:solidFill>
                        <a:effectLst/>
                        <a:latin typeface="+mj-ea"/>
                        <a:ea typeface="+mj-ea"/>
                      </a:endParaRPr>
                    </a:p>
                    <a:p>
                      <a:pPr algn="l" rtl="0"/>
                      <a:br>
                        <a:rPr lang="zh-CN" altLang="en-US" sz="800">
                          <a:solidFill>
                            <a:srgbClr val="000000"/>
                          </a:solidFill>
                          <a:effectLst/>
                          <a:latin typeface="+mj-ea"/>
                          <a:ea typeface="+mj-ea"/>
                        </a:rPr>
                      </a:br>
                      <a:r>
                        <a:rPr lang="zh-CN" altLang="en-US" sz="800">
                          <a:solidFill>
                            <a:srgbClr val="000000"/>
                          </a:solidFill>
                          <a:effectLst/>
                          <a:latin typeface="+mj-ea"/>
                          <a:ea typeface="+mj-ea"/>
                        </a:rPr>
                        <a:t>发现旧范式的根本性矛盾，创造全新的世界观。</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l" rtl="0"/>
                      <a:r>
                        <a:rPr lang="zh-CN" altLang="en-US" sz="800" b="1" dirty="0">
                          <a:solidFill>
                            <a:srgbClr val="000000"/>
                          </a:solidFill>
                          <a:effectLst/>
                          <a:latin typeface="+mj-ea"/>
                          <a:ea typeface="+mj-ea"/>
                        </a:rPr>
                        <a:t>“宗师</a:t>
                      </a:r>
                      <a:r>
                        <a:rPr lang="en-US" altLang="zh-CN" sz="800" b="1" dirty="0">
                          <a:solidFill>
                            <a:srgbClr val="000000"/>
                          </a:solidFill>
                          <a:effectLst/>
                          <a:latin typeface="+mj-ea"/>
                          <a:ea typeface="+mj-ea"/>
                        </a:rPr>
                        <a:t>/</a:t>
                      </a:r>
                      <a:r>
                        <a:rPr lang="zh-CN" altLang="en-US" sz="800" b="1" dirty="0">
                          <a:solidFill>
                            <a:srgbClr val="000000"/>
                          </a:solidFill>
                          <a:effectLst/>
                          <a:latin typeface="+mj-ea"/>
                          <a:ea typeface="+mj-ea"/>
                        </a:rPr>
                        <a:t>开创者型”</a:t>
                      </a:r>
                      <a:endParaRPr lang="zh-CN" altLang="en-US" sz="800" dirty="0">
                        <a:solidFill>
                          <a:srgbClr val="000000"/>
                        </a:solidFill>
                        <a:effectLst/>
                        <a:latin typeface="+mj-ea"/>
                        <a:ea typeface="+mj-ea"/>
                      </a:endParaRPr>
                    </a:p>
                    <a:p>
                      <a:pPr marL="228600" indent="-228600" algn="l" rtl="0">
                        <a:buFont typeface="+mj-lt"/>
                        <a:buAutoNum type="arabicPeriod"/>
                      </a:pPr>
                      <a:r>
                        <a:rPr lang="en-US" altLang="zh-CN" sz="800" dirty="0">
                          <a:solidFill>
                            <a:srgbClr val="000000"/>
                          </a:solidFill>
                          <a:effectLst/>
                          <a:latin typeface="+mj-ea"/>
                          <a:ea typeface="+mj-ea"/>
                        </a:rPr>
                        <a:t> </a:t>
                      </a:r>
                      <a:r>
                        <a:rPr lang="zh-CN" altLang="en-US" sz="800" b="1" dirty="0">
                          <a:solidFill>
                            <a:srgbClr val="000000"/>
                          </a:solidFill>
                          <a:effectLst/>
                          <a:latin typeface="+mj-ea"/>
                          <a:ea typeface="+mj-ea"/>
                        </a:rPr>
                        <a:t>特征</a:t>
                      </a:r>
                      <a:r>
                        <a:rPr lang="zh-CN" altLang="en-US" sz="800" dirty="0">
                          <a:solidFill>
                            <a:srgbClr val="000000"/>
                          </a:solidFill>
                          <a:effectLst/>
                          <a:latin typeface="+mj-ea"/>
                          <a:ea typeface="+mj-ea"/>
                        </a:rPr>
                        <a:t>：他们的思想在当时往往被视为异端，但事后被证明重新定义了人类认知。</a:t>
                      </a:r>
                    </a:p>
                    <a:p>
                      <a:pPr marL="228600" indent="-228600" algn="l" rtl="0">
                        <a:buFont typeface="+mj-lt"/>
                        <a:buAutoNum type="arabicPeriod"/>
                      </a:pPr>
                      <a:r>
                        <a:rPr lang="en-US" altLang="zh-CN" sz="800" dirty="0">
                          <a:solidFill>
                            <a:srgbClr val="000000"/>
                          </a:solidFill>
                          <a:effectLst/>
                          <a:latin typeface="+mj-ea"/>
                          <a:ea typeface="+mj-ea"/>
                        </a:rPr>
                        <a:t> </a:t>
                      </a:r>
                      <a:r>
                        <a:rPr lang="zh-CN" altLang="en-US" sz="800" b="1" dirty="0">
                          <a:solidFill>
                            <a:srgbClr val="000000"/>
                          </a:solidFill>
                          <a:effectLst/>
                          <a:latin typeface="+mj-ea"/>
                          <a:ea typeface="+mj-ea"/>
                        </a:rPr>
                        <a:t>能力</a:t>
                      </a:r>
                      <a:r>
                        <a:rPr lang="zh-CN" altLang="en-US" sz="800" dirty="0">
                          <a:solidFill>
                            <a:srgbClr val="000000"/>
                          </a:solidFill>
                          <a:effectLst/>
                          <a:latin typeface="+mj-ea"/>
                          <a:ea typeface="+mj-ea"/>
                        </a:rPr>
                        <a:t>：把不可能变为常识。</a:t>
                      </a:r>
                    </a:p>
                  </a:txBody>
                  <a:tcPr marL="8991" marR="8991" marT="5994" marB="599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l" rtl="0"/>
                      <a:r>
                        <a:rPr lang="en-US" altLang="zh-CN" sz="800" b="1" dirty="0">
                          <a:solidFill>
                            <a:srgbClr val="000000"/>
                          </a:solidFill>
                          <a:effectLst/>
                          <a:latin typeface="+mj-ea"/>
                          <a:ea typeface="+mj-ea"/>
                        </a:rPr>
                        <a:t>1. </a:t>
                      </a:r>
                      <a:r>
                        <a:rPr lang="zh-CN" altLang="en-US" sz="800" b="1" dirty="0">
                          <a:solidFill>
                            <a:srgbClr val="000000"/>
                          </a:solidFill>
                          <a:effectLst/>
                          <a:latin typeface="+mj-ea"/>
                          <a:ea typeface="+mj-ea"/>
                        </a:rPr>
                        <a:t>哥白尼</a:t>
                      </a:r>
                      <a:r>
                        <a:rPr lang="en-US" altLang="zh-CN" sz="800" b="1" dirty="0">
                          <a:solidFill>
                            <a:srgbClr val="000000"/>
                          </a:solidFill>
                          <a:effectLst/>
                          <a:latin typeface="+mj-ea"/>
                          <a:ea typeface="+mj-ea"/>
                        </a:rPr>
                        <a:t>/</a:t>
                      </a:r>
                      <a:r>
                        <a:rPr lang="zh-CN" altLang="en-US" sz="800" b="1" dirty="0">
                          <a:solidFill>
                            <a:srgbClr val="000000"/>
                          </a:solidFill>
                          <a:effectLst/>
                          <a:latin typeface="+mj-ea"/>
                          <a:ea typeface="+mj-ea"/>
                        </a:rPr>
                        <a:t>伽利略</a:t>
                      </a:r>
                      <a:r>
                        <a:rPr lang="zh-CN" altLang="en-US" sz="800" dirty="0">
                          <a:solidFill>
                            <a:srgbClr val="000000"/>
                          </a:solidFill>
                          <a:effectLst/>
                          <a:latin typeface="+mj-ea"/>
                          <a:ea typeface="+mj-ea"/>
                        </a:rPr>
                        <a:t>：</a:t>
                      </a:r>
                    </a:p>
                    <a:p>
                      <a:pPr algn="l" rtl="0"/>
                      <a:r>
                        <a:rPr lang="zh-CN" altLang="en-US" sz="800" dirty="0">
                          <a:solidFill>
                            <a:srgbClr val="000000"/>
                          </a:solidFill>
                          <a:effectLst/>
                          <a:latin typeface="+mj-ea"/>
                          <a:ea typeface="+mj-ea"/>
                        </a:rPr>
                        <a:t>从“地心说”到“日心说”。这不是修补旧理论，而是把宇宙的中心换了。</a:t>
                      </a:r>
                    </a:p>
                    <a:p>
                      <a:pPr algn="l" rtl="0"/>
                      <a:r>
                        <a:rPr lang="en-US" altLang="zh-CN" sz="800" b="1" dirty="0">
                          <a:solidFill>
                            <a:srgbClr val="000000"/>
                          </a:solidFill>
                          <a:effectLst/>
                          <a:latin typeface="+mj-ea"/>
                          <a:ea typeface="+mj-ea"/>
                        </a:rPr>
                        <a:t>2. </a:t>
                      </a:r>
                      <a:r>
                        <a:rPr lang="zh-CN" altLang="en-US" sz="800" b="1" dirty="0">
                          <a:solidFill>
                            <a:srgbClr val="000000"/>
                          </a:solidFill>
                          <a:effectLst/>
                          <a:latin typeface="+mj-ea"/>
                          <a:ea typeface="+mj-ea"/>
                        </a:rPr>
                        <a:t>爱因斯坦</a:t>
                      </a:r>
                      <a:r>
                        <a:rPr lang="zh-CN" altLang="en-US" sz="800" dirty="0">
                          <a:solidFill>
                            <a:srgbClr val="000000"/>
                          </a:solidFill>
                          <a:effectLst/>
                          <a:latin typeface="+mj-ea"/>
                          <a:ea typeface="+mj-ea"/>
                        </a:rPr>
                        <a:t>：</a:t>
                      </a:r>
                    </a:p>
                    <a:p>
                      <a:pPr algn="l" rtl="0"/>
                      <a:r>
                        <a:rPr lang="zh-CN" altLang="en-US" sz="800" dirty="0">
                          <a:solidFill>
                            <a:srgbClr val="000000"/>
                          </a:solidFill>
                          <a:effectLst/>
                          <a:latin typeface="+mj-ea"/>
                          <a:ea typeface="+mj-ea"/>
                        </a:rPr>
                        <a:t>提出相对论，彻底改变了牛顿以来的时空观范式。</a:t>
                      </a:r>
                    </a:p>
                  </a:txBody>
                  <a:tcPr marL="8991" marR="8991" marT="5994" marB="5994"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l" rtl="0"/>
                      <a:r>
                        <a:rPr lang="en-US" altLang="zh-CN" sz="800" b="1" dirty="0">
                          <a:solidFill>
                            <a:srgbClr val="000000"/>
                          </a:solidFill>
                          <a:effectLst/>
                          <a:latin typeface="+mj-ea"/>
                          <a:ea typeface="+mj-ea"/>
                        </a:rPr>
                        <a:t>&lt; 0.1%</a:t>
                      </a:r>
                      <a:endParaRPr lang="zh-CN" altLang="en-US" sz="800" dirty="0">
                        <a:solidFill>
                          <a:srgbClr val="000000"/>
                        </a:solidFill>
                        <a:effectLst/>
                        <a:latin typeface="+mj-ea"/>
                        <a:ea typeface="+mj-ea"/>
                      </a:endParaRPr>
                    </a:p>
                  </a:txBody>
                  <a:tcPr marL="8991" marR="8991" marT="5994" marB="599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1435405833"/>
                  </a:ext>
                </a:extLst>
              </a:tr>
            </a:tbl>
          </a:graphicData>
        </a:graphic>
      </p:graphicFrame>
    </p:spTree>
    <p:extLst>
      <p:ext uri="{BB962C8B-B14F-4D97-AF65-F5344CB8AC3E}">
        <p14:creationId xmlns:p14="http://schemas.microsoft.com/office/powerpoint/2010/main" val="1031153304"/>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52A2FE0-6D09-D164-3430-B422F8DDC813}"/>
              </a:ext>
            </a:extLst>
          </p:cNvPr>
          <p:cNvSpPr>
            <a:spLocks noGrp="1"/>
          </p:cNvSpPr>
          <p:nvPr>
            <p:ph type="title"/>
          </p:nvPr>
        </p:nvSpPr>
        <p:spPr/>
        <p:txBody>
          <a:bodyPr/>
          <a:lstStyle/>
          <a:p>
            <a:endParaRPr lang="zh-CN" altLang="en-US"/>
          </a:p>
        </p:txBody>
      </p:sp>
    </p:spTree>
    <p:extLst>
      <p:ext uri="{BB962C8B-B14F-4D97-AF65-F5344CB8AC3E}">
        <p14:creationId xmlns:p14="http://schemas.microsoft.com/office/powerpoint/2010/main" val="315781447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F14639F-CAC5-5F0F-82B2-6C193FD160FB}"/>
              </a:ext>
            </a:extLst>
          </p:cNvPr>
          <p:cNvSpPr>
            <a:spLocks noGrp="1"/>
          </p:cNvSpPr>
          <p:nvPr>
            <p:ph type="title"/>
          </p:nvPr>
        </p:nvSpPr>
        <p:spPr/>
        <p:txBody>
          <a:bodyPr>
            <a:normAutofit/>
          </a:bodyPr>
          <a:lstStyle/>
          <a:p>
            <a:r>
              <a:rPr lang="zh-CN" altLang="en-US" b="1" dirty="0"/>
              <a:t>罗伯特</a:t>
            </a:r>
            <a:r>
              <a:rPr lang="en-US" altLang="zh-CN" b="1" dirty="0"/>
              <a:t>·</a:t>
            </a:r>
            <a:r>
              <a:rPr lang="zh-CN" altLang="en-US" b="1" dirty="0"/>
              <a:t>基根：意识进化阶梯权威对照表</a:t>
            </a:r>
            <a:endParaRPr lang="zh-CN" altLang="en-US" dirty="0"/>
          </a:p>
        </p:txBody>
      </p:sp>
      <p:graphicFrame>
        <p:nvGraphicFramePr>
          <p:cNvPr id="3" name="表格 2">
            <a:extLst>
              <a:ext uri="{FF2B5EF4-FFF2-40B4-BE49-F238E27FC236}">
                <a16:creationId xmlns:a16="http://schemas.microsoft.com/office/drawing/2014/main" id="{63C3F55D-8A92-7E3E-1802-39007BC3931E}"/>
              </a:ext>
            </a:extLst>
          </p:cNvPr>
          <p:cNvGraphicFramePr>
            <a:graphicFrameLocks noGrp="1"/>
          </p:cNvGraphicFramePr>
          <p:nvPr>
            <p:extLst>
              <p:ext uri="{D42A27DB-BD31-4B8C-83A1-F6EECF244321}">
                <p14:modId xmlns:p14="http://schemas.microsoft.com/office/powerpoint/2010/main" val="1618600656"/>
              </p:ext>
            </p:extLst>
          </p:nvPr>
        </p:nvGraphicFramePr>
        <p:xfrm>
          <a:off x="796594" y="1222940"/>
          <a:ext cx="10922313" cy="5534529"/>
        </p:xfrm>
        <a:graphic>
          <a:graphicData uri="http://schemas.openxmlformats.org/drawingml/2006/table">
            <a:tbl>
              <a:tblPr/>
              <a:tblGrid>
                <a:gridCol w="722665">
                  <a:extLst>
                    <a:ext uri="{9D8B030D-6E8A-4147-A177-3AD203B41FA5}">
                      <a16:colId xmlns:a16="http://schemas.microsoft.com/office/drawing/2014/main" val="2915413816"/>
                    </a:ext>
                  </a:extLst>
                </a:gridCol>
                <a:gridCol w="2549912">
                  <a:extLst>
                    <a:ext uri="{9D8B030D-6E8A-4147-A177-3AD203B41FA5}">
                      <a16:colId xmlns:a16="http://schemas.microsoft.com/office/drawing/2014/main" val="261169792"/>
                    </a:ext>
                  </a:extLst>
                </a:gridCol>
                <a:gridCol w="2549912">
                  <a:extLst>
                    <a:ext uri="{9D8B030D-6E8A-4147-A177-3AD203B41FA5}">
                      <a16:colId xmlns:a16="http://schemas.microsoft.com/office/drawing/2014/main" val="2245370523"/>
                    </a:ext>
                  </a:extLst>
                </a:gridCol>
                <a:gridCol w="2549912">
                  <a:extLst>
                    <a:ext uri="{9D8B030D-6E8A-4147-A177-3AD203B41FA5}">
                      <a16:colId xmlns:a16="http://schemas.microsoft.com/office/drawing/2014/main" val="3214135831"/>
                    </a:ext>
                  </a:extLst>
                </a:gridCol>
                <a:gridCol w="2549912">
                  <a:extLst>
                    <a:ext uri="{9D8B030D-6E8A-4147-A177-3AD203B41FA5}">
                      <a16:colId xmlns:a16="http://schemas.microsoft.com/office/drawing/2014/main" val="429030802"/>
                    </a:ext>
                  </a:extLst>
                </a:gridCol>
              </a:tblGrid>
              <a:tr h="342741">
                <a:tc>
                  <a:txBody>
                    <a:bodyPr/>
                    <a:lstStyle/>
                    <a:p>
                      <a:r>
                        <a:rPr lang="zh-CN" altLang="en-US" sz="1400" b="1">
                          <a:solidFill>
                            <a:srgbClr val="FFFFFF"/>
                          </a:solidFill>
                          <a:effectLst/>
                          <a:latin typeface="+mj-ea"/>
                          <a:ea typeface="+mj-ea"/>
                        </a:rPr>
                        <a:t>阶次 </a:t>
                      </a:r>
                      <a:r>
                        <a:rPr lang="en-US" altLang="zh-CN" sz="1400" b="1">
                          <a:solidFill>
                            <a:srgbClr val="FFFFFF"/>
                          </a:solidFill>
                          <a:effectLst/>
                          <a:latin typeface="+mj-ea"/>
                          <a:ea typeface="+mj-ea"/>
                        </a:rPr>
                        <a:t>(</a:t>
                      </a:r>
                      <a:r>
                        <a:rPr lang="en-US" sz="1400" b="1">
                          <a:solidFill>
                            <a:srgbClr val="FFFFFF"/>
                          </a:solidFill>
                          <a:effectLst/>
                          <a:latin typeface="+mj-ea"/>
                          <a:ea typeface="+mj-ea"/>
                        </a:rPr>
                        <a:t>Order)</a:t>
                      </a:r>
                    </a:p>
                  </a:txBody>
                  <a:tcPr marL="30511" marR="30511" marT="15255" marB="15255" anchor="ctr">
                    <a:lnL w="4763" cap="flat" cmpd="sng" algn="ctr">
                      <a:solidFill>
                        <a:srgbClr val="1C3879"/>
                      </a:solidFill>
                      <a:prstDash val="solid"/>
                      <a:round/>
                      <a:headEnd type="none" w="med" len="med"/>
                      <a:tailEnd type="none" w="med" len="med"/>
                    </a:lnL>
                    <a:lnR w="12700" cap="flat" cmpd="sng" algn="ctr">
                      <a:solidFill>
                        <a:schemeClr val="tx1"/>
                      </a:solidFill>
                      <a:prstDash val="solid"/>
                      <a:round/>
                      <a:headEnd type="none" w="med" len="med"/>
                      <a:tailEnd type="none" w="med" len="med"/>
                    </a:lnR>
                    <a:lnT w="4763" cap="flat" cmpd="sng" algn="ctr">
                      <a:solidFill>
                        <a:srgbClr val="1C3879"/>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r>
                        <a:rPr lang="zh-CN" altLang="en-US" sz="1400" b="1">
                          <a:solidFill>
                            <a:srgbClr val="FFFFFF"/>
                          </a:solidFill>
                          <a:effectLst/>
                          <a:latin typeface="+mj-ea"/>
                          <a:ea typeface="+mj-ea"/>
                        </a:rPr>
                        <a:t>官方名称 </a:t>
                      </a:r>
                      <a:r>
                        <a:rPr lang="en-US" altLang="zh-CN" sz="1400" b="1">
                          <a:solidFill>
                            <a:srgbClr val="FFFFFF"/>
                          </a:solidFill>
                          <a:effectLst/>
                          <a:latin typeface="+mj-ea"/>
                          <a:ea typeface="+mj-ea"/>
                        </a:rPr>
                        <a:t>(</a:t>
                      </a:r>
                      <a:r>
                        <a:rPr lang="en-US" sz="1400" b="1">
                          <a:solidFill>
                            <a:srgbClr val="FFFFFF"/>
                          </a:solidFill>
                          <a:effectLst/>
                          <a:latin typeface="+mj-ea"/>
                          <a:ea typeface="+mj-ea"/>
                        </a:rPr>
                        <a:t>English)</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4763" cap="flat" cmpd="sng" algn="ctr">
                      <a:solidFill>
                        <a:srgbClr val="1C3879"/>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r>
                        <a:rPr lang="zh-CN" altLang="en-US" sz="1400" b="1">
                          <a:solidFill>
                            <a:srgbClr val="FFFFFF"/>
                          </a:solidFill>
                          <a:effectLst/>
                          <a:latin typeface="+mj-ea"/>
                          <a:ea typeface="+mj-ea"/>
                        </a:rPr>
                        <a:t>核心逻辑 </a:t>
                      </a:r>
                      <a:r>
                        <a:rPr lang="en-US" altLang="zh-CN" sz="1400" b="1">
                          <a:solidFill>
                            <a:srgbClr val="FFFFFF"/>
                          </a:solidFill>
                          <a:effectLst/>
                          <a:latin typeface="+mj-ea"/>
                          <a:ea typeface="+mj-ea"/>
                        </a:rPr>
                        <a:t>(</a:t>
                      </a:r>
                      <a:r>
                        <a:rPr lang="zh-CN" altLang="en-US" sz="1400" b="1">
                          <a:solidFill>
                            <a:srgbClr val="FFFFFF"/>
                          </a:solidFill>
                          <a:effectLst/>
                          <a:latin typeface="+mj-ea"/>
                          <a:ea typeface="+mj-ea"/>
                        </a:rPr>
                        <a:t>主客体结构</a:t>
                      </a:r>
                      <a:r>
                        <a:rPr lang="en-US" altLang="zh-CN" sz="1400" b="1">
                          <a:solidFill>
                            <a:srgbClr val="FFFFFF"/>
                          </a:solidFill>
                          <a:effectLst/>
                          <a:latin typeface="+mj-ea"/>
                          <a:ea typeface="+mj-ea"/>
                        </a:rPr>
                        <a:t>)</a:t>
                      </a:r>
                      <a:endParaRPr lang="zh-CN" altLang="en-US" sz="1400" b="1">
                        <a:solidFill>
                          <a:srgbClr val="FFFFFF"/>
                        </a:solidFill>
                        <a:effectLst/>
                        <a:latin typeface="+mj-ea"/>
                        <a:ea typeface="+mj-ea"/>
                      </a:endParaRP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4763" cap="flat" cmpd="sng" algn="ctr">
                      <a:solidFill>
                        <a:srgbClr val="1C3879"/>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r>
                        <a:rPr lang="zh-CN" altLang="en-US" sz="1400" b="1">
                          <a:solidFill>
                            <a:srgbClr val="FFFFFF"/>
                          </a:solidFill>
                          <a:effectLst/>
                          <a:latin typeface="+mj-ea"/>
                          <a:ea typeface="+mj-ea"/>
                        </a:rPr>
                        <a:t>思维逻辑与权威描述</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4763" cap="flat" cmpd="sng" algn="ctr">
                      <a:solidFill>
                        <a:srgbClr val="1C3879"/>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tc>
                  <a:txBody>
                    <a:bodyPr/>
                    <a:lstStyle/>
                    <a:p>
                      <a:r>
                        <a:rPr lang="zh-CN" altLang="en-US" sz="1400" b="1" dirty="0">
                          <a:solidFill>
                            <a:srgbClr val="FFFFFF"/>
                          </a:solidFill>
                          <a:effectLst/>
                          <a:latin typeface="+mj-ea"/>
                          <a:ea typeface="+mj-ea"/>
                        </a:rPr>
                        <a:t>成年人口比例 </a:t>
                      </a:r>
                      <a:r>
                        <a:rPr lang="en-US" altLang="zh-CN" sz="1400" b="1" dirty="0">
                          <a:solidFill>
                            <a:srgbClr val="FFFFFF"/>
                          </a:solidFill>
                          <a:effectLst/>
                          <a:latin typeface="+mj-ea"/>
                          <a:ea typeface="+mj-ea"/>
                        </a:rPr>
                        <a:t>(</a:t>
                      </a:r>
                      <a:r>
                        <a:rPr lang="zh-CN" altLang="en-US" sz="1400" b="1" dirty="0">
                          <a:solidFill>
                            <a:srgbClr val="FFFFFF"/>
                          </a:solidFill>
                          <a:effectLst/>
                          <a:latin typeface="+mj-ea"/>
                          <a:ea typeface="+mj-ea"/>
                        </a:rPr>
                        <a:t>估算</a:t>
                      </a:r>
                      <a:r>
                        <a:rPr lang="en-US" altLang="zh-CN" sz="1400" b="1" dirty="0">
                          <a:solidFill>
                            <a:srgbClr val="FFFFFF"/>
                          </a:solidFill>
                          <a:effectLst/>
                          <a:latin typeface="+mj-ea"/>
                          <a:ea typeface="+mj-ea"/>
                        </a:rPr>
                        <a:t>)</a:t>
                      </a:r>
                      <a:endParaRPr lang="zh-CN" altLang="en-US" sz="1400" b="1" dirty="0">
                        <a:solidFill>
                          <a:srgbClr val="FFFFFF"/>
                        </a:solidFill>
                        <a:effectLst/>
                        <a:latin typeface="+mj-ea"/>
                        <a:ea typeface="+mj-ea"/>
                      </a:endParaRPr>
                    </a:p>
                  </a:txBody>
                  <a:tcPr marL="30511" marR="30511" marT="15255" marB="15255" anchor="ctr">
                    <a:lnL w="12700" cap="flat" cmpd="sng" algn="ctr">
                      <a:solidFill>
                        <a:schemeClr val="tx1"/>
                      </a:solidFill>
                      <a:prstDash val="solid"/>
                      <a:round/>
                      <a:headEnd type="none" w="med" len="med"/>
                      <a:tailEnd type="none" w="med" len="med"/>
                    </a:lnL>
                    <a:lnR w="4763" cap="flat" cmpd="sng" algn="ctr">
                      <a:solidFill>
                        <a:srgbClr val="1C3879"/>
                      </a:solidFill>
                      <a:prstDash val="solid"/>
                      <a:round/>
                      <a:headEnd type="none" w="med" len="med"/>
                      <a:tailEnd type="none" w="med" len="med"/>
                    </a:lnR>
                    <a:lnT w="4763" cap="flat" cmpd="sng" algn="ctr">
                      <a:solidFill>
                        <a:srgbClr val="1C3879"/>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1C3879"/>
                    </a:solidFill>
                  </a:tcPr>
                </a:tc>
                <a:extLst>
                  <a:ext uri="{0D108BD9-81ED-4DB2-BD59-A6C34878D82A}">
                    <a16:rowId xmlns:a16="http://schemas.microsoft.com/office/drawing/2014/main" val="817707120"/>
                  </a:ext>
                </a:extLst>
              </a:tr>
              <a:tr h="1608152">
                <a:tc>
                  <a:txBody>
                    <a:bodyPr/>
                    <a:lstStyle/>
                    <a:p>
                      <a:r>
                        <a:rPr lang="en-US" altLang="zh-CN" sz="1200" b="1">
                          <a:solidFill>
                            <a:srgbClr val="000000"/>
                          </a:solidFill>
                          <a:effectLst/>
                          <a:latin typeface="+mj-ea"/>
                          <a:ea typeface="+mj-ea"/>
                        </a:rPr>
                        <a:t>2</a:t>
                      </a:r>
                      <a:endParaRPr lang="zh-CN" altLang="en-US" sz="1200" b="1">
                        <a:solidFill>
                          <a:srgbClr val="000000"/>
                        </a:solidFill>
                        <a:effectLst/>
                        <a:latin typeface="+mj-ea"/>
                        <a:ea typeface="+mj-ea"/>
                      </a:endParaRPr>
                    </a:p>
                  </a:txBody>
                  <a:tcPr marL="30511" marR="30511" marT="15255" marB="15255" anchor="ctr">
                    <a:lnL w="4763" cap="flat" cmpd="sng" algn="ctr">
                      <a:solidFill>
                        <a:srgbClr val="1C3879"/>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r>
                        <a:rPr lang="zh-CN" altLang="en-US" sz="1200" b="1">
                          <a:solidFill>
                            <a:srgbClr val="000000"/>
                          </a:solidFill>
                          <a:effectLst/>
                          <a:latin typeface="+mj-ea"/>
                          <a:ea typeface="+mj-ea"/>
                        </a:rPr>
                        <a:t>工具型心智</a:t>
                      </a:r>
                      <a:endParaRPr lang="zh-CN" altLang="en-US" sz="1200">
                        <a:solidFill>
                          <a:srgbClr val="000000"/>
                        </a:solidFill>
                        <a:effectLst/>
                        <a:latin typeface="+mj-ea"/>
                        <a:ea typeface="+mj-ea"/>
                      </a:endParaRPr>
                    </a:p>
                    <a:p>
                      <a:br>
                        <a:rPr lang="zh-CN" altLang="en-US" sz="1200">
                          <a:solidFill>
                            <a:srgbClr val="000000"/>
                          </a:solidFill>
                          <a:effectLst/>
                          <a:latin typeface="+mj-ea"/>
                          <a:ea typeface="+mj-ea"/>
                        </a:rPr>
                      </a:br>
                      <a:r>
                        <a:rPr lang="en-US" altLang="zh-CN" sz="1200">
                          <a:solidFill>
                            <a:srgbClr val="000000"/>
                          </a:solidFill>
                          <a:effectLst/>
                          <a:latin typeface="+mj-ea"/>
                          <a:ea typeface="+mj-ea"/>
                        </a:rPr>
                        <a:t>(</a:t>
                      </a:r>
                      <a:r>
                        <a:rPr lang="en-US" sz="1200">
                          <a:solidFill>
                            <a:srgbClr val="000000"/>
                          </a:solidFill>
                          <a:effectLst/>
                          <a:latin typeface="+mj-ea"/>
                          <a:ea typeface="+mj-ea"/>
                        </a:rPr>
                        <a:t>Imperial / Instrumental)</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EEEEE"/>
                    </a:solidFill>
                  </a:tcPr>
                </a:tc>
                <a:tc>
                  <a:txBody>
                    <a:bodyPr/>
                    <a:lstStyle/>
                    <a:p>
                      <a:pPr marL="171450" indent="-171450">
                        <a:buFont typeface="Arial" panose="020B0604020202020204" pitchFamily="34" charset="0"/>
                        <a:buChar char="•"/>
                      </a:pPr>
                      <a:r>
                        <a:rPr lang="zh-CN" altLang="en-US" sz="1200" b="1" dirty="0">
                          <a:solidFill>
                            <a:srgbClr val="000000"/>
                          </a:solidFill>
                          <a:effectLst/>
                          <a:latin typeface="+mj-ea"/>
                          <a:ea typeface="+mj-ea"/>
                        </a:rPr>
                        <a:t>主体 </a:t>
                      </a:r>
                      <a:r>
                        <a:rPr lang="en-US" altLang="zh-CN" sz="1200" b="1" dirty="0">
                          <a:solidFill>
                            <a:srgbClr val="000000"/>
                          </a:solidFill>
                          <a:effectLst/>
                          <a:latin typeface="+mj-ea"/>
                          <a:ea typeface="+mj-ea"/>
                        </a:rPr>
                        <a:t>(</a:t>
                      </a:r>
                      <a:r>
                        <a:rPr lang="zh-CN" altLang="en-US" sz="1200" b="1" dirty="0">
                          <a:solidFill>
                            <a:srgbClr val="000000"/>
                          </a:solidFill>
                          <a:effectLst/>
                          <a:latin typeface="+mj-ea"/>
                          <a:ea typeface="+mj-ea"/>
                        </a:rPr>
                        <a:t>被控</a:t>
                      </a:r>
                      <a:r>
                        <a:rPr lang="en-US" altLang="zh-CN" sz="1200" b="1" dirty="0">
                          <a:solidFill>
                            <a:srgbClr val="000000"/>
                          </a:solidFill>
                          <a:effectLst/>
                          <a:latin typeface="+mj-ea"/>
                          <a:ea typeface="+mj-ea"/>
                        </a:rPr>
                        <a:t>)</a:t>
                      </a:r>
                      <a:r>
                        <a:rPr lang="zh-CN" altLang="en-US" sz="1200" dirty="0">
                          <a:solidFill>
                            <a:srgbClr val="000000"/>
                          </a:solidFill>
                          <a:effectLst/>
                          <a:latin typeface="+mj-ea"/>
                          <a:ea typeface="+mj-ea"/>
                        </a:rPr>
                        <a:t>：个人的需求、冲动、利益</a:t>
                      </a:r>
                    </a:p>
                    <a:p>
                      <a:pPr marL="171450" indent="-171450">
                        <a:buFont typeface="Arial" panose="020B0604020202020204" pitchFamily="34" charset="0"/>
                        <a:buChar char="•"/>
                      </a:pPr>
                      <a:r>
                        <a:rPr lang="zh-CN" altLang="en-US" sz="1200" b="1" dirty="0">
                          <a:solidFill>
                            <a:srgbClr val="000000"/>
                          </a:solidFill>
                          <a:effectLst/>
                          <a:latin typeface="+mj-ea"/>
                          <a:ea typeface="+mj-ea"/>
                        </a:rPr>
                        <a:t>客体 </a:t>
                      </a:r>
                      <a:r>
                        <a:rPr lang="en-US" altLang="zh-CN" sz="1200" b="1" dirty="0">
                          <a:solidFill>
                            <a:srgbClr val="000000"/>
                          </a:solidFill>
                          <a:effectLst/>
                          <a:latin typeface="+mj-ea"/>
                          <a:ea typeface="+mj-ea"/>
                        </a:rPr>
                        <a:t>(</a:t>
                      </a:r>
                      <a:r>
                        <a:rPr lang="zh-CN" altLang="en-US" sz="1200" b="1" dirty="0">
                          <a:solidFill>
                            <a:srgbClr val="000000"/>
                          </a:solidFill>
                          <a:effectLst/>
                          <a:latin typeface="+mj-ea"/>
                          <a:ea typeface="+mj-ea"/>
                        </a:rPr>
                        <a:t>掌控</a:t>
                      </a:r>
                      <a:r>
                        <a:rPr lang="en-US" altLang="zh-CN" sz="1200" b="1" dirty="0">
                          <a:solidFill>
                            <a:srgbClr val="000000"/>
                          </a:solidFill>
                          <a:effectLst/>
                          <a:latin typeface="+mj-ea"/>
                          <a:ea typeface="+mj-ea"/>
                        </a:rPr>
                        <a:t>)</a:t>
                      </a:r>
                      <a:r>
                        <a:rPr lang="zh-CN" altLang="en-US" sz="1200" dirty="0">
                          <a:solidFill>
                            <a:srgbClr val="000000"/>
                          </a:solidFill>
                          <a:effectLst/>
                          <a:latin typeface="+mj-ea"/>
                          <a:ea typeface="+mj-ea"/>
                        </a:rPr>
                        <a:t>：身体反射、感觉、知觉</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EEEEE"/>
                    </a:solidFill>
                  </a:tcPr>
                </a:tc>
                <a:tc>
                  <a:txBody>
                    <a:bodyPr/>
                    <a:lstStyle/>
                    <a:p>
                      <a:r>
                        <a:rPr lang="zh-CN" altLang="en-US" sz="1200" b="1" dirty="0">
                          <a:solidFill>
                            <a:srgbClr val="000000"/>
                          </a:solidFill>
                          <a:effectLst/>
                          <a:latin typeface="+mj-ea"/>
                          <a:ea typeface="+mj-ea"/>
                        </a:rPr>
                        <a:t>“我是我的需求”</a:t>
                      </a:r>
                      <a:endParaRPr lang="zh-CN" altLang="en-US" sz="1200" dirty="0">
                        <a:solidFill>
                          <a:srgbClr val="000000"/>
                        </a:solidFill>
                        <a:effectLst/>
                        <a:latin typeface="+mj-ea"/>
                        <a:ea typeface="+mj-ea"/>
                      </a:endParaRPr>
                    </a:p>
                    <a:p>
                      <a:br>
                        <a:rPr lang="zh-CN" altLang="en-US" sz="1200" dirty="0">
                          <a:solidFill>
                            <a:srgbClr val="000000"/>
                          </a:solidFill>
                          <a:effectLst/>
                          <a:latin typeface="+mj-ea"/>
                          <a:ea typeface="+mj-ea"/>
                        </a:rPr>
                      </a:br>
                      <a:r>
                        <a:rPr lang="zh-CN" altLang="en-US" sz="1200" dirty="0">
                          <a:solidFill>
                            <a:srgbClr val="000000"/>
                          </a:solidFill>
                          <a:effectLst/>
                          <a:latin typeface="+mj-ea"/>
                          <a:ea typeface="+mj-ea"/>
                        </a:rPr>
                        <a:t>个体的思维被“具体的利益”所占据。虽然能理解规则，但遵守规则仅是为了避免惩罚或获取奖赏。缺乏真正的同理心，他人的存在只是满足自我的工具。</a:t>
                      </a:r>
                    </a:p>
                    <a:p>
                      <a:r>
                        <a:rPr lang="zh-CN" altLang="en-US" sz="1200" i="1" dirty="0">
                          <a:solidFill>
                            <a:srgbClr val="000000"/>
                          </a:solidFill>
                          <a:effectLst/>
                          <a:latin typeface="+mj-ea"/>
                          <a:ea typeface="+mj-ea"/>
                        </a:rPr>
                        <a:t>注：通常被称为“帝国心智”，因为他们像小皇帝一样试图控制环境。</a:t>
                      </a:r>
                      <a:endParaRPr lang="zh-CN" altLang="en-US" sz="1200" dirty="0">
                        <a:solidFill>
                          <a:srgbClr val="000000"/>
                        </a:solidFill>
                        <a:effectLst/>
                        <a:latin typeface="+mj-ea"/>
                        <a:ea typeface="+mj-ea"/>
                      </a:endParaRP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EEEEE"/>
                    </a:solidFill>
                  </a:tcPr>
                </a:tc>
                <a:tc>
                  <a:txBody>
                    <a:bodyPr/>
                    <a:lstStyle/>
                    <a:p>
                      <a:r>
                        <a:rPr lang="zh-CN" altLang="en-US" sz="1200" b="1" dirty="0">
                          <a:solidFill>
                            <a:srgbClr val="000000"/>
                          </a:solidFill>
                          <a:effectLst/>
                          <a:latin typeface="+mj-ea"/>
                          <a:ea typeface="+mj-ea"/>
                        </a:rPr>
                        <a:t>约 </a:t>
                      </a:r>
                      <a:r>
                        <a:rPr lang="en-US" altLang="zh-CN" sz="1200" b="1" dirty="0">
                          <a:solidFill>
                            <a:srgbClr val="000000"/>
                          </a:solidFill>
                          <a:effectLst/>
                          <a:latin typeface="+mj-ea"/>
                          <a:ea typeface="+mj-ea"/>
                        </a:rPr>
                        <a:t>6%</a:t>
                      </a:r>
                      <a:endParaRPr lang="zh-CN" altLang="en-US" sz="1200" dirty="0">
                        <a:solidFill>
                          <a:srgbClr val="000000"/>
                        </a:solidFill>
                        <a:effectLst/>
                        <a:latin typeface="+mj-ea"/>
                        <a:ea typeface="+mj-ea"/>
                      </a:endParaRPr>
                    </a:p>
                    <a:p>
                      <a:br>
                        <a:rPr lang="zh-CN" altLang="en-US" sz="1200" dirty="0">
                          <a:solidFill>
                            <a:srgbClr val="000000"/>
                          </a:solidFill>
                          <a:effectLst/>
                          <a:latin typeface="+mj-ea"/>
                          <a:ea typeface="+mj-ea"/>
                        </a:rPr>
                      </a:br>
                      <a:r>
                        <a:rPr lang="en-US" altLang="zh-CN" sz="1200" dirty="0">
                          <a:solidFill>
                            <a:srgbClr val="000000"/>
                          </a:solidFill>
                          <a:effectLst/>
                          <a:latin typeface="+mj-ea"/>
                          <a:ea typeface="+mj-ea"/>
                        </a:rPr>
                        <a:t>(</a:t>
                      </a:r>
                      <a:r>
                        <a:rPr lang="zh-CN" altLang="en-US" sz="1200" dirty="0">
                          <a:solidFill>
                            <a:srgbClr val="000000"/>
                          </a:solidFill>
                          <a:effectLst/>
                          <a:latin typeface="+mj-ea"/>
                          <a:ea typeface="+mj-ea"/>
                        </a:rPr>
                        <a:t>主要存在于青少年，成年人中较少见</a:t>
                      </a:r>
                      <a:r>
                        <a:rPr lang="en-US" altLang="zh-CN" sz="1200" dirty="0">
                          <a:solidFill>
                            <a:srgbClr val="000000"/>
                          </a:solidFill>
                          <a:effectLst/>
                          <a:latin typeface="+mj-ea"/>
                          <a:ea typeface="+mj-ea"/>
                        </a:rPr>
                        <a:t>)</a:t>
                      </a:r>
                    </a:p>
                  </a:txBody>
                  <a:tcPr marL="30511" marR="30511" marT="15255" marB="15255" anchor="ctr">
                    <a:lnL w="12700" cap="flat" cmpd="sng" algn="ctr">
                      <a:solidFill>
                        <a:schemeClr val="tx1"/>
                      </a:solidFill>
                      <a:prstDash val="solid"/>
                      <a:round/>
                      <a:headEnd type="none" w="med" len="med"/>
                      <a:tailEnd type="none" w="med" len="med"/>
                    </a:lnL>
                    <a:lnR w="4763" cap="flat" cmpd="sng" algn="ctr">
                      <a:solidFill>
                        <a:srgbClr val="1C3879"/>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EEEEE"/>
                    </a:solidFill>
                  </a:tcPr>
                </a:tc>
                <a:extLst>
                  <a:ext uri="{0D108BD9-81ED-4DB2-BD59-A6C34878D82A}">
                    <a16:rowId xmlns:a16="http://schemas.microsoft.com/office/drawing/2014/main" val="303219364"/>
                  </a:ext>
                </a:extLst>
              </a:tr>
              <a:tr h="1133623">
                <a:tc>
                  <a:txBody>
                    <a:bodyPr/>
                    <a:lstStyle/>
                    <a:p>
                      <a:r>
                        <a:rPr lang="en-US" altLang="zh-CN" sz="1200" b="1" dirty="0">
                          <a:solidFill>
                            <a:srgbClr val="000000"/>
                          </a:solidFill>
                          <a:effectLst/>
                          <a:latin typeface="+mj-ea"/>
                          <a:ea typeface="+mj-ea"/>
                        </a:rPr>
                        <a:t>3</a:t>
                      </a:r>
                      <a:endParaRPr lang="zh-CN" altLang="en-US" sz="1200" b="1" dirty="0">
                        <a:solidFill>
                          <a:srgbClr val="000000"/>
                        </a:solidFill>
                        <a:effectLst/>
                        <a:latin typeface="+mj-ea"/>
                        <a:ea typeface="+mj-ea"/>
                      </a:endParaRPr>
                    </a:p>
                  </a:txBody>
                  <a:tcPr marL="30511" marR="30511" marT="15255" marB="15255" anchor="ctr">
                    <a:lnL w="4763" cap="flat" cmpd="sng" algn="ctr">
                      <a:solidFill>
                        <a:srgbClr val="1C3879"/>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r>
                        <a:rPr lang="zh-CN" altLang="en-US" sz="1200" b="1">
                          <a:solidFill>
                            <a:srgbClr val="000000"/>
                          </a:solidFill>
                          <a:effectLst/>
                          <a:latin typeface="+mj-ea"/>
                          <a:ea typeface="+mj-ea"/>
                        </a:rPr>
                        <a:t>社会化心智</a:t>
                      </a:r>
                      <a:endParaRPr lang="zh-CN" altLang="en-US" sz="1200">
                        <a:solidFill>
                          <a:srgbClr val="000000"/>
                        </a:solidFill>
                        <a:effectLst/>
                        <a:latin typeface="+mj-ea"/>
                        <a:ea typeface="+mj-ea"/>
                      </a:endParaRPr>
                    </a:p>
                    <a:p>
                      <a:br>
                        <a:rPr lang="zh-CN" altLang="en-US" sz="1200">
                          <a:solidFill>
                            <a:srgbClr val="000000"/>
                          </a:solidFill>
                          <a:effectLst/>
                          <a:latin typeface="+mj-ea"/>
                          <a:ea typeface="+mj-ea"/>
                        </a:rPr>
                      </a:br>
                      <a:r>
                        <a:rPr lang="en-US" altLang="zh-CN" sz="1200">
                          <a:solidFill>
                            <a:srgbClr val="000000"/>
                          </a:solidFill>
                          <a:effectLst/>
                          <a:latin typeface="+mj-ea"/>
                          <a:ea typeface="+mj-ea"/>
                        </a:rPr>
                        <a:t>(</a:t>
                      </a:r>
                      <a:r>
                        <a:rPr lang="en-US" sz="1200">
                          <a:solidFill>
                            <a:srgbClr val="000000"/>
                          </a:solidFill>
                          <a:effectLst/>
                          <a:latin typeface="+mj-ea"/>
                          <a:ea typeface="+mj-ea"/>
                        </a:rPr>
                        <a:t>Socialized Mind)</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marL="171450" indent="-171450">
                        <a:buFont typeface="Arial" panose="020B0604020202020204" pitchFamily="34" charset="0"/>
                        <a:buChar char="•"/>
                      </a:pPr>
                      <a:r>
                        <a:rPr lang="zh-CN" altLang="en-US" sz="1200" b="1" dirty="0">
                          <a:solidFill>
                            <a:srgbClr val="000000"/>
                          </a:solidFill>
                          <a:effectLst/>
                          <a:latin typeface="+mj-ea"/>
                          <a:ea typeface="+mj-ea"/>
                        </a:rPr>
                        <a:t>主体 </a:t>
                      </a:r>
                      <a:r>
                        <a:rPr lang="en-US" altLang="zh-CN" sz="1200" b="1" dirty="0">
                          <a:solidFill>
                            <a:srgbClr val="000000"/>
                          </a:solidFill>
                          <a:effectLst/>
                          <a:latin typeface="+mj-ea"/>
                          <a:ea typeface="+mj-ea"/>
                        </a:rPr>
                        <a:t>(</a:t>
                      </a:r>
                      <a:r>
                        <a:rPr lang="zh-CN" altLang="en-US" sz="1200" b="1" dirty="0">
                          <a:solidFill>
                            <a:srgbClr val="000000"/>
                          </a:solidFill>
                          <a:effectLst/>
                          <a:latin typeface="+mj-ea"/>
                          <a:ea typeface="+mj-ea"/>
                        </a:rPr>
                        <a:t>被控</a:t>
                      </a:r>
                      <a:r>
                        <a:rPr lang="en-US" altLang="zh-CN" sz="1200" b="1" dirty="0">
                          <a:solidFill>
                            <a:srgbClr val="000000"/>
                          </a:solidFill>
                          <a:effectLst/>
                          <a:latin typeface="+mj-ea"/>
                          <a:ea typeface="+mj-ea"/>
                        </a:rPr>
                        <a:t>)</a:t>
                      </a:r>
                      <a:r>
                        <a:rPr lang="zh-CN" altLang="en-US" sz="1200" dirty="0">
                          <a:solidFill>
                            <a:srgbClr val="000000"/>
                          </a:solidFill>
                          <a:effectLst/>
                          <a:latin typeface="+mj-ea"/>
                          <a:ea typeface="+mj-ea"/>
                        </a:rPr>
                        <a:t>：人际关系、相互性、社会期望</a:t>
                      </a:r>
                    </a:p>
                    <a:p>
                      <a:pPr marL="171450" indent="-171450">
                        <a:buFont typeface="Arial" panose="020B0604020202020204" pitchFamily="34" charset="0"/>
                        <a:buChar char="•"/>
                      </a:pPr>
                      <a:r>
                        <a:rPr lang="zh-CN" altLang="en-US" sz="1200" b="1" dirty="0">
                          <a:solidFill>
                            <a:srgbClr val="000000"/>
                          </a:solidFill>
                          <a:effectLst/>
                          <a:latin typeface="+mj-ea"/>
                          <a:ea typeface="+mj-ea"/>
                        </a:rPr>
                        <a:t>客体 </a:t>
                      </a:r>
                      <a:r>
                        <a:rPr lang="en-US" altLang="zh-CN" sz="1200" b="1" dirty="0">
                          <a:solidFill>
                            <a:srgbClr val="000000"/>
                          </a:solidFill>
                          <a:effectLst/>
                          <a:latin typeface="+mj-ea"/>
                          <a:ea typeface="+mj-ea"/>
                        </a:rPr>
                        <a:t>(</a:t>
                      </a:r>
                      <a:r>
                        <a:rPr lang="zh-CN" altLang="en-US" sz="1200" b="1" dirty="0">
                          <a:solidFill>
                            <a:srgbClr val="000000"/>
                          </a:solidFill>
                          <a:effectLst/>
                          <a:latin typeface="+mj-ea"/>
                          <a:ea typeface="+mj-ea"/>
                        </a:rPr>
                        <a:t>掌控</a:t>
                      </a:r>
                      <a:r>
                        <a:rPr lang="en-US" altLang="zh-CN" sz="1200" b="1" dirty="0">
                          <a:solidFill>
                            <a:srgbClr val="000000"/>
                          </a:solidFill>
                          <a:effectLst/>
                          <a:latin typeface="+mj-ea"/>
                          <a:ea typeface="+mj-ea"/>
                        </a:rPr>
                        <a:t>)</a:t>
                      </a:r>
                      <a:r>
                        <a:rPr lang="zh-CN" altLang="en-US" sz="1200" dirty="0">
                          <a:solidFill>
                            <a:srgbClr val="000000"/>
                          </a:solidFill>
                          <a:effectLst/>
                          <a:latin typeface="+mj-ea"/>
                          <a:ea typeface="+mj-ea"/>
                        </a:rPr>
                        <a:t>：个人的需求、利益</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r>
                        <a:rPr lang="zh-CN" altLang="en-US" sz="1200" b="1" dirty="0">
                          <a:solidFill>
                            <a:srgbClr val="000000"/>
                          </a:solidFill>
                          <a:effectLst/>
                          <a:latin typeface="+mj-ea"/>
                          <a:ea typeface="+mj-ea"/>
                        </a:rPr>
                        <a:t>“我是我的关系”</a:t>
                      </a:r>
                      <a:endParaRPr lang="zh-CN" altLang="en-US" sz="1200" dirty="0">
                        <a:solidFill>
                          <a:srgbClr val="000000"/>
                        </a:solidFill>
                        <a:effectLst/>
                        <a:latin typeface="+mj-ea"/>
                        <a:ea typeface="+mj-ea"/>
                      </a:endParaRPr>
                    </a:p>
                    <a:p>
                      <a:r>
                        <a:rPr lang="zh-CN" altLang="en-US" sz="1200" dirty="0">
                          <a:solidFill>
                            <a:srgbClr val="000000"/>
                          </a:solidFill>
                          <a:effectLst/>
                          <a:latin typeface="+mj-ea"/>
                          <a:ea typeface="+mj-ea"/>
                        </a:rPr>
                        <a:t>个体不再被冲动控制，但现在被“他人的期望”所控制。没有独立的自我价值观，自我价值完全依赖于外部（如老板、配偶、社会规范）的认可。无法区分“我”和“我们”。</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r>
                        <a:rPr lang="zh-CN" altLang="en-US" sz="1200" b="1">
                          <a:solidFill>
                            <a:srgbClr val="000000"/>
                          </a:solidFill>
                          <a:effectLst/>
                          <a:latin typeface="+mj-ea"/>
                          <a:ea typeface="+mj-ea"/>
                        </a:rPr>
                        <a:t>约 </a:t>
                      </a:r>
                      <a:r>
                        <a:rPr lang="en-US" altLang="zh-CN" sz="1200" b="1">
                          <a:solidFill>
                            <a:srgbClr val="000000"/>
                          </a:solidFill>
                          <a:effectLst/>
                          <a:latin typeface="+mj-ea"/>
                          <a:ea typeface="+mj-ea"/>
                        </a:rPr>
                        <a:t>58%</a:t>
                      </a:r>
                      <a:endParaRPr lang="zh-CN" altLang="en-US" sz="1200">
                        <a:solidFill>
                          <a:srgbClr val="000000"/>
                        </a:solidFill>
                        <a:effectLst/>
                        <a:latin typeface="+mj-ea"/>
                        <a:ea typeface="+mj-ea"/>
                      </a:endParaRPr>
                    </a:p>
                    <a:p>
                      <a:br>
                        <a:rPr lang="zh-CN" altLang="en-US" sz="1200">
                          <a:solidFill>
                            <a:srgbClr val="000000"/>
                          </a:solidFill>
                          <a:effectLst/>
                          <a:latin typeface="+mj-ea"/>
                          <a:ea typeface="+mj-ea"/>
                        </a:rPr>
                      </a:br>
                      <a:r>
                        <a:rPr lang="en-US" altLang="zh-CN" sz="1200">
                          <a:solidFill>
                            <a:srgbClr val="000000"/>
                          </a:solidFill>
                          <a:effectLst/>
                          <a:latin typeface="+mj-ea"/>
                          <a:ea typeface="+mj-ea"/>
                        </a:rPr>
                        <a:t>(</a:t>
                      </a:r>
                      <a:r>
                        <a:rPr lang="zh-CN" altLang="en-US" sz="1200">
                          <a:solidFill>
                            <a:srgbClr val="000000"/>
                          </a:solidFill>
                          <a:effectLst/>
                          <a:latin typeface="+mj-ea"/>
                          <a:ea typeface="+mj-ea"/>
                        </a:rPr>
                        <a:t>社会的主流，包含了处于</a:t>
                      </a:r>
                      <a:r>
                        <a:rPr lang="en-US" altLang="zh-CN" sz="1200">
                          <a:solidFill>
                            <a:srgbClr val="000000"/>
                          </a:solidFill>
                          <a:effectLst/>
                          <a:latin typeface="+mj-ea"/>
                          <a:ea typeface="+mj-ea"/>
                        </a:rPr>
                        <a:t>3</a:t>
                      </a:r>
                      <a:r>
                        <a:rPr lang="zh-CN" altLang="en-US" sz="1200">
                          <a:solidFill>
                            <a:srgbClr val="000000"/>
                          </a:solidFill>
                          <a:effectLst/>
                          <a:latin typeface="+mj-ea"/>
                          <a:ea typeface="+mj-ea"/>
                        </a:rPr>
                        <a:t>阶及</a:t>
                      </a:r>
                      <a:r>
                        <a:rPr lang="en-US" altLang="zh-CN" sz="1200">
                          <a:solidFill>
                            <a:srgbClr val="000000"/>
                          </a:solidFill>
                          <a:effectLst/>
                          <a:latin typeface="+mj-ea"/>
                          <a:ea typeface="+mj-ea"/>
                        </a:rPr>
                        <a:t>3-4</a:t>
                      </a:r>
                      <a:r>
                        <a:rPr lang="zh-CN" altLang="en-US" sz="1200">
                          <a:solidFill>
                            <a:srgbClr val="000000"/>
                          </a:solidFill>
                          <a:effectLst/>
                          <a:latin typeface="+mj-ea"/>
                          <a:ea typeface="+mj-ea"/>
                        </a:rPr>
                        <a:t>过渡期的人群</a:t>
                      </a:r>
                      <a:r>
                        <a:rPr lang="en-US" altLang="zh-CN" sz="1200">
                          <a:solidFill>
                            <a:srgbClr val="000000"/>
                          </a:solidFill>
                          <a:effectLst/>
                          <a:latin typeface="+mj-ea"/>
                          <a:ea typeface="+mj-ea"/>
                        </a:rPr>
                        <a:t>)</a:t>
                      </a:r>
                    </a:p>
                  </a:txBody>
                  <a:tcPr marL="30511" marR="30511" marT="15255" marB="15255" anchor="ctr">
                    <a:lnL w="12700" cap="flat" cmpd="sng" algn="ctr">
                      <a:solidFill>
                        <a:schemeClr val="tx1"/>
                      </a:solidFill>
                      <a:prstDash val="solid"/>
                      <a:round/>
                      <a:headEnd type="none" w="med" len="med"/>
                      <a:tailEnd type="none" w="med" len="med"/>
                    </a:lnL>
                    <a:lnR w="4763" cap="flat" cmpd="sng" algn="ctr">
                      <a:solidFill>
                        <a:srgbClr val="1C3879"/>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82327956"/>
                  </a:ext>
                </a:extLst>
              </a:tr>
              <a:tr h="1133623">
                <a:tc>
                  <a:txBody>
                    <a:bodyPr/>
                    <a:lstStyle/>
                    <a:p>
                      <a:r>
                        <a:rPr lang="en-US" altLang="zh-CN" sz="1200" b="1">
                          <a:solidFill>
                            <a:srgbClr val="000000"/>
                          </a:solidFill>
                          <a:effectLst/>
                          <a:latin typeface="+mj-ea"/>
                          <a:ea typeface="+mj-ea"/>
                        </a:rPr>
                        <a:t>4</a:t>
                      </a:r>
                      <a:endParaRPr lang="zh-CN" altLang="en-US" sz="1200" b="1">
                        <a:solidFill>
                          <a:srgbClr val="000000"/>
                        </a:solidFill>
                        <a:effectLst/>
                        <a:latin typeface="+mj-ea"/>
                        <a:ea typeface="+mj-ea"/>
                      </a:endParaRPr>
                    </a:p>
                  </a:txBody>
                  <a:tcPr marL="30511" marR="30511" marT="15255" marB="15255" anchor="ctr">
                    <a:lnL w="4763" cap="flat" cmpd="sng" algn="ctr">
                      <a:solidFill>
                        <a:srgbClr val="1C3879"/>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5D5ED"/>
                    </a:solidFill>
                  </a:tcPr>
                </a:tc>
                <a:tc>
                  <a:txBody>
                    <a:bodyPr/>
                    <a:lstStyle/>
                    <a:p>
                      <a:r>
                        <a:rPr lang="zh-CN" altLang="en-US" sz="1200" b="1">
                          <a:solidFill>
                            <a:srgbClr val="000000"/>
                          </a:solidFill>
                          <a:effectLst/>
                          <a:latin typeface="+mj-ea"/>
                          <a:ea typeface="+mj-ea"/>
                        </a:rPr>
                        <a:t>自主型心智</a:t>
                      </a:r>
                      <a:endParaRPr lang="zh-CN" altLang="en-US" sz="1200">
                        <a:solidFill>
                          <a:srgbClr val="000000"/>
                        </a:solidFill>
                        <a:effectLst/>
                        <a:latin typeface="+mj-ea"/>
                        <a:ea typeface="+mj-ea"/>
                      </a:endParaRPr>
                    </a:p>
                    <a:p>
                      <a:br>
                        <a:rPr lang="zh-CN" altLang="en-US" sz="1200">
                          <a:solidFill>
                            <a:srgbClr val="000000"/>
                          </a:solidFill>
                          <a:effectLst/>
                          <a:latin typeface="+mj-ea"/>
                          <a:ea typeface="+mj-ea"/>
                        </a:rPr>
                      </a:br>
                      <a:r>
                        <a:rPr lang="en-US" altLang="zh-CN" sz="1200">
                          <a:solidFill>
                            <a:srgbClr val="000000"/>
                          </a:solidFill>
                          <a:effectLst/>
                          <a:latin typeface="+mj-ea"/>
                          <a:ea typeface="+mj-ea"/>
                        </a:rPr>
                        <a:t>(</a:t>
                      </a:r>
                      <a:r>
                        <a:rPr lang="en-US" sz="1200">
                          <a:solidFill>
                            <a:srgbClr val="000000"/>
                          </a:solidFill>
                          <a:effectLst/>
                          <a:latin typeface="+mj-ea"/>
                          <a:ea typeface="+mj-ea"/>
                        </a:rPr>
                        <a:t>Self-Authoring Mind)</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EEEEE"/>
                    </a:solidFill>
                  </a:tcPr>
                </a:tc>
                <a:tc>
                  <a:txBody>
                    <a:bodyPr/>
                    <a:lstStyle/>
                    <a:p>
                      <a:pPr marL="171450" indent="-171450">
                        <a:buFont typeface="Arial" panose="020B0604020202020204" pitchFamily="34" charset="0"/>
                        <a:buChar char="•"/>
                      </a:pPr>
                      <a:r>
                        <a:rPr lang="zh-CN" altLang="en-US" sz="1200" b="1" dirty="0">
                          <a:solidFill>
                            <a:srgbClr val="000000"/>
                          </a:solidFill>
                          <a:effectLst/>
                          <a:latin typeface="+mj-ea"/>
                          <a:ea typeface="+mj-ea"/>
                        </a:rPr>
                        <a:t>主体 </a:t>
                      </a:r>
                      <a:r>
                        <a:rPr lang="en-US" altLang="zh-CN" sz="1200" b="1" dirty="0">
                          <a:solidFill>
                            <a:srgbClr val="000000"/>
                          </a:solidFill>
                          <a:effectLst/>
                          <a:latin typeface="+mj-ea"/>
                          <a:ea typeface="+mj-ea"/>
                        </a:rPr>
                        <a:t>(</a:t>
                      </a:r>
                      <a:r>
                        <a:rPr lang="zh-CN" altLang="en-US" sz="1200" b="1" dirty="0">
                          <a:solidFill>
                            <a:srgbClr val="000000"/>
                          </a:solidFill>
                          <a:effectLst/>
                          <a:latin typeface="+mj-ea"/>
                          <a:ea typeface="+mj-ea"/>
                        </a:rPr>
                        <a:t>被控</a:t>
                      </a:r>
                      <a:r>
                        <a:rPr lang="en-US" altLang="zh-CN" sz="1200" b="1" dirty="0">
                          <a:solidFill>
                            <a:srgbClr val="000000"/>
                          </a:solidFill>
                          <a:effectLst/>
                          <a:latin typeface="+mj-ea"/>
                          <a:ea typeface="+mj-ea"/>
                        </a:rPr>
                        <a:t>)</a:t>
                      </a:r>
                      <a:r>
                        <a:rPr lang="zh-CN" altLang="en-US" sz="1200" dirty="0">
                          <a:solidFill>
                            <a:srgbClr val="000000"/>
                          </a:solidFill>
                          <a:effectLst/>
                          <a:latin typeface="+mj-ea"/>
                          <a:ea typeface="+mj-ea"/>
                        </a:rPr>
                        <a:t>：自我构建的身份、意识形态、原则</a:t>
                      </a:r>
                    </a:p>
                    <a:p>
                      <a:pPr marL="171450" indent="-171450">
                        <a:buFont typeface="Arial" panose="020B0604020202020204" pitchFamily="34" charset="0"/>
                        <a:buChar char="•"/>
                      </a:pPr>
                      <a:r>
                        <a:rPr lang="zh-CN" altLang="en-US" sz="1200" b="1" dirty="0">
                          <a:solidFill>
                            <a:srgbClr val="000000"/>
                          </a:solidFill>
                          <a:effectLst/>
                          <a:latin typeface="+mj-ea"/>
                          <a:ea typeface="+mj-ea"/>
                        </a:rPr>
                        <a:t>客体 </a:t>
                      </a:r>
                      <a:r>
                        <a:rPr lang="en-US" altLang="zh-CN" sz="1200" b="1" dirty="0">
                          <a:solidFill>
                            <a:srgbClr val="000000"/>
                          </a:solidFill>
                          <a:effectLst/>
                          <a:latin typeface="+mj-ea"/>
                          <a:ea typeface="+mj-ea"/>
                        </a:rPr>
                        <a:t>(</a:t>
                      </a:r>
                      <a:r>
                        <a:rPr lang="zh-CN" altLang="en-US" sz="1200" b="1" dirty="0">
                          <a:solidFill>
                            <a:srgbClr val="000000"/>
                          </a:solidFill>
                          <a:effectLst/>
                          <a:latin typeface="+mj-ea"/>
                          <a:ea typeface="+mj-ea"/>
                        </a:rPr>
                        <a:t>掌控</a:t>
                      </a:r>
                      <a:r>
                        <a:rPr lang="en-US" altLang="zh-CN" sz="1200" b="1" dirty="0">
                          <a:solidFill>
                            <a:srgbClr val="000000"/>
                          </a:solidFill>
                          <a:effectLst/>
                          <a:latin typeface="+mj-ea"/>
                          <a:ea typeface="+mj-ea"/>
                        </a:rPr>
                        <a:t>)</a:t>
                      </a:r>
                      <a:r>
                        <a:rPr lang="zh-CN" altLang="en-US" sz="1200" dirty="0">
                          <a:solidFill>
                            <a:srgbClr val="000000"/>
                          </a:solidFill>
                          <a:effectLst/>
                          <a:latin typeface="+mj-ea"/>
                          <a:ea typeface="+mj-ea"/>
                        </a:rPr>
                        <a:t>：人际关系、社会期望</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EEEEE"/>
                    </a:solidFill>
                  </a:tcPr>
                </a:tc>
                <a:tc>
                  <a:txBody>
                    <a:bodyPr/>
                    <a:lstStyle/>
                    <a:p>
                      <a:r>
                        <a:rPr lang="zh-CN" altLang="en-US" sz="1200" b="1" dirty="0">
                          <a:solidFill>
                            <a:srgbClr val="000000"/>
                          </a:solidFill>
                          <a:effectLst/>
                          <a:latin typeface="+mj-ea"/>
                          <a:ea typeface="+mj-ea"/>
                        </a:rPr>
                        <a:t>“我是我的原则”</a:t>
                      </a:r>
                      <a:endParaRPr lang="zh-CN" altLang="en-US" sz="1200" dirty="0">
                        <a:solidFill>
                          <a:srgbClr val="000000"/>
                        </a:solidFill>
                        <a:effectLst/>
                        <a:latin typeface="+mj-ea"/>
                        <a:ea typeface="+mj-ea"/>
                      </a:endParaRPr>
                    </a:p>
                    <a:p>
                      <a:r>
                        <a:rPr lang="zh-CN" altLang="en-US" sz="1200" dirty="0">
                          <a:solidFill>
                            <a:srgbClr val="000000"/>
                          </a:solidFill>
                          <a:effectLst/>
                          <a:latin typeface="+mj-ea"/>
                          <a:ea typeface="+mj-ea"/>
                        </a:rPr>
                        <a:t>个体能够跳出人际关系的束缚，建立自己的内部价值体系（</a:t>
                      </a:r>
                      <a:r>
                        <a:rPr lang="en-US" altLang="zh-CN" sz="1200" dirty="0">
                          <a:solidFill>
                            <a:srgbClr val="000000"/>
                          </a:solidFill>
                          <a:effectLst/>
                          <a:latin typeface="+mj-ea"/>
                          <a:ea typeface="+mj-ea"/>
                        </a:rPr>
                        <a:t>Self-Authorship</a:t>
                      </a:r>
                      <a:r>
                        <a:rPr lang="zh-CN" altLang="en-US" sz="1200" dirty="0">
                          <a:solidFill>
                            <a:srgbClr val="000000"/>
                          </a:solidFill>
                          <a:effectLst/>
                          <a:latin typeface="+mj-ea"/>
                          <a:ea typeface="+mj-ea"/>
                        </a:rPr>
                        <a:t>）。能为了长远目标而管理关系，不再为了取悦他人而行动。成为了自己心理上的“船长”。</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EEEEE"/>
                    </a:solidFill>
                  </a:tcPr>
                </a:tc>
                <a:tc>
                  <a:txBody>
                    <a:bodyPr/>
                    <a:lstStyle/>
                    <a:p>
                      <a:r>
                        <a:rPr lang="zh-CN" altLang="en-US" sz="1200" b="1">
                          <a:solidFill>
                            <a:srgbClr val="000000"/>
                          </a:solidFill>
                          <a:effectLst/>
                          <a:latin typeface="+mj-ea"/>
                          <a:ea typeface="+mj-ea"/>
                        </a:rPr>
                        <a:t>约 </a:t>
                      </a:r>
                      <a:r>
                        <a:rPr lang="en-US" altLang="zh-CN" sz="1200" b="1">
                          <a:solidFill>
                            <a:srgbClr val="000000"/>
                          </a:solidFill>
                          <a:effectLst/>
                          <a:latin typeface="+mj-ea"/>
                          <a:ea typeface="+mj-ea"/>
                        </a:rPr>
                        <a:t>35%</a:t>
                      </a:r>
                      <a:endParaRPr lang="zh-CN" altLang="en-US" sz="1200">
                        <a:solidFill>
                          <a:srgbClr val="000000"/>
                        </a:solidFill>
                        <a:effectLst/>
                        <a:latin typeface="+mj-ea"/>
                        <a:ea typeface="+mj-ea"/>
                      </a:endParaRPr>
                    </a:p>
                    <a:p>
                      <a:br>
                        <a:rPr lang="zh-CN" altLang="en-US" sz="1200">
                          <a:solidFill>
                            <a:srgbClr val="000000"/>
                          </a:solidFill>
                          <a:effectLst/>
                          <a:latin typeface="+mj-ea"/>
                          <a:ea typeface="+mj-ea"/>
                        </a:rPr>
                      </a:br>
                      <a:r>
                        <a:rPr lang="en-US" altLang="zh-CN" sz="1200">
                          <a:solidFill>
                            <a:srgbClr val="000000"/>
                          </a:solidFill>
                          <a:effectLst/>
                          <a:latin typeface="+mj-ea"/>
                          <a:ea typeface="+mj-ea"/>
                        </a:rPr>
                        <a:t>(</a:t>
                      </a:r>
                      <a:r>
                        <a:rPr lang="zh-CN" altLang="en-US" sz="1200">
                          <a:solidFill>
                            <a:srgbClr val="000000"/>
                          </a:solidFill>
                          <a:effectLst/>
                          <a:latin typeface="+mj-ea"/>
                          <a:ea typeface="+mj-ea"/>
                        </a:rPr>
                        <a:t>包含了处于</a:t>
                      </a:r>
                      <a:r>
                        <a:rPr lang="en-US" altLang="zh-CN" sz="1200">
                          <a:solidFill>
                            <a:srgbClr val="000000"/>
                          </a:solidFill>
                          <a:effectLst/>
                          <a:latin typeface="+mj-ea"/>
                          <a:ea typeface="+mj-ea"/>
                        </a:rPr>
                        <a:t>4</a:t>
                      </a:r>
                      <a:r>
                        <a:rPr lang="zh-CN" altLang="en-US" sz="1200">
                          <a:solidFill>
                            <a:srgbClr val="000000"/>
                          </a:solidFill>
                          <a:effectLst/>
                          <a:latin typeface="+mj-ea"/>
                          <a:ea typeface="+mj-ea"/>
                        </a:rPr>
                        <a:t>阶及</a:t>
                      </a:r>
                      <a:r>
                        <a:rPr lang="en-US" altLang="zh-CN" sz="1200">
                          <a:solidFill>
                            <a:srgbClr val="000000"/>
                          </a:solidFill>
                          <a:effectLst/>
                          <a:latin typeface="+mj-ea"/>
                          <a:ea typeface="+mj-ea"/>
                        </a:rPr>
                        <a:t>4-5</a:t>
                      </a:r>
                      <a:r>
                        <a:rPr lang="zh-CN" altLang="en-US" sz="1200">
                          <a:solidFill>
                            <a:srgbClr val="000000"/>
                          </a:solidFill>
                          <a:effectLst/>
                          <a:latin typeface="+mj-ea"/>
                          <a:ea typeface="+mj-ea"/>
                        </a:rPr>
                        <a:t>过渡期的人群</a:t>
                      </a:r>
                      <a:r>
                        <a:rPr lang="en-US" altLang="zh-CN" sz="1200">
                          <a:solidFill>
                            <a:srgbClr val="000000"/>
                          </a:solidFill>
                          <a:effectLst/>
                          <a:latin typeface="+mj-ea"/>
                          <a:ea typeface="+mj-ea"/>
                        </a:rPr>
                        <a:t>)</a:t>
                      </a:r>
                    </a:p>
                  </a:txBody>
                  <a:tcPr marL="30511" marR="30511" marT="15255" marB="15255" anchor="ctr">
                    <a:lnL w="12700" cap="flat" cmpd="sng" algn="ctr">
                      <a:solidFill>
                        <a:schemeClr val="tx1"/>
                      </a:solidFill>
                      <a:prstDash val="solid"/>
                      <a:round/>
                      <a:headEnd type="none" w="med" len="med"/>
                      <a:tailEnd type="none" w="med" len="med"/>
                    </a:lnL>
                    <a:lnR w="4763" cap="flat" cmpd="sng" algn="ctr">
                      <a:solidFill>
                        <a:srgbClr val="1C3879"/>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EEEEE"/>
                    </a:solidFill>
                  </a:tcPr>
                </a:tc>
                <a:extLst>
                  <a:ext uri="{0D108BD9-81ED-4DB2-BD59-A6C34878D82A}">
                    <a16:rowId xmlns:a16="http://schemas.microsoft.com/office/drawing/2014/main" val="3852024010"/>
                  </a:ext>
                </a:extLst>
              </a:tr>
              <a:tr h="1133623">
                <a:tc>
                  <a:txBody>
                    <a:bodyPr/>
                    <a:lstStyle/>
                    <a:p>
                      <a:r>
                        <a:rPr lang="en-US" altLang="zh-CN" sz="1200" b="1" dirty="0">
                          <a:solidFill>
                            <a:srgbClr val="000000"/>
                          </a:solidFill>
                          <a:effectLst/>
                          <a:latin typeface="+mj-ea"/>
                          <a:ea typeface="+mj-ea"/>
                        </a:rPr>
                        <a:t>5</a:t>
                      </a:r>
                      <a:endParaRPr lang="zh-CN" altLang="en-US" sz="1200" b="1" dirty="0">
                        <a:solidFill>
                          <a:srgbClr val="000000"/>
                        </a:solidFill>
                        <a:effectLst/>
                        <a:latin typeface="+mj-ea"/>
                        <a:ea typeface="+mj-ea"/>
                      </a:endParaRPr>
                    </a:p>
                  </a:txBody>
                  <a:tcPr marL="30511" marR="30511" marT="15255" marB="15255" anchor="ctr">
                    <a:lnL w="4763" cap="flat" cmpd="sng" algn="ctr">
                      <a:solidFill>
                        <a:srgbClr val="1C3879"/>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4763" cap="flat" cmpd="sng" algn="ctr">
                      <a:solidFill>
                        <a:srgbClr val="1C3879"/>
                      </a:solidFill>
                      <a:prstDash val="solid"/>
                      <a:round/>
                      <a:headEnd type="none" w="med" len="med"/>
                      <a:tailEnd type="none" w="med" len="med"/>
                    </a:lnB>
                    <a:solidFill>
                      <a:srgbClr val="C5D5ED"/>
                    </a:solidFill>
                  </a:tcPr>
                </a:tc>
                <a:tc>
                  <a:txBody>
                    <a:bodyPr/>
                    <a:lstStyle/>
                    <a:p>
                      <a:r>
                        <a:rPr lang="zh-CN" altLang="en-US" sz="1200" b="1" dirty="0">
                          <a:solidFill>
                            <a:srgbClr val="000000"/>
                          </a:solidFill>
                          <a:effectLst/>
                          <a:latin typeface="+mj-ea"/>
                          <a:ea typeface="+mj-ea"/>
                        </a:rPr>
                        <a:t>互依型</a:t>
                      </a:r>
                      <a:r>
                        <a:rPr lang="en-US" altLang="zh-CN" sz="1200" b="1" dirty="0">
                          <a:solidFill>
                            <a:srgbClr val="000000"/>
                          </a:solidFill>
                          <a:effectLst/>
                          <a:latin typeface="+mj-ea"/>
                          <a:ea typeface="+mj-ea"/>
                        </a:rPr>
                        <a:t>/</a:t>
                      </a:r>
                      <a:r>
                        <a:rPr lang="zh-CN" altLang="en-US" sz="1200" b="1" dirty="0">
                          <a:solidFill>
                            <a:srgbClr val="000000"/>
                          </a:solidFill>
                          <a:effectLst/>
                          <a:latin typeface="+mj-ea"/>
                          <a:ea typeface="+mj-ea"/>
                        </a:rPr>
                        <a:t>自转心智</a:t>
                      </a:r>
                      <a:endParaRPr lang="zh-CN" altLang="en-US" sz="1200" dirty="0">
                        <a:solidFill>
                          <a:srgbClr val="000000"/>
                        </a:solidFill>
                        <a:effectLst/>
                        <a:latin typeface="+mj-ea"/>
                        <a:ea typeface="+mj-ea"/>
                      </a:endParaRPr>
                    </a:p>
                    <a:p>
                      <a:br>
                        <a:rPr lang="zh-CN" altLang="en-US" sz="1200" dirty="0">
                          <a:solidFill>
                            <a:srgbClr val="000000"/>
                          </a:solidFill>
                          <a:effectLst/>
                          <a:latin typeface="+mj-ea"/>
                          <a:ea typeface="+mj-ea"/>
                        </a:rPr>
                      </a:br>
                      <a:r>
                        <a:rPr lang="en-US" altLang="zh-CN" sz="1200" dirty="0">
                          <a:solidFill>
                            <a:srgbClr val="000000"/>
                          </a:solidFill>
                          <a:effectLst/>
                          <a:latin typeface="+mj-ea"/>
                          <a:ea typeface="+mj-ea"/>
                        </a:rPr>
                        <a:t>(</a:t>
                      </a:r>
                      <a:r>
                        <a:rPr lang="en-US" sz="1200" dirty="0">
                          <a:solidFill>
                            <a:srgbClr val="000000"/>
                          </a:solidFill>
                          <a:effectLst/>
                          <a:latin typeface="+mj-ea"/>
                          <a:ea typeface="+mj-ea"/>
                        </a:rPr>
                        <a:t>Self-Transforming Mind)</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4763" cap="flat" cmpd="sng" algn="ctr">
                      <a:solidFill>
                        <a:srgbClr val="1C3879"/>
                      </a:solidFill>
                      <a:prstDash val="solid"/>
                      <a:round/>
                      <a:headEnd type="none" w="med" len="med"/>
                      <a:tailEnd type="none" w="med" len="med"/>
                    </a:lnB>
                    <a:solidFill>
                      <a:srgbClr val="FFFFFF"/>
                    </a:solidFill>
                  </a:tcPr>
                </a:tc>
                <a:tc>
                  <a:txBody>
                    <a:bodyPr/>
                    <a:lstStyle/>
                    <a:p>
                      <a:pPr marL="171450" indent="-171450">
                        <a:buFont typeface="Arial" panose="020B0604020202020204" pitchFamily="34" charset="0"/>
                        <a:buChar char="•"/>
                      </a:pPr>
                      <a:r>
                        <a:rPr lang="zh-CN" altLang="en-US" sz="1200" b="1" dirty="0">
                          <a:solidFill>
                            <a:srgbClr val="000000"/>
                          </a:solidFill>
                          <a:effectLst/>
                          <a:latin typeface="+mj-ea"/>
                          <a:ea typeface="+mj-ea"/>
                        </a:rPr>
                        <a:t>主体 </a:t>
                      </a:r>
                      <a:r>
                        <a:rPr lang="en-US" altLang="zh-CN" sz="1200" b="1" dirty="0">
                          <a:solidFill>
                            <a:srgbClr val="000000"/>
                          </a:solidFill>
                          <a:effectLst/>
                          <a:latin typeface="+mj-ea"/>
                          <a:ea typeface="+mj-ea"/>
                        </a:rPr>
                        <a:t>(</a:t>
                      </a:r>
                      <a:r>
                        <a:rPr lang="zh-CN" altLang="en-US" sz="1200" b="1" dirty="0">
                          <a:solidFill>
                            <a:srgbClr val="000000"/>
                          </a:solidFill>
                          <a:effectLst/>
                          <a:latin typeface="+mj-ea"/>
                          <a:ea typeface="+mj-ea"/>
                        </a:rPr>
                        <a:t>被控</a:t>
                      </a:r>
                      <a:r>
                        <a:rPr lang="en-US" altLang="zh-CN" sz="1200" b="1" dirty="0">
                          <a:solidFill>
                            <a:srgbClr val="000000"/>
                          </a:solidFill>
                          <a:effectLst/>
                          <a:latin typeface="+mj-ea"/>
                          <a:ea typeface="+mj-ea"/>
                        </a:rPr>
                        <a:t>)</a:t>
                      </a:r>
                      <a:r>
                        <a:rPr lang="zh-CN" altLang="en-US" sz="1200" dirty="0">
                          <a:solidFill>
                            <a:srgbClr val="000000"/>
                          </a:solidFill>
                          <a:effectLst/>
                          <a:latin typeface="+mj-ea"/>
                          <a:ea typeface="+mj-ea"/>
                        </a:rPr>
                        <a:t>：系统间的辩证、演化过程</a:t>
                      </a:r>
                    </a:p>
                    <a:p>
                      <a:pPr marL="171450" indent="-171450">
                        <a:buFont typeface="Arial" panose="020B0604020202020204" pitchFamily="34" charset="0"/>
                        <a:buChar char="•"/>
                      </a:pPr>
                      <a:r>
                        <a:rPr lang="zh-CN" altLang="en-US" sz="1200" b="1" dirty="0">
                          <a:solidFill>
                            <a:srgbClr val="000000"/>
                          </a:solidFill>
                          <a:effectLst/>
                          <a:latin typeface="+mj-ea"/>
                          <a:ea typeface="+mj-ea"/>
                        </a:rPr>
                        <a:t>客体 </a:t>
                      </a:r>
                      <a:r>
                        <a:rPr lang="en-US" altLang="zh-CN" sz="1200" b="1" dirty="0">
                          <a:solidFill>
                            <a:srgbClr val="000000"/>
                          </a:solidFill>
                          <a:effectLst/>
                          <a:latin typeface="+mj-ea"/>
                          <a:ea typeface="+mj-ea"/>
                        </a:rPr>
                        <a:t>(</a:t>
                      </a:r>
                      <a:r>
                        <a:rPr lang="zh-CN" altLang="en-US" sz="1200" b="1" dirty="0">
                          <a:solidFill>
                            <a:srgbClr val="000000"/>
                          </a:solidFill>
                          <a:effectLst/>
                          <a:latin typeface="+mj-ea"/>
                          <a:ea typeface="+mj-ea"/>
                        </a:rPr>
                        <a:t>掌控</a:t>
                      </a:r>
                      <a:r>
                        <a:rPr lang="en-US" altLang="zh-CN" sz="1200" b="1" dirty="0">
                          <a:solidFill>
                            <a:srgbClr val="000000"/>
                          </a:solidFill>
                          <a:effectLst/>
                          <a:latin typeface="+mj-ea"/>
                          <a:ea typeface="+mj-ea"/>
                        </a:rPr>
                        <a:t>)</a:t>
                      </a:r>
                      <a:r>
                        <a:rPr lang="zh-CN" altLang="en-US" sz="1200" dirty="0">
                          <a:solidFill>
                            <a:srgbClr val="000000"/>
                          </a:solidFill>
                          <a:effectLst/>
                          <a:latin typeface="+mj-ea"/>
                          <a:ea typeface="+mj-ea"/>
                        </a:rPr>
                        <a:t>：自我构建的身份、意识形态</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4763" cap="flat" cmpd="sng" algn="ctr">
                      <a:solidFill>
                        <a:srgbClr val="1C3879"/>
                      </a:solidFill>
                      <a:prstDash val="solid"/>
                      <a:round/>
                      <a:headEnd type="none" w="med" len="med"/>
                      <a:tailEnd type="none" w="med" len="med"/>
                    </a:lnB>
                    <a:solidFill>
                      <a:srgbClr val="FFFFFF"/>
                    </a:solidFill>
                  </a:tcPr>
                </a:tc>
                <a:tc>
                  <a:txBody>
                    <a:bodyPr/>
                    <a:lstStyle/>
                    <a:p>
                      <a:r>
                        <a:rPr lang="zh-CN" altLang="en-US" sz="1200" b="1" dirty="0">
                          <a:solidFill>
                            <a:srgbClr val="000000"/>
                          </a:solidFill>
                          <a:effectLst/>
                          <a:latin typeface="+mj-ea"/>
                          <a:ea typeface="+mj-ea"/>
                        </a:rPr>
                        <a:t>“我是变迁本身”</a:t>
                      </a:r>
                      <a:endParaRPr lang="zh-CN" altLang="en-US" sz="1200" dirty="0">
                        <a:solidFill>
                          <a:srgbClr val="000000"/>
                        </a:solidFill>
                        <a:effectLst/>
                        <a:latin typeface="+mj-ea"/>
                        <a:ea typeface="+mj-ea"/>
                      </a:endParaRPr>
                    </a:p>
                    <a:p>
                      <a:r>
                        <a:rPr lang="zh-CN" altLang="en-US" sz="1200" dirty="0">
                          <a:solidFill>
                            <a:srgbClr val="000000"/>
                          </a:solidFill>
                          <a:effectLst/>
                          <a:latin typeface="+mj-ea"/>
                          <a:ea typeface="+mj-ea"/>
                        </a:rPr>
                        <a:t>个体不再固守自己构建的系统，而是看到所有系统（包括自己的）都是局部的、不完整的。能同时容纳对立的观点（悖论），寻求多系统的整合与演化。</a:t>
                      </a:r>
                    </a:p>
                  </a:txBody>
                  <a:tcPr marL="30511" marR="30511" marT="15255" marB="1525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4763" cap="flat" cmpd="sng" algn="ctr">
                      <a:solidFill>
                        <a:srgbClr val="1C3879"/>
                      </a:solidFill>
                      <a:prstDash val="solid"/>
                      <a:round/>
                      <a:headEnd type="none" w="med" len="med"/>
                      <a:tailEnd type="none" w="med" len="med"/>
                    </a:lnB>
                    <a:solidFill>
                      <a:srgbClr val="FFFFFF"/>
                    </a:solidFill>
                  </a:tcPr>
                </a:tc>
                <a:tc>
                  <a:txBody>
                    <a:bodyPr/>
                    <a:lstStyle/>
                    <a:p>
                      <a:r>
                        <a:rPr lang="en-US" altLang="zh-CN" sz="1200" b="1" dirty="0">
                          <a:solidFill>
                            <a:srgbClr val="000000"/>
                          </a:solidFill>
                          <a:effectLst/>
                          <a:latin typeface="+mj-ea"/>
                          <a:ea typeface="+mj-ea"/>
                        </a:rPr>
                        <a:t>&lt; 1%</a:t>
                      </a:r>
                      <a:endParaRPr lang="zh-CN" altLang="en-US" sz="1200" dirty="0">
                        <a:solidFill>
                          <a:srgbClr val="000000"/>
                        </a:solidFill>
                        <a:effectLst/>
                        <a:latin typeface="+mj-ea"/>
                        <a:ea typeface="+mj-ea"/>
                      </a:endParaRPr>
                    </a:p>
                    <a:p>
                      <a:br>
                        <a:rPr lang="zh-CN" altLang="en-US" sz="1200" dirty="0">
                          <a:solidFill>
                            <a:srgbClr val="000000"/>
                          </a:solidFill>
                          <a:effectLst/>
                          <a:latin typeface="+mj-ea"/>
                          <a:ea typeface="+mj-ea"/>
                        </a:rPr>
                      </a:br>
                      <a:r>
                        <a:rPr lang="en-US" altLang="zh-CN" sz="1200" dirty="0">
                          <a:solidFill>
                            <a:srgbClr val="000000"/>
                          </a:solidFill>
                          <a:effectLst/>
                          <a:latin typeface="+mj-ea"/>
                          <a:ea typeface="+mj-ea"/>
                        </a:rPr>
                        <a:t>(</a:t>
                      </a:r>
                      <a:r>
                        <a:rPr lang="zh-CN" altLang="en-US" sz="1200" dirty="0">
                          <a:solidFill>
                            <a:srgbClr val="000000"/>
                          </a:solidFill>
                          <a:effectLst/>
                          <a:latin typeface="+mj-ea"/>
                          <a:ea typeface="+mj-ea"/>
                        </a:rPr>
                        <a:t>极罕见，通常出现在人生后期或极高智慧者中</a:t>
                      </a:r>
                      <a:r>
                        <a:rPr lang="en-US" altLang="zh-CN" sz="1200" dirty="0">
                          <a:solidFill>
                            <a:srgbClr val="000000"/>
                          </a:solidFill>
                          <a:effectLst/>
                          <a:latin typeface="+mj-ea"/>
                          <a:ea typeface="+mj-ea"/>
                        </a:rPr>
                        <a:t>)</a:t>
                      </a:r>
                    </a:p>
                  </a:txBody>
                  <a:tcPr marL="30511" marR="30511" marT="15255" marB="15255" anchor="ctr">
                    <a:lnL w="12700" cap="flat" cmpd="sng" algn="ctr">
                      <a:solidFill>
                        <a:schemeClr val="tx1"/>
                      </a:solidFill>
                      <a:prstDash val="solid"/>
                      <a:round/>
                      <a:headEnd type="none" w="med" len="med"/>
                      <a:tailEnd type="none" w="med" len="med"/>
                    </a:lnL>
                    <a:lnR w="4763" cap="flat" cmpd="sng" algn="ctr">
                      <a:solidFill>
                        <a:srgbClr val="1C3879"/>
                      </a:solidFill>
                      <a:prstDash val="solid"/>
                      <a:round/>
                      <a:headEnd type="none" w="med" len="med"/>
                      <a:tailEnd type="none" w="med" len="med"/>
                    </a:lnR>
                    <a:lnT w="12700" cap="flat" cmpd="sng" algn="ctr">
                      <a:solidFill>
                        <a:schemeClr val="tx1"/>
                      </a:solidFill>
                      <a:prstDash val="solid"/>
                      <a:round/>
                      <a:headEnd type="none" w="med" len="med"/>
                      <a:tailEnd type="none" w="med" len="med"/>
                    </a:lnT>
                    <a:lnB w="4763" cap="flat" cmpd="sng" algn="ctr">
                      <a:solidFill>
                        <a:srgbClr val="1C3879"/>
                      </a:solidFill>
                      <a:prstDash val="solid"/>
                      <a:round/>
                      <a:headEnd type="none" w="med" len="med"/>
                      <a:tailEnd type="none" w="med" len="med"/>
                    </a:lnB>
                    <a:solidFill>
                      <a:srgbClr val="FFFFFF"/>
                    </a:solidFill>
                  </a:tcPr>
                </a:tc>
                <a:extLst>
                  <a:ext uri="{0D108BD9-81ED-4DB2-BD59-A6C34878D82A}">
                    <a16:rowId xmlns:a16="http://schemas.microsoft.com/office/drawing/2014/main" val="706337465"/>
                  </a:ext>
                </a:extLst>
              </a:tr>
            </a:tbl>
          </a:graphicData>
        </a:graphic>
      </p:graphicFrame>
      <p:sp>
        <p:nvSpPr>
          <p:cNvPr id="5" name="文本框 4">
            <a:extLst>
              <a:ext uri="{FF2B5EF4-FFF2-40B4-BE49-F238E27FC236}">
                <a16:creationId xmlns:a16="http://schemas.microsoft.com/office/drawing/2014/main" id="{8F5FAF1B-CB11-CC58-6634-386C4C99464C}"/>
              </a:ext>
            </a:extLst>
          </p:cNvPr>
          <p:cNvSpPr txBox="1"/>
          <p:nvPr/>
        </p:nvSpPr>
        <p:spPr>
          <a:xfrm>
            <a:off x="1443125" y="688805"/>
            <a:ext cx="9619959" cy="369332"/>
          </a:xfrm>
          <a:prstGeom prst="rect">
            <a:avLst/>
          </a:prstGeom>
          <a:noFill/>
        </p:spPr>
        <p:txBody>
          <a:bodyPr wrap="square">
            <a:spAutoFit/>
          </a:bodyPr>
          <a:lstStyle/>
          <a:p>
            <a:r>
              <a:rPr lang="zh-CN" altLang="en-US" b="1" dirty="0"/>
              <a:t>数据来源</a:t>
            </a:r>
            <a:r>
              <a:rPr lang="zh-CN" altLang="en-US" dirty="0"/>
              <a:t>：基于对美国数百名中高层管理人员及专业人士的纵向研究统计（</a:t>
            </a:r>
            <a:r>
              <a:rPr lang="en-US" altLang="zh-CN" dirty="0"/>
              <a:t>Kegan &amp; Lahey</a:t>
            </a:r>
            <a:r>
              <a:rPr lang="zh-CN" altLang="en-US" dirty="0"/>
              <a:t>）。</a:t>
            </a:r>
          </a:p>
        </p:txBody>
      </p:sp>
    </p:spTree>
    <p:extLst>
      <p:ext uri="{BB962C8B-B14F-4D97-AF65-F5344CB8AC3E}">
        <p14:creationId xmlns:p14="http://schemas.microsoft.com/office/powerpoint/2010/main" val="1402740988"/>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97BF283-E0C4-2FFF-37B0-D6A26A6BACD0}"/>
              </a:ext>
            </a:extLst>
          </p:cNvPr>
          <p:cNvSpPr>
            <a:spLocks noGrp="1"/>
          </p:cNvSpPr>
          <p:nvPr>
            <p:ph type="title"/>
          </p:nvPr>
        </p:nvSpPr>
        <p:spPr/>
        <p:txBody>
          <a:bodyPr/>
          <a:lstStyle/>
          <a:p>
            <a:r>
              <a:rPr lang="zh-CN" altLang="en-US" dirty="0"/>
              <a:t>格雷姆</a:t>
            </a:r>
            <a:r>
              <a:rPr lang="en-US" altLang="zh-CN" dirty="0"/>
              <a:t>·</a:t>
            </a:r>
            <a:r>
              <a:rPr lang="zh-CN" altLang="en-US" dirty="0"/>
              <a:t>哈尔福德：关系复杂性层级表</a:t>
            </a:r>
          </a:p>
        </p:txBody>
      </p:sp>
      <p:graphicFrame>
        <p:nvGraphicFramePr>
          <p:cNvPr id="4" name="表格 3">
            <a:extLst>
              <a:ext uri="{FF2B5EF4-FFF2-40B4-BE49-F238E27FC236}">
                <a16:creationId xmlns:a16="http://schemas.microsoft.com/office/drawing/2014/main" id="{2E41B383-1F61-1B83-1027-ABD8E4F4CD6C}"/>
              </a:ext>
            </a:extLst>
          </p:cNvPr>
          <p:cNvGraphicFramePr>
            <a:graphicFrameLocks noGrp="1"/>
          </p:cNvGraphicFramePr>
          <p:nvPr>
            <p:extLst>
              <p:ext uri="{D42A27DB-BD31-4B8C-83A1-F6EECF244321}">
                <p14:modId xmlns:p14="http://schemas.microsoft.com/office/powerpoint/2010/main" val="2468552975"/>
              </p:ext>
            </p:extLst>
          </p:nvPr>
        </p:nvGraphicFramePr>
        <p:xfrm>
          <a:off x="1055988" y="841472"/>
          <a:ext cx="10797552" cy="5805442"/>
        </p:xfrm>
        <a:graphic>
          <a:graphicData uri="http://schemas.openxmlformats.org/drawingml/2006/table">
            <a:tbl>
              <a:tblPr/>
              <a:tblGrid>
                <a:gridCol w="1799592">
                  <a:extLst>
                    <a:ext uri="{9D8B030D-6E8A-4147-A177-3AD203B41FA5}">
                      <a16:colId xmlns:a16="http://schemas.microsoft.com/office/drawing/2014/main" val="1109928803"/>
                    </a:ext>
                  </a:extLst>
                </a:gridCol>
                <a:gridCol w="1799592">
                  <a:extLst>
                    <a:ext uri="{9D8B030D-6E8A-4147-A177-3AD203B41FA5}">
                      <a16:colId xmlns:a16="http://schemas.microsoft.com/office/drawing/2014/main" val="3506936257"/>
                    </a:ext>
                  </a:extLst>
                </a:gridCol>
                <a:gridCol w="1799592">
                  <a:extLst>
                    <a:ext uri="{9D8B030D-6E8A-4147-A177-3AD203B41FA5}">
                      <a16:colId xmlns:a16="http://schemas.microsoft.com/office/drawing/2014/main" val="4291321643"/>
                    </a:ext>
                  </a:extLst>
                </a:gridCol>
                <a:gridCol w="1799592">
                  <a:extLst>
                    <a:ext uri="{9D8B030D-6E8A-4147-A177-3AD203B41FA5}">
                      <a16:colId xmlns:a16="http://schemas.microsoft.com/office/drawing/2014/main" val="12273700"/>
                    </a:ext>
                  </a:extLst>
                </a:gridCol>
                <a:gridCol w="1799592">
                  <a:extLst>
                    <a:ext uri="{9D8B030D-6E8A-4147-A177-3AD203B41FA5}">
                      <a16:colId xmlns:a16="http://schemas.microsoft.com/office/drawing/2014/main" val="1039858379"/>
                    </a:ext>
                  </a:extLst>
                </a:gridCol>
                <a:gridCol w="1799592">
                  <a:extLst>
                    <a:ext uri="{9D8B030D-6E8A-4147-A177-3AD203B41FA5}">
                      <a16:colId xmlns:a16="http://schemas.microsoft.com/office/drawing/2014/main" val="2106036275"/>
                    </a:ext>
                  </a:extLst>
                </a:gridCol>
              </a:tblGrid>
              <a:tr h="208270">
                <a:tc>
                  <a:txBody>
                    <a:bodyPr/>
                    <a:lstStyle/>
                    <a:p>
                      <a:pPr rtl="0"/>
                      <a:r>
                        <a:rPr lang="zh-CN" altLang="en-US" sz="1000" b="1">
                          <a:solidFill>
                            <a:srgbClr val="000000"/>
                          </a:solidFill>
                          <a:effectLst/>
                          <a:latin typeface="+mj-ea"/>
                          <a:ea typeface="+mj-ea"/>
                        </a:rPr>
                        <a:t>关系层级 </a:t>
                      </a:r>
                      <a:r>
                        <a:rPr lang="en-US" altLang="zh-CN" sz="1000" b="1">
                          <a:solidFill>
                            <a:srgbClr val="000000"/>
                          </a:solidFill>
                          <a:effectLst/>
                          <a:latin typeface="+mj-ea"/>
                          <a:ea typeface="+mj-ea"/>
                        </a:rPr>
                        <a:t>(</a:t>
                      </a:r>
                      <a:r>
                        <a:rPr lang="en-US" sz="1000" b="1">
                          <a:solidFill>
                            <a:srgbClr val="000000"/>
                          </a:solidFill>
                          <a:effectLst/>
                          <a:latin typeface="+mj-ea"/>
                          <a:ea typeface="+mj-ea"/>
                        </a:rPr>
                        <a:t>Level)</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C7D7EB"/>
                    </a:solidFill>
                  </a:tcPr>
                </a:tc>
                <a:tc>
                  <a:txBody>
                    <a:bodyPr/>
                    <a:lstStyle/>
                    <a:p>
                      <a:pPr rtl="0"/>
                      <a:r>
                        <a:rPr lang="zh-CN" altLang="en-US" sz="1000" b="1">
                          <a:solidFill>
                            <a:srgbClr val="000000"/>
                          </a:solidFill>
                          <a:effectLst/>
                          <a:latin typeface="+mj-ea"/>
                          <a:ea typeface="+mj-ea"/>
                        </a:rPr>
                        <a:t>变量维度</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C7D7EB"/>
                    </a:solidFill>
                  </a:tcPr>
                </a:tc>
                <a:tc>
                  <a:txBody>
                    <a:bodyPr/>
                    <a:lstStyle/>
                    <a:p>
                      <a:pPr rtl="0"/>
                      <a:r>
                        <a:rPr lang="zh-CN" altLang="en-US" sz="1000" b="1">
                          <a:solidFill>
                            <a:srgbClr val="000000"/>
                          </a:solidFill>
                          <a:effectLst/>
                          <a:latin typeface="+mj-ea"/>
                          <a:ea typeface="+mj-ea"/>
                        </a:rPr>
                        <a:t>核心逻辑 </a:t>
                      </a:r>
                      <a:r>
                        <a:rPr lang="en-US" altLang="zh-CN" sz="1000" b="1">
                          <a:solidFill>
                            <a:srgbClr val="000000"/>
                          </a:solidFill>
                          <a:effectLst/>
                          <a:latin typeface="+mj-ea"/>
                          <a:ea typeface="+mj-ea"/>
                        </a:rPr>
                        <a:t>(</a:t>
                      </a:r>
                      <a:r>
                        <a:rPr lang="en-US" sz="1000" b="1">
                          <a:solidFill>
                            <a:srgbClr val="000000"/>
                          </a:solidFill>
                          <a:effectLst/>
                          <a:latin typeface="+mj-ea"/>
                          <a:ea typeface="+mj-ea"/>
                        </a:rPr>
                        <a:t>Logic)</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C7D7EB"/>
                    </a:solidFill>
                  </a:tcPr>
                </a:tc>
                <a:tc>
                  <a:txBody>
                    <a:bodyPr/>
                    <a:lstStyle/>
                    <a:p>
                      <a:pPr rtl="0"/>
                      <a:r>
                        <a:rPr lang="zh-CN" altLang="en-US" sz="1000" b="1">
                          <a:solidFill>
                            <a:srgbClr val="000000"/>
                          </a:solidFill>
                          <a:effectLst/>
                          <a:latin typeface="+mj-ea"/>
                          <a:ea typeface="+mj-ea"/>
                        </a:rPr>
                        <a:t>典型任务与举例 </a:t>
                      </a:r>
                      <a:r>
                        <a:rPr lang="en-US" altLang="zh-CN" sz="1000" b="1">
                          <a:solidFill>
                            <a:srgbClr val="000000"/>
                          </a:solidFill>
                          <a:effectLst/>
                          <a:latin typeface="+mj-ea"/>
                          <a:ea typeface="+mj-ea"/>
                        </a:rPr>
                        <a:t>(</a:t>
                      </a:r>
                      <a:r>
                        <a:rPr lang="en-US" sz="1000" b="1">
                          <a:solidFill>
                            <a:srgbClr val="000000"/>
                          </a:solidFill>
                          <a:effectLst/>
                          <a:latin typeface="+mj-ea"/>
                          <a:ea typeface="+mj-ea"/>
                        </a:rPr>
                        <a:t>Examples)</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C7D7EB"/>
                    </a:solidFill>
                  </a:tcPr>
                </a:tc>
                <a:tc>
                  <a:txBody>
                    <a:bodyPr/>
                    <a:lstStyle/>
                    <a:p>
                      <a:pPr rtl="0"/>
                      <a:r>
                        <a:rPr lang="zh-CN" altLang="en-US" sz="1000" b="1">
                          <a:solidFill>
                            <a:srgbClr val="000000"/>
                          </a:solidFill>
                          <a:effectLst/>
                          <a:latin typeface="+mj-ea"/>
                          <a:ea typeface="+mj-ea"/>
                        </a:rPr>
                        <a:t>硬件要求 </a:t>
                      </a:r>
                      <a:r>
                        <a:rPr lang="en-US" altLang="zh-CN" sz="1000" b="1">
                          <a:solidFill>
                            <a:srgbClr val="000000"/>
                          </a:solidFill>
                          <a:effectLst/>
                          <a:latin typeface="+mj-ea"/>
                          <a:ea typeface="+mj-ea"/>
                        </a:rPr>
                        <a:t>(</a:t>
                      </a:r>
                      <a:r>
                        <a:rPr lang="zh-CN" altLang="en-US" sz="1000" b="1">
                          <a:solidFill>
                            <a:srgbClr val="000000"/>
                          </a:solidFill>
                          <a:effectLst/>
                          <a:latin typeface="+mj-ea"/>
                          <a:ea typeface="+mj-ea"/>
                        </a:rPr>
                        <a:t>大脑发育</a:t>
                      </a:r>
                      <a:r>
                        <a:rPr lang="en-US" altLang="zh-CN" sz="1000" b="1">
                          <a:solidFill>
                            <a:srgbClr val="000000"/>
                          </a:solidFill>
                          <a:effectLst/>
                          <a:latin typeface="+mj-ea"/>
                          <a:ea typeface="+mj-ea"/>
                        </a:rPr>
                        <a:t>)</a:t>
                      </a:r>
                      <a:endParaRPr lang="zh-CN" altLang="en-US" sz="1000" b="1">
                        <a:solidFill>
                          <a:srgbClr val="000000"/>
                        </a:solidFill>
                        <a:effectLst/>
                        <a:latin typeface="+mj-ea"/>
                        <a:ea typeface="+mj-ea"/>
                      </a:endParaRP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C7D7EB"/>
                    </a:solidFill>
                  </a:tcPr>
                </a:tc>
                <a:tc>
                  <a:txBody>
                    <a:bodyPr/>
                    <a:lstStyle/>
                    <a:p>
                      <a:pPr rtl="0"/>
                      <a:r>
                        <a:rPr lang="zh-CN" altLang="en-US" sz="1000" b="1">
                          <a:solidFill>
                            <a:srgbClr val="000000"/>
                          </a:solidFill>
                          <a:effectLst/>
                          <a:latin typeface="+mj-ea"/>
                          <a:ea typeface="+mj-ea"/>
                        </a:rPr>
                        <a:t>人口比率 </a:t>
                      </a:r>
                      <a:r>
                        <a:rPr lang="en-US" altLang="zh-CN" sz="1000" b="1">
                          <a:solidFill>
                            <a:srgbClr val="000000"/>
                          </a:solidFill>
                          <a:effectLst/>
                          <a:latin typeface="+mj-ea"/>
                          <a:ea typeface="+mj-ea"/>
                        </a:rPr>
                        <a:t>(</a:t>
                      </a:r>
                      <a:r>
                        <a:rPr lang="zh-CN" altLang="en-US" sz="1000" b="1">
                          <a:solidFill>
                            <a:srgbClr val="000000"/>
                          </a:solidFill>
                          <a:effectLst/>
                          <a:latin typeface="+mj-ea"/>
                          <a:ea typeface="+mj-ea"/>
                        </a:rPr>
                        <a:t>成年人估算</a:t>
                      </a:r>
                      <a:r>
                        <a:rPr lang="en-US" altLang="zh-CN" sz="1000" b="1">
                          <a:solidFill>
                            <a:srgbClr val="000000"/>
                          </a:solidFill>
                          <a:effectLst/>
                          <a:latin typeface="+mj-ea"/>
                          <a:ea typeface="+mj-ea"/>
                        </a:rPr>
                        <a:t>)</a:t>
                      </a:r>
                      <a:endParaRPr lang="zh-CN" altLang="en-US" sz="1000" b="1">
                        <a:solidFill>
                          <a:srgbClr val="000000"/>
                        </a:solidFill>
                        <a:effectLst/>
                        <a:latin typeface="+mj-ea"/>
                        <a:ea typeface="+mj-ea"/>
                      </a:endParaRP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C7D7EB"/>
                    </a:solidFill>
                  </a:tcPr>
                </a:tc>
                <a:extLst>
                  <a:ext uri="{0D108BD9-81ED-4DB2-BD59-A6C34878D82A}">
                    <a16:rowId xmlns:a16="http://schemas.microsoft.com/office/drawing/2014/main" val="786030629"/>
                  </a:ext>
                </a:extLst>
              </a:tr>
              <a:tr h="712329">
                <a:tc>
                  <a:txBody>
                    <a:bodyPr/>
                    <a:lstStyle/>
                    <a:p>
                      <a:pPr rtl="0"/>
                      <a:r>
                        <a:rPr lang="en-US" sz="1000" b="1">
                          <a:solidFill>
                            <a:srgbClr val="000000"/>
                          </a:solidFill>
                          <a:effectLst/>
                          <a:latin typeface="+mj-ea"/>
                          <a:ea typeface="+mj-ea"/>
                        </a:rPr>
                        <a:t>Level 1</a:t>
                      </a:r>
                    </a:p>
                    <a:p>
                      <a:pPr rtl="0"/>
                      <a:br>
                        <a:rPr lang="en-US" sz="1000" b="1">
                          <a:solidFill>
                            <a:srgbClr val="000000"/>
                          </a:solidFill>
                          <a:effectLst/>
                          <a:latin typeface="+mj-ea"/>
                          <a:ea typeface="+mj-ea"/>
                        </a:rPr>
                      </a:br>
                      <a:r>
                        <a:rPr lang="zh-CN" altLang="en-US" sz="1000" b="1">
                          <a:solidFill>
                            <a:srgbClr val="000000"/>
                          </a:solidFill>
                          <a:effectLst/>
                          <a:latin typeface="+mj-ea"/>
                          <a:ea typeface="+mj-ea"/>
                        </a:rPr>
                        <a:t>一元关系</a:t>
                      </a:r>
                    </a:p>
                    <a:p>
                      <a:pPr rtl="0"/>
                      <a:br>
                        <a:rPr lang="zh-CN" altLang="en-US" sz="1000" b="1">
                          <a:solidFill>
                            <a:srgbClr val="000000"/>
                          </a:solidFill>
                          <a:effectLst/>
                          <a:latin typeface="+mj-ea"/>
                          <a:ea typeface="+mj-ea"/>
                        </a:rPr>
                      </a:br>
                      <a:r>
                        <a:rPr lang="en-US" altLang="zh-CN" sz="1000" b="1" i="1">
                          <a:solidFill>
                            <a:srgbClr val="000000"/>
                          </a:solidFill>
                          <a:effectLst/>
                          <a:latin typeface="+mj-ea"/>
                          <a:ea typeface="+mj-ea"/>
                        </a:rPr>
                        <a:t>(</a:t>
                      </a:r>
                      <a:r>
                        <a:rPr lang="en-US" sz="1000" b="1" i="1">
                          <a:solidFill>
                            <a:srgbClr val="000000"/>
                          </a:solidFill>
                          <a:effectLst/>
                          <a:latin typeface="+mj-ea"/>
                          <a:ea typeface="+mj-ea"/>
                        </a:rPr>
                        <a:t>Unary Relations)</a:t>
                      </a:r>
                      <a:endParaRPr lang="en-US" sz="1000" b="1">
                        <a:solidFill>
                          <a:srgbClr val="000000"/>
                        </a:solidFill>
                        <a:effectLst/>
                        <a:latin typeface="+mj-ea"/>
                        <a:ea typeface="+mj-ea"/>
                      </a:endParaRP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DBE2EF"/>
                    </a:solidFill>
                  </a:tcPr>
                </a:tc>
                <a:tc>
                  <a:txBody>
                    <a:bodyPr/>
                    <a:lstStyle/>
                    <a:p>
                      <a:pPr rtl="0"/>
                      <a:r>
                        <a:rPr lang="en-US" altLang="zh-CN" sz="1000" b="1">
                          <a:solidFill>
                            <a:srgbClr val="000000"/>
                          </a:solidFill>
                          <a:effectLst/>
                          <a:latin typeface="+mj-ea"/>
                          <a:ea typeface="+mj-ea"/>
                        </a:rPr>
                        <a:t>1 </a:t>
                      </a:r>
                      <a:r>
                        <a:rPr lang="zh-CN" altLang="en-US" sz="1000" b="1">
                          <a:solidFill>
                            <a:srgbClr val="000000"/>
                          </a:solidFill>
                          <a:effectLst/>
                          <a:latin typeface="+mj-ea"/>
                          <a:ea typeface="+mj-ea"/>
                        </a:rPr>
                        <a:t>维</a:t>
                      </a:r>
                      <a:endParaRPr lang="zh-CN" altLang="en-US" sz="1000">
                        <a:solidFill>
                          <a:srgbClr val="000000"/>
                        </a:solidFill>
                        <a:effectLst/>
                        <a:latin typeface="+mj-ea"/>
                        <a:ea typeface="+mj-ea"/>
                      </a:endParaRP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tc>
                  <a:txBody>
                    <a:bodyPr/>
                    <a:lstStyle/>
                    <a:p>
                      <a:pPr rtl="0"/>
                      <a:r>
                        <a:rPr lang="zh-CN" altLang="en-US" sz="1000" b="1" dirty="0">
                          <a:solidFill>
                            <a:srgbClr val="000000"/>
                          </a:solidFill>
                          <a:effectLst/>
                          <a:latin typeface="+mj-ea"/>
                          <a:ea typeface="+mj-ea"/>
                        </a:rPr>
                        <a:t>属性识别</a:t>
                      </a:r>
                      <a:endParaRPr lang="zh-CN" altLang="en-US" sz="1000" dirty="0">
                        <a:solidFill>
                          <a:srgbClr val="000000"/>
                        </a:solidFill>
                        <a:effectLst/>
                        <a:latin typeface="+mj-ea"/>
                        <a:ea typeface="+mj-ea"/>
                      </a:endParaRPr>
                    </a:p>
                    <a:p>
                      <a:pPr rtl="0"/>
                      <a:br>
                        <a:rPr lang="zh-CN" altLang="en-US" sz="1000" dirty="0">
                          <a:solidFill>
                            <a:srgbClr val="000000"/>
                          </a:solidFill>
                          <a:effectLst/>
                          <a:latin typeface="+mj-ea"/>
                          <a:ea typeface="+mj-ea"/>
                        </a:rPr>
                      </a:br>
                      <a:r>
                        <a:rPr lang="zh-CN" altLang="en-US" sz="1000" dirty="0">
                          <a:solidFill>
                            <a:srgbClr val="000000"/>
                          </a:solidFill>
                          <a:effectLst/>
                          <a:latin typeface="+mj-ea"/>
                          <a:ea typeface="+mj-ea"/>
                        </a:rPr>
                        <a:t>关注单个对象的特征。</a:t>
                      </a:r>
                    </a:p>
                    <a:p>
                      <a:pPr rtl="0"/>
                      <a:br>
                        <a:rPr lang="zh-CN" altLang="en-US" sz="1000" dirty="0">
                          <a:solidFill>
                            <a:srgbClr val="000000"/>
                          </a:solidFill>
                          <a:effectLst/>
                          <a:latin typeface="+mj-ea"/>
                          <a:ea typeface="+mj-ea"/>
                        </a:rPr>
                      </a:br>
                      <a:r>
                        <a:rPr lang="en-US" altLang="zh-CN" sz="1000" dirty="0">
                          <a:solidFill>
                            <a:srgbClr val="000000"/>
                          </a:solidFill>
                          <a:effectLst/>
                          <a:latin typeface="+mj-ea"/>
                          <a:ea typeface="+mj-ea"/>
                        </a:rPr>
                        <a:t>R(a)</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tc>
                  <a:txBody>
                    <a:bodyPr/>
                    <a:lstStyle/>
                    <a:p>
                      <a:pPr rtl="0"/>
                      <a:r>
                        <a:rPr lang="zh-CN" altLang="en-US" sz="1000" b="1" dirty="0">
                          <a:solidFill>
                            <a:srgbClr val="000000"/>
                          </a:solidFill>
                          <a:effectLst/>
                          <a:latin typeface="+mj-ea"/>
                          <a:ea typeface="+mj-ea"/>
                        </a:rPr>
                        <a:t>“这个苹果是红色的。”</a:t>
                      </a:r>
                      <a:endParaRPr lang="zh-CN" altLang="en-US" sz="1000" dirty="0">
                        <a:solidFill>
                          <a:srgbClr val="000000"/>
                        </a:solidFill>
                        <a:effectLst/>
                        <a:latin typeface="+mj-ea"/>
                        <a:ea typeface="+mj-ea"/>
                      </a:endParaRPr>
                    </a:p>
                    <a:p>
                      <a:pPr marL="171450" indent="-171450" rtl="0">
                        <a:buFont typeface="Arial" panose="020B0604020202020204" pitchFamily="34" charset="0"/>
                        <a:buChar char="•"/>
                      </a:pPr>
                      <a:r>
                        <a:rPr lang="zh-CN" altLang="en-US" sz="1000" dirty="0">
                          <a:solidFill>
                            <a:srgbClr val="000000"/>
                          </a:solidFill>
                          <a:effectLst/>
                          <a:latin typeface="+mj-ea"/>
                          <a:ea typeface="+mj-ea"/>
                        </a:rPr>
                        <a:t>识别物体类别（猫、狗）。</a:t>
                      </a:r>
                    </a:p>
                    <a:p>
                      <a:pPr marL="171450" indent="-171450" rtl="0">
                        <a:buFont typeface="Arial" panose="020B0604020202020204" pitchFamily="34" charset="0"/>
                        <a:buChar char="•"/>
                      </a:pPr>
                      <a:r>
                        <a:rPr lang="en-US" altLang="zh-CN" sz="1000" dirty="0">
                          <a:solidFill>
                            <a:srgbClr val="000000"/>
                          </a:solidFill>
                          <a:effectLst/>
                          <a:latin typeface="+mj-ea"/>
                          <a:ea typeface="+mj-ea"/>
                        </a:rPr>
                        <a:t> </a:t>
                      </a:r>
                      <a:r>
                        <a:rPr lang="zh-CN" altLang="en-US" sz="1000" dirty="0">
                          <a:solidFill>
                            <a:srgbClr val="000000"/>
                          </a:solidFill>
                          <a:effectLst/>
                          <a:latin typeface="+mj-ea"/>
                          <a:ea typeface="+mj-ea"/>
                        </a:rPr>
                        <a:t>简单的标签化。</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tc>
                  <a:txBody>
                    <a:bodyPr/>
                    <a:lstStyle/>
                    <a:p>
                      <a:pPr rtl="0"/>
                      <a:r>
                        <a:rPr lang="zh-CN" altLang="en-US" sz="1000" b="1">
                          <a:solidFill>
                            <a:srgbClr val="000000"/>
                          </a:solidFill>
                          <a:effectLst/>
                          <a:latin typeface="+mj-ea"/>
                          <a:ea typeface="+mj-ea"/>
                        </a:rPr>
                        <a:t>边缘系统</a:t>
                      </a:r>
                      <a:r>
                        <a:rPr lang="en-US" altLang="zh-CN" sz="1000" b="1">
                          <a:solidFill>
                            <a:srgbClr val="000000"/>
                          </a:solidFill>
                          <a:effectLst/>
                          <a:latin typeface="+mj-ea"/>
                          <a:ea typeface="+mj-ea"/>
                        </a:rPr>
                        <a:t>/</a:t>
                      </a:r>
                      <a:r>
                        <a:rPr lang="zh-CN" altLang="en-US" sz="1000" b="1">
                          <a:solidFill>
                            <a:srgbClr val="000000"/>
                          </a:solidFill>
                          <a:effectLst/>
                          <a:latin typeface="+mj-ea"/>
                          <a:ea typeface="+mj-ea"/>
                        </a:rPr>
                        <a:t>颞叶</a:t>
                      </a:r>
                      <a:endParaRPr lang="zh-CN" altLang="en-US" sz="1000">
                        <a:solidFill>
                          <a:srgbClr val="000000"/>
                        </a:solidFill>
                        <a:effectLst/>
                        <a:latin typeface="+mj-ea"/>
                        <a:ea typeface="+mj-ea"/>
                      </a:endParaRPr>
                    </a:p>
                    <a:p>
                      <a:pPr rtl="0"/>
                      <a:br>
                        <a:rPr lang="zh-CN" altLang="en-US" sz="1000">
                          <a:solidFill>
                            <a:srgbClr val="000000"/>
                          </a:solidFill>
                          <a:effectLst/>
                          <a:latin typeface="+mj-ea"/>
                          <a:ea typeface="+mj-ea"/>
                        </a:rPr>
                      </a:br>
                      <a:r>
                        <a:rPr lang="zh-CN" altLang="en-US" sz="1000">
                          <a:solidFill>
                            <a:srgbClr val="000000"/>
                          </a:solidFill>
                          <a:effectLst/>
                          <a:latin typeface="+mj-ea"/>
                          <a:ea typeface="+mj-ea"/>
                        </a:rPr>
                        <a:t>幼儿期（</a:t>
                      </a:r>
                      <a:r>
                        <a:rPr lang="en-US" altLang="zh-CN" sz="1000">
                          <a:solidFill>
                            <a:srgbClr val="000000"/>
                          </a:solidFill>
                          <a:effectLst/>
                          <a:latin typeface="+mj-ea"/>
                          <a:ea typeface="+mj-ea"/>
                        </a:rPr>
                        <a:t>1</a:t>
                      </a:r>
                      <a:r>
                        <a:rPr lang="zh-CN" altLang="en-US" sz="1000">
                          <a:solidFill>
                            <a:srgbClr val="000000"/>
                          </a:solidFill>
                          <a:effectLst/>
                          <a:latin typeface="+mj-ea"/>
                          <a:ea typeface="+mj-ea"/>
                        </a:rPr>
                        <a:t>岁）即可掌握。</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tc>
                  <a:txBody>
                    <a:bodyPr/>
                    <a:lstStyle/>
                    <a:p>
                      <a:pPr rtl="0"/>
                      <a:r>
                        <a:rPr lang="en-US" altLang="zh-CN" sz="1000" b="1">
                          <a:solidFill>
                            <a:srgbClr val="000000"/>
                          </a:solidFill>
                          <a:effectLst/>
                          <a:latin typeface="+mj-ea"/>
                          <a:ea typeface="+mj-ea"/>
                        </a:rPr>
                        <a:t>~100%</a:t>
                      </a:r>
                      <a:endParaRPr lang="zh-CN" altLang="en-US" sz="1000">
                        <a:solidFill>
                          <a:srgbClr val="000000"/>
                        </a:solidFill>
                        <a:effectLst/>
                        <a:latin typeface="+mj-ea"/>
                        <a:ea typeface="+mj-ea"/>
                      </a:endParaRPr>
                    </a:p>
                    <a:p>
                      <a:pPr rtl="0"/>
                      <a:br>
                        <a:rPr lang="zh-CN" altLang="en-US" sz="1000">
                          <a:solidFill>
                            <a:srgbClr val="000000"/>
                          </a:solidFill>
                          <a:effectLst/>
                          <a:latin typeface="+mj-ea"/>
                          <a:ea typeface="+mj-ea"/>
                        </a:rPr>
                      </a:br>
                      <a:r>
                        <a:rPr lang="zh-CN" altLang="en-US" sz="1000">
                          <a:solidFill>
                            <a:srgbClr val="000000"/>
                          </a:solidFill>
                          <a:effectLst/>
                          <a:latin typeface="+mj-ea"/>
                          <a:ea typeface="+mj-ea"/>
                        </a:rPr>
                        <a:t>（除极重度认知障碍外）</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extLst>
                  <a:ext uri="{0D108BD9-81ED-4DB2-BD59-A6C34878D82A}">
                    <a16:rowId xmlns:a16="http://schemas.microsoft.com/office/drawing/2014/main" val="2326120650"/>
                  </a:ext>
                </a:extLst>
              </a:tr>
              <a:tr h="1031193">
                <a:tc>
                  <a:txBody>
                    <a:bodyPr/>
                    <a:lstStyle/>
                    <a:p>
                      <a:pPr rtl="0"/>
                      <a:r>
                        <a:rPr lang="en-US" sz="1000" b="1">
                          <a:solidFill>
                            <a:srgbClr val="000000"/>
                          </a:solidFill>
                          <a:effectLst/>
                          <a:latin typeface="+mj-ea"/>
                          <a:ea typeface="+mj-ea"/>
                        </a:rPr>
                        <a:t>Level 2</a:t>
                      </a:r>
                    </a:p>
                    <a:p>
                      <a:pPr rtl="0"/>
                      <a:br>
                        <a:rPr lang="en-US" sz="1000" b="1">
                          <a:solidFill>
                            <a:srgbClr val="000000"/>
                          </a:solidFill>
                          <a:effectLst/>
                          <a:latin typeface="+mj-ea"/>
                          <a:ea typeface="+mj-ea"/>
                        </a:rPr>
                      </a:br>
                      <a:r>
                        <a:rPr lang="zh-CN" altLang="en-US" sz="1000" b="1">
                          <a:solidFill>
                            <a:srgbClr val="000000"/>
                          </a:solidFill>
                          <a:effectLst/>
                          <a:latin typeface="+mj-ea"/>
                          <a:ea typeface="+mj-ea"/>
                        </a:rPr>
                        <a:t>二元关系</a:t>
                      </a:r>
                    </a:p>
                    <a:p>
                      <a:pPr rtl="0"/>
                      <a:br>
                        <a:rPr lang="zh-CN" altLang="en-US" sz="1000" b="1">
                          <a:solidFill>
                            <a:srgbClr val="000000"/>
                          </a:solidFill>
                          <a:effectLst/>
                          <a:latin typeface="+mj-ea"/>
                          <a:ea typeface="+mj-ea"/>
                        </a:rPr>
                      </a:br>
                      <a:r>
                        <a:rPr lang="en-US" altLang="zh-CN" sz="1000" b="1" i="1">
                          <a:solidFill>
                            <a:srgbClr val="000000"/>
                          </a:solidFill>
                          <a:effectLst/>
                          <a:latin typeface="+mj-ea"/>
                          <a:ea typeface="+mj-ea"/>
                        </a:rPr>
                        <a:t>(</a:t>
                      </a:r>
                      <a:r>
                        <a:rPr lang="en-US" sz="1000" b="1" i="1">
                          <a:solidFill>
                            <a:srgbClr val="000000"/>
                          </a:solidFill>
                          <a:effectLst/>
                          <a:latin typeface="+mj-ea"/>
                          <a:ea typeface="+mj-ea"/>
                        </a:rPr>
                        <a:t>Binary Relations)</a:t>
                      </a:r>
                      <a:endParaRPr lang="en-US" sz="1000" b="1">
                        <a:solidFill>
                          <a:srgbClr val="000000"/>
                        </a:solidFill>
                        <a:effectLst/>
                        <a:latin typeface="+mj-ea"/>
                        <a:ea typeface="+mj-ea"/>
                      </a:endParaRP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DBE2EF"/>
                    </a:solidFill>
                  </a:tcPr>
                </a:tc>
                <a:tc>
                  <a:txBody>
                    <a:bodyPr/>
                    <a:lstStyle/>
                    <a:p>
                      <a:pPr rtl="0"/>
                      <a:r>
                        <a:rPr lang="en-US" altLang="zh-CN" sz="1000" b="1">
                          <a:solidFill>
                            <a:srgbClr val="000000"/>
                          </a:solidFill>
                          <a:effectLst/>
                          <a:latin typeface="+mj-ea"/>
                          <a:ea typeface="+mj-ea"/>
                        </a:rPr>
                        <a:t>2 </a:t>
                      </a:r>
                      <a:r>
                        <a:rPr lang="zh-CN" altLang="en-US" sz="1000" b="1">
                          <a:solidFill>
                            <a:srgbClr val="000000"/>
                          </a:solidFill>
                          <a:effectLst/>
                          <a:latin typeface="+mj-ea"/>
                          <a:ea typeface="+mj-ea"/>
                        </a:rPr>
                        <a:t>维</a:t>
                      </a:r>
                      <a:endParaRPr lang="zh-CN" altLang="en-US" sz="1000">
                        <a:solidFill>
                          <a:srgbClr val="000000"/>
                        </a:solidFill>
                        <a:effectLst/>
                        <a:latin typeface="+mj-ea"/>
                        <a:ea typeface="+mj-ea"/>
                      </a:endParaRP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FFFFF"/>
                    </a:solidFill>
                  </a:tcPr>
                </a:tc>
                <a:tc>
                  <a:txBody>
                    <a:bodyPr/>
                    <a:lstStyle/>
                    <a:p>
                      <a:pPr rtl="0"/>
                      <a:r>
                        <a:rPr lang="zh-CN" altLang="en-US" sz="1000" b="1" dirty="0">
                          <a:solidFill>
                            <a:srgbClr val="000000"/>
                          </a:solidFill>
                          <a:effectLst/>
                          <a:latin typeface="+mj-ea"/>
                          <a:ea typeface="+mj-ea"/>
                        </a:rPr>
                        <a:t>直接配对</a:t>
                      </a:r>
                      <a:endParaRPr lang="zh-CN" altLang="en-US" sz="1000" dirty="0">
                        <a:solidFill>
                          <a:srgbClr val="000000"/>
                        </a:solidFill>
                        <a:effectLst/>
                        <a:latin typeface="+mj-ea"/>
                        <a:ea typeface="+mj-ea"/>
                      </a:endParaRPr>
                    </a:p>
                    <a:p>
                      <a:pPr rtl="0"/>
                      <a:br>
                        <a:rPr lang="zh-CN" altLang="en-US" sz="1000" dirty="0">
                          <a:solidFill>
                            <a:srgbClr val="000000"/>
                          </a:solidFill>
                          <a:effectLst/>
                          <a:latin typeface="+mj-ea"/>
                          <a:ea typeface="+mj-ea"/>
                        </a:rPr>
                      </a:br>
                      <a:r>
                        <a:rPr lang="zh-CN" altLang="en-US" sz="1000" dirty="0">
                          <a:solidFill>
                            <a:srgbClr val="000000"/>
                          </a:solidFill>
                          <a:effectLst/>
                          <a:latin typeface="+mj-ea"/>
                          <a:ea typeface="+mj-ea"/>
                        </a:rPr>
                        <a:t>两个对象之间的对比</a:t>
                      </a:r>
                      <a:r>
                        <a:rPr lang="en-US" altLang="zh-CN" sz="1000" dirty="0">
                          <a:solidFill>
                            <a:srgbClr val="000000"/>
                          </a:solidFill>
                          <a:effectLst/>
                          <a:latin typeface="+mj-ea"/>
                          <a:ea typeface="+mj-ea"/>
                        </a:rPr>
                        <a:t>/</a:t>
                      </a:r>
                      <a:r>
                        <a:rPr lang="zh-CN" altLang="en-US" sz="1000" dirty="0">
                          <a:solidFill>
                            <a:srgbClr val="000000"/>
                          </a:solidFill>
                          <a:effectLst/>
                          <a:latin typeface="+mj-ea"/>
                          <a:ea typeface="+mj-ea"/>
                        </a:rPr>
                        <a:t>连接。</a:t>
                      </a:r>
                    </a:p>
                    <a:p>
                      <a:pPr rtl="0"/>
                      <a:br>
                        <a:rPr lang="zh-CN" altLang="en-US" sz="1000" dirty="0">
                          <a:solidFill>
                            <a:srgbClr val="000000"/>
                          </a:solidFill>
                          <a:effectLst/>
                          <a:latin typeface="+mj-ea"/>
                          <a:ea typeface="+mj-ea"/>
                        </a:rPr>
                      </a:br>
                      <a:r>
                        <a:rPr lang="en-US" altLang="zh-CN" sz="1000" dirty="0">
                          <a:solidFill>
                            <a:srgbClr val="000000"/>
                          </a:solidFill>
                          <a:effectLst/>
                          <a:latin typeface="+mj-ea"/>
                          <a:ea typeface="+mj-ea"/>
                        </a:rPr>
                        <a:t>R(a, b)</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FFFFF"/>
                    </a:solidFill>
                  </a:tcPr>
                </a:tc>
                <a:tc>
                  <a:txBody>
                    <a:bodyPr/>
                    <a:lstStyle/>
                    <a:p>
                      <a:pPr rtl="0"/>
                      <a:r>
                        <a:rPr lang="zh-CN" altLang="en-US" sz="1000" b="1" dirty="0">
                          <a:solidFill>
                            <a:srgbClr val="000000"/>
                          </a:solidFill>
                          <a:effectLst/>
                          <a:latin typeface="+mj-ea"/>
                          <a:ea typeface="+mj-ea"/>
                        </a:rPr>
                        <a:t>“大象比老鼠大。”</a:t>
                      </a:r>
                      <a:endParaRPr lang="zh-CN" altLang="en-US" sz="1000" dirty="0">
                        <a:solidFill>
                          <a:srgbClr val="000000"/>
                        </a:solidFill>
                        <a:effectLst/>
                        <a:latin typeface="+mj-ea"/>
                        <a:ea typeface="+mj-ea"/>
                      </a:endParaRPr>
                    </a:p>
                    <a:p>
                      <a:pPr marL="171450" indent="-171450" rtl="0">
                        <a:buFont typeface="Arial" panose="020B0604020202020204" pitchFamily="34" charset="0"/>
                        <a:buChar char="•"/>
                      </a:pPr>
                      <a:r>
                        <a:rPr lang="zh-CN" altLang="en-US" sz="1000" dirty="0">
                          <a:solidFill>
                            <a:srgbClr val="000000"/>
                          </a:solidFill>
                          <a:effectLst/>
                          <a:latin typeface="+mj-ea"/>
                          <a:ea typeface="+mj-ea"/>
                        </a:rPr>
                        <a:t>理解“大</a:t>
                      </a:r>
                      <a:r>
                        <a:rPr lang="en-US" altLang="zh-CN" sz="1000" dirty="0">
                          <a:solidFill>
                            <a:srgbClr val="000000"/>
                          </a:solidFill>
                          <a:effectLst/>
                          <a:latin typeface="+mj-ea"/>
                          <a:ea typeface="+mj-ea"/>
                        </a:rPr>
                        <a:t>/</a:t>
                      </a:r>
                      <a:r>
                        <a:rPr lang="zh-CN" altLang="en-US" sz="1000" dirty="0">
                          <a:solidFill>
                            <a:srgbClr val="000000"/>
                          </a:solidFill>
                          <a:effectLst/>
                          <a:latin typeface="+mj-ea"/>
                          <a:ea typeface="+mj-ea"/>
                        </a:rPr>
                        <a:t>小”、“多</a:t>
                      </a:r>
                      <a:r>
                        <a:rPr lang="en-US" altLang="zh-CN" sz="1000" dirty="0">
                          <a:solidFill>
                            <a:srgbClr val="000000"/>
                          </a:solidFill>
                          <a:effectLst/>
                          <a:latin typeface="+mj-ea"/>
                          <a:ea typeface="+mj-ea"/>
                        </a:rPr>
                        <a:t>/</a:t>
                      </a:r>
                      <a:r>
                        <a:rPr lang="zh-CN" altLang="en-US" sz="1000" dirty="0">
                          <a:solidFill>
                            <a:srgbClr val="000000"/>
                          </a:solidFill>
                          <a:effectLst/>
                          <a:latin typeface="+mj-ea"/>
                          <a:ea typeface="+mj-ea"/>
                        </a:rPr>
                        <a:t>少”。</a:t>
                      </a:r>
                    </a:p>
                    <a:p>
                      <a:pPr marL="171450" indent="-171450" rtl="0">
                        <a:buFont typeface="Arial" panose="020B0604020202020204" pitchFamily="34" charset="0"/>
                        <a:buChar char="•"/>
                      </a:pPr>
                      <a:r>
                        <a:rPr lang="zh-CN" altLang="en-US" sz="1000" dirty="0">
                          <a:solidFill>
                            <a:srgbClr val="000000"/>
                          </a:solidFill>
                          <a:effectLst/>
                          <a:latin typeface="+mj-ea"/>
                          <a:ea typeface="+mj-ea"/>
                        </a:rPr>
                        <a:t>简单的因果：按开关 </a:t>
                      </a:r>
                      <a:r>
                        <a:rPr lang="en-US" altLang="zh-CN" sz="1000" dirty="0">
                          <a:solidFill>
                            <a:srgbClr val="000000"/>
                          </a:solidFill>
                          <a:effectLst/>
                          <a:latin typeface="+mj-ea"/>
                          <a:ea typeface="+mj-ea"/>
                        </a:rPr>
                        <a:t>-&gt; </a:t>
                      </a:r>
                      <a:r>
                        <a:rPr lang="zh-CN" altLang="en-US" sz="1000" dirty="0">
                          <a:solidFill>
                            <a:srgbClr val="000000"/>
                          </a:solidFill>
                          <a:effectLst/>
                          <a:latin typeface="+mj-ea"/>
                          <a:ea typeface="+mj-ea"/>
                        </a:rPr>
                        <a:t>灯亮。</a:t>
                      </a:r>
                    </a:p>
                    <a:p>
                      <a:pPr marL="171450" indent="-171450" rtl="0">
                        <a:buFont typeface="Arial" panose="020B0604020202020204" pitchFamily="34" charset="0"/>
                        <a:buChar char="•"/>
                      </a:pPr>
                      <a:r>
                        <a:rPr lang="zh-CN" altLang="en-US" sz="1000" dirty="0">
                          <a:solidFill>
                            <a:srgbClr val="000000"/>
                          </a:solidFill>
                          <a:effectLst/>
                          <a:latin typeface="+mj-ea"/>
                          <a:ea typeface="+mj-ea"/>
                        </a:rPr>
                        <a:t>语义理解：主语 </a:t>
                      </a:r>
                      <a:r>
                        <a:rPr lang="en-US" altLang="zh-CN" sz="1000" dirty="0">
                          <a:solidFill>
                            <a:srgbClr val="000000"/>
                          </a:solidFill>
                          <a:effectLst/>
                          <a:latin typeface="+mj-ea"/>
                          <a:ea typeface="+mj-ea"/>
                        </a:rPr>
                        <a:t>-&gt; </a:t>
                      </a:r>
                      <a:r>
                        <a:rPr lang="zh-CN" altLang="en-US" sz="1000" dirty="0">
                          <a:solidFill>
                            <a:srgbClr val="000000"/>
                          </a:solidFill>
                          <a:effectLst/>
                          <a:latin typeface="+mj-ea"/>
                          <a:ea typeface="+mj-ea"/>
                        </a:rPr>
                        <a:t>谓语。</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FFFFF"/>
                    </a:solidFill>
                  </a:tcPr>
                </a:tc>
                <a:tc>
                  <a:txBody>
                    <a:bodyPr/>
                    <a:lstStyle/>
                    <a:p>
                      <a:pPr rtl="0"/>
                      <a:r>
                        <a:rPr lang="zh-CN" altLang="en-US" sz="1000" b="1">
                          <a:solidFill>
                            <a:srgbClr val="000000"/>
                          </a:solidFill>
                          <a:effectLst/>
                          <a:latin typeface="+mj-ea"/>
                          <a:ea typeface="+mj-ea"/>
                        </a:rPr>
                        <a:t>顶叶（早期）</a:t>
                      </a:r>
                      <a:endParaRPr lang="zh-CN" altLang="en-US" sz="1000">
                        <a:solidFill>
                          <a:srgbClr val="000000"/>
                        </a:solidFill>
                        <a:effectLst/>
                        <a:latin typeface="+mj-ea"/>
                        <a:ea typeface="+mj-ea"/>
                      </a:endParaRPr>
                    </a:p>
                    <a:p>
                      <a:pPr rtl="0"/>
                      <a:br>
                        <a:rPr lang="zh-CN" altLang="en-US" sz="1000">
                          <a:solidFill>
                            <a:srgbClr val="000000"/>
                          </a:solidFill>
                          <a:effectLst/>
                          <a:latin typeface="+mj-ea"/>
                          <a:ea typeface="+mj-ea"/>
                        </a:rPr>
                      </a:br>
                      <a:r>
                        <a:rPr lang="zh-CN" altLang="en-US" sz="1000">
                          <a:solidFill>
                            <a:srgbClr val="000000"/>
                          </a:solidFill>
                          <a:effectLst/>
                          <a:latin typeface="+mj-ea"/>
                          <a:ea typeface="+mj-ea"/>
                        </a:rPr>
                        <a:t>幼儿期（</a:t>
                      </a:r>
                      <a:r>
                        <a:rPr lang="en-US" altLang="zh-CN" sz="1000">
                          <a:solidFill>
                            <a:srgbClr val="000000"/>
                          </a:solidFill>
                          <a:effectLst/>
                          <a:latin typeface="+mj-ea"/>
                          <a:ea typeface="+mj-ea"/>
                        </a:rPr>
                        <a:t>1.5-2</a:t>
                      </a:r>
                      <a:r>
                        <a:rPr lang="zh-CN" altLang="en-US" sz="1000">
                          <a:solidFill>
                            <a:srgbClr val="000000"/>
                          </a:solidFill>
                          <a:effectLst/>
                          <a:latin typeface="+mj-ea"/>
                          <a:ea typeface="+mj-ea"/>
                        </a:rPr>
                        <a:t>岁）成熟。</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FFFFF"/>
                    </a:solidFill>
                  </a:tcPr>
                </a:tc>
                <a:tc>
                  <a:txBody>
                    <a:bodyPr/>
                    <a:lstStyle/>
                    <a:p>
                      <a:pPr rtl="0"/>
                      <a:r>
                        <a:rPr lang="en-US" altLang="zh-CN" sz="1000" b="1">
                          <a:solidFill>
                            <a:srgbClr val="000000"/>
                          </a:solidFill>
                          <a:effectLst/>
                          <a:latin typeface="+mj-ea"/>
                          <a:ea typeface="+mj-ea"/>
                        </a:rPr>
                        <a:t>~99%</a:t>
                      </a:r>
                      <a:endParaRPr lang="zh-CN" altLang="en-US" sz="1000">
                        <a:solidFill>
                          <a:srgbClr val="000000"/>
                        </a:solidFill>
                        <a:effectLst/>
                        <a:latin typeface="+mj-ea"/>
                        <a:ea typeface="+mj-ea"/>
                      </a:endParaRPr>
                    </a:p>
                    <a:p>
                      <a:pPr rtl="0"/>
                      <a:br>
                        <a:rPr lang="zh-CN" altLang="en-US" sz="1000">
                          <a:solidFill>
                            <a:srgbClr val="000000"/>
                          </a:solidFill>
                          <a:effectLst/>
                          <a:latin typeface="+mj-ea"/>
                          <a:ea typeface="+mj-ea"/>
                        </a:rPr>
                      </a:br>
                      <a:r>
                        <a:rPr lang="zh-CN" altLang="en-US" sz="1000">
                          <a:solidFill>
                            <a:srgbClr val="000000"/>
                          </a:solidFill>
                          <a:effectLst/>
                          <a:latin typeface="+mj-ea"/>
                          <a:ea typeface="+mj-ea"/>
                        </a:rPr>
                        <a:t>（基本的生活自理能力）</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FFFFF"/>
                    </a:solidFill>
                  </a:tcPr>
                </a:tc>
                <a:extLst>
                  <a:ext uri="{0D108BD9-81ED-4DB2-BD59-A6C34878D82A}">
                    <a16:rowId xmlns:a16="http://schemas.microsoft.com/office/drawing/2014/main" val="2027823925"/>
                  </a:ext>
                </a:extLst>
              </a:tr>
              <a:tr h="1261872">
                <a:tc>
                  <a:txBody>
                    <a:bodyPr/>
                    <a:lstStyle/>
                    <a:p>
                      <a:pPr rtl="0"/>
                      <a:r>
                        <a:rPr lang="en-US" sz="1000" b="1">
                          <a:solidFill>
                            <a:srgbClr val="000000"/>
                          </a:solidFill>
                          <a:effectLst/>
                          <a:latin typeface="+mj-ea"/>
                          <a:ea typeface="+mj-ea"/>
                        </a:rPr>
                        <a:t>Level 3</a:t>
                      </a:r>
                    </a:p>
                    <a:p>
                      <a:pPr rtl="0"/>
                      <a:br>
                        <a:rPr lang="en-US" sz="1000" b="1">
                          <a:solidFill>
                            <a:srgbClr val="000000"/>
                          </a:solidFill>
                          <a:effectLst/>
                          <a:latin typeface="+mj-ea"/>
                          <a:ea typeface="+mj-ea"/>
                        </a:rPr>
                      </a:br>
                      <a:r>
                        <a:rPr lang="zh-CN" altLang="en-US" sz="1000" b="1">
                          <a:solidFill>
                            <a:srgbClr val="000000"/>
                          </a:solidFill>
                          <a:effectLst/>
                          <a:latin typeface="+mj-ea"/>
                          <a:ea typeface="+mj-ea"/>
                        </a:rPr>
                        <a:t>三元关系</a:t>
                      </a:r>
                    </a:p>
                    <a:p>
                      <a:pPr rtl="0"/>
                      <a:br>
                        <a:rPr lang="zh-CN" altLang="en-US" sz="1000" b="1">
                          <a:solidFill>
                            <a:srgbClr val="000000"/>
                          </a:solidFill>
                          <a:effectLst/>
                          <a:latin typeface="+mj-ea"/>
                          <a:ea typeface="+mj-ea"/>
                        </a:rPr>
                      </a:br>
                      <a:r>
                        <a:rPr lang="en-US" altLang="zh-CN" sz="1000" b="1" i="1">
                          <a:solidFill>
                            <a:srgbClr val="000000"/>
                          </a:solidFill>
                          <a:effectLst/>
                          <a:latin typeface="+mj-ea"/>
                          <a:ea typeface="+mj-ea"/>
                        </a:rPr>
                        <a:t>(</a:t>
                      </a:r>
                      <a:r>
                        <a:rPr lang="en-US" sz="1000" b="1" i="1">
                          <a:solidFill>
                            <a:srgbClr val="000000"/>
                          </a:solidFill>
                          <a:effectLst/>
                          <a:latin typeface="+mj-ea"/>
                          <a:ea typeface="+mj-ea"/>
                        </a:rPr>
                        <a:t>Ternary Relations)</a:t>
                      </a:r>
                      <a:endParaRPr lang="en-US" sz="1000" b="1">
                        <a:solidFill>
                          <a:srgbClr val="000000"/>
                        </a:solidFill>
                        <a:effectLst/>
                        <a:latin typeface="+mj-ea"/>
                        <a:ea typeface="+mj-ea"/>
                      </a:endParaRP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DBE2EF"/>
                    </a:solidFill>
                  </a:tcPr>
                </a:tc>
                <a:tc>
                  <a:txBody>
                    <a:bodyPr/>
                    <a:lstStyle/>
                    <a:p>
                      <a:pPr rtl="0"/>
                      <a:r>
                        <a:rPr lang="en-US" altLang="zh-CN" sz="1000" b="1">
                          <a:solidFill>
                            <a:srgbClr val="000000"/>
                          </a:solidFill>
                          <a:effectLst/>
                          <a:latin typeface="+mj-ea"/>
                          <a:ea typeface="+mj-ea"/>
                        </a:rPr>
                        <a:t>3 </a:t>
                      </a:r>
                      <a:r>
                        <a:rPr lang="zh-CN" altLang="en-US" sz="1000" b="1">
                          <a:solidFill>
                            <a:srgbClr val="000000"/>
                          </a:solidFill>
                          <a:effectLst/>
                          <a:latin typeface="+mj-ea"/>
                          <a:ea typeface="+mj-ea"/>
                        </a:rPr>
                        <a:t>维</a:t>
                      </a:r>
                      <a:endParaRPr lang="zh-CN" altLang="en-US" sz="1000">
                        <a:solidFill>
                          <a:srgbClr val="000000"/>
                        </a:solidFill>
                        <a:effectLst/>
                        <a:latin typeface="+mj-ea"/>
                        <a:ea typeface="+mj-ea"/>
                      </a:endParaRP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tc>
                  <a:txBody>
                    <a:bodyPr/>
                    <a:lstStyle/>
                    <a:p>
                      <a:pPr rtl="0"/>
                      <a:r>
                        <a:rPr lang="zh-CN" altLang="en-US" sz="1000" b="1" dirty="0">
                          <a:solidFill>
                            <a:srgbClr val="000000"/>
                          </a:solidFill>
                          <a:effectLst/>
                          <a:latin typeface="+mj-ea"/>
                          <a:ea typeface="+mj-ea"/>
                        </a:rPr>
                        <a:t>中介</a:t>
                      </a:r>
                      <a:r>
                        <a:rPr lang="en-US" altLang="zh-CN" sz="1000" b="1" dirty="0">
                          <a:solidFill>
                            <a:srgbClr val="000000"/>
                          </a:solidFill>
                          <a:effectLst/>
                          <a:latin typeface="+mj-ea"/>
                          <a:ea typeface="+mj-ea"/>
                        </a:rPr>
                        <a:t>/</a:t>
                      </a:r>
                      <a:r>
                        <a:rPr lang="zh-CN" altLang="en-US" sz="1000" b="1" dirty="0">
                          <a:solidFill>
                            <a:srgbClr val="000000"/>
                          </a:solidFill>
                          <a:effectLst/>
                          <a:latin typeface="+mj-ea"/>
                          <a:ea typeface="+mj-ea"/>
                        </a:rPr>
                        <a:t>运算</a:t>
                      </a:r>
                      <a:endParaRPr lang="zh-CN" altLang="en-US" sz="1000" dirty="0">
                        <a:solidFill>
                          <a:srgbClr val="000000"/>
                        </a:solidFill>
                        <a:effectLst/>
                        <a:latin typeface="+mj-ea"/>
                        <a:ea typeface="+mj-ea"/>
                      </a:endParaRPr>
                    </a:p>
                    <a:p>
                      <a:pPr rtl="0"/>
                      <a:br>
                        <a:rPr lang="zh-CN" altLang="en-US" sz="1000" dirty="0">
                          <a:solidFill>
                            <a:srgbClr val="000000"/>
                          </a:solidFill>
                          <a:effectLst/>
                          <a:latin typeface="+mj-ea"/>
                          <a:ea typeface="+mj-ea"/>
                        </a:rPr>
                      </a:br>
                      <a:r>
                        <a:rPr lang="zh-CN" altLang="en-US" sz="1000" dirty="0">
                          <a:solidFill>
                            <a:srgbClr val="000000"/>
                          </a:solidFill>
                          <a:effectLst/>
                          <a:latin typeface="+mj-ea"/>
                          <a:ea typeface="+mj-ea"/>
                        </a:rPr>
                        <a:t>两个输入产生一个输出；或者传递性。</a:t>
                      </a:r>
                    </a:p>
                    <a:p>
                      <a:pPr rtl="0"/>
                      <a:br>
                        <a:rPr lang="zh-CN" altLang="en-US" sz="1000" dirty="0">
                          <a:solidFill>
                            <a:srgbClr val="000000"/>
                          </a:solidFill>
                          <a:effectLst/>
                          <a:latin typeface="+mj-ea"/>
                          <a:ea typeface="+mj-ea"/>
                        </a:rPr>
                      </a:br>
                      <a:r>
                        <a:rPr lang="en-US" altLang="zh-CN" sz="1000" dirty="0">
                          <a:solidFill>
                            <a:srgbClr val="000000"/>
                          </a:solidFill>
                          <a:effectLst/>
                          <a:latin typeface="+mj-ea"/>
                          <a:ea typeface="+mj-ea"/>
                        </a:rPr>
                        <a:t>R(a, b, c)</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tc>
                  <a:txBody>
                    <a:bodyPr/>
                    <a:lstStyle/>
                    <a:p>
                      <a:pPr rtl="0"/>
                      <a:r>
                        <a:rPr lang="zh-CN" altLang="en-US" sz="1000" b="1" dirty="0">
                          <a:solidFill>
                            <a:srgbClr val="000000"/>
                          </a:solidFill>
                          <a:effectLst/>
                          <a:latin typeface="+mj-ea"/>
                          <a:ea typeface="+mj-ea"/>
                        </a:rPr>
                        <a:t>“</a:t>
                      </a:r>
                      <a:r>
                        <a:rPr lang="en-US" altLang="zh-CN" sz="1000" b="1" dirty="0">
                          <a:solidFill>
                            <a:srgbClr val="000000"/>
                          </a:solidFill>
                          <a:effectLst/>
                          <a:latin typeface="+mj-ea"/>
                          <a:ea typeface="+mj-ea"/>
                        </a:rPr>
                        <a:t>3 + 5 = 8”</a:t>
                      </a:r>
                      <a:endParaRPr lang="zh-CN" altLang="en-US" sz="1000" dirty="0">
                        <a:solidFill>
                          <a:srgbClr val="000000"/>
                        </a:solidFill>
                        <a:effectLst/>
                        <a:latin typeface="+mj-ea"/>
                        <a:ea typeface="+mj-ea"/>
                      </a:endParaRPr>
                    </a:p>
                    <a:p>
                      <a:pPr marL="171450" indent="-171450" rtl="0">
                        <a:buFont typeface="Arial" panose="020B0604020202020204" pitchFamily="34" charset="0"/>
                        <a:buChar char="•"/>
                      </a:pPr>
                      <a:r>
                        <a:rPr lang="zh-CN" altLang="en-US" sz="1000" b="1" dirty="0">
                          <a:solidFill>
                            <a:srgbClr val="000000"/>
                          </a:solidFill>
                          <a:effectLst/>
                          <a:latin typeface="+mj-ea"/>
                          <a:ea typeface="+mj-ea"/>
                        </a:rPr>
                        <a:t>加法运算</a:t>
                      </a:r>
                      <a:r>
                        <a:rPr lang="zh-CN" altLang="en-US" sz="1000" dirty="0">
                          <a:solidFill>
                            <a:srgbClr val="000000"/>
                          </a:solidFill>
                          <a:effectLst/>
                          <a:latin typeface="+mj-ea"/>
                          <a:ea typeface="+mj-ea"/>
                        </a:rPr>
                        <a:t>：需要同时处理两个加数和结果。</a:t>
                      </a:r>
                    </a:p>
                    <a:p>
                      <a:pPr marL="171450" indent="-171450" rtl="0">
                        <a:buFont typeface="Arial" panose="020B0604020202020204" pitchFamily="34" charset="0"/>
                        <a:buChar char="•"/>
                      </a:pPr>
                      <a:r>
                        <a:rPr lang="zh-CN" altLang="en-US" sz="1000" b="1" dirty="0">
                          <a:solidFill>
                            <a:srgbClr val="000000"/>
                          </a:solidFill>
                          <a:effectLst/>
                          <a:latin typeface="+mj-ea"/>
                          <a:ea typeface="+mj-ea"/>
                        </a:rPr>
                        <a:t>传递推理</a:t>
                      </a:r>
                      <a:r>
                        <a:rPr lang="zh-CN" altLang="en-US" sz="1000" dirty="0">
                          <a:solidFill>
                            <a:srgbClr val="000000"/>
                          </a:solidFill>
                          <a:effectLst/>
                          <a:latin typeface="+mj-ea"/>
                          <a:ea typeface="+mj-ea"/>
                        </a:rPr>
                        <a:t>：</a:t>
                      </a:r>
                      <a:r>
                        <a:rPr lang="en-US" altLang="zh-CN" sz="1000" dirty="0">
                          <a:solidFill>
                            <a:srgbClr val="000000"/>
                          </a:solidFill>
                          <a:effectLst/>
                          <a:latin typeface="+mj-ea"/>
                          <a:ea typeface="+mj-ea"/>
                        </a:rPr>
                        <a:t>A&gt;B </a:t>
                      </a:r>
                      <a:r>
                        <a:rPr lang="zh-CN" altLang="en-US" sz="1000" dirty="0">
                          <a:solidFill>
                            <a:srgbClr val="000000"/>
                          </a:solidFill>
                          <a:effectLst/>
                          <a:latin typeface="+mj-ea"/>
                          <a:ea typeface="+mj-ea"/>
                        </a:rPr>
                        <a:t>且 </a:t>
                      </a:r>
                      <a:r>
                        <a:rPr lang="en-US" altLang="zh-CN" sz="1000" dirty="0">
                          <a:solidFill>
                            <a:srgbClr val="000000"/>
                          </a:solidFill>
                          <a:effectLst/>
                          <a:latin typeface="+mj-ea"/>
                          <a:ea typeface="+mj-ea"/>
                        </a:rPr>
                        <a:t>B&gt;C</a:t>
                      </a:r>
                      <a:r>
                        <a:rPr lang="zh-CN" altLang="en-US" sz="1000" dirty="0">
                          <a:solidFill>
                            <a:srgbClr val="000000"/>
                          </a:solidFill>
                          <a:effectLst/>
                          <a:latin typeface="+mj-ea"/>
                          <a:ea typeface="+mj-ea"/>
                        </a:rPr>
                        <a:t>，所以 </a:t>
                      </a:r>
                      <a:r>
                        <a:rPr lang="en-US" altLang="zh-CN" sz="1000" dirty="0">
                          <a:solidFill>
                            <a:srgbClr val="000000"/>
                          </a:solidFill>
                          <a:effectLst/>
                          <a:latin typeface="+mj-ea"/>
                          <a:ea typeface="+mj-ea"/>
                        </a:rPr>
                        <a:t>A&gt;C</a:t>
                      </a:r>
                      <a:r>
                        <a:rPr lang="zh-CN" altLang="en-US" sz="1000" dirty="0">
                          <a:solidFill>
                            <a:srgbClr val="000000"/>
                          </a:solidFill>
                          <a:effectLst/>
                          <a:latin typeface="+mj-ea"/>
                          <a:ea typeface="+mj-ea"/>
                        </a:rPr>
                        <a:t>。</a:t>
                      </a:r>
                    </a:p>
                    <a:p>
                      <a:pPr marL="171450" indent="-171450" rtl="0">
                        <a:buFont typeface="Arial" panose="020B0604020202020204" pitchFamily="34" charset="0"/>
                        <a:buChar char="•"/>
                      </a:pPr>
                      <a:r>
                        <a:rPr lang="zh-CN" altLang="en-US" sz="1000" b="1" dirty="0">
                          <a:solidFill>
                            <a:srgbClr val="000000"/>
                          </a:solidFill>
                          <a:effectLst/>
                          <a:latin typeface="+mj-ea"/>
                          <a:ea typeface="+mj-ea"/>
                        </a:rPr>
                        <a:t>句子结构</a:t>
                      </a:r>
                      <a:r>
                        <a:rPr lang="zh-CN" altLang="en-US" sz="1000" dirty="0">
                          <a:solidFill>
                            <a:srgbClr val="000000"/>
                          </a:solidFill>
                          <a:effectLst/>
                          <a:latin typeface="+mj-ea"/>
                          <a:ea typeface="+mj-ea"/>
                        </a:rPr>
                        <a:t>：主语</a:t>
                      </a:r>
                      <a:r>
                        <a:rPr lang="en-US" altLang="zh-CN" sz="1000" dirty="0">
                          <a:solidFill>
                            <a:srgbClr val="000000"/>
                          </a:solidFill>
                          <a:effectLst/>
                          <a:latin typeface="+mj-ea"/>
                          <a:ea typeface="+mj-ea"/>
                        </a:rPr>
                        <a:t>-</a:t>
                      </a:r>
                      <a:r>
                        <a:rPr lang="zh-CN" altLang="en-US" sz="1000" dirty="0">
                          <a:solidFill>
                            <a:srgbClr val="000000"/>
                          </a:solidFill>
                          <a:effectLst/>
                          <a:latin typeface="+mj-ea"/>
                          <a:ea typeface="+mj-ea"/>
                        </a:rPr>
                        <a:t>谓语</a:t>
                      </a:r>
                      <a:r>
                        <a:rPr lang="en-US" altLang="zh-CN" sz="1000" dirty="0">
                          <a:solidFill>
                            <a:srgbClr val="000000"/>
                          </a:solidFill>
                          <a:effectLst/>
                          <a:latin typeface="+mj-ea"/>
                          <a:ea typeface="+mj-ea"/>
                        </a:rPr>
                        <a:t>-</a:t>
                      </a:r>
                      <a:r>
                        <a:rPr lang="zh-CN" altLang="en-US" sz="1000" dirty="0">
                          <a:solidFill>
                            <a:srgbClr val="000000"/>
                          </a:solidFill>
                          <a:effectLst/>
                          <a:latin typeface="+mj-ea"/>
                          <a:ea typeface="+mj-ea"/>
                        </a:rPr>
                        <a:t>宾语（我 打 球）。</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tc>
                  <a:txBody>
                    <a:bodyPr/>
                    <a:lstStyle/>
                    <a:p>
                      <a:pPr rtl="0"/>
                      <a:r>
                        <a:rPr lang="zh-CN" altLang="en-US" sz="1000" b="1">
                          <a:solidFill>
                            <a:srgbClr val="000000"/>
                          </a:solidFill>
                          <a:effectLst/>
                          <a:latin typeface="+mj-ea"/>
                          <a:ea typeface="+mj-ea"/>
                        </a:rPr>
                        <a:t>前额叶皮层 </a:t>
                      </a:r>
                      <a:r>
                        <a:rPr lang="en-US" altLang="zh-CN" sz="1000" b="1">
                          <a:solidFill>
                            <a:srgbClr val="000000"/>
                          </a:solidFill>
                          <a:effectLst/>
                          <a:latin typeface="+mj-ea"/>
                          <a:ea typeface="+mj-ea"/>
                        </a:rPr>
                        <a:t>(PFC) </a:t>
                      </a:r>
                      <a:r>
                        <a:rPr lang="zh-CN" altLang="en-US" sz="1000" b="1">
                          <a:solidFill>
                            <a:srgbClr val="000000"/>
                          </a:solidFill>
                          <a:effectLst/>
                          <a:latin typeface="+mj-ea"/>
                          <a:ea typeface="+mj-ea"/>
                        </a:rPr>
                        <a:t>开始参与</a:t>
                      </a:r>
                      <a:endParaRPr lang="zh-CN" altLang="en-US" sz="1000">
                        <a:solidFill>
                          <a:srgbClr val="000000"/>
                        </a:solidFill>
                        <a:effectLst/>
                        <a:latin typeface="+mj-ea"/>
                        <a:ea typeface="+mj-ea"/>
                      </a:endParaRPr>
                    </a:p>
                    <a:p>
                      <a:pPr rtl="0"/>
                      <a:br>
                        <a:rPr lang="zh-CN" altLang="en-US" sz="1000">
                          <a:solidFill>
                            <a:srgbClr val="000000"/>
                          </a:solidFill>
                          <a:effectLst/>
                          <a:latin typeface="+mj-ea"/>
                          <a:ea typeface="+mj-ea"/>
                        </a:rPr>
                      </a:br>
                      <a:r>
                        <a:rPr lang="zh-CN" altLang="en-US" sz="1000">
                          <a:solidFill>
                            <a:srgbClr val="000000"/>
                          </a:solidFill>
                          <a:effectLst/>
                          <a:latin typeface="+mj-ea"/>
                          <a:ea typeface="+mj-ea"/>
                        </a:rPr>
                        <a:t>儿童期（</a:t>
                      </a:r>
                      <a:r>
                        <a:rPr lang="en-US" altLang="zh-CN" sz="1000">
                          <a:solidFill>
                            <a:srgbClr val="000000"/>
                          </a:solidFill>
                          <a:effectLst/>
                          <a:latin typeface="+mj-ea"/>
                          <a:ea typeface="+mj-ea"/>
                        </a:rPr>
                        <a:t>5</a:t>
                      </a:r>
                      <a:r>
                        <a:rPr lang="zh-CN" altLang="en-US" sz="1000">
                          <a:solidFill>
                            <a:srgbClr val="000000"/>
                          </a:solidFill>
                          <a:effectLst/>
                          <a:latin typeface="+mj-ea"/>
                          <a:ea typeface="+mj-ea"/>
                        </a:rPr>
                        <a:t>岁</a:t>
                      </a:r>
                      <a:r>
                        <a:rPr lang="en-US" altLang="zh-CN" sz="1000">
                          <a:solidFill>
                            <a:srgbClr val="000000"/>
                          </a:solidFill>
                          <a:effectLst/>
                          <a:latin typeface="+mj-ea"/>
                          <a:ea typeface="+mj-ea"/>
                        </a:rPr>
                        <a:t>+</a:t>
                      </a:r>
                      <a:r>
                        <a:rPr lang="zh-CN" altLang="en-US" sz="1000">
                          <a:solidFill>
                            <a:srgbClr val="000000"/>
                          </a:solidFill>
                          <a:effectLst/>
                          <a:latin typeface="+mj-ea"/>
                          <a:ea typeface="+mj-ea"/>
                        </a:rPr>
                        <a:t>）成熟。</a:t>
                      </a:r>
                    </a:p>
                    <a:p>
                      <a:pPr rtl="0"/>
                      <a:br>
                        <a:rPr lang="zh-CN" altLang="en-US" sz="1000">
                          <a:solidFill>
                            <a:srgbClr val="000000"/>
                          </a:solidFill>
                          <a:effectLst/>
                          <a:latin typeface="+mj-ea"/>
                          <a:ea typeface="+mj-ea"/>
                        </a:rPr>
                      </a:br>
                      <a:r>
                        <a:rPr lang="zh-CN" altLang="en-US" sz="1000">
                          <a:solidFill>
                            <a:srgbClr val="000000"/>
                          </a:solidFill>
                          <a:effectLst/>
                          <a:latin typeface="+mj-ea"/>
                          <a:ea typeface="+mj-ea"/>
                        </a:rPr>
                        <a:t>小学教育的基础。</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tc>
                  <a:txBody>
                    <a:bodyPr/>
                    <a:lstStyle/>
                    <a:p>
                      <a:pPr rtl="0"/>
                      <a:r>
                        <a:rPr lang="en-US" altLang="zh-CN" sz="1000" b="1" dirty="0">
                          <a:solidFill>
                            <a:srgbClr val="000000"/>
                          </a:solidFill>
                          <a:effectLst/>
                          <a:latin typeface="+mj-ea"/>
                          <a:ea typeface="+mj-ea"/>
                        </a:rPr>
                        <a:t>~90% - 95%</a:t>
                      </a:r>
                      <a:endParaRPr lang="zh-CN" altLang="en-US" sz="1000" dirty="0">
                        <a:solidFill>
                          <a:srgbClr val="000000"/>
                        </a:solidFill>
                        <a:effectLst/>
                        <a:latin typeface="+mj-ea"/>
                        <a:ea typeface="+mj-ea"/>
                      </a:endParaRPr>
                    </a:p>
                    <a:p>
                      <a:pPr rtl="0"/>
                      <a:br>
                        <a:rPr lang="zh-CN" altLang="en-US" sz="1000" dirty="0">
                          <a:solidFill>
                            <a:srgbClr val="000000"/>
                          </a:solidFill>
                          <a:effectLst/>
                          <a:latin typeface="+mj-ea"/>
                          <a:ea typeface="+mj-ea"/>
                        </a:rPr>
                      </a:br>
                      <a:r>
                        <a:rPr lang="zh-CN" altLang="en-US" sz="1000" dirty="0">
                          <a:solidFill>
                            <a:srgbClr val="000000"/>
                          </a:solidFill>
                          <a:effectLst/>
                          <a:latin typeface="+mj-ea"/>
                          <a:ea typeface="+mj-ea"/>
                        </a:rPr>
                        <a:t>（具备基础逻辑和读写能力的成年人）</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extLst>
                  <a:ext uri="{0D108BD9-81ED-4DB2-BD59-A6C34878D82A}">
                    <a16:rowId xmlns:a16="http://schemas.microsoft.com/office/drawing/2014/main" val="4013578924"/>
                  </a:ext>
                </a:extLst>
              </a:tr>
              <a:tr h="1488374">
                <a:tc>
                  <a:txBody>
                    <a:bodyPr/>
                    <a:lstStyle/>
                    <a:p>
                      <a:pPr rtl="0"/>
                      <a:r>
                        <a:rPr lang="en-US" sz="1000" b="1">
                          <a:solidFill>
                            <a:srgbClr val="000000"/>
                          </a:solidFill>
                          <a:effectLst/>
                          <a:latin typeface="+mj-ea"/>
                          <a:ea typeface="+mj-ea"/>
                        </a:rPr>
                        <a:t>Level 4</a:t>
                      </a:r>
                    </a:p>
                    <a:p>
                      <a:pPr rtl="0"/>
                      <a:br>
                        <a:rPr lang="en-US" sz="1000" b="1">
                          <a:solidFill>
                            <a:srgbClr val="000000"/>
                          </a:solidFill>
                          <a:effectLst/>
                          <a:latin typeface="+mj-ea"/>
                          <a:ea typeface="+mj-ea"/>
                        </a:rPr>
                      </a:br>
                      <a:r>
                        <a:rPr lang="zh-CN" altLang="en-US" sz="1000" b="1">
                          <a:solidFill>
                            <a:srgbClr val="000000"/>
                          </a:solidFill>
                          <a:effectLst/>
                          <a:latin typeface="+mj-ea"/>
                          <a:ea typeface="+mj-ea"/>
                        </a:rPr>
                        <a:t>四元关系</a:t>
                      </a:r>
                    </a:p>
                    <a:p>
                      <a:pPr rtl="0"/>
                      <a:br>
                        <a:rPr lang="zh-CN" altLang="en-US" sz="1000" b="1">
                          <a:solidFill>
                            <a:srgbClr val="000000"/>
                          </a:solidFill>
                          <a:effectLst/>
                          <a:latin typeface="+mj-ea"/>
                          <a:ea typeface="+mj-ea"/>
                        </a:rPr>
                      </a:br>
                      <a:r>
                        <a:rPr lang="en-US" altLang="zh-CN" sz="1000" b="1" i="1">
                          <a:solidFill>
                            <a:srgbClr val="000000"/>
                          </a:solidFill>
                          <a:effectLst/>
                          <a:latin typeface="+mj-ea"/>
                          <a:ea typeface="+mj-ea"/>
                        </a:rPr>
                        <a:t>(</a:t>
                      </a:r>
                      <a:r>
                        <a:rPr lang="en-US" sz="1000" b="1" i="1">
                          <a:solidFill>
                            <a:srgbClr val="000000"/>
                          </a:solidFill>
                          <a:effectLst/>
                          <a:latin typeface="+mj-ea"/>
                          <a:ea typeface="+mj-ea"/>
                        </a:rPr>
                        <a:t>Quaternary Relations)</a:t>
                      </a:r>
                      <a:endParaRPr lang="en-US" sz="1000" b="1">
                        <a:solidFill>
                          <a:srgbClr val="000000"/>
                        </a:solidFill>
                        <a:effectLst/>
                        <a:latin typeface="+mj-ea"/>
                        <a:ea typeface="+mj-ea"/>
                      </a:endParaRP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DBE2EF"/>
                    </a:solidFill>
                  </a:tcPr>
                </a:tc>
                <a:tc>
                  <a:txBody>
                    <a:bodyPr/>
                    <a:lstStyle/>
                    <a:p>
                      <a:pPr rtl="0"/>
                      <a:r>
                        <a:rPr lang="en-US" altLang="zh-CN" sz="1000" b="1">
                          <a:solidFill>
                            <a:srgbClr val="000000"/>
                          </a:solidFill>
                          <a:effectLst/>
                          <a:latin typeface="+mj-ea"/>
                          <a:ea typeface="+mj-ea"/>
                        </a:rPr>
                        <a:t>4 </a:t>
                      </a:r>
                      <a:r>
                        <a:rPr lang="zh-CN" altLang="en-US" sz="1000" b="1">
                          <a:solidFill>
                            <a:srgbClr val="000000"/>
                          </a:solidFill>
                          <a:effectLst/>
                          <a:latin typeface="+mj-ea"/>
                          <a:ea typeface="+mj-ea"/>
                        </a:rPr>
                        <a:t>维</a:t>
                      </a:r>
                      <a:endParaRPr lang="zh-CN" altLang="en-US" sz="1000">
                        <a:solidFill>
                          <a:srgbClr val="000000"/>
                        </a:solidFill>
                        <a:effectLst/>
                        <a:latin typeface="+mj-ea"/>
                        <a:ea typeface="+mj-ea"/>
                      </a:endParaRP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FFFFF"/>
                    </a:solidFill>
                  </a:tcPr>
                </a:tc>
                <a:tc>
                  <a:txBody>
                    <a:bodyPr/>
                    <a:lstStyle/>
                    <a:p>
                      <a:pPr rtl="0"/>
                      <a:r>
                        <a:rPr lang="zh-CN" altLang="en-US" sz="1000" b="1" dirty="0">
                          <a:solidFill>
                            <a:srgbClr val="000000"/>
                          </a:solidFill>
                          <a:effectLst/>
                          <a:latin typeface="+mj-ea"/>
                          <a:ea typeface="+mj-ea"/>
                        </a:rPr>
                        <a:t>系统互动</a:t>
                      </a:r>
                      <a:endParaRPr lang="zh-CN" altLang="en-US" sz="1000" dirty="0">
                        <a:solidFill>
                          <a:srgbClr val="000000"/>
                        </a:solidFill>
                        <a:effectLst/>
                        <a:latin typeface="+mj-ea"/>
                        <a:ea typeface="+mj-ea"/>
                      </a:endParaRPr>
                    </a:p>
                    <a:p>
                      <a:pPr rtl="0"/>
                      <a:br>
                        <a:rPr lang="zh-CN" altLang="en-US" sz="1000" dirty="0">
                          <a:solidFill>
                            <a:srgbClr val="000000"/>
                          </a:solidFill>
                          <a:effectLst/>
                          <a:latin typeface="+mj-ea"/>
                          <a:ea typeface="+mj-ea"/>
                        </a:rPr>
                      </a:br>
                      <a:r>
                        <a:rPr lang="zh-CN" altLang="en-US" sz="1000" dirty="0">
                          <a:solidFill>
                            <a:srgbClr val="000000"/>
                          </a:solidFill>
                          <a:effectLst/>
                          <a:latin typeface="+mj-ea"/>
                          <a:ea typeface="+mj-ea"/>
                        </a:rPr>
                        <a:t>四个变量相互纠缠，无法拆解。</a:t>
                      </a:r>
                    </a:p>
                    <a:p>
                      <a:pPr rtl="0"/>
                      <a:br>
                        <a:rPr lang="zh-CN" altLang="en-US" sz="1000" dirty="0">
                          <a:solidFill>
                            <a:srgbClr val="000000"/>
                          </a:solidFill>
                          <a:effectLst/>
                          <a:latin typeface="+mj-ea"/>
                          <a:ea typeface="+mj-ea"/>
                        </a:rPr>
                      </a:br>
                      <a:r>
                        <a:rPr lang="en-US" altLang="zh-CN" sz="1000" dirty="0">
                          <a:solidFill>
                            <a:srgbClr val="000000"/>
                          </a:solidFill>
                          <a:effectLst/>
                          <a:latin typeface="+mj-ea"/>
                          <a:ea typeface="+mj-ea"/>
                        </a:rPr>
                        <a:t>R(a, b, c, d)</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FFFFF"/>
                    </a:solidFill>
                  </a:tcPr>
                </a:tc>
                <a:tc>
                  <a:txBody>
                    <a:bodyPr/>
                    <a:lstStyle/>
                    <a:p>
                      <a:pPr rtl="0"/>
                      <a:r>
                        <a:rPr lang="zh-CN" altLang="en-US" sz="1000" b="1" dirty="0">
                          <a:solidFill>
                            <a:srgbClr val="000000"/>
                          </a:solidFill>
                          <a:effectLst/>
                          <a:latin typeface="+mj-ea"/>
                          <a:ea typeface="+mj-ea"/>
                        </a:rPr>
                        <a:t>“比例类比：</a:t>
                      </a:r>
                      <a:r>
                        <a:rPr lang="en-US" altLang="zh-CN" sz="1000" b="1" dirty="0">
                          <a:solidFill>
                            <a:srgbClr val="000000"/>
                          </a:solidFill>
                          <a:effectLst/>
                          <a:latin typeface="+mj-ea"/>
                          <a:ea typeface="+mj-ea"/>
                        </a:rPr>
                        <a:t>A</a:t>
                      </a:r>
                      <a:r>
                        <a:rPr lang="zh-CN" altLang="en-US" sz="1000" b="1" dirty="0">
                          <a:solidFill>
                            <a:srgbClr val="000000"/>
                          </a:solidFill>
                          <a:effectLst/>
                          <a:latin typeface="+mj-ea"/>
                          <a:ea typeface="+mj-ea"/>
                        </a:rPr>
                        <a:t>之于</a:t>
                      </a:r>
                      <a:r>
                        <a:rPr lang="en-US" altLang="zh-CN" sz="1000" b="1" dirty="0">
                          <a:solidFill>
                            <a:srgbClr val="000000"/>
                          </a:solidFill>
                          <a:effectLst/>
                          <a:latin typeface="+mj-ea"/>
                          <a:ea typeface="+mj-ea"/>
                        </a:rPr>
                        <a:t>B</a:t>
                      </a:r>
                      <a:r>
                        <a:rPr lang="zh-CN" altLang="en-US" sz="1000" b="1" dirty="0">
                          <a:solidFill>
                            <a:srgbClr val="000000"/>
                          </a:solidFill>
                          <a:effectLst/>
                          <a:latin typeface="+mj-ea"/>
                          <a:ea typeface="+mj-ea"/>
                        </a:rPr>
                        <a:t>，犹如</a:t>
                      </a:r>
                      <a:r>
                        <a:rPr lang="en-US" altLang="zh-CN" sz="1000" b="1" dirty="0">
                          <a:solidFill>
                            <a:srgbClr val="000000"/>
                          </a:solidFill>
                          <a:effectLst/>
                          <a:latin typeface="+mj-ea"/>
                          <a:ea typeface="+mj-ea"/>
                        </a:rPr>
                        <a:t>C</a:t>
                      </a:r>
                      <a:r>
                        <a:rPr lang="zh-CN" altLang="en-US" sz="1000" b="1" dirty="0">
                          <a:solidFill>
                            <a:srgbClr val="000000"/>
                          </a:solidFill>
                          <a:effectLst/>
                          <a:latin typeface="+mj-ea"/>
                          <a:ea typeface="+mj-ea"/>
                        </a:rPr>
                        <a:t>之于</a:t>
                      </a:r>
                      <a:r>
                        <a:rPr lang="en-US" altLang="zh-CN" sz="1000" b="1" dirty="0">
                          <a:solidFill>
                            <a:srgbClr val="000000"/>
                          </a:solidFill>
                          <a:effectLst/>
                          <a:latin typeface="+mj-ea"/>
                          <a:ea typeface="+mj-ea"/>
                        </a:rPr>
                        <a:t>D”</a:t>
                      </a:r>
                      <a:endParaRPr lang="zh-CN" altLang="en-US" sz="1000" dirty="0">
                        <a:solidFill>
                          <a:srgbClr val="000000"/>
                        </a:solidFill>
                        <a:effectLst/>
                        <a:latin typeface="+mj-ea"/>
                        <a:ea typeface="+mj-ea"/>
                      </a:endParaRPr>
                    </a:p>
                    <a:p>
                      <a:pPr marL="171450" indent="-171450" rtl="0">
                        <a:buFont typeface="Arial" panose="020B0604020202020204" pitchFamily="34" charset="0"/>
                        <a:buChar char="•"/>
                      </a:pPr>
                      <a:r>
                        <a:rPr lang="zh-CN" altLang="en-US" sz="1000" b="1" dirty="0">
                          <a:solidFill>
                            <a:srgbClr val="000000"/>
                          </a:solidFill>
                          <a:effectLst/>
                          <a:latin typeface="+mj-ea"/>
                          <a:ea typeface="+mj-ea"/>
                        </a:rPr>
                        <a:t>比例运算</a:t>
                      </a:r>
                      <a:r>
                        <a:rPr lang="zh-CN" altLang="en-US" sz="1000" dirty="0">
                          <a:solidFill>
                            <a:srgbClr val="000000"/>
                          </a:solidFill>
                          <a:effectLst/>
                          <a:latin typeface="+mj-ea"/>
                          <a:ea typeface="+mj-ea"/>
                        </a:rPr>
                        <a:t>：</a:t>
                      </a:r>
                      <a:r>
                        <a:rPr lang="en-US" altLang="zh-CN" sz="1000" dirty="0">
                          <a:solidFill>
                            <a:srgbClr val="000000"/>
                          </a:solidFill>
                          <a:effectLst/>
                          <a:latin typeface="+mj-ea"/>
                          <a:ea typeface="+mj-ea"/>
                        </a:rPr>
                        <a:t>2/4 = 4/8</a:t>
                      </a:r>
                      <a:r>
                        <a:rPr lang="zh-CN" altLang="en-US" sz="1000" dirty="0">
                          <a:solidFill>
                            <a:srgbClr val="000000"/>
                          </a:solidFill>
                          <a:effectLst/>
                          <a:latin typeface="+mj-ea"/>
                          <a:ea typeface="+mj-ea"/>
                        </a:rPr>
                        <a:t>（需同时处理</a:t>
                      </a:r>
                      <a:r>
                        <a:rPr lang="en-US" altLang="zh-CN" sz="1000" dirty="0">
                          <a:solidFill>
                            <a:srgbClr val="000000"/>
                          </a:solidFill>
                          <a:effectLst/>
                          <a:latin typeface="+mj-ea"/>
                          <a:ea typeface="+mj-ea"/>
                        </a:rPr>
                        <a:t>4</a:t>
                      </a:r>
                      <a:r>
                        <a:rPr lang="zh-CN" altLang="en-US" sz="1000" dirty="0">
                          <a:solidFill>
                            <a:srgbClr val="000000"/>
                          </a:solidFill>
                          <a:effectLst/>
                          <a:latin typeface="+mj-ea"/>
                          <a:ea typeface="+mj-ea"/>
                        </a:rPr>
                        <a:t>个数字的关系）。</a:t>
                      </a:r>
                    </a:p>
                    <a:p>
                      <a:pPr marL="171450" indent="-171450" rtl="0">
                        <a:buFont typeface="Arial" panose="020B0604020202020204" pitchFamily="34" charset="0"/>
                        <a:buChar char="•"/>
                      </a:pPr>
                      <a:r>
                        <a:rPr lang="zh-CN" altLang="en-US" sz="1000" b="1" dirty="0">
                          <a:solidFill>
                            <a:srgbClr val="000000"/>
                          </a:solidFill>
                          <a:effectLst/>
                          <a:latin typeface="+mj-ea"/>
                          <a:ea typeface="+mj-ea"/>
                        </a:rPr>
                        <a:t>复杂语法</a:t>
                      </a:r>
                      <a:r>
                        <a:rPr lang="zh-CN" altLang="en-US" sz="1000" dirty="0">
                          <a:solidFill>
                            <a:srgbClr val="000000"/>
                          </a:solidFill>
                          <a:effectLst/>
                          <a:latin typeface="+mj-ea"/>
                          <a:ea typeface="+mj-ea"/>
                        </a:rPr>
                        <a:t>：理解多重从句嵌套。</a:t>
                      </a:r>
                    </a:p>
                    <a:p>
                      <a:pPr marL="171450" indent="-171450" rtl="0">
                        <a:buFont typeface="Arial" panose="020B0604020202020204" pitchFamily="34" charset="0"/>
                        <a:buChar char="•"/>
                      </a:pPr>
                      <a:r>
                        <a:rPr lang="zh-CN" altLang="en-US" sz="1000" b="1" dirty="0">
                          <a:solidFill>
                            <a:srgbClr val="000000"/>
                          </a:solidFill>
                          <a:effectLst/>
                          <a:latin typeface="+mj-ea"/>
                          <a:ea typeface="+mj-ea"/>
                        </a:rPr>
                        <a:t>基础系统论</a:t>
                      </a:r>
                      <a:r>
                        <a:rPr lang="zh-CN" altLang="en-US" sz="1000" dirty="0">
                          <a:solidFill>
                            <a:srgbClr val="000000"/>
                          </a:solidFill>
                          <a:effectLst/>
                          <a:latin typeface="+mj-ea"/>
                          <a:ea typeface="+mj-ea"/>
                        </a:rPr>
                        <a:t>：理解因果网络（不只是单线因果）。</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FFFFF"/>
                    </a:solidFill>
                  </a:tcPr>
                </a:tc>
                <a:tc>
                  <a:txBody>
                    <a:bodyPr/>
                    <a:lstStyle/>
                    <a:p>
                      <a:pPr rtl="0"/>
                      <a:r>
                        <a:rPr lang="zh-CN" altLang="en-US" sz="1000" b="1" dirty="0">
                          <a:solidFill>
                            <a:srgbClr val="000000"/>
                          </a:solidFill>
                          <a:effectLst/>
                          <a:latin typeface="+mj-ea"/>
                          <a:ea typeface="+mj-ea"/>
                        </a:rPr>
                        <a:t>前额叶 </a:t>
                      </a:r>
                      <a:r>
                        <a:rPr lang="en-US" altLang="zh-CN" sz="1000" b="1" dirty="0">
                          <a:solidFill>
                            <a:srgbClr val="000000"/>
                          </a:solidFill>
                          <a:effectLst/>
                          <a:latin typeface="+mj-ea"/>
                          <a:ea typeface="+mj-ea"/>
                        </a:rPr>
                        <a:t>(PFC) </a:t>
                      </a:r>
                      <a:r>
                        <a:rPr lang="zh-CN" altLang="en-US" sz="1000" b="1" dirty="0">
                          <a:solidFill>
                            <a:srgbClr val="000000"/>
                          </a:solidFill>
                          <a:effectLst/>
                          <a:latin typeface="+mj-ea"/>
                          <a:ea typeface="+mj-ea"/>
                        </a:rPr>
                        <a:t>高度成熟</a:t>
                      </a:r>
                      <a:endParaRPr lang="zh-CN" altLang="en-US" sz="1000" dirty="0">
                        <a:solidFill>
                          <a:srgbClr val="000000"/>
                        </a:solidFill>
                        <a:effectLst/>
                        <a:latin typeface="+mj-ea"/>
                        <a:ea typeface="+mj-ea"/>
                      </a:endParaRPr>
                    </a:p>
                    <a:p>
                      <a:pPr rtl="0"/>
                      <a:br>
                        <a:rPr lang="zh-CN" altLang="en-US" sz="1000" dirty="0">
                          <a:solidFill>
                            <a:srgbClr val="000000"/>
                          </a:solidFill>
                          <a:effectLst/>
                          <a:latin typeface="+mj-ea"/>
                          <a:ea typeface="+mj-ea"/>
                        </a:rPr>
                      </a:br>
                      <a:r>
                        <a:rPr lang="zh-CN" altLang="en-US" sz="1000" dirty="0">
                          <a:solidFill>
                            <a:srgbClr val="000000"/>
                          </a:solidFill>
                          <a:effectLst/>
                          <a:latin typeface="+mj-ea"/>
                          <a:ea typeface="+mj-ea"/>
                        </a:rPr>
                        <a:t>青少年</a:t>
                      </a:r>
                      <a:r>
                        <a:rPr lang="en-US" altLang="zh-CN" sz="1000" dirty="0">
                          <a:solidFill>
                            <a:srgbClr val="000000"/>
                          </a:solidFill>
                          <a:effectLst/>
                          <a:latin typeface="+mj-ea"/>
                          <a:ea typeface="+mj-ea"/>
                        </a:rPr>
                        <a:t>/</a:t>
                      </a:r>
                      <a:r>
                        <a:rPr lang="zh-CN" altLang="en-US" sz="1000" dirty="0">
                          <a:solidFill>
                            <a:srgbClr val="000000"/>
                          </a:solidFill>
                          <a:effectLst/>
                          <a:latin typeface="+mj-ea"/>
                          <a:ea typeface="+mj-ea"/>
                        </a:rPr>
                        <a:t>成年早期（</a:t>
                      </a:r>
                      <a:r>
                        <a:rPr lang="en-US" altLang="zh-CN" sz="1000" dirty="0">
                          <a:solidFill>
                            <a:srgbClr val="000000"/>
                          </a:solidFill>
                          <a:effectLst/>
                          <a:latin typeface="+mj-ea"/>
                          <a:ea typeface="+mj-ea"/>
                        </a:rPr>
                        <a:t>11</a:t>
                      </a:r>
                      <a:r>
                        <a:rPr lang="zh-CN" altLang="en-US" sz="1000" dirty="0">
                          <a:solidFill>
                            <a:srgbClr val="000000"/>
                          </a:solidFill>
                          <a:effectLst/>
                          <a:latin typeface="+mj-ea"/>
                          <a:ea typeface="+mj-ea"/>
                        </a:rPr>
                        <a:t>岁</a:t>
                      </a:r>
                      <a:r>
                        <a:rPr lang="en-US" altLang="zh-CN" sz="1000" dirty="0">
                          <a:solidFill>
                            <a:srgbClr val="000000"/>
                          </a:solidFill>
                          <a:effectLst/>
                          <a:latin typeface="+mj-ea"/>
                          <a:ea typeface="+mj-ea"/>
                        </a:rPr>
                        <a:t>+</a:t>
                      </a:r>
                      <a:r>
                        <a:rPr lang="zh-CN" altLang="en-US" sz="1000" dirty="0">
                          <a:solidFill>
                            <a:srgbClr val="000000"/>
                          </a:solidFill>
                          <a:effectLst/>
                          <a:latin typeface="+mj-ea"/>
                          <a:ea typeface="+mj-ea"/>
                        </a:rPr>
                        <a:t>）。</a:t>
                      </a:r>
                    </a:p>
                    <a:p>
                      <a:pPr rtl="0"/>
                      <a:br>
                        <a:rPr lang="zh-CN" altLang="en-US" sz="1000" dirty="0">
                          <a:solidFill>
                            <a:srgbClr val="000000"/>
                          </a:solidFill>
                          <a:effectLst/>
                          <a:latin typeface="+mj-ea"/>
                          <a:ea typeface="+mj-ea"/>
                        </a:rPr>
                      </a:br>
                      <a:r>
                        <a:rPr lang="zh-CN" altLang="en-US" sz="1000" b="1" dirty="0">
                          <a:solidFill>
                            <a:srgbClr val="000000"/>
                          </a:solidFill>
                          <a:effectLst/>
                          <a:latin typeface="+mj-ea"/>
                          <a:ea typeface="+mj-ea"/>
                        </a:rPr>
                        <a:t>人类的“软上限”。</a:t>
                      </a:r>
                      <a:endParaRPr lang="zh-CN" altLang="en-US" sz="1000" dirty="0">
                        <a:solidFill>
                          <a:srgbClr val="000000"/>
                        </a:solidFill>
                        <a:effectLst/>
                        <a:latin typeface="+mj-ea"/>
                        <a:ea typeface="+mj-ea"/>
                      </a:endParaRP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FFFFF"/>
                    </a:solidFill>
                  </a:tcPr>
                </a:tc>
                <a:tc>
                  <a:txBody>
                    <a:bodyPr/>
                    <a:lstStyle/>
                    <a:p>
                      <a:pPr rtl="0"/>
                      <a:r>
                        <a:rPr lang="en-US" altLang="zh-CN" sz="1000" b="1">
                          <a:solidFill>
                            <a:srgbClr val="000000"/>
                          </a:solidFill>
                          <a:effectLst/>
                          <a:latin typeface="+mj-ea"/>
                          <a:ea typeface="+mj-ea"/>
                        </a:rPr>
                        <a:t>~30% - 40%</a:t>
                      </a:r>
                      <a:endParaRPr lang="zh-CN" altLang="en-US" sz="1000">
                        <a:solidFill>
                          <a:srgbClr val="000000"/>
                        </a:solidFill>
                        <a:effectLst/>
                        <a:latin typeface="+mj-ea"/>
                        <a:ea typeface="+mj-ea"/>
                      </a:endParaRPr>
                    </a:p>
                    <a:p>
                      <a:pPr rtl="0"/>
                      <a:br>
                        <a:rPr lang="zh-CN" altLang="en-US" sz="1000">
                          <a:solidFill>
                            <a:srgbClr val="000000"/>
                          </a:solidFill>
                          <a:effectLst/>
                          <a:latin typeface="+mj-ea"/>
                          <a:ea typeface="+mj-ea"/>
                        </a:rPr>
                      </a:br>
                      <a:r>
                        <a:rPr lang="zh-CN" altLang="en-US" sz="1000">
                          <a:solidFill>
                            <a:srgbClr val="000000"/>
                          </a:solidFill>
                          <a:effectLst/>
                          <a:latin typeface="+mj-ea"/>
                          <a:ea typeface="+mj-ea"/>
                        </a:rPr>
                        <a:t>（能胜任复杂技术</a:t>
                      </a:r>
                      <a:r>
                        <a:rPr lang="en-US" altLang="zh-CN" sz="1000">
                          <a:solidFill>
                            <a:srgbClr val="000000"/>
                          </a:solidFill>
                          <a:effectLst/>
                          <a:latin typeface="+mj-ea"/>
                          <a:ea typeface="+mj-ea"/>
                        </a:rPr>
                        <a:t>/</a:t>
                      </a:r>
                      <a:r>
                        <a:rPr lang="zh-CN" altLang="en-US" sz="1000">
                          <a:solidFill>
                            <a:srgbClr val="000000"/>
                          </a:solidFill>
                          <a:effectLst/>
                          <a:latin typeface="+mj-ea"/>
                          <a:ea typeface="+mj-ea"/>
                        </a:rPr>
                        <a:t>管理工作的人群，</a:t>
                      </a:r>
                      <a:r>
                        <a:rPr lang="en-US" altLang="zh-CN" sz="1000">
                          <a:solidFill>
                            <a:srgbClr val="000000"/>
                          </a:solidFill>
                          <a:effectLst/>
                          <a:latin typeface="+mj-ea"/>
                          <a:ea typeface="+mj-ea"/>
                        </a:rPr>
                        <a:t>MHC</a:t>
                      </a:r>
                      <a:r>
                        <a:rPr lang="zh-CN" altLang="en-US" sz="1000">
                          <a:solidFill>
                            <a:srgbClr val="000000"/>
                          </a:solidFill>
                          <a:effectLst/>
                          <a:latin typeface="+mj-ea"/>
                          <a:ea typeface="+mj-ea"/>
                        </a:rPr>
                        <a:t>第</a:t>
                      </a:r>
                      <a:r>
                        <a:rPr lang="en-US" altLang="zh-CN" sz="1000">
                          <a:solidFill>
                            <a:srgbClr val="000000"/>
                          </a:solidFill>
                          <a:effectLst/>
                          <a:latin typeface="+mj-ea"/>
                          <a:ea typeface="+mj-ea"/>
                        </a:rPr>
                        <a:t>11</a:t>
                      </a:r>
                      <a:r>
                        <a:rPr lang="zh-CN" altLang="en-US" sz="1000">
                          <a:solidFill>
                            <a:srgbClr val="000000"/>
                          </a:solidFill>
                          <a:effectLst/>
                          <a:latin typeface="+mj-ea"/>
                          <a:ea typeface="+mj-ea"/>
                        </a:rPr>
                        <a:t>阶的主力）</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FFFFF"/>
                    </a:solidFill>
                  </a:tcPr>
                </a:tc>
                <a:extLst>
                  <a:ext uri="{0D108BD9-81ED-4DB2-BD59-A6C34878D82A}">
                    <a16:rowId xmlns:a16="http://schemas.microsoft.com/office/drawing/2014/main" val="2932950700"/>
                  </a:ext>
                </a:extLst>
              </a:tr>
              <a:tr h="1031193">
                <a:tc>
                  <a:txBody>
                    <a:bodyPr/>
                    <a:lstStyle/>
                    <a:p>
                      <a:pPr rtl="0"/>
                      <a:r>
                        <a:rPr lang="en-US" sz="1000" b="1" dirty="0">
                          <a:solidFill>
                            <a:srgbClr val="000000"/>
                          </a:solidFill>
                          <a:effectLst/>
                          <a:latin typeface="+mj-ea"/>
                          <a:ea typeface="+mj-ea"/>
                        </a:rPr>
                        <a:t>Level 5</a:t>
                      </a:r>
                    </a:p>
                    <a:p>
                      <a:pPr rtl="0"/>
                      <a:br>
                        <a:rPr lang="en-US" sz="1000" b="1" dirty="0">
                          <a:solidFill>
                            <a:srgbClr val="000000"/>
                          </a:solidFill>
                          <a:effectLst/>
                          <a:latin typeface="+mj-ea"/>
                          <a:ea typeface="+mj-ea"/>
                        </a:rPr>
                      </a:br>
                      <a:r>
                        <a:rPr lang="zh-CN" altLang="en-US" sz="1000" b="1" dirty="0">
                          <a:solidFill>
                            <a:srgbClr val="000000"/>
                          </a:solidFill>
                          <a:effectLst/>
                          <a:latin typeface="+mj-ea"/>
                          <a:ea typeface="+mj-ea"/>
                        </a:rPr>
                        <a:t>五元关系</a:t>
                      </a:r>
                    </a:p>
                    <a:p>
                      <a:pPr rtl="0"/>
                      <a:br>
                        <a:rPr lang="zh-CN" altLang="en-US" sz="1000" b="1" dirty="0">
                          <a:solidFill>
                            <a:srgbClr val="000000"/>
                          </a:solidFill>
                          <a:effectLst/>
                          <a:latin typeface="+mj-ea"/>
                          <a:ea typeface="+mj-ea"/>
                        </a:rPr>
                      </a:br>
                      <a:r>
                        <a:rPr lang="en-US" altLang="zh-CN" sz="1000" b="1" i="1" dirty="0">
                          <a:solidFill>
                            <a:srgbClr val="000000"/>
                          </a:solidFill>
                          <a:effectLst/>
                          <a:latin typeface="+mj-ea"/>
                          <a:ea typeface="+mj-ea"/>
                        </a:rPr>
                        <a:t>(</a:t>
                      </a:r>
                      <a:r>
                        <a:rPr lang="en-US" sz="1000" b="1" i="1" dirty="0">
                          <a:solidFill>
                            <a:srgbClr val="000000"/>
                          </a:solidFill>
                          <a:effectLst/>
                          <a:latin typeface="+mj-ea"/>
                          <a:ea typeface="+mj-ea"/>
                        </a:rPr>
                        <a:t>Quinary Relations)</a:t>
                      </a:r>
                      <a:endParaRPr lang="en-US" sz="1000" b="1" dirty="0">
                        <a:solidFill>
                          <a:srgbClr val="000000"/>
                        </a:solidFill>
                        <a:effectLst/>
                        <a:latin typeface="+mj-ea"/>
                        <a:ea typeface="+mj-ea"/>
                      </a:endParaRP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DBE2EF"/>
                    </a:solidFill>
                  </a:tcPr>
                </a:tc>
                <a:tc>
                  <a:txBody>
                    <a:bodyPr/>
                    <a:lstStyle/>
                    <a:p>
                      <a:pPr rtl="0"/>
                      <a:r>
                        <a:rPr lang="en-US" altLang="zh-CN" sz="1000" b="1">
                          <a:solidFill>
                            <a:srgbClr val="000000"/>
                          </a:solidFill>
                          <a:effectLst/>
                          <a:latin typeface="+mj-ea"/>
                          <a:ea typeface="+mj-ea"/>
                        </a:rPr>
                        <a:t>5 </a:t>
                      </a:r>
                      <a:r>
                        <a:rPr lang="zh-CN" altLang="en-US" sz="1000" b="1">
                          <a:solidFill>
                            <a:srgbClr val="000000"/>
                          </a:solidFill>
                          <a:effectLst/>
                          <a:latin typeface="+mj-ea"/>
                          <a:ea typeface="+mj-ea"/>
                        </a:rPr>
                        <a:t>维</a:t>
                      </a:r>
                      <a:endParaRPr lang="zh-CN" altLang="en-US" sz="1000">
                        <a:solidFill>
                          <a:srgbClr val="000000"/>
                        </a:solidFill>
                        <a:effectLst/>
                        <a:latin typeface="+mj-ea"/>
                        <a:ea typeface="+mj-ea"/>
                      </a:endParaRP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tc>
                  <a:txBody>
                    <a:bodyPr/>
                    <a:lstStyle/>
                    <a:p>
                      <a:pPr rtl="0"/>
                      <a:r>
                        <a:rPr lang="zh-CN" altLang="en-US" sz="1000" b="1" dirty="0">
                          <a:solidFill>
                            <a:srgbClr val="000000"/>
                          </a:solidFill>
                          <a:effectLst/>
                          <a:latin typeface="+mj-ea"/>
                          <a:ea typeface="+mj-ea"/>
                        </a:rPr>
                        <a:t>高阶抽象</a:t>
                      </a:r>
                      <a:endParaRPr lang="zh-CN" altLang="en-US" sz="1000" dirty="0">
                        <a:solidFill>
                          <a:srgbClr val="000000"/>
                        </a:solidFill>
                        <a:effectLst/>
                        <a:latin typeface="+mj-ea"/>
                        <a:ea typeface="+mj-ea"/>
                      </a:endParaRPr>
                    </a:p>
                    <a:p>
                      <a:pPr rtl="0"/>
                      <a:br>
                        <a:rPr lang="zh-CN" altLang="en-US" sz="1000" dirty="0">
                          <a:solidFill>
                            <a:srgbClr val="000000"/>
                          </a:solidFill>
                          <a:effectLst/>
                          <a:latin typeface="+mj-ea"/>
                          <a:ea typeface="+mj-ea"/>
                        </a:rPr>
                      </a:br>
                      <a:r>
                        <a:rPr lang="zh-CN" altLang="en-US" sz="1000" dirty="0">
                          <a:solidFill>
                            <a:srgbClr val="000000"/>
                          </a:solidFill>
                          <a:effectLst/>
                          <a:latin typeface="+mj-ea"/>
                          <a:ea typeface="+mj-ea"/>
                        </a:rPr>
                        <a:t>超越常规工作记忆的极限。</a:t>
                      </a:r>
                    </a:p>
                    <a:p>
                      <a:pPr rtl="0"/>
                      <a:br>
                        <a:rPr lang="zh-CN" altLang="en-US" sz="1000" dirty="0">
                          <a:solidFill>
                            <a:srgbClr val="000000"/>
                          </a:solidFill>
                          <a:effectLst/>
                          <a:latin typeface="+mj-ea"/>
                          <a:ea typeface="+mj-ea"/>
                        </a:rPr>
                      </a:br>
                      <a:r>
                        <a:rPr lang="en-US" sz="1000" dirty="0">
                          <a:solidFill>
                            <a:srgbClr val="000000"/>
                          </a:solidFill>
                          <a:effectLst/>
                          <a:latin typeface="+mj-ea"/>
                          <a:ea typeface="+mj-ea"/>
                        </a:rPr>
                        <a:t>R(a, b, c, d, e)</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tc>
                  <a:txBody>
                    <a:bodyPr/>
                    <a:lstStyle/>
                    <a:p>
                      <a:pPr rtl="0"/>
                      <a:r>
                        <a:rPr lang="zh-CN" altLang="en-US" sz="1000" b="1" dirty="0">
                          <a:solidFill>
                            <a:srgbClr val="000000"/>
                          </a:solidFill>
                          <a:effectLst/>
                          <a:latin typeface="+mj-ea"/>
                          <a:ea typeface="+mj-ea"/>
                        </a:rPr>
                        <a:t>“微积分</a:t>
                      </a:r>
                      <a:r>
                        <a:rPr lang="en-US" altLang="zh-CN" sz="1000" b="1" dirty="0">
                          <a:solidFill>
                            <a:srgbClr val="000000"/>
                          </a:solidFill>
                          <a:effectLst/>
                          <a:latin typeface="+mj-ea"/>
                          <a:ea typeface="+mj-ea"/>
                        </a:rPr>
                        <a:t>/</a:t>
                      </a:r>
                      <a:r>
                        <a:rPr lang="zh-CN" altLang="en-US" sz="1000" b="1" dirty="0">
                          <a:solidFill>
                            <a:srgbClr val="000000"/>
                          </a:solidFill>
                          <a:effectLst/>
                          <a:latin typeface="+mj-ea"/>
                          <a:ea typeface="+mj-ea"/>
                        </a:rPr>
                        <a:t>相对论</a:t>
                      </a:r>
                      <a:r>
                        <a:rPr lang="en-US" altLang="zh-CN" sz="1000" b="1" dirty="0">
                          <a:solidFill>
                            <a:srgbClr val="000000"/>
                          </a:solidFill>
                          <a:effectLst/>
                          <a:latin typeface="+mj-ea"/>
                          <a:ea typeface="+mj-ea"/>
                        </a:rPr>
                        <a:t>/</a:t>
                      </a:r>
                      <a:r>
                        <a:rPr lang="zh-CN" altLang="en-US" sz="1000" b="1" dirty="0">
                          <a:solidFill>
                            <a:srgbClr val="000000"/>
                          </a:solidFill>
                          <a:effectLst/>
                          <a:latin typeface="+mj-ea"/>
                          <a:ea typeface="+mj-ea"/>
                        </a:rPr>
                        <a:t>复杂法律架构”</a:t>
                      </a:r>
                      <a:endParaRPr lang="zh-CN" altLang="en-US" sz="1000" dirty="0">
                        <a:solidFill>
                          <a:srgbClr val="000000"/>
                        </a:solidFill>
                        <a:effectLst/>
                        <a:latin typeface="+mj-ea"/>
                        <a:ea typeface="+mj-ea"/>
                      </a:endParaRPr>
                    </a:p>
                    <a:p>
                      <a:pPr marL="171450" indent="-171450" rtl="0">
                        <a:buFont typeface="Arial" panose="020B0604020202020204" pitchFamily="34" charset="0"/>
                        <a:buChar char="•"/>
                      </a:pPr>
                      <a:r>
                        <a:rPr lang="zh-CN" altLang="en-US" sz="1000" dirty="0">
                          <a:solidFill>
                            <a:srgbClr val="000000"/>
                          </a:solidFill>
                          <a:effectLst/>
                          <a:latin typeface="+mj-ea"/>
                          <a:ea typeface="+mj-ea"/>
                        </a:rPr>
                        <a:t>理解包含</a:t>
                      </a:r>
                      <a:r>
                        <a:rPr lang="en-US" altLang="zh-CN" sz="1000" dirty="0">
                          <a:solidFill>
                            <a:srgbClr val="000000"/>
                          </a:solidFill>
                          <a:effectLst/>
                          <a:latin typeface="+mj-ea"/>
                          <a:ea typeface="+mj-ea"/>
                        </a:rPr>
                        <a:t>5</a:t>
                      </a:r>
                      <a:r>
                        <a:rPr lang="zh-CN" altLang="en-US" sz="1000" dirty="0">
                          <a:solidFill>
                            <a:srgbClr val="000000"/>
                          </a:solidFill>
                          <a:effectLst/>
                          <a:latin typeface="+mj-ea"/>
                          <a:ea typeface="+mj-ea"/>
                        </a:rPr>
                        <a:t>个及以上变量且</a:t>
                      </a:r>
                      <a:r>
                        <a:rPr lang="zh-CN" altLang="en-US" sz="1000" b="1" dirty="0">
                          <a:solidFill>
                            <a:srgbClr val="000000"/>
                          </a:solidFill>
                          <a:effectLst/>
                          <a:latin typeface="+mj-ea"/>
                          <a:ea typeface="+mj-ea"/>
                        </a:rPr>
                        <a:t>不可简化</a:t>
                      </a:r>
                      <a:r>
                        <a:rPr lang="zh-CN" altLang="en-US" sz="1000" dirty="0">
                          <a:solidFill>
                            <a:srgbClr val="000000"/>
                          </a:solidFill>
                          <a:effectLst/>
                          <a:latin typeface="+mj-ea"/>
                          <a:ea typeface="+mj-ea"/>
                        </a:rPr>
                        <a:t>的互动。</a:t>
                      </a:r>
                    </a:p>
                    <a:p>
                      <a:pPr marL="171450" indent="-171450" rtl="0">
                        <a:buFont typeface="Arial" panose="020B0604020202020204" pitchFamily="34" charset="0"/>
                        <a:buChar char="•"/>
                      </a:pPr>
                      <a:r>
                        <a:rPr lang="zh-CN" altLang="en-US" sz="1000" dirty="0">
                          <a:solidFill>
                            <a:srgbClr val="000000"/>
                          </a:solidFill>
                          <a:effectLst/>
                          <a:latin typeface="+mj-ea"/>
                          <a:ea typeface="+mj-ea"/>
                        </a:rPr>
                        <a:t>在脑中构建一个动态的多维模型。</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tc>
                  <a:txBody>
                    <a:bodyPr/>
                    <a:lstStyle/>
                    <a:p>
                      <a:pPr rtl="0"/>
                      <a:r>
                        <a:rPr lang="zh-CN" altLang="en-US" sz="1000" b="1">
                          <a:solidFill>
                            <a:srgbClr val="000000"/>
                          </a:solidFill>
                          <a:effectLst/>
                          <a:latin typeface="+mj-ea"/>
                          <a:ea typeface="+mj-ea"/>
                        </a:rPr>
                        <a:t>极高效率的神经连接</a:t>
                      </a:r>
                      <a:endParaRPr lang="zh-CN" altLang="en-US" sz="1000">
                        <a:solidFill>
                          <a:srgbClr val="000000"/>
                        </a:solidFill>
                        <a:effectLst/>
                        <a:latin typeface="+mj-ea"/>
                        <a:ea typeface="+mj-ea"/>
                      </a:endParaRPr>
                    </a:p>
                    <a:p>
                      <a:pPr rtl="0"/>
                      <a:br>
                        <a:rPr lang="zh-CN" altLang="en-US" sz="1000">
                          <a:solidFill>
                            <a:srgbClr val="000000"/>
                          </a:solidFill>
                          <a:effectLst/>
                          <a:latin typeface="+mj-ea"/>
                          <a:ea typeface="+mj-ea"/>
                        </a:rPr>
                      </a:br>
                      <a:r>
                        <a:rPr lang="zh-CN" altLang="en-US" sz="1000">
                          <a:solidFill>
                            <a:srgbClr val="000000"/>
                          </a:solidFill>
                          <a:effectLst/>
                          <a:latin typeface="+mj-ea"/>
                          <a:ea typeface="+mj-ea"/>
                        </a:rPr>
                        <a:t>通常需要</a:t>
                      </a:r>
                      <a:r>
                        <a:rPr lang="zh-CN" altLang="en-US" sz="1000" b="1">
                          <a:solidFill>
                            <a:srgbClr val="000000"/>
                          </a:solidFill>
                          <a:effectLst/>
                          <a:latin typeface="+mj-ea"/>
                          <a:ea typeface="+mj-ea"/>
                        </a:rPr>
                        <a:t>外部工具</a:t>
                      </a:r>
                      <a:r>
                        <a:rPr lang="zh-CN" altLang="en-US" sz="1000">
                          <a:solidFill>
                            <a:srgbClr val="000000"/>
                          </a:solidFill>
                          <a:effectLst/>
                          <a:latin typeface="+mj-ea"/>
                          <a:ea typeface="+mj-ea"/>
                        </a:rPr>
                        <a:t>（纸笔</a:t>
                      </a:r>
                      <a:r>
                        <a:rPr lang="en-US" altLang="zh-CN" sz="1000">
                          <a:solidFill>
                            <a:srgbClr val="000000"/>
                          </a:solidFill>
                          <a:effectLst/>
                          <a:latin typeface="+mj-ea"/>
                          <a:ea typeface="+mj-ea"/>
                        </a:rPr>
                        <a:t>/</a:t>
                      </a:r>
                      <a:r>
                        <a:rPr lang="zh-CN" altLang="en-US" sz="1000">
                          <a:solidFill>
                            <a:srgbClr val="000000"/>
                          </a:solidFill>
                          <a:effectLst/>
                          <a:latin typeface="+mj-ea"/>
                          <a:ea typeface="+mj-ea"/>
                        </a:rPr>
                        <a:t>电脑）或</a:t>
                      </a:r>
                      <a:r>
                        <a:rPr lang="zh-CN" altLang="en-US" sz="1000" b="1">
                          <a:solidFill>
                            <a:srgbClr val="000000"/>
                          </a:solidFill>
                          <a:effectLst/>
                          <a:latin typeface="+mj-ea"/>
                          <a:ea typeface="+mj-ea"/>
                        </a:rPr>
                        <a:t>组块化</a:t>
                      </a:r>
                      <a:r>
                        <a:rPr lang="zh-CN" altLang="en-US" sz="1000">
                          <a:solidFill>
                            <a:srgbClr val="000000"/>
                          </a:solidFill>
                          <a:effectLst/>
                          <a:latin typeface="+mj-ea"/>
                          <a:ea typeface="+mj-ea"/>
                        </a:rPr>
                        <a:t>技巧辅助。</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tc>
                  <a:txBody>
                    <a:bodyPr/>
                    <a:lstStyle/>
                    <a:p>
                      <a:pPr rtl="0"/>
                      <a:r>
                        <a:rPr lang="en-US" altLang="zh-CN" sz="1000" b="1" dirty="0">
                          <a:solidFill>
                            <a:srgbClr val="000000"/>
                          </a:solidFill>
                          <a:effectLst/>
                          <a:latin typeface="+mj-ea"/>
                          <a:ea typeface="+mj-ea"/>
                        </a:rPr>
                        <a:t>&lt; 5%</a:t>
                      </a:r>
                      <a:endParaRPr lang="zh-CN" altLang="en-US" sz="1000" dirty="0">
                        <a:solidFill>
                          <a:srgbClr val="000000"/>
                        </a:solidFill>
                        <a:effectLst/>
                        <a:latin typeface="+mj-ea"/>
                        <a:ea typeface="+mj-ea"/>
                      </a:endParaRPr>
                    </a:p>
                    <a:p>
                      <a:pPr rtl="0"/>
                      <a:br>
                        <a:rPr lang="zh-CN" altLang="en-US" sz="1000" dirty="0">
                          <a:solidFill>
                            <a:srgbClr val="000000"/>
                          </a:solidFill>
                          <a:effectLst/>
                          <a:latin typeface="+mj-ea"/>
                          <a:ea typeface="+mj-ea"/>
                        </a:rPr>
                      </a:br>
                      <a:r>
                        <a:rPr lang="zh-CN" altLang="en-US" sz="1000" dirty="0">
                          <a:solidFill>
                            <a:srgbClr val="000000"/>
                          </a:solidFill>
                          <a:effectLst/>
                          <a:latin typeface="+mj-ea"/>
                          <a:ea typeface="+mj-ea"/>
                        </a:rPr>
                        <a:t>（顶尖学者、架构师、</a:t>
                      </a:r>
                      <a:r>
                        <a:rPr lang="en-US" altLang="zh-CN" sz="1000" dirty="0">
                          <a:solidFill>
                            <a:srgbClr val="000000"/>
                          </a:solidFill>
                          <a:effectLst/>
                          <a:latin typeface="+mj-ea"/>
                          <a:ea typeface="+mj-ea"/>
                        </a:rPr>
                        <a:t>MHC</a:t>
                      </a:r>
                      <a:r>
                        <a:rPr lang="zh-CN" altLang="en-US" sz="1000" dirty="0">
                          <a:solidFill>
                            <a:srgbClr val="000000"/>
                          </a:solidFill>
                          <a:effectLst/>
                          <a:latin typeface="+mj-ea"/>
                          <a:ea typeface="+mj-ea"/>
                        </a:rPr>
                        <a:t>第</a:t>
                      </a:r>
                      <a:r>
                        <a:rPr lang="en-US" altLang="zh-CN" sz="1000" dirty="0">
                          <a:solidFill>
                            <a:srgbClr val="000000"/>
                          </a:solidFill>
                          <a:effectLst/>
                          <a:latin typeface="+mj-ea"/>
                          <a:ea typeface="+mj-ea"/>
                        </a:rPr>
                        <a:t>12</a:t>
                      </a:r>
                      <a:r>
                        <a:rPr lang="zh-CN" altLang="en-US" sz="1000" dirty="0">
                          <a:solidFill>
                            <a:srgbClr val="000000"/>
                          </a:solidFill>
                          <a:effectLst/>
                          <a:latin typeface="+mj-ea"/>
                          <a:ea typeface="+mj-ea"/>
                        </a:rPr>
                        <a:t>阶</a:t>
                      </a:r>
                      <a:r>
                        <a:rPr lang="en-US" altLang="zh-CN" sz="1000" dirty="0">
                          <a:solidFill>
                            <a:srgbClr val="000000"/>
                          </a:solidFill>
                          <a:effectLst/>
                          <a:latin typeface="+mj-ea"/>
                          <a:ea typeface="+mj-ea"/>
                        </a:rPr>
                        <a:t>+</a:t>
                      </a:r>
                      <a:r>
                        <a:rPr lang="zh-CN" altLang="en-US" sz="1000" dirty="0">
                          <a:solidFill>
                            <a:srgbClr val="000000"/>
                          </a:solidFill>
                          <a:effectLst/>
                          <a:latin typeface="+mj-ea"/>
                          <a:ea typeface="+mj-ea"/>
                        </a:rPr>
                        <a:t>的门槛）</a:t>
                      </a:r>
                    </a:p>
                  </a:txBody>
                  <a:tcPr marL="16905" marR="16905" marT="11270" marB="11270" anchor="ctr">
                    <a:lnL w="4763" cap="flat" cmpd="sng" algn="ctr">
                      <a:solidFill>
                        <a:srgbClr val="C7D7EB"/>
                      </a:solidFill>
                      <a:prstDash val="solid"/>
                      <a:round/>
                      <a:headEnd type="none" w="med" len="med"/>
                      <a:tailEnd type="none" w="med" len="med"/>
                    </a:lnL>
                    <a:lnR w="4763" cap="flat" cmpd="sng" algn="ctr">
                      <a:solidFill>
                        <a:srgbClr val="C7D7EB"/>
                      </a:solidFill>
                      <a:prstDash val="solid"/>
                      <a:round/>
                      <a:headEnd type="none" w="med" len="med"/>
                      <a:tailEnd type="none" w="med" len="med"/>
                    </a:lnR>
                    <a:lnT w="4763" cap="flat" cmpd="sng" algn="ctr">
                      <a:solidFill>
                        <a:srgbClr val="C7D7EB"/>
                      </a:solidFill>
                      <a:prstDash val="solid"/>
                      <a:round/>
                      <a:headEnd type="none" w="med" len="med"/>
                      <a:tailEnd type="none" w="med" len="med"/>
                    </a:lnT>
                    <a:lnB w="4763" cap="flat" cmpd="sng" algn="ctr">
                      <a:solidFill>
                        <a:srgbClr val="C7D7EB"/>
                      </a:solidFill>
                      <a:prstDash val="solid"/>
                      <a:round/>
                      <a:headEnd type="none" w="med" len="med"/>
                      <a:tailEnd type="none" w="med" len="med"/>
                    </a:lnB>
                    <a:solidFill>
                      <a:srgbClr val="F9F7F7"/>
                    </a:solidFill>
                  </a:tcPr>
                </a:tc>
                <a:extLst>
                  <a:ext uri="{0D108BD9-81ED-4DB2-BD59-A6C34878D82A}">
                    <a16:rowId xmlns:a16="http://schemas.microsoft.com/office/drawing/2014/main" val="1429442695"/>
                  </a:ext>
                </a:extLst>
              </a:tr>
            </a:tbl>
          </a:graphicData>
        </a:graphic>
      </p:graphicFrame>
    </p:spTree>
    <p:extLst>
      <p:ext uri="{BB962C8B-B14F-4D97-AF65-F5344CB8AC3E}">
        <p14:creationId xmlns:p14="http://schemas.microsoft.com/office/powerpoint/2010/main" val="297388896"/>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B02A0CC-C528-8C7A-42F8-EA6B85851FF4}"/>
              </a:ext>
            </a:extLst>
          </p:cNvPr>
          <p:cNvSpPr>
            <a:spLocks noGrp="1"/>
          </p:cNvSpPr>
          <p:nvPr>
            <p:ph type="title"/>
          </p:nvPr>
        </p:nvSpPr>
        <p:spPr/>
        <p:txBody>
          <a:bodyPr/>
          <a:lstStyle/>
          <a:p>
            <a:r>
              <a:rPr lang="zh-CN" altLang="en-US" dirty="0"/>
              <a:t>雅克的 </a:t>
            </a:r>
            <a:r>
              <a:rPr lang="en-US" altLang="zh-CN" dirty="0"/>
              <a:t>7 </a:t>
            </a:r>
            <a:r>
              <a:rPr lang="zh-CN" altLang="en-US" dirty="0"/>
              <a:t>层复杂性阶梯（与时间周期的对应）</a:t>
            </a:r>
          </a:p>
        </p:txBody>
      </p:sp>
      <p:graphicFrame>
        <p:nvGraphicFramePr>
          <p:cNvPr id="4" name="表格 3">
            <a:extLst>
              <a:ext uri="{FF2B5EF4-FFF2-40B4-BE49-F238E27FC236}">
                <a16:creationId xmlns:a16="http://schemas.microsoft.com/office/drawing/2014/main" id="{9E7EB8DA-70EE-E747-B090-80D9769958D4}"/>
              </a:ext>
            </a:extLst>
          </p:cNvPr>
          <p:cNvGraphicFramePr>
            <a:graphicFrameLocks noGrp="1"/>
          </p:cNvGraphicFramePr>
          <p:nvPr>
            <p:extLst>
              <p:ext uri="{D42A27DB-BD31-4B8C-83A1-F6EECF244321}">
                <p14:modId xmlns:p14="http://schemas.microsoft.com/office/powerpoint/2010/main" val="3215780391"/>
              </p:ext>
            </p:extLst>
          </p:nvPr>
        </p:nvGraphicFramePr>
        <p:xfrm>
          <a:off x="1004155" y="782492"/>
          <a:ext cx="10265966" cy="5920822"/>
        </p:xfrm>
        <a:graphic>
          <a:graphicData uri="http://schemas.openxmlformats.org/drawingml/2006/table">
            <a:tbl>
              <a:tblPr/>
              <a:tblGrid>
                <a:gridCol w="916246">
                  <a:extLst>
                    <a:ext uri="{9D8B030D-6E8A-4147-A177-3AD203B41FA5}">
                      <a16:colId xmlns:a16="http://schemas.microsoft.com/office/drawing/2014/main" val="1884019712"/>
                    </a:ext>
                  </a:extLst>
                </a:gridCol>
                <a:gridCol w="1869944">
                  <a:extLst>
                    <a:ext uri="{9D8B030D-6E8A-4147-A177-3AD203B41FA5}">
                      <a16:colId xmlns:a16="http://schemas.microsoft.com/office/drawing/2014/main" val="2782175876"/>
                    </a:ext>
                  </a:extLst>
                </a:gridCol>
                <a:gridCol w="1869944">
                  <a:extLst>
                    <a:ext uri="{9D8B030D-6E8A-4147-A177-3AD203B41FA5}">
                      <a16:colId xmlns:a16="http://schemas.microsoft.com/office/drawing/2014/main" val="867666673"/>
                    </a:ext>
                  </a:extLst>
                </a:gridCol>
                <a:gridCol w="1869944">
                  <a:extLst>
                    <a:ext uri="{9D8B030D-6E8A-4147-A177-3AD203B41FA5}">
                      <a16:colId xmlns:a16="http://schemas.microsoft.com/office/drawing/2014/main" val="3404790459"/>
                    </a:ext>
                  </a:extLst>
                </a:gridCol>
                <a:gridCol w="2735730">
                  <a:extLst>
                    <a:ext uri="{9D8B030D-6E8A-4147-A177-3AD203B41FA5}">
                      <a16:colId xmlns:a16="http://schemas.microsoft.com/office/drawing/2014/main" val="963548675"/>
                    </a:ext>
                  </a:extLst>
                </a:gridCol>
                <a:gridCol w="1004158">
                  <a:extLst>
                    <a:ext uri="{9D8B030D-6E8A-4147-A177-3AD203B41FA5}">
                      <a16:colId xmlns:a16="http://schemas.microsoft.com/office/drawing/2014/main" val="1201731451"/>
                    </a:ext>
                  </a:extLst>
                </a:gridCol>
              </a:tblGrid>
              <a:tr h="211618">
                <a:tc>
                  <a:txBody>
                    <a:bodyPr/>
                    <a:lstStyle/>
                    <a:p>
                      <a:pPr rtl="0"/>
                      <a:r>
                        <a:rPr lang="zh-CN" altLang="en-US" sz="900" b="1">
                          <a:solidFill>
                            <a:srgbClr val="FFFFFF"/>
                          </a:solidFill>
                          <a:effectLst/>
                          <a:latin typeface="+mj-ea"/>
                          <a:ea typeface="+mj-ea"/>
                        </a:rPr>
                        <a:t>层级 </a:t>
                      </a:r>
                      <a:r>
                        <a:rPr lang="en-US" altLang="zh-CN" sz="900" b="1">
                          <a:solidFill>
                            <a:srgbClr val="FFFFFF"/>
                          </a:solidFill>
                          <a:effectLst/>
                          <a:latin typeface="+mj-ea"/>
                          <a:ea typeface="+mj-ea"/>
                        </a:rPr>
                        <a:t>(</a:t>
                      </a:r>
                      <a:r>
                        <a:rPr lang="en-US" sz="900" b="1">
                          <a:solidFill>
                            <a:srgbClr val="FFFFFF"/>
                          </a:solidFill>
                          <a:effectLst/>
                          <a:latin typeface="+mj-ea"/>
                          <a:ea typeface="+mj-ea"/>
                        </a:rPr>
                        <a:t>Stratum)</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674188"/>
                    </a:solidFill>
                  </a:tcPr>
                </a:tc>
                <a:tc>
                  <a:txBody>
                    <a:bodyPr/>
                    <a:lstStyle/>
                    <a:p>
                      <a:pPr rtl="0"/>
                      <a:r>
                        <a:rPr lang="zh-CN" altLang="en-US" sz="900" b="1">
                          <a:solidFill>
                            <a:srgbClr val="FFFFFF"/>
                          </a:solidFill>
                          <a:effectLst/>
                          <a:latin typeface="+mj-ea"/>
                          <a:ea typeface="+mj-ea"/>
                        </a:rPr>
                        <a:t>角色定位</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674188"/>
                    </a:solidFill>
                  </a:tcPr>
                </a:tc>
                <a:tc>
                  <a:txBody>
                    <a:bodyPr/>
                    <a:lstStyle/>
                    <a:p>
                      <a:pPr rtl="0"/>
                      <a:r>
                        <a:rPr lang="zh-CN" altLang="en-US" sz="900" b="1">
                          <a:solidFill>
                            <a:srgbClr val="FFFFFF"/>
                          </a:solidFill>
                          <a:effectLst/>
                          <a:latin typeface="+mj-ea"/>
                          <a:ea typeface="+mj-ea"/>
                        </a:rPr>
                        <a:t>核心指标：判断力时程 </a:t>
                      </a:r>
                      <a:r>
                        <a:rPr lang="en-US" altLang="zh-CN" sz="900" b="1">
                          <a:solidFill>
                            <a:srgbClr val="FFFFFF"/>
                          </a:solidFill>
                          <a:effectLst/>
                          <a:latin typeface="+mj-ea"/>
                          <a:ea typeface="+mj-ea"/>
                        </a:rPr>
                        <a:t>(TSD)</a:t>
                      </a:r>
                      <a:endParaRPr lang="zh-CN" altLang="en-US" sz="900" b="1">
                        <a:solidFill>
                          <a:srgbClr val="FFFFFF"/>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674188"/>
                    </a:solidFill>
                  </a:tcPr>
                </a:tc>
                <a:tc>
                  <a:txBody>
                    <a:bodyPr/>
                    <a:lstStyle/>
                    <a:p>
                      <a:pPr rtl="0"/>
                      <a:r>
                        <a:rPr lang="zh-CN" altLang="en-US" sz="900" b="1">
                          <a:solidFill>
                            <a:srgbClr val="FFFFFF"/>
                          </a:solidFill>
                          <a:effectLst/>
                          <a:latin typeface="+mj-ea"/>
                          <a:ea typeface="+mj-ea"/>
                        </a:rPr>
                        <a:t>认知模式 </a:t>
                      </a:r>
                      <a:r>
                        <a:rPr lang="en-US" altLang="zh-CN" sz="900" b="1">
                          <a:solidFill>
                            <a:srgbClr val="FFFFFF"/>
                          </a:solidFill>
                          <a:effectLst/>
                          <a:latin typeface="+mj-ea"/>
                          <a:ea typeface="+mj-ea"/>
                        </a:rPr>
                        <a:t>(</a:t>
                      </a:r>
                      <a:r>
                        <a:rPr lang="en-US" sz="900" b="1">
                          <a:solidFill>
                            <a:srgbClr val="FFFFFF"/>
                          </a:solidFill>
                          <a:effectLst/>
                          <a:latin typeface="+mj-ea"/>
                          <a:ea typeface="+mj-ea"/>
                        </a:rPr>
                        <a:t>Cognitive Mode)</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674188"/>
                    </a:solidFill>
                  </a:tcPr>
                </a:tc>
                <a:tc>
                  <a:txBody>
                    <a:bodyPr/>
                    <a:lstStyle/>
                    <a:p>
                      <a:pPr rtl="0"/>
                      <a:r>
                        <a:rPr lang="zh-CN" altLang="en-US" sz="900" b="1">
                          <a:solidFill>
                            <a:srgbClr val="FFFFFF"/>
                          </a:solidFill>
                          <a:effectLst/>
                          <a:latin typeface="+mj-ea"/>
                          <a:ea typeface="+mj-ea"/>
                        </a:rPr>
                        <a:t>典型思维特征 </a:t>
                      </a:r>
                      <a:r>
                        <a:rPr lang="en-US" altLang="zh-CN" sz="900" b="1">
                          <a:solidFill>
                            <a:srgbClr val="FFFFFF"/>
                          </a:solidFill>
                          <a:effectLst/>
                          <a:latin typeface="+mj-ea"/>
                          <a:ea typeface="+mj-ea"/>
                        </a:rPr>
                        <a:t>(</a:t>
                      </a:r>
                      <a:r>
                        <a:rPr lang="zh-CN" altLang="en-US" sz="900" b="1">
                          <a:solidFill>
                            <a:srgbClr val="FFFFFF"/>
                          </a:solidFill>
                          <a:effectLst/>
                          <a:latin typeface="+mj-ea"/>
                          <a:ea typeface="+mj-ea"/>
                        </a:rPr>
                        <a:t>大脑如何处理信息</a:t>
                      </a:r>
                      <a:r>
                        <a:rPr lang="en-US" altLang="zh-CN" sz="900" b="1">
                          <a:solidFill>
                            <a:srgbClr val="FFFFFF"/>
                          </a:solidFill>
                          <a:effectLst/>
                          <a:latin typeface="+mj-ea"/>
                          <a:ea typeface="+mj-ea"/>
                        </a:rPr>
                        <a:t>)</a:t>
                      </a:r>
                      <a:endParaRPr lang="zh-CN" altLang="en-US" sz="900" b="1">
                        <a:solidFill>
                          <a:srgbClr val="FFFFFF"/>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674188"/>
                    </a:solidFill>
                  </a:tcPr>
                </a:tc>
                <a:tc>
                  <a:txBody>
                    <a:bodyPr/>
                    <a:lstStyle/>
                    <a:p>
                      <a:pPr rtl="0"/>
                      <a:r>
                        <a:rPr lang="zh-CN" altLang="en-US" sz="900" b="1">
                          <a:solidFill>
                            <a:srgbClr val="FFFFFF"/>
                          </a:solidFill>
                          <a:effectLst/>
                          <a:latin typeface="+mj-ea"/>
                          <a:ea typeface="+mj-ea"/>
                        </a:rPr>
                        <a:t>成年工作人口比例 </a:t>
                      </a:r>
                      <a:r>
                        <a:rPr lang="en-US" altLang="zh-CN" sz="900" b="1">
                          <a:solidFill>
                            <a:srgbClr val="FFFFFF"/>
                          </a:solidFill>
                          <a:effectLst/>
                          <a:latin typeface="+mj-ea"/>
                          <a:ea typeface="+mj-ea"/>
                        </a:rPr>
                        <a:t>(</a:t>
                      </a:r>
                      <a:r>
                        <a:rPr lang="zh-CN" altLang="en-US" sz="900" b="1">
                          <a:solidFill>
                            <a:srgbClr val="FFFFFF"/>
                          </a:solidFill>
                          <a:effectLst/>
                          <a:latin typeface="+mj-ea"/>
                          <a:ea typeface="+mj-ea"/>
                        </a:rPr>
                        <a:t>估算</a:t>
                      </a:r>
                      <a:r>
                        <a:rPr lang="en-US" altLang="zh-CN" sz="900" b="1">
                          <a:solidFill>
                            <a:srgbClr val="FFFFFF"/>
                          </a:solidFill>
                          <a:effectLst/>
                          <a:latin typeface="+mj-ea"/>
                          <a:ea typeface="+mj-ea"/>
                        </a:rPr>
                        <a:t>)</a:t>
                      </a:r>
                      <a:endParaRPr lang="zh-CN" altLang="en-US" sz="900" b="1">
                        <a:solidFill>
                          <a:srgbClr val="FFFFFF"/>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674188"/>
                    </a:solidFill>
                  </a:tcPr>
                </a:tc>
                <a:extLst>
                  <a:ext uri="{0D108BD9-81ED-4DB2-BD59-A6C34878D82A}">
                    <a16:rowId xmlns:a16="http://schemas.microsoft.com/office/drawing/2014/main" val="926474755"/>
                  </a:ext>
                </a:extLst>
              </a:tr>
              <a:tr h="663547">
                <a:tc>
                  <a:txBody>
                    <a:bodyPr/>
                    <a:lstStyle/>
                    <a:p>
                      <a:pPr rtl="0"/>
                      <a:r>
                        <a:rPr lang="en-US" sz="900" b="1">
                          <a:solidFill>
                            <a:srgbClr val="000000"/>
                          </a:solidFill>
                          <a:effectLst/>
                          <a:latin typeface="+mj-ea"/>
                          <a:ea typeface="+mj-ea"/>
                        </a:rPr>
                        <a:t>I</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DACDE4"/>
                    </a:solidFill>
                  </a:tcPr>
                </a:tc>
                <a:tc>
                  <a:txBody>
                    <a:bodyPr/>
                    <a:lstStyle/>
                    <a:p>
                      <a:pPr rtl="0"/>
                      <a:r>
                        <a:rPr lang="zh-CN" altLang="en-US" sz="900" b="1">
                          <a:solidFill>
                            <a:srgbClr val="000000"/>
                          </a:solidFill>
                          <a:effectLst/>
                          <a:latin typeface="+mj-ea"/>
                          <a:ea typeface="+mj-ea"/>
                        </a:rPr>
                        <a:t>操作员</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en-US" altLang="zh-CN" sz="900">
                          <a:solidFill>
                            <a:srgbClr val="000000"/>
                          </a:solidFill>
                          <a:effectLst/>
                          <a:latin typeface="+mj-ea"/>
                          <a:ea typeface="+mj-ea"/>
                        </a:rPr>
                        <a:t>(</a:t>
                      </a:r>
                      <a:r>
                        <a:rPr lang="en-US" sz="900">
                          <a:solidFill>
                            <a:srgbClr val="000000"/>
                          </a:solidFill>
                          <a:effectLst/>
                          <a:latin typeface="+mj-ea"/>
                          <a:ea typeface="+mj-ea"/>
                        </a:rPr>
                        <a:t>Front-line)</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en-US" altLang="zh-CN" sz="900" b="1">
                          <a:solidFill>
                            <a:srgbClr val="000000"/>
                          </a:solidFill>
                          <a:effectLst/>
                          <a:latin typeface="+mj-ea"/>
                          <a:ea typeface="+mj-ea"/>
                        </a:rPr>
                        <a:t>1</a:t>
                      </a:r>
                      <a:r>
                        <a:rPr lang="zh-CN" altLang="en-US" sz="900" b="1">
                          <a:solidFill>
                            <a:srgbClr val="000000"/>
                          </a:solidFill>
                          <a:effectLst/>
                          <a:latin typeface="+mj-ea"/>
                          <a:ea typeface="+mj-ea"/>
                        </a:rPr>
                        <a:t>天 </a:t>
                      </a:r>
                      <a:r>
                        <a:rPr lang="en-US" altLang="zh-CN" sz="900" b="1">
                          <a:solidFill>
                            <a:srgbClr val="000000"/>
                          </a:solidFill>
                          <a:effectLst/>
                          <a:latin typeface="+mj-ea"/>
                          <a:ea typeface="+mj-ea"/>
                        </a:rPr>
                        <a:t>- 3</a:t>
                      </a:r>
                      <a:r>
                        <a:rPr lang="zh-CN" altLang="en-US" sz="900" b="1">
                          <a:solidFill>
                            <a:srgbClr val="000000"/>
                          </a:solidFill>
                          <a:effectLst/>
                          <a:latin typeface="+mj-ea"/>
                          <a:ea typeface="+mj-ea"/>
                        </a:rPr>
                        <a:t>个月</a:t>
                      </a:r>
                      <a:endParaRPr lang="zh-CN" altLang="en-US" sz="90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zh-CN" altLang="en-US" sz="900" b="1">
                          <a:solidFill>
                            <a:srgbClr val="000000"/>
                          </a:solidFill>
                          <a:effectLst/>
                          <a:latin typeface="+mj-ea"/>
                          <a:ea typeface="+mj-ea"/>
                        </a:rPr>
                        <a:t>宣示性处理</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en-US" altLang="zh-CN" sz="900">
                          <a:solidFill>
                            <a:srgbClr val="000000"/>
                          </a:solidFill>
                          <a:effectLst/>
                          <a:latin typeface="+mj-ea"/>
                          <a:ea typeface="+mj-ea"/>
                        </a:rPr>
                        <a:t>(</a:t>
                      </a:r>
                      <a:r>
                        <a:rPr lang="en-US" sz="900">
                          <a:solidFill>
                            <a:srgbClr val="000000"/>
                          </a:solidFill>
                          <a:effectLst/>
                          <a:latin typeface="+mj-ea"/>
                          <a:ea typeface="+mj-ea"/>
                        </a:rPr>
                        <a:t>Declarative)</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zh-CN" altLang="en-US" sz="900" b="1">
                          <a:solidFill>
                            <a:srgbClr val="000000"/>
                          </a:solidFill>
                          <a:effectLst/>
                          <a:latin typeface="+mj-ea"/>
                          <a:ea typeface="+mj-ea"/>
                        </a:rPr>
                        <a:t>“当下即是”</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zh-CN" altLang="en-US" sz="900">
                          <a:solidFill>
                            <a:srgbClr val="000000"/>
                          </a:solidFill>
                          <a:effectLst/>
                          <a:latin typeface="+mj-ea"/>
                          <a:ea typeface="+mj-ea"/>
                        </a:rPr>
                        <a:t>思维是具体的、直接的。通过试错来工作。只能处理这一刻、这一步。无法预见如果我现在不做</a:t>
                      </a:r>
                      <a:r>
                        <a:rPr lang="en-US" altLang="zh-CN" sz="900">
                          <a:solidFill>
                            <a:srgbClr val="000000"/>
                          </a:solidFill>
                          <a:effectLst/>
                          <a:latin typeface="+mj-ea"/>
                          <a:ea typeface="+mj-ea"/>
                        </a:rPr>
                        <a:t>A</a:t>
                      </a:r>
                      <a:r>
                        <a:rPr lang="zh-CN" altLang="en-US" sz="900">
                          <a:solidFill>
                            <a:srgbClr val="000000"/>
                          </a:solidFill>
                          <a:effectLst/>
                          <a:latin typeface="+mj-ea"/>
                          <a:ea typeface="+mj-ea"/>
                        </a:rPr>
                        <a:t>，三个月后会导致</a:t>
                      </a:r>
                      <a:r>
                        <a:rPr lang="en-US" altLang="zh-CN" sz="900">
                          <a:solidFill>
                            <a:srgbClr val="000000"/>
                          </a:solidFill>
                          <a:effectLst/>
                          <a:latin typeface="+mj-ea"/>
                          <a:ea typeface="+mj-ea"/>
                        </a:rPr>
                        <a:t>B</a:t>
                      </a:r>
                      <a:r>
                        <a:rPr lang="zh-CN" altLang="en-US" sz="900">
                          <a:solidFill>
                            <a:srgbClr val="000000"/>
                          </a:solidFill>
                          <a:effectLst/>
                          <a:latin typeface="+mj-ea"/>
                          <a:ea typeface="+mj-ea"/>
                        </a:rPr>
                        <a:t>。</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en-US" altLang="zh-CN" sz="900" b="1">
                          <a:solidFill>
                            <a:srgbClr val="000000"/>
                          </a:solidFill>
                          <a:effectLst/>
                          <a:latin typeface="+mj-ea"/>
                          <a:ea typeface="+mj-ea"/>
                        </a:rPr>
                        <a:t>80% - 90%</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en-US" altLang="zh-CN" sz="900">
                          <a:solidFill>
                            <a:srgbClr val="000000"/>
                          </a:solidFill>
                          <a:effectLst/>
                          <a:latin typeface="+mj-ea"/>
                          <a:ea typeface="+mj-ea"/>
                        </a:rPr>
                        <a:t>(</a:t>
                      </a:r>
                      <a:r>
                        <a:rPr lang="zh-CN" altLang="en-US" sz="900">
                          <a:solidFill>
                            <a:srgbClr val="000000"/>
                          </a:solidFill>
                          <a:effectLst/>
                          <a:latin typeface="+mj-ea"/>
                          <a:ea typeface="+mj-ea"/>
                        </a:rPr>
                        <a:t>社会基石</a:t>
                      </a:r>
                      <a:r>
                        <a:rPr lang="en-US" altLang="zh-CN" sz="900">
                          <a:solidFill>
                            <a:srgbClr val="000000"/>
                          </a:solidFill>
                          <a:effectLst/>
                          <a:latin typeface="+mj-ea"/>
                          <a:ea typeface="+mj-ea"/>
                        </a:rPr>
                        <a:t>)</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extLst>
                  <a:ext uri="{0D108BD9-81ED-4DB2-BD59-A6C34878D82A}">
                    <a16:rowId xmlns:a16="http://schemas.microsoft.com/office/drawing/2014/main" val="3841888009"/>
                  </a:ext>
                </a:extLst>
              </a:tr>
              <a:tr h="768288">
                <a:tc>
                  <a:txBody>
                    <a:bodyPr/>
                    <a:lstStyle/>
                    <a:p>
                      <a:pPr rtl="0"/>
                      <a:r>
                        <a:rPr lang="en-US" sz="900" b="1">
                          <a:solidFill>
                            <a:srgbClr val="000000"/>
                          </a:solidFill>
                          <a:effectLst/>
                          <a:latin typeface="+mj-ea"/>
                          <a:ea typeface="+mj-ea"/>
                        </a:rPr>
                        <a:t>II</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DACDE4"/>
                    </a:solidFill>
                  </a:tcPr>
                </a:tc>
                <a:tc>
                  <a:txBody>
                    <a:bodyPr/>
                    <a:lstStyle/>
                    <a:p>
                      <a:pPr rtl="0"/>
                      <a:r>
                        <a:rPr lang="zh-CN" altLang="en-US" sz="900" b="1">
                          <a:solidFill>
                            <a:srgbClr val="000000"/>
                          </a:solidFill>
                          <a:effectLst/>
                          <a:latin typeface="+mj-ea"/>
                          <a:ea typeface="+mj-ea"/>
                        </a:rPr>
                        <a:t>一线经理</a:t>
                      </a:r>
                      <a:r>
                        <a:rPr lang="en-US" altLang="zh-CN" sz="900" b="1">
                          <a:solidFill>
                            <a:srgbClr val="000000"/>
                          </a:solidFill>
                          <a:effectLst/>
                          <a:latin typeface="+mj-ea"/>
                          <a:ea typeface="+mj-ea"/>
                        </a:rPr>
                        <a:t>/</a:t>
                      </a:r>
                      <a:r>
                        <a:rPr lang="zh-CN" altLang="en-US" sz="900" b="1">
                          <a:solidFill>
                            <a:srgbClr val="000000"/>
                          </a:solidFill>
                          <a:effectLst/>
                          <a:latin typeface="+mj-ea"/>
                          <a:ea typeface="+mj-ea"/>
                        </a:rPr>
                        <a:t>技术员</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en-US" altLang="zh-CN" sz="900">
                          <a:solidFill>
                            <a:srgbClr val="000000"/>
                          </a:solidFill>
                          <a:effectLst/>
                          <a:latin typeface="+mj-ea"/>
                          <a:ea typeface="+mj-ea"/>
                        </a:rPr>
                        <a:t>(</a:t>
                      </a:r>
                      <a:r>
                        <a:rPr lang="en-US" sz="900">
                          <a:solidFill>
                            <a:srgbClr val="000000"/>
                          </a:solidFill>
                          <a:effectLst/>
                          <a:latin typeface="+mj-ea"/>
                          <a:ea typeface="+mj-ea"/>
                        </a:rPr>
                        <a:t>First-line Manager)</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en-US" altLang="zh-CN" sz="900" b="1">
                          <a:solidFill>
                            <a:srgbClr val="000000"/>
                          </a:solidFill>
                          <a:effectLst/>
                          <a:latin typeface="+mj-ea"/>
                          <a:ea typeface="+mj-ea"/>
                        </a:rPr>
                        <a:t>3</a:t>
                      </a:r>
                      <a:r>
                        <a:rPr lang="zh-CN" altLang="en-US" sz="900" b="1">
                          <a:solidFill>
                            <a:srgbClr val="000000"/>
                          </a:solidFill>
                          <a:effectLst/>
                          <a:latin typeface="+mj-ea"/>
                          <a:ea typeface="+mj-ea"/>
                        </a:rPr>
                        <a:t>个月 </a:t>
                      </a:r>
                      <a:r>
                        <a:rPr lang="en-US" altLang="zh-CN" sz="900" b="1">
                          <a:solidFill>
                            <a:srgbClr val="000000"/>
                          </a:solidFill>
                          <a:effectLst/>
                          <a:latin typeface="+mj-ea"/>
                          <a:ea typeface="+mj-ea"/>
                        </a:rPr>
                        <a:t>- 1</a:t>
                      </a:r>
                      <a:r>
                        <a:rPr lang="zh-CN" altLang="en-US" sz="900" b="1">
                          <a:solidFill>
                            <a:srgbClr val="000000"/>
                          </a:solidFill>
                          <a:effectLst/>
                          <a:latin typeface="+mj-ea"/>
                          <a:ea typeface="+mj-ea"/>
                        </a:rPr>
                        <a:t>年</a:t>
                      </a:r>
                      <a:endParaRPr lang="zh-CN" altLang="en-US" sz="90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zh-CN" altLang="en-US" sz="900" b="1">
                          <a:solidFill>
                            <a:srgbClr val="000000"/>
                          </a:solidFill>
                          <a:effectLst/>
                          <a:latin typeface="+mj-ea"/>
                          <a:ea typeface="+mj-ea"/>
                        </a:rPr>
                        <a:t>累积性处理</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en-US" altLang="zh-CN" sz="900">
                          <a:solidFill>
                            <a:srgbClr val="000000"/>
                          </a:solidFill>
                          <a:effectLst/>
                          <a:latin typeface="+mj-ea"/>
                          <a:ea typeface="+mj-ea"/>
                        </a:rPr>
                        <a:t>(</a:t>
                      </a:r>
                      <a:r>
                        <a:rPr lang="en-US" sz="900">
                          <a:solidFill>
                            <a:srgbClr val="000000"/>
                          </a:solidFill>
                          <a:effectLst/>
                          <a:latin typeface="+mj-ea"/>
                          <a:ea typeface="+mj-ea"/>
                        </a:rPr>
                        <a:t>Cumulative)</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zh-CN" altLang="en-US" sz="900" b="1">
                          <a:solidFill>
                            <a:srgbClr val="000000"/>
                          </a:solidFill>
                          <a:effectLst/>
                          <a:latin typeface="+mj-ea"/>
                          <a:ea typeface="+mj-ea"/>
                        </a:rPr>
                        <a:t>“收集与诊断”</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zh-CN" altLang="en-US" sz="900">
                          <a:solidFill>
                            <a:srgbClr val="000000"/>
                          </a:solidFill>
                          <a:effectLst/>
                          <a:latin typeface="+mj-ea"/>
                          <a:ea typeface="+mj-ea"/>
                        </a:rPr>
                        <a:t>能把分离的事实（</a:t>
                      </a:r>
                      <a:r>
                        <a:rPr lang="en-US" altLang="zh-CN" sz="900">
                          <a:solidFill>
                            <a:srgbClr val="000000"/>
                          </a:solidFill>
                          <a:effectLst/>
                          <a:latin typeface="+mj-ea"/>
                          <a:ea typeface="+mj-ea"/>
                        </a:rPr>
                        <a:t>A</a:t>
                      </a:r>
                      <a:r>
                        <a:rPr lang="zh-CN" altLang="en-US" sz="900">
                          <a:solidFill>
                            <a:srgbClr val="000000"/>
                          </a:solidFill>
                          <a:effectLst/>
                          <a:latin typeface="+mj-ea"/>
                          <a:ea typeface="+mj-ea"/>
                        </a:rPr>
                        <a:t>、</a:t>
                      </a:r>
                      <a:r>
                        <a:rPr lang="en-US" altLang="zh-CN" sz="900">
                          <a:solidFill>
                            <a:srgbClr val="000000"/>
                          </a:solidFill>
                          <a:effectLst/>
                          <a:latin typeface="+mj-ea"/>
                          <a:ea typeface="+mj-ea"/>
                        </a:rPr>
                        <a:t>B</a:t>
                      </a:r>
                      <a:r>
                        <a:rPr lang="zh-CN" altLang="en-US" sz="900">
                          <a:solidFill>
                            <a:srgbClr val="000000"/>
                          </a:solidFill>
                          <a:effectLst/>
                          <a:latin typeface="+mj-ea"/>
                          <a:ea typeface="+mj-ea"/>
                        </a:rPr>
                        <a:t>、</a:t>
                      </a:r>
                      <a:r>
                        <a:rPr lang="en-US" altLang="zh-CN" sz="900">
                          <a:solidFill>
                            <a:srgbClr val="000000"/>
                          </a:solidFill>
                          <a:effectLst/>
                          <a:latin typeface="+mj-ea"/>
                          <a:ea typeface="+mj-ea"/>
                        </a:rPr>
                        <a:t>C</a:t>
                      </a:r>
                      <a:r>
                        <a:rPr lang="zh-CN" altLang="en-US" sz="900">
                          <a:solidFill>
                            <a:srgbClr val="000000"/>
                          </a:solidFill>
                          <a:effectLst/>
                          <a:latin typeface="+mj-ea"/>
                          <a:ea typeface="+mj-ea"/>
                        </a:rPr>
                        <a:t>）累积起来，形成一个判断。能理解“情况不妙”，并做简单调整。但思维是线性的，不能跳跃。</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en-US" altLang="zh-CN" sz="900" b="1">
                          <a:solidFill>
                            <a:srgbClr val="000000"/>
                          </a:solidFill>
                          <a:effectLst/>
                          <a:latin typeface="+mj-ea"/>
                          <a:ea typeface="+mj-ea"/>
                        </a:rPr>
                        <a:t>10% - 15%</a:t>
                      </a:r>
                      <a:endParaRPr lang="zh-CN" altLang="en-US" sz="90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extLst>
                  <a:ext uri="{0D108BD9-81ED-4DB2-BD59-A6C34878D82A}">
                    <a16:rowId xmlns:a16="http://schemas.microsoft.com/office/drawing/2014/main" val="2148792846"/>
                  </a:ext>
                </a:extLst>
              </a:tr>
              <a:tr h="643229">
                <a:tc>
                  <a:txBody>
                    <a:bodyPr/>
                    <a:lstStyle/>
                    <a:p>
                      <a:pPr rtl="0"/>
                      <a:r>
                        <a:rPr lang="en-US" sz="900" b="1">
                          <a:solidFill>
                            <a:srgbClr val="000000"/>
                          </a:solidFill>
                          <a:effectLst/>
                          <a:latin typeface="+mj-ea"/>
                          <a:ea typeface="+mj-ea"/>
                        </a:rPr>
                        <a:t>III</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DACDE4"/>
                    </a:solidFill>
                  </a:tcPr>
                </a:tc>
                <a:tc>
                  <a:txBody>
                    <a:bodyPr/>
                    <a:lstStyle/>
                    <a:p>
                      <a:pPr rtl="0"/>
                      <a:r>
                        <a:rPr lang="zh-CN" altLang="en-US" sz="900" b="1">
                          <a:solidFill>
                            <a:srgbClr val="000000"/>
                          </a:solidFill>
                          <a:effectLst/>
                          <a:latin typeface="+mj-ea"/>
                          <a:ea typeface="+mj-ea"/>
                        </a:rPr>
                        <a:t>部门经理</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en-US" altLang="zh-CN" sz="900">
                          <a:solidFill>
                            <a:srgbClr val="000000"/>
                          </a:solidFill>
                          <a:effectLst/>
                          <a:latin typeface="+mj-ea"/>
                          <a:ea typeface="+mj-ea"/>
                        </a:rPr>
                        <a:t>(</a:t>
                      </a:r>
                      <a:r>
                        <a:rPr lang="en-US" sz="900">
                          <a:solidFill>
                            <a:srgbClr val="000000"/>
                          </a:solidFill>
                          <a:effectLst/>
                          <a:latin typeface="+mj-ea"/>
                          <a:ea typeface="+mj-ea"/>
                        </a:rPr>
                        <a:t>Unit Manager)</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en-US" altLang="zh-CN" sz="900" b="1">
                          <a:solidFill>
                            <a:srgbClr val="000000"/>
                          </a:solidFill>
                          <a:effectLst/>
                          <a:latin typeface="+mj-ea"/>
                          <a:ea typeface="+mj-ea"/>
                        </a:rPr>
                        <a:t>1</a:t>
                      </a:r>
                      <a:r>
                        <a:rPr lang="zh-CN" altLang="en-US" sz="900" b="1">
                          <a:solidFill>
                            <a:srgbClr val="000000"/>
                          </a:solidFill>
                          <a:effectLst/>
                          <a:latin typeface="+mj-ea"/>
                          <a:ea typeface="+mj-ea"/>
                        </a:rPr>
                        <a:t>年 </a:t>
                      </a:r>
                      <a:r>
                        <a:rPr lang="en-US" altLang="zh-CN" sz="900" b="1">
                          <a:solidFill>
                            <a:srgbClr val="000000"/>
                          </a:solidFill>
                          <a:effectLst/>
                          <a:latin typeface="+mj-ea"/>
                          <a:ea typeface="+mj-ea"/>
                        </a:rPr>
                        <a:t>- 2</a:t>
                      </a:r>
                      <a:r>
                        <a:rPr lang="zh-CN" altLang="en-US" sz="900" b="1">
                          <a:solidFill>
                            <a:srgbClr val="000000"/>
                          </a:solidFill>
                          <a:effectLst/>
                          <a:latin typeface="+mj-ea"/>
                          <a:ea typeface="+mj-ea"/>
                        </a:rPr>
                        <a:t>年</a:t>
                      </a:r>
                      <a:endParaRPr lang="zh-CN" altLang="en-US" sz="90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zh-CN" altLang="en-US" sz="900" b="1">
                          <a:solidFill>
                            <a:srgbClr val="000000"/>
                          </a:solidFill>
                          <a:effectLst/>
                          <a:latin typeface="+mj-ea"/>
                          <a:ea typeface="+mj-ea"/>
                        </a:rPr>
                        <a:t>序列性处理</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en-US" altLang="zh-CN" sz="900">
                          <a:solidFill>
                            <a:srgbClr val="000000"/>
                          </a:solidFill>
                          <a:effectLst/>
                          <a:latin typeface="+mj-ea"/>
                          <a:ea typeface="+mj-ea"/>
                        </a:rPr>
                        <a:t>(</a:t>
                      </a:r>
                      <a:r>
                        <a:rPr lang="en-US" sz="900">
                          <a:solidFill>
                            <a:srgbClr val="000000"/>
                          </a:solidFill>
                          <a:effectLst/>
                          <a:latin typeface="+mj-ea"/>
                          <a:ea typeface="+mj-ea"/>
                        </a:rPr>
                        <a:t>Serial)</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zh-CN" altLang="en-US" sz="900" b="1">
                          <a:solidFill>
                            <a:srgbClr val="000000"/>
                          </a:solidFill>
                          <a:effectLst/>
                          <a:latin typeface="+mj-ea"/>
                          <a:ea typeface="+mj-ea"/>
                        </a:rPr>
                        <a:t>“因果链条”</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zh-CN" altLang="en-US" sz="900">
                          <a:solidFill>
                            <a:srgbClr val="000000"/>
                          </a:solidFill>
                          <a:effectLst/>
                          <a:latin typeface="+mj-ea"/>
                          <a:ea typeface="+mj-ea"/>
                        </a:rPr>
                        <a:t>能构建“如果不</a:t>
                      </a:r>
                      <a:r>
                        <a:rPr lang="en-US" altLang="zh-CN" sz="900">
                          <a:solidFill>
                            <a:srgbClr val="000000"/>
                          </a:solidFill>
                          <a:effectLst/>
                          <a:latin typeface="+mj-ea"/>
                          <a:ea typeface="+mj-ea"/>
                        </a:rPr>
                        <a:t>A</a:t>
                      </a:r>
                      <a:r>
                        <a:rPr lang="zh-CN" altLang="en-US" sz="900">
                          <a:solidFill>
                            <a:srgbClr val="000000"/>
                          </a:solidFill>
                          <a:effectLst/>
                          <a:latin typeface="+mj-ea"/>
                          <a:ea typeface="+mj-ea"/>
                        </a:rPr>
                        <a:t>，则</a:t>
                      </a:r>
                      <a:r>
                        <a:rPr lang="en-US" altLang="zh-CN" sz="900">
                          <a:solidFill>
                            <a:srgbClr val="000000"/>
                          </a:solidFill>
                          <a:effectLst/>
                          <a:latin typeface="+mj-ea"/>
                          <a:ea typeface="+mj-ea"/>
                        </a:rPr>
                        <a:t>B</a:t>
                      </a:r>
                      <a:r>
                        <a:rPr lang="zh-CN" altLang="en-US" sz="900">
                          <a:solidFill>
                            <a:srgbClr val="000000"/>
                          </a:solidFill>
                          <a:effectLst/>
                          <a:latin typeface="+mj-ea"/>
                          <a:ea typeface="+mj-ea"/>
                        </a:rPr>
                        <a:t>，然后</a:t>
                      </a:r>
                      <a:r>
                        <a:rPr lang="en-US" altLang="zh-CN" sz="900">
                          <a:solidFill>
                            <a:srgbClr val="000000"/>
                          </a:solidFill>
                          <a:effectLst/>
                          <a:latin typeface="+mj-ea"/>
                          <a:ea typeface="+mj-ea"/>
                        </a:rPr>
                        <a:t>C”</a:t>
                      </a:r>
                      <a:r>
                        <a:rPr lang="zh-CN" altLang="en-US" sz="900">
                          <a:solidFill>
                            <a:srgbClr val="000000"/>
                          </a:solidFill>
                          <a:effectLst/>
                          <a:latin typeface="+mj-ea"/>
                          <a:ea typeface="+mj-ea"/>
                        </a:rPr>
                        <a:t>的逻辑链。能制定年度计划。理解流程的上下游关系。</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en-US" altLang="zh-CN" sz="900" b="1">
                          <a:solidFill>
                            <a:srgbClr val="000000"/>
                          </a:solidFill>
                          <a:effectLst/>
                          <a:latin typeface="+mj-ea"/>
                          <a:ea typeface="+mj-ea"/>
                        </a:rPr>
                        <a:t>3% - 5%</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en-US" altLang="zh-CN" sz="900">
                          <a:solidFill>
                            <a:srgbClr val="000000"/>
                          </a:solidFill>
                          <a:effectLst/>
                          <a:latin typeface="+mj-ea"/>
                          <a:ea typeface="+mj-ea"/>
                        </a:rPr>
                        <a:t>(</a:t>
                      </a:r>
                      <a:r>
                        <a:rPr lang="zh-CN" altLang="en-US" sz="900">
                          <a:solidFill>
                            <a:srgbClr val="000000"/>
                          </a:solidFill>
                          <a:effectLst/>
                          <a:latin typeface="+mj-ea"/>
                          <a:ea typeface="+mj-ea"/>
                        </a:rPr>
                        <a:t>中层骨干</a:t>
                      </a:r>
                      <a:r>
                        <a:rPr lang="en-US" altLang="zh-CN" sz="900">
                          <a:solidFill>
                            <a:srgbClr val="000000"/>
                          </a:solidFill>
                          <a:effectLst/>
                          <a:latin typeface="+mj-ea"/>
                          <a:ea typeface="+mj-ea"/>
                        </a:rPr>
                        <a:t>)</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extLst>
                  <a:ext uri="{0D108BD9-81ED-4DB2-BD59-A6C34878D82A}">
                    <a16:rowId xmlns:a16="http://schemas.microsoft.com/office/drawing/2014/main" val="443473552"/>
                  </a:ext>
                </a:extLst>
              </a:tr>
              <a:tr h="893347">
                <a:tc>
                  <a:txBody>
                    <a:bodyPr/>
                    <a:lstStyle/>
                    <a:p>
                      <a:pPr rtl="0"/>
                      <a:r>
                        <a:rPr lang="en-US" sz="900" b="1">
                          <a:solidFill>
                            <a:srgbClr val="000000"/>
                          </a:solidFill>
                          <a:effectLst/>
                          <a:latin typeface="+mj-ea"/>
                          <a:ea typeface="+mj-ea"/>
                        </a:rPr>
                        <a:t>IV</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DACDE4"/>
                    </a:solidFill>
                  </a:tcPr>
                </a:tc>
                <a:tc>
                  <a:txBody>
                    <a:bodyPr/>
                    <a:lstStyle/>
                    <a:p>
                      <a:pPr rtl="0"/>
                      <a:r>
                        <a:rPr lang="zh-CN" altLang="en-US" sz="900" b="1">
                          <a:solidFill>
                            <a:srgbClr val="000000"/>
                          </a:solidFill>
                          <a:effectLst/>
                          <a:latin typeface="+mj-ea"/>
                          <a:ea typeface="+mj-ea"/>
                        </a:rPr>
                        <a:t>总经理</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en-US" altLang="zh-CN" sz="900">
                          <a:solidFill>
                            <a:srgbClr val="000000"/>
                          </a:solidFill>
                          <a:effectLst/>
                          <a:latin typeface="+mj-ea"/>
                          <a:ea typeface="+mj-ea"/>
                        </a:rPr>
                        <a:t>(</a:t>
                      </a:r>
                      <a:r>
                        <a:rPr lang="en-US" sz="900">
                          <a:solidFill>
                            <a:srgbClr val="000000"/>
                          </a:solidFill>
                          <a:effectLst/>
                          <a:latin typeface="+mj-ea"/>
                          <a:ea typeface="+mj-ea"/>
                        </a:rPr>
                        <a:t>General Manager)</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en-US" altLang="zh-CN" sz="900" b="1">
                          <a:solidFill>
                            <a:srgbClr val="000000"/>
                          </a:solidFill>
                          <a:effectLst/>
                          <a:latin typeface="+mj-ea"/>
                          <a:ea typeface="+mj-ea"/>
                        </a:rPr>
                        <a:t>2</a:t>
                      </a:r>
                      <a:r>
                        <a:rPr lang="zh-CN" altLang="en-US" sz="900" b="1">
                          <a:solidFill>
                            <a:srgbClr val="000000"/>
                          </a:solidFill>
                          <a:effectLst/>
                          <a:latin typeface="+mj-ea"/>
                          <a:ea typeface="+mj-ea"/>
                        </a:rPr>
                        <a:t>年 </a:t>
                      </a:r>
                      <a:r>
                        <a:rPr lang="en-US" altLang="zh-CN" sz="900" b="1">
                          <a:solidFill>
                            <a:srgbClr val="000000"/>
                          </a:solidFill>
                          <a:effectLst/>
                          <a:latin typeface="+mj-ea"/>
                          <a:ea typeface="+mj-ea"/>
                        </a:rPr>
                        <a:t>- 5</a:t>
                      </a:r>
                      <a:r>
                        <a:rPr lang="zh-CN" altLang="en-US" sz="900" b="1">
                          <a:solidFill>
                            <a:srgbClr val="000000"/>
                          </a:solidFill>
                          <a:effectLst/>
                          <a:latin typeface="+mj-ea"/>
                          <a:ea typeface="+mj-ea"/>
                        </a:rPr>
                        <a:t>年</a:t>
                      </a:r>
                      <a:endParaRPr lang="zh-CN" altLang="en-US" sz="90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zh-CN" altLang="en-US" sz="900" b="1">
                          <a:solidFill>
                            <a:srgbClr val="000000"/>
                          </a:solidFill>
                          <a:effectLst/>
                          <a:latin typeface="+mj-ea"/>
                          <a:ea typeface="+mj-ea"/>
                        </a:rPr>
                        <a:t>并行处理</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en-US" altLang="zh-CN" sz="900">
                          <a:solidFill>
                            <a:srgbClr val="000000"/>
                          </a:solidFill>
                          <a:effectLst/>
                          <a:latin typeface="+mj-ea"/>
                          <a:ea typeface="+mj-ea"/>
                        </a:rPr>
                        <a:t>(</a:t>
                      </a:r>
                      <a:r>
                        <a:rPr lang="en-US" sz="900">
                          <a:solidFill>
                            <a:srgbClr val="000000"/>
                          </a:solidFill>
                          <a:effectLst/>
                          <a:latin typeface="+mj-ea"/>
                          <a:ea typeface="+mj-ea"/>
                        </a:rPr>
                        <a:t>Parallel)</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zh-CN" altLang="en-US" sz="900" b="1">
                          <a:solidFill>
                            <a:srgbClr val="000000"/>
                          </a:solidFill>
                          <a:effectLst/>
                          <a:latin typeface="+mj-ea"/>
                          <a:ea typeface="+mj-ea"/>
                        </a:rPr>
                        <a:t>“多线程平衡”</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zh-CN" altLang="en-US" sz="900">
                          <a:solidFill>
                            <a:srgbClr val="000000"/>
                          </a:solidFill>
                          <a:effectLst/>
                          <a:latin typeface="+mj-ea"/>
                          <a:ea typeface="+mj-ea"/>
                        </a:rPr>
                        <a:t>能同时运行多条序列（如：既抓研发序列，又抓销售序列），并在它们冲突时进行权衡（</a:t>
                      </a:r>
                      <a:r>
                        <a:rPr lang="en-US" altLang="zh-CN" sz="900">
                          <a:solidFill>
                            <a:srgbClr val="000000"/>
                          </a:solidFill>
                          <a:effectLst/>
                          <a:latin typeface="+mj-ea"/>
                          <a:ea typeface="+mj-ea"/>
                        </a:rPr>
                        <a:t>Trade-off</a:t>
                      </a:r>
                      <a:r>
                        <a:rPr lang="zh-CN" altLang="en-US" sz="900">
                          <a:solidFill>
                            <a:srgbClr val="000000"/>
                          </a:solidFill>
                          <a:effectLst/>
                          <a:latin typeface="+mj-ea"/>
                          <a:ea typeface="+mj-ea"/>
                        </a:rPr>
                        <a:t>）。如果你还在用线性逻辑（</a:t>
                      </a:r>
                      <a:r>
                        <a:rPr lang="en-US" altLang="zh-CN" sz="900">
                          <a:solidFill>
                            <a:srgbClr val="000000"/>
                          </a:solidFill>
                          <a:effectLst/>
                          <a:latin typeface="+mj-ea"/>
                          <a:ea typeface="+mj-ea"/>
                        </a:rPr>
                        <a:t>III</a:t>
                      </a:r>
                      <a:r>
                        <a:rPr lang="zh-CN" altLang="en-US" sz="900">
                          <a:solidFill>
                            <a:srgbClr val="000000"/>
                          </a:solidFill>
                          <a:effectLst/>
                          <a:latin typeface="+mj-ea"/>
                          <a:ea typeface="+mj-ea"/>
                        </a:rPr>
                        <a:t>级）跟他讲问题，他会觉得你视野狭窄。</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en-US" altLang="zh-CN" sz="900" b="1">
                          <a:solidFill>
                            <a:srgbClr val="000000"/>
                          </a:solidFill>
                          <a:effectLst/>
                          <a:latin typeface="+mj-ea"/>
                          <a:ea typeface="+mj-ea"/>
                        </a:rPr>
                        <a:t>1% - 2%</a:t>
                      </a:r>
                      <a:endParaRPr lang="zh-CN" altLang="en-US" sz="90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extLst>
                  <a:ext uri="{0D108BD9-81ED-4DB2-BD59-A6C34878D82A}">
                    <a16:rowId xmlns:a16="http://schemas.microsoft.com/office/drawing/2014/main" val="4283738849"/>
                  </a:ext>
                </a:extLst>
              </a:tr>
              <a:tr h="768288">
                <a:tc>
                  <a:txBody>
                    <a:bodyPr/>
                    <a:lstStyle/>
                    <a:p>
                      <a:pPr rtl="0"/>
                      <a:r>
                        <a:rPr lang="en-US" sz="900" b="1">
                          <a:solidFill>
                            <a:srgbClr val="000000"/>
                          </a:solidFill>
                          <a:effectLst/>
                          <a:latin typeface="+mj-ea"/>
                          <a:ea typeface="+mj-ea"/>
                        </a:rPr>
                        <a:t>V</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DACDE4"/>
                    </a:solidFill>
                  </a:tcPr>
                </a:tc>
                <a:tc>
                  <a:txBody>
                    <a:bodyPr/>
                    <a:lstStyle/>
                    <a:p>
                      <a:pPr rtl="0"/>
                      <a:r>
                        <a:rPr lang="zh-CN" altLang="en-US" sz="900" b="1" dirty="0">
                          <a:solidFill>
                            <a:srgbClr val="000000"/>
                          </a:solidFill>
                          <a:effectLst/>
                          <a:latin typeface="+mj-ea"/>
                          <a:ea typeface="+mj-ea"/>
                        </a:rPr>
                        <a:t>总裁</a:t>
                      </a:r>
                      <a:r>
                        <a:rPr lang="en-US" altLang="zh-CN" sz="900" b="1" dirty="0">
                          <a:solidFill>
                            <a:srgbClr val="000000"/>
                          </a:solidFill>
                          <a:effectLst/>
                          <a:latin typeface="+mj-ea"/>
                          <a:ea typeface="+mj-ea"/>
                        </a:rPr>
                        <a:t>/</a:t>
                      </a:r>
                      <a:r>
                        <a:rPr lang="zh-CN" altLang="en-US" sz="900" b="1" dirty="0">
                          <a:solidFill>
                            <a:srgbClr val="000000"/>
                          </a:solidFill>
                          <a:effectLst/>
                          <a:latin typeface="+mj-ea"/>
                          <a:ea typeface="+mj-ea"/>
                        </a:rPr>
                        <a:t>事业部</a:t>
                      </a:r>
                      <a:endParaRPr lang="zh-CN" altLang="en-US" sz="900" dirty="0">
                        <a:solidFill>
                          <a:srgbClr val="000000"/>
                        </a:solidFill>
                        <a:effectLst/>
                        <a:latin typeface="+mj-ea"/>
                        <a:ea typeface="+mj-ea"/>
                      </a:endParaRPr>
                    </a:p>
                    <a:p>
                      <a:pPr rtl="0"/>
                      <a:br>
                        <a:rPr lang="zh-CN" altLang="en-US" sz="900" dirty="0">
                          <a:solidFill>
                            <a:srgbClr val="000000"/>
                          </a:solidFill>
                          <a:effectLst/>
                          <a:latin typeface="+mj-ea"/>
                          <a:ea typeface="+mj-ea"/>
                        </a:rPr>
                      </a:br>
                      <a:r>
                        <a:rPr lang="en-US" altLang="zh-CN" sz="900" dirty="0">
                          <a:solidFill>
                            <a:srgbClr val="000000"/>
                          </a:solidFill>
                          <a:effectLst/>
                          <a:latin typeface="+mj-ea"/>
                          <a:ea typeface="+mj-ea"/>
                        </a:rPr>
                        <a:t>(</a:t>
                      </a:r>
                      <a:r>
                        <a:rPr lang="en-US" sz="900" dirty="0">
                          <a:solidFill>
                            <a:srgbClr val="000000"/>
                          </a:solidFill>
                          <a:effectLst/>
                          <a:latin typeface="+mj-ea"/>
                          <a:ea typeface="+mj-ea"/>
                        </a:rPr>
                        <a:t>President)</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en-US" altLang="zh-CN" sz="900" b="1">
                          <a:solidFill>
                            <a:srgbClr val="000000"/>
                          </a:solidFill>
                          <a:effectLst/>
                          <a:latin typeface="+mj-ea"/>
                          <a:ea typeface="+mj-ea"/>
                        </a:rPr>
                        <a:t>5</a:t>
                      </a:r>
                      <a:r>
                        <a:rPr lang="zh-CN" altLang="en-US" sz="900" b="1">
                          <a:solidFill>
                            <a:srgbClr val="000000"/>
                          </a:solidFill>
                          <a:effectLst/>
                          <a:latin typeface="+mj-ea"/>
                          <a:ea typeface="+mj-ea"/>
                        </a:rPr>
                        <a:t>年 </a:t>
                      </a:r>
                      <a:r>
                        <a:rPr lang="en-US" altLang="zh-CN" sz="900" b="1">
                          <a:solidFill>
                            <a:srgbClr val="000000"/>
                          </a:solidFill>
                          <a:effectLst/>
                          <a:latin typeface="+mj-ea"/>
                          <a:ea typeface="+mj-ea"/>
                        </a:rPr>
                        <a:t>- 10</a:t>
                      </a:r>
                      <a:r>
                        <a:rPr lang="zh-CN" altLang="en-US" sz="900" b="1">
                          <a:solidFill>
                            <a:srgbClr val="000000"/>
                          </a:solidFill>
                          <a:effectLst/>
                          <a:latin typeface="+mj-ea"/>
                          <a:ea typeface="+mj-ea"/>
                        </a:rPr>
                        <a:t>年</a:t>
                      </a:r>
                      <a:endParaRPr lang="zh-CN" altLang="en-US" sz="90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zh-CN" altLang="en-US" sz="900" b="1">
                          <a:solidFill>
                            <a:srgbClr val="000000"/>
                          </a:solidFill>
                          <a:effectLst/>
                          <a:latin typeface="+mj-ea"/>
                          <a:ea typeface="+mj-ea"/>
                        </a:rPr>
                        <a:t>整体系统处理</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en-US" altLang="zh-CN" sz="900">
                          <a:solidFill>
                            <a:srgbClr val="000000"/>
                          </a:solidFill>
                          <a:effectLst/>
                          <a:latin typeface="+mj-ea"/>
                          <a:ea typeface="+mj-ea"/>
                        </a:rPr>
                        <a:t>(</a:t>
                      </a:r>
                      <a:r>
                        <a:rPr lang="en-US" sz="900">
                          <a:solidFill>
                            <a:srgbClr val="000000"/>
                          </a:solidFill>
                          <a:effectLst/>
                          <a:latin typeface="+mj-ea"/>
                          <a:ea typeface="+mj-ea"/>
                        </a:rPr>
                        <a:t>Unified Whole)</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zh-CN" altLang="en-US" sz="900" b="1">
                          <a:solidFill>
                            <a:srgbClr val="000000"/>
                          </a:solidFill>
                          <a:effectLst/>
                          <a:latin typeface="+mj-ea"/>
                          <a:ea typeface="+mj-ea"/>
                        </a:rPr>
                        <a:t>“内外部接口”</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zh-CN" altLang="en-US" sz="900">
                          <a:solidFill>
                            <a:srgbClr val="000000"/>
                          </a:solidFill>
                          <a:effectLst/>
                          <a:latin typeface="+mj-ea"/>
                          <a:ea typeface="+mj-ea"/>
                        </a:rPr>
                        <a:t>不再看具体的序列，而是看整个组织（作为一个整体）与外部环境（市场、政策）的互动。</a:t>
                      </a:r>
                      <a:r>
                        <a:rPr lang="zh-CN" altLang="en-US" sz="900" b="1">
                          <a:solidFill>
                            <a:srgbClr val="000000"/>
                          </a:solidFill>
                          <a:effectLst/>
                          <a:latin typeface="+mj-ea"/>
                          <a:ea typeface="+mj-ea"/>
                        </a:rPr>
                        <a:t>这是构建</a:t>
                      </a:r>
                      <a:r>
                        <a:rPr lang="en-US" altLang="zh-CN" sz="900" b="1">
                          <a:solidFill>
                            <a:srgbClr val="000000"/>
                          </a:solidFill>
                          <a:effectLst/>
                          <a:latin typeface="+mj-ea"/>
                          <a:ea typeface="+mj-ea"/>
                        </a:rPr>
                        <a:t>IPC</a:t>
                      </a:r>
                      <a:r>
                        <a:rPr lang="zh-CN" altLang="en-US" sz="900" b="1">
                          <a:solidFill>
                            <a:srgbClr val="000000"/>
                          </a:solidFill>
                          <a:effectLst/>
                          <a:latin typeface="+mj-ea"/>
                          <a:ea typeface="+mj-ea"/>
                        </a:rPr>
                        <a:t>系统的最低门槛</a:t>
                      </a:r>
                      <a:r>
                        <a:rPr lang="zh-CN" altLang="en-US" sz="900">
                          <a:solidFill>
                            <a:srgbClr val="000000"/>
                          </a:solidFill>
                          <a:effectLst/>
                          <a:latin typeface="+mj-ea"/>
                          <a:ea typeface="+mj-ea"/>
                        </a:rPr>
                        <a:t>。</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en-US" altLang="zh-CN" sz="900" b="1">
                          <a:solidFill>
                            <a:srgbClr val="000000"/>
                          </a:solidFill>
                          <a:effectLst/>
                          <a:latin typeface="+mj-ea"/>
                          <a:ea typeface="+mj-ea"/>
                        </a:rPr>
                        <a:t>&lt; 0.5%</a:t>
                      </a:r>
                      <a:endParaRPr lang="zh-CN" altLang="en-US" sz="90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extLst>
                  <a:ext uri="{0D108BD9-81ED-4DB2-BD59-A6C34878D82A}">
                    <a16:rowId xmlns:a16="http://schemas.microsoft.com/office/drawing/2014/main" val="2567989738"/>
                  </a:ext>
                </a:extLst>
              </a:tr>
              <a:tr h="643229">
                <a:tc>
                  <a:txBody>
                    <a:bodyPr/>
                    <a:lstStyle/>
                    <a:p>
                      <a:pPr rtl="0"/>
                      <a:r>
                        <a:rPr lang="en-US" sz="900" b="1">
                          <a:solidFill>
                            <a:srgbClr val="000000"/>
                          </a:solidFill>
                          <a:effectLst/>
                          <a:latin typeface="+mj-ea"/>
                          <a:ea typeface="+mj-ea"/>
                        </a:rPr>
                        <a:t>VI</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DACDE4"/>
                    </a:solidFill>
                  </a:tcPr>
                </a:tc>
                <a:tc>
                  <a:txBody>
                    <a:bodyPr/>
                    <a:lstStyle/>
                    <a:p>
                      <a:pPr rtl="0"/>
                      <a:r>
                        <a:rPr lang="zh-CN" altLang="en-US" sz="900" b="1" dirty="0">
                          <a:solidFill>
                            <a:srgbClr val="000000"/>
                          </a:solidFill>
                          <a:effectLst/>
                          <a:latin typeface="+mj-ea"/>
                          <a:ea typeface="+mj-ea"/>
                        </a:rPr>
                        <a:t>集团</a:t>
                      </a:r>
                      <a:r>
                        <a:rPr lang="en-US" sz="900" b="1" dirty="0">
                          <a:solidFill>
                            <a:srgbClr val="000000"/>
                          </a:solidFill>
                          <a:effectLst/>
                          <a:latin typeface="+mj-ea"/>
                          <a:ea typeface="+mj-ea"/>
                        </a:rPr>
                        <a:t>CEO</a:t>
                      </a:r>
                      <a:endParaRPr lang="en-US" sz="900" dirty="0">
                        <a:solidFill>
                          <a:srgbClr val="000000"/>
                        </a:solidFill>
                        <a:effectLst/>
                        <a:latin typeface="+mj-ea"/>
                        <a:ea typeface="+mj-ea"/>
                      </a:endParaRPr>
                    </a:p>
                    <a:p>
                      <a:pPr rtl="0"/>
                      <a:br>
                        <a:rPr lang="en-US" sz="900" dirty="0">
                          <a:solidFill>
                            <a:srgbClr val="000000"/>
                          </a:solidFill>
                          <a:effectLst/>
                          <a:latin typeface="+mj-ea"/>
                          <a:ea typeface="+mj-ea"/>
                        </a:rPr>
                      </a:br>
                      <a:r>
                        <a:rPr lang="en-US" sz="900" dirty="0">
                          <a:solidFill>
                            <a:srgbClr val="000000"/>
                          </a:solidFill>
                          <a:effectLst/>
                          <a:latin typeface="+mj-ea"/>
                          <a:ea typeface="+mj-ea"/>
                        </a:rPr>
                        <a:t>(EVP / CEO)</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en-US" altLang="zh-CN" sz="900" b="1" dirty="0">
                          <a:solidFill>
                            <a:srgbClr val="000000"/>
                          </a:solidFill>
                          <a:effectLst/>
                          <a:latin typeface="+mj-ea"/>
                          <a:ea typeface="+mj-ea"/>
                        </a:rPr>
                        <a:t>10</a:t>
                      </a:r>
                      <a:r>
                        <a:rPr lang="zh-CN" altLang="en-US" sz="900" b="1" dirty="0">
                          <a:solidFill>
                            <a:srgbClr val="000000"/>
                          </a:solidFill>
                          <a:effectLst/>
                          <a:latin typeface="+mj-ea"/>
                          <a:ea typeface="+mj-ea"/>
                        </a:rPr>
                        <a:t>年 </a:t>
                      </a:r>
                      <a:r>
                        <a:rPr lang="en-US" altLang="zh-CN" sz="900" b="1" dirty="0">
                          <a:solidFill>
                            <a:srgbClr val="000000"/>
                          </a:solidFill>
                          <a:effectLst/>
                          <a:latin typeface="+mj-ea"/>
                          <a:ea typeface="+mj-ea"/>
                        </a:rPr>
                        <a:t>- 20</a:t>
                      </a:r>
                      <a:r>
                        <a:rPr lang="zh-CN" altLang="en-US" sz="900" b="1" dirty="0">
                          <a:solidFill>
                            <a:srgbClr val="000000"/>
                          </a:solidFill>
                          <a:effectLst/>
                          <a:latin typeface="+mj-ea"/>
                          <a:ea typeface="+mj-ea"/>
                        </a:rPr>
                        <a:t>年</a:t>
                      </a:r>
                      <a:endParaRPr lang="zh-CN" altLang="en-US" sz="900" dirty="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zh-CN" altLang="en-US" sz="900" b="1" dirty="0">
                          <a:solidFill>
                            <a:srgbClr val="000000"/>
                          </a:solidFill>
                          <a:effectLst/>
                          <a:latin typeface="+mj-ea"/>
                          <a:ea typeface="+mj-ea"/>
                        </a:rPr>
                        <a:t>累积系统处理</a:t>
                      </a:r>
                      <a:endParaRPr lang="zh-CN" altLang="en-US" sz="900" dirty="0">
                        <a:solidFill>
                          <a:srgbClr val="000000"/>
                        </a:solidFill>
                        <a:effectLst/>
                        <a:latin typeface="+mj-ea"/>
                        <a:ea typeface="+mj-ea"/>
                      </a:endParaRPr>
                    </a:p>
                    <a:p>
                      <a:pPr rtl="0"/>
                      <a:br>
                        <a:rPr lang="zh-CN" altLang="en-US" sz="900" dirty="0">
                          <a:solidFill>
                            <a:srgbClr val="000000"/>
                          </a:solidFill>
                          <a:effectLst/>
                          <a:latin typeface="+mj-ea"/>
                          <a:ea typeface="+mj-ea"/>
                        </a:rPr>
                      </a:br>
                      <a:r>
                        <a:rPr lang="en-US" altLang="zh-CN" sz="900" dirty="0">
                          <a:solidFill>
                            <a:srgbClr val="000000"/>
                          </a:solidFill>
                          <a:effectLst/>
                          <a:latin typeface="+mj-ea"/>
                          <a:ea typeface="+mj-ea"/>
                        </a:rPr>
                        <a:t>(</a:t>
                      </a:r>
                      <a:r>
                        <a:rPr lang="en-US" sz="900" dirty="0">
                          <a:solidFill>
                            <a:srgbClr val="000000"/>
                          </a:solidFill>
                          <a:effectLst/>
                          <a:latin typeface="+mj-ea"/>
                          <a:ea typeface="+mj-ea"/>
                        </a:rPr>
                        <a:t>Cumulative Systems)</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zh-CN" altLang="en-US" sz="900" b="1" dirty="0">
                          <a:solidFill>
                            <a:srgbClr val="000000"/>
                          </a:solidFill>
                          <a:effectLst/>
                          <a:latin typeface="+mj-ea"/>
                          <a:ea typeface="+mj-ea"/>
                        </a:rPr>
                        <a:t>“全球战略布局”</a:t>
                      </a:r>
                      <a:endParaRPr lang="zh-CN" altLang="en-US" sz="900" dirty="0">
                        <a:solidFill>
                          <a:srgbClr val="000000"/>
                        </a:solidFill>
                        <a:effectLst/>
                        <a:latin typeface="+mj-ea"/>
                        <a:ea typeface="+mj-ea"/>
                      </a:endParaRPr>
                    </a:p>
                    <a:p>
                      <a:pPr rtl="0"/>
                      <a:br>
                        <a:rPr lang="zh-CN" altLang="en-US" sz="900" dirty="0">
                          <a:solidFill>
                            <a:srgbClr val="000000"/>
                          </a:solidFill>
                          <a:effectLst/>
                          <a:latin typeface="+mj-ea"/>
                          <a:ea typeface="+mj-ea"/>
                        </a:rPr>
                      </a:br>
                      <a:r>
                        <a:rPr lang="zh-CN" altLang="en-US" sz="900" dirty="0">
                          <a:solidFill>
                            <a:srgbClr val="000000"/>
                          </a:solidFill>
                          <a:effectLst/>
                          <a:latin typeface="+mj-ea"/>
                          <a:ea typeface="+mj-ea"/>
                        </a:rPr>
                        <a:t>管理多个独立的</a:t>
                      </a:r>
                      <a:r>
                        <a:rPr lang="en-US" altLang="zh-CN" sz="900" dirty="0">
                          <a:solidFill>
                            <a:srgbClr val="000000"/>
                          </a:solidFill>
                          <a:effectLst/>
                          <a:latin typeface="+mj-ea"/>
                          <a:ea typeface="+mj-ea"/>
                        </a:rPr>
                        <a:t>Business Units</a:t>
                      </a:r>
                      <a:r>
                        <a:rPr lang="zh-CN" altLang="en-US" sz="900" dirty="0">
                          <a:solidFill>
                            <a:srgbClr val="000000"/>
                          </a:solidFill>
                          <a:effectLst/>
                          <a:latin typeface="+mj-ea"/>
                          <a:ea typeface="+mj-ea"/>
                        </a:rPr>
                        <a:t>（</a:t>
                      </a:r>
                      <a:r>
                        <a:rPr lang="en-US" altLang="zh-CN" sz="900" dirty="0">
                          <a:solidFill>
                            <a:srgbClr val="000000"/>
                          </a:solidFill>
                          <a:effectLst/>
                          <a:latin typeface="+mj-ea"/>
                          <a:ea typeface="+mj-ea"/>
                        </a:rPr>
                        <a:t>BU</a:t>
                      </a:r>
                      <a:r>
                        <a:rPr lang="zh-CN" altLang="en-US" sz="900" dirty="0">
                          <a:solidFill>
                            <a:srgbClr val="000000"/>
                          </a:solidFill>
                          <a:effectLst/>
                          <a:latin typeface="+mj-ea"/>
                          <a:ea typeface="+mj-ea"/>
                        </a:rPr>
                        <a:t>），并在全球范围内进行资产配置和政治风险对冲。</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en-US" altLang="zh-CN" sz="900" b="1" dirty="0">
                          <a:solidFill>
                            <a:srgbClr val="000000"/>
                          </a:solidFill>
                          <a:effectLst/>
                          <a:latin typeface="+mj-ea"/>
                          <a:ea typeface="+mj-ea"/>
                        </a:rPr>
                        <a:t>&lt; 0.1%</a:t>
                      </a:r>
                      <a:endParaRPr lang="zh-CN" altLang="en-US" sz="900" dirty="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extLst>
                  <a:ext uri="{0D108BD9-81ED-4DB2-BD59-A6C34878D82A}">
                    <a16:rowId xmlns:a16="http://schemas.microsoft.com/office/drawing/2014/main" val="3146177551"/>
                  </a:ext>
                </a:extLst>
              </a:tr>
              <a:tr h="643229">
                <a:tc>
                  <a:txBody>
                    <a:bodyPr/>
                    <a:lstStyle/>
                    <a:p>
                      <a:pPr rtl="0"/>
                      <a:r>
                        <a:rPr lang="en-US" sz="900" b="1">
                          <a:solidFill>
                            <a:srgbClr val="000000"/>
                          </a:solidFill>
                          <a:effectLst/>
                          <a:latin typeface="+mj-ea"/>
                          <a:ea typeface="+mj-ea"/>
                        </a:rPr>
                        <a:t>VII</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DACDE4"/>
                    </a:solidFill>
                  </a:tcPr>
                </a:tc>
                <a:tc>
                  <a:txBody>
                    <a:bodyPr/>
                    <a:lstStyle/>
                    <a:p>
                      <a:pPr rtl="0"/>
                      <a:r>
                        <a:rPr lang="zh-CN" altLang="en-US" sz="900" b="1">
                          <a:solidFill>
                            <a:srgbClr val="000000"/>
                          </a:solidFill>
                          <a:effectLst/>
                          <a:latin typeface="+mj-ea"/>
                          <a:ea typeface="+mj-ea"/>
                        </a:rPr>
                        <a:t>超级</a:t>
                      </a:r>
                      <a:r>
                        <a:rPr lang="en-US" sz="900" b="1">
                          <a:solidFill>
                            <a:srgbClr val="000000"/>
                          </a:solidFill>
                          <a:effectLst/>
                          <a:latin typeface="+mj-ea"/>
                          <a:ea typeface="+mj-ea"/>
                        </a:rPr>
                        <a:t>CEO/</a:t>
                      </a:r>
                      <a:r>
                        <a:rPr lang="zh-CN" altLang="en-US" sz="900" b="1">
                          <a:solidFill>
                            <a:srgbClr val="000000"/>
                          </a:solidFill>
                          <a:effectLst/>
                          <a:latin typeface="+mj-ea"/>
                          <a:ea typeface="+mj-ea"/>
                        </a:rPr>
                        <a:t>政治家</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en-US" altLang="zh-CN" sz="900">
                          <a:solidFill>
                            <a:srgbClr val="000000"/>
                          </a:solidFill>
                          <a:effectLst/>
                          <a:latin typeface="+mj-ea"/>
                          <a:ea typeface="+mj-ea"/>
                        </a:rPr>
                        <a:t>(</a:t>
                      </a:r>
                      <a:r>
                        <a:rPr lang="en-US" sz="900">
                          <a:solidFill>
                            <a:srgbClr val="000000"/>
                          </a:solidFill>
                          <a:effectLst/>
                          <a:latin typeface="+mj-ea"/>
                          <a:ea typeface="+mj-ea"/>
                        </a:rPr>
                        <a:t>Corporate CEO)</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en-US" altLang="zh-CN" sz="900" b="1">
                          <a:solidFill>
                            <a:srgbClr val="000000"/>
                          </a:solidFill>
                          <a:effectLst/>
                          <a:latin typeface="+mj-ea"/>
                          <a:ea typeface="+mj-ea"/>
                        </a:rPr>
                        <a:t>20</a:t>
                      </a:r>
                      <a:r>
                        <a:rPr lang="zh-CN" altLang="en-US" sz="900" b="1">
                          <a:solidFill>
                            <a:srgbClr val="000000"/>
                          </a:solidFill>
                          <a:effectLst/>
                          <a:latin typeface="+mj-ea"/>
                          <a:ea typeface="+mj-ea"/>
                        </a:rPr>
                        <a:t>年 </a:t>
                      </a:r>
                      <a:r>
                        <a:rPr lang="en-US" altLang="zh-CN" sz="900" b="1">
                          <a:solidFill>
                            <a:srgbClr val="000000"/>
                          </a:solidFill>
                          <a:effectLst/>
                          <a:latin typeface="+mj-ea"/>
                          <a:ea typeface="+mj-ea"/>
                        </a:rPr>
                        <a:t>- 50</a:t>
                      </a:r>
                      <a:r>
                        <a:rPr lang="zh-CN" altLang="en-US" sz="900" b="1">
                          <a:solidFill>
                            <a:srgbClr val="000000"/>
                          </a:solidFill>
                          <a:effectLst/>
                          <a:latin typeface="+mj-ea"/>
                          <a:ea typeface="+mj-ea"/>
                        </a:rPr>
                        <a:t>年</a:t>
                      </a:r>
                      <a:endParaRPr lang="zh-CN" altLang="en-US" sz="90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zh-CN" altLang="en-US" sz="900" b="1">
                          <a:solidFill>
                            <a:srgbClr val="000000"/>
                          </a:solidFill>
                          <a:effectLst/>
                          <a:latin typeface="+mj-ea"/>
                          <a:ea typeface="+mj-ea"/>
                        </a:rPr>
                        <a:t>并列系统处理</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en-US" altLang="zh-CN" sz="900">
                          <a:solidFill>
                            <a:srgbClr val="000000"/>
                          </a:solidFill>
                          <a:effectLst/>
                          <a:latin typeface="+mj-ea"/>
                          <a:ea typeface="+mj-ea"/>
                        </a:rPr>
                        <a:t>(</a:t>
                      </a:r>
                      <a:r>
                        <a:rPr lang="en-US" sz="900">
                          <a:solidFill>
                            <a:srgbClr val="000000"/>
                          </a:solidFill>
                          <a:effectLst/>
                          <a:latin typeface="+mj-ea"/>
                          <a:ea typeface="+mj-ea"/>
                        </a:rPr>
                        <a:t>Parallel Systems)</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zh-CN" altLang="en-US" sz="900" b="1" dirty="0">
                          <a:solidFill>
                            <a:srgbClr val="000000"/>
                          </a:solidFill>
                          <a:effectLst/>
                          <a:latin typeface="+mj-ea"/>
                          <a:ea typeface="+mj-ea"/>
                        </a:rPr>
                        <a:t>“跨代际愿景”</a:t>
                      </a:r>
                      <a:endParaRPr lang="zh-CN" altLang="en-US" sz="900" dirty="0">
                        <a:solidFill>
                          <a:srgbClr val="000000"/>
                        </a:solidFill>
                        <a:effectLst/>
                        <a:latin typeface="+mj-ea"/>
                        <a:ea typeface="+mj-ea"/>
                      </a:endParaRPr>
                    </a:p>
                    <a:p>
                      <a:pPr rtl="0"/>
                      <a:br>
                        <a:rPr lang="zh-CN" altLang="en-US" sz="900" dirty="0">
                          <a:solidFill>
                            <a:srgbClr val="000000"/>
                          </a:solidFill>
                          <a:effectLst/>
                          <a:latin typeface="+mj-ea"/>
                          <a:ea typeface="+mj-ea"/>
                        </a:rPr>
                      </a:br>
                      <a:r>
                        <a:rPr lang="zh-CN" altLang="en-US" sz="900" dirty="0">
                          <a:solidFill>
                            <a:srgbClr val="000000"/>
                          </a:solidFill>
                          <a:effectLst/>
                          <a:latin typeface="+mj-ea"/>
                          <a:ea typeface="+mj-ea"/>
                        </a:rPr>
                        <a:t>如杰克</a:t>
                      </a:r>
                      <a:r>
                        <a:rPr lang="en-US" altLang="zh-CN" sz="900" dirty="0">
                          <a:solidFill>
                            <a:srgbClr val="000000"/>
                          </a:solidFill>
                          <a:effectLst/>
                          <a:latin typeface="+mj-ea"/>
                          <a:ea typeface="+mj-ea"/>
                        </a:rPr>
                        <a:t>·</a:t>
                      </a:r>
                      <a:r>
                        <a:rPr lang="zh-CN" altLang="en-US" sz="900" dirty="0">
                          <a:solidFill>
                            <a:srgbClr val="000000"/>
                          </a:solidFill>
                          <a:effectLst/>
                          <a:latin typeface="+mj-ea"/>
                          <a:ea typeface="+mj-ea"/>
                        </a:rPr>
                        <a:t>韦尔奇、稻盛和夫。思考的是行业的兴衰、国家的未来。建立能存活几十年的企业文化和制度。</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zh-CN" altLang="en-US" sz="900" b="1" dirty="0">
                          <a:solidFill>
                            <a:srgbClr val="000000"/>
                          </a:solidFill>
                          <a:effectLst/>
                          <a:latin typeface="+mj-ea"/>
                          <a:ea typeface="+mj-ea"/>
                        </a:rPr>
                        <a:t>极罕见</a:t>
                      </a:r>
                      <a:endParaRPr lang="zh-CN" altLang="en-US" sz="900" dirty="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extLst>
                  <a:ext uri="{0D108BD9-81ED-4DB2-BD59-A6C34878D82A}">
                    <a16:rowId xmlns:a16="http://schemas.microsoft.com/office/drawing/2014/main" val="3198361940"/>
                  </a:ext>
                </a:extLst>
              </a:tr>
              <a:tr h="518170">
                <a:tc>
                  <a:txBody>
                    <a:bodyPr/>
                    <a:lstStyle/>
                    <a:p>
                      <a:pPr rtl="0"/>
                      <a:r>
                        <a:rPr lang="en-US" sz="900" b="1">
                          <a:solidFill>
                            <a:srgbClr val="000000"/>
                          </a:solidFill>
                          <a:effectLst/>
                          <a:latin typeface="+mj-ea"/>
                          <a:ea typeface="+mj-ea"/>
                        </a:rPr>
                        <a:t>VIII</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DACDE4"/>
                    </a:solidFill>
                  </a:tcPr>
                </a:tc>
                <a:tc>
                  <a:txBody>
                    <a:bodyPr/>
                    <a:lstStyle/>
                    <a:p>
                      <a:pPr rtl="0"/>
                      <a:r>
                        <a:rPr lang="zh-CN" altLang="en-US" sz="900" b="1">
                          <a:solidFill>
                            <a:srgbClr val="000000"/>
                          </a:solidFill>
                          <a:effectLst/>
                          <a:latin typeface="+mj-ea"/>
                          <a:ea typeface="+mj-ea"/>
                        </a:rPr>
                        <a:t>历史级领袖</a:t>
                      </a:r>
                      <a:endParaRPr lang="zh-CN" altLang="en-US" sz="90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en-US" altLang="zh-CN" sz="900" b="1">
                          <a:solidFill>
                            <a:srgbClr val="000000"/>
                          </a:solidFill>
                          <a:effectLst/>
                          <a:latin typeface="+mj-ea"/>
                          <a:ea typeface="+mj-ea"/>
                        </a:rPr>
                        <a:t>50</a:t>
                      </a:r>
                      <a:r>
                        <a:rPr lang="zh-CN" altLang="en-US" sz="900" b="1">
                          <a:solidFill>
                            <a:srgbClr val="000000"/>
                          </a:solidFill>
                          <a:effectLst/>
                          <a:latin typeface="+mj-ea"/>
                          <a:ea typeface="+mj-ea"/>
                        </a:rPr>
                        <a:t>年</a:t>
                      </a:r>
                      <a:r>
                        <a:rPr lang="en-US" altLang="zh-CN" sz="900" b="1">
                          <a:solidFill>
                            <a:srgbClr val="000000"/>
                          </a:solidFill>
                          <a:effectLst/>
                          <a:latin typeface="+mj-ea"/>
                          <a:ea typeface="+mj-ea"/>
                        </a:rPr>
                        <a:t>+</a:t>
                      </a:r>
                      <a:endParaRPr lang="zh-CN" altLang="en-US" sz="90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zh-CN" altLang="en-US" sz="900" b="1">
                          <a:solidFill>
                            <a:srgbClr val="000000"/>
                          </a:solidFill>
                          <a:effectLst/>
                          <a:latin typeface="+mj-ea"/>
                          <a:ea typeface="+mj-ea"/>
                        </a:rPr>
                        <a:t>历史系统处理</a:t>
                      </a:r>
                      <a:endParaRPr lang="zh-CN" altLang="en-US" sz="90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tc>
                  <a:txBody>
                    <a:bodyPr/>
                    <a:lstStyle/>
                    <a:p>
                      <a:pPr rtl="0"/>
                      <a:r>
                        <a:rPr lang="zh-CN" altLang="en-US" sz="900" b="1">
                          <a:solidFill>
                            <a:srgbClr val="000000"/>
                          </a:solidFill>
                          <a:effectLst/>
                          <a:latin typeface="+mj-ea"/>
                          <a:ea typeface="+mj-ea"/>
                        </a:rPr>
                        <a:t>“改变社会结构”</a:t>
                      </a:r>
                      <a:endParaRPr lang="zh-CN" altLang="en-US" sz="900">
                        <a:solidFill>
                          <a:srgbClr val="000000"/>
                        </a:solidFill>
                        <a:effectLst/>
                        <a:latin typeface="+mj-ea"/>
                        <a:ea typeface="+mj-ea"/>
                      </a:endParaRPr>
                    </a:p>
                    <a:p>
                      <a:pPr rtl="0"/>
                      <a:br>
                        <a:rPr lang="zh-CN" altLang="en-US" sz="900">
                          <a:solidFill>
                            <a:srgbClr val="000000"/>
                          </a:solidFill>
                          <a:effectLst/>
                          <a:latin typeface="+mj-ea"/>
                          <a:ea typeface="+mj-ea"/>
                        </a:rPr>
                      </a:br>
                      <a:r>
                        <a:rPr lang="zh-CN" altLang="en-US" sz="900">
                          <a:solidFill>
                            <a:srgbClr val="000000"/>
                          </a:solidFill>
                          <a:effectLst/>
                          <a:latin typeface="+mj-ea"/>
                          <a:ea typeface="+mj-ea"/>
                        </a:rPr>
                        <a:t>如福特（改变生产方式）、扎克伯格（改变社交方式）。</a:t>
                      </a: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FFFFFF"/>
                    </a:solidFill>
                  </a:tcPr>
                </a:tc>
                <a:tc>
                  <a:txBody>
                    <a:bodyPr/>
                    <a:lstStyle/>
                    <a:p>
                      <a:pPr rtl="0"/>
                      <a:r>
                        <a:rPr lang="zh-CN" altLang="en-US" sz="900" b="1" dirty="0">
                          <a:solidFill>
                            <a:srgbClr val="000000"/>
                          </a:solidFill>
                          <a:effectLst/>
                          <a:latin typeface="+mj-ea"/>
                          <a:ea typeface="+mj-ea"/>
                        </a:rPr>
                        <a:t>个位数存在</a:t>
                      </a:r>
                      <a:endParaRPr lang="zh-CN" altLang="en-US" sz="900" dirty="0">
                        <a:solidFill>
                          <a:srgbClr val="000000"/>
                        </a:solidFill>
                        <a:effectLst/>
                        <a:latin typeface="+mj-ea"/>
                        <a:ea typeface="+mj-ea"/>
                      </a:endParaRPr>
                    </a:p>
                  </a:txBody>
                  <a:tcPr marL="13113" marR="13113" marT="8742" marB="8742" anchor="ctr">
                    <a:lnL w="4763" cap="flat" cmpd="sng" algn="ctr">
                      <a:solidFill>
                        <a:srgbClr val="674188"/>
                      </a:solidFill>
                      <a:prstDash val="solid"/>
                      <a:round/>
                      <a:headEnd type="none" w="med" len="med"/>
                      <a:tailEnd type="none" w="med" len="med"/>
                    </a:lnL>
                    <a:lnR w="4763" cap="flat" cmpd="sng" algn="ctr">
                      <a:solidFill>
                        <a:srgbClr val="674188"/>
                      </a:solidFill>
                      <a:prstDash val="solid"/>
                      <a:round/>
                      <a:headEnd type="none" w="med" len="med"/>
                      <a:tailEnd type="none" w="med" len="med"/>
                    </a:lnR>
                    <a:lnT w="4763" cap="flat" cmpd="sng" algn="ctr">
                      <a:solidFill>
                        <a:srgbClr val="674188"/>
                      </a:solidFill>
                      <a:prstDash val="solid"/>
                      <a:round/>
                      <a:headEnd type="none" w="med" len="med"/>
                      <a:tailEnd type="none" w="med" len="med"/>
                    </a:lnT>
                    <a:lnB w="4763" cap="flat" cmpd="sng" algn="ctr">
                      <a:solidFill>
                        <a:srgbClr val="674188"/>
                      </a:solidFill>
                      <a:prstDash val="solid"/>
                      <a:round/>
                      <a:headEnd type="none" w="med" len="med"/>
                      <a:tailEnd type="none" w="med" len="med"/>
                    </a:lnB>
                    <a:solidFill>
                      <a:srgbClr val="EEEEEE"/>
                    </a:solidFill>
                  </a:tcPr>
                </a:tc>
                <a:extLst>
                  <a:ext uri="{0D108BD9-81ED-4DB2-BD59-A6C34878D82A}">
                    <a16:rowId xmlns:a16="http://schemas.microsoft.com/office/drawing/2014/main" val="1708885765"/>
                  </a:ext>
                </a:extLst>
              </a:tr>
            </a:tbl>
          </a:graphicData>
        </a:graphic>
      </p:graphicFrame>
    </p:spTree>
    <p:extLst>
      <p:ext uri="{BB962C8B-B14F-4D97-AF65-F5344CB8AC3E}">
        <p14:creationId xmlns:p14="http://schemas.microsoft.com/office/powerpoint/2010/main" val="755497651"/>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82D1EB1-3B72-0403-935B-630104A7C7E5}"/>
              </a:ext>
            </a:extLst>
          </p:cNvPr>
          <p:cNvSpPr>
            <a:spLocks noGrp="1"/>
          </p:cNvSpPr>
          <p:nvPr>
            <p:ph type="title"/>
          </p:nvPr>
        </p:nvSpPr>
        <p:spPr/>
        <p:txBody>
          <a:bodyPr/>
          <a:lstStyle/>
          <a:p>
            <a:endParaRPr lang="zh-CN" altLang="en-US"/>
          </a:p>
        </p:txBody>
      </p:sp>
      <p:sp>
        <p:nvSpPr>
          <p:cNvPr id="3" name="矩形 2">
            <a:extLst>
              <a:ext uri="{FF2B5EF4-FFF2-40B4-BE49-F238E27FC236}">
                <a16:creationId xmlns:a16="http://schemas.microsoft.com/office/drawing/2014/main" id="{8B748FF7-B796-5A2E-DC2F-B0512DCA4CEE}"/>
              </a:ext>
            </a:extLst>
          </p:cNvPr>
          <p:cNvSpPr/>
          <p:nvPr/>
        </p:nvSpPr>
        <p:spPr>
          <a:xfrm>
            <a:off x="4478594" y="1165123"/>
            <a:ext cx="1617406" cy="806245"/>
          </a:xfrm>
          <a:prstGeom prst="rect">
            <a:avLst/>
          </a:prstGeom>
          <a:gradFill flip="none" rotWithShape="1">
            <a:gsLst>
              <a:gs pos="0">
                <a:schemeClr val="accent1">
                  <a:lumMod val="40000"/>
                  <a:lumOff val="60000"/>
                  <a:alpha val="0"/>
                </a:schemeClr>
              </a:gs>
              <a:gs pos="100000">
                <a:schemeClr val="accent1"/>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a:extLst>
              <a:ext uri="{FF2B5EF4-FFF2-40B4-BE49-F238E27FC236}">
                <a16:creationId xmlns:a16="http://schemas.microsoft.com/office/drawing/2014/main" id="{748B8AD9-7B53-38F9-A9B8-BCE374E44101}"/>
              </a:ext>
            </a:extLst>
          </p:cNvPr>
          <p:cNvSpPr/>
          <p:nvPr/>
        </p:nvSpPr>
        <p:spPr>
          <a:xfrm>
            <a:off x="2615382" y="2708788"/>
            <a:ext cx="1617406" cy="806245"/>
          </a:xfrm>
          <a:prstGeom prst="rect">
            <a:avLst/>
          </a:prstGeom>
          <a:gradFill flip="none" rotWithShape="1">
            <a:gsLst>
              <a:gs pos="0">
                <a:schemeClr val="accent1">
                  <a:lumMod val="40000"/>
                  <a:lumOff val="60000"/>
                  <a:alpha val="0"/>
                </a:schemeClr>
              </a:gs>
              <a:gs pos="100000">
                <a:schemeClr val="accent1"/>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矩形 4">
            <a:extLst>
              <a:ext uri="{FF2B5EF4-FFF2-40B4-BE49-F238E27FC236}">
                <a16:creationId xmlns:a16="http://schemas.microsoft.com/office/drawing/2014/main" id="{CBFEFC33-875C-315E-827E-B68CD7F0DFBB}"/>
              </a:ext>
            </a:extLst>
          </p:cNvPr>
          <p:cNvSpPr/>
          <p:nvPr/>
        </p:nvSpPr>
        <p:spPr>
          <a:xfrm>
            <a:off x="6032091" y="2708788"/>
            <a:ext cx="1617406" cy="806245"/>
          </a:xfrm>
          <a:prstGeom prst="rect">
            <a:avLst/>
          </a:prstGeom>
          <a:gradFill flip="none" rotWithShape="1">
            <a:gsLst>
              <a:gs pos="0">
                <a:schemeClr val="accent1">
                  <a:lumMod val="40000"/>
                  <a:lumOff val="60000"/>
                  <a:alpha val="0"/>
                </a:schemeClr>
              </a:gs>
              <a:gs pos="100000">
                <a:schemeClr val="accent1"/>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矩形 5">
            <a:extLst>
              <a:ext uri="{FF2B5EF4-FFF2-40B4-BE49-F238E27FC236}">
                <a16:creationId xmlns:a16="http://schemas.microsoft.com/office/drawing/2014/main" id="{D60EAC4A-8CB5-5E37-C845-275E1D0344E6}"/>
              </a:ext>
            </a:extLst>
          </p:cNvPr>
          <p:cNvSpPr/>
          <p:nvPr/>
        </p:nvSpPr>
        <p:spPr>
          <a:xfrm>
            <a:off x="997976" y="4109885"/>
            <a:ext cx="1617406" cy="806245"/>
          </a:xfrm>
          <a:prstGeom prst="rect">
            <a:avLst/>
          </a:prstGeom>
          <a:gradFill flip="none" rotWithShape="1">
            <a:gsLst>
              <a:gs pos="0">
                <a:schemeClr val="accent1">
                  <a:lumMod val="40000"/>
                  <a:lumOff val="60000"/>
                  <a:alpha val="0"/>
                </a:schemeClr>
              </a:gs>
              <a:gs pos="100000">
                <a:schemeClr val="accent1"/>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矩形 6">
            <a:extLst>
              <a:ext uri="{FF2B5EF4-FFF2-40B4-BE49-F238E27FC236}">
                <a16:creationId xmlns:a16="http://schemas.microsoft.com/office/drawing/2014/main" id="{366217A5-BFC3-A72F-347E-260A1FC85941}"/>
              </a:ext>
            </a:extLst>
          </p:cNvPr>
          <p:cNvSpPr/>
          <p:nvPr/>
        </p:nvSpPr>
        <p:spPr>
          <a:xfrm>
            <a:off x="3424085" y="4109885"/>
            <a:ext cx="1617406" cy="806245"/>
          </a:xfrm>
          <a:prstGeom prst="rect">
            <a:avLst/>
          </a:prstGeom>
          <a:gradFill flip="none" rotWithShape="1">
            <a:gsLst>
              <a:gs pos="0">
                <a:schemeClr val="accent1">
                  <a:lumMod val="40000"/>
                  <a:lumOff val="60000"/>
                  <a:alpha val="0"/>
                </a:schemeClr>
              </a:gs>
              <a:gs pos="100000">
                <a:schemeClr val="accent1"/>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 name="矩形 7">
            <a:extLst>
              <a:ext uri="{FF2B5EF4-FFF2-40B4-BE49-F238E27FC236}">
                <a16:creationId xmlns:a16="http://schemas.microsoft.com/office/drawing/2014/main" id="{95A6A2F5-248A-1A8D-0679-C38D4BB573B8}"/>
              </a:ext>
            </a:extLst>
          </p:cNvPr>
          <p:cNvSpPr/>
          <p:nvPr/>
        </p:nvSpPr>
        <p:spPr>
          <a:xfrm>
            <a:off x="5523274" y="4109884"/>
            <a:ext cx="1617406" cy="806245"/>
          </a:xfrm>
          <a:prstGeom prst="rect">
            <a:avLst/>
          </a:prstGeom>
          <a:gradFill flip="none" rotWithShape="1">
            <a:gsLst>
              <a:gs pos="0">
                <a:schemeClr val="accent1">
                  <a:lumMod val="40000"/>
                  <a:lumOff val="60000"/>
                  <a:alpha val="0"/>
                </a:schemeClr>
              </a:gs>
              <a:gs pos="100000">
                <a:schemeClr val="accent1"/>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 name="矩形 8">
            <a:extLst>
              <a:ext uri="{FF2B5EF4-FFF2-40B4-BE49-F238E27FC236}">
                <a16:creationId xmlns:a16="http://schemas.microsoft.com/office/drawing/2014/main" id="{DCDA30A9-6246-E6EC-EE10-0CF708BCB4CD}"/>
              </a:ext>
            </a:extLst>
          </p:cNvPr>
          <p:cNvSpPr/>
          <p:nvPr/>
        </p:nvSpPr>
        <p:spPr>
          <a:xfrm>
            <a:off x="7784693" y="4095135"/>
            <a:ext cx="1617406" cy="806245"/>
          </a:xfrm>
          <a:prstGeom prst="rect">
            <a:avLst/>
          </a:prstGeom>
          <a:gradFill flip="none" rotWithShape="1">
            <a:gsLst>
              <a:gs pos="0">
                <a:schemeClr val="accent1">
                  <a:lumMod val="40000"/>
                  <a:lumOff val="60000"/>
                  <a:alpha val="0"/>
                </a:schemeClr>
              </a:gs>
              <a:gs pos="100000">
                <a:schemeClr val="accent1"/>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1" name="连接符: 肘形 10">
            <a:extLst>
              <a:ext uri="{FF2B5EF4-FFF2-40B4-BE49-F238E27FC236}">
                <a16:creationId xmlns:a16="http://schemas.microsoft.com/office/drawing/2014/main" id="{C95952B9-C39E-1CE8-5676-140965F741A6}"/>
              </a:ext>
            </a:extLst>
          </p:cNvPr>
          <p:cNvCxnSpPr>
            <a:stCxn id="3" idx="2"/>
            <a:endCxn id="4" idx="0"/>
          </p:cNvCxnSpPr>
          <p:nvPr/>
        </p:nvCxnSpPr>
        <p:spPr>
          <a:xfrm rot="5400000">
            <a:off x="3986981" y="1408472"/>
            <a:ext cx="737420" cy="1863212"/>
          </a:xfrm>
          <a:prstGeom prst="bentConnector3">
            <a:avLst/>
          </a:prstGeom>
          <a:ln>
            <a:solidFill>
              <a:schemeClr val="accent2">
                <a:lumMod val="7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13" name="连接符: 肘形 12">
            <a:extLst>
              <a:ext uri="{FF2B5EF4-FFF2-40B4-BE49-F238E27FC236}">
                <a16:creationId xmlns:a16="http://schemas.microsoft.com/office/drawing/2014/main" id="{B03C9F52-ECA2-06EB-44F1-F6D491F94365}"/>
              </a:ext>
            </a:extLst>
          </p:cNvPr>
          <p:cNvCxnSpPr>
            <a:stCxn id="3" idx="2"/>
            <a:endCxn id="5" idx="0"/>
          </p:cNvCxnSpPr>
          <p:nvPr/>
        </p:nvCxnSpPr>
        <p:spPr>
          <a:xfrm rot="16200000" flipH="1">
            <a:off x="5695335" y="1563329"/>
            <a:ext cx="737420" cy="1553497"/>
          </a:xfrm>
          <a:prstGeom prst="bentConnector3">
            <a:avLst/>
          </a:prstGeom>
          <a:ln>
            <a:solidFill>
              <a:schemeClr val="accent2">
                <a:lumMod val="7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15" name="连接符: 肘形 14">
            <a:extLst>
              <a:ext uri="{FF2B5EF4-FFF2-40B4-BE49-F238E27FC236}">
                <a16:creationId xmlns:a16="http://schemas.microsoft.com/office/drawing/2014/main" id="{6A087ACF-F84D-14D1-1DC9-74EE49F3E208}"/>
              </a:ext>
            </a:extLst>
          </p:cNvPr>
          <p:cNvCxnSpPr>
            <a:stCxn id="4" idx="2"/>
            <a:endCxn id="6" idx="0"/>
          </p:cNvCxnSpPr>
          <p:nvPr/>
        </p:nvCxnSpPr>
        <p:spPr>
          <a:xfrm rot="5400000">
            <a:off x="2317956" y="3003756"/>
            <a:ext cx="594852" cy="1617406"/>
          </a:xfrm>
          <a:prstGeom prst="bentConnector3">
            <a:avLst/>
          </a:prstGeom>
          <a:ln>
            <a:solidFill>
              <a:schemeClr val="accent2">
                <a:lumMod val="7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17" name="连接符: 肘形 16">
            <a:extLst>
              <a:ext uri="{FF2B5EF4-FFF2-40B4-BE49-F238E27FC236}">
                <a16:creationId xmlns:a16="http://schemas.microsoft.com/office/drawing/2014/main" id="{CFF64F4F-993C-4F75-684C-5CCD3DB46A3F}"/>
              </a:ext>
            </a:extLst>
          </p:cNvPr>
          <p:cNvCxnSpPr>
            <a:stCxn id="4" idx="2"/>
            <a:endCxn id="7" idx="0"/>
          </p:cNvCxnSpPr>
          <p:nvPr/>
        </p:nvCxnSpPr>
        <p:spPr>
          <a:xfrm rot="16200000" flipH="1">
            <a:off x="3531010" y="3408107"/>
            <a:ext cx="594852" cy="808703"/>
          </a:xfrm>
          <a:prstGeom prst="bentConnector3">
            <a:avLst/>
          </a:prstGeom>
          <a:ln>
            <a:solidFill>
              <a:schemeClr val="accent2">
                <a:lumMod val="7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19" name="连接符: 肘形 18">
            <a:extLst>
              <a:ext uri="{FF2B5EF4-FFF2-40B4-BE49-F238E27FC236}">
                <a16:creationId xmlns:a16="http://schemas.microsoft.com/office/drawing/2014/main" id="{1617EC6B-6600-87E9-21E0-682C1CEEFC2B}"/>
              </a:ext>
            </a:extLst>
          </p:cNvPr>
          <p:cNvCxnSpPr>
            <a:stCxn id="5" idx="2"/>
            <a:endCxn id="8" idx="0"/>
          </p:cNvCxnSpPr>
          <p:nvPr/>
        </p:nvCxnSpPr>
        <p:spPr>
          <a:xfrm rot="5400000">
            <a:off x="6288961" y="3558050"/>
            <a:ext cx="594851" cy="508817"/>
          </a:xfrm>
          <a:prstGeom prst="bentConnector3">
            <a:avLst/>
          </a:prstGeom>
          <a:ln>
            <a:solidFill>
              <a:schemeClr val="accent2">
                <a:lumMod val="75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21" name="连接符: 肘形 20">
            <a:extLst>
              <a:ext uri="{FF2B5EF4-FFF2-40B4-BE49-F238E27FC236}">
                <a16:creationId xmlns:a16="http://schemas.microsoft.com/office/drawing/2014/main" id="{01B98601-AD42-5741-CFFF-A9B3950826A0}"/>
              </a:ext>
            </a:extLst>
          </p:cNvPr>
          <p:cNvCxnSpPr>
            <a:cxnSpLocks/>
            <a:stCxn id="5" idx="2"/>
            <a:endCxn id="9" idx="0"/>
          </p:cNvCxnSpPr>
          <p:nvPr/>
        </p:nvCxnSpPr>
        <p:spPr>
          <a:xfrm rot="16200000" flipH="1">
            <a:off x="7427044" y="2928783"/>
            <a:ext cx="580102" cy="1752602"/>
          </a:xfrm>
          <a:prstGeom prst="bentConnector3">
            <a:avLst>
              <a:gd name="adj1" fmla="val 50000"/>
            </a:avLst>
          </a:prstGeom>
          <a:ln>
            <a:solidFill>
              <a:schemeClr val="accent2">
                <a:lumMod val="75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3" name="文本框 22">
            <a:extLst>
              <a:ext uri="{FF2B5EF4-FFF2-40B4-BE49-F238E27FC236}">
                <a16:creationId xmlns:a16="http://schemas.microsoft.com/office/drawing/2014/main" id="{5725E7D7-3262-9542-64DC-5A50A618E87A}"/>
              </a:ext>
            </a:extLst>
          </p:cNvPr>
          <p:cNvSpPr txBox="1"/>
          <p:nvPr/>
        </p:nvSpPr>
        <p:spPr>
          <a:xfrm>
            <a:off x="5056240" y="5594141"/>
            <a:ext cx="3414254" cy="369332"/>
          </a:xfrm>
          <a:prstGeom prst="rect">
            <a:avLst/>
          </a:prstGeom>
          <a:noFill/>
        </p:spPr>
        <p:txBody>
          <a:bodyPr wrap="square" rtlCol="0">
            <a:spAutoFit/>
          </a:bodyPr>
          <a:lstStyle/>
          <a:p>
            <a:r>
              <a:rPr lang="en-US" altLang="zh-CN" dirty="0"/>
              <a:t>ROIC</a:t>
            </a:r>
            <a:endParaRPr lang="zh-CN" altLang="en-US" dirty="0"/>
          </a:p>
        </p:txBody>
      </p:sp>
    </p:spTree>
    <p:extLst>
      <p:ext uri="{BB962C8B-B14F-4D97-AF65-F5344CB8AC3E}">
        <p14:creationId xmlns:p14="http://schemas.microsoft.com/office/powerpoint/2010/main" val="2497352045"/>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xml><?xml version="1.0" encoding="utf-8"?>
<p:tagLst xmlns:a="http://schemas.openxmlformats.org/drawingml/2006/main" xmlns:r="http://schemas.openxmlformats.org/officeDocument/2006/relationships" xmlns:p="http://schemas.openxmlformats.org/presentationml/2006/main">
  <p:tag name="TYPE" val="icon"/>
</p:tagLst>
</file>

<file path=ppt/tags/tag12.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2753"/>
  <p:tag name="OP_SCP_COMPONENT_INFO" val="{&quot;title&quot;:&quot;扁平2项目录&quot;,&quot;description&quot;:&quot;蓝色,扁平,2项&quot;,&quot;keywords&quot;:[&quot;蓝色&quot;,&quot;扁平&quot;,&quot;2项&quot;],&quot;labels&quot;:[]}"/>
  <p:tag name="OP_SCP_GROUP_ID" val="028e7aa1-7178-98c3-3ded-b6b1dbee9912"/>
  <p:tag name="OP_SCP_ITEM_COUNT" val="2"/>
</p:tagLst>
</file>

<file path=ppt/tags/tag1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14.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机添加文本&#10;单机添加文本&#10;单机添加文本"/>
</p:tagLst>
</file>

<file path=ppt/tags/tag1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1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机添加文本&#10;单机添加文本&#10;单机添加文本"/>
</p:tagLst>
</file>

<file path=ppt/tags/tag17.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835"/>
  <p:tag name="OP_SCP_COMPONENT_INFO" val="{&quot;title&quot;:&quot;简约蓝色圆角2项列表&quot;,&quot;description&quot;:&quot;2项,列表,蓝色&quot;,&quot;keywords&quot;:[&quot;2项&quot;,&quot;列表&quot;,&quot;蓝色&quot;],&quot;labels&quot;:[]}"/>
  <p:tag name="OP_SCP_GROUP_ID" val="4ec3abdb-d431-5f2c-645a-545ff3419325"/>
  <p:tag name="OP_SCP_ITEM_COUNT" val="2"/>
</p:tagLst>
</file>

<file path=ppt/tags/tag18.xml><?xml version="1.0" encoding="utf-8"?>
<p:tagLst xmlns:a="http://schemas.openxmlformats.org/drawingml/2006/main" xmlns:r="http://schemas.openxmlformats.org/officeDocument/2006/relationships" xmlns:p="http://schemas.openxmlformats.org/presentationml/2006/main">
  <p:tag name="OP_SCP_SHAPE_TYPE" val="Title"/>
  <p:tag name="OP_SCP_DEFAULT_TEXT" val="添加标题"/>
  <p:tag name="OP_SCP_ITEM_INDEX" val="2"/>
</p:tagLst>
</file>

<file path=ppt/tags/tag19.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单击此处添加文本。"/>
</p:tagLst>
</file>

<file path=ppt/tags/tag2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21.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
</p:tagLst>
</file>

<file path=ppt/tags/tag22.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23"/>
  <p:tag name="OP_SCP_COMPONENT_INFO" val="{&quot;title&quot;:&quot;扁平3项纯文本PPT组件&quot;,&quot;description&quot;:&quot;扁平3项纯文本PPT组件&quot;,&quot;keywords&quot;:[&quot;扁平&quot;,&quot;3项&quot;,&quot;纯文本&quot;,&quot;PPT组件&quot;],&quot;labels&quot;:[]}"/>
  <p:tag name="OP_SCP_GROUP_ID" val="8cd59e33-68c6-1f9e-eb51-926fd752c31f"/>
  <p:tag name="OP_SCP_ITEM_COUNT" val="3"/>
</p:tagLst>
</file>

<file path=ppt/tags/tag23.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单击此处添加文本，单击此处添加文本。"/>
</p:tagLst>
</file>

<file path=ppt/tags/tag24.xml><?xml version="1.0" encoding="utf-8"?>
<p:tagLst xmlns:a="http://schemas.openxmlformats.org/drawingml/2006/main" xmlns:r="http://schemas.openxmlformats.org/officeDocument/2006/relationships" xmlns:p="http://schemas.openxmlformats.org/presentationml/2006/main">
  <p:tag name="OP_SCP_ITEM_INDEX" val="2"/>
</p:tagLst>
</file>

<file path=ppt/tags/tag25.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单击此处添加文本，单击此处添加文本，单击此处添加文本。"/>
</p:tagLst>
</file>

<file path=ppt/tags/tag26.xml><?xml version="1.0" encoding="utf-8"?>
<p:tagLst xmlns:a="http://schemas.openxmlformats.org/drawingml/2006/main" xmlns:r="http://schemas.openxmlformats.org/officeDocument/2006/relationships" xmlns:p="http://schemas.openxmlformats.org/presentationml/2006/main">
  <p:tag name="OP_SCP_ITEM_INDEX" val="3"/>
</p:tagLst>
</file>

<file path=ppt/tags/tag2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单击此处添加文本。"/>
</p:tagLst>
</file>

<file path=ppt/tags/tag28.xml><?xml version="1.0" encoding="utf-8"?>
<p:tagLst xmlns:a="http://schemas.openxmlformats.org/drawingml/2006/main" xmlns:r="http://schemas.openxmlformats.org/officeDocument/2006/relationships" xmlns:p="http://schemas.openxmlformats.org/presentationml/2006/main">
  <p:tag name="OP_SCP_ITEM_INDEX" val="1"/>
</p:tagLst>
</file>

<file path=ppt/tags/tag29.xml><?xml version="1.0" encoding="utf-8"?>
<p:tagLst xmlns:a="http://schemas.openxmlformats.org/drawingml/2006/main" xmlns:r="http://schemas.openxmlformats.org/officeDocument/2006/relationships" xmlns:p="http://schemas.openxmlformats.org/presentationml/2006/main">
  <p:tag name="TYPE" val="vector"/>
</p:tagLst>
</file>

<file path=ppt/tags/tag30.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057"/>
  <p:tag name="OP_SCP_COMPONENT_INFO" val="{&quot;title&quot;:&quot;阴影2项流程PPT组件&quot;,&quot;description&quot;:&quot;阴影2项流程PPT组件：阴影设计，双项流程展示，信息展示清晰美观。&quot;,&quot;keywords&quot;:[&quot;阴影&quot;,&quot;2项&quot;,&quot;流程&quot;,&quot;PPT组件&quot;],&quot;labels&quot;:[]}"/>
  <p:tag name="OP_SCP_GROUP_ID" val="5e45b53a-de83-4d7e-32bd-0226dae64d02"/>
  <p:tag name="OP_SCP_ITEM_COUNT" val="2"/>
</p:tagLst>
</file>

<file path=ppt/tags/tag31.xml><?xml version="1.0" encoding="utf-8"?>
<p:tagLst xmlns:a="http://schemas.openxmlformats.org/drawingml/2006/main" xmlns:r="http://schemas.openxmlformats.org/officeDocument/2006/relationships" xmlns:p="http://schemas.openxmlformats.org/presentationml/2006/main">
  <p:tag name="OP_SCP_ITEM_INDEX" val="2"/>
</p:tagLst>
</file>

<file path=ppt/tags/tag3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33.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
</p:tagLst>
</file>

<file path=ppt/tags/tag34.xml><?xml version="1.0" encoding="utf-8"?>
<p:tagLst xmlns:a="http://schemas.openxmlformats.org/drawingml/2006/main" xmlns:r="http://schemas.openxmlformats.org/officeDocument/2006/relationships" xmlns:p="http://schemas.openxmlformats.org/presentationml/2006/main">
  <p:tag name="OP_SCP_ITEM_INDEX" val="1"/>
</p:tagLst>
</file>

<file path=ppt/tags/tag35.xml><?xml version="1.0" encoding="utf-8"?>
<p:tagLst xmlns:a="http://schemas.openxmlformats.org/drawingml/2006/main" xmlns:r="http://schemas.openxmlformats.org/officeDocument/2006/relationships" xmlns:p="http://schemas.openxmlformats.org/presentationml/2006/main">
  <p:tag name="OP_SCP_ITEM_INDEX" val="1"/>
</p:tagLst>
</file>

<file path=ppt/tags/tag3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3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
</p:tagLst>
</file>

<file path=ppt/tags/tag38.xml><?xml version="1.0" encoding="utf-8"?>
<p:tagLst xmlns:a="http://schemas.openxmlformats.org/drawingml/2006/main" xmlns:r="http://schemas.openxmlformats.org/officeDocument/2006/relationships" xmlns:p="http://schemas.openxmlformats.org/presentationml/2006/main">
  <p:tag name="NAME" val="CustomIcon"/>
</p:tagLst>
</file>

<file path=ppt/tags/tag39.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057"/>
  <p:tag name="OP_SCP_COMPONENT_INFO" val="{&quot;title&quot;:&quot;阴影2项流程PPT组件&quot;,&quot;description&quot;:&quot;阴影2项流程PPT组件：阴影设计，双项流程展示，信息展示清晰美观。&quot;,&quot;keywords&quot;:[&quot;阴影&quot;,&quot;2项&quot;,&quot;流程&quot;,&quot;PPT组件&quot;],&quot;labels&quot;:[]}"/>
  <p:tag name="OP_SCP_GROUP_ID" val="5e45b53a-de83-4d7e-32bd-0226dae64d02"/>
  <p:tag name="OP_SCP_ITEM_COUNT" val="2"/>
</p:tagLst>
</file>

<file path=ppt/tags/tag40.xml><?xml version="1.0" encoding="utf-8"?>
<p:tagLst xmlns:a="http://schemas.openxmlformats.org/drawingml/2006/main" xmlns:r="http://schemas.openxmlformats.org/officeDocument/2006/relationships" xmlns:p="http://schemas.openxmlformats.org/presentationml/2006/main">
  <p:tag name="OP_SCP_ITEM_INDEX" val="2"/>
</p:tagLst>
</file>

<file path=ppt/tags/tag4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42.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
</p:tagLst>
</file>

<file path=ppt/tags/tag43.xml><?xml version="1.0" encoding="utf-8"?>
<p:tagLst xmlns:a="http://schemas.openxmlformats.org/drawingml/2006/main" xmlns:r="http://schemas.openxmlformats.org/officeDocument/2006/relationships" xmlns:p="http://schemas.openxmlformats.org/presentationml/2006/main">
  <p:tag name="OP_SCP_ITEM_INDEX" val="1"/>
</p:tagLst>
</file>

<file path=ppt/tags/tag44.xml><?xml version="1.0" encoding="utf-8"?>
<p:tagLst xmlns:a="http://schemas.openxmlformats.org/drawingml/2006/main" xmlns:r="http://schemas.openxmlformats.org/officeDocument/2006/relationships" xmlns:p="http://schemas.openxmlformats.org/presentationml/2006/main">
  <p:tag name="OP_SCP_ITEM_INDEX" val="1"/>
</p:tagLst>
</file>

<file path=ppt/tags/tag4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4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
</p:tagLst>
</file>

<file path=ppt/tags/tag47.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811"/>
  <p:tag name="OP_SCP_COMPONENT_INFO" val="{&quot;title&quot;:&quot;简约蓝色圆角3项列表&quot;,&quot;description&quot;:&quot;3项,列表,蓝色&quot;,&quot;keywords&quot;:[&quot;3项&quot;,&quot;列表&quot;,&quot;蓝色&quot;],&quot;labels&quot;:[]}"/>
  <p:tag name="OP_SCP_GROUP_ID" val="4ec3abdb-d431-5f2c-645a-545ff3419325"/>
  <p:tag name="OP_SCP_ITEM_COUNT" val="3"/>
</p:tagLst>
</file>

<file path=ppt/tags/tag48.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49.xml><?xml version="1.0" encoding="utf-8"?>
<p:tagLst xmlns:a="http://schemas.openxmlformats.org/drawingml/2006/main" xmlns:r="http://schemas.openxmlformats.org/officeDocument/2006/relationships" xmlns:p="http://schemas.openxmlformats.org/presentationml/2006/main">
  <p:tag name="OP_SCP_SHAPE_TYPE" val="Title"/>
  <p:tag name="OP_SCP_DEFAULT_TEXT" val="添加标题"/>
  <p:tag name="OP_SCP_ITEM_INDEX" val="3"/>
</p:tagLst>
</file>

<file path=ppt/tags/tag50.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单击此处添加文本，单击此处添加文本。"/>
</p:tagLst>
</file>

<file path=ppt/tags/tag51.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52.xml><?xml version="1.0" encoding="utf-8"?>
<p:tagLst xmlns:a="http://schemas.openxmlformats.org/drawingml/2006/main" xmlns:r="http://schemas.openxmlformats.org/officeDocument/2006/relationships" xmlns:p="http://schemas.openxmlformats.org/presentationml/2006/main">
  <p:tag name="OP_SCP_SHAPE_TYPE" val="Title"/>
  <p:tag name="OP_SCP_DEFAULT_TEXT" val="添加标题"/>
  <p:tag name="OP_SCP_ITEM_INDEX" val="2"/>
</p:tagLst>
</file>

<file path=ppt/tags/tag53.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单击此处添加文本。"/>
</p:tagLst>
</file>

<file path=ppt/tags/tag54.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5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5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
</p:tagLst>
</file>

<file path=ppt/tags/tag57.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4018"/>
  <p:tag name="OP_SCP_COMPONENT_INFO" val="{&quot;title&quot;:&quot;三角箭头循环-4&quot;,&quot;description&quot;:&quot;蓝紫色,渐变,4项&quot;,&quot;keywords&quot;:[&quot;蓝紫色&quot;,&quot;渐变&quot;,&quot;4项&quot;],&quot;labels&quot;:[]}"/>
  <p:tag name="OP_SCP_GROUP_ID" val="84fe03c6-4895-d4a2-fd27-7f21a4236476"/>
  <p:tag name="OP_SCP_ITEM_COUNT" val="4"/>
</p:tagLst>
</file>

<file path=ppt/tags/tag5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输入标题"/>
</p:tagLst>
</file>

<file path=ppt/tags/tag59.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输入文本"/>
</p:tagLst>
</file>

<file path=ppt/tags/tag6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输入标题"/>
</p:tagLst>
</file>

<file path=ppt/tags/tag61.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输入文本"/>
</p:tagLst>
</file>

<file path=ppt/tags/tag6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输入标题"/>
</p:tagLst>
</file>

<file path=ppt/tags/tag63.xml><?xml version="1.0" encoding="utf-8"?>
<p:tagLst xmlns:a="http://schemas.openxmlformats.org/drawingml/2006/main" xmlns:r="http://schemas.openxmlformats.org/officeDocument/2006/relationships" xmlns:p="http://schemas.openxmlformats.org/presentationml/2006/main">
  <p:tag name="OP_SCP_SHAPE_TYPE" val="Body"/>
  <p:tag name="OP_SCP_ITEM_INDEX" val="4"/>
  <p:tag name="OP_SCP_DEFAULT_TEXT" val="单击此处输入文本"/>
</p:tagLst>
</file>

<file path=ppt/tags/tag6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输入标题"/>
</p:tagLst>
</file>

<file path=ppt/tags/tag65.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输入文本"/>
</p:tagLst>
</file>

<file path=ppt/tags/tag66.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3395"/>
  <p:tag name="OP_SCP_COMPONENT_INFO" val="{&quot;title&quot;:&quot;渐变4项列表并列&quot;,&quot;description&quot;:&quot;蓝色,渐变,4项&quot;,&quot;keywords&quot;:[&quot;蓝色&quot;,&quot;渐变&quot;,&quot;4项&quot;],&quot;labels&quot;:[]}"/>
  <p:tag name="OP_SCP_GROUP_ID" val="f6d18701-c06d-f833-905e-4da7c24cc8c1"/>
  <p:tag name="OP_SCP_ITEM_COUNT" val="4"/>
</p:tagLst>
</file>

<file path=ppt/tags/tag6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添加标题"/>
</p:tagLst>
</file>

<file path=ppt/tags/tag68.xml><?xml version="1.0" encoding="utf-8"?>
<p:tagLst xmlns:a="http://schemas.openxmlformats.org/drawingml/2006/main" xmlns:r="http://schemas.openxmlformats.org/officeDocument/2006/relationships" xmlns:p="http://schemas.openxmlformats.org/presentationml/2006/main">
  <p:tag name="OP_SCP_SHAPE_TYPE" val="Body"/>
  <p:tag name="OP_SCP_ITEM_INDEX" val="4"/>
  <p:tag name="OP_SCP_DEFAULT_TEXT" val="单机添加文本&#10;单机添加文本"/>
</p:tagLst>
</file>

<file path=ppt/tags/tag69.xml><?xml version="1.0" encoding="utf-8"?>
<p:tagLst xmlns:a="http://schemas.openxmlformats.org/drawingml/2006/main" xmlns:r="http://schemas.openxmlformats.org/officeDocument/2006/relationships" xmlns:p="http://schemas.openxmlformats.org/presentationml/2006/main">
  <p:tag name="OP_SCP_SHAPE_TYPE" val="Index"/>
  <p:tag name="OP_SCP_ITEM_INDEX" val="4"/>
  <p:tag name="OP_SCP_DEFAULT_TEXT" val="04"/>
</p:tagLst>
</file>

<file path=ppt/tags/tag7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71.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机添加文本&#10;单机添加文本"/>
</p:tagLst>
</file>

<file path=ppt/tags/tag72.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7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74.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机添加文本&#10;单机添加文本"/>
</p:tagLst>
</file>

<file path=ppt/tags/tag75.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7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7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机添加文本&#10;单机添加文本"/>
</p:tagLst>
</file>

<file path=ppt/tags/tag78.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79.xml><?xml version="1.0" encoding="utf-8"?>
<p:tagLst xmlns:a="http://schemas.openxmlformats.org/drawingml/2006/main" xmlns:r="http://schemas.openxmlformats.org/officeDocument/2006/relationships" xmlns:p="http://schemas.openxmlformats.org/presentationml/2006/main">
  <p:tag name="TYPE" val="icon"/>
</p:tagLst>
</file>

<file path=ppt/tags/tag80.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
</p:tagLst>
</file>

<file path=ppt/tags/tag81.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单击此处添加文本。"/>
</p:tagLst>
</file>

<file path=ppt/tags/tag82.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996"/>
  <p:tag name="OP_SCP_COMPONENT_INFO" val="{&quot;title&quot;:&quot;阴影2项列表PPT组件&quot;,&quot;description&quot;:&quot;阴影2项列表PPT组件：双项列表布局，阴影设计，信息展示清晰美观。&quot;,&quot;keywords&quot;:[&quot;阴影&quot;,&quot;2项&quot;,&quot;列表&quot;,&quot;PPT组件&quot;],&quot;labels&quot;:[]}"/>
  <p:tag name="OP_SCP_GROUP_ID" val="b8bc9425-7e4f-5dea-476d-68d025d9b766"/>
  <p:tag name="OP_SCP_ITEM_COUNT" val="2"/>
</p:tagLst>
</file>

<file path=ppt/tags/tag83.xml><?xml version="1.0" encoding="utf-8"?>
<p:tagLst xmlns:a="http://schemas.openxmlformats.org/drawingml/2006/main" xmlns:r="http://schemas.openxmlformats.org/officeDocument/2006/relationships" xmlns:p="http://schemas.openxmlformats.org/presentationml/2006/main">
  <p:tag name="OP_SCP_ITEM_INDEX" val="2"/>
</p:tagLst>
</file>

<file path=ppt/tags/tag84.xml><?xml version="1.0" encoding="utf-8"?>
<p:tagLst xmlns:a="http://schemas.openxmlformats.org/drawingml/2006/main" xmlns:r="http://schemas.openxmlformats.org/officeDocument/2006/relationships" xmlns:p="http://schemas.openxmlformats.org/presentationml/2006/main">
  <p:tag name="OP_SCP_ITEM_INDEX" val="2"/>
</p:tagLst>
</file>

<file path=ppt/tags/tag8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02 添加标题"/>
</p:tagLst>
</file>

<file path=ppt/tags/tag86.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
</p:tagLst>
</file>

<file path=ppt/tags/tag87.xml><?xml version="1.0" encoding="utf-8"?>
<p:tagLst xmlns:a="http://schemas.openxmlformats.org/drawingml/2006/main" xmlns:r="http://schemas.openxmlformats.org/officeDocument/2006/relationships" xmlns:p="http://schemas.openxmlformats.org/presentationml/2006/main">
  <p:tag name="OP_SCP_ITEM_INDEX" val="1"/>
</p:tagLst>
</file>

<file path=ppt/tags/tag88.xml><?xml version="1.0" encoding="utf-8"?>
<p:tagLst xmlns:a="http://schemas.openxmlformats.org/drawingml/2006/main" xmlns:r="http://schemas.openxmlformats.org/officeDocument/2006/relationships" xmlns:p="http://schemas.openxmlformats.org/presentationml/2006/main">
  <p:tag name="OP_SCP_ITEM_INDEX" val="1"/>
</p:tagLst>
</file>

<file path=ppt/tags/tag8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01 添加标题"/>
</p:tagLst>
</file>

<file path=ppt/tags/tag90.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
</p:tagLst>
</file>

<file path=ppt/tags/tag91.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064"/>
  <p:tag name="OP_SCP_COMPONENT_INFO" val="{&quot;title&quot;:&quot;扁平5项流程PPT组件&quot;,&quot;description&quot;:&quot;扁平5项流程PPT组件：五项流程布局，适用于复杂流程展示，设计专业简约。&quot;,&quot;keywords&quot;:[&quot;扁平&quot;,&quot;5项&quot;,&quot;流程&quot;,&quot;PPT组件&quot;],&quot;labels&quot;:[]}"/>
  <p:tag name="OP_SCP_GROUP_ID" val="a46e581c-4a30-b69c-2a01-9accf9067015"/>
  <p:tag name="OP_SCP_ITEM_COUNT" val="5"/>
</p:tagLst>
</file>

<file path=ppt/tags/tag9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04 添加标题"/>
</p:tagLst>
</file>

<file path=ppt/tags/tag93.xml><?xml version="1.0" encoding="utf-8"?>
<p:tagLst xmlns:a="http://schemas.openxmlformats.org/drawingml/2006/main" xmlns:r="http://schemas.openxmlformats.org/officeDocument/2006/relationships" xmlns:p="http://schemas.openxmlformats.org/presentationml/2006/main">
  <p:tag name="OP_SCP_SHAPE_TYPE" val="Body"/>
  <p:tag name="OP_SCP_ITEM_INDEX" val="4"/>
  <p:tag name="OP_SCP_DEFAULT_TEXT" val="单击此处添加文本，单击此处添加文本，单击此处添加文本。"/>
</p:tagLst>
</file>

<file path=ppt/tags/tag94.xml><?xml version="1.0" encoding="utf-8"?>
<p:tagLst xmlns:a="http://schemas.openxmlformats.org/drawingml/2006/main" xmlns:r="http://schemas.openxmlformats.org/officeDocument/2006/relationships" xmlns:p="http://schemas.openxmlformats.org/presentationml/2006/main">
  <p:tag name="OP_SCP_ITEM_INDEX" val="4"/>
</p:tagLst>
</file>

<file path=ppt/tags/tag95.xml><?xml version="1.0" encoding="utf-8"?>
<p:tagLst xmlns:a="http://schemas.openxmlformats.org/drawingml/2006/main" xmlns:r="http://schemas.openxmlformats.org/officeDocument/2006/relationships" xmlns:p="http://schemas.openxmlformats.org/presentationml/2006/main">
  <p:tag name="OP_SCP_ITEM_INDEX" val="4"/>
</p:tagLst>
</file>

<file path=ppt/tags/tag9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02 添加标题"/>
</p:tagLst>
</file>

<file path=ppt/tags/tag97.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
</p:tagLst>
</file>

<file path=ppt/tags/tag98.xml><?xml version="1.0" encoding="utf-8"?>
<p:tagLst xmlns:a="http://schemas.openxmlformats.org/drawingml/2006/main" xmlns:r="http://schemas.openxmlformats.org/officeDocument/2006/relationships" xmlns:p="http://schemas.openxmlformats.org/presentationml/2006/main">
  <p:tag name="OP_SCP_ITEM_INDEX" val="2"/>
</p:tagLst>
</file>

<file path=ppt/tags/tag99.xml><?xml version="1.0" encoding="utf-8"?>
<p:tagLst xmlns:a="http://schemas.openxmlformats.org/drawingml/2006/main" xmlns:r="http://schemas.openxmlformats.org/officeDocument/2006/relationships" xmlns:p="http://schemas.openxmlformats.org/presentationml/2006/main">
  <p:tag name="OP_SCP_ITEM_INDEX" val="2"/>
</p:tagLst>
</file>

<file path=ppt/tags/tag10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5"/>
  <p:tag name="OP_SCP_DEFAULT_TEXT" val="05 添加标题"/>
</p:tagLst>
</file>

<file path=ppt/tags/tag101.xml><?xml version="1.0" encoding="utf-8"?>
<p:tagLst xmlns:a="http://schemas.openxmlformats.org/drawingml/2006/main" xmlns:r="http://schemas.openxmlformats.org/officeDocument/2006/relationships" xmlns:p="http://schemas.openxmlformats.org/presentationml/2006/main">
  <p:tag name="OP_SCP_SHAPE_TYPE" val="Body"/>
  <p:tag name="OP_SCP_ITEM_INDEX" val="5"/>
  <p:tag name="OP_SCP_DEFAULT_TEXT" val="单击此处添加文本，单击此处添加文本，单击此处添加文本。"/>
</p:tagLst>
</file>

<file path=ppt/tags/tag102.xml><?xml version="1.0" encoding="utf-8"?>
<p:tagLst xmlns:a="http://schemas.openxmlformats.org/drawingml/2006/main" xmlns:r="http://schemas.openxmlformats.org/officeDocument/2006/relationships" xmlns:p="http://schemas.openxmlformats.org/presentationml/2006/main">
  <p:tag name="OP_SCP_ITEM_INDEX" val="5"/>
</p:tagLst>
</file>

<file path=ppt/tags/tag103.xml><?xml version="1.0" encoding="utf-8"?>
<p:tagLst xmlns:a="http://schemas.openxmlformats.org/drawingml/2006/main" xmlns:r="http://schemas.openxmlformats.org/officeDocument/2006/relationships" xmlns:p="http://schemas.openxmlformats.org/presentationml/2006/main">
  <p:tag name="OP_SCP_ITEM_INDEX" val="5"/>
</p:tagLst>
</file>

<file path=ppt/tags/tag10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03 添加标题"/>
</p:tagLst>
</file>

<file path=ppt/tags/tag105.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
</p:tagLst>
</file>

<file path=ppt/tags/tag106.xml><?xml version="1.0" encoding="utf-8"?>
<p:tagLst xmlns:a="http://schemas.openxmlformats.org/drawingml/2006/main" xmlns:r="http://schemas.openxmlformats.org/officeDocument/2006/relationships" xmlns:p="http://schemas.openxmlformats.org/presentationml/2006/main">
  <p:tag name="OP_SCP_ITEM_INDEX" val="3"/>
</p:tagLst>
</file>

<file path=ppt/tags/tag107.xml><?xml version="1.0" encoding="utf-8"?>
<p:tagLst xmlns:a="http://schemas.openxmlformats.org/drawingml/2006/main" xmlns:r="http://schemas.openxmlformats.org/officeDocument/2006/relationships" xmlns:p="http://schemas.openxmlformats.org/presentationml/2006/main">
  <p:tag name="OP_SCP_ITEM_INDEX" val="3"/>
</p:tagLst>
</file>

<file path=ppt/tags/tag10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01 添加标题"/>
</p:tagLst>
</file>

<file path=ppt/tags/tag10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110.xml><?xml version="1.0" encoding="utf-8"?>
<p:tagLst xmlns:a="http://schemas.openxmlformats.org/drawingml/2006/main" xmlns:r="http://schemas.openxmlformats.org/officeDocument/2006/relationships" xmlns:p="http://schemas.openxmlformats.org/presentationml/2006/main">
  <p:tag name="OP_SCP_ITEM_INDEX" val="1"/>
</p:tagLst>
</file>

<file path=ppt/tags/tag111.xml><?xml version="1.0" encoding="utf-8"?>
<p:tagLst xmlns:a="http://schemas.openxmlformats.org/drawingml/2006/main" xmlns:r="http://schemas.openxmlformats.org/officeDocument/2006/relationships" xmlns:p="http://schemas.openxmlformats.org/presentationml/2006/main">
  <p:tag name="OP_SCP_ITEM_INDEX" val="1"/>
</p:tagLst>
</file>

<file path=ppt/tags/tag112.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745"/>
  <p:tag name="OP_SCP_COMPONENT_INFO" val="{&quot;title&quot;:&quot;渐变5项循环PPT组件&quot;,&quot;description&quot;:&quot;渐变5项循环PPT组件：五项循环展示，渐变设计，信息展示清晰美观。&quot;,&quot;keywords&quot;:[&quot;渐变&quot;,&quot;5项&quot;,&quot;循环&quot;,&quot;PPT组件&quot;],&quot;labels&quot;:[]}"/>
  <p:tag name="OP_SCP_GROUP_ID" val="274927ed-1294-b464-8fc6-159d4bded57c"/>
  <p:tag name="OP_SCP_ITEM_COUNT" val="5"/>
</p:tagLst>
</file>

<file path=ppt/tags/tag113.xml><?xml version="1.0" encoding="utf-8"?>
<p:tagLst xmlns:a="http://schemas.openxmlformats.org/drawingml/2006/main" xmlns:r="http://schemas.openxmlformats.org/officeDocument/2006/relationships" xmlns:p="http://schemas.openxmlformats.org/presentationml/2006/main">
  <p:tag name="OP_SCP_ITEM_INDEX" val="4"/>
</p:tagLst>
</file>

<file path=ppt/tags/tag114.xml><?xml version="1.0" encoding="utf-8"?>
<p:tagLst xmlns:a="http://schemas.openxmlformats.org/drawingml/2006/main" xmlns:r="http://schemas.openxmlformats.org/officeDocument/2006/relationships" xmlns:p="http://schemas.openxmlformats.org/presentationml/2006/main">
  <p:tag name="OP_SCP_ITEM_INDEX" val="4"/>
</p:tagLst>
</file>

<file path=ppt/tags/tag11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04 添加标题"/>
</p:tagLst>
</file>

<file path=ppt/tags/tag116.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4"/>
</p:tagLst>
</file>

<file path=ppt/tags/tag117.xml><?xml version="1.0" encoding="utf-8"?>
<p:tagLst xmlns:a="http://schemas.openxmlformats.org/drawingml/2006/main" xmlns:r="http://schemas.openxmlformats.org/officeDocument/2006/relationships" xmlns:p="http://schemas.openxmlformats.org/presentationml/2006/main">
  <p:tag name="OP_SCP_ITEM_INDEX" val="5"/>
</p:tagLst>
</file>

<file path=ppt/tags/tag118.xml><?xml version="1.0" encoding="utf-8"?>
<p:tagLst xmlns:a="http://schemas.openxmlformats.org/drawingml/2006/main" xmlns:r="http://schemas.openxmlformats.org/officeDocument/2006/relationships" xmlns:p="http://schemas.openxmlformats.org/presentationml/2006/main">
  <p:tag name="OP_SCP_ITEM_INDEX" val="5"/>
</p:tagLst>
</file>

<file path=ppt/tags/tag11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5"/>
  <p:tag name="OP_SCP_DEFAULT_TEXT" val="05 添加标题5"/>
</p:tagLst>
</file>

<file path=ppt/tags/tag120.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5"/>
</p:tagLst>
</file>

<file path=ppt/tags/tag121.xml><?xml version="1.0" encoding="utf-8"?>
<p:tagLst xmlns:a="http://schemas.openxmlformats.org/drawingml/2006/main" xmlns:r="http://schemas.openxmlformats.org/officeDocument/2006/relationships" xmlns:p="http://schemas.openxmlformats.org/presentationml/2006/main">
  <p:tag name="OP_SCP_ITEM_INDEX" val="3"/>
</p:tagLst>
</file>

<file path=ppt/tags/tag122.xml><?xml version="1.0" encoding="utf-8"?>
<p:tagLst xmlns:a="http://schemas.openxmlformats.org/drawingml/2006/main" xmlns:r="http://schemas.openxmlformats.org/officeDocument/2006/relationships" xmlns:p="http://schemas.openxmlformats.org/presentationml/2006/main">
  <p:tag name="OP_SCP_ITEM_INDEX" val="3"/>
</p:tagLst>
</file>

<file path=ppt/tags/tag12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03 添加标题"/>
</p:tagLst>
</file>

<file path=ppt/tags/tag124.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3"/>
</p:tagLst>
</file>

<file path=ppt/tags/tag125.xml><?xml version="1.0" encoding="utf-8"?>
<p:tagLst xmlns:a="http://schemas.openxmlformats.org/drawingml/2006/main" xmlns:r="http://schemas.openxmlformats.org/officeDocument/2006/relationships" xmlns:p="http://schemas.openxmlformats.org/presentationml/2006/main">
  <p:tag name="OP_SCP_ITEM_INDEX" val="2"/>
</p:tagLst>
</file>

<file path=ppt/tags/tag126.xml><?xml version="1.0" encoding="utf-8"?>
<p:tagLst xmlns:a="http://schemas.openxmlformats.org/drawingml/2006/main" xmlns:r="http://schemas.openxmlformats.org/officeDocument/2006/relationships" xmlns:p="http://schemas.openxmlformats.org/presentationml/2006/main">
  <p:tag name="OP_SCP_ITEM_INDEX" val="2"/>
</p:tagLst>
</file>

<file path=ppt/tags/tag12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02 添加标题"/>
</p:tagLst>
</file>

<file path=ppt/tags/tag128.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
</p:tagLst>
</file>

<file path=ppt/tags/tag129.xml><?xml version="1.0" encoding="utf-8"?>
<p:tagLst xmlns:a="http://schemas.openxmlformats.org/drawingml/2006/main" xmlns:r="http://schemas.openxmlformats.org/officeDocument/2006/relationships" xmlns:p="http://schemas.openxmlformats.org/presentationml/2006/main">
  <p:tag name="OP_SCP_ITEM_INDEX" val="1"/>
</p:tagLst>
</file>

<file path=ppt/tags/tag130.xml><?xml version="1.0" encoding="utf-8"?>
<p:tagLst xmlns:a="http://schemas.openxmlformats.org/drawingml/2006/main" xmlns:r="http://schemas.openxmlformats.org/officeDocument/2006/relationships" xmlns:p="http://schemas.openxmlformats.org/presentationml/2006/main">
  <p:tag name="OP_SCP_ITEM_INDEX" val="1"/>
</p:tagLst>
</file>

<file path=ppt/tags/tag13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01 添加标题"/>
</p:tagLst>
</file>

<file path=ppt/tags/tag132.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1"/>
</p:tagLst>
</file>

<file path=ppt/tags/tag133.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883"/>
  <p:tag name="OP_SCP_COMPONENT_INFO" val="{&quot;title&quot;:&quot;简约风流程鱼骨图_5项&quot;,&quot;description&quot;:&quot;蓝色,5项&quot;,&quot;keywords&quot;:[&quot;蓝色&quot;,&quot;5项&quot;],&quot;labels&quot;:[]}"/>
  <p:tag name="OP_SCP_GROUP_ID" val="f8aa5eb1-a998-783b-46e5-4a5ebdc29b05"/>
  <p:tag name="OP_SCP_ITEM_COUNT" val="5"/>
</p:tagLst>
</file>

<file path=ppt/tags/tag134.xml><?xml version="1.0" encoding="utf-8"?>
<p:tagLst xmlns:a="http://schemas.openxmlformats.org/drawingml/2006/main" xmlns:r="http://schemas.openxmlformats.org/officeDocument/2006/relationships" xmlns:p="http://schemas.openxmlformats.org/presentationml/2006/main">
  <p:tag name="OP_SCP_SHAPE_TYPE" val="Body"/>
  <p:tag name="OP_SCP_ITEM_INDEX" val="5"/>
  <p:tag name="OP_SCP_DEFAULT_TEXT" val="单击此处添加文本单击此处添加文本单击此处添加文本。"/>
</p:tagLst>
</file>

<file path=ppt/tags/tag13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5"/>
  <p:tag name="OP_SCP_DEFAULT_TEXT" val="添加标题"/>
</p:tagLst>
</file>

<file path=ppt/tags/tag136.xml><?xml version="1.0" encoding="utf-8"?>
<p:tagLst xmlns:a="http://schemas.openxmlformats.org/drawingml/2006/main" xmlns:r="http://schemas.openxmlformats.org/officeDocument/2006/relationships" xmlns:p="http://schemas.openxmlformats.org/presentationml/2006/main">
  <p:tag name="OP_SCP_SHAPE_TYPE" val="Index"/>
  <p:tag name="OP_SCP_ITEM_INDEX" val="5"/>
  <p:tag name="OP_SCP_DEFAULT_TEXT" val="05"/>
</p:tagLst>
</file>

<file path=ppt/tags/tag137.xml><?xml version="1.0" encoding="utf-8"?>
<p:tagLst xmlns:a="http://schemas.openxmlformats.org/drawingml/2006/main" xmlns:r="http://schemas.openxmlformats.org/officeDocument/2006/relationships" xmlns:p="http://schemas.openxmlformats.org/presentationml/2006/main">
  <p:tag name="OP_SCP_SHAPE_TYPE" val="Body"/>
  <p:tag name="OP_SCP_ITEM_INDEX" val="4"/>
  <p:tag name="OP_SCP_DEFAULT_TEXT" val="单击此处添加文本单击此处添加文本单击此处添加文本。"/>
</p:tagLst>
</file>

<file path=ppt/tags/tag13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添加标题"/>
</p:tagLst>
</file>

<file path=ppt/tags/tag139.xml><?xml version="1.0" encoding="utf-8"?>
<p:tagLst xmlns:a="http://schemas.openxmlformats.org/drawingml/2006/main" xmlns:r="http://schemas.openxmlformats.org/officeDocument/2006/relationships" xmlns:p="http://schemas.openxmlformats.org/presentationml/2006/main">
  <p:tag name="OP_SCP_SHAPE_TYPE" val="Index"/>
  <p:tag name="OP_SCP_ITEM_INDEX" val="4"/>
  <p:tag name="OP_SCP_DEFAULT_TEXT" val="04"/>
</p:tagLst>
</file>

<file path=ppt/tags/tag140.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
</p:tagLst>
</file>

<file path=ppt/tags/tag14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142.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143.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
</p:tagLst>
</file>

<file path=ppt/tags/tag14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145.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14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14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148.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149.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3973"/>
  <p:tag name="OP_SCP_COMPONENT_INFO" val="{&quot;title&quot;:&quot;螺旋漏斗-5&quot;,&quot;description&quot;:&quot;黄绿色,扁平,5项&quot;,&quot;keywords&quot;:[&quot;黄绿色&quot;,&quot;扁平&quot;,&quot;5项&quot;],&quot;labels&quot;:[]}"/>
  <p:tag name="OP_SCP_GROUP_ID" val="886b3d8a-6798-6077-d99d-2d5b17f77f3b"/>
  <p:tag name="OP_SCP_ITEM_COUNT" val="5"/>
</p:tagLst>
</file>

<file path=ppt/tags/tag15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5"/>
  <p:tag name="OP_SCP_DEFAULT_TEXT" val="输入标题"/>
</p:tagLst>
</file>

<file path=ppt/tags/tag151.xml><?xml version="1.0" encoding="utf-8"?>
<p:tagLst xmlns:a="http://schemas.openxmlformats.org/drawingml/2006/main" xmlns:r="http://schemas.openxmlformats.org/officeDocument/2006/relationships" xmlns:p="http://schemas.openxmlformats.org/presentationml/2006/main">
  <p:tag name="OP_SCP_SHAPE_TYPE" val="Body"/>
  <p:tag name="OP_SCP_ITEM_INDEX" val="5"/>
  <p:tag name="OP_SCP_DEFAULT_TEXT" val="单击此处输入文本单击此处输入文本"/>
</p:tagLst>
</file>

<file path=ppt/tags/tag15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输入标题"/>
</p:tagLst>
</file>

<file path=ppt/tags/tag153.xml><?xml version="1.0" encoding="utf-8"?>
<p:tagLst xmlns:a="http://schemas.openxmlformats.org/drawingml/2006/main" xmlns:r="http://schemas.openxmlformats.org/officeDocument/2006/relationships" xmlns:p="http://schemas.openxmlformats.org/presentationml/2006/main">
  <p:tag name="OP_SCP_SHAPE_TYPE" val="Body"/>
  <p:tag name="OP_SCP_ITEM_INDEX" val="4"/>
  <p:tag name="OP_SCP_DEFAULT_TEXT" val="单击此处输入文本单击此处输入文本"/>
</p:tagLst>
</file>

<file path=ppt/tags/tag15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输入标题"/>
</p:tagLst>
</file>

<file path=ppt/tags/tag155.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输入文本单击此处输入文本"/>
</p:tagLst>
</file>

<file path=ppt/tags/tag15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输入标题"/>
</p:tagLst>
</file>

<file path=ppt/tags/tag157.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输入文本单击此处输入文本"/>
</p:tagLst>
</file>

<file path=ppt/tags/tag15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输入标题"/>
</p:tagLst>
</file>

<file path=ppt/tags/tag15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输入文本单击此处输入文本"/>
</p:tagLst>
</file>

<file path=ppt/tags/tag160.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3391"/>
  <p:tag name="OP_SCP_COMPONENT_INFO" val="{&quot;title&quot;:&quot;渐变矩阵四象限&quot;,&quot;description&quot;:&quot;蓝色,渐变,4项&quot;,&quot;keywords&quot;:[&quot;蓝色&quot;,&quot;渐变&quot;,&quot;4项&quot;],&quot;labels&quot;:[]}"/>
  <p:tag name="OP_SCP_GROUP_ID" val="a4124249-acf2-ba35-7c39-8d20415c7112"/>
  <p:tag name="OP_SCP_ITEM_COUNT" val="4"/>
</p:tagLst>
</file>

<file path=ppt/tags/tag16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162.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机添加文本，单机添加文本&#10;单机添加文本，单机添加文本"/>
</p:tagLst>
</file>

<file path=ppt/tags/tag16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添加标题"/>
</p:tagLst>
</file>

<file path=ppt/tags/tag164.xml><?xml version="1.0" encoding="utf-8"?>
<p:tagLst xmlns:a="http://schemas.openxmlformats.org/drawingml/2006/main" xmlns:r="http://schemas.openxmlformats.org/officeDocument/2006/relationships" xmlns:p="http://schemas.openxmlformats.org/presentationml/2006/main">
  <p:tag name="OP_SCP_SHAPE_TYPE" val="Body"/>
  <p:tag name="OP_SCP_ITEM_INDEX" val="4"/>
  <p:tag name="OP_SCP_DEFAULT_TEXT" val="单机添加文本，单机添加文本&#10;单机添加文本，单机添加文本"/>
</p:tagLst>
</file>

<file path=ppt/tags/tag16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16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机添加文本，单机添加文本&#10;单机添加文本，单机添加文本"/>
</p:tagLst>
</file>

<file path=ppt/tags/tag16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168.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机添加文本，单机添加文本&#10;单机添加文本，单机添加文本"/>
</p:tagLst>
</file>

<file path=ppt/tags/tag16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0"/>
  <p:tag name="OP_SCP_DEFAULT_TEXT" val="添加标题"/>
</p:tagLst>
</file>

<file path=ppt/tags/tag170.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2873"/>
  <p:tag name="OP_SCP_COMPONENT_INFO" val="{&quot;title&quot;:&quot;渐变3项圆形循环总分图&quot;,&quot;description&quot;:&quot;蓝紫色,渐变,3项&quot;,&quot;keywords&quot;:[&quot;蓝紫色&quot;,&quot;渐变&quot;,&quot;3项&quot;],&quot;labels&quot;:[]}"/>
  <p:tag name="OP_SCP_GROUP_ID" val="50be2819-6305-80f5-45e7-2c16e1b7281a"/>
  <p:tag name="OP_SCP_ITEM_COUNT" val="3"/>
</p:tagLst>
</file>

<file path=ppt/tags/tag17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0"/>
  <p:tag name="OP_SCP_DEFAULT_TEXT" val="添加&#10;标题"/>
</p:tagLst>
</file>

<file path=ppt/tags/tag172.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
</p:tagLst>
</file>

<file path=ppt/tags/tag17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174.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单击此处添加文本。"/>
</p:tagLst>
</file>

<file path=ppt/tags/tag17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17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
</p:tagLst>
</file>

<file path=ppt/tags/tag17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178.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977"/>
  <p:tag name="OP_SCP_COMPONENT_INFO" val="{&quot;title&quot;:&quot;渐变风总分通用型_4项&quot;,&quot;description&quot;:&quot;蓝色,4项&quot;,&quot;keywords&quot;:[&quot;蓝色&quot;,&quot;4项&quot;],&quot;labels&quot;:[]}"/>
  <p:tag name="OP_SCP_GROUP_ID" val="3f51aeb6-6b67-7338-7b14-861237693a1a"/>
  <p:tag name="OP_SCP_ITEM_COUNT" val="4"/>
</p:tagLst>
</file>

<file path=ppt/tags/tag17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添加&#10;标题"/>
</p:tagLst>
</file>

<file path=ppt/tags/tag180.xml><?xml version="1.0" encoding="utf-8"?>
<p:tagLst xmlns:a="http://schemas.openxmlformats.org/drawingml/2006/main" xmlns:r="http://schemas.openxmlformats.org/officeDocument/2006/relationships" xmlns:p="http://schemas.openxmlformats.org/presentationml/2006/main">
  <p:tag name="OP_SCP_SHAPE_TYPE" val="Body"/>
  <p:tag name="OP_SCP_ITEM_INDEX" val="4"/>
  <p:tag name="OP_SCP_DEFAULT_TEXT" val="单击此处添加文本，&#10;单击此处添加文本，&#10;单击此处添加文本，&#10;单击此处添加文本。"/>
</p:tagLst>
</file>

<file path=ppt/tags/tag181.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10;单击此处添加文本，&#10;单击此处添加文本，&#10;单击此处添加文本。"/>
</p:tagLst>
</file>

<file path=ppt/tags/tag18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10;标题"/>
</p:tagLst>
</file>

<file path=ppt/tags/tag183.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10;单击此处添加文本，&#10;单击此处添加文本，&#10;单击此处添加文本。"/>
</p:tagLst>
</file>

<file path=ppt/tags/tag18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10;标题"/>
</p:tagLst>
</file>

<file path=ppt/tags/tag18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10;标题"/>
</p:tagLst>
</file>

<file path=ppt/tags/tag18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10;单击此处添加文本，&#10;单击此处添加文本，&#10;单击此处添加文本。"/>
</p:tagLst>
</file>

<file path=ppt/tags/tag18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0"/>
  <p:tag name="OP_SCP_DEFAULT_TEXT" val="添加标题"/>
</p:tagLst>
</file>

<file path=ppt/tags/tag188.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034"/>
  <p:tag name="OP_SCP_COMPONENT_INFO" val="{&quot;title&quot;:&quot;扁平3项流程PPT组件&quot;,&quot;description&quot;:&quot;扁平3项流程PPT组件：三项流程布局，适用于多步骤流程展示，设计简约。&quot;,&quot;keywords&quot;:[&quot;扁平&quot;,&quot;3项&quot;,&quot;流程&quot;,&quot;PPT组件&quot;],&quot;labels&quot;:[]}"/>
  <p:tag name="OP_SCP_GROUP_ID" val="6a50ae88-0162-cac6-a11a-06e0e482ebc8"/>
  <p:tag name="OP_SCP_ITEM_COUNT" val="3"/>
</p:tagLst>
</file>

<file path=ppt/tags/tag189.xml><?xml version="1.0" encoding="utf-8"?>
<p:tagLst xmlns:a="http://schemas.openxmlformats.org/drawingml/2006/main" xmlns:r="http://schemas.openxmlformats.org/officeDocument/2006/relationships" xmlns:p="http://schemas.openxmlformats.org/presentationml/2006/main">
  <p:tag name="OP_SCP_ITEM_INDEX" val="3"/>
</p:tagLst>
</file>

<file path=ppt/tags/tag190.xml><?xml version="1.0" encoding="utf-8"?>
<p:tagLst xmlns:a="http://schemas.openxmlformats.org/drawingml/2006/main" xmlns:r="http://schemas.openxmlformats.org/officeDocument/2006/relationships" xmlns:p="http://schemas.openxmlformats.org/presentationml/2006/main">
  <p:tag name="OP_SCP_ITEM_INDEX" val="3"/>
</p:tagLst>
</file>

<file path=ppt/tags/tag19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192.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单击此处添加文本，单击此处添加文本，单击此处添加文本。"/>
</p:tagLst>
</file>

<file path=ppt/tags/tag193.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194.xml><?xml version="1.0" encoding="utf-8"?>
<p:tagLst xmlns:a="http://schemas.openxmlformats.org/drawingml/2006/main" xmlns:r="http://schemas.openxmlformats.org/officeDocument/2006/relationships" xmlns:p="http://schemas.openxmlformats.org/presentationml/2006/main">
  <p:tag name="OP_SCP_ITEM_INDEX" val="2"/>
</p:tagLst>
</file>

<file path=ppt/tags/tag195.xml><?xml version="1.0" encoding="utf-8"?>
<p:tagLst xmlns:a="http://schemas.openxmlformats.org/drawingml/2006/main" xmlns:r="http://schemas.openxmlformats.org/officeDocument/2006/relationships" xmlns:p="http://schemas.openxmlformats.org/presentationml/2006/main">
  <p:tag name="OP_SCP_ITEM_INDEX" val="2"/>
</p:tagLst>
</file>

<file path=ppt/tags/tag19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197.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单击此处添加文本，单击此处添加文本。"/>
</p:tagLst>
</file>

<file path=ppt/tags/tag198.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199.xml><?xml version="1.0" encoding="utf-8"?>
<p:tagLst xmlns:a="http://schemas.openxmlformats.org/drawingml/2006/main" xmlns:r="http://schemas.openxmlformats.org/officeDocument/2006/relationships" xmlns:p="http://schemas.openxmlformats.org/presentationml/2006/main">
  <p:tag name="OP_SCP_ITEM_INDEX" val="2"/>
</p:tagLst>
</file>

<file path=ppt/tags/tag200.xml><?xml version="1.0" encoding="utf-8"?>
<p:tagLst xmlns:a="http://schemas.openxmlformats.org/drawingml/2006/main" xmlns:r="http://schemas.openxmlformats.org/officeDocument/2006/relationships" xmlns:p="http://schemas.openxmlformats.org/presentationml/2006/main">
  <p:tag name="OP_SCP_ITEM_INDEX" val="1"/>
</p:tagLst>
</file>

<file path=ppt/tags/tag201.xml><?xml version="1.0" encoding="utf-8"?>
<p:tagLst xmlns:a="http://schemas.openxmlformats.org/drawingml/2006/main" xmlns:r="http://schemas.openxmlformats.org/officeDocument/2006/relationships" xmlns:p="http://schemas.openxmlformats.org/presentationml/2006/main">
  <p:tag name="OP_SCP_ITEM_INDEX" val="1"/>
</p:tagLst>
</file>

<file path=ppt/tags/tag202.xml><?xml version="1.0" encoding="utf-8"?>
<p:tagLst xmlns:a="http://schemas.openxmlformats.org/drawingml/2006/main" xmlns:r="http://schemas.openxmlformats.org/officeDocument/2006/relationships" xmlns:p="http://schemas.openxmlformats.org/presentationml/2006/main">
  <p:tag name="OP_SCP_ITEM_INDEX" val="1"/>
</p:tagLst>
</file>

<file path=ppt/tags/tag20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204.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单击此处添加文本。"/>
</p:tagLst>
</file>

<file path=ppt/tags/tag205.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206.xml><?xml version="1.0" encoding="utf-8"?>
<p:tagLst xmlns:a="http://schemas.openxmlformats.org/drawingml/2006/main" xmlns:r="http://schemas.openxmlformats.org/officeDocument/2006/relationships" xmlns:p="http://schemas.openxmlformats.org/presentationml/2006/main">
  <p:tag name="OP_SCP_ITEM_INDEX" val="1"/>
</p:tagLst>
</file>

<file path=ppt/tags/tag207.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921"/>
  <p:tag name="OP_SCP_COMPONENT_INFO" val="{&quot;title&quot;:&quot;渐变风循环常规元素_6项&quot;,&quot;description&quot;:&quot;蓝色,6项&quot;,&quot;keywords&quot;:[&quot;蓝色&quot;,&quot;6项&quot;],&quot;labels&quot;:[]}"/>
  <p:tag name="OP_SCP_GROUP_ID" val="d9b7a95a-6ffc-69c5-027f-a6b7e75d9927"/>
  <p:tag name="OP_SCP_ITEM_COUNT" val="6"/>
</p:tagLst>
</file>

<file path=ppt/tags/tag208.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1"/>
</p:tagLst>
</file>

<file path=ppt/tags/tag20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1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211.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2"/>
</p:tagLst>
</file>

<file path=ppt/tags/tag212.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
</p:tagLst>
</file>

<file path=ppt/tags/tag21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214.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3"/>
</p:tagLst>
</file>

<file path=ppt/tags/tag215.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
</p:tagLst>
</file>

<file path=ppt/tags/tag21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217.xml><?xml version="1.0" encoding="utf-8"?>
<p:tagLst xmlns:a="http://schemas.openxmlformats.org/drawingml/2006/main" xmlns:r="http://schemas.openxmlformats.org/officeDocument/2006/relationships" xmlns:p="http://schemas.openxmlformats.org/presentationml/2006/main">
  <p:tag name="OP_SCP_SHAPE_TYPE" val="Index"/>
  <p:tag name="OP_SCP_ITEM_INDEX" val="4"/>
  <p:tag name="OP_SCP_DEFAULT_TEXT" val="4"/>
</p:tagLst>
</file>

<file path=ppt/tags/tag218.xml><?xml version="1.0" encoding="utf-8"?>
<p:tagLst xmlns:a="http://schemas.openxmlformats.org/drawingml/2006/main" xmlns:r="http://schemas.openxmlformats.org/officeDocument/2006/relationships" xmlns:p="http://schemas.openxmlformats.org/presentationml/2006/main">
  <p:tag name="OP_SCP_SHAPE_TYPE" val="Body"/>
  <p:tag name="OP_SCP_ITEM_INDEX" val="4"/>
  <p:tag name="OP_SCP_DEFAULT_TEXT" val="单击此处添加文本，单击此处添加文本，单击此处添加文本。"/>
</p:tagLst>
</file>

<file path=ppt/tags/tag21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添加标题"/>
</p:tagLst>
</file>

<file path=ppt/tags/tag220.xml><?xml version="1.0" encoding="utf-8"?>
<p:tagLst xmlns:a="http://schemas.openxmlformats.org/drawingml/2006/main" xmlns:r="http://schemas.openxmlformats.org/officeDocument/2006/relationships" xmlns:p="http://schemas.openxmlformats.org/presentationml/2006/main">
  <p:tag name="OP_SCP_SHAPE_TYPE" val="Index"/>
  <p:tag name="OP_SCP_ITEM_INDEX" val="5"/>
  <p:tag name="OP_SCP_DEFAULT_TEXT" val="5"/>
</p:tagLst>
</file>

<file path=ppt/tags/tag221.xml><?xml version="1.0" encoding="utf-8"?>
<p:tagLst xmlns:a="http://schemas.openxmlformats.org/drawingml/2006/main" xmlns:r="http://schemas.openxmlformats.org/officeDocument/2006/relationships" xmlns:p="http://schemas.openxmlformats.org/presentationml/2006/main">
  <p:tag name="OP_SCP_SHAPE_TYPE" val="Body"/>
  <p:tag name="OP_SCP_ITEM_INDEX" val="5"/>
  <p:tag name="OP_SCP_DEFAULT_TEXT" val="单击此处添加文本，单击此处添加文本，单击此处添加文本。"/>
</p:tagLst>
</file>

<file path=ppt/tags/tag22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5"/>
  <p:tag name="OP_SCP_DEFAULT_TEXT" val="添加标题"/>
</p:tagLst>
</file>

<file path=ppt/tags/tag223.xml><?xml version="1.0" encoding="utf-8"?>
<p:tagLst xmlns:a="http://schemas.openxmlformats.org/drawingml/2006/main" xmlns:r="http://schemas.openxmlformats.org/officeDocument/2006/relationships" xmlns:p="http://schemas.openxmlformats.org/presentationml/2006/main">
  <p:tag name="OP_SCP_SHAPE_TYPE" val="Index"/>
  <p:tag name="OP_SCP_ITEM_INDEX" val="6"/>
  <p:tag name="OP_SCP_DEFAULT_TEXT" val="6"/>
</p:tagLst>
</file>

<file path=ppt/tags/tag224.xml><?xml version="1.0" encoding="utf-8"?>
<p:tagLst xmlns:a="http://schemas.openxmlformats.org/drawingml/2006/main" xmlns:r="http://schemas.openxmlformats.org/officeDocument/2006/relationships" xmlns:p="http://schemas.openxmlformats.org/presentationml/2006/main">
  <p:tag name="OP_SCP_SHAPE_TYPE" val="Body"/>
  <p:tag name="OP_SCP_ITEM_INDEX" val="6"/>
  <p:tag name="OP_SCP_DEFAULT_TEXT" val="单击此处添加文本，单击此处添加文本，单击此处添加文本。"/>
</p:tagLst>
</file>

<file path=ppt/tags/tag22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6"/>
  <p:tag name="OP_SCP_DEFAULT_TEXT" val="添加标题"/>
</p:tagLst>
</file>

<file path=ppt/tags/tag226.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2753"/>
  <p:tag name="OP_SCP_COMPONENT_INFO" val="{&quot;title&quot;:&quot;扁平2项目录&quot;,&quot;description&quot;:&quot;蓝色,扁平,2项&quot;,&quot;keywords&quot;:[&quot;蓝色&quot;,&quot;扁平&quot;,&quot;2项&quot;],&quot;labels&quot;:[]}"/>
  <p:tag name="OP_SCP_GROUP_ID" val="028e7aa1-7178-98c3-3ded-b6b1dbee9912"/>
  <p:tag name="OP_SCP_ITEM_COUNT" val="2"/>
</p:tagLst>
</file>

<file path=ppt/tags/tag227.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PART.02"/>
</p:tagLst>
</file>

<file path=ppt/tags/tag22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229.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机添加文本&#10;单机添加文本&#10;单机添加文本"/>
</p:tagLst>
</file>

<file path=ppt/tags/tag230.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PART.01"/>
</p:tagLst>
</file>

<file path=ppt/tags/tag23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232.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机添加文本&#10;单机添加文本&#10;单机添加文本"/>
</p:tagLst>
</file>

<file path=ppt/tags/tag233.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29"/>
  <p:tag name="OP_SCP_COMPONENT_INFO" val="{&quot;title&quot;:&quot;扁平3项纯文本PPT组件&quot;,&quot;description&quot;:&quot;扁平3项纯文本PPT组件&quot;,&quot;keywords&quot;:[&quot;扁平&quot;,&quot;3项&quot;,&quot;纯文本&quot;,&quot;PPT组件&quot;],&quot;labels&quot;:[]}"/>
  <p:tag name="OP_SCP_GROUP_ID" val="ef7c8520-5870-154c-9fe2-daae3c374e0e"/>
  <p:tag name="OP_SCP_ITEM_COUNT" val="3"/>
</p:tagLst>
</file>

<file path=ppt/tags/tag234.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07"/>
  <p:tag name="OP_SCP_COMPONENT_INFO" val="{&quot;title&quot;:&quot;扁平1项纯文本PPT组件&quot;,&quot;description&quot;:&quot;扁平1项纯文本PPT组件&quot;,&quot;keywords&quot;:[&quot;扁平&quot;,&quot;1项&quot;,&quot;纯文本&quot;,&quot;PPT组件&quot;],&quot;labels&quot;:[]}"/>
  <p:tag name="OP_SCP_GROUP_ID" val="ef7c8520-5870-154c-9fe2-daae3c374e0e"/>
  <p:tag name="OP_SCP_ITEM_COUNT" val="1"/>
</p:tagLst>
</file>

<file path=ppt/tags/tag235.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07"/>
  <p:tag name="OP_SCP_COMPONENT_INFO" val="{&quot;title&quot;:&quot;扁平1项纯文本PPT组件&quot;,&quot;description&quot;:&quot;扁平1项纯文本PPT组件&quot;,&quot;keywords&quot;:[&quot;扁平&quot;,&quot;1项&quot;,&quot;纯文本&quot;,&quot;PPT组件&quot;],&quot;labels&quot;:[]}"/>
  <p:tag name="OP_SCP_GROUP_ID" val="ef7c8520-5870-154c-9fe2-daae3c374e0e"/>
  <p:tag name="OP_SCP_ITEM_COUNT" val="1"/>
</p:tagLst>
</file>

<file path=ppt/tags/tag236.xml><?xml version="1.0" encoding="utf-8"?>
<p:tagLst xmlns:a="http://schemas.openxmlformats.org/drawingml/2006/main" xmlns:r="http://schemas.openxmlformats.org/officeDocument/2006/relationships" xmlns:p="http://schemas.openxmlformats.org/presentationml/2006/main">
  <p:tag name="OP_SCP_ITEM_INDEX" val="1"/>
</p:tagLst>
</file>

<file path=ppt/tags/tag23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23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39.xml><?xml version="1.0" encoding="utf-8"?>
<p:tagLst xmlns:a="http://schemas.openxmlformats.org/drawingml/2006/main" xmlns:r="http://schemas.openxmlformats.org/officeDocument/2006/relationships" xmlns:p="http://schemas.openxmlformats.org/presentationml/2006/main">
  <p:tag name="OP_SCP_ITEM_INDEX" val="1"/>
</p:tagLst>
</file>

<file path=ppt/tags/tag24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241.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42.xml><?xml version="1.0" encoding="utf-8"?>
<p:tagLst xmlns:a="http://schemas.openxmlformats.org/drawingml/2006/main" xmlns:r="http://schemas.openxmlformats.org/officeDocument/2006/relationships" xmlns:p="http://schemas.openxmlformats.org/presentationml/2006/main">
  <p:tag name="OP_SCP_ITEM_INDEX" val="3"/>
</p:tagLst>
</file>

<file path=ppt/tags/tag24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244.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
</p:tagLst>
</file>

<file path=ppt/tags/tag245.xml><?xml version="1.0" encoding="utf-8"?>
<p:tagLst xmlns:a="http://schemas.openxmlformats.org/drawingml/2006/main" xmlns:r="http://schemas.openxmlformats.org/officeDocument/2006/relationships" xmlns:p="http://schemas.openxmlformats.org/presentationml/2006/main">
  <p:tag name="OP_SCP_ITEM_INDEX" val="1"/>
</p:tagLst>
</file>

<file path=ppt/tags/tag24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24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48.xml><?xml version="1.0" encoding="utf-8"?>
<p:tagLst xmlns:a="http://schemas.openxmlformats.org/drawingml/2006/main" xmlns:r="http://schemas.openxmlformats.org/officeDocument/2006/relationships" xmlns:p="http://schemas.openxmlformats.org/presentationml/2006/main">
  <p:tag name="OP_SCP_ITEM_INDEX" val="2"/>
</p:tagLst>
</file>

<file path=ppt/tags/tag24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250.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
</p:tagLst>
</file>

<file path=ppt/tags/tag251.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29"/>
  <p:tag name="OP_SCP_COMPONENT_INFO" val="{&quot;title&quot;:&quot;扁平3项纯文本PPT组件&quot;,&quot;description&quot;:&quot;扁平3项纯文本PPT组件&quot;,&quot;keywords&quot;:[&quot;扁平&quot;,&quot;3项&quot;,&quot;纯文本&quot;,&quot;PPT组件&quot;],&quot;labels&quot;:[]}"/>
  <p:tag name="OP_SCP_GROUP_ID" val="ef7c8520-5870-154c-9fe2-daae3c374e0e"/>
  <p:tag name="OP_SCP_ITEM_COUNT" val="3"/>
</p:tagLst>
</file>

<file path=ppt/tags/tag252.xml><?xml version="1.0" encoding="utf-8"?>
<p:tagLst xmlns:a="http://schemas.openxmlformats.org/drawingml/2006/main" xmlns:r="http://schemas.openxmlformats.org/officeDocument/2006/relationships" xmlns:p="http://schemas.openxmlformats.org/presentationml/2006/main">
  <p:tag name="OP_SCP_ITEM_INDEX" val="3"/>
</p:tagLst>
</file>

<file path=ppt/tags/tag25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254.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
</p:tagLst>
</file>

<file path=ppt/tags/tag255.xml><?xml version="1.0" encoding="utf-8"?>
<p:tagLst xmlns:a="http://schemas.openxmlformats.org/drawingml/2006/main" xmlns:r="http://schemas.openxmlformats.org/officeDocument/2006/relationships" xmlns:p="http://schemas.openxmlformats.org/presentationml/2006/main">
  <p:tag name="OP_SCP_ITEM_INDEX" val="1"/>
</p:tagLst>
</file>

<file path=ppt/tags/tag25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25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58.xml><?xml version="1.0" encoding="utf-8"?>
<p:tagLst xmlns:a="http://schemas.openxmlformats.org/drawingml/2006/main" xmlns:r="http://schemas.openxmlformats.org/officeDocument/2006/relationships" xmlns:p="http://schemas.openxmlformats.org/presentationml/2006/main">
  <p:tag name="OP_SCP_ITEM_INDEX" val="2"/>
</p:tagLst>
</file>

<file path=ppt/tags/tag25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260.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
</p:tagLst>
</file>

<file path=ppt/tags/tag261.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29"/>
  <p:tag name="OP_SCP_COMPONENT_INFO" val="{&quot;title&quot;:&quot;扁平3项纯文本PPT组件&quot;,&quot;description&quot;:&quot;扁平3项纯文本PPT组件&quot;,&quot;keywords&quot;:[&quot;扁平&quot;,&quot;3项&quot;,&quot;纯文本&quot;,&quot;PPT组件&quot;],&quot;labels&quot;:[]}"/>
  <p:tag name="OP_SCP_GROUP_ID" val="ef7c8520-5870-154c-9fe2-daae3c374e0e"/>
  <p:tag name="OP_SCP_ITEM_COUNT" val="3"/>
</p:tagLst>
</file>

<file path=ppt/tags/tag262.xml><?xml version="1.0" encoding="utf-8"?>
<p:tagLst xmlns:a="http://schemas.openxmlformats.org/drawingml/2006/main" xmlns:r="http://schemas.openxmlformats.org/officeDocument/2006/relationships" xmlns:p="http://schemas.openxmlformats.org/presentationml/2006/main">
  <p:tag name="OP_SCP_ITEM_INDEX" val="3"/>
</p:tagLst>
</file>

<file path=ppt/tags/tag26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264.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
</p:tagLst>
</file>

<file path=ppt/tags/tag265.xml><?xml version="1.0" encoding="utf-8"?>
<p:tagLst xmlns:a="http://schemas.openxmlformats.org/drawingml/2006/main" xmlns:r="http://schemas.openxmlformats.org/officeDocument/2006/relationships" xmlns:p="http://schemas.openxmlformats.org/presentationml/2006/main">
  <p:tag name="OP_SCP_ITEM_INDEX" val="1"/>
</p:tagLst>
</file>

<file path=ppt/tags/tag26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26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68.xml><?xml version="1.0" encoding="utf-8"?>
<p:tagLst xmlns:a="http://schemas.openxmlformats.org/drawingml/2006/main" xmlns:r="http://schemas.openxmlformats.org/officeDocument/2006/relationships" xmlns:p="http://schemas.openxmlformats.org/presentationml/2006/main">
  <p:tag name="OP_SCP_ITEM_INDEX" val="2"/>
</p:tagLst>
</file>

<file path=ppt/tags/tag26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270.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
</p:tagLst>
</file>

<file path=ppt/tags/tag271.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29"/>
  <p:tag name="OP_SCP_COMPONENT_INFO" val="{&quot;title&quot;:&quot;扁平3项纯文本PPT组件&quot;,&quot;description&quot;:&quot;扁平3项纯文本PPT组件&quot;,&quot;keywords&quot;:[&quot;扁平&quot;,&quot;3项&quot;,&quot;纯文本&quot;,&quot;PPT组件&quot;],&quot;labels&quot;:[]}"/>
  <p:tag name="OP_SCP_GROUP_ID" val="ef7c8520-5870-154c-9fe2-daae3c374e0e"/>
  <p:tag name="OP_SCP_ITEM_COUNT" val="3"/>
</p:tagLst>
</file>

<file path=ppt/tags/tag272.xml><?xml version="1.0" encoding="utf-8"?>
<p:tagLst xmlns:a="http://schemas.openxmlformats.org/drawingml/2006/main" xmlns:r="http://schemas.openxmlformats.org/officeDocument/2006/relationships" xmlns:p="http://schemas.openxmlformats.org/presentationml/2006/main">
  <p:tag name="OP_SCP_ITEM_INDEX" val="3"/>
</p:tagLst>
</file>

<file path=ppt/tags/tag27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274.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
</p:tagLst>
</file>

<file path=ppt/tags/tag275.xml><?xml version="1.0" encoding="utf-8"?>
<p:tagLst xmlns:a="http://schemas.openxmlformats.org/drawingml/2006/main" xmlns:r="http://schemas.openxmlformats.org/officeDocument/2006/relationships" xmlns:p="http://schemas.openxmlformats.org/presentationml/2006/main">
  <p:tag name="OP_SCP_ITEM_INDEX" val="1"/>
</p:tagLst>
</file>

<file path=ppt/tags/tag27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27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78.xml><?xml version="1.0" encoding="utf-8"?>
<p:tagLst xmlns:a="http://schemas.openxmlformats.org/drawingml/2006/main" xmlns:r="http://schemas.openxmlformats.org/officeDocument/2006/relationships" xmlns:p="http://schemas.openxmlformats.org/presentationml/2006/main">
  <p:tag name="OP_SCP_ITEM_INDEX" val="2"/>
</p:tagLst>
</file>

<file path=ppt/tags/tag27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280.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
</p:tagLst>
</file>

<file path=ppt/tags/tag281.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34"/>
  <p:tag name="OP_SCP_COMPONENT_INFO" val="{&quot;title&quot;:&quot;扁平3项列表PPT组件&quot;,&quot;description&quot;:&quot;扁平3项列表PPT组件&quot;,&quot;keywords&quot;:[&quot;扁平&quot;,&quot;3项&quot;,&quot;列表&quot;,&quot;PPT组件&quot;],&quot;labels&quot;:[]}"/>
  <p:tag name="OP_SCP_GROUP_ID" val="c43786e3-ca88-9a76-de86-377acc86b5ff"/>
  <p:tag name="OP_SCP_ITEM_COUNT" val="3"/>
</p:tagLst>
</file>

<file path=ppt/tags/tag282.xml><?xml version="1.0" encoding="utf-8"?>
<p:tagLst xmlns:a="http://schemas.openxmlformats.org/drawingml/2006/main" xmlns:r="http://schemas.openxmlformats.org/officeDocument/2006/relationships" xmlns:p="http://schemas.openxmlformats.org/presentationml/2006/main">
  <p:tag name="OP_SCP_ITEM_INDEX" val="3"/>
</p:tagLst>
</file>

<file path=ppt/tags/tag28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284.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单击此处添加文本。"/>
</p:tagLst>
</file>

<file path=ppt/tags/tag285.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286.xml><?xml version="1.0" encoding="utf-8"?>
<p:tagLst xmlns:a="http://schemas.openxmlformats.org/drawingml/2006/main" xmlns:r="http://schemas.openxmlformats.org/officeDocument/2006/relationships" xmlns:p="http://schemas.openxmlformats.org/presentationml/2006/main">
  <p:tag name="OP_SCP_ITEM_INDEX" val="3"/>
</p:tagLst>
</file>

<file path=ppt/tags/tag287.xml><?xml version="1.0" encoding="utf-8"?>
<p:tagLst xmlns:a="http://schemas.openxmlformats.org/drawingml/2006/main" xmlns:r="http://schemas.openxmlformats.org/officeDocument/2006/relationships" xmlns:p="http://schemas.openxmlformats.org/presentationml/2006/main">
  <p:tag name="OP_SCP_ITEM_INDEX" val="2"/>
</p:tagLst>
</file>

<file path=ppt/tags/tag288.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
</p:tagLst>
</file>

<file path=ppt/tags/tag28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290.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291.xml><?xml version="1.0" encoding="utf-8"?>
<p:tagLst xmlns:a="http://schemas.openxmlformats.org/drawingml/2006/main" xmlns:r="http://schemas.openxmlformats.org/officeDocument/2006/relationships" xmlns:p="http://schemas.openxmlformats.org/presentationml/2006/main">
  <p:tag name="OP_SCP_ITEM_INDEX" val="2"/>
</p:tagLst>
</file>

<file path=ppt/tags/tag292.xml><?xml version="1.0" encoding="utf-8"?>
<p:tagLst xmlns:a="http://schemas.openxmlformats.org/drawingml/2006/main" xmlns:r="http://schemas.openxmlformats.org/officeDocument/2006/relationships" xmlns:p="http://schemas.openxmlformats.org/presentationml/2006/main">
  <p:tag name="OP_SCP_ITEM_INDEX" val="1"/>
</p:tagLst>
</file>

<file path=ppt/tags/tag29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294.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
</p:tagLst>
</file>

<file path=ppt/tags/tag295.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296.xml><?xml version="1.0" encoding="utf-8"?>
<p:tagLst xmlns:a="http://schemas.openxmlformats.org/drawingml/2006/main" xmlns:r="http://schemas.openxmlformats.org/officeDocument/2006/relationships" xmlns:p="http://schemas.openxmlformats.org/presentationml/2006/main">
  <p:tag name="OP_SCP_ITEM_INDEX" val="1"/>
</p:tagLst>
</file>

<file path=ppt/tags/tag297.xml><?xml version="1.0" encoding="utf-8"?>
<p:tagLst xmlns:a="http://schemas.openxmlformats.org/drawingml/2006/main" xmlns:r="http://schemas.openxmlformats.org/officeDocument/2006/relationships" xmlns:p="http://schemas.openxmlformats.org/presentationml/2006/main">
  <p:tag name="TIMING" val="|155.2|25.3|11.9|1.4|10.1|31.2"/>
</p:tagLst>
</file>

<file path=ppt/tags/tag298.xml><?xml version="1.0" encoding="utf-8"?>
<p:tagLst xmlns:a="http://schemas.openxmlformats.org/drawingml/2006/main" xmlns:r="http://schemas.openxmlformats.org/officeDocument/2006/relationships" xmlns:p="http://schemas.openxmlformats.org/presentationml/2006/main">
  <p:tag name="TIMING" val="|32.9|77.6|20.1|1.5|24.3|26.9"/>
</p:tagLst>
</file>

<file path=ppt/tags/tag299.xml><?xml version="1.0" encoding="utf-8"?>
<p:tagLst xmlns:a="http://schemas.openxmlformats.org/drawingml/2006/main" xmlns:r="http://schemas.openxmlformats.org/officeDocument/2006/relationships" xmlns:p="http://schemas.openxmlformats.org/presentationml/2006/main">
  <p:tag name="TIMING" val="|6.7|2.7|21.6"/>
</p:tagLst>
</file>

<file path=ppt/tags/tag300.xml><?xml version="1.0" encoding="utf-8"?>
<p:tagLst xmlns:a="http://schemas.openxmlformats.org/drawingml/2006/main" xmlns:r="http://schemas.openxmlformats.org/officeDocument/2006/relationships" xmlns:p="http://schemas.openxmlformats.org/presentationml/2006/main">
  <p:tag name="TIMING" val="|26.4|23|11.7|15.1|0.9|12.3|1.2"/>
</p:tagLst>
</file>

<file path=ppt/tags/tag301.xml><?xml version="1.0" encoding="utf-8"?>
<p:tagLst xmlns:a="http://schemas.openxmlformats.org/drawingml/2006/main" xmlns:r="http://schemas.openxmlformats.org/officeDocument/2006/relationships" xmlns:p="http://schemas.openxmlformats.org/presentationml/2006/main">
  <p:tag name="TIMING" val="|28|20.1|2.4|39.6"/>
</p:tagLst>
</file>

<file path=ppt/tags/tag302.xml><?xml version="1.0" encoding="utf-8"?>
<p:tagLst xmlns:a="http://schemas.openxmlformats.org/drawingml/2006/main" xmlns:r="http://schemas.openxmlformats.org/officeDocument/2006/relationships" xmlns:p="http://schemas.openxmlformats.org/presentationml/2006/main">
  <p:tag name="TIMING" val="|23.9|18.4|8.8"/>
</p:tagLst>
</file>

<file path=ppt/tags/tag303.xml><?xml version="1.0" encoding="utf-8"?>
<p:tagLst xmlns:a="http://schemas.openxmlformats.org/drawingml/2006/main" xmlns:r="http://schemas.openxmlformats.org/officeDocument/2006/relationships" xmlns:p="http://schemas.openxmlformats.org/presentationml/2006/main">
  <p:tag name="TIMING" val="|9|21.8"/>
</p:tagLst>
</file>

<file path=ppt/tags/tag304.xml><?xml version="1.0" encoding="utf-8"?>
<p:tagLst xmlns:a="http://schemas.openxmlformats.org/drawingml/2006/main" xmlns:r="http://schemas.openxmlformats.org/officeDocument/2006/relationships" xmlns:p="http://schemas.openxmlformats.org/presentationml/2006/main">
  <p:tag name="TIMING" val="|4.5|1"/>
</p:tagLst>
</file>

<file path=ppt/tags/tag305.xml><?xml version="1.0" encoding="utf-8"?>
<p:tagLst xmlns:a="http://schemas.openxmlformats.org/drawingml/2006/main" xmlns:r="http://schemas.openxmlformats.org/officeDocument/2006/relationships" xmlns:p="http://schemas.openxmlformats.org/presentationml/2006/main">
  <p:tag name="TIMING" val="|1.7|18.7"/>
</p:tagLst>
</file>

<file path=ppt/tags/tag306.xml><?xml version="1.0" encoding="utf-8"?>
<p:tagLst xmlns:a="http://schemas.openxmlformats.org/drawingml/2006/main" xmlns:r="http://schemas.openxmlformats.org/officeDocument/2006/relationships" xmlns:p="http://schemas.openxmlformats.org/presentationml/2006/main">
  <p:tag name="TIMING" val="|66.4"/>
</p:tagLst>
</file>

<file path=ppt/tags/tag307.xml><?xml version="1.0" encoding="utf-8"?>
<p:tagLst xmlns:a="http://schemas.openxmlformats.org/drawingml/2006/main" xmlns:r="http://schemas.openxmlformats.org/officeDocument/2006/relationships" xmlns:p="http://schemas.openxmlformats.org/presentationml/2006/main">
  <p:tag name="TIMING" val="|35|5.9|8|13.6|1|1.8|1.1|0.9|4|9.2|9.3|13|1.1|1.8|2.4|0.9|46.8"/>
</p:tagLst>
</file>

<file path=ppt/tags/tag308.xml><?xml version="1.0" encoding="utf-8"?>
<p:tagLst xmlns:a="http://schemas.openxmlformats.org/drawingml/2006/main" xmlns:r="http://schemas.openxmlformats.org/officeDocument/2006/relationships" xmlns:p="http://schemas.openxmlformats.org/presentationml/2006/main">
  <p:tag name="TIMING" val="|14.6|4.6|0.7|2.8|0.7|1.2|3.1|1.2|1.3|171.5|1.1|1|0.8"/>
</p:tagLst>
</file>

<file path=ppt/tags/tag309.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82"/>
  <p:tag name="OP_SCP_COMPONENT_INFO" val="{&quot;title&quot;:&quot;扁平3项流程PPT组件&quot;,&quot;description&quot;:&quot;扁平3项流程PPT组件&quot;,&quot;keywords&quot;:[&quot;扁平&quot;,&quot;3项&quot;,&quot;流程&quot;,&quot;PPT组件&quot;],&quot;labels&quot;:[]}"/>
  <p:tag name="OP_SCP_GROUP_ID" val="58d686c4-3f4b-2285-b3f0-fac42d8e4929"/>
  <p:tag name="OP_SCP_ITEM_COUNT" val="3"/>
</p:tagLst>
</file>

<file path=ppt/tags/tag310.xml><?xml version="1.0" encoding="utf-8"?>
<p:tagLst xmlns:a="http://schemas.openxmlformats.org/drawingml/2006/main" xmlns:r="http://schemas.openxmlformats.org/officeDocument/2006/relationships" xmlns:p="http://schemas.openxmlformats.org/presentationml/2006/main">
  <p:tag name="OP_SCP_ITEM_INDEX" val="3"/>
</p:tagLst>
</file>

<file path=ppt/tags/tag31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312.xml><?xml version="1.0" encoding="utf-8"?>
<p:tagLst xmlns:a="http://schemas.openxmlformats.org/drawingml/2006/main" xmlns:r="http://schemas.openxmlformats.org/officeDocument/2006/relationships" xmlns:p="http://schemas.openxmlformats.org/presentationml/2006/main">
  <p:tag name="OP_SCP_ITEM_INDEX" val="3"/>
</p:tagLst>
</file>

<file path=ppt/tags/tag313.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314.xml><?xml version="1.0" encoding="utf-8"?>
<p:tagLst xmlns:a="http://schemas.openxmlformats.org/drawingml/2006/main" xmlns:r="http://schemas.openxmlformats.org/officeDocument/2006/relationships" xmlns:p="http://schemas.openxmlformats.org/presentationml/2006/main">
  <p:tag name="OP_SCP_ITEM_INDEX" val="2"/>
</p:tagLst>
</file>

<file path=ppt/tags/tag31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316.xml><?xml version="1.0" encoding="utf-8"?>
<p:tagLst xmlns:a="http://schemas.openxmlformats.org/drawingml/2006/main" xmlns:r="http://schemas.openxmlformats.org/officeDocument/2006/relationships" xmlns:p="http://schemas.openxmlformats.org/presentationml/2006/main">
  <p:tag name="OP_SCP_ITEM_INDEX" val="2"/>
</p:tagLst>
</file>

<file path=ppt/tags/tag317.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31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319.xml><?xml version="1.0" encoding="utf-8"?>
<p:tagLst xmlns:a="http://schemas.openxmlformats.org/drawingml/2006/main" xmlns:r="http://schemas.openxmlformats.org/officeDocument/2006/relationships" xmlns:p="http://schemas.openxmlformats.org/presentationml/2006/main">
  <p:tag name="OP_SCP_ITEM_INDEX" val="1"/>
</p:tagLst>
</file>

<file path=ppt/tags/tag320.xml><?xml version="1.0" encoding="utf-8"?>
<p:tagLst xmlns:a="http://schemas.openxmlformats.org/drawingml/2006/main" xmlns:r="http://schemas.openxmlformats.org/officeDocument/2006/relationships" xmlns:p="http://schemas.openxmlformats.org/presentationml/2006/main">
  <p:tag name="OP_SCP_ITEM_INDEX" val="1"/>
</p:tagLst>
</file>

<file path=ppt/tags/tag321.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322.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9"/>
  <p:tag name="OP_SCP_COMPONENT_INFO" val="{&quot;title&quot;:&quot;渐变1项列表PPT组件&quot;,&quot;description&quot;:&quot;渐变1项列表PPT组件&quot;,&quot;keywords&quot;:[&quot;渐变&quot;,&quot;1项&quot;,&quot;列表&quot;,&quot;PPT组件&quot;],&quot;labels&quot;:[]}"/>
  <p:tag name="OP_SCP_GROUP_ID" val="a98e64a8-f5dd-5a2f-ba65-f5ebfb2cd4f6"/>
  <p:tag name="OP_SCP_ITEM_COUNT" val="1"/>
</p:tagLst>
</file>

<file path=ppt/tags/tag323.xml><?xml version="1.0" encoding="utf-8"?>
<p:tagLst xmlns:a="http://schemas.openxmlformats.org/drawingml/2006/main" xmlns:r="http://schemas.openxmlformats.org/officeDocument/2006/relationships" xmlns:p="http://schemas.openxmlformats.org/presentationml/2006/main">
  <p:tag name="OP_SCP_ITEM_INDEX" val="1"/>
</p:tagLst>
</file>

<file path=ppt/tags/tag324.xml><?xml version="1.0" encoding="utf-8"?>
<p:tagLst xmlns:a="http://schemas.openxmlformats.org/drawingml/2006/main" xmlns:r="http://schemas.openxmlformats.org/officeDocument/2006/relationships" xmlns:p="http://schemas.openxmlformats.org/presentationml/2006/main">
  <p:tag name="OP_SCP_ITEM_INDEX" val="1"/>
</p:tagLst>
</file>

<file path=ppt/tags/tag325.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单击此处添加文本。"/>
</p:tagLst>
</file>

<file path=ppt/tags/tag32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327.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29"/>
  <p:tag name="OP_SCP_COMPONENT_INFO" val="{&quot;title&quot;:&quot;扁平3项纯文本PPT组件&quot;,&quot;description&quot;:&quot;扁平3项纯文本PPT组件&quot;,&quot;keywords&quot;:[&quot;扁平&quot;,&quot;3项&quot;,&quot;纯文本&quot;,&quot;PPT组件&quot;],&quot;labels&quot;:[]}"/>
  <p:tag name="OP_SCP_GROUP_ID" val="ef7c8520-5870-154c-9fe2-daae3c374e0e"/>
  <p:tag name="OP_SCP_ITEM_COUNT" val="3"/>
</p:tagLst>
</file>

<file path=ppt/tags/tag328.xml><?xml version="1.0" encoding="utf-8"?>
<p:tagLst xmlns:a="http://schemas.openxmlformats.org/drawingml/2006/main" xmlns:r="http://schemas.openxmlformats.org/officeDocument/2006/relationships" xmlns:p="http://schemas.openxmlformats.org/presentationml/2006/main">
  <p:tag name="OP_SCP_ITEM_INDEX" val="3"/>
</p:tagLst>
</file>

<file path=ppt/tags/tag32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330.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
</p:tagLst>
</file>

<file path=ppt/tags/tag331.xml><?xml version="1.0" encoding="utf-8"?>
<p:tagLst xmlns:a="http://schemas.openxmlformats.org/drawingml/2006/main" xmlns:r="http://schemas.openxmlformats.org/officeDocument/2006/relationships" xmlns:p="http://schemas.openxmlformats.org/presentationml/2006/main">
  <p:tag name="OP_SCP_ITEM_INDEX" val="1"/>
</p:tagLst>
</file>

<file path=ppt/tags/tag33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333.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34.xml><?xml version="1.0" encoding="utf-8"?>
<p:tagLst xmlns:a="http://schemas.openxmlformats.org/drawingml/2006/main" xmlns:r="http://schemas.openxmlformats.org/officeDocument/2006/relationships" xmlns:p="http://schemas.openxmlformats.org/presentationml/2006/main">
  <p:tag name="OP_SCP_ITEM_INDEX" val="2"/>
</p:tagLst>
</file>

<file path=ppt/tags/tag33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336.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
</p:tagLst>
</file>

<file path=ppt/tags/tag337.xml><?xml version="1.0" encoding="utf-8"?>
<p:tagLst xmlns:a="http://schemas.openxmlformats.org/drawingml/2006/main" xmlns:r="http://schemas.openxmlformats.org/officeDocument/2006/relationships" xmlns:p="http://schemas.openxmlformats.org/presentationml/2006/main">
  <p:tag name="OP_SCP_ITEM_INDEX" val="3"/>
</p:tagLst>
</file>

<file path=ppt/tags/tag33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339.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单击此处添加文本。"/>
</p:tagLst>
</file>

<file path=ppt/tags/tag340.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341.xml><?xml version="1.0" encoding="utf-8"?>
<p:tagLst xmlns:a="http://schemas.openxmlformats.org/drawingml/2006/main" xmlns:r="http://schemas.openxmlformats.org/officeDocument/2006/relationships" xmlns:p="http://schemas.openxmlformats.org/presentationml/2006/main">
  <p:tag name="OP_SCP_ITEM_INDEX" val="3"/>
</p:tagLst>
</file>

<file path=ppt/tags/tag342.xml><?xml version="1.0" encoding="utf-8"?>
<p:tagLst xmlns:a="http://schemas.openxmlformats.org/drawingml/2006/main" xmlns:r="http://schemas.openxmlformats.org/officeDocument/2006/relationships" xmlns:p="http://schemas.openxmlformats.org/presentationml/2006/main">
  <p:tag name="OP_SCP_ITEM_INDEX" val="2"/>
</p:tagLst>
</file>

<file path=ppt/tags/tag343.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
</p:tagLst>
</file>

<file path=ppt/tags/tag34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345.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346.xml><?xml version="1.0" encoding="utf-8"?>
<p:tagLst xmlns:a="http://schemas.openxmlformats.org/drawingml/2006/main" xmlns:r="http://schemas.openxmlformats.org/officeDocument/2006/relationships" xmlns:p="http://schemas.openxmlformats.org/presentationml/2006/main">
  <p:tag name="OP_SCP_ITEM_INDEX" val="2"/>
</p:tagLst>
</file>

<file path=ppt/tags/tag347.xml><?xml version="1.0" encoding="utf-8"?>
<p:tagLst xmlns:a="http://schemas.openxmlformats.org/drawingml/2006/main" xmlns:r="http://schemas.openxmlformats.org/officeDocument/2006/relationships" xmlns:p="http://schemas.openxmlformats.org/presentationml/2006/main">
  <p:tag name="OP_SCP_ITEM_INDEX" val="1"/>
</p:tagLst>
</file>

<file path=ppt/tags/tag34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34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
</p:tagLst>
</file>

<file path=ppt/tags/tag350.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351.xml><?xml version="1.0" encoding="utf-8"?>
<p:tagLst xmlns:a="http://schemas.openxmlformats.org/drawingml/2006/main" xmlns:r="http://schemas.openxmlformats.org/officeDocument/2006/relationships" xmlns:p="http://schemas.openxmlformats.org/presentationml/2006/main">
  <p:tag name="OP_SCP_ITEM_INDEX" val="1"/>
</p:tagLst>
</file>

<file path=ppt/tags/tag352.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41"/>
  <p:tag name="OP_SCP_COMPONENT_INFO" val="{&quot;title&quot;:&quot;渐变2项列表PPT组件&quot;,&quot;description&quot;:&quot;渐变2项列表PPT组件&quot;,&quot;keywords&quot;:[&quot;渐变&quot;,&quot;2项&quot;,&quot;列表&quot;,&quot;PPT组件&quot;],&quot;labels&quot;:[]}"/>
  <p:tag name="OP_SCP_GROUP_ID" val="e2292e4c-04d8-b0eb-431f-cdd2e2ce3ff0"/>
  <p:tag name="OP_SCP_ITEM_COUNT" val="2"/>
</p:tagLst>
</file>

<file path=ppt/tags/tag35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354.xml><?xml version="1.0" encoding="utf-8"?>
<p:tagLst xmlns:a="http://schemas.openxmlformats.org/drawingml/2006/main" xmlns:r="http://schemas.openxmlformats.org/officeDocument/2006/relationships" xmlns:p="http://schemas.openxmlformats.org/presentationml/2006/main">
  <p:tag name="OP_SCP_ITEM_INDEX" val="2"/>
</p:tagLst>
</file>

<file path=ppt/tags/tag355.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
</p:tagLst>
</file>

<file path=ppt/tags/tag35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357.xml><?xml version="1.0" encoding="utf-8"?>
<p:tagLst xmlns:a="http://schemas.openxmlformats.org/drawingml/2006/main" xmlns:r="http://schemas.openxmlformats.org/officeDocument/2006/relationships" xmlns:p="http://schemas.openxmlformats.org/presentationml/2006/main">
  <p:tag name="OP_SCP_ITEM_INDEX" val="1"/>
</p:tagLst>
</file>

<file path=ppt/tags/tag35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
</p:tagLst>
</file>

<file path=ppt/tags/tag35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360.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927"/>
  <p:tag name="OP_SCP_COMPONENT_INFO" val="{&quot;title&quot;:&quot;简约风列表_3项&quot;,&quot;description&quot;:&quot;蓝色,3项&quot;,&quot;keywords&quot;:[&quot;蓝色&quot;,&quot;3项&quot;],&quot;labels&quot;:[]}"/>
  <p:tag name="OP_SCP_GROUP_ID" val="b8d99be3-46f9-32f8-9823-e4808276a9e3"/>
  <p:tag name="OP_SCP_ITEM_COUNT" val="3"/>
</p:tagLst>
</file>

<file path=ppt/tags/tag361.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36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363.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单击此处添加文本单击此处添加文本单击此处。"/>
</p:tagLst>
</file>

<file path=ppt/tags/tag364.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36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36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单击此处。"/>
</p:tagLst>
</file>

<file path=ppt/tags/tag367.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29"/>
  <p:tag name="OP_SCP_COMPONENT_INFO" val="{&quot;title&quot;:&quot;扁平3项纯文本PPT组件&quot;,&quot;description&quot;:&quot;扁平3项纯文本PPT组件&quot;,&quot;keywords&quot;:[&quot;扁平&quot;,&quot;3项&quot;,&quot;纯文本&quot;,&quot;PPT组件&quot;],&quot;labels&quot;:[]}"/>
  <p:tag name="OP_SCP_GROUP_ID" val="ef7c8520-5870-154c-9fe2-daae3c374e0e"/>
  <p:tag name="OP_SCP_ITEM_COUNT" val="3"/>
</p:tagLst>
</file>

<file path=ppt/tags/tag36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36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37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371.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009"/>
  <p:tag name="OP_SCP_COMPONENT_INFO" val="{&quot;title&quot;:&quot;阴影4项列表PPT组件&quot;,&quot;description&quot;:&quot;阴影4项列表PPT组件：四项列表布局，阴影设计，信息展示简洁清晰。&quot;,&quot;keywords&quot;:[&quot;阴影&quot;,&quot;4项&quot;,&quot;列表&quot;,&quot;PPT组件&quot;],&quot;labels&quot;:[]}"/>
  <p:tag name="OP_SCP_GROUP_ID" val="88fab6e5-0ffa-30b5-9373-417eed8cc267"/>
  <p:tag name="OP_SCP_ITEM_COUNT" val="4"/>
</p:tagLst>
</file>

<file path=ppt/tags/tag372.xml><?xml version="1.0" encoding="utf-8"?>
<p:tagLst xmlns:a="http://schemas.openxmlformats.org/drawingml/2006/main" xmlns:r="http://schemas.openxmlformats.org/officeDocument/2006/relationships" xmlns:p="http://schemas.openxmlformats.org/presentationml/2006/main">
  <p:tag name="OP_SCP_ITEM_INDEX" val="4"/>
</p:tagLst>
</file>

<file path=ppt/tags/tag373.xml><?xml version="1.0" encoding="utf-8"?>
<p:tagLst xmlns:a="http://schemas.openxmlformats.org/drawingml/2006/main" xmlns:r="http://schemas.openxmlformats.org/officeDocument/2006/relationships" xmlns:p="http://schemas.openxmlformats.org/presentationml/2006/main">
  <p:tag name="OP_SCP_SHAPE_TYPE" val="Index"/>
  <p:tag name="OP_SCP_ITEM_INDEX" val="4"/>
  <p:tag name="OP_SCP_DEFAULT_TEXT" val="4"/>
</p:tagLst>
</file>

<file path=ppt/tags/tag37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添加标题"/>
</p:tagLst>
</file>

<file path=ppt/tags/tag375.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4"/>
</p:tagLst>
</file>

<file path=ppt/tags/tag376.xml><?xml version="1.0" encoding="utf-8"?>
<p:tagLst xmlns:a="http://schemas.openxmlformats.org/drawingml/2006/main" xmlns:r="http://schemas.openxmlformats.org/officeDocument/2006/relationships" xmlns:p="http://schemas.openxmlformats.org/presentationml/2006/main">
  <p:tag name="OP_SCP_ITEM_INDEX" val="3"/>
</p:tagLst>
</file>

<file path=ppt/tags/tag377.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3"/>
</p:tagLst>
</file>

<file path=ppt/tags/tag37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379.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3"/>
</p:tagLst>
</file>

<file path=ppt/tags/tag380.xml><?xml version="1.0" encoding="utf-8"?>
<p:tagLst xmlns:a="http://schemas.openxmlformats.org/drawingml/2006/main" xmlns:r="http://schemas.openxmlformats.org/officeDocument/2006/relationships" xmlns:p="http://schemas.openxmlformats.org/presentationml/2006/main">
  <p:tag name="OP_SCP_ITEM_INDEX" val="2"/>
</p:tagLst>
</file>

<file path=ppt/tags/tag381.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2"/>
</p:tagLst>
</file>

<file path=ppt/tags/tag38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383.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
</p:tagLst>
</file>

<file path=ppt/tags/tag384.xml><?xml version="1.0" encoding="utf-8"?>
<p:tagLst xmlns:a="http://schemas.openxmlformats.org/drawingml/2006/main" xmlns:r="http://schemas.openxmlformats.org/officeDocument/2006/relationships" xmlns:p="http://schemas.openxmlformats.org/presentationml/2006/main">
  <p:tag name="OP_SCP_ITEM_INDEX" val="1"/>
</p:tagLst>
</file>

<file path=ppt/tags/tag385.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1"/>
</p:tagLst>
</file>

<file path=ppt/tags/tag38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387.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1"/>
</p:tagLst>
</file>

<file path=ppt/tags/tag388.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009"/>
  <p:tag name="OP_SCP_COMPONENT_INFO" val="{&quot;title&quot;:&quot;阴影4项列表PPT组件&quot;,&quot;description&quot;:&quot;阴影4项列表PPT组件：四项列表布局，阴影设计，信息展示简洁清晰。&quot;,&quot;keywords&quot;:[&quot;阴影&quot;,&quot;4项&quot;,&quot;列表&quot;,&quot;PPT组件&quot;],&quot;labels&quot;:[]}"/>
  <p:tag name="OP_SCP_GROUP_ID" val="88fab6e5-0ffa-30b5-9373-417eed8cc267"/>
  <p:tag name="OP_SCP_ITEM_COUNT" val="4"/>
</p:tagLst>
</file>

<file path=ppt/tags/tag389.xml><?xml version="1.0" encoding="utf-8"?>
<p:tagLst xmlns:a="http://schemas.openxmlformats.org/drawingml/2006/main" xmlns:r="http://schemas.openxmlformats.org/officeDocument/2006/relationships" xmlns:p="http://schemas.openxmlformats.org/presentationml/2006/main">
  <p:tag name="OP_SCP_ITEM_INDEX" val="4"/>
</p:tagLst>
</file>

<file path=ppt/tags/tag390.xml><?xml version="1.0" encoding="utf-8"?>
<p:tagLst xmlns:a="http://schemas.openxmlformats.org/drawingml/2006/main" xmlns:r="http://schemas.openxmlformats.org/officeDocument/2006/relationships" xmlns:p="http://schemas.openxmlformats.org/presentationml/2006/main">
  <p:tag name="OP_SCP_SHAPE_TYPE" val="Index"/>
  <p:tag name="OP_SCP_ITEM_INDEX" val="4"/>
  <p:tag name="OP_SCP_DEFAULT_TEXT" val="4"/>
</p:tagLst>
</file>

<file path=ppt/tags/tag39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添加标题"/>
</p:tagLst>
</file>

<file path=ppt/tags/tag392.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4"/>
</p:tagLst>
</file>

<file path=ppt/tags/tag393.xml><?xml version="1.0" encoding="utf-8"?>
<p:tagLst xmlns:a="http://schemas.openxmlformats.org/drawingml/2006/main" xmlns:r="http://schemas.openxmlformats.org/officeDocument/2006/relationships" xmlns:p="http://schemas.openxmlformats.org/presentationml/2006/main">
  <p:tag name="OP_SCP_ITEM_INDEX" val="3"/>
</p:tagLst>
</file>

<file path=ppt/tags/tag394.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3"/>
</p:tagLst>
</file>

<file path=ppt/tags/tag39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396.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3"/>
</p:tagLst>
</file>

<file path=ppt/tags/tag397.xml><?xml version="1.0" encoding="utf-8"?>
<p:tagLst xmlns:a="http://schemas.openxmlformats.org/drawingml/2006/main" xmlns:r="http://schemas.openxmlformats.org/officeDocument/2006/relationships" xmlns:p="http://schemas.openxmlformats.org/presentationml/2006/main">
  <p:tag name="OP_SCP_ITEM_INDEX" val="2"/>
</p:tagLst>
</file>

<file path=ppt/tags/tag398.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2"/>
</p:tagLst>
</file>

<file path=ppt/tags/tag39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400.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
</p:tagLst>
</file>

<file path=ppt/tags/tag401.xml><?xml version="1.0" encoding="utf-8"?>
<p:tagLst xmlns:a="http://schemas.openxmlformats.org/drawingml/2006/main" xmlns:r="http://schemas.openxmlformats.org/officeDocument/2006/relationships" xmlns:p="http://schemas.openxmlformats.org/presentationml/2006/main">
  <p:tag name="OP_SCP_ITEM_INDEX" val="1"/>
</p:tagLst>
</file>

<file path=ppt/tags/tag402.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1"/>
</p:tagLst>
</file>

<file path=ppt/tags/tag40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404.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1"/>
</p:tagLst>
</file>

<file path=ppt/tags/tag405.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29"/>
  <p:tag name="OP_SCP_COMPONENT_INFO" val="{&quot;title&quot;:&quot;扁平3项纯文本PPT组件&quot;,&quot;description&quot;:&quot;扁平3项纯文本PPT组件&quot;,&quot;keywords&quot;:[&quot;扁平&quot;,&quot;3项&quot;,&quot;纯文本&quot;,&quot;PPT组件&quot;],&quot;labels&quot;:[]}"/>
  <p:tag name="OP_SCP_GROUP_ID" val="ef7c8520-5870-154c-9fe2-daae3c374e0e"/>
  <p:tag name="OP_SCP_ITEM_COUNT" val="3"/>
</p:tagLst>
</file>

<file path=ppt/tags/tag40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40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40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409.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29"/>
  <p:tag name="OP_SCP_COMPONENT_INFO" val="{&quot;title&quot;:&quot;扁平3项纯文本PPT组件&quot;,&quot;description&quot;:&quot;扁平3项纯文本PPT组件&quot;,&quot;keywords&quot;:[&quot;扁平&quot;,&quot;3项&quot;,&quot;纯文本&quot;,&quot;PPT组件&quot;],&quot;labels&quot;:[]}"/>
  <p:tag name="OP_SCP_GROUP_ID" val="ef7c8520-5870-154c-9fe2-daae3c374e0e"/>
  <p:tag name="OP_SCP_ITEM_COUNT" val="3"/>
</p:tagLst>
</file>

<file path=ppt/tags/tag41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41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41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413.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29"/>
  <p:tag name="OP_SCP_COMPONENT_INFO" val="{&quot;title&quot;:&quot;扁平3项纯文本PPT组件&quot;,&quot;description&quot;:&quot;扁平3项纯文本PPT组件&quot;,&quot;keywords&quot;:[&quot;扁平&quot;,&quot;3项&quot;,&quot;纯文本&quot;,&quot;PPT组件&quot;],&quot;labels&quot;:[]}"/>
  <p:tag name="OP_SCP_GROUP_ID" val="ef7c8520-5870-154c-9fe2-daae3c374e0e"/>
  <p:tag name="OP_SCP_ITEM_COUNT" val="3"/>
</p:tagLst>
</file>

<file path=ppt/tags/tag41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41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41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417.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8"/>
  <p:tag name="OP_SCP_COMPONENT_INFO" val="{&quot;title&quot;:&quot;渐变阴影1项列表PPT组件&quot;,&quot;description&quot;:&quot;渐变阴影1项列表PPT组件&quot;,&quot;keywords&quot;:[&quot;渐变&quot;,&quot;阴影&quot;,&quot;1项&quot;,&quot;列表&quot;,&quot;PPT组件&quot;],&quot;labels&quot;:[]}"/>
  <p:tag name="OP_SCP_GROUP_ID" val="15a7d6af-d08e-5c6b-3d5d-176e5c157829"/>
  <p:tag name="OP_SCP_ITEM_COUNT" val="1"/>
</p:tagLst>
</file>

<file path=ppt/tags/tag418.xml><?xml version="1.0" encoding="utf-8"?>
<p:tagLst xmlns:a="http://schemas.openxmlformats.org/drawingml/2006/main" xmlns:r="http://schemas.openxmlformats.org/officeDocument/2006/relationships" xmlns:p="http://schemas.openxmlformats.org/presentationml/2006/main">
  <p:tag name="OP_SCP_ITEM_INDEX" val="1"/>
</p:tagLst>
</file>

<file path=ppt/tags/tag41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420.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
</p:tagLst>
</file>

<file path=ppt/tags/tag421.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8"/>
  <p:tag name="OP_SCP_COMPONENT_INFO" val="{&quot;title&quot;:&quot;渐变阴影1项列表PPT组件&quot;,&quot;description&quot;:&quot;渐变阴影1项列表PPT组件&quot;,&quot;keywords&quot;:[&quot;渐变&quot;,&quot;阴影&quot;,&quot;1项&quot;,&quot;列表&quot;,&quot;PPT组件&quot;],&quot;labels&quot;:[]}"/>
  <p:tag name="OP_SCP_GROUP_ID" val="15a7d6af-d08e-5c6b-3d5d-176e5c157829"/>
  <p:tag name="OP_SCP_ITEM_COUNT" val="1"/>
</p:tagLst>
</file>

<file path=ppt/tags/tag422.xml><?xml version="1.0" encoding="utf-8"?>
<p:tagLst xmlns:a="http://schemas.openxmlformats.org/drawingml/2006/main" xmlns:r="http://schemas.openxmlformats.org/officeDocument/2006/relationships" xmlns:p="http://schemas.openxmlformats.org/presentationml/2006/main">
  <p:tag name="OP_SCP_ITEM_INDEX" val="1"/>
</p:tagLst>
</file>

<file path=ppt/tags/tag42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424.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
</p:tagLst>
</file>

<file path=ppt/tags/tag425.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8"/>
  <p:tag name="OP_SCP_COMPONENT_INFO" val="{&quot;title&quot;:&quot;渐变阴影1项列表PPT组件&quot;,&quot;description&quot;:&quot;渐变阴影1项列表PPT组件&quot;,&quot;keywords&quot;:[&quot;渐变&quot;,&quot;阴影&quot;,&quot;1项&quot;,&quot;列表&quot;,&quot;PPT组件&quot;],&quot;labels&quot;:[]}"/>
  <p:tag name="OP_SCP_GROUP_ID" val="15a7d6af-d08e-5c6b-3d5d-176e5c157829"/>
  <p:tag name="OP_SCP_ITEM_COUNT" val="1"/>
</p:tagLst>
</file>

<file path=ppt/tags/tag426.xml><?xml version="1.0" encoding="utf-8"?>
<p:tagLst xmlns:a="http://schemas.openxmlformats.org/drawingml/2006/main" xmlns:r="http://schemas.openxmlformats.org/officeDocument/2006/relationships" xmlns:p="http://schemas.openxmlformats.org/presentationml/2006/main">
  <p:tag name="OP_SCP_ITEM_INDEX" val="1"/>
</p:tagLst>
</file>

<file path=ppt/tags/tag42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42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
</p:tagLst>
</file>

<file path=ppt/tags/tag429.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973"/>
  <p:tag name="OP_SCP_COMPONENT_INFO" val="{&quot;title&quot;:&quot;渐变4项列表PPT组件&quot;,&quot;description&quot;:&quot;渐变4项列表PPT组件：四项列表布局，渐变设计，信息展示简洁清晰。&quot;,&quot;keywords&quot;:[&quot;渐变&quot;,&quot;4项&quot;,&quot;列表&quot;,&quot;PPT组件&quot;],&quot;labels&quot;:[]}"/>
  <p:tag name="OP_SCP_GROUP_ID" val="5b0a17f7-387d-ba9c-952c-dadbb26c3a5d"/>
  <p:tag name="OP_SCP_ITEM_COUNT" val="4"/>
</p:tagLst>
</file>

<file path=ppt/tags/tag430.xml><?xml version="1.0" encoding="utf-8"?>
<p:tagLst xmlns:a="http://schemas.openxmlformats.org/drawingml/2006/main" xmlns:r="http://schemas.openxmlformats.org/officeDocument/2006/relationships" xmlns:p="http://schemas.openxmlformats.org/presentationml/2006/main">
  <p:tag name="OP_SCP_ITEM_INDEX" val="4"/>
</p:tagLst>
</file>

<file path=ppt/tags/tag431.xml><?xml version="1.0" encoding="utf-8"?>
<p:tagLst xmlns:a="http://schemas.openxmlformats.org/drawingml/2006/main" xmlns:r="http://schemas.openxmlformats.org/officeDocument/2006/relationships" xmlns:p="http://schemas.openxmlformats.org/presentationml/2006/main">
  <p:tag name="OP_SCP_ITEM_INDEX" val="4"/>
</p:tagLst>
</file>

<file path=ppt/tags/tag43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添加标题"/>
</p:tagLst>
</file>

<file path=ppt/tags/tag433.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4"/>
</p:tagLst>
</file>

<file path=ppt/tags/tag434.xml><?xml version="1.0" encoding="utf-8"?>
<p:tagLst xmlns:a="http://schemas.openxmlformats.org/drawingml/2006/main" xmlns:r="http://schemas.openxmlformats.org/officeDocument/2006/relationships" xmlns:p="http://schemas.openxmlformats.org/presentationml/2006/main">
  <p:tag name="OP_SCP_ITEM_INDEX" val="3"/>
</p:tagLst>
</file>

<file path=ppt/tags/tag435.xml><?xml version="1.0" encoding="utf-8"?>
<p:tagLst xmlns:a="http://schemas.openxmlformats.org/drawingml/2006/main" xmlns:r="http://schemas.openxmlformats.org/officeDocument/2006/relationships" xmlns:p="http://schemas.openxmlformats.org/presentationml/2006/main">
  <p:tag name="OP_SCP_ITEM_INDEX" val="3"/>
</p:tagLst>
</file>

<file path=ppt/tags/tag43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437.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3"/>
</p:tagLst>
</file>

<file path=ppt/tags/tag438.xml><?xml version="1.0" encoding="utf-8"?>
<p:tagLst xmlns:a="http://schemas.openxmlformats.org/drawingml/2006/main" xmlns:r="http://schemas.openxmlformats.org/officeDocument/2006/relationships" xmlns:p="http://schemas.openxmlformats.org/presentationml/2006/main">
  <p:tag name="OP_SCP_ITEM_INDEX" val="2"/>
</p:tagLst>
</file>

<file path=ppt/tags/tag439.xml><?xml version="1.0" encoding="utf-8"?>
<p:tagLst xmlns:a="http://schemas.openxmlformats.org/drawingml/2006/main" xmlns:r="http://schemas.openxmlformats.org/officeDocument/2006/relationships" xmlns:p="http://schemas.openxmlformats.org/presentationml/2006/main">
  <p:tag name="OP_SCP_ITEM_INDEX" val="2"/>
</p:tagLst>
</file>

<file path=ppt/tags/tag44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441.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
</p:tagLst>
</file>

<file path=ppt/tags/tag442.xml><?xml version="1.0" encoding="utf-8"?>
<p:tagLst xmlns:a="http://schemas.openxmlformats.org/drawingml/2006/main" xmlns:r="http://schemas.openxmlformats.org/officeDocument/2006/relationships" xmlns:p="http://schemas.openxmlformats.org/presentationml/2006/main">
  <p:tag name="OP_SCP_ITEM_INDEX" val="1"/>
</p:tagLst>
</file>

<file path=ppt/tags/tag443.xml><?xml version="1.0" encoding="utf-8"?>
<p:tagLst xmlns:a="http://schemas.openxmlformats.org/drawingml/2006/main" xmlns:r="http://schemas.openxmlformats.org/officeDocument/2006/relationships" xmlns:p="http://schemas.openxmlformats.org/presentationml/2006/main">
  <p:tag name="OP_SCP_ITEM_INDEX" val="1"/>
</p:tagLst>
</file>

<file path=ppt/tags/tag44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445.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1"/>
</p:tagLst>
</file>

<file path=ppt/tags/tag446.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34"/>
  <p:tag name="OP_SCP_COMPONENT_INFO" val="{&quot;title&quot;:&quot;扁平3项列表PPT组件&quot;,&quot;description&quot;:&quot;扁平3项列表PPT组件&quot;,&quot;keywords&quot;:[&quot;扁平&quot;,&quot;3项&quot;,&quot;列表&quot;,&quot;PPT组件&quot;],&quot;labels&quot;:[]}"/>
  <p:tag name="OP_SCP_GROUP_ID" val="c43786e3-ca88-9a76-de86-377acc86b5ff"/>
  <p:tag name="OP_SCP_ITEM_COUNT" val="3"/>
</p:tagLst>
</file>

<file path=ppt/tags/tag447.xml><?xml version="1.0" encoding="utf-8"?>
<p:tagLst xmlns:a="http://schemas.openxmlformats.org/drawingml/2006/main" xmlns:r="http://schemas.openxmlformats.org/officeDocument/2006/relationships" xmlns:p="http://schemas.openxmlformats.org/presentationml/2006/main">
  <p:tag name="OP_SCP_ITEM_INDEX" val="3"/>
</p:tagLst>
</file>

<file path=ppt/tags/tag44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449.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450.xml><?xml version="1.0" encoding="utf-8"?>
<p:tagLst xmlns:a="http://schemas.openxmlformats.org/drawingml/2006/main" xmlns:r="http://schemas.openxmlformats.org/officeDocument/2006/relationships" xmlns:p="http://schemas.openxmlformats.org/presentationml/2006/main">
  <p:tag name="OP_SCP_ITEM_INDEX" val="3"/>
</p:tagLst>
</file>

<file path=ppt/tags/tag451.xml><?xml version="1.0" encoding="utf-8"?>
<p:tagLst xmlns:a="http://schemas.openxmlformats.org/drawingml/2006/main" xmlns:r="http://schemas.openxmlformats.org/officeDocument/2006/relationships" xmlns:p="http://schemas.openxmlformats.org/presentationml/2006/main">
  <p:tag name="OP_SCP_ITEM_INDEX" val="2"/>
</p:tagLst>
</file>

<file path=ppt/tags/tag45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453.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454.xml><?xml version="1.0" encoding="utf-8"?>
<p:tagLst xmlns:a="http://schemas.openxmlformats.org/drawingml/2006/main" xmlns:r="http://schemas.openxmlformats.org/officeDocument/2006/relationships" xmlns:p="http://schemas.openxmlformats.org/presentationml/2006/main">
  <p:tag name="OP_SCP_ITEM_INDEX" val="2"/>
</p:tagLst>
</file>

<file path=ppt/tags/tag455.xml><?xml version="1.0" encoding="utf-8"?>
<p:tagLst xmlns:a="http://schemas.openxmlformats.org/drawingml/2006/main" xmlns:r="http://schemas.openxmlformats.org/officeDocument/2006/relationships" xmlns:p="http://schemas.openxmlformats.org/presentationml/2006/main">
  <p:tag name="OP_SCP_ITEM_INDEX" val="1"/>
</p:tagLst>
</file>

<file path=ppt/tags/tag45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457.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458.xml><?xml version="1.0" encoding="utf-8"?>
<p:tagLst xmlns:a="http://schemas.openxmlformats.org/drawingml/2006/main" xmlns:r="http://schemas.openxmlformats.org/officeDocument/2006/relationships" xmlns:p="http://schemas.openxmlformats.org/presentationml/2006/main">
  <p:tag name="OP_SCP_ITEM_INDEX" val="1"/>
</p:tagLst>
</file>

<file path=ppt/tags/tag459.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996"/>
  <p:tag name="OP_SCP_COMPONENT_INFO" val="{&quot;title&quot;:&quot;阴影2项列表PPT组件&quot;,&quot;description&quot;:&quot;阴影2项列表PPT组件：双项列表布局，阴影设计，信息展示清晰美观。&quot;,&quot;keywords&quot;:[&quot;阴影&quot;,&quot;2项&quot;,&quot;列表&quot;,&quot;PPT组件&quot;],&quot;labels&quot;:[]}"/>
  <p:tag name="OP_SCP_GROUP_ID" val="b8bc9425-7e4f-5dea-476d-68d025d9b766"/>
  <p:tag name="OP_SCP_ITEM_COUNT" val="2"/>
</p:tagLst>
</file>

<file path=ppt/tags/tag460.xml><?xml version="1.0" encoding="utf-8"?>
<p:tagLst xmlns:a="http://schemas.openxmlformats.org/drawingml/2006/main" xmlns:r="http://schemas.openxmlformats.org/officeDocument/2006/relationships" xmlns:p="http://schemas.openxmlformats.org/presentationml/2006/main">
  <p:tag name="OP_SCP_ITEM_INDEX" val="2"/>
</p:tagLst>
</file>

<file path=ppt/tags/tag461.xml><?xml version="1.0" encoding="utf-8"?>
<p:tagLst xmlns:a="http://schemas.openxmlformats.org/drawingml/2006/main" xmlns:r="http://schemas.openxmlformats.org/officeDocument/2006/relationships" xmlns:p="http://schemas.openxmlformats.org/presentationml/2006/main">
  <p:tag name="OP_SCP_ITEM_INDEX" val="2"/>
</p:tagLst>
</file>

<file path=ppt/tags/tag46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02 添加标题"/>
</p:tagLst>
</file>

<file path=ppt/tags/tag463.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
</p:tagLst>
</file>

<file path=ppt/tags/tag464.xml><?xml version="1.0" encoding="utf-8"?>
<p:tagLst xmlns:a="http://schemas.openxmlformats.org/drawingml/2006/main" xmlns:r="http://schemas.openxmlformats.org/officeDocument/2006/relationships" xmlns:p="http://schemas.openxmlformats.org/presentationml/2006/main">
  <p:tag name="OP_SCP_ITEM_INDEX" val="1"/>
</p:tagLst>
</file>

<file path=ppt/tags/tag465.xml><?xml version="1.0" encoding="utf-8"?>
<p:tagLst xmlns:a="http://schemas.openxmlformats.org/drawingml/2006/main" xmlns:r="http://schemas.openxmlformats.org/officeDocument/2006/relationships" xmlns:p="http://schemas.openxmlformats.org/presentationml/2006/main">
  <p:tag name="OP_SCP_ITEM_INDEX" val="1"/>
</p:tagLst>
</file>

<file path=ppt/tags/tag46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01 添加标题"/>
</p:tagLst>
</file>

<file path=ppt/tags/tag46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
</p:tagLst>
</file>

<file path=ppt/tags/tag468.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204"/>
  <p:tag name="OP_SCP_COMPONENT_INFO" val="{&quot;title&quot;:&quot;渐变2项循环PPT组件&quot;,&quot;description&quot;:&quot;渐变2项循环PPT组件&quot;,&quot;keywords&quot;:[&quot;渐变&quot;,&quot;2项&quot;,&quot;循环&quot;,&quot;PPT组件&quot;],&quot;labels&quot;:[]}"/>
  <p:tag name="OP_SCP_GROUP_ID" val="9a44e368-812a-0d11-5275-808868126b18"/>
  <p:tag name="OP_SCP_ITEM_COUNT" val="2"/>
</p:tagLst>
</file>

<file path=ppt/tags/tag469.xml><?xml version="1.0" encoding="utf-8"?>
<p:tagLst xmlns:a="http://schemas.openxmlformats.org/drawingml/2006/main" xmlns:r="http://schemas.openxmlformats.org/officeDocument/2006/relationships" xmlns:p="http://schemas.openxmlformats.org/presentationml/2006/main">
  <p:tag name="OP_SCP_ITEM_INDEX" val="2"/>
</p:tagLst>
</file>

<file path=ppt/tags/tag47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471.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
</p:tagLst>
</file>

<file path=ppt/tags/tag472.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473.xml><?xml version="1.0" encoding="utf-8"?>
<p:tagLst xmlns:a="http://schemas.openxmlformats.org/drawingml/2006/main" xmlns:r="http://schemas.openxmlformats.org/officeDocument/2006/relationships" xmlns:p="http://schemas.openxmlformats.org/presentationml/2006/main">
  <p:tag name="OP_SCP_ITEM_INDEX" val="2"/>
</p:tagLst>
</file>

<file path=ppt/tags/tag474.xml><?xml version="1.0" encoding="utf-8"?>
<p:tagLst xmlns:a="http://schemas.openxmlformats.org/drawingml/2006/main" xmlns:r="http://schemas.openxmlformats.org/officeDocument/2006/relationships" xmlns:p="http://schemas.openxmlformats.org/presentationml/2006/main">
  <p:tag name="OP_SCP_ITEM_INDEX" val="1"/>
</p:tagLst>
</file>

<file path=ppt/tags/tag47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47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
</p:tagLst>
</file>

<file path=ppt/tags/tag477.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478.xml><?xml version="1.0" encoding="utf-8"?>
<p:tagLst xmlns:a="http://schemas.openxmlformats.org/drawingml/2006/main" xmlns:r="http://schemas.openxmlformats.org/officeDocument/2006/relationships" xmlns:p="http://schemas.openxmlformats.org/presentationml/2006/main">
  <p:tag name="OP_SCP_ITEM_INDEX" val="1"/>
</p:tagLst>
</file>

<file path=ppt/tags/tag479.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15"/>
  <p:tag name="OP_SCP_COMPONENT_INFO" val="{&quot;title&quot;:&quot;渐变阴影2项列表PPT组件&quot;,&quot;description&quot;:&quot;渐变阴影2项列表PPT组件&quot;,&quot;keywords&quot;:[&quot;渐变&quot;,&quot;阴影&quot;,&quot;2项&quot;,&quot;列表&quot;,&quot;PPT组件&quot;],&quot;labels&quot;:[]}"/>
  <p:tag name="OP_SCP_GROUP_ID" val="e6a0d15a-4667-9758-12fc-4fce2551075f"/>
  <p:tag name="OP_SCP_ITEM_COUNT" val="2"/>
</p:tagLst>
</file>

<file path=ppt/tags/tag480.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55"/>
  <p:tag name="OP_SCP_COMPONENT_INFO" val="{&quot;title&quot;:&quot;渐变3项流程PPT组件&quot;,&quot;description&quot;:&quot;渐变3项流程PPT组件&quot;,&quot;keywords&quot;:[&quot;渐变&quot;,&quot;3项&quot;,&quot;流程&quot;,&quot;PPT组件&quot;],&quot;labels&quot;:[]}"/>
  <p:tag name="OP_SCP_GROUP_ID" val="73e3efb6-88c8-92ad-5563-d0415433b56c"/>
  <p:tag name="OP_SCP_ITEM_COUNT" val="3"/>
</p:tagLst>
</file>

<file path=ppt/tags/tag48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482.xml><?xml version="1.0" encoding="utf-8"?>
<p:tagLst xmlns:a="http://schemas.openxmlformats.org/drawingml/2006/main" xmlns:r="http://schemas.openxmlformats.org/officeDocument/2006/relationships" xmlns:p="http://schemas.openxmlformats.org/presentationml/2006/main">
  <p:tag name="OP_SCP_ITEM_INDEX" val="3"/>
</p:tagLst>
</file>

<file path=ppt/tags/tag483.xml><?xml version="1.0" encoding="utf-8"?>
<p:tagLst xmlns:a="http://schemas.openxmlformats.org/drawingml/2006/main" xmlns:r="http://schemas.openxmlformats.org/officeDocument/2006/relationships" xmlns:p="http://schemas.openxmlformats.org/presentationml/2006/main">
  <p:tag name="OP_SCP_ITEM_INDEX" val="3"/>
</p:tagLst>
</file>

<file path=ppt/tags/tag484.xml><?xml version="1.0" encoding="utf-8"?>
<p:tagLst xmlns:a="http://schemas.openxmlformats.org/drawingml/2006/main" xmlns:r="http://schemas.openxmlformats.org/officeDocument/2006/relationships" xmlns:p="http://schemas.openxmlformats.org/presentationml/2006/main">
  <p:tag name="OP_SCP_ITEM_INDEX" val="3"/>
</p:tagLst>
</file>

<file path=ppt/tags/tag485.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
</p:tagLst>
</file>

<file path=ppt/tags/tag48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487.xml><?xml version="1.0" encoding="utf-8"?>
<p:tagLst xmlns:a="http://schemas.openxmlformats.org/drawingml/2006/main" xmlns:r="http://schemas.openxmlformats.org/officeDocument/2006/relationships" xmlns:p="http://schemas.openxmlformats.org/presentationml/2006/main">
  <p:tag name="OP_SCP_ITEM_INDEX" val="2"/>
</p:tagLst>
</file>

<file path=ppt/tags/tag488.xml><?xml version="1.0" encoding="utf-8"?>
<p:tagLst xmlns:a="http://schemas.openxmlformats.org/drawingml/2006/main" xmlns:r="http://schemas.openxmlformats.org/officeDocument/2006/relationships" xmlns:p="http://schemas.openxmlformats.org/presentationml/2006/main">
  <p:tag name="OP_SCP_ITEM_INDEX" val="2"/>
</p:tagLst>
</file>

<file path=ppt/tags/tag489.xml><?xml version="1.0" encoding="utf-8"?>
<p:tagLst xmlns:a="http://schemas.openxmlformats.org/drawingml/2006/main" xmlns:r="http://schemas.openxmlformats.org/officeDocument/2006/relationships" xmlns:p="http://schemas.openxmlformats.org/presentationml/2006/main">
  <p:tag name="OP_SCP_ITEM_INDEX" val="2"/>
</p:tagLst>
</file>

<file path=ppt/tags/tag490.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
</p:tagLst>
</file>

<file path=ppt/tags/tag49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492.xml><?xml version="1.0" encoding="utf-8"?>
<p:tagLst xmlns:a="http://schemas.openxmlformats.org/drawingml/2006/main" xmlns:r="http://schemas.openxmlformats.org/officeDocument/2006/relationships" xmlns:p="http://schemas.openxmlformats.org/presentationml/2006/main">
  <p:tag name="OP_SCP_ITEM_INDEX" val="1"/>
</p:tagLst>
</file>

<file path=ppt/tags/tag493.xml><?xml version="1.0" encoding="utf-8"?>
<p:tagLst xmlns:a="http://schemas.openxmlformats.org/drawingml/2006/main" xmlns:r="http://schemas.openxmlformats.org/officeDocument/2006/relationships" xmlns:p="http://schemas.openxmlformats.org/presentationml/2006/main">
  <p:tag name="OP_SCP_ITEM_INDEX" val="1"/>
</p:tagLst>
</file>

<file path=ppt/tags/tag494.xml><?xml version="1.0" encoding="utf-8"?>
<p:tagLst xmlns:a="http://schemas.openxmlformats.org/drawingml/2006/main" xmlns:r="http://schemas.openxmlformats.org/officeDocument/2006/relationships" xmlns:p="http://schemas.openxmlformats.org/presentationml/2006/main">
  <p:tag name="OP_SCP_ITEM_INDEX" val="1"/>
</p:tagLst>
</file>

<file path=ppt/tags/tag495.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
</p:tagLst>
</file>

<file path=ppt/tags/tag49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497.xml><?xml version="1.0" encoding="utf-8"?>
<p:tagLst xmlns:a="http://schemas.openxmlformats.org/drawingml/2006/main" xmlns:r="http://schemas.openxmlformats.org/officeDocument/2006/relationships" xmlns:p="http://schemas.openxmlformats.org/presentationml/2006/main">
  <p:tag name="OP_SCP_ITEM_INDEX" val="2"/>
</p:tagLst>
</file>

<file path=ppt/tags/tag498.xml><?xml version="1.0" encoding="utf-8"?>
<p:tagLst xmlns:a="http://schemas.openxmlformats.org/drawingml/2006/main" xmlns:r="http://schemas.openxmlformats.org/officeDocument/2006/relationships" xmlns:p="http://schemas.openxmlformats.org/presentationml/2006/main">
  <p:tag name="OP_SCP_ITEM_INDEX" val="2"/>
</p:tagLst>
</file>

<file path=ppt/tags/tag49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500.xml><?xml version="1.0" encoding="utf-8"?>
<p:tagLst xmlns:a="http://schemas.openxmlformats.org/drawingml/2006/main" xmlns:r="http://schemas.openxmlformats.org/officeDocument/2006/relationships" xmlns:p="http://schemas.openxmlformats.org/presentationml/2006/main">
  <p:tag name="OP_SCP_ITEM_INDEX" val="1"/>
</p:tagLst>
</file>

<file path=ppt/tags/tag501.xml><?xml version="1.0" encoding="utf-8"?>
<p:tagLst xmlns:a="http://schemas.openxmlformats.org/drawingml/2006/main" xmlns:r="http://schemas.openxmlformats.org/officeDocument/2006/relationships" xmlns:p="http://schemas.openxmlformats.org/presentationml/2006/main">
  <p:tag name="OP_SCP_ITEM_INDEX" val="1"/>
</p:tagLst>
</file>

<file path=ppt/tags/tag502.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977"/>
  <p:tag name="OP_SCP_COMPONENT_INFO" val="{&quot;title&quot;:&quot;渐变风总分通用型_4项&quot;,&quot;description&quot;:&quot;蓝色,4项&quot;,&quot;keywords&quot;:[&quot;蓝色&quot;,&quot;4项&quot;],&quot;labels&quot;:[]}"/>
  <p:tag name="OP_SCP_GROUP_ID" val="3f51aeb6-6b67-7338-7b14-861237693a1a"/>
  <p:tag name="OP_SCP_ITEM_COUNT" val="4"/>
</p:tagLst>
</file>

<file path=ppt/tags/tag50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添加&#10;标题"/>
</p:tagLst>
</file>

<file path=ppt/tags/tag504.xml><?xml version="1.0" encoding="utf-8"?>
<p:tagLst xmlns:a="http://schemas.openxmlformats.org/drawingml/2006/main" xmlns:r="http://schemas.openxmlformats.org/officeDocument/2006/relationships" xmlns:p="http://schemas.openxmlformats.org/presentationml/2006/main">
  <p:tag name="OP_SCP_SHAPE_TYPE" val="Body"/>
  <p:tag name="OP_SCP_ITEM_INDEX" val="4"/>
  <p:tag name="OP_SCP_DEFAULT_TEXT" val="单击此处添加文本，&#10;单击此处添加文本，&#10;单击此处添加文本，&#10;单击此处添加文本。"/>
</p:tagLst>
</file>

<file path=ppt/tags/tag505.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10;单击此处添加文本，&#10;单击此处添加文本，&#10;单击此处添加文本。"/>
</p:tagLst>
</file>

<file path=ppt/tags/tag50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10;标题"/>
</p:tagLst>
</file>

<file path=ppt/tags/tag507.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10;单击此处添加文本，&#10;单击此处添加文本，&#10;单击此处添加文本。"/>
</p:tagLst>
</file>

<file path=ppt/tags/tag50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10;标题"/>
</p:tagLst>
</file>

<file path=ppt/tags/tag50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10;标题"/>
</p:tagLst>
</file>

<file path=ppt/tags/tag510.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10;单击此处添加文本，&#10;单击此处添加文本，&#10;单击此处添加文本。"/>
</p:tagLst>
</file>

<file path=ppt/tags/tag51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0"/>
  <p:tag name="OP_SCP_DEFAULT_TEXT" val="添加标题"/>
</p:tagLst>
</file>

<file path=ppt/tags/tag512.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3416"/>
  <p:tag name="OP_SCP_COMPONENT_INFO" val="{&quot;title&quot;:&quot;扁平3项列表框架&quot;,&quot;description&quot;:&quot;蓝色,扁平,3项&quot;,&quot;keywords&quot;:[&quot;蓝色&quot;,&quot;扁平&quot;,&quot;3项&quot;],&quot;labels&quot;:[]}"/>
  <p:tag name="OP_SCP_GROUP_ID" val="5ff0d77d-8f3b-0ac1-9440-28ccf12012ae"/>
  <p:tag name="OP_SCP_ITEM_COUNT" val="3"/>
</p:tagLst>
</file>

<file path=ppt/tags/tag51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514.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机添加文本，单机添加文本&#10;单机添加文本，单机添加文本&#10;单机添加文本，单机添加文本"/>
</p:tagLst>
</file>

<file path=ppt/tags/tag51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516.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机添加文本，单机添加文本&#10;单机添加文本，单机添加文本&#10;单机添加文本，单机添加文本"/>
</p:tagLst>
</file>

<file path=ppt/tags/tag51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51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机添加文本，单机添加文本&#10;单机添加文本，单机添加文本&#10;单机添加文本，单机添加文本"/>
</p:tagLst>
</file>

<file path=ppt/tags/tag51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0"/>
  <p:tag name="OP_SCP_DEFAULT_TEXT" val="添加标题"/>
</p:tagLst>
</file>

<file path=ppt/tags/tag520.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737"/>
  <p:tag name="OP_SCP_COMPONENT_INFO" val="{&quot;title&quot;:&quot;扁平4项矩阵PPT组件&quot;,&quot;description&quot;:&quot;扁平4项矩阵PPT组件：简洁四项矩阵设计，适用于多维信息展示，布局专业。&quot;,&quot;keywords&quot;:[&quot;扁平&quot;,&quot;4项&quot;,&quot;矩阵&quot;,&quot;PPT组件&quot;],&quot;labels&quot;:[]}"/>
  <p:tag name="OP_SCP_GROUP_ID" val="f4bb3571-5cce-80a0-0a08-57a9ba11168b"/>
  <p:tag name="OP_SCP_ITEM_COUNT" val="4"/>
</p:tagLst>
</file>

<file path=ppt/tags/tag521.xml><?xml version="1.0" encoding="utf-8"?>
<p:tagLst xmlns:a="http://schemas.openxmlformats.org/drawingml/2006/main" xmlns:r="http://schemas.openxmlformats.org/officeDocument/2006/relationships" xmlns:p="http://schemas.openxmlformats.org/presentationml/2006/main">
  <p:tag name="OP_SCP_ITEM_INDEX" val="4"/>
</p:tagLst>
</file>

<file path=ppt/tags/tag52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04添加标题"/>
</p:tagLst>
</file>

<file path=ppt/tags/tag523.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4"/>
</p:tagLst>
</file>

<file path=ppt/tags/tag524.xml><?xml version="1.0" encoding="utf-8"?>
<p:tagLst xmlns:a="http://schemas.openxmlformats.org/drawingml/2006/main" xmlns:r="http://schemas.openxmlformats.org/officeDocument/2006/relationships" xmlns:p="http://schemas.openxmlformats.org/presentationml/2006/main">
  <p:tag name="OP_SCP_ITEM_INDEX" val="3"/>
</p:tagLst>
</file>

<file path=ppt/tags/tag52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03 添加标题"/>
</p:tagLst>
</file>

<file path=ppt/tags/tag526.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3"/>
</p:tagLst>
</file>

<file path=ppt/tags/tag527.xml><?xml version="1.0" encoding="utf-8"?>
<p:tagLst xmlns:a="http://schemas.openxmlformats.org/drawingml/2006/main" xmlns:r="http://schemas.openxmlformats.org/officeDocument/2006/relationships" xmlns:p="http://schemas.openxmlformats.org/presentationml/2006/main">
  <p:tag name="OP_SCP_ITEM_INDEX" val="2"/>
</p:tagLst>
</file>

<file path=ppt/tags/tag52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02 添加标题"/>
</p:tagLst>
</file>

<file path=ppt/tags/tag529.xml><?xml version="1.0" encoding="utf-8"?>
<p:tagLst xmlns:a="http://schemas.openxmlformats.org/drawingml/2006/main" xmlns:r="http://schemas.openxmlformats.org/officeDocument/2006/relationships" xmlns:p="http://schemas.openxmlformats.org/presentationml/2006/main">
  <p:tag name="OP_SCP_ITEM_INDEX" val="1"/>
</p:tagLst>
</file>

<file path=ppt/tags/tag53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01 添加标题"/>
</p:tagLst>
</file>

<file path=ppt/tags/tag531.xml><?xml version="1.0" encoding="utf-8"?>
<p:tagLst xmlns:a="http://schemas.openxmlformats.org/drawingml/2006/main" xmlns:r="http://schemas.openxmlformats.org/officeDocument/2006/relationships" xmlns:p="http://schemas.openxmlformats.org/presentationml/2006/main">
  <p:tag name="OP_SCP_ITEM_INDEX" val="1"/>
</p:tagLst>
</file>

<file path=ppt/tags/tag532.xml><?xml version="1.0" encoding="utf-8"?>
<p:tagLst xmlns:a="http://schemas.openxmlformats.org/drawingml/2006/main" xmlns:r="http://schemas.openxmlformats.org/officeDocument/2006/relationships" xmlns:p="http://schemas.openxmlformats.org/presentationml/2006/main">
  <p:tag name="OP_SCP_ITEM_INDEX" val="1"/>
</p:tagLst>
</file>

<file path=ppt/tags/tag533.xml><?xml version="1.0" encoding="utf-8"?>
<p:tagLst xmlns:a="http://schemas.openxmlformats.org/drawingml/2006/main" xmlns:r="http://schemas.openxmlformats.org/officeDocument/2006/relationships" xmlns:p="http://schemas.openxmlformats.org/presentationml/2006/main">
  <p:tag name="OP_SCP_ITEM_INDEX" val="1"/>
</p:tagLst>
</file>

<file path=ppt/tags/tag534.xml><?xml version="1.0" encoding="utf-8"?>
<p:tagLst xmlns:a="http://schemas.openxmlformats.org/drawingml/2006/main" xmlns:r="http://schemas.openxmlformats.org/officeDocument/2006/relationships" xmlns:p="http://schemas.openxmlformats.org/presentationml/2006/main">
  <p:tag name="OP_SCP_ITEM_INDEX" val="1"/>
</p:tagLst>
</file>

<file path=ppt/tags/tag535.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89"/>
  <p:tag name="OP_SCP_COMPONENT_INFO" val="{&quot;title&quot;:&quot;渐变3项棱锥PPT组件&quot;,&quot;description&quot;:&quot;渐变3项棱锥PPT组件&quot;,&quot;keywords&quot;:[&quot;渐变&quot;,&quot;3项&quot;,&quot;棱锥&quot;,&quot;PPT组件&quot;],&quot;labels&quot;:[]}"/>
  <p:tag name="OP_SCP_GROUP_ID" val="198be3f8-476d-f514-e22f-2c21018667e2"/>
  <p:tag name="OP_SCP_ITEM_COUNT" val="3"/>
</p:tagLst>
</file>

<file path=ppt/tags/tag536.xml><?xml version="1.0" encoding="utf-8"?>
<p:tagLst xmlns:a="http://schemas.openxmlformats.org/drawingml/2006/main" xmlns:r="http://schemas.openxmlformats.org/officeDocument/2006/relationships" xmlns:p="http://schemas.openxmlformats.org/presentationml/2006/main">
  <p:tag name="OP_SCP_ITEM_INDEX" val="1"/>
</p:tagLst>
</file>

<file path=ppt/tags/tag537.xml><?xml version="1.0" encoding="utf-8"?>
<p:tagLst xmlns:a="http://schemas.openxmlformats.org/drawingml/2006/main" xmlns:r="http://schemas.openxmlformats.org/officeDocument/2006/relationships" xmlns:p="http://schemas.openxmlformats.org/presentationml/2006/main">
  <p:tag name="OP_SCP_ITEM_INDEX" val="1"/>
</p:tagLst>
</file>

<file path=ppt/tags/tag53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539.xml><?xml version="1.0" encoding="utf-8"?>
<p:tagLst xmlns:a="http://schemas.openxmlformats.org/drawingml/2006/main" xmlns:r="http://schemas.openxmlformats.org/officeDocument/2006/relationships" xmlns:p="http://schemas.openxmlformats.org/presentationml/2006/main">
  <p:tag name="OP_SCP_ITEM_INDEX" val="1"/>
</p:tagLst>
</file>

<file path=ppt/tags/tag540.xml><?xml version="1.0" encoding="utf-8"?>
<p:tagLst xmlns:a="http://schemas.openxmlformats.org/drawingml/2006/main" xmlns:r="http://schemas.openxmlformats.org/officeDocument/2006/relationships" xmlns:p="http://schemas.openxmlformats.org/presentationml/2006/main">
  <p:tag name="OP_SCP_ITEM_INDEX" val="2"/>
</p:tagLst>
</file>

<file path=ppt/tags/tag541.xml><?xml version="1.0" encoding="utf-8"?>
<p:tagLst xmlns:a="http://schemas.openxmlformats.org/drawingml/2006/main" xmlns:r="http://schemas.openxmlformats.org/officeDocument/2006/relationships" xmlns:p="http://schemas.openxmlformats.org/presentationml/2006/main">
  <p:tag name="OP_SCP_ITEM_INDEX" val="2"/>
</p:tagLst>
</file>

<file path=ppt/tags/tag542.xml><?xml version="1.0" encoding="utf-8"?>
<p:tagLst xmlns:a="http://schemas.openxmlformats.org/drawingml/2006/main" xmlns:r="http://schemas.openxmlformats.org/officeDocument/2006/relationships" xmlns:p="http://schemas.openxmlformats.org/presentationml/2006/main">
  <p:tag name="OP_SCP_ITEM_INDEX" val="2"/>
</p:tagLst>
</file>

<file path=ppt/tags/tag54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544.xml><?xml version="1.0" encoding="utf-8"?>
<p:tagLst xmlns:a="http://schemas.openxmlformats.org/drawingml/2006/main" xmlns:r="http://schemas.openxmlformats.org/officeDocument/2006/relationships" xmlns:p="http://schemas.openxmlformats.org/presentationml/2006/main">
  <p:tag name="OP_SCP_ITEM_INDEX" val="2"/>
</p:tagLst>
</file>

<file path=ppt/tags/tag545.xml><?xml version="1.0" encoding="utf-8"?>
<p:tagLst xmlns:a="http://schemas.openxmlformats.org/drawingml/2006/main" xmlns:r="http://schemas.openxmlformats.org/officeDocument/2006/relationships" xmlns:p="http://schemas.openxmlformats.org/presentationml/2006/main">
  <p:tag name="OP_SCP_ITEM_INDEX" val="3"/>
</p:tagLst>
</file>

<file path=ppt/tags/tag546.xml><?xml version="1.0" encoding="utf-8"?>
<p:tagLst xmlns:a="http://schemas.openxmlformats.org/drawingml/2006/main" xmlns:r="http://schemas.openxmlformats.org/officeDocument/2006/relationships" xmlns:p="http://schemas.openxmlformats.org/presentationml/2006/main">
  <p:tag name="OP_SCP_ITEM_INDEX" val="3"/>
</p:tagLst>
</file>

<file path=ppt/tags/tag547.xml><?xml version="1.0" encoding="utf-8"?>
<p:tagLst xmlns:a="http://schemas.openxmlformats.org/drawingml/2006/main" xmlns:r="http://schemas.openxmlformats.org/officeDocument/2006/relationships" xmlns:p="http://schemas.openxmlformats.org/presentationml/2006/main">
  <p:tag name="OP_SCP_ITEM_INDEX" val="3"/>
</p:tagLst>
</file>

<file path=ppt/tags/tag54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549.xml><?xml version="1.0" encoding="utf-8"?>
<p:tagLst xmlns:a="http://schemas.openxmlformats.org/drawingml/2006/main" xmlns:r="http://schemas.openxmlformats.org/officeDocument/2006/relationships" xmlns:p="http://schemas.openxmlformats.org/presentationml/2006/main">
  <p:tag name="OP_SCP_ITEM_INDEX" val="3"/>
</p:tagLst>
</file>

<file path=ppt/tags/tag550.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628"/>
  <p:tag name="OP_SCP_COMPONENT_INFO" val="{&quot;title&quot;:&quot;单色扁平4项PPT列表&quot;,&quot;description&quot;:&quot;单色扁平4项PPT列表&quot;,&quot;keywords&quot;:[&quot;单色&quot;,&quot;扁平&quot;,&quot;4项&quot;,&quot;PPT&quot;,&quot;列表&quot;],&quot;labels&quot;:[]}"/>
  <p:tag name="OP_SCP_GROUP_ID" val="ebb51e47-8320-61cb-6158-513f84f7b90a"/>
  <p:tag name="OP_SCP_ITEM_COUNT" val="4"/>
</p:tagLst>
</file>

<file path=ppt/tags/tag55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添加标题"/>
</p:tagLst>
</file>

<file path=ppt/tags/tag552.xml><?xml version="1.0" encoding="utf-8"?>
<p:tagLst xmlns:a="http://schemas.openxmlformats.org/drawingml/2006/main" xmlns:r="http://schemas.openxmlformats.org/officeDocument/2006/relationships" xmlns:p="http://schemas.openxmlformats.org/presentationml/2006/main">
  <p:tag name="OP_SCP_SHAPE_TYPE" val="Body"/>
  <p:tag name="OP_SCP_ITEM_INDEX" val="4"/>
  <p:tag name="OP_SCP_DEFAULT_TEXT" val="单击此处添加文本，单击此处添加文本。"/>
</p:tagLst>
</file>

<file path=ppt/tags/tag55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554.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
</p:tagLst>
</file>

<file path=ppt/tags/tag55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556.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
</p:tagLst>
</file>

<file path=ppt/tags/tag55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55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
</p:tagLst>
</file>

<file path=ppt/tags/tag559.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011"/>
  <p:tag name="OP_SCP_COMPONENT_INFO" val="{&quot;title&quot;:&quot;阴影6项列表PPT组件&quot;,&quot;description&quot;:&quot;阴影6项列表PPT组件：六项列表布局，阴影设计，信息展示专业美观。&quot;,&quot;keywords&quot;:[&quot;阴影&quot;,&quot;6项&quot;,&quot;列表&quot;,&quot;PPT组件&quot;],&quot;labels&quot;:[]}"/>
  <p:tag name="OP_SCP_GROUP_ID" val="e6d3a219-83fd-cd01-e0e8-ec88ec25c67f"/>
  <p:tag name="OP_SCP_ITEM_COUNT" val="6"/>
</p:tagLst>
</file>

<file path=ppt/tags/tag560.xml><?xml version="1.0" encoding="utf-8"?>
<p:tagLst xmlns:a="http://schemas.openxmlformats.org/drawingml/2006/main" xmlns:r="http://schemas.openxmlformats.org/officeDocument/2006/relationships" xmlns:p="http://schemas.openxmlformats.org/presentationml/2006/main">
  <p:tag name="OP_SCP_ITEM_INDEX" val="6"/>
</p:tagLst>
</file>

<file path=ppt/tags/tag561.xml><?xml version="1.0" encoding="utf-8"?>
<p:tagLst xmlns:a="http://schemas.openxmlformats.org/drawingml/2006/main" xmlns:r="http://schemas.openxmlformats.org/officeDocument/2006/relationships" xmlns:p="http://schemas.openxmlformats.org/presentationml/2006/main">
  <p:tag name="OP_SCP_ITEM_INDEX" val="6"/>
</p:tagLst>
</file>

<file path=ppt/tags/tag56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6"/>
  <p:tag name="OP_SCP_DEFAULT_TEXT" val="06 添加标题"/>
</p:tagLst>
</file>

<file path=ppt/tags/tag563.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6"/>
</p:tagLst>
</file>

<file path=ppt/tags/tag564.xml><?xml version="1.0" encoding="utf-8"?>
<p:tagLst xmlns:a="http://schemas.openxmlformats.org/drawingml/2006/main" xmlns:r="http://schemas.openxmlformats.org/officeDocument/2006/relationships" xmlns:p="http://schemas.openxmlformats.org/presentationml/2006/main">
  <p:tag name="OP_SCP_ITEM_INDEX" val="5"/>
</p:tagLst>
</file>

<file path=ppt/tags/tag565.xml><?xml version="1.0" encoding="utf-8"?>
<p:tagLst xmlns:a="http://schemas.openxmlformats.org/drawingml/2006/main" xmlns:r="http://schemas.openxmlformats.org/officeDocument/2006/relationships" xmlns:p="http://schemas.openxmlformats.org/presentationml/2006/main">
  <p:tag name="OP_SCP_ITEM_INDEX" val="5"/>
</p:tagLst>
</file>

<file path=ppt/tags/tag56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5"/>
  <p:tag name="OP_SCP_DEFAULT_TEXT" val="05 添加标题"/>
</p:tagLst>
</file>

<file path=ppt/tags/tag567.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5"/>
</p:tagLst>
</file>

<file path=ppt/tags/tag568.xml><?xml version="1.0" encoding="utf-8"?>
<p:tagLst xmlns:a="http://schemas.openxmlformats.org/drawingml/2006/main" xmlns:r="http://schemas.openxmlformats.org/officeDocument/2006/relationships" xmlns:p="http://schemas.openxmlformats.org/presentationml/2006/main">
  <p:tag name="OP_SCP_ITEM_INDEX" val="4"/>
</p:tagLst>
</file>

<file path=ppt/tags/tag569.xml><?xml version="1.0" encoding="utf-8"?>
<p:tagLst xmlns:a="http://schemas.openxmlformats.org/drawingml/2006/main" xmlns:r="http://schemas.openxmlformats.org/officeDocument/2006/relationships" xmlns:p="http://schemas.openxmlformats.org/presentationml/2006/main">
  <p:tag name="OP_SCP_ITEM_INDEX" val="4"/>
</p:tagLst>
</file>

<file path=ppt/tags/tag57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04 添加标题"/>
</p:tagLst>
</file>

<file path=ppt/tags/tag571.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4"/>
</p:tagLst>
</file>

<file path=ppt/tags/tag572.xml><?xml version="1.0" encoding="utf-8"?>
<p:tagLst xmlns:a="http://schemas.openxmlformats.org/drawingml/2006/main" xmlns:r="http://schemas.openxmlformats.org/officeDocument/2006/relationships" xmlns:p="http://schemas.openxmlformats.org/presentationml/2006/main">
  <p:tag name="OP_SCP_ITEM_INDEX" val="3"/>
</p:tagLst>
</file>

<file path=ppt/tags/tag573.xml><?xml version="1.0" encoding="utf-8"?>
<p:tagLst xmlns:a="http://schemas.openxmlformats.org/drawingml/2006/main" xmlns:r="http://schemas.openxmlformats.org/officeDocument/2006/relationships" xmlns:p="http://schemas.openxmlformats.org/presentationml/2006/main">
  <p:tag name="OP_SCP_ITEM_INDEX" val="3"/>
</p:tagLst>
</file>

<file path=ppt/tags/tag57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03 添加标题"/>
</p:tagLst>
</file>

<file path=ppt/tags/tag575.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3"/>
</p:tagLst>
</file>

<file path=ppt/tags/tag576.xml><?xml version="1.0" encoding="utf-8"?>
<p:tagLst xmlns:a="http://schemas.openxmlformats.org/drawingml/2006/main" xmlns:r="http://schemas.openxmlformats.org/officeDocument/2006/relationships" xmlns:p="http://schemas.openxmlformats.org/presentationml/2006/main">
  <p:tag name="OP_SCP_ITEM_INDEX" val="2"/>
</p:tagLst>
</file>

<file path=ppt/tags/tag577.xml><?xml version="1.0" encoding="utf-8"?>
<p:tagLst xmlns:a="http://schemas.openxmlformats.org/drawingml/2006/main" xmlns:r="http://schemas.openxmlformats.org/officeDocument/2006/relationships" xmlns:p="http://schemas.openxmlformats.org/presentationml/2006/main">
  <p:tag name="OP_SCP_ITEM_INDEX" val="2"/>
</p:tagLst>
</file>

<file path=ppt/tags/tag57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02 添加标题"/>
</p:tagLst>
</file>

<file path=ppt/tags/tag579.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
</p:tagLst>
</file>

<file path=ppt/tags/tag580.xml><?xml version="1.0" encoding="utf-8"?>
<p:tagLst xmlns:a="http://schemas.openxmlformats.org/drawingml/2006/main" xmlns:r="http://schemas.openxmlformats.org/officeDocument/2006/relationships" xmlns:p="http://schemas.openxmlformats.org/presentationml/2006/main">
  <p:tag name="OP_SCP_ITEM_INDEX" val="1"/>
</p:tagLst>
</file>

<file path=ppt/tags/tag581.xml><?xml version="1.0" encoding="utf-8"?>
<p:tagLst xmlns:a="http://schemas.openxmlformats.org/drawingml/2006/main" xmlns:r="http://schemas.openxmlformats.org/officeDocument/2006/relationships" xmlns:p="http://schemas.openxmlformats.org/presentationml/2006/main">
  <p:tag name="OP_SCP_ITEM_INDEX" val="1"/>
</p:tagLst>
</file>

<file path=ppt/tags/tag58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01 添加标题"/>
</p:tagLst>
</file>

<file path=ppt/tags/tag583.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1"/>
</p:tagLst>
</file>

<file path=ppt/tags/tag584.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964"/>
  <p:tag name="OP_SCP_COMPONENT_INFO" val="{&quot;title&quot;:&quot;渐变3项列表PPT组件&quot;,&quot;description&quot;:&quot;渐变3项列表PPT组件：三项列表展示，渐变设计，适用于多项信息分类。&quot;,&quot;keywords&quot;:[&quot;渐变&quot;,&quot;3项&quot;,&quot;列表&quot;,&quot;PPT组件&quot;],&quot;labels&quot;:[]}"/>
  <p:tag name="OP_SCP_GROUP_ID" val="33ebd085-457d-7b00-2947-93ba6e085025"/>
  <p:tag name="OP_SCP_ITEM_COUNT" val="3"/>
</p:tagLst>
</file>

<file path=ppt/tags/tag585.xml><?xml version="1.0" encoding="utf-8"?>
<p:tagLst xmlns:a="http://schemas.openxmlformats.org/drawingml/2006/main" xmlns:r="http://schemas.openxmlformats.org/officeDocument/2006/relationships" xmlns:p="http://schemas.openxmlformats.org/presentationml/2006/main">
  <p:tag name="OP_SCP_ITEM_INDEX" val="3"/>
</p:tagLst>
</file>

<file path=ppt/tags/tag58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03 添加标题"/>
</p:tagLst>
</file>

<file path=ppt/tags/tag587.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单击此处添加文本。单击此处添加文本，单击此处添加文本，单击此处添加文本，单击此处添加文本。"/>
</p:tagLst>
</file>

<file path=ppt/tags/tag588.xml><?xml version="1.0" encoding="utf-8"?>
<p:tagLst xmlns:a="http://schemas.openxmlformats.org/drawingml/2006/main" xmlns:r="http://schemas.openxmlformats.org/officeDocument/2006/relationships" xmlns:p="http://schemas.openxmlformats.org/presentationml/2006/main">
  <p:tag name="OP_SCP_ITEM_INDEX" val="2"/>
</p:tagLst>
</file>

<file path=ppt/tags/tag58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02 添加标题"/>
</p:tagLst>
</file>

<file path=ppt/tags/tag590.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单击此处添加文本，单击此处添加文本，单击此处添加文本，单击此处添加文本。"/>
</p:tagLst>
</file>

<file path=ppt/tags/tag591.xml><?xml version="1.0" encoding="utf-8"?>
<p:tagLst xmlns:a="http://schemas.openxmlformats.org/drawingml/2006/main" xmlns:r="http://schemas.openxmlformats.org/officeDocument/2006/relationships" xmlns:p="http://schemas.openxmlformats.org/presentationml/2006/main">
  <p:tag name="OP_SCP_ITEM_INDEX" val="1"/>
</p:tagLst>
</file>

<file path=ppt/tags/tag59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01 添加标题"/>
</p:tagLst>
</file>

<file path=ppt/tags/tag593.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单击此处添加文本，单击此处添加文本，单击此处添加文本。"/>
</p:tagLst>
</file>

<file path=ppt/tags/tag594.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934"/>
  <p:tag name="OP_SCP_COMPONENT_INFO" val="{&quot;title&quot;:&quot;扁平3项列表PPT组件&quot;,&quot;description&quot;:&quot;扁平3项列表PPT组件：三项列表展示，适用于多项信息分类，布局简约整洁。&quot;,&quot;keywords&quot;:[&quot;扁平&quot;,&quot;3项&quot;,&quot;列表&quot;,&quot;PPT组件&quot;],&quot;labels&quot;:[]}"/>
  <p:tag name="OP_SCP_GROUP_ID" val="9d446cc2-b9cd-44a4-fa90-4922a6360731"/>
  <p:tag name="OP_SCP_ITEM_COUNT" val="3"/>
</p:tagLst>
</file>

<file path=ppt/tags/tag595.xml><?xml version="1.0" encoding="utf-8"?>
<p:tagLst xmlns:a="http://schemas.openxmlformats.org/drawingml/2006/main" xmlns:r="http://schemas.openxmlformats.org/officeDocument/2006/relationships" xmlns:p="http://schemas.openxmlformats.org/presentationml/2006/main">
  <p:tag name="OP_SCP_ITEM_INDEX" val="3"/>
</p:tagLst>
</file>

<file path=ppt/tags/tag596.xml><?xml version="1.0" encoding="utf-8"?>
<p:tagLst xmlns:a="http://schemas.openxmlformats.org/drawingml/2006/main" xmlns:r="http://schemas.openxmlformats.org/officeDocument/2006/relationships" xmlns:p="http://schemas.openxmlformats.org/presentationml/2006/main">
  <p:tag name="OP_SCP_ITEM_INDEX" val="3"/>
</p:tagLst>
</file>

<file path=ppt/tags/tag597.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单击此处添加文本单击此处添加文本，单击此处添加文本，单击此处添加文本，单击此处添加文本，单击此处添加文本，单击此处添加文本。"/>
</p:tagLst>
</file>

<file path=ppt/tags/tag59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599.xml><?xml version="1.0" encoding="utf-8"?>
<p:tagLst xmlns:a="http://schemas.openxmlformats.org/drawingml/2006/main" xmlns:r="http://schemas.openxmlformats.org/officeDocument/2006/relationships" xmlns:p="http://schemas.openxmlformats.org/presentationml/2006/main">
  <p:tag name="OP_SCP_ITEM_INDEX" val="2"/>
</p:tagLst>
</file>

<file path=ppt/tags/tag600.xml><?xml version="1.0" encoding="utf-8"?>
<p:tagLst xmlns:a="http://schemas.openxmlformats.org/drawingml/2006/main" xmlns:r="http://schemas.openxmlformats.org/officeDocument/2006/relationships" xmlns:p="http://schemas.openxmlformats.org/presentationml/2006/main">
  <p:tag name="OP_SCP_ITEM_INDEX" val="2"/>
</p:tagLst>
</file>

<file path=ppt/tags/tag601.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单击此处添加文本，单击此处添加文本，单击此处添加文本，单击此处添加文本，单击此处添加文本，单击此处添加文本。"/>
</p:tagLst>
</file>

<file path=ppt/tags/tag60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603.xml><?xml version="1.0" encoding="utf-8"?>
<p:tagLst xmlns:a="http://schemas.openxmlformats.org/drawingml/2006/main" xmlns:r="http://schemas.openxmlformats.org/officeDocument/2006/relationships" xmlns:p="http://schemas.openxmlformats.org/presentationml/2006/main">
  <p:tag name="OP_SCP_ITEM_INDEX" val="1"/>
</p:tagLst>
</file>

<file path=ppt/tags/tag604.xml><?xml version="1.0" encoding="utf-8"?>
<p:tagLst xmlns:a="http://schemas.openxmlformats.org/drawingml/2006/main" xmlns:r="http://schemas.openxmlformats.org/officeDocument/2006/relationships" xmlns:p="http://schemas.openxmlformats.org/presentationml/2006/main">
  <p:tag name="OP_SCP_ITEM_INDEX" val="1"/>
</p:tagLst>
</file>

<file path=ppt/tags/tag605.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单击此处添加文本，单击此处添加文本，单击此处添加文本，单击此处添加文本，单击此处添加文本。"/>
</p:tagLst>
</file>

<file path=ppt/tags/tag60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607.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008"/>
  <p:tag name="OP_SCP_COMPONENT_INFO" val="{&quot;title&quot;:&quot;阴影3项列表PPT组件&quot;,&quot;description&quot;:&quot;阴影3项列表PPT组件：三项列表展示，阴影设计，适用于多项信息分类。&quot;,&quot;keywords&quot;:[&quot;阴影&quot;,&quot;3项&quot;,&quot;列表&quot;,&quot;PPT组件&quot;],&quot;labels&quot;:[]}"/>
  <p:tag name="OP_SCP_GROUP_ID" val="e6d3a219-83fd-cd01-e0e8-ec88ec25c67f"/>
  <p:tag name="OP_SCP_ITEM_COUNT" val="3"/>
</p:tagLst>
</file>

<file path=ppt/tags/tag608.xml><?xml version="1.0" encoding="utf-8"?>
<p:tagLst xmlns:a="http://schemas.openxmlformats.org/drawingml/2006/main" xmlns:r="http://schemas.openxmlformats.org/officeDocument/2006/relationships" xmlns:p="http://schemas.openxmlformats.org/presentationml/2006/main">
  <p:tag name="OP_SCP_ITEM_INDEX" val="3"/>
</p:tagLst>
</file>

<file path=ppt/tags/tag609.xml><?xml version="1.0" encoding="utf-8"?>
<p:tagLst xmlns:a="http://schemas.openxmlformats.org/drawingml/2006/main" xmlns:r="http://schemas.openxmlformats.org/officeDocument/2006/relationships" xmlns:p="http://schemas.openxmlformats.org/presentationml/2006/main">
  <p:tag name="OP_SCP_ITEM_INDEX" val="3"/>
</p:tagLst>
</file>

<file path=ppt/tags/tag61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03 添加标题"/>
</p:tagLst>
</file>

<file path=ppt/tags/tag611.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
</p:tagLst>
</file>

<file path=ppt/tags/tag612.xml><?xml version="1.0" encoding="utf-8"?>
<p:tagLst xmlns:a="http://schemas.openxmlformats.org/drawingml/2006/main" xmlns:r="http://schemas.openxmlformats.org/officeDocument/2006/relationships" xmlns:p="http://schemas.openxmlformats.org/presentationml/2006/main">
  <p:tag name="OP_SCP_ITEM_INDEX" val="2"/>
</p:tagLst>
</file>

<file path=ppt/tags/tag613.xml><?xml version="1.0" encoding="utf-8"?>
<p:tagLst xmlns:a="http://schemas.openxmlformats.org/drawingml/2006/main" xmlns:r="http://schemas.openxmlformats.org/officeDocument/2006/relationships" xmlns:p="http://schemas.openxmlformats.org/presentationml/2006/main">
  <p:tag name="OP_SCP_ITEM_INDEX" val="2"/>
</p:tagLst>
</file>

<file path=ppt/tags/tag61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02 添加标题"/>
</p:tagLst>
</file>

<file path=ppt/tags/tag615.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
</p:tagLst>
</file>

<file path=ppt/tags/tag616.xml><?xml version="1.0" encoding="utf-8"?>
<p:tagLst xmlns:a="http://schemas.openxmlformats.org/drawingml/2006/main" xmlns:r="http://schemas.openxmlformats.org/officeDocument/2006/relationships" xmlns:p="http://schemas.openxmlformats.org/presentationml/2006/main">
  <p:tag name="OP_SCP_ITEM_INDEX" val="1"/>
</p:tagLst>
</file>

<file path=ppt/tags/tag617.xml><?xml version="1.0" encoding="utf-8"?>
<p:tagLst xmlns:a="http://schemas.openxmlformats.org/drawingml/2006/main" xmlns:r="http://schemas.openxmlformats.org/officeDocument/2006/relationships" xmlns:p="http://schemas.openxmlformats.org/presentationml/2006/main">
  <p:tag name="OP_SCP_ITEM_INDEX" val="1"/>
</p:tagLst>
</file>

<file path=ppt/tags/tag61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01 添加标题"/>
</p:tagLst>
</file>

<file path=ppt/tags/tag61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
</p:tagLst>
</file>

<file path=ppt/tags/tag620.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811"/>
  <p:tag name="OP_SCP_COMPONENT_INFO" val="{&quot;title&quot;:&quot;简约蓝色圆角3项列表&quot;,&quot;description&quot;:&quot;3项,列表,蓝色&quot;,&quot;keywords&quot;:[&quot;3项&quot;,&quot;列表&quot;,&quot;蓝色&quot;],&quot;labels&quot;:[]}"/>
  <p:tag name="OP_SCP_GROUP_ID" val="4ec3abdb-d431-5f2c-645a-545ff3419325"/>
  <p:tag name="OP_SCP_ITEM_COUNT" val="3"/>
</p:tagLst>
</file>

<file path=ppt/tags/tag621.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622.xml><?xml version="1.0" encoding="utf-8"?>
<p:tagLst xmlns:a="http://schemas.openxmlformats.org/drawingml/2006/main" xmlns:r="http://schemas.openxmlformats.org/officeDocument/2006/relationships" xmlns:p="http://schemas.openxmlformats.org/presentationml/2006/main">
  <p:tag name="OP_SCP_SHAPE_TYPE" val="Title"/>
  <p:tag name="OP_SCP_DEFAULT_TEXT" val="添加标题"/>
  <p:tag name="OP_SCP_ITEM_INDEX" val="3"/>
</p:tagLst>
</file>

<file path=ppt/tags/tag623.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单击此处添加文本，单击此处添加文本。"/>
</p:tagLst>
</file>

<file path=ppt/tags/tag624.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625.xml><?xml version="1.0" encoding="utf-8"?>
<p:tagLst xmlns:a="http://schemas.openxmlformats.org/drawingml/2006/main" xmlns:r="http://schemas.openxmlformats.org/officeDocument/2006/relationships" xmlns:p="http://schemas.openxmlformats.org/presentationml/2006/main">
  <p:tag name="OP_SCP_SHAPE_TYPE" val="Title"/>
  <p:tag name="OP_SCP_DEFAULT_TEXT" val="添加标题"/>
  <p:tag name="OP_SCP_ITEM_INDEX" val="2"/>
</p:tagLst>
</file>

<file path=ppt/tags/tag626.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单击此处添加文本。"/>
</p:tagLst>
</file>

<file path=ppt/tags/tag627.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62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62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
</p:tagLst>
</file>

<file path=ppt/tags/tag630.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29"/>
  <p:tag name="OP_SCP_COMPONENT_INFO" val="{&quot;title&quot;:&quot;扁平3项纯文本PPT组件&quot;,&quot;description&quot;:&quot;扁平3项纯文本PPT组件&quot;,&quot;keywords&quot;:[&quot;扁平&quot;,&quot;3项&quot;,&quot;纯文本&quot;,&quot;PPT组件&quot;],&quot;labels&quot;:[]}"/>
  <p:tag name="OP_SCP_GROUP_ID" val="ef7c8520-5870-154c-9fe2-daae3c374e0e"/>
  <p:tag name="OP_SCP_ITEM_COUNT" val="3"/>
</p:tagLst>
</file>

<file path=ppt/tags/tag631.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07"/>
  <p:tag name="OP_SCP_COMPONENT_INFO" val="{&quot;title&quot;:&quot;扁平1项纯文本PPT组件&quot;,&quot;description&quot;:&quot;扁平1项纯文本PPT组件&quot;,&quot;keywords&quot;:[&quot;扁平&quot;,&quot;1项&quot;,&quot;纯文本&quot;,&quot;PPT组件&quot;],&quot;labels&quot;:[]}"/>
  <p:tag name="OP_SCP_GROUP_ID" val="ef7c8520-5870-154c-9fe2-daae3c374e0e"/>
  <p:tag name="OP_SCP_ITEM_COUNT" val="1"/>
</p:tagLst>
</file>

<file path=ppt/tags/tag632.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07"/>
  <p:tag name="OP_SCP_COMPONENT_INFO" val="{&quot;title&quot;:&quot;扁平1项纯文本PPT组件&quot;,&quot;description&quot;:&quot;扁平1项纯文本PPT组件&quot;,&quot;keywords&quot;:[&quot;扁平&quot;,&quot;1项&quot;,&quot;纯文本&quot;,&quot;PPT组件&quot;],&quot;labels&quot;:[]}"/>
  <p:tag name="OP_SCP_GROUP_ID" val="ef7c8520-5870-154c-9fe2-daae3c374e0e"/>
  <p:tag name="OP_SCP_ITEM_COUNT" val="1"/>
</p:tagLst>
</file>

<file path=ppt/tags/tag633.xml><?xml version="1.0" encoding="utf-8"?>
<p:tagLst xmlns:a="http://schemas.openxmlformats.org/drawingml/2006/main" xmlns:r="http://schemas.openxmlformats.org/officeDocument/2006/relationships" xmlns:p="http://schemas.openxmlformats.org/presentationml/2006/main">
  <p:tag name="OP_SCP_ITEM_INDEX" val="1"/>
</p:tagLst>
</file>

<file path=ppt/tags/tag63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635.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636.xml><?xml version="1.0" encoding="utf-8"?>
<p:tagLst xmlns:a="http://schemas.openxmlformats.org/drawingml/2006/main" xmlns:r="http://schemas.openxmlformats.org/officeDocument/2006/relationships" xmlns:p="http://schemas.openxmlformats.org/presentationml/2006/main">
  <p:tag name="OP_SCP_ITEM_INDEX" val="1"/>
</p:tagLst>
</file>

<file path=ppt/tags/tag63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63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639.xml><?xml version="1.0" encoding="utf-8"?>
<p:tagLst xmlns:a="http://schemas.openxmlformats.org/drawingml/2006/main" xmlns:r="http://schemas.openxmlformats.org/officeDocument/2006/relationships" xmlns:p="http://schemas.openxmlformats.org/presentationml/2006/main">
  <p:tag name="OP_SCP_ITEM_INDEX" val="3"/>
</p:tagLst>
</file>

<file path=ppt/tags/tag64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641.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
</p:tagLst>
</file>

<file path=ppt/tags/tag642.xml><?xml version="1.0" encoding="utf-8"?>
<p:tagLst xmlns:a="http://schemas.openxmlformats.org/drawingml/2006/main" xmlns:r="http://schemas.openxmlformats.org/officeDocument/2006/relationships" xmlns:p="http://schemas.openxmlformats.org/presentationml/2006/main">
  <p:tag name="OP_SCP_ITEM_INDEX" val="1"/>
</p:tagLst>
</file>

<file path=ppt/tags/tag64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644.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645.xml><?xml version="1.0" encoding="utf-8"?>
<p:tagLst xmlns:a="http://schemas.openxmlformats.org/drawingml/2006/main" xmlns:r="http://schemas.openxmlformats.org/officeDocument/2006/relationships" xmlns:p="http://schemas.openxmlformats.org/presentationml/2006/main">
  <p:tag name="OP_SCP_ITEM_INDEX" val="2"/>
</p:tagLst>
</file>

<file path=ppt/tags/tag64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647.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
</p:tagLst>
</file>

<file path=ppt/tags/tag648.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907"/>
  <p:tag name="OP_SCP_COMPONENT_INFO" val="{&quot;title&quot;:&quot;渐变风循环常规元素_4项&quot;,&quot;description&quot;:&quot;蓝色,4项&quot;,&quot;keywords&quot;:[&quot;蓝色&quot;,&quot;4项&quot;],&quot;labels&quot;:[]}"/>
  <p:tag name="OP_SCP_GROUP_ID" val="d9b7a95a-6ffc-69c5-027f-a6b7e75d9927"/>
  <p:tag name="OP_SCP_ITEM_COUNT" val="4"/>
</p:tagLst>
</file>

<file path=ppt/tags/tag649.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1"/>
</p:tagLst>
</file>

<file path=ppt/tags/tag650.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65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652.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
</p:tagLst>
</file>

<file path=ppt/tags/tag65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654.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2"/>
</p:tagLst>
</file>

<file path=ppt/tags/tag655.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
</p:tagLst>
</file>

<file path=ppt/tags/tag65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657.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3"/>
</p:tagLst>
</file>

<file path=ppt/tags/tag658.xml><?xml version="1.0" encoding="utf-8"?>
<p:tagLst xmlns:a="http://schemas.openxmlformats.org/drawingml/2006/main" xmlns:r="http://schemas.openxmlformats.org/officeDocument/2006/relationships" xmlns:p="http://schemas.openxmlformats.org/presentationml/2006/main">
  <p:tag name="OP_SCP_SHAPE_TYPE" val="Body"/>
  <p:tag name="OP_SCP_ITEM_INDEX" val="4"/>
  <p:tag name="OP_SCP_DEFAULT_TEXT" val="单击此处添加文本，单击此处添加文本，单击此处添加文本。"/>
</p:tagLst>
</file>

<file path=ppt/tags/tag65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添加标题"/>
</p:tagLst>
</file>

<file path=ppt/tags/tag660.xml><?xml version="1.0" encoding="utf-8"?>
<p:tagLst xmlns:a="http://schemas.openxmlformats.org/drawingml/2006/main" xmlns:r="http://schemas.openxmlformats.org/officeDocument/2006/relationships" xmlns:p="http://schemas.openxmlformats.org/presentationml/2006/main">
  <p:tag name="OP_SCP_SHAPE_TYPE" val="Index"/>
  <p:tag name="OP_SCP_ITEM_INDEX" val="4"/>
  <p:tag name="OP_SCP_DEFAULT_TEXT" val="4"/>
</p:tagLst>
</file>

<file path=ppt/tags/tag661.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973"/>
  <p:tag name="OP_SCP_COMPONENT_INFO" val="{&quot;title&quot;:&quot;渐变4项列表PPT组件&quot;,&quot;description&quot;:&quot;渐变4项列表PPT组件：四项列表布局，渐变设计，信息展示简洁清晰。&quot;,&quot;keywords&quot;:[&quot;渐变&quot;,&quot;4项&quot;,&quot;列表&quot;,&quot;PPT组件&quot;],&quot;labels&quot;:[]}"/>
  <p:tag name="OP_SCP_GROUP_ID" val="5b0a17f7-387d-ba9c-952c-dadbb26c3a5d"/>
  <p:tag name="OP_SCP_ITEM_COUNT" val="4"/>
</p:tagLst>
</file>

<file path=ppt/tags/tag662.xml><?xml version="1.0" encoding="utf-8"?>
<p:tagLst xmlns:a="http://schemas.openxmlformats.org/drawingml/2006/main" xmlns:r="http://schemas.openxmlformats.org/officeDocument/2006/relationships" xmlns:p="http://schemas.openxmlformats.org/presentationml/2006/main">
  <p:tag name="OP_SCP_ITEM_INDEX" val="4"/>
</p:tagLst>
</file>

<file path=ppt/tags/tag663.xml><?xml version="1.0" encoding="utf-8"?>
<p:tagLst xmlns:a="http://schemas.openxmlformats.org/drawingml/2006/main" xmlns:r="http://schemas.openxmlformats.org/officeDocument/2006/relationships" xmlns:p="http://schemas.openxmlformats.org/presentationml/2006/main">
  <p:tag name="OP_SCP_ITEM_INDEX" val="4"/>
</p:tagLst>
</file>

<file path=ppt/tags/tag66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添加标题"/>
</p:tagLst>
</file>

<file path=ppt/tags/tag665.xml><?xml version="1.0" encoding="utf-8"?>
<p:tagLst xmlns:a="http://schemas.openxmlformats.org/drawingml/2006/main" xmlns:r="http://schemas.openxmlformats.org/officeDocument/2006/relationships" xmlns:p="http://schemas.openxmlformats.org/presentationml/2006/main">
  <p:tag name="OP_SCP_SHAPE_TYPE" val="Index"/>
  <p:tag name="OP_SCP_ITEM_INDEX" val="4"/>
  <p:tag name="OP_SCP_DEFAULT_TEXT" val="04"/>
</p:tagLst>
</file>

<file path=ppt/tags/tag666.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4"/>
</p:tagLst>
</file>

<file path=ppt/tags/tag667.xml><?xml version="1.0" encoding="utf-8"?>
<p:tagLst xmlns:a="http://schemas.openxmlformats.org/drawingml/2006/main" xmlns:r="http://schemas.openxmlformats.org/officeDocument/2006/relationships" xmlns:p="http://schemas.openxmlformats.org/presentationml/2006/main">
  <p:tag name="OP_SCP_ITEM_INDEX" val="3"/>
</p:tagLst>
</file>

<file path=ppt/tags/tag668.xml><?xml version="1.0" encoding="utf-8"?>
<p:tagLst xmlns:a="http://schemas.openxmlformats.org/drawingml/2006/main" xmlns:r="http://schemas.openxmlformats.org/officeDocument/2006/relationships" xmlns:p="http://schemas.openxmlformats.org/presentationml/2006/main">
  <p:tag name="OP_SCP_ITEM_INDEX" val="3"/>
</p:tagLst>
</file>

<file path=ppt/tags/tag66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670.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671.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3"/>
</p:tagLst>
</file>

<file path=ppt/tags/tag672.xml><?xml version="1.0" encoding="utf-8"?>
<p:tagLst xmlns:a="http://schemas.openxmlformats.org/drawingml/2006/main" xmlns:r="http://schemas.openxmlformats.org/officeDocument/2006/relationships" xmlns:p="http://schemas.openxmlformats.org/presentationml/2006/main">
  <p:tag name="OP_SCP_ITEM_INDEX" val="2"/>
</p:tagLst>
</file>

<file path=ppt/tags/tag673.xml><?xml version="1.0" encoding="utf-8"?>
<p:tagLst xmlns:a="http://schemas.openxmlformats.org/drawingml/2006/main" xmlns:r="http://schemas.openxmlformats.org/officeDocument/2006/relationships" xmlns:p="http://schemas.openxmlformats.org/presentationml/2006/main">
  <p:tag name="OP_SCP_ITEM_INDEX" val="2"/>
</p:tagLst>
</file>

<file path=ppt/tags/tag67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675.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676.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
</p:tagLst>
</file>

<file path=ppt/tags/tag677.xml><?xml version="1.0" encoding="utf-8"?>
<p:tagLst xmlns:a="http://schemas.openxmlformats.org/drawingml/2006/main" xmlns:r="http://schemas.openxmlformats.org/officeDocument/2006/relationships" xmlns:p="http://schemas.openxmlformats.org/presentationml/2006/main">
  <p:tag name="OP_SCP_ITEM_INDEX" val="1"/>
</p:tagLst>
</file>

<file path=ppt/tags/tag678.xml><?xml version="1.0" encoding="utf-8"?>
<p:tagLst xmlns:a="http://schemas.openxmlformats.org/drawingml/2006/main" xmlns:r="http://schemas.openxmlformats.org/officeDocument/2006/relationships" xmlns:p="http://schemas.openxmlformats.org/presentationml/2006/main">
  <p:tag name="OP_SCP_ITEM_INDEX" val="1"/>
</p:tagLst>
</file>

<file path=ppt/tags/tag679.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680.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681.xml><?xml version="1.0" encoding="utf-8"?>
<p:tagLst xmlns:a="http://schemas.openxmlformats.org/drawingml/2006/main" xmlns:r="http://schemas.openxmlformats.org/officeDocument/2006/relationships" xmlns:p="http://schemas.openxmlformats.org/presentationml/2006/main">
  <p:tag name="OP_SCP_SHAPE_TYPE" val="Body"/>
  <p:tag name="OP_SCP_DEFAULT_TEXT" val="单击此处添加文本，单击此处添加文本。"/>
  <p:tag name="OP_SCP_ITEM_INDEX" val="1"/>
</p:tagLst>
</file>

<file path=ppt/tags/tag682.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4045"/>
  <p:tag name="OP_SCP_COMPONENT_INFO" val="{&quot;title&quot;:&quot;三角箭头循环-3&quot;,&quot;description&quot;:&quot;蓝紫色,渐变,3项&quot;,&quot;keywords&quot;:[&quot;蓝紫色&quot;,&quot;渐变&quot;,&quot;3项&quot;],&quot;labels&quot;:[]}"/>
  <p:tag name="OP_SCP_GROUP_ID" val="84fe03c6-4895-d4a2-fd27-7f21a4236476"/>
  <p:tag name="OP_SCP_ITEM_COUNT" val="3"/>
</p:tagLst>
</file>

<file path=ppt/tags/tag68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输入标题"/>
</p:tagLst>
</file>

<file path=ppt/tags/tag684.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输入文本"/>
</p:tagLst>
</file>

<file path=ppt/tags/tag68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输入标题"/>
</p:tagLst>
</file>

<file path=ppt/tags/tag686.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输入文本"/>
</p:tagLst>
</file>

<file path=ppt/tags/tag68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输入标题"/>
</p:tagLst>
</file>

<file path=ppt/tags/tag68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输入文本"/>
</p:tagLst>
</file>

<file path=ppt/tags/tag689.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62"/>
  <p:tag name="OP_SCP_COMPONENT_INFO" val="{&quot;title&quot;:&quot;渐变4项列表PPT组件&quot;,&quot;description&quot;:&quot;渐变4项列表PPT组件&quot;,&quot;keywords&quot;:[&quot;渐变&quot;,&quot;4项&quot;,&quot;列表&quot;,&quot;PPT组件&quot;],&quot;labels&quot;:[]}"/>
  <p:tag name="OP_SCP_GROUP_ID" val="e2292e4c-04d8-b0eb-431f-cdd2e2ce3ff0"/>
  <p:tag name="OP_SCP_ITEM_COUNT" val="4"/>
</p:tagLst>
</file>

<file path=ppt/tags/tag690.xml><?xml version="1.0" encoding="utf-8"?>
<p:tagLst xmlns:a="http://schemas.openxmlformats.org/drawingml/2006/main" xmlns:r="http://schemas.openxmlformats.org/officeDocument/2006/relationships" xmlns:p="http://schemas.openxmlformats.org/presentationml/2006/main">
  <p:tag name="OP_SCP_ITEM_INDEX" val="4"/>
</p:tagLst>
</file>

<file path=ppt/tags/tag691.xml><?xml version="1.0" encoding="utf-8"?>
<p:tagLst xmlns:a="http://schemas.openxmlformats.org/drawingml/2006/main" xmlns:r="http://schemas.openxmlformats.org/officeDocument/2006/relationships" xmlns:p="http://schemas.openxmlformats.org/presentationml/2006/main">
  <p:tag name="OP_SCP_SHAPE_TYPE" val="Body"/>
  <p:tag name="OP_SCP_ITEM_INDEX" val="4"/>
  <p:tag name="OP_SCP_DEFAULT_TEXT" val="单击此处添加文本，单击此处添加文本，单击此处添加文本，单击此处添加文本。"/>
</p:tagLst>
</file>

<file path=ppt/tags/tag692.xml><?xml version="1.0" encoding="utf-8"?>
<p:tagLst xmlns:a="http://schemas.openxmlformats.org/drawingml/2006/main" xmlns:r="http://schemas.openxmlformats.org/officeDocument/2006/relationships" xmlns:p="http://schemas.openxmlformats.org/presentationml/2006/main">
  <p:tag name="OP_SCP_SHAPE_TYPE" val="Index"/>
  <p:tag name="OP_SCP_ITEM_INDEX" val="4"/>
  <p:tag name="OP_SCP_DEFAULT_TEXT" val="04"/>
</p:tagLst>
</file>

<file path=ppt/tags/tag69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添加标题"/>
</p:tagLst>
</file>

<file path=ppt/tags/tag694.xml><?xml version="1.0" encoding="utf-8"?>
<p:tagLst xmlns:a="http://schemas.openxmlformats.org/drawingml/2006/main" xmlns:r="http://schemas.openxmlformats.org/officeDocument/2006/relationships" xmlns:p="http://schemas.openxmlformats.org/presentationml/2006/main">
  <p:tag name="OP_SCP_ITEM_INDEX" val="2"/>
</p:tagLst>
</file>

<file path=ppt/tags/tag695.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696.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
</p:tagLst>
</file>

<file path=ppt/tags/tag69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698.xml><?xml version="1.0" encoding="utf-8"?>
<p:tagLst xmlns:a="http://schemas.openxmlformats.org/drawingml/2006/main" xmlns:r="http://schemas.openxmlformats.org/officeDocument/2006/relationships" xmlns:p="http://schemas.openxmlformats.org/presentationml/2006/main">
  <p:tag name="OP_SCP_ITEM_INDEX" val="3"/>
</p:tagLst>
</file>

<file path=ppt/tags/tag699.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单击此处添加文本。"/>
</p:tagLst>
</file>

<file path=ppt/tags/tag700.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701.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添加标题"/>
</p:tagLst>
</file>

<file path=ppt/tags/tag702.xml><?xml version="1.0" encoding="utf-8"?>
<p:tagLst xmlns:a="http://schemas.openxmlformats.org/drawingml/2006/main" xmlns:r="http://schemas.openxmlformats.org/officeDocument/2006/relationships" xmlns:p="http://schemas.openxmlformats.org/presentationml/2006/main">
  <p:tag name="OP_SCP_ITEM_INDEX" val="1"/>
</p:tagLst>
</file>

<file path=ppt/tags/tag703.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704.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
</p:tagLst>
</file>

<file path=ppt/tags/tag705.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706.xml><?xml version="1.0" encoding="utf-8"?>
<p:tagLst xmlns:a="http://schemas.openxmlformats.org/drawingml/2006/main" xmlns:r="http://schemas.openxmlformats.org/officeDocument/2006/relationships" xmlns:p="http://schemas.openxmlformats.org/presentationml/2006/main">
  <p:tag name="TIMING" val="|26.4|23|11.7|15.1|0.9|12.3|1.2"/>
</p:tagLst>
</file>

<file path=ppt/tags/tag707.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2199"/>
  <p:tag name="OP_SCP_COMPONENT_INFO" val="{&quot;title&quot;:&quot;公路坐标时间轴-5&quot;,&quot;description&quot;:&quot;蓝色,公路,5项&quot;,&quot;keywords&quot;:[&quot;蓝色&quot;,&quot;公路&quot;,&quot;5项&quot;],&quot;labels&quot;:[]}"/>
  <p:tag name="OP_SCP_GROUP_ID" val="0f462c8d-01f3-5536-7237-ad20e85a353d"/>
  <p:tag name="OP_SCP_ITEM_COUNT" val="5"/>
</p:tagLst>
</file>

<file path=ppt/tags/tag708.xml><?xml version="1.0" encoding="utf-8"?>
<p:tagLst xmlns:a="http://schemas.openxmlformats.org/drawingml/2006/main" xmlns:r="http://schemas.openxmlformats.org/officeDocument/2006/relationships" xmlns:p="http://schemas.openxmlformats.org/presentationml/2006/main">
  <p:tag name="OP_SCP_SHAPE_TYPE" val="Title"/>
  <p:tag name="OP_SCP_ITEM_INDEX" val="5"/>
  <p:tag name="OP_SCP_DEFAULT_TEXT" val="输入标题"/>
</p:tagLst>
</file>

<file path=ppt/tags/tag709.xml><?xml version="1.0" encoding="utf-8"?>
<p:tagLst xmlns:a="http://schemas.openxmlformats.org/drawingml/2006/main" xmlns:r="http://schemas.openxmlformats.org/officeDocument/2006/relationships" xmlns:p="http://schemas.openxmlformats.org/presentationml/2006/main">
  <p:tag name="OP_SCP_SHAPE_TYPE" val="Body"/>
  <p:tag name="OP_SCP_ITEM_INDEX" val="5"/>
  <p:tag name="OP_SCP_DEFAULT_TEXT" val="单击此处输入相关文本内容"/>
</p:tagLst>
</file>

<file path=ppt/tags/tag71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4"/>
  <p:tag name="OP_SCP_DEFAULT_TEXT" val="输入标题"/>
</p:tagLst>
</file>

<file path=ppt/tags/tag711.xml><?xml version="1.0" encoding="utf-8"?>
<p:tagLst xmlns:a="http://schemas.openxmlformats.org/drawingml/2006/main" xmlns:r="http://schemas.openxmlformats.org/officeDocument/2006/relationships" xmlns:p="http://schemas.openxmlformats.org/presentationml/2006/main">
  <p:tag name="OP_SCP_SHAPE_TYPE" val="Body"/>
  <p:tag name="OP_SCP_ITEM_INDEX" val="4"/>
  <p:tag name="OP_SCP_DEFAULT_TEXT" val="单击此处输入相关文本内容"/>
</p:tagLst>
</file>

<file path=ppt/tags/tag71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3"/>
  <p:tag name="OP_SCP_DEFAULT_TEXT" val="输入标题"/>
</p:tagLst>
</file>

<file path=ppt/tags/tag713.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输入相关文本内容"/>
</p:tagLst>
</file>

<file path=ppt/tags/tag714.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输入标题"/>
</p:tagLst>
</file>

<file path=ppt/tags/tag715.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输入相关文本内容"/>
</p:tagLst>
</file>

<file path=ppt/tags/tag716.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输入标题"/>
</p:tagLst>
</file>

<file path=ppt/tags/tag71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输入相关文本内容"/>
</p:tagLst>
</file>

<file path=ppt/tags/tag718.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003"/>
  <p:tag name="OP_SCP_COMPONENT_INFO" val="{&quot;title&quot;:&quot;阴影2项列表PPT组件&quot;,&quot;description&quot;:&quot;阴影2项列表PPT组件：双项列表布局，阴影设计，信息展示清晰美观。&quot;,&quot;keywords&quot;:[&quot;阴影&quot;,&quot;2项&quot;,&quot;列表&quot;,&quot;PPT组件&quot;],&quot;labels&quot;:[]}"/>
  <p:tag name="OP_SCP_GROUP_ID" val="a87b58fb-3f71-8662-1756-2472af9613ac"/>
  <p:tag name="OP_SCP_ITEM_COUNT" val="2"/>
</p:tagLst>
</file>

<file path=ppt/tags/tag719.xml><?xml version="1.0" encoding="utf-8"?>
<p:tagLst xmlns:a="http://schemas.openxmlformats.org/drawingml/2006/main" xmlns:r="http://schemas.openxmlformats.org/officeDocument/2006/relationships" xmlns:p="http://schemas.openxmlformats.org/presentationml/2006/main">
  <p:tag name="OP_SCP_ITEM_INDEX" val="2"/>
</p:tagLst>
</file>

<file path=ppt/tags/tag720.xml><?xml version="1.0" encoding="utf-8"?>
<p:tagLst xmlns:a="http://schemas.openxmlformats.org/drawingml/2006/main" xmlns:r="http://schemas.openxmlformats.org/officeDocument/2006/relationships" xmlns:p="http://schemas.openxmlformats.org/presentationml/2006/main">
  <p:tag name="OP_SCP_ITEM_INDEX" val="2"/>
</p:tagLst>
</file>

<file path=ppt/tags/tag721.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72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723.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单击此处添加文本，单击此处添加文本，单击此处添加文本。"/>
</p:tagLst>
</file>

<file path=ppt/tags/tag724.xml><?xml version="1.0" encoding="utf-8"?>
<p:tagLst xmlns:a="http://schemas.openxmlformats.org/drawingml/2006/main" xmlns:r="http://schemas.openxmlformats.org/officeDocument/2006/relationships" xmlns:p="http://schemas.openxmlformats.org/presentationml/2006/main">
  <p:tag name="OP_SCP_ITEM_INDEX" val="1"/>
</p:tagLst>
</file>

<file path=ppt/tags/tag725.xml><?xml version="1.0" encoding="utf-8"?>
<p:tagLst xmlns:a="http://schemas.openxmlformats.org/drawingml/2006/main" xmlns:r="http://schemas.openxmlformats.org/officeDocument/2006/relationships" xmlns:p="http://schemas.openxmlformats.org/presentationml/2006/main">
  <p:tag name="OP_SCP_ITEM_INDEX" val="1"/>
</p:tagLst>
</file>

<file path=ppt/tags/tag726.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72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72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单击此处添加文本，单击此处添加文本。"/>
</p:tagLst>
</file>

<file path=ppt/tags/tag729.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1811"/>
  <p:tag name="OP_SCP_COMPONENT_INFO" val="{&quot;title&quot;:&quot;简约蓝色圆角3项列表&quot;,&quot;description&quot;:&quot;3项,列表,蓝色&quot;,&quot;keywords&quot;:[&quot;3项&quot;,&quot;列表&quot;,&quot;蓝色&quot;],&quot;labels&quot;:[]}"/>
  <p:tag name="OP_SCP_GROUP_ID" val="4ec3abdb-d431-5f2c-645a-545ff3419325"/>
  <p:tag name="OP_SCP_ITEM_COUNT" val="3"/>
</p:tagLst>
</file>

<file path=ppt/tags/tag730.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731.xml><?xml version="1.0" encoding="utf-8"?>
<p:tagLst xmlns:a="http://schemas.openxmlformats.org/drawingml/2006/main" xmlns:r="http://schemas.openxmlformats.org/officeDocument/2006/relationships" xmlns:p="http://schemas.openxmlformats.org/presentationml/2006/main">
  <p:tag name="OP_SCP_SHAPE_TYPE" val="Title"/>
  <p:tag name="OP_SCP_DEFAULT_TEXT" val="添加标题"/>
  <p:tag name="OP_SCP_ITEM_INDEX" val="3"/>
</p:tagLst>
</file>

<file path=ppt/tags/tag732.xml><?xml version="1.0" encoding="utf-8"?>
<p:tagLst xmlns:a="http://schemas.openxmlformats.org/drawingml/2006/main" xmlns:r="http://schemas.openxmlformats.org/officeDocument/2006/relationships" xmlns:p="http://schemas.openxmlformats.org/presentationml/2006/main">
  <p:tag name="OP_SCP_SHAPE_TYPE" val="Body"/>
  <p:tag name="OP_SCP_ITEM_INDEX" val="3"/>
  <p:tag name="OP_SCP_DEFAULT_TEXT" val="单击此处添加文本，单击此处添加文本，单击此处添加文本，单击此处添加文本，单击此处添加文本。"/>
</p:tagLst>
</file>

<file path=ppt/tags/tag733.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734.xml><?xml version="1.0" encoding="utf-8"?>
<p:tagLst xmlns:a="http://schemas.openxmlformats.org/drawingml/2006/main" xmlns:r="http://schemas.openxmlformats.org/officeDocument/2006/relationships" xmlns:p="http://schemas.openxmlformats.org/presentationml/2006/main">
  <p:tag name="OP_SCP_SHAPE_TYPE" val="Title"/>
  <p:tag name="OP_SCP_DEFAULT_TEXT" val="添加标题"/>
  <p:tag name="OP_SCP_ITEM_INDEX" val="2"/>
</p:tagLst>
</file>

<file path=ppt/tags/tag735.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击此处添加文本，单击此处添加文本，单击此处添加文本，单击此处添加文本，单击此处添加文本。"/>
</p:tagLst>
</file>

<file path=ppt/tags/tag736.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737.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73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单击此处添加文本，单击此处添加文本。"/>
</p:tagLst>
</file>

<file path=ppt/tags/tag739.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2753"/>
  <p:tag name="OP_SCP_COMPONENT_INFO" val="{&quot;title&quot;:&quot;扁平2项目录&quot;,&quot;description&quot;:&quot;蓝色,扁平,2项&quot;,&quot;keywords&quot;:[&quot;蓝色&quot;,&quot;扁平&quot;,&quot;2项&quot;],&quot;labels&quot;:[]}"/>
  <p:tag name="OP_SCP_GROUP_ID" val="028e7aa1-7178-98c3-3ded-b6b1dbee9912"/>
  <p:tag name="OP_SCP_ITEM_COUNT" val="2"/>
</p:tagLst>
</file>

<file path=ppt/tags/tag740.xml><?xml version="1.0" encoding="utf-8"?>
<p:tagLst xmlns:a="http://schemas.openxmlformats.org/drawingml/2006/main" xmlns:r="http://schemas.openxmlformats.org/officeDocument/2006/relationships" xmlns:p="http://schemas.openxmlformats.org/presentationml/2006/main">
  <p:tag name="OP_SCP_SHAPE_TYPE" val="Title"/>
  <p:tag name="OP_SCP_ITEM_INDEX" val="2"/>
  <p:tag name="OP_SCP_DEFAULT_TEXT" val="添加标题"/>
</p:tagLst>
</file>

<file path=ppt/tags/tag741.xml><?xml version="1.0" encoding="utf-8"?>
<p:tagLst xmlns:a="http://schemas.openxmlformats.org/drawingml/2006/main" xmlns:r="http://schemas.openxmlformats.org/officeDocument/2006/relationships" xmlns:p="http://schemas.openxmlformats.org/presentationml/2006/main">
  <p:tag name="OP_SCP_SHAPE_TYPE" val="Body"/>
  <p:tag name="OP_SCP_ITEM_INDEX" val="2"/>
  <p:tag name="OP_SCP_DEFAULT_TEXT" val="单机添加文本&#10;单机添加文本&#10;单机添加文本"/>
</p:tagLst>
</file>

<file path=ppt/tags/tag742.xml><?xml version="1.0" encoding="utf-8"?>
<p:tagLst xmlns:a="http://schemas.openxmlformats.org/drawingml/2006/main" xmlns:r="http://schemas.openxmlformats.org/officeDocument/2006/relationships" xmlns:p="http://schemas.openxmlformats.org/presentationml/2006/main">
  <p:tag name="OP_SCP_SHAPE_TYPE" val="Title"/>
  <p:tag name="OP_SCP_ITEM_INDEX" val="1"/>
  <p:tag name="OP_SCP_DEFAULT_TEXT" val="添加标题"/>
</p:tagLst>
</file>

<file path=ppt/tags/tag743.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机添加文本&#10;单机添加文本&#10;单机添加文本"/>
</p:tagLst>
</file>

<file path=ppt/theme/theme1.xml><?xml version="1.0" encoding="utf-8"?>
<a:theme xmlns:a="http://schemas.openxmlformats.org/drawingml/2006/main" name="3_GritBlack">
  <a:themeElements>
    <a:clrScheme name="Office">
      <a:dk1>
        <a:srgbClr val="FFFFFF"/>
      </a:dk1>
      <a:lt1>
        <a:srgbClr val="000000"/>
      </a:lt1>
      <a:dk2>
        <a:srgbClr val="F6FBFC"/>
      </a:dk2>
      <a:lt2>
        <a:srgbClr val="12303A"/>
      </a:lt2>
      <a:accent1>
        <a:srgbClr val="418AB3"/>
      </a:accent1>
      <a:accent2>
        <a:srgbClr val="A6B727"/>
      </a:accent2>
      <a:accent3>
        <a:srgbClr val="F69200"/>
      </a:accent3>
      <a:accent4>
        <a:srgbClr val="838383"/>
      </a:accent4>
      <a:accent5>
        <a:srgbClr val="FEC306"/>
      </a:accent5>
      <a:accent6>
        <a:srgbClr val="DF5327"/>
      </a:accent6>
      <a:hlink>
        <a:srgbClr val="4472C4"/>
      </a:hlink>
      <a:folHlink>
        <a:srgbClr val="BFBFBF"/>
      </a:folHlink>
    </a:clrScheme>
    <a:fontScheme name="Arial Black-Arial">
      <a:majorFont>
        <a:latin typeface="Arial Black" panose="020B0A04020102020204"/>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ln>
          <a:tailEnd type="arrow"/>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GritBlack" id="{47A64F43-B8D2-4D39-9491-035DA55FC86E}" vid="{D9B5375E-5AA2-4398-B587-74231A18DD1F}"/>
    </a:ext>
  </a:extLst>
</a:theme>
</file>

<file path=ppt/theme/theme2.xml><?xml version="1.0" encoding="utf-8"?>
<a:theme xmlns:a="http://schemas.openxmlformats.org/drawingml/2006/main" name="GritBlack">
  <a:themeElements>
    <a:clrScheme name="Office">
      <a:dk1>
        <a:srgbClr val="FFFFFF"/>
      </a:dk1>
      <a:lt1>
        <a:srgbClr val="000000"/>
      </a:lt1>
      <a:dk2>
        <a:srgbClr val="E3E7F2"/>
      </a:dk2>
      <a:lt2>
        <a:srgbClr val="1C2541"/>
      </a:lt2>
      <a:accent1>
        <a:srgbClr val="4674C1"/>
      </a:accent1>
      <a:accent2>
        <a:srgbClr val="EB7E3B"/>
      </a:accent2>
      <a:accent3>
        <a:srgbClr val="A5A5A5"/>
      </a:accent3>
      <a:accent4>
        <a:srgbClr val="FDBF2E"/>
      </a:accent4>
      <a:accent5>
        <a:srgbClr val="5D9CD3"/>
      </a:accent5>
      <a:accent6>
        <a:srgbClr val="72AC4C"/>
      </a:accent6>
      <a:hlink>
        <a:srgbClr val="4472C4"/>
      </a:hlink>
      <a:folHlink>
        <a:srgbClr val="BFBFBF"/>
      </a:folHlink>
    </a:clrScheme>
    <a:fontScheme name="Arial Black-Arial">
      <a:majorFont>
        <a:latin typeface="Arial Black" panose="020B0A04020102020204"/>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ln w="19050" cap="flat" cmpd="sng" algn="ctr">
          <a:solidFill>
            <a:schemeClr val="accent1"/>
          </a:solidFill>
          <a:prstDash val="dash"/>
          <a:round/>
          <a:headEnd type="none" w="med" len="med"/>
          <a:tailEnd type="triangle"/>
        </a:ln>
      </a:spPr>
      <a:bodyPr/>
      <a:lstStyle/>
      <a:style>
        <a:lnRef idx="0">
          <a:scrgbClr r="0" g="0" b="0"/>
        </a:lnRef>
        <a:fillRef idx="0">
          <a:scrgbClr r="0" g="0" b="0"/>
        </a:fillRef>
        <a:effectRef idx="0">
          <a:scrgbClr r="0" g="0" b="0"/>
        </a:effectRef>
        <a:fontRef idx="minor">
          <a:schemeClr val="tx1"/>
        </a:fontRef>
      </a:style>
    </a:lnDef>
  </a:objectDefaults>
  <a:extraClrSchemeLst/>
  <a:extLst>
    <a:ext uri="{05A4C25C-085E-4340-85A3-A5531E510DB2}">
      <thm15:themeFamily xmlns:thm15="http://schemas.microsoft.com/office/thememl/2012/main" name="GritBlack" id="{47A64F43-B8D2-4D39-9491-035DA55FC86E}" vid="{D9B5375E-5AA2-4398-B587-74231A18DD1F}"/>
    </a:ext>
  </a:extLst>
</a:theme>
</file>

<file path=ppt/theme/theme3.xml><?xml version="1.0" encoding="utf-8"?>
<a:theme xmlns:a="http://schemas.openxmlformats.org/drawingml/2006/main" name="IPC">
  <a:themeElements>
    <a:clrScheme name="蓝绿色">
      <a:dk1>
        <a:sysClr val="windowText" lastClr="000000"/>
      </a:dk1>
      <a:lt1>
        <a:sysClr val="window" lastClr="FFFFFF"/>
      </a:lt1>
      <a:dk2>
        <a:srgbClr val="373545"/>
      </a:dk2>
      <a:lt2>
        <a:srgbClr val="CEDBE6"/>
      </a:lt2>
      <a:accent1>
        <a:srgbClr val="3494BA"/>
      </a:accent1>
      <a:accent2>
        <a:srgbClr val="58B6C0"/>
      </a:accent2>
      <a:accent3>
        <a:srgbClr val="75BDA7"/>
      </a:accent3>
      <a:accent4>
        <a:srgbClr val="7A8C8E"/>
      </a:accent4>
      <a:accent5>
        <a:srgbClr val="84ACB6"/>
      </a:accent5>
      <a:accent6>
        <a:srgbClr val="2683C6"/>
      </a:accent6>
      <a:hlink>
        <a:srgbClr val="6B9F25"/>
      </a:hlink>
      <a:folHlink>
        <a:srgbClr val="9F6715"/>
      </a:folHlink>
    </a:clrScheme>
    <a:fontScheme name="Arial Black-Arial">
      <a:majorFont>
        <a:latin typeface="Arial Black" panose="020B0A04020102020204"/>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ln w="12700">
          <a:solidFill>
            <a:schemeClr val="bg1"/>
          </a:solidFill>
          <a:tailEnd type="triangle"/>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IPC" id="{F7429D6A-0B8F-4495-BC6B-4365F448E2CB}" vid="{B04CB5D7-7835-44D3-8EEE-FFE472CCCA57}"/>
    </a:ext>
  </a:extLst>
</a:theme>
</file>

<file path=ppt/theme/theme4.xml><?xml version="1.0" encoding="utf-8"?>
<a:theme xmlns:a="http://schemas.openxmlformats.org/drawingml/2006/main" name="4_GritBlack">
  <a:themeElements>
    <a:clrScheme name="Office">
      <a:dk1>
        <a:srgbClr val="FFFFFF"/>
      </a:dk1>
      <a:lt1>
        <a:srgbClr val="000000"/>
      </a:lt1>
      <a:dk2>
        <a:srgbClr val="E3E7F2"/>
      </a:dk2>
      <a:lt2>
        <a:srgbClr val="1C2541"/>
      </a:lt2>
      <a:accent1>
        <a:srgbClr val="4674C1"/>
      </a:accent1>
      <a:accent2>
        <a:srgbClr val="EB7E3B"/>
      </a:accent2>
      <a:accent3>
        <a:srgbClr val="A5A5A5"/>
      </a:accent3>
      <a:accent4>
        <a:srgbClr val="FDBF2E"/>
      </a:accent4>
      <a:accent5>
        <a:srgbClr val="5D9CD3"/>
      </a:accent5>
      <a:accent6>
        <a:srgbClr val="72AC4C"/>
      </a:accent6>
      <a:hlink>
        <a:srgbClr val="4472C4"/>
      </a:hlink>
      <a:folHlink>
        <a:srgbClr val="BFBFBF"/>
      </a:folHlink>
    </a:clrScheme>
    <a:fontScheme name="Arial Black-Arial">
      <a:majorFont>
        <a:latin typeface="Arial Black" panose="020B0A04020102020204"/>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gradFill flip="none" rotWithShape="1">
          <a:gsLst>
            <a:gs pos="0">
              <a:schemeClr val="accent1">
                <a:lumMod val="40000"/>
                <a:lumOff val="60000"/>
                <a:alpha val="0"/>
              </a:schemeClr>
            </a:gs>
            <a:gs pos="100000">
              <a:schemeClr val="accent1"/>
            </a:gs>
          </a:gsLst>
          <a:lin ang="16200000" scaled="1"/>
          <a:tileRect/>
        </a:gradFill>
        <a:ln>
          <a:noFill/>
        </a:ln>
      </a:spPr>
      <a:bodyPr rtlCol="0" anchor="ctr"/>
      <a:lstStyle>
        <a:defPPr algn="ctr">
          <a:defRPr dirty="0"/>
        </a:defPPr>
      </a:lstStyle>
      <a:style>
        <a:lnRef idx="2">
          <a:schemeClr val="accent1">
            <a:shade val="15000"/>
          </a:schemeClr>
        </a:lnRef>
        <a:fillRef idx="1">
          <a:schemeClr val="accent1"/>
        </a:fillRef>
        <a:effectRef idx="0">
          <a:schemeClr val="accent1"/>
        </a:effectRef>
        <a:fontRef idx="minor">
          <a:schemeClr val="lt1"/>
        </a:fontRef>
      </a:style>
    </a:spDef>
    <a:lnDef>
      <a:spPr>
        <a:ln>
          <a:solidFill>
            <a:schemeClr val="accent2">
              <a:lumMod val="75000"/>
            </a:schemeClr>
          </a:solidFill>
          <a:tailEnd type="triangle"/>
        </a:ln>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GritBlack" id="{47A64F43-B8D2-4D39-9491-035DA55FC86E}" vid="{D9B5375E-5AA2-4398-B587-74231A18DD1F}"/>
    </a:ext>
  </a:extLst>
</a:theme>
</file>

<file path=ppt/theme/theme5.xml><?xml version="1.0" encoding="utf-8"?>
<a:theme xmlns:a="http://schemas.openxmlformats.org/drawingml/2006/main" name="1_IPC">
  <a:themeElements>
    <a:clrScheme name="蓝绿色">
      <a:dk1>
        <a:sysClr val="windowText" lastClr="000000"/>
      </a:dk1>
      <a:lt1>
        <a:sysClr val="window" lastClr="FFFFFF"/>
      </a:lt1>
      <a:dk2>
        <a:srgbClr val="373545"/>
      </a:dk2>
      <a:lt2>
        <a:srgbClr val="CEDBE6"/>
      </a:lt2>
      <a:accent1>
        <a:srgbClr val="3494BA"/>
      </a:accent1>
      <a:accent2>
        <a:srgbClr val="58B6C0"/>
      </a:accent2>
      <a:accent3>
        <a:srgbClr val="75BDA7"/>
      </a:accent3>
      <a:accent4>
        <a:srgbClr val="7A8C8E"/>
      </a:accent4>
      <a:accent5>
        <a:srgbClr val="84ACB6"/>
      </a:accent5>
      <a:accent6>
        <a:srgbClr val="2683C6"/>
      </a:accent6>
      <a:hlink>
        <a:srgbClr val="6B9F25"/>
      </a:hlink>
      <a:folHlink>
        <a:srgbClr val="9F6715"/>
      </a:folHlink>
    </a:clrScheme>
    <a:fontScheme name="Arial Black-Arial">
      <a:majorFont>
        <a:latin typeface="Arial Black" panose="020B0A04020102020204"/>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ln w="12700">
          <a:solidFill>
            <a:schemeClr val="bg1"/>
          </a:solidFill>
          <a:tailEnd type="triangle"/>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IPC" id="{F7429D6A-0B8F-4495-BC6B-4365F448E2CB}" vid="{B04CB5D7-7835-44D3-8EEE-FFE472CCCA57}"/>
    </a:ext>
  </a:extLst>
</a:theme>
</file>

<file path=ppt/theme/theme6.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rgbClr val="FFFFFF"/>
    </a:dk1>
    <a:lt1>
      <a:srgbClr val="000000"/>
    </a:lt1>
    <a:dk2>
      <a:srgbClr val="E3E7F2"/>
    </a:dk2>
    <a:lt2>
      <a:srgbClr val="1C2541"/>
    </a:lt2>
    <a:accent1>
      <a:srgbClr val="4674C1"/>
    </a:accent1>
    <a:accent2>
      <a:srgbClr val="EB7E3B"/>
    </a:accent2>
    <a:accent3>
      <a:srgbClr val="A5A5A5"/>
    </a:accent3>
    <a:accent4>
      <a:srgbClr val="FDBF2E"/>
    </a:accent4>
    <a:accent5>
      <a:srgbClr val="5D9CD3"/>
    </a:accent5>
    <a:accent6>
      <a:srgbClr val="72AC4C"/>
    </a:accent6>
    <a:hlink>
      <a:srgbClr val="4472C4"/>
    </a:hlink>
    <a:folHlink>
      <a:srgbClr val="BFBFBF"/>
    </a:folHlink>
  </a:clrScheme>
</a:themeOverride>
</file>

<file path=ppt/theme/themeOverride2.xml><?xml version="1.0" encoding="utf-8"?>
<a:themeOverride xmlns:a="http://schemas.openxmlformats.org/drawingml/2006/main">
  <a:clrScheme name="Office">
    <a:dk1>
      <a:srgbClr val="FFFFFF"/>
    </a:dk1>
    <a:lt1>
      <a:srgbClr val="000000"/>
    </a:lt1>
    <a:dk2>
      <a:srgbClr val="E3E7F2"/>
    </a:dk2>
    <a:lt2>
      <a:srgbClr val="1C2541"/>
    </a:lt2>
    <a:accent1>
      <a:srgbClr val="4674C1"/>
    </a:accent1>
    <a:accent2>
      <a:srgbClr val="EB7E3B"/>
    </a:accent2>
    <a:accent3>
      <a:srgbClr val="A5A5A5"/>
    </a:accent3>
    <a:accent4>
      <a:srgbClr val="FDBF2E"/>
    </a:accent4>
    <a:accent5>
      <a:srgbClr val="5D9CD3"/>
    </a:accent5>
    <a:accent6>
      <a:srgbClr val="72AC4C"/>
    </a:accent6>
    <a:hlink>
      <a:srgbClr val="4472C4"/>
    </a:hlink>
    <a:folHlink>
      <a:srgbClr val="BFBFBF"/>
    </a:folHlink>
  </a:clrScheme>
</a:themeOverride>
</file>

<file path=docProps/app.xml><?xml version="1.0" encoding="utf-8"?>
<Properties xmlns="http://schemas.openxmlformats.org/officeDocument/2006/extended-properties" xmlns:vt="http://schemas.openxmlformats.org/officeDocument/2006/docPropsVTypes">
  <Template/>
  <TotalTime>83402</TotalTime>
  <Words>42902</Words>
  <Application>Microsoft Office PowerPoint</Application>
  <PresentationFormat>宽屏</PresentationFormat>
  <Paragraphs>6057</Paragraphs>
  <Slides>220</Slides>
  <Notes>20</Notes>
  <HiddenSlides>0</HiddenSlides>
  <MMClips>0</MMClips>
  <ScaleCrop>false</ScaleCrop>
  <HeadingPairs>
    <vt:vector size="6" baseType="variant">
      <vt:variant>
        <vt:lpstr>已用的字体</vt:lpstr>
      </vt:variant>
      <vt:variant>
        <vt:i4>19</vt:i4>
      </vt:variant>
      <vt:variant>
        <vt:lpstr>主题</vt:lpstr>
      </vt:variant>
      <vt:variant>
        <vt:i4>5</vt:i4>
      </vt:variant>
      <vt:variant>
        <vt:lpstr>幻灯片标题</vt:lpstr>
      </vt:variant>
      <vt:variant>
        <vt:i4>220</vt:i4>
      </vt:variant>
    </vt:vector>
  </HeadingPairs>
  <TitlesOfParts>
    <vt:vector size="244" baseType="lpstr">
      <vt:lpstr>-apple-system</vt:lpstr>
      <vt:lpstr>Gotham Rounded Book</vt:lpstr>
      <vt:lpstr>Inter</vt:lpstr>
      <vt:lpstr>PingFang SC</vt:lpstr>
      <vt:lpstr>system</vt:lpstr>
      <vt:lpstr>system-ui</vt:lpstr>
      <vt:lpstr>等线</vt:lpstr>
      <vt:lpstr>黑体</vt:lpstr>
      <vt:lpstr>微软雅黑</vt:lpstr>
      <vt:lpstr>微软雅黑</vt:lpstr>
      <vt:lpstr>Arial</vt:lpstr>
      <vt:lpstr>Arial Black</vt:lpstr>
      <vt:lpstr>Calibri</vt:lpstr>
      <vt:lpstr>Cambria Math</vt:lpstr>
      <vt:lpstr>Roboto</vt:lpstr>
      <vt:lpstr>Segoe UI</vt:lpstr>
      <vt:lpstr>Times New Roman</vt:lpstr>
      <vt:lpstr>Verdana</vt:lpstr>
      <vt:lpstr>Wingdings</vt:lpstr>
      <vt:lpstr>3_GritBlack</vt:lpstr>
      <vt:lpstr>GritBlack</vt:lpstr>
      <vt:lpstr>IPC</vt:lpstr>
      <vt:lpstr>4_GritBlack</vt:lpstr>
      <vt:lpstr>1_IPC</vt:lpstr>
      <vt:lpstr>智能计划与控制 (IPC)： 不确定时代的“确定性”引擎  ——从供应链成本中心到企业价值中枢的范式革命</vt:lpstr>
      <vt:lpstr>价值链数字化转型：塑造核心竞争力</vt:lpstr>
      <vt:lpstr>价值链管理战略转型：从运营陷阱到生态系统主权</vt:lpstr>
      <vt:lpstr>IPC价值链本体论与数字化治理全景图</vt:lpstr>
      <vt:lpstr>价值量化</vt:lpstr>
      <vt:lpstr>战略层价值——计划与控制体系是核心驱动引擎</vt:lpstr>
      <vt:lpstr>运营层/职能层绩效——计划与控制体系是协同基础</vt:lpstr>
      <vt:lpstr>核心挑战阐述</vt:lpstr>
      <vt:lpstr>自由输入，逻辑独裁</vt:lpstr>
      <vt:lpstr>降维打击 – 从人员管理到系统治理</vt:lpstr>
      <vt:lpstr>计划能力矩阵：卓越的基石与协同的挑战</vt:lpstr>
      <vt:lpstr>第一性原理一（FP1）：驾驭 N² 复杂度与范式极限的挑战</vt:lpstr>
      <vt:lpstr>One Plan协同引擎：如何化解矩阵中的复杂度挑战——横纵生态协同</vt:lpstr>
      <vt:lpstr>从“智能大脑”到“全局指挥中心”：为什么需要Control Tower？</vt:lpstr>
      <vt:lpstr>  建设智能计划与控制体系</vt:lpstr>
      <vt:lpstr>智能计划与控制塔平台</vt:lpstr>
      <vt:lpstr>智能决策的全面自动化执行</vt:lpstr>
      <vt:lpstr>第一性原理二：数字化系统的控制论基石：确定性与“由下至上”的路径法则</vt:lpstr>
      <vt:lpstr>如何从高屋建瓴到毛细血管</vt:lpstr>
      <vt:lpstr>智能计划与控制（IPC）体系</vt:lpstr>
      <vt:lpstr>核心竞争力重构：从被动应对到主动驾驭</vt:lpstr>
      <vt:lpstr>PowerPoint 演示文稿</vt:lpstr>
      <vt:lpstr>能力重构-新型能力</vt:lpstr>
      <vt:lpstr>协同与计划能力的最佳实践本质：数据模型与业务算法方法论解构</vt:lpstr>
      <vt:lpstr>最佳方案的本质：驱动业务的智能双核</vt:lpstr>
      <vt:lpstr>无法产出业务方案的能力盲区</vt:lpstr>
      <vt:lpstr>三位一体的融合内化机制</vt:lpstr>
      <vt:lpstr>获得最佳实践的方法论</vt:lpstr>
      <vt:lpstr>获得最佳实践的方法论</vt:lpstr>
      <vt:lpstr>个人和组织的进阶路径</vt:lpstr>
      <vt:lpstr>获得最佳方案过程中的四阶认知和能力跃迁</vt:lpstr>
      <vt:lpstr>支撑获得最佳实践能力的四大深层要素</vt:lpstr>
      <vt:lpstr>锻造数字内核：三位一体的能力是驱动转型的非连续引擎</vt:lpstr>
      <vt:lpstr>跃迁路径：从能力“基因突变”到组织整体进化</vt:lpstr>
      <vt:lpstr>如何加快供应链数字化转型</vt:lpstr>
      <vt:lpstr>新能力需要新范式</vt:lpstr>
      <vt:lpstr>    SCM/Planning &amp; Control Course and Trend</vt:lpstr>
      <vt:lpstr>转型范式的演进 —— 从被动响应到主动驾驭的能力重构</vt:lpstr>
      <vt:lpstr>转型范式的不成熟引起“死亡循环”</vt:lpstr>
      <vt:lpstr>转型范式的不成熟带来转型的痛点，不断的迭代迎来机遇</vt:lpstr>
      <vt:lpstr>数字化升维解决“人”的问题</vt:lpstr>
      <vt:lpstr>工业管理范式数字智能范式</vt:lpstr>
      <vt:lpstr>能力驱动的转型范式-能力驱动，以终为始，小步快跑</vt:lpstr>
      <vt:lpstr>战略解读</vt:lpstr>
      <vt:lpstr>各职能需要具备的to-be能力以支撑战略</vt:lpstr>
      <vt:lpstr>计划需要的能力</vt:lpstr>
      <vt:lpstr>智能业务规划IBP(Intelligent Business Planning)</vt:lpstr>
      <vt:lpstr>IBP详细流程</vt:lpstr>
      <vt:lpstr>智能战术规划ITP(Intelligent Tactical Planning)</vt:lpstr>
      <vt:lpstr>智能运营计划IOP(Intelligent Operation Planning)</vt:lpstr>
      <vt:lpstr>  IPS(Intelligent Planning Solution)</vt:lpstr>
      <vt:lpstr>IPS – Operation Frequency</vt:lpstr>
      <vt:lpstr>One Plan best practice清单</vt:lpstr>
      <vt:lpstr>“难”，从业务方案到模型算法的剥丝抽茧</vt:lpstr>
      <vt:lpstr>IOP Intelligent Operational Planning</vt:lpstr>
      <vt:lpstr>PowerPoint 演示文稿</vt:lpstr>
      <vt:lpstr>PowerPoint 演示文稿</vt:lpstr>
      <vt:lpstr>IOP – IPS 情景演示</vt:lpstr>
      <vt:lpstr>场景 #1: 挑战 A</vt:lpstr>
      <vt:lpstr>场景#1: 挑战 B</vt:lpstr>
      <vt:lpstr>场景 #1: 挑战A &amp; B 的方案</vt:lpstr>
      <vt:lpstr>场景 #1: 挑战 C</vt:lpstr>
      <vt:lpstr>场景 #1: 挑战C的方案</vt:lpstr>
      <vt:lpstr>场景 #1: 挑战 D、第1天</vt:lpstr>
      <vt:lpstr>场景 #1: 挑战 D，第2天</vt:lpstr>
      <vt:lpstr>场景 #1: 挑战 D，第3天</vt:lpstr>
      <vt:lpstr>场景 #1: 方案</vt:lpstr>
      <vt:lpstr>IPS 方案 – 情景演示</vt:lpstr>
      <vt:lpstr>场景 #2: 挑战E</vt:lpstr>
      <vt:lpstr>场景 #2: 挑战E</vt:lpstr>
      <vt:lpstr>IPS 方案 – 情景演示</vt:lpstr>
      <vt:lpstr>保交期的物料和资源预留带来的挑战</vt:lpstr>
      <vt:lpstr>物料和资源分配可以优化</vt:lpstr>
      <vt:lpstr>保交期的物料和资源预留带来的挑战</vt:lpstr>
      <vt:lpstr>物料和资源分配可以优化– 供应pull-in带来的挑战</vt:lpstr>
      <vt:lpstr>物料和资源分配可以优化– 供应pull-in带来的挑战</vt:lpstr>
      <vt:lpstr>OTP(Optimized to promise)</vt:lpstr>
      <vt:lpstr>推拉结合的计划模型 – Traditional Algorithms </vt:lpstr>
      <vt:lpstr>推拉结合的计划模型 – Patented Algorithms</vt:lpstr>
      <vt:lpstr>推拉结合的计划模型 – Patented Algorithms(cont.)</vt:lpstr>
      <vt:lpstr>推拉结合的计划模型 – Patented Algorithms(cont.)</vt:lpstr>
      <vt:lpstr>IPC Solution - DEMOs</vt:lpstr>
      <vt:lpstr>资源被前序需求占用</vt:lpstr>
      <vt:lpstr>资源跟前序需求置换（Scenario 1）</vt:lpstr>
      <vt:lpstr>资源跟前序需求置换 (Scenario 2)</vt:lpstr>
      <vt:lpstr>Changeover出现</vt:lpstr>
      <vt:lpstr>继续优化Changeover</vt:lpstr>
      <vt:lpstr>临近区间有资源空闲</vt:lpstr>
      <vt:lpstr>动态填补临近资源</vt:lpstr>
      <vt:lpstr>多级排产</vt:lpstr>
      <vt:lpstr>计划的脊梁-PEGGING</vt:lpstr>
      <vt:lpstr>Alternate Production line/Resource</vt:lpstr>
      <vt:lpstr>主资源先分配，然后可作为替换资源再分配</vt:lpstr>
      <vt:lpstr>可配置仪表盘内置与计划引擎</vt:lpstr>
      <vt:lpstr>ITP Intelligent Tactical Planning</vt:lpstr>
      <vt:lpstr>Prioritization</vt:lpstr>
      <vt:lpstr>优先级 – 从战略到执行的端到端管理</vt:lpstr>
      <vt:lpstr>优先级管理 – 插单</vt:lpstr>
      <vt:lpstr>IPS –主计划和执行计划的协同Allocation/Allotment</vt:lpstr>
      <vt:lpstr>智能战术规划ITP(Intelligent Tactical Planning)</vt:lpstr>
      <vt:lpstr>S&amp;OP/MP落地 - 纵向协同的断点</vt:lpstr>
      <vt:lpstr>Allocation – Examples</vt:lpstr>
      <vt:lpstr>Allocation – Examples 战略优先，公平公正</vt:lpstr>
      <vt:lpstr>Allocation – 战略优先，公平公正</vt:lpstr>
      <vt:lpstr>Allocation – 分配规则与优先级</vt:lpstr>
      <vt:lpstr>Fair Share</vt:lpstr>
      <vt:lpstr>Allocation – 分配的结果作为配额即约束性指导</vt:lpstr>
      <vt:lpstr>纵向协同</vt:lpstr>
      <vt:lpstr>Forecast Consumption</vt:lpstr>
      <vt:lpstr>业务和DT方案 – 效率，响应和柔性 </vt:lpstr>
      <vt:lpstr>业务和DT方案 – 供应链类型与产品匹配</vt:lpstr>
      <vt:lpstr>业务和DT方案 – S&amp;OP  </vt:lpstr>
      <vt:lpstr>SC Network Design </vt:lpstr>
      <vt:lpstr>Forecast Consumption</vt:lpstr>
      <vt:lpstr>Planning BOM – 传统做法</vt:lpstr>
      <vt:lpstr>Planning BOM – 升级</vt:lpstr>
      <vt:lpstr>Supplier Deep Collaboration</vt:lpstr>
      <vt:lpstr>Supplier Deep Collaboration</vt:lpstr>
      <vt:lpstr>Supplier Deep Collaboration</vt:lpstr>
      <vt:lpstr>E2E Intelligent Solutions</vt:lpstr>
      <vt:lpstr>High Performance</vt:lpstr>
      <vt:lpstr>OTP - Traditional Solution</vt:lpstr>
      <vt:lpstr>OTP - Disruptive Solutions</vt:lpstr>
      <vt:lpstr>Level by Level</vt:lpstr>
      <vt:lpstr>替换料</vt:lpstr>
      <vt:lpstr>替换 - Overview</vt:lpstr>
      <vt:lpstr>替换 – Overview（cont.)</vt:lpstr>
      <vt:lpstr>切换 - 硬切</vt:lpstr>
      <vt:lpstr>ECN – 硬切</vt:lpstr>
      <vt:lpstr>切换 - 软切</vt:lpstr>
      <vt:lpstr>ECN – 软切</vt:lpstr>
      <vt:lpstr>Last Time Buy</vt:lpstr>
      <vt:lpstr>寻源规则 - 动态平衡分配，适合灵活调整场景 </vt:lpstr>
      <vt:lpstr>寻源规则 – 优先维持历史分配比例，适合长期的合作关系</vt:lpstr>
      <vt:lpstr>寻源规则 – 动态调整比例，减少因批量导致的超额供应</vt:lpstr>
      <vt:lpstr>不完全替代 – 问题</vt:lpstr>
      <vt:lpstr>不完全替代 – 分析</vt:lpstr>
      <vt:lpstr>不完全替代 – 进一步分析</vt:lpstr>
      <vt:lpstr>不完全替代 – 动态分配步骤一</vt:lpstr>
      <vt:lpstr>不完全替代 – 动态分配步骤二</vt:lpstr>
      <vt:lpstr>组替代 – New Cost示例</vt:lpstr>
      <vt:lpstr>组替代 – New Cost方案</vt:lpstr>
      <vt:lpstr>跨工厂 – By Level</vt:lpstr>
      <vt:lpstr>跨工厂 – By Level</vt:lpstr>
      <vt:lpstr>组替代逻辑</vt:lpstr>
      <vt:lpstr>维度规划Dimension Planning</vt:lpstr>
      <vt:lpstr>维度规划的概念</vt:lpstr>
      <vt:lpstr>场景</vt:lpstr>
      <vt:lpstr>Data Model</vt:lpstr>
      <vt:lpstr>Case Study</vt:lpstr>
      <vt:lpstr>维度规划 – Dimension Planning</vt:lpstr>
      <vt:lpstr>PowerPoint 演示文稿</vt:lpstr>
      <vt:lpstr>蓝图和Roadmap</vt:lpstr>
      <vt:lpstr>智能计划体系建设路线图的困惑</vt:lpstr>
      <vt:lpstr>数字化Planning的成熟度维度</vt:lpstr>
      <vt:lpstr>供应链数字化转型：破局的五个第一性原理（认知重构框架）</vt:lpstr>
      <vt:lpstr>成熟度模型，我们在哪，将去何方</vt:lpstr>
      <vt:lpstr>Gartner成熟度模型的重新诠释——第一性原理的实践路径</vt:lpstr>
      <vt:lpstr>各维度的成熟阶段</vt:lpstr>
      <vt:lpstr>各维度的成熟阶段</vt:lpstr>
      <vt:lpstr>As-Is vs To-Be</vt:lpstr>
      <vt:lpstr>计划与控制</vt:lpstr>
      <vt:lpstr>General Operation Mechanism  </vt:lpstr>
      <vt:lpstr>技术架构</vt:lpstr>
      <vt:lpstr>各个BU/Site成熟度不同，应区别对待</vt:lpstr>
      <vt:lpstr>总设计师与精英团队</vt:lpstr>
      <vt:lpstr>数字化转型的本质是能力建设，而非工具实施或流程重组</vt:lpstr>
      <vt:lpstr>卓越领导力</vt:lpstr>
      <vt:lpstr>数字化变革的维度</vt:lpstr>
      <vt:lpstr>项目管理 </vt:lpstr>
      <vt:lpstr>风险与依赖管理</vt:lpstr>
      <vt:lpstr>数字化转型的终极交付：可持续的能力跃迁</vt:lpstr>
      <vt:lpstr>PowerPoint 演示文稿</vt:lpstr>
      <vt:lpstr>主料先分配，然后可作为辅料</vt:lpstr>
      <vt:lpstr>什么不是Digital Planning？ - Gartner</vt:lpstr>
      <vt:lpstr>Allocation – 分配规则</vt:lpstr>
      <vt:lpstr>PowerPoint 演示文稿</vt:lpstr>
      <vt:lpstr>Background &amp; Strategy Benefits</vt:lpstr>
      <vt:lpstr>成功的关键因素</vt:lpstr>
      <vt:lpstr>企业战略类型</vt:lpstr>
      <vt:lpstr>运营驱动型战略 – 如何响应市场</vt:lpstr>
      <vt:lpstr>供应链在战略中的角色和决策</vt:lpstr>
      <vt:lpstr>计划与控制是供应链的神经中枢系统</vt:lpstr>
      <vt:lpstr>这场变革，永远在路上</vt:lpstr>
      <vt:lpstr>IPS(Intelligent Planning &amp; Scheduling)</vt:lpstr>
      <vt:lpstr>从S&amp;OP到IBP</vt:lpstr>
      <vt:lpstr>IBP Overview</vt:lpstr>
      <vt:lpstr>方法论：愿景与能力驱动型转型——以终为始，敏捷迭代</vt:lpstr>
      <vt:lpstr>看似相同，本质不同的方法论</vt:lpstr>
      <vt:lpstr>轮式生产(Production Wheel）)</vt:lpstr>
      <vt:lpstr>轮式生产（Production Wheel）收益</vt:lpstr>
      <vt:lpstr>战役规划Campaign Planning方案</vt:lpstr>
      <vt:lpstr>战役规划Campaign Planning的收益</vt:lpstr>
      <vt:lpstr>Scenario #1: Challenge C</vt:lpstr>
      <vt:lpstr>PowerPoint 演示文稿</vt:lpstr>
      <vt:lpstr>计算计算构架</vt:lpstr>
      <vt:lpstr>数据模型操作</vt:lpstr>
      <vt:lpstr>内存计算</vt:lpstr>
      <vt:lpstr>内存运算 On HANA</vt:lpstr>
      <vt:lpstr>SAP环境中另建引擎和HANA对比</vt:lpstr>
      <vt:lpstr>ETO/项目管理</vt:lpstr>
      <vt:lpstr>ETO 模式下答复交期的思维框架</vt:lpstr>
      <vt:lpstr>初始阶段：拒绝天真承诺，提供基于经验的预估</vt:lpstr>
      <vt:lpstr>设计过程中：逐步细化承诺</vt:lpstr>
      <vt:lpstr>管理不确定性和关键路径</vt:lpstr>
      <vt:lpstr>供应链数字化转型的第一性原理</vt:lpstr>
      <vt:lpstr>第一性原理一：数字化时代的挑战是“N²复杂度”的爆发，传统管理范式已失效</vt:lpstr>
      <vt:lpstr>第一性原理二：数字化系统的核心基石是“确定性”和“数据质量”，其运行逻辑与人类截然相反</vt:lpstr>
      <vt:lpstr>数字化为必选项——支撑数据模型和业务算法</vt:lpstr>
      <vt:lpstr>  IPS(Intelligent Planning Solution)</vt:lpstr>
      <vt:lpstr>核心哲学：一体两面 </vt:lpstr>
      <vt:lpstr>业务世界</vt:lpstr>
      <vt:lpstr>IPC 数字世界</vt:lpstr>
      <vt:lpstr>PowerPoint 演示文稿</vt:lpstr>
      <vt:lpstr>MHC 认知层级详细对照表 (通用版)</vt:lpstr>
      <vt:lpstr>PowerPoint 演示文稿</vt:lpstr>
      <vt:lpstr>罗伯特·基根：意识进化阶梯权威对照表</vt:lpstr>
      <vt:lpstr>格雷姆·哈尔福德：关系复杂性层级表</vt:lpstr>
      <vt:lpstr>雅克的 7 层复杂性阶梯（与时间周期的对应）</vt:lpstr>
      <vt:lpstr>PowerPoint 演示文稿</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凡淳 孟</dc:creator>
  <cp:lastModifiedBy>博理 孟</cp:lastModifiedBy>
  <cp:revision>422</cp:revision>
  <dcterms:created xsi:type="dcterms:W3CDTF">2025-03-17T03:09:56Z</dcterms:created>
  <dcterms:modified xsi:type="dcterms:W3CDTF">2026-05-30T11:19:35Z</dcterms:modified>
</cp:coreProperties>
</file>